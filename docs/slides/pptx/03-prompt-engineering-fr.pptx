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BANQUE AFRICAINE DE DÉVELOPPEMENT · UA STATAFRIC · STG17 · JOUR 2</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3400" b="1">
                <a:solidFill>
                  <a:srgbClr val="FFFFFF"/>
                </a:solidFill>
                <a:latin typeface="Segoe UI"/>
              </a:rPr>
              <a:t>Parler aux machines</a:t>
            </a:r>
          </a:p>
        </p:txBody>
      </p:sp>
      <p:sp>
        <p:nvSpPr>
          <p:cNvPr id="5" name="TextBox 4"/>
          <p:cNvSpPr txBox="1"/>
          <p:nvPr/>
        </p:nvSpPr>
        <p:spPr>
          <a:xfrm>
            <a:off x="731520" y="1874520"/>
            <a:ext cx="10728655" cy="548640"/>
          </a:xfrm>
          <a:prstGeom prst="rect">
            <a:avLst/>
          </a:prstGeom>
          <a:noFill/>
        </p:spPr>
        <p:txBody>
          <a:bodyPr wrap="square">
            <a:spAutoFit/>
          </a:bodyPr>
          <a:lstStyle/>
          <a:p>
            <a:pPr algn="l"/>
            <a:r>
              <a:rPr sz="1700" b="0">
                <a:solidFill>
                  <a:srgbClr val="DBE7E0"/>
                </a:solidFill>
                <a:latin typeface="Segoe UI"/>
              </a:rPr>
              <a:t>L'ingénierie de prompt est de la rédaction de cahier des charges — et cette salle en fait depuis trente ans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VOUS EN AVEZ RÉDIGÉ UN</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Un manuel d'instructions pour agents recenseurs</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33403A"/>
                </a:solidFill>
                <a:latin typeface="Segoe UI"/>
              </a:rPr>
              <a:t>Un cahier des charges pour un agent que vous ne rencontrerez jamais, qui ne
peut pas vous demander ce que vous vouliez dire, et dont la sortie devient une
statistique officielle.</a:t>
            </a:r>
          </a:p>
        </p:txBody>
      </p:sp>
      <p:sp>
        <p:nvSpPr>
          <p:cNvPr id="6" name="Rectangle 5"/>
          <p:cNvSpPr/>
          <p:nvPr/>
        </p:nvSpPr>
        <p:spPr>
          <a:xfrm>
            <a:off x="731520" y="22860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C'EST TOUT LE SAVOIR-FAIRE — Énoncer la tâche. Définir les termes. Donner des exemples traités, y compris les
gênants. Dire quoi faire quand le cas ne rentre pas.  Puis tester sur du
matériel réel avant de déployer auprès de mille personnes.</a:t>
            </a:r>
          </a:p>
        </p:txBody>
      </p:sp>
      <p:sp>
        <p:nvSpPr>
          <p:cNvPr id="7" name="TextBox 6"/>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LE RECADRAGE SUR LEQUEL REPOSE CET EXPOSÉ</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Pas une formule magique, pas un tour de main, pas un style personnel. Quelque
chose que l'on spécifie, teste, versionne et documente — car le nombre qui en sort
sera attribué à votre office.</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PARTIE 1 SUR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Ce qui fait réellement bouger le chiffre</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Deux résultats publiés qui contredisent l'essentiel de ce qui circule.</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Deux résultats qui valent plus que cent astuces</a:t>
            </a:r>
          </a:p>
        </p:txBody>
      </p:sp>
      <p:sp>
        <p:nvSpPr>
          <p:cNvPr id="4" name="TextBox 3"/>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RETENEZ CE NOMBRE</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L'écart entre le meilleur et le pire format  préservant le sens  d'un même
prompt, sur le même modèle, pour la même tâche.</a:t>
            </a:r>
          </a:p>
        </p:txBody>
      </p:sp>
      <p:sp>
        <p:nvSpPr>
          <p:cNvPr id="5" name="Rectangle 4"/>
          <p:cNvSpPr/>
          <p:nvPr/>
        </p:nvSpPr>
        <p:spPr>
          <a:xfrm>
            <a:off x="731520" y="141732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CE QUE CELA SIGNIFIE POUR UN OFFICE STATISTIQUE — Un format de prompt non documenté est un réglage d'instrument non documenté. Deux
collègues peuvent suivre la même méthode écrite et publier des chiffres
sensiblement différents.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Ce qui est étayé, et ce qui ne l'est pas</a:t>
            </a:r>
          </a:p>
        </p:txBody>
      </p:sp>
      <p:graphicFrame>
        <p:nvGraphicFramePr>
          <p:cNvPr id="4" name="Table 3"/>
          <p:cNvGraphicFramePr>
            <a:graphicFrameLocks noGrp="1"/>
          </p:cNvGraphicFramePr>
          <p:nvPr/>
        </p:nvGraphicFramePr>
        <p:xfrm>
          <a:off x="731520" y="1371600"/>
          <a:ext cx="10728655" cy="1755648"/>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Technique</a:t>
                      </a:r>
                    </a:p>
                  </a:txBody>
                  <a:tcPr/>
                </a:tc>
                <a:tc>
                  <a:txBody>
                    <a:bodyPr/>
                    <a:lstStyle/>
                    <a:p>
                      <a:r>
                        <a:rPr sz="1000" b="1">
                          <a:solidFill>
                            <a:srgbClr val="FFFFFF"/>
                          </a:solidFill>
                          <a:latin typeface="Segoe UI"/>
                        </a:rPr>
                        <a:t>Preuves</a:t>
                      </a:r>
                    </a:p>
                  </a:txBody>
                  <a:tcPr/>
                </a:tc>
                <a:tc>
                  <a:txBody>
                    <a:bodyPr/>
                    <a:lstStyle/>
                    <a:p>
                      <a:r>
                        <a:rPr sz="1000" b="1">
                          <a:solidFill>
                            <a:srgbClr val="FFFFFF"/>
                          </a:solidFill>
                          <a:latin typeface="Segoe UI"/>
                        </a:rPr>
                        <a:t>À utiliser quand</a:t>
                      </a:r>
                    </a:p>
                  </a:txBody>
                  <a:tcPr/>
                </a:tc>
              </a:tr>
              <a:tr h="292608">
                <a:tc>
                  <a:txBody>
                    <a:bodyPr/>
                    <a:lstStyle/>
                    <a:p>
                      <a:r>
                        <a:rPr sz="1000" b="0">
                          <a:solidFill>
                            <a:srgbClr val="33403A"/>
                          </a:solidFill>
                          <a:latin typeface="Segoe UI"/>
                        </a:rPr>
                        <a:t>Exemples traités  dans le prompt</a:t>
                      </a:r>
                    </a:p>
                  </a:txBody>
                  <a:tcPr/>
                </a:tc>
                <a:tc>
                  <a:txBody>
                    <a:bodyPr/>
                    <a:lstStyle/>
                    <a:p>
                      <a:r>
                        <a:rPr sz="1000" b="0">
                          <a:solidFill>
                            <a:srgbClr val="33403A"/>
                          </a:solidFill>
                          <a:latin typeface="Segoe UI"/>
                        </a:rPr>
                        <a:t>Solides</a:t>
                      </a:r>
                    </a:p>
                  </a:txBody>
                  <a:tcPr/>
                </a:tc>
                <a:tc>
                  <a:txBody>
                    <a:bodyPr/>
                    <a:lstStyle/>
                    <a:p>
                      <a:r>
                        <a:rPr sz="1000" b="0">
                          <a:solidFill>
                            <a:srgbClr val="33403A"/>
                          </a:solidFill>
                          <a:latin typeface="Segoe UI"/>
                        </a:rPr>
                        <a:t>Toujours, pour la classification et l'extraction</a:t>
                      </a:r>
                    </a:p>
                  </a:txBody>
                  <a:tcPr/>
                </a:tc>
              </a:tr>
              <a:tr h="292608">
                <a:tc>
                  <a:txBody>
                    <a:bodyPr/>
                    <a:lstStyle/>
                    <a:p>
                      <a:r>
                        <a:rPr sz="1000" b="0">
                          <a:solidFill>
                            <a:srgbClr val="33403A"/>
                          </a:solidFill>
                          <a:latin typeface="Segoe UI"/>
                        </a:rPr>
                        <a:t>Raisonnement pas à pas</a:t>
                      </a:r>
                    </a:p>
                  </a:txBody>
                  <a:tcPr/>
                </a:tc>
                <a:tc>
                  <a:txBody>
                    <a:bodyPr/>
                    <a:lstStyle/>
                    <a:p>
                      <a:r>
                        <a:rPr sz="1000" b="0">
                          <a:solidFill>
                            <a:srgbClr val="33403A"/>
                          </a:solidFill>
                          <a:latin typeface="Segoe UI"/>
                        </a:rPr>
                        <a:t>Solides, selon la tâche</a:t>
                      </a:r>
                    </a:p>
                  </a:txBody>
                  <a:tcPr/>
                </a:tc>
                <a:tc>
                  <a:txBody>
                    <a:bodyPr/>
                    <a:lstStyle/>
                    <a:p>
                      <a:r>
                        <a:rPr sz="1000" b="0">
                          <a:solidFill>
                            <a:srgbClr val="33403A"/>
                          </a:solidFill>
                          <a:latin typeface="Segoe UI"/>
                        </a:rPr>
                        <a:t>Arithmétique et logique en plusieurs étapes ; pas pour l'extraction</a:t>
                      </a:r>
                    </a:p>
                  </a:txBody>
                  <a:tcPr/>
                </a:tc>
              </a:tr>
              <a:tr h="292608">
                <a:tc>
                  <a:txBody>
                    <a:bodyPr/>
                    <a:lstStyle/>
                    <a:p>
                      <a:r>
                        <a:rPr sz="1000" b="0">
                          <a:solidFill>
                            <a:srgbClr val="33403A"/>
                          </a:solidFill>
                          <a:latin typeface="Segoe UI"/>
                        </a:rPr>
                        <a:t>Format de sortie fixé</a:t>
                      </a:r>
                    </a:p>
                  </a:txBody>
                  <a:tcPr/>
                </a:tc>
                <a:tc>
                  <a:txBody>
                    <a:bodyPr/>
                    <a:lstStyle/>
                    <a:p>
                      <a:r>
                        <a:rPr sz="1000" b="0">
                          <a:solidFill>
                            <a:srgbClr val="33403A"/>
                          </a:solidFill>
                          <a:latin typeface="Segoe UI"/>
                        </a:rPr>
                        <a:t>Solides</a:t>
                      </a:r>
                    </a:p>
                  </a:txBody>
                  <a:tcPr/>
                </a:tc>
                <a:tc>
                  <a:txBody>
                    <a:bodyPr/>
                    <a:lstStyle/>
                    <a:p>
                      <a:r>
                        <a:rPr sz="1000" b="0">
                          <a:solidFill>
                            <a:srgbClr val="33403A"/>
                          </a:solidFill>
                          <a:latin typeface="Segoe UI"/>
                        </a:rPr>
                        <a:t>Toujours. C'est aussi ce qui rend la sortie vérifiable</a:t>
                      </a:r>
                    </a:p>
                  </a:txBody>
                  <a:tcPr/>
                </a:tc>
              </a:tr>
              <a:tr h="292608">
                <a:tc>
                  <a:txBody>
                    <a:bodyPr/>
                    <a:lstStyle/>
                    <a:p>
                      <a:r>
                        <a:rPr sz="1000" b="0">
                          <a:solidFill>
                            <a:srgbClr val="33403A"/>
                          </a:solidFill>
                          <a:latin typeface="Segoe UI"/>
                        </a:rPr>
                        <a:t>Répéter et prendre la majorité</a:t>
                      </a:r>
                    </a:p>
                  </a:txBody>
                  <a:tcPr/>
                </a:tc>
                <a:tc>
                  <a:txBody>
                    <a:bodyPr/>
                    <a:lstStyle/>
                    <a:p>
                      <a:r>
                        <a:rPr sz="1000" b="0">
                          <a:solidFill>
                            <a:srgbClr val="33403A"/>
                          </a:solidFill>
                          <a:latin typeface="Segoe UI"/>
                        </a:rPr>
                        <a:t>Solides, coût ×3 à ×5</a:t>
                      </a:r>
                    </a:p>
                  </a:txBody>
                  <a:tcPr/>
                </a:tc>
                <a:tc>
                  <a:txBody>
                    <a:bodyPr/>
                    <a:lstStyle/>
                    <a:p>
                      <a:r>
                        <a:rPr sz="1000" b="0">
                          <a:solidFill>
                            <a:srgbClr val="33403A"/>
                          </a:solidFill>
                          <a:latin typeface="Segoe UI"/>
                        </a:rPr>
                        <a:t>Quand une seule réponse ne suffit pas à publier</a:t>
                      </a:r>
                    </a:p>
                  </a:txBody>
                  <a:tcPr/>
                </a:tc>
              </a:tr>
              <a:tr h="292608">
                <a:tc>
                  <a:txBody>
                    <a:bodyPr/>
                    <a:lstStyle/>
                    <a:p>
                      <a:r>
                        <a:rPr sz="1000" b="0">
                          <a:solidFill>
                            <a:srgbClr val="33403A"/>
                          </a:solidFill>
                          <a:latin typeface="Segoe UI"/>
                        </a:rPr>
                        <a:t>« Vous êtes un expert… »</a:t>
                      </a:r>
                    </a:p>
                  </a:txBody>
                  <a:tcPr/>
                </a:tc>
                <a:tc>
                  <a:txBody>
                    <a:bodyPr/>
                    <a:lstStyle/>
                    <a:p>
                      <a:r>
                        <a:rPr sz="1000" b="0">
                          <a:solidFill>
                            <a:srgbClr val="33403A"/>
                          </a:solidFill>
                          <a:latin typeface="Segoe UI"/>
                        </a:rPr>
                        <a:t>Aucune mesurée</a:t>
                      </a:r>
                    </a:p>
                  </a:txBody>
                  <a:tcPr/>
                </a:tc>
                <a:tc>
                  <a:txBody>
                    <a:bodyPr/>
                    <a:lstStyle/>
                    <a:p>
                      <a:r>
                        <a:rPr sz="1000" b="0">
                          <a:solidFill>
                            <a:srgbClr val="33403A"/>
                          </a:solidFill>
                          <a:latin typeface="Segoe UI"/>
                        </a:rPr>
                        <a:t>Inoffensif. N'y comptez pas, ne le spécifiez pas</a:t>
                      </a:r>
                    </a:p>
                  </a:txBody>
                  <a:tcPr/>
                </a:tc>
              </a:tr>
            </a:tbl>
          </a:graphicData>
        </a:graphic>
      </p:graphicFrame>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L'ANATOMIE D'UN PROMPT QUI FONCTIONNE</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Cinq parties, dans cet ordre, à chaque fois</a:t>
            </a:r>
          </a:p>
        </p:txBody>
      </p:sp>
      <p:sp>
        <p:nvSpPr>
          <p:cNvPr id="5" name="TextBox 4"/>
          <p:cNvSpPr txBox="1"/>
          <p:nvPr/>
        </p:nvSpPr>
        <p:spPr>
          <a:xfrm>
            <a:off x="731520" y="1783080"/>
            <a:ext cx="10728655" cy="640080"/>
          </a:xfrm>
          <a:prstGeom prst="rect">
            <a:avLst/>
          </a:prstGeom>
          <a:noFill/>
        </p:spPr>
        <p:txBody>
          <a:bodyPr wrap="square">
            <a:spAutoFit/>
          </a:bodyPr>
          <a:lstStyle/>
          <a:p>
            <a:pPr algn="l"/>
            <a:r>
              <a:rPr sz="1100" b="0">
                <a:solidFill>
                  <a:srgbClr val="6B7B75"/>
                </a:solidFill>
                <a:latin typeface="Segoe UI"/>
              </a:rPr>
              <a:t>FIGURE — capturez la diapositive 8 du deck HTML et collez-la ici.</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PARTIE 2 SUR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L'évaluation est votre terrain</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C'est la partie où un office statistique a l'avantage sur une équipe informatique.</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Construisez d'abord le jeu d'évaluation</a:t>
            </a:r>
          </a:p>
        </p:txBody>
      </p:sp>
      <p:sp>
        <p:nvSpPr>
          <p:cNvPr id="4" name="TextBox 3"/>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Quoi mesurer, selon la tâche</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UN SEUL NOMBRE, CHOISI AVANT DE COMMENCER — Convenez de la mesure avant de voir un résultat. La choisir après, c'est choisir la
mesure sur laquelle votre prompt a gagné.</a:t>
            </a:r>
          </a:p>
        </p:txBody>
      </p:sp>
      <p:graphicFrame>
        <p:nvGraphicFramePr>
          <p:cNvPr id="5" name="Table 4"/>
          <p:cNvGraphicFramePr>
            <a:graphicFrameLocks noGrp="1"/>
          </p:cNvGraphicFramePr>
          <p:nvPr/>
        </p:nvGraphicFramePr>
        <p:xfrm>
          <a:off x="731520" y="2468880"/>
          <a:ext cx="10728655" cy="1463040"/>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Tâche</a:t>
                      </a:r>
                    </a:p>
                  </a:txBody>
                  <a:tcPr/>
                </a:tc>
                <a:tc>
                  <a:txBody>
                    <a:bodyPr/>
                    <a:lstStyle/>
                    <a:p>
                      <a:r>
                        <a:rPr sz="1000" b="1">
                          <a:solidFill>
                            <a:srgbClr val="FFFFFF"/>
                          </a:solidFill>
                          <a:latin typeface="Segoe UI"/>
                        </a:rPr>
                        <a:t>Mesure</a:t>
                      </a:r>
                    </a:p>
                  </a:txBody>
                  <a:tcPr/>
                </a:tc>
                <a:tc>
                  <a:txBody>
                    <a:bodyPr/>
                    <a:lstStyle/>
                    <a:p>
                      <a:r>
                        <a:rPr sz="1000" b="1">
                          <a:solidFill>
                            <a:srgbClr val="FFFFFF"/>
                          </a:solidFill>
                          <a:latin typeface="Segoe UI"/>
                        </a:rPr>
                        <a:t>Le piège</a:t>
                      </a:r>
                    </a:p>
                  </a:txBody>
                  <a:tcPr/>
                </a:tc>
              </a:tr>
              <a:tr h="292608">
                <a:tc>
                  <a:txBody>
                    <a:bodyPr/>
                    <a:lstStyle/>
                    <a:p>
                      <a:r>
                        <a:rPr sz="1000" b="0">
                          <a:solidFill>
                            <a:srgbClr val="33403A"/>
                          </a:solidFill>
                          <a:latin typeface="Segoe UI"/>
                        </a:rPr>
                        <a:t>Codage vers une nomenclature</a:t>
                      </a:r>
                    </a:p>
                  </a:txBody>
                  <a:tcPr/>
                </a:tc>
                <a:tc>
                  <a:txBody>
                    <a:bodyPr/>
                    <a:lstStyle/>
                    <a:p>
                      <a:r>
                        <a:rPr sz="1000" b="0">
                          <a:solidFill>
                            <a:srgbClr val="33403A"/>
                          </a:solidFill>
                          <a:latin typeface="Segoe UI"/>
                        </a:rPr>
                        <a:t>Exactitude au niveau publié</a:t>
                      </a:r>
                    </a:p>
                  </a:txBody>
                  <a:tcPr/>
                </a:tc>
                <a:tc>
                  <a:txBody>
                    <a:bodyPr/>
                    <a:lstStyle/>
                    <a:p>
                      <a:r>
                        <a:rPr sz="1000" b="0">
                          <a:solidFill>
                            <a:srgbClr val="33403A"/>
                          </a:solidFill>
                          <a:latin typeface="Segoe UI"/>
                        </a:rPr>
                        <a:t>Quatre chiffres score bien moins que deux</a:t>
                      </a:r>
                    </a:p>
                  </a:txBody>
                  <a:tcPr/>
                </a:tc>
              </a:tr>
              <a:tr h="292608">
                <a:tc>
                  <a:txBody>
                    <a:bodyPr/>
                    <a:lstStyle/>
                    <a:p>
                      <a:r>
                        <a:rPr sz="1000" b="0">
                          <a:solidFill>
                            <a:srgbClr val="33403A"/>
                          </a:solidFill>
                          <a:latin typeface="Segoe UI"/>
                        </a:rPr>
                        <a:t>Extraire un chiffre d'un document</a:t>
                      </a:r>
                    </a:p>
                  </a:txBody>
                  <a:tcPr/>
                </a:tc>
                <a:tc>
                  <a:txBody>
                    <a:bodyPr/>
                    <a:lstStyle/>
                    <a:p>
                      <a:r>
                        <a:rPr sz="1000" b="0">
                          <a:solidFill>
                            <a:srgbClr val="33403A"/>
                          </a:solidFill>
                          <a:latin typeface="Segoe UI"/>
                        </a:rPr>
                        <a:t>Correspondance exacte, puis chiffres seuls</a:t>
                      </a:r>
                    </a:p>
                  </a:txBody>
                  <a:tcPr/>
                </a:tc>
                <a:tc>
                  <a:txBody>
                    <a:bodyPr/>
                    <a:lstStyle/>
                    <a:p>
                      <a:r>
                        <a:rPr sz="1000" b="0">
                          <a:solidFill>
                            <a:srgbClr val="33403A"/>
                          </a:solidFill>
                          <a:latin typeface="Segoe UI"/>
                        </a:rPr>
                        <a:t>Bon nombre, mauvaise unité</a:t>
                      </a:r>
                    </a:p>
                  </a:txBody>
                  <a:tcPr/>
                </a:tc>
              </a:tr>
              <a:tr h="292608">
                <a:tc>
                  <a:txBody>
                    <a:bodyPr/>
                    <a:lstStyle/>
                    <a:p>
                      <a:r>
                        <a:rPr sz="1000" b="0">
                          <a:solidFill>
                            <a:srgbClr val="33403A"/>
                          </a:solidFill>
                          <a:latin typeface="Segoe UI"/>
                        </a:rPr>
                        <a:t>Répondre depuis un corpus</a:t>
                      </a:r>
                    </a:p>
                  </a:txBody>
                  <a:tcPr/>
                </a:tc>
                <a:tc>
                  <a:txBody>
                    <a:bodyPr/>
                    <a:lstStyle/>
                    <a:p>
                      <a:r>
                        <a:rPr sz="1000" b="0">
                          <a:solidFill>
                            <a:srgbClr val="33403A"/>
                          </a:solidFill>
                          <a:latin typeface="Segoe UI"/>
                        </a:rPr>
                        <a:t>Bonnes réponses  et  bons refus</a:t>
                      </a:r>
                    </a:p>
                  </a:txBody>
                  <a:tcPr/>
                </a:tc>
                <a:tc>
                  <a:txBody>
                    <a:bodyPr/>
                    <a:lstStyle/>
                    <a:p>
                      <a:r>
                        <a:rPr sz="1000" b="0">
                          <a:solidFill>
                            <a:srgbClr val="33403A"/>
                          </a:solidFill>
                          <a:latin typeface="Segoe UI"/>
                        </a:rPr>
                        <a:t>Ne jamais refuser réussit bien</a:t>
                      </a:r>
                    </a:p>
                  </a:txBody>
                  <a:tcPr/>
                </a:tc>
              </a:tr>
              <a:tr h="292608">
                <a:tc>
                  <a:txBody>
                    <a:bodyPr/>
                    <a:lstStyle/>
                    <a:p>
                      <a:r>
                        <a:rPr sz="1000" b="0">
                          <a:solidFill>
                            <a:srgbClr val="33403A"/>
                          </a:solidFill>
                          <a:latin typeface="Segoe UI"/>
                        </a:rPr>
                        <a:t>Rédiger du texte</a:t>
                      </a:r>
                    </a:p>
                  </a:txBody>
                  <a:tcPr/>
                </a:tc>
                <a:tc>
                  <a:txBody>
                    <a:bodyPr/>
                    <a:lstStyle/>
                    <a:p>
                      <a:r>
                        <a:rPr sz="1000" b="0">
                          <a:solidFill>
                            <a:srgbClr val="33403A"/>
                          </a:solidFill>
                          <a:latin typeface="Segoe UI"/>
                        </a:rPr>
                        <a:t>Une grille humaine, appliquée en aveugle</a:t>
                      </a:r>
                    </a:p>
                  </a:txBody>
                  <a:tcPr/>
                </a:tc>
                <a:tc>
                  <a:txBody>
                    <a:bodyPr/>
                    <a:lstStyle/>
                    <a:p>
                      <a:r>
                        <a:rPr sz="1000" b="0">
                          <a:solidFill>
                            <a:srgbClr val="33403A"/>
                          </a:solidFill>
                          <a:latin typeface="Segoe UI"/>
                        </a:rPr>
                        <a:t>Un modèle notant sa propre sortie</a:t>
                      </a:r>
                    </a:p>
                  </a:txBody>
                  <a:tcPr/>
                </a:tc>
              </a:tr>
            </a:tbl>
          </a:graphicData>
        </a:graphic>
      </p:graphicFrame>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UN MOT QUI TROMPE</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Température 0 n'est pas la reproductibilité</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33403A"/>
                </a:solidFill>
                <a:latin typeface="Segoe UI"/>
              </a:rPr>
              <a:t>Elle réduit la variation. Elle ne promet pas deux fois la même sortie, et aucun
fournisseur n'offre cette promesse.</a:t>
            </a:r>
          </a:p>
        </p:txBody>
      </p:sp>
      <p:sp>
        <p:nvSpPr>
          <p:cNvPr id="6" name="Rectangle 5"/>
          <p:cNvSpPr/>
          <p:nvPr/>
        </p:nvSpPr>
        <p:spPr>
          <a:xfrm>
            <a:off x="731520" y="22860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CE QU'EXIGE RÉELLEMENT LA REPRODUCTIBILITÉ — Le nom du modèle  et sa version , le texte exact du prompt, les
paramètres, et la date. Consignez les quatre à côté de tout chiffre publié — et
attendez-vous à ce que le fournisseur retire cette version pendant que votre série
tourne encore.</a:t>
            </a:r>
          </a:p>
        </p:txBody>
      </p:sp>
      <p:sp>
        <p:nvSpPr>
          <p:cNvPr id="7" name="TextBox 6"/>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PARTIE 3 SUR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Trois façons dont cela tourne mal</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Deux sont techniques. La troisième est celle qui met fin à une carrière.</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Trois modes d'échec</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LE TROISIÈME N'EST PAS UN ÉCHEC TECHNIQUE — C'est une violation du secret statistique, et elle est irréversible. Une fois le
texte parti, vous ne pouvez ni le rappeler ni prouver qu'il n'a pas été conservé.</a:t>
            </a:r>
          </a:p>
        </p:txBody>
      </p:sp>
      <p:graphicFrame>
        <p:nvGraphicFramePr>
          <p:cNvPr id="5" name="Table 4"/>
          <p:cNvGraphicFramePr>
            <a:graphicFrameLocks noGrp="1"/>
          </p:cNvGraphicFramePr>
          <p:nvPr/>
        </p:nvGraphicFramePr>
        <p:xfrm>
          <a:off x="731520" y="2468880"/>
          <a:ext cx="10728655" cy="1170432"/>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Ce qui se produit</a:t>
                      </a:r>
                    </a:p>
                  </a:txBody>
                  <a:tcPr/>
                </a:tc>
                <a:tc>
                  <a:txBody>
                    <a:bodyPr/>
                    <a:lstStyle/>
                    <a:p>
                      <a:r>
                        <a:rPr sz="1000" b="1">
                          <a:solidFill>
                            <a:srgbClr val="FFFFFF"/>
                          </a:solidFill>
                          <a:latin typeface="Segoe UI"/>
                        </a:rPr>
                        <a:t>Pourquoi</a:t>
                      </a:r>
                    </a:p>
                  </a:txBody>
                  <a:tcPr/>
                </a:tc>
                <a:tc>
                  <a:txBody>
                    <a:bodyPr/>
                    <a:lstStyle/>
                    <a:p>
                      <a:r>
                        <a:rPr sz="1000" b="1">
                          <a:solidFill>
                            <a:srgbClr val="FFFFFF"/>
                          </a:solidFill>
                          <a:latin typeface="Segoe UI"/>
                        </a:rPr>
                        <a:t>Ce qui l'arrête</a:t>
                      </a:r>
                    </a:p>
                  </a:txBody>
                  <a:tcPr/>
                </a:tc>
              </a:tr>
              <a:tr h="292608">
                <a:tc>
                  <a:txBody>
                    <a:bodyPr/>
                    <a:lstStyle/>
                    <a:p>
                      <a:r>
                        <a:rPr sz="1000" b="0">
                          <a:solidFill>
                            <a:srgbClr val="33403A"/>
                          </a:solidFill>
                          <a:latin typeface="Segoe UI"/>
                        </a:rPr>
                        <a:t>L'entrée réécrit vos consignes</a:t>
                      </a:r>
                    </a:p>
                  </a:txBody>
                  <a:tcPr/>
                </a:tc>
                <a:tc>
                  <a:txBody>
                    <a:bodyPr/>
                    <a:lstStyle/>
                    <a:p>
                      <a:r>
                        <a:rPr sz="1000" b="0">
                          <a:solidFill>
                            <a:srgbClr val="33403A"/>
                          </a:solidFill>
                          <a:latin typeface="Segoe UI"/>
                        </a:rPr>
                        <a:t>Un texte de répondant dit « ignorez ce qui précède… »</a:t>
                      </a:r>
                    </a:p>
                  </a:txBody>
                  <a:tcPr/>
                </a:tc>
                <a:tc>
                  <a:txBody>
                    <a:bodyPr/>
                    <a:lstStyle/>
                    <a:p>
                      <a:r>
                        <a:rPr sz="1000" b="0">
                          <a:solidFill>
                            <a:srgbClr val="33403A"/>
                          </a:solidFill>
                          <a:latin typeface="Segoe UI"/>
                        </a:rPr>
                        <a:t>Délimiter l'entrée, et valider la forme de sortie</a:t>
                      </a:r>
                    </a:p>
                  </a:txBody>
                  <a:tcPr/>
                </a:tc>
              </a:tr>
              <a:tr h="292608">
                <a:tc>
                  <a:txBody>
                    <a:bodyPr/>
                    <a:lstStyle/>
                    <a:p>
                      <a:r>
                        <a:rPr sz="1000" b="0">
                          <a:solidFill>
                            <a:srgbClr val="33403A"/>
                          </a:solidFill>
                          <a:latin typeface="Segoe UI"/>
                        </a:rPr>
                        <a:t>La sortie dérive silencieusement</a:t>
                      </a:r>
                    </a:p>
                  </a:txBody>
                  <a:tcPr/>
                </a:tc>
                <a:tc>
                  <a:txBody>
                    <a:bodyPr/>
                    <a:lstStyle/>
                    <a:p>
                      <a:r>
                        <a:rPr sz="1000" b="0">
                          <a:solidFill>
                            <a:srgbClr val="33403A"/>
                          </a:solidFill>
                          <a:latin typeface="Segoe UI"/>
                        </a:rPr>
                        <a:t>Le fournisseur a mis le modèle à jour</a:t>
                      </a:r>
                    </a:p>
                  </a:txBody>
                  <a:tcPr/>
                </a:tc>
                <a:tc>
                  <a:txBody>
                    <a:bodyPr/>
                    <a:lstStyle/>
                    <a:p>
                      <a:r>
                        <a:rPr sz="1000" b="0">
                          <a:solidFill>
                            <a:srgbClr val="33403A"/>
                          </a:solidFill>
                          <a:latin typeface="Segoe UI"/>
                        </a:rPr>
                        <a:t>Relancer le jeu d'évaluation périodiquement</a:t>
                      </a:r>
                    </a:p>
                  </a:txBody>
                  <a:tcPr/>
                </a:tc>
              </a:tr>
              <a:tr h="292608">
                <a:tc>
                  <a:txBody>
                    <a:bodyPr/>
                    <a:lstStyle/>
                    <a:p>
                      <a:r>
                        <a:rPr sz="1000" b="0">
                          <a:solidFill>
                            <a:srgbClr val="33403A"/>
                          </a:solidFill>
                          <a:latin typeface="Segoe UI"/>
                        </a:rPr>
                        <a:t>Du texte confidentiel quitte le bâtiment</a:t>
                      </a:r>
                    </a:p>
                  </a:txBody>
                  <a:tcPr/>
                </a:tc>
                <a:tc>
                  <a:txBody>
                    <a:bodyPr/>
                    <a:lstStyle/>
                    <a:p>
                      <a:r>
                        <a:rPr sz="1000" b="0">
                          <a:solidFill>
                            <a:srgbClr val="33403A"/>
                          </a:solidFill>
                          <a:latin typeface="Segoe UI"/>
                        </a:rPr>
                        <a:t>Un champ libre portait un identifiant</a:t>
                      </a:r>
                    </a:p>
                  </a:txBody>
                  <a:tcPr/>
                </a:tc>
                <a:tc>
                  <a:txBody>
                    <a:bodyPr/>
                    <a:lstStyle/>
                    <a:p>
                      <a:r>
                        <a:rPr sz="1000" b="0">
                          <a:solidFill>
                            <a:srgbClr val="33403A"/>
                          </a:solidFill>
                          <a:latin typeface="Segoe UI"/>
                        </a:rPr>
                        <a:t>Classer les données avant de choisir où le modèle s'exécute</a:t>
                      </a:r>
                    </a:p>
                  </a:txBody>
                  <a:tcPr/>
                </a:tc>
              </a:tr>
            </a:tbl>
          </a:graphicData>
        </a:graphic>
      </p:graphicFrame>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LA LIMITE, REFORMULÉE POUR LES PROMPTS</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Il reçoit un numéro de version, il figure dans la documentation, et le chiffre
nomme la version qui l'a produit. Si vous ne pouvez pas montrer le prompt, vous ne
pouvez pas défendre le nombre.</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À EMPORTER À VOTRE BUREAU</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0B2545"/>
                </a:solidFill>
                <a:latin typeface="Segoe UI"/>
              </a:rPr>
              <a:t>Ce que consigne un prompt documenté</a:t>
            </a:r>
          </a:p>
        </p:txBody>
      </p:sp>
      <p:sp>
        <p:nvSpPr>
          <p:cNvPr id="5" name="TextBox 4"/>
          <p:cNvSpPr txBox="1"/>
          <p:nvPr/>
        </p:nvSpPr>
        <p:spPr>
          <a:xfrm>
            <a:off x="731520" y="1783080"/>
            <a:ext cx="10728655" cy="3977640"/>
          </a:xfrm>
          <a:prstGeom prst="rect">
            <a:avLst/>
          </a:prstGeom>
          <a:noFill/>
        </p:spPr>
        <p:txBody>
          <a:bodyPr wrap="square">
            <a:spAutoFit/>
          </a:bodyPr>
          <a:lstStyle/>
          <a:p>
            <a:pPr>
              <a:spcAft>
                <a:spcPts val="700"/>
              </a:spcAft>
            </a:pPr>
            <a:r>
              <a:rPr sz="1400">
                <a:solidFill>
                  <a:srgbClr val="33403A"/>
                </a:solidFill>
                <a:latin typeface="Segoe UI"/>
              </a:rPr>
              <a:t>•  Le  texte exact , espaces comprises</a:t>
            </a:r>
          </a:p>
          <a:p>
            <a:pPr>
              <a:spcAft>
                <a:spcPts val="700"/>
              </a:spcAft>
            </a:pPr>
            <a:r>
              <a:rPr sz="1400">
                <a:solidFill>
                  <a:srgbClr val="33403A"/>
                </a:solidFill>
                <a:latin typeface="Segoe UI"/>
              </a:rPr>
              <a:t>•  Nom du modèle  et version , et la date</a:t>
            </a:r>
          </a:p>
          <a:p>
            <a:pPr>
              <a:spcAft>
                <a:spcPts val="700"/>
              </a:spcAft>
            </a:pPr>
            <a:r>
              <a:rPr sz="1400">
                <a:solidFill>
                  <a:srgbClr val="33403A"/>
                </a:solidFill>
                <a:latin typeface="Segoe UI"/>
              </a:rPr>
              <a:t>•  Les paramètres, et si les réponses ont été  répétées et votées</a:t>
            </a:r>
          </a:p>
          <a:p>
            <a:pPr>
              <a:spcAft>
                <a:spcPts val="700"/>
              </a:spcAft>
            </a:pPr>
            <a:r>
              <a:rPr sz="1400">
                <a:solidFill>
                  <a:srgbClr val="33403A"/>
                </a:solidFill>
                <a:latin typeface="Segoe UI"/>
              </a:rPr>
              <a:t>•  Le  jeu d'évaluation , sa taille et son mode de tirage</a:t>
            </a:r>
          </a:p>
          <a:p>
            <a:pPr>
              <a:spcAft>
                <a:spcPts val="700"/>
              </a:spcAft>
            </a:pPr>
            <a:r>
              <a:rPr sz="1400">
                <a:solidFill>
                  <a:srgbClr val="33403A"/>
                </a:solidFill>
                <a:latin typeface="Segoe UI"/>
              </a:rPr>
              <a:t>•  Le  score , et votre propre taux d'accord humain</a:t>
            </a:r>
          </a:p>
          <a:p>
            <a:pPr>
              <a:spcAft>
                <a:spcPts val="700"/>
              </a:spcAft>
            </a:pPr>
            <a:r>
              <a:rPr sz="1400">
                <a:solidFill>
                  <a:srgbClr val="33403A"/>
                </a:solidFill>
                <a:latin typeface="Segoe UI"/>
              </a:rPr>
              <a:t>•  Ce à quoi il n'est  pas  adapté</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ENSUITE</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10h30 — Du document statistique au tableau de bord public</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Deux heures. Vous rédigerez le prompt, construirez le jeu d'évaluation, et
mesurerez la différence que font vos modifications.</a:t>
            </a:r>
          </a:p>
        </p:txBody>
      </p:sp>
      <p:sp>
        <p:nvSpPr>
          <p:cNvPr id="6" name="TextBox 5"/>
          <p:cNvSpPr txBox="1"/>
          <p:nvPr/>
        </p:nvSpPr>
        <p:spPr>
          <a:xfrm>
            <a:off x="731520" y="2286000"/>
            <a:ext cx="10728655" cy="548640"/>
          </a:xfrm>
          <a:prstGeom prst="rect">
            <a:avLst/>
          </a:prstGeom>
          <a:noFill/>
        </p:spPr>
        <p:txBody>
          <a:bodyPr wrap="square">
            <a:spAutoFit/>
          </a:bodyPr>
          <a:lstStyle/>
          <a:p>
            <a:pPr algn="l"/>
            <a:r>
              <a:rPr sz="1400" b="0">
                <a:solidFill>
                  <a:srgbClr val="DBE7E0"/>
                </a:solidFill>
                <a:latin typeface="Segoe UI"/>
              </a:rPr>
              <a:t>14h00 · De bon à excellent — optimisation des prompts 
14h45 · Choisir son moteur — vitesse, coût et souveraineté 
15h45 · Laboratoire — un modèle, plusieurs métiers  
Bibliographie complète : site de l'atelier → Ressources → Références</a:t>
            </a:r>
          </a:p>
        </p:txBody>
      </p:sp>
      <p:sp>
        <p:nvSpPr>
          <p:cNvPr id="7" name="TextBox 6"/>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377440"/>
            <a:ext cx="9997135" cy="2286000"/>
          </a:xfrm>
          <a:prstGeom prst="rect">
            <a:avLst/>
          </a:prstGeom>
          <a:noFill/>
        </p:spPr>
        <p:txBody>
          <a:bodyPr wrap="square">
            <a:spAutoFit/>
          </a:bodyPr>
          <a:lstStyle/>
          <a:p>
            <a:pPr algn="ctr"/>
            <a:r>
              <a:rPr sz="1400" b="0">
                <a:solidFill>
                  <a:srgbClr val="DBE7E0"/>
                </a:solidFill>
                <a:latin typeface="Segoe UI"/>
              </a:rPr>
              <a:t>Ce fichier PowerPoint est généré à partir du deck reveal.js
slides/decks/03-prompt-engineering.deck.html
Les modifications faites ici ne remontent pas. Si votre changement doit être permanent,
modifiez la source et exécutez :  python tools/build_slides.py &amp;&amp; python tools/build_pptx.py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