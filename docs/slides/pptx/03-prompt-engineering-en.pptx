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AFRICAN DEVELOPMENT BANK · AU STATAFRIC · STG17 · DAY 2</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3400" b="1">
                <a:solidFill>
                  <a:srgbClr val="FFFFFF"/>
                </a:solidFill>
                <a:latin typeface="Segoe UI"/>
              </a:rPr>
              <a:t>Talking to machines</a:t>
            </a:r>
          </a:p>
        </p:txBody>
      </p:sp>
      <p:sp>
        <p:nvSpPr>
          <p:cNvPr id="5" name="TextBox 4"/>
          <p:cNvSpPr txBox="1"/>
          <p:nvPr/>
        </p:nvSpPr>
        <p:spPr>
          <a:xfrm>
            <a:off x="731520" y="1874520"/>
            <a:ext cx="10728655" cy="548640"/>
          </a:xfrm>
          <a:prstGeom prst="rect">
            <a:avLst/>
          </a:prstGeom>
          <a:noFill/>
        </p:spPr>
        <p:txBody>
          <a:bodyPr wrap="square">
            <a:spAutoFit/>
          </a:bodyPr>
          <a:lstStyle/>
          <a:p>
            <a:pPr algn="l"/>
            <a:r>
              <a:rPr sz="1700" b="0">
                <a:solidFill>
                  <a:srgbClr val="DBE7E0"/>
                </a:solidFill>
                <a:latin typeface="Segoe UI"/>
              </a:rPr>
              <a:t>Prompt engineering is specification writing — and this room has done it for thirty years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YOU HAVE WRITTEN ONE OF THESE</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An enumerator's instruction manual</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33403A"/>
                </a:solidFill>
                <a:latin typeface="Segoe UI"/>
              </a:rPr>
              <a:t>A specification for a worker you will never meet, who cannot ask you what you
meant, and whose output becomes an official statistic.</a:t>
            </a:r>
          </a:p>
        </p:txBody>
      </p:sp>
      <p:sp>
        <p:nvSpPr>
          <p:cNvPr id="6" name="Rectangle 5"/>
          <p:cNvSpPr/>
          <p:nvPr/>
        </p:nvSpPr>
        <p:spPr>
          <a:xfrm>
            <a:off x="731520" y="22860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THAT IS THE WHOLE SKILL — State the task. Define the terms. Give worked examples, including the awkward
ones. Say what to do when the case does not fit.  Then test it on real
material before you deploy it to a thousand people.</a:t>
            </a:r>
          </a:p>
        </p:txBody>
      </p:sp>
      <p:sp>
        <p:nvSpPr>
          <p:cNvPr id="7" name="TextBox 6"/>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THE REFRAMING THIS TALK RESTS ON</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Not a spell, not a knack, not a personal style. Something you specify, test,
version and document — because the number that comes out of it will be attributed
to your office.</a:t>
            </a:r>
          </a:p>
        </p:txBody>
      </p:sp>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 1 OF 3</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What actually moves the number</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Two published results that contradict most of what circulates.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Two findings worth more than a hundred tips</a:t>
            </a:r>
          </a:p>
        </p:txBody>
      </p:sp>
      <p:sp>
        <p:nvSpPr>
          <p:cNvPr id="4" name="TextBox 3"/>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HOLD ON TO THIS NUMBER</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The gap between the best and worst  meaning-preserving  format of the same
prompt, on the same model, for the same task.</a:t>
            </a:r>
          </a:p>
        </p:txBody>
      </p:sp>
      <p:sp>
        <p:nvSpPr>
          <p:cNvPr id="5" name="Rectangle 4"/>
          <p:cNvSpPr/>
          <p:nvPr/>
        </p:nvSpPr>
        <p:spPr>
          <a:xfrm>
            <a:off x="731520" y="141732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WHAT IT MEANS FOR A STATISTICAL OFFICE — An undocumented prompt format is an undocumented instrument setting. Two
colleagues can follow the same written method and publish materially different
figures.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What has evidence, and what does not</a:t>
            </a:r>
          </a:p>
        </p:txBody>
      </p:sp>
      <p:graphicFrame>
        <p:nvGraphicFramePr>
          <p:cNvPr id="4" name="Table 3"/>
          <p:cNvGraphicFramePr>
            <a:graphicFrameLocks noGrp="1"/>
          </p:cNvGraphicFramePr>
          <p:nvPr/>
        </p:nvGraphicFramePr>
        <p:xfrm>
          <a:off x="731520" y="1371600"/>
          <a:ext cx="10728655" cy="1755648"/>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Technique</a:t>
                      </a:r>
                    </a:p>
                  </a:txBody>
                  <a:tcPr/>
                </a:tc>
                <a:tc>
                  <a:txBody>
                    <a:bodyPr/>
                    <a:lstStyle/>
                    <a:p>
                      <a:r>
                        <a:rPr sz="1000" b="1">
                          <a:solidFill>
                            <a:srgbClr val="FFFFFF"/>
                          </a:solidFill>
                          <a:latin typeface="Segoe UI"/>
                        </a:rPr>
                        <a:t>Evidence</a:t>
                      </a:r>
                    </a:p>
                  </a:txBody>
                  <a:tcPr/>
                </a:tc>
                <a:tc>
                  <a:txBody>
                    <a:bodyPr/>
                    <a:lstStyle/>
                    <a:p>
                      <a:r>
                        <a:rPr sz="1000" b="1">
                          <a:solidFill>
                            <a:srgbClr val="FFFFFF"/>
                          </a:solidFill>
                          <a:latin typeface="Segoe UI"/>
                        </a:rPr>
                        <a:t>Use it when</a:t>
                      </a:r>
                    </a:p>
                  </a:txBody>
                  <a:tcPr/>
                </a:tc>
              </a:tr>
              <a:tr h="292608">
                <a:tc>
                  <a:txBody>
                    <a:bodyPr/>
                    <a:lstStyle/>
                    <a:p>
                      <a:r>
                        <a:rPr sz="1000" b="0">
                          <a:solidFill>
                            <a:srgbClr val="33403A"/>
                          </a:solidFill>
                          <a:latin typeface="Segoe UI"/>
                        </a:rPr>
                        <a:t>Worked examples  in the prompt</a:t>
                      </a:r>
                    </a:p>
                  </a:txBody>
                  <a:tcPr/>
                </a:tc>
                <a:tc>
                  <a:txBody>
                    <a:bodyPr/>
                    <a:lstStyle/>
                    <a:p>
                      <a:r>
                        <a:rPr sz="1000" b="0">
                          <a:solidFill>
                            <a:srgbClr val="33403A"/>
                          </a:solidFill>
                          <a:latin typeface="Segoe UI"/>
                        </a:rPr>
                        <a:t>Strong</a:t>
                      </a:r>
                    </a:p>
                  </a:txBody>
                  <a:tcPr/>
                </a:tc>
                <a:tc>
                  <a:txBody>
                    <a:bodyPr/>
                    <a:lstStyle/>
                    <a:p>
                      <a:r>
                        <a:rPr sz="1000" b="0">
                          <a:solidFill>
                            <a:srgbClr val="33403A"/>
                          </a:solidFill>
                          <a:latin typeface="Segoe UI"/>
                        </a:rPr>
                        <a:t>Always, for classification and extraction</a:t>
                      </a:r>
                    </a:p>
                  </a:txBody>
                  <a:tcPr/>
                </a:tc>
              </a:tr>
              <a:tr h="292608">
                <a:tc>
                  <a:txBody>
                    <a:bodyPr/>
                    <a:lstStyle/>
                    <a:p>
                      <a:r>
                        <a:rPr sz="1000" b="0">
                          <a:solidFill>
                            <a:srgbClr val="33403A"/>
                          </a:solidFill>
                          <a:latin typeface="Segoe UI"/>
                        </a:rPr>
                        <a:t>Step-by-step reasoning</a:t>
                      </a:r>
                    </a:p>
                  </a:txBody>
                  <a:tcPr/>
                </a:tc>
                <a:tc>
                  <a:txBody>
                    <a:bodyPr/>
                    <a:lstStyle/>
                    <a:p>
                      <a:r>
                        <a:rPr sz="1000" b="0">
                          <a:solidFill>
                            <a:srgbClr val="33403A"/>
                          </a:solidFill>
                          <a:latin typeface="Segoe UI"/>
                        </a:rPr>
                        <a:t>Strong, task-dependent</a:t>
                      </a:r>
                    </a:p>
                  </a:txBody>
                  <a:tcPr/>
                </a:tc>
                <a:tc>
                  <a:txBody>
                    <a:bodyPr/>
                    <a:lstStyle/>
                    <a:p>
                      <a:r>
                        <a:rPr sz="1000" b="0">
                          <a:solidFill>
                            <a:srgbClr val="33403A"/>
                          </a:solidFill>
                          <a:latin typeface="Segoe UI"/>
                        </a:rPr>
                        <a:t>Arithmetic and multi-step logic; not for extraction</a:t>
                      </a:r>
                    </a:p>
                  </a:txBody>
                  <a:tcPr/>
                </a:tc>
              </a:tr>
              <a:tr h="292608">
                <a:tc>
                  <a:txBody>
                    <a:bodyPr/>
                    <a:lstStyle/>
                    <a:p>
                      <a:r>
                        <a:rPr sz="1000" b="0">
                          <a:solidFill>
                            <a:srgbClr val="33403A"/>
                          </a:solidFill>
                          <a:latin typeface="Segoe UI"/>
                        </a:rPr>
                        <a:t>Fixed output format</a:t>
                      </a:r>
                    </a:p>
                  </a:txBody>
                  <a:tcPr/>
                </a:tc>
                <a:tc>
                  <a:txBody>
                    <a:bodyPr/>
                    <a:lstStyle/>
                    <a:p>
                      <a:r>
                        <a:rPr sz="1000" b="0">
                          <a:solidFill>
                            <a:srgbClr val="33403A"/>
                          </a:solidFill>
                          <a:latin typeface="Segoe UI"/>
                        </a:rPr>
                        <a:t>Strong</a:t>
                      </a:r>
                    </a:p>
                  </a:txBody>
                  <a:tcPr/>
                </a:tc>
                <a:tc>
                  <a:txBody>
                    <a:bodyPr/>
                    <a:lstStyle/>
                    <a:p>
                      <a:r>
                        <a:rPr sz="1000" b="0">
                          <a:solidFill>
                            <a:srgbClr val="33403A"/>
                          </a:solidFill>
                          <a:latin typeface="Segoe UI"/>
                        </a:rPr>
                        <a:t>Always. It is also what makes output checkable</a:t>
                      </a:r>
                    </a:p>
                  </a:txBody>
                  <a:tcPr/>
                </a:tc>
              </a:tr>
              <a:tr h="292608">
                <a:tc>
                  <a:txBody>
                    <a:bodyPr/>
                    <a:lstStyle/>
                    <a:p>
                      <a:r>
                        <a:rPr sz="1000" b="0">
                          <a:solidFill>
                            <a:srgbClr val="33403A"/>
                          </a:solidFill>
                          <a:latin typeface="Segoe UI"/>
                        </a:rPr>
                        <a:t>Repeat and take the majority</a:t>
                      </a:r>
                    </a:p>
                  </a:txBody>
                  <a:tcPr/>
                </a:tc>
                <a:tc>
                  <a:txBody>
                    <a:bodyPr/>
                    <a:lstStyle/>
                    <a:p>
                      <a:r>
                        <a:rPr sz="1000" b="0">
                          <a:solidFill>
                            <a:srgbClr val="33403A"/>
                          </a:solidFill>
                          <a:latin typeface="Segoe UI"/>
                        </a:rPr>
                        <a:t>Strong, costs 3–5×</a:t>
                      </a:r>
                    </a:p>
                  </a:txBody>
                  <a:tcPr/>
                </a:tc>
                <a:tc>
                  <a:txBody>
                    <a:bodyPr/>
                    <a:lstStyle/>
                    <a:p>
                      <a:r>
                        <a:rPr sz="1000" b="0">
                          <a:solidFill>
                            <a:srgbClr val="33403A"/>
                          </a:solidFill>
                          <a:latin typeface="Segoe UI"/>
                        </a:rPr>
                        <a:t>When one answer is not enough to publish</a:t>
                      </a:r>
                    </a:p>
                  </a:txBody>
                  <a:tcPr/>
                </a:tc>
              </a:tr>
              <a:tr h="292608">
                <a:tc>
                  <a:txBody>
                    <a:bodyPr/>
                    <a:lstStyle/>
                    <a:p>
                      <a:r>
                        <a:rPr sz="1000" b="0">
                          <a:solidFill>
                            <a:srgbClr val="33403A"/>
                          </a:solidFill>
                          <a:latin typeface="Segoe UI"/>
                        </a:rPr>
                        <a:t>“You are an expert…”</a:t>
                      </a:r>
                    </a:p>
                  </a:txBody>
                  <a:tcPr/>
                </a:tc>
                <a:tc>
                  <a:txBody>
                    <a:bodyPr/>
                    <a:lstStyle/>
                    <a:p>
                      <a:r>
                        <a:rPr sz="1000" b="0">
                          <a:solidFill>
                            <a:srgbClr val="33403A"/>
                          </a:solidFill>
                          <a:latin typeface="Segoe UI"/>
                        </a:rPr>
                        <a:t>None measured</a:t>
                      </a:r>
                    </a:p>
                  </a:txBody>
                  <a:tcPr/>
                </a:tc>
                <a:tc>
                  <a:txBody>
                    <a:bodyPr/>
                    <a:lstStyle/>
                    <a:p>
                      <a:r>
                        <a:rPr sz="1000" b="0">
                          <a:solidFill>
                            <a:srgbClr val="33403A"/>
                          </a:solidFill>
                          <a:latin typeface="Segoe UI"/>
                        </a:rPr>
                        <a:t>Harmless. Do not count on it, do not specify it</a:t>
                      </a:r>
                    </a:p>
                  </a:txBody>
                  <a:tcPr/>
                </a:tc>
              </a:tr>
            </a:tbl>
          </a:graphicData>
        </a:graphic>
      </p:graphicFrame>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THE ANATOMY OF A PROMPT THAT WORKS</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Five parts, in this order, every time</a:t>
            </a:r>
          </a:p>
        </p:txBody>
      </p:sp>
      <p:sp>
        <p:nvSpPr>
          <p:cNvPr id="5" name="TextBox 4"/>
          <p:cNvSpPr txBox="1"/>
          <p:nvPr/>
        </p:nvSpPr>
        <p:spPr>
          <a:xfrm>
            <a:off x="731520" y="1783080"/>
            <a:ext cx="10728655" cy="640080"/>
          </a:xfrm>
          <a:prstGeom prst="rect">
            <a:avLst/>
          </a:prstGeom>
          <a:noFill/>
        </p:spPr>
        <p:txBody>
          <a:bodyPr wrap="square">
            <a:spAutoFit/>
          </a:bodyPr>
          <a:lstStyle/>
          <a:p>
            <a:pPr algn="l"/>
            <a:r>
              <a:rPr sz="1100" b="0">
                <a:solidFill>
                  <a:srgbClr val="6B7B75"/>
                </a:solidFill>
                <a:latin typeface="Segoe UI"/>
              </a:rPr>
              <a:t>FIGURE — screenshot slide 8 of the HTML deck and paste it here.</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 2 OF 3</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Evaluation is your home ground</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This is the part where a statistical office has an advantage over a software team.</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Build the evaluation set first</a:t>
            </a:r>
          </a:p>
        </p:txBody>
      </p:sp>
      <p:sp>
        <p:nvSpPr>
          <p:cNvPr id="4" name="TextBox 3"/>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What to measure, by task</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ONE NUMBER, CHOSEN BEFORE YOU START — Agree the metric before you see any results. Choosing it afterwards is choosing
the metric your prompt happened to win on.</a:t>
            </a:r>
          </a:p>
        </p:txBody>
      </p:sp>
      <p:graphicFrame>
        <p:nvGraphicFramePr>
          <p:cNvPr id="5" name="Table 4"/>
          <p:cNvGraphicFramePr>
            <a:graphicFrameLocks noGrp="1"/>
          </p:cNvGraphicFramePr>
          <p:nvPr/>
        </p:nvGraphicFramePr>
        <p:xfrm>
          <a:off x="731520" y="2468880"/>
          <a:ext cx="10728655" cy="1463040"/>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Task</a:t>
                      </a:r>
                    </a:p>
                  </a:txBody>
                  <a:tcPr/>
                </a:tc>
                <a:tc>
                  <a:txBody>
                    <a:bodyPr/>
                    <a:lstStyle/>
                    <a:p>
                      <a:r>
                        <a:rPr sz="1000" b="1">
                          <a:solidFill>
                            <a:srgbClr val="FFFFFF"/>
                          </a:solidFill>
                          <a:latin typeface="Segoe UI"/>
                        </a:rPr>
                        <a:t>Measure</a:t>
                      </a:r>
                    </a:p>
                  </a:txBody>
                  <a:tcPr/>
                </a:tc>
                <a:tc>
                  <a:txBody>
                    <a:bodyPr/>
                    <a:lstStyle/>
                    <a:p>
                      <a:r>
                        <a:rPr sz="1000" b="1">
                          <a:solidFill>
                            <a:srgbClr val="FFFFFF"/>
                          </a:solidFill>
                          <a:latin typeface="Segoe UI"/>
                        </a:rPr>
                        <a:t>The trap</a:t>
                      </a:r>
                    </a:p>
                  </a:txBody>
                  <a:tcPr/>
                </a:tc>
              </a:tr>
              <a:tr h="292608">
                <a:tc>
                  <a:txBody>
                    <a:bodyPr/>
                    <a:lstStyle/>
                    <a:p>
                      <a:r>
                        <a:rPr sz="1000" b="0">
                          <a:solidFill>
                            <a:srgbClr val="33403A"/>
                          </a:solidFill>
                          <a:latin typeface="Segoe UI"/>
                        </a:rPr>
                        <a:t>Coding to a classification</a:t>
                      </a:r>
                    </a:p>
                  </a:txBody>
                  <a:tcPr/>
                </a:tc>
                <a:tc>
                  <a:txBody>
                    <a:bodyPr/>
                    <a:lstStyle/>
                    <a:p>
                      <a:r>
                        <a:rPr sz="1000" b="0">
                          <a:solidFill>
                            <a:srgbClr val="33403A"/>
                          </a:solidFill>
                          <a:latin typeface="Segoe UI"/>
                        </a:rPr>
                        <a:t>Accuracy at the level you publish</a:t>
                      </a:r>
                    </a:p>
                  </a:txBody>
                  <a:tcPr/>
                </a:tc>
                <a:tc>
                  <a:txBody>
                    <a:bodyPr/>
                    <a:lstStyle/>
                    <a:p>
                      <a:r>
                        <a:rPr sz="1000" b="0">
                          <a:solidFill>
                            <a:srgbClr val="33403A"/>
                          </a:solidFill>
                          <a:latin typeface="Segoe UI"/>
                        </a:rPr>
                        <a:t>Four digits scores far below two</a:t>
                      </a:r>
                    </a:p>
                  </a:txBody>
                  <a:tcPr/>
                </a:tc>
              </a:tr>
              <a:tr h="292608">
                <a:tc>
                  <a:txBody>
                    <a:bodyPr/>
                    <a:lstStyle/>
                    <a:p>
                      <a:r>
                        <a:rPr sz="1000" b="0">
                          <a:solidFill>
                            <a:srgbClr val="33403A"/>
                          </a:solidFill>
                          <a:latin typeface="Segoe UI"/>
                        </a:rPr>
                        <a:t>Extracting a figure from a document</a:t>
                      </a:r>
                    </a:p>
                  </a:txBody>
                  <a:tcPr/>
                </a:tc>
                <a:tc>
                  <a:txBody>
                    <a:bodyPr/>
                    <a:lstStyle/>
                    <a:p>
                      <a:r>
                        <a:rPr sz="1000" b="0">
                          <a:solidFill>
                            <a:srgbClr val="33403A"/>
                          </a:solidFill>
                          <a:latin typeface="Segoe UI"/>
                        </a:rPr>
                        <a:t>Exact match, then digits-only match</a:t>
                      </a:r>
                    </a:p>
                  </a:txBody>
                  <a:tcPr/>
                </a:tc>
                <a:tc>
                  <a:txBody>
                    <a:bodyPr/>
                    <a:lstStyle/>
                    <a:p>
                      <a:r>
                        <a:rPr sz="1000" b="0">
                          <a:solidFill>
                            <a:srgbClr val="33403A"/>
                          </a:solidFill>
                          <a:latin typeface="Segoe UI"/>
                        </a:rPr>
                        <a:t>Right number, wrong unit</a:t>
                      </a:r>
                    </a:p>
                  </a:txBody>
                  <a:tcPr/>
                </a:tc>
              </a:tr>
              <a:tr h="292608">
                <a:tc>
                  <a:txBody>
                    <a:bodyPr/>
                    <a:lstStyle/>
                    <a:p>
                      <a:r>
                        <a:rPr sz="1000" b="0">
                          <a:solidFill>
                            <a:srgbClr val="33403A"/>
                          </a:solidFill>
                          <a:latin typeface="Segoe UI"/>
                        </a:rPr>
                        <a:t>Answering from a corpus</a:t>
                      </a:r>
                    </a:p>
                  </a:txBody>
                  <a:tcPr/>
                </a:tc>
                <a:tc>
                  <a:txBody>
                    <a:bodyPr/>
                    <a:lstStyle/>
                    <a:p>
                      <a:r>
                        <a:rPr sz="1000" b="0">
                          <a:solidFill>
                            <a:srgbClr val="33403A"/>
                          </a:solidFill>
                          <a:latin typeface="Segoe UI"/>
                        </a:rPr>
                        <a:t>Correct answers  and  correct refusals</a:t>
                      </a:r>
                    </a:p>
                  </a:txBody>
                  <a:tcPr/>
                </a:tc>
                <a:tc>
                  <a:txBody>
                    <a:bodyPr/>
                    <a:lstStyle/>
                    <a:p>
                      <a:r>
                        <a:rPr sz="1000" b="0">
                          <a:solidFill>
                            <a:srgbClr val="33403A"/>
                          </a:solidFill>
                          <a:latin typeface="Segoe UI"/>
                        </a:rPr>
                        <a:t>Never refusing scores well</a:t>
                      </a:r>
                    </a:p>
                  </a:txBody>
                  <a:tcPr/>
                </a:tc>
              </a:tr>
              <a:tr h="292608">
                <a:tc>
                  <a:txBody>
                    <a:bodyPr/>
                    <a:lstStyle/>
                    <a:p>
                      <a:r>
                        <a:rPr sz="1000" b="0">
                          <a:solidFill>
                            <a:srgbClr val="33403A"/>
                          </a:solidFill>
                          <a:latin typeface="Segoe UI"/>
                        </a:rPr>
                        <a:t>Drafting text</a:t>
                      </a:r>
                    </a:p>
                  </a:txBody>
                  <a:tcPr/>
                </a:tc>
                <a:tc>
                  <a:txBody>
                    <a:bodyPr/>
                    <a:lstStyle/>
                    <a:p>
                      <a:r>
                        <a:rPr sz="1000" b="0">
                          <a:solidFill>
                            <a:srgbClr val="33403A"/>
                          </a:solidFill>
                          <a:latin typeface="Segoe UI"/>
                        </a:rPr>
                        <a:t>A human rubric, applied blind</a:t>
                      </a:r>
                    </a:p>
                  </a:txBody>
                  <a:tcPr/>
                </a:tc>
                <a:tc>
                  <a:txBody>
                    <a:bodyPr/>
                    <a:lstStyle/>
                    <a:p>
                      <a:r>
                        <a:rPr sz="1000" b="0">
                          <a:solidFill>
                            <a:srgbClr val="33403A"/>
                          </a:solidFill>
                          <a:latin typeface="Segoe UI"/>
                        </a:rPr>
                        <a:t>A model scoring its own output</a:t>
                      </a:r>
                    </a:p>
                  </a:txBody>
                  <a:tcPr/>
                </a:tc>
              </a:tr>
            </a:tbl>
          </a:graphicData>
        </a:graphic>
      </p:graphicFrame>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A WORD THAT MISLEADS</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Temperature 0 is not reproducibility</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33403A"/>
                </a:solidFill>
                <a:latin typeface="Segoe UI"/>
              </a:rPr>
              <a:t>It reduces variation. It does not promise the same output twice, and no
provider offers that promise.</a:t>
            </a:r>
          </a:p>
        </p:txBody>
      </p:sp>
      <p:sp>
        <p:nvSpPr>
          <p:cNvPr id="6" name="Rectangle 5"/>
          <p:cNvSpPr/>
          <p:nvPr/>
        </p:nvSpPr>
        <p:spPr>
          <a:xfrm>
            <a:off x="731520" y="22860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WHAT REPRODUCIBLE ACTUALLY REQUIRES — The model name  and its version , the exact prompt text, the
parameters, and the date. Record all four beside any figure you publish — and
expect the provider to retire that version while your series is still running.</a:t>
            </a:r>
          </a:p>
        </p:txBody>
      </p:sp>
      <p:sp>
        <p:nvSpPr>
          <p:cNvPr id="7" name="TextBox 6"/>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 3 OF 3</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Three ways this goes wrong</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Two are technical. The third is the one that ends a career.</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Three failure modes</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THE THIRD ONE IS NOT A TECHNICAL FAILURE — It is a breach of statistical secrecy, and it is irreversible. Once the text has
left, you cannot recall it and you cannot prove it was not retained.</a:t>
            </a:r>
          </a:p>
        </p:txBody>
      </p:sp>
      <p:graphicFrame>
        <p:nvGraphicFramePr>
          <p:cNvPr id="5" name="Table 4"/>
          <p:cNvGraphicFramePr>
            <a:graphicFrameLocks noGrp="1"/>
          </p:cNvGraphicFramePr>
          <p:nvPr/>
        </p:nvGraphicFramePr>
        <p:xfrm>
          <a:off x="731520" y="2468880"/>
          <a:ext cx="10728655" cy="1170432"/>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What happens</a:t>
                      </a:r>
                    </a:p>
                  </a:txBody>
                  <a:tcPr/>
                </a:tc>
                <a:tc>
                  <a:txBody>
                    <a:bodyPr/>
                    <a:lstStyle/>
                    <a:p>
                      <a:r>
                        <a:rPr sz="1000" b="1">
                          <a:solidFill>
                            <a:srgbClr val="FFFFFF"/>
                          </a:solidFill>
                          <a:latin typeface="Segoe UI"/>
                        </a:rPr>
                        <a:t>Why</a:t>
                      </a:r>
                    </a:p>
                  </a:txBody>
                  <a:tcPr/>
                </a:tc>
                <a:tc>
                  <a:txBody>
                    <a:bodyPr/>
                    <a:lstStyle/>
                    <a:p>
                      <a:r>
                        <a:rPr sz="1000" b="1">
                          <a:solidFill>
                            <a:srgbClr val="FFFFFF"/>
                          </a:solidFill>
                          <a:latin typeface="Segoe UI"/>
                        </a:rPr>
                        <a:t>What stops it</a:t>
                      </a:r>
                    </a:p>
                  </a:txBody>
                  <a:tcPr/>
                </a:tc>
              </a:tr>
              <a:tr h="292608">
                <a:tc>
                  <a:txBody>
                    <a:bodyPr/>
                    <a:lstStyle/>
                    <a:p>
                      <a:r>
                        <a:rPr sz="1000" b="0">
                          <a:solidFill>
                            <a:srgbClr val="33403A"/>
                          </a:solidFill>
                          <a:latin typeface="Segoe UI"/>
                        </a:rPr>
                        <a:t>The input rewrites your instructions</a:t>
                      </a:r>
                    </a:p>
                  </a:txBody>
                  <a:tcPr/>
                </a:tc>
                <a:tc>
                  <a:txBody>
                    <a:bodyPr/>
                    <a:lstStyle/>
                    <a:p>
                      <a:r>
                        <a:rPr sz="1000" b="0">
                          <a:solidFill>
                            <a:srgbClr val="33403A"/>
                          </a:solidFill>
                          <a:latin typeface="Segoe UI"/>
                        </a:rPr>
                        <a:t>Respondent text says “ignore the above…”, inside your prompt</a:t>
                      </a:r>
                    </a:p>
                  </a:txBody>
                  <a:tcPr/>
                </a:tc>
                <a:tc>
                  <a:txBody>
                    <a:bodyPr/>
                    <a:lstStyle/>
                    <a:p>
                      <a:r>
                        <a:rPr sz="1000" b="0">
                          <a:solidFill>
                            <a:srgbClr val="33403A"/>
                          </a:solidFill>
                          <a:latin typeface="Segoe UI"/>
                        </a:rPr>
                        <a:t>Delimit the input, and validate the output shape</a:t>
                      </a:r>
                    </a:p>
                  </a:txBody>
                  <a:tcPr/>
                </a:tc>
              </a:tr>
              <a:tr h="292608">
                <a:tc>
                  <a:txBody>
                    <a:bodyPr/>
                    <a:lstStyle/>
                    <a:p>
                      <a:r>
                        <a:rPr sz="1000" b="0">
                          <a:solidFill>
                            <a:srgbClr val="33403A"/>
                          </a:solidFill>
                          <a:latin typeface="Segoe UI"/>
                        </a:rPr>
                        <a:t>The output drifts silently</a:t>
                      </a:r>
                    </a:p>
                  </a:txBody>
                  <a:tcPr/>
                </a:tc>
                <a:tc>
                  <a:txBody>
                    <a:bodyPr/>
                    <a:lstStyle/>
                    <a:p>
                      <a:r>
                        <a:rPr sz="1000" b="0">
                          <a:solidFill>
                            <a:srgbClr val="33403A"/>
                          </a:solidFill>
                          <a:latin typeface="Segoe UI"/>
                        </a:rPr>
                        <a:t>The provider updated the model</a:t>
                      </a:r>
                    </a:p>
                  </a:txBody>
                  <a:tcPr/>
                </a:tc>
                <a:tc>
                  <a:txBody>
                    <a:bodyPr/>
                    <a:lstStyle/>
                    <a:p>
                      <a:r>
                        <a:rPr sz="1000" b="0">
                          <a:solidFill>
                            <a:srgbClr val="33403A"/>
                          </a:solidFill>
                          <a:latin typeface="Segoe UI"/>
                        </a:rPr>
                        <a:t>Rerun the evaluation set on a schedule</a:t>
                      </a:r>
                    </a:p>
                  </a:txBody>
                  <a:tcPr/>
                </a:tc>
              </a:tr>
              <a:tr h="292608">
                <a:tc>
                  <a:txBody>
                    <a:bodyPr/>
                    <a:lstStyle/>
                    <a:p>
                      <a:r>
                        <a:rPr sz="1000" b="0">
                          <a:solidFill>
                            <a:srgbClr val="33403A"/>
                          </a:solidFill>
                          <a:latin typeface="Segoe UI"/>
                        </a:rPr>
                        <a:t>Confidential text leaves the building</a:t>
                      </a:r>
                    </a:p>
                  </a:txBody>
                  <a:tcPr/>
                </a:tc>
                <a:tc>
                  <a:txBody>
                    <a:bodyPr/>
                    <a:lstStyle/>
                    <a:p>
                      <a:r>
                        <a:rPr sz="1000" b="0">
                          <a:solidFill>
                            <a:srgbClr val="33403A"/>
                          </a:solidFill>
                          <a:latin typeface="Segoe UI"/>
                        </a:rPr>
                        <a:t>A free-text field carried an identifier</a:t>
                      </a:r>
                    </a:p>
                  </a:txBody>
                  <a:tcPr/>
                </a:tc>
                <a:tc>
                  <a:txBody>
                    <a:bodyPr/>
                    <a:lstStyle/>
                    <a:p>
                      <a:r>
                        <a:rPr sz="1000" b="0">
                          <a:solidFill>
                            <a:srgbClr val="33403A"/>
                          </a:solidFill>
                          <a:latin typeface="Segoe UI"/>
                        </a:rPr>
                        <a:t>Classify the data before choosing where the model runs</a:t>
                      </a:r>
                    </a:p>
                  </a:txBody>
                  <a:tcPr/>
                </a:tc>
              </a:tr>
            </a:tbl>
          </a:graphicData>
        </a:graphic>
      </p:graphicFrame>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THE LINE, RESTATED FOR PROMPTS</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It gets a version number, it goes in the documentation, and the figure names the
version that produced it. If you cannot show the prompt, you cannot defend the
number.</a:t>
            </a:r>
          </a:p>
        </p:txBody>
      </p:sp>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TAKE THIS TO YOUR DESK</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What a documented prompt records</a:t>
            </a:r>
          </a:p>
        </p:txBody>
      </p:sp>
      <p:sp>
        <p:nvSpPr>
          <p:cNvPr id="5" name="TextBox 4"/>
          <p:cNvSpPr txBox="1"/>
          <p:nvPr/>
        </p:nvSpPr>
        <p:spPr>
          <a:xfrm>
            <a:off x="731520" y="1783080"/>
            <a:ext cx="10728655" cy="3977640"/>
          </a:xfrm>
          <a:prstGeom prst="rect">
            <a:avLst/>
          </a:prstGeom>
          <a:noFill/>
        </p:spPr>
        <p:txBody>
          <a:bodyPr wrap="square">
            <a:spAutoFit/>
          </a:bodyPr>
          <a:lstStyle/>
          <a:p>
            <a:pPr>
              <a:spcAft>
                <a:spcPts val="700"/>
              </a:spcAft>
            </a:pPr>
            <a:r>
              <a:rPr sz="1400">
                <a:solidFill>
                  <a:srgbClr val="33403A"/>
                </a:solidFill>
                <a:latin typeface="Segoe UI"/>
              </a:rPr>
              <a:t>•  The  exact text , whitespace included</a:t>
            </a:r>
          </a:p>
          <a:p>
            <a:pPr>
              <a:spcAft>
                <a:spcPts val="700"/>
              </a:spcAft>
            </a:pPr>
            <a:r>
              <a:rPr sz="1400">
                <a:solidFill>
                  <a:srgbClr val="33403A"/>
                </a:solidFill>
                <a:latin typeface="Segoe UI"/>
              </a:rPr>
              <a:t>•  Model name  and version , and the date</a:t>
            </a:r>
          </a:p>
          <a:p>
            <a:pPr>
              <a:spcAft>
                <a:spcPts val="700"/>
              </a:spcAft>
            </a:pPr>
            <a:r>
              <a:rPr sz="1400">
                <a:solidFill>
                  <a:srgbClr val="33403A"/>
                </a:solidFill>
                <a:latin typeface="Segoe UI"/>
              </a:rPr>
              <a:t>•  Parameters, and whether answers were  repeated and voted</a:t>
            </a:r>
          </a:p>
          <a:p>
            <a:pPr>
              <a:spcAft>
                <a:spcPts val="700"/>
              </a:spcAft>
            </a:pPr>
            <a:r>
              <a:rPr sz="1400">
                <a:solidFill>
                  <a:srgbClr val="33403A"/>
                </a:solidFill>
                <a:latin typeface="Segoe UI"/>
              </a:rPr>
              <a:t>•  The  evaluation set , its size and how it was drawn</a:t>
            </a:r>
          </a:p>
          <a:p>
            <a:pPr>
              <a:spcAft>
                <a:spcPts val="700"/>
              </a:spcAft>
            </a:pPr>
            <a:r>
              <a:rPr sz="1400">
                <a:solidFill>
                  <a:srgbClr val="33403A"/>
                </a:solidFill>
                <a:latin typeface="Segoe UI"/>
              </a:rPr>
              <a:t>•  The  score , and your own human agreement rate</a:t>
            </a:r>
          </a:p>
          <a:p>
            <a:pPr>
              <a:spcAft>
                <a:spcPts val="700"/>
              </a:spcAft>
            </a:pPr>
            <a:r>
              <a:rPr sz="1400">
                <a:solidFill>
                  <a:srgbClr val="33403A"/>
                </a:solidFill>
                <a:latin typeface="Segoe UI"/>
              </a:rPr>
              <a:t>•  What it is  not  suitable for</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NEXT</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10:30 — From statistical document to public dashboard</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Two hours. You will write the prompt, build the evaluation set, and measure the
difference your changes make.</a:t>
            </a:r>
          </a:p>
        </p:txBody>
      </p:sp>
      <p:sp>
        <p:nvSpPr>
          <p:cNvPr id="6" name="TextBox 5"/>
          <p:cNvSpPr txBox="1"/>
          <p:nvPr/>
        </p:nvSpPr>
        <p:spPr>
          <a:xfrm>
            <a:off x="731520" y="2286000"/>
            <a:ext cx="10728655" cy="548640"/>
          </a:xfrm>
          <a:prstGeom prst="rect">
            <a:avLst/>
          </a:prstGeom>
          <a:noFill/>
        </p:spPr>
        <p:txBody>
          <a:bodyPr wrap="square">
            <a:spAutoFit/>
          </a:bodyPr>
          <a:lstStyle/>
          <a:p>
            <a:pPr algn="l"/>
            <a:r>
              <a:rPr sz="1400" b="0">
                <a:solidFill>
                  <a:srgbClr val="DBE7E0"/>
                </a:solidFill>
                <a:latin typeface="Segoe UI"/>
              </a:rPr>
              <a:t>14:00 · From good to great — prompt optimisation 
14:45 · Choosing your engine — speed, cost and sovereignty 
15:45 · Laboratory — one model, many jobs  
Full reading list: workshop site → Resources → References</a:t>
            </a:r>
          </a:p>
        </p:txBody>
      </p:sp>
      <p:sp>
        <p:nvSpPr>
          <p:cNvPr id="7" name="TextBox 6"/>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African Development Bank · AU STATAFRIC · STG17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377440"/>
            <a:ext cx="9997135" cy="2286000"/>
          </a:xfrm>
          <a:prstGeom prst="rect">
            <a:avLst/>
          </a:prstGeom>
          <a:noFill/>
        </p:spPr>
        <p:txBody>
          <a:bodyPr wrap="square">
            <a:spAutoFit/>
          </a:bodyPr>
          <a:lstStyle/>
          <a:p>
            <a:pPr algn="ctr"/>
            <a:r>
              <a:rPr sz="1400" b="0">
                <a:solidFill>
                  <a:srgbClr val="DBE7E0"/>
                </a:solidFill>
                <a:latin typeface="Segoe UI"/>
              </a:rPr>
              <a:t>This PowerPoint file is generated from the reveal.js deck at
slides/decks/03-prompt-engineering.deck.html
Edits made here do not flow back. If your change should be permanent,
edit the deck source and run:  python tools/build_slides.py &amp;&amp; python tools/build_pptx.py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