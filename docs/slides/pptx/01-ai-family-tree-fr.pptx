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BANQUE AFRICAINE DE DÉVELOPPEMENT · UA STATAFRIC · STG17 · JOUR 1</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3400" b="1">
                <a:solidFill>
                  <a:srgbClr val="FFFFFF"/>
                </a:solidFill>
                <a:latin typeface="Segoe UI"/>
              </a:rPr>
              <a:t>L'arbre généalogique de l'IA</a:t>
            </a:r>
          </a:p>
        </p:txBody>
      </p:sp>
      <p:sp>
        <p:nvSpPr>
          <p:cNvPr id="5" name="TextBox 4"/>
          <p:cNvSpPr txBox="1"/>
          <p:nvPr/>
        </p:nvSpPr>
        <p:spPr>
          <a:xfrm>
            <a:off x="731520" y="1874520"/>
            <a:ext cx="10728655" cy="548640"/>
          </a:xfrm>
          <a:prstGeom prst="rect">
            <a:avLst/>
          </a:prstGeom>
          <a:noFill/>
        </p:spPr>
        <p:txBody>
          <a:bodyPr wrap="square">
            <a:spAutoFit/>
          </a:bodyPr>
          <a:lstStyle/>
          <a:p>
            <a:pPr algn="l"/>
            <a:r>
              <a:rPr sz="1700" b="0">
                <a:solidFill>
                  <a:srgbClr val="DBE7E0"/>
                </a:solidFill>
                <a:latin typeface="Segoe UI"/>
              </a:rPr>
              <a:t>Comment les concepts s'articulent — et lesquels ont leur place dans un office statistique</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Pourquoi une demi-heure sur du vocabulaire</a:t>
            </a:r>
          </a:p>
        </p:txBody>
      </p:sp>
      <p:sp>
        <p:nvSpPr>
          <p:cNvPr id="4" name="TextBox 3"/>
          <p:cNvSpPr txBox="1"/>
          <p:nvPr/>
        </p:nvSpPr>
        <p:spPr>
          <a:xfrm>
            <a:off x="731520" y="1371600"/>
            <a:ext cx="10728655" cy="548640"/>
          </a:xfrm>
          <a:prstGeom prst="rect">
            <a:avLst/>
          </a:prstGeom>
          <a:noFill/>
        </p:spPr>
        <p:txBody>
          <a:bodyPr wrap="square">
            <a:spAutoFit/>
          </a:bodyPr>
          <a:lstStyle/>
          <a:p>
            <a:pPr algn="l"/>
            <a:r>
              <a:rPr sz="1400" b="0">
                <a:solidFill>
                  <a:srgbClr val="33403A"/>
                </a:solidFill>
                <a:latin typeface="Segoe UI"/>
              </a:rPr>
              <a:t>Trois phrases, toutes réellement apparues dans des cahiers des charges
d'offices statistiques :</a:t>
            </a:r>
          </a:p>
        </p:txBody>
      </p:sp>
      <p:sp>
        <p:nvSpPr>
          <p:cNvPr id="5" name="TextBox 4"/>
          <p:cNvSpPr txBox="1"/>
          <p:nvPr/>
        </p:nvSpPr>
        <p:spPr>
          <a:xfrm>
            <a:off x="731520" y="1874520"/>
            <a:ext cx="10728655" cy="548640"/>
          </a:xfrm>
          <a:prstGeom prst="rect">
            <a:avLst/>
          </a:prstGeom>
          <a:noFill/>
        </p:spPr>
        <p:txBody>
          <a:bodyPr wrap="square">
            <a:spAutoFit/>
          </a:bodyPr>
          <a:lstStyle/>
          <a:p>
            <a:pPr algn="l"/>
            <a:r>
              <a:rPr sz="1400" b="0">
                <a:solidFill>
                  <a:srgbClr val="33403A"/>
                </a:solidFill>
                <a:latin typeface="Segoe UI"/>
              </a:rPr>
              <a:t>Chacune décrit un système  différent , au coût
différent, au risque différent, et avec une réponse différente à « qui répond de
la sortie ». La troisième, en particulier, décrit généralement quelque chose que
son auteur n'avait pas en tête et n'aurait pas financé.</a:t>
            </a:r>
          </a:p>
        </p:txBody>
      </p:sp>
      <p:sp>
        <p:nvSpPr>
          <p:cNvPr id="6" name="TextBox 5"/>
          <p:cNvSpPr txBox="1"/>
          <p:nvPr/>
        </p:nvSpPr>
        <p:spPr>
          <a:xfrm>
            <a:off x="731520" y="2377440"/>
            <a:ext cx="10728655" cy="457200"/>
          </a:xfrm>
          <a:prstGeom prst="rect">
            <a:avLst/>
          </a:prstGeom>
          <a:noFill/>
        </p:spPr>
        <p:txBody>
          <a:bodyPr wrap="square">
            <a:spAutoFit/>
          </a:bodyPr>
          <a:lstStyle/>
          <a:p>
            <a:pPr algn="l"/>
            <a:r>
              <a:rPr sz="1500" b="1">
                <a:solidFill>
                  <a:srgbClr val="1B7A43"/>
                </a:solidFill>
                <a:latin typeface="Segoe UI"/>
              </a:rPr>
              <a:t>8  Termes fixés aujourd'hui</a:t>
            </a:r>
          </a:p>
        </p:txBody>
      </p:sp>
      <p:sp>
        <p:nvSpPr>
          <p:cNvPr id="7" name="Rectangle 6"/>
          <p:cNvSpPr/>
          <p:nvPr/>
        </p:nvSpPr>
        <p:spPr>
          <a:xfrm>
            <a:off x="731520" y="292608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VUES SUR LE TERRAIN — « Il nous faut une IA pour répondre aux questions sur nos publications. »  
 « L'agent utilisera l'apprentissage automatique pour classer les réponses. »  
 « Nous allons affiner le modèle sur nos données pour qu'il connaisse nos statistiques. »</a:t>
            </a:r>
          </a:p>
        </p:txBody>
      </p:sp>
      <p:sp>
        <p:nvSpPr>
          <p:cNvPr id="8" name="Rectangle 7"/>
          <p:cNvSpPr/>
          <p:nvPr/>
        </p:nvSpPr>
        <p:spPr>
          <a:xfrm>
            <a:off x="731520" y="402336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L'OBJET DE CETTE DEMI-HEURE — Non pas faire de vous un ingénieur. Faire en sorte que lorsque votre office
rédige un cahier des charges, achète un service ou explique une décision à un
conseil, les mots du document signifient ce que le lecteur croit qu'ils signifient.</a:t>
            </a:r>
          </a:p>
        </p:txBody>
      </p:sp>
      <p:sp>
        <p:nvSpPr>
          <p:cNvPr id="9" name="TextBox 8"/>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PARTIE 1</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Le mécanisme unique en dessous</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Tout le reste de cette présentation repose sur une seule boucle.</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Ce que fait réellement un modèle de langage</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RELISEZ CETTE DERNIÈRE LIGNE — Un modèle de langage n'est pas une base de connaissances dotée d'une interface
conversationnelle. C'est un prédicteur de token suivant. Il produit la
 continuation la plus plausible , et plausibilité et vérité coïncident la
plupart du temps — ce qui rend précisément les divergences dangereuses.</a:t>
            </a:r>
          </a:p>
        </p:txBody>
      </p:sp>
      <p:sp>
        <p:nvSpPr>
          <p:cNvPr id="5" name="TextBox 4"/>
          <p:cNvSpPr txBox="1"/>
          <p:nvPr/>
        </p:nvSpPr>
        <p:spPr>
          <a:xfrm>
            <a:off x="731520" y="2468880"/>
            <a:ext cx="10728655" cy="640080"/>
          </a:xfrm>
          <a:prstGeom prst="rect">
            <a:avLst/>
          </a:prstGeom>
          <a:noFill/>
        </p:spPr>
        <p:txBody>
          <a:bodyPr wrap="square">
            <a:spAutoFit/>
          </a:bodyPr>
          <a:lstStyle/>
          <a:p>
            <a:pPr algn="l"/>
            <a:r>
              <a:rPr sz="1100" b="0">
                <a:solidFill>
                  <a:srgbClr val="6B7B75"/>
                </a:solidFill>
                <a:latin typeface="Segoe UI"/>
              </a:rPr>
              <a:t>FIGURE — capturez la diapositive 4 du deck HTML et collez-la ici.</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PARTIE 2</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Trois façons de le rendre utile</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Prompt, récupération, réentraînement — dans cet ordre, toujours.</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Les trois leviers, et sur quoi chacun agit</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 NOUS ALLONS AFFINER LE MODÈLE SUR NOS DONNÉES POUR QU'IL CONNAISSE NOS STATISTIQUES » — C'est la phrase de la diapositive 2, et elle désigne le mauvais levier. L'affinage
apprend à un modèle à  écrire comme  votre office ; il ne lui apprend pas
de façon fiable à  connaître  vos chiffres, et il ne vous donne aucun moyen
de citer une source. Le besoin derrière cette phrase est presque toujours le
 RAG  — moins cher, plus rapide, actualisable dès qu'un chiffre est
révisé, et produisant une réponse traçable jusqu'à un document.</a:t>
            </a:r>
          </a:p>
        </p:txBody>
      </p:sp>
      <p:sp>
        <p:nvSpPr>
          <p:cNvPr id="5" name="TextBox 4"/>
          <p:cNvSpPr txBox="1"/>
          <p:nvPr/>
        </p:nvSpPr>
        <p:spPr>
          <a:xfrm>
            <a:off x="731520" y="2468880"/>
            <a:ext cx="10728655" cy="640080"/>
          </a:xfrm>
          <a:prstGeom prst="rect">
            <a:avLst/>
          </a:prstGeom>
          <a:noFill/>
        </p:spPr>
        <p:txBody>
          <a:bodyPr wrap="square">
            <a:spAutoFit/>
          </a:bodyPr>
          <a:lstStyle/>
          <a:p>
            <a:pPr algn="l"/>
            <a:r>
              <a:rPr sz="1100" b="0">
                <a:solidFill>
                  <a:srgbClr val="6B7B75"/>
                </a:solidFill>
                <a:latin typeface="Segoe UI"/>
              </a:rPr>
              <a:t>FIGURE — capturez la diapositive 6 du deck HTML et collez-la ici.</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Le RAG, dans la forme que vous construirez cet après-midi</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POURQUOI UN OFFICE STATISTIQUE DOIT S'INTÉRESSER PRÉCISÉMENT À L'ÉTAPE 3 — Une réponse citant le paragraphe dont elle provient se vérifie en dix secondes
par un humain. Une réponse sans source doit être crue ou refaite. Une seule des
deux est compatible avec une publication sous marque officielle.</a:t>
            </a:r>
          </a:p>
        </p:txBody>
      </p:sp>
      <p:sp>
        <p:nvSpPr>
          <p:cNvPr id="5" name="TextBox 4"/>
          <p:cNvSpPr txBox="1"/>
          <p:nvPr/>
        </p:nvSpPr>
        <p:spPr>
          <a:xfrm>
            <a:off x="731520" y="2468880"/>
            <a:ext cx="10728655" cy="640080"/>
          </a:xfrm>
          <a:prstGeom prst="rect">
            <a:avLst/>
          </a:prstGeom>
          <a:noFill/>
        </p:spPr>
        <p:txBody>
          <a:bodyPr wrap="square">
            <a:spAutoFit/>
          </a:bodyPr>
          <a:lstStyle/>
          <a:p>
            <a:pPr algn="l"/>
            <a:r>
              <a:rPr sz="1100" b="0">
                <a:solidFill>
                  <a:srgbClr val="6B7B75"/>
                </a:solidFill>
                <a:latin typeface="Segoe UI"/>
              </a:rPr>
              <a:t>FIGURE — capturez la diapositive 7 du deck HTML et collez-la ici.</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PARTIE 3</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Les agents, et où se place la supervision</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Le pas de « répond à une question » à « accomplit une action ».</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Assistant → agent : un seul changement, et il n'est pas mince</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LE MOT « OUTIL » PORTE BEAUCOUP ICI — Un outil est toute fonction que vous autorisez le modèle à appeler : une requête
en base, une étape de récupération, une écriture de fichier, un courriel. Le
modèle n'exécute pas l'outil —  c'est votre code qui l'exécute , après que
le modèle l'a demandé. C'est dans cet interstice que vivent tous les points
d'approbation, journaux d'audit et contrôles de sûreté. Concevez-le avant d'en
avoir besoin.</a:t>
            </a:r>
          </a:p>
        </p:txBody>
      </p:sp>
      <p:graphicFrame>
        <p:nvGraphicFramePr>
          <p:cNvPr id="5" name="Table 4"/>
          <p:cNvGraphicFramePr>
            <a:graphicFrameLocks noGrp="1"/>
          </p:cNvGraphicFramePr>
          <p:nvPr/>
        </p:nvGraphicFramePr>
        <p:xfrm>
          <a:off x="731520" y="2468880"/>
          <a:ext cx="10728655" cy="1755648"/>
        </p:xfrm>
        <a:graphic>
          <a:graphicData uri="http://schemas.openxmlformats.org/drawingml/2006/table">
            <a:tbl>
              <a:tblPr firstRow="1" bandRow="1">
                <a:tableStyleId>{5C22544A-7EE6-4342-B048-85BDC9FD1C3A}</a:tableStyleId>
              </a:tblPr>
              <a:tblGrid>
                <a:gridCol w="3576218"/>
                <a:gridCol w="3576218"/>
                <a:gridCol w="3576219"/>
              </a:tblGrid>
              <a:tr h="292608">
                <a:tc>
                  <a:txBody>
                    <a:bodyPr/>
                    <a:lstStyle/>
                    <a:p/>
                  </a:txBody>
                  <a:tcPr/>
                </a:tc>
                <a:tc>
                  <a:txBody>
                    <a:bodyPr/>
                    <a:lstStyle/>
                    <a:p>
                      <a:r>
                        <a:rPr sz="1000" b="1">
                          <a:solidFill>
                            <a:srgbClr val="FFFFFF"/>
                          </a:solidFill>
                          <a:latin typeface="Segoe UI"/>
                        </a:rPr>
                        <a:t>Assistant (ce que vous construisez à 14h45)</a:t>
                      </a:r>
                    </a:p>
                  </a:txBody>
                  <a:tcPr/>
                </a:tc>
                <a:tc>
                  <a:txBody>
                    <a:bodyPr/>
                    <a:lstStyle/>
                    <a:p>
                      <a:r>
                        <a:rPr sz="1000" b="1">
                          <a:solidFill>
                            <a:srgbClr val="FFFFFF"/>
                          </a:solidFill>
                          <a:latin typeface="Segoe UI"/>
                        </a:rPr>
                        <a:t>Agent (ce que vous construisez à 15h45)</a:t>
                      </a:r>
                    </a:p>
                  </a:txBody>
                  <a:tcPr/>
                </a:tc>
              </a:tr>
              <a:tr h="292608">
                <a:tc>
                  <a:txBody>
                    <a:bodyPr/>
                    <a:lstStyle/>
                    <a:p>
                      <a:r>
                        <a:rPr sz="1000" b="0">
                          <a:solidFill>
                            <a:srgbClr val="33403A"/>
                          </a:solidFill>
                          <a:latin typeface="Segoe UI"/>
                        </a:rPr>
                        <a:t>Ce qu'il fait</a:t>
                      </a:r>
                    </a:p>
                  </a:txBody>
                  <a:tcPr/>
                </a:tc>
                <a:tc>
                  <a:txBody>
                    <a:bodyPr/>
                    <a:lstStyle/>
                    <a:p>
                      <a:r>
                        <a:rPr sz="1000" b="0">
                          <a:solidFill>
                            <a:srgbClr val="33403A"/>
                          </a:solidFill>
                          <a:latin typeface="Segoe UI"/>
                        </a:rPr>
                        <a:t>Lit, puis rédige une réponse</a:t>
                      </a:r>
                    </a:p>
                  </a:txBody>
                  <a:tcPr/>
                </a:tc>
                <a:tc>
                  <a:txBody>
                    <a:bodyPr/>
                    <a:lstStyle/>
                    <a:p>
                      <a:r>
                        <a:rPr sz="1000" b="0">
                          <a:solidFill>
                            <a:srgbClr val="33403A"/>
                          </a:solidFill>
                          <a:latin typeface="Segoe UI"/>
                        </a:rPr>
                        <a:t>Lit, puis  décide quel outil appeler , l'appelle, lit le résultat, recommence</a:t>
                      </a:r>
                    </a:p>
                  </a:txBody>
                  <a:tcPr/>
                </a:tc>
              </a:tr>
              <a:tr h="292608">
                <a:tc>
                  <a:txBody>
                    <a:bodyPr/>
                    <a:lstStyle/>
                    <a:p>
                      <a:r>
                        <a:rPr sz="1000" b="0">
                          <a:solidFill>
                            <a:srgbClr val="33403A"/>
                          </a:solidFill>
                          <a:latin typeface="Segoe UI"/>
                        </a:rPr>
                        <a:t>Qui choisit les étapes</a:t>
                      </a:r>
                    </a:p>
                  </a:txBody>
                  <a:tcPr/>
                </a:tc>
                <a:tc>
                  <a:txBody>
                    <a:bodyPr/>
                    <a:lstStyle/>
                    <a:p>
                      <a:r>
                        <a:rPr sz="1000" b="0">
                          <a:solidFill>
                            <a:srgbClr val="33403A"/>
                          </a:solidFill>
                          <a:latin typeface="Segoe UI"/>
                        </a:rPr>
                        <a:t>Vous, en écrivant la chaîne</a:t>
                      </a:r>
                    </a:p>
                  </a:txBody>
                  <a:tcPr/>
                </a:tc>
                <a:tc>
                  <a:txBody>
                    <a:bodyPr/>
                    <a:lstStyle/>
                    <a:p>
                      <a:r>
                        <a:rPr sz="1000" b="0">
                          <a:solidFill>
                            <a:srgbClr val="33403A"/>
                          </a:solidFill>
                          <a:latin typeface="Segoe UI"/>
                        </a:rPr>
                        <a:t>Le modèle, à l'exécution</a:t>
                      </a:r>
                    </a:p>
                  </a:txBody>
                  <a:tcPr/>
                </a:tc>
              </a:tr>
              <a:tr h="292608">
                <a:tc>
                  <a:txBody>
                    <a:bodyPr/>
                    <a:lstStyle/>
                    <a:p>
                      <a:r>
                        <a:rPr sz="1000" b="0">
                          <a:solidFill>
                            <a:srgbClr val="33403A"/>
                          </a:solidFill>
                          <a:latin typeface="Segoe UI"/>
                        </a:rPr>
                        <a:t>À quoi ressemble un échec</a:t>
                      </a:r>
                    </a:p>
                  </a:txBody>
                  <a:tcPr/>
                </a:tc>
                <a:tc>
                  <a:txBody>
                    <a:bodyPr/>
                    <a:lstStyle/>
                    <a:p>
                      <a:r>
                        <a:rPr sz="1000" b="0">
                          <a:solidFill>
                            <a:srgbClr val="33403A"/>
                          </a:solidFill>
                          <a:latin typeface="Segoe UI"/>
                        </a:rPr>
                        <a:t>Une phrase fausse</a:t>
                      </a:r>
                    </a:p>
                  </a:txBody>
                  <a:tcPr/>
                </a:tc>
                <a:tc>
                  <a:txBody>
                    <a:bodyPr/>
                    <a:lstStyle/>
                    <a:p>
                      <a:r>
                        <a:rPr sz="1000" b="0">
                          <a:solidFill>
                            <a:srgbClr val="33403A"/>
                          </a:solidFill>
                          <a:latin typeface="Segoe UI"/>
                        </a:rPr>
                        <a:t>Une phrase fausse, ou une  action  fausse, ou une boucle qui ne s'arrête pas</a:t>
                      </a:r>
                    </a:p>
                  </a:txBody>
                  <a:tcPr/>
                </a:tc>
              </a:tr>
              <a:tr h="292608">
                <a:tc>
                  <a:txBody>
                    <a:bodyPr/>
                    <a:lstStyle/>
                    <a:p>
                      <a:r>
                        <a:rPr sz="1000" b="0">
                          <a:solidFill>
                            <a:srgbClr val="33403A"/>
                          </a:solidFill>
                          <a:latin typeface="Segoe UI"/>
                        </a:rPr>
                        <a:t>Ce qu'il coûte</a:t>
                      </a:r>
                    </a:p>
                  </a:txBody>
                  <a:tcPr/>
                </a:tc>
                <a:tc>
                  <a:txBody>
                    <a:bodyPr/>
                    <a:lstStyle/>
                    <a:p>
                      <a:r>
                        <a:rPr sz="1000" b="0">
                          <a:solidFill>
                            <a:srgbClr val="33403A"/>
                          </a:solidFill>
                          <a:latin typeface="Segoe UI"/>
                        </a:rPr>
                        <a:t>Un appel au modèle</a:t>
                      </a:r>
                    </a:p>
                  </a:txBody>
                  <a:tcPr/>
                </a:tc>
                <a:tc>
                  <a:txBody>
                    <a:bodyPr/>
                    <a:lstStyle/>
                    <a:p>
                      <a:r>
                        <a:rPr sz="1000" b="0">
                          <a:solidFill>
                            <a:srgbClr val="33403A"/>
                          </a:solidFill>
                          <a:latin typeface="Segoe UI"/>
                        </a:rPr>
                        <a:t>Autant d'appels qu'il décide d'en faire</a:t>
                      </a:r>
                    </a:p>
                  </a:txBody>
                  <a:tcPr/>
                </a:tc>
              </a:tr>
              <a:tr h="292608">
                <a:tc>
                  <a:txBody>
                    <a:bodyPr/>
                    <a:lstStyle/>
                    <a:p>
                      <a:r>
                        <a:rPr sz="1000" b="0">
                          <a:solidFill>
                            <a:srgbClr val="33403A"/>
                          </a:solidFill>
                          <a:latin typeface="Segoe UI"/>
                        </a:rPr>
                        <a:t>Où se place l'humain</a:t>
                      </a:r>
                    </a:p>
                  </a:txBody>
                  <a:tcPr/>
                </a:tc>
                <a:tc>
                  <a:txBody>
                    <a:bodyPr/>
                    <a:lstStyle/>
                    <a:p>
                      <a:r>
                        <a:rPr sz="1000" b="0">
                          <a:solidFill>
                            <a:srgbClr val="33403A"/>
                          </a:solidFill>
                          <a:latin typeface="Segoe UI"/>
                        </a:rPr>
                        <a:t>Vérifier la sortie avant publication</a:t>
                      </a:r>
                    </a:p>
                  </a:txBody>
                  <a:tcPr/>
                </a:tc>
                <a:tc>
                  <a:txBody>
                    <a:bodyPr/>
                    <a:lstStyle/>
                    <a:p>
                      <a:r>
                        <a:rPr sz="1000" b="0">
                          <a:solidFill>
                            <a:srgbClr val="33403A"/>
                          </a:solidFill>
                          <a:latin typeface="Segoe UI"/>
                        </a:rPr>
                        <a:t>Vérifier la sortie  et  approuver les actions avant qu'elles n'aient lieu</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Où chaque concept se place dans la chaîne de valeur statistique</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IL EXISTE UN CADRE INTERNATIONAL POUR CELA — Le Groupe de haut niveau de la CEE-ONU pour la modernisation de la statistique
officielle (HLG-MOS) a publié  Machine Learning for Official Statistics ,
comprenant un  cadre de qualité  pour le choix des méthodes et des
orientations pour passer de l'expérimentation à la production. Votre office n'a
pas à inventer ses propres critères — et une proposition qui ignore un cadre
international existant se conteste plus facilement qu'une proposition qui s'y
confronte.</a:t>
            </a:r>
          </a:p>
        </p:txBody>
      </p:sp>
      <p:graphicFrame>
        <p:nvGraphicFramePr>
          <p:cNvPr id="5" name="Table 4"/>
          <p:cNvGraphicFramePr>
            <a:graphicFrameLocks noGrp="1"/>
          </p:cNvGraphicFramePr>
          <p:nvPr/>
        </p:nvGraphicFramePr>
        <p:xfrm>
          <a:off x="731520" y="2468880"/>
          <a:ext cx="10728655" cy="2048256"/>
        </p:xfrm>
        <a:graphic>
          <a:graphicData uri="http://schemas.openxmlformats.org/drawingml/2006/table">
            <a:tbl>
              <a:tblPr firstRow="1" bandRow="1">
                <a:tableStyleId>{5C22544A-7EE6-4342-B048-85BDC9FD1C3A}</a:tableStyleId>
              </a:tblPr>
              <a:tblGrid>
                <a:gridCol w="2682163"/>
                <a:gridCol w="2682163"/>
                <a:gridCol w="2682163"/>
                <a:gridCol w="2682166"/>
              </a:tblGrid>
              <a:tr h="292608">
                <a:tc>
                  <a:txBody>
                    <a:bodyPr/>
                    <a:lstStyle/>
                    <a:p>
                      <a:r>
                        <a:rPr sz="1000" b="1">
                          <a:solidFill>
                            <a:srgbClr val="FFFFFF"/>
                          </a:solidFill>
                          <a:latin typeface="Segoe UI"/>
                        </a:rPr>
                        <a:t>Étape</a:t>
                      </a:r>
                    </a:p>
                  </a:txBody>
                  <a:tcPr/>
                </a:tc>
                <a:tc>
                  <a:txBody>
                    <a:bodyPr/>
                    <a:lstStyle/>
                    <a:p>
                      <a:r>
                        <a:rPr sz="1000" b="1">
                          <a:solidFill>
                            <a:srgbClr val="FFFFFF"/>
                          </a:solidFill>
                          <a:latin typeface="Segoe UI"/>
                        </a:rPr>
                        <a:t>Usage plausible</a:t>
                      </a:r>
                    </a:p>
                  </a:txBody>
                  <a:tcPr/>
                </a:tc>
                <a:tc>
                  <a:txBody>
                    <a:bodyPr/>
                    <a:lstStyle/>
                    <a:p>
                      <a:r>
                        <a:rPr sz="1000" b="1">
                          <a:solidFill>
                            <a:srgbClr val="FFFFFF"/>
                          </a:solidFill>
                          <a:latin typeface="Segoe UI"/>
                        </a:rPr>
                        <a:t>Le bon levier</a:t>
                      </a:r>
                    </a:p>
                  </a:txBody>
                  <a:tcPr/>
                </a:tc>
                <a:tc>
                  <a:txBody>
                    <a:bodyPr/>
                    <a:lstStyle/>
                    <a:p>
                      <a:r>
                        <a:rPr sz="1000" b="1">
                          <a:solidFill>
                            <a:srgbClr val="FFFFFF"/>
                          </a:solidFill>
                          <a:latin typeface="Segoe UI"/>
                        </a:rPr>
                        <a:t>Contrôle non négociable</a:t>
                      </a:r>
                    </a:p>
                  </a:txBody>
                  <a:tcPr/>
                </a:tc>
              </a:tr>
              <a:tr h="292608">
                <a:tc>
                  <a:txBody>
                    <a:bodyPr/>
                    <a:lstStyle/>
                    <a:p>
                      <a:r>
                        <a:rPr sz="1000" b="0">
                          <a:solidFill>
                            <a:srgbClr val="33403A"/>
                          </a:solidFill>
                          <a:latin typeface="Segoe UI"/>
                        </a:rPr>
                        <a:t>Collecte</a:t>
                      </a:r>
                    </a:p>
                  </a:txBody>
                  <a:tcPr/>
                </a:tc>
                <a:tc>
                  <a:txBody>
                    <a:bodyPr/>
                    <a:lstStyle/>
                    <a:p>
                      <a:r>
                        <a:rPr sz="1000" b="0">
                          <a:solidFill>
                            <a:srgbClr val="33403A"/>
                          </a:solidFill>
                          <a:latin typeface="Segoe UI"/>
                        </a:rPr>
                        <a:t>Classer des réponses d'enquête en texte libre ; coder des professions</a:t>
                      </a:r>
                    </a:p>
                  </a:txBody>
                  <a:tcPr/>
                </a:tc>
                <a:tc>
                  <a:txBody>
                    <a:bodyPr/>
                    <a:lstStyle/>
                    <a:p>
                      <a:r>
                        <a:rPr sz="1000" b="0">
                          <a:solidFill>
                            <a:srgbClr val="33403A"/>
                          </a:solidFill>
                          <a:latin typeface="Segoe UI"/>
                        </a:rPr>
                        <a:t>Prompt, ou un petit classifieur entraîné</a:t>
                      </a:r>
                    </a:p>
                  </a:txBody>
                  <a:tcPr/>
                </a:tc>
                <a:tc>
                  <a:txBody>
                    <a:bodyPr/>
                    <a:lstStyle/>
                    <a:p>
                      <a:r>
                        <a:rPr sz="1000" b="0">
                          <a:solidFill>
                            <a:srgbClr val="33403A"/>
                          </a:solidFill>
                          <a:latin typeface="Segoe UI"/>
                        </a:rPr>
                        <a:t>Un jeu d'évaluation étiqueté — mesuré, non supposé</a:t>
                      </a:r>
                    </a:p>
                  </a:txBody>
                  <a:tcPr/>
                </a:tc>
              </a:tr>
              <a:tr h="292608">
                <a:tc>
                  <a:txBody>
                    <a:bodyPr/>
                    <a:lstStyle/>
                    <a:p>
                      <a:r>
                        <a:rPr sz="1000" b="0">
                          <a:solidFill>
                            <a:srgbClr val="33403A"/>
                          </a:solidFill>
                          <a:latin typeface="Segoe UI"/>
                        </a:rPr>
                        <a:t>Traitement</a:t>
                      </a:r>
                    </a:p>
                  </a:txBody>
                  <a:tcPr/>
                </a:tc>
                <a:tc>
                  <a:txBody>
                    <a:bodyPr/>
                    <a:lstStyle/>
                    <a:p>
                      <a:r>
                        <a:rPr sz="1000" b="0">
                          <a:solidFill>
                            <a:srgbClr val="33403A"/>
                          </a:solidFill>
                          <a:latin typeface="Segoe UI"/>
                        </a:rPr>
                        <a:t>Extraire les tableaux d'une publication PDF</a:t>
                      </a:r>
                    </a:p>
                  </a:txBody>
                  <a:tcPr/>
                </a:tc>
                <a:tc>
                  <a:txBody>
                    <a:bodyPr/>
                    <a:lstStyle/>
                    <a:p>
                      <a:r>
                        <a:rPr sz="1000" b="0">
                          <a:solidFill>
                            <a:srgbClr val="33403A"/>
                          </a:solidFill>
                          <a:latin typeface="Segoe UI"/>
                        </a:rPr>
                        <a:t>Prompt + sortie structurée</a:t>
                      </a:r>
                    </a:p>
                  </a:txBody>
                  <a:tcPr/>
                </a:tc>
                <a:tc>
                  <a:txBody>
                    <a:bodyPr/>
                    <a:lstStyle/>
                    <a:p>
                      <a:r>
                        <a:rPr sz="1000" b="0">
                          <a:solidFill>
                            <a:srgbClr val="33403A"/>
                          </a:solidFill>
                          <a:latin typeface="Segoe UI"/>
                        </a:rPr>
                        <a:t>Vérification contre la source. Jour 2 matin</a:t>
                      </a:r>
                    </a:p>
                  </a:txBody>
                  <a:tcPr/>
                </a:tc>
              </a:tr>
              <a:tr h="292608">
                <a:tc>
                  <a:txBody>
                    <a:bodyPr/>
                    <a:lstStyle/>
                    <a:p>
                      <a:r>
                        <a:rPr sz="1000" b="0">
                          <a:solidFill>
                            <a:srgbClr val="33403A"/>
                          </a:solidFill>
                          <a:latin typeface="Segoe UI"/>
                        </a:rPr>
                        <a:t>Analyse</a:t>
                      </a:r>
                    </a:p>
                  </a:txBody>
                  <a:tcPr/>
                </a:tc>
                <a:tc>
                  <a:txBody>
                    <a:bodyPr/>
                    <a:lstStyle/>
                    <a:p>
                      <a:r>
                        <a:rPr sz="1000" b="0">
                          <a:solidFill>
                            <a:srgbClr val="33403A"/>
                          </a:solidFill>
                          <a:latin typeface="Segoe UI"/>
                        </a:rPr>
                        <a:t>Écrire et déboguer le code d'analyse lui-même</a:t>
                      </a:r>
                    </a:p>
                  </a:txBody>
                  <a:tcPr/>
                </a:tc>
                <a:tc>
                  <a:txBody>
                    <a:bodyPr/>
                    <a:lstStyle/>
                    <a:p>
                      <a:r>
                        <a:rPr sz="1000" b="0">
                          <a:solidFill>
                            <a:srgbClr val="33403A"/>
                          </a:solidFill>
                          <a:latin typeface="Segoe UI"/>
                        </a:rPr>
                        <a:t>Prompt</a:t>
                      </a:r>
                    </a:p>
                  </a:txBody>
                  <a:tcPr/>
                </a:tc>
                <a:tc>
                  <a:txBody>
                    <a:bodyPr/>
                    <a:lstStyle/>
                    <a:p>
                      <a:r>
                        <a:rPr sz="1000" b="0">
                          <a:solidFill>
                            <a:srgbClr val="33403A"/>
                          </a:solidFill>
                          <a:latin typeface="Segoe UI"/>
                        </a:rPr>
                        <a:t>Le code est lu et exécuté par un statisticien</a:t>
                      </a:r>
                    </a:p>
                  </a:txBody>
                  <a:tcPr/>
                </a:tc>
              </a:tr>
              <a:tr h="292608">
                <a:tc>
                  <a:txBody>
                    <a:bodyPr/>
                    <a:lstStyle/>
                    <a:p>
                      <a:r>
                        <a:rPr sz="1000" b="0">
                          <a:solidFill>
                            <a:srgbClr val="33403A"/>
                          </a:solidFill>
                          <a:latin typeface="Segoe UI"/>
                        </a:rPr>
                        <a:t>Diffusion</a:t>
                      </a:r>
                    </a:p>
                  </a:txBody>
                  <a:tcPr/>
                </a:tc>
                <a:tc>
                  <a:txBody>
                    <a:bodyPr/>
                    <a:lstStyle/>
                    <a:p>
                      <a:r>
                        <a:rPr sz="1000" b="0">
                          <a:solidFill>
                            <a:srgbClr val="33403A"/>
                          </a:solidFill>
                          <a:latin typeface="Segoe UI"/>
                        </a:rPr>
                        <a:t>Répondre aux questions du public sur vos publications</a:t>
                      </a:r>
                    </a:p>
                  </a:txBody>
                  <a:tcPr/>
                </a:tc>
                <a:tc>
                  <a:txBody>
                    <a:bodyPr/>
                    <a:lstStyle/>
                    <a:p>
                      <a:r>
                        <a:rPr sz="1000" b="0">
                          <a:solidFill>
                            <a:srgbClr val="33403A"/>
                          </a:solidFill>
                          <a:latin typeface="Segoe UI"/>
                        </a:rPr>
                        <a:t>RAG</a:t>
                      </a:r>
                    </a:p>
                  </a:txBody>
                  <a:tcPr/>
                </a:tc>
                <a:tc>
                  <a:txBody>
                    <a:bodyPr/>
                    <a:lstStyle/>
                    <a:p>
                      <a:r>
                        <a:rPr sz="1000" b="0">
                          <a:solidFill>
                            <a:srgbClr val="33403A"/>
                          </a:solidFill>
                          <a:latin typeface="Segoe UI"/>
                        </a:rPr>
                        <a:t>Chaque réponse porte son passage source</a:t>
                      </a:r>
                    </a:p>
                  </a:txBody>
                  <a:tcPr/>
                </a:tc>
              </a:tr>
              <a:tr h="292608">
                <a:tc>
                  <a:txBody>
                    <a:bodyPr/>
                    <a:lstStyle/>
                    <a:p>
                      <a:r>
                        <a:rPr sz="1000" b="0">
                          <a:solidFill>
                            <a:srgbClr val="33403A"/>
                          </a:solidFill>
                          <a:latin typeface="Segoe UI"/>
                        </a:rPr>
                        <a:t>Documentation</a:t>
                      </a:r>
                    </a:p>
                  </a:txBody>
                  <a:tcPr/>
                </a:tc>
                <a:tc>
                  <a:txBody>
                    <a:bodyPr/>
                    <a:lstStyle/>
                    <a:p>
                      <a:r>
                        <a:rPr sz="1000" b="0">
                          <a:solidFill>
                            <a:srgbClr val="33403A"/>
                          </a:solidFill>
                          <a:latin typeface="Segoe UI"/>
                        </a:rPr>
                        <a:t>Rédiger notes méthodologiques et métadonnées</a:t>
                      </a:r>
                    </a:p>
                  </a:txBody>
                  <a:tcPr/>
                </a:tc>
                <a:tc>
                  <a:txBody>
                    <a:bodyPr/>
                    <a:lstStyle/>
                    <a:p>
                      <a:r>
                        <a:rPr sz="1000" b="0">
                          <a:solidFill>
                            <a:srgbClr val="33403A"/>
                          </a:solidFill>
                          <a:latin typeface="Segoe UI"/>
                        </a:rPr>
                        <a:t>Prompt, ou RAG sur les notes passées</a:t>
                      </a:r>
                    </a:p>
                  </a:txBody>
                  <a:tcPr/>
                </a:tc>
                <a:tc>
                  <a:txBody>
                    <a:bodyPr/>
                    <a:lstStyle/>
                    <a:p>
                      <a:r>
                        <a:rPr sz="1000" b="0">
                          <a:solidFill>
                            <a:srgbClr val="33403A"/>
                          </a:solidFill>
                          <a:latin typeface="Segoe UI"/>
                        </a:rPr>
                        <a:t>Validé par le responsable de la méthode</a:t>
                      </a:r>
                    </a:p>
                  </a:txBody>
                  <a:tcPr/>
                </a:tc>
              </a:tr>
              <a:tr h="292608">
                <a:tc>
                  <a:txBody>
                    <a:bodyPr/>
                    <a:lstStyle/>
                    <a:p>
                      <a:r>
                        <a:rPr sz="1000" b="0">
                          <a:solidFill>
                            <a:srgbClr val="33403A"/>
                          </a:solidFill>
                          <a:latin typeface="Segoe UI"/>
                        </a:rPr>
                        <a:t>Estimation</a:t>
                      </a:r>
                    </a:p>
                  </a:txBody>
                  <a:tcPr/>
                </a:tc>
                <a:tc>
                  <a:txBody>
                    <a:bodyPr/>
                    <a:lstStyle/>
                    <a:p>
                      <a:r>
                        <a:rPr sz="1000" b="0">
                          <a:solidFill>
                            <a:srgbClr val="33403A"/>
                          </a:solidFill>
                          <a:latin typeface="Segoe UI"/>
                        </a:rPr>
                        <a:t>Produire un chiffre officiel directement à partir d'un modèle.  Absent de</a:t>
                      </a:r>
                    </a:p>
                    <a:p>
                      <a:r>
                        <a:t>    cette liste, et de toute liste. Un modèle de langage produit le plausible, pas le mesuré.</a:t>
                      </a:r>
                    </a:p>
                    <a:p>
                      <a:r>
                        <a:t>    Utilisez-le autour de vos statistiques, jamais à leur place.</a:t>
                      </a:r>
                    </a:p>
                  </a:txBody>
                  <a:tcPr/>
                </a:tc>
                <a:tc>
                  <a:txBody>
                    <a:bodyPr/>
                    <a:lstStyle/>
                    <a:p/>
                  </a:txBody>
                  <a:tcPr/>
                </a:tc>
                <a:tc>
                  <a:txBody>
                    <a:bodyPr/>
                    <a:lstStyle/>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Huit mots, fixés pour la semaine</a:t>
            </a:r>
          </a:p>
        </p:txBody>
      </p:sp>
      <p:sp>
        <p:nvSpPr>
          <p:cNvPr id="4" name="Rectangle 3"/>
          <p:cNvSpPr/>
          <p:nvPr/>
        </p:nvSpPr>
        <p:spPr>
          <a:xfrm>
            <a:off x="731520" y="1371600"/>
            <a:ext cx="10728655" cy="960120"/>
          </a:xfrm>
          <a:prstGeom prst="rect">
            <a:avLst/>
          </a:prstGeom>
          <a:solidFill>
            <a:srgbClr val="F4F8F5"/>
          </a:solidFill>
          <a:ln>
            <a:solidFill>
              <a:srgbClr val="1B7A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a:solidFill>
                  <a:srgbClr val="33403A"/>
                </a:solidFill>
                <a:latin typeface="Segoe UI"/>
              </a:rPr>
              <a:t>LA DISCIPLINE QUE CELA VOUS ACHÈTE — Quand quelqu'un de votre office dira « l'agent utilisera le RAG pour affiner les
réponses », vous saurez désormais que cette phrase contient trois termes et ne
décrit aucun système cohérent — et vous pourrez poser la question qui débloque le
projet :  lequel des trois leviers est-ce, et par rapport à quoi le
mesurons-nous ?</a:t>
            </a:r>
          </a:p>
        </p:txBody>
      </p:sp>
      <p:graphicFrame>
        <p:nvGraphicFramePr>
          <p:cNvPr id="5" name="Table 4"/>
          <p:cNvGraphicFramePr>
            <a:graphicFrameLocks noGrp="1"/>
          </p:cNvGraphicFramePr>
          <p:nvPr/>
        </p:nvGraphicFramePr>
        <p:xfrm>
          <a:off x="731520" y="2468880"/>
          <a:ext cx="10728655" cy="1170432"/>
        </p:xfrm>
        <a:graphic>
          <a:graphicData uri="http://schemas.openxmlformats.org/drawingml/2006/table">
            <a:tbl>
              <a:tblPr firstRow="1" bandRow="1">
                <a:tableStyleId>{5C22544A-7EE6-4342-B048-85BDC9FD1C3A}</a:tableStyleId>
              </a:tblPr>
              <a:tblGrid>
                <a:gridCol w="5364327"/>
                <a:gridCol w="5364328"/>
              </a:tblGrid>
              <a:tr h="292608">
                <a:tc>
                  <a:txBody>
                    <a:bodyPr/>
                    <a:lstStyle/>
                    <a:p>
                      <a:r>
                        <a:rPr sz="1000" b="1">
                          <a:solidFill>
                            <a:srgbClr val="FFFFFF"/>
                          </a:solidFill>
                          <a:latin typeface="Segoe UI"/>
                        </a:rPr>
                        <a:t>LLM</a:t>
                      </a:r>
                    </a:p>
                  </a:txBody>
                  <a:tcPr/>
                </a:tc>
                <a:tc>
                  <a:txBody>
                    <a:bodyPr/>
                    <a:lstStyle/>
                    <a:p>
                      <a:r>
                        <a:rPr sz="1000" b="1">
                          <a:solidFill>
                            <a:srgbClr val="FFFFFF"/>
                          </a:solidFill>
                          <a:latin typeface="Segoe UI"/>
                        </a:rPr>
                        <a:t>Un prédicteur de token suivant entraîné sur un très grand corpus de texte. Pas une base de données.</a:t>
                      </a:r>
                    </a:p>
                  </a:txBody>
                  <a:tcPr/>
                </a:tc>
              </a:tr>
              <a:tr h="292608">
                <a:tc>
                  <a:txBody>
                    <a:bodyPr/>
                    <a:lstStyle/>
                    <a:p>
                      <a:r>
                        <a:rPr sz="1000" b="0">
                          <a:solidFill>
                            <a:srgbClr val="33403A"/>
                          </a:solidFill>
                          <a:latin typeface="Segoe UI"/>
                        </a:rPr>
                        <a:t>Token</a:t>
                      </a:r>
                    </a:p>
                  </a:txBody>
                  <a:tcPr/>
                </a:tc>
                <a:tc>
                  <a:txBody>
                    <a:bodyPr/>
                    <a:lstStyle/>
                    <a:p>
                      <a:r>
                        <a:rPr sz="1000" b="0">
                          <a:solidFill>
                            <a:srgbClr val="33403A"/>
                          </a:solidFill>
                          <a:latin typeface="Segoe UI"/>
                        </a:rPr>
                        <a:t>L'unité sous-lexicale que le modèle lit et écrit. Coûts et limites de contexte se comptent en tokens, pas en mots.</a:t>
                      </a:r>
                    </a:p>
                  </a:txBody>
                  <a:tcPr/>
                </a:tc>
              </a:tr>
              <a:tr h="292608">
                <a:tc>
                  <a:txBody>
                    <a:bodyPr/>
                    <a:lstStyle/>
                    <a:p>
                      <a:r>
                        <a:rPr sz="1000" b="0">
                          <a:solidFill>
                            <a:srgbClr val="33403A"/>
                          </a:solidFill>
                          <a:latin typeface="Segoe UI"/>
                        </a:rPr>
                        <a:t>Ingénierie de prompt</a:t>
                      </a:r>
                    </a:p>
                  </a:txBody>
                  <a:tcPr/>
                </a:tc>
                <a:tc>
                  <a:txBody>
                    <a:bodyPr/>
                    <a:lstStyle/>
                    <a:p>
                      <a:r>
                        <a:rPr sz="1000" b="0">
                          <a:solidFill>
                            <a:srgbClr val="33403A"/>
                          </a:solidFill>
                          <a:latin typeface="Segoe UI"/>
                        </a:rPr>
                        <a:t>Façonner l' entrée . Gratuit, immédiat, et le levier à épuiser en premier.</a:t>
                      </a:r>
                    </a:p>
                  </a:txBody>
                  <a:tcPr/>
                </a:tc>
              </a:tr>
              <a:tr h="292608">
                <a:tc>
                  <a:txBody>
                    <a:bodyPr/>
                    <a:lstStyle/>
                    <a:p>
                      <a:r>
                        <a:rPr sz="1000" b="0">
                          <a:solidFill>
                            <a:srgbClr val="33403A"/>
                          </a:solidFill>
                          <a:latin typeface="Segoe UI"/>
                        </a:rPr>
                        <a:t>RAG</a:t>
                      </a:r>
                    </a:p>
                  </a:txBody>
                  <a:tcPr/>
                </a:tc>
                <a:tc>
                  <a:txBody>
                    <a:bodyPr/>
                    <a:lstStyle/>
                    <a:p>
                      <a:r>
                        <a:rPr sz="1000" b="0">
                          <a:solidFill>
                            <a:srgbClr val="33403A"/>
                          </a:solidFill>
                          <a:latin typeface="Segoe UI"/>
                        </a:rPr>
                        <a:t>Façonner le  contexte  — récupérer vos documents pour que la réponse soit ancrée et citable.</a:t>
                      </a:r>
                    </a:p>
                  </a:txBody>
                  <a:tcPr/>
                </a:tc>
              </a:tr>
            </a:tbl>
          </a:graphicData>
        </a:graphic>
      </p:graphicFrame>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320040"/>
          </a:xfrm>
          <a:prstGeom prst="rect">
            <a:avLst/>
          </a:prstGeom>
          <a:noFill/>
        </p:spPr>
        <p:txBody>
          <a:bodyPr wrap="square">
            <a:spAutoFit/>
          </a:bodyPr>
          <a:lstStyle/>
          <a:p>
            <a:pPr algn="l"/>
            <a:r>
              <a:rPr sz="1100" b="1">
                <a:solidFill>
                  <a:srgbClr val="F2A900"/>
                </a:solidFill>
                <a:latin typeface="Segoe UI"/>
              </a:rPr>
              <a:t>ENSUITE</a:t>
            </a:r>
          </a:p>
        </p:txBody>
      </p:sp>
      <p:sp>
        <p:nvSpPr>
          <p:cNvPr id="4" name="TextBox 3"/>
          <p:cNvSpPr txBox="1"/>
          <p:nvPr/>
        </p:nvSpPr>
        <p:spPr>
          <a:xfrm>
            <a:off x="731520" y="914400"/>
            <a:ext cx="10728655" cy="914400"/>
          </a:xfrm>
          <a:prstGeom prst="rect">
            <a:avLst/>
          </a:prstGeom>
          <a:noFill/>
        </p:spPr>
        <p:txBody>
          <a:bodyPr wrap="square">
            <a:spAutoFit/>
          </a:bodyPr>
          <a:lstStyle/>
          <a:p>
            <a:pPr algn="l"/>
            <a:r>
              <a:rPr sz="2800" b="1">
                <a:solidFill>
                  <a:srgbClr val="FFFFFF"/>
                </a:solidFill>
                <a:latin typeface="Segoe UI"/>
              </a:rPr>
              <a:t>10h30 — Ce que vos pays ont réellement tenté</a:t>
            </a:r>
          </a:p>
        </p:txBody>
      </p:sp>
      <p:sp>
        <p:nvSpPr>
          <p:cNvPr id="5" name="TextBox 4"/>
          <p:cNvSpPr txBox="1"/>
          <p:nvPr/>
        </p:nvSpPr>
        <p:spPr>
          <a:xfrm>
            <a:off x="731520" y="1783080"/>
            <a:ext cx="10728655" cy="548640"/>
          </a:xfrm>
          <a:prstGeom prst="rect">
            <a:avLst/>
          </a:prstGeom>
          <a:noFill/>
        </p:spPr>
        <p:txBody>
          <a:bodyPr wrap="square">
            <a:spAutoFit/>
          </a:bodyPr>
          <a:lstStyle/>
          <a:p>
            <a:pPr algn="l"/>
            <a:r>
              <a:rPr sz="1400" b="0">
                <a:solidFill>
                  <a:srgbClr val="DBE7E0"/>
                </a:solidFill>
                <a:latin typeface="Segoe UI"/>
              </a:rPr>
              <a:t>Huit minutes chacun, six diapositives, et la moitié la
plus utile est ce qui n'a pas fonctionné.</a:t>
            </a:r>
          </a:p>
        </p:txBody>
      </p:sp>
      <p:sp>
        <p:nvSpPr>
          <p:cNvPr id="6" name="TextBox 5"/>
          <p:cNvSpPr txBox="1"/>
          <p:nvPr/>
        </p:nvSpPr>
        <p:spPr>
          <a:xfrm>
            <a:off x="731520" y="2286000"/>
            <a:ext cx="10728655" cy="548640"/>
          </a:xfrm>
          <a:prstGeom prst="rect">
            <a:avLst/>
          </a:prstGeom>
          <a:noFill/>
        </p:spPr>
        <p:txBody>
          <a:bodyPr wrap="square">
            <a:spAutoFit/>
          </a:bodyPr>
          <a:lstStyle/>
          <a:p>
            <a:pPr algn="l"/>
            <a:r>
              <a:rPr sz="1400" b="0">
                <a:solidFill>
                  <a:srgbClr val="DBE7E0"/>
                </a:solidFill>
                <a:latin typeface="Segoe UI"/>
              </a:rPr>
              <a:t>14h00 — Infrastructure de l'IA : ce qu'exige réellement son exploitation dans un office statistique 
14h45 — Laboratoire : construire l'assistant RAG de cette présentation 
15h45 — Laboratoire : le transformer en agent, et trouver où il doit rester supervisé</a:t>
            </a:r>
          </a:p>
        </p:txBody>
      </p:sp>
      <p:sp>
        <p:nvSpPr>
          <p:cNvPr id="7" name="TextBox 6"/>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0000"/>
          </a:xfrm>
          <a:prstGeom prst="rect">
            <a:avLst/>
          </a:prstGeom>
          <a:solidFill>
            <a:srgbClr val="F2A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28655" cy="914400"/>
          </a:xfrm>
          <a:prstGeom prst="rect">
            <a:avLst/>
          </a:prstGeom>
          <a:noFill/>
        </p:spPr>
        <p:txBody>
          <a:bodyPr wrap="square">
            <a:spAutoFit/>
          </a:bodyPr>
          <a:lstStyle/>
          <a:p>
            <a:pPr algn="l"/>
            <a:r>
              <a:rPr sz="2800" b="1">
                <a:solidFill>
                  <a:srgbClr val="0B2545"/>
                </a:solidFill>
                <a:latin typeface="Segoe UI"/>
              </a:rPr>
              <a:t>Références</a:t>
            </a:r>
          </a:p>
        </p:txBody>
      </p:sp>
      <p:sp>
        <p:nvSpPr>
          <p:cNvPr id="4" name="TextBox 3"/>
          <p:cNvSpPr txBox="1"/>
          <p:nvPr/>
        </p:nvSpPr>
        <p:spPr>
          <a:xfrm>
            <a:off x="731520" y="1371600"/>
            <a:ext cx="10728655" cy="548640"/>
          </a:xfrm>
          <a:prstGeom prst="rect">
            <a:avLst/>
          </a:prstGeom>
          <a:noFill/>
        </p:spPr>
        <p:txBody>
          <a:bodyPr wrap="square">
            <a:spAutoFit/>
          </a:bodyPr>
          <a:lstStyle/>
          <a:p>
            <a:pPr algn="l"/>
            <a:r>
              <a:rPr sz="1400" b="0">
                <a:solidFill>
                  <a:srgbClr val="33403A"/>
                </a:solidFill>
                <a:latin typeface="Segoe UI"/>
              </a:rPr>
              <a:t>La liste annotée complète, avec liens actifs, est sur le site de l'atelier, sous Ressources.</a:t>
            </a:r>
          </a:p>
        </p:txBody>
      </p:sp>
      <p:sp>
        <p:nvSpPr>
          <p:cNvPr id="5" name="TextBox 4"/>
          <p:cNvSpPr txBox="1"/>
          <p:nvPr/>
        </p:nvSpPr>
        <p:spPr>
          <a:xfrm>
            <a:off x="731520" y="1874520"/>
            <a:ext cx="10728655" cy="3886200"/>
          </a:xfrm>
          <a:prstGeom prst="rect">
            <a:avLst/>
          </a:prstGeom>
          <a:noFill/>
        </p:spPr>
        <p:txBody>
          <a:bodyPr wrap="square">
            <a:spAutoFit/>
          </a:bodyPr>
          <a:lstStyle/>
          <a:p>
            <a:pPr>
              <a:spcAft>
                <a:spcPts val="700"/>
              </a:spcAft>
            </a:pPr>
            <a:r>
              <a:rPr sz="1400">
                <a:solidFill>
                  <a:srgbClr val="33403A"/>
                </a:solidFill>
                <a:latin typeface="Segoe UI"/>
              </a:rPr>
              <a:t>•  Vaswani, A., Shazeer, N., Parmar, N., Uszkoreit, J., Jones, L., Gomez, A.N., et al. 
(2017). Attention Is All You Need.  Advances in Neural Information Processing
Systems  30.  L'architecture transformeur sur laquelle repose tout modèle de cette présentation.</a:t>
            </a:r>
          </a:p>
          <a:p>
            <a:pPr>
              <a:spcAft>
                <a:spcPts val="700"/>
              </a:spcAft>
            </a:pPr>
            <a:r>
              <a:rPr sz="1400">
                <a:solidFill>
                  <a:srgbClr val="33403A"/>
                </a:solidFill>
                <a:latin typeface="Segoe UI"/>
              </a:rPr>
              <a:t>•  Brown, T.B., et al.  (2020). Language Models are Few-Shot Learners.
 Advances in Neural Information Processing Systems  33. 
 Pourquoi donner quelques exemples au modèle dans le prompt fonctionne.</a:t>
            </a:r>
          </a:p>
          <a:p>
            <a:pPr>
              <a:spcAft>
                <a:spcPts val="700"/>
              </a:spcAft>
            </a:pPr>
            <a:r>
              <a:rPr sz="1400">
                <a:solidFill>
                  <a:srgbClr val="33403A"/>
                </a:solidFill>
                <a:latin typeface="Segoe UI"/>
              </a:rPr>
              <a:t>•  Lewis, P., Perez, E., Piktus, A., Petroni, F., Karpukhin, V., Goyal, N., et al. 
(2020). Retrieval-Augmented Generation for Knowledge-Intensive NLP Tasks.
 Advances in Neural Information Processing Systems  33. 
 L'article fondateur du RAG — le motif que vous construisez cet après-midi.</a:t>
            </a:r>
          </a:p>
          <a:p>
            <a:pPr>
              <a:spcAft>
                <a:spcPts val="700"/>
              </a:spcAft>
            </a:pPr>
            <a:r>
              <a:rPr sz="1400">
                <a:solidFill>
                  <a:srgbClr val="33403A"/>
                </a:solidFill>
                <a:latin typeface="Segoe UI"/>
              </a:rPr>
              <a:t>•  Hu, E.J., Shen, Y., Wallis, P., Allen-Zhu, Z., Li, Y., Wang, S., et al.  (2021).
LoRA: Low-Rank Adaptation of Large Language Models.  arXiv:2106.09685  ;
ICLR 2022.  Pourquoi l'affinage est désormais abordable — et reste le mauvais premier levier.</a:t>
            </a:r>
          </a:p>
          <a:p>
            <a:pPr>
              <a:spcAft>
                <a:spcPts val="700"/>
              </a:spcAft>
            </a:pPr>
            <a:r>
              <a:rPr sz="1400">
                <a:solidFill>
                  <a:srgbClr val="33403A"/>
                </a:solidFill>
                <a:latin typeface="Segoe UI"/>
              </a:rPr>
              <a:t>•  Wei, J., Wang, X., Schuurmans, D., Bosma, M., Ichter, B., Xia, F., et al.  (2022).
Chain-of-Thought Prompting Elicits Reasoning in Large Language Models.
 Advances in Neural Information Processing Systems  35. 
 Le résultat de prompting derrière une grande partie du Jour 2 matin.</a:t>
            </a:r>
          </a:p>
          <a:p>
            <a:pPr>
              <a:spcAft>
                <a:spcPts val="700"/>
              </a:spcAft>
            </a:pPr>
            <a:r>
              <a:rPr sz="1400">
                <a:solidFill>
                  <a:srgbClr val="33403A"/>
                </a:solidFill>
                <a:latin typeface="Segoe UI"/>
              </a:rPr>
              <a:t>•  Ji, Z., Lee, N., Frieske, R., Yu, T., Su, D., Xu, Y., et al.  (2023).
Survey of Hallucination in Natural Language Generation.  ACM Computing Surveys ,
55(12), 1-38.  L'hallucination comme propriété du mécanisme, non comme défaut à corriger.</a:t>
            </a:r>
          </a:p>
          <a:p>
            <a:pPr>
              <a:spcAft>
                <a:spcPts val="700"/>
              </a:spcAft>
            </a:pPr>
            <a:r>
              <a:rPr sz="1400">
                <a:solidFill>
                  <a:srgbClr val="33403A"/>
                </a:solidFill>
                <a:latin typeface="Segoe UI"/>
              </a:rPr>
              <a:t>•  Groupe de haut niveau de la CEE-ONU pour la modernisation de la statistique officielle. 
 Machine Learning for Official Statistics  — productions du projet apprentissage
automatique, dont des orientations sur l'usage éthique et un cadre de qualité.
 statswiki.unece.org  
 Le cadre méthodologique international. Citez-le plutôt que d'inventer vos propres critères.</a:t>
            </a:r>
          </a:p>
          <a:p>
            <a:pPr>
              <a:spcAft>
                <a:spcPts val="700"/>
              </a:spcAft>
            </a:pPr>
            <a:r>
              <a:rPr sz="1400">
                <a:solidFill>
                  <a:srgbClr val="33403A"/>
                </a:solidFill>
                <a:latin typeface="Segoe UI"/>
              </a:rPr>
              <a:t>•  Model Context Protocol.  Spécification ouverte pour connecter les modèles aux
outils et aux sources de données.  modelcontextprotocol.io  
 Écrire un outil une fois ; le réutiliser entre systèmes plutôt que par fournisseur.</a:t>
            </a:r>
          </a:p>
        </p:txBody>
      </p:sp>
      <p:sp>
        <p:nvSpPr>
          <p:cNvPr id="6" name="TextBox 5"/>
          <p:cNvSpPr txBox="1"/>
          <p:nvPr/>
        </p:nvSpPr>
        <p:spPr>
          <a:xfrm>
            <a:off x="731520" y="6400800"/>
            <a:ext cx="10728655" cy="274320"/>
          </a:xfrm>
          <a:prstGeom prst="rect">
            <a:avLst/>
          </a:prstGeom>
          <a:noFill/>
        </p:spPr>
        <p:txBody>
          <a:bodyPr wrap="square">
            <a:spAutoFit/>
          </a:bodyPr>
          <a:lstStyle/>
          <a:p>
            <a:pPr algn="l"/>
            <a:r>
              <a:rPr sz="900" b="0">
                <a:solidFill>
                  <a:srgbClr val="6B7B75"/>
                </a:solidFill>
                <a:latin typeface="Segoe UI"/>
              </a:rPr>
              <a:t>Banque africaine de développement · UA STATAFRIC · STG17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377440"/>
            <a:ext cx="9997135" cy="2286000"/>
          </a:xfrm>
          <a:prstGeom prst="rect">
            <a:avLst/>
          </a:prstGeom>
          <a:noFill/>
        </p:spPr>
        <p:txBody>
          <a:bodyPr wrap="square">
            <a:spAutoFit/>
          </a:bodyPr>
          <a:lstStyle/>
          <a:p>
            <a:pPr algn="ctr"/>
            <a:r>
              <a:rPr sz="1400" b="0">
                <a:solidFill>
                  <a:srgbClr val="DBE7E0"/>
                </a:solidFill>
                <a:latin typeface="Segoe UI"/>
              </a:rPr>
              <a:t>Ce fichier PowerPoint est généré à partir du deck reveal.js
slides/decks/01-ai-family-tree.deck.html
Les modifications faites ici ne remontent pas. Si votre changement doit être permanent,
modifiez la source et exécutez :  python tools/build_slides.py &amp;&amp; python tools/build_pptx.py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