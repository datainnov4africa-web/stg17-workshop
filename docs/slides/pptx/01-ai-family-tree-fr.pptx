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BANQUE AFRICAINE DE DÉVELOPPEMENT · UA STATAFRIC · STG17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L'arbre généalogique de l'IA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DBE7E0"/>
                </a:solidFill>
                <a:latin typeface="Segoe UI"/>
              </a:rPr>
              <a:t>Huit mots qui décideront de ce que votre office achète, construit et peut défendre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NOTRE POINT DE DÉPART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Trois phrases tirées de vrais cahiers des charges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Chacune décrit un système différent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7A43"/>
                </a:solidFill>
                <a:latin typeface="Segoe UI"/>
              </a:rPr>
              <a:t>≠  Coût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CE QUE CETTE DEMI-HEURE VOUS ACHÈTE — Pas une compétence d'ingénieur. La capacité de lire une proposition et de savoir
lequel de trois systèmes très différents elle décrit réellement.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PARTIE 1 SUR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Le mécanisme unique en dessous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Tout le reste aujourd'hui repose sur une seule boucle.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Ce que fait réellement un modèle de langage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75"/>
                </a:solidFill>
                <a:latin typeface="Segoe UI"/>
              </a:rPr>
              <a:t>FIGURE — capturez la diapositive 5 du deck HTML et collez-la ici.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LA CONSÉQUENCE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Plausible et vrai coïncident la plupart du temps. C'est précisément ce qui rend
les divergences dangereuses — et pourquoi chaque usage de cet atelier est
enveloppé d'une étape de vérification.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PARTIE 2 SUR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Trois façons de le rendre utile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Prompt, récupération, réentraînement — dans cet ordre, toujours.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Trois leviers, trois cibles différentes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75"/>
                </a:solidFill>
                <a:latin typeface="Segoe UI"/>
              </a:rPr>
              <a:t>FIGURE — capturez la diapositive 8 du deck HTML et collez-la ici.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RETOUR À LA TROISIÈME PHRASE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« L'affiner pour qu'il connaisse nos statistiques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La phrase la plus coûteuse de la salle.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728655" cy="960120"/>
          </a:xfrm>
          <a:prstGeom prst="rect">
            <a:avLst/>
          </a:prstGeom>
          <a:solidFill>
            <a:srgbClr val="F4F8F5"/>
          </a:solidFill>
          <a:ln>
            <a:solidFill>
              <a:srgbClr val="1B7A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33403A"/>
                </a:solidFill>
                <a:latin typeface="Segoe UI"/>
              </a:rPr>
              <a:t>CETTE PHRASE DÉSIGNE LE MAUVAIS LEVIER — L'affinage apprend à un modèle à  écrire comme  votre office. Il ne lui
apprend pas à  connaître  vos chiffres, et ne permet pas de citer une
source.  
Le besoin réel est presque toujours le  RAG  : moins cher,
actualisé dès qu'un chiffre est révisé, traçable jusqu'à un document.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Le RAG — ce que vous construisez à 14h45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B75"/>
                </a:solidFill>
                <a:latin typeface="Segoe UI"/>
              </a:rPr>
              <a:t>FIGURE — capturez la diapositive 10 du deck HTML et collez-la ici.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PARTIE 3 SUR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Les agents, et où se place l'humain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De répondre à une question à accomplir une action.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Assistant contre agent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292608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Assistant · 14h45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Agent · 15h45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Fait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Lit, rédige une réponse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Lit, choisit un outil, l'appelle, recommence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Choisit les étapes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Vous, dans la chaîne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Le modèle, à l'exécution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L'échec 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Une phrase fausse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Une phrase fausse — ou une action fausse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L'humain vérifie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La sortie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La sortie  et  chaque action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L'INTERSTICE QUI COMPTE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Tous les points d'approbation, journaux d'audit et contrôles de sûreté vivent
dans cet interstice. Concevez-le avant d'en avoir besoin — il ne s'ajoute pas
après coup.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Où chaque levier se place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29260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Étape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Levier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Contrôle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Collecte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Coder des réponses libres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Un jeu d'évaluation étiqueté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Traitement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Extraire des tableaux d'un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Vérification contre la source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Diffusion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Répondre aux questions du 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Chaque réponse cite sa source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Rédiger des notes méthodologiques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03A"/>
                          </a:solidFill>
                          <a:latin typeface="Segoe UI"/>
                        </a:rPr>
                        <a:t>Validé par le responsable méthode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B7A43"/>
                </a:solidFill>
                <a:latin typeface="Segoe UI"/>
              </a:rPr>
              <a:t>LA LIMITE QUE NOUS NE FRANCHISSONS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403A"/>
                </a:solidFill>
                <a:latin typeface="Segoe UI"/>
              </a:rPr>
              <a:t>Un modèle de langage produit le plausible, pas le mesuré. Utilisez-le
 autour  de vos statistiques — jamais à leur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0000"/>
          </a:xfrm>
          <a:prstGeom prst="rect">
            <a:avLst/>
          </a:prstGeom>
          <a:solidFill>
            <a:srgbClr val="F2A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545"/>
                </a:solidFill>
                <a:latin typeface="Segoe UI"/>
              </a:rPr>
              <a:t>Les huit mots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A900"/>
                </a:solidFill>
                <a:latin typeface="Segoe UI"/>
              </a:rPr>
              <a:t>ENSUITE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10h30 — Ce que vos pays ont réellement tenté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Huit minutes chacun. Six diapositives. La moitié la plus utile est ce qui n'a pas marché.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BE7E0"/>
                </a:solidFill>
                <a:latin typeface="Segoe UI"/>
              </a:rPr>
              <a:t>14h00 · Infrastructure de l'IA — ce qu'elle exige réellement 
14h45 · Laboratoire — construire l'assistant RAG 
15h45 · Laboratoire — le transformer en agent  
Bibliographie complète : site de l'atelier → Ressources → Références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B75"/>
                </a:solidFill>
                <a:latin typeface="Segoe UI"/>
              </a:rPr>
              <a:t>Banque africaine de développement · UA STATAFRIC · STG17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377440"/>
            <a:ext cx="99971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BE7E0"/>
                </a:solidFill>
                <a:latin typeface="Segoe UI"/>
              </a:rPr>
              <a:t>Ce fichier PowerPoint est généré à partir du deck reveal.js
slides/decks/01-ai-family-tree.deck.html
Les modifications faites ici ne remontent pas. Si votre changement doit être permanent,
modifiez la source et exécutez :  python tools/build_slides.py &amp;&amp; python tools/build_pptx.py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