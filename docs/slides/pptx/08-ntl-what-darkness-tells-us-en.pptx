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AFRICAN DEVELOPMENT BANK · AU STATAFRIC · STG17 · 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Night-Time 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BE7E0"/>
                </a:solidFill>
                <a:latin typeface="Segoe UI"/>
              </a:rPr>
              <a:t>What the darkness tells us — and what it does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The gap this day is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Night-time lights do not fill that gap. But they are the only free, continental,
district-level signal that updates every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3"/>
                </a:solidFill>
                <a:latin typeface="Segoe UI"/>
              </a:rPr>
              <a:t>2012→  Continuous VIIRS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THE PROPOSITION, 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A spatially detailed signal that  correlates  with activity and
infrastructure — whose relationship to your own official figures you can measure,
and only then decide whether to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WHAT YOU ARE ACTUALLY DECIDING TODAY — Not whether night-time lights are good. Whether they are good enough,
 in your country, for one named question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What the literature establishes —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…and it fails quietly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Where the data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Two instruments, thirty years, and one discontinuity you must not ignore.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Thirty years, two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THE DISCONTINUITY — DMSP-OLS reports an uncalibrated 6-bit digital number; VIIRS reports calibrated
radiance.  Never splice the two without an explicit harmonisation step  —
and if you do harmonise, say which method you used, because they disagree.
Most published African NTL work starts in 2012 for exactly this reason, and so does this workshop.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7 of the HTML deck and paste it here.  (The two records are different instruments with different units. They are not one series.)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Which product, for which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TWO DEFENSIBLE PIPELINES, TWO DIFFERENT NUMBERS — VNP46A4 and the annual VNL composite and mask differently. A gap of a few percent
is expected.  A Sum of Lights figure without a named product and version
is not a reproducible statistic.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Use it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Not for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VNP46A2  Black Marble, 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Crisis, conflict, outages, a specific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Any trend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VNP46A3  Black Marble,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Seasonality, harmattan and monsoon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Comparing unlike months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VNP46A4  Black Marble, 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statistical default.  Year-on-year subnational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Anything within a year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EOG annual VNL  via Earth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same job, nothing downloaded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Assuming it equals VNP46A4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Four routes to the data, all free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Take it when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NASA LAADS DAAC   ladsweb.modaps.eosdis.nasa.gov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Earthdata account +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You want the reference product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Earth Observation Group   eogdata.mines.edu/products/vnl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Free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You want the annual series, or a flare mask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Google Earth Engine   NOAA/VIIRS/DNB/ANNUAL_V22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Free account + Cloud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Bandwidth is your constraint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World Bank “Light Every Night”  AWS Registry of Open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Nothing at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You need DMSP years, or no authentication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From radiance to an indicator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The five steps you will run this morning and this afternoon.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The pipeline,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11 of the HTML deck and paste it here.  (Step 5 is not a formality. It is the step that decides whether your country can disseminate this.)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Three numbers, three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COMPUTE ALL THREE, ALWAYS — They can move in opposite directions in the same country, in the same year — and
that divergence is the finding.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A NUMBER YOU MUST PUBLISH ALONGSIDE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At 0.1 nW·cm⁻²·sr⁻¹ a country may be 40 % lit. At 5.0, six per cent.
Same country, same year, same satellite.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THE RULE — Publish the threshold next to the number. Every time, without exception.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six artefacts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Named here. Met hands-on at 10:30, in your own country's raster.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the sensor sees that you did not ask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PLUS TWO YOU WILL NOT SEE TODAY — Seasonality  — cloud, aerosols, moonlight and harmattan dust move
monthly series; annual composites hide it.  Sensor discontinuity  —
the DMSP/VIIRS join, discussed earlier.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15 of the HTML deck and paste it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Three ways a night-time lights study goes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ALL THREE PRODUCE A PLAUSIBLE, WELL-FORMATTED NUMBER — None of them is visible in the output 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728655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The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What really happened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The check that catches it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“Regional GDP grew 40 % in a year”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missing satellite tile the year before — two thirds of the 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Completeness audit  lab 1, step 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“Our most economically active region”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A gas flare. Population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Rank the brightest pixels against a settlement map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“Electrification stalled in the capital”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The capital saturated the sensor in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Cross-section the brightest cluster — look for a flat top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What NTL proxies well —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GDP in levels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Household connection rates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Daytime informal activity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Anything at village scale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Cross-country levels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Electrification progress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Urbanisation and settlement growth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Crisis and conflict impact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Spatial inequality of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What you will have by 17:00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3"/>
                </a:solidFill>
                <a:latin typeface="Segoe UI"/>
              </a:rPr>
              <a:t>1  Clipped national raster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ONE VARIABLE DRIVES ALL OF IT — COUNTRY_ISO3 = "CIV"  
Boundaries, satellite tiles, projection, map extent and every figure title follow
from it — for all 55 African Union member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Is my proxy publishable? A decision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THE HONEST SENTENCE YOU ARE AIMING FOR — "Night-time radiance at ADM2, VNP46A4 collection 002, lit threshold 0.5 nW·cm⁻²·sr⁻¹,
correlates with our official electrification rate at r = 0.NN across NN districts
in 20NN. Suitable for tracking relative change between districts; not suitable for
estimating connection rates in absolute terms."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screenshot slide 19 of the HTML deck and paste it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NOW TO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09:30 — Laboratory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Collect the granules for your own country, audit their
completeness, load your boundaries, and clip.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Guided track or open track — your choice,
and you may switch. The deliverable is the same either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No Earthdata token, no network, or a download that will not finish? 
Take the Earth Engine variant — it downloads nothing at all. 
Or set  COUNTRY_ISO3 = "CIV" , the reference country, and carry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Every claim in this deck traces to one of these. DOIs resolve at
 doi.org/&lt;doi&gt;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Román, M.O., et al.  (2018). NASA's Black Marble nighttime lights product
suite.  Remote Sensing of Environment , 210, 113–143.
 10.1016/j.rse.2018.03.017  
 The VNP46 product suite — read this before using VNP46A2/A3/A4.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Elvidge, C.D., Zhizhin, M., Ghosh, T., Hsu, F.-C., Taneja, J.  (2021).
Annual Time Series of Global VIIRS Nighttime Lights Derived from Monthly Averages:
2012 to 2019.  Remote Sensing , 13(5), 922.
 10.3390/rs13050922  
 The EOG annual VNL v2 series — the product behind the Earth Engine variant.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Levin, N., et al.  (2020). Remote sensing of night lights: A review and an
outlook for the future.  Remote Sensing of Environment , 237, 111443.
 10.1016/j.rse.2019.111443  
 The single best starting point if you read only one paper.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Henderson, J.V., Storeygard, A., Weil, D.N.  (2012). Measuring Economic
Growth from Outer Space.  American Economic Review , 102(2), 994–1028.
 10.1257/aer.102.2.994  
 The foundational case for lights as a complement to weak national accounts.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Gibson, J., Olivia, S., Boe-Gibson, G.  (2020). Night Lights in Economics:
Sources and Uses.  Journal of Economic Surveys , 34(5), 955–980. 
 A critical review. Read it alongside Henderson et al., not instead of it.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Gibson, J., Olivia, S., Boe-Gibson, G., Li, C.  (2021). Which night lights
data should we use in economics, and where?  Journal of Development Economics ,
149, 102602.  10.1016/j.jdeveco.2020.102602  
 Why naming your product and version is not pedantry.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Bluhm, R., Krause, M.  (2022). Top lights: Bright cities and their
contribution to economic development.  Journal of Development Economics , 157,
102880.  10.1016/j.jdeveco.2022.102880  
 Saturation correction reverses the Sub-Saharan primary/secondary city finding.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Min, B., Gaba, K.M., Sarr, O.F., Agalassou, A.  (2013). Detection of rural
electrification in Africa using DMSP-OLS night lights imagery.  International
Journal of Remote Sensing , 34(22), 8118–8141.
 10.1080/01431161.2013.833358  
 Senegal and Mali, validated against ground records. The African reference.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33403A"/>
                </a:solidFill>
                <a:latin typeface="Segoe UI"/>
              </a:rPr>
              <a:t>•  Elvidge, C.D., Zhizhin, M., Baugh, K., Hsu, F.-C., Ghosh, T.  (2016).
Methods for Global Survey of Natural Gas Flaring from Visible Infrared Imaging
Radiometer Suite Data.  Energies , 9(1), 14.
 10.3390/en9010014  
 How flares are detected — and therefore how to mask them out of your totals.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African Development Bank · AU STATAFRIC · STG17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BE7E0"/>
                </a:solidFill>
                <a:latin typeface="Segoe UI"/>
              </a:rPr>
              <a:t>This PowerPoint file is generated from the reveal.js deck at
slides/decks/08-ntl-what-darkness-tells-us.deck.html
Edits made here do not flow back. If your change should be permanent,
edit the deck source and run:  python tools/build_slides.py &amp;&amp; python tools/build_pptx.py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