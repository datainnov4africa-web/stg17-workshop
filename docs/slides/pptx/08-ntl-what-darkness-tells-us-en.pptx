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AFRICAN DEVELOPMENT BANK · AU STATAFRIC · STG17 · DAY 4</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3400" b="1">
                <a:solidFill>
                  <a:srgbClr val="FFFFFF"/>
                </a:solidFill>
                <a:latin typeface="Segoe UI"/>
              </a:rPr>
              <a:t>Night-Time Lights</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700" b="0">
                <a:solidFill>
                  <a:srgbClr val="DBE7E0"/>
                </a:solidFill>
                <a:latin typeface="Segoe UI"/>
              </a:rPr>
              <a:t>What the darkness tells us — and what it does not</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Why a statistical office should care</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Between two censuses, most African statistical offices have no  subnational ,
 annual ,  comparable  measure of economic activity.</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400" b="0">
                <a:solidFill>
                  <a:srgbClr val="33403A"/>
                </a:solidFill>
                <a:latin typeface="Segoe UI"/>
              </a:rPr>
              <a:t>Night-time lights are none of these things by nature. But they are:</a:t>
            </a:r>
          </a:p>
        </p:txBody>
      </p:sp>
      <p:sp>
        <p:nvSpPr>
          <p:cNvPr id="6" name="TextBox 5"/>
          <p:cNvSpPr txBox="1"/>
          <p:nvPr/>
        </p:nvSpPr>
        <p:spPr>
          <a:xfrm>
            <a:off x="731520" y="2377440"/>
            <a:ext cx="10728655" cy="457200"/>
          </a:xfrm>
          <a:prstGeom prst="rect">
            <a:avLst/>
          </a:prstGeom>
          <a:noFill/>
        </p:spPr>
        <p:txBody>
          <a:bodyPr wrap="square">
            <a:spAutoFit/>
          </a:bodyPr>
          <a:lstStyle/>
          <a:p>
            <a:pPr algn="l"/>
            <a:r>
              <a:rPr sz="1500" b="1">
                <a:solidFill>
                  <a:srgbClr val="1B7A43"/>
                </a:solidFill>
                <a:latin typeface="Segoe UI"/>
              </a:rPr>
              <a:t>2012→  VIIRS continuous record</a:t>
            </a:r>
          </a:p>
        </p:txBody>
      </p:sp>
      <p:sp>
        <p:nvSpPr>
          <p:cNvPr id="7" name="TextBox 6"/>
          <p:cNvSpPr txBox="1"/>
          <p:nvPr/>
        </p:nvSpPr>
        <p:spPr>
          <a:xfrm>
            <a:off x="731520" y="2926080"/>
            <a:ext cx="10728655" cy="2834640"/>
          </a:xfrm>
          <a:prstGeom prst="rect">
            <a:avLst/>
          </a:prstGeom>
          <a:noFill/>
        </p:spPr>
        <p:txBody>
          <a:bodyPr wrap="square">
            <a:spAutoFit/>
          </a:bodyPr>
          <a:lstStyle/>
          <a:p>
            <a:pPr>
              <a:spcAft>
                <a:spcPts val="700"/>
              </a:spcAft>
            </a:pPr>
            <a:r>
              <a:rPr sz="1400">
                <a:solidFill>
                  <a:srgbClr val="33403A"/>
                </a:solidFill>
                <a:latin typeface="Segoe UI"/>
              </a:rPr>
              <a:t>•  Available  — every night, since 2012, free</a:t>
            </a:r>
          </a:p>
          <a:p>
            <a:pPr>
              <a:spcAft>
                <a:spcPts val="700"/>
              </a:spcAft>
            </a:pPr>
            <a:r>
              <a:rPr sz="1400">
                <a:solidFill>
                  <a:srgbClr val="33403A"/>
                </a:solidFill>
                <a:latin typeface="Segoe UI"/>
              </a:rPr>
              <a:t>•  Consistent  — the same sensor over the whole continent</a:t>
            </a:r>
          </a:p>
          <a:p>
            <a:pPr>
              <a:spcAft>
                <a:spcPts val="700"/>
              </a:spcAft>
            </a:pPr>
            <a:r>
              <a:rPr sz="1400">
                <a:solidFill>
                  <a:srgbClr val="33403A"/>
                </a:solidFill>
                <a:latin typeface="Segoe UI"/>
              </a:rPr>
              <a:t>•  Fine-grained  — about 500 m, so district-level is possible</a:t>
            </a:r>
          </a:p>
          <a:p>
            <a:pPr>
              <a:spcAft>
                <a:spcPts val="700"/>
              </a:spcAft>
            </a:pPr>
            <a:r>
              <a:rPr sz="1400">
                <a:solidFill>
                  <a:srgbClr val="33403A"/>
                </a:solidFill>
                <a:latin typeface="Segoe UI"/>
              </a:rPr>
              <a:t>•  Independent  — not derived from the statistics you are trying to check</a:t>
            </a:r>
          </a:p>
        </p:txBody>
      </p:sp>
      <p:sp>
        <p:nvSpPr>
          <p:cNvPr id="8" name="Rectangle 7"/>
          <p:cNvSpPr/>
          <p:nvPr/>
        </p:nvSpPr>
        <p:spPr>
          <a:xfrm>
            <a:off x="731520" y="438912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THE PROPOSITION — Not "light equals GDP". Rather: a spatially detailed, frequently updated signal
that  correlates  with activity and infrastructure, whose relationship to
your own official figures you can measure — and then decide whether to use.</a:t>
            </a:r>
          </a:p>
        </p:txBody>
      </p:sp>
      <p:sp>
        <p:nvSpPr>
          <p:cNvPr id="9" name="TextBox 8"/>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What the literature actually establishes</a:t>
            </a:r>
          </a:p>
        </p:txBody>
      </p:sp>
      <p:sp>
        <p:nvSpPr>
          <p:cNvPr id="4" name="TextBox 3"/>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 1</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Where the data comes from</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Two instruments, thirty years, and one discontinuity you must not ignore.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Thirty years, two instruments</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THE DISCONTINUITY — DMSP-OLS reports an uncalibrated 6-bit digital number; VIIRS reports calibrated
radiance.  Never splice the two without an explicit harmonisation step  —
and if you do harmonise, say which method you used, because they disagree.
Most published African NTL work starts in 2012 for exactly this reason, and so does this workshop.</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screenshot slide 5 of the HTML deck and paste it here.  (The two records are different instruments with different units. They are not one series.)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Which product, for which question</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TWO DEFENSIBLE PIPELINES, TWO DIFFERENT NUMBERS — NASA's VNP46A4 and NOAA/EOG's annual VNL cover the same years with different
compositing and masking. A gap of a few percent between them is expected and
healthy.  Publishing a Sum of Lights figure without naming the product and
version is not a reproducible statistic.</a:t>
            </a:r>
          </a:p>
        </p:txBody>
      </p:sp>
      <p:graphicFrame>
        <p:nvGraphicFramePr>
          <p:cNvPr id="5" name="Table 4"/>
          <p:cNvGraphicFramePr>
            <a:graphicFrameLocks noGrp="1"/>
          </p:cNvGraphicFramePr>
          <p:nvPr/>
        </p:nvGraphicFramePr>
        <p:xfrm>
          <a:off x="731520" y="2468880"/>
          <a:ext cx="10728655" cy="1463040"/>
        </p:xfrm>
        <a:graphic>
          <a:graphicData uri="http://schemas.openxmlformats.org/drawingml/2006/table">
            <a:tbl>
              <a:tblPr firstRow="1" bandRow="1">
                <a:tableStyleId>{5C22544A-7EE6-4342-B048-85BDC9FD1C3A}</a:tableStyleId>
              </a:tblPr>
              <a:tblGrid>
                <a:gridCol w="2682163"/>
                <a:gridCol w="2682163"/>
                <a:gridCol w="2682163"/>
                <a:gridCol w="2682166"/>
              </a:tblGrid>
              <a:tr h="292608">
                <a:tc>
                  <a:txBody>
                    <a:bodyPr/>
                    <a:lstStyle/>
                    <a:p>
                      <a:r>
                        <a:rPr sz="1000" b="1">
                          <a:solidFill>
                            <a:srgbClr val="FFFFFF"/>
                          </a:solidFill>
                          <a:latin typeface="Segoe UI"/>
                        </a:rPr>
                        <a:t>Product</a:t>
                      </a:r>
                    </a:p>
                  </a:txBody>
                  <a:tcPr/>
                </a:tc>
                <a:tc>
                  <a:txBody>
                    <a:bodyPr/>
                    <a:lstStyle/>
                    <a:p>
                      <a:r>
                        <a:rPr sz="1000" b="1">
                          <a:solidFill>
                            <a:srgbClr val="FFFFFF"/>
                          </a:solidFill>
                          <a:latin typeface="Segoe UI"/>
                        </a:rPr>
                        <a:t>Cadence</a:t>
                      </a:r>
                    </a:p>
                  </a:txBody>
                  <a:tcPr/>
                </a:tc>
                <a:tc>
                  <a:txBody>
                    <a:bodyPr/>
                    <a:lstStyle/>
                    <a:p>
                      <a:r>
                        <a:rPr sz="1000" b="1">
                          <a:solidFill>
                            <a:srgbClr val="FFFFFF"/>
                          </a:solidFill>
                          <a:latin typeface="Segoe UI"/>
                        </a:rPr>
                        <a:t>Use it for</a:t>
                      </a:r>
                    </a:p>
                  </a:txBody>
                  <a:tcPr/>
                </a:tc>
                <a:tc>
                  <a:txBody>
                    <a:bodyPr/>
                    <a:lstStyle/>
                    <a:p>
                      <a:r>
                        <a:rPr sz="1000" b="1">
                          <a:solidFill>
                            <a:srgbClr val="FFFFFF"/>
                          </a:solidFill>
                          <a:latin typeface="Segoe UI"/>
                        </a:rPr>
                        <a:t>Do not use it for</a:t>
                      </a:r>
                    </a:p>
                  </a:txBody>
                  <a:tcPr/>
                </a:tc>
              </a:tr>
              <a:tr h="292608">
                <a:tc>
                  <a:txBody>
                    <a:bodyPr/>
                    <a:lstStyle/>
                    <a:p>
                      <a:r>
                        <a:rPr sz="1000" b="0">
                          <a:solidFill>
                            <a:srgbClr val="33403A"/>
                          </a:solidFill>
                          <a:latin typeface="Segoe UI"/>
                        </a:rPr>
                        <a:t>VNP46A2  Black Marble daily</a:t>
                      </a:r>
                    </a:p>
                  </a:txBody>
                  <a:tcPr/>
                </a:tc>
                <a:tc>
                  <a:txBody>
                    <a:bodyPr/>
                    <a:lstStyle/>
                    <a:p>
                      <a:r>
                        <a:rPr sz="1000" b="0">
                          <a:solidFill>
                            <a:srgbClr val="33403A"/>
                          </a:solidFill>
                          <a:latin typeface="Segoe UI"/>
                        </a:rPr>
                        <a:t>Daily</a:t>
                      </a:r>
                    </a:p>
                  </a:txBody>
                  <a:tcPr/>
                </a:tc>
                <a:tc>
                  <a:txBody>
                    <a:bodyPr/>
                    <a:lstStyle/>
                    <a:p>
                      <a:r>
                        <a:rPr sz="1000" b="0">
                          <a:solidFill>
                            <a:srgbClr val="33403A"/>
                          </a:solidFill>
                          <a:latin typeface="Segoe UI"/>
                        </a:rPr>
                        <a:t>Crisis and conflict monitoring; a specific night; power-outage detection</a:t>
                      </a:r>
                    </a:p>
                  </a:txBody>
                  <a:tcPr/>
                </a:tc>
                <a:tc>
                  <a:txBody>
                    <a:bodyPr/>
                    <a:lstStyle/>
                    <a:p>
                      <a:r>
                        <a:rPr sz="1000" b="0">
                          <a:solidFill>
                            <a:srgbClr val="33403A"/>
                          </a:solidFill>
                          <a:latin typeface="Segoe UI"/>
                        </a:rPr>
                        <a:t>Any trend — the day-to-day noise dominates</a:t>
                      </a:r>
                    </a:p>
                  </a:txBody>
                  <a:tcPr/>
                </a:tc>
              </a:tr>
              <a:tr h="292608">
                <a:tc>
                  <a:txBody>
                    <a:bodyPr/>
                    <a:lstStyle/>
                    <a:p>
                      <a:r>
                        <a:rPr sz="1000" b="0">
                          <a:solidFill>
                            <a:srgbClr val="33403A"/>
                          </a:solidFill>
                          <a:latin typeface="Segoe UI"/>
                        </a:rPr>
                        <a:t>VNP46A3  Black Marble monthly</a:t>
                      </a:r>
                    </a:p>
                  </a:txBody>
                  <a:tcPr/>
                </a:tc>
                <a:tc>
                  <a:txBody>
                    <a:bodyPr/>
                    <a:lstStyle/>
                    <a:p>
                      <a:r>
                        <a:rPr sz="1000" b="0">
                          <a:solidFill>
                            <a:srgbClr val="33403A"/>
                          </a:solidFill>
                          <a:latin typeface="Segoe UI"/>
                        </a:rPr>
                        <a:t>Monthly</a:t>
                      </a:r>
                    </a:p>
                  </a:txBody>
                  <a:tcPr/>
                </a:tc>
                <a:tc>
                  <a:txBody>
                    <a:bodyPr/>
                    <a:lstStyle/>
                    <a:p>
                      <a:r>
                        <a:rPr sz="1000" b="0">
                          <a:solidFill>
                            <a:srgbClr val="33403A"/>
                          </a:solidFill>
                          <a:latin typeface="Segoe UI"/>
                        </a:rPr>
                        <a:t>Seasonality; within-year dynamics; harmattan and monsoon effects</a:t>
                      </a:r>
                    </a:p>
                  </a:txBody>
                  <a:tcPr/>
                </a:tc>
                <a:tc>
                  <a:txBody>
                    <a:bodyPr/>
                    <a:lstStyle/>
                    <a:p>
                      <a:r>
                        <a:rPr sz="1000" b="0">
                          <a:solidFill>
                            <a:srgbClr val="33403A"/>
                          </a:solidFill>
                          <a:latin typeface="Segoe UI"/>
                        </a:rPr>
                        <a:t>Comparing different months as if they were equivalent</a:t>
                      </a:r>
                    </a:p>
                  </a:txBody>
                  <a:tcPr/>
                </a:tc>
              </a:tr>
              <a:tr h="292608">
                <a:tc>
                  <a:txBody>
                    <a:bodyPr/>
                    <a:lstStyle/>
                    <a:p>
                      <a:r>
                        <a:rPr sz="1000" b="0">
                          <a:solidFill>
                            <a:srgbClr val="33403A"/>
                          </a:solidFill>
                          <a:latin typeface="Segoe UI"/>
                        </a:rPr>
                        <a:t>VNP46A4  Black Marble annual</a:t>
                      </a:r>
                    </a:p>
                  </a:txBody>
                  <a:tcPr/>
                </a:tc>
                <a:tc>
                  <a:txBody>
                    <a:bodyPr/>
                    <a:lstStyle/>
                    <a:p>
                      <a:r>
                        <a:rPr sz="1000" b="0">
                          <a:solidFill>
                            <a:srgbClr val="33403A"/>
                          </a:solidFill>
                          <a:latin typeface="Segoe UI"/>
                        </a:rPr>
                        <a:t>Annual</a:t>
                      </a:r>
                    </a:p>
                  </a:txBody>
                  <a:tcPr/>
                </a:tc>
                <a:tc>
                  <a:txBody>
                    <a:bodyPr/>
                    <a:lstStyle/>
                    <a:p>
                      <a:r>
                        <a:rPr sz="1000" b="0">
                          <a:solidFill>
                            <a:srgbClr val="33403A"/>
                          </a:solidFill>
                          <a:latin typeface="Segoe UI"/>
                        </a:rPr>
                        <a:t>The statistical default.  Year-on-year subnational series</a:t>
                      </a:r>
                    </a:p>
                  </a:txBody>
                  <a:tcPr/>
                </a:tc>
                <a:tc>
                  <a:txBody>
                    <a:bodyPr/>
                    <a:lstStyle/>
                    <a:p>
                      <a:r>
                        <a:rPr sz="1000" b="0">
                          <a:solidFill>
                            <a:srgbClr val="33403A"/>
                          </a:solidFill>
                          <a:latin typeface="Segoe UI"/>
                        </a:rPr>
                        <a:t>Anything within a year</a:t>
                      </a:r>
                    </a:p>
                  </a:txBody>
                  <a:tcPr/>
                </a:tc>
              </a:tr>
              <a:tr h="292608">
                <a:tc>
                  <a:txBody>
                    <a:bodyPr/>
                    <a:lstStyle/>
                    <a:p>
                      <a:r>
                        <a:rPr sz="1000" b="0">
                          <a:solidFill>
                            <a:srgbClr val="33403A"/>
                          </a:solidFill>
                          <a:latin typeface="Segoe UI"/>
                        </a:rPr>
                        <a:t>EOG annual VNL  via Earth Engine</a:t>
                      </a:r>
                    </a:p>
                  </a:txBody>
                  <a:tcPr/>
                </a:tc>
                <a:tc>
                  <a:txBody>
                    <a:bodyPr/>
                    <a:lstStyle/>
                    <a:p>
                      <a:r>
                        <a:rPr sz="1000" b="0">
                          <a:solidFill>
                            <a:srgbClr val="33403A"/>
                          </a:solidFill>
                          <a:latin typeface="Segoe UI"/>
                        </a:rPr>
                        <a:t>Annual</a:t>
                      </a:r>
                    </a:p>
                  </a:txBody>
                  <a:tcPr/>
                </a:tc>
                <a:tc>
                  <a:txBody>
                    <a:bodyPr/>
                    <a:lstStyle/>
                    <a:p>
                      <a:r>
                        <a:rPr sz="1000" b="0">
                          <a:solidFill>
                            <a:srgbClr val="33403A"/>
                          </a:solidFill>
                          <a:latin typeface="Segoe UI"/>
                        </a:rPr>
                        <a:t>The same job with no download at all</a:t>
                      </a:r>
                    </a:p>
                  </a:txBody>
                  <a:tcPr/>
                </a:tc>
                <a:tc>
                  <a:txBody>
                    <a:bodyPr/>
                    <a:lstStyle/>
                    <a:p>
                      <a:r>
                        <a:rPr sz="1000" b="0">
                          <a:solidFill>
                            <a:srgbClr val="33403A"/>
                          </a:solidFill>
                          <a:latin typeface="Segoe UI"/>
                        </a:rPr>
                        <a:t>Assuming it equals VNP46A4 — it does not</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Where to actually get it — four routes, all free</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FREE TO OBTAIN IS NOT FREE TO USE — Black Marble and VNL are US Government products, effectively public domain, so a
derived national indicator can carry your office's own open-data licence. That is
 not  true of every source you will meet this week — Wednesday's Ookla data
is CC BY-NC-SA 4.0, and both the NonCommercial and ShareAlike terms propagate into
anything you derive from it.</a:t>
            </a:r>
          </a:p>
        </p:txBody>
      </p:sp>
      <p:graphicFrame>
        <p:nvGraphicFramePr>
          <p:cNvPr id="5" name="Table 4"/>
          <p:cNvGraphicFramePr>
            <a:graphicFrameLocks noGrp="1"/>
          </p:cNvGraphicFramePr>
          <p:nvPr/>
        </p:nvGraphicFramePr>
        <p:xfrm>
          <a:off x="731520" y="2468880"/>
          <a:ext cx="10728655" cy="1463040"/>
        </p:xfrm>
        <a:graphic>
          <a:graphicData uri="http://schemas.openxmlformats.org/drawingml/2006/table">
            <a:tbl>
              <a:tblPr firstRow="1" bandRow="1">
                <a:tableStyleId>{5C22544A-7EE6-4342-B048-85BDC9FD1C3A}</a:tableStyleId>
              </a:tblPr>
              <a:tblGrid>
                <a:gridCol w="2682163"/>
                <a:gridCol w="2682163"/>
                <a:gridCol w="2682163"/>
                <a:gridCol w="2682166"/>
              </a:tblGrid>
              <a:tr h="292608">
                <a:tc>
                  <a:txBody>
                    <a:bodyPr/>
                    <a:lstStyle/>
                    <a:p>
                      <a:r>
                        <a:rPr sz="1000" b="1">
                          <a:solidFill>
                            <a:srgbClr val="FFFFFF"/>
                          </a:solidFill>
                          <a:latin typeface="Segoe UI"/>
                        </a:rPr>
                        <a:t>Route</a:t>
                      </a:r>
                    </a:p>
                  </a:txBody>
                  <a:tcPr/>
                </a:tc>
                <a:tc>
                  <a:txBody>
                    <a:bodyPr/>
                    <a:lstStyle/>
                    <a:p>
                      <a:r>
                        <a:rPr sz="1000" b="1">
                          <a:solidFill>
                            <a:srgbClr val="FFFFFF"/>
                          </a:solidFill>
                          <a:latin typeface="Segoe UI"/>
                        </a:rPr>
                        <a:t>Gives you</a:t>
                      </a:r>
                    </a:p>
                  </a:txBody>
                  <a:tcPr/>
                </a:tc>
                <a:tc>
                  <a:txBody>
                    <a:bodyPr/>
                    <a:lstStyle/>
                    <a:p>
                      <a:r>
                        <a:rPr sz="1000" b="1">
                          <a:solidFill>
                            <a:srgbClr val="FFFFFF"/>
                          </a:solidFill>
                          <a:latin typeface="Segoe UI"/>
                        </a:rPr>
                        <a:t>Needs</a:t>
                      </a:r>
                    </a:p>
                  </a:txBody>
                  <a:tcPr/>
                </a:tc>
                <a:tc>
                  <a:txBody>
                    <a:bodyPr/>
                    <a:lstStyle/>
                    <a:p>
                      <a:r>
                        <a:rPr sz="1000" b="1">
                          <a:solidFill>
                            <a:srgbClr val="FFFFFF"/>
                          </a:solidFill>
                          <a:latin typeface="Segoe UI"/>
                        </a:rPr>
                        <a:t>Best when</a:t>
                      </a:r>
                    </a:p>
                  </a:txBody>
                  <a:tcPr/>
                </a:tc>
              </a:tr>
              <a:tr h="292608">
                <a:tc>
                  <a:txBody>
                    <a:bodyPr/>
                    <a:lstStyle/>
                    <a:p>
                      <a:r>
                        <a:rPr sz="1000" b="0">
                          <a:solidFill>
                            <a:srgbClr val="33403A"/>
                          </a:solidFill>
                          <a:latin typeface="Segoe UI"/>
                        </a:rPr>
                        <a:t>NASA LAADS DAAC   ladsweb.modaps.eosdis.nasa.gov</a:t>
                      </a:r>
                    </a:p>
                  </a:txBody>
                  <a:tcPr/>
                </a:tc>
                <a:tc>
                  <a:txBody>
                    <a:bodyPr/>
                    <a:lstStyle/>
                    <a:p>
                      <a:r>
                        <a:rPr sz="1000" b="0">
                          <a:solidFill>
                            <a:srgbClr val="33403A"/>
                          </a:solidFill>
                          <a:latin typeface="Segoe UI"/>
                        </a:rPr>
                        <a:t>Black Marble VNP46A1–A4, the authoritative source</a:t>
                      </a:r>
                    </a:p>
                  </a:txBody>
                  <a:tcPr/>
                </a:tc>
                <a:tc>
                  <a:txBody>
                    <a:bodyPr/>
                    <a:lstStyle/>
                    <a:p>
                      <a:r>
                        <a:rPr sz="1000" b="0">
                          <a:solidFill>
                            <a:srgbClr val="33403A"/>
                          </a:solidFill>
                          <a:latin typeface="Segoe UI"/>
                        </a:rPr>
                        <a:t>Free Earthdata account + bearer token</a:t>
                      </a:r>
                    </a:p>
                  </a:txBody>
                  <a:tcPr/>
                </a:tc>
                <a:tc>
                  <a:txBody>
                    <a:bodyPr/>
                    <a:lstStyle/>
                    <a:p>
                      <a:r>
                        <a:rPr sz="1000" b="0">
                          <a:solidFill>
                            <a:srgbClr val="33403A"/>
                          </a:solidFill>
                          <a:latin typeface="Segoe UI"/>
                        </a:rPr>
                        <a:t>You want the reference product and can afford the download</a:t>
                      </a:r>
                    </a:p>
                  </a:txBody>
                  <a:tcPr/>
                </a:tc>
              </a:tr>
              <a:tr h="292608">
                <a:tc>
                  <a:txBody>
                    <a:bodyPr/>
                    <a:lstStyle/>
                    <a:p>
                      <a:r>
                        <a:rPr sz="1000" b="0">
                          <a:solidFill>
                            <a:srgbClr val="33403A"/>
                          </a:solidFill>
                          <a:latin typeface="Segoe UI"/>
                        </a:rPr>
                        <a:t>Earth Observation Group   eogdata.mines.edu/products/vnl</a:t>
                      </a:r>
                    </a:p>
                  </a:txBody>
                  <a:tcPr/>
                </a:tc>
                <a:tc>
                  <a:txBody>
                    <a:bodyPr/>
                    <a:lstStyle/>
                    <a:p>
                      <a:r>
                        <a:rPr sz="1000" b="0">
                          <a:solidFill>
                            <a:srgbClr val="33403A"/>
                          </a:solidFill>
                          <a:latin typeface="Segoe UI"/>
                        </a:rPr>
                        <a:t>EOG annual VNL v2, and the gas-flare survey</a:t>
                      </a:r>
                    </a:p>
                  </a:txBody>
                  <a:tcPr/>
                </a:tc>
                <a:tc>
                  <a:txBody>
                    <a:bodyPr/>
                    <a:lstStyle/>
                    <a:p>
                      <a:r>
                        <a:rPr sz="1000" b="0">
                          <a:solidFill>
                            <a:srgbClr val="33403A"/>
                          </a:solidFill>
                          <a:latin typeface="Segoe UI"/>
                        </a:rPr>
                        <a:t>Free registration</a:t>
                      </a:r>
                    </a:p>
                  </a:txBody>
                  <a:tcPr/>
                </a:tc>
                <a:tc>
                  <a:txBody>
                    <a:bodyPr/>
                    <a:lstStyle/>
                    <a:p>
                      <a:r>
                        <a:rPr sz="1000" b="0">
                          <a:solidFill>
                            <a:srgbClr val="33403A"/>
                          </a:solidFill>
                          <a:latin typeface="Segoe UI"/>
                        </a:rPr>
                        <a:t>You want an annual series ready to use, or a flare mask</a:t>
                      </a:r>
                    </a:p>
                  </a:txBody>
                  <a:tcPr/>
                </a:tc>
              </a:tr>
              <a:tr h="292608">
                <a:tc>
                  <a:txBody>
                    <a:bodyPr/>
                    <a:lstStyle/>
                    <a:p>
                      <a:r>
                        <a:rPr sz="1000" b="0">
                          <a:solidFill>
                            <a:srgbClr val="33403A"/>
                          </a:solidFill>
                          <a:latin typeface="Segoe UI"/>
                        </a:rPr>
                        <a:t>Google Earth Engine   NOAA/VIIRS/DNB/ANNUAL_V22</a:t>
                      </a:r>
                    </a:p>
                  </a:txBody>
                  <a:tcPr/>
                </a:tc>
                <a:tc>
                  <a:txBody>
                    <a:bodyPr/>
                    <a:lstStyle/>
                    <a:p>
                      <a:r>
                        <a:rPr sz="1000" b="0">
                          <a:solidFill>
                            <a:srgbClr val="33403A"/>
                          </a:solidFill>
                          <a:latin typeface="Segoe UI"/>
                        </a:rPr>
                        <a:t>The same series, computed server-side</a:t>
                      </a:r>
                    </a:p>
                  </a:txBody>
                  <a:tcPr/>
                </a:tc>
                <a:tc>
                  <a:txBody>
                    <a:bodyPr/>
                    <a:lstStyle/>
                    <a:p>
                      <a:r>
                        <a:rPr sz="1000" b="0">
                          <a:solidFill>
                            <a:srgbClr val="33403A"/>
                          </a:solidFill>
                          <a:latin typeface="Segoe UI"/>
                        </a:rPr>
                        <a:t>Free non-commercial account + Cloud project</a:t>
                      </a:r>
                    </a:p>
                  </a:txBody>
                  <a:tcPr/>
                </a:tc>
                <a:tc>
                  <a:txBody>
                    <a:bodyPr/>
                    <a:lstStyle/>
                    <a:p>
                      <a:r>
                        <a:rPr sz="1000" b="0">
                          <a:solidFill>
                            <a:srgbClr val="33403A"/>
                          </a:solidFill>
                          <a:latin typeface="Segoe UI"/>
                        </a:rPr>
                        <a:t>Bandwidth is your constraint  — nothing is downloaded</a:t>
                      </a:r>
                    </a:p>
                  </a:txBody>
                  <a:tcPr/>
                </a:tc>
              </a:tr>
              <a:tr h="292608">
                <a:tc>
                  <a:txBody>
                    <a:bodyPr/>
                    <a:lstStyle/>
                    <a:p>
                      <a:r>
                        <a:rPr sz="1000" b="0">
                          <a:solidFill>
                            <a:srgbClr val="33403A"/>
                          </a:solidFill>
                          <a:latin typeface="Segoe UI"/>
                        </a:rPr>
                        <a:t>World Bank « Light Every Night »  AWS Registry of Open Data</a:t>
                      </a:r>
                    </a:p>
                  </a:txBody>
                  <a:tcPr/>
                </a:tc>
                <a:tc>
                  <a:txBody>
                    <a:bodyPr/>
                    <a:lstStyle/>
                    <a:p>
                      <a:r>
                        <a:rPr sz="1000" b="0">
                          <a:solidFill>
                            <a:srgbClr val="33403A"/>
                          </a:solidFill>
                          <a:latin typeface="Segoe UI"/>
                        </a:rPr>
                        <a:t>The full 1992–present night-time archive, analysis-ready</a:t>
                      </a:r>
                    </a:p>
                  </a:txBody>
                  <a:tcPr/>
                </a:tc>
                <a:tc>
                  <a:txBody>
                    <a:bodyPr/>
                    <a:lstStyle/>
                    <a:p>
                      <a:r>
                        <a:rPr sz="1000" b="0">
                          <a:solidFill>
                            <a:srgbClr val="33403A"/>
                          </a:solidFill>
                          <a:latin typeface="Segoe UI"/>
                        </a:rPr>
                        <a:t>Nothing — no account at all</a:t>
                      </a:r>
                    </a:p>
                  </a:txBody>
                  <a:tcPr/>
                </a:tc>
                <a:tc>
                  <a:txBody>
                    <a:bodyPr/>
                    <a:lstStyle/>
                    <a:p>
                      <a:r>
                        <a:rPr sz="1000" b="0">
                          <a:solidFill>
                            <a:srgbClr val="33403A"/>
                          </a:solidFill>
                          <a:latin typeface="Segoe UI"/>
                        </a:rPr>
                        <a:t>You need the DMSP years, or an unauthenticated pipeline</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 2</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From radiance to an indicator</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The five steps you will run this morning and this afternoon.</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The pipeline, end to end</a:t>
            </a:r>
          </a:p>
        </p:txBody>
      </p:sp>
      <p:sp>
        <p:nvSpPr>
          <p:cNvPr id="4" name="TextBox 3"/>
          <p:cNvSpPr txBox="1"/>
          <p:nvPr/>
        </p:nvSpPr>
        <p:spPr>
          <a:xfrm>
            <a:off x="731520" y="1371600"/>
            <a:ext cx="10728655" cy="640080"/>
          </a:xfrm>
          <a:prstGeom prst="rect">
            <a:avLst/>
          </a:prstGeom>
          <a:noFill/>
        </p:spPr>
        <p:txBody>
          <a:bodyPr wrap="square">
            <a:spAutoFit/>
          </a:bodyPr>
          <a:lstStyle/>
          <a:p>
            <a:pPr algn="l"/>
            <a:r>
              <a:rPr sz="1100" b="0">
                <a:solidFill>
                  <a:srgbClr val="6B7B75"/>
                </a:solidFill>
                <a:latin typeface="Segoe UI"/>
              </a:rPr>
              <a:t>FIGURE — screenshot slide 9 of the HTML deck and paste it here.  (Step 5 is not a formality. It is the step that decides whether your country can disseminate this.)</a:t>
            </a:r>
          </a:p>
        </p:txBody>
      </p:sp>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Three numbers, three different questions</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Total radiance over an area.</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400" b="0">
                <a:solidFill>
                  <a:srgbClr val="33403A"/>
                </a:solidFill>
                <a:latin typeface="Segoe UI"/>
              </a:rPr>
              <a:t>Answers:  how much lit activity is
there?  Grows when existing places get brighter  and  when new
places light up. Dominated by cities.</a:t>
            </a:r>
          </a:p>
        </p:txBody>
      </p:sp>
      <p:sp>
        <p:nvSpPr>
          <p:cNvPr id="6" name="TextBox 5"/>
          <p:cNvSpPr txBox="1"/>
          <p:nvPr/>
        </p:nvSpPr>
        <p:spPr>
          <a:xfrm>
            <a:off x="731520" y="2377440"/>
            <a:ext cx="10728655" cy="548640"/>
          </a:xfrm>
          <a:prstGeom prst="rect">
            <a:avLst/>
          </a:prstGeom>
          <a:noFill/>
        </p:spPr>
        <p:txBody>
          <a:bodyPr wrap="square">
            <a:spAutoFit/>
          </a:bodyPr>
          <a:lstStyle/>
          <a:p>
            <a:pPr algn="l"/>
            <a:r>
              <a:rPr sz="1400" b="0">
                <a:solidFill>
                  <a:srgbClr val="33403A"/>
                </a:solidFill>
                <a:latin typeface="Segoe UI"/>
              </a:rPr>
              <a:t>Share of territory above a threshold.</a:t>
            </a:r>
          </a:p>
        </p:txBody>
      </p:sp>
      <p:sp>
        <p:nvSpPr>
          <p:cNvPr id="7" name="Rectangle 6"/>
          <p:cNvSpPr/>
          <p:nvPr/>
        </p:nvSpPr>
        <p:spPr>
          <a:xfrm>
            <a:off x="731520" y="288036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WHY ALL THREE — A country can post a rising Sum of Lights while its lit area stagnates and its
inequality worsens — meaning the capital grew and the rest did not. One number
hides that. Three numbers show it, and the third is the one that changes where
you would put an investment.</a:t>
            </a:r>
          </a:p>
        </p:txBody>
      </p:sp>
      <p:sp>
        <p:nvSpPr>
          <p:cNvPr id="8" name="Rectangle 7"/>
          <p:cNvSpPr/>
          <p:nvPr/>
        </p:nvSpPr>
        <p:spPr>
          <a:xfrm>
            <a:off x="731520" y="397764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THE THRESHOLD IS A DECISION, NOT A FACT — "Lit area" moves when you move the threshold. At 0.1 nW·cm⁻²·sr⁻¹ a country may be
40 % lit; at 5.0, 6 %.  Publish the threshold next to the number, every time.</a:t>
            </a:r>
          </a:p>
        </p:txBody>
      </p:sp>
      <p:sp>
        <p:nvSpPr>
          <p:cNvPr id="9" name="TextBox 8"/>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 3</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The six artefacts</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Named here. Met hands-on at 10:30, in your own country's raster.</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FFFFFF"/>
                </a:solidFill>
                <a:latin typeface="Segoe UI"/>
              </a:rPr>
              <a:t>What the sensor sees that you did not ask for</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PLUS TWO YOU WILL NOT SEE TODAY — Seasonality  — cloud, aerosols, moonlight and harmattan dust move
monthly series; annual composites hide it.  Sensor discontinuity  —
the DMSP/VIIRS join, discussed earlier.</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screenshot slide 12 of the HTML deck and paste it here.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Three ways a night-time lights study goes wrong</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NONE OF THESE ARE VISIBLE IN THE OUTPUT TABLE — All three produce a well-formatted, plausible number. That is why the exploration
laboratory comes  before  the analysis laboratory, and why the artefact
inventory is a deliverable rather than an optional extra.</a:t>
            </a:r>
          </a:p>
        </p:txBody>
      </p:sp>
      <p:graphicFrame>
        <p:nvGraphicFramePr>
          <p:cNvPr id="5" name="Table 4"/>
          <p:cNvGraphicFramePr>
            <a:graphicFrameLocks noGrp="1"/>
          </p:cNvGraphicFramePr>
          <p:nvPr/>
        </p:nvGraphicFramePr>
        <p:xfrm>
          <a:off x="731520" y="2468880"/>
          <a:ext cx="10728655" cy="1170432"/>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The claim</a:t>
                      </a:r>
                    </a:p>
                  </a:txBody>
                  <a:tcPr/>
                </a:tc>
                <a:tc>
                  <a:txBody>
                    <a:bodyPr/>
                    <a:lstStyle/>
                    <a:p>
                      <a:r>
                        <a:rPr sz="1000" b="1">
                          <a:solidFill>
                            <a:srgbClr val="FFFFFF"/>
                          </a:solidFill>
                          <a:latin typeface="Segoe UI"/>
                        </a:rPr>
                        <a:t>What actually happened</a:t>
                      </a:r>
                    </a:p>
                  </a:txBody>
                  <a:tcPr/>
                </a:tc>
                <a:tc>
                  <a:txBody>
                    <a:bodyPr/>
                    <a:lstStyle/>
                    <a:p>
                      <a:r>
                        <a:rPr sz="1000" b="1">
                          <a:solidFill>
                            <a:srgbClr val="FFFFFF"/>
                          </a:solidFill>
                          <a:latin typeface="Segoe UI"/>
                        </a:rPr>
                        <a:t>The check that would have caught it</a:t>
                      </a:r>
                    </a:p>
                  </a:txBody>
                  <a:tcPr/>
                </a:tc>
              </a:tr>
              <a:tr h="292608">
                <a:tc>
                  <a:txBody>
                    <a:bodyPr/>
                    <a:lstStyle/>
                    <a:p>
                      <a:r>
                        <a:rPr sz="1000" b="0">
                          <a:solidFill>
                            <a:srgbClr val="33403A"/>
                          </a:solidFill>
                          <a:latin typeface="Segoe UI"/>
                        </a:rPr>
                        <a:t>"Regional GDP grew 40 % in one year"</a:t>
                      </a:r>
                    </a:p>
                  </a:txBody>
                  <a:tcPr/>
                </a:tc>
                <a:tc>
                  <a:txBody>
                    <a:bodyPr/>
                    <a:lstStyle/>
                    <a:p>
                      <a:r>
                        <a:rPr sz="1000" b="0">
                          <a:solidFill>
                            <a:srgbClr val="33403A"/>
                          </a:solidFill>
                          <a:latin typeface="Segoe UI"/>
                        </a:rPr>
                        <a:t>The previous year was missing a satellite tile — two thirds of the territory</a:t>
                      </a:r>
                    </a:p>
                  </a:txBody>
                  <a:tcPr/>
                </a:tc>
                <a:tc>
                  <a:txBody>
                    <a:bodyPr/>
                    <a:lstStyle/>
                    <a:p>
                      <a:r>
                        <a:rPr sz="1000" b="0">
                          <a:solidFill>
                            <a:srgbClr val="33403A"/>
                          </a:solidFill>
                          <a:latin typeface="Segoe UI"/>
                        </a:rPr>
                        <a:t>The completeness audit, step 3 of this morning's laboratory</a:t>
                      </a:r>
                    </a:p>
                  </a:txBody>
                  <a:tcPr/>
                </a:tc>
              </a:tr>
              <a:tr h="292608">
                <a:tc>
                  <a:txBody>
                    <a:bodyPr/>
                    <a:lstStyle/>
                    <a:p>
                      <a:r>
                        <a:rPr sz="1000" b="0">
                          <a:solidFill>
                            <a:srgbClr val="33403A"/>
                          </a:solidFill>
                          <a:latin typeface="Segoe UI"/>
                        </a:rPr>
                        <a:t>"This region is the most economically active"</a:t>
                      </a:r>
                    </a:p>
                  </a:txBody>
                  <a:tcPr/>
                </a:tc>
                <a:tc>
                  <a:txBody>
                    <a:bodyPr/>
                    <a:lstStyle/>
                    <a:p>
                      <a:r>
                        <a:rPr sz="1000" b="0">
                          <a:solidFill>
                            <a:srgbClr val="33403A"/>
                          </a:solidFill>
                          <a:latin typeface="Segoe UI"/>
                        </a:rPr>
                        <a:t>A gas flare. Population 400</a:t>
                      </a:r>
                    </a:p>
                  </a:txBody>
                  <a:tcPr/>
                </a:tc>
                <a:tc>
                  <a:txBody>
                    <a:bodyPr/>
                    <a:lstStyle/>
                    <a:p>
                      <a:r>
                        <a:rPr sz="1000" b="0">
                          <a:solidFill>
                            <a:srgbClr val="33403A"/>
                          </a:solidFill>
                          <a:latin typeface="Segoe UI"/>
                        </a:rPr>
                        <a:t>Ranking the brightest pixels and cross-checking against a settlement map</a:t>
                      </a:r>
                    </a:p>
                  </a:txBody>
                  <a:tcPr/>
                </a:tc>
              </a:tr>
              <a:tr h="292608">
                <a:tc>
                  <a:txBody>
                    <a:bodyPr/>
                    <a:lstStyle/>
                    <a:p>
                      <a:r>
                        <a:rPr sz="1000" b="0">
                          <a:solidFill>
                            <a:srgbClr val="33403A"/>
                          </a:solidFill>
                          <a:latin typeface="Segoe UI"/>
                        </a:rPr>
                        <a:t>"Electrification stalled in the capital"</a:t>
                      </a:r>
                    </a:p>
                  </a:txBody>
                  <a:tcPr/>
                </a:tc>
                <a:tc>
                  <a:txBody>
                    <a:bodyPr/>
                    <a:lstStyle/>
                    <a:p>
                      <a:r>
                        <a:rPr sz="1000" b="0">
                          <a:solidFill>
                            <a:srgbClr val="33403A"/>
                          </a:solidFill>
                          <a:latin typeface="Segoe UI"/>
                        </a:rPr>
                        <a:t>The capital saturated the sensor in 2018 and has been flat in the data since</a:t>
                      </a:r>
                    </a:p>
                  </a:txBody>
                  <a:tcPr/>
                </a:tc>
                <a:tc>
                  <a:txBody>
                    <a:bodyPr/>
                    <a:lstStyle/>
                    <a:p>
                      <a:r>
                        <a:rPr sz="1000" b="0">
                          <a:solidFill>
                            <a:srgbClr val="33403A"/>
                          </a:solidFill>
                          <a:latin typeface="Segoe UI"/>
                        </a:rPr>
                        <a:t>A cross-section through the brightest cluster — look for the flat top</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What NTL proxies well — and what it does not</a:t>
            </a:r>
          </a:p>
        </p:txBody>
      </p:sp>
      <p:sp>
        <p:nvSpPr>
          <p:cNvPr id="4" name="TextBox 3"/>
          <p:cNvSpPr txBox="1"/>
          <p:nvPr/>
        </p:nvSpPr>
        <p:spPr>
          <a:xfrm>
            <a:off x="731520" y="1371600"/>
            <a:ext cx="10728655" cy="4389120"/>
          </a:xfrm>
          <a:prstGeom prst="rect">
            <a:avLst/>
          </a:prstGeom>
          <a:noFill/>
        </p:spPr>
        <p:txBody>
          <a:bodyPr wrap="square">
            <a:spAutoFit/>
          </a:bodyPr>
          <a:lstStyle/>
          <a:p>
            <a:pPr>
              <a:spcAft>
                <a:spcPts val="700"/>
              </a:spcAft>
            </a:pPr>
            <a:r>
              <a:rPr sz="1400">
                <a:solidFill>
                  <a:srgbClr val="33403A"/>
                </a:solidFill>
                <a:latin typeface="Segoe UI"/>
              </a:rPr>
              <a:t>•  Electrification progress  — where light reaches new places</a:t>
            </a:r>
          </a:p>
          <a:p>
            <a:pPr>
              <a:spcAft>
                <a:spcPts val="700"/>
              </a:spcAft>
            </a:pPr>
            <a:r>
              <a:rPr sz="1400">
                <a:solidFill>
                  <a:srgbClr val="33403A"/>
                </a:solidFill>
                <a:latin typeface="Segoe UI"/>
              </a:rPr>
              <a:t>•  Urbanisation and settlement growth</a:t>
            </a:r>
          </a:p>
          <a:p>
            <a:pPr>
              <a:spcAft>
                <a:spcPts val="700"/>
              </a:spcAft>
            </a:pPr>
            <a:r>
              <a:rPr sz="1400">
                <a:solidFill>
                  <a:srgbClr val="33403A"/>
                </a:solidFill>
                <a:latin typeface="Segoe UI"/>
              </a:rPr>
              <a:t>•  Crisis and conflict impact  — abrupt loss of light is unambiguous</a:t>
            </a:r>
          </a:p>
          <a:p>
            <a:pPr>
              <a:spcAft>
                <a:spcPts val="700"/>
              </a:spcAft>
            </a:pPr>
            <a:r>
              <a:rPr sz="1400">
                <a:solidFill>
                  <a:srgbClr val="33403A"/>
                </a:solidFill>
                <a:latin typeface="Segoe UI"/>
              </a:rPr>
              <a:t>•  Spatial inequality of infrastructure</a:t>
            </a:r>
          </a:p>
          <a:p>
            <a:pPr>
              <a:spcAft>
                <a:spcPts val="700"/>
              </a:spcAft>
            </a:pPr>
            <a:r>
              <a:rPr sz="1400">
                <a:solidFill>
                  <a:srgbClr val="33403A"/>
                </a:solidFill>
                <a:latin typeface="Segoe UI"/>
              </a:rPr>
              <a:t>•  Relative comparison between districts  in the same year</a:t>
            </a:r>
          </a:p>
          <a:p>
            <a:pPr>
              <a:spcAft>
                <a:spcPts val="700"/>
              </a:spcAft>
            </a:pPr>
            <a:r>
              <a:rPr sz="1400">
                <a:solidFill>
                  <a:srgbClr val="33403A"/>
                </a:solidFill>
                <a:latin typeface="Segoe UI"/>
              </a:rPr>
              <a:t>•  GDP in levels.  Correlated, not equal. The elasticity differs by country and by decade</a:t>
            </a:r>
          </a:p>
          <a:p>
            <a:pPr>
              <a:spcAft>
                <a:spcPts val="700"/>
              </a:spcAft>
            </a:pPr>
            <a:r>
              <a:rPr sz="1400">
                <a:solidFill>
                  <a:srgbClr val="33403A"/>
                </a:solidFill>
                <a:latin typeface="Segoe UI"/>
              </a:rPr>
              <a:t>•  Household connection rates.  A connected household that cannot afford to use power emits no light</a:t>
            </a:r>
          </a:p>
          <a:p>
            <a:pPr>
              <a:spcAft>
                <a:spcPts val="700"/>
              </a:spcAft>
            </a:pPr>
            <a:r>
              <a:rPr sz="1400">
                <a:solidFill>
                  <a:srgbClr val="33403A"/>
                </a:solidFill>
                <a:latin typeface="Segoe UI"/>
              </a:rPr>
              <a:t>•  Informal economic activity  that happens in daylight</a:t>
            </a:r>
          </a:p>
          <a:p>
            <a:pPr>
              <a:spcAft>
                <a:spcPts val="700"/>
              </a:spcAft>
            </a:pPr>
            <a:r>
              <a:rPr sz="1400">
                <a:solidFill>
                  <a:srgbClr val="33403A"/>
                </a:solidFill>
                <a:latin typeface="Segoe UI"/>
              </a:rPr>
              <a:t>•  Anything at village scale.  500 m pixels and blooming make small settlements unreliable</a:t>
            </a:r>
          </a:p>
        </p:txBody>
      </p:sp>
      <p:sp>
        <p:nvSpPr>
          <p:cNvPr id="5" name="Rectangle 4"/>
          <p:cNvSpPr/>
          <p:nvPr/>
        </p:nvSpPr>
        <p:spPr>
          <a:xfrm>
            <a:off x="731520" y="466344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THE HONEST FRAMING FOR A STATISTICAL OFFICE — "A spatially detailed indicator that correlates with X in our country at r = 0.NN,
suitable for Y, not suitable for Z."  That sentence — with your own
correlation coefficient in it — is what you will produce this afternoon.</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What you will have by 17:00</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Every one of those goes into your country repository on Friday, with a licence,
metadata and a DOI. Another African office should be able to take your notebook,
change one line, and run it on their own territory.</a:t>
            </a:r>
          </a:p>
        </p:txBody>
      </p:sp>
      <p:sp>
        <p:nvSpPr>
          <p:cNvPr id="5" name="TextBox 4"/>
          <p:cNvSpPr txBox="1"/>
          <p:nvPr/>
        </p:nvSpPr>
        <p:spPr>
          <a:xfrm>
            <a:off x="731520" y="1874520"/>
            <a:ext cx="10728655" cy="457200"/>
          </a:xfrm>
          <a:prstGeom prst="rect">
            <a:avLst/>
          </a:prstGeom>
          <a:noFill/>
        </p:spPr>
        <p:txBody>
          <a:bodyPr wrap="square">
            <a:spAutoFit/>
          </a:bodyPr>
          <a:lstStyle/>
          <a:p>
            <a:pPr algn="l"/>
            <a:r>
              <a:rPr sz="1500" b="1">
                <a:solidFill>
                  <a:srgbClr val="1B7A43"/>
                </a:solidFill>
                <a:latin typeface="Segoe UI"/>
              </a:rPr>
              <a:t>1  Clipped national raster</a:t>
            </a:r>
          </a:p>
        </p:txBody>
      </p:sp>
      <p:sp>
        <p:nvSpPr>
          <p:cNvPr id="6" name="Rectangle 5"/>
          <p:cNvSpPr/>
          <p:nvPr/>
        </p:nvSpPr>
        <p:spPr>
          <a:xfrm>
            <a:off x="731520" y="242316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ONE VARIABLE — COUNTRY_ISO3 = "CIV"  
Boundaries, satellite tiles, projection, map extent and every figure title follow
from it. The registry covers all 55 African Union member states.</a:t>
            </a:r>
          </a:p>
        </p:txBody>
      </p:sp>
      <p:sp>
        <p:nvSpPr>
          <p:cNvPr id="7" name="TextBox 6"/>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Is my proxy publishable? A decision framework</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THE HONEST SENTENCE YOU ARE AIMING FOR — "Night-time radiance at ADM2, VNP46A4 collection 002, lit threshold 0.5 nW·cm⁻²·sr⁻¹,
correlates with our official electrification rate at r = 0.NN across NN districts
in 20NN. Suitable for tracking relative change between districts; not suitable for
estimating connection rates in absolute terms."</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screenshot slide 16 of the HTML deck and paste it here.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NOW TO THE DATA</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09:30 — Laboratory 1</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Collect the granules for your own country, audit their
completeness, load your boundaries, and clip.</a:t>
            </a:r>
          </a:p>
        </p:txBody>
      </p:sp>
      <p:sp>
        <p:nvSpPr>
          <p:cNvPr id="6" name="TextBox 5"/>
          <p:cNvSpPr txBox="1"/>
          <p:nvPr/>
        </p:nvSpPr>
        <p:spPr>
          <a:xfrm>
            <a:off x="731520" y="2286000"/>
            <a:ext cx="10728655" cy="548640"/>
          </a:xfrm>
          <a:prstGeom prst="rect">
            <a:avLst/>
          </a:prstGeom>
          <a:noFill/>
        </p:spPr>
        <p:txBody>
          <a:bodyPr wrap="square">
            <a:spAutoFit/>
          </a:bodyPr>
          <a:lstStyle/>
          <a:p>
            <a:pPr algn="l"/>
            <a:r>
              <a:rPr sz="1400" b="0">
                <a:solidFill>
                  <a:srgbClr val="DBE7E0"/>
                </a:solidFill>
                <a:latin typeface="Segoe UI"/>
              </a:rPr>
              <a:t>Guided track or open track — your choice,
and you may switch. The deliverable is the same either way.</a:t>
            </a:r>
          </a:p>
        </p:txBody>
      </p:sp>
      <p:sp>
        <p:nvSpPr>
          <p:cNvPr id="7" name="TextBox 6"/>
          <p:cNvSpPr txBox="1"/>
          <p:nvPr/>
        </p:nvSpPr>
        <p:spPr>
          <a:xfrm>
            <a:off x="731520" y="2788920"/>
            <a:ext cx="10728655" cy="548640"/>
          </a:xfrm>
          <a:prstGeom prst="rect">
            <a:avLst/>
          </a:prstGeom>
          <a:noFill/>
        </p:spPr>
        <p:txBody>
          <a:bodyPr wrap="square">
            <a:spAutoFit/>
          </a:bodyPr>
          <a:lstStyle/>
          <a:p>
            <a:pPr algn="l"/>
            <a:r>
              <a:rPr sz="1400" b="0">
                <a:solidFill>
                  <a:srgbClr val="DBE7E0"/>
                </a:solidFill>
                <a:latin typeface="Segoe UI"/>
              </a:rPr>
              <a:t>No Earthdata token, no network, or a download that will not finish? 
Take the Earth Engine variant — it downloads nothing at all. 
Or set  COUNTRY_ISO3 = "CIV" , the reference country, and carry on.</a:t>
            </a:r>
          </a:p>
        </p:txBody>
      </p:sp>
      <p:sp>
        <p:nvSpPr>
          <p:cNvPr id="8" name="TextBox 7"/>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References</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Every claim in this deck traces to one of these. DOIs resolve at
 doi.org/&lt;doi&gt; .</a:t>
            </a:r>
          </a:p>
        </p:txBody>
      </p:sp>
      <p:sp>
        <p:nvSpPr>
          <p:cNvPr id="5" name="TextBox 4"/>
          <p:cNvSpPr txBox="1"/>
          <p:nvPr/>
        </p:nvSpPr>
        <p:spPr>
          <a:xfrm>
            <a:off x="731520" y="1874520"/>
            <a:ext cx="10728655" cy="3886200"/>
          </a:xfrm>
          <a:prstGeom prst="rect">
            <a:avLst/>
          </a:prstGeom>
          <a:noFill/>
        </p:spPr>
        <p:txBody>
          <a:bodyPr wrap="square">
            <a:spAutoFit/>
          </a:bodyPr>
          <a:lstStyle/>
          <a:p>
            <a:pPr>
              <a:spcAft>
                <a:spcPts val="700"/>
              </a:spcAft>
            </a:pPr>
            <a:r>
              <a:rPr sz="1400">
                <a:solidFill>
                  <a:srgbClr val="33403A"/>
                </a:solidFill>
                <a:latin typeface="Segoe UI"/>
              </a:rPr>
              <a:t>•  Román, M.O., et al.  (2018). NASA's Black Marble nighttime lights product
suite.  Remote Sensing of Environment , 210, 113–143.
 10.1016/j.rse.2018.03.017  
 The VNP46 product suite — read this before using VNP46A2/A3/A4.</a:t>
            </a:r>
          </a:p>
          <a:p>
            <a:pPr>
              <a:spcAft>
                <a:spcPts val="700"/>
              </a:spcAft>
            </a:pPr>
            <a:r>
              <a:rPr sz="1400">
                <a:solidFill>
                  <a:srgbClr val="33403A"/>
                </a:solidFill>
                <a:latin typeface="Segoe UI"/>
              </a:rPr>
              <a:t>•  Elvidge, C.D., Zhizhin, M., Ghosh, T., Hsu, F.-C., Taneja, J.  (2021).
Annual Time Series of Global VIIRS Nighttime Lights Derived from Monthly Averages:
2012 to 2019.  Remote Sensing , 13(5), 922.
 10.3390/rs13050922  
 The EOG annual VNL v2 series — the product behind the Earth Engine variant.</a:t>
            </a:r>
          </a:p>
          <a:p>
            <a:pPr>
              <a:spcAft>
                <a:spcPts val="700"/>
              </a:spcAft>
            </a:pPr>
            <a:r>
              <a:rPr sz="1400">
                <a:solidFill>
                  <a:srgbClr val="33403A"/>
                </a:solidFill>
                <a:latin typeface="Segoe UI"/>
              </a:rPr>
              <a:t>•  Levin, N., et al.  (2020). Remote sensing of night lights: A review and an
outlook for the future.  Remote Sensing of Environment , 237, 111443.
 10.1016/j.rse.2019.111443  
 The single best starting point if you read only one paper.</a:t>
            </a:r>
          </a:p>
          <a:p>
            <a:pPr>
              <a:spcAft>
                <a:spcPts val="700"/>
              </a:spcAft>
            </a:pPr>
            <a:r>
              <a:rPr sz="1400">
                <a:solidFill>
                  <a:srgbClr val="33403A"/>
                </a:solidFill>
                <a:latin typeface="Segoe UI"/>
              </a:rPr>
              <a:t>•  Henderson, J.V., Storeygard, A., Weil, D.N.  (2012). Measuring Economic
Growth from Outer Space.  American Economic Review , 102(2), 994–1028.
 10.1257/aer.102.2.994  
 The foundational case for lights as a complement to weak national accounts.</a:t>
            </a:r>
          </a:p>
          <a:p>
            <a:pPr>
              <a:spcAft>
                <a:spcPts val="700"/>
              </a:spcAft>
            </a:pPr>
            <a:r>
              <a:rPr sz="1400">
                <a:solidFill>
                  <a:srgbClr val="33403A"/>
                </a:solidFill>
                <a:latin typeface="Segoe UI"/>
              </a:rPr>
              <a:t>•  Gibson, J., Olivia, S., Boe-Gibson, G.  (2020). Night Lights in Economics:
Sources and Uses.  Journal of Economic Surveys , 34(5), 955–980. 
 A critical review. Read it alongside Henderson et al., not instead of it.</a:t>
            </a:r>
          </a:p>
          <a:p>
            <a:pPr>
              <a:spcAft>
                <a:spcPts val="700"/>
              </a:spcAft>
            </a:pPr>
            <a:r>
              <a:rPr sz="1400">
                <a:solidFill>
                  <a:srgbClr val="33403A"/>
                </a:solidFill>
                <a:latin typeface="Segoe UI"/>
              </a:rPr>
              <a:t>•  Gibson, J., Olivia, S., Boe-Gibson, G., Li, C.  (2021). Which night lights
data should we use in economics, and where?  Journal of Development Economics ,
149, 102602.  10.1016/j.jdeveco.2020.102602  
 Why naming your product and version is not pedantry.</a:t>
            </a:r>
          </a:p>
          <a:p>
            <a:pPr>
              <a:spcAft>
                <a:spcPts val="700"/>
              </a:spcAft>
            </a:pPr>
            <a:r>
              <a:rPr sz="1400">
                <a:solidFill>
                  <a:srgbClr val="33403A"/>
                </a:solidFill>
                <a:latin typeface="Segoe UI"/>
              </a:rPr>
              <a:t>•  Bluhm, R., Krause, M.  (2022). Top lights: Bright cities and their
contribution to economic development.  Journal of Development Economics , 157,
102880.  10.1016/j.jdeveco.2022.102880  
 Saturation correction reverses the Sub-Saharan primary/secondary city finding.</a:t>
            </a:r>
          </a:p>
          <a:p>
            <a:pPr>
              <a:spcAft>
                <a:spcPts val="700"/>
              </a:spcAft>
            </a:pPr>
            <a:r>
              <a:rPr sz="1400">
                <a:solidFill>
                  <a:srgbClr val="33403A"/>
                </a:solidFill>
                <a:latin typeface="Segoe UI"/>
              </a:rPr>
              <a:t>•  Min, B., Gaba, K.M., Sarr, O.F., Agalassou, A.  (2013). Detection of rural
electrification in Africa using DMSP-OLS night lights imagery.  International
Journal of Remote Sensing , 34(22), 8118–8141.
 10.1080/01431161.2013.833358  
 Senegal and Mali, validated against ground records. The African reference.</a:t>
            </a:r>
          </a:p>
          <a:p>
            <a:pPr>
              <a:spcAft>
                <a:spcPts val="700"/>
              </a:spcAft>
            </a:pPr>
            <a:r>
              <a:rPr sz="1400">
                <a:solidFill>
                  <a:srgbClr val="33403A"/>
                </a:solidFill>
                <a:latin typeface="Segoe UI"/>
              </a:rPr>
              <a:t>•  Elvidge, C.D., Zhizhin, M., Baugh, K., Hsu, F.-C., Ghosh, T.  (2016).
Methods for Global Survey of Natural Gas Flaring from Visible Infrared Imaging
Radiometer Suite Data.  Energies , 9(1), 14.
 10.3390/en9010014  
 How flares are detected — and therefore how to mask them out of your totals.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377440"/>
            <a:ext cx="9997135" cy="2286000"/>
          </a:xfrm>
          <a:prstGeom prst="rect">
            <a:avLst/>
          </a:prstGeom>
          <a:noFill/>
        </p:spPr>
        <p:txBody>
          <a:bodyPr wrap="square">
            <a:spAutoFit/>
          </a:bodyPr>
          <a:lstStyle/>
          <a:p>
            <a:pPr algn="ctr"/>
            <a:r>
              <a:rPr sz="1400" b="0">
                <a:solidFill>
                  <a:srgbClr val="DBE7E0"/>
                </a:solidFill>
                <a:latin typeface="Segoe UI"/>
              </a:rPr>
              <a:t>This PowerPoint file is generated from the reveal.js deck at
slides/decks/08-ntl-what-darkness-tells-us.deck.html
Edits made here do not flow back. If your change should be permanent,
edit the deck source and run:  python tools/build_slides.py &amp;&amp; python tools/build_pptx.py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