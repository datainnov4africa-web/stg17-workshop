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BANQUE AFRICAINE DE DÉVELOPPEMENT · UA STATAFRIC · STG17 · JOUR 4</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3400" b="1">
                <a:solidFill>
                  <a:srgbClr val="FFFFFF"/>
                </a:solidFill>
                <a:latin typeface="Segoe UI"/>
              </a:rPr>
              <a:t>Lumières nocturnes</a:t>
            </a:r>
          </a:p>
        </p:txBody>
      </p:sp>
      <p:sp>
        <p:nvSpPr>
          <p:cNvPr id="5" name="TextBox 4"/>
          <p:cNvSpPr txBox="1"/>
          <p:nvPr/>
        </p:nvSpPr>
        <p:spPr>
          <a:xfrm>
            <a:off x="731520" y="1874520"/>
            <a:ext cx="10728655" cy="548640"/>
          </a:xfrm>
          <a:prstGeom prst="rect">
            <a:avLst/>
          </a:prstGeom>
          <a:noFill/>
        </p:spPr>
        <p:txBody>
          <a:bodyPr wrap="square">
            <a:spAutoFit/>
          </a:bodyPr>
          <a:lstStyle/>
          <a:p>
            <a:pPr algn="l"/>
            <a:r>
              <a:rPr sz="1700" b="0">
                <a:solidFill>
                  <a:srgbClr val="DBE7E0"/>
                </a:solidFill>
                <a:latin typeface="Segoe UI"/>
              </a:rPr>
              <a:t>Ce que l'obscurité nous dit — et ce qu'elle ne dit pas</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Pourquoi un office statistique devrait s'y intéresser</a:t>
            </a:r>
          </a:p>
        </p:txBody>
      </p:sp>
      <p:sp>
        <p:nvSpPr>
          <p:cNvPr id="4" name="TextBox 3"/>
          <p:cNvSpPr txBox="1"/>
          <p:nvPr/>
        </p:nvSpPr>
        <p:spPr>
          <a:xfrm>
            <a:off x="731520" y="1371600"/>
            <a:ext cx="10728655" cy="548640"/>
          </a:xfrm>
          <a:prstGeom prst="rect">
            <a:avLst/>
          </a:prstGeom>
          <a:noFill/>
        </p:spPr>
        <p:txBody>
          <a:bodyPr wrap="square">
            <a:spAutoFit/>
          </a:bodyPr>
          <a:lstStyle/>
          <a:p>
            <a:pPr algn="l"/>
            <a:r>
              <a:rPr sz="1400" b="0">
                <a:solidFill>
                  <a:srgbClr val="33403A"/>
                </a:solidFill>
                <a:latin typeface="Segoe UI"/>
              </a:rPr>
              <a:t>Entre deux recensements, la plupart des offices statistiques africains n'ont
aucune mesure de l'activité économique à la fois  infranationale ,
 annuelle  et  comparable .</a:t>
            </a:r>
          </a:p>
        </p:txBody>
      </p:sp>
      <p:sp>
        <p:nvSpPr>
          <p:cNvPr id="5" name="TextBox 4"/>
          <p:cNvSpPr txBox="1"/>
          <p:nvPr/>
        </p:nvSpPr>
        <p:spPr>
          <a:xfrm>
            <a:off x="731520" y="1874520"/>
            <a:ext cx="10728655" cy="548640"/>
          </a:xfrm>
          <a:prstGeom prst="rect">
            <a:avLst/>
          </a:prstGeom>
          <a:noFill/>
        </p:spPr>
        <p:txBody>
          <a:bodyPr wrap="square">
            <a:spAutoFit/>
          </a:bodyPr>
          <a:lstStyle/>
          <a:p>
            <a:pPr algn="l"/>
            <a:r>
              <a:rPr sz="1400" b="0">
                <a:solidFill>
                  <a:srgbClr val="33403A"/>
                </a:solidFill>
                <a:latin typeface="Segoe UI"/>
              </a:rPr>
              <a:t>Les lumières nocturnes ne sont par nature aucune de ces choses. Mais elles sont :</a:t>
            </a:r>
          </a:p>
        </p:txBody>
      </p:sp>
      <p:sp>
        <p:nvSpPr>
          <p:cNvPr id="6" name="TextBox 5"/>
          <p:cNvSpPr txBox="1"/>
          <p:nvPr/>
        </p:nvSpPr>
        <p:spPr>
          <a:xfrm>
            <a:off x="731520" y="2377440"/>
            <a:ext cx="10728655" cy="457200"/>
          </a:xfrm>
          <a:prstGeom prst="rect">
            <a:avLst/>
          </a:prstGeom>
          <a:noFill/>
        </p:spPr>
        <p:txBody>
          <a:bodyPr wrap="square">
            <a:spAutoFit/>
          </a:bodyPr>
          <a:lstStyle/>
          <a:p>
            <a:pPr algn="l"/>
            <a:r>
              <a:rPr sz="1500" b="1">
                <a:solidFill>
                  <a:srgbClr val="1B7A43"/>
                </a:solidFill>
                <a:latin typeface="Segoe UI"/>
              </a:rPr>
              <a:t>2012→  Série continue VIIRS</a:t>
            </a:r>
          </a:p>
        </p:txBody>
      </p:sp>
      <p:sp>
        <p:nvSpPr>
          <p:cNvPr id="7" name="TextBox 6"/>
          <p:cNvSpPr txBox="1"/>
          <p:nvPr/>
        </p:nvSpPr>
        <p:spPr>
          <a:xfrm>
            <a:off x="731520" y="2926080"/>
            <a:ext cx="10728655" cy="2834640"/>
          </a:xfrm>
          <a:prstGeom prst="rect">
            <a:avLst/>
          </a:prstGeom>
          <a:noFill/>
        </p:spPr>
        <p:txBody>
          <a:bodyPr wrap="square">
            <a:spAutoFit/>
          </a:bodyPr>
          <a:lstStyle/>
          <a:p>
            <a:pPr>
              <a:spcAft>
                <a:spcPts val="700"/>
              </a:spcAft>
            </a:pPr>
            <a:r>
              <a:rPr sz="1400">
                <a:solidFill>
                  <a:srgbClr val="33403A"/>
                </a:solidFill>
                <a:latin typeface="Segoe UI"/>
              </a:rPr>
              <a:t>•  Disponibles  — chaque nuit, depuis 2012, gratuitement</a:t>
            </a:r>
          </a:p>
          <a:p>
            <a:pPr>
              <a:spcAft>
                <a:spcPts val="700"/>
              </a:spcAft>
            </a:pPr>
            <a:r>
              <a:rPr sz="1400">
                <a:solidFill>
                  <a:srgbClr val="33403A"/>
                </a:solidFill>
                <a:latin typeface="Segoe UI"/>
              </a:rPr>
              <a:t>•  Cohérentes  — le même capteur sur tout le continent</a:t>
            </a:r>
          </a:p>
          <a:p>
            <a:pPr>
              <a:spcAft>
                <a:spcPts val="700"/>
              </a:spcAft>
            </a:pPr>
            <a:r>
              <a:rPr sz="1400">
                <a:solidFill>
                  <a:srgbClr val="33403A"/>
                </a:solidFill>
                <a:latin typeface="Segoe UI"/>
              </a:rPr>
              <a:t>•  Fines  — environ 500 m, donc le niveau district est possible</a:t>
            </a:r>
          </a:p>
          <a:p>
            <a:pPr>
              <a:spcAft>
                <a:spcPts val="700"/>
              </a:spcAft>
            </a:pPr>
            <a:r>
              <a:rPr sz="1400">
                <a:solidFill>
                  <a:srgbClr val="33403A"/>
                </a:solidFill>
                <a:latin typeface="Segoe UI"/>
              </a:rPr>
              <a:t>•  Indépendantes  — non dérivées des statistiques que vous cherchez à contrôler</a:t>
            </a:r>
          </a:p>
        </p:txBody>
      </p:sp>
      <p:sp>
        <p:nvSpPr>
          <p:cNvPr id="8" name="Rectangle 7"/>
          <p:cNvSpPr/>
          <p:nvPr/>
        </p:nvSpPr>
        <p:spPr>
          <a:xfrm>
            <a:off x="731520" y="438912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LA PROPOSITION — Non pas « la lumière égale le PIB ». Plutôt : un signal spatialement détaillé et
fréquemment mis à jour, qui  corrèle  avec l'activité et les
infrastructures, dont vous pouvez mesurer la relation à vos propres chiffres
officiels — et décider ensuite de l'utiliser ou non.</a:t>
            </a:r>
          </a:p>
        </p:txBody>
      </p:sp>
      <p:sp>
        <p:nvSpPr>
          <p:cNvPr id="9" name="TextBox 8"/>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Ce que la littérature établit réellement</a:t>
            </a:r>
          </a:p>
        </p:txBody>
      </p:sp>
      <p:sp>
        <p:nvSpPr>
          <p:cNvPr id="4" name="TextBox 3"/>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PARTIE 1</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FFFFFF"/>
                </a:solidFill>
                <a:latin typeface="Segoe UI"/>
              </a:rPr>
              <a:t>D'où vient la donnée</a:t>
            </a:r>
          </a:p>
        </p:txBody>
      </p:sp>
      <p:sp>
        <p:nvSpPr>
          <p:cNvPr id="5" name="TextBox 4"/>
          <p:cNvSpPr txBox="1"/>
          <p:nvPr/>
        </p:nvSpPr>
        <p:spPr>
          <a:xfrm>
            <a:off x="731520" y="1783080"/>
            <a:ext cx="10728655" cy="548640"/>
          </a:xfrm>
          <a:prstGeom prst="rect">
            <a:avLst/>
          </a:prstGeom>
          <a:noFill/>
        </p:spPr>
        <p:txBody>
          <a:bodyPr wrap="square">
            <a:spAutoFit/>
          </a:bodyPr>
          <a:lstStyle/>
          <a:p>
            <a:pPr algn="l"/>
            <a:r>
              <a:rPr sz="1400" b="0">
                <a:solidFill>
                  <a:srgbClr val="DBE7E0"/>
                </a:solidFill>
                <a:latin typeface="Segoe UI"/>
              </a:rPr>
              <a:t>Deux instruments, trente ans, et une discontinuité à ne pas ignorer.</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Trente ans, deux instruments</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LA DISCONTINUITÉ — DMSP-OLS livre un nombre numérique 6 bits non calibré ; VIIRS livre une radiance
calibrée.  Ne raccordez jamais les deux sans harmonisation explicite  —
et si vous harmonisez, dites quelle méthode, car elles divergent. La plupart des
travaux africains publiés démarrent en 2012 pour exactement cette raison, et cet
atelier aussi.</a:t>
            </a:r>
          </a:p>
        </p:txBody>
      </p:sp>
      <p:sp>
        <p:nvSpPr>
          <p:cNvPr id="5" name="TextBox 4"/>
          <p:cNvSpPr txBox="1"/>
          <p:nvPr/>
        </p:nvSpPr>
        <p:spPr>
          <a:xfrm>
            <a:off x="731520" y="2468880"/>
            <a:ext cx="10728655" cy="640080"/>
          </a:xfrm>
          <a:prstGeom prst="rect">
            <a:avLst/>
          </a:prstGeom>
          <a:noFill/>
        </p:spPr>
        <p:txBody>
          <a:bodyPr wrap="square">
            <a:spAutoFit/>
          </a:bodyPr>
          <a:lstStyle/>
          <a:p>
            <a:pPr algn="l"/>
            <a:r>
              <a:rPr sz="1100" b="0">
                <a:solidFill>
                  <a:srgbClr val="6B7B75"/>
                </a:solidFill>
                <a:latin typeface="Segoe UI"/>
              </a:rPr>
              <a:t>FIGURE — capturez la diapositive 5 du deck HTML et collez-la ici.  (Les deux archives sont des instruments différents aux unités différentes. Ce n'est pas une seule série.)</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Quel produit, pour quelle question</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DEUX CHAÎNES DÉFENDABLES, DEUX CHIFFRES DIFFÉRENTS — Le VNP46A4 de la NASA et le VNL annuel du NOAA/EOG couvrent les mêmes années avec
un compositage et un masquage différents. Un écart de quelques pour cent entre eux
est attendu et sain.  Publier une Somme des lumières sans nommer le produit
et sa version n'est pas une statistique reproductible.</a:t>
            </a:r>
          </a:p>
        </p:txBody>
      </p:sp>
      <p:graphicFrame>
        <p:nvGraphicFramePr>
          <p:cNvPr id="5" name="Table 4"/>
          <p:cNvGraphicFramePr>
            <a:graphicFrameLocks noGrp="1"/>
          </p:cNvGraphicFramePr>
          <p:nvPr/>
        </p:nvGraphicFramePr>
        <p:xfrm>
          <a:off x="731520" y="2468880"/>
          <a:ext cx="10728655" cy="1463040"/>
        </p:xfrm>
        <a:graphic>
          <a:graphicData uri="http://schemas.openxmlformats.org/drawingml/2006/table">
            <a:tbl>
              <a:tblPr firstRow="1" bandRow="1">
                <a:tableStyleId>{5C22544A-7EE6-4342-B048-85BDC9FD1C3A}</a:tableStyleId>
              </a:tblPr>
              <a:tblGrid>
                <a:gridCol w="2682163"/>
                <a:gridCol w="2682163"/>
                <a:gridCol w="2682163"/>
                <a:gridCol w="2682166"/>
              </a:tblGrid>
              <a:tr h="292608">
                <a:tc>
                  <a:txBody>
                    <a:bodyPr/>
                    <a:lstStyle/>
                    <a:p>
                      <a:r>
                        <a:rPr sz="1000" b="1">
                          <a:solidFill>
                            <a:srgbClr val="FFFFFF"/>
                          </a:solidFill>
                          <a:latin typeface="Segoe UI"/>
                        </a:rPr>
                        <a:t>Produit</a:t>
                      </a:r>
                    </a:p>
                  </a:txBody>
                  <a:tcPr/>
                </a:tc>
                <a:tc>
                  <a:txBody>
                    <a:bodyPr/>
                    <a:lstStyle/>
                    <a:p>
                      <a:r>
                        <a:rPr sz="1000" b="1">
                          <a:solidFill>
                            <a:srgbClr val="FFFFFF"/>
                          </a:solidFill>
                          <a:latin typeface="Segoe UI"/>
                        </a:rPr>
                        <a:t>Cadence</a:t>
                      </a:r>
                    </a:p>
                  </a:txBody>
                  <a:tcPr/>
                </a:tc>
                <a:tc>
                  <a:txBody>
                    <a:bodyPr/>
                    <a:lstStyle/>
                    <a:p>
                      <a:r>
                        <a:rPr sz="1000" b="1">
                          <a:solidFill>
                            <a:srgbClr val="FFFFFF"/>
                          </a:solidFill>
                          <a:latin typeface="Segoe UI"/>
                        </a:rPr>
                        <a:t>À utiliser pour</a:t>
                      </a:r>
                    </a:p>
                  </a:txBody>
                  <a:tcPr/>
                </a:tc>
                <a:tc>
                  <a:txBody>
                    <a:bodyPr/>
                    <a:lstStyle/>
                    <a:p>
                      <a:r>
                        <a:rPr sz="1000" b="1">
                          <a:solidFill>
                            <a:srgbClr val="FFFFFF"/>
                          </a:solidFill>
                          <a:latin typeface="Segoe UI"/>
                        </a:rPr>
                        <a:t>À ne pas utiliser pour</a:t>
                      </a:r>
                    </a:p>
                  </a:txBody>
                  <a:tcPr/>
                </a:tc>
              </a:tr>
              <a:tr h="292608">
                <a:tc>
                  <a:txBody>
                    <a:bodyPr/>
                    <a:lstStyle/>
                    <a:p>
                      <a:r>
                        <a:rPr sz="1000" b="0">
                          <a:solidFill>
                            <a:srgbClr val="33403A"/>
                          </a:solidFill>
                          <a:latin typeface="Segoe UI"/>
                        </a:rPr>
                        <a:t>VNP46A2  Black Marble journalier</a:t>
                      </a:r>
                    </a:p>
                  </a:txBody>
                  <a:tcPr/>
                </a:tc>
                <a:tc>
                  <a:txBody>
                    <a:bodyPr/>
                    <a:lstStyle/>
                    <a:p>
                      <a:r>
                        <a:rPr sz="1000" b="0">
                          <a:solidFill>
                            <a:srgbClr val="33403A"/>
                          </a:solidFill>
                          <a:latin typeface="Segoe UI"/>
                        </a:rPr>
                        <a:t>Journalier</a:t>
                      </a:r>
                    </a:p>
                  </a:txBody>
                  <a:tcPr/>
                </a:tc>
                <a:tc>
                  <a:txBody>
                    <a:bodyPr/>
                    <a:lstStyle/>
                    <a:p>
                      <a:r>
                        <a:rPr sz="1000" b="0">
                          <a:solidFill>
                            <a:srgbClr val="33403A"/>
                          </a:solidFill>
                          <a:latin typeface="Segoe UI"/>
                        </a:rPr>
                        <a:t>Suivi de crise et de conflit ; une nuit précise ; détection de coupures</a:t>
                      </a:r>
                    </a:p>
                  </a:txBody>
                  <a:tcPr/>
                </a:tc>
                <a:tc>
                  <a:txBody>
                    <a:bodyPr/>
                    <a:lstStyle/>
                    <a:p>
                      <a:r>
                        <a:rPr sz="1000" b="0">
                          <a:solidFill>
                            <a:srgbClr val="33403A"/>
                          </a:solidFill>
                          <a:latin typeface="Segoe UI"/>
                        </a:rPr>
                        <a:t>Toute tendance — le bruit quotidien domine</a:t>
                      </a:r>
                    </a:p>
                  </a:txBody>
                  <a:tcPr/>
                </a:tc>
              </a:tr>
              <a:tr h="292608">
                <a:tc>
                  <a:txBody>
                    <a:bodyPr/>
                    <a:lstStyle/>
                    <a:p>
                      <a:r>
                        <a:rPr sz="1000" b="0">
                          <a:solidFill>
                            <a:srgbClr val="33403A"/>
                          </a:solidFill>
                          <a:latin typeface="Segoe UI"/>
                        </a:rPr>
                        <a:t>VNP46A3  Black Marble mensuel</a:t>
                      </a:r>
                    </a:p>
                  </a:txBody>
                  <a:tcPr/>
                </a:tc>
                <a:tc>
                  <a:txBody>
                    <a:bodyPr/>
                    <a:lstStyle/>
                    <a:p>
                      <a:r>
                        <a:rPr sz="1000" b="0">
                          <a:solidFill>
                            <a:srgbClr val="33403A"/>
                          </a:solidFill>
                          <a:latin typeface="Segoe UI"/>
                        </a:rPr>
                        <a:t>Mensuel</a:t>
                      </a:r>
                    </a:p>
                  </a:txBody>
                  <a:tcPr/>
                </a:tc>
                <a:tc>
                  <a:txBody>
                    <a:bodyPr/>
                    <a:lstStyle/>
                    <a:p>
                      <a:r>
                        <a:rPr sz="1000" b="0">
                          <a:solidFill>
                            <a:srgbClr val="33403A"/>
                          </a:solidFill>
                          <a:latin typeface="Segoe UI"/>
                        </a:rPr>
                        <a:t>Saisonnalité ; dynamique infra-annuelle ; effets harmattan et mousson</a:t>
                      </a:r>
                    </a:p>
                  </a:txBody>
                  <a:tcPr/>
                </a:tc>
                <a:tc>
                  <a:txBody>
                    <a:bodyPr/>
                    <a:lstStyle/>
                    <a:p>
                      <a:r>
                        <a:rPr sz="1000" b="0">
                          <a:solidFill>
                            <a:srgbClr val="33403A"/>
                          </a:solidFill>
                          <a:latin typeface="Segoe UI"/>
                        </a:rPr>
                        <a:t>Comparer des mois différents comme s'ils étaient équivalents</a:t>
                      </a:r>
                    </a:p>
                  </a:txBody>
                  <a:tcPr/>
                </a:tc>
              </a:tr>
              <a:tr h="292608">
                <a:tc>
                  <a:txBody>
                    <a:bodyPr/>
                    <a:lstStyle/>
                    <a:p>
                      <a:r>
                        <a:rPr sz="1000" b="0">
                          <a:solidFill>
                            <a:srgbClr val="33403A"/>
                          </a:solidFill>
                          <a:latin typeface="Segoe UI"/>
                        </a:rPr>
                        <a:t>VNP46A4  Black Marble annuel</a:t>
                      </a:r>
                    </a:p>
                  </a:txBody>
                  <a:tcPr/>
                </a:tc>
                <a:tc>
                  <a:txBody>
                    <a:bodyPr/>
                    <a:lstStyle/>
                    <a:p>
                      <a:r>
                        <a:rPr sz="1000" b="0">
                          <a:solidFill>
                            <a:srgbClr val="33403A"/>
                          </a:solidFill>
                          <a:latin typeface="Segoe UI"/>
                        </a:rPr>
                        <a:t>Annuel</a:t>
                      </a:r>
                    </a:p>
                  </a:txBody>
                  <a:tcPr/>
                </a:tc>
                <a:tc>
                  <a:txBody>
                    <a:bodyPr/>
                    <a:lstStyle/>
                    <a:p>
                      <a:r>
                        <a:rPr sz="1000" b="0">
                          <a:solidFill>
                            <a:srgbClr val="33403A"/>
                          </a:solidFill>
                          <a:latin typeface="Segoe UI"/>
                        </a:rPr>
                        <a:t>La valeur par défaut statistique.  Séries infranationales annuelles</a:t>
                      </a:r>
                    </a:p>
                  </a:txBody>
                  <a:tcPr/>
                </a:tc>
                <a:tc>
                  <a:txBody>
                    <a:bodyPr/>
                    <a:lstStyle/>
                    <a:p>
                      <a:r>
                        <a:rPr sz="1000" b="0">
                          <a:solidFill>
                            <a:srgbClr val="33403A"/>
                          </a:solidFill>
                          <a:latin typeface="Segoe UI"/>
                        </a:rPr>
                        <a:t>Quoi que ce soit d'infra-annuel</a:t>
                      </a:r>
                    </a:p>
                  </a:txBody>
                  <a:tcPr/>
                </a:tc>
              </a:tr>
              <a:tr h="292608">
                <a:tc>
                  <a:txBody>
                    <a:bodyPr/>
                    <a:lstStyle/>
                    <a:p>
                      <a:r>
                        <a:rPr sz="1000" b="0">
                          <a:solidFill>
                            <a:srgbClr val="33403A"/>
                          </a:solidFill>
                          <a:latin typeface="Segoe UI"/>
                        </a:rPr>
                        <a:t>VNL annuel EOG  via Earth Engine</a:t>
                      </a:r>
                    </a:p>
                  </a:txBody>
                  <a:tcPr/>
                </a:tc>
                <a:tc>
                  <a:txBody>
                    <a:bodyPr/>
                    <a:lstStyle/>
                    <a:p>
                      <a:r>
                        <a:rPr sz="1000" b="0">
                          <a:solidFill>
                            <a:srgbClr val="33403A"/>
                          </a:solidFill>
                          <a:latin typeface="Segoe UI"/>
                        </a:rPr>
                        <a:t>Annuel</a:t>
                      </a:r>
                    </a:p>
                  </a:txBody>
                  <a:tcPr/>
                </a:tc>
                <a:tc>
                  <a:txBody>
                    <a:bodyPr/>
                    <a:lstStyle/>
                    <a:p>
                      <a:r>
                        <a:rPr sz="1000" b="0">
                          <a:solidFill>
                            <a:srgbClr val="33403A"/>
                          </a:solidFill>
                          <a:latin typeface="Segoe UI"/>
                        </a:rPr>
                        <a:t>Le même travail sans aucun téléchargement</a:t>
                      </a:r>
                    </a:p>
                  </a:txBody>
                  <a:tcPr/>
                </a:tc>
                <a:tc>
                  <a:txBody>
                    <a:bodyPr/>
                    <a:lstStyle/>
                    <a:p>
                      <a:r>
                        <a:rPr sz="1000" b="0">
                          <a:solidFill>
                            <a:srgbClr val="33403A"/>
                          </a:solidFill>
                          <a:latin typeface="Segoe UI"/>
                        </a:rPr>
                        <a:t>Supposer qu'il égale le VNP46A4 — ce n'est pas le cas</a:t>
                      </a:r>
                    </a:p>
                  </a:txBody>
                  <a:tcPr/>
                </a:tc>
              </a:tr>
            </a:tbl>
          </a:graphicData>
        </a:graphic>
      </p:graphicFrame>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Où l'obtenir concrètement — quatre voies, toutes gratuites</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GRATUIT À OBTENIR N'EST PAS LIBRE D'USAGE — Black Marble et le VNL sont des produits du gouvernement américain, de fait dans
le domaine public : un indicateur national dérivé peut donc porter la licence
ouverte de votre office. Ce n'est  pas  vrai de toutes les sources de la
semaine — les données Ookla de mercredi sont en CC BY-NC-SA 4.0, et le « pas
d'usage commercial » comme le « partage à l'identique » se propagent à tout ce que
vous en dérivez.</a:t>
            </a:r>
          </a:p>
        </p:txBody>
      </p:sp>
      <p:graphicFrame>
        <p:nvGraphicFramePr>
          <p:cNvPr id="5" name="Table 4"/>
          <p:cNvGraphicFramePr>
            <a:graphicFrameLocks noGrp="1"/>
          </p:cNvGraphicFramePr>
          <p:nvPr/>
        </p:nvGraphicFramePr>
        <p:xfrm>
          <a:off x="731520" y="2468880"/>
          <a:ext cx="10728655" cy="1463040"/>
        </p:xfrm>
        <a:graphic>
          <a:graphicData uri="http://schemas.openxmlformats.org/drawingml/2006/table">
            <a:tbl>
              <a:tblPr firstRow="1" bandRow="1">
                <a:tableStyleId>{5C22544A-7EE6-4342-B048-85BDC9FD1C3A}</a:tableStyleId>
              </a:tblPr>
              <a:tblGrid>
                <a:gridCol w="2682163"/>
                <a:gridCol w="2682163"/>
                <a:gridCol w="2682163"/>
                <a:gridCol w="2682166"/>
              </a:tblGrid>
              <a:tr h="292608">
                <a:tc>
                  <a:txBody>
                    <a:bodyPr/>
                    <a:lstStyle/>
                    <a:p>
                      <a:r>
                        <a:rPr sz="1000" b="1">
                          <a:solidFill>
                            <a:srgbClr val="FFFFFF"/>
                          </a:solidFill>
                          <a:latin typeface="Segoe UI"/>
                        </a:rPr>
                        <a:t>Voie</a:t>
                      </a:r>
                    </a:p>
                  </a:txBody>
                  <a:tcPr/>
                </a:tc>
                <a:tc>
                  <a:txBody>
                    <a:bodyPr/>
                    <a:lstStyle/>
                    <a:p>
                      <a:r>
                        <a:rPr sz="1000" b="1">
                          <a:solidFill>
                            <a:srgbClr val="FFFFFF"/>
                          </a:solidFill>
                          <a:latin typeface="Segoe UI"/>
                        </a:rPr>
                        <a:t>Ce qu'elle donne</a:t>
                      </a:r>
                    </a:p>
                  </a:txBody>
                  <a:tcPr/>
                </a:tc>
                <a:tc>
                  <a:txBody>
                    <a:bodyPr/>
                    <a:lstStyle/>
                    <a:p>
                      <a:r>
                        <a:rPr sz="1000" b="1">
                          <a:solidFill>
                            <a:srgbClr val="FFFFFF"/>
                          </a:solidFill>
                          <a:latin typeface="Segoe UI"/>
                        </a:rPr>
                        <a:t>Ce qu'elle exige</a:t>
                      </a:r>
                    </a:p>
                  </a:txBody>
                  <a:tcPr/>
                </a:tc>
                <a:tc>
                  <a:txBody>
                    <a:bodyPr/>
                    <a:lstStyle/>
                    <a:p>
                      <a:r>
                        <a:rPr sz="1000" b="1">
                          <a:solidFill>
                            <a:srgbClr val="FFFFFF"/>
                          </a:solidFill>
                          <a:latin typeface="Segoe UI"/>
                        </a:rPr>
                        <a:t>Quand la préférer</a:t>
                      </a:r>
                    </a:p>
                  </a:txBody>
                  <a:tcPr/>
                </a:tc>
              </a:tr>
              <a:tr h="292608">
                <a:tc>
                  <a:txBody>
                    <a:bodyPr/>
                    <a:lstStyle/>
                    <a:p>
                      <a:r>
                        <a:rPr sz="1000" b="0">
                          <a:solidFill>
                            <a:srgbClr val="33403A"/>
                          </a:solidFill>
                          <a:latin typeface="Segoe UI"/>
                        </a:rPr>
                        <a:t>NASA LAADS DAAC   ladsweb.modaps.eosdis.nasa.gov</a:t>
                      </a:r>
                    </a:p>
                  </a:txBody>
                  <a:tcPr/>
                </a:tc>
                <a:tc>
                  <a:txBody>
                    <a:bodyPr/>
                    <a:lstStyle/>
                    <a:p>
                      <a:r>
                        <a:rPr sz="1000" b="0">
                          <a:solidFill>
                            <a:srgbClr val="33403A"/>
                          </a:solidFill>
                          <a:latin typeface="Segoe UI"/>
                        </a:rPr>
                        <a:t>Black Marble VNP46A1-A4, la source faisant autorité</a:t>
                      </a:r>
                    </a:p>
                  </a:txBody>
                  <a:tcPr/>
                </a:tc>
                <a:tc>
                  <a:txBody>
                    <a:bodyPr/>
                    <a:lstStyle/>
                    <a:p>
                      <a:r>
                        <a:rPr sz="1000" b="0">
                          <a:solidFill>
                            <a:srgbClr val="33403A"/>
                          </a:solidFill>
                          <a:latin typeface="Segoe UI"/>
                        </a:rPr>
                        <a:t>Compte Earthdata gratuit + jeton porteur</a:t>
                      </a:r>
                    </a:p>
                  </a:txBody>
                  <a:tcPr/>
                </a:tc>
                <a:tc>
                  <a:txBody>
                    <a:bodyPr/>
                    <a:lstStyle/>
                    <a:p>
                      <a:r>
                        <a:rPr sz="1000" b="0">
                          <a:solidFill>
                            <a:srgbClr val="33403A"/>
                          </a:solidFill>
                          <a:latin typeface="Segoe UI"/>
                        </a:rPr>
                        <a:t>Vous voulez le produit de référence et pouvez assumer le téléchargement</a:t>
                      </a:r>
                    </a:p>
                  </a:txBody>
                  <a:tcPr/>
                </a:tc>
              </a:tr>
              <a:tr h="292608">
                <a:tc>
                  <a:txBody>
                    <a:bodyPr/>
                    <a:lstStyle/>
                    <a:p>
                      <a:r>
                        <a:rPr sz="1000" b="0">
                          <a:solidFill>
                            <a:srgbClr val="33403A"/>
                          </a:solidFill>
                          <a:latin typeface="Segoe UI"/>
                        </a:rPr>
                        <a:t>Earth Observation Group   eogdata.mines.edu/products/vnl</a:t>
                      </a:r>
                    </a:p>
                  </a:txBody>
                  <a:tcPr/>
                </a:tc>
                <a:tc>
                  <a:txBody>
                    <a:bodyPr/>
                    <a:lstStyle/>
                    <a:p>
                      <a:r>
                        <a:rPr sz="1000" b="0">
                          <a:solidFill>
                            <a:srgbClr val="33403A"/>
                          </a:solidFill>
                          <a:latin typeface="Segoe UI"/>
                        </a:rPr>
                        <a:t>VNL annuel EOG v2, et le relevé des torchères</a:t>
                      </a:r>
                    </a:p>
                  </a:txBody>
                  <a:tcPr/>
                </a:tc>
                <a:tc>
                  <a:txBody>
                    <a:bodyPr/>
                    <a:lstStyle/>
                    <a:p>
                      <a:r>
                        <a:rPr sz="1000" b="0">
                          <a:solidFill>
                            <a:srgbClr val="33403A"/>
                          </a:solidFill>
                          <a:latin typeface="Segoe UI"/>
                        </a:rPr>
                        <a:t>Inscription gratuite</a:t>
                      </a:r>
                    </a:p>
                  </a:txBody>
                  <a:tcPr/>
                </a:tc>
                <a:tc>
                  <a:txBody>
                    <a:bodyPr/>
                    <a:lstStyle/>
                    <a:p>
                      <a:r>
                        <a:rPr sz="1000" b="0">
                          <a:solidFill>
                            <a:srgbClr val="33403A"/>
                          </a:solidFill>
                          <a:latin typeface="Segoe UI"/>
                        </a:rPr>
                        <a:t>Vous voulez une série annuelle prête à l'emploi, ou un masque de torchères</a:t>
                      </a:r>
                    </a:p>
                  </a:txBody>
                  <a:tcPr/>
                </a:tc>
              </a:tr>
              <a:tr h="292608">
                <a:tc>
                  <a:txBody>
                    <a:bodyPr/>
                    <a:lstStyle/>
                    <a:p>
                      <a:r>
                        <a:rPr sz="1000" b="0">
                          <a:solidFill>
                            <a:srgbClr val="33403A"/>
                          </a:solidFill>
                          <a:latin typeface="Segoe UI"/>
                        </a:rPr>
                        <a:t>Google Earth Engine   NOAA/VIIRS/DNB/ANNUAL_V22</a:t>
                      </a:r>
                    </a:p>
                  </a:txBody>
                  <a:tcPr/>
                </a:tc>
                <a:tc>
                  <a:txBody>
                    <a:bodyPr/>
                    <a:lstStyle/>
                    <a:p>
                      <a:r>
                        <a:rPr sz="1000" b="0">
                          <a:solidFill>
                            <a:srgbClr val="33403A"/>
                          </a:solidFill>
                          <a:latin typeface="Segoe UI"/>
                        </a:rPr>
                        <a:t>La même série, calculée côté serveur</a:t>
                      </a:r>
                    </a:p>
                  </a:txBody>
                  <a:tcPr/>
                </a:tc>
                <a:tc>
                  <a:txBody>
                    <a:bodyPr/>
                    <a:lstStyle/>
                    <a:p>
                      <a:r>
                        <a:rPr sz="1000" b="0">
                          <a:solidFill>
                            <a:srgbClr val="33403A"/>
                          </a:solidFill>
                          <a:latin typeface="Segoe UI"/>
                        </a:rPr>
                        <a:t>Compte non commercial gratuit + projet Cloud</a:t>
                      </a:r>
                    </a:p>
                  </a:txBody>
                  <a:tcPr/>
                </a:tc>
                <a:tc>
                  <a:txBody>
                    <a:bodyPr/>
                    <a:lstStyle/>
                    <a:p>
                      <a:r>
                        <a:rPr sz="1000" b="0">
                          <a:solidFill>
                            <a:srgbClr val="33403A"/>
                          </a:solidFill>
                          <a:latin typeface="Segoe UI"/>
                        </a:rPr>
                        <a:t>La bande passante est votre contrainte  — rien n'est téléchargé</a:t>
                      </a:r>
                    </a:p>
                  </a:txBody>
                  <a:tcPr/>
                </a:tc>
              </a:tr>
              <a:tr h="292608">
                <a:tc>
                  <a:txBody>
                    <a:bodyPr/>
                    <a:lstStyle/>
                    <a:p>
                      <a:r>
                        <a:rPr sz="1000" b="0">
                          <a:solidFill>
                            <a:srgbClr val="33403A"/>
                          </a:solidFill>
                          <a:latin typeface="Segoe UI"/>
                        </a:rPr>
                        <a:t>Banque mondiale « Light Every Night »  AWS Registry of Open Data</a:t>
                      </a:r>
                    </a:p>
                  </a:txBody>
                  <a:tcPr/>
                </a:tc>
                <a:tc>
                  <a:txBody>
                    <a:bodyPr/>
                    <a:lstStyle/>
                    <a:p>
                      <a:r>
                        <a:rPr sz="1000" b="0">
                          <a:solidFill>
                            <a:srgbClr val="33403A"/>
                          </a:solidFill>
                          <a:latin typeface="Segoe UI"/>
                        </a:rPr>
                        <a:t>L'archive nocturne complète depuis 1992, prête à l'analyse</a:t>
                      </a:r>
                    </a:p>
                  </a:txBody>
                  <a:tcPr/>
                </a:tc>
                <a:tc>
                  <a:txBody>
                    <a:bodyPr/>
                    <a:lstStyle/>
                    <a:p>
                      <a:r>
                        <a:rPr sz="1000" b="0">
                          <a:solidFill>
                            <a:srgbClr val="33403A"/>
                          </a:solidFill>
                          <a:latin typeface="Segoe UI"/>
                        </a:rPr>
                        <a:t>Rien — aucun compte</a:t>
                      </a:r>
                    </a:p>
                  </a:txBody>
                  <a:tcPr/>
                </a:tc>
                <a:tc>
                  <a:txBody>
                    <a:bodyPr/>
                    <a:lstStyle/>
                    <a:p>
                      <a:r>
                        <a:rPr sz="1000" b="0">
                          <a:solidFill>
                            <a:srgbClr val="33403A"/>
                          </a:solidFill>
                          <a:latin typeface="Segoe UI"/>
                        </a:rPr>
                        <a:t>Vous avez besoin des années DMSP, ou d'une chaîne sans authentification</a:t>
                      </a:r>
                    </a:p>
                  </a:txBody>
                  <a:tcPr/>
                </a:tc>
              </a:tr>
            </a:tbl>
          </a:graphicData>
        </a:graphic>
      </p:graphicFrame>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PARTIE 2</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FFFFFF"/>
                </a:solidFill>
                <a:latin typeface="Segoe UI"/>
              </a:rPr>
              <a:t>De la radiance à un indicateur</a:t>
            </a:r>
          </a:p>
        </p:txBody>
      </p:sp>
      <p:sp>
        <p:nvSpPr>
          <p:cNvPr id="5" name="TextBox 4"/>
          <p:cNvSpPr txBox="1"/>
          <p:nvPr/>
        </p:nvSpPr>
        <p:spPr>
          <a:xfrm>
            <a:off x="731520" y="1783080"/>
            <a:ext cx="10728655" cy="548640"/>
          </a:xfrm>
          <a:prstGeom prst="rect">
            <a:avLst/>
          </a:prstGeom>
          <a:noFill/>
        </p:spPr>
        <p:txBody>
          <a:bodyPr wrap="square">
            <a:spAutoFit/>
          </a:bodyPr>
          <a:lstStyle/>
          <a:p>
            <a:pPr algn="l"/>
            <a:r>
              <a:rPr sz="1400" b="0">
                <a:solidFill>
                  <a:srgbClr val="DBE7E0"/>
                </a:solidFill>
                <a:latin typeface="Segoe UI"/>
              </a:rPr>
              <a:t>Les cinq étapes que vous exécuterez ce matin et cet après-midi.</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La chaîne, de bout en bout</a:t>
            </a:r>
          </a:p>
        </p:txBody>
      </p:sp>
      <p:sp>
        <p:nvSpPr>
          <p:cNvPr id="4" name="TextBox 3"/>
          <p:cNvSpPr txBox="1"/>
          <p:nvPr/>
        </p:nvSpPr>
        <p:spPr>
          <a:xfrm>
            <a:off x="731520" y="1371600"/>
            <a:ext cx="10728655" cy="640080"/>
          </a:xfrm>
          <a:prstGeom prst="rect">
            <a:avLst/>
          </a:prstGeom>
          <a:noFill/>
        </p:spPr>
        <p:txBody>
          <a:bodyPr wrap="square">
            <a:spAutoFit/>
          </a:bodyPr>
          <a:lstStyle/>
          <a:p>
            <a:pPr algn="l"/>
            <a:r>
              <a:rPr sz="1100" b="0">
                <a:solidFill>
                  <a:srgbClr val="6B7B75"/>
                </a:solidFill>
                <a:latin typeface="Segoe UI"/>
              </a:rPr>
              <a:t>FIGURE — capturez la diapositive 9 du deck HTML et collez-la ici.  (L'étape 5 n'est pas une formalité. C'est elle qui décide si votre pays peut diffuser ceci.)</a:t>
            </a:r>
          </a:p>
        </p:txBody>
      </p:sp>
      <p:sp>
        <p:nvSpPr>
          <p:cNvPr id="5" name="TextBox 4"/>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Trois nombres, trois questions différentes</a:t>
            </a:r>
          </a:p>
        </p:txBody>
      </p:sp>
      <p:sp>
        <p:nvSpPr>
          <p:cNvPr id="4" name="TextBox 3"/>
          <p:cNvSpPr txBox="1"/>
          <p:nvPr/>
        </p:nvSpPr>
        <p:spPr>
          <a:xfrm>
            <a:off x="731520" y="1371600"/>
            <a:ext cx="10728655" cy="548640"/>
          </a:xfrm>
          <a:prstGeom prst="rect">
            <a:avLst/>
          </a:prstGeom>
          <a:noFill/>
        </p:spPr>
        <p:txBody>
          <a:bodyPr wrap="square">
            <a:spAutoFit/>
          </a:bodyPr>
          <a:lstStyle/>
          <a:p>
            <a:pPr algn="l"/>
            <a:r>
              <a:rPr sz="1400" b="0">
                <a:solidFill>
                  <a:srgbClr val="33403A"/>
                </a:solidFill>
                <a:latin typeface="Segoe UI"/>
              </a:rPr>
              <a:t>Radiance totale sur une zone.</a:t>
            </a:r>
          </a:p>
        </p:txBody>
      </p:sp>
      <p:sp>
        <p:nvSpPr>
          <p:cNvPr id="5" name="TextBox 4"/>
          <p:cNvSpPr txBox="1"/>
          <p:nvPr/>
        </p:nvSpPr>
        <p:spPr>
          <a:xfrm>
            <a:off x="731520" y="1874520"/>
            <a:ext cx="10728655" cy="548640"/>
          </a:xfrm>
          <a:prstGeom prst="rect">
            <a:avLst/>
          </a:prstGeom>
          <a:noFill/>
        </p:spPr>
        <p:txBody>
          <a:bodyPr wrap="square">
            <a:spAutoFit/>
          </a:bodyPr>
          <a:lstStyle/>
          <a:p>
            <a:pPr algn="l"/>
            <a:r>
              <a:rPr sz="1400" b="0">
                <a:solidFill>
                  <a:srgbClr val="33403A"/>
                </a:solidFill>
                <a:latin typeface="Segoe UI"/>
              </a:rPr>
              <a:t>Répond à :  quelle quantité
d'activité éclairée ?  Croît quand les lieux existants s'éclairent
 et  quand de nouveaux lieux s'allument. Dominée par les villes.</a:t>
            </a:r>
          </a:p>
        </p:txBody>
      </p:sp>
      <p:sp>
        <p:nvSpPr>
          <p:cNvPr id="6" name="TextBox 5"/>
          <p:cNvSpPr txBox="1"/>
          <p:nvPr/>
        </p:nvSpPr>
        <p:spPr>
          <a:xfrm>
            <a:off x="731520" y="2377440"/>
            <a:ext cx="10728655" cy="548640"/>
          </a:xfrm>
          <a:prstGeom prst="rect">
            <a:avLst/>
          </a:prstGeom>
          <a:noFill/>
        </p:spPr>
        <p:txBody>
          <a:bodyPr wrap="square">
            <a:spAutoFit/>
          </a:bodyPr>
          <a:lstStyle/>
          <a:p>
            <a:pPr algn="l"/>
            <a:r>
              <a:rPr sz="1400" b="0">
                <a:solidFill>
                  <a:srgbClr val="33403A"/>
                </a:solidFill>
                <a:latin typeface="Segoe UI"/>
              </a:rPr>
              <a:t>Part du territoire au-dessus d'un seuil.</a:t>
            </a:r>
          </a:p>
        </p:txBody>
      </p:sp>
      <p:sp>
        <p:nvSpPr>
          <p:cNvPr id="7" name="Rectangle 6"/>
          <p:cNvSpPr/>
          <p:nvPr/>
        </p:nvSpPr>
        <p:spPr>
          <a:xfrm>
            <a:off x="731520" y="288036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POURQUOI LES TROIS — Un pays peut afficher une Somme des lumières en hausse tandis que sa superficie
éclairée stagne et que son inégalité s'aggrave — c'est-à-dire que la capitale a
grandi et le reste non. Un seul nombre masque cela. Trois nombres le montrent, et
le troisième est celui qui change l'endroit où l'on placerait un investissement.</a:t>
            </a:r>
          </a:p>
        </p:txBody>
      </p:sp>
      <p:sp>
        <p:nvSpPr>
          <p:cNvPr id="8" name="Rectangle 7"/>
          <p:cNvSpPr/>
          <p:nvPr/>
        </p:nvSpPr>
        <p:spPr>
          <a:xfrm>
            <a:off x="731520" y="397764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LE SEUIL EST UNE DÉCISION, PAS UN FAIT — La « superficie éclairée » bouge quand on bouge le seuil. À 0,1 nW·cm⁻²·sr⁻¹ un
pays peut être éclairé à 40 % ; à 5,0, à 6 %.  Publiez le seuil à côté du
nombre, systématiquement.</a:t>
            </a:r>
          </a:p>
        </p:txBody>
      </p:sp>
      <p:sp>
        <p:nvSpPr>
          <p:cNvPr id="9" name="TextBox 8"/>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PARTIE 3</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FFFFFF"/>
                </a:solidFill>
                <a:latin typeface="Segoe UI"/>
              </a:rPr>
              <a:t>Les six artefacts</a:t>
            </a:r>
          </a:p>
        </p:txBody>
      </p:sp>
      <p:sp>
        <p:nvSpPr>
          <p:cNvPr id="5" name="TextBox 4"/>
          <p:cNvSpPr txBox="1"/>
          <p:nvPr/>
        </p:nvSpPr>
        <p:spPr>
          <a:xfrm>
            <a:off x="731520" y="1783080"/>
            <a:ext cx="10728655" cy="548640"/>
          </a:xfrm>
          <a:prstGeom prst="rect">
            <a:avLst/>
          </a:prstGeom>
          <a:noFill/>
        </p:spPr>
        <p:txBody>
          <a:bodyPr wrap="square">
            <a:spAutoFit/>
          </a:bodyPr>
          <a:lstStyle/>
          <a:p>
            <a:pPr algn="l"/>
            <a:r>
              <a:rPr sz="1400" b="0">
                <a:solidFill>
                  <a:srgbClr val="DBE7E0"/>
                </a:solidFill>
                <a:latin typeface="Segoe UI"/>
              </a:rPr>
              <a:t>Nommés ici. Rencontrés concrètement à 10h30, dans le raster de votre pays.</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9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FFFFFF"/>
                </a:solidFill>
                <a:latin typeface="Segoe UI"/>
              </a:rPr>
              <a:t>Ce que le capteur voit et que vous n'avez pas demandé</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PLUS DEUX QUE VOUS NE VERREZ PAS AUJOURD'HUI — Saisonnalité  — nuages, aérosols, clair de lune et poussière
d'harmattan déplacent les séries mensuelles ; les composites annuels le masquent.
 Discontinuité de capteur  — le raccord DMSP/VIIRS, vu plus haut.</a:t>
            </a:r>
          </a:p>
        </p:txBody>
      </p:sp>
      <p:sp>
        <p:nvSpPr>
          <p:cNvPr id="5" name="TextBox 4"/>
          <p:cNvSpPr txBox="1"/>
          <p:nvPr/>
        </p:nvSpPr>
        <p:spPr>
          <a:xfrm>
            <a:off x="731520" y="2468880"/>
            <a:ext cx="10728655" cy="640080"/>
          </a:xfrm>
          <a:prstGeom prst="rect">
            <a:avLst/>
          </a:prstGeom>
          <a:noFill/>
        </p:spPr>
        <p:txBody>
          <a:bodyPr wrap="square">
            <a:spAutoFit/>
          </a:bodyPr>
          <a:lstStyle/>
          <a:p>
            <a:pPr algn="l"/>
            <a:r>
              <a:rPr sz="1100" b="0">
                <a:solidFill>
                  <a:srgbClr val="6B7B75"/>
                </a:solidFill>
                <a:latin typeface="Segoe UI"/>
              </a:rPr>
              <a:t>FIGURE — capturez la diapositive 12 du deck HTML et collez-la ici.</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Trois façons dont une étude de lumières nocturnes se trompe</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AUCUN DE CES CAS N'EST VISIBLE DANS LE TABLEAU DE SORTIE — Les trois produisent un nombre bien formaté et plausible. C'est pourquoi le
laboratoire d'exploration précède le laboratoire d'analyse, et pourquoi
l'inventaire des artefacts est un livrable et non un supplément optionnel.</a:t>
            </a:r>
          </a:p>
        </p:txBody>
      </p:sp>
      <p:graphicFrame>
        <p:nvGraphicFramePr>
          <p:cNvPr id="5" name="Table 4"/>
          <p:cNvGraphicFramePr>
            <a:graphicFrameLocks noGrp="1"/>
          </p:cNvGraphicFramePr>
          <p:nvPr/>
        </p:nvGraphicFramePr>
        <p:xfrm>
          <a:off x="731520" y="2468880"/>
          <a:ext cx="10728655" cy="1170432"/>
        </p:xfrm>
        <a:graphic>
          <a:graphicData uri="http://schemas.openxmlformats.org/drawingml/2006/table">
            <a:tbl>
              <a:tblPr firstRow="1" bandRow="1">
                <a:tableStyleId>{5C22544A-7EE6-4342-B048-85BDC9FD1C3A}</a:tableStyleId>
              </a:tblPr>
              <a:tblGrid>
                <a:gridCol w="3576218"/>
                <a:gridCol w="3576218"/>
                <a:gridCol w="3576219"/>
              </a:tblGrid>
              <a:tr h="292608">
                <a:tc>
                  <a:txBody>
                    <a:bodyPr/>
                    <a:lstStyle/>
                    <a:p>
                      <a:r>
                        <a:rPr sz="1000" b="1">
                          <a:solidFill>
                            <a:srgbClr val="FFFFFF"/>
                          </a:solidFill>
                          <a:latin typeface="Segoe UI"/>
                        </a:rPr>
                        <a:t>L'affirmation</a:t>
                      </a:r>
                    </a:p>
                  </a:txBody>
                  <a:tcPr/>
                </a:tc>
                <a:tc>
                  <a:txBody>
                    <a:bodyPr/>
                    <a:lstStyle/>
                    <a:p>
                      <a:r>
                        <a:rPr sz="1000" b="1">
                          <a:solidFill>
                            <a:srgbClr val="FFFFFF"/>
                          </a:solidFill>
                          <a:latin typeface="Segoe UI"/>
                        </a:rPr>
                        <a:t>Ce qui s'est réellement passé</a:t>
                      </a:r>
                    </a:p>
                  </a:txBody>
                  <a:tcPr/>
                </a:tc>
                <a:tc>
                  <a:txBody>
                    <a:bodyPr/>
                    <a:lstStyle/>
                    <a:p>
                      <a:r>
                        <a:rPr sz="1000" b="1">
                          <a:solidFill>
                            <a:srgbClr val="FFFFFF"/>
                          </a:solidFill>
                          <a:latin typeface="Segoe UI"/>
                        </a:rPr>
                        <a:t>Le contrôle qui l'aurait détecté</a:t>
                      </a:r>
                    </a:p>
                  </a:txBody>
                  <a:tcPr/>
                </a:tc>
              </a:tr>
              <a:tr h="292608">
                <a:tc>
                  <a:txBody>
                    <a:bodyPr/>
                    <a:lstStyle/>
                    <a:p>
                      <a:r>
                        <a:rPr sz="1000" b="0">
                          <a:solidFill>
                            <a:srgbClr val="33403A"/>
                          </a:solidFill>
                          <a:latin typeface="Segoe UI"/>
                        </a:rPr>
                        <a:t>« Le PIB régional a crû de 40 % en un an »</a:t>
                      </a:r>
                    </a:p>
                  </a:txBody>
                  <a:tcPr/>
                </a:tc>
                <a:tc>
                  <a:txBody>
                    <a:bodyPr/>
                    <a:lstStyle/>
                    <a:p>
                      <a:r>
                        <a:rPr sz="1000" b="0">
                          <a:solidFill>
                            <a:srgbClr val="33403A"/>
                          </a:solidFill>
                          <a:latin typeface="Segoe UI"/>
                        </a:rPr>
                        <a:t>Il manquait une tuile satellite à l'année précédente — deux tiers du territoire</a:t>
                      </a:r>
                    </a:p>
                  </a:txBody>
                  <a:tcPr/>
                </a:tc>
                <a:tc>
                  <a:txBody>
                    <a:bodyPr/>
                    <a:lstStyle/>
                    <a:p>
                      <a:r>
                        <a:rPr sz="1000" b="0">
                          <a:solidFill>
                            <a:srgbClr val="33403A"/>
                          </a:solidFill>
                          <a:latin typeface="Segoe UI"/>
                        </a:rPr>
                        <a:t>L'audit de complétude, étape 3 du laboratoire de ce matin</a:t>
                      </a:r>
                    </a:p>
                  </a:txBody>
                  <a:tcPr/>
                </a:tc>
              </a:tr>
              <a:tr h="292608">
                <a:tc>
                  <a:txBody>
                    <a:bodyPr/>
                    <a:lstStyle/>
                    <a:p>
                      <a:r>
                        <a:rPr sz="1000" b="0">
                          <a:solidFill>
                            <a:srgbClr val="33403A"/>
                          </a:solidFill>
                          <a:latin typeface="Segoe UI"/>
                        </a:rPr>
                        <a:t>« Cette région est la plus active économiquement »</a:t>
                      </a:r>
                    </a:p>
                  </a:txBody>
                  <a:tcPr/>
                </a:tc>
                <a:tc>
                  <a:txBody>
                    <a:bodyPr/>
                    <a:lstStyle/>
                    <a:p>
                      <a:r>
                        <a:rPr sz="1000" b="0">
                          <a:solidFill>
                            <a:srgbClr val="33403A"/>
                          </a:solidFill>
                          <a:latin typeface="Segoe UI"/>
                        </a:rPr>
                        <a:t>Une torchère de gaz. Population : 400</a:t>
                      </a:r>
                    </a:p>
                  </a:txBody>
                  <a:tcPr/>
                </a:tc>
                <a:tc>
                  <a:txBody>
                    <a:bodyPr/>
                    <a:lstStyle/>
                    <a:p>
                      <a:r>
                        <a:rPr sz="1000" b="0">
                          <a:solidFill>
                            <a:srgbClr val="33403A"/>
                          </a:solidFill>
                          <a:latin typeface="Segoe UI"/>
                        </a:rPr>
                        <a:t>Classer les pixels les plus intenses et les recouper avec une carte des localités</a:t>
                      </a:r>
                    </a:p>
                  </a:txBody>
                  <a:tcPr/>
                </a:tc>
              </a:tr>
              <a:tr h="292608">
                <a:tc>
                  <a:txBody>
                    <a:bodyPr/>
                    <a:lstStyle/>
                    <a:p>
                      <a:r>
                        <a:rPr sz="1000" b="0">
                          <a:solidFill>
                            <a:srgbClr val="33403A"/>
                          </a:solidFill>
                          <a:latin typeface="Segoe UI"/>
                        </a:rPr>
                        <a:t>« L'électrification a stagné dans la capitale »</a:t>
                      </a:r>
                    </a:p>
                  </a:txBody>
                  <a:tcPr/>
                </a:tc>
                <a:tc>
                  <a:txBody>
                    <a:bodyPr/>
                    <a:lstStyle/>
                    <a:p>
                      <a:r>
                        <a:rPr sz="1000" b="0">
                          <a:solidFill>
                            <a:srgbClr val="33403A"/>
                          </a:solidFill>
                          <a:latin typeface="Segoe UI"/>
                        </a:rPr>
                        <a:t>La capitale a saturé le capteur en 2018 et est plate dans les données depuis</a:t>
                      </a:r>
                    </a:p>
                  </a:txBody>
                  <a:tcPr/>
                </a:tc>
                <a:tc>
                  <a:txBody>
                    <a:bodyPr/>
                    <a:lstStyle/>
                    <a:p>
                      <a:r>
                        <a:rPr sz="1000" b="0">
                          <a:solidFill>
                            <a:srgbClr val="33403A"/>
                          </a:solidFill>
                          <a:latin typeface="Segoe UI"/>
                        </a:rPr>
                        <a:t>Une coupe à travers l'amas le plus lumineux — chercher le sommet plat</a:t>
                      </a:r>
                    </a:p>
                  </a:txBody>
                  <a:tcPr/>
                </a:tc>
              </a:tr>
            </a:tbl>
          </a:graphicData>
        </a:graphic>
      </p:graphicFrame>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Ce que les NTL approchent bien — et ce qu'elles n'approchent pas</a:t>
            </a:r>
          </a:p>
        </p:txBody>
      </p:sp>
      <p:sp>
        <p:nvSpPr>
          <p:cNvPr id="4" name="TextBox 3"/>
          <p:cNvSpPr txBox="1"/>
          <p:nvPr/>
        </p:nvSpPr>
        <p:spPr>
          <a:xfrm>
            <a:off x="731520" y="1371600"/>
            <a:ext cx="10728655" cy="4389120"/>
          </a:xfrm>
          <a:prstGeom prst="rect">
            <a:avLst/>
          </a:prstGeom>
          <a:noFill/>
        </p:spPr>
        <p:txBody>
          <a:bodyPr wrap="square">
            <a:spAutoFit/>
          </a:bodyPr>
          <a:lstStyle/>
          <a:p>
            <a:pPr>
              <a:spcAft>
                <a:spcPts val="700"/>
              </a:spcAft>
            </a:pPr>
            <a:r>
              <a:rPr sz="1400">
                <a:solidFill>
                  <a:srgbClr val="33403A"/>
                </a:solidFill>
                <a:latin typeface="Segoe UI"/>
              </a:rPr>
              <a:t>•  Progrès de l'électrification  — là où la lumière atteint de nouveaux lieux</a:t>
            </a:r>
          </a:p>
          <a:p>
            <a:pPr>
              <a:spcAft>
                <a:spcPts val="700"/>
              </a:spcAft>
            </a:pPr>
            <a:r>
              <a:rPr sz="1400">
                <a:solidFill>
                  <a:srgbClr val="33403A"/>
                </a:solidFill>
                <a:latin typeface="Segoe UI"/>
              </a:rPr>
              <a:t>•  Urbanisation et croissance des localités</a:t>
            </a:r>
          </a:p>
          <a:p>
            <a:pPr>
              <a:spcAft>
                <a:spcPts val="700"/>
              </a:spcAft>
            </a:pPr>
            <a:r>
              <a:rPr sz="1400">
                <a:solidFill>
                  <a:srgbClr val="33403A"/>
                </a:solidFill>
                <a:latin typeface="Segoe UI"/>
              </a:rPr>
              <a:t>•  Impact des crises et des conflits  — une perte brutale de lumière est sans ambiguïté</a:t>
            </a:r>
          </a:p>
          <a:p>
            <a:pPr>
              <a:spcAft>
                <a:spcPts val="700"/>
              </a:spcAft>
            </a:pPr>
            <a:r>
              <a:rPr sz="1400">
                <a:solidFill>
                  <a:srgbClr val="33403A"/>
                </a:solidFill>
                <a:latin typeface="Segoe UI"/>
              </a:rPr>
              <a:t>•  Inégalité spatiale des infrastructures</a:t>
            </a:r>
          </a:p>
          <a:p>
            <a:pPr>
              <a:spcAft>
                <a:spcPts val="700"/>
              </a:spcAft>
            </a:pPr>
            <a:r>
              <a:rPr sz="1400">
                <a:solidFill>
                  <a:srgbClr val="33403A"/>
                </a:solidFill>
                <a:latin typeface="Segoe UI"/>
              </a:rPr>
              <a:t>•  Comparaison relative entre districts  la même année</a:t>
            </a:r>
          </a:p>
          <a:p>
            <a:pPr>
              <a:spcAft>
                <a:spcPts val="700"/>
              </a:spcAft>
            </a:pPr>
            <a:r>
              <a:rPr sz="1400">
                <a:solidFill>
                  <a:srgbClr val="33403A"/>
                </a:solidFill>
                <a:latin typeface="Segoe UI"/>
              </a:rPr>
              <a:t>•  Le PIB en niveau.  Corrélé, pas égal. L'élasticité diffère selon le pays et la décennie</a:t>
            </a:r>
          </a:p>
          <a:p>
            <a:pPr>
              <a:spcAft>
                <a:spcPts val="700"/>
              </a:spcAft>
            </a:pPr>
            <a:r>
              <a:rPr sz="1400">
                <a:solidFill>
                  <a:srgbClr val="33403A"/>
                </a:solidFill>
                <a:latin typeface="Segoe UI"/>
              </a:rPr>
              <a:t>•  Le taux de raccordement des ménages.  Un ménage raccordé qui n'a pas les moyens de consommer n'émet aucune lumière</a:t>
            </a:r>
          </a:p>
          <a:p>
            <a:pPr>
              <a:spcAft>
                <a:spcPts val="700"/>
              </a:spcAft>
            </a:pPr>
            <a:r>
              <a:rPr sz="1400">
                <a:solidFill>
                  <a:srgbClr val="33403A"/>
                </a:solidFill>
                <a:latin typeface="Segoe UI"/>
              </a:rPr>
              <a:t>•  L'activité économique informelle  qui se déroule de jour</a:t>
            </a:r>
          </a:p>
          <a:p>
            <a:pPr>
              <a:spcAft>
                <a:spcPts val="700"/>
              </a:spcAft>
            </a:pPr>
            <a:r>
              <a:rPr sz="1400">
                <a:solidFill>
                  <a:srgbClr val="33403A"/>
                </a:solidFill>
                <a:latin typeface="Segoe UI"/>
              </a:rPr>
              <a:t>•  Toute analyse à l'échelle du village.  Des pixels de 500 m et le halo rendent les petites localités peu fiables</a:t>
            </a:r>
          </a:p>
        </p:txBody>
      </p:sp>
      <p:sp>
        <p:nvSpPr>
          <p:cNvPr id="5" name="Rectangle 4"/>
          <p:cNvSpPr/>
          <p:nvPr/>
        </p:nvSpPr>
        <p:spPr>
          <a:xfrm>
            <a:off x="731520" y="466344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LE CADRAGE HONNÊTE POUR UN OFFICE STATISTIQUE — « Un indicateur spatialement détaillé qui corrèle avec X dans notre pays à
r = 0,NN, adapté à Y, inadapté à Z. »  Cette phrase — avec votre propre
coefficient de corrélation dedans — est ce que vous produirez cet après-midi.</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Ce que vous aurez à 17h00</a:t>
            </a:r>
          </a:p>
        </p:txBody>
      </p:sp>
      <p:sp>
        <p:nvSpPr>
          <p:cNvPr id="4" name="TextBox 3"/>
          <p:cNvSpPr txBox="1"/>
          <p:nvPr/>
        </p:nvSpPr>
        <p:spPr>
          <a:xfrm>
            <a:off x="731520" y="1371600"/>
            <a:ext cx="10728655" cy="548640"/>
          </a:xfrm>
          <a:prstGeom prst="rect">
            <a:avLst/>
          </a:prstGeom>
          <a:noFill/>
        </p:spPr>
        <p:txBody>
          <a:bodyPr wrap="square">
            <a:spAutoFit/>
          </a:bodyPr>
          <a:lstStyle/>
          <a:p>
            <a:pPr algn="l"/>
            <a:r>
              <a:rPr sz="1400" b="0">
                <a:solidFill>
                  <a:srgbClr val="33403A"/>
                </a:solidFill>
                <a:latin typeface="Segoe UI"/>
              </a:rPr>
              <a:t>Chacun de ces éléments rejoint le dépôt de votre pays vendredi, avec une
licence, des métadonnées et un DOI. Un autre office africain doit pouvoir prendre
votre carnet, changer une ligne, et l'exécuter sur son propre territoire.</a:t>
            </a:r>
          </a:p>
        </p:txBody>
      </p:sp>
      <p:sp>
        <p:nvSpPr>
          <p:cNvPr id="5" name="TextBox 4"/>
          <p:cNvSpPr txBox="1"/>
          <p:nvPr/>
        </p:nvSpPr>
        <p:spPr>
          <a:xfrm>
            <a:off x="731520" y="1874520"/>
            <a:ext cx="10728655" cy="457200"/>
          </a:xfrm>
          <a:prstGeom prst="rect">
            <a:avLst/>
          </a:prstGeom>
          <a:noFill/>
        </p:spPr>
        <p:txBody>
          <a:bodyPr wrap="square">
            <a:spAutoFit/>
          </a:bodyPr>
          <a:lstStyle/>
          <a:p>
            <a:pPr algn="l"/>
            <a:r>
              <a:rPr sz="1500" b="1">
                <a:solidFill>
                  <a:srgbClr val="1B7A43"/>
                </a:solidFill>
                <a:latin typeface="Segoe UI"/>
              </a:rPr>
              <a:t>1  Raster national découpé</a:t>
            </a:r>
          </a:p>
        </p:txBody>
      </p:sp>
      <p:sp>
        <p:nvSpPr>
          <p:cNvPr id="6" name="Rectangle 5"/>
          <p:cNvSpPr/>
          <p:nvPr/>
        </p:nvSpPr>
        <p:spPr>
          <a:xfrm>
            <a:off x="731520" y="242316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UNE SEULE VARIABLE — COUNTRY_ISO3 = "CIV"  
Frontières, tuiles satellitaires, projection, emprise cartographique et tous les
titres de figures en découlent. Le registre couvre les 55 États membres de l'Union
africaine.</a:t>
            </a:r>
          </a:p>
        </p:txBody>
      </p:sp>
      <p:sp>
        <p:nvSpPr>
          <p:cNvPr id="7" name="TextBox 6"/>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Mon indicateur est-il publiable ? Un cadre de décision</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LA PHRASE HONNÊTE QUE VOUS VISEZ — « La radiance nocturne à l'ADM2, VNP46A4 collection 002, seuil d'éclairement
0,5 nW·cm⁻²·sr⁻¹, corrèle avec notre taux d'électrification officiel à
r = 0,NN sur NN districts en 20NN. Adaptée au suivi de l'évolution
relative entre districts ; inadaptée à l'estimation des taux de raccordement en
niveau. »</a:t>
            </a:r>
          </a:p>
        </p:txBody>
      </p:sp>
      <p:sp>
        <p:nvSpPr>
          <p:cNvPr id="5" name="TextBox 4"/>
          <p:cNvSpPr txBox="1"/>
          <p:nvPr/>
        </p:nvSpPr>
        <p:spPr>
          <a:xfrm>
            <a:off x="731520" y="2468880"/>
            <a:ext cx="10728655" cy="640080"/>
          </a:xfrm>
          <a:prstGeom prst="rect">
            <a:avLst/>
          </a:prstGeom>
          <a:noFill/>
        </p:spPr>
        <p:txBody>
          <a:bodyPr wrap="square">
            <a:spAutoFit/>
          </a:bodyPr>
          <a:lstStyle/>
          <a:p>
            <a:pPr algn="l"/>
            <a:r>
              <a:rPr sz="1100" b="0">
                <a:solidFill>
                  <a:srgbClr val="6B7B75"/>
                </a:solidFill>
                <a:latin typeface="Segoe UI"/>
              </a:rPr>
              <a:t>FIGURE — capturez la diapositive 16 du deck HTML et collez-la ici.</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9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PLACE AUX DONNÉES</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FFFFFF"/>
                </a:solidFill>
                <a:latin typeface="Segoe UI"/>
              </a:rPr>
              <a:t>09h30 — Laboratoire 1</a:t>
            </a:r>
          </a:p>
        </p:txBody>
      </p:sp>
      <p:sp>
        <p:nvSpPr>
          <p:cNvPr id="5" name="TextBox 4"/>
          <p:cNvSpPr txBox="1"/>
          <p:nvPr/>
        </p:nvSpPr>
        <p:spPr>
          <a:xfrm>
            <a:off x="731520" y="1783080"/>
            <a:ext cx="10728655" cy="548640"/>
          </a:xfrm>
          <a:prstGeom prst="rect">
            <a:avLst/>
          </a:prstGeom>
          <a:noFill/>
        </p:spPr>
        <p:txBody>
          <a:bodyPr wrap="square">
            <a:spAutoFit/>
          </a:bodyPr>
          <a:lstStyle/>
          <a:p>
            <a:pPr algn="l"/>
            <a:r>
              <a:rPr sz="1400" b="0">
                <a:solidFill>
                  <a:srgbClr val="DBE7E0"/>
                </a:solidFill>
                <a:latin typeface="Segoe UI"/>
              </a:rPr>
              <a:t>Collecter les granules de votre propre pays, auditer
leur complétude, charger vos frontières, et découper.</a:t>
            </a:r>
          </a:p>
        </p:txBody>
      </p:sp>
      <p:sp>
        <p:nvSpPr>
          <p:cNvPr id="6" name="TextBox 5"/>
          <p:cNvSpPr txBox="1"/>
          <p:nvPr/>
        </p:nvSpPr>
        <p:spPr>
          <a:xfrm>
            <a:off x="731520" y="2286000"/>
            <a:ext cx="10728655" cy="548640"/>
          </a:xfrm>
          <a:prstGeom prst="rect">
            <a:avLst/>
          </a:prstGeom>
          <a:noFill/>
        </p:spPr>
        <p:txBody>
          <a:bodyPr wrap="square">
            <a:spAutoFit/>
          </a:bodyPr>
          <a:lstStyle/>
          <a:p>
            <a:pPr algn="l"/>
            <a:r>
              <a:rPr sz="1400" b="0">
                <a:solidFill>
                  <a:srgbClr val="DBE7E0"/>
                </a:solidFill>
                <a:latin typeface="Segoe UI"/>
              </a:rPr>
              <a:t>Piste guidée ou piste ouverte — à votre
choix, et vous pouvez basculer. Le livrable est le même dans les deux cas.</a:t>
            </a:r>
          </a:p>
        </p:txBody>
      </p:sp>
      <p:sp>
        <p:nvSpPr>
          <p:cNvPr id="7" name="TextBox 6"/>
          <p:cNvSpPr txBox="1"/>
          <p:nvPr/>
        </p:nvSpPr>
        <p:spPr>
          <a:xfrm>
            <a:off x="731520" y="2788920"/>
            <a:ext cx="10728655" cy="548640"/>
          </a:xfrm>
          <a:prstGeom prst="rect">
            <a:avLst/>
          </a:prstGeom>
          <a:noFill/>
        </p:spPr>
        <p:txBody>
          <a:bodyPr wrap="square">
            <a:spAutoFit/>
          </a:bodyPr>
          <a:lstStyle/>
          <a:p>
            <a:pPr algn="l"/>
            <a:r>
              <a:rPr sz="1400" b="0">
                <a:solidFill>
                  <a:srgbClr val="DBE7E0"/>
                </a:solidFill>
                <a:latin typeface="Segoe UI"/>
              </a:rPr>
              <a:t>Pas de jeton Earthdata, pas de réseau, ou un téléchargement qui n'aboutit pas ? 
Prenez la variante Earth Engine — elle ne télécharge rien. 
Ou mettez  COUNTRY_ISO3 = "CIV" , le pays de référence, et poursuivez.</a:t>
            </a:r>
          </a:p>
        </p:txBody>
      </p:sp>
      <p:sp>
        <p:nvSpPr>
          <p:cNvPr id="8" name="TextBox 7"/>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Références</a:t>
            </a:r>
          </a:p>
        </p:txBody>
      </p:sp>
      <p:sp>
        <p:nvSpPr>
          <p:cNvPr id="4" name="TextBox 3"/>
          <p:cNvSpPr txBox="1"/>
          <p:nvPr/>
        </p:nvSpPr>
        <p:spPr>
          <a:xfrm>
            <a:off x="731520" y="1371600"/>
            <a:ext cx="10728655" cy="548640"/>
          </a:xfrm>
          <a:prstGeom prst="rect">
            <a:avLst/>
          </a:prstGeom>
          <a:noFill/>
        </p:spPr>
        <p:txBody>
          <a:bodyPr wrap="square">
            <a:spAutoFit/>
          </a:bodyPr>
          <a:lstStyle/>
          <a:p>
            <a:pPr algn="l"/>
            <a:r>
              <a:rPr sz="1400" b="0">
                <a:solidFill>
                  <a:srgbClr val="33403A"/>
                </a:solidFill>
                <a:latin typeface="Segoe UI"/>
              </a:rPr>
              <a:t>Chaque affirmation de cette présentation renvoie à l'une d'elles. Les DOI se
résolvent sur  doi.org/&lt;doi&gt; .</a:t>
            </a:r>
          </a:p>
        </p:txBody>
      </p:sp>
      <p:sp>
        <p:nvSpPr>
          <p:cNvPr id="5" name="TextBox 4"/>
          <p:cNvSpPr txBox="1"/>
          <p:nvPr/>
        </p:nvSpPr>
        <p:spPr>
          <a:xfrm>
            <a:off x="731520" y="1874520"/>
            <a:ext cx="10728655" cy="3886200"/>
          </a:xfrm>
          <a:prstGeom prst="rect">
            <a:avLst/>
          </a:prstGeom>
          <a:noFill/>
        </p:spPr>
        <p:txBody>
          <a:bodyPr wrap="square">
            <a:spAutoFit/>
          </a:bodyPr>
          <a:lstStyle/>
          <a:p>
            <a:pPr>
              <a:spcAft>
                <a:spcPts val="700"/>
              </a:spcAft>
            </a:pPr>
            <a:r>
              <a:rPr sz="1400">
                <a:solidFill>
                  <a:srgbClr val="33403A"/>
                </a:solidFill>
                <a:latin typeface="Segoe UI"/>
              </a:rPr>
              <a:t>•  Román, M.O., et al.  (2018). NASA's Black Marble nighttime lights product
suite.  Remote Sensing of Environment , 210, 113–143.
 10.1016/j.rse.2018.03.017  
 La suite VNP46 — à lire avant d'utiliser VNP46A2/A3/A4.</a:t>
            </a:r>
          </a:p>
          <a:p>
            <a:pPr>
              <a:spcAft>
                <a:spcPts val="700"/>
              </a:spcAft>
            </a:pPr>
            <a:r>
              <a:rPr sz="1400">
                <a:solidFill>
                  <a:srgbClr val="33403A"/>
                </a:solidFill>
                <a:latin typeface="Segoe UI"/>
              </a:rPr>
              <a:t>•  Elvidge, C.D., Zhizhin, M., Ghosh, T., Hsu, F.-C., Taneja, J.  (2021).
Annual Time Series of Global VIIRS Nighttime Lights Derived from Monthly Averages:
2012 to 2019.  Remote Sensing , 13(5), 922.
 10.3390/rs13050922  
 La série annuelle VNL v2 de l'EOG — le produit derrière la variante Earth Engine.</a:t>
            </a:r>
          </a:p>
          <a:p>
            <a:pPr>
              <a:spcAft>
                <a:spcPts val="700"/>
              </a:spcAft>
            </a:pPr>
            <a:r>
              <a:rPr sz="1400">
                <a:solidFill>
                  <a:srgbClr val="33403A"/>
                </a:solidFill>
                <a:latin typeface="Segoe UI"/>
              </a:rPr>
              <a:t>•  Levin, N., et al.  (2020). Remote sensing of night lights: A review and an
outlook for the future.  Remote Sensing of Environment , 237, 111443.
 10.1016/j.rse.2019.111443  
 Le meilleur point de départ si vous ne lisez qu'un seul article.</a:t>
            </a:r>
          </a:p>
          <a:p>
            <a:pPr>
              <a:spcAft>
                <a:spcPts val="700"/>
              </a:spcAft>
            </a:pPr>
            <a:r>
              <a:rPr sz="1400">
                <a:solidFill>
                  <a:srgbClr val="33403A"/>
                </a:solidFill>
                <a:latin typeface="Segoe UI"/>
              </a:rPr>
              <a:t>•  Henderson, J.V., Storeygard, A., Weil, D.N.  (2012). Measuring Economic
Growth from Outer Space.  American Economic Review , 102(2), 994–1028.
 10.1257/aer.102.2.994  
 L'argument fondateur des lumières comme complément à des comptes nationaux fragiles.</a:t>
            </a:r>
          </a:p>
          <a:p>
            <a:pPr>
              <a:spcAft>
                <a:spcPts val="700"/>
              </a:spcAft>
            </a:pPr>
            <a:r>
              <a:rPr sz="1400">
                <a:solidFill>
                  <a:srgbClr val="33403A"/>
                </a:solidFill>
                <a:latin typeface="Segoe UI"/>
              </a:rPr>
              <a:t>•  Gibson, J., Olivia, S., Boe-Gibson, G.  (2020). Night Lights in Economics:
Sources and Uses.  Journal of Economic Surveys , 34(5), 955–980. 
 Une revue critique. À lire avec Henderson et al., pas à sa place.</a:t>
            </a:r>
          </a:p>
          <a:p>
            <a:pPr>
              <a:spcAft>
                <a:spcPts val="700"/>
              </a:spcAft>
            </a:pPr>
            <a:r>
              <a:rPr sz="1400">
                <a:solidFill>
                  <a:srgbClr val="33403A"/>
                </a:solidFill>
                <a:latin typeface="Segoe UI"/>
              </a:rPr>
              <a:t>•  Gibson, J., Olivia, S., Boe-Gibson, G., Li, C.  (2021). Which night lights
data should we use in economics, and where?  Journal of Development Economics ,
149, 102602.  10.1016/j.jdeveco.2020.102602  
 Pourquoi nommer son produit et sa version n'est pas du pédantisme.</a:t>
            </a:r>
          </a:p>
          <a:p>
            <a:pPr>
              <a:spcAft>
                <a:spcPts val="700"/>
              </a:spcAft>
            </a:pPr>
            <a:r>
              <a:rPr sz="1400">
                <a:solidFill>
                  <a:srgbClr val="33403A"/>
                </a:solidFill>
                <a:latin typeface="Segoe UI"/>
              </a:rPr>
              <a:t>•  Bluhm, R., Krause, M.  (2022). Top lights: Bright cities and their
contribution to economic development.  Journal of Development Economics , 157,
102880.  10.1016/j.jdeveco.2022.102880  
 La correction de saturation inverse le résultat villes primaires / secondaires
en Afrique subsaharienne.</a:t>
            </a:r>
          </a:p>
          <a:p>
            <a:pPr>
              <a:spcAft>
                <a:spcPts val="700"/>
              </a:spcAft>
            </a:pPr>
            <a:r>
              <a:rPr sz="1400">
                <a:solidFill>
                  <a:srgbClr val="33403A"/>
                </a:solidFill>
                <a:latin typeface="Segoe UI"/>
              </a:rPr>
              <a:t>•  Min, B., Gaba, K.M., Sarr, O.F., Agalassou, A.  (2013). Detection of rural
electrification in Africa using DMSP-OLS night lights imagery.  International
Journal of Remote Sensing , 34(22), 8118–8141.
 10.1080/01431161.2013.833358  
 Sénégal et Mali, validés contre des relevés de terrain. La référence africaine.</a:t>
            </a:r>
          </a:p>
          <a:p>
            <a:pPr>
              <a:spcAft>
                <a:spcPts val="700"/>
              </a:spcAft>
            </a:pPr>
            <a:r>
              <a:rPr sz="1400">
                <a:solidFill>
                  <a:srgbClr val="33403A"/>
                </a:solidFill>
                <a:latin typeface="Segoe UI"/>
              </a:rPr>
              <a:t>•  Elvidge, C.D., Zhizhin, M., Baugh, K., Hsu, F.-C., Ghosh, T.  (2016).
Methods for Global Survey of Natural Gas Flaring from Visible Infrared Imaging
Radiometer Suite Data.  Energies , 9(1), 14.
 10.3390/en9010014  
 Comment les torchères sont détectées — donc comment les masquer de vos totaux.</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377440"/>
            <a:ext cx="9997135" cy="2286000"/>
          </a:xfrm>
          <a:prstGeom prst="rect">
            <a:avLst/>
          </a:prstGeom>
          <a:noFill/>
        </p:spPr>
        <p:txBody>
          <a:bodyPr wrap="square">
            <a:spAutoFit/>
          </a:bodyPr>
          <a:lstStyle/>
          <a:p>
            <a:pPr algn="ctr"/>
            <a:r>
              <a:rPr sz="1400" b="0">
                <a:solidFill>
                  <a:srgbClr val="DBE7E0"/>
                </a:solidFill>
                <a:latin typeface="Segoe UI"/>
              </a:rPr>
              <a:t>Ce fichier PowerPoint est généré à partir du deck reveal.js
slides/decks/08-ntl-what-darkness-tells-us.deck.html
Les modifications faites ici ne remontent pas. Si votre changement doit être permanent,
modifiez la source et exécutez :  python tools/build_slides.py &amp;&amp; python tools/build_pptx.py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