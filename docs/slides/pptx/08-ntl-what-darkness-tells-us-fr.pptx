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BANQUE AFRICAINE DE DÉVELOPPEMENT · UA STATAFRIC · STG17 · JOUR 4</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3400" b="1">
                <a:solidFill>
                  <a:srgbClr val="FFFFFF"/>
                </a:solidFill>
                <a:latin typeface="Segoe UI"/>
              </a:rPr>
              <a:t>Lumières nocturnes</a:t>
            </a:r>
          </a:p>
        </p:txBody>
      </p:sp>
      <p:sp>
        <p:nvSpPr>
          <p:cNvPr id="5" name="TextBox 4"/>
          <p:cNvSpPr txBox="1"/>
          <p:nvPr/>
        </p:nvSpPr>
        <p:spPr>
          <a:xfrm>
            <a:off x="731520" y="1874520"/>
            <a:ext cx="10728655" cy="548640"/>
          </a:xfrm>
          <a:prstGeom prst="rect">
            <a:avLst/>
          </a:prstGeom>
          <a:noFill/>
        </p:spPr>
        <p:txBody>
          <a:bodyPr wrap="square">
            <a:spAutoFit/>
          </a:bodyPr>
          <a:lstStyle/>
          <a:p>
            <a:pPr algn="l"/>
            <a:r>
              <a:rPr sz="1700" b="0">
                <a:solidFill>
                  <a:srgbClr val="DBE7E0"/>
                </a:solidFill>
                <a:latin typeface="Segoe UI"/>
              </a:rPr>
              <a:t>Ce que l'obscurité nous dit — et ce qu'elle ne dit pas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Le manque dont parle cette journée</a:t>
            </a:r>
          </a:p>
        </p:txBody>
      </p:sp>
      <p:sp>
        <p:nvSpPr>
          <p:cNvPr id="4" name="TextBox 3"/>
          <p:cNvSpPr txBox="1"/>
          <p:nvPr/>
        </p:nvSpPr>
        <p:spPr>
          <a:xfrm>
            <a:off x="731520" y="1371600"/>
            <a:ext cx="10728655" cy="548640"/>
          </a:xfrm>
          <a:prstGeom prst="rect">
            <a:avLst/>
          </a:prstGeom>
          <a:noFill/>
        </p:spPr>
        <p:txBody>
          <a:bodyPr wrap="square">
            <a:spAutoFit/>
          </a:bodyPr>
          <a:lstStyle/>
          <a:p>
            <a:pPr algn="l"/>
            <a:r>
              <a:rPr sz="1400" b="0">
                <a:solidFill>
                  <a:srgbClr val="33403A"/>
                </a:solidFill>
                <a:latin typeface="Segoe UI"/>
              </a:rPr>
              <a:t>Les lumières nocturnes ne comblent pas ce manque. Mais elles sont le seul signal
gratuit, continental et infranational qui s'actualise chaque année.</a:t>
            </a:r>
          </a:p>
        </p:txBody>
      </p:sp>
      <p:sp>
        <p:nvSpPr>
          <p:cNvPr id="5" name="TextBox 4"/>
          <p:cNvSpPr txBox="1"/>
          <p:nvPr/>
        </p:nvSpPr>
        <p:spPr>
          <a:xfrm>
            <a:off x="731520" y="1874520"/>
            <a:ext cx="10728655" cy="457200"/>
          </a:xfrm>
          <a:prstGeom prst="rect">
            <a:avLst/>
          </a:prstGeom>
          <a:noFill/>
        </p:spPr>
        <p:txBody>
          <a:bodyPr wrap="square">
            <a:spAutoFit/>
          </a:bodyPr>
          <a:lstStyle/>
          <a:p>
            <a:pPr algn="l"/>
            <a:r>
              <a:rPr sz="1500" b="1">
                <a:solidFill>
                  <a:srgbClr val="1B7A43"/>
                </a:solidFill>
                <a:latin typeface="Segoe UI"/>
              </a:rPr>
              <a:t>2012→  Série continue VIIRS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LA PROPOSITION, ÉNONCÉE HONNÊTEMENT</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Un signal spatialement détaillé qui  corrèle  avec l'activité et les
infrastructures — dont vous pouvez mesurer la relation à vos propres chiffres
officiels, et décider ensuite seulement de l'utiliser.</a:t>
            </a:r>
          </a:p>
        </p:txBody>
      </p:sp>
      <p:sp>
        <p:nvSpPr>
          <p:cNvPr id="5" name="Rectangle 4"/>
          <p:cNvSpPr/>
          <p:nvPr/>
        </p:nvSpPr>
        <p:spPr>
          <a:xfrm>
            <a:off x="731520" y="141732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CE QUE VOUS DÉCIDEZ RÉELLEMENT AUJOURD'HUI — Non pas si les lumières nocturnes sont bonnes. Si elles sont assez bonnes,
 dans votre pays, pour une question nommée .</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Ce que la littérature établit — cela fonctionne</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…et cela échoue silencieusement</a:t>
            </a:r>
          </a:p>
        </p:txBody>
      </p:sp>
      <p:sp>
        <p:nvSpPr>
          <p:cNvPr id="4" name="TextBox 3"/>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1</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D'où vient la donnée</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Deux instruments, trente ans, et une discontinuité à ne pas ignorer.</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Trente ans, deux instruments</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LA DISCONTINUITÉ — DMSP-OLS livre un nombre numérique 6 bits non calibré ; VIIRS livre une radiance
calibrée.  Ne raccordez jamais les deux sans harmonisation explicite  —
et si vous harmonisez, dites quelle méthode, car elles divergent. La plupart des
travaux africains publiés démarrent en 2012 pour exactement cette raison, et cet
atelier aussi.</a:t>
            </a:r>
          </a:p>
        </p:txBody>
      </p:sp>
      <p:sp>
        <p:nvSpPr>
          <p:cNvPr id="5" name="TextBox 4"/>
          <p:cNvSpPr txBox="1"/>
          <p:nvPr/>
        </p:nvSpPr>
        <p:spPr>
          <a:xfrm>
            <a:off x="731520" y="2468880"/>
            <a:ext cx="10728655" cy="640080"/>
          </a:xfrm>
          <a:prstGeom prst="rect">
            <a:avLst/>
          </a:prstGeom>
          <a:noFill/>
        </p:spPr>
        <p:txBody>
          <a:bodyPr wrap="square">
            <a:spAutoFit/>
          </a:bodyPr>
          <a:lstStyle/>
          <a:p>
            <a:pPr algn="l"/>
            <a:r>
              <a:rPr sz="1100" b="0">
                <a:solidFill>
                  <a:srgbClr val="6B7B75"/>
                </a:solidFill>
                <a:latin typeface="Segoe UI"/>
              </a:rPr>
              <a:t>FIGURE — capturez la diapositive 7 du deck HTML et collez-la ici.  (Les deux archives sont des instruments différents aux unités différentes. Ce n'est pas une seule série.)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Quel produit, pour quelle question</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DEUX CHAÎNES DÉFENDABLES, DEUX CHIFFRES DIFFÉRENTS — Le VNP46A4 et le VNL annuel compositent et masquent différemment. Un écart de
quelques pour cent est attendu.  Une Somme des lumières sans produit ni
version nommés n'est pas une statistique reproductible.</a:t>
            </a:r>
          </a:p>
        </p:txBody>
      </p:sp>
      <p:graphicFrame>
        <p:nvGraphicFramePr>
          <p:cNvPr id="5" name="Table 4"/>
          <p:cNvGraphicFramePr>
            <a:graphicFrameLocks noGrp="1"/>
          </p:cNvGraphicFramePr>
          <p:nvPr/>
        </p:nvGraphicFramePr>
        <p:xfrm>
          <a:off x="731520" y="2468880"/>
          <a:ext cx="10728655" cy="1463040"/>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Produit</a:t>
                      </a:r>
                    </a:p>
                  </a:txBody>
                  <a:tcPr/>
                </a:tc>
                <a:tc>
                  <a:txBody>
                    <a:bodyPr/>
                    <a:lstStyle/>
                    <a:p>
                      <a:r>
                        <a:rPr sz="1000" b="1">
                          <a:solidFill>
                            <a:srgbClr val="FFFFFF"/>
                          </a:solidFill>
                          <a:latin typeface="Segoe UI"/>
                        </a:rPr>
                        <a:t>À utiliser pour</a:t>
                      </a:r>
                    </a:p>
                  </a:txBody>
                  <a:tcPr/>
                </a:tc>
                <a:tc>
                  <a:txBody>
                    <a:bodyPr/>
                    <a:lstStyle/>
                    <a:p>
                      <a:r>
                        <a:rPr sz="1000" b="1">
                          <a:solidFill>
                            <a:srgbClr val="FFFFFF"/>
                          </a:solidFill>
                          <a:latin typeface="Segoe UI"/>
                        </a:rPr>
                        <a:t>Pas pour</a:t>
                      </a:r>
                    </a:p>
                  </a:txBody>
                  <a:tcPr/>
                </a:tc>
              </a:tr>
              <a:tr h="292608">
                <a:tc>
                  <a:txBody>
                    <a:bodyPr/>
                    <a:lstStyle/>
                    <a:p>
                      <a:r>
                        <a:rPr sz="1000" b="0">
                          <a:solidFill>
                            <a:srgbClr val="33403A"/>
                          </a:solidFill>
                          <a:latin typeface="Segoe UI"/>
                        </a:rPr>
                        <a:t>VNP46A2  Black Marble, journalier</a:t>
                      </a:r>
                    </a:p>
                  </a:txBody>
                  <a:tcPr/>
                </a:tc>
                <a:tc>
                  <a:txBody>
                    <a:bodyPr/>
                    <a:lstStyle/>
                    <a:p>
                      <a:r>
                        <a:rPr sz="1000" b="0">
                          <a:solidFill>
                            <a:srgbClr val="33403A"/>
                          </a:solidFill>
                          <a:latin typeface="Segoe UI"/>
                        </a:rPr>
                        <a:t>Crise, conflit, coupures, une nuit précise</a:t>
                      </a:r>
                    </a:p>
                  </a:txBody>
                  <a:tcPr/>
                </a:tc>
                <a:tc>
                  <a:txBody>
                    <a:bodyPr/>
                    <a:lstStyle/>
                    <a:p>
                      <a:r>
                        <a:rPr sz="1000" b="0">
                          <a:solidFill>
                            <a:srgbClr val="33403A"/>
                          </a:solidFill>
                          <a:latin typeface="Segoe UI"/>
                        </a:rPr>
                        <a:t>Toute tendance</a:t>
                      </a:r>
                    </a:p>
                  </a:txBody>
                  <a:tcPr/>
                </a:tc>
              </a:tr>
              <a:tr h="292608">
                <a:tc>
                  <a:txBody>
                    <a:bodyPr/>
                    <a:lstStyle/>
                    <a:p>
                      <a:r>
                        <a:rPr sz="1000" b="0">
                          <a:solidFill>
                            <a:srgbClr val="33403A"/>
                          </a:solidFill>
                          <a:latin typeface="Segoe UI"/>
                        </a:rPr>
                        <a:t>VNP46A3  Black Marble, mensuel</a:t>
                      </a:r>
                    </a:p>
                  </a:txBody>
                  <a:tcPr/>
                </a:tc>
                <a:tc>
                  <a:txBody>
                    <a:bodyPr/>
                    <a:lstStyle/>
                    <a:p>
                      <a:r>
                        <a:rPr sz="1000" b="0">
                          <a:solidFill>
                            <a:srgbClr val="33403A"/>
                          </a:solidFill>
                          <a:latin typeface="Segoe UI"/>
                        </a:rPr>
                        <a:t>Saisonnalité, effets harmattan et mousson</a:t>
                      </a:r>
                    </a:p>
                  </a:txBody>
                  <a:tcPr/>
                </a:tc>
                <a:tc>
                  <a:txBody>
                    <a:bodyPr/>
                    <a:lstStyle/>
                    <a:p>
                      <a:r>
                        <a:rPr sz="1000" b="0">
                          <a:solidFill>
                            <a:srgbClr val="33403A"/>
                          </a:solidFill>
                          <a:latin typeface="Segoe UI"/>
                        </a:rPr>
                        <a:t>Comparer des mois dissemblables</a:t>
                      </a:r>
                    </a:p>
                  </a:txBody>
                  <a:tcPr/>
                </a:tc>
              </a:tr>
              <a:tr h="292608">
                <a:tc>
                  <a:txBody>
                    <a:bodyPr/>
                    <a:lstStyle/>
                    <a:p>
                      <a:r>
                        <a:rPr sz="1000" b="0">
                          <a:solidFill>
                            <a:srgbClr val="33403A"/>
                          </a:solidFill>
                          <a:latin typeface="Segoe UI"/>
                        </a:rPr>
                        <a:t>VNP46A4  Black Marble, annuel</a:t>
                      </a:r>
                    </a:p>
                  </a:txBody>
                  <a:tcPr/>
                </a:tc>
                <a:tc>
                  <a:txBody>
                    <a:bodyPr/>
                    <a:lstStyle/>
                    <a:p>
                      <a:r>
                        <a:rPr sz="1000" b="0">
                          <a:solidFill>
                            <a:srgbClr val="33403A"/>
                          </a:solidFill>
                          <a:latin typeface="Segoe UI"/>
                        </a:rPr>
                        <a:t>La valeur par défaut statistique.  Séries infranationales annuelles</a:t>
                      </a:r>
                    </a:p>
                  </a:txBody>
                  <a:tcPr/>
                </a:tc>
                <a:tc>
                  <a:txBody>
                    <a:bodyPr/>
                    <a:lstStyle/>
                    <a:p>
                      <a:r>
                        <a:rPr sz="1000" b="0">
                          <a:solidFill>
                            <a:srgbClr val="33403A"/>
                          </a:solidFill>
                          <a:latin typeface="Segoe UI"/>
                        </a:rPr>
                        <a:t>Tout ce qui est infra-annuel</a:t>
                      </a:r>
                    </a:p>
                  </a:txBody>
                  <a:tcPr/>
                </a:tc>
              </a:tr>
              <a:tr h="292608">
                <a:tc>
                  <a:txBody>
                    <a:bodyPr/>
                    <a:lstStyle/>
                    <a:p>
                      <a:r>
                        <a:rPr sz="1000" b="0">
                          <a:solidFill>
                            <a:srgbClr val="33403A"/>
                          </a:solidFill>
                          <a:latin typeface="Segoe UI"/>
                        </a:rPr>
                        <a:t>VNL annuel EOG  via Earth Engine</a:t>
                      </a:r>
                    </a:p>
                  </a:txBody>
                  <a:tcPr/>
                </a:tc>
                <a:tc>
                  <a:txBody>
                    <a:bodyPr/>
                    <a:lstStyle/>
                    <a:p>
                      <a:r>
                        <a:rPr sz="1000" b="0">
                          <a:solidFill>
                            <a:srgbClr val="33403A"/>
                          </a:solidFill>
                          <a:latin typeface="Segoe UI"/>
                        </a:rPr>
                        <a:t>Le même travail, rien de téléchargé</a:t>
                      </a:r>
                    </a:p>
                  </a:txBody>
                  <a:tcPr/>
                </a:tc>
                <a:tc>
                  <a:txBody>
                    <a:bodyPr/>
                    <a:lstStyle/>
                    <a:p>
                      <a:r>
                        <a:rPr sz="1000" b="0">
                          <a:solidFill>
                            <a:srgbClr val="33403A"/>
                          </a:solidFill>
                          <a:latin typeface="Segoe UI"/>
                        </a:rPr>
                        <a:t>Supposer qu'il égale le VNP46A4</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Quatre voies vers la donnée, toutes gratuites</a:t>
            </a:r>
          </a:p>
        </p:txBody>
      </p:sp>
      <p:graphicFrame>
        <p:nvGraphicFramePr>
          <p:cNvPr id="4" name="Table 3"/>
          <p:cNvGraphicFramePr>
            <a:graphicFrameLocks noGrp="1"/>
          </p:cNvGraphicFramePr>
          <p:nvPr/>
        </p:nvGraphicFramePr>
        <p:xfrm>
          <a:off x="731520" y="1371600"/>
          <a:ext cx="10728655" cy="1463040"/>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Voie</a:t>
                      </a:r>
                    </a:p>
                  </a:txBody>
                  <a:tcPr/>
                </a:tc>
                <a:tc>
                  <a:txBody>
                    <a:bodyPr/>
                    <a:lstStyle/>
                    <a:p>
                      <a:r>
                        <a:rPr sz="1000" b="1">
                          <a:solidFill>
                            <a:srgbClr val="FFFFFF"/>
                          </a:solidFill>
                          <a:latin typeface="Segoe UI"/>
                        </a:rPr>
                        <a:t>Ce qu'elle exige</a:t>
                      </a:r>
                    </a:p>
                  </a:txBody>
                  <a:tcPr/>
                </a:tc>
                <a:tc>
                  <a:txBody>
                    <a:bodyPr/>
                    <a:lstStyle/>
                    <a:p>
                      <a:r>
                        <a:rPr sz="1000" b="1">
                          <a:solidFill>
                            <a:srgbClr val="FFFFFF"/>
                          </a:solidFill>
                          <a:latin typeface="Segoe UI"/>
                        </a:rPr>
                        <a:t>La prendre quand</a:t>
                      </a:r>
                    </a:p>
                  </a:txBody>
                  <a:tcPr/>
                </a:tc>
              </a:tr>
              <a:tr h="292608">
                <a:tc>
                  <a:txBody>
                    <a:bodyPr/>
                    <a:lstStyle/>
                    <a:p>
                      <a:r>
                        <a:rPr sz="1000" b="0">
                          <a:solidFill>
                            <a:srgbClr val="33403A"/>
                          </a:solidFill>
                          <a:latin typeface="Segoe UI"/>
                        </a:rPr>
                        <a:t>NASA LAADS DAAC   ladsweb.modaps.eosdis.nasa.gov</a:t>
                      </a:r>
                    </a:p>
                  </a:txBody>
                  <a:tcPr/>
                </a:tc>
                <a:tc>
                  <a:txBody>
                    <a:bodyPr/>
                    <a:lstStyle/>
                    <a:p>
                      <a:r>
                        <a:rPr sz="1000" b="0">
                          <a:solidFill>
                            <a:srgbClr val="33403A"/>
                          </a:solidFill>
                          <a:latin typeface="Segoe UI"/>
                        </a:rPr>
                        <a:t>Compte Earthdata + jeton</a:t>
                      </a:r>
                    </a:p>
                  </a:txBody>
                  <a:tcPr/>
                </a:tc>
                <a:tc>
                  <a:txBody>
                    <a:bodyPr/>
                    <a:lstStyle/>
                    <a:p>
                      <a:r>
                        <a:rPr sz="1000" b="0">
                          <a:solidFill>
                            <a:srgbClr val="33403A"/>
                          </a:solidFill>
                          <a:latin typeface="Segoe UI"/>
                        </a:rPr>
                        <a:t>Vous voulez le produit de référence</a:t>
                      </a:r>
                    </a:p>
                  </a:txBody>
                  <a:tcPr/>
                </a:tc>
              </a:tr>
              <a:tr h="292608">
                <a:tc>
                  <a:txBody>
                    <a:bodyPr/>
                    <a:lstStyle/>
                    <a:p>
                      <a:r>
                        <a:rPr sz="1000" b="0">
                          <a:solidFill>
                            <a:srgbClr val="33403A"/>
                          </a:solidFill>
                          <a:latin typeface="Segoe UI"/>
                        </a:rPr>
                        <a:t>Earth Observation Group   eogdata.mines.edu/products/vnl</a:t>
                      </a:r>
                    </a:p>
                  </a:txBody>
                  <a:tcPr/>
                </a:tc>
                <a:tc>
                  <a:txBody>
                    <a:bodyPr/>
                    <a:lstStyle/>
                    <a:p>
                      <a:r>
                        <a:rPr sz="1000" b="0">
                          <a:solidFill>
                            <a:srgbClr val="33403A"/>
                          </a:solidFill>
                          <a:latin typeface="Segoe UI"/>
                        </a:rPr>
                        <a:t>Inscription gratuite</a:t>
                      </a:r>
                    </a:p>
                  </a:txBody>
                  <a:tcPr/>
                </a:tc>
                <a:tc>
                  <a:txBody>
                    <a:bodyPr/>
                    <a:lstStyle/>
                    <a:p>
                      <a:r>
                        <a:rPr sz="1000" b="0">
                          <a:solidFill>
                            <a:srgbClr val="33403A"/>
                          </a:solidFill>
                          <a:latin typeface="Segoe UI"/>
                        </a:rPr>
                        <a:t>Vous voulez la série annuelle, ou un masque de torchères</a:t>
                      </a:r>
                    </a:p>
                  </a:txBody>
                  <a:tcPr/>
                </a:tc>
              </a:tr>
              <a:tr h="292608">
                <a:tc>
                  <a:txBody>
                    <a:bodyPr/>
                    <a:lstStyle/>
                    <a:p>
                      <a:r>
                        <a:rPr sz="1000" b="0">
                          <a:solidFill>
                            <a:srgbClr val="33403A"/>
                          </a:solidFill>
                          <a:latin typeface="Segoe UI"/>
                        </a:rPr>
                        <a:t>Google Earth Engine   NOAA/VIIRS/DNB/ANNUAL_V22</a:t>
                      </a:r>
                    </a:p>
                  </a:txBody>
                  <a:tcPr/>
                </a:tc>
                <a:tc>
                  <a:txBody>
                    <a:bodyPr/>
                    <a:lstStyle/>
                    <a:p>
                      <a:r>
                        <a:rPr sz="1000" b="0">
                          <a:solidFill>
                            <a:srgbClr val="33403A"/>
                          </a:solidFill>
                          <a:latin typeface="Segoe UI"/>
                        </a:rPr>
                        <a:t>Compte gratuit + projet Cloud</a:t>
                      </a:r>
                    </a:p>
                  </a:txBody>
                  <a:tcPr/>
                </a:tc>
                <a:tc>
                  <a:txBody>
                    <a:bodyPr/>
                    <a:lstStyle/>
                    <a:p>
                      <a:r>
                        <a:rPr sz="1000" b="0">
                          <a:solidFill>
                            <a:srgbClr val="33403A"/>
                          </a:solidFill>
                          <a:latin typeface="Segoe UI"/>
                        </a:rPr>
                        <a:t>La bande passante est votre contrainte</a:t>
                      </a:r>
                    </a:p>
                  </a:txBody>
                  <a:tcPr/>
                </a:tc>
              </a:tr>
              <a:tr h="292608">
                <a:tc>
                  <a:txBody>
                    <a:bodyPr/>
                    <a:lstStyle/>
                    <a:p>
                      <a:r>
                        <a:rPr sz="1000" b="0">
                          <a:solidFill>
                            <a:srgbClr val="33403A"/>
                          </a:solidFill>
                          <a:latin typeface="Segoe UI"/>
                        </a:rPr>
                        <a:t>Banque mondiale « Light Every Night »  AWS Registry of Open Data</a:t>
                      </a:r>
                    </a:p>
                  </a:txBody>
                  <a:tcPr/>
                </a:tc>
                <a:tc>
                  <a:txBody>
                    <a:bodyPr/>
                    <a:lstStyle/>
                    <a:p>
                      <a:r>
                        <a:rPr sz="1000" b="0">
                          <a:solidFill>
                            <a:srgbClr val="33403A"/>
                          </a:solidFill>
                          <a:latin typeface="Segoe UI"/>
                        </a:rPr>
                        <a:t>Rien du tout</a:t>
                      </a:r>
                    </a:p>
                  </a:txBody>
                  <a:tcPr/>
                </a:tc>
                <a:tc>
                  <a:txBody>
                    <a:bodyPr/>
                    <a:lstStyle/>
                    <a:p>
                      <a:r>
                        <a:rPr sz="1000" b="0">
                          <a:solidFill>
                            <a:srgbClr val="33403A"/>
                          </a:solidFill>
                          <a:latin typeface="Segoe UI"/>
                        </a:rPr>
                        <a:t>Il vous faut les années DMSP, ou aucune authentification</a:t>
                      </a:r>
                    </a:p>
                  </a:txBody>
                  <a:tcPr/>
                </a:tc>
              </a:tr>
            </a:tbl>
          </a:graphicData>
        </a:graphic>
      </p:graphicFrame>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2</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De la radiance à un indicateur</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Les cinq étapes que vous exécuterez ce matin et cet après-midi.</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La chaîne, de bout en bout</a:t>
            </a:r>
          </a:p>
        </p:txBody>
      </p:sp>
      <p:sp>
        <p:nvSpPr>
          <p:cNvPr id="4" name="TextBox 3"/>
          <p:cNvSpPr txBox="1"/>
          <p:nvPr/>
        </p:nvSpPr>
        <p:spPr>
          <a:xfrm>
            <a:off x="731520" y="1371600"/>
            <a:ext cx="10728655" cy="640080"/>
          </a:xfrm>
          <a:prstGeom prst="rect">
            <a:avLst/>
          </a:prstGeom>
          <a:noFill/>
        </p:spPr>
        <p:txBody>
          <a:bodyPr wrap="square">
            <a:spAutoFit/>
          </a:bodyPr>
          <a:lstStyle/>
          <a:p>
            <a:pPr algn="l"/>
            <a:r>
              <a:rPr sz="1100" b="0">
                <a:solidFill>
                  <a:srgbClr val="6B7B75"/>
                </a:solidFill>
                <a:latin typeface="Segoe UI"/>
              </a:rPr>
              <a:t>FIGURE — capturez la diapositive 11 du deck HTML et collez-la ici.  (L'étape 5 n'est pas une formalité. C'est elle qui décide si votre pays peut diffuser ceci.)</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Trois nombres, trois questions différentes</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CALCULEZ LES TROIS, TOUJOURS — Elles peuvent évoluer en sens opposés dans le même pays, la même année — et cette
divergence  est  le résultat.</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1B7A43"/>
                </a:solidFill>
                <a:latin typeface="Segoe UI"/>
              </a:rPr>
              <a:t>UN NOMBRE À PUBLIER À CÔTÉ</a:t>
            </a:r>
          </a:p>
        </p:txBody>
      </p:sp>
      <p:sp>
        <p:nvSpPr>
          <p:cNvPr id="4" name="TextBox 3"/>
          <p:cNvSpPr txBox="1"/>
          <p:nvPr/>
        </p:nvSpPr>
        <p:spPr>
          <a:xfrm>
            <a:off x="731520" y="914400"/>
            <a:ext cx="10728655" cy="548640"/>
          </a:xfrm>
          <a:prstGeom prst="rect">
            <a:avLst/>
          </a:prstGeom>
          <a:noFill/>
        </p:spPr>
        <p:txBody>
          <a:bodyPr wrap="square">
            <a:spAutoFit/>
          </a:bodyPr>
          <a:lstStyle/>
          <a:p>
            <a:pPr algn="l"/>
            <a:r>
              <a:rPr sz="1400" b="0">
                <a:solidFill>
                  <a:srgbClr val="33403A"/>
                </a:solidFill>
                <a:latin typeface="Segoe UI"/>
              </a:rPr>
              <a:t>À 0,1 nW·cm⁻²·sr⁻¹ un pays peut être éclairé à 40 %. À 5,0, à six pour cent.
Même pays, même année, même satellite.</a:t>
            </a:r>
          </a:p>
        </p:txBody>
      </p:sp>
      <p:sp>
        <p:nvSpPr>
          <p:cNvPr id="5" name="Rectangle 4"/>
          <p:cNvSpPr/>
          <p:nvPr/>
        </p:nvSpPr>
        <p:spPr>
          <a:xfrm>
            <a:off x="731520" y="141732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LA RÈGLE — Publiez le seuil à côté du nombre. Systématiquement, sans exception.</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PARTIE 3</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Les six artefacts</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Nommés ici. Rencontrés concrètement à 10h30, dans le raster de votre pays.</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9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FFFFFF"/>
                </a:solidFill>
                <a:latin typeface="Segoe UI"/>
              </a:rPr>
              <a:t>Ce que le capteur voit et que vous n'avez pas demandé</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PLUS DEUX QUE VOUS NE VERREZ PAS AUJOURD'HUI — Saisonnalité  — nuages, aérosols, clair de lune et poussière
d'harmattan déplacent les séries mensuelles ; les composites annuels le masquent.
 Discontinuité de capteur  — le raccord DMSP/VIIRS, vu plus haut.</a:t>
            </a:r>
          </a:p>
        </p:txBody>
      </p:sp>
      <p:sp>
        <p:nvSpPr>
          <p:cNvPr id="5" name="TextBox 4"/>
          <p:cNvSpPr txBox="1"/>
          <p:nvPr/>
        </p:nvSpPr>
        <p:spPr>
          <a:xfrm>
            <a:off x="731520" y="2468880"/>
            <a:ext cx="10728655" cy="640080"/>
          </a:xfrm>
          <a:prstGeom prst="rect">
            <a:avLst/>
          </a:prstGeom>
          <a:noFill/>
        </p:spPr>
        <p:txBody>
          <a:bodyPr wrap="square">
            <a:spAutoFit/>
          </a:bodyPr>
          <a:lstStyle/>
          <a:p>
            <a:pPr algn="l"/>
            <a:r>
              <a:rPr sz="1100" b="0">
                <a:solidFill>
                  <a:srgbClr val="6B7B75"/>
                </a:solidFill>
                <a:latin typeface="Segoe UI"/>
              </a:rPr>
              <a:t>FIGURE — capturez la diapositive 15 du deck HTML et collez-la ici.</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Trois façons de se tromper</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TROIS NOMBRES PLAUSIBLES, BIEN FORMATÉS — Aucun n'est visible dans le tableau de sortie.</a:t>
            </a:r>
          </a:p>
        </p:txBody>
      </p:sp>
      <p:graphicFrame>
        <p:nvGraphicFramePr>
          <p:cNvPr id="5" name="Table 4"/>
          <p:cNvGraphicFramePr>
            <a:graphicFrameLocks noGrp="1"/>
          </p:cNvGraphicFramePr>
          <p:nvPr/>
        </p:nvGraphicFramePr>
        <p:xfrm>
          <a:off x="731520" y="2468880"/>
          <a:ext cx="10728655" cy="1170432"/>
        </p:xfrm>
        <a:graphic>
          <a:graphicData uri="http://schemas.openxmlformats.org/drawingml/2006/table">
            <a:tbl>
              <a:tblPr firstRow="1" bandRow="1">
                <a:tableStyleId>{5C22544A-7EE6-4342-B048-85BDC9FD1C3A}</a:tableStyleId>
              </a:tblPr>
              <a:tblGrid>
                <a:gridCol w="3576218"/>
                <a:gridCol w="3576218"/>
                <a:gridCol w="3576219"/>
              </a:tblGrid>
              <a:tr h="292608">
                <a:tc>
                  <a:txBody>
                    <a:bodyPr/>
                    <a:lstStyle/>
                    <a:p>
                      <a:r>
                        <a:rPr sz="1000" b="1">
                          <a:solidFill>
                            <a:srgbClr val="FFFFFF"/>
                          </a:solidFill>
                          <a:latin typeface="Segoe UI"/>
                        </a:rPr>
                        <a:t>L'affirmation</a:t>
                      </a:r>
                    </a:p>
                  </a:txBody>
                  <a:tcPr/>
                </a:tc>
                <a:tc>
                  <a:txBody>
                    <a:bodyPr/>
                    <a:lstStyle/>
                    <a:p>
                      <a:r>
                        <a:rPr sz="1000" b="1">
                          <a:solidFill>
                            <a:srgbClr val="FFFFFF"/>
                          </a:solidFill>
                          <a:latin typeface="Segoe UI"/>
                        </a:rPr>
                        <a:t>Ce qui s'est vraiment passé</a:t>
                      </a:r>
                    </a:p>
                  </a:txBody>
                  <a:tcPr/>
                </a:tc>
                <a:tc>
                  <a:txBody>
                    <a:bodyPr/>
                    <a:lstStyle/>
                    <a:p>
                      <a:r>
                        <a:rPr sz="1000" b="1">
                          <a:solidFill>
                            <a:srgbClr val="FFFFFF"/>
                          </a:solidFill>
                          <a:latin typeface="Segoe UI"/>
                        </a:rPr>
                        <a:t>Le contrôle qui le détecte</a:t>
                      </a:r>
                    </a:p>
                  </a:txBody>
                  <a:tcPr/>
                </a:tc>
              </a:tr>
              <a:tr h="292608">
                <a:tc>
                  <a:txBody>
                    <a:bodyPr/>
                    <a:lstStyle/>
                    <a:p>
                      <a:r>
                        <a:rPr sz="1000" b="0">
                          <a:solidFill>
                            <a:srgbClr val="33403A"/>
                          </a:solidFill>
                          <a:latin typeface="Segoe UI"/>
                        </a:rPr>
                        <a:t>« Le PIB régional a crû de 40 % en un an »</a:t>
                      </a:r>
                    </a:p>
                  </a:txBody>
                  <a:tcPr/>
                </a:tc>
                <a:tc>
                  <a:txBody>
                    <a:bodyPr/>
                    <a:lstStyle/>
                    <a:p>
                      <a:r>
                        <a:rPr sz="1000" b="0">
                          <a:solidFill>
                            <a:srgbClr val="33403A"/>
                          </a:solidFill>
                          <a:latin typeface="Segoe UI"/>
                        </a:rPr>
                        <a:t>Une tuile manquante l'année d'avant</a:t>
                      </a:r>
                    </a:p>
                  </a:txBody>
                  <a:tcPr/>
                </a:tc>
                <a:tc>
                  <a:txBody>
                    <a:bodyPr/>
                    <a:lstStyle/>
                    <a:p>
                      <a:r>
                        <a:rPr sz="1000" b="0">
                          <a:solidFill>
                            <a:srgbClr val="33403A"/>
                          </a:solidFill>
                          <a:latin typeface="Segoe UI"/>
                        </a:rPr>
                        <a:t>Audit de complétude  labo 1, étape 3</a:t>
                      </a:r>
                    </a:p>
                  </a:txBody>
                  <a:tcPr/>
                </a:tc>
              </a:tr>
              <a:tr h="292608">
                <a:tc>
                  <a:txBody>
                    <a:bodyPr/>
                    <a:lstStyle/>
                    <a:p>
                      <a:r>
                        <a:rPr sz="1000" b="0">
                          <a:solidFill>
                            <a:srgbClr val="33403A"/>
                          </a:solidFill>
                          <a:latin typeface="Segoe UI"/>
                        </a:rPr>
                        <a:t>« Notre région la plus active »</a:t>
                      </a:r>
                    </a:p>
                  </a:txBody>
                  <a:tcPr/>
                </a:tc>
                <a:tc>
                  <a:txBody>
                    <a:bodyPr/>
                    <a:lstStyle/>
                    <a:p>
                      <a:r>
                        <a:rPr sz="1000" b="0">
                          <a:solidFill>
                            <a:srgbClr val="33403A"/>
                          </a:solidFill>
                          <a:latin typeface="Segoe UI"/>
                        </a:rPr>
                        <a:t>Une torchère. Population : 400</a:t>
                      </a:r>
                    </a:p>
                  </a:txBody>
                  <a:tcPr/>
                </a:tc>
                <a:tc>
                  <a:txBody>
                    <a:bodyPr/>
                    <a:lstStyle/>
                    <a:p>
                      <a:r>
                        <a:rPr sz="1000" b="0">
                          <a:solidFill>
                            <a:srgbClr val="33403A"/>
                          </a:solidFill>
                          <a:latin typeface="Segoe UI"/>
                        </a:rPr>
                        <a:t>Classer les pixels intenses contre une carte des localités</a:t>
                      </a:r>
                    </a:p>
                  </a:txBody>
                  <a:tcPr/>
                </a:tc>
              </a:tr>
              <a:tr h="292608">
                <a:tc>
                  <a:txBody>
                    <a:bodyPr/>
                    <a:lstStyle/>
                    <a:p>
                      <a:r>
                        <a:rPr sz="1000" b="0">
                          <a:solidFill>
                            <a:srgbClr val="33403A"/>
                          </a:solidFill>
                          <a:latin typeface="Segoe UI"/>
                        </a:rPr>
                        <a:t>« L'électrification a stagné dans la capitale »</a:t>
                      </a:r>
                    </a:p>
                  </a:txBody>
                  <a:tcPr/>
                </a:tc>
                <a:tc>
                  <a:txBody>
                    <a:bodyPr/>
                    <a:lstStyle/>
                    <a:p>
                      <a:r>
                        <a:rPr sz="1000" b="0">
                          <a:solidFill>
                            <a:srgbClr val="33403A"/>
                          </a:solidFill>
                          <a:latin typeface="Segoe UI"/>
                        </a:rPr>
                        <a:t>La capitale a saturé le capteur en 2018</a:t>
                      </a:r>
                    </a:p>
                  </a:txBody>
                  <a:tcPr/>
                </a:tc>
                <a:tc>
                  <a:txBody>
                    <a:bodyPr/>
                    <a:lstStyle/>
                    <a:p>
                      <a:r>
                        <a:rPr sz="1000" b="0">
                          <a:solidFill>
                            <a:srgbClr val="33403A"/>
                          </a:solidFill>
                          <a:latin typeface="Segoe UI"/>
                        </a:rPr>
                        <a:t>Couper l'amas le plus vif : le sommet plat</a:t>
                      </a:r>
                    </a:p>
                  </a:txBody>
                  <a:tcPr/>
                </a:tc>
              </a:tr>
            </a:tbl>
          </a:graphicData>
        </a:graphic>
      </p:graphicFrame>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Ce que les NTL approchent bien — et ce qu'elles n'approchent pas</a:t>
            </a:r>
          </a:p>
        </p:txBody>
      </p:sp>
      <p:sp>
        <p:nvSpPr>
          <p:cNvPr id="4" name="TextBox 3"/>
          <p:cNvSpPr txBox="1"/>
          <p:nvPr/>
        </p:nvSpPr>
        <p:spPr>
          <a:xfrm>
            <a:off x="731520" y="1371600"/>
            <a:ext cx="10728655" cy="4389120"/>
          </a:xfrm>
          <a:prstGeom prst="rect">
            <a:avLst/>
          </a:prstGeom>
          <a:noFill/>
        </p:spPr>
        <p:txBody>
          <a:bodyPr wrap="square">
            <a:spAutoFit/>
          </a:bodyPr>
          <a:lstStyle/>
          <a:p>
            <a:pPr>
              <a:spcAft>
                <a:spcPts val="700"/>
              </a:spcAft>
            </a:pPr>
            <a:r>
              <a:rPr sz="1400">
                <a:solidFill>
                  <a:srgbClr val="33403A"/>
                </a:solidFill>
                <a:latin typeface="Segoe UI"/>
              </a:rPr>
              <a:t>•  Le PIB en niveau</a:t>
            </a:r>
          </a:p>
          <a:p>
            <a:pPr>
              <a:spcAft>
                <a:spcPts val="700"/>
              </a:spcAft>
            </a:pPr>
            <a:r>
              <a:rPr sz="1400">
                <a:solidFill>
                  <a:srgbClr val="33403A"/>
                </a:solidFill>
                <a:latin typeface="Segoe UI"/>
              </a:rPr>
              <a:t>•  Le taux de raccordement des ménages</a:t>
            </a:r>
          </a:p>
          <a:p>
            <a:pPr>
              <a:spcAft>
                <a:spcPts val="700"/>
              </a:spcAft>
            </a:pPr>
            <a:r>
              <a:rPr sz="1400">
                <a:solidFill>
                  <a:srgbClr val="33403A"/>
                </a:solidFill>
                <a:latin typeface="Segoe UI"/>
              </a:rPr>
              <a:t>•  L'activité informelle de jour</a:t>
            </a:r>
          </a:p>
          <a:p>
            <a:pPr>
              <a:spcAft>
                <a:spcPts val="700"/>
              </a:spcAft>
            </a:pPr>
            <a:r>
              <a:rPr sz="1400">
                <a:solidFill>
                  <a:srgbClr val="33403A"/>
                </a:solidFill>
                <a:latin typeface="Segoe UI"/>
              </a:rPr>
              <a:t>•  Toute analyse à l'échelle du village</a:t>
            </a:r>
          </a:p>
          <a:p>
            <a:pPr>
              <a:spcAft>
                <a:spcPts val="700"/>
              </a:spcAft>
            </a:pPr>
            <a:r>
              <a:rPr sz="1400">
                <a:solidFill>
                  <a:srgbClr val="33403A"/>
                </a:solidFill>
                <a:latin typeface="Segoe UI"/>
              </a:rPr>
              <a:t>•  Les niveaux entre pays</a:t>
            </a:r>
          </a:p>
          <a:p>
            <a:pPr>
              <a:spcAft>
                <a:spcPts val="700"/>
              </a:spcAft>
            </a:pPr>
            <a:r>
              <a:rPr sz="1400">
                <a:solidFill>
                  <a:srgbClr val="33403A"/>
                </a:solidFill>
                <a:latin typeface="Segoe UI"/>
              </a:rPr>
              <a:t>•  Progrès de l'électrification</a:t>
            </a:r>
          </a:p>
          <a:p>
            <a:pPr>
              <a:spcAft>
                <a:spcPts val="700"/>
              </a:spcAft>
            </a:pPr>
            <a:r>
              <a:rPr sz="1400">
                <a:solidFill>
                  <a:srgbClr val="33403A"/>
                </a:solidFill>
                <a:latin typeface="Segoe UI"/>
              </a:rPr>
              <a:t>•  Urbanisation et croissance des localités</a:t>
            </a:r>
          </a:p>
          <a:p>
            <a:pPr>
              <a:spcAft>
                <a:spcPts val="700"/>
              </a:spcAft>
            </a:pPr>
            <a:r>
              <a:rPr sz="1400">
                <a:solidFill>
                  <a:srgbClr val="33403A"/>
                </a:solidFill>
                <a:latin typeface="Segoe UI"/>
              </a:rPr>
              <a:t>•  Impact des crises et des conflits</a:t>
            </a:r>
          </a:p>
          <a:p>
            <a:pPr>
              <a:spcAft>
                <a:spcPts val="700"/>
              </a:spcAft>
            </a:pPr>
            <a:r>
              <a:rPr sz="1400">
                <a:solidFill>
                  <a:srgbClr val="33403A"/>
                </a:solidFill>
                <a:latin typeface="Segoe UI"/>
              </a:rPr>
              <a:t>•  Inégalité spatiale des infrastructures</a:t>
            </a:r>
          </a:p>
        </p:txBody>
      </p:sp>
      <p:sp>
        <p:nvSpPr>
          <p:cNvPr id="5" name="TextBox 4"/>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Ce que vous aurez à 17h00</a:t>
            </a:r>
          </a:p>
        </p:txBody>
      </p:sp>
      <p:sp>
        <p:nvSpPr>
          <p:cNvPr id="4" name="TextBox 3"/>
          <p:cNvSpPr txBox="1"/>
          <p:nvPr/>
        </p:nvSpPr>
        <p:spPr>
          <a:xfrm>
            <a:off x="731520" y="1371600"/>
            <a:ext cx="10728655" cy="457200"/>
          </a:xfrm>
          <a:prstGeom prst="rect">
            <a:avLst/>
          </a:prstGeom>
          <a:noFill/>
        </p:spPr>
        <p:txBody>
          <a:bodyPr wrap="square">
            <a:spAutoFit/>
          </a:bodyPr>
          <a:lstStyle/>
          <a:p>
            <a:pPr algn="l"/>
            <a:r>
              <a:rPr sz="1500" b="1">
                <a:solidFill>
                  <a:srgbClr val="1B7A43"/>
                </a:solidFill>
                <a:latin typeface="Segoe UI"/>
              </a:rPr>
              <a:t>1  Raster national découpé</a:t>
            </a:r>
          </a:p>
        </p:txBody>
      </p:sp>
      <p:sp>
        <p:nvSpPr>
          <p:cNvPr id="5" name="Rectangle 4"/>
          <p:cNvSpPr/>
          <p:nvPr/>
        </p:nvSpPr>
        <p:spPr>
          <a:xfrm>
            <a:off x="731520" y="192024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UNE SEULE VARIABLE COMMANDE LE TOUT — COUNTRY_ISO3 = "CIV"  
Frontières, tuiles satellitaires, projection, emprise et titres de figures en
découlent — pour les 55 États membres de l'Union africaine.</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Mon indicateur est-il publiable ? Un cadre de décision</a:t>
            </a:r>
          </a:p>
        </p:txBody>
      </p:sp>
      <p:sp>
        <p:nvSpPr>
          <p:cNvPr id="4" name="Rectangle 3"/>
          <p:cNvSpPr/>
          <p:nvPr/>
        </p:nvSpPr>
        <p:spPr>
          <a:xfrm>
            <a:off x="731520" y="1371600"/>
            <a:ext cx="10728655" cy="960120"/>
          </a:xfrm>
          <a:prstGeom prst="rect">
            <a:avLst/>
          </a:prstGeom>
          <a:solidFill>
            <a:srgbClr val="F4F8F5"/>
          </a:solidFill>
          <a:ln>
            <a:solidFill>
              <a:srgbClr val="1B7A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a:solidFill>
                  <a:srgbClr val="33403A"/>
                </a:solidFill>
                <a:latin typeface="Segoe UI"/>
              </a:rPr>
              <a:t>LA PHRASE HONNÊTE QUE VOUS VISEZ — « La radiance nocturne à l'ADM2, VNP46A4 collection 002, seuil d'éclairement
0,5 nW·cm⁻²·sr⁻¹, corrèle avec notre taux d'électrification officiel à
r = 0,NN sur NN districts en 20NN. Adaptée au suivi de l'évolution
relative entre districts ; inadaptée à l'estimation des taux de raccordement en
niveau. »</a:t>
            </a:r>
          </a:p>
        </p:txBody>
      </p:sp>
      <p:sp>
        <p:nvSpPr>
          <p:cNvPr id="5" name="TextBox 4"/>
          <p:cNvSpPr txBox="1"/>
          <p:nvPr/>
        </p:nvSpPr>
        <p:spPr>
          <a:xfrm>
            <a:off x="731520" y="2468880"/>
            <a:ext cx="10728655" cy="640080"/>
          </a:xfrm>
          <a:prstGeom prst="rect">
            <a:avLst/>
          </a:prstGeom>
          <a:noFill/>
        </p:spPr>
        <p:txBody>
          <a:bodyPr wrap="square">
            <a:spAutoFit/>
          </a:bodyPr>
          <a:lstStyle/>
          <a:p>
            <a:pPr algn="l"/>
            <a:r>
              <a:rPr sz="1100" b="0">
                <a:solidFill>
                  <a:srgbClr val="6B7B75"/>
                </a:solidFill>
                <a:latin typeface="Segoe UI"/>
              </a:rPr>
              <a:t>FIGURE — capturez la diapositive 19 du deck HTML et collez-la ici.</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9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320040"/>
          </a:xfrm>
          <a:prstGeom prst="rect">
            <a:avLst/>
          </a:prstGeom>
          <a:noFill/>
        </p:spPr>
        <p:txBody>
          <a:bodyPr wrap="square">
            <a:spAutoFit/>
          </a:bodyPr>
          <a:lstStyle/>
          <a:p>
            <a:pPr algn="l"/>
            <a:r>
              <a:rPr sz="1100" b="1">
                <a:solidFill>
                  <a:srgbClr val="F2A900"/>
                </a:solidFill>
                <a:latin typeface="Segoe UI"/>
              </a:rPr>
              <a:t>PLACE AUX DONNÉES</a:t>
            </a:r>
          </a:p>
        </p:txBody>
      </p:sp>
      <p:sp>
        <p:nvSpPr>
          <p:cNvPr id="4" name="TextBox 3"/>
          <p:cNvSpPr txBox="1"/>
          <p:nvPr/>
        </p:nvSpPr>
        <p:spPr>
          <a:xfrm>
            <a:off x="731520" y="914400"/>
            <a:ext cx="10728655" cy="914400"/>
          </a:xfrm>
          <a:prstGeom prst="rect">
            <a:avLst/>
          </a:prstGeom>
          <a:noFill/>
        </p:spPr>
        <p:txBody>
          <a:bodyPr wrap="square">
            <a:spAutoFit/>
          </a:bodyPr>
          <a:lstStyle/>
          <a:p>
            <a:pPr algn="l"/>
            <a:r>
              <a:rPr sz="2800" b="1">
                <a:solidFill>
                  <a:srgbClr val="FFFFFF"/>
                </a:solidFill>
                <a:latin typeface="Segoe UI"/>
              </a:rPr>
              <a:t>09h30 — Laboratoire 1</a:t>
            </a:r>
          </a:p>
        </p:txBody>
      </p:sp>
      <p:sp>
        <p:nvSpPr>
          <p:cNvPr id="5" name="TextBox 4"/>
          <p:cNvSpPr txBox="1"/>
          <p:nvPr/>
        </p:nvSpPr>
        <p:spPr>
          <a:xfrm>
            <a:off x="731520" y="1783080"/>
            <a:ext cx="10728655" cy="548640"/>
          </a:xfrm>
          <a:prstGeom prst="rect">
            <a:avLst/>
          </a:prstGeom>
          <a:noFill/>
        </p:spPr>
        <p:txBody>
          <a:bodyPr wrap="square">
            <a:spAutoFit/>
          </a:bodyPr>
          <a:lstStyle/>
          <a:p>
            <a:pPr algn="l"/>
            <a:r>
              <a:rPr sz="1400" b="0">
                <a:solidFill>
                  <a:srgbClr val="DBE7E0"/>
                </a:solidFill>
                <a:latin typeface="Segoe UI"/>
              </a:rPr>
              <a:t>Collecter les granules de votre propre pays, auditer
leur complétude, charger vos frontières, et découper.</a:t>
            </a:r>
          </a:p>
        </p:txBody>
      </p:sp>
      <p:sp>
        <p:nvSpPr>
          <p:cNvPr id="6" name="TextBox 5"/>
          <p:cNvSpPr txBox="1"/>
          <p:nvPr/>
        </p:nvSpPr>
        <p:spPr>
          <a:xfrm>
            <a:off x="731520" y="2286000"/>
            <a:ext cx="10728655" cy="548640"/>
          </a:xfrm>
          <a:prstGeom prst="rect">
            <a:avLst/>
          </a:prstGeom>
          <a:noFill/>
        </p:spPr>
        <p:txBody>
          <a:bodyPr wrap="square">
            <a:spAutoFit/>
          </a:bodyPr>
          <a:lstStyle/>
          <a:p>
            <a:pPr algn="l"/>
            <a:r>
              <a:rPr sz="1400" b="0">
                <a:solidFill>
                  <a:srgbClr val="DBE7E0"/>
                </a:solidFill>
                <a:latin typeface="Segoe UI"/>
              </a:rPr>
              <a:t>Piste guidée ou piste ouverte — à votre
choix, et vous pouvez basculer. Le livrable est le même dans les deux cas.</a:t>
            </a:r>
          </a:p>
        </p:txBody>
      </p:sp>
      <p:sp>
        <p:nvSpPr>
          <p:cNvPr id="7" name="TextBox 6"/>
          <p:cNvSpPr txBox="1"/>
          <p:nvPr/>
        </p:nvSpPr>
        <p:spPr>
          <a:xfrm>
            <a:off x="731520" y="2788920"/>
            <a:ext cx="10728655" cy="548640"/>
          </a:xfrm>
          <a:prstGeom prst="rect">
            <a:avLst/>
          </a:prstGeom>
          <a:noFill/>
        </p:spPr>
        <p:txBody>
          <a:bodyPr wrap="square">
            <a:spAutoFit/>
          </a:bodyPr>
          <a:lstStyle/>
          <a:p>
            <a:pPr algn="l"/>
            <a:r>
              <a:rPr sz="1400" b="0">
                <a:solidFill>
                  <a:srgbClr val="DBE7E0"/>
                </a:solidFill>
                <a:latin typeface="Segoe UI"/>
              </a:rPr>
              <a:t>Pas de jeton Earthdata, pas de réseau, ou un téléchargement qui n'aboutit pas ? 
Prenez la variante Earth Engine — elle ne télécharge rien. 
Ou mettez  COUNTRY_ISO3 = "CIV" , le pays de référence, et poursuivez.</a:t>
            </a:r>
          </a:p>
        </p:txBody>
      </p:sp>
      <p:sp>
        <p:nvSpPr>
          <p:cNvPr id="8" name="TextBox 7"/>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0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728655" cy="914400"/>
          </a:xfrm>
          <a:prstGeom prst="rect">
            <a:avLst/>
          </a:prstGeom>
          <a:noFill/>
        </p:spPr>
        <p:txBody>
          <a:bodyPr wrap="square">
            <a:spAutoFit/>
          </a:bodyPr>
          <a:lstStyle/>
          <a:p>
            <a:pPr algn="l"/>
            <a:r>
              <a:rPr sz="2800" b="1">
                <a:solidFill>
                  <a:srgbClr val="0B2545"/>
                </a:solidFill>
                <a:latin typeface="Segoe UI"/>
              </a:rPr>
              <a:t>Références</a:t>
            </a:r>
          </a:p>
        </p:txBody>
      </p:sp>
      <p:sp>
        <p:nvSpPr>
          <p:cNvPr id="4" name="TextBox 3"/>
          <p:cNvSpPr txBox="1"/>
          <p:nvPr/>
        </p:nvSpPr>
        <p:spPr>
          <a:xfrm>
            <a:off x="731520" y="1371600"/>
            <a:ext cx="10728655" cy="548640"/>
          </a:xfrm>
          <a:prstGeom prst="rect">
            <a:avLst/>
          </a:prstGeom>
          <a:noFill/>
        </p:spPr>
        <p:txBody>
          <a:bodyPr wrap="square">
            <a:spAutoFit/>
          </a:bodyPr>
          <a:lstStyle/>
          <a:p>
            <a:pPr algn="l"/>
            <a:r>
              <a:rPr sz="1400" b="0">
                <a:solidFill>
                  <a:srgbClr val="33403A"/>
                </a:solidFill>
                <a:latin typeface="Segoe UI"/>
              </a:rPr>
              <a:t>Chaque affirmation de cette présentation renvoie à l'une d'elles. Les DOI se
résolvent sur  doi.org/&lt;doi&gt; .</a:t>
            </a:r>
          </a:p>
        </p:txBody>
      </p:sp>
      <p:sp>
        <p:nvSpPr>
          <p:cNvPr id="5" name="TextBox 4"/>
          <p:cNvSpPr txBox="1"/>
          <p:nvPr/>
        </p:nvSpPr>
        <p:spPr>
          <a:xfrm>
            <a:off x="731520" y="1874520"/>
            <a:ext cx="10728655" cy="3886200"/>
          </a:xfrm>
          <a:prstGeom prst="rect">
            <a:avLst/>
          </a:prstGeom>
          <a:noFill/>
        </p:spPr>
        <p:txBody>
          <a:bodyPr wrap="square">
            <a:spAutoFit/>
          </a:bodyPr>
          <a:lstStyle/>
          <a:p>
            <a:pPr>
              <a:spcAft>
                <a:spcPts val="700"/>
              </a:spcAft>
            </a:pPr>
            <a:r>
              <a:rPr sz="1400">
                <a:solidFill>
                  <a:srgbClr val="33403A"/>
                </a:solidFill>
                <a:latin typeface="Segoe UI"/>
              </a:rPr>
              <a:t>•  Román, M.O., et al.  (2018). NASA's Black Marble nighttime lights product
suite.  Remote Sensing of Environment , 210, 113–143.
 10.1016/j.rse.2018.03.017  
 La suite VNP46 — à lire avant d'utiliser VNP46A2/A3/A4.</a:t>
            </a:r>
          </a:p>
          <a:p>
            <a:pPr>
              <a:spcAft>
                <a:spcPts val="700"/>
              </a:spcAft>
            </a:pPr>
            <a:r>
              <a:rPr sz="1400">
                <a:solidFill>
                  <a:srgbClr val="33403A"/>
                </a:solidFill>
                <a:latin typeface="Segoe UI"/>
              </a:rPr>
              <a:t>•  Elvidge, C.D., Zhizhin, M., Ghosh, T., Hsu, F.-C., Taneja, J.  (2021).
Annual Time Series of Global VIIRS Nighttime Lights Derived from Monthly Averages:
2012 to 2019.  Remote Sensing , 13(5), 922.
 10.3390/rs13050922  
 La série annuelle VNL v2 de l'EOG — le produit derrière la variante Earth Engine.</a:t>
            </a:r>
          </a:p>
          <a:p>
            <a:pPr>
              <a:spcAft>
                <a:spcPts val="700"/>
              </a:spcAft>
            </a:pPr>
            <a:r>
              <a:rPr sz="1400">
                <a:solidFill>
                  <a:srgbClr val="33403A"/>
                </a:solidFill>
                <a:latin typeface="Segoe UI"/>
              </a:rPr>
              <a:t>•  Levin, N., et al.  (2020). Remote sensing of night lights: A review and an
outlook for the future.  Remote Sensing of Environment , 237, 111443.
 10.1016/j.rse.2019.111443  
 Le meilleur point de départ si vous ne lisez qu'un seul article.</a:t>
            </a:r>
          </a:p>
          <a:p>
            <a:pPr>
              <a:spcAft>
                <a:spcPts val="700"/>
              </a:spcAft>
            </a:pPr>
            <a:r>
              <a:rPr sz="1400">
                <a:solidFill>
                  <a:srgbClr val="33403A"/>
                </a:solidFill>
                <a:latin typeface="Segoe UI"/>
              </a:rPr>
              <a:t>•  Henderson, J.V., Storeygard, A., Weil, D.N.  (2012). Measuring Economic
Growth from Outer Space.  American Economic Review , 102(2), 994–1028.
 10.1257/aer.102.2.994  
 L'argument fondateur des lumières comme complément à des comptes nationaux fragiles.</a:t>
            </a:r>
          </a:p>
          <a:p>
            <a:pPr>
              <a:spcAft>
                <a:spcPts val="700"/>
              </a:spcAft>
            </a:pPr>
            <a:r>
              <a:rPr sz="1400">
                <a:solidFill>
                  <a:srgbClr val="33403A"/>
                </a:solidFill>
                <a:latin typeface="Segoe UI"/>
              </a:rPr>
              <a:t>•  Gibson, J., Olivia, S., Boe-Gibson, G.  (2020). Night Lights in Economics:
Sources and Uses.  Journal of Economic Surveys , 34(5), 955–980. 
 Une revue critique. À lire avec Henderson et al., pas à sa place.</a:t>
            </a:r>
          </a:p>
          <a:p>
            <a:pPr>
              <a:spcAft>
                <a:spcPts val="700"/>
              </a:spcAft>
            </a:pPr>
            <a:r>
              <a:rPr sz="1400">
                <a:solidFill>
                  <a:srgbClr val="33403A"/>
                </a:solidFill>
                <a:latin typeface="Segoe UI"/>
              </a:rPr>
              <a:t>•  Gibson, J., Olivia, S., Boe-Gibson, G., Li, C.  (2021). Which night lights
data should we use in economics, and where?  Journal of Development Economics ,
149, 102602.  10.1016/j.jdeveco.2020.102602  
 Pourquoi nommer son produit et sa version n'est pas du pédantisme.</a:t>
            </a:r>
          </a:p>
          <a:p>
            <a:pPr>
              <a:spcAft>
                <a:spcPts val="700"/>
              </a:spcAft>
            </a:pPr>
            <a:r>
              <a:rPr sz="1400">
                <a:solidFill>
                  <a:srgbClr val="33403A"/>
                </a:solidFill>
                <a:latin typeface="Segoe UI"/>
              </a:rPr>
              <a:t>•  Bluhm, R., Krause, M.  (2022). Top lights: Bright cities and their
contribution to economic development.  Journal of Development Economics , 157,
102880.  10.1016/j.jdeveco.2022.102880  
 La correction de saturation inverse le résultat villes primaires / secondaires
en Afrique subsaharienne.</a:t>
            </a:r>
          </a:p>
          <a:p>
            <a:pPr>
              <a:spcAft>
                <a:spcPts val="700"/>
              </a:spcAft>
            </a:pPr>
            <a:r>
              <a:rPr sz="1400">
                <a:solidFill>
                  <a:srgbClr val="33403A"/>
                </a:solidFill>
                <a:latin typeface="Segoe UI"/>
              </a:rPr>
              <a:t>•  Min, B., Gaba, K.M., Sarr, O.F., Agalassou, A.  (2013). Detection of rural
electrification in Africa using DMSP-OLS night lights imagery.  International
Journal of Remote Sensing , 34(22), 8118–8141.
 10.1080/01431161.2013.833358  
 Sénégal et Mali, validés contre des relevés de terrain. La référence africaine.</a:t>
            </a:r>
          </a:p>
          <a:p>
            <a:pPr>
              <a:spcAft>
                <a:spcPts val="700"/>
              </a:spcAft>
            </a:pPr>
            <a:r>
              <a:rPr sz="1400">
                <a:solidFill>
                  <a:srgbClr val="33403A"/>
                </a:solidFill>
                <a:latin typeface="Segoe UI"/>
              </a:rPr>
              <a:t>•  Elvidge, C.D., Zhizhin, M., Baugh, K., Hsu, F.-C., Ghosh, T.  (2016).
Methods for Global Survey of Natural Gas Flaring from Visible Infrared Imaging
Radiometer Suite Data.  Energies , 9(1), 14.
 10.3390/en9010014  
 Comment les torchères sont détectées — donc comment les masquer de vos totaux.</a:t>
            </a:r>
          </a:p>
        </p:txBody>
      </p:sp>
      <p:sp>
        <p:nvSpPr>
          <p:cNvPr id="6" name="TextBox 5"/>
          <p:cNvSpPr txBox="1"/>
          <p:nvPr/>
        </p:nvSpPr>
        <p:spPr>
          <a:xfrm>
            <a:off x="731520" y="6400800"/>
            <a:ext cx="10728655" cy="274320"/>
          </a:xfrm>
          <a:prstGeom prst="rect">
            <a:avLst/>
          </a:prstGeom>
          <a:noFill/>
        </p:spPr>
        <p:txBody>
          <a:bodyPr wrap="square">
            <a:spAutoFit/>
          </a:bodyPr>
          <a:lstStyle/>
          <a:p>
            <a:pPr algn="l"/>
            <a:r>
              <a:rPr sz="900" b="0">
                <a:solidFill>
                  <a:srgbClr val="6B7B75"/>
                </a:solidFill>
                <a:latin typeface="Segoe UI"/>
              </a:rPr>
              <a:t>Banque africaine de développement · UA STATAFRIC · STG17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377440"/>
            <a:ext cx="9997135" cy="2286000"/>
          </a:xfrm>
          <a:prstGeom prst="rect">
            <a:avLst/>
          </a:prstGeom>
          <a:noFill/>
        </p:spPr>
        <p:txBody>
          <a:bodyPr wrap="square">
            <a:spAutoFit/>
          </a:bodyPr>
          <a:lstStyle/>
          <a:p>
            <a:pPr algn="ctr"/>
            <a:r>
              <a:rPr sz="1400" b="0">
                <a:solidFill>
                  <a:srgbClr val="DBE7E0"/>
                </a:solidFill>
                <a:latin typeface="Segoe UI"/>
              </a:rPr>
              <a:t>Ce fichier PowerPoint est généré à partir du deck reveal.js
slides/decks/08-ntl-what-darkness-tells-us.deck.html
Les modifications faites ici ne remontent pas. Si votre changement doit être permanent,
modifiez la source et exécutez :  python tools/build_slides.py &amp;&amp; python tools/build_pptx.py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