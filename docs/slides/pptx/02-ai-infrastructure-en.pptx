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A900"/>
                </a:solidFill>
                <a:latin typeface="Segoe UI"/>
              </a:rPr>
              <a:t>AFRICAN DEVELOPMENT BANK · AU STATAFRIC · STG17 · 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AI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BE7E0"/>
                </a:solidFill>
                <a:latin typeface="Segoe UI"/>
              </a:rPr>
              <a:t>What it really takes to run AI in a statistical office — and what you do not need to buy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7A43"/>
                </a:solidFill>
                <a:latin typeface="Segoe UI"/>
              </a:rPr>
              <a:t>THE QUESTION YOU WERE SENT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“What do we need to buy?”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03A"/>
                </a:solidFill>
                <a:latin typeface="Segoe UI"/>
              </a:rPr>
              <a:t>It is the wrong first question, and answering it first is how offices end up
with an expensive machine and no use case.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10728655" cy="960120"/>
          </a:xfrm>
          <a:prstGeom prst="rect">
            <a:avLst/>
          </a:prstGeom>
          <a:solidFill>
            <a:srgbClr val="F4F8F5"/>
          </a:solidFill>
          <a:ln>
            <a:solidFill>
              <a:srgbClr val="1B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33403A"/>
                </a:solidFill>
                <a:latin typeface="Segoe UI"/>
              </a:rPr>
              <a:t>THE ORDER THAT WORKS — Name the use case. Classify the data it touches.  Then  the infrastructure
follows almost mechanically — often to a laptop you already 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7A43"/>
                </a:solidFill>
                <a:latin typeface="Segoe UI"/>
              </a:rPr>
              <a:t>THE DECISION THAT DETERMINES EVERYTHING AFTER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03A"/>
                </a:solidFill>
                <a:latin typeface="Segoe UI"/>
              </a:rPr>
              <a:t>Yes → a cloud API, and the hardware question disappears. 
No → the model comes to the data, and now you are buying something.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A900"/>
                </a:solidFill>
                <a:latin typeface="Segoe UI"/>
              </a:rPr>
              <a:t>PART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What the machine is actually doing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7E0"/>
                </a:solidFill>
                <a:latin typeface="Segoe UI"/>
              </a:rPr>
              <a:t>Three workloads that get confused, and cost three different amounts.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Training, adapting, running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75"/>
                </a:solidFill>
                <a:latin typeface="Segoe UI"/>
              </a:rPr>
              <a:t>FIGURE — screenshot slide 5 of the HTML deck and paste it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The only arithmetic you need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960120"/>
          </a:xfrm>
          <a:prstGeom prst="rect">
            <a:avLst/>
          </a:prstGeom>
          <a:solidFill>
            <a:srgbClr val="F4F8F5"/>
          </a:solidFill>
          <a:ln>
            <a:solidFill>
              <a:srgbClr val="1B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33403A"/>
                </a:solidFill>
                <a:latin typeface="Segoe UI"/>
              </a:rPr>
              <a:t>THE RULE — Memory needed ≈ parameters × bytes per parameter, plus about 20 % overhead.
Full precision is 2 bytes, 8-bit is 1, 4-bit is ½.  A 24 GB card runs a
30-billion-parameter model at 4-bit.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468880"/>
          <a:ext cx="1072865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Open-weight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Full 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8-bit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4-bit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3 billion  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6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3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≈ 2 GB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8 billion  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16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8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≈ 5 GB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30 billion  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60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30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≈ 17 GB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70 billion  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140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70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≈ 39 GB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7A43"/>
                </a:solidFill>
                <a:latin typeface="Segoe UI"/>
              </a:rPr>
              <a:t>THE COST NOBODY QUOTES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Context is memory too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03A"/>
                </a:solidFill>
                <a:latin typeface="Segoe UI"/>
              </a:rPr>
              <a:t>The model's weights are only the floor. Every token you feed it is also held
in memory, for the whole request.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10728655" cy="960120"/>
          </a:xfrm>
          <a:prstGeom prst="rect">
            <a:avLst/>
          </a:prstGeom>
          <a:solidFill>
            <a:srgbClr val="F4F8F5"/>
          </a:solidFill>
          <a:ln>
            <a:solidFill>
              <a:srgbClr val="1B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33403A"/>
                </a:solidFill>
                <a:latin typeface="Segoe UI"/>
              </a:rPr>
              <a:t>WHERE A WORKING SETUP FALLS OVER — A configuration sized for short questions will fail the moment someone pastes a
150-page methodological report.  Size for your longest realistic
document , not your average one — and measure it, because “our documents”
is not a number.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A900"/>
                </a:solidFill>
                <a:latin typeface="Segoe UI"/>
              </a:rPr>
              <a:t>PART 2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Where it runs, and who decides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7E0"/>
                </a:solidFill>
                <a:latin typeface="Segoe UI"/>
              </a:rPr>
              <a:t>A legal question wearing a technical costume.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Cloud API, or your own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Running the same afternoon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No capital expenditure, no staff to hire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The best available models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Your text leaves your jurisdiction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Cost scales with use, forever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The model can change under you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Nothing leaves the building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Fixed cost, unlimited use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The version is frozen until you change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The sequence that decides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7A43"/>
                </a:solidFill>
                <a:latin typeface="Segoe UI"/>
              </a:rPr>
              <a:t>THE LINE, AGAIN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03A"/>
                </a:solidFill>
                <a:latin typeface="Segoe UI"/>
              </a:rPr>
              <a:t>Not de-identified-and-probably-fine. Not under a non-disclosure agreement. Not
for a pilot. If the use case needs microdata, the model comes to the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Which use case goes where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Data it touches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Where it may run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Assistant over your own publications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Published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Either.  Start in the cloud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Drafting methodological 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Published or internal drafts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Either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Extracting tables from PDF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Published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Either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Coding free-text survey answers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Microdata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On-premise only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Anything over the census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Identifiable microdata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On-premise only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A900"/>
                </a:solidFill>
                <a:latin typeface="Segoe UI"/>
              </a:rPr>
              <a:t>PART 3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What it costs, and what to buy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7E0"/>
                </a:solidFill>
                <a:latin typeface="Segoe UI"/>
              </a:rPr>
              <a:t>Orders of magnitude, and the costs that never appear in a quotation.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Three configurations that exist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960120"/>
          </a:xfrm>
          <a:prstGeom prst="rect">
            <a:avLst/>
          </a:prstGeom>
          <a:solidFill>
            <a:srgbClr val="F4F8F5"/>
          </a:solidFill>
          <a:ln>
            <a:solidFill>
              <a:srgbClr val="1B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33403A"/>
                </a:solidFill>
                <a:latin typeface="Segoe UI"/>
              </a:rPr>
              <a:t>BUY B, NOT C — Tier B serves a department, and most offices that bought C first run B workloads
on it.  No prices here: they move too fast to be right on a slide.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468880"/>
          <a:ext cx="10728655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Runs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Good for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A · A laptop you 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8–16 GB 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3B at 4-bit, slowly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This week's laboratories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B · One workstation 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24 GB VRAM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8B, or 30B at 4-bit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The realistic entry point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C · A small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2 × 48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70B, several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Production, once B is proven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The costs that are not in the quotation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7A43"/>
                </a:solidFill>
                <a:latin typeface="Segoe UI"/>
              </a:rPr>
              <a:t>1  Person who owns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7A43"/>
                </a:solidFill>
                <a:latin typeface="Segoe UI"/>
              </a:rPr>
              <a:t>A CHOICE THAT IS NOT ABOUT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Open weights, or a proprietary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03A"/>
                </a:solidFill>
                <a:latin typeface="Segoe UI"/>
              </a:rPr>
              <a:t>Both are legitimate. They differ in what you can promise.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10728655" cy="960120"/>
          </a:xfrm>
          <a:prstGeom prst="rect">
            <a:avLst/>
          </a:prstGeom>
          <a:solidFill>
            <a:srgbClr val="F4F8F5"/>
          </a:solidFill>
          <a:ln>
            <a:solidFill>
              <a:srgbClr val="1B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33403A"/>
                </a:solidFill>
                <a:latin typeface="Segoe UI"/>
              </a:rPr>
              <a:t>OPEN WEIGHTS BUY YOU THREE THINGS — The data never leaves. The version is frozen, so a validated process stays
valid. And you can state exactly what produced a published figure —
 which is reproducibility, not a preference 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7A43"/>
                </a:solidFill>
                <a:latin typeface="Segoe UI"/>
              </a:rPr>
              <a:t>WHAT A REALISTIC FIRST INSTALLATION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One machine, three services, no cloud dependency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75"/>
                </a:solidFill>
                <a:latin typeface="Segoe UI"/>
              </a:rPr>
              <a:t>FIGURE — screenshot slide 17 of the HTML deck and paste it 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7A43"/>
                </a:solidFill>
                <a:latin typeface="Segoe UI"/>
              </a:rPr>
              <a:t>TAKE THIS TO YOUR VENDOR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Five questions that reveal a weak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28655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Is this  training or inference  hardware, and why?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What is the  longest document  it handles, in tokens?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How many  simultaneous users  before it degrades?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If the model version changes,  who tells us ?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What does it cost to  leave , and where does our data go?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7A43"/>
                </a:solidFill>
                <a:latin typeface="Segoe UI"/>
              </a:rPr>
              <a:t>IF YOU DO ONE 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03A"/>
                </a:solidFill>
                <a:latin typeface="Segoe UI"/>
              </a:rPr>
              <a:t>It needs no procurement, no server room and no legal opinion. It gives you a
working service, a trained team and an internal reference case — which is what
you will need to fund anything larger.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A900"/>
                </a:solidFill>
                <a:latin typeface="Segoe UI"/>
              </a:rP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14:45 — Laboratory: build the RAG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7E0"/>
                </a:solidFill>
                <a:latin typeface="Segoe UI"/>
              </a:rPr>
              <a:t>The first two green boxes of that architecture diagram, running on a laptop
by the end of the afternoon.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7E0"/>
                </a:solidFill>
                <a:latin typeface="Segoe UI"/>
              </a:rPr>
              <a:t>15:45 · Laboratory — turn the assistant into an agent  
Frameworks cited: AU  Data Policy Framework  (2022) ·
UNECE HLG-MOS  Cloud Computing  
Full reading list: workshop site → Resources →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377440"/>
            <a:ext cx="99971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BE7E0"/>
                </a:solidFill>
                <a:latin typeface="Segoe UI"/>
              </a:rPr>
              <a:t>This PowerPoint file is generated from the reveal.js deck at
slides/decks/02-ai-infrastructure.deck.html
Edits made here do not flow back. If your change should be permanent,
edit the deck source and run:  python tools/build_slides.py &amp;&amp; python tools/build_pptx.py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