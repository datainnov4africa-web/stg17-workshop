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2A900"/>
                </a:solidFill>
                <a:latin typeface="Segoe UI"/>
              </a:rPr>
              <a:t>AFRICAN DEVELOPMENT BANK · AU STATAFRIC · STG17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Segoe UI"/>
              </a:rPr>
              <a:t>The AI Family Tree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7452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DBE7E0"/>
                </a:solidFill>
                <a:latin typeface="Segoe UI"/>
              </a:rPr>
              <a:t>Eight words that will decide what your office buys, builds and can defend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B75"/>
                </a:solidFill>
                <a:latin typeface="Segoe UI"/>
              </a:rPr>
              <a:t>African Development Bank · AU STATAFRIC · STG17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0000"/>
          </a:xfrm>
          <a:prstGeom prst="rect">
            <a:avLst/>
          </a:prstGeom>
          <a:solidFill>
            <a:srgbClr val="F2A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B7A43"/>
                </a:solidFill>
                <a:latin typeface="Segoe UI"/>
              </a:rPr>
              <a:t>WHERE WE ARE STARTING FROM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2545"/>
                </a:solidFill>
                <a:latin typeface="Segoe UI"/>
              </a:rPr>
              <a:t>Three sentences from real terms of reference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B75"/>
                </a:solidFill>
                <a:latin typeface="Segoe UI"/>
              </a:rPr>
              <a:t>African Development Bank · AU STATAFRIC · STG17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0000"/>
          </a:xfrm>
          <a:prstGeom prst="rect">
            <a:avLst/>
          </a:prstGeom>
          <a:solidFill>
            <a:srgbClr val="F2A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2545"/>
                </a:solidFill>
                <a:latin typeface="Segoe UI"/>
              </a:rPr>
              <a:t>Each describes a different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B7A43"/>
                </a:solidFill>
                <a:latin typeface="Segoe UI"/>
              </a:rPr>
              <a:t>≠  Cost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920240"/>
            <a:ext cx="10728655" cy="960120"/>
          </a:xfrm>
          <a:prstGeom prst="rect">
            <a:avLst/>
          </a:prstGeom>
          <a:solidFill>
            <a:srgbClr val="F4F8F5"/>
          </a:solidFill>
          <a:ln>
            <a:solidFill>
              <a:srgbClr val="1B7A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33403A"/>
                </a:solidFill>
                <a:latin typeface="Segoe UI"/>
              </a:rPr>
              <a:t>WHAT THIS HALF-HOUR BUYS — Not engineering skill. The ability to read a proposal and know which of three
very different systems it actually describes.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B75"/>
                </a:solidFill>
                <a:latin typeface="Segoe UI"/>
              </a:rPr>
              <a:t>African Development Bank · AU STATAFRIC · STG17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2A900"/>
                </a:solidFill>
                <a:latin typeface="Segoe UI"/>
              </a:rPr>
              <a:t>PART 1 OF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Segoe UI"/>
              </a:rPr>
              <a:t>The one mechanism underneath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8308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BE7E0"/>
                </a:solidFill>
                <a:latin typeface="Segoe UI"/>
              </a:rPr>
              <a:t>Everything else today is built on a single loop.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B75"/>
                </a:solidFill>
                <a:latin typeface="Segoe UI"/>
              </a:rPr>
              <a:t>African Development Bank · AU STATAFRIC · STG17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0000"/>
          </a:xfrm>
          <a:prstGeom prst="rect">
            <a:avLst/>
          </a:prstGeom>
          <a:solidFill>
            <a:srgbClr val="F2A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2545"/>
                </a:solidFill>
                <a:latin typeface="Segoe UI"/>
              </a:rPr>
              <a:t>What a language model actually does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B75"/>
                </a:solidFill>
                <a:latin typeface="Segoe UI"/>
              </a:rPr>
              <a:t>FIGURE — screenshot slide 5 of the HTML deck and paste it here.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B75"/>
                </a:solidFill>
                <a:latin typeface="Segoe UI"/>
              </a:rPr>
              <a:t>African Development Bank · AU STATAFRIC · STG17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0000"/>
          </a:xfrm>
          <a:prstGeom prst="rect">
            <a:avLst/>
          </a:prstGeom>
          <a:solidFill>
            <a:srgbClr val="F2A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B7A43"/>
                </a:solidFill>
                <a:latin typeface="Segoe UI"/>
              </a:rPr>
              <a:t>THE CONSEQUENCE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403A"/>
                </a:solidFill>
                <a:latin typeface="Segoe UI"/>
              </a:rPr>
              <a:t>Plausible and true agree most of the time. That is exactly what makes the
disagreements dangerous — and why every use in this workshop is wrapped in a
verification step.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B75"/>
                </a:solidFill>
                <a:latin typeface="Segoe UI"/>
              </a:rPr>
              <a:t>African Development Bank · AU STATAFRIC · STG17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2A900"/>
                </a:solidFill>
                <a:latin typeface="Segoe UI"/>
              </a:rPr>
              <a:t>PART 2 OF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Segoe UI"/>
              </a:rPr>
              <a:t>Three ways to make it useful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8308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BE7E0"/>
                </a:solidFill>
                <a:latin typeface="Segoe UI"/>
              </a:rPr>
              <a:t>Prompt, retrieve, retrain — in that order, always.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B75"/>
                </a:solidFill>
                <a:latin typeface="Segoe UI"/>
              </a:rPr>
              <a:t>African Development Bank · AU STATAFRIC · STG17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0000"/>
          </a:xfrm>
          <a:prstGeom prst="rect">
            <a:avLst/>
          </a:prstGeom>
          <a:solidFill>
            <a:srgbClr val="F2A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2545"/>
                </a:solidFill>
                <a:latin typeface="Segoe UI"/>
              </a:rPr>
              <a:t>Three levers, three different targets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B75"/>
                </a:solidFill>
                <a:latin typeface="Segoe UI"/>
              </a:rPr>
              <a:t>FIGURE — screenshot slide 8 of the HTML deck and paste it here.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B75"/>
                </a:solidFill>
                <a:latin typeface="Segoe UI"/>
              </a:rPr>
              <a:t>African Development Bank · AU STATAFRIC · STG17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0000"/>
          </a:xfrm>
          <a:prstGeom prst="rect">
            <a:avLst/>
          </a:prstGeom>
          <a:solidFill>
            <a:srgbClr val="F2A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B7A43"/>
                </a:solidFill>
                <a:latin typeface="Segoe UI"/>
              </a:rPr>
              <a:t>BACK TO SENTENCE THREE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2545"/>
                </a:solidFill>
                <a:latin typeface="Segoe UI"/>
              </a:rPr>
              <a:t>“Fine-tune it so it knows our statistics”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8308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403A"/>
                </a:solidFill>
                <a:latin typeface="Segoe UI"/>
              </a:rPr>
              <a:t>The most expensive sentence in the room.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286000"/>
            <a:ext cx="10728655" cy="960120"/>
          </a:xfrm>
          <a:prstGeom prst="rect">
            <a:avLst/>
          </a:prstGeom>
          <a:solidFill>
            <a:srgbClr val="F4F8F5"/>
          </a:solidFill>
          <a:ln>
            <a:solidFill>
              <a:srgbClr val="1B7A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33403A"/>
                </a:solidFill>
                <a:latin typeface="Segoe UI"/>
              </a:rPr>
              <a:t>THIS NAMES THE WRONG LEVER — Fine-tuning teaches a model to  write like  your office. It does not
reliably teach it to  know  your numbers, and it gives you no way to cite
a source.  
The requirement behind that sentence is almost always  RAG :
cheaper, faster, updated the moment a figure is revised, and traceable to a
document.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B75"/>
                </a:solidFill>
                <a:latin typeface="Segoe UI"/>
              </a:rPr>
              <a:t>African Development Bank · AU STATAFRIC · STG17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0000"/>
          </a:xfrm>
          <a:prstGeom prst="rect">
            <a:avLst/>
          </a:prstGeom>
          <a:solidFill>
            <a:srgbClr val="F2A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2545"/>
                </a:solidFill>
                <a:latin typeface="Segoe UI"/>
              </a:rPr>
              <a:t>RAG — what you build at 14:45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B75"/>
                </a:solidFill>
                <a:latin typeface="Segoe UI"/>
              </a:rPr>
              <a:t>FIGURE — screenshot slide 10 of the HTML deck and paste it here.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B75"/>
                </a:solidFill>
                <a:latin typeface="Segoe UI"/>
              </a:rPr>
              <a:t>African Development Bank · AU STATAFRIC · STG17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2A900"/>
                </a:solidFill>
                <a:latin typeface="Segoe UI"/>
              </a:rPr>
              <a:t>PART 3 OF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Segoe UI"/>
              </a:rPr>
              <a:t>Agents, and where the human goes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8308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BE7E0"/>
                </a:solidFill>
                <a:latin typeface="Segoe UI"/>
              </a:rPr>
              <a:t>From answering a question to taking an action.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B75"/>
                </a:solidFill>
                <a:latin typeface="Segoe UI"/>
              </a:rPr>
              <a:t>African Development Bank · AU STATAFRIC · STG17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0000"/>
          </a:xfrm>
          <a:prstGeom prst="rect">
            <a:avLst/>
          </a:prstGeom>
          <a:solidFill>
            <a:srgbClr val="F2A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2545"/>
                </a:solidFill>
                <a:latin typeface="Segoe UI"/>
              </a:rPr>
              <a:t>Assistant versus agent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371600"/>
          <a:ext cx="10728655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6218"/>
                <a:gridCol w="3576218"/>
                <a:gridCol w="3576219"/>
              </a:tblGrid>
              <a:tr h="292608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</a:rPr>
                        <a:t>Assistant · 14:45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</a:rPr>
                        <a:t>Agent · 15:45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403A"/>
                          </a:solidFill>
                          <a:latin typeface="Segoe UI"/>
                        </a:rPr>
                        <a:t>Does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403A"/>
                          </a:solidFill>
                          <a:latin typeface="Segoe UI"/>
                        </a:rPr>
                        <a:t>Reads, writes an answer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403A"/>
                          </a:solidFill>
                          <a:latin typeface="Segoe UI"/>
                        </a:rPr>
                        <a:t>Reads, picks a tool, calls it, repeats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403A"/>
                          </a:solidFill>
                          <a:latin typeface="Segoe UI"/>
                        </a:rPr>
                        <a:t>Chooses the steps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403A"/>
                          </a:solidFill>
                          <a:latin typeface="Segoe UI"/>
                        </a:rPr>
                        <a:t>You did, in the pipeline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403A"/>
                          </a:solidFill>
                          <a:latin typeface="Segoe UI"/>
                        </a:rPr>
                        <a:t>The model, at run time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403A"/>
                          </a:solidFill>
                          <a:latin typeface="Segoe UI"/>
                        </a:rPr>
                        <a:t>Failure 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403A"/>
                          </a:solidFill>
                          <a:latin typeface="Segoe UI"/>
                        </a:rPr>
                        <a:t>A wrong sentence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403A"/>
                          </a:solidFill>
                          <a:latin typeface="Segoe UI"/>
                        </a:rPr>
                        <a:t>A wrong sentence — or a wrong action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403A"/>
                          </a:solidFill>
                          <a:latin typeface="Segoe UI"/>
                        </a:rPr>
                        <a:t>Human checks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403A"/>
                          </a:solidFill>
                          <a:latin typeface="Segoe UI"/>
                        </a:rPr>
                        <a:t>The output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403A"/>
                          </a:solidFill>
                          <a:latin typeface="Segoe UI"/>
                        </a:rPr>
                        <a:t>The output  and  each action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B75"/>
                </a:solidFill>
                <a:latin typeface="Segoe UI"/>
              </a:rPr>
              <a:t>African Development Bank · AU STATAFRIC · STG17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0000"/>
          </a:xfrm>
          <a:prstGeom prst="rect">
            <a:avLst/>
          </a:prstGeom>
          <a:solidFill>
            <a:srgbClr val="F2A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B7A43"/>
                </a:solidFill>
                <a:latin typeface="Segoe UI"/>
              </a:rPr>
              <a:t>THE GAP THAT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403A"/>
                </a:solidFill>
                <a:latin typeface="Segoe UI"/>
              </a:rPr>
              <a:t>Every approval gate, audit log and safety check lives in that gap. Design it
before you need it — it cannot be added afterwards.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B75"/>
                </a:solidFill>
                <a:latin typeface="Segoe UI"/>
              </a:rPr>
              <a:t>African Development Bank · AU STATAFRIC · STG17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0000"/>
          </a:xfrm>
          <a:prstGeom prst="rect">
            <a:avLst/>
          </a:prstGeom>
          <a:solidFill>
            <a:srgbClr val="F2A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2545"/>
                </a:solidFill>
                <a:latin typeface="Segoe UI"/>
              </a:rPr>
              <a:t>Where each lever belongs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371600"/>
          <a:ext cx="10728655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2163"/>
                <a:gridCol w="2682163"/>
                <a:gridCol w="2682163"/>
                <a:gridCol w="2682166"/>
              </a:tblGrid>
              <a:tr h="29260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</a:rPr>
                        <a:t>Stage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</a:rPr>
                        <a:t>Use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</a:rPr>
                        <a:t>Lever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</a:rPr>
                        <a:t>Control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403A"/>
                          </a:solidFill>
                          <a:latin typeface="Segoe UI"/>
                        </a:rPr>
                        <a:t>Collection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403A"/>
                          </a:solidFill>
                          <a:latin typeface="Segoe UI"/>
                        </a:rPr>
                        <a:t>Coding free-text answers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403A"/>
                          </a:solidFill>
                          <a:latin typeface="Segoe UI"/>
                        </a:rPr>
                        <a:t>Prompt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403A"/>
                          </a:solidFill>
                          <a:latin typeface="Segoe UI"/>
                        </a:rPr>
                        <a:t>A labelled evaluation set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403A"/>
                          </a:solidFill>
                          <a:latin typeface="Segoe UI"/>
                        </a:rPr>
                        <a:t>Processing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403A"/>
                          </a:solidFill>
                          <a:latin typeface="Segoe UI"/>
                        </a:rPr>
                        <a:t>Extracting tables from a PDF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403A"/>
                          </a:solidFill>
                          <a:latin typeface="Segoe UI"/>
                        </a:rPr>
                        <a:t>Prompt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403A"/>
                          </a:solidFill>
                          <a:latin typeface="Segoe UI"/>
                        </a:rPr>
                        <a:t>Verification against the source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403A"/>
                          </a:solidFill>
                          <a:latin typeface="Segoe UI"/>
                        </a:rPr>
                        <a:t>Dissemination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403A"/>
                          </a:solidFill>
                          <a:latin typeface="Segoe UI"/>
                        </a:rPr>
                        <a:t>Answering public questions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403A"/>
                          </a:solidFill>
                          <a:latin typeface="Segoe UI"/>
                        </a:rPr>
                        <a:t>RAG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403A"/>
                          </a:solidFill>
                          <a:latin typeface="Segoe UI"/>
                        </a:rPr>
                        <a:t>Every answer cites its source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403A"/>
                          </a:solidFill>
                          <a:latin typeface="Segoe UI"/>
                        </a:rPr>
                        <a:t>Documentation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403A"/>
                          </a:solidFill>
                          <a:latin typeface="Segoe UI"/>
                        </a:rPr>
                        <a:t>Drafting methodological notes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403A"/>
                          </a:solidFill>
                          <a:latin typeface="Segoe UI"/>
                        </a:rPr>
                        <a:t>Prompt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403A"/>
                          </a:solidFill>
                          <a:latin typeface="Segoe UI"/>
                        </a:rPr>
                        <a:t>Signed off by the method owner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B75"/>
                </a:solidFill>
                <a:latin typeface="Segoe UI"/>
              </a:rPr>
              <a:t>African Development Bank · AU STATAFRIC · STG17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0000"/>
          </a:xfrm>
          <a:prstGeom prst="rect">
            <a:avLst/>
          </a:prstGeom>
          <a:solidFill>
            <a:srgbClr val="F2A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B7A43"/>
                </a:solidFill>
                <a:latin typeface="Segoe UI"/>
              </a:rPr>
              <a:t>THE LINE WE DO NOT CROSS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403A"/>
                </a:solidFill>
                <a:latin typeface="Segoe UI"/>
              </a:rPr>
              <a:t>A language model outputs the plausible, not the measured. Use it
 around  your statistics — never in place of them.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B75"/>
                </a:solidFill>
                <a:latin typeface="Segoe UI"/>
              </a:rPr>
              <a:t>African Development Bank · AU STATAFRIC · STG17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0000"/>
          </a:xfrm>
          <a:prstGeom prst="rect">
            <a:avLst/>
          </a:prstGeom>
          <a:solidFill>
            <a:srgbClr val="F2A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2545"/>
                </a:solidFill>
                <a:latin typeface="Segoe UI"/>
              </a:rPr>
              <a:t>The eight words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B75"/>
                </a:solidFill>
                <a:latin typeface="Segoe UI"/>
              </a:rPr>
              <a:t>African Development Bank · AU STATAFRIC · STG17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2A900"/>
                </a:solidFill>
                <a:latin typeface="Segoe UI"/>
              </a:rPr>
              <a:t>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Segoe UI"/>
              </a:rPr>
              <a:t>10:30 — What your countries have actually tried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8308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BE7E0"/>
                </a:solidFill>
                <a:latin typeface="Segoe UI"/>
              </a:rPr>
              <a:t>Eight minutes each. Six slides. The more useful half is what did not work.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BE7E0"/>
                </a:solidFill>
                <a:latin typeface="Segoe UI"/>
              </a:rPr>
              <a:t>14:00 · AI infrastructure — what it really takes 
14:45 · Laboratory — build the RAG assistant 
15:45 · Laboratory — turn it into an agent  
Full reading list: workshop site → Resources → References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B75"/>
                </a:solidFill>
                <a:latin typeface="Segoe UI"/>
              </a:rPr>
              <a:t>African Development Bank · AU STATAFRIC · STG17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377440"/>
            <a:ext cx="999713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DBE7E0"/>
                </a:solidFill>
                <a:latin typeface="Segoe UI"/>
              </a:rPr>
              <a:t>This PowerPoint file is generated from the reveal.js deck at
slides/decks/01-ai-family-tree.deck.html
Edits made here do not flow back. If your change should be permanent,
edit the deck source and run:  python tools/build_slides.py &amp;&amp; python tools/build_pptx.py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