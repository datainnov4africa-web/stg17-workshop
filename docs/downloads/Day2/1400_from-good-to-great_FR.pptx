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5" r:id="rId29"/>
    <p:sldId id="286" r:id="rId30"/>
    <p:sldId id="287"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lang="fr-FR" sz="1200" b="0" i="0" u="none" strike="noStrike">
                <a:solidFill>
                  <a:srgbClr val="231F20"/>
                </a:solidFill>
                <a:latin typeface="Calibri"/>
              </a:rPr>
              <a:t>Codification des professions, jeu de 50 cas (illustratif)</a:t>
            </a:r>
          </a:p>
        </c:rich>
      </c:tx>
      <c:overlay val="0"/>
    </c:title>
    <c:autoTitleDeleted val="0"/>
    <c:plotArea>
      <c:layout/>
      <c:barChart>
        <c:barDir val="col"/>
        <c:grouping val="clustered"/>
        <c:varyColors val="0"/>
        <c:ser>
          <c:idx val="0"/>
          <c:order val="0"/>
          <c:tx>
            <c:strRef>
              <c:f>Sheet1!$B$1</c:f>
              <c:strCache>
                <c:ptCount val="1"/>
                <c:pt idx="0">
                  <c:v>Exactitude de codification (%)</c:v>
                </c:pt>
              </c:strCache>
            </c:strRef>
          </c:tx>
          <c:spPr>
            <a:solidFill>
              <a:srgbClr val="00704A"/>
            </a:solidFill>
            <a:effectLst/>
          </c:spPr>
          <c:invertIfNegative val="0"/>
          <c:dLbls>
            <c:numFmt formatCode="#,##0" sourceLinked="0"/>
            <c:spPr>
              <a:noFill/>
              <a:ln>
                <a:noFill/>
              </a:ln>
              <a:effectLst/>
            </c:spPr>
            <c:txPr>
              <a:bodyPr/>
              <a:lstStyle/>
              <a:p>
                <a:pPr>
                  <a:defRPr sz="9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v0</c:v>
                </c:pt>
                <c:pt idx="1">
                  <c:v>v1</c:v>
                </c:pt>
                <c:pt idx="2">
                  <c:v>v2</c:v>
                </c:pt>
                <c:pt idx="3">
                  <c:v>v2b</c:v>
                </c:pt>
                <c:pt idx="4">
                  <c:v>v3</c:v>
                </c:pt>
                <c:pt idx="5">
                  <c:v>v4</c:v>
                </c:pt>
              </c:strCache>
            </c:strRef>
          </c:cat>
          <c:val>
            <c:numRef>
              <c:f>Sheet1!$B$2:$B$7</c:f>
              <c:numCache>
                <c:formatCode>General</c:formatCode>
                <c:ptCount val="6"/>
                <c:pt idx="0">
                  <c:v>62</c:v>
                </c:pt>
                <c:pt idx="1">
                  <c:v>71</c:v>
                </c:pt>
                <c:pt idx="2">
                  <c:v>80</c:v>
                </c:pt>
                <c:pt idx="3">
                  <c:v>76</c:v>
                </c:pt>
                <c:pt idx="4">
                  <c:v>84</c:v>
                </c:pt>
                <c:pt idx="5">
                  <c:v>88</c:v>
                </c:pt>
              </c:numCache>
            </c:numRef>
          </c:val>
          <c:extLst>
            <c:ext xmlns:c16="http://schemas.microsoft.com/office/drawing/2014/chart" uri="{C3380CC4-5D6E-409C-BE32-E72D297353CC}">
              <c16:uniqueId val="{00000000-D4F9-4866-BE10-83BAD8FC2547}"/>
            </c:ext>
          </c:extLst>
        </c:ser>
        <c:ser>
          <c:idx val="1"/>
          <c:order val="1"/>
          <c:tx>
            <c:strRef>
              <c:f>Sheet1!$C$1</c:f>
              <c:strCache>
                <c:ptCount val="1"/>
                <c:pt idx="0">
                  <c:v>JSON valide (%)</c:v>
                </c:pt>
              </c:strCache>
            </c:strRef>
          </c:tx>
          <c:spPr>
            <a:solidFill>
              <a:srgbClr val="9ED9C0"/>
            </a:solidFill>
            <a:effectLst/>
          </c:spPr>
          <c:invertIfNegative val="0"/>
          <c:dLbls>
            <c:numFmt formatCode="#,##0" sourceLinked="0"/>
            <c:spPr>
              <a:noFill/>
              <a:ln>
                <a:noFill/>
              </a:ln>
              <a:effectLst/>
            </c:spPr>
            <c:txPr>
              <a:bodyPr/>
              <a:lstStyle/>
              <a:p>
                <a:pPr>
                  <a:defRPr sz="9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v0</c:v>
                </c:pt>
                <c:pt idx="1">
                  <c:v>v1</c:v>
                </c:pt>
                <c:pt idx="2">
                  <c:v>v2</c:v>
                </c:pt>
                <c:pt idx="3">
                  <c:v>v2b</c:v>
                </c:pt>
                <c:pt idx="4">
                  <c:v>v3</c:v>
                </c:pt>
                <c:pt idx="5">
                  <c:v>v4</c:v>
                </c:pt>
              </c:strCache>
            </c:strRef>
          </c:cat>
          <c:val>
            <c:numRef>
              <c:f>Sheet1!$C$2:$C$7</c:f>
              <c:numCache>
                <c:formatCode>General</c:formatCode>
                <c:ptCount val="6"/>
                <c:pt idx="0">
                  <c:v>81</c:v>
                </c:pt>
                <c:pt idx="1">
                  <c:v>83</c:v>
                </c:pt>
                <c:pt idx="2">
                  <c:v>85</c:v>
                </c:pt>
                <c:pt idx="3">
                  <c:v>85</c:v>
                </c:pt>
                <c:pt idx="4">
                  <c:v>100</c:v>
                </c:pt>
                <c:pt idx="5">
                  <c:v>100</c:v>
                </c:pt>
              </c:numCache>
            </c:numRef>
          </c:val>
          <c:extLst>
            <c:ext xmlns:c16="http://schemas.microsoft.com/office/drawing/2014/chart" uri="{C3380CC4-5D6E-409C-BE32-E72D297353CC}">
              <c16:uniqueId val="{00000001-D4F9-4866-BE10-83BAD8FC254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10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lang="fr-FR" sz="1200" b="0" i="0" u="none" strike="noStrike">
                <a:solidFill>
                  <a:srgbClr val="231F20"/>
                </a:solidFill>
                <a:latin typeface="Calibri"/>
              </a:rPr>
              <a:t>Coût pour 100 000 descriptions (prix illustratifs)</a:t>
            </a:r>
          </a:p>
        </c:rich>
      </c:tx>
      <c:overlay val="0"/>
    </c:title>
    <c:autoTitleDeleted val="0"/>
    <c:plotArea>
      <c:layout/>
      <c:barChart>
        <c:barDir val="bar"/>
        <c:grouping val="clustered"/>
        <c:varyColors val="0"/>
        <c:ser>
          <c:idx val="0"/>
          <c:order val="0"/>
          <c:tx>
            <c:strRef>
              <c:f>Sheet1!$B$1</c:f>
              <c:strCache>
                <c:ptCount val="1"/>
                <c:pt idx="0">
                  <c:v>Coût total (USD)</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E37D-4BBD-8FE3-E915CCEE8B8F}"/>
              </c:ext>
            </c:extLst>
          </c:dPt>
          <c:dPt>
            <c:idx val="1"/>
            <c:invertIfNegative val="0"/>
            <c:bubble3D val="0"/>
            <c:spPr>
              <a:solidFill>
                <a:srgbClr val="57BD92"/>
              </a:solidFill>
              <a:effectLst/>
            </c:spPr>
            <c:extLst>
              <c:ext xmlns:c16="http://schemas.microsoft.com/office/drawing/2014/chart" uri="{C3380CC4-5D6E-409C-BE32-E72D297353CC}">
                <c16:uniqueId val="{00000003-E37D-4BBD-8FE3-E915CCEE8B8F}"/>
              </c:ext>
            </c:extLst>
          </c:dPt>
          <c:dPt>
            <c:idx val="2"/>
            <c:invertIfNegative val="0"/>
            <c:bubble3D val="0"/>
            <c:spPr>
              <a:solidFill>
                <a:srgbClr val="10A06A"/>
              </a:solidFill>
              <a:effectLst/>
            </c:spPr>
            <c:extLst>
              <c:ext xmlns:c16="http://schemas.microsoft.com/office/drawing/2014/chart" uri="{C3380CC4-5D6E-409C-BE32-E72D297353CC}">
                <c16:uniqueId val="{00000005-E37D-4BBD-8FE3-E915CCEE8B8F}"/>
              </c:ext>
            </c:extLst>
          </c:dPt>
          <c:dPt>
            <c:idx val="3"/>
            <c:invertIfNegative val="0"/>
            <c:bubble3D val="0"/>
            <c:spPr>
              <a:solidFill>
                <a:srgbClr val="00664A"/>
              </a:solidFill>
              <a:effectLst/>
            </c:spPr>
            <c:extLst>
              <c:ext xmlns:c16="http://schemas.microsoft.com/office/drawing/2014/chart" uri="{C3380CC4-5D6E-409C-BE32-E72D297353CC}">
                <c16:uniqueId val="{00000007-E37D-4BBD-8FE3-E915CCEE8B8F}"/>
              </c:ext>
            </c:extLst>
          </c:dPt>
          <c:dLbls>
            <c:numFmt formatCode="#,##0.00&quot; $&quot;"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Base</c:v>
                </c:pt>
                <c:pt idx="1">
                  <c:v>+ Cache de prompt</c:v>
                </c:pt>
                <c:pt idx="2">
                  <c:v>+ Lots (20 par appel)</c:v>
                </c:pt>
                <c:pt idx="3">
                  <c:v>Cache + lots</c:v>
                </c:pt>
              </c:strCache>
            </c:strRef>
          </c:cat>
          <c:val>
            <c:numRef>
              <c:f>Sheet1!$B$2:$B$5</c:f>
              <c:numCache>
                <c:formatCode>General</c:formatCode>
                <c:ptCount val="4"/>
                <c:pt idx="0">
                  <c:v>133.5</c:v>
                </c:pt>
                <c:pt idx="1">
                  <c:v>21</c:v>
                </c:pt>
                <c:pt idx="2">
                  <c:v>14.75</c:v>
                </c:pt>
                <c:pt idx="3">
                  <c:v>9.1300000000000008</c:v>
                </c:pt>
              </c:numCache>
            </c:numRef>
          </c:val>
          <c:extLst>
            <c:ext xmlns:c16="http://schemas.microsoft.com/office/drawing/2014/chart" uri="{C3380CC4-5D6E-409C-BE32-E72D297353CC}">
              <c16:uniqueId val="{00000008-E37D-4BBD-8FE3-E915CCEE8B8F}"/>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31F20"/>
                </a:solidFill>
                <a:latin typeface="Calibri"/>
              </a:defRPr>
            </a:pPr>
            <a:endParaRPr lang="en-US"/>
          </a:p>
        </c:txPr>
        <c:crossAx val="2094734552"/>
        <c:crosses val="autoZero"/>
        <c:auto val="1"/>
        <c:lblAlgn val="ctr"/>
        <c:lblOffset val="100"/>
        <c:noMultiLvlLbl val="1"/>
      </c:catAx>
      <c:valAx>
        <c:axId val="2094734552"/>
        <c:scaling>
          <c:orientation val="minMax"/>
          <c:max val="16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Usage d’une information selon sa position dans un long contexte (schéma)</a:t>
            </a:r>
          </a:p>
        </c:rich>
      </c:tx>
      <c:overlay val="0"/>
    </c:title>
    <c:autoTitleDeleted val="0"/>
    <c:plotArea>
      <c:layout/>
      <c:lineChart>
        <c:grouping val="standard"/>
        <c:varyColors val="0"/>
        <c:ser>
          <c:idx val="0"/>
          <c:order val="0"/>
          <c:tx>
            <c:strRef>
              <c:f>Sheet1!$B$1</c:f>
              <c:strCache>
                <c:ptCount val="1"/>
                <c:pt idx="0">
                  <c:v>Exactitude</c:v>
                </c:pt>
              </c:strCache>
            </c:strRef>
          </c:tx>
          <c:spPr>
            <a:ln w="38100" cap="flat">
              <a:solidFill>
                <a:srgbClr val="C4621D"/>
              </a:solidFill>
              <a:prstDash val="solid"/>
              <a:round/>
            </a:ln>
            <a:effectLst/>
          </c:spPr>
          <c:marker>
            <c:symbol val="circle"/>
            <c:size val="7"/>
            <c:spPr>
              <a:solidFill>
                <a:srgbClr val="C4621D"/>
              </a:solidFill>
              <a:ln w="9525" cap="flat">
                <a:solidFill>
                  <a:srgbClr val="C4621D"/>
                </a:solidFill>
                <a:prstDash val="solid"/>
                <a:round/>
              </a:ln>
              <a:effectLst/>
            </c:spPr>
          </c:marker>
          <c:cat>
            <c:strRef>
              <c:f>Sheet1!$A$2:$A$8</c:f>
              <c:strCache>
                <c:ptCount val="7"/>
                <c:pt idx="0">
                  <c:v>Début</c:v>
                </c:pt>
                <c:pt idx="3">
                  <c:v>Milieu</c:v>
                </c:pt>
                <c:pt idx="6">
                  <c:v>Fin</c:v>
                </c:pt>
              </c:strCache>
            </c:strRef>
          </c:cat>
          <c:val>
            <c:numRef>
              <c:f>Sheet1!$B$2:$B$8</c:f>
              <c:numCache>
                <c:formatCode>General</c:formatCode>
                <c:ptCount val="7"/>
                <c:pt idx="0">
                  <c:v>80</c:v>
                </c:pt>
                <c:pt idx="1">
                  <c:v>68</c:v>
                </c:pt>
                <c:pt idx="2">
                  <c:v>58</c:v>
                </c:pt>
                <c:pt idx="3">
                  <c:v>55</c:v>
                </c:pt>
                <c:pt idx="4">
                  <c:v>58</c:v>
                </c:pt>
                <c:pt idx="5">
                  <c:v>66</c:v>
                </c:pt>
                <c:pt idx="6">
                  <c:v>76</c:v>
                </c:pt>
              </c:numCache>
            </c:numRef>
          </c:val>
          <c:smooth val="0"/>
          <c:extLst>
            <c:ext xmlns:c16="http://schemas.microsoft.com/office/drawing/2014/chart" uri="{C3380CC4-5D6E-409C-BE32-E72D297353CC}">
              <c16:uniqueId val="{00000000-5782-4D8B-BC7D-71869A1D495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50" b="0" i="0" u="none" strike="noStrike">
                    <a:solidFill>
                      <a:srgbClr val="5E6964"/>
                    </a:solidFill>
                    <a:latin typeface="Calibri"/>
                  </a:defRPr>
                </a:pPr>
                <a:r>
                  <a:rPr lang="en-US" sz="950" b="0" i="0" u="none" strike="noStrike">
                    <a:solidFill>
                      <a:srgbClr val="5E6964"/>
                    </a:solidFill>
                    <a:latin typeface="Calibri"/>
                  </a:rPr>
                  <a:t>Position du passage pertinent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90"/>
          <c:min val="4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27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 retour après le déjeuner. Ce matin, dans « Parler aux machines », vous avez appris à rédiger un bon prompt. Cette séance répond à la question suivante, que se pose tout institut de statistique : comment PROUVER qu’un prompt fonctionne, l’améliorer de façon contrôlée, et en maîtriser le coût à l’échelle de la production ? Déroulé : environ 25 minutes d’exposé, 17 minutes de travail pratique, 3 minutes de synthèse. Tout ce que vous produirez en atelier alimente directement le banc d’essai de 14 h 45 avec Groq.</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cinq objectifs. Chacun correspond à une section de l’exposé, et tous les cinq sont mis en pratique en atelier. Le panneau de droite présente le déroulé : un exposé court, puis un travail en binômes sur un jeu d’évaluation figé. Demander aux participants de former les binômes maintenant, idéalement avec une personne d’un autre pays ou d’un autre profil (un statisticien avec un collègue informaticien ou data scientist fonctionne très bien).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sections suivent la logique d’un vrai projet d’optimisation : d’abord comprendre pourquoi la méthode compte, puis construire le test, mesurer, stabiliser, maîtriser les coûts, et enfin décider si le prompt est bien le bon outil. Chaque section garde sa couleur sur les intercalaires et dans les points de progression en haut à droite.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Poser la question à la salle et recueillir une ou deux réponses. Réponses typiques : la mise en page a changé, la langue a changé, le modèle a été mis à jour, l’exemple était facile. Autant de raisons de tester de manière systématique plutôt qu’à l’œil.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les deux colonnes ligne par ligne. La colonne de gauche décrit l’usage courant des LLM aujourd’hui : un seul test, une vérification visuelle et de l’optimisme. C’est acceptable pour un courriel personnel, pas pour ce qui entre dans un processus de production statistique. La colonne de droite reprend ce que l’on attend de toute autre méthode dans un INS : un taux d’erreur connu, la reproductibilité, la documentation. L’encadré rappelle que les Principes fondamentaux de l’ONU l’exigent déjà ; les LLM ne bénéficient d’aucune exemption.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Bref rappel de la matinée, appliqué à une tâche que la plupart des instituts connaissent : la codification en CITP-08 des professions déclarées en texte libre dans l’enquête sur la population active. Parcourir le prompt : chaque étiquette de couleur correspond à l’une des six briques. Souligner la règle de sortie NON_CODABLE : donner au modèle un moyen légitime de dire « je ne sais pas » est l’un des moyens les plus efficaces de réduire les codes inventés. Ce prompt est la version 0 que vous optimiserez en atelier. Codes CITP-08 des exemples : 5211 vendeurs sur les marchés et éventaires ; 8321 conducteurs de motocycles.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Sans jeu d’évaluation, chaque modification est une opinion. Avec un jeu d’évaluation, c’est une mesure. C’est l’habitude la plus importante de cette séance.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boucle de gauche à droite. L’étape 1 est celle que l’on saute le plus souvent : si vous ne pouvez pas écrire à quoi ressemble une excellente réponse, vous ne la reconnaîtrez jamais. Les étapes 2 et 3 donnent un score de référence. L’étape 4 est le diagnostic : regarder les échecs, pas la moyenne, et nommer la cause. L’étape 5 est la discipline : ne changer qu’une seule chose. L’étape 6 consigne le résultat dans un journal des itérations, qu’il y ait amélioration ou non. Puis recommencer jusqu’à atteindre la cible fixée à l’étape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extrait du jeu d’évaluation utilisé en atelier. Chaque ligne comporte une entrée, une réponse de référence validée par des codificateurs experts et un type de cas. Souligner le dosage : les cas typiques vérifient le parcours courant ; les cas limites (deux emplois, intitulés vagues) éprouvent vos règles de décision ; les cas négatifs vérifient que le modèle répond NON_CODABLE au lieu d’inventer un code. La répartition à droite est un point de départ pratique, pas une norme : adaptez-la à l’endroit où se trouvent vos erreurs réelles. Codes : 5211 vendeurs sur les marchés et éventaires, 8321 conducteurs de motocycles, 2341 enseignants du primaire, 4132 opérateurs de saisie.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règles viennent directement de la méthodologie d’enquête et des pratiques de l’apprentissage automatique. La plus souvent enfreinte est la règle 4 : on copie des cas de test en échec dans le prompt comme exemples, le score bondit, et l’on croit que le prompt s’est amélioré. Ce n’est pas le cas : il a mémorisé le test. Gardez un réservoir d’exemples distinct pour le prompt. Règle 2 : faites coder les réponses de référence par deux experts indépendamment et résolvez les désaccords ; si des humains ne s’accordent pas sur un cas, on ne peut pas en blâmer le modèle.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Une fois le jeu constitué, il faut un chiffre. Le bon chiffre dépend de la tâche.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 tableau ligne par ligne et demander à la salle quelles lignes correspondent à leur travail. Les trois premières lignes se notent entièrement automatiquement avec un court script : c’est par là qu’il faut commencer, car c’est peu coûteux et objectif. Les deux dernières exigent une grille et un jugement humain, ou un LLM juge calibré sur des notes humaines (diapositive suivante). Pour la codification, ne vous arrêtez pas à l’exactitude globale : un modèle peut être exact à 90 % en moyenne et se tromper systématiquement sur une catégorie importante ; examinez les résultats par classe et la matrice de confusion.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graphique illustre ce à quoi ressemble un historique d’itérations sain sur la tâche de codification des professions ; les chiffres sont pédagogiques, pas des résultats de référence. Trois points à noter. D’abord, chaque version ne comporte qu’un seul changement. Ensuite, le taux de JSON valide est suivi séparément : une correction de format (v3) peut compter autant qu’une correction de fond. Enfin, tous les changements ne sont pas retenus : la v2b a ajouté une longue liste de règles et le score a baissé, elle a donc été rejetée. Le journal des itérations est le document qui rend votre prompt auditable.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rédaction et les questions-réponses ancrées dans des documents, un script ne suffit pas. Un second modèle, le juge, peut noter chaque sortie au regard d’une grille écrite et du document source. Cela passe bien à l’échelle, mais comporte des biais connus, documentés par Zheng et ses collègues en 2023 : le juge tend à préférer la première réponse présentée, les réponses longues, et celles rédigées par un modèle qui lui ressemble. Il faut donc calibrer d’abord : faire noter 20 à 30 sorties par des humains, faire noter les mêmes sorties par le juge, et ne s’y fier que si l’accord est élevé. Revérifier périodiquement, et à chaque changement de modèle juge.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Un processus statistique doit être reproductible. Les LLM sont probabilistes par nature ; la reproductibilité doit donc être construite.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 quatre sources de variance. L’échantillonnage est la plus évidente : le modèle choisit chaque jeton suivant avec une part d’aléa, réglée par la température. Les autres comptent autant : des consignes ambiguës laissent le modèle trancher différemment à chaque exécution ; les fournisseurs mettent à jour les modèles derrière un nom générique ; et les entrées varient en langue, mise en page et qualité. À droite : le diagnostic le plus simple. Exécuter chaque cas cinq fois et compter la fréquence d’accord. Ici, le cas E04, l’enseignant qui vend aussi du crédit téléphonique, reçoit deux codes différents : cela révèle une règle ambiguë sur les emplois multiples, pas un problème de température.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familles de leviers. Les paramètres : une température basse pour l’extraction et la codification ; figer une version datée du modèle plutôt qu’un alias mouvant ; plafonner la longueur de sortie ; utiliser une graine (seed) quand le fournisseur le permet. La conception du prompt : contraindre la réponse par un schéma JSON et une liste fermée de valeurs ; écrire des règles d’arbitrage explicites, par exemple « coder l’emploi qui compte le plus d’heures ». L’encadré est important : une température nulle réduit l’aléa mais ne garantit pas des sorties identiques chez tous les fournisseurs ; il faut donc toujours mesurer. Pour les cas à fort enjeu, l’auto-cohérence (exécuter plusieurs fois et retenir la réponse majoritaire, Wang et al. 2022) est une protection utile, bien que plus coûteuse ; un désaccord entre exécutions est en soi un signal pour orienter le cas vers un codificateur humain.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Demander à la salle d’estimer le coût avant de montrer l’exemple chiffré. Les réponses vont généralement de quelques dollars à plusieurs milliers : c’est précisément pourquoi l’estimation compte.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modèles lisent et écrivent des jetons (tokens), pas des mots. Le découpage présenté est illustratif : les tokeniseurs réels diffèrent selon les fournisseurs. La règle empirique d’OpenAI pour l’anglais est d’environ quatre caractères, soit trois quarts de mot, par jeton. D’autres langues demandent souvent plus de jetons pour le même sens ; Petrov et ses collègues (2023) ont mis en évidence de fortes différences entre langues, ce qui affecte directement le budget des instituts travaillant en français, portugais, arabe ou en langues africaines. Deux formules à retenir : la formule de coût, et la contrainte de la fenêtre de contexte, dans laquelle consignes, exemples, document et réponse doivent tous tenir.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le calcul lentement ; les prix sont des chiffres ronds illustratifs, pas le tarif d’un fournisseur. Chaque appel envoie 2 500 jetons fixes (consignes, extrait CITP, exemples) plus environ 50 jetons de description, et reçoit environ 40 jetons en retour. Base : 255 millions de jetons d’entrée à 0,50 dollar le million, soit 127,50, plus 4 millions de jetons de sortie à 1,50, soit 6,00 : 133,50 dollars. Avec le cache de prompt, les 2 500 jetons fixes sont facturés avec une remise supposée de 90 % : 21,00 dollars. En regroupant 20 descriptions par appel, la partie fixe est envoyée 5 000 fois au lieu de 100 000 : 14,75 dollars. Les deux combinés : environ 9,13 dollars. Les surcoûts d’écriture en cache sont ignorés par simplicité. La leçon : la conception du prompt fait varier la facture d’un ordre de grandeur. Le regroupement doit être re-testé sur le jeu d’évaluation, car l’exactitude peut baisser quand plusieurs éléments partagent un appel. Vous mesurerez les prix et latences réels lors de la séance Groq de 14 h 45.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grandes fenêtres de contexte incitent à tout coller. Cela coûte de l’argent et peut coûter en exactitude. Liu et ses collègues (2023) ont montré que les modèles exploitent mieux l’information placée au début et à la fin d’un long contexte que celle placée au milieu : la courbe en U de gauche schématise ce résultat, sans reprendre leurs chiffres exacts. Les quatre pratiques de droite en découlent. Pour un annuaire statistique de 120 pages, envoyez les trois pages contenant le tableau, pas l’annuaire entier : c’est ce que fait automatiquement le récupérateur RAG construit le jour 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cache de prompt se fait chez le fournisseur : si le début de votre prompt est identique d’un appel à l’autre, le fournisseur peut réutiliser son calcul, ce qui est plus rapide et facturé avec une remise. La règle de conception est simple : contenu stable d’abord, contenu variable à la fin. Un seul caractère modifié tôt dans le prompt, comme un horodatage dans le prompt système, casse le cache. Remises, tailles minimales et durées de vie varient selon les fournisseurs : consultez leur documentation. Le cache de réponses est de votre côté : stockez chaque réponse avec une clé construite à partir de la version du modèle, de la version du prompt et de l’entrée. Les requêtes identiques deviennent gratuites, instantanées et parfaitement reproductibles, et ce stockage sert aussi de piste d’audit, ce qui est précieux pour un INS.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La dernière décision de la boucle : quand le score d’évaluation plafonne, que faire ? La réponse dépend du type d’échec observé à l’étape 4.</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colonnes comme une échelle, de gauche à droite : le moins coûteux et le plus rapide d’abord. Le prompt corrige un comportement que l’on peut décrire. Le RAG, construit le jour 1, corrige un savoir manquant ou changeant et fournit des citations, ce qui compte pour tout ce qui est publié. L’affinage (fine-tuning) modifie le modèle lui-même : il se justifie quand il faut un comportement constant sur une tâche étroite à fort volume et que l’on dispose de centaines à milliers d’exemples annotés de qualité. Pour les INS, il a une dimension de souveraineté : un petit modèle ouvert, affiné et exécuté en interne, peut traiter des microdonnées confidentielles qui ne doivent jamais quitter l’institut. Les durées et volumes sont des ordres de grandeur, pas des règles.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le jeu d’évaluation porte ses fruits : la décision repose sur les échecs consignés, pas sur la mode. Optimisez toujours le prompt d’abord ; beaucoup d’équipes passent à l’affinage pour un problème qu’une règle plus claire aurait résolu. Si les échecs tiennent à des faits que le modèle ne possède pas, ou qui changent (nouvelles nomenclatures, chiffres du trimestre), ajoutez la recherche documentaire. S’ils tiennent à la constance à grande échelle et que vous disposez d’assez de données annotées, envisagez l’affinage, de préférence d’un modèle ouvert hébergé en interne lorsque les microdonnées sont confidentielles. Sinon, décomposez la tâche en une chaîne de prompts plus simples ou collectez davantage d’exemples annotés. Quelle que soit la voie, relancez le même jeu d’évaluation.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Consignes de l’atelier. Les binômes ouvrent le matériel depuis l’organisation GitHub de l’atelier (animateur : confirmer le lien du dépôt à l’écran). Chaque binôme exécute le prompt v0 sur le jeu d’évaluation figé de 30 cas, note l’exactitude, la validité JSON et les jetons, puis lit les échecs et fait un changement à la fois. Points d’étape aux minutes 5, 10 et 15. À la minute 17, chaque binôme inscrit sa meilleure version et son score dans la feuille partagée. Ces meilleurs prompts servent d’entrée au banc d’essai Groq de 14 h 45, et l’ensemble des prompts et journaux sera proposé pour la bibliothèque de prompts STG17 et le manuel de référence sur les compétences clés en données.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Photographiez cette diapositive. Dix vérifications, regroupées selon les sections de l’exposé. Avant qu’un prompt n’entre dans une étape de production de votre institut, vous devriez pouvoir cocher les dix. Si vous en cochez sept aujourd’hui, votre processus est déjà mieux maîtrisé que celui de la plupart des organisations utilisant des LLM.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à retenir. Puis la transition : lors de la séance suivante, les meilleurs prompts de l’atelier seront exécutés chez deux fournisseurs d’inférence, dont Groq, pour comparer la latence, le coût pour mille documents et la qualité. Enfin, l’invitation : partagez vos jeux d’évaluation et journaux d’itérations dans l’organisation GitHub de l’atelier, afin qu’ils alimentent le manuel de référence STG17 et profitent aux instituts qui n’étaient pas présents.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un engagement : avant la fin de la semaine, choisissez un prompt que votre institut utilise ou prévoit d’utiliser, construisez pour lui un jeu d’évaluation de 30 cas et notez son score de référence. Puis ouvrir la discussion.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Références complètes des chiffres et résultats cités dans la présentation. Tous les exemples chiffrés non listés ici sont explicitement signalés comme illustratifs sur leur diapositive.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1.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68580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ATELIER TECHNIQUE STG17 · JOUR 2 · 14 H 00–14 H 45</a:t>
            </a:r>
            <a:endParaRPr lang="en-US" sz="1050" dirty="0"/>
          </a:p>
        </p:txBody>
      </p:sp>
      <p:sp>
        <p:nvSpPr>
          <p:cNvPr id="4" name="Text 2"/>
          <p:cNvSpPr txBox="1"/>
          <p:nvPr/>
        </p:nvSpPr>
        <p:spPr>
          <a:xfrm>
            <a:off x="640080" y="1097280"/>
            <a:ext cx="5486400" cy="77724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Du bon à l’excellent</a:t>
            </a:r>
            <a:endParaRPr lang="en-US" sz="4400" dirty="0"/>
          </a:p>
        </p:txBody>
      </p:sp>
      <p:sp>
        <p:nvSpPr>
          <p:cNvPr id="5" name="Text 3"/>
          <p:cNvSpPr txBox="1"/>
          <p:nvPr/>
        </p:nvSpPr>
        <p:spPr>
          <a:xfrm>
            <a:off x="640080" y="1874520"/>
            <a:ext cx="5669280" cy="457200"/>
          </a:xfrm>
          <a:prstGeom prst="rect">
            <a:avLst/>
          </a:prstGeom>
          <a:noFill/>
          <a:ln/>
        </p:spPr>
        <p:txBody>
          <a:bodyPr wrap="square" lIns="0" tIns="0" rIns="0" bIns="0" rtlCol="0" anchor="t"/>
          <a:lstStyle/>
          <a:p>
            <a:pPr marL="0" indent="0">
              <a:buNone/>
            </a:pPr>
            <a:r>
              <a:rPr lang="en-US" sz="2100" b="1" dirty="0">
                <a:solidFill>
                  <a:srgbClr val="FFFFFF"/>
                </a:solidFill>
                <a:latin typeface="Calibri" pitchFamily="34" charset="0"/>
                <a:ea typeface="Calibri" pitchFamily="34" charset="-122"/>
                <a:cs typeface="Calibri" pitchFamily="34" charset="-120"/>
              </a:rPr>
              <a:t>Optimiser les prompts en statistique officielle</a:t>
            </a:r>
            <a:endParaRPr lang="en-US" sz="2100" dirty="0"/>
          </a:p>
        </p:txBody>
      </p:sp>
      <p:sp>
        <p:nvSpPr>
          <p:cNvPr id="6" name="Text 4"/>
          <p:cNvSpPr txBox="1"/>
          <p:nvPr/>
        </p:nvSpPr>
        <p:spPr>
          <a:xfrm>
            <a:off x="640080" y="2514600"/>
            <a:ext cx="5120640" cy="1005840"/>
          </a:xfrm>
          <a:prstGeom prst="rect">
            <a:avLst/>
          </a:prstGeom>
          <a:noFill/>
          <a:ln/>
        </p:spPr>
        <p:txBody>
          <a:bodyPr wrap="square" lIns="0" tIns="0" rIns="0" bIns="0" rtlCol="0" anchor="t"/>
          <a:lstStyle/>
          <a:p>
            <a:pPr marL="0" indent="0">
              <a:buNone/>
            </a:pPr>
            <a:r>
              <a:rPr lang="en-US" sz="1450" i="1" dirty="0">
                <a:solidFill>
                  <a:srgbClr val="E6F6EE"/>
                </a:solidFill>
                <a:latin typeface="Calibri" pitchFamily="34" charset="0"/>
                <a:ea typeface="Calibri" pitchFamily="34" charset="-122"/>
                <a:cs typeface="Calibri" pitchFamily="34" charset="-120"/>
              </a:rPr>
              <a:t>Une amélioration systématique plutôt que des essais au hasard : jeux d’évaluation, mesure de la qualité, variance, coût en jetons, mise en cache, et quand aller au-delà du prompt.</a:t>
            </a:r>
            <a:endParaRPr lang="en-US" sz="1450" dirty="0"/>
          </a:p>
        </p:txBody>
      </p:sp>
      <p:sp>
        <p:nvSpPr>
          <p:cNvPr id="9" name="Shape 7"/>
          <p:cNvSpPr/>
          <p:nvPr/>
        </p:nvSpPr>
        <p:spPr>
          <a:xfrm>
            <a:off x="6355080" y="1188720"/>
            <a:ext cx="2377440" cy="2377440"/>
          </a:xfrm>
          <a:prstGeom prst="ellipse">
            <a:avLst/>
          </a:prstGeom>
          <a:ln w="19050">
            <a:solidFill>
              <a:srgbClr val="FFFFFF">
                <a:alpha val="50000"/>
              </a:srgbClr>
            </a:solidFill>
            <a:prstDash val="solid"/>
          </a:ln>
        </p:spPr>
      </p:sp>
      <p:sp>
        <p:nvSpPr>
          <p:cNvPr id="10" name="Shape 8"/>
          <p:cNvSpPr/>
          <p:nvPr/>
        </p:nvSpPr>
        <p:spPr>
          <a:xfrm>
            <a:off x="6720840" y="1554480"/>
            <a:ext cx="1645920" cy="1645920"/>
          </a:xfrm>
          <a:prstGeom prst="ellipse">
            <a:avLst/>
          </a:prstGeom>
          <a:solidFill>
            <a:srgbClr val="FFFFFF"/>
          </a:solidFill>
          <a:ln/>
        </p:spPr>
      </p:sp>
      <p:pic>
        <p:nvPicPr>
          <p:cNvPr id="11" name="Image 0" descr="preencoded.png"/>
          <p:cNvPicPr>
            <a:picLocks noChangeAspect="1"/>
          </p:cNvPicPr>
          <p:nvPr/>
        </p:nvPicPr>
        <p:blipFill>
          <a:blip r:embed="rId4"/>
          <a:stretch>
            <a:fillRect/>
          </a:stretch>
        </p:blipFill>
        <p:spPr>
          <a:xfrm>
            <a:off x="7132320" y="1965960"/>
            <a:ext cx="822960" cy="822960"/>
          </a:xfrm>
          <a:prstGeom prst="rect">
            <a:avLst/>
          </a:prstGeom>
        </p:spPr>
      </p:pic>
      <p:sp>
        <p:nvSpPr>
          <p:cNvPr id="12" name="Shape 9"/>
          <p:cNvSpPr/>
          <p:nvPr/>
        </p:nvSpPr>
        <p:spPr>
          <a:xfrm>
            <a:off x="6355080" y="3794760"/>
            <a:ext cx="914400" cy="237744"/>
          </a:xfrm>
          <a:prstGeom prst="roundRect">
            <a:avLst>
              <a:gd name="adj" fmla="val 50000"/>
            </a:avLst>
          </a:prstGeom>
          <a:solidFill>
            <a:srgbClr val="FFFFFF">
              <a:alpha val="15000"/>
            </a:srgbClr>
          </a:solidFill>
          <a:ln w="9525">
            <a:solidFill>
              <a:srgbClr val="FFFFFF"/>
            </a:solidFill>
            <a:prstDash val="solid"/>
          </a:ln>
        </p:spPr>
      </p:sp>
      <p:sp>
        <p:nvSpPr>
          <p:cNvPr id="13" name="Text 10"/>
          <p:cNvSpPr txBox="1"/>
          <p:nvPr/>
        </p:nvSpPr>
        <p:spPr>
          <a:xfrm>
            <a:off x="6355080" y="3794760"/>
            <a:ext cx="914400" cy="237744"/>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BON</a:t>
            </a:r>
            <a:endParaRPr lang="en-US" sz="900" dirty="0"/>
          </a:p>
        </p:txBody>
      </p:sp>
      <p:pic>
        <p:nvPicPr>
          <p:cNvPr id="14" name="Image 1" descr="preencoded.png"/>
          <p:cNvPicPr>
            <a:picLocks noChangeAspect="1"/>
          </p:cNvPicPr>
          <p:nvPr/>
        </p:nvPicPr>
        <p:blipFill>
          <a:blip r:embed="rId5"/>
          <a:stretch>
            <a:fillRect/>
          </a:stretch>
        </p:blipFill>
        <p:spPr>
          <a:xfrm>
            <a:off x="7406640" y="3822192"/>
            <a:ext cx="201168" cy="182880"/>
          </a:xfrm>
          <a:prstGeom prst="rect">
            <a:avLst/>
          </a:prstGeom>
        </p:spPr>
      </p:pic>
      <p:sp>
        <p:nvSpPr>
          <p:cNvPr id="15" name="Shape 11"/>
          <p:cNvSpPr/>
          <p:nvPr/>
        </p:nvSpPr>
        <p:spPr>
          <a:xfrm>
            <a:off x="7772400" y="3794760"/>
            <a:ext cx="960120" cy="237744"/>
          </a:xfrm>
          <a:prstGeom prst="roundRect">
            <a:avLst>
              <a:gd name="adj" fmla="val 50000"/>
            </a:avLst>
          </a:prstGeom>
          <a:solidFill>
            <a:srgbClr val="F5C242"/>
          </a:solidFill>
          <a:ln/>
        </p:spPr>
      </p:sp>
      <p:sp>
        <p:nvSpPr>
          <p:cNvPr id="16" name="Text 12"/>
          <p:cNvSpPr txBox="1"/>
          <p:nvPr/>
        </p:nvSpPr>
        <p:spPr>
          <a:xfrm>
            <a:off x="7772400" y="3794760"/>
            <a:ext cx="960120" cy="237744"/>
          </a:xfrm>
          <a:prstGeom prst="rect">
            <a:avLst/>
          </a:prstGeom>
          <a:noFill/>
          <a:ln/>
        </p:spPr>
        <p:txBody>
          <a:bodyPr wrap="square" lIns="0" tIns="0" rIns="0" bIns="0" rtlCol="0" anchor="ctr"/>
          <a:lstStyle/>
          <a:p>
            <a:pPr marL="0" indent="0" algn="ctr">
              <a:buNone/>
            </a:pPr>
            <a:r>
              <a:rPr lang="en-US" sz="900" b="1" kern="0" spc="100" dirty="0">
                <a:solidFill>
                  <a:srgbClr val="00553A"/>
                </a:solidFill>
                <a:latin typeface="Calibri" pitchFamily="34" charset="0"/>
                <a:ea typeface="Calibri" pitchFamily="34" charset="-122"/>
                <a:cs typeface="Calibri" pitchFamily="34" charset="-120"/>
              </a:rPr>
              <a:t>EXCELLENT</a:t>
            </a:r>
            <a:endParaRPr lang="en-US" sz="900" dirty="0"/>
          </a:p>
        </p:txBody>
      </p:sp>
      <p:sp>
        <p:nvSpPr>
          <p:cNvPr id="17" name="Text 23">
            <a:extLst>
              <a:ext uri="{FF2B5EF4-FFF2-40B4-BE49-F238E27FC236}">
                <a16:creationId xmlns:a16="http://schemas.microsoft.com/office/drawing/2014/main" id="{3D08941A-1E77-85AF-8C36-8F4BB4E4F828}"/>
              </a:ext>
            </a:extLst>
          </p:cNvPr>
          <p:cNvSpPr txBox="1"/>
          <p:nvPr/>
        </p:nvSpPr>
        <p:spPr>
          <a:xfrm>
            <a:off x="640080" y="4306127"/>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OBJECTIFS D’APPRENTISSAGE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que vous </a:t>
            </a:r>
            <a:r>
              <a:rPr lang="en-US" sz="2800" b="1" dirty="0" err="1">
                <a:solidFill>
                  <a:srgbClr val="231F20"/>
                </a:solidFill>
                <a:latin typeface="Calibri" pitchFamily="34" charset="0"/>
                <a:ea typeface="Calibri" pitchFamily="34" charset="-122"/>
                <a:cs typeface="Calibri" pitchFamily="34" charset="-120"/>
              </a:rPr>
              <a:t>saurez</a:t>
            </a:r>
            <a:r>
              <a:rPr lang="en-US" sz="2800" b="1" dirty="0">
                <a:solidFill>
                  <a:srgbClr val="231F20"/>
                </a:solidFill>
                <a:latin typeface="Calibri" pitchFamily="34" charset="0"/>
                <a:ea typeface="Calibri" pitchFamily="34" charset="-122"/>
                <a:cs typeface="Calibri" pitchFamily="34" charset="-120"/>
              </a:rPr>
              <a:t> faire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03</a:t>
            </a:r>
            <a:endParaRPr lang="en-US" sz="850" dirty="0"/>
          </a:p>
        </p:txBody>
      </p:sp>
      <p:sp>
        <p:nvSpPr>
          <p:cNvPr id="17" name="Shape 14"/>
          <p:cNvSpPr/>
          <p:nvPr/>
        </p:nvSpPr>
        <p:spPr>
          <a:xfrm>
            <a:off x="457200" y="1325880"/>
            <a:ext cx="457200" cy="45720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566928" y="1435608"/>
            <a:ext cx="237744" cy="237744"/>
          </a:xfrm>
          <a:prstGeom prst="rect">
            <a:avLst/>
          </a:prstGeom>
        </p:spPr>
      </p:pic>
      <p:sp>
        <p:nvSpPr>
          <p:cNvPr id="19" name="Text 15"/>
          <p:cNvSpPr txBox="1"/>
          <p:nvPr/>
        </p:nvSpPr>
        <p:spPr>
          <a:xfrm>
            <a:off x="1051560" y="134416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Construire un jeu d’évaluation</a:t>
            </a:r>
            <a:endParaRPr lang="en-US" sz="1350" dirty="0"/>
          </a:p>
        </p:txBody>
      </p:sp>
      <p:sp>
        <p:nvSpPr>
          <p:cNvPr id="20" name="Text 16"/>
          <p:cNvSpPr txBox="1"/>
          <p:nvPr/>
        </p:nvSpPr>
        <p:spPr>
          <a:xfrm>
            <a:off x="1051560" y="157276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représentatif de vos données, langues et cas limites.</a:t>
            </a:r>
            <a:endParaRPr lang="en-US" sz="1100" dirty="0"/>
          </a:p>
        </p:txBody>
      </p:sp>
      <p:sp>
        <p:nvSpPr>
          <p:cNvPr id="21" name="Shape 17"/>
          <p:cNvSpPr/>
          <p:nvPr/>
        </p:nvSpPr>
        <p:spPr>
          <a:xfrm>
            <a:off x="457200" y="1965960"/>
            <a:ext cx="457200" cy="457200"/>
          </a:xfrm>
          <a:prstGeom prst="ellipse">
            <a:avLst/>
          </a:prstGeom>
          <a:solidFill>
            <a:srgbClr val="0E7C86">
              <a:alpha val="22000"/>
            </a:srgbClr>
          </a:solidFill>
          <a:ln/>
        </p:spPr>
      </p:sp>
      <p:pic>
        <p:nvPicPr>
          <p:cNvPr id="22" name="Image 1" descr="preencoded.png"/>
          <p:cNvPicPr>
            <a:picLocks noChangeAspect="1"/>
          </p:cNvPicPr>
          <p:nvPr/>
        </p:nvPicPr>
        <p:blipFill>
          <a:blip r:embed="rId4"/>
          <a:stretch>
            <a:fillRect/>
          </a:stretch>
        </p:blipFill>
        <p:spPr>
          <a:xfrm>
            <a:off x="566928" y="2075688"/>
            <a:ext cx="237744" cy="237744"/>
          </a:xfrm>
          <a:prstGeom prst="rect">
            <a:avLst/>
          </a:prstGeom>
        </p:spPr>
      </p:pic>
      <p:sp>
        <p:nvSpPr>
          <p:cNvPr id="23" name="Text 18"/>
          <p:cNvSpPr txBox="1"/>
          <p:nvPr/>
        </p:nvSpPr>
        <p:spPr>
          <a:xfrm>
            <a:off x="1051560" y="198424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Mesurer la qualité des sorties</a:t>
            </a:r>
            <a:endParaRPr lang="en-US" sz="1350" dirty="0"/>
          </a:p>
        </p:txBody>
      </p:sp>
      <p:sp>
        <p:nvSpPr>
          <p:cNvPr id="24" name="Text 19"/>
          <p:cNvSpPr txBox="1"/>
          <p:nvPr/>
        </p:nvSpPr>
        <p:spPr>
          <a:xfrm>
            <a:off x="1051560" y="221284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avec une métrique adaptée à la tâche, pas à l’œil.</a:t>
            </a:r>
            <a:endParaRPr lang="en-US" sz="1100" dirty="0"/>
          </a:p>
        </p:txBody>
      </p:sp>
      <p:sp>
        <p:nvSpPr>
          <p:cNvPr id="25" name="Shape 20"/>
          <p:cNvSpPr/>
          <p:nvPr/>
        </p:nvSpPr>
        <p:spPr>
          <a:xfrm>
            <a:off x="457200" y="2606040"/>
            <a:ext cx="457200" cy="457200"/>
          </a:xfrm>
          <a:prstGeom prst="ellipse">
            <a:avLst/>
          </a:prstGeom>
          <a:solidFill>
            <a:srgbClr val="D49A00">
              <a:alpha val="22000"/>
            </a:srgbClr>
          </a:solidFill>
          <a:ln/>
        </p:spPr>
      </p:sp>
      <p:pic>
        <p:nvPicPr>
          <p:cNvPr id="26" name="Image 2" descr="preencoded.png"/>
          <p:cNvPicPr>
            <a:picLocks noChangeAspect="1"/>
          </p:cNvPicPr>
          <p:nvPr/>
        </p:nvPicPr>
        <p:blipFill>
          <a:blip r:embed="rId5"/>
          <a:stretch>
            <a:fillRect/>
          </a:stretch>
        </p:blipFill>
        <p:spPr>
          <a:xfrm>
            <a:off x="566928" y="2715768"/>
            <a:ext cx="237744" cy="237744"/>
          </a:xfrm>
          <a:prstGeom prst="rect">
            <a:avLst/>
          </a:prstGeom>
        </p:spPr>
      </p:pic>
      <p:sp>
        <p:nvSpPr>
          <p:cNvPr id="27" name="Text 21"/>
          <p:cNvSpPr txBox="1"/>
          <p:nvPr/>
        </p:nvSpPr>
        <p:spPr>
          <a:xfrm>
            <a:off x="1051560" y="262432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Maîtriser la variance</a:t>
            </a:r>
            <a:endParaRPr lang="en-US" sz="1350" dirty="0"/>
          </a:p>
        </p:txBody>
      </p:sp>
      <p:sp>
        <p:nvSpPr>
          <p:cNvPr id="28" name="Text 22"/>
          <p:cNvSpPr txBox="1"/>
          <p:nvPr/>
        </p:nvSpPr>
        <p:spPr>
          <a:xfrm>
            <a:off x="1051560" y="285292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pour qu’une même entrée donne la même sortie, défendable.</a:t>
            </a:r>
            <a:endParaRPr lang="en-US" sz="1100" dirty="0"/>
          </a:p>
        </p:txBody>
      </p:sp>
      <p:sp>
        <p:nvSpPr>
          <p:cNvPr id="29" name="Shape 23"/>
          <p:cNvSpPr/>
          <p:nvPr/>
        </p:nvSpPr>
        <p:spPr>
          <a:xfrm>
            <a:off x="457200" y="3246120"/>
            <a:ext cx="457200" cy="457200"/>
          </a:xfrm>
          <a:prstGeom prst="ellipse">
            <a:avLst/>
          </a:prstGeom>
          <a:solidFill>
            <a:srgbClr val="C4621D">
              <a:alpha val="22000"/>
            </a:srgbClr>
          </a:solidFill>
          <a:ln/>
        </p:spPr>
      </p:sp>
      <p:pic>
        <p:nvPicPr>
          <p:cNvPr id="30" name="Image 3" descr="preencoded.png"/>
          <p:cNvPicPr>
            <a:picLocks noChangeAspect="1"/>
          </p:cNvPicPr>
          <p:nvPr/>
        </p:nvPicPr>
        <p:blipFill>
          <a:blip r:embed="rId6"/>
          <a:stretch>
            <a:fillRect/>
          </a:stretch>
        </p:blipFill>
        <p:spPr>
          <a:xfrm>
            <a:off x="566928" y="3355848"/>
            <a:ext cx="237744" cy="237744"/>
          </a:xfrm>
          <a:prstGeom prst="rect">
            <a:avLst/>
          </a:prstGeom>
        </p:spPr>
      </p:pic>
      <p:sp>
        <p:nvSpPr>
          <p:cNvPr id="31" name="Text 24"/>
          <p:cNvSpPr txBox="1"/>
          <p:nvPr/>
        </p:nvSpPr>
        <p:spPr>
          <a:xfrm>
            <a:off x="1051560" y="326440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Maîtriser contexte et coûts</a:t>
            </a:r>
            <a:endParaRPr lang="en-US" sz="1350" dirty="0"/>
          </a:p>
        </p:txBody>
      </p:sp>
      <p:sp>
        <p:nvSpPr>
          <p:cNvPr id="32" name="Text 25"/>
          <p:cNvSpPr txBox="1"/>
          <p:nvPr/>
        </p:nvSpPr>
        <p:spPr>
          <a:xfrm>
            <a:off x="1051560" y="349300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estimer les jetons, utiliser le cache et les lots.</a:t>
            </a:r>
            <a:endParaRPr lang="en-US" sz="1100" dirty="0"/>
          </a:p>
        </p:txBody>
      </p:sp>
      <p:sp>
        <p:nvSpPr>
          <p:cNvPr id="33" name="Shape 26"/>
          <p:cNvSpPr/>
          <p:nvPr/>
        </p:nvSpPr>
        <p:spPr>
          <a:xfrm>
            <a:off x="457200" y="3886200"/>
            <a:ext cx="457200" cy="457200"/>
          </a:xfrm>
          <a:prstGeom prst="ellipse">
            <a:avLst/>
          </a:prstGeom>
          <a:solidFill>
            <a:srgbClr val="B83B2E">
              <a:alpha val="22000"/>
            </a:srgbClr>
          </a:solidFill>
          <a:ln/>
        </p:spPr>
      </p:sp>
      <p:pic>
        <p:nvPicPr>
          <p:cNvPr id="34" name="Image 4" descr="preencoded.png"/>
          <p:cNvPicPr>
            <a:picLocks noChangeAspect="1"/>
          </p:cNvPicPr>
          <p:nvPr/>
        </p:nvPicPr>
        <p:blipFill>
          <a:blip r:embed="rId7"/>
          <a:stretch>
            <a:fillRect/>
          </a:stretch>
        </p:blipFill>
        <p:spPr>
          <a:xfrm>
            <a:off x="566928" y="3995928"/>
            <a:ext cx="237744" cy="237744"/>
          </a:xfrm>
          <a:prstGeom prst="rect">
            <a:avLst/>
          </a:prstGeom>
        </p:spPr>
      </p:pic>
      <p:sp>
        <p:nvSpPr>
          <p:cNvPr id="35" name="Text 27"/>
          <p:cNvSpPr txBox="1"/>
          <p:nvPr/>
        </p:nvSpPr>
        <p:spPr>
          <a:xfrm>
            <a:off x="1051560" y="390448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Choisir la bonne approche</a:t>
            </a:r>
            <a:endParaRPr lang="en-US" sz="1350" dirty="0"/>
          </a:p>
        </p:txBody>
      </p:sp>
      <p:sp>
        <p:nvSpPr>
          <p:cNvPr id="36" name="Text 28"/>
          <p:cNvSpPr txBox="1"/>
          <p:nvPr/>
        </p:nvSpPr>
        <p:spPr>
          <a:xfrm>
            <a:off x="1051560" y="413308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entre prompt, RAG et affinage (fine-tuning).</a:t>
            </a:r>
            <a:endParaRPr lang="en-US" sz="1100" dirty="0"/>
          </a:p>
        </p:txBody>
      </p:sp>
      <p:sp>
        <p:nvSpPr>
          <p:cNvPr id="37" name="Shape 29"/>
          <p:cNvSpPr/>
          <p:nvPr/>
        </p:nvSpPr>
        <p:spPr>
          <a:xfrm>
            <a:off x="5577840" y="1325880"/>
            <a:ext cx="3108960" cy="3154680"/>
          </a:xfrm>
          <a:prstGeom prst="roundRect">
            <a:avLst>
              <a:gd name="adj" fmla="val 2353"/>
            </a:avLst>
          </a:prstGeom>
          <a:solidFill>
            <a:srgbClr val="F4F7F5"/>
          </a:solidFill>
          <a:ln w="9525">
            <a:solidFill>
              <a:srgbClr val="D5DED9"/>
            </a:solidFill>
            <a:prstDash val="solid"/>
          </a:ln>
        </p:spPr>
      </p:sp>
      <p:sp>
        <p:nvSpPr>
          <p:cNvPr id="38" name="Text 30"/>
          <p:cNvSpPr txBox="1"/>
          <p:nvPr/>
        </p:nvSpPr>
        <p:spPr>
          <a:xfrm>
            <a:off x="5760720" y="1463040"/>
            <a:ext cx="2743200" cy="201168"/>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DÉROULÉ DE LA SÉANCE</a:t>
            </a:r>
            <a:endParaRPr lang="en-US" sz="1000" dirty="0"/>
          </a:p>
        </p:txBody>
      </p:sp>
      <p:sp>
        <p:nvSpPr>
          <p:cNvPr id="39" name="Shape 31"/>
          <p:cNvSpPr/>
          <p:nvPr/>
        </p:nvSpPr>
        <p:spPr>
          <a:xfrm>
            <a:off x="5760720" y="1828800"/>
            <a:ext cx="868680" cy="685800"/>
          </a:xfrm>
          <a:prstGeom prst="roundRect">
            <a:avLst>
              <a:gd name="adj" fmla="val 10667"/>
            </a:avLst>
          </a:prstGeom>
          <a:solidFill>
            <a:srgbClr val="00A86A"/>
          </a:solidFill>
          <a:ln/>
        </p:spPr>
      </p:sp>
      <p:sp>
        <p:nvSpPr>
          <p:cNvPr id="40" name="Text 32"/>
          <p:cNvSpPr txBox="1"/>
          <p:nvPr/>
        </p:nvSpPr>
        <p:spPr>
          <a:xfrm>
            <a:off x="5760720" y="1828800"/>
            <a:ext cx="868680" cy="685800"/>
          </a:xfrm>
          <a:prstGeom prst="rect">
            <a:avLst/>
          </a:prstGeom>
          <a:noFill/>
          <a:ln/>
        </p:spPr>
        <p:txBody>
          <a:bodyPr wrap="square" lIns="0" tIns="0" rIns="0" bIns="0" rtlCol="0" anchor="ctr"/>
          <a:lstStyle/>
          <a:p>
            <a:pPr marL="0" indent="0" algn="ctr">
              <a:buNone/>
            </a:pPr>
            <a:endParaRPr lang="en-US" sz="1600" dirty="0"/>
          </a:p>
        </p:txBody>
      </p:sp>
      <p:sp>
        <p:nvSpPr>
          <p:cNvPr id="41" name="Text 33"/>
          <p:cNvSpPr txBox="1"/>
          <p:nvPr/>
        </p:nvSpPr>
        <p:spPr>
          <a:xfrm>
            <a:off x="6766560" y="1847088"/>
            <a:ext cx="1828800" cy="2286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Exposé</a:t>
            </a:r>
            <a:endParaRPr lang="en-US" sz="1300" dirty="0"/>
          </a:p>
        </p:txBody>
      </p:sp>
      <p:sp>
        <p:nvSpPr>
          <p:cNvPr id="42" name="Text 34"/>
          <p:cNvSpPr txBox="1"/>
          <p:nvPr/>
        </p:nvSpPr>
        <p:spPr>
          <a:xfrm>
            <a:off x="6766560" y="2084832"/>
            <a:ext cx="17830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Concepts et exemples commentés</a:t>
            </a:r>
            <a:endParaRPr lang="en-US" sz="1000" dirty="0"/>
          </a:p>
        </p:txBody>
      </p:sp>
      <p:sp>
        <p:nvSpPr>
          <p:cNvPr id="43" name="Shape 35"/>
          <p:cNvSpPr/>
          <p:nvPr/>
        </p:nvSpPr>
        <p:spPr>
          <a:xfrm>
            <a:off x="5760720" y="2697480"/>
            <a:ext cx="868680" cy="685800"/>
          </a:xfrm>
          <a:prstGeom prst="roundRect">
            <a:avLst>
              <a:gd name="adj" fmla="val 10667"/>
            </a:avLst>
          </a:prstGeom>
          <a:solidFill>
            <a:srgbClr val="00704A"/>
          </a:solidFill>
          <a:ln/>
        </p:spPr>
      </p:sp>
      <p:sp>
        <p:nvSpPr>
          <p:cNvPr id="44" name="Text 36"/>
          <p:cNvSpPr txBox="1"/>
          <p:nvPr/>
        </p:nvSpPr>
        <p:spPr>
          <a:xfrm>
            <a:off x="5760720" y="2697480"/>
            <a:ext cx="868680" cy="685800"/>
          </a:xfrm>
          <a:prstGeom prst="rect">
            <a:avLst/>
          </a:prstGeom>
          <a:noFill/>
          <a:ln/>
        </p:spPr>
        <p:txBody>
          <a:bodyPr wrap="square" lIns="0" tIns="0" rIns="0" bIns="0" rtlCol="0" anchor="ctr"/>
          <a:lstStyle/>
          <a:p>
            <a:pPr marL="0" indent="0" algn="ctr">
              <a:buNone/>
            </a:pPr>
            <a:endParaRPr lang="en-US" sz="1600" dirty="0"/>
          </a:p>
        </p:txBody>
      </p:sp>
      <p:sp>
        <p:nvSpPr>
          <p:cNvPr id="45" name="Text 37"/>
          <p:cNvSpPr txBox="1"/>
          <p:nvPr/>
        </p:nvSpPr>
        <p:spPr>
          <a:xfrm>
            <a:off x="6766560" y="2715768"/>
            <a:ext cx="1828800" cy="2286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Atelier en binômes</a:t>
            </a:r>
            <a:endParaRPr lang="en-US" sz="1300" dirty="0"/>
          </a:p>
        </p:txBody>
      </p:sp>
      <p:sp>
        <p:nvSpPr>
          <p:cNvPr id="46" name="Text 38"/>
          <p:cNvSpPr txBox="1"/>
          <p:nvPr/>
        </p:nvSpPr>
        <p:spPr>
          <a:xfrm>
            <a:off x="6766560" y="2953512"/>
            <a:ext cx="17830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Optimiser un prompt de codification sur un jeu figé</a:t>
            </a:r>
            <a:endParaRPr lang="en-US" sz="1000" dirty="0"/>
          </a:p>
        </p:txBody>
      </p:sp>
      <p:sp>
        <p:nvSpPr>
          <p:cNvPr id="47" name="Shape 39"/>
          <p:cNvSpPr/>
          <p:nvPr/>
        </p:nvSpPr>
        <p:spPr>
          <a:xfrm>
            <a:off x="5760720" y="3566160"/>
            <a:ext cx="868680" cy="685800"/>
          </a:xfrm>
          <a:prstGeom prst="roundRect">
            <a:avLst>
              <a:gd name="adj" fmla="val 10667"/>
            </a:avLst>
          </a:prstGeom>
          <a:solidFill>
            <a:srgbClr val="D49A00"/>
          </a:solidFill>
          <a:ln/>
        </p:spPr>
      </p:sp>
      <p:sp>
        <p:nvSpPr>
          <p:cNvPr id="48" name="Text 40"/>
          <p:cNvSpPr txBox="1"/>
          <p:nvPr/>
        </p:nvSpPr>
        <p:spPr>
          <a:xfrm>
            <a:off x="5760720" y="3566160"/>
            <a:ext cx="868680" cy="685800"/>
          </a:xfrm>
          <a:prstGeom prst="rect">
            <a:avLst/>
          </a:prstGeom>
          <a:noFill/>
          <a:ln/>
        </p:spPr>
        <p:txBody>
          <a:bodyPr wrap="square" lIns="0" tIns="0" rIns="0" bIns="0" rtlCol="0" anchor="ctr"/>
          <a:lstStyle/>
          <a:p>
            <a:pPr marL="0" indent="0" algn="ctr">
              <a:buNone/>
            </a:pPr>
            <a:endParaRPr lang="en-US" sz="1600" dirty="0"/>
          </a:p>
        </p:txBody>
      </p:sp>
      <p:sp>
        <p:nvSpPr>
          <p:cNvPr id="49" name="Text 41"/>
          <p:cNvSpPr txBox="1"/>
          <p:nvPr/>
        </p:nvSpPr>
        <p:spPr>
          <a:xfrm>
            <a:off x="6766560" y="3584448"/>
            <a:ext cx="1828800" cy="2286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Synthèse</a:t>
            </a:r>
            <a:endParaRPr lang="en-US" sz="1300" dirty="0"/>
          </a:p>
        </p:txBody>
      </p:sp>
      <p:sp>
        <p:nvSpPr>
          <p:cNvPr id="50" name="Text 42"/>
          <p:cNvSpPr txBox="1"/>
          <p:nvPr/>
        </p:nvSpPr>
        <p:spPr>
          <a:xfrm>
            <a:off x="6766560" y="3822192"/>
            <a:ext cx="17830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Meilleurs scores et passage au banc d’essai Groq</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PROGRAMME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étapes d’un bon prompt à un excellent prompt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04</a:t>
            </a:r>
            <a:endParaRPr lang="en-US" sz="850" dirty="0"/>
          </a:p>
        </p:txBody>
      </p:sp>
      <p:sp>
        <p:nvSpPr>
          <p:cNvPr id="17" name="Shape 14"/>
          <p:cNvSpPr/>
          <p:nvPr/>
        </p:nvSpPr>
        <p:spPr>
          <a:xfrm>
            <a:off x="457200" y="1325880"/>
            <a:ext cx="2651760" cy="1371600"/>
          </a:xfrm>
          <a:prstGeom prst="roundRect">
            <a:avLst>
              <a:gd name="adj" fmla="val 5333"/>
            </a:avLst>
          </a:prstGeom>
          <a:solidFill>
            <a:srgbClr val="F4F7F5"/>
          </a:solidFill>
          <a:ln w="9525">
            <a:solidFill>
              <a:srgbClr val="D5DED9"/>
            </a:solidFill>
            <a:prstDash val="solid"/>
          </a:ln>
        </p:spPr>
      </p:sp>
      <p:sp>
        <p:nvSpPr>
          <p:cNvPr id="18" name="Text 15"/>
          <p:cNvSpPr txBox="1"/>
          <p:nvPr/>
        </p:nvSpPr>
        <p:spPr>
          <a:xfrm>
            <a:off x="640080" y="1463040"/>
            <a:ext cx="914400" cy="45720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Shape 16"/>
          <p:cNvSpPr/>
          <p:nvPr/>
        </p:nvSpPr>
        <p:spPr>
          <a:xfrm>
            <a:off x="2468880" y="1490472"/>
            <a:ext cx="457200" cy="457200"/>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2578608" y="1600200"/>
            <a:ext cx="237744" cy="237744"/>
          </a:xfrm>
          <a:prstGeom prst="rect">
            <a:avLst/>
          </a:prstGeom>
        </p:spPr>
      </p:pic>
      <p:sp>
        <p:nvSpPr>
          <p:cNvPr id="21" name="Text 17"/>
          <p:cNvSpPr txBox="1"/>
          <p:nvPr/>
        </p:nvSpPr>
        <p:spPr>
          <a:xfrm>
            <a:off x="640080" y="196596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De l’art à la méthode</a:t>
            </a:r>
            <a:endParaRPr lang="en-US" sz="1400" dirty="0"/>
          </a:p>
        </p:txBody>
      </p:sp>
      <p:sp>
        <p:nvSpPr>
          <p:cNvPr id="22" name="Text 18"/>
          <p:cNvSpPr txBox="1"/>
          <p:nvPr/>
        </p:nvSpPr>
        <p:spPr>
          <a:xfrm>
            <a:off x="640080" y="222199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Pourquoi « ça a l’air correct » ne suffit pas en statistique officielle.</a:t>
            </a:r>
            <a:endParaRPr lang="en-US" sz="1050" dirty="0"/>
          </a:p>
        </p:txBody>
      </p:sp>
      <p:sp>
        <p:nvSpPr>
          <p:cNvPr id="23" name="Shape 19"/>
          <p:cNvSpPr/>
          <p:nvPr/>
        </p:nvSpPr>
        <p:spPr>
          <a:xfrm>
            <a:off x="3246120" y="1325880"/>
            <a:ext cx="2651760" cy="1371600"/>
          </a:xfrm>
          <a:prstGeom prst="roundRect">
            <a:avLst>
              <a:gd name="adj" fmla="val 5333"/>
            </a:avLst>
          </a:prstGeom>
          <a:solidFill>
            <a:srgbClr val="F4F7F5"/>
          </a:solidFill>
          <a:ln w="9525">
            <a:solidFill>
              <a:srgbClr val="D5DED9"/>
            </a:solidFill>
            <a:prstDash val="solid"/>
          </a:ln>
        </p:spPr>
      </p:sp>
      <p:sp>
        <p:nvSpPr>
          <p:cNvPr id="24" name="Text 20"/>
          <p:cNvSpPr txBox="1"/>
          <p:nvPr/>
        </p:nvSpPr>
        <p:spPr>
          <a:xfrm>
            <a:off x="3429000" y="1463040"/>
            <a:ext cx="914400" cy="45720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5" name="Shape 21"/>
          <p:cNvSpPr/>
          <p:nvPr/>
        </p:nvSpPr>
        <p:spPr>
          <a:xfrm>
            <a:off x="5257800" y="1490472"/>
            <a:ext cx="457200" cy="457200"/>
          </a:xfrm>
          <a:prstGeom prst="ellipse">
            <a:avLst/>
          </a:prstGeom>
          <a:solidFill>
            <a:srgbClr val="00704A">
              <a:alpha val="22000"/>
            </a:srgbClr>
          </a:solidFill>
          <a:ln/>
        </p:spPr>
      </p:sp>
      <p:pic>
        <p:nvPicPr>
          <p:cNvPr id="26" name="Image 1" descr="preencoded.png"/>
          <p:cNvPicPr>
            <a:picLocks noChangeAspect="1"/>
          </p:cNvPicPr>
          <p:nvPr/>
        </p:nvPicPr>
        <p:blipFill>
          <a:blip r:embed="rId4"/>
          <a:stretch>
            <a:fillRect/>
          </a:stretch>
        </p:blipFill>
        <p:spPr>
          <a:xfrm>
            <a:off x="5367528" y="1600200"/>
            <a:ext cx="237744" cy="237744"/>
          </a:xfrm>
          <a:prstGeom prst="rect">
            <a:avLst/>
          </a:prstGeom>
        </p:spPr>
      </p:pic>
      <p:sp>
        <p:nvSpPr>
          <p:cNvPr id="27" name="Text 22"/>
          <p:cNvSpPr txBox="1"/>
          <p:nvPr/>
        </p:nvSpPr>
        <p:spPr>
          <a:xfrm>
            <a:off x="3429000" y="196596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Le jeu d’évaluation</a:t>
            </a:r>
            <a:endParaRPr lang="en-US" sz="1400" dirty="0"/>
          </a:p>
        </p:txBody>
      </p:sp>
      <p:sp>
        <p:nvSpPr>
          <p:cNvPr id="28" name="Text 23"/>
          <p:cNvSpPr txBox="1"/>
          <p:nvPr/>
        </p:nvSpPr>
        <p:spPr>
          <a:xfrm>
            <a:off x="3429000" y="222199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 test figé qui dit si une modification a aidé.</a:t>
            </a:r>
            <a:endParaRPr lang="en-US" sz="1050" dirty="0"/>
          </a:p>
        </p:txBody>
      </p:sp>
      <p:sp>
        <p:nvSpPr>
          <p:cNvPr id="29" name="Shape 24"/>
          <p:cNvSpPr/>
          <p:nvPr/>
        </p:nvSpPr>
        <p:spPr>
          <a:xfrm>
            <a:off x="6035040" y="1325880"/>
            <a:ext cx="2651760" cy="1371600"/>
          </a:xfrm>
          <a:prstGeom prst="roundRect">
            <a:avLst>
              <a:gd name="adj" fmla="val 5333"/>
            </a:avLst>
          </a:prstGeom>
          <a:solidFill>
            <a:srgbClr val="F4F7F5"/>
          </a:solidFill>
          <a:ln w="9525">
            <a:solidFill>
              <a:srgbClr val="D5DED9"/>
            </a:solidFill>
            <a:prstDash val="solid"/>
          </a:ln>
        </p:spPr>
      </p:sp>
      <p:sp>
        <p:nvSpPr>
          <p:cNvPr id="30" name="Text 25"/>
          <p:cNvSpPr txBox="1"/>
          <p:nvPr/>
        </p:nvSpPr>
        <p:spPr>
          <a:xfrm>
            <a:off x="6217920" y="1463040"/>
            <a:ext cx="914400" cy="45720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31" name="Shape 26"/>
          <p:cNvSpPr/>
          <p:nvPr/>
        </p:nvSpPr>
        <p:spPr>
          <a:xfrm>
            <a:off x="8046720" y="1490472"/>
            <a:ext cx="457200" cy="457200"/>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8156448" y="1600200"/>
            <a:ext cx="237744" cy="237744"/>
          </a:xfrm>
          <a:prstGeom prst="rect">
            <a:avLst/>
          </a:prstGeom>
        </p:spPr>
      </p:pic>
      <p:sp>
        <p:nvSpPr>
          <p:cNvPr id="33" name="Text 27"/>
          <p:cNvSpPr txBox="1"/>
          <p:nvPr/>
        </p:nvSpPr>
        <p:spPr>
          <a:xfrm>
            <a:off x="6217920" y="196596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Mesurer la qualité</a:t>
            </a:r>
            <a:endParaRPr lang="en-US" sz="1400" dirty="0"/>
          </a:p>
        </p:txBody>
      </p:sp>
      <p:sp>
        <p:nvSpPr>
          <p:cNvPr id="34" name="Text 28"/>
          <p:cNvSpPr txBox="1"/>
          <p:nvPr/>
        </p:nvSpPr>
        <p:spPr>
          <a:xfrm>
            <a:off x="6217920" y="222199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Métriques par type de tâche, tableaux de scores, LLM juge.</a:t>
            </a:r>
            <a:endParaRPr lang="en-US" sz="1050" dirty="0"/>
          </a:p>
        </p:txBody>
      </p:sp>
      <p:sp>
        <p:nvSpPr>
          <p:cNvPr id="35" name="Shape 29"/>
          <p:cNvSpPr/>
          <p:nvPr/>
        </p:nvSpPr>
        <p:spPr>
          <a:xfrm>
            <a:off x="457200" y="2880360"/>
            <a:ext cx="2651760" cy="1371600"/>
          </a:xfrm>
          <a:prstGeom prst="roundRect">
            <a:avLst>
              <a:gd name="adj" fmla="val 5333"/>
            </a:avLst>
          </a:prstGeom>
          <a:solidFill>
            <a:srgbClr val="F4F7F5"/>
          </a:solidFill>
          <a:ln w="9525">
            <a:solidFill>
              <a:srgbClr val="D5DED9"/>
            </a:solidFill>
            <a:prstDash val="solid"/>
          </a:ln>
        </p:spPr>
      </p:sp>
      <p:sp>
        <p:nvSpPr>
          <p:cNvPr id="36" name="Text 30"/>
          <p:cNvSpPr txBox="1"/>
          <p:nvPr/>
        </p:nvSpPr>
        <p:spPr>
          <a:xfrm>
            <a:off x="640080" y="3017520"/>
            <a:ext cx="914400" cy="45720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7" name="Shape 31"/>
          <p:cNvSpPr/>
          <p:nvPr/>
        </p:nvSpPr>
        <p:spPr>
          <a:xfrm>
            <a:off x="2468880" y="3044952"/>
            <a:ext cx="457200" cy="457200"/>
          </a:xfrm>
          <a:prstGeom prst="ellipse">
            <a:avLst/>
          </a:prstGeom>
          <a:solidFill>
            <a:srgbClr val="D49A00">
              <a:alpha val="22000"/>
            </a:srgbClr>
          </a:solidFill>
          <a:ln/>
        </p:spPr>
      </p:sp>
      <p:pic>
        <p:nvPicPr>
          <p:cNvPr id="38" name="Image 3" descr="preencoded.png"/>
          <p:cNvPicPr>
            <a:picLocks noChangeAspect="1"/>
          </p:cNvPicPr>
          <p:nvPr/>
        </p:nvPicPr>
        <p:blipFill>
          <a:blip r:embed="rId6"/>
          <a:stretch>
            <a:fillRect/>
          </a:stretch>
        </p:blipFill>
        <p:spPr>
          <a:xfrm>
            <a:off x="2578608" y="3154680"/>
            <a:ext cx="237744" cy="237744"/>
          </a:xfrm>
          <a:prstGeom prst="rect">
            <a:avLst/>
          </a:prstGeom>
        </p:spPr>
      </p:pic>
      <p:sp>
        <p:nvSpPr>
          <p:cNvPr id="39" name="Text 32"/>
          <p:cNvSpPr txBox="1"/>
          <p:nvPr/>
        </p:nvSpPr>
        <p:spPr>
          <a:xfrm>
            <a:off x="640080" y="352044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Maîtriser la variance</a:t>
            </a:r>
            <a:endParaRPr lang="en-US" sz="1400" dirty="0"/>
          </a:p>
        </p:txBody>
      </p:sp>
      <p:sp>
        <p:nvSpPr>
          <p:cNvPr id="40" name="Text 33"/>
          <p:cNvSpPr txBox="1"/>
          <p:nvPr/>
        </p:nvSpPr>
        <p:spPr>
          <a:xfrm>
            <a:off x="640080" y="377647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Pourquoi les réponses changent d’une exécution à l’autre, et comment l’éviter.</a:t>
            </a:r>
            <a:endParaRPr lang="en-US" sz="1050" dirty="0"/>
          </a:p>
        </p:txBody>
      </p:sp>
      <p:sp>
        <p:nvSpPr>
          <p:cNvPr id="41" name="Shape 34"/>
          <p:cNvSpPr/>
          <p:nvPr/>
        </p:nvSpPr>
        <p:spPr>
          <a:xfrm>
            <a:off x="3246120" y="2880360"/>
            <a:ext cx="2651760" cy="1371600"/>
          </a:xfrm>
          <a:prstGeom prst="roundRect">
            <a:avLst>
              <a:gd name="adj" fmla="val 5333"/>
            </a:avLst>
          </a:prstGeom>
          <a:solidFill>
            <a:srgbClr val="F4F7F5"/>
          </a:solidFill>
          <a:ln w="9525">
            <a:solidFill>
              <a:srgbClr val="D5DED9"/>
            </a:solidFill>
            <a:prstDash val="solid"/>
          </a:ln>
        </p:spPr>
      </p:sp>
      <p:sp>
        <p:nvSpPr>
          <p:cNvPr id="42" name="Text 35"/>
          <p:cNvSpPr txBox="1"/>
          <p:nvPr/>
        </p:nvSpPr>
        <p:spPr>
          <a:xfrm>
            <a:off x="3429000" y="3017520"/>
            <a:ext cx="91440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43" name="Shape 36"/>
          <p:cNvSpPr/>
          <p:nvPr/>
        </p:nvSpPr>
        <p:spPr>
          <a:xfrm>
            <a:off x="5257800" y="3044952"/>
            <a:ext cx="457200" cy="457200"/>
          </a:xfrm>
          <a:prstGeom prst="ellipse">
            <a:avLst/>
          </a:prstGeom>
          <a:solidFill>
            <a:srgbClr val="C4621D">
              <a:alpha val="22000"/>
            </a:srgbClr>
          </a:solidFill>
          <a:ln/>
        </p:spPr>
      </p:sp>
      <p:pic>
        <p:nvPicPr>
          <p:cNvPr id="44" name="Image 4" descr="preencoded.png"/>
          <p:cNvPicPr>
            <a:picLocks noChangeAspect="1"/>
          </p:cNvPicPr>
          <p:nvPr/>
        </p:nvPicPr>
        <p:blipFill>
          <a:blip r:embed="rId7"/>
          <a:stretch>
            <a:fillRect/>
          </a:stretch>
        </p:blipFill>
        <p:spPr>
          <a:xfrm>
            <a:off x="5367528" y="3154680"/>
            <a:ext cx="237744" cy="237744"/>
          </a:xfrm>
          <a:prstGeom prst="rect">
            <a:avLst/>
          </a:prstGeom>
        </p:spPr>
      </p:pic>
      <p:sp>
        <p:nvSpPr>
          <p:cNvPr id="45" name="Text 37"/>
          <p:cNvSpPr txBox="1"/>
          <p:nvPr/>
        </p:nvSpPr>
        <p:spPr>
          <a:xfrm>
            <a:off x="3429000" y="352044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Contexte, jetons, coûts</a:t>
            </a:r>
            <a:endParaRPr lang="en-US" sz="1400" dirty="0"/>
          </a:p>
        </p:txBody>
      </p:sp>
      <p:sp>
        <p:nvSpPr>
          <p:cNvPr id="46" name="Text 38"/>
          <p:cNvSpPr txBox="1"/>
          <p:nvPr/>
        </p:nvSpPr>
        <p:spPr>
          <a:xfrm>
            <a:off x="3429000" y="377647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Estimer la facture, réduire le contexte, cache et lots.</a:t>
            </a:r>
            <a:endParaRPr lang="en-US" sz="1050" dirty="0"/>
          </a:p>
        </p:txBody>
      </p:sp>
      <p:sp>
        <p:nvSpPr>
          <p:cNvPr id="47" name="Shape 39"/>
          <p:cNvSpPr/>
          <p:nvPr/>
        </p:nvSpPr>
        <p:spPr>
          <a:xfrm>
            <a:off x="6035040" y="2880360"/>
            <a:ext cx="2651760" cy="1371600"/>
          </a:xfrm>
          <a:prstGeom prst="roundRect">
            <a:avLst>
              <a:gd name="adj" fmla="val 5333"/>
            </a:avLst>
          </a:prstGeom>
          <a:solidFill>
            <a:srgbClr val="F4F7F5"/>
          </a:solidFill>
          <a:ln w="9525">
            <a:solidFill>
              <a:srgbClr val="D5DED9"/>
            </a:solidFill>
            <a:prstDash val="solid"/>
          </a:ln>
        </p:spPr>
      </p:sp>
      <p:sp>
        <p:nvSpPr>
          <p:cNvPr id="48" name="Text 40"/>
          <p:cNvSpPr txBox="1"/>
          <p:nvPr/>
        </p:nvSpPr>
        <p:spPr>
          <a:xfrm>
            <a:off x="6217920" y="3017520"/>
            <a:ext cx="914400" cy="45720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49" name="Shape 41"/>
          <p:cNvSpPr/>
          <p:nvPr/>
        </p:nvSpPr>
        <p:spPr>
          <a:xfrm>
            <a:off x="8046720" y="3044952"/>
            <a:ext cx="457200" cy="457200"/>
          </a:xfrm>
          <a:prstGeom prst="ellipse">
            <a:avLst/>
          </a:prstGeom>
          <a:solidFill>
            <a:srgbClr val="B83B2E">
              <a:alpha val="22000"/>
            </a:srgbClr>
          </a:solidFill>
          <a:ln/>
        </p:spPr>
      </p:sp>
      <p:pic>
        <p:nvPicPr>
          <p:cNvPr id="50" name="Image 5" descr="preencoded.png"/>
          <p:cNvPicPr>
            <a:picLocks noChangeAspect="1"/>
          </p:cNvPicPr>
          <p:nvPr/>
        </p:nvPicPr>
        <p:blipFill>
          <a:blip r:embed="rId8"/>
          <a:stretch>
            <a:fillRect/>
          </a:stretch>
        </p:blipFill>
        <p:spPr>
          <a:xfrm>
            <a:off x="8156448" y="3154680"/>
            <a:ext cx="237744" cy="237744"/>
          </a:xfrm>
          <a:prstGeom prst="rect">
            <a:avLst/>
          </a:prstGeom>
        </p:spPr>
      </p:pic>
      <p:sp>
        <p:nvSpPr>
          <p:cNvPr id="51" name="Text 42"/>
          <p:cNvSpPr txBox="1"/>
          <p:nvPr/>
        </p:nvSpPr>
        <p:spPr>
          <a:xfrm>
            <a:off x="6217920" y="352044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Prompt, RAG ou affinage ?</a:t>
            </a:r>
            <a:endParaRPr lang="en-US" sz="1400" dirty="0"/>
          </a:p>
        </p:txBody>
      </p:sp>
      <p:sp>
        <p:nvSpPr>
          <p:cNvPr id="52" name="Text 43"/>
          <p:cNvSpPr txBox="1"/>
          <p:nvPr/>
        </p:nvSpPr>
        <p:spPr>
          <a:xfrm>
            <a:off x="6217920" y="377647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Choisir l’outil selon l’échec observé.</a:t>
            </a:r>
            <a:endParaRPr lang="en-US" sz="1050" dirty="0"/>
          </a:p>
        </p:txBody>
      </p:sp>
      <p:sp>
        <p:nvSpPr>
          <p:cNvPr id="53" name="Text 44"/>
          <p:cNvSpPr txBox="1"/>
          <p:nvPr/>
        </p:nvSpPr>
        <p:spPr>
          <a:xfrm>
            <a:off x="457200" y="4462272"/>
            <a:ext cx="8229600" cy="22860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Ensuite : atelier pratique · pièges pour les INS · liste de contrôle du prompt excellent</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 SUR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01</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 l’art à la méthode</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Pourquoi un prompt efficace hier échoue-t-il sur le bulletin du jour ?</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5C242"/>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05</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DE L’ART À LA MÉTHODE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 Ça a l’air correct » ne suffit pas</a:t>
            </a:r>
            <a:endParaRPr lang="en-US" sz="2800" dirty="0"/>
          </a:p>
        </p:txBody>
      </p:sp>
      <p:sp>
        <p:nvSpPr>
          <p:cNvPr id="8" name="Shape 6"/>
          <p:cNvSpPr/>
          <p:nvPr/>
        </p:nvSpPr>
        <p:spPr>
          <a:xfrm>
            <a:off x="7635240" y="365760"/>
            <a:ext cx="100584" cy="100584"/>
          </a:xfrm>
          <a:prstGeom prst="ellipse">
            <a:avLst/>
          </a:prstGeom>
          <a:solidFill>
            <a:srgbClr val="00A86A"/>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Shape 14"/>
          <p:cNvSpPr/>
          <p:nvPr/>
        </p:nvSpPr>
        <p:spPr>
          <a:xfrm>
            <a:off x="2057400" y="1298448"/>
            <a:ext cx="3200400" cy="411480"/>
          </a:xfrm>
          <a:prstGeom prst="roundRect">
            <a:avLst>
              <a:gd name="adj" fmla="val 17778"/>
            </a:avLst>
          </a:prstGeom>
          <a:solidFill>
            <a:srgbClr val="F4F7F5"/>
          </a:solidFill>
          <a:ln w="9525">
            <a:solidFill>
              <a:srgbClr val="D5DED9"/>
            </a:solidFill>
            <a:prstDash val="solid"/>
          </a:ln>
        </p:spPr>
      </p:sp>
      <p:sp>
        <p:nvSpPr>
          <p:cNvPr id="18" name="Shape 15"/>
          <p:cNvSpPr/>
          <p:nvPr/>
        </p:nvSpPr>
        <p:spPr>
          <a:xfrm>
            <a:off x="5440680" y="1298448"/>
            <a:ext cx="3246120" cy="411480"/>
          </a:xfrm>
          <a:prstGeom prst="roundRect">
            <a:avLst>
              <a:gd name="adj" fmla="val 17778"/>
            </a:avLst>
          </a:prstGeom>
          <a:solidFill>
            <a:srgbClr val="E8F5EF"/>
          </a:solidFill>
          <a:ln w="15875">
            <a:solidFill>
              <a:srgbClr val="00A86A"/>
            </a:solidFill>
            <a:prstDash val="solid"/>
          </a:ln>
        </p:spPr>
      </p:sp>
      <p:sp>
        <p:nvSpPr>
          <p:cNvPr id="19" name="Text 16"/>
          <p:cNvSpPr txBox="1"/>
          <p:nvPr/>
        </p:nvSpPr>
        <p:spPr>
          <a:xfrm>
            <a:off x="2057400" y="1298448"/>
            <a:ext cx="3200400" cy="411480"/>
          </a:xfrm>
          <a:prstGeom prst="rect">
            <a:avLst/>
          </a:prstGeom>
          <a:noFill/>
          <a:ln/>
        </p:spPr>
        <p:txBody>
          <a:bodyPr wrap="square" lIns="0" tIns="0" rIns="0" bIns="0" rtlCol="0" anchor="ctr"/>
          <a:lstStyle/>
          <a:p>
            <a:pPr marL="0" indent="0" algn="ctr">
              <a:buNone/>
            </a:pPr>
            <a:r>
              <a:rPr lang="en-US" sz="1200" b="1" kern="0" spc="200" dirty="0">
                <a:solidFill>
                  <a:srgbClr val="5E6964"/>
                </a:solidFill>
                <a:latin typeface="Calibri" pitchFamily="34" charset="0"/>
                <a:ea typeface="Calibri" pitchFamily="34" charset="-122"/>
                <a:cs typeface="Calibri" pitchFamily="34" charset="-120"/>
              </a:rPr>
              <a:t>UN « BON » PROMPT</a:t>
            </a:r>
            <a:endParaRPr lang="en-US" sz="1200" dirty="0"/>
          </a:p>
        </p:txBody>
      </p:sp>
      <p:sp>
        <p:nvSpPr>
          <p:cNvPr id="20" name="Text 17"/>
          <p:cNvSpPr txBox="1"/>
          <p:nvPr/>
        </p:nvSpPr>
        <p:spPr>
          <a:xfrm>
            <a:off x="5440680" y="1298448"/>
            <a:ext cx="3246120" cy="411480"/>
          </a:xfrm>
          <a:prstGeom prst="rect">
            <a:avLst/>
          </a:prstGeom>
          <a:noFill/>
          <a:ln/>
        </p:spPr>
        <p:txBody>
          <a:bodyPr wrap="square" lIns="0" tIns="0" rIns="0" bIns="0" rtlCol="0" anchor="ctr"/>
          <a:lstStyle/>
          <a:p>
            <a:pPr marL="0" indent="0" algn="ctr">
              <a:buNone/>
            </a:pPr>
            <a:r>
              <a:rPr lang="en-US" sz="1200" b="1" kern="0" spc="200" dirty="0">
                <a:solidFill>
                  <a:srgbClr val="00704A"/>
                </a:solidFill>
                <a:latin typeface="Calibri" pitchFamily="34" charset="0"/>
                <a:ea typeface="Calibri" pitchFamily="34" charset="-122"/>
                <a:cs typeface="Calibri" pitchFamily="34" charset="-120"/>
              </a:rPr>
              <a:t>UN PROMPT « EXCELLENT »</a:t>
            </a:r>
            <a:endParaRPr lang="en-US" sz="1200" dirty="0"/>
          </a:p>
        </p:txBody>
      </p:sp>
      <p:sp>
        <p:nvSpPr>
          <p:cNvPr id="21" name="Text 18"/>
          <p:cNvSpPr txBox="1"/>
          <p:nvPr/>
        </p:nvSpPr>
        <p:spPr>
          <a:xfrm>
            <a:off x="457200" y="1801368"/>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Testé sur</a:t>
            </a:r>
            <a:endParaRPr lang="en-US" sz="1200" dirty="0"/>
          </a:p>
        </p:txBody>
      </p:sp>
      <p:pic>
        <p:nvPicPr>
          <p:cNvPr id="22" name="Image 0" descr="preencoded.png"/>
          <p:cNvPicPr>
            <a:picLocks noChangeAspect="1"/>
          </p:cNvPicPr>
          <p:nvPr/>
        </p:nvPicPr>
        <p:blipFill>
          <a:blip r:embed="rId3"/>
          <a:stretch>
            <a:fillRect/>
          </a:stretch>
        </p:blipFill>
        <p:spPr>
          <a:xfrm>
            <a:off x="2148840" y="1911096"/>
            <a:ext cx="128016" cy="128016"/>
          </a:xfrm>
          <a:prstGeom prst="rect">
            <a:avLst/>
          </a:prstGeom>
        </p:spPr>
      </p:pic>
      <p:sp>
        <p:nvSpPr>
          <p:cNvPr id="23" name="Text 19"/>
          <p:cNvSpPr txBox="1"/>
          <p:nvPr/>
        </p:nvSpPr>
        <p:spPr>
          <a:xfrm>
            <a:off x="2377440" y="1801368"/>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le seul exemple essayé par hasard</a:t>
            </a:r>
            <a:endParaRPr lang="en-US" sz="1100" dirty="0"/>
          </a:p>
        </p:txBody>
      </p:sp>
      <p:pic>
        <p:nvPicPr>
          <p:cNvPr id="24" name="Image 1" descr="preencoded.png"/>
          <p:cNvPicPr>
            <a:picLocks noChangeAspect="1"/>
          </p:cNvPicPr>
          <p:nvPr/>
        </p:nvPicPr>
        <p:blipFill>
          <a:blip r:embed="rId4"/>
          <a:stretch>
            <a:fillRect/>
          </a:stretch>
        </p:blipFill>
        <p:spPr>
          <a:xfrm>
            <a:off x="5532120" y="1911096"/>
            <a:ext cx="137160" cy="128016"/>
          </a:xfrm>
          <a:prstGeom prst="rect">
            <a:avLst/>
          </a:prstGeom>
        </p:spPr>
      </p:pic>
      <p:sp>
        <p:nvSpPr>
          <p:cNvPr id="25" name="Text 20"/>
          <p:cNvSpPr txBox="1"/>
          <p:nvPr/>
        </p:nvSpPr>
        <p:spPr>
          <a:xfrm>
            <a:off x="5760720" y="1801368"/>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un jeu figé de 30 à 50 cas représentatifs</a:t>
            </a:r>
            <a:endParaRPr lang="en-US" sz="1100" dirty="0"/>
          </a:p>
        </p:txBody>
      </p:sp>
      <p:sp>
        <p:nvSpPr>
          <p:cNvPr id="26" name="Shape 21"/>
          <p:cNvSpPr/>
          <p:nvPr/>
        </p:nvSpPr>
        <p:spPr>
          <a:xfrm>
            <a:off x="457200" y="2176272"/>
            <a:ext cx="8229600" cy="0"/>
          </a:xfrm>
          <a:prstGeom prst="line">
            <a:avLst/>
          </a:prstGeom>
          <a:noFill/>
          <a:ln w="6350">
            <a:solidFill>
              <a:srgbClr val="D5DED9"/>
            </a:solidFill>
            <a:prstDash val="solid"/>
          </a:ln>
        </p:spPr>
      </p:sp>
      <p:sp>
        <p:nvSpPr>
          <p:cNvPr id="27" name="Text 22"/>
          <p:cNvSpPr txBox="1"/>
          <p:nvPr/>
        </p:nvSpPr>
        <p:spPr>
          <a:xfrm>
            <a:off x="457200" y="2203704"/>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Jugé par</a:t>
            </a:r>
            <a:endParaRPr lang="en-US" sz="1200" dirty="0"/>
          </a:p>
        </p:txBody>
      </p:sp>
      <p:pic>
        <p:nvPicPr>
          <p:cNvPr id="28" name="Image 2" descr="preencoded.png"/>
          <p:cNvPicPr>
            <a:picLocks noChangeAspect="1"/>
          </p:cNvPicPr>
          <p:nvPr/>
        </p:nvPicPr>
        <p:blipFill>
          <a:blip r:embed="rId3"/>
          <a:stretch>
            <a:fillRect/>
          </a:stretch>
        </p:blipFill>
        <p:spPr>
          <a:xfrm>
            <a:off x="2148840" y="2313432"/>
            <a:ext cx="128016" cy="128016"/>
          </a:xfrm>
          <a:prstGeom prst="rect">
            <a:avLst/>
          </a:prstGeom>
        </p:spPr>
      </p:pic>
      <p:sp>
        <p:nvSpPr>
          <p:cNvPr id="29" name="Text 23"/>
          <p:cNvSpPr txBox="1"/>
          <p:nvPr/>
        </p:nvSpPr>
        <p:spPr>
          <a:xfrm>
            <a:off x="2377440" y="2203704"/>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une lecture et une impression favorable</a:t>
            </a:r>
            <a:endParaRPr lang="en-US" sz="1100" dirty="0"/>
          </a:p>
        </p:txBody>
      </p:sp>
      <p:pic>
        <p:nvPicPr>
          <p:cNvPr id="30" name="Image 3" descr="preencoded.png"/>
          <p:cNvPicPr>
            <a:picLocks noChangeAspect="1"/>
          </p:cNvPicPr>
          <p:nvPr/>
        </p:nvPicPr>
        <p:blipFill>
          <a:blip r:embed="rId4"/>
          <a:stretch>
            <a:fillRect/>
          </a:stretch>
        </p:blipFill>
        <p:spPr>
          <a:xfrm>
            <a:off x="5532120" y="2313432"/>
            <a:ext cx="137160" cy="128016"/>
          </a:xfrm>
          <a:prstGeom prst="rect">
            <a:avLst/>
          </a:prstGeom>
        </p:spPr>
      </p:pic>
      <p:sp>
        <p:nvSpPr>
          <p:cNvPr id="31" name="Text 24"/>
          <p:cNvSpPr txBox="1"/>
          <p:nvPr/>
        </p:nvSpPr>
        <p:spPr>
          <a:xfrm>
            <a:off x="5760720" y="2203704"/>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des critères écrits et un score chiffré</a:t>
            </a:r>
            <a:endParaRPr lang="en-US" sz="1100" dirty="0"/>
          </a:p>
        </p:txBody>
      </p:sp>
      <p:sp>
        <p:nvSpPr>
          <p:cNvPr id="32" name="Shape 25"/>
          <p:cNvSpPr/>
          <p:nvPr/>
        </p:nvSpPr>
        <p:spPr>
          <a:xfrm>
            <a:off x="457200" y="2578608"/>
            <a:ext cx="8229600" cy="0"/>
          </a:xfrm>
          <a:prstGeom prst="line">
            <a:avLst/>
          </a:prstGeom>
          <a:noFill/>
          <a:ln w="6350">
            <a:solidFill>
              <a:srgbClr val="D5DED9"/>
            </a:solidFill>
            <a:prstDash val="solid"/>
          </a:ln>
        </p:spPr>
      </p:sp>
      <p:sp>
        <p:nvSpPr>
          <p:cNvPr id="33" name="Text 26"/>
          <p:cNvSpPr txBox="1"/>
          <p:nvPr/>
        </p:nvSpPr>
        <p:spPr>
          <a:xfrm>
            <a:off x="457200" y="2606040"/>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Taux d’erreur</a:t>
            </a:r>
            <a:endParaRPr lang="en-US" sz="1200" dirty="0"/>
          </a:p>
        </p:txBody>
      </p:sp>
      <p:pic>
        <p:nvPicPr>
          <p:cNvPr id="34" name="Image 4" descr="preencoded.png"/>
          <p:cNvPicPr>
            <a:picLocks noChangeAspect="1"/>
          </p:cNvPicPr>
          <p:nvPr/>
        </p:nvPicPr>
        <p:blipFill>
          <a:blip r:embed="rId3"/>
          <a:stretch>
            <a:fillRect/>
          </a:stretch>
        </p:blipFill>
        <p:spPr>
          <a:xfrm>
            <a:off x="2148840" y="2715768"/>
            <a:ext cx="128016" cy="128016"/>
          </a:xfrm>
          <a:prstGeom prst="rect">
            <a:avLst/>
          </a:prstGeom>
        </p:spPr>
      </p:pic>
      <p:sp>
        <p:nvSpPr>
          <p:cNvPr id="35" name="Text 27"/>
          <p:cNvSpPr txBox="1"/>
          <p:nvPr/>
        </p:nvSpPr>
        <p:spPr>
          <a:xfrm>
            <a:off x="2377440" y="2606040"/>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inconnu</a:t>
            </a:r>
            <a:endParaRPr lang="en-US" sz="1100" dirty="0"/>
          </a:p>
        </p:txBody>
      </p:sp>
      <p:pic>
        <p:nvPicPr>
          <p:cNvPr id="36" name="Image 5" descr="preencoded.png"/>
          <p:cNvPicPr>
            <a:picLocks noChangeAspect="1"/>
          </p:cNvPicPr>
          <p:nvPr/>
        </p:nvPicPr>
        <p:blipFill>
          <a:blip r:embed="rId4"/>
          <a:stretch>
            <a:fillRect/>
          </a:stretch>
        </p:blipFill>
        <p:spPr>
          <a:xfrm>
            <a:off x="5532120" y="2715768"/>
            <a:ext cx="137160" cy="128016"/>
          </a:xfrm>
          <a:prstGeom prst="rect">
            <a:avLst/>
          </a:prstGeom>
        </p:spPr>
      </p:pic>
      <p:sp>
        <p:nvSpPr>
          <p:cNvPr id="37" name="Text 28"/>
          <p:cNvSpPr txBox="1"/>
          <p:nvPr/>
        </p:nvSpPr>
        <p:spPr>
          <a:xfrm>
            <a:off x="5760720" y="2606040"/>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mesuré, avec des types d’échec identifiés</a:t>
            </a:r>
            <a:endParaRPr lang="en-US" sz="1100" dirty="0"/>
          </a:p>
        </p:txBody>
      </p:sp>
      <p:sp>
        <p:nvSpPr>
          <p:cNvPr id="38" name="Shape 29"/>
          <p:cNvSpPr/>
          <p:nvPr/>
        </p:nvSpPr>
        <p:spPr>
          <a:xfrm>
            <a:off x="457200" y="2980944"/>
            <a:ext cx="8229600" cy="0"/>
          </a:xfrm>
          <a:prstGeom prst="line">
            <a:avLst/>
          </a:prstGeom>
          <a:noFill/>
          <a:ln w="6350">
            <a:solidFill>
              <a:srgbClr val="D5DED9"/>
            </a:solidFill>
            <a:prstDash val="solid"/>
          </a:ln>
        </p:spPr>
      </p:sp>
      <p:sp>
        <p:nvSpPr>
          <p:cNvPr id="39" name="Text 30"/>
          <p:cNvSpPr txBox="1"/>
          <p:nvPr/>
        </p:nvSpPr>
        <p:spPr>
          <a:xfrm>
            <a:off x="457200" y="3008376"/>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Reproductibilité</a:t>
            </a:r>
            <a:endParaRPr lang="en-US" sz="1200" dirty="0"/>
          </a:p>
        </p:txBody>
      </p:sp>
      <p:pic>
        <p:nvPicPr>
          <p:cNvPr id="40" name="Image 6" descr="preencoded.png"/>
          <p:cNvPicPr>
            <a:picLocks noChangeAspect="1"/>
          </p:cNvPicPr>
          <p:nvPr/>
        </p:nvPicPr>
        <p:blipFill>
          <a:blip r:embed="rId3"/>
          <a:stretch>
            <a:fillRect/>
          </a:stretch>
        </p:blipFill>
        <p:spPr>
          <a:xfrm>
            <a:off x="2148840" y="3118104"/>
            <a:ext cx="128016" cy="128016"/>
          </a:xfrm>
          <a:prstGeom prst="rect">
            <a:avLst/>
          </a:prstGeom>
        </p:spPr>
      </p:pic>
      <p:sp>
        <p:nvSpPr>
          <p:cNvPr id="41" name="Text 31"/>
          <p:cNvSpPr txBox="1"/>
          <p:nvPr/>
        </p:nvSpPr>
        <p:spPr>
          <a:xfrm>
            <a:off x="2377440" y="3008376"/>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des réponses qui dérivent sans prévenir</a:t>
            </a:r>
            <a:endParaRPr lang="en-US" sz="1100" dirty="0"/>
          </a:p>
        </p:txBody>
      </p:sp>
      <p:pic>
        <p:nvPicPr>
          <p:cNvPr id="42" name="Image 7" descr="preencoded.png"/>
          <p:cNvPicPr>
            <a:picLocks noChangeAspect="1"/>
          </p:cNvPicPr>
          <p:nvPr/>
        </p:nvPicPr>
        <p:blipFill>
          <a:blip r:embed="rId4"/>
          <a:stretch>
            <a:fillRect/>
          </a:stretch>
        </p:blipFill>
        <p:spPr>
          <a:xfrm>
            <a:off x="5532120" y="3118104"/>
            <a:ext cx="137160" cy="128016"/>
          </a:xfrm>
          <a:prstGeom prst="rect">
            <a:avLst/>
          </a:prstGeom>
        </p:spPr>
      </p:pic>
      <p:sp>
        <p:nvSpPr>
          <p:cNvPr id="43" name="Text 32"/>
          <p:cNvSpPr txBox="1"/>
          <p:nvPr/>
        </p:nvSpPr>
        <p:spPr>
          <a:xfrm>
            <a:off x="5760720" y="3008376"/>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stable : modèle figé, prompt versionné</a:t>
            </a:r>
            <a:endParaRPr lang="en-US" sz="1100" dirty="0"/>
          </a:p>
        </p:txBody>
      </p:sp>
      <p:sp>
        <p:nvSpPr>
          <p:cNvPr id="44" name="Shape 33"/>
          <p:cNvSpPr/>
          <p:nvPr/>
        </p:nvSpPr>
        <p:spPr>
          <a:xfrm>
            <a:off x="457200" y="3383280"/>
            <a:ext cx="8229600" cy="0"/>
          </a:xfrm>
          <a:prstGeom prst="line">
            <a:avLst/>
          </a:prstGeom>
          <a:noFill/>
          <a:ln w="6350">
            <a:solidFill>
              <a:srgbClr val="D5DED9"/>
            </a:solidFill>
            <a:prstDash val="solid"/>
          </a:ln>
        </p:spPr>
      </p:sp>
      <p:sp>
        <p:nvSpPr>
          <p:cNvPr id="45" name="Text 34"/>
          <p:cNvSpPr txBox="1"/>
          <p:nvPr/>
        </p:nvSpPr>
        <p:spPr>
          <a:xfrm>
            <a:off x="457200" y="3410712"/>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Coût</a:t>
            </a:r>
            <a:endParaRPr lang="en-US" sz="1200" dirty="0"/>
          </a:p>
        </p:txBody>
      </p:sp>
      <p:pic>
        <p:nvPicPr>
          <p:cNvPr id="46" name="Image 8" descr="preencoded.png"/>
          <p:cNvPicPr>
            <a:picLocks noChangeAspect="1"/>
          </p:cNvPicPr>
          <p:nvPr/>
        </p:nvPicPr>
        <p:blipFill>
          <a:blip r:embed="rId3"/>
          <a:stretch>
            <a:fillRect/>
          </a:stretch>
        </p:blipFill>
        <p:spPr>
          <a:xfrm>
            <a:off x="2148840" y="3520440"/>
            <a:ext cx="128016" cy="128016"/>
          </a:xfrm>
          <a:prstGeom prst="rect">
            <a:avLst/>
          </a:prstGeom>
        </p:spPr>
      </p:pic>
      <p:sp>
        <p:nvSpPr>
          <p:cNvPr id="47" name="Text 35"/>
          <p:cNvSpPr txBox="1"/>
          <p:nvPr/>
        </p:nvSpPr>
        <p:spPr>
          <a:xfrm>
            <a:off x="2377440" y="3410712"/>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découvert sur la facture</a:t>
            </a:r>
            <a:endParaRPr lang="en-US" sz="1100" dirty="0"/>
          </a:p>
        </p:txBody>
      </p:sp>
      <p:pic>
        <p:nvPicPr>
          <p:cNvPr id="48" name="Image 9" descr="preencoded.png"/>
          <p:cNvPicPr>
            <a:picLocks noChangeAspect="1"/>
          </p:cNvPicPr>
          <p:nvPr/>
        </p:nvPicPr>
        <p:blipFill>
          <a:blip r:embed="rId4"/>
          <a:stretch>
            <a:fillRect/>
          </a:stretch>
        </p:blipFill>
        <p:spPr>
          <a:xfrm>
            <a:off x="5532120" y="3520440"/>
            <a:ext cx="137160" cy="128016"/>
          </a:xfrm>
          <a:prstGeom prst="rect">
            <a:avLst/>
          </a:prstGeom>
        </p:spPr>
      </p:pic>
      <p:sp>
        <p:nvSpPr>
          <p:cNvPr id="49" name="Text 36"/>
          <p:cNvSpPr txBox="1"/>
          <p:nvPr/>
        </p:nvSpPr>
        <p:spPr>
          <a:xfrm>
            <a:off x="5760720" y="3410712"/>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estimé à l’avance pour 1 000 documents</a:t>
            </a:r>
            <a:endParaRPr lang="en-US" sz="1100" dirty="0"/>
          </a:p>
        </p:txBody>
      </p:sp>
      <p:sp>
        <p:nvSpPr>
          <p:cNvPr id="50" name="Shape 37"/>
          <p:cNvSpPr/>
          <p:nvPr/>
        </p:nvSpPr>
        <p:spPr>
          <a:xfrm>
            <a:off x="457200" y="3886200"/>
            <a:ext cx="8229600" cy="621792"/>
          </a:xfrm>
          <a:prstGeom prst="roundRect">
            <a:avLst>
              <a:gd name="adj" fmla="val 8824"/>
            </a:avLst>
          </a:prstGeom>
          <a:solidFill>
            <a:srgbClr val="D49A00">
              <a:alpha val="13000"/>
            </a:srgbClr>
          </a:solidFill>
          <a:ln w="12700">
            <a:solidFill>
              <a:srgbClr val="D49A00"/>
            </a:solidFill>
            <a:prstDash val="solid"/>
          </a:ln>
        </p:spPr>
      </p:sp>
      <p:pic>
        <p:nvPicPr>
          <p:cNvPr id="51" name="Image 10" descr="preencoded.png"/>
          <p:cNvPicPr>
            <a:picLocks noChangeAspect="1"/>
          </p:cNvPicPr>
          <p:nvPr/>
        </p:nvPicPr>
        <p:blipFill>
          <a:blip r:embed="rId5"/>
          <a:stretch>
            <a:fillRect/>
          </a:stretch>
        </p:blipFill>
        <p:spPr>
          <a:xfrm>
            <a:off x="621792" y="4041648"/>
            <a:ext cx="310896" cy="310896"/>
          </a:xfrm>
          <a:prstGeom prst="rect">
            <a:avLst/>
          </a:prstGeom>
        </p:spPr>
      </p:pic>
      <p:sp>
        <p:nvSpPr>
          <p:cNvPr id="52" name="Text 38"/>
          <p:cNvSpPr txBox="1"/>
          <p:nvPr/>
        </p:nvSpPr>
        <p:spPr>
          <a:xfrm>
            <a:off x="1051560" y="3931920"/>
            <a:ext cx="7498080" cy="54864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La statistique officielle place la barre plus haut. </a:t>
            </a:r>
            <a:r>
              <a:rPr lang="en-US" sz="1050" dirty="0">
                <a:solidFill>
                  <a:srgbClr val="231F20"/>
                </a:solidFill>
                <a:latin typeface="Calibri" pitchFamily="34" charset="0"/>
                <a:ea typeface="Calibri" pitchFamily="34" charset="-122"/>
                <a:cs typeface="Calibri" pitchFamily="34" charset="-120"/>
              </a:rPr>
              <a:t>Les Principes fondamentaux de l’ONU exigent des méthodes choisies selon des critères professionnels et scientifiques (principe 2) et la protection des données individuelles (principe 6). Une étape LLM en production doit y satisfaire aussi.</a:t>
            </a:r>
            <a:endParaRPr lang="en-US" sz="1050" dirty="0"/>
          </a:p>
        </p:txBody>
      </p:sp>
      <p:sp>
        <p:nvSpPr>
          <p:cNvPr id="53" name="Text 39"/>
          <p:cNvSpPr txBox="1"/>
          <p:nvPr/>
        </p:nvSpPr>
        <p:spPr>
          <a:xfrm>
            <a:off x="457200" y="4599432"/>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 Assemblée générale des Nations Unies, rés. 68/261, Principes fondamentaux de la statistique officielle (2014). </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RAPPEL DE CE MATIN</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Les six briques, sur une vraie tâche d’INS</a:t>
            </a:r>
            <a:endParaRPr lang="en-US" sz="2800" dirty="0"/>
          </a:p>
        </p:txBody>
      </p:sp>
      <p:sp>
        <p:nvSpPr>
          <p:cNvPr id="8" name="Shape 6"/>
          <p:cNvSpPr/>
          <p:nvPr/>
        </p:nvSpPr>
        <p:spPr>
          <a:xfrm>
            <a:off x="7635240" y="365760"/>
            <a:ext cx="100584" cy="100584"/>
          </a:xfrm>
          <a:prstGeom prst="ellipse">
            <a:avLst/>
          </a:prstGeom>
          <a:solidFill>
            <a:srgbClr val="00A86A"/>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07</a:t>
            </a:r>
            <a:endParaRPr lang="en-US" sz="850" dirty="0"/>
          </a:p>
        </p:txBody>
      </p:sp>
      <p:sp>
        <p:nvSpPr>
          <p:cNvPr id="17" name="Shape 14"/>
          <p:cNvSpPr/>
          <p:nvPr/>
        </p:nvSpPr>
        <p:spPr>
          <a:xfrm>
            <a:off x="457200" y="1298448"/>
            <a:ext cx="5623560" cy="3246120"/>
          </a:xfrm>
          <a:prstGeom prst="roundRect">
            <a:avLst>
              <a:gd name="adj" fmla="val 2254"/>
            </a:avLst>
          </a:prstGeom>
          <a:solidFill>
            <a:srgbClr val="FFFFFF"/>
          </a:solidFill>
          <a:ln w="9525">
            <a:solidFill>
              <a:srgbClr val="D5DED9"/>
            </a:solidFill>
            <a:prstDash val="solid"/>
          </a:ln>
        </p:spPr>
      </p:sp>
      <p:sp>
        <p:nvSpPr>
          <p:cNvPr id="18" name="Text 15"/>
          <p:cNvSpPr txBox="1"/>
          <p:nvPr/>
        </p:nvSpPr>
        <p:spPr>
          <a:xfrm>
            <a:off x="640080" y="1417320"/>
            <a:ext cx="4572000" cy="201168"/>
          </a:xfrm>
          <a:prstGeom prst="rect">
            <a:avLst/>
          </a:prstGeom>
          <a:noFill/>
          <a:ln/>
        </p:spPr>
        <p:txBody>
          <a:bodyPr wrap="square" lIns="0" tIns="0" rIns="0" bIns="0" rtlCol="0" anchor="t"/>
          <a:lstStyle/>
          <a:p>
            <a:pPr marL="0" indent="0">
              <a:buNone/>
            </a:pPr>
            <a:r>
              <a:rPr lang="en-US" sz="1000" b="1" kern="0" spc="200" dirty="0">
                <a:solidFill>
                  <a:srgbClr val="5E6964"/>
                </a:solidFill>
                <a:latin typeface="Calibri" pitchFamily="34" charset="0"/>
                <a:ea typeface="Calibri" pitchFamily="34" charset="-122"/>
                <a:cs typeface="Calibri" pitchFamily="34" charset="-120"/>
              </a:rPr>
              <a:t>PROMPT v0 · CODIFICATION DES PROFESSIONS</a:t>
            </a:r>
            <a:endParaRPr lang="en-US" sz="1000" dirty="0"/>
          </a:p>
        </p:txBody>
      </p:sp>
      <p:sp>
        <p:nvSpPr>
          <p:cNvPr id="19" name="Shape 16"/>
          <p:cNvSpPr/>
          <p:nvPr/>
        </p:nvSpPr>
        <p:spPr>
          <a:xfrm>
            <a:off x="640080" y="1801368"/>
            <a:ext cx="1051560" cy="237744"/>
          </a:xfrm>
          <a:prstGeom prst="roundRect">
            <a:avLst>
              <a:gd name="adj" fmla="val 50000"/>
            </a:avLst>
          </a:prstGeom>
          <a:solidFill>
            <a:srgbClr val="00A86A">
              <a:alpha val="15000"/>
            </a:srgbClr>
          </a:solidFill>
          <a:ln w="9525">
            <a:solidFill>
              <a:srgbClr val="00A86A"/>
            </a:solidFill>
            <a:prstDash val="solid"/>
          </a:ln>
        </p:spPr>
      </p:sp>
      <p:sp>
        <p:nvSpPr>
          <p:cNvPr id="20" name="Text 17"/>
          <p:cNvSpPr txBox="1"/>
          <p:nvPr/>
        </p:nvSpPr>
        <p:spPr>
          <a:xfrm>
            <a:off x="640080" y="1801368"/>
            <a:ext cx="1051560" cy="237744"/>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RÔLE</a:t>
            </a:r>
            <a:endParaRPr lang="en-US" sz="900" dirty="0"/>
          </a:p>
        </p:txBody>
      </p:sp>
      <p:sp>
        <p:nvSpPr>
          <p:cNvPr id="21" name="Text 18"/>
          <p:cNvSpPr txBox="1"/>
          <p:nvPr/>
        </p:nvSpPr>
        <p:spPr>
          <a:xfrm>
            <a:off x="1828800" y="17190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Vous êtes codificateur à l’Institut national de la statistique.</a:t>
            </a:r>
            <a:endParaRPr lang="en-US" sz="1050" dirty="0"/>
          </a:p>
        </p:txBody>
      </p:sp>
      <p:sp>
        <p:nvSpPr>
          <p:cNvPr id="22" name="Shape 19"/>
          <p:cNvSpPr/>
          <p:nvPr/>
        </p:nvSpPr>
        <p:spPr>
          <a:xfrm>
            <a:off x="640080" y="2258568"/>
            <a:ext cx="1051560" cy="237744"/>
          </a:xfrm>
          <a:prstGeom prst="roundRect">
            <a:avLst>
              <a:gd name="adj" fmla="val 50000"/>
            </a:avLst>
          </a:prstGeom>
          <a:solidFill>
            <a:srgbClr val="00704A">
              <a:alpha val="15000"/>
            </a:srgbClr>
          </a:solidFill>
          <a:ln w="9525">
            <a:solidFill>
              <a:srgbClr val="00704A"/>
            </a:solidFill>
            <a:prstDash val="solid"/>
          </a:ln>
        </p:spPr>
      </p:sp>
      <p:sp>
        <p:nvSpPr>
          <p:cNvPr id="23" name="Text 20"/>
          <p:cNvSpPr txBox="1"/>
          <p:nvPr/>
        </p:nvSpPr>
        <p:spPr>
          <a:xfrm>
            <a:off x="640080" y="2258568"/>
            <a:ext cx="1051560" cy="237744"/>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OBJECTIF</a:t>
            </a:r>
            <a:endParaRPr lang="en-US" sz="900" dirty="0"/>
          </a:p>
        </p:txBody>
      </p:sp>
      <p:sp>
        <p:nvSpPr>
          <p:cNvPr id="24" name="Text 21"/>
          <p:cNvSpPr txBox="1"/>
          <p:nvPr/>
        </p:nvSpPr>
        <p:spPr>
          <a:xfrm>
            <a:off x="1828800" y="21762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Attribuez à chaque description d’emploi un code CITP-08 à quatre chiffres.</a:t>
            </a:r>
            <a:endParaRPr lang="en-US" sz="1050" dirty="0"/>
          </a:p>
        </p:txBody>
      </p:sp>
      <p:sp>
        <p:nvSpPr>
          <p:cNvPr id="25" name="Shape 22"/>
          <p:cNvSpPr/>
          <p:nvPr/>
        </p:nvSpPr>
        <p:spPr>
          <a:xfrm>
            <a:off x="640080" y="2715768"/>
            <a:ext cx="1051560" cy="237744"/>
          </a:xfrm>
          <a:prstGeom prst="roundRect">
            <a:avLst>
              <a:gd name="adj" fmla="val 50000"/>
            </a:avLst>
          </a:prstGeom>
          <a:solidFill>
            <a:srgbClr val="0E7C86">
              <a:alpha val="15000"/>
            </a:srgbClr>
          </a:solidFill>
          <a:ln w="9525">
            <a:solidFill>
              <a:srgbClr val="0E7C86"/>
            </a:solidFill>
            <a:prstDash val="solid"/>
          </a:ln>
        </p:spPr>
      </p:sp>
      <p:sp>
        <p:nvSpPr>
          <p:cNvPr id="26" name="Text 23"/>
          <p:cNvSpPr txBox="1"/>
          <p:nvPr/>
        </p:nvSpPr>
        <p:spPr>
          <a:xfrm>
            <a:off x="640080" y="2715768"/>
            <a:ext cx="1051560" cy="237744"/>
          </a:xfrm>
          <a:prstGeom prst="rect">
            <a:avLst/>
          </a:prstGeom>
          <a:noFill/>
          <a:ln/>
        </p:spPr>
        <p:txBody>
          <a:bodyPr wrap="square" lIns="0" tIns="0" rIns="0" bIns="0" rtlCol="0" anchor="ctr"/>
          <a:lstStyle/>
          <a:p>
            <a:pPr marL="0" indent="0" algn="ctr">
              <a:buNone/>
            </a:pPr>
            <a:r>
              <a:rPr lang="en-US" sz="900" b="1" kern="0" spc="100" dirty="0">
                <a:solidFill>
                  <a:srgbClr val="0E7C86"/>
                </a:solidFill>
                <a:latin typeface="Calibri" pitchFamily="34" charset="0"/>
                <a:ea typeface="Calibri" pitchFamily="34" charset="-122"/>
                <a:cs typeface="Calibri" pitchFamily="34" charset="-120"/>
              </a:rPr>
              <a:t>CONTEXTE</a:t>
            </a:r>
            <a:endParaRPr lang="en-US" sz="900" dirty="0"/>
          </a:p>
        </p:txBody>
      </p:sp>
      <p:sp>
        <p:nvSpPr>
          <p:cNvPr id="27" name="Text 24"/>
          <p:cNvSpPr txBox="1"/>
          <p:nvPr/>
        </p:nvSpPr>
        <p:spPr>
          <a:xfrm>
            <a:off x="1828800" y="26334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Texte libre de l’enquête sur la population active, en français ou en anglais, saisi par les enquêteurs.</a:t>
            </a:r>
            <a:endParaRPr lang="en-US" sz="1050" dirty="0"/>
          </a:p>
        </p:txBody>
      </p:sp>
      <p:sp>
        <p:nvSpPr>
          <p:cNvPr id="28" name="Shape 25"/>
          <p:cNvSpPr/>
          <p:nvPr/>
        </p:nvSpPr>
        <p:spPr>
          <a:xfrm>
            <a:off x="640080" y="3172968"/>
            <a:ext cx="1051560" cy="237744"/>
          </a:xfrm>
          <a:prstGeom prst="roundRect">
            <a:avLst>
              <a:gd name="adj" fmla="val 50000"/>
            </a:avLst>
          </a:prstGeom>
          <a:solidFill>
            <a:srgbClr val="D49A00">
              <a:alpha val="15000"/>
            </a:srgbClr>
          </a:solidFill>
          <a:ln w="9525">
            <a:solidFill>
              <a:srgbClr val="D49A00"/>
            </a:solidFill>
            <a:prstDash val="solid"/>
          </a:ln>
        </p:spPr>
      </p:sp>
      <p:sp>
        <p:nvSpPr>
          <p:cNvPr id="29" name="Text 26"/>
          <p:cNvSpPr txBox="1"/>
          <p:nvPr/>
        </p:nvSpPr>
        <p:spPr>
          <a:xfrm>
            <a:off x="640080" y="3172968"/>
            <a:ext cx="1051560" cy="237744"/>
          </a:xfrm>
          <a:prstGeom prst="rect">
            <a:avLst/>
          </a:prstGeom>
          <a:noFill/>
          <a:ln/>
        </p:spPr>
        <p:txBody>
          <a:bodyPr wrap="square" lIns="0" tIns="0" rIns="0" bIns="0" rtlCol="0" anchor="ctr"/>
          <a:lstStyle/>
          <a:p>
            <a:pPr marL="0" indent="0" algn="ctr">
              <a:buNone/>
            </a:pPr>
            <a:r>
              <a:rPr lang="en-US" sz="900" b="1" kern="0" spc="100" dirty="0">
                <a:solidFill>
                  <a:srgbClr val="D49A00"/>
                </a:solidFill>
                <a:latin typeface="Calibri" pitchFamily="34" charset="0"/>
                <a:ea typeface="Calibri" pitchFamily="34" charset="-122"/>
                <a:cs typeface="Calibri" pitchFamily="34" charset="-120"/>
              </a:rPr>
              <a:t>RÈGLES</a:t>
            </a:r>
            <a:endParaRPr lang="en-US" sz="900" dirty="0"/>
          </a:p>
        </p:txBody>
      </p:sp>
      <p:sp>
        <p:nvSpPr>
          <p:cNvPr id="30" name="Text 27"/>
          <p:cNvSpPr txBox="1"/>
          <p:nvPr/>
        </p:nvSpPr>
        <p:spPr>
          <a:xfrm>
            <a:off x="1828800" y="30906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Codes de la liste CITP-08 jointe uniquement. Codez l’emploi principal. En cas de doute : NON_CODABLE, jamais de supposition.</a:t>
            </a:r>
            <a:endParaRPr lang="en-US" sz="1050" dirty="0"/>
          </a:p>
        </p:txBody>
      </p:sp>
      <p:sp>
        <p:nvSpPr>
          <p:cNvPr id="31" name="Shape 28"/>
          <p:cNvSpPr/>
          <p:nvPr/>
        </p:nvSpPr>
        <p:spPr>
          <a:xfrm>
            <a:off x="640080" y="3630168"/>
            <a:ext cx="1051560" cy="237744"/>
          </a:xfrm>
          <a:prstGeom prst="roundRect">
            <a:avLst>
              <a:gd name="adj" fmla="val 50000"/>
            </a:avLst>
          </a:prstGeom>
          <a:solidFill>
            <a:srgbClr val="C4621D">
              <a:alpha val="15000"/>
            </a:srgbClr>
          </a:solidFill>
          <a:ln w="9525">
            <a:solidFill>
              <a:srgbClr val="C4621D"/>
            </a:solidFill>
            <a:prstDash val="solid"/>
          </a:ln>
        </p:spPr>
      </p:sp>
      <p:sp>
        <p:nvSpPr>
          <p:cNvPr id="32" name="Text 29"/>
          <p:cNvSpPr txBox="1"/>
          <p:nvPr/>
        </p:nvSpPr>
        <p:spPr>
          <a:xfrm>
            <a:off x="640080" y="3630168"/>
            <a:ext cx="1051560" cy="237744"/>
          </a:xfrm>
          <a:prstGeom prst="rect">
            <a:avLst/>
          </a:prstGeom>
          <a:noFill/>
          <a:ln/>
        </p:spPr>
        <p:txBody>
          <a:bodyPr wrap="square" lIns="0" tIns="0" rIns="0" bIns="0" rtlCol="0" anchor="ctr"/>
          <a:lstStyle/>
          <a:p>
            <a:pPr marL="0" indent="0" algn="ctr">
              <a:buNone/>
            </a:pPr>
            <a:r>
              <a:rPr lang="en-US" sz="900" b="1" kern="0" spc="100" dirty="0">
                <a:solidFill>
                  <a:srgbClr val="C4621D"/>
                </a:solidFill>
                <a:latin typeface="Calibri" pitchFamily="34" charset="0"/>
                <a:ea typeface="Calibri" pitchFamily="34" charset="-122"/>
                <a:cs typeface="Calibri" pitchFamily="34" charset="-120"/>
              </a:rPr>
              <a:t>FORMAT</a:t>
            </a:r>
            <a:endParaRPr lang="en-US" sz="900" dirty="0"/>
          </a:p>
        </p:txBody>
      </p:sp>
      <p:sp>
        <p:nvSpPr>
          <p:cNvPr id="33" name="Text 30"/>
          <p:cNvSpPr txBox="1"/>
          <p:nvPr/>
        </p:nvSpPr>
        <p:spPr>
          <a:xfrm>
            <a:off x="1828800" y="35478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ourier New" pitchFamily="34" charset="0"/>
                <a:ea typeface="Courier New" pitchFamily="34" charset="-122"/>
                <a:cs typeface="Courier New" pitchFamily="34" charset="-120"/>
              </a:rPr>
              <a:t>JSON uniquement : {"id", "code_citp", "confiance": "haute|moyenne|faible"}</a:t>
            </a:r>
            <a:endParaRPr lang="en-US" sz="1050" dirty="0"/>
          </a:p>
        </p:txBody>
      </p:sp>
      <p:sp>
        <p:nvSpPr>
          <p:cNvPr id="34" name="Shape 31"/>
          <p:cNvSpPr/>
          <p:nvPr/>
        </p:nvSpPr>
        <p:spPr>
          <a:xfrm>
            <a:off x="640080" y="4087368"/>
            <a:ext cx="1051560" cy="237744"/>
          </a:xfrm>
          <a:prstGeom prst="roundRect">
            <a:avLst>
              <a:gd name="adj" fmla="val 50000"/>
            </a:avLst>
          </a:prstGeom>
          <a:solidFill>
            <a:srgbClr val="B83B2E">
              <a:alpha val="15000"/>
            </a:srgbClr>
          </a:solidFill>
          <a:ln w="9525">
            <a:solidFill>
              <a:srgbClr val="B83B2E"/>
            </a:solidFill>
            <a:prstDash val="solid"/>
          </a:ln>
        </p:spPr>
      </p:sp>
      <p:sp>
        <p:nvSpPr>
          <p:cNvPr id="35" name="Text 32"/>
          <p:cNvSpPr txBox="1"/>
          <p:nvPr/>
        </p:nvSpPr>
        <p:spPr>
          <a:xfrm>
            <a:off x="640080" y="4087368"/>
            <a:ext cx="1051560" cy="237744"/>
          </a:xfrm>
          <a:prstGeom prst="rect">
            <a:avLst/>
          </a:prstGeom>
          <a:noFill/>
          <a:ln/>
        </p:spPr>
        <p:txBody>
          <a:bodyPr wrap="square" lIns="0" tIns="0" rIns="0" bIns="0" rtlCol="0" anchor="ctr"/>
          <a:lstStyle/>
          <a:p>
            <a:pPr marL="0" indent="0" algn="ctr">
              <a:buNone/>
            </a:pPr>
            <a:r>
              <a:rPr lang="en-US" sz="900" b="1" kern="0" spc="100" dirty="0">
                <a:solidFill>
                  <a:srgbClr val="B83B2E"/>
                </a:solidFill>
                <a:latin typeface="Calibri" pitchFamily="34" charset="0"/>
                <a:ea typeface="Calibri" pitchFamily="34" charset="-122"/>
                <a:cs typeface="Calibri" pitchFamily="34" charset="-120"/>
              </a:rPr>
              <a:t>EXEMPLES</a:t>
            </a:r>
            <a:endParaRPr lang="en-US" sz="900" dirty="0"/>
          </a:p>
        </p:txBody>
      </p:sp>
      <p:sp>
        <p:nvSpPr>
          <p:cNvPr id="36" name="Text 33"/>
          <p:cNvSpPr txBox="1"/>
          <p:nvPr/>
        </p:nvSpPr>
        <p:spPr>
          <a:xfrm>
            <a:off x="1828800" y="40050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 Vendeuse de tomates au marché » → 5211  ·  « Moto-taxi driver » → 8321</a:t>
            </a:r>
            <a:endParaRPr lang="en-US" sz="1050" dirty="0"/>
          </a:p>
        </p:txBody>
      </p:sp>
      <p:sp>
        <p:nvSpPr>
          <p:cNvPr id="37" name="Shape 34"/>
          <p:cNvSpPr/>
          <p:nvPr/>
        </p:nvSpPr>
        <p:spPr>
          <a:xfrm>
            <a:off x="6263640" y="1298448"/>
            <a:ext cx="2423160" cy="3246120"/>
          </a:xfrm>
          <a:prstGeom prst="roundRect">
            <a:avLst>
              <a:gd name="adj" fmla="val 3019"/>
            </a:avLst>
          </a:prstGeom>
          <a:solidFill>
            <a:srgbClr val="E8F5EF"/>
          </a:solidFill>
          <a:ln w="15875">
            <a:solidFill>
              <a:srgbClr val="00A86A"/>
            </a:solidFill>
            <a:prstDash val="solid"/>
          </a:ln>
        </p:spPr>
      </p:sp>
      <p:sp>
        <p:nvSpPr>
          <p:cNvPr id="38" name="Shape 35"/>
          <p:cNvSpPr/>
          <p:nvPr/>
        </p:nvSpPr>
        <p:spPr>
          <a:xfrm>
            <a:off x="6400800" y="1463040"/>
            <a:ext cx="457200" cy="457200"/>
          </a:xfrm>
          <a:prstGeom prst="ellipse">
            <a:avLst/>
          </a:prstGeom>
          <a:solidFill>
            <a:srgbClr val="00704A">
              <a:alpha val="22000"/>
            </a:srgbClr>
          </a:solidFill>
          <a:ln/>
        </p:spPr>
      </p:sp>
      <p:pic>
        <p:nvPicPr>
          <p:cNvPr id="39" name="Image 0" descr="preencoded.png"/>
          <p:cNvPicPr>
            <a:picLocks noChangeAspect="1"/>
          </p:cNvPicPr>
          <p:nvPr/>
        </p:nvPicPr>
        <p:blipFill>
          <a:blip r:embed="rId3"/>
          <a:stretch>
            <a:fillRect/>
          </a:stretch>
        </p:blipFill>
        <p:spPr>
          <a:xfrm>
            <a:off x="6510528" y="1572768"/>
            <a:ext cx="237744" cy="237744"/>
          </a:xfrm>
          <a:prstGeom prst="rect">
            <a:avLst/>
          </a:prstGeom>
        </p:spPr>
      </p:pic>
      <p:sp>
        <p:nvSpPr>
          <p:cNvPr id="40" name="Text 36"/>
          <p:cNvSpPr txBox="1"/>
          <p:nvPr/>
        </p:nvSpPr>
        <p:spPr>
          <a:xfrm>
            <a:off x="6400800" y="2057400"/>
            <a:ext cx="2148840" cy="228600"/>
          </a:xfrm>
          <a:prstGeom prst="rect">
            <a:avLst/>
          </a:prstGeom>
          <a:noFill/>
          <a:ln/>
        </p:spPr>
        <p:txBody>
          <a:bodyPr wrap="square" lIns="0" tIns="0" rIns="0" bIns="0" rtlCol="0" anchor="t"/>
          <a:lstStyle/>
          <a:p>
            <a:pPr marL="0" indent="0">
              <a:buNone/>
            </a:pPr>
            <a:r>
              <a:rPr lang="en-US" sz="1200" b="1" dirty="0">
                <a:solidFill>
                  <a:srgbClr val="5E6964"/>
                </a:solidFill>
                <a:latin typeface="Calibri" pitchFamily="34" charset="0"/>
                <a:ea typeface="Calibri" pitchFamily="34" charset="-122"/>
                <a:cs typeface="Calibri" pitchFamily="34" charset="-120"/>
              </a:rPr>
              <a:t>Ce matin :</a:t>
            </a:r>
            <a:endParaRPr lang="en-US" sz="1200" dirty="0"/>
          </a:p>
        </p:txBody>
      </p:sp>
      <p:sp>
        <p:nvSpPr>
          <p:cNvPr id="41" name="Text 37"/>
          <p:cNvSpPr txBox="1"/>
          <p:nvPr/>
        </p:nvSpPr>
        <p:spPr>
          <a:xfrm>
            <a:off x="6400800" y="2286000"/>
            <a:ext cx="214884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comment l’écrire ?</a:t>
            </a:r>
            <a:endParaRPr lang="en-US" sz="1500" dirty="0"/>
          </a:p>
        </p:txBody>
      </p:sp>
      <p:sp>
        <p:nvSpPr>
          <p:cNvPr id="42" name="Text 38"/>
          <p:cNvSpPr txBox="1"/>
          <p:nvPr/>
        </p:nvSpPr>
        <p:spPr>
          <a:xfrm>
            <a:off x="6400800" y="2788920"/>
            <a:ext cx="2148840" cy="228600"/>
          </a:xfrm>
          <a:prstGeom prst="rect">
            <a:avLst/>
          </a:prstGeom>
          <a:noFill/>
          <a:ln/>
        </p:spPr>
        <p:txBody>
          <a:bodyPr wrap="square" lIns="0" tIns="0" rIns="0" bIns="0" rtlCol="0" anchor="t"/>
          <a:lstStyle/>
          <a:p>
            <a:pPr marL="0" indent="0">
              <a:buNone/>
            </a:pPr>
            <a:r>
              <a:rPr lang="en-US" sz="1200" b="1" dirty="0">
                <a:solidFill>
                  <a:srgbClr val="00A86A"/>
                </a:solidFill>
                <a:latin typeface="Calibri" pitchFamily="34" charset="0"/>
                <a:ea typeface="Calibri" pitchFamily="34" charset="-122"/>
                <a:cs typeface="Calibri" pitchFamily="34" charset="-120"/>
              </a:rPr>
              <a:t>Cet après-midi :</a:t>
            </a:r>
            <a:endParaRPr lang="en-US" sz="1200" dirty="0"/>
          </a:p>
        </p:txBody>
      </p:sp>
      <p:sp>
        <p:nvSpPr>
          <p:cNvPr id="43" name="Text 39"/>
          <p:cNvSpPr txBox="1"/>
          <p:nvPr/>
        </p:nvSpPr>
        <p:spPr>
          <a:xfrm>
            <a:off x="6400800" y="3017520"/>
            <a:ext cx="2148840" cy="73152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comment prouver qu’il fonctionne, et l’améliorer ?</a:t>
            </a:r>
            <a:endParaRPr lang="en-US" sz="1500" dirty="0"/>
          </a:p>
        </p:txBody>
      </p:sp>
      <p:sp>
        <p:nvSpPr>
          <p:cNvPr id="44" name="Text 40"/>
          <p:cNvSpPr txBox="1"/>
          <p:nvPr/>
        </p:nvSpPr>
        <p:spPr>
          <a:xfrm>
            <a:off x="6400800" y="3977640"/>
            <a:ext cx="2148840" cy="41148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Le prompt v0 est votre point de départ en atelier.</a:t>
            </a:r>
            <a:endParaRPr lang="en-US" sz="1000" dirty="0"/>
          </a:p>
        </p:txBody>
      </p:sp>
      <p:sp>
        <p:nvSpPr>
          <p:cNvPr id="45" name="Text 41"/>
          <p:cNvSpPr txBox="1"/>
          <p:nvPr/>
        </p:nvSpPr>
        <p:spPr>
          <a:xfrm>
            <a:off x="457200" y="4599432"/>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Codes : OIT, Classification internationale type des professions (CITP-08). 5211 = vendeurs sur les marchés et éventaires ; 8321 = conducteurs de motocycles.</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 SUR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02</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Le jeu d’évaluation</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saurez-vous que la version 2 est meilleure que la version 1 ?</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5C242"/>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08</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JEU D’ÉVALUATION</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boucle d’optimisation</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00704A"/>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09</a:t>
            </a:r>
            <a:endParaRPr lang="en-US" sz="850" dirty="0"/>
          </a:p>
        </p:txBody>
      </p:sp>
      <p:sp>
        <p:nvSpPr>
          <p:cNvPr id="17" name="Shape 14"/>
          <p:cNvSpPr/>
          <p:nvPr/>
        </p:nvSpPr>
        <p:spPr>
          <a:xfrm>
            <a:off x="457200" y="1417320"/>
            <a:ext cx="1280160" cy="2057400"/>
          </a:xfrm>
          <a:prstGeom prst="roundRect">
            <a:avLst>
              <a:gd name="adj" fmla="val 5714"/>
            </a:avLst>
          </a:prstGeom>
          <a:solidFill>
            <a:srgbClr val="F4F7F5"/>
          </a:solidFill>
          <a:ln w="9525">
            <a:solidFill>
              <a:srgbClr val="D5DED9"/>
            </a:solidFill>
            <a:prstDash val="solid"/>
          </a:ln>
        </p:spPr>
      </p:sp>
      <p:sp>
        <p:nvSpPr>
          <p:cNvPr id="18" name="Shape 15"/>
          <p:cNvSpPr/>
          <p:nvPr/>
        </p:nvSpPr>
        <p:spPr>
          <a:xfrm>
            <a:off x="868680" y="1554480"/>
            <a:ext cx="457200" cy="457200"/>
          </a:xfrm>
          <a:prstGeom prst="ellipse">
            <a:avLst/>
          </a:prstGeom>
          <a:solidFill>
            <a:srgbClr val="00704A"/>
          </a:solidFill>
          <a:ln/>
        </p:spPr>
      </p:sp>
      <p:sp>
        <p:nvSpPr>
          <p:cNvPr id="19" name="Text 16"/>
          <p:cNvSpPr txBox="1"/>
          <p:nvPr/>
        </p:nvSpPr>
        <p:spPr>
          <a:xfrm>
            <a:off x="86868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530352"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Définir le succès</a:t>
            </a:r>
            <a:endParaRPr lang="en-US" sz="1250" dirty="0"/>
          </a:p>
        </p:txBody>
      </p:sp>
      <p:sp>
        <p:nvSpPr>
          <p:cNvPr id="21" name="Text 18"/>
          <p:cNvSpPr txBox="1"/>
          <p:nvPr/>
        </p:nvSpPr>
        <p:spPr>
          <a:xfrm>
            <a:off x="548640"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Écrire les critères et le score cible avant de rédiger.</a:t>
            </a:r>
            <a:endParaRPr lang="en-US" sz="1000" dirty="0"/>
          </a:p>
        </p:txBody>
      </p:sp>
      <p:pic>
        <p:nvPicPr>
          <p:cNvPr id="22" name="Image 0" descr="preencoded.png"/>
          <p:cNvPicPr>
            <a:picLocks noChangeAspect="1"/>
          </p:cNvPicPr>
          <p:nvPr/>
        </p:nvPicPr>
        <p:blipFill>
          <a:blip r:embed="rId3"/>
          <a:stretch>
            <a:fillRect/>
          </a:stretch>
        </p:blipFill>
        <p:spPr>
          <a:xfrm>
            <a:off x="1728216" y="1709928"/>
            <a:ext cx="118872" cy="137160"/>
          </a:xfrm>
          <a:prstGeom prst="rect">
            <a:avLst/>
          </a:prstGeom>
        </p:spPr>
      </p:pic>
      <p:sp>
        <p:nvSpPr>
          <p:cNvPr id="23" name="Shape 19"/>
          <p:cNvSpPr/>
          <p:nvPr/>
        </p:nvSpPr>
        <p:spPr>
          <a:xfrm>
            <a:off x="1847088" y="1417320"/>
            <a:ext cx="1280160" cy="2057400"/>
          </a:xfrm>
          <a:prstGeom prst="roundRect">
            <a:avLst>
              <a:gd name="adj" fmla="val 5714"/>
            </a:avLst>
          </a:prstGeom>
          <a:solidFill>
            <a:srgbClr val="F4F7F5"/>
          </a:solidFill>
          <a:ln w="9525">
            <a:solidFill>
              <a:srgbClr val="D5DED9"/>
            </a:solidFill>
            <a:prstDash val="solid"/>
          </a:ln>
        </p:spPr>
      </p:sp>
      <p:sp>
        <p:nvSpPr>
          <p:cNvPr id="24" name="Shape 20"/>
          <p:cNvSpPr/>
          <p:nvPr/>
        </p:nvSpPr>
        <p:spPr>
          <a:xfrm>
            <a:off x="2258568" y="1554480"/>
            <a:ext cx="457200" cy="457200"/>
          </a:xfrm>
          <a:prstGeom prst="ellipse">
            <a:avLst/>
          </a:prstGeom>
          <a:solidFill>
            <a:srgbClr val="00704A"/>
          </a:solidFill>
          <a:ln/>
        </p:spPr>
      </p:sp>
      <p:sp>
        <p:nvSpPr>
          <p:cNvPr id="25" name="Text 21"/>
          <p:cNvSpPr txBox="1"/>
          <p:nvPr/>
        </p:nvSpPr>
        <p:spPr>
          <a:xfrm>
            <a:off x="2258568"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Text 22"/>
          <p:cNvSpPr txBox="1"/>
          <p:nvPr/>
        </p:nvSpPr>
        <p:spPr>
          <a:xfrm>
            <a:off x="1920240"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Constituer le jeu</a:t>
            </a:r>
            <a:endParaRPr lang="en-US" sz="1250" dirty="0"/>
          </a:p>
        </p:txBody>
      </p:sp>
      <p:sp>
        <p:nvSpPr>
          <p:cNvPr id="27" name="Text 23"/>
          <p:cNvSpPr txBox="1"/>
          <p:nvPr/>
        </p:nvSpPr>
        <p:spPr>
          <a:xfrm>
            <a:off x="1938528"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30 à 50 cas figés, réponses de référence d’experts.</a:t>
            </a:r>
            <a:endParaRPr lang="en-US" sz="1000" dirty="0"/>
          </a:p>
        </p:txBody>
      </p:sp>
      <p:pic>
        <p:nvPicPr>
          <p:cNvPr id="28" name="Image 1" descr="preencoded.png"/>
          <p:cNvPicPr>
            <a:picLocks noChangeAspect="1"/>
          </p:cNvPicPr>
          <p:nvPr/>
        </p:nvPicPr>
        <p:blipFill>
          <a:blip r:embed="rId3"/>
          <a:stretch>
            <a:fillRect/>
          </a:stretch>
        </p:blipFill>
        <p:spPr>
          <a:xfrm>
            <a:off x="3118104" y="1709928"/>
            <a:ext cx="118872" cy="137160"/>
          </a:xfrm>
          <a:prstGeom prst="rect">
            <a:avLst/>
          </a:prstGeom>
        </p:spPr>
      </p:pic>
      <p:sp>
        <p:nvSpPr>
          <p:cNvPr id="29" name="Shape 24"/>
          <p:cNvSpPr/>
          <p:nvPr/>
        </p:nvSpPr>
        <p:spPr>
          <a:xfrm>
            <a:off x="3236976" y="1417320"/>
            <a:ext cx="1280160" cy="2057400"/>
          </a:xfrm>
          <a:prstGeom prst="roundRect">
            <a:avLst>
              <a:gd name="adj" fmla="val 5714"/>
            </a:avLst>
          </a:prstGeom>
          <a:solidFill>
            <a:srgbClr val="F4F7F5"/>
          </a:solidFill>
          <a:ln w="9525">
            <a:solidFill>
              <a:srgbClr val="D5DED9"/>
            </a:solidFill>
            <a:prstDash val="solid"/>
          </a:ln>
        </p:spPr>
      </p:sp>
      <p:sp>
        <p:nvSpPr>
          <p:cNvPr id="30" name="Shape 25"/>
          <p:cNvSpPr/>
          <p:nvPr/>
        </p:nvSpPr>
        <p:spPr>
          <a:xfrm>
            <a:off x="3648456" y="1554480"/>
            <a:ext cx="457200" cy="457200"/>
          </a:xfrm>
          <a:prstGeom prst="ellipse">
            <a:avLst/>
          </a:prstGeom>
          <a:solidFill>
            <a:srgbClr val="00704A"/>
          </a:solidFill>
          <a:ln/>
        </p:spPr>
      </p:sp>
      <p:sp>
        <p:nvSpPr>
          <p:cNvPr id="31" name="Text 26"/>
          <p:cNvSpPr txBox="1"/>
          <p:nvPr/>
        </p:nvSpPr>
        <p:spPr>
          <a:xfrm>
            <a:off x="3648456"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2" name="Text 27"/>
          <p:cNvSpPr txBox="1"/>
          <p:nvPr/>
        </p:nvSpPr>
        <p:spPr>
          <a:xfrm>
            <a:off x="3310128"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Mesurer la base</a:t>
            </a:r>
            <a:endParaRPr lang="en-US" sz="1250" dirty="0"/>
          </a:p>
        </p:txBody>
      </p:sp>
      <p:sp>
        <p:nvSpPr>
          <p:cNvPr id="33" name="Text 28"/>
          <p:cNvSpPr txBox="1"/>
          <p:nvPr/>
        </p:nvSpPr>
        <p:spPr>
          <a:xfrm>
            <a:off x="3328416"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Noter le prompt v0 sur chaque cas.</a:t>
            </a:r>
            <a:endParaRPr lang="en-US" sz="1000" dirty="0"/>
          </a:p>
        </p:txBody>
      </p:sp>
      <p:pic>
        <p:nvPicPr>
          <p:cNvPr id="34" name="Image 2" descr="preencoded.png"/>
          <p:cNvPicPr>
            <a:picLocks noChangeAspect="1"/>
          </p:cNvPicPr>
          <p:nvPr/>
        </p:nvPicPr>
        <p:blipFill>
          <a:blip r:embed="rId3"/>
          <a:stretch>
            <a:fillRect/>
          </a:stretch>
        </p:blipFill>
        <p:spPr>
          <a:xfrm>
            <a:off x="4507992" y="1709928"/>
            <a:ext cx="118872" cy="137160"/>
          </a:xfrm>
          <a:prstGeom prst="rect">
            <a:avLst/>
          </a:prstGeom>
        </p:spPr>
      </p:pic>
      <p:sp>
        <p:nvSpPr>
          <p:cNvPr id="35" name="Shape 29"/>
          <p:cNvSpPr/>
          <p:nvPr/>
        </p:nvSpPr>
        <p:spPr>
          <a:xfrm>
            <a:off x="4626864" y="1417320"/>
            <a:ext cx="1280160" cy="2057400"/>
          </a:xfrm>
          <a:prstGeom prst="roundRect">
            <a:avLst>
              <a:gd name="adj" fmla="val 5714"/>
            </a:avLst>
          </a:prstGeom>
          <a:solidFill>
            <a:srgbClr val="F4F7F5"/>
          </a:solidFill>
          <a:ln w="9525">
            <a:solidFill>
              <a:srgbClr val="D5DED9"/>
            </a:solidFill>
            <a:prstDash val="solid"/>
          </a:ln>
        </p:spPr>
      </p:sp>
      <p:sp>
        <p:nvSpPr>
          <p:cNvPr id="36" name="Shape 30"/>
          <p:cNvSpPr/>
          <p:nvPr/>
        </p:nvSpPr>
        <p:spPr>
          <a:xfrm>
            <a:off x="5038344" y="1554480"/>
            <a:ext cx="457200" cy="457200"/>
          </a:xfrm>
          <a:prstGeom prst="ellipse">
            <a:avLst/>
          </a:prstGeom>
          <a:solidFill>
            <a:srgbClr val="00704A"/>
          </a:solidFill>
          <a:ln/>
        </p:spPr>
      </p:sp>
      <p:sp>
        <p:nvSpPr>
          <p:cNvPr id="37" name="Text 31"/>
          <p:cNvSpPr txBox="1"/>
          <p:nvPr/>
        </p:nvSpPr>
        <p:spPr>
          <a:xfrm>
            <a:off x="5038344"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2"/>
          <p:cNvSpPr txBox="1"/>
          <p:nvPr/>
        </p:nvSpPr>
        <p:spPr>
          <a:xfrm>
            <a:off x="4700016"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Diagnostiquer</a:t>
            </a:r>
            <a:endParaRPr lang="en-US" sz="1250" dirty="0"/>
          </a:p>
        </p:txBody>
      </p:sp>
      <p:sp>
        <p:nvSpPr>
          <p:cNvPr id="39" name="Text 33"/>
          <p:cNvSpPr txBox="1"/>
          <p:nvPr/>
        </p:nvSpPr>
        <p:spPr>
          <a:xfrm>
            <a:off x="4718304"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Lire les échecs. Nommer la cause : ambiguïté, contexte ou format ?</a:t>
            </a:r>
            <a:endParaRPr lang="en-US" sz="1000" dirty="0"/>
          </a:p>
        </p:txBody>
      </p:sp>
      <p:pic>
        <p:nvPicPr>
          <p:cNvPr id="40" name="Image 3" descr="preencoded.png"/>
          <p:cNvPicPr>
            <a:picLocks noChangeAspect="1"/>
          </p:cNvPicPr>
          <p:nvPr/>
        </p:nvPicPr>
        <p:blipFill>
          <a:blip r:embed="rId3"/>
          <a:stretch>
            <a:fillRect/>
          </a:stretch>
        </p:blipFill>
        <p:spPr>
          <a:xfrm>
            <a:off x="5897880" y="1709928"/>
            <a:ext cx="118872" cy="137160"/>
          </a:xfrm>
          <a:prstGeom prst="rect">
            <a:avLst/>
          </a:prstGeom>
        </p:spPr>
      </p:pic>
      <p:sp>
        <p:nvSpPr>
          <p:cNvPr id="41" name="Shape 34"/>
          <p:cNvSpPr/>
          <p:nvPr/>
        </p:nvSpPr>
        <p:spPr>
          <a:xfrm>
            <a:off x="6016752" y="1417320"/>
            <a:ext cx="1280160" cy="2057400"/>
          </a:xfrm>
          <a:prstGeom prst="roundRect">
            <a:avLst>
              <a:gd name="adj" fmla="val 5714"/>
            </a:avLst>
          </a:prstGeom>
          <a:solidFill>
            <a:srgbClr val="E8F5EF"/>
          </a:solidFill>
          <a:ln w="15875">
            <a:solidFill>
              <a:srgbClr val="00704A"/>
            </a:solidFill>
            <a:prstDash val="solid"/>
          </a:ln>
        </p:spPr>
      </p:sp>
      <p:sp>
        <p:nvSpPr>
          <p:cNvPr id="42" name="Shape 35"/>
          <p:cNvSpPr/>
          <p:nvPr/>
        </p:nvSpPr>
        <p:spPr>
          <a:xfrm>
            <a:off x="6428232" y="1554480"/>
            <a:ext cx="457200" cy="457200"/>
          </a:xfrm>
          <a:prstGeom prst="ellipse">
            <a:avLst/>
          </a:prstGeom>
          <a:solidFill>
            <a:srgbClr val="F5C242"/>
          </a:solidFill>
          <a:ln/>
        </p:spPr>
      </p:sp>
      <p:sp>
        <p:nvSpPr>
          <p:cNvPr id="43" name="Text 36"/>
          <p:cNvSpPr txBox="1"/>
          <p:nvPr/>
        </p:nvSpPr>
        <p:spPr>
          <a:xfrm>
            <a:off x="6428232" y="1554480"/>
            <a:ext cx="457200" cy="457200"/>
          </a:xfrm>
          <a:prstGeom prst="rect">
            <a:avLst/>
          </a:prstGeom>
          <a:noFill/>
          <a:ln/>
        </p:spPr>
        <p:txBody>
          <a:bodyPr wrap="square" lIns="0" tIns="0" rIns="0" bIns="0" rtlCol="0" anchor="ctr"/>
          <a:lstStyle/>
          <a:p>
            <a:pPr marL="0" indent="0" algn="ctr">
              <a:buNone/>
            </a:pPr>
            <a:r>
              <a:rPr lang="en-US" sz="1800" b="1" dirty="0">
                <a:solidFill>
                  <a:srgbClr val="00553A"/>
                </a:solidFill>
                <a:latin typeface="Calibri" pitchFamily="34" charset="0"/>
                <a:ea typeface="Calibri" pitchFamily="34" charset="-122"/>
                <a:cs typeface="Calibri" pitchFamily="34" charset="-120"/>
              </a:rPr>
              <a:t>5</a:t>
            </a:r>
            <a:endParaRPr lang="en-US" sz="1800" dirty="0"/>
          </a:p>
        </p:txBody>
      </p:sp>
      <p:sp>
        <p:nvSpPr>
          <p:cNvPr id="44" name="Text 37"/>
          <p:cNvSpPr txBox="1"/>
          <p:nvPr/>
        </p:nvSpPr>
        <p:spPr>
          <a:xfrm>
            <a:off x="6089904"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Changer une chose</a:t>
            </a:r>
            <a:endParaRPr lang="en-US" sz="1250" dirty="0"/>
          </a:p>
        </p:txBody>
      </p:sp>
      <p:sp>
        <p:nvSpPr>
          <p:cNvPr id="45" name="Text 38"/>
          <p:cNvSpPr txBox="1"/>
          <p:nvPr/>
        </p:nvSpPr>
        <p:spPr>
          <a:xfrm>
            <a:off x="6108192"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Une règle, un exemple ou un paramètre.</a:t>
            </a:r>
            <a:endParaRPr lang="en-US" sz="1000" dirty="0"/>
          </a:p>
        </p:txBody>
      </p:sp>
      <p:pic>
        <p:nvPicPr>
          <p:cNvPr id="46" name="Image 4" descr="preencoded.png"/>
          <p:cNvPicPr>
            <a:picLocks noChangeAspect="1"/>
          </p:cNvPicPr>
          <p:nvPr/>
        </p:nvPicPr>
        <p:blipFill>
          <a:blip r:embed="rId3"/>
          <a:stretch>
            <a:fillRect/>
          </a:stretch>
        </p:blipFill>
        <p:spPr>
          <a:xfrm>
            <a:off x="7287768" y="1709928"/>
            <a:ext cx="118872" cy="137160"/>
          </a:xfrm>
          <a:prstGeom prst="rect">
            <a:avLst/>
          </a:prstGeom>
        </p:spPr>
      </p:pic>
      <p:sp>
        <p:nvSpPr>
          <p:cNvPr id="47" name="Shape 39"/>
          <p:cNvSpPr/>
          <p:nvPr/>
        </p:nvSpPr>
        <p:spPr>
          <a:xfrm>
            <a:off x="7406640" y="1417320"/>
            <a:ext cx="1280160" cy="2057400"/>
          </a:xfrm>
          <a:prstGeom prst="roundRect">
            <a:avLst>
              <a:gd name="adj" fmla="val 5714"/>
            </a:avLst>
          </a:prstGeom>
          <a:solidFill>
            <a:srgbClr val="F4F7F5"/>
          </a:solidFill>
          <a:ln w="9525">
            <a:solidFill>
              <a:srgbClr val="D5DED9"/>
            </a:solidFill>
            <a:prstDash val="solid"/>
          </a:ln>
        </p:spPr>
      </p:sp>
      <p:sp>
        <p:nvSpPr>
          <p:cNvPr id="48" name="Shape 40"/>
          <p:cNvSpPr/>
          <p:nvPr/>
        </p:nvSpPr>
        <p:spPr>
          <a:xfrm>
            <a:off x="7818120" y="1554480"/>
            <a:ext cx="457200" cy="457200"/>
          </a:xfrm>
          <a:prstGeom prst="ellipse">
            <a:avLst/>
          </a:prstGeom>
          <a:solidFill>
            <a:srgbClr val="00704A"/>
          </a:solidFill>
          <a:ln/>
        </p:spPr>
      </p:sp>
      <p:sp>
        <p:nvSpPr>
          <p:cNvPr id="49" name="Text 41"/>
          <p:cNvSpPr txBox="1"/>
          <p:nvPr/>
        </p:nvSpPr>
        <p:spPr>
          <a:xfrm>
            <a:off x="781812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50" name="Text 42"/>
          <p:cNvSpPr txBox="1"/>
          <p:nvPr/>
        </p:nvSpPr>
        <p:spPr>
          <a:xfrm>
            <a:off x="7479792"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Re-tester, consigner</a:t>
            </a:r>
            <a:endParaRPr lang="en-US" sz="1250" dirty="0"/>
          </a:p>
        </p:txBody>
      </p:sp>
      <p:sp>
        <p:nvSpPr>
          <p:cNvPr id="51" name="Text 43"/>
          <p:cNvSpPr txBox="1"/>
          <p:nvPr/>
        </p:nvSpPr>
        <p:spPr>
          <a:xfrm>
            <a:off x="7498080"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Même jeu, nouveau score, décision notée.</a:t>
            </a:r>
            <a:endParaRPr lang="en-US" sz="1000" dirty="0"/>
          </a:p>
        </p:txBody>
      </p:sp>
      <p:sp>
        <p:nvSpPr>
          <p:cNvPr id="52" name="Shape 44"/>
          <p:cNvSpPr/>
          <p:nvPr/>
        </p:nvSpPr>
        <p:spPr>
          <a:xfrm>
            <a:off x="1097280" y="3657600"/>
            <a:ext cx="6949440" cy="0"/>
          </a:xfrm>
          <a:prstGeom prst="line">
            <a:avLst/>
          </a:prstGeom>
          <a:noFill/>
          <a:ln w="19050">
            <a:solidFill>
              <a:srgbClr val="00704A"/>
            </a:solidFill>
            <a:prstDash val="dash"/>
            <a:headEnd type="triangle"/>
          </a:ln>
        </p:spPr>
      </p:sp>
      <p:sp>
        <p:nvSpPr>
          <p:cNvPr id="53" name="Shape 45"/>
          <p:cNvSpPr/>
          <p:nvPr/>
        </p:nvSpPr>
        <p:spPr>
          <a:xfrm>
            <a:off x="8046720" y="3493008"/>
            <a:ext cx="0" cy="164592"/>
          </a:xfrm>
          <a:prstGeom prst="line">
            <a:avLst/>
          </a:prstGeom>
          <a:noFill/>
          <a:ln w="19050">
            <a:solidFill>
              <a:srgbClr val="00704A"/>
            </a:solidFill>
            <a:prstDash val="dash"/>
          </a:ln>
        </p:spPr>
      </p:sp>
      <p:sp>
        <p:nvSpPr>
          <p:cNvPr id="54" name="Shape 46"/>
          <p:cNvSpPr/>
          <p:nvPr/>
        </p:nvSpPr>
        <p:spPr>
          <a:xfrm>
            <a:off x="1097280" y="3493008"/>
            <a:ext cx="0" cy="164592"/>
          </a:xfrm>
          <a:prstGeom prst="line">
            <a:avLst/>
          </a:prstGeom>
          <a:noFill/>
          <a:ln w="19050">
            <a:solidFill>
              <a:srgbClr val="00704A"/>
            </a:solidFill>
            <a:prstDash val="dash"/>
            <a:headEnd type="triangle"/>
          </a:ln>
        </p:spPr>
      </p:sp>
      <p:sp>
        <p:nvSpPr>
          <p:cNvPr id="55" name="Text 47"/>
          <p:cNvSpPr txBox="1"/>
          <p:nvPr/>
        </p:nvSpPr>
        <p:spPr>
          <a:xfrm>
            <a:off x="2926080" y="3703320"/>
            <a:ext cx="3291840" cy="201168"/>
          </a:xfrm>
          <a:prstGeom prst="rect">
            <a:avLst/>
          </a:prstGeom>
          <a:noFill/>
          <a:ln/>
        </p:spPr>
        <p:txBody>
          <a:bodyPr wrap="square" lIns="0" tIns="0" rIns="0" bIns="0" rtlCol="0" anchor="t"/>
          <a:lstStyle/>
          <a:p>
            <a:pPr marL="0" indent="0" algn="ctr">
              <a:buNone/>
            </a:pPr>
            <a:r>
              <a:rPr lang="en-US" sz="1000" i="1" dirty="0">
                <a:solidFill>
                  <a:srgbClr val="00704A"/>
                </a:solidFill>
                <a:latin typeface="Calibri" pitchFamily="34" charset="0"/>
                <a:ea typeface="Calibri" pitchFamily="34" charset="-122"/>
                <a:cs typeface="Calibri" pitchFamily="34" charset="-120"/>
              </a:rPr>
              <a:t>répéter jusqu’à atteindre la cible fixée à l’étape 1</a:t>
            </a:r>
            <a:endParaRPr lang="en-US" sz="1000" dirty="0"/>
          </a:p>
        </p:txBody>
      </p:sp>
      <p:sp>
        <p:nvSpPr>
          <p:cNvPr id="56" name="Shape 48"/>
          <p:cNvSpPr/>
          <p:nvPr/>
        </p:nvSpPr>
        <p:spPr>
          <a:xfrm>
            <a:off x="457200" y="4023360"/>
            <a:ext cx="8229600" cy="457200"/>
          </a:xfrm>
          <a:prstGeom prst="roundRect">
            <a:avLst>
              <a:gd name="adj" fmla="val 12000"/>
            </a:avLst>
          </a:prstGeom>
          <a:solidFill>
            <a:srgbClr val="D49A00">
              <a:alpha val="13000"/>
            </a:srgbClr>
          </a:solidFill>
          <a:ln w="12700">
            <a:solidFill>
              <a:srgbClr val="D49A00"/>
            </a:solidFill>
            <a:prstDash val="solid"/>
          </a:ln>
        </p:spPr>
      </p:sp>
      <p:pic>
        <p:nvPicPr>
          <p:cNvPr id="57" name="Image 5" descr="preencoded.png"/>
          <p:cNvPicPr>
            <a:picLocks noChangeAspect="1"/>
          </p:cNvPicPr>
          <p:nvPr/>
        </p:nvPicPr>
        <p:blipFill>
          <a:blip r:embed="rId4"/>
          <a:stretch>
            <a:fillRect/>
          </a:stretch>
        </p:blipFill>
        <p:spPr>
          <a:xfrm>
            <a:off x="621792" y="4123944"/>
            <a:ext cx="256032" cy="237744"/>
          </a:xfrm>
          <a:prstGeom prst="rect">
            <a:avLst/>
          </a:prstGeom>
        </p:spPr>
      </p:pic>
      <p:sp>
        <p:nvSpPr>
          <p:cNvPr id="58" name="Text 49"/>
          <p:cNvSpPr txBox="1"/>
          <p:nvPr/>
        </p:nvSpPr>
        <p:spPr>
          <a:xfrm>
            <a:off x="1005840" y="4023360"/>
            <a:ext cx="7589520" cy="45720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Une seule variable à la fois. </a:t>
            </a:r>
            <a:r>
              <a:rPr lang="en-US" sz="1150" dirty="0">
                <a:solidFill>
                  <a:srgbClr val="231F20"/>
                </a:solidFill>
                <a:latin typeface="Calibri" pitchFamily="34" charset="0"/>
                <a:ea typeface="Calibri" pitchFamily="34" charset="-122"/>
                <a:cs typeface="Calibri" pitchFamily="34" charset="-120"/>
              </a:rPr>
              <a:t>Si vous changez trois choses et que le score monte, vous ignorez laquelle a aidé.</a:t>
            </a:r>
            <a:endParaRPr lang="en-US" sz="11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JEU D’ÉVALUATION</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À quoi ressemble un jeu d’évaluation</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00704A"/>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25880"/>
            <a:ext cx="5440680" cy="347472"/>
          </a:xfrm>
          <a:prstGeom prst="roundRect">
            <a:avLst>
              <a:gd name="adj" fmla="val 13158"/>
            </a:avLst>
          </a:prstGeom>
          <a:solidFill>
            <a:srgbClr val="00704A"/>
          </a:solidFill>
          <a:ln/>
        </p:spPr>
      </p:sp>
      <p:sp>
        <p:nvSpPr>
          <p:cNvPr id="18" name="Text 15"/>
          <p:cNvSpPr txBox="1"/>
          <p:nvPr/>
        </p:nvSpPr>
        <p:spPr>
          <a:xfrm>
            <a:off x="548640" y="1325880"/>
            <a:ext cx="36576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19" name="Text 16"/>
          <p:cNvSpPr txBox="1"/>
          <p:nvPr/>
        </p:nvSpPr>
        <p:spPr>
          <a:xfrm>
            <a:off x="1005840" y="1325880"/>
            <a:ext cx="251460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Entrée (saisie par l’enquêteur)</a:t>
            </a:r>
            <a:endParaRPr lang="en-US" sz="1050" dirty="0"/>
          </a:p>
        </p:txBody>
      </p:sp>
      <p:sp>
        <p:nvSpPr>
          <p:cNvPr id="20" name="Text 17"/>
          <p:cNvSpPr txBox="1"/>
          <p:nvPr/>
        </p:nvSpPr>
        <p:spPr>
          <a:xfrm>
            <a:off x="3611880" y="1325880"/>
            <a:ext cx="10972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Référence</a:t>
            </a:r>
            <a:endParaRPr lang="en-US" sz="1050" dirty="0"/>
          </a:p>
        </p:txBody>
      </p:sp>
      <p:sp>
        <p:nvSpPr>
          <p:cNvPr id="21" name="Text 18"/>
          <p:cNvSpPr txBox="1"/>
          <p:nvPr/>
        </p:nvSpPr>
        <p:spPr>
          <a:xfrm>
            <a:off x="4800600" y="1325880"/>
            <a:ext cx="10972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Type de cas</a:t>
            </a:r>
            <a:endParaRPr lang="en-US" sz="1050" dirty="0"/>
          </a:p>
        </p:txBody>
      </p:sp>
      <p:sp>
        <p:nvSpPr>
          <p:cNvPr id="22" name="Shape 19"/>
          <p:cNvSpPr/>
          <p:nvPr/>
        </p:nvSpPr>
        <p:spPr>
          <a:xfrm>
            <a:off x="457200" y="1737360"/>
            <a:ext cx="5440680" cy="365760"/>
          </a:xfrm>
          <a:prstGeom prst="roundRect">
            <a:avLst>
              <a:gd name="adj" fmla="val 20000"/>
            </a:avLst>
          </a:prstGeom>
          <a:solidFill>
            <a:srgbClr val="F4F7F5"/>
          </a:solidFill>
          <a:ln w="9525">
            <a:solidFill>
              <a:srgbClr val="D5DED9"/>
            </a:solidFill>
            <a:prstDash val="solid"/>
          </a:ln>
        </p:spPr>
      </p:sp>
      <p:sp>
        <p:nvSpPr>
          <p:cNvPr id="23" name="Text 20"/>
          <p:cNvSpPr txBox="1"/>
          <p:nvPr/>
        </p:nvSpPr>
        <p:spPr>
          <a:xfrm>
            <a:off x="548640" y="1737360"/>
            <a:ext cx="36576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E01</a:t>
            </a:r>
            <a:endParaRPr lang="en-US" sz="1050" dirty="0"/>
          </a:p>
        </p:txBody>
      </p:sp>
      <p:sp>
        <p:nvSpPr>
          <p:cNvPr id="24" name="Text 21"/>
          <p:cNvSpPr txBox="1"/>
          <p:nvPr/>
        </p:nvSpPr>
        <p:spPr>
          <a:xfrm>
            <a:off x="1005840" y="1737360"/>
            <a:ext cx="251460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Vendeuse de tomates au marché central</a:t>
            </a:r>
            <a:endParaRPr lang="en-US" sz="1050" dirty="0"/>
          </a:p>
        </p:txBody>
      </p:sp>
      <p:sp>
        <p:nvSpPr>
          <p:cNvPr id="25" name="Text 22"/>
          <p:cNvSpPr txBox="1"/>
          <p:nvPr/>
        </p:nvSpPr>
        <p:spPr>
          <a:xfrm>
            <a:off x="3611880" y="1737360"/>
            <a:ext cx="10972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5211</a:t>
            </a:r>
            <a:endParaRPr lang="en-US" sz="1050" dirty="0"/>
          </a:p>
        </p:txBody>
      </p:sp>
      <p:sp>
        <p:nvSpPr>
          <p:cNvPr id="26" name="Text 23"/>
          <p:cNvSpPr txBox="1"/>
          <p:nvPr/>
        </p:nvSpPr>
        <p:spPr>
          <a:xfrm>
            <a:off x="4800600" y="1737360"/>
            <a:ext cx="1097280" cy="365760"/>
          </a:xfrm>
          <a:prstGeom prst="rect">
            <a:avLst/>
          </a:prstGeom>
          <a:noFill/>
          <a:ln/>
        </p:spPr>
        <p:txBody>
          <a:bodyPr wrap="square" lIns="0" tIns="0" rIns="0" bIns="0" rtlCol="0" anchor="ctr"/>
          <a:lstStyle/>
          <a:p>
            <a:pPr marL="0" indent="0">
              <a:buNone/>
            </a:pPr>
            <a:r>
              <a:rPr lang="en-US" sz="1000" b="1" dirty="0">
                <a:solidFill>
                  <a:srgbClr val="00A86A"/>
                </a:solidFill>
                <a:latin typeface="Calibri" pitchFamily="34" charset="0"/>
                <a:ea typeface="Calibri" pitchFamily="34" charset="-122"/>
                <a:cs typeface="Calibri" pitchFamily="34" charset="-120"/>
              </a:rPr>
              <a:t>Typique</a:t>
            </a:r>
            <a:endParaRPr lang="en-US" sz="1000" dirty="0"/>
          </a:p>
        </p:txBody>
      </p:sp>
      <p:sp>
        <p:nvSpPr>
          <p:cNvPr id="27" name="Shape 24"/>
          <p:cNvSpPr/>
          <p:nvPr/>
        </p:nvSpPr>
        <p:spPr>
          <a:xfrm>
            <a:off x="457200" y="2167128"/>
            <a:ext cx="5440680" cy="365760"/>
          </a:xfrm>
          <a:prstGeom prst="roundRect">
            <a:avLst>
              <a:gd name="adj" fmla="val 20000"/>
            </a:avLst>
          </a:prstGeom>
          <a:solidFill>
            <a:srgbClr val="FFFFFF"/>
          </a:solidFill>
          <a:ln w="9525">
            <a:solidFill>
              <a:srgbClr val="D5DED9"/>
            </a:solidFill>
            <a:prstDash val="solid"/>
          </a:ln>
        </p:spPr>
      </p:sp>
      <p:sp>
        <p:nvSpPr>
          <p:cNvPr id="28" name="Text 25"/>
          <p:cNvSpPr txBox="1"/>
          <p:nvPr/>
        </p:nvSpPr>
        <p:spPr>
          <a:xfrm>
            <a:off x="548640" y="2167128"/>
            <a:ext cx="36576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E02</a:t>
            </a:r>
            <a:endParaRPr lang="en-US" sz="1050" dirty="0"/>
          </a:p>
        </p:txBody>
      </p:sp>
      <p:sp>
        <p:nvSpPr>
          <p:cNvPr id="29" name="Text 26"/>
          <p:cNvSpPr txBox="1"/>
          <p:nvPr/>
        </p:nvSpPr>
        <p:spPr>
          <a:xfrm>
            <a:off x="1005840" y="2167128"/>
            <a:ext cx="251460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Moto-taxi driver, owns the motorcycle</a:t>
            </a:r>
            <a:endParaRPr lang="en-US" sz="1050" dirty="0"/>
          </a:p>
        </p:txBody>
      </p:sp>
      <p:sp>
        <p:nvSpPr>
          <p:cNvPr id="30" name="Text 27"/>
          <p:cNvSpPr txBox="1"/>
          <p:nvPr/>
        </p:nvSpPr>
        <p:spPr>
          <a:xfrm>
            <a:off x="3611880" y="2167128"/>
            <a:ext cx="10972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8321</a:t>
            </a:r>
            <a:endParaRPr lang="en-US" sz="1050" dirty="0"/>
          </a:p>
        </p:txBody>
      </p:sp>
      <p:sp>
        <p:nvSpPr>
          <p:cNvPr id="31" name="Text 28"/>
          <p:cNvSpPr txBox="1"/>
          <p:nvPr/>
        </p:nvSpPr>
        <p:spPr>
          <a:xfrm>
            <a:off x="4800600" y="2167128"/>
            <a:ext cx="1097280" cy="365760"/>
          </a:xfrm>
          <a:prstGeom prst="rect">
            <a:avLst/>
          </a:prstGeom>
          <a:noFill/>
          <a:ln/>
        </p:spPr>
        <p:txBody>
          <a:bodyPr wrap="square" lIns="0" tIns="0" rIns="0" bIns="0" rtlCol="0" anchor="ctr"/>
          <a:lstStyle/>
          <a:p>
            <a:pPr marL="0" indent="0">
              <a:buNone/>
            </a:pPr>
            <a:r>
              <a:rPr lang="en-US" sz="1000" b="1" dirty="0">
                <a:solidFill>
                  <a:srgbClr val="00A86A"/>
                </a:solidFill>
                <a:latin typeface="Calibri" pitchFamily="34" charset="0"/>
                <a:ea typeface="Calibri" pitchFamily="34" charset="-122"/>
                <a:cs typeface="Calibri" pitchFamily="34" charset="-120"/>
              </a:rPr>
              <a:t>Typique</a:t>
            </a:r>
            <a:endParaRPr lang="en-US" sz="1000" dirty="0"/>
          </a:p>
        </p:txBody>
      </p:sp>
      <p:sp>
        <p:nvSpPr>
          <p:cNvPr id="32" name="Shape 29"/>
          <p:cNvSpPr/>
          <p:nvPr/>
        </p:nvSpPr>
        <p:spPr>
          <a:xfrm>
            <a:off x="457200" y="2596896"/>
            <a:ext cx="5440680" cy="365760"/>
          </a:xfrm>
          <a:prstGeom prst="roundRect">
            <a:avLst>
              <a:gd name="adj" fmla="val 20000"/>
            </a:avLst>
          </a:prstGeom>
          <a:solidFill>
            <a:srgbClr val="F4F7F5"/>
          </a:solidFill>
          <a:ln w="9525">
            <a:solidFill>
              <a:srgbClr val="D5DED9"/>
            </a:solidFill>
            <a:prstDash val="solid"/>
          </a:ln>
        </p:spPr>
      </p:sp>
      <p:sp>
        <p:nvSpPr>
          <p:cNvPr id="33" name="Text 30"/>
          <p:cNvSpPr txBox="1"/>
          <p:nvPr/>
        </p:nvSpPr>
        <p:spPr>
          <a:xfrm>
            <a:off x="548640" y="2596896"/>
            <a:ext cx="36576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E03</a:t>
            </a:r>
            <a:endParaRPr lang="en-US" sz="1050" dirty="0"/>
          </a:p>
        </p:txBody>
      </p:sp>
      <p:sp>
        <p:nvSpPr>
          <p:cNvPr id="34" name="Text 31"/>
          <p:cNvSpPr txBox="1"/>
          <p:nvPr/>
        </p:nvSpPr>
        <p:spPr>
          <a:xfrm>
            <a:off x="1005840" y="2596896"/>
            <a:ext cx="251460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Agent de saisie à l’institut de statistique</a:t>
            </a:r>
            <a:endParaRPr lang="en-US" sz="1050" dirty="0"/>
          </a:p>
        </p:txBody>
      </p:sp>
      <p:sp>
        <p:nvSpPr>
          <p:cNvPr id="35" name="Text 32"/>
          <p:cNvSpPr txBox="1"/>
          <p:nvPr/>
        </p:nvSpPr>
        <p:spPr>
          <a:xfrm>
            <a:off x="3611880" y="2596896"/>
            <a:ext cx="10972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4132</a:t>
            </a:r>
            <a:endParaRPr lang="en-US" sz="1050" dirty="0"/>
          </a:p>
        </p:txBody>
      </p:sp>
      <p:sp>
        <p:nvSpPr>
          <p:cNvPr id="36" name="Text 33"/>
          <p:cNvSpPr txBox="1"/>
          <p:nvPr/>
        </p:nvSpPr>
        <p:spPr>
          <a:xfrm>
            <a:off x="4800600" y="2596896"/>
            <a:ext cx="1097280" cy="365760"/>
          </a:xfrm>
          <a:prstGeom prst="rect">
            <a:avLst/>
          </a:prstGeom>
          <a:noFill/>
          <a:ln/>
        </p:spPr>
        <p:txBody>
          <a:bodyPr wrap="square" lIns="0" tIns="0" rIns="0" bIns="0" rtlCol="0" anchor="ctr"/>
          <a:lstStyle/>
          <a:p>
            <a:pPr marL="0" indent="0">
              <a:buNone/>
            </a:pPr>
            <a:r>
              <a:rPr lang="en-US" sz="1000" b="1" dirty="0">
                <a:solidFill>
                  <a:srgbClr val="00A86A"/>
                </a:solidFill>
                <a:latin typeface="Calibri" pitchFamily="34" charset="0"/>
                <a:ea typeface="Calibri" pitchFamily="34" charset="-122"/>
                <a:cs typeface="Calibri" pitchFamily="34" charset="-120"/>
              </a:rPr>
              <a:t>Typique · FR</a:t>
            </a:r>
            <a:endParaRPr lang="en-US" sz="1000" dirty="0"/>
          </a:p>
        </p:txBody>
      </p:sp>
      <p:sp>
        <p:nvSpPr>
          <p:cNvPr id="37" name="Shape 34"/>
          <p:cNvSpPr/>
          <p:nvPr/>
        </p:nvSpPr>
        <p:spPr>
          <a:xfrm>
            <a:off x="457200" y="3026664"/>
            <a:ext cx="5440680" cy="365760"/>
          </a:xfrm>
          <a:prstGeom prst="roundRect">
            <a:avLst>
              <a:gd name="adj" fmla="val 20000"/>
            </a:avLst>
          </a:prstGeom>
          <a:solidFill>
            <a:srgbClr val="FFFFFF"/>
          </a:solidFill>
          <a:ln w="9525">
            <a:solidFill>
              <a:srgbClr val="D5DED9"/>
            </a:solidFill>
            <a:prstDash val="solid"/>
          </a:ln>
        </p:spPr>
      </p:sp>
      <p:sp>
        <p:nvSpPr>
          <p:cNvPr id="38" name="Text 35"/>
          <p:cNvSpPr txBox="1"/>
          <p:nvPr/>
        </p:nvSpPr>
        <p:spPr>
          <a:xfrm>
            <a:off x="548640" y="3026664"/>
            <a:ext cx="36576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E04</a:t>
            </a:r>
            <a:endParaRPr lang="en-US" sz="1050" dirty="0"/>
          </a:p>
        </p:txBody>
      </p:sp>
      <p:sp>
        <p:nvSpPr>
          <p:cNvPr id="39" name="Text 36"/>
          <p:cNvSpPr txBox="1"/>
          <p:nvPr/>
        </p:nvSpPr>
        <p:spPr>
          <a:xfrm>
            <a:off x="1005840" y="3026664"/>
            <a:ext cx="251460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Primary teacher, sells airtime at weekends</a:t>
            </a:r>
            <a:endParaRPr lang="en-US" sz="1050" dirty="0"/>
          </a:p>
        </p:txBody>
      </p:sp>
      <p:sp>
        <p:nvSpPr>
          <p:cNvPr id="40" name="Text 37"/>
          <p:cNvSpPr txBox="1"/>
          <p:nvPr/>
        </p:nvSpPr>
        <p:spPr>
          <a:xfrm>
            <a:off x="3611880" y="3026664"/>
            <a:ext cx="10972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2341</a:t>
            </a:r>
            <a:endParaRPr lang="en-US" sz="1050" dirty="0"/>
          </a:p>
        </p:txBody>
      </p:sp>
      <p:sp>
        <p:nvSpPr>
          <p:cNvPr id="41" name="Text 38"/>
          <p:cNvSpPr txBox="1"/>
          <p:nvPr/>
        </p:nvSpPr>
        <p:spPr>
          <a:xfrm>
            <a:off x="4800600" y="3026664"/>
            <a:ext cx="1097280" cy="365760"/>
          </a:xfrm>
          <a:prstGeom prst="rect">
            <a:avLst/>
          </a:prstGeom>
          <a:noFill/>
          <a:ln/>
        </p:spPr>
        <p:txBody>
          <a:bodyPr wrap="square" lIns="0" tIns="0" rIns="0" bIns="0" rtlCol="0" anchor="ctr"/>
          <a:lstStyle/>
          <a:p>
            <a:pPr marL="0" indent="0">
              <a:buNone/>
            </a:pPr>
            <a:r>
              <a:rPr lang="en-US" sz="1000" b="1" dirty="0">
                <a:solidFill>
                  <a:srgbClr val="D49A00"/>
                </a:solidFill>
                <a:latin typeface="Calibri" pitchFamily="34" charset="0"/>
                <a:ea typeface="Calibri" pitchFamily="34" charset="-122"/>
                <a:cs typeface="Calibri" pitchFamily="34" charset="-120"/>
              </a:rPr>
              <a:t>Limite · 2 emplois</a:t>
            </a:r>
            <a:endParaRPr lang="en-US" sz="1000" dirty="0"/>
          </a:p>
        </p:txBody>
      </p:sp>
      <p:sp>
        <p:nvSpPr>
          <p:cNvPr id="42" name="Shape 39"/>
          <p:cNvSpPr/>
          <p:nvPr/>
        </p:nvSpPr>
        <p:spPr>
          <a:xfrm>
            <a:off x="457200" y="3456432"/>
            <a:ext cx="5440680" cy="365760"/>
          </a:xfrm>
          <a:prstGeom prst="roundRect">
            <a:avLst>
              <a:gd name="adj" fmla="val 20000"/>
            </a:avLst>
          </a:prstGeom>
          <a:solidFill>
            <a:srgbClr val="F4F7F5"/>
          </a:solidFill>
          <a:ln w="9525">
            <a:solidFill>
              <a:srgbClr val="D5DED9"/>
            </a:solidFill>
            <a:prstDash val="solid"/>
          </a:ln>
        </p:spPr>
      </p:sp>
      <p:sp>
        <p:nvSpPr>
          <p:cNvPr id="43" name="Text 40"/>
          <p:cNvSpPr txBox="1"/>
          <p:nvPr/>
        </p:nvSpPr>
        <p:spPr>
          <a:xfrm>
            <a:off x="548640" y="3456432"/>
            <a:ext cx="36576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E05</a:t>
            </a:r>
            <a:endParaRPr lang="en-US" sz="1050" dirty="0"/>
          </a:p>
        </p:txBody>
      </p:sp>
      <p:sp>
        <p:nvSpPr>
          <p:cNvPr id="44" name="Text 41"/>
          <p:cNvSpPr txBox="1"/>
          <p:nvPr/>
        </p:nvSpPr>
        <p:spPr>
          <a:xfrm>
            <a:off x="1005840" y="3456432"/>
            <a:ext cx="251460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Ingénieur</a:t>
            </a:r>
            <a:endParaRPr lang="en-US" sz="1050" dirty="0"/>
          </a:p>
        </p:txBody>
      </p:sp>
      <p:sp>
        <p:nvSpPr>
          <p:cNvPr id="45" name="Text 42"/>
          <p:cNvSpPr txBox="1"/>
          <p:nvPr/>
        </p:nvSpPr>
        <p:spPr>
          <a:xfrm>
            <a:off x="3611880" y="3456432"/>
            <a:ext cx="10972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NON_CODABLE</a:t>
            </a:r>
            <a:endParaRPr lang="en-US" sz="1050" dirty="0"/>
          </a:p>
        </p:txBody>
      </p:sp>
      <p:sp>
        <p:nvSpPr>
          <p:cNvPr id="46" name="Text 43"/>
          <p:cNvSpPr txBox="1"/>
          <p:nvPr/>
        </p:nvSpPr>
        <p:spPr>
          <a:xfrm>
            <a:off x="4800600" y="3456432"/>
            <a:ext cx="1097280" cy="365760"/>
          </a:xfrm>
          <a:prstGeom prst="rect">
            <a:avLst/>
          </a:prstGeom>
          <a:noFill/>
          <a:ln/>
        </p:spPr>
        <p:txBody>
          <a:bodyPr wrap="square" lIns="0" tIns="0" rIns="0" bIns="0" rtlCol="0" anchor="ctr"/>
          <a:lstStyle/>
          <a:p>
            <a:pPr marL="0" indent="0">
              <a:buNone/>
            </a:pPr>
            <a:r>
              <a:rPr lang="en-US" sz="1000" b="1" dirty="0">
                <a:solidFill>
                  <a:srgbClr val="D49A00"/>
                </a:solidFill>
                <a:latin typeface="Calibri" pitchFamily="34" charset="0"/>
                <a:ea typeface="Calibri" pitchFamily="34" charset="-122"/>
                <a:cs typeface="Calibri" pitchFamily="34" charset="-120"/>
              </a:rPr>
              <a:t>Limite · vague</a:t>
            </a:r>
            <a:endParaRPr lang="en-US" sz="1000" dirty="0"/>
          </a:p>
        </p:txBody>
      </p:sp>
      <p:sp>
        <p:nvSpPr>
          <p:cNvPr id="47" name="Shape 44"/>
          <p:cNvSpPr/>
          <p:nvPr/>
        </p:nvSpPr>
        <p:spPr>
          <a:xfrm>
            <a:off x="457200" y="3886200"/>
            <a:ext cx="5440680" cy="365760"/>
          </a:xfrm>
          <a:prstGeom prst="roundRect">
            <a:avLst>
              <a:gd name="adj" fmla="val 20000"/>
            </a:avLst>
          </a:prstGeom>
          <a:solidFill>
            <a:srgbClr val="FFFFFF"/>
          </a:solidFill>
          <a:ln w="9525">
            <a:solidFill>
              <a:srgbClr val="D5DED9"/>
            </a:solidFill>
            <a:prstDash val="solid"/>
          </a:ln>
        </p:spPr>
      </p:sp>
      <p:sp>
        <p:nvSpPr>
          <p:cNvPr id="48" name="Text 45"/>
          <p:cNvSpPr txBox="1"/>
          <p:nvPr/>
        </p:nvSpPr>
        <p:spPr>
          <a:xfrm>
            <a:off x="548640" y="3886200"/>
            <a:ext cx="36576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E06</a:t>
            </a:r>
            <a:endParaRPr lang="en-US" sz="1050" dirty="0"/>
          </a:p>
        </p:txBody>
      </p:sp>
      <p:sp>
        <p:nvSpPr>
          <p:cNvPr id="49" name="Text 46"/>
          <p:cNvSpPr txBox="1"/>
          <p:nvPr/>
        </p:nvSpPr>
        <p:spPr>
          <a:xfrm>
            <a:off x="1005840" y="3886200"/>
            <a:ext cx="251460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works</a:t>
            </a:r>
            <a:endParaRPr lang="en-US" sz="1050" dirty="0"/>
          </a:p>
        </p:txBody>
      </p:sp>
      <p:sp>
        <p:nvSpPr>
          <p:cNvPr id="50" name="Text 47"/>
          <p:cNvSpPr txBox="1"/>
          <p:nvPr/>
        </p:nvSpPr>
        <p:spPr>
          <a:xfrm>
            <a:off x="3611880" y="3886200"/>
            <a:ext cx="10972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NON_CODABLE</a:t>
            </a:r>
            <a:endParaRPr lang="en-US" sz="1050" dirty="0"/>
          </a:p>
        </p:txBody>
      </p:sp>
      <p:sp>
        <p:nvSpPr>
          <p:cNvPr id="51" name="Text 48"/>
          <p:cNvSpPr txBox="1"/>
          <p:nvPr/>
        </p:nvSpPr>
        <p:spPr>
          <a:xfrm>
            <a:off x="4800600" y="3886200"/>
            <a:ext cx="1097280" cy="365760"/>
          </a:xfrm>
          <a:prstGeom prst="rect">
            <a:avLst/>
          </a:prstGeom>
          <a:noFill/>
          <a:ln/>
        </p:spPr>
        <p:txBody>
          <a:bodyPr wrap="square" lIns="0" tIns="0" rIns="0" bIns="0" rtlCol="0" anchor="ctr"/>
          <a:lstStyle/>
          <a:p>
            <a:pPr marL="0" indent="0">
              <a:buNone/>
            </a:pPr>
            <a:r>
              <a:rPr lang="en-US" sz="1000" b="1" dirty="0">
                <a:solidFill>
                  <a:srgbClr val="B83B2E"/>
                </a:solidFill>
                <a:latin typeface="Calibri" pitchFamily="34" charset="0"/>
                <a:ea typeface="Calibri" pitchFamily="34" charset="-122"/>
                <a:cs typeface="Calibri" pitchFamily="34" charset="-120"/>
              </a:rPr>
              <a:t>Négatif</a:t>
            </a:r>
            <a:endParaRPr lang="en-US" sz="1000" dirty="0"/>
          </a:p>
        </p:txBody>
      </p:sp>
      <p:sp>
        <p:nvSpPr>
          <p:cNvPr id="52" name="Text 49"/>
          <p:cNvSpPr txBox="1"/>
          <p:nvPr/>
        </p:nvSpPr>
        <p:spPr>
          <a:xfrm>
            <a:off x="457200" y="4389120"/>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Extrait illustratif. Codes CITP-08 : 5211, 8321, 4132, 2341.</a:t>
            </a:r>
            <a:endParaRPr lang="en-US" sz="900" dirty="0"/>
          </a:p>
        </p:txBody>
      </p:sp>
      <p:sp>
        <p:nvSpPr>
          <p:cNvPr id="53" name="Shape 50"/>
          <p:cNvSpPr/>
          <p:nvPr/>
        </p:nvSpPr>
        <p:spPr>
          <a:xfrm>
            <a:off x="6126480" y="1325880"/>
            <a:ext cx="2560320" cy="3246120"/>
          </a:xfrm>
          <a:prstGeom prst="roundRect">
            <a:avLst>
              <a:gd name="adj" fmla="val 2857"/>
            </a:avLst>
          </a:prstGeom>
          <a:solidFill>
            <a:srgbClr val="F4F7F5"/>
          </a:solidFill>
          <a:ln w="9525">
            <a:solidFill>
              <a:srgbClr val="D5DED9"/>
            </a:solidFill>
            <a:prstDash val="solid"/>
          </a:ln>
        </p:spPr>
      </p:sp>
      <p:sp>
        <p:nvSpPr>
          <p:cNvPr id="54" name="Text 51"/>
          <p:cNvSpPr txBox="1"/>
          <p:nvPr/>
        </p:nvSpPr>
        <p:spPr>
          <a:xfrm>
            <a:off x="6263640" y="1444752"/>
            <a:ext cx="2286000" cy="201168"/>
          </a:xfrm>
          <a:prstGeom prst="rect">
            <a:avLst/>
          </a:prstGeom>
          <a:noFill/>
          <a:ln/>
        </p:spPr>
        <p:txBody>
          <a:bodyPr wrap="square" lIns="0" tIns="0" rIns="0" bIns="0" rtlCol="0" anchor="t"/>
          <a:lstStyle/>
          <a:p>
            <a:pPr marL="0" indent="0">
              <a:buNone/>
            </a:pPr>
            <a:r>
              <a:rPr lang="en-US" sz="1000" b="1" kern="0" spc="100" dirty="0">
                <a:solidFill>
                  <a:srgbClr val="00704A"/>
                </a:solidFill>
                <a:latin typeface="Calibri" pitchFamily="34" charset="0"/>
                <a:ea typeface="Calibri" pitchFamily="34" charset="-122"/>
                <a:cs typeface="Calibri" pitchFamily="34" charset="-120"/>
              </a:rPr>
              <a:t>UNE RÉPARTITION DE DÉPART</a:t>
            </a:r>
            <a:endParaRPr lang="en-US" sz="1000" dirty="0"/>
          </a:p>
        </p:txBody>
      </p:sp>
      <p:sp>
        <p:nvSpPr>
          <p:cNvPr id="55" name="Text 52"/>
          <p:cNvSpPr txBox="1"/>
          <p:nvPr/>
        </p:nvSpPr>
        <p:spPr>
          <a:xfrm>
            <a:off x="6263640" y="1755648"/>
            <a:ext cx="685800" cy="274320"/>
          </a:xfrm>
          <a:prstGeom prst="rect">
            <a:avLst/>
          </a:prstGeom>
          <a:noFill/>
          <a:ln/>
        </p:spPr>
        <p:txBody>
          <a:bodyPr wrap="square" lIns="0" tIns="0" rIns="0" bIns="0" rtlCol="0" anchor="t"/>
          <a:lstStyle/>
          <a:p>
            <a:pPr marL="0" indent="0">
              <a:buNone/>
            </a:pPr>
            <a:r>
              <a:rPr lang="en-US" sz="1600" b="1" dirty="0">
                <a:solidFill>
                  <a:srgbClr val="00A86A"/>
                </a:solidFill>
                <a:latin typeface="Calibri" pitchFamily="34" charset="0"/>
                <a:ea typeface="Calibri" pitchFamily="34" charset="-122"/>
                <a:cs typeface="Calibri" pitchFamily="34" charset="-120"/>
              </a:rPr>
              <a:t>~60%</a:t>
            </a:r>
            <a:endParaRPr lang="en-US" sz="1600" dirty="0"/>
          </a:p>
        </p:txBody>
      </p:sp>
      <p:sp>
        <p:nvSpPr>
          <p:cNvPr id="56" name="Text 53"/>
          <p:cNvSpPr txBox="1"/>
          <p:nvPr/>
        </p:nvSpPr>
        <p:spPr>
          <a:xfrm>
            <a:off x="6949440" y="1783080"/>
            <a:ext cx="1645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Cas typiques</a:t>
            </a:r>
            <a:endParaRPr lang="en-US" sz="1150" dirty="0"/>
          </a:p>
        </p:txBody>
      </p:sp>
      <p:sp>
        <p:nvSpPr>
          <p:cNvPr id="57" name="Text 54"/>
          <p:cNvSpPr txBox="1"/>
          <p:nvPr/>
        </p:nvSpPr>
        <p:spPr>
          <a:xfrm>
            <a:off x="6949440" y="2011680"/>
            <a:ext cx="164592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Cas courants, toutes langues</a:t>
            </a:r>
            <a:endParaRPr lang="en-US" sz="900" dirty="0"/>
          </a:p>
        </p:txBody>
      </p:sp>
      <p:sp>
        <p:nvSpPr>
          <p:cNvPr id="58" name="Shape 55"/>
          <p:cNvSpPr/>
          <p:nvPr/>
        </p:nvSpPr>
        <p:spPr>
          <a:xfrm>
            <a:off x="6263640" y="2267712"/>
            <a:ext cx="2286000" cy="91440"/>
          </a:xfrm>
          <a:prstGeom prst="rect">
            <a:avLst/>
          </a:prstGeom>
          <a:solidFill>
            <a:srgbClr val="D5DED9"/>
          </a:solidFill>
          <a:ln/>
        </p:spPr>
      </p:sp>
      <p:sp>
        <p:nvSpPr>
          <p:cNvPr id="59" name="Shape 56"/>
          <p:cNvSpPr/>
          <p:nvPr/>
        </p:nvSpPr>
        <p:spPr>
          <a:xfrm>
            <a:off x="6263640" y="2267712"/>
            <a:ext cx="1371600" cy="91440"/>
          </a:xfrm>
          <a:prstGeom prst="rect">
            <a:avLst/>
          </a:prstGeom>
          <a:solidFill>
            <a:srgbClr val="00A86A"/>
          </a:solidFill>
          <a:ln/>
        </p:spPr>
      </p:sp>
      <p:sp>
        <p:nvSpPr>
          <p:cNvPr id="60" name="Text 57"/>
          <p:cNvSpPr txBox="1"/>
          <p:nvPr/>
        </p:nvSpPr>
        <p:spPr>
          <a:xfrm>
            <a:off x="6263640" y="2487168"/>
            <a:ext cx="68580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~25%</a:t>
            </a:r>
            <a:endParaRPr lang="en-US" sz="1600" dirty="0"/>
          </a:p>
        </p:txBody>
      </p:sp>
      <p:sp>
        <p:nvSpPr>
          <p:cNvPr id="61" name="Text 58"/>
          <p:cNvSpPr txBox="1"/>
          <p:nvPr/>
        </p:nvSpPr>
        <p:spPr>
          <a:xfrm>
            <a:off x="6949440" y="2514600"/>
            <a:ext cx="1645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Cas limites</a:t>
            </a:r>
            <a:endParaRPr lang="en-US" sz="1150" dirty="0"/>
          </a:p>
        </p:txBody>
      </p:sp>
      <p:sp>
        <p:nvSpPr>
          <p:cNvPr id="62" name="Text 59"/>
          <p:cNvSpPr txBox="1"/>
          <p:nvPr/>
        </p:nvSpPr>
        <p:spPr>
          <a:xfrm>
            <a:off x="6949440" y="2743200"/>
            <a:ext cx="164592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Éprouvent les règles de décision</a:t>
            </a:r>
            <a:endParaRPr lang="en-US" sz="900" dirty="0"/>
          </a:p>
        </p:txBody>
      </p:sp>
      <p:sp>
        <p:nvSpPr>
          <p:cNvPr id="63" name="Shape 60"/>
          <p:cNvSpPr/>
          <p:nvPr/>
        </p:nvSpPr>
        <p:spPr>
          <a:xfrm>
            <a:off x="6263640" y="2999232"/>
            <a:ext cx="2286000" cy="91440"/>
          </a:xfrm>
          <a:prstGeom prst="rect">
            <a:avLst/>
          </a:prstGeom>
          <a:solidFill>
            <a:srgbClr val="D5DED9"/>
          </a:solidFill>
          <a:ln/>
        </p:spPr>
      </p:sp>
      <p:sp>
        <p:nvSpPr>
          <p:cNvPr id="64" name="Shape 61"/>
          <p:cNvSpPr/>
          <p:nvPr/>
        </p:nvSpPr>
        <p:spPr>
          <a:xfrm>
            <a:off x="6263640" y="2999232"/>
            <a:ext cx="571500" cy="91440"/>
          </a:xfrm>
          <a:prstGeom prst="rect">
            <a:avLst/>
          </a:prstGeom>
          <a:solidFill>
            <a:srgbClr val="D49A00"/>
          </a:solidFill>
          <a:ln/>
        </p:spPr>
      </p:sp>
      <p:sp>
        <p:nvSpPr>
          <p:cNvPr id="65" name="Text 62"/>
          <p:cNvSpPr txBox="1"/>
          <p:nvPr/>
        </p:nvSpPr>
        <p:spPr>
          <a:xfrm>
            <a:off x="6263640" y="3218688"/>
            <a:ext cx="685800" cy="274320"/>
          </a:xfrm>
          <a:prstGeom prst="rect">
            <a:avLst/>
          </a:prstGeom>
          <a:noFill/>
          <a:ln/>
        </p:spPr>
        <p:txBody>
          <a:bodyPr wrap="square" lIns="0" tIns="0" rIns="0" bIns="0" rtlCol="0" anchor="t"/>
          <a:lstStyle/>
          <a:p>
            <a:pPr marL="0" indent="0">
              <a:buNone/>
            </a:pPr>
            <a:r>
              <a:rPr lang="en-US" sz="1600" b="1" dirty="0">
                <a:solidFill>
                  <a:srgbClr val="B83B2E"/>
                </a:solidFill>
                <a:latin typeface="Calibri" pitchFamily="34" charset="0"/>
                <a:ea typeface="Calibri" pitchFamily="34" charset="-122"/>
                <a:cs typeface="Calibri" pitchFamily="34" charset="-120"/>
              </a:rPr>
              <a:t>~15%</a:t>
            </a:r>
            <a:endParaRPr lang="en-US" sz="1600" dirty="0"/>
          </a:p>
        </p:txBody>
      </p:sp>
      <p:sp>
        <p:nvSpPr>
          <p:cNvPr id="66" name="Text 63"/>
          <p:cNvSpPr txBox="1"/>
          <p:nvPr/>
        </p:nvSpPr>
        <p:spPr>
          <a:xfrm>
            <a:off x="6949440" y="3246120"/>
            <a:ext cx="1645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Cas négatifs</a:t>
            </a:r>
            <a:endParaRPr lang="en-US" sz="1150" dirty="0"/>
          </a:p>
        </p:txBody>
      </p:sp>
      <p:sp>
        <p:nvSpPr>
          <p:cNvPr id="67" name="Text 64"/>
          <p:cNvSpPr txBox="1"/>
          <p:nvPr/>
        </p:nvSpPr>
        <p:spPr>
          <a:xfrm>
            <a:off x="6949440" y="3474720"/>
            <a:ext cx="164592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modèle doit refuser ou signaler</a:t>
            </a:r>
            <a:endParaRPr lang="en-US" sz="900" dirty="0"/>
          </a:p>
        </p:txBody>
      </p:sp>
      <p:sp>
        <p:nvSpPr>
          <p:cNvPr id="68" name="Shape 65"/>
          <p:cNvSpPr/>
          <p:nvPr/>
        </p:nvSpPr>
        <p:spPr>
          <a:xfrm>
            <a:off x="6263640" y="3730752"/>
            <a:ext cx="2286000" cy="91440"/>
          </a:xfrm>
          <a:prstGeom prst="rect">
            <a:avLst/>
          </a:prstGeom>
          <a:solidFill>
            <a:srgbClr val="D5DED9"/>
          </a:solidFill>
          <a:ln/>
        </p:spPr>
      </p:sp>
      <p:sp>
        <p:nvSpPr>
          <p:cNvPr id="69" name="Shape 66"/>
          <p:cNvSpPr/>
          <p:nvPr/>
        </p:nvSpPr>
        <p:spPr>
          <a:xfrm>
            <a:off x="6263640" y="3730752"/>
            <a:ext cx="342900" cy="91440"/>
          </a:xfrm>
          <a:prstGeom prst="rect">
            <a:avLst/>
          </a:prstGeom>
          <a:solidFill>
            <a:srgbClr val="B83B2E"/>
          </a:solidFill>
          <a:ln/>
        </p:spPr>
      </p:sp>
      <p:sp>
        <p:nvSpPr>
          <p:cNvPr id="70" name="Text 67"/>
          <p:cNvSpPr txBox="1"/>
          <p:nvPr/>
        </p:nvSpPr>
        <p:spPr>
          <a:xfrm>
            <a:off x="6263640" y="3977640"/>
            <a:ext cx="2286000" cy="50292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Règle empirique : commencer avec 30 à 50 cas, puis ajouter chaque nouvel échec rencontré en production.</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JEU D’ÉVALUATION</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Cinq règles pour un jeu fiable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00704A"/>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325880"/>
            <a:ext cx="2651760" cy="1508760"/>
          </a:xfrm>
          <a:prstGeom prst="roundRect">
            <a:avLst>
              <a:gd name="adj" fmla="val 4848"/>
            </a:avLst>
          </a:prstGeom>
          <a:solidFill>
            <a:srgbClr val="F4F7F5"/>
          </a:solidFill>
          <a:ln w="9525">
            <a:solidFill>
              <a:srgbClr val="D5DED9"/>
            </a:solidFill>
            <a:prstDash val="solid"/>
          </a:ln>
        </p:spPr>
      </p:sp>
      <p:sp>
        <p:nvSpPr>
          <p:cNvPr id="18" name="Shape 15"/>
          <p:cNvSpPr/>
          <p:nvPr/>
        </p:nvSpPr>
        <p:spPr>
          <a:xfrm>
            <a:off x="621792" y="1490472"/>
            <a:ext cx="438912" cy="438912"/>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727131" y="1595811"/>
            <a:ext cx="228234" cy="228234"/>
          </a:xfrm>
          <a:prstGeom prst="rect">
            <a:avLst/>
          </a:prstGeom>
        </p:spPr>
      </p:pic>
      <p:sp>
        <p:nvSpPr>
          <p:cNvPr id="20" name="Text 16"/>
          <p:cNvSpPr txBox="1"/>
          <p:nvPr/>
        </p:nvSpPr>
        <p:spPr>
          <a:xfrm>
            <a:off x="1170432" y="149047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Représentatif</a:t>
            </a:r>
            <a:endParaRPr lang="en-US" sz="1350" dirty="0"/>
          </a:p>
        </p:txBody>
      </p:sp>
      <p:sp>
        <p:nvSpPr>
          <p:cNvPr id="21" name="Text 17"/>
          <p:cNvSpPr txBox="1"/>
          <p:nvPr/>
        </p:nvSpPr>
        <p:spPr>
          <a:xfrm>
            <a:off x="621792" y="2039112"/>
            <a:ext cx="23317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Couvre chaque langue, région, source et format rencontrés en production, y compris scans médiocres et fautes.</a:t>
            </a:r>
            <a:endParaRPr lang="en-US" sz="1000" dirty="0"/>
          </a:p>
        </p:txBody>
      </p:sp>
      <p:sp>
        <p:nvSpPr>
          <p:cNvPr id="22" name="Shape 18"/>
          <p:cNvSpPr/>
          <p:nvPr/>
        </p:nvSpPr>
        <p:spPr>
          <a:xfrm>
            <a:off x="3246120" y="1325880"/>
            <a:ext cx="2651760" cy="1508760"/>
          </a:xfrm>
          <a:prstGeom prst="roundRect">
            <a:avLst>
              <a:gd name="adj" fmla="val 4848"/>
            </a:avLst>
          </a:prstGeom>
          <a:solidFill>
            <a:srgbClr val="F4F7F5"/>
          </a:solidFill>
          <a:ln w="9525">
            <a:solidFill>
              <a:srgbClr val="D5DED9"/>
            </a:solidFill>
            <a:prstDash val="solid"/>
          </a:ln>
        </p:spPr>
      </p:sp>
      <p:sp>
        <p:nvSpPr>
          <p:cNvPr id="23" name="Shape 19"/>
          <p:cNvSpPr/>
          <p:nvPr/>
        </p:nvSpPr>
        <p:spPr>
          <a:xfrm>
            <a:off x="3410712" y="1490472"/>
            <a:ext cx="438912" cy="438912"/>
          </a:xfrm>
          <a:prstGeom prst="ellipse">
            <a:avLst/>
          </a:prstGeom>
          <a:solidFill>
            <a:srgbClr val="00704A">
              <a:alpha val="22000"/>
            </a:srgbClr>
          </a:solidFill>
          <a:ln/>
        </p:spPr>
      </p:sp>
      <p:pic>
        <p:nvPicPr>
          <p:cNvPr id="24" name="Image 1" descr="preencoded.png"/>
          <p:cNvPicPr>
            <a:picLocks noChangeAspect="1"/>
          </p:cNvPicPr>
          <p:nvPr/>
        </p:nvPicPr>
        <p:blipFill>
          <a:blip r:embed="rId4"/>
          <a:stretch>
            <a:fillRect/>
          </a:stretch>
        </p:blipFill>
        <p:spPr>
          <a:xfrm>
            <a:off x="3516051" y="1595811"/>
            <a:ext cx="228234" cy="228234"/>
          </a:xfrm>
          <a:prstGeom prst="rect">
            <a:avLst/>
          </a:prstGeom>
        </p:spPr>
      </p:pic>
      <p:sp>
        <p:nvSpPr>
          <p:cNvPr id="25" name="Text 20"/>
          <p:cNvSpPr txBox="1"/>
          <p:nvPr/>
        </p:nvSpPr>
        <p:spPr>
          <a:xfrm>
            <a:off x="3959352" y="149047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Annoté par des experts</a:t>
            </a:r>
            <a:endParaRPr lang="en-US" sz="1350" dirty="0"/>
          </a:p>
        </p:txBody>
      </p:sp>
      <p:sp>
        <p:nvSpPr>
          <p:cNvPr id="26" name="Text 21"/>
          <p:cNvSpPr txBox="1"/>
          <p:nvPr/>
        </p:nvSpPr>
        <p:spPr>
          <a:xfrm>
            <a:off x="3410712" y="2039112"/>
            <a:ext cx="23317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Réponses de référence d’experts métier. Double codification, désaccords résolus avant notation.</a:t>
            </a:r>
            <a:endParaRPr lang="en-US" sz="1000" dirty="0"/>
          </a:p>
        </p:txBody>
      </p:sp>
      <p:sp>
        <p:nvSpPr>
          <p:cNvPr id="27" name="Shape 22"/>
          <p:cNvSpPr/>
          <p:nvPr/>
        </p:nvSpPr>
        <p:spPr>
          <a:xfrm>
            <a:off x="6035040" y="1325880"/>
            <a:ext cx="2651760" cy="1508760"/>
          </a:xfrm>
          <a:prstGeom prst="roundRect">
            <a:avLst>
              <a:gd name="adj" fmla="val 4848"/>
            </a:avLst>
          </a:prstGeom>
          <a:solidFill>
            <a:srgbClr val="F4F7F5"/>
          </a:solidFill>
          <a:ln w="9525">
            <a:solidFill>
              <a:srgbClr val="D5DED9"/>
            </a:solidFill>
            <a:prstDash val="solid"/>
          </a:ln>
        </p:spPr>
      </p:sp>
      <p:sp>
        <p:nvSpPr>
          <p:cNvPr id="28" name="Shape 23"/>
          <p:cNvSpPr/>
          <p:nvPr/>
        </p:nvSpPr>
        <p:spPr>
          <a:xfrm>
            <a:off x="6199632" y="1490472"/>
            <a:ext cx="438912" cy="438912"/>
          </a:xfrm>
          <a:prstGeom prst="ellipse">
            <a:avLst/>
          </a:prstGeom>
          <a:solidFill>
            <a:srgbClr val="00704A">
              <a:alpha val="22000"/>
            </a:srgbClr>
          </a:solidFill>
          <a:ln/>
        </p:spPr>
      </p:sp>
      <p:pic>
        <p:nvPicPr>
          <p:cNvPr id="29" name="Image 2" descr="preencoded.png"/>
          <p:cNvPicPr>
            <a:picLocks noChangeAspect="1"/>
          </p:cNvPicPr>
          <p:nvPr/>
        </p:nvPicPr>
        <p:blipFill>
          <a:blip r:embed="rId5"/>
          <a:stretch>
            <a:fillRect/>
          </a:stretch>
        </p:blipFill>
        <p:spPr>
          <a:xfrm>
            <a:off x="6304971" y="1595811"/>
            <a:ext cx="228234" cy="228234"/>
          </a:xfrm>
          <a:prstGeom prst="rect">
            <a:avLst/>
          </a:prstGeom>
        </p:spPr>
      </p:pic>
      <p:sp>
        <p:nvSpPr>
          <p:cNvPr id="30" name="Text 24"/>
          <p:cNvSpPr txBox="1"/>
          <p:nvPr/>
        </p:nvSpPr>
        <p:spPr>
          <a:xfrm>
            <a:off x="6748272" y="149047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Figé et versionné</a:t>
            </a:r>
            <a:endParaRPr lang="en-US" sz="1350" dirty="0"/>
          </a:p>
        </p:txBody>
      </p:sp>
      <p:sp>
        <p:nvSpPr>
          <p:cNvPr id="31" name="Text 25"/>
          <p:cNvSpPr txBox="1"/>
          <p:nvPr/>
        </p:nvSpPr>
        <p:spPr>
          <a:xfrm>
            <a:off x="6199632" y="2039112"/>
            <a:ext cx="23317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Aucun cas modifié une fois la notation lancée. Jeu stocké dans Git avec un numéro de version.</a:t>
            </a:r>
            <a:endParaRPr lang="en-US" sz="1000" dirty="0"/>
          </a:p>
        </p:txBody>
      </p:sp>
      <p:sp>
        <p:nvSpPr>
          <p:cNvPr id="32" name="Shape 26"/>
          <p:cNvSpPr/>
          <p:nvPr/>
        </p:nvSpPr>
        <p:spPr>
          <a:xfrm>
            <a:off x="1856232" y="2971800"/>
            <a:ext cx="2651760" cy="1508760"/>
          </a:xfrm>
          <a:prstGeom prst="roundRect">
            <a:avLst>
              <a:gd name="adj" fmla="val 4848"/>
            </a:avLst>
          </a:prstGeom>
          <a:solidFill>
            <a:srgbClr val="E8F5EF"/>
          </a:solidFill>
          <a:ln w="15875">
            <a:solidFill>
              <a:srgbClr val="00704A"/>
            </a:solidFill>
            <a:prstDash val="solid"/>
          </a:ln>
        </p:spPr>
      </p:sp>
      <p:sp>
        <p:nvSpPr>
          <p:cNvPr id="33" name="Shape 27"/>
          <p:cNvSpPr/>
          <p:nvPr/>
        </p:nvSpPr>
        <p:spPr>
          <a:xfrm>
            <a:off x="2020824" y="3136392"/>
            <a:ext cx="438912" cy="438912"/>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2126163" y="3241731"/>
            <a:ext cx="228234" cy="228234"/>
          </a:xfrm>
          <a:prstGeom prst="rect">
            <a:avLst/>
          </a:prstGeom>
        </p:spPr>
      </p:pic>
      <p:sp>
        <p:nvSpPr>
          <p:cNvPr id="35" name="Text 28"/>
          <p:cNvSpPr txBox="1"/>
          <p:nvPr/>
        </p:nvSpPr>
        <p:spPr>
          <a:xfrm>
            <a:off x="2569464" y="313639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Jamais dans le prompt</a:t>
            </a:r>
            <a:endParaRPr lang="en-US" sz="1350" dirty="0"/>
          </a:p>
        </p:txBody>
      </p:sp>
      <p:sp>
        <p:nvSpPr>
          <p:cNvPr id="36" name="Text 29"/>
          <p:cNvSpPr txBox="1"/>
          <p:nvPr/>
        </p:nvSpPr>
        <p:spPr>
          <a:xfrm>
            <a:off x="2020824" y="3685032"/>
            <a:ext cx="23317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exemples du prompt viennent d’un autre réservoir. Sinon, le modèle est noté sur les réponses fournies.</a:t>
            </a:r>
            <a:endParaRPr lang="en-US" sz="1000" dirty="0"/>
          </a:p>
        </p:txBody>
      </p:sp>
      <p:sp>
        <p:nvSpPr>
          <p:cNvPr id="37" name="Shape 30"/>
          <p:cNvSpPr/>
          <p:nvPr/>
        </p:nvSpPr>
        <p:spPr>
          <a:xfrm>
            <a:off x="4645152" y="2971800"/>
            <a:ext cx="2651760" cy="1508760"/>
          </a:xfrm>
          <a:prstGeom prst="roundRect">
            <a:avLst>
              <a:gd name="adj" fmla="val 4848"/>
            </a:avLst>
          </a:prstGeom>
          <a:solidFill>
            <a:srgbClr val="F4F7F5"/>
          </a:solidFill>
          <a:ln w="9525">
            <a:solidFill>
              <a:srgbClr val="D5DED9"/>
            </a:solidFill>
            <a:prstDash val="solid"/>
          </a:ln>
        </p:spPr>
      </p:sp>
      <p:sp>
        <p:nvSpPr>
          <p:cNvPr id="38" name="Shape 31"/>
          <p:cNvSpPr/>
          <p:nvPr/>
        </p:nvSpPr>
        <p:spPr>
          <a:xfrm>
            <a:off x="4809744" y="3136392"/>
            <a:ext cx="438912" cy="438912"/>
          </a:xfrm>
          <a:prstGeom prst="ellipse">
            <a:avLst/>
          </a:prstGeom>
          <a:solidFill>
            <a:srgbClr val="00704A">
              <a:alpha val="22000"/>
            </a:srgbClr>
          </a:solidFill>
          <a:ln/>
        </p:spPr>
      </p:sp>
      <p:pic>
        <p:nvPicPr>
          <p:cNvPr id="39" name="Image 4" descr="preencoded.png"/>
          <p:cNvPicPr>
            <a:picLocks noChangeAspect="1"/>
          </p:cNvPicPr>
          <p:nvPr/>
        </p:nvPicPr>
        <p:blipFill>
          <a:blip r:embed="rId7"/>
          <a:stretch>
            <a:fillRect/>
          </a:stretch>
        </p:blipFill>
        <p:spPr>
          <a:xfrm>
            <a:off x="4915083" y="3241731"/>
            <a:ext cx="228234" cy="228234"/>
          </a:xfrm>
          <a:prstGeom prst="rect">
            <a:avLst/>
          </a:prstGeom>
        </p:spPr>
      </p:pic>
      <p:sp>
        <p:nvSpPr>
          <p:cNvPr id="40" name="Text 32"/>
          <p:cNvSpPr txBox="1"/>
          <p:nvPr/>
        </p:nvSpPr>
        <p:spPr>
          <a:xfrm>
            <a:off x="5358384" y="313639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Nourri par les échecs</a:t>
            </a:r>
            <a:endParaRPr lang="en-US" sz="1350" dirty="0"/>
          </a:p>
        </p:txBody>
      </p:sp>
      <p:sp>
        <p:nvSpPr>
          <p:cNvPr id="41" name="Text 33"/>
          <p:cNvSpPr txBox="1"/>
          <p:nvPr/>
        </p:nvSpPr>
        <p:spPr>
          <a:xfrm>
            <a:off x="4809744" y="3685032"/>
            <a:ext cx="23317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Chaque erreur trouvée en production devient un nouveau cas dans la version suivante du jeu.</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 SUR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03</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Mesurer la qualité</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Mesurer, plutôt que ressentir.</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5C242"/>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12</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MESURER LA QUALITÉ</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Choisir la métrique adaptée à la tâche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0E7C86"/>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98448"/>
            <a:ext cx="8229600" cy="329184"/>
          </a:xfrm>
          <a:prstGeom prst="roundRect">
            <a:avLst>
              <a:gd name="adj" fmla="val 13889"/>
            </a:avLst>
          </a:prstGeom>
          <a:solidFill>
            <a:srgbClr val="0E7C86"/>
          </a:solidFill>
          <a:ln/>
        </p:spPr>
      </p:sp>
      <p:sp>
        <p:nvSpPr>
          <p:cNvPr id="18" name="Text 15"/>
          <p:cNvSpPr txBox="1"/>
          <p:nvPr/>
        </p:nvSpPr>
        <p:spPr>
          <a:xfrm>
            <a:off x="914400" y="1298448"/>
            <a:ext cx="146304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Type de tâche</a:t>
            </a:r>
            <a:endParaRPr lang="en-US" sz="1050" dirty="0"/>
          </a:p>
        </p:txBody>
      </p:sp>
      <p:sp>
        <p:nvSpPr>
          <p:cNvPr id="19" name="Text 16"/>
          <p:cNvSpPr txBox="1"/>
          <p:nvPr/>
        </p:nvSpPr>
        <p:spPr>
          <a:xfrm>
            <a:off x="2194560" y="1298448"/>
            <a:ext cx="214884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Exemple dans un INS</a:t>
            </a:r>
            <a:endParaRPr lang="en-US" sz="1050" dirty="0"/>
          </a:p>
        </p:txBody>
      </p:sp>
      <p:sp>
        <p:nvSpPr>
          <p:cNvPr id="20" name="Text 17"/>
          <p:cNvSpPr txBox="1"/>
          <p:nvPr/>
        </p:nvSpPr>
        <p:spPr>
          <a:xfrm>
            <a:off x="4526280" y="1298448"/>
            <a:ext cx="196596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Métrique</a:t>
            </a:r>
            <a:endParaRPr lang="en-US" sz="1050" dirty="0"/>
          </a:p>
        </p:txBody>
      </p:sp>
      <p:sp>
        <p:nvSpPr>
          <p:cNvPr id="21" name="Text 18"/>
          <p:cNvSpPr txBox="1"/>
          <p:nvPr/>
        </p:nvSpPr>
        <p:spPr>
          <a:xfrm>
            <a:off x="6675120" y="1298448"/>
            <a:ext cx="192024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Mode de notation</a:t>
            </a:r>
            <a:endParaRPr lang="en-US" sz="1050" dirty="0"/>
          </a:p>
        </p:txBody>
      </p:sp>
      <p:sp>
        <p:nvSpPr>
          <p:cNvPr id="22" name="Shape 19"/>
          <p:cNvSpPr/>
          <p:nvPr/>
        </p:nvSpPr>
        <p:spPr>
          <a:xfrm>
            <a:off x="457200" y="1691640"/>
            <a:ext cx="8229600" cy="484632"/>
          </a:xfrm>
          <a:prstGeom prst="roundRect">
            <a:avLst>
              <a:gd name="adj" fmla="val 15094"/>
            </a:avLst>
          </a:prstGeom>
          <a:solidFill>
            <a:srgbClr val="E8F5EF"/>
          </a:solidFill>
          <a:ln w="9525">
            <a:solidFill>
              <a:srgbClr val="D5DED9"/>
            </a:solidFill>
            <a:prstDash val="solid"/>
          </a:ln>
        </p:spPr>
      </p:sp>
      <p:sp>
        <p:nvSpPr>
          <p:cNvPr id="23" name="Shape 20"/>
          <p:cNvSpPr/>
          <p:nvPr/>
        </p:nvSpPr>
        <p:spPr>
          <a:xfrm>
            <a:off x="548640" y="1764792"/>
            <a:ext cx="338328" cy="338328"/>
          </a:xfrm>
          <a:prstGeom prst="ellipse">
            <a:avLst/>
          </a:prstGeom>
          <a:solidFill>
            <a:srgbClr val="0E7C86">
              <a:alpha val="22000"/>
            </a:srgbClr>
          </a:solidFill>
          <a:ln/>
        </p:spPr>
      </p:sp>
      <p:pic>
        <p:nvPicPr>
          <p:cNvPr id="24" name="Image 0" descr="preencoded.png"/>
          <p:cNvPicPr>
            <a:picLocks noChangeAspect="1"/>
          </p:cNvPicPr>
          <p:nvPr/>
        </p:nvPicPr>
        <p:blipFill>
          <a:blip r:embed="rId3"/>
          <a:stretch>
            <a:fillRect/>
          </a:stretch>
        </p:blipFill>
        <p:spPr>
          <a:xfrm>
            <a:off x="629839" y="1845991"/>
            <a:ext cx="175931" cy="175931"/>
          </a:xfrm>
          <a:prstGeom prst="rect">
            <a:avLst/>
          </a:prstGeom>
        </p:spPr>
      </p:pic>
      <p:sp>
        <p:nvSpPr>
          <p:cNvPr id="25" name="Text 21"/>
          <p:cNvSpPr txBox="1"/>
          <p:nvPr/>
        </p:nvSpPr>
        <p:spPr>
          <a:xfrm>
            <a:off x="960120" y="169164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Extraction</a:t>
            </a:r>
            <a:endParaRPr lang="en-US" sz="1150" dirty="0"/>
          </a:p>
        </p:txBody>
      </p:sp>
      <p:sp>
        <p:nvSpPr>
          <p:cNvPr id="26" name="Text 22"/>
          <p:cNvSpPr txBox="1"/>
          <p:nvPr/>
        </p:nvSpPr>
        <p:spPr>
          <a:xfrm>
            <a:off x="2194560" y="169164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Chiffres de l’IPC tirés d’un bulletin PDF</a:t>
            </a:r>
            <a:endParaRPr lang="en-US" sz="1050" dirty="0"/>
          </a:p>
        </p:txBody>
      </p:sp>
      <p:sp>
        <p:nvSpPr>
          <p:cNvPr id="27" name="Text 23"/>
          <p:cNvSpPr txBox="1"/>
          <p:nvPr/>
        </p:nvSpPr>
        <p:spPr>
          <a:xfrm>
            <a:off x="4526280" y="169164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Correspondance exacte par champ</a:t>
            </a:r>
            <a:endParaRPr lang="en-US" sz="1050" dirty="0"/>
          </a:p>
        </p:txBody>
      </p:sp>
      <p:sp>
        <p:nvSpPr>
          <p:cNvPr id="28" name="Text 24"/>
          <p:cNvSpPr txBox="1"/>
          <p:nvPr/>
        </p:nvSpPr>
        <p:spPr>
          <a:xfrm>
            <a:off x="6675120" y="169164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Automatique : script vs référence</a:t>
            </a:r>
            <a:endParaRPr lang="en-US" sz="1050" dirty="0"/>
          </a:p>
        </p:txBody>
      </p:sp>
      <p:sp>
        <p:nvSpPr>
          <p:cNvPr id="29" name="Shape 25"/>
          <p:cNvSpPr/>
          <p:nvPr/>
        </p:nvSpPr>
        <p:spPr>
          <a:xfrm>
            <a:off x="457200" y="2240280"/>
            <a:ext cx="8229600" cy="484632"/>
          </a:xfrm>
          <a:prstGeom prst="roundRect">
            <a:avLst>
              <a:gd name="adj" fmla="val 15094"/>
            </a:avLst>
          </a:prstGeom>
          <a:solidFill>
            <a:srgbClr val="E8F5EF"/>
          </a:solidFill>
          <a:ln w="9525">
            <a:solidFill>
              <a:srgbClr val="D5DED9"/>
            </a:solidFill>
            <a:prstDash val="solid"/>
          </a:ln>
        </p:spPr>
      </p:sp>
      <p:sp>
        <p:nvSpPr>
          <p:cNvPr id="30" name="Shape 26"/>
          <p:cNvSpPr/>
          <p:nvPr/>
        </p:nvSpPr>
        <p:spPr>
          <a:xfrm>
            <a:off x="548640" y="2313432"/>
            <a:ext cx="338328" cy="338328"/>
          </a:xfrm>
          <a:prstGeom prst="ellipse">
            <a:avLst/>
          </a:prstGeom>
          <a:solidFill>
            <a:srgbClr val="0E7C86">
              <a:alpha val="22000"/>
            </a:srgbClr>
          </a:solidFill>
          <a:ln/>
        </p:spPr>
      </p:sp>
      <p:pic>
        <p:nvPicPr>
          <p:cNvPr id="31" name="Image 1" descr="preencoded.png"/>
          <p:cNvPicPr>
            <a:picLocks noChangeAspect="1"/>
          </p:cNvPicPr>
          <p:nvPr/>
        </p:nvPicPr>
        <p:blipFill>
          <a:blip r:embed="rId4"/>
          <a:stretch>
            <a:fillRect/>
          </a:stretch>
        </p:blipFill>
        <p:spPr>
          <a:xfrm>
            <a:off x="629839" y="2394631"/>
            <a:ext cx="175931" cy="175931"/>
          </a:xfrm>
          <a:prstGeom prst="rect">
            <a:avLst/>
          </a:prstGeom>
        </p:spPr>
      </p:pic>
      <p:sp>
        <p:nvSpPr>
          <p:cNvPr id="32" name="Text 27"/>
          <p:cNvSpPr txBox="1"/>
          <p:nvPr/>
        </p:nvSpPr>
        <p:spPr>
          <a:xfrm>
            <a:off x="960120" y="224028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Codification</a:t>
            </a:r>
            <a:endParaRPr lang="en-US" sz="1150" dirty="0"/>
          </a:p>
        </p:txBody>
      </p:sp>
      <p:sp>
        <p:nvSpPr>
          <p:cNvPr id="33" name="Text 28"/>
          <p:cNvSpPr txBox="1"/>
          <p:nvPr/>
        </p:nvSpPr>
        <p:spPr>
          <a:xfrm>
            <a:off x="2194560" y="224028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Codification CITP, CITI ou COICOP de réponses d’enquête</a:t>
            </a:r>
            <a:endParaRPr lang="en-US" sz="1050" dirty="0"/>
          </a:p>
        </p:txBody>
      </p:sp>
      <p:sp>
        <p:nvSpPr>
          <p:cNvPr id="34" name="Text 29"/>
          <p:cNvSpPr txBox="1"/>
          <p:nvPr/>
        </p:nvSpPr>
        <p:spPr>
          <a:xfrm>
            <a:off x="4526280" y="224028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Exactitude + précision / rappel par classe</a:t>
            </a:r>
            <a:endParaRPr lang="en-US" sz="1050" dirty="0"/>
          </a:p>
        </p:txBody>
      </p:sp>
      <p:sp>
        <p:nvSpPr>
          <p:cNvPr id="35" name="Text 30"/>
          <p:cNvSpPr txBox="1"/>
          <p:nvPr/>
        </p:nvSpPr>
        <p:spPr>
          <a:xfrm>
            <a:off x="6675120" y="224028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Automatique + matrice de confusion</a:t>
            </a:r>
            <a:endParaRPr lang="en-US" sz="1050" dirty="0"/>
          </a:p>
        </p:txBody>
      </p:sp>
      <p:sp>
        <p:nvSpPr>
          <p:cNvPr id="36" name="Shape 31"/>
          <p:cNvSpPr/>
          <p:nvPr/>
        </p:nvSpPr>
        <p:spPr>
          <a:xfrm>
            <a:off x="457200" y="2788920"/>
            <a:ext cx="8229600" cy="484632"/>
          </a:xfrm>
          <a:prstGeom prst="roundRect">
            <a:avLst>
              <a:gd name="adj" fmla="val 15094"/>
            </a:avLst>
          </a:prstGeom>
          <a:solidFill>
            <a:srgbClr val="E8F5EF"/>
          </a:solidFill>
          <a:ln w="9525">
            <a:solidFill>
              <a:srgbClr val="D5DED9"/>
            </a:solidFill>
            <a:prstDash val="solid"/>
          </a:ln>
        </p:spPr>
      </p:sp>
      <p:sp>
        <p:nvSpPr>
          <p:cNvPr id="37" name="Shape 32"/>
          <p:cNvSpPr/>
          <p:nvPr/>
        </p:nvSpPr>
        <p:spPr>
          <a:xfrm>
            <a:off x="548640" y="2862072"/>
            <a:ext cx="338328" cy="338328"/>
          </a:xfrm>
          <a:prstGeom prst="ellipse">
            <a:avLst/>
          </a:prstGeom>
          <a:solidFill>
            <a:srgbClr val="0E7C86">
              <a:alpha val="22000"/>
            </a:srgbClr>
          </a:solidFill>
          <a:ln/>
        </p:spPr>
      </p:sp>
      <p:pic>
        <p:nvPicPr>
          <p:cNvPr id="38" name="Image 2" descr="preencoded.png"/>
          <p:cNvPicPr>
            <a:picLocks noChangeAspect="1"/>
          </p:cNvPicPr>
          <p:nvPr/>
        </p:nvPicPr>
        <p:blipFill>
          <a:blip r:embed="rId5"/>
          <a:stretch>
            <a:fillRect/>
          </a:stretch>
        </p:blipFill>
        <p:spPr>
          <a:xfrm>
            <a:off x="629839" y="2943271"/>
            <a:ext cx="175931" cy="175931"/>
          </a:xfrm>
          <a:prstGeom prst="rect">
            <a:avLst/>
          </a:prstGeom>
        </p:spPr>
      </p:pic>
      <p:sp>
        <p:nvSpPr>
          <p:cNvPr id="39" name="Text 33"/>
          <p:cNvSpPr txBox="1"/>
          <p:nvPr/>
        </p:nvSpPr>
        <p:spPr>
          <a:xfrm>
            <a:off x="960120" y="278892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Sortie structurée</a:t>
            </a:r>
            <a:endParaRPr lang="en-US" sz="1150" dirty="0"/>
          </a:p>
        </p:txBody>
      </p:sp>
      <p:sp>
        <p:nvSpPr>
          <p:cNvPr id="40" name="Text 34"/>
          <p:cNvSpPr txBox="1"/>
          <p:nvPr/>
        </p:nvSpPr>
        <p:spPr>
          <a:xfrm>
            <a:off x="2194560" y="278892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JSON alimentant un tableau de bord public</a:t>
            </a:r>
            <a:endParaRPr lang="en-US" sz="1050" dirty="0"/>
          </a:p>
        </p:txBody>
      </p:sp>
      <p:sp>
        <p:nvSpPr>
          <p:cNvPr id="41" name="Text 35"/>
          <p:cNvSpPr txBox="1"/>
          <p:nvPr/>
        </p:nvSpPr>
        <p:spPr>
          <a:xfrm>
            <a:off x="4526280" y="278892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Taux de validité du schéma</a:t>
            </a:r>
            <a:endParaRPr lang="en-US" sz="1050" dirty="0"/>
          </a:p>
        </p:txBody>
      </p:sp>
      <p:sp>
        <p:nvSpPr>
          <p:cNvPr id="42" name="Text 36"/>
          <p:cNvSpPr txBox="1"/>
          <p:nvPr/>
        </p:nvSpPr>
        <p:spPr>
          <a:xfrm>
            <a:off x="6675120" y="278892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Automatique : validateur JSON Schema</a:t>
            </a:r>
            <a:endParaRPr lang="en-US" sz="1050" dirty="0"/>
          </a:p>
        </p:txBody>
      </p:sp>
      <p:sp>
        <p:nvSpPr>
          <p:cNvPr id="43" name="Shape 37"/>
          <p:cNvSpPr/>
          <p:nvPr/>
        </p:nvSpPr>
        <p:spPr>
          <a:xfrm>
            <a:off x="457200" y="3337560"/>
            <a:ext cx="8229600" cy="484632"/>
          </a:xfrm>
          <a:prstGeom prst="roundRect">
            <a:avLst>
              <a:gd name="adj" fmla="val 15094"/>
            </a:avLst>
          </a:prstGeom>
          <a:solidFill>
            <a:srgbClr val="F4F7F5"/>
          </a:solidFill>
          <a:ln w="9525">
            <a:solidFill>
              <a:srgbClr val="D5DED9"/>
            </a:solidFill>
            <a:prstDash val="solid"/>
          </a:ln>
        </p:spPr>
      </p:sp>
      <p:sp>
        <p:nvSpPr>
          <p:cNvPr id="44" name="Shape 38"/>
          <p:cNvSpPr/>
          <p:nvPr/>
        </p:nvSpPr>
        <p:spPr>
          <a:xfrm>
            <a:off x="548640" y="3410712"/>
            <a:ext cx="338328" cy="338328"/>
          </a:xfrm>
          <a:prstGeom prst="ellipse">
            <a:avLst/>
          </a:prstGeom>
          <a:solidFill>
            <a:srgbClr val="0E7C86">
              <a:alpha val="22000"/>
            </a:srgbClr>
          </a:solidFill>
          <a:ln/>
        </p:spPr>
      </p:sp>
      <p:pic>
        <p:nvPicPr>
          <p:cNvPr id="45" name="Image 3" descr="preencoded.png"/>
          <p:cNvPicPr>
            <a:picLocks noChangeAspect="1"/>
          </p:cNvPicPr>
          <p:nvPr/>
        </p:nvPicPr>
        <p:blipFill>
          <a:blip r:embed="rId6"/>
          <a:stretch>
            <a:fillRect/>
          </a:stretch>
        </p:blipFill>
        <p:spPr>
          <a:xfrm>
            <a:off x="629839" y="3491911"/>
            <a:ext cx="175931" cy="175931"/>
          </a:xfrm>
          <a:prstGeom prst="rect">
            <a:avLst/>
          </a:prstGeom>
        </p:spPr>
      </p:pic>
      <p:sp>
        <p:nvSpPr>
          <p:cNvPr id="46" name="Text 39"/>
          <p:cNvSpPr txBox="1"/>
          <p:nvPr/>
        </p:nvSpPr>
        <p:spPr>
          <a:xfrm>
            <a:off x="960120" y="333756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Q&amp;R ancrées (RAG)</a:t>
            </a:r>
            <a:endParaRPr lang="en-US" sz="1150" dirty="0"/>
          </a:p>
        </p:txBody>
      </p:sp>
      <p:sp>
        <p:nvSpPr>
          <p:cNvPr id="47" name="Text 40"/>
          <p:cNvSpPr txBox="1"/>
          <p:nvPr/>
        </p:nvSpPr>
        <p:spPr>
          <a:xfrm>
            <a:off x="2194560" y="333756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Questions sur les notes méthodologiques</a:t>
            </a:r>
            <a:endParaRPr lang="en-US" sz="1050" dirty="0"/>
          </a:p>
        </p:txBody>
      </p:sp>
      <p:sp>
        <p:nvSpPr>
          <p:cNvPr id="48" name="Text 41"/>
          <p:cNvSpPr txBox="1"/>
          <p:nvPr/>
        </p:nvSpPr>
        <p:spPr>
          <a:xfrm>
            <a:off x="4526280" y="333756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Fidélité, exactitude des citations</a:t>
            </a:r>
            <a:endParaRPr lang="en-US" sz="1050" dirty="0"/>
          </a:p>
        </p:txBody>
      </p:sp>
      <p:sp>
        <p:nvSpPr>
          <p:cNvPr id="49" name="Text 42"/>
          <p:cNvSpPr txBox="1"/>
          <p:nvPr/>
        </p:nvSpPr>
        <p:spPr>
          <a:xfrm>
            <a:off x="6675120" y="333756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Grille : humain ou juge calibré</a:t>
            </a:r>
            <a:endParaRPr lang="en-US" sz="1050" dirty="0"/>
          </a:p>
        </p:txBody>
      </p:sp>
      <p:sp>
        <p:nvSpPr>
          <p:cNvPr id="50" name="Shape 43"/>
          <p:cNvSpPr/>
          <p:nvPr/>
        </p:nvSpPr>
        <p:spPr>
          <a:xfrm>
            <a:off x="457200" y="3886200"/>
            <a:ext cx="8229600" cy="484632"/>
          </a:xfrm>
          <a:prstGeom prst="roundRect">
            <a:avLst>
              <a:gd name="adj" fmla="val 15094"/>
            </a:avLst>
          </a:prstGeom>
          <a:solidFill>
            <a:srgbClr val="F4F7F5"/>
          </a:solidFill>
          <a:ln w="9525">
            <a:solidFill>
              <a:srgbClr val="D5DED9"/>
            </a:solidFill>
            <a:prstDash val="solid"/>
          </a:ln>
        </p:spPr>
      </p:sp>
      <p:sp>
        <p:nvSpPr>
          <p:cNvPr id="51" name="Shape 44"/>
          <p:cNvSpPr/>
          <p:nvPr/>
        </p:nvSpPr>
        <p:spPr>
          <a:xfrm>
            <a:off x="548640" y="3959352"/>
            <a:ext cx="338328" cy="338328"/>
          </a:xfrm>
          <a:prstGeom prst="ellipse">
            <a:avLst/>
          </a:prstGeom>
          <a:solidFill>
            <a:srgbClr val="0E7C86">
              <a:alpha val="22000"/>
            </a:srgbClr>
          </a:solidFill>
          <a:ln/>
        </p:spPr>
      </p:sp>
      <p:pic>
        <p:nvPicPr>
          <p:cNvPr id="52" name="Image 4" descr="preencoded.png"/>
          <p:cNvPicPr>
            <a:picLocks noChangeAspect="1"/>
          </p:cNvPicPr>
          <p:nvPr/>
        </p:nvPicPr>
        <p:blipFill>
          <a:blip r:embed="rId7"/>
          <a:stretch>
            <a:fillRect/>
          </a:stretch>
        </p:blipFill>
        <p:spPr>
          <a:xfrm>
            <a:off x="629839" y="4040551"/>
            <a:ext cx="175931" cy="175931"/>
          </a:xfrm>
          <a:prstGeom prst="rect">
            <a:avLst/>
          </a:prstGeom>
        </p:spPr>
      </p:pic>
      <p:sp>
        <p:nvSpPr>
          <p:cNvPr id="53" name="Text 45"/>
          <p:cNvSpPr txBox="1"/>
          <p:nvPr/>
        </p:nvSpPr>
        <p:spPr>
          <a:xfrm>
            <a:off x="960120" y="388620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Rédaction</a:t>
            </a:r>
            <a:endParaRPr lang="en-US" sz="1150" dirty="0"/>
          </a:p>
        </p:txBody>
      </p:sp>
      <p:sp>
        <p:nvSpPr>
          <p:cNvPr id="54" name="Text 46"/>
          <p:cNvSpPr txBox="1"/>
          <p:nvPr/>
        </p:nvSpPr>
        <p:spPr>
          <a:xfrm>
            <a:off x="2194560" y="388620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Communiqué, note méthodologique</a:t>
            </a:r>
            <a:endParaRPr lang="en-US" sz="1050" dirty="0"/>
          </a:p>
        </p:txBody>
      </p:sp>
      <p:sp>
        <p:nvSpPr>
          <p:cNvPr id="55" name="Text 47"/>
          <p:cNvSpPr txBox="1"/>
          <p:nvPr/>
        </p:nvSpPr>
        <p:spPr>
          <a:xfrm>
            <a:off x="4526280" y="388620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Grille 1–5 : exactitude, complétude, ton, longueur</a:t>
            </a:r>
            <a:endParaRPr lang="en-US" sz="1050" dirty="0"/>
          </a:p>
        </p:txBody>
      </p:sp>
      <p:sp>
        <p:nvSpPr>
          <p:cNvPr id="56" name="Text 48"/>
          <p:cNvSpPr txBox="1"/>
          <p:nvPr/>
        </p:nvSpPr>
        <p:spPr>
          <a:xfrm>
            <a:off x="6675120" y="388620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Relecteurs humains, juge calibré</a:t>
            </a:r>
            <a:endParaRPr lang="en-US" sz="1050" dirty="0"/>
          </a:p>
        </p:txBody>
      </p:sp>
      <p:sp>
        <p:nvSpPr>
          <p:cNvPr id="57" name="Shape 49"/>
          <p:cNvSpPr/>
          <p:nvPr/>
        </p:nvSpPr>
        <p:spPr>
          <a:xfrm>
            <a:off x="457200" y="4507992"/>
            <a:ext cx="164592" cy="118872"/>
          </a:xfrm>
          <a:prstGeom prst="rect">
            <a:avLst/>
          </a:prstGeom>
          <a:solidFill>
            <a:srgbClr val="E8F5EF"/>
          </a:solidFill>
          <a:ln w="6350">
            <a:solidFill>
              <a:srgbClr val="D5DED9"/>
            </a:solidFill>
            <a:prstDash val="solid"/>
          </a:ln>
        </p:spPr>
      </p:sp>
      <p:sp>
        <p:nvSpPr>
          <p:cNvPr id="58" name="Text 50"/>
          <p:cNvSpPr txBox="1"/>
          <p:nvPr/>
        </p:nvSpPr>
        <p:spPr>
          <a:xfrm>
            <a:off x="685800" y="4480560"/>
            <a:ext cx="54864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Lignes vertes : notation entièrement automatique, peu coûteuse et objective. Commencez par là.</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MESURER LA QUALITÉ</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 tableau de scores pour chaque version</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0E7C86"/>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graphicFrame>
        <p:nvGraphicFramePr>
          <p:cNvPr id="17" name="Chart 0"/>
          <p:cNvGraphicFramePr/>
          <p:nvPr/>
        </p:nvGraphicFramePr>
        <p:xfrm>
          <a:off x="457200" y="1325880"/>
          <a:ext cx="420624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4892040" y="1325880"/>
            <a:ext cx="3794760" cy="3154680"/>
          </a:xfrm>
          <a:prstGeom prst="roundRect">
            <a:avLst>
              <a:gd name="adj" fmla="val 2319"/>
            </a:avLst>
          </a:prstGeom>
          <a:solidFill>
            <a:srgbClr val="F4F7F5"/>
          </a:solidFill>
          <a:ln w="9525">
            <a:solidFill>
              <a:srgbClr val="D5DED9"/>
            </a:solidFill>
            <a:prstDash val="solid"/>
          </a:ln>
        </p:spPr>
      </p:sp>
      <p:sp>
        <p:nvSpPr>
          <p:cNvPr id="19" name="Text 15"/>
          <p:cNvSpPr txBox="1"/>
          <p:nvPr/>
        </p:nvSpPr>
        <p:spPr>
          <a:xfrm>
            <a:off x="5029200" y="1417320"/>
            <a:ext cx="2743200" cy="201168"/>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JOURNAL DES ITÉRATIONS</a:t>
            </a:r>
            <a:endParaRPr lang="en-US" sz="1000" dirty="0"/>
          </a:p>
        </p:txBody>
      </p:sp>
      <p:sp>
        <p:nvSpPr>
          <p:cNvPr id="20" name="Text 16"/>
          <p:cNvSpPr txBox="1"/>
          <p:nvPr/>
        </p:nvSpPr>
        <p:spPr>
          <a:xfrm>
            <a:off x="5029200" y="1719072"/>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v0</a:t>
            </a:r>
            <a:endParaRPr lang="en-US" sz="1100" dirty="0"/>
          </a:p>
        </p:txBody>
      </p:sp>
      <p:sp>
        <p:nvSpPr>
          <p:cNvPr id="21" name="Text 17"/>
          <p:cNvSpPr txBox="1"/>
          <p:nvPr/>
        </p:nvSpPr>
        <p:spPr>
          <a:xfrm>
            <a:off x="5440680" y="1719072"/>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Base : prompt de ce matin</a:t>
            </a:r>
            <a:endParaRPr lang="en-US" sz="1000" dirty="0"/>
          </a:p>
        </p:txBody>
      </p:sp>
      <p:sp>
        <p:nvSpPr>
          <p:cNvPr id="22" name="Text 18"/>
          <p:cNvSpPr txBox="1"/>
          <p:nvPr/>
        </p:nvSpPr>
        <p:spPr>
          <a:xfrm>
            <a:off x="7406640" y="1719072"/>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62%</a:t>
            </a:r>
            <a:endParaRPr lang="en-US" sz="1100" dirty="0"/>
          </a:p>
        </p:txBody>
      </p:sp>
      <p:sp>
        <p:nvSpPr>
          <p:cNvPr id="23" name="Shape 19"/>
          <p:cNvSpPr/>
          <p:nvPr/>
        </p:nvSpPr>
        <p:spPr>
          <a:xfrm>
            <a:off x="7973568" y="1792224"/>
            <a:ext cx="603504" cy="219456"/>
          </a:xfrm>
          <a:prstGeom prst="roundRect">
            <a:avLst>
              <a:gd name="adj" fmla="val 54167"/>
            </a:avLst>
          </a:prstGeom>
          <a:solidFill>
            <a:srgbClr val="5E6964">
              <a:alpha val="15000"/>
            </a:srgbClr>
          </a:solidFill>
          <a:ln w="9525">
            <a:solidFill>
              <a:srgbClr val="5E6964"/>
            </a:solidFill>
            <a:prstDash val="solid"/>
          </a:ln>
        </p:spPr>
      </p:sp>
      <p:sp>
        <p:nvSpPr>
          <p:cNvPr id="24" name="Text 20"/>
          <p:cNvSpPr txBox="1"/>
          <p:nvPr/>
        </p:nvSpPr>
        <p:spPr>
          <a:xfrm>
            <a:off x="7973568" y="1792224"/>
            <a:ext cx="603504" cy="219456"/>
          </a:xfrm>
          <a:prstGeom prst="rect">
            <a:avLst/>
          </a:prstGeom>
          <a:noFill/>
          <a:ln/>
        </p:spPr>
        <p:txBody>
          <a:bodyPr wrap="square" lIns="0" tIns="0" rIns="0" bIns="0" rtlCol="0" anchor="ctr"/>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BASE</a:t>
            </a:r>
            <a:endParaRPr lang="en-US" sz="900" dirty="0"/>
          </a:p>
        </p:txBody>
      </p:sp>
      <p:sp>
        <p:nvSpPr>
          <p:cNvPr id="25" name="Shape 21"/>
          <p:cNvSpPr/>
          <p:nvPr/>
        </p:nvSpPr>
        <p:spPr>
          <a:xfrm>
            <a:off x="5029200" y="2121408"/>
            <a:ext cx="3520440" cy="0"/>
          </a:xfrm>
          <a:prstGeom prst="line">
            <a:avLst/>
          </a:prstGeom>
          <a:noFill/>
          <a:ln w="6350">
            <a:solidFill>
              <a:srgbClr val="D5DED9"/>
            </a:solidFill>
            <a:prstDash val="solid"/>
          </a:ln>
        </p:spPr>
      </p:sp>
      <p:sp>
        <p:nvSpPr>
          <p:cNvPr id="26" name="Text 22"/>
          <p:cNvSpPr txBox="1"/>
          <p:nvPr/>
        </p:nvSpPr>
        <p:spPr>
          <a:xfrm>
            <a:off x="5029200" y="2148840"/>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v1</a:t>
            </a:r>
            <a:endParaRPr lang="en-US" sz="1100" dirty="0"/>
          </a:p>
        </p:txBody>
      </p:sp>
      <p:sp>
        <p:nvSpPr>
          <p:cNvPr id="27" name="Text 23"/>
          <p:cNvSpPr txBox="1"/>
          <p:nvPr/>
        </p:nvSpPr>
        <p:spPr>
          <a:xfrm>
            <a:off x="5440680" y="2148840"/>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Règle « coder l’emploi principal »</a:t>
            </a:r>
            <a:endParaRPr lang="en-US" sz="1000" dirty="0"/>
          </a:p>
        </p:txBody>
      </p:sp>
      <p:sp>
        <p:nvSpPr>
          <p:cNvPr id="28" name="Text 24"/>
          <p:cNvSpPr txBox="1"/>
          <p:nvPr/>
        </p:nvSpPr>
        <p:spPr>
          <a:xfrm>
            <a:off x="7406640" y="2148840"/>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71%</a:t>
            </a:r>
            <a:endParaRPr lang="en-US" sz="1100" dirty="0"/>
          </a:p>
        </p:txBody>
      </p:sp>
      <p:sp>
        <p:nvSpPr>
          <p:cNvPr id="29" name="Shape 25"/>
          <p:cNvSpPr/>
          <p:nvPr/>
        </p:nvSpPr>
        <p:spPr>
          <a:xfrm>
            <a:off x="7973568" y="2221992"/>
            <a:ext cx="603504" cy="219456"/>
          </a:xfrm>
          <a:prstGeom prst="roundRect">
            <a:avLst>
              <a:gd name="adj" fmla="val 54167"/>
            </a:avLst>
          </a:prstGeom>
          <a:solidFill>
            <a:srgbClr val="00A86A">
              <a:alpha val="15000"/>
            </a:srgbClr>
          </a:solidFill>
          <a:ln w="9525">
            <a:solidFill>
              <a:srgbClr val="00A86A"/>
            </a:solidFill>
            <a:prstDash val="solid"/>
          </a:ln>
        </p:spPr>
      </p:sp>
      <p:sp>
        <p:nvSpPr>
          <p:cNvPr id="30" name="Text 26"/>
          <p:cNvSpPr txBox="1"/>
          <p:nvPr/>
        </p:nvSpPr>
        <p:spPr>
          <a:xfrm>
            <a:off x="7973568" y="2221992"/>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RETENU</a:t>
            </a:r>
            <a:endParaRPr lang="en-US" sz="900" dirty="0"/>
          </a:p>
        </p:txBody>
      </p:sp>
      <p:sp>
        <p:nvSpPr>
          <p:cNvPr id="31" name="Shape 27"/>
          <p:cNvSpPr/>
          <p:nvPr/>
        </p:nvSpPr>
        <p:spPr>
          <a:xfrm>
            <a:off x="5029200" y="2551176"/>
            <a:ext cx="3520440" cy="0"/>
          </a:xfrm>
          <a:prstGeom prst="line">
            <a:avLst/>
          </a:prstGeom>
          <a:noFill/>
          <a:ln w="6350">
            <a:solidFill>
              <a:srgbClr val="D5DED9"/>
            </a:solidFill>
            <a:prstDash val="solid"/>
          </a:ln>
        </p:spPr>
      </p:sp>
      <p:sp>
        <p:nvSpPr>
          <p:cNvPr id="32" name="Text 28"/>
          <p:cNvSpPr txBox="1"/>
          <p:nvPr/>
        </p:nvSpPr>
        <p:spPr>
          <a:xfrm>
            <a:off x="5029200" y="2578608"/>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v2</a:t>
            </a:r>
            <a:endParaRPr lang="en-US" sz="1100" dirty="0"/>
          </a:p>
        </p:txBody>
      </p:sp>
      <p:sp>
        <p:nvSpPr>
          <p:cNvPr id="33" name="Text 29"/>
          <p:cNvSpPr txBox="1"/>
          <p:nvPr/>
        </p:nvSpPr>
        <p:spPr>
          <a:xfrm>
            <a:off x="5440680" y="2578608"/>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Ajout de 3 exemples de cas limites</a:t>
            </a:r>
            <a:endParaRPr lang="en-US" sz="1000" dirty="0"/>
          </a:p>
        </p:txBody>
      </p:sp>
      <p:sp>
        <p:nvSpPr>
          <p:cNvPr id="34" name="Text 30"/>
          <p:cNvSpPr txBox="1"/>
          <p:nvPr/>
        </p:nvSpPr>
        <p:spPr>
          <a:xfrm>
            <a:off x="7406640" y="2578608"/>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80%</a:t>
            </a:r>
            <a:endParaRPr lang="en-US" sz="1100" dirty="0"/>
          </a:p>
        </p:txBody>
      </p:sp>
      <p:sp>
        <p:nvSpPr>
          <p:cNvPr id="35" name="Shape 31"/>
          <p:cNvSpPr/>
          <p:nvPr/>
        </p:nvSpPr>
        <p:spPr>
          <a:xfrm>
            <a:off x="7973568" y="2651760"/>
            <a:ext cx="603504" cy="219456"/>
          </a:xfrm>
          <a:prstGeom prst="roundRect">
            <a:avLst>
              <a:gd name="adj" fmla="val 54167"/>
            </a:avLst>
          </a:prstGeom>
          <a:solidFill>
            <a:srgbClr val="00A86A">
              <a:alpha val="15000"/>
            </a:srgbClr>
          </a:solidFill>
          <a:ln w="9525">
            <a:solidFill>
              <a:srgbClr val="00A86A"/>
            </a:solidFill>
            <a:prstDash val="solid"/>
          </a:ln>
        </p:spPr>
      </p:sp>
      <p:sp>
        <p:nvSpPr>
          <p:cNvPr id="36" name="Text 32"/>
          <p:cNvSpPr txBox="1"/>
          <p:nvPr/>
        </p:nvSpPr>
        <p:spPr>
          <a:xfrm>
            <a:off x="7973568" y="2651760"/>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RETENU</a:t>
            </a:r>
            <a:endParaRPr lang="en-US" sz="900" dirty="0"/>
          </a:p>
        </p:txBody>
      </p:sp>
      <p:sp>
        <p:nvSpPr>
          <p:cNvPr id="37" name="Shape 33"/>
          <p:cNvSpPr/>
          <p:nvPr/>
        </p:nvSpPr>
        <p:spPr>
          <a:xfrm>
            <a:off x="5029200" y="2980944"/>
            <a:ext cx="3520440" cy="0"/>
          </a:xfrm>
          <a:prstGeom prst="line">
            <a:avLst/>
          </a:prstGeom>
          <a:noFill/>
          <a:ln w="6350">
            <a:solidFill>
              <a:srgbClr val="D5DED9"/>
            </a:solidFill>
            <a:prstDash val="solid"/>
          </a:ln>
        </p:spPr>
      </p:sp>
      <p:sp>
        <p:nvSpPr>
          <p:cNvPr id="38" name="Text 34"/>
          <p:cNvSpPr txBox="1"/>
          <p:nvPr/>
        </p:nvSpPr>
        <p:spPr>
          <a:xfrm>
            <a:off x="5029200" y="3008376"/>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v2b</a:t>
            </a:r>
            <a:endParaRPr lang="en-US" sz="1100" dirty="0"/>
          </a:p>
        </p:txBody>
      </p:sp>
      <p:sp>
        <p:nvSpPr>
          <p:cNvPr id="39" name="Text 35"/>
          <p:cNvSpPr txBox="1"/>
          <p:nvPr/>
        </p:nvSpPr>
        <p:spPr>
          <a:xfrm>
            <a:off x="5440680" y="3008376"/>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Ajout de 15 règles supplémentaires</a:t>
            </a:r>
            <a:endParaRPr lang="en-US" sz="1000" dirty="0"/>
          </a:p>
        </p:txBody>
      </p:sp>
      <p:sp>
        <p:nvSpPr>
          <p:cNvPr id="40" name="Text 36"/>
          <p:cNvSpPr txBox="1"/>
          <p:nvPr/>
        </p:nvSpPr>
        <p:spPr>
          <a:xfrm>
            <a:off x="7406640" y="3008376"/>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76%</a:t>
            </a:r>
            <a:endParaRPr lang="en-US" sz="1100" dirty="0"/>
          </a:p>
        </p:txBody>
      </p:sp>
      <p:sp>
        <p:nvSpPr>
          <p:cNvPr id="41" name="Shape 37"/>
          <p:cNvSpPr/>
          <p:nvPr/>
        </p:nvSpPr>
        <p:spPr>
          <a:xfrm>
            <a:off x="7973568" y="3081528"/>
            <a:ext cx="603504" cy="219456"/>
          </a:xfrm>
          <a:prstGeom prst="roundRect">
            <a:avLst>
              <a:gd name="adj" fmla="val 54167"/>
            </a:avLst>
          </a:prstGeom>
          <a:solidFill>
            <a:srgbClr val="B83B2E">
              <a:alpha val="15000"/>
            </a:srgbClr>
          </a:solidFill>
          <a:ln w="9525">
            <a:solidFill>
              <a:srgbClr val="B83B2E"/>
            </a:solidFill>
            <a:prstDash val="solid"/>
          </a:ln>
        </p:spPr>
      </p:sp>
      <p:sp>
        <p:nvSpPr>
          <p:cNvPr id="42" name="Text 38"/>
          <p:cNvSpPr txBox="1"/>
          <p:nvPr/>
        </p:nvSpPr>
        <p:spPr>
          <a:xfrm>
            <a:off x="7973568" y="3081528"/>
            <a:ext cx="603504" cy="219456"/>
          </a:xfrm>
          <a:prstGeom prst="rect">
            <a:avLst/>
          </a:prstGeom>
          <a:noFill/>
          <a:ln/>
        </p:spPr>
        <p:txBody>
          <a:bodyPr wrap="square" lIns="0" tIns="0" rIns="0" bIns="0" rtlCol="0" anchor="ctr"/>
          <a:lstStyle/>
          <a:p>
            <a:pPr marL="0" indent="0" algn="ctr">
              <a:buNone/>
            </a:pPr>
            <a:r>
              <a:rPr lang="en-US" sz="900" b="1" kern="0" spc="100" dirty="0">
                <a:solidFill>
                  <a:srgbClr val="B83B2E"/>
                </a:solidFill>
                <a:latin typeface="Calibri" pitchFamily="34" charset="0"/>
                <a:ea typeface="Calibri" pitchFamily="34" charset="-122"/>
                <a:cs typeface="Calibri" pitchFamily="34" charset="-120"/>
              </a:rPr>
              <a:t>REJETÉ</a:t>
            </a:r>
            <a:endParaRPr lang="en-US" sz="900" dirty="0"/>
          </a:p>
        </p:txBody>
      </p:sp>
      <p:sp>
        <p:nvSpPr>
          <p:cNvPr id="43" name="Shape 39"/>
          <p:cNvSpPr/>
          <p:nvPr/>
        </p:nvSpPr>
        <p:spPr>
          <a:xfrm>
            <a:off x="5029200" y="3410712"/>
            <a:ext cx="3520440" cy="0"/>
          </a:xfrm>
          <a:prstGeom prst="line">
            <a:avLst/>
          </a:prstGeom>
          <a:noFill/>
          <a:ln w="6350">
            <a:solidFill>
              <a:srgbClr val="D5DED9"/>
            </a:solidFill>
            <a:prstDash val="solid"/>
          </a:ln>
        </p:spPr>
      </p:sp>
      <p:sp>
        <p:nvSpPr>
          <p:cNvPr id="44" name="Text 40"/>
          <p:cNvSpPr txBox="1"/>
          <p:nvPr/>
        </p:nvSpPr>
        <p:spPr>
          <a:xfrm>
            <a:off x="5029200" y="3438144"/>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v3</a:t>
            </a:r>
            <a:endParaRPr lang="en-US" sz="1100" dirty="0"/>
          </a:p>
        </p:txBody>
      </p:sp>
      <p:sp>
        <p:nvSpPr>
          <p:cNvPr id="45" name="Text 41"/>
          <p:cNvSpPr txBox="1"/>
          <p:nvPr/>
        </p:nvSpPr>
        <p:spPr>
          <a:xfrm>
            <a:off x="5440680" y="3438144"/>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Schéma JSON imposé</a:t>
            </a:r>
            <a:endParaRPr lang="en-US" sz="1000" dirty="0"/>
          </a:p>
        </p:txBody>
      </p:sp>
      <p:sp>
        <p:nvSpPr>
          <p:cNvPr id="46" name="Text 42"/>
          <p:cNvSpPr txBox="1"/>
          <p:nvPr/>
        </p:nvSpPr>
        <p:spPr>
          <a:xfrm>
            <a:off x="7406640" y="3438144"/>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84%</a:t>
            </a:r>
            <a:endParaRPr lang="en-US" sz="1100" dirty="0"/>
          </a:p>
        </p:txBody>
      </p:sp>
      <p:sp>
        <p:nvSpPr>
          <p:cNvPr id="47" name="Shape 43"/>
          <p:cNvSpPr/>
          <p:nvPr/>
        </p:nvSpPr>
        <p:spPr>
          <a:xfrm>
            <a:off x="7973568" y="3511296"/>
            <a:ext cx="603504" cy="219456"/>
          </a:xfrm>
          <a:prstGeom prst="roundRect">
            <a:avLst>
              <a:gd name="adj" fmla="val 54167"/>
            </a:avLst>
          </a:prstGeom>
          <a:solidFill>
            <a:srgbClr val="00A86A">
              <a:alpha val="15000"/>
            </a:srgbClr>
          </a:solidFill>
          <a:ln w="9525">
            <a:solidFill>
              <a:srgbClr val="00A86A"/>
            </a:solidFill>
            <a:prstDash val="solid"/>
          </a:ln>
        </p:spPr>
      </p:sp>
      <p:sp>
        <p:nvSpPr>
          <p:cNvPr id="48" name="Text 44"/>
          <p:cNvSpPr txBox="1"/>
          <p:nvPr/>
        </p:nvSpPr>
        <p:spPr>
          <a:xfrm>
            <a:off x="7973568" y="3511296"/>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RETENU</a:t>
            </a:r>
            <a:endParaRPr lang="en-US" sz="900" dirty="0"/>
          </a:p>
        </p:txBody>
      </p:sp>
      <p:sp>
        <p:nvSpPr>
          <p:cNvPr id="49" name="Shape 45"/>
          <p:cNvSpPr/>
          <p:nvPr/>
        </p:nvSpPr>
        <p:spPr>
          <a:xfrm>
            <a:off x="5029200" y="3840480"/>
            <a:ext cx="3520440" cy="0"/>
          </a:xfrm>
          <a:prstGeom prst="line">
            <a:avLst/>
          </a:prstGeom>
          <a:noFill/>
          <a:ln w="6350">
            <a:solidFill>
              <a:srgbClr val="D5DED9"/>
            </a:solidFill>
            <a:prstDash val="solid"/>
          </a:ln>
        </p:spPr>
      </p:sp>
      <p:sp>
        <p:nvSpPr>
          <p:cNvPr id="50" name="Text 46"/>
          <p:cNvSpPr txBox="1"/>
          <p:nvPr/>
        </p:nvSpPr>
        <p:spPr>
          <a:xfrm>
            <a:off x="5029200" y="3867912"/>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v4</a:t>
            </a:r>
            <a:endParaRPr lang="en-US" sz="1100" dirty="0"/>
          </a:p>
        </p:txBody>
      </p:sp>
      <p:sp>
        <p:nvSpPr>
          <p:cNvPr id="51" name="Text 47"/>
          <p:cNvSpPr txBox="1"/>
          <p:nvPr/>
        </p:nvSpPr>
        <p:spPr>
          <a:xfrm>
            <a:off x="5440680" y="3867912"/>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Critères NON_CODABLE clarifiés</a:t>
            </a:r>
            <a:endParaRPr lang="en-US" sz="1000" dirty="0"/>
          </a:p>
        </p:txBody>
      </p:sp>
      <p:sp>
        <p:nvSpPr>
          <p:cNvPr id="52" name="Text 48"/>
          <p:cNvSpPr txBox="1"/>
          <p:nvPr/>
        </p:nvSpPr>
        <p:spPr>
          <a:xfrm>
            <a:off x="7406640" y="3867912"/>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88%</a:t>
            </a:r>
            <a:endParaRPr lang="en-US" sz="1100" dirty="0"/>
          </a:p>
        </p:txBody>
      </p:sp>
      <p:sp>
        <p:nvSpPr>
          <p:cNvPr id="53" name="Shape 49"/>
          <p:cNvSpPr/>
          <p:nvPr/>
        </p:nvSpPr>
        <p:spPr>
          <a:xfrm>
            <a:off x="7973568" y="3941064"/>
            <a:ext cx="603504" cy="219456"/>
          </a:xfrm>
          <a:prstGeom prst="roundRect">
            <a:avLst>
              <a:gd name="adj" fmla="val 54167"/>
            </a:avLst>
          </a:prstGeom>
          <a:solidFill>
            <a:srgbClr val="00A86A">
              <a:alpha val="15000"/>
            </a:srgbClr>
          </a:solidFill>
          <a:ln w="9525">
            <a:solidFill>
              <a:srgbClr val="00A86A"/>
            </a:solidFill>
            <a:prstDash val="solid"/>
          </a:ln>
        </p:spPr>
      </p:sp>
      <p:sp>
        <p:nvSpPr>
          <p:cNvPr id="54" name="Text 50"/>
          <p:cNvSpPr txBox="1"/>
          <p:nvPr/>
        </p:nvSpPr>
        <p:spPr>
          <a:xfrm>
            <a:off x="7973568" y="3941064"/>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RETENU</a:t>
            </a:r>
            <a:endParaRPr lang="en-US" sz="900" dirty="0"/>
          </a:p>
        </p:txBody>
      </p:sp>
      <p:sp>
        <p:nvSpPr>
          <p:cNvPr id="55" name="Text 51"/>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Chiffres illustratifs à visée pédagogique. Construisez votre propre tableau à partir de votre jeu d’évaluation.</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MESURER LA QUALITÉ</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Utiliser un LLM comme juge, en toute sécurité</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0E7C86"/>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371600"/>
            <a:ext cx="1920240" cy="530352"/>
          </a:xfrm>
          <a:prstGeom prst="roundRect">
            <a:avLst>
              <a:gd name="adj" fmla="val 13793"/>
            </a:avLst>
          </a:prstGeom>
          <a:solidFill>
            <a:srgbClr val="FFFFFF"/>
          </a:solidFill>
          <a:ln w="9525">
            <a:solidFill>
              <a:srgbClr val="0E7C86"/>
            </a:solidFill>
            <a:prstDash val="solid"/>
          </a:ln>
        </p:spPr>
      </p:sp>
      <p:sp>
        <p:nvSpPr>
          <p:cNvPr id="18" name="Shape 15"/>
          <p:cNvSpPr/>
          <p:nvPr/>
        </p:nvSpPr>
        <p:spPr>
          <a:xfrm>
            <a:off x="548640" y="1463040"/>
            <a:ext cx="347472" cy="347472"/>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32033" y="1546433"/>
            <a:ext cx="180685" cy="180685"/>
          </a:xfrm>
          <a:prstGeom prst="rect">
            <a:avLst/>
          </a:prstGeom>
        </p:spPr>
      </p:pic>
      <p:sp>
        <p:nvSpPr>
          <p:cNvPr id="20" name="Text 16"/>
          <p:cNvSpPr txBox="1"/>
          <p:nvPr/>
        </p:nvSpPr>
        <p:spPr>
          <a:xfrm>
            <a:off x="987552" y="1371600"/>
            <a:ext cx="1325880" cy="53035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Sortie à noter</a:t>
            </a:r>
            <a:endParaRPr lang="en-US" sz="1150" dirty="0"/>
          </a:p>
        </p:txBody>
      </p:sp>
      <p:sp>
        <p:nvSpPr>
          <p:cNvPr id="21" name="Shape 17"/>
          <p:cNvSpPr/>
          <p:nvPr/>
        </p:nvSpPr>
        <p:spPr>
          <a:xfrm>
            <a:off x="2377440" y="1636776"/>
            <a:ext cx="502920" cy="667512"/>
          </a:xfrm>
          <a:prstGeom prst="line">
            <a:avLst/>
          </a:prstGeom>
          <a:noFill/>
          <a:ln w="12700">
            <a:solidFill>
              <a:srgbClr val="5E6964"/>
            </a:solidFill>
            <a:prstDash val="solid"/>
            <a:tailEnd type="triangle"/>
          </a:ln>
        </p:spPr>
      </p:sp>
      <p:sp>
        <p:nvSpPr>
          <p:cNvPr id="22" name="Shape 18"/>
          <p:cNvSpPr/>
          <p:nvPr/>
        </p:nvSpPr>
        <p:spPr>
          <a:xfrm>
            <a:off x="457200" y="2029968"/>
            <a:ext cx="1920240" cy="530352"/>
          </a:xfrm>
          <a:prstGeom prst="roundRect">
            <a:avLst>
              <a:gd name="adj" fmla="val 13793"/>
            </a:avLst>
          </a:prstGeom>
          <a:solidFill>
            <a:srgbClr val="FFFFFF"/>
          </a:solidFill>
          <a:ln w="9525">
            <a:solidFill>
              <a:srgbClr val="0E7C86"/>
            </a:solidFill>
            <a:prstDash val="solid"/>
          </a:ln>
        </p:spPr>
      </p:sp>
      <p:sp>
        <p:nvSpPr>
          <p:cNvPr id="23" name="Shape 19"/>
          <p:cNvSpPr/>
          <p:nvPr/>
        </p:nvSpPr>
        <p:spPr>
          <a:xfrm>
            <a:off x="548640" y="2121408"/>
            <a:ext cx="347472" cy="347472"/>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632033" y="2204801"/>
            <a:ext cx="180685" cy="180685"/>
          </a:xfrm>
          <a:prstGeom prst="rect">
            <a:avLst/>
          </a:prstGeom>
        </p:spPr>
      </p:pic>
      <p:sp>
        <p:nvSpPr>
          <p:cNvPr id="25" name="Text 20"/>
          <p:cNvSpPr txBox="1"/>
          <p:nvPr/>
        </p:nvSpPr>
        <p:spPr>
          <a:xfrm>
            <a:off x="987552" y="2029968"/>
            <a:ext cx="1325880" cy="53035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Grille écrite</a:t>
            </a:r>
            <a:endParaRPr lang="en-US" sz="1150" dirty="0"/>
          </a:p>
        </p:txBody>
      </p:sp>
      <p:sp>
        <p:nvSpPr>
          <p:cNvPr id="26" name="Shape 21"/>
          <p:cNvSpPr/>
          <p:nvPr/>
        </p:nvSpPr>
        <p:spPr>
          <a:xfrm>
            <a:off x="2377440" y="2295144"/>
            <a:ext cx="502920" cy="9144"/>
          </a:xfrm>
          <a:prstGeom prst="line">
            <a:avLst/>
          </a:prstGeom>
          <a:noFill/>
          <a:ln w="12700">
            <a:solidFill>
              <a:srgbClr val="5E6964"/>
            </a:solidFill>
            <a:prstDash val="solid"/>
            <a:tailEnd type="triangle"/>
          </a:ln>
        </p:spPr>
      </p:sp>
      <p:sp>
        <p:nvSpPr>
          <p:cNvPr id="27" name="Shape 22"/>
          <p:cNvSpPr/>
          <p:nvPr/>
        </p:nvSpPr>
        <p:spPr>
          <a:xfrm>
            <a:off x="457200" y="2688336"/>
            <a:ext cx="1920240" cy="530352"/>
          </a:xfrm>
          <a:prstGeom prst="roundRect">
            <a:avLst>
              <a:gd name="adj" fmla="val 13793"/>
            </a:avLst>
          </a:prstGeom>
          <a:solidFill>
            <a:srgbClr val="FFFFFF"/>
          </a:solidFill>
          <a:ln w="9525">
            <a:solidFill>
              <a:srgbClr val="0E7C86"/>
            </a:solidFill>
            <a:prstDash val="solid"/>
          </a:ln>
        </p:spPr>
      </p:sp>
      <p:sp>
        <p:nvSpPr>
          <p:cNvPr id="28" name="Shape 23"/>
          <p:cNvSpPr/>
          <p:nvPr/>
        </p:nvSpPr>
        <p:spPr>
          <a:xfrm>
            <a:off x="548640" y="2779776"/>
            <a:ext cx="347472" cy="347472"/>
          </a:xfrm>
          <a:prstGeom prst="ellipse">
            <a:avLst/>
          </a:prstGeom>
          <a:solidFill>
            <a:srgbClr val="0E7C86">
              <a:alpha val="22000"/>
            </a:srgbClr>
          </a:solidFill>
          <a:ln/>
        </p:spPr>
      </p:sp>
      <p:pic>
        <p:nvPicPr>
          <p:cNvPr id="29" name="Image 2" descr="preencoded.png"/>
          <p:cNvPicPr>
            <a:picLocks noChangeAspect="1"/>
          </p:cNvPicPr>
          <p:nvPr/>
        </p:nvPicPr>
        <p:blipFill>
          <a:blip r:embed="rId5"/>
          <a:stretch>
            <a:fillRect/>
          </a:stretch>
        </p:blipFill>
        <p:spPr>
          <a:xfrm>
            <a:off x="632033" y="2863169"/>
            <a:ext cx="180685" cy="180685"/>
          </a:xfrm>
          <a:prstGeom prst="rect">
            <a:avLst/>
          </a:prstGeom>
        </p:spPr>
      </p:pic>
      <p:sp>
        <p:nvSpPr>
          <p:cNvPr id="30" name="Text 24"/>
          <p:cNvSpPr txBox="1"/>
          <p:nvPr/>
        </p:nvSpPr>
        <p:spPr>
          <a:xfrm>
            <a:off x="987552" y="2688336"/>
            <a:ext cx="1325880" cy="53035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Document source</a:t>
            </a:r>
            <a:endParaRPr lang="en-US" sz="1150" dirty="0"/>
          </a:p>
        </p:txBody>
      </p:sp>
      <p:sp>
        <p:nvSpPr>
          <p:cNvPr id="31" name="Shape 25"/>
          <p:cNvSpPr/>
          <p:nvPr/>
        </p:nvSpPr>
        <p:spPr>
          <a:xfrm flipV="1">
            <a:off x="2377440" y="2304288"/>
            <a:ext cx="502920" cy="649224"/>
          </a:xfrm>
          <a:prstGeom prst="line">
            <a:avLst/>
          </a:prstGeom>
          <a:noFill/>
          <a:ln w="12700">
            <a:solidFill>
              <a:srgbClr val="5E6964"/>
            </a:solidFill>
            <a:prstDash val="solid"/>
            <a:tailEnd type="triangle"/>
          </a:ln>
        </p:spPr>
      </p:sp>
      <p:sp>
        <p:nvSpPr>
          <p:cNvPr id="32" name="Shape 26"/>
          <p:cNvSpPr/>
          <p:nvPr/>
        </p:nvSpPr>
        <p:spPr>
          <a:xfrm>
            <a:off x="2880360" y="1847088"/>
            <a:ext cx="1554480" cy="914400"/>
          </a:xfrm>
          <a:prstGeom prst="roundRect">
            <a:avLst>
              <a:gd name="adj" fmla="val 8000"/>
            </a:avLst>
          </a:prstGeom>
          <a:solidFill>
            <a:srgbClr val="E8F5EF"/>
          </a:solidFill>
          <a:ln w="15875">
            <a:solidFill>
              <a:srgbClr val="0E7C86"/>
            </a:solidFill>
            <a:prstDash val="solid"/>
          </a:ln>
        </p:spPr>
      </p:sp>
      <p:sp>
        <p:nvSpPr>
          <p:cNvPr id="33" name="Shape 27"/>
          <p:cNvSpPr/>
          <p:nvPr/>
        </p:nvSpPr>
        <p:spPr>
          <a:xfrm>
            <a:off x="3017520" y="2011680"/>
            <a:ext cx="548640" cy="548640"/>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3149194" y="2143354"/>
            <a:ext cx="285293" cy="285293"/>
          </a:xfrm>
          <a:prstGeom prst="rect">
            <a:avLst/>
          </a:prstGeom>
        </p:spPr>
      </p:pic>
      <p:sp>
        <p:nvSpPr>
          <p:cNvPr id="35" name="Text 28"/>
          <p:cNvSpPr txBox="1"/>
          <p:nvPr/>
        </p:nvSpPr>
        <p:spPr>
          <a:xfrm>
            <a:off x="3566160" y="1847088"/>
            <a:ext cx="822960" cy="9144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Modèle juge</a:t>
            </a:r>
            <a:endParaRPr lang="en-US" sz="1200" dirty="0"/>
          </a:p>
        </p:txBody>
      </p:sp>
      <p:sp>
        <p:nvSpPr>
          <p:cNvPr id="36" name="Shape 29"/>
          <p:cNvSpPr/>
          <p:nvPr/>
        </p:nvSpPr>
        <p:spPr>
          <a:xfrm>
            <a:off x="4434840" y="2304288"/>
            <a:ext cx="365760" cy="0"/>
          </a:xfrm>
          <a:prstGeom prst="line">
            <a:avLst/>
          </a:prstGeom>
          <a:noFill/>
          <a:ln w="12700">
            <a:solidFill>
              <a:srgbClr val="5E6964"/>
            </a:solidFill>
            <a:prstDash val="solid"/>
            <a:tailEnd type="triangle"/>
          </a:ln>
        </p:spPr>
      </p:sp>
      <p:sp>
        <p:nvSpPr>
          <p:cNvPr id="37" name="Shape 30"/>
          <p:cNvSpPr/>
          <p:nvPr/>
        </p:nvSpPr>
        <p:spPr>
          <a:xfrm>
            <a:off x="4800600" y="1847088"/>
            <a:ext cx="1234440" cy="914400"/>
          </a:xfrm>
          <a:prstGeom prst="roundRect">
            <a:avLst>
              <a:gd name="adj" fmla="val 8000"/>
            </a:avLst>
          </a:prstGeom>
          <a:solidFill>
            <a:srgbClr val="FFFFFF"/>
          </a:solidFill>
          <a:ln w="9525">
            <a:solidFill>
              <a:srgbClr val="0E7C86"/>
            </a:solidFill>
            <a:prstDash val="solid"/>
          </a:ln>
        </p:spPr>
      </p:sp>
      <p:sp>
        <p:nvSpPr>
          <p:cNvPr id="38" name="Text 31"/>
          <p:cNvSpPr txBox="1"/>
          <p:nvPr/>
        </p:nvSpPr>
        <p:spPr>
          <a:xfrm>
            <a:off x="4800600" y="1901952"/>
            <a:ext cx="1234440" cy="411480"/>
          </a:xfrm>
          <a:prstGeom prst="rect">
            <a:avLst/>
          </a:prstGeom>
          <a:noFill/>
          <a:ln/>
        </p:spPr>
        <p:txBody>
          <a:bodyPr wrap="square" lIns="0" tIns="0" rIns="0" bIns="0" rtlCol="0" anchor="t"/>
          <a:lstStyle/>
          <a:p>
            <a:pPr marL="0" indent="0" algn="ctr">
              <a:buNone/>
            </a:pPr>
            <a:r>
              <a:rPr lang="en-US" sz="2400" b="1" dirty="0">
                <a:solidFill>
                  <a:srgbClr val="0E7C86"/>
                </a:solidFill>
                <a:latin typeface="Calibri" pitchFamily="34" charset="0"/>
                <a:ea typeface="Calibri" pitchFamily="34" charset="-122"/>
                <a:cs typeface="Calibri" pitchFamily="34" charset="-120"/>
              </a:rPr>
              <a:t>4 / 5</a:t>
            </a:r>
            <a:endParaRPr lang="en-US" sz="2400" dirty="0"/>
          </a:p>
        </p:txBody>
      </p:sp>
      <p:sp>
        <p:nvSpPr>
          <p:cNvPr id="39" name="Text 32"/>
          <p:cNvSpPr txBox="1"/>
          <p:nvPr/>
        </p:nvSpPr>
        <p:spPr>
          <a:xfrm>
            <a:off x="4800600" y="2359152"/>
            <a:ext cx="1234440" cy="27432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score + justification</a:t>
            </a:r>
            <a:endParaRPr lang="en-US" sz="1000" dirty="0"/>
          </a:p>
        </p:txBody>
      </p:sp>
      <p:sp>
        <p:nvSpPr>
          <p:cNvPr id="40" name="Shape 33"/>
          <p:cNvSpPr/>
          <p:nvPr/>
        </p:nvSpPr>
        <p:spPr>
          <a:xfrm>
            <a:off x="457200" y="3429000"/>
            <a:ext cx="5577840" cy="1051560"/>
          </a:xfrm>
          <a:prstGeom prst="roundRect">
            <a:avLst>
              <a:gd name="adj" fmla="val 6957"/>
            </a:avLst>
          </a:prstGeom>
          <a:solidFill>
            <a:srgbClr val="E8F5EF"/>
          </a:solidFill>
          <a:ln w="9525">
            <a:solidFill>
              <a:srgbClr val="D5DED9"/>
            </a:solidFill>
            <a:prstDash val="solid"/>
          </a:ln>
        </p:spPr>
      </p:sp>
      <p:sp>
        <p:nvSpPr>
          <p:cNvPr id="41" name="Text 34"/>
          <p:cNvSpPr txBox="1"/>
          <p:nvPr/>
        </p:nvSpPr>
        <p:spPr>
          <a:xfrm>
            <a:off x="640080" y="3520440"/>
            <a:ext cx="4572000" cy="201168"/>
          </a:xfrm>
          <a:prstGeom prst="rect">
            <a:avLst/>
          </a:prstGeom>
          <a:noFill/>
          <a:ln/>
        </p:spPr>
        <p:txBody>
          <a:bodyPr wrap="square" lIns="0" tIns="0" rIns="0" bIns="0" rtlCol="0" anchor="t"/>
          <a:lstStyle/>
          <a:p>
            <a:pPr marL="0" indent="0">
              <a:buNone/>
            </a:pPr>
            <a:r>
              <a:rPr lang="en-US" sz="1000" b="1" kern="0" spc="100" dirty="0">
                <a:solidFill>
                  <a:srgbClr val="00704A"/>
                </a:solidFill>
                <a:latin typeface="Calibri" pitchFamily="34" charset="0"/>
                <a:ea typeface="Calibri" pitchFamily="34" charset="-122"/>
                <a:cs typeface="Calibri" pitchFamily="34" charset="-120"/>
              </a:rPr>
              <a:t>CALIBRER AVANT DE FAIRE CONFIANCE</a:t>
            </a:r>
            <a:endParaRPr lang="en-US" sz="1000" dirty="0"/>
          </a:p>
        </p:txBody>
      </p:sp>
      <p:sp>
        <p:nvSpPr>
          <p:cNvPr id="42" name="Shape 35"/>
          <p:cNvSpPr/>
          <p:nvPr/>
        </p:nvSpPr>
        <p:spPr>
          <a:xfrm>
            <a:off x="640080" y="3840480"/>
            <a:ext cx="310896" cy="310896"/>
          </a:xfrm>
          <a:prstGeom prst="ellipse">
            <a:avLst/>
          </a:prstGeom>
          <a:solidFill>
            <a:srgbClr val="00704A"/>
          </a:solidFill>
          <a:ln/>
        </p:spPr>
      </p:sp>
      <p:sp>
        <p:nvSpPr>
          <p:cNvPr id="43" name="Text 36"/>
          <p:cNvSpPr txBox="1"/>
          <p:nvPr/>
        </p:nvSpPr>
        <p:spPr>
          <a:xfrm>
            <a:off x="640080" y="3840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4" name="Text 37"/>
          <p:cNvSpPr txBox="1"/>
          <p:nvPr/>
        </p:nvSpPr>
        <p:spPr>
          <a:xfrm>
            <a:off x="1024128" y="3767328"/>
            <a:ext cx="13258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Des humains notent 20 à 30 sorties</a:t>
            </a:r>
            <a:endParaRPr lang="en-US" sz="1050" dirty="0"/>
          </a:p>
        </p:txBody>
      </p:sp>
      <p:sp>
        <p:nvSpPr>
          <p:cNvPr id="45" name="Shape 38"/>
          <p:cNvSpPr/>
          <p:nvPr/>
        </p:nvSpPr>
        <p:spPr>
          <a:xfrm>
            <a:off x="2450592" y="3840480"/>
            <a:ext cx="310896" cy="310896"/>
          </a:xfrm>
          <a:prstGeom prst="ellipse">
            <a:avLst/>
          </a:prstGeom>
          <a:solidFill>
            <a:srgbClr val="00704A"/>
          </a:solidFill>
          <a:ln/>
        </p:spPr>
      </p:sp>
      <p:sp>
        <p:nvSpPr>
          <p:cNvPr id="46" name="Text 39"/>
          <p:cNvSpPr txBox="1"/>
          <p:nvPr/>
        </p:nvSpPr>
        <p:spPr>
          <a:xfrm>
            <a:off x="2450592" y="3840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7" name="Text 40"/>
          <p:cNvSpPr txBox="1"/>
          <p:nvPr/>
        </p:nvSpPr>
        <p:spPr>
          <a:xfrm>
            <a:off x="2834640" y="3767328"/>
            <a:ext cx="13258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 juge note les mêmes sorties</a:t>
            </a:r>
            <a:endParaRPr lang="en-US" sz="1050" dirty="0"/>
          </a:p>
        </p:txBody>
      </p:sp>
      <p:sp>
        <p:nvSpPr>
          <p:cNvPr id="48" name="Shape 41"/>
          <p:cNvSpPr/>
          <p:nvPr/>
        </p:nvSpPr>
        <p:spPr>
          <a:xfrm>
            <a:off x="4261104" y="3840480"/>
            <a:ext cx="310896" cy="310896"/>
          </a:xfrm>
          <a:prstGeom prst="ellipse">
            <a:avLst/>
          </a:prstGeom>
          <a:solidFill>
            <a:srgbClr val="00704A"/>
          </a:solidFill>
          <a:ln/>
        </p:spPr>
      </p:sp>
      <p:sp>
        <p:nvSpPr>
          <p:cNvPr id="49" name="Text 42"/>
          <p:cNvSpPr txBox="1"/>
          <p:nvPr/>
        </p:nvSpPr>
        <p:spPr>
          <a:xfrm>
            <a:off x="4261104" y="3840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0" name="Text 43"/>
          <p:cNvSpPr txBox="1"/>
          <p:nvPr/>
        </p:nvSpPr>
        <p:spPr>
          <a:xfrm>
            <a:off x="4645152" y="3767328"/>
            <a:ext cx="13258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Juge retenu seulement si l’accord est élevé</a:t>
            </a:r>
            <a:endParaRPr lang="en-US" sz="1050" dirty="0"/>
          </a:p>
        </p:txBody>
      </p:sp>
      <p:sp>
        <p:nvSpPr>
          <p:cNvPr id="51" name="Shape 44"/>
          <p:cNvSpPr/>
          <p:nvPr/>
        </p:nvSpPr>
        <p:spPr>
          <a:xfrm>
            <a:off x="6263640" y="1325880"/>
            <a:ext cx="2423160" cy="3154680"/>
          </a:xfrm>
          <a:prstGeom prst="roundRect">
            <a:avLst>
              <a:gd name="adj" fmla="val 3019"/>
            </a:avLst>
          </a:prstGeom>
          <a:solidFill>
            <a:srgbClr val="F4F7F5"/>
          </a:solidFill>
          <a:ln w="9525">
            <a:solidFill>
              <a:srgbClr val="D5DED9"/>
            </a:solidFill>
            <a:prstDash val="solid"/>
          </a:ln>
        </p:spPr>
      </p:sp>
      <p:sp>
        <p:nvSpPr>
          <p:cNvPr id="52" name="Text 45"/>
          <p:cNvSpPr txBox="1"/>
          <p:nvPr/>
        </p:nvSpPr>
        <p:spPr>
          <a:xfrm>
            <a:off x="6400800" y="1444752"/>
            <a:ext cx="2194560" cy="201168"/>
          </a:xfrm>
          <a:prstGeom prst="rect">
            <a:avLst/>
          </a:prstGeom>
          <a:noFill/>
          <a:ln/>
        </p:spPr>
        <p:txBody>
          <a:bodyPr wrap="square" lIns="0" tIns="0" rIns="0" bIns="0" rtlCol="0" anchor="t"/>
          <a:lstStyle/>
          <a:p>
            <a:pPr marL="0" indent="0">
              <a:buNone/>
            </a:pPr>
            <a:r>
              <a:rPr lang="en-US" sz="1000" b="1" kern="0" spc="100" dirty="0">
                <a:solidFill>
                  <a:srgbClr val="B83B2E"/>
                </a:solidFill>
                <a:latin typeface="Calibri" pitchFamily="34" charset="0"/>
                <a:ea typeface="Calibri" pitchFamily="34" charset="-122"/>
                <a:cs typeface="Calibri" pitchFamily="34" charset="-120"/>
              </a:rPr>
              <a:t>BIAIS CONNUS DU JUGE</a:t>
            </a:r>
            <a:endParaRPr lang="en-US" sz="1000" dirty="0"/>
          </a:p>
        </p:txBody>
      </p:sp>
      <p:pic>
        <p:nvPicPr>
          <p:cNvPr id="53" name="Image 4" descr="preencoded.png"/>
          <p:cNvPicPr>
            <a:picLocks noChangeAspect="1"/>
          </p:cNvPicPr>
          <p:nvPr/>
        </p:nvPicPr>
        <p:blipFill>
          <a:blip r:embed="rId7"/>
          <a:stretch>
            <a:fillRect/>
          </a:stretch>
        </p:blipFill>
        <p:spPr>
          <a:xfrm>
            <a:off x="6400800" y="1810512"/>
            <a:ext cx="201168" cy="182880"/>
          </a:xfrm>
          <a:prstGeom prst="rect">
            <a:avLst/>
          </a:prstGeom>
        </p:spPr>
      </p:pic>
      <p:sp>
        <p:nvSpPr>
          <p:cNvPr id="54" name="Text 46"/>
          <p:cNvSpPr txBox="1"/>
          <p:nvPr/>
        </p:nvSpPr>
        <p:spPr>
          <a:xfrm>
            <a:off x="6693408" y="1783080"/>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Position</a:t>
            </a:r>
            <a:endParaRPr lang="en-US" sz="1250" dirty="0"/>
          </a:p>
        </p:txBody>
      </p:sp>
      <p:sp>
        <p:nvSpPr>
          <p:cNvPr id="55" name="Text 47"/>
          <p:cNvSpPr txBox="1"/>
          <p:nvPr/>
        </p:nvSpPr>
        <p:spPr>
          <a:xfrm>
            <a:off x="6400800" y="2057400"/>
            <a:ext cx="214884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Favorise la réponse présentée en premier. Inverser l’ordre et moyenner.</a:t>
            </a:r>
            <a:endParaRPr lang="en-US" sz="1000" dirty="0"/>
          </a:p>
        </p:txBody>
      </p:sp>
      <p:pic>
        <p:nvPicPr>
          <p:cNvPr id="56" name="Image 5" descr="preencoded.png"/>
          <p:cNvPicPr>
            <a:picLocks noChangeAspect="1"/>
          </p:cNvPicPr>
          <p:nvPr/>
        </p:nvPicPr>
        <p:blipFill>
          <a:blip r:embed="rId7"/>
          <a:stretch>
            <a:fillRect/>
          </a:stretch>
        </p:blipFill>
        <p:spPr>
          <a:xfrm>
            <a:off x="6400800" y="2697480"/>
            <a:ext cx="201168" cy="182880"/>
          </a:xfrm>
          <a:prstGeom prst="rect">
            <a:avLst/>
          </a:prstGeom>
        </p:spPr>
      </p:pic>
      <p:sp>
        <p:nvSpPr>
          <p:cNvPr id="57" name="Text 48"/>
          <p:cNvSpPr txBox="1"/>
          <p:nvPr/>
        </p:nvSpPr>
        <p:spPr>
          <a:xfrm>
            <a:off x="6693408" y="267004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Verbosité</a:t>
            </a:r>
            <a:endParaRPr lang="en-US" sz="1250" dirty="0"/>
          </a:p>
        </p:txBody>
      </p:sp>
      <p:sp>
        <p:nvSpPr>
          <p:cNvPr id="58" name="Text 49"/>
          <p:cNvSpPr txBox="1"/>
          <p:nvPr/>
        </p:nvSpPr>
        <p:spPr>
          <a:xfrm>
            <a:off x="6400800" y="2944368"/>
            <a:ext cx="214884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Favorise les réponses longues. Intégrer la longueur à la grille.</a:t>
            </a:r>
            <a:endParaRPr lang="en-US" sz="1000" dirty="0"/>
          </a:p>
        </p:txBody>
      </p:sp>
      <p:pic>
        <p:nvPicPr>
          <p:cNvPr id="59" name="Image 6" descr="preencoded.png"/>
          <p:cNvPicPr>
            <a:picLocks noChangeAspect="1"/>
          </p:cNvPicPr>
          <p:nvPr/>
        </p:nvPicPr>
        <p:blipFill>
          <a:blip r:embed="rId7"/>
          <a:stretch>
            <a:fillRect/>
          </a:stretch>
        </p:blipFill>
        <p:spPr>
          <a:xfrm>
            <a:off x="6400800" y="3584448"/>
            <a:ext cx="201168" cy="182880"/>
          </a:xfrm>
          <a:prstGeom prst="rect">
            <a:avLst/>
          </a:prstGeom>
        </p:spPr>
      </p:pic>
      <p:sp>
        <p:nvSpPr>
          <p:cNvPr id="60" name="Text 50"/>
          <p:cNvSpPr txBox="1"/>
          <p:nvPr/>
        </p:nvSpPr>
        <p:spPr>
          <a:xfrm>
            <a:off x="6693408" y="3557016"/>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Autopréférence</a:t>
            </a:r>
            <a:endParaRPr lang="en-US" sz="1250" dirty="0"/>
          </a:p>
        </p:txBody>
      </p:sp>
      <p:sp>
        <p:nvSpPr>
          <p:cNvPr id="61" name="Text 51"/>
          <p:cNvSpPr txBox="1"/>
          <p:nvPr/>
        </p:nvSpPr>
        <p:spPr>
          <a:xfrm>
            <a:off x="6400800" y="3831336"/>
            <a:ext cx="214884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Favorise son propre style. Utiliser une autre famille de modèles.</a:t>
            </a:r>
            <a:endParaRPr lang="en-US" sz="1000" dirty="0"/>
          </a:p>
        </p:txBody>
      </p:sp>
      <p:sp>
        <p:nvSpPr>
          <p:cNvPr id="62" name="Text 52"/>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 Zheng et al. (2023), « Judging LLM-as-a-Judge with MT-Bench and Chatbot Arena », NeurIPS Datasets &amp; Benchmarks.</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 SUR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04</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Maîtriser la variance</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Même prompt, même entrée : pourquoi une autre réponse ?</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5C242"/>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16</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MAÎTRISER LA VARIANCE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D’où vient la variance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49A00"/>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325880"/>
            <a:ext cx="2359152" cy="1463040"/>
          </a:xfrm>
          <a:prstGeom prst="roundRect">
            <a:avLst>
              <a:gd name="adj" fmla="val 5000"/>
            </a:avLst>
          </a:prstGeom>
          <a:solidFill>
            <a:srgbClr val="F4F7F5"/>
          </a:solidFill>
          <a:ln w="9525">
            <a:solidFill>
              <a:srgbClr val="D5DED9"/>
            </a:solidFill>
            <a:prstDash val="solid"/>
          </a:ln>
        </p:spPr>
      </p:sp>
      <p:sp>
        <p:nvSpPr>
          <p:cNvPr id="18" name="Shape 15"/>
          <p:cNvSpPr/>
          <p:nvPr/>
        </p:nvSpPr>
        <p:spPr>
          <a:xfrm>
            <a:off x="621792" y="1490472"/>
            <a:ext cx="438912" cy="438912"/>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727131" y="1595811"/>
            <a:ext cx="228234" cy="228234"/>
          </a:xfrm>
          <a:prstGeom prst="rect">
            <a:avLst/>
          </a:prstGeom>
        </p:spPr>
      </p:pic>
      <p:sp>
        <p:nvSpPr>
          <p:cNvPr id="20" name="Text 16"/>
          <p:cNvSpPr txBox="1"/>
          <p:nvPr/>
        </p:nvSpPr>
        <p:spPr>
          <a:xfrm>
            <a:off x="621792" y="20116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Aléa d’échantillonnage</a:t>
            </a:r>
            <a:endParaRPr lang="en-US" sz="1250" dirty="0"/>
          </a:p>
        </p:txBody>
      </p:sp>
      <p:sp>
        <p:nvSpPr>
          <p:cNvPr id="21" name="Text 17"/>
          <p:cNvSpPr txBox="1"/>
          <p:nvPr/>
        </p:nvSpPr>
        <p:spPr>
          <a:xfrm>
            <a:off x="621792" y="22585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Température et top-p laissent le modèle choisir parmi les jetons probables.</a:t>
            </a:r>
            <a:endParaRPr lang="en-US" sz="1000" dirty="0"/>
          </a:p>
        </p:txBody>
      </p:sp>
      <p:sp>
        <p:nvSpPr>
          <p:cNvPr id="22" name="Shape 18"/>
          <p:cNvSpPr/>
          <p:nvPr/>
        </p:nvSpPr>
        <p:spPr>
          <a:xfrm>
            <a:off x="2944368" y="1325880"/>
            <a:ext cx="2359152" cy="1463040"/>
          </a:xfrm>
          <a:prstGeom prst="roundRect">
            <a:avLst>
              <a:gd name="adj" fmla="val 5000"/>
            </a:avLst>
          </a:prstGeom>
          <a:solidFill>
            <a:srgbClr val="F4F7F5"/>
          </a:solidFill>
          <a:ln w="9525">
            <a:solidFill>
              <a:srgbClr val="D5DED9"/>
            </a:solidFill>
            <a:prstDash val="solid"/>
          </a:ln>
        </p:spPr>
      </p:sp>
      <p:sp>
        <p:nvSpPr>
          <p:cNvPr id="23" name="Shape 19"/>
          <p:cNvSpPr/>
          <p:nvPr/>
        </p:nvSpPr>
        <p:spPr>
          <a:xfrm>
            <a:off x="3108960" y="1490472"/>
            <a:ext cx="438912" cy="438912"/>
          </a:xfrm>
          <a:prstGeom prst="ellipse">
            <a:avLst/>
          </a:prstGeom>
          <a:solidFill>
            <a:srgbClr val="D49A00">
              <a:alpha val="22000"/>
            </a:srgbClr>
          </a:solidFill>
          <a:ln/>
        </p:spPr>
      </p:sp>
      <p:pic>
        <p:nvPicPr>
          <p:cNvPr id="24" name="Image 1" descr="preencoded.png"/>
          <p:cNvPicPr>
            <a:picLocks noChangeAspect="1"/>
          </p:cNvPicPr>
          <p:nvPr/>
        </p:nvPicPr>
        <p:blipFill>
          <a:blip r:embed="rId4"/>
          <a:stretch>
            <a:fillRect/>
          </a:stretch>
        </p:blipFill>
        <p:spPr>
          <a:xfrm>
            <a:off x="3214299" y="1595811"/>
            <a:ext cx="228234" cy="228234"/>
          </a:xfrm>
          <a:prstGeom prst="rect">
            <a:avLst/>
          </a:prstGeom>
        </p:spPr>
      </p:pic>
      <p:sp>
        <p:nvSpPr>
          <p:cNvPr id="25" name="Text 20"/>
          <p:cNvSpPr txBox="1"/>
          <p:nvPr/>
        </p:nvSpPr>
        <p:spPr>
          <a:xfrm>
            <a:off x="3108960" y="20116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Consignes ambiguës</a:t>
            </a:r>
            <a:endParaRPr lang="en-US" sz="1250" dirty="0"/>
          </a:p>
        </p:txBody>
      </p:sp>
      <p:sp>
        <p:nvSpPr>
          <p:cNvPr id="26" name="Text 21"/>
          <p:cNvSpPr txBox="1"/>
          <p:nvPr/>
        </p:nvSpPr>
        <p:spPr>
          <a:xfrm>
            <a:off x="3108960" y="22585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Une règle floue est tranchée différemment à chaque exécution.</a:t>
            </a:r>
            <a:endParaRPr lang="en-US" sz="1000" dirty="0"/>
          </a:p>
        </p:txBody>
      </p:sp>
      <p:sp>
        <p:nvSpPr>
          <p:cNvPr id="27" name="Shape 22"/>
          <p:cNvSpPr/>
          <p:nvPr/>
        </p:nvSpPr>
        <p:spPr>
          <a:xfrm>
            <a:off x="457200" y="2926080"/>
            <a:ext cx="2359152" cy="1463040"/>
          </a:xfrm>
          <a:prstGeom prst="roundRect">
            <a:avLst>
              <a:gd name="adj" fmla="val 5000"/>
            </a:avLst>
          </a:prstGeom>
          <a:solidFill>
            <a:srgbClr val="F4F7F5"/>
          </a:solidFill>
          <a:ln w="9525">
            <a:solidFill>
              <a:srgbClr val="D5DED9"/>
            </a:solidFill>
            <a:prstDash val="solid"/>
          </a:ln>
        </p:spPr>
      </p:sp>
      <p:sp>
        <p:nvSpPr>
          <p:cNvPr id="28" name="Shape 23"/>
          <p:cNvSpPr/>
          <p:nvPr/>
        </p:nvSpPr>
        <p:spPr>
          <a:xfrm>
            <a:off x="621792" y="3090672"/>
            <a:ext cx="438912" cy="438912"/>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27131" y="3196011"/>
            <a:ext cx="228234" cy="228234"/>
          </a:xfrm>
          <a:prstGeom prst="rect">
            <a:avLst/>
          </a:prstGeom>
        </p:spPr>
      </p:pic>
      <p:sp>
        <p:nvSpPr>
          <p:cNvPr id="30" name="Text 24"/>
          <p:cNvSpPr txBox="1"/>
          <p:nvPr/>
        </p:nvSpPr>
        <p:spPr>
          <a:xfrm>
            <a:off x="621792" y="36118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Mises à jour silencieuses</a:t>
            </a:r>
            <a:endParaRPr lang="en-US" sz="1250" dirty="0"/>
          </a:p>
        </p:txBody>
      </p:sp>
      <p:sp>
        <p:nvSpPr>
          <p:cNvPr id="31" name="Text 25"/>
          <p:cNvSpPr txBox="1"/>
          <p:nvPr/>
        </p:nvSpPr>
        <p:spPr>
          <a:xfrm>
            <a:off x="621792" y="38587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Un alias générique peut pointer vers une nouvelle version sans préavis.</a:t>
            </a:r>
            <a:endParaRPr lang="en-US" sz="1000" dirty="0"/>
          </a:p>
        </p:txBody>
      </p:sp>
      <p:sp>
        <p:nvSpPr>
          <p:cNvPr id="32" name="Shape 26"/>
          <p:cNvSpPr/>
          <p:nvPr/>
        </p:nvSpPr>
        <p:spPr>
          <a:xfrm>
            <a:off x="2944368" y="2926080"/>
            <a:ext cx="2359152" cy="1463040"/>
          </a:xfrm>
          <a:prstGeom prst="roundRect">
            <a:avLst>
              <a:gd name="adj" fmla="val 5000"/>
            </a:avLst>
          </a:prstGeom>
          <a:solidFill>
            <a:srgbClr val="F4F7F5"/>
          </a:solidFill>
          <a:ln w="9525">
            <a:solidFill>
              <a:srgbClr val="D5DED9"/>
            </a:solidFill>
            <a:prstDash val="solid"/>
          </a:ln>
        </p:spPr>
      </p:sp>
      <p:sp>
        <p:nvSpPr>
          <p:cNvPr id="33" name="Shape 27"/>
          <p:cNvSpPr/>
          <p:nvPr/>
        </p:nvSpPr>
        <p:spPr>
          <a:xfrm>
            <a:off x="3108960" y="3090672"/>
            <a:ext cx="438912" cy="438912"/>
          </a:xfrm>
          <a:prstGeom prst="ellipse">
            <a:avLst/>
          </a:prstGeom>
          <a:solidFill>
            <a:srgbClr val="D49A00">
              <a:alpha val="22000"/>
            </a:srgbClr>
          </a:solidFill>
          <a:ln/>
        </p:spPr>
      </p:sp>
      <p:pic>
        <p:nvPicPr>
          <p:cNvPr id="34" name="Image 3" descr="preencoded.png"/>
          <p:cNvPicPr>
            <a:picLocks noChangeAspect="1"/>
          </p:cNvPicPr>
          <p:nvPr/>
        </p:nvPicPr>
        <p:blipFill>
          <a:blip r:embed="rId6"/>
          <a:stretch>
            <a:fillRect/>
          </a:stretch>
        </p:blipFill>
        <p:spPr>
          <a:xfrm>
            <a:off x="3214299" y="3196011"/>
            <a:ext cx="228234" cy="228234"/>
          </a:xfrm>
          <a:prstGeom prst="rect">
            <a:avLst/>
          </a:prstGeom>
        </p:spPr>
      </p:pic>
      <p:sp>
        <p:nvSpPr>
          <p:cNvPr id="35" name="Text 28"/>
          <p:cNvSpPr txBox="1"/>
          <p:nvPr/>
        </p:nvSpPr>
        <p:spPr>
          <a:xfrm>
            <a:off x="3108960" y="36118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Variation des entrées</a:t>
            </a:r>
            <a:endParaRPr lang="en-US" sz="1250" dirty="0"/>
          </a:p>
        </p:txBody>
      </p:sp>
      <p:sp>
        <p:nvSpPr>
          <p:cNvPr id="36" name="Text 29"/>
          <p:cNvSpPr txBox="1"/>
          <p:nvPr/>
        </p:nvSpPr>
        <p:spPr>
          <a:xfrm>
            <a:off x="3108960" y="38587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Langue, mise en page, qualité du scan et fautes modifient la sortie.</a:t>
            </a:r>
            <a:endParaRPr lang="en-US" sz="1000" dirty="0"/>
          </a:p>
        </p:txBody>
      </p:sp>
      <p:sp>
        <p:nvSpPr>
          <p:cNvPr id="37" name="Shape 30"/>
          <p:cNvSpPr/>
          <p:nvPr/>
        </p:nvSpPr>
        <p:spPr>
          <a:xfrm>
            <a:off x="5577840" y="1325880"/>
            <a:ext cx="3108960" cy="3063240"/>
          </a:xfrm>
          <a:prstGeom prst="roundRect">
            <a:avLst>
              <a:gd name="adj" fmla="val 2388"/>
            </a:avLst>
          </a:prstGeom>
          <a:solidFill>
            <a:srgbClr val="E8F5EF"/>
          </a:solidFill>
          <a:ln w="15875">
            <a:solidFill>
              <a:srgbClr val="D49A00"/>
            </a:solidFill>
            <a:prstDash val="solid"/>
          </a:ln>
        </p:spPr>
      </p:sp>
      <p:sp>
        <p:nvSpPr>
          <p:cNvPr id="38" name="Text 31"/>
          <p:cNvSpPr txBox="1"/>
          <p:nvPr/>
        </p:nvSpPr>
        <p:spPr>
          <a:xfrm>
            <a:off x="5742432" y="1444752"/>
            <a:ext cx="2834640" cy="201168"/>
          </a:xfrm>
          <a:prstGeom prst="rect">
            <a:avLst/>
          </a:prstGeom>
          <a:noFill/>
          <a:ln/>
        </p:spPr>
        <p:txBody>
          <a:bodyPr wrap="square" lIns="0" tIns="0" rIns="0" bIns="0" rtlCol="0" anchor="t"/>
          <a:lstStyle/>
          <a:p>
            <a:pPr marL="0" indent="0">
              <a:buNone/>
            </a:pPr>
            <a:r>
              <a:rPr lang="en-US" sz="1000" b="1" kern="0" spc="100" dirty="0">
                <a:solidFill>
                  <a:srgbClr val="D49A00"/>
                </a:solidFill>
                <a:latin typeface="Calibri" pitchFamily="34" charset="0"/>
                <a:ea typeface="Calibri" pitchFamily="34" charset="-122"/>
                <a:cs typeface="Calibri" pitchFamily="34" charset="-120"/>
              </a:rPr>
              <a:t>TEST DE COHÉRENCE EN 5 EXÉCUTIONS</a:t>
            </a:r>
            <a:endParaRPr lang="en-US" sz="1000" dirty="0"/>
          </a:p>
        </p:txBody>
      </p:sp>
      <p:sp>
        <p:nvSpPr>
          <p:cNvPr id="39" name="Text 32"/>
          <p:cNvSpPr txBox="1"/>
          <p:nvPr/>
        </p:nvSpPr>
        <p:spPr>
          <a:xfrm>
            <a:off x="5742432" y="1810512"/>
            <a:ext cx="41148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E01</a:t>
            </a:r>
            <a:endParaRPr lang="en-US" sz="1100" dirty="0"/>
          </a:p>
        </p:txBody>
      </p:sp>
      <p:sp>
        <p:nvSpPr>
          <p:cNvPr id="40" name="Shape 33"/>
          <p:cNvSpPr/>
          <p:nvPr/>
        </p:nvSpPr>
        <p:spPr>
          <a:xfrm>
            <a:off x="6144768" y="1837944"/>
            <a:ext cx="384048" cy="329184"/>
          </a:xfrm>
          <a:prstGeom prst="roundRect">
            <a:avLst>
              <a:gd name="adj" fmla="val 13889"/>
            </a:avLst>
          </a:prstGeom>
          <a:solidFill>
            <a:srgbClr val="E8F5EF"/>
          </a:solidFill>
          <a:ln w="9525">
            <a:solidFill>
              <a:srgbClr val="00A86A"/>
            </a:solidFill>
            <a:prstDash val="solid"/>
          </a:ln>
        </p:spPr>
      </p:sp>
      <p:sp>
        <p:nvSpPr>
          <p:cNvPr id="41" name="Text 34"/>
          <p:cNvSpPr txBox="1"/>
          <p:nvPr/>
        </p:nvSpPr>
        <p:spPr>
          <a:xfrm>
            <a:off x="6144768"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2" name="Shape 35"/>
          <p:cNvSpPr/>
          <p:nvPr/>
        </p:nvSpPr>
        <p:spPr>
          <a:xfrm>
            <a:off x="6565392" y="1837944"/>
            <a:ext cx="384048" cy="329184"/>
          </a:xfrm>
          <a:prstGeom prst="roundRect">
            <a:avLst>
              <a:gd name="adj" fmla="val 13889"/>
            </a:avLst>
          </a:prstGeom>
          <a:solidFill>
            <a:srgbClr val="E8F5EF"/>
          </a:solidFill>
          <a:ln w="9525">
            <a:solidFill>
              <a:srgbClr val="00A86A"/>
            </a:solidFill>
            <a:prstDash val="solid"/>
          </a:ln>
        </p:spPr>
      </p:sp>
      <p:sp>
        <p:nvSpPr>
          <p:cNvPr id="43" name="Text 36"/>
          <p:cNvSpPr txBox="1"/>
          <p:nvPr/>
        </p:nvSpPr>
        <p:spPr>
          <a:xfrm>
            <a:off x="6565392"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4" name="Shape 37"/>
          <p:cNvSpPr/>
          <p:nvPr/>
        </p:nvSpPr>
        <p:spPr>
          <a:xfrm>
            <a:off x="6986016" y="1837944"/>
            <a:ext cx="384048" cy="329184"/>
          </a:xfrm>
          <a:prstGeom prst="roundRect">
            <a:avLst>
              <a:gd name="adj" fmla="val 13889"/>
            </a:avLst>
          </a:prstGeom>
          <a:solidFill>
            <a:srgbClr val="E8F5EF"/>
          </a:solidFill>
          <a:ln w="9525">
            <a:solidFill>
              <a:srgbClr val="00A86A"/>
            </a:solidFill>
            <a:prstDash val="solid"/>
          </a:ln>
        </p:spPr>
      </p:sp>
      <p:sp>
        <p:nvSpPr>
          <p:cNvPr id="45" name="Text 38"/>
          <p:cNvSpPr txBox="1"/>
          <p:nvPr/>
        </p:nvSpPr>
        <p:spPr>
          <a:xfrm>
            <a:off x="6986016"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6" name="Shape 39"/>
          <p:cNvSpPr/>
          <p:nvPr/>
        </p:nvSpPr>
        <p:spPr>
          <a:xfrm>
            <a:off x="7406640" y="1837944"/>
            <a:ext cx="384048" cy="329184"/>
          </a:xfrm>
          <a:prstGeom prst="roundRect">
            <a:avLst>
              <a:gd name="adj" fmla="val 13889"/>
            </a:avLst>
          </a:prstGeom>
          <a:solidFill>
            <a:srgbClr val="E8F5EF"/>
          </a:solidFill>
          <a:ln w="9525">
            <a:solidFill>
              <a:srgbClr val="00A86A"/>
            </a:solidFill>
            <a:prstDash val="solid"/>
          </a:ln>
        </p:spPr>
      </p:sp>
      <p:sp>
        <p:nvSpPr>
          <p:cNvPr id="47" name="Text 40"/>
          <p:cNvSpPr txBox="1"/>
          <p:nvPr/>
        </p:nvSpPr>
        <p:spPr>
          <a:xfrm>
            <a:off x="7406640"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8" name="Shape 41"/>
          <p:cNvSpPr/>
          <p:nvPr/>
        </p:nvSpPr>
        <p:spPr>
          <a:xfrm>
            <a:off x="7827264" y="1837944"/>
            <a:ext cx="384048" cy="329184"/>
          </a:xfrm>
          <a:prstGeom prst="roundRect">
            <a:avLst>
              <a:gd name="adj" fmla="val 13889"/>
            </a:avLst>
          </a:prstGeom>
          <a:solidFill>
            <a:srgbClr val="E8F5EF"/>
          </a:solidFill>
          <a:ln w="9525">
            <a:solidFill>
              <a:srgbClr val="00A86A"/>
            </a:solidFill>
            <a:prstDash val="solid"/>
          </a:ln>
        </p:spPr>
      </p:sp>
      <p:sp>
        <p:nvSpPr>
          <p:cNvPr id="49" name="Text 42"/>
          <p:cNvSpPr txBox="1"/>
          <p:nvPr/>
        </p:nvSpPr>
        <p:spPr>
          <a:xfrm>
            <a:off x="7827264"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50" name="Text 43"/>
          <p:cNvSpPr txBox="1"/>
          <p:nvPr/>
        </p:nvSpPr>
        <p:spPr>
          <a:xfrm>
            <a:off x="8229600" y="1810512"/>
            <a:ext cx="411480" cy="384048"/>
          </a:xfrm>
          <a:prstGeom prst="rect">
            <a:avLst/>
          </a:prstGeom>
          <a:noFill/>
          <a:ln/>
        </p:spPr>
        <p:txBody>
          <a:bodyPr wrap="square" lIns="0" tIns="0" rIns="0" bIns="0" rtlCol="0" anchor="ctr"/>
          <a:lstStyle/>
          <a:p>
            <a:pPr marL="0" indent="0" algn="r">
              <a:buNone/>
            </a:pPr>
            <a:r>
              <a:rPr lang="en-US" sz="1100" b="1" dirty="0">
                <a:solidFill>
                  <a:srgbClr val="00A86A"/>
                </a:solidFill>
                <a:latin typeface="Calibri" pitchFamily="34" charset="0"/>
                <a:ea typeface="Calibri" pitchFamily="34" charset="-122"/>
                <a:cs typeface="Calibri" pitchFamily="34" charset="-120"/>
              </a:rPr>
              <a:t>100%</a:t>
            </a:r>
            <a:endParaRPr lang="en-US" sz="1100" dirty="0"/>
          </a:p>
        </p:txBody>
      </p:sp>
      <p:sp>
        <p:nvSpPr>
          <p:cNvPr id="51" name="Text 44"/>
          <p:cNvSpPr txBox="1"/>
          <p:nvPr/>
        </p:nvSpPr>
        <p:spPr>
          <a:xfrm>
            <a:off x="5742432" y="2377440"/>
            <a:ext cx="41148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E04</a:t>
            </a:r>
            <a:endParaRPr lang="en-US" sz="1100" dirty="0"/>
          </a:p>
        </p:txBody>
      </p:sp>
      <p:sp>
        <p:nvSpPr>
          <p:cNvPr id="52" name="Shape 45"/>
          <p:cNvSpPr/>
          <p:nvPr/>
        </p:nvSpPr>
        <p:spPr>
          <a:xfrm>
            <a:off x="6144768" y="2404872"/>
            <a:ext cx="384048" cy="329184"/>
          </a:xfrm>
          <a:prstGeom prst="roundRect">
            <a:avLst>
              <a:gd name="adj" fmla="val 13889"/>
            </a:avLst>
          </a:prstGeom>
          <a:solidFill>
            <a:srgbClr val="E8F5EF"/>
          </a:solidFill>
          <a:ln w="9525">
            <a:solidFill>
              <a:srgbClr val="00A86A"/>
            </a:solidFill>
            <a:prstDash val="solid"/>
          </a:ln>
        </p:spPr>
      </p:sp>
      <p:sp>
        <p:nvSpPr>
          <p:cNvPr id="53" name="Text 46"/>
          <p:cNvSpPr txBox="1"/>
          <p:nvPr/>
        </p:nvSpPr>
        <p:spPr>
          <a:xfrm>
            <a:off x="6144768" y="2404872"/>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2341</a:t>
            </a:r>
            <a:endParaRPr lang="en-US" sz="800" dirty="0"/>
          </a:p>
        </p:txBody>
      </p:sp>
      <p:sp>
        <p:nvSpPr>
          <p:cNvPr id="54" name="Shape 47"/>
          <p:cNvSpPr/>
          <p:nvPr/>
        </p:nvSpPr>
        <p:spPr>
          <a:xfrm>
            <a:off x="6565392" y="2404872"/>
            <a:ext cx="384048" cy="329184"/>
          </a:xfrm>
          <a:prstGeom prst="roundRect">
            <a:avLst>
              <a:gd name="adj" fmla="val 13889"/>
            </a:avLst>
          </a:prstGeom>
          <a:solidFill>
            <a:srgbClr val="E8F5EF"/>
          </a:solidFill>
          <a:ln w="9525">
            <a:solidFill>
              <a:srgbClr val="00A86A"/>
            </a:solidFill>
            <a:prstDash val="solid"/>
          </a:ln>
        </p:spPr>
      </p:sp>
      <p:sp>
        <p:nvSpPr>
          <p:cNvPr id="55" name="Text 48"/>
          <p:cNvSpPr txBox="1"/>
          <p:nvPr/>
        </p:nvSpPr>
        <p:spPr>
          <a:xfrm>
            <a:off x="6565392" y="2404872"/>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2341</a:t>
            </a:r>
            <a:endParaRPr lang="en-US" sz="800" dirty="0"/>
          </a:p>
        </p:txBody>
      </p:sp>
      <p:sp>
        <p:nvSpPr>
          <p:cNvPr id="56" name="Shape 49"/>
          <p:cNvSpPr/>
          <p:nvPr/>
        </p:nvSpPr>
        <p:spPr>
          <a:xfrm>
            <a:off x="6986016" y="2404872"/>
            <a:ext cx="384048" cy="329184"/>
          </a:xfrm>
          <a:prstGeom prst="roundRect">
            <a:avLst>
              <a:gd name="adj" fmla="val 13889"/>
            </a:avLst>
          </a:prstGeom>
          <a:solidFill>
            <a:srgbClr val="F6E3E0"/>
          </a:solidFill>
          <a:ln w="9525">
            <a:solidFill>
              <a:srgbClr val="B83B2E"/>
            </a:solidFill>
            <a:prstDash val="solid"/>
          </a:ln>
        </p:spPr>
      </p:sp>
      <p:sp>
        <p:nvSpPr>
          <p:cNvPr id="57" name="Text 50"/>
          <p:cNvSpPr txBox="1"/>
          <p:nvPr/>
        </p:nvSpPr>
        <p:spPr>
          <a:xfrm>
            <a:off x="6986016" y="2404872"/>
            <a:ext cx="384048" cy="329184"/>
          </a:xfrm>
          <a:prstGeom prst="rect">
            <a:avLst/>
          </a:prstGeom>
          <a:noFill/>
          <a:ln/>
        </p:spPr>
        <p:txBody>
          <a:bodyPr wrap="square" lIns="0" tIns="0" rIns="0" bIns="0" rtlCol="0" anchor="ctr"/>
          <a:lstStyle/>
          <a:p>
            <a:pPr marL="0" indent="0" algn="ctr">
              <a:buNone/>
            </a:pPr>
            <a:r>
              <a:rPr lang="en-US" sz="800" b="1" dirty="0">
                <a:solidFill>
                  <a:srgbClr val="B83B2E"/>
                </a:solidFill>
                <a:latin typeface="Courier New" pitchFamily="34" charset="0"/>
                <a:ea typeface="Courier New" pitchFamily="34" charset="-122"/>
                <a:cs typeface="Courier New" pitchFamily="34" charset="-120"/>
              </a:rPr>
              <a:t>5249</a:t>
            </a:r>
            <a:endParaRPr lang="en-US" sz="800" dirty="0"/>
          </a:p>
        </p:txBody>
      </p:sp>
      <p:sp>
        <p:nvSpPr>
          <p:cNvPr id="58" name="Shape 51"/>
          <p:cNvSpPr/>
          <p:nvPr/>
        </p:nvSpPr>
        <p:spPr>
          <a:xfrm>
            <a:off x="7406640" y="2404872"/>
            <a:ext cx="384048" cy="329184"/>
          </a:xfrm>
          <a:prstGeom prst="roundRect">
            <a:avLst>
              <a:gd name="adj" fmla="val 13889"/>
            </a:avLst>
          </a:prstGeom>
          <a:solidFill>
            <a:srgbClr val="E8F5EF"/>
          </a:solidFill>
          <a:ln w="9525">
            <a:solidFill>
              <a:srgbClr val="00A86A"/>
            </a:solidFill>
            <a:prstDash val="solid"/>
          </a:ln>
        </p:spPr>
      </p:sp>
      <p:sp>
        <p:nvSpPr>
          <p:cNvPr id="59" name="Text 52"/>
          <p:cNvSpPr txBox="1"/>
          <p:nvPr/>
        </p:nvSpPr>
        <p:spPr>
          <a:xfrm>
            <a:off x="7406640" y="2404872"/>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2341</a:t>
            </a:r>
            <a:endParaRPr lang="en-US" sz="800" dirty="0"/>
          </a:p>
        </p:txBody>
      </p:sp>
      <p:sp>
        <p:nvSpPr>
          <p:cNvPr id="60" name="Shape 53"/>
          <p:cNvSpPr/>
          <p:nvPr/>
        </p:nvSpPr>
        <p:spPr>
          <a:xfrm>
            <a:off x="7827264" y="2404872"/>
            <a:ext cx="384048" cy="329184"/>
          </a:xfrm>
          <a:prstGeom prst="roundRect">
            <a:avLst>
              <a:gd name="adj" fmla="val 13889"/>
            </a:avLst>
          </a:prstGeom>
          <a:solidFill>
            <a:srgbClr val="F6E3E0"/>
          </a:solidFill>
          <a:ln w="9525">
            <a:solidFill>
              <a:srgbClr val="B83B2E"/>
            </a:solidFill>
            <a:prstDash val="solid"/>
          </a:ln>
        </p:spPr>
      </p:sp>
      <p:sp>
        <p:nvSpPr>
          <p:cNvPr id="61" name="Text 54"/>
          <p:cNvSpPr txBox="1"/>
          <p:nvPr/>
        </p:nvSpPr>
        <p:spPr>
          <a:xfrm>
            <a:off x="7827264" y="2404872"/>
            <a:ext cx="384048" cy="329184"/>
          </a:xfrm>
          <a:prstGeom prst="rect">
            <a:avLst/>
          </a:prstGeom>
          <a:noFill/>
          <a:ln/>
        </p:spPr>
        <p:txBody>
          <a:bodyPr wrap="square" lIns="0" tIns="0" rIns="0" bIns="0" rtlCol="0" anchor="ctr"/>
          <a:lstStyle/>
          <a:p>
            <a:pPr marL="0" indent="0" algn="ctr">
              <a:buNone/>
            </a:pPr>
            <a:r>
              <a:rPr lang="en-US" sz="800" b="1" dirty="0">
                <a:solidFill>
                  <a:srgbClr val="B83B2E"/>
                </a:solidFill>
                <a:latin typeface="Courier New" pitchFamily="34" charset="0"/>
                <a:ea typeface="Courier New" pitchFamily="34" charset="-122"/>
                <a:cs typeface="Courier New" pitchFamily="34" charset="-120"/>
              </a:rPr>
              <a:t>5249</a:t>
            </a:r>
            <a:endParaRPr lang="en-US" sz="800" dirty="0"/>
          </a:p>
        </p:txBody>
      </p:sp>
      <p:sp>
        <p:nvSpPr>
          <p:cNvPr id="62" name="Text 55"/>
          <p:cNvSpPr txBox="1"/>
          <p:nvPr/>
        </p:nvSpPr>
        <p:spPr>
          <a:xfrm>
            <a:off x="8229600" y="2377440"/>
            <a:ext cx="411480" cy="384048"/>
          </a:xfrm>
          <a:prstGeom prst="rect">
            <a:avLst/>
          </a:prstGeom>
          <a:noFill/>
          <a:ln/>
        </p:spPr>
        <p:txBody>
          <a:bodyPr wrap="square" lIns="0" tIns="0" rIns="0" bIns="0" rtlCol="0" anchor="ctr"/>
          <a:lstStyle/>
          <a:p>
            <a:pPr marL="0" indent="0" algn="r">
              <a:buNone/>
            </a:pPr>
            <a:r>
              <a:rPr lang="en-US" sz="1100" b="1" dirty="0">
                <a:solidFill>
                  <a:srgbClr val="B83B2E"/>
                </a:solidFill>
                <a:latin typeface="Calibri" pitchFamily="34" charset="0"/>
                <a:ea typeface="Calibri" pitchFamily="34" charset="-122"/>
                <a:cs typeface="Calibri" pitchFamily="34" charset="-120"/>
              </a:rPr>
              <a:t>60%</a:t>
            </a:r>
            <a:endParaRPr lang="en-US" sz="1100" dirty="0"/>
          </a:p>
        </p:txBody>
      </p:sp>
      <p:sp>
        <p:nvSpPr>
          <p:cNvPr id="63" name="Text 56"/>
          <p:cNvSpPr txBox="1"/>
          <p:nvPr/>
        </p:nvSpPr>
        <p:spPr>
          <a:xfrm>
            <a:off x="5742432" y="2944368"/>
            <a:ext cx="41148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E05</a:t>
            </a:r>
            <a:endParaRPr lang="en-US" sz="1100" dirty="0"/>
          </a:p>
        </p:txBody>
      </p:sp>
      <p:sp>
        <p:nvSpPr>
          <p:cNvPr id="64" name="Shape 57"/>
          <p:cNvSpPr/>
          <p:nvPr/>
        </p:nvSpPr>
        <p:spPr>
          <a:xfrm>
            <a:off x="6144768" y="2971800"/>
            <a:ext cx="384048" cy="329184"/>
          </a:xfrm>
          <a:prstGeom prst="roundRect">
            <a:avLst>
              <a:gd name="adj" fmla="val 13889"/>
            </a:avLst>
          </a:prstGeom>
          <a:solidFill>
            <a:srgbClr val="E8F5EF"/>
          </a:solidFill>
          <a:ln w="9525">
            <a:solidFill>
              <a:srgbClr val="00A86A"/>
            </a:solidFill>
            <a:prstDash val="solid"/>
          </a:ln>
        </p:spPr>
      </p:sp>
      <p:sp>
        <p:nvSpPr>
          <p:cNvPr id="65" name="Text 58"/>
          <p:cNvSpPr txBox="1"/>
          <p:nvPr/>
        </p:nvSpPr>
        <p:spPr>
          <a:xfrm>
            <a:off x="6144768"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NC</a:t>
            </a:r>
            <a:endParaRPr lang="en-US" sz="800" dirty="0"/>
          </a:p>
        </p:txBody>
      </p:sp>
      <p:sp>
        <p:nvSpPr>
          <p:cNvPr id="66" name="Shape 59"/>
          <p:cNvSpPr/>
          <p:nvPr/>
        </p:nvSpPr>
        <p:spPr>
          <a:xfrm>
            <a:off x="6565392" y="2971800"/>
            <a:ext cx="384048" cy="329184"/>
          </a:xfrm>
          <a:prstGeom prst="roundRect">
            <a:avLst>
              <a:gd name="adj" fmla="val 13889"/>
            </a:avLst>
          </a:prstGeom>
          <a:solidFill>
            <a:srgbClr val="E8F5EF"/>
          </a:solidFill>
          <a:ln w="9525">
            <a:solidFill>
              <a:srgbClr val="00A86A"/>
            </a:solidFill>
            <a:prstDash val="solid"/>
          </a:ln>
        </p:spPr>
      </p:sp>
      <p:sp>
        <p:nvSpPr>
          <p:cNvPr id="67" name="Text 60"/>
          <p:cNvSpPr txBox="1"/>
          <p:nvPr/>
        </p:nvSpPr>
        <p:spPr>
          <a:xfrm>
            <a:off x="6565392"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NC</a:t>
            </a:r>
            <a:endParaRPr lang="en-US" sz="800" dirty="0"/>
          </a:p>
        </p:txBody>
      </p:sp>
      <p:sp>
        <p:nvSpPr>
          <p:cNvPr id="68" name="Shape 61"/>
          <p:cNvSpPr/>
          <p:nvPr/>
        </p:nvSpPr>
        <p:spPr>
          <a:xfrm>
            <a:off x="6986016" y="2971800"/>
            <a:ext cx="384048" cy="329184"/>
          </a:xfrm>
          <a:prstGeom prst="roundRect">
            <a:avLst>
              <a:gd name="adj" fmla="val 13889"/>
            </a:avLst>
          </a:prstGeom>
          <a:solidFill>
            <a:srgbClr val="E8F5EF"/>
          </a:solidFill>
          <a:ln w="9525">
            <a:solidFill>
              <a:srgbClr val="00A86A"/>
            </a:solidFill>
            <a:prstDash val="solid"/>
          </a:ln>
        </p:spPr>
      </p:sp>
      <p:sp>
        <p:nvSpPr>
          <p:cNvPr id="69" name="Text 62"/>
          <p:cNvSpPr txBox="1"/>
          <p:nvPr/>
        </p:nvSpPr>
        <p:spPr>
          <a:xfrm>
            <a:off x="6986016"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NC</a:t>
            </a:r>
            <a:endParaRPr lang="en-US" sz="800" dirty="0"/>
          </a:p>
        </p:txBody>
      </p:sp>
      <p:sp>
        <p:nvSpPr>
          <p:cNvPr id="70" name="Shape 63"/>
          <p:cNvSpPr/>
          <p:nvPr/>
        </p:nvSpPr>
        <p:spPr>
          <a:xfrm>
            <a:off x="7406640" y="2971800"/>
            <a:ext cx="384048" cy="329184"/>
          </a:xfrm>
          <a:prstGeom prst="roundRect">
            <a:avLst>
              <a:gd name="adj" fmla="val 13889"/>
            </a:avLst>
          </a:prstGeom>
          <a:solidFill>
            <a:srgbClr val="E8F5EF"/>
          </a:solidFill>
          <a:ln w="9525">
            <a:solidFill>
              <a:srgbClr val="00A86A"/>
            </a:solidFill>
            <a:prstDash val="solid"/>
          </a:ln>
        </p:spPr>
      </p:sp>
      <p:sp>
        <p:nvSpPr>
          <p:cNvPr id="71" name="Text 64"/>
          <p:cNvSpPr txBox="1"/>
          <p:nvPr/>
        </p:nvSpPr>
        <p:spPr>
          <a:xfrm>
            <a:off x="7406640"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NC</a:t>
            </a:r>
            <a:endParaRPr lang="en-US" sz="800" dirty="0"/>
          </a:p>
        </p:txBody>
      </p:sp>
      <p:sp>
        <p:nvSpPr>
          <p:cNvPr id="72" name="Shape 65"/>
          <p:cNvSpPr/>
          <p:nvPr/>
        </p:nvSpPr>
        <p:spPr>
          <a:xfrm>
            <a:off x="7827264" y="2971800"/>
            <a:ext cx="384048" cy="329184"/>
          </a:xfrm>
          <a:prstGeom prst="roundRect">
            <a:avLst>
              <a:gd name="adj" fmla="val 13889"/>
            </a:avLst>
          </a:prstGeom>
          <a:solidFill>
            <a:srgbClr val="E8F5EF"/>
          </a:solidFill>
          <a:ln w="9525">
            <a:solidFill>
              <a:srgbClr val="00A86A"/>
            </a:solidFill>
            <a:prstDash val="solid"/>
          </a:ln>
        </p:spPr>
      </p:sp>
      <p:sp>
        <p:nvSpPr>
          <p:cNvPr id="73" name="Text 66"/>
          <p:cNvSpPr txBox="1"/>
          <p:nvPr/>
        </p:nvSpPr>
        <p:spPr>
          <a:xfrm>
            <a:off x="7827264"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NC</a:t>
            </a:r>
            <a:endParaRPr lang="en-US" sz="800" dirty="0"/>
          </a:p>
        </p:txBody>
      </p:sp>
      <p:sp>
        <p:nvSpPr>
          <p:cNvPr id="74" name="Text 67"/>
          <p:cNvSpPr txBox="1"/>
          <p:nvPr/>
        </p:nvSpPr>
        <p:spPr>
          <a:xfrm>
            <a:off x="8229600" y="2944368"/>
            <a:ext cx="411480" cy="384048"/>
          </a:xfrm>
          <a:prstGeom prst="rect">
            <a:avLst/>
          </a:prstGeom>
          <a:noFill/>
          <a:ln/>
        </p:spPr>
        <p:txBody>
          <a:bodyPr wrap="square" lIns="0" tIns="0" rIns="0" bIns="0" rtlCol="0" anchor="ctr"/>
          <a:lstStyle/>
          <a:p>
            <a:pPr marL="0" indent="0" algn="r">
              <a:buNone/>
            </a:pPr>
            <a:r>
              <a:rPr lang="en-US" sz="1100" b="1" dirty="0">
                <a:solidFill>
                  <a:srgbClr val="00A86A"/>
                </a:solidFill>
                <a:latin typeface="Calibri" pitchFamily="34" charset="0"/>
                <a:ea typeface="Calibri" pitchFamily="34" charset="-122"/>
                <a:cs typeface="Calibri" pitchFamily="34" charset="-120"/>
              </a:rPr>
              <a:t>100%</a:t>
            </a:r>
            <a:endParaRPr lang="en-US" sz="1100" dirty="0"/>
          </a:p>
        </p:txBody>
      </p:sp>
      <p:sp>
        <p:nvSpPr>
          <p:cNvPr id="75" name="Text 68"/>
          <p:cNvSpPr txBox="1"/>
          <p:nvPr/>
        </p:nvSpPr>
        <p:spPr>
          <a:xfrm>
            <a:off x="5742432" y="3566160"/>
            <a:ext cx="27889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Taux d’accord = part des exécutions donnant la réponse la plus fréquente. Sous 100 % en codification, il faut regarder de près.</a:t>
            </a:r>
            <a:endParaRPr lang="en-US" sz="1000" dirty="0"/>
          </a:p>
        </p:txBody>
      </p:sp>
      <p:sp>
        <p:nvSpPr>
          <p:cNvPr id="76" name="Text 69"/>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Exécutions illustratives. NC = NON_CODABLE. 5249 = vendeurs non classés ailleurs (erreur plausible pour « vend du crédit téléphonique »).</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MAÎTRISER LA VARIANCE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leviers pour des sorties reproductibles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49A00"/>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Text 14"/>
          <p:cNvSpPr txBox="1"/>
          <p:nvPr/>
        </p:nvSpPr>
        <p:spPr>
          <a:xfrm>
            <a:off x="457200" y="1298448"/>
            <a:ext cx="3657600" cy="201168"/>
          </a:xfrm>
          <a:prstGeom prst="rect">
            <a:avLst/>
          </a:prstGeom>
          <a:noFill/>
          <a:ln/>
        </p:spPr>
        <p:txBody>
          <a:bodyPr wrap="square" lIns="0" tIns="0" rIns="0" bIns="0" rtlCol="0" anchor="t"/>
          <a:lstStyle/>
          <a:p>
            <a:pPr marL="0" indent="0">
              <a:buNone/>
            </a:pPr>
            <a:r>
              <a:rPr lang="en-US" sz="1000" b="1" kern="0" spc="200" dirty="0">
                <a:solidFill>
                  <a:srgbClr val="D49A00"/>
                </a:solidFill>
                <a:latin typeface="Calibri" pitchFamily="34" charset="0"/>
                <a:ea typeface="Calibri" pitchFamily="34" charset="-122"/>
                <a:cs typeface="Calibri" pitchFamily="34" charset="-120"/>
              </a:rPr>
              <a:t>PARAMÈTRES DU MODÈLE</a:t>
            </a:r>
            <a:endParaRPr lang="en-US" sz="1000" dirty="0"/>
          </a:p>
        </p:txBody>
      </p:sp>
      <p:sp>
        <p:nvSpPr>
          <p:cNvPr id="18" name="Text 15"/>
          <p:cNvSpPr txBox="1"/>
          <p:nvPr/>
        </p:nvSpPr>
        <p:spPr>
          <a:xfrm>
            <a:off x="4663440" y="1298448"/>
            <a:ext cx="3657600" cy="201168"/>
          </a:xfrm>
          <a:prstGeom prst="rect">
            <a:avLst/>
          </a:prstGeom>
          <a:noFill/>
          <a:ln/>
        </p:spPr>
        <p:txBody>
          <a:bodyPr wrap="square" lIns="0" tIns="0" rIns="0" bIns="0" rtlCol="0" anchor="t"/>
          <a:lstStyle/>
          <a:p>
            <a:pPr marL="0" indent="0">
              <a:buNone/>
            </a:pPr>
            <a:r>
              <a:rPr lang="en-US" sz="1000" b="1" kern="0" spc="200" dirty="0">
                <a:solidFill>
                  <a:srgbClr val="D49A00"/>
                </a:solidFill>
                <a:latin typeface="Calibri" pitchFamily="34" charset="0"/>
                <a:ea typeface="Calibri" pitchFamily="34" charset="-122"/>
                <a:cs typeface="Calibri" pitchFamily="34" charset="-120"/>
              </a:rPr>
              <a:t>CONCEPTION DU PROMPT</a:t>
            </a:r>
            <a:endParaRPr lang="en-US" sz="1000" dirty="0"/>
          </a:p>
        </p:txBody>
      </p:sp>
      <p:sp>
        <p:nvSpPr>
          <p:cNvPr id="19" name="Shape 16"/>
          <p:cNvSpPr/>
          <p:nvPr/>
        </p:nvSpPr>
        <p:spPr>
          <a:xfrm>
            <a:off x="457200" y="1600200"/>
            <a:ext cx="4023360" cy="658368"/>
          </a:xfrm>
          <a:prstGeom prst="roundRect">
            <a:avLst>
              <a:gd name="adj" fmla="val 11111"/>
            </a:avLst>
          </a:prstGeom>
          <a:solidFill>
            <a:srgbClr val="F4F7F5"/>
          </a:solidFill>
          <a:ln w="9525">
            <a:solidFill>
              <a:srgbClr val="D5DED9"/>
            </a:solidFill>
            <a:prstDash val="solid"/>
          </a:ln>
        </p:spPr>
      </p:sp>
      <p:sp>
        <p:nvSpPr>
          <p:cNvPr id="20" name="Shape 17"/>
          <p:cNvSpPr/>
          <p:nvPr/>
        </p:nvSpPr>
        <p:spPr>
          <a:xfrm>
            <a:off x="585216" y="1719072"/>
            <a:ext cx="420624" cy="420624"/>
          </a:xfrm>
          <a:prstGeom prst="ellipse">
            <a:avLst/>
          </a:prstGeom>
          <a:solidFill>
            <a:srgbClr val="D49A00">
              <a:alpha val="22000"/>
            </a:srgbClr>
          </a:solidFill>
          <a:ln/>
        </p:spPr>
      </p:sp>
      <p:pic>
        <p:nvPicPr>
          <p:cNvPr id="21" name="Image 0" descr="preencoded.png"/>
          <p:cNvPicPr>
            <a:picLocks noChangeAspect="1"/>
          </p:cNvPicPr>
          <p:nvPr/>
        </p:nvPicPr>
        <p:blipFill>
          <a:blip r:embed="rId3"/>
          <a:stretch>
            <a:fillRect/>
          </a:stretch>
        </p:blipFill>
        <p:spPr>
          <a:xfrm>
            <a:off x="686166" y="1820022"/>
            <a:ext cx="218724" cy="218724"/>
          </a:xfrm>
          <a:prstGeom prst="rect">
            <a:avLst/>
          </a:prstGeom>
        </p:spPr>
      </p:pic>
      <p:sp>
        <p:nvSpPr>
          <p:cNvPr id="22" name="Text 18"/>
          <p:cNvSpPr txBox="1"/>
          <p:nvPr/>
        </p:nvSpPr>
        <p:spPr>
          <a:xfrm>
            <a:off x="1143000" y="1673352"/>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Température basse</a:t>
            </a:r>
            <a:endParaRPr lang="en-US" sz="1250" dirty="0"/>
          </a:p>
        </p:txBody>
      </p:sp>
      <p:sp>
        <p:nvSpPr>
          <p:cNvPr id="23" name="Text 19"/>
          <p:cNvSpPr txBox="1"/>
          <p:nvPr/>
        </p:nvSpPr>
        <p:spPr>
          <a:xfrm>
            <a:off x="1143000" y="1920240"/>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0 à 0,2 pour extraire et coder ; plus haut seulement pour rédiger.</a:t>
            </a:r>
            <a:endParaRPr lang="en-US" sz="1000" dirty="0"/>
          </a:p>
        </p:txBody>
      </p:sp>
      <p:sp>
        <p:nvSpPr>
          <p:cNvPr id="24" name="Shape 20"/>
          <p:cNvSpPr/>
          <p:nvPr/>
        </p:nvSpPr>
        <p:spPr>
          <a:xfrm>
            <a:off x="457200" y="2359152"/>
            <a:ext cx="4023360" cy="658368"/>
          </a:xfrm>
          <a:prstGeom prst="roundRect">
            <a:avLst>
              <a:gd name="adj" fmla="val 11111"/>
            </a:avLst>
          </a:prstGeom>
          <a:solidFill>
            <a:srgbClr val="F4F7F5"/>
          </a:solidFill>
          <a:ln w="9525">
            <a:solidFill>
              <a:srgbClr val="D5DED9"/>
            </a:solidFill>
            <a:prstDash val="solid"/>
          </a:ln>
        </p:spPr>
      </p:sp>
      <p:sp>
        <p:nvSpPr>
          <p:cNvPr id="25" name="Shape 21"/>
          <p:cNvSpPr/>
          <p:nvPr/>
        </p:nvSpPr>
        <p:spPr>
          <a:xfrm>
            <a:off x="585216" y="2478024"/>
            <a:ext cx="420624" cy="420624"/>
          </a:xfrm>
          <a:prstGeom prst="ellipse">
            <a:avLst/>
          </a:prstGeom>
          <a:solidFill>
            <a:srgbClr val="D49A00">
              <a:alpha val="22000"/>
            </a:srgbClr>
          </a:solidFill>
          <a:ln/>
        </p:spPr>
      </p:sp>
      <p:pic>
        <p:nvPicPr>
          <p:cNvPr id="26" name="Image 1" descr="preencoded.png"/>
          <p:cNvPicPr>
            <a:picLocks noChangeAspect="1"/>
          </p:cNvPicPr>
          <p:nvPr/>
        </p:nvPicPr>
        <p:blipFill>
          <a:blip r:embed="rId4"/>
          <a:stretch>
            <a:fillRect/>
          </a:stretch>
        </p:blipFill>
        <p:spPr>
          <a:xfrm>
            <a:off x="686166" y="2578974"/>
            <a:ext cx="218724" cy="218724"/>
          </a:xfrm>
          <a:prstGeom prst="rect">
            <a:avLst/>
          </a:prstGeom>
        </p:spPr>
      </p:pic>
      <p:sp>
        <p:nvSpPr>
          <p:cNvPr id="27" name="Text 22"/>
          <p:cNvSpPr txBox="1"/>
          <p:nvPr/>
        </p:nvSpPr>
        <p:spPr>
          <a:xfrm>
            <a:off x="1143000" y="2432304"/>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Figer la version du modèle</a:t>
            </a:r>
            <a:endParaRPr lang="en-US" sz="1250" dirty="0"/>
          </a:p>
        </p:txBody>
      </p:sp>
      <p:sp>
        <p:nvSpPr>
          <p:cNvPr id="28" name="Text 23"/>
          <p:cNvSpPr txBox="1"/>
          <p:nvPr/>
        </p:nvSpPr>
        <p:spPr>
          <a:xfrm>
            <a:off x="1143000" y="2679192"/>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Utiliser l’identifiant daté du modèle et le noter au journal.</a:t>
            </a:r>
            <a:endParaRPr lang="en-US" sz="1000" dirty="0"/>
          </a:p>
        </p:txBody>
      </p:sp>
      <p:sp>
        <p:nvSpPr>
          <p:cNvPr id="29" name="Shape 24"/>
          <p:cNvSpPr/>
          <p:nvPr/>
        </p:nvSpPr>
        <p:spPr>
          <a:xfrm>
            <a:off x="457200" y="3118104"/>
            <a:ext cx="4023360" cy="658368"/>
          </a:xfrm>
          <a:prstGeom prst="roundRect">
            <a:avLst>
              <a:gd name="adj" fmla="val 11111"/>
            </a:avLst>
          </a:prstGeom>
          <a:solidFill>
            <a:srgbClr val="F4F7F5"/>
          </a:solidFill>
          <a:ln w="9525">
            <a:solidFill>
              <a:srgbClr val="D5DED9"/>
            </a:solidFill>
            <a:prstDash val="solid"/>
          </a:ln>
        </p:spPr>
      </p:sp>
      <p:sp>
        <p:nvSpPr>
          <p:cNvPr id="30" name="Shape 25"/>
          <p:cNvSpPr/>
          <p:nvPr/>
        </p:nvSpPr>
        <p:spPr>
          <a:xfrm>
            <a:off x="585216" y="3236976"/>
            <a:ext cx="420624" cy="420624"/>
          </a:xfrm>
          <a:prstGeom prst="ellipse">
            <a:avLst/>
          </a:prstGeom>
          <a:solidFill>
            <a:srgbClr val="D49A00">
              <a:alpha val="22000"/>
            </a:srgbClr>
          </a:solidFill>
          <a:ln/>
        </p:spPr>
      </p:sp>
      <p:pic>
        <p:nvPicPr>
          <p:cNvPr id="31" name="Image 2" descr="preencoded.png"/>
          <p:cNvPicPr>
            <a:picLocks noChangeAspect="1"/>
          </p:cNvPicPr>
          <p:nvPr/>
        </p:nvPicPr>
        <p:blipFill>
          <a:blip r:embed="rId5"/>
          <a:stretch>
            <a:fillRect/>
          </a:stretch>
        </p:blipFill>
        <p:spPr>
          <a:xfrm>
            <a:off x="686166" y="3337926"/>
            <a:ext cx="218724" cy="218724"/>
          </a:xfrm>
          <a:prstGeom prst="rect">
            <a:avLst/>
          </a:prstGeom>
        </p:spPr>
      </p:pic>
      <p:sp>
        <p:nvSpPr>
          <p:cNvPr id="32" name="Text 26"/>
          <p:cNvSpPr txBox="1"/>
          <p:nvPr/>
        </p:nvSpPr>
        <p:spPr>
          <a:xfrm>
            <a:off x="1143000" y="3191256"/>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Plafonner la sortie</a:t>
            </a:r>
            <a:endParaRPr lang="en-US" sz="1250" dirty="0"/>
          </a:p>
        </p:txBody>
      </p:sp>
      <p:sp>
        <p:nvSpPr>
          <p:cNvPr id="33" name="Text 27"/>
          <p:cNvSpPr txBox="1"/>
          <p:nvPr/>
        </p:nvSpPr>
        <p:spPr>
          <a:xfrm>
            <a:off x="1143000" y="3438144"/>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Fixer max tokens et une limite de mots ; les réponses longues dérivent.</a:t>
            </a:r>
            <a:endParaRPr lang="en-US" sz="1000" dirty="0"/>
          </a:p>
        </p:txBody>
      </p:sp>
      <p:sp>
        <p:nvSpPr>
          <p:cNvPr id="34" name="Shape 28"/>
          <p:cNvSpPr/>
          <p:nvPr/>
        </p:nvSpPr>
        <p:spPr>
          <a:xfrm>
            <a:off x="4663440" y="1600200"/>
            <a:ext cx="4023360" cy="658368"/>
          </a:xfrm>
          <a:prstGeom prst="roundRect">
            <a:avLst>
              <a:gd name="adj" fmla="val 11111"/>
            </a:avLst>
          </a:prstGeom>
          <a:solidFill>
            <a:srgbClr val="F4F7F5"/>
          </a:solidFill>
          <a:ln w="9525">
            <a:solidFill>
              <a:srgbClr val="D5DED9"/>
            </a:solidFill>
            <a:prstDash val="solid"/>
          </a:ln>
        </p:spPr>
      </p:sp>
      <p:sp>
        <p:nvSpPr>
          <p:cNvPr id="35" name="Shape 29"/>
          <p:cNvSpPr/>
          <p:nvPr/>
        </p:nvSpPr>
        <p:spPr>
          <a:xfrm>
            <a:off x="4791456" y="1719072"/>
            <a:ext cx="420624" cy="420624"/>
          </a:xfrm>
          <a:prstGeom prst="ellipse">
            <a:avLst/>
          </a:prstGeom>
          <a:solidFill>
            <a:srgbClr val="D49A00">
              <a:alpha val="22000"/>
            </a:srgbClr>
          </a:solidFill>
          <a:ln/>
        </p:spPr>
      </p:sp>
      <p:pic>
        <p:nvPicPr>
          <p:cNvPr id="36" name="Image 3" descr="preencoded.png"/>
          <p:cNvPicPr>
            <a:picLocks noChangeAspect="1"/>
          </p:cNvPicPr>
          <p:nvPr/>
        </p:nvPicPr>
        <p:blipFill>
          <a:blip r:embed="rId6"/>
          <a:stretch>
            <a:fillRect/>
          </a:stretch>
        </p:blipFill>
        <p:spPr>
          <a:xfrm>
            <a:off x="4892406" y="1820022"/>
            <a:ext cx="218724" cy="218724"/>
          </a:xfrm>
          <a:prstGeom prst="rect">
            <a:avLst/>
          </a:prstGeom>
        </p:spPr>
      </p:pic>
      <p:sp>
        <p:nvSpPr>
          <p:cNvPr id="37" name="Text 30"/>
          <p:cNvSpPr txBox="1"/>
          <p:nvPr/>
        </p:nvSpPr>
        <p:spPr>
          <a:xfrm>
            <a:off x="5349240" y="1673352"/>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Contraindre le format</a:t>
            </a:r>
            <a:endParaRPr lang="en-US" sz="1250" dirty="0"/>
          </a:p>
        </p:txBody>
      </p:sp>
      <p:sp>
        <p:nvSpPr>
          <p:cNvPr id="38" name="Text 31"/>
          <p:cNvSpPr txBox="1"/>
          <p:nvPr/>
        </p:nvSpPr>
        <p:spPr>
          <a:xfrm>
            <a:off x="5349240" y="1920240"/>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Schéma JSON avec une liste fermée de valeurs autorisées.</a:t>
            </a:r>
            <a:endParaRPr lang="en-US" sz="1000" dirty="0"/>
          </a:p>
        </p:txBody>
      </p:sp>
      <p:sp>
        <p:nvSpPr>
          <p:cNvPr id="39" name="Shape 32"/>
          <p:cNvSpPr/>
          <p:nvPr/>
        </p:nvSpPr>
        <p:spPr>
          <a:xfrm>
            <a:off x="4663440" y="2359152"/>
            <a:ext cx="4023360" cy="658368"/>
          </a:xfrm>
          <a:prstGeom prst="roundRect">
            <a:avLst>
              <a:gd name="adj" fmla="val 11111"/>
            </a:avLst>
          </a:prstGeom>
          <a:solidFill>
            <a:srgbClr val="F4F7F5"/>
          </a:solidFill>
          <a:ln w="9525">
            <a:solidFill>
              <a:srgbClr val="D5DED9"/>
            </a:solidFill>
            <a:prstDash val="solid"/>
          </a:ln>
        </p:spPr>
      </p:sp>
      <p:sp>
        <p:nvSpPr>
          <p:cNvPr id="40" name="Shape 33"/>
          <p:cNvSpPr/>
          <p:nvPr/>
        </p:nvSpPr>
        <p:spPr>
          <a:xfrm>
            <a:off x="4791456" y="2478024"/>
            <a:ext cx="420624" cy="420624"/>
          </a:xfrm>
          <a:prstGeom prst="ellipse">
            <a:avLst/>
          </a:prstGeom>
          <a:solidFill>
            <a:srgbClr val="D49A00">
              <a:alpha val="22000"/>
            </a:srgbClr>
          </a:solidFill>
          <a:ln/>
        </p:spPr>
      </p:sp>
      <p:pic>
        <p:nvPicPr>
          <p:cNvPr id="41" name="Image 4" descr="preencoded.png"/>
          <p:cNvPicPr>
            <a:picLocks noChangeAspect="1"/>
          </p:cNvPicPr>
          <p:nvPr/>
        </p:nvPicPr>
        <p:blipFill>
          <a:blip r:embed="rId7"/>
          <a:stretch>
            <a:fillRect/>
          </a:stretch>
        </p:blipFill>
        <p:spPr>
          <a:xfrm>
            <a:off x="4892406" y="2578974"/>
            <a:ext cx="218724" cy="218724"/>
          </a:xfrm>
          <a:prstGeom prst="rect">
            <a:avLst/>
          </a:prstGeom>
        </p:spPr>
      </p:pic>
      <p:sp>
        <p:nvSpPr>
          <p:cNvPr id="42" name="Text 34"/>
          <p:cNvSpPr txBox="1"/>
          <p:nvPr/>
        </p:nvSpPr>
        <p:spPr>
          <a:xfrm>
            <a:off x="5349240" y="2432304"/>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Écrire des règles d’arbitrage</a:t>
            </a:r>
            <a:endParaRPr lang="en-US" sz="1250" dirty="0"/>
          </a:p>
        </p:txBody>
      </p:sp>
      <p:sp>
        <p:nvSpPr>
          <p:cNvPr id="43" name="Text 35"/>
          <p:cNvSpPr txBox="1"/>
          <p:nvPr/>
        </p:nvSpPr>
        <p:spPr>
          <a:xfrm>
            <a:off x="5349240" y="2679192"/>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 Si deux emplois, coder celui qui compte le plus d’heures. »</a:t>
            </a:r>
            <a:endParaRPr lang="en-US" sz="1000" dirty="0"/>
          </a:p>
        </p:txBody>
      </p:sp>
      <p:sp>
        <p:nvSpPr>
          <p:cNvPr id="44" name="Shape 36"/>
          <p:cNvSpPr/>
          <p:nvPr/>
        </p:nvSpPr>
        <p:spPr>
          <a:xfrm>
            <a:off x="4663440" y="3118104"/>
            <a:ext cx="4023360" cy="658368"/>
          </a:xfrm>
          <a:prstGeom prst="roundRect">
            <a:avLst>
              <a:gd name="adj" fmla="val 11111"/>
            </a:avLst>
          </a:prstGeom>
          <a:solidFill>
            <a:srgbClr val="F4F7F5"/>
          </a:solidFill>
          <a:ln w="9525">
            <a:solidFill>
              <a:srgbClr val="D5DED9"/>
            </a:solidFill>
            <a:prstDash val="solid"/>
          </a:ln>
        </p:spPr>
      </p:sp>
      <p:sp>
        <p:nvSpPr>
          <p:cNvPr id="45" name="Shape 37"/>
          <p:cNvSpPr/>
          <p:nvPr/>
        </p:nvSpPr>
        <p:spPr>
          <a:xfrm>
            <a:off x="4791456" y="3236976"/>
            <a:ext cx="420624" cy="420624"/>
          </a:xfrm>
          <a:prstGeom prst="ellipse">
            <a:avLst/>
          </a:prstGeom>
          <a:solidFill>
            <a:srgbClr val="D49A00">
              <a:alpha val="22000"/>
            </a:srgbClr>
          </a:solidFill>
          <a:ln/>
        </p:spPr>
      </p:sp>
      <p:pic>
        <p:nvPicPr>
          <p:cNvPr id="46" name="Image 5" descr="preencoded.png"/>
          <p:cNvPicPr>
            <a:picLocks noChangeAspect="1"/>
          </p:cNvPicPr>
          <p:nvPr/>
        </p:nvPicPr>
        <p:blipFill>
          <a:blip r:embed="rId8"/>
          <a:stretch>
            <a:fillRect/>
          </a:stretch>
        </p:blipFill>
        <p:spPr>
          <a:xfrm>
            <a:off x="4892406" y="3337926"/>
            <a:ext cx="218724" cy="218724"/>
          </a:xfrm>
          <a:prstGeom prst="rect">
            <a:avLst/>
          </a:prstGeom>
        </p:spPr>
      </p:pic>
      <p:sp>
        <p:nvSpPr>
          <p:cNvPr id="47" name="Text 38"/>
          <p:cNvSpPr txBox="1"/>
          <p:nvPr/>
        </p:nvSpPr>
        <p:spPr>
          <a:xfrm>
            <a:off x="5349240" y="3191256"/>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Voter sur les cas difficiles</a:t>
            </a:r>
            <a:endParaRPr lang="en-US" sz="1250" dirty="0"/>
          </a:p>
        </p:txBody>
      </p:sp>
      <p:sp>
        <p:nvSpPr>
          <p:cNvPr id="48" name="Text 39"/>
          <p:cNvSpPr txBox="1"/>
          <p:nvPr/>
        </p:nvSpPr>
        <p:spPr>
          <a:xfrm>
            <a:off x="5349240" y="3438144"/>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3 à 5 exécutions, réponse majoritaire, désaccords vers un humain.</a:t>
            </a:r>
            <a:endParaRPr lang="en-US" sz="1000" dirty="0"/>
          </a:p>
        </p:txBody>
      </p:sp>
      <p:sp>
        <p:nvSpPr>
          <p:cNvPr id="49" name="Shape 40"/>
          <p:cNvSpPr/>
          <p:nvPr/>
        </p:nvSpPr>
        <p:spPr>
          <a:xfrm>
            <a:off x="457200" y="3959352"/>
            <a:ext cx="8229600" cy="548640"/>
          </a:xfrm>
          <a:prstGeom prst="roundRect">
            <a:avLst>
              <a:gd name="adj" fmla="val 10000"/>
            </a:avLst>
          </a:prstGeom>
          <a:solidFill>
            <a:srgbClr val="D49A00">
              <a:alpha val="13000"/>
            </a:srgbClr>
          </a:solidFill>
          <a:ln w="12700">
            <a:solidFill>
              <a:srgbClr val="D49A00"/>
            </a:solidFill>
            <a:prstDash val="solid"/>
          </a:ln>
        </p:spPr>
      </p:sp>
      <p:pic>
        <p:nvPicPr>
          <p:cNvPr id="50" name="Image 6" descr="preencoded.png"/>
          <p:cNvPicPr>
            <a:picLocks noChangeAspect="1"/>
          </p:cNvPicPr>
          <p:nvPr/>
        </p:nvPicPr>
        <p:blipFill>
          <a:blip r:embed="rId9"/>
          <a:stretch>
            <a:fillRect/>
          </a:stretch>
        </p:blipFill>
        <p:spPr>
          <a:xfrm>
            <a:off x="621792" y="4114800"/>
            <a:ext cx="256032" cy="237744"/>
          </a:xfrm>
          <a:prstGeom prst="rect">
            <a:avLst/>
          </a:prstGeom>
        </p:spPr>
      </p:pic>
      <p:sp>
        <p:nvSpPr>
          <p:cNvPr id="51" name="Text 41"/>
          <p:cNvSpPr txBox="1"/>
          <p:nvPr/>
        </p:nvSpPr>
        <p:spPr>
          <a:xfrm>
            <a:off x="1005840" y="3959352"/>
            <a:ext cx="7589520" cy="54864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Une température de 0 réduit l’aléa ; elle ne garantit pas des sorties identiques. </a:t>
            </a:r>
            <a:r>
              <a:rPr lang="en-US" sz="1150" dirty="0">
                <a:solidFill>
                  <a:srgbClr val="231F20"/>
                </a:solidFill>
                <a:latin typeface="Calibri" pitchFamily="34" charset="0"/>
                <a:ea typeface="Calibri" pitchFamily="34" charset="-122"/>
                <a:cs typeface="Calibri" pitchFamily="34" charset="-120"/>
              </a:rPr>
              <a:t>Mesurez toujours l’accord sur votre jeu d’évaluation.</a:t>
            </a:r>
            <a:endParaRPr lang="en-US" sz="1150" dirty="0"/>
          </a:p>
        </p:txBody>
      </p:sp>
      <p:sp>
        <p:nvSpPr>
          <p:cNvPr id="52" name="Text 42"/>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Auto-cohérence : Wang et al. (2022), « Self-Consistency Improves Chain of Thought Reasoning in Language Models », arXiv:2203.11171.</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 SUR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05</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Contexte, jetons, coûts</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Combien coûterait la codification de 100 000 réponses d’enquête ?</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5C242"/>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19</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CONTEXTE, JETONS ET COÛTS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Les jetons : unité du contexte et du coût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8229600" cy="1097280"/>
          </a:xfrm>
          <a:prstGeom prst="roundRect">
            <a:avLst>
              <a:gd name="adj" fmla="val 6667"/>
            </a:avLst>
          </a:prstGeom>
          <a:solidFill>
            <a:srgbClr val="FFFFFF"/>
          </a:solidFill>
          <a:ln w="9525">
            <a:solidFill>
              <a:srgbClr val="D5DED9"/>
            </a:solidFill>
            <a:prstDash val="solid"/>
          </a:ln>
        </p:spPr>
      </p:sp>
      <p:sp>
        <p:nvSpPr>
          <p:cNvPr id="18" name="Text 15"/>
          <p:cNvSpPr txBox="1"/>
          <p:nvPr/>
        </p:nvSpPr>
        <p:spPr>
          <a:xfrm>
            <a:off x="640080" y="1417320"/>
            <a:ext cx="5486400" cy="201168"/>
          </a:xfrm>
          <a:prstGeom prst="rect">
            <a:avLst/>
          </a:prstGeom>
          <a:noFill/>
          <a:ln/>
        </p:spPr>
        <p:txBody>
          <a:bodyPr wrap="square" lIns="0" tIns="0" rIns="0" bIns="0" rtlCol="0" anchor="t"/>
          <a:lstStyle/>
          <a:p>
            <a:pPr marL="0" indent="0">
              <a:buNone/>
            </a:pPr>
            <a:r>
              <a:rPr lang="en-US" sz="1000" b="1" kern="0" spc="100" dirty="0">
                <a:solidFill>
                  <a:srgbClr val="C4621D"/>
                </a:solidFill>
                <a:latin typeface="Calibri" pitchFamily="34" charset="0"/>
                <a:ea typeface="Calibri" pitchFamily="34" charset="-122"/>
                <a:cs typeface="Calibri" pitchFamily="34" charset="-120"/>
              </a:rPr>
              <a:t>COMMENT UN MODÈLE LIT UNE PHRASE (DÉCOUPAGE ILLUSTRATIF)</a:t>
            </a:r>
            <a:endParaRPr lang="en-US" sz="1000" dirty="0"/>
          </a:p>
        </p:txBody>
      </p:sp>
      <p:sp>
        <p:nvSpPr>
          <p:cNvPr id="19" name="Shape 16"/>
          <p:cNvSpPr/>
          <p:nvPr/>
        </p:nvSpPr>
        <p:spPr>
          <a:xfrm>
            <a:off x="640080" y="1755648"/>
            <a:ext cx="260604" cy="384048"/>
          </a:xfrm>
          <a:prstGeom prst="roundRect">
            <a:avLst>
              <a:gd name="adj" fmla="val 17544"/>
            </a:avLst>
          </a:prstGeom>
          <a:solidFill>
            <a:srgbClr val="9ED9C0"/>
          </a:solidFill>
          <a:ln/>
        </p:spPr>
      </p:sp>
      <p:sp>
        <p:nvSpPr>
          <p:cNvPr id="20" name="Text 17"/>
          <p:cNvSpPr txBox="1"/>
          <p:nvPr/>
        </p:nvSpPr>
        <p:spPr>
          <a:xfrm>
            <a:off x="640080"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L</a:t>
            </a:r>
            <a:endParaRPr lang="en-US" sz="1200" dirty="0"/>
          </a:p>
        </p:txBody>
      </p:sp>
      <p:sp>
        <p:nvSpPr>
          <p:cNvPr id="21" name="Shape 18"/>
          <p:cNvSpPr/>
          <p:nvPr/>
        </p:nvSpPr>
        <p:spPr>
          <a:xfrm>
            <a:off x="955548" y="1755648"/>
            <a:ext cx="260604" cy="384048"/>
          </a:xfrm>
          <a:prstGeom prst="roundRect">
            <a:avLst>
              <a:gd name="adj" fmla="val 17544"/>
            </a:avLst>
          </a:prstGeom>
          <a:solidFill>
            <a:srgbClr val="F6DFC9"/>
          </a:solidFill>
          <a:ln/>
        </p:spPr>
      </p:sp>
      <p:sp>
        <p:nvSpPr>
          <p:cNvPr id="22" name="Text 19"/>
          <p:cNvSpPr txBox="1"/>
          <p:nvPr/>
        </p:nvSpPr>
        <p:spPr>
          <a:xfrm>
            <a:off x="955548"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t>
            </a:r>
            <a:endParaRPr lang="en-US" sz="1200" dirty="0"/>
          </a:p>
        </p:txBody>
      </p:sp>
      <p:sp>
        <p:nvSpPr>
          <p:cNvPr id="23" name="Shape 20"/>
          <p:cNvSpPr/>
          <p:nvPr/>
        </p:nvSpPr>
        <p:spPr>
          <a:xfrm>
            <a:off x="1271016" y="1755648"/>
            <a:ext cx="649224" cy="384048"/>
          </a:xfrm>
          <a:prstGeom prst="roundRect">
            <a:avLst>
              <a:gd name="adj" fmla="val 11905"/>
            </a:avLst>
          </a:prstGeom>
          <a:solidFill>
            <a:srgbClr val="CFE7EA"/>
          </a:solidFill>
          <a:ln/>
        </p:spPr>
      </p:sp>
      <p:sp>
        <p:nvSpPr>
          <p:cNvPr id="24" name="Text 21"/>
          <p:cNvSpPr txBox="1"/>
          <p:nvPr/>
        </p:nvSpPr>
        <p:spPr>
          <a:xfrm>
            <a:off x="1271016" y="1755648"/>
            <a:ext cx="64922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indice</a:t>
            </a:r>
            <a:endParaRPr lang="en-US" sz="1200" dirty="0"/>
          </a:p>
        </p:txBody>
      </p:sp>
      <p:sp>
        <p:nvSpPr>
          <p:cNvPr id="25" name="Shape 22"/>
          <p:cNvSpPr/>
          <p:nvPr/>
        </p:nvSpPr>
        <p:spPr>
          <a:xfrm>
            <a:off x="1975104" y="1755648"/>
            <a:ext cx="493776" cy="384048"/>
          </a:xfrm>
          <a:prstGeom prst="roundRect">
            <a:avLst>
              <a:gd name="adj" fmla="val 11905"/>
            </a:avLst>
          </a:prstGeom>
          <a:solidFill>
            <a:srgbClr val="F9E7B4"/>
          </a:solidFill>
          <a:ln/>
        </p:spPr>
      </p:sp>
      <p:sp>
        <p:nvSpPr>
          <p:cNvPr id="26" name="Text 23"/>
          <p:cNvSpPr txBox="1"/>
          <p:nvPr/>
        </p:nvSpPr>
        <p:spPr>
          <a:xfrm>
            <a:off x="1975104" y="1755648"/>
            <a:ext cx="493776"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des</a:t>
            </a:r>
            <a:endParaRPr lang="en-US" sz="1200" dirty="0"/>
          </a:p>
        </p:txBody>
      </p:sp>
      <p:sp>
        <p:nvSpPr>
          <p:cNvPr id="27" name="Shape 24"/>
          <p:cNvSpPr/>
          <p:nvPr/>
        </p:nvSpPr>
        <p:spPr>
          <a:xfrm>
            <a:off x="2523744" y="1755648"/>
            <a:ext cx="571500" cy="384048"/>
          </a:xfrm>
          <a:prstGeom prst="roundRect">
            <a:avLst>
              <a:gd name="adj" fmla="val 11905"/>
            </a:avLst>
          </a:prstGeom>
          <a:solidFill>
            <a:srgbClr val="9ED9C0"/>
          </a:solidFill>
          <a:ln/>
        </p:spPr>
      </p:sp>
      <p:sp>
        <p:nvSpPr>
          <p:cNvPr id="28" name="Text 25"/>
          <p:cNvSpPr txBox="1"/>
          <p:nvPr/>
        </p:nvSpPr>
        <p:spPr>
          <a:xfrm>
            <a:off x="2523744" y="1755648"/>
            <a:ext cx="571500"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prix</a:t>
            </a:r>
            <a:endParaRPr lang="en-US" sz="1200" dirty="0"/>
          </a:p>
        </p:txBody>
      </p:sp>
      <p:sp>
        <p:nvSpPr>
          <p:cNvPr id="29" name="Shape 26"/>
          <p:cNvSpPr/>
          <p:nvPr/>
        </p:nvSpPr>
        <p:spPr>
          <a:xfrm>
            <a:off x="3150108" y="1755648"/>
            <a:ext cx="338328" cy="384048"/>
          </a:xfrm>
          <a:prstGeom prst="roundRect">
            <a:avLst>
              <a:gd name="adj" fmla="val 13514"/>
            </a:avLst>
          </a:prstGeom>
          <a:solidFill>
            <a:srgbClr val="F6DFC9"/>
          </a:solidFill>
          <a:ln/>
        </p:spPr>
      </p:sp>
      <p:sp>
        <p:nvSpPr>
          <p:cNvPr id="30" name="Text 27"/>
          <p:cNvSpPr txBox="1"/>
          <p:nvPr/>
        </p:nvSpPr>
        <p:spPr>
          <a:xfrm>
            <a:off x="3150108" y="1755648"/>
            <a:ext cx="338328"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a:t>
            </a:r>
            <a:endParaRPr lang="en-US" sz="1200" dirty="0"/>
          </a:p>
        </p:txBody>
      </p:sp>
      <p:sp>
        <p:nvSpPr>
          <p:cNvPr id="31" name="Shape 28"/>
          <p:cNvSpPr/>
          <p:nvPr/>
        </p:nvSpPr>
        <p:spPr>
          <a:xfrm>
            <a:off x="3543300" y="1755648"/>
            <a:ext cx="493776" cy="384048"/>
          </a:xfrm>
          <a:prstGeom prst="roundRect">
            <a:avLst>
              <a:gd name="adj" fmla="val 11905"/>
            </a:avLst>
          </a:prstGeom>
          <a:solidFill>
            <a:srgbClr val="CFE7EA"/>
          </a:solidFill>
          <a:ln/>
        </p:spPr>
      </p:sp>
      <p:sp>
        <p:nvSpPr>
          <p:cNvPr id="32" name="Text 29"/>
          <p:cNvSpPr txBox="1"/>
          <p:nvPr/>
        </p:nvSpPr>
        <p:spPr>
          <a:xfrm>
            <a:off x="3543300" y="1755648"/>
            <a:ext cx="493776"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aug</a:t>
            </a:r>
            <a:endParaRPr lang="en-US" sz="1200" dirty="0"/>
          </a:p>
        </p:txBody>
      </p:sp>
      <p:sp>
        <p:nvSpPr>
          <p:cNvPr id="33" name="Shape 30"/>
          <p:cNvSpPr/>
          <p:nvPr/>
        </p:nvSpPr>
        <p:spPr>
          <a:xfrm>
            <a:off x="4091940" y="1755648"/>
            <a:ext cx="571500" cy="384048"/>
          </a:xfrm>
          <a:prstGeom prst="roundRect">
            <a:avLst>
              <a:gd name="adj" fmla="val 11905"/>
            </a:avLst>
          </a:prstGeom>
          <a:solidFill>
            <a:srgbClr val="F9E7B4"/>
          </a:solidFill>
          <a:ln/>
        </p:spPr>
      </p:sp>
      <p:sp>
        <p:nvSpPr>
          <p:cNvPr id="34" name="Text 31"/>
          <p:cNvSpPr txBox="1"/>
          <p:nvPr/>
        </p:nvSpPr>
        <p:spPr>
          <a:xfrm>
            <a:off x="4091940" y="1755648"/>
            <a:ext cx="571500"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menté</a:t>
            </a:r>
            <a:endParaRPr lang="en-US" sz="1200" dirty="0"/>
          </a:p>
        </p:txBody>
      </p:sp>
      <p:sp>
        <p:nvSpPr>
          <p:cNvPr id="35" name="Shape 32"/>
          <p:cNvSpPr/>
          <p:nvPr/>
        </p:nvSpPr>
        <p:spPr>
          <a:xfrm>
            <a:off x="4718304" y="1755648"/>
            <a:ext cx="416052" cy="384048"/>
          </a:xfrm>
          <a:prstGeom prst="roundRect">
            <a:avLst>
              <a:gd name="adj" fmla="val 11905"/>
            </a:avLst>
          </a:prstGeom>
          <a:solidFill>
            <a:srgbClr val="9ED9C0"/>
          </a:solidFill>
          <a:ln/>
        </p:spPr>
      </p:sp>
      <p:sp>
        <p:nvSpPr>
          <p:cNvPr id="36" name="Text 33"/>
          <p:cNvSpPr txBox="1"/>
          <p:nvPr/>
        </p:nvSpPr>
        <p:spPr>
          <a:xfrm>
            <a:off x="4718304" y="1755648"/>
            <a:ext cx="416052"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de</a:t>
            </a:r>
            <a:endParaRPr lang="en-US" sz="1200" dirty="0"/>
          </a:p>
        </p:txBody>
      </p:sp>
      <p:sp>
        <p:nvSpPr>
          <p:cNvPr id="37" name="Shape 34"/>
          <p:cNvSpPr/>
          <p:nvPr/>
        </p:nvSpPr>
        <p:spPr>
          <a:xfrm>
            <a:off x="5189220" y="1755648"/>
            <a:ext cx="338328" cy="384048"/>
          </a:xfrm>
          <a:prstGeom prst="roundRect">
            <a:avLst>
              <a:gd name="adj" fmla="val 13514"/>
            </a:avLst>
          </a:prstGeom>
          <a:solidFill>
            <a:srgbClr val="F6DFC9"/>
          </a:solidFill>
          <a:ln/>
        </p:spPr>
      </p:sp>
      <p:sp>
        <p:nvSpPr>
          <p:cNvPr id="38" name="Text 35"/>
          <p:cNvSpPr txBox="1"/>
          <p:nvPr/>
        </p:nvSpPr>
        <p:spPr>
          <a:xfrm>
            <a:off x="5189220" y="1755648"/>
            <a:ext cx="338328"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2</a:t>
            </a:r>
            <a:endParaRPr lang="en-US" sz="1200" dirty="0"/>
          </a:p>
        </p:txBody>
      </p:sp>
      <p:sp>
        <p:nvSpPr>
          <p:cNvPr id="39" name="Shape 36"/>
          <p:cNvSpPr/>
          <p:nvPr/>
        </p:nvSpPr>
        <p:spPr>
          <a:xfrm>
            <a:off x="5582412" y="1755648"/>
            <a:ext cx="260604" cy="384048"/>
          </a:xfrm>
          <a:prstGeom prst="roundRect">
            <a:avLst>
              <a:gd name="adj" fmla="val 17544"/>
            </a:avLst>
          </a:prstGeom>
          <a:solidFill>
            <a:srgbClr val="CFE7EA"/>
          </a:solidFill>
          <a:ln/>
        </p:spPr>
      </p:sp>
      <p:sp>
        <p:nvSpPr>
          <p:cNvPr id="40" name="Text 37"/>
          <p:cNvSpPr txBox="1"/>
          <p:nvPr/>
        </p:nvSpPr>
        <p:spPr>
          <a:xfrm>
            <a:off x="5582412"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t>
            </a:r>
            <a:endParaRPr lang="en-US" sz="1200" dirty="0"/>
          </a:p>
        </p:txBody>
      </p:sp>
      <p:sp>
        <p:nvSpPr>
          <p:cNvPr id="41" name="Shape 38"/>
          <p:cNvSpPr/>
          <p:nvPr/>
        </p:nvSpPr>
        <p:spPr>
          <a:xfrm>
            <a:off x="5897880" y="1755648"/>
            <a:ext cx="260604" cy="384048"/>
          </a:xfrm>
          <a:prstGeom prst="roundRect">
            <a:avLst>
              <a:gd name="adj" fmla="val 17544"/>
            </a:avLst>
          </a:prstGeom>
          <a:solidFill>
            <a:srgbClr val="F9E7B4"/>
          </a:solidFill>
          <a:ln/>
        </p:spPr>
      </p:sp>
      <p:sp>
        <p:nvSpPr>
          <p:cNvPr id="42" name="Text 39"/>
          <p:cNvSpPr txBox="1"/>
          <p:nvPr/>
        </p:nvSpPr>
        <p:spPr>
          <a:xfrm>
            <a:off x="5897880"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4</a:t>
            </a:r>
            <a:endParaRPr lang="en-US" sz="1200" dirty="0"/>
          </a:p>
        </p:txBody>
      </p:sp>
      <p:sp>
        <p:nvSpPr>
          <p:cNvPr id="43" name="Shape 40"/>
          <p:cNvSpPr/>
          <p:nvPr/>
        </p:nvSpPr>
        <p:spPr>
          <a:xfrm>
            <a:off x="6213348" y="1755648"/>
            <a:ext cx="260604" cy="384048"/>
          </a:xfrm>
          <a:prstGeom prst="roundRect">
            <a:avLst>
              <a:gd name="adj" fmla="val 17544"/>
            </a:avLst>
          </a:prstGeom>
          <a:solidFill>
            <a:srgbClr val="9ED9C0"/>
          </a:solidFill>
          <a:ln/>
        </p:spPr>
      </p:sp>
      <p:sp>
        <p:nvSpPr>
          <p:cNvPr id="44" name="Text 41"/>
          <p:cNvSpPr txBox="1"/>
          <p:nvPr/>
        </p:nvSpPr>
        <p:spPr>
          <a:xfrm>
            <a:off x="6213348"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t>
            </a:r>
            <a:endParaRPr lang="en-US" sz="1200" dirty="0"/>
          </a:p>
        </p:txBody>
      </p:sp>
      <p:sp>
        <p:nvSpPr>
          <p:cNvPr id="45" name="Text 42"/>
          <p:cNvSpPr txBox="1"/>
          <p:nvPr/>
        </p:nvSpPr>
        <p:spPr>
          <a:xfrm>
            <a:off x="7406640" y="1755648"/>
            <a:ext cx="1143000" cy="384048"/>
          </a:xfrm>
          <a:prstGeom prst="rect">
            <a:avLst/>
          </a:prstGeom>
          <a:noFill/>
          <a:ln/>
        </p:spPr>
        <p:txBody>
          <a:bodyPr wrap="square" lIns="0" tIns="0" rIns="0" bIns="0" rtlCol="0" anchor="ctr"/>
          <a:lstStyle/>
          <a:p>
            <a:pPr marL="0" indent="0" algn="r">
              <a:buNone/>
            </a:pPr>
            <a:r>
              <a:rPr lang="en-US" sz="1800" b="1" dirty="0">
                <a:solidFill>
                  <a:srgbClr val="C4621D"/>
                </a:solidFill>
                <a:latin typeface="Calibri" pitchFamily="34" charset="0"/>
                <a:ea typeface="Calibri" pitchFamily="34" charset="-122"/>
                <a:cs typeface="Calibri" pitchFamily="34" charset="-120"/>
              </a:rPr>
              <a:t>13 jetons</a:t>
            </a:r>
            <a:endParaRPr lang="en-US" sz="1800" dirty="0"/>
          </a:p>
        </p:txBody>
      </p:sp>
      <p:sp>
        <p:nvSpPr>
          <p:cNvPr id="46" name="Shape 43"/>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47" name="Text 44"/>
          <p:cNvSpPr txBox="1"/>
          <p:nvPr/>
        </p:nvSpPr>
        <p:spPr>
          <a:xfrm>
            <a:off x="621792" y="2679192"/>
            <a:ext cx="237744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 4</a:t>
            </a:r>
            <a:endParaRPr lang="en-US" sz="3000" dirty="0"/>
          </a:p>
        </p:txBody>
      </p:sp>
      <p:sp>
        <p:nvSpPr>
          <p:cNvPr id="48" name="Text 45"/>
          <p:cNvSpPr txBox="1"/>
          <p:nvPr/>
        </p:nvSpPr>
        <p:spPr>
          <a:xfrm>
            <a:off x="621792" y="3136392"/>
            <a:ext cx="2377440" cy="20116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caractères par jeton</a:t>
            </a:r>
            <a:endParaRPr lang="en-US" sz="1150" dirty="0"/>
          </a:p>
        </p:txBody>
      </p:sp>
      <p:sp>
        <p:nvSpPr>
          <p:cNvPr id="49" name="Text 46"/>
          <p:cNvSpPr txBox="1"/>
          <p:nvPr/>
        </p:nvSpPr>
        <p:spPr>
          <a:xfrm>
            <a:off x="621792" y="3346704"/>
            <a:ext cx="237744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en anglais, soit environ ¾ de mot (règle empirique d’OpenAI).</a:t>
            </a:r>
            <a:endParaRPr lang="en-US" sz="950" dirty="0"/>
          </a:p>
        </p:txBody>
      </p:sp>
      <p:sp>
        <p:nvSpPr>
          <p:cNvPr id="50" name="Shape 47"/>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51" name="Text 48"/>
          <p:cNvSpPr txBox="1"/>
          <p:nvPr/>
        </p:nvSpPr>
        <p:spPr>
          <a:xfrm>
            <a:off x="3410712" y="2679192"/>
            <a:ext cx="237744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Plus</a:t>
            </a:r>
            <a:endParaRPr lang="en-US" sz="3000" dirty="0"/>
          </a:p>
        </p:txBody>
      </p:sp>
      <p:sp>
        <p:nvSpPr>
          <p:cNvPr id="52" name="Text 49"/>
          <p:cNvSpPr txBox="1"/>
          <p:nvPr/>
        </p:nvSpPr>
        <p:spPr>
          <a:xfrm>
            <a:off x="3410712" y="3136392"/>
            <a:ext cx="2377440" cy="20116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de jetons par mot</a:t>
            </a:r>
            <a:endParaRPr lang="en-US" sz="1150" dirty="0"/>
          </a:p>
        </p:txBody>
      </p:sp>
      <p:sp>
        <p:nvSpPr>
          <p:cNvPr id="53" name="Text 50"/>
          <p:cNvSpPr txBox="1"/>
          <p:nvPr/>
        </p:nvSpPr>
        <p:spPr>
          <a:xfrm>
            <a:off x="3410712" y="3346704"/>
            <a:ext cx="237744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dans beaucoup de langues autres que l’anglais : prévoir une marge.</a:t>
            </a:r>
            <a:endParaRPr lang="en-US" sz="950" dirty="0"/>
          </a:p>
        </p:txBody>
      </p:sp>
      <p:sp>
        <p:nvSpPr>
          <p:cNvPr id="54" name="Shape 51"/>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5" name="Text 52"/>
          <p:cNvSpPr txBox="1"/>
          <p:nvPr/>
        </p:nvSpPr>
        <p:spPr>
          <a:xfrm>
            <a:off x="6199632" y="2679192"/>
            <a:ext cx="237744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E + S</a:t>
            </a:r>
            <a:endParaRPr lang="en-US" sz="3000" dirty="0"/>
          </a:p>
        </p:txBody>
      </p:sp>
      <p:sp>
        <p:nvSpPr>
          <p:cNvPr id="56" name="Text 53"/>
          <p:cNvSpPr txBox="1"/>
          <p:nvPr/>
        </p:nvSpPr>
        <p:spPr>
          <a:xfrm>
            <a:off x="6199632" y="3136392"/>
            <a:ext cx="2377440" cy="20116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entrée et sortie facturées</a:t>
            </a:r>
            <a:endParaRPr lang="en-US" sz="1150" dirty="0"/>
          </a:p>
        </p:txBody>
      </p:sp>
      <p:sp>
        <p:nvSpPr>
          <p:cNvPr id="57" name="Text 54"/>
          <p:cNvSpPr txBox="1"/>
          <p:nvPr/>
        </p:nvSpPr>
        <p:spPr>
          <a:xfrm>
            <a:off x="6199632" y="3346704"/>
            <a:ext cx="237744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jetons de sortie coûtent en général plus cher que ceux d’entrée.</a:t>
            </a:r>
            <a:endParaRPr lang="en-US" sz="950" dirty="0"/>
          </a:p>
        </p:txBody>
      </p:sp>
      <p:sp>
        <p:nvSpPr>
          <p:cNvPr id="58" name="Shape 55"/>
          <p:cNvSpPr/>
          <p:nvPr/>
        </p:nvSpPr>
        <p:spPr>
          <a:xfrm>
            <a:off x="457200" y="3886200"/>
            <a:ext cx="8229600" cy="594360"/>
          </a:xfrm>
          <a:prstGeom prst="roundRect">
            <a:avLst>
              <a:gd name="adj" fmla="val 12308"/>
            </a:avLst>
          </a:prstGeom>
          <a:solidFill>
            <a:srgbClr val="E8F5EF"/>
          </a:solidFill>
          <a:ln w="15875">
            <a:solidFill>
              <a:srgbClr val="C4621D"/>
            </a:solidFill>
            <a:prstDash val="solid"/>
          </a:ln>
        </p:spPr>
      </p:sp>
      <p:sp>
        <p:nvSpPr>
          <p:cNvPr id="59" name="Text 56"/>
          <p:cNvSpPr txBox="1"/>
          <p:nvPr/>
        </p:nvSpPr>
        <p:spPr>
          <a:xfrm>
            <a:off x="640080" y="3886200"/>
            <a:ext cx="7955280" cy="59436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Coût  =  </a:t>
            </a:r>
            <a:r>
              <a:rPr lang="en-US" sz="1100" dirty="0">
                <a:solidFill>
                  <a:srgbClr val="231F20"/>
                </a:solidFill>
                <a:latin typeface="Courier New" pitchFamily="34" charset="0"/>
                <a:ea typeface="Courier New" pitchFamily="34" charset="-122"/>
                <a:cs typeface="Courier New" pitchFamily="34" charset="-120"/>
              </a:rPr>
              <a:t>jetons d’entrée × prix entrée  +  jetons de sortie × prix sortie</a:t>
            </a:r>
            <a:endParaRPr lang="en-US" sz="1100" dirty="0"/>
          </a:p>
          <a:p>
            <a:pPr marL="0" indent="0">
              <a:buNone/>
            </a:pPr>
            <a:r>
              <a:rPr lang="en-US" sz="1100" b="1" dirty="0">
                <a:solidFill>
                  <a:srgbClr val="C4621D"/>
                </a:solidFill>
                <a:latin typeface="Calibri" pitchFamily="34" charset="0"/>
                <a:ea typeface="Calibri" pitchFamily="34" charset="-122"/>
                <a:cs typeface="Calibri" pitchFamily="34" charset="-120"/>
              </a:rPr>
              <a:t>Fenêtre de contexte  ≥  consignes + exemples + document + réponse</a:t>
            </a:r>
            <a:endParaRPr lang="en-US" sz="1100" dirty="0"/>
          </a:p>
        </p:txBody>
      </p:sp>
      <p:sp>
        <p:nvSpPr>
          <p:cNvPr id="60" name="Text 57"/>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OpenAI Help Center, « What are tokens and how to count them? » ; Petrov et al. (2023), NeurIPS.</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CONTEXTE, JETONS ET COÛTS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Exemple chiffré : coder 100 000 emplois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graphicFrame>
        <p:nvGraphicFramePr>
          <p:cNvPr id="17" name="Chart 0"/>
          <p:cNvGraphicFramePr/>
          <p:nvPr/>
        </p:nvGraphicFramePr>
        <p:xfrm>
          <a:off x="457200" y="132588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5257800" y="1325880"/>
            <a:ext cx="3429000" cy="2743200"/>
          </a:xfrm>
          <a:prstGeom prst="roundRect">
            <a:avLst>
              <a:gd name="adj" fmla="val 2667"/>
            </a:avLst>
          </a:prstGeom>
          <a:solidFill>
            <a:srgbClr val="F4F7F5"/>
          </a:solidFill>
          <a:ln w="9525">
            <a:solidFill>
              <a:srgbClr val="D5DED9"/>
            </a:solidFill>
            <a:prstDash val="solid"/>
          </a:ln>
        </p:spPr>
      </p:sp>
      <p:sp>
        <p:nvSpPr>
          <p:cNvPr id="19" name="Text 15"/>
          <p:cNvSpPr txBox="1"/>
          <p:nvPr/>
        </p:nvSpPr>
        <p:spPr>
          <a:xfrm>
            <a:off x="5413248" y="1435608"/>
            <a:ext cx="3108960" cy="201168"/>
          </a:xfrm>
          <a:prstGeom prst="rect">
            <a:avLst/>
          </a:prstGeom>
          <a:noFill/>
          <a:ln/>
        </p:spPr>
        <p:txBody>
          <a:bodyPr wrap="square" lIns="0" tIns="0" rIns="0" bIns="0" rtlCol="0" anchor="t"/>
          <a:lstStyle/>
          <a:p>
            <a:pPr marL="0" indent="0">
              <a:buNone/>
            </a:pPr>
            <a:r>
              <a:rPr lang="en-US" sz="1000" b="1" kern="0" spc="100" dirty="0">
                <a:solidFill>
                  <a:srgbClr val="C4621D"/>
                </a:solidFill>
                <a:latin typeface="Calibri" pitchFamily="34" charset="0"/>
                <a:ea typeface="Calibri" pitchFamily="34" charset="-122"/>
                <a:cs typeface="Calibri" pitchFamily="34" charset="-120"/>
              </a:rPr>
              <a:t>HYPOTHÈSES PAR APPEL</a:t>
            </a:r>
            <a:endParaRPr lang="en-US" sz="1000" dirty="0"/>
          </a:p>
        </p:txBody>
      </p:sp>
      <p:sp>
        <p:nvSpPr>
          <p:cNvPr id="20" name="Text 16"/>
          <p:cNvSpPr txBox="1"/>
          <p:nvPr/>
        </p:nvSpPr>
        <p:spPr>
          <a:xfrm>
            <a:off x="5413248" y="1737360"/>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2 500</a:t>
            </a:r>
            <a:endParaRPr lang="en-US" sz="1300" dirty="0"/>
          </a:p>
        </p:txBody>
      </p:sp>
      <p:sp>
        <p:nvSpPr>
          <p:cNvPr id="21" name="Text 17"/>
          <p:cNvSpPr txBox="1"/>
          <p:nvPr/>
        </p:nvSpPr>
        <p:spPr>
          <a:xfrm>
            <a:off x="6583680" y="1737360"/>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jetons fixes : consignes, extrait CITP, exemples</a:t>
            </a:r>
            <a:endParaRPr lang="en-US" sz="1000" dirty="0"/>
          </a:p>
        </p:txBody>
      </p:sp>
      <p:sp>
        <p:nvSpPr>
          <p:cNvPr id="22" name="Text 18"/>
          <p:cNvSpPr txBox="1"/>
          <p:nvPr/>
        </p:nvSpPr>
        <p:spPr>
          <a:xfrm>
            <a:off x="5413248" y="2185416"/>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50</a:t>
            </a:r>
            <a:endParaRPr lang="en-US" sz="1300" dirty="0"/>
          </a:p>
        </p:txBody>
      </p:sp>
      <p:sp>
        <p:nvSpPr>
          <p:cNvPr id="23" name="Text 19"/>
          <p:cNvSpPr txBox="1"/>
          <p:nvPr/>
        </p:nvSpPr>
        <p:spPr>
          <a:xfrm>
            <a:off x="6583680" y="2185416"/>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jetons par description d’emploi</a:t>
            </a:r>
            <a:endParaRPr lang="en-US" sz="1000" dirty="0"/>
          </a:p>
        </p:txBody>
      </p:sp>
      <p:sp>
        <p:nvSpPr>
          <p:cNvPr id="24" name="Text 20"/>
          <p:cNvSpPr txBox="1"/>
          <p:nvPr/>
        </p:nvSpPr>
        <p:spPr>
          <a:xfrm>
            <a:off x="5413248" y="2633472"/>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40</a:t>
            </a:r>
            <a:endParaRPr lang="en-US" sz="1300" dirty="0"/>
          </a:p>
        </p:txBody>
      </p:sp>
      <p:sp>
        <p:nvSpPr>
          <p:cNvPr id="25" name="Text 21"/>
          <p:cNvSpPr txBox="1"/>
          <p:nvPr/>
        </p:nvSpPr>
        <p:spPr>
          <a:xfrm>
            <a:off x="6583680" y="2633472"/>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jetons de sortie par réponse codée</a:t>
            </a:r>
            <a:endParaRPr lang="en-US" sz="1000" dirty="0"/>
          </a:p>
        </p:txBody>
      </p:sp>
      <p:sp>
        <p:nvSpPr>
          <p:cNvPr id="26" name="Text 22"/>
          <p:cNvSpPr txBox="1"/>
          <p:nvPr/>
        </p:nvSpPr>
        <p:spPr>
          <a:xfrm>
            <a:off x="5413248" y="3081528"/>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0,50 / 1,50 $</a:t>
            </a:r>
            <a:endParaRPr lang="en-US" sz="1300" dirty="0"/>
          </a:p>
        </p:txBody>
      </p:sp>
      <p:sp>
        <p:nvSpPr>
          <p:cNvPr id="27" name="Text 23"/>
          <p:cNvSpPr txBox="1"/>
          <p:nvPr/>
        </p:nvSpPr>
        <p:spPr>
          <a:xfrm>
            <a:off x="6583680" y="3081528"/>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par million de jetons entrée / sortie</a:t>
            </a:r>
            <a:endParaRPr lang="en-US" sz="1000" dirty="0"/>
          </a:p>
        </p:txBody>
      </p:sp>
      <p:sp>
        <p:nvSpPr>
          <p:cNvPr id="28" name="Text 24"/>
          <p:cNvSpPr txBox="1"/>
          <p:nvPr/>
        </p:nvSpPr>
        <p:spPr>
          <a:xfrm>
            <a:off x="5413248" y="3529584"/>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90 %</a:t>
            </a:r>
            <a:endParaRPr lang="en-US" sz="1300" dirty="0"/>
          </a:p>
        </p:txBody>
      </p:sp>
      <p:sp>
        <p:nvSpPr>
          <p:cNvPr id="29" name="Text 25"/>
          <p:cNvSpPr txBox="1"/>
          <p:nvPr/>
        </p:nvSpPr>
        <p:spPr>
          <a:xfrm>
            <a:off x="6583680" y="3529584"/>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de remise sur l’entrée en cache (hypothèse)</a:t>
            </a:r>
            <a:endParaRPr lang="en-US" sz="1000" dirty="0"/>
          </a:p>
        </p:txBody>
      </p:sp>
      <p:sp>
        <p:nvSpPr>
          <p:cNvPr id="30" name="Shape 26"/>
          <p:cNvSpPr/>
          <p:nvPr/>
        </p:nvSpPr>
        <p:spPr>
          <a:xfrm>
            <a:off x="457200" y="4160520"/>
            <a:ext cx="8229600" cy="384048"/>
          </a:xfrm>
          <a:prstGeom prst="roundRect">
            <a:avLst>
              <a:gd name="adj" fmla="val 14286"/>
            </a:avLst>
          </a:prstGeom>
          <a:solidFill>
            <a:srgbClr val="E8F5EF"/>
          </a:solidFill>
          <a:ln w="12700">
            <a:solidFill>
              <a:srgbClr val="00A86A"/>
            </a:solidFill>
            <a:prstDash val="solid"/>
          </a:ln>
        </p:spPr>
      </p:sp>
      <p:sp>
        <p:nvSpPr>
          <p:cNvPr id="31" name="Text 27"/>
          <p:cNvSpPr txBox="1"/>
          <p:nvPr/>
        </p:nvSpPr>
        <p:spPr>
          <a:xfrm>
            <a:off x="640080" y="4160520"/>
            <a:ext cx="7955280" cy="384048"/>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 15 fois moins cher </a:t>
            </a:r>
            <a:r>
              <a:rPr lang="en-US" sz="1150" dirty="0">
                <a:solidFill>
                  <a:srgbClr val="231F20"/>
                </a:solidFill>
                <a:latin typeface="Calibri" pitchFamily="34" charset="0"/>
                <a:ea typeface="Calibri" pitchFamily="34" charset="-122"/>
                <a:cs typeface="Calibri" pitchFamily="34" charset="-120"/>
              </a:rPr>
              <a:t>par la seule conception du prompt. Re-testez l’exactitude après regroupement en lots.</a:t>
            </a:r>
            <a:endParaRPr lang="en-US" sz="1150" dirty="0"/>
          </a:p>
        </p:txBody>
      </p:sp>
      <p:sp>
        <p:nvSpPr>
          <p:cNvPr id="32" name="Text 28"/>
          <p:cNvSpPr txBox="1"/>
          <p:nvPr/>
        </p:nvSpPr>
        <p:spPr>
          <a:xfrm>
            <a:off x="457200" y="4599432"/>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Prix et remise illustratifs, pas un tarif fournisseur. Surcoûts d’écriture en cache ignorés. </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CONTEXTE, JETONS ET COÛTS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Moins de contexte, mieux placé</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graphicFrame>
        <p:nvGraphicFramePr>
          <p:cNvPr id="17" name="Chart 0"/>
          <p:cNvGraphicFramePr/>
          <p:nvPr/>
        </p:nvGraphicFramePr>
        <p:xfrm>
          <a:off x="457200" y="1325880"/>
          <a:ext cx="384048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3977640"/>
            <a:ext cx="38404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Schéma d’après Liu et al. (2023) : pas leurs chiffres exacts.</a:t>
            </a:r>
            <a:endParaRPr lang="en-US" sz="900" dirty="0"/>
          </a:p>
        </p:txBody>
      </p:sp>
      <p:sp>
        <p:nvSpPr>
          <p:cNvPr id="19" name="Shape 15"/>
          <p:cNvSpPr/>
          <p:nvPr/>
        </p:nvSpPr>
        <p:spPr>
          <a:xfrm>
            <a:off x="4572000" y="1325880"/>
            <a:ext cx="4114800" cy="658368"/>
          </a:xfrm>
          <a:prstGeom prst="roundRect">
            <a:avLst>
              <a:gd name="adj" fmla="val 11111"/>
            </a:avLst>
          </a:prstGeom>
          <a:solidFill>
            <a:srgbClr val="F4F7F5"/>
          </a:solidFill>
          <a:ln w="9525">
            <a:solidFill>
              <a:srgbClr val="D5DED9"/>
            </a:solidFill>
            <a:prstDash val="solid"/>
          </a:ln>
        </p:spPr>
      </p:sp>
      <p:sp>
        <p:nvSpPr>
          <p:cNvPr id="20" name="Shape 16"/>
          <p:cNvSpPr/>
          <p:nvPr/>
        </p:nvSpPr>
        <p:spPr>
          <a:xfrm>
            <a:off x="4700016" y="1444752"/>
            <a:ext cx="420624" cy="420624"/>
          </a:xfrm>
          <a:prstGeom prst="ellipse">
            <a:avLst/>
          </a:prstGeom>
          <a:solidFill>
            <a:srgbClr val="C4621D">
              <a:alpha val="22000"/>
            </a:srgbClr>
          </a:solidFill>
          <a:ln/>
        </p:spPr>
      </p:sp>
      <p:pic>
        <p:nvPicPr>
          <p:cNvPr id="21" name="Image 0" descr="preencoded.png"/>
          <p:cNvPicPr>
            <a:picLocks noChangeAspect="1"/>
          </p:cNvPicPr>
          <p:nvPr/>
        </p:nvPicPr>
        <p:blipFill>
          <a:blip r:embed="rId4"/>
          <a:stretch>
            <a:fillRect/>
          </a:stretch>
        </p:blipFill>
        <p:spPr>
          <a:xfrm>
            <a:off x="4800966" y="1545702"/>
            <a:ext cx="218724" cy="218724"/>
          </a:xfrm>
          <a:prstGeom prst="rect">
            <a:avLst/>
          </a:prstGeom>
        </p:spPr>
      </p:pic>
      <p:sp>
        <p:nvSpPr>
          <p:cNvPr id="22" name="Text 17"/>
          <p:cNvSpPr txBox="1"/>
          <p:nvPr/>
        </p:nvSpPr>
        <p:spPr>
          <a:xfrm>
            <a:off x="5257800" y="1399032"/>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N’envoyer que le pertinent</a:t>
            </a:r>
            <a:endParaRPr lang="en-US" sz="1250" dirty="0"/>
          </a:p>
        </p:txBody>
      </p:sp>
      <p:sp>
        <p:nvSpPr>
          <p:cNvPr id="23" name="Text 18"/>
          <p:cNvSpPr txBox="1"/>
          <p:nvPr/>
        </p:nvSpPr>
        <p:spPr>
          <a:xfrm>
            <a:off x="5257800" y="1645920"/>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Présélectionner pages ou fragments (RAG) plutôt que des rapports entiers.</a:t>
            </a:r>
            <a:endParaRPr lang="en-US" sz="1000" dirty="0"/>
          </a:p>
        </p:txBody>
      </p:sp>
      <p:sp>
        <p:nvSpPr>
          <p:cNvPr id="24" name="Shape 19"/>
          <p:cNvSpPr/>
          <p:nvPr/>
        </p:nvSpPr>
        <p:spPr>
          <a:xfrm>
            <a:off x="4572000" y="2093976"/>
            <a:ext cx="4114800" cy="658368"/>
          </a:xfrm>
          <a:prstGeom prst="roundRect">
            <a:avLst>
              <a:gd name="adj" fmla="val 11111"/>
            </a:avLst>
          </a:prstGeom>
          <a:solidFill>
            <a:srgbClr val="F4F7F5"/>
          </a:solidFill>
          <a:ln w="9525">
            <a:solidFill>
              <a:srgbClr val="D5DED9"/>
            </a:solidFill>
            <a:prstDash val="solid"/>
          </a:ln>
        </p:spPr>
      </p:sp>
      <p:sp>
        <p:nvSpPr>
          <p:cNvPr id="25" name="Shape 20"/>
          <p:cNvSpPr/>
          <p:nvPr/>
        </p:nvSpPr>
        <p:spPr>
          <a:xfrm>
            <a:off x="4700016" y="2212848"/>
            <a:ext cx="420624" cy="420624"/>
          </a:xfrm>
          <a:prstGeom prst="ellipse">
            <a:avLst/>
          </a:prstGeom>
          <a:solidFill>
            <a:srgbClr val="C4621D">
              <a:alpha val="22000"/>
            </a:srgbClr>
          </a:solidFill>
          <a:ln/>
        </p:spPr>
      </p:sp>
      <p:pic>
        <p:nvPicPr>
          <p:cNvPr id="26" name="Image 1" descr="preencoded.png"/>
          <p:cNvPicPr>
            <a:picLocks noChangeAspect="1"/>
          </p:cNvPicPr>
          <p:nvPr/>
        </p:nvPicPr>
        <p:blipFill>
          <a:blip r:embed="rId5"/>
          <a:stretch>
            <a:fillRect/>
          </a:stretch>
        </p:blipFill>
        <p:spPr>
          <a:xfrm>
            <a:off x="4800966" y="2313798"/>
            <a:ext cx="218724" cy="218724"/>
          </a:xfrm>
          <a:prstGeom prst="rect">
            <a:avLst/>
          </a:prstGeom>
        </p:spPr>
      </p:pic>
      <p:sp>
        <p:nvSpPr>
          <p:cNvPr id="27" name="Text 21"/>
          <p:cNvSpPr txBox="1"/>
          <p:nvPr/>
        </p:nvSpPr>
        <p:spPr>
          <a:xfrm>
            <a:off x="5257800" y="2167128"/>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Résumer ou découper</a:t>
            </a:r>
            <a:endParaRPr lang="en-US" sz="1250" dirty="0"/>
          </a:p>
        </p:txBody>
      </p:sp>
      <p:sp>
        <p:nvSpPr>
          <p:cNvPr id="28" name="Text 22"/>
          <p:cNvSpPr txBox="1"/>
          <p:nvPr/>
        </p:nvSpPr>
        <p:spPr>
          <a:xfrm>
            <a:off x="5257800" y="2414016"/>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Traiter les longs documents par section, puis assembler.</a:t>
            </a:r>
            <a:endParaRPr lang="en-US" sz="1000" dirty="0"/>
          </a:p>
        </p:txBody>
      </p:sp>
      <p:sp>
        <p:nvSpPr>
          <p:cNvPr id="29" name="Shape 23"/>
          <p:cNvSpPr/>
          <p:nvPr/>
        </p:nvSpPr>
        <p:spPr>
          <a:xfrm>
            <a:off x="4572000" y="2862072"/>
            <a:ext cx="4114800" cy="658368"/>
          </a:xfrm>
          <a:prstGeom prst="roundRect">
            <a:avLst>
              <a:gd name="adj" fmla="val 11111"/>
            </a:avLst>
          </a:prstGeom>
          <a:solidFill>
            <a:srgbClr val="F4F7F5"/>
          </a:solidFill>
          <a:ln w="9525">
            <a:solidFill>
              <a:srgbClr val="D5DED9"/>
            </a:solidFill>
            <a:prstDash val="solid"/>
          </a:ln>
        </p:spPr>
      </p:sp>
      <p:sp>
        <p:nvSpPr>
          <p:cNvPr id="30" name="Shape 24"/>
          <p:cNvSpPr/>
          <p:nvPr/>
        </p:nvSpPr>
        <p:spPr>
          <a:xfrm>
            <a:off x="4700016" y="2980944"/>
            <a:ext cx="420624" cy="420624"/>
          </a:xfrm>
          <a:prstGeom prst="ellipse">
            <a:avLst/>
          </a:prstGeom>
          <a:solidFill>
            <a:srgbClr val="C4621D">
              <a:alpha val="22000"/>
            </a:srgbClr>
          </a:solidFill>
          <a:ln/>
        </p:spPr>
      </p:sp>
      <p:pic>
        <p:nvPicPr>
          <p:cNvPr id="31" name="Image 2" descr="preencoded.png"/>
          <p:cNvPicPr>
            <a:picLocks noChangeAspect="1"/>
          </p:cNvPicPr>
          <p:nvPr/>
        </p:nvPicPr>
        <p:blipFill>
          <a:blip r:embed="rId6"/>
          <a:stretch>
            <a:fillRect/>
          </a:stretch>
        </p:blipFill>
        <p:spPr>
          <a:xfrm>
            <a:off x="4800966" y="3081894"/>
            <a:ext cx="218724" cy="218724"/>
          </a:xfrm>
          <a:prstGeom prst="rect">
            <a:avLst/>
          </a:prstGeom>
        </p:spPr>
      </p:pic>
      <p:sp>
        <p:nvSpPr>
          <p:cNvPr id="32" name="Text 25"/>
          <p:cNvSpPr txBox="1"/>
          <p:nvPr/>
        </p:nvSpPr>
        <p:spPr>
          <a:xfrm>
            <a:off x="5257800" y="2935224"/>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Règles clés aux extrémités</a:t>
            </a:r>
            <a:endParaRPr lang="en-US" sz="1250" dirty="0"/>
          </a:p>
        </p:txBody>
      </p:sp>
      <p:sp>
        <p:nvSpPr>
          <p:cNvPr id="33" name="Text 26"/>
          <p:cNvSpPr txBox="1"/>
          <p:nvPr/>
        </p:nvSpPr>
        <p:spPr>
          <a:xfrm>
            <a:off x="5257800" y="3182112"/>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Consignes critiques en tête ; rappeler la règle clé à la fin.</a:t>
            </a:r>
            <a:endParaRPr lang="en-US" sz="1000" dirty="0"/>
          </a:p>
        </p:txBody>
      </p:sp>
      <p:sp>
        <p:nvSpPr>
          <p:cNvPr id="34" name="Shape 27"/>
          <p:cNvSpPr/>
          <p:nvPr/>
        </p:nvSpPr>
        <p:spPr>
          <a:xfrm>
            <a:off x="4572000" y="3630168"/>
            <a:ext cx="4114800" cy="658368"/>
          </a:xfrm>
          <a:prstGeom prst="roundRect">
            <a:avLst>
              <a:gd name="adj" fmla="val 11111"/>
            </a:avLst>
          </a:prstGeom>
          <a:solidFill>
            <a:srgbClr val="F4F7F5"/>
          </a:solidFill>
          <a:ln w="9525">
            <a:solidFill>
              <a:srgbClr val="D5DED9"/>
            </a:solidFill>
            <a:prstDash val="solid"/>
          </a:ln>
        </p:spPr>
      </p:sp>
      <p:sp>
        <p:nvSpPr>
          <p:cNvPr id="35" name="Shape 28"/>
          <p:cNvSpPr/>
          <p:nvPr/>
        </p:nvSpPr>
        <p:spPr>
          <a:xfrm>
            <a:off x="4700016" y="3749040"/>
            <a:ext cx="420624" cy="420624"/>
          </a:xfrm>
          <a:prstGeom prst="ellipse">
            <a:avLst/>
          </a:prstGeom>
          <a:solidFill>
            <a:srgbClr val="C4621D">
              <a:alpha val="22000"/>
            </a:srgbClr>
          </a:solidFill>
          <a:ln/>
        </p:spPr>
      </p:sp>
      <p:pic>
        <p:nvPicPr>
          <p:cNvPr id="36" name="Image 3" descr="preencoded.png"/>
          <p:cNvPicPr>
            <a:picLocks noChangeAspect="1"/>
          </p:cNvPicPr>
          <p:nvPr/>
        </p:nvPicPr>
        <p:blipFill>
          <a:blip r:embed="rId7"/>
          <a:stretch>
            <a:fillRect/>
          </a:stretch>
        </p:blipFill>
        <p:spPr>
          <a:xfrm>
            <a:off x="4800966" y="3849990"/>
            <a:ext cx="218724" cy="218724"/>
          </a:xfrm>
          <a:prstGeom prst="rect">
            <a:avLst/>
          </a:prstGeom>
        </p:spPr>
      </p:pic>
      <p:sp>
        <p:nvSpPr>
          <p:cNvPr id="37" name="Text 29"/>
          <p:cNvSpPr txBox="1"/>
          <p:nvPr/>
        </p:nvSpPr>
        <p:spPr>
          <a:xfrm>
            <a:off x="5257800" y="3703320"/>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Limiter la réponse</a:t>
            </a:r>
            <a:endParaRPr lang="en-US" sz="1250" dirty="0"/>
          </a:p>
        </p:txBody>
      </p:sp>
      <p:sp>
        <p:nvSpPr>
          <p:cNvPr id="38" name="Text 30"/>
          <p:cNvSpPr txBox="1"/>
          <p:nvPr/>
        </p:nvSpPr>
        <p:spPr>
          <a:xfrm>
            <a:off x="5257800" y="3950208"/>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Limites de mots et max tokens réduisent coût et dérive.</a:t>
            </a:r>
            <a:endParaRPr lang="en-US" sz="1000" dirty="0"/>
          </a:p>
        </p:txBody>
      </p:sp>
      <p:sp>
        <p:nvSpPr>
          <p:cNvPr id="39" name="Text 31"/>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 Liu et al. (2023), « Lost in the Middle: How Language Models Use Long Contexts », Transactions of the ACL (2024).</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CONTEXTE, JETONS ET COÛTS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Deux types de mise en cache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3977640" cy="3154680"/>
          </a:xfrm>
          <a:prstGeom prst="roundRect">
            <a:avLst>
              <a:gd name="adj" fmla="val 2319"/>
            </a:avLst>
          </a:prstGeom>
          <a:solidFill>
            <a:srgbClr val="F4F7F5"/>
          </a:solidFill>
          <a:ln w="9525">
            <a:solidFill>
              <a:srgbClr val="D5DED9"/>
            </a:solidFill>
            <a:prstDash val="solid"/>
          </a:ln>
        </p:spPr>
      </p:sp>
      <p:sp>
        <p:nvSpPr>
          <p:cNvPr id="18" name="Shape 15"/>
          <p:cNvSpPr/>
          <p:nvPr/>
        </p:nvSpPr>
        <p:spPr>
          <a:xfrm>
            <a:off x="621792" y="1463040"/>
            <a:ext cx="457200" cy="457200"/>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731520" y="1572768"/>
            <a:ext cx="237744" cy="237744"/>
          </a:xfrm>
          <a:prstGeom prst="rect">
            <a:avLst/>
          </a:prstGeom>
        </p:spPr>
      </p:pic>
      <p:sp>
        <p:nvSpPr>
          <p:cNvPr id="20" name="Text 16"/>
          <p:cNvSpPr txBox="1"/>
          <p:nvPr/>
        </p:nvSpPr>
        <p:spPr>
          <a:xfrm>
            <a:off x="1188720" y="1463040"/>
            <a:ext cx="301752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Cache de prompt</a:t>
            </a:r>
            <a:endParaRPr lang="en-US" sz="1400" dirty="0"/>
          </a:p>
        </p:txBody>
      </p:sp>
      <p:sp>
        <p:nvSpPr>
          <p:cNvPr id="21" name="Text 17"/>
          <p:cNvSpPr txBox="1"/>
          <p:nvPr/>
        </p:nvSpPr>
        <p:spPr>
          <a:xfrm>
            <a:off x="1188720" y="1700784"/>
            <a:ext cx="3017520" cy="2011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chez le fournisseur</a:t>
            </a:r>
            <a:endParaRPr lang="en-US" sz="1050" dirty="0"/>
          </a:p>
        </p:txBody>
      </p:sp>
      <p:sp>
        <p:nvSpPr>
          <p:cNvPr id="22" name="Text 18"/>
          <p:cNvSpPr txBox="1"/>
          <p:nvPr/>
        </p:nvSpPr>
        <p:spPr>
          <a:xfrm>
            <a:off x="621792" y="2103120"/>
            <a:ext cx="3657600" cy="182880"/>
          </a:xfrm>
          <a:prstGeom prst="rect">
            <a:avLst/>
          </a:prstGeom>
          <a:noFill/>
          <a:ln/>
        </p:spPr>
        <p:txBody>
          <a:bodyPr wrap="square" lIns="0" tIns="0" rIns="0" bIns="0" rtlCol="0" anchor="t"/>
          <a:lstStyle/>
          <a:p>
            <a:pPr marL="0" indent="0">
              <a:buNone/>
            </a:pPr>
            <a:r>
              <a:rPr lang="en-US" sz="900" b="1" kern="0" spc="100" dirty="0">
                <a:solidFill>
                  <a:srgbClr val="C4621D"/>
                </a:solidFill>
                <a:latin typeface="Calibri" pitchFamily="34" charset="0"/>
                <a:ea typeface="Calibri" pitchFamily="34" charset="-122"/>
                <a:cs typeface="Calibri" pitchFamily="34" charset="-120"/>
              </a:rPr>
              <a:t>STRUCTURER CHAQUE APPEL AINSI</a:t>
            </a:r>
            <a:endParaRPr lang="en-US" sz="900" dirty="0"/>
          </a:p>
        </p:txBody>
      </p:sp>
      <p:sp>
        <p:nvSpPr>
          <p:cNvPr id="23" name="Shape 19"/>
          <p:cNvSpPr/>
          <p:nvPr/>
        </p:nvSpPr>
        <p:spPr>
          <a:xfrm>
            <a:off x="621792" y="2331720"/>
            <a:ext cx="2697480" cy="457200"/>
          </a:xfrm>
          <a:prstGeom prst="rect">
            <a:avLst/>
          </a:prstGeom>
          <a:solidFill>
            <a:srgbClr val="00A86A"/>
          </a:solidFill>
          <a:ln/>
        </p:spPr>
      </p:sp>
      <p:sp>
        <p:nvSpPr>
          <p:cNvPr id="24" name="Text 20"/>
          <p:cNvSpPr txBox="1"/>
          <p:nvPr/>
        </p:nvSpPr>
        <p:spPr>
          <a:xfrm>
            <a:off x="621792" y="2331720"/>
            <a:ext cx="269748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Consignes · liste CITP · exemples</a:t>
            </a:r>
            <a:endParaRPr lang="en-US" sz="1000" dirty="0"/>
          </a:p>
        </p:txBody>
      </p:sp>
      <p:sp>
        <p:nvSpPr>
          <p:cNvPr id="25" name="Shape 21"/>
          <p:cNvSpPr/>
          <p:nvPr/>
        </p:nvSpPr>
        <p:spPr>
          <a:xfrm>
            <a:off x="3319272" y="2331720"/>
            <a:ext cx="932688" cy="457200"/>
          </a:xfrm>
          <a:prstGeom prst="rect">
            <a:avLst/>
          </a:prstGeom>
          <a:solidFill>
            <a:srgbClr val="C4621D"/>
          </a:solidFill>
          <a:ln/>
        </p:spPr>
      </p:sp>
      <p:sp>
        <p:nvSpPr>
          <p:cNvPr id="26" name="Text 22"/>
          <p:cNvSpPr txBox="1"/>
          <p:nvPr/>
        </p:nvSpPr>
        <p:spPr>
          <a:xfrm>
            <a:off x="3319272" y="2331720"/>
            <a:ext cx="932688"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Cas</a:t>
            </a:r>
            <a:endParaRPr lang="en-US" sz="1000" dirty="0"/>
          </a:p>
        </p:txBody>
      </p:sp>
      <p:sp>
        <p:nvSpPr>
          <p:cNvPr id="27" name="Text 23"/>
          <p:cNvSpPr txBox="1"/>
          <p:nvPr/>
        </p:nvSpPr>
        <p:spPr>
          <a:xfrm>
            <a:off x="621792" y="2816352"/>
            <a:ext cx="2697480" cy="182880"/>
          </a:xfrm>
          <a:prstGeom prst="rect">
            <a:avLst/>
          </a:prstGeom>
          <a:noFill/>
          <a:ln/>
        </p:spPr>
        <p:txBody>
          <a:bodyPr wrap="square" lIns="0" tIns="0" rIns="0" bIns="0" rtlCol="0" anchor="t"/>
          <a:lstStyle/>
          <a:p>
            <a:pPr marL="0" indent="0" algn="ctr">
              <a:buNone/>
            </a:pPr>
            <a:r>
              <a:rPr lang="en-US" sz="900" i="1" dirty="0">
                <a:solidFill>
                  <a:srgbClr val="00704A"/>
                </a:solidFill>
                <a:latin typeface="Calibri" pitchFamily="34" charset="0"/>
                <a:ea typeface="Calibri" pitchFamily="34" charset="-122"/>
                <a:cs typeface="Calibri" pitchFamily="34" charset="-120"/>
              </a:rPr>
              <a:t>stable : en cache, remisé</a:t>
            </a:r>
            <a:endParaRPr lang="en-US" sz="900" dirty="0"/>
          </a:p>
        </p:txBody>
      </p:sp>
      <p:sp>
        <p:nvSpPr>
          <p:cNvPr id="28" name="Text 24"/>
          <p:cNvSpPr txBox="1"/>
          <p:nvPr/>
        </p:nvSpPr>
        <p:spPr>
          <a:xfrm>
            <a:off x="3319272" y="2816352"/>
            <a:ext cx="932688" cy="182880"/>
          </a:xfrm>
          <a:prstGeom prst="rect">
            <a:avLst/>
          </a:prstGeom>
          <a:noFill/>
          <a:ln/>
        </p:spPr>
        <p:txBody>
          <a:bodyPr wrap="square" lIns="0" tIns="0" rIns="0" bIns="0" rtlCol="0" anchor="t"/>
          <a:lstStyle/>
          <a:p>
            <a:pPr marL="0" indent="0" algn="ctr">
              <a:buNone/>
            </a:pPr>
            <a:r>
              <a:rPr lang="en-US" sz="900" i="1" dirty="0">
                <a:solidFill>
                  <a:srgbClr val="C4621D"/>
                </a:solidFill>
                <a:latin typeface="Calibri" pitchFamily="34" charset="0"/>
                <a:ea typeface="Calibri" pitchFamily="34" charset="-122"/>
                <a:cs typeface="Calibri" pitchFamily="34" charset="-120"/>
              </a:rPr>
              <a:t>variable</a:t>
            </a:r>
            <a:endParaRPr lang="en-US" sz="900" dirty="0"/>
          </a:p>
        </p:txBody>
      </p:sp>
      <p:sp>
        <p:nvSpPr>
          <p:cNvPr id="29" name="Text 25"/>
          <p:cNvSpPr txBox="1"/>
          <p:nvPr/>
        </p:nvSpPr>
        <p:spPr>
          <a:xfrm>
            <a:off x="621792" y="3154680"/>
            <a:ext cx="3657600"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Contenu stable d’abord, variable à la fin.</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Une date ou un ID en tête casse le cache.</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Remise, taille minimale et durée de vie varient selon le fournisseur.</a:t>
            </a:r>
            <a:endParaRPr lang="en-US" sz="1050" dirty="0"/>
          </a:p>
        </p:txBody>
      </p:sp>
      <p:sp>
        <p:nvSpPr>
          <p:cNvPr id="30" name="Shape 26"/>
          <p:cNvSpPr/>
          <p:nvPr/>
        </p:nvSpPr>
        <p:spPr>
          <a:xfrm>
            <a:off x="4709160" y="1325880"/>
            <a:ext cx="3977640" cy="3154680"/>
          </a:xfrm>
          <a:prstGeom prst="roundRect">
            <a:avLst>
              <a:gd name="adj" fmla="val 2319"/>
            </a:avLst>
          </a:prstGeom>
          <a:solidFill>
            <a:srgbClr val="E8F5EF"/>
          </a:solidFill>
          <a:ln w="15875">
            <a:solidFill>
              <a:srgbClr val="C4621D"/>
            </a:solidFill>
            <a:prstDash val="solid"/>
          </a:ln>
        </p:spPr>
      </p:sp>
      <p:sp>
        <p:nvSpPr>
          <p:cNvPr id="31" name="Shape 27"/>
          <p:cNvSpPr/>
          <p:nvPr/>
        </p:nvSpPr>
        <p:spPr>
          <a:xfrm>
            <a:off x="4873752" y="1463040"/>
            <a:ext cx="457200" cy="457200"/>
          </a:xfrm>
          <a:prstGeom prst="ellipse">
            <a:avLst/>
          </a:prstGeom>
          <a:solidFill>
            <a:srgbClr val="C4621D">
              <a:alpha val="22000"/>
            </a:srgbClr>
          </a:solidFill>
          <a:ln/>
        </p:spPr>
      </p:sp>
      <p:pic>
        <p:nvPicPr>
          <p:cNvPr id="32" name="Image 1" descr="preencoded.png"/>
          <p:cNvPicPr>
            <a:picLocks noChangeAspect="1"/>
          </p:cNvPicPr>
          <p:nvPr/>
        </p:nvPicPr>
        <p:blipFill>
          <a:blip r:embed="rId4"/>
          <a:stretch>
            <a:fillRect/>
          </a:stretch>
        </p:blipFill>
        <p:spPr>
          <a:xfrm>
            <a:off x="4983480" y="1572768"/>
            <a:ext cx="237744" cy="237744"/>
          </a:xfrm>
          <a:prstGeom prst="rect">
            <a:avLst/>
          </a:prstGeom>
        </p:spPr>
      </p:pic>
      <p:sp>
        <p:nvSpPr>
          <p:cNvPr id="33" name="Text 28"/>
          <p:cNvSpPr txBox="1"/>
          <p:nvPr/>
        </p:nvSpPr>
        <p:spPr>
          <a:xfrm>
            <a:off x="5440680" y="1463040"/>
            <a:ext cx="301752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Cache de réponses</a:t>
            </a:r>
            <a:endParaRPr lang="en-US" sz="1400" dirty="0"/>
          </a:p>
        </p:txBody>
      </p:sp>
      <p:sp>
        <p:nvSpPr>
          <p:cNvPr id="34" name="Text 29"/>
          <p:cNvSpPr txBox="1"/>
          <p:nvPr/>
        </p:nvSpPr>
        <p:spPr>
          <a:xfrm>
            <a:off x="5440680" y="1700784"/>
            <a:ext cx="3017520" cy="2011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dans votre propre chaîne de traitement</a:t>
            </a:r>
            <a:endParaRPr lang="en-US" sz="1050" dirty="0"/>
          </a:p>
        </p:txBody>
      </p:sp>
      <p:sp>
        <p:nvSpPr>
          <p:cNvPr id="35" name="Text 30"/>
          <p:cNvSpPr txBox="1"/>
          <p:nvPr/>
        </p:nvSpPr>
        <p:spPr>
          <a:xfrm>
            <a:off x="4873752" y="2103120"/>
            <a:ext cx="3657600" cy="182880"/>
          </a:xfrm>
          <a:prstGeom prst="rect">
            <a:avLst/>
          </a:prstGeom>
          <a:noFill/>
          <a:ln/>
        </p:spPr>
        <p:txBody>
          <a:bodyPr wrap="square" lIns="0" tIns="0" rIns="0" bIns="0" rtlCol="0" anchor="t"/>
          <a:lstStyle/>
          <a:p>
            <a:pPr marL="0" indent="0">
              <a:buNone/>
            </a:pPr>
            <a:r>
              <a:rPr lang="en-US" sz="900" b="1" kern="0" spc="100" dirty="0">
                <a:solidFill>
                  <a:srgbClr val="C4621D"/>
                </a:solidFill>
                <a:latin typeface="Calibri" pitchFamily="34" charset="0"/>
                <a:ea typeface="Calibri" pitchFamily="34" charset="-122"/>
                <a:cs typeface="Calibri" pitchFamily="34" charset="-120"/>
              </a:rPr>
              <a:t>CLÉ = EMPREINTE DE</a:t>
            </a:r>
            <a:endParaRPr lang="en-US" sz="900" dirty="0"/>
          </a:p>
        </p:txBody>
      </p:sp>
      <p:sp>
        <p:nvSpPr>
          <p:cNvPr id="36" name="Shape 31"/>
          <p:cNvSpPr/>
          <p:nvPr/>
        </p:nvSpPr>
        <p:spPr>
          <a:xfrm>
            <a:off x="4873752" y="2359152"/>
            <a:ext cx="1143000" cy="274320"/>
          </a:xfrm>
          <a:prstGeom prst="roundRect">
            <a:avLst>
              <a:gd name="adj" fmla="val 43333"/>
            </a:avLst>
          </a:prstGeom>
          <a:solidFill>
            <a:srgbClr val="00704A">
              <a:alpha val="15000"/>
            </a:srgbClr>
          </a:solidFill>
          <a:ln w="9525">
            <a:solidFill>
              <a:srgbClr val="00704A"/>
            </a:solidFill>
            <a:prstDash val="solid"/>
          </a:ln>
        </p:spPr>
      </p:sp>
      <p:sp>
        <p:nvSpPr>
          <p:cNvPr id="37" name="Text 32"/>
          <p:cNvSpPr txBox="1"/>
          <p:nvPr/>
        </p:nvSpPr>
        <p:spPr>
          <a:xfrm>
            <a:off x="4873752" y="2359152"/>
            <a:ext cx="1143000" cy="274320"/>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version modèle</a:t>
            </a:r>
            <a:endParaRPr lang="en-US" sz="900" dirty="0"/>
          </a:p>
        </p:txBody>
      </p:sp>
      <p:sp>
        <p:nvSpPr>
          <p:cNvPr id="38" name="Shape 33"/>
          <p:cNvSpPr/>
          <p:nvPr/>
        </p:nvSpPr>
        <p:spPr>
          <a:xfrm>
            <a:off x="6108192" y="2359152"/>
            <a:ext cx="1143000" cy="274320"/>
          </a:xfrm>
          <a:prstGeom prst="roundRect">
            <a:avLst>
              <a:gd name="adj" fmla="val 43333"/>
            </a:avLst>
          </a:prstGeom>
          <a:solidFill>
            <a:srgbClr val="00704A">
              <a:alpha val="15000"/>
            </a:srgbClr>
          </a:solidFill>
          <a:ln w="9525">
            <a:solidFill>
              <a:srgbClr val="00704A"/>
            </a:solidFill>
            <a:prstDash val="solid"/>
          </a:ln>
        </p:spPr>
      </p:sp>
      <p:sp>
        <p:nvSpPr>
          <p:cNvPr id="39" name="Text 34"/>
          <p:cNvSpPr txBox="1"/>
          <p:nvPr/>
        </p:nvSpPr>
        <p:spPr>
          <a:xfrm>
            <a:off x="6108192" y="2359152"/>
            <a:ext cx="1143000" cy="274320"/>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version prompt</a:t>
            </a:r>
            <a:endParaRPr lang="en-US" sz="900" dirty="0"/>
          </a:p>
        </p:txBody>
      </p:sp>
      <p:sp>
        <p:nvSpPr>
          <p:cNvPr id="40" name="Shape 35"/>
          <p:cNvSpPr/>
          <p:nvPr/>
        </p:nvSpPr>
        <p:spPr>
          <a:xfrm>
            <a:off x="7342632" y="2359152"/>
            <a:ext cx="1143000" cy="274320"/>
          </a:xfrm>
          <a:prstGeom prst="roundRect">
            <a:avLst>
              <a:gd name="adj" fmla="val 43333"/>
            </a:avLst>
          </a:prstGeom>
          <a:solidFill>
            <a:srgbClr val="00704A">
              <a:alpha val="15000"/>
            </a:srgbClr>
          </a:solidFill>
          <a:ln w="9525">
            <a:solidFill>
              <a:srgbClr val="00704A"/>
            </a:solidFill>
            <a:prstDash val="solid"/>
          </a:ln>
        </p:spPr>
      </p:sp>
      <p:sp>
        <p:nvSpPr>
          <p:cNvPr id="41" name="Text 36"/>
          <p:cNvSpPr txBox="1"/>
          <p:nvPr/>
        </p:nvSpPr>
        <p:spPr>
          <a:xfrm>
            <a:off x="7342632" y="2359152"/>
            <a:ext cx="1143000" cy="274320"/>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texte d’entrée</a:t>
            </a:r>
            <a:endParaRPr lang="en-US" sz="900" dirty="0"/>
          </a:p>
        </p:txBody>
      </p:sp>
      <p:sp>
        <p:nvSpPr>
          <p:cNvPr id="42" name="Shape 37"/>
          <p:cNvSpPr/>
          <p:nvPr/>
        </p:nvSpPr>
        <p:spPr>
          <a:xfrm>
            <a:off x="4873752" y="2880360"/>
            <a:ext cx="365760" cy="365760"/>
          </a:xfrm>
          <a:prstGeom prst="ellipse">
            <a:avLst/>
          </a:prstGeom>
          <a:solidFill>
            <a:srgbClr val="C4621D">
              <a:alpha val="22000"/>
            </a:srgbClr>
          </a:solidFill>
          <a:ln/>
        </p:spPr>
      </p:sp>
      <p:pic>
        <p:nvPicPr>
          <p:cNvPr id="43" name="Image 2" descr="preencoded.png"/>
          <p:cNvPicPr>
            <a:picLocks noChangeAspect="1"/>
          </p:cNvPicPr>
          <p:nvPr/>
        </p:nvPicPr>
        <p:blipFill>
          <a:blip r:embed="rId5"/>
          <a:stretch>
            <a:fillRect/>
          </a:stretch>
        </p:blipFill>
        <p:spPr>
          <a:xfrm>
            <a:off x="4961534" y="2968142"/>
            <a:ext cx="190195" cy="190195"/>
          </a:xfrm>
          <a:prstGeom prst="rect">
            <a:avLst/>
          </a:prstGeom>
        </p:spPr>
      </p:pic>
      <p:sp>
        <p:nvSpPr>
          <p:cNvPr id="44" name="Text 38"/>
          <p:cNvSpPr txBox="1"/>
          <p:nvPr/>
        </p:nvSpPr>
        <p:spPr>
          <a:xfrm>
            <a:off x="5349240" y="2880360"/>
            <a:ext cx="320040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Instantané et gratuit si la requête se répète</a:t>
            </a:r>
            <a:endParaRPr lang="en-US" sz="1100" dirty="0"/>
          </a:p>
        </p:txBody>
      </p:sp>
      <p:sp>
        <p:nvSpPr>
          <p:cNvPr id="45" name="Shape 39"/>
          <p:cNvSpPr/>
          <p:nvPr/>
        </p:nvSpPr>
        <p:spPr>
          <a:xfrm>
            <a:off x="4873752" y="3383280"/>
            <a:ext cx="365760" cy="365760"/>
          </a:xfrm>
          <a:prstGeom prst="ellipse">
            <a:avLst/>
          </a:prstGeom>
          <a:solidFill>
            <a:srgbClr val="C4621D">
              <a:alpha val="22000"/>
            </a:srgbClr>
          </a:solidFill>
          <a:ln/>
        </p:spPr>
      </p:sp>
      <p:pic>
        <p:nvPicPr>
          <p:cNvPr id="46" name="Image 3" descr="preencoded.png"/>
          <p:cNvPicPr>
            <a:picLocks noChangeAspect="1"/>
          </p:cNvPicPr>
          <p:nvPr/>
        </p:nvPicPr>
        <p:blipFill>
          <a:blip r:embed="rId6"/>
          <a:stretch>
            <a:fillRect/>
          </a:stretch>
        </p:blipFill>
        <p:spPr>
          <a:xfrm>
            <a:off x="4961534" y="3471062"/>
            <a:ext cx="190195" cy="190195"/>
          </a:xfrm>
          <a:prstGeom prst="rect">
            <a:avLst/>
          </a:prstGeom>
        </p:spPr>
      </p:pic>
      <p:sp>
        <p:nvSpPr>
          <p:cNvPr id="47" name="Text 40"/>
          <p:cNvSpPr txBox="1"/>
          <p:nvPr/>
        </p:nvSpPr>
        <p:spPr>
          <a:xfrm>
            <a:off x="5349240" y="3383280"/>
            <a:ext cx="320040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Réponses parfaitement reproductibles</a:t>
            </a:r>
            <a:endParaRPr lang="en-US" sz="1100" dirty="0"/>
          </a:p>
        </p:txBody>
      </p:sp>
      <p:sp>
        <p:nvSpPr>
          <p:cNvPr id="48" name="Shape 41"/>
          <p:cNvSpPr/>
          <p:nvPr/>
        </p:nvSpPr>
        <p:spPr>
          <a:xfrm>
            <a:off x="4873752" y="3886200"/>
            <a:ext cx="365760" cy="365760"/>
          </a:xfrm>
          <a:prstGeom prst="ellipse">
            <a:avLst/>
          </a:prstGeom>
          <a:solidFill>
            <a:srgbClr val="C4621D">
              <a:alpha val="22000"/>
            </a:srgbClr>
          </a:solidFill>
          <a:ln/>
        </p:spPr>
      </p:sp>
      <p:pic>
        <p:nvPicPr>
          <p:cNvPr id="49" name="Image 4" descr="preencoded.png"/>
          <p:cNvPicPr>
            <a:picLocks noChangeAspect="1"/>
          </p:cNvPicPr>
          <p:nvPr/>
        </p:nvPicPr>
        <p:blipFill>
          <a:blip r:embed="rId7"/>
          <a:stretch>
            <a:fillRect/>
          </a:stretch>
        </p:blipFill>
        <p:spPr>
          <a:xfrm>
            <a:off x="4961534" y="3973982"/>
            <a:ext cx="190195" cy="190195"/>
          </a:xfrm>
          <a:prstGeom prst="rect">
            <a:avLst/>
          </a:prstGeom>
        </p:spPr>
      </p:pic>
      <p:sp>
        <p:nvSpPr>
          <p:cNvPr id="50" name="Text 42"/>
          <p:cNvSpPr txBox="1"/>
          <p:nvPr/>
        </p:nvSpPr>
        <p:spPr>
          <a:xfrm>
            <a:off x="5349240" y="3886200"/>
            <a:ext cx="320040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Une piste d’audit pour chaque chiffre publié</a:t>
            </a:r>
            <a:endParaRPr lang="en-US" sz="1100" dirty="0"/>
          </a:p>
        </p:txBody>
      </p:sp>
      <p:sp>
        <p:nvSpPr>
          <p:cNvPr id="51" name="Text 43"/>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Vérifiez dans la documentation de chaque fournisseur les conditions actuelles de mise en cache.</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6 SUR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06</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Prompt, RAG ou affinage ?</a:t>
            </a:r>
            <a:endParaRPr lang="en-US" sz="32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Quel outil corrige quel échec ?</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5C242"/>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24</a:t>
            </a:r>
            <a:endParaRPr lang="en-US" sz="8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PROMPT, RAG OU AFFINAGE ?</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Trois outils, trois problèmes différents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B83B2E"/>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7" name="Text 14"/>
          <p:cNvSpPr txBox="1"/>
          <p:nvPr/>
        </p:nvSpPr>
        <p:spPr>
          <a:xfrm>
            <a:off x="457200" y="2103120"/>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Corrige</a:t>
            </a:r>
            <a:endParaRPr lang="en-US" sz="1050" dirty="0"/>
          </a:p>
        </p:txBody>
      </p:sp>
      <p:sp>
        <p:nvSpPr>
          <p:cNvPr id="18" name="Text 15"/>
          <p:cNvSpPr txBox="1"/>
          <p:nvPr/>
        </p:nvSpPr>
        <p:spPr>
          <a:xfrm>
            <a:off x="457200" y="2505456"/>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Données requises</a:t>
            </a:r>
            <a:endParaRPr lang="en-US" sz="1050" dirty="0"/>
          </a:p>
        </p:txBody>
      </p:sp>
      <p:sp>
        <p:nvSpPr>
          <p:cNvPr id="19" name="Text 16"/>
          <p:cNvSpPr txBox="1"/>
          <p:nvPr/>
        </p:nvSpPr>
        <p:spPr>
          <a:xfrm>
            <a:off x="457200" y="2907792"/>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1er résultat</a:t>
            </a:r>
            <a:endParaRPr lang="en-US" sz="1050" dirty="0"/>
          </a:p>
        </p:txBody>
      </p:sp>
      <p:sp>
        <p:nvSpPr>
          <p:cNvPr id="20" name="Text 17"/>
          <p:cNvSpPr txBox="1"/>
          <p:nvPr/>
        </p:nvSpPr>
        <p:spPr>
          <a:xfrm>
            <a:off x="457200" y="3310128"/>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Profil de coût</a:t>
            </a:r>
            <a:endParaRPr lang="en-US" sz="1050" dirty="0"/>
          </a:p>
        </p:txBody>
      </p:sp>
      <p:sp>
        <p:nvSpPr>
          <p:cNvPr id="21" name="Text 18"/>
          <p:cNvSpPr txBox="1"/>
          <p:nvPr/>
        </p:nvSpPr>
        <p:spPr>
          <a:xfrm>
            <a:off x="457200" y="3712464"/>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Mise à jour</a:t>
            </a:r>
            <a:endParaRPr lang="en-US" sz="1050" dirty="0"/>
          </a:p>
        </p:txBody>
      </p:sp>
      <p:sp>
        <p:nvSpPr>
          <p:cNvPr id="22" name="Text 19"/>
          <p:cNvSpPr txBox="1"/>
          <p:nvPr/>
        </p:nvSpPr>
        <p:spPr>
          <a:xfrm>
            <a:off x="457200" y="4114800"/>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Exemple INS</a:t>
            </a:r>
            <a:endParaRPr lang="en-US" sz="1050" dirty="0"/>
          </a:p>
        </p:txBody>
      </p:sp>
      <p:sp>
        <p:nvSpPr>
          <p:cNvPr id="23" name="Shape 20"/>
          <p:cNvSpPr/>
          <p:nvPr/>
        </p:nvSpPr>
        <p:spPr>
          <a:xfrm>
            <a:off x="1600200" y="1298448"/>
            <a:ext cx="2286000" cy="3291840"/>
          </a:xfrm>
          <a:prstGeom prst="roundRect">
            <a:avLst>
              <a:gd name="adj" fmla="val 3200"/>
            </a:avLst>
          </a:prstGeom>
          <a:solidFill>
            <a:srgbClr val="E8F5EF"/>
          </a:solidFill>
          <a:ln w="15875">
            <a:solidFill>
              <a:srgbClr val="00A86A"/>
            </a:solidFill>
            <a:prstDash val="solid"/>
          </a:ln>
        </p:spPr>
      </p:sp>
      <p:sp>
        <p:nvSpPr>
          <p:cNvPr id="24" name="Shape 21"/>
          <p:cNvSpPr/>
          <p:nvPr/>
        </p:nvSpPr>
        <p:spPr>
          <a:xfrm>
            <a:off x="1728216" y="1389888"/>
            <a:ext cx="384048" cy="384048"/>
          </a:xfrm>
          <a:prstGeom prst="ellipse">
            <a:avLst/>
          </a:prstGeom>
          <a:solidFill>
            <a:srgbClr val="00A86A">
              <a:alpha val="22000"/>
            </a:srgbClr>
          </a:solidFill>
          <a:ln/>
        </p:spPr>
      </p:sp>
      <p:pic>
        <p:nvPicPr>
          <p:cNvPr id="25" name="Image 0" descr="preencoded.png"/>
          <p:cNvPicPr>
            <a:picLocks noChangeAspect="1"/>
          </p:cNvPicPr>
          <p:nvPr/>
        </p:nvPicPr>
        <p:blipFill>
          <a:blip r:embed="rId3"/>
          <a:stretch>
            <a:fillRect/>
          </a:stretch>
        </p:blipFill>
        <p:spPr>
          <a:xfrm>
            <a:off x="1820388" y="1482060"/>
            <a:ext cx="199705" cy="199705"/>
          </a:xfrm>
          <a:prstGeom prst="rect">
            <a:avLst/>
          </a:prstGeom>
        </p:spPr>
      </p:pic>
      <p:sp>
        <p:nvSpPr>
          <p:cNvPr id="26" name="Text 22"/>
          <p:cNvSpPr txBox="1"/>
          <p:nvPr/>
        </p:nvSpPr>
        <p:spPr>
          <a:xfrm>
            <a:off x="2167128" y="1371600"/>
            <a:ext cx="16916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Ingénierie du prompt</a:t>
            </a:r>
            <a:endParaRPr lang="en-US" sz="1250" dirty="0"/>
          </a:p>
        </p:txBody>
      </p:sp>
      <p:sp>
        <p:nvSpPr>
          <p:cNvPr id="27" name="Text 23"/>
          <p:cNvSpPr txBox="1"/>
          <p:nvPr/>
        </p:nvSpPr>
        <p:spPr>
          <a:xfrm>
            <a:off x="2167128" y="1618488"/>
            <a:ext cx="1691640" cy="182880"/>
          </a:xfrm>
          <a:prstGeom prst="rect">
            <a:avLst/>
          </a:prstGeom>
          <a:noFill/>
          <a:ln/>
        </p:spPr>
        <p:txBody>
          <a:bodyPr wrap="square" lIns="0" tIns="0" rIns="0" bIns="0" rtlCol="0" anchor="t"/>
          <a:lstStyle/>
          <a:p>
            <a:pPr marL="0" indent="0">
              <a:buNone/>
            </a:pPr>
            <a:r>
              <a:rPr lang="en-US" sz="850" b="1" kern="0" spc="100" dirty="0">
                <a:solidFill>
                  <a:srgbClr val="00A86A"/>
                </a:solidFill>
                <a:latin typeface="Calibri" pitchFamily="34" charset="0"/>
                <a:ea typeface="Calibri" pitchFamily="34" charset="-122"/>
                <a:cs typeface="Calibri" pitchFamily="34" charset="-120"/>
              </a:rPr>
              <a:t>COMMENCER ICI</a:t>
            </a:r>
            <a:endParaRPr lang="en-US" sz="850" dirty="0"/>
          </a:p>
        </p:txBody>
      </p:sp>
      <p:sp>
        <p:nvSpPr>
          <p:cNvPr id="28" name="Text 24"/>
          <p:cNvSpPr txBox="1"/>
          <p:nvPr/>
        </p:nvSpPr>
        <p:spPr>
          <a:xfrm>
            <a:off x="1728216" y="2103120"/>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 comportement descriptible en mots</a:t>
            </a:r>
            <a:endParaRPr lang="en-US" sz="950" dirty="0"/>
          </a:p>
        </p:txBody>
      </p:sp>
      <p:sp>
        <p:nvSpPr>
          <p:cNvPr id="29" name="Shape 25"/>
          <p:cNvSpPr/>
          <p:nvPr/>
        </p:nvSpPr>
        <p:spPr>
          <a:xfrm>
            <a:off x="1728216" y="2487168"/>
            <a:ext cx="2029968" cy="0"/>
          </a:xfrm>
          <a:prstGeom prst="line">
            <a:avLst/>
          </a:prstGeom>
          <a:noFill/>
          <a:ln w="6350">
            <a:solidFill>
              <a:srgbClr val="D5DED9"/>
            </a:solidFill>
            <a:prstDash val="solid"/>
          </a:ln>
        </p:spPr>
      </p:sp>
      <p:sp>
        <p:nvSpPr>
          <p:cNvPr id="30" name="Text 26"/>
          <p:cNvSpPr txBox="1"/>
          <p:nvPr/>
        </p:nvSpPr>
        <p:spPr>
          <a:xfrm>
            <a:off x="1728216" y="2505456"/>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Quelques exemples</a:t>
            </a:r>
            <a:endParaRPr lang="en-US" sz="950" dirty="0"/>
          </a:p>
        </p:txBody>
      </p:sp>
      <p:sp>
        <p:nvSpPr>
          <p:cNvPr id="31" name="Shape 27"/>
          <p:cNvSpPr/>
          <p:nvPr/>
        </p:nvSpPr>
        <p:spPr>
          <a:xfrm>
            <a:off x="1728216" y="2889504"/>
            <a:ext cx="2029968" cy="0"/>
          </a:xfrm>
          <a:prstGeom prst="line">
            <a:avLst/>
          </a:prstGeom>
          <a:noFill/>
          <a:ln w="6350">
            <a:solidFill>
              <a:srgbClr val="D5DED9"/>
            </a:solidFill>
            <a:prstDash val="solid"/>
          </a:ln>
        </p:spPr>
      </p:sp>
      <p:sp>
        <p:nvSpPr>
          <p:cNvPr id="32" name="Text 28"/>
          <p:cNvSpPr txBox="1"/>
          <p:nvPr/>
        </p:nvSpPr>
        <p:spPr>
          <a:xfrm>
            <a:off x="1728216" y="2907792"/>
            <a:ext cx="2057400" cy="36576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Heures</a:t>
            </a:r>
            <a:endParaRPr lang="en-US" sz="950" dirty="0"/>
          </a:p>
        </p:txBody>
      </p:sp>
      <p:sp>
        <p:nvSpPr>
          <p:cNvPr id="33" name="Shape 29"/>
          <p:cNvSpPr/>
          <p:nvPr/>
        </p:nvSpPr>
        <p:spPr>
          <a:xfrm>
            <a:off x="1728216" y="3291840"/>
            <a:ext cx="2029968" cy="0"/>
          </a:xfrm>
          <a:prstGeom prst="line">
            <a:avLst/>
          </a:prstGeom>
          <a:noFill/>
          <a:ln w="6350">
            <a:solidFill>
              <a:srgbClr val="D5DED9"/>
            </a:solidFill>
            <a:prstDash val="solid"/>
          </a:ln>
        </p:spPr>
      </p:sp>
      <p:sp>
        <p:nvSpPr>
          <p:cNvPr id="34" name="Text 30"/>
          <p:cNvSpPr txBox="1"/>
          <p:nvPr/>
        </p:nvSpPr>
        <p:spPr>
          <a:xfrm>
            <a:off x="1728216" y="3310128"/>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Faible : paiement à l’appel</a:t>
            </a:r>
            <a:endParaRPr lang="en-US" sz="950" dirty="0"/>
          </a:p>
        </p:txBody>
      </p:sp>
      <p:sp>
        <p:nvSpPr>
          <p:cNvPr id="35" name="Shape 31"/>
          <p:cNvSpPr/>
          <p:nvPr/>
        </p:nvSpPr>
        <p:spPr>
          <a:xfrm>
            <a:off x="1728216" y="3694176"/>
            <a:ext cx="2029968" cy="0"/>
          </a:xfrm>
          <a:prstGeom prst="line">
            <a:avLst/>
          </a:prstGeom>
          <a:noFill/>
          <a:ln w="6350">
            <a:solidFill>
              <a:srgbClr val="D5DED9"/>
            </a:solidFill>
            <a:prstDash val="solid"/>
          </a:ln>
        </p:spPr>
      </p:sp>
      <p:sp>
        <p:nvSpPr>
          <p:cNvPr id="36" name="Text 32"/>
          <p:cNvSpPr txBox="1"/>
          <p:nvPr/>
        </p:nvSpPr>
        <p:spPr>
          <a:xfrm>
            <a:off x="1728216" y="3712464"/>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Modifier le prompt</a:t>
            </a:r>
            <a:endParaRPr lang="en-US" sz="950" dirty="0"/>
          </a:p>
        </p:txBody>
      </p:sp>
      <p:sp>
        <p:nvSpPr>
          <p:cNvPr id="37" name="Shape 33"/>
          <p:cNvSpPr/>
          <p:nvPr/>
        </p:nvSpPr>
        <p:spPr>
          <a:xfrm>
            <a:off x="1728216" y="4096512"/>
            <a:ext cx="2029968" cy="0"/>
          </a:xfrm>
          <a:prstGeom prst="line">
            <a:avLst/>
          </a:prstGeom>
          <a:noFill/>
          <a:ln w="6350">
            <a:solidFill>
              <a:srgbClr val="D5DED9"/>
            </a:solidFill>
            <a:prstDash val="solid"/>
          </a:ln>
        </p:spPr>
      </p:sp>
      <p:sp>
        <p:nvSpPr>
          <p:cNvPr id="38" name="Text 34"/>
          <p:cNvSpPr txBox="1"/>
          <p:nvPr/>
        </p:nvSpPr>
        <p:spPr>
          <a:xfrm>
            <a:off x="1728216" y="4114800"/>
            <a:ext cx="2057400" cy="365760"/>
          </a:xfrm>
          <a:prstGeom prst="rect">
            <a:avLst/>
          </a:prstGeom>
          <a:noFill/>
          <a:ln/>
        </p:spPr>
        <p:txBody>
          <a:bodyPr wrap="square" lIns="0" tIns="0" rIns="0" bIns="0" rtlCol="0" anchor="ctr"/>
          <a:lstStyle/>
          <a:p>
            <a:pPr marL="0" indent="0">
              <a:buNone/>
            </a:pPr>
            <a:r>
              <a:rPr lang="en-US" sz="950" i="1" dirty="0">
                <a:solidFill>
                  <a:srgbClr val="00A86A"/>
                </a:solidFill>
                <a:latin typeface="Calibri" pitchFamily="34" charset="0"/>
                <a:ea typeface="Calibri" pitchFamily="34" charset="-122"/>
                <a:cs typeface="Calibri" pitchFamily="34" charset="-120"/>
              </a:rPr>
              <a:t>Rédiger un communiqué de presse</a:t>
            </a:r>
            <a:endParaRPr lang="en-US" sz="950" dirty="0"/>
          </a:p>
        </p:txBody>
      </p:sp>
      <p:sp>
        <p:nvSpPr>
          <p:cNvPr id="39" name="Shape 35"/>
          <p:cNvSpPr/>
          <p:nvPr/>
        </p:nvSpPr>
        <p:spPr>
          <a:xfrm>
            <a:off x="3995928" y="1298448"/>
            <a:ext cx="2286000" cy="3291840"/>
          </a:xfrm>
          <a:prstGeom prst="roundRect">
            <a:avLst>
              <a:gd name="adj" fmla="val 3200"/>
            </a:avLst>
          </a:prstGeom>
          <a:solidFill>
            <a:srgbClr val="F4F7F5"/>
          </a:solidFill>
          <a:ln w="9525">
            <a:solidFill>
              <a:srgbClr val="D5DED9"/>
            </a:solidFill>
            <a:prstDash val="solid"/>
          </a:ln>
        </p:spPr>
      </p:sp>
      <p:sp>
        <p:nvSpPr>
          <p:cNvPr id="40" name="Shape 36"/>
          <p:cNvSpPr/>
          <p:nvPr/>
        </p:nvSpPr>
        <p:spPr>
          <a:xfrm>
            <a:off x="4123944" y="1389888"/>
            <a:ext cx="384048" cy="384048"/>
          </a:xfrm>
          <a:prstGeom prst="ellipse">
            <a:avLst/>
          </a:prstGeom>
          <a:solidFill>
            <a:srgbClr val="0E7C86">
              <a:alpha val="22000"/>
            </a:srgbClr>
          </a:solidFill>
          <a:ln/>
        </p:spPr>
      </p:sp>
      <p:pic>
        <p:nvPicPr>
          <p:cNvPr id="41" name="Image 1" descr="preencoded.png"/>
          <p:cNvPicPr>
            <a:picLocks noChangeAspect="1"/>
          </p:cNvPicPr>
          <p:nvPr/>
        </p:nvPicPr>
        <p:blipFill>
          <a:blip r:embed="rId4"/>
          <a:stretch>
            <a:fillRect/>
          </a:stretch>
        </p:blipFill>
        <p:spPr>
          <a:xfrm>
            <a:off x="4216116" y="1482060"/>
            <a:ext cx="199705" cy="199705"/>
          </a:xfrm>
          <a:prstGeom prst="rect">
            <a:avLst/>
          </a:prstGeom>
        </p:spPr>
      </p:pic>
      <p:sp>
        <p:nvSpPr>
          <p:cNvPr id="42" name="Text 37"/>
          <p:cNvSpPr txBox="1"/>
          <p:nvPr/>
        </p:nvSpPr>
        <p:spPr>
          <a:xfrm>
            <a:off x="4562856" y="1371600"/>
            <a:ext cx="16916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RAG</a:t>
            </a:r>
            <a:endParaRPr lang="en-US" sz="1250" dirty="0"/>
          </a:p>
        </p:txBody>
      </p:sp>
      <p:sp>
        <p:nvSpPr>
          <p:cNvPr id="43" name="Text 38"/>
          <p:cNvSpPr txBox="1"/>
          <p:nvPr/>
        </p:nvSpPr>
        <p:spPr>
          <a:xfrm>
            <a:off x="4562856" y="1618488"/>
            <a:ext cx="1691640" cy="182880"/>
          </a:xfrm>
          <a:prstGeom prst="rect">
            <a:avLst/>
          </a:prstGeom>
          <a:noFill/>
          <a:ln/>
        </p:spPr>
        <p:txBody>
          <a:bodyPr wrap="square" lIns="0" tIns="0" rIns="0" bIns="0" rtlCol="0" anchor="t"/>
          <a:lstStyle/>
          <a:p>
            <a:pPr marL="0" indent="0">
              <a:buNone/>
            </a:pPr>
            <a:r>
              <a:rPr lang="en-US" sz="850" b="1" kern="0" spc="100" dirty="0">
                <a:solidFill>
                  <a:srgbClr val="0E7C86"/>
                </a:solidFill>
                <a:latin typeface="Calibri" pitchFamily="34" charset="0"/>
                <a:ea typeface="Calibri" pitchFamily="34" charset="-122"/>
                <a:cs typeface="Calibri" pitchFamily="34" charset="-120"/>
              </a:rPr>
              <a:t>AJOUTER DU SAVOIR</a:t>
            </a:r>
            <a:endParaRPr lang="en-US" sz="850" dirty="0"/>
          </a:p>
        </p:txBody>
      </p:sp>
      <p:sp>
        <p:nvSpPr>
          <p:cNvPr id="44" name="Text 39"/>
          <p:cNvSpPr txBox="1"/>
          <p:nvPr/>
        </p:nvSpPr>
        <p:spPr>
          <a:xfrm>
            <a:off x="4123944" y="2103120"/>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Savoir manquant, changeant ou à citer</a:t>
            </a:r>
            <a:endParaRPr lang="en-US" sz="950" dirty="0"/>
          </a:p>
        </p:txBody>
      </p:sp>
      <p:sp>
        <p:nvSpPr>
          <p:cNvPr id="45" name="Shape 40"/>
          <p:cNvSpPr/>
          <p:nvPr/>
        </p:nvSpPr>
        <p:spPr>
          <a:xfrm>
            <a:off x="4123944" y="2487168"/>
            <a:ext cx="2029968" cy="0"/>
          </a:xfrm>
          <a:prstGeom prst="line">
            <a:avLst/>
          </a:prstGeom>
          <a:noFill/>
          <a:ln w="6350">
            <a:solidFill>
              <a:srgbClr val="D5DED9"/>
            </a:solidFill>
            <a:prstDash val="solid"/>
          </a:ln>
        </p:spPr>
      </p:sp>
      <p:sp>
        <p:nvSpPr>
          <p:cNvPr id="46" name="Text 41"/>
          <p:cNvSpPr txBox="1"/>
          <p:nvPr/>
        </p:nvSpPr>
        <p:spPr>
          <a:xfrm>
            <a:off x="4123944" y="2505456"/>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 corpus documentaire</a:t>
            </a:r>
            <a:endParaRPr lang="en-US" sz="950" dirty="0"/>
          </a:p>
        </p:txBody>
      </p:sp>
      <p:sp>
        <p:nvSpPr>
          <p:cNvPr id="47" name="Shape 42"/>
          <p:cNvSpPr/>
          <p:nvPr/>
        </p:nvSpPr>
        <p:spPr>
          <a:xfrm>
            <a:off x="4123944" y="2889504"/>
            <a:ext cx="2029968" cy="0"/>
          </a:xfrm>
          <a:prstGeom prst="line">
            <a:avLst/>
          </a:prstGeom>
          <a:noFill/>
          <a:ln w="6350">
            <a:solidFill>
              <a:srgbClr val="D5DED9"/>
            </a:solidFill>
            <a:prstDash val="solid"/>
          </a:ln>
        </p:spPr>
      </p:sp>
      <p:sp>
        <p:nvSpPr>
          <p:cNvPr id="48" name="Text 43"/>
          <p:cNvSpPr txBox="1"/>
          <p:nvPr/>
        </p:nvSpPr>
        <p:spPr>
          <a:xfrm>
            <a:off x="4123944" y="2907792"/>
            <a:ext cx="2057400" cy="36576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Jours</a:t>
            </a:r>
            <a:endParaRPr lang="en-US" sz="950" dirty="0"/>
          </a:p>
        </p:txBody>
      </p:sp>
      <p:sp>
        <p:nvSpPr>
          <p:cNvPr id="49" name="Shape 44"/>
          <p:cNvSpPr/>
          <p:nvPr/>
        </p:nvSpPr>
        <p:spPr>
          <a:xfrm>
            <a:off x="4123944" y="3291840"/>
            <a:ext cx="2029968" cy="0"/>
          </a:xfrm>
          <a:prstGeom prst="line">
            <a:avLst/>
          </a:prstGeom>
          <a:noFill/>
          <a:ln w="6350">
            <a:solidFill>
              <a:srgbClr val="D5DED9"/>
            </a:solidFill>
            <a:prstDash val="solid"/>
          </a:ln>
        </p:spPr>
      </p:sp>
      <p:sp>
        <p:nvSpPr>
          <p:cNvPr id="50" name="Text 45"/>
          <p:cNvSpPr txBox="1"/>
          <p:nvPr/>
        </p:nvSpPr>
        <p:spPr>
          <a:xfrm>
            <a:off x="4123944" y="3310128"/>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Moyen : embeddings + base vectorielle</a:t>
            </a:r>
            <a:endParaRPr lang="en-US" sz="950" dirty="0"/>
          </a:p>
        </p:txBody>
      </p:sp>
      <p:sp>
        <p:nvSpPr>
          <p:cNvPr id="51" name="Shape 46"/>
          <p:cNvSpPr/>
          <p:nvPr/>
        </p:nvSpPr>
        <p:spPr>
          <a:xfrm>
            <a:off x="4123944" y="3694176"/>
            <a:ext cx="2029968" cy="0"/>
          </a:xfrm>
          <a:prstGeom prst="line">
            <a:avLst/>
          </a:prstGeom>
          <a:noFill/>
          <a:ln w="6350">
            <a:solidFill>
              <a:srgbClr val="D5DED9"/>
            </a:solidFill>
            <a:prstDash val="solid"/>
          </a:ln>
        </p:spPr>
      </p:sp>
      <p:sp>
        <p:nvSpPr>
          <p:cNvPr id="52" name="Text 47"/>
          <p:cNvSpPr txBox="1"/>
          <p:nvPr/>
        </p:nvSpPr>
        <p:spPr>
          <a:xfrm>
            <a:off x="4123944" y="3712464"/>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Réindexer les documents</a:t>
            </a:r>
            <a:endParaRPr lang="en-US" sz="950" dirty="0"/>
          </a:p>
        </p:txBody>
      </p:sp>
      <p:sp>
        <p:nvSpPr>
          <p:cNvPr id="53" name="Shape 48"/>
          <p:cNvSpPr/>
          <p:nvPr/>
        </p:nvSpPr>
        <p:spPr>
          <a:xfrm>
            <a:off x="4123944" y="4096512"/>
            <a:ext cx="2029968" cy="0"/>
          </a:xfrm>
          <a:prstGeom prst="line">
            <a:avLst/>
          </a:prstGeom>
          <a:noFill/>
          <a:ln w="6350">
            <a:solidFill>
              <a:srgbClr val="D5DED9"/>
            </a:solidFill>
            <a:prstDash val="solid"/>
          </a:ln>
        </p:spPr>
      </p:sp>
      <p:sp>
        <p:nvSpPr>
          <p:cNvPr id="54" name="Text 49"/>
          <p:cNvSpPr txBox="1"/>
          <p:nvPr/>
        </p:nvSpPr>
        <p:spPr>
          <a:xfrm>
            <a:off x="4123944" y="4114800"/>
            <a:ext cx="2057400" cy="365760"/>
          </a:xfrm>
          <a:prstGeom prst="rect">
            <a:avLst/>
          </a:prstGeom>
          <a:noFill/>
          <a:ln/>
        </p:spPr>
        <p:txBody>
          <a:bodyPr wrap="square" lIns="0" tIns="0" rIns="0" bIns="0" rtlCol="0" anchor="ctr"/>
          <a:lstStyle/>
          <a:p>
            <a:pPr marL="0" indent="0">
              <a:buNone/>
            </a:pPr>
            <a:r>
              <a:rPr lang="en-US" sz="950" i="1" dirty="0">
                <a:solidFill>
                  <a:srgbClr val="0E7C86"/>
                </a:solidFill>
                <a:latin typeface="Calibri" pitchFamily="34" charset="0"/>
                <a:ea typeface="Calibri" pitchFamily="34" charset="-122"/>
                <a:cs typeface="Calibri" pitchFamily="34" charset="-120"/>
              </a:rPr>
              <a:t>Q&amp;R sur notes méthodologiques et métadonnées</a:t>
            </a:r>
            <a:endParaRPr lang="en-US" sz="950" dirty="0"/>
          </a:p>
        </p:txBody>
      </p:sp>
      <p:sp>
        <p:nvSpPr>
          <p:cNvPr id="55" name="Shape 50"/>
          <p:cNvSpPr/>
          <p:nvPr/>
        </p:nvSpPr>
        <p:spPr>
          <a:xfrm>
            <a:off x="6391656" y="1298448"/>
            <a:ext cx="2286000" cy="3291840"/>
          </a:xfrm>
          <a:prstGeom prst="roundRect">
            <a:avLst>
              <a:gd name="adj" fmla="val 3200"/>
            </a:avLst>
          </a:prstGeom>
          <a:solidFill>
            <a:srgbClr val="F4F7F5"/>
          </a:solidFill>
          <a:ln w="9525">
            <a:solidFill>
              <a:srgbClr val="D5DED9"/>
            </a:solidFill>
            <a:prstDash val="solid"/>
          </a:ln>
        </p:spPr>
      </p:sp>
      <p:sp>
        <p:nvSpPr>
          <p:cNvPr id="56" name="Shape 51"/>
          <p:cNvSpPr/>
          <p:nvPr/>
        </p:nvSpPr>
        <p:spPr>
          <a:xfrm>
            <a:off x="6519672" y="1389888"/>
            <a:ext cx="384048" cy="384048"/>
          </a:xfrm>
          <a:prstGeom prst="ellipse">
            <a:avLst/>
          </a:prstGeom>
          <a:solidFill>
            <a:srgbClr val="B83B2E">
              <a:alpha val="22000"/>
            </a:srgbClr>
          </a:solidFill>
          <a:ln/>
        </p:spPr>
      </p:sp>
      <p:pic>
        <p:nvPicPr>
          <p:cNvPr id="57" name="Image 2" descr="preencoded.png"/>
          <p:cNvPicPr>
            <a:picLocks noChangeAspect="1"/>
          </p:cNvPicPr>
          <p:nvPr/>
        </p:nvPicPr>
        <p:blipFill>
          <a:blip r:embed="rId5"/>
          <a:stretch>
            <a:fillRect/>
          </a:stretch>
        </p:blipFill>
        <p:spPr>
          <a:xfrm>
            <a:off x="6611844" y="1482060"/>
            <a:ext cx="199705" cy="199705"/>
          </a:xfrm>
          <a:prstGeom prst="rect">
            <a:avLst/>
          </a:prstGeom>
        </p:spPr>
      </p:pic>
      <p:sp>
        <p:nvSpPr>
          <p:cNvPr id="58" name="Text 52"/>
          <p:cNvSpPr txBox="1"/>
          <p:nvPr/>
        </p:nvSpPr>
        <p:spPr>
          <a:xfrm>
            <a:off x="6958584" y="1371600"/>
            <a:ext cx="16916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Affinage</a:t>
            </a:r>
            <a:endParaRPr lang="en-US" sz="1250" dirty="0"/>
          </a:p>
        </p:txBody>
      </p:sp>
      <p:sp>
        <p:nvSpPr>
          <p:cNvPr id="59" name="Text 53"/>
          <p:cNvSpPr txBox="1"/>
          <p:nvPr/>
        </p:nvSpPr>
        <p:spPr>
          <a:xfrm>
            <a:off x="6958584" y="1618488"/>
            <a:ext cx="1691640" cy="182880"/>
          </a:xfrm>
          <a:prstGeom prst="rect">
            <a:avLst/>
          </a:prstGeom>
          <a:noFill/>
          <a:ln/>
        </p:spPr>
        <p:txBody>
          <a:bodyPr wrap="square" lIns="0" tIns="0" rIns="0" bIns="0" rtlCol="0" anchor="t"/>
          <a:lstStyle/>
          <a:p>
            <a:pPr marL="0" indent="0">
              <a:buNone/>
            </a:pPr>
            <a:r>
              <a:rPr lang="en-US" sz="850" b="1" kern="0" spc="100" dirty="0">
                <a:solidFill>
                  <a:srgbClr val="B83B2E"/>
                </a:solidFill>
                <a:latin typeface="Calibri" pitchFamily="34" charset="0"/>
                <a:ea typeface="Calibri" pitchFamily="34" charset="-122"/>
                <a:cs typeface="Calibri" pitchFamily="34" charset="-120"/>
              </a:rPr>
              <a:t>MODIFIER LE MODÈLE</a:t>
            </a:r>
            <a:endParaRPr lang="en-US" sz="850" dirty="0"/>
          </a:p>
        </p:txBody>
      </p:sp>
      <p:sp>
        <p:nvSpPr>
          <p:cNvPr id="60" name="Text 54"/>
          <p:cNvSpPr txBox="1"/>
          <p:nvPr/>
        </p:nvSpPr>
        <p:spPr>
          <a:xfrm>
            <a:off x="6519672" y="2103120"/>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Comportement constant sur une tâche étroite à fort volume</a:t>
            </a:r>
            <a:endParaRPr lang="en-US" sz="950" dirty="0"/>
          </a:p>
        </p:txBody>
      </p:sp>
      <p:sp>
        <p:nvSpPr>
          <p:cNvPr id="61" name="Shape 55"/>
          <p:cNvSpPr/>
          <p:nvPr/>
        </p:nvSpPr>
        <p:spPr>
          <a:xfrm>
            <a:off x="6519672" y="2487168"/>
            <a:ext cx="2029968" cy="0"/>
          </a:xfrm>
          <a:prstGeom prst="line">
            <a:avLst/>
          </a:prstGeom>
          <a:noFill/>
          <a:ln w="6350">
            <a:solidFill>
              <a:srgbClr val="D5DED9"/>
            </a:solidFill>
            <a:prstDash val="solid"/>
          </a:ln>
        </p:spPr>
      </p:sp>
      <p:sp>
        <p:nvSpPr>
          <p:cNvPr id="62" name="Text 56"/>
          <p:cNvSpPr txBox="1"/>
          <p:nvPr/>
        </p:nvSpPr>
        <p:spPr>
          <a:xfrm>
            <a:off x="6519672" y="2505456"/>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Centaines à milliers de paires annotées</a:t>
            </a:r>
            <a:endParaRPr lang="en-US" sz="950" dirty="0"/>
          </a:p>
        </p:txBody>
      </p:sp>
      <p:sp>
        <p:nvSpPr>
          <p:cNvPr id="63" name="Shape 57"/>
          <p:cNvSpPr/>
          <p:nvPr/>
        </p:nvSpPr>
        <p:spPr>
          <a:xfrm>
            <a:off x="6519672" y="2889504"/>
            <a:ext cx="2029968" cy="0"/>
          </a:xfrm>
          <a:prstGeom prst="line">
            <a:avLst/>
          </a:prstGeom>
          <a:noFill/>
          <a:ln w="6350">
            <a:solidFill>
              <a:srgbClr val="D5DED9"/>
            </a:solidFill>
            <a:prstDash val="solid"/>
          </a:ln>
        </p:spPr>
      </p:sp>
      <p:sp>
        <p:nvSpPr>
          <p:cNvPr id="64" name="Text 58"/>
          <p:cNvSpPr txBox="1"/>
          <p:nvPr/>
        </p:nvSpPr>
        <p:spPr>
          <a:xfrm>
            <a:off x="6519672" y="2907792"/>
            <a:ext cx="2057400" cy="36576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Semaines</a:t>
            </a:r>
            <a:endParaRPr lang="en-US" sz="950" dirty="0"/>
          </a:p>
        </p:txBody>
      </p:sp>
      <p:sp>
        <p:nvSpPr>
          <p:cNvPr id="65" name="Shape 59"/>
          <p:cNvSpPr/>
          <p:nvPr/>
        </p:nvSpPr>
        <p:spPr>
          <a:xfrm>
            <a:off x="6519672" y="3291840"/>
            <a:ext cx="2029968" cy="0"/>
          </a:xfrm>
          <a:prstGeom prst="line">
            <a:avLst/>
          </a:prstGeom>
          <a:noFill/>
          <a:ln w="6350">
            <a:solidFill>
              <a:srgbClr val="D5DED9"/>
            </a:solidFill>
            <a:prstDash val="solid"/>
          </a:ln>
        </p:spPr>
      </p:sp>
      <p:sp>
        <p:nvSpPr>
          <p:cNvPr id="66" name="Text 60"/>
          <p:cNvSpPr txBox="1"/>
          <p:nvPr/>
        </p:nvSpPr>
        <p:spPr>
          <a:xfrm>
            <a:off x="6519672" y="3310128"/>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Élevé : entraînement + hébergement</a:t>
            </a:r>
            <a:endParaRPr lang="en-US" sz="950" dirty="0"/>
          </a:p>
        </p:txBody>
      </p:sp>
      <p:sp>
        <p:nvSpPr>
          <p:cNvPr id="67" name="Shape 61"/>
          <p:cNvSpPr/>
          <p:nvPr/>
        </p:nvSpPr>
        <p:spPr>
          <a:xfrm>
            <a:off x="6519672" y="3694176"/>
            <a:ext cx="2029968" cy="0"/>
          </a:xfrm>
          <a:prstGeom prst="line">
            <a:avLst/>
          </a:prstGeom>
          <a:noFill/>
          <a:ln w="6350">
            <a:solidFill>
              <a:srgbClr val="D5DED9"/>
            </a:solidFill>
            <a:prstDash val="solid"/>
          </a:ln>
        </p:spPr>
      </p:sp>
      <p:sp>
        <p:nvSpPr>
          <p:cNvPr id="68" name="Text 62"/>
          <p:cNvSpPr txBox="1"/>
          <p:nvPr/>
        </p:nvSpPr>
        <p:spPr>
          <a:xfrm>
            <a:off x="6519672" y="3712464"/>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Ré-entraîner</a:t>
            </a:r>
            <a:endParaRPr lang="en-US" sz="950" dirty="0"/>
          </a:p>
        </p:txBody>
      </p:sp>
      <p:sp>
        <p:nvSpPr>
          <p:cNvPr id="69" name="Shape 63"/>
          <p:cNvSpPr/>
          <p:nvPr/>
        </p:nvSpPr>
        <p:spPr>
          <a:xfrm>
            <a:off x="6519672" y="4096512"/>
            <a:ext cx="2029968" cy="0"/>
          </a:xfrm>
          <a:prstGeom prst="line">
            <a:avLst/>
          </a:prstGeom>
          <a:noFill/>
          <a:ln w="6350">
            <a:solidFill>
              <a:srgbClr val="D5DED9"/>
            </a:solidFill>
            <a:prstDash val="solid"/>
          </a:ln>
        </p:spPr>
      </p:sp>
      <p:sp>
        <p:nvSpPr>
          <p:cNvPr id="70" name="Text 64"/>
          <p:cNvSpPr txBox="1"/>
          <p:nvPr/>
        </p:nvSpPr>
        <p:spPr>
          <a:xfrm>
            <a:off x="6519672" y="4114800"/>
            <a:ext cx="2057400" cy="365760"/>
          </a:xfrm>
          <a:prstGeom prst="rect">
            <a:avLst/>
          </a:prstGeom>
          <a:noFill/>
          <a:ln/>
        </p:spPr>
        <p:txBody>
          <a:bodyPr wrap="square" lIns="0" tIns="0" rIns="0" bIns="0" rtlCol="0" anchor="ctr"/>
          <a:lstStyle/>
          <a:p>
            <a:pPr marL="0" indent="0">
              <a:buNone/>
            </a:pPr>
            <a:r>
              <a:rPr lang="en-US" sz="950" i="1" dirty="0">
                <a:solidFill>
                  <a:srgbClr val="B83B2E"/>
                </a:solidFill>
                <a:latin typeface="Calibri" pitchFamily="34" charset="0"/>
                <a:ea typeface="Calibri" pitchFamily="34" charset="-122"/>
                <a:cs typeface="Calibri" pitchFamily="34" charset="-120"/>
              </a:rPr>
              <a:t>Codification CITP nationale, petit modèle hébergé en interne</a:t>
            </a:r>
            <a:endParaRPr lang="en-US" sz="950" dirty="0"/>
          </a:p>
        </p:txBody>
      </p:sp>
      <p:sp>
        <p:nvSpPr>
          <p:cNvPr id="71" name="Text 65"/>
          <p:cNvSpPr txBox="1"/>
          <p:nvPr/>
        </p:nvSpPr>
        <p:spPr>
          <a:xfrm>
            <a:off x="457200" y="463600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Durées et volumes de données : ordres de grandeur indicatifs.</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PROMPT, RAG OU AFFINAGE ?</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 parcours de décision guidé par vos résultats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B83B2E"/>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71600"/>
            <a:ext cx="2377440" cy="640080"/>
          </a:xfrm>
          <a:prstGeom prst="roundRect">
            <a:avLst>
              <a:gd name="adj" fmla="val 11429"/>
            </a:avLst>
          </a:prstGeom>
          <a:solidFill>
            <a:srgbClr val="FFFFFF"/>
          </a:solidFill>
          <a:ln w="15875">
            <a:solidFill>
              <a:srgbClr val="00704A"/>
            </a:solidFill>
            <a:prstDash val="solid"/>
          </a:ln>
        </p:spPr>
      </p:sp>
      <p:sp>
        <p:nvSpPr>
          <p:cNvPr id="18" name="Text 15"/>
          <p:cNvSpPr txBox="1"/>
          <p:nvPr/>
        </p:nvSpPr>
        <p:spPr>
          <a:xfrm>
            <a:off x="530352" y="1371600"/>
            <a:ext cx="2231136" cy="64008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Le prompt optimisé atteint-il la cible sur le jeu d’évaluation ?</a:t>
            </a:r>
            <a:endParaRPr lang="en-US" sz="1050" dirty="0"/>
          </a:p>
        </p:txBody>
      </p:sp>
      <p:sp>
        <p:nvSpPr>
          <p:cNvPr id="19" name="Shape 16"/>
          <p:cNvSpPr/>
          <p:nvPr/>
        </p:nvSpPr>
        <p:spPr>
          <a:xfrm>
            <a:off x="457200" y="2377440"/>
            <a:ext cx="2377440" cy="640080"/>
          </a:xfrm>
          <a:prstGeom prst="roundRect">
            <a:avLst>
              <a:gd name="adj" fmla="val 11429"/>
            </a:avLst>
          </a:prstGeom>
          <a:solidFill>
            <a:srgbClr val="FFFFFF"/>
          </a:solidFill>
          <a:ln w="15875">
            <a:solidFill>
              <a:srgbClr val="00704A"/>
            </a:solidFill>
            <a:prstDash val="solid"/>
          </a:ln>
        </p:spPr>
      </p:sp>
      <p:sp>
        <p:nvSpPr>
          <p:cNvPr id="20" name="Text 17"/>
          <p:cNvSpPr txBox="1"/>
          <p:nvPr/>
        </p:nvSpPr>
        <p:spPr>
          <a:xfrm>
            <a:off x="530352" y="2377440"/>
            <a:ext cx="2231136" cy="64008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Échecs dus à des faits manquants ou changeants ?</a:t>
            </a:r>
            <a:endParaRPr lang="en-US" sz="1050" dirty="0"/>
          </a:p>
        </p:txBody>
      </p:sp>
      <p:sp>
        <p:nvSpPr>
          <p:cNvPr id="21" name="Shape 18"/>
          <p:cNvSpPr/>
          <p:nvPr/>
        </p:nvSpPr>
        <p:spPr>
          <a:xfrm>
            <a:off x="457200" y="3383280"/>
            <a:ext cx="2377440" cy="640080"/>
          </a:xfrm>
          <a:prstGeom prst="roundRect">
            <a:avLst>
              <a:gd name="adj" fmla="val 11429"/>
            </a:avLst>
          </a:prstGeom>
          <a:solidFill>
            <a:srgbClr val="FFFFFF"/>
          </a:solidFill>
          <a:ln w="15875">
            <a:solidFill>
              <a:srgbClr val="00704A"/>
            </a:solidFill>
            <a:prstDash val="solid"/>
          </a:ln>
        </p:spPr>
      </p:sp>
      <p:sp>
        <p:nvSpPr>
          <p:cNvPr id="22" name="Text 19"/>
          <p:cNvSpPr txBox="1"/>
          <p:nvPr/>
        </p:nvSpPr>
        <p:spPr>
          <a:xfrm>
            <a:off x="530352" y="3383280"/>
            <a:ext cx="2231136" cy="64008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Constance à grande échelle requise, avec des centaines d’exemples annotés ?</a:t>
            </a:r>
            <a:endParaRPr lang="en-US" sz="1050" dirty="0"/>
          </a:p>
        </p:txBody>
      </p:sp>
      <p:sp>
        <p:nvSpPr>
          <p:cNvPr id="23" name="Shape 20"/>
          <p:cNvSpPr/>
          <p:nvPr/>
        </p:nvSpPr>
        <p:spPr>
          <a:xfrm>
            <a:off x="1645920" y="2011680"/>
            <a:ext cx="0" cy="365760"/>
          </a:xfrm>
          <a:prstGeom prst="line">
            <a:avLst/>
          </a:prstGeom>
          <a:noFill/>
          <a:ln w="15875">
            <a:solidFill>
              <a:srgbClr val="5E6964"/>
            </a:solidFill>
            <a:prstDash val="solid"/>
            <a:tailEnd type="triangle"/>
          </a:ln>
        </p:spPr>
      </p:sp>
      <p:sp>
        <p:nvSpPr>
          <p:cNvPr id="24" name="Text 21"/>
          <p:cNvSpPr txBox="1"/>
          <p:nvPr/>
        </p:nvSpPr>
        <p:spPr>
          <a:xfrm>
            <a:off x="1719072" y="2103120"/>
            <a:ext cx="457200" cy="182880"/>
          </a:xfrm>
          <a:prstGeom prst="rect">
            <a:avLst/>
          </a:prstGeom>
          <a:noFill/>
          <a:ln/>
        </p:spPr>
        <p:txBody>
          <a:bodyPr wrap="square" lIns="0" tIns="0" rIns="0" bIns="0" rtlCol="0" anchor="t"/>
          <a:lstStyle/>
          <a:p>
            <a:pPr marL="0" indent="0">
              <a:buNone/>
            </a:pPr>
            <a:r>
              <a:rPr lang="en-US" sz="900" b="1" dirty="0">
                <a:solidFill>
                  <a:srgbClr val="B83B2E"/>
                </a:solidFill>
                <a:latin typeface="Calibri" pitchFamily="34" charset="0"/>
                <a:ea typeface="Calibri" pitchFamily="34" charset="-122"/>
                <a:cs typeface="Calibri" pitchFamily="34" charset="-120"/>
              </a:rPr>
              <a:t>NON</a:t>
            </a:r>
            <a:endParaRPr lang="en-US" sz="900" dirty="0"/>
          </a:p>
        </p:txBody>
      </p:sp>
      <p:sp>
        <p:nvSpPr>
          <p:cNvPr id="25" name="Shape 22"/>
          <p:cNvSpPr/>
          <p:nvPr/>
        </p:nvSpPr>
        <p:spPr>
          <a:xfrm>
            <a:off x="1645920" y="3017520"/>
            <a:ext cx="0" cy="365760"/>
          </a:xfrm>
          <a:prstGeom prst="line">
            <a:avLst/>
          </a:prstGeom>
          <a:noFill/>
          <a:ln w="15875">
            <a:solidFill>
              <a:srgbClr val="5E6964"/>
            </a:solidFill>
            <a:prstDash val="solid"/>
            <a:tailEnd type="triangle"/>
          </a:ln>
        </p:spPr>
      </p:sp>
      <p:sp>
        <p:nvSpPr>
          <p:cNvPr id="26" name="Text 23"/>
          <p:cNvSpPr txBox="1"/>
          <p:nvPr/>
        </p:nvSpPr>
        <p:spPr>
          <a:xfrm>
            <a:off x="1719072" y="3108960"/>
            <a:ext cx="457200" cy="182880"/>
          </a:xfrm>
          <a:prstGeom prst="rect">
            <a:avLst/>
          </a:prstGeom>
          <a:noFill/>
          <a:ln/>
        </p:spPr>
        <p:txBody>
          <a:bodyPr wrap="square" lIns="0" tIns="0" rIns="0" bIns="0" rtlCol="0" anchor="t"/>
          <a:lstStyle/>
          <a:p>
            <a:pPr marL="0" indent="0">
              <a:buNone/>
            </a:pPr>
            <a:r>
              <a:rPr lang="en-US" sz="900" b="1" dirty="0">
                <a:solidFill>
                  <a:srgbClr val="B83B2E"/>
                </a:solidFill>
                <a:latin typeface="Calibri" pitchFamily="34" charset="0"/>
                <a:ea typeface="Calibri" pitchFamily="34" charset="-122"/>
                <a:cs typeface="Calibri" pitchFamily="34" charset="-120"/>
              </a:rPr>
              <a:t>NON</a:t>
            </a:r>
            <a:endParaRPr lang="en-US" sz="900" dirty="0"/>
          </a:p>
        </p:txBody>
      </p:sp>
      <p:sp>
        <p:nvSpPr>
          <p:cNvPr id="27" name="Shape 24"/>
          <p:cNvSpPr/>
          <p:nvPr/>
        </p:nvSpPr>
        <p:spPr>
          <a:xfrm>
            <a:off x="3566160" y="1371600"/>
            <a:ext cx="2103120" cy="640080"/>
          </a:xfrm>
          <a:prstGeom prst="roundRect">
            <a:avLst>
              <a:gd name="adj" fmla="val 11429"/>
            </a:avLst>
          </a:prstGeom>
          <a:solidFill>
            <a:srgbClr val="00A86A"/>
          </a:solidFill>
          <a:ln w="15875">
            <a:solidFill>
              <a:srgbClr val="00A86A"/>
            </a:solidFill>
            <a:prstDash val="solid"/>
          </a:ln>
        </p:spPr>
      </p:sp>
      <p:sp>
        <p:nvSpPr>
          <p:cNvPr id="28" name="Text 25"/>
          <p:cNvSpPr txBox="1"/>
          <p:nvPr/>
        </p:nvSpPr>
        <p:spPr>
          <a:xfrm>
            <a:off x="3639312" y="1371600"/>
            <a:ext cx="1956816"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Déployer, surveiller, re-tester à chaque mise à jour</a:t>
            </a:r>
            <a:endParaRPr lang="en-US" sz="1050" dirty="0"/>
          </a:p>
        </p:txBody>
      </p:sp>
      <p:sp>
        <p:nvSpPr>
          <p:cNvPr id="29" name="Shape 26"/>
          <p:cNvSpPr/>
          <p:nvPr/>
        </p:nvSpPr>
        <p:spPr>
          <a:xfrm>
            <a:off x="3566160" y="2377440"/>
            <a:ext cx="2103120" cy="640080"/>
          </a:xfrm>
          <a:prstGeom prst="roundRect">
            <a:avLst>
              <a:gd name="adj" fmla="val 11429"/>
            </a:avLst>
          </a:prstGeom>
          <a:solidFill>
            <a:srgbClr val="0E7C86"/>
          </a:solidFill>
          <a:ln w="15875">
            <a:solidFill>
              <a:srgbClr val="0E7C86"/>
            </a:solidFill>
            <a:prstDash val="solid"/>
          </a:ln>
        </p:spPr>
      </p:sp>
      <p:sp>
        <p:nvSpPr>
          <p:cNvPr id="30" name="Text 27"/>
          <p:cNvSpPr txBox="1"/>
          <p:nvPr/>
        </p:nvSpPr>
        <p:spPr>
          <a:xfrm>
            <a:off x="3639312" y="2377440"/>
            <a:ext cx="1956816"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Ajouter le RAG, citer les sources</a:t>
            </a:r>
            <a:endParaRPr lang="en-US" sz="1050" dirty="0"/>
          </a:p>
        </p:txBody>
      </p:sp>
      <p:sp>
        <p:nvSpPr>
          <p:cNvPr id="31" name="Shape 28"/>
          <p:cNvSpPr/>
          <p:nvPr/>
        </p:nvSpPr>
        <p:spPr>
          <a:xfrm>
            <a:off x="3566160" y="3383280"/>
            <a:ext cx="2103120" cy="640080"/>
          </a:xfrm>
          <a:prstGeom prst="roundRect">
            <a:avLst>
              <a:gd name="adj" fmla="val 11429"/>
            </a:avLst>
          </a:prstGeom>
          <a:solidFill>
            <a:srgbClr val="B83B2E"/>
          </a:solidFill>
          <a:ln w="15875">
            <a:solidFill>
              <a:srgbClr val="B83B2E"/>
            </a:solidFill>
            <a:prstDash val="solid"/>
          </a:ln>
        </p:spPr>
      </p:sp>
      <p:sp>
        <p:nvSpPr>
          <p:cNvPr id="32" name="Text 29"/>
          <p:cNvSpPr txBox="1"/>
          <p:nvPr/>
        </p:nvSpPr>
        <p:spPr>
          <a:xfrm>
            <a:off x="3639312" y="3383280"/>
            <a:ext cx="1956816"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Envisager l’affinage : modèle ouvert hébergé en interne si confidentiel</a:t>
            </a:r>
            <a:endParaRPr lang="en-US" sz="1050" dirty="0"/>
          </a:p>
        </p:txBody>
      </p:sp>
      <p:sp>
        <p:nvSpPr>
          <p:cNvPr id="33" name="Shape 30"/>
          <p:cNvSpPr/>
          <p:nvPr/>
        </p:nvSpPr>
        <p:spPr>
          <a:xfrm>
            <a:off x="2834640" y="1691640"/>
            <a:ext cx="731520" cy="0"/>
          </a:xfrm>
          <a:prstGeom prst="line">
            <a:avLst/>
          </a:prstGeom>
          <a:noFill/>
          <a:ln w="15875">
            <a:solidFill>
              <a:srgbClr val="5E6964"/>
            </a:solidFill>
            <a:prstDash val="solid"/>
            <a:tailEnd type="triangle"/>
          </a:ln>
        </p:spPr>
      </p:sp>
      <p:sp>
        <p:nvSpPr>
          <p:cNvPr id="34" name="Text 31"/>
          <p:cNvSpPr txBox="1"/>
          <p:nvPr/>
        </p:nvSpPr>
        <p:spPr>
          <a:xfrm>
            <a:off x="3017520" y="1463040"/>
            <a:ext cx="457200" cy="182880"/>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OUI</a:t>
            </a:r>
            <a:endParaRPr lang="en-US" sz="900" dirty="0"/>
          </a:p>
        </p:txBody>
      </p:sp>
      <p:sp>
        <p:nvSpPr>
          <p:cNvPr id="35" name="Shape 32"/>
          <p:cNvSpPr/>
          <p:nvPr/>
        </p:nvSpPr>
        <p:spPr>
          <a:xfrm>
            <a:off x="2834640" y="2697480"/>
            <a:ext cx="731520" cy="0"/>
          </a:xfrm>
          <a:prstGeom prst="line">
            <a:avLst/>
          </a:prstGeom>
          <a:noFill/>
          <a:ln w="15875">
            <a:solidFill>
              <a:srgbClr val="5E6964"/>
            </a:solidFill>
            <a:prstDash val="solid"/>
            <a:tailEnd type="triangle"/>
          </a:ln>
        </p:spPr>
      </p:sp>
      <p:sp>
        <p:nvSpPr>
          <p:cNvPr id="36" name="Text 33"/>
          <p:cNvSpPr txBox="1"/>
          <p:nvPr/>
        </p:nvSpPr>
        <p:spPr>
          <a:xfrm>
            <a:off x="3017520" y="2468880"/>
            <a:ext cx="457200" cy="182880"/>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OUI</a:t>
            </a:r>
            <a:endParaRPr lang="en-US" sz="900" dirty="0"/>
          </a:p>
        </p:txBody>
      </p:sp>
      <p:sp>
        <p:nvSpPr>
          <p:cNvPr id="37" name="Shape 34"/>
          <p:cNvSpPr/>
          <p:nvPr/>
        </p:nvSpPr>
        <p:spPr>
          <a:xfrm>
            <a:off x="2834640" y="3703320"/>
            <a:ext cx="731520" cy="0"/>
          </a:xfrm>
          <a:prstGeom prst="line">
            <a:avLst/>
          </a:prstGeom>
          <a:noFill/>
          <a:ln w="15875">
            <a:solidFill>
              <a:srgbClr val="5E6964"/>
            </a:solidFill>
            <a:prstDash val="solid"/>
            <a:tailEnd type="triangle"/>
          </a:ln>
        </p:spPr>
      </p:sp>
      <p:sp>
        <p:nvSpPr>
          <p:cNvPr id="38" name="Text 35"/>
          <p:cNvSpPr txBox="1"/>
          <p:nvPr/>
        </p:nvSpPr>
        <p:spPr>
          <a:xfrm>
            <a:off x="3017520" y="3474720"/>
            <a:ext cx="457200" cy="182880"/>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OUI</a:t>
            </a:r>
            <a:endParaRPr lang="en-US" sz="900" dirty="0"/>
          </a:p>
        </p:txBody>
      </p:sp>
      <p:sp>
        <p:nvSpPr>
          <p:cNvPr id="39" name="Shape 36"/>
          <p:cNvSpPr/>
          <p:nvPr/>
        </p:nvSpPr>
        <p:spPr>
          <a:xfrm>
            <a:off x="1645920" y="4023360"/>
            <a:ext cx="0" cy="274320"/>
          </a:xfrm>
          <a:prstGeom prst="line">
            <a:avLst/>
          </a:prstGeom>
          <a:noFill/>
          <a:ln w="15875">
            <a:solidFill>
              <a:srgbClr val="5E6964"/>
            </a:solidFill>
            <a:prstDash val="solid"/>
            <a:tailEnd type="triangle"/>
          </a:ln>
        </p:spPr>
      </p:sp>
      <p:sp>
        <p:nvSpPr>
          <p:cNvPr id="40" name="Text 37"/>
          <p:cNvSpPr txBox="1"/>
          <p:nvPr/>
        </p:nvSpPr>
        <p:spPr>
          <a:xfrm>
            <a:off x="1719072" y="4050792"/>
            <a:ext cx="457200" cy="182880"/>
          </a:xfrm>
          <a:prstGeom prst="rect">
            <a:avLst/>
          </a:prstGeom>
          <a:noFill/>
          <a:ln/>
        </p:spPr>
        <p:txBody>
          <a:bodyPr wrap="square" lIns="0" tIns="0" rIns="0" bIns="0" rtlCol="0" anchor="t"/>
          <a:lstStyle/>
          <a:p>
            <a:pPr marL="0" indent="0">
              <a:buNone/>
            </a:pPr>
            <a:r>
              <a:rPr lang="en-US" sz="900" b="1" dirty="0">
                <a:solidFill>
                  <a:srgbClr val="B83B2E"/>
                </a:solidFill>
                <a:latin typeface="Calibri" pitchFamily="34" charset="0"/>
                <a:ea typeface="Calibri" pitchFamily="34" charset="-122"/>
                <a:cs typeface="Calibri" pitchFamily="34" charset="-120"/>
              </a:rPr>
              <a:t>NON</a:t>
            </a:r>
            <a:endParaRPr lang="en-US" sz="900" dirty="0"/>
          </a:p>
        </p:txBody>
      </p:sp>
      <p:sp>
        <p:nvSpPr>
          <p:cNvPr id="41" name="Shape 38"/>
          <p:cNvSpPr/>
          <p:nvPr/>
        </p:nvSpPr>
        <p:spPr>
          <a:xfrm>
            <a:off x="457200" y="4297680"/>
            <a:ext cx="5212080" cy="329184"/>
          </a:xfrm>
          <a:prstGeom prst="roundRect">
            <a:avLst>
              <a:gd name="adj" fmla="val 22222"/>
            </a:avLst>
          </a:prstGeom>
          <a:solidFill>
            <a:srgbClr val="E8F5EF"/>
          </a:solidFill>
          <a:ln w="15875">
            <a:solidFill>
              <a:srgbClr val="D5DED9"/>
            </a:solidFill>
            <a:prstDash val="solid"/>
          </a:ln>
        </p:spPr>
      </p:sp>
      <p:sp>
        <p:nvSpPr>
          <p:cNvPr id="42" name="Text 39"/>
          <p:cNvSpPr txBox="1"/>
          <p:nvPr/>
        </p:nvSpPr>
        <p:spPr>
          <a:xfrm>
            <a:off x="530352" y="4297680"/>
            <a:ext cx="5065776" cy="329184"/>
          </a:xfrm>
          <a:prstGeom prst="rect">
            <a:avLst/>
          </a:prstGeom>
          <a:noFill/>
          <a:ln/>
        </p:spPr>
        <p:txBody>
          <a:bodyPr wrap="square" lIns="0" tIns="0" rIns="0" bIns="0" rtlCol="0" anchor="ctr"/>
          <a:lstStyle/>
          <a:p>
            <a:pPr marL="0" indent="0" algn="ctr">
              <a:buNone/>
            </a:pPr>
            <a:r>
              <a:rPr lang="en-US" sz="1050" b="1" dirty="0">
                <a:solidFill>
                  <a:srgbClr val="00704A"/>
                </a:solidFill>
                <a:latin typeface="Calibri" pitchFamily="34" charset="0"/>
                <a:ea typeface="Calibri" pitchFamily="34" charset="-122"/>
                <a:cs typeface="Calibri" pitchFamily="34" charset="-120"/>
              </a:rPr>
              <a:t>Sinon : décomposer en chaîne de prompts, ou collecter plus de données annotées</a:t>
            </a:r>
            <a:endParaRPr lang="en-US" sz="1050" dirty="0"/>
          </a:p>
        </p:txBody>
      </p:sp>
      <p:sp>
        <p:nvSpPr>
          <p:cNvPr id="43" name="Shape 40"/>
          <p:cNvSpPr/>
          <p:nvPr/>
        </p:nvSpPr>
        <p:spPr>
          <a:xfrm>
            <a:off x="5989320" y="1371600"/>
            <a:ext cx="2697480" cy="3255264"/>
          </a:xfrm>
          <a:prstGeom prst="roundRect">
            <a:avLst>
              <a:gd name="adj" fmla="val 2712"/>
            </a:avLst>
          </a:prstGeom>
          <a:solidFill>
            <a:srgbClr val="E8F5EF"/>
          </a:solidFill>
          <a:ln w="15875">
            <a:solidFill>
              <a:srgbClr val="B83B2E"/>
            </a:solidFill>
            <a:prstDash val="solid"/>
          </a:ln>
        </p:spPr>
      </p:sp>
      <p:sp>
        <p:nvSpPr>
          <p:cNvPr id="44" name="Shape 41"/>
          <p:cNvSpPr/>
          <p:nvPr/>
        </p:nvSpPr>
        <p:spPr>
          <a:xfrm>
            <a:off x="6144768" y="1508760"/>
            <a:ext cx="457200" cy="457200"/>
          </a:xfrm>
          <a:prstGeom prst="ellipse">
            <a:avLst/>
          </a:prstGeom>
          <a:solidFill>
            <a:srgbClr val="B83B2E">
              <a:alpha val="22000"/>
            </a:srgbClr>
          </a:solidFill>
          <a:ln/>
        </p:spPr>
      </p:sp>
      <p:pic>
        <p:nvPicPr>
          <p:cNvPr id="45" name="Image 0" descr="preencoded.png"/>
          <p:cNvPicPr>
            <a:picLocks noChangeAspect="1"/>
          </p:cNvPicPr>
          <p:nvPr/>
        </p:nvPicPr>
        <p:blipFill>
          <a:blip r:embed="rId3"/>
          <a:stretch>
            <a:fillRect/>
          </a:stretch>
        </p:blipFill>
        <p:spPr>
          <a:xfrm>
            <a:off x="6254496" y="1618488"/>
            <a:ext cx="237744" cy="237744"/>
          </a:xfrm>
          <a:prstGeom prst="rect">
            <a:avLst/>
          </a:prstGeom>
        </p:spPr>
      </p:pic>
      <p:sp>
        <p:nvSpPr>
          <p:cNvPr id="46" name="Text 42"/>
          <p:cNvSpPr txBox="1"/>
          <p:nvPr/>
        </p:nvSpPr>
        <p:spPr>
          <a:xfrm>
            <a:off x="6693408" y="1508760"/>
            <a:ext cx="192024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Contrôle de souveraineté</a:t>
            </a:r>
            <a:endParaRPr lang="en-US" sz="1350" dirty="0"/>
          </a:p>
        </p:txBody>
      </p:sp>
      <p:sp>
        <p:nvSpPr>
          <p:cNvPr id="47" name="Text 43"/>
          <p:cNvSpPr txBox="1"/>
          <p:nvPr/>
        </p:nvSpPr>
        <p:spPr>
          <a:xfrm>
            <a:off x="6144768" y="2103120"/>
            <a:ext cx="2423160" cy="2377440"/>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Ces données peuvent-elles sortir de l’institut ?</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Sinon, seuls des fournisseurs sous votre contrôle juridique, ou des modèles ouverts auto-hébergés, sont éligibles.</a:t>
            </a:r>
            <a:endParaRPr lang="en-US" sz="1050" dirty="0"/>
          </a:p>
          <a:p>
            <a:pPr marL="0" indent="0">
              <a:buNone/>
            </a:pPr>
            <a:r>
              <a:rPr lang="en-US" sz="600" dirty="0">
                <a:solidFill>
                  <a:srgbClr val="231F20"/>
                </a:solidFill>
                <a:latin typeface="Calibri" pitchFamily="34" charset="0"/>
                <a:ea typeface="Calibri" pitchFamily="34" charset="-122"/>
                <a:cs typeface="Calibri" pitchFamily="34" charset="-120"/>
              </a:rPr>
              <a:t> </a:t>
            </a:r>
            <a:endParaRPr lang="en-US" sz="1050" dirty="0"/>
          </a:p>
          <a:p>
            <a:pPr marL="0" indent="0">
              <a:buNone/>
            </a:pPr>
            <a:r>
              <a:rPr lang="en-US" sz="1050" b="1" dirty="0">
                <a:solidFill>
                  <a:srgbClr val="231F20"/>
                </a:solidFill>
                <a:latin typeface="Calibri" pitchFamily="34" charset="0"/>
                <a:ea typeface="Calibri" pitchFamily="34" charset="-122"/>
                <a:cs typeface="Calibri" pitchFamily="34" charset="-120"/>
              </a:rPr>
              <a:t>Quelle que soit la voie :</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relancer le même jeu d’évaluation et consigner le résultat.</a:t>
            </a:r>
            <a:endParaRPr lang="en-US" sz="10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ATELIER PRATIQUE · 17 MINUTES · EN BINÔMES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Optimiser le prompt de codification sur un jeu figé</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731520" y="1627632"/>
            <a:ext cx="7680960" cy="0"/>
          </a:xfrm>
          <a:prstGeom prst="line">
            <a:avLst/>
          </a:prstGeom>
          <a:noFill/>
          <a:ln w="25400">
            <a:solidFill>
              <a:srgbClr val="D5DED9"/>
            </a:solidFill>
            <a:prstDash val="solid"/>
          </a:ln>
        </p:spPr>
      </p:sp>
      <p:sp>
        <p:nvSpPr>
          <p:cNvPr id="18" name="Shape 15"/>
          <p:cNvSpPr/>
          <p:nvPr/>
        </p:nvSpPr>
        <p:spPr>
          <a:xfrm>
            <a:off x="960120" y="1353312"/>
            <a:ext cx="548640" cy="548640"/>
          </a:xfrm>
          <a:prstGeom prst="ellipse">
            <a:avLst/>
          </a:prstGeom>
          <a:solidFill>
            <a:srgbClr val="00704A"/>
          </a:solidFill>
          <a:ln w="25400">
            <a:solidFill>
              <a:srgbClr val="FFFFFF"/>
            </a:solidFill>
            <a:prstDash val="solid"/>
          </a:ln>
        </p:spPr>
      </p:sp>
      <p:sp>
        <p:nvSpPr>
          <p:cNvPr id="19" name="Text 16"/>
          <p:cNvSpPr txBox="1"/>
          <p:nvPr/>
        </p:nvSpPr>
        <p:spPr>
          <a:xfrm>
            <a:off x="96012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Shape 17"/>
          <p:cNvSpPr/>
          <p:nvPr/>
        </p:nvSpPr>
        <p:spPr>
          <a:xfrm>
            <a:off x="457200" y="2029968"/>
            <a:ext cx="1554480" cy="1417320"/>
          </a:xfrm>
          <a:prstGeom prst="roundRect">
            <a:avLst>
              <a:gd name="adj" fmla="val 5161"/>
            </a:avLst>
          </a:prstGeom>
          <a:solidFill>
            <a:srgbClr val="F4F7F5"/>
          </a:solidFill>
          <a:ln w="9525">
            <a:solidFill>
              <a:srgbClr val="D5DED9"/>
            </a:solidFill>
            <a:prstDash val="solid"/>
          </a:ln>
        </p:spPr>
      </p:sp>
      <p:sp>
        <p:nvSpPr>
          <p:cNvPr id="21" name="Text 18"/>
          <p:cNvSpPr txBox="1"/>
          <p:nvPr/>
        </p:nvSpPr>
        <p:spPr>
          <a:xfrm>
            <a:off x="56692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0–3 min</a:t>
            </a:r>
            <a:endParaRPr lang="en-US" sz="950" dirty="0"/>
          </a:p>
        </p:txBody>
      </p:sp>
      <p:sp>
        <p:nvSpPr>
          <p:cNvPr id="22" name="Text 19"/>
          <p:cNvSpPr txBox="1"/>
          <p:nvPr/>
        </p:nvSpPr>
        <p:spPr>
          <a:xfrm>
            <a:off x="56692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Installation</a:t>
            </a:r>
            <a:endParaRPr lang="en-US" sz="1400" dirty="0"/>
          </a:p>
        </p:txBody>
      </p:sp>
      <p:sp>
        <p:nvSpPr>
          <p:cNvPr id="23" name="Text 20"/>
          <p:cNvSpPr txBox="1"/>
          <p:nvPr/>
        </p:nvSpPr>
        <p:spPr>
          <a:xfrm>
            <a:off x="56692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Ouvrir le matériel, charger le prompt v0 et le jeu figé de 30 cas.</a:t>
            </a:r>
            <a:endParaRPr lang="en-US" sz="1000" dirty="0"/>
          </a:p>
        </p:txBody>
      </p:sp>
      <p:sp>
        <p:nvSpPr>
          <p:cNvPr id="24" name="Shape 21"/>
          <p:cNvSpPr/>
          <p:nvPr/>
        </p:nvSpPr>
        <p:spPr>
          <a:xfrm>
            <a:off x="2628900" y="1353312"/>
            <a:ext cx="548640" cy="548640"/>
          </a:xfrm>
          <a:prstGeom prst="ellipse">
            <a:avLst/>
          </a:prstGeom>
          <a:solidFill>
            <a:srgbClr val="00704A"/>
          </a:solidFill>
          <a:ln w="25400">
            <a:solidFill>
              <a:srgbClr val="FFFFFF"/>
            </a:solidFill>
            <a:prstDash val="solid"/>
          </a:ln>
        </p:spPr>
      </p:sp>
      <p:sp>
        <p:nvSpPr>
          <p:cNvPr id="25" name="Text 22"/>
          <p:cNvSpPr txBox="1"/>
          <p:nvPr/>
        </p:nvSpPr>
        <p:spPr>
          <a:xfrm>
            <a:off x="262890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Shape 23"/>
          <p:cNvSpPr/>
          <p:nvPr/>
        </p:nvSpPr>
        <p:spPr>
          <a:xfrm>
            <a:off x="2125980" y="2029968"/>
            <a:ext cx="1554480" cy="1417320"/>
          </a:xfrm>
          <a:prstGeom prst="roundRect">
            <a:avLst>
              <a:gd name="adj" fmla="val 5161"/>
            </a:avLst>
          </a:prstGeom>
          <a:solidFill>
            <a:srgbClr val="F4F7F5"/>
          </a:solidFill>
          <a:ln w="9525">
            <a:solidFill>
              <a:srgbClr val="D5DED9"/>
            </a:solidFill>
            <a:prstDash val="solid"/>
          </a:ln>
        </p:spPr>
      </p:sp>
      <p:sp>
        <p:nvSpPr>
          <p:cNvPr id="27" name="Text 24"/>
          <p:cNvSpPr txBox="1"/>
          <p:nvPr/>
        </p:nvSpPr>
        <p:spPr>
          <a:xfrm>
            <a:off x="223570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3–6 min</a:t>
            </a:r>
            <a:endParaRPr lang="en-US" sz="950" dirty="0"/>
          </a:p>
        </p:txBody>
      </p:sp>
      <p:sp>
        <p:nvSpPr>
          <p:cNvPr id="28" name="Text 25"/>
          <p:cNvSpPr txBox="1"/>
          <p:nvPr/>
        </p:nvSpPr>
        <p:spPr>
          <a:xfrm>
            <a:off x="223570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Référence</a:t>
            </a:r>
            <a:endParaRPr lang="en-US" sz="1400" dirty="0"/>
          </a:p>
        </p:txBody>
      </p:sp>
      <p:sp>
        <p:nvSpPr>
          <p:cNvPr id="29" name="Text 26"/>
          <p:cNvSpPr txBox="1"/>
          <p:nvPr/>
        </p:nvSpPr>
        <p:spPr>
          <a:xfrm>
            <a:off x="223570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Exécuter v0. Noter exactitude, validité JSON et jetons.</a:t>
            </a:r>
            <a:endParaRPr lang="en-US" sz="1000" dirty="0"/>
          </a:p>
        </p:txBody>
      </p:sp>
      <p:sp>
        <p:nvSpPr>
          <p:cNvPr id="30" name="Shape 27"/>
          <p:cNvSpPr/>
          <p:nvPr/>
        </p:nvSpPr>
        <p:spPr>
          <a:xfrm>
            <a:off x="4297680" y="1353312"/>
            <a:ext cx="548640" cy="548640"/>
          </a:xfrm>
          <a:prstGeom prst="ellipse">
            <a:avLst/>
          </a:prstGeom>
          <a:solidFill>
            <a:srgbClr val="00704A"/>
          </a:solidFill>
          <a:ln w="25400">
            <a:solidFill>
              <a:srgbClr val="FFFFFF"/>
            </a:solidFill>
            <a:prstDash val="solid"/>
          </a:ln>
        </p:spPr>
      </p:sp>
      <p:sp>
        <p:nvSpPr>
          <p:cNvPr id="31" name="Text 28"/>
          <p:cNvSpPr txBox="1"/>
          <p:nvPr/>
        </p:nvSpPr>
        <p:spPr>
          <a:xfrm>
            <a:off x="429768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2" name="Shape 29"/>
          <p:cNvSpPr/>
          <p:nvPr/>
        </p:nvSpPr>
        <p:spPr>
          <a:xfrm>
            <a:off x="3794760" y="2029968"/>
            <a:ext cx="1554480" cy="1417320"/>
          </a:xfrm>
          <a:prstGeom prst="roundRect">
            <a:avLst>
              <a:gd name="adj" fmla="val 5161"/>
            </a:avLst>
          </a:prstGeom>
          <a:solidFill>
            <a:srgbClr val="F4F7F5"/>
          </a:solidFill>
          <a:ln w="9525">
            <a:solidFill>
              <a:srgbClr val="D5DED9"/>
            </a:solidFill>
            <a:prstDash val="solid"/>
          </a:ln>
        </p:spPr>
      </p:sp>
      <p:sp>
        <p:nvSpPr>
          <p:cNvPr id="33" name="Text 30"/>
          <p:cNvSpPr txBox="1"/>
          <p:nvPr/>
        </p:nvSpPr>
        <p:spPr>
          <a:xfrm>
            <a:off x="390448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6–9 min</a:t>
            </a:r>
            <a:endParaRPr lang="en-US" sz="950" dirty="0"/>
          </a:p>
        </p:txBody>
      </p:sp>
      <p:sp>
        <p:nvSpPr>
          <p:cNvPr id="34" name="Text 31"/>
          <p:cNvSpPr txBox="1"/>
          <p:nvPr/>
        </p:nvSpPr>
        <p:spPr>
          <a:xfrm>
            <a:off x="390448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Diagnostic</a:t>
            </a:r>
            <a:endParaRPr lang="en-US" sz="1400" dirty="0"/>
          </a:p>
        </p:txBody>
      </p:sp>
      <p:sp>
        <p:nvSpPr>
          <p:cNvPr id="35" name="Text 32"/>
          <p:cNvSpPr txBox="1"/>
          <p:nvPr/>
        </p:nvSpPr>
        <p:spPr>
          <a:xfrm>
            <a:off x="390448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Lire chaque échec. Nommer la cause des trois principaux.</a:t>
            </a:r>
            <a:endParaRPr lang="en-US" sz="1000" dirty="0"/>
          </a:p>
        </p:txBody>
      </p:sp>
      <p:sp>
        <p:nvSpPr>
          <p:cNvPr id="36" name="Shape 33"/>
          <p:cNvSpPr/>
          <p:nvPr/>
        </p:nvSpPr>
        <p:spPr>
          <a:xfrm>
            <a:off x="5966460" y="1353312"/>
            <a:ext cx="548640" cy="548640"/>
          </a:xfrm>
          <a:prstGeom prst="ellipse">
            <a:avLst/>
          </a:prstGeom>
          <a:solidFill>
            <a:srgbClr val="F5C242"/>
          </a:solidFill>
          <a:ln w="25400">
            <a:solidFill>
              <a:srgbClr val="FFFFFF"/>
            </a:solidFill>
            <a:prstDash val="solid"/>
          </a:ln>
        </p:spPr>
      </p:sp>
      <p:sp>
        <p:nvSpPr>
          <p:cNvPr id="37" name="Text 34"/>
          <p:cNvSpPr txBox="1"/>
          <p:nvPr/>
        </p:nvSpPr>
        <p:spPr>
          <a:xfrm>
            <a:off x="5966460" y="1353312"/>
            <a:ext cx="548640" cy="548640"/>
          </a:xfrm>
          <a:prstGeom prst="rect">
            <a:avLst/>
          </a:prstGeom>
          <a:noFill/>
          <a:ln/>
        </p:spPr>
        <p:txBody>
          <a:bodyPr wrap="square" lIns="0" tIns="0" rIns="0" bIns="0" rtlCol="0" anchor="ctr"/>
          <a:lstStyle/>
          <a:p>
            <a:pPr marL="0" indent="0" algn="ctr">
              <a:buNone/>
            </a:pPr>
            <a:r>
              <a:rPr lang="en-US" sz="1800" b="1" dirty="0">
                <a:solidFill>
                  <a:srgbClr val="00553A"/>
                </a:solidFill>
                <a:latin typeface="Calibri" pitchFamily="34" charset="0"/>
                <a:ea typeface="Calibri" pitchFamily="34" charset="-122"/>
                <a:cs typeface="Calibri" pitchFamily="34" charset="-120"/>
              </a:rPr>
              <a:t>4</a:t>
            </a:r>
            <a:endParaRPr lang="en-US" sz="1800" dirty="0"/>
          </a:p>
        </p:txBody>
      </p:sp>
      <p:sp>
        <p:nvSpPr>
          <p:cNvPr id="38" name="Shape 35"/>
          <p:cNvSpPr/>
          <p:nvPr/>
        </p:nvSpPr>
        <p:spPr>
          <a:xfrm>
            <a:off x="5463540" y="2029968"/>
            <a:ext cx="1554480" cy="1417320"/>
          </a:xfrm>
          <a:prstGeom prst="roundRect">
            <a:avLst>
              <a:gd name="adj" fmla="val 5161"/>
            </a:avLst>
          </a:prstGeom>
          <a:solidFill>
            <a:srgbClr val="E8F5EF"/>
          </a:solidFill>
          <a:ln w="15875">
            <a:solidFill>
              <a:srgbClr val="D49A00"/>
            </a:solidFill>
            <a:prstDash val="solid"/>
          </a:ln>
        </p:spPr>
      </p:sp>
      <p:sp>
        <p:nvSpPr>
          <p:cNvPr id="39" name="Text 36"/>
          <p:cNvSpPr txBox="1"/>
          <p:nvPr/>
        </p:nvSpPr>
        <p:spPr>
          <a:xfrm>
            <a:off x="557326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9–15 min</a:t>
            </a:r>
            <a:endParaRPr lang="en-US" sz="950" dirty="0"/>
          </a:p>
        </p:txBody>
      </p:sp>
      <p:sp>
        <p:nvSpPr>
          <p:cNvPr id="40" name="Text 37"/>
          <p:cNvSpPr txBox="1"/>
          <p:nvPr/>
        </p:nvSpPr>
        <p:spPr>
          <a:xfrm>
            <a:off x="557326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Itérations</a:t>
            </a:r>
            <a:endParaRPr lang="en-US" sz="1400" dirty="0"/>
          </a:p>
        </p:txBody>
      </p:sp>
      <p:sp>
        <p:nvSpPr>
          <p:cNvPr id="41" name="Text 38"/>
          <p:cNvSpPr txBox="1"/>
          <p:nvPr/>
        </p:nvSpPr>
        <p:spPr>
          <a:xfrm>
            <a:off x="557326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Un changement par exécution. Consigner chaque version : retenue ou rejetée.</a:t>
            </a:r>
            <a:endParaRPr lang="en-US" sz="1000" dirty="0"/>
          </a:p>
        </p:txBody>
      </p:sp>
      <p:sp>
        <p:nvSpPr>
          <p:cNvPr id="42" name="Shape 39"/>
          <p:cNvSpPr/>
          <p:nvPr/>
        </p:nvSpPr>
        <p:spPr>
          <a:xfrm>
            <a:off x="7635240" y="1353312"/>
            <a:ext cx="548640" cy="548640"/>
          </a:xfrm>
          <a:prstGeom prst="ellipse">
            <a:avLst/>
          </a:prstGeom>
          <a:solidFill>
            <a:srgbClr val="00704A"/>
          </a:solidFill>
          <a:ln w="25400">
            <a:solidFill>
              <a:srgbClr val="FFFFFF"/>
            </a:solidFill>
            <a:prstDash val="solid"/>
          </a:ln>
        </p:spPr>
      </p:sp>
      <p:sp>
        <p:nvSpPr>
          <p:cNvPr id="43" name="Text 40"/>
          <p:cNvSpPr txBox="1"/>
          <p:nvPr/>
        </p:nvSpPr>
        <p:spPr>
          <a:xfrm>
            <a:off x="763524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4" name="Shape 41"/>
          <p:cNvSpPr/>
          <p:nvPr/>
        </p:nvSpPr>
        <p:spPr>
          <a:xfrm>
            <a:off x="7132320" y="2029968"/>
            <a:ext cx="1554480" cy="1417320"/>
          </a:xfrm>
          <a:prstGeom prst="roundRect">
            <a:avLst>
              <a:gd name="adj" fmla="val 5161"/>
            </a:avLst>
          </a:prstGeom>
          <a:solidFill>
            <a:srgbClr val="F4F7F5"/>
          </a:solidFill>
          <a:ln w="9525">
            <a:solidFill>
              <a:srgbClr val="D5DED9"/>
            </a:solidFill>
            <a:prstDash val="solid"/>
          </a:ln>
        </p:spPr>
      </p:sp>
      <p:sp>
        <p:nvSpPr>
          <p:cNvPr id="45" name="Text 42"/>
          <p:cNvSpPr txBox="1"/>
          <p:nvPr/>
        </p:nvSpPr>
        <p:spPr>
          <a:xfrm>
            <a:off x="724204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15–17 min</a:t>
            </a:r>
            <a:endParaRPr lang="en-US" sz="950" dirty="0"/>
          </a:p>
        </p:txBody>
      </p:sp>
      <p:sp>
        <p:nvSpPr>
          <p:cNvPr id="46" name="Text 43"/>
          <p:cNvSpPr txBox="1"/>
          <p:nvPr/>
        </p:nvSpPr>
        <p:spPr>
          <a:xfrm>
            <a:off x="724204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Restitution</a:t>
            </a:r>
            <a:endParaRPr lang="en-US" sz="1400" dirty="0"/>
          </a:p>
        </p:txBody>
      </p:sp>
      <p:sp>
        <p:nvSpPr>
          <p:cNvPr id="47" name="Text 44"/>
          <p:cNvSpPr txBox="1"/>
          <p:nvPr/>
        </p:nvSpPr>
        <p:spPr>
          <a:xfrm>
            <a:off x="724204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Meilleure version et score dans la feuille partagée.</a:t>
            </a:r>
            <a:endParaRPr lang="en-US" sz="1000" dirty="0"/>
          </a:p>
        </p:txBody>
      </p:sp>
      <p:sp>
        <p:nvSpPr>
          <p:cNvPr id="48" name="Text 45"/>
          <p:cNvSpPr txBox="1"/>
          <p:nvPr/>
        </p:nvSpPr>
        <p:spPr>
          <a:xfrm>
            <a:off x="457200" y="3611880"/>
            <a:ext cx="3657600" cy="201168"/>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CE QUE REMET CHAQUE BINÔME</a:t>
            </a:r>
            <a:endParaRPr lang="en-US" sz="1000" dirty="0"/>
          </a:p>
        </p:txBody>
      </p:sp>
      <p:sp>
        <p:nvSpPr>
          <p:cNvPr id="49" name="Shape 46"/>
          <p:cNvSpPr/>
          <p:nvPr/>
        </p:nvSpPr>
        <p:spPr>
          <a:xfrm>
            <a:off x="457200" y="3858768"/>
            <a:ext cx="2651760" cy="658368"/>
          </a:xfrm>
          <a:prstGeom prst="roundRect">
            <a:avLst>
              <a:gd name="adj" fmla="val 11111"/>
            </a:avLst>
          </a:prstGeom>
          <a:solidFill>
            <a:srgbClr val="E8F5EF"/>
          </a:solidFill>
          <a:ln w="9525">
            <a:solidFill>
              <a:srgbClr val="D5DED9"/>
            </a:solidFill>
            <a:prstDash val="solid"/>
          </a:ln>
        </p:spPr>
      </p:sp>
      <p:sp>
        <p:nvSpPr>
          <p:cNvPr id="50" name="Shape 47"/>
          <p:cNvSpPr/>
          <p:nvPr/>
        </p:nvSpPr>
        <p:spPr>
          <a:xfrm>
            <a:off x="566928" y="3977640"/>
            <a:ext cx="420624" cy="420624"/>
          </a:xfrm>
          <a:prstGeom prst="ellipse">
            <a:avLst/>
          </a:prstGeom>
          <a:solidFill>
            <a:srgbClr val="00A86A">
              <a:alpha val="22000"/>
            </a:srgbClr>
          </a:solidFill>
          <a:ln/>
        </p:spPr>
      </p:sp>
      <p:pic>
        <p:nvPicPr>
          <p:cNvPr id="51" name="Image 0" descr="preencoded.png"/>
          <p:cNvPicPr>
            <a:picLocks noChangeAspect="1"/>
          </p:cNvPicPr>
          <p:nvPr/>
        </p:nvPicPr>
        <p:blipFill>
          <a:blip r:embed="rId3"/>
          <a:stretch>
            <a:fillRect/>
          </a:stretch>
        </p:blipFill>
        <p:spPr>
          <a:xfrm>
            <a:off x="667878" y="4078590"/>
            <a:ext cx="218724" cy="218724"/>
          </a:xfrm>
          <a:prstGeom prst="rect">
            <a:avLst/>
          </a:prstGeom>
        </p:spPr>
      </p:pic>
      <p:sp>
        <p:nvSpPr>
          <p:cNvPr id="52" name="Text 48"/>
          <p:cNvSpPr txBox="1"/>
          <p:nvPr/>
        </p:nvSpPr>
        <p:spPr>
          <a:xfrm>
            <a:off x="1097280" y="3922776"/>
            <a:ext cx="1965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Journal des itérations</a:t>
            </a:r>
            <a:endParaRPr lang="en-US" sz="1200" dirty="0"/>
          </a:p>
        </p:txBody>
      </p:sp>
      <p:sp>
        <p:nvSpPr>
          <p:cNvPr id="53" name="Text 49"/>
          <p:cNvSpPr txBox="1"/>
          <p:nvPr/>
        </p:nvSpPr>
        <p:spPr>
          <a:xfrm>
            <a:off x="1097280" y="4169664"/>
            <a:ext cx="1965960" cy="2743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chaque version, un changement</a:t>
            </a:r>
            <a:endParaRPr lang="en-US" sz="950" dirty="0"/>
          </a:p>
        </p:txBody>
      </p:sp>
      <p:sp>
        <p:nvSpPr>
          <p:cNvPr id="54" name="Shape 50"/>
          <p:cNvSpPr/>
          <p:nvPr/>
        </p:nvSpPr>
        <p:spPr>
          <a:xfrm>
            <a:off x="3246120" y="3858768"/>
            <a:ext cx="2651760" cy="658368"/>
          </a:xfrm>
          <a:prstGeom prst="roundRect">
            <a:avLst>
              <a:gd name="adj" fmla="val 11111"/>
            </a:avLst>
          </a:prstGeom>
          <a:solidFill>
            <a:srgbClr val="E8F5EF"/>
          </a:solidFill>
          <a:ln w="9525">
            <a:solidFill>
              <a:srgbClr val="D5DED9"/>
            </a:solidFill>
            <a:prstDash val="solid"/>
          </a:ln>
        </p:spPr>
      </p:sp>
      <p:sp>
        <p:nvSpPr>
          <p:cNvPr id="55" name="Shape 51"/>
          <p:cNvSpPr/>
          <p:nvPr/>
        </p:nvSpPr>
        <p:spPr>
          <a:xfrm>
            <a:off x="3355848" y="3977640"/>
            <a:ext cx="420624" cy="420624"/>
          </a:xfrm>
          <a:prstGeom prst="ellipse">
            <a:avLst/>
          </a:prstGeom>
          <a:solidFill>
            <a:srgbClr val="00A86A">
              <a:alpha val="22000"/>
            </a:srgbClr>
          </a:solidFill>
          <a:ln/>
        </p:spPr>
      </p:sp>
      <p:pic>
        <p:nvPicPr>
          <p:cNvPr id="56" name="Image 1" descr="preencoded.png"/>
          <p:cNvPicPr>
            <a:picLocks noChangeAspect="1"/>
          </p:cNvPicPr>
          <p:nvPr/>
        </p:nvPicPr>
        <p:blipFill>
          <a:blip r:embed="rId4"/>
          <a:stretch>
            <a:fillRect/>
          </a:stretch>
        </p:blipFill>
        <p:spPr>
          <a:xfrm>
            <a:off x="3456798" y="4078590"/>
            <a:ext cx="218724" cy="218724"/>
          </a:xfrm>
          <a:prstGeom prst="rect">
            <a:avLst/>
          </a:prstGeom>
        </p:spPr>
      </p:pic>
      <p:sp>
        <p:nvSpPr>
          <p:cNvPr id="57" name="Text 52"/>
          <p:cNvSpPr txBox="1"/>
          <p:nvPr/>
        </p:nvSpPr>
        <p:spPr>
          <a:xfrm>
            <a:off x="3886200" y="3922776"/>
            <a:ext cx="1965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Meilleur prompt + score</a:t>
            </a:r>
            <a:endParaRPr lang="en-US" sz="1200" dirty="0"/>
          </a:p>
        </p:txBody>
      </p:sp>
      <p:sp>
        <p:nvSpPr>
          <p:cNvPr id="58" name="Text 53"/>
          <p:cNvSpPr txBox="1"/>
          <p:nvPr/>
        </p:nvSpPr>
        <p:spPr>
          <a:xfrm>
            <a:off x="3886200" y="4169664"/>
            <a:ext cx="1965960" cy="2743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exactitude, validité JSON, jetons</a:t>
            </a:r>
            <a:endParaRPr lang="en-US" sz="950" dirty="0"/>
          </a:p>
        </p:txBody>
      </p:sp>
      <p:sp>
        <p:nvSpPr>
          <p:cNvPr id="59" name="Shape 54"/>
          <p:cNvSpPr/>
          <p:nvPr/>
        </p:nvSpPr>
        <p:spPr>
          <a:xfrm>
            <a:off x="6035040" y="3858768"/>
            <a:ext cx="2651760" cy="658368"/>
          </a:xfrm>
          <a:prstGeom prst="roundRect">
            <a:avLst>
              <a:gd name="adj" fmla="val 11111"/>
            </a:avLst>
          </a:prstGeom>
          <a:solidFill>
            <a:srgbClr val="E8F5EF"/>
          </a:solidFill>
          <a:ln w="9525">
            <a:solidFill>
              <a:srgbClr val="D5DED9"/>
            </a:solidFill>
            <a:prstDash val="solid"/>
          </a:ln>
        </p:spPr>
      </p:sp>
      <p:sp>
        <p:nvSpPr>
          <p:cNvPr id="60" name="Shape 55"/>
          <p:cNvSpPr/>
          <p:nvPr/>
        </p:nvSpPr>
        <p:spPr>
          <a:xfrm>
            <a:off x="6144768" y="3977640"/>
            <a:ext cx="420624" cy="420624"/>
          </a:xfrm>
          <a:prstGeom prst="ellipse">
            <a:avLst/>
          </a:prstGeom>
          <a:solidFill>
            <a:srgbClr val="00A86A">
              <a:alpha val="22000"/>
            </a:srgbClr>
          </a:solidFill>
          <a:ln/>
        </p:spPr>
      </p:sp>
      <p:pic>
        <p:nvPicPr>
          <p:cNvPr id="61" name="Image 2" descr="preencoded.png"/>
          <p:cNvPicPr>
            <a:picLocks noChangeAspect="1"/>
          </p:cNvPicPr>
          <p:nvPr/>
        </p:nvPicPr>
        <p:blipFill>
          <a:blip r:embed="rId5"/>
          <a:stretch>
            <a:fillRect/>
          </a:stretch>
        </p:blipFill>
        <p:spPr>
          <a:xfrm>
            <a:off x="6245718" y="4078590"/>
            <a:ext cx="218724" cy="218724"/>
          </a:xfrm>
          <a:prstGeom prst="rect">
            <a:avLst/>
          </a:prstGeom>
        </p:spPr>
      </p:pic>
      <p:sp>
        <p:nvSpPr>
          <p:cNvPr id="62" name="Text 56"/>
          <p:cNvSpPr txBox="1"/>
          <p:nvPr/>
        </p:nvSpPr>
        <p:spPr>
          <a:xfrm>
            <a:off x="6675120" y="3922776"/>
            <a:ext cx="1965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Entrée pour 14 h 45</a:t>
            </a:r>
            <a:endParaRPr lang="en-US" sz="1200" dirty="0"/>
          </a:p>
        </p:txBody>
      </p:sp>
      <p:sp>
        <p:nvSpPr>
          <p:cNvPr id="63" name="Text 57"/>
          <p:cNvSpPr txBox="1"/>
          <p:nvPr/>
        </p:nvSpPr>
        <p:spPr>
          <a:xfrm>
            <a:off x="6675120" y="4169664"/>
            <a:ext cx="1965960" cy="2743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 prompt à comparer sur Groq</a:t>
            </a:r>
            <a:endParaRPr lang="en-US" sz="9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AIDE-MÉMOIRE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Liste de contrôle du prompt excellent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1371600" cy="548640"/>
          </a:xfrm>
          <a:prstGeom prst="roundRect">
            <a:avLst>
              <a:gd name="adj" fmla="val 13333"/>
            </a:avLst>
          </a:prstGeom>
          <a:solidFill>
            <a:srgbClr val="00704A"/>
          </a:solidFill>
          <a:ln/>
        </p:spPr>
      </p:sp>
      <p:sp>
        <p:nvSpPr>
          <p:cNvPr id="18" name="Text 15"/>
          <p:cNvSpPr txBox="1"/>
          <p:nvPr/>
        </p:nvSpPr>
        <p:spPr>
          <a:xfrm>
            <a:off x="457200" y="132588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Évaluation</a:t>
            </a:r>
            <a:endParaRPr lang="en-US" sz="1250" dirty="0"/>
          </a:p>
        </p:txBody>
      </p:sp>
      <p:sp>
        <p:nvSpPr>
          <p:cNvPr id="19" name="Shape 16"/>
          <p:cNvSpPr/>
          <p:nvPr/>
        </p:nvSpPr>
        <p:spPr>
          <a:xfrm>
            <a:off x="1965960" y="1325880"/>
            <a:ext cx="324612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2093976" y="1481328"/>
            <a:ext cx="237744" cy="237744"/>
          </a:xfrm>
          <a:prstGeom prst="roundRect">
            <a:avLst>
              <a:gd name="adj" fmla="val 15385"/>
            </a:avLst>
          </a:prstGeom>
          <a:solidFill>
            <a:srgbClr val="FFFFFF"/>
          </a:solidFill>
          <a:ln w="15875">
            <a:solidFill>
              <a:srgbClr val="00704A"/>
            </a:solidFill>
            <a:prstDash val="solid"/>
          </a:ln>
        </p:spPr>
      </p:sp>
      <p:pic>
        <p:nvPicPr>
          <p:cNvPr id="21" name="Image 0" descr="preencoded.png"/>
          <p:cNvPicPr>
            <a:picLocks noChangeAspect="1"/>
          </p:cNvPicPr>
          <p:nvPr/>
        </p:nvPicPr>
        <p:blipFill>
          <a:blip r:embed="rId3"/>
          <a:stretch>
            <a:fillRect/>
          </a:stretch>
        </p:blipFill>
        <p:spPr>
          <a:xfrm>
            <a:off x="2130552" y="1517904"/>
            <a:ext cx="164592" cy="164592"/>
          </a:xfrm>
          <a:prstGeom prst="rect">
            <a:avLst/>
          </a:prstGeom>
        </p:spPr>
      </p:pic>
      <p:sp>
        <p:nvSpPr>
          <p:cNvPr id="22" name="Text 18"/>
          <p:cNvSpPr txBox="1"/>
          <p:nvPr/>
        </p:nvSpPr>
        <p:spPr>
          <a:xfrm>
            <a:off x="2441448" y="132588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Critères de succès et score cible écrits</a:t>
            </a:r>
            <a:endParaRPr lang="en-US" sz="1100" dirty="0"/>
          </a:p>
        </p:txBody>
      </p:sp>
      <p:sp>
        <p:nvSpPr>
          <p:cNvPr id="23" name="Shape 19"/>
          <p:cNvSpPr/>
          <p:nvPr/>
        </p:nvSpPr>
        <p:spPr>
          <a:xfrm>
            <a:off x="5349240" y="1325880"/>
            <a:ext cx="324612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77256" y="1481328"/>
            <a:ext cx="237744" cy="237744"/>
          </a:xfrm>
          <a:prstGeom prst="roundRect">
            <a:avLst>
              <a:gd name="adj" fmla="val 15385"/>
            </a:avLst>
          </a:prstGeom>
          <a:solidFill>
            <a:srgbClr val="FFFFFF"/>
          </a:solidFill>
          <a:ln w="15875">
            <a:solidFill>
              <a:srgbClr val="00704A"/>
            </a:solidFill>
            <a:prstDash val="solid"/>
          </a:ln>
        </p:spPr>
      </p:sp>
      <p:pic>
        <p:nvPicPr>
          <p:cNvPr id="25" name="Image 1" descr="preencoded.png"/>
          <p:cNvPicPr>
            <a:picLocks noChangeAspect="1"/>
          </p:cNvPicPr>
          <p:nvPr/>
        </p:nvPicPr>
        <p:blipFill>
          <a:blip r:embed="rId3"/>
          <a:stretch>
            <a:fillRect/>
          </a:stretch>
        </p:blipFill>
        <p:spPr>
          <a:xfrm>
            <a:off x="5513832" y="1517904"/>
            <a:ext cx="164592" cy="164592"/>
          </a:xfrm>
          <a:prstGeom prst="rect">
            <a:avLst/>
          </a:prstGeom>
        </p:spPr>
      </p:pic>
      <p:sp>
        <p:nvSpPr>
          <p:cNvPr id="26" name="Text 21"/>
          <p:cNvSpPr txBox="1"/>
          <p:nvPr/>
        </p:nvSpPr>
        <p:spPr>
          <a:xfrm>
            <a:off x="5824728" y="132588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Jeu figé et versionné de 30 à 50 cas annotés par des experts</a:t>
            </a:r>
            <a:endParaRPr lang="en-US" sz="1100" dirty="0"/>
          </a:p>
        </p:txBody>
      </p:sp>
      <p:sp>
        <p:nvSpPr>
          <p:cNvPr id="27" name="Shape 22"/>
          <p:cNvSpPr/>
          <p:nvPr/>
        </p:nvSpPr>
        <p:spPr>
          <a:xfrm>
            <a:off x="457200" y="1965960"/>
            <a:ext cx="1371600" cy="548640"/>
          </a:xfrm>
          <a:prstGeom prst="roundRect">
            <a:avLst>
              <a:gd name="adj" fmla="val 13333"/>
            </a:avLst>
          </a:prstGeom>
          <a:solidFill>
            <a:srgbClr val="0E7C86"/>
          </a:solidFill>
          <a:ln/>
        </p:spPr>
      </p:sp>
      <p:sp>
        <p:nvSpPr>
          <p:cNvPr id="28" name="Text 23"/>
          <p:cNvSpPr txBox="1"/>
          <p:nvPr/>
        </p:nvSpPr>
        <p:spPr>
          <a:xfrm>
            <a:off x="457200" y="196596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Qualité</a:t>
            </a:r>
            <a:endParaRPr lang="en-US" sz="1250" dirty="0"/>
          </a:p>
        </p:txBody>
      </p:sp>
      <p:sp>
        <p:nvSpPr>
          <p:cNvPr id="29" name="Shape 24"/>
          <p:cNvSpPr/>
          <p:nvPr/>
        </p:nvSpPr>
        <p:spPr>
          <a:xfrm>
            <a:off x="1965960" y="1965960"/>
            <a:ext cx="324612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2093976" y="2121408"/>
            <a:ext cx="237744" cy="237744"/>
          </a:xfrm>
          <a:prstGeom prst="roundRect">
            <a:avLst>
              <a:gd name="adj" fmla="val 15385"/>
            </a:avLst>
          </a:prstGeom>
          <a:solidFill>
            <a:srgbClr val="FFFFFF"/>
          </a:solidFill>
          <a:ln w="15875">
            <a:solidFill>
              <a:srgbClr val="0E7C86"/>
            </a:solidFill>
            <a:prstDash val="solid"/>
          </a:ln>
        </p:spPr>
      </p:sp>
      <p:pic>
        <p:nvPicPr>
          <p:cNvPr id="31" name="Image 2" descr="preencoded.png"/>
          <p:cNvPicPr>
            <a:picLocks noChangeAspect="1"/>
          </p:cNvPicPr>
          <p:nvPr/>
        </p:nvPicPr>
        <p:blipFill>
          <a:blip r:embed="rId4"/>
          <a:stretch>
            <a:fillRect/>
          </a:stretch>
        </p:blipFill>
        <p:spPr>
          <a:xfrm>
            <a:off x="2130552" y="2157984"/>
            <a:ext cx="164592" cy="164592"/>
          </a:xfrm>
          <a:prstGeom prst="rect">
            <a:avLst/>
          </a:prstGeom>
        </p:spPr>
      </p:pic>
      <p:sp>
        <p:nvSpPr>
          <p:cNvPr id="32" name="Text 26"/>
          <p:cNvSpPr txBox="1"/>
          <p:nvPr/>
        </p:nvSpPr>
        <p:spPr>
          <a:xfrm>
            <a:off x="2441448" y="196596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Métrique adaptée au type de tâche</a:t>
            </a:r>
            <a:endParaRPr lang="en-US" sz="1100" dirty="0"/>
          </a:p>
        </p:txBody>
      </p:sp>
      <p:sp>
        <p:nvSpPr>
          <p:cNvPr id="33" name="Shape 27"/>
          <p:cNvSpPr/>
          <p:nvPr/>
        </p:nvSpPr>
        <p:spPr>
          <a:xfrm>
            <a:off x="5349240" y="1965960"/>
            <a:ext cx="324612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77256" y="2121408"/>
            <a:ext cx="237744" cy="237744"/>
          </a:xfrm>
          <a:prstGeom prst="roundRect">
            <a:avLst>
              <a:gd name="adj" fmla="val 15385"/>
            </a:avLst>
          </a:prstGeom>
          <a:solidFill>
            <a:srgbClr val="FFFFFF"/>
          </a:solidFill>
          <a:ln w="15875">
            <a:solidFill>
              <a:srgbClr val="0E7C86"/>
            </a:solidFill>
            <a:prstDash val="solid"/>
          </a:ln>
        </p:spPr>
      </p:sp>
      <p:pic>
        <p:nvPicPr>
          <p:cNvPr id="35" name="Image 3" descr="preencoded.png"/>
          <p:cNvPicPr>
            <a:picLocks noChangeAspect="1"/>
          </p:cNvPicPr>
          <p:nvPr/>
        </p:nvPicPr>
        <p:blipFill>
          <a:blip r:embed="rId4"/>
          <a:stretch>
            <a:fillRect/>
          </a:stretch>
        </p:blipFill>
        <p:spPr>
          <a:xfrm>
            <a:off x="5513832" y="2157984"/>
            <a:ext cx="164592" cy="164592"/>
          </a:xfrm>
          <a:prstGeom prst="rect">
            <a:avLst/>
          </a:prstGeom>
        </p:spPr>
      </p:pic>
      <p:sp>
        <p:nvSpPr>
          <p:cNvPr id="36" name="Text 29"/>
          <p:cNvSpPr txBox="1"/>
          <p:nvPr/>
        </p:nvSpPr>
        <p:spPr>
          <a:xfrm>
            <a:off x="5824728" y="196596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Journal : un seul changement par version</a:t>
            </a:r>
            <a:endParaRPr lang="en-US" sz="1100" dirty="0"/>
          </a:p>
        </p:txBody>
      </p:sp>
      <p:sp>
        <p:nvSpPr>
          <p:cNvPr id="37" name="Shape 30"/>
          <p:cNvSpPr/>
          <p:nvPr/>
        </p:nvSpPr>
        <p:spPr>
          <a:xfrm>
            <a:off x="457200" y="2606040"/>
            <a:ext cx="1371600" cy="548640"/>
          </a:xfrm>
          <a:prstGeom prst="roundRect">
            <a:avLst>
              <a:gd name="adj" fmla="val 13333"/>
            </a:avLst>
          </a:prstGeom>
          <a:solidFill>
            <a:srgbClr val="D49A00"/>
          </a:solidFill>
          <a:ln/>
        </p:spPr>
      </p:sp>
      <p:sp>
        <p:nvSpPr>
          <p:cNvPr id="38" name="Text 31"/>
          <p:cNvSpPr txBox="1"/>
          <p:nvPr/>
        </p:nvSpPr>
        <p:spPr>
          <a:xfrm>
            <a:off x="457200" y="260604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Variance</a:t>
            </a:r>
            <a:endParaRPr lang="en-US" sz="1250" dirty="0"/>
          </a:p>
        </p:txBody>
      </p:sp>
      <p:sp>
        <p:nvSpPr>
          <p:cNvPr id="39" name="Shape 32"/>
          <p:cNvSpPr/>
          <p:nvPr/>
        </p:nvSpPr>
        <p:spPr>
          <a:xfrm>
            <a:off x="1965960" y="2606040"/>
            <a:ext cx="324612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2093976" y="2761488"/>
            <a:ext cx="237744" cy="237744"/>
          </a:xfrm>
          <a:prstGeom prst="roundRect">
            <a:avLst>
              <a:gd name="adj" fmla="val 15385"/>
            </a:avLst>
          </a:prstGeom>
          <a:solidFill>
            <a:srgbClr val="FFFFFF"/>
          </a:solidFill>
          <a:ln w="15875">
            <a:solidFill>
              <a:srgbClr val="D49A00"/>
            </a:solidFill>
            <a:prstDash val="solid"/>
          </a:ln>
        </p:spPr>
      </p:sp>
      <p:pic>
        <p:nvPicPr>
          <p:cNvPr id="41" name="Image 4" descr="preencoded.png"/>
          <p:cNvPicPr>
            <a:picLocks noChangeAspect="1"/>
          </p:cNvPicPr>
          <p:nvPr/>
        </p:nvPicPr>
        <p:blipFill>
          <a:blip r:embed="rId5"/>
          <a:stretch>
            <a:fillRect/>
          </a:stretch>
        </p:blipFill>
        <p:spPr>
          <a:xfrm>
            <a:off x="2130552" y="2798064"/>
            <a:ext cx="164592" cy="164592"/>
          </a:xfrm>
          <a:prstGeom prst="rect">
            <a:avLst/>
          </a:prstGeom>
        </p:spPr>
      </p:pic>
      <p:sp>
        <p:nvSpPr>
          <p:cNvPr id="42" name="Text 34"/>
          <p:cNvSpPr txBox="1"/>
          <p:nvPr/>
        </p:nvSpPr>
        <p:spPr>
          <a:xfrm>
            <a:off x="2441448" y="260604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Version du modèle figée ; température choisie</a:t>
            </a:r>
            <a:endParaRPr lang="en-US" sz="1100" dirty="0"/>
          </a:p>
        </p:txBody>
      </p:sp>
      <p:sp>
        <p:nvSpPr>
          <p:cNvPr id="43" name="Shape 35"/>
          <p:cNvSpPr/>
          <p:nvPr/>
        </p:nvSpPr>
        <p:spPr>
          <a:xfrm>
            <a:off x="5349240" y="2606040"/>
            <a:ext cx="3246120" cy="548640"/>
          </a:xfrm>
          <a:prstGeom prst="roundRect">
            <a:avLst>
              <a:gd name="adj" fmla="val 13333"/>
            </a:avLst>
          </a:prstGeom>
          <a:solidFill>
            <a:srgbClr val="F4F7F5"/>
          </a:solidFill>
          <a:ln w="9525">
            <a:solidFill>
              <a:srgbClr val="D5DED9"/>
            </a:solidFill>
            <a:prstDash val="solid"/>
          </a:ln>
        </p:spPr>
      </p:sp>
      <p:sp>
        <p:nvSpPr>
          <p:cNvPr id="44" name="Shape 36"/>
          <p:cNvSpPr/>
          <p:nvPr/>
        </p:nvSpPr>
        <p:spPr>
          <a:xfrm>
            <a:off x="5477256" y="2761488"/>
            <a:ext cx="237744" cy="237744"/>
          </a:xfrm>
          <a:prstGeom prst="roundRect">
            <a:avLst>
              <a:gd name="adj" fmla="val 15385"/>
            </a:avLst>
          </a:prstGeom>
          <a:solidFill>
            <a:srgbClr val="FFFFFF"/>
          </a:solidFill>
          <a:ln w="15875">
            <a:solidFill>
              <a:srgbClr val="D49A00"/>
            </a:solidFill>
            <a:prstDash val="solid"/>
          </a:ln>
        </p:spPr>
      </p:sp>
      <p:pic>
        <p:nvPicPr>
          <p:cNvPr id="45" name="Image 5" descr="preencoded.png"/>
          <p:cNvPicPr>
            <a:picLocks noChangeAspect="1"/>
          </p:cNvPicPr>
          <p:nvPr/>
        </p:nvPicPr>
        <p:blipFill>
          <a:blip r:embed="rId5"/>
          <a:stretch>
            <a:fillRect/>
          </a:stretch>
        </p:blipFill>
        <p:spPr>
          <a:xfrm>
            <a:off x="5513832" y="2798064"/>
            <a:ext cx="164592" cy="164592"/>
          </a:xfrm>
          <a:prstGeom prst="rect">
            <a:avLst/>
          </a:prstGeom>
        </p:spPr>
      </p:pic>
      <p:sp>
        <p:nvSpPr>
          <p:cNvPr id="46" name="Text 37"/>
          <p:cNvSpPr txBox="1"/>
          <p:nvPr/>
        </p:nvSpPr>
        <p:spPr>
          <a:xfrm>
            <a:off x="5824728" y="260604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Accord entre exécutions répétées mesuré</a:t>
            </a:r>
            <a:endParaRPr lang="en-US" sz="1100" dirty="0"/>
          </a:p>
        </p:txBody>
      </p:sp>
      <p:sp>
        <p:nvSpPr>
          <p:cNvPr id="47" name="Shape 38"/>
          <p:cNvSpPr/>
          <p:nvPr/>
        </p:nvSpPr>
        <p:spPr>
          <a:xfrm>
            <a:off x="457200" y="3246120"/>
            <a:ext cx="1371600" cy="548640"/>
          </a:xfrm>
          <a:prstGeom prst="roundRect">
            <a:avLst>
              <a:gd name="adj" fmla="val 13333"/>
            </a:avLst>
          </a:prstGeom>
          <a:solidFill>
            <a:srgbClr val="C4621D"/>
          </a:solidFill>
          <a:ln/>
        </p:spPr>
      </p:sp>
      <p:sp>
        <p:nvSpPr>
          <p:cNvPr id="48" name="Text 39"/>
          <p:cNvSpPr txBox="1"/>
          <p:nvPr/>
        </p:nvSpPr>
        <p:spPr>
          <a:xfrm>
            <a:off x="457200" y="324612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Coût</a:t>
            </a:r>
            <a:endParaRPr lang="en-US" sz="1250" dirty="0"/>
          </a:p>
        </p:txBody>
      </p:sp>
      <p:sp>
        <p:nvSpPr>
          <p:cNvPr id="49" name="Shape 40"/>
          <p:cNvSpPr/>
          <p:nvPr/>
        </p:nvSpPr>
        <p:spPr>
          <a:xfrm>
            <a:off x="1965960" y="3246120"/>
            <a:ext cx="324612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2093976" y="3401568"/>
            <a:ext cx="237744" cy="237744"/>
          </a:xfrm>
          <a:prstGeom prst="roundRect">
            <a:avLst>
              <a:gd name="adj" fmla="val 15385"/>
            </a:avLst>
          </a:prstGeom>
          <a:solidFill>
            <a:srgbClr val="FFFFFF"/>
          </a:solidFill>
          <a:ln w="15875">
            <a:solidFill>
              <a:srgbClr val="C4621D"/>
            </a:solidFill>
            <a:prstDash val="solid"/>
          </a:ln>
        </p:spPr>
      </p:sp>
      <p:pic>
        <p:nvPicPr>
          <p:cNvPr id="51" name="Image 6" descr="preencoded.png"/>
          <p:cNvPicPr>
            <a:picLocks noChangeAspect="1"/>
          </p:cNvPicPr>
          <p:nvPr/>
        </p:nvPicPr>
        <p:blipFill>
          <a:blip r:embed="rId6"/>
          <a:stretch>
            <a:fillRect/>
          </a:stretch>
        </p:blipFill>
        <p:spPr>
          <a:xfrm>
            <a:off x="2130552" y="3438144"/>
            <a:ext cx="164592" cy="164592"/>
          </a:xfrm>
          <a:prstGeom prst="rect">
            <a:avLst/>
          </a:prstGeom>
        </p:spPr>
      </p:pic>
      <p:sp>
        <p:nvSpPr>
          <p:cNvPr id="52" name="Text 42"/>
          <p:cNvSpPr txBox="1"/>
          <p:nvPr/>
        </p:nvSpPr>
        <p:spPr>
          <a:xfrm>
            <a:off x="2441448" y="324612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Coût pour 1 000 documents estimé</a:t>
            </a:r>
            <a:endParaRPr lang="en-US" sz="1100" dirty="0"/>
          </a:p>
        </p:txBody>
      </p:sp>
      <p:sp>
        <p:nvSpPr>
          <p:cNvPr id="53" name="Shape 43"/>
          <p:cNvSpPr/>
          <p:nvPr/>
        </p:nvSpPr>
        <p:spPr>
          <a:xfrm>
            <a:off x="5349240" y="3246120"/>
            <a:ext cx="3246120" cy="548640"/>
          </a:xfrm>
          <a:prstGeom prst="roundRect">
            <a:avLst>
              <a:gd name="adj" fmla="val 13333"/>
            </a:avLst>
          </a:prstGeom>
          <a:solidFill>
            <a:srgbClr val="F4F7F5"/>
          </a:solidFill>
          <a:ln w="9525">
            <a:solidFill>
              <a:srgbClr val="D5DED9"/>
            </a:solidFill>
            <a:prstDash val="solid"/>
          </a:ln>
        </p:spPr>
      </p:sp>
      <p:sp>
        <p:nvSpPr>
          <p:cNvPr id="54" name="Shape 44"/>
          <p:cNvSpPr/>
          <p:nvPr/>
        </p:nvSpPr>
        <p:spPr>
          <a:xfrm>
            <a:off x="5477256" y="3401568"/>
            <a:ext cx="237744" cy="237744"/>
          </a:xfrm>
          <a:prstGeom prst="roundRect">
            <a:avLst>
              <a:gd name="adj" fmla="val 15385"/>
            </a:avLst>
          </a:prstGeom>
          <a:solidFill>
            <a:srgbClr val="FFFFFF"/>
          </a:solidFill>
          <a:ln w="15875">
            <a:solidFill>
              <a:srgbClr val="C4621D"/>
            </a:solidFill>
            <a:prstDash val="solid"/>
          </a:ln>
        </p:spPr>
      </p:sp>
      <p:pic>
        <p:nvPicPr>
          <p:cNvPr id="55" name="Image 7" descr="preencoded.png"/>
          <p:cNvPicPr>
            <a:picLocks noChangeAspect="1"/>
          </p:cNvPicPr>
          <p:nvPr/>
        </p:nvPicPr>
        <p:blipFill>
          <a:blip r:embed="rId6"/>
          <a:stretch>
            <a:fillRect/>
          </a:stretch>
        </p:blipFill>
        <p:spPr>
          <a:xfrm>
            <a:off x="5513832" y="3438144"/>
            <a:ext cx="164592" cy="164592"/>
          </a:xfrm>
          <a:prstGeom prst="rect">
            <a:avLst/>
          </a:prstGeom>
        </p:spPr>
      </p:pic>
      <p:sp>
        <p:nvSpPr>
          <p:cNvPr id="56" name="Text 45"/>
          <p:cNvSpPr txBox="1"/>
          <p:nvPr/>
        </p:nvSpPr>
        <p:spPr>
          <a:xfrm>
            <a:off x="5824728" y="324612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Contenu stable en tête, pour le cache</a:t>
            </a:r>
            <a:endParaRPr lang="en-US" sz="1100" dirty="0"/>
          </a:p>
        </p:txBody>
      </p:sp>
      <p:sp>
        <p:nvSpPr>
          <p:cNvPr id="57" name="Shape 46"/>
          <p:cNvSpPr/>
          <p:nvPr/>
        </p:nvSpPr>
        <p:spPr>
          <a:xfrm>
            <a:off x="457200" y="3886200"/>
            <a:ext cx="1371600" cy="548640"/>
          </a:xfrm>
          <a:prstGeom prst="roundRect">
            <a:avLst>
              <a:gd name="adj" fmla="val 13333"/>
            </a:avLst>
          </a:prstGeom>
          <a:solidFill>
            <a:srgbClr val="B83B2E"/>
          </a:solidFill>
          <a:ln/>
        </p:spPr>
      </p:sp>
      <p:sp>
        <p:nvSpPr>
          <p:cNvPr id="58" name="Text 47"/>
          <p:cNvSpPr txBox="1"/>
          <p:nvPr/>
        </p:nvSpPr>
        <p:spPr>
          <a:xfrm>
            <a:off x="457200" y="388620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Gouvernance</a:t>
            </a:r>
            <a:endParaRPr lang="en-US" sz="1250" dirty="0"/>
          </a:p>
        </p:txBody>
      </p:sp>
      <p:sp>
        <p:nvSpPr>
          <p:cNvPr id="59" name="Shape 48"/>
          <p:cNvSpPr/>
          <p:nvPr/>
        </p:nvSpPr>
        <p:spPr>
          <a:xfrm>
            <a:off x="1965960" y="3886200"/>
            <a:ext cx="3246120" cy="548640"/>
          </a:xfrm>
          <a:prstGeom prst="roundRect">
            <a:avLst>
              <a:gd name="adj" fmla="val 13333"/>
            </a:avLst>
          </a:prstGeom>
          <a:solidFill>
            <a:srgbClr val="F4F7F5"/>
          </a:solidFill>
          <a:ln w="9525">
            <a:solidFill>
              <a:srgbClr val="D5DED9"/>
            </a:solidFill>
            <a:prstDash val="solid"/>
          </a:ln>
        </p:spPr>
      </p:sp>
      <p:sp>
        <p:nvSpPr>
          <p:cNvPr id="60" name="Shape 49"/>
          <p:cNvSpPr/>
          <p:nvPr/>
        </p:nvSpPr>
        <p:spPr>
          <a:xfrm>
            <a:off x="2093976" y="4041648"/>
            <a:ext cx="237744" cy="237744"/>
          </a:xfrm>
          <a:prstGeom prst="roundRect">
            <a:avLst>
              <a:gd name="adj" fmla="val 15385"/>
            </a:avLst>
          </a:prstGeom>
          <a:solidFill>
            <a:srgbClr val="FFFFFF"/>
          </a:solidFill>
          <a:ln w="15875">
            <a:solidFill>
              <a:srgbClr val="B83B2E"/>
            </a:solidFill>
            <a:prstDash val="solid"/>
          </a:ln>
        </p:spPr>
      </p:sp>
      <p:pic>
        <p:nvPicPr>
          <p:cNvPr id="61" name="Image 8" descr="preencoded.png"/>
          <p:cNvPicPr>
            <a:picLocks noChangeAspect="1"/>
          </p:cNvPicPr>
          <p:nvPr/>
        </p:nvPicPr>
        <p:blipFill>
          <a:blip r:embed="rId7"/>
          <a:stretch>
            <a:fillRect/>
          </a:stretch>
        </p:blipFill>
        <p:spPr>
          <a:xfrm>
            <a:off x="2130552" y="4078224"/>
            <a:ext cx="164592" cy="164592"/>
          </a:xfrm>
          <a:prstGeom prst="rect">
            <a:avLst/>
          </a:prstGeom>
        </p:spPr>
      </p:pic>
      <p:sp>
        <p:nvSpPr>
          <p:cNvPr id="62" name="Text 50"/>
          <p:cNvSpPr txBox="1"/>
          <p:nvPr/>
        </p:nvSpPr>
        <p:spPr>
          <a:xfrm>
            <a:off x="2441448" y="388620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Confidentialité et conditions d’usage vérifiées</a:t>
            </a:r>
            <a:endParaRPr lang="en-US" sz="1100" dirty="0"/>
          </a:p>
        </p:txBody>
      </p:sp>
      <p:sp>
        <p:nvSpPr>
          <p:cNvPr id="63" name="Shape 51"/>
          <p:cNvSpPr/>
          <p:nvPr/>
        </p:nvSpPr>
        <p:spPr>
          <a:xfrm>
            <a:off x="5349240" y="3886200"/>
            <a:ext cx="3246120" cy="548640"/>
          </a:xfrm>
          <a:prstGeom prst="roundRect">
            <a:avLst>
              <a:gd name="adj" fmla="val 13333"/>
            </a:avLst>
          </a:prstGeom>
          <a:solidFill>
            <a:srgbClr val="F4F7F5"/>
          </a:solidFill>
          <a:ln w="9525">
            <a:solidFill>
              <a:srgbClr val="D5DED9"/>
            </a:solidFill>
            <a:prstDash val="solid"/>
          </a:ln>
        </p:spPr>
      </p:sp>
      <p:sp>
        <p:nvSpPr>
          <p:cNvPr id="64" name="Shape 52"/>
          <p:cNvSpPr/>
          <p:nvPr/>
        </p:nvSpPr>
        <p:spPr>
          <a:xfrm>
            <a:off x="5477256" y="4041648"/>
            <a:ext cx="237744" cy="237744"/>
          </a:xfrm>
          <a:prstGeom prst="roundRect">
            <a:avLst>
              <a:gd name="adj" fmla="val 15385"/>
            </a:avLst>
          </a:prstGeom>
          <a:solidFill>
            <a:srgbClr val="FFFFFF"/>
          </a:solidFill>
          <a:ln w="15875">
            <a:solidFill>
              <a:srgbClr val="B83B2E"/>
            </a:solidFill>
            <a:prstDash val="solid"/>
          </a:ln>
        </p:spPr>
      </p:sp>
      <p:pic>
        <p:nvPicPr>
          <p:cNvPr id="65" name="Image 9" descr="preencoded.png"/>
          <p:cNvPicPr>
            <a:picLocks noChangeAspect="1"/>
          </p:cNvPicPr>
          <p:nvPr/>
        </p:nvPicPr>
        <p:blipFill>
          <a:blip r:embed="rId7"/>
          <a:stretch>
            <a:fillRect/>
          </a:stretch>
        </p:blipFill>
        <p:spPr>
          <a:xfrm>
            <a:off x="5513832" y="4078224"/>
            <a:ext cx="164592" cy="164592"/>
          </a:xfrm>
          <a:prstGeom prst="rect">
            <a:avLst/>
          </a:prstGeom>
        </p:spPr>
      </p:pic>
      <p:sp>
        <p:nvSpPr>
          <p:cNvPr id="66" name="Text 53"/>
          <p:cNvSpPr txBox="1"/>
          <p:nvPr/>
        </p:nvSpPr>
        <p:spPr>
          <a:xfrm>
            <a:off x="5824728" y="388620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Sorties vérifiées ; prompt versionné, avec un responsable</a:t>
            </a:r>
            <a:endParaRPr lang="en-US" sz="11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SYNTHÈSE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Messages clés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20624" y="1659636"/>
            <a:ext cx="2651760" cy="1874520"/>
          </a:xfrm>
          <a:prstGeom prst="roundRect">
            <a:avLst>
              <a:gd name="adj" fmla="val 3902"/>
            </a:avLst>
          </a:prstGeom>
          <a:solidFill>
            <a:srgbClr val="F4F7F5"/>
          </a:solidFill>
          <a:ln w="9525">
            <a:solidFill>
              <a:srgbClr val="D5DED9"/>
            </a:solidFill>
            <a:prstDash val="solid"/>
          </a:ln>
        </p:spPr>
      </p:sp>
      <p:sp>
        <p:nvSpPr>
          <p:cNvPr id="18" name="Text 15"/>
          <p:cNvSpPr txBox="1"/>
          <p:nvPr/>
        </p:nvSpPr>
        <p:spPr>
          <a:xfrm>
            <a:off x="603504" y="1751076"/>
            <a:ext cx="914400" cy="457200"/>
          </a:xfrm>
          <a:prstGeom prst="rect">
            <a:avLst/>
          </a:prstGeom>
          <a:noFill/>
          <a:ln/>
        </p:spPr>
        <p:txBody>
          <a:bodyPr wrap="square" lIns="0" tIns="0" rIns="0" bIns="0" rtlCol="0" anchor="t"/>
          <a:lstStyle/>
          <a:p>
            <a:pPr marL="0" indent="0">
              <a:buNone/>
            </a:pPr>
            <a:r>
              <a:rPr lang="en-US" sz="3200" b="1" dirty="0">
                <a:solidFill>
                  <a:srgbClr val="00704A"/>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2432304" y="1796796"/>
            <a:ext cx="457200" cy="457200"/>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2542032" y="1906524"/>
            <a:ext cx="237744" cy="237744"/>
          </a:xfrm>
          <a:prstGeom prst="rect">
            <a:avLst/>
          </a:prstGeom>
        </p:spPr>
      </p:pic>
      <p:sp>
        <p:nvSpPr>
          <p:cNvPr id="21" name="Text 17"/>
          <p:cNvSpPr txBox="1"/>
          <p:nvPr/>
        </p:nvSpPr>
        <p:spPr>
          <a:xfrm>
            <a:off x="603504" y="2299716"/>
            <a:ext cx="2286000" cy="45720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Mesurer avant de changer</a:t>
            </a:r>
            <a:endParaRPr lang="en-US" sz="1400" dirty="0"/>
          </a:p>
        </p:txBody>
      </p:sp>
      <p:sp>
        <p:nvSpPr>
          <p:cNvPr id="22" name="Text 18"/>
          <p:cNvSpPr txBox="1"/>
          <p:nvPr/>
        </p:nvSpPr>
        <p:spPr>
          <a:xfrm>
            <a:off x="603504" y="2784348"/>
            <a:ext cx="2286000" cy="6400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 jeu d’évaluation figé transforme les opinions en chiffres.</a:t>
            </a:r>
            <a:endParaRPr lang="en-US" sz="1050" dirty="0"/>
          </a:p>
        </p:txBody>
      </p:sp>
      <p:sp>
        <p:nvSpPr>
          <p:cNvPr id="23" name="Shape 19"/>
          <p:cNvSpPr/>
          <p:nvPr/>
        </p:nvSpPr>
        <p:spPr>
          <a:xfrm>
            <a:off x="3209544" y="1659636"/>
            <a:ext cx="2651760" cy="1874520"/>
          </a:xfrm>
          <a:prstGeom prst="roundRect">
            <a:avLst>
              <a:gd name="adj" fmla="val 3902"/>
            </a:avLst>
          </a:prstGeom>
          <a:solidFill>
            <a:srgbClr val="F4F7F5"/>
          </a:solidFill>
          <a:ln w="9525">
            <a:solidFill>
              <a:srgbClr val="D5DED9"/>
            </a:solidFill>
            <a:prstDash val="solid"/>
          </a:ln>
        </p:spPr>
      </p:sp>
      <p:sp>
        <p:nvSpPr>
          <p:cNvPr id="24" name="Text 20"/>
          <p:cNvSpPr txBox="1"/>
          <p:nvPr/>
        </p:nvSpPr>
        <p:spPr>
          <a:xfrm>
            <a:off x="3392424" y="1751076"/>
            <a:ext cx="914400" cy="457200"/>
          </a:xfrm>
          <a:prstGeom prst="rect">
            <a:avLst/>
          </a:prstGeom>
          <a:noFill/>
          <a:ln/>
        </p:spPr>
        <p:txBody>
          <a:bodyPr wrap="square" lIns="0" tIns="0" rIns="0" bIns="0" rtlCol="0" anchor="t"/>
          <a:lstStyle/>
          <a:p>
            <a:pPr marL="0" indent="0">
              <a:buNone/>
            </a:pPr>
            <a:r>
              <a:rPr lang="en-US" sz="3200" b="1" dirty="0">
                <a:solidFill>
                  <a:srgbClr val="D49A00"/>
                </a:solidFill>
                <a:latin typeface="Calibri" pitchFamily="34" charset="0"/>
                <a:ea typeface="Calibri" pitchFamily="34" charset="-122"/>
                <a:cs typeface="Calibri" pitchFamily="34" charset="-120"/>
              </a:rPr>
              <a:t>02</a:t>
            </a:r>
            <a:endParaRPr lang="en-US" sz="3200" dirty="0"/>
          </a:p>
        </p:txBody>
      </p:sp>
      <p:sp>
        <p:nvSpPr>
          <p:cNvPr id="25" name="Shape 21"/>
          <p:cNvSpPr/>
          <p:nvPr/>
        </p:nvSpPr>
        <p:spPr>
          <a:xfrm>
            <a:off x="5221224" y="1796796"/>
            <a:ext cx="457200" cy="457200"/>
          </a:xfrm>
          <a:prstGeom prst="ellipse">
            <a:avLst/>
          </a:prstGeom>
          <a:solidFill>
            <a:srgbClr val="D49A00">
              <a:alpha val="22000"/>
            </a:srgbClr>
          </a:solidFill>
          <a:ln/>
        </p:spPr>
      </p:sp>
      <p:pic>
        <p:nvPicPr>
          <p:cNvPr id="26" name="Image 1" descr="preencoded.png"/>
          <p:cNvPicPr>
            <a:picLocks noChangeAspect="1"/>
          </p:cNvPicPr>
          <p:nvPr/>
        </p:nvPicPr>
        <p:blipFill>
          <a:blip r:embed="rId4"/>
          <a:stretch>
            <a:fillRect/>
          </a:stretch>
        </p:blipFill>
        <p:spPr>
          <a:xfrm>
            <a:off x="5330952" y="1906524"/>
            <a:ext cx="237744" cy="237744"/>
          </a:xfrm>
          <a:prstGeom prst="rect">
            <a:avLst/>
          </a:prstGeom>
        </p:spPr>
      </p:pic>
      <p:sp>
        <p:nvSpPr>
          <p:cNvPr id="27" name="Text 22"/>
          <p:cNvSpPr txBox="1"/>
          <p:nvPr/>
        </p:nvSpPr>
        <p:spPr>
          <a:xfrm>
            <a:off x="3392424" y="2299716"/>
            <a:ext cx="2286000" cy="45720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Construire la reproductibilité</a:t>
            </a:r>
            <a:endParaRPr lang="en-US" sz="1400" dirty="0"/>
          </a:p>
        </p:txBody>
      </p:sp>
      <p:sp>
        <p:nvSpPr>
          <p:cNvPr id="28" name="Text 23"/>
          <p:cNvSpPr txBox="1"/>
          <p:nvPr/>
        </p:nvSpPr>
        <p:spPr>
          <a:xfrm>
            <a:off x="3392424" y="2784348"/>
            <a:ext cx="2286000" cy="6400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Figer, contraindre, tester les répétitions, vérifier avant publication.</a:t>
            </a:r>
            <a:endParaRPr lang="en-US" sz="1050" dirty="0"/>
          </a:p>
        </p:txBody>
      </p:sp>
      <p:sp>
        <p:nvSpPr>
          <p:cNvPr id="29" name="Shape 24"/>
          <p:cNvSpPr/>
          <p:nvPr/>
        </p:nvSpPr>
        <p:spPr>
          <a:xfrm>
            <a:off x="5998464" y="1659636"/>
            <a:ext cx="2651760" cy="1874520"/>
          </a:xfrm>
          <a:prstGeom prst="roundRect">
            <a:avLst>
              <a:gd name="adj" fmla="val 3902"/>
            </a:avLst>
          </a:prstGeom>
          <a:solidFill>
            <a:srgbClr val="F4F7F5"/>
          </a:solidFill>
          <a:ln w="9525">
            <a:solidFill>
              <a:srgbClr val="D5DED9"/>
            </a:solidFill>
            <a:prstDash val="solid"/>
          </a:ln>
        </p:spPr>
      </p:sp>
      <p:sp>
        <p:nvSpPr>
          <p:cNvPr id="30" name="Text 25"/>
          <p:cNvSpPr txBox="1"/>
          <p:nvPr/>
        </p:nvSpPr>
        <p:spPr>
          <a:xfrm>
            <a:off x="6181344" y="1751076"/>
            <a:ext cx="914400" cy="457200"/>
          </a:xfrm>
          <a:prstGeom prst="rect">
            <a:avLst/>
          </a:prstGeom>
          <a:noFill/>
          <a:ln/>
        </p:spPr>
        <p:txBody>
          <a:bodyPr wrap="square" lIns="0" tIns="0" rIns="0" bIns="0" rtlCol="0" anchor="t"/>
          <a:lstStyle/>
          <a:p>
            <a:pPr marL="0" indent="0">
              <a:buNone/>
            </a:pPr>
            <a:r>
              <a:rPr lang="en-US" sz="3200" b="1" dirty="0">
                <a:solidFill>
                  <a:srgbClr val="C4621D"/>
                </a:solidFill>
                <a:latin typeface="Calibri" pitchFamily="34" charset="0"/>
                <a:ea typeface="Calibri" pitchFamily="34" charset="-122"/>
                <a:cs typeface="Calibri" pitchFamily="34" charset="-120"/>
              </a:rPr>
              <a:t>03</a:t>
            </a:r>
            <a:endParaRPr lang="en-US" sz="3200" dirty="0"/>
          </a:p>
        </p:txBody>
      </p:sp>
      <p:sp>
        <p:nvSpPr>
          <p:cNvPr id="31" name="Shape 26"/>
          <p:cNvSpPr/>
          <p:nvPr/>
        </p:nvSpPr>
        <p:spPr>
          <a:xfrm>
            <a:off x="8010144" y="1796796"/>
            <a:ext cx="457200" cy="457200"/>
          </a:xfrm>
          <a:prstGeom prst="ellipse">
            <a:avLst/>
          </a:prstGeom>
          <a:solidFill>
            <a:srgbClr val="C4621D">
              <a:alpha val="22000"/>
            </a:srgbClr>
          </a:solidFill>
          <a:ln/>
        </p:spPr>
      </p:sp>
      <p:pic>
        <p:nvPicPr>
          <p:cNvPr id="32" name="Image 2" descr="preencoded.png"/>
          <p:cNvPicPr>
            <a:picLocks noChangeAspect="1"/>
          </p:cNvPicPr>
          <p:nvPr/>
        </p:nvPicPr>
        <p:blipFill>
          <a:blip r:embed="rId5"/>
          <a:stretch>
            <a:fillRect/>
          </a:stretch>
        </p:blipFill>
        <p:spPr>
          <a:xfrm>
            <a:off x="8119872" y="1906524"/>
            <a:ext cx="237744" cy="237744"/>
          </a:xfrm>
          <a:prstGeom prst="rect">
            <a:avLst/>
          </a:prstGeom>
        </p:spPr>
      </p:pic>
      <p:sp>
        <p:nvSpPr>
          <p:cNvPr id="33" name="Text 27"/>
          <p:cNvSpPr txBox="1"/>
          <p:nvPr/>
        </p:nvSpPr>
        <p:spPr>
          <a:xfrm>
            <a:off x="6181344" y="2299716"/>
            <a:ext cx="2286000" cy="45720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Concevoir pour le coût</a:t>
            </a:r>
            <a:endParaRPr lang="en-US" sz="1400" dirty="0"/>
          </a:p>
        </p:txBody>
      </p:sp>
      <p:sp>
        <p:nvSpPr>
          <p:cNvPr id="34" name="Text 28"/>
          <p:cNvSpPr txBox="1"/>
          <p:nvPr/>
        </p:nvSpPr>
        <p:spPr>
          <a:xfrm>
            <a:off x="6181344" y="2784348"/>
            <a:ext cx="2286000" cy="6400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Structure du prompt, cache et lots peuvent diviser la facture par dix.</a:t>
            </a:r>
            <a:endParaRPr lang="en-US" sz="10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100584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DU BON À L’EXCELLENT</a:t>
            </a:r>
            <a:endParaRPr lang="en-US" sz="1050" dirty="0"/>
          </a:p>
        </p:txBody>
      </p:sp>
      <p:sp>
        <p:nvSpPr>
          <p:cNvPr id="4" name="Text 2"/>
          <p:cNvSpPr txBox="1"/>
          <p:nvPr/>
        </p:nvSpPr>
        <p:spPr>
          <a:xfrm>
            <a:off x="640080" y="1371600"/>
            <a:ext cx="5577840" cy="457200"/>
          </a:xfrm>
          <a:prstGeom prst="rect">
            <a:avLst/>
          </a:prstGeom>
          <a:noFill/>
          <a:ln/>
        </p:spPr>
        <p:txBody>
          <a:bodyPr wrap="square" lIns="0" tIns="0" rIns="0" bIns="0" rtlCol="0" anchor="t"/>
          <a:lstStyle/>
          <a:p>
            <a:pPr marL="0" indent="0">
              <a:buNone/>
            </a:pPr>
            <a:r>
              <a:rPr lang="en-US" sz="2600" b="1" dirty="0">
                <a:solidFill>
                  <a:srgbClr val="E6F6EE"/>
                </a:solidFill>
                <a:latin typeface="Calibri" pitchFamily="34" charset="0"/>
                <a:ea typeface="Calibri" pitchFamily="34" charset="-122"/>
                <a:cs typeface="Calibri" pitchFamily="34" charset="-120"/>
              </a:rPr>
              <a:t>Un bon prompt obtient une réponse.</a:t>
            </a:r>
            <a:endParaRPr lang="en-US" sz="2600" dirty="0"/>
          </a:p>
        </p:txBody>
      </p:sp>
      <p:sp>
        <p:nvSpPr>
          <p:cNvPr id="5" name="Text 3"/>
          <p:cNvSpPr txBox="1"/>
          <p:nvPr/>
        </p:nvSpPr>
        <p:spPr>
          <a:xfrm>
            <a:off x="640080" y="1874520"/>
            <a:ext cx="5486400" cy="91440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Un excellent prompt obtient une réponse défendable.</a:t>
            </a:r>
            <a:endParaRPr lang="en-US" sz="3000" dirty="0"/>
          </a:p>
        </p:txBody>
      </p:sp>
      <p:sp>
        <p:nvSpPr>
          <p:cNvPr id="6" name="Text 4"/>
          <p:cNvSpPr txBox="1"/>
          <p:nvPr/>
        </p:nvSpPr>
        <p:spPr>
          <a:xfrm>
            <a:off x="640080" y="3520440"/>
            <a:ext cx="5486400" cy="3657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Merci. Questions et échanges.</a:t>
            </a:r>
            <a:endParaRPr lang="en-US" sz="1800" dirty="0"/>
          </a:p>
        </p:txBody>
      </p:sp>
      <p:sp>
        <p:nvSpPr>
          <p:cNvPr id="7" name="Text 5"/>
          <p:cNvSpPr txBox="1"/>
          <p:nvPr/>
        </p:nvSpPr>
        <p:spPr>
          <a:xfrm>
            <a:off x="640080" y="4206240"/>
            <a:ext cx="5486400" cy="2286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Atelier technique STG17 · Enjeux émergents, pratiques émergentes</a:t>
            </a:r>
            <a:endParaRPr lang="en-US" sz="1050" dirty="0"/>
          </a:p>
        </p:txBody>
      </p:sp>
      <p:sp>
        <p:nvSpPr>
          <p:cNvPr id="8" name="Shape 6"/>
          <p:cNvSpPr/>
          <p:nvPr/>
        </p:nvSpPr>
        <p:spPr>
          <a:xfrm>
            <a:off x="6446520" y="1325880"/>
            <a:ext cx="2286000" cy="2286000"/>
          </a:xfrm>
          <a:prstGeom prst="ellipse">
            <a:avLst/>
          </a:prstGeom>
          <a:ln w="19050">
            <a:solidFill>
              <a:srgbClr val="FFFFFF">
                <a:alpha val="50000"/>
              </a:srgbClr>
            </a:solidFill>
            <a:prstDash val="solid"/>
          </a:ln>
        </p:spPr>
      </p:sp>
      <p:sp>
        <p:nvSpPr>
          <p:cNvPr id="9" name="Shape 7"/>
          <p:cNvSpPr/>
          <p:nvPr/>
        </p:nvSpPr>
        <p:spPr>
          <a:xfrm>
            <a:off x="6812280" y="1691640"/>
            <a:ext cx="1554480" cy="155448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78040" y="2057400"/>
            <a:ext cx="822960" cy="822960"/>
          </a:xfrm>
          <a:prstGeom prst="rect">
            <a:avLst/>
          </a:prstGeom>
        </p:spPr>
      </p:pic>
      <p:sp>
        <p:nvSpPr>
          <p:cNvPr id="11" name="Shape 8"/>
          <p:cNvSpPr/>
          <p:nvPr/>
        </p:nvSpPr>
        <p:spPr>
          <a:xfrm>
            <a:off x="7635240" y="365760"/>
            <a:ext cx="100584" cy="100584"/>
          </a:xfrm>
          <a:prstGeom prst="ellipse">
            <a:avLst/>
          </a:prstGeom>
          <a:solidFill>
            <a:srgbClr val="FFFFFF">
              <a:alpha val="40000"/>
            </a:srgbClr>
          </a:solidFill>
          <a:ln/>
        </p:spPr>
      </p:sp>
      <p:sp>
        <p:nvSpPr>
          <p:cNvPr id="12" name="Shape 9"/>
          <p:cNvSpPr/>
          <p:nvPr/>
        </p:nvSpPr>
        <p:spPr>
          <a:xfrm>
            <a:off x="7818120" y="365760"/>
            <a:ext cx="100584" cy="100584"/>
          </a:xfrm>
          <a:prstGeom prst="ellipse">
            <a:avLst/>
          </a:prstGeom>
          <a:solidFill>
            <a:srgbClr val="FFFFFF">
              <a:alpha val="40000"/>
            </a:srgbClr>
          </a:solidFill>
          <a:ln/>
        </p:spPr>
      </p:sp>
      <p:sp>
        <p:nvSpPr>
          <p:cNvPr id="13" name="Shape 10"/>
          <p:cNvSpPr/>
          <p:nvPr/>
        </p:nvSpPr>
        <p:spPr>
          <a:xfrm>
            <a:off x="8001000" y="365760"/>
            <a:ext cx="100584" cy="100584"/>
          </a:xfrm>
          <a:prstGeom prst="ellipse">
            <a:avLst/>
          </a:prstGeom>
          <a:solidFill>
            <a:srgbClr val="FFFFFF">
              <a:alpha val="40000"/>
            </a:srgbClr>
          </a:solidFill>
          <a:ln/>
        </p:spPr>
      </p:sp>
      <p:sp>
        <p:nvSpPr>
          <p:cNvPr id="14" name="Shape 11"/>
          <p:cNvSpPr/>
          <p:nvPr/>
        </p:nvSpPr>
        <p:spPr>
          <a:xfrm>
            <a:off x="8183880" y="365760"/>
            <a:ext cx="100584" cy="100584"/>
          </a:xfrm>
          <a:prstGeom prst="ellipse">
            <a:avLst/>
          </a:prstGeom>
          <a:solidFill>
            <a:srgbClr val="FFFFFF">
              <a:alpha val="40000"/>
            </a:srgbClr>
          </a:solidFill>
          <a:ln/>
        </p:spPr>
      </p:sp>
      <p:sp>
        <p:nvSpPr>
          <p:cNvPr id="15" name="Shape 12"/>
          <p:cNvSpPr/>
          <p:nvPr/>
        </p:nvSpPr>
        <p:spPr>
          <a:xfrm>
            <a:off x="8366760" y="365760"/>
            <a:ext cx="100584" cy="100584"/>
          </a:xfrm>
          <a:prstGeom prst="ellipse">
            <a:avLst/>
          </a:prstGeom>
          <a:solidFill>
            <a:srgbClr val="FFFFFF">
              <a:alpha val="40000"/>
            </a:srgbClr>
          </a:solidFill>
          <a:ln/>
        </p:spPr>
      </p:sp>
      <p:sp>
        <p:nvSpPr>
          <p:cNvPr id="16" name="Shape 13"/>
          <p:cNvSpPr/>
          <p:nvPr/>
        </p:nvSpPr>
        <p:spPr>
          <a:xfrm>
            <a:off x="8549640" y="365760"/>
            <a:ext cx="100584" cy="100584"/>
          </a:xfrm>
          <a:prstGeom prst="ellipse">
            <a:avLst/>
          </a:prstGeom>
          <a:solidFill>
            <a:srgbClr val="FFFFFF">
              <a:alpha val="40000"/>
            </a:srgbClr>
          </a:solidFill>
          <a:ln/>
        </p:spPr>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Du bon à l’excellent · Optimisation des prompts  |  Atelier technique STG17</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457200" cy="45720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566928" y="1435608"/>
            <a:ext cx="237744" cy="237744"/>
          </a:xfrm>
          <a:prstGeom prst="rect">
            <a:avLst/>
          </a:prstGeom>
        </p:spPr>
      </p:pic>
      <p:sp>
        <p:nvSpPr>
          <p:cNvPr id="19" name="Shape 15"/>
          <p:cNvSpPr/>
          <p:nvPr/>
        </p:nvSpPr>
        <p:spPr>
          <a:xfrm>
            <a:off x="1097280" y="1389888"/>
            <a:ext cx="1234440" cy="219456"/>
          </a:xfrm>
          <a:prstGeom prst="roundRect">
            <a:avLst>
              <a:gd name="adj" fmla="val 54167"/>
            </a:avLst>
          </a:prstGeom>
          <a:solidFill>
            <a:srgbClr val="00A86A">
              <a:alpha val="15000"/>
            </a:srgbClr>
          </a:solidFill>
          <a:ln w="9525">
            <a:solidFill>
              <a:srgbClr val="00A86A"/>
            </a:solidFill>
            <a:prstDash val="solid"/>
          </a:ln>
        </p:spPr>
      </p:sp>
      <p:sp>
        <p:nvSpPr>
          <p:cNvPr id="20" name="Text 16"/>
          <p:cNvSpPr txBox="1"/>
          <p:nvPr/>
        </p:nvSpPr>
        <p:spPr>
          <a:xfrm>
            <a:off x="1097280" y="1389888"/>
            <a:ext cx="1234440"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ATELIER</a:t>
            </a:r>
            <a:endParaRPr lang="en-US" sz="900" dirty="0"/>
          </a:p>
        </p:txBody>
      </p:sp>
      <p:sp>
        <p:nvSpPr>
          <p:cNvPr id="21" name="Text 17"/>
          <p:cNvSpPr txBox="1"/>
          <p:nvPr/>
        </p:nvSpPr>
        <p:spPr>
          <a:xfrm>
            <a:off x="2468880" y="1325880"/>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Programme de l’atelier STG17, « Enjeux émergents, pratiques émergentes : innover dans la chaîne de valeur des données », version du 01/09/2026. BAD, UA STATAFRIC, NISR.</a:t>
            </a:r>
            <a:endParaRPr lang="en-US" sz="1000" dirty="0"/>
          </a:p>
        </p:txBody>
      </p:sp>
      <p:sp>
        <p:nvSpPr>
          <p:cNvPr id="22" name="Shape 18"/>
          <p:cNvSpPr/>
          <p:nvPr/>
        </p:nvSpPr>
        <p:spPr>
          <a:xfrm>
            <a:off x="1097280" y="1792224"/>
            <a:ext cx="1234440" cy="219456"/>
          </a:xfrm>
          <a:prstGeom prst="roundRect">
            <a:avLst>
              <a:gd name="adj" fmla="val 54167"/>
            </a:avLst>
          </a:prstGeom>
          <a:solidFill>
            <a:srgbClr val="00704A">
              <a:alpha val="15000"/>
            </a:srgbClr>
          </a:solidFill>
          <a:ln w="9525">
            <a:solidFill>
              <a:srgbClr val="00704A"/>
            </a:solidFill>
            <a:prstDash val="solid"/>
          </a:ln>
        </p:spPr>
      </p:sp>
      <p:sp>
        <p:nvSpPr>
          <p:cNvPr id="23" name="Text 19"/>
          <p:cNvSpPr txBox="1"/>
          <p:nvPr/>
        </p:nvSpPr>
        <p:spPr>
          <a:xfrm>
            <a:off x="1097280" y="1792224"/>
            <a:ext cx="1234440" cy="219456"/>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PRINCIPES</a:t>
            </a:r>
            <a:endParaRPr lang="en-US" sz="900" dirty="0"/>
          </a:p>
        </p:txBody>
      </p:sp>
      <p:sp>
        <p:nvSpPr>
          <p:cNvPr id="24" name="Text 20"/>
          <p:cNvSpPr txBox="1"/>
          <p:nvPr/>
        </p:nvSpPr>
        <p:spPr>
          <a:xfrm>
            <a:off x="2468880" y="1728216"/>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Assemblée générale des Nations Unies (2014). Résolution 68/261, Principes fondamentaux de la statistique officielle.</a:t>
            </a:r>
            <a:endParaRPr lang="en-US" sz="1000" dirty="0"/>
          </a:p>
        </p:txBody>
      </p:sp>
      <p:sp>
        <p:nvSpPr>
          <p:cNvPr id="25" name="Shape 21"/>
          <p:cNvSpPr/>
          <p:nvPr/>
        </p:nvSpPr>
        <p:spPr>
          <a:xfrm>
            <a:off x="1097280" y="2194560"/>
            <a:ext cx="1234440" cy="219456"/>
          </a:xfrm>
          <a:prstGeom prst="roundRect">
            <a:avLst>
              <a:gd name="adj" fmla="val 54167"/>
            </a:avLst>
          </a:prstGeom>
          <a:solidFill>
            <a:srgbClr val="0E7C86">
              <a:alpha val="15000"/>
            </a:srgbClr>
          </a:solidFill>
          <a:ln w="9525">
            <a:solidFill>
              <a:srgbClr val="0E7C86"/>
            </a:solidFill>
            <a:prstDash val="solid"/>
          </a:ln>
        </p:spPr>
      </p:sp>
      <p:sp>
        <p:nvSpPr>
          <p:cNvPr id="26" name="Text 22"/>
          <p:cNvSpPr txBox="1"/>
          <p:nvPr/>
        </p:nvSpPr>
        <p:spPr>
          <a:xfrm>
            <a:off x="1097280" y="2194560"/>
            <a:ext cx="1234440" cy="219456"/>
          </a:xfrm>
          <a:prstGeom prst="rect">
            <a:avLst/>
          </a:prstGeom>
          <a:noFill/>
          <a:ln/>
        </p:spPr>
        <p:txBody>
          <a:bodyPr wrap="square" lIns="0" tIns="0" rIns="0" bIns="0" rtlCol="0" anchor="ctr"/>
          <a:lstStyle/>
          <a:p>
            <a:pPr marL="0" indent="0" algn="ctr">
              <a:buNone/>
            </a:pPr>
            <a:r>
              <a:rPr lang="en-US" sz="900" b="1" kern="0" spc="100" dirty="0">
                <a:solidFill>
                  <a:srgbClr val="0E7C86"/>
                </a:solidFill>
                <a:latin typeface="Calibri" pitchFamily="34" charset="0"/>
                <a:ea typeface="Calibri" pitchFamily="34" charset="-122"/>
                <a:cs typeface="Calibri" pitchFamily="34" charset="-120"/>
              </a:rPr>
              <a:t>CLASSIFICATION</a:t>
            </a:r>
            <a:endParaRPr lang="en-US" sz="900" dirty="0"/>
          </a:p>
        </p:txBody>
      </p:sp>
      <p:sp>
        <p:nvSpPr>
          <p:cNvPr id="27" name="Text 23"/>
          <p:cNvSpPr txBox="1"/>
          <p:nvPr/>
        </p:nvSpPr>
        <p:spPr>
          <a:xfrm>
            <a:off x="2468880" y="2130552"/>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Organisation internationale du Travail (2012). Classification internationale type des professions, CITP-08.</a:t>
            </a:r>
            <a:endParaRPr lang="en-US" sz="1000" dirty="0"/>
          </a:p>
        </p:txBody>
      </p:sp>
      <p:sp>
        <p:nvSpPr>
          <p:cNvPr id="28" name="Shape 24"/>
          <p:cNvSpPr/>
          <p:nvPr/>
        </p:nvSpPr>
        <p:spPr>
          <a:xfrm>
            <a:off x="1097280" y="2596896"/>
            <a:ext cx="1234440" cy="219456"/>
          </a:xfrm>
          <a:prstGeom prst="roundRect">
            <a:avLst>
              <a:gd name="adj" fmla="val 54167"/>
            </a:avLst>
          </a:prstGeom>
          <a:solidFill>
            <a:srgbClr val="D49A00">
              <a:alpha val="15000"/>
            </a:srgbClr>
          </a:solidFill>
          <a:ln w="9525">
            <a:solidFill>
              <a:srgbClr val="D49A00"/>
            </a:solidFill>
            <a:prstDash val="solid"/>
          </a:ln>
        </p:spPr>
      </p:sp>
      <p:sp>
        <p:nvSpPr>
          <p:cNvPr id="29" name="Text 25"/>
          <p:cNvSpPr txBox="1"/>
          <p:nvPr/>
        </p:nvSpPr>
        <p:spPr>
          <a:xfrm>
            <a:off x="1097280" y="2596896"/>
            <a:ext cx="1234440" cy="219456"/>
          </a:xfrm>
          <a:prstGeom prst="rect">
            <a:avLst/>
          </a:prstGeom>
          <a:noFill/>
          <a:ln/>
        </p:spPr>
        <p:txBody>
          <a:bodyPr wrap="square" lIns="0" tIns="0" rIns="0" bIns="0" rtlCol="0" anchor="ctr"/>
          <a:lstStyle/>
          <a:p>
            <a:pPr marL="0" indent="0" algn="ctr">
              <a:buNone/>
            </a:pPr>
            <a:r>
              <a:rPr lang="en-US" sz="900" b="1" kern="0" spc="100" dirty="0">
                <a:solidFill>
                  <a:srgbClr val="D49A00"/>
                </a:solidFill>
                <a:latin typeface="Calibri" pitchFamily="34" charset="0"/>
                <a:ea typeface="Calibri" pitchFamily="34" charset="-122"/>
                <a:cs typeface="Calibri" pitchFamily="34" charset="-120"/>
              </a:rPr>
              <a:t>JUGES LLM</a:t>
            </a:r>
            <a:endParaRPr lang="en-US" sz="900" dirty="0"/>
          </a:p>
        </p:txBody>
      </p:sp>
      <p:sp>
        <p:nvSpPr>
          <p:cNvPr id="30" name="Text 26"/>
          <p:cNvSpPr txBox="1"/>
          <p:nvPr/>
        </p:nvSpPr>
        <p:spPr>
          <a:xfrm>
            <a:off x="2468880" y="2532888"/>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Zheng, L. et al. (2023). Judging LLM-as-a-Judge with MT-Bench and Chatbot Arena. NeurIPS Datasets and Benchmarks Track.</a:t>
            </a:r>
            <a:endParaRPr lang="en-US" sz="1000" dirty="0"/>
          </a:p>
        </p:txBody>
      </p:sp>
      <p:sp>
        <p:nvSpPr>
          <p:cNvPr id="31" name="Shape 27"/>
          <p:cNvSpPr/>
          <p:nvPr/>
        </p:nvSpPr>
        <p:spPr>
          <a:xfrm>
            <a:off x="1097280" y="2999232"/>
            <a:ext cx="1234440" cy="219456"/>
          </a:xfrm>
          <a:prstGeom prst="roundRect">
            <a:avLst>
              <a:gd name="adj" fmla="val 54167"/>
            </a:avLst>
          </a:prstGeom>
          <a:solidFill>
            <a:srgbClr val="C4621D">
              <a:alpha val="15000"/>
            </a:srgbClr>
          </a:solidFill>
          <a:ln w="9525">
            <a:solidFill>
              <a:srgbClr val="C4621D"/>
            </a:solidFill>
            <a:prstDash val="solid"/>
          </a:ln>
        </p:spPr>
      </p:sp>
      <p:sp>
        <p:nvSpPr>
          <p:cNvPr id="32" name="Text 28"/>
          <p:cNvSpPr txBox="1"/>
          <p:nvPr/>
        </p:nvSpPr>
        <p:spPr>
          <a:xfrm>
            <a:off x="1097280" y="2999232"/>
            <a:ext cx="1234440" cy="219456"/>
          </a:xfrm>
          <a:prstGeom prst="rect">
            <a:avLst/>
          </a:prstGeom>
          <a:noFill/>
          <a:ln/>
        </p:spPr>
        <p:txBody>
          <a:bodyPr wrap="square" lIns="0" tIns="0" rIns="0" bIns="0" rtlCol="0" anchor="ctr"/>
          <a:lstStyle/>
          <a:p>
            <a:pPr marL="0" indent="0" algn="ctr">
              <a:buNone/>
            </a:pPr>
            <a:r>
              <a:rPr lang="en-US" sz="900" b="1" kern="0" spc="100" dirty="0">
                <a:solidFill>
                  <a:srgbClr val="C4621D"/>
                </a:solidFill>
                <a:latin typeface="Calibri" pitchFamily="34" charset="0"/>
                <a:ea typeface="Calibri" pitchFamily="34" charset="-122"/>
                <a:cs typeface="Calibri" pitchFamily="34" charset="-120"/>
              </a:rPr>
              <a:t>VARIANCE</a:t>
            </a:r>
            <a:endParaRPr lang="en-US" sz="900" dirty="0"/>
          </a:p>
        </p:txBody>
      </p:sp>
      <p:sp>
        <p:nvSpPr>
          <p:cNvPr id="33" name="Text 29"/>
          <p:cNvSpPr txBox="1"/>
          <p:nvPr/>
        </p:nvSpPr>
        <p:spPr>
          <a:xfrm>
            <a:off x="2468880" y="2935224"/>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Wang, X. et al. (2022). Self-Consistency Improves Chain of Thought Reasoning in Language Models. arXiv:2203.11171 (ICLR 2023).</a:t>
            </a:r>
            <a:endParaRPr lang="en-US" sz="1000" dirty="0"/>
          </a:p>
        </p:txBody>
      </p:sp>
      <p:sp>
        <p:nvSpPr>
          <p:cNvPr id="34" name="Shape 30"/>
          <p:cNvSpPr/>
          <p:nvPr/>
        </p:nvSpPr>
        <p:spPr>
          <a:xfrm>
            <a:off x="1097280" y="3401568"/>
            <a:ext cx="1234440" cy="219456"/>
          </a:xfrm>
          <a:prstGeom prst="roundRect">
            <a:avLst>
              <a:gd name="adj" fmla="val 54167"/>
            </a:avLst>
          </a:prstGeom>
          <a:solidFill>
            <a:srgbClr val="B83B2E">
              <a:alpha val="15000"/>
            </a:srgbClr>
          </a:solidFill>
          <a:ln w="9525">
            <a:solidFill>
              <a:srgbClr val="B83B2E"/>
            </a:solidFill>
            <a:prstDash val="solid"/>
          </a:ln>
        </p:spPr>
      </p:sp>
      <p:sp>
        <p:nvSpPr>
          <p:cNvPr id="35" name="Text 31"/>
          <p:cNvSpPr txBox="1"/>
          <p:nvPr/>
        </p:nvSpPr>
        <p:spPr>
          <a:xfrm>
            <a:off x="1097280" y="3401568"/>
            <a:ext cx="1234440" cy="219456"/>
          </a:xfrm>
          <a:prstGeom prst="rect">
            <a:avLst/>
          </a:prstGeom>
          <a:noFill/>
          <a:ln/>
        </p:spPr>
        <p:txBody>
          <a:bodyPr wrap="square" lIns="0" tIns="0" rIns="0" bIns="0" rtlCol="0" anchor="ctr"/>
          <a:lstStyle/>
          <a:p>
            <a:pPr marL="0" indent="0" algn="ctr">
              <a:buNone/>
            </a:pPr>
            <a:r>
              <a:rPr lang="en-US" sz="900" b="1" kern="0" spc="100" dirty="0">
                <a:solidFill>
                  <a:srgbClr val="B83B2E"/>
                </a:solidFill>
                <a:latin typeface="Calibri" pitchFamily="34" charset="0"/>
                <a:ea typeface="Calibri" pitchFamily="34" charset="-122"/>
                <a:cs typeface="Calibri" pitchFamily="34" charset="-120"/>
              </a:rPr>
              <a:t>JETONS</a:t>
            </a:r>
            <a:endParaRPr lang="en-US" sz="900" dirty="0"/>
          </a:p>
        </p:txBody>
      </p:sp>
      <p:sp>
        <p:nvSpPr>
          <p:cNvPr id="36" name="Text 32"/>
          <p:cNvSpPr txBox="1"/>
          <p:nvPr/>
        </p:nvSpPr>
        <p:spPr>
          <a:xfrm>
            <a:off x="2468880" y="3337560"/>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OpenAI Help Center. What are tokens and how to count them?</a:t>
            </a:r>
            <a:endParaRPr lang="en-US" sz="1000" dirty="0"/>
          </a:p>
        </p:txBody>
      </p:sp>
      <p:sp>
        <p:nvSpPr>
          <p:cNvPr id="37" name="Shape 33"/>
          <p:cNvSpPr/>
          <p:nvPr/>
        </p:nvSpPr>
        <p:spPr>
          <a:xfrm>
            <a:off x="1097280" y="3803904"/>
            <a:ext cx="1234440" cy="219456"/>
          </a:xfrm>
          <a:prstGeom prst="roundRect">
            <a:avLst>
              <a:gd name="adj" fmla="val 54167"/>
            </a:avLst>
          </a:prstGeom>
          <a:solidFill>
            <a:srgbClr val="00A86A">
              <a:alpha val="15000"/>
            </a:srgbClr>
          </a:solidFill>
          <a:ln w="9525">
            <a:solidFill>
              <a:srgbClr val="00A86A"/>
            </a:solidFill>
            <a:prstDash val="solid"/>
          </a:ln>
        </p:spPr>
      </p:sp>
      <p:sp>
        <p:nvSpPr>
          <p:cNvPr id="38" name="Text 34"/>
          <p:cNvSpPr txBox="1"/>
          <p:nvPr/>
        </p:nvSpPr>
        <p:spPr>
          <a:xfrm>
            <a:off x="1097280" y="3803904"/>
            <a:ext cx="1234440"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LANGUES</a:t>
            </a:r>
            <a:endParaRPr lang="en-US" sz="900" dirty="0"/>
          </a:p>
        </p:txBody>
      </p:sp>
      <p:sp>
        <p:nvSpPr>
          <p:cNvPr id="39" name="Text 35"/>
          <p:cNvSpPr txBox="1"/>
          <p:nvPr/>
        </p:nvSpPr>
        <p:spPr>
          <a:xfrm>
            <a:off x="2468880" y="3739896"/>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Petrov, A. et al. (2023). Language Model Tokenizers Introduce Unfairness Between Languages. NeurIPS 2023.</a:t>
            </a:r>
            <a:endParaRPr lang="en-US" sz="1000" dirty="0"/>
          </a:p>
        </p:txBody>
      </p:sp>
      <p:sp>
        <p:nvSpPr>
          <p:cNvPr id="40" name="Shape 36"/>
          <p:cNvSpPr/>
          <p:nvPr/>
        </p:nvSpPr>
        <p:spPr>
          <a:xfrm>
            <a:off x="1097280" y="4206240"/>
            <a:ext cx="1234440" cy="219456"/>
          </a:xfrm>
          <a:prstGeom prst="roundRect">
            <a:avLst>
              <a:gd name="adj" fmla="val 54167"/>
            </a:avLst>
          </a:prstGeom>
          <a:solidFill>
            <a:srgbClr val="00704A">
              <a:alpha val="15000"/>
            </a:srgbClr>
          </a:solidFill>
          <a:ln w="9525">
            <a:solidFill>
              <a:srgbClr val="00704A"/>
            </a:solidFill>
            <a:prstDash val="solid"/>
          </a:ln>
        </p:spPr>
      </p:sp>
      <p:sp>
        <p:nvSpPr>
          <p:cNvPr id="41" name="Text 37"/>
          <p:cNvSpPr txBox="1"/>
          <p:nvPr/>
        </p:nvSpPr>
        <p:spPr>
          <a:xfrm>
            <a:off x="1097280" y="4206240"/>
            <a:ext cx="1234440" cy="219456"/>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CONTEXTE</a:t>
            </a:r>
            <a:endParaRPr lang="en-US" sz="900" dirty="0"/>
          </a:p>
        </p:txBody>
      </p:sp>
      <p:sp>
        <p:nvSpPr>
          <p:cNvPr id="42" name="Text 38"/>
          <p:cNvSpPr txBox="1"/>
          <p:nvPr/>
        </p:nvSpPr>
        <p:spPr>
          <a:xfrm>
            <a:off x="2468880" y="4142232"/>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Liu, N. F. et al. (2023). Lost in the Middle: How Language Models Use Long Contexts. Transactions of the ACL, 12 (2024).</a:t>
            </a:r>
            <a:endParaRPr lang="en-US" sz="1000" dirty="0"/>
          </a:p>
        </p:txBody>
      </p:sp>
      <p:sp>
        <p:nvSpPr>
          <p:cNvPr id="43" name="Text 39"/>
          <p:cNvSpPr txBox="1"/>
          <p:nvPr/>
        </p:nvSpPr>
        <p:spPr>
          <a:xfrm>
            <a:off x="457200" y="457200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Les chiffres signalés « illustratif » ou « schéma » sont des exemples pédagogiques, pas des résultats mesurés.</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6299</Words>
  <Application>Microsoft Office PowerPoint</Application>
  <PresentationFormat>On-screen Show (16:9)</PresentationFormat>
  <Paragraphs>646</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 bon à l’excellent : optimiser les prompts en statistique officielle</dc:title>
  <dc:subject>PptxGenJS Presentation</dc:subject>
  <dc:creator>Secrétariat du STG17 · Banque africaine de développement</dc:creator>
  <cp:lastModifiedBy>HADJ TAIEB, MOHAMED ALI</cp:lastModifiedBy>
  <cp:revision>4</cp:revision>
  <dcterms:created xsi:type="dcterms:W3CDTF">2026-09-16T10:05:35Z</dcterms:created>
  <dcterms:modified xsi:type="dcterms:W3CDTF">2026-09-25T10:39:00Z</dcterms:modified>
</cp:coreProperties>
</file>