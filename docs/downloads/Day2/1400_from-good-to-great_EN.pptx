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4" r:id="rId28"/>
    <p:sldId id="285" r:id="rId29"/>
    <p:sldId id="286" r:id="rId30"/>
    <p:sldId id="287"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Occupation coding, 50-case set (illustrative)</a:t>
            </a:r>
          </a:p>
        </c:rich>
      </c:tx>
      <c:overlay val="0"/>
    </c:title>
    <c:autoTitleDeleted val="0"/>
    <c:plotArea>
      <c:layout/>
      <c:barChart>
        <c:barDir val="col"/>
        <c:grouping val="clustered"/>
        <c:varyColors val="0"/>
        <c:ser>
          <c:idx val="0"/>
          <c:order val="0"/>
          <c:tx>
            <c:strRef>
              <c:f>Sheet1!$B$1</c:f>
              <c:strCache>
                <c:ptCount val="1"/>
                <c:pt idx="0">
                  <c:v>Coding accuracy (%)</c:v>
                </c:pt>
              </c:strCache>
            </c:strRef>
          </c:tx>
          <c:spPr>
            <a:solidFill>
              <a:srgbClr val="00704A"/>
            </a:solidFill>
            <a:effectLst/>
          </c:spPr>
          <c:invertIfNegative val="0"/>
          <c:dLbls>
            <c:numFmt formatCode="#,##0" sourceLinked="0"/>
            <c:spPr>
              <a:noFill/>
              <a:ln>
                <a:noFill/>
              </a:ln>
              <a:effectLst/>
            </c:spPr>
            <c:txPr>
              <a:bodyPr/>
              <a:lstStyle/>
              <a:p>
                <a:pPr>
                  <a:defRPr sz="9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v0</c:v>
                </c:pt>
                <c:pt idx="1">
                  <c:v>v1</c:v>
                </c:pt>
                <c:pt idx="2">
                  <c:v>v2</c:v>
                </c:pt>
                <c:pt idx="3">
                  <c:v>v2b</c:v>
                </c:pt>
                <c:pt idx="4">
                  <c:v>v3</c:v>
                </c:pt>
                <c:pt idx="5">
                  <c:v>v4</c:v>
                </c:pt>
              </c:strCache>
            </c:strRef>
          </c:cat>
          <c:val>
            <c:numRef>
              <c:f>Sheet1!$B$2:$B$7</c:f>
              <c:numCache>
                <c:formatCode>General</c:formatCode>
                <c:ptCount val="6"/>
                <c:pt idx="0">
                  <c:v>62</c:v>
                </c:pt>
                <c:pt idx="1">
                  <c:v>71</c:v>
                </c:pt>
                <c:pt idx="2">
                  <c:v>80</c:v>
                </c:pt>
                <c:pt idx="3">
                  <c:v>76</c:v>
                </c:pt>
                <c:pt idx="4">
                  <c:v>84</c:v>
                </c:pt>
                <c:pt idx="5">
                  <c:v>88</c:v>
                </c:pt>
              </c:numCache>
            </c:numRef>
          </c:val>
          <c:extLst>
            <c:ext xmlns:c16="http://schemas.microsoft.com/office/drawing/2014/chart" uri="{C3380CC4-5D6E-409C-BE32-E72D297353CC}">
              <c16:uniqueId val="{00000000-2C3B-41D8-AC7D-9545ABBE4010}"/>
            </c:ext>
          </c:extLst>
        </c:ser>
        <c:ser>
          <c:idx val="1"/>
          <c:order val="1"/>
          <c:tx>
            <c:strRef>
              <c:f>Sheet1!$C$1</c:f>
              <c:strCache>
                <c:ptCount val="1"/>
                <c:pt idx="0">
                  <c:v>Valid JSON (%)</c:v>
                </c:pt>
              </c:strCache>
            </c:strRef>
          </c:tx>
          <c:spPr>
            <a:solidFill>
              <a:srgbClr val="9ED9C0"/>
            </a:solidFill>
            <a:effectLst/>
          </c:spPr>
          <c:invertIfNegative val="0"/>
          <c:dLbls>
            <c:numFmt formatCode="#,##0" sourceLinked="0"/>
            <c:spPr>
              <a:noFill/>
              <a:ln>
                <a:noFill/>
              </a:ln>
              <a:effectLst/>
            </c:spPr>
            <c:txPr>
              <a:bodyPr/>
              <a:lstStyle/>
              <a:p>
                <a:pPr>
                  <a:defRPr sz="9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v0</c:v>
                </c:pt>
                <c:pt idx="1">
                  <c:v>v1</c:v>
                </c:pt>
                <c:pt idx="2">
                  <c:v>v2</c:v>
                </c:pt>
                <c:pt idx="3">
                  <c:v>v2b</c:v>
                </c:pt>
                <c:pt idx="4">
                  <c:v>v3</c:v>
                </c:pt>
                <c:pt idx="5">
                  <c:v>v4</c:v>
                </c:pt>
              </c:strCache>
            </c:strRef>
          </c:cat>
          <c:val>
            <c:numRef>
              <c:f>Sheet1!$C$2:$C$7</c:f>
              <c:numCache>
                <c:formatCode>General</c:formatCode>
                <c:ptCount val="6"/>
                <c:pt idx="0">
                  <c:v>81</c:v>
                </c:pt>
                <c:pt idx="1">
                  <c:v>83</c:v>
                </c:pt>
                <c:pt idx="2">
                  <c:v>85</c:v>
                </c:pt>
                <c:pt idx="3">
                  <c:v>85</c:v>
                </c:pt>
                <c:pt idx="4">
                  <c:v>100</c:v>
                </c:pt>
                <c:pt idx="5">
                  <c:v>100</c:v>
                </c:pt>
              </c:numCache>
            </c:numRef>
          </c:val>
          <c:extLst>
            <c:ext xmlns:c16="http://schemas.microsoft.com/office/drawing/2014/chart" uri="{C3380CC4-5D6E-409C-BE32-E72D297353CC}">
              <c16:uniqueId val="{00000001-2C3B-41D8-AC7D-9545ABBE401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964"/>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10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lang="en-US" sz="1200" b="0" i="0" u="none" strike="noStrike">
                <a:solidFill>
                  <a:srgbClr val="231F20"/>
                </a:solidFill>
                <a:latin typeface="Calibri"/>
              </a:rPr>
              <a:t>Cost to code 100,000 descriptions (illustrative prices)</a:t>
            </a:r>
          </a:p>
        </c:rich>
      </c:tx>
      <c:overlay val="0"/>
    </c:title>
    <c:autoTitleDeleted val="0"/>
    <c:plotArea>
      <c:layout/>
      <c:barChart>
        <c:barDir val="bar"/>
        <c:grouping val="clustered"/>
        <c:varyColors val="0"/>
        <c:ser>
          <c:idx val="0"/>
          <c:order val="0"/>
          <c:tx>
            <c:strRef>
              <c:f>Sheet1!$B$1</c:f>
              <c:strCache>
                <c:ptCount val="1"/>
                <c:pt idx="0">
                  <c:v>Total cost (USD)</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2477-46EA-BF69-DCF6AC6D43AF}"/>
              </c:ext>
            </c:extLst>
          </c:dPt>
          <c:dPt>
            <c:idx val="1"/>
            <c:invertIfNegative val="0"/>
            <c:bubble3D val="0"/>
            <c:spPr>
              <a:solidFill>
                <a:srgbClr val="57BD92"/>
              </a:solidFill>
              <a:effectLst/>
            </c:spPr>
            <c:extLst>
              <c:ext xmlns:c16="http://schemas.microsoft.com/office/drawing/2014/chart" uri="{C3380CC4-5D6E-409C-BE32-E72D297353CC}">
                <c16:uniqueId val="{00000003-2477-46EA-BF69-DCF6AC6D43AF}"/>
              </c:ext>
            </c:extLst>
          </c:dPt>
          <c:dPt>
            <c:idx val="2"/>
            <c:invertIfNegative val="0"/>
            <c:bubble3D val="0"/>
            <c:spPr>
              <a:solidFill>
                <a:srgbClr val="10A06A"/>
              </a:solidFill>
              <a:effectLst/>
            </c:spPr>
            <c:extLst>
              <c:ext xmlns:c16="http://schemas.microsoft.com/office/drawing/2014/chart" uri="{C3380CC4-5D6E-409C-BE32-E72D297353CC}">
                <c16:uniqueId val="{00000005-2477-46EA-BF69-DCF6AC6D43AF}"/>
              </c:ext>
            </c:extLst>
          </c:dPt>
          <c:dPt>
            <c:idx val="3"/>
            <c:invertIfNegative val="0"/>
            <c:bubble3D val="0"/>
            <c:spPr>
              <a:solidFill>
                <a:srgbClr val="00664A"/>
              </a:solidFill>
              <a:effectLst/>
            </c:spPr>
            <c:extLst>
              <c:ext xmlns:c16="http://schemas.microsoft.com/office/drawing/2014/chart" uri="{C3380CC4-5D6E-409C-BE32-E72D297353CC}">
                <c16:uniqueId val="{00000007-2477-46EA-BF69-DCF6AC6D43AF}"/>
              </c:ext>
            </c:extLst>
          </c:dPt>
          <c:dLbls>
            <c:numFmt formatCode="\$#,##0.00" sourceLinked="0"/>
            <c:spPr>
              <a:noFill/>
              <a:ln>
                <a:noFill/>
              </a:ln>
              <a:effectLst/>
            </c:spPr>
            <c:txPr>
              <a:bodyPr/>
              <a:lstStyle/>
              <a:p>
                <a:pPr>
                  <a:defRPr sz="110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Baseline</c:v>
                </c:pt>
                <c:pt idx="1">
                  <c:v>+ Prompt caching</c:v>
                </c:pt>
                <c:pt idx="2">
                  <c:v>+ Batching (20 per call)</c:v>
                </c:pt>
                <c:pt idx="3">
                  <c:v>Caching + batching</c:v>
                </c:pt>
              </c:strCache>
            </c:strRef>
          </c:cat>
          <c:val>
            <c:numRef>
              <c:f>Sheet1!$B$2:$B$5</c:f>
              <c:numCache>
                <c:formatCode>General</c:formatCode>
                <c:ptCount val="4"/>
                <c:pt idx="0">
                  <c:v>133.5</c:v>
                </c:pt>
                <c:pt idx="1">
                  <c:v>21</c:v>
                </c:pt>
                <c:pt idx="2">
                  <c:v>14.75</c:v>
                </c:pt>
                <c:pt idx="3">
                  <c:v>9.1300000000000008</c:v>
                </c:pt>
              </c:numCache>
            </c:numRef>
          </c:val>
          <c:extLst>
            <c:ext xmlns:c16="http://schemas.microsoft.com/office/drawing/2014/chart" uri="{C3380CC4-5D6E-409C-BE32-E72D297353CC}">
              <c16:uniqueId val="{00000008-2477-46EA-BF69-DCF6AC6D43AF}"/>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231F20"/>
                </a:solidFill>
                <a:latin typeface="Calibri"/>
              </a:defRPr>
            </a:pPr>
            <a:endParaRPr lang="en-US"/>
          </a:p>
        </c:txPr>
        <c:crossAx val="2094734552"/>
        <c:crosses val="autoZero"/>
        <c:auto val="1"/>
        <c:lblAlgn val="ctr"/>
        <c:lblOffset val="100"/>
        <c:noMultiLvlLbl val="1"/>
      </c:catAx>
      <c:valAx>
        <c:axId val="2094734552"/>
        <c:scaling>
          <c:orientation val="minMax"/>
          <c:max val="16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en-US" sz="1100" b="0" i="0" u="none" strike="noStrike">
                <a:solidFill>
                  <a:srgbClr val="231F20"/>
                </a:solidFill>
                <a:latin typeface="Calibri"/>
              </a:rPr>
              <a:t>Use of a fact vs. its position in a long context (schematic)</a:t>
            </a:r>
          </a:p>
        </c:rich>
      </c:tx>
      <c:overlay val="0"/>
    </c:title>
    <c:autoTitleDeleted val="0"/>
    <c:plotArea>
      <c:layout/>
      <c:lineChart>
        <c:grouping val="standard"/>
        <c:varyColors val="0"/>
        <c:ser>
          <c:idx val="0"/>
          <c:order val="0"/>
          <c:tx>
            <c:strRef>
              <c:f>Sheet1!$B$1</c:f>
              <c:strCache>
                <c:ptCount val="1"/>
                <c:pt idx="0">
                  <c:v>Accuracy</c:v>
                </c:pt>
              </c:strCache>
            </c:strRef>
          </c:tx>
          <c:spPr>
            <a:ln w="38100" cap="flat">
              <a:solidFill>
                <a:srgbClr val="C4621D"/>
              </a:solidFill>
              <a:prstDash val="solid"/>
              <a:round/>
            </a:ln>
            <a:effectLst/>
          </c:spPr>
          <c:marker>
            <c:symbol val="circle"/>
            <c:size val="7"/>
            <c:spPr>
              <a:solidFill>
                <a:srgbClr val="C4621D"/>
              </a:solidFill>
              <a:ln w="9525" cap="flat">
                <a:solidFill>
                  <a:srgbClr val="C4621D"/>
                </a:solidFill>
                <a:prstDash val="solid"/>
                <a:round/>
              </a:ln>
              <a:effectLst/>
            </c:spPr>
          </c:marker>
          <c:cat>
            <c:strRef>
              <c:f>Sheet1!$A$2:$A$8</c:f>
              <c:strCache>
                <c:ptCount val="7"/>
                <c:pt idx="0">
                  <c:v>Start</c:v>
                </c:pt>
                <c:pt idx="3">
                  <c:v>Middle</c:v>
                </c:pt>
                <c:pt idx="6">
                  <c:v>End</c:v>
                </c:pt>
              </c:strCache>
            </c:strRef>
          </c:cat>
          <c:val>
            <c:numRef>
              <c:f>Sheet1!$B$2:$B$8</c:f>
              <c:numCache>
                <c:formatCode>General</c:formatCode>
                <c:ptCount val="7"/>
                <c:pt idx="0">
                  <c:v>80</c:v>
                </c:pt>
                <c:pt idx="1">
                  <c:v>68</c:v>
                </c:pt>
                <c:pt idx="2">
                  <c:v>58</c:v>
                </c:pt>
                <c:pt idx="3">
                  <c:v>55</c:v>
                </c:pt>
                <c:pt idx="4">
                  <c:v>58</c:v>
                </c:pt>
                <c:pt idx="5">
                  <c:v>66</c:v>
                </c:pt>
                <c:pt idx="6">
                  <c:v>76</c:v>
                </c:pt>
              </c:numCache>
            </c:numRef>
          </c:val>
          <c:smooth val="0"/>
          <c:extLst>
            <c:ext xmlns:c16="http://schemas.microsoft.com/office/drawing/2014/chart" uri="{C3380CC4-5D6E-409C-BE32-E72D297353CC}">
              <c16:uniqueId val="{00000000-C23E-43D0-AF05-25A0F4159BA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950" b="0" i="0" u="none" strike="noStrike">
                    <a:solidFill>
                      <a:srgbClr val="5E6964"/>
                    </a:solidFill>
                    <a:latin typeface="Calibri"/>
                  </a:defRPr>
                </a:pPr>
                <a:r>
                  <a:rPr lang="en-US" sz="950" b="0" i="0" u="none" strike="noStrike">
                    <a:solidFill>
                      <a:srgbClr val="5E6964"/>
                    </a:solidFill>
                    <a:latin typeface="Calibri"/>
                  </a:rPr>
                  <a:t>Position of the relevant passage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90"/>
          <c:min val="4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9502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from lunch. This morning, in 'Talking to Machines', you learnt how to write a good prompt. This session answers the next question every statistical office faces: how do you PROVE a prompt works, make it better in a controlled way, and keep it affordable at production scale? Timing: about 25 minutes of talk, 17 minutes of hands-on work, 3 minutes of wrap-up. Everything you produce in the lab feeds directly into the 14:45 benchmark with Groq.</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objectives. Point out that each maps to one section of the talk, and all five are exercised in the lab. The right-hand panel shows the format: short talk, then pairs working on a frozen evaluation set. Ask participants to form pairs now, ideally with someone from a different country or a different job profile (a statistician paired with an IT or data-science colleague works best).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sections follow the logic of a real optimisation project: first agree why method matters, then build the test, then measure, stabilise, control cost, and finally decide whether prompting is even the right tool. The colours stay with each section on the dividers and in the progress dots at the top 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Pose the teaser question to the room and take one or two answers. Typical answers: the layout changed, the language changed, the model was updated, the example was easy. All of those are reasons to test systematically rather than by eye.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columns row by row. The left column describes how most people use LLMs today: one test, a visual check, and optimism. That is acceptable for a personal email, not for anything that enters a statistical production process. The right column is what we expect of any other method in an NSO: known error rate, reproducibility, documentation. The callout reminds us that the UN Fundamental Principles already require this; LLMs do not get an exemption.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the morning, applied to a task most offices know: coding free-text occupation answers from a Labour Force Survey to ISCO-08. Walk down the prompt: each coloured label is one of the six building blocks. Note the escape rule 'UNCODABLE': giving the model a legitimate way to say 'I don't know' is one of the most effective ways to reduce hallucinated codes. This prompt is the version 0 you will optimise in the lab. ISCO-08 codes in the examples: 5211 Stall and market salespersons; 8321 Motorcycle drivers.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Without an evaluation set, every change is an opinion. With one, it is a measurement. This is the single most important habit in this session.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left to right. Step 1 is the one most people skip: if you cannot write down what a great answer looks like, you will never recognise one. Steps 2 and 3 give you a baseline number. Step 4 is diagnosis: look at the failures, not the average, and name the cause. Step 5 is the discipline: change one thing only. Step 6 records the result in an iteration log, whether it improved or not. Then loop until the score meets the target defined in step 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extract of the evaluation set used in the lab. Each row has an input, a gold answer agreed by expert coders, and a case type. Point out the mix: typical cases check the everyday path; edge cases (two jobs, vague titles) check your decision rules; negative cases check that the model says UNCODABLE instead of inventing a code. The bar on the right is a practical starting mix, not a standard: adapt it to where your real errors are. Codes: 5211 stall and market salespersons, 8321 motorcycle drivers, 2341 primary school teachers, 4132 data entry clerks.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come straight from survey methodology and machine-learning practice. The most frequently broken is rule 4: people copy failing test cases into the prompt as examples, the score jumps, and they think the prompt improved. It did not; it memorised the test. Keep a separate pool of examples for the prompt. Rule 2: have two experts code the gold answers independently and resolve disagreements; if humans disagree on a case, the model cannot be blamed for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Once you have a set, you need a number. The right number depends on the task.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row by row and ask the room which rows match work in their office. The first three rows can be scored fully automatically with a short script: this is where to start, because it is cheap and objective. The last two need a rubric and human judgement, or an LLM judge calibrated against humans (next slide). For classification, look beyond overall accuracy: a model can be 90% accurate overall and systematically wrong on one important category, so look at per-class results and the confusion matrix.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an illustration of what a healthy iteration history looks like on the occupation-coding task; the figures are for teaching, not benchmark results. Notice three things. First, each version has exactly one change. Second, the JSON validity rate is tracked separately: a format fix (v3) can matter as much as a content fix. Third, not every change is kept: v2b added a long list of rules and the score fell, so it was rejected. The iteration log is the document that makes your prompt auditable.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drafting and grounded Q&amp;A you cannot score with a script. A second model, the judge, can score each output against a written rubric and the source document. It scales well, but it has known biases documented by Zheng and colleagues in 2023: it tends to prefer the first answer shown, longer answers, and answers written by a model like itself. So calibrate first: have humans score 20 to 30 outputs, run the judge on the same outputs, and only rely on the judge if agreement is high. Re-check periodically, and whenever you change the judge model.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A statistical process must be reproducible. LLMs are probabilistic by design, so reproducibility has to be engineered.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four sources of variance. Sampling is the obvious one: models pick each next token with some randomness, controlled by temperature. The less obvious ones matter as much: ambiguous instructions let the model resolve a question differently each run; providers update models behind a generic name; and inputs vary in language, layout and quality. Right: the simplest diagnostic. Run each evaluation case five times and count how often the answer agrees. Here case E04, the teacher who also sells airtime, gets two different codes: that points to an ambiguous rule about multiple jobs, not to temperature.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of levers. Settings: a low temperature for extraction and coding; pin an exact, dated model version rather than a moving alias; cap output length; use a seed where the provider supports one. Prompt design: constrain the answer with a JSON schema and a closed list of allowed values; write explicit tie-break rules, such as 'code the job with the most hours'. The callout is important: temperature zero reduces randomness but does not guarantee identical outputs on every provider, so always measure. For high-stakes cases, self-consistency (run several times and take the majority answer, Wang et al. 2022) is a useful, if more expensive, safeguard; disagreement between runs is itself a signal to route the case to a human coder.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Ask the room to guess the cost before showing the worked example. Answers usually range from a few dollars to thousands: that spread is exactly why estimating matters.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read and write tokens, not words. The split shown is illustrative: real tokenisers differ between providers. OpenAI's rule of thumb for English is about four characters, or three-quarters of a word, per token. Other languages often need more tokens for the same meaning; Petrov and colleagues (2023) found large differences between languages, which directly affects the budget of offices working in French, Portuguese, Arabic or African languages. Two formulas to remember: the cost formula, and the context-window constraint: instructions, examples, the document and the answer must all fit.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arithmetic slowly; prices are illustrative round numbers, not any provider's tariff. Each call sends 2,500 fixed tokens (instructions, the ISCO extract, examples) plus about 50 tokens of description, and receives about 40 tokens back. Baseline: 255 million input tokens at 0.50 dollars per million is 127.50, plus 4 million output tokens at 1.50 is 6.00: 133.50 dollars. With prompt caching, the fixed 2,500 tokens are billed at an assumed 90% discount: 21.00 dollars. Batching 20 descriptions per call means the fixed part is sent 5,000 times instead of 100,000: 14.75 dollars. Both together: about 9.13 dollars. Cache-write surcharges are ignored for simplicity. The lesson: the design of the prompt moves the bill by an order of magnitude. Batching must be re-tested on the evaluation set, because accuracy can drop when many items share one call. You will measure real prices and latency in the 14:45 Groq session.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Bigger context windows tempt people to paste everything. That costs money and can cost accuracy. Liu and colleagues (2023) showed that models use information at the beginning and end of a long context better than information in the middle: the U-shaped curve on the left is a schematic of that finding, not their exact numbers. The four practices on the right follow from it. For a 120-page statistical yearbook, send the three pages that contain the table, not the whole book: that is what the RAG retriever you built on Day 1 does automatically.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caching happens at the provider: if the beginning of your prompt is identical from one call to the next, the provider can reuse its computation, which is faster and billed at a discount. The design rule is simple: stable content first, variable content last. A single changed character early in the prompt, such as a timestamp in the system prompt, breaks the cache. Discounts, minimum lengths and cache lifetimes differ by provider, so check the documentation. Response caching is on your side: store every answer with a key built from the model version, the prompt version and the input. Identical requests become free, instant and perfectly reproducible, and the store doubles as an audit trail, which is valuable for an NSO.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The last decision in the loop: when the evaluation score plateaus, what do you do next? The answer depends on the kind of failure you observed in step 4.</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columns as a ladder from left to right: cheapest and fastest first. Prompting fixes behaviour you can describe. RAG, which you built on Day 1, fixes missing or changing knowledge and gives citations, which matters for anything published. Fine-tuning changes the model itself: it is worth it when you need consistent behaviour on a narrow, high-volume task and you have hundreds to thousands of quality labelled examples. For NSOs it has a sovereignty angle: a small open-weight model fine-tuned and run on premises can process confidential microdata that must never leave the office. Durations and data volumes are orders of magnitude, not rules.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evaluation set pays off: the decision is based on the failures you logged, not on fashion. Always optimise the prompt first; many teams jump to fine-tuning for a problem a clearer rule would have solved. If failures are about facts the model does not have, or facts that change (new classifications, this quarter's figures), add retrieval. If failures are about consistency at scale and you have enough labelled data, consider fine-tuning, preferably an open-weight model you can host yourself when microdata are confidential. If neither applies, decompose the task into a chain of smaller prompts or collect more labelled examples. Whatever the route, re-run the same evaluation set.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instructions. Pairs open the lab materials from the workshop GitHub organisation (facilitator: confirm the repository link on the screen). Each pair runs prompt v0 on the frozen 30-case evaluation set, records accuracy, JSON validity and tokens, then reads the failures and makes one change at a time. Time checks at minutes 5, 10 and 15. At minute 17, each pair writes its best version and score in the shared sheet. Those best prompts are the input to the 14:45 Groq benchmark, and the collected prompts and logs will be proposed for the STG17 prompt library and the reference manual on key data skills.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 this slide. Ten checks, grouped by the sections of the talk. Before a prompt goes into any production step in your office, you should be able to tick all ten. If you can tick seven today, you already have a better-controlled process than most organisations using LLMs.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to leave with. Then the bridge: in the next session the best prompts from the lab will be run on two inference providers, including Groq, to compare latency, cost per thousand documents and quality. Finally, the invitation: share your evaluation sets and iteration logs in the workshop GitHub organisation, so that they can feed the STG17 reference manual and benefit offices that were not in the room.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one commitment: before the end of the week, pick one prompt your office uses or plans to use, build a 30-case evaluation set for it, and record its baseline score. Then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for the figures and findings cited in the deck. All numeric examples not listed here are explicitly labelled as illustrative on their slides.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1.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685800"/>
            <a:ext cx="54864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STG17 TECHNICAL WORKSHOP · DAY 2 · 14:00–14:45</a:t>
            </a:r>
            <a:endParaRPr lang="en-US" sz="1050" dirty="0"/>
          </a:p>
        </p:txBody>
      </p:sp>
      <p:sp>
        <p:nvSpPr>
          <p:cNvPr id="4" name="Text 2"/>
          <p:cNvSpPr txBox="1"/>
          <p:nvPr/>
        </p:nvSpPr>
        <p:spPr>
          <a:xfrm>
            <a:off x="640080" y="1097280"/>
            <a:ext cx="5486400" cy="777240"/>
          </a:xfrm>
          <a:prstGeom prst="rect">
            <a:avLst/>
          </a:prstGeom>
          <a:noFill/>
          <a:ln/>
        </p:spPr>
        <p:txBody>
          <a:bodyPr wrap="square" lIns="0" tIns="0" rIns="0" bIns="0" rtlCol="0" anchor="t"/>
          <a:lstStyle/>
          <a:p>
            <a:pPr marL="0" indent="0">
              <a:buNone/>
            </a:pPr>
            <a:r>
              <a:rPr lang="en-US" sz="4600" b="1" dirty="0">
                <a:solidFill>
                  <a:srgbClr val="FFFFFF"/>
                </a:solidFill>
                <a:latin typeface="Calibri" pitchFamily="34" charset="0"/>
                <a:ea typeface="Calibri" pitchFamily="34" charset="-122"/>
                <a:cs typeface="Calibri" pitchFamily="34" charset="-120"/>
              </a:rPr>
              <a:t>From Good to Great</a:t>
            </a:r>
            <a:endParaRPr lang="en-US" sz="4600" dirty="0"/>
          </a:p>
        </p:txBody>
      </p:sp>
      <p:sp>
        <p:nvSpPr>
          <p:cNvPr id="5" name="Text 3"/>
          <p:cNvSpPr txBox="1"/>
          <p:nvPr/>
        </p:nvSpPr>
        <p:spPr>
          <a:xfrm>
            <a:off x="640080" y="1874520"/>
            <a:ext cx="5486400" cy="457200"/>
          </a:xfrm>
          <a:prstGeom prst="rect">
            <a:avLst/>
          </a:prstGeom>
          <a:noFill/>
          <a:ln/>
        </p:spPr>
        <p:txBody>
          <a:bodyPr wrap="square" lIns="0" tIns="0" rIns="0" bIns="0" rtlCol="0" anchor="t"/>
          <a:lstStyle/>
          <a:p>
            <a:pPr marL="0" indent="0">
              <a:buNone/>
            </a:pPr>
            <a:r>
              <a:rPr lang="en-US" sz="2400" b="1" dirty="0">
                <a:solidFill>
                  <a:srgbClr val="FFFFFF"/>
                </a:solidFill>
                <a:latin typeface="Calibri" pitchFamily="34" charset="0"/>
                <a:ea typeface="Calibri" pitchFamily="34" charset="-122"/>
                <a:cs typeface="Calibri" pitchFamily="34" charset="-120"/>
              </a:rPr>
              <a:t>Prompt Optimisation for Official Statistics</a:t>
            </a:r>
            <a:endParaRPr lang="en-US" sz="2400" dirty="0"/>
          </a:p>
        </p:txBody>
      </p:sp>
      <p:sp>
        <p:nvSpPr>
          <p:cNvPr id="6" name="Text 4"/>
          <p:cNvSpPr txBox="1"/>
          <p:nvPr/>
        </p:nvSpPr>
        <p:spPr>
          <a:xfrm>
            <a:off x="640080" y="2514600"/>
            <a:ext cx="4937760" cy="82296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Systematic improvement rather than trial and error: evaluation sets, quality metrics, variance, token cost, caching, and when to move beyond prompting.</a:t>
            </a:r>
            <a:endParaRPr lang="en-US" sz="1600" dirty="0"/>
          </a:p>
        </p:txBody>
      </p:sp>
      <p:sp>
        <p:nvSpPr>
          <p:cNvPr id="9" name="Shape 7"/>
          <p:cNvSpPr/>
          <p:nvPr/>
        </p:nvSpPr>
        <p:spPr>
          <a:xfrm>
            <a:off x="6355080" y="1188720"/>
            <a:ext cx="2377440" cy="2377440"/>
          </a:xfrm>
          <a:prstGeom prst="ellipse">
            <a:avLst/>
          </a:prstGeom>
          <a:ln w="19050">
            <a:solidFill>
              <a:srgbClr val="FFFFFF">
                <a:alpha val="50000"/>
              </a:srgbClr>
            </a:solidFill>
            <a:prstDash val="solid"/>
          </a:ln>
        </p:spPr>
      </p:sp>
      <p:sp>
        <p:nvSpPr>
          <p:cNvPr id="10" name="Shape 8"/>
          <p:cNvSpPr/>
          <p:nvPr/>
        </p:nvSpPr>
        <p:spPr>
          <a:xfrm>
            <a:off x="6720840" y="1554480"/>
            <a:ext cx="1645920" cy="1645920"/>
          </a:xfrm>
          <a:prstGeom prst="ellipse">
            <a:avLst/>
          </a:prstGeom>
          <a:solidFill>
            <a:srgbClr val="FFFFFF"/>
          </a:solidFill>
          <a:ln/>
        </p:spPr>
      </p:sp>
      <p:pic>
        <p:nvPicPr>
          <p:cNvPr id="11" name="Image 0" descr="preencoded.png"/>
          <p:cNvPicPr>
            <a:picLocks noChangeAspect="1"/>
          </p:cNvPicPr>
          <p:nvPr/>
        </p:nvPicPr>
        <p:blipFill>
          <a:blip r:embed="rId4"/>
          <a:stretch>
            <a:fillRect/>
          </a:stretch>
        </p:blipFill>
        <p:spPr>
          <a:xfrm>
            <a:off x="7132320" y="1965960"/>
            <a:ext cx="822960" cy="822960"/>
          </a:xfrm>
          <a:prstGeom prst="rect">
            <a:avLst/>
          </a:prstGeom>
        </p:spPr>
      </p:pic>
      <p:sp>
        <p:nvSpPr>
          <p:cNvPr id="12" name="Shape 9"/>
          <p:cNvSpPr/>
          <p:nvPr/>
        </p:nvSpPr>
        <p:spPr>
          <a:xfrm>
            <a:off x="6355080" y="3794760"/>
            <a:ext cx="914400" cy="237744"/>
          </a:xfrm>
          <a:prstGeom prst="roundRect">
            <a:avLst>
              <a:gd name="adj" fmla="val 50000"/>
            </a:avLst>
          </a:prstGeom>
          <a:solidFill>
            <a:srgbClr val="FFFFFF">
              <a:alpha val="15000"/>
            </a:srgbClr>
          </a:solidFill>
          <a:ln w="9525">
            <a:solidFill>
              <a:srgbClr val="FFFFFF"/>
            </a:solidFill>
            <a:prstDash val="solid"/>
          </a:ln>
        </p:spPr>
      </p:sp>
      <p:sp>
        <p:nvSpPr>
          <p:cNvPr id="13" name="Text 10"/>
          <p:cNvSpPr txBox="1"/>
          <p:nvPr/>
        </p:nvSpPr>
        <p:spPr>
          <a:xfrm>
            <a:off x="6355080" y="3794760"/>
            <a:ext cx="914400" cy="237744"/>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GOOD</a:t>
            </a:r>
            <a:endParaRPr lang="en-US" sz="900" dirty="0"/>
          </a:p>
        </p:txBody>
      </p:sp>
      <p:pic>
        <p:nvPicPr>
          <p:cNvPr id="14" name="Image 1" descr="preencoded.png"/>
          <p:cNvPicPr>
            <a:picLocks noChangeAspect="1"/>
          </p:cNvPicPr>
          <p:nvPr/>
        </p:nvPicPr>
        <p:blipFill>
          <a:blip r:embed="rId5"/>
          <a:stretch>
            <a:fillRect/>
          </a:stretch>
        </p:blipFill>
        <p:spPr>
          <a:xfrm>
            <a:off x="7406640" y="3822192"/>
            <a:ext cx="201168" cy="182880"/>
          </a:xfrm>
          <a:prstGeom prst="rect">
            <a:avLst/>
          </a:prstGeom>
        </p:spPr>
      </p:pic>
      <p:sp>
        <p:nvSpPr>
          <p:cNvPr id="15" name="Shape 11"/>
          <p:cNvSpPr/>
          <p:nvPr/>
        </p:nvSpPr>
        <p:spPr>
          <a:xfrm>
            <a:off x="7772400" y="3794760"/>
            <a:ext cx="960120" cy="237744"/>
          </a:xfrm>
          <a:prstGeom prst="roundRect">
            <a:avLst>
              <a:gd name="adj" fmla="val 50000"/>
            </a:avLst>
          </a:prstGeom>
          <a:solidFill>
            <a:srgbClr val="F5C242"/>
          </a:solidFill>
          <a:ln/>
        </p:spPr>
      </p:sp>
      <p:sp>
        <p:nvSpPr>
          <p:cNvPr id="16" name="Text 12"/>
          <p:cNvSpPr txBox="1"/>
          <p:nvPr/>
        </p:nvSpPr>
        <p:spPr>
          <a:xfrm>
            <a:off x="7772400" y="3794760"/>
            <a:ext cx="960120" cy="237744"/>
          </a:xfrm>
          <a:prstGeom prst="rect">
            <a:avLst/>
          </a:prstGeom>
          <a:noFill/>
          <a:ln/>
        </p:spPr>
        <p:txBody>
          <a:bodyPr wrap="square" lIns="0" tIns="0" rIns="0" bIns="0" rtlCol="0" anchor="ctr"/>
          <a:lstStyle/>
          <a:p>
            <a:pPr marL="0" indent="0" algn="ctr">
              <a:buNone/>
            </a:pPr>
            <a:r>
              <a:rPr lang="en-US" sz="900" b="1" kern="0" spc="100" dirty="0">
                <a:solidFill>
                  <a:srgbClr val="00553A"/>
                </a:solidFill>
                <a:latin typeface="Calibri" pitchFamily="34" charset="0"/>
                <a:ea typeface="Calibri" pitchFamily="34" charset="-122"/>
                <a:cs typeface="Calibri" pitchFamily="34" charset="-120"/>
              </a:rPr>
              <a:t>GREAT</a:t>
            </a:r>
            <a:endParaRPr lang="en-US" sz="900" dirty="0"/>
          </a:p>
        </p:txBody>
      </p:sp>
      <p:sp>
        <p:nvSpPr>
          <p:cNvPr id="17" name="Text 23">
            <a:extLst>
              <a:ext uri="{FF2B5EF4-FFF2-40B4-BE49-F238E27FC236}">
                <a16:creationId xmlns:a16="http://schemas.microsoft.com/office/drawing/2014/main" id="{C1FCCEEA-5CF2-5DFC-B0F2-0953A366FECA}"/>
              </a:ext>
            </a:extLst>
          </p:cNvPr>
          <p:cNvSpPr txBox="1"/>
          <p:nvPr/>
        </p:nvSpPr>
        <p:spPr>
          <a:xfrm>
            <a:off x="640080" y="4297680"/>
            <a:ext cx="64008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LEARNING OBJECTIVES</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you will be able to do</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03</a:t>
            </a:r>
            <a:endParaRPr lang="en-US" sz="850" dirty="0"/>
          </a:p>
        </p:txBody>
      </p:sp>
      <p:sp>
        <p:nvSpPr>
          <p:cNvPr id="17" name="Shape 14"/>
          <p:cNvSpPr/>
          <p:nvPr/>
        </p:nvSpPr>
        <p:spPr>
          <a:xfrm>
            <a:off x="457200" y="1325880"/>
            <a:ext cx="457200" cy="457200"/>
          </a:xfrm>
          <a:prstGeom prst="ellipse">
            <a:avLst/>
          </a:prstGeom>
          <a:solidFill>
            <a:srgbClr val="00704A">
              <a:alpha val="22000"/>
            </a:srgbClr>
          </a:solidFill>
          <a:ln/>
        </p:spPr>
      </p:sp>
      <p:pic>
        <p:nvPicPr>
          <p:cNvPr id="18" name="Image 0" descr="preencoded.png"/>
          <p:cNvPicPr>
            <a:picLocks noChangeAspect="1"/>
          </p:cNvPicPr>
          <p:nvPr/>
        </p:nvPicPr>
        <p:blipFill>
          <a:blip r:embed="rId3"/>
          <a:stretch>
            <a:fillRect/>
          </a:stretch>
        </p:blipFill>
        <p:spPr>
          <a:xfrm>
            <a:off x="566928" y="1435608"/>
            <a:ext cx="237744" cy="237744"/>
          </a:xfrm>
          <a:prstGeom prst="rect">
            <a:avLst/>
          </a:prstGeom>
        </p:spPr>
      </p:pic>
      <p:sp>
        <p:nvSpPr>
          <p:cNvPr id="19" name="Text 15"/>
          <p:cNvSpPr txBox="1"/>
          <p:nvPr/>
        </p:nvSpPr>
        <p:spPr>
          <a:xfrm>
            <a:off x="1051560" y="1344168"/>
            <a:ext cx="4206240" cy="2286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Build an evaluation set</a:t>
            </a:r>
            <a:endParaRPr lang="en-US" sz="1350" dirty="0"/>
          </a:p>
        </p:txBody>
      </p:sp>
      <p:sp>
        <p:nvSpPr>
          <p:cNvPr id="20" name="Text 16"/>
          <p:cNvSpPr txBox="1"/>
          <p:nvPr/>
        </p:nvSpPr>
        <p:spPr>
          <a:xfrm>
            <a:off x="1051560" y="1572768"/>
            <a:ext cx="4206240" cy="2286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that represents your real data, languages and edge cases.</a:t>
            </a:r>
            <a:endParaRPr lang="en-US" sz="1100" dirty="0"/>
          </a:p>
        </p:txBody>
      </p:sp>
      <p:sp>
        <p:nvSpPr>
          <p:cNvPr id="21" name="Shape 17"/>
          <p:cNvSpPr/>
          <p:nvPr/>
        </p:nvSpPr>
        <p:spPr>
          <a:xfrm>
            <a:off x="457200" y="1965960"/>
            <a:ext cx="457200" cy="457200"/>
          </a:xfrm>
          <a:prstGeom prst="ellipse">
            <a:avLst/>
          </a:prstGeom>
          <a:solidFill>
            <a:srgbClr val="0E7C86">
              <a:alpha val="22000"/>
            </a:srgbClr>
          </a:solidFill>
          <a:ln/>
        </p:spPr>
      </p:sp>
      <p:pic>
        <p:nvPicPr>
          <p:cNvPr id="22" name="Image 1" descr="preencoded.png"/>
          <p:cNvPicPr>
            <a:picLocks noChangeAspect="1"/>
          </p:cNvPicPr>
          <p:nvPr/>
        </p:nvPicPr>
        <p:blipFill>
          <a:blip r:embed="rId4"/>
          <a:stretch>
            <a:fillRect/>
          </a:stretch>
        </p:blipFill>
        <p:spPr>
          <a:xfrm>
            <a:off x="566928" y="2075688"/>
            <a:ext cx="237744" cy="237744"/>
          </a:xfrm>
          <a:prstGeom prst="rect">
            <a:avLst/>
          </a:prstGeom>
        </p:spPr>
      </p:pic>
      <p:sp>
        <p:nvSpPr>
          <p:cNvPr id="23" name="Text 18"/>
          <p:cNvSpPr txBox="1"/>
          <p:nvPr/>
        </p:nvSpPr>
        <p:spPr>
          <a:xfrm>
            <a:off x="1051560" y="1984248"/>
            <a:ext cx="4206240" cy="2286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Measure output quality</a:t>
            </a:r>
            <a:endParaRPr lang="en-US" sz="1350" dirty="0"/>
          </a:p>
        </p:txBody>
      </p:sp>
      <p:sp>
        <p:nvSpPr>
          <p:cNvPr id="24" name="Text 19"/>
          <p:cNvSpPr txBox="1"/>
          <p:nvPr/>
        </p:nvSpPr>
        <p:spPr>
          <a:xfrm>
            <a:off x="1051560" y="2212848"/>
            <a:ext cx="4206240" cy="2286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with a metric that matches the task, not by eye.</a:t>
            </a:r>
            <a:endParaRPr lang="en-US" sz="1100" dirty="0"/>
          </a:p>
        </p:txBody>
      </p:sp>
      <p:sp>
        <p:nvSpPr>
          <p:cNvPr id="25" name="Shape 20"/>
          <p:cNvSpPr/>
          <p:nvPr/>
        </p:nvSpPr>
        <p:spPr>
          <a:xfrm>
            <a:off x="457200" y="2606040"/>
            <a:ext cx="457200" cy="457200"/>
          </a:xfrm>
          <a:prstGeom prst="ellipse">
            <a:avLst/>
          </a:prstGeom>
          <a:solidFill>
            <a:srgbClr val="D49A00">
              <a:alpha val="22000"/>
            </a:srgbClr>
          </a:solidFill>
          <a:ln/>
        </p:spPr>
      </p:sp>
      <p:pic>
        <p:nvPicPr>
          <p:cNvPr id="26" name="Image 2" descr="preencoded.png"/>
          <p:cNvPicPr>
            <a:picLocks noChangeAspect="1"/>
          </p:cNvPicPr>
          <p:nvPr/>
        </p:nvPicPr>
        <p:blipFill>
          <a:blip r:embed="rId5"/>
          <a:stretch>
            <a:fillRect/>
          </a:stretch>
        </p:blipFill>
        <p:spPr>
          <a:xfrm>
            <a:off x="566928" y="2715768"/>
            <a:ext cx="237744" cy="237744"/>
          </a:xfrm>
          <a:prstGeom prst="rect">
            <a:avLst/>
          </a:prstGeom>
        </p:spPr>
      </p:pic>
      <p:sp>
        <p:nvSpPr>
          <p:cNvPr id="27" name="Text 21"/>
          <p:cNvSpPr txBox="1"/>
          <p:nvPr/>
        </p:nvSpPr>
        <p:spPr>
          <a:xfrm>
            <a:off x="1051560" y="2624328"/>
            <a:ext cx="4206240" cy="2286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Control variance</a:t>
            </a:r>
            <a:endParaRPr lang="en-US" sz="1350" dirty="0"/>
          </a:p>
        </p:txBody>
      </p:sp>
      <p:sp>
        <p:nvSpPr>
          <p:cNvPr id="28" name="Text 22"/>
          <p:cNvSpPr txBox="1"/>
          <p:nvPr/>
        </p:nvSpPr>
        <p:spPr>
          <a:xfrm>
            <a:off x="1051560" y="2852928"/>
            <a:ext cx="4206240" cy="2286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so the same input gives the same, defensible output.</a:t>
            </a:r>
            <a:endParaRPr lang="en-US" sz="1100" dirty="0"/>
          </a:p>
        </p:txBody>
      </p:sp>
      <p:sp>
        <p:nvSpPr>
          <p:cNvPr id="29" name="Shape 23"/>
          <p:cNvSpPr/>
          <p:nvPr/>
        </p:nvSpPr>
        <p:spPr>
          <a:xfrm>
            <a:off x="457200" y="3246120"/>
            <a:ext cx="457200" cy="457200"/>
          </a:xfrm>
          <a:prstGeom prst="ellipse">
            <a:avLst/>
          </a:prstGeom>
          <a:solidFill>
            <a:srgbClr val="C4621D">
              <a:alpha val="22000"/>
            </a:srgbClr>
          </a:solidFill>
          <a:ln/>
        </p:spPr>
      </p:sp>
      <p:pic>
        <p:nvPicPr>
          <p:cNvPr id="30" name="Image 3" descr="preencoded.png"/>
          <p:cNvPicPr>
            <a:picLocks noChangeAspect="1"/>
          </p:cNvPicPr>
          <p:nvPr/>
        </p:nvPicPr>
        <p:blipFill>
          <a:blip r:embed="rId6"/>
          <a:stretch>
            <a:fillRect/>
          </a:stretch>
        </p:blipFill>
        <p:spPr>
          <a:xfrm>
            <a:off x="566928" y="3355848"/>
            <a:ext cx="237744" cy="237744"/>
          </a:xfrm>
          <a:prstGeom prst="rect">
            <a:avLst/>
          </a:prstGeom>
        </p:spPr>
      </p:pic>
      <p:sp>
        <p:nvSpPr>
          <p:cNvPr id="31" name="Text 24"/>
          <p:cNvSpPr txBox="1"/>
          <p:nvPr/>
        </p:nvSpPr>
        <p:spPr>
          <a:xfrm>
            <a:off x="1051560" y="3264408"/>
            <a:ext cx="4206240" cy="2286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Manage context and cost</a:t>
            </a:r>
            <a:endParaRPr lang="en-US" sz="1350" dirty="0"/>
          </a:p>
        </p:txBody>
      </p:sp>
      <p:sp>
        <p:nvSpPr>
          <p:cNvPr id="32" name="Text 25"/>
          <p:cNvSpPr txBox="1"/>
          <p:nvPr/>
        </p:nvSpPr>
        <p:spPr>
          <a:xfrm>
            <a:off x="1051560" y="3493008"/>
            <a:ext cx="4206240" cy="2286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estimate tokens, use caching and batching.</a:t>
            </a:r>
            <a:endParaRPr lang="en-US" sz="1100" dirty="0"/>
          </a:p>
        </p:txBody>
      </p:sp>
      <p:sp>
        <p:nvSpPr>
          <p:cNvPr id="33" name="Shape 26"/>
          <p:cNvSpPr/>
          <p:nvPr/>
        </p:nvSpPr>
        <p:spPr>
          <a:xfrm>
            <a:off x="457200" y="3886200"/>
            <a:ext cx="457200" cy="457200"/>
          </a:xfrm>
          <a:prstGeom prst="ellipse">
            <a:avLst/>
          </a:prstGeom>
          <a:solidFill>
            <a:srgbClr val="B83B2E">
              <a:alpha val="22000"/>
            </a:srgbClr>
          </a:solidFill>
          <a:ln/>
        </p:spPr>
      </p:sp>
      <p:pic>
        <p:nvPicPr>
          <p:cNvPr id="34" name="Image 4" descr="preencoded.png"/>
          <p:cNvPicPr>
            <a:picLocks noChangeAspect="1"/>
          </p:cNvPicPr>
          <p:nvPr/>
        </p:nvPicPr>
        <p:blipFill>
          <a:blip r:embed="rId7"/>
          <a:stretch>
            <a:fillRect/>
          </a:stretch>
        </p:blipFill>
        <p:spPr>
          <a:xfrm>
            <a:off x="566928" y="3995928"/>
            <a:ext cx="237744" cy="237744"/>
          </a:xfrm>
          <a:prstGeom prst="rect">
            <a:avLst/>
          </a:prstGeom>
        </p:spPr>
      </p:pic>
      <p:sp>
        <p:nvSpPr>
          <p:cNvPr id="35" name="Text 27"/>
          <p:cNvSpPr txBox="1"/>
          <p:nvPr/>
        </p:nvSpPr>
        <p:spPr>
          <a:xfrm>
            <a:off x="1051560" y="3904488"/>
            <a:ext cx="4206240" cy="2286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Choose the right approach</a:t>
            </a:r>
            <a:endParaRPr lang="en-US" sz="1350" dirty="0"/>
          </a:p>
        </p:txBody>
      </p:sp>
      <p:sp>
        <p:nvSpPr>
          <p:cNvPr id="36" name="Text 28"/>
          <p:cNvSpPr txBox="1"/>
          <p:nvPr/>
        </p:nvSpPr>
        <p:spPr>
          <a:xfrm>
            <a:off x="1051560" y="4133088"/>
            <a:ext cx="4206240" cy="2286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between prompting, RAG and fine-tuning.</a:t>
            </a:r>
            <a:endParaRPr lang="en-US" sz="1100" dirty="0"/>
          </a:p>
        </p:txBody>
      </p:sp>
      <p:sp>
        <p:nvSpPr>
          <p:cNvPr id="37" name="Shape 29"/>
          <p:cNvSpPr/>
          <p:nvPr/>
        </p:nvSpPr>
        <p:spPr>
          <a:xfrm>
            <a:off x="5577840" y="1325880"/>
            <a:ext cx="3108960" cy="3154680"/>
          </a:xfrm>
          <a:prstGeom prst="roundRect">
            <a:avLst>
              <a:gd name="adj" fmla="val 2353"/>
            </a:avLst>
          </a:prstGeom>
          <a:solidFill>
            <a:srgbClr val="F4F7F5"/>
          </a:solidFill>
          <a:ln w="9525">
            <a:solidFill>
              <a:srgbClr val="D5DED9"/>
            </a:solidFill>
            <a:prstDash val="solid"/>
          </a:ln>
        </p:spPr>
      </p:sp>
      <p:sp>
        <p:nvSpPr>
          <p:cNvPr id="38" name="Text 30"/>
          <p:cNvSpPr txBox="1"/>
          <p:nvPr/>
        </p:nvSpPr>
        <p:spPr>
          <a:xfrm>
            <a:off x="5760720" y="1463040"/>
            <a:ext cx="2743200" cy="201168"/>
          </a:xfrm>
          <a:prstGeom prst="rect">
            <a:avLst/>
          </a:prstGeom>
          <a:noFill/>
          <a:ln/>
        </p:spPr>
        <p:txBody>
          <a:bodyPr wrap="square" lIns="0" tIns="0" rIns="0" bIns="0" rtlCol="0" anchor="t"/>
          <a:lstStyle/>
          <a:p>
            <a:pPr marL="0" indent="0">
              <a:buNone/>
            </a:pPr>
            <a:r>
              <a:rPr lang="en-US" sz="1000" b="1" kern="0" spc="200" dirty="0">
                <a:solidFill>
                  <a:srgbClr val="00704A"/>
                </a:solidFill>
                <a:latin typeface="Calibri" pitchFamily="34" charset="0"/>
                <a:ea typeface="Calibri" pitchFamily="34" charset="-122"/>
                <a:cs typeface="Calibri" pitchFamily="34" charset="-120"/>
              </a:rPr>
              <a:t>SESSION FORMAT</a:t>
            </a:r>
            <a:endParaRPr lang="en-US" sz="1000" dirty="0"/>
          </a:p>
        </p:txBody>
      </p:sp>
      <p:sp>
        <p:nvSpPr>
          <p:cNvPr id="39" name="Shape 31"/>
          <p:cNvSpPr/>
          <p:nvPr/>
        </p:nvSpPr>
        <p:spPr>
          <a:xfrm>
            <a:off x="5760720" y="1828800"/>
            <a:ext cx="868680" cy="685800"/>
          </a:xfrm>
          <a:prstGeom prst="roundRect">
            <a:avLst>
              <a:gd name="adj" fmla="val 10667"/>
            </a:avLst>
          </a:prstGeom>
          <a:solidFill>
            <a:srgbClr val="00A86A"/>
          </a:solidFill>
          <a:ln/>
        </p:spPr>
      </p:sp>
      <p:sp>
        <p:nvSpPr>
          <p:cNvPr id="40" name="Text 32"/>
          <p:cNvSpPr txBox="1"/>
          <p:nvPr/>
        </p:nvSpPr>
        <p:spPr>
          <a:xfrm>
            <a:off x="5760720" y="1828800"/>
            <a:ext cx="868680" cy="685800"/>
          </a:xfrm>
          <a:prstGeom prst="rect">
            <a:avLst/>
          </a:prstGeom>
          <a:noFill/>
          <a:ln/>
        </p:spPr>
        <p:txBody>
          <a:bodyPr wrap="square" lIns="0" tIns="0" rIns="0" bIns="0" rtlCol="0" anchor="ctr"/>
          <a:lstStyle/>
          <a:p>
            <a:pPr marL="0" indent="0" algn="ctr">
              <a:buNone/>
            </a:pPr>
            <a:endParaRPr lang="en-US" sz="1600" dirty="0"/>
          </a:p>
        </p:txBody>
      </p:sp>
      <p:sp>
        <p:nvSpPr>
          <p:cNvPr id="41" name="Text 33"/>
          <p:cNvSpPr txBox="1"/>
          <p:nvPr/>
        </p:nvSpPr>
        <p:spPr>
          <a:xfrm>
            <a:off x="6766560" y="1847088"/>
            <a:ext cx="1828800" cy="2286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Talk</a:t>
            </a:r>
            <a:endParaRPr lang="en-US" sz="1300" dirty="0"/>
          </a:p>
        </p:txBody>
      </p:sp>
      <p:sp>
        <p:nvSpPr>
          <p:cNvPr id="42" name="Text 34"/>
          <p:cNvSpPr txBox="1"/>
          <p:nvPr/>
        </p:nvSpPr>
        <p:spPr>
          <a:xfrm>
            <a:off x="6766560" y="2084832"/>
            <a:ext cx="17830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Concepts and worked examples</a:t>
            </a:r>
            <a:endParaRPr lang="en-US" sz="1000" dirty="0"/>
          </a:p>
        </p:txBody>
      </p:sp>
      <p:sp>
        <p:nvSpPr>
          <p:cNvPr id="43" name="Shape 35"/>
          <p:cNvSpPr/>
          <p:nvPr/>
        </p:nvSpPr>
        <p:spPr>
          <a:xfrm>
            <a:off x="5760720" y="2697480"/>
            <a:ext cx="868680" cy="685800"/>
          </a:xfrm>
          <a:prstGeom prst="roundRect">
            <a:avLst>
              <a:gd name="adj" fmla="val 10667"/>
            </a:avLst>
          </a:prstGeom>
          <a:solidFill>
            <a:srgbClr val="00704A"/>
          </a:solidFill>
          <a:ln/>
        </p:spPr>
      </p:sp>
      <p:sp>
        <p:nvSpPr>
          <p:cNvPr id="44" name="Text 36"/>
          <p:cNvSpPr txBox="1"/>
          <p:nvPr/>
        </p:nvSpPr>
        <p:spPr>
          <a:xfrm>
            <a:off x="5760720" y="2697480"/>
            <a:ext cx="868680" cy="685800"/>
          </a:xfrm>
          <a:prstGeom prst="rect">
            <a:avLst/>
          </a:prstGeom>
          <a:noFill/>
          <a:ln/>
        </p:spPr>
        <p:txBody>
          <a:bodyPr wrap="square" lIns="0" tIns="0" rIns="0" bIns="0" rtlCol="0" anchor="ctr"/>
          <a:lstStyle/>
          <a:p>
            <a:pPr marL="0" indent="0" algn="ctr">
              <a:buNone/>
            </a:pPr>
            <a:endParaRPr lang="en-US" sz="1600" dirty="0"/>
          </a:p>
        </p:txBody>
      </p:sp>
      <p:sp>
        <p:nvSpPr>
          <p:cNvPr id="45" name="Text 37"/>
          <p:cNvSpPr txBox="1"/>
          <p:nvPr/>
        </p:nvSpPr>
        <p:spPr>
          <a:xfrm>
            <a:off x="6766560" y="2715768"/>
            <a:ext cx="1828800" cy="2286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Lab in pairs</a:t>
            </a:r>
            <a:endParaRPr lang="en-US" sz="1300" dirty="0"/>
          </a:p>
        </p:txBody>
      </p:sp>
      <p:sp>
        <p:nvSpPr>
          <p:cNvPr id="46" name="Text 38"/>
          <p:cNvSpPr txBox="1"/>
          <p:nvPr/>
        </p:nvSpPr>
        <p:spPr>
          <a:xfrm>
            <a:off x="6766560" y="2953512"/>
            <a:ext cx="17830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Optimise a coding prompt on a frozen evaluation set</a:t>
            </a:r>
            <a:endParaRPr lang="en-US" sz="1000" dirty="0"/>
          </a:p>
        </p:txBody>
      </p:sp>
      <p:sp>
        <p:nvSpPr>
          <p:cNvPr id="47" name="Shape 39"/>
          <p:cNvSpPr/>
          <p:nvPr/>
        </p:nvSpPr>
        <p:spPr>
          <a:xfrm>
            <a:off x="5760720" y="3566160"/>
            <a:ext cx="868680" cy="685800"/>
          </a:xfrm>
          <a:prstGeom prst="roundRect">
            <a:avLst>
              <a:gd name="adj" fmla="val 10667"/>
            </a:avLst>
          </a:prstGeom>
          <a:solidFill>
            <a:srgbClr val="D49A00"/>
          </a:solidFill>
          <a:ln/>
        </p:spPr>
      </p:sp>
      <p:sp>
        <p:nvSpPr>
          <p:cNvPr id="48" name="Text 40"/>
          <p:cNvSpPr txBox="1"/>
          <p:nvPr/>
        </p:nvSpPr>
        <p:spPr>
          <a:xfrm>
            <a:off x="5760720" y="3566160"/>
            <a:ext cx="868680" cy="685800"/>
          </a:xfrm>
          <a:prstGeom prst="rect">
            <a:avLst/>
          </a:prstGeom>
          <a:noFill/>
          <a:ln/>
        </p:spPr>
        <p:txBody>
          <a:bodyPr wrap="square" lIns="0" tIns="0" rIns="0" bIns="0" rtlCol="0" anchor="ctr"/>
          <a:lstStyle/>
          <a:p>
            <a:pPr marL="0" indent="0" algn="ctr">
              <a:buNone/>
            </a:pPr>
            <a:endParaRPr lang="en-US" sz="1600" dirty="0"/>
          </a:p>
        </p:txBody>
      </p:sp>
      <p:sp>
        <p:nvSpPr>
          <p:cNvPr id="49" name="Text 41"/>
          <p:cNvSpPr txBox="1"/>
          <p:nvPr/>
        </p:nvSpPr>
        <p:spPr>
          <a:xfrm>
            <a:off x="6766560" y="3584448"/>
            <a:ext cx="1828800" cy="2286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Wrap-up</a:t>
            </a:r>
            <a:endParaRPr lang="en-US" sz="1300" dirty="0"/>
          </a:p>
        </p:txBody>
      </p:sp>
      <p:sp>
        <p:nvSpPr>
          <p:cNvPr id="50" name="Text 42"/>
          <p:cNvSpPr txBox="1"/>
          <p:nvPr/>
        </p:nvSpPr>
        <p:spPr>
          <a:xfrm>
            <a:off x="6766560" y="3822192"/>
            <a:ext cx="17830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Best scores and hand-over to the Groq benchmark</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AGENDA</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Six steps from a good prompt to a great one</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04</a:t>
            </a:r>
            <a:endParaRPr lang="en-US" sz="850" dirty="0"/>
          </a:p>
        </p:txBody>
      </p:sp>
      <p:sp>
        <p:nvSpPr>
          <p:cNvPr id="17" name="Shape 14"/>
          <p:cNvSpPr/>
          <p:nvPr/>
        </p:nvSpPr>
        <p:spPr>
          <a:xfrm>
            <a:off x="457200" y="1325880"/>
            <a:ext cx="2651760" cy="1371600"/>
          </a:xfrm>
          <a:prstGeom prst="roundRect">
            <a:avLst>
              <a:gd name="adj" fmla="val 5333"/>
            </a:avLst>
          </a:prstGeom>
          <a:solidFill>
            <a:srgbClr val="F4F7F5"/>
          </a:solidFill>
          <a:ln w="9525">
            <a:solidFill>
              <a:srgbClr val="D5DED9"/>
            </a:solidFill>
            <a:prstDash val="solid"/>
          </a:ln>
        </p:spPr>
      </p:sp>
      <p:sp>
        <p:nvSpPr>
          <p:cNvPr id="18" name="Text 15"/>
          <p:cNvSpPr txBox="1"/>
          <p:nvPr/>
        </p:nvSpPr>
        <p:spPr>
          <a:xfrm>
            <a:off x="640080" y="1463040"/>
            <a:ext cx="914400" cy="457200"/>
          </a:xfrm>
          <a:prstGeom prst="rect">
            <a:avLst/>
          </a:prstGeom>
          <a:noFill/>
          <a:ln/>
        </p:spPr>
        <p:txBody>
          <a:bodyPr wrap="square" lIns="0" tIns="0" rIns="0" bIns="0" rtlCol="0" anchor="t"/>
          <a:lstStyle/>
          <a:p>
            <a:pPr marL="0" indent="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19" name="Shape 16"/>
          <p:cNvSpPr/>
          <p:nvPr/>
        </p:nvSpPr>
        <p:spPr>
          <a:xfrm>
            <a:off x="2468880" y="1490472"/>
            <a:ext cx="457200" cy="457200"/>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2578608" y="1600200"/>
            <a:ext cx="237744" cy="237744"/>
          </a:xfrm>
          <a:prstGeom prst="rect">
            <a:avLst/>
          </a:prstGeom>
        </p:spPr>
      </p:pic>
      <p:sp>
        <p:nvSpPr>
          <p:cNvPr id="21" name="Text 17"/>
          <p:cNvSpPr txBox="1"/>
          <p:nvPr/>
        </p:nvSpPr>
        <p:spPr>
          <a:xfrm>
            <a:off x="640080" y="196596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From craft to method</a:t>
            </a:r>
            <a:endParaRPr lang="en-US" sz="1400" dirty="0"/>
          </a:p>
        </p:txBody>
      </p:sp>
      <p:sp>
        <p:nvSpPr>
          <p:cNvPr id="22" name="Text 18"/>
          <p:cNvSpPr txBox="1"/>
          <p:nvPr/>
        </p:nvSpPr>
        <p:spPr>
          <a:xfrm>
            <a:off x="640080" y="222199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Why “it looked fine” is not a quality standard for official statistics.</a:t>
            </a:r>
            <a:endParaRPr lang="en-US" sz="1050" dirty="0"/>
          </a:p>
        </p:txBody>
      </p:sp>
      <p:sp>
        <p:nvSpPr>
          <p:cNvPr id="23" name="Shape 19"/>
          <p:cNvSpPr/>
          <p:nvPr/>
        </p:nvSpPr>
        <p:spPr>
          <a:xfrm>
            <a:off x="3246120" y="1325880"/>
            <a:ext cx="2651760" cy="1371600"/>
          </a:xfrm>
          <a:prstGeom prst="roundRect">
            <a:avLst>
              <a:gd name="adj" fmla="val 5333"/>
            </a:avLst>
          </a:prstGeom>
          <a:solidFill>
            <a:srgbClr val="F4F7F5"/>
          </a:solidFill>
          <a:ln w="9525">
            <a:solidFill>
              <a:srgbClr val="D5DED9"/>
            </a:solidFill>
            <a:prstDash val="solid"/>
          </a:ln>
        </p:spPr>
      </p:sp>
      <p:sp>
        <p:nvSpPr>
          <p:cNvPr id="24" name="Text 20"/>
          <p:cNvSpPr txBox="1"/>
          <p:nvPr/>
        </p:nvSpPr>
        <p:spPr>
          <a:xfrm>
            <a:off x="3429000" y="1463040"/>
            <a:ext cx="914400" cy="457200"/>
          </a:xfrm>
          <a:prstGeom prst="rect">
            <a:avLst/>
          </a:prstGeom>
          <a:noFill/>
          <a:ln/>
        </p:spPr>
        <p:txBody>
          <a:bodyPr wrap="square" lIns="0" tIns="0" rIns="0" bIns="0" rtlCol="0" anchor="t"/>
          <a:lstStyle/>
          <a:p>
            <a:pPr marL="0" indent="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5" name="Shape 21"/>
          <p:cNvSpPr/>
          <p:nvPr/>
        </p:nvSpPr>
        <p:spPr>
          <a:xfrm>
            <a:off x="5257800" y="1490472"/>
            <a:ext cx="457200" cy="457200"/>
          </a:xfrm>
          <a:prstGeom prst="ellipse">
            <a:avLst/>
          </a:prstGeom>
          <a:solidFill>
            <a:srgbClr val="00704A">
              <a:alpha val="22000"/>
            </a:srgbClr>
          </a:solidFill>
          <a:ln/>
        </p:spPr>
      </p:sp>
      <p:pic>
        <p:nvPicPr>
          <p:cNvPr id="26" name="Image 1" descr="preencoded.png"/>
          <p:cNvPicPr>
            <a:picLocks noChangeAspect="1"/>
          </p:cNvPicPr>
          <p:nvPr/>
        </p:nvPicPr>
        <p:blipFill>
          <a:blip r:embed="rId4"/>
          <a:stretch>
            <a:fillRect/>
          </a:stretch>
        </p:blipFill>
        <p:spPr>
          <a:xfrm>
            <a:off x="5367528" y="1600200"/>
            <a:ext cx="237744" cy="237744"/>
          </a:xfrm>
          <a:prstGeom prst="rect">
            <a:avLst/>
          </a:prstGeom>
        </p:spPr>
      </p:pic>
      <p:sp>
        <p:nvSpPr>
          <p:cNvPr id="27" name="Text 22"/>
          <p:cNvSpPr txBox="1"/>
          <p:nvPr/>
        </p:nvSpPr>
        <p:spPr>
          <a:xfrm>
            <a:off x="3429000" y="196596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Build an evaluation set</a:t>
            </a:r>
            <a:endParaRPr lang="en-US" sz="1400" dirty="0"/>
          </a:p>
        </p:txBody>
      </p:sp>
      <p:sp>
        <p:nvSpPr>
          <p:cNvPr id="28" name="Text 23"/>
          <p:cNvSpPr txBox="1"/>
          <p:nvPr/>
        </p:nvSpPr>
        <p:spPr>
          <a:xfrm>
            <a:off x="3429000" y="222199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The frozen test that tells you whether a change helped.</a:t>
            </a:r>
            <a:endParaRPr lang="en-US" sz="1050" dirty="0"/>
          </a:p>
        </p:txBody>
      </p:sp>
      <p:sp>
        <p:nvSpPr>
          <p:cNvPr id="29" name="Shape 24"/>
          <p:cNvSpPr/>
          <p:nvPr/>
        </p:nvSpPr>
        <p:spPr>
          <a:xfrm>
            <a:off x="6035040" y="1325880"/>
            <a:ext cx="2651760" cy="1371600"/>
          </a:xfrm>
          <a:prstGeom prst="roundRect">
            <a:avLst>
              <a:gd name="adj" fmla="val 5333"/>
            </a:avLst>
          </a:prstGeom>
          <a:solidFill>
            <a:srgbClr val="F4F7F5"/>
          </a:solidFill>
          <a:ln w="9525">
            <a:solidFill>
              <a:srgbClr val="D5DED9"/>
            </a:solidFill>
            <a:prstDash val="solid"/>
          </a:ln>
        </p:spPr>
      </p:sp>
      <p:sp>
        <p:nvSpPr>
          <p:cNvPr id="30" name="Text 25"/>
          <p:cNvSpPr txBox="1"/>
          <p:nvPr/>
        </p:nvSpPr>
        <p:spPr>
          <a:xfrm>
            <a:off x="6217920" y="1463040"/>
            <a:ext cx="914400" cy="457200"/>
          </a:xfrm>
          <a:prstGeom prst="rect">
            <a:avLst/>
          </a:prstGeom>
          <a:noFill/>
          <a:ln/>
        </p:spPr>
        <p:txBody>
          <a:bodyPr wrap="square" lIns="0" tIns="0" rIns="0" bIns="0" rtlCol="0" anchor="t"/>
          <a:lstStyle/>
          <a:p>
            <a:pPr marL="0" indent="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31" name="Shape 26"/>
          <p:cNvSpPr/>
          <p:nvPr/>
        </p:nvSpPr>
        <p:spPr>
          <a:xfrm>
            <a:off x="8046720" y="1490472"/>
            <a:ext cx="457200" cy="457200"/>
          </a:xfrm>
          <a:prstGeom prst="ellipse">
            <a:avLst/>
          </a:prstGeom>
          <a:solidFill>
            <a:srgbClr val="0E7C86">
              <a:alpha val="22000"/>
            </a:srgbClr>
          </a:solidFill>
          <a:ln/>
        </p:spPr>
      </p:sp>
      <p:pic>
        <p:nvPicPr>
          <p:cNvPr id="32" name="Image 2" descr="preencoded.png"/>
          <p:cNvPicPr>
            <a:picLocks noChangeAspect="1"/>
          </p:cNvPicPr>
          <p:nvPr/>
        </p:nvPicPr>
        <p:blipFill>
          <a:blip r:embed="rId5"/>
          <a:stretch>
            <a:fillRect/>
          </a:stretch>
        </p:blipFill>
        <p:spPr>
          <a:xfrm>
            <a:off x="8156448" y="1600200"/>
            <a:ext cx="237744" cy="237744"/>
          </a:xfrm>
          <a:prstGeom prst="rect">
            <a:avLst/>
          </a:prstGeom>
        </p:spPr>
      </p:pic>
      <p:sp>
        <p:nvSpPr>
          <p:cNvPr id="33" name="Text 27"/>
          <p:cNvSpPr txBox="1"/>
          <p:nvPr/>
        </p:nvSpPr>
        <p:spPr>
          <a:xfrm>
            <a:off x="6217920" y="196596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Measure quality</a:t>
            </a:r>
            <a:endParaRPr lang="en-US" sz="1400" dirty="0"/>
          </a:p>
        </p:txBody>
      </p:sp>
      <p:sp>
        <p:nvSpPr>
          <p:cNvPr id="34" name="Text 28"/>
          <p:cNvSpPr txBox="1"/>
          <p:nvPr/>
        </p:nvSpPr>
        <p:spPr>
          <a:xfrm>
            <a:off x="6217920" y="222199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Metrics per task type, scorecards and LLM-as-judge.</a:t>
            </a:r>
            <a:endParaRPr lang="en-US" sz="1050" dirty="0"/>
          </a:p>
        </p:txBody>
      </p:sp>
      <p:sp>
        <p:nvSpPr>
          <p:cNvPr id="35" name="Shape 29"/>
          <p:cNvSpPr/>
          <p:nvPr/>
        </p:nvSpPr>
        <p:spPr>
          <a:xfrm>
            <a:off x="457200" y="2880360"/>
            <a:ext cx="2651760" cy="1371600"/>
          </a:xfrm>
          <a:prstGeom prst="roundRect">
            <a:avLst>
              <a:gd name="adj" fmla="val 5333"/>
            </a:avLst>
          </a:prstGeom>
          <a:solidFill>
            <a:srgbClr val="F4F7F5"/>
          </a:solidFill>
          <a:ln w="9525">
            <a:solidFill>
              <a:srgbClr val="D5DED9"/>
            </a:solidFill>
            <a:prstDash val="solid"/>
          </a:ln>
        </p:spPr>
      </p:sp>
      <p:sp>
        <p:nvSpPr>
          <p:cNvPr id="36" name="Text 30"/>
          <p:cNvSpPr txBox="1"/>
          <p:nvPr/>
        </p:nvSpPr>
        <p:spPr>
          <a:xfrm>
            <a:off x="640080" y="3017520"/>
            <a:ext cx="914400" cy="457200"/>
          </a:xfrm>
          <a:prstGeom prst="rect">
            <a:avLst/>
          </a:prstGeom>
          <a:noFill/>
          <a:ln/>
        </p:spPr>
        <p:txBody>
          <a:bodyPr wrap="square" lIns="0" tIns="0" rIns="0" bIns="0" rtlCol="0" anchor="t"/>
          <a:lstStyle/>
          <a:p>
            <a:pPr marL="0" indent="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37" name="Shape 31"/>
          <p:cNvSpPr/>
          <p:nvPr/>
        </p:nvSpPr>
        <p:spPr>
          <a:xfrm>
            <a:off x="2468880" y="3044952"/>
            <a:ext cx="457200" cy="457200"/>
          </a:xfrm>
          <a:prstGeom prst="ellipse">
            <a:avLst/>
          </a:prstGeom>
          <a:solidFill>
            <a:srgbClr val="D49A00">
              <a:alpha val="22000"/>
            </a:srgbClr>
          </a:solidFill>
          <a:ln/>
        </p:spPr>
      </p:sp>
      <p:pic>
        <p:nvPicPr>
          <p:cNvPr id="38" name="Image 3" descr="preencoded.png"/>
          <p:cNvPicPr>
            <a:picLocks noChangeAspect="1"/>
          </p:cNvPicPr>
          <p:nvPr/>
        </p:nvPicPr>
        <p:blipFill>
          <a:blip r:embed="rId6"/>
          <a:stretch>
            <a:fillRect/>
          </a:stretch>
        </p:blipFill>
        <p:spPr>
          <a:xfrm>
            <a:off x="2578608" y="3154680"/>
            <a:ext cx="237744" cy="237744"/>
          </a:xfrm>
          <a:prstGeom prst="rect">
            <a:avLst/>
          </a:prstGeom>
        </p:spPr>
      </p:pic>
      <p:sp>
        <p:nvSpPr>
          <p:cNvPr id="39" name="Text 32"/>
          <p:cNvSpPr txBox="1"/>
          <p:nvPr/>
        </p:nvSpPr>
        <p:spPr>
          <a:xfrm>
            <a:off x="640080" y="352044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Control variance</a:t>
            </a:r>
            <a:endParaRPr lang="en-US" sz="1400" dirty="0"/>
          </a:p>
        </p:txBody>
      </p:sp>
      <p:sp>
        <p:nvSpPr>
          <p:cNvPr id="40" name="Text 33"/>
          <p:cNvSpPr txBox="1"/>
          <p:nvPr/>
        </p:nvSpPr>
        <p:spPr>
          <a:xfrm>
            <a:off x="640080" y="377647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Why answers change between runs, and the levers to stop it.</a:t>
            </a:r>
            <a:endParaRPr lang="en-US" sz="1050" dirty="0"/>
          </a:p>
        </p:txBody>
      </p:sp>
      <p:sp>
        <p:nvSpPr>
          <p:cNvPr id="41" name="Shape 34"/>
          <p:cNvSpPr/>
          <p:nvPr/>
        </p:nvSpPr>
        <p:spPr>
          <a:xfrm>
            <a:off x="3246120" y="2880360"/>
            <a:ext cx="2651760" cy="1371600"/>
          </a:xfrm>
          <a:prstGeom prst="roundRect">
            <a:avLst>
              <a:gd name="adj" fmla="val 5333"/>
            </a:avLst>
          </a:prstGeom>
          <a:solidFill>
            <a:srgbClr val="F4F7F5"/>
          </a:solidFill>
          <a:ln w="9525">
            <a:solidFill>
              <a:srgbClr val="D5DED9"/>
            </a:solidFill>
            <a:prstDash val="solid"/>
          </a:ln>
        </p:spPr>
      </p:sp>
      <p:sp>
        <p:nvSpPr>
          <p:cNvPr id="42" name="Text 35"/>
          <p:cNvSpPr txBox="1"/>
          <p:nvPr/>
        </p:nvSpPr>
        <p:spPr>
          <a:xfrm>
            <a:off x="3429000" y="3017520"/>
            <a:ext cx="91440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43" name="Shape 36"/>
          <p:cNvSpPr/>
          <p:nvPr/>
        </p:nvSpPr>
        <p:spPr>
          <a:xfrm>
            <a:off x="5257800" y="3044952"/>
            <a:ext cx="457200" cy="457200"/>
          </a:xfrm>
          <a:prstGeom prst="ellipse">
            <a:avLst/>
          </a:prstGeom>
          <a:solidFill>
            <a:srgbClr val="C4621D">
              <a:alpha val="22000"/>
            </a:srgbClr>
          </a:solidFill>
          <a:ln/>
        </p:spPr>
      </p:sp>
      <p:pic>
        <p:nvPicPr>
          <p:cNvPr id="44" name="Image 4" descr="preencoded.png"/>
          <p:cNvPicPr>
            <a:picLocks noChangeAspect="1"/>
          </p:cNvPicPr>
          <p:nvPr/>
        </p:nvPicPr>
        <p:blipFill>
          <a:blip r:embed="rId7"/>
          <a:stretch>
            <a:fillRect/>
          </a:stretch>
        </p:blipFill>
        <p:spPr>
          <a:xfrm>
            <a:off x="5367528" y="3154680"/>
            <a:ext cx="237744" cy="237744"/>
          </a:xfrm>
          <a:prstGeom prst="rect">
            <a:avLst/>
          </a:prstGeom>
        </p:spPr>
      </p:pic>
      <p:sp>
        <p:nvSpPr>
          <p:cNvPr id="45" name="Text 37"/>
          <p:cNvSpPr txBox="1"/>
          <p:nvPr/>
        </p:nvSpPr>
        <p:spPr>
          <a:xfrm>
            <a:off x="3429000" y="352044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Context, tokens &amp; cost</a:t>
            </a:r>
            <a:endParaRPr lang="en-US" sz="1400" dirty="0"/>
          </a:p>
        </p:txBody>
      </p:sp>
      <p:sp>
        <p:nvSpPr>
          <p:cNvPr id="46" name="Text 38"/>
          <p:cNvSpPr txBox="1"/>
          <p:nvPr/>
        </p:nvSpPr>
        <p:spPr>
          <a:xfrm>
            <a:off x="3429000" y="377647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Estimate the bill, shorten context, cache and batch.</a:t>
            </a:r>
            <a:endParaRPr lang="en-US" sz="1050" dirty="0"/>
          </a:p>
        </p:txBody>
      </p:sp>
      <p:sp>
        <p:nvSpPr>
          <p:cNvPr id="47" name="Shape 39"/>
          <p:cNvSpPr/>
          <p:nvPr/>
        </p:nvSpPr>
        <p:spPr>
          <a:xfrm>
            <a:off x="6035040" y="2880360"/>
            <a:ext cx="2651760" cy="1371600"/>
          </a:xfrm>
          <a:prstGeom prst="roundRect">
            <a:avLst>
              <a:gd name="adj" fmla="val 5333"/>
            </a:avLst>
          </a:prstGeom>
          <a:solidFill>
            <a:srgbClr val="F4F7F5"/>
          </a:solidFill>
          <a:ln w="9525">
            <a:solidFill>
              <a:srgbClr val="D5DED9"/>
            </a:solidFill>
            <a:prstDash val="solid"/>
          </a:ln>
        </p:spPr>
      </p:sp>
      <p:sp>
        <p:nvSpPr>
          <p:cNvPr id="48" name="Text 40"/>
          <p:cNvSpPr txBox="1"/>
          <p:nvPr/>
        </p:nvSpPr>
        <p:spPr>
          <a:xfrm>
            <a:off x="6217920" y="3017520"/>
            <a:ext cx="914400" cy="457200"/>
          </a:xfrm>
          <a:prstGeom prst="rect">
            <a:avLst/>
          </a:prstGeom>
          <a:noFill/>
          <a:ln/>
        </p:spPr>
        <p:txBody>
          <a:bodyPr wrap="square" lIns="0" tIns="0" rIns="0" bIns="0" rtlCol="0" anchor="t"/>
          <a:lstStyle/>
          <a:p>
            <a:pPr marL="0" indent="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49" name="Shape 41"/>
          <p:cNvSpPr/>
          <p:nvPr/>
        </p:nvSpPr>
        <p:spPr>
          <a:xfrm>
            <a:off x="8046720" y="3044952"/>
            <a:ext cx="457200" cy="457200"/>
          </a:xfrm>
          <a:prstGeom prst="ellipse">
            <a:avLst/>
          </a:prstGeom>
          <a:solidFill>
            <a:srgbClr val="B83B2E">
              <a:alpha val="22000"/>
            </a:srgbClr>
          </a:solidFill>
          <a:ln/>
        </p:spPr>
      </p:sp>
      <p:pic>
        <p:nvPicPr>
          <p:cNvPr id="50" name="Image 5" descr="preencoded.png"/>
          <p:cNvPicPr>
            <a:picLocks noChangeAspect="1"/>
          </p:cNvPicPr>
          <p:nvPr/>
        </p:nvPicPr>
        <p:blipFill>
          <a:blip r:embed="rId8"/>
          <a:stretch>
            <a:fillRect/>
          </a:stretch>
        </p:blipFill>
        <p:spPr>
          <a:xfrm>
            <a:off x="8156448" y="3154680"/>
            <a:ext cx="237744" cy="237744"/>
          </a:xfrm>
          <a:prstGeom prst="rect">
            <a:avLst/>
          </a:prstGeom>
        </p:spPr>
      </p:pic>
      <p:sp>
        <p:nvSpPr>
          <p:cNvPr id="51" name="Text 42"/>
          <p:cNvSpPr txBox="1"/>
          <p:nvPr/>
        </p:nvSpPr>
        <p:spPr>
          <a:xfrm>
            <a:off x="6217920" y="3520440"/>
            <a:ext cx="22860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Prompt, RAG or fine-tune?</a:t>
            </a:r>
            <a:endParaRPr lang="en-US" sz="1400" dirty="0"/>
          </a:p>
        </p:txBody>
      </p:sp>
      <p:sp>
        <p:nvSpPr>
          <p:cNvPr id="52" name="Text 43"/>
          <p:cNvSpPr txBox="1"/>
          <p:nvPr/>
        </p:nvSpPr>
        <p:spPr>
          <a:xfrm>
            <a:off x="6217920" y="3776472"/>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Match the tool to the failure you observe.</a:t>
            </a:r>
            <a:endParaRPr lang="en-US" sz="1050" dirty="0"/>
          </a:p>
        </p:txBody>
      </p:sp>
      <p:sp>
        <p:nvSpPr>
          <p:cNvPr id="53" name="Text 44"/>
          <p:cNvSpPr txBox="1"/>
          <p:nvPr/>
        </p:nvSpPr>
        <p:spPr>
          <a:xfrm>
            <a:off x="457200" y="4462272"/>
            <a:ext cx="8229600" cy="228600"/>
          </a:xfrm>
          <a:prstGeom prst="rect">
            <a:avLst/>
          </a:prstGeom>
          <a:noFill/>
          <a:ln/>
        </p:spPr>
        <p:txBody>
          <a:bodyPr wrap="square" lIns="0" tIns="0" rIns="0" bIns="0" rtlCol="0" anchor="t"/>
          <a:lstStyle/>
          <a:p>
            <a:pPr marL="0" indent="0">
              <a:buNone/>
            </a:pPr>
            <a:r>
              <a:rPr lang="en-US" sz="1100" i="1" dirty="0">
                <a:solidFill>
                  <a:srgbClr val="00704A"/>
                </a:solidFill>
                <a:latin typeface="Calibri" pitchFamily="34" charset="0"/>
                <a:ea typeface="Calibri" pitchFamily="34" charset="-122"/>
                <a:cs typeface="Calibri" pitchFamily="34" charset="-120"/>
              </a:rPr>
              <a:t>Then: hands-on lab · pitfalls for statistical offices · the great-prompt checklist</a:t>
            </a:r>
            <a:endParaRPr lang="en-US" sz="11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1 OF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01</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From craft to method</a:t>
            </a:r>
            <a:endParaRPr lang="en-US" sz="36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Why does a prompt that worked on yesterday’s bulletin fail on today’s?</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5C242"/>
          </a:solidFill>
          <a:ln/>
        </p:spPr>
      </p:sp>
      <p:sp>
        <p:nvSpPr>
          <p:cNvPr id="11" name="Shape 8"/>
          <p:cNvSpPr/>
          <p:nvPr/>
        </p:nvSpPr>
        <p:spPr>
          <a:xfrm>
            <a:off x="7818120" y="365760"/>
            <a:ext cx="100584" cy="100584"/>
          </a:xfrm>
          <a:prstGeom prst="ellipse">
            <a:avLst/>
          </a:prstGeom>
          <a:solidFill>
            <a:srgbClr val="FFFFFF">
              <a:alpha val="40000"/>
            </a:srgbClr>
          </a:solidFill>
          <a:ln/>
        </p:spPr>
      </p:sp>
      <p:sp>
        <p:nvSpPr>
          <p:cNvPr id="12" name="Shape 9"/>
          <p:cNvSpPr/>
          <p:nvPr/>
        </p:nvSpPr>
        <p:spPr>
          <a:xfrm>
            <a:off x="8001000" y="365760"/>
            <a:ext cx="100584" cy="100584"/>
          </a:xfrm>
          <a:prstGeom prst="ellipse">
            <a:avLst/>
          </a:prstGeom>
          <a:solidFill>
            <a:srgbClr val="FFFFFF">
              <a:alpha val="40000"/>
            </a:srgbClr>
          </a:solidFill>
          <a:ln/>
        </p:spPr>
      </p:sp>
      <p:sp>
        <p:nvSpPr>
          <p:cNvPr id="13" name="Shape 10"/>
          <p:cNvSpPr/>
          <p:nvPr/>
        </p:nvSpPr>
        <p:spPr>
          <a:xfrm>
            <a:off x="8183880" y="365760"/>
            <a:ext cx="100584" cy="100584"/>
          </a:xfrm>
          <a:prstGeom prst="ellipse">
            <a:avLst/>
          </a:prstGeom>
          <a:solidFill>
            <a:srgbClr val="FFFFFF">
              <a:alpha val="40000"/>
            </a:srgbClr>
          </a:solidFill>
          <a:ln/>
        </p:spPr>
      </p:sp>
      <p:sp>
        <p:nvSpPr>
          <p:cNvPr id="14" name="Shape 11"/>
          <p:cNvSpPr/>
          <p:nvPr/>
        </p:nvSpPr>
        <p:spPr>
          <a:xfrm>
            <a:off x="8366760" y="365760"/>
            <a:ext cx="100584" cy="100584"/>
          </a:xfrm>
          <a:prstGeom prst="ellipse">
            <a:avLst/>
          </a:prstGeom>
          <a:solidFill>
            <a:srgbClr val="FFFFFF">
              <a:alpha val="40000"/>
            </a:srgbClr>
          </a:solidFill>
          <a:ln/>
        </p:spPr>
      </p:sp>
      <p:sp>
        <p:nvSpPr>
          <p:cNvPr id="15" name="Shape 12"/>
          <p:cNvSpPr/>
          <p:nvPr/>
        </p:nvSpPr>
        <p:spPr>
          <a:xfrm>
            <a:off x="8549640" y="365760"/>
            <a:ext cx="100584" cy="100584"/>
          </a:xfrm>
          <a:prstGeom prst="ellipse">
            <a:avLst/>
          </a:prstGeom>
          <a:solidFill>
            <a:srgbClr val="FFFFFF">
              <a:alpha val="40000"/>
            </a:srgbClr>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05</a:t>
            </a:r>
            <a:endParaRPr lang="en-US" sz="8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FROM CRAFT TO METHOD</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“It looked fine” is not a quality standard</a:t>
            </a:r>
            <a:endParaRPr lang="en-US" sz="2800" dirty="0"/>
          </a:p>
        </p:txBody>
      </p:sp>
      <p:sp>
        <p:nvSpPr>
          <p:cNvPr id="8" name="Shape 6"/>
          <p:cNvSpPr/>
          <p:nvPr/>
        </p:nvSpPr>
        <p:spPr>
          <a:xfrm>
            <a:off x="7635240" y="365760"/>
            <a:ext cx="100584" cy="100584"/>
          </a:xfrm>
          <a:prstGeom prst="ellipse">
            <a:avLst/>
          </a:prstGeom>
          <a:solidFill>
            <a:srgbClr val="00A86A"/>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06</a:t>
            </a:r>
            <a:endParaRPr lang="en-US" sz="850" dirty="0"/>
          </a:p>
        </p:txBody>
      </p:sp>
      <p:sp>
        <p:nvSpPr>
          <p:cNvPr id="17" name="Shape 14"/>
          <p:cNvSpPr/>
          <p:nvPr/>
        </p:nvSpPr>
        <p:spPr>
          <a:xfrm>
            <a:off x="2057400" y="1298448"/>
            <a:ext cx="3200400" cy="411480"/>
          </a:xfrm>
          <a:prstGeom prst="roundRect">
            <a:avLst>
              <a:gd name="adj" fmla="val 17778"/>
            </a:avLst>
          </a:prstGeom>
          <a:solidFill>
            <a:srgbClr val="F4F7F5"/>
          </a:solidFill>
          <a:ln w="9525">
            <a:solidFill>
              <a:srgbClr val="D5DED9"/>
            </a:solidFill>
            <a:prstDash val="solid"/>
          </a:ln>
        </p:spPr>
      </p:sp>
      <p:sp>
        <p:nvSpPr>
          <p:cNvPr id="18" name="Shape 15"/>
          <p:cNvSpPr/>
          <p:nvPr/>
        </p:nvSpPr>
        <p:spPr>
          <a:xfrm>
            <a:off x="5440680" y="1298448"/>
            <a:ext cx="3246120" cy="411480"/>
          </a:xfrm>
          <a:prstGeom prst="roundRect">
            <a:avLst>
              <a:gd name="adj" fmla="val 17778"/>
            </a:avLst>
          </a:prstGeom>
          <a:solidFill>
            <a:srgbClr val="E8F5EF"/>
          </a:solidFill>
          <a:ln w="15875">
            <a:solidFill>
              <a:srgbClr val="00A86A"/>
            </a:solidFill>
            <a:prstDash val="solid"/>
          </a:ln>
        </p:spPr>
      </p:sp>
      <p:sp>
        <p:nvSpPr>
          <p:cNvPr id="19" name="Text 16"/>
          <p:cNvSpPr txBox="1"/>
          <p:nvPr/>
        </p:nvSpPr>
        <p:spPr>
          <a:xfrm>
            <a:off x="2057400" y="1298448"/>
            <a:ext cx="3200400" cy="411480"/>
          </a:xfrm>
          <a:prstGeom prst="rect">
            <a:avLst/>
          </a:prstGeom>
          <a:noFill/>
          <a:ln/>
        </p:spPr>
        <p:txBody>
          <a:bodyPr wrap="square" lIns="0" tIns="0" rIns="0" bIns="0" rtlCol="0" anchor="ctr"/>
          <a:lstStyle/>
          <a:p>
            <a:pPr marL="0" indent="0" algn="ctr">
              <a:buNone/>
            </a:pPr>
            <a:r>
              <a:rPr lang="en-US" sz="1200" b="1" kern="0" spc="200" dirty="0">
                <a:solidFill>
                  <a:srgbClr val="5E6964"/>
                </a:solidFill>
                <a:latin typeface="Calibri" pitchFamily="34" charset="0"/>
                <a:ea typeface="Calibri" pitchFamily="34" charset="-122"/>
                <a:cs typeface="Calibri" pitchFamily="34" charset="-120"/>
              </a:rPr>
              <a:t>A “GOOD” PROMPT</a:t>
            </a:r>
            <a:endParaRPr lang="en-US" sz="1200" dirty="0"/>
          </a:p>
        </p:txBody>
      </p:sp>
      <p:sp>
        <p:nvSpPr>
          <p:cNvPr id="20" name="Text 17"/>
          <p:cNvSpPr txBox="1"/>
          <p:nvPr/>
        </p:nvSpPr>
        <p:spPr>
          <a:xfrm>
            <a:off x="5440680" y="1298448"/>
            <a:ext cx="3246120" cy="411480"/>
          </a:xfrm>
          <a:prstGeom prst="rect">
            <a:avLst/>
          </a:prstGeom>
          <a:noFill/>
          <a:ln/>
        </p:spPr>
        <p:txBody>
          <a:bodyPr wrap="square" lIns="0" tIns="0" rIns="0" bIns="0" rtlCol="0" anchor="ctr"/>
          <a:lstStyle/>
          <a:p>
            <a:pPr marL="0" indent="0" algn="ctr">
              <a:buNone/>
            </a:pPr>
            <a:r>
              <a:rPr lang="en-US" sz="1200" b="1" kern="0" spc="200" dirty="0">
                <a:solidFill>
                  <a:srgbClr val="00704A"/>
                </a:solidFill>
                <a:latin typeface="Calibri" pitchFamily="34" charset="0"/>
                <a:ea typeface="Calibri" pitchFamily="34" charset="-122"/>
                <a:cs typeface="Calibri" pitchFamily="34" charset="-120"/>
              </a:rPr>
              <a:t>A “GREAT” PROMPT</a:t>
            </a:r>
            <a:endParaRPr lang="en-US" sz="1200" dirty="0"/>
          </a:p>
        </p:txBody>
      </p:sp>
      <p:sp>
        <p:nvSpPr>
          <p:cNvPr id="21" name="Text 18"/>
          <p:cNvSpPr txBox="1"/>
          <p:nvPr/>
        </p:nvSpPr>
        <p:spPr>
          <a:xfrm>
            <a:off x="457200" y="1801368"/>
            <a:ext cx="150876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Tested on</a:t>
            </a:r>
            <a:endParaRPr lang="en-US" sz="1200" dirty="0"/>
          </a:p>
        </p:txBody>
      </p:sp>
      <p:pic>
        <p:nvPicPr>
          <p:cNvPr id="22" name="Image 0" descr="preencoded.png"/>
          <p:cNvPicPr>
            <a:picLocks noChangeAspect="1"/>
          </p:cNvPicPr>
          <p:nvPr/>
        </p:nvPicPr>
        <p:blipFill>
          <a:blip r:embed="rId3"/>
          <a:stretch>
            <a:fillRect/>
          </a:stretch>
        </p:blipFill>
        <p:spPr>
          <a:xfrm>
            <a:off x="2148840" y="1911096"/>
            <a:ext cx="128016" cy="128016"/>
          </a:xfrm>
          <a:prstGeom prst="rect">
            <a:avLst/>
          </a:prstGeom>
        </p:spPr>
      </p:pic>
      <p:sp>
        <p:nvSpPr>
          <p:cNvPr id="23" name="Text 19"/>
          <p:cNvSpPr txBox="1"/>
          <p:nvPr/>
        </p:nvSpPr>
        <p:spPr>
          <a:xfrm>
            <a:off x="2377440" y="1801368"/>
            <a:ext cx="2880360" cy="34747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the one example you happened to try</a:t>
            </a:r>
            <a:endParaRPr lang="en-US" sz="1100" dirty="0"/>
          </a:p>
        </p:txBody>
      </p:sp>
      <p:pic>
        <p:nvPicPr>
          <p:cNvPr id="24" name="Image 1" descr="preencoded.png"/>
          <p:cNvPicPr>
            <a:picLocks noChangeAspect="1"/>
          </p:cNvPicPr>
          <p:nvPr/>
        </p:nvPicPr>
        <p:blipFill>
          <a:blip r:embed="rId4"/>
          <a:stretch>
            <a:fillRect/>
          </a:stretch>
        </p:blipFill>
        <p:spPr>
          <a:xfrm>
            <a:off x="5532120" y="1911096"/>
            <a:ext cx="137160" cy="128016"/>
          </a:xfrm>
          <a:prstGeom prst="rect">
            <a:avLst/>
          </a:prstGeom>
        </p:spPr>
      </p:pic>
      <p:sp>
        <p:nvSpPr>
          <p:cNvPr id="25" name="Text 20"/>
          <p:cNvSpPr txBox="1"/>
          <p:nvPr/>
        </p:nvSpPr>
        <p:spPr>
          <a:xfrm>
            <a:off x="5760720" y="1801368"/>
            <a:ext cx="2926080" cy="34747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a frozen set of 30–50 representative cases</a:t>
            </a:r>
            <a:endParaRPr lang="en-US" sz="1100" dirty="0"/>
          </a:p>
        </p:txBody>
      </p:sp>
      <p:sp>
        <p:nvSpPr>
          <p:cNvPr id="26" name="Shape 21"/>
          <p:cNvSpPr/>
          <p:nvPr/>
        </p:nvSpPr>
        <p:spPr>
          <a:xfrm>
            <a:off x="457200" y="2176272"/>
            <a:ext cx="8229600" cy="0"/>
          </a:xfrm>
          <a:prstGeom prst="line">
            <a:avLst/>
          </a:prstGeom>
          <a:noFill/>
          <a:ln w="6350">
            <a:solidFill>
              <a:srgbClr val="D5DED9"/>
            </a:solidFill>
            <a:prstDash val="solid"/>
          </a:ln>
        </p:spPr>
      </p:sp>
      <p:sp>
        <p:nvSpPr>
          <p:cNvPr id="27" name="Text 22"/>
          <p:cNvSpPr txBox="1"/>
          <p:nvPr/>
        </p:nvSpPr>
        <p:spPr>
          <a:xfrm>
            <a:off x="457200" y="2203704"/>
            <a:ext cx="150876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Judged by</a:t>
            </a:r>
            <a:endParaRPr lang="en-US" sz="1200" dirty="0"/>
          </a:p>
        </p:txBody>
      </p:sp>
      <p:pic>
        <p:nvPicPr>
          <p:cNvPr id="28" name="Image 2" descr="preencoded.png"/>
          <p:cNvPicPr>
            <a:picLocks noChangeAspect="1"/>
          </p:cNvPicPr>
          <p:nvPr/>
        </p:nvPicPr>
        <p:blipFill>
          <a:blip r:embed="rId3"/>
          <a:stretch>
            <a:fillRect/>
          </a:stretch>
        </p:blipFill>
        <p:spPr>
          <a:xfrm>
            <a:off x="2148840" y="2313432"/>
            <a:ext cx="128016" cy="128016"/>
          </a:xfrm>
          <a:prstGeom prst="rect">
            <a:avLst/>
          </a:prstGeom>
        </p:spPr>
      </p:pic>
      <p:sp>
        <p:nvSpPr>
          <p:cNvPr id="29" name="Text 23"/>
          <p:cNvSpPr txBox="1"/>
          <p:nvPr/>
        </p:nvSpPr>
        <p:spPr>
          <a:xfrm>
            <a:off x="2377440" y="2203704"/>
            <a:ext cx="2880360" cy="34747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reading the answer and feeling satisfied</a:t>
            </a:r>
            <a:endParaRPr lang="en-US" sz="1100" dirty="0"/>
          </a:p>
        </p:txBody>
      </p:sp>
      <p:pic>
        <p:nvPicPr>
          <p:cNvPr id="30" name="Image 3" descr="preencoded.png"/>
          <p:cNvPicPr>
            <a:picLocks noChangeAspect="1"/>
          </p:cNvPicPr>
          <p:nvPr/>
        </p:nvPicPr>
        <p:blipFill>
          <a:blip r:embed="rId4"/>
          <a:stretch>
            <a:fillRect/>
          </a:stretch>
        </p:blipFill>
        <p:spPr>
          <a:xfrm>
            <a:off x="5532120" y="2313432"/>
            <a:ext cx="137160" cy="128016"/>
          </a:xfrm>
          <a:prstGeom prst="rect">
            <a:avLst/>
          </a:prstGeom>
        </p:spPr>
      </p:pic>
      <p:sp>
        <p:nvSpPr>
          <p:cNvPr id="31" name="Text 24"/>
          <p:cNvSpPr txBox="1"/>
          <p:nvPr/>
        </p:nvSpPr>
        <p:spPr>
          <a:xfrm>
            <a:off x="5760720" y="2203704"/>
            <a:ext cx="2926080" cy="34747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written criteria and a numeric score</a:t>
            </a:r>
            <a:endParaRPr lang="en-US" sz="1100" dirty="0"/>
          </a:p>
        </p:txBody>
      </p:sp>
      <p:sp>
        <p:nvSpPr>
          <p:cNvPr id="32" name="Shape 25"/>
          <p:cNvSpPr/>
          <p:nvPr/>
        </p:nvSpPr>
        <p:spPr>
          <a:xfrm>
            <a:off x="457200" y="2578608"/>
            <a:ext cx="8229600" cy="0"/>
          </a:xfrm>
          <a:prstGeom prst="line">
            <a:avLst/>
          </a:prstGeom>
          <a:noFill/>
          <a:ln w="6350">
            <a:solidFill>
              <a:srgbClr val="D5DED9"/>
            </a:solidFill>
            <a:prstDash val="solid"/>
          </a:ln>
        </p:spPr>
      </p:sp>
      <p:sp>
        <p:nvSpPr>
          <p:cNvPr id="33" name="Text 26"/>
          <p:cNvSpPr txBox="1"/>
          <p:nvPr/>
        </p:nvSpPr>
        <p:spPr>
          <a:xfrm>
            <a:off x="457200" y="2606040"/>
            <a:ext cx="150876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Error rate</a:t>
            </a:r>
            <a:endParaRPr lang="en-US" sz="1200" dirty="0"/>
          </a:p>
        </p:txBody>
      </p:sp>
      <p:pic>
        <p:nvPicPr>
          <p:cNvPr id="34" name="Image 4" descr="preencoded.png"/>
          <p:cNvPicPr>
            <a:picLocks noChangeAspect="1"/>
          </p:cNvPicPr>
          <p:nvPr/>
        </p:nvPicPr>
        <p:blipFill>
          <a:blip r:embed="rId3"/>
          <a:stretch>
            <a:fillRect/>
          </a:stretch>
        </p:blipFill>
        <p:spPr>
          <a:xfrm>
            <a:off x="2148840" y="2715768"/>
            <a:ext cx="128016" cy="128016"/>
          </a:xfrm>
          <a:prstGeom prst="rect">
            <a:avLst/>
          </a:prstGeom>
        </p:spPr>
      </p:pic>
      <p:sp>
        <p:nvSpPr>
          <p:cNvPr id="35" name="Text 27"/>
          <p:cNvSpPr txBox="1"/>
          <p:nvPr/>
        </p:nvSpPr>
        <p:spPr>
          <a:xfrm>
            <a:off x="2377440" y="2606040"/>
            <a:ext cx="2880360" cy="34747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unknown</a:t>
            </a:r>
            <a:endParaRPr lang="en-US" sz="1100" dirty="0"/>
          </a:p>
        </p:txBody>
      </p:sp>
      <p:pic>
        <p:nvPicPr>
          <p:cNvPr id="36" name="Image 5" descr="preencoded.png"/>
          <p:cNvPicPr>
            <a:picLocks noChangeAspect="1"/>
          </p:cNvPicPr>
          <p:nvPr/>
        </p:nvPicPr>
        <p:blipFill>
          <a:blip r:embed="rId4"/>
          <a:stretch>
            <a:fillRect/>
          </a:stretch>
        </p:blipFill>
        <p:spPr>
          <a:xfrm>
            <a:off x="5532120" y="2715768"/>
            <a:ext cx="137160" cy="128016"/>
          </a:xfrm>
          <a:prstGeom prst="rect">
            <a:avLst/>
          </a:prstGeom>
        </p:spPr>
      </p:pic>
      <p:sp>
        <p:nvSpPr>
          <p:cNvPr id="37" name="Text 28"/>
          <p:cNvSpPr txBox="1"/>
          <p:nvPr/>
        </p:nvSpPr>
        <p:spPr>
          <a:xfrm>
            <a:off x="5760720" y="2606040"/>
            <a:ext cx="2926080" cy="34747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measured, with named failure modes</a:t>
            </a:r>
            <a:endParaRPr lang="en-US" sz="1100" dirty="0"/>
          </a:p>
        </p:txBody>
      </p:sp>
      <p:sp>
        <p:nvSpPr>
          <p:cNvPr id="38" name="Shape 29"/>
          <p:cNvSpPr/>
          <p:nvPr/>
        </p:nvSpPr>
        <p:spPr>
          <a:xfrm>
            <a:off x="457200" y="2980944"/>
            <a:ext cx="8229600" cy="0"/>
          </a:xfrm>
          <a:prstGeom prst="line">
            <a:avLst/>
          </a:prstGeom>
          <a:noFill/>
          <a:ln w="6350">
            <a:solidFill>
              <a:srgbClr val="D5DED9"/>
            </a:solidFill>
            <a:prstDash val="solid"/>
          </a:ln>
        </p:spPr>
      </p:sp>
      <p:sp>
        <p:nvSpPr>
          <p:cNvPr id="39" name="Text 30"/>
          <p:cNvSpPr txBox="1"/>
          <p:nvPr/>
        </p:nvSpPr>
        <p:spPr>
          <a:xfrm>
            <a:off x="457200" y="3008376"/>
            <a:ext cx="150876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Between runs</a:t>
            </a:r>
            <a:endParaRPr lang="en-US" sz="1200" dirty="0"/>
          </a:p>
        </p:txBody>
      </p:sp>
      <p:pic>
        <p:nvPicPr>
          <p:cNvPr id="40" name="Image 6" descr="preencoded.png"/>
          <p:cNvPicPr>
            <a:picLocks noChangeAspect="1"/>
          </p:cNvPicPr>
          <p:nvPr/>
        </p:nvPicPr>
        <p:blipFill>
          <a:blip r:embed="rId3"/>
          <a:stretch>
            <a:fillRect/>
          </a:stretch>
        </p:blipFill>
        <p:spPr>
          <a:xfrm>
            <a:off x="2148840" y="3118104"/>
            <a:ext cx="128016" cy="128016"/>
          </a:xfrm>
          <a:prstGeom prst="rect">
            <a:avLst/>
          </a:prstGeom>
        </p:spPr>
      </p:pic>
      <p:sp>
        <p:nvSpPr>
          <p:cNvPr id="41" name="Text 31"/>
          <p:cNvSpPr txBox="1"/>
          <p:nvPr/>
        </p:nvSpPr>
        <p:spPr>
          <a:xfrm>
            <a:off x="2377440" y="3008376"/>
            <a:ext cx="2880360" cy="34747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answers drift without warning</a:t>
            </a:r>
            <a:endParaRPr lang="en-US" sz="1100" dirty="0"/>
          </a:p>
        </p:txBody>
      </p:sp>
      <p:pic>
        <p:nvPicPr>
          <p:cNvPr id="42" name="Image 7" descr="preencoded.png"/>
          <p:cNvPicPr>
            <a:picLocks noChangeAspect="1"/>
          </p:cNvPicPr>
          <p:nvPr/>
        </p:nvPicPr>
        <p:blipFill>
          <a:blip r:embed="rId4"/>
          <a:stretch>
            <a:fillRect/>
          </a:stretch>
        </p:blipFill>
        <p:spPr>
          <a:xfrm>
            <a:off x="5532120" y="3118104"/>
            <a:ext cx="137160" cy="128016"/>
          </a:xfrm>
          <a:prstGeom prst="rect">
            <a:avLst/>
          </a:prstGeom>
        </p:spPr>
      </p:pic>
      <p:sp>
        <p:nvSpPr>
          <p:cNvPr id="43" name="Text 32"/>
          <p:cNvSpPr txBox="1"/>
          <p:nvPr/>
        </p:nvSpPr>
        <p:spPr>
          <a:xfrm>
            <a:off x="5760720" y="3008376"/>
            <a:ext cx="2926080" cy="34747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stable, pinned model, versioned prompt</a:t>
            </a:r>
            <a:endParaRPr lang="en-US" sz="1100" dirty="0"/>
          </a:p>
        </p:txBody>
      </p:sp>
      <p:sp>
        <p:nvSpPr>
          <p:cNvPr id="44" name="Shape 33"/>
          <p:cNvSpPr/>
          <p:nvPr/>
        </p:nvSpPr>
        <p:spPr>
          <a:xfrm>
            <a:off x="457200" y="3383280"/>
            <a:ext cx="8229600" cy="0"/>
          </a:xfrm>
          <a:prstGeom prst="line">
            <a:avLst/>
          </a:prstGeom>
          <a:noFill/>
          <a:ln w="6350">
            <a:solidFill>
              <a:srgbClr val="D5DED9"/>
            </a:solidFill>
            <a:prstDash val="solid"/>
          </a:ln>
        </p:spPr>
      </p:sp>
      <p:sp>
        <p:nvSpPr>
          <p:cNvPr id="45" name="Text 34"/>
          <p:cNvSpPr txBox="1"/>
          <p:nvPr/>
        </p:nvSpPr>
        <p:spPr>
          <a:xfrm>
            <a:off x="457200" y="3410712"/>
            <a:ext cx="150876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Cost</a:t>
            </a:r>
            <a:endParaRPr lang="en-US" sz="1200" dirty="0"/>
          </a:p>
        </p:txBody>
      </p:sp>
      <p:pic>
        <p:nvPicPr>
          <p:cNvPr id="46" name="Image 8" descr="preencoded.png"/>
          <p:cNvPicPr>
            <a:picLocks noChangeAspect="1"/>
          </p:cNvPicPr>
          <p:nvPr/>
        </p:nvPicPr>
        <p:blipFill>
          <a:blip r:embed="rId3"/>
          <a:stretch>
            <a:fillRect/>
          </a:stretch>
        </p:blipFill>
        <p:spPr>
          <a:xfrm>
            <a:off x="2148840" y="3520440"/>
            <a:ext cx="128016" cy="128016"/>
          </a:xfrm>
          <a:prstGeom prst="rect">
            <a:avLst/>
          </a:prstGeom>
        </p:spPr>
      </p:pic>
      <p:sp>
        <p:nvSpPr>
          <p:cNvPr id="47" name="Text 35"/>
          <p:cNvSpPr txBox="1"/>
          <p:nvPr/>
        </p:nvSpPr>
        <p:spPr>
          <a:xfrm>
            <a:off x="2377440" y="3410712"/>
            <a:ext cx="2880360" cy="34747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discovered on the invoice</a:t>
            </a:r>
            <a:endParaRPr lang="en-US" sz="1100" dirty="0"/>
          </a:p>
        </p:txBody>
      </p:sp>
      <p:pic>
        <p:nvPicPr>
          <p:cNvPr id="48" name="Image 9" descr="preencoded.png"/>
          <p:cNvPicPr>
            <a:picLocks noChangeAspect="1"/>
          </p:cNvPicPr>
          <p:nvPr/>
        </p:nvPicPr>
        <p:blipFill>
          <a:blip r:embed="rId4"/>
          <a:stretch>
            <a:fillRect/>
          </a:stretch>
        </p:blipFill>
        <p:spPr>
          <a:xfrm>
            <a:off x="5532120" y="3520440"/>
            <a:ext cx="137160" cy="128016"/>
          </a:xfrm>
          <a:prstGeom prst="rect">
            <a:avLst/>
          </a:prstGeom>
        </p:spPr>
      </p:pic>
      <p:sp>
        <p:nvSpPr>
          <p:cNvPr id="49" name="Text 36"/>
          <p:cNvSpPr txBox="1"/>
          <p:nvPr/>
        </p:nvSpPr>
        <p:spPr>
          <a:xfrm>
            <a:off x="5760720" y="3410712"/>
            <a:ext cx="2926080" cy="34747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estimated per 1,000 documents in advance</a:t>
            </a:r>
            <a:endParaRPr lang="en-US" sz="1100" dirty="0"/>
          </a:p>
        </p:txBody>
      </p:sp>
      <p:sp>
        <p:nvSpPr>
          <p:cNvPr id="50" name="Shape 37"/>
          <p:cNvSpPr/>
          <p:nvPr/>
        </p:nvSpPr>
        <p:spPr>
          <a:xfrm>
            <a:off x="457200" y="3886200"/>
            <a:ext cx="8229600" cy="621792"/>
          </a:xfrm>
          <a:prstGeom prst="roundRect">
            <a:avLst>
              <a:gd name="adj" fmla="val 8824"/>
            </a:avLst>
          </a:prstGeom>
          <a:solidFill>
            <a:srgbClr val="D49A00">
              <a:alpha val="13000"/>
            </a:srgbClr>
          </a:solidFill>
          <a:ln w="12700">
            <a:solidFill>
              <a:srgbClr val="D49A00"/>
            </a:solidFill>
            <a:prstDash val="solid"/>
          </a:ln>
        </p:spPr>
      </p:sp>
      <p:pic>
        <p:nvPicPr>
          <p:cNvPr id="51" name="Image 10" descr="preencoded.png"/>
          <p:cNvPicPr>
            <a:picLocks noChangeAspect="1"/>
          </p:cNvPicPr>
          <p:nvPr/>
        </p:nvPicPr>
        <p:blipFill>
          <a:blip r:embed="rId5"/>
          <a:stretch>
            <a:fillRect/>
          </a:stretch>
        </p:blipFill>
        <p:spPr>
          <a:xfrm>
            <a:off x="621792" y="4041648"/>
            <a:ext cx="310896" cy="310896"/>
          </a:xfrm>
          <a:prstGeom prst="rect">
            <a:avLst/>
          </a:prstGeom>
        </p:spPr>
      </p:pic>
      <p:sp>
        <p:nvSpPr>
          <p:cNvPr id="52" name="Text 38"/>
          <p:cNvSpPr txBox="1"/>
          <p:nvPr/>
        </p:nvSpPr>
        <p:spPr>
          <a:xfrm>
            <a:off x="1051560" y="3931920"/>
            <a:ext cx="7498080" cy="548640"/>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Official statistics raise the bar. </a:t>
            </a:r>
            <a:r>
              <a:rPr lang="en-US" sz="1100" dirty="0">
                <a:solidFill>
                  <a:srgbClr val="231F20"/>
                </a:solidFill>
                <a:latin typeface="Calibri" pitchFamily="34" charset="0"/>
                <a:ea typeface="Calibri" pitchFamily="34" charset="-122"/>
                <a:cs typeface="Calibri" pitchFamily="34" charset="-120"/>
              </a:rPr>
              <a:t>The UN Fundamental Principles ask offices to choose methods on professional and scientific grounds (Principle 2) and to protect individual data (Principle 6). An LLM step in production must meet the same test.</a:t>
            </a:r>
            <a:endParaRPr lang="en-US" sz="1100" dirty="0"/>
          </a:p>
        </p:txBody>
      </p:sp>
      <p:sp>
        <p:nvSpPr>
          <p:cNvPr id="53" name="Text 39"/>
          <p:cNvSpPr txBox="1"/>
          <p:nvPr/>
        </p:nvSpPr>
        <p:spPr>
          <a:xfrm>
            <a:off x="457200" y="4599432"/>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UN General Assembly Resolution 68/261, Fundamental Principles of Official Statistics (2014).</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RECAP FROM THIS MORNING</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six building blocks, on a real NSO task</a:t>
            </a:r>
            <a:endParaRPr lang="en-US" sz="2800" dirty="0"/>
          </a:p>
        </p:txBody>
      </p:sp>
      <p:sp>
        <p:nvSpPr>
          <p:cNvPr id="8" name="Shape 6"/>
          <p:cNvSpPr/>
          <p:nvPr/>
        </p:nvSpPr>
        <p:spPr>
          <a:xfrm>
            <a:off x="7635240" y="365760"/>
            <a:ext cx="100584" cy="100584"/>
          </a:xfrm>
          <a:prstGeom prst="ellipse">
            <a:avLst/>
          </a:prstGeom>
          <a:solidFill>
            <a:srgbClr val="00A86A"/>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07</a:t>
            </a:r>
            <a:endParaRPr lang="en-US" sz="850" dirty="0"/>
          </a:p>
        </p:txBody>
      </p:sp>
      <p:sp>
        <p:nvSpPr>
          <p:cNvPr id="17" name="Shape 14"/>
          <p:cNvSpPr/>
          <p:nvPr/>
        </p:nvSpPr>
        <p:spPr>
          <a:xfrm>
            <a:off x="457200" y="1298448"/>
            <a:ext cx="5623560" cy="3246120"/>
          </a:xfrm>
          <a:prstGeom prst="roundRect">
            <a:avLst>
              <a:gd name="adj" fmla="val 2254"/>
            </a:avLst>
          </a:prstGeom>
          <a:solidFill>
            <a:srgbClr val="FFFFFF"/>
          </a:solidFill>
          <a:ln w="9525">
            <a:solidFill>
              <a:srgbClr val="D5DED9"/>
            </a:solidFill>
            <a:prstDash val="solid"/>
          </a:ln>
        </p:spPr>
      </p:sp>
      <p:sp>
        <p:nvSpPr>
          <p:cNvPr id="18" name="Text 15"/>
          <p:cNvSpPr txBox="1"/>
          <p:nvPr/>
        </p:nvSpPr>
        <p:spPr>
          <a:xfrm>
            <a:off x="640080" y="1417320"/>
            <a:ext cx="4572000" cy="201168"/>
          </a:xfrm>
          <a:prstGeom prst="rect">
            <a:avLst/>
          </a:prstGeom>
          <a:noFill/>
          <a:ln/>
        </p:spPr>
        <p:txBody>
          <a:bodyPr wrap="square" lIns="0" tIns="0" rIns="0" bIns="0" rtlCol="0" anchor="t"/>
          <a:lstStyle/>
          <a:p>
            <a:pPr marL="0" indent="0">
              <a:buNone/>
            </a:pPr>
            <a:r>
              <a:rPr lang="en-US" sz="1000" b="1" kern="0" spc="200" dirty="0">
                <a:solidFill>
                  <a:srgbClr val="5E6964"/>
                </a:solidFill>
                <a:latin typeface="Calibri" pitchFamily="34" charset="0"/>
                <a:ea typeface="Calibri" pitchFamily="34" charset="-122"/>
                <a:cs typeface="Calibri" pitchFamily="34" charset="-120"/>
              </a:rPr>
              <a:t>PROMPT v0 · OCCUPATION CODING</a:t>
            </a:r>
            <a:endParaRPr lang="en-US" sz="1000" dirty="0"/>
          </a:p>
        </p:txBody>
      </p:sp>
      <p:sp>
        <p:nvSpPr>
          <p:cNvPr id="19" name="Shape 16"/>
          <p:cNvSpPr/>
          <p:nvPr/>
        </p:nvSpPr>
        <p:spPr>
          <a:xfrm>
            <a:off x="640080" y="1801368"/>
            <a:ext cx="1051560" cy="237744"/>
          </a:xfrm>
          <a:prstGeom prst="roundRect">
            <a:avLst>
              <a:gd name="adj" fmla="val 50000"/>
            </a:avLst>
          </a:prstGeom>
          <a:solidFill>
            <a:srgbClr val="00A86A">
              <a:alpha val="15000"/>
            </a:srgbClr>
          </a:solidFill>
          <a:ln w="9525">
            <a:solidFill>
              <a:srgbClr val="00A86A"/>
            </a:solidFill>
            <a:prstDash val="solid"/>
          </a:ln>
        </p:spPr>
      </p:sp>
      <p:sp>
        <p:nvSpPr>
          <p:cNvPr id="20" name="Text 17"/>
          <p:cNvSpPr txBox="1"/>
          <p:nvPr/>
        </p:nvSpPr>
        <p:spPr>
          <a:xfrm>
            <a:off x="640080" y="1801368"/>
            <a:ext cx="1051560" cy="237744"/>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ROLE</a:t>
            </a:r>
            <a:endParaRPr lang="en-US" sz="900" dirty="0"/>
          </a:p>
        </p:txBody>
      </p:sp>
      <p:sp>
        <p:nvSpPr>
          <p:cNvPr id="21" name="Text 18"/>
          <p:cNvSpPr txBox="1"/>
          <p:nvPr/>
        </p:nvSpPr>
        <p:spPr>
          <a:xfrm>
            <a:off x="1828800" y="17190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You are a statistical coder at the National Statistics Office.</a:t>
            </a:r>
            <a:endParaRPr lang="en-US" sz="1050" dirty="0"/>
          </a:p>
        </p:txBody>
      </p:sp>
      <p:sp>
        <p:nvSpPr>
          <p:cNvPr id="22" name="Shape 19"/>
          <p:cNvSpPr/>
          <p:nvPr/>
        </p:nvSpPr>
        <p:spPr>
          <a:xfrm>
            <a:off x="640080" y="2258568"/>
            <a:ext cx="1051560" cy="237744"/>
          </a:xfrm>
          <a:prstGeom prst="roundRect">
            <a:avLst>
              <a:gd name="adj" fmla="val 50000"/>
            </a:avLst>
          </a:prstGeom>
          <a:solidFill>
            <a:srgbClr val="00704A">
              <a:alpha val="15000"/>
            </a:srgbClr>
          </a:solidFill>
          <a:ln w="9525">
            <a:solidFill>
              <a:srgbClr val="00704A"/>
            </a:solidFill>
            <a:prstDash val="solid"/>
          </a:ln>
        </p:spPr>
      </p:sp>
      <p:sp>
        <p:nvSpPr>
          <p:cNvPr id="23" name="Text 20"/>
          <p:cNvSpPr txBox="1"/>
          <p:nvPr/>
        </p:nvSpPr>
        <p:spPr>
          <a:xfrm>
            <a:off x="640080" y="2258568"/>
            <a:ext cx="1051560" cy="237744"/>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OBJECTIVE</a:t>
            </a:r>
            <a:endParaRPr lang="en-US" sz="900" dirty="0"/>
          </a:p>
        </p:txBody>
      </p:sp>
      <p:sp>
        <p:nvSpPr>
          <p:cNvPr id="24" name="Text 21"/>
          <p:cNvSpPr txBox="1"/>
          <p:nvPr/>
        </p:nvSpPr>
        <p:spPr>
          <a:xfrm>
            <a:off x="1828800" y="21762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Assign one ISCO-08 four-digit unit group code to each job description.</a:t>
            </a:r>
            <a:endParaRPr lang="en-US" sz="1050" dirty="0"/>
          </a:p>
        </p:txBody>
      </p:sp>
      <p:sp>
        <p:nvSpPr>
          <p:cNvPr id="25" name="Shape 22"/>
          <p:cNvSpPr/>
          <p:nvPr/>
        </p:nvSpPr>
        <p:spPr>
          <a:xfrm>
            <a:off x="640080" y="2715768"/>
            <a:ext cx="1051560" cy="237744"/>
          </a:xfrm>
          <a:prstGeom prst="roundRect">
            <a:avLst>
              <a:gd name="adj" fmla="val 50000"/>
            </a:avLst>
          </a:prstGeom>
          <a:solidFill>
            <a:srgbClr val="0E7C86">
              <a:alpha val="15000"/>
            </a:srgbClr>
          </a:solidFill>
          <a:ln w="9525">
            <a:solidFill>
              <a:srgbClr val="0E7C86"/>
            </a:solidFill>
            <a:prstDash val="solid"/>
          </a:ln>
        </p:spPr>
      </p:sp>
      <p:sp>
        <p:nvSpPr>
          <p:cNvPr id="26" name="Text 23"/>
          <p:cNvSpPr txBox="1"/>
          <p:nvPr/>
        </p:nvSpPr>
        <p:spPr>
          <a:xfrm>
            <a:off x="640080" y="2715768"/>
            <a:ext cx="1051560" cy="237744"/>
          </a:xfrm>
          <a:prstGeom prst="rect">
            <a:avLst/>
          </a:prstGeom>
          <a:noFill/>
          <a:ln/>
        </p:spPr>
        <p:txBody>
          <a:bodyPr wrap="square" lIns="0" tIns="0" rIns="0" bIns="0" rtlCol="0" anchor="ctr"/>
          <a:lstStyle/>
          <a:p>
            <a:pPr marL="0" indent="0" algn="ctr">
              <a:buNone/>
            </a:pPr>
            <a:r>
              <a:rPr lang="en-US" sz="900" b="1" kern="0" spc="100" dirty="0">
                <a:solidFill>
                  <a:srgbClr val="0E7C86"/>
                </a:solidFill>
                <a:latin typeface="Calibri" pitchFamily="34" charset="0"/>
                <a:ea typeface="Calibri" pitchFamily="34" charset="-122"/>
                <a:cs typeface="Calibri" pitchFamily="34" charset="-120"/>
              </a:rPr>
              <a:t>CONTEXT</a:t>
            </a:r>
            <a:endParaRPr lang="en-US" sz="900" dirty="0"/>
          </a:p>
        </p:txBody>
      </p:sp>
      <p:sp>
        <p:nvSpPr>
          <p:cNvPr id="27" name="Text 24"/>
          <p:cNvSpPr txBox="1"/>
          <p:nvPr/>
        </p:nvSpPr>
        <p:spPr>
          <a:xfrm>
            <a:off x="1828800" y="26334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Descriptions are free text from the Labour Force Survey, in French or English, typed by enumerators.</a:t>
            </a:r>
            <a:endParaRPr lang="en-US" sz="1050" dirty="0"/>
          </a:p>
        </p:txBody>
      </p:sp>
      <p:sp>
        <p:nvSpPr>
          <p:cNvPr id="28" name="Shape 25"/>
          <p:cNvSpPr/>
          <p:nvPr/>
        </p:nvSpPr>
        <p:spPr>
          <a:xfrm>
            <a:off x="640080" y="3172968"/>
            <a:ext cx="1051560" cy="237744"/>
          </a:xfrm>
          <a:prstGeom prst="roundRect">
            <a:avLst>
              <a:gd name="adj" fmla="val 50000"/>
            </a:avLst>
          </a:prstGeom>
          <a:solidFill>
            <a:srgbClr val="D49A00">
              <a:alpha val="15000"/>
            </a:srgbClr>
          </a:solidFill>
          <a:ln w="9525">
            <a:solidFill>
              <a:srgbClr val="D49A00"/>
            </a:solidFill>
            <a:prstDash val="solid"/>
          </a:ln>
        </p:spPr>
      </p:sp>
      <p:sp>
        <p:nvSpPr>
          <p:cNvPr id="29" name="Text 26"/>
          <p:cNvSpPr txBox="1"/>
          <p:nvPr/>
        </p:nvSpPr>
        <p:spPr>
          <a:xfrm>
            <a:off x="640080" y="3172968"/>
            <a:ext cx="1051560" cy="237744"/>
          </a:xfrm>
          <a:prstGeom prst="rect">
            <a:avLst/>
          </a:prstGeom>
          <a:noFill/>
          <a:ln/>
        </p:spPr>
        <p:txBody>
          <a:bodyPr wrap="square" lIns="0" tIns="0" rIns="0" bIns="0" rtlCol="0" anchor="ctr"/>
          <a:lstStyle/>
          <a:p>
            <a:pPr marL="0" indent="0" algn="ctr">
              <a:buNone/>
            </a:pPr>
            <a:r>
              <a:rPr lang="en-US" sz="900" b="1" kern="0" spc="100" dirty="0">
                <a:solidFill>
                  <a:srgbClr val="D49A00"/>
                </a:solidFill>
                <a:latin typeface="Calibri" pitchFamily="34" charset="0"/>
                <a:ea typeface="Calibri" pitchFamily="34" charset="-122"/>
                <a:cs typeface="Calibri" pitchFamily="34" charset="-120"/>
              </a:rPr>
              <a:t>RULES</a:t>
            </a:r>
            <a:endParaRPr lang="en-US" sz="900" dirty="0"/>
          </a:p>
        </p:txBody>
      </p:sp>
      <p:sp>
        <p:nvSpPr>
          <p:cNvPr id="30" name="Text 27"/>
          <p:cNvSpPr txBox="1"/>
          <p:nvPr/>
        </p:nvSpPr>
        <p:spPr>
          <a:xfrm>
            <a:off x="1828800" y="30906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Use only codes from the attached ISCO-08 list. Code the main job. If unclear, return UNCODABLE; never guess.</a:t>
            </a:r>
            <a:endParaRPr lang="en-US" sz="1050" dirty="0"/>
          </a:p>
        </p:txBody>
      </p:sp>
      <p:sp>
        <p:nvSpPr>
          <p:cNvPr id="31" name="Shape 28"/>
          <p:cNvSpPr/>
          <p:nvPr/>
        </p:nvSpPr>
        <p:spPr>
          <a:xfrm>
            <a:off x="640080" y="3630168"/>
            <a:ext cx="1051560" cy="237744"/>
          </a:xfrm>
          <a:prstGeom prst="roundRect">
            <a:avLst>
              <a:gd name="adj" fmla="val 50000"/>
            </a:avLst>
          </a:prstGeom>
          <a:solidFill>
            <a:srgbClr val="C4621D">
              <a:alpha val="15000"/>
            </a:srgbClr>
          </a:solidFill>
          <a:ln w="9525">
            <a:solidFill>
              <a:srgbClr val="C4621D"/>
            </a:solidFill>
            <a:prstDash val="solid"/>
          </a:ln>
        </p:spPr>
      </p:sp>
      <p:sp>
        <p:nvSpPr>
          <p:cNvPr id="32" name="Text 29"/>
          <p:cNvSpPr txBox="1"/>
          <p:nvPr/>
        </p:nvSpPr>
        <p:spPr>
          <a:xfrm>
            <a:off x="640080" y="3630168"/>
            <a:ext cx="1051560" cy="237744"/>
          </a:xfrm>
          <a:prstGeom prst="rect">
            <a:avLst/>
          </a:prstGeom>
          <a:noFill/>
          <a:ln/>
        </p:spPr>
        <p:txBody>
          <a:bodyPr wrap="square" lIns="0" tIns="0" rIns="0" bIns="0" rtlCol="0" anchor="ctr"/>
          <a:lstStyle/>
          <a:p>
            <a:pPr marL="0" indent="0" algn="ctr">
              <a:buNone/>
            </a:pPr>
            <a:r>
              <a:rPr lang="en-US" sz="900" b="1" kern="0" spc="100" dirty="0">
                <a:solidFill>
                  <a:srgbClr val="C4621D"/>
                </a:solidFill>
                <a:latin typeface="Calibri" pitchFamily="34" charset="0"/>
                <a:ea typeface="Calibri" pitchFamily="34" charset="-122"/>
                <a:cs typeface="Calibri" pitchFamily="34" charset="-120"/>
              </a:rPr>
              <a:t>FORMAT</a:t>
            </a:r>
            <a:endParaRPr lang="en-US" sz="900" dirty="0"/>
          </a:p>
        </p:txBody>
      </p:sp>
      <p:sp>
        <p:nvSpPr>
          <p:cNvPr id="33" name="Text 30"/>
          <p:cNvSpPr txBox="1"/>
          <p:nvPr/>
        </p:nvSpPr>
        <p:spPr>
          <a:xfrm>
            <a:off x="1828800" y="35478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ourier New" pitchFamily="34" charset="0"/>
                <a:ea typeface="Courier New" pitchFamily="34" charset="-122"/>
                <a:cs typeface="Courier New" pitchFamily="34" charset="-120"/>
              </a:rPr>
              <a:t>Return JSON only: {"id", "isco_code", "confidence": "high|medium|low"}</a:t>
            </a:r>
            <a:endParaRPr lang="en-US" sz="1050" dirty="0"/>
          </a:p>
        </p:txBody>
      </p:sp>
      <p:sp>
        <p:nvSpPr>
          <p:cNvPr id="34" name="Shape 31"/>
          <p:cNvSpPr/>
          <p:nvPr/>
        </p:nvSpPr>
        <p:spPr>
          <a:xfrm>
            <a:off x="640080" y="4087368"/>
            <a:ext cx="1051560" cy="237744"/>
          </a:xfrm>
          <a:prstGeom prst="roundRect">
            <a:avLst>
              <a:gd name="adj" fmla="val 50000"/>
            </a:avLst>
          </a:prstGeom>
          <a:solidFill>
            <a:srgbClr val="B83B2E">
              <a:alpha val="15000"/>
            </a:srgbClr>
          </a:solidFill>
          <a:ln w="9525">
            <a:solidFill>
              <a:srgbClr val="B83B2E"/>
            </a:solidFill>
            <a:prstDash val="solid"/>
          </a:ln>
        </p:spPr>
      </p:sp>
      <p:sp>
        <p:nvSpPr>
          <p:cNvPr id="35" name="Text 32"/>
          <p:cNvSpPr txBox="1"/>
          <p:nvPr/>
        </p:nvSpPr>
        <p:spPr>
          <a:xfrm>
            <a:off x="640080" y="4087368"/>
            <a:ext cx="1051560" cy="237744"/>
          </a:xfrm>
          <a:prstGeom prst="rect">
            <a:avLst/>
          </a:prstGeom>
          <a:noFill/>
          <a:ln/>
        </p:spPr>
        <p:txBody>
          <a:bodyPr wrap="square" lIns="0" tIns="0" rIns="0" bIns="0" rtlCol="0" anchor="ctr"/>
          <a:lstStyle/>
          <a:p>
            <a:pPr marL="0" indent="0" algn="ctr">
              <a:buNone/>
            </a:pPr>
            <a:r>
              <a:rPr lang="en-US" sz="900" b="1" kern="0" spc="100" dirty="0">
                <a:solidFill>
                  <a:srgbClr val="B83B2E"/>
                </a:solidFill>
                <a:latin typeface="Calibri" pitchFamily="34" charset="0"/>
                <a:ea typeface="Calibri" pitchFamily="34" charset="-122"/>
                <a:cs typeface="Calibri" pitchFamily="34" charset="-120"/>
              </a:rPr>
              <a:t>EXAMPLES</a:t>
            </a:r>
            <a:endParaRPr lang="en-US" sz="900" dirty="0"/>
          </a:p>
        </p:txBody>
      </p:sp>
      <p:sp>
        <p:nvSpPr>
          <p:cNvPr id="36" name="Text 33"/>
          <p:cNvSpPr txBox="1"/>
          <p:nvPr/>
        </p:nvSpPr>
        <p:spPr>
          <a:xfrm>
            <a:off x="1828800" y="4005072"/>
            <a:ext cx="4114800" cy="4023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“Vendeuse de tomates au marché” → 5211  ·  “Moto-taxi driver” → 8321</a:t>
            </a:r>
            <a:endParaRPr lang="en-US" sz="1050" dirty="0"/>
          </a:p>
        </p:txBody>
      </p:sp>
      <p:sp>
        <p:nvSpPr>
          <p:cNvPr id="37" name="Shape 34"/>
          <p:cNvSpPr/>
          <p:nvPr/>
        </p:nvSpPr>
        <p:spPr>
          <a:xfrm>
            <a:off x="6263640" y="1298448"/>
            <a:ext cx="2423160" cy="3246120"/>
          </a:xfrm>
          <a:prstGeom prst="roundRect">
            <a:avLst>
              <a:gd name="adj" fmla="val 3019"/>
            </a:avLst>
          </a:prstGeom>
          <a:solidFill>
            <a:srgbClr val="E8F5EF"/>
          </a:solidFill>
          <a:ln w="15875">
            <a:solidFill>
              <a:srgbClr val="00A86A"/>
            </a:solidFill>
            <a:prstDash val="solid"/>
          </a:ln>
        </p:spPr>
      </p:sp>
      <p:sp>
        <p:nvSpPr>
          <p:cNvPr id="38" name="Shape 35"/>
          <p:cNvSpPr/>
          <p:nvPr/>
        </p:nvSpPr>
        <p:spPr>
          <a:xfrm>
            <a:off x="6400800" y="1463040"/>
            <a:ext cx="457200" cy="457200"/>
          </a:xfrm>
          <a:prstGeom prst="ellipse">
            <a:avLst/>
          </a:prstGeom>
          <a:solidFill>
            <a:srgbClr val="00704A">
              <a:alpha val="22000"/>
            </a:srgbClr>
          </a:solidFill>
          <a:ln/>
        </p:spPr>
      </p:sp>
      <p:pic>
        <p:nvPicPr>
          <p:cNvPr id="39" name="Image 0" descr="preencoded.png"/>
          <p:cNvPicPr>
            <a:picLocks noChangeAspect="1"/>
          </p:cNvPicPr>
          <p:nvPr/>
        </p:nvPicPr>
        <p:blipFill>
          <a:blip r:embed="rId3"/>
          <a:stretch>
            <a:fillRect/>
          </a:stretch>
        </p:blipFill>
        <p:spPr>
          <a:xfrm>
            <a:off x="6510528" y="1572768"/>
            <a:ext cx="237744" cy="237744"/>
          </a:xfrm>
          <a:prstGeom prst="rect">
            <a:avLst/>
          </a:prstGeom>
        </p:spPr>
      </p:pic>
      <p:sp>
        <p:nvSpPr>
          <p:cNvPr id="40" name="Text 36"/>
          <p:cNvSpPr txBox="1"/>
          <p:nvPr/>
        </p:nvSpPr>
        <p:spPr>
          <a:xfrm>
            <a:off x="6400800" y="2057400"/>
            <a:ext cx="2148840" cy="228600"/>
          </a:xfrm>
          <a:prstGeom prst="rect">
            <a:avLst/>
          </a:prstGeom>
          <a:noFill/>
          <a:ln/>
        </p:spPr>
        <p:txBody>
          <a:bodyPr wrap="square" lIns="0" tIns="0" rIns="0" bIns="0" rtlCol="0" anchor="t"/>
          <a:lstStyle/>
          <a:p>
            <a:pPr marL="0" indent="0">
              <a:buNone/>
            </a:pPr>
            <a:r>
              <a:rPr lang="en-US" sz="1200" b="1" dirty="0">
                <a:solidFill>
                  <a:srgbClr val="5E6964"/>
                </a:solidFill>
                <a:latin typeface="Calibri" pitchFamily="34" charset="0"/>
                <a:ea typeface="Calibri" pitchFamily="34" charset="-122"/>
                <a:cs typeface="Calibri" pitchFamily="34" charset="-120"/>
              </a:rPr>
              <a:t>This morning:</a:t>
            </a:r>
            <a:endParaRPr lang="en-US" sz="1200" dirty="0"/>
          </a:p>
        </p:txBody>
      </p:sp>
      <p:sp>
        <p:nvSpPr>
          <p:cNvPr id="41" name="Text 37"/>
          <p:cNvSpPr txBox="1"/>
          <p:nvPr/>
        </p:nvSpPr>
        <p:spPr>
          <a:xfrm>
            <a:off x="6400800" y="2286000"/>
            <a:ext cx="2148840" cy="27432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how do I write it?</a:t>
            </a:r>
            <a:endParaRPr lang="en-US" sz="1500" dirty="0"/>
          </a:p>
        </p:txBody>
      </p:sp>
      <p:sp>
        <p:nvSpPr>
          <p:cNvPr id="42" name="Text 38"/>
          <p:cNvSpPr txBox="1"/>
          <p:nvPr/>
        </p:nvSpPr>
        <p:spPr>
          <a:xfrm>
            <a:off x="6400800" y="2788920"/>
            <a:ext cx="2148840" cy="228600"/>
          </a:xfrm>
          <a:prstGeom prst="rect">
            <a:avLst/>
          </a:prstGeom>
          <a:noFill/>
          <a:ln/>
        </p:spPr>
        <p:txBody>
          <a:bodyPr wrap="square" lIns="0" tIns="0" rIns="0" bIns="0" rtlCol="0" anchor="t"/>
          <a:lstStyle/>
          <a:p>
            <a:pPr marL="0" indent="0">
              <a:buNone/>
            </a:pPr>
            <a:r>
              <a:rPr lang="en-US" sz="1200" b="1" dirty="0">
                <a:solidFill>
                  <a:srgbClr val="00A86A"/>
                </a:solidFill>
                <a:latin typeface="Calibri" pitchFamily="34" charset="0"/>
                <a:ea typeface="Calibri" pitchFamily="34" charset="-122"/>
                <a:cs typeface="Calibri" pitchFamily="34" charset="-120"/>
              </a:rPr>
              <a:t>This afternoon:</a:t>
            </a:r>
            <a:endParaRPr lang="en-US" sz="1200" dirty="0"/>
          </a:p>
        </p:txBody>
      </p:sp>
      <p:sp>
        <p:nvSpPr>
          <p:cNvPr id="43" name="Text 39"/>
          <p:cNvSpPr txBox="1"/>
          <p:nvPr/>
        </p:nvSpPr>
        <p:spPr>
          <a:xfrm>
            <a:off x="6400800" y="3017520"/>
            <a:ext cx="2148840" cy="73152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how do I prove it works, and make it better?</a:t>
            </a:r>
            <a:endParaRPr lang="en-US" sz="1500" dirty="0"/>
          </a:p>
        </p:txBody>
      </p:sp>
      <p:sp>
        <p:nvSpPr>
          <p:cNvPr id="44" name="Text 40"/>
          <p:cNvSpPr txBox="1"/>
          <p:nvPr/>
        </p:nvSpPr>
        <p:spPr>
          <a:xfrm>
            <a:off x="6400800" y="3977640"/>
            <a:ext cx="2148840" cy="41148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Prompt v0 is your starting point in the lab.</a:t>
            </a:r>
            <a:endParaRPr lang="en-US" sz="1000" dirty="0"/>
          </a:p>
        </p:txBody>
      </p:sp>
      <p:sp>
        <p:nvSpPr>
          <p:cNvPr id="45" name="Text 41"/>
          <p:cNvSpPr txBox="1"/>
          <p:nvPr/>
        </p:nvSpPr>
        <p:spPr>
          <a:xfrm>
            <a:off x="457200" y="4599432"/>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Codes: ILO, International Standard Classification of Occupations (ISCO-08). 5211 = stall and market salespersons; 8321 = motorcycle drivers.</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2 OF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02</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Build an evaluation set</a:t>
            </a:r>
            <a:endParaRPr lang="en-US" sz="36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How will you know that version 2 is better than version 1?</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FFFFF">
              <a:alpha val="40000"/>
            </a:srgbClr>
          </a:solidFill>
          <a:ln/>
        </p:spPr>
      </p:sp>
      <p:sp>
        <p:nvSpPr>
          <p:cNvPr id="11" name="Shape 8"/>
          <p:cNvSpPr/>
          <p:nvPr/>
        </p:nvSpPr>
        <p:spPr>
          <a:xfrm>
            <a:off x="7818120" y="365760"/>
            <a:ext cx="100584" cy="100584"/>
          </a:xfrm>
          <a:prstGeom prst="ellipse">
            <a:avLst/>
          </a:prstGeom>
          <a:solidFill>
            <a:srgbClr val="F5C242"/>
          </a:solidFill>
          <a:ln/>
        </p:spPr>
      </p:sp>
      <p:sp>
        <p:nvSpPr>
          <p:cNvPr id="12" name="Shape 9"/>
          <p:cNvSpPr/>
          <p:nvPr/>
        </p:nvSpPr>
        <p:spPr>
          <a:xfrm>
            <a:off x="8001000" y="365760"/>
            <a:ext cx="100584" cy="100584"/>
          </a:xfrm>
          <a:prstGeom prst="ellipse">
            <a:avLst/>
          </a:prstGeom>
          <a:solidFill>
            <a:srgbClr val="FFFFFF">
              <a:alpha val="40000"/>
            </a:srgbClr>
          </a:solidFill>
          <a:ln/>
        </p:spPr>
      </p:sp>
      <p:sp>
        <p:nvSpPr>
          <p:cNvPr id="13" name="Shape 10"/>
          <p:cNvSpPr/>
          <p:nvPr/>
        </p:nvSpPr>
        <p:spPr>
          <a:xfrm>
            <a:off x="8183880" y="365760"/>
            <a:ext cx="100584" cy="100584"/>
          </a:xfrm>
          <a:prstGeom prst="ellipse">
            <a:avLst/>
          </a:prstGeom>
          <a:solidFill>
            <a:srgbClr val="FFFFFF">
              <a:alpha val="40000"/>
            </a:srgbClr>
          </a:solidFill>
          <a:ln/>
        </p:spPr>
      </p:sp>
      <p:sp>
        <p:nvSpPr>
          <p:cNvPr id="14" name="Shape 11"/>
          <p:cNvSpPr/>
          <p:nvPr/>
        </p:nvSpPr>
        <p:spPr>
          <a:xfrm>
            <a:off x="8366760" y="365760"/>
            <a:ext cx="100584" cy="100584"/>
          </a:xfrm>
          <a:prstGeom prst="ellipse">
            <a:avLst/>
          </a:prstGeom>
          <a:solidFill>
            <a:srgbClr val="FFFFFF">
              <a:alpha val="40000"/>
            </a:srgbClr>
          </a:solidFill>
          <a:ln/>
        </p:spPr>
      </p:sp>
      <p:sp>
        <p:nvSpPr>
          <p:cNvPr id="15" name="Shape 12"/>
          <p:cNvSpPr/>
          <p:nvPr/>
        </p:nvSpPr>
        <p:spPr>
          <a:xfrm>
            <a:off x="8549640" y="365760"/>
            <a:ext cx="100584" cy="100584"/>
          </a:xfrm>
          <a:prstGeom prst="ellipse">
            <a:avLst/>
          </a:prstGeom>
          <a:solidFill>
            <a:srgbClr val="FFFFFF">
              <a:alpha val="40000"/>
            </a:srgbClr>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08</a:t>
            </a:r>
            <a:endParaRPr lang="en-US" sz="8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EVALUATION SET</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optimisation loop</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00704A"/>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09</a:t>
            </a:r>
            <a:endParaRPr lang="en-US" sz="850" dirty="0"/>
          </a:p>
        </p:txBody>
      </p:sp>
      <p:sp>
        <p:nvSpPr>
          <p:cNvPr id="17" name="Shape 14"/>
          <p:cNvSpPr/>
          <p:nvPr/>
        </p:nvSpPr>
        <p:spPr>
          <a:xfrm>
            <a:off x="457200" y="1417320"/>
            <a:ext cx="1280160" cy="2057400"/>
          </a:xfrm>
          <a:prstGeom prst="roundRect">
            <a:avLst>
              <a:gd name="adj" fmla="val 5714"/>
            </a:avLst>
          </a:prstGeom>
          <a:solidFill>
            <a:srgbClr val="F4F7F5"/>
          </a:solidFill>
          <a:ln w="9525">
            <a:solidFill>
              <a:srgbClr val="D5DED9"/>
            </a:solidFill>
            <a:prstDash val="solid"/>
          </a:ln>
        </p:spPr>
      </p:sp>
      <p:sp>
        <p:nvSpPr>
          <p:cNvPr id="18" name="Shape 15"/>
          <p:cNvSpPr/>
          <p:nvPr/>
        </p:nvSpPr>
        <p:spPr>
          <a:xfrm>
            <a:off x="868680" y="1554480"/>
            <a:ext cx="457200" cy="457200"/>
          </a:xfrm>
          <a:prstGeom prst="ellipse">
            <a:avLst/>
          </a:prstGeom>
          <a:solidFill>
            <a:srgbClr val="00704A"/>
          </a:solidFill>
          <a:ln/>
        </p:spPr>
      </p:sp>
      <p:sp>
        <p:nvSpPr>
          <p:cNvPr id="19" name="Text 16"/>
          <p:cNvSpPr txBox="1"/>
          <p:nvPr/>
        </p:nvSpPr>
        <p:spPr>
          <a:xfrm>
            <a:off x="868680"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Text 17"/>
          <p:cNvSpPr txBox="1"/>
          <p:nvPr/>
        </p:nvSpPr>
        <p:spPr>
          <a:xfrm>
            <a:off x="530352"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Define success</a:t>
            </a:r>
            <a:endParaRPr lang="en-US" sz="1250" dirty="0"/>
          </a:p>
        </p:txBody>
      </p:sp>
      <p:sp>
        <p:nvSpPr>
          <p:cNvPr id="21" name="Text 18"/>
          <p:cNvSpPr txBox="1"/>
          <p:nvPr/>
        </p:nvSpPr>
        <p:spPr>
          <a:xfrm>
            <a:off x="548640"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Write the criteria and the target score before prompting.</a:t>
            </a:r>
            <a:endParaRPr lang="en-US" sz="1000" dirty="0"/>
          </a:p>
        </p:txBody>
      </p:sp>
      <p:pic>
        <p:nvPicPr>
          <p:cNvPr id="22" name="Image 0" descr="preencoded.png"/>
          <p:cNvPicPr>
            <a:picLocks noChangeAspect="1"/>
          </p:cNvPicPr>
          <p:nvPr/>
        </p:nvPicPr>
        <p:blipFill>
          <a:blip r:embed="rId3"/>
          <a:stretch>
            <a:fillRect/>
          </a:stretch>
        </p:blipFill>
        <p:spPr>
          <a:xfrm>
            <a:off x="1728216" y="1709928"/>
            <a:ext cx="118872" cy="137160"/>
          </a:xfrm>
          <a:prstGeom prst="rect">
            <a:avLst/>
          </a:prstGeom>
        </p:spPr>
      </p:pic>
      <p:sp>
        <p:nvSpPr>
          <p:cNvPr id="23" name="Shape 19"/>
          <p:cNvSpPr/>
          <p:nvPr/>
        </p:nvSpPr>
        <p:spPr>
          <a:xfrm>
            <a:off x="1847088" y="1417320"/>
            <a:ext cx="1280160" cy="2057400"/>
          </a:xfrm>
          <a:prstGeom prst="roundRect">
            <a:avLst>
              <a:gd name="adj" fmla="val 5714"/>
            </a:avLst>
          </a:prstGeom>
          <a:solidFill>
            <a:srgbClr val="F4F7F5"/>
          </a:solidFill>
          <a:ln w="9525">
            <a:solidFill>
              <a:srgbClr val="D5DED9"/>
            </a:solidFill>
            <a:prstDash val="solid"/>
          </a:ln>
        </p:spPr>
      </p:sp>
      <p:sp>
        <p:nvSpPr>
          <p:cNvPr id="24" name="Shape 20"/>
          <p:cNvSpPr/>
          <p:nvPr/>
        </p:nvSpPr>
        <p:spPr>
          <a:xfrm>
            <a:off x="2258568" y="1554480"/>
            <a:ext cx="457200" cy="457200"/>
          </a:xfrm>
          <a:prstGeom prst="ellipse">
            <a:avLst/>
          </a:prstGeom>
          <a:solidFill>
            <a:srgbClr val="00704A"/>
          </a:solidFill>
          <a:ln/>
        </p:spPr>
      </p:sp>
      <p:sp>
        <p:nvSpPr>
          <p:cNvPr id="25" name="Text 21"/>
          <p:cNvSpPr txBox="1"/>
          <p:nvPr/>
        </p:nvSpPr>
        <p:spPr>
          <a:xfrm>
            <a:off x="2258568"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6" name="Text 22"/>
          <p:cNvSpPr txBox="1"/>
          <p:nvPr/>
        </p:nvSpPr>
        <p:spPr>
          <a:xfrm>
            <a:off x="1920240"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Build the set</a:t>
            </a:r>
            <a:endParaRPr lang="en-US" sz="1250" dirty="0"/>
          </a:p>
        </p:txBody>
      </p:sp>
      <p:sp>
        <p:nvSpPr>
          <p:cNvPr id="27" name="Text 23"/>
          <p:cNvSpPr txBox="1"/>
          <p:nvPr/>
        </p:nvSpPr>
        <p:spPr>
          <a:xfrm>
            <a:off x="1938528"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30–50 frozen cases with expert gold answers.</a:t>
            </a:r>
            <a:endParaRPr lang="en-US" sz="1000" dirty="0"/>
          </a:p>
        </p:txBody>
      </p:sp>
      <p:pic>
        <p:nvPicPr>
          <p:cNvPr id="28" name="Image 1" descr="preencoded.png"/>
          <p:cNvPicPr>
            <a:picLocks noChangeAspect="1"/>
          </p:cNvPicPr>
          <p:nvPr/>
        </p:nvPicPr>
        <p:blipFill>
          <a:blip r:embed="rId3"/>
          <a:stretch>
            <a:fillRect/>
          </a:stretch>
        </p:blipFill>
        <p:spPr>
          <a:xfrm>
            <a:off x="3118104" y="1709928"/>
            <a:ext cx="118872" cy="137160"/>
          </a:xfrm>
          <a:prstGeom prst="rect">
            <a:avLst/>
          </a:prstGeom>
        </p:spPr>
      </p:pic>
      <p:sp>
        <p:nvSpPr>
          <p:cNvPr id="29" name="Shape 24"/>
          <p:cNvSpPr/>
          <p:nvPr/>
        </p:nvSpPr>
        <p:spPr>
          <a:xfrm>
            <a:off x="3236976" y="1417320"/>
            <a:ext cx="1280160" cy="2057400"/>
          </a:xfrm>
          <a:prstGeom prst="roundRect">
            <a:avLst>
              <a:gd name="adj" fmla="val 5714"/>
            </a:avLst>
          </a:prstGeom>
          <a:solidFill>
            <a:srgbClr val="F4F7F5"/>
          </a:solidFill>
          <a:ln w="9525">
            <a:solidFill>
              <a:srgbClr val="D5DED9"/>
            </a:solidFill>
            <a:prstDash val="solid"/>
          </a:ln>
        </p:spPr>
      </p:sp>
      <p:sp>
        <p:nvSpPr>
          <p:cNvPr id="30" name="Shape 25"/>
          <p:cNvSpPr/>
          <p:nvPr/>
        </p:nvSpPr>
        <p:spPr>
          <a:xfrm>
            <a:off x="3648456" y="1554480"/>
            <a:ext cx="457200" cy="457200"/>
          </a:xfrm>
          <a:prstGeom prst="ellipse">
            <a:avLst/>
          </a:prstGeom>
          <a:solidFill>
            <a:srgbClr val="00704A"/>
          </a:solidFill>
          <a:ln/>
        </p:spPr>
      </p:sp>
      <p:sp>
        <p:nvSpPr>
          <p:cNvPr id="31" name="Text 26"/>
          <p:cNvSpPr txBox="1"/>
          <p:nvPr/>
        </p:nvSpPr>
        <p:spPr>
          <a:xfrm>
            <a:off x="3648456"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2" name="Text 27"/>
          <p:cNvSpPr txBox="1"/>
          <p:nvPr/>
        </p:nvSpPr>
        <p:spPr>
          <a:xfrm>
            <a:off x="3310128"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Run baseline</a:t>
            </a:r>
            <a:endParaRPr lang="en-US" sz="1250" dirty="0"/>
          </a:p>
        </p:txBody>
      </p:sp>
      <p:sp>
        <p:nvSpPr>
          <p:cNvPr id="33" name="Text 28"/>
          <p:cNvSpPr txBox="1"/>
          <p:nvPr/>
        </p:nvSpPr>
        <p:spPr>
          <a:xfrm>
            <a:off x="3328416"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Score prompt v0 on every case.</a:t>
            </a:r>
            <a:endParaRPr lang="en-US" sz="1000" dirty="0"/>
          </a:p>
        </p:txBody>
      </p:sp>
      <p:pic>
        <p:nvPicPr>
          <p:cNvPr id="34" name="Image 2" descr="preencoded.png"/>
          <p:cNvPicPr>
            <a:picLocks noChangeAspect="1"/>
          </p:cNvPicPr>
          <p:nvPr/>
        </p:nvPicPr>
        <p:blipFill>
          <a:blip r:embed="rId3"/>
          <a:stretch>
            <a:fillRect/>
          </a:stretch>
        </p:blipFill>
        <p:spPr>
          <a:xfrm>
            <a:off x="4507992" y="1709928"/>
            <a:ext cx="118872" cy="137160"/>
          </a:xfrm>
          <a:prstGeom prst="rect">
            <a:avLst/>
          </a:prstGeom>
        </p:spPr>
      </p:pic>
      <p:sp>
        <p:nvSpPr>
          <p:cNvPr id="35" name="Shape 29"/>
          <p:cNvSpPr/>
          <p:nvPr/>
        </p:nvSpPr>
        <p:spPr>
          <a:xfrm>
            <a:off x="4626864" y="1417320"/>
            <a:ext cx="1280160" cy="2057400"/>
          </a:xfrm>
          <a:prstGeom prst="roundRect">
            <a:avLst>
              <a:gd name="adj" fmla="val 5714"/>
            </a:avLst>
          </a:prstGeom>
          <a:solidFill>
            <a:srgbClr val="F4F7F5"/>
          </a:solidFill>
          <a:ln w="9525">
            <a:solidFill>
              <a:srgbClr val="D5DED9"/>
            </a:solidFill>
            <a:prstDash val="solid"/>
          </a:ln>
        </p:spPr>
      </p:sp>
      <p:sp>
        <p:nvSpPr>
          <p:cNvPr id="36" name="Shape 30"/>
          <p:cNvSpPr/>
          <p:nvPr/>
        </p:nvSpPr>
        <p:spPr>
          <a:xfrm>
            <a:off x="5038344" y="1554480"/>
            <a:ext cx="457200" cy="457200"/>
          </a:xfrm>
          <a:prstGeom prst="ellipse">
            <a:avLst/>
          </a:prstGeom>
          <a:solidFill>
            <a:srgbClr val="00704A"/>
          </a:solidFill>
          <a:ln/>
        </p:spPr>
      </p:sp>
      <p:sp>
        <p:nvSpPr>
          <p:cNvPr id="37" name="Text 31"/>
          <p:cNvSpPr txBox="1"/>
          <p:nvPr/>
        </p:nvSpPr>
        <p:spPr>
          <a:xfrm>
            <a:off x="5038344"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2"/>
          <p:cNvSpPr txBox="1"/>
          <p:nvPr/>
        </p:nvSpPr>
        <p:spPr>
          <a:xfrm>
            <a:off x="4700016"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Diagnose</a:t>
            </a:r>
            <a:endParaRPr lang="en-US" sz="1250" dirty="0"/>
          </a:p>
        </p:txBody>
      </p:sp>
      <p:sp>
        <p:nvSpPr>
          <p:cNvPr id="39" name="Text 33"/>
          <p:cNvSpPr txBox="1"/>
          <p:nvPr/>
        </p:nvSpPr>
        <p:spPr>
          <a:xfrm>
            <a:off x="4718304"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Read the failures. Name the cause: ambiguity, context or format?</a:t>
            </a:r>
            <a:endParaRPr lang="en-US" sz="1000" dirty="0"/>
          </a:p>
        </p:txBody>
      </p:sp>
      <p:pic>
        <p:nvPicPr>
          <p:cNvPr id="40" name="Image 3" descr="preencoded.png"/>
          <p:cNvPicPr>
            <a:picLocks noChangeAspect="1"/>
          </p:cNvPicPr>
          <p:nvPr/>
        </p:nvPicPr>
        <p:blipFill>
          <a:blip r:embed="rId3"/>
          <a:stretch>
            <a:fillRect/>
          </a:stretch>
        </p:blipFill>
        <p:spPr>
          <a:xfrm>
            <a:off x="5897880" y="1709928"/>
            <a:ext cx="118872" cy="137160"/>
          </a:xfrm>
          <a:prstGeom prst="rect">
            <a:avLst/>
          </a:prstGeom>
        </p:spPr>
      </p:pic>
      <p:sp>
        <p:nvSpPr>
          <p:cNvPr id="41" name="Shape 34"/>
          <p:cNvSpPr/>
          <p:nvPr/>
        </p:nvSpPr>
        <p:spPr>
          <a:xfrm>
            <a:off x="6016752" y="1417320"/>
            <a:ext cx="1280160" cy="2057400"/>
          </a:xfrm>
          <a:prstGeom prst="roundRect">
            <a:avLst>
              <a:gd name="adj" fmla="val 5714"/>
            </a:avLst>
          </a:prstGeom>
          <a:solidFill>
            <a:srgbClr val="E8F5EF"/>
          </a:solidFill>
          <a:ln w="15875">
            <a:solidFill>
              <a:srgbClr val="00704A"/>
            </a:solidFill>
            <a:prstDash val="solid"/>
          </a:ln>
        </p:spPr>
      </p:sp>
      <p:sp>
        <p:nvSpPr>
          <p:cNvPr id="42" name="Shape 35"/>
          <p:cNvSpPr/>
          <p:nvPr/>
        </p:nvSpPr>
        <p:spPr>
          <a:xfrm>
            <a:off x="6428232" y="1554480"/>
            <a:ext cx="457200" cy="457200"/>
          </a:xfrm>
          <a:prstGeom prst="ellipse">
            <a:avLst/>
          </a:prstGeom>
          <a:solidFill>
            <a:srgbClr val="F5C242"/>
          </a:solidFill>
          <a:ln/>
        </p:spPr>
      </p:sp>
      <p:sp>
        <p:nvSpPr>
          <p:cNvPr id="43" name="Text 36"/>
          <p:cNvSpPr txBox="1"/>
          <p:nvPr/>
        </p:nvSpPr>
        <p:spPr>
          <a:xfrm>
            <a:off x="6428232" y="1554480"/>
            <a:ext cx="457200" cy="457200"/>
          </a:xfrm>
          <a:prstGeom prst="rect">
            <a:avLst/>
          </a:prstGeom>
          <a:noFill/>
          <a:ln/>
        </p:spPr>
        <p:txBody>
          <a:bodyPr wrap="square" lIns="0" tIns="0" rIns="0" bIns="0" rtlCol="0" anchor="ctr"/>
          <a:lstStyle/>
          <a:p>
            <a:pPr marL="0" indent="0" algn="ctr">
              <a:buNone/>
            </a:pPr>
            <a:r>
              <a:rPr lang="en-US" sz="1800" b="1" dirty="0">
                <a:solidFill>
                  <a:srgbClr val="00553A"/>
                </a:solidFill>
                <a:latin typeface="Calibri" pitchFamily="34" charset="0"/>
                <a:ea typeface="Calibri" pitchFamily="34" charset="-122"/>
                <a:cs typeface="Calibri" pitchFamily="34" charset="-120"/>
              </a:rPr>
              <a:t>5</a:t>
            </a:r>
            <a:endParaRPr lang="en-US" sz="1800" dirty="0"/>
          </a:p>
        </p:txBody>
      </p:sp>
      <p:sp>
        <p:nvSpPr>
          <p:cNvPr id="44" name="Text 37"/>
          <p:cNvSpPr txBox="1"/>
          <p:nvPr/>
        </p:nvSpPr>
        <p:spPr>
          <a:xfrm>
            <a:off x="6089904"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Change one thing</a:t>
            </a:r>
            <a:endParaRPr lang="en-US" sz="1250" dirty="0"/>
          </a:p>
        </p:txBody>
      </p:sp>
      <p:sp>
        <p:nvSpPr>
          <p:cNvPr id="45" name="Text 38"/>
          <p:cNvSpPr txBox="1"/>
          <p:nvPr/>
        </p:nvSpPr>
        <p:spPr>
          <a:xfrm>
            <a:off x="6108192"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One rule, one example or one setting.</a:t>
            </a:r>
            <a:endParaRPr lang="en-US" sz="1000" dirty="0"/>
          </a:p>
        </p:txBody>
      </p:sp>
      <p:pic>
        <p:nvPicPr>
          <p:cNvPr id="46" name="Image 4" descr="preencoded.png"/>
          <p:cNvPicPr>
            <a:picLocks noChangeAspect="1"/>
          </p:cNvPicPr>
          <p:nvPr/>
        </p:nvPicPr>
        <p:blipFill>
          <a:blip r:embed="rId3"/>
          <a:stretch>
            <a:fillRect/>
          </a:stretch>
        </p:blipFill>
        <p:spPr>
          <a:xfrm>
            <a:off x="7287768" y="1709928"/>
            <a:ext cx="118872" cy="137160"/>
          </a:xfrm>
          <a:prstGeom prst="rect">
            <a:avLst/>
          </a:prstGeom>
        </p:spPr>
      </p:pic>
      <p:sp>
        <p:nvSpPr>
          <p:cNvPr id="47" name="Shape 39"/>
          <p:cNvSpPr/>
          <p:nvPr/>
        </p:nvSpPr>
        <p:spPr>
          <a:xfrm>
            <a:off x="7406640" y="1417320"/>
            <a:ext cx="1280160" cy="2057400"/>
          </a:xfrm>
          <a:prstGeom prst="roundRect">
            <a:avLst>
              <a:gd name="adj" fmla="val 5714"/>
            </a:avLst>
          </a:prstGeom>
          <a:solidFill>
            <a:srgbClr val="F4F7F5"/>
          </a:solidFill>
          <a:ln w="9525">
            <a:solidFill>
              <a:srgbClr val="D5DED9"/>
            </a:solidFill>
            <a:prstDash val="solid"/>
          </a:ln>
        </p:spPr>
      </p:sp>
      <p:sp>
        <p:nvSpPr>
          <p:cNvPr id="48" name="Shape 40"/>
          <p:cNvSpPr/>
          <p:nvPr/>
        </p:nvSpPr>
        <p:spPr>
          <a:xfrm>
            <a:off x="7818120" y="1554480"/>
            <a:ext cx="457200" cy="457200"/>
          </a:xfrm>
          <a:prstGeom prst="ellipse">
            <a:avLst/>
          </a:prstGeom>
          <a:solidFill>
            <a:srgbClr val="00704A"/>
          </a:solidFill>
          <a:ln/>
        </p:spPr>
      </p:sp>
      <p:sp>
        <p:nvSpPr>
          <p:cNvPr id="49" name="Text 41"/>
          <p:cNvSpPr txBox="1"/>
          <p:nvPr/>
        </p:nvSpPr>
        <p:spPr>
          <a:xfrm>
            <a:off x="7818120"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50" name="Text 42"/>
          <p:cNvSpPr txBox="1"/>
          <p:nvPr/>
        </p:nvSpPr>
        <p:spPr>
          <a:xfrm>
            <a:off x="7479792" y="2130552"/>
            <a:ext cx="1133856" cy="411480"/>
          </a:xfrm>
          <a:prstGeom prst="rect">
            <a:avLst/>
          </a:prstGeom>
          <a:noFill/>
          <a:ln/>
        </p:spPr>
        <p:txBody>
          <a:bodyPr wrap="square" lIns="0" tIns="0" rIns="0" bIns="0" rtlCol="0" anchor="t"/>
          <a:lstStyle/>
          <a:p>
            <a:pPr marL="0" indent="0" algn="ctr">
              <a:buNone/>
            </a:pPr>
            <a:r>
              <a:rPr lang="en-US" sz="1250" b="1" dirty="0">
                <a:solidFill>
                  <a:srgbClr val="231F20"/>
                </a:solidFill>
                <a:latin typeface="Calibri" pitchFamily="34" charset="0"/>
                <a:ea typeface="Calibri" pitchFamily="34" charset="-122"/>
                <a:cs typeface="Calibri" pitchFamily="34" charset="-120"/>
              </a:rPr>
              <a:t>Re-test &amp; log</a:t>
            </a:r>
            <a:endParaRPr lang="en-US" sz="1250" dirty="0"/>
          </a:p>
        </p:txBody>
      </p:sp>
      <p:sp>
        <p:nvSpPr>
          <p:cNvPr id="51" name="Text 43"/>
          <p:cNvSpPr txBox="1"/>
          <p:nvPr/>
        </p:nvSpPr>
        <p:spPr>
          <a:xfrm>
            <a:off x="7498080" y="2560320"/>
            <a:ext cx="109728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Same set, new score, decision recorded.</a:t>
            </a:r>
            <a:endParaRPr lang="en-US" sz="1000" dirty="0"/>
          </a:p>
        </p:txBody>
      </p:sp>
      <p:sp>
        <p:nvSpPr>
          <p:cNvPr id="52" name="Shape 44"/>
          <p:cNvSpPr/>
          <p:nvPr/>
        </p:nvSpPr>
        <p:spPr>
          <a:xfrm>
            <a:off x="1097280" y="3657600"/>
            <a:ext cx="6949440" cy="0"/>
          </a:xfrm>
          <a:prstGeom prst="line">
            <a:avLst/>
          </a:prstGeom>
          <a:noFill/>
          <a:ln w="19050">
            <a:solidFill>
              <a:srgbClr val="00704A"/>
            </a:solidFill>
            <a:prstDash val="dash"/>
            <a:headEnd type="triangle"/>
          </a:ln>
        </p:spPr>
      </p:sp>
      <p:sp>
        <p:nvSpPr>
          <p:cNvPr id="53" name="Shape 45"/>
          <p:cNvSpPr/>
          <p:nvPr/>
        </p:nvSpPr>
        <p:spPr>
          <a:xfrm>
            <a:off x="8046720" y="3493008"/>
            <a:ext cx="0" cy="164592"/>
          </a:xfrm>
          <a:prstGeom prst="line">
            <a:avLst/>
          </a:prstGeom>
          <a:noFill/>
          <a:ln w="19050">
            <a:solidFill>
              <a:srgbClr val="00704A"/>
            </a:solidFill>
            <a:prstDash val="dash"/>
          </a:ln>
        </p:spPr>
      </p:sp>
      <p:sp>
        <p:nvSpPr>
          <p:cNvPr id="54" name="Shape 46"/>
          <p:cNvSpPr/>
          <p:nvPr/>
        </p:nvSpPr>
        <p:spPr>
          <a:xfrm>
            <a:off x="1097280" y="3493008"/>
            <a:ext cx="0" cy="164592"/>
          </a:xfrm>
          <a:prstGeom prst="line">
            <a:avLst/>
          </a:prstGeom>
          <a:noFill/>
          <a:ln w="19050">
            <a:solidFill>
              <a:srgbClr val="00704A"/>
            </a:solidFill>
            <a:prstDash val="dash"/>
            <a:headEnd type="triangle"/>
          </a:ln>
        </p:spPr>
      </p:sp>
      <p:sp>
        <p:nvSpPr>
          <p:cNvPr id="55" name="Text 47"/>
          <p:cNvSpPr txBox="1"/>
          <p:nvPr/>
        </p:nvSpPr>
        <p:spPr>
          <a:xfrm>
            <a:off x="2926080" y="3703320"/>
            <a:ext cx="3291840" cy="201168"/>
          </a:xfrm>
          <a:prstGeom prst="rect">
            <a:avLst/>
          </a:prstGeom>
          <a:noFill/>
          <a:ln/>
        </p:spPr>
        <p:txBody>
          <a:bodyPr wrap="square" lIns="0" tIns="0" rIns="0" bIns="0" rtlCol="0" anchor="t"/>
          <a:lstStyle/>
          <a:p>
            <a:pPr marL="0" indent="0" algn="ctr">
              <a:buNone/>
            </a:pPr>
            <a:r>
              <a:rPr lang="en-US" sz="1000" i="1" dirty="0">
                <a:solidFill>
                  <a:srgbClr val="00704A"/>
                </a:solidFill>
                <a:latin typeface="Calibri" pitchFamily="34" charset="0"/>
                <a:ea typeface="Calibri" pitchFamily="34" charset="-122"/>
                <a:cs typeface="Calibri" pitchFamily="34" charset="-120"/>
              </a:rPr>
              <a:t>repeat until the target defined in step 1 is met</a:t>
            </a:r>
            <a:endParaRPr lang="en-US" sz="1000" dirty="0"/>
          </a:p>
        </p:txBody>
      </p:sp>
      <p:sp>
        <p:nvSpPr>
          <p:cNvPr id="56" name="Shape 48"/>
          <p:cNvSpPr/>
          <p:nvPr/>
        </p:nvSpPr>
        <p:spPr>
          <a:xfrm>
            <a:off x="457200" y="4023360"/>
            <a:ext cx="8229600" cy="457200"/>
          </a:xfrm>
          <a:prstGeom prst="roundRect">
            <a:avLst>
              <a:gd name="adj" fmla="val 12000"/>
            </a:avLst>
          </a:prstGeom>
          <a:solidFill>
            <a:srgbClr val="D49A00">
              <a:alpha val="13000"/>
            </a:srgbClr>
          </a:solidFill>
          <a:ln w="12700">
            <a:solidFill>
              <a:srgbClr val="D49A00"/>
            </a:solidFill>
            <a:prstDash val="solid"/>
          </a:ln>
        </p:spPr>
      </p:sp>
      <p:pic>
        <p:nvPicPr>
          <p:cNvPr id="57" name="Image 5" descr="preencoded.png"/>
          <p:cNvPicPr>
            <a:picLocks noChangeAspect="1"/>
          </p:cNvPicPr>
          <p:nvPr/>
        </p:nvPicPr>
        <p:blipFill>
          <a:blip r:embed="rId4"/>
          <a:stretch>
            <a:fillRect/>
          </a:stretch>
        </p:blipFill>
        <p:spPr>
          <a:xfrm>
            <a:off x="621792" y="4123944"/>
            <a:ext cx="256032" cy="237744"/>
          </a:xfrm>
          <a:prstGeom prst="rect">
            <a:avLst/>
          </a:prstGeom>
        </p:spPr>
      </p:pic>
      <p:sp>
        <p:nvSpPr>
          <p:cNvPr id="58" name="Text 49"/>
          <p:cNvSpPr txBox="1"/>
          <p:nvPr/>
        </p:nvSpPr>
        <p:spPr>
          <a:xfrm>
            <a:off x="1005840" y="4023360"/>
            <a:ext cx="7589520" cy="457200"/>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Change one variable at a time. </a:t>
            </a:r>
            <a:r>
              <a:rPr lang="en-US" sz="1150" dirty="0">
                <a:solidFill>
                  <a:srgbClr val="231F20"/>
                </a:solidFill>
                <a:latin typeface="Calibri" pitchFamily="34" charset="0"/>
                <a:ea typeface="Calibri" pitchFamily="34" charset="-122"/>
                <a:cs typeface="Calibri" pitchFamily="34" charset="-120"/>
              </a:rPr>
              <a:t>If you change three things and the score rises, you have learnt nothing about which one helped.</a:t>
            </a:r>
            <a:endParaRPr lang="en-US" sz="11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EVALUATION SET</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an evaluation set looks like</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00704A"/>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325880"/>
            <a:ext cx="5440680" cy="347472"/>
          </a:xfrm>
          <a:prstGeom prst="roundRect">
            <a:avLst>
              <a:gd name="adj" fmla="val 13158"/>
            </a:avLst>
          </a:prstGeom>
          <a:solidFill>
            <a:srgbClr val="00704A"/>
          </a:solidFill>
          <a:ln/>
        </p:spPr>
      </p:sp>
      <p:sp>
        <p:nvSpPr>
          <p:cNvPr id="18" name="Text 15"/>
          <p:cNvSpPr txBox="1"/>
          <p:nvPr/>
        </p:nvSpPr>
        <p:spPr>
          <a:xfrm>
            <a:off x="548640" y="1325880"/>
            <a:ext cx="41148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ID</a:t>
            </a:r>
            <a:endParaRPr lang="en-US" sz="1050" dirty="0"/>
          </a:p>
        </p:txBody>
      </p:sp>
      <p:sp>
        <p:nvSpPr>
          <p:cNvPr id="19" name="Text 16"/>
          <p:cNvSpPr txBox="1"/>
          <p:nvPr/>
        </p:nvSpPr>
        <p:spPr>
          <a:xfrm>
            <a:off x="1051560" y="1325880"/>
            <a:ext cx="265176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Input (as typed by the enumerator)</a:t>
            </a:r>
            <a:endParaRPr lang="en-US" sz="1050" dirty="0"/>
          </a:p>
        </p:txBody>
      </p:sp>
      <p:sp>
        <p:nvSpPr>
          <p:cNvPr id="20" name="Text 17"/>
          <p:cNvSpPr txBox="1"/>
          <p:nvPr/>
        </p:nvSpPr>
        <p:spPr>
          <a:xfrm>
            <a:off x="3794760" y="1325880"/>
            <a:ext cx="86868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Gold answer</a:t>
            </a:r>
            <a:endParaRPr lang="en-US" sz="1050" dirty="0"/>
          </a:p>
        </p:txBody>
      </p:sp>
      <p:sp>
        <p:nvSpPr>
          <p:cNvPr id="21" name="Text 18"/>
          <p:cNvSpPr txBox="1"/>
          <p:nvPr/>
        </p:nvSpPr>
        <p:spPr>
          <a:xfrm>
            <a:off x="4754880" y="1325880"/>
            <a:ext cx="96012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Case type</a:t>
            </a:r>
            <a:endParaRPr lang="en-US" sz="1050" dirty="0"/>
          </a:p>
        </p:txBody>
      </p:sp>
      <p:sp>
        <p:nvSpPr>
          <p:cNvPr id="22" name="Shape 19"/>
          <p:cNvSpPr/>
          <p:nvPr/>
        </p:nvSpPr>
        <p:spPr>
          <a:xfrm>
            <a:off x="457200" y="1737360"/>
            <a:ext cx="5440680" cy="365760"/>
          </a:xfrm>
          <a:prstGeom prst="roundRect">
            <a:avLst>
              <a:gd name="adj" fmla="val 20000"/>
            </a:avLst>
          </a:prstGeom>
          <a:solidFill>
            <a:srgbClr val="F4F7F5"/>
          </a:solidFill>
          <a:ln w="9525">
            <a:solidFill>
              <a:srgbClr val="D5DED9"/>
            </a:solidFill>
            <a:prstDash val="solid"/>
          </a:ln>
        </p:spPr>
      </p:sp>
      <p:sp>
        <p:nvSpPr>
          <p:cNvPr id="23" name="Text 20"/>
          <p:cNvSpPr txBox="1"/>
          <p:nvPr/>
        </p:nvSpPr>
        <p:spPr>
          <a:xfrm>
            <a:off x="548640" y="1737360"/>
            <a:ext cx="4114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E01</a:t>
            </a:r>
            <a:endParaRPr lang="en-US" sz="1050" dirty="0"/>
          </a:p>
        </p:txBody>
      </p:sp>
      <p:sp>
        <p:nvSpPr>
          <p:cNvPr id="24" name="Text 21"/>
          <p:cNvSpPr txBox="1"/>
          <p:nvPr/>
        </p:nvSpPr>
        <p:spPr>
          <a:xfrm>
            <a:off x="1051560" y="1737360"/>
            <a:ext cx="265176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Vendeuse de tomates au marché central</a:t>
            </a:r>
            <a:endParaRPr lang="en-US" sz="1050" dirty="0"/>
          </a:p>
        </p:txBody>
      </p:sp>
      <p:sp>
        <p:nvSpPr>
          <p:cNvPr id="25" name="Text 22"/>
          <p:cNvSpPr txBox="1"/>
          <p:nvPr/>
        </p:nvSpPr>
        <p:spPr>
          <a:xfrm>
            <a:off x="3794760" y="1737360"/>
            <a:ext cx="8686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5211</a:t>
            </a:r>
            <a:endParaRPr lang="en-US" sz="1050" dirty="0"/>
          </a:p>
        </p:txBody>
      </p:sp>
      <p:sp>
        <p:nvSpPr>
          <p:cNvPr id="26" name="Text 23"/>
          <p:cNvSpPr txBox="1"/>
          <p:nvPr/>
        </p:nvSpPr>
        <p:spPr>
          <a:xfrm>
            <a:off x="4754880" y="1737360"/>
            <a:ext cx="960120" cy="365760"/>
          </a:xfrm>
          <a:prstGeom prst="rect">
            <a:avLst/>
          </a:prstGeom>
          <a:noFill/>
          <a:ln/>
        </p:spPr>
        <p:txBody>
          <a:bodyPr wrap="square" lIns="0" tIns="0" rIns="0" bIns="0" rtlCol="0" anchor="ctr"/>
          <a:lstStyle/>
          <a:p>
            <a:pPr marL="0" indent="0">
              <a:buNone/>
            </a:pPr>
            <a:r>
              <a:rPr lang="en-US" sz="1000" b="1" dirty="0">
                <a:solidFill>
                  <a:srgbClr val="00A86A"/>
                </a:solidFill>
                <a:latin typeface="Calibri" pitchFamily="34" charset="0"/>
                <a:ea typeface="Calibri" pitchFamily="34" charset="-122"/>
                <a:cs typeface="Calibri" pitchFamily="34" charset="-120"/>
              </a:rPr>
              <a:t>Typical</a:t>
            </a:r>
            <a:endParaRPr lang="en-US" sz="1000" dirty="0"/>
          </a:p>
        </p:txBody>
      </p:sp>
      <p:sp>
        <p:nvSpPr>
          <p:cNvPr id="27" name="Shape 24"/>
          <p:cNvSpPr/>
          <p:nvPr/>
        </p:nvSpPr>
        <p:spPr>
          <a:xfrm>
            <a:off x="457200" y="2167128"/>
            <a:ext cx="5440680" cy="365760"/>
          </a:xfrm>
          <a:prstGeom prst="roundRect">
            <a:avLst>
              <a:gd name="adj" fmla="val 20000"/>
            </a:avLst>
          </a:prstGeom>
          <a:solidFill>
            <a:srgbClr val="FFFFFF"/>
          </a:solidFill>
          <a:ln w="9525">
            <a:solidFill>
              <a:srgbClr val="D5DED9"/>
            </a:solidFill>
            <a:prstDash val="solid"/>
          </a:ln>
        </p:spPr>
      </p:sp>
      <p:sp>
        <p:nvSpPr>
          <p:cNvPr id="28" name="Text 25"/>
          <p:cNvSpPr txBox="1"/>
          <p:nvPr/>
        </p:nvSpPr>
        <p:spPr>
          <a:xfrm>
            <a:off x="548640" y="2167128"/>
            <a:ext cx="4114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E02</a:t>
            </a:r>
            <a:endParaRPr lang="en-US" sz="1050" dirty="0"/>
          </a:p>
        </p:txBody>
      </p:sp>
      <p:sp>
        <p:nvSpPr>
          <p:cNvPr id="29" name="Text 26"/>
          <p:cNvSpPr txBox="1"/>
          <p:nvPr/>
        </p:nvSpPr>
        <p:spPr>
          <a:xfrm>
            <a:off x="1051560" y="2167128"/>
            <a:ext cx="265176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Moto-taxi driver, owns the motorcycle</a:t>
            </a:r>
            <a:endParaRPr lang="en-US" sz="1050" dirty="0"/>
          </a:p>
        </p:txBody>
      </p:sp>
      <p:sp>
        <p:nvSpPr>
          <p:cNvPr id="30" name="Text 27"/>
          <p:cNvSpPr txBox="1"/>
          <p:nvPr/>
        </p:nvSpPr>
        <p:spPr>
          <a:xfrm>
            <a:off x="3794760" y="2167128"/>
            <a:ext cx="8686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8321</a:t>
            </a:r>
            <a:endParaRPr lang="en-US" sz="1050" dirty="0"/>
          </a:p>
        </p:txBody>
      </p:sp>
      <p:sp>
        <p:nvSpPr>
          <p:cNvPr id="31" name="Text 28"/>
          <p:cNvSpPr txBox="1"/>
          <p:nvPr/>
        </p:nvSpPr>
        <p:spPr>
          <a:xfrm>
            <a:off x="4754880" y="2167128"/>
            <a:ext cx="960120" cy="365760"/>
          </a:xfrm>
          <a:prstGeom prst="rect">
            <a:avLst/>
          </a:prstGeom>
          <a:noFill/>
          <a:ln/>
        </p:spPr>
        <p:txBody>
          <a:bodyPr wrap="square" lIns="0" tIns="0" rIns="0" bIns="0" rtlCol="0" anchor="ctr"/>
          <a:lstStyle/>
          <a:p>
            <a:pPr marL="0" indent="0">
              <a:buNone/>
            </a:pPr>
            <a:r>
              <a:rPr lang="en-US" sz="1000" b="1" dirty="0">
                <a:solidFill>
                  <a:srgbClr val="00A86A"/>
                </a:solidFill>
                <a:latin typeface="Calibri" pitchFamily="34" charset="0"/>
                <a:ea typeface="Calibri" pitchFamily="34" charset="-122"/>
                <a:cs typeface="Calibri" pitchFamily="34" charset="-120"/>
              </a:rPr>
              <a:t>Typical</a:t>
            </a:r>
            <a:endParaRPr lang="en-US" sz="1000" dirty="0"/>
          </a:p>
        </p:txBody>
      </p:sp>
      <p:sp>
        <p:nvSpPr>
          <p:cNvPr id="32" name="Shape 29"/>
          <p:cNvSpPr/>
          <p:nvPr/>
        </p:nvSpPr>
        <p:spPr>
          <a:xfrm>
            <a:off x="457200" y="2596896"/>
            <a:ext cx="5440680" cy="365760"/>
          </a:xfrm>
          <a:prstGeom prst="roundRect">
            <a:avLst>
              <a:gd name="adj" fmla="val 20000"/>
            </a:avLst>
          </a:prstGeom>
          <a:solidFill>
            <a:srgbClr val="F4F7F5"/>
          </a:solidFill>
          <a:ln w="9525">
            <a:solidFill>
              <a:srgbClr val="D5DED9"/>
            </a:solidFill>
            <a:prstDash val="solid"/>
          </a:ln>
        </p:spPr>
      </p:sp>
      <p:sp>
        <p:nvSpPr>
          <p:cNvPr id="33" name="Text 30"/>
          <p:cNvSpPr txBox="1"/>
          <p:nvPr/>
        </p:nvSpPr>
        <p:spPr>
          <a:xfrm>
            <a:off x="548640" y="2596896"/>
            <a:ext cx="4114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E03</a:t>
            </a:r>
            <a:endParaRPr lang="en-US" sz="1050" dirty="0"/>
          </a:p>
        </p:txBody>
      </p:sp>
      <p:sp>
        <p:nvSpPr>
          <p:cNvPr id="34" name="Text 31"/>
          <p:cNvSpPr txBox="1"/>
          <p:nvPr/>
        </p:nvSpPr>
        <p:spPr>
          <a:xfrm>
            <a:off x="1051560" y="2596896"/>
            <a:ext cx="265176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Agent de saisie à l’institut de statistique</a:t>
            </a:r>
            <a:endParaRPr lang="en-US" sz="1050" dirty="0"/>
          </a:p>
        </p:txBody>
      </p:sp>
      <p:sp>
        <p:nvSpPr>
          <p:cNvPr id="35" name="Text 32"/>
          <p:cNvSpPr txBox="1"/>
          <p:nvPr/>
        </p:nvSpPr>
        <p:spPr>
          <a:xfrm>
            <a:off x="3794760" y="2596896"/>
            <a:ext cx="8686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4132</a:t>
            </a:r>
            <a:endParaRPr lang="en-US" sz="1050" dirty="0"/>
          </a:p>
        </p:txBody>
      </p:sp>
      <p:sp>
        <p:nvSpPr>
          <p:cNvPr id="36" name="Text 33"/>
          <p:cNvSpPr txBox="1"/>
          <p:nvPr/>
        </p:nvSpPr>
        <p:spPr>
          <a:xfrm>
            <a:off x="4754880" y="2596896"/>
            <a:ext cx="960120" cy="365760"/>
          </a:xfrm>
          <a:prstGeom prst="rect">
            <a:avLst/>
          </a:prstGeom>
          <a:noFill/>
          <a:ln/>
        </p:spPr>
        <p:txBody>
          <a:bodyPr wrap="square" lIns="0" tIns="0" rIns="0" bIns="0" rtlCol="0" anchor="ctr"/>
          <a:lstStyle/>
          <a:p>
            <a:pPr marL="0" indent="0">
              <a:buNone/>
            </a:pPr>
            <a:r>
              <a:rPr lang="en-US" sz="1000" b="1" dirty="0">
                <a:solidFill>
                  <a:srgbClr val="00A86A"/>
                </a:solidFill>
                <a:latin typeface="Calibri" pitchFamily="34" charset="0"/>
                <a:ea typeface="Calibri" pitchFamily="34" charset="-122"/>
                <a:cs typeface="Calibri" pitchFamily="34" charset="-120"/>
              </a:rPr>
              <a:t>Typical · FR</a:t>
            </a:r>
            <a:endParaRPr lang="en-US" sz="1000" dirty="0"/>
          </a:p>
        </p:txBody>
      </p:sp>
      <p:sp>
        <p:nvSpPr>
          <p:cNvPr id="37" name="Shape 34"/>
          <p:cNvSpPr/>
          <p:nvPr/>
        </p:nvSpPr>
        <p:spPr>
          <a:xfrm>
            <a:off x="457200" y="3026664"/>
            <a:ext cx="5440680" cy="365760"/>
          </a:xfrm>
          <a:prstGeom prst="roundRect">
            <a:avLst>
              <a:gd name="adj" fmla="val 20000"/>
            </a:avLst>
          </a:prstGeom>
          <a:solidFill>
            <a:srgbClr val="FFFFFF"/>
          </a:solidFill>
          <a:ln w="9525">
            <a:solidFill>
              <a:srgbClr val="D5DED9"/>
            </a:solidFill>
            <a:prstDash val="solid"/>
          </a:ln>
        </p:spPr>
      </p:sp>
      <p:sp>
        <p:nvSpPr>
          <p:cNvPr id="38" name="Text 35"/>
          <p:cNvSpPr txBox="1"/>
          <p:nvPr/>
        </p:nvSpPr>
        <p:spPr>
          <a:xfrm>
            <a:off x="548640" y="3026664"/>
            <a:ext cx="4114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E04</a:t>
            </a:r>
            <a:endParaRPr lang="en-US" sz="1050" dirty="0"/>
          </a:p>
        </p:txBody>
      </p:sp>
      <p:sp>
        <p:nvSpPr>
          <p:cNvPr id="39" name="Text 36"/>
          <p:cNvSpPr txBox="1"/>
          <p:nvPr/>
        </p:nvSpPr>
        <p:spPr>
          <a:xfrm>
            <a:off x="1051560" y="3026664"/>
            <a:ext cx="265176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Primary teacher, sells airtime at weekends</a:t>
            </a:r>
            <a:endParaRPr lang="en-US" sz="1050" dirty="0"/>
          </a:p>
        </p:txBody>
      </p:sp>
      <p:sp>
        <p:nvSpPr>
          <p:cNvPr id="40" name="Text 37"/>
          <p:cNvSpPr txBox="1"/>
          <p:nvPr/>
        </p:nvSpPr>
        <p:spPr>
          <a:xfrm>
            <a:off x="3794760" y="3026664"/>
            <a:ext cx="8686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2341</a:t>
            </a:r>
            <a:endParaRPr lang="en-US" sz="1050" dirty="0"/>
          </a:p>
        </p:txBody>
      </p:sp>
      <p:sp>
        <p:nvSpPr>
          <p:cNvPr id="41" name="Text 38"/>
          <p:cNvSpPr txBox="1"/>
          <p:nvPr/>
        </p:nvSpPr>
        <p:spPr>
          <a:xfrm>
            <a:off x="4754880" y="3026664"/>
            <a:ext cx="960120" cy="365760"/>
          </a:xfrm>
          <a:prstGeom prst="rect">
            <a:avLst/>
          </a:prstGeom>
          <a:noFill/>
          <a:ln/>
        </p:spPr>
        <p:txBody>
          <a:bodyPr wrap="square" lIns="0" tIns="0" rIns="0" bIns="0" rtlCol="0" anchor="ctr"/>
          <a:lstStyle/>
          <a:p>
            <a:pPr marL="0" indent="0">
              <a:buNone/>
            </a:pPr>
            <a:r>
              <a:rPr lang="en-US" sz="1000" b="1" dirty="0">
                <a:solidFill>
                  <a:srgbClr val="D49A00"/>
                </a:solidFill>
                <a:latin typeface="Calibri" pitchFamily="34" charset="0"/>
                <a:ea typeface="Calibri" pitchFamily="34" charset="-122"/>
                <a:cs typeface="Calibri" pitchFamily="34" charset="-120"/>
              </a:rPr>
              <a:t>Edge · 2 jobs</a:t>
            </a:r>
            <a:endParaRPr lang="en-US" sz="1000" dirty="0"/>
          </a:p>
        </p:txBody>
      </p:sp>
      <p:sp>
        <p:nvSpPr>
          <p:cNvPr id="42" name="Shape 39"/>
          <p:cNvSpPr/>
          <p:nvPr/>
        </p:nvSpPr>
        <p:spPr>
          <a:xfrm>
            <a:off x="457200" y="3456432"/>
            <a:ext cx="5440680" cy="365760"/>
          </a:xfrm>
          <a:prstGeom prst="roundRect">
            <a:avLst>
              <a:gd name="adj" fmla="val 20000"/>
            </a:avLst>
          </a:prstGeom>
          <a:solidFill>
            <a:srgbClr val="F4F7F5"/>
          </a:solidFill>
          <a:ln w="9525">
            <a:solidFill>
              <a:srgbClr val="D5DED9"/>
            </a:solidFill>
            <a:prstDash val="solid"/>
          </a:ln>
        </p:spPr>
      </p:sp>
      <p:sp>
        <p:nvSpPr>
          <p:cNvPr id="43" name="Text 40"/>
          <p:cNvSpPr txBox="1"/>
          <p:nvPr/>
        </p:nvSpPr>
        <p:spPr>
          <a:xfrm>
            <a:off x="548640" y="3456432"/>
            <a:ext cx="4114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E05</a:t>
            </a:r>
            <a:endParaRPr lang="en-US" sz="1050" dirty="0"/>
          </a:p>
        </p:txBody>
      </p:sp>
      <p:sp>
        <p:nvSpPr>
          <p:cNvPr id="44" name="Text 41"/>
          <p:cNvSpPr txBox="1"/>
          <p:nvPr/>
        </p:nvSpPr>
        <p:spPr>
          <a:xfrm>
            <a:off x="1051560" y="3456432"/>
            <a:ext cx="265176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Ingénieur</a:t>
            </a:r>
            <a:endParaRPr lang="en-US" sz="1050" dirty="0"/>
          </a:p>
        </p:txBody>
      </p:sp>
      <p:sp>
        <p:nvSpPr>
          <p:cNvPr id="45" name="Text 42"/>
          <p:cNvSpPr txBox="1"/>
          <p:nvPr/>
        </p:nvSpPr>
        <p:spPr>
          <a:xfrm>
            <a:off x="3794760" y="3456432"/>
            <a:ext cx="8686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UNCODABLE</a:t>
            </a:r>
            <a:endParaRPr lang="en-US" sz="1050" dirty="0"/>
          </a:p>
        </p:txBody>
      </p:sp>
      <p:sp>
        <p:nvSpPr>
          <p:cNvPr id="46" name="Text 43"/>
          <p:cNvSpPr txBox="1"/>
          <p:nvPr/>
        </p:nvSpPr>
        <p:spPr>
          <a:xfrm>
            <a:off x="4754880" y="3456432"/>
            <a:ext cx="960120" cy="365760"/>
          </a:xfrm>
          <a:prstGeom prst="rect">
            <a:avLst/>
          </a:prstGeom>
          <a:noFill/>
          <a:ln/>
        </p:spPr>
        <p:txBody>
          <a:bodyPr wrap="square" lIns="0" tIns="0" rIns="0" bIns="0" rtlCol="0" anchor="ctr"/>
          <a:lstStyle/>
          <a:p>
            <a:pPr marL="0" indent="0">
              <a:buNone/>
            </a:pPr>
            <a:r>
              <a:rPr lang="en-US" sz="1000" b="1" dirty="0">
                <a:solidFill>
                  <a:srgbClr val="D49A00"/>
                </a:solidFill>
                <a:latin typeface="Calibri" pitchFamily="34" charset="0"/>
                <a:ea typeface="Calibri" pitchFamily="34" charset="-122"/>
                <a:cs typeface="Calibri" pitchFamily="34" charset="-120"/>
              </a:rPr>
              <a:t>Edge · vague</a:t>
            </a:r>
            <a:endParaRPr lang="en-US" sz="1000" dirty="0"/>
          </a:p>
        </p:txBody>
      </p:sp>
      <p:sp>
        <p:nvSpPr>
          <p:cNvPr id="47" name="Shape 44"/>
          <p:cNvSpPr/>
          <p:nvPr/>
        </p:nvSpPr>
        <p:spPr>
          <a:xfrm>
            <a:off x="457200" y="3886200"/>
            <a:ext cx="5440680" cy="365760"/>
          </a:xfrm>
          <a:prstGeom prst="roundRect">
            <a:avLst>
              <a:gd name="adj" fmla="val 20000"/>
            </a:avLst>
          </a:prstGeom>
          <a:solidFill>
            <a:srgbClr val="FFFFFF"/>
          </a:solidFill>
          <a:ln w="9525">
            <a:solidFill>
              <a:srgbClr val="D5DED9"/>
            </a:solidFill>
            <a:prstDash val="solid"/>
          </a:ln>
        </p:spPr>
      </p:sp>
      <p:sp>
        <p:nvSpPr>
          <p:cNvPr id="48" name="Text 45"/>
          <p:cNvSpPr txBox="1"/>
          <p:nvPr/>
        </p:nvSpPr>
        <p:spPr>
          <a:xfrm>
            <a:off x="548640" y="3886200"/>
            <a:ext cx="4114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E06</a:t>
            </a:r>
            <a:endParaRPr lang="en-US" sz="1050" dirty="0"/>
          </a:p>
        </p:txBody>
      </p:sp>
      <p:sp>
        <p:nvSpPr>
          <p:cNvPr id="49" name="Text 46"/>
          <p:cNvSpPr txBox="1"/>
          <p:nvPr/>
        </p:nvSpPr>
        <p:spPr>
          <a:xfrm>
            <a:off x="1051560" y="3886200"/>
            <a:ext cx="2651760" cy="365760"/>
          </a:xfrm>
          <a:prstGeom prst="rect">
            <a:avLst/>
          </a:prstGeom>
          <a:noFill/>
          <a:ln/>
        </p:spPr>
        <p:txBody>
          <a:bodyPr wrap="square" lIns="0" tIns="0" rIns="0" bIns="0" rtlCol="0" anchor="ctr"/>
          <a:lstStyle/>
          <a:p>
            <a:pPr marL="0" indent="0">
              <a:buNone/>
            </a:pPr>
            <a:r>
              <a:rPr lang="en-US" sz="1050" i="1" dirty="0">
                <a:solidFill>
                  <a:srgbClr val="231F20"/>
                </a:solidFill>
                <a:latin typeface="Calibri" pitchFamily="34" charset="0"/>
                <a:ea typeface="Calibri" pitchFamily="34" charset="-122"/>
                <a:cs typeface="Calibri" pitchFamily="34" charset="-120"/>
              </a:rPr>
              <a:t>works</a:t>
            </a:r>
            <a:endParaRPr lang="en-US" sz="1050" dirty="0"/>
          </a:p>
        </p:txBody>
      </p:sp>
      <p:sp>
        <p:nvSpPr>
          <p:cNvPr id="50" name="Text 47"/>
          <p:cNvSpPr txBox="1"/>
          <p:nvPr/>
        </p:nvSpPr>
        <p:spPr>
          <a:xfrm>
            <a:off x="3794760" y="3886200"/>
            <a:ext cx="868680" cy="36576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UNCODABLE</a:t>
            </a:r>
            <a:endParaRPr lang="en-US" sz="1050" dirty="0"/>
          </a:p>
        </p:txBody>
      </p:sp>
      <p:sp>
        <p:nvSpPr>
          <p:cNvPr id="51" name="Text 48"/>
          <p:cNvSpPr txBox="1"/>
          <p:nvPr/>
        </p:nvSpPr>
        <p:spPr>
          <a:xfrm>
            <a:off x="4754880" y="3886200"/>
            <a:ext cx="960120" cy="365760"/>
          </a:xfrm>
          <a:prstGeom prst="rect">
            <a:avLst/>
          </a:prstGeom>
          <a:noFill/>
          <a:ln/>
        </p:spPr>
        <p:txBody>
          <a:bodyPr wrap="square" lIns="0" tIns="0" rIns="0" bIns="0" rtlCol="0" anchor="ctr"/>
          <a:lstStyle/>
          <a:p>
            <a:pPr marL="0" indent="0">
              <a:buNone/>
            </a:pPr>
            <a:r>
              <a:rPr lang="en-US" sz="1000" b="1" dirty="0">
                <a:solidFill>
                  <a:srgbClr val="B83B2E"/>
                </a:solidFill>
                <a:latin typeface="Calibri" pitchFamily="34" charset="0"/>
                <a:ea typeface="Calibri" pitchFamily="34" charset="-122"/>
                <a:cs typeface="Calibri" pitchFamily="34" charset="-120"/>
              </a:rPr>
              <a:t>Negative</a:t>
            </a:r>
            <a:endParaRPr lang="en-US" sz="1000" dirty="0"/>
          </a:p>
        </p:txBody>
      </p:sp>
      <p:sp>
        <p:nvSpPr>
          <p:cNvPr id="52" name="Text 49"/>
          <p:cNvSpPr txBox="1"/>
          <p:nvPr/>
        </p:nvSpPr>
        <p:spPr>
          <a:xfrm>
            <a:off x="457200" y="4389120"/>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Illustrative extract. ISCO-08 codes: 5211, 8321, 4132, 2341.</a:t>
            </a:r>
            <a:endParaRPr lang="en-US" sz="900" dirty="0"/>
          </a:p>
        </p:txBody>
      </p:sp>
      <p:sp>
        <p:nvSpPr>
          <p:cNvPr id="53" name="Shape 50"/>
          <p:cNvSpPr/>
          <p:nvPr/>
        </p:nvSpPr>
        <p:spPr>
          <a:xfrm>
            <a:off x="6126480" y="1325880"/>
            <a:ext cx="2560320" cy="3246120"/>
          </a:xfrm>
          <a:prstGeom prst="roundRect">
            <a:avLst>
              <a:gd name="adj" fmla="val 2857"/>
            </a:avLst>
          </a:prstGeom>
          <a:solidFill>
            <a:srgbClr val="F4F7F5"/>
          </a:solidFill>
          <a:ln w="9525">
            <a:solidFill>
              <a:srgbClr val="D5DED9"/>
            </a:solidFill>
            <a:prstDash val="solid"/>
          </a:ln>
        </p:spPr>
      </p:sp>
      <p:sp>
        <p:nvSpPr>
          <p:cNvPr id="54" name="Text 51"/>
          <p:cNvSpPr txBox="1"/>
          <p:nvPr/>
        </p:nvSpPr>
        <p:spPr>
          <a:xfrm>
            <a:off x="6263640" y="1444752"/>
            <a:ext cx="2286000" cy="201168"/>
          </a:xfrm>
          <a:prstGeom prst="rect">
            <a:avLst/>
          </a:prstGeom>
          <a:noFill/>
          <a:ln/>
        </p:spPr>
        <p:txBody>
          <a:bodyPr wrap="square" lIns="0" tIns="0" rIns="0" bIns="0" rtlCol="0" anchor="t"/>
          <a:lstStyle/>
          <a:p>
            <a:pPr marL="0" indent="0">
              <a:buNone/>
            </a:pPr>
            <a:r>
              <a:rPr lang="en-US" sz="1000" b="1" kern="0" spc="100" dirty="0">
                <a:solidFill>
                  <a:srgbClr val="00704A"/>
                </a:solidFill>
                <a:latin typeface="Calibri" pitchFamily="34" charset="0"/>
                <a:ea typeface="Calibri" pitchFamily="34" charset="-122"/>
                <a:cs typeface="Calibri" pitchFamily="34" charset="-120"/>
              </a:rPr>
              <a:t>A PRACTICAL STARTING MIX</a:t>
            </a:r>
            <a:endParaRPr lang="en-US" sz="1000" dirty="0"/>
          </a:p>
        </p:txBody>
      </p:sp>
      <p:sp>
        <p:nvSpPr>
          <p:cNvPr id="55" name="Text 52"/>
          <p:cNvSpPr txBox="1"/>
          <p:nvPr/>
        </p:nvSpPr>
        <p:spPr>
          <a:xfrm>
            <a:off x="6263640" y="1755648"/>
            <a:ext cx="685800" cy="274320"/>
          </a:xfrm>
          <a:prstGeom prst="rect">
            <a:avLst/>
          </a:prstGeom>
          <a:noFill/>
          <a:ln/>
        </p:spPr>
        <p:txBody>
          <a:bodyPr wrap="square" lIns="0" tIns="0" rIns="0" bIns="0" rtlCol="0" anchor="t"/>
          <a:lstStyle/>
          <a:p>
            <a:pPr marL="0" indent="0">
              <a:buNone/>
            </a:pPr>
            <a:r>
              <a:rPr lang="en-US" sz="1600" b="1" dirty="0">
                <a:solidFill>
                  <a:srgbClr val="00A86A"/>
                </a:solidFill>
                <a:latin typeface="Calibri" pitchFamily="34" charset="0"/>
                <a:ea typeface="Calibri" pitchFamily="34" charset="-122"/>
                <a:cs typeface="Calibri" pitchFamily="34" charset="-120"/>
              </a:rPr>
              <a:t>~60%</a:t>
            </a:r>
            <a:endParaRPr lang="en-US" sz="1600" dirty="0"/>
          </a:p>
        </p:txBody>
      </p:sp>
      <p:sp>
        <p:nvSpPr>
          <p:cNvPr id="56" name="Text 53"/>
          <p:cNvSpPr txBox="1"/>
          <p:nvPr/>
        </p:nvSpPr>
        <p:spPr>
          <a:xfrm>
            <a:off x="6949440" y="1783080"/>
            <a:ext cx="1645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Typical cases</a:t>
            </a:r>
            <a:endParaRPr lang="en-US" sz="1150" dirty="0"/>
          </a:p>
        </p:txBody>
      </p:sp>
      <p:sp>
        <p:nvSpPr>
          <p:cNvPr id="57" name="Text 54"/>
          <p:cNvSpPr txBox="1"/>
          <p:nvPr/>
        </p:nvSpPr>
        <p:spPr>
          <a:xfrm>
            <a:off x="6949440" y="2011680"/>
            <a:ext cx="164592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Everyday path, every language</a:t>
            </a:r>
            <a:endParaRPr lang="en-US" sz="900" dirty="0"/>
          </a:p>
        </p:txBody>
      </p:sp>
      <p:sp>
        <p:nvSpPr>
          <p:cNvPr id="58" name="Shape 55"/>
          <p:cNvSpPr/>
          <p:nvPr/>
        </p:nvSpPr>
        <p:spPr>
          <a:xfrm>
            <a:off x="6263640" y="2267712"/>
            <a:ext cx="2286000" cy="91440"/>
          </a:xfrm>
          <a:prstGeom prst="rect">
            <a:avLst/>
          </a:prstGeom>
          <a:solidFill>
            <a:srgbClr val="D5DED9"/>
          </a:solidFill>
          <a:ln/>
        </p:spPr>
      </p:sp>
      <p:sp>
        <p:nvSpPr>
          <p:cNvPr id="59" name="Shape 56"/>
          <p:cNvSpPr/>
          <p:nvPr/>
        </p:nvSpPr>
        <p:spPr>
          <a:xfrm>
            <a:off x="6263640" y="2267712"/>
            <a:ext cx="1371600" cy="91440"/>
          </a:xfrm>
          <a:prstGeom prst="rect">
            <a:avLst/>
          </a:prstGeom>
          <a:solidFill>
            <a:srgbClr val="00A86A"/>
          </a:solidFill>
          <a:ln/>
        </p:spPr>
      </p:sp>
      <p:sp>
        <p:nvSpPr>
          <p:cNvPr id="60" name="Text 57"/>
          <p:cNvSpPr txBox="1"/>
          <p:nvPr/>
        </p:nvSpPr>
        <p:spPr>
          <a:xfrm>
            <a:off x="6263640" y="2487168"/>
            <a:ext cx="685800" cy="274320"/>
          </a:xfrm>
          <a:prstGeom prst="rect">
            <a:avLst/>
          </a:prstGeom>
          <a:noFill/>
          <a:ln/>
        </p:spPr>
        <p:txBody>
          <a:bodyPr wrap="square" lIns="0" tIns="0" rIns="0" bIns="0" rtlCol="0" anchor="t"/>
          <a:lstStyle/>
          <a:p>
            <a:pPr marL="0" indent="0">
              <a:buNone/>
            </a:pPr>
            <a:r>
              <a:rPr lang="en-US" sz="1600" b="1" dirty="0">
                <a:solidFill>
                  <a:srgbClr val="D49A00"/>
                </a:solidFill>
                <a:latin typeface="Calibri" pitchFamily="34" charset="0"/>
                <a:ea typeface="Calibri" pitchFamily="34" charset="-122"/>
                <a:cs typeface="Calibri" pitchFamily="34" charset="-120"/>
              </a:rPr>
              <a:t>~25%</a:t>
            </a:r>
            <a:endParaRPr lang="en-US" sz="1600" dirty="0"/>
          </a:p>
        </p:txBody>
      </p:sp>
      <p:sp>
        <p:nvSpPr>
          <p:cNvPr id="61" name="Text 58"/>
          <p:cNvSpPr txBox="1"/>
          <p:nvPr/>
        </p:nvSpPr>
        <p:spPr>
          <a:xfrm>
            <a:off x="6949440" y="2514600"/>
            <a:ext cx="1645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Edge cases</a:t>
            </a:r>
            <a:endParaRPr lang="en-US" sz="1150" dirty="0"/>
          </a:p>
        </p:txBody>
      </p:sp>
      <p:sp>
        <p:nvSpPr>
          <p:cNvPr id="62" name="Text 59"/>
          <p:cNvSpPr txBox="1"/>
          <p:nvPr/>
        </p:nvSpPr>
        <p:spPr>
          <a:xfrm>
            <a:off x="6949440" y="2743200"/>
            <a:ext cx="164592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Where decision rules are tested</a:t>
            </a:r>
            <a:endParaRPr lang="en-US" sz="900" dirty="0"/>
          </a:p>
        </p:txBody>
      </p:sp>
      <p:sp>
        <p:nvSpPr>
          <p:cNvPr id="63" name="Shape 60"/>
          <p:cNvSpPr/>
          <p:nvPr/>
        </p:nvSpPr>
        <p:spPr>
          <a:xfrm>
            <a:off x="6263640" y="2999232"/>
            <a:ext cx="2286000" cy="91440"/>
          </a:xfrm>
          <a:prstGeom prst="rect">
            <a:avLst/>
          </a:prstGeom>
          <a:solidFill>
            <a:srgbClr val="D5DED9"/>
          </a:solidFill>
          <a:ln/>
        </p:spPr>
      </p:sp>
      <p:sp>
        <p:nvSpPr>
          <p:cNvPr id="64" name="Shape 61"/>
          <p:cNvSpPr/>
          <p:nvPr/>
        </p:nvSpPr>
        <p:spPr>
          <a:xfrm>
            <a:off x="6263640" y="2999232"/>
            <a:ext cx="571500" cy="91440"/>
          </a:xfrm>
          <a:prstGeom prst="rect">
            <a:avLst/>
          </a:prstGeom>
          <a:solidFill>
            <a:srgbClr val="D49A00"/>
          </a:solidFill>
          <a:ln/>
        </p:spPr>
      </p:sp>
      <p:sp>
        <p:nvSpPr>
          <p:cNvPr id="65" name="Text 62"/>
          <p:cNvSpPr txBox="1"/>
          <p:nvPr/>
        </p:nvSpPr>
        <p:spPr>
          <a:xfrm>
            <a:off x="6263640" y="3218688"/>
            <a:ext cx="685800" cy="274320"/>
          </a:xfrm>
          <a:prstGeom prst="rect">
            <a:avLst/>
          </a:prstGeom>
          <a:noFill/>
          <a:ln/>
        </p:spPr>
        <p:txBody>
          <a:bodyPr wrap="square" lIns="0" tIns="0" rIns="0" bIns="0" rtlCol="0" anchor="t"/>
          <a:lstStyle/>
          <a:p>
            <a:pPr marL="0" indent="0">
              <a:buNone/>
            </a:pPr>
            <a:r>
              <a:rPr lang="en-US" sz="1600" b="1" dirty="0">
                <a:solidFill>
                  <a:srgbClr val="B83B2E"/>
                </a:solidFill>
                <a:latin typeface="Calibri" pitchFamily="34" charset="0"/>
                <a:ea typeface="Calibri" pitchFamily="34" charset="-122"/>
                <a:cs typeface="Calibri" pitchFamily="34" charset="-120"/>
              </a:rPr>
              <a:t>~15%</a:t>
            </a:r>
            <a:endParaRPr lang="en-US" sz="1600" dirty="0"/>
          </a:p>
        </p:txBody>
      </p:sp>
      <p:sp>
        <p:nvSpPr>
          <p:cNvPr id="66" name="Text 63"/>
          <p:cNvSpPr txBox="1"/>
          <p:nvPr/>
        </p:nvSpPr>
        <p:spPr>
          <a:xfrm>
            <a:off x="6949440" y="3246120"/>
            <a:ext cx="1645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Negative cases</a:t>
            </a:r>
            <a:endParaRPr lang="en-US" sz="1150" dirty="0"/>
          </a:p>
        </p:txBody>
      </p:sp>
      <p:sp>
        <p:nvSpPr>
          <p:cNvPr id="67" name="Text 64"/>
          <p:cNvSpPr txBox="1"/>
          <p:nvPr/>
        </p:nvSpPr>
        <p:spPr>
          <a:xfrm>
            <a:off x="6949440" y="3474720"/>
            <a:ext cx="164592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The model must refuse or flag</a:t>
            </a:r>
            <a:endParaRPr lang="en-US" sz="900" dirty="0"/>
          </a:p>
        </p:txBody>
      </p:sp>
      <p:sp>
        <p:nvSpPr>
          <p:cNvPr id="68" name="Shape 65"/>
          <p:cNvSpPr/>
          <p:nvPr/>
        </p:nvSpPr>
        <p:spPr>
          <a:xfrm>
            <a:off x="6263640" y="3730752"/>
            <a:ext cx="2286000" cy="91440"/>
          </a:xfrm>
          <a:prstGeom prst="rect">
            <a:avLst/>
          </a:prstGeom>
          <a:solidFill>
            <a:srgbClr val="D5DED9"/>
          </a:solidFill>
          <a:ln/>
        </p:spPr>
      </p:sp>
      <p:sp>
        <p:nvSpPr>
          <p:cNvPr id="69" name="Shape 66"/>
          <p:cNvSpPr/>
          <p:nvPr/>
        </p:nvSpPr>
        <p:spPr>
          <a:xfrm>
            <a:off x="6263640" y="3730752"/>
            <a:ext cx="342900" cy="91440"/>
          </a:xfrm>
          <a:prstGeom prst="rect">
            <a:avLst/>
          </a:prstGeom>
          <a:solidFill>
            <a:srgbClr val="B83B2E"/>
          </a:solidFill>
          <a:ln/>
        </p:spPr>
      </p:sp>
      <p:sp>
        <p:nvSpPr>
          <p:cNvPr id="70" name="Text 67"/>
          <p:cNvSpPr txBox="1"/>
          <p:nvPr/>
        </p:nvSpPr>
        <p:spPr>
          <a:xfrm>
            <a:off x="6263640" y="3977640"/>
            <a:ext cx="2286000" cy="50292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Rule of thumb: start with 30–50 cases, then add every new failure you meet in production.</a:t>
            </a:r>
            <a:endParaRPr lang="en-US" sz="9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EVALUATION SET</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Five rules for a set you can trust</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00704A"/>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325880"/>
            <a:ext cx="2651760" cy="1508760"/>
          </a:xfrm>
          <a:prstGeom prst="roundRect">
            <a:avLst>
              <a:gd name="adj" fmla="val 4848"/>
            </a:avLst>
          </a:prstGeom>
          <a:solidFill>
            <a:srgbClr val="F4F7F5"/>
          </a:solidFill>
          <a:ln w="9525">
            <a:solidFill>
              <a:srgbClr val="D5DED9"/>
            </a:solidFill>
            <a:prstDash val="solid"/>
          </a:ln>
        </p:spPr>
      </p:sp>
      <p:sp>
        <p:nvSpPr>
          <p:cNvPr id="18" name="Shape 15"/>
          <p:cNvSpPr/>
          <p:nvPr/>
        </p:nvSpPr>
        <p:spPr>
          <a:xfrm>
            <a:off x="621792" y="1490472"/>
            <a:ext cx="438912" cy="438912"/>
          </a:xfrm>
          <a:prstGeom prst="ellipse">
            <a:avLst/>
          </a:prstGeom>
          <a:solidFill>
            <a:srgbClr val="00704A">
              <a:alpha val="22000"/>
            </a:srgbClr>
          </a:solidFill>
          <a:ln/>
        </p:spPr>
      </p:sp>
      <p:pic>
        <p:nvPicPr>
          <p:cNvPr id="19" name="Image 0" descr="preencoded.png"/>
          <p:cNvPicPr>
            <a:picLocks noChangeAspect="1"/>
          </p:cNvPicPr>
          <p:nvPr/>
        </p:nvPicPr>
        <p:blipFill>
          <a:blip r:embed="rId3"/>
          <a:stretch>
            <a:fillRect/>
          </a:stretch>
        </p:blipFill>
        <p:spPr>
          <a:xfrm>
            <a:off x="727131" y="1595811"/>
            <a:ext cx="228234" cy="228234"/>
          </a:xfrm>
          <a:prstGeom prst="rect">
            <a:avLst/>
          </a:prstGeom>
        </p:spPr>
      </p:pic>
      <p:sp>
        <p:nvSpPr>
          <p:cNvPr id="20" name="Text 16"/>
          <p:cNvSpPr txBox="1"/>
          <p:nvPr/>
        </p:nvSpPr>
        <p:spPr>
          <a:xfrm>
            <a:off x="1170432" y="149047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Representative</a:t>
            </a:r>
            <a:endParaRPr lang="en-US" sz="1350" dirty="0"/>
          </a:p>
        </p:txBody>
      </p:sp>
      <p:sp>
        <p:nvSpPr>
          <p:cNvPr id="21" name="Text 17"/>
          <p:cNvSpPr txBox="1"/>
          <p:nvPr/>
        </p:nvSpPr>
        <p:spPr>
          <a:xfrm>
            <a:off x="621792" y="2039112"/>
            <a:ext cx="2331720" cy="7315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Cover every language, region, data source and format you meet in production, including poor scans and typos.</a:t>
            </a:r>
            <a:endParaRPr lang="en-US" sz="1050" dirty="0"/>
          </a:p>
        </p:txBody>
      </p:sp>
      <p:sp>
        <p:nvSpPr>
          <p:cNvPr id="22" name="Shape 18"/>
          <p:cNvSpPr/>
          <p:nvPr/>
        </p:nvSpPr>
        <p:spPr>
          <a:xfrm>
            <a:off x="3246120" y="1325880"/>
            <a:ext cx="2651760" cy="1508760"/>
          </a:xfrm>
          <a:prstGeom prst="roundRect">
            <a:avLst>
              <a:gd name="adj" fmla="val 4848"/>
            </a:avLst>
          </a:prstGeom>
          <a:solidFill>
            <a:srgbClr val="F4F7F5"/>
          </a:solidFill>
          <a:ln w="9525">
            <a:solidFill>
              <a:srgbClr val="D5DED9"/>
            </a:solidFill>
            <a:prstDash val="solid"/>
          </a:ln>
        </p:spPr>
      </p:sp>
      <p:sp>
        <p:nvSpPr>
          <p:cNvPr id="23" name="Shape 19"/>
          <p:cNvSpPr/>
          <p:nvPr/>
        </p:nvSpPr>
        <p:spPr>
          <a:xfrm>
            <a:off x="3410712" y="1490472"/>
            <a:ext cx="438912" cy="438912"/>
          </a:xfrm>
          <a:prstGeom prst="ellipse">
            <a:avLst/>
          </a:prstGeom>
          <a:solidFill>
            <a:srgbClr val="00704A">
              <a:alpha val="22000"/>
            </a:srgbClr>
          </a:solidFill>
          <a:ln/>
        </p:spPr>
      </p:sp>
      <p:pic>
        <p:nvPicPr>
          <p:cNvPr id="24" name="Image 1" descr="preencoded.png"/>
          <p:cNvPicPr>
            <a:picLocks noChangeAspect="1"/>
          </p:cNvPicPr>
          <p:nvPr/>
        </p:nvPicPr>
        <p:blipFill>
          <a:blip r:embed="rId4"/>
          <a:stretch>
            <a:fillRect/>
          </a:stretch>
        </p:blipFill>
        <p:spPr>
          <a:xfrm>
            <a:off x="3516051" y="1595811"/>
            <a:ext cx="228234" cy="228234"/>
          </a:xfrm>
          <a:prstGeom prst="rect">
            <a:avLst/>
          </a:prstGeom>
        </p:spPr>
      </p:pic>
      <p:sp>
        <p:nvSpPr>
          <p:cNvPr id="25" name="Text 20"/>
          <p:cNvSpPr txBox="1"/>
          <p:nvPr/>
        </p:nvSpPr>
        <p:spPr>
          <a:xfrm>
            <a:off x="3959352" y="149047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Expert-labelled</a:t>
            </a:r>
            <a:endParaRPr lang="en-US" sz="1350" dirty="0"/>
          </a:p>
        </p:txBody>
      </p:sp>
      <p:sp>
        <p:nvSpPr>
          <p:cNvPr id="26" name="Text 21"/>
          <p:cNvSpPr txBox="1"/>
          <p:nvPr/>
        </p:nvSpPr>
        <p:spPr>
          <a:xfrm>
            <a:off x="3410712" y="2039112"/>
            <a:ext cx="2331720" cy="7315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Gold answers come from subject-matter experts. Double-code, and resolve disagreements before scoring.</a:t>
            </a:r>
            <a:endParaRPr lang="en-US" sz="1050" dirty="0"/>
          </a:p>
        </p:txBody>
      </p:sp>
      <p:sp>
        <p:nvSpPr>
          <p:cNvPr id="27" name="Shape 22"/>
          <p:cNvSpPr/>
          <p:nvPr/>
        </p:nvSpPr>
        <p:spPr>
          <a:xfrm>
            <a:off x="6035040" y="1325880"/>
            <a:ext cx="2651760" cy="1508760"/>
          </a:xfrm>
          <a:prstGeom prst="roundRect">
            <a:avLst>
              <a:gd name="adj" fmla="val 4848"/>
            </a:avLst>
          </a:prstGeom>
          <a:solidFill>
            <a:srgbClr val="F4F7F5"/>
          </a:solidFill>
          <a:ln w="9525">
            <a:solidFill>
              <a:srgbClr val="D5DED9"/>
            </a:solidFill>
            <a:prstDash val="solid"/>
          </a:ln>
        </p:spPr>
      </p:sp>
      <p:sp>
        <p:nvSpPr>
          <p:cNvPr id="28" name="Shape 23"/>
          <p:cNvSpPr/>
          <p:nvPr/>
        </p:nvSpPr>
        <p:spPr>
          <a:xfrm>
            <a:off x="6199632" y="1490472"/>
            <a:ext cx="438912" cy="438912"/>
          </a:xfrm>
          <a:prstGeom prst="ellipse">
            <a:avLst/>
          </a:prstGeom>
          <a:solidFill>
            <a:srgbClr val="00704A">
              <a:alpha val="22000"/>
            </a:srgbClr>
          </a:solidFill>
          <a:ln/>
        </p:spPr>
      </p:sp>
      <p:pic>
        <p:nvPicPr>
          <p:cNvPr id="29" name="Image 2" descr="preencoded.png"/>
          <p:cNvPicPr>
            <a:picLocks noChangeAspect="1"/>
          </p:cNvPicPr>
          <p:nvPr/>
        </p:nvPicPr>
        <p:blipFill>
          <a:blip r:embed="rId5"/>
          <a:stretch>
            <a:fillRect/>
          </a:stretch>
        </p:blipFill>
        <p:spPr>
          <a:xfrm>
            <a:off x="6304971" y="1595811"/>
            <a:ext cx="228234" cy="228234"/>
          </a:xfrm>
          <a:prstGeom prst="rect">
            <a:avLst/>
          </a:prstGeom>
        </p:spPr>
      </p:pic>
      <p:sp>
        <p:nvSpPr>
          <p:cNvPr id="30" name="Text 24"/>
          <p:cNvSpPr txBox="1"/>
          <p:nvPr/>
        </p:nvSpPr>
        <p:spPr>
          <a:xfrm>
            <a:off x="6748272" y="149047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Frozen and versioned</a:t>
            </a:r>
            <a:endParaRPr lang="en-US" sz="1350" dirty="0"/>
          </a:p>
        </p:txBody>
      </p:sp>
      <p:sp>
        <p:nvSpPr>
          <p:cNvPr id="31" name="Text 25"/>
          <p:cNvSpPr txBox="1"/>
          <p:nvPr/>
        </p:nvSpPr>
        <p:spPr>
          <a:xfrm>
            <a:off x="6199632" y="2039112"/>
            <a:ext cx="2331720" cy="7315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Never edit a case once scoring has started. Store the set in Git with a version number.</a:t>
            </a:r>
            <a:endParaRPr lang="en-US" sz="1050" dirty="0"/>
          </a:p>
        </p:txBody>
      </p:sp>
      <p:sp>
        <p:nvSpPr>
          <p:cNvPr id="32" name="Shape 26"/>
          <p:cNvSpPr/>
          <p:nvPr/>
        </p:nvSpPr>
        <p:spPr>
          <a:xfrm>
            <a:off x="1856232" y="2971800"/>
            <a:ext cx="2651760" cy="1508760"/>
          </a:xfrm>
          <a:prstGeom prst="roundRect">
            <a:avLst>
              <a:gd name="adj" fmla="val 4848"/>
            </a:avLst>
          </a:prstGeom>
          <a:solidFill>
            <a:srgbClr val="E8F5EF"/>
          </a:solidFill>
          <a:ln w="15875">
            <a:solidFill>
              <a:srgbClr val="00704A"/>
            </a:solidFill>
            <a:prstDash val="solid"/>
          </a:ln>
        </p:spPr>
      </p:sp>
      <p:sp>
        <p:nvSpPr>
          <p:cNvPr id="33" name="Shape 27"/>
          <p:cNvSpPr/>
          <p:nvPr/>
        </p:nvSpPr>
        <p:spPr>
          <a:xfrm>
            <a:off x="2020824" y="3136392"/>
            <a:ext cx="438912" cy="438912"/>
          </a:xfrm>
          <a:prstGeom prst="ellipse">
            <a:avLst/>
          </a:prstGeom>
          <a:solidFill>
            <a:srgbClr val="00704A">
              <a:alpha val="22000"/>
            </a:srgbClr>
          </a:solidFill>
          <a:ln/>
        </p:spPr>
      </p:sp>
      <p:pic>
        <p:nvPicPr>
          <p:cNvPr id="34" name="Image 3" descr="preencoded.png"/>
          <p:cNvPicPr>
            <a:picLocks noChangeAspect="1"/>
          </p:cNvPicPr>
          <p:nvPr/>
        </p:nvPicPr>
        <p:blipFill>
          <a:blip r:embed="rId6"/>
          <a:stretch>
            <a:fillRect/>
          </a:stretch>
        </p:blipFill>
        <p:spPr>
          <a:xfrm>
            <a:off x="2126163" y="3241731"/>
            <a:ext cx="228234" cy="228234"/>
          </a:xfrm>
          <a:prstGeom prst="rect">
            <a:avLst/>
          </a:prstGeom>
        </p:spPr>
      </p:pic>
      <p:sp>
        <p:nvSpPr>
          <p:cNvPr id="35" name="Text 28"/>
          <p:cNvSpPr txBox="1"/>
          <p:nvPr/>
        </p:nvSpPr>
        <p:spPr>
          <a:xfrm>
            <a:off x="2569464" y="313639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Never in the prompt</a:t>
            </a:r>
            <a:endParaRPr lang="en-US" sz="1350" dirty="0"/>
          </a:p>
        </p:txBody>
      </p:sp>
      <p:sp>
        <p:nvSpPr>
          <p:cNvPr id="36" name="Text 29"/>
          <p:cNvSpPr txBox="1"/>
          <p:nvPr/>
        </p:nvSpPr>
        <p:spPr>
          <a:xfrm>
            <a:off x="2020824" y="3685032"/>
            <a:ext cx="2331720" cy="7315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Examples in the prompt come from a separate pool. Otherwise you are grading the model on the answers you gave it.</a:t>
            </a:r>
            <a:endParaRPr lang="en-US" sz="1050" dirty="0"/>
          </a:p>
        </p:txBody>
      </p:sp>
      <p:sp>
        <p:nvSpPr>
          <p:cNvPr id="37" name="Shape 30"/>
          <p:cNvSpPr/>
          <p:nvPr/>
        </p:nvSpPr>
        <p:spPr>
          <a:xfrm>
            <a:off x="4645152" y="2971800"/>
            <a:ext cx="2651760" cy="1508760"/>
          </a:xfrm>
          <a:prstGeom prst="roundRect">
            <a:avLst>
              <a:gd name="adj" fmla="val 4848"/>
            </a:avLst>
          </a:prstGeom>
          <a:solidFill>
            <a:srgbClr val="F4F7F5"/>
          </a:solidFill>
          <a:ln w="9525">
            <a:solidFill>
              <a:srgbClr val="D5DED9"/>
            </a:solidFill>
            <a:prstDash val="solid"/>
          </a:ln>
        </p:spPr>
      </p:sp>
      <p:sp>
        <p:nvSpPr>
          <p:cNvPr id="38" name="Shape 31"/>
          <p:cNvSpPr/>
          <p:nvPr/>
        </p:nvSpPr>
        <p:spPr>
          <a:xfrm>
            <a:off x="4809744" y="3136392"/>
            <a:ext cx="438912" cy="438912"/>
          </a:xfrm>
          <a:prstGeom prst="ellipse">
            <a:avLst/>
          </a:prstGeom>
          <a:solidFill>
            <a:srgbClr val="00704A">
              <a:alpha val="22000"/>
            </a:srgbClr>
          </a:solidFill>
          <a:ln/>
        </p:spPr>
      </p:sp>
      <p:pic>
        <p:nvPicPr>
          <p:cNvPr id="39" name="Image 4" descr="preencoded.png"/>
          <p:cNvPicPr>
            <a:picLocks noChangeAspect="1"/>
          </p:cNvPicPr>
          <p:nvPr/>
        </p:nvPicPr>
        <p:blipFill>
          <a:blip r:embed="rId7"/>
          <a:stretch>
            <a:fillRect/>
          </a:stretch>
        </p:blipFill>
        <p:spPr>
          <a:xfrm>
            <a:off x="4915083" y="3241731"/>
            <a:ext cx="228234" cy="228234"/>
          </a:xfrm>
          <a:prstGeom prst="rect">
            <a:avLst/>
          </a:prstGeom>
        </p:spPr>
      </p:pic>
      <p:sp>
        <p:nvSpPr>
          <p:cNvPr id="40" name="Text 32"/>
          <p:cNvSpPr txBox="1"/>
          <p:nvPr/>
        </p:nvSpPr>
        <p:spPr>
          <a:xfrm>
            <a:off x="5358384" y="313639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Grows from failures</a:t>
            </a:r>
            <a:endParaRPr lang="en-US" sz="1350" dirty="0"/>
          </a:p>
        </p:txBody>
      </p:sp>
      <p:sp>
        <p:nvSpPr>
          <p:cNvPr id="41" name="Text 33"/>
          <p:cNvSpPr txBox="1"/>
          <p:nvPr/>
        </p:nvSpPr>
        <p:spPr>
          <a:xfrm>
            <a:off x="4809744" y="3685032"/>
            <a:ext cx="2331720" cy="7315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Every error found in production becomes a new test case in the next version of the set.</a:t>
            </a:r>
            <a:endParaRPr lang="en-US" sz="10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3 OF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03</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Measure quality</a:t>
            </a:r>
            <a:endParaRPr lang="en-US" sz="36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Score it, don’t sense it.</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FFFFF">
              <a:alpha val="40000"/>
            </a:srgbClr>
          </a:solidFill>
          <a:ln/>
        </p:spPr>
      </p:sp>
      <p:sp>
        <p:nvSpPr>
          <p:cNvPr id="11" name="Shape 8"/>
          <p:cNvSpPr/>
          <p:nvPr/>
        </p:nvSpPr>
        <p:spPr>
          <a:xfrm>
            <a:off x="7818120" y="365760"/>
            <a:ext cx="100584" cy="100584"/>
          </a:xfrm>
          <a:prstGeom prst="ellipse">
            <a:avLst/>
          </a:prstGeom>
          <a:solidFill>
            <a:srgbClr val="FFFFFF">
              <a:alpha val="40000"/>
            </a:srgbClr>
          </a:solidFill>
          <a:ln/>
        </p:spPr>
      </p:sp>
      <p:sp>
        <p:nvSpPr>
          <p:cNvPr id="12" name="Shape 9"/>
          <p:cNvSpPr/>
          <p:nvPr/>
        </p:nvSpPr>
        <p:spPr>
          <a:xfrm>
            <a:off x="8001000" y="365760"/>
            <a:ext cx="100584" cy="100584"/>
          </a:xfrm>
          <a:prstGeom prst="ellipse">
            <a:avLst/>
          </a:prstGeom>
          <a:solidFill>
            <a:srgbClr val="F5C242"/>
          </a:solidFill>
          <a:ln/>
        </p:spPr>
      </p:sp>
      <p:sp>
        <p:nvSpPr>
          <p:cNvPr id="13" name="Shape 10"/>
          <p:cNvSpPr/>
          <p:nvPr/>
        </p:nvSpPr>
        <p:spPr>
          <a:xfrm>
            <a:off x="8183880" y="365760"/>
            <a:ext cx="100584" cy="100584"/>
          </a:xfrm>
          <a:prstGeom prst="ellipse">
            <a:avLst/>
          </a:prstGeom>
          <a:solidFill>
            <a:srgbClr val="FFFFFF">
              <a:alpha val="40000"/>
            </a:srgbClr>
          </a:solidFill>
          <a:ln/>
        </p:spPr>
      </p:sp>
      <p:sp>
        <p:nvSpPr>
          <p:cNvPr id="14" name="Shape 11"/>
          <p:cNvSpPr/>
          <p:nvPr/>
        </p:nvSpPr>
        <p:spPr>
          <a:xfrm>
            <a:off x="8366760" y="365760"/>
            <a:ext cx="100584" cy="100584"/>
          </a:xfrm>
          <a:prstGeom prst="ellipse">
            <a:avLst/>
          </a:prstGeom>
          <a:solidFill>
            <a:srgbClr val="FFFFFF">
              <a:alpha val="40000"/>
            </a:srgbClr>
          </a:solidFill>
          <a:ln/>
        </p:spPr>
      </p:sp>
      <p:sp>
        <p:nvSpPr>
          <p:cNvPr id="15" name="Shape 12"/>
          <p:cNvSpPr/>
          <p:nvPr/>
        </p:nvSpPr>
        <p:spPr>
          <a:xfrm>
            <a:off x="8549640" y="365760"/>
            <a:ext cx="100584" cy="100584"/>
          </a:xfrm>
          <a:prstGeom prst="ellipse">
            <a:avLst/>
          </a:prstGeom>
          <a:solidFill>
            <a:srgbClr val="FFFFFF">
              <a:alpha val="40000"/>
            </a:srgbClr>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12</a:t>
            </a:r>
            <a:endParaRPr lang="en-US" sz="8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MEASURING QUALITY</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Choose the metric that matches the task</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0E7C86"/>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298448"/>
            <a:ext cx="8229600" cy="329184"/>
          </a:xfrm>
          <a:prstGeom prst="roundRect">
            <a:avLst>
              <a:gd name="adj" fmla="val 13889"/>
            </a:avLst>
          </a:prstGeom>
          <a:solidFill>
            <a:srgbClr val="0E7C86"/>
          </a:solidFill>
          <a:ln/>
        </p:spPr>
      </p:sp>
      <p:sp>
        <p:nvSpPr>
          <p:cNvPr id="18" name="Text 15"/>
          <p:cNvSpPr txBox="1"/>
          <p:nvPr/>
        </p:nvSpPr>
        <p:spPr>
          <a:xfrm>
            <a:off x="914400" y="1298448"/>
            <a:ext cx="1463040"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Task type</a:t>
            </a:r>
            <a:endParaRPr lang="en-US" sz="1050" dirty="0"/>
          </a:p>
        </p:txBody>
      </p:sp>
      <p:sp>
        <p:nvSpPr>
          <p:cNvPr id="19" name="Text 16"/>
          <p:cNvSpPr txBox="1"/>
          <p:nvPr/>
        </p:nvSpPr>
        <p:spPr>
          <a:xfrm>
            <a:off x="2194560" y="1298448"/>
            <a:ext cx="2148840"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Example in an NSO</a:t>
            </a:r>
            <a:endParaRPr lang="en-US" sz="1050" dirty="0"/>
          </a:p>
        </p:txBody>
      </p:sp>
      <p:sp>
        <p:nvSpPr>
          <p:cNvPr id="20" name="Text 17"/>
          <p:cNvSpPr txBox="1"/>
          <p:nvPr/>
        </p:nvSpPr>
        <p:spPr>
          <a:xfrm>
            <a:off x="4526280" y="1298448"/>
            <a:ext cx="1965960"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p>
        </p:txBody>
      </p:sp>
      <p:sp>
        <p:nvSpPr>
          <p:cNvPr id="21" name="Text 18"/>
          <p:cNvSpPr txBox="1"/>
          <p:nvPr/>
        </p:nvSpPr>
        <p:spPr>
          <a:xfrm>
            <a:off x="6675120" y="1298448"/>
            <a:ext cx="1920240"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How it is scored</a:t>
            </a:r>
            <a:endParaRPr lang="en-US" sz="1050" dirty="0"/>
          </a:p>
        </p:txBody>
      </p:sp>
      <p:sp>
        <p:nvSpPr>
          <p:cNvPr id="22" name="Shape 19"/>
          <p:cNvSpPr/>
          <p:nvPr/>
        </p:nvSpPr>
        <p:spPr>
          <a:xfrm>
            <a:off x="457200" y="1691640"/>
            <a:ext cx="8229600" cy="484632"/>
          </a:xfrm>
          <a:prstGeom prst="roundRect">
            <a:avLst>
              <a:gd name="adj" fmla="val 15094"/>
            </a:avLst>
          </a:prstGeom>
          <a:solidFill>
            <a:srgbClr val="E8F5EF"/>
          </a:solidFill>
          <a:ln w="9525">
            <a:solidFill>
              <a:srgbClr val="D5DED9"/>
            </a:solidFill>
            <a:prstDash val="solid"/>
          </a:ln>
        </p:spPr>
      </p:sp>
      <p:sp>
        <p:nvSpPr>
          <p:cNvPr id="23" name="Shape 20"/>
          <p:cNvSpPr/>
          <p:nvPr/>
        </p:nvSpPr>
        <p:spPr>
          <a:xfrm>
            <a:off x="548640" y="1764792"/>
            <a:ext cx="338328" cy="338328"/>
          </a:xfrm>
          <a:prstGeom prst="ellipse">
            <a:avLst/>
          </a:prstGeom>
          <a:solidFill>
            <a:srgbClr val="0E7C86">
              <a:alpha val="22000"/>
            </a:srgbClr>
          </a:solidFill>
          <a:ln/>
        </p:spPr>
      </p:sp>
      <p:pic>
        <p:nvPicPr>
          <p:cNvPr id="24" name="Image 0" descr="preencoded.png"/>
          <p:cNvPicPr>
            <a:picLocks noChangeAspect="1"/>
          </p:cNvPicPr>
          <p:nvPr/>
        </p:nvPicPr>
        <p:blipFill>
          <a:blip r:embed="rId3"/>
          <a:stretch>
            <a:fillRect/>
          </a:stretch>
        </p:blipFill>
        <p:spPr>
          <a:xfrm>
            <a:off x="629839" y="1845991"/>
            <a:ext cx="175931" cy="175931"/>
          </a:xfrm>
          <a:prstGeom prst="rect">
            <a:avLst/>
          </a:prstGeom>
        </p:spPr>
      </p:pic>
      <p:sp>
        <p:nvSpPr>
          <p:cNvPr id="25" name="Text 21"/>
          <p:cNvSpPr txBox="1"/>
          <p:nvPr/>
        </p:nvSpPr>
        <p:spPr>
          <a:xfrm>
            <a:off x="960120" y="1691640"/>
            <a:ext cx="1097280" cy="48463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Extraction</a:t>
            </a:r>
            <a:endParaRPr lang="en-US" sz="1150" dirty="0"/>
          </a:p>
        </p:txBody>
      </p:sp>
      <p:sp>
        <p:nvSpPr>
          <p:cNvPr id="26" name="Text 22"/>
          <p:cNvSpPr txBox="1"/>
          <p:nvPr/>
        </p:nvSpPr>
        <p:spPr>
          <a:xfrm>
            <a:off x="2194560" y="1691640"/>
            <a:ext cx="2148840" cy="48463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CPI figures from a PDF bulletin</a:t>
            </a:r>
            <a:endParaRPr lang="en-US" sz="1050" dirty="0"/>
          </a:p>
        </p:txBody>
      </p:sp>
      <p:sp>
        <p:nvSpPr>
          <p:cNvPr id="27" name="Text 23"/>
          <p:cNvSpPr txBox="1"/>
          <p:nvPr/>
        </p:nvSpPr>
        <p:spPr>
          <a:xfrm>
            <a:off x="4526280" y="1691640"/>
            <a:ext cx="1965960" cy="484632"/>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Field-level exact match</a:t>
            </a:r>
            <a:endParaRPr lang="en-US" sz="1050" dirty="0"/>
          </a:p>
        </p:txBody>
      </p:sp>
      <p:sp>
        <p:nvSpPr>
          <p:cNvPr id="28" name="Text 24"/>
          <p:cNvSpPr txBox="1"/>
          <p:nvPr/>
        </p:nvSpPr>
        <p:spPr>
          <a:xfrm>
            <a:off x="6675120" y="1691640"/>
            <a:ext cx="1920240" cy="4846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Automatic: script vs. gold</a:t>
            </a:r>
            <a:endParaRPr lang="en-US" sz="1050" dirty="0"/>
          </a:p>
        </p:txBody>
      </p:sp>
      <p:sp>
        <p:nvSpPr>
          <p:cNvPr id="29" name="Shape 25"/>
          <p:cNvSpPr/>
          <p:nvPr/>
        </p:nvSpPr>
        <p:spPr>
          <a:xfrm>
            <a:off x="457200" y="2240280"/>
            <a:ext cx="8229600" cy="484632"/>
          </a:xfrm>
          <a:prstGeom prst="roundRect">
            <a:avLst>
              <a:gd name="adj" fmla="val 15094"/>
            </a:avLst>
          </a:prstGeom>
          <a:solidFill>
            <a:srgbClr val="E8F5EF"/>
          </a:solidFill>
          <a:ln w="9525">
            <a:solidFill>
              <a:srgbClr val="D5DED9"/>
            </a:solidFill>
            <a:prstDash val="solid"/>
          </a:ln>
        </p:spPr>
      </p:sp>
      <p:sp>
        <p:nvSpPr>
          <p:cNvPr id="30" name="Shape 26"/>
          <p:cNvSpPr/>
          <p:nvPr/>
        </p:nvSpPr>
        <p:spPr>
          <a:xfrm>
            <a:off x="548640" y="2313432"/>
            <a:ext cx="338328" cy="338328"/>
          </a:xfrm>
          <a:prstGeom prst="ellipse">
            <a:avLst/>
          </a:prstGeom>
          <a:solidFill>
            <a:srgbClr val="0E7C86">
              <a:alpha val="22000"/>
            </a:srgbClr>
          </a:solidFill>
          <a:ln/>
        </p:spPr>
      </p:sp>
      <p:pic>
        <p:nvPicPr>
          <p:cNvPr id="31" name="Image 1" descr="preencoded.png"/>
          <p:cNvPicPr>
            <a:picLocks noChangeAspect="1"/>
          </p:cNvPicPr>
          <p:nvPr/>
        </p:nvPicPr>
        <p:blipFill>
          <a:blip r:embed="rId4"/>
          <a:stretch>
            <a:fillRect/>
          </a:stretch>
        </p:blipFill>
        <p:spPr>
          <a:xfrm>
            <a:off x="629839" y="2394631"/>
            <a:ext cx="175931" cy="175931"/>
          </a:xfrm>
          <a:prstGeom prst="rect">
            <a:avLst/>
          </a:prstGeom>
        </p:spPr>
      </p:pic>
      <p:sp>
        <p:nvSpPr>
          <p:cNvPr id="32" name="Text 27"/>
          <p:cNvSpPr txBox="1"/>
          <p:nvPr/>
        </p:nvSpPr>
        <p:spPr>
          <a:xfrm>
            <a:off x="960120" y="2240280"/>
            <a:ext cx="1097280" cy="48463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Coding</a:t>
            </a:r>
            <a:endParaRPr lang="en-US" sz="1150" dirty="0"/>
          </a:p>
        </p:txBody>
      </p:sp>
      <p:sp>
        <p:nvSpPr>
          <p:cNvPr id="33" name="Text 28"/>
          <p:cNvSpPr txBox="1"/>
          <p:nvPr/>
        </p:nvSpPr>
        <p:spPr>
          <a:xfrm>
            <a:off x="2194560" y="2240280"/>
            <a:ext cx="2148840" cy="48463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ISCO, ISIC or COICOP coding of survey text</a:t>
            </a:r>
            <a:endParaRPr lang="en-US" sz="1050" dirty="0"/>
          </a:p>
        </p:txBody>
      </p:sp>
      <p:sp>
        <p:nvSpPr>
          <p:cNvPr id="34" name="Text 29"/>
          <p:cNvSpPr txBox="1"/>
          <p:nvPr/>
        </p:nvSpPr>
        <p:spPr>
          <a:xfrm>
            <a:off x="4526280" y="2240280"/>
            <a:ext cx="1965960" cy="484632"/>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Accuracy + per-class precision / recall</a:t>
            </a:r>
            <a:endParaRPr lang="en-US" sz="1050" dirty="0"/>
          </a:p>
        </p:txBody>
      </p:sp>
      <p:sp>
        <p:nvSpPr>
          <p:cNvPr id="35" name="Text 30"/>
          <p:cNvSpPr txBox="1"/>
          <p:nvPr/>
        </p:nvSpPr>
        <p:spPr>
          <a:xfrm>
            <a:off x="6675120" y="2240280"/>
            <a:ext cx="1920240" cy="4846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Automatic + confusion matrix</a:t>
            </a:r>
            <a:endParaRPr lang="en-US" sz="1050" dirty="0"/>
          </a:p>
        </p:txBody>
      </p:sp>
      <p:sp>
        <p:nvSpPr>
          <p:cNvPr id="36" name="Shape 31"/>
          <p:cNvSpPr/>
          <p:nvPr/>
        </p:nvSpPr>
        <p:spPr>
          <a:xfrm>
            <a:off x="457200" y="2788920"/>
            <a:ext cx="8229600" cy="484632"/>
          </a:xfrm>
          <a:prstGeom prst="roundRect">
            <a:avLst>
              <a:gd name="adj" fmla="val 15094"/>
            </a:avLst>
          </a:prstGeom>
          <a:solidFill>
            <a:srgbClr val="E8F5EF"/>
          </a:solidFill>
          <a:ln w="9525">
            <a:solidFill>
              <a:srgbClr val="D5DED9"/>
            </a:solidFill>
            <a:prstDash val="solid"/>
          </a:ln>
        </p:spPr>
      </p:sp>
      <p:sp>
        <p:nvSpPr>
          <p:cNvPr id="37" name="Shape 32"/>
          <p:cNvSpPr/>
          <p:nvPr/>
        </p:nvSpPr>
        <p:spPr>
          <a:xfrm>
            <a:off x="548640" y="2862072"/>
            <a:ext cx="338328" cy="338328"/>
          </a:xfrm>
          <a:prstGeom prst="ellipse">
            <a:avLst/>
          </a:prstGeom>
          <a:solidFill>
            <a:srgbClr val="0E7C86">
              <a:alpha val="22000"/>
            </a:srgbClr>
          </a:solidFill>
          <a:ln/>
        </p:spPr>
      </p:sp>
      <p:pic>
        <p:nvPicPr>
          <p:cNvPr id="38" name="Image 2" descr="preencoded.png"/>
          <p:cNvPicPr>
            <a:picLocks noChangeAspect="1"/>
          </p:cNvPicPr>
          <p:nvPr/>
        </p:nvPicPr>
        <p:blipFill>
          <a:blip r:embed="rId5"/>
          <a:stretch>
            <a:fillRect/>
          </a:stretch>
        </p:blipFill>
        <p:spPr>
          <a:xfrm>
            <a:off x="629839" y="2943271"/>
            <a:ext cx="175931" cy="175931"/>
          </a:xfrm>
          <a:prstGeom prst="rect">
            <a:avLst/>
          </a:prstGeom>
        </p:spPr>
      </p:pic>
      <p:sp>
        <p:nvSpPr>
          <p:cNvPr id="39" name="Text 33"/>
          <p:cNvSpPr txBox="1"/>
          <p:nvPr/>
        </p:nvSpPr>
        <p:spPr>
          <a:xfrm>
            <a:off x="960120" y="2788920"/>
            <a:ext cx="1097280" cy="48463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Structured output</a:t>
            </a:r>
            <a:endParaRPr lang="en-US" sz="1150" dirty="0"/>
          </a:p>
        </p:txBody>
      </p:sp>
      <p:sp>
        <p:nvSpPr>
          <p:cNvPr id="40" name="Text 34"/>
          <p:cNvSpPr txBox="1"/>
          <p:nvPr/>
        </p:nvSpPr>
        <p:spPr>
          <a:xfrm>
            <a:off x="2194560" y="2788920"/>
            <a:ext cx="2148840" cy="48463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JSON feeding a public dashboard</a:t>
            </a:r>
            <a:endParaRPr lang="en-US" sz="1050" dirty="0"/>
          </a:p>
        </p:txBody>
      </p:sp>
      <p:sp>
        <p:nvSpPr>
          <p:cNvPr id="41" name="Text 35"/>
          <p:cNvSpPr txBox="1"/>
          <p:nvPr/>
        </p:nvSpPr>
        <p:spPr>
          <a:xfrm>
            <a:off x="4526280" y="2788920"/>
            <a:ext cx="1965960" cy="484632"/>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Schema validity rate</a:t>
            </a:r>
            <a:endParaRPr lang="en-US" sz="1050" dirty="0"/>
          </a:p>
        </p:txBody>
      </p:sp>
      <p:sp>
        <p:nvSpPr>
          <p:cNvPr id="42" name="Text 36"/>
          <p:cNvSpPr txBox="1"/>
          <p:nvPr/>
        </p:nvSpPr>
        <p:spPr>
          <a:xfrm>
            <a:off x="6675120" y="2788920"/>
            <a:ext cx="1920240" cy="4846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Automatic: JSON Schema validator</a:t>
            </a:r>
            <a:endParaRPr lang="en-US" sz="1050" dirty="0"/>
          </a:p>
        </p:txBody>
      </p:sp>
      <p:sp>
        <p:nvSpPr>
          <p:cNvPr id="43" name="Shape 37"/>
          <p:cNvSpPr/>
          <p:nvPr/>
        </p:nvSpPr>
        <p:spPr>
          <a:xfrm>
            <a:off x="457200" y="3337560"/>
            <a:ext cx="8229600" cy="484632"/>
          </a:xfrm>
          <a:prstGeom prst="roundRect">
            <a:avLst>
              <a:gd name="adj" fmla="val 15094"/>
            </a:avLst>
          </a:prstGeom>
          <a:solidFill>
            <a:srgbClr val="F4F7F5"/>
          </a:solidFill>
          <a:ln w="9525">
            <a:solidFill>
              <a:srgbClr val="D5DED9"/>
            </a:solidFill>
            <a:prstDash val="solid"/>
          </a:ln>
        </p:spPr>
      </p:sp>
      <p:sp>
        <p:nvSpPr>
          <p:cNvPr id="44" name="Shape 38"/>
          <p:cNvSpPr/>
          <p:nvPr/>
        </p:nvSpPr>
        <p:spPr>
          <a:xfrm>
            <a:off x="548640" y="3410712"/>
            <a:ext cx="338328" cy="338328"/>
          </a:xfrm>
          <a:prstGeom prst="ellipse">
            <a:avLst/>
          </a:prstGeom>
          <a:solidFill>
            <a:srgbClr val="0E7C86">
              <a:alpha val="22000"/>
            </a:srgbClr>
          </a:solidFill>
          <a:ln/>
        </p:spPr>
      </p:sp>
      <p:pic>
        <p:nvPicPr>
          <p:cNvPr id="45" name="Image 3" descr="preencoded.png"/>
          <p:cNvPicPr>
            <a:picLocks noChangeAspect="1"/>
          </p:cNvPicPr>
          <p:nvPr/>
        </p:nvPicPr>
        <p:blipFill>
          <a:blip r:embed="rId6"/>
          <a:stretch>
            <a:fillRect/>
          </a:stretch>
        </p:blipFill>
        <p:spPr>
          <a:xfrm>
            <a:off x="629839" y="3491911"/>
            <a:ext cx="175931" cy="175931"/>
          </a:xfrm>
          <a:prstGeom prst="rect">
            <a:avLst/>
          </a:prstGeom>
        </p:spPr>
      </p:pic>
      <p:sp>
        <p:nvSpPr>
          <p:cNvPr id="46" name="Text 39"/>
          <p:cNvSpPr txBox="1"/>
          <p:nvPr/>
        </p:nvSpPr>
        <p:spPr>
          <a:xfrm>
            <a:off x="960120" y="3337560"/>
            <a:ext cx="1097280" cy="48463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Grounded Q&amp;A (RAG)</a:t>
            </a:r>
            <a:endParaRPr lang="en-US" sz="1150" dirty="0"/>
          </a:p>
        </p:txBody>
      </p:sp>
      <p:sp>
        <p:nvSpPr>
          <p:cNvPr id="47" name="Text 40"/>
          <p:cNvSpPr txBox="1"/>
          <p:nvPr/>
        </p:nvSpPr>
        <p:spPr>
          <a:xfrm>
            <a:off x="2194560" y="3337560"/>
            <a:ext cx="2148840" cy="48463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Questions on methodology notes</a:t>
            </a:r>
            <a:endParaRPr lang="en-US" sz="1050" dirty="0"/>
          </a:p>
        </p:txBody>
      </p:sp>
      <p:sp>
        <p:nvSpPr>
          <p:cNvPr id="48" name="Text 41"/>
          <p:cNvSpPr txBox="1"/>
          <p:nvPr/>
        </p:nvSpPr>
        <p:spPr>
          <a:xfrm>
            <a:off x="4526280" y="3337560"/>
            <a:ext cx="1965960" cy="484632"/>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Faithfulness, citation accuracy</a:t>
            </a:r>
            <a:endParaRPr lang="en-US" sz="1050" dirty="0"/>
          </a:p>
        </p:txBody>
      </p:sp>
      <p:sp>
        <p:nvSpPr>
          <p:cNvPr id="49" name="Text 42"/>
          <p:cNvSpPr txBox="1"/>
          <p:nvPr/>
        </p:nvSpPr>
        <p:spPr>
          <a:xfrm>
            <a:off x="6675120" y="3337560"/>
            <a:ext cx="1920240" cy="4846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Rubric: human or calibrated judge</a:t>
            </a:r>
            <a:endParaRPr lang="en-US" sz="1050" dirty="0"/>
          </a:p>
        </p:txBody>
      </p:sp>
      <p:sp>
        <p:nvSpPr>
          <p:cNvPr id="50" name="Shape 43"/>
          <p:cNvSpPr/>
          <p:nvPr/>
        </p:nvSpPr>
        <p:spPr>
          <a:xfrm>
            <a:off x="457200" y="3886200"/>
            <a:ext cx="8229600" cy="484632"/>
          </a:xfrm>
          <a:prstGeom prst="roundRect">
            <a:avLst>
              <a:gd name="adj" fmla="val 15094"/>
            </a:avLst>
          </a:prstGeom>
          <a:solidFill>
            <a:srgbClr val="F4F7F5"/>
          </a:solidFill>
          <a:ln w="9525">
            <a:solidFill>
              <a:srgbClr val="D5DED9"/>
            </a:solidFill>
            <a:prstDash val="solid"/>
          </a:ln>
        </p:spPr>
      </p:sp>
      <p:sp>
        <p:nvSpPr>
          <p:cNvPr id="51" name="Shape 44"/>
          <p:cNvSpPr/>
          <p:nvPr/>
        </p:nvSpPr>
        <p:spPr>
          <a:xfrm>
            <a:off x="548640" y="3959352"/>
            <a:ext cx="338328" cy="338328"/>
          </a:xfrm>
          <a:prstGeom prst="ellipse">
            <a:avLst/>
          </a:prstGeom>
          <a:solidFill>
            <a:srgbClr val="0E7C86">
              <a:alpha val="22000"/>
            </a:srgbClr>
          </a:solidFill>
          <a:ln/>
        </p:spPr>
      </p:sp>
      <p:pic>
        <p:nvPicPr>
          <p:cNvPr id="52" name="Image 4" descr="preencoded.png"/>
          <p:cNvPicPr>
            <a:picLocks noChangeAspect="1"/>
          </p:cNvPicPr>
          <p:nvPr/>
        </p:nvPicPr>
        <p:blipFill>
          <a:blip r:embed="rId7"/>
          <a:stretch>
            <a:fillRect/>
          </a:stretch>
        </p:blipFill>
        <p:spPr>
          <a:xfrm>
            <a:off x="629839" y="4040551"/>
            <a:ext cx="175931" cy="175931"/>
          </a:xfrm>
          <a:prstGeom prst="rect">
            <a:avLst/>
          </a:prstGeom>
        </p:spPr>
      </p:pic>
      <p:sp>
        <p:nvSpPr>
          <p:cNvPr id="53" name="Text 45"/>
          <p:cNvSpPr txBox="1"/>
          <p:nvPr/>
        </p:nvSpPr>
        <p:spPr>
          <a:xfrm>
            <a:off x="960120" y="3886200"/>
            <a:ext cx="1097280" cy="48463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Drafting</a:t>
            </a:r>
            <a:endParaRPr lang="en-US" sz="1150" dirty="0"/>
          </a:p>
        </p:txBody>
      </p:sp>
      <p:sp>
        <p:nvSpPr>
          <p:cNvPr id="54" name="Text 46"/>
          <p:cNvSpPr txBox="1"/>
          <p:nvPr/>
        </p:nvSpPr>
        <p:spPr>
          <a:xfrm>
            <a:off x="2194560" y="3886200"/>
            <a:ext cx="2148840" cy="48463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Press release, methodological note</a:t>
            </a:r>
            <a:endParaRPr lang="en-US" sz="1050" dirty="0"/>
          </a:p>
        </p:txBody>
      </p:sp>
      <p:sp>
        <p:nvSpPr>
          <p:cNvPr id="55" name="Text 47"/>
          <p:cNvSpPr txBox="1"/>
          <p:nvPr/>
        </p:nvSpPr>
        <p:spPr>
          <a:xfrm>
            <a:off x="4526280" y="3886200"/>
            <a:ext cx="1965960" cy="484632"/>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Rubric 1–5: accuracy, completeness, tone, length</a:t>
            </a:r>
            <a:endParaRPr lang="en-US" sz="1050" dirty="0"/>
          </a:p>
        </p:txBody>
      </p:sp>
      <p:sp>
        <p:nvSpPr>
          <p:cNvPr id="56" name="Text 48"/>
          <p:cNvSpPr txBox="1"/>
          <p:nvPr/>
        </p:nvSpPr>
        <p:spPr>
          <a:xfrm>
            <a:off x="6675120" y="3886200"/>
            <a:ext cx="1920240" cy="4846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Human reviewers, calibrated judge</a:t>
            </a:r>
            <a:endParaRPr lang="en-US" sz="1050" dirty="0"/>
          </a:p>
        </p:txBody>
      </p:sp>
      <p:sp>
        <p:nvSpPr>
          <p:cNvPr id="57" name="Shape 49"/>
          <p:cNvSpPr/>
          <p:nvPr/>
        </p:nvSpPr>
        <p:spPr>
          <a:xfrm>
            <a:off x="457200" y="4507992"/>
            <a:ext cx="164592" cy="118872"/>
          </a:xfrm>
          <a:prstGeom prst="rect">
            <a:avLst/>
          </a:prstGeom>
          <a:solidFill>
            <a:srgbClr val="E8F5EF"/>
          </a:solidFill>
          <a:ln w="6350">
            <a:solidFill>
              <a:srgbClr val="D5DED9"/>
            </a:solidFill>
            <a:prstDash val="solid"/>
          </a:ln>
        </p:spPr>
      </p:sp>
      <p:sp>
        <p:nvSpPr>
          <p:cNvPr id="58" name="Text 50"/>
          <p:cNvSpPr txBox="1"/>
          <p:nvPr/>
        </p:nvSpPr>
        <p:spPr>
          <a:xfrm>
            <a:off x="685800" y="4480560"/>
            <a:ext cx="54864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Green rows: fully automatic, cheap and objective. Start there.</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MEASURING QUALITY</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Keep a scorecard for every version</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0E7C86"/>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graphicFrame>
        <p:nvGraphicFramePr>
          <p:cNvPr id="17" name="Chart 0"/>
          <p:cNvGraphicFramePr/>
          <p:nvPr/>
        </p:nvGraphicFramePr>
        <p:xfrm>
          <a:off x="457200" y="1325880"/>
          <a:ext cx="420624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4"/>
          <p:cNvSpPr/>
          <p:nvPr/>
        </p:nvSpPr>
        <p:spPr>
          <a:xfrm>
            <a:off x="4892040" y="1325880"/>
            <a:ext cx="3794760" cy="3154680"/>
          </a:xfrm>
          <a:prstGeom prst="roundRect">
            <a:avLst>
              <a:gd name="adj" fmla="val 2319"/>
            </a:avLst>
          </a:prstGeom>
          <a:solidFill>
            <a:srgbClr val="F4F7F5"/>
          </a:solidFill>
          <a:ln w="9525">
            <a:solidFill>
              <a:srgbClr val="D5DED9"/>
            </a:solidFill>
            <a:prstDash val="solid"/>
          </a:ln>
        </p:spPr>
      </p:sp>
      <p:sp>
        <p:nvSpPr>
          <p:cNvPr id="19" name="Text 15"/>
          <p:cNvSpPr txBox="1"/>
          <p:nvPr/>
        </p:nvSpPr>
        <p:spPr>
          <a:xfrm>
            <a:off x="5029200" y="1417320"/>
            <a:ext cx="2743200" cy="201168"/>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ITERATION LOG</a:t>
            </a:r>
            <a:endParaRPr lang="en-US" sz="1000" dirty="0"/>
          </a:p>
        </p:txBody>
      </p:sp>
      <p:sp>
        <p:nvSpPr>
          <p:cNvPr id="20" name="Text 16"/>
          <p:cNvSpPr txBox="1"/>
          <p:nvPr/>
        </p:nvSpPr>
        <p:spPr>
          <a:xfrm>
            <a:off x="5029200" y="1719072"/>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v0</a:t>
            </a:r>
            <a:endParaRPr lang="en-US" sz="1100" dirty="0"/>
          </a:p>
        </p:txBody>
      </p:sp>
      <p:sp>
        <p:nvSpPr>
          <p:cNvPr id="21" name="Text 17"/>
          <p:cNvSpPr txBox="1"/>
          <p:nvPr/>
        </p:nvSpPr>
        <p:spPr>
          <a:xfrm>
            <a:off x="5440680" y="1719072"/>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Baseline from this morning</a:t>
            </a:r>
            <a:endParaRPr lang="en-US" sz="1000" dirty="0"/>
          </a:p>
        </p:txBody>
      </p:sp>
      <p:sp>
        <p:nvSpPr>
          <p:cNvPr id="22" name="Text 18"/>
          <p:cNvSpPr txBox="1"/>
          <p:nvPr/>
        </p:nvSpPr>
        <p:spPr>
          <a:xfrm>
            <a:off x="7406640" y="1719072"/>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62%</a:t>
            </a:r>
            <a:endParaRPr lang="en-US" sz="1100" dirty="0"/>
          </a:p>
        </p:txBody>
      </p:sp>
      <p:sp>
        <p:nvSpPr>
          <p:cNvPr id="23" name="Shape 19"/>
          <p:cNvSpPr/>
          <p:nvPr/>
        </p:nvSpPr>
        <p:spPr>
          <a:xfrm>
            <a:off x="7973568" y="1792224"/>
            <a:ext cx="603504" cy="219456"/>
          </a:xfrm>
          <a:prstGeom prst="roundRect">
            <a:avLst>
              <a:gd name="adj" fmla="val 54167"/>
            </a:avLst>
          </a:prstGeom>
          <a:solidFill>
            <a:srgbClr val="5E6964">
              <a:alpha val="15000"/>
            </a:srgbClr>
          </a:solidFill>
          <a:ln w="9525">
            <a:solidFill>
              <a:srgbClr val="5E6964"/>
            </a:solidFill>
            <a:prstDash val="solid"/>
          </a:ln>
        </p:spPr>
      </p:sp>
      <p:sp>
        <p:nvSpPr>
          <p:cNvPr id="24" name="Text 20"/>
          <p:cNvSpPr txBox="1"/>
          <p:nvPr/>
        </p:nvSpPr>
        <p:spPr>
          <a:xfrm>
            <a:off x="7973568" y="1792224"/>
            <a:ext cx="603504" cy="219456"/>
          </a:xfrm>
          <a:prstGeom prst="rect">
            <a:avLst/>
          </a:prstGeom>
          <a:noFill/>
          <a:ln/>
        </p:spPr>
        <p:txBody>
          <a:bodyPr wrap="square" lIns="0" tIns="0" rIns="0" bIns="0" rtlCol="0" anchor="ctr"/>
          <a:lstStyle/>
          <a:p>
            <a:pPr marL="0" indent="0" algn="ctr">
              <a:buNone/>
            </a:pPr>
            <a:r>
              <a:rPr lang="en-US" sz="900" b="1" kern="0" spc="100" dirty="0">
                <a:solidFill>
                  <a:srgbClr val="5E6964"/>
                </a:solidFill>
                <a:latin typeface="Calibri" pitchFamily="34" charset="0"/>
                <a:ea typeface="Calibri" pitchFamily="34" charset="-122"/>
                <a:cs typeface="Calibri" pitchFamily="34" charset="-120"/>
              </a:rPr>
              <a:t>BASE</a:t>
            </a:r>
            <a:endParaRPr lang="en-US" sz="900" dirty="0"/>
          </a:p>
        </p:txBody>
      </p:sp>
      <p:sp>
        <p:nvSpPr>
          <p:cNvPr id="25" name="Shape 21"/>
          <p:cNvSpPr/>
          <p:nvPr/>
        </p:nvSpPr>
        <p:spPr>
          <a:xfrm>
            <a:off x="5029200" y="2121408"/>
            <a:ext cx="3520440" cy="0"/>
          </a:xfrm>
          <a:prstGeom prst="line">
            <a:avLst/>
          </a:prstGeom>
          <a:noFill/>
          <a:ln w="6350">
            <a:solidFill>
              <a:srgbClr val="D5DED9"/>
            </a:solidFill>
            <a:prstDash val="solid"/>
          </a:ln>
        </p:spPr>
      </p:sp>
      <p:sp>
        <p:nvSpPr>
          <p:cNvPr id="26" name="Text 22"/>
          <p:cNvSpPr txBox="1"/>
          <p:nvPr/>
        </p:nvSpPr>
        <p:spPr>
          <a:xfrm>
            <a:off x="5029200" y="2148840"/>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v1</a:t>
            </a:r>
            <a:endParaRPr lang="en-US" sz="1100" dirty="0"/>
          </a:p>
        </p:txBody>
      </p:sp>
      <p:sp>
        <p:nvSpPr>
          <p:cNvPr id="27" name="Text 23"/>
          <p:cNvSpPr txBox="1"/>
          <p:nvPr/>
        </p:nvSpPr>
        <p:spPr>
          <a:xfrm>
            <a:off x="5440680" y="2148840"/>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Added “code the main job” rule</a:t>
            </a:r>
            <a:endParaRPr lang="en-US" sz="1000" dirty="0"/>
          </a:p>
        </p:txBody>
      </p:sp>
      <p:sp>
        <p:nvSpPr>
          <p:cNvPr id="28" name="Text 24"/>
          <p:cNvSpPr txBox="1"/>
          <p:nvPr/>
        </p:nvSpPr>
        <p:spPr>
          <a:xfrm>
            <a:off x="7406640" y="2148840"/>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71%</a:t>
            </a:r>
            <a:endParaRPr lang="en-US" sz="1100" dirty="0"/>
          </a:p>
        </p:txBody>
      </p:sp>
      <p:sp>
        <p:nvSpPr>
          <p:cNvPr id="29" name="Shape 25"/>
          <p:cNvSpPr/>
          <p:nvPr/>
        </p:nvSpPr>
        <p:spPr>
          <a:xfrm>
            <a:off x="7973568" y="2221992"/>
            <a:ext cx="603504" cy="219456"/>
          </a:xfrm>
          <a:prstGeom prst="roundRect">
            <a:avLst>
              <a:gd name="adj" fmla="val 54167"/>
            </a:avLst>
          </a:prstGeom>
          <a:solidFill>
            <a:srgbClr val="00A86A">
              <a:alpha val="15000"/>
            </a:srgbClr>
          </a:solidFill>
          <a:ln w="9525">
            <a:solidFill>
              <a:srgbClr val="00A86A"/>
            </a:solidFill>
            <a:prstDash val="solid"/>
          </a:ln>
        </p:spPr>
      </p:sp>
      <p:sp>
        <p:nvSpPr>
          <p:cNvPr id="30" name="Text 26"/>
          <p:cNvSpPr txBox="1"/>
          <p:nvPr/>
        </p:nvSpPr>
        <p:spPr>
          <a:xfrm>
            <a:off x="7973568" y="2221992"/>
            <a:ext cx="603504"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KEEP</a:t>
            </a:r>
            <a:endParaRPr lang="en-US" sz="900" dirty="0"/>
          </a:p>
        </p:txBody>
      </p:sp>
      <p:sp>
        <p:nvSpPr>
          <p:cNvPr id="31" name="Shape 27"/>
          <p:cNvSpPr/>
          <p:nvPr/>
        </p:nvSpPr>
        <p:spPr>
          <a:xfrm>
            <a:off x="5029200" y="2551176"/>
            <a:ext cx="3520440" cy="0"/>
          </a:xfrm>
          <a:prstGeom prst="line">
            <a:avLst/>
          </a:prstGeom>
          <a:noFill/>
          <a:ln w="6350">
            <a:solidFill>
              <a:srgbClr val="D5DED9"/>
            </a:solidFill>
            <a:prstDash val="solid"/>
          </a:ln>
        </p:spPr>
      </p:sp>
      <p:sp>
        <p:nvSpPr>
          <p:cNvPr id="32" name="Text 28"/>
          <p:cNvSpPr txBox="1"/>
          <p:nvPr/>
        </p:nvSpPr>
        <p:spPr>
          <a:xfrm>
            <a:off x="5029200" y="2578608"/>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v2</a:t>
            </a:r>
            <a:endParaRPr lang="en-US" sz="1100" dirty="0"/>
          </a:p>
        </p:txBody>
      </p:sp>
      <p:sp>
        <p:nvSpPr>
          <p:cNvPr id="33" name="Text 29"/>
          <p:cNvSpPr txBox="1"/>
          <p:nvPr/>
        </p:nvSpPr>
        <p:spPr>
          <a:xfrm>
            <a:off x="5440680" y="2578608"/>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Added 3 edge-case examples</a:t>
            </a:r>
            <a:endParaRPr lang="en-US" sz="1000" dirty="0"/>
          </a:p>
        </p:txBody>
      </p:sp>
      <p:sp>
        <p:nvSpPr>
          <p:cNvPr id="34" name="Text 30"/>
          <p:cNvSpPr txBox="1"/>
          <p:nvPr/>
        </p:nvSpPr>
        <p:spPr>
          <a:xfrm>
            <a:off x="7406640" y="2578608"/>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80%</a:t>
            </a:r>
            <a:endParaRPr lang="en-US" sz="1100" dirty="0"/>
          </a:p>
        </p:txBody>
      </p:sp>
      <p:sp>
        <p:nvSpPr>
          <p:cNvPr id="35" name="Shape 31"/>
          <p:cNvSpPr/>
          <p:nvPr/>
        </p:nvSpPr>
        <p:spPr>
          <a:xfrm>
            <a:off x="7973568" y="2651760"/>
            <a:ext cx="603504" cy="219456"/>
          </a:xfrm>
          <a:prstGeom prst="roundRect">
            <a:avLst>
              <a:gd name="adj" fmla="val 54167"/>
            </a:avLst>
          </a:prstGeom>
          <a:solidFill>
            <a:srgbClr val="00A86A">
              <a:alpha val="15000"/>
            </a:srgbClr>
          </a:solidFill>
          <a:ln w="9525">
            <a:solidFill>
              <a:srgbClr val="00A86A"/>
            </a:solidFill>
            <a:prstDash val="solid"/>
          </a:ln>
        </p:spPr>
      </p:sp>
      <p:sp>
        <p:nvSpPr>
          <p:cNvPr id="36" name="Text 32"/>
          <p:cNvSpPr txBox="1"/>
          <p:nvPr/>
        </p:nvSpPr>
        <p:spPr>
          <a:xfrm>
            <a:off x="7973568" y="2651760"/>
            <a:ext cx="603504"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KEEP</a:t>
            </a:r>
            <a:endParaRPr lang="en-US" sz="900" dirty="0"/>
          </a:p>
        </p:txBody>
      </p:sp>
      <p:sp>
        <p:nvSpPr>
          <p:cNvPr id="37" name="Shape 33"/>
          <p:cNvSpPr/>
          <p:nvPr/>
        </p:nvSpPr>
        <p:spPr>
          <a:xfrm>
            <a:off x="5029200" y="2980944"/>
            <a:ext cx="3520440" cy="0"/>
          </a:xfrm>
          <a:prstGeom prst="line">
            <a:avLst/>
          </a:prstGeom>
          <a:noFill/>
          <a:ln w="6350">
            <a:solidFill>
              <a:srgbClr val="D5DED9"/>
            </a:solidFill>
            <a:prstDash val="solid"/>
          </a:ln>
        </p:spPr>
      </p:sp>
      <p:sp>
        <p:nvSpPr>
          <p:cNvPr id="38" name="Text 34"/>
          <p:cNvSpPr txBox="1"/>
          <p:nvPr/>
        </p:nvSpPr>
        <p:spPr>
          <a:xfrm>
            <a:off x="5029200" y="3008376"/>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v2b</a:t>
            </a:r>
            <a:endParaRPr lang="en-US" sz="1100" dirty="0"/>
          </a:p>
        </p:txBody>
      </p:sp>
      <p:sp>
        <p:nvSpPr>
          <p:cNvPr id="39" name="Text 35"/>
          <p:cNvSpPr txBox="1"/>
          <p:nvPr/>
        </p:nvSpPr>
        <p:spPr>
          <a:xfrm>
            <a:off x="5440680" y="3008376"/>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Added 15 extra rules</a:t>
            </a:r>
            <a:endParaRPr lang="en-US" sz="1000" dirty="0"/>
          </a:p>
        </p:txBody>
      </p:sp>
      <p:sp>
        <p:nvSpPr>
          <p:cNvPr id="40" name="Text 36"/>
          <p:cNvSpPr txBox="1"/>
          <p:nvPr/>
        </p:nvSpPr>
        <p:spPr>
          <a:xfrm>
            <a:off x="7406640" y="3008376"/>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76%</a:t>
            </a:r>
            <a:endParaRPr lang="en-US" sz="1100" dirty="0"/>
          </a:p>
        </p:txBody>
      </p:sp>
      <p:sp>
        <p:nvSpPr>
          <p:cNvPr id="41" name="Shape 37"/>
          <p:cNvSpPr/>
          <p:nvPr/>
        </p:nvSpPr>
        <p:spPr>
          <a:xfrm>
            <a:off x="7973568" y="3081528"/>
            <a:ext cx="603504" cy="219456"/>
          </a:xfrm>
          <a:prstGeom prst="roundRect">
            <a:avLst>
              <a:gd name="adj" fmla="val 54167"/>
            </a:avLst>
          </a:prstGeom>
          <a:solidFill>
            <a:srgbClr val="B83B2E">
              <a:alpha val="15000"/>
            </a:srgbClr>
          </a:solidFill>
          <a:ln w="9525">
            <a:solidFill>
              <a:srgbClr val="B83B2E"/>
            </a:solidFill>
            <a:prstDash val="solid"/>
          </a:ln>
        </p:spPr>
      </p:sp>
      <p:sp>
        <p:nvSpPr>
          <p:cNvPr id="42" name="Text 38"/>
          <p:cNvSpPr txBox="1"/>
          <p:nvPr/>
        </p:nvSpPr>
        <p:spPr>
          <a:xfrm>
            <a:off x="7973568" y="3081528"/>
            <a:ext cx="603504" cy="219456"/>
          </a:xfrm>
          <a:prstGeom prst="rect">
            <a:avLst/>
          </a:prstGeom>
          <a:noFill/>
          <a:ln/>
        </p:spPr>
        <p:txBody>
          <a:bodyPr wrap="square" lIns="0" tIns="0" rIns="0" bIns="0" rtlCol="0" anchor="ctr"/>
          <a:lstStyle/>
          <a:p>
            <a:pPr marL="0" indent="0" algn="ctr">
              <a:buNone/>
            </a:pPr>
            <a:r>
              <a:rPr lang="en-US" sz="900" b="1" kern="0" spc="100" dirty="0">
                <a:solidFill>
                  <a:srgbClr val="B83B2E"/>
                </a:solidFill>
                <a:latin typeface="Calibri" pitchFamily="34" charset="0"/>
                <a:ea typeface="Calibri" pitchFamily="34" charset="-122"/>
                <a:cs typeface="Calibri" pitchFamily="34" charset="-120"/>
              </a:rPr>
              <a:t>REJECT</a:t>
            </a:r>
            <a:endParaRPr lang="en-US" sz="900" dirty="0"/>
          </a:p>
        </p:txBody>
      </p:sp>
      <p:sp>
        <p:nvSpPr>
          <p:cNvPr id="43" name="Shape 39"/>
          <p:cNvSpPr/>
          <p:nvPr/>
        </p:nvSpPr>
        <p:spPr>
          <a:xfrm>
            <a:off x="5029200" y="3410712"/>
            <a:ext cx="3520440" cy="0"/>
          </a:xfrm>
          <a:prstGeom prst="line">
            <a:avLst/>
          </a:prstGeom>
          <a:noFill/>
          <a:ln w="6350">
            <a:solidFill>
              <a:srgbClr val="D5DED9"/>
            </a:solidFill>
            <a:prstDash val="solid"/>
          </a:ln>
        </p:spPr>
      </p:sp>
      <p:sp>
        <p:nvSpPr>
          <p:cNvPr id="44" name="Text 40"/>
          <p:cNvSpPr txBox="1"/>
          <p:nvPr/>
        </p:nvSpPr>
        <p:spPr>
          <a:xfrm>
            <a:off x="5029200" y="3438144"/>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v3</a:t>
            </a:r>
            <a:endParaRPr lang="en-US" sz="1100" dirty="0"/>
          </a:p>
        </p:txBody>
      </p:sp>
      <p:sp>
        <p:nvSpPr>
          <p:cNvPr id="45" name="Text 41"/>
          <p:cNvSpPr txBox="1"/>
          <p:nvPr/>
        </p:nvSpPr>
        <p:spPr>
          <a:xfrm>
            <a:off x="5440680" y="3438144"/>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Enforced JSON schema</a:t>
            </a:r>
            <a:endParaRPr lang="en-US" sz="1000" dirty="0"/>
          </a:p>
        </p:txBody>
      </p:sp>
      <p:sp>
        <p:nvSpPr>
          <p:cNvPr id="46" name="Text 42"/>
          <p:cNvSpPr txBox="1"/>
          <p:nvPr/>
        </p:nvSpPr>
        <p:spPr>
          <a:xfrm>
            <a:off x="7406640" y="3438144"/>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84%</a:t>
            </a:r>
            <a:endParaRPr lang="en-US" sz="1100" dirty="0"/>
          </a:p>
        </p:txBody>
      </p:sp>
      <p:sp>
        <p:nvSpPr>
          <p:cNvPr id="47" name="Shape 43"/>
          <p:cNvSpPr/>
          <p:nvPr/>
        </p:nvSpPr>
        <p:spPr>
          <a:xfrm>
            <a:off x="7973568" y="3511296"/>
            <a:ext cx="603504" cy="219456"/>
          </a:xfrm>
          <a:prstGeom prst="roundRect">
            <a:avLst>
              <a:gd name="adj" fmla="val 54167"/>
            </a:avLst>
          </a:prstGeom>
          <a:solidFill>
            <a:srgbClr val="00A86A">
              <a:alpha val="15000"/>
            </a:srgbClr>
          </a:solidFill>
          <a:ln w="9525">
            <a:solidFill>
              <a:srgbClr val="00A86A"/>
            </a:solidFill>
            <a:prstDash val="solid"/>
          </a:ln>
        </p:spPr>
      </p:sp>
      <p:sp>
        <p:nvSpPr>
          <p:cNvPr id="48" name="Text 44"/>
          <p:cNvSpPr txBox="1"/>
          <p:nvPr/>
        </p:nvSpPr>
        <p:spPr>
          <a:xfrm>
            <a:off x="7973568" y="3511296"/>
            <a:ext cx="603504"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KEEP</a:t>
            </a:r>
            <a:endParaRPr lang="en-US" sz="900" dirty="0"/>
          </a:p>
        </p:txBody>
      </p:sp>
      <p:sp>
        <p:nvSpPr>
          <p:cNvPr id="49" name="Shape 45"/>
          <p:cNvSpPr/>
          <p:nvPr/>
        </p:nvSpPr>
        <p:spPr>
          <a:xfrm>
            <a:off x="5029200" y="3840480"/>
            <a:ext cx="3520440" cy="0"/>
          </a:xfrm>
          <a:prstGeom prst="line">
            <a:avLst/>
          </a:prstGeom>
          <a:noFill/>
          <a:ln w="6350">
            <a:solidFill>
              <a:srgbClr val="D5DED9"/>
            </a:solidFill>
            <a:prstDash val="solid"/>
          </a:ln>
        </p:spPr>
      </p:sp>
      <p:sp>
        <p:nvSpPr>
          <p:cNvPr id="50" name="Text 46"/>
          <p:cNvSpPr txBox="1"/>
          <p:nvPr/>
        </p:nvSpPr>
        <p:spPr>
          <a:xfrm>
            <a:off x="5029200" y="3867912"/>
            <a:ext cx="411480" cy="36576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v4</a:t>
            </a:r>
            <a:endParaRPr lang="en-US" sz="1100" dirty="0"/>
          </a:p>
        </p:txBody>
      </p:sp>
      <p:sp>
        <p:nvSpPr>
          <p:cNvPr id="51" name="Text 47"/>
          <p:cNvSpPr txBox="1"/>
          <p:nvPr/>
        </p:nvSpPr>
        <p:spPr>
          <a:xfrm>
            <a:off x="5440680" y="3867912"/>
            <a:ext cx="201168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Clarified UNCODABLE criteria</a:t>
            </a:r>
            <a:endParaRPr lang="en-US" sz="1000" dirty="0"/>
          </a:p>
        </p:txBody>
      </p:sp>
      <p:sp>
        <p:nvSpPr>
          <p:cNvPr id="52" name="Text 48"/>
          <p:cNvSpPr txBox="1"/>
          <p:nvPr/>
        </p:nvSpPr>
        <p:spPr>
          <a:xfrm>
            <a:off x="7406640" y="3867912"/>
            <a:ext cx="457200" cy="365760"/>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88%</a:t>
            </a:r>
            <a:endParaRPr lang="en-US" sz="1100" dirty="0"/>
          </a:p>
        </p:txBody>
      </p:sp>
      <p:sp>
        <p:nvSpPr>
          <p:cNvPr id="53" name="Shape 49"/>
          <p:cNvSpPr/>
          <p:nvPr/>
        </p:nvSpPr>
        <p:spPr>
          <a:xfrm>
            <a:off x="7973568" y="3941064"/>
            <a:ext cx="603504" cy="219456"/>
          </a:xfrm>
          <a:prstGeom prst="roundRect">
            <a:avLst>
              <a:gd name="adj" fmla="val 54167"/>
            </a:avLst>
          </a:prstGeom>
          <a:solidFill>
            <a:srgbClr val="00A86A">
              <a:alpha val="15000"/>
            </a:srgbClr>
          </a:solidFill>
          <a:ln w="9525">
            <a:solidFill>
              <a:srgbClr val="00A86A"/>
            </a:solidFill>
            <a:prstDash val="solid"/>
          </a:ln>
        </p:spPr>
      </p:sp>
      <p:sp>
        <p:nvSpPr>
          <p:cNvPr id="54" name="Text 50"/>
          <p:cNvSpPr txBox="1"/>
          <p:nvPr/>
        </p:nvSpPr>
        <p:spPr>
          <a:xfrm>
            <a:off x="7973568" y="3941064"/>
            <a:ext cx="603504"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KEEP</a:t>
            </a:r>
            <a:endParaRPr lang="en-US" sz="900" dirty="0"/>
          </a:p>
        </p:txBody>
      </p:sp>
      <p:sp>
        <p:nvSpPr>
          <p:cNvPr id="55" name="Text 51"/>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Illustrative figures for teaching purposes. Build your own scorecard from your evaluation set.</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MEASURING QUALITY</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Using an LLM as a judge, safely</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0E7C86"/>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Shape 14"/>
          <p:cNvSpPr/>
          <p:nvPr/>
        </p:nvSpPr>
        <p:spPr>
          <a:xfrm>
            <a:off x="457200" y="1371600"/>
            <a:ext cx="1920240" cy="530352"/>
          </a:xfrm>
          <a:prstGeom prst="roundRect">
            <a:avLst>
              <a:gd name="adj" fmla="val 13793"/>
            </a:avLst>
          </a:prstGeom>
          <a:solidFill>
            <a:srgbClr val="FFFFFF"/>
          </a:solidFill>
          <a:ln w="9525">
            <a:solidFill>
              <a:srgbClr val="0E7C86"/>
            </a:solidFill>
            <a:prstDash val="solid"/>
          </a:ln>
        </p:spPr>
      </p:sp>
      <p:sp>
        <p:nvSpPr>
          <p:cNvPr id="18" name="Shape 15"/>
          <p:cNvSpPr/>
          <p:nvPr/>
        </p:nvSpPr>
        <p:spPr>
          <a:xfrm>
            <a:off x="548640" y="1463040"/>
            <a:ext cx="347472" cy="347472"/>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632033" y="1546433"/>
            <a:ext cx="180685" cy="180685"/>
          </a:xfrm>
          <a:prstGeom prst="rect">
            <a:avLst/>
          </a:prstGeom>
        </p:spPr>
      </p:pic>
      <p:sp>
        <p:nvSpPr>
          <p:cNvPr id="20" name="Text 16"/>
          <p:cNvSpPr txBox="1"/>
          <p:nvPr/>
        </p:nvSpPr>
        <p:spPr>
          <a:xfrm>
            <a:off x="987552" y="1371600"/>
            <a:ext cx="1325880" cy="53035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Output to score</a:t>
            </a:r>
            <a:endParaRPr lang="en-US" sz="1150" dirty="0"/>
          </a:p>
        </p:txBody>
      </p:sp>
      <p:sp>
        <p:nvSpPr>
          <p:cNvPr id="21" name="Shape 17"/>
          <p:cNvSpPr/>
          <p:nvPr/>
        </p:nvSpPr>
        <p:spPr>
          <a:xfrm>
            <a:off x="2377440" y="1636776"/>
            <a:ext cx="502920" cy="667512"/>
          </a:xfrm>
          <a:prstGeom prst="line">
            <a:avLst/>
          </a:prstGeom>
          <a:noFill/>
          <a:ln w="12700">
            <a:solidFill>
              <a:srgbClr val="5E6964"/>
            </a:solidFill>
            <a:prstDash val="solid"/>
            <a:tailEnd type="triangle"/>
          </a:ln>
        </p:spPr>
      </p:sp>
      <p:sp>
        <p:nvSpPr>
          <p:cNvPr id="22" name="Shape 18"/>
          <p:cNvSpPr/>
          <p:nvPr/>
        </p:nvSpPr>
        <p:spPr>
          <a:xfrm>
            <a:off x="457200" y="2029968"/>
            <a:ext cx="1920240" cy="530352"/>
          </a:xfrm>
          <a:prstGeom prst="roundRect">
            <a:avLst>
              <a:gd name="adj" fmla="val 13793"/>
            </a:avLst>
          </a:prstGeom>
          <a:solidFill>
            <a:srgbClr val="FFFFFF"/>
          </a:solidFill>
          <a:ln w="9525">
            <a:solidFill>
              <a:srgbClr val="0E7C86"/>
            </a:solidFill>
            <a:prstDash val="solid"/>
          </a:ln>
        </p:spPr>
      </p:sp>
      <p:sp>
        <p:nvSpPr>
          <p:cNvPr id="23" name="Shape 19"/>
          <p:cNvSpPr/>
          <p:nvPr/>
        </p:nvSpPr>
        <p:spPr>
          <a:xfrm>
            <a:off x="548640" y="2121408"/>
            <a:ext cx="347472" cy="347472"/>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632033" y="2204801"/>
            <a:ext cx="180685" cy="180685"/>
          </a:xfrm>
          <a:prstGeom prst="rect">
            <a:avLst/>
          </a:prstGeom>
        </p:spPr>
      </p:pic>
      <p:sp>
        <p:nvSpPr>
          <p:cNvPr id="25" name="Text 20"/>
          <p:cNvSpPr txBox="1"/>
          <p:nvPr/>
        </p:nvSpPr>
        <p:spPr>
          <a:xfrm>
            <a:off x="987552" y="2029968"/>
            <a:ext cx="1325880" cy="53035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Written rubric</a:t>
            </a:r>
            <a:endParaRPr lang="en-US" sz="1150" dirty="0"/>
          </a:p>
        </p:txBody>
      </p:sp>
      <p:sp>
        <p:nvSpPr>
          <p:cNvPr id="26" name="Shape 21"/>
          <p:cNvSpPr/>
          <p:nvPr/>
        </p:nvSpPr>
        <p:spPr>
          <a:xfrm>
            <a:off x="2377440" y="2295144"/>
            <a:ext cx="502920" cy="9144"/>
          </a:xfrm>
          <a:prstGeom prst="line">
            <a:avLst/>
          </a:prstGeom>
          <a:noFill/>
          <a:ln w="12700">
            <a:solidFill>
              <a:srgbClr val="5E6964"/>
            </a:solidFill>
            <a:prstDash val="solid"/>
            <a:tailEnd type="triangle"/>
          </a:ln>
        </p:spPr>
      </p:sp>
      <p:sp>
        <p:nvSpPr>
          <p:cNvPr id="27" name="Shape 22"/>
          <p:cNvSpPr/>
          <p:nvPr/>
        </p:nvSpPr>
        <p:spPr>
          <a:xfrm>
            <a:off x="457200" y="2688336"/>
            <a:ext cx="1920240" cy="530352"/>
          </a:xfrm>
          <a:prstGeom prst="roundRect">
            <a:avLst>
              <a:gd name="adj" fmla="val 13793"/>
            </a:avLst>
          </a:prstGeom>
          <a:solidFill>
            <a:srgbClr val="FFFFFF"/>
          </a:solidFill>
          <a:ln w="9525">
            <a:solidFill>
              <a:srgbClr val="0E7C86"/>
            </a:solidFill>
            <a:prstDash val="solid"/>
          </a:ln>
        </p:spPr>
      </p:sp>
      <p:sp>
        <p:nvSpPr>
          <p:cNvPr id="28" name="Shape 23"/>
          <p:cNvSpPr/>
          <p:nvPr/>
        </p:nvSpPr>
        <p:spPr>
          <a:xfrm>
            <a:off x="548640" y="2779776"/>
            <a:ext cx="347472" cy="347472"/>
          </a:xfrm>
          <a:prstGeom prst="ellipse">
            <a:avLst/>
          </a:prstGeom>
          <a:solidFill>
            <a:srgbClr val="0E7C86">
              <a:alpha val="22000"/>
            </a:srgbClr>
          </a:solidFill>
          <a:ln/>
        </p:spPr>
      </p:sp>
      <p:pic>
        <p:nvPicPr>
          <p:cNvPr id="29" name="Image 2" descr="preencoded.png"/>
          <p:cNvPicPr>
            <a:picLocks noChangeAspect="1"/>
          </p:cNvPicPr>
          <p:nvPr/>
        </p:nvPicPr>
        <p:blipFill>
          <a:blip r:embed="rId5"/>
          <a:stretch>
            <a:fillRect/>
          </a:stretch>
        </p:blipFill>
        <p:spPr>
          <a:xfrm>
            <a:off x="632033" y="2863169"/>
            <a:ext cx="180685" cy="180685"/>
          </a:xfrm>
          <a:prstGeom prst="rect">
            <a:avLst/>
          </a:prstGeom>
        </p:spPr>
      </p:pic>
      <p:sp>
        <p:nvSpPr>
          <p:cNvPr id="30" name="Text 24"/>
          <p:cNvSpPr txBox="1"/>
          <p:nvPr/>
        </p:nvSpPr>
        <p:spPr>
          <a:xfrm>
            <a:off x="987552" y="2688336"/>
            <a:ext cx="1325880" cy="53035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Source document</a:t>
            </a:r>
            <a:endParaRPr lang="en-US" sz="1150" dirty="0"/>
          </a:p>
        </p:txBody>
      </p:sp>
      <p:sp>
        <p:nvSpPr>
          <p:cNvPr id="31" name="Shape 25"/>
          <p:cNvSpPr/>
          <p:nvPr/>
        </p:nvSpPr>
        <p:spPr>
          <a:xfrm flipV="1">
            <a:off x="2377440" y="2304288"/>
            <a:ext cx="502920" cy="649224"/>
          </a:xfrm>
          <a:prstGeom prst="line">
            <a:avLst/>
          </a:prstGeom>
          <a:noFill/>
          <a:ln w="12700">
            <a:solidFill>
              <a:srgbClr val="5E6964"/>
            </a:solidFill>
            <a:prstDash val="solid"/>
            <a:tailEnd type="triangle"/>
          </a:ln>
        </p:spPr>
      </p:sp>
      <p:sp>
        <p:nvSpPr>
          <p:cNvPr id="32" name="Shape 26"/>
          <p:cNvSpPr/>
          <p:nvPr/>
        </p:nvSpPr>
        <p:spPr>
          <a:xfrm>
            <a:off x="2880360" y="1847088"/>
            <a:ext cx="1554480" cy="914400"/>
          </a:xfrm>
          <a:prstGeom prst="roundRect">
            <a:avLst>
              <a:gd name="adj" fmla="val 8000"/>
            </a:avLst>
          </a:prstGeom>
          <a:solidFill>
            <a:srgbClr val="E8F5EF"/>
          </a:solidFill>
          <a:ln w="15875">
            <a:solidFill>
              <a:srgbClr val="0E7C86"/>
            </a:solidFill>
            <a:prstDash val="solid"/>
          </a:ln>
        </p:spPr>
      </p:sp>
      <p:sp>
        <p:nvSpPr>
          <p:cNvPr id="33" name="Shape 27"/>
          <p:cNvSpPr/>
          <p:nvPr/>
        </p:nvSpPr>
        <p:spPr>
          <a:xfrm>
            <a:off x="3017520" y="2011680"/>
            <a:ext cx="548640" cy="548640"/>
          </a:xfrm>
          <a:prstGeom prst="ellipse">
            <a:avLst/>
          </a:prstGeom>
          <a:solidFill>
            <a:srgbClr val="0E7C86">
              <a:alpha val="22000"/>
            </a:srgbClr>
          </a:solidFill>
          <a:ln/>
        </p:spPr>
      </p:sp>
      <p:pic>
        <p:nvPicPr>
          <p:cNvPr id="34" name="Image 3" descr="preencoded.png"/>
          <p:cNvPicPr>
            <a:picLocks noChangeAspect="1"/>
          </p:cNvPicPr>
          <p:nvPr/>
        </p:nvPicPr>
        <p:blipFill>
          <a:blip r:embed="rId6"/>
          <a:stretch>
            <a:fillRect/>
          </a:stretch>
        </p:blipFill>
        <p:spPr>
          <a:xfrm>
            <a:off x="3149194" y="2143354"/>
            <a:ext cx="285293" cy="285293"/>
          </a:xfrm>
          <a:prstGeom prst="rect">
            <a:avLst/>
          </a:prstGeom>
        </p:spPr>
      </p:pic>
      <p:sp>
        <p:nvSpPr>
          <p:cNvPr id="35" name="Text 28"/>
          <p:cNvSpPr txBox="1"/>
          <p:nvPr/>
        </p:nvSpPr>
        <p:spPr>
          <a:xfrm>
            <a:off x="3566160" y="1847088"/>
            <a:ext cx="822960" cy="91440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Judge model</a:t>
            </a:r>
            <a:endParaRPr lang="en-US" sz="1200" dirty="0"/>
          </a:p>
        </p:txBody>
      </p:sp>
      <p:sp>
        <p:nvSpPr>
          <p:cNvPr id="36" name="Shape 29"/>
          <p:cNvSpPr/>
          <p:nvPr/>
        </p:nvSpPr>
        <p:spPr>
          <a:xfrm>
            <a:off x="4434840" y="2304288"/>
            <a:ext cx="365760" cy="0"/>
          </a:xfrm>
          <a:prstGeom prst="line">
            <a:avLst/>
          </a:prstGeom>
          <a:noFill/>
          <a:ln w="12700">
            <a:solidFill>
              <a:srgbClr val="5E6964"/>
            </a:solidFill>
            <a:prstDash val="solid"/>
            <a:tailEnd type="triangle"/>
          </a:ln>
        </p:spPr>
      </p:sp>
      <p:sp>
        <p:nvSpPr>
          <p:cNvPr id="37" name="Shape 30"/>
          <p:cNvSpPr/>
          <p:nvPr/>
        </p:nvSpPr>
        <p:spPr>
          <a:xfrm>
            <a:off x="4800600" y="1847088"/>
            <a:ext cx="1234440" cy="914400"/>
          </a:xfrm>
          <a:prstGeom prst="roundRect">
            <a:avLst>
              <a:gd name="adj" fmla="val 8000"/>
            </a:avLst>
          </a:prstGeom>
          <a:solidFill>
            <a:srgbClr val="FFFFFF"/>
          </a:solidFill>
          <a:ln w="9525">
            <a:solidFill>
              <a:srgbClr val="0E7C86"/>
            </a:solidFill>
            <a:prstDash val="solid"/>
          </a:ln>
        </p:spPr>
      </p:sp>
      <p:sp>
        <p:nvSpPr>
          <p:cNvPr id="38" name="Text 31"/>
          <p:cNvSpPr txBox="1"/>
          <p:nvPr/>
        </p:nvSpPr>
        <p:spPr>
          <a:xfrm>
            <a:off x="4800600" y="1901952"/>
            <a:ext cx="1234440" cy="411480"/>
          </a:xfrm>
          <a:prstGeom prst="rect">
            <a:avLst/>
          </a:prstGeom>
          <a:noFill/>
          <a:ln/>
        </p:spPr>
        <p:txBody>
          <a:bodyPr wrap="square" lIns="0" tIns="0" rIns="0" bIns="0" rtlCol="0" anchor="t"/>
          <a:lstStyle/>
          <a:p>
            <a:pPr marL="0" indent="0" algn="ctr">
              <a:buNone/>
            </a:pPr>
            <a:r>
              <a:rPr lang="en-US" sz="2400" b="1" dirty="0">
                <a:solidFill>
                  <a:srgbClr val="0E7C86"/>
                </a:solidFill>
                <a:latin typeface="Calibri" pitchFamily="34" charset="0"/>
                <a:ea typeface="Calibri" pitchFamily="34" charset="-122"/>
                <a:cs typeface="Calibri" pitchFamily="34" charset="-120"/>
              </a:rPr>
              <a:t>4 / 5</a:t>
            </a:r>
            <a:endParaRPr lang="en-US" sz="2400" dirty="0"/>
          </a:p>
        </p:txBody>
      </p:sp>
      <p:sp>
        <p:nvSpPr>
          <p:cNvPr id="39" name="Text 32"/>
          <p:cNvSpPr txBox="1"/>
          <p:nvPr/>
        </p:nvSpPr>
        <p:spPr>
          <a:xfrm>
            <a:off x="4800600" y="2359152"/>
            <a:ext cx="1234440" cy="27432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score + reason</a:t>
            </a:r>
            <a:endParaRPr lang="en-US" sz="1000" dirty="0"/>
          </a:p>
        </p:txBody>
      </p:sp>
      <p:sp>
        <p:nvSpPr>
          <p:cNvPr id="40" name="Shape 33"/>
          <p:cNvSpPr/>
          <p:nvPr/>
        </p:nvSpPr>
        <p:spPr>
          <a:xfrm>
            <a:off x="457200" y="3429000"/>
            <a:ext cx="5577840" cy="1051560"/>
          </a:xfrm>
          <a:prstGeom prst="roundRect">
            <a:avLst>
              <a:gd name="adj" fmla="val 6957"/>
            </a:avLst>
          </a:prstGeom>
          <a:solidFill>
            <a:srgbClr val="E8F5EF"/>
          </a:solidFill>
          <a:ln w="9525">
            <a:solidFill>
              <a:srgbClr val="D5DED9"/>
            </a:solidFill>
            <a:prstDash val="solid"/>
          </a:ln>
        </p:spPr>
      </p:sp>
      <p:sp>
        <p:nvSpPr>
          <p:cNvPr id="41" name="Text 34"/>
          <p:cNvSpPr txBox="1"/>
          <p:nvPr/>
        </p:nvSpPr>
        <p:spPr>
          <a:xfrm>
            <a:off x="640080" y="3520440"/>
            <a:ext cx="4572000" cy="201168"/>
          </a:xfrm>
          <a:prstGeom prst="rect">
            <a:avLst/>
          </a:prstGeom>
          <a:noFill/>
          <a:ln/>
        </p:spPr>
        <p:txBody>
          <a:bodyPr wrap="square" lIns="0" tIns="0" rIns="0" bIns="0" rtlCol="0" anchor="t"/>
          <a:lstStyle/>
          <a:p>
            <a:pPr marL="0" indent="0">
              <a:buNone/>
            </a:pPr>
            <a:r>
              <a:rPr lang="en-US" sz="1000" b="1" kern="0" spc="100" dirty="0">
                <a:solidFill>
                  <a:srgbClr val="00704A"/>
                </a:solidFill>
                <a:latin typeface="Calibri" pitchFamily="34" charset="0"/>
                <a:ea typeface="Calibri" pitchFamily="34" charset="-122"/>
                <a:cs typeface="Calibri" pitchFamily="34" charset="-120"/>
              </a:rPr>
              <a:t>CALIBRATE BEFORE YOU TRUST</a:t>
            </a:r>
            <a:endParaRPr lang="en-US" sz="1000" dirty="0"/>
          </a:p>
        </p:txBody>
      </p:sp>
      <p:sp>
        <p:nvSpPr>
          <p:cNvPr id="42" name="Shape 35"/>
          <p:cNvSpPr/>
          <p:nvPr/>
        </p:nvSpPr>
        <p:spPr>
          <a:xfrm>
            <a:off x="640080" y="3840480"/>
            <a:ext cx="310896" cy="310896"/>
          </a:xfrm>
          <a:prstGeom prst="ellipse">
            <a:avLst/>
          </a:prstGeom>
          <a:solidFill>
            <a:srgbClr val="00704A"/>
          </a:solidFill>
          <a:ln/>
        </p:spPr>
      </p:sp>
      <p:sp>
        <p:nvSpPr>
          <p:cNvPr id="43" name="Text 36"/>
          <p:cNvSpPr txBox="1"/>
          <p:nvPr/>
        </p:nvSpPr>
        <p:spPr>
          <a:xfrm>
            <a:off x="640080" y="38404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4" name="Text 37"/>
          <p:cNvSpPr txBox="1"/>
          <p:nvPr/>
        </p:nvSpPr>
        <p:spPr>
          <a:xfrm>
            <a:off x="1024128" y="3767328"/>
            <a:ext cx="1325880"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Humans score 20–30 outputs</a:t>
            </a:r>
            <a:endParaRPr lang="en-US" sz="1050" dirty="0"/>
          </a:p>
        </p:txBody>
      </p:sp>
      <p:sp>
        <p:nvSpPr>
          <p:cNvPr id="45" name="Shape 38"/>
          <p:cNvSpPr/>
          <p:nvPr/>
        </p:nvSpPr>
        <p:spPr>
          <a:xfrm>
            <a:off x="2450592" y="3840480"/>
            <a:ext cx="310896" cy="310896"/>
          </a:xfrm>
          <a:prstGeom prst="ellipse">
            <a:avLst/>
          </a:prstGeom>
          <a:solidFill>
            <a:srgbClr val="00704A"/>
          </a:solidFill>
          <a:ln/>
        </p:spPr>
      </p:sp>
      <p:sp>
        <p:nvSpPr>
          <p:cNvPr id="46" name="Text 39"/>
          <p:cNvSpPr txBox="1"/>
          <p:nvPr/>
        </p:nvSpPr>
        <p:spPr>
          <a:xfrm>
            <a:off x="2450592" y="38404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7" name="Text 40"/>
          <p:cNvSpPr txBox="1"/>
          <p:nvPr/>
        </p:nvSpPr>
        <p:spPr>
          <a:xfrm>
            <a:off x="2834640" y="3767328"/>
            <a:ext cx="1325880"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Judge scores the same outputs</a:t>
            </a:r>
            <a:endParaRPr lang="en-US" sz="1050" dirty="0"/>
          </a:p>
        </p:txBody>
      </p:sp>
      <p:sp>
        <p:nvSpPr>
          <p:cNvPr id="48" name="Shape 41"/>
          <p:cNvSpPr/>
          <p:nvPr/>
        </p:nvSpPr>
        <p:spPr>
          <a:xfrm>
            <a:off x="4261104" y="3840480"/>
            <a:ext cx="310896" cy="310896"/>
          </a:xfrm>
          <a:prstGeom prst="ellipse">
            <a:avLst/>
          </a:prstGeom>
          <a:solidFill>
            <a:srgbClr val="00704A"/>
          </a:solidFill>
          <a:ln/>
        </p:spPr>
      </p:sp>
      <p:sp>
        <p:nvSpPr>
          <p:cNvPr id="49" name="Text 42"/>
          <p:cNvSpPr txBox="1"/>
          <p:nvPr/>
        </p:nvSpPr>
        <p:spPr>
          <a:xfrm>
            <a:off x="4261104" y="38404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50" name="Text 43"/>
          <p:cNvSpPr txBox="1"/>
          <p:nvPr/>
        </p:nvSpPr>
        <p:spPr>
          <a:xfrm>
            <a:off x="4645152" y="3767328"/>
            <a:ext cx="1325880"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Use the judge only if agreement is high</a:t>
            </a:r>
            <a:endParaRPr lang="en-US" sz="1050" dirty="0"/>
          </a:p>
        </p:txBody>
      </p:sp>
      <p:sp>
        <p:nvSpPr>
          <p:cNvPr id="51" name="Shape 44"/>
          <p:cNvSpPr/>
          <p:nvPr/>
        </p:nvSpPr>
        <p:spPr>
          <a:xfrm>
            <a:off x="6263640" y="1325880"/>
            <a:ext cx="2423160" cy="3154680"/>
          </a:xfrm>
          <a:prstGeom prst="roundRect">
            <a:avLst>
              <a:gd name="adj" fmla="val 3019"/>
            </a:avLst>
          </a:prstGeom>
          <a:solidFill>
            <a:srgbClr val="F4F7F5"/>
          </a:solidFill>
          <a:ln w="9525">
            <a:solidFill>
              <a:srgbClr val="D5DED9"/>
            </a:solidFill>
            <a:prstDash val="solid"/>
          </a:ln>
        </p:spPr>
      </p:sp>
      <p:sp>
        <p:nvSpPr>
          <p:cNvPr id="52" name="Text 45"/>
          <p:cNvSpPr txBox="1"/>
          <p:nvPr/>
        </p:nvSpPr>
        <p:spPr>
          <a:xfrm>
            <a:off x="6400800" y="1444752"/>
            <a:ext cx="2194560" cy="201168"/>
          </a:xfrm>
          <a:prstGeom prst="rect">
            <a:avLst/>
          </a:prstGeom>
          <a:noFill/>
          <a:ln/>
        </p:spPr>
        <p:txBody>
          <a:bodyPr wrap="square" lIns="0" tIns="0" rIns="0" bIns="0" rtlCol="0" anchor="t"/>
          <a:lstStyle/>
          <a:p>
            <a:pPr marL="0" indent="0">
              <a:buNone/>
            </a:pPr>
            <a:r>
              <a:rPr lang="en-US" sz="1000" b="1" kern="0" spc="100" dirty="0">
                <a:solidFill>
                  <a:srgbClr val="B83B2E"/>
                </a:solidFill>
                <a:latin typeface="Calibri" pitchFamily="34" charset="0"/>
                <a:ea typeface="Calibri" pitchFamily="34" charset="-122"/>
                <a:cs typeface="Calibri" pitchFamily="34" charset="-120"/>
              </a:rPr>
              <a:t>KNOWN JUDGE BIASES</a:t>
            </a:r>
            <a:endParaRPr lang="en-US" sz="1000" dirty="0"/>
          </a:p>
        </p:txBody>
      </p:sp>
      <p:pic>
        <p:nvPicPr>
          <p:cNvPr id="53" name="Image 4" descr="preencoded.png"/>
          <p:cNvPicPr>
            <a:picLocks noChangeAspect="1"/>
          </p:cNvPicPr>
          <p:nvPr/>
        </p:nvPicPr>
        <p:blipFill>
          <a:blip r:embed="rId7"/>
          <a:stretch>
            <a:fillRect/>
          </a:stretch>
        </p:blipFill>
        <p:spPr>
          <a:xfrm>
            <a:off x="6400800" y="1810512"/>
            <a:ext cx="201168" cy="182880"/>
          </a:xfrm>
          <a:prstGeom prst="rect">
            <a:avLst/>
          </a:prstGeom>
        </p:spPr>
      </p:pic>
      <p:sp>
        <p:nvSpPr>
          <p:cNvPr id="54" name="Text 46"/>
          <p:cNvSpPr txBox="1"/>
          <p:nvPr/>
        </p:nvSpPr>
        <p:spPr>
          <a:xfrm>
            <a:off x="6693408" y="1783080"/>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Position</a:t>
            </a:r>
            <a:endParaRPr lang="en-US" sz="1250" dirty="0"/>
          </a:p>
        </p:txBody>
      </p:sp>
      <p:sp>
        <p:nvSpPr>
          <p:cNvPr id="55" name="Text 47"/>
          <p:cNvSpPr txBox="1"/>
          <p:nvPr/>
        </p:nvSpPr>
        <p:spPr>
          <a:xfrm>
            <a:off x="6400800" y="2057400"/>
            <a:ext cx="214884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Favours the answer shown first. Swap order and average.</a:t>
            </a:r>
            <a:endParaRPr lang="en-US" sz="1000" dirty="0"/>
          </a:p>
        </p:txBody>
      </p:sp>
      <p:pic>
        <p:nvPicPr>
          <p:cNvPr id="56" name="Image 5" descr="preencoded.png"/>
          <p:cNvPicPr>
            <a:picLocks noChangeAspect="1"/>
          </p:cNvPicPr>
          <p:nvPr/>
        </p:nvPicPr>
        <p:blipFill>
          <a:blip r:embed="rId7"/>
          <a:stretch>
            <a:fillRect/>
          </a:stretch>
        </p:blipFill>
        <p:spPr>
          <a:xfrm>
            <a:off x="6400800" y="2697480"/>
            <a:ext cx="201168" cy="182880"/>
          </a:xfrm>
          <a:prstGeom prst="rect">
            <a:avLst/>
          </a:prstGeom>
        </p:spPr>
      </p:pic>
      <p:sp>
        <p:nvSpPr>
          <p:cNvPr id="57" name="Text 48"/>
          <p:cNvSpPr txBox="1"/>
          <p:nvPr/>
        </p:nvSpPr>
        <p:spPr>
          <a:xfrm>
            <a:off x="6693408" y="267004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Verbosity</a:t>
            </a:r>
            <a:endParaRPr lang="en-US" sz="1250" dirty="0"/>
          </a:p>
        </p:txBody>
      </p:sp>
      <p:sp>
        <p:nvSpPr>
          <p:cNvPr id="58" name="Text 49"/>
          <p:cNvSpPr txBox="1"/>
          <p:nvPr/>
        </p:nvSpPr>
        <p:spPr>
          <a:xfrm>
            <a:off x="6400800" y="2944368"/>
            <a:ext cx="214884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Favours longer answers. Put length in the rubric.</a:t>
            </a:r>
            <a:endParaRPr lang="en-US" sz="1000" dirty="0"/>
          </a:p>
        </p:txBody>
      </p:sp>
      <p:pic>
        <p:nvPicPr>
          <p:cNvPr id="59" name="Image 6" descr="preencoded.png"/>
          <p:cNvPicPr>
            <a:picLocks noChangeAspect="1"/>
          </p:cNvPicPr>
          <p:nvPr/>
        </p:nvPicPr>
        <p:blipFill>
          <a:blip r:embed="rId7"/>
          <a:stretch>
            <a:fillRect/>
          </a:stretch>
        </p:blipFill>
        <p:spPr>
          <a:xfrm>
            <a:off x="6400800" y="3584448"/>
            <a:ext cx="201168" cy="182880"/>
          </a:xfrm>
          <a:prstGeom prst="rect">
            <a:avLst/>
          </a:prstGeom>
        </p:spPr>
      </p:pic>
      <p:sp>
        <p:nvSpPr>
          <p:cNvPr id="60" name="Text 50"/>
          <p:cNvSpPr txBox="1"/>
          <p:nvPr/>
        </p:nvSpPr>
        <p:spPr>
          <a:xfrm>
            <a:off x="6693408" y="3557016"/>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Self-preference</a:t>
            </a:r>
            <a:endParaRPr lang="en-US" sz="1250" dirty="0"/>
          </a:p>
        </p:txBody>
      </p:sp>
      <p:sp>
        <p:nvSpPr>
          <p:cNvPr id="61" name="Text 51"/>
          <p:cNvSpPr txBox="1"/>
          <p:nvPr/>
        </p:nvSpPr>
        <p:spPr>
          <a:xfrm>
            <a:off x="6400800" y="3831336"/>
            <a:ext cx="214884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Favours its own style. Use a different model family.</a:t>
            </a:r>
            <a:endParaRPr lang="en-US" sz="1000" dirty="0"/>
          </a:p>
        </p:txBody>
      </p:sp>
      <p:sp>
        <p:nvSpPr>
          <p:cNvPr id="62" name="Text 52"/>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Zheng et al. (2023), “Judging LLM-as-a-Judge with MT-Bench and Chatbot Arena”, NeurIPS Datasets &amp; Benchmarks.</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4 OF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04</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Control variance</a:t>
            </a:r>
            <a:endParaRPr lang="en-US" sz="36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Same prompt, same input: why a different answer?</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FFFFF">
              <a:alpha val="40000"/>
            </a:srgbClr>
          </a:solidFill>
          <a:ln/>
        </p:spPr>
      </p:sp>
      <p:sp>
        <p:nvSpPr>
          <p:cNvPr id="11" name="Shape 8"/>
          <p:cNvSpPr/>
          <p:nvPr/>
        </p:nvSpPr>
        <p:spPr>
          <a:xfrm>
            <a:off x="7818120" y="365760"/>
            <a:ext cx="100584" cy="100584"/>
          </a:xfrm>
          <a:prstGeom prst="ellipse">
            <a:avLst/>
          </a:prstGeom>
          <a:solidFill>
            <a:srgbClr val="FFFFFF">
              <a:alpha val="40000"/>
            </a:srgbClr>
          </a:solidFill>
          <a:ln/>
        </p:spPr>
      </p:sp>
      <p:sp>
        <p:nvSpPr>
          <p:cNvPr id="12" name="Shape 9"/>
          <p:cNvSpPr/>
          <p:nvPr/>
        </p:nvSpPr>
        <p:spPr>
          <a:xfrm>
            <a:off x="8001000" y="365760"/>
            <a:ext cx="100584" cy="100584"/>
          </a:xfrm>
          <a:prstGeom prst="ellipse">
            <a:avLst/>
          </a:prstGeom>
          <a:solidFill>
            <a:srgbClr val="FFFFFF">
              <a:alpha val="40000"/>
            </a:srgbClr>
          </a:solidFill>
          <a:ln/>
        </p:spPr>
      </p:sp>
      <p:sp>
        <p:nvSpPr>
          <p:cNvPr id="13" name="Shape 10"/>
          <p:cNvSpPr/>
          <p:nvPr/>
        </p:nvSpPr>
        <p:spPr>
          <a:xfrm>
            <a:off x="8183880" y="365760"/>
            <a:ext cx="100584" cy="100584"/>
          </a:xfrm>
          <a:prstGeom prst="ellipse">
            <a:avLst/>
          </a:prstGeom>
          <a:solidFill>
            <a:srgbClr val="F5C242"/>
          </a:solidFill>
          <a:ln/>
        </p:spPr>
      </p:sp>
      <p:sp>
        <p:nvSpPr>
          <p:cNvPr id="14" name="Shape 11"/>
          <p:cNvSpPr/>
          <p:nvPr/>
        </p:nvSpPr>
        <p:spPr>
          <a:xfrm>
            <a:off x="8366760" y="365760"/>
            <a:ext cx="100584" cy="100584"/>
          </a:xfrm>
          <a:prstGeom prst="ellipse">
            <a:avLst/>
          </a:prstGeom>
          <a:solidFill>
            <a:srgbClr val="FFFFFF">
              <a:alpha val="40000"/>
            </a:srgbClr>
          </a:solidFill>
          <a:ln/>
        </p:spPr>
      </p:sp>
      <p:sp>
        <p:nvSpPr>
          <p:cNvPr id="15" name="Shape 12"/>
          <p:cNvSpPr/>
          <p:nvPr/>
        </p:nvSpPr>
        <p:spPr>
          <a:xfrm>
            <a:off x="8549640" y="365760"/>
            <a:ext cx="100584" cy="100584"/>
          </a:xfrm>
          <a:prstGeom prst="ellipse">
            <a:avLst/>
          </a:prstGeom>
          <a:solidFill>
            <a:srgbClr val="FFFFFF">
              <a:alpha val="40000"/>
            </a:srgbClr>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16</a:t>
            </a:r>
            <a:endParaRPr lang="en-US" sz="8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CONTROLLING VARIANCE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Where variance comes from</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49A00"/>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325880"/>
            <a:ext cx="2359152" cy="1463040"/>
          </a:xfrm>
          <a:prstGeom prst="roundRect">
            <a:avLst>
              <a:gd name="adj" fmla="val 5000"/>
            </a:avLst>
          </a:prstGeom>
          <a:solidFill>
            <a:srgbClr val="F4F7F5"/>
          </a:solidFill>
          <a:ln w="9525">
            <a:solidFill>
              <a:srgbClr val="D5DED9"/>
            </a:solidFill>
            <a:prstDash val="solid"/>
          </a:ln>
        </p:spPr>
      </p:sp>
      <p:sp>
        <p:nvSpPr>
          <p:cNvPr id="18" name="Shape 15"/>
          <p:cNvSpPr/>
          <p:nvPr/>
        </p:nvSpPr>
        <p:spPr>
          <a:xfrm>
            <a:off x="621792" y="1490472"/>
            <a:ext cx="438912" cy="438912"/>
          </a:xfrm>
          <a:prstGeom prst="ellipse">
            <a:avLst/>
          </a:prstGeom>
          <a:solidFill>
            <a:srgbClr val="D49A00">
              <a:alpha val="22000"/>
            </a:srgbClr>
          </a:solidFill>
          <a:ln/>
        </p:spPr>
      </p:sp>
      <p:pic>
        <p:nvPicPr>
          <p:cNvPr id="19" name="Image 0" descr="preencoded.png"/>
          <p:cNvPicPr>
            <a:picLocks noChangeAspect="1"/>
          </p:cNvPicPr>
          <p:nvPr/>
        </p:nvPicPr>
        <p:blipFill>
          <a:blip r:embed="rId3"/>
          <a:stretch>
            <a:fillRect/>
          </a:stretch>
        </p:blipFill>
        <p:spPr>
          <a:xfrm>
            <a:off x="727131" y="1595811"/>
            <a:ext cx="228234" cy="228234"/>
          </a:xfrm>
          <a:prstGeom prst="rect">
            <a:avLst/>
          </a:prstGeom>
        </p:spPr>
      </p:pic>
      <p:sp>
        <p:nvSpPr>
          <p:cNvPr id="20" name="Text 16"/>
          <p:cNvSpPr txBox="1"/>
          <p:nvPr/>
        </p:nvSpPr>
        <p:spPr>
          <a:xfrm>
            <a:off x="621792" y="2011680"/>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Sampling randomness</a:t>
            </a:r>
            <a:endParaRPr lang="en-US" sz="1250" dirty="0"/>
          </a:p>
        </p:txBody>
      </p:sp>
      <p:sp>
        <p:nvSpPr>
          <p:cNvPr id="21" name="Text 17"/>
          <p:cNvSpPr txBox="1"/>
          <p:nvPr/>
        </p:nvSpPr>
        <p:spPr>
          <a:xfrm>
            <a:off x="621792" y="2258568"/>
            <a:ext cx="205740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Temperature and top-p let the model choose among likely next tokens.</a:t>
            </a:r>
            <a:endParaRPr lang="en-US" sz="1000" dirty="0"/>
          </a:p>
        </p:txBody>
      </p:sp>
      <p:sp>
        <p:nvSpPr>
          <p:cNvPr id="22" name="Shape 18"/>
          <p:cNvSpPr/>
          <p:nvPr/>
        </p:nvSpPr>
        <p:spPr>
          <a:xfrm>
            <a:off x="2944368" y="1325880"/>
            <a:ext cx="2359152" cy="1463040"/>
          </a:xfrm>
          <a:prstGeom prst="roundRect">
            <a:avLst>
              <a:gd name="adj" fmla="val 5000"/>
            </a:avLst>
          </a:prstGeom>
          <a:solidFill>
            <a:srgbClr val="F4F7F5"/>
          </a:solidFill>
          <a:ln w="9525">
            <a:solidFill>
              <a:srgbClr val="D5DED9"/>
            </a:solidFill>
            <a:prstDash val="solid"/>
          </a:ln>
        </p:spPr>
      </p:sp>
      <p:sp>
        <p:nvSpPr>
          <p:cNvPr id="23" name="Shape 19"/>
          <p:cNvSpPr/>
          <p:nvPr/>
        </p:nvSpPr>
        <p:spPr>
          <a:xfrm>
            <a:off x="3108960" y="1490472"/>
            <a:ext cx="438912" cy="438912"/>
          </a:xfrm>
          <a:prstGeom prst="ellipse">
            <a:avLst/>
          </a:prstGeom>
          <a:solidFill>
            <a:srgbClr val="D49A00">
              <a:alpha val="22000"/>
            </a:srgbClr>
          </a:solidFill>
          <a:ln/>
        </p:spPr>
      </p:sp>
      <p:pic>
        <p:nvPicPr>
          <p:cNvPr id="24" name="Image 1" descr="preencoded.png"/>
          <p:cNvPicPr>
            <a:picLocks noChangeAspect="1"/>
          </p:cNvPicPr>
          <p:nvPr/>
        </p:nvPicPr>
        <p:blipFill>
          <a:blip r:embed="rId4"/>
          <a:stretch>
            <a:fillRect/>
          </a:stretch>
        </p:blipFill>
        <p:spPr>
          <a:xfrm>
            <a:off x="3214299" y="1595811"/>
            <a:ext cx="228234" cy="228234"/>
          </a:xfrm>
          <a:prstGeom prst="rect">
            <a:avLst/>
          </a:prstGeom>
        </p:spPr>
      </p:pic>
      <p:sp>
        <p:nvSpPr>
          <p:cNvPr id="25" name="Text 20"/>
          <p:cNvSpPr txBox="1"/>
          <p:nvPr/>
        </p:nvSpPr>
        <p:spPr>
          <a:xfrm>
            <a:off x="3108960" y="2011680"/>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Ambiguous instructions</a:t>
            </a:r>
            <a:endParaRPr lang="en-US" sz="1250" dirty="0"/>
          </a:p>
        </p:txBody>
      </p:sp>
      <p:sp>
        <p:nvSpPr>
          <p:cNvPr id="26" name="Text 21"/>
          <p:cNvSpPr txBox="1"/>
          <p:nvPr/>
        </p:nvSpPr>
        <p:spPr>
          <a:xfrm>
            <a:off x="3108960" y="2258568"/>
            <a:ext cx="205740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An unclear rule is resolved differently from one run to the next.</a:t>
            </a:r>
            <a:endParaRPr lang="en-US" sz="1000" dirty="0"/>
          </a:p>
        </p:txBody>
      </p:sp>
      <p:sp>
        <p:nvSpPr>
          <p:cNvPr id="27" name="Shape 22"/>
          <p:cNvSpPr/>
          <p:nvPr/>
        </p:nvSpPr>
        <p:spPr>
          <a:xfrm>
            <a:off x="457200" y="2926080"/>
            <a:ext cx="2359152" cy="1463040"/>
          </a:xfrm>
          <a:prstGeom prst="roundRect">
            <a:avLst>
              <a:gd name="adj" fmla="val 5000"/>
            </a:avLst>
          </a:prstGeom>
          <a:solidFill>
            <a:srgbClr val="F4F7F5"/>
          </a:solidFill>
          <a:ln w="9525">
            <a:solidFill>
              <a:srgbClr val="D5DED9"/>
            </a:solidFill>
            <a:prstDash val="solid"/>
          </a:ln>
        </p:spPr>
      </p:sp>
      <p:sp>
        <p:nvSpPr>
          <p:cNvPr id="28" name="Shape 23"/>
          <p:cNvSpPr/>
          <p:nvPr/>
        </p:nvSpPr>
        <p:spPr>
          <a:xfrm>
            <a:off x="621792" y="3090672"/>
            <a:ext cx="438912" cy="438912"/>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727131" y="3196011"/>
            <a:ext cx="228234" cy="228234"/>
          </a:xfrm>
          <a:prstGeom prst="rect">
            <a:avLst/>
          </a:prstGeom>
        </p:spPr>
      </p:pic>
      <p:sp>
        <p:nvSpPr>
          <p:cNvPr id="30" name="Text 24"/>
          <p:cNvSpPr txBox="1"/>
          <p:nvPr/>
        </p:nvSpPr>
        <p:spPr>
          <a:xfrm>
            <a:off x="621792" y="3611880"/>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Silent model updates</a:t>
            </a:r>
            <a:endParaRPr lang="en-US" sz="1250" dirty="0"/>
          </a:p>
        </p:txBody>
      </p:sp>
      <p:sp>
        <p:nvSpPr>
          <p:cNvPr id="31" name="Text 25"/>
          <p:cNvSpPr txBox="1"/>
          <p:nvPr/>
        </p:nvSpPr>
        <p:spPr>
          <a:xfrm>
            <a:off x="621792" y="3858768"/>
            <a:ext cx="205740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 generic model alias can point to a new version without notice.</a:t>
            </a:r>
            <a:endParaRPr lang="en-US" sz="1000" dirty="0"/>
          </a:p>
        </p:txBody>
      </p:sp>
      <p:sp>
        <p:nvSpPr>
          <p:cNvPr id="32" name="Shape 26"/>
          <p:cNvSpPr/>
          <p:nvPr/>
        </p:nvSpPr>
        <p:spPr>
          <a:xfrm>
            <a:off x="2944368" y="2926080"/>
            <a:ext cx="2359152" cy="1463040"/>
          </a:xfrm>
          <a:prstGeom prst="roundRect">
            <a:avLst>
              <a:gd name="adj" fmla="val 5000"/>
            </a:avLst>
          </a:prstGeom>
          <a:solidFill>
            <a:srgbClr val="F4F7F5"/>
          </a:solidFill>
          <a:ln w="9525">
            <a:solidFill>
              <a:srgbClr val="D5DED9"/>
            </a:solidFill>
            <a:prstDash val="solid"/>
          </a:ln>
        </p:spPr>
      </p:sp>
      <p:sp>
        <p:nvSpPr>
          <p:cNvPr id="33" name="Shape 27"/>
          <p:cNvSpPr/>
          <p:nvPr/>
        </p:nvSpPr>
        <p:spPr>
          <a:xfrm>
            <a:off x="3108960" y="3090672"/>
            <a:ext cx="438912" cy="438912"/>
          </a:xfrm>
          <a:prstGeom prst="ellipse">
            <a:avLst/>
          </a:prstGeom>
          <a:solidFill>
            <a:srgbClr val="D49A00">
              <a:alpha val="22000"/>
            </a:srgbClr>
          </a:solidFill>
          <a:ln/>
        </p:spPr>
      </p:sp>
      <p:pic>
        <p:nvPicPr>
          <p:cNvPr id="34" name="Image 3" descr="preencoded.png"/>
          <p:cNvPicPr>
            <a:picLocks noChangeAspect="1"/>
          </p:cNvPicPr>
          <p:nvPr/>
        </p:nvPicPr>
        <p:blipFill>
          <a:blip r:embed="rId6"/>
          <a:stretch>
            <a:fillRect/>
          </a:stretch>
        </p:blipFill>
        <p:spPr>
          <a:xfrm>
            <a:off x="3214299" y="3196011"/>
            <a:ext cx="228234" cy="228234"/>
          </a:xfrm>
          <a:prstGeom prst="rect">
            <a:avLst/>
          </a:prstGeom>
        </p:spPr>
      </p:pic>
      <p:sp>
        <p:nvSpPr>
          <p:cNvPr id="35" name="Text 28"/>
          <p:cNvSpPr txBox="1"/>
          <p:nvPr/>
        </p:nvSpPr>
        <p:spPr>
          <a:xfrm>
            <a:off x="3108960" y="3611880"/>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Input variation</a:t>
            </a:r>
            <a:endParaRPr lang="en-US" sz="1250" dirty="0"/>
          </a:p>
        </p:txBody>
      </p:sp>
      <p:sp>
        <p:nvSpPr>
          <p:cNvPr id="36" name="Text 29"/>
          <p:cNvSpPr txBox="1"/>
          <p:nvPr/>
        </p:nvSpPr>
        <p:spPr>
          <a:xfrm>
            <a:off x="3108960" y="3858768"/>
            <a:ext cx="205740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Language, layout, scan quality and typos all shift the output.</a:t>
            </a:r>
            <a:endParaRPr lang="en-US" sz="1000" dirty="0"/>
          </a:p>
        </p:txBody>
      </p:sp>
      <p:sp>
        <p:nvSpPr>
          <p:cNvPr id="37" name="Shape 30"/>
          <p:cNvSpPr/>
          <p:nvPr/>
        </p:nvSpPr>
        <p:spPr>
          <a:xfrm>
            <a:off x="5577840" y="1325880"/>
            <a:ext cx="3108960" cy="3063240"/>
          </a:xfrm>
          <a:prstGeom prst="roundRect">
            <a:avLst>
              <a:gd name="adj" fmla="val 2388"/>
            </a:avLst>
          </a:prstGeom>
          <a:solidFill>
            <a:srgbClr val="E8F5EF"/>
          </a:solidFill>
          <a:ln w="15875">
            <a:solidFill>
              <a:srgbClr val="D49A00"/>
            </a:solidFill>
            <a:prstDash val="solid"/>
          </a:ln>
        </p:spPr>
      </p:sp>
      <p:sp>
        <p:nvSpPr>
          <p:cNvPr id="38" name="Text 31"/>
          <p:cNvSpPr txBox="1"/>
          <p:nvPr/>
        </p:nvSpPr>
        <p:spPr>
          <a:xfrm>
            <a:off x="5742432" y="1444752"/>
            <a:ext cx="2834640" cy="201168"/>
          </a:xfrm>
          <a:prstGeom prst="rect">
            <a:avLst/>
          </a:prstGeom>
          <a:noFill/>
          <a:ln/>
        </p:spPr>
        <p:txBody>
          <a:bodyPr wrap="square" lIns="0" tIns="0" rIns="0" bIns="0" rtlCol="0" anchor="t"/>
          <a:lstStyle/>
          <a:p>
            <a:pPr marL="0" indent="0">
              <a:buNone/>
            </a:pPr>
            <a:r>
              <a:rPr lang="en-US" sz="1000" b="1" kern="0" spc="100" dirty="0">
                <a:solidFill>
                  <a:srgbClr val="D49A00"/>
                </a:solidFill>
                <a:latin typeface="Calibri" pitchFamily="34" charset="0"/>
                <a:ea typeface="Calibri" pitchFamily="34" charset="-122"/>
                <a:cs typeface="Calibri" pitchFamily="34" charset="-120"/>
              </a:rPr>
              <a:t>THE 5-RUN CONSISTENCY TEST</a:t>
            </a:r>
            <a:endParaRPr lang="en-US" sz="1000" dirty="0"/>
          </a:p>
        </p:txBody>
      </p:sp>
      <p:sp>
        <p:nvSpPr>
          <p:cNvPr id="39" name="Text 32"/>
          <p:cNvSpPr txBox="1"/>
          <p:nvPr/>
        </p:nvSpPr>
        <p:spPr>
          <a:xfrm>
            <a:off x="5742432" y="1810512"/>
            <a:ext cx="41148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E01</a:t>
            </a:r>
            <a:endParaRPr lang="en-US" sz="1100" dirty="0"/>
          </a:p>
        </p:txBody>
      </p:sp>
      <p:sp>
        <p:nvSpPr>
          <p:cNvPr id="40" name="Shape 33"/>
          <p:cNvSpPr/>
          <p:nvPr/>
        </p:nvSpPr>
        <p:spPr>
          <a:xfrm>
            <a:off x="6144768" y="1837944"/>
            <a:ext cx="384048" cy="329184"/>
          </a:xfrm>
          <a:prstGeom prst="roundRect">
            <a:avLst>
              <a:gd name="adj" fmla="val 13889"/>
            </a:avLst>
          </a:prstGeom>
          <a:solidFill>
            <a:srgbClr val="E8F5EF"/>
          </a:solidFill>
          <a:ln w="9525">
            <a:solidFill>
              <a:srgbClr val="00A86A"/>
            </a:solidFill>
            <a:prstDash val="solid"/>
          </a:ln>
        </p:spPr>
      </p:sp>
      <p:sp>
        <p:nvSpPr>
          <p:cNvPr id="41" name="Text 34"/>
          <p:cNvSpPr txBox="1"/>
          <p:nvPr/>
        </p:nvSpPr>
        <p:spPr>
          <a:xfrm>
            <a:off x="6144768" y="1837944"/>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5211</a:t>
            </a:r>
            <a:endParaRPr lang="en-US" sz="800" dirty="0"/>
          </a:p>
        </p:txBody>
      </p:sp>
      <p:sp>
        <p:nvSpPr>
          <p:cNvPr id="42" name="Shape 35"/>
          <p:cNvSpPr/>
          <p:nvPr/>
        </p:nvSpPr>
        <p:spPr>
          <a:xfrm>
            <a:off x="6565392" y="1837944"/>
            <a:ext cx="384048" cy="329184"/>
          </a:xfrm>
          <a:prstGeom prst="roundRect">
            <a:avLst>
              <a:gd name="adj" fmla="val 13889"/>
            </a:avLst>
          </a:prstGeom>
          <a:solidFill>
            <a:srgbClr val="E8F5EF"/>
          </a:solidFill>
          <a:ln w="9525">
            <a:solidFill>
              <a:srgbClr val="00A86A"/>
            </a:solidFill>
            <a:prstDash val="solid"/>
          </a:ln>
        </p:spPr>
      </p:sp>
      <p:sp>
        <p:nvSpPr>
          <p:cNvPr id="43" name="Text 36"/>
          <p:cNvSpPr txBox="1"/>
          <p:nvPr/>
        </p:nvSpPr>
        <p:spPr>
          <a:xfrm>
            <a:off x="6565392" y="1837944"/>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5211</a:t>
            </a:r>
            <a:endParaRPr lang="en-US" sz="800" dirty="0"/>
          </a:p>
        </p:txBody>
      </p:sp>
      <p:sp>
        <p:nvSpPr>
          <p:cNvPr id="44" name="Shape 37"/>
          <p:cNvSpPr/>
          <p:nvPr/>
        </p:nvSpPr>
        <p:spPr>
          <a:xfrm>
            <a:off x="6986016" y="1837944"/>
            <a:ext cx="384048" cy="329184"/>
          </a:xfrm>
          <a:prstGeom prst="roundRect">
            <a:avLst>
              <a:gd name="adj" fmla="val 13889"/>
            </a:avLst>
          </a:prstGeom>
          <a:solidFill>
            <a:srgbClr val="E8F5EF"/>
          </a:solidFill>
          <a:ln w="9525">
            <a:solidFill>
              <a:srgbClr val="00A86A"/>
            </a:solidFill>
            <a:prstDash val="solid"/>
          </a:ln>
        </p:spPr>
      </p:sp>
      <p:sp>
        <p:nvSpPr>
          <p:cNvPr id="45" name="Text 38"/>
          <p:cNvSpPr txBox="1"/>
          <p:nvPr/>
        </p:nvSpPr>
        <p:spPr>
          <a:xfrm>
            <a:off x="6986016" y="1837944"/>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5211</a:t>
            </a:r>
            <a:endParaRPr lang="en-US" sz="800" dirty="0"/>
          </a:p>
        </p:txBody>
      </p:sp>
      <p:sp>
        <p:nvSpPr>
          <p:cNvPr id="46" name="Shape 39"/>
          <p:cNvSpPr/>
          <p:nvPr/>
        </p:nvSpPr>
        <p:spPr>
          <a:xfrm>
            <a:off x="7406640" y="1837944"/>
            <a:ext cx="384048" cy="329184"/>
          </a:xfrm>
          <a:prstGeom prst="roundRect">
            <a:avLst>
              <a:gd name="adj" fmla="val 13889"/>
            </a:avLst>
          </a:prstGeom>
          <a:solidFill>
            <a:srgbClr val="E8F5EF"/>
          </a:solidFill>
          <a:ln w="9525">
            <a:solidFill>
              <a:srgbClr val="00A86A"/>
            </a:solidFill>
            <a:prstDash val="solid"/>
          </a:ln>
        </p:spPr>
      </p:sp>
      <p:sp>
        <p:nvSpPr>
          <p:cNvPr id="47" name="Text 40"/>
          <p:cNvSpPr txBox="1"/>
          <p:nvPr/>
        </p:nvSpPr>
        <p:spPr>
          <a:xfrm>
            <a:off x="7406640" y="1837944"/>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5211</a:t>
            </a:r>
            <a:endParaRPr lang="en-US" sz="800" dirty="0"/>
          </a:p>
        </p:txBody>
      </p:sp>
      <p:sp>
        <p:nvSpPr>
          <p:cNvPr id="48" name="Shape 41"/>
          <p:cNvSpPr/>
          <p:nvPr/>
        </p:nvSpPr>
        <p:spPr>
          <a:xfrm>
            <a:off x="7827264" y="1837944"/>
            <a:ext cx="384048" cy="329184"/>
          </a:xfrm>
          <a:prstGeom prst="roundRect">
            <a:avLst>
              <a:gd name="adj" fmla="val 13889"/>
            </a:avLst>
          </a:prstGeom>
          <a:solidFill>
            <a:srgbClr val="E8F5EF"/>
          </a:solidFill>
          <a:ln w="9525">
            <a:solidFill>
              <a:srgbClr val="00A86A"/>
            </a:solidFill>
            <a:prstDash val="solid"/>
          </a:ln>
        </p:spPr>
      </p:sp>
      <p:sp>
        <p:nvSpPr>
          <p:cNvPr id="49" name="Text 42"/>
          <p:cNvSpPr txBox="1"/>
          <p:nvPr/>
        </p:nvSpPr>
        <p:spPr>
          <a:xfrm>
            <a:off x="7827264" y="1837944"/>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5211</a:t>
            </a:r>
            <a:endParaRPr lang="en-US" sz="800" dirty="0"/>
          </a:p>
        </p:txBody>
      </p:sp>
      <p:sp>
        <p:nvSpPr>
          <p:cNvPr id="50" name="Text 43"/>
          <p:cNvSpPr txBox="1"/>
          <p:nvPr/>
        </p:nvSpPr>
        <p:spPr>
          <a:xfrm>
            <a:off x="8229600" y="1810512"/>
            <a:ext cx="411480" cy="384048"/>
          </a:xfrm>
          <a:prstGeom prst="rect">
            <a:avLst/>
          </a:prstGeom>
          <a:noFill/>
          <a:ln/>
        </p:spPr>
        <p:txBody>
          <a:bodyPr wrap="square" lIns="0" tIns="0" rIns="0" bIns="0" rtlCol="0" anchor="ctr"/>
          <a:lstStyle/>
          <a:p>
            <a:pPr marL="0" indent="0" algn="r">
              <a:buNone/>
            </a:pPr>
            <a:r>
              <a:rPr lang="en-US" sz="1100" b="1" dirty="0">
                <a:solidFill>
                  <a:srgbClr val="00A86A"/>
                </a:solidFill>
                <a:latin typeface="Calibri" pitchFamily="34" charset="0"/>
                <a:ea typeface="Calibri" pitchFamily="34" charset="-122"/>
                <a:cs typeface="Calibri" pitchFamily="34" charset="-120"/>
              </a:rPr>
              <a:t>100%</a:t>
            </a:r>
            <a:endParaRPr lang="en-US" sz="1100" dirty="0"/>
          </a:p>
        </p:txBody>
      </p:sp>
      <p:sp>
        <p:nvSpPr>
          <p:cNvPr id="51" name="Text 44"/>
          <p:cNvSpPr txBox="1"/>
          <p:nvPr/>
        </p:nvSpPr>
        <p:spPr>
          <a:xfrm>
            <a:off x="5742432" y="2377440"/>
            <a:ext cx="41148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E04</a:t>
            </a:r>
            <a:endParaRPr lang="en-US" sz="1100" dirty="0"/>
          </a:p>
        </p:txBody>
      </p:sp>
      <p:sp>
        <p:nvSpPr>
          <p:cNvPr id="52" name="Shape 45"/>
          <p:cNvSpPr/>
          <p:nvPr/>
        </p:nvSpPr>
        <p:spPr>
          <a:xfrm>
            <a:off x="6144768" y="2404872"/>
            <a:ext cx="384048" cy="329184"/>
          </a:xfrm>
          <a:prstGeom prst="roundRect">
            <a:avLst>
              <a:gd name="adj" fmla="val 13889"/>
            </a:avLst>
          </a:prstGeom>
          <a:solidFill>
            <a:srgbClr val="E8F5EF"/>
          </a:solidFill>
          <a:ln w="9525">
            <a:solidFill>
              <a:srgbClr val="00A86A"/>
            </a:solidFill>
            <a:prstDash val="solid"/>
          </a:ln>
        </p:spPr>
      </p:sp>
      <p:sp>
        <p:nvSpPr>
          <p:cNvPr id="53" name="Text 46"/>
          <p:cNvSpPr txBox="1"/>
          <p:nvPr/>
        </p:nvSpPr>
        <p:spPr>
          <a:xfrm>
            <a:off x="6144768" y="2404872"/>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2341</a:t>
            </a:r>
            <a:endParaRPr lang="en-US" sz="800" dirty="0"/>
          </a:p>
        </p:txBody>
      </p:sp>
      <p:sp>
        <p:nvSpPr>
          <p:cNvPr id="54" name="Shape 47"/>
          <p:cNvSpPr/>
          <p:nvPr/>
        </p:nvSpPr>
        <p:spPr>
          <a:xfrm>
            <a:off x="6565392" y="2404872"/>
            <a:ext cx="384048" cy="329184"/>
          </a:xfrm>
          <a:prstGeom prst="roundRect">
            <a:avLst>
              <a:gd name="adj" fmla="val 13889"/>
            </a:avLst>
          </a:prstGeom>
          <a:solidFill>
            <a:srgbClr val="E8F5EF"/>
          </a:solidFill>
          <a:ln w="9525">
            <a:solidFill>
              <a:srgbClr val="00A86A"/>
            </a:solidFill>
            <a:prstDash val="solid"/>
          </a:ln>
        </p:spPr>
      </p:sp>
      <p:sp>
        <p:nvSpPr>
          <p:cNvPr id="55" name="Text 48"/>
          <p:cNvSpPr txBox="1"/>
          <p:nvPr/>
        </p:nvSpPr>
        <p:spPr>
          <a:xfrm>
            <a:off x="6565392" y="2404872"/>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2341</a:t>
            </a:r>
            <a:endParaRPr lang="en-US" sz="800" dirty="0"/>
          </a:p>
        </p:txBody>
      </p:sp>
      <p:sp>
        <p:nvSpPr>
          <p:cNvPr id="56" name="Shape 49"/>
          <p:cNvSpPr/>
          <p:nvPr/>
        </p:nvSpPr>
        <p:spPr>
          <a:xfrm>
            <a:off x="6986016" y="2404872"/>
            <a:ext cx="384048" cy="329184"/>
          </a:xfrm>
          <a:prstGeom prst="roundRect">
            <a:avLst>
              <a:gd name="adj" fmla="val 13889"/>
            </a:avLst>
          </a:prstGeom>
          <a:solidFill>
            <a:srgbClr val="F6E3E0"/>
          </a:solidFill>
          <a:ln w="9525">
            <a:solidFill>
              <a:srgbClr val="B83B2E"/>
            </a:solidFill>
            <a:prstDash val="solid"/>
          </a:ln>
        </p:spPr>
      </p:sp>
      <p:sp>
        <p:nvSpPr>
          <p:cNvPr id="57" name="Text 50"/>
          <p:cNvSpPr txBox="1"/>
          <p:nvPr/>
        </p:nvSpPr>
        <p:spPr>
          <a:xfrm>
            <a:off x="6986016" y="2404872"/>
            <a:ext cx="384048" cy="329184"/>
          </a:xfrm>
          <a:prstGeom prst="rect">
            <a:avLst/>
          </a:prstGeom>
          <a:noFill/>
          <a:ln/>
        </p:spPr>
        <p:txBody>
          <a:bodyPr wrap="square" lIns="0" tIns="0" rIns="0" bIns="0" rtlCol="0" anchor="ctr"/>
          <a:lstStyle/>
          <a:p>
            <a:pPr marL="0" indent="0" algn="ctr">
              <a:buNone/>
            </a:pPr>
            <a:r>
              <a:rPr lang="en-US" sz="800" b="1" dirty="0">
                <a:solidFill>
                  <a:srgbClr val="B83B2E"/>
                </a:solidFill>
                <a:latin typeface="Courier New" pitchFamily="34" charset="0"/>
                <a:ea typeface="Courier New" pitchFamily="34" charset="-122"/>
                <a:cs typeface="Courier New" pitchFamily="34" charset="-120"/>
              </a:rPr>
              <a:t>5249</a:t>
            </a:r>
            <a:endParaRPr lang="en-US" sz="800" dirty="0"/>
          </a:p>
        </p:txBody>
      </p:sp>
      <p:sp>
        <p:nvSpPr>
          <p:cNvPr id="58" name="Shape 51"/>
          <p:cNvSpPr/>
          <p:nvPr/>
        </p:nvSpPr>
        <p:spPr>
          <a:xfrm>
            <a:off x="7406640" y="2404872"/>
            <a:ext cx="384048" cy="329184"/>
          </a:xfrm>
          <a:prstGeom prst="roundRect">
            <a:avLst>
              <a:gd name="adj" fmla="val 13889"/>
            </a:avLst>
          </a:prstGeom>
          <a:solidFill>
            <a:srgbClr val="E8F5EF"/>
          </a:solidFill>
          <a:ln w="9525">
            <a:solidFill>
              <a:srgbClr val="00A86A"/>
            </a:solidFill>
            <a:prstDash val="solid"/>
          </a:ln>
        </p:spPr>
      </p:sp>
      <p:sp>
        <p:nvSpPr>
          <p:cNvPr id="59" name="Text 52"/>
          <p:cNvSpPr txBox="1"/>
          <p:nvPr/>
        </p:nvSpPr>
        <p:spPr>
          <a:xfrm>
            <a:off x="7406640" y="2404872"/>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2341</a:t>
            </a:r>
            <a:endParaRPr lang="en-US" sz="800" dirty="0"/>
          </a:p>
        </p:txBody>
      </p:sp>
      <p:sp>
        <p:nvSpPr>
          <p:cNvPr id="60" name="Shape 53"/>
          <p:cNvSpPr/>
          <p:nvPr/>
        </p:nvSpPr>
        <p:spPr>
          <a:xfrm>
            <a:off x="7827264" y="2404872"/>
            <a:ext cx="384048" cy="329184"/>
          </a:xfrm>
          <a:prstGeom prst="roundRect">
            <a:avLst>
              <a:gd name="adj" fmla="val 13889"/>
            </a:avLst>
          </a:prstGeom>
          <a:solidFill>
            <a:srgbClr val="F6E3E0"/>
          </a:solidFill>
          <a:ln w="9525">
            <a:solidFill>
              <a:srgbClr val="B83B2E"/>
            </a:solidFill>
            <a:prstDash val="solid"/>
          </a:ln>
        </p:spPr>
      </p:sp>
      <p:sp>
        <p:nvSpPr>
          <p:cNvPr id="61" name="Text 54"/>
          <p:cNvSpPr txBox="1"/>
          <p:nvPr/>
        </p:nvSpPr>
        <p:spPr>
          <a:xfrm>
            <a:off x="7827264" y="2404872"/>
            <a:ext cx="384048" cy="329184"/>
          </a:xfrm>
          <a:prstGeom prst="rect">
            <a:avLst/>
          </a:prstGeom>
          <a:noFill/>
          <a:ln/>
        </p:spPr>
        <p:txBody>
          <a:bodyPr wrap="square" lIns="0" tIns="0" rIns="0" bIns="0" rtlCol="0" anchor="ctr"/>
          <a:lstStyle/>
          <a:p>
            <a:pPr marL="0" indent="0" algn="ctr">
              <a:buNone/>
            </a:pPr>
            <a:r>
              <a:rPr lang="en-US" sz="800" b="1" dirty="0">
                <a:solidFill>
                  <a:srgbClr val="B83B2E"/>
                </a:solidFill>
                <a:latin typeface="Courier New" pitchFamily="34" charset="0"/>
                <a:ea typeface="Courier New" pitchFamily="34" charset="-122"/>
                <a:cs typeface="Courier New" pitchFamily="34" charset="-120"/>
              </a:rPr>
              <a:t>5249</a:t>
            </a:r>
            <a:endParaRPr lang="en-US" sz="800" dirty="0"/>
          </a:p>
        </p:txBody>
      </p:sp>
      <p:sp>
        <p:nvSpPr>
          <p:cNvPr id="62" name="Text 55"/>
          <p:cNvSpPr txBox="1"/>
          <p:nvPr/>
        </p:nvSpPr>
        <p:spPr>
          <a:xfrm>
            <a:off x="8229600" y="2377440"/>
            <a:ext cx="411480" cy="384048"/>
          </a:xfrm>
          <a:prstGeom prst="rect">
            <a:avLst/>
          </a:prstGeom>
          <a:noFill/>
          <a:ln/>
        </p:spPr>
        <p:txBody>
          <a:bodyPr wrap="square" lIns="0" tIns="0" rIns="0" bIns="0" rtlCol="0" anchor="ctr"/>
          <a:lstStyle/>
          <a:p>
            <a:pPr marL="0" indent="0" algn="r">
              <a:buNone/>
            </a:pPr>
            <a:r>
              <a:rPr lang="en-US" sz="1100" b="1" dirty="0">
                <a:solidFill>
                  <a:srgbClr val="B83B2E"/>
                </a:solidFill>
                <a:latin typeface="Calibri" pitchFamily="34" charset="0"/>
                <a:ea typeface="Calibri" pitchFamily="34" charset="-122"/>
                <a:cs typeface="Calibri" pitchFamily="34" charset="-120"/>
              </a:rPr>
              <a:t>60%</a:t>
            </a:r>
            <a:endParaRPr lang="en-US" sz="1100" dirty="0"/>
          </a:p>
        </p:txBody>
      </p:sp>
      <p:sp>
        <p:nvSpPr>
          <p:cNvPr id="63" name="Text 56"/>
          <p:cNvSpPr txBox="1"/>
          <p:nvPr/>
        </p:nvSpPr>
        <p:spPr>
          <a:xfrm>
            <a:off x="5742432" y="2944368"/>
            <a:ext cx="41148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E05</a:t>
            </a:r>
            <a:endParaRPr lang="en-US" sz="1100" dirty="0"/>
          </a:p>
        </p:txBody>
      </p:sp>
      <p:sp>
        <p:nvSpPr>
          <p:cNvPr id="64" name="Shape 57"/>
          <p:cNvSpPr/>
          <p:nvPr/>
        </p:nvSpPr>
        <p:spPr>
          <a:xfrm>
            <a:off x="6144768" y="2971800"/>
            <a:ext cx="384048" cy="329184"/>
          </a:xfrm>
          <a:prstGeom prst="roundRect">
            <a:avLst>
              <a:gd name="adj" fmla="val 13889"/>
            </a:avLst>
          </a:prstGeom>
          <a:solidFill>
            <a:srgbClr val="E8F5EF"/>
          </a:solidFill>
          <a:ln w="9525">
            <a:solidFill>
              <a:srgbClr val="00A86A"/>
            </a:solidFill>
            <a:prstDash val="solid"/>
          </a:ln>
        </p:spPr>
      </p:sp>
      <p:sp>
        <p:nvSpPr>
          <p:cNvPr id="65" name="Text 58"/>
          <p:cNvSpPr txBox="1"/>
          <p:nvPr/>
        </p:nvSpPr>
        <p:spPr>
          <a:xfrm>
            <a:off x="6144768" y="2971800"/>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UNC</a:t>
            </a:r>
            <a:endParaRPr lang="en-US" sz="800" dirty="0"/>
          </a:p>
        </p:txBody>
      </p:sp>
      <p:sp>
        <p:nvSpPr>
          <p:cNvPr id="66" name="Shape 59"/>
          <p:cNvSpPr/>
          <p:nvPr/>
        </p:nvSpPr>
        <p:spPr>
          <a:xfrm>
            <a:off x="6565392" y="2971800"/>
            <a:ext cx="384048" cy="329184"/>
          </a:xfrm>
          <a:prstGeom prst="roundRect">
            <a:avLst>
              <a:gd name="adj" fmla="val 13889"/>
            </a:avLst>
          </a:prstGeom>
          <a:solidFill>
            <a:srgbClr val="E8F5EF"/>
          </a:solidFill>
          <a:ln w="9525">
            <a:solidFill>
              <a:srgbClr val="00A86A"/>
            </a:solidFill>
            <a:prstDash val="solid"/>
          </a:ln>
        </p:spPr>
      </p:sp>
      <p:sp>
        <p:nvSpPr>
          <p:cNvPr id="67" name="Text 60"/>
          <p:cNvSpPr txBox="1"/>
          <p:nvPr/>
        </p:nvSpPr>
        <p:spPr>
          <a:xfrm>
            <a:off x="6565392" y="2971800"/>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UNC</a:t>
            </a:r>
            <a:endParaRPr lang="en-US" sz="800" dirty="0"/>
          </a:p>
        </p:txBody>
      </p:sp>
      <p:sp>
        <p:nvSpPr>
          <p:cNvPr id="68" name="Shape 61"/>
          <p:cNvSpPr/>
          <p:nvPr/>
        </p:nvSpPr>
        <p:spPr>
          <a:xfrm>
            <a:off x="6986016" y="2971800"/>
            <a:ext cx="384048" cy="329184"/>
          </a:xfrm>
          <a:prstGeom prst="roundRect">
            <a:avLst>
              <a:gd name="adj" fmla="val 13889"/>
            </a:avLst>
          </a:prstGeom>
          <a:solidFill>
            <a:srgbClr val="E8F5EF"/>
          </a:solidFill>
          <a:ln w="9525">
            <a:solidFill>
              <a:srgbClr val="00A86A"/>
            </a:solidFill>
            <a:prstDash val="solid"/>
          </a:ln>
        </p:spPr>
      </p:sp>
      <p:sp>
        <p:nvSpPr>
          <p:cNvPr id="69" name="Text 62"/>
          <p:cNvSpPr txBox="1"/>
          <p:nvPr/>
        </p:nvSpPr>
        <p:spPr>
          <a:xfrm>
            <a:off x="6986016" y="2971800"/>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UNC</a:t>
            </a:r>
            <a:endParaRPr lang="en-US" sz="800" dirty="0"/>
          </a:p>
        </p:txBody>
      </p:sp>
      <p:sp>
        <p:nvSpPr>
          <p:cNvPr id="70" name="Shape 63"/>
          <p:cNvSpPr/>
          <p:nvPr/>
        </p:nvSpPr>
        <p:spPr>
          <a:xfrm>
            <a:off x="7406640" y="2971800"/>
            <a:ext cx="384048" cy="329184"/>
          </a:xfrm>
          <a:prstGeom prst="roundRect">
            <a:avLst>
              <a:gd name="adj" fmla="val 13889"/>
            </a:avLst>
          </a:prstGeom>
          <a:solidFill>
            <a:srgbClr val="E8F5EF"/>
          </a:solidFill>
          <a:ln w="9525">
            <a:solidFill>
              <a:srgbClr val="00A86A"/>
            </a:solidFill>
            <a:prstDash val="solid"/>
          </a:ln>
        </p:spPr>
      </p:sp>
      <p:sp>
        <p:nvSpPr>
          <p:cNvPr id="71" name="Text 64"/>
          <p:cNvSpPr txBox="1"/>
          <p:nvPr/>
        </p:nvSpPr>
        <p:spPr>
          <a:xfrm>
            <a:off x="7406640" y="2971800"/>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UNC</a:t>
            </a:r>
            <a:endParaRPr lang="en-US" sz="800" dirty="0"/>
          </a:p>
        </p:txBody>
      </p:sp>
      <p:sp>
        <p:nvSpPr>
          <p:cNvPr id="72" name="Shape 65"/>
          <p:cNvSpPr/>
          <p:nvPr/>
        </p:nvSpPr>
        <p:spPr>
          <a:xfrm>
            <a:off x="7827264" y="2971800"/>
            <a:ext cx="384048" cy="329184"/>
          </a:xfrm>
          <a:prstGeom prst="roundRect">
            <a:avLst>
              <a:gd name="adj" fmla="val 13889"/>
            </a:avLst>
          </a:prstGeom>
          <a:solidFill>
            <a:srgbClr val="E8F5EF"/>
          </a:solidFill>
          <a:ln w="9525">
            <a:solidFill>
              <a:srgbClr val="00A86A"/>
            </a:solidFill>
            <a:prstDash val="solid"/>
          </a:ln>
        </p:spPr>
      </p:sp>
      <p:sp>
        <p:nvSpPr>
          <p:cNvPr id="73" name="Text 66"/>
          <p:cNvSpPr txBox="1"/>
          <p:nvPr/>
        </p:nvSpPr>
        <p:spPr>
          <a:xfrm>
            <a:off x="7827264" y="2971800"/>
            <a:ext cx="384048" cy="329184"/>
          </a:xfrm>
          <a:prstGeom prst="rect">
            <a:avLst/>
          </a:prstGeom>
          <a:noFill/>
          <a:ln/>
        </p:spPr>
        <p:txBody>
          <a:bodyPr wrap="square" lIns="0" tIns="0" rIns="0" bIns="0" rtlCol="0" anchor="ctr"/>
          <a:lstStyle/>
          <a:p>
            <a:pPr marL="0" indent="0" algn="ctr">
              <a:buNone/>
            </a:pPr>
            <a:r>
              <a:rPr lang="en-US" sz="800" b="1" dirty="0">
                <a:solidFill>
                  <a:srgbClr val="00704A"/>
                </a:solidFill>
                <a:latin typeface="Courier New" pitchFamily="34" charset="0"/>
                <a:ea typeface="Courier New" pitchFamily="34" charset="-122"/>
                <a:cs typeface="Courier New" pitchFamily="34" charset="-120"/>
              </a:rPr>
              <a:t>UNC</a:t>
            </a:r>
            <a:endParaRPr lang="en-US" sz="800" dirty="0"/>
          </a:p>
        </p:txBody>
      </p:sp>
      <p:sp>
        <p:nvSpPr>
          <p:cNvPr id="74" name="Text 67"/>
          <p:cNvSpPr txBox="1"/>
          <p:nvPr/>
        </p:nvSpPr>
        <p:spPr>
          <a:xfrm>
            <a:off x="8229600" y="2944368"/>
            <a:ext cx="411480" cy="384048"/>
          </a:xfrm>
          <a:prstGeom prst="rect">
            <a:avLst/>
          </a:prstGeom>
          <a:noFill/>
          <a:ln/>
        </p:spPr>
        <p:txBody>
          <a:bodyPr wrap="square" lIns="0" tIns="0" rIns="0" bIns="0" rtlCol="0" anchor="ctr"/>
          <a:lstStyle/>
          <a:p>
            <a:pPr marL="0" indent="0" algn="r">
              <a:buNone/>
            </a:pPr>
            <a:r>
              <a:rPr lang="en-US" sz="1100" b="1" dirty="0">
                <a:solidFill>
                  <a:srgbClr val="00A86A"/>
                </a:solidFill>
                <a:latin typeface="Calibri" pitchFamily="34" charset="0"/>
                <a:ea typeface="Calibri" pitchFamily="34" charset="-122"/>
                <a:cs typeface="Calibri" pitchFamily="34" charset="-120"/>
              </a:rPr>
              <a:t>100%</a:t>
            </a:r>
            <a:endParaRPr lang="en-US" sz="1100" dirty="0"/>
          </a:p>
        </p:txBody>
      </p:sp>
      <p:sp>
        <p:nvSpPr>
          <p:cNvPr id="75" name="Text 68"/>
          <p:cNvSpPr txBox="1"/>
          <p:nvPr/>
        </p:nvSpPr>
        <p:spPr>
          <a:xfrm>
            <a:off x="5742432" y="3566160"/>
            <a:ext cx="2788920" cy="7315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Agreement rate = share of runs giving the most frequent answer. Anything below 100% on a coding task deserves a look.</a:t>
            </a:r>
            <a:endParaRPr lang="en-US" sz="1000" dirty="0"/>
          </a:p>
        </p:txBody>
      </p:sp>
      <p:sp>
        <p:nvSpPr>
          <p:cNvPr id="76" name="Text 69"/>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Illustrative runs. UNC = UNCODABLE. 5249 = sales workers not elsewhere classified (a plausible mis-code for “sells airtime”).</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CONTROLLING VARIANCE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Six levers to make outputs reproducible</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49A00"/>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Text 14"/>
          <p:cNvSpPr txBox="1"/>
          <p:nvPr/>
        </p:nvSpPr>
        <p:spPr>
          <a:xfrm>
            <a:off x="457200" y="1298448"/>
            <a:ext cx="3657600" cy="201168"/>
          </a:xfrm>
          <a:prstGeom prst="rect">
            <a:avLst/>
          </a:prstGeom>
          <a:noFill/>
          <a:ln/>
        </p:spPr>
        <p:txBody>
          <a:bodyPr wrap="square" lIns="0" tIns="0" rIns="0" bIns="0" rtlCol="0" anchor="t"/>
          <a:lstStyle/>
          <a:p>
            <a:pPr marL="0" indent="0">
              <a:buNone/>
            </a:pPr>
            <a:r>
              <a:rPr lang="en-US" sz="1000" b="1" kern="0" spc="200" dirty="0">
                <a:solidFill>
                  <a:srgbClr val="D49A00"/>
                </a:solidFill>
                <a:latin typeface="Calibri" pitchFamily="34" charset="0"/>
                <a:ea typeface="Calibri" pitchFamily="34" charset="-122"/>
                <a:cs typeface="Calibri" pitchFamily="34" charset="-120"/>
              </a:rPr>
              <a:t>MODEL SETTINGS</a:t>
            </a:r>
            <a:endParaRPr lang="en-US" sz="1000" dirty="0"/>
          </a:p>
        </p:txBody>
      </p:sp>
      <p:sp>
        <p:nvSpPr>
          <p:cNvPr id="18" name="Text 15"/>
          <p:cNvSpPr txBox="1"/>
          <p:nvPr/>
        </p:nvSpPr>
        <p:spPr>
          <a:xfrm>
            <a:off x="4663440" y="1298448"/>
            <a:ext cx="3657600" cy="201168"/>
          </a:xfrm>
          <a:prstGeom prst="rect">
            <a:avLst/>
          </a:prstGeom>
          <a:noFill/>
          <a:ln/>
        </p:spPr>
        <p:txBody>
          <a:bodyPr wrap="square" lIns="0" tIns="0" rIns="0" bIns="0" rtlCol="0" anchor="t"/>
          <a:lstStyle/>
          <a:p>
            <a:pPr marL="0" indent="0">
              <a:buNone/>
            </a:pPr>
            <a:r>
              <a:rPr lang="en-US" sz="1000" b="1" kern="0" spc="200" dirty="0">
                <a:solidFill>
                  <a:srgbClr val="D49A00"/>
                </a:solidFill>
                <a:latin typeface="Calibri" pitchFamily="34" charset="0"/>
                <a:ea typeface="Calibri" pitchFamily="34" charset="-122"/>
                <a:cs typeface="Calibri" pitchFamily="34" charset="-120"/>
              </a:rPr>
              <a:t>PROMPT DESIGN</a:t>
            </a:r>
            <a:endParaRPr lang="en-US" sz="1000" dirty="0"/>
          </a:p>
        </p:txBody>
      </p:sp>
      <p:sp>
        <p:nvSpPr>
          <p:cNvPr id="19" name="Shape 16"/>
          <p:cNvSpPr/>
          <p:nvPr/>
        </p:nvSpPr>
        <p:spPr>
          <a:xfrm>
            <a:off x="457200" y="1600200"/>
            <a:ext cx="4023360" cy="658368"/>
          </a:xfrm>
          <a:prstGeom prst="roundRect">
            <a:avLst>
              <a:gd name="adj" fmla="val 11111"/>
            </a:avLst>
          </a:prstGeom>
          <a:solidFill>
            <a:srgbClr val="F4F7F5"/>
          </a:solidFill>
          <a:ln w="9525">
            <a:solidFill>
              <a:srgbClr val="D5DED9"/>
            </a:solidFill>
            <a:prstDash val="solid"/>
          </a:ln>
        </p:spPr>
      </p:sp>
      <p:sp>
        <p:nvSpPr>
          <p:cNvPr id="20" name="Shape 17"/>
          <p:cNvSpPr/>
          <p:nvPr/>
        </p:nvSpPr>
        <p:spPr>
          <a:xfrm>
            <a:off x="585216" y="1719072"/>
            <a:ext cx="420624" cy="420624"/>
          </a:xfrm>
          <a:prstGeom prst="ellipse">
            <a:avLst/>
          </a:prstGeom>
          <a:solidFill>
            <a:srgbClr val="D49A00">
              <a:alpha val="22000"/>
            </a:srgbClr>
          </a:solidFill>
          <a:ln/>
        </p:spPr>
      </p:sp>
      <p:pic>
        <p:nvPicPr>
          <p:cNvPr id="21" name="Image 0" descr="preencoded.png"/>
          <p:cNvPicPr>
            <a:picLocks noChangeAspect="1"/>
          </p:cNvPicPr>
          <p:nvPr/>
        </p:nvPicPr>
        <p:blipFill>
          <a:blip r:embed="rId3"/>
          <a:stretch>
            <a:fillRect/>
          </a:stretch>
        </p:blipFill>
        <p:spPr>
          <a:xfrm>
            <a:off x="686166" y="1820022"/>
            <a:ext cx="218724" cy="218724"/>
          </a:xfrm>
          <a:prstGeom prst="rect">
            <a:avLst/>
          </a:prstGeom>
        </p:spPr>
      </p:pic>
      <p:sp>
        <p:nvSpPr>
          <p:cNvPr id="22" name="Text 18"/>
          <p:cNvSpPr txBox="1"/>
          <p:nvPr/>
        </p:nvSpPr>
        <p:spPr>
          <a:xfrm>
            <a:off x="1143000" y="1673352"/>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Low temperature</a:t>
            </a:r>
            <a:endParaRPr lang="en-US" sz="1250" dirty="0"/>
          </a:p>
        </p:txBody>
      </p:sp>
      <p:sp>
        <p:nvSpPr>
          <p:cNvPr id="23" name="Text 19"/>
          <p:cNvSpPr txBox="1"/>
          <p:nvPr/>
        </p:nvSpPr>
        <p:spPr>
          <a:xfrm>
            <a:off x="1143000" y="1920240"/>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0 to 0.2 for extraction and coding; higher only for creative drafting.</a:t>
            </a:r>
            <a:endParaRPr lang="en-US" sz="1000" dirty="0"/>
          </a:p>
        </p:txBody>
      </p:sp>
      <p:sp>
        <p:nvSpPr>
          <p:cNvPr id="24" name="Shape 20"/>
          <p:cNvSpPr/>
          <p:nvPr/>
        </p:nvSpPr>
        <p:spPr>
          <a:xfrm>
            <a:off x="457200" y="2359152"/>
            <a:ext cx="4023360" cy="658368"/>
          </a:xfrm>
          <a:prstGeom prst="roundRect">
            <a:avLst>
              <a:gd name="adj" fmla="val 11111"/>
            </a:avLst>
          </a:prstGeom>
          <a:solidFill>
            <a:srgbClr val="F4F7F5"/>
          </a:solidFill>
          <a:ln w="9525">
            <a:solidFill>
              <a:srgbClr val="D5DED9"/>
            </a:solidFill>
            <a:prstDash val="solid"/>
          </a:ln>
        </p:spPr>
      </p:sp>
      <p:sp>
        <p:nvSpPr>
          <p:cNvPr id="25" name="Shape 21"/>
          <p:cNvSpPr/>
          <p:nvPr/>
        </p:nvSpPr>
        <p:spPr>
          <a:xfrm>
            <a:off x="585216" y="2478024"/>
            <a:ext cx="420624" cy="420624"/>
          </a:xfrm>
          <a:prstGeom prst="ellipse">
            <a:avLst/>
          </a:prstGeom>
          <a:solidFill>
            <a:srgbClr val="D49A00">
              <a:alpha val="22000"/>
            </a:srgbClr>
          </a:solidFill>
          <a:ln/>
        </p:spPr>
      </p:sp>
      <p:pic>
        <p:nvPicPr>
          <p:cNvPr id="26" name="Image 1" descr="preencoded.png"/>
          <p:cNvPicPr>
            <a:picLocks noChangeAspect="1"/>
          </p:cNvPicPr>
          <p:nvPr/>
        </p:nvPicPr>
        <p:blipFill>
          <a:blip r:embed="rId4"/>
          <a:stretch>
            <a:fillRect/>
          </a:stretch>
        </p:blipFill>
        <p:spPr>
          <a:xfrm>
            <a:off x="686166" y="2578974"/>
            <a:ext cx="218724" cy="218724"/>
          </a:xfrm>
          <a:prstGeom prst="rect">
            <a:avLst/>
          </a:prstGeom>
        </p:spPr>
      </p:pic>
      <p:sp>
        <p:nvSpPr>
          <p:cNvPr id="27" name="Text 22"/>
          <p:cNvSpPr txBox="1"/>
          <p:nvPr/>
        </p:nvSpPr>
        <p:spPr>
          <a:xfrm>
            <a:off x="1143000" y="2432304"/>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Pin the model version</a:t>
            </a:r>
            <a:endParaRPr lang="en-US" sz="1250" dirty="0"/>
          </a:p>
        </p:txBody>
      </p:sp>
      <p:sp>
        <p:nvSpPr>
          <p:cNvPr id="28" name="Text 23"/>
          <p:cNvSpPr txBox="1"/>
          <p:nvPr/>
        </p:nvSpPr>
        <p:spPr>
          <a:xfrm>
            <a:off x="1143000" y="2679192"/>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Use the dated model identifier, and record it in the log.</a:t>
            </a:r>
            <a:endParaRPr lang="en-US" sz="1000" dirty="0"/>
          </a:p>
        </p:txBody>
      </p:sp>
      <p:sp>
        <p:nvSpPr>
          <p:cNvPr id="29" name="Shape 24"/>
          <p:cNvSpPr/>
          <p:nvPr/>
        </p:nvSpPr>
        <p:spPr>
          <a:xfrm>
            <a:off x="457200" y="3118104"/>
            <a:ext cx="4023360" cy="658368"/>
          </a:xfrm>
          <a:prstGeom prst="roundRect">
            <a:avLst>
              <a:gd name="adj" fmla="val 11111"/>
            </a:avLst>
          </a:prstGeom>
          <a:solidFill>
            <a:srgbClr val="F4F7F5"/>
          </a:solidFill>
          <a:ln w="9525">
            <a:solidFill>
              <a:srgbClr val="D5DED9"/>
            </a:solidFill>
            <a:prstDash val="solid"/>
          </a:ln>
        </p:spPr>
      </p:sp>
      <p:sp>
        <p:nvSpPr>
          <p:cNvPr id="30" name="Shape 25"/>
          <p:cNvSpPr/>
          <p:nvPr/>
        </p:nvSpPr>
        <p:spPr>
          <a:xfrm>
            <a:off x="585216" y="3236976"/>
            <a:ext cx="420624" cy="420624"/>
          </a:xfrm>
          <a:prstGeom prst="ellipse">
            <a:avLst/>
          </a:prstGeom>
          <a:solidFill>
            <a:srgbClr val="D49A00">
              <a:alpha val="22000"/>
            </a:srgbClr>
          </a:solidFill>
          <a:ln/>
        </p:spPr>
      </p:sp>
      <p:pic>
        <p:nvPicPr>
          <p:cNvPr id="31" name="Image 2" descr="preencoded.png"/>
          <p:cNvPicPr>
            <a:picLocks noChangeAspect="1"/>
          </p:cNvPicPr>
          <p:nvPr/>
        </p:nvPicPr>
        <p:blipFill>
          <a:blip r:embed="rId5"/>
          <a:stretch>
            <a:fillRect/>
          </a:stretch>
        </p:blipFill>
        <p:spPr>
          <a:xfrm>
            <a:off x="686166" y="3337926"/>
            <a:ext cx="218724" cy="218724"/>
          </a:xfrm>
          <a:prstGeom prst="rect">
            <a:avLst/>
          </a:prstGeom>
        </p:spPr>
      </p:pic>
      <p:sp>
        <p:nvSpPr>
          <p:cNvPr id="32" name="Text 26"/>
          <p:cNvSpPr txBox="1"/>
          <p:nvPr/>
        </p:nvSpPr>
        <p:spPr>
          <a:xfrm>
            <a:off x="1143000" y="3191256"/>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Cap the output</a:t>
            </a:r>
            <a:endParaRPr lang="en-US" sz="1250" dirty="0"/>
          </a:p>
        </p:txBody>
      </p:sp>
      <p:sp>
        <p:nvSpPr>
          <p:cNvPr id="33" name="Text 27"/>
          <p:cNvSpPr txBox="1"/>
          <p:nvPr/>
        </p:nvSpPr>
        <p:spPr>
          <a:xfrm>
            <a:off x="1143000" y="3438144"/>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Set max tokens and a word limit; long answers wander.</a:t>
            </a:r>
            <a:endParaRPr lang="en-US" sz="1000" dirty="0"/>
          </a:p>
        </p:txBody>
      </p:sp>
      <p:sp>
        <p:nvSpPr>
          <p:cNvPr id="34" name="Shape 28"/>
          <p:cNvSpPr/>
          <p:nvPr/>
        </p:nvSpPr>
        <p:spPr>
          <a:xfrm>
            <a:off x="4663440" y="1600200"/>
            <a:ext cx="4023360" cy="658368"/>
          </a:xfrm>
          <a:prstGeom prst="roundRect">
            <a:avLst>
              <a:gd name="adj" fmla="val 11111"/>
            </a:avLst>
          </a:prstGeom>
          <a:solidFill>
            <a:srgbClr val="F4F7F5"/>
          </a:solidFill>
          <a:ln w="9525">
            <a:solidFill>
              <a:srgbClr val="D5DED9"/>
            </a:solidFill>
            <a:prstDash val="solid"/>
          </a:ln>
        </p:spPr>
      </p:sp>
      <p:sp>
        <p:nvSpPr>
          <p:cNvPr id="35" name="Shape 29"/>
          <p:cNvSpPr/>
          <p:nvPr/>
        </p:nvSpPr>
        <p:spPr>
          <a:xfrm>
            <a:off x="4791456" y="1719072"/>
            <a:ext cx="420624" cy="420624"/>
          </a:xfrm>
          <a:prstGeom prst="ellipse">
            <a:avLst/>
          </a:prstGeom>
          <a:solidFill>
            <a:srgbClr val="D49A00">
              <a:alpha val="22000"/>
            </a:srgbClr>
          </a:solidFill>
          <a:ln/>
        </p:spPr>
      </p:sp>
      <p:pic>
        <p:nvPicPr>
          <p:cNvPr id="36" name="Image 3" descr="preencoded.png"/>
          <p:cNvPicPr>
            <a:picLocks noChangeAspect="1"/>
          </p:cNvPicPr>
          <p:nvPr/>
        </p:nvPicPr>
        <p:blipFill>
          <a:blip r:embed="rId6"/>
          <a:stretch>
            <a:fillRect/>
          </a:stretch>
        </p:blipFill>
        <p:spPr>
          <a:xfrm>
            <a:off x="4892406" y="1820022"/>
            <a:ext cx="218724" cy="218724"/>
          </a:xfrm>
          <a:prstGeom prst="rect">
            <a:avLst/>
          </a:prstGeom>
        </p:spPr>
      </p:pic>
      <p:sp>
        <p:nvSpPr>
          <p:cNvPr id="37" name="Text 30"/>
          <p:cNvSpPr txBox="1"/>
          <p:nvPr/>
        </p:nvSpPr>
        <p:spPr>
          <a:xfrm>
            <a:off x="5349240" y="1673352"/>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Constrain the format</a:t>
            </a:r>
            <a:endParaRPr lang="en-US" sz="1250" dirty="0"/>
          </a:p>
        </p:txBody>
      </p:sp>
      <p:sp>
        <p:nvSpPr>
          <p:cNvPr id="38" name="Text 31"/>
          <p:cNvSpPr txBox="1"/>
          <p:nvPr/>
        </p:nvSpPr>
        <p:spPr>
          <a:xfrm>
            <a:off x="5349240" y="1920240"/>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JSON schema with a closed list of allowed values.</a:t>
            </a:r>
            <a:endParaRPr lang="en-US" sz="1000" dirty="0"/>
          </a:p>
        </p:txBody>
      </p:sp>
      <p:sp>
        <p:nvSpPr>
          <p:cNvPr id="39" name="Shape 32"/>
          <p:cNvSpPr/>
          <p:nvPr/>
        </p:nvSpPr>
        <p:spPr>
          <a:xfrm>
            <a:off x="4663440" y="2359152"/>
            <a:ext cx="4023360" cy="658368"/>
          </a:xfrm>
          <a:prstGeom prst="roundRect">
            <a:avLst>
              <a:gd name="adj" fmla="val 11111"/>
            </a:avLst>
          </a:prstGeom>
          <a:solidFill>
            <a:srgbClr val="F4F7F5"/>
          </a:solidFill>
          <a:ln w="9525">
            <a:solidFill>
              <a:srgbClr val="D5DED9"/>
            </a:solidFill>
            <a:prstDash val="solid"/>
          </a:ln>
        </p:spPr>
      </p:sp>
      <p:sp>
        <p:nvSpPr>
          <p:cNvPr id="40" name="Shape 33"/>
          <p:cNvSpPr/>
          <p:nvPr/>
        </p:nvSpPr>
        <p:spPr>
          <a:xfrm>
            <a:off x="4791456" y="2478024"/>
            <a:ext cx="420624" cy="420624"/>
          </a:xfrm>
          <a:prstGeom prst="ellipse">
            <a:avLst/>
          </a:prstGeom>
          <a:solidFill>
            <a:srgbClr val="D49A00">
              <a:alpha val="22000"/>
            </a:srgbClr>
          </a:solidFill>
          <a:ln/>
        </p:spPr>
      </p:sp>
      <p:pic>
        <p:nvPicPr>
          <p:cNvPr id="41" name="Image 4" descr="preencoded.png"/>
          <p:cNvPicPr>
            <a:picLocks noChangeAspect="1"/>
          </p:cNvPicPr>
          <p:nvPr/>
        </p:nvPicPr>
        <p:blipFill>
          <a:blip r:embed="rId7"/>
          <a:stretch>
            <a:fillRect/>
          </a:stretch>
        </p:blipFill>
        <p:spPr>
          <a:xfrm>
            <a:off x="4892406" y="2578974"/>
            <a:ext cx="218724" cy="218724"/>
          </a:xfrm>
          <a:prstGeom prst="rect">
            <a:avLst/>
          </a:prstGeom>
        </p:spPr>
      </p:pic>
      <p:sp>
        <p:nvSpPr>
          <p:cNvPr id="42" name="Text 34"/>
          <p:cNvSpPr txBox="1"/>
          <p:nvPr/>
        </p:nvSpPr>
        <p:spPr>
          <a:xfrm>
            <a:off x="5349240" y="2432304"/>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Write tie-break rules</a:t>
            </a:r>
            <a:endParaRPr lang="en-US" sz="1250" dirty="0"/>
          </a:p>
        </p:txBody>
      </p:sp>
      <p:sp>
        <p:nvSpPr>
          <p:cNvPr id="43" name="Text 35"/>
          <p:cNvSpPr txBox="1"/>
          <p:nvPr/>
        </p:nvSpPr>
        <p:spPr>
          <a:xfrm>
            <a:off x="5349240" y="2679192"/>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“If two jobs, code the one with the most hours.”</a:t>
            </a:r>
            <a:endParaRPr lang="en-US" sz="1000" dirty="0"/>
          </a:p>
        </p:txBody>
      </p:sp>
      <p:sp>
        <p:nvSpPr>
          <p:cNvPr id="44" name="Shape 36"/>
          <p:cNvSpPr/>
          <p:nvPr/>
        </p:nvSpPr>
        <p:spPr>
          <a:xfrm>
            <a:off x="4663440" y="3118104"/>
            <a:ext cx="4023360" cy="658368"/>
          </a:xfrm>
          <a:prstGeom prst="roundRect">
            <a:avLst>
              <a:gd name="adj" fmla="val 11111"/>
            </a:avLst>
          </a:prstGeom>
          <a:solidFill>
            <a:srgbClr val="F4F7F5"/>
          </a:solidFill>
          <a:ln w="9525">
            <a:solidFill>
              <a:srgbClr val="D5DED9"/>
            </a:solidFill>
            <a:prstDash val="solid"/>
          </a:ln>
        </p:spPr>
      </p:sp>
      <p:sp>
        <p:nvSpPr>
          <p:cNvPr id="45" name="Shape 37"/>
          <p:cNvSpPr/>
          <p:nvPr/>
        </p:nvSpPr>
        <p:spPr>
          <a:xfrm>
            <a:off x="4791456" y="3236976"/>
            <a:ext cx="420624" cy="420624"/>
          </a:xfrm>
          <a:prstGeom prst="ellipse">
            <a:avLst/>
          </a:prstGeom>
          <a:solidFill>
            <a:srgbClr val="D49A00">
              <a:alpha val="22000"/>
            </a:srgbClr>
          </a:solidFill>
          <a:ln/>
        </p:spPr>
      </p:sp>
      <p:pic>
        <p:nvPicPr>
          <p:cNvPr id="46" name="Image 5" descr="preencoded.png"/>
          <p:cNvPicPr>
            <a:picLocks noChangeAspect="1"/>
          </p:cNvPicPr>
          <p:nvPr/>
        </p:nvPicPr>
        <p:blipFill>
          <a:blip r:embed="rId8"/>
          <a:stretch>
            <a:fillRect/>
          </a:stretch>
        </p:blipFill>
        <p:spPr>
          <a:xfrm>
            <a:off x="4892406" y="3337926"/>
            <a:ext cx="218724" cy="218724"/>
          </a:xfrm>
          <a:prstGeom prst="rect">
            <a:avLst/>
          </a:prstGeom>
        </p:spPr>
      </p:pic>
      <p:sp>
        <p:nvSpPr>
          <p:cNvPr id="47" name="Text 38"/>
          <p:cNvSpPr txBox="1"/>
          <p:nvPr/>
        </p:nvSpPr>
        <p:spPr>
          <a:xfrm>
            <a:off x="5349240" y="3191256"/>
            <a:ext cx="320040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Vote on hard cases</a:t>
            </a:r>
            <a:endParaRPr lang="en-US" sz="1250" dirty="0"/>
          </a:p>
        </p:txBody>
      </p:sp>
      <p:sp>
        <p:nvSpPr>
          <p:cNvPr id="48" name="Text 39"/>
          <p:cNvSpPr txBox="1"/>
          <p:nvPr/>
        </p:nvSpPr>
        <p:spPr>
          <a:xfrm>
            <a:off x="5349240" y="3438144"/>
            <a:ext cx="324612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Run 3–5 times, keep the majority, send disagreements to a human.</a:t>
            </a:r>
            <a:endParaRPr lang="en-US" sz="1000" dirty="0"/>
          </a:p>
        </p:txBody>
      </p:sp>
      <p:sp>
        <p:nvSpPr>
          <p:cNvPr id="49" name="Shape 40"/>
          <p:cNvSpPr/>
          <p:nvPr/>
        </p:nvSpPr>
        <p:spPr>
          <a:xfrm>
            <a:off x="457200" y="3959352"/>
            <a:ext cx="8229600" cy="548640"/>
          </a:xfrm>
          <a:prstGeom prst="roundRect">
            <a:avLst>
              <a:gd name="adj" fmla="val 10000"/>
            </a:avLst>
          </a:prstGeom>
          <a:solidFill>
            <a:srgbClr val="D49A00">
              <a:alpha val="13000"/>
            </a:srgbClr>
          </a:solidFill>
          <a:ln w="12700">
            <a:solidFill>
              <a:srgbClr val="D49A00"/>
            </a:solidFill>
            <a:prstDash val="solid"/>
          </a:ln>
        </p:spPr>
      </p:sp>
      <p:pic>
        <p:nvPicPr>
          <p:cNvPr id="50" name="Image 6" descr="preencoded.png"/>
          <p:cNvPicPr>
            <a:picLocks noChangeAspect="1"/>
          </p:cNvPicPr>
          <p:nvPr/>
        </p:nvPicPr>
        <p:blipFill>
          <a:blip r:embed="rId9"/>
          <a:stretch>
            <a:fillRect/>
          </a:stretch>
        </p:blipFill>
        <p:spPr>
          <a:xfrm>
            <a:off x="621792" y="4114800"/>
            <a:ext cx="256032" cy="237744"/>
          </a:xfrm>
          <a:prstGeom prst="rect">
            <a:avLst/>
          </a:prstGeom>
        </p:spPr>
      </p:pic>
      <p:sp>
        <p:nvSpPr>
          <p:cNvPr id="51" name="Text 41"/>
          <p:cNvSpPr txBox="1"/>
          <p:nvPr/>
        </p:nvSpPr>
        <p:spPr>
          <a:xfrm>
            <a:off x="1005840" y="3959352"/>
            <a:ext cx="7589520" cy="548640"/>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Temperature 0 reduces randomness; it does not guarantee identical outputs. </a:t>
            </a:r>
            <a:r>
              <a:rPr lang="en-US" sz="1150" dirty="0">
                <a:solidFill>
                  <a:srgbClr val="231F20"/>
                </a:solidFill>
                <a:latin typeface="Calibri" pitchFamily="34" charset="0"/>
                <a:ea typeface="Calibri" pitchFamily="34" charset="-122"/>
                <a:cs typeface="Calibri" pitchFamily="34" charset="-120"/>
              </a:rPr>
              <a:t>Always measure agreement on your evaluation set.</a:t>
            </a:r>
            <a:endParaRPr lang="en-US" sz="1150" dirty="0"/>
          </a:p>
        </p:txBody>
      </p:sp>
      <p:sp>
        <p:nvSpPr>
          <p:cNvPr id="52" name="Text 42"/>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Self-consistency: Wang et al. (2022), “Self-Consistency Improves Chain of Thought Reasoning in Language Models”, arXiv:2203.11171.</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5 OF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05</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Context, tokens and cost</a:t>
            </a:r>
            <a:endParaRPr lang="en-US" sz="36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What would it cost to code 100,000 survey answers?</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FFFFF">
              <a:alpha val="40000"/>
            </a:srgbClr>
          </a:solidFill>
          <a:ln/>
        </p:spPr>
      </p:sp>
      <p:sp>
        <p:nvSpPr>
          <p:cNvPr id="11" name="Shape 8"/>
          <p:cNvSpPr/>
          <p:nvPr/>
        </p:nvSpPr>
        <p:spPr>
          <a:xfrm>
            <a:off x="7818120" y="365760"/>
            <a:ext cx="100584" cy="100584"/>
          </a:xfrm>
          <a:prstGeom prst="ellipse">
            <a:avLst/>
          </a:prstGeom>
          <a:solidFill>
            <a:srgbClr val="FFFFFF">
              <a:alpha val="40000"/>
            </a:srgbClr>
          </a:solidFill>
          <a:ln/>
        </p:spPr>
      </p:sp>
      <p:sp>
        <p:nvSpPr>
          <p:cNvPr id="12" name="Shape 9"/>
          <p:cNvSpPr/>
          <p:nvPr/>
        </p:nvSpPr>
        <p:spPr>
          <a:xfrm>
            <a:off x="8001000" y="365760"/>
            <a:ext cx="100584" cy="100584"/>
          </a:xfrm>
          <a:prstGeom prst="ellipse">
            <a:avLst/>
          </a:prstGeom>
          <a:solidFill>
            <a:srgbClr val="FFFFFF">
              <a:alpha val="40000"/>
            </a:srgbClr>
          </a:solidFill>
          <a:ln/>
        </p:spPr>
      </p:sp>
      <p:sp>
        <p:nvSpPr>
          <p:cNvPr id="13" name="Shape 10"/>
          <p:cNvSpPr/>
          <p:nvPr/>
        </p:nvSpPr>
        <p:spPr>
          <a:xfrm>
            <a:off x="8183880" y="365760"/>
            <a:ext cx="100584" cy="100584"/>
          </a:xfrm>
          <a:prstGeom prst="ellipse">
            <a:avLst/>
          </a:prstGeom>
          <a:solidFill>
            <a:srgbClr val="FFFFFF">
              <a:alpha val="40000"/>
            </a:srgbClr>
          </a:solidFill>
          <a:ln/>
        </p:spPr>
      </p:sp>
      <p:sp>
        <p:nvSpPr>
          <p:cNvPr id="14" name="Shape 11"/>
          <p:cNvSpPr/>
          <p:nvPr/>
        </p:nvSpPr>
        <p:spPr>
          <a:xfrm>
            <a:off x="8366760" y="365760"/>
            <a:ext cx="100584" cy="100584"/>
          </a:xfrm>
          <a:prstGeom prst="ellipse">
            <a:avLst/>
          </a:prstGeom>
          <a:solidFill>
            <a:srgbClr val="F5C242"/>
          </a:solidFill>
          <a:ln/>
        </p:spPr>
      </p:sp>
      <p:sp>
        <p:nvSpPr>
          <p:cNvPr id="15" name="Shape 12"/>
          <p:cNvSpPr/>
          <p:nvPr/>
        </p:nvSpPr>
        <p:spPr>
          <a:xfrm>
            <a:off x="8549640" y="365760"/>
            <a:ext cx="100584" cy="100584"/>
          </a:xfrm>
          <a:prstGeom prst="ellipse">
            <a:avLst/>
          </a:prstGeom>
          <a:solidFill>
            <a:srgbClr val="FFFFFF">
              <a:alpha val="40000"/>
            </a:srgbClr>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19</a:t>
            </a:r>
            <a:endParaRPr lang="en-US" sz="8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CONTEXT, TOKENS &amp; COST</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Tokens: the unit of context and of cost</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C4621D"/>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325880"/>
            <a:ext cx="8229600" cy="1097280"/>
          </a:xfrm>
          <a:prstGeom prst="roundRect">
            <a:avLst>
              <a:gd name="adj" fmla="val 6667"/>
            </a:avLst>
          </a:prstGeom>
          <a:solidFill>
            <a:srgbClr val="FFFFFF"/>
          </a:solidFill>
          <a:ln w="9525">
            <a:solidFill>
              <a:srgbClr val="D5DED9"/>
            </a:solidFill>
            <a:prstDash val="solid"/>
          </a:ln>
        </p:spPr>
      </p:sp>
      <p:sp>
        <p:nvSpPr>
          <p:cNvPr id="18" name="Text 15"/>
          <p:cNvSpPr txBox="1"/>
          <p:nvPr/>
        </p:nvSpPr>
        <p:spPr>
          <a:xfrm>
            <a:off x="640080" y="1417320"/>
            <a:ext cx="5486400" cy="201168"/>
          </a:xfrm>
          <a:prstGeom prst="rect">
            <a:avLst/>
          </a:prstGeom>
          <a:noFill/>
          <a:ln/>
        </p:spPr>
        <p:txBody>
          <a:bodyPr wrap="square" lIns="0" tIns="0" rIns="0" bIns="0" rtlCol="0" anchor="t"/>
          <a:lstStyle/>
          <a:p>
            <a:pPr marL="0" indent="0">
              <a:buNone/>
            </a:pPr>
            <a:r>
              <a:rPr lang="en-US" sz="1000" b="1" kern="0" spc="100" dirty="0">
                <a:solidFill>
                  <a:srgbClr val="C4621D"/>
                </a:solidFill>
                <a:latin typeface="Calibri" pitchFamily="34" charset="0"/>
                <a:ea typeface="Calibri" pitchFamily="34" charset="-122"/>
                <a:cs typeface="Calibri" pitchFamily="34" charset="-120"/>
              </a:rPr>
              <a:t>HOW A MODEL READS A SENTENCE (ILLUSTRATIVE SPLIT)</a:t>
            </a:r>
            <a:endParaRPr lang="en-US" sz="1000" dirty="0"/>
          </a:p>
        </p:txBody>
      </p:sp>
      <p:sp>
        <p:nvSpPr>
          <p:cNvPr id="19" name="Shape 16"/>
          <p:cNvSpPr/>
          <p:nvPr/>
        </p:nvSpPr>
        <p:spPr>
          <a:xfrm>
            <a:off x="640080" y="1755648"/>
            <a:ext cx="416052" cy="384048"/>
          </a:xfrm>
          <a:prstGeom prst="roundRect">
            <a:avLst>
              <a:gd name="adj" fmla="val 11905"/>
            </a:avLst>
          </a:prstGeom>
          <a:solidFill>
            <a:srgbClr val="9ED9C0"/>
          </a:solidFill>
          <a:ln/>
        </p:spPr>
      </p:sp>
      <p:sp>
        <p:nvSpPr>
          <p:cNvPr id="20" name="Text 17"/>
          <p:cNvSpPr txBox="1"/>
          <p:nvPr/>
        </p:nvSpPr>
        <p:spPr>
          <a:xfrm>
            <a:off x="640080" y="1755648"/>
            <a:ext cx="416052"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The</a:t>
            </a:r>
            <a:endParaRPr lang="en-US" sz="1200" dirty="0"/>
          </a:p>
        </p:txBody>
      </p:sp>
      <p:sp>
        <p:nvSpPr>
          <p:cNvPr id="21" name="Shape 18"/>
          <p:cNvSpPr/>
          <p:nvPr/>
        </p:nvSpPr>
        <p:spPr>
          <a:xfrm>
            <a:off x="1110996" y="1755648"/>
            <a:ext cx="882396" cy="384048"/>
          </a:xfrm>
          <a:prstGeom prst="roundRect">
            <a:avLst>
              <a:gd name="adj" fmla="val 11905"/>
            </a:avLst>
          </a:prstGeom>
          <a:solidFill>
            <a:srgbClr val="F6DFC9"/>
          </a:solidFill>
          <a:ln/>
        </p:spPr>
      </p:sp>
      <p:sp>
        <p:nvSpPr>
          <p:cNvPr id="22" name="Text 19"/>
          <p:cNvSpPr txBox="1"/>
          <p:nvPr/>
        </p:nvSpPr>
        <p:spPr>
          <a:xfrm>
            <a:off x="1110996" y="1755648"/>
            <a:ext cx="882396"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consumer</a:t>
            </a:r>
            <a:endParaRPr lang="en-US" sz="1200" dirty="0"/>
          </a:p>
        </p:txBody>
      </p:sp>
      <p:sp>
        <p:nvSpPr>
          <p:cNvPr id="23" name="Shape 20"/>
          <p:cNvSpPr/>
          <p:nvPr/>
        </p:nvSpPr>
        <p:spPr>
          <a:xfrm>
            <a:off x="2048256" y="1755648"/>
            <a:ext cx="649224" cy="384048"/>
          </a:xfrm>
          <a:prstGeom prst="roundRect">
            <a:avLst>
              <a:gd name="adj" fmla="val 11905"/>
            </a:avLst>
          </a:prstGeom>
          <a:solidFill>
            <a:srgbClr val="CFE7EA"/>
          </a:solidFill>
          <a:ln/>
        </p:spPr>
      </p:sp>
      <p:sp>
        <p:nvSpPr>
          <p:cNvPr id="24" name="Text 21"/>
          <p:cNvSpPr txBox="1"/>
          <p:nvPr/>
        </p:nvSpPr>
        <p:spPr>
          <a:xfrm>
            <a:off x="2048256" y="1755648"/>
            <a:ext cx="64922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price</a:t>
            </a:r>
            <a:endParaRPr lang="en-US" sz="1200" dirty="0"/>
          </a:p>
        </p:txBody>
      </p:sp>
      <p:sp>
        <p:nvSpPr>
          <p:cNvPr id="25" name="Shape 22"/>
          <p:cNvSpPr/>
          <p:nvPr/>
        </p:nvSpPr>
        <p:spPr>
          <a:xfrm>
            <a:off x="2752344" y="1755648"/>
            <a:ext cx="649224" cy="384048"/>
          </a:xfrm>
          <a:prstGeom prst="roundRect">
            <a:avLst>
              <a:gd name="adj" fmla="val 11905"/>
            </a:avLst>
          </a:prstGeom>
          <a:solidFill>
            <a:srgbClr val="F9E7B4"/>
          </a:solidFill>
          <a:ln/>
        </p:spPr>
      </p:sp>
      <p:sp>
        <p:nvSpPr>
          <p:cNvPr id="26" name="Text 23"/>
          <p:cNvSpPr txBox="1"/>
          <p:nvPr/>
        </p:nvSpPr>
        <p:spPr>
          <a:xfrm>
            <a:off x="2752344" y="1755648"/>
            <a:ext cx="64922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index</a:t>
            </a:r>
            <a:endParaRPr lang="en-US" sz="1200" dirty="0"/>
          </a:p>
        </p:txBody>
      </p:sp>
      <p:sp>
        <p:nvSpPr>
          <p:cNvPr id="27" name="Shape 24"/>
          <p:cNvSpPr/>
          <p:nvPr/>
        </p:nvSpPr>
        <p:spPr>
          <a:xfrm>
            <a:off x="3456432" y="1755648"/>
            <a:ext cx="571500" cy="384048"/>
          </a:xfrm>
          <a:prstGeom prst="roundRect">
            <a:avLst>
              <a:gd name="adj" fmla="val 11905"/>
            </a:avLst>
          </a:prstGeom>
          <a:solidFill>
            <a:srgbClr val="9ED9C0"/>
          </a:solidFill>
          <a:ln/>
        </p:spPr>
      </p:sp>
      <p:sp>
        <p:nvSpPr>
          <p:cNvPr id="28" name="Text 25"/>
          <p:cNvSpPr txBox="1"/>
          <p:nvPr/>
        </p:nvSpPr>
        <p:spPr>
          <a:xfrm>
            <a:off x="3456432" y="1755648"/>
            <a:ext cx="571500"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rose</a:t>
            </a:r>
            <a:endParaRPr lang="en-US" sz="1200" dirty="0"/>
          </a:p>
        </p:txBody>
      </p:sp>
      <p:sp>
        <p:nvSpPr>
          <p:cNvPr id="29" name="Shape 26"/>
          <p:cNvSpPr/>
          <p:nvPr/>
        </p:nvSpPr>
        <p:spPr>
          <a:xfrm>
            <a:off x="4082796" y="1755648"/>
            <a:ext cx="338328" cy="384048"/>
          </a:xfrm>
          <a:prstGeom prst="roundRect">
            <a:avLst>
              <a:gd name="adj" fmla="val 13514"/>
            </a:avLst>
          </a:prstGeom>
          <a:solidFill>
            <a:srgbClr val="F6DFC9"/>
          </a:solidFill>
          <a:ln/>
        </p:spPr>
      </p:sp>
      <p:sp>
        <p:nvSpPr>
          <p:cNvPr id="30" name="Text 27"/>
          <p:cNvSpPr txBox="1"/>
          <p:nvPr/>
        </p:nvSpPr>
        <p:spPr>
          <a:xfrm>
            <a:off x="4082796" y="1755648"/>
            <a:ext cx="338328"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2</a:t>
            </a:r>
            <a:endParaRPr lang="en-US" sz="1200" dirty="0"/>
          </a:p>
        </p:txBody>
      </p:sp>
      <p:sp>
        <p:nvSpPr>
          <p:cNvPr id="31" name="Shape 28"/>
          <p:cNvSpPr/>
          <p:nvPr/>
        </p:nvSpPr>
        <p:spPr>
          <a:xfrm>
            <a:off x="4475988" y="1755648"/>
            <a:ext cx="260604" cy="384048"/>
          </a:xfrm>
          <a:prstGeom prst="roundRect">
            <a:avLst>
              <a:gd name="adj" fmla="val 17544"/>
            </a:avLst>
          </a:prstGeom>
          <a:solidFill>
            <a:srgbClr val="CFE7EA"/>
          </a:solidFill>
          <a:ln/>
        </p:spPr>
      </p:sp>
      <p:sp>
        <p:nvSpPr>
          <p:cNvPr id="32" name="Text 29"/>
          <p:cNvSpPr txBox="1"/>
          <p:nvPr/>
        </p:nvSpPr>
        <p:spPr>
          <a:xfrm>
            <a:off x="4475988" y="1755648"/>
            <a:ext cx="26060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a:t>
            </a:r>
            <a:endParaRPr lang="en-US" sz="1200" dirty="0"/>
          </a:p>
        </p:txBody>
      </p:sp>
      <p:sp>
        <p:nvSpPr>
          <p:cNvPr id="33" name="Shape 30"/>
          <p:cNvSpPr/>
          <p:nvPr/>
        </p:nvSpPr>
        <p:spPr>
          <a:xfrm>
            <a:off x="4791456" y="1755648"/>
            <a:ext cx="260604" cy="384048"/>
          </a:xfrm>
          <a:prstGeom prst="roundRect">
            <a:avLst>
              <a:gd name="adj" fmla="val 17544"/>
            </a:avLst>
          </a:prstGeom>
          <a:solidFill>
            <a:srgbClr val="F9E7B4"/>
          </a:solidFill>
          <a:ln/>
        </p:spPr>
      </p:sp>
      <p:sp>
        <p:nvSpPr>
          <p:cNvPr id="34" name="Text 31"/>
          <p:cNvSpPr txBox="1"/>
          <p:nvPr/>
        </p:nvSpPr>
        <p:spPr>
          <a:xfrm>
            <a:off x="4791456" y="1755648"/>
            <a:ext cx="26060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4</a:t>
            </a:r>
            <a:endParaRPr lang="en-US" sz="1200" dirty="0"/>
          </a:p>
        </p:txBody>
      </p:sp>
      <p:sp>
        <p:nvSpPr>
          <p:cNvPr id="35" name="Shape 32"/>
          <p:cNvSpPr/>
          <p:nvPr/>
        </p:nvSpPr>
        <p:spPr>
          <a:xfrm>
            <a:off x="5106924" y="1755648"/>
            <a:ext cx="260604" cy="384048"/>
          </a:xfrm>
          <a:prstGeom prst="roundRect">
            <a:avLst>
              <a:gd name="adj" fmla="val 17544"/>
            </a:avLst>
          </a:prstGeom>
          <a:solidFill>
            <a:srgbClr val="9ED9C0"/>
          </a:solidFill>
          <a:ln/>
        </p:spPr>
      </p:sp>
      <p:sp>
        <p:nvSpPr>
          <p:cNvPr id="36" name="Text 33"/>
          <p:cNvSpPr txBox="1"/>
          <p:nvPr/>
        </p:nvSpPr>
        <p:spPr>
          <a:xfrm>
            <a:off x="5106924" y="1755648"/>
            <a:ext cx="260604"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a:t>
            </a:r>
            <a:endParaRPr lang="en-US" sz="1200" dirty="0"/>
          </a:p>
        </p:txBody>
      </p:sp>
      <p:sp>
        <p:nvSpPr>
          <p:cNvPr id="37" name="Shape 34"/>
          <p:cNvSpPr/>
          <p:nvPr/>
        </p:nvSpPr>
        <p:spPr>
          <a:xfrm>
            <a:off x="5422392" y="1755648"/>
            <a:ext cx="416052" cy="384048"/>
          </a:xfrm>
          <a:prstGeom prst="roundRect">
            <a:avLst>
              <a:gd name="adj" fmla="val 11905"/>
            </a:avLst>
          </a:prstGeom>
          <a:solidFill>
            <a:srgbClr val="F6DFC9"/>
          </a:solidFill>
          <a:ln/>
        </p:spPr>
      </p:sp>
      <p:sp>
        <p:nvSpPr>
          <p:cNvPr id="38" name="Text 35"/>
          <p:cNvSpPr txBox="1"/>
          <p:nvPr/>
        </p:nvSpPr>
        <p:spPr>
          <a:xfrm>
            <a:off x="5422392" y="1755648"/>
            <a:ext cx="416052"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in</a:t>
            </a:r>
            <a:endParaRPr lang="en-US" sz="1200" dirty="0"/>
          </a:p>
        </p:txBody>
      </p:sp>
      <p:sp>
        <p:nvSpPr>
          <p:cNvPr id="39" name="Shape 36"/>
          <p:cNvSpPr/>
          <p:nvPr/>
        </p:nvSpPr>
        <p:spPr>
          <a:xfrm>
            <a:off x="5893308" y="1755648"/>
            <a:ext cx="571500" cy="384048"/>
          </a:xfrm>
          <a:prstGeom prst="roundRect">
            <a:avLst>
              <a:gd name="adj" fmla="val 11905"/>
            </a:avLst>
          </a:prstGeom>
          <a:solidFill>
            <a:srgbClr val="CFE7EA"/>
          </a:solidFill>
          <a:ln/>
        </p:spPr>
      </p:sp>
      <p:sp>
        <p:nvSpPr>
          <p:cNvPr id="40" name="Text 37"/>
          <p:cNvSpPr txBox="1"/>
          <p:nvPr/>
        </p:nvSpPr>
        <p:spPr>
          <a:xfrm>
            <a:off x="5893308" y="1755648"/>
            <a:ext cx="571500" cy="384048"/>
          </a:xfrm>
          <a:prstGeom prst="rect">
            <a:avLst/>
          </a:prstGeom>
          <a:noFill/>
          <a:ln/>
        </p:spPr>
        <p:txBody>
          <a:bodyPr wrap="square" lIns="0" tIns="0" rIns="0" bIns="0" rtlCol="0" anchor="ctr"/>
          <a:lstStyle/>
          <a:p>
            <a:pPr marL="0" indent="0" algn="ctr">
              <a:buNone/>
            </a:pPr>
            <a:r>
              <a:rPr lang="en-US" sz="1200" dirty="0">
                <a:solidFill>
                  <a:srgbClr val="231F20"/>
                </a:solidFill>
                <a:latin typeface="Courier New" pitchFamily="34" charset="0"/>
                <a:ea typeface="Courier New" pitchFamily="34" charset="-122"/>
                <a:cs typeface="Courier New" pitchFamily="34" charset="-120"/>
              </a:rPr>
              <a:t>June</a:t>
            </a:r>
            <a:endParaRPr lang="en-US" sz="1200" dirty="0"/>
          </a:p>
        </p:txBody>
      </p:sp>
      <p:sp>
        <p:nvSpPr>
          <p:cNvPr id="41" name="Text 38"/>
          <p:cNvSpPr txBox="1"/>
          <p:nvPr/>
        </p:nvSpPr>
        <p:spPr>
          <a:xfrm>
            <a:off x="7406640" y="1755648"/>
            <a:ext cx="1143000" cy="384048"/>
          </a:xfrm>
          <a:prstGeom prst="rect">
            <a:avLst/>
          </a:prstGeom>
          <a:noFill/>
          <a:ln/>
        </p:spPr>
        <p:txBody>
          <a:bodyPr wrap="square" lIns="0" tIns="0" rIns="0" bIns="0" rtlCol="0" anchor="ctr"/>
          <a:lstStyle/>
          <a:p>
            <a:pPr marL="0" indent="0" algn="r">
              <a:buNone/>
            </a:pPr>
            <a:r>
              <a:rPr lang="en-US" sz="1800" b="1" dirty="0">
                <a:solidFill>
                  <a:srgbClr val="C4621D"/>
                </a:solidFill>
                <a:latin typeface="Calibri" pitchFamily="34" charset="0"/>
                <a:ea typeface="Calibri" pitchFamily="34" charset="-122"/>
                <a:cs typeface="Calibri" pitchFamily="34" charset="-120"/>
              </a:rPr>
              <a:t>11 tokens</a:t>
            </a:r>
            <a:endParaRPr lang="en-US" sz="1800" dirty="0"/>
          </a:p>
        </p:txBody>
      </p:sp>
      <p:sp>
        <p:nvSpPr>
          <p:cNvPr id="42" name="Shape 39"/>
          <p:cNvSpPr/>
          <p:nvPr/>
        </p:nvSpPr>
        <p:spPr>
          <a:xfrm>
            <a:off x="457200" y="2606040"/>
            <a:ext cx="2651760" cy="1143000"/>
          </a:xfrm>
          <a:prstGeom prst="roundRect">
            <a:avLst>
              <a:gd name="adj" fmla="val 6400"/>
            </a:avLst>
          </a:prstGeom>
          <a:solidFill>
            <a:srgbClr val="F4F7F5"/>
          </a:solidFill>
          <a:ln w="9525">
            <a:solidFill>
              <a:srgbClr val="D5DED9"/>
            </a:solidFill>
            <a:prstDash val="solid"/>
          </a:ln>
        </p:spPr>
      </p:sp>
      <p:sp>
        <p:nvSpPr>
          <p:cNvPr id="43" name="Text 40"/>
          <p:cNvSpPr txBox="1"/>
          <p:nvPr/>
        </p:nvSpPr>
        <p:spPr>
          <a:xfrm>
            <a:off x="621792" y="2679192"/>
            <a:ext cx="237744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 4</a:t>
            </a:r>
            <a:endParaRPr lang="en-US" sz="3000" dirty="0"/>
          </a:p>
        </p:txBody>
      </p:sp>
      <p:sp>
        <p:nvSpPr>
          <p:cNvPr id="44" name="Text 41"/>
          <p:cNvSpPr txBox="1"/>
          <p:nvPr/>
        </p:nvSpPr>
        <p:spPr>
          <a:xfrm>
            <a:off x="621792" y="3136392"/>
            <a:ext cx="2377440" cy="20116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characters per token</a:t>
            </a:r>
            <a:endParaRPr lang="en-US" sz="1150" dirty="0"/>
          </a:p>
        </p:txBody>
      </p:sp>
      <p:sp>
        <p:nvSpPr>
          <p:cNvPr id="45" name="Text 42"/>
          <p:cNvSpPr txBox="1"/>
          <p:nvPr/>
        </p:nvSpPr>
        <p:spPr>
          <a:xfrm>
            <a:off x="621792" y="3346704"/>
            <a:ext cx="2377440" cy="38404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in English, or about ¾ of a word (OpenAI rule of thumb).</a:t>
            </a:r>
            <a:endParaRPr lang="en-US" sz="950" dirty="0"/>
          </a:p>
        </p:txBody>
      </p:sp>
      <p:sp>
        <p:nvSpPr>
          <p:cNvPr id="46" name="Shape 43"/>
          <p:cNvSpPr/>
          <p:nvPr/>
        </p:nvSpPr>
        <p:spPr>
          <a:xfrm>
            <a:off x="3246120" y="2606040"/>
            <a:ext cx="2651760" cy="1143000"/>
          </a:xfrm>
          <a:prstGeom prst="roundRect">
            <a:avLst>
              <a:gd name="adj" fmla="val 6400"/>
            </a:avLst>
          </a:prstGeom>
          <a:solidFill>
            <a:srgbClr val="F4F7F5"/>
          </a:solidFill>
          <a:ln w="9525">
            <a:solidFill>
              <a:srgbClr val="D5DED9"/>
            </a:solidFill>
            <a:prstDash val="solid"/>
          </a:ln>
        </p:spPr>
      </p:sp>
      <p:sp>
        <p:nvSpPr>
          <p:cNvPr id="47" name="Text 44"/>
          <p:cNvSpPr txBox="1"/>
          <p:nvPr/>
        </p:nvSpPr>
        <p:spPr>
          <a:xfrm>
            <a:off x="3410712" y="2679192"/>
            <a:ext cx="237744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More</a:t>
            </a:r>
            <a:endParaRPr lang="en-US" sz="3000" dirty="0"/>
          </a:p>
        </p:txBody>
      </p:sp>
      <p:sp>
        <p:nvSpPr>
          <p:cNvPr id="48" name="Text 45"/>
          <p:cNvSpPr txBox="1"/>
          <p:nvPr/>
        </p:nvSpPr>
        <p:spPr>
          <a:xfrm>
            <a:off x="3410712" y="3136392"/>
            <a:ext cx="2377440" cy="20116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tokens per word</a:t>
            </a:r>
            <a:endParaRPr lang="en-US" sz="1150" dirty="0"/>
          </a:p>
        </p:txBody>
      </p:sp>
      <p:sp>
        <p:nvSpPr>
          <p:cNvPr id="49" name="Text 46"/>
          <p:cNvSpPr txBox="1"/>
          <p:nvPr/>
        </p:nvSpPr>
        <p:spPr>
          <a:xfrm>
            <a:off x="3410712" y="3346704"/>
            <a:ext cx="2377440" cy="38404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in many languages other than English: budget extra.</a:t>
            </a:r>
            <a:endParaRPr lang="en-US" sz="950" dirty="0"/>
          </a:p>
        </p:txBody>
      </p:sp>
      <p:sp>
        <p:nvSpPr>
          <p:cNvPr id="50" name="Shape 47"/>
          <p:cNvSpPr/>
          <p:nvPr/>
        </p:nvSpPr>
        <p:spPr>
          <a:xfrm>
            <a:off x="6035040" y="2606040"/>
            <a:ext cx="2651760" cy="1143000"/>
          </a:xfrm>
          <a:prstGeom prst="roundRect">
            <a:avLst>
              <a:gd name="adj" fmla="val 6400"/>
            </a:avLst>
          </a:prstGeom>
          <a:solidFill>
            <a:srgbClr val="F4F7F5"/>
          </a:solidFill>
          <a:ln w="9525">
            <a:solidFill>
              <a:srgbClr val="D5DED9"/>
            </a:solidFill>
            <a:prstDash val="solid"/>
          </a:ln>
        </p:spPr>
      </p:sp>
      <p:sp>
        <p:nvSpPr>
          <p:cNvPr id="51" name="Text 48"/>
          <p:cNvSpPr txBox="1"/>
          <p:nvPr/>
        </p:nvSpPr>
        <p:spPr>
          <a:xfrm>
            <a:off x="6199632" y="2679192"/>
            <a:ext cx="237744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In + Out</a:t>
            </a:r>
            <a:endParaRPr lang="en-US" sz="3000" dirty="0"/>
          </a:p>
        </p:txBody>
      </p:sp>
      <p:sp>
        <p:nvSpPr>
          <p:cNvPr id="52" name="Text 49"/>
          <p:cNvSpPr txBox="1"/>
          <p:nvPr/>
        </p:nvSpPr>
        <p:spPr>
          <a:xfrm>
            <a:off x="6199632" y="3136392"/>
            <a:ext cx="2377440" cy="20116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both are billed</a:t>
            </a:r>
            <a:endParaRPr lang="en-US" sz="1150" dirty="0"/>
          </a:p>
        </p:txBody>
      </p:sp>
      <p:sp>
        <p:nvSpPr>
          <p:cNvPr id="53" name="Text 50"/>
          <p:cNvSpPr txBox="1"/>
          <p:nvPr/>
        </p:nvSpPr>
        <p:spPr>
          <a:xfrm>
            <a:off x="6199632" y="3346704"/>
            <a:ext cx="2377440" cy="38404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and output tokens are usually priced higher than input tokens.</a:t>
            </a:r>
            <a:endParaRPr lang="en-US" sz="950" dirty="0"/>
          </a:p>
        </p:txBody>
      </p:sp>
      <p:sp>
        <p:nvSpPr>
          <p:cNvPr id="54" name="Shape 51"/>
          <p:cNvSpPr/>
          <p:nvPr/>
        </p:nvSpPr>
        <p:spPr>
          <a:xfrm>
            <a:off x="457200" y="3886200"/>
            <a:ext cx="8229600" cy="594360"/>
          </a:xfrm>
          <a:prstGeom prst="roundRect">
            <a:avLst>
              <a:gd name="adj" fmla="val 12308"/>
            </a:avLst>
          </a:prstGeom>
          <a:solidFill>
            <a:srgbClr val="E8F5EF"/>
          </a:solidFill>
          <a:ln w="15875">
            <a:solidFill>
              <a:srgbClr val="C4621D"/>
            </a:solidFill>
            <a:prstDash val="solid"/>
          </a:ln>
        </p:spPr>
      </p:sp>
      <p:sp>
        <p:nvSpPr>
          <p:cNvPr id="55" name="Text 52"/>
          <p:cNvSpPr txBox="1"/>
          <p:nvPr/>
        </p:nvSpPr>
        <p:spPr>
          <a:xfrm>
            <a:off x="640080" y="3886200"/>
            <a:ext cx="7955280" cy="59436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Cost  =  </a:t>
            </a:r>
            <a:r>
              <a:rPr lang="en-US" sz="1100" dirty="0">
                <a:solidFill>
                  <a:srgbClr val="231F20"/>
                </a:solidFill>
                <a:latin typeface="Courier New" pitchFamily="34" charset="0"/>
                <a:ea typeface="Courier New" pitchFamily="34" charset="-122"/>
                <a:cs typeface="Courier New" pitchFamily="34" charset="-120"/>
              </a:rPr>
              <a:t>input tokens × input price  +  output tokens × output price</a:t>
            </a:r>
            <a:endParaRPr lang="en-US" sz="1100" dirty="0"/>
          </a:p>
          <a:p>
            <a:pPr marL="0" indent="0">
              <a:buNone/>
            </a:pPr>
            <a:r>
              <a:rPr lang="en-US" sz="1100" b="1" dirty="0">
                <a:solidFill>
                  <a:srgbClr val="C4621D"/>
                </a:solidFill>
                <a:latin typeface="Calibri" pitchFamily="34" charset="0"/>
                <a:ea typeface="Calibri" pitchFamily="34" charset="-122"/>
                <a:cs typeface="Calibri" pitchFamily="34" charset="-120"/>
              </a:rPr>
              <a:t>Context window  ≥  instructions + examples + document + answer</a:t>
            </a:r>
            <a:endParaRPr lang="en-US" sz="1100" dirty="0"/>
          </a:p>
        </p:txBody>
      </p:sp>
      <p:sp>
        <p:nvSpPr>
          <p:cNvPr id="56" name="Text 53"/>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OpenAI Help Center, “What are tokens and how to count them?”; Petrov et al. (2023), NeurIPS.</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CONTEXT, TOKENS &amp; COST</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Worked example: coding 100,000 job descriptions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C4621D"/>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graphicFrame>
        <p:nvGraphicFramePr>
          <p:cNvPr id="17" name="Chart 0"/>
          <p:cNvGraphicFramePr/>
          <p:nvPr/>
        </p:nvGraphicFramePr>
        <p:xfrm>
          <a:off x="457200" y="132588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4"/>
          <p:cNvSpPr/>
          <p:nvPr/>
        </p:nvSpPr>
        <p:spPr>
          <a:xfrm>
            <a:off x="5257800" y="1325880"/>
            <a:ext cx="3429000" cy="2743200"/>
          </a:xfrm>
          <a:prstGeom prst="roundRect">
            <a:avLst>
              <a:gd name="adj" fmla="val 2667"/>
            </a:avLst>
          </a:prstGeom>
          <a:solidFill>
            <a:srgbClr val="F4F7F5"/>
          </a:solidFill>
          <a:ln w="9525">
            <a:solidFill>
              <a:srgbClr val="D5DED9"/>
            </a:solidFill>
            <a:prstDash val="solid"/>
          </a:ln>
        </p:spPr>
      </p:sp>
      <p:sp>
        <p:nvSpPr>
          <p:cNvPr id="19" name="Text 15"/>
          <p:cNvSpPr txBox="1"/>
          <p:nvPr/>
        </p:nvSpPr>
        <p:spPr>
          <a:xfrm>
            <a:off x="5413248" y="1435608"/>
            <a:ext cx="3108960" cy="201168"/>
          </a:xfrm>
          <a:prstGeom prst="rect">
            <a:avLst/>
          </a:prstGeom>
          <a:noFill/>
          <a:ln/>
        </p:spPr>
        <p:txBody>
          <a:bodyPr wrap="square" lIns="0" tIns="0" rIns="0" bIns="0" rtlCol="0" anchor="t"/>
          <a:lstStyle/>
          <a:p>
            <a:pPr marL="0" indent="0">
              <a:buNone/>
            </a:pPr>
            <a:r>
              <a:rPr lang="en-US" sz="1000" b="1" kern="0" spc="100" dirty="0">
                <a:solidFill>
                  <a:srgbClr val="C4621D"/>
                </a:solidFill>
                <a:latin typeface="Calibri" pitchFamily="34" charset="0"/>
                <a:ea typeface="Calibri" pitchFamily="34" charset="-122"/>
                <a:cs typeface="Calibri" pitchFamily="34" charset="-120"/>
              </a:rPr>
              <a:t>ASSUMPTIONS PER CALL</a:t>
            </a:r>
            <a:endParaRPr lang="en-US" sz="1000" dirty="0"/>
          </a:p>
        </p:txBody>
      </p:sp>
      <p:sp>
        <p:nvSpPr>
          <p:cNvPr id="20" name="Text 16"/>
          <p:cNvSpPr txBox="1"/>
          <p:nvPr/>
        </p:nvSpPr>
        <p:spPr>
          <a:xfrm>
            <a:off x="5413248" y="1737360"/>
            <a:ext cx="1143000" cy="384048"/>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2,500</a:t>
            </a:r>
            <a:endParaRPr lang="en-US" sz="1300" dirty="0"/>
          </a:p>
        </p:txBody>
      </p:sp>
      <p:sp>
        <p:nvSpPr>
          <p:cNvPr id="21" name="Text 17"/>
          <p:cNvSpPr txBox="1"/>
          <p:nvPr/>
        </p:nvSpPr>
        <p:spPr>
          <a:xfrm>
            <a:off x="6583680" y="1737360"/>
            <a:ext cx="2011680" cy="38404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fixed tokens: instructions, ISCO extract, examples</a:t>
            </a:r>
            <a:endParaRPr lang="en-US" sz="1000" dirty="0"/>
          </a:p>
        </p:txBody>
      </p:sp>
      <p:sp>
        <p:nvSpPr>
          <p:cNvPr id="22" name="Text 18"/>
          <p:cNvSpPr txBox="1"/>
          <p:nvPr/>
        </p:nvSpPr>
        <p:spPr>
          <a:xfrm>
            <a:off x="5413248" y="2185416"/>
            <a:ext cx="1143000" cy="384048"/>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50</a:t>
            </a:r>
            <a:endParaRPr lang="en-US" sz="1300" dirty="0"/>
          </a:p>
        </p:txBody>
      </p:sp>
      <p:sp>
        <p:nvSpPr>
          <p:cNvPr id="23" name="Text 19"/>
          <p:cNvSpPr txBox="1"/>
          <p:nvPr/>
        </p:nvSpPr>
        <p:spPr>
          <a:xfrm>
            <a:off x="6583680" y="2185416"/>
            <a:ext cx="2011680" cy="38404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tokens per job description</a:t>
            </a:r>
            <a:endParaRPr lang="en-US" sz="1000" dirty="0"/>
          </a:p>
        </p:txBody>
      </p:sp>
      <p:sp>
        <p:nvSpPr>
          <p:cNvPr id="24" name="Text 20"/>
          <p:cNvSpPr txBox="1"/>
          <p:nvPr/>
        </p:nvSpPr>
        <p:spPr>
          <a:xfrm>
            <a:off x="5413248" y="2633472"/>
            <a:ext cx="1143000" cy="384048"/>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40</a:t>
            </a:r>
            <a:endParaRPr lang="en-US" sz="1300" dirty="0"/>
          </a:p>
        </p:txBody>
      </p:sp>
      <p:sp>
        <p:nvSpPr>
          <p:cNvPr id="25" name="Text 21"/>
          <p:cNvSpPr txBox="1"/>
          <p:nvPr/>
        </p:nvSpPr>
        <p:spPr>
          <a:xfrm>
            <a:off x="6583680" y="2633472"/>
            <a:ext cx="2011680" cy="38404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output tokens per coded answer</a:t>
            </a:r>
            <a:endParaRPr lang="en-US" sz="1000" dirty="0"/>
          </a:p>
        </p:txBody>
      </p:sp>
      <p:sp>
        <p:nvSpPr>
          <p:cNvPr id="26" name="Text 22"/>
          <p:cNvSpPr txBox="1"/>
          <p:nvPr/>
        </p:nvSpPr>
        <p:spPr>
          <a:xfrm>
            <a:off x="5413248" y="3081528"/>
            <a:ext cx="1143000" cy="384048"/>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$0.50 / $1.50</a:t>
            </a:r>
            <a:endParaRPr lang="en-US" sz="1300" dirty="0"/>
          </a:p>
        </p:txBody>
      </p:sp>
      <p:sp>
        <p:nvSpPr>
          <p:cNvPr id="27" name="Text 23"/>
          <p:cNvSpPr txBox="1"/>
          <p:nvPr/>
        </p:nvSpPr>
        <p:spPr>
          <a:xfrm>
            <a:off x="6583680" y="3081528"/>
            <a:ext cx="2011680" cy="38404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per million input / output tokens</a:t>
            </a:r>
            <a:endParaRPr lang="en-US" sz="1000" dirty="0"/>
          </a:p>
        </p:txBody>
      </p:sp>
      <p:sp>
        <p:nvSpPr>
          <p:cNvPr id="28" name="Text 24"/>
          <p:cNvSpPr txBox="1"/>
          <p:nvPr/>
        </p:nvSpPr>
        <p:spPr>
          <a:xfrm>
            <a:off x="5413248" y="3529584"/>
            <a:ext cx="1143000" cy="384048"/>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90%</a:t>
            </a:r>
            <a:endParaRPr lang="en-US" sz="1300" dirty="0"/>
          </a:p>
        </p:txBody>
      </p:sp>
      <p:sp>
        <p:nvSpPr>
          <p:cNvPr id="29" name="Text 25"/>
          <p:cNvSpPr txBox="1"/>
          <p:nvPr/>
        </p:nvSpPr>
        <p:spPr>
          <a:xfrm>
            <a:off x="6583680" y="3529584"/>
            <a:ext cx="2011680" cy="38404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discount on cached input (assumed)</a:t>
            </a:r>
            <a:endParaRPr lang="en-US" sz="1000" dirty="0"/>
          </a:p>
        </p:txBody>
      </p:sp>
      <p:sp>
        <p:nvSpPr>
          <p:cNvPr id="30" name="Shape 26"/>
          <p:cNvSpPr/>
          <p:nvPr/>
        </p:nvSpPr>
        <p:spPr>
          <a:xfrm>
            <a:off x="457200" y="4160520"/>
            <a:ext cx="8229600" cy="384048"/>
          </a:xfrm>
          <a:prstGeom prst="roundRect">
            <a:avLst>
              <a:gd name="adj" fmla="val 14286"/>
            </a:avLst>
          </a:prstGeom>
          <a:solidFill>
            <a:srgbClr val="E8F5EF"/>
          </a:solidFill>
          <a:ln w="12700">
            <a:solidFill>
              <a:srgbClr val="00A86A"/>
            </a:solidFill>
            <a:prstDash val="solid"/>
          </a:ln>
        </p:spPr>
      </p:sp>
      <p:sp>
        <p:nvSpPr>
          <p:cNvPr id="31" name="Text 27"/>
          <p:cNvSpPr txBox="1"/>
          <p:nvPr/>
        </p:nvSpPr>
        <p:spPr>
          <a:xfrm>
            <a:off x="640080" y="4160520"/>
            <a:ext cx="7955280" cy="384048"/>
          </a:xfrm>
          <a:prstGeom prst="rect">
            <a:avLst/>
          </a:prstGeom>
          <a:noFill/>
          <a:ln/>
        </p:spPr>
        <p:txBody>
          <a:bodyPr wrap="square" lIns="0" tIns="0" rIns="0" bIns="0"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 15× cheaper </a:t>
            </a:r>
            <a:r>
              <a:rPr lang="en-US" sz="1150" dirty="0">
                <a:solidFill>
                  <a:srgbClr val="231F20"/>
                </a:solidFill>
                <a:latin typeface="Calibri" pitchFamily="34" charset="0"/>
                <a:ea typeface="Calibri" pitchFamily="34" charset="-122"/>
                <a:cs typeface="Calibri" pitchFamily="34" charset="-120"/>
              </a:rPr>
              <a:t>through prompt design alone. Re-test accuracy after batching: more items per call can mean more errors.</a:t>
            </a:r>
            <a:endParaRPr lang="en-US" sz="1150" dirty="0"/>
          </a:p>
        </p:txBody>
      </p:sp>
      <p:sp>
        <p:nvSpPr>
          <p:cNvPr id="32" name="Text 28"/>
          <p:cNvSpPr txBox="1"/>
          <p:nvPr/>
        </p:nvSpPr>
        <p:spPr>
          <a:xfrm>
            <a:off x="457200" y="4599432"/>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Illustrative prices and discount, not a provider tariff. Cache-write surcharges ignored. </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CONTEXT, TOKENS &amp; COST</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Less context, better placed</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C4621D"/>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graphicFrame>
        <p:nvGraphicFramePr>
          <p:cNvPr id="17" name="Chart 0"/>
          <p:cNvGraphicFramePr/>
          <p:nvPr/>
        </p:nvGraphicFramePr>
        <p:xfrm>
          <a:off x="457200" y="1325880"/>
          <a:ext cx="384048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4"/>
          <p:cNvSpPr txBox="1"/>
          <p:nvPr/>
        </p:nvSpPr>
        <p:spPr>
          <a:xfrm>
            <a:off x="457200" y="3977640"/>
            <a:ext cx="38404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Schematic after Liu et al. (2023): not their exact figures.</a:t>
            </a:r>
            <a:endParaRPr lang="en-US" sz="900" dirty="0"/>
          </a:p>
        </p:txBody>
      </p:sp>
      <p:sp>
        <p:nvSpPr>
          <p:cNvPr id="19" name="Shape 15"/>
          <p:cNvSpPr/>
          <p:nvPr/>
        </p:nvSpPr>
        <p:spPr>
          <a:xfrm>
            <a:off x="4572000" y="1325880"/>
            <a:ext cx="4114800" cy="658368"/>
          </a:xfrm>
          <a:prstGeom prst="roundRect">
            <a:avLst>
              <a:gd name="adj" fmla="val 11111"/>
            </a:avLst>
          </a:prstGeom>
          <a:solidFill>
            <a:srgbClr val="F4F7F5"/>
          </a:solidFill>
          <a:ln w="9525">
            <a:solidFill>
              <a:srgbClr val="D5DED9"/>
            </a:solidFill>
            <a:prstDash val="solid"/>
          </a:ln>
        </p:spPr>
      </p:sp>
      <p:sp>
        <p:nvSpPr>
          <p:cNvPr id="20" name="Shape 16"/>
          <p:cNvSpPr/>
          <p:nvPr/>
        </p:nvSpPr>
        <p:spPr>
          <a:xfrm>
            <a:off x="4700016" y="1444752"/>
            <a:ext cx="420624" cy="420624"/>
          </a:xfrm>
          <a:prstGeom prst="ellipse">
            <a:avLst/>
          </a:prstGeom>
          <a:solidFill>
            <a:srgbClr val="C4621D">
              <a:alpha val="22000"/>
            </a:srgbClr>
          </a:solidFill>
          <a:ln/>
        </p:spPr>
      </p:sp>
      <p:pic>
        <p:nvPicPr>
          <p:cNvPr id="21" name="Image 0" descr="preencoded.png"/>
          <p:cNvPicPr>
            <a:picLocks noChangeAspect="1"/>
          </p:cNvPicPr>
          <p:nvPr/>
        </p:nvPicPr>
        <p:blipFill>
          <a:blip r:embed="rId4"/>
          <a:stretch>
            <a:fillRect/>
          </a:stretch>
        </p:blipFill>
        <p:spPr>
          <a:xfrm>
            <a:off x="4800966" y="1545702"/>
            <a:ext cx="218724" cy="218724"/>
          </a:xfrm>
          <a:prstGeom prst="rect">
            <a:avLst/>
          </a:prstGeom>
        </p:spPr>
      </p:pic>
      <p:sp>
        <p:nvSpPr>
          <p:cNvPr id="22" name="Text 17"/>
          <p:cNvSpPr txBox="1"/>
          <p:nvPr/>
        </p:nvSpPr>
        <p:spPr>
          <a:xfrm>
            <a:off x="5257800" y="1399032"/>
            <a:ext cx="32918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Send only what is relevant</a:t>
            </a:r>
            <a:endParaRPr lang="en-US" sz="1250" dirty="0"/>
          </a:p>
        </p:txBody>
      </p:sp>
      <p:sp>
        <p:nvSpPr>
          <p:cNvPr id="23" name="Text 18"/>
          <p:cNvSpPr txBox="1"/>
          <p:nvPr/>
        </p:nvSpPr>
        <p:spPr>
          <a:xfrm>
            <a:off x="5257800" y="1645920"/>
            <a:ext cx="333756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Pre-select pages or chunks (RAG) instead of whole reports.</a:t>
            </a:r>
            <a:endParaRPr lang="en-US" sz="1000" dirty="0"/>
          </a:p>
        </p:txBody>
      </p:sp>
      <p:sp>
        <p:nvSpPr>
          <p:cNvPr id="24" name="Shape 19"/>
          <p:cNvSpPr/>
          <p:nvPr/>
        </p:nvSpPr>
        <p:spPr>
          <a:xfrm>
            <a:off x="4572000" y="2093976"/>
            <a:ext cx="4114800" cy="658368"/>
          </a:xfrm>
          <a:prstGeom prst="roundRect">
            <a:avLst>
              <a:gd name="adj" fmla="val 11111"/>
            </a:avLst>
          </a:prstGeom>
          <a:solidFill>
            <a:srgbClr val="F4F7F5"/>
          </a:solidFill>
          <a:ln w="9525">
            <a:solidFill>
              <a:srgbClr val="D5DED9"/>
            </a:solidFill>
            <a:prstDash val="solid"/>
          </a:ln>
        </p:spPr>
      </p:sp>
      <p:sp>
        <p:nvSpPr>
          <p:cNvPr id="25" name="Shape 20"/>
          <p:cNvSpPr/>
          <p:nvPr/>
        </p:nvSpPr>
        <p:spPr>
          <a:xfrm>
            <a:off x="4700016" y="2212848"/>
            <a:ext cx="420624" cy="420624"/>
          </a:xfrm>
          <a:prstGeom prst="ellipse">
            <a:avLst/>
          </a:prstGeom>
          <a:solidFill>
            <a:srgbClr val="C4621D">
              <a:alpha val="22000"/>
            </a:srgbClr>
          </a:solidFill>
          <a:ln/>
        </p:spPr>
      </p:sp>
      <p:pic>
        <p:nvPicPr>
          <p:cNvPr id="26" name="Image 1" descr="preencoded.png"/>
          <p:cNvPicPr>
            <a:picLocks noChangeAspect="1"/>
          </p:cNvPicPr>
          <p:nvPr/>
        </p:nvPicPr>
        <p:blipFill>
          <a:blip r:embed="rId5"/>
          <a:stretch>
            <a:fillRect/>
          </a:stretch>
        </p:blipFill>
        <p:spPr>
          <a:xfrm>
            <a:off x="4800966" y="2313798"/>
            <a:ext cx="218724" cy="218724"/>
          </a:xfrm>
          <a:prstGeom prst="rect">
            <a:avLst/>
          </a:prstGeom>
        </p:spPr>
      </p:pic>
      <p:sp>
        <p:nvSpPr>
          <p:cNvPr id="27" name="Text 21"/>
          <p:cNvSpPr txBox="1"/>
          <p:nvPr/>
        </p:nvSpPr>
        <p:spPr>
          <a:xfrm>
            <a:off x="5257800" y="2167128"/>
            <a:ext cx="32918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Summarise or chunk</a:t>
            </a:r>
            <a:endParaRPr lang="en-US" sz="1250" dirty="0"/>
          </a:p>
        </p:txBody>
      </p:sp>
      <p:sp>
        <p:nvSpPr>
          <p:cNvPr id="28" name="Text 22"/>
          <p:cNvSpPr txBox="1"/>
          <p:nvPr/>
        </p:nvSpPr>
        <p:spPr>
          <a:xfrm>
            <a:off x="5257800" y="2414016"/>
            <a:ext cx="333756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Process long documents section by section, then combine.</a:t>
            </a:r>
            <a:endParaRPr lang="en-US" sz="1000" dirty="0"/>
          </a:p>
        </p:txBody>
      </p:sp>
      <p:sp>
        <p:nvSpPr>
          <p:cNvPr id="29" name="Shape 23"/>
          <p:cNvSpPr/>
          <p:nvPr/>
        </p:nvSpPr>
        <p:spPr>
          <a:xfrm>
            <a:off x="4572000" y="2862072"/>
            <a:ext cx="4114800" cy="658368"/>
          </a:xfrm>
          <a:prstGeom prst="roundRect">
            <a:avLst>
              <a:gd name="adj" fmla="val 11111"/>
            </a:avLst>
          </a:prstGeom>
          <a:solidFill>
            <a:srgbClr val="F4F7F5"/>
          </a:solidFill>
          <a:ln w="9525">
            <a:solidFill>
              <a:srgbClr val="D5DED9"/>
            </a:solidFill>
            <a:prstDash val="solid"/>
          </a:ln>
        </p:spPr>
      </p:sp>
      <p:sp>
        <p:nvSpPr>
          <p:cNvPr id="30" name="Shape 24"/>
          <p:cNvSpPr/>
          <p:nvPr/>
        </p:nvSpPr>
        <p:spPr>
          <a:xfrm>
            <a:off x="4700016" y="2980944"/>
            <a:ext cx="420624" cy="420624"/>
          </a:xfrm>
          <a:prstGeom prst="ellipse">
            <a:avLst/>
          </a:prstGeom>
          <a:solidFill>
            <a:srgbClr val="C4621D">
              <a:alpha val="22000"/>
            </a:srgbClr>
          </a:solidFill>
          <a:ln/>
        </p:spPr>
      </p:sp>
      <p:pic>
        <p:nvPicPr>
          <p:cNvPr id="31" name="Image 2" descr="preencoded.png"/>
          <p:cNvPicPr>
            <a:picLocks noChangeAspect="1"/>
          </p:cNvPicPr>
          <p:nvPr/>
        </p:nvPicPr>
        <p:blipFill>
          <a:blip r:embed="rId6"/>
          <a:stretch>
            <a:fillRect/>
          </a:stretch>
        </p:blipFill>
        <p:spPr>
          <a:xfrm>
            <a:off x="4800966" y="3081894"/>
            <a:ext cx="218724" cy="218724"/>
          </a:xfrm>
          <a:prstGeom prst="rect">
            <a:avLst/>
          </a:prstGeom>
        </p:spPr>
      </p:pic>
      <p:sp>
        <p:nvSpPr>
          <p:cNvPr id="32" name="Text 25"/>
          <p:cNvSpPr txBox="1"/>
          <p:nvPr/>
        </p:nvSpPr>
        <p:spPr>
          <a:xfrm>
            <a:off x="5257800" y="2935224"/>
            <a:ext cx="32918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Place key rules at the edges</a:t>
            </a:r>
            <a:endParaRPr lang="en-US" sz="1250" dirty="0"/>
          </a:p>
        </p:txBody>
      </p:sp>
      <p:sp>
        <p:nvSpPr>
          <p:cNvPr id="33" name="Text 26"/>
          <p:cNvSpPr txBox="1"/>
          <p:nvPr/>
        </p:nvSpPr>
        <p:spPr>
          <a:xfrm>
            <a:off x="5257800" y="3182112"/>
            <a:ext cx="333756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Critical instructions first; restate the key rule at the end.</a:t>
            </a:r>
            <a:endParaRPr lang="en-US" sz="1000" dirty="0"/>
          </a:p>
        </p:txBody>
      </p:sp>
      <p:sp>
        <p:nvSpPr>
          <p:cNvPr id="34" name="Shape 27"/>
          <p:cNvSpPr/>
          <p:nvPr/>
        </p:nvSpPr>
        <p:spPr>
          <a:xfrm>
            <a:off x="4572000" y="3630168"/>
            <a:ext cx="4114800" cy="658368"/>
          </a:xfrm>
          <a:prstGeom prst="roundRect">
            <a:avLst>
              <a:gd name="adj" fmla="val 11111"/>
            </a:avLst>
          </a:prstGeom>
          <a:solidFill>
            <a:srgbClr val="F4F7F5"/>
          </a:solidFill>
          <a:ln w="9525">
            <a:solidFill>
              <a:srgbClr val="D5DED9"/>
            </a:solidFill>
            <a:prstDash val="solid"/>
          </a:ln>
        </p:spPr>
      </p:sp>
      <p:sp>
        <p:nvSpPr>
          <p:cNvPr id="35" name="Shape 28"/>
          <p:cNvSpPr/>
          <p:nvPr/>
        </p:nvSpPr>
        <p:spPr>
          <a:xfrm>
            <a:off x="4700016" y="3749040"/>
            <a:ext cx="420624" cy="420624"/>
          </a:xfrm>
          <a:prstGeom prst="ellipse">
            <a:avLst/>
          </a:prstGeom>
          <a:solidFill>
            <a:srgbClr val="C4621D">
              <a:alpha val="22000"/>
            </a:srgbClr>
          </a:solidFill>
          <a:ln/>
        </p:spPr>
      </p:sp>
      <p:pic>
        <p:nvPicPr>
          <p:cNvPr id="36" name="Image 3" descr="preencoded.png"/>
          <p:cNvPicPr>
            <a:picLocks noChangeAspect="1"/>
          </p:cNvPicPr>
          <p:nvPr/>
        </p:nvPicPr>
        <p:blipFill>
          <a:blip r:embed="rId7"/>
          <a:stretch>
            <a:fillRect/>
          </a:stretch>
        </p:blipFill>
        <p:spPr>
          <a:xfrm>
            <a:off x="4800966" y="3849990"/>
            <a:ext cx="218724" cy="218724"/>
          </a:xfrm>
          <a:prstGeom prst="rect">
            <a:avLst/>
          </a:prstGeom>
        </p:spPr>
      </p:pic>
      <p:sp>
        <p:nvSpPr>
          <p:cNvPr id="37" name="Text 29"/>
          <p:cNvSpPr txBox="1"/>
          <p:nvPr/>
        </p:nvSpPr>
        <p:spPr>
          <a:xfrm>
            <a:off x="5257800" y="3703320"/>
            <a:ext cx="32918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Limit the answer</a:t>
            </a:r>
            <a:endParaRPr lang="en-US" sz="1250" dirty="0"/>
          </a:p>
        </p:txBody>
      </p:sp>
      <p:sp>
        <p:nvSpPr>
          <p:cNvPr id="38" name="Text 30"/>
          <p:cNvSpPr txBox="1"/>
          <p:nvPr/>
        </p:nvSpPr>
        <p:spPr>
          <a:xfrm>
            <a:off x="5257800" y="3950208"/>
            <a:ext cx="3337560" cy="29260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Word limits and max tokens cut cost and drift.</a:t>
            </a:r>
            <a:endParaRPr lang="en-US" sz="1000" dirty="0"/>
          </a:p>
        </p:txBody>
      </p:sp>
      <p:sp>
        <p:nvSpPr>
          <p:cNvPr id="39" name="Text 31"/>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Liu et al. (2023), “Lost in the Middle: How Language Models Use Long Contexts”, Transactions of the ACL (2024).</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CONTEXT, TOKENS &amp; COST</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Two kinds of caching</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C4621D"/>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25880"/>
            <a:ext cx="3977640" cy="3154680"/>
          </a:xfrm>
          <a:prstGeom prst="roundRect">
            <a:avLst>
              <a:gd name="adj" fmla="val 2319"/>
            </a:avLst>
          </a:prstGeom>
          <a:solidFill>
            <a:srgbClr val="F4F7F5"/>
          </a:solidFill>
          <a:ln w="9525">
            <a:solidFill>
              <a:srgbClr val="D5DED9"/>
            </a:solidFill>
            <a:prstDash val="solid"/>
          </a:ln>
        </p:spPr>
      </p:sp>
      <p:sp>
        <p:nvSpPr>
          <p:cNvPr id="18" name="Shape 15"/>
          <p:cNvSpPr/>
          <p:nvPr/>
        </p:nvSpPr>
        <p:spPr>
          <a:xfrm>
            <a:off x="621792" y="1463040"/>
            <a:ext cx="457200" cy="457200"/>
          </a:xfrm>
          <a:prstGeom prst="ellipse">
            <a:avLst/>
          </a:prstGeom>
          <a:solidFill>
            <a:srgbClr val="C4621D">
              <a:alpha val="22000"/>
            </a:srgbClr>
          </a:solidFill>
          <a:ln/>
        </p:spPr>
      </p:sp>
      <p:pic>
        <p:nvPicPr>
          <p:cNvPr id="19" name="Image 0" descr="preencoded.png"/>
          <p:cNvPicPr>
            <a:picLocks noChangeAspect="1"/>
          </p:cNvPicPr>
          <p:nvPr/>
        </p:nvPicPr>
        <p:blipFill>
          <a:blip r:embed="rId3"/>
          <a:stretch>
            <a:fillRect/>
          </a:stretch>
        </p:blipFill>
        <p:spPr>
          <a:xfrm>
            <a:off x="731520" y="1572768"/>
            <a:ext cx="237744" cy="237744"/>
          </a:xfrm>
          <a:prstGeom prst="rect">
            <a:avLst/>
          </a:prstGeom>
        </p:spPr>
      </p:pic>
      <p:sp>
        <p:nvSpPr>
          <p:cNvPr id="20" name="Text 16"/>
          <p:cNvSpPr txBox="1"/>
          <p:nvPr/>
        </p:nvSpPr>
        <p:spPr>
          <a:xfrm>
            <a:off x="1188720" y="1463040"/>
            <a:ext cx="301752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Prompt caching</a:t>
            </a:r>
            <a:endParaRPr lang="en-US" sz="1400" dirty="0"/>
          </a:p>
        </p:txBody>
      </p:sp>
      <p:sp>
        <p:nvSpPr>
          <p:cNvPr id="21" name="Text 17"/>
          <p:cNvSpPr txBox="1"/>
          <p:nvPr/>
        </p:nvSpPr>
        <p:spPr>
          <a:xfrm>
            <a:off x="1188720" y="1700784"/>
            <a:ext cx="3017520" cy="20116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at the provider</a:t>
            </a:r>
            <a:endParaRPr lang="en-US" sz="1050" dirty="0"/>
          </a:p>
        </p:txBody>
      </p:sp>
      <p:sp>
        <p:nvSpPr>
          <p:cNvPr id="22" name="Text 18"/>
          <p:cNvSpPr txBox="1"/>
          <p:nvPr/>
        </p:nvSpPr>
        <p:spPr>
          <a:xfrm>
            <a:off x="621792" y="2103120"/>
            <a:ext cx="3657600" cy="182880"/>
          </a:xfrm>
          <a:prstGeom prst="rect">
            <a:avLst/>
          </a:prstGeom>
          <a:noFill/>
          <a:ln/>
        </p:spPr>
        <p:txBody>
          <a:bodyPr wrap="square" lIns="0" tIns="0" rIns="0" bIns="0" rtlCol="0" anchor="t"/>
          <a:lstStyle/>
          <a:p>
            <a:pPr marL="0" indent="0">
              <a:buNone/>
            </a:pPr>
            <a:r>
              <a:rPr lang="en-US" sz="900" b="1" kern="0" spc="100" dirty="0">
                <a:solidFill>
                  <a:srgbClr val="C4621D"/>
                </a:solidFill>
                <a:latin typeface="Calibri" pitchFamily="34" charset="0"/>
                <a:ea typeface="Calibri" pitchFamily="34" charset="-122"/>
                <a:cs typeface="Calibri" pitchFamily="34" charset="-120"/>
              </a:rPr>
              <a:t>STRUCTURE EVERY CALL LIKE THIS</a:t>
            </a:r>
            <a:endParaRPr lang="en-US" sz="900" dirty="0"/>
          </a:p>
        </p:txBody>
      </p:sp>
      <p:sp>
        <p:nvSpPr>
          <p:cNvPr id="23" name="Shape 19"/>
          <p:cNvSpPr/>
          <p:nvPr/>
        </p:nvSpPr>
        <p:spPr>
          <a:xfrm>
            <a:off x="621792" y="2331720"/>
            <a:ext cx="2697480" cy="457200"/>
          </a:xfrm>
          <a:prstGeom prst="rect">
            <a:avLst/>
          </a:prstGeom>
          <a:solidFill>
            <a:srgbClr val="00A86A"/>
          </a:solidFill>
          <a:ln/>
        </p:spPr>
      </p:sp>
      <p:sp>
        <p:nvSpPr>
          <p:cNvPr id="24" name="Text 20"/>
          <p:cNvSpPr txBox="1"/>
          <p:nvPr/>
        </p:nvSpPr>
        <p:spPr>
          <a:xfrm>
            <a:off x="621792" y="2331720"/>
            <a:ext cx="269748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Instructions · ISCO list · examples</a:t>
            </a:r>
            <a:endParaRPr lang="en-US" sz="1000" dirty="0"/>
          </a:p>
        </p:txBody>
      </p:sp>
      <p:sp>
        <p:nvSpPr>
          <p:cNvPr id="25" name="Shape 21"/>
          <p:cNvSpPr/>
          <p:nvPr/>
        </p:nvSpPr>
        <p:spPr>
          <a:xfrm>
            <a:off x="3319272" y="2331720"/>
            <a:ext cx="932688" cy="457200"/>
          </a:xfrm>
          <a:prstGeom prst="rect">
            <a:avLst/>
          </a:prstGeom>
          <a:solidFill>
            <a:srgbClr val="C4621D"/>
          </a:solidFill>
          <a:ln/>
        </p:spPr>
      </p:sp>
      <p:sp>
        <p:nvSpPr>
          <p:cNvPr id="26" name="Text 22"/>
          <p:cNvSpPr txBox="1"/>
          <p:nvPr/>
        </p:nvSpPr>
        <p:spPr>
          <a:xfrm>
            <a:off x="3319272" y="2331720"/>
            <a:ext cx="932688"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Case</a:t>
            </a:r>
            <a:endParaRPr lang="en-US" sz="1000" dirty="0"/>
          </a:p>
        </p:txBody>
      </p:sp>
      <p:sp>
        <p:nvSpPr>
          <p:cNvPr id="27" name="Text 23"/>
          <p:cNvSpPr txBox="1"/>
          <p:nvPr/>
        </p:nvSpPr>
        <p:spPr>
          <a:xfrm>
            <a:off x="621792" y="2816352"/>
            <a:ext cx="2697480" cy="182880"/>
          </a:xfrm>
          <a:prstGeom prst="rect">
            <a:avLst/>
          </a:prstGeom>
          <a:noFill/>
          <a:ln/>
        </p:spPr>
        <p:txBody>
          <a:bodyPr wrap="square" lIns="0" tIns="0" rIns="0" bIns="0" rtlCol="0" anchor="t"/>
          <a:lstStyle/>
          <a:p>
            <a:pPr marL="0" indent="0" algn="ctr">
              <a:buNone/>
            </a:pPr>
            <a:r>
              <a:rPr lang="en-US" sz="900" i="1" dirty="0">
                <a:solidFill>
                  <a:srgbClr val="00704A"/>
                </a:solidFill>
                <a:latin typeface="Calibri" pitchFamily="34" charset="0"/>
                <a:ea typeface="Calibri" pitchFamily="34" charset="-122"/>
                <a:cs typeface="Calibri" pitchFamily="34" charset="-120"/>
              </a:rPr>
              <a:t>stable: cached, discounted</a:t>
            </a:r>
            <a:endParaRPr lang="en-US" sz="900" dirty="0"/>
          </a:p>
        </p:txBody>
      </p:sp>
      <p:sp>
        <p:nvSpPr>
          <p:cNvPr id="28" name="Text 24"/>
          <p:cNvSpPr txBox="1"/>
          <p:nvPr/>
        </p:nvSpPr>
        <p:spPr>
          <a:xfrm>
            <a:off x="3319272" y="2816352"/>
            <a:ext cx="932688" cy="182880"/>
          </a:xfrm>
          <a:prstGeom prst="rect">
            <a:avLst/>
          </a:prstGeom>
          <a:noFill/>
          <a:ln/>
        </p:spPr>
        <p:txBody>
          <a:bodyPr wrap="square" lIns="0" tIns="0" rIns="0" bIns="0" rtlCol="0" anchor="t"/>
          <a:lstStyle/>
          <a:p>
            <a:pPr marL="0" indent="0" algn="ctr">
              <a:buNone/>
            </a:pPr>
            <a:r>
              <a:rPr lang="en-US" sz="900" i="1" dirty="0">
                <a:solidFill>
                  <a:srgbClr val="C4621D"/>
                </a:solidFill>
                <a:latin typeface="Calibri" pitchFamily="34" charset="0"/>
                <a:ea typeface="Calibri" pitchFamily="34" charset="-122"/>
                <a:cs typeface="Calibri" pitchFamily="34" charset="-120"/>
              </a:rPr>
              <a:t>changes</a:t>
            </a:r>
            <a:endParaRPr lang="en-US" sz="900" dirty="0"/>
          </a:p>
        </p:txBody>
      </p:sp>
      <p:sp>
        <p:nvSpPr>
          <p:cNvPr id="29" name="Text 25"/>
          <p:cNvSpPr txBox="1"/>
          <p:nvPr/>
        </p:nvSpPr>
        <p:spPr>
          <a:xfrm>
            <a:off x="621792" y="3154680"/>
            <a:ext cx="3657600" cy="1188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Stable content first, variable content last.</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A date or ID at the top breaks the cache.</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Discounts, minimum size and lifetime vary by provider.</a:t>
            </a:r>
            <a:endParaRPr lang="en-US" sz="1050" dirty="0"/>
          </a:p>
        </p:txBody>
      </p:sp>
      <p:sp>
        <p:nvSpPr>
          <p:cNvPr id="30" name="Shape 26"/>
          <p:cNvSpPr/>
          <p:nvPr/>
        </p:nvSpPr>
        <p:spPr>
          <a:xfrm>
            <a:off x="4709160" y="1325880"/>
            <a:ext cx="3977640" cy="3154680"/>
          </a:xfrm>
          <a:prstGeom prst="roundRect">
            <a:avLst>
              <a:gd name="adj" fmla="val 2319"/>
            </a:avLst>
          </a:prstGeom>
          <a:solidFill>
            <a:srgbClr val="E8F5EF"/>
          </a:solidFill>
          <a:ln w="15875">
            <a:solidFill>
              <a:srgbClr val="C4621D"/>
            </a:solidFill>
            <a:prstDash val="solid"/>
          </a:ln>
        </p:spPr>
      </p:sp>
      <p:sp>
        <p:nvSpPr>
          <p:cNvPr id="31" name="Shape 27"/>
          <p:cNvSpPr/>
          <p:nvPr/>
        </p:nvSpPr>
        <p:spPr>
          <a:xfrm>
            <a:off x="4873752" y="1463040"/>
            <a:ext cx="457200" cy="457200"/>
          </a:xfrm>
          <a:prstGeom prst="ellipse">
            <a:avLst/>
          </a:prstGeom>
          <a:solidFill>
            <a:srgbClr val="C4621D">
              <a:alpha val="22000"/>
            </a:srgbClr>
          </a:solidFill>
          <a:ln/>
        </p:spPr>
      </p:sp>
      <p:pic>
        <p:nvPicPr>
          <p:cNvPr id="32" name="Image 1" descr="preencoded.png"/>
          <p:cNvPicPr>
            <a:picLocks noChangeAspect="1"/>
          </p:cNvPicPr>
          <p:nvPr/>
        </p:nvPicPr>
        <p:blipFill>
          <a:blip r:embed="rId4"/>
          <a:stretch>
            <a:fillRect/>
          </a:stretch>
        </p:blipFill>
        <p:spPr>
          <a:xfrm>
            <a:off x="4983480" y="1572768"/>
            <a:ext cx="237744" cy="237744"/>
          </a:xfrm>
          <a:prstGeom prst="rect">
            <a:avLst/>
          </a:prstGeom>
        </p:spPr>
      </p:pic>
      <p:sp>
        <p:nvSpPr>
          <p:cNvPr id="33" name="Text 28"/>
          <p:cNvSpPr txBox="1"/>
          <p:nvPr/>
        </p:nvSpPr>
        <p:spPr>
          <a:xfrm>
            <a:off x="5440680" y="1463040"/>
            <a:ext cx="301752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Response caching</a:t>
            </a:r>
            <a:endParaRPr lang="en-US" sz="1400" dirty="0"/>
          </a:p>
        </p:txBody>
      </p:sp>
      <p:sp>
        <p:nvSpPr>
          <p:cNvPr id="34" name="Text 29"/>
          <p:cNvSpPr txBox="1"/>
          <p:nvPr/>
        </p:nvSpPr>
        <p:spPr>
          <a:xfrm>
            <a:off x="5440680" y="1700784"/>
            <a:ext cx="3017520" cy="20116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in your own pipeline</a:t>
            </a:r>
            <a:endParaRPr lang="en-US" sz="1050" dirty="0"/>
          </a:p>
        </p:txBody>
      </p:sp>
      <p:sp>
        <p:nvSpPr>
          <p:cNvPr id="35" name="Text 30"/>
          <p:cNvSpPr txBox="1"/>
          <p:nvPr/>
        </p:nvSpPr>
        <p:spPr>
          <a:xfrm>
            <a:off x="4873752" y="2103120"/>
            <a:ext cx="3657600" cy="182880"/>
          </a:xfrm>
          <a:prstGeom prst="rect">
            <a:avLst/>
          </a:prstGeom>
          <a:noFill/>
          <a:ln/>
        </p:spPr>
        <p:txBody>
          <a:bodyPr wrap="square" lIns="0" tIns="0" rIns="0" bIns="0" rtlCol="0" anchor="t"/>
          <a:lstStyle/>
          <a:p>
            <a:pPr marL="0" indent="0">
              <a:buNone/>
            </a:pPr>
            <a:r>
              <a:rPr lang="en-US" sz="900" b="1" kern="0" spc="100" dirty="0">
                <a:solidFill>
                  <a:srgbClr val="C4621D"/>
                </a:solidFill>
                <a:latin typeface="Calibri" pitchFamily="34" charset="0"/>
                <a:ea typeface="Calibri" pitchFamily="34" charset="-122"/>
                <a:cs typeface="Calibri" pitchFamily="34" charset="-120"/>
              </a:rPr>
              <a:t>KEY = HASH OF</a:t>
            </a:r>
            <a:endParaRPr lang="en-US" sz="900" dirty="0"/>
          </a:p>
        </p:txBody>
      </p:sp>
      <p:sp>
        <p:nvSpPr>
          <p:cNvPr id="36" name="Shape 31"/>
          <p:cNvSpPr/>
          <p:nvPr/>
        </p:nvSpPr>
        <p:spPr>
          <a:xfrm>
            <a:off x="4873752" y="2359152"/>
            <a:ext cx="1143000" cy="274320"/>
          </a:xfrm>
          <a:prstGeom prst="roundRect">
            <a:avLst>
              <a:gd name="adj" fmla="val 43333"/>
            </a:avLst>
          </a:prstGeom>
          <a:solidFill>
            <a:srgbClr val="00704A">
              <a:alpha val="15000"/>
            </a:srgbClr>
          </a:solidFill>
          <a:ln w="9525">
            <a:solidFill>
              <a:srgbClr val="00704A"/>
            </a:solidFill>
            <a:prstDash val="solid"/>
          </a:ln>
        </p:spPr>
      </p:sp>
      <p:sp>
        <p:nvSpPr>
          <p:cNvPr id="37" name="Text 32"/>
          <p:cNvSpPr txBox="1"/>
          <p:nvPr/>
        </p:nvSpPr>
        <p:spPr>
          <a:xfrm>
            <a:off x="4873752" y="2359152"/>
            <a:ext cx="1143000" cy="274320"/>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model version</a:t>
            </a:r>
            <a:endParaRPr lang="en-US" sz="900" dirty="0"/>
          </a:p>
        </p:txBody>
      </p:sp>
      <p:sp>
        <p:nvSpPr>
          <p:cNvPr id="38" name="Shape 33"/>
          <p:cNvSpPr/>
          <p:nvPr/>
        </p:nvSpPr>
        <p:spPr>
          <a:xfrm>
            <a:off x="6108192" y="2359152"/>
            <a:ext cx="1143000" cy="274320"/>
          </a:xfrm>
          <a:prstGeom prst="roundRect">
            <a:avLst>
              <a:gd name="adj" fmla="val 43333"/>
            </a:avLst>
          </a:prstGeom>
          <a:solidFill>
            <a:srgbClr val="00704A">
              <a:alpha val="15000"/>
            </a:srgbClr>
          </a:solidFill>
          <a:ln w="9525">
            <a:solidFill>
              <a:srgbClr val="00704A"/>
            </a:solidFill>
            <a:prstDash val="solid"/>
          </a:ln>
        </p:spPr>
      </p:sp>
      <p:sp>
        <p:nvSpPr>
          <p:cNvPr id="39" name="Text 34"/>
          <p:cNvSpPr txBox="1"/>
          <p:nvPr/>
        </p:nvSpPr>
        <p:spPr>
          <a:xfrm>
            <a:off x="6108192" y="2359152"/>
            <a:ext cx="1143000" cy="274320"/>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prompt version</a:t>
            </a:r>
            <a:endParaRPr lang="en-US" sz="900" dirty="0"/>
          </a:p>
        </p:txBody>
      </p:sp>
      <p:sp>
        <p:nvSpPr>
          <p:cNvPr id="40" name="Shape 35"/>
          <p:cNvSpPr/>
          <p:nvPr/>
        </p:nvSpPr>
        <p:spPr>
          <a:xfrm>
            <a:off x="7342632" y="2359152"/>
            <a:ext cx="1143000" cy="274320"/>
          </a:xfrm>
          <a:prstGeom prst="roundRect">
            <a:avLst>
              <a:gd name="adj" fmla="val 43333"/>
            </a:avLst>
          </a:prstGeom>
          <a:solidFill>
            <a:srgbClr val="00704A">
              <a:alpha val="15000"/>
            </a:srgbClr>
          </a:solidFill>
          <a:ln w="9525">
            <a:solidFill>
              <a:srgbClr val="00704A"/>
            </a:solidFill>
            <a:prstDash val="solid"/>
          </a:ln>
        </p:spPr>
      </p:sp>
      <p:sp>
        <p:nvSpPr>
          <p:cNvPr id="41" name="Text 36"/>
          <p:cNvSpPr txBox="1"/>
          <p:nvPr/>
        </p:nvSpPr>
        <p:spPr>
          <a:xfrm>
            <a:off x="7342632" y="2359152"/>
            <a:ext cx="1143000" cy="274320"/>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input text</a:t>
            </a:r>
            <a:endParaRPr lang="en-US" sz="900" dirty="0"/>
          </a:p>
        </p:txBody>
      </p:sp>
      <p:sp>
        <p:nvSpPr>
          <p:cNvPr id="42" name="Shape 37"/>
          <p:cNvSpPr/>
          <p:nvPr/>
        </p:nvSpPr>
        <p:spPr>
          <a:xfrm>
            <a:off x="4873752" y="2880360"/>
            <a:ext cx="365760" cy="365760"/>
          </a:xfrm>
          <a:prstGeom prst="ellipse">
            <a:avLst/>
          </a:prstGeom>
          <a:solidFill>
            <a:srgbClr val="C4621D">
              <a:alpha val="22000"/>
            </a:srgbClr>
          </a:solidFill>
          <a:ln/>
        </p:spPr>
      </p:sp>
      <p:pic>
        <p:nvPicPr>
          <p:cNvPr id="43" name="Image 2" descr="preencoded.png"/>
          <p:cNvPicPr>
            <a:picLocks noChangeAspect="1"/>
          </p:cNvPicPr>
          <p:nvPr/>
        </p:nvPicPr>
        <p:blipFill>
          <a:blip r:embed="rId5"/>
          <a:stretch>
            <a:fillRect/>
          </a:stretch>
        </p:blipFill>
        <p:spPr>
          <a:xfrm>
            <a:off x="4961534" y="2968142"/>
            <a:ext cx="190195" cy="190195"/>
          </a:xfrm>
          <a:prstGeom prst="rect">
            <a:avLst/>
          </a:prstGeom>
        </p:spPr>
      </p:pic>
      <p:sp>
        <p:nvSpPr>
          <p:cNvPr id="44" name="Text 38"/>
          <p:cNvSpPr txBox="1"/>
          <p:nvPr/>
        </p:nvSpPr>
        <p:spPr>
          <a:xfrm>
            <a:off x="5349240" y="2880360"/>
            <a:ext cx="320040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Instant and free on repeat requests</a:t>
            </a:r>
            <a:endParaRPr lang="en-US" sz="1100" dirty="0"/>
          </a:p>
        </p:txBody>
      </p:sp>
      <p:sp>
        <p:nvSpPr>
          <p:cNvPr id="45" name="Shape 39"/>
          <p:cNvSpPr/>
          <p:nvPr/>
        </p:nvSpPr>
        <p:spPr>
          <a:xfrm>
            <a:off x="4873752" y="3383280"/>
            <a:ext cx="365760" cy="365760"/>
          </a:xfrm>
          <a:prstGeom prst="ellipse">
            <a:avLst/>
          </a:prstGeom>
          <a:solidFill>
            <a:srgbClr val="C4621D">
              <a:alpha val="22000"/>
            </a:srgbClr>
          </a:solidFill>
          <a:ln/>
        </p:spPr>
      </p:sp>
      <p:pic>
        <p:nvPicPr>
          <p:cNvPr id="46" name="Image 3" descr="preencoded.png"/>
          <p:cNvPicPr>
            <a:picLocks noChangeAspect="1"/>
          </p:cNvPicPr>
          <p:nvPr/>
        </p:nvPicPr>
        <p:blipFill>
          <a:blip r:embed="rId6"/>
          <a:stretch>
            <a:fillRect/>
          </a:stretch>
        </p:blipFill>
        <p:spPr>
          <a:xfrm>
            <a:off x="4961534" y="3471062"/>
            <a:ext cx="190195" cy="190195"/>
          </a:xfrm>
          <a:prstGeom prst="rect">
            <a:avLst/>
          </a:prstGeom>
        </p:spPr>
      </p:pic>
      <p:sp>
        <p:nvSpPr>
          <p:cNvPr id="47" name="Text 40"/>
          <p:cNvSpPr txBox="1"/>
          <p:nvPr/>
        </p:nvSpPr>
        <p:spPr>
          <a:xfrm>
            <a:off x="5349240" y="3383280"/>
            <a:ext cx="320040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Perfectly reproducible answers</a:t>
            </a:r>
            <a:endParaRPr lang="en-US" sz="1100" dirty="0"/>
          </a:p>
        </p:txBody>
      </p:sp>
      <p:sp>
        <p:nvSpPr>
          <p:cNvPr id="48" name="Shape 41"/>
          <p:cNvSpPr/>
          <p:nvPr/>
        </p:nvSpPr>
        <p:spPr>
          <a:xfrm>
            <a:off x="4873752" y="3886200"/>
            <a:ext cx="365760" cy="365760"/>
          </a:xfrm>
          <a:prstGeom prst="ellipse">
            <a:avLst/>
          </a:prstGeom>
          <a:solidFill>
            <a:srgbClr val="C4621D">
              <a:alpha val="22000"/>
            </a:srgbClr>
          </a:solidFill>
          <a:ln/>
        </p:spPr>
      </p:sp>
      <p:pic>
        <p:nvPicPr>
          <p:cNvPr id="49" name="Image 4" descr="preencoded.png"/>
          <p:cNvPicPr>
            <a:picLocks noChangeAspect="1"/>
          </p:cNvPicPr>
          <p:nvPr/>
        </p:nvPicPr>
        <p:blipFill>
          <a:blip r:embed="rId7"/>
          <a:stretch>
            <a:fillRect/>
          </a:stretch>
        </p:blipFill>
        <p:spPr>
          <a:xfrm>
            <a:off x="4961534" y="3973982"/>
            <a:ext cx="190195" cy="190195"/>
          </a:xfrm>
          <a:prstGeom prst="rect">
            <a:avLst/>
          </a:prstGeom>
        </p:spPr>
      </p:pic>
      <p:sp>
        <p:nvSpPr>
          <p:cNvPr id="50" name="Text 42"/>
          <p:cNvSpPr txBox="1"/>
          <p:nvPr/>
        </p:nvSpPr>
        <p:spPr>
          <a:xfrm>
            <a:off x="5349240" y="3886200"/>
            <a:ext cx="320040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An audit trail for every published figure</a:t>
            </a:r>
            <a:endParaRPr lang="en-US" sz="1100" dirty="0"/>
          </a:p>
        </p:txBody>
      </p:sp>
      <p:sp>
        <p:nvSpPr>
          <p:cNvPr id="51" name="Text 43"/>
          <p:cNvSpPr txBox="1"/>
          <p:nvPr/>
        </p:nvSpPr>
        <p:spPr>
          <a:xfrm>
            <a:off x="457200" y="459028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Check each provider’s documentation for current prompt-caching terms.</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9144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6 OF 6</a:t>
            </a:r>
            <a:endParaRPr lang="en-US" sz="1050" dirty="0"/>
          </a:p>
        </p:txBody>
      </p:sp>
      <p:sp>
        <p:nvSpPr>
          <p:cNvPr id="4" name="Text 2"/>
          <p:cNvSpPr txBox="1"/>
          <p:nvPr/>
        </p:nvSpPr>
        <p:spPr>
          <a:xfrm>
            <a:off x="594360" y="114300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06</a:t>
            </a:r>
            <a:endParaRPr lang="en-US" sz="8800" dirty="0"/>
          </a:p>
        </p:txBody>
      </p:sp>
      <p:sp>
        <p:nvSpPr>
          <p:cNvPr id="5" name="Text 3"/>
          <p:cNvSpPr txBox="1"/>
          <p:nvPr/>
        </p:nvSpPr>
        <p:spPr>
          <a:xfrm>
            <a:off x="640080" y="2423160"/>
            <a:ext cx="54864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Prompt, RAG or fine-tune?</a:t>
            </a:r>
            <a:endParaRPr lang="en-US" sz="3200" dirty="0"/>
          </a:p>
        </p:txBody>
      </p:sp>
      <p:sp>
        <p:nvSpPr>
          <p:cNvPr id="6" name="Text 4"/>
          <p:cNvSpPr txBox="1"/>
          <p:nvPr/>
        </p:nvSpPr>
        <p:spPr>
          <a:xfrm>
            <a:off x="640080" y="3200400"/>
            <a:ext cx="4754880" cy="6400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Which tool fixes which failure?</a:t>
            </a:r>
            <a:endParaRPr lang="en-US" sz="1800" dirty="0"/>
          </a:p>
        </p:txBody>
      </p:sp>
      <p:sp>
        <p:nvSpPr>
          <p:cNvPr id="7" name="Shape 5"/>
          <p:cNvSpPr/>
          <p:nvPr/>
        </p:nvSpPr>
        <p:spPr>
          <a:xfrm>
            <a:off x="6263640" y="1417320"/>
            <a:ext cx="2286000" cy="2286000"/>
          </a:xfrm>
          <a:prstGeom prst="ellipse">
            <a:avLst/>
          </a:prstGeom>
          <a:ln w="19050">
            <a:solidFill>
              <a:srgbClr val="FFFFFF">
                <a:alpha val="50000"/>
              </a:srgbClr>
            </a:solidFill>
            <a:prstDash val="solid"/>
          </a:ln>
        </p:spPr>
      </p:sp>
      <p:sp>
        <p:nvSpPr>
          <p:cNvPr id="8" name="Shape 6"/>
          <p:cNvSpPr/>
          <p:nvPr/>
        </p:nvSpPr>
        <p:spPr>
          <a:xfrm>
            <a:off x="6629400" y="1783080"/>
            <a:ext cx="1554480" cy="1554480"/>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995160" y="2148840"/>
            <a:ext cx="822960" cy="822960"/>
          </a:xfrm>
          <a:prstGeom prst="rect">
            <a:avLst/>
          </a:prstGeom>
        </p:spPr>
      </p:pic>
      <p:sp>
        <p:nvSpPr>
          <p:cNvPr id="10" name="Shape 7"/>
          <p:cNvSpPr/>
          <p:nvPr/>
        </p:nvSpPr>
        <p:spPr>
          <a:xfrm>
            <a:off x="7635240" y="365760"/>
            <a:ext cx="100584" cy="100584"/>
          </a:xfrm>
          <a:prstGeom prst="ellipse">
            <a:avLst/>
          </a:prstGeom>
          <a:solidFill>
            <a:srgbClr val="FFFFFF">
              <a:alpha val="40000"/>
            </a:srgbClr>
          </a:solidFill>
          <a:ln/>
        </p:spPr>
      </p:sp>
      <p:sp>
        <p:nvSpPr>
          <p:cNvPr id="11" name="Shape 8"/>
          <p:cNvSpPr/>
          <p:nvPr/>
        </p:nvSpPr>
        <p:spPr>
          <a:xfrm>
            <a:off x="7818120" y="365760"/>
            <a:ext cx="100584" cy="100584"/>
          </a:xfrm>
          <a:prstGeom prst="ellipse">
            <a:avLst/>
          </a:prstGeom>
          <a:solidFill>
            <a:srgbClr val="FFFFFF">
              <a:alpha val="40000"/>
            </a:srgbClr>
          </a:solidFill>
          <a:ln/>
        </p:spPr>
      </p:sp>
      <p:sp>
        <p:nvSpPr>
          <p:cNvPr id="12" name="Shape 9"/>
          <p:cNvSpPr/>
          <p:nvPr/>
        </p:nvSpPr>
        <p:spPr>
          <a:xfrm>
            <a:off x="8001000" y="365760"/>
            <a:ext cx="100584" cy="100584"/>
          </a:xfrm>
          <a:prstGeom prst="ellipse">
            <a:avLst/>
          </a:prstGeom>
          <a:solidFill>
            <a:srgbClr val="FFFFFF">
              <a:alpha val="40000"/>
            </a:srgbClr>
          </a:solidFill>
          <a:ln/>
        </p:spPr>
      </p:sp>
      <p:sp>
        <p:nvSpPr>
          <p:cNvPr id="13" name="Shape 10"/>
          <p:cNvSpPr/>
          <p:nvPr/>
        </p:nvSpPr>
        <p:spPr>
          <a:xfrm>
            <a:off x="8183880" y="365760"/>
            <a:ext cx="100584" cy="100584"/>
          </a:xfrm>
          <a:prstGeom prst="ellipse">
            <a:avLst/>
          </a:prstGeom>
          <a:solidFill>
            <a:srgbClr val="FFFFFF">
              <a:alpha val="40000"/>
            </a:srgbClr>
          </a:solidFill>
          <a:ln/>
        </p:spPr>
      </p:sp>
      <p:sp>
        <p:nvSpPr>
          <p:cNvPr id="14" name="Shape 11"/>
          <p:cNvSpPr/>
          <p:nvPr/>
        </p:nvSpPr>
        <p:spPr>
          <a:xfrm>
            <a:off x="8366760" y="365760"/>
            <a:ext cx="100584" cy="100584"/>
          </a:xfrm>
          <a:prstGeom prst="ellipse">
            <a:avLst/>
          </a:prstGeom>
          <a:solidFill>
            <a:srgbClr val="FFFFFF">
              <a:alpha val="40000"/>
            </a:srgbClr>
          </a:solidFill>
          <a:ln/>
        </p:spPr>
      </p:sp>
      <p:sp>
        <p:nvSpPr>
          <p:cNvPr id="15" name="Shape 12"/>
          <p:cNvSpPr/>
          <p:nvPr/>
        </p:nvSpPr>
        <p:spPr>
          <a:xfrm>
            <a:off x="8549640" y="365760"/>
            <a:ext cx="100584" cy="100584"/>
          </a:xfrm>
          <a:prstGeom prst="ellipse">
            <a:avLst/>
          </a:prstGeom>
          <a:solidFill>
            <a:srgbClr val="F5C242"/>
          </a:solidFill>
          <a:ln/>
        </p:spPr>
      </p:sp>
      <p:sp>
        <p:nvSpPr>
          <p:cNvPr id="16" name="Shape 13"/>
          <p:cNvSpPr/>
          <p:nvPr/>
        </p:nvSpPr>
        <p:spPr>
          <a:xfrm>
            <a:off x="0" y="0"/>
            <a:ext cx="914" cy="914"/>
          </a:xfrm>
          <a:prstGeom prst="rect">
            <a:avLst/>
          </a:prstGeom>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24</a:t>
            </a:r>
            <a:endParaRPr lang="en-US" sz="8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PROMPT, RAG OR FINE-TUNE?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Three tools, three different problems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B83B2E"/>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7" name="Text 14"/>
          <p:cNvSpPr txBox="1"/>
          <p:nvPr/>
        </p:nvSpPr>
        <p:spPr>
          <a:xfrm>
            <a:off x="457200" y="2103120"/>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Fixes</a:t>
            </a:r>
            <a:endParaRPr lang="en-US" sz="1050" dirty="0"/>
          </a:p>
        </p:txBody>
      </p:sp>
      <p:sp>
        <p:nvSpPr>
          <p:cNvPr id="18" name="Text 15"/>
          <p:cNvSpPr txBox="1"/>
          <p:nvPr/>
        </p:nvSpPr>
        <p:spPr>
          <a:xfrm>
            <a:off x="457200" y="2505456"/>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Data needed</a:t>
            </a:r>
            <a:endParaRPr lang="en-US" sz="1050" dirty="0"/>
          </a:p>
        </p:txBody>
      </p:sp>
      <p:sp>
        <p:nvSpPr>
          <p:cNvPr id="19" name="Text 16"/>
          <p:cNvSpPr txBox="1"/>
          <p:nvPr/>
        </p:nvSpPr>
        <p:spPr>
          <a:xfrm>
            <a:off x="457200" y="2907792"/>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First result</a:t>
            </a:r>
            <a:endParaRPr lang="en-US" sz="1050" dirty="0"/>
          </a:p>
        </p:txBody>
      </p:sp>
      <p:sp>
        <p:nvSpPr>
          <p:cNvPr id="20" name="Text 17"/>
          <p:cNvSpPr txBox="1"/>
          <p:nvPr/>
        </p:nvSpPr>
        <p:spPr>
          <a:xfrm>
            <a:off x="457200" y="3310128"/>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Cost profile</a:t>
            </a:r>
            <a:endParaRPr lang="en-US" sz="1050" dirty="0"/>
          </a:p>
        </p:txBody>
      </p:sp>
      <p:sp>
        <p:nvSpPr>
          <p:cNvPr id="21" name="Text 18"/>
          <p:cNvSpPr txBox="1"/>
          <p:nvPr/>
        </p:nvSpPr>
        <p:spPr>
          <a:xfrm>
            <a:off x="457200" y="3712464"/>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To update</a:t>
            </a:r>
            <a:endParaRPr lang="en-US" sz="1050" dirty="0"/>
          </a:p>
        </p:txBody>
      </p:sp>
      <p:sp>
        <p:nvSpPr>
          <p:cNvPr id="22" name="Text 19"/>
          <p:cNvSpPr txBox="1"/>
          <p:nvPr/>
        </p:nvSpPr>
        <p:spPr>
          <a:xfrm>
            <a:off x="457200" y="4114800"/>
            <a:ext cx="1097280" cy="365760"/>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NSO example</a:t>
            </a:r>
            <a:endParaRPr lang="en-US" sz="1050" dirty="0"/>
          </a:p>
        </p:txBody>
      </p:sp>
      <p:sp>
        <p:nvSpPr>
          <p:cNvPr id="23" name="Shape 20"/>
          <p:cNvSpPr/>
          <p:nvPr/>
        </p:nvSpPr>
        <p:spPr>
          <a:xfrm>
            <a:off x="1600200" y="1298448"/>
            <a:ext cx="2286000" cy="3291840"/>
          </a:xfrm>
          <a:prstGeom prst="roundRect">
            <a:avLst>
              <a:gd name="adj" fmla="val 3200"/>
            </a:avLst>
          </a:prstGeom>
          <a:solidFill>
            <a:srgbClr val="E8F5EF"/>
          </a:solidFill>
          <a:ln w="15875">
            <a:solidFill>
              <a:srgbClr val="00A86A"/>
            </a:solidFill>
            <a:prstDash val="solid"/>
          </a:ln>
        </p:spPr>
      </p:sp>
      <p:sp>
        <p:nvSpPr>
          <p:cNvPr id="24" name="Shape 21"/>
          <p:cNvSpPr/>
          <p:nvPr/>
        </p:nvSpPr>
        <p:spPr>
          <a:xfrm>
            <a:off x="1728216" y="1389888"/>
            <a:ext cx="384048" cy="384048"/>
          </a:xfrm>
          <a:prstGeom prst="ellipse">
            <a:avLst/>
          </a:prstGeom>
          <a:solidFill>
            <a:srgbClr val="00A86A">
              <a:alpha val="22000"/>
            </a:srgbClr>
          </a:solidFill>
          <a:ln/>
        </p:spPr>
      </p:sp>
      <p:pic>
        <p:nvPicPr>
          <p:cNvPr id="25" name="Image 0" descr="preencoded.png"/>
          <p:cNvPicPr>
            <a:picLocks noChangeAspect="1"/>
          </p:cNvPicPr>
          <p:nvPr/>
        </p:nvPicPr>
        <p:blipFill>
          <a:blip r:embed="rId3"/>
          <a:stretch>
            <a:fillRect/>
          </a:stretch>
        </p:blipFill>
        <p:spPr>
          <a:xfrm>
            <a:off x="1820388" y="1482060"/>
            <a:ext cx="199705" cy="199705"/>
          </a:xfrm>
          <a:prstGeom prst="rect">
            <a:avLst/>
          </a:prstGeom>
        </p:spPr>
      </p:pic>
      <p:sp>
        <p:nvSpPr>
          <p:cNvPr id="26" name="Text 22"/>
          <p:cNvSpPr txBox="1"/>
          <p:nvPr/>
        </p:nvSpPr>
        <p:spPr>
          <a:xfrm>
            <a:off x="2167128" y="1371600"/>
            <a:ext cx="16916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Prompt engineering</a:t>
            </a:r>
            <a:endParaRPr lang="en-US" sz="1250" dirty="0"/>
          </a:p>
        </p:txBody>
      </p:sp>
      <p:sp>
        <p:nvSpPr>
          <p:cNvPr id="27" name="Text 23"/>
          <p:cNvSpPr txBox="1"/>
          <p:nvPr/>
        </p:nvSpPr>
        <p:spPr>
          <a:xfrm>
            <a:off x="2167128" y="1618488"/>
            <a:ext cx="1691640" cy="182880"/>
          </a:xfrm>
          <a:prstGeom prst="rect">
            <a:avLst/>
          </a:prstGeom>
          <a:noFill/>
          <a:ln/>
        </p:spPr>
        <p:txBody>
          <a:bodyPr wrap="square" lIns="0" tIns="0" rIns="0" bIns="0" rtlCol="0" anchor="t"/>
          <a:lstStyle/>
          <a:p>
            <a:pPr marL="0" indent="0">
              <a:buNone/>
            </a:pPr>
            <a:r>
              <a:rPr lang="en-US" sz="850" b="1" kern="0" spc="100" dirty="0">
                <a:solidFill>
                  <a:srgbClr val="00A86A"/>
                </a:solidFill>
                <a:latin typeface="Calibri" pitchFamily="34" charset="0"/>
                <a:ea typeface="Calibri" pitchFamily="34" charset="-122"/>
                <a:cs typeface="Calibri" pitchFamily="34" charset="-120"/>
              </a:rPr>
              <a:t>START HERE</a:t>
            </a:r>
            <a:endParaRPr lang="en-US" sz="850" dirty="0"/>
          </a:p>
        </p:txBody>
      </p:sp>
      <p:sp>
        <p:nvSpPr>
          <p:cNvPr id="28" name="Text 24"/>
          <p:cNvSpPr txBox="1"/>
          <p:nvPr/>
        </p:nvSpPr>
        <p:spPr>
          <a:xfrm>
            <a:off x="1728216" y="2103120"/>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Behaviour you can describe in words</a:t>
            </a:r>
            <a:endParaRPr lang="en-US" sz="950" dirty="0"/>
          </a:p>
        </p:txBody>
      </p:sp>
      <p:sp>
        <p:nvSpPr>
          <p:cNvPr id="29" name="Shape 25"/>
          <p:cNvSpPr/>
          <p:nvPr/>
        </p:nvSpPr>
        <p:spPr>
          <a:xfrm>
            <a:off x="1728216" y="2487168"/>
            <a:ext cx="2029968" cy="0"/>
          </a:xfrm>
          <a:prstGeom prst="line">
            <a:avLst/>
          </a:prstGeom>
          <a:noFill/>
          <a:ln w="6350">
            <a:solidFill>
              <a:srgbClr val="D5DED9"/>
            </a:solidFill>
            <a:prstDash val="solid"/>
          </a:ln>
        </p:spPr>
      </p:sp>
      <p:sp>
        <p:nvSpPr>
          <p:cNvPr id="30" name="Text 26"/>
          <p:cNvSpPr txBox="1"/>
          <p:nvPr/>
        </p:nvSpPr>
        <p:spPr>
          <a:xfrm>
            <a:off x="1728216" y="2505456"/>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 few examples</a:t>
            </a:r>
            <a:endParaRPr lang="en-US" sz="950" dirty="0"/>
          </a:p>
        </p:txBody>
      </p:sp>
      <p:sp>
        <p:nvSpPr>
          <p:cNvPr id="31" name="Shape 27"/>
          <p:cNvSpPr/>
          <p:nvPr/>
        </p:nvSpPr>
        <p:spPr>
          <a:xfrm>
            <a:off x="1728216" y="2889504"/>
            <a:ext cx="2029968" cy="0"/>
          </a:xfrm>
          <a:prstGeom prst="line">
            <a:avLst/>
          </a:prstGeom>
          <a:noFill/>
          <a:ln w="6350">
            <a:solidFill>
              <a:srgbClr val="D5DED9"/>
            </a:solidFill>
            <a:prstDash val="solid"/>
          </a:ln>
        </p:spPr>
      </p:sp>
      <p:sp>
        <p:nvSpPr>
          <p:cNvPr id="32" name="Text 28"/>
          <p:cNvSpPr txBox="1"/>
          <p:nvPr/>
        </p:nvSpPr>
        <p:spPr>
          <a:xfrm>
            <a:off x="1728216" y="2907792"/>
            <a:ext cx="2057400" cy="36576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Hours</a:t>
            </a:r>
            <a:endParaRPr lang="en-US" sz="950" dirty="0"/>
          </a:p>
        </p:txBody>
      </p:sp>
      <p:sp>
        <p:nvSpPr>
          <p:cNvPr id="33" name="Shape 29"/>
          <p:cNvSpPr/>
          <p:nvPr/>
        </p:nvSpPr>
        <p:spPr>
          <a:xfrm>
            <a:off x="1728216" y="3291840"/>
            <a:ext cx="2029968" cy="0"/>
          </a:xfrm>
          <a:prstGeom prst="line">
            <a:avLst/>
          </a:prstGeom>
          <a:noFill/>
          <a:ln w="6350">
            <a:solidFill>
              <a:srgbClr val="D5DED9"/>
            </a:solidFill>
            <a:prstDash val="solid"/>
          </a:ln>
        </p:spPr>
      </p:sp>
      <p:sp>
        <p:nvSpPr>
          <p:cNvPr id="34" name="Text 30"/>
          <p:cNvSpPr txBox="1"/>
          <p:nvPr/>
        </p:nvSpPr>
        <p:spPr>
          <a:xfrm>
            <a:off x="1728216" y="3310128"/>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Low: pay per call</a:t>
            </a:r>
            <a:endParaRPr lang="en-US" sz="950" dirty="0"/>
          </a:p>
        </p:txBody>
      </p:sp>
      <p:sp>
        <p:nvSpPr>
          <p:cNvPr id="35" name="Shape 31"/>
          <p:cNvSpPr/>
          <p:nvPr/>
        </p:nvSpPr>
        <p:spPr>
          <a:xfrm>
            <a:off x="1728216" y="3694176"/>
            <a:ext cx="2029968" cy="0"/>
          </a:xfrm>
          <a:prstGeom prst="line">
            <a:avLst/>
          </a:prstGeom>
          <a:noFill/>
          <a:ln w="6350">
            <a:solidFill>
              <a:srgbClr val="D5DED9"/>
            </a:solidFill>
            <a:prstDash val="solid"/>
          </a:ln>
        </p:spPr>
      </p:sp>
      <p:sp>
        <p:nvSpPr>
          <p:cNvPr id="36" name="Text 32"/>
          <p:cNvSpPr txBox="1"/>
          <p:nvPr/>
        </p:nvSpPr>
        <p:spPr>
          <a:xfrm>
            <a:off x="1728216" y="3712464"/>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Edit the prompt</a:t>
            </a:r>
            <a:endParaRPr lang="en-US" sz="950" dirty="0"/>
          </a:p>
        </p:txBody>
      </p:sp>
      <p:sp>
        <p:nvSpPr>
          <p:cNvPr id="37" name="Shape 33"/>
          <p:cNvSpPr/>
          <p:nvPr/>
        </p:nvSpPr>
        <p:spPr>
          <a:xfrm>
            <a:off x="1728216" y="4096512"/>
            <a:ext cx="2029968" cy="0"/>
          </a:xfrm>
          <a:prstGeom prst="line">
            <a:avLst/>
          </a:prstGeom>
          <a:noFill/>
          <a:ln w="6350">
            <a:solidFill>
              <a:srgbClr val="D5DED9"/>
            </a:solidFill>
            <a:prstDash val="solid"/>
          </a:ln>
        </p:spPr>
      </p:sp>
      <p:sp>
        <p:nvSpPr>
          <p:cNvPr id="38" name="Text 34"/>
          <p:cNvSpPr txBox="1"/>
          <p:nvPr/>
        </p:nvSpPr>
        <p:spPr>
          <a:xfrm>
            <a:off x="1728216" y="4114800"/>
            <a:ext cx="2057400" cy="365760"/>
          </a:xfrm>
          <a:prstGeom prst="rect">
            <a:avLst/>
          </a:prstGeom>
          <a:noFill/>
          <a:ln/>
        </p:spPr>
        <p:txBody>
          <a:bodyPr wrap="square" lIns="0" tIns="0" rIns="0" bIns="0" rtlCol="0" anchor="ctr"/>
          <a:lstStyle/>
          <a:p>
            <a:pPr marL="0" indent="0">
              <a:buNone/>
            </a:pPr>
            <a:r>
              <a:rPr lang="en-US" sz="950" i="1" dirty="0">
                <a:solidFill>
                  <a:srgbClr val="00A86A"/>
                </a:solidFill>
                <a:latin typeface="Calibri" pitchFamily="34" charset="0"/>
                <a:ea typeface="Calibri" pitchFamily="34" charset="-122"/>
                <a:cs typeface="Calibri" pitchFamily="34" charset="-120"/>
              </a:rPr>
              <a:t>Drafting a press release</a:t>
            </a:r>
            <a:endParaRPr lang="en-US" sz="950" dirty="0"/>
          </a:p>
        </p:txBody>
      </p:sp>
      <p:sp>
        <p:nvSpPr>
          <p:cNvPr id="39" name="Shape 35"/>
          <p:cNvSpPr/>
          <p:nvPr/>
        </p:nvSpPr>
        <p:spPr>
          <a:xfrm>
            <a:off x="3995928" y="1298448"/>
            <a:ext cx="2286000" cy="3291840"/>
          </a:xfrm>
          <a:prstGeom prst="roundRect">
            <a:avLst>
              <a:gd name="adj" fmla="val 3200"/>
            </a:avLst>
          </a:prstGeom>
          <a:solidFill>
            <a:srgbClr val="F4F7F5"/>
          </a:solidFill>
          <a:ln w="9525">
            <a:solidFill>
              <a:srgbClr val="D5DED9"/>
            </a:solidFill>
            <a:prstDash val="solid"/>
          </a:ln>
        </p:spPr>
      </p:sp>
      <p:sp>
        <p:nvSpPr>
          <p:cNvPr id="40" name="Shape 36"/>
          <p:cNvSpPr/>
          <p:nvPr/>
        </p:nvSpPr>
        <p:spPr>
          <a:xfrm>
            <a:off x="4123944" y="1389888"/>
            <a:ext cx="384048" cy="384048"/>
          </a:xfrm>
          <a:prstGeom prst="ellipse">
            <a:avLst/>
          </a:prstGeom>
          <a:solidFill>
            <a:srgbClr val="0E7C86">
              <a:alpha val="22000"/>
            </a:srgbClr>
          </a:solidFill>
          <a:ln/>
        </p:spPr>
      </p:sp>
      <p:pic>
        <p:nvPicPr>
          <p:cNvPr id="41" name="Image 1" descr="preencoded.png"/>
          <p:cNvPicPr>
            <a:picLocks noChangeAspect="1"/>
          </p:cNvPicPr>
          <p:nvPr/>
        </p:nvPicPr>
        <p:blipFill>
          <a:blip r:embed="rId4"/>
          <a:stretch>
            <a:fillRect/>
          </a:stretch>
        </p:blipFill>
        <p:spPr>
          <a:xfrm>
            <a:off x="4216116" y="1482060"/>
            <a:ext cx="199705" cy="199705"/>
          </a:xfrm>
          <a:prstGeom prst="rect">
            <a:avLst/>
          </a:prstGeom>
        </p:spPr>
      </p:pic>
      <p:sp>
        <p:nvSpPr>
          <p:cNvPr id="42" name="Text 37"/>
          <p:cNvSpPr txBox="1"/>
          <p:nvPr/>
        </p:nvSpPr>
        <p:spPr>
          <a:xfrm>
            <a:off x="4562856" y="1371600"/>
            <a:ext cx="16916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RAG</a:t>
            </a:r>
            <a:endParaRPr lang="en-US" sz="1250" dirty="0"/>
          </a:p>
        </p:txBody>
      </p:sp>
      <p:sp>
        <p:nvSpPr>
          <p:cNvPr id="43" name="Text 38"/>
          <p:cNvSpPr txBox="1"/>
          <p:nvPr/>
        </p:nvSpPr>
        <p:spPr>
          <a:xfrm>
            <a:off x="4562856" y="1618488"/>
            <a:ext cx="1691640" cy="182880"/>
          </a:xfrm>
          <a:prstGeom prst="rect">
            <a:avLst/>
          </a:prstGeom>
          <a:noFill/>
          <a:ln/>
        </p:spPr>
        <p:txBody>
          <a:bodyPr wrap="square" lIns="0" tIns="0" rIns="0" bIns="0" rtlCol="0" anchor="t"/>
          <a:lstStyle/>
          <a:p>
            <a:pPr marL="0" indent="0">
              <a:buNone/>
            </a:pPr>
            <a:r>
              <a:rPr lang="en-US" sz="850" b="1" kern="0" spc="100" dirty="0">
                <a:solidFill>
                  <a:srgbClr val="0E7C86"/>
                </a:solidFill>
                <a:latin typeface="Calibri" pitchFamily="34" charset="0"/>
                <a:ea typeface="Calibri" pitchFamily="34" charset="-122"/>
                <a:cs typeface="Calibri" pitchFamily="34" charset="-120"/>
              </a:rPr>
              <a:t>ADD KNOWLEDGE</a:t>
            </a:r>
            <a:endParaRPr lang="en-US" sz="850" dirty="0"/>
          </a:p>
        </p:txBody>
      </p:sp>
      <p:sp>
        <p:nvSpPr>
          <p:cNvPr id="44" name="Text 39"/>
          <p:cNvSpPr txBox="1"/>
          <p:nvPr/>
        </p:nvSpPr>
        <p:spPr>
          <a:xfrm>
            <a:off x="4123944" y="2103120"/>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Missing, changing or citable knowledge</a:t>
            </a:r>
            <a:endParaRPr lang="en-US" sz="950" dirty="0"/>
          </a:p>
        </p:txBody>
      </p:sp>
      <p:sp>
        <p:nvSpPr>
          <p:cNvPr id="45" name="Shape 40"/>
          <p:cNvSpPr/>
          <p:nvPr/>
        </p:nvSpPr>
        <p:spPr>
          <a:xfrm>
            <a:off x="4123944" y="2487168"/>
            <a:ext cx="2029968" cy="0"/>
          </a:xfrm>
          <a:prstGeom prst="line">
            <a:avLst/>
          </a:prstGeom>
          <a:noFill/>
          <a:ln w="6350">
            <a:solidFill>
              <a:srgbClr val="D5DED9"/>
            </a:solidFill>
            <a:prstDash val="solid"/>
          </a:ln>
        </p:spPr>
      </p:sp>
      <p:sp>
        <p:nvSpPr>
          <p:cNvPr id="46" name="Text 41"/>
          <p:cNvSpPr txBox="1"/>
          <p:nvPr/>
        </p:nvSpPr>
        <p:spPr>
          <a:xfrm>
            <a:off x="4123944" y="2505456"/>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 document corpus</a:t>
            </a:r>
            <a:endParaRPr lang="en-US" sz="950" dirty="0"/>
          </a:p>
        </p:txBody>
      </p:sp>
      <p:sp>
        <p:nvSpPr>
          <p:cNvPr id="47" name="Shape 42"/>
          <p:cNvSpPr/>
          <p:nvPr/>
        </p:nvSpPr>
        <p:spPr>
          <a:xfrm>
            <a:off x="4123944" y="2889504"/>
            <a:ext cx="2029968" cy="0"/>
          </a:xfrm>
          <a:prstGeom prst="line">
            <a:avLst/>
          </a:prstGeom>
          <a:noFill/>
          <a:ln w="6350">
            <a:solidFill>
              <a:srgbClr val="D5DED9"/>
            </a:solidFill>
            <a:prstDash val="solid"/>
          </a:ln>
        </p:spPr>
      </p:sp>
      <p:sp>
        <p:nvSpPr>
          <p:cNvPr id="48" name="Text 43"/>
          <p:cNvSpPr txBox="1"/>
          <p:nvPr/>
        </p:nvSpPr>
        <p:spPr>
          <a:xfrm>
            <a:off x="4123944" y="2907792"/>
            <a:ext cx="2057400" cy="36576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Days</a:t>
            </a:r>
            <a:endParaRPr lang="en-US" sz="950" dirty="0"/>
          </a:p>
        </p:txBody>
      </p:sp>
      <p:sp>
        <p:nvSpPr>
          <p:cNvPr id="49" name="Shape 44"/>
          <p:cNvSpPr/>
          <p:nvPr/>
        </p:nvSpPr>
        <p:spPr>
          <a:xfrm>
            <a:off x="4123944" y="3291840"/>
            <a:ext cx="2029968" cy="0"/>
          </a:xfrm>
          <a:prstGeom prst="line">
            <a:avLst/>
          </a:prstGeom>
          <a:noFill/>
          <a:ln w="6350">
            <a:solidFill>
              <a:srgbClr val="D5DED9"/>
            </a:solidFill>
            <a:prstDash val="solid"/>
          </a:ln>
        </p:spPr>
      </p:sp>
      <p:sp>
        <p:nvSpPr>
          <p:cNvPr id="50" name="Text 45"/>
          <p:cNvSpPr txBox="1"/>
          <p:nvPr/>
        </p:nvSpPr>
        <p:spPr>
          <a:xfrm>
            <a:off x="4123944" y="3310128"/>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Moderate: embeddings + vector store</a:t>
            </a:r>
            <a:endParaRPr lang="en-US" sz="950" dirty="0"/>
          </a:p>
        </p:txBody>
      </p:sp>
      <p:sp>
        <p:nvSpPr>
          <p:cNvPr id="51" name="Shape 46"/>
          <p:cNvSpPr/>
          <p:nvPr/>
        </p:nvSpPr>
        <p:spPr>
          <a:xfrm>
            <a:off x="4123944" y="3694176"/>
            <a:ext cx="2029968" cy="0"/>
          </a:xfrm>
          <a:prstGeom prst="line">
            <a:avLst/>
          </a:prstGeom>
          <a:noFill/>
          <a:ln w="6350">
            <a:solidFill>
              <a:srgbClr val="D5DED9"/>
            </a:solidFill>
            <a:prstDash val="solid"/>
          </a:ln>
        </p:spPr>
      </p:sp>
      <p:sp>
        <p:nvSpPr>
          <p:cNvPr id="52" name="Text 47"/>
          <p:cNvSpPr txBox="1"/>
          <p:nvPr/>
        </p:nvSpPr>
        <p:spPr>
          <a:xfrm>
            <a:off x="4123944" y="3712464"/>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Re-index the documents</a:t>
            </a:r>
            <a:endParaRPr lang="en-US" sz="950" dirty="0"/>
          </a:p>
        </p:txBody>
      </p:sp>
      <p:sp>
        <p:nvSpPr>
          <p:cNvPr id="53" name="Shape 48"/>
          <p:cNvSpPr/>
          <p:nvPr/>
        </p:nvSpPr>
        <p:spPr>
          <a:xfrm>
            <a:off x="4123944" y="4096512"/>
            <a:ext cx="2029968" cy="0"/>
          </a:xfrm>
          <a:prstGeom prst="line">
            <a:avLst/>
          </a:prstGeom>
          <a:noFill/>
          <a:ln w="6350">
            <a:solidFill>
              <a:srgbClr val="D5DED9"/>
            </a:solidFill>
            <a:prstDash val="solid"/>
          </a:ln>
        </p:spPr>
      </p:sp>
      <p:sp>
        <p:nvSpPr>
          <p:cNvPr id="54" name="Text 49"/>
          <p:cNvSpPr txBox="1"/>
          <p:nvPr/>
        </p:nvSpPr>
        <p:spPr>
          <a:xfrm>
            <a:off x="4123944" y="4114800"/>
            <a:ext cx="2057400" cy="365760"/>
          </a:xfrm>
          <a:prstGeom prst="rect">
            <a:avLst/>
          </a:prstGeom>
          <a:noFill/>
          <a:ln/>
        </p:spPr>
        <p:txBody>
          <a:bodyPr wrap="square" lIns="0" tIns="0" rIns="0" bIns="0" rtlCol="0" anchor="ctr"/>
          <a:lstStyle/>
          <a:p>
            <a:pPr marL="0" indent="0">
              <a:buNone/>
            </a:pPr>
            <a:r>
              <a:rPr lang="en-US" sz="950" i="1" dirty="0">
                <a:solidFill>
                  <a:srgbClr val="0E7C86"/>
                </a:solidFill>
                <a:latin typeface="Calibri" pitchFamily="34" charset="0"/>
                <a:ea typeface="Calibri" pitchFamily="34" charset="-122"/>
                <a:cs typeface="Calibri" pitchFamily="34" charset="-120"/>
              </a:rPr>
              <a:t>Q&amp;A on methodology notes and metadata</a:t>
            </a:r>
            <a:endParaRPr lang="en-US" sz="950" dirty="0"/>
          </a:p>
        </p:txBody>
      </p:sp>
      <p:sp>
        <p:nvSpPr>
          <p:cNvPr id="55" name="Shape 50"/>
          <p:cNvSpPr/>
          <p:nvPr/>
        </p:nvSpPr>
        <p:spPr>
          <a:xfrm>
            <a:off x="6391656" y="1298448"/>
            <a:ext cx="2286000" cy="3291840"/>
          </a:xfrm>
          <a:prstGeom prst="roundRect">
            <a:avLst>
              <a:gd name="adj" fmla="val 3200"/>
            </a:avLst>
          </a:prstGeom>
          <a:solidFill>
            <a:srgbClr val="F4F7F5"/>
          </a:solidFill>
          <a:ln w="9525">
            <a:solidFill>
              <a:srgbClr val="D5DED9"/>
            </a:solidFill>
            <a:prstDash val="solid"/>
          </a:ln>
        </p:spPr>
      </p:sp>
      <p:sp>
        <p:nvSpPr>
          <p:cNvPr id="56" name="Shape 51"/>
          <p:cNvSpPr/>
          <p:nvPr/>
        </p:nvSpPr>
        <p:spPr>
          <a:xfrm>
            <a:off x="6519672" y="1389888"/>
            <a:ext cx="384048" cy="384048"/>
          </a:xfrm>
          <a:prstGeom prst="ellipse">
            <a:avLst/>
          </a:prstGeom>
          <a:solidFill>
            <a:srgbClr val="B83B2E">
              <a:alpha val="22000"/>
            </a:srgbClr>
          </a:solidFill>
          <a:ln/>
        </p:spPr>
      </p:sp>
      <p:pic>
        <p:nvPicPr>
          <p:cNvPr id="57" name="Image 2" descr="preencoded.png"/>
          <p:cNvPicPr>
            <a:picLocks noChangeAspect="1"/>
          </p:cNvPicPr>
          <p:nvPr/>
        </p:nvPicPr>
        <p:blipFill>
          <a:blip r:embed="rId5"/>
          <a:stretch>
            <a:fillRect/>
          </a:stretch>
        </p:blipFill>
        <p:spPr>
          <a:xfrm>
            <a:off x="6611844" y="1482060"/>
            <a:ext cx="199705" cy="199705"/>
          </a:xfrm>
          <a:prstGeom prst="rect">
            <a:avLst/>
          </a:prstGeom>
        </p:spPr>
      </p:pic>
      <p:sp>
        <p:nvSpPr>
          <p:cNvPr id="58" name="Text 52"/>
          <p:cNvSpPr txBox="1"/>
          <p:nvPr/>
        </p:nvSpPr>
        <p:spPr>
          <a:xfrm>
            <a:off x="6958584" y="1371600"/>
            <a:ext cx="16916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Fine-tuning</a:t>
            </a:r>
            <a:endParaRPr lang="en-US" sz="1250" dirty="0"/>
          </a:p>
        </p:txBody>
      </p:sp>
      <p:sp>
        <p:nvSpPr>
          <p:cNvPr id="59" name="Text 53"/>
          <p:cNvSpPr txBox="1"/>
          <p:nvPr/>
        </p:nvSpPr>
        <p:spPr>
          <a:xfrm>
            <a:off x="6958584" y="1618488"/>
            <a:ext cx="1691640" cy="182880"/>
          </a:xfrm>
          <a:prstGeom prst="rect">
            <a:avLst/>
          </a:prstGeom>
          <a:noFill/>
          <a:ln/>
        </p:spPr>
        <p:txBody>
          <a:bodyPr wrap="square" lIns="0" tIns="0" rIns="0" bIns="0" rtlCol="0" anchor="t"/>
          <a:lstStyle/>
          <a:p>
            <a:pPr marL="0" indent="0">
              <a:buNone/>
            </a:pPr>
            <a:r>
              <a:rPr lang="en-US" sz="850" b="1" kern="0" spc="100" dirty="0">
                <a:solidFill>
                  <a:srgbClr val="B83B2E"/>
                </a:solidFill>
                <a:latin typeface="Calibri" pitchFamily="34" charset="0"/>
                <a:ea typeface="Calibri" pitchFamily="34" charset="-122"/>
                <a:cs typeface="Calibri" pitchFamily="34" charset="-120"/>
              </a:rPr>
              <a:t>CHANGE THE MODEL</a:t>
            </a:r>
            <a:endParaRPr lang="en-US" sz="850" dirty="0"/>
          </a:p>
        </p:txBody>
      </p:sp>
      <p:sp>
        <p:nvSpPr>
          <p:cNvPr id="60" name="Text 54"/>
          <p:cNvSpPr txBox="1"/>
          <p:nvPr/>
        </p:nvSpPr>
        <p:spPr>
          <a:xfrm>
            <a:off x="6519672" y="2103120"/>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Consistent behaviour on a narrow, high-volume task</a:t>
            </a:r>
            <a:endParaRPr lang="en-US" sz="950" dirty="0"/>
          </a:p>
        </p:txBody>
      </p:sp>
      <p:sp>
        <p:nvSpPr>
          <p:cNvPr id="61" name="Shape 55"/>
          <p:cNvSpPr/>
          <p:nvPr/>
        </p:nvSpPr>
        <p:spPr>
          <a:xfrm>
            <a:off x="6519672" y="2487168"/>
            <a:ext cx="2029968" cy="0"/>
          </a:xfrm>
          <a:prstGeom prst="line">
            <a:avLst/>
          </a:prstGeom>
          <a:noFill/>
          <a:ln w="6350">
            <a:solidFill>
              <a:srgbClr val="D5DED9"/>
            </a:solidFill>
            <a:prstDash val="solid"/>
          </a:ln>
        </p:spPr>
      </p:sp>
      <p:sp>
        <p:nvSpPr>
          <p:cNvPr id="62" name="Text 56"/>
          <p:cNvSpPr txBox="1"/>
          <p:nvPr/>
        </p:nvSpPr>
        <p:spPr>
          <a:xfrm>
            <a:off x="6519672" y="2505456"/>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Hundreds to thousands of labelled pairs</a:t>
            </a:r>
            <a:endParaRPr lang="en-US" sz="950" dirty="0"/>
          </a:p>
        </p:txBody>
      </p:sp>
      <p:sp>
        <p:nvSpPr>
          <p:cNvPr id="63" name="Shape 57"/>
          <p:cNvSpPr/>
          <p:nvPr/>
        </p:nvSpPr>
        <p:spPr>
          <a:xfrm>
            <a:off x="6519672" y="2889504"/>
            <a:ext cx="2029968" cy="0"/>
          </a:xfrm>
          <a:prstGeom prst="line">
            <a:avLst/>
          </a:prstGeom>
          <a:noFill/>
          <a:ln w="6350">
            <a:solidFill>
              <a:srgbClr val="D5DED9"/>
            </a:solidFill>
            <a:prstDash val="solid"/>
          </a:ln>
        </p:spPr>
      </p:sp>
      <p:sp>
        <p:nvSpPr>
          <p:cNvPr id="64" name="Text 58"/>
          <p:cNvSpPr txBox="1"/>
          <p:nvPr/>
        </p:nvSpPr>
        <p:spPr>
          <a:xfrm>
            <a:off x="6519672" y="2907792"/>
            <a:ext cx="2057400" cy="36576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Weeks</a:t>
            </a:r>
            <a:endParaRPr lang="en-US" sz="950" dirty="0"/>
          </a:p>
        </p:txBody>
      </p:sp>
      <p:sp>
        <p:nvSpPr>
          <p:cNvPr id="65" name="Shape 59"/>
          <p:cNvSpPr/>
          <p:nvPr/>
        </p:nvSpPr>
        <p:spPr>
          <a:xfrm>
            <a:off x="6519672" y="3291840"/>
            <a:ext cx="2029968" cy="0"/>
          </a:xfrm>
          <a:prstGeom prst="line">
            <a:avLst/>
          </a:prstGeom>
          <a:noFill/>
          <a:ln w="6350">
            <a:solidFill>
              <a:srgbClr val="D5DED9"/>
            </a:solidFill>
            <a:prstDash val="solid"/>
          </a:ln>
        </p:spPr>
      </p:sp>
      <p:sp>
        <p:nvSpPr>
          <p:cNvPr id="66" name="Text 60"/>
          <p:cNvSpPr txBox="1"/>
          <p:nvPr/>
        </p:nvSpPr>
        <p:spPr>
          <a:xfrm>
            <a:off x="6519672" y="3310128"/>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Higher: training + hosting</a:t>
            </a:r>
            <a:endParaRPr lang="en-US" sz="950" dirty="0"/>
          </a:p>
        </p:txBody>
      </p:sp>
      <p:sp>
        <p:nvSpPr>
          <p:cNvPr id="67" name="Shape 61"/>
          <p:cNvSpPr/>
          <p:nvPr/>
        </p:nvSpPr>
        <p:spPr>
          <a:xfrm>
            <a:off x="6519672" y="3694176"/>
            <a:ext cx="2029968" cy="0"/>
          </a:xfrm>
          <a:prstGeom prst="line">
            <a:avLst/>
          </a:prstGeom>
          <a:noFill/>
          <a:ln w="6350">
            <a:solidFill>
              <a:srgbClr val="D5DED9"/>
            </a:solidFill>
            <a:prstDash val="solid"/>
          </a:ln>
        </p:spPr>
      </p:sp>
      <p:sp>
        <p:nvSpPr>
          <p:cNvPr id="68" name="Text 62"/>
          <p:cNvSpPr txBox="1"/>
          <p:nvPr/>
        </p:nvSpPr>
        <p:spPr>
          <a:xfrm>
            <a:off x="6519672" y="3712464"/>
            <a:ext cx="2057400" cy="36576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Retrain</a:t>
            </a:r>
            <a:endParaRPr lang="en-US" sz="950" dirty="0"/>
          </a:p>
        </p:txBody>
      </p:sp>
      <p:sp>
        <p:nvSpPr>
          <p:cNvPr id="69" name="Shape 63"/>
          <p:cNvSpPr/>
          <p:nvPr/>
        </p:nvSpPr>
        <p:spPr>
          <a:xfrm>
            <a:off x="6519672" y="4096512"/>
            <a:ext cx="2029968" cy="0"/>
          </a:xfrm>
          <a:prstGeom prst="line">
            <a:avLst/>
          </a:prstGeom>
          <a:noFill/>
          <a:ln w="6350">
            <a:solidFill>
              <a:srgbClr val="D5DED9"/>
            </a:solidFill>
            <a:prstDash val="solid"/>
          </a:ln>
        </p:spPr>
      </p:sp>
      <p:sp>
        <p:nvSpPr>
          <p:cNvPr id="70" name="Text 64"/>
          <p:cNvSpPr txBox="1"/>
          <p:nvPr/>
        </p:nvSpPr>
        <p:spPr>
          <a:xfrm>
            <a:off x="6519672" y="4114800"/>
            <a:ext cx="2057400" cy="365760"/>
          </a:xfrm>
          <a:prstGeom prst="rect">
            <a:avLst/>
          </a:prstGeom>
          <a:noFill/>
          <a:ln/>
        </p:spPr>
        <p:txBody>
          <a:bodyPr wrap="square" lIns="0" tIns="0" rIns="0" bIns="0" rtlCol="0" anchor="ctr"/>
          <a:lstStyle/>
          <a:p>
            <a:pPr marL="0" indent="0">
              <a:buNone/>
            </a:pPr>
            <a:r>
              <a:rPr lang="en-US" sz="950" i="1" dirty="0">
                <a:solidFill>
                  <a:srgbClr val="B83B2E"/>
                </a:solidFill>
                <a:latin typeface="Calibri" pitchFamily="34" charset="0"/>
                <a:ea typeface="Calibri" pitchFamily="34" charset="-122"/>
                <a:cs typeface="Calibri" pitchFamily="34" charset="-120"/>
              </a:rPr>
              <a:t>National-scale ISCO coding with a small on-premise model</a:t>
            </a:r>
            <a:endParaRPr lang="en-US" sz="950" dirty="0"/>
          </a:p>
        </p:txBody>
      </p:sp>
      <p:sp>
        <p:nvSpPr>
          <p:cNvPr id="71" name="Text 65"/>
          <p:cNvSpPr txBox="1"/>
          <p:nvPr/>
        </p:nvSpPr>
        <p:spPr>
          <a:xfrm>
            <a:off x="457200" y="4636008"/>
            <a:ext cx="749808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Durations and data volumes are indicative orders of magnitude.</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PROMPT, RAG OR FINE-TUNE?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 decision path driven by your evaluation results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B83B2E"/>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71600"/>
            <a:ext cx="2377440" cy="640080"/>
          </a:xfrm>
          <a:prstGeom prst="roundRect">
            <a:avLst>
              <a:gd name="adj" fmla="val 11429"/>
            </a:avLst>
          </a:prstGeom>
          <a:solidFill>
            <a:srgbClr val="FFFFFF"/>
          </a:solidFill>
          <a:ln w="15875">
            <a:solidFill>
              <a:srgbClr val="00704A"/>
            </a:solidFill>
            <a:prstDash val="solid"/>
          </a:ln>
        </p:spPr>
      </p:sp>
      <p:sp>
        <p:nvSpPr>
          <p:cNvPr id="18" name="Text 15"/>
          <p:cNvSpPr txBox="1"/>
          <p:nvPr/>
        </p:nvSpPr>
        <p:spPr>
          <a:xfrm>
            <a:off x="530352" y="1371600"/>
            <a:ext cx="2231136" cy="640080"/>
          </a:xfrm>
          <a:prstGeom prst="rect">
            <a:avLst/>
          </a:prstGeom>
          <a:noFill/>
          <a:ln/>
        </p:spPr>
        <p:txBody>
          <a:bodyPr wrap="square" lIns="0" tIns="0" rIns="0" bIns="0" rtlCol="0" anchor="ctr"/>
          <a:lstStyle/>
          <a:p>
            <a:pPr marL="0" indent="0" algn="ctr">
              <a:buNone/>
            </a:pPr>
            <a:r>
              <a:rPr lang="en-US" sz="1050" b="1" dirty="0">
                <a:solidFill>
                  <a:srgbClr val="231F20"/>
                </a:solidFill>
                <a:latin typeface="Calibri" pitchFamily="34" charset="0"/>
                <a:ea typeface="Calibri" pitchFamily="34" charset="-122"/>
                <a:cs typeface="Calibri" pitchFamily="34" charset="-120"/>
              </a:rPr>
              <a:t>Optimised prompt meets the target on the evaluation set?</a:t>
            </a:r>
            <a:endParaRPr lang="en-US" sz="1050" dirty="0"/>
          </a:p>
        </p:txBody>
      </p:sp>
      <p:sp>
        <p:nvSpPr>
          <p:cNvPr id="19" name="Shape 16"/>
          <p:cNvSpPr/>
          <p:nvPr/>
        </p:nvSpPr>
        <p:spPr>
          <a:xfrm>
            <a:off x="457200" y="2377440"/>
            <a:ext cx="2377440" cy="640080"/>
          </a:xfrm>
          <a:prstGeom prst="roundRect">
            <a:avLst>
              <a:gd name="adj" fmla="val 11429"/>
            </a:avLst>
          </a:prstGeom>
          <a:solidFill>
            <a:srgbClr val="FFFFFF"/>
          </a:solidFill>
          <a:ln w="15875">
            <a:solidFill>
              <a:srgbClr val="00704A"/>
            </a:solidFill>
            <a:prstDash val="solid"/>
          </a:ln>
        </p:spPr>
      </p:sp>
      <p:sp>
        <p:nvSpPr>
          <p:cNvPr id="20" name="Text 17"/>
          <p:cNvSpPr txBox="1"/>
          <p:nvPr/>
        </p:nvSpPr>
        <p:spPr>
          <a:xfrm>
            <a:off x="530352" y="2377440"/>
            <a:ext cx="2231136" cy="640080"/>
          </a:xfrm>
          <a:prstGeom prst="rect">
            <a:avLst/>
          </a:prstGeom>
          <a:noFill/>
          <a:ln/>
        </p:spPr>
        <p:txBody>
          <a:bodyPr wrap="square" lIns="0" tIns="0" rIns="0" bIns="0" rtlCol="0" anchor="ctr"/>
          <a:lstStyle/>
          <a:p>
            <a:pPr marL="0" indent="0" algn="ctr">
              <a:buNone/>
            </a:pPr>
            <a:r>
              <a:rPr lang="en-US" sz="1050" b="1" dirty="0">
                <a:solidFill>
                  <a:srgbClr val="231F20"/>
                </a:solidFill>
                <a:latin typeface="Calibri" pitchFamily="34" charset="0"/>
                <a:ea typeface="Calibri" pitchFamily="34" charset="-122"/>
                <a:cs typeface="Calibri" pitchFamily="34" charset="-120"/>
              </a:rPr>
              <a:t>Failures caused by missing or changing facts?</a:t>
            </a:r>
            <a:endParaRPr lang="en-US" sz="1050" dirty="0"/>
          </a:p>
        </p:txBody>
      </p:sp>
      <p:sp>
        <p:nvSpPr>
          <p:cNvPr id="21" name="Shape 18"/>
          <p:cNvSpPr/>
          <p:nvPr/>
        </p:nvSpPr>
        <p:spPr>
          <a:xfrm>
            <a:off x="457200" y="3383280"/>
            <a:ext cx="2377440" cy="640080"/>
          </a:xfrm>
          <a:prstGeom prst="roundRect">
            <a:avLst>
              <a:gd name="adj" fmla="val 11429"/>
            </a:avLst>
          </a:prstGeom>
          <a:solidFill>
            <a:srgbClr val="FFFFFF"/>
          </a:solidFill>
          <a:ln w="15875">
            <a:solidFill>
              <a:srgbClr val="00704A"/>
            </a:solidFill>
            <a:prstDash val="solid"/>
          </a:ln>
        </p:spPr>
      </p:sp>
      <p:sp>
        <p:nvSpPr>
          <p:cNvPr id="22" name="Text 19"/>
          <p:cNvSpPr txBox="1"/>
          <p:nvPr/>
        </p:nvSpPr>
        <p:spPr>
          <a:xfrm>
            <a:off x="530352" y="3383280"/>
            <a:ext cx="2231136" cy="640080"/>
          </a:xfrm>
          <a:prstGeom prst="rect">
            <a:avLst/>
          </a:prstGeom>
          <a:noFill/>
          <a:ln/>
        </p:spPr>
        <p:txBody>
          <a:bodyPr wrap="square" lIns="0" tIns="0" rIns="0" bIns="0" rtlCol="0" anchor="ctr"/>
          <a:lstStyle/>
          <a:p>
            <a:pPr marL="0" indent="0" algn="ctr">
              <a:buNone/>
            </a:pPr>
            <a:r>
              <a:rPr lang="en-US" sz="1050" b="1" dirty="0">
                <a:solidFill>
                  <a:srgbClr val="231F20"/>
                </a:solidFill>
                <a:latin typeface="Calibri" pitchFamily="34" charset="0"/>
                <a:ea typeface="Calibri" pitchFamily="34" charset="-122"/>
                <a:cs typeface="Calibri" pitchFamily="34" charset="-120"/>
              </a:rPr>
              <a:t>Need consistency at scale, with hundreds of labelled examples?</a:t>
            </a:r>
            <a:endParaRPr lang="en-US" sz="1050" dirty="0"/>
          </a:p>
        </p:txBody>
      </p:sp>
      <p:sp>
        <p:nvSpPr>
          <p:cNvPr id="23" name="Shape 20"/>
          <p:cNvSpPr/>
          <p:nvPr/>
        </p:nvSpPr>
        <p:spPr>
          <a:xfrm>
            <a:off x="1645920" y="2011680"/>
            <a:ext cx="0" cy="365760"/>
          </a:xfrm>
          <a:prstGeom prst="line">
            <a:avLst/>
          </a:prstGeom>
          <a:noFill/>
          <a:ln w="15875">
            <a:solidFill>
              <a:srgbClr val="5E6964"/>
            </a:solidFill>
            <a:prstDash val="solid"/>
            <a:tailEnd type="triangle"/>
          </a:ln>
        </p:spPr>
      </p:sp>
      <p:sp>
        <p:nvSpPr>
          <p:cNvPr id="24" name="Text 21"/>
          <p:cNvSpPr txBox="1"/>
          <p:nvPr/>
        </p:nvSpPr>
        <p:spPr>
          <a:xfrm>
            <a:off x="1719072" y="2103120"/>
            <a:ext cx="457200" cy="182880"/>
          </a:xfrm>
          <a:prstGeom prst="rect">
            <a:avLst/>
          </a:prstGeom>
          <a:noFill/>
          <a:ln/>
        </p:spPr>
        <p:txBody>
          <a:bodyPr wrap="square" lIns="0" tIns="0" rIns="0" bIns="0" rtlCol="0" anchor="t"/>
          <a:lstStyle/>
          <a:p>
            <a:pPr marL="0" indent="0">
              <a:buNone/>
            </a:pPr>
            <a:r>
              <a:rPr lang="en-US" sz="900" b="1" dirty="0">
                <a:solidFill>
                  <a:srgbClr val="B83B2E"/>
                </a:solidFill>
                <a:latin typeface="Calibri" pitchFamily="34" charset="0"/>
                <a:ea typeface="Calibri" pitchFamily="34" charset="-122"/>
                <a:cs typeface="Calibri" pitchFamily="34" charset="-120"/>
              </a:rPr>
              <a:t>NO</a:t>
            </a:r>
            <a:endParaRPr lang="en-US" sz="900" dirty="0"/>
          </a:p>
        </p:txBody>
      </p:sp>
      <p:sp>
        <p:nvSpPr>
          <p:cNvPr id="25" name="Shape 22"/>
          <p:cNvSpPr/>
          <p:nvPr/>
        </p:nvSpPr>
        <p:spPr>
          <a:xfrm>
            <a:off x="1645920" y="3017520"/>
            <a:ext cx="0" cy="365760"/>
          </a:xfrm>
          <a:prstGeom prst="line">
            <a:avLst/>
          </a:prstGeom>
          <a:noFill/>
          <a:ln w="15875">
            <a:solidFill>
              <a:srgbClr val="5E6964"/>
            </a:solidFill>
            <a:prstDash val="solid"/>
            <a:tailEnd type="triangle"/>
          </a:ln>
        </p:spPr>
      </p:sp>
      <p:sp>
        <p:nvSpPr>
          <p:cNvPr id="26" name="Text 23"/>
          <p:cNvSpPr txBox="1"/>
          <p:nvPr/>
        </p:nvSpPr>
        <p:spPr>
          <a:xfrm>
            <a:off x="1719072" y="3108960"/>
            <a:ext cx="457200" cy="182880"/>
          </a:xfrm>
          <a:prstGeom prst="rect">
            <a:avLst/>
          </a:prstGeom>
          <a:noFill/>
          <a:ln/>
        </p:spPr>
        <p:txBody>
          <a:bodyPr wrap="square" lIns="0" tIns="0" rIns="0" bIns="0" rtlCol="0" anchor="t"/>
          <a:lstStyle/>
          <a:p>
            <a:pPr marL="0" indent="0">
              <a:buNone/>
            </a:pPr>
            <a:r>
              <a:rPr lang="en-US" sz="900" b="1" dirty="0">
                <a:solidFill>
                  <a:srgbClr val="B83B2E"/>
                </a:solidFill>
                <a:latin typeface="Calibri" pitchFamily="34" charset="0"/>
                <a:ea typeface="Calibri" pitchFamily="34" charset="-122"/>
                <a:cs typeface="Calibri" pitchFamily="34" charset="-120"/>
              </a:rPr>
              <a:t>NO</a:t>
            </a:r>
            <a:endParaRPr lang="en-US" sz="900" dirty="0"/>
          </a:p>
        </p:txBody>
      </p:sp>
      <p:sp>
        <p:nvSpPr>
          <p:cNvPr id="27" name="Shape 24"/>
          <p:cNvSpPr/>
          <p:nvPr/>
        </p:nvSpPr>
        <p:spPr>
          <a:xfrm>
            <a:off x="3566160" y="1371600"/>
            <a:ext cx="2103120" cy="640080"/>
          </a:xfrm>
          <a:prstGeom prst="roundRect">
            <a:avLst>
              <a:gd name="adj" fmla="val 11429"/>
            </a:avLst>
          </a:prstGeom>
          <a:solidFill>
            <a:srgbClr val="00A86A"/>
          </a:solidFill>
          <a:ln w="15875">
            <a:solidFill>
              <a:srgbClr val="00A86A"/>
            </a:solidFill>
            <a:prstDash val="solid"/>
          </a:ln>
        </p:spPr>
      </p:sp>
      <p:sp>
        <p:nvSpPr>
          <p:cNvPr id="28" name="Text 25"/>
          <p:cNvSpPr txBox="1"/>
          <p:nvPr/>
        </p:nvSpPr>
        <p:spPr>
          <a:xfrm>
            <a:off x="3639312" y="1371600"/>
            <a:ext cx="1956816"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Deploy, monitor, re-test on model updates</a:t>
            </a:r>
            <a:endParaRPr lang="en-US" sz="1050" dirty="0"/>
          </a:p>
        </p:txBody>
      </p:sp>
      <p:sp>
        <p:nvSpPr>
          <p:cNvPr id="29" name="Shape 26"/>
          <p:cNvSpPr/>
          <p:nvPr/>
        </p:nvSpPr>
        <p:spPr>
          <a:xfrm>
            <a:off x="3566160" y="2377440"/>
            <a:ext cx="2103120" cy="640080"/>
          </a:xfrm>
          <a:prstGeom prst="roundRect">
            <a:avLst>
              <a:gd name="adj" fmla="val 11429"/>
            </a:avLst>
          </a:prstGeom>
          <a:solidFill>
            <a:srgbClr val="0E7C86"/>
          </a:solidFill>
          <a:ln w="15875">
            <a:solidFill>
              <a:srgbClr val="0E7C86"/>
            </a:solidFill>
            <a:prstDash val="solid"/>
          </a:ln>
        </p:spPr>
      </p:sp>
      <p:sp>
        <p:nvSpPr>
          <p:cNvPr id="30" name="Text 27"/>
          <p:cNvSpPr txBox="1"/>
          <p:nvPr/>
        </p:nvSpPr>
        <p:spPr>
          <a:xfrm>
            <a:off x="3639312" y="2377440"/>
            <a:ext cx="1956816"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Add RAG, cite sources</a:t>
            </a:r>
            <a:endParaRPr lang="en-US" sz="1050" dirty="0"/>
          </a:p>
        </p:txBody>
      </p:sp>
      <p:sp>
        <p:nvSpPr>
          <p:cNvPr id="31" name="Shape 28"/>
          <p:cNvSpPr/>
          <p:nvPr/>
        </p:nvSpPr>
        <p:spPr>
          <a:xfrm>
            <a:off x="3566160" y="3383280"/>
            <a:ext cx="2103120" cy="640080"/>
          </a:xfrm>
          <a:prstGeom prst="roundRect">
            <a:avLst>
              <a:gd name="adj" fmla="val 11429"/>
            </a:avLst>
          </a:prstGeom>
          <a:solidFill>
            <a:srgbClr val="B83B2E"/>
          </a:solidFill>
          <a:ln w="15875">
            <a:solidFill>
              <a:srgbClr val="B83B2E"/>
            </a:solidFill>
            <a:prstDash val="solid"/>
          </a:ln>
        </p:spPr>
      </p:sp>
      <p:sp>
        <p:nvSpPr>
          <p:cNvPr id="32" name="Text 29"/>
          <p:cNvSpPr txBox="1"/>
          <p:nvPr/>
        </p:nvSpPr>
        <p:spPr>
          <a:xfrm>
            <a:off x="3639312" y="3383280"/>
            <a:ext cx="1956816"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Consider fine-tuning, open-weight and on-premise if confidential</a:t>
            </a:r>
            <a:endParaRPr lang="en-US" sz="1050" dirty="0"/>
          </a:p>
        </p:txBody>
      </p:sp>
      <p:sp>
        <p:nvSpPr>
          <p:cNvPr id="33" name="Shape 30"/>
          <p:cNvSpPr/>
          <p:nvPr/>
        </p:nvSpPr>
        <p:spPr>
          <a:xfrm>
            <a:off x="2834640" y="1691640"/>
            <a:ext cx="731520" cy="0"/>
          </a:xfrm>
          <a:prstGeom prst="line">
            <a:avLst/>
          </a:prstGeom>
          <a:noFill/>
          <a:ln w="15875">
            <a:solidFill>
              <a:srgbClr val="5E6964"/>
            </a:solidFill>
            <a:prstDash val="solid"/>
            <a:tailEnd type="triangle"/>
          </a:ln>
        </p:spPr>
      </p:sp>
      <p:sp>
        <p:nvSpPr>
          <p:cNvPr id="34" name="Text 31"/>
          <p:cNvSpPr txBox="1"/>
          <p:nvPr/>
        </p:nvSpPr>
        <p:spPr>
          <a:xfrm>
            <a:off x="3017520" y="1463040"/>
            <a:ext cx="457200" cy="182880"/>
          </a:xfrm>
          <a:prstGeom prst="rect">
            <a:avLst/>
          </a:prstGeom>
          <a:noFill/>
          <a:ln/>
        </p:spPr>
        <p:txBody>
          <a:bodyPr wrap="square" lIns="0" tIns="0" rIns="0" bIns="0" rtlCol="0" anchor="t"/>
          <a:lstStyle/>
          <a:p>
            <a:pPr marL="0" indent="0">
              <a:buNone/>
            </a:pPr>
            <a:r>
              <a:rPr lang="en-US" sz="900" b="1" dirty="0">
                <a:solidFill>
                  <a:srgbClr val="00A86A"/>
                </a:solidFill>
                <a:latin typeface="Calibri" pitchFamily="34" charset="0"/>
                <a:ea typeface="Calibri" pitchFamily="34" charset="-122"/>
                <a:cs typeface="Calibri" pitchFamily="34" charset="-120"/>
              </a:rPr>
              <a:t>YES</a:t>
            </a:r>
            <a:endParaRPr lang="en-US" sz="900" dirty="0"/>
          </a:p>
        </p:txBody>
      </p:sp>
      <p:sp>
        <p:nvSpPr>
          <p:cNvPr id="35" name="Shape 32"/>
          <p:cNvSpPr/>
          <p:nvPr/>
        </p:nvSpPr>
        <p:spPr>
          <a:xfrm>
            <a:off x="2834640" y="2697480"/>
            <a:ext cx="731520" cy="0"/>
          </a:xfrm>
          <a:prstGeom prst="line">
            <a:avLst/>
          </a:prstGeom>
          <a:noFill/>
          <a:ln w="15875">
            <a:solidFill>
              <a:srgbClr val="5E6964"/>
            </a:solidFill>
            <a:prstDash val="solid"/>
            <a:tailEnd type="triangle"/>
          </a:ln>
        </p:spPr>
      </p:sp>
      <p:sp>
        <p:nvSpPr>
          <p:cNvPr id="36" name="Text 33"/>
          <p:cNvSpPr txBox="1"/>
          <p:nvPr/>
        </p:nvSpPr>
        <p:spPr>
          <a:xfrm>
            <a:off x="3017520" y="2468880"/>
            <a:ext cx="457200" cy="182880"/>
          </a:xfrm>
          <a:prstGeom prst="rect">
            <a:avLst/>
          </a:prstGeom>
          <a:noFill/>
          <a:ln/>
        </p:spPr>
        <p:txBody>
          <a:bodyPr wrap="square" lIns="0" tIns="0" rIns="0" bIns="0" rtlCol="0" anchor="t"/>
          <a:lstStyle/>
          <a:p>
            <a:pPr marL="0" indent="0">
              <a:buNone/>
            </a:pPr>
            <a:r>
              <a:rPr lang="en-US" sz="900" b="1" dirty="0">
                <a:solidFill>
                  <a:srgbClr val="00A86A"/>
                </a:solidFill>
                <a:latin typeface="Calibri" pitchFamily="34" charset="0"/>
                <a:ea typeface="Calibri" pitchFamily="34" charset="-122"/>
                <a:cs typeface="Calibri" pitchFamily="34" charset="-120"/>
              </a:rPr>
              <a:t>YES</a:t>
            </a:r>
            <a:endParaRPr lang="en-US" sz="900" dirty="0"/>
          </a:p>
        </p:txBody>
      </p:sp>
      <p:sp>
        <p:nvSpPr>
          <p:cNvPr id="37" name="Shape 34"/>
          <p:cNvSpPr/>
          <p:nvPr/>
        </p:nvSpPr>
        <p:spPr>
          <a:xfrm>
            <a:off x="2834640" y="3703320"/>
            <a:ext cx="731520" cy="0"/>
          </a:xfrm>
          <a:prstGeom prst="line">
            <a:avLst/>
          </a:prstGeom>
          <a:noFill/>
          <a:ln w="15875">
            <a:solidFill>
              <a:srgbClr val="5E6964"/>
            </a:solidFill>
            <a:prstDash val="solid"/>
            <a:tailEnd type="triangle"/>
          </a:ln>
        </p:spPr>
      </p:sp>
      <p:sp>
        <p:nvSpPr>
          <p:cNvPr id="38" name="Text 35"/>
          <p:cNvSpPr txBox="1"/>
          <p:nvPr/>
        </p:nvSpPr>
        <p:spPr>
          <a:xfrm>
            <a:off x="3017520" y="3474720"/>
            <a:ext cx="457200" cy="182880"/>
          </a:xfrm>
          <a:prstGeom prst="rect">
            <a:avLst/>
          </a:prstGeom>
          <a:noFill/>
          <a:ln/>
        </p:spPr>
        <p:txBody>
          <a:bodyPr wrap="square" lIns="0" tIns="0" rIns="0" bIns="0" rtlCol="0" anchor="t"/>
          <a:lstStyle/>
          <a:p>
            <a:pPr marL="0" indent="0">
              <a:buNone/>
            </a:pPr>
            <a:r>
              <a:rPr lang="en-US" sz="900" b="1" dirty="0">
                <a:solidFill>
                  <a:srgbClr val="00A86A"/>
                </a:solidFill>
                <a:latin typeface="Calibri" pitchFamily="34" charset="0"/>
                <a:ea typeface="Calibri" pitchFamily="34" charset="-122"/>
                <a:cs typeface="Calibri" pitchFamily="34" charset="-120"/>
              </a:rPr>
              <a:t>YES</a:t>
            </a:r>
            <a:endParaRPr lang="en-US" sz="900" dirty="0"/>
          </a:p>
        </p:txBody>
      </p:sp>
      <p:sp>
        <p:nvSpPr>
          <p:cNvPr id="39" name="Shape 36"/>
          <p:cNvSpPr/>
          <p:nvPr/>
        </p:nvSpPr>
        <p:spPr>
          <a:xfrm>
            <a:off x="1645920" y="4023360"/>
            <a:ext cx="0" cy="274320"/>
          </a:xfrm>
          <a:prstGeom prst="line">
            <a:avLst/>
          </a:prstGeom>
          <a:noFill/>
          <a:ln w="15875">
            <a:solidFill>
              <a:srgbClr val="5E6964"/>
            </a:solidFill>
            <a:prstDash val="solid"/>
            <a:tailEnd type="triangle"/>
          </a:ln>
        </p:spPr>
      </p:sp>
      <p:sp>
        <p:nvSpPr>
          <p:cNvPr id="40" name="Text 37"/>
          <p:cNvSpPr txBox="1"/>
          <p:nvPr/>
        </p:nvSpPr>
        <p:spPr>
          <a:xfrm>
            <a:off x="1719072" y="4050792"/>
            <a:ext cx="457200" cy="182880"/>
          </a:xfrm>
          <a:prstGeom prst="rect">
            <a:avLst/>
          </a:prstGeom>
          <a:noFill/>
          <a:ln/>
        </p:spPr>
        <p:txBody>
          <a:bodyPr wrap="square" lIns="0" tIns="0" rIns="0" bIns="0" rtlCol="0" anchor="t"/>
          <a:lstStyle/>
          <a:p>
            <a:pPr marL="0" indent="0">
              <a:buNone/>
            </a:pPr>
            <a:r>
              <a:rPr lang="en-US" sz="900" b="1" dirty="0">
                <a:solidFill>
                  <a:srgbClr val="B83B2E"/>
                </a:solidFill>
                <a:latin typeface="Calibri" pitchFamily="34" charset="0"/>
                <a:ea typeface="Calibri" pitchFamily="34" charset="-122"/>
                <a:cs typeface="Calibri" pitchFamily="34" charset="-120"/>
              </a:rPr>
              <a:t>NO</a:t>
            </a:r>
            <a:endParaRPr lang="en-US" sz="900" dirty="0"/>
          </a:p>
        </p:txBody>
      </p:sp>
      <p:sp>
        <p:nvSpPr>
          <p:cNvPr id="41" name="Shape 38"/>
          <p:cNvSpPr/>
          <p:nvPr/>
        </p:nvSpPr>
        <p:spPr>
          <a:xfrm>
            <a:off x="457200" y="4297680"/>
            <a:ext cx="5212080" cy="329184"/>
          </a:xfrm>
          <a:prstGeom prst="roundRect">
            <a:avLst>
              <a:gd name="adj" fmla="val 22222"/>
            </a:avLst>
          </a:prstGeom>
          <a:solidFill>
            <a:srgbClr val="E8F5EF"/>
          </a:solidFill>
          <a:ln w="15875">
            <a:solidFill>
              <a:srgbClr val="D5DED9"/>
            </a:solidFill>
            <a:prstDash val="solid"/>
          </a:ln>
        </p:spPr>
      </p:sp>
      <p:sp>
        <p:nvSpPr>
          <p:cNvPr id="42" name="Text 39"/>
          <p:cNvSpPr txBox="1"/>
          <p:nvPr/>
        </p:nvSpPr>
        <p:spPr>
          <a:xfrm>
            <a:off x="530352" y="4297680"/>
            <a:ext cx="5065776" cy="329184"/>
          </a:xfrm>
          <a:prstGeom prst="rect">
            <a:avLst/>
          </a:prstGeom>
          <a:noFill/>
          <a:ln/>
        </p:spPr>
        <p:txBody>
          <a:bodyPr wrap="square" lIns="0" tIns="0" rIns="0" bIns="0" rtlCol="0" anchor="ctr"/>
          <a:lstStyle/>
          <a:p>
            <a:pPr marL="0" indent="0" algn="ctr">
              <a:buNone/>
            </a:pPr>
            <a:r>
              <a:rPr lang="en-US" sz="1050" b="1" dirty="0">
                <a:solidFill>
                  <a:srgbClr val="00704A"/>
                </a:solidFill>
                <a:latin typeface="Calibri" pitchFamily="34" charset="0"/>
                <a:ea typeface="Calibri" pitchFamily="34" charset="-122"/>
                <a:cs typeface="Calibri" pitchFamily="34" charset="-120"/>
              </a:rPr>
              <a:t>Otherwise: decompose into a prompt chain, or collect more labelled data</a:t>
            </a:r>
            <a:endParaRPr lang="en-US" sz="1050" dirty="0"/>
          </a:p>
        </p:txBody>
      </p:sp>
      <p:sp>
        <p:nvSpPr>
          <p:cNvPr id="43" name="Shape 40"/>
          <p:cNvSpPr/>
          <p:nvPr/>
        </p:nvSpPr>
        <p:spPr>
          <a:xfrm>
            <a:off x="5989320" y="1371600"/>
            <a:ext cx="2697480" cy="3255264"/>
          </a:xfrm>
          <a:prstGeom prst="roundRect">
            <a:avLst>
              <a:gd name="adj" fmla="val 2712"/>
            </a:avLst>
          </a:prstGeom>
          <a:solidFill>
            <a:srgbClr val="E8F5EF"/>
          </a:solidFill>
          <a:ln w="15875">
            <a:solidFill>
              <a:srgbClr val="B83B2E"/>
            </a:solidFill>
            <a:prstDash val="solid"/>
          </a:ln>
        </p:spPr>
      </p:sp>
      <p:sp>
        <p:nvSpPr>
          <p:cNvPr id="44" name="Shape 41"/>
          <p:cNvSpPr/>
          <p:nvPr/>
        </p:nvSpPr>
        <p:spPr>
          <a:xfrm>
            <a:off x="6144768" y="1508760"/>
            <a:ext cx="457200" cy="457200"/>
          </a:xfrm>
          <a:prstGeom prst="ellipse">
            <a:avLst/>
          </a:prstGeom>
          <a:solidFill>
            <a:srgbClr val="B83B2E">
              <a:alpha val="22000"/>
            </a:srgbClr>
          </a:solidFill>
          <a:ln/>
        </p:spPr>
      </p:sp>
      <p:pic>
        <p:nvPicPr>
          <p:cNvPr id="45" name="Image 0" descr="preencoded.png"/>
          <p:cNvPicPr>
            <a:picLocks noChangeAspect="1"/>
          </p:cNvPicPr>
          <p:nvPr/>
        </p:nvPicPr>
        <p:blipFill>
          <a:blip r:embed="rId3"/>
          <a:stretch>
            <a:fillRect/>
          </a:stretch>
        </p:blipFill>
        <p:spPr>
          <a:xfrm>
            <a:off x="6254496" y="1618488"/>
            <a:ext cx="237744" cy="237744"/>
          </a:xfrm>
          <a:prstGeom prst="rect">
            <a:avLst/>
          </a:prstGeom>
        </p:spPr>
      </p:pic>
      <p:sp>
        <p:nvSpPr>
          <p:cNvPr id="46" name="Text 42"/>
          <p:cNvSpPr txBox="1"/>
          <p:nvPr/>
        </p:nvSpPr>
        <p:spPr>
          <a:xfrm>
            <a:off x="6693408" y="1508760"/>
            <a:ext cx="192024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Sovereignty check</a:t>
            </a:r>
            <a:endParaRPr lang="en-US" sz="1350" dirty="0"/>
          </a:p>
        </p:txBody>
      </p:sp>
      <p:sp>
        <p:nvSpPr>
          <p:cNvPr id="47" name="Text 43"/>
          <p:cNvSpPr txBox="1"/>
          <p:nvPr/>
        </p:nvSpPr>
        <p:spPr>
          <a:xfrm>
            <a:off x="6144768" y="2103120"/>
            <a:ext cx="2423160" cy="2377440"/>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Can these data leave the office?</a:t>
            </a:r>
            <a:endParaRPr lang="en-US" sz="1050" dirty="0"/>
          </a:p>
          <a:p>
            <a:pPr marL="0" indent="0">
              <a:buNone/>
            </a:pPr>
            <a:r>
              <a:rPr lang="en-US" sz="1050" dirty="0">
                <a:solidFill>
                  <a:srgbClr val="231F20"/>
                </a:solidFill>
                <a:latin typeface="Calibri" pitchFamily="34" charset="0"/>
                <a:ea typeface="Calibri" pitchFamily="34" charset="-122"/>
                <a:cs typeface="Calibri" pitchFamily="34" charset="-120"/>
              </a:rPr>
              <a:t>If not, only providers under your legal control, or self-hosted open-weight models, are eligible, whatever the route.</a:t>
            </a:r>
            <a:endParaRPr lang="en-US" sz="1050" dirty="0"/>
          </a:p>
          <a:p>
            <a:pPr marL="0" indent="0">
              <a:buNone/>
            </a:pPr>
            <a:r>
              <a:rPr lang="en-US" sz="600" dirty="0">
                <a:solidFill>
                  <a:srgbClr val="231F20"/>
                </a:solidFill>
                <a:latin typeface="Calibri" pitchFamily="34" charset="0"/>
                <a:ea typeface="Calibri" pitchFamily="34" charset="-122"/>
                <a:cs typeface="Calibri" pitchFamily="34" charset="-120"/>
              </a:rPr>
              <a:t> </a:t>
            </a:r>
            <a:endParaRPr lang="en-US" sz="1050" dirty="0"/>
          </a:p>
          <a:p>
            <a:pPr marL="0" indent="0">
              <a:buNone/>
            </a:pPr>
            <a:r>
              <a:rPr lang="en-US" sz="1050" b="1" dirty="0">
                <a:solidFill>
                  <a:srgbClr val="231F20"/>
                </a:solidFill>
                <a:latin typeface="Calibri" pitchFamily="34" charset="0"/>
                <a:ea typeface="Calibri" pitchFamily="34" charset="-122"/>
                <a:cs typeface="Calibri" pitchFamily="34" charset="-120"/>
              </a:rPr>
              <a:t>Whatever the route:</a:t>
            </a:r>
            <a:endParaRPr lang="en-US" sz="1050" dirty="0"/>
          </a:p>
          <a:p>
            <a:pPr marL="0" indent="0">
              <a:buNone/>
            </a:pPr>
            <a:r>
              <a:rPr lang="en-US" sz="1050" dirty="0">
                <a:solidFill>
                  <a:srgbClr val="231F20"/>
                </a:solidFill>
                <a:latin typeface="Calibri" pitchFamily="34" charset="0"/>
                <a:ea typeface="Calibri" pitchFamily="34" charset="-122"/>
                <a:cs typeface="Calibri" pitchFamily="34" charset="-120"/>
              </a:rPr>
              <a:t>re-run the same evaluation set and log the result.</a:t>
            </a:r>
            <a:endParaRPr lang="en-US" sz="10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HANDS-ON LAB · 17 MINUTES · IN PAIRS</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Optimise the coding prompt on a frozen set</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731520" y="1627632"/>
            <a:ext cx="7680960" cy="0"/>
          </a:xfrm>
          <a:prstGeom prst="line">
            <a:avLst/>
          </a:prstGeom>
          <a:noFill/>
          <a:ln w="25400">
            <a:solidFill>
              <a:srgbClr val="D5DED9"/>
            </a:solidFill>
            <a:prstDash val="solid"/>
          </a:ln>
        </p:spPr>
      </p:sp>
      <p:sp>
        <p:nvSpPr>
          <p:cNvPr id="18" name="Shape 15"/>
          <p:cNvSpPr/>
          <p:nvPr/>
        </p:nvSpPr>
        <p:spPr>
          <a:xfrm>
            <a:off x="960120" y="1353312"/>
            <a:ext cx="548640" cy="548640"/>
          </a:xfrm>
          <a:prstGeom prst="ellipse">
            <a:avLst/>
          </a:prstGeom>
          <a:solidFill>
            <a:srgbClr val="00704A"/>
          </a:solidFill>
          <a:ln w="25400">
            <a:solidFill>
              <a:srgbClr val="FFFFFF"/>
            </a:solidFill>
            <a:prstDash val="solid"/>
          </a:ln>
        </p:spPr>
      </p:sp>
      <p:sp>
        <p:nvSpPr>
          <p:cNvPr id="19" name="Text 16"/>
          <p:cNvSpPr txBox="1"/>
          <p:nvPr/>
        </p:nvSpPr>
        <p:spPr>
          <a:xfrm>
            <a:off x="960120" y="13533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Shape 17"/>
          <p:cNvSpPr/>
          <p:nvPr/>
        </p:nvSpPr>
        <p:spPr>
          <a:xfrm>
            <a:off x="457200" y="2029968"/>
            <a:ext cx="1554480" cy="1417320"/>
          </a:xfrm>
          <a:prstGeom prst="roundRect">
            <a:avLst>
              <a:gd name="adj" fmla="val 5161"/>
            </a:avLst>
          </a:prstGeom>
          <a:solidFill>
            <a:srgbClr val="F4F7F5"/>
          </a:solidFill>
          <a:ln w="9525">
            <a:solidFill>
              <a:srgbClr val="D5DED9"/>
            </a:solidFill>
            <a:prstDash val="solid"/>
          </a:ln>
        </p:spPr>
      </p:sp>
      <p:sp>
        <p:nvSpPr>
          <p:cNvPr id="21" name="Text 18"/>
          <p:cNvSpPr txBox="1"/>
          <p:nvPr/>
        </p:nvSpPr>
        <p:spPr>
          <a:xfrm>
            <a:off x="566928" y="2103120"/>
            <a:ext cx="1335024"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0–3 min</a:t>
            </a:r>
            <a:endParaRPr lang="en-US" sz="950" dirty="0"/>
          </a:p>
        </p:txBody>
      </p:sp>
      <p:sp>
        <p:nvSpPr>
          <p:cNvPr id="22" name="Text 19"/>
          <p:cNvSpPr txBox="1"/>
          <p:nvPr/>
        </p:nvSpPr>
        <p:spPr>
          <a:xfrm>
            <a:off x="566928" y="2304288"/>
            <a:ext cx="1335024" cy="25603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Set up</a:t>
            </a:r>
            <a:endParaRPr lang="en-US" sz="1400" dirty="0"/>
          </a:p>
        </p:txBody>
      </p:sp>
      <p:sp>
        <p:nvSpPr>
          <p:cNvPr id="23" name="Text 20"/>
          <p:cNvSpPr txBox="1"/>
          <p:nvPr/>
        </p:nvSpPr>
        <p:spPr>
          <a:xfrm>
            <a:off x="566928" y="260604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Open the lab materials, load prompt v0 and the frozen 30-case set.</a:t>
            </a:r>
            <a:endParaRPr lang="en-US" sz="1000" dirty="0"/>
          </a:p>
        </p:txBody>
      </p:sp>
      <p:sp>
        <p:nvSpPr>
          <p:cNvPr id="24" name="Shape 21"/>
          <p:cNvSpPr/>
          <p:nvPr/>
        </p:nvSpPr>
        <p:spPr>
          <a:xfrm>
            <a:off x="2628900" y="1353312"/>
            <a:ext cx="548640" cy="548640"/>
          </a:xfrm>
          <a:prstGeom prst="ellipse">
            <a:avLst/>
          </a:prstGeom>
          <a:solidFill>
            <a:srgbClr val="00704A"/>
          </a:solidFill>
          <a:ln w="25400">
            <a:solidFill>
              <a:srgbClr val="FFFFFF"/>
            </a:solidFill>
            <a:prstDash val="solid"/>
          </a:ln>
        </p:spPr>
      </p:sp>
      <p:sp>
        <p:nvSpPr>
          <p:cNvPr id="25" name="Text 22"/>
          <p:cNvSpPr txBox="1"/>
          <p:nvPr/>
        </p:nvSpPr>
        <p:spPr>
          <a:xfrm>
            <a:off x="2628900" y="13533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6" name="Shape 23"/>
          <p:cNvSpPr/>
          <p:nvPr/>
        </p:nvSpPr>
        <p:spPr>
          <a:xfrm>
            <a:off x="2125980" y="2029968"/>
            <a:ext cx="1554480" cy="1417320"/>
          </a:xfrm>
          <a:prstGeom prst="roundRect">
            <a:avLst>
              <a:gd name="adj" fmla="val 5161"/>
            </a:avLst>
          </a:prstGeom>
          <a:solidFill>
            <a:srgbClr val="F4F7F5"/>
          </a:solidFill>
          <a:ln w="9525">
            <a:solidFill>
              <a:srgbClr val="D5DED9"/>
            </a:solidFill>
            <a:prstDash val="solid"/>
          </a:ln>
        </p:spPr>
      </p:sp>
      <p:sp>
        <p:nvSpPr>
          <p:cNvPr id="27" name="Text 24"/>
          <p:cNvSpPr txBox="1"/>
          <p:nvPr/>
        </p:nvSpPr>
        <p:spPr>
          <a:xfrm>
            <a:off x="2235708" y="2103120"/>
            <a:ext cx="1335024"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3–6 min</a:t>
            </a:r>
            <a:endParaRPr lang="en-US" sz="950" dirty="0"/>
          </a:p>
        </p:txBody>
      </p:sp>
      <p:sp>
        <p:nvSpPr>
          <p:cNvPr id="28" name="Text 25"/>
          <p:cNvSpPr txBox="1"/>
          <p:nvPr/>
        </p:nvSpPr>
        <p:spPr>
          <a:xfrm>
            <a:off x="2235708" y="2304288"/>
            <a:ext cx="1335024" cy="25603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Baseline</a:t>
            </a:r>
            <a:endParaRPr lang="en-US" sz="1400" dirty="0"/>
          </a:p>
        </p:txBody>
      </p:sp>
      <p:sp>
        <p:nvSpPr>
          <p:cNvPr id="29" name="Text 26"/>
          <p:cNvSpPr txBox="1"/>
          <p:nvPr/>
        </p:nvSpPr>
        <p:spPr>
          <a:xfrm>
            <a:off x="2235708" y="260604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Run v0. Record accuracy, JSON validity and tokens used.</a:t>
            </a:r>
            <a:endParaRPr lang="en-US" sz="1000" dirty="0"/>
          </a:p>
        </p:txBody>
      </p:sp>
      <p:sp>
        <p:nvSpPr>
          <p:cNvPr id="30" name="Shape 27"/>
          <p:cNvSpPr/>
          <p:nvPr/>
        </p:nvSpPr>
        <p:spPr>
          <a:xfrm>
            <a:off x="4297680" y="1353312"/>
            <a:ext cx="548640" cy="548640"/>
          </a:xfrm>
          <a:prstGeom prst="ellipse">
            <a:avLst/>
          </a:prstGeom>
          <a:solidFill>
            <a:srgbClr val="00704A"/>
          </a:solidFill>
          <a:ln w="25400">
            <a:solidFill>
              <a:srgbClr val="FFFFFF"/>
            </a:solidFill>
            <a:prstDash val="solid"/>
          </a:ln>
        </p:spPr>
      </p:sp>
      <p:sp>
        <p:nvSpPr>
          <p:cNvPr id="31" name="Text 28"/>
          <p:cNvSpPr txBox="1"/>
          <p:nvPr/>
        </p:nvSpPr>
        <p:spPr>
          <a:xfrm>
            <a:off x="4297680" y="13533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2" name="Shape 29"/>
          <p:cNvSpPr/>
          <p:nvPr/>
        </p:nvSpPr>
        <p:spPr>
          <a:xfrm>
            <a:off x="3794760" y="2029968"/>
            <a:ext cx="1554480" cy="1417320"/>
          </a:xfrm>
          <a:prstGeom prst="roundRect">
            <a:avLst>
              <a:gd name="adj" fmla="val 5161"/>
            </a:avLst>
          </a:prstGeom>
          <a:solidFill>
            <a:srgbClr val="F4F7F5"/>
          </a:solidFill>
          <a:ln w="9525">
            <a:solidFill>
              <a:srgbClr val="D5DED9"/>
            </a:solidFill>
            <a:prstDash val="solid"/>
          </a:ln>
        </p:spPr>
      </p:sp>
      <p:sp>
        <p:nvSpPr>
          <p:cNvPr id="33" name="Text 30"/>
          <p:cNvSpPr txBox="1"/>
          <p:nvPr/>
        </p:nvSpPr>
        <p:spPr>
          <a:xfrm>
            <a:off x="3904488" y="2103120"/>
            <a:ext cx="1335024"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6–9 min</a:t>
            </a:r>
            <a:endParaRPr lang="en-US" sz="950" dirty="0"/>
          </a:p>
        </p:txBody>
      </p:sp>
      <p:sp>
        <p:nvSpPr>
          <p:cNvPr id="34" name="Text 31"/>
          <p:cNvSpPr txBox="1"/>
          <p:nvPr/>
        </p:nvSpPr>
        <p:spPr>
          <a:xfrm>
            <a:off x="3904488" y="2304288"/>
            <a:ext cx="1335024" cy="25603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Diagnose</a:t>
            </a:r>
            <a:endParaRPr lang="en-US" sz="1400" dirty="0"/>
          </a:p>
        </p:txBody>
      </p:sp>
      <p:sp>
        <p:nvSpPr>
          <p:cNvPr id="35" name="Text 32"/>
          <p:cNvSpPr txBox="1"/>
          <p:nvPr/>
        </p:nvSpPr>
        <p:spPr>
          <a:xfrm>
            <a:off x="3904488" y="260604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Read every failure. Name the cause of the top three.</a:t>
            </a:r>
            <a:endParaRPr lang="en-US" sz="1000" dirty="0"/>
          </a:p>
        </p:txBody>
      </p:sp>
      <p:sp>
        <p:nvSpPr>
          <p:cNvPr id="36" name="Shape 33"/>
          <p:cNvSpPr/>
          <p:nvPr/>
        </p:nvSpPr>
        <p:spPr>
          <a:xfrm>
            <a:off x="5966460" y="1353312"/>
            <a:ext cx="548640" cy="548640"/>
          </a:xfrm>
          <a:prstGeom prst="ellipse">
            <a:avLst/>
          </a:prstGeom>
          <a:solidFill>
            <a:srgbClr val="F5C242"/>
          </a:solidFill>
          <a:ln w="25400">
            <a:solidFill>
              <a:srgbClr val="FFFFFF"/>
            </a:solidFill>
            <a:prstDash val="solid"/>
          </a:ln>
        </p:spPr>
      </p:sp>
      <p:sp>
        <p:nvSpPr>
          <p:cNvPr id="37" name="Text 34"/>
          <p:cNvSpPr txBox="1"/>
          <p:nvPr/>
        </p:nvSpPr>
        <p:spPr>
          <a:xfrm>
            <a:off x="5966460" y="1353312"/>
            <a:ext cx="548640" cy="548640"/>
          </a:xfrm>
          <a:prstGeom prst="rect">
            <a:avLst/>
          </a:prstGeom>
          <a:noFill/>
          <a:ln/>
        </p:spPr>
        <p:txBody>
          <a:bodyPr wrap="square" lIns="0" tIns="0" rIns="0" bIns="0" rtlCol="0" anchor="ctr"/>
          <a:lstStyle/>
          <a:p>
            <a:pPr marL="0" indent="0" algn="ctr">
              <a:buNone/>
            </a:pPr>
            <a:r>
              <a:rPr lang="en-US" sz="1800" b="1" dirty="0">
                <a:solidFill>
                  <a:srgbClr val="00553A"/>
                </a:solidFill>
                <a:latin typeface="Calibri" pitchFamily="34" charset="0"/>
                <a:ea typeface="Calibri" pitchFamily="34" charset="-122"/>
                <a:cs typeface="Calibri" pitchFamily="34" charset="-120"/>
              </a:rPr>
              <a:t>4</a:t>
            </a:r>
            <a:endParaRPr lang="en-US" sz="1800" dirty="0"/>
          </a:p>
        </p:txBody>
      </p:sp>
      <p:sp>
        <p:nvSpPr>
          <p:cNvPr id="38" name="Shape 35"/>
          <p:cNvSpPr/>
          <p:nvPr/>
        </p:nvSpPr>
        <p:spPr>
          <a:xfrm>
            <a:off x="5463540" y="2029968"/>
            <a:ext cx="1554480" cy="1417320"/>
          </a:xfrm>
          <a:prstGeom prst="roundRect">
            <a:avLst>
              <a:gd name="adj" fmla="val 5161"/>
            </a:avLst>
          </a:prstGeom>
          <a:solidFill>
            <a:srgbClr val="E8F5EF"/>
          </a:solidFill>
          <a:ln w="15875">
            <a:solidFill>
              <a:srgbClr val="D49A00"/>
            </a:solidFill>
            <a:prstDash val="solid"/>
          </a:ln>
        </p:spPr>
      </p:sp>
      <p:sp>
        <p:nvSpPr>
          <p:cNvPr id="39" name="Text 36"/>
          <p:cNvSpPr txBox="1"/>
          <p:nvPr/>
        </p:nvSpPr>
        <p:spPr>
          <a:xfrm>
            <a:off x="5573268" y="2103120"/>
            <a:ext cx="1335024"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9–15 min</a:t>
            </a:r>
            <a:endParaRPr lang="en-US" sz="950" dirty="0"/>
          </a:p>
        </p:txBody>
      </p:sp>
      <p:sp>
        <p:nvSpPr>
          <p:cNvPr id="40" name="Text 37"/>
          <p:cNvSpPr txBox="1"/>
          <p:nvPr/>
        </p:nvSpPr>
        <p:spPr>
          <a:xfrm>
            <a:off x="5573268" y="2304288"/>
            <a:ext cx="1335024" cy="25603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Iterate</a:t>
            </a:r>
            <a:endParaRPr lang="en-US" sz="1400" dirty="0"/>
          </a:p>
        </p:txBody>
      </p:sp>
      <p:sp>
        <p:nvSpPr>
          <p:cNvPr id="41" name="Text 38"/>
          <p:cNvSpPr txBox="1"/>
          <p:nvPr/>
        </p:nvSpPr>
        <p:spPr>
          <a:xfrm>
            <a:off x="5573268" y="260604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One change per run. Log each version: keep or reject.</a:t>
            </a:r>
            <a:endParaRPr lang="en-US" sz="1000" dirty="0"/>
          </a:p>
        </p:txBody>
      </p:sp>
      <p:sp>
        <p:nvSpPr>
          <p:cNvPr id="42" name="Shape 39"/>
          <p:cNvSpPr/>
          <p:nvPr/>
        </p:nvSpPr>
        <p:spPr>
          <a:xfrm>
            <a:off x="7635240" y="1353312"/>
            <a:ext cx="548640" cy="548640"/>
          </a:xfrm>
          <a:prstGeom prst="ellipse">
            <a:avLst/>
          </a:prstGeom>
          <a:solidFill>
            <a:srgbClr val="00704A"/>
          </a:solidFill>
          <a:ln w="25400">
            <a:solidFill>
              <a:srgbClr val="FFFFFF"/>
            </a:solidFill>
            <a:prstDash val="solid"/>
          </a:ln>
        </p:spPr>
      </p:sp>
      <p:sp>
        <p:nvSpPr>
          <p:cNvPr id="43" name="Text 40"/>
          <p:cNvSpPr txBox="1"/>
          <p:nvPr/>
        </p:nvSpPr>
        <p:spPr>
          <a:xfrm>
            <a:off x="7635240" y="13533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4" name="Shape 41"/>
          <p:cNvSpPr/>
          <p:nvPr/>
        </p:nvSpPr>
        <p:spPr>
          <a:xfrm>
            <a:off x="7132320" y="2029968"/>
            <a:ext cx="1554480" cy="1417320"/>
          </a:xfrm>
          <a:prstGeom prst="roundRect">
            <a:avLst>
              <a:gd name="adj" fmla="val 5161"/>
            </a:avLst>
          </a:prstGeom>
          <a:solidFill>
            <a:srgbClr val="F4F7F5"/>
          </a:solidFill>
          <a:ln w="9525">
            <a:solidFill>
              <a:srgbClr val="D5DED9"/>
            </a:solidFill>
            <a:prstDash val="solid"/>
          </a:ln>
        </p:spPr>
      </p:sp>
      <p:sp>
        <p:nvSpPr>
          <p:cNvPr id="45" name="Text 42"/>
          <p:cNvSpPr txBox="1"/>
          <p:nvPr/>
        </p:nvSpPr>
        <p:spPr>
          <a:xfrm>
            <a:off x="7242048" y="2103120"/>
            <a:ext cx="1335024"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15–17 min</a:t>
            </a:r>
            <a:endParaRPr lang="en-US" sz="950" dirty="0"/>
          </a:p>
        </p:txBody>
      </p:sp>
      <p:sp>
        <p:nvSpPr>
          <p:cNvPr id="46" name="Text 43"/>
          <p:cNvSpPr txBox="1"/>
          <p:nvPr/>
        </p:nvSpPr>
        <p:spPr>
          <a:xfrm>
            <a:off x="7242048" y="2304288"/>
            <a:ext cx="1335024" cy="25603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Report</a:t>
            </a:r>
            <a:endParaRPr lang="en-US" sz="1400" dirty="0"/>
          </a:p>
        </p:txBody>
      </p:sp>
      <p:sp>
        <p:nvSpPr>
          <p:cNvPr id="47" name="Text 44"/>
          <p:cNvSpPr txBox="1"/>
          <p:nvPr/>
        </p:nvSpPr>
        <p:spPr>
          <a:xfrm>
            <a:off x="7242048" y="260604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Best version and score into the shared sheet.</a:t>
            </a:r>
            <a:endParaRPr lang="en-US" sz="1000" dirty="0"/>
          </a:p>
        </p:txBody>
      </p:sp>
      <p:sp>
        <p:nvSpPr>
          <p:cNvPr id="48" name="Text 45"/>
          <p:cNvSpPr txBox="1"/>
          <p:nvPr/>
        </p:nvSpPr>
        <p:spPr>
          <a:xfrm>
            <a:off x="457200" y="3611880"/>
            <a:ext cx="3657600" cy="201168"/>
          </a:xfrm>
          <a:prstGeom prst="rect">
            <a:avLst/>
          </a:prstGeom>
          <a:noFill/>
          <a:ln/>
        </p:spPr>
        <p:txBody>
          <a:bodyPr wrap="square" lIns="0" tIns="0" rIns="0" bIns="0" rtlCol="0" anchor="t"/>
          <a:lstStyle/>
          <a:p>
            <a:pPr marL="0" indent="0">
              <a:buNone/>
            </a:pPr>
            <a:r>
              <a:rPr lang="en-US" sz="1000" b="1" kern="0" spc="200" dirty="0">
                <a:solidFill>
                  <a:srgbClr val="00704A"/>
                </a:solidFill>
                <a:latin typeface="Calibri" pitchFamily="34" charset="0"/>
                <a:ea typeface="Calibri" pitchFamily="34" charset="-122"/>
                <a:cs typeface="Calibri" pitchFamily="34" charset="-120"/>
              </a:rPr>
              <a:t>WHAT EACH PAIR HANDS IN</a:t>
            </a:r>
            <a:endParaRPr lang="en-US" sz="1000" dirty="0"/>
          </a:p>
        </p:txBody>
      </p:sp>
      <p:sp>
        <p:nvSpPr>
          <p:cNvPr id="49" name="Shape 46"/>
          <p:cNvSpPr/>
          <p:nvPr/>
        </p:nvSpPr>
        <p:spPr>
          <a:xfrm>
            <a:off x="457200" y="3858768"/>
            <a:ext cx="2651760" cy="658368"/>
          </a:xfrm>
          <a:prstGeom prst="roundRect">
            <a:avLst>
              <a:gd name="adj" fmla="val 11111"/>
            </a:avLst>
          </a:prstGeom>
          <a:solidFill>
            <a:srgbClr val="E8F5EF"/>
          </a:solidFill>
          <a:ln w="9525">
            <a:solidFill>
              <a:srgbClr val="D5DED9"/>
            </a:solidFill>
            <a:prstDash val="solid"/>
          </a:ln>
        </p:spPr>
      </p:sp>
      <p:sp>
        <p:nvSpPr>
          <p:cNvPr id="50" name="Shape 47"/>
          <p:cNvSpPr/>
          <p:nvPr/>
        </p:nvSpPr>
        <p:spPr>
          <a:xfrm>
            <a:off x="566928" y="3977640"/>
            <a:ext cx="420624" cy="420624"/>
          </a:xfrm>
          <a:prstGeom prst="ellipse">
            <a:avLst/>
          </a:prstGeom>
          <a:solidFill>
            <a:srgbClr val="00A86A">
              <a:alpha val="22000"/>
            </a:srgbClr>
          </a:solidFill>
          <a:ln/>
        </p:spPr>
      </p:sp>
      <p:pic>
        <p:nvPicPr>
          <p:cNvPr id="51" name="Image 0" descr="preencoded.png"/>
          <p:cNvPicPr>
            <a:picLocks noChangeAspect="1"/>
          </p:cNvPicPr>
          <p:nvPr/>
        </p:nvPicPr>
        <p:blipFill>
          <a:blip r:embed="rId3"/>
          <a:stretch>
            <a:fillRect/>
          </a:stretch>
        </p:blipFill>
        <p:spPr>
          <a:xfrm>
            <a:off x="667878" y="4078590"/>
            <a:ext cx="218724" cy="218724"/>
          </a:xfrm>
          <a:prstGeom prst="rect">
            <a:avLst/>
          </a:prstGeom>
        </p:spPr>
      </p:pic>
      <p:sp>
        <p:nvSpPr>
          <p:cNvPr id="52" name="Text 48"/>
          <p:cNvSpPr txBox="1"/>
          <p:nvPr/>
        </p:nvSpPr>
        <p:spPr>
          <a:xfrm>
            <a:off x="1097280" y="3922776"/>
            <a:ext cx="19659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Iteration log</a:t>
            </a:r>
            <a:endParaRPr lang="en-US" sz="1200" dirty="0"/>
          </a:p>
        </p:txBody>
      </p:sp>
      <p:sp>
        <p:nvSpPr>
          <p:cNvPr id="53" name="Text 49"/>
          <p:cNvSpPr txBox="1"/>
          <p:nvPr/>
        </p:nvSpPr>
        <p:spPr>
          <a:xfrm>
            <a:off x="1097280" y="4169664"/>
            <a:ext cx="1965960" cy="2743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every version, one change each</a:t>
            </a:r>
            <a:endParaRPr lang="en-US" sz="950" dirty="0"/>
          </a:p>
        </p:txBody>
      </p:sp>
      <p:sp>
        <p:nvSpPr>
          <p:cNvPr id="54" name="Shape 50"/>
          <p:cNvSpPr/>
          <p:nvPr/>
        </p:nvSpPr>
        <p:spPr>
          <a:xfrm>
            <a:off x="3246120" y="3858768"/>
            <a:ext cx="2651760" cy="658368"/>
          </a:xfrm>
          <a:prstGeom prst="roundRect">
            <a:avLst>
              <a:gd name="adj" fmla="val 11111"/>
            </a:avLst>
          </a:prstGeom>
          <a:solidFill>
            <a:srgbClr val="E8F5EF"/>
          </a:solidFill>
          <a:ln w="9525">
            <a:solidFill>
              <a:srgbClr val="D5DED9"/>
            </a:solidFill>
            <a:prstDash val="solid"/>
          </a:ln>
        </p:spPr>
      </p:sp>
      <p:sp>
        <p:nvSpPr>
          <p:cNvPr id="55" name="Shape 51"/>
          <p:cNvSpPr/>
          <p:nvPr/>
        </p:nvSpPr>
        <p:spPr>
          <a:xfrm>
            <a:off x="3355848" y="3977640"/>
            <a:ext cx="420624" cy="420624"/>
          </a:xfrm>
          <a:prstGeom prst="ellipse">
            <a:avLst/>
          </a:prstGeom>
          <a:solidFill>
            <a:srgbClr val="00A86A">
              <a:alpha val="22000"/>
            </a:srgbClr>
          </a:solidFill>
          <a:ln/>
        </p:spPr>
      </p:sp>
      <p:pic>
        <p:nvPicPr>
          <p:cNvPr id="56" name="Image 1" descr="preencoded.png"/>
          <p:cNvPicPr>
            <a:picLocks noChangeAspect="1"/>
          </p:cNvPicPr>
          <p:nvPr/>
        </p:nvPicPr>
        <p:blipFill>
          <a:blip r:embed="rId4"/>
          <a:stretch>
            <a:fillRect/>
          </a:stretch>
        </p:blipFill>
        <p:spPr>
          <a:xfrm>
            <a:off x="3456798" y="4078590"/>
            <a:ext cx="218724" cy="218724"/>
          </a:xfrm>
          <a:prstGeom prst="rect">
            <a:avLst/>
          </a:prstGeom>
        </p:spPr>
      </p:pic>
      <p:sp>
        <p:nvSpPr>
          <p:cNvPr id="57" name="Text 52"/>
          <p:cNvSpPr txBox="1"/>
          <p:nvPr/>
        </p:nvSpPr>
        <p:spPr>
          <a:xfrm>
            <a:off x="3886200" y="3922776"/>
            <a:ext cx="19659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Best prompt + score</a:t>
            </a:r>
            <a:endParaRPr lang="en-US" sz="1200" dirty="0"/>
          </a:p>
        </p:txBody>
      </p:sp>
      <p:sp>
        <p:nvSpPr>
          <p:cNvPr id="58" name="Text 53"/>
          <p:cNvSpPr txBox="1"/>
          <p:nvPr/>
        </p:nvSpPr>
        <p:spPr>
          <a:xfrm>
            <a:off x="3886200" y="4169664"/>
            <a:ext cx="1965960" cy="2743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accuracy, JSON validity, tokens</a:t>
            </a:r>
            <a:endParaRPr lang="en-US" sz="950" dirty="0"/>
          </a:p>
        </p:txBody>
      </p:sp>
      <p:sp>
        <p:nvSpPr>
          <p:cNvPr id="59" name="Shape 54"/>
          <p:cNvSpPr/>
          <p:nvPr/>
        </p:nvSpPr>
        <p:spPr>
          <a:xfrm>
            <a:off x="6035040" y="3858768"/>
            <a:ext cx="2651760" cy="658368"/>
          </a:xfrm>
          <a:prstGeom prst="roundRect">
            <a:avLst>
              <a:gd name="adj" fmla="val 11111"/>
            </a:avLst>
          </a:prstGeom>
          <a:solidFill>
            <a:srgbClr val="E8F5EF"/>
          </a:solidFill>
          <a:ln w="9525">
            <a:solidFill>
              <a:srgbClr val="D5DED9"/>
            </a:solidFill>
            <a:prstDash val="solid"/>
          </a:ln>
        </p:spPr>
      </p:sp>
      <p:sp>
        <p:nvSpPr>
          <p:cNvPr id="60" name="Shape 55"/>
          <p:cNvSpPr/>
          <p:nvPr/>
        </p:nvSpPr>
        <p:spPr>
          <a:xfrm>
            <a:off x="6144768" y="3977640"/>
            <a:ext cx="420624" cy="420624"/>
          </a:xfrm>
          <a:prstGeom prst="ellipse">
            <a:avLst/>
          </a:prstGeom>
          <a:solidFill>
            <a:srgbClr val="00A86A">
              <a:alpha val="22000"/>
            </a:srgbClr>
          </a:solidFill>
          <a:ln/>
        </p:spPr>
      </p:sp>
      <p:pic>
        <p:nvPicPr>
          <p:cNvPr id="61" name="Image 2" descr="preencoded.png"/>
          <p:cNvPicPr>
            <a:picLocks noChangeAspect="1"/>
          </p:cNvPicPr>
          <p:nvPr/>
        </p:nvPicPr>
        <p:blipFill>
          <a:blip r:embed="rId5"/>
          <a:stretch>
            <a:fillRect/>
          </a:stretch>
        </p:blipFill>
        <p:spPr>
          <a:xfrm>
            <a:off x="6245718" y="4078590"/>
            <a:ext cx="218724" cy="218724"/>
          </a:xfrm>
          <a:prstGeom prst="rect">
            <a:avLst/>
          </a:prstGeom>
        </p:spPr>
      </p:pic>
      <p:sp>
        <p:nvSpPr>
          <p:cNvPr id="62" name="Text 56"/>
          <p:cNvSpPr txBox="1"/>
          <p:nvPr/>
        </p:nvSpPr>
        <p:spPr>
          <a:xfrm>
            <a:off x="6675120" y="3922776"/>
            <a:ext cx="19659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Input for 14:45</a:t>
            </a:r>
            <a:endParaRPr lang="en-US" sz="1200" dirty="0"/>
          </a:p>
        </p:txBody>
      </p:sp>
      <p:sp>
        <p:nvSpPr>
          <p:cNvPr id="63" name="Text 57"/>
          <p:cNvSpPr txBox="1"/>
          <p:nvPr/>
        </p:nvSpPr>
        <p:spPr>
          <a:xfrm>
            <a:off x="6675120" y="4169664"/>
            <a:ext cx="1965960" cy="2743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the prompt you benchmark on Groq</a:t>
            </a:r>
            <a:endParaRPr lang="en-US" sz="9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REFERENCE</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great-prompt checklist</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325880"/>
            <a:ext cx="1371600" cy="548640"/>
          </a:xfrm>
          <a:prstGeom prst="roundRect">
            <a:avLst>
              <a:gd name="adj" fmla="val 13333"/>
            </a:avLst>
          </a:prstGeom>
          <a:solidFill>
            <a:srgbClr val="00704A"/>
          </a:solidFill>
          <a:ln/>
        </p:spPr>
      </p:sp>
      <p:sp>
        <p:nvSpPr>
          <p:cNvPr id="18" name="Text 15"/>
          <p:cNvSpPr txBox="1"/>
          <p:nvPr/>
        </p:nvSpPr>
        <p:spPr>
          <a:xfrm>
            <a:off x="457200" y="1325880"/>
            <a:ext cx="137160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Evaluation</a:t>
            </a:r>
            <a:endParaRPr lang="en-US" sz="1250" dirty="0"/>
          </a:p>
        </p:txBody>
      </p:sp>
      <p:sp>
        <p:nvSpPr>
          <p:cNvPr id="19" name="Shape 16"/>
          <p:cNvSpPr/>
          <p:nvPr/>
        </p:nvSpPr>
        <p:spPr>
          <a:xfrm>
            <a:off x="1965960" y="1325880"/>
            <a:ext cx="3246120" cy="548640"/>
          </a:xfrm>
          <a:prstGeom prst="roundRect">
            <a:avLst>
              <a:gd name="adj" fmla="val 13333"/>
            </a:avLst>
          </a:prstGeom>
          <a:solidFill>
            <a:srgbClr val="F4F7F5"/>
          </a:solidFill>
          <a:ln w="9525">
            <a:solidFill>
              <a:srgbClr val="D5DED9"/>
            </a:solidFill>
            <a:prstDash val="solid"/>
          </a:ln>
        </p:spPr>
      </p:sp>
      <p:sp>
        <p:nvSpPr>
          <p:cNvPr id="20" name="Shape 17"/>
          <p:cNvSpPr/>
          <p:nvPr/>
        </p:nvSpPr>
        <p:spPr>
          <a:xfrm>
            <a:off x="2093976" y="1481328"/>
            <a:ext cx="237744" cy="237744"/>
          </a:xfrm>
          <a:prstGeom prst="roundRect">
            <a:avLst>
              <a:gd name="adj" fmla="val 15385"/>
            </a:avLst>
          </a:prstGeom>
          <a:solidFill>
            <a:srgbClr val="FFFFFF"/>
          </a:solidFill>
          <a:ln w="15875">
            <a:solidFill>
              <a:srgbClr val="00704A"/>
            </a:solidFill>
            <a:prstDash val="solid"/>
          </a:ln>
        </p:spPr>
      </p:sp>
      <p:pic>
        <p:nvPicPr>
          <p:cNvPr id="21" name="Image 0" descr="preencoded.png"/>
          <p:cNvPicPr>
            <a:picLocks noChangeAspect="1"/>
          </p:cNvPicPr>
          <p:nvPr/>
        </p:nvPicPr>
        <p:blipFill>
          <a:blip r:embed="rId3"/>
          <a:stretch>
            <a:fillRect/>
          </a:stretch>
        </p:blipFill>
        <p:spPr>
          <a:xfrm>
            <a:off x="2130552" y="1517904"/>
            <a:ext cx="164592" cy="164592"/>
          </a:xfrm>
          <a:prstGeom prst="rect">
            <a:avLst/>
          </a:prstGeom>
        </p:spPr>
      </p:pic>
      <p:sp>
        <p:nvSpPr>
          <p:cNvPr id="22" name="Text 18"/>
          <p:cNvSpPr txBox="1"/>
          <p:nvPr/>
        </p:nvSpPr>
        <p:spPr>
          <a:xfrm>
            <a:off x="2441448" y="132588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Success criteria and target score written down</a:t>
            </a:r>
            <a:endParaRPr lang="en-US" sz="1100" dirty="0"/>
          </a:p>
        </p:txBody>
      </p:sp>
      <p:sp>
        <p:nvSpPr>
          <p:cNvPr id="23" name="Shape 19"/>
          <p:cNvSpPr/>
          <p:nvPr/>
        </p:nvSpPr>
        <p:spPr>
          <a:xfrm>
            <a:off x="5349240" y="1325880"/>
            <a:ext cx="3246120" cy="548640"/>
          </a:xfrm>
          <a:prstGeom prst="roundRect">
            <a:avLst>
              <a:gd name="adj" fmla="val 13333"/>
            </a:avLst>
          </a:prstGeom>
          <a:solidFill>
            <a:srgbClr val="F4F7F5"/>
          </a:solidFill>
          <a:ln w="9525">
            <a:solidFill>
              <a:srgbClr val="D5DED9"/>
            </a:solidFill>
            <a:prstDash val="solid"/>
          </a:ln>
        </p:spPr>
      </p:sp>
      <p:sp>
        <p:nvSpPr>
          <p:cNvPr id="24" name="Shape 20"/>
          <p:cNvSpPr/>
          <p:nvPr/>
        </p:nvSpPr>
        <p:spPr>
          <a:xfrm>
            <a:off x="5477256" y="1481328"/>
            <a:ext cx="237744" cy="237744"/>
          </a:xfrm>
          <a:prstGeom prst="roundRect">
            <a:avLst>
              <a:gd name="adj" fmla="val 15385"/>
            </a:avLst>
          </a:prstGeom>
          <a:solidFill>
            <a:srgbClr val="FFFFFF"/>
          </a:solidFill>
          <a:ln w="15875">
            <a:solidFill>
              <a:srgbClr val="00704A"/>
            </a:solidFill>
            <a:prstDash val="solid"/>
          </a:ln>
        </p:spPr>
      </p:sp>
      <p:pic>
        <p:nvPicPr>
          <p:cNvPr id="25" name="Image 1" descr="preencoded.png"/>
          <p:cNvPicPr>
            <a:picLocks noChangeAspect="1"/>
          </p:cNvPicPr>
          <p:nvPr/>
        </p:nvPicPr>
        <p:blipFill>
          <a:blip r:embed="rId3"/>
          <a:stretch>
            <a:fillRect/>
          </a:stretch>
        </p:blipFill>
        <p:spPr>
          <a:xfrm>
            <a:off x="5513832" y="1517904"/>
            <a:ext cx="164592" cy="164592"/>
          </a:xfrm>
          <a:prstGeom prst="rect">
            <a:avLst/>
          </a:prstGeom>
        </p:spPr>
      </p:pic>
      <p:sp>
        <p:nvSpPr>
          <p:cNvPr id="26" name="Text 21"/>
          <p:cNvSpPr txBox="1"/>
          <p:nvPr/>
        </p:nvSpPr>
        <p:spPr>
          <a:xfrm>
            <a:off x="5824728" y="132588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Frozen, versioned set of 30–50 expert-labelled cases</a:t>
            </a:r>
            <a:endParaRPr lang="en-US" sz="1100" dirty="0"/>
          </a:p>
        </p:txBody>
      </p:sp>
      <p:sp>
        <p:nvSpPr>
          <p:cNvPr id="27" name="Shape 22"/>
          <p:cNvSpPr/>
          <p:nvPr/>
        </p:nvSpPr>
        <p:spPr>
          <a:xfrm>
            <a:off x="457200" y="1965960"/>
            <a:ext cx="1371600" cy="548640"/>
          </a:xfrm>
          <a:prstGeom prst="roundRect">
            <a:avLst>
              <a:gd name="adj" fmla="val 13333"/>
            </a:avLst>
          </a:prstGeom>
          <a:solidFill>
            <a:srgbClr val="0E7C86"/>
          </a:solidFill>
          <a:ln/>
        </p:spPr>
      </p:sp>
      <p:sp>
        <p:nvSpPr>
          <p:cNvPr id="28" name="Text 23"/>
          <p:cNvSpPr txBox="1"/>
          <p:nvPr/>
        </p:nvSpPr>
        <p:spPr>
          <a:xfrm>
            <a:off x="457200" y="1965960"/>
            <a:ext cx="137160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Quality</a:t>
            </a:r>
            <a:endParaRPr lang="en-US" sz="1250" dirty="0"/>
          </a:p>
        </p:txBody>
      </p:sp>
      <p:sp>
        <p:nvSpPr>
          <p:cNvPr id="29" name="Shape 24"/>
          <p:cNvSpPr/>
          <p:nvPr/>
        </p:nvSpPr>
        <p:spPr>
          <a:xfrm>
            <a:off x="1965960" y="1965960"/>
            <a:ext cx="3246120" cy="548640"/>
          </a:xfrm>
          <a:prstGeom prst="roundRect">
            <a:avLst>
              <a:gd name="adj" fmla="val 13333"/>
            </a:avLst>
          </a:prstGeom>
          <a:solidFill>
            <a:srgbClr val="F4F7F5"/>
          </a:solidFill>
          <a:ln w="9525">
            <a:solidFill>
              <a:srgbClr val="D5DED9"/>
            </a:solidFill>
            <a:prstDash val="solid"/>
          </a:ln>
        </p:spPr>
      </p:sp>
      <p:sp>
        <p:nvSpPr>
          <p:cNvPr id="30" name="Shape 25"/>
          <p:cNvSpPr/>
          <p:nvPr/>
        </p:nvSpPr>
        <p:spPr>
          <a:xfrm>
            <a:off x="2093976" y="2121408"/>
            <a:ext cx="237744" cy="237744"/>
          </a:xfrm>
          <a:prstGeom prst="roundRect">
            <a:avLst>
              <a:gd name="adj" fmla="val 15385"/>
            </a:avLst>
          </a:prstGeom>
          <a:solidFill>
            <a:srgbClr val="FFFFFF"/>
          </a:solidFill>
          <a:ln w="15875">
            <a:solidFill>
              <a:srgbClr val="0E7C86"/>
            </a:solidFill>
            <a:prstDash val="solid"/>
          </a:ln>
        </p:spPr>
      </p:sp>
      <p:pic>
        <p:nvPicPr>
          <p:cNvPr id="31" name="Image 2" descr="preencoded.png"/>
          <p:cNvPicPr>
            <a:picLocks noChangeAspect="1"/>
          </p:cNvPicPr>
          <p:nvPr/>
        </p:nvPicPr>
        <p:blipFill>
          <a:blip r:embed="rId4"/>
          <a:stretch>
            <a:fillRect/>
          </a:stretch>
        </p:blipFill>
        <p:spPr>
          <a:xfrm>
            <a:off x="2130552" y="2157984"/>
            <a:ext cx="164592" cy="164592"/>
          </a:xfrm>
          <a:prstGeom prst="rect">
            <a:avLst/>
          </a:prstGeom>
        </p:spPr>
      </p:pic>
      <p:sp>
        <p:nvSpPr>
          <p:cNvPr id="32" name="Text 26"/>
          <p:cNvSpPr txBox="1"/>
          <p:nvPr/>
        </p:nvSpPr>
        <p:spPr>
          <a:xfrm>
            <a:off x="2441448" y="196596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Metric matches the task type</a:t>
            </a:r>
            <a:endParaRPr lang="en-US" sz="1100" dirty="0"/>
          </a:p>
        </p:txBody>
      </p:sp>
      <p:sp>
        <p:nvSpPr>
          <p:cNvPr id="33" name="Shape 27"/>
          <p:cNvSpPr/>
          <p:nvPr/>
        </p:nvSpPr>
        <p:spPr>
          <a:xfrm>
            <a:off x="5349240" y="1965960"/>
            <a:ext cx="3246120" cy="548640"/>
          </a:xfrm>
          <a:prstGeom prst="roundRect">
            <a:avLst>
              <a:gd name="adj" fmla="val 13333"/>
            </a:avLst>
          </a:prstGeom>
          <a:solidFill>
            <a:srgbClr val="F4F7F5"/>
          </a:solidFill>
          <a:ln w="9525">
            <a:solidFill>
              <a:srgbClr val="D5DED9"/>
            </a:solidFill>
            <a:prstDash val="solid"/>
          </a:ln>
        </p:spPr>
      </p:sp>
      <p:sp>
        <p:nvSpPr>
          <p:cNvPr id="34" name="Shape 28"/>
          <p:cNvSpPr/>
          <p:nvPr/>
        </p:nvSpPr>
        <p:spPr>
          <a:xfrm>
            <a:off x="5477256" y="2121408"/>
            <a:ext cx="237744" cy="237744"/>
          </a:xfrm>
          <a:prstGeom prst="roundRect">
            <a:avLst>
              <a:gd name="adj" fmla="val 15385"/>
            </a:avLst>
          </a:prstGeom>
          <a:solidFill>
            <a:srgbClr val="FFFFFF"/>
          </a:solidFill>
          <a:ln w="15875">
            <a:solidFill>
              <a:srgbClr val="0E7C86"/>
            </a:solidFill>
            <a:prstDash val="solid"/>
          </a:ln>
        </p:spPr>
      </p:sp>
      <p:pic>
        <p:nvPicPr>
          <p:cNvPr id="35" name="Image 3" descr="preencoded.png"/>
          <p:cNvPicPr>
            <a:picLocks noChangeAspect="1"/>
          </p:cNvPicPr>
          <p:nvPr/>
        </p:nvPicPr>
        <p:blipFill>
          <a:blip r:embed="rId4"/>
          <a:stretch>
            <a:fillRect/>
          </a:stretch>
        </p:blipFill>
        <p:spPr>
          <a:xfrm>
            <a:off x="5513832" y="2157984"/>
            <a:ext cx="164592" cy="164592"/>
          </a:xfrm>
          <a:prstGeom prst="rect">
            <a:avLst/>
          </a:prstGeom>
        </p:spPr>
      </p:pic>
      <p:sp>
        <p:nvSpPr>
          <p:cNvPr id="36" name="Text 29"/>
          <p:cNvSpPr txBox="1"/>
          <p:nvPr/>
        </p:nvSpPr>
        <p:spPr>
          <a:xfrm>
            <a:off x="5824728" y="196596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Iteration log with one change per version</a:t>
            </a:r>
            <a:endParaRPr lang="en-US" sz="1100" dirty="0"/>
          </a:p>
        </p:txBody>
      </p:sp>
      <p:sp>
        <p:nvSpPr>
          <p:cNvPr id="37" name="Shape 30"/>
          <p:cNvSpPr/>
          <p:nvPr/>
        </p:nvSpPr>
        <p:spPr>
          <a:xfrm>
            <a:off x="457200" y="2606040"/>
            <a:ext cx="1371600" cy="548640"/>
          </a:xfrm>
          <a:prstGeom prst="roundRect">
            <a:avLst>
              <a:gd name="adj" fmla="val 13333"/>
            </a:avLst>
          </a:prstGeom>
          <a:solidFill>
            <a:srgbClr val="D49A00"/>
          </a:solidFill>
          <a:ln/>
        </p:spPr>
      </p:sp>
      <p:sp>
        <p:nvSpPr>
          <p:cNvPr id="38" name="Text 31"/>
          <p:cNvSpPr txBox="1"/>
          <p:nvPr/>
        </p:nvSpPr>
        <p:spPr>
          <a:xfrm>
            <a:off x="457200" y="2606040"/>
            <a:ext cx="137160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Variance</a:t>
            </a:r>
            <a:endParaRPr lang="en-US" sz="1250" dirty="0"/>
          </a:p>
        </p:txBody>
      </p:sp>
      <p:sp>
        <p:nvSpPr>
          <p:cNvPr id="39" name="Shape 32"/>
          <p:cNvSpPr/>
          <p:nvPr/>
        </p:nvSpPr>
        <p:spPr>
          <a:xfrm>
            <a:off x="1965960" y="2606040"/>
            <a:ext cx="3246120" cy="548640"/>
          </a:xfrm>
          <a:prstGeom prst="roundRect">
            <a:avLst>
              <a:gd name="adj" fmla="val 13333"/>
            </a:avLst>
          </a:prstGeom>
          <a:solidFill>
            <a:srgbClr val="F4F7F5"/>
          </a:solidFill>
          <a:ln w="9525">
            <a:solidFill>
              <a:srgbClr val="D5DED9"/>
            </a:solidFill>
            <a:prstDash val="solid"/>
          </a:ln>
        </p:spPr>
      </p:sp>
      <p:sp>
        <p:nvSpPr>
          <p:cNvPr id="40" name="Shape 33"/>
          <p:cNvSpPr/>
          <p:nvPr/>
        </p:nvSpPr>
        <p:spPr>
          <a:xfrm>
            <a:off x="2093976" y="2761488"/>
            <a:ext cx="237744" cy="237744"/>
          </a:xfrm>
          <a:prstGeom prst="roundRect">
            <a:avLst>
              <a:gd name="adj" fmla="val 15385"/>
            </a:avLst>
          </a:prstGeom>
          <a:solidFill>
            <a:srgbClr val="FFFFFF"/>
          </a:solidFill>
          <a:ln w="15875">
            <a:solidFill>
              <a:srgbClr val="D49A00"/>
            </a:solidFill>
            <a:prstDash val="solid"/>
          </a:ln>
        </p:spPr>
      </p:sp>
      <p:pic>
        <p:nvPicPr>
          <p:cNvPr id="41" name="Image 4" descr="preencoded.png"/>
          <p:cNvPicPr>
            <a:picLocks noChangeAspect="1"/>
          </p:cNvPicPr>
          <p:nvPr/>
        </p:nvPicPr>
        <p:blipFill>
          <a:blip r:embed="rId5"/>
          <a:stretch>
            <a:fillRect/>
          </a:stretch>
        </p:blipFill>
        <p:spPr>
          <a:xfrm>
            <a:off x="2130552" y="2798064"/>
            <a:ext cx="164592" cy="164592"/>
          </a:xfrm>
          <a:prstGeom prst="rect">
            <a:avLst/>
          </a:prstGeom>
        </p:spPr>
      </p:pic>
      <p:sp>
        <p:nvSpPr>
          <p:cNvPr id="42" name="Text 34"/>
          <p:cNvSpPr txBox="1"/>
          <p:nvPr/>
        </p:nvSpPr>
        <p:spPr>
          <a:xfrm>
            <a:off x="2441448" y="260604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Model version pinned; temperature set deliberately</a:t>
            </a:r>
            <a:endParaRPr lang="en-US" sz="1100" dirty="0"/>
          </a:p>
        </p:txBody>
      </p:sp>
      <p:sp>
        <p:nvSpPr>
          <p:cNvPr id="43" name="Shape 35"/>
          <p:cNvSpPr/>
          <p:nvPr/>
        </p:nvSpPr>
        <p:spPr>
          <a:xfrm>
            <a:off x="5349240" y="2606040"/>
            <a:ext cx="3246120" cy="548640"/>
          </a:xfrm>
          <a:prstGeom prst="roundRect">
            <a:avLst>
              <a:gd name="adj" fmla="val 13333"/>
            </a:avLst>
          </a:prstGeom>
          <a:solidFill>
            <a:srgbClr val="F4F7F5"/>
          </a:solidFill>
          <a:ln w="9525">
            <a:solidFill>
              <a:srgbClr val="D5DED9"/>
            </a:solidFill>
            <a:prstDash val="solid"/>
          </a:ln>
        </p:spPr>
      </p:sp>
      <p:sp>
        <p:nvSpPr>
          <p:cNvPr id="44" name="Shape 36"/>
          <p:cNvSpPr/>
          <p:nvPr/>
        </p:nvSpPr>
        <p:spPr>
          <a:xfrm>
            <a:off x="5477256" y="2761488"/>
            <a:ext cx="237744" cy="237744"/>
          </a:xfrm>
          <a:prstGeom prst="roundRect">
            <a:avLst>
              <a:gd name="adj" fmla="val 15385"/>
            </a:avLst>
          </a:prstGeom>
          <a:solidFill>
            <a:srgbClr val="FFFFFF"/>
          </a:solidFill>
          <a:ln w="15875">
            <a:solidFill>
              <a:srgbClr val="D49A00"/>
            </a:solidFill>
            <a:prstDash val="solid"/>
          </a:ln>
        </p:spPr>
      </p:sp>
      <p:pic>
        <p:nvPicPr>
          <p:cNvPr id="45" name="Image 5" descr="preencoded.png"/>
          <p:cNvPicPr>
            <a:picLocks noChangeAspect="1"/>
          </p:cNvPicPr>
          <p:nvPr/>
        </p:nvPicPr>
        <p:blipFill>
          <a:blip r:embed="rId5"/>
          <a:stretch>
            <a:fillRect/>
          </a:stretch>
        </p:blipFill>
        <p:spPr>
          <a:xfrm>
            <a:off x="5513832" y="2798064"/>
            <a:ext cx="164592" cy="164592"/>
          </a:xfrm>
          <a:prstGeom prst="rect">
            <a:avLst/>
          </a:prstGeom>
        </p:spPr>
      </p:pic>
      <p:sp>
        <p:nvSpPr>
          <p:cNvPr id="46" name="Text 37"/>
          <p:cNvSpPr txBox="1"/>
          <p:nvPr/>
        </p:nvSpPr>
        <p:spPr>
          <a:xfrm>
            <a:off x="5824728" y="260604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Agreement across repeated runs measured</a:t>
            </a:r>
            <a:endParaRPr lang="en-US" sz="1100" dirty="0"/>
          </a:p>
        </p:txBody>
      </p:sp>
      <p:sp>
        <p:nvSpPr>
          <p:cNvPr id="47" name="Shape 38"/>
          <p:cNvSpPr/>
          <p:nvPr/>
        </p:nvSpPr>
        <p:spPr>
          <a:xfrm>
            <a:off x="457200" y="3246120"/>
            <a:ext cx="1371600" cy="548640"/>
          </a:xfrm>
          <a:prstGeom prst="roundRect">
            <a:avLst>
              <a:gd name="adj" fmla="val 13333"/>
            </a:avLst>
          </a:prstGeom>
          <a:solidFill>
            <a:srgbClr val="C4621D"/>
          </a:solidFill>
          <a:ln/>
        </p:spPr>
      </p:sp>
      <p:sp>
        <p:nvSpPr>
          <p:cNvPr id="48" name="Text 39"/>
          <p:cNvSpPr txBox="1"/>
          <p:nvPr/>
        </p:nvSpPr>
        <p:spPr>
          <a:xfrm>
            <a:off x="457200" y="3246120"/>
            <a:ext cx="137160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Cost</a:t>
            </a:r>
            <a:endParaRPr lang="en-US" sz="1250" dirty="0"/>
          </a:p>
        </p:txBody>
      </p:sp>
      <p:sp>
        <p:nvSpPr>
          <p:cNvPr id="49" name="Shape 40"/>
          <p:cNvSpPr/>
          <p:nvPr/>
        </p:nvSpPr>
        <p:spPr>
          <a:xfrm>
            <a:off x="1965960" y="3246120"/>
            <a:ext cx="3246120" cy="548640"/>
          </a:xfrm>
          <a:prstGeom prst="roundRect">
            <a:avLst>
              <a:gd name="adj" fmla="val 13333"/>
            </a:avLst>
          </a:prstGeom>
          <a:solidFill>
            <a:srgbClr val="F4F7F5"/>
          </a:solidFill>
          <a:ln w="9525">
            <a:solidFill>
              <a:srgbClr val="D5DED9"/>
            </a:solidFill>
            <a:prstDash val="solid"/>
          </a:ln>
        </p:spPr>
      </p:sp>
      <p:sp>
        <p:nvSpPr>
          <p:cNvPr id="50" name="Shape 41"/>
          <p:cNvSpPr/>
          <p:nvPr/>
        </p:nvSpPr>
        <p:spPr>
          <a:xfrm>
            <a:off x="2093976" y="3401568"/>
            <a:ext cx="237744" cy="237744"/>
          </a:xfrm>
          <a:prstGeom prst="roundRect">
            <a:avLst>
              <a:gd name="adj" fmla="val 15385"/>
            </a:avLst>
          </a:prstGeom>
          <a:solidFill>
            <a:srgbClr val="FFFFFF"/>
          </a:solidFill>
          <a:ln w="15875">
            <a:solidFill>
              <a:srgbClr val="C4621D"/>
            </a:solidFill>
            <a:prstDash val="solid"/>
          </a:ln>
        </p:spPr>
      </p:sp>
      <p:pic>
        <p:nvPicPr>
          <p:cNvPr id="51" name="Image 6" descr="preencoded.png"/>
          <p:cNvPicPr>
            <a:picLocks noChangeAspect="1"/>
          </p:cNvPicPr>
          <p:nvPr/>
        </p:nvPicPr>
        <p:blipFill>
          <a:blip r:embed="rId6"/>
          <a:stretch>
            <a:fillRect/>
          </a:stretch>
        </p:blipFill>
        <p:spPr>
          <a:xfrm>
            <a:off x="2130552" y="3438144"/>
            <a:ext cx="164592" cy="164592"/>
          </a:xfrm>
          <a:prstGeom prst="rect">
            <a:avLst/>
          </a:prstGeom>
        </p:spPr>
      </p:pic>
      <p:sp>
        <p:nvSpPr>
          <p:cNvPr id="52" name="Text 42"/>
          <p:cNvSpPr txBox="1"/>
          <p:nvPr/>
        </p:nvSpPr>
        <p:spPr>
          <a:xfrm>
            <a:off x="2441448" y="324612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Cost per 1,000 documents estimated</a:t>
            </a:r>
            <a:endParaRPr lang="en-US" sz="1100" dirty="0"/>
          </a:p>
        </p:txBody>
      </p:sp>
      <p:sp>
        <p:nvSpPr>
          <p:cNvPr id="53" name="Shape 43"/>
          <p:cNvSpPr/>
          <p:nvPr/>
        </p:nvSpPr>
        <p:spPr>
          <a:xfrm>
            <a:off x="5349240" y="3246120"/>
            <a:ext cx="3246120" cy="548640"/>
          </a:xfrm>
          <a:prstGeom prst="roundRect">
            <a:avLst>
              <a:gd name="adj" fmla="val 13333"/>
            </a:avLst>
          </a:prstGeom>
          <a:solidFill>
            <a:srgbClr val="F4F7F5"/>
          </a:solidFill>
          <a:ln w="9525">
            <a:solidFill>
              <a:srgbClr val="D5DED9"/>
            </a:solidFill>
            <a:prstDash val="solid"/>
          </a:ln>
        </p:spPr>
      </p:sp>
      <p:sp>
        <p:nvSpPr>
          <p:cNvPr id="54" name="Shape 44"/>
          <p:cNvSpPr/>
          <p:nvPr/>
        </p:nvSpPr>
        <p:spPr>
          <a:xfrm>
            <a:off x="5477256" y="3401568"/>
            <a:ext cx="237744" cy="237744"/>
          </a:xfrm>
          <a:prstGeom prst="roundRect">
            <a:avLst>
              <a:gd name="adj" fmla="val 15385"/>
            </a:avLst>
          </a:prstGeom>
          <a:solidFill>
            <a:srgbClr val="FFFFFF"/>
          </a:solidFill>
          <a:ln w="15875">
            <a:solidFill>
              <a:srgbClr val="C4621D"/>
            </a:solidFill>
            <a:prstDash val="solid"/>
          </a:ln>
        </p:spPr>
      </p:sp>
      <p:pic>
        <p:nvPicPr>
          <p:cNvPr id="55" name="Image 7" descr="preencoded.png"/>
          <p:cNvPicPr>
            <a:picLocks noChangeAspect="1"/>
          </p:cNvPicPr>
          <p:nvPr/>
        </p:nvPicPr>
        <p:blipFill>
          <a:blip r:embed="rId6"/>
          <a:stretch>
            <a:fillRect/>
          </a:stretch>
        </p:blipFill>
        <p:spPr>
          <a:xfrm>
            <a:off x="5513832" y="3438144"/>
            <a:ext cx="164592" cy="164592"/>
          </a:xfrm>
          <a:prstGeom prst="rect">
            <a:avLst/>
          </a:prstGeom>
        </p:spPr>
      </p:pic>
      <p:sp>
        <p:nvSpPr>
          <p:cNvPr id="56" name="Text 45"/>
          <p:cNvSpPr txBox="1"/>
          <p:nvPr/>
        </p:nvSpPr>
        <p:spPr>
          <a:xfrm>
            <a:off x="5824728" y="324612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Stable content first, so it can be cached</a:t>
            </a:r>
            <a:endParaRPr lang="en-US" sz="1100" dirty="0"/>
          </a:p>
        </p:txBody>
      </p:sp>
      <p:sp>
        <p:nvSpPr>
          <p:cNvPr id="57" name="Shape 46"/>
          <p:cNvSpPr/>
          <p:nvPr/>
        </p:nvSpPr>
        <p:spPr>
          <a:xfrm>
            <a:off x="457200" y="3886200"/>
            <a:ext cx="1371600" cy="548640"/>
          </a:xfrm>
          <a:prstGeom prst="roundRect">
            <a:avLst>
              <a:gd name="adj" fmla="val 13333"/>
            </a:avLst>
          </a:prstGeom>
          <a:solidFill>
            <a:srgbClr val="B83B2E"/>
          </a:solidFill>
          <a:ln/>
        </p:spPr>
      </p:sp>
      <p:sp>
        <p:nvSpPr>
          <p:cNvPr id="58" name="Text 47"/>
          <p:cNvSpPr txBox="1"/>
          <p:nvPr/>
        </p:nvSpPr>
        <p:spPr>
          <a:xfrm>
            <a:off x="457200" y="3886200"/>
            <a:ext cx="137160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Governance</a:t>
            </a:r>
            <a:endParaRPr lang="en-US" sz="1250" dirty="0"/>
          </a:p>
        </p:txBody>
      </p:sp>
      <p:sp>
        <p:nvSpPr>
          <p:cNvPr id="59" name="Shape 48"/>
          <p:cNvSpPr/>
          <p:nvPr/>
        </p:nvSpPr>
        <p:spPr>
          <a:xfrm>
            <a:off x="1965960" y="3886200"/>
            <a:ext cx="3246120" cy="548640"/>
          </a:xfrm>
          <a:prstGeom prst="roundRect">
            <a:avLst>
              <a:gd name="adj" fmla="val 13333"/>
            </a:avLst>
          </a:prstGeom>
          <a:solidFill>
            <a:srgbClr val="F4F7F5"/>
          </a:solidFill>
          <a:ln w="9525">
            <a:solidFill>
              <a:srgbClr val="D5DED9"/>
            </a:solidFill>
            <a:prstDash val="solid"/>
          </a:ln>
        </p:spPr>
      </p:sp>
      <p:sp>
        <p:nvSpPr>
          <p:cNvPr id="60" name="Shape 49"/>
          <p:cNvSpPr/>
          <p:nvPr/>
        </p:nvSpPr>
        <p:spPr>
          <a:xfrm>
            <a:off x="2093976" y="4041648"/>
            <a:ext cx="237744" cy="237744"/>
          </a:xfrm>
          <a:prstGeom prst="roundRect">
            <a:avLst>
              <a:gd name="adj" fmla="val 15385"/>
            </a:avLst>
          </a:prstGeom>
          <a:solidFill>
            <a:srgbClr val="FFFFFF"/>
          </a:solidFill>
          <a:ln w="15875">
            <a:solidFill>
              <a:srgbClr val="B83B2E"/>
            </a:solidFill>
            <a:prstDash val="solid"/>
          </a:ln>
        </p:spPr>
      </p:sp>
      <p:pic>
        <p:nvPicPr>
          <p:cNvPr id="61" name="Image 8" descr="preencoded.png"/>
          <p:cNvPicPr>
            <a:picLocks noChangeAspect="1"/>
          </p:cNvPicPr>
          <p:nvPr/>
        </p:nvPicPr>
        <p:blipFill>
          <a:blip r:embed="rId7"/>
          <a:stretch>
            <a:fillRect/>
          </a:stretch>
        </p:blipFill>
        <p:spPr>
          <a:xfrm>
            <a:off x="2130552" y="4078224"/>
            <a:ext cx="164592" cy="164592"/>
          </a:xfrm>
          <a:prstGeom prst="rect">
            <a:avLst/>
          </a:prstGeom>
        </p:spPr>
      </p:pic>
      <p:sp>
        <p:nvSpPr>
          <p:cNvPr id="62" name="Text 50"/>
          <p:cNvSpPr txBox="1"/>
          <p:nvPr/>
        </p:nvSpPr>
        <p:spPr>
          <a:xfrm>
            <a:off x="2441448" y="388620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Confidentiality and data terms checked</a:t>
            </a:r>
            <a:endParaRPr lang="en-US" sz="1100" dirty="0"/>
          </a:p>
        </p:txBody>
      </p:sp>
      <p:sp>
        <p:nvSpPr>
          <p:cNvPr id="63" name="Shape 51"/>
          <p:cNvSpPr/>
          <p:nvPr/>
        </p:nvSpPr>
        <p:spPr>
          <a:xfrm>
            <a:off x="5349240" y="3886200"/>
            <a:ext cx="3246120" cy="548640"/>
          </a:xfrm>
          <a:prstGeom prst="roundRect">
            <a:avLst>
              <a:gd name="adj" fmla="val 13333"/>
            </a:avLst>
          </a:prstGeom>
          <a:solidFill>
            <a:srgbClr val="F4F7F5"/>
          </a:solidFill>
          <a:ln w="9525">
            <a:solidFill>
              <a:srgbClr val="D5DED9"/>
            </a:solidFill>
            <a:prstDash val="solid"/>
          </a:ln>
        </p:spPr>
      </p:sp>
      <p:sp>
        <p:nvSpPr>
          <p:cNvPr id="64" name="Shape 52"/>
          <p:cNvSpPr/>
          <p:nvPr/>
        </p:nvSpPr>
        <p:spPr>
          <a:xfrm>
            <a:off x="5477256" y="4041648"/>
            <a:ext cx="237744" cy="237744"/>
          </a:xfrm>
          <a:prstGeom prst="roundRect">
            <a:avLst>
              <a:gd name="adj" fmla="val 15385"/>
            </a:avLst>
          </a:prstGeom>
          <a:solidFill>
            <a:srgbClr val="FFFFFF"/>
          </a:solidFill>
          <a:ln w="15875">
            <a:solidFill>
              <a:srgbClr val="B83B2E"/>
            </a:solidFill>
            <a:prstDash val="solid"/>
          </a:ln>
        </p:spPr>
      </p:sp>
      <p:pic>
        <p:nvPicPr>
          <p:cNvPr id="65" name="Image 9" descr="preencoded.png"/>
          <p:cNvPicPr>
            <a:picLocks noChangeAspect="1"/>
          </p:cNvPicPr>
          <p:nvPr/>
        </p:nvPicPr>
        <p:blipFill>
          <a:blip r:embed="rId7"/>
          <a:stretch>
            <a:fillRect/>
          </a:stretch>
        </p:blipFill>
        <p:spPr>
          <a:xfrm>
            <a:off x="5513832" y="4078224"/>
            <a:ext cx="164592" cy="164592"/>
          </a:xfrm>
          <a:prstGeom prst="rect">
            <a:avLst/>
          </a:prstGeom>
        </p:spPr>
      </p:pic>
      <p:sp>
        <p:nvSpPr>
          <p:cNvPr id="66" name="Text 53"/>
          <p:cNvSpPr txBox="1"/>
          <p:nvPr/>
        </p:nvSpPr>
        <p:spPr>
          <a:xfrm>
            <a:off x="5824728" y="3886200"/>
            <a:ext cx="269748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Outputs verified; prompt has a version and an owner</a:t>
            </a:r>
            <a:endParaRPr lang="en-US" sz="11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WRAP-UP</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Key takeaways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634490"/>
            <a:ext cx="2651760" cy="1874520"/>
          </a:xfrm>
          <a:prstGeom prst="roundRect">
            <a:avLst>
              <a:gd name="adj" fmla="val 3902"/>
            </a:avLst>
          </a:prstGeom>
          <a:solidFill>
            <a:srgbClr val="F4F7F5"/>
          </a:solidFill>
          <a:ln w="9525">
            <a:solidFill>
              <a:srgbClr val="D5DED9"/>
            </a:solidFill>
            <a:prstDash val="solid"/>
          </a:ln>
        </p:spPr>
      </p:sp>
      <p:sp>
        <p:nvSpPr>
          <p:cNvPr id="18" name="Text 15"/>
          <p:cNvSpPr txBox="1"/>
          <p:nvPr/>
        </p:nvSpPr>
        <p:spPr>
          <a:xfrm>
            <a:off x="640080" y="1725930"/>
            <a:ext cx="914400" cy="457200"/>
          </a:xfrm>
          <a:prstGeom prst="rect">
            <a:avLst/>
          </a:prstGeom>
          <a:noFill/>
          <a:ln/>
        </p:spPr>
        <p:txBody>
          <a:bodyPr wrap="square" lIns="0" tIns="0" rIns="0" bIns="0" rtlCol="0" anchor="t"/>
          <a:lstStyle/>
          <a:p>
            <a:pPr marL="0" indent="0">
              <a:buNone/>
            </a:pPr>
            <a:r>
              <a:rPr lang="en-US" sz="3200" b="1" dirty="0">
                <a:solidFill>
                  <a:srgbClr val="00704A"/>
                </a:solidFill>
                <a:latin typeface="Calibri" pitchFamily="34" charset="0"/>
                <a:ea typeface="Calibri" pitchFamily="34" charset="-122"/>
                <a:cs typeface="Calibri" pitchFamily="34" charset="-120"/>
              </a:rPr>
              <a:t>01</a:t>
            </a:r>
            <a:endParaRPr lang="en-US" sz="3200" dirty="0"/>
          </a:p>
        </p:txBody>
      </p:sp>
      <p:sp>
        <p:nvSpPr>
          <p:cNvPr id="19" name="Shape 16"/>
          <p:cNvSpPr/>
          <p:nvPr/>
        </p:nvSpPr>
        <p:spPr>
          <a:xfrm>
            <a:off x="2468880" y="1771650"/>
            <a:ext cx="457200" cy="457200"/>
          </a:xfrm>
          <a:prstGeom prst="ellipse">
            <a:avLst/>
          </a:prstGeom>
          <a:solidFill>
            <a:srgbClr val="00704A">
              <a:alpha val="22000"/>
            </a:srgbClr>
          </a:solidFill>
          <a:ln/>
        </p:spPr>
      </p:sp>
      <p:pic>
        <p:nvPicPr>
          <p:cNvPr id="20" name="Image 0" descr="preencoded.png"/>
          <p:cNvPicPr>
            <a:picLocks noChangeAspect="1"/>
          </p:cNvPicPr>
          <p:nvPr/>
        </p:nvPicPr>
        <p:blipFill>
          <a:blip r:embed="rId3"/>
          <a:stretch>
            <a:fillRect/>
          </a:stretch>
        </p:blipFill>
        <p:spPr>
          <a:xfrm>
            <a:off x="2578608" y="1881378"/>
            <a:ext cx="237744" cy="237744"/>
          </a:xfrm>
          <a:prstGeom prst="rect">
            <a:avLst/>
          </a:prstGeom>
        </p:spPr>
      </p:pic>
      <p:sp>
        <p:nvSpPr>
          <p:cNvPr id="21" name="Text 17"/>
          <p:cNvSpPr txBox="1"/>
          <p:nvPr/>
        </p:nvSpPr>
        <p:spPr>
          <a:xfrm>
            <a:off x="640080" y="2274570"/>
            <a:ext cx="2286000" cy="45720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Measure before you change</a:t>
            </a:r>
            <a:endParaRPr lang="en-US" sz="1400" dirty="0"/>
          </a:p>
        </p:txBody>
      </p:sp>
      <p:sp>
        <p:nvSpPr>
          <p:cNvPr id="22" name="Text 18"/>
          <p:cNvSpPr txBox="1"/>
          <p:nvPr/>
        </p:nvSpPr>
        <p:spPr>
          <a:xfrm>
            <a:off x="640080" y="2759202"/>
            <a:ext cx="2286000" cy="6400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 frozen evaluation set turns opinions into numbers.</a:t>
            </a:r>
            <a:endParaRPr lang="en-US" sz="1050" dirty="0"/>
          </a:p>
        </p:txBody>
      </p:sp>
      <p:sp>
        <p:nvSpPr>
          <p:cNvPr id="23" name="Shape 19"/>
          <p:cNvSpPr/>
          <p:nvPr/>
        </p:nvSpPr>
        <p:spPr>
          <a:xfrm>
            <a:off x="3246120" y="1634490"/>
            <a:ext cx="2651760" cy="1874520"/>
          </a:xfrm>
          <a:prstGeom prst="roundRect">
            <a:avLst>
              <a:gd name="adj" fmla="val 3902"/>
            </a:avLst>
          </a:prstGeom>
          <a:solidFill>
            <a:srgbClr val="F4F7F5"/>
          </a:solidFill>
          <a:ln w="9525">
            <a:solidFill>
              <a:srgbClr val="D5DED9"/>
            </a:solidFill>
            <a:prstDash val="solid"/>
          </a:ln>
        </p:spPr>
      </p:sp>
      <p:sp>
        <p:nvSpPr>
          <p:cNvPr id="24" name="Text 20"/>
          <p:cNvSpPr txBox="1"/>
          <p:nvPr/>
        </p:nvSpPr>
        <p:spPr>
          <a:xfrm>
            <a:off x="3429000" y="1725930"/>
            <a:ext cx="914400" cy="457200"/>
          </a:xfrm>
          <a:prstGeom prst="rect">
            <a:avLst/>
          </a:prstGeom>
          <a:noFill/>
          <a:ln/>
        </p:spPr>
        <p:txBody>
          <a:bodyPr wrap="square" lIns="0" tIns="0" rIns="0" bIns="0" rtlCol="0" anchor="t"/>
          <a:lstStyle/>
          <a:p>
            <a:pPr marL="0" indent="0">
              <a:buNone/>
            </a:pPr>
            <a:r>
              <a:rPr lang="en-US" sz="3200" b="1" dirty="0">
                <a:solidFill>
                  <a:srgbClr val="D49A00"/>
                </a:solidFill>
                <a:latin typeface="Calibri" pitchFamily="34" charset="0"/>
                <a:ea typeface="Calibri" pitchFamily="34" charset="-122"/>
                <a:cs typeface="Calibri" pitchFamily="34" charset="-120"/>
              </a:rPr>
              <a:t>02</a:t>
            </a:r>
            <a:endParaRPr lang="en-US" sz="3200" dirty="0"/>
          </a:p>
        </p:txBody>
      </p:sp>
      <p:sp>
        <p:nvSpPr>
          <p:cNvPr id="25" name="Shape 21"/>
          <p:cNvSpPr/>
          <p:nvPr/>
        </p:nvSpPr>
        <p:spPr>
          <a:xfrm>
            <a:off x="5257800" y="1771650"/>
            <a:ext cx="457200" cy="457200"/>
          </a:xfrm>
          <a:prstGeom prst="ellipse">
            <a:avLst/>
          </a:prstGeom>
          <a:solidFill>
            <a:srgbClr val="D49A00">
              <a:alpha val="22000"/>
            </a:srgbClr>
          </a:solidFill>
          <a:ln/>
        </p:spPr>
      </p:sp>
      <p:pic>
        <p:nvPicPr>
          <p:cNvPr id="26" name="Image 1" descr="preencoded.png"/>
          <p:cNvPicPr>
            <a:picLocks noChangeAspect="1"/>
          </p:cNvPicPr>
          <p:nvPr/>
        </p:nvPicPr>
        <p:blipFill>
          <a:blip r:embed="rId4"/>
          <a:stretch>
            <a:fillRect/>
          </a:stretch>
        </p:blipFill>
        <p:spPr>
          <a:xfrm>
            <a:off x="5367528" y="1881378"/>
            <a:ext cx="237744" cy="237744"/>
          </a:xfrm>
          <a:prstGeom prst="rect">
            <a:avLst/>
          </a:prstGeom>
        </p:spPr>
      </p:pic>
      <p:sp>
        <p:nvSpPr>
          <p:cNvPr id="27" name="Text 22"/>
          <p:cNvSpPr txBox="1"/>
          <p:nvPr/>
        </p:nvSpPr>
        <p:spPr>
          <a:xfrm>
            <a:off x="3429000" y="2274570"/>
            <a:ext cx="2286000" cy="45720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Engineer reproducibility</a:t>
            </a:r>
            <a:endParaRPr lang="en-US" sz="1400" dirty="0"/>
          </a:p>
        </p:txBody>
      </p:sp>
      <p:sp>
        <p:nvSpPr>
          <p:cNvPr id="28" name="Text 23"/>
          <p:cNvSpPr txBox="1"/>
          <p:nvPr/>
        </p:nvSpPr>
        <p:spPr>
          <a:xfrm>
            <a:off x="3429000" y="2759202"/>
            <a:ext cx="2286000" cy="6400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Pin, constrain, test repeated runs, verify before publishing.</a:t>
            </a:r>
            <a:endParaRPr lang="en-US" sz="1050" dirty="0"/>
          </a:p>
        </p:txBody>
      </p:sp>
      <p:sp>
        <p:nvSpPr>
          <p:cNvPr id="29" name="Shape 24"/>
          <p:cNvSpPr/>
          <p:nvPr/>
        </p:nvSpPr>
        <p:spPr>
          <a:xfrm>
            <a:off x="6035040" y="1634490"/>
            <a:ext cx="2651760" cy="1874520"/>
          </a:xfrm>
          <a:prstGeom prst="roundRect">
            <a:avLst>
              <a:gd name="adj" fmla="val 3902"/>
            </a:avLst>
          </a:prstGeom>
          <a:solidFill>
            <a:srgbClr val="F4F7F5"/>
          </a:solidFill>
          <a:ln w="9525">
            <a:solidFill>
              <a:srgbClr val="D5DED9"/>
            </a:solidFill>
            <a:prstDash val="solid"/>
          </a:ln>
        </p:spPr>
      </p:sp>
      <p:sp>
        <p:nvSpPr>
          <p:cNvPr id="30" name="Text 25"/>
          <p:cNvSpPr txBox="1"/>
          <p:nvPr/>
        </p:nvSpPr>
        <p:spPr>
          <a:xfrm>
            <a:off x="6217920" y="1725930"/>
            <a:ext cx="914400" cy="457200"/>
          </a:xfrm>
          <a:prstGeom prst="rect">
            <a:avLst/>
          </a:prstGeom>
          <a:noFill/>
          <a:ln/>
        </p:spPr>
        <p:txBody>
          <a:bodyPr wrap="square" lIns="0" tIns="0" rIns="0" bIns="0" rtlCol="0" anchor="t"/>
          <a:lstStyle/>
          <a:p>
            <a:pPr marL="0" indent="0">
              <a:buNone/>
            </a:pPr>
            <a:r>
              <a:rPr lang="en-US" sz="3200" b="1" dirty="0">
                <a:solidFill>
                  <a:srgbClr val="C4621D"/>
                </a:solidFill>
                <a:latin typeface="Calibri" pitchFamily="34" charset="0"/>
                <a:ea typeface="Calibri" pitchFamily="34" charset="-122"/>
                <a:cs typeface="Calibri" pitchFamily="34" charset="-120"/>
              </a:rPr>
              <a:t>03</a:t>
            </a:r>
            <a:endParaRPr lang="en-US" sz="3200" dirty="0"/>
          </a:p>
        </p:txBody>
      </p:sp>
      <p:sp>
        <p:nvSpPr>
          <p:cNvPr id="31" name="Shape 26"/>
          <p:cNvSpPr/>
          <p:nvPr/>
        </p:nvSpPr>
        <p:spPr>
          <a:xfrm>
            <a:off x="8046720" y="1771650"/>
            <a:ext cx="457200" cy="457200"/>
          </a:xfrm>
          <a:prstGeom prst="ellipse">
            <a:avLst/>
          </a:prstGeom>
          <a:solidFill>
            <a:srgbClr val="C4621D">
              <a:alpha val="22000"/>
            </a:srgbClr>
          </a:solidFill>
          <a:ln/>
        </p:spPr>
      </p:sp>
      <p:pic>
        <p:nvPicPr>
          <p:cNvPr id="32" name="Image 2" descr="preencoded.png"/>
          <p:cNvPicPr>
            <a:picLocks noChangeAspect="1"/>
          </p:cNvPicPr>
          <p:nvPr/>
        </p:nvPicPr>
        <p:blipFill>
          <a:blip r:embed="rId5"/>
          <a:stretch>
            <a:fillRect/>
          </a:stretch>
        </p:blipFill>
        <p:spPr>
          <a:xfrm>
            <a:off x="8156448" y="1881378"/>
            <a:ext cx="237744" cy="237744"/>
          </a:xfrm>
          <a:prstGeom prst="rect">
            <a:avLst/>
          </a:prstGeom>
        </p:spPr>
      </p:pic>
      <p:sp>
        <p:nvSpPr>
          <p:cNvPr id="33" name="Text 27"/>
          <p:cNvSpPr txBox="1"/>
          <p:nvPr/>
        </p:nvSpPr>
        <p:spPr>
          <a:xfrm>
            <a:off x="6217920" y="2274570"/>
            <a:ext cx="2286000" cy="45720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Design for cost</a:t>
            </a:r>
            <a:endParaRPr lang="en-US" sz="1400" dirty="0"/>
          </a:p>
        </p:txBody>
      </p:sp>
      <p:sp>
        <p:nvSpPr>
          <p:cNvPr id="34" name="Text 28"/>
          <p:cNvSpPr txBox="1"/>
          <p:nvPr/>
        </p:nvSpPr>
        <p:spPr>
          <a:xfrm>
            <a:off x="6217920" y="2759202"/>
            <a:ext cx="2286000" cy="6400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Prompt structure, caching and batching can cut the bill by an order of magnitude.</a:t>
            </a:r>
            <a:endParaRPr lang="en-US" sz="10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29200"/>
            <a:ext cx="9144000" cy="114300"/>
          </a:xfrm>
          <a:prstGeom prst="rect">
            <a:avLst/>
          </a:prstGeom>
          <a:solidFill>
            <a:srgbClr val="F5C242"/>
          </a:solidFill>
          <a:ln/>
        </p:spPr>
      </p:sp>
      <p:sp>
        <p:nvSpPr>
          <p:cNvPr id="3" name="Text 1"/>
          <p:cNvSpPr txBox="1"/>
          <p:nvPr/>
        </p:nvSpPr>
        <p:spPr>
          <a:xfrm>
            <a:off x="640080" y="1005840"/>
            <a:ext cx="54864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FROM GOOD TO GREAT</a:t>
            </a:r>
            <a:endParaRPr lang="en-US" sz="1050" dirty="0"/>
          </a:p>
        </p:txBody>
      </p:sp>
      <p:sp>
        <p:nvSpPr>
          <p:cNvPr id="4" name="Text 2"/>
          <p:cNvSpPr txBox="1"/>
          <p:nvPr/>
        </p:nvSpPr>
        <p:spPr>
          <a:xfrm>
            <a:off x="640080" y="1371600"/>
            <a:ext cx="5669280" cy="502920"/>
          </a:xfrm>
          <a:prstGeom prst="rect">
            <a:avLst/>
          </a:prstGeom>
          <a:noFill/>
          <a:ln/>
        </p:spPr>
        <p:txBody>
          <a:bodyPr wrap="square" lIns="0" tIns="0" rIns="0" bIns="0" rtlCol="0" anchor="t"/>
          <a:lstStyle/>
          <a:p>
            <a:pPr marL="0" indent="0">
              <a:buNone/>
            </a:pPr>
            <a:r>
              <a:rPr lang="en-US" sz="3000" b="1" dirty="0">
                <a:solidFill>
                  <a:srgbClr val="E6F6EE"/>
                </a:solidFill>
                <a:latin typeface="Calibri" pitchFamily="34" charset="0"/>
                <a:ea typeface="Calibri" pitchFamily="34" charset="-122"/>
                <a:cs typeface="Calibri" pitchFamily="34" charset="-120"/>
              </a:rPr>
              <a:t>A good prompt gets an answer.</a:t>
            </a:r>
            <a:endParaRPr lang="en-US" sz="3000" dirty="0"/>
          </a:p>
        </p:txBody>
      </p:sp>
      <p:sp>
        <p:nvSpPr>
          <p:cNvPr id="5" name="Text 3"/>
          <p:cNvSpPr txBox="1"/>
          <p:nvPr/>
        </p:nvSpPr>
        <p:spPr>
          <a:xfrm>
            <a:off x="640080" y="1920240"/>
            <a:ext cx="5486400" cy="1005840"/>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A great prompt gets an answer you can defend.</a:t>
            </a:r>
            <a:endParaRPr lang="en-US" sz="3000" dirty="0"/>
          </a:p>
        </p:txBody>
      </p:sp>
      <p:sp>
        <p:nvSpPr>
          <p:cNvPr id="6" name="Text 4"/>
          <p:cNvSpPr txBox="1"/>
          <p:nvPr/>
        </p:nvSpPr>
        <p:spPr>
          <a:xfrm>
            <a:off x="640080" y="3520440"/>
            <a:ext cx="5486400" cy="3657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Thank you. Questions and discussion.</a:t>
            </a:r>
            <a:endParaRPr lang="en-US" sz="1800" dirty="0"/>
          </a:p>
        </p:txBody>
      </p:sp>
      <p:sp>
        <p:nvSpPr>
          <p:cNvPr id="7" name="Text 5"/>
          <p:cNvSpPr txBox="1"/>
          <p:nvPr/>
        </p:nvSpPr>
        <p:spPr>
          <a:xfrm>
            <a:off x="640080" y="4206240"/>
            <a:ext cx="5486400" cy="2286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STG17 Technical Workshop · Emerging Issues, Emerging Practice</a:t>
            </a:r>
            <a:endParaRPr lang="en-US" sz="1050" dirty="0"/>
          </a:p>
        </p:txBody>
      </p:sp>
      <p:sp>
        <p:nvSpPr>
          <p:cNvPr id="8" name="Shape 6"/>
          <p:cNvSpPr/>
          <p:nvPr/>
        </p:nvSpPr>
        <p:spPr>
          <a:xfrm>
            <a:off x="6446520" y="1325880"/>
            <a:ext cx="2286000" cy="2286000"/>
          </a:xfrm>
          <a:prstGeom prst="ellipse">
            <a:avLst/>
          </a:prstGeom>
          <a:ln w="19050">
            <a:solidFill>
              <a:srgbClr val="FFFFFF">
                <a:alpha val="50000"/>
              </a:srgbClr>
            </a:solidFill>
            <a:prstDash val="solid"/>
          </a:ln>
        </p:spPr>
      </p:sp>
      <p:sp>
        <p:nvSpPr>
          <p:cNvPr id="9" name="Shape 7"/>
          <p:cNvSpPr/>
          <p:nvPr/>
        </p:nvSpPr>
        <p:spPr>
          <a:xfrm>
            <a:off x="6812280" y="1691640"/>
            <a:ext cx="1554480" cy="155448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7178040" y="2057400"/>
            <a:ext cx="822960" cy="822960"/>
          </a:xfrm>
          <a:prstGeom prst="rect">
            <a:avLst/>
          </a:prstGeom>
        </p:spPr>
      </p:pic>
      <p:sp>
        <p:nvSpPr>
          <p:cNvPr id="11" name="Shape 8"/>
          <p:cNvSpPr/>
          <p:nvPr/>
        </p:nvSpPr>
        <p:spPr>
          <a:xfrm>
            <a:off x="7635240" y="365760"/>
            <a:ext cx="100584" cy="100584"/>
          </a:xfrm>
          <a:prstGeom prst="ellipse">
            <a:avLst/>
          </a:prstGeom>
          <a:solidFill>
            <a:srgbClr val="FFFFFF">
              <a:alpha val="40000"/>
            </a:srgbClr>
          </a:solidFill>
          <a:ln/>
        </p:spPr>
      </p:sp>
      <p:sp>
        <p:nvSpPr>
          <p:cNvPr id="12" name="Shape 9"/>
          <p:cNvSpPr/>
          <p:nvPr/>
        </p:nvSpPr>
        <p:spPr>
          <a:xfrm>
            <a:off x="7818120" y="365760"/>
            <a:ext cx="100584" cy="100584"/>
          </a:xfrm>
          <a:prstGeom prst="ellipse">
            <a:avLst/>
          </a:prstGeom>
          <a:solidFill>
            <a:srgbClr val="FFFFFF">
              <a:alpha val="40000"/>
            </a:srgbClr>
          </a:solidFill>
          <a:ln/>
        </p:spPr>
      </p:sp>
      <p:sp>
        <p:nvSpPr>
          <p:cNvPr id="13" name="Shape 10"/>
          <p:cNvSpPr/>
          <p:nvPr/>
        </p:nvSpPr>
        <p:spPr>
          <a:xfrm>
            <a:off x="8001000" y="365760"/>
            <a:ext cx="100584" cy="100584"/>
          </a:xfrm>
          <a:prstGeom prst="ellipse">
            <a:avLst/>
          </a:prstGeom>
          <a:solidFill>
            <a:srgbClr val="FFFFFF">
              <a:alpha val="40000"/>
            </a:srgbClr>
          </a:solidFill>
          <a:ln/>
        </p:spPr>
      </p:sp>
      <p:sp>
        <p:nvSpPr>
          <p:cNvPr id="14" name="Shape 11"/>
          <p:cNvSpPr/>
          <p:nvPr/>
        </p:nvSpPr>
        <p:spPr>
          <a:xfrm>
            <a:off x="8183880" y="365760"/>
            <a:ext cx="100584" cy="100584"/>
          </a:xfrm>
          <a:prstGeom prst="ellipse">
            <a:avLst/>
          </a:prstGeom>
          <a:solidFill>
            <a:srgbClr val="FFFFFF">
              <a:alpha val="40000"/>
            </a:srgbClr>
          </a:solidFill>
          <a:ln/>
        </p:spPr>
      </p:sp>
      <p:sp>
        <p:nvSpPr>
          <p:cNvPr id="15" name="Shape 12"/>
          <p:cNvSpPr/>
          <p:nvPr/>
        </p:nvSpPr>
        <p:spPr>
          <a:xfrm>
            <a:off x="8366760" y="365760"/>
            <a:ext cx="100584" cy="100584"/>
          </a:xfrm>
          <a:prstGeom prst="ellipse">
            <a:avLst/>
          </a:prstGeom>
          <a:solidFill>
            <a:srgbClr val="FFFFFF">
              <a:alpha val="40000"/>
            </a:srgbClr>
          </a:solidFill>
          <a:ln/>
        </p:spPr>
      </p:sp>
      <p:sp>
        <p:nvSpPr>
          <p:cNvPr id="16" name="Shape 13"/>
          <p:cNvSpPr/>
          <p:nvPr/>
        </p:nvSpPr>
        <p:spPr>
          <a:xfrm>
            <a:off x="8549640" y="365760"/>
            <a:ext cx="100584" cy="100584"/>
          </a:xfrm>
          <a:prstGeom prst="ellipse">
            <a:avLst/>
          </a:prstGeom>
          <a:solidFill>
            <a:srgbClr val="FFFFFF">
              <a:alpha val="40000"/>
            </a:srgbClr>
          </a:solidFill>
          <a:ln/>
        </p:spPr>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1920240" cy="1920240"/>
          </a:xfrm>
          <a:prstGeom prst="ellipse">
            <a:avLst/>
          </a:prstGeom>
          <a:ln w="19050">
            <a:solidFill>
              <a:srgbClr val="00A86A">
                <a:alpha val="12000"/>
              </a:srgbClr>
            </a:solidFill>
            <a:prstDash val="solid"/>
          </a:ln>
        </p:spPr>
      </p:sp>
      <p:sp>
        <p:nvSpPr>
          <p:cNvPr id="5" name="Shape 3"/>
          <p:cNvSpPr/>
          <p:nvPr/>
        </p:nvSpPr>
        <p:spPr>
          <a:xfrm>
            <a:off x="8138160" y="4114800"/>
            <a:ext cx="1280160" cy="1280160"/>
          </a:xfrm>
          <a:prstGeom prst="ellipse">
            <a:avLst/>
          </a:prstGeom>
          <a:ln w="19050">
            <a:solidFill>
              <a:srgbClr val="00A86A">
                <a:alpha val="12000"/>
              </a:srgbClr>
            </a:solidFill>
            <a:prstDash val="solid"/>
          </a:ln>
        </p:spPr>
      </p:sp>
      <p:sp>
        <p:nvSpPr>
          <p:cNvPr id="6" name="Text 4"/>
          <p:cNvSpPr txBox="1"/>
          <p:nvPr/>
        </p:nvSpPr>
        <p:spPr>
          <a:xfrm>
            <a:off x="457200" y="310896"/>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7" name="Text 5"/>
          <p:cNvSpPr txBox="1"/>
          <p:nvPr/>
        </p:nvSpPr>
        <p:spPr>
          <a:xfrm>
            <a:off x="457200" y="548640"/>
            <a:ext cx="758952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a:t>
            </a:r>
            <a:endParaRPr lang="en-US" sz="2800" dirty="0"/>
          </a:p>
        </p:txBody>
      </p:sp>
      <p:sp>
        <p:nvSpPr>
          <p:cNvPr id="8" name="Shape 6"/>
          <p:cNvSpPr/>
          <p:nvPr/>
        </p:nvSpPr>
        <p:spPr>
          <a:xfrm>
            <a:off x="7635240" y="365760"/>
            <a:ext cx="100584" cy="100584"/>
          </a:xfrm>
          <a:prstGeom prst="ellipse">
            <a:avLst/>
          </a:prstGeom>
          <a:solidFill>
            <a:srgbClr val="D5DED9"/>
          </a:solidFill>
          <a:ln/>
        </p:spPr>
      </p:sp>
      <p:sp>
        <p:nvSpPr>
          <p:cNvPr id="9" name="Shape 7"/>
          <p:cNvSpPr/>
          <p:nvPr/>
        </p:nvSpPr>
        <p:spPr>
          <a:xfrm>
            <a:off x="7818120" y="365760"/>
            <a:ext cx="100584" cy="100584"/>
          </a:xfrm>
          <a:prstGeom prst="ellipse">
            <a:avLst/>
          </a:prstGeom>
          <a:solidFill>
            <a:srgbClr val="D5DED9"/>
          </a:solidFill>
          <a:ln/>
        </p:spPr>
      </p:sp>
      <p:sp>
        <p:nvSpPr>
          <p:cNvPr id="10" name="Shape 8"/>
          <p:cNvSpPr/>
          <p:nvPr/>
        </p:nvSpPr>
        <p:spPr>
          <a:xfrm>
            <a:off x="8001000" y="365760"/>
            <a:ext cx="100584" cy="100584"/>
          </a:xfrm>
          <a:prstGeom prst="ellipse">
            <a:avLst/>
          </a:prstGeom>
          <a:solidFill>
            <a:srgbClr val="D5DED9"/>
          </a:solidFill>
          <a:ln/>
        </p:spPr>
      </p:sp>
      <p:sp>
        <p:nvSpPr>
          <p:cNvPr id="11" name="Shape 9"/>
          <p:cNvSpPr/>
          <p:nvPr/>
        </p:nvSpPr>
        <p:spPr>
          <a:xfrm>
            <a:off x="8183880" y="365760"/>
            <a:ext cx="100584" cy="100584"/>
          </a:xfrm>
          <a:prstGeom prst="ellipse">
            <a:avLst/>
          </a:prstGeom>
          <a:solidFill>
            <a:srgbClr val="D5DED9"/>
          </a:solidFill>
          <a:ln/>
        </p:spPr>
      </p:sp>
      <p:sp>
        <p:nvSpPr>
          <p:cNvPr id="12" name="Shape 10"/>
          <p:cNvSpPr/>
          <p:nvPr/>
        </p:nvSpPr>
        <p:spPr>
          <a:xfrm>
            <a:off x="8366760" y="365760"/>
            <a:ext cx="100584" cy="100584"/>
          </a:xfrm>
          <a:prstGeom prst="ellipse">
            <a:avLst/>
          </a:prstGeom>
          <a:solidFill>
            <a:srgbClr val="D5DED9"/>
          </a:solidFill>
          <a:ln/>
        </p:spPr>
      </p:sp>
      <p:sp>
        <p:nvSpPr>
          <p:cNvPr id="13" name="Shape 11"/>
          <p:cNvSpPr/>
          <p:nvPr/>
        </p:nvSpPr>
        <p:spPr>
          <a:xfrm>
            <a:off x="8549640" y="365760"/>
            <a:ext cx="100584" cy="100584"/>
          </a:xfrm>
          <a:prstGeom prst="ellipse">
            <a:avLst/>
          </a:prstGeom>
          <a:solidFill>
            <a:srgbClr val="D5DED9"/>
          </a:solidFill>
          <a:ln/>
        </p:spPr>
      </p:sp>
      <p:sp>
        <p:nvSpPr>
          <p:cNvPr id="14" name="Text 12"/>
          <p:cNvSpPr txBox="1"/>
          <p:nvPr/>
        </p:nvSpPr>
        <p:spPr>
          <a:xfrm>
            <a:off x="457200" y="4828032"/>
            <a:ext cx="59436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From Good to Great · Prompt Optimisation  |  STG17 Technical Workshop</a:t>
            </a:r>
            <a:endParaRPr lang="en-US" sz="850" dirty="0"/>
          </a:p>
        </p:txBody>
      </p:sp>
      <p:sp>
        <p:nvSpPr>
          <p:cNvPr id="15" name="Text 13"/>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325880"/>
            <a:ext cx="457200" cy="457200"/>
          </a:xfrm>
          <a:prstGeom prst="ellipse">
            <a:avLst/>
          </a:prstGeom>
          <a:solidFill>
            <a:srgbClr val="00704A">
              <a:alpha val="22000"/>
            </a:srgbClr>
          </a:solidFill>
          <a:ln/>
        </p:spPr>
      </p:sp>
      <p:pic>
        <p:nvPicPr>
          <p:cNvPr id="18" name="Image 0" descr="preencoded.png"/>
          <p:cNvPicPr>
            <a:picLocks noChangeAspect="1"/>
          </p:cNvPicPr>
          <p:nvPr/>
        </p:nvPicPr>
        <p:blipFill>
          <a:blip r:embed="rId3"/>
          <a:stretch>
            <a:fillRect/>
          </a:stretch>
        </p:blipFill>
        <p:spPr>
          <a:xfrm>
            <a:off x="566928" y="1435608"/>
            <a:ext cx="237744" cy="237744"/>
          </a:xfrm>
          <a:prstGeom prst="rect">
            <a:avLst/>
          </a:prstGeom>
        </p:spPr>
      </p:pic>
      <p:sp>
        <p:nvSpPr>
          <p:cNvPr id="19" name="Shape 15"/>
          <p:cNvSpPr/>
          <p:nvPr/>
        </p:nvSpPr>
        <p:spPr>
          <a:xfrm>
            <a:off x="1097280" y="1389888"/>
            <a:ext cx="1234440" cy="219456"/>
          </a:xfrm>
          <a:prstGeom prst="roundRect">
            <a:avLst>
              <a:gd name="adj" fmla="val 54167"/>
            </a:avLst>
          </a:prstGeom>
          <a:solidFill>
            <a:srgbClr val="00A86A">
              <a:alpha val="15000"/>
            </a:srgbClr>
          </a:solidFill>
          <a:ln w="9525">
            <a:solidFill>
              <a:srgbClr val="00A86A"/>
            </a:solidFill>
            <a:prstDash val="solid"/>
          </a:ln>
        </p:spPr>
      </p:sp>
      <p:sp>
        <p:nvSpPr>
          <p:cNvPr id="20" name="Text 16"/>
          <p:cNvSpPr txBox="1"/>
          <p:nvPr/>
        </p:nvSpPr>
        <p:spPr>
          <a:xfrm>
            <a:off x="1097280" y="1389888"/>
            <a:ext cx="1234440"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WORKSHOP</a:t>
            </a:r>
            <a:endParaRPr lang="en-US" sz="900" dirty="0"/>
          </a:p>
        </p:txBody>
      </p:sp>
      <p:sp>
        <p:nvSpPr>
          <p:cNvPr id="21" name="Text 17"/>
          <p:cNvSpPr txBox="1"/>
          <p:nvPr/>
        </p:nvSpPr>
        <p:spPr>
          <a:xfrm>
            <a:off x="2468880" y="1325880"/>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STG17 Workshop Agenda, “Emerging Issues, Emerging Practice: Innovating the Data Value Chain”, version 01/09/2026. AfDB, AU STATAFRIC, NISR.</a:t>
            </a:r>
            <a:endParaRPr lang="en-US" sz="1000" dirty="0"/>
          </a:p>
        </p:txBody>
      </p:sp>
      <p:sp>
        <p:nvSpPr>
          <p:cNvPr id="22" name="Shape 18"/>
          <p:cNvSpPr/>
          <p:nvPr/>
        </p:nvSpPr>
        <p:spPr>
          <a:xfrm>
            <a:off x="1097280" y="1792224"/>
            <a:ext cx="1234440" cy="219456"/>
          </a:xfrm>
          <a:prstGeom prst="roundRect">
            <a:avLst>
              <a:gd name="adj" fmla="val 54167"/>
            </a:avLst>
          </a:prstGeom>
          <a:solidFill>
            <a:srgbClr val="00704A">
              <a:alpha val="15000"/>
            </a:srgbClr>
          </a:solidFill>
          <a:ln w="9525">
            <a:solidFill>
              <a:srgbClr val="00704A"/>
            </a:solidFill>
            <a:prstDash val="solid"/>
          </a:ln>
        </p:spPr>
      </p:sp>
      <p:sp>
        <p:nvSpPr>
          <p:cNvPr id="23" name="Text 19"/>
          <p:cNvSpPr txBox="1"/>
          <p:nvPr/>
        </p:nvSpPr>
        <p:spPr>
          <a:xfrm>
            <a:off x="1097280" y="1792224"/>
            <a:ext cx="1234440" cy="219456"/>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PRINCIPLES</a:t>
            </a:r>
            <a:endParaRPr lang="en-US" sz="900" dirty="0"/>
          </a:p>
        </p:txBody>
      </p:sp>
      <p:sp>
        <p:nvSpPr>
          <p:cNvPr id="24" name="Text 20"/>
          <p:cNvSpPr txBox="1"/>
          <p:nvPr/>
        </p:nvSpPr>
        <p:spPr>
          <a:xfrm>
            <a:off x="2468880" y="1728216"/>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United Nations General Assembly (2014). Resolution 68/261, Fundamental Principles of Official Statistics.</a:t>
            </a:r>
            <a:endParaRPr lang="en-US" sz="1000" dirty="0"/>
          </a:p>
        </p:txBody>
      </p:sp>
      <p:sp>
        <p:nvSpPr>
          <p:cNvPr id="25" name="Shape 21"/>
          <p:cNvSpPr/>
          <p:nvPr/>
        </p:nvSpPr>
        <p:spPr>
          <a:xfrm>
            <a:off x="1097280" y="2194560"/>
            <a:ext cx="1234440" cy="219456"/>
          </a:xfrm>
          <a:prstGeom prst="roundRect">
            <a:avLst>
              <a:gd name="adj" fmla="val 54167"/>
            </a:avLst>
          </a:prstGeom>
          <a:solidFill>
            <a:srgbClr val="0E7C86">
              <a:alpha val="15000"/>
            </a:srgbClr>
          </a:solidFill>
          <a:ln w="9525">
            <a:solidFill>
              <a:srgbClr val="0E7C86"/>
            </a:solidFill>
            <a:prstDash val="solid"/>
          </a:ln>
        </p:spPr>
      </p:sp>
      <p:sp>
        <p:nvSpPr>
          <p:cNvPr id="26" name="Text 22"/>
          <p:cNvSpPr txBox="1"/>
          <p:nvPr/>
        </p:nvSpPr>
        <p:spPr>
          <a:xfrm>
            <a:off x="1097280" y="2194560"/>
            <a:ext cx="1234440" cy="219456"/>
          </a:xfrm>
          <a:prstGeom prst="rect">
            <a:avLst/>
          </a:prstGeom>
          <a:noFill/>
          <a:ln/>
        </p:spPr>
        <p:txBody>
          <a:bodyPr wrap="square" lIns="0" tIns="0" rIns="0" bIns="0" rtlCol="0" anchor="ctr"/>
          <a:lstStyle/>
          <a:p>
            <a:pPr marL="0" indent="0" algn="ctr">
              <a:buNone/>
            </a:pPr>
            <a:r>
              <a:rPr lang="en-US" sz="900" b="1" kern="0" spc="100" dirty="0">
                <a:solidFill>
                  <a:srgbClr val="0E7C86"/>
                </a:solidFill>
                <a:latin typeface="Calibri" pitchFamily="34" charset="0"/>
                <a:ea typeface="Calibri" pitchFamily="34" charset="-122"/>
                <a:cs typeface="Calibri" pitchFamily="34" charset="-120"/>
              </a:rPr>
              <a:t>CLASSIFICATION</a:t>
            </a:r>
            <a:endParaRPr lang="en-US" sz="900" dirty="0"/>
          </a:p>
        </p:txBody>
      </p:sp>
      <p:sp>
        <p:nvSpPr>
          <p:cNvPr id="27" name="Text 23"/>
          <p:cNvSpPr txBox="1"/>
          <p:nvPr/>
        </p:nvSpPr>
        <p:spPr>
          <a:xfrm>
            <a:off x="2468880" y="2130552"/>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International Labour Organization (2012). International Standard Classification of Occupations, ISCO-08.</a:t>
            </a:r>
            <a:endParaRPr lang="en-US" sz="1000" dirty="0"/>
          </a:p>
        </p:txBody>
      </p:sp>
      <p:sp>
        <p:nvSpPr>
          <p:cNvPr id="28" name="Shape 24"/>
          <p:cNvSpPr/>
          <p:nvPr/>
        </p:nvSpPr>
        <p:spPr>
          <a:xfrm>
            <a:off x="1097280" y="2596896"/>
            <a:ext cx="1234440" cy="219456"/>
          </a:xfrm>
          <a:prstGeom prst="roundRect">
            <a:avLst>
              <a:gd name="adj" fmla="val 54167"/>
            </a:avLst>
          </a:prstGeom>
          <a:solidFill>
            <a:srgbClr val="D49A00">
              <a:alpha val="15000"/>
            </a:srgbClr>
          </a:solidFill>
          <a:ln w="9525">
            <a:solidFill>
              <a:srgbClr val="D49A00"/>
            </a:solidFill>
            <a:prstDash val="solid"/>
          </a:ln>
        </p:spPr>
      </p:sp>
      <p:sp>
        <p:nvSpPr>
          <p:cNvPr id="29" name="Text 25"/>
          <p:cNvSpPr txBox="1"/>
          <p:nvPr/>
        </p:nvSpPr>
        <p:spPr>
          <a:xfrm>
            <a:off x="1097280" y="2596896"/>
            <a:ext cx="1234440" cy="219456"/>
          </a:xfrm>
          <a:prstGeom prst="rect">
            <a:avLst/>
          </a:prstGeom>
          <a:noFill/>
          <a:ln/>
        </p:spPr>
        <p:txBody>
          <a:bodyPr wrap="square" lIns="0" tIns="0" rIns="0" bIns="0" rtlCol="0" anchor="ctr"/>
          <a:lstStyle/>
          <a:p>
            <a:pPr marL="0" indent="0" algn="ctr">
              <a:buNone/>
            </a:pPr>
            <a:r>
              <a:rPr lang="en-US" sz="900" b="1" kern="0" spc="100" dirty="0">
                <a:solidFill>
                  <a:srgbClr val="D49A00"/>
                </a:solidFill>
                <a:latin typeface="Calibri" pitchFamily="34" charset="0"/>
                <a:ea typeface="Calibri" pitchFamily="34" charset="-122"/>
                <a:cs typeface="Calibri" pitchFamily="34" charset="-120"/>
              </a:rPr>
              <a:t>LLM JUDGES</a:t>
            </a:r>
            <a:endParaRPr lang="en-US" sz="900" dirty="0"/>
          </a:p>
        </p:txBody>
      </p:sp>
      <p:sp>
        <p:nvSpPr>
          <p:cNvPr id="30" name="Text 26"/>
          <p:cNvSpPr txBox="1"/>
          <p:nvPr/>
        </p:nvSpPr>
        <p:spPr>
          <a:xfrm>
            <a:off x="2468880" y="2532888"/>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Zheng, L. et al. (2023). Judging LLM-as-a-Judge with MT-Bench and Chatbot Arena. NeurIPS Datasets and Benchmarks Track.</a:t>
            </a:r>
            <a:endParaRPr lang="en-US" sz="1000" dirty="0"/>
          </a:p>
        </p:txBody>
      </p:sp>
      <p:sp>
        <p:nvSpPr>
          <p:cNvPr id="31" name="Shape 27"/>
          <p:cNvSpPr/>
          <p:nvPr/>
        </p:nvSpPr>
        <p:spPr>
          <a:xfrm>
            <a:off x="1097280" y="2999232"/>
            <a:ext cx="1234440" cy="219456"/>
          </a:xfrm>
          <a:prstGeom prst="roundRect">
            <a:avLst>
              <a:gd name="adj" fmla="val 54167"/>
            </a:avLst>
          </a:prstGeom>
          <a:solidFill>
            <a:srgbClr val="C4621D">
              <a:alpha val="15000"/>
            </a:srgbClr>
          </a:solidFill>
          <a:ln w="9525">
            <a:solidFill>
              <a:srgbClr val="C4621D"/>
            </a:solidFill>
            <a:prstDash val="solid"/>
          </a:ln>
        </p:spPr>
      </p:sp>
      <p:sp>
        <p:nvSpPr>
          <p:cNvPr id="32" name="Text 28"/>
          <p:cNvSpPr txBox="1"/>
          <p:nvPr/>
        </p:nvSpPr>
        <p:spPr>
          <a:xfrm>
            <a:off x="1097280" y="2999232"/>
            <a:ext cx="1234440" cy="219456"/>
          </a:xfrm>
          <a:prstGeom prst="rect">
            <a:avLst/>
          </a:prstGeom>
          <a:noFill/>
          <a:ln/>
        </p:spPr>
        <p:txBody>
          <a:bodyPr wrap="square" lIns="0" tIns="0" rIns="0" bIns="0" rtlCol="0" anchor="ctr"/>
          <a:lstStyle/>
          <a:p>
            <a:pPr marL="0" indent="0" algn="ctr">
              <a:buNone/>
            </a:pPr>
            <a:r>
              <a:rPr lang="en-US" sz="900" b="1" kern="0" spc="100" dirty="0">
                <a:solidFill>
                  <a:srgbClr val="C4621D"/>
                </a:solidFill>
                <a:latin typeface="Calibri" pitchFamily="34" charset="0"/>
                <a:ea typeface="Calibri" pitchFamily="34" charset="-122"/>
                <a:cs typeface="Calibri" pitchFamily="34" charset="-120"/>
              </a:rPr>
              <a:t>VARIANCE</a:t>
            </a:r>
            <a:endParaRPr lang="en-US" sz="900" dirty="0"/>
          </a:p>
        </p:txBody>
      </p:sp>
      <p:sp>
        <p:nvSpPr>
          <p:cNvPr id="33" name="Text 29"/>
          <p:cNvSpPr txBox="1"/>
          <p:nvPr/>
        </p:nvSpPr>
        <p:spPr>
          <a:xfrm>
            <a:off x="2468880" y="2935224"/>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Wang, X. et al. (2022). Self-Consistency Improves Chain of Thought Reasoning in Language Models. arXiv:2203.11171 (ICLR 2023).</a:t>
            </a:r>
            <a:endParaRPr lang="en-US" sz="1000" dirty="0"/>
          </a:p>
        </p:txBody>
      </p:sp>
      <p:sp>
        <p:nvSpPr>
          <p:cNvPr id="34" name="Shape 30"/>
          <p:cNvSpPr/>
          <p:nvPr/>
        </p:nvSpPr>
        <p:spPr>
          <a:xfrm>
            <a:off x="1097280" y="3401568"/>
            <a:ext cx="1234440" cy="219456"/>
          </a:xfrm>
          <a:prstGeom prst="roundRect">
            <a:avLst>
              <a:gd name="adj" fmla="val 54167"/>
            </a:avLst>
          </a:prstGeom>
          <a:solidFill>
            <a:srgbClr val="B83B2E">
              <a:alpha val="15000"/>
            </a:srgbClr>
          </a:solidFill>
          <a:ln w="9525">
            <a:solidFill>
              <a:srgbClr val="B83B2E"/>
            </a:solidFill>
            <a:prstDash val="solid"/>
          </a:ln>
        </p:spPr>
      </p:sp>
      <p:sp>
        <p:nvSpPr>
          <p:cNvPr id="35" name="Text 31"/>
          <p:cNvSpPr txBox="1"/>
          <p:nvPr/>
        </p:nvSpPr>
        <p:spPr>
          <a:xfrm>
            <a:off x="1097280" y="3401568"/>
            <a:ext cx="1234440" cy="219456"/>
          </a:xfrm>
          <a:prstGeom prst="rect">
            <a:avLst/>
          </a:prstGeom>
          <a:noFill/>
          <a:ln/>
        </p:spPr>
        <p:txBody>
          <a:bodyPr wrap="square" lIns="0" tIns="0" rIns="0" bIns="0" rtlCol="0" anchor="ctr"/>
          <a:lstStyle/>
          <a:p>
            <a:pPr marL="0" indent="0" algn="ctr">
              <a:buNone/>
            </a:pPr>
            <a:r>
              <a:rPr lang="en-US" sz="900" b="1" kern="0" spc="100" dirty="0">
                <a:solidFill>
                  <a:srgbClr val="B83B2E"/>
                </a:solidFill>
                <a:latin typeface="Calibri" pitchFamily="34" charset="0"/>
                <a:ea typeface="Calibri" pitchFamily="34" charset="-122"/>
                <a:cs typeface="Calibri" pitchFamily="34" charset="-120"/>
              </a:rPr>
              <a:t>TOKENS</a:t>
            </a:r>
            <a:endParaRPr lang="en-US" sz="900" dirty="0"/>
          </a:p>
        </p:txBody>
      </p:sp>
      <p:sp>
        <p:nvSpPr>
          <p:cNvPr id="36" name="Text 32"/>
          <p:cNvSpPr txBox="1"/>
          <p:nvPr/>
        </p:nvSpPr>
        <p:spPr>
          <a:xfrm>
            <a:off x="2468880" y="3337560"/>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OpenAI Help Center. What are tokens and how to count them?</a:t>
            </a:r>
            <a:endParaRPr lang="en-US" sz="1000" dirty="0"/>
          </a:p>
        </p:txBody>
      </p:sp>
      <p:sp>
        <p:nvSpPr>
          <p:cNvPr id="37" name="Shape 33"/>
          <p:cNvSpPr/>
          <p:nvPr/>
        </p:nvSpPr>
        <p:spPr>
          <a:xfrm>
            <a:off x="1097280" y="3803904"/>
            <a:ext cx="1234440" cy="219456"/>
          </a:xfrm>
          <a:prstGeom prst="roundRect">
            <a:avLst>
              <a:gd name="adj" fmla="val 54167"/>
            </a:avLst>
          </a:prstGeom>
          <a:solidFill>
            <a:srgbClr val="00A86A">
              <a:alpha val="15000"/>
            </a:srgbClr>
          </a:solidFill>
          <a:ln w="9525">
            <a:solidFill>
              <a:srgbClr val="00A86A"/>
            </a:solidFill>
            <a:prstDash val="solid"/>
          </a:ln>
        </p:spPr>
      </p:sp>
      <p:sp>
        <p:nvSpPr>
          <p:cNvPr id="38" name="Text 34"/>
          <p:cNvSpPr txBox="1"/>
          <p:nvPr/>
        </p:nvSpPr>
        <p:spPr>
          <a:xfrm>
            <a:off x="1097280" y="3803904"/>
            <a:ext cx="1234440" cy="219456"/>
          </a:xfrm>
          <a:prstGeom prst="rect">
            <a:avLst/>
          </a:prstGeom>
          <a:noFill/>
          <a:ln/>
        </p:spPr>
        <p:txBody>
          <a:bodyPr wrap="square" lIns="0" tIns="0" rIns="0" bIns="0" rtlCol="0" anchor="ctr"/>
          <a:lstStyle/>
          <a:p>
            <a:pPr marL="0" indent="0" algn="ctr">
              <a:buNone/>
            </a:pPr>
            <a:r>
              <a:rPr lang="en-US" sz="900" b="1" kern="0" spc="100" dirty="0">
                <a:solidFill>
                  <a:srgbClr val="00A86A"/>
                </a:solidFill>
                <a:latin typeface="Calibri" pitchFamily="34" charset="0"/>
                <a:ea typeface="Calibri" pitchFamily="34" charset="-122"/>
                <a:cs typeface="Calibri" pitchFamily="34" charset="-120"/>
              </a:rPr>
              <a:t>LANGUAGES</a:t>
            </a:r>
            <a:endParaRPr lang="en-US" sz="900" dirty="0"/>
          </a:p>
        </p:txBody>
      </p:sp>
      <p:sp>
        <p:nvSpPr>
          <p:cNvPr id="39" name="Text 35"/>
          <p:cNvSpPr txBox="1"/>
          <p:nvPr/>
        </p:nvSpPr>
        <p:spPr>
          <a:xfrm>
            <a:off x="2468880" y="3739896"/>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Petrov, A. et al. (2023). Language Model Tokenizers Introduce Unfairness Between Languages. NeurIPS 2023.</a:t>
            </a:r>
            <a:endParaRPr lang="en-US" sz="1000" dirty="0"/>
          </a:p>
        </p:txBody>
      </p:sp>
      <p:sp>
        <p:nvSpPr>
          <p:cNvPr id="40" name="Shape 36"/>
          <p:cNvSpPr/>
          <p:nvPr/>
        </p:nvSpPr>
        <p:spPr>
          <a:xfrm>
            <a:off x="1097280" y="4206240"/>
            <a:ext cx="1234440" cy="219456"/>
          </a:xfrm>
          <a:prstGeom prst="roundRect">
            <a:avLst>
              <a:gd name="adj" fmla="val 54167"/>
            </a:avLst>
          </a:prstGeom>
          <a:solidFill>
            <a:srgbClr val="00704A">
              <a:alpha val="15000"/>
            </a:srgbClr>
          </a:solidFill>
          <a:ln w="9525">
            <a:solidFill>
              <a:srgbClr val="00704A"/>
            </a:solidFill>
            <a:prstDash val="solid"/>
          </a:ln>
        </p:spPr>
      </p:sp>
      <p:sp>
        <p:nvSpPr>
          <p:cNvPr id="41" name="Text 37"/>
          <p:cNvSpPr txBox="1"/>
          <p:nvPr/>
        </p:nvSpPr>
        <p:spPr>
          <a:xfrm>
            <a:off x="1097280" y="4206240"/>
            <a:ext cx="1234440" cy="219456"/>
          </a:xfrm>
          <a:prstGeom prst="rect">
            <a:avLst/>
          </a:prstGeom>
          <a:noFill/>
          <a:ln/>
        </p:spPr>
        <p:txBody>
          <a:bodyPr wrap="square" lIns="0" tIns="0" rIns="0" bIns="0" rtlCol="0" anchor="ctr"/>
          <a:lstStyle/>
          <a:p>
            <a:pPr marL="0" indent="0" algn="ctr">
              <a:buNone/>
            </a:pPr>
            <a:r>
              <a:rPr lang="en-US" sz="900" b="1" kern="0" spc="100" dirty="0">
                <a:solidFill>
                  <a:srgbClr val="00704A"/>
                </a:solidFill>
                <a:latin typeface="Calibri" pitchFamily="34" charset="0"/>
                <a:ea typeface="Calibri" pitchFamily="34" charset="-122"/>
                <a:cs typeface="Calibri" pitchFamily="34" charset="-120"/>
              </a:rPr>
              <a:t>CONTEXT</a:t>
            </a:r>
            <a:endParaRPr lang="en-US" sz="900" dirty="0"/>
          </a:p>
        </p:txBody>
      </p:sp>
      <p:sp>
        <p:nvSpPr>
          <p:cNvPr id="42" name="Text 38"/>
          <p:cNvSpPr txBox="1"/>
          <p:nvPr/>
        </p:nvSpPr>
        <p:spPr>
          <a:xfrm>
            <a:off x="2468880" y="4142232"/>
            <a:ext cx="6217920" cy="34747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Liu, N. F. et al. (2023). Lost in the Middle: How Language Models Use Long Contexts. Transactions of the ACL, 12 (2024).</a:t>
            </a:r>
            <a:endParaRPr lang="en-US" sz="1000" dirty="0"/>
          </a:p>
        </p:txBody>
      </p:sp>
      <p:sp>
        <p:nvSpPr>
          <p:cNvPr id="43" name="Text 39"/>
          <p:cNvSpPr txBox="1"/>
          <p:nvPr/>
        </p:nvSpPr>
        <p:spPr>
          <a:xfrm>
            <a:off x="457200" y="457200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Figures marked “illustrative” or “schematic” are teaching examples, not measured results.</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5880</Words>
  <Application>Microsoft Office PowerPoint</Application>
  <PresentationFormat>On-screen Show (16:9)</PresentationFormat>
  <Paragraphs>644</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Good to Great: Prompt Optimisation for Official Statistics</dc:title>
  <dc:subject>PptxGenJS Presentation</dc:subject>
  <dc:creator>STG17 Secretariat · African Development Bank</dc:creator>
  <cp:lastModifiedBy>HADJ TAIEB, MOHAMED ALI</cp:lastModifiedBy>
  <cp:revision>6</cp:revision>
  <dcterms:created xsi:type="dcterms:W3CDTF">2026-09-16T09:35:57Z</dcterms:created>
  <dcterms:modified xsi:type="dcterms:W3CDTF">2026-09-25T10:39:12Z</dcterms:modified>
</cp:coreProperties>
</file>