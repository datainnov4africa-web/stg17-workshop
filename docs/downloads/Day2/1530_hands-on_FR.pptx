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 id="284" r:id="rId27"/>
    <p:sldId id="285" r:id="rId28"/>
    <p:sldId id="286"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1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3632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La plupart des instituts de statistique qui utilisent l'IA se limitent aujourd'hui à ChatGPT. Or d'autres outils, souvent gratuits, sont nettement meilleurs pour certaines tâches précises : chercher avec des sources, interroger ses propres documents, transformer un rapport en tableau de bord, produire une infographie, coder des réponses avec une probabilité fiable. Ce labo en présente dix, chacun sur un cas d'usage réel d'institut, avec une méthode commune pour les tester et les comparer.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conviction : le bon outil dépend de la tâche, pas de la notoriété. Deuxième : un institut de statistique doit mesurer ce que l'outil apporte, pas seulement être impressionné. Troisième : la gouvernance fait partie de l'usage — accès, juridiction du fournisseur, données autorisées. Chaque fiche du guide applique ces trois principes.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parcours. Les couleurs de chaque section se retrouvent sur les séparateurs et les pastilles de progression.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un : le cadrage. Nous situons les dix outils dans le processus statistique, nous affichons leurs conditions d'accès, puis la méthode de test commune.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de la carte : chaque phase du GSBPM porte les outils qui y apportent le plus. Remarquez la concentration sur la diffusion — phase 7 — où les outils de transformation de rapports, d'images et de vidéo changent le plus la donne. Mais la recherche documentaire, l'analyse et le traitement ont aussi leurs outils spécialisés.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est la première chose à montrer, avant toute démonstration. Il dit honnêtement ce qui est gratuit et ce qui ne l'est pas, dans quel pays est établi le fournisseur, et quelles données on peut y mettre. Google Flow demande un abonnement Google AI ; LeapSpace un accès institutionnel ou l'essai ; Jev est en accès anticipé payé au crédit. Tout le reste s'utilise gratuitement avec des limites. Pour tous : uniquement des données publiques ou synthétiques. Vérifiez les conditions le jour même, elles changent vite.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Affichez cette diapositive pendant l'installation : chaque participant scanne les codes avec son téléphone ou clique sur les liens. Les adresses sont les sites officiels des éditeurs. Pour Jev, l'accès officiel est la console TypeSafe ; les nombreux sites « playground » qui existent sont indépendants de l'éditeur et ne sont pas recommandés.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fiche suit les mêmes cinq étapes, et chaque essai se termine par trois mesures. C'est ce qui transforme une démonstration en connaissance utile : en fin de labo, on sait quel outil apporte quoi, sur quelle tâche, avec quel risque. Les fiches d'évaluation remplies par les participants de tous les pays forment une base de preuves pour le Plan d'action STG17.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deux : quatre outils pour chercher et comprendre. Leur point commun : ils citent leurs sources. Perplexity pour le web, LeapSpace pour la littérature scientifique, NotebookLM pour vos propres documents, et le tout nouveau UN Data Commons pour les statistiques officielles de l'ONU.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est un moteur de recherche conversationnel : il interroge le web et cite ses sources en face de chaque affirmation. C'est l'outil de la veille et du parangonnage. Le réflexe à enseigner : ouvrir chaque source, vérifier qu'elle est officielle et récente. Le prompt demande explicitement « non trouvé » plutôt qu'une supposition.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LeapSpace, lancé par Elsevier fin 2025, ne puise que dans des sources scientifiques révisées par les pairs et affiche pour chaque réponse une Trust Card qui explique pourquoi chaque source est citée. C'est l'outil de la revue méthodologique. Point pratique : l'accès complet est institutionnel ; vérifiez en amont si une université partenaire ou la BAD y a accès, sinon utilisez l'essai ou montrez-le en démonstration.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NotebookLM répond uniquement à partir des documents que vous déposez, avec citations. Depuis fin 2025, son panneau Studio produit aussi des infographies et des présentations exportables en PowerPoint, ainsi que des vidéos. C'est l'outil idéal pour faire d'un lot de rapports publiés une base de connaissances et des produits de diffusion. Attention aux chiffres dans les images générées : ils doivent être relus.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l'actualité la plus directement utile aux instituts : l'ONU a lancé le 17 septembre 2026 le UN System Data Commons, qui remplace le portail UNData, permet des requêtes en langage naturel et expose les données aux agents d'IA via le protocole MCP. L'exercice fort pour un INS : vérifier comment ses propres statistiques y figurent, et identifier les écarts avec les publications nationales. C'est aussi un argument pour rendre vos données « prêtes pour l'IA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trois : le cas d'usage phare. Deux agents gratuits — GLM sur chat.z.ai et Kimi avec son mode OK Computer — savent transformer un rapport en page web interactive, en tableau de bord ou en diapositives. Nous les comparons sur le même rapport, puis nous vérifions le résultat.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GLM est la famille de modèles de Z.ai. Sur chat.z.ai, le mode Agent sait produire des documents, analyser des données et générer des sites web ou des diapositives. La version phare GLM-5.3, sortie en août 2026, offre une fenêtre d'un million de tokens : un rapport entier tient dans une seule requête. Le prompt impose les chiffres du rapport, la page source sous chaque chiffre et la charte graphique. La vérification par tirage de dix chiffres est rapide et très parlante.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Kimi, de Moonshot AI, propose le mode agent OK Computer, capable de créer des sites de plusieurs pages et des diapositives modifiables, et de traiter jusqu'à un million de lignes de données. Faire la même tâche avec deux agents, sur le même rapport et avec la même grille, est la meilleure façon de choisir. C'est aussi un excellent exercice collectif : chaque binôme présente son meilleur tableau de bord.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tableau de bord séduisant n'est pas un tableau de bord juste. Ces six contrôles prennent une vingtaine de minutes et doivent être faits par une personne qui n'a pas produit le tableau de bord. Le plus important est le premier : aucun chiffre sans source. Le cinquième aussi : un fichier HTML généré peut charger des scripts externes ; l'équipe informatique doit le relire avant toute mise en ligne sur le site de l'institut.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quatre : les outils d'image et de vidéo de Google. Nano Banana dans l'application Gemini pour les infographies et visuels, Google Flow pour la vidéo. Règle absolue : chaque chiffre affiché dans une image doit être relu.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Nano Banana est le modèle d'image de Google, accessible gratuitement avec des limites dans l'application Gemini. Il est particulièrement bon pour la cohérence visuelle et le rendu de texte, ce qui le rend utile pour des infographies. Mais un modèle d'image peut encore déformer un chiffre ou une lettre : la relecture est obligatoire. On lui donne uniquement des chiffres déjà vérifiés, jamais la tâche de les calculer.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Flow est le studio vidéo de Google, construit sur Veo et Nano Banana. Il faut être abonné à Google AI Plus, Pro ou Ultra, avoir 18 ans et être dans une région éligible : nous le présentons donc en démonstration par l'animateur. Bonne pratique pour une vidéo statistique : ne jamais faire générer de chiffres ou de texte, les ajouter au montage à partir du communiqué vérifié. Les vidéos Veo portent un filigrane invisible SynthID.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cinq : deux outils moins connus mais stratégiques. Jev, un modèle de décision qui renvoie des probabilités plutôt que du texte, et Le Chat de Mistral, alternative européenne. Puis les règles d'or.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lancé en septembre 2026 par TypeSafe AI, n'est pas un chatbot : il renvoie des choix, des scores et des probabilités avec une confiance, jamais de texte libre. Pour un institut, c'est la bonne famille d'outil pour le codage et le tri. Lors de notre test du Free AI Studio, un LLM s'était déclaré sûr de lui sur 100 % des codes CITP alors qu'il en avait faux 12 % : c'est exactement la comparaison à faire ici. Les performances annoncées sont celles de l'éditeur et doivent être vérifiées.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dix outils relèvent de trois juridictions : États-Unis, Chine et Union européenne. Aucun n'est adapté à des données confidentielles dans sa version gratuite. Deux leviers de souveraineté existent. D'abord des fournisseurs européens comme Mistral, dont Le Chat est gratuit. Ensuite, et surtout, les modèles à poids ouverts — GLM, Kimi, Mistral — qui peuvent être installés sur les serveurs de l'institut, où les données ne sortent jamais. C'est la seule voie pour traiter des microdonnées avec l'IA.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quatre règles sont affichées dans la salle pendant tout le labo. Données publiques ou synthétiques uniquement. Aucun chiffre publié sans retour à la source. Tout contenu généré est signalé. Chaque participant utilise son propre compte, jamais de compte partagé ni de clé collée dans un document.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Concluez sur les trois messages, puis lancez les rotations. Rappelez que les fiches d'évaluation sont collectées à la fin : ce sont elles qui transforment le labo en connaissance partagée entre instituts.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à tester pour les 16 pays participants (1/2). Ce sont des publications officielles de prix à la consommation ou d'inflation, comparables d'un pays à l'autre pour l'exercice « rapport vers tableau de bord ». Statut de vérification, septembre 2026 : « PDF ouvert et lu » = fichier téléchargé et contenu contrôlé ; « Lien PDF vérifié » = lien PDF confirmé sur la page officielle ouverte ; « PDF indexé » = contenu du PDF visible dans l'index de recherche, site non ouvert automatiquement (à tester à la main) ; point orange = page de téléchargement, format non PDF ou édition ancienne. Liens complets : Botswana : https://www.statsbots.org.bw/sites/default/files/Consumer%20Price%20Index%20January%202026.pdf (PDF indexé) ; Burundi : https://www.insbu.bi/documents/IndicesPrixConsommation/IPC-Fevrier-2025.pdf (PDF indexé · édition 2025) ; Côte d'Ivoire : https://anstat.ci/publication-details/1b5d1bec32f850eee0da5eef4d934262991964ee84e7bdb5ca10d6d95fd49cf223509883be7f379f3de50e332e291607aba319a26187bbce99919abdd5e2440aivtTONDR9UGwBrqU0tao-pjK8gkm8GEX6wEim0Gy9Qk (Page · PDF à télécharger) ; Égypte : https://www.cbe.org.eg/-/media/project/cbe/listing/publication/2026/february/inf_feb_2026_en.pdf (PDF indexé · Banque centrale) ; Éthiopie : https://ess.gov.et/download/consumer-price-index-february-2026/ (Page ouverte · bouton Download) ; Gambie : https://www.gbosdata.org/downloads/strategic-documents-46 (Page · PDF CPI non trouvé) ; Ghana : https://statsghana.gov.gh/highlights/inflation-rate (Page ouverte · lien PDF dynamique) ; Kenya : https://www.knbs.or.ke/wp-content/uploads/2026/02/Kenya-Consumer-Price-Indices-and-Inflation-Rates-February-2026.pdf (PDF indexé)</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à tester pour les 16 pays participants (2/2). Ce sont des publications officielles de prix à la consommation ou d'inflation, comparables d'un pays à l'autre pour l'exercice « rapport vers tableau de bord ». Statut de vérification, septembre 2026 : « PDF ouvert et lu » = fichier téléchargé et contenu contrôlé ; « Lien PDF vérifié » = lien PDF confirmé sur la page officielle ouverte ; « PDF indexé » = contenu du PDF visible dans l'index de recherche, site non ouvert automatiquement (à tester à la main) ; point orange = page de téléchargement, format non PDF ou édition ancienne. Liens complets : Madagascar : https://www.instat.mg/p/nipc-nouvel-indice-des-prix-a-la-consommation-janvier-2026 (Page · données Excel, pas de PDF) ; Maroc : https://www.hcp.ma/attachment/2898378/ (Lien vérifié · HCP publie en DOCX) ; Nigeria : https://microdata.nigerianstat.gov.ng/index.php/catalog/154 (Page · archives ZIP) ; Rwanda : https://statistics.gov.rw/sites/default/files/documents/2026-08/CONSUMER%20PRICE%20INDEX%20JULY%20%28CPI%29%202026%20Report%20.pdf (Lien PDF vérifié) ; Sénégal : https://www.ansd.sn/sites/default/files/2026-01/IHPC_base2023_DEC-25.pdf (PDF ouvert et lu) ; Somalie : https://nbs.gov.so/wp-content/uploads/2026/03/Somalias-Inflation-Outlook.pdf (PDF ouvert et lu) ; Tanzanie : https://www.nbs.go.tz/uploads/statistics/documents/en-1773057284-CPI%20%20Release_022026_English.pdf (PDF ouvert et lu) ; Zimbabwe : https://www.zimstat.co.zw/wp-content/uploads/Macro/Prices/CPI/2025/CPI_ZWG_12_2025.pdf (PDF indexé)</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informations sur les outils ont été vérifiées en septembre 2026. Les offres, noms et versions changent vite : vérifiez-les la veille du labo.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hyperlink" Target="https://www.kimi.ai/" TargetMode="External"/><Relationship Id="rId18" Type="http://schemas.openxmlformats.org/officeDocument/2006/relationships/image" Target="../media/image24.png"/><Relationship Id="rId3" Type="http://schemas.openxmlformats.org/officeDocument/2006/relationships/hyperlink" Target="https://www.perplexity.ai" TargetMode="External"/><Relationship Id="rId21" Type="http://schemas.openxmlformats.org/officeDocument/2006/relationships/hyperlink" Target="https://chat.mistral.ai" TargetMode="External"/><Relationship Id="rId7" Type="http://schemas.openxmlformats.org/officeDocument/2006/relationships/hyperlink" Target="https://notebooklm.google.com" TargetMode="External"/><Relationship Id="rId12" Type="http://schemas.openxmlformats.org/officeDocument/2006/relationships/image" Target="../media/image21.png"/><Relationship Id="rId17" Type="http://schemas.openxmlformats.org/officeDocument/2006/relationships/hyperlink" Target="https://labs.google/fx/tools/flow" TargetMode="External"/><Relationship Id="rId2" Type="http://schemas.openxmlformats.org/officeDocument/2006/relationships/notesSlide" Target="../notesSlides/notesSlide7.xml"/><Relationship Id="rId16" Type="http://schemas.openxmlformats.org/officeDocument/2006/relationships/image" Target="../media/image23.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hyperlink" Target="https://chat.z.ai" TargetMode="External"/><Relationship Id="rId5" Type="http://schemas.openxmlformats.org/officeDocument/2006/relationships/hyperlink" Target="https://www.elsevier.com/products/leapspace" TargetMode="External"/><Relationship Id="rId15" Type="http://schemas.openxmlformats.org/officeDocument/2006/relationships/hyperlink" Target="https://gemini.google.com" TargetMode="External"/><Relationship Id="rId10" Type="http://schemas.openxmlformats.org/officeDocument/2006/relationships/image" Target="../media/image20.png"/><Relationship Id="rId19" Type="http://schemas.openxmlformats.org/officeDocument/2006/relationships/hyperlink" Target="https://console.typesafe.ai" TargetMode="External"/><Relationship Id="rId4" Type="http://schemas.openxmlformats.org/officeDocument/2006/relationships/image" Target="../media/image17.png"/><Relationship Id="rId9" Type="http://schemas.openxmlformats.org/officeDocument/2006/relationships/hyperlink" Target="https://data.un.org" TargetMode="External"/><Relationship Id="rId14" Type="http://schemas.openxmlformats.org/officeDocument/2006/relationships/image" Target="../media/image22.png"/><Relationship Id="rId22"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2.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7.png"/><Relationship Id="rId4" Type="http://schemas.openxmlformats.org/officeDocument/2006/relationships/hyperlink" Target="https://www.perplexity.ai"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8.png"/><Relationship Id="rId4" Type="http://schemas.openxmlformats.org/officeDocument/2006/relationships/hyperlink" Target="https://www.elsevier.com/products/leapspac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9.png"/><Relationship Id="rId4" Type="http://schemas.openxmlformats.org/officeDocument/2006/relationships/hyperlink" Target="https://notebooklm.google.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0.png"/><Relationship Id="rId4" Type="http://schemas.openxmlformats.org/officeDocument/2006/relationships/hyperlink" Target="https://data.un.or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hyperlink" Target="https://chat.z.ai"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2.png"/><Relationship Id="rId4" Type="http://schemas.openxmlformats.org/officeDocument/2006/relationships/hyperlink" Target="https://www.kimi.ai/"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3.png"/><Relationship Id="rId4" Type="http://schemas.openxmlformats.org/officeDocument/2006/relationships/hyperlink" Target="https://gemini.google.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4.png"/><Relationship Id="rId4" Type="http://schemas.openxmlformats.org/officeDocument/2006/relationships/hyperlink" Target="https://labs.google/fx/tools/flow"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hyperlink" Target="https://console.typesafe.ai"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hyperlink" Target="https://chat.mistral.ai" TargetMode="Externa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hyperlink" Target="https://www.gbosdata.org/downloads/strategic-documents-46" TargetMode="External"/><Relationship Id="rId18" Type="http://schemas.openxmlformats.org/officeDocument/2006/relationships/image" Target="../media/image61.png"/><Relationship Id="rId3" Type="http://schemas.openxmlformats.org/officeDocument/2006/relationships/hyperlink" Target="https://www.statsbots.org.bw/sites/default/files/Consumer%20Price%20Index%20January%202026.pdf" TargetMode="External"/><Relationship Id="rId7" Type="http://schemas.openxmlformats.org/officeDocument/2006/relationships/hyperlink" Target="https://anstat.ci/publication-details/1b5d1bec32f850eee0da5eef4d934262991964ee84e7bdb5ca10d6d95fd49cf223509883be7f379f3de50e332e291607aba319a26187bbce99919abdd5e2440aivtTONDR9UGwBrqU0tao-pjK8gkm8GEX6wEim0Gy9Qk" TargetMode="External"/><Relationship Id="rId12" Type="http://schemas.openxmlformats.org/officeDocument/2006/relationships/image" Target="../media/image58.png"/><Relationship Id="rId17" Type="http://schemas.openxmlformats.org/officeDocument/2006/relationships/hyperlink" Target="https://www.knbs.or.ke/wp-content/uploads/2026/02/Kenya-Consumer-Price-Indices-and-Inflation-Rates-February-2026.pdf" TargetMode="External"/><Relationship Id="rId2" Type="http://schemas.openxmlformats.org/officeDocument/2006/relationships/notesSlide" Target="../notesSlides/notesSlide26.xml"/><Relationship Id="rId16"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hyperlink" Target="https://ess.gov.et/download/consumer-price-index-february-2026/" TargetMode="External"/><Relationship Id="rId5" Type="http://schemas.openxmlformats.org/officeDocument/2006/relationships/hyperlink" Target="https://www.insbu.bi/documents/IndicesPrixConsommation/IPC-Fevrier-2025.pdf" TargetMode="External"/><Relationship Id="rId15" Type="http://schemas.openxmlformats.org/officeDocument/2006/relationships/hyperlink" Target="https://statsghana.gov.gh/highlights/inflation-rate" TargetMode="External"/><Relationship Id="rId10" Type="http://schemas.openxmlformats.org/officeDocument/2006/relationships/image" Target="../media/image57.png"/><Relationship Id="rId4" Type="http://schemas.openxmlformats.org/officeDocument/2006/relationships/image" Target="../media/image54.png"/><Relationship Id="rId9" Type="http://schemas.openxmlformats.org/officeDocument/2006/relationships/hyperlink" Target="https://www.cbe.org.eg/-/media/project/cbe/listing/publication/2026/february/inf_feb_2026_en.pdf" TargetMode="External"/><Relationship Id="rId14" Type="http://schemas.openxmlformats.org/officeDocument/2006/relationships/image" Target="../media/image59.png"/></Relationships>
</file>

<file path=ppt/slides/_rels/slide2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hyperlink" Target="https://nbs.gov.so/wp-content/uploads/2026/03/Somalias-Inflation-Outlook.pdf" TargetMode="External"/><Relationship Id="rId18" Type="http://schemas.openxmlformats.org/officeDocument/2006/relationships/image" Target="../media/image69.png"/><Relationship Id="rId3" Type="http://schemas.openxmlformats.org/officeDocument/2006/relationships/hyperlink" Target="https://www.instat.mg/p/nipc-nouvel-indice-des-prix-a-la-consommation-janvier-2026" TargetMode="External"/><Relationship Id="rId7" Type="http://schemas.openxmlformats.org/officeDocument/2006/relationships/hyperlink" Target="https://microdata.nigerianstat.gov.ng/index.php/catalog/154" TargetMode="External"/><Relationship Id="rId12" Type="http://schemas.openxmlformats.org/officeDocument/2006/relationships/image" Target="../media/image66.png"/><Relationship Id="rId17" Type="http://schemas.openxmlformats.org/officeDocument/2006/relationships/hyperlink" Target="https://www.zimstat.co.zw/wp-content/uploads/Macro/Prices/CPI/2025/CPI_ZWG_12_2025.pdf" TargetMode="External"/><Relationship Id="rId2" Type="http://schemas.openxmlformats.org/officeDocument/2006/relationships/notesSlide" Target="../notesSlides/notesSlide27.xml"/><Relationship Id="rId16"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hyperlink" Target="https://www.ansd.sn/sites/default/files/2026-01/IHPC_base2023_DEC-25.pdf" TargetMode="External"/><Relationship Id="rId5" Type="http://schemas.openxmlformats.org/officeDocument/2006/relationships/hyperlink" Target="https://www.hcp.ma/attachment/2898378/" TargetMode="External"/><Relationship Id="rId15" Type="http://schemas.openxmlformats.org/officeDocument/2006/relationships/hyperlink" Target="https://www.nbs.go.tz/uploads/statistics/documents/en-1773057284-CPI%20%20Release_022026_English.pdf" TargetMode="External"/><Relationship Id="rId10" Type="http://schemas.openxmlformats.org/officeDocument/2006/relationships/image" Target="../media/image65.png"/><Relationship Id="rId4" Type="http://schemas.openxmlformats.org/officeDocument/2006/relationships/image" Target="../media/image62.png"/><Relationship Id="rId9" Type="http://schemas.openxmlformats.org/officeDocument/2006/relationships/hyperlink" Target="https://statistics.gov.rw/sites/default/files/documents/2026-08/CONSUMER%20PRICE%20INDEX%20JULY%20%28CPI%29%202026%20Report%20.pdf" TargetMode="External"/><Relationship Id="rId14" Type="http://schemas.openxmlformats.org/officeDocument/2006/relationships/image" Target="../media/image6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85800"/>
            <a:ext cx="64008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LABORATOIRE STG17 · EXPLORER · MESURER · CHOISIR</a:t>
            </a:r>
            <a:endParaRPr lang="en-US" sz="1100" dirty="0"/>
          </a:p>
        </p:txBody>
      </p:sp>
      <p:sp>
        <p:nvSpPr>
          <p:cNvPr id="4" name="Text 2"/>
          <p:cNvSpPr txBox="1"/>
          <p:nvPr/>
        </p:nvSpPr>
        <p:spPr>
          <a:xfrm>
            <a:off x="548640" y="1005840"/>
            <a:ext cx="5120640" cy="1600200"/>
          </a:xfrm>
          <a:prstGeom prst="rect">
            <a:avLst/>
          </a:prstGeom>
          <a:noFill/>
          <a:ln/>
        </p:spPr>
        <p:txBody>
          <a:bodyPr wrap="square" lIns="0" tIns="0" rIns="0" bIns="0" rtlCol="0" anchor="t"/>
          <a:lstStyle/>
          <a:p>
            <a:pPr marL="0" indent="0">
              <a:lnSpc>
                <a:spcPct val="90000"/>
              </a:lnSpc>
              <a:buNone/>
            </a:pPr>
            <a:r>
              <a:rPr lang="en-US" sz="4800" b="1" dirty="0">
                <a:solidFill>
                  <a:srgbClr val="FFFFFF"/>
                </a:solidFill>
                <a:latin typeface="Calibri" pitchFamily="34" charset="0"/>
                <a:ea typeface="Calibri" pitchFamily="34" charset="-122"/>
                <a:cs typeface="Calibri" pitchFamily="34" charset="-120"/>
              </a:rPr>
              <a:t>Au-delà de</a:t>
            </a:r>
            <a:endParaRPr lang="en-US" sz="4800" dirty="0"/>
          </a:p>
          <a:p>
            <a:pPr marL="0" indent="0">
              <a:lnSpc>
                <a:spcPct val="90000"/>
              </a:lnSpc>
              <a:buNone/>
            </a:pPr>
            <a:r>
              <a:rPr lang="en-US" sz="4800" b="1" dirty="0">
                <a:solidFill>
                  <a:srgbClr val="FFFFFF"/>
                </a:solidFill>
                <a:latin typeface="Calibri" pitchFamily="34" charset="0"/>
                <a:ea typeface="Calibri" pitchFamily="34" charset="-122"/>
                <a:cs typeface="Calibri" pitchFamily="34" charset="-120"/>
              </a:rPr>
              <a:t>ChatGPT</a:t>
            </a:r>
            <a:endParaRPr lang="en-US" sz="4800" dirty="0"/>
          </a:p>
        </p:txBody>
      </p:sp>
      <p:sp>
        <p:nvSpPr>
          <p:cNvPr id="5" name="Text 3"/>
          <p:cNvSpPr txBox="1"/>
          <p:nvPr/>
        </p:nvSpPr>
        <p:spPr>
          <a:xfrm>
            <a:off x="548640" y="2697480"/>
            <a:ext cx="4937760" cy="73152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Dix outils d'IA encore peu utilisés par les instituts de statistique — testés sur de vrais cas d'usage</a:t>
            </a:r>
            <a:endParaRPr lang="en-US" sz="1700" dirty="0"/>
          </a:p>
        </p:txBody>
      </p:sp>
      <p:sp>
        <p:nvSpPr>
          <p:cNvPr id="6" name="Text 4"/>
          <p:cNvSpPr txBox="1"/>
          <p:nvPr/>
        </p:nvSpPr>
        <p:spPr>
          <a:xfrm>
            <a:off x="548640" y="3611880"/>
            <a:ext cx="5486400" cy="27432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Guide pratique · fiches pas à pas · prompts prêts à l'emploi · contrôles qualité</a:t>
            </a:r>
            <a:endParaRPr lang="en-US" sz="1100" dirty="0"/>
          </a:p>
        </p:txBody>
      </p:sp>
      <p:sp>
        <p:nvSpPr>
          <p:cNvPr id="8" name="Shape 6"/>
          <p:cNvSpPr/>
          <p:nvPr/>
        </p:nvSpPr>
        <p:spPr>
          <a:xfrm>
            <a:off x="5989320" y="685800"/>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9" name="Image 0" descr="preencoded.png"/>
          <p:cNvPicPr>
            <a:picLocks noChangeAspect="1"/>
          </p:cNvPicPr>
          <p:nvPr/>
        </p:nvPicPr>
        <p:blipFill>
          <a:blip r:embed="rId4"/>
          <a:stretch>
            <a:fillRect/>
          </a:stretch>
        </p:blipFill>
        <p:spPr>
          <a:xfrm>
            <a:off x="6099048" y="886968"/>
            <a:ext cx="256032" cy="256032"/>
          </a:xfrm>
          <a:prstGeom prst="rect">
            <a:avLst/>
          </a:prstGeom>
        </p:spPr>
      </p:pic>
      <p:sp>
        <p:nvSpPr>
          <p:cNvPr id="10" name="Text 7"/>
          <p:cNvSpPr txBox="1"/>
          <p:nvPr/>
        </p:nvSpPr>
        <p:spPr>
          <a:xfrm>
            <a:off x="6409944" y="777240"/>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Perplexity</a:t>
            </a:r>
            <a:endParaRPr lang="en-US" sz="1000" dirty="0"/>
          </a:p>
        </p:txBody>
      </p:sp>
      <p:sp>
        <p:nvSpPr>
          <p:cNvPr id="11" name="Shape 8"/>
          <p:cNvSpPr/>
          <p:nvPr/>
        </p:nvSpPr>
        <p:spPr>
          <a:xfrm>
            <a:off x="7452360" y="685800"/>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2" name="Image 1" descr="preencoded.png"/>
          <p:cNvPicPr>
            <a:picLocks noChangeAspect="1"/>
          </p:cNvPicPr>
          <p:nvPr/>
        </p:nvPicPr>
        <p:blipFill>
          <a:blip r:embed="rId5"/>
          <a:stretch>
            <a:fillRect/>
          </a:stretch>
        </p:blipFill>
        <p:spPr>
          <a:xfrm>
            <a:off x="7562088" y="886968"/>
            <a:ext cx="256032" cy="256032"/>
          </a:xfrm>
          <a:prstGeom prst="rect">
            <a:avLst/>
          </a:prstGeom>
        </p:spPr>
      </p:pic>
      <p:sp>
        <p:nvSpPr>
          <p:cNvPr id="13" name="Text 9"/>
          <p:cNvSpPr txBox="1"/>
          <p:nvPr/>
        </p:nvSpPr>
        <p:spPr>
          <a:xfrm>
            <a:off x="7872984" y="777240"/>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LeapSpace</a:t>
            </a:r>
            <a:endParaRPr lang="en-US" sz="1000" dirty="0"/>
          </a:p>
        </p:txBody>
      </p:sp>
      <p:sp>
        <p:nvSpPr>
          <p:cNvPr id="14" name="Shape 10"/>
          <p:cNvSpPr/>
          <p:nvPr/>
        </p:nvSpPr>
        <p:spPr>
          <a:xfrm>
            <a:off x="5989320" y="1472184"/>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5" name="Image 2" descr="preencoded.png"/>
          <p:cNvPicPr>
            <a:picLocks noChangeAspect="1"/>
          </p:cNvPicPr>
          <p:nvPr/>
        </p:nvPicPr>
        <p:blipFill>
          <a:blip r:embed="rId6"/>
          <a:stretch>
            <a:fillRect/>
          </a:stretch>
        </p:blipFill>
        <p:spPr>
          <a:xfrm>
            <a:off x="6099048" y="1673352"/>
            <a:ext cx="256032" cy="256032"/>
          </a:xfrm>
          <a:prstGeom prst="rect">
            <a:avLst/>
          </a:prstGeom>
        </p:spPr>
      </p:pic>
      <p:sp>
        <p:nvSpPr>
          <p:cNvPr id="16" name="Text 11"/>
          <p:cNvSpPr txBox="1"/>
          <p:nvPr/>
        </p:nvSpPr>
        <p:spPr>
          <a:xfrm>
            <a:off x="6409944" y="1563624"/>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NotebookLM</a:t>
            </a:r>
            <a:endParaRPr lang="en-US" sz="1000" dirty="0"/>
          </a:p>
        </p:txBody>
      </p:sp>
      <p:sp>
        <p:nvSpPr>
          <p:cNvPr id="17" name="Shape 12"/>
          <p:cNvSpPr/>
          <p:nvPr/>
        </p:nvSpPr>
        <p:spPr>
          <a:xfrm>
            <a:off x="7452360" y="1472184"/>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8" name="Image 3" descr="preencoded.png"/>
          <p:cNvPicPr>
            <a:picLocks noChangeAspect="1"/>
          </p:cNvPicPr>
          <p:nvPr/>
        </p:nvPicPr>
        <p:blipFill>
          <a:blip r:embed="rId7"/>
          <a:stretch>
            <a:fillRect/>
          </a:stretch>
        </p:blipFill>
        <p:spPr>
          <a:xfrm>
            <a:off x="7562088" y="1673352"/>
            <a:ext cx="256032" cy="256032"/>
          </a:xfrm>
          <a:prstGeom prst="rect">
            <a:avLst/>
          </a:prstGeom>
        </p:spPr>
      </p:pic>
      <p:sp>
        <p:nvSpPr>
          <p:cNvPr id="19" name="Text 13"/>
          <p:cNvSpPr txBox="1"/>
          <p:nvPr/>
        </p:nvSpPr>
        <p:spPr>
          <a:xfrm>
            <a:off x="7872984" y="1563624"/>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Data Commons</a:t>
            </a:r>
            <a:endParaRPr lang="en-US" sz="1000" dirty="0"/>
          </a:p>
        </p:txBody>
      </p:sp>
      <p:sp>
        <p:nvSpPr>
          <p:cNvPr id="20" name="Shape 14"/>
          <p:cNvSpPr/>
          <p:nvPr/>
        </p:nvSpPr>
        <p:spPr>
          <a:xfrm>
            <a:off x="5989320" y="2258568"/>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1" name="Image 4" descr="preencoded.png"/>
          <p:cNvPicPr>
            <a:picLocks noChangeAspect="1"/>
          </p:cNvPicPr>
          <p:nvPr/>
        </p:nvPicPr>
        <p:blipFill>
          <a:blip r:embed="rId8"/>
          <a:stretch>
            <a:fillRect/>
          </a:stretch>
        </p:blipFill>
        <p:spPr>
          <a:xfrm>
            <a:off x="6099048" y="2459736"/>
            <a:ext cx="256032" cy="256032"/>
          </a:xfrm>
          <a:prstGeom prst="rect">
            <a:avLst/>
          </a:prstGeom>
        </p:spPr>
      </p:pic>
      <p:sp>
        <p:nvSpPr>
          <p:cNvPr id="22" name="Text 15"/>
          <p:cNvSpPr txBox="1"/>
          <p:nvPr/>
        </p:nvSpPr>
        <p:spPr>
          <a:xfrm>
            <a:off x="6409944" y="2350008"/>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GLM · Z.ai</a:t>
            </a:r>
            <a:endParaRPr lang="en-US" sz="1000" dirty="0"/>
          </a:p>
        </p:txBody>
      </p:sp>
      <p:sp>
        <p:nvSpPr>
          <p:cNvPr id="23" name="Shape 16"/>
          <p:cNvSpPr/>
          <p:nvPr/>
        </p:nvSpPr>
        <p:spPr>
          <a:xfrm>
            <a:off x="7452360" y="2258568"/>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4" name="Image 5" descr="preencoded.png"/>
          <p:cNvPicPr>
            <a:picLocks noChangeAspect="1"/>
          </p:cNvPicPr>
          <p:nvPr/>
        </p:nvPicPr>
        <p:blipFill>
          <a:blip r:embed="rId9"/>
          <a:stretch>
            <a:fillRect/>
          </a:stretch>
        </p:blipFill>
        <p:spPr>
          <a:xfrm>
            <a:off x="7562088" y="2459736"/>
            <a:ext cx="256032" cy="256032"/>
          </a:xfrm>
          <a:prstGeom prst="rect">
            <a:avLst/>
          </a:prstGeom>
        </p:spPr>
      </p:pic>
      <p:sp>
        <p:nvSpPr>
          <p:cNvPr id="25" name="Text 17"/>
          <p:cNvSpPr txBox="1"/>
          <p:nvPr/>
        </p:nvSpPr>
        <p:spPr>
          <a:xfrm>
            <a:off x="7872984" y="2350008"/>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Kimi</a:t>
            </a:r>
            <a:endParaRPr lang="en-US" sz="1000" dirty="0"/>
          </a:p>
        </p:txBody>
      </p:sp>
      <p:sp>
        <p:nvSpPr>
          <p:cNvPr id="26" name="Shape 18"/>
          <p:cNvSpPr/>
          <p:nvPr/>
        </p:nvSpPr>
        <p:spPr>
          <a:xfrm>
            <a:off x="5989320" y="3044952"/>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7" name="Image 6" descr="preencoded.png"/>
          <p:cNvPicPr>
            <a:picLocks noChangeAspect="1"/>
          </p:cNvPicPr>
          <p:nvPr/>
        </p:nvPicPr>
        <p:blipFill>
          <a:blip r:embed="rId10"/>
          <a:stretch>
            <a:fillRect/>
          </a:stretch>
        </p:blipFill>
        <p:spPr>
          <a:xfrm>
            <a:off x="6099048" y="3246120"/>
            <a:ext cx="256032" cy="256032"/>
          </a:xfrm>
          <a:prstGeom prst="rect">
            <a:avLst/>
          </a:prstGeom>
        </p:spPr>
      </p:pic>
      <p:sp>
        <p:nvSpPr>
          <p:cNvPr id="28" name="Text 19"/>
          <p:cNvSpPr txBox="1"/>
          <p:nvPr/>
        </p:nvSpPr>
        <p:spPr>
          <a:xfrm>
            <a:off x="6409944" y="313639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Nano Banana</a:t>
            </a:r>
            <a:endParaRPr lang="en-US" sz="1000" dirty="0"/>
          </a:p>
        </p:txBody>
      </p:sp>
      <p:sp>
        <p:nvSpPr>
          <p:cNvPr id="29" name="Shape 20"/>
          <p:cNvSpPr/>
          <p:nvPr/>
        </p:nvSpPr>
        <p:spPr>
          <a:xfrm>
            <a:off x="7452360" y="3044952"/>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0" name="Image 7" descr="preencoded.png"/>
          <p:cNvPicPr>
            <a:picLocks noChangeAspect="1"/>
          </p:cNvPicPr>
          <p:nvPr/>
        </p:nvPicPr>
        <p:blipFill>
          <a:blip r:embed="rId11"/>
          <a:stretch>
            <a:fillRect/>
          </a:stretch>
        </p:blipFill>
        <p:spPr>
          <a:xfrm>
            <a:off x="7562088" y="3246120"/>
            <a:ext cx="256032" cy="256032"/>
          </a:xfrm>
          <a:prstGeom prst="rect">
            <a:avLst/>
          </a:prstGeom>
        </p:spPr>
      </p:pic>
      <p:sp>
        <p:nvSpPr>
          <p:cNvPr id="31" name="Text 21"/>
          <p:cNvSpPr txBox="1"/>
          <p:nvPr/>
        </p:nvSpPr>
        <p:spPr>
          <a:xfrm>
            <a:off x="7872984" y="313639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Flow</a:t>
            </a:r>
            <a:endParaRPr lang="en-US" sz="1000" dirty="0"/>
          </a:p>
        </p:txBody>
      </p:sp>
      <p:sp>
        <p:nvSpPr>
          <p:cNvPr id="32" name="Shape 22"/>
          <p:cNvSpPr/>
          <p:nvPr/>
        </p:nvSpPr>
        <p:spPr>
          <a:xfrm>
            <a:off x="5989320" y="3831336"/>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3" name="Image 8" descr="preencoded.png"/>
          <p:cNvPicPr>
            <a:picLocks noChangeAspect="1"/>
          </p:cNvPicPr>
          <p:nvPr/>
        </p:nvPicPr>
        <p:blipFill>
          <a:blip r:embed="rId12"/>
          <a:stretch>
            <a:fillRect/>
          </a:stretch>
        </p:blipFill>
        <p:spPr>
          <a:xfrm>
            <a:off x="6099048" y="4032504"/>
            <a:ext cx="256032" cy="256032"/>
          </a:xfrm>
          <a:prstGeom prst="rect">
            <a:avLst/>
          </a:prstGeom>
        </p:spPr>
      </p:pic>
      <p:sp>
        <p:nvSpPr>
          <p:cNvPr id="34" name="Text 23"/>
          <p:cNvSpPr txBox="1"/>
          <p:nvPr/>
        </p:nvSpPr>
        <p:spPr>
          <a:xfrm>
            <a:off x="6409944" y="3922776"/>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Jev</a:t>
            </a:r>
            <a:endParaRPr lang="en-US" sz="1000" dirty="0"/>
          </a:p>
        </p:txBody>
      </p:sp>
      <p:sp>
        <p:nvSpPr>
          <p:cNvPr id="35" name="Shape 24"/>
          <p:cNvSpPr/>
          <p:nvPr/>
        </p:nvSpPr>
        <p:spPr>
          <a:xfrm>
            <a:off x="7452360" y="3831336"/>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6" name="Image 9" descr="preencoded.png"/>
          <p:cNvPicPr>
            <a:picLocks noChangeAspect="1"/>
          </p:cNvPicPr>
          <p:nvPr/>
        </p:nvPicPr>
        <p:blipFill>
          <a:blip r:embed="rId13"/>
          <a:stretch>
            <a:fillRect/>
          </a:stretch>
        </p:blipFill>
        <p:spPr>
          <a:xfrm>
            <a:off x="7562088" y="4032504"/>
            <a:ext cx="256032" cy="256032"/>
          </a:xfrm>
          <a:prstGeom prst="rect">
            <a:avLst/>
          </a:prstGeom>
        </p:spPr>
      </p:pic>
      <p:sp>
        <p:nvSpPr>
          <p:cNvPr id="37" name="Text 25"/>
          <p:cNvSpPr txBox="1"/>
          <p:nvPr/>
        </p:nvSpPr>
        <p:spPr>
          <a:xfrm>
            <a:off x="7872984" y="3922776"/>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 Chat</a:t>
            </a:r>
            <a:endParaRPr lang="en-US" sz="1000" dirty="0"/>
          </a:p>
        </p:txBody>
      </p:sp>
      <p:sp>
        <p:nvSpPr>
          <p:cNvPr id="38" name="Text 23">
            <a:extLst>
              <a:ext uri="{FF2B5EF4-FFF2-40B4-BE49-F238E27FC236}">
                <a16:creationId xmlns:a16="http://schemas.microsoft.com/office/drawing/2014/main" id="{C257D3EA-6F76-64EF-B27C-D48872B2DF66}"/>
              </a:ext>
            </a:extLst>
          </p:cNvPr>
          <p:cNvSpPr txBox="1"/>
          <p:nvPr/>
        </p:nvSpPr>
        <p:spPr>
          <a:xfrm>
            <a:off x="548640" y="4534354"/>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POURQUOI CE LABO</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Trois convictions derrière ce guide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457200" y="1371600"/>
            <a:ext cx="2606040" cy="2514600"/>
          </a:xfrm>
          <a:prstGeom prst="roundRect">
            <a:avLst>
              <a:gd name="adj" fmla="val 2909"/>
            </a:avLst>
          </a:prstGeom>
          <a:solidFill>
            <a:srgbClr val="F4F7F5"/>
          </a:solidFill>
          <a:ln w="9525">
            <a:solidFill>
              <a:srgbClr val="D5DED9"/>
            </a:solidFill>
            <a:prstDash val="solid"/>
          </a:ln>
        </p:spPr>
      </p:sp>
      <p:sp>
        <p:nvSpPr>
          <p:cNvPr id="18" name="Shape 15"/>
          <p:cNvSpPr/>
          <p:nvPr/>
        </p:nvSpPr>
        <p:spPr>
          <a:xfrm>
            <a:off x="640080" y="1536192"/>
            <a:ext cx="566928" cy="56692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81812" y="1677924"/>
            <a:ext cx="283464" cy="283464"/>
          </a:xfrm>
          <a:prstGeom prst="rect">
            <a:avLst/>
          </a:prstGeom>
        </p:spPr>
      </p:pic>
      <p:sp>
        <p:nvSpPr>
          <p:cNvPr id="20" name="Text 16"/>
          <p:cNvSpPr txBox="1"/>
          <p:nvPr/>
        </p:nvSpPr>
        <p:spPr>
          <a:xfrm>
            <a:off x="64008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La tâche d'abord</a:t>
            </a:r>
            <a:endParaRPr lang="en-US" sz="1500" dirty="0"/>
          </a:p>
        </p:txBody>
      </p:sp>
      <p:sp>
        <p:nvSpPr>
          <p:cNvPr id="21" name="Text 17"/>
          <p:cNvSpPr txBox="1"/>
          <p:nvPr/>
        </p:nvSpPr>
        <p:spPr>
          <a:xfrm>
            <a:off x="64008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Chaque outil est présenté sur un cas d'usage concret d'un institut, à sa place dans le processus statistique (GSBPM).</a:t>
            </a:r>
            <a:endParaRPr lang="en-US" sz="1100" dirty="0"/>
          </a:p>
        </p:txBody>
      </p:sp>
      <p:sp>
        <p:nvSpPr>
          <p:cNvPr id="22" name="Shape 18"/>
          <p:cNvSpPr/>
          <p:nvPr/>
        </p:nvSpPr>
        <p:spPr>
          <a:xfrm>
            <a:off x="3246120" y="1371600"/>
            <a:ext cx="2606040" cy="2514600"/>
          </a:xfrm>
          <a:prstGeom prst="roundRect">
            <a:avLst>
              <a:gd name="adj" fmla="val 2909"/>
            </a:avLst>
          </a:prstGeom>
          <a:solidFill>
            <a:srgbClr val="E8F5EF"/>
          </a:solidFill>
          <a:ln w="15875">
            <a:solidFill>
              <a:srgbClr val="00A86A"/>
            </a:solidFill>
            <a:prstDash val="solid"/>
          </a:ln>
        </p:spPr>
      </p:sp>
      <p:sp>
        <p:nvSpPr>
          <p:cNvPr id="23" name="Shape 19"/>
          <p:cNvSpPr/>
          <p:nvPr/>
        </p:nvSpPr>
        <p:spPr>
          <a:xfrm>
            <a:off x="3429000" y="1536192"/>
            <a:ext cx="566928" cy="566928"/>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3570732" y="1677924"/>
            <a:ext cx="283464" cy="283464"/>
          </a:xfrm>
          <a:prstGeom prst="rect">
            <a:avLst/>
          </a:prstGeom>
        </p:spPr>
      </p:pic>
      <p:sp>
        <p:nvSpPr>
          <p:cNvPr id="25" name="Text 20"/>
          <p:cNvSpPr txBox="1"/>
          <p:nvPr/>
        </p:nvSpPr>
        <p:spPr>
          <a:xfrm>
            <a:off x="342900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Mesurer, pas s'émerveiller</a:t>
            </a:r>
            <a:endParaRPr lang="en-US" sz="1500" dirty="0"/>
          </a:p>
        </p:txBody>
      </p:sp>
      <p:sp>
        <p:nvSpPr>
          <p:cNvPr id="26" name="Text 21"/>
          <p:cNvSpPr txBox="1"/>
          <p:nvPr/>
        </p:nvSpPr>
        <p:spPr>
          <a:xfrm>
            <a:off x="342900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Chaque essai se termine par trois mesures : temps gagné, qualité vérifiée, risque. Les résultats alimentent une base de preuves commune.</a:t>
            </a:r>
            <a:endParaRPr lang="en-US" sz="1100" dirty="0"/>
          </a:p>
        </p:txBody>
      </p:sp>
      <p:sp>
        <p:nvSpPr>
          <p:cNvPr id="27" name="Shape 22"/>
          <p:cNvSpPr/>
          <p:nvPr/>
        </p:nvSpPr>
        <p:spPr>
          <a:xfrm>
            <a:off x="6035040" y="1371600"/>
            <a:ext cx="2606040" cy="2514600"/>
          </a:xfrm>
          <a:prstGeom prst="roundRect">
            <a:avLst>
              <a:gd name="adj" fmla="val 2909"/>
            </a:avLst>
          </a:prstGeom>
          <a:solidFill>
            <a:srgbClr val="F4F7F5"/>
          </a:solidFill>
          <a:ln w="9525">
            <a:solidFill>
              <a:srgbClr val="D5DED9"/>
            </a:solidFill>
            <a:prstDash val="solid"/>
          </a:ln>
        </p:spPr>
      </p:sp>
      <p:sp>
        <p:nvSpPr>
          <p:cNvPr id="28" name="Shape 23"/>
          <p:cNvSpPr/>
          <p:nvPr/>
        </p:nvSpPr>
        <p:spPr>
          <a:xfrm>
            <a:off x="6217920" y="1536192"/>
            <a:ext cx="566928" cy="566928"/>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6359652" y="1677924"/>
            <a:ext cx="283464" cy="283464"/>
          </a:xfrm>
          <a:prstGeom prst="rect">
            <a:avLst/>
          </a:prstGeom>
        </p:spPr>
      </p:pic>
      <p:sp>
        <p:nvSpPr>
          <p:cNvPr id="30" name="Text 24"/>
          <p:cNvSpPr txBox="1"/>
          <p:nvPr/>
        </p:nvSpPr>
        <p:spPr>
          <a:xfrm>
            <a:off x="621792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Gouverner dès le départ</a:t>
            </a:r>
            <a:endParaRPr lang="en-US" sz="1500" dirty="0"/>
          </a:p>
        </p:txBody>
      </p:sp>
      <p:sp>
        <p:nvSpPr>
          <p:cNvPr id="31" name="Text 25"/>
          <p:cNvSpPr txBox="1"/>
          <p:nvPr/>
        </p:nvSpPr>
        <p:spPr>
          <a:xfrm>
            <a:off x="621792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Accès, pays du fournisseur, données autorisées : affichés sur chaque fiche. Rien de confidentiel dans un outil en ligne.</a:t>
            </a:r>
            <a:endParaRPr lang="en-US" sz="1100" dirty="0"/>
          </a:p>
        </p:txBody>
      </p:sp>
      <p:sp>
        <p:nvSpPr>
          <p:cNvPr id="32" name="Shape 26"/>
          <p:cNvSpPr/>
          <p:nvPr/>
        </p:nvSpPr>
        <p:spPr>
          <a:xfrm>
            <a:off x="457200" y="4160520"/>
            <a:ext cx="8229600" cy="411480"/>
          </a:xfrm>
          <a:prstGeom prst="roundRect">
            <a:avLst>
              <a:gd name="adj" fmla="val 13333"/>
            </a:avLst>
          </a:prstGeom>
          <a:solidFill>
            <a:srgbClr val="E8F5EF"/>
          </a:solidFill>
          <a:ln/>
        </p:spPr>
      </p:sp>
      <p:sp>
        <p:nvSpPr>
          <p:cNvPr id="33" name="Text 27"/>
          <p:cNvSpPr txBox="1"/>
          <p:nvPr/>
        </p:nvSpPr>
        <p:spPr>
          <a:xfrm>
            <a:off x="640080" y="4160520"/>
            <a:ext cx="7955280" cy="41148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10 outils · 6 familles d'usage · 1 méthode de test · </a:t>
            </a:r>
            <a:r>
              <a:rPr lang="en-US" sz="1200" dirty="0">
                <a:solidFill>
                  <a:srgbClr val="231F20"/>
                </a:solidFill>
                <a:latin typeface="Calibri" pitchFamily="34" charset="0"/>
                <a:ea typeface="Calibri" pitchFamily="34" charset="-122"/>
                <a:cs typeface="Calibri" pitchFamily="34" charset="-120"/>
              </a:rPr>
              <a:t>tous accessibles depuis un navigateur, la plupart gratuitement.</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SOMMAIRE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étapes, dix outils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371600"/>
            <a:ext cx="3977640" cy="896112"/>
          </a:xfrm>
          <a:prstGeom prst="roundRect">
            <a:avLst>
              <a:gd name="adj" fmla="val 8163"/>
            </a:avLst>
          </a:prstGeom>
          <a:solidFill>
            <a:srgbClr val="F4F7F5"/>
          </a:solidFill>
          <a:ln w="9525">
            <a:solidFill>
              <a:srgbClr val="D5DED9"/>
            </a:solidFill>
            <a:prstDash val="solid"/>
          </a:ln>
        </p:spPr>
      </p:sp>
      <p:sp>
        <p:nvSpPr>
          <p:cNvPr id="18" name="Text 15"/>
          <p:cNvSpPr txBox="1"/>
          <p:nvPr/>
        </p:nvSpPr>
        <p:spPr>
          <a:xfrm>
            <a:off x="621792" y="1536192"/>
            <a:ext cx="731520" cy="54864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Text 16"/>
          <p:cNvSpPr txBox="1"/>
          <p:nvPr/>
        </p:nvSpPr>
        <p:spPr>
          <a:xfrm>
            <a:off x="1371600" y="151790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Cadrage</a:t>
            </a:r>
            <a:endParaRPr lang="en-US" sz="1400" dirty="0"/>
          </a:p>
        </p:txBody>
      </p:sp>
      <p:sp>
        <p:nvSpPr>
          <p:cNvPr id="20" name="Text 17"/>
          <p:cNvSpPr txBox="1"/>
          <p:nvPr/>
        </p:nvSpPr>
        <p:spPr>
          <a:xfrm>
            <a:off x="1371600" y="181051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Carte des outils, accès, méthode de test</a:t>
            </a:r>
            <a:endParaRPr lang="en-US" sz="1000" dirty="0"/>
          </a:p>
        </p:txBody>
      </p:sp>
      <p:sp>
        <p:nvSpPr>
          <p:cNvPr id="21" name="Shape 18"/>
          <p:cNvSpPr/>
          <p:nvPr/>
        </p:nvSpPr>
        <p:spPr>
          <a:xfrm>
            <a:off x="4617720" y="1371600"/>
            <a:ext cx="3977640" cy="896112"/>
          </a:xfrm>
          <a:prstGeom prst="roundRect">
            <a:avLst>
              <a:gd name="adj" fmla="val 8163"/>
            </a:avLst>
          </a:prstGeom>
          <a:solidFill>
            <a:srgbClr val="F4F7F5"/>
          </a:solidFill>
          <a:ln w="9525">
            <a:solidFill>
              <a:srgbClr val="D5DED9"/>
            </a:solidFill>
            <a:prstDash val="solid"/>
          </a:ln>
        </p:spPr>
      </p:sp>
      <p:sp>
        <p:nvSpPr>
          <p:cNvPr id="22" name="Text 19"/>
          <p:cNvSpPr txBox="1"/>
          <p:nvPr/>
        </p:nvSpPr>
        <p:spPr>
          <a:xfrm>
            <a:off x="4782312" y="1536192"/>
            <a:ext cx="731520" cy="54864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3" name="Text 20"/>
          <p:cNvSpPr txBox="1"/>
          <p:nvPr/>
        </p:nvSpPr>
        <p:spPr>
          <a:xfrm>
            <a:off x="5532120" y="151790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Chercher et comprendre</a:t>
            </a:r>
            <a:endParaRPr lang="en-US" sz="1400" dirty="0"/>
          </a:p>
        </p:txBody>
      </p:sp>
      <p:sp>
        <p:nvSpPr>
          <p:cNvPr id="24" name="Text 21"/>
          <p:cNvSpPr txBox="1"/>
          <p:nvPr/>
        </p:nvSpPr>
        <p:spPr>
          <a:xfrm>
            <a:off x="5532120" y="181051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Perplexity · LeapSpace · NotebookLM · UN Data Commons</a:t>
            </a:r>
            <a:endParaRPr lang="en-US" sz="1000" dirty="0"/>
          </a:p>
        </p:txBody>
      </p:sp>
      <p:sp>
        <p:nvSpPr>
          <p:cNvPr id="25" name="Shape 22"/>
          <p:cNvSpPr/>
          <p:nvPr/>
        </p:nvSpPr>
        <p:spPr>
          <a:xfrm>
            <a:off x="457200" y="2423160"/>
            <a:ext cx="3977640" cy="896112"/>
          </a:xfrm>
          <a:prstGeom prst="roundRect">
            <a:avLst>
              <a:gd name="adj" fmla="val 8163"/>
            </a:avLst>
          </a:prstGeom>
          <a:solidFill>
            <a:srgbClr val="F4F7F5"/>
          </a:solidFill>
          <a:ln w="9525">
            <a:solidFill>
              <a:srgbClr val="D5DED9"/>
            </a:solidFill>
            <a:prstDash val="solid"/>
          </a:ln>
        </p:spPr>
      </p:sp>
      <p:sp>
        <p:nvSpPr>
          <p:cNvPr id="26" name="Text 23"/>
          <p:cNvSpPr txBox="1"/>
          <p:nvPr/>
        </p:nvSpPr>
        <p:spPr>
          <a:xfrm>
            <a:off x="621792" y="2587752"/>
            <a:ext cx="731520" cy="54864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27" name="Text 24"/>
          <p:cNvSpPr txBox="1"/>
          <p:nvPr/>
        </p:nvSpPr>
        <p:spPr>
          <a:xfrm>
            <a:off x="1371600" y="256946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Transformer les rapports</a:t>
            </a:r>
            <a:endParaRPr lang="en-US" sz="1400" dirty="0"/>
          </a:p>
        </p:txBody>
      </p:sp>
      <p:sp>
        <p:nvSpPr>
          <p:cNvPr id="28" name="Text 25"/>
          <p:cNvSpPr txBox="1"/>
          <p:nvPr/>
        </p:nvSpPr>
        <p:spPr>
          <a:xfrm>
            <a:off x="1371600" y="286207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GLM (Z.ai) · Kimi — du PDF au tableau de bord</a:t>
            </a:r>
            <a:endParaRPr lang="en-US" sz="1000" dirty="0"/>
          </a:p>
        </p:txBody>
      </p:sp>
      <p:sp>
        <p:nvSpPr>
          <p:cNvPr id="29" name="Shape 26"/>
          <p:cNvSpPr/>
          <p:nvPr/>
        </p:nvSpPr>
        <p:spPr>
          <a:xfrm>
            <a:off x="4617720" y="2423160"/>
            <a:ext cx="3977640" cy="896112"/>
          </a:xfrm>
          <a:prstGeom prst="roundRect">
            <a:avLst>
              <a:gd name="adj" fmla="val 8163"/>
            </a:avLst>
          </a:prstGeom>
          <a:solidFill>
            <a:srgbClr val="F4F7F5"/>
          </a:solidFill>
          <a:ln w="9525">
            <a:solidFill>
              <a:srgbClr val="D5DED9"/>
            </a:solidFill>
            <a:prstDash val="solid"/>
          </a:ln>
        </p:spPr>
      </p:sp>
      <p:sp>
        <p:nvSpPr>
          <p:cNvPr id="30" name="Text 27"/>
          <p:cNvSpPr txBox="1"/>
          <p:nvPr/>
        </p:nvSpPr>
        <p:spPr>
          <a:xfrm>
            <a:off x="4782312" y="2587752"/>
            <a:ext cx="731520" cy="54864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1" name="Text 28"/>
          <p:cNvSpPr txBox="1"/>
          <p:nvPr/>
        </p:nvSpPr>
        <p:spPr>
          <a:xfrm>
            <a:off x="5532120" y="256946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Visualiser et raconter</a:t>
            </a:r>
            <a:endParaRPr lang="en-US" sz="1400" dirty="0"/>
          </a:p>
        </p:txBody>
      </p:sp>
      <p:sp>
        <p:nvSpPr>
          <p:cNvPr id="32" name="Text 29"/>
          <p:cNvSpPr txBox="1"/>
          <p:nvPr/>
        </p:nvSpPr>
        <p:spPr>
          <a:xfrm>
            <a:off x="5532120" y="286207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Nano Banana · Google Flow</a:t>
            </a:r>
            <a:endParaRPr lang="en-US" sz="1000" dirty="0"/>
          </a:p>
        </p:txBody>
      </p:sp>
      <p:sp>
        <p:nvSpPr>
          <p:cNvPr id="33" name="Shape 30"/>
          <p:cNvSpPr/>
          <p:nvPr/>
        </p:nvSpPr>
        <p:spPr>
          <a:xfrm>
            <a:off x="457200" y="3474720"/>
            <a:ext cx="3977640" cy="896112"/>
          </a:xfrm>
          <a:prstGeom prst="roundRect">
            <a:avLst>
              <a:gd name="adj" fmla="val 8163"/>
            </a:avLst>
          </a:prstGeom>
          <a:solidFill>
            <a:srgbClr val="F4F7F5"/>
          </a:solidFill>
          <a:ln w="9525">
            <a:solidFill>
              <a:srgbClr val="D5DED9"/>
            </a:solidFill>
            <a:prstDash val="solid"/>
          </a:ln>
        </p:spPr>
      </p:sp>
      <p:sp>
        <p:nvSpPr>
          <p:cNvPr id="34" name="Text 31"/>
          <p:cNvSpPr txBox="1"/>
          <p:nvPr/>
        </p:nvSpPr>
        <p:spPr>
          <a:xfrm>
            <a:off x="621792" y="3639312"/>
            <a:ext cx="731520" cy="54864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35" name="Text 32"/>
          <p:cNvSpPr txBox="1"/>
          <p:nvPr/>
        </p:nvSpPr>
        <p:spPr>
          <a:xfrm>
            <a:off x="1371600" y="362102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Décider et protéger</a:t>
            </a:r>
            <a:endParaRPr lang="en-US" sz="1400" dirty="0"/>
          </a:p>
        </p:txBody>
      </p:sp>
      <p:sp>
        <p:nvSpPr>
          <p:cNvPr id="36" name="Text 33"/>
          <p:cNvSpPr txBox="1"/>
          <p:nvPr/>
        </p:nvSpPr>
        <p:spPr>
          <a:xfrm>
            <a:off x="1371600" y="391363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Jev · Le Chat · règles d'or</a:t>
            </a:r>
            <a:endParaRPr lang="en-US" sz="1000" dirty="0"/>
          </a:p>
        </p:txBody>
      </p:sp>
      <p:sp>
        <p:nvSpPr>
          <p:cNvPr id="37" name="Shape 34"/>
          <p:cNvSpPr/>
          <p:nvPr/>
        </p:nvSpPr>
        <p:spPr>
          <a:xfrm>
            <a:off x="4617720" y="3474720"/>
            <a:ext cx="3977640" cy="896112"/>
          </a:xfrm>
          <a:prstGeom prst="roundRect">
            <a:avLst>
              <a:gd name="adj" fmla="val 8163"/>
            </a:avLst>
          </a:prstGeom>
          <a:solidFill>
            <a:srgbClr val="F4F7F5"/>
          </a:solidFill>
          <a:ln w="9525">
            <a:solidFill>
              <a:srgbClr val="D5DED9"/>
            </a:solidFill>
            <a:prstDash val="solid"/>
          </a:ln>
        </p:spPr>
      </p:sp>
      <p:sp>
        <p:nvSpPr>
          <p:cNvPr id="38" name="Text 35"/>
          <p:cNvSpPr txBox="1"/>
          <p:nvPr/>
        </p:nvSpPr>
        <p:spPr>
          <a:xfrm>
            <a:off x="4782312" y="3639312"/>
            <a:ext cx="731520" cy="54864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39" name="Text 36"/>
          <p:cNvSpPr txBox="1"/>
          <p:nvPr/>
        </p:nvSpPr>
        <p:spPr>
          <a:xfrm>
            <a:off x="5532120" y="362102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Déployer</a:t>
            </a:r>
            <a:endParaRPr lang="en-US" sz="1400" dirty="0"/>
          </a:p>
        </p:txBody>
      </p:sp>
      <p:sp>
        <p:nvSpPr>
          <p:cNvPr id="40" name="Text 37"/>
          <p:cNvSpPr txBox="1"/>
          <p:nvPr/>
        </p:nvSpPr>
        <p:spPr>
          <a:xfrm>
            <a:off x="5532120" y="391363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Scénario d'une journée, organisation du labo, évaluation</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01 · CADRAGE</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Le bon outil pour la bonne tâche</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Et si ChatGPT n'était pas le meilleur outil pour la moitié de vos tâches ?</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5C242"/>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CADRAGE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Dix outils sur la chaîne de production statistique</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71600"/>
            <a:ext cx="1005840" cy="548640"/>
          </a:xfrm>
          <a:prstGeom prst="chevron">
            <a:avLst/>
          </a:prstGeom>
          <a:solidFill>
            <a:srgbClr val="00A86A"/>
          </a:solidFill>
          <a:ln/>
        </p:spPr>
      </p:sp>
      <p:sp>
        <p:nvSpPr>
          <p:cNvPr id="18" name="Text 15"/>
          <p:cNvSpPr txBox="1"/>
          <p:nvPr/>
        </p:nvSpPr>
        <p:spPr>
          <a:xfrm>
            <a:off x="640080"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1</a:t>
            </a:r>
            <a:endParaRPr lang="en-US" sz="900" dirty="0"/>
          </a:p>
        </p:txBody>
      </p:sp>
      <p:sp>
        <p:nvSpPr>
          <p:cNvPr id="19" name="Text 16"/>
          <p:cNvSpPr txBox="1"/>
          <p:nvPr/>
        </p:nvSpPr>
        <p:spPr>
          <a:xfrm>
            <a:off x="548640"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Spécifier</a:t>
            </a:r>
            <a:endParaRPr lang="en-US" sz="900" dirty="0"/>
          </a:p>
        </p:txBody>
      </p:sp>
      <p:sp>
        <p:nvSpPr>
          <p:cNvPr id="20" name="Shape 17"/>
          <p:cNvSpPr/>
          <p:nvPr/>
        </p:nvSpPr>
        <p:spPr>
          <a:xfrm>
            <a:off x="457200" y="2084832"/>
            <a:ext cx="960120" cy="1920240"/>
          </a:xfrm>
          <a:prstGeom prst="roundRect">
            <a:avLst>
              <a:gd name="adj" fmla="val 7619"/>
            </a:avLst>
          </a:prstGeom>
          <a:solidFill>
            <a:srgbClr val="F4F7F5"/>
          </a:solidFill>
          <a:ln w="9525">
            <a:solidFill>
              <a:srgbClr val="D5DED9"/>
            </a:solidFill>
            <a:prstDash val="solid"/>
          </a:ln>
        </p:spPr>
      </p:sp>
      <p:sp>
        <p:nvSpPr>
          <p:cNvPr id="21" name="Shape 18"/>
          <p:cNvSpPr/>
          <p:nvPr/>
        </p:nvSpPr>
        <p:spPr>
          <a:xfrm>
            <a:off x="521208" y="2194560"/>
            <a:ext cx="832104" cy="310896"/>
          </a:xfrm>
          <a:prstGeom prst="roundRect">
            <a:avLst>
              <a:gd name="adj" fmla="val 32353"/>
            </a:avLst>
          </a:prstGeom>
          <a:solidFill>
            <a:srgbClr val="0E7C86"/>
          </a:solidFill>
          <a:ln w="9525">
            <a:solidFill>
              <a:srgbClr val="0E7C86"/>
            </a:solidFill>
            <a:prstDash val="solid"/>
          </a:ln>
        </p:spPr>
      </p:sp>
      <p:sp>
        <p:nvSpPr>
          <p:cNvPr id="22" name="Text 19"/>
          <p:cNvSpPr txBox="1"/>
          <p:nvPr/>
        </p:nvSpPr>
        <p:spPr>
          <a:xfrm>
            <a:off x="521208"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Perplexity</a:t>
            </a:r>
            <a:endParaRPr lang="en-US" sz="800" dirty="0"/>
          </a:p>
        </p:txBody>
      </p:sp>
      <p:sp>
        <p:nvSpPr>
          <p:cNvPr id="23" name="Shape 20"/>
          <p:cNvSpPr/>
          <p:nvPr/>
        </p:nvSpPr>
        <p:spPr>
          <a:xfrm>
            <a:off x="521208" y="2596896"/>
            <a:ext cx="832104" cy="310896"/>
          </a:xfrm>
          <a:prstGeom prst="roundRect">
            <a:avLst>
              <a:gd name="adj" fmla="val 32353"/>
            </a:avLst>
          </a:prstGeom>
          <a:solidFill>
            <a:srgbClr val="C4621D"/>
          </a:solidFill>
          <a:ln w="9525">
            <a:solidFill>
              <a:srgbClr val="C4621D"/>
            </a:solidFill>
            <a:prstDash val="solid"/>
          </a:ln>
        </p:spPr>
      </p:sp>
      <p:sp>
        <p:nvSpPr>
          <p:cNvPr id="24" name="Text 21"/>
          <p:cNvSpPr txBox="1"/>
          <p:nvPr/>
        </p:nvSpPr>
        <p:spPr>
          <a:xfrm>
            <a:off x="521208"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Commons</a:t>
            </a:r>
            <a:endParaRPr lang="en-US" sz="800" dirty="0"/>
          </a:p>
        </p:txBody>
      </p:sp>
      <p:sp>
        <p:nvSpPr>
          <p:cNvPr id="25" name="Shape 22"/>
          <p:cNvSpPr/>
          <p:nvPr/>
        </p:nvSpPr>
        <p:spPr>
          <a:xfrm>
            <a:off x="1481328" y="1371600"/>
            <a:ext cx="1005840" cy="548640"/>
          </a:xfrm>
          <a:prstGeom prst="chevron">
            <a:avLst/>
          </a:prstGeom>
          <a:solidFill>
            <a:srgbClr val="00A86A">
              <a:alpha val="98000"/>
            </a:srgbClr>
          </a:solidFill>
          <a:ln/>
        </p:spPr>
      </p:sp>
      <p:sp>
        <p:nvSpPr>
          <p:cNvPr id="26" name="Text 23"/>
          <p:cNvSpPr txBox="1"/>
          <p:nvPr/>
        </p:nvSpPr>
        <p:spPr>
          <a:xfrm>
            <a:off x="1664208"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2</a:t>
            </a:r>
            <a:endParaRPr lang="en-US" sz="900" dirty="0"/>
          </a:p>
        </p:txBody>
      </p:sp>
      <p:sp>
        <p:nvSpPr>
          <p:cNvPr id="27" name="Text 24"/>
          <p:cNvSpPr txBox="1"/>
          <p:nvPr/>
        </p:nvSpPr>
        <p:spPr>
          <a:xfrm>
            <a:off x="1572768"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Concevoir</a:t>
            </a:r>
            <a:endParaRPr lang="en-US" sz="900" dirty="0"/>
          </a:p>
        </p:txBody>
      </p:sp>
      <p:sp>
        <p:nvSpPr>
          <p:cNvPr id="28" name="Shape 25"/>
          <p:cNvSpPr/>
          <p:nvPr/>
        </p:nvSpPr>
        <p:spPr>
          <a:xfrm>
            <a:off x="1481328" y="2084832"/>
            <a:ext cx="960120" cy="1920240"/>
          </a:xfrm>
          <a:prstGeom prst="roundRect">
            <a:avLst>
              <a:gd name="adj" fmla="val 7619"/>
            </a:avLst>
          </a:prstGeom>
          <a:solidFill>
            <a:srgbClr val="F4F7F5"/>
          </a:solidFill>
          <a:ln w="9525">
            <a:solidFill>
              <a:srgbClr val="D5DED9"/>
            </a:solidFill>
            <a:prstDash val="solid"/>
          </a:ln>
        </p:spPr>
      </p:sp>
      <p:sp>
        <p:nvSpPr>
          <p:cNvPr id="29" name="Shape 26"/>
          <p:cNvSpPr/>
          <p:nvPr/>
        </p:nvSpPr>
        <p:spPr>
          <a:xfrm>
            <a:off x="1545336" y="2194560"/>
            <a:ext cx="832104" cy="310896"/>
          </a:xfrm>
          <a:prstGeom prst="roundRect">
            <a:avLst>
              <a:gd name="adj" fmla="val 32353"/>
            </a:avLst>
          </a:prstGeom>
          <a:solidFill>
            <a:srgbClr val="0E7C86"/>
          </a:solidFill>
          <a:ln w="9525">
            <a:solidFill>
              <a:srgbClr val="0E7C86"/>
            </a:solidFill>
            <a:prstDash val="solid"/>
          </a:ln>
        </p:spPr>
      </p:sp>
      <p:sp>
        <p:nvSpPr>
          <p:cNvPr id="30" name="Text 27"/>
          <p:cNvSpPr txBox="1"/>
          <p:nvPr/>
        </p:nvSpPr>
        <p:spPr>
          <a:xfrm>
            <a:off x="1545336"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LeapSpace</a:t>
            </a:r>
            <a:endParaRPr lang="en-US" sz="800" dirty="0"/>
          </a:p>
        </p:txBody>
      </p:sp>
      <p:sp>
        <p:nvSpPr>
          <p:cNvPr id="31" name="Shape 28"/>
          <p:cNvSpPr/>
          <p:nvPr/>
        </p:nvSpPr>
        <p:spPr>
          <a:xfrm>
            <a:off x="1545336" y="2596896"/>
            <a:ext cx="832104" cy="310896"/>
          </a:xfrm>
          <a:prstGeom prst="roundRect">
            <a:avLst>
              <a:gd name="adj" fmla="val 32353"/>
            </a:avLst>
          </a:prstGeom>
          <a:solidFill>
            <a:srgbClr val="C4621D"/>
          </a:solidFill>
          <a:ln w="9525">
            <a:solidFill>
              <a:srgbClr val="C4621D"/>
            </a:solidFill>
            <a:prstDash val="solid"/>
          </a:ln>
        </p:spPr>
      </p:sp>
      <p:sp>
        <p:nvSpPr>
          <p:cNvPr id="32" name="Text 29"/>
          <p:cNvSpPr txBox="1"/>
          <p:nvPr/>
        </p:nvSpPr>
        <p:spPr>
          <a:xfrm>
            <a:off x="1545336"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NotebookLM</a:t>
            </a:r>
            <a:endParaRPr lang="en-US" sz="800" dirty="0"/>
          </a:p>
        </p:txBody>
      </p:sp>
      <p:sp>
        <p:nvSpPr>
          <p:cNvPr id="33" name="Shape 30"/>
          <p:cNvSpPr/>
          <p:nvPr/>
        </p:nvSpPr>
        <p:spPr>
          <a:xfrm>
            <a:off x="2505456" y="1371600"/>
            <a:ext cx="1005840" cy="548640"/>
          </a:xfrm>
          <a:prstGeom prst="chevron">
            <a:avLst/>
          </a:prstGeom>
          <a:solidFill>
            <a:srgbClr val="00A86A">
              <a:alpha val="96000"/>
            </a:srgbClr>
          </a:solidFill>
          <a:ln/>
        </p:spPr>
      </p:sp>
      <p:sp>
        <p:nvSpPr>
          <p:cNvPr id="34" name="Text 31"/>
          <p:cNvSpPr txBox="1"/>
          <p:nvPr/>
        </p:nvSpPr>
        <p:spPr>
          <a:xfrm>
            <a:off x="2688336"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3</a:t>
            </a:r>
            <a:endParaRPr lang="en-US" sz="900" dirty="0"/>
          </a:p>
        </p:txBody>
      </p:sp>
      <p:sp>
        <p:nvSpPr>
          <p:cNvPr id="35" name="Text 32"/>
          <p:cNvSpPr txBox="1"/>
          <p:nvPr/>
        </p:nvSpPr>
        <p:spPr>
          <a:xfrm>
            <a:off x="2596896"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Construire</a:t>
            </a:r>
            <a:endParaRPr lang="en-US" sz="900" dirty="0"/>
          </a:p>
        </p:txBody>
      </p:sp>
      <p:sp>
        <p:nvSpPr>
          <p:cNvPr id="36" name="Shape 33"/>
          <p:cNvSpPr/>
          <p:nvPr/>
        </p:nvSpPr>
        <p:spPr>
          <a:xfrm>
            <a:off x="2505456" y="2084832"/>
            <a:ext cx="960120" cy="1920240"/>
          </a:xfrm>
          <a:prstGeom prst="roundRect">
            <a:avLst>
              <a:gd name="adj" fmla="val 7619"/>
            </a:avLst>
          </a:prstGeom>
          <a:solidFill>
            <a:srgbClr val="F4F7F5"/>
          </a:solidFill>
          <a:ln w="9525">
            <a:solidFill>
              <a:srgbClr val="D5DED9"/>
            </a:solidFill>
            <a:prstDash val="solid"/>
          </a:ln>
        </p:spPr>
      </p:sp>
      <p:sp>
        <p:nvSpPr>
          <p:cNvPr id="37" name="Shape 34"/>
          <p:cNvSpPr/>
          <p:nvPr/>
        </p:nvSpPr>
        <p:spPr>
          <a:xfrm>
            <a:off x="2569464" y="2194560"/>
            <a:ext cx="832104" cy="310896"/>
          </a:xfrm>
          <a:prstGeom prst="roundRect">
            <a:avLst>
              <a:gd name="adj" fmla="val 32353"/>
            </a:avLst>
          </a:prstGeom>
          <a:solidFill>
            <a:srgbClr val="0E7C86"/>
          </a:solidFill>
          <a:ln w="9525">
            <a:solidFill>
              <a:srgbClr val="0E7C86"/>
            </a:solidFill>
            <a:prstDash val="solid"/>
          </a:ln>
        </p:spPr>
      </p:sp>
      <p:sp>
        <p:nvSpPr>
          <p:cNvPr id="38" name="Text 35"/>
          <p:cNvSpPr txBox="1"/>
          <p:nvPr/>
        </p:nvSpPr>
        <p:spPr>
          <a:xfrm>
            <a:off x="2569464"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GLM · Z.ai</a:t>
            </a:r>
            <a:endParaRPr lang="en-US" sz="800" dirty="0"/>
          </a:p>
        </p:txBody>
      </p:sp>
      <p:sp>
        <p:nvSpPr>
          <p:cNvPr id="39" name="Shape 36"/>
          <p:cNvSpPr/>
          <p:nvPr/>
        </p:nvSpPr>
        <p:spPr>
          <a:xfrm>
            <a:off x="3529584" y="1371600"/>
            <a:ext cx="1005840" cy="548640"/>
          </a:xfrm>
          <a:prstGeom prst="chevron">
            <a:avLst/>
          </a:prstGeom>
          <a:solidFill>
            <a:srgbClr val="00A86A">
              <a:alpha val="94000"/>
            </a:srgbClr>
          </a:solidFill>
          <a:ln/>
        </p:spPr>
      </p:sp>
      <p:sp>
        <p:nvSpPr>
          <p:cNvPr id="40" name="Text 37"/>
          <p:cNvSpPr txBox="1"/>
          <p:nvPr/>
        </p:nvSpPr>
        <p:spPr>
          <a:xfrm>
            <a:off x="3712464"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4</a:t>
            </a:r>
            <a:endParaRPr lang="en-US" sz="900" dirty="0"/>
          </a:p>
        </p:txBody>
      </p:sp>
      <p:sp>
        <p:nvSpPr>
          <p:cNvPr id="41" name="Text 38"/>
          <p:cNvSpPr txBox="1"/>
          <p:nvPr/>
        </p:nvSpPr>
        <p:spPr>
          <a:xfrm>
            <a:off x="3621024"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Collecter</a:t>
            </a:r>
            <a:endParaRPr lang="en-US" sz="900" dirty="0"/>
          </a:p>
        </p:txBody>
      </p:sp>
      <p:sp>
        <p:nvSpPr>
          <p:cNvPr id="42" name="Shape 39"/>
          <p:cNvSpPr/>
          <p:nvPr/>
        </p:nvSpPr>
        <p:spPr>
          <a:xfrm>
            <a:off x="3529584" y="2084832"/>
            <a:ext cx="960120" cy="1920240"/>
          </a:xfrm>
          <a:prstGeom prst="roundRect">
            <a:avLst>
              <a:gd name="adj" fmla="val 7619"/>
            </a:avLst>
          </a:prstGeom>
          <a:solidFill>
            <a:srgbClr val="F4F7F5"/>
          </a:solidFill>
          <a:ln w="9525">
            <a:solidFill>
              <a:srgbClr val="D5DED9"/>
            </a:solidFill>
            <a:prstDash val="solid"/>
          </a:ln>
        </p:spPr>
      </p:sp>
      <p:sp>
        <p:nvSpPr>
          <p:cNvPr id="43" name="Shape 40"/>
          <p:cNvSpPr/>
          <p:nvPr/>
        </p:nvSpPr>
        <p:spPr>
          <a:xfrm>
            <a:off x="3593592" y="2194560"/>
            <a:ext cx="832104" cy="310896"/>
          </a:xfrm>
          <a:prstGeom prst="roundRect">
            <a:avLst>
              <a:gd name="adj" fmla="val 32353"/>
            </a:avLst>
          </a:prstGeom>
          <a:solidFill>
            <a:srgbClr val="0E7C86"/>
          </a:solidFill>
          <a:ln w="9525">
            <a:solidFill>
              <a:srgbClr val="0E7C86"/>
            </a:solidFill>
            <a:prstDash val="solid"/>
          </a:ln>
        </p:spPr>
      </p:sp>
      <p:sp>
        <p:nvSpPr>
          <p:cNvPr id="44" name="Text 41"/>
          <p:cNvSpPr txBox="1"/>
          <p:nvPr/>
        </p:nvSpPr>
        <p:spPr>
          <a:xfrm>
            <a:off x="3593592"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Le Chat</a:t>
            </a:r>
            <a:endParaRPr lang="en-US" sz="800" dirty="0"/>
          </a:p>
        </p:txBody>
      </p:sp>
      <p:sp>
        <p:nvSpPr>
          <p:cNvPr id="45" name="Shape 42"/>
          <p:cNvSpPr/>
          <p:nvPr/>
        </p:nvSpPr>
        <p:spPr>
          <a:xfrm>
            <a:off x="4553712" y="1371600"/>
            <a:ext cx="1005840" cy="548640"/>
          </a:xfrm>
          <a:prstGeom prst="chevron">
            <a:avLst/>
          </a:prstGeom>
          <a:solidFill>
            <a:srgbClr val="00A86A">
              <a:alpha val="92000"/>
            </a:srgbClr>
          </a:solidFill>
          <a:ln/>
        </p:spPr>
      </p:sp>
      <p:sp>
        <p:nvSpPr>
          <p:cNvPr id="46" name="Text 43"/>
          <p:cNvSpPr txBox="1"/>
          <p:nvPr/>
        </p:nvSpPr>
        <p:spPr>
          <a:xfrm>
            <a:off x="4736592"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5</a:t>
            </a:r>
            <a:endParaRPr lang="en-US" sz="900" dirty="0"/>
          </a:p>
        </p:txBody>
      </p:sp>
      <p:sp>
        <p:nvSpPr>
          <p:cNvPr id="47" name="Text 44"/>
          <p:cNvSpPr txBox="1"/>
          <p:nvPr/>
        </p:nvSpPr>
        <p:spPr>
          <a:xfrm>
            <a:off x="4645152"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Traiter</a:t>
            </a:r>
            <a:endParaRPr lang="en-US" sz="900" dirty="0"/>
          </a:p>
        </p:txBody>
      </p:sp>
      <p:sp>
        <p:nvSpPr>
          <p:cNvPr id="48" name="Shape 45"/>
          <p:cNvSpPr/>
          <p:nvPr/>
        </p:nvSpPr>
        <p:spPr>
          <a:xfrm>
            <a:off x="4553712" y="2084832"/>
            <a:ext cx="960120" cy="1920240"/>
          </a:xfrm>
          <a:prstGeom prst="roundRect">
            <a:avLst>
              <a:gd name="adj" fmla="val 7619"/>
            </a:avLst>
          </a:prstGeom>
          <a:solidFill>
            <a:srgbClr val="F4F7F5"/>
          </a:solidFill>
          <a:ln w="9525">
            <a:solidFill>
              <a:srgbClr val="D5DED9"/>
            </a:solidFill>
            <a:prstDash val="solid"/>
          </a:ln>
        </p:spPr>
      </p:sp>
      <p:sp>
        <p:nvSpPr>
          <p:cNvPr id="49" name="Shape 46"/>
          <p:cNvSpPr/>
          <p:nvPr/>
        </p:nvSpPr>
        <p:spPr>
          <a:xfrm>
            <a:off x="4617720" y="2194560"/>
            <a:ext cx="832104" cy="310896"/>
          </a:xfrm>
          <a:prstGeom prst="roundRect">
            <a:avLst>
              <a:gd name="adj" fmla="val 32353"/>
            </a:avLst>
          </a:prstGeom>
          <a:solidFill>
            <a:srgbClr val="0E7C86"/>
          </a:solidFill>
          <a:ln w="9525">
            <a:solidFill>
              <a:srgbClr val="0E7C86"/>
            </a:solidFill>
            <a:prstDash val="solid"/>
          </a:ln>
        </p:spPr>
      </p:sp>
      <p:sp>
        <p:nvSpPr>
          <p:cNvPr id="50" name="Text 47"/>
          <p:cNvSpPr txBox="1"/>
          <p:nvPr/>
        </p:nvSpPr>
        <p:spPr>
          <a:xfrm>
            <a:off x="4617720"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Jev</a:t>
            </a:r>
            <a:endParaRPr lang="en-US" sz="800" dirty="0"/>
          </a:p>
        </p:txBody>
      </p:sp>
      <p:sp>
        <p:nvSpPr>
          <p:cNvPr id="51" name="Shape 48"/>
          <p:cNvSpPr/>
          <p:nvPr/>
        </p:nvSpPr>
        <p:spPr>
          <a:xfrm>
            <a:off x="5577840" y="1371600"/>
            <a:ext cx="1005840" cy="548640"/>
          </a:xfrm>
          <a:prstGeom prst="chevron">
            <a:avLst/>
          </a:prstGeom>
          <a:solidFill>
            <a:srgbClr val="00A86A">
              <a:alpha val="90000"/>
            </a:srgbClr>
          </a:solidFill>
          <a:ln/>
        </p:spPr>
      </p:sp>
      <p:sp>
        <p:nvSpPr>
          <p:cNvPr id="52" name="Text 49"/>
          <p:cNvSpPr txBox="1"/>
          <p:nvPr/>
        </p:nvSpPr>
        <p:spPr>
          <a:xfrm>
            <a:off x="5760720"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6</a:t>
            </a:r>
            <a:endParaRPr lang="en-US" sz="900" dirty="0"/>
          </a:p>
        </p:txBody>
      </p:sp>
      <p:sp>
        <p:nvSpPr>
          <p:cNvPr id="53" name="Text 50"/>
          <p:cNvSpPr txBox="1"/>
          <p:nvPr/>
        </p:nvSpPr>
        <p:spPr>
          <a:xfrm>
            <a:off x="5669280"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Analyser</a:t>
            </a:r>
            <a:endParaRPr lang="en-US" sz="900" dirty="0"/>
          </a:p>
        </p:txBody>
      </p:sp>
      <p:sp>
        <p:nvSpPr>
          <p:cNvPr id="54" name="Shape 51"/>
          <p:cNvSpPr/>
          <p:nvPr/>
        </p:nvSpPr>
        <p:spPr>
          <a:xfrm>
            <a:off x="5577840" y="2084832"/>
            <a:ext cx="960120" cy="1920240"/>
          </a:xfrm>
          <a:prstGeom prst="roundRect">
            <a:avLst>
              <a:gd name="adj" fmla="val 7619"/>
            </a:avLst>
          </a:prstGeom>
          <a:solidFill>
            <a:srgbClr val="F4F7F5"/>
          </a:solidFill>
          <a:ln w="9525">
            <a:solidFill>
              <a:srgbClr val="D5DED9"/>
            </a:solidFill>
            <a:prstDash val="solid"/>
          </a:ln>
        </p:spPr>
      </p:sp>
      <p:sp>
        <p:nvSpPr>
          <p:cNvPr id="55" name="Shape 52"/>
          <p:cNvSpPr/>
          <p:nvPr/>
        </p:nvSpPr>
        <p:spPr>
          <a:xfrm>
            <a:off x="5641848" y="2194560"/>
            <a:ext cx="832104" cy="310896"/>
          </a:xfrm>
          <a:prstGeom prst="roundRect">
            <a:avLst>
              <a:gd name="adj" fmla="val 32353"/>
            </a:avLst>
          </a:prstGeom>
          <a:solidFill>
            <a:srgbClr val="0E7C86"/>
          </a:solidFill>
          <a:ln w="9525">
            <a:solidFill>
              <a:srgbClr val="0E7C86"/>
            </a:solidFill>
            <a:prstDash val="solid"/>
          </a:ln>
        </p:spPr>
      </p:sp>
      <p:sp>
        <p:nvSpPr>
          <p:cNvPr id="56" name="Text 53"/>
          <p:cNvSpPr txBox="1"/>
          <p:nvPr/>
        </p:nvSpPr>
        <p:spPr>
          <a:xfrm>
            <a:off x="5641848"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Kimi</a:t>
            </a:r>
            <a:endParaRPr lang="en-US" sz="800" dirty="0"/>
          </a:p>
        </p:txBody>
      </p:sp>
      <p:sp>
        <p:nvSpPr>
          <p:cNvPr id="57" name="Shape 54"/>
          <p:cNvSpPr/>
          <p:nvPr/>
        </p:nvSpPr>
        <p:spPr>
          <a:xfrm>
            <a:off x="5641848" y="2596896"/>
            <a:ext cx="832104" cy="310896"/>
          </a:xfrm>
          <a:prstGeom prst="roundRect">
            <a:avLst>
              <a:gd name="adj" fmla="val 32353"/>
            </a:avLst>
          </a:prstGeom>
          <a:solidFill>
            <a:srgbClr val="C4621D"/>
          </a:solidFill>
          <a:ln w="9525">
            <a:solidFill>
              <a:srgbClr val="C4621D"/>
            </a:solidFill>
            <a:prstDash val="solid"/>
          </a:ln>
        </p:spPr>
      </p:sp>
      <p:sp>
        <p:nvSpPr>
          <p:cNvPr id="58" name="Text 55"/>
          <p:cNvSpPr txBox="1"/>
          <p:nvPr/>
        </p:nvSpPr>
        <p:spPr>
          <a:xfrm>
            <a:off x="5641848"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NotebookLM</a:t>
            </a:r>
            <a:endParaRPr lang="en-US" sz="800" dirty="0"/>
          </a:p>
        </p:txBody>
      </p:sp>
      <p:sp>
        <p:nvSpPr>
          <p:cNvPr id="59" name="Shape 56"/>
          <p:cNvSpPr/>
          <p:nvPr/>
        </p:nvSpPr>
        <p:spPr>
          <a:xfrm>
            <a:off x="6601968" y="1371600"/>
            <a:ext cx="1005840" cy="548640"/>
          </a:xfrm>
          <a:prstGeom prst="chevron">
            <a:avLst/>
          </a:prstGeom>
          <a:solidFill>
            <a:srgbClr val="00704A"/>
          </a:solidFill>
          <a:ln/>
        </p:spPr>
      </p:sp>
      <p:sp>
        <p:nvSpPr>
          <p:cNvPr id="60" name="Text 57"/>
          <p:cNvSpPr txBox="1"/>
          <p:nvPr/>
        </p:nvSpPr>
        <p:spPr>
          <a:xfrm>
            <a:off x="6784848"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7</a:t>
            </a:r>
            <a:endParaRPr lang="en-US" sz="900" dirty="0"/>
          </a:p>
        </p:txBody>
      </p:sp>
      <p:sp>
        <p:nvSpPr>
          <p:cNvPr id="61" name="Text 58"/>
          <p:cNvSpPr txBox="1"/>
          <p:nvPr/>
        </p:nvSpPr>
        <p:spPr>
          <a:xfrm>
            <a:off x="6693408"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Diffuser</a:t>
            </a:r>
            <a:endParaRPr lang="en-US" sz="900" dirty="0"/>
          </a:p>
        </p:txBody>
      </p:sp>
      <p:sp>
        <p:nvSpPr>
          <p:cNvPr id="62" name="Shape 59"/>
          <p:cNvSpPr/>
          <p:nvPr/>
        </p:nvSpPr>
        <p:spPr>
          <a:xfrm>
            <a:off x="6601968" y="2084832"/>
            <a:ext cx="960120" cy="1920240"/>
          </a:xfrm>
          <a:prstGeom prst="roundRect">
            <a:avLst>
              <a:gd name="adj" fmla="val 7619"/>
            </a:avLst>
          </a:prstGeom>
          <a:solidFill>
            <a:srgbClr val="E8F5EF"/>
          </a:solidFill>
          <a:ln w="15875">
            <a:solidFill>
              <a:srgbClr val="00A86A"/>
            </a:solidFill>
            <a:prstDash val="solid"/>
          </a:ln>
        </p:spPr>
      </p:sp>
      <p:sp>
        <p:nvSpPr>
          <p:cNvPr id="63" name="Shape 60"/>
          <p:cNvSpPr/>
          <p:nvPr/>
        </p:nvSpPr>
        <p:spPr>
          <a:xfrm>
            <a:off x="6665976" y="2194560"/>
            <a:ext cx="832104" cy="310896"/>
          </a:xfrm>
          <a:prstGeom prst="roundRect">
            <a:avLst>
              <a:gd name="adj" fmla="val 32353"/>
            </a:avLst>
          </a:prstGeom>
          <a:solidFill>
            <a:srgbClr val="0E7C86"/>
          </a:solidFill>
          <a:ln w="9525">
            <a:solidFill>
              <a:srgbClr val="0E7C86"/>
            </a:solidFill>
            <a:prstDash val="solid"/>
          </a:ln>
        </p:spPr>
      </p:sp>
      <p:sp>
        <p:nvSpPr>
          <p:cNvPr id="64" name="Text 61"/>
          <p:cNvSpPr txBox="1"/>
          <p:nvPr/>
        </p:nvSpPr>
        <p:spPr>
          <a:xfrm>
            <a:off x="6665976"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GLM · Z.ai</a:t>
            </a:r>
            <a:endParaRPr lang="en-US" sz="800" dirty="0"/>
          </a:p>
        </p:txBody>
      </p:sp>
      <p:sp>
        <p:nvSpPr>
          <p:cNvPr id="65" name="Shape 62"/>
          <p:cNvSpPr/>
          <p:nvPr/>
        </p:nvSpPr>
        <p:spPr>
          <a:xfrm>
            <a:off x="6665976" y="2596896"/>
            <a:ext cx="832104" cy="310896"/>
          </a:xfrm>
          <a:prstGeom prst="roundRect">
            <a:avLst>
              <a:gd name="adj" fmla="val 32353"/>
            </a:avLst>
          </a:prstGeom>
          <a:solidFill>
            <a:srgbClr val="C4621D"/>
          </a:solidFill>
          <a:ln w="9525">
            <a:solidFill>
              <a:srgbClr val="C4621D"/>
            </a:solidFill>
            <a:prstDash val="solid"/>
          </a:ln>
        </p:spPr>
      </p:sp>
      <p:sp>
        <p:nvSpPr>
          <p:cNvPr id="66" name="Text 63"/>
          <p:cNvSpPr txBox="1"/>
          <p:nvPr/>
        </p:nvSpPr>
        <p:spPr>
          <a:xfrm>
            <a:off x="6665976"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Kimi</a:t>
            </a:r>
            <a:endParaRPr lang="en-US" sz="800" dirty="0"/>
          </a:p>
        </p:txBody>
      </p:sp>
      <p:sp>
        <p:nvSpPr>
          <p:cNvPr id="67" name="Shape 64"/>
          <p:cNvSpPr/>
          <p:nvPr/>
        </p:nvSpPr>
        <p:spPr>
          <a:xfrm>
            <a:off x="6665976" y="2999232"/>
            <a:ext cx="832104" cy="310896"/>
          </a:xfrm>
          <a:prstGeom prst="roundRect">
            <a:avLst>
              <a:gd name="adj" fmla="val 32353"/>
            </a:avLst>
          </a:prstGeom>
          <a:solidFill>
            <a:srgbClr val="D49A00"/>
          </a:solidFill>
          <a:ln w="9525">
            <a:solidFill>
              <a:srgbClr val="D49A00"/>
            </a:solidFill>
            <a:prstDash val="solid"/>
          </a:ln>
        </p:spPr>
      </p:sp>
      <p:sp>
        <p:nvSpPr>
          <p:cNvPr id="68" name="Text 65"/>
          <p:cNvSpPr txBox="1"/>
          <p:nvPr/>
        </p:nvSpPr>
        <p:spPr>
          <a:xfrm>
            <a:off x="6665976" y="2999232"/>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Nano Banana</a:t>
            </a:r>
            <a:endParaRPr lang="en-US" sz="800" dirty="0"/>
          </a:p>
        </p:txBody>
      </p:sp>
      <p:sp>
        <p:nvSpPr>
          <p:cNvPr id="69" name="Shape 66"/>
          <p:cNvSpPr/>
          <p:nvPr/>
        </p:nvSpPr>
        <p:spPr>
          <a:xfrm>
            <a:off x="6665976" y="3401568"/>
            <a:ext cx="832104" cy="310896"/>
          </a:xfrm>
          <a:prstGeom prst="roundRect">
            <a:avLst>
              <a:gd name="adj" fmla="val 32353"/>
            </a:avLst>
          </a:prstGeom>
          <a:solidFill>
            <a:srgbClr val="B83B2E"/>
          </a:solidFill>
          <a:ln w="9525">
            <a:solidFill>
              <a:srgbClr val="B83B2E"/>
            </a:solidFill>
            <a:prstDash val="solid"/>
          </a:ln>
        </p:spPr>
      </p:sp>
      <p:sp>
        <p:nvSpPr>
          <p:cNvPr id="70" name="Text 67"/>
          <p:cNvSpPr txBox="1"/>
          <p:nvPr/>
        </p:nvSpPr>
        <p:spPr>
          <a:xfrm>
            <a:off x="6665976" y="3401568"/>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Flow</a:t>
            </a:r>
            <a:endParaRPr lang="en-US" sz="800" dirty="0"/>
          </a:p>
        </p:txBody>
      </p:sp>
      <p:sp>
        <p:nvSpPr>
          <p:cNvPr id="71" name="Shape 68"/>
          <p:cNvSpPr/>
          <p:nvPr/>
        </p:nvSpPr>
        <p:spPr>
          <a:xfrm>
            <a:off x="7626096" y="1371600"/>
            <a:ext cx="1005840" cy="548640"/>
          </a:xfrm>
          <a:prstGeom prst="chevron">
            <a:avLst/>
          </a:prstGeom>
          <a:solidFill>
            <a:srgbClr val="00A86A">
              <a:alpha val="86000"/>
            </a:srgbClr>
          </a:solidFill>
          <a:ln/>
        </p:spPr>
      </p:sp>
      <p:sp>
        <p:nvSpPr>
          <p:cNvPr id="72" name="Text 69"/>
          <p:cNvSpPr txBox="1"/>
          <p:nvPr/>
        </p:nvSpPr>
        <p:spPr>
          <a:xfrm>
            <a:off x="7808976"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8</a:t>
            </a:r>
            <a:endParaRPr lang="en-US" sz="900" dirty="0"/>
          </a:p>
        </p:txBody>
      </p:sp>
      <p:sp>
        <p:nvSpPr>
          <p:cNvPr id="73" name="Text 70"/>
          <p:cNvSpPr txBox="1"/>
          <p:nvPr/>
        </p:nvSpPr>
        <p:spPr>
          <a:xfrm>
            <a:off x="7717536"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Évaluer</a:t>
            </a:r>
            <a:endParaRPr lang="en-US" sz="900" dirty="0"/>
          </a:p>
        </p:txBody>
      </p:sp>
      <p:sp>
        <p:nvSpPr>
          <p:cNvPr id="74" name="Shape 71"/>
          <p:cNvSpPr/>
          <p:nvPr/>
        </p:nvSpPr>
        <p:spPr>
          <a:xfrm>
            <a:off x="7626096" y="2084832"/>
            <a:ext cx="960120" cy="1920240"/>
          </a:xfrm>
          <a:prstGeom prst="roundRect">
            <a:avLst>
              <a:gd name="adj" fmla="val 7619"/>
            </a:avLst>
          </a:prstGeom>
          <a:solidFill>
            <a:srgbClr val="F4F7F5"/>
          </a:solidFill>
          <a:ln w="9525">
            <a:solidFill>
              <a:srgbClr val="D5DED9"/>
            </a:solidFill>
            <a:prstDash val="solid"/>
          </a:ln>
        </p:spPr>
      </p:sp>
      <p:sp>
        <p:nvSpPr>
          <p:cNvPr id="75" name="Shape 72"/>
          <p:cNvSpPr/>
          <p:nvPr/>
        </p:nvSpPr>
        <p:spPr>
          <a:xfrm>
            <a:off x="7690104" y="2194560"/>
            <a:ext cx="832104" cy="310896"/>
          </a:xfrm>
          <a:prstGeom prst="roundRect">
            <a:avLst>
              <a:gd name="adj" fmla="val 32353"/>
            </a:avLst>
          </a:prstGeom>
          <a:solidFill>
            <a:srgbClr val="0E7C86"/>
          </a:solidFill>
          <a:ln w="9525">
            <a:solidFill>
              <a:srgbClr val="0E7C86"/>
            </a:solidFill>
            <a:prstDash val="solid"/>
          </a:ln>
        </p:spPr>
      </p:sp>
      <p:sp>
        <p:nvSpPr>
          <p:cNvPr id="76" name="Text 73"/>
          <p:cNvSpPr txBox="1"/>
          <p:nvPr/>
        </p:nvSpPr>
        <p:spPr>
          <a:xfrm>
            <a:off x="7690104"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Perplexity</a:t>
            </a:r>
            <a:endParaRPr lang="en-US" sz="800" dirty="0"/>
          </a:p>
        </p:txBody>
      </p:sp>
      <p:sp>
        <p:nvSpPr>
          <p:cNvPr id="77" name="Shape 74"/>
          <p:cNvSpPr/>
          <p:nvPr/>
        </p:nvSpPr>
        <p:spPr>
          <a:xfrm>
            <a:off x="457200" y="4133088"/>
            <a:ext cx="402336" cy="402336"/>
          </a:xfrm>
          <a:prstGeom prst="ellipse">
            <a:avLst/>
          </a:prstGeom>
          <a:solidFill>
            <a:srgbClr val="D49A00">
              <a:alpha val="22000"/>
            </a:srgbClr>
          </a:solidFill>
          <a:ln/>
        </p:spPr>
      </p:sp>
      <p:pic>
        <p:nvPicPr>
          <p:cNvPr id="78" name="Image 0" descr="preencoded.png"/>
          <p:cNvPicPr>
            <a:picLocks noChangeAspect="1"/>
          </p:cNvPicPr>
          <p:nvPr/>
        </p:nvPicPr>
        <p:blipFill>
          <a:blip r:embed="rId3"/>
          <a:stretch>
            <a:fillRect/>
          </a:stretch>
        </p:blipFill>
        <p:spPr>
          <a:xfrm>
            <a:off x="557784" y="4233672"/>
            <a:ext cx="201168" cy="201168"/>
          </a:xfrm>
          <a:prstGeom prst="rect">
            <a:avLst/>
          </a:prstGeom>
        </p:spPr>
      </p:pic>
      <p:sp>
        <p:nvSpPr>
          <p:cNvPr id="79" name="Text 75"/>
          <p:cNvSpPr txBox="1"/>
          <p:nvPr/>
        </p:nvSpPr>
        <p:spPr>
          <a:xfrm>
            <a:off x="960120" y="4114800"/>
            <a:ext cx="7680960" cy="43891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À retenir : </a:t>
            </a:r>
            <a:r>
              <a:rPr lang="en-US" sz="1100" dirty="0">
                <a:solidFill>
                  <a:srgbClr val="231F20"/>
                </a:solidFill>
                <a:latin typeface="Calibri" pitchFamily="34" charset="0"/>
                <a:ea typeface="Calibri" pitchFamily="34" charset="-122"/>
                <a:cs typeface="Calibri" pitchFamily="34" charset="-120"/>
              </a:rPr>
              <a:t>la diffusion (phase 7) est la phase où ces outils changent le plus la donne — rapports transformés en tableaux de bord, infographies, vidéos.</a:t>
            </a:r>
            <a:endParaRPr lang="en-US" sz="1100" dirty="0"/>
          </a:p>
        </p:txBody>
      </p:sp>
      <p:sp>
        <p:nvSpPr>
          <p:cNvPr id="80" name="Text 76"/>
          <p:cNvSpPr txBox="1"/>
          <p:nvPr/>
        </p:nvSpPr>
        <p:spPr>
          <a:xfrm>
            <a:off x="457200" y="4590288"/>
            <a:ext cx="731520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Référence : CEE-ONU, Modèle générique du processus de production statistique (GSBPM) v5.1.</a:t>
            </a:r>
            <a:endParaRPr lang="en-US" sz="8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CADRAGE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Accès, pays du fournisseur, données autorisées</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Text 14"/>
          <p:cNvSpPr txBox="1"/>
          <p:nvPr/>
        </p:nvSpPr>
        <p:spPr>
          <a:xfrm>
            <a:off x="530352" y="1298448"/>
            <a:ext cx="205740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Outil</a:t>
            </a:r>
            <a:endParaRPr lang="en-US" sz="1000" dirty="0"/>
          </a:p>
        </p:txBody>
      </p:sp>
      <p:sp>
        <p:nvSpPr>
          <p:cNvPr id="18" name="Text 15"/>
          <p:cNvSpPr txBox="1"/>
          <p:nvPr/>
        </p:nvSpPr>
        <p:spPr>
          <a:xfrm>
            <a:off x="2587752" y="1298448"/>
            <a:ext cx="237744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Éditeur · pays</a:t>
            </a:r>
            <a:endParaRPr lang="en-US" sz="1000" dirty="0"/>
          </a:p>
        </p:txBody>
      </p:sp>
      <p:sp>
        <p:nvSpPr>
          <p:cNvPr id="19" name="Text 16"/>
          <p:cNvSpPr txBox="1"/>
          <p:nvPr/>
        </p:nvSpPr>
        <p:spPr>
          <a:xfrm>
            <a:off x="4965192" y="1298448"/>
            <a:ext cx="150876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Accès</a:t>
            </a:r>
            <a:endParaRPr lang="en-US" sz="1000" dirty="0"/>
          </a:p>
        </p:txBody>
      </p:sp>
      <p:sp>
        <p:nvSpPr>
          <p:cNvPr id="20" name="Text 17"/>
          <p:cNvSpPr txBox="1"/>
          <p:nvPr/>
        </p:nvSpPr>
        <p:spPr>
          <a:xfrm>
            <a:off x="6473952" y="1298448"/>
            <a:ext cx="228600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Données autorisées</a:t>
            </a:r>
            <a:endParaRPr lang="en-US" sz="1000" dirty="0"/>
          </a:p>
        </p:txBody>
      </p:sp>
      <p:sp>
        <p:nvSpPr>
          <p:cNvPr id="21" name="Shape 18"/>
          <p:cNvSpPr/>
          <p:nvPr/>
        </p:nvSpPr>
        <p:spPr>
          <a:xfrm>
            <a:off x="457200" y="1536192"/>
            <a:ext cx="8229600" cy="283464"/>
          </a:xfrm>
          <a:prstGeom prst="roundRect">
            <a:avLst>
              <a:gd name="adj" fmla="val 12903"/>
            </a:avLst>
          </a:prstGeom>
          <a:solidFill>
            <a:srgbClr val="F4F7F5"/>
          </a:solidFill>
          <a:ln/>
        </p:spPr>
      </p:sp>
      <p:sp>
        <p:nvSpPr>
          <p:cNvPr id="22" name="Text 19"/>
          <p:cNvSpPr txBox="1"/>
          <p:nvPr/>
        </p:nvSpPr>
        <p:spPr>
          <a:xfrm>
            <a:off x="530352" y="155448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Perplexity</a:t>
            </a:r>
            <a:endParaRPr lang="en-US" sz="1050" dirty="0"/>
          </a:p>
        </p:txBody>
      </p:sp>
      <p:sp>
        <p:nvSpPr>
          <p:cNvPr id="23" name="Text 20"/>
          <p:cNvSpPr txBox="1"/>
          <p:nvPr/>
        </p:nvSpPr>
        <p:spPr>
          <a:xfrm>
            <a:off x="2587752" y="155448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Perplexity AI · États-Unis</a:t>
            </a:r>
            <a:endParaRPr lang="en-US" sz="1000" dirty="0"/>
          </a:p>
        </p:txBody>
      </p:sp>
      <p:sp>
        <p:nvSpPr>
          <p:cNvPr id="24" name="Shape 21"/>
          <p:cNvSpPr/>
          <p:nvPr/>
        </p:nvSpPr>
        <p:spPr>
          <a:xfrm>
            <a:off x="4937760" y="1581912"/>
            <a:ext cx="1371600" cy="192024"/>
          </a:xfrm>
          <a:prstGeom prst="roundRect">
            <a:avLst>
              <a:gd name="adj" fmla="val 52381"/>
            </a:avLst>
          </a:prstGeom>
          <a:solidFill>
            <a:srgbClr val="0E7C86"/>
          </a:solidFill>
          <a:ln w="9525">
            <a:solidFill>
              <a:srgbClr val="0E7C86"/>
            </a:solidFill>
            <a:prstDash val="solid"/>
          </a:ln>
        </p:spPr>
      </p:sp>
      <p:sp>
        <p:nvSpPr>
          <p:cNvPr id="25" name="Text 22"/>
          <p:cNvSpPr txBox="1"/>
          <p:nvPr/>
        </p:nvSpPr>
        <p:spPr>
          <a:xfrm>
            <a:off x="4937760" y="158191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26" name="Text 23"/>
          <p:cNvSpPr txBox="1"/>
          <p:nvPr/>
        </p:nvSpPr>
        <p:spPr>
          <a:xfrm>
            <a:off x="6473952" y="155448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27" name="Text 24"/>
          <p:cNvSpPr txBox="1"/>
          <p:nvPr/>
        </p:nvSpPr>
        <p:spPr>
          <a:xfrm>
            <a:off x="530352" y="185166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LeapSpace</a:t>
            </a:r>
            <a:endParaRPr lang="en-US" sz="1050" dirty="0"/>
          </a:p>
        </p:txBody>
      </p:sp>
      <p:sp>
        <p:nvSpPr>
          <p:cNvPr id="28" name="Text 25"/>
          <p:cNvSpPr txBox="1"/>
          <p:nvPr/>
        </p:nvSpPr>
        <p:spPr>
          <a:xfrm>
            <a:off x="2587752" y="185166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Elsevier · Pays-Bas / R.-U.</a:t>
            </a:r>
            <a:endParaRPr lang="en-US" sz="1000" dirty="0"/>
          </a:p>
        </p:txBody>
      </p:sp>
      <p:sp>
        <p:nvSpPr>
          <p:cNvPr id="29" name="Shape 26"/>
          <p:cNvSpPr/>
          <p:nvPr/>
        </p:nvSpPr>
        <p:spPr>
          <a:xfrm>
            <a:off x="4937760" y="1879092"/>
            <a:ext cx="1371600" cy="192024"/>
          </a:xfrm>
          <a:prstGeom prst="roundRect">
            <a:avLst>
              <a:gd name="adj" fmla="val 52381"/>
            </a:avLst>
          </a:prstGeom>
          <a:solidFill>
            <a:srgbClr val="D49A00"/>
          </a:solidFill>
          <a:ln w="9525">
            <a:solidFill>
              <a:srgbClr val="D49A00"/>
            </a:solidFill>
            <a:prstDash val="solid"/>
          </a:ln>
        </p:spPr>
      </p:sp>
      <p:sp>
        <p:nvSpPr>
          <p:cNvPr id="30" name="Text 27"/>
          <p:cNvSpPr txBox="1"/>
          <p:nvPr/>
        </p:nvSpPr>
        <p:spPr>
          <a:xfrm>
            <a:off x="4937760" y="187909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INSTITUTIONNEL</a:t>
            </a:r>
            <a:endParaRPr lang="en-US" sz="700" dirty="0"/>
          </a:p>
        </p:txBody>
      </p:sp>
      <p:sp>
        <p:nvSpPr>
          <p:cNvPr id="31" name="Text 28"/>
          <p:cNvSpPr txBox="1"/>
          <p:nvPr/>
        </p:nvSpPr>
        <p:spPr>
          <a:xfrm>
            <a:off x="6473952" y="185166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32" name="Shape 29"/>
          <p:cNvSpPr/>
          <p:nvPr/>
        </p:nvSpPr>
        <p:spPr>
          <a:xfrm>
            <a:off x="457200" y="2130552"/>
            <a:ext cx="8229600" cy="283464"/>
          </a:xfrm>
          <a:prstGeom prst="roundRect">
            <a:avLst>
              <a:gd name="adj" fmla="val 12903"/>
            </a:avLst>
          </a:prstGeom>
          <a:solidFill>
            <a:srgbClr val="F4F7F5"/>
          </a:solidFill>
          <a:ln/>
        </p:spPr>
      </p:sp>
      <p:sp>
        <p:nvSpPr>
          <p:cNvPr id="33" name="Text 30"/>
          <p:cNvSpPr txBox="1"/>
          <p:nvPr/>
        </p:nvSpPr>
        <p:spPr>
          <a:xfrm>
            <a:off x="530352" y="214884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NotebookLM</a:t>
            </a:r>
            <a:endParaRPr lang="en-US" sz="1050" dirty="0"/>
          </a:p>
        </p:txBody>
      </p:sp>
      <p:sp>
        <p:nvSpPr>
          <p:cNvPr id="34" name="Text 31"/>
          <p:cNvSpPr txBox="1"/>
          <p:nvPr/>
        </p:nvSpPr>
        <p:spPr>
          <a:xfrm>
            <a:off x="2587752" y="214884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 États-Unis</a:t>
            </a:r>
            <a:endParaRPr lang="en-US" sz="1000" dirty="0"/>
          </a:p>
        </p:txBody>
      </p:sp>
      <p:sp>
        <p:nvSpPr>
          <p:cNvPr id="35" name="Shape 32"/>
          <p:cNvSpPr/>
          <p:nvPr/>
        </p:nvSpPr>
        <p:spPr>
          <a:xfrm>
            <a:off x="4937760" y="2176272"/>
            <a:ext cx="1371600" cy="192024"/>
          </a:xfrm>
          <a:prstGeom prst="roundRect">
            <a:avLst>
              <a:gd name="adj" fmla="val 52381"/>
            </a:avLst>
          </a:prstGeom>
          <a:solidFill>
            <a:srgbClr val="0E7C86"/>
          </a:solidFill>
          <a:ln w="9525">
            <a:solidFill>
              <a:srgbClr val="0E7C86"/>
            </a:solidFill>
            <a:prstDash val="solid"/>
          </a:ln>
        </p:spPr>
      </p:sp>
      <p:sp>
        <p:nvSpPr>
          <p:cNvPr id="36" name="Text 33"/>
          <p:cNvSpPr txBox="1"/>
          <p:nvPr/>
        </p:nvSpPr>
        <p:spPr>
          <a:xfrm>
            <a:off x="4937760" y="217627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37" name="Text 34"/>
          <p:cNvSpPr txBox="1"/>
          <p:nvPr/>
        </p:nvSpPr>
        <p:spPr>
          <a:xfrm>
            <a:off x="6473952" y="214884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38" name="Text 35"/>
          <p:cNvSpPr txBox="1"/>
          <p:nvPr/>
        </p:nvSpPr>
        <p:spPr>
          <a:xfrm>
            <a:off x="530352" y="244602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UN Data Commons</a:t>
            </a:r>
            <a:endParaRPr lang="en-US" sz="1050" dirty="0"/>
          </a:p>
        </p:txBody>
      </p:sp>
      <p:sp>
        <p:nvSpPr>
          <p:cNvPr id="39" name="Text 36"/>
          <p:cNvSpPr txBox="1"/>
          <p:nvPr/>
        </p:nvSpPr>
        <p:spPr>
          <a:xfrm>
            <a:off x="2587752" y="244602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ONU + Google</a:t>
            </a:r>
            <a:endParaRPr lang="en-US" sz="1000" dirty="0"/>
          </a:p>
        </p:txBody>
      </p:sp>
      <p:sp>
        <p:nvSpPr>
          <p:cNvPr id="40" name="Shape 37"/>
          <p:cNvSpPr/>
          <p:nvPr/>
        </p:nvSpPr>
        <p:spPr>
          <a:xfrm>
            <a:off x="4937760" y="2473452"/>
            <a:ext cx="1371600" cy="192024"/>
          </a:xfrm>
          <a:prstGeom prst="roundRect">
            <a:avLst>
              <a:gd name="adj" fmla="val 52381"/>
            </a:avLst>
          </a:prstGeom>
          <a:solidFill>
            <a:srgbClr val="00A86A"/>
          </a:solidFill>
          <a:ln w="9525">
            <a:solidFill>
              <a:srgbClr val="00A86A"/>
            </a:solidFill>
            <a:prstDash val="solid"/>
          </a:ln>
        </p:spPr>
      </p:sp>
      <p:sp>
        <p:nvSpPr>
          <p:cNvPr id="41" name="Text 38"/>
          <p:cNvSpPr txBox="1"/>
          <p:nvPr/>
        </p:nvSpPr>
        <p:spPr>
          <a:xfrm>
            <a:off x="4937760" y="247345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a:t>
            </a:r>
            <a:endParaRPr lang="en-US" sz="700" dirty="0"/>
          </a:p>
        </p:txBody>
      </p:sp>
      <p:sp>
        <p:nvSpPr>
          <p:cNvPr id="42" name="Text 39"/>
          <p:cNvSpPr txBox="1"/>
          <p:nvPr/>
        </p:nvSpPr>
        <p:spPr>
          <a:xfrm>
            <a:off x="6473952" y="2446020"/>
            <a:ext cx="2286000" cy="246888"/>
          </a:xfrm>
          <a:prstGeom prst="rect">
            <a:avLst/>
          </a:prstGeom>
          <a:noFill/>
          <a:ln/>
        </p:spPr>
        <p:txBody>
          <a:bodyPr wrap="square" lIns="0" tIns="0" rIns="0" bIns="0" rtlCol="0" anchor="ctr"/>
          <a:lstStyle/>
          <a:p>
            <a:pPr marL="0" indent="0">
              <a:buNone/>
            </a:pPr>
            <a:r>
              <a:rPr lang="en-US" sz="1000" dirty="0">
                <a:solidFill>
                  <a:srgbClr val="00704A"/>
                </a:solidFill>
                <a:latin typeface="Calibri" pitchFamily="34" charset="0"/>
                <a:ea typeface="Calibri" pitchFamily="34" charset="-122"/>
                <a:cs typeface="Calibri" pitchFamily="34" charset="-120"/>
              </a:rPr>
              <a:t>Statistiques publiques de l'ONU</a:t>
            </a:r>
            <a:endParaRPr lang="en-US" sz="1000" dirty="0"/>
          </a:p>
        </p:txBody>
      </p:sp>
      <p:sp>
        <p:nvSpPr>
          <p:cNvPr id="43" name="Shape 40"/>
          <p:cNvSpPr/>
          <p:nvPr/>
        </p:nvSpPr>
        <p:spPr>
          <a:xfrm>
            <a:off x="457200" y="2724912"/>
            <a:ext cx="8229600" cy="283464"/>
          </a:xfrm>
          <a:prstGeom prst="roundRect">
            <a:avLst>
              <a:gd name="adj" fmla="val 12903"/>
            </a:avLst>
          </a:prstGeom>
          <a:solidFill>
            <a:srgbClr val="F4F7F5"/>
          </a:solidFill>
          <a:ln/>
        </p:spPr>
      </p:sp>
      <p:sp>
        <p:nvSpPr>
          <p:cNvPr id="44" name="Text 41"/>
          <p:cNvSpPr txBox="1"/>
          <p:nvPr/>
        </p:nvSpPr>
        <p:spPr>
          <a:xfrm>
            <a:off x="530352" y="274320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GLM (chat.z.ai)</a:t>
            </a:r>
            <a:endParaRPr lang="en-US" sz="1050" dirty="0"/>
          </a:p>
        </p:txBody>
      </p:sp>
      <p:sp>
        <p:nvSpPr>
          <p:cNvPr id="45" name="Text 42"/>
          <p:cNvSpPr txBox="1"/>
          <p:nvPr/>
        </p:nvSpPr>
        <p:spPr>
          <a:xfrm>
            <a:off x="2587752" y="274320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Z.ai · Chine</a:t>
            </a:r>
            <a:endParaRPr lang="en-US" sz="1000" dirty="0"/>
          </a:p>
        </p:txBody>
      </p:sp>
      <p:sp>
        <p:nvSpPr>
          <p:cNvPr id="46" name="Shape 43"/>
          <p:cNvSpPr/>
          <p:nvPr/>
        </p:nvSpPr>
        <p:spPr>
          <a:xfrm>
            <a:off x="4937760" y="2770632"/>
            <a:ext cx="1371600" cy="192024"/>
          </a:xfrm>
          <a:prstGeom prst="roundRect">
            <a:avLst>
              <a:gd name="adj" fmla="val 52381"/>
            </a:avLst>
          </a:prstGeom>
          <a:solidFill>
            <a:srgbClr val="0E7C86"/>
          </a:solidFill>
          <a:ln w="9525">
            <a:solidFill>
              <a:srgbClr val="0E7C86"/>
            </a:solidFill>
            <a:prstDash val="solid"/>
          </a:ln>
        </p:spPr>
      </p:sp>
      <p:sp>
        <p:nvSpPr>
          <p:cNvPr id="47" name="Text 44"/>
          <p:cNvSpPr txBox="1"/>
          <p:nvPr/>
        </p:nvSpPr>
        <p:spPr>
          <a:xfrm>
            <a:off x="4937760" y="277063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48" name="Text 45"/>
          <p:cNvSpPr txBox="1"/>
          <p:nvPr/>
        </p:nvSpPr>
        <p:spPr>
          <a:xfrm>
            <a:off x="6473952" y="274320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49" name="Text 46"/>
          <p:cNvSpPr txBox="1"/>
          <p:nvPr/>
        </p:nvSpPr>
        <p:spPr>
          <a:xfrm>
            <a:off x="530352" y="304038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Kimi (OK Computer)</a:t>
            </a:r>
            <a:endParaRPr lang="en-US" sz="1050" dirty="0"/>
          </a:p>
        </p:txBody>
      </p:sp>
      <p:sp>
        <p:nvSpPr>
          <p:cNvPr id="50" name="Text 47"/>
          <p:cNvSpPr txBox="1"/>
          <p:nvPr/>
        </p:nvSpPr>
        <p:spPr>
          <a:xfrm>
            <a:off x="2587752" y="304038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Moonshot AI · Chine</a:t>
            </a:r>
            <a:endParaRPr lang="en-US" sz="1000" dirty="0"/>
          </a:p>
        </p:txBody>
      </p:sp>
      <p:sp>
        <p:nvSpPr>
          <p:cNvPr id="51" name="Shape 48"/>
          <p:cNvSpPr/>
          <p:nvPr/>
        </p:nvSpPr>
        <p:spPr>
          <a:xfrm>
            <a:off x="4937760" y="3067812"/>
            <a:ext cx="1371600" cy="192024"/>
          </a:xfrm>
          <a:prstGeom prst="roundRect">
            <a:avLst>
              <a:gd name="adj" fmla="val 52381"/>
            </a:avLst>
          </a:prstGeom>
          <a:solidFill>
            <a:srgbClr val="0E7C86"/>
          </a:solidFill>
          <a:ln w="9525">
            <a:solidFill>
              <a:srgbClr val="0E7C86"/>
            </a:solidFill>
            <a:prstDash val="solid"/>
          </a:ln>
        </p:spPr>
      </p:sp>
      <p:sp>
        <p:nvSpPr>
          <p:cNvPr id="52" name="Text 49"/>
          <p:cNvSpPr txBox="1"/>
          <p:nvPr/>
        </p:nvSpPr>
        <p:spPr>
          <a:xfrm>
            <a:off x="4937760" y="306781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53" name="Text 50"/>
          <p:cNvSpPr txBox="1"/>
          <p:nvPr/>
        </p:nvSpPr>
        <p:spPr>
          <a:xfrm>
            <a:off x="6473952" y="304038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54" name="Shape 51"/>
          <p:cNvSpPr/>
          <p:nvPr/>
        </p:nvSpPr>
        <p:spPr>
          <a:xfrm>
            <a:off x="457200" y="3319272"/>
            <a:ext cx="8229600" cy="283464"/>
          </a:xfrm>
          <a:prstGeom prst="roundRect">
            <a:avLst>
              <a:gd name="adj" fmla="val 12903"/>
            </a:avLst>
          </a:prstGeom>
          <a:solidFill>
            <a:srgbClr val="F4F7F5"/>
          </a:solidFill>
          <a:ln/>
        </p:spPr>
      </p:sp>
      <p:sp>
        <p:nvSpPr>
          <p:cNvPr id="55" name="Text 52"/>
          <p:cNvSpPr txBox="1"/>
          <p:nvPr/>
        </p:nvSpPr>
        <p:spPr>
          <a:xfrm>
            <a:off x="530352" y="333756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Nano Banana</a:t>
            </a:r>
            <a:endParaRPr lang="en-US" sz="1050" dirty="0"/>
          </a:p>
        </p:txBody>
      </p:sp>
      <p:sp>
        <p:nvSpPr>
          <p:cNvPr id="56" name="Text 53"/>
          <p:cNvSpPr txBox="1"/>
          <p:nvPr/>
        </p:nvSpPr>
        <p:spPr>
          <a:xfrm>
            <a:off x="2587752" y="333756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(appli Gemini)</a:t>
            </a:r>
            <a:endParaRPr lang="en-US" sz="1000" dirty="0"/>
          </a:p>
        </p:txBody>
      </p:sp>
      <p:sp>
        <p:nvSpPr>
          <p:cNvPr id="57" name="Shape 54"/>
          <p:cNvSpPr/>
          <p:nvPr/>
        </p:nvSpPr>
        <p:spPr>
          <a:xfrm>
            <a:off x="4937760" y="3364992"/>
            <a:ext cx="1371600" cy="192024"/>
          </a:xfrm>
          <a:prstGeom prst="roundRect">
            <a:avLst>
              <a:gd name="adj" fmla="val 52381"/>
            </a:avLst>
          </a:prstGeom>
          <a:solidFill>
            <a:srgbClr val="0E7C86"/>
          </a:solidFill>
          <a:ln w="9525">
            <a:solidFill>
              <a:srgbClr val="0E7C86"/>
            </a:solidFill>
            <a:prstDash val="solid"/>
          </a:ln>
        </p:spPr>
      </p:sp>
      <p:sp>
        <p:nvSpPr>
          <p:cNvPr id="58" name="Text 55"/>
          <p:cNvSpPr txBox="1"/>
          <p:nvPr/>
        </p:nvSpPr>
        <p:spPr>
          <a:xfrm>
            <a:off x="4937760" y="336499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59" name="Text 56"/>
          <p:cNvSpPr txBox="1"/>
          <p:nvPr/>
        </p:nvSpPr>
        <p:spPr>
          <a:xfrm>
            <a:off x="6473952" y="333756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60" name="Text 57"/>
          <p:cNvSpPr txBox="1"/>
          <p:nvPr/>
        </p:nvSpPr>
        <p:spPr>
          <a:xfrm>
            <a:off x="530352" y="363474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Google Flow</a:t>
            </a:r>
            <a:endParaRPr lang="en-US" sz="1050" dirty="0"/>
          </a:p>
        </p:txBody>
      </p:sp>
      <p:sp>
        <p:nvSpPr>
          <p:cNvPr id="61" name="Text 58"/>
          <p:cNvSpPr txBox="1"/>
          <p:nvPr/>
        </p:nvSpPr>
        <p:spPr>
          <a:xfrm>
            <a:off x="2587752" y="363474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 États-Unis</a:t>
            </a:r>
            <a:endParaRPr lang="en-US" sz="1000" dirty="0"/>
          </a:p>
        </p:txBody>
      </p:sp>
      <p:sp>
        <p:nvSpPr>
          <p:cNvPr id="62" name="Shape 59"/>
          <p:cNvSpPr/>
          <p:nvPr/>
        </p:nvSpPr>
        <p:spPr>
          <a:xfrm>
            <a:off x="4937760" y="3662172"/>
            <a:ext cx="1371600" cy="192024"/>
          </a:xfrm>
          <a:prstGeom prst="roundRect">
            <a:avLst>
              <a:gd name="adj" fmla="val 52381"/>
            </a:avLst>
          </a:prstGeom>
          <a:solidFill>
            <a:srgbClr val="B83B2E"/>
          </a:solidFill>
          <a:ln w="9525">
            <a:solidFill>
              <a:srgbClr val="B83B2E"/>
            </a:solidFill>
            <a:prstDash val="solid"/>
          </a:ln>
        </p:spPr>
      </p:sp>
      <p:sp>
        <p:nvSpPr>
          <p:cNvPr id="63" name="Text 60"/>
          <p:cNvSpPr txBox="1"/>
          <p:nvPr/>
        </p:nvSpPr>
        <p:spPr>
          <a:xfrm>
            <a:off x="4937760" y="366217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ABONNEMENT</a:t>
            </a:r>
            <a:endParaRPr lang="en-US" sz="700" dirty="0"/>
          </a:p>
        </p:txBody>
      </p:sp>
      <p:sp>
        <p:nvSpPr>
          <p:cNvPr id="64" name="Text 61"/>
          <p:cNvSpPr txBox="1"/>
          <p:nvPr/>
        </p:nvSpPr>
        <p:spPr>
          <a:xfrm>
            <a:off x="6473952" y="363474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65" name="Shape 62"/>
          <p:cNvSpPr/>
          <p:nvPr/>
        </p:nvSpPr>
        <p:spPr>
          <a:xfrm>
            <a:off x="457200" y="3913632"/>
            <a:ext cx="8229600" cy="283464"/>
          </a:xfrm>
          <a:prstGeom prst="roundRect">
            <a:avLst>
              <a:gd name="adj" fmla="val 12903"/>
            </a:avLst>
          </a:prstGeom>
          <a:solidFill>
            <a:srgbClr val="F4F7F5"/>
          </a:solidFill>
          <a:ln/>
        </p:spPr>
      </p:sp>
      <p:sp>
        <p:nvSpPr>
          <p:cNvPr id="66" name="Text 63"/>
          <p:cNvSpPr txBox="1"/>
          <p:nvPr/>
        </p:nvSpPr>
        <p:spPr>
          <a:xfrm>
            <a:off x="530352" y="393192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Jev</a:t>
            </a:r>
            <a:endParaRPr lang="en-US" sz="1050" dirty="0"/>
          </a:p>
        </p:txBody>
      </p:sp>
      <p:sp>
        <p:nvSpPr>
          <p:cNvPr id="67" name="Text 64"/>
          <p:cNvSpPr txBox="1"/>
          <p:nvPr/>
        </p:nvSpPr>
        <p:spPr>
          <a:xfrm>
            <a:off x="2587752" y="393192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TypeSafe AI · États-Unis</a:t>
            </a:r>
            <a:endParaRPr lang="en-US" sz="1000" dirty="0"/>
          </a:p>
        </p:txBody>
      </p:sp>
      <p:sp>
        <p:nvSpPr>
          <p:cNvPr id="68" name="Shape 65"/>
          <p:cNvSpPr/>
          <p:nvPr/>
        </p:nvSpPr>
        <p:spPr>
          <a:xfrm>
            <a:off x="4937760" y="3959352"/>
            <a:ext cx="1371600" cy="192024"/>
          </a:xfrm>
          <a:prstGeom prst="roundRect">
            <a:avLst>
              <a:gd name="adj" fmla="val 52381"/>
            </a:avLst>
          </a:prstGeom>
          <a:solidFill>
            <a:srgbClr val="C4621D"/>
          </a:solidFill>
          <a:ln w="9525">
            <a:solidFill>
              <a:srgbClr val="C4621D"/>
            </a:solidFill>
            <a:prstDash val="solid"/>
          </a:ln>
        </p:spPr>
      </p:sp>
      <p:sp>
        <p:nvSpPr>
          <p:cNvPr id="69" name="Text 66"/>
          <p:cNvSpPr txBox="1"/>
          <p:nvPr/>
        </p:nvSpPr>
        <p:spPr>
          <a:xfrm>
            <a:off x="4937760" y="395935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ACCÈS ANTICIPÉ</a:t>
            </a:r>
            <a:endParaRPr lang="en-US" sz="700" dirty="0"/>
          </a:p>
        </p:txBody>
      </p:sp>
      <p:sp>
        <p:nvSpPr>
          <p:cNvPr id="70" name="Text 67"/>
          <p:cNvSpPr txBox="1"/>
          <p:nvPr/>
        </p:nvSpPr>
        <p:spPr>
          <a:xfrm>
            <a:off x="6473952" y="393192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71" name="Text 68"/>
          <p:cNvSpPr txBox="1"/>
          <p:nvPr/>
        </p:nvSpPr>
        <p:spPr>
          <a:xfrm>
            <a:off x="530352" y="422910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 Chat</a:t>
            </a:r>
            <a:endParaRPr lang="en-US" sz="1050" dirty="0"/>
          </a:p>
        </p:txBody>
      </p:sp>
      <p:sp>
        <p:nvSpPr>
          <p:cNvPr id="72" name="Text 69"/>
          <p:cNvSpPr txBox="1"/>
          <p:nvPr/>
        </p:nvSpPr>
        <p:spPr>
          <a:xfrm>
            <a:off x="2587752" y="422910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Mistral AI · France (UE)</a:t>
            </a:r>
            <a:endParaRPr lang="en-US" sz="1000" dirty="0"/>
          </a:p>
        </p:txBody>
      </p:sp>
      <p:sp>
        <p:nvSpPr>
          <p:cNvPr id="73" name="Shape 70"/>
          <p:cNvSpPr/>
          <p:nvPr/>
        </p:nvSpPr>
        <p:spPr>
          <a:xfrm>
            <a:off x="4937760" y="4256532"/>
            <a:ext cx="1371600" cy="192024"/>
          </a:xfrm>
          <a:prstGeom prst="roundRect">
            <a:avLst>
              <a:gd name="adj" fmla="val 52381"/>
            </a:avLst>
          </a:prstGeom>
          <a:solidFill>
            <a:srgbClr val="0E7C86"/>
          </a:solidFill>
          <a:ln w="9525">
            <a:solidFill>
              <a:srgbClr val="0E7C86"/>
            </a:solidFill>
            <a:prstDash val="solid"/>
          </a:ln>
        </p:spPr>
      </p:sp>
      <p:sp>
        <p:nvSpPr>
          <p:cNvPr id="74" name="Text 71"/>
          <p:cNvSpPr txBox="1"/>
          <p:nvPr/>
        </p:nvSpPr>
        <p:spPr>
          <a:xfrm>
            <a:off x="4937760" y="425653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75" name="Text 72"/>
          <p:cNvSpPr txBox="1"/>
          <p:nvPr/>
        </p:nvSpPr>
        <p:spPr>
          <a:xfrm>
            <a:off x="6473952" y="422910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ou synthétique uniquement</a:t>
            </a:r>
            <a:endParaRPr lang="en-US" sz="1000" dirty="0"/>
          </a:p>
        </p:txBody>
      </p:sp>
      <p:sp>
        <p:nvSpPr>
          <p:cNvPr id="76" name="Text 73"/>
          <p:cNvSpPr txBox="1"/>
          <p:nvPr/>
        </p:nvSpPr>
        <p:spPr>
          <a:xfrm>
            <a:off x="457200" y="4590288"/>
            <a:ext cx="777240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Conditions vérifiées en septembre 2026 ; elles évoluent souvent — à confirmer le jour du labo.</a:t>
            </a:r>
            <a:endParaRPr lang="en-US" sz="8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CADRAGE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Accès rapide : scannez pour ouvrir chaque outil</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457200" y="1298448"/>
            <a:ext cx="1554480" cy="1536192"/>
          </a:xfrm>
          <a:prstGeom prst="roundRect">
            <a:avLst>
              <a:gd name="adj" fmla="val 4762"/>
            </a:avLst>
          </a:prstGeom>
          <a:solidFill>
            <a:srgbClr val="FFFFFF"/>
          </a:solidFill>
          <a:ln w="12700">
            <a:solidFill>
              <a:srgbClr val="00A86A"/>
            </a:solidFill>
            <a:prstDash val="solid"/>
          </a:ln>
        </p:spPr>
      </p:sp>
      <p:pic>
        <p:nvPicPr>
          <p:cNvPr id="18" name="Image 0" descr="/home/claude/lab10/qr/perplexity.png">
            <a:hlinkClick r:id="rId3"/>
          </p:cNvPr>
          <p:cNvPicPr>
            <a:picLocks noChangeAspect="1"/>
          </p:cNvPicPr>
          <p:nvPr/>
        </p:nvPicPr>
        <p:blipFill>
          <a:blip r:embed="rId4"/>
          <a:stretch>
            <a:fillRect/>
          </a:stretch>
        </p:blipFill>
        <p:spPr>
          <a:xfrm>
            <a:off x="768096" y="1371600"/>
            <a:ext cx="932688" cy="932688"/>
          </a:xfrm>
          <a:prstGeom prst="rect">
            <a:avLst/>
          </a:prstGeom>
        </p:spPr>
      </p:pic>
      <p:sp>
        <p:nvSpPr>
          <p:cNvPr id="19" name="Text 15"/>
          <p:cNvSpPr txBox="1"/>
          <p:nvPr/>
        </p:nvSpPr>
        <p:spPr>
          <a:xfrm>
            <a:off x="50292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Perplexity</a:t>
            </a:r>
            <a:endParaRPr lang="en-US" sz="1050" dirty="0"/>
          </a:p>
        </p:txBody>
      </p:sp>
      <p:sp>
        <p:nvSpPr>
          <p:cNvPr id="20" name="Text 16">
            <a:hlinkClick r:id="rId3"/>
          </p:cNvPr>
          <p:cNvSpPr txBox="1"/>
          <p:nvPr/>
        </p:nvSpPr>
        <p:spPr>
          <a:xfrm>
            <a:off x="50292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www.perplexity.ai</a:t>
            </a:r>
            <a:endParaRPr lang="en-US" sz="750" dirty="0"/>
          </a:p>
        </p:txBody>
      </p:sp>
      <p:sp>
        <p:nvSpPr>
          <p:cNvPr id="21" name="Shape 17"/>
          <p:cNvSpPr/>
          <p:nvPr/>
        </p:nvSpPr>
        <p:spPr>
          <a:xfrm>
            <a:off x="2125980" y="1298448"/>
            <a:ext cx="1554480" cy="1536192"/>
          </a:xfrm>
          <a:prstGeom prst="roundRect">
            <a:avLst>
              <a:gd name="adj" fmla="val 4762"/>
            </a:avLst>
          </a:prstGeom>
          <a:solidFill>
            <a:srgbClr val="FFFFFF"/>
          </a:solidFill>
          <a:ln w="12700">
            <a:solidFill>
              <a:srgbClr val="00704A"/>
            </a:solidFill>
            <a:prstDash val="solid"/>
          </a:ln>
        </p:spPr>
      </p:sp>
      <p:pic>
        <p:nvPicPr>
          <p:cNvPr id="22" name="Image 1" descr="/home/claude/lab10/qr/leapspace.png">
            <a:hlinkClick r:id="rId5"/>
          </p:cNvPr>
          <p:cNvPicPr>
            <a:picLocks noChangeAspect="1"/>
          </p:cNvPicPr>
          <p:nvPr/>
        </p:nvPicPr>
        <p:blipFill>
          <a:blip r:embed="rId6"/>
          <a:stretch>
            <a:fillRect/>
          </a:stretch>
        </p:blipFill>
        <p:spPr>
          <a:xfrm>
            <a:off x="2436876" y="1371600"/>
            <a:ext cx="932688" cy="932688"/>
          </a:xfrm>
          <a:prstGeom prst="rect">
            <a:avLst/>
          </a:prstGeom>
        </p:spPr>
      </p:pic>
      <p:sp>
        <p:nvSpPr>
          <p:cNvPr id="23" name="Text 18"/>
          <p:cNvSpPr txBox="1"/>
          <p:nvPr/>
        </p:nvSpPr>
        <p:spPr>
          <a:xfrm>
            <a:off x="217170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LeapSpace</a:t>
            </a:r>
            <a:endParaRPr lang="en-US" sz="1050" dirty="0"/>
          </a:p>
        </p:txBody>
      </p:sp>
      <p:sp>
        <p:nvSpPr>
          <p:cNvPr id="24" name="Text 19">
            <a:hlinkClick r:id="rId5"/>
          </p:cNvPr>
          <p:cNvSpPr txBox="1"/>
          <p:nvPr/>
        </p:nvSpPr>
        <p:spPr>
          <a:xfrm>
            <a:off x="217170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elsevier.com/…/leapspace</a:t>
            </a:r>
            <a:endParaRPr lang="en-US" sz="750" dirty="0"/>
          </a:p>
        </p:txBody>
      </p:sp>
      <p:sp>
        <p:nvSpPr>
          <p:cNvPr id="25" name="Shape 20"/>
          <p:cNvSpPr/>
          <p:nvPr/>
        </p:nvSpPr>
        <p:spPr>
          <a:xfrm>
            <a:off x="3794760" y="1298448"/>
            <a:ext cx="1554480" cy="1536192"/>
          </a:xfrm>
          <a:prstGeom prst="roundRect">
            <a:avLst>
              <a:gd name="adj" fmla="val 4762"/>
            </a:avLst>
          </a:prstGeom>
          <a:solidFill>
            <a:srgbClr val="FFFFFF"/>
          </a:solidFill>
          <a:ln w="12700">
            <a:solidFill>
              <a:srgbClr val="0E7C86"/>
            </a:solidFill>
            <a:prstDash val="solid"/>
          </a:ln>
        </p:spPr>
      </p:sp>
      <p:pic>
        <p:nvPicPr>
          <p:cNvPr id="26" name="Image 2" descr="/home/claude/lab10/qr/notebooklm.png">
            <a:hlinkClick r:id="rId7"/>
          </p:cNvPr>
          <p:cNvPicPr>
            <a:picLocks noChangeAspect="1"/>
          </p:cNvPicPr>
          <p:nvPr/>
        </p:nvPicPr>
        <p:blipFill>
          <a:blip r:embed="rId8"/>
          <a:stretch>
            <a:fillRect/>
          </a:stretch>
        </p:blipFill>
        <p:spPr>
          <a:xfrm>
            <a:off x="4105656" y="1371600"/>
            <a:ext cx="932688" cy="932688"/>
          </a:xfrm>
          <a:prstGeom prst="rect">
            <a:avLst/>
          </a:prstGeom>
        </p:spPr>
      </p:pic>
      <p:sp>
        <p:nvSpPr>
          <p:cNvPr id="27" name="Text 21"/>
          <p:cNvSpPr txBox="1"/>
          <p:nvPr/>
        </p:nvSpPr>
        <p:spPr>
          <a:xfrm>
            <a:off x="384048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NotebookLM</a:t>
            </a:r>
            <a:endParaRPr lang="en-US" sz="1050" dirty="0"/>
          </a:p>
        </p:txBody>
      </p:sp>
      <p:sp>
        <p:nvSpPr>
          <p:cNvPr id="28" name="Text 22">
            <a:hlinkClick r:id="rId7"/>
          </p:cNvPr>
          <p:cNvSpPr txBox="1"/>
          <p:nvPr/>
        </p:nvSpPr>
        <p:spPr>
          <a:xfrm>
            <a:off x="384048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notebooklm.google.com</a:t>
            </a:r>
            <a:endParaRPr lang="en-US" sz="750" dirty="0"/>
          </a:p>
        </p:txBody>
      </p:sp>
      <p:sp>
        <p:nvSpPr>
          <p:cNvPr id="29" name="Shape 23"/>
          <p:cNvSpPr/>
          <p:nvPr/>
        </p:nvSpPr>
        <p:spPr>
          <a:xfrm>
            <a:off x="5463540" y="1298448"/>
            <a:ext cx="1554480" cy="1536192"/>
          </a:xfrm>
          <a:prstGeom prst="roundRect">
            <a:avLst>
              <a:gd name="adj" fmla="val 4762"/>
            </a:avLst>
          </a:prstGeom>
          <a:solidFill>
            <a:srgbClr val="FFFFFF"/>
          </a:solidFill>
          <a:ln w="12700">
            <a:solidFill>
              <a:srgbClr val="D49A00"/>
            </a:solidFill>
            <a:prstDash val="solid"/>
          </a:ln>
        </p:spPr>
      </p:sp>
      <p:pic>
        <p:nvPicPr>
          <p:cNvPr id="30" name="Image 3" descr="/home/claude/lab10/qr/datacommons.png">
            <a:hlinkClick r:id="rId9"/>
          </p:cNvPr>
          <p:cNvPicPr>
            <a:picLocks noChangeAspect="1"/>
          </p:cNvPicPr>
          <p:nvPr/>
        </p:nvPicPr>
        <p:blipFill>
          <a:blip r:embed="rId10"/>
          <a:stretch>
            <a:fillRect/>
          </a:stretch>
        </p:blipFill>
        <p:spPr>
          <a:xfrm>
            <a:off x="5774436" y="1371600"/>
            <a:ext cx="932688" cy="932688"/>
          </a:xfrm>
          <a:prstGeom prst="rect">
            <a:avLst/>
          </a:prstGeom>
        </p:spPr>
      </p:pic>
      <p:sp>
        <p:nvSpPr>
          <p:cNvPr id="31" name="Text 24"/>
          <p:cNvSpPr txBox="1"/>
          <p:nvPr/>
        </p:nvSpPr>
        <p:spPr>
          <a:xfrm>
            <a:off x="550926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UN Data Commons</a:t>
            </a:r>
            <a:endParaRPr lang="en-US" sz="1050" dirty="0"/>
          </a:p>
        </p:txBody>
      </p:sp>
      <p:sp>
        <p:nvSpPr>
          <p:cNvPr id="32" name="Text 25">
            <a:hlinkClick r:id="rId9"/>
          </p:cNvPr>
          <p:cNvSpPr txBox="1"/>
          <p:nvPr/>
        </p:nvSpPr>
        <p:spPr>
          <a:xfrm>
            <a:off x="550926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data.un.org</a:t>
            </a:r>
            <a:endParaRPr lang="en-US" sz="750" dirty="0"/>
          </a:p>
        </p:txBody>
      </p:sp>
      <p:sp>
        <p:nvSpPr>
          <p:cNvPr id="33" name="Shape 26"/>
          <p:cNvSpPr/>
          <p:nvPr/>
        </p:nvSpPr>
        <p:spPr>
          <a:xfrm>
            <a:off x="7132320" y="1298448"/>
            <a:ext cx="1554480" cy="1536192"/>
          </a:xfrm>
          <a:prstGeom prst="roundRect">
            <a:avLst>
              <a:gd name="adj" fmla="val 4762"/>
            </a:avLst>
          </a:prstGeom>
          <a:solidFill>
            <a:srgbClr val="FFFFFF"/>
          </a:solidFill>
          <a:ln w="12700">
            <a:solidFill>
              <a:srgbClr val="C4621D"/>
            </a:solidFill>
            <a:prstDash val="solid"/>
          </a:ln>
        </p:spPr>
      </p:sp>
      <p:pic>
        <p:nvPicPr>
          <p:cNvPr id="34" name="Image 4" descr="/home/claude/lab10/qr/glm.png">
            <a:hlinkClick r:id="rId11"/>
          </p:cNvPr>
          <p:cNvPicPr>
            <a:picLocks noChangeAspect="1"/>
          </p:cNvPicPr>
          <p:nvPr/>
        </p:nvPicPr>
        <p:blipFill>
          <a:blip r:embed="rId12"/>
          <a:stretch>
            <a:fillRect/>
          </a:stretch>
        </p:blipFill>
        <p:spPr>
          <a:xfrm>
            <a:off x="7443216" y="1371600"/>
            <a:ext cx="932688" cy="932688"/>
          </a:xfrm>
          <a:prstGeom prst="rect">
            <a:avLst/>
          </a:prstGeom>
        </p:spPr>
      </p:pic>
      <p:sp>
        <p:nvSpPr>
          <p:cNvPr id="35" name="Text 27"/>
          <p:cNvSpPr txBox="1"/>
          <p:nvPr/>
        </p:nvSpPr>
        <p:spPr>
          <a:xfrm>
            <a:off x="717804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GLM · Z.ai</a:t>
            </a:r>
            <a:endParaRPr lang="en-US" sz="1050" dirty="0"/>
          </a:p>
        </p:txBody>
      </p:sp>
      <p:sp>
        <p:nvSpPr>
          <p:cNvPr id="36" name="Text 28">
            <a:hlinkClick r:id="rId11"/>
          </p:cNvPr>
          <p:cNvSpPr txBox="1"/>
          <p:nvPr/>
        </p:nvSpPr>
        <p:spPr>
          <a:xfrm>
            <a:off x="717804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chat.z.ai</a:t>
            </a:r>
            <a:endParaRPr lang="en-US" sz="750" dirty="0"/>
          </a:p>
        </p:txBody>
      </p:sp>
      <p:sp>
        <p:nvSpPr>
          <p:cNvPr id="37" name="Shape 29"/>
          <p:cNvSpPr/>
          <p:nvPr/>
        </p:nvSpPr>
        <p:spPr>
          <a:xfrm>
            <a:off x="457200" y="2944368"/>
            <a:ext cx="1554480" cy="1536192"/>
          </a:xfrm>
          <a:prstGeom prst="roundRect">
            <a:avLst>
              <a:gd name="adj" fmla="val 4762"/>
            </a:avLst>
          </a:prstGeom>
          <a:solidFill>
            <a:srgbClr val="FFFFFF"/>
          </a:solidFill>
          <a:ln w="12700">
            <a:solidFill>
              <a:srgbClr val="B83B2E"/>
            </a:solidFill>
            <a:prstDash val="solid"/>
          </a:ln>
        </p:spPr>
      </p:sp>
      <p:pic>
        <p:nvPicPr>
          <p:cNvPr id="38" name="Image 5" descr="/home/claude/lab10/qr/kimi.png">
            <a:hlinkClick r:id="rId13"/>
          </p:cNvPr>
          <p:cNvPicPr>
            <a:picLocks noChangeAspect="1"/>
          </p:cNvPicPr>
          <p:nvPr/>
        </p:nvPicPr>
        <p:blipFill>
          <a:blip r:embed="rId14"/>
          <a:stretch>
            <a:fillRect/>
          </a:stretch>
        </p:blipFill>
        <p:spPr>
          <a:xfrm>
            <a:off x="768096" y="3017520"/>
            <a:ext cx="932688" cy="932688"/>
          </a:xfrm>
          <a:prstGeom prst="rect">
            <a:avLst/>
          </a:prstGeom>
        </p:spPr>
      </p:pic>
      <p:sp>
        <p:nvSpPr>
          <p:cNvPr id="39" name="Text 30"/>
          <p:cNvSpPr txBox="1"/>
          <p:nvPr/>
        </p:nvSpPr>
        <p:spPr>
          <a:xfrm>
            <a:off x="50292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Kimi</a:t>
            </a:r>
            <a:endParaRPr lang="en-US" sz="1050" dirty="0"/>
          </a:p>
        </p:txBody>
      </p:sp>
      <p:sp>
        <p:nvSpPr>
          <p:cNvPr id="40" name="Text 31">
            <a:hlinkClick r:id="rId13"/>
          </p:cNvPr>
          <p:cNvSpPr txBox="1"/>
          <p:nvPr/>
        </p:nvSpPr>
        <p:spPr>
          <a:xfrm>
            <a:off x="50292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www.kimi.ai/</a:t>
            </a:r>
            <a:endParaRPr lang="en-US" sz="750" dirty="0"/>
          </a:p>
        </p:txBody>
      </p:sp>
      <p:sp>
        <p:nvSpPr>
          <p:cNvPr id="41" name="Shape 32"/>
          <p:cNvSpPr/>
          <p:nvPr/>
        </p:nvSpPr>
        <p:spPr>
          <a:xfrm>
            <a:off x="2125980" y="2944368"/>
            <a:ext cx="1554480" cy="1536192"/>
          </a:xfrm>
          <a:prstGeom prst="roundRect">
            <a:avLst>
              <a:gd name="adj" fmla="val 4762"/>
            </a:avLst>
          </a:prstGeom>
          <a:solidFill>
            <a:srgbClr val="FFFFFF"/>
          </a:solidFill>
          <a:ln w="12700">
            <a:solidFill>
              <a:srgbClr val="00A86A"/>
            </a:solidFill>
            <a:prstDash val="solid"/>
          </a:ln>
        </p:spPr>
      </p:sp>
      <p:pic>
        <p:nvPicPr>
          <p:cNvPr id="42" name="Image 6" descr="/home/claude/lab10/qr/nanobanana.png">
            <a:hlinkClick r:id="rId15"/>
          </p:cNvPr>
          <p:cNvPicPr>
            <a:picLocks noChangeAspect="1"/>
          </p:cNvPicPr>
          <p:nvPr/>
        </p:nvPicPr>
        <p:blipFill>
          <a:blip r:embed="rId16"/>
          <a:stretch>
            <a:fillRect/>
          </a:stretch>
        </p:blipFill>
        <p:spPr>
          <a:xfrm>
            <a:off x="2436876" y="3017520"/>
            <a:ext cx="932688" cy="932688"/>
          </a:xfrm>
          <a:prstGeom prst="rect">
            <a:avLst/>
          </a:prstGeom>
        </p:spPr>
      </p:pic>
      <p:sp>
        <p:nvSpPr>
          <p:cNvPr id="43" name="Text 33"/>
          <p:cNvSpPr txBox="1"/>
          <p:nvPr/>
        </p:nvSpPr>
        <p:spPr>
          <a:xfrm>
            <a:off x="217170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Nano Banana (Gemini)</a:t>
            </a:r>
            <a:endParaRPr lang="en-US" sz="1050" dirty="0"/>
          </a:p>
        </p:txBody>
      </p:sp>
      <p:sp>
        <p:nvSpPr>
          <p:cNvPr id="44" name="Text 34">
            <a:hlinkClick r:id="rId15"/>
          </p:cNvPr>
          <p:cNvSpPr txBox="1"/>
          <p:nvPr/>
        </p:nvSpPr>
        <p:spPr>
          <a:xfrm>
            <a:off x="217170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gemini.google.com</a:t>
            </a:r>
            <a:endParaRPr lang="en-US" sz="750" dirty="0"/>
          </a:p>
        </p:txBody>
      </p:sp>
      <p:sp>
        <p:nvSpPr>
          <p:cNvPr id="45" name="Shape 35"/>
          <p:cNvSpPr/>
          <p:nvPr/>
        </p:nvSpPr>
        <p:spPr>
          <a:xfrm>
            <a:off x="3794760" y="2944368"/>
            <a:ext cx="1554480" cy="1536192"/>
          </a:xfrm>
          <a:prstGeom prst="roundRect">
            <a:avLst>
              <a:gd name="adj" fmla="val 4762"/>
            </a:avLst>
          </a:prstGeom>
          <a:solidFill>
            <a:srgbClr val="FFFFFF"/>
          </a:solidFill>
          <a:ln w="12700">
            <a:solidFill>
              <a:srgbClr val="00704A"/>
            </a:solidFill>
            <a:prstDash val="solid"/>
          </a:ln>
        </p:spPr>
      </p:sp>
      <p:pic>
        <p:nvPicPr>
          <p:cNvPr id="46" name="Image 7" descr="/home/claude/lab10/qr/flow.png">
            <a:hlinkClick r:id="rId17"/>
          </p:cNvPr>
          <p:cNvPicPr>
            <a:picLocks noChangeAspect="1"/>
          </p:cNvPicPr>
          <p:nvPr/>
        </p:nvPicPr>
        <p:blipFill>
          <a:blip r:embed="rId18"/>
          <a:stretch>
            <a:fillRect/>
          </a:stretch>
        </p:blipFill>
        <p:spPr>
          <a:xfrm>
            <a:off x="4105656" y="3017520"/>
            <a:ext cx="932688" cy="932688"/>
          </a:xfrm>
          <a:prstGeom prst="rect">
            <a:avLst/>
          </a:prstGeom>
        </p:spPr>
      </p:pic>
      <p:sp>
        <p:nvSpPr>
          <p:cNvPr id="47" name="Text 36"/>
          <p:cNvSpPr txBox="1"/>
          <p:nvPr/>
        </p:nvSpPr>
        <p:spPr>
          <a:xfrm>
            <a:off x="384048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Google Flow</a:t>
            </a:r>
            <a:endParaRPr lang="en-US" sz="1050" dirty="0"/>
          </a:p>
        </p:txBody>
      </p:sp>
      <p:sp>
        <p:nvSpPr>
          <p:cNvPr id="48" name="Text 37">
            <a:hlinkClick r:id="rId17"/>
          </p:cNvPr>
          <p:cNvSpPr txBox="1"/>
          <p:nvPr/>
        </p:nvSpPr>
        <p:spPr>
          <a:xfrm>
            <a:off x="384048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labs.google/fx/tools/flow</a:t>
            </a:r>
            <a:endParaRPr lang="en-US" sz="750" dirty="0"/>
          </a:p>
        </p:txBody>
      </p:sp>
      <p:sp>
        <p:nvSpPr>
          <p:cNvPr id="49" name="Shape 38"/>
          <p:cNvSpPr/>
          <p:nvPr/>
        </p:nvSpPr>
        <p:spPr>
          <a:xfrm>
            <a:off x="5463540" y="2944368"/>
            <a:ext cx="1554480" cy="1536192"/>
          </a:xfrm>
          <a:prstGeom prst="roundRect">
            <a:avLst>
              <a:gd name="adj" fmla="val 4762"/>
            </a:avLst>
          </a:prstGeom>
          <a:solidFill>
            <a:srgbClr val="FFFFFF"/>
          </a:solidFill>
          <a:ln w="12700">
            <a:solidFill>
              <a:srgbClr val="0E7C86"/>
            </a:solidFill>
            <a:prstDash val="solid"/>
          </a:ln>
        </p:spPr>
      </p:sp>
      <p:pic>
        <p:nvPicPr>
          <p:cNvPr id="50" name="Image 8" descr="/home/claude/lab10/qr/jev.png">
            <a:hlinkClick r:id="rId19"/>
          </p:cNvPr>
          <p:cNvPicPr>
            <a:picLocks noChangeAspect="1"/>
          </p:cNvPicPr>
          <p:nvPr/>
        </p:nvPicPr>
        <p:blipFill>
          <a:blip r:embed="rId20"/>
          <a:stretch>
            <a:fillRect/>
          </a:stretch>
        </p:blipFill>
        <p:spPr>
          <a:xfrm>
            <a:off x="5774436" y="3017520"/>
            <a:ext cx="932688" cy="932688"/>
          </a:xfrm>
          <a:prstGeom prst="rect">
            <a:avLst/>
          </a:prstGeom>
        </p:spPr>
      </p:pic>
      <p:sp>
        <p:nvSpPr>
          <p:cNvPr id="51" name="Text 39"/>
          <p:cNvSpPr txBox="1"/>
          <p:nvPr/>
        </p:nvSpPr>
        <p:spPr>
          <a:xfrm>
            <a:off x="550926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Jev (TypeSafe)</a:t>
            </a:r>
            <a:endParaRPr lang="en-US" sz="1050" dirty="0"/>
          </a:p>
        </p:txBody>
      </p:sp>
      <p:sp>
        <p:nvSpPr>
          <p:cNvPr id="52" name="Text 40">
            <a:hlinkClick r:id="rId19"/>
          </p:cNvPr>
          <p:cNvSpPr txBox="1"/>
          <p:nvPr/>
        </p:nvSpPr>
        <p:spPr>
          <a:xfrm>
            <a:off x="550926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9">
                  <a:extLst>
                    <a:ext uri="{A12FA001-AC4F-418D-AE19-62706E023703}">
                      <ahyp:hlinkClr xmlns:ahyp="http://schemas.microsoft.com/office/drawing/2018/hyperlinkcolor" val="tx"/>
                    </a:ext>
                  </a:extLst>
                </a:hlinkClick>
              </a:rPr>
              <a:t>console.typesafe.ai</a:t>
            </a:r>
            <a:endParaRPr lang="en-US" sz="750" dirty="0"/>
          </a:p>
        </p:txBody>
      </p:sp>
      <p:sp>
        <p:nvSpPr>
          <p:cNvPr id="53" name="Shape 41"/>
          <p:cNvSpPr/>
          <p:nvPr/>
        </p:nvSpPr>
        <p:spPr>
          <a:xfrm>
            <a:off x="7132320" y="2944368"/>
            <a:ext cx="1554480" cy="1536192"/>
          </a:xfrm>
          <a:prstGeom prst="roundRect">
            <a:avLst>
              <a:gd name="adj" fmla="val 4762"/>
            </a:avLst>
          </a:prstGeom>
          <a:solidFill>
            <a:srgbClr val="FFFFFF"/>
          </a:solidFill>
          <a:ln w="12700">
            <a:solidFill>
              <a:srgbClr val="D49A00"/>
            </a:solidFill>
            <a:prstDash val="solid"/>
          </a:ln>
        </p:spPr>
      </p:sp>
      <p:pic>
        <p:nvPicPr>
          <p:cNvPr id="54" name="Image 9" descr="/home/claude/lab10/qr/lechat.png">
            <a:hlinkClick r:id="rId21"/>
          </p:cNvPr>
          <p:cNvPicPr>
            <a:picLocks noChangeAspect="1"/>
          </p:cNvPicPr>
          <p:nvPr/>
        </p:nvPicPr>
        <p:blipFill>
          <a:blip r:embed="rId22"/>
          <a:stretch>
            <a:fillRect/>
          </a:stretch>
        </p:blipFill>
        <p:spPr>
          <a:xfrm>
            <a:off x="7443216" y="3017520"/>
            <a:ext cx="932688" cy="932688"/>
          </a:xfrm>
          <a:prstGeom prst="rect">
            <a:avLst/>
          </a:prstGeom>
        </p:spPr>
      </p:pic>
      <p:sp>
        <p:nvSpPr>
          <p:cNvPr id="55" name="Text 42"/>
          <p:cNvSpPr txBox="1"/>
          <p:nvPr/>
        </p:nvSpPr>
        <p:spPr>
          <a:xfrm>
            <a:off x="717804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Le Chat (Mistral)</a:t>
            </a:r>
            <a:endParaRPr lang="en-US" sz="1050" dirty="0"/>
          </a:p>
        </p:txBody>
      </p:sp>
      <p:sp>
        <p:nvSpPr>
          <p:cNvPr id="56" name="Text 43">
            <a:hlinkClick r:id="rId21"/>
          </p:cNvPr>
          <p:cNvSpPr txBox="1"/>
          <p:nvPr/>
        </p:nvSpPr>
        <p:spPr>
          <a:xfrm>
            <a:off x="717804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21">
                  <a:extLst>
                    <a:ext uri="{A12FA001-AC4F-418D-AE19-62706E023703}">
                      <ahyp:hlinkClr xmlns:ahyp="http://schemas.microsoft.com/office/drawing/2018/hyperlinkcolor" val="tx"/>
                    </a:ext>
                  </a:extLst>
                </a:hlinkClick>
              </a:rPr>
              <a:t>chat.mistral.ai</a:t>
            </a:r>
            <a:endParaRPr lang="en-US" sz="7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CADRAGE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Une méthode de test commune pour les dix outils</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71600"/>
            <a:ext cx="1517904" cy="1371600"/>
          </a:xfrm>
          <a:prstGeom prst="roundRect">
            <a:avLst>
              <a:gd name="adj" fmla="val 5333"/>
            </a:avLst>
          </a:prstGeom>
          <a:solidFill>
            <a:srgbClr val="F4F7F5"/>
          </a:solidFill>
          <a:ln w="9525">
            <a:solidFill>
              <a:srgbClr val="D5DED9"/>
            </a:solidFill>
            <a:prstDash val="solid"/>
          </a:ln>
        </p:spPr>
      </p:sp>
      <p:sp>
        <p:nvSpPr>
          <p:cNvPr id="18" name="Text 15"/>
          <p:cNvSpPr txBox="1"/>
          <p:nvPr/>
        </p:nvSpPr>
        <p:spPr>
          <a:xfrm>
            <a:off x="585216" y="1463040"/>
            <a:ext cx="731520" cy="411480"/>
          </a:xfrm>
          <a:prstGeom prst="rect">
            <a:avLst/>
          </a:prstGeom>
          <a:noFill/>
          <a:ln/>
        </p:spPr>
        <p:txBody>
          <a:bodyPr wrap="square" lIns="0" tIns="0" rIns="0" bIns="0" rtlCol="0" anchor="t"/>
          <a:lstStyle/>
          <a:p>
            <a:pPr marL="0" indent="0">
              <a:buNone/>
            </a:pPr>
            <a:r>
              <a:rPr lang="en-US" sz="2400" b="1" dirty="0">
                <a:solidFill>
                  <a:srgbClr val="00A86A"/>
                </a:solidFill>
                <a:latin typeface="Calibri" pitchFamily="34" charset="0"/>
                <a:ea typeface="Calibri" pitchFamily="34" charset="-122"/>
                <a:cs typeface="Calibri" pitchFamily="34" charset="-120"/>
              </a:rPr>
              <a:t>01</a:t>
            </a:r>
            <a:endParaRPr lang="en-US" sz="2400" dirty="0"/>
          </a:p>
        </p:txBody>
      </p:sp>
      <p:sp>
        <p:nvSpPr>
          <p:cNvPr id="19" name="Shape 16"/>
          <p:cNvSpPr/>
          <p:nvPr/>
        </p:nvSpPr>
        <p:spPr>
          <a:xfrm>
            <a:off x="1444752" y="1481328"/>
            <a:ext cx="402336" cy="402336"/>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1545336" y="1581912"/>
            <a:ext cx="201168" cy="201168"/>
          </a:xfrm>
          <a:prstGeom prst="rect">
            <a:avLst/>
          </a:prstGeom>
        </p:spPr>
      </p:pic>
      <p:sp>
        <p:nvSpPr>
          <p:cNvPr id="21" name="Text 17"/>
          <p:cNvSpPr txBox="1"/>
          <p:nvPr/>
        </p:nvSpPr>
        <p:spPr>
          <a:xfrm>
            <a:off x="585216"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Cas d'usage</a:t>
            </a:r>
            <a:endParaRPr lang="en-US" sz="1300" dirty="0"/>
          </a:p>
        </p:txBody>
      </p:sp>
      <p:sp>
        <p:nvSpPr>
          <p:cNvPr id="22" name="Text 18"/>
          <p:cNvSpPr txBox="1"/>
          <p:nvPr/>
        </p:nvSpPr>
        <p:spPr>
          <a:xfrm>
            <a:off x="585216"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Une tâche réelle de l'institut</a:t>
            </a:r>
            <a:endParaRPr lang="en-US" sz="1000" dirty="0"/>
          </a:p>
        </p:txBody>
      </p:sp>
      <p:pic>
        <p:nvPicPr>
          <p:cNvPr id="23" name="Image 1" descr="preencoded.png"/>
          <p:cNvPicPr>
            <a:picLocks noChangeAspect="1"/>
          </p:cNvPicPr>
          <p:nvPr/>
        </p:nvPicPr>
        <p:blipFill>
          <a:blip r:embed="rId4"/>
          <a:stretch>
            <a:fillRect/>
          </a:stretch>
        </p:blipFill>
        <p:spPr>
          <a:xfrm>
            <a:off x="1993392" y="2057400"/>
            <a:ext cx="118872" cy="182880"/>
          </a:xfrm>
          <a:prstGeom prst="rect">
            <a:avLst/>
          </a:prstGeom>
        </p:spPr>
      </p:pic>
      <p:sp>
        <p:nvSpPr>
          <p:cNvPr id="24" name="Shape 19"/>
          <p:cNvSpPr/>
          <p:nvPr/>
        </p:nvSpPr>
        <p:spPr>
          <a:xfrm>
            <a:off x="2135124" y="1371600"/>
            <a:ext cx="1517904" cy="1371600"/>
          </a:xfrm>
          <a:prstGeom prst="roundRect">
            <a:avLst>
              <a:gd name="adj" fmla="val 5333"/>
            </a:avLst>
          </a:prstGeom>
          <a:solidFill>
            <a:srgbClr val="F4F7F5"/>
          </a:solidFill>
          <a:ln w="9525">
            <a:solidFill>
              <a:srgbClr val="D5DED9"/>
            </a:solidFill>
            <a:prstDash val="solid"/>
          </a:ln>
        </p:spPr>
      </p:sp>
      <p:sp>
        <p:nvSpPr>
          <p:cNvPr id="25" name="Text 20"/>
          <p:cNvSpPr txBox="1"/>
          <p:nvPr/>
        </p:nvSpPr>
        <p:spPr>
          <a:xfrm>
            <a:off x="2263140" y="1463040"/>
            <a:ext cx="731520" cy="411480"/>
          </a:xfrm>
          <a:prstGeom prst="rect">
            <a:avLst/>
          </a:prstGeom>
          <a:noFill/>
          <a:ln/>
        </p:spPr>
        <p:txBody>
          <a:bodyPr wrap="square" lIns="0" tIns="0" rIns="0" bIns="0" rtlCol="0" anchor="t"/>
          <a:lstStyle/>
          <a:p>
            <a:pPr marL="0" indent="0">
              <a:buNone/>
            </a:pPr>
            <a:r>
              <a:rPr lang="en-US" sz="2400" b="1" dirty="0">
                <a:solidFill>
                  <a:srgbClr val="00704A"/>
                </a:solidFill>
                <a:latin typeface="Calibri" pitchFamily="34" charset="0"/>
                <a:ea typeface="Calibri" pitchFamily="34" charset="-122"/>
                <a:cs typeface="Calibri" pitchFamily="34" charset="-120"/>
              </a:rPr>
              <a:t>02</a:t>
            </a:r>
            <a:endParaRPr lang="en-US" sz="2400" dirty="0"/>
          </a:p>
        </p:txBody>
      </p:sp>
      <p:sp>
        <p:nvSpPr>
          <p:cNvPr id="26" name="Shape 21"/>
          <p:cNvSpPr/>
          <p:nvPr/>
        </p:nvSpPr>
        <p:spPr>
          <a:xfrm>
            <a:off x="3122676" y="1481328"/>
            <a:ext cx="402336" cy="402336"/>
          </a:xfrm>
          <a:prstGeom prst="ellipse">
            <a:avLst/>
          </a:prstGeom>
          <a:solidFill>
            <a:srgbClr val="00704A">
              <a:alpha val="22000"/>
            </a:srgbClr>
          </a:solidFill>
          <a:ln/>
        </p:spPr>
      </p:sp>
      <p:pic>
        <p:nvPicPr>
          <p:cNvPr id="27" name="Image 2" descr="preencoded.png"/>
          <p:cNvPicPr>
            <a:picLocks noChangeAspect="1"/>
          </p:cNvPicPr>
          <p:nvPr/>
        </p:nvPicPr>
        <p:blipFill>
          <a:blip r:embed="rId5"/>
          <a:stretch>
            <a:fillRect/>
          </a:stretch>
        </p:blipFill>
        <p:spPr>
          <a:xfrm>
            <a:off x="3223260" y="1581912"/>
            <a:ext cx="201168" cy="201168"/>
          </a:xfrm>
          <a:prstGeom prst="rect">
            <a:avLst/>
          </a:prstGeom>
        </p:spPr>
      </p:pic>
      <p:sp>
        <p:nvSpPr>
          <p:cNvPr id="28" name="Text 22"/>
          <p:cNvSpPr txBox="1"/>
          <p:nvPr/>
        </p:nvSpPr>
        <p:spPr>
          <a:xfrm>
            <a:off x="2263140"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Pas à pas</a:t>
            </a:r>
            <a:endParaRPr lang="en-US" sz="1300" dirty="0"/>
          </a:p>
        </p:txBody>
      </p:sp>
      <p:sp>
        <p:nvSpPr>
          <p:cNvPr id="29" name="Text 23"/>
          <p:cNvSpPr txBox="1"/>
          <p:nvPr/>
        </p:nvSpPr>
        <p:spPr>
          <a:xfrm>
            <a:off x="2263140"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4 étapes dans l'outil</a:t>
            </a:r>
            <a:endParaRPr lang="en-US" sz="1000" dirty="0"/>
          </a:p>
        </p:txBody>
      </p:sp>
      <p:pic>
        <p:nvPicPr>
          <p:cNvPr id="30" name="Image 3" descr="preencoded.png"/>
          <p:cNvPicPr>
            <a:picLocks noChangeAspect="1"/>
          </p:cNvPicPr>
          <p:nvPr/>
        </p:nvPicPr>
        <p:blipFill>
          <a:blip r:embed="rId4"/>
          <a:stretch>
            <a:fillRect/>
          </a:stretch>
        </p:blipFill>
        <p:spPr>
          <a:xfrm>
            <a:off x="3671316" y="2057400"/>
            <a:ext cx="118872" cy="182880"/>
          </a:xfrm>
          <a:prstGeom prst="rect">
            <a:avLst/>
          </a:prstGeom>
        </p:spPr>
      </p:pic>
      <p:sp>
        <p:nvSpPr>
          <p:cNvPr id="31" name="Shape 24"/>
          <p:cNvSpPr/>
          <p:nvPr/>
        </p:nvSpPr>
        <p:spPr>
          <a:xfrm>
            <a:off x="3813048" y="1371600"/>
            <a:ext cx="1517904" cy="1371600"/>
          </a:xfrm>
          <a:prstGeom prst="roundRect">
            <a:avLst>
              <a:gd name="adj" fmla="val 5333"/>
            </a:avLst>
          </a:prstGeom>
          <a:solidFill>
            <a:srgbClr val="F4F7F5"/>
          </a:solidFill>
          <a:ln w="9525">
            <a:solidFill>
              <a:srgbClr val="D5DED9"/>
            </a:solidFill>
            <a:prstDash val="solid"/>
          </a:ln>
        </p:spPr>
      </p:sp>
      <p:sp>
        <p:nvSpPr>
          <p:cNvPr id="32" name="Text 25"/>
          <p:cNvSpPr txBox="1"/>
          <p:nvPr/>
        </p:nvSpPr>
        <p:spPr>
          <a:xfrm>
            <a:off x="3941064" y="1463040"/>
            <a:ext cx="731520" cy="411480"/>
          </a:xfrm>
          <a:prstGeom prst="rect">
            <a:avLst/>
          </a:prstGeom>
          <a:noFill/>
          <a:ln/>
        </p:spPr>
        <p:txBody>
          <a:bodyPr wrap="square" lIns="0" tIns="0" rIns="0" bIns="0" rtlCol="0" anchor="t"/>
          <a:lstStyle/>
          <a:p>
            <a:pPr marL="0" indent="0">
              <a:buNone/>
            </a:pPr>
            <a:r>
              <a:rPr lang="en-US" sz="2400" b="1" dirty="0">
                <a:solidFill>
                  <a:srgbClr val="0E7C86"/>
                </a:solidFill>
                <a:latin typeface="Calibri" pitchFamily="34" charset="0"/>
                <a:ea typeface="Calibri" pitchFamily="34" charset="-122"/>
                <a:cs typeface="Calibri" pitchFamily="34" charset="-120"/>
              </a:rPr>
              <a:t>03</a:t>
            </a:r>
            <a:endParaRPr lang="en-US" sz="2400" dirty="0"/>
          </a:p>
        </p:txBody>
      </p:sp>
      <p:sp>
        <p:nvSpPr>
          <p:cNvPr id="33" name="Shape 26"/>
          <p:cNvSpPr/>
          <p:nvPr/>
        </p:nvSpPr>
        <p:spPr>
          <a:xfrm>
            <a:off x="4800600" y="1481328"/>
            <a:ext cx="402336" cy="402336"/>
          </a:xfrm>
          <a:prstGeom prst="ellipse">
            <a:avLst/>
          </a:prstGeom>
          <a:solidFill>
            <a:srgbClr val="0E7C86">
              <a:alpha val="22000"/>
            </a:srgbClr>
          </a:solidFill>
          <a:ln/>
        </p:spPr>
      </p:sp>
      <p:pic>
        <p:nvPicPr>
          <p:cNvPr id="34" name="Image 4" descr="preencoded.png"/>
          <p:cNvPicPr>
            <a:picLocks noChangeAspect="1"/>
          </p:cNvPicPr>
          <p:nvPr/>
        </p:nvPicPr>
        <p:blipFill>
          <a:blip r:embed="rId6"/>
          <a:stretch>
            <a:fillRect/>
          </a:stretch>
        </p:blipFill>
        <p:spPr>
          <a:xfrm>
            <a:off x="4901184" y="1581912"/>
            <a:ext cx="201168" cy="201168"/>
          </a:xfrm>
          <a:prstGeom prst="rect">
            <a:avLst/>
          </a:prstGeom>
        </p:spPr>
      </p:pic>
      <p:sp>
        <p:nvSpPr>
          <p:cNvPr id="35" name="Text 27"/>
          <p:cNvSpPr txBox="1"/>
          <p:nvPr/>
        </p:nvSpPr>
        <p:spPr>
          <a:xfrm>
            <a:off x="3941064"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Prompt</a:t>
            </a:r>
            <a:endParaRPr lang="en-US" sz="1300" dirty="0"/>
          </a:p>
        </p:txBody>
      </p:sp>
      <p:sp>
        <p:nvSpPr>
          <p:cNvPr id="36" name="Text 28"/>
          <p:cNvSpPr txBox="1"/>
          <p:nvPr/>
        </p:nvSpPr>
        <p:spPr>
          <a:xfrm>
            <a:off x="3941064"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Prêt à copier, à adapter</a:t>
            </a:r>
            <a:endParaRPr lang="en-US" sz="1000" dirty="0"/>
          </a:p>
        </p:txBody>
      </p:sp>
      <p:pic>
        <p:nvPicPr>
          <p:cNvPr id="37" name="Image 5" descr="preencoded.png"/>
          <p:cNvPicPr>
            <a:picLocks noChangeAspect="1"/>
          </p:cNvPicPr>
          <p:nvPr/>
        </p:nvPicPr>
        <p:blipFill>
          <a:blip r:embed="rId4"/>
          <a:stretch>
            <a:fillRect/>
          </a:stretch>
        </p:blipFill>
        <p:spPr>
          <a:xfrm>
            <a:off x="5349240" y="2057400"/>
            <a:ext cx="118872" cy="182880"/>
          </a:xfrm>
          <a:prstGeom prst="rect">
            <a:avLst/>
          </a:prstGeom>
        </p:spPr>
      </p:pic>
      <p:sp>
        <p:nvSpPr>
          <p:cNvPr id="38" name="Shape 29"/>
          <p:cNvSpPr/>
          <p:nvPr/>
        </p:nvSpPr>
        <p:spPr>
          <a:xfrm>
            <a:off x="5490972" y="1371600"/>
            <a:ext cx="1517904" cy="1371600"/>
          </a:xfrm>
          <a:prstGeom prst="roundRect">
            <a:avLst>
              <a:gd name="adj" fmla="val 5333"/>
            </a:avLst>
          </a:prstGeom>
          <a:solidFill>
            <a:srgbClr val="F4F7F5"/>
          </a:solidFill>
          <a:ln w="9525">
            <a:solidFill>
              <a:srgbClr val="D5DED9"/>
            </a:solidFill>
            <a:prstDash val="solid"/>
          </a:ln>
        </p:spPr>
      </p:sp>
      <p:sp>
        <p:nvSpPr>
          <p:cNvPr id="39" name="Text 30"/>
          <p:cNvSpPr txBox="1"/>
          <p:nvPr/>
        </p:nvSpPr>
        <p:spPr>
          <a:xfrm>
            <a:off x="5618988" y="1463040"/>
            <a:ext cx="731520" cy="411480"/>
          </a:xfrm>
          <a:prstGeom prst="rect">
            <a:avLst/>
          </a:prstGeom>
          <a:noFill/>
          <a:ln/>
        </p:spPr>
        <p:txBody>
          <a:bodyPr wrap="square" lIns="0" tIns="0" rIns="0" bIns="0" rtlCol="0" anchor="t"/>
          <a:lstStyle/>
          <a:p>
            <a:pPr marL="0" indent="0">
              <a:buNone/>
            </a:pPr>
            <a:r>
              <a:rPr lang="en-US" sz="2400" b="1" dirty="0">
                <a:solidFill>
                  <a:srgbClr val="D49A00"/>
                </a:solidFill>
                <a:latin typeface="Calibri" pitchFamily="34" charset="0"/>
                <a:ea typeface="Calibri" pitchFamily="34" charset="-122"/>
                <a:cs typeface="Calibri" pitchFamily="34" charset="-120"/>
              </a:rPr>
              <a:t>04</a:t>
            </a:r>
            <a:endParaRPr lang="en-US" sz="2400" dirty="0"/>
          </a:p>
        </p:txBody>
      </p:sp>
      <p:sp>
        <p:nvSpPr>
          <p:cNvPr id="40" name="Shape 31"/>
          <p:cNvSpPr/>
          <p:nvPr/>
        </p:nvSpPr>
        <p:spPr>
          <a:xfrm>
            <a:off x="6478524" y="1481328"/>
            <a:ext cx="402336" cy="402336"/>
          </a:xfrm>
          <a:prstGeom prst="ellipse">
            <a:avLst/>
          </a:prstGeom>
          <a:solidFill>
            <a:srgbClr val="D49A00">
              <a:alpha val="22000"/>
            </a:srgbClr>
          </a:solidFill>
          <a:ln/>
        </p:spPr>
      </p:sp>
      <p:pic>
        <p:nvPicPr>
          <p:cNvPr id="41" name="Image 6" descr="preencoded.png"/>
          <p:cNvPicPr>
            <a:picLocks noChangeAspect="1"/>
          </p:cNvPicPr>
          <p:nvPr/>
        </p:nvPicPr>
        <p:blipFill>
          <a:blip r:embed="rId7"/>
          <a:stretch>
            <a:fillRect/>
          </a:stretch>
        </p:blipFill>
        <p:spPr>
          <a:xfrm>
            <a:off x="6579108" y="1581912"/>
            <a:ext cx="201168" cy="201168"/>
          </a:xfrm>
          <a:prstGeom prst="rect">
            <a:avLst/>
          </a:prstGeom>
        </p:spPr>
      </p:pic>
      <p:sp>
        <p:nvSpPr>
          <p:cNvPr id="42" name="Text 32"/>
          <p:cNvSpPr txBox="1"/>
          <p:nvPr/>
        </p:nvSpPr>
        <p:spPr>
          <a:xfrm>
            <a:off x="5618988"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Vérifier</a:t>
            </a:r>
            <a:endParaRPr lang="en-US" sz="1300" dirty="0"/>
          </a:p>
        </p:txBody>
      </p:sp>
      <p:sp>
        <p:nvSpPr>
          <p:cNvPr id="43" name="Text 33"/>
          <p:cNvSpPr txBox="1"/>
          <p:nvPr/>
        </p:nvSpPr>
        <p:spPr>
          <a:xfrm>
            <a:off x="5618988"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Contrôle face à la source</a:t>
            </a:r>
            <a:endParaRPr lang="en-US" sz="1000" dirty="0"/>
          </a:p>
        </p:txBody>
      </p:sp>
      <p:pic>
        <p:nvPicPr>
          <p:cNvPr id="44" name="Image 7" descr="preencoded.png"/>
          <p:cNvPicPr>
            <a:picLocks noChangeAspect="1"/>
          </p:cNvPicPr>
          <p:nvPr/>
        </p:nvPicPr>
        <p:blipFill>
          <a:blip r:embed="rId4"/>
          <a:stretch>
            <a:fillRect/>
          </a:stretch>
        </p:blipFill>
        <p:spPr>
          <a:xfrm>
            <a:off x="7027164" y="2057400"/>
            <a:ext cx="118872" cy="182880"/>
          </a:xfrm>
          <a:prstGeom prst="rect">
            <a:avLst/>
          </a:prstGeom>
        </p:spPr>
      </p:pic>
      <p:sp>
        <p:nvSpPr>
          <p:cNvPr id="45" name="Shape 34"/>
          <p:cNvSpPr/>
          <p:nvPr/>
        </p:nvSpPr>
        <p:spPr>
          <a:xfrm>
            <a:off x="7168896" y="1371600"/>
            <a:ext cx="1517904" cy="1371600"/>
          </a:xfrm>
          <a:prstGeom prst="roundRect">
            <a:avLst>
              <a:gd name="adj" fmla="val 5333"/>
            </a:avLst>
          </a:prstGeom>
          <a:solidFill>
            <a:srgbClr val="E8F5EF"/>
          </a:solidFill>
          <a:ln w="15875">
            <a:solidFill>
              <a:srgbClr val="00A86A"/>
            </a:solidFill>
            <a:prstDash val="solid"/>
          </a:ln>
        </p:spPr>
      </p:sp>
      <p:sp>
        <p:nvSpPr>
          <p:cNvPr id="46" name="Text 35"/>
          <p:cNvSpPr txBox="1"/>
          <p:nvPr/>
        </p:nvSpPr>
        <p:spPr>
          <a:xfrm>
            <a:off x="7296912" y="1463040"/>
            <a:ext cx="731520" cy="411480"/>
          </a:xfrm>
          <a:prstGeom prst="rect">
            <a:avLst/>
          </a:prstGeom>
          <a:noFill/>
          <a:ln/>
        </p:spPr>
        <p:txBody>
          <a:bodyPr wrap="square" lIns="0" tIns="0" rIns="0" bIns="0" rtlCol="0" anchor="t"/>
          <a:lstStyle/>
          <a:p>
            <a:pPr marL="0" indent="0">
              <a:buNone/>
            </a:pPr>
            <a:r>
              <a:rPr lang="en-US" sz="2400" b="1" dirty="0">
                <a:solidFill>
                  <a:srgbClr val="C4621D"/>
                </a:solidFill>
                <a:latin typeface="Calibri" pitchFamily="34" charset="0"/>
                <a:ea typeface="Calibri" pitchFamily="34" charset="-122"/>
                <a:cs typeface="Calibri" pitchFamily="34" charset="-120"/>
              </a:rPr>
              <a:t>05</a:t>
            </a:r>
            <a:endParaRPr lang="en-US" sz="2400" dirty="0"/>
          </a:p>
        </p:txBody>
      </p:sp>
      <p:sp>
        <p:nvSpPr>
          <p:cNvPr id="47" name="Shape 36"/>
          <p:cNvSpPr/>
          <p:nvPr/>
        </p:nvSpPr>
        <p:spPr>
          <a:xfrm>
            <a:off x="8156448" y="1481328"/>
            <a:ext cx="402336" cy="402336"/>
          </a:xfrm>
          <a:prstGeom prst="ellipse">
            <a:avLst/>
          </a:prstGeom>
          <a:solidFill>
            <a:srgbClr val="C4621D">
              <a:alpha val="22000"/>
            </a:srgbClr>
          </a:solidFill>
          <a:ln/>
        </p:spPr>
      </p:sp>
      <p:pic>
        <p:nvPicPr>
          <p:cNvPr id="48" name="Image 8" descr="preencoded.png"/>
          <p:cNvPicPr>
            <a:picLocks noChangeAspect="1"/>
          </p:cNvPicPr>
          <p:nvPr/>
        </p:nvPicPr>
        <p:blipFill>
          <a:blip r:embed="rId8"/>
          <a:stretch>
            <a:fillRect/>
          </a:stretch>
        </p:blipFill>
        <p:spPr>
          <a:xfrm>
            <a:off x="8257032" y="1581912"/>
            <a:ext cx="201168" cy="201168"/>
          </a:xfrm>
          <a:prstGeom prst="rect">
            <a:avLst/>
          </a:prstGeom>
        </p:spPr>
      </p:pic>
      <p:sp>
        <p:nvSpPr>
          <p:cNvPr id="49" name="Text 37"/>
          <p:cNvSpPr txBox="1"/>
          <p:nvPr/>
        </p:nvSpPr>
        <p:spPr>
          <a:xfrm>
            <a:off x="7296912"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Mesurer</a:t>
            </a:r>
            <a:endParaRPr lang="en-US" sz="1300" dirty="0"/>
          </a:p>
        </p:txBody>
      </p:sp>
      <p:sp>
        <p:nvSpPr>
          <p:cNvPr id="50" name="Text 38"/>
          <p:cNvSpPr txBox="1"/>
          <p:nvPr/>
        </p:nvSpPr>
        <p:spPr>
          <a:xfrm>
            <a:off x="7296912"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Temps · qualité · risque</a:t>
            </a:r>
            <a:endParaRPr lang="en-US" sz="1000" dirty="0"/>
          </a:p>
        </p:txBody>
      </p:sp>
      <p:sp>
        <p:nvSpPr>
          <p:cNvPr id="51" name="Text 39"/>
          <p:cNvSpPr txBox="1"/>
          <p:nvPr/>
        </p:nvSpPr>
        <p:spPr>
          <a:xfrm>
            <a:off x="457200" y="3017520"/>
            <a:ext cx="45720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LES TROIS MESURES DE CHAQUE ESSAI</a:t>
            </a:r>
            <a:endParaRPr lang="en-US" sz="900" dirty="0"/>
          </a:p>
        </p:txBody>
      </p:sp>
      <p:sp>
        <p:nvSpPr>
          <p:cNvPr id="52" name="Shape 40"/>
          <p:cNvSpPr/>
          <p:nvPr/>
        </p:nvSpPr>
        <p:spPr>
          <a:xfrm>
            <a:off x="457200" y="3401568"/>
            <a:ext cx="2606040" cy="1051560"/>
          </a:xfrm>
          <a:prstGeom prst="roundRect">
            <a:avLst>
              <a:gd name="adj" fmla="val 6957"/>
            </a:avLst>
          </a:prstGeom>
          <a:solidFill>
            <a:srgbClr val="FFFFFF"/>
          </a:solidFill>
          <a:ln w="13970">
            <a:solidFill>
              <a:srgbClr val="00A86A"/>
            </a:solidFill>
            <a:prstDash val="solid"/>
          </a:ln>
        </p:spPr>
      </p:sp>
      <p:sp>
        <p:nvSpPr>
          <p:cNvPr id="53" name="Text 41"/>
          <p:cNvSpPr txBox="1"/>
          <p:nvPr/>
        </p:nvSpPr>
        <p:spPr>
          <a:xfrm>
            <a:off x="621792" y="3493008"/>
            <a:ext cx="2377440" cy="292608"/>
          </a:xfrm>
          <a:prstGeom prst="rect">
            <a:avLst/>
          </a:prstGeom>
          <a:noFill/>
          <a:ln/>
        </p:spPr>
        <p:txBody>
          <a:bodyPr wrap="square" lIns="0" tIns="0" rIns="0" bIns="0" rtlCol="0" anchor="t"/>
          <a:lstStyle/>
          <a:p>
            <a:pPr marL="0" indent="0">
              <a:buNone/>
            </a:pPr>
            <a:r>
              <a:rPr lang="en-US" sz="1300" b="1" dirty="0">
                <a:solidFill>
                  <a:srgbClr val="00A86A"/>
                </a:solidFill>
                <a:latin typeface="Calibri" pitchFamily="34" charset="0"/>
                <a:ea typeface="Calibri" pitchFamily="34" charset="-122"/>
                <a:cs typeface="Calibri" pitchFamily="34" charset="-120"/>
              </a:rPr>
              <a:t>⏱  Temps gagné</a:t>
            </a:r>
            <a:endParaRPr lang="en-US" sz="1300" dirty="0"/>
          </a:p>
        </p:txBody>
      </p:sp>
      <p:sp>
        <p:nvSpPr>
          <p:cNvPr id="54" name="Text 42"/>
          <p:cNvSpPr txBox="1"/>
          <p:nvPr/>
        </p:nvSpPr>
        <p:spPr>
          <a:xfrm>
            <a:off x="62179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minutes avec l'outil contre méthode habituelle</a:t>
            </a:r>
            <a:endParaRPr lang="en-US" sz="1050" dirty="0"/>
          </a:p>
        </p:txBody>
      </p:sp>
      <p:sp>
        <p:nvSpPr>
          <p:cNvPr id="55" name="Shape 43"/>
          <p:cNvSpPr/>
          <p:nvPr/>
        </p:nvSpPr>
        <p:spPr>
          <a:xfrm>
            <a:off x="3246120" y="3401568"/>
            <a:ext cx="2606040" cy="1051560"/>
          </a:xfrm>
          <a:prstGeom prst="roundRect">
            <a:avLst>
              <a:gd name="adj" fmla="val 6957"/>
            </a:avLst>
          </a:prstGeom>
          <a:solidFill>
            <a:srgbClr val="FFFFFF"/>
          </a:solidFill>
          <a:ln w="13970">
            <a:solidFill>
              <a:srgbClr val="0E7C86"/>
            </a:solidFill>
            <a:prstDash val="solid"/>
          </a:ln>
        </p:spPr>
      </p:sp>
      <p:sp>
        <p:nvSpPr>
          <p:cNvPr id="56" name="Text 44"/>
          <p:cNvSpPr txBox="1"/>
          <p:nvPr/>
        </p:nvSpPr>
        <p:spPr>
          <a:xfrm>
            <a:off x="3410712" y="3493008"/>
            <a:ext cx="2377440" cy="292608"/>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  Qualité vérifiée</a:t>
            </a:r>
            <a:endParaRPr lang="en-US" sz="1300" dirty="0"/>
          </a:p>
        </p:txBody>
      </p:sp>
      <p:sp>
        <p:nvSpPr>
          <p:cNvPr id="57" name="Text 45"/>
          <p:cNvSpPr txBox="1"/>
          <p:nvPr/>
        </p:nvSpPr>
        <p:spPr>
          <a:xfrm>
            <a:off x="341071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chiffres, sources ou codes contrôlés (en %)</a:t>
            </a:r>
            <a:endParaRPr lang="en-US" sz="1050" dirty="0"/>
          </a:p>
        </p:txBody>
      </p:sp>
      <p:sp>
        <p:nvSpPr>
          <p:cNvPr id="58" name="Shape 46"/>
          <p:cNvSpPr/>
          <p:nvPr/>
        </p:nvSpPr>
        <p:spPr>
          <a:xfrm>
            <a:off x="6035040" y="3401568"/>
            <a:ext cx="2606040" cy="1051560"/>
          </a:xfrm>
          <a:prstGeom prst="roundRect">
            <a:avLst>
              <a:gd name="adj" fmla="val 6957"/>
            </a:avLst>
          </a:prstGeom>
          <a:solidFill>
            <a:srgbClr val="FFFFFF"/>
          </a:solidFill>
          <a:ln w="13970">
            <a:solidFill>
              <a:srgbClr val="D49A00"/>
            </a:solidFill>
            <a:prstDash val="solid"/>
          </a:ln>
        </p:spPr>
      </p:sp>
      <p:sp>
        <p:nvSpPr>
          <p:cNvPr id="59" name="Text 47"/>
          <p:cNvSpPr txBox="1"/>
          <p:nvPr/>
        </p:nvSpPr>
        <p:spPr>
          <a:xfrm>
            <a:off x="6199632" y="3493008"/>
            <a:ext cx="2377440" cy="292608"/>
          </a:xfrm>
          <a:prstGeom prst="rect">
            <a:avLst/>
          </a:prstGeom>
          <a:noFill/>
          <a:ln/>
        </p:spPr>
        <p:txBody>
          <a:bodyPr wrap="square" lIns="0" tIns="0" rIns="0" bIns="0" rtlCol="0" anchor="t"/>
          <a:lstStyle/>
          <a:p>
            <a:pPr marL="0" indent="0">
              <a:buNone/>
            </a:pPr>
            <a:r>
              <a:rPr lang="en-US" sz="1300" b="1" dirty="0">
                <a:solidFill>
                  <a:srgbClr val="D49A00"/>
                </a:solidFill>
                <a:latin typeface="Calibri" pitchFamily="34" charset="0"/>
                <a:ea typeface="Calibri" pitchFamily="34" charset="-122"/>
                <a:cs typeface="Calibri" pitchFamily="34" charset="-120"/>
              </a:rPr>
              <a:t>⚠  Risque</a:t>
            </a:r>
            <a:endParaRPr lang="en-US" sz="1300" dirty="0"/>
          </a:p>
        </p:txBody>
      </p:sp>
      <p:sp>
        <p:nvSpPr>
          <p:cNvPr id="60" name="Text 48"/>
          <p:cNvSpPr txBox="1"/>
          <p:nvPr/>
        </p:nvSpPr>
        <p:spPr>
          <a:xfrm>
            <a:off x="619963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classe des données, juridiction, coût, dépendance</a:t>
            </a:r>
            <a:endParaRPr lang="en-US" sz="10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02 · CHERCHER ET COMPRENDRE</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Chercher et comprendre</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Trouver la bonne source, plutôt qu'une réponse vraisemblable.</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5C242"/>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CHERCHER ET COMPRENDRE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Perplexity — veille et parangonnage sourcés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0A86A"/>
            </a:solidFill>
            <a:prstDash val="solid"/>
          </a:ln>
        </p:spPr>
      </p:sp>
      <p:sp>
        <p:nvSpPr>
          <p:cNvPr id="18" name="Shape 15"/>
          <p:cNvSpPr/>
          <p:nvPr/>
        </p:nvSpPr>
        <p:spPr>
          <a:xfrm>
            <a:off x="548640" y="1399032"/>
            <a:ext cx="475488" cy="47548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Perplexity</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Perplexity AI · recherche web citée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www.perplexity.ai</a:t>
            </a:r>
            <a:endParaRPr lang="en-US" sz="900" dirty="0"/>
          </a:p>
        </p:txBody>
      </p:sp>
      <p:pic>
        <p:nvPicPr>
          <p:cNvPr id="25" name="Image 1" descr="/home/claude/lab10/qr/perplexity.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0A86A"/>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Savoir en 10 minutes comment d'autres instituts publient un indicateur, gèrent un recensement numérique ou utilisent les données mobiles.</a:t>
            </a:r>
            <a:endParaRPr lang="en-US" sz="1100" dirty="0"/>
          </a:p>
        </p:txBody>
      </p:sp>
      <p:sp>
        <p:nvSpPr>
          <p:cNvPr id="28" name="Shape 23"/>
          <p:cNvSpPr/>
          <p:nvPr/>
        </p:nvSpPr>
        <p:spPr>
          <a:xfrm>
            <a:off x="475488" y="2953512"/>
            <a:ext cx="237744" cy="237744"/>
          </a:xfrm>
          <a:prstGeom prst="ellipse">
            <a:avLst/>
          </a:prstGeom>
          <a:solidFill>
            <a:srgbClr val="00A86A"/>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Ouvrir perplexity.ai (compte gratuit conseillé)</a:t>
            </a:r>
            <a:endParaRPr lang="en-US" sz="1000" dirty="0"/>
          </a:p>
        </p:txBody>
      </p:sp>
      <p:sp>
        <p:nvSpPr>
          <p:cNvPr id="31" name="Shape 26"/>
          <p:cNvSpPr/>
          <p:nvPr/>
        </p:nvSpPr>
        <p:spPr>
          <a:xfrm>
            <a:off x="475488" y="3355848"/>
            <a:ext cx="237744" cy="237744"/>
          </a:xfrm>
          <a:prstGeom prst="ellipse">
            <a:avLst/>
          </a:prstGeom>
          <a:solidFill>
            <a:srgbClr val="00A86A"/>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Poser la question en précisant pays, période et type de source</a:t>
            </a:r>
            <a:endParaRPr lang="en-US" sz="1000" dirty="0"/>
          </a:p>
        </p:txBody>
      </p:sp>
      <p:sp>
        <p:nvSpPr>
          <p:cNvPr id="34" name="Shape 29"/>
          <p:cNvSpPr/>
          <p:nvPr/>
        </p:nvSpPr>
        <p:spPr>
          <a:xfrm>
            <a:off x="475488" y="3758184"/>
            <a:ext cx="237744" cy="237744"/>
          </a:xfrm>
          <a:prstGeom prst="ellipse">
            <a:avLst/>
          </a:prstGeom>
          <a:solidFill>
            <a:srgbClr val="00A86A"/>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Ouvrir chaque source citée ; écarter blogs et pages non officielles</a:t>
            </a:r>
            <a:endParaRPr lang="en-US" sz="1000" dirty="0"/>
          </a:p>
        </p:txBody>
      </p:sp>
      <p:sp>
        <p:nvSpPr>
          <p:cNvPr id="37" name="Shape 32"/>
          <p:cNvSpPr/>
          <p:nvPr/>
        </p:nvSpPr>
        <p:spPr>
          <a:xfrm>
            <a:off x="475488" y="4160520"/>
            <a:ext cx="237744" cy="237744"/>
          </a:xfrm>
          <a:prstGeom prst="ellipse">
            <a:avLst/>
          </a:prstGeom>
          <a:solidFill>
            <a:srgbClr val="00A86A"/>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Exporter la réponse et les liens dans la note de veille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Recherche comment les instituts nationaux de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statistique d'Afrique publient l'inflation</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régionale (2023-2026). Pour chaque pays : méthode,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fréquence, lien vers la publication OFFICIELLE.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Présente un tableau. Indique « non trouvé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plutôt que de deviner.</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ouvrez chaque lien ; comptez la part de sources officielles (sites d'INS, ONU, FMI). Visez 100 % pour une note interne.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Une réponse fluide peut reposer sur une page ancienne ou secondaire. Vérifiez toujours la date de la source.</a:t>
            </a:r>
            <a:endParaRPr lang="en-US" sz="9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CHERCHER ET COMPRENDRE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LeapSpace — revue de littérature méthodologique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0704A"/>
            </a:solidFill>
            <a:prstDash val="solid"/>
          </a:ln>
        </p:spPr>
      </p:sp>
      <p:sp>
        <p:nvSpPr>
          <p:cNvPr id="18" name="Shape 15"/>
          <p:cNvSpPr/>
          <p:nvPr/>
        </p:nvSpPr>
        <p:spPr>
          <a:xfrm>
            <a:off x="548640" y="1399032"/>
            <a:ext cx="475488" cy="475488"/>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LeapSpace</a:t>
            </a:r>
            <a:endParaRPr lang="en-US" sz="1300" dirty="0"/>
          </a:p>
        </p:txBody>
      </p:sp>
      <p:sp>
        <p:nvSpPr>
          <p:cNvPr id="21" name="Shape 17"/>
          <p:cNvSpPr/>
          <p:nvPr/>
        </p:nvSpPr>
        <p:spPr>
          <a:xfrm>
            <a:off x="2651760" y="1362456"/>
            <a:ext cx="1097280" cy="201168"/>
          </a:xfrm>
          <a:prstGeom prst="roundRect">
            <a:avLst>
              <a:gd name="adj" fmla="val 50000"/>
            </a:avLst>
          </a:prstGeom>
          <a:solidFill>
            <a:srgbClr val="D49A00"/>
          </a:solidFill>
          <a:ln w="9525">
            <a:solidFill>
              <a:srgbClr val="D49A00"/>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INSTITUTIONNEL</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Elsevier · littérature scientifique révisée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elsevier.com/products/leapspace</a:t>
            </a:r>
            <a:endParaRPr lang="en-US" sz="900" dirty="0"/>
          </a:p>
        </p:txBody>
      </p:sp>
      <p:pic>
        <p:nvPicPr>
          <p:cNvPr id="25" name="Image 1" descr="/home/claude/lab10/qr/leapspace.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Avant de changer une méthode (imputation, estimation sur petits domaines, données satellitaires), savoir ce que dit la littérature révisée par les pairs.</a:t>
            </a:r>
            <a:endParaRPr lang="en-US" sz="1100" dirty="0"/>
          </a:p>
        </p:txBody>
      </p:sp>
      <p:sp>
        <p:nvSpPr>
          <p:cNvPr id="28" name="Shape 23"/>
          <p:cNvSpPr/>
          <p:nvPr/>
        </p:nvSpPr>
        <p:spPr>
          <a:xfrm>
            <a:off x="475488" y="2953512"/>
            <a:ext cx="237744" cy="237744"/>
          </a:xfrm>
          <a:prstGeom prst="ellipse">
            <a:avLst/>
          </a:prstGeom>
          <a:solidFill>
            <a:srgbClr val="00704A"/>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Se connecter via l'institution ou l'essai gratuit</a:t>
            </a:r>
            <a:endParaRPr lang="en-US" sz="1000" dirty="0"/>
          </a:p>
        </p:txBody>
      </p:sp>
      <p:sp>
        <p:nvSpPr>
          <p:cNvPr id="31" name="Shape 26"/>
          <p:cNvSpPr/>
          <p:nvPr/>
        </p:nvSpPr>
        <p:spPr>
          <a:xfrm>
            <a:off x="475488" y="3355848"/>
            <a:ext cx="237744" cy="237744"/>
          </a:xfrm>
          <a:prstGeom prst="ellipse">
            <a:avLst/>
          </a:prstGeom>
          <a:solidFill>
            <a:srgbClr val="00704A"/>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Poser la question méthodologique précise</a:t>
            </a:r>
            <a:endParaRPr lang="en-US" sz="1000" dirty="0"/>
          </a:p>
        </p:txBody>
      </p:sp>
      <p:sp>
        <p:nvSpPr>
          <p:cNvPr id="34" name="Shape 29"/>
          <p:cNvSpPr/>
          <p:nvPr/>
        </p:nvSpPr>
        <p:spPr>
          <a:xfrm>
            <a:off x="475488" y="3758184"/>
            <a:ext cx="237744" cy="237744"/>
          </a:xfrm>
          <a:prstGeom prst="ellipse">
            <a:avLst/>
          </a:prstGeom>
          <a:solidFill>
            <a:srgbClr val="00704A"/>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Lire les « Trust Cards » : sources, raison de chaque citation</a:t>
            </a:r>
            <a:endParaRPr lang="en-US" sz="1000" dirty="0"/>
          </a:p>
        </p:txBody>
      </p:sp>
      <p:sp>
        <p:nvSpPr>
          <p:cNvPr id="37" name="Shape 32"/>
          <p:cNvSpPr/>
          <p:nvPr/>
        </p:nvSpPr>
        <p:spPr>
          <a:xfrm>
            <a:off x="475488" y="4160520"/>
            <a:ext cx="237744" cy="237744"/>
          </a:xfrm>
          <a:prstGeom prst="ellipse">
            <a:avLst/>
          </a:prstGeom>
          <a:solidFill>
            <a:srgbClr val="00704A"/>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Retenir 3 à 5 articles clés et leur niveau de preuve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Quelles méthodes d'estimation sur petits domaines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sont recommandées pour la pauvreté au niveau</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district avec des enquêtes ménages et des données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satellitaires ? Compare-les (biais, précision,</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besoins en données) et cite les études publiées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depuis 2018, en précisant leurs limites.</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ouvrez les 3 articles les plus cités et contrôlez que la conclusion rapportée figure bien dans le résumé ou le texte.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Accès institutionnel : vérifiez si votre université, la BAD ou un partenaire y est abonné avant le labo.</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LeapSpace s'appuie uniquement sur des contenus révisés par les pairs (Scopus, ScienceDirect) et associe une « Trust Card » à chaque réponse.</a:t>
            </a:r>
            <a:endParaRPr lang="en-US" sz="8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CHERCHER ET COMPRENDRE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NotebookLM — vos documents deviennent un assistant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E7C86"/>
            </a:solidFill>
            <a:prstDash val="solid"/>
          </a:ln>
        </p:spPr>
      </p:sp>
      <p:sp>
        <p:nvSpPr>
          <p:cNvPr id="18" name="Shape 15"/>
          <p:cNvSpPr/>
          <p:nvPr/>
        </p:nvSpPr>
        <p:spPr>
          <a:xfrm>
            <a:off x="548640" y="1399032"/>
            <a:ext cx="475488" cy="475488"/>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NotebookLM</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ancré dans vos sources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notebooklm.google.com</a:t>
            </a:r>
            <a:endParaRPr lang="en-US" sz="900" dirty="0"/>
          </a:p>
        </p:txBody>
      </p:sp>
      <p:pic>
        <p:nvPicPr>
          <p:cNvPr id="25" name="Image 1" descr="/home/claude/lab10/qr/notebooklm.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E7C86"/>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Transformer les notes méthodologiques et rapports publiés de l'institut en base de connaissances : questions sourcées, infographie, présentation, résumé audio ou vidéo.</a:t>
            </a:r>
            <a:endParaRPr lang="en-US" sz="1100" dirty="0"/>
          </a:p>
        </p:txBody>
      </p:sp>
      <p:sp>
        <p:nvSpPr>
          <p:cNvPr id="28" name="Shape 23"/>
          <p:cNvSpPr/>
          <p:nvPr/>
        </p:nvSpPr>
        <p:spPr>
          <a:xfrm>
            <a:off x="475488" y="2953512"/>
            <a:ext cx="237744" cy="237744"/>
          </a:xfrm>
          <a:prstGeom prst="ellipse">
            <a:avLst/>
          </a:prstGeom>
          <a:solidFill>
            <a:srgbClr val="0E7C86"/>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Créer un notebook, ajouter 3 à 5 documents PUBLIÉS</a:t>
            </a:r>
            <a:endParaRPr lang="en-US" sz="1000" dirty="0"/>
          </a:p>
        </p:txBody>
      </p:sp>
      <p:sp>
        <p:nvSpPr>
          <p:cNvPr id="31" name="Shape 26"/>
          <p:cNvSpPr/>
          <p:nvPr/>
        </p:nvSpPr>
        <p:spPr>
          <a:xfrm>
            <a:off x="475488" y="3355848"/>
            <a:ext cx="237744" cy="237744"/>
          </a:xfrm>
          <a:prstGeom prst="ellipse">
            <a:avLst/>
          </a:prstGeom>
          <a:solidFill>
            <a:srgbClr val="0E7C86"/>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Poser 3 questions ; cliquer chaque citation</a:t>
            </a:r>
            <a:endParaRPr lang="en-US" sz="1000" dirty="0"/>
          </a:p>
        </p:txBody>
      </p:sp>
      <p:sp>
        <p:nvSpPr>
          <p:cNvPr id="34" name="Shape 29"/>
          <p:cNvSpPr/>
          <p:nvPr/>
        </p:nvSpPr>
        <p:spPr>
          <a:xfrm>
            <a:off x="475488" y="3758184"/>
            <a:ext cx="237744" cy="237744"/>
          </a:xfrm>
          <a:prstGeom prst="ellipse">
            <a:avLst/>
          </a:prstGeom>
          <a:solidFill>
            <a:srgbClr val="0E7C86"/>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Studio : générer infographie, présentation (export PPTX) ou vidéo</a:t>
            </a:r>
            <a:endParaRPr lang="en-US" sz="1000" dirty="0"/>
          </a:p>
        </p:txBody>
      </p:sp>
      <p:sp>
        <p:nvSpPr>
          <p:cNvPr id="37" name="Shape 32"/>
          <p:cNvSpPr/>
          <p:nvPr/>
        </p:nvSpPr>
        <p:spPr>
          <a:xfrm>
            <a:off x="475488" y="4160520"/>
            <a:ext cx="237744" cy="237744"/>
          </a:xfrm>
          <a:prstGeom prst="ellipse">
            <a:avLst/>
          </a:prstGeom>
          <a:solidFill>
            <a:srgbClr val="0E7C86"/>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Relire le rendu face aux sources ; étiqueter « généré par IA »</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À partir UNIQUEMENT des sources : résume la</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méthodologie de l'IPC en 5 points pour des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journalistes. Pour chaque point, cite la source.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Signale explicitement ce que les sources ne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couvrent pas.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[Studio → Infographie : style institutionnel]</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chaque citation renvoie-t-elle au bon passage ? Les chiffres de l'infographie sont-ils identiques au rapport ?</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Les images générées (infographies, diapositives) peuvent altérer un chiffre : relisez-les une à une.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Studio : résumés audio et vidéo, cartes mentales, rapports, infographies, présentations et tableaux de données ; export PPTX des présentations.</a:t>
            </a:r>
            <a:endParaRPr lang="en-US" sz="8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CHERCHER ET COMPRENDRE</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UN Data Commons — l'ONU en langage naturel</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D49A00"/>
            </a:solidFill>
            <a:prstDash val="solid"/>
          </a:ln>
        </p:spPr>
      </p:sp>
      <p:sp>
        <p:nvSpPr>
          <p:cNvPr id="18" name="Shape 15"/>
          <p:cNvSpPr/>
          <p:nvPr/>
        </p:nvSpPr>
        <p:spPr>
          <a:xfrm>
            <a:off x="548640" y="1399032"/>
            <a:ext cx="475488" cy="475488"/>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UN Data Commons</a:t>
            </a:r>
            <a:endParaRPr lang="en-US" sz="1300" dirty="0"/>
          </a:p>
        </p:txBody>
      </p:sp>
      <p:sp>
        <p:nvSpPr>
          <p:cNvPr id="21" name="Shape 17"/>
          <p:cNvSpPr/>
          <p:nvPr/>
        </p:nvSpPr>
        <p:spPr>
          <a:xfrm>
            <a:off x="2651760" y="1362456"/>
            <a:ext cx="1097280" cy="201168"/>
          </a:xfrm>
          <a:prstGeom prst="roundRect">
            <a:avLst>
              <a:gd name="adj" fmla="val 50000"/>
            </a:avLst>
          </a:prstGeom>
          <a:solidFill>
            <a:srgbClr val="00A86A"/>
          </a:solidFill>
          <a:ln w="9525">
            <a:solidFill>
              <a:srgbClr val="00A86A"/>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ONU + Google · depuis le 17/09/2026</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data.un.org</a:t>
            </a:r>
            <a:endParaRPr lang="en-US" sz="900" dirty="0"/>
          </a:p>
        </p:txBody>
      </p:sp>
      <p:pic>
        <p:nvPicPr>
          <p:cNvPr id="25" name="Image 1" descr="/home/claude/lab10/qr/datacommons.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Voir comment les chiffres de VOTRE pays apparaissent dans les bases de l'ONU, les comparer à vos publications nationales, et repérer les écarts à corriger.</a:t>
            </a:r>
            <a:endParaRPr lang="en-US" sz="1100" dirty="0"/>
          </a:p>
        </p:txBody>
      </p:sp>
      <p:sp>
        <p:nvSpPr>
          <p:cNvPr id="28" name="Shape 23"/>
          <p:cNvSpPr/>
          <p:nvPr/>
        </p:nvSpPr>
        <p:spPr>
          <a:xfrm>
            <a:off x="475488" y="2953512"/>
            <a:ext cx="237744" cy="237744"/>
          </a:xfrm>
          <a:prstGeom prst="ellipse">
            <a:avLst/>
          </a:prstGeom>
          <a:solidFill>
            <a:srgbClr val="D49A00"/>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Ouvrir data.un.org</a:t>
            </a:r>
            <a:endParaRPr lang="en-US" sz="1000" dirty="0"/>
          </a:p>
        </p:txBody>
      </p:sp>
      <p:sp>
        <p:nvSpPr>
          <p:cNvPr id="31" name="Shape 26"/>
          <p:cNvSpPr/>
          <p:nvPr/>
        </p:nvSpPr>
        <p:spPr>
          <a:xfrm>
            <a:off x="475488" y="3355848"/>
            <a:ext cx="237744" cy="237744"/>
          </a:xfrm>
          <a:prstGeom prst="ellipse">
            <a:avLst/>
          </a:prstGeom>
          <a:solidFill>
            <a:srgbClr val="D49A00"/>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Poser une question en langage courant sur votre pays</a:t>
            </a:r>
            <a:endParaRPr lang="en-US" sz="1000" dirty="0"/>
          </a:p>
        </p:txBody>
      </p:sp>
      <p:sp>
        <p:nvSpPr>
          <p:cNvPr id="34" name="Shape 29"/>
          <p:cNvSpPr/>
          <p:nvPr/>
        </p:nvSpPr>
        <p:spPr>
          <a:xfrm>
            <a:off x="475488" y="3758184"/>
            <a:ext cx="237744" cy="237744"/>
          </a:xfrm>
          <a:prstGeom prst="ellipse">
            <a:avLst/>
          </a:prstGeom>
          <a:solidFill>
            <a:srgbClr val="D49A00"/>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Comparer chaque valeur à la publication nationale</a:t>
            </a:r>
            <a:endParaRPr lang="en-US" sz="1000" dirty="0"/>
          </a:p>
        </p:txBody>
      </p:sp>
      <p:sp>
        <p:nvSpPr>
          <p:cNvPr id="37" name="Shape 32"/>
          <p:cNvSpPr/>
          <p:nvPr/>
        </p:nvSpPr>
        <p:spPr>
          <a:xfrm>
            <a:off x="475488" y="4160520"/>
            <a:ext cx="237744" cy="237744"/>
          </a:xfrm>
          <a:prstGeom prst="ellipse">
            <a:avLst/>
          </a:prstGeom>
          <a:solidFill>
            <a:srgbClr val="D49A00"/>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Noter les écarts : définition, année, source, révision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Taux de pauvreté, accès à l'électricité et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scolarisation primaire au Rwanda, au Sénégal</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et au Kenya depuis 2015</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[puis : ouvrir chaque graphique → source et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année de chaque valeur]</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pour 5 valeurs de votre pays, l'écart avec la publication nationale est-il nul ? Sinon, pourquoi (définition, millésime) ?</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Accès à des données officielles ne veut pas dire réponse juste : définitions et années peuvent différer des vôtres.</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Plateforme ONU fondée sur Data Commons de Google, recherche en langage naturel et protocole MCP pour les agents d'IA ; remplace l'ancien portail UNData.</a:t>
            </a:r>
            <a:endParaRPr lang="en-US" sz="8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03 · TRANSFORMER LES RAPPORTS</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Transformer les rapports</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Et si chaque rapport PDF devenait un tableau de bord interactif en une heure ?</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5C242"/>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TRANSFORMER LES RAPPORTS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GLM (Z.ai) — du rapport PDF au tableau de bord</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C4621D"/>
            </a:solidFill>
            <a:prstDash val="solid"/>
          </a:ln>
        </p:spPr>
      </p:sp>
      <p:sp>
        <p:nvSpPr>
          <p:cNvPr id="18" name="Shape 15"/>
          <p:cNvSpPr/>
          <p:nvPr/>
        </p:nvSpPr>
        <p:spPr>
          <a:xfrm>
            <a:off x="548640" y="1399032"/>
            <a:ext cx="475488" cy="475488"/>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GLM-5.3</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Z.ai · mode Agent / Full-Stack</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chat.z.ai</a:t>
            </a:r>
            <a:endParaRPr lang="en-US" sz="900" dirty="0"/>
          </a:p>
        </p:txBody>
      </p:sp>
      <p:pic>
        <p:nvPicPr>
          <p:cNvPr id="25" name="Image 1" descr="/home/claude/lab10/qr/glm.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Transformer un communiqué ou un rapport statistique publié en tableau de bord web d'une page, attractif, que l'équipe de diffusion peut relire puis publier.</a:t>
            </a:r>
            <a:endParaRPr lang="en-US" sz="1100" dirty="0"/>
          </a:p>
        </p:txBody>
      </p:sp>
      <p:sp>
        <p:nvSpPr>
          <p:cNvPr id="28" name="Shape 23"/>
          <p:cNvSpPr/>
          <p:nvPr/>
        </p:nvSpPr>
        <p:spPr>
          <a:xfrm>
            <a:off x="475488" y="2953512"/>
            <a:ext cx="237744" cy="237744"/>
          </a:xfrm>
          <a:prstGeom prst="ellipse">
            <a:avLst/>
          </a:prstGeom>
          <a:solidFill>
            <a:srgbClr val="C4621D"/>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Ouvrir chat.z.ai, activer le mode Agent (ou Full-Stack)</a:t>
            </a:r>
            <a:endParaRPr lang="en-US" sz="1000" dirty="0"/>
          </a:p>
        </p:txBody>
      </p:sp>
      <p:sp>
        <p:nvSpPr>
          <p:cNvPr id="31" name="Shape 26"/>
          <p:cNvSpPr/>
          <p:nvPr/>
        </p:nvSpPr>
        <p:spPr>
          <a:xfrm>
            <a:off x="475488" y="3355848"/>
            <a:ext cx="237744" cy="237744"/>
          </a:xfrm>
          <a:prstGeom prst="ellipse">
            <a:avLst/>
          </a:prstGeom>
          <a:solidFill>
            <a:srgbClr val="C4621D"/>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Joindre le rapport PDF publié et coller le prompt</a:t>
            </a:r>
            <a:endParaRPr lang="en-US" sz="1000" dirty="0"/>
          </a:p>
        </p:txBody>
      </p:sp>
      <p:sp>
        <p:nvSpPr>
          <p:cNvPr id="34" name="Shape 29"/>
          <p:cNvSpPr/>
          <p:nvPr/>
        </p:nvSpPr>
        <p:spPr>
          <a:xfrm>
            <a:off x="475488" y="3758184"/>
            <a:ext cx="237744" cy="237744"/>
          </a:xfrm>
          <a:prstGeom prst="ellipse">
            <a:avLst/>
          </a:prstGeom>
          <a:solidFill>
            <a:srgbClr val="C4621D"/>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Prévisualiser, demander 2 itérations de mise en forme</a:t>
            </a:r>
            <a:endParaRPr lang="en-US" sz="1000" dirty="0"/>
          </a:p>
        </p:txBody>
      </p:sp>
      <p:sp>
        <p:nvSpPr>
          <p:cNvPr id="37" name="Shape 32"/>
          <p:cNvSpPr/>
          <p:nvPr/>
        </p:nvSpPr>
        <p:spPr>
          <a:xfrm>
            <a:off x="475488" y="4160520"/>
            <a:ext cx="237744" cy="237744"/>
          </a:xfrm>
          <a:prstGeom prst="ellipse">
            <a:avLst/>
          </a:prstGeom>
          <a:solidFill>
            <a:srgbClr val="C4621D"/>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Télécharger le fichier HTML ; lancer la vérification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Crée un tableau de bord HTML d'UNE page à partir du</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rapport joint. Utilise UNIQUEMENT ses chiffres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affiche sous chaque chiffre la page source.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3 indicateurs clés, 4 graphiques, un tableau</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téléchargeable. Palette vert #00704A et or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#F5C242, lisible sur mobile, contraste WCAG AA.</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Un seul fichier HTML autonome. Aucun chiffre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inventé : écris [ABSENT] si une donnée manque.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tirez 10 chiffres du tableau de bord au hasard et retrouvez-les à la page indiquée du rapport. Objectif : 10/10.</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Fournisseur établi en Chine : rapports publiés uniquement. Le code généré doit être relu avant mise en ligne.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En mode Agent, GLM crée documents, analyses, sites web et diapositives ; GLM-5.3 offre une fenêtre de contexte d'un million de tokens.</a:t>
            </a:r>
            <a:endParaRPr lang="en-US" sz="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TRANSFORMER LES RAPPORTS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Kimi (OK Computer) — l'alternative à comparer</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B83B2E"/>
            </a:solidFill>
            <a:prstDash val="solid"/>
          </a:ln>
        </p:spPr>
      </p:sp>
      <p:sp>
        <p:nvSpPr>
          <p:cNvPr id="18" name="Shape 15"/>
          <p:cNvSpPr/>
          <p:nvPr/>
        </p:nvSpPr>
        <p:spPr>
          <a:xfrm>
            <a:off x="548640" y="1399032"/>
            <a:ext cx="475488" cy="475488"/>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Kimi</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Moonshot AI · mode agent OK Computer</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www.kimi.ai/</a:t>
            </a:r>
            <a:endParaRPr lang="en-US" sz="900" dirty="0"/>
          </a:p>
        </p:txBody>
      </p:sp>
      <p:pic>
        <p:nvPicPr>
          <p:cNvPr id="25" name="Image 1" descr="/home/claude/lab10/qr/kimi.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Même tâche que GLM, sur le même rapport : comparer deux agents pour choisir celui qui convient à l'équipe de diffusion.</a:t>
            </a:r>
            <a:endParaRPr lang="en-US" sz="1100" dirty="0"/>
          </a:p>
        </p:txBody>
      </p:sp>
      <p:sp>
        <p:nvSpPr>
          <p:cNvPr id="28" name="Shape 23"/>
          <p:cNvSpPr/>
          <p:nvPr/>
        </p:nvSpPr>
        <p:spPr>
          <a:xfrm>
            <a:off x="475488" y="2953512"/>
            <a:ext cx="237744" cy="237744"/>
          </a:xfrm>
          <a:prstGeom prst="ellipse">
            <a:avLst/>
          </a:prstGeom>
          <a:solidFill>
            <a:srgbClr val="B83B2E"/>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Ouvrir kimi.ai, choisir le mode Agent (OK Computer)</a:t>
            </a:r>
            <a:endParaRPr lang="en-US" sz="1000" dirty="0"/>
          </a:p>
        </p:txBody>
      </p:sp>
      <p:sp>
        <p:nvSpPr>
          <p:cNvPr id="31" name="Shape 26"/>
          <p:cNvSpPr/>
          <p:nvPr/>
        </p:nvSpPr>
        <p:spPr>
          <a:xfrm>
            <a:off x="475488" y="3355848"/>
            <a:ext cx="237744" cy="237744"/>
          </a:xfrm>
          <a:prstGeom prst="ellipse">
            <a:avLst/>
          </a:prstGeom>
          <a:solidFill>
            <a:srgbClr val="B83B2E"/>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Joindre le MÊME rapport, coller le MÊME prompt</a:t>
            </a:r>
            <a:endParaRPr lang="en-US" sz="1000" dirty="0"/>
          </a:p>
        </p:txBody>
      </p:sp>
      <p:sp>
        <p:nvSpPr>
          <p:cNvPr id="34" name="Shape 29"/>
          <p:cNvSpPr/>
          <p:nvPr/>
        </p:nvSpPr>
        <p:spPr>
          <a:xfrm>
            <a:off x="475488" y="3758184"/>
            <a:ext cx="237744" cy="237744"/>
          </a:xfrm>
          <a:prstGeom prst="ellipse">
            <a:avLst/>
          </a:prstGeom>
          <a:solidFill>
            <a:srgbClr val="B83B2E"/>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Télécharger le résultat (site ou diapositives)</a:t>
            </a:r>
            <a:endParaRPr lang="en-US" sz="1000" dirty="0"/>
          </a:p>
        </p:txBody>
      </p:sp>
      <p:sp>
        <p:nvSpPr>
          <p:cNvPr id="37" name="Shape 32"/>
          <p:cNvSpPr/>
          <p:nvPr/>
        </p:nvSpPr>
        <p:spPr>
          <a:xfrm>
            <a:off x="475488" y="4160520"/>
            <a:ext cx="237744" cy="237744"/>
          </a:xfrm>
          <a:prstGeom prst="ellipse">
            <a:avLst/>
          </a:prstGeom>
          <a:solidFill>
            <a:srgbClr val="B83B2E"/>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Noter les deux résultats avec la même grille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[Même prompt que pour GLM]</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Grille de comparaison, notée de 1 à 5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exactitude des 10 chiffres tirés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lisibilité et esthétique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respect de la charte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accessibilité (contraste, mobile)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temps total, itérations comprises</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même tirage de 10 chiffres que pour GLM ; comparez les deux scores et les temps.</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Fournisseur établi en Chine. Les deux agents peuvent « embellir » : un graphique sans chiffre source est à supprimer.</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OK Computer crée des sites multipages et des diapositives modifiables, et traite jusqu'à un million de lignes de données.</a:t>
            </a:r>
            <a:endParaRPr lang="en-US" sz="8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TRANSFORMER LES RAPPORTS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contrôles avant de publier un tableau de bord</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325880"/>
            <a:ext cx="4023360" cy="960120"/>
          </a:xfrm>
          <a:prstGeom prst="roundRect">
            <a:avLst>
              <a:gd name="adj" fmla="val 7619"/>
            </a:avLst>
          </a:prstGeom>
          <a:solidFill>
            <a:srgbClr val="F4F7F5"/>
          </a:solidFill>
          <a:ln w="9525">
            <a:solidFill>
              <a:srgbClr val="D5DED9"/>
            </a:solidFill>
            <a:prstDash val="solid"/>
          </a:ln>
        </p:spPr>
      </p:sp>
      <p:sp>
        <p:nvSpPr>
          <p:cNvPr id="18" name="Shape 15"/>
          <p:cNvSpPr/>
          <p:nvPr/>
        </p:nvSpPr>
        <p:spPr>
          <a:xfrm>
            <a:off x="594360" y="1572768"/>
            <a:ext cx="457200" cy="457200"/>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708660" y="1687068"/>
            <a:ext cx="228600" cy="228600"/>
          </a:xfrm>
          <a:prstGeom prst="rect">
            <a:avLst/>
          </a:prstGeom>
        </p:spPr>
      </p:pic>
      <p:sp>
        <p:nvSpPr>
          <p:cNvPr id="20" name="Text 16"/>
          <p:cNvSpPr txBox="1"/>
          <p:nvPr/>
        </p:nvSpPr>
        <p:spPr>
          <a:xfrm>
            <a:off x="1188720" y="146304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Chiffres</a:t>
            </a:r>
            <a:endParaRPr lang="en-US" sz="1400" dirty="0"/>
          </a:p>
        </p:txBody>
      </p:sp>
      <p:sp>
        <p:nvSpPr>
          <p:cNvPr id="21" name="Text 17"/>
          <p:cNvSpPr txBox="1"/>
          <p:nvPr/>
        </p:nvSpPr>
        <p:spPr>
          <a:xfrm>
            <a:off x="1188720" y="175564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10 chiffres tirés au hasard retrouvés à la page source</a:t>
            </a:r>
            <a:endParaRPr lang="en-US" sz="1050" dirty="0"/>
          </a:p>
        </p:txBody>
      </p:sp>
      <p:sp>
        <p:nvSpPr>
          <p:cNvPr id="22" name="Shape 18"/>
          <p:cNvSpPr/>
          <p:nvPr/>
        </p:nvSpPr>
        <p:spPr>
          <a:xfrm>
            <a:off x="4663440" y="1325880"/>
            <a:ext cx="4023360" cy="960120"/>
          </a:xfrm>
          <a:prstGeom prst="roundRect">
            <a:avLst>
              <a:gd name="adj" fmla="val 7619"/>
            </a:avLst>
          </a:prstGeom>
          <a:solidFill>
            <a:srgbClr val="F4F7F5"/>
          </a:solidFill>
          <a:ln w="9525">
            <a:solidFill>
              <a:srgbClr val="D5DED9"/>
            </a:solidFill>
            <a:prstDash val="solid"/>
          </a:ln>
        </p:spPr>
      </p:sp>
      <p:sp>
        <p:nvSpPr>
          <p:cNvPr id="23" name="Shape 19"/>
          <p:cNvSpPr/>
          <p:nvPr/>
        </p:nvSpPr>
        <p:spPr>
          <a:xfrm>
            <a:off x="4800600" y="1572768"/>
            <a:ext cx="457200" cy="457200"/>
          </a:xfrm>
          <a:prstGeom prst="ellipse">
            <a:avLst/>
          </a:prstGeom>
          <a:solidFill>
            <a:srgbClr val="C4621D">
              <a:alpha val="22000"/>
            </a:srgbClr>
          </a:solidFill>
          <a:ln/>
        </p:spPr>
      </p:sp>
      <p:pic>
        <p:nvPicPr>
          <p:cNvPr id="24" name="Image 1" descr="preencoded.png"/>
          <p:cNvPicPr>
            <a:picLocks noChangeAspect="1"/>
          </p:cNvPicPr>
          <p:nvPr/>
        </p:nvPicPr>
        <p:blipFill>
          <a:blip r:embed="rId4"/>
          <a:stretch>
            <a:fillRect/>
          </a:stretch>
        </p:blipFill>
        <p:spPr>
          <a:xfrm>
            <a:off x="4914900" y="1687068"/>
            <a:ext cx="228600" cy="228600"/>
          </a:xfrm>
          <a:prstGeom prst="rect">
            <a:avLst/>
          </a:prstGeom>
        </p:spPr>
      </p:pic>
      <p:sp>
        <p:nvSpPr>
          <p:cNvPr id="25" name="Text 20"/>
          <p:cNvSpPr txBox="1"/>
          <p:nvPr/>
        </p:nvSpPr>
        <p:spPr>
          <a:xfrm>
            <a:off x="5394960" y="146304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Sources</a:t>
            </a:r>
            <a:endParaRPr lang="en-US" sz="1400" dirty="0"/>
          </a:p>
        </p:txBody>
      </p:sp>
      <p:sp>
        <p:nvSpPr>
          <p:cNvPr id="26" name="Text 21"/>
          <p:cNvSpPr txBox="1"/>
          <p:nvPr/>
        </p:nvSpPr>
        <p:spPr>
          <a:xfrm>
            <a:off x="5394960" y="175564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chaque graphique indique sa source et son année</a:t>
            </a:r>
            <a:endParaRPr lang="en-US" sz="1050" dirty="0"/>
          </a:p>
        </p:txBody>
      </p:sp>
      <p:sp>
        <p:nvSpPr>
          <p:cNvPr id="27" name="Shape 22"/>
          <p:cNvSpPr/>
          <p:nvPr/>
        </p:nvSpPr>
        <p:spPr>
          <a:xfrm>
            <a:off x="457200" y="2423160"/>
            <a:ext cx="4023360" cy="960120"/>
          </a:xfrm>
          <a:prstGeom prst="roundRect">
            <a:avLst>
              <a:gd name="adj" fmla="val 7619"/>
            </a:avLst>
          </a:prstGeom>
          <a:solidFill>
            <a:srgbClr val="F4F7F5"/>
          </a:solidFill>
          <a:ln w="9525">
            <a:solidFill>
              <a:srgbClr val="D5DED9"/>
            </a:solidFill>
            <a:prstDash val="solid"/>
          </a:ln>
        </p:spPr>
      </p:sp>
      <p:sp>
        <p:nvSpPr>
          <p:cNvPr id="28" name="Shape 23"/>
          <p:cNvSpPr/>
          <p:nvPr/>
        </p:nvSpPr>
        <p:spPr>
          <a:xfrm>
            <a:off x="594360" y="2670048"/>
            <a:ext cx="457200" cy="457200"/>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708660" y="2784348"/>
            <a:ext cx="228600" cy="228600"/>
          </a:xfrm>
          <a:prstGeom prst="rect">
            <a:avLst/>
          </a:prstGeom>
        </p:spPr>
      </p:pic>
      <p:sp>
        <p:nvSpPr>
          <p:cNvPr id="30" name="Text 24"/>
          <p:cNvSpPr txBox="1"/>
          <p:nvPr/>
        </p:nvSpPr>
        <p:spPr>
          <a:xfrm>
            <a:off x="1188720" y="256032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Rien d'inventé</a:t>
            </a:r>
            <a:endParaRPr lang="en-US" sz="1400" dirty="0"/>
          </a:p>
        </p:txBody>
      </p:sp>
      <p:sp>
        <p:nvSpPr>
          <p:cNvPr id="31" name="Text 25"/>
          <p:cNvSpPr txBox="1"/>
          <p:nvPr/>
        </p:nvSpPr>
        <p:spPr>
          <a:xfrm>
            <a:off x="1188720" y="285292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aucun graphique « exemple », aucune donnée absente du rapport</a:t>
            </a:r>
            <a:endParaRPr lang="en-US" sz="1050" dirty="0"/>
          </a:p>
        </p:txBody>
      </p:sp>
      <p:sp>
        <p:nvSpPr>
          <p:cNvPr id="32" name="Shape 26"/>
          <p:cNvSpPr/>
          <p:nvPr/>
        </p:nvSpPr>
        <p:spPr>
          <a:xfrm>
            <a:off x="4663440" y="2423160"/>
            <a:ext cx="4023360" cy="960120"/>
          </a:xfrm>
          <a:prstGeom prst="roundRect">
            <a:avLst>
              <a:gd name="adj" fmla="val 7619"/>
            </a:avLst>
          </a:prstGeom>
          <a:solidFill>
            <a:srgbClr val="F4F7F5"/>
          </a:solidFill>
          <a:ln w="9525">
            <a:solidFill>
              <a:srgbClr val="D5DED9"/>
            </a:solidFill>
            <a:prstDash val="solid"/>
          </a:ln>
        </p:spPr>
      </p:sp>
      <p:sp>
        <p:nvSpPr>
          <p:cNvPr id="33" name="Shape 27"/>
          <p:cNvSpPr/>
          <p:nvPr/>
        </p:nvSpPr>
        <p:spPr>
          <a:xfrm>
            <a:off x="4800600" y="2670048"/>
            <a:ext cx="457200" cy="457200"/>
          </a:xfrm>
          <a:prstGeom prst="ellipse">
            <a:avLst/>
          </a:prstGeom>
          <a:solidFill>
            <a:srgbClr val="0E7C86">
              <a:alpha val="22000"/>
            </a:srgbClr>
          </a:solidFill>
          <a:ln/>
        </p:spPr>
      </p:sp>
      <p:pic>
        <p:nvPicPr>
          <p:cNvPr id="34" name="Image 3" descr="preencoded.png"/>
          <p:cNvPicPr>
            <a:picLocks noChangeAspect="1"/>
          </p:cNvPicPr>
          <p:nvPr/>
        </p:nvPicPr>
        <p:blipFill>
          <a:blip r:embed="rId6"/>
          <a:stretch>
            <a:fillRect/>
          </a:stretch>
        </p:blipFill>
        <p:spPr>
          <a:xfrm>
            <a:off x="4914900" y="2784348"/>
            <a:ext cx="228600" cy="228600"/>
          </a:xfrm>
          <a:prstGeom prst="rect">
            <a:avLst/>
          </a:prstGeom>
        </p:spPr>
      </p:pic>
      <p:sp>
        <p:nvSpPr>
          <p:cNvPr id="35" name="Text 28"/>
          <p:cNvSpPr txBox="1"/>
          <p:nvPr/>
        </p:nvSpPr>
        <p:spPr>
          <a:xfrm>
            <a:off x="5394960" y="256032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Accessibilité</a:t>
            </a:r>
            <a:endParaRPr lang="en-US" sz="1400" dirty="0"/>
          </a:p>
        </p:txBody>
      </p:sp>
      <p:sp>
        <p:nvSpPr>
          <p:cNvPr id="36" name="Text 29"/>
          <p:cNvSpPr txBox="1"/>
          <p:nvPr/>
        </p:nvSpPr>
        <p:spPr>
          <a:xfrm>
            <a:off x="5394960" y="285292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contraste suffisant, lisible sur téléphone, texte alternatif</a:t>
            </a:r>
            <a:endParaRPr lang="en-US" sz="1050" dirty="0"/>
          </a:p>
        </p:txBody>
      </p:sp>
      <p:sp>
        <p:nvSpPr>
          <p:cNvPr id="37" name="Shape 30"/>
          <p:cNvSpPr/>
          <p:nvPr/>
        </p:nvSpPr>
        <p:spPr>
          <a:xfrm>
            <a:off x="457200" y="3520440"/>
            <a:ext cx="4023360" cy="960120"/>
          </a:xfrm>
          <a:prstGeom prst="roundRect">
            <a:avLst>
              <a:gd name="adj" fmla="val 7619"/>
            </a:avLst>
          </a:prstGeom>
          <a:solidFill>
            <a:srgbClr val="F4F7F5"/>
          </a:solidFill>
          <a:ln w="9525">
            <a:solidFill>
              <a:srgbClr val="D5DED9"/>
            </a:solidFill>
            <a:prstDash val="solid"/>
          </a:ln>
        </p:spPr>
      </p:sp>
      <p:sp>
        <p:nvSpPr>
          <p:cNvPr id="38" name="Shape 31"/>
          <p:cNvSpPr/>
          <p:nvPr/>
        </p:nvSpPr>
        <p:spPr>
          <a:xfrm>
            <a:off x="594360" y="3767328"/>
            <a:ext cx="457200" cy="457200"/>
          </a:xfrm>
          <a:prstGeom prst="ellipse">
            <a:avLst/>
          </a:prstGeom>
          <a:solidFill>
            <a:srgbClr val="00704A">
              <a:alpha val="22000"/>
            </a:srgbClr>
          </a:solidFill>
          <a:ln/>
        </p:spPr>
      </p:sp>
      <p:pic>
        <p:nvPicPr>
          <p:cNvPr id="39" name="Image 4" descr="preencoded.png"/>
          <p:cNvPicPr>
            <a:picLocks noChangeAspect="1"/>
          </p:cNvPicPr>
          <p:nvPr/>
        </p:nvPicPr>
        <p:blipFill>
          <a:blip r:embed="rId7"/>
          <a:stretch>
            <a:fillRect/>
          </a:stretch>
        </p:blipFill>
        <p:spPr>
          <a:xfrm>
            <a:off x="708660" y="3881628"/>
            <a:ext cx="228600" cy="228600"/>
          </a:xfrm>
          <a:prstGeom prst="rect">
            <a:avLst/>
          </a:prstGeom>
        </p:spPr>
      </p:pic>
      <p:sp>
        <p:nvSpPr>
          <p:cNvPr id="40" name="Text 32"/>
          <p:cNvSpPr txBox="1"/>
          <p:nvPr/>
        </p:nvSpPr>
        <p:spPr>
          <a:xfrm>
            <a:off x="1188720" y="365760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Code</a:t>
            </a:r>
            <a:endParaRPr lang="en-US" sz="1400" dirty="0"/>
          </a:p>
        </p:txBody>
      </p:sp>
      <p:sp>
        <p:nvSpPr>
          <p:cNvPr id="41" name="Text 33"/>
          <p:cNvSpPr txBox="1"/>
          <p:nvPr/>
        </p:nvSpPr>
        <p:spPr>
          <a:xfrm>
            <a:off x="1188720" y="395020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fichier autonome ; scripts externes relus par l'informatique</a:t>
            </a:r>
            <a:endParaRPr lang="en-US" sz="1050" dirty="0"/>
          </a:p>
        </p:txBody>
      </p:sp>
      <p:sp>
        <p:nvSpPr>
          <p:cNvPr id="42" name="Shape 34"/>
          <p:cNvSpPr/>
          <p:nvPr/>
        </p:nvSpPr>
        <p:spPr>
          <a:xfrm>
            <a:off x="4663440" y="3520440"/>
            <a:ext cx="4023360" cy="960120"/>
          </a:xfrm>
          <a:prstGeom prst="roundRect">
            <a:avLst>
              <a:gd name="adj" fmla="val 7619"/>
            </a:avLst>
          </a:prstGeom>
          <a:solidFill>
            <a:srgbClr val="F4F7F5"/>
          </a:solidFill>
          <a:ln w="9525">
            <a:solidFill>
              <a:srgbClr val="D5DED9"/>
            </a:solidFill>
            <a:prstDash val="solid"/>
          </a:ln>
        </p:spPr>
      </p:sp>
      <p:sp>
        <p:nvSpPr>
          <p:cNvPr id="43" name="Shape 35"/>
          <p:cNvSpPr/>
          <p:nvPr/>
        </p:nvSpPr>
        <p:spPr>
          <a:xfrm>
            <a:off x="4800600" y="3767328"/>
            <a:ext cx="457200" cy="457200"/>
          </a:xfrm>
          <a:prstGeom prst="ellipse">
            <a:avLst/>
          </a:prstGeom>
          <a:solidFill>
            <a:srgbClr val="00A86A">
              <a:alpha val="22000"/>
            </a:srgbClr>
          </a:solidFill>
          <a:ln/>
        </p:spPr>
      </p:sp>
      <p:pic>
        <p:nvPicPr>
          <p:cNvPr id="44" name="Image 5" descr="preencoded.png"/>
          <p:cNvPicPr>
            <a:picLocks noChangeAspect="1"/>
          </p:cNvPicPr>
          <p:nvPr/>
        </p:nvPicPr>
        <p:blipFill>
          <a:blip r:embed="rId8"/>
          <a:stretch>
            <a:fillRect/>
          </a:stretch>
        </p:blipFill>
        <p:spPr>
          <a:xfrm>
            <a:off x="4914900" y="3881628"/>
            <a:ext cx="228600" cy="228600"/>
          </a:xfrm>
          <a:prstGeom prst="rect">
            <a:avLst/>
          </a:prstGeom>
        </p:spPr>
      </p:pic>
      <p:sp>
        <p:nvSpPr>
          <p:cNvPr id="45" name="Text 36"/>
          <p:cNvSpPr txBox="1"/>
          <p:nvPr/>
        </p:nvSpPr>
        <p:spPr>
          <a:xfrm>
            <a:off x="5394960" y="365760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Validation</a:t>
            </a:r>
            <a:endParaRPr lang="en-US" sz="1400" dirty="0"/>
          </a:p>
        </p:txBody>
      </p:sp>
      <p:sp>
        <p:nvSpPr>
          <p:cNvPr id="46" name="Text 37"/>
          <p:cNvSpPr txBox="1"/>
          <p:nvPr/>
        </p:nvSpPr>
        <p:spPr>
          <a:xfrm>
            <a:off x="5394960" y="395020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mention « produit avec l'IA, validé par … » et date</a:t>
            </a:r>
            <a:endParaRPr lang="en-US" sz="10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04 · VISUALISER ET RACONTER</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Visualiser et raconter</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Une infographie juste vaut mieux que dix pages que personne ne lit.</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5C242"/>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VISUALISER ET RACONTER</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Nano Banana — infographies et visuels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D49A00"/>
            </a:solidFill>
            <a:prstDash val="solid"/>
          </a:ln>
        </p:spPr>
      </p:sp>
      <p:sp>
        <p:nvSpPr>
          <p:cNvPr id="18" name="Shape 15"/>
          <p:cNvSpPr/>
          <p:nvPr/>
        </p:nvSpPr>
        <p:spPr>
          <a:xfrm>
            <a:off x="548640" y="1399032"/>
            <a:ext cx="475488" cy="475488"/>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Nano Banana</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GRATUIT · LIMITES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dans l'application Gemini</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gemini.google.com</a:t>
            </a:r>
            <a:endParaRPr lang="en-US" sz="900" dirty="0"/>
          </a:p>
        </p:txBody>
      </p:sp>
      <p:pic>
        <p:nvPicPr>
          <p:cNvPr id="25" name="Image 1" descr="/home/claude/lab10/qr/nanobanana.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Produire la carte visuelle d'un communiqué (trois chiffres clés), une couverture de bulletin ou une série de visuels cohérents pour les réseaux sociaux.</a:t>
            </a:r>
            <a:endParaRPr lang="en-US" sz="1100" dirty="0"/>
          </a:p>
        </p:txBody>
      </p:sp>
      <p:sp>
        <p:nvSpPr>
          <p:cNvPr id="28" name="Shape 23"/>
          <p:cNvSpPr/>
          <p:nvPr/>
        </p:nvSpPr>
        <p:spPr>
          <a:xfrm>
            <a:off x="475488" y="2953512"/>
            <a:ext cx="237744" cy="237744"/>
          </a:xfrm>
          <a:prstGeom prst="ellipse">
            <a:avLst/>
          </a:prstGeom>
          <a:solidFill>
            <a:srgbClr val="D49A00"/>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Ouvrir gemini.google.com, demander une image</a:t>
            </a:r>
            <a:endParaRPr lang="en-US" sz="1000" dirty="0"/>
          </a:p>
        </p:txBody>
      </p:sp>
      <p:sp>
        <p:nvSpPr>
          <p:cNvPr id="31" name="Shape 26"/>
          <p:cNvSpPr/>
          <p:nvPr/>
        </p:nvSpPr>
        <p:spPr>
          <a:xfrm>
            <a:off x="475488" y="3355848"/>
            <a:ext cx="237744" cy="237744"/>
          </a:xfrm>
          <a:prstGeom prst="ellipse">
            <a:avLst/>
          </a:prstGeom>
          <a:solidFill>
            <a:srgbClr val="D49A00"/>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Coller les chiffres VÉRIFIÉS et la charte graphique</a:t>
            </a:r>
            <a:endParaRPr lang="en-US" sz="1000" dirty="0"/>
          </a:p>
        </p:txBody>
      </p:sp>
      <p:sp>
        <p:nvSpPr>
          <p:cNvPr id="34" name="Shape 29"/>
          <p:cNvSpPr/>
          <p:nvPr/>
        </p:nvSpPr>
        <p:spPr>
          <a:xfrm>
            <a:off x="475488" y="3758184"/>
            <a:ext cx="237744" cy="237744"/>
          </a:xfrm>
          <a:prstGeom prst="ellipse">
            <a:avLst/>
          </a:prstGeom>
          <a:solidFill>
            <a:srgbClr val="D49A00"/>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Retoucher par la conversation (couleurs, texte, cadrage)</a:t>
            </a:r>
            <a:endParaRPr lang="en-US" sz="1000" dirty="0"/>
          </a:p>
        </p:txBody>
      </p:sp>
      <p:sp>
        <p:nvSpPr>
          <p:cNvPr id="37" name="Shape 32"/>
          <p:cNvSpPr/>
          <p:nvPr/>
        </p:nvSpPr>
        <p:spPr>
          <a:xfrm>
            <a:off x="475488" y="4160520"/>
            <a:ext cx="237744" cy="237744"/>
          </a:xfrm>
          <a:prstGeom prst="ellipse">
            <a:avLst/>
          </a:prstGeom>
          <a:solidFill>
            <a:srgbClr val="D49A00"/>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Relire chaque chiffre et chaque mot de l'image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Crée une infographie carrée, style institutionnel</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sobre, pour un communiqué de statistique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Inflation 2025 : 5,8 % (contre 6,7 % en 2024)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Plus forte hausse : Hautes-Terres, 8,2 %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Plus faible : Capitale, 4,6 % »</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Palette vert #00704A, or #F5C242, fond blanc.</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Pictogrammes simples. Aucun autre chiffre.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comparez chaque chiffre et chaque mot de l'image au communiqué. Une seule faute = régénérer.</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Pas de personnes réelles, logos, drapeaux ni emblèmes. Étiquetez l'image « générée par IA ».</a:t>
            </a:r>
            <a:endParaRPr lang="en-US" sz="9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VISUALISER ET RACONTER</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Google Flow — un teaser vidéo de publication</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C4621D"/>
            </a:solidFill>
            <a:prstDash val="solid"/>
          </a:ln>
        </p:spPr>
      </p:sp>
      <p:sp>
        <p:nvSpPr>
          <p:cNvPr id="18" name="Shape 15"/>
          <p:cNvSpPr/>
          <p:nvPr/>
        </p:nvSpPr>
        <p:spPr>
          <a:xfrm>
            <a:off x="548640" y="1399032"/>
            <a:ext cx="475488" cy="475488"/>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Google Flow</a:t>
            </a:r>
            <a:endParaRPr lang="en-US" sz="1300" dirty="0"/>
          </a:p>
        </p:txBody>
      </p:sp>
      <p:sp>
        <p:nvSpPr>
          <p:cNvPr id="21" name="Shape 17"/>
          <p:cNvSpPr/>
          <p:nvPr/>
        </p:nvSpPr>
        <p:spPr>
          <a:xfrm>
            <a:off x="2651760" y="1362456"/>
            <a:ext cx="1097280" cy="201168"/>
          </a:xfrm>
          <a:prstGeom prst="roundRect">
            <a:avLst>
              <a:gd name="adj" fmla="val 50000"/>
            </a:avLst>
          </a:prstGeom>
          <a:solidFill>
            <a:srgbClr val="B83B2E"/>
          </a:solidFill>
          <a:ln w="9525">
            <a:solidFill>
              <a:srgbClr val="B83B2E"/>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ABONNEMENT</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studio vidéo (Veo, Nano Banana)</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labs.google/fx/tools/flow</a:t>
            </a:r>
            <a:endParaRPr lang="en-US" sz="900" dirty="0"/>
          </a:p>
        </p:txBody>
      </p:sp>
      <p:pic>
        <p:nvPicPr>
          <p:cNvPr id="25" name="Image 1" descr="/home/claude/lab10/qr/flow.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Réaliser un teaser de 8 à 15 secondes annonçant une publication (recensement, enquête) pour les réseaux sociaux — sans chiffres dans la vidéo.</a:t>
            </a:r>
            <a:endParaRPr lang="en-US" sz="1100" dirty="0"/>
          </a:p>
        </p:txBody>
      </p:sp>
      <p:sp>
        <p:nvSpPr>
          <p:cNvPr id="28" name="Shape 23"/>
          <p:cNvSpPr/>
          <p:nvPr/>
        </p:nvSpPr>
        <p:spPr>
          <a:xfrm>
            <a:off x="475488" y="2953512"/>
            <a:ext cx="237744" cy="237744"/>
          </a:xfrm>
          <a:prstGeom prst="ellipse">
            <a:avLst/>
          </a:prstGeom>
          <a:solidFill>
            <a:srgbClr val="C4621D"/>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Démonstration par l'animateur (abonnement Google AI requis)</a:t>
            </a:r>
            <a:endParaRPr lang="en-US" sz="1000" dirty="0"/>
          </a:p>
        </p:txBody>
      </p:sp>
      <p:sp>
        <p:nvSpPr>
          <p:cNvPr id="31" name="Shape 26"/>
          <p:cNvSpPr/>
          <p:nvPr/>
        </p:nvSpPr>
        <p:spPr>
          <a:xfrm>
            <a:off x="475488" y="3355848"/>
            <a:ext cx="237744" cy="237744"/>
          </a:xfrm>
          <a:prstGeom prst="ellipse">
            <a:avLst/>
          </a:prstGeom>
          <a:solidFill>
            <a:srgbClr val="C4621D"/>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Créer 2 à 3 images clés avec Nano Banana dans Flow</a:t>
            </a:r>
            <a:endParaRPr lang="en-US" sz="1000" dirty="0"/>
          </a:p>
        </p:txBody>
      </p:sp>
      <p:sp>
        <p:nvSpPr>
          <p:cNvPr id="34" name="Shape 29"/>
          <p:cNvSpPr/>
          <p:nvPr/>
        </p:nvSpPr>
        <p:spPr>
          <a:xfrm>
            <a:off x="475488" y="3758184"/>
            <a:ext cx="237744" cy="237744"/>
          </a:xfrm>
          <a:prstGeom prst="ellipse">
            <a:avLst/>
          </a:prstGeom>
          <a:solidFill>
            <a:srgbClr val="C4621D"/>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Les animer (Veo), assembler dans SceneBuilder</a:t>
            </a:r>
            <a:endParaRPr lang="en-US" sz="1000" dirty="0"/>
          </a:p>
        </p:txBody>
      </p:sp>
      <p:sp>
        <p:nvSpPr>
          <p:cNvPr id="37" name="Shape 32"/>
          <p:cNvSpPr/>
          <p:nvPr/>
        </p:nvSpPr>
        <p:spPr>
          <a:xfrm>
            <a:off x="475488" y="4160520"/>
            <a:ext cx="237744" cy="237744"/>
          </a:xfrm>
          <a:prstGeom prst="ellipse">
            <a:avLst/>
          </a:prstGeom>
          <a:solidFill>
            <a:srgbClr val="C4621D"/>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Ajouter titre et chiffres au montage, pas dans la génération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Plan aérien lent au lever du soleil sur des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collines verdoyantes et un village d'Afrique de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l'Est, lumière dorée, style documentaire, sans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texte ni personne identifiable. 8 secondes.</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[Titre et chiffres ajoutés ensuite au montage,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à partir du communiqué vérifié]</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aucun chiffre ni texte généré dans l'image ; titres ajoutés au montage à partir du communiqué.</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Abonnement Google AI (Plus au minimum), 18 ans et région éligible. Aucun visage réel, aucune scène trompeuse.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Flow exige un abonnement Google AI Plus, Pro ou Ultra, 18 ans minimum et une région éligible ; les vidéos Veo portent un filigrane invisible SynthID.</a:t>
            </a:r>
            <a:endParaRPr lang="en-US" sz="8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05 · DÉCIDER ET PROTÉGER</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Décider et protéger</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Quand faut-il une décision fiable plutôt qu'un beau texte ?</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5C242"/>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DÉCIDER ET PROTÉGER</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Jev — un modèle de décision, pas un chatbot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B83B2E"/>
            </a:solidFill>
            <a:prstDash val="solid"/>
          </a:ln>
        </p:spPr>
      </p:sp>
      <p:sp>
        <p:nvSpPr>
          <p:cNvPr id="18" name="Shape 15"/>
          <p:cNvSpPr/>
          <p:nvPr/>
        </p:nvSpPr>
        <p:spPr>
          <a:xfrm>
            <a:off x="548640" y="1399032"/>
            <a:ext cx="475488" cy="475488"/>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Jev</a:t>
            </a:r>
            <a:endParaRPr lang="en-US" sz="1300" dirty="0"/>
          </a:p>
        </p:txBody>
      </p:sp>
      <p:sp>
        <p:nvSpPr>
          <p:cNvPr id="21" name="Shape 17"/>
          <p:cNvSpPr/>
          <p:nvPr/>
        </p:nvSpPr>
        <p:spPr>
          <a:xfrm>
            <a:off x="2651760" y="1362456"/>
            <a:ext cx="1097280" cy="201168"/>
          </a:xfrm>
          <a:prstGeom prst="roundRect">
            <a:avLst>
              <a:gd name="adj" fmla="val 50000"/>
            </a:avLst>
          </a:prstGeom>
          <a:solidFill>
            <a:srgbClr val="C4621D"/>
          </a:solidFill>
          <a:ln w="9525">
            <a:solidFill>
              <a:srgbClr val="C4621D"/>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ACCÈS ANTICIPÉ</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TypeSafe AI · choix, scores et probabilités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console.typesafe.ai</a:t>
            </a:r>
            <a:endParaRPr lang="en-US" sz="900" dirty="0"/>
          </a:p>
        </p:txBody>
      </p:sp>
      <p:pic>
        <p:nvPicPr>
          <p:cNvPr id="25" name="Image 1" descr="/home/claude/lab10/qr/jev.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CAS D'USAGE INS</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Coder des réponses libres (profession, branche, motif), orienter des demandes d'usagers ou signaler des anomalies — avec une confiance exploitable.</a:t>
            </a:r>
            <a:endParaRPr lang="en-US" sz="1100" dirty="0"/>
          </a:p>
        </p:txBody>
      </p:sp>
      <p:sp>
        <p:nvSpPr>
          <p:cNvPr id="28" name="Shape 23"/>
          <p:cNvSpPr/>
          <p:nvPr/>
        </p:nvSpPr>
        <p:spPr>
          <a:xfrm>
            <a:off x="475488" y="2953512"/>
            <a:ext cx="237744" cy="237744"/>
          </a:xfrm>
          <a:prstGeom prst="ellipse">
            <a:avLst/>
          </a:prstGeom>
          <a:solidFill>
            <a:srgbClr val="B83B2E"/>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Console officielle TypeSafe : Playground (accès anticipé)</a:t>
            </a:r>
            <a:endParaRPr lang="en-US" sz="1000" dirty="0"/>
          </a:p>
        </p:txBody>
      </p:sp>
      <p:sp>
        <p:nvSpPr>
          <p:cNvPr id="31" name="Shape 26"/>
          <p:cNvSpPr/>
          <p:nvPr/>
        </p:nvSpPr>
        <p:spPr>
          <a:xfrm>
            <a:off x="475488" y="3355848"/>
            <a:ext cx="237744" cy="237744"/>
          </a:xfrm>
          <a:prstGeom prst="ellipse">
            <a:avLst/>
          </a:prstGeom>
          <a:solidFill>
            <a:srgbClr val="B83B2E"/>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Déclarer la question et les choix possibles (ex. 10 grands groupes CITP)</a:t>
            </a:r>
            <a:endParaRPr lang="en-US" sz="1000" dirty="0"/>
          </a:p>
        </p:txBody>
      </p:sp>
      <p:sp>
        <p:nvSpPr>
          <p:cNvPr id="34" name="Shape 29"/>
          <p:cNvSpPr/>
          <p:nvPr/>
        </p:nvSpPr>
        <p:spPr>
          <a:xfrm>
            <a:off x="475488" y="3758184"/>
            <a:ext cx="237744" cy="237744"/>
          </a:xfrm>
          <a:prstGeom prst="ellipse">
            <a:avLst/>
          </a:prstGeom>
          <a:solidFill>
            <a:srgbClr val="B83B2E"/>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Soumettre 24 réponses dont le code est connu</a:t>
            </a:r>
            <a:endParaRPr lang="en-US" sz="1000" dirty="0"/>
          </a:p>
        </p:txBody>
      </p:sp>
      <p:sp>
        <p:nvSpPr>
          <p:cNvPr id="37" name="Shape 32"/>
          <p:cNvSpPr/>
          <p:nvPr/>
        </p:nvSpPr>
        <p:spPr>
          <a:xfrm>
            <a:off x="475488" y="4160520"/>
            <a:ext cx="237744" cy="237744"/>
          </a:xfrm>
          <a:prstGeom prst="ellipse">
            <a:avLst/>
          </a:prstGeom>
          <a:solidFill>
            <a:srgbClr val="B83B2E"/>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Comparer exactitude ET confiance à celles d'un LLM</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PRÊT À COPIER</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Question : grand groupe CITP-08 de la profession</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Choix : 0 Forces armées … 9 Professions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élémentaires (10 choix)</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Contexte : « cueilleuse de thé payée à la</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journée »</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Attendu : un choix + une probabilité par choix</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un niveau de confiance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Vérifier : </a:t>
            </a:r>
            <a:r>
              <a:rPr lang="en-US" sz="950" dirty="0">
                <a:solidFill>
                  <a:srgbClr val="231F20"/>
                </a:solidFill>
                <a:latin typeface="Calibri" pitchFamily="34" charset="0"/>
                <a:ea typeface="Calibri" pitchFamily="34" charset="-122"/>
                <a:cs typeface="Calibri" pitchFamily="34" charset="-120"/>
              </a:rPr>
              <a:t>sur les 24 réponses de référence : exactitude, et part des erreurs signalées par une confiance basse.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Chiffres de vitesse et de prix annoncés par l'éditeur : à vérifier sur vos cas. Données synthétiques uniquement.</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Jev renvoie des choix prédéfinis, des scores et des probabilités avec une estimation de confiance, plutôt que du texte ; accès anticipé via API depuis le 17/09/2026.</a:t>
            </a:r>
            <a:endParaRPr lang="en-US" sz="8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DÉCIDER ET PROTÉGER</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Souveraineté : où vont les données ?</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71600"/>
            <a:ext cx="4206240" cy="603504"/>
          </a:xfrm>
          <a:prstGeom prst="roundRect">
            <a:avLst>
              <a:gd name="adj" fmla="val 12121"/>
            </a:avLst>
          </a:prstGeom>
          <a:solidFill>
            <a:srgbClr val="F4F7F5"/>
          </a:solidFill>
          <a:ln w="9525">
            <a:solidFill>
              <a:srgbClr val="D5DED9"/>
            </a:solidFill>
            <a:prstDash val="solid"/>
          </a:ln>
        </p:spPr>
      </p:sp>
      <p:sp>
        <p:nvSpPr>
          <p:cNvPr id="18" name="Text 15"/>
          <p:cNvSpPr txBox="1"/>
          <p:nvPr/>
        </p:nvSpPr>
        <p:spPr>
          <a:xfrm>
            <a:off x="594360" y="1444752"/>
            <a:ext cx="1463040" cy="457200"/>
          </a:xfrm>
          <a:prstGeom prst="rect">
            <a:avLst/>
          </a:prstGeom>
          <a:noFill/>
          <a:ln/>
        </p:spPr>
        <p:txBody>
          <a:bodyPr wrap="square" lIns="0" tIns="0" rIns="0" bIns="0"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États-Unis</a:t>
            </a:r>
            <a:endParaRPr lang="en-US" sz="1300" dirty="0"/>
          </a:p>
        </p:txBody>
      </p:sp>
      <p:sp>
        <p:nvSpPr>
          <p:cNvPr id="19" name="Text 16"/>
          <p:cNvSpPr txBox="1"/>
          <p:nvPr/>
        </p:nvSpPr>
        <p:spPr>
          <a:xfrm>
            <a:off x="2011680" y="1426464"/>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Perplexity · NotebookLM · Nano Banana · Flow · Jev · Data Commons (Google)</a:t>
            </a:r>
            <a:endParaRPr lang="en-US" sz="950" dirty="0"/>
          </a:p>
        </p:txBody>
      </p:sp>
      <p:sp>
        <p:nvSpPr>
          <p:cNvPr id="20" name="Shape 17"/>
          <p:cNvSpPr/>
          <p:nvPr/>
        </p:nvSpPr>
        <p:spPr>
          <a:xfrm>
            <a:off x="457200" y="2084832"/>
            <a:ext cx="4206240" cy="603504"/>
          </a:xfrm>
          <a:prstGeom prst="roundRect">
            <a:avLst>
              <a:gd name="adj" fmla="val 12121"/>
            </a:avLst>
          </a:prstGeom>
          <a:solidFill>
            <a:srgbClr val="F4F7F5"/>
          </a:solidFill>
          <a:ln w="9525">
            <a:solidFill>
              <a:srgbClr val="D5DED9"/>
            </a:solidFill>
            <a:prstDash val="solid"/>
          </a:ln>
        </p:spPr>
      </p:sp>
      <p:sp>
        <p:nvSpPr>
          <p:cNvPr id="21" name="Text 18"/>
          <p:cNvSpPr txBox="1"/>
          <p:nvPr/>
        </p:nvSpPr>
        <p:spPr>
          <a:xfrm>
            <a:off x="594360" y="2157984"/>
            <a:ext cx="1463040" cy="457200"/>
          </a:xfrm>
          <a:prstGeom prst="rect">
            <a:avLst/>
          </a:prstGeom>
          <a:noFill/>
          <a:ln/>
        </p:spPr>
        <p:txBody>
          <a:bodyPr wrap="square" lIns="0" tIns="0" rIns="0" bIns="0" rtlCol="0" anchor="ctr"/>
          <a:lstStyle/>
          <a:p>
            <a:pPr marL="0" indent="0">
              <a:buNone/>
            </a:pPr>
            <a:r>
              <a:rPr lang="en-US" sz="1300" b="1" dirty="0">
                <a:solidFill>
                  <a:srgbClr val="B83B2E"/>
                </a:solidFill>
                <a:latin typeface="Calibri" pitchFamily="34" charset="0"/>
                <a:ea typeface="Calibri" pitchFamily="34" charset="-122"/>
                <a:cs typeface="Calibri" pitchFamily="34" charset="-120"/>
              </a:rPr>
              <a:t>Chine</a:t>
            </a:r>
            <a:endParaRPr lang="en-US" sz="1300" dirty="0"/>
          </a:p>
        </p:txBody>
      </p:sp>
      <p:sp>
        <p:nvSpPr>
          <p:cNvPr id="22" name="Text 19"/>
          <p:cNvSpPr txBox="1"/>
          <p:nvPr/>
        </p:nvSpPr>
        <p:spPr>
          <a:xfrm>
            <a:off x="2011680" y="2139696"/>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GLM (Z.ai) · Kimi (Moonshot AI)</a:t>
            </a:r>
            <a:endParaRPr lang="en-US" sz="950" dirty="0"/>
          </a:p>
        </p:txBody>
      </p:sp>
      <p:sp>
        <p:nvSpPr>
          <p:cNvPr id="23" name="Shape 20"/>
          <p:cNvSpPr/>
          <p:nvPr/>
        </p:nvSpPr>
        <p:spPr>
          <a:xfrm>
            <a:off x="457200" y="2798064"/>
            <a:ext cx="4206240" cy="603504"/>
          </a:xfrm>
          <a:prstGeom prst="roundRect">
            <a:avLst>
              <a:gd name="adj" fmla="val 12121"/>
            </a:avLst>
          </a:prstGeom>
          <a:solidFill>
            <a:srgbClr val="F4F7F5"/>
          </a:solidFill>
          <a:ln w="9525">
            <a:solidFill>
              <a:srgbClr val="D5DED9"/>
            </a:solidFill>
            <a:prstDash val="solid"/>
          </a:ln>
        </p:spPr>
      </p:sp>
      <p:sp>
        <p:nvSpPr>
          <p:cNvPr id="24" name="Text 21"/>
          <p:cNvSpPr txBox="1"/>
          <p:nvPr/>
        </p:nvSpPr>
        <p:spPr>
          <a:xfrm>
            <a:off x="594360" y="2871216"/>
            <a:ext cx="1463040" cy="457200"/>
          </a:xfrm>
          <a:prstGeom prst="rect">
            <a:avLst/>
          </a:prstGeom>
          <a:noFill/>
          <a:ln/>
        </p:spPr>
        <p:txBody>
          <a:bodyPr wrap="square" lIns="0" tIns="0" rIns="0" bIns="0" rtlCol="0" anchor="ctr"/>
          <a:lstStyle/>
          <a:p>
            <a:pPr marL="0" indent="0">
              <a:buNone/>
            </a:pPr>
            <a:r>
              <a:rPr lang="en-US" sz="1300" b="1" dirty="0">
                <a:solidFill>
                  <a:srgbClr val="00A86A"/>
                </a:solidFill>
                <a:latin typeface="Calibri" pitchFamily="34" charset="0"/>
                <a:ea typeface="Calibri" pitchFamily="34" charset="-122"/>
                <a:cs typeface="Calibri" pitchFamily="34" charset="-120"/>
              </a:rPr>
              <a:t>Union européenne</a:t>
            </a:r>
            <a:endParaRPr lang="en-US" sz="1300" dirty="0"/>
          </a:p>
        </p:txBody>
      </p:sp>
      <p:sp>
        <p:nvSpPr>
          <p:cNvPr id="25" name="Text 22"/>
          <p:cNvSpPr txBox="1"/>
          <p:nvPr/>
        </p:nvSpPr>
        <p:spPr>
          <a:xfrm>
            <a:off x="2011680" y="2852928"/>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Le Chat (Mistral AI, France) · LeapSpace (Elsevier)</a:t>
            </a:r>
            <a:endParaRPr lang="en-US" sz="950" dirty="0"/>
          </a:p>
        </p:txBody>
      </p:sp>
      <p:sp>
        <p:nvSpPr>
          <p:cNvPr id="26" name="Shape 23"/>
          <p:cNvSpPr/>
          <p:nvPr/>
        </p:nvSpPr>
        <p:spPr>
          <a:xfrm>
            <a:off x="4892040" y="1371600"/>
            <a:ext cx="3794760" cy="2029968"/>
          </a:xfrm>
          <a:prstGeom prst="roundRect">
            <a:avLst>
              <a:gd name="adj" fmla="val 3604"/>
            </a:avLst>
          </a:prstGeom>
          <a:solidFill>
            <a:srgbClr val="E8F5EF"/>
          </a:solidFill>
          <a:ln w="15875">
            <a:solidFill>
              <a:srgbClr val="00A86A"/>
            </a:solidFill>
            <a:prstDash val="solid"/>
          </a:ln>
        </p:spPr>
      </p:sp>
      <p:sp>
        <p:nvSpPr>
          <p:cNvPr id="27" name="Shape 24"/>
          <p:cNvSpPr/>
          <p:nvPr/>
        </p:nvSpPr>
        <p:spPr>
          <a:xfrm>
            <a:off x="5029200" y="1481328"/>
            <a:ext cx="457200" cy="457200"/>
          </a:xfrm>
          <a:prstGeom prst="ellipse">
            <a:avLst/>
          </a:prstGeom>
          <a:solidFill>
            <a:srgbClr val="00704A">
              <a:alpha val="22000"/>
            </a:srgbClr>
          </a:solidFill>
          <a:ln/>
        </p:spPr>
      </p:sp>
      <p:pic>
        <p:nvPicPr>
          <p:cNvPr id="28" name="Image 0" descr="preencoded.png"/>
          <p:cNvPicPr>
            <a:picLocks noChangeAspect="1"/>
          </p:cNvPicPr>
          <p:nvPr/>
        </p:nvPicPr>
        <p:blipFill>
          <a:blip r:embed="rId3"/>
          <a:stretch>
            <a:fillRect/>
          </a:stretch>
        </p:blipFill>
        <p:spPr>
          <a:xfrm>
            <a:off x="5143500" y="1595628"/>
            <a:ext cx="228600" cy="228600"/>
          </a:xfrm>
          <a:prstGeom prst="rect">
            <a:avLst/>
          </a:prstGeom>
        </p:spPr>
      </p:pic>
      <p:sp>
        <p:nvSpPr>
          <p:cNvPr id="29" name="Text 25"/>
          <p:cNvSpPr txBox="1"/>
          <p:nvPr/>
        </p:nvSpPr>
        <p:spPr>
          <a:xfrm>
            <a:off x="5577840" y="1517904"/>
            <a:ext cx="3017520"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Le levier décisif : les poids ouverts</a:t>
            </a:r>
            <a:endParaRPr lang="en-US" sz="1300" dirty="0"/>
          </a:p>
        </p:txBody>
      </p:sp>
      <p:sp>
        <p:nvSpPr>
          <p:cNvPr id="30" name="Text 26"/>
          <p:cNvSpPr txBox="1"/>
          <p:nvPr/>
        </p:nvSpPr>
        <p:spPr>
          <a:xfrm>
            <a:off x="5047488" y="2011680"/>
            <a:ext cx="3520440" cy="13258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GLM, Kimi et Mistral publient des modèles à poids ouverts. Installés sur un serveur de l'institut, ils traitent des données sensibles sans qu'elles quittent les murs. C'est un projet d'infrastructure, à piloter avec la DSI.</a:t>
            </a:r>
            <a:endParaRPr lang="en-US" sz="1050" dirty="0"/>
          </a:p>
        </p:txBody>
      </p:sp>
      <p:sp>
        <p:nvSpPr>
          <p:cNvPr id="31" name="Shape 27"/>
          <p:cNvSpPr/>
          <p:nvPr/>
        </p:nvSpPr>
        <p:spPr>
          <a:xfrm>
            <a:off x="457200" y="3584448"/>
            <a:ext cx="8229600" cy="868680"/>
          </a:xfrm>
          <a:prstGeom prst="roundRect">
            <a:avLst>
              <a:gd name="adj" fmla="val 8421"/>
            </a:avLst>
          </a:prstGeom>
          <a:solidFill>
            <a:srgbClr val="FFFFFF"/>
          </a:solidFill>
          <a:ln w="9525">
            <a:solidFill>
              <a:srgbClr val="00704A"/>
            </a:solidFill>
            <a:prstDash val="solid"/>
          </a:ln>
        </p:spPr>
      </p:sp>
      <p:sp>
        <p:nvSpPr>
          <p:cNvPr id="32" name="Shape 28"/>
          <p:cNvSpPr/>
          <p:nvPr/>
        </p:nvSpPr>
        <p:spPr>
          <a:xfrm>
            <a:off x="594360" y="3767328"/>
            <a:ext cx="457200" cy="457200"/>
          </a:xfrm>
          <a:prstGeom prst="ellipse">
            <a:avLst/>
          </a:prstGeom>
          <a:solidFill>
            <a:srgbClr val="00A86A">
              <a:alpha val="22000"/>
            </a:srgbClr>
          </a:solidFill>
          <a:ln/>
        </p:spPr>
      </p:sp>
      <p:pic>
        <p:nvPicPr>
          <p:cNvPr id="33" name="Image 1" descr="preencoded.png"/>
          <p:cNvPicPr>
            <a:picLocks noChangeAspect="1"/>
          </p:cNvPicPr>
          <p:nvPr/>
        </p:nvPicPr>
        <p:blipFill>
          <a:blip r:embed="rId4"/>
          <a:stretch>
            <a:fillRect/>
          </a:stretch>
        </p:blipFill>
        <p:spPr>
          <a:xfrm>
            <a:off x="708660" y="3881628"/>
            <a:ext cx="228600" cy="228600"/>
          </a:xfrm>
          <a:prstGeom prst="rect">
            <a:avLst/>
          </a:prstGeom>
        </p:spPr>
      </p:pic>
      <p:sp>
        <p:nvSpPr>
          <p:cNvPr id="34" name="Text 29"/>
          <p:cNvSpPr txBox="1"/>
          <p:nvPr/>
        </p:nvSpPr>
        <p:spPr>
          <a:xfrm>
            <a:off x="1188720" y="3630168"/>
            <a:ext cx="6583680" cy="77724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Le Chat (Mistral) : </a:t>
            </a:r>
            <a:r>
              <a:rPr lang="en-US" sz="1100" dirty="0">
                <a:solidFill>
                  <a:srgbClr val="231F20"/>
                </a:solidFill>
                <a:latin typeface="Calibri" pitchFamily="34" charset="0"/>
                <a:ea typeface="Calibri" pitchFamily="34" charset="-122"/>
                <a:cs typeface="Calibri" pitchFamily="34" charset="-120"/>
              </a:rPr>
              <a:t>alternative européenne gratuite, très bonne en français. Utile pour la rédaction et la traduction, sous les mêmes règles de données. </a:t>
            </a:r>
            <a:r>
              <a:rPr lang="en-US" sz="1100" b="1"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chat.mistral.ai</a:t>
            </a:r>
            <a:endParaRPr lang="en-US" sz="1100" dirty="0"/>
          </a:p>
        </p:txBody>
      </p:sp>
      <p:pic>
        <p:nvPicPr>
          <p:cNvPr id="35" name="Image 2" descr="/home/claude/lab10/qr/lechat.png">
            <a:hlinkClick r:id="rId5"/>
          </p:cNvPr>
          <p:cNvPicPr>
            <a:picLocks noChangeAspect="1"/>
          </p:cNvPicPr>
          <p:nvPr/>
        </p:nvPicPr>
        <p:blipFill>
          <a:blip r:embed="rId6"/>
          <a:stretch>
            <a:fillRect/>
          </a:stretch>
        </p:blipFill>
        <p:spPr>
          <a:xfrm>
            <a:off x="7909560" y="3648456"/>
            <a:ext cx="731520" cy="731520"/>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DÉCIDER ET PROTÉGER</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Quatre règles d'or, valables pour les dix outils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4023360" cy="1444752"/>
          </a:xfrm>
          <a:prstGeom prst="roundRect">
            <a:avLst>
              <a:gd name="adj" fmla="val 5063"/>
            </a:avLst>
          </a:prstGeom>
          <a:solidFill>
            <a:srgbClr val="FFFFFF"/>
          </a:solidFill>
          <a:ln w="15875">
            <a:solidFill>
              <a:srgbClr val="B83B2E"/>
            </a:solidFill>
            <a:prstDash val="solid"/>
          </a:ln>
        </p:spPr>
      </p:sp>
      <p:sp>
        <p:nvSpPr>
          <p:cNvPr id="18" name="Text 15"/>
          <p:cNvSpPr txBox="1"/>
          <p:nvPr/>
        </p:nvSpPr>
        <p:spPr>
          <a:xfrm>
            <a:off x="640080" y="1435608"/>
            <a:ext cx="548640" cy="640080"/>
          </a:xfrm>
          <a:prstGeom prst="rect">
            <a:avLst/>
          </a:prstGeom>
          <a:noFill/>
          <a:ln/>
        </p:spPr>
        <p:txBody>
          <a:bodyPr wrap="square" lIns="0" tIns="0" rIns="0" bIns="0" rtlCol="0" anchor="t"/>
          <a:lstStyle/>
          <a:p>
            <a:pPr marL="0" indent="0">
              <a:buNone/>
            </a:pPr>
            <a:r>
              <a:rPr lang="en-US" sz="3600" b="1" dirty="0">
                <a:solidFill>
                  <a:srgbClr val="B83B2E"/>
                </a:solidFill>
                <a:latin typeface="Calibri" pitchFamily="34" charset="0"/>
                <a:ea typeface="Calibri" pitchFamily="34" charset="-122"/>
                <a:cs typeface="Calibri" pitchFamily="34" charset="-120"/>
              </a:rPr>
              <a:t>1</a:t>
            </a:r>
            <a:endParaRPr lang="en-US" sz="3600" dirty="0"/>
          </a:p>
        </p:txBody>
      </p:sp>
      <p:sp>
        <p:nvSpPr>
          <p:cNvPr id="19" name="Text 16"/>
          <p:cNvSpPr txBox="1"/>
          <p:nvPr/>
        </p:nvSpPr>
        <p:spPr>
          <a:xfrm>
            <a:off x="1234440" y="15087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Données publiques ou synthétiques</a:t>
            </a:r>
            <a:endParaRPr lang="en-US" sz="1400" dirty="0"/>
          </a:p>
        </p:txBody>
      </p:sp>
      <p:sp>
        <p:nvSpPr>
          <p:cNvPr id="20" name="Text 17"/>
          <p:cNvSpPr txBox="1"/>
          <p:nvPr/>
        </p:nvSpPr>
        <p:spPr>
          <a:xfrm>
            <a:off x="1234440" y="18745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Jamais de microdonnées, d'identifiants, de chiffres sous embargo ni de documents internes sensibles.</a:t>
            </a:r>
            <a:endParaRPr lang="en-US" sz="1050" dirty="0"/>
          </a:p>
        </p:txBody>
      </p:sp>
      <p:sp>
        <p:nvSpPr>
          <p:cNvPr id="21" name="Shape 18"/>
          <p:cNvSpPr/>
          <p:nvPr/>
        </p:nvSpPr>
        <p:spPr>
          <a:xfrm>
            <a:off x="4663440" y="1325880"/>
            <a:ext cx="4023360" cy="1444752"/>
          </a:xfrm>
          <a:prstGeom prst="roundRect">
            <a:avLst>
              <a:gd name="adj" fmla="val 5063"/>
            </a:avLst>
          </a:prstGeom>
          <a:solidFill>
            <a:srgbClr val="FFFFFF"/>
          </a:solidFill>
          <a:ln w="15875">
            <a:solidFill>
              <a:srgbClr val="00A86A"/>
            </a:solidFill>
            <a:prstDash val="solid"/>
          </a:ln>
        </p:spPr>
      </p:sp>
      <p:sp>
        <p:nvSpPr>
          <p:cNvPr id="22" name="Text 19"/>
          <p:cNvSpPr txBox="1"/>
          <p:nvPr/>
        </p:nvSpPr>
        <p:spPr>
          <a:xfrm>
            <a:off x="4846320" y="1435608"/>
            <a:ext cx="548640" cy="640080"/>
          </a:xfrm>
          <a:prstGeom prst="rect">
            <a:avLst/>
          </a:prstGeom>
          <a:noFill/>
          <a:ln/>
        </p:spPr>
        <p:txBody>
          <a:bodyPr wrap="square" lIns="0" tIns="0" rIns="0" bIns="0" rtlCol="0" anchor="t"/>
          <a:lstStyle/>
          <a:p>
            <a:pPr marL="0" indent="0">
              <a:buNone/>
            </a:pPr>
            <a:r>
              <a:rPr lang="en-US" sz="3600" b="1" dirty="0">
                <a:solidFill>
                  <a:srgbClr val="00A86A"/>
                </a:solidFill>
                <a:latin typeface="Calibri" pitchFamily="34" charset="0"/>
                <a:ea typeface="Calibri" pitchFamily="34" charset="-122"/>
                <a:cs typeface="Calibri" pitchFamily="34" charset="-120"/>
              </a:rPr>
              <a:t>2</a:t>
            </a:r>
            <a:endParaRPr lang="en-US" sz="3600" dirty="0"/>
          </a:p>
        </p:txBody>
      </p:sp>
      <p:sp>
        <p:nvSpPr>
          <p:cNvPr id="23" name="Text 20"/>
          <p:cNvSpPr txBox="1"/>
          <p:nvPr/>
        </p:nvSpPr>
        <p:spPr>
          <a:xfrm>
            <a:off x="5440680" y="15087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Retour à la source</a:t>
            </a:r>
            <a:endParaRPr lang="en-US" sz="1400" dirty="0"/>
          </a:p>
        </p:txBody>
      </p:sp>
      <p:sp>
        <p:nvSpPr>
          <p:cNvPr id="24" name="Text 21"/>
          <p:cNvSpPr txBox="1"/>
          <p:nvPr/>
        </p:nvSpPr>
        <p:spPr>
          <a:xfrm>
            <a:off x="5440680" y="18745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Chaque chiffre, citation ou code produit par un outil est contrôlé face au document d'origine.</a:t>
            </a:r>
            <a:endParaRPr lang="en-US" sz="1050" dirty="0"/>
          </a:p>
        </p:txBody>
      </p:sp>
      <p:sp>
        <p:nvSpPr>
          <p:cNvPr id="25" name="Shape 22"/>
          <p:cNvSpPr/>
          <p:nvPr/>
        </p:nvSpPr>
        <p:spPr>
          <a:xfrm>
            <a:off x="457200" y="2926080"/>
            <a:ext cx="4023360" cy="1444752"/>
          </a:xfrm>
          <a:prstGeom prst="roundRect">
            <a:avLst>
              <a:gd name="adj" fmla="val 5063"/>
            </a:avLst>
          </a:prstGeom>
          <a:solidFill>
            <a:srgbClr val="FFFFFF"/>
          </a:solidFill>
          <a:ln w="15875">
            <a:solidFill>
              <a:srgbClr val="0E7C86"/>
            </a:solidFill>
            <a:prstDash val="solid"/>
          </a:ln>
        </p:spPr>
      </p:sp>
      <p:sp>
        <p:nvSpPr>
          <p:cNvPr id="26" name="Text 23"/>
          <p:cNvSpPr txBox="1"/>
          <p:nvPr/>
        </p:nvSpPr>
        <p:spPr>
          <a:xfrm>
            <a:off x="640080" y="3035808"/>
            <a:ext cx="548640" cy="640080"/>
          </a:xfrm>
          <a:prstGeom prst="rect">
            <a:avLst/>
          </a:prstGeom>
          <a:noFill/>
          <a:ln/>
        </p:spPr>
        <p:txBody>
          <a:bodyPr wrap="square" lIns="0" tIns="0" rIns="0" bIns="0" rtlCol="0" anchor="t"/>
          <a:lstStyle/>
          <a:p>
            <a:pPr marL="0" indent="0">
              <a:buNone/>
            </a:pPr>
            <a:r>
              <a:rPr lang="en-US" sz="3600" b="1" dirty="0">
                <a:solidFill>
                  <a:srgbClr val="0E7C86"/>
                </a:solidFill>
                <a:latin typeface="Calibri" pitchFamily="34" charset="0"/>
                <a:ea typeface="Calibri" pitchFamily="34" charset="-122"/>
                <a:cs typeface="Calibri" pitchFamily="34" charset="-120"/>
              </a:rPr>
              <a:t>3</a:t>
            </a:r>
            <a:endParaRPr lang="en-US" sz="3600" dirty="0"/>
          </a:p>
        </p:txBody>
      </p:sp>
      <p:sp>
        <p:nvSpPr>
          <p:cNvPr id="27" name="Text 24"/>
          <p:cNvSpPr txBox="1"/>
          <p:nvPr/>
        </p:nvSpPr>
        <p:spPr>
          <a:xfrm>
            <a:off x="1234440" y="31089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Signaler l'IA</a:t>
            </a:r>
            <a:endParaRPr lang="en-US" sz="1400" dirty="0"/>
          </a:p>
        </p:txBody>
      </p:sp>
      <p:sp>
        <p:nvSpPr>
          <p:cNvPr id="28" name="Text 25"/>
          <p:cNvSpPr txBox="1"/>
          <p:nvPr/>
        </p:nvSpPr>
        <p:spPr>
          <a:xfrm>
            <a:off x="1234440" y="34747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Images, vidéos, audio et tableaux de bord portent la mention « produit avec l'IA, validé par … ».</a:t>
            </a:r>
            <a:endParaRPr lang="en-US" sz="1050" dirty="0"/>
          </a:p>
        </p:txBody>
      </p:sp>
      <p:sp>
        <p:nvSpPr>
          <p:cNvPr id="29" name="Shape 26"/>
          <p:cNvSpPr/>
          <p:nvPr/>
        </p:nvSpPr>
        <p:spPr>
          <a:xfrm>
            <a:off x="4663440" y="2926080"/>
            <a:ext cx="4023360" cy="1444752"/>
          </a:xfrm>
          <a:prstGeom prst="roundRect">
            <a:avLst>
              <a:gd name="adj" fmla="val 5063"/>
            </a:avLst>
          </a:prstGeom>
          <a:solidFill>
            <a:srgbClr val="FFFFFF"/>
          </a:solidFill>
          <a:ln w="15875">
            <a:solidFill>
              <a:srgbClr val="D49A00"/>
            </a:solidFill>
            <a:prstDash val="solid"/>
          </a:ln>
        </p:spPr>
      </p:sp>
      <p:sp>
        <p:nvSpPr>
          <p:cNvPr id="30" name="Text 27"/>
          <p:cNvSpPr txBox="1"/>
          <p:nvPr/>
        </p:nvSpPr>
        <p:spPr>
          <a:xfrm>
            <a:off x="4846320" y="3035808"/>
            <a:ext cx="548640" cy="640080"/>
          </a:xfrm>
          <a:prstGeom prst="rect">
            <a:avLst/>
          </a:prstGeom>
          <a:noFill/>
          <a:ln/>
        </p:spPr>
        <p:txBody>
          <a:bodyPr wrap="square" lIns="0" tIns="0" rIns="0" bIns="0" rtlCol="0" anchor="t"/>
          <a:lstStyle/>
          <a:p>
            <a:pPr marL="0" indent="0">
              <a:buNone/>
            </a:pPr>
            <a:r>
              <a:rPr lang="en-US" sz="3600" b="1" dirty="0">
                <a:solidFill>
                  <a:srgbClr val="D49A00"/>
                </a:solidFill>
                <a:latin typeface="Calibri" pitchFamily="34" charset="0"/>
                <a:ea typeface="Calibri" pitchFamily="34" charset="-122"/>
                <a:cs typeface="Calibri" pitchFamily="34" charset="-120"/>
              </a:rPr>
              <a:t>4</a:t>
            </a:r>
            <a:endParaRPr lang="en-US" sz="3600" dirty="0"/>
          </a:p>
        </p:txBody>
      </p:sp>
      <p:sp>
        <p:nvSpPr>
          <p:cNvPr id="31" name="Text 28"/>
          <p:cNvSpPr txBox="1"/>
          <p:nvPr/>
        </p:nvSpPr>
        <p:spPr>
          <a:xfrm>
            <a:off x="5440680" y="31089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Un compte par personne</a:t>
            </a:r>
            <a:endParaRPr lang="en-US" sz="1400" dirty="0"/>
          </a:p>
        </p:txBody>
      </p:sp>
      <p:sp>
        <p:nvSpPr>
          <p:cNvPr id="32" name="Text 29"/>
          <p:cNvSpPr txBox="1"/>
          <p:nvPr/>
        </p:nvSpPr>
        <p:spPr>
          <a:xfrm>
            <a:off x="5440680" y="34747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Pas de compte partagé ; pas de mot de passe ni de clé dans un document ou une cellule.</a:t>
            </a:r>
            <a:endParaRPr lang="en-US" sz="10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64008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CLÔTURE · TROIS MESSAGES</a:t>
            </a:r>
            <a:endParaRPr lang="en-US" sz="1100" dirty="0"/>
          </a:p>
        </p:txBody>
      </p:sp>
      <p:sp>
        <p:nvSpPr>
          <p:cNvPr id="4" name="Text 2"/>
          <p:cNvSpPr txBox="1"/>
          <p:nvPr/>
        </p:nvSpPr>
        <p:spPr>
          <a:xfrm>
            <a:off x="548640" y="960120"/>
            <a:ext cx="7772400" cy="10972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Le bon outil, bien vérifié,</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au service de la statistique</a:t>
            </a:r>
            <a:endParaRPr lang="en-US" sz="3200" dirty="0"/>
          </a:p>
        </p:txBody>
      </p:sp>
      <p:sp>
        <p:nvSpPr>
          <p:cNvPr id="5" name="Shape 3"/>
          <p:cNvSpPr/>
          <p:nvPr/>
        </p:nvSpPr>
        <p:spPr>
          <a:xfrm>
            <a:off x="5486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6" name="Text 4"/>
          <p:cNvSpPr txBox="1"/>
          <p:nvPr/>
        </p:nvSpPr>
        <p:spPr>
          <a:xfrm>
            <a:off x="7315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1</a:t>
            </a:r>
            <a:endParaRPr lang="en-US" sz="3600" dirty="0"/>
          </a:p>
        </p:txBody>
      </p:sp>
      <p:sp>
        <p:nvSpPr>
          <p:cNvPr id="7" name="Text 5"/>
          <p:cNvSpPr txBox="1"/>
          <p:nvPr/>
        </p:nvSpPr>
        <p:spPr>
          <a:xfrm>
            <a:off x="7315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La tâche choisit l'outil</a:t>
            </a:r>
            <a:endParaRPr lang="en-US" sz="1400" dirty="0"/>
          </a:p>
        </p:txBody>
      </p:sp>
      <p:sp>
        <p:nvSpPr>
          <p:cNvPr id="8" name="Text 6"/>
          <p:cNvSpPr txBox="1"/>
          <p:nvPr/>
        </p:nvSpPr>
        <p:spPr>
          <a:xfrm>
            <a:off x="7315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Chercher, comprendre, transformer, visualiser, décider : chaque usage a son outil.</a:t>
            </a:r>
            <a:endParaRPr lang="en-US" sz="1050" dirty="0"/>
          </a:p>
        </p:txBody>
      </p:sp>
      <p:sp>
        <p:nvSpPr>
          <p:cNvPr id="9" name="Shape 7"/>
          <p:cNvSpPr/>
          <p:nvPr/>
        </p:nvSpPr>
        <p:spPr>
          <a:xfrm>
            <a:off x="32918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0" name="Text 8"/>
          <p:cNvSpPr txBox="1"/>
          <p:nvPr/>
        </p:nvSpPr>
        <p:spPr>
          <a:xfrm>
            <a:off x="34747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2</a:t>
            </a:r>
            <a:endParaRPr lang="en-US" sz="3600" dirty="0"/>
          </a:p>
        </p:txBody>
      </p:sp>
      <p:sp>
        <p:nvSpPr>
          <p:cNvPr id="11" name="Text 9"/>
          <p:cNvSpPr txBox="1"/>
          <p:nvPr/>
        </p:nvSpPr>
        <p:spPr>
          <a:xfrm>
            <a:off x="34747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On mesure avant d'adopter</a:t>
            </a:r>
            <a:endParaRPr lang="en-US" sz="1400" dirty="0"/>
          </a:p>
        </p:txBody>
      </p:sp>
      <p:sp>
        <p:nvSpPr>
          <p:cNvPr id="12" name="Text 10"/>
          <p:cNvSpPr txBox="1"/>
          <p:nvPr/>
        </p:nvSpPr>
        <p:spPr>
          <a:xfrm>
            <a:off x="34747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Temps, qualité vérifiée, risque : trois chiffres pour chaque essai, partagés entre pays.</a:t>
            </a:r>
            <a:endParaRPr lang="en-US" sz="1050" dirty="0"/>
          </a:p>
        </p:txBody>
      </p:sp>
      <p:sp>
        <p:nvSpPr>
          <p:cNvPr id="13" name="Shape 11"/>
          <p:cNvSpPr/>
          <p:nvPr/>
        </p:nvSpPr>
        <p:spPr>
          <a:xfrm>
            <a:off x="60350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4" name="Text 12"/>
          <p:cNvSpPr txBox="1"/>
          <p:nvPr/>
        </p:nvSpPr>
        <p:spPr>
          <a:xfrm>
            <a:off x="62179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3</a:t>
            </a:r>
            <a:endParaRPr lang="en-US" sz="3600" dirty="0"/>
          </a:p>
        </p:txBody>
      </p:sp>
      <p:sp>
        <p:nvSpPr>
          <p:cNvPr id="15" name="Text 13"/>
          <p:cNvSpPr txBox="1"/>
          <p:nvPr/>
        </p:nvSpPr>
        <p:spPr>
          <a:xfrm>
            <a:off x="62179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La source a le dernier mot</a:t>
            </a:r>
            <a:endParaRPr lang="en-US" sz="1400" dirty="0"/>
          </a:p>
        </p:txBody>
      </p:sp>
      <p:sp>
        <p:nvSpPr>
          <p:cNvPr id="16" name="Text 14"/>
          <p:cNvSpPr txBox="1"/>
          <p:nvPr/>
        </p:nvSpPr>
        <p:spPr>
          <a:xfrm>
            <a:off x="62179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Données publiques, retour à la source, contenu généré signalé, un compte par personne.</a:t>
            </a:r>
            <a:endParaRPr lang="en-US" sz="1050" dirty="0"/>
          </a:p>
        </p:txBody>
      </p:sp>
      <p:sp>
        <p:nvSpPr>
          <p:cNvPr id="17" name="Text 15"/>
          <p:cNvSpPr txBox="1"/>
          <p:nvPr/>
        </p:nvSpPr>
        <p:spPr>
          <a:xfrm>
            <a:off x="548640" y="4343400"/>
            <a:ext cx="7315200" cy="274320"/>
          </a:xfrm>
          <a:prstGeom prst="rect">
            <a:avLst/>
          </a:prstGeom>
          <a:noFill/>
          <a:ln/>
        </p:spPr>
        <p:txBody>
          <a:bodyPr wrap="square" lIns="0" tIns="0" rIns="0" bIns="0" rtlCol="0" anchor="t"/>
          <a:lstStyle/>
          <a:p>
            <a:pPr marL="0" indent="0">
              <a:buNone/>
            </a:pPr>
            <a:r>
              <a:rPr lang="en-US" sz="1300" i="1" dirty="0">
                <a:solidFill>
                  <a:srgbClr val="FFFFFF"/>
                </a:solidFill>
                <a:latin typeface="Calibri" pitchFamily="34" charset="0"/>
                <a:ea typeface="Calibri" pitchFamily="34" charset="-122"/>
                <a:cs typeface="Calibri" pitchFamily="34" charset="-120"/>
              </a:rPr>
              <a:t>À vous : choisissez deux fiches, testez, mesurez — et partagez vos résultats.</a:t>
            </a:r>
            <a:endParaRPr lang="en-US" sz="13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DÉPLOYER</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Documents à tester (1/2) : Botswana → Kenya</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261872"/>
            <a:ext cx="1965960" cy="1591056"/>
          </a:xfrm>
          <a:prstGeom prst="roundRect">
            <a:avLst>
              <a:gd name="adj" fmla="val 4598"/>
            </a:avLst>
          </a:prstGeom>
          <a:solidFill>
            <a:srgbClr val="FFFFFF"/>
          </a:solidFill>
          <a:ln w="13970">
            <a:solidFill>
              <a:srgbClr val="0E7C86"/>
            </a:solidFill>
            <a:prstDash val="solid"/>
          </a:ln>
        </p:spPr>
      </p:sp>
      <p:pic>
        <p:nvPicPr>
          <p:cNvPr id="18" name="Image 0" descr="/home/claude/lab10/qr/p_bw.png">
            <a:hlinkClick r:id="rId3"/>
          </p:cNvPr>
          <p:cNvPicPr>
            <a:picLocks noChangeAspect="1"/>
          </p:cNvPicPr>
          <p:nvPr/>
        </p:nvPicPr>
        <p:blipFill>
          <a:blip r:embed="rId4"/>
          <a:stretch>
            <a:fillRect/>
          </a:stretch>
        </p:blipFill>
        <p:spPr>
          <a:xfrm>
            <a:off x="521208" y="1325880"/>
            <a:ext cx="896112" cy="896112"/>
          </a:xfrm>
          <a:prstGeom prst="rect">
            <a:avLst/>
          </a:prstGeom>
        </p:spPr>
      </p:pic>
      <p:sp>
        <p:nvSpPr>
          <p:cNvPr id="19" name="Text 15"/>
          <p:cNvSpPr txBox="1"/>
          <p:nvPr/>
        </p:nvSpPr>
        <p:spPr>
          <a:xfrm>
            <a:off x="1463040"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Botswana</a:t>
            </a:r>
            <a:endParaRPr lang="en-US" sz="1150" dirty="0"/>
          </a:p>
        </p:txBody>
      </p:sp>
      <p:sp>
        <p:nvSpPr>
          <p:cNvPr id="20" name="Text 16"/>
          <p:cNvSpPr txBox="1"/>
          <p:nvPr/>
        </p:nvSpPr>
        <p:spPr>
          <a:xfrm>
            <a:off x="1463040"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Statistics Botswana</a:t>
            </a:r>
            <a:endParaRPr lang="en-US" sz="800" dirty="0"/>
          </a:p>
        </p:txBody>
      </p:sp>
      <p:sp>
        <p:nvSpPr>
          <p:cNvPr id="21" name="Shape 17"/>
          <p:cNvSpPr/>
          <p:nvPr/>
        </p:nvSpPr>
        <p:spPr>
          <a:xfrm>
            <a:off x="1463040" y="1920240"/>
            <a:ext cx="502920" cy="192024"/>
          </a:xfrm>
          <a:prstGeom prst="roundRect">
            <a:avLst>
              <a:gd name="adj" fmla="val 52381"/>
            </a:avLst>
          </a:prstGeom>
          <a:solidFill>
            <a:srgbClr val="B83B2E"/>
          </a:solidFill>
          <a:ln w="9525">
            <a:solidFill>
              <a:srgbClr val="B83B2E"/>
            </a:solidFill>
            <a:prstDash val="solid"/>
          </a:ln>
        </p:spPr>
      </p:sp>
      <p:sp>
        <p:nvSpPr>
          <p:cNvPr id="22" name="Text 18"/>
          <p:cNvSpPr txBox="1"/>
          <p:nvPr/>
        </p:nvSpPr>
        <p:spPr>
          <a:xfrm>
            <a:off x="1463040"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23" name="Shape 19"/>
          <p:cNvSpPr/>
          <p:nvPr/>
        </p:nvSpPr>
        <p:spPr>
          <a:xfrm>
            <a:off x="1993392"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24" name="Text 20"/>
          <p:cNvSpPr txBox="1"/>
          <p:nvPr/>
        </p:nvSpPr>
        <p:spPr>
          <a:xfrm>
            <a:off x="1993392"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25" name="Shape 21"/>
          <p:cNvSpPr/>
          <p:nvPr/>
        </p:nvSpPr>
        <p:spPr>
          <a:xfrm>
            <a:off x="548640" y="2276856"/>
            <a:ext cx="109728" cy="109728"/>
          </a:xfrm>
          <a:prstGeom prst="ellipse">
            <a:avLst/>
          </a:prstGeom>
          <a:solidFill>
            <a:srgbClr val="0E7C86"/>
          </a:solidFill>
          <a:ln/>
        </p:spPr>
      </p:sp>
      <p:sp>
        <p:nvSpPr>
          <p:cNvPr id="26" name="Text 22"/>
          <p:cNvSpPr txBox="1"/>
          <p:nvPr/>
        </p:nvSpPr>
        <p:spPr>
          <a:xfrm>
            <a:off x="704088" y="2240280"/>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indexé</a:t>
            </a:r>
            <a:endParaRPr lang="en-US" sz="750" dirty="0"/>
          </a:p>
        </p:txBody>
      </p:sp>
      <p:sp>
        <p:nvSpPr>
          <p:cNvPr id="27" name="Text 23"/>
          <p:cNvSpPr txBox="1"/>
          <p:nvPr/>
        </p:nvSpPr>
        <p:spPr>
          <a:xfrm>
            <a:off x="548640"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janvier 2026</a:t>
            </a:r>
            <a:endParaRPr lang="en-US" sz="700" dirty="0"/>
          </a:p>
        </p:txBody>
      </p:sp>
      <p:sp>
        <p:nvSpPr>
          <p:cNvPr id="28" name="Text 24">
            <a:hlinkClick r:id="rId3"/>
          </p:cNvPr>
          <p:cNvSpPr txBox="1"/>
          <p:nvPr/>
        </p:nvSpPr>
        <p:spPr>
          <a:xfrm>
            <a:off x="548640"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statsbots.org.bw › CPI January 2026.pdf</a:t>
            </a:r>
            <a:endParaRPr lang="en-US" sz="650" dirty="0"/>
          </a:p>
        </p:txBody>
      </p:sp>
      <p:sp>
        <p:nvSpPr>
          <p:cNvPr id="29" name="Shape 25"/>
          <p:cNvSpPr/>
          <p:nvPr/>
        </p:nvSpPr>
        <p:spPr>
          <a:xfrm>
            <a:off x="2542032" y="1261872"/>
            <a:ext cx="1965960" cy="1591056"/>
          </a:xfrm>
          <a:prstGeom prst="roundRect">
            <a:avLst>
              <a:gd name="adj" fmla="val 4598"/>
            </a:avLst>
          </a:prstGeom>
          <a:solidFill>
            <a:srgbClr val="FFFFFF"/>
          </a:solidFill>
          <a:ln w="13970">
            <a:solidFill>
              <a:srgbClr val="D49A00"/>
            </a:solidFill>
            <a:prstDash val="solid"/>
          </a:ln>
        </p:spPr>
      </p:sp>
      <p:pic>
        <p:nvPicPr>
          <p:cNvPr id="30" name="Image 1" descr="/home/claude/lab10/qr/p_bi.png">
            <a:hlinkClick r:id="rId5"/>
          </p:cNvPr>
          <p:cNvPicPr>
            <a:picLocks noChangeAspect="1"/>
          </p:cNvPicPr>
          <p:nvPr/>
        </p:nvPicPr>
        <p:blipFill>
          <a:blip r:embed="rId6"/>
          <a:stretch>
            <a:fillRect/>
          </a:stretch>
        </p:blipFill>
        <p:spPr>
          <a:xfrm>
            <a:off x="2606040" y="1325880"/>
            <a:ext cx="896112" cy="896112"/>
          </a:xfrm>
          <a:prstGeom prst="rect">
            <a:avLst/>
          </a:prstGeom>
        </p:spPr>
      </p:pic>
      <p:sp>
        <p:nvSpPr>
          <p:cNvPr id="31" name="Text 26"/>
          <p:cNvSpPr txBox="1"/>
          <p:nvPr/>
        </p:nvSpPr>
        <p:spPr>
          <a:xfrm>
            <a:off x="3547872"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Burundi</a:t>
            </a:r>
            <a:endParaRPr lang="en-US" sz="1150" dirty="0"/>
          </a:p>
        </p:txBody>
      </p:sp>
      <p:sp>
        <p:nvSpPr>
          <p:cNvPr id="32" name="Text 27"/>
          <p:cNvSpPr txBox="1"/>
          <p:nvPr/>
        </p:nvSpPr>
        <p:spPr>
          <a:xfrm>
            <a:off x="3547872"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INSBU</a:t>
            </a:r>
            <a:endParaRPr lang="en-US" sz="800" dirty="0"/>
          </a:p>
        </p:txBody>
      </p:sp>
      <p:sp>
        <p:nvSpPr>
          <p:cNvPr id="33" name="Shape 28"/>
          <p:cNvSpPr/>
          <p:nvPr/>
        </p:nvSpPr>
        <p:spPr>
          <a:xfrm>
            <a:off x="3547872" y="1920240"/>
            <a:ext cx="502920" cy="192024"/>
          </a:xfrm>
          <a:prstGeom prst="roundRect">
            <a:avLst>
              <a:gd name="adj" fmla="val 52381"/>
            </a:avLst>
          </a:prstGeom>
          <a:solidFill>
            <a:srgbClr val="B83B2E"/>
          </a:solidFill>
          <a:ln w="9525">
            <a:solidFill>
              <a:srgbClr val="B83B2E"/>
            </a:solidFill>
            <a:prstDash val="solid"/>
          </a:ln>
        </p:spPr>
      </p:sp>
      <p:sp>
        <p:nvSpPr>
          <p:cNvPr id="34" name="Text 29"/>
          <p:cNvSpPr txBox="1"/>
          <p:nvPr/>
        </p:nvSpPr>
        <p:spPr>
          <a:xfrm>
            <a:off x="3547872"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35" name="Shape 30"/>
          <p:cNvSpPr/>
          <p:nvPr/>
        </p:nvSpPr>
        <p:spPr>
          <a:xfrm>
            <a:off x="4078224"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36" name="Text 31"/>
          <p:cNvSpPr txBox="1"/>
          <p:nvPr/>
        </p:nvSpPr>
        <p:spPr>
          <a:xfrm>
            <a:off x="4078224"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37" name="Shape 32"/>
          <p:cNvSpPr/>
          <p:nvPr/>
        </p:nvSpPr>
        <p:spPr>
          <a:xfrm>
            <a:off x="2633472" y="2276856"/>
            <a:ext cx="109728" cy="109728"/>
          </a:xfrm>
          <a:prstGeom prst="ellipse">
            <a:avLst/>
          </a:prstGeom>
          <a:solidFill>
            <a:srgbClr val="D49A00"/>
          </a:solidFill>
          <a:ln/>
        </p:spPr>
      </p:sp>
      <p:sp>
        <p:nvSpPr>
          <p:cNvPr id="38" name="Text 33"/>
          <p:cNvSpPr txBox="1"/>
          <p:nvPr/>
        </p:nvSpPr>
        <p:spPr>
          <a:xfrm>
            <a:off x="2788920"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PDF indexé · édition 2025</a:t>
            </a:r>
            <a:endParaRPr lang="en-US" sz="750" dirty="0"/>
          </a:p>
        </p:txBody>
      </p:sp>
      <p:sp>
        <p:nvSpPr>
          <p:cNvPr id="39" name="Text 34"/>
          <p:cNvSpPr txBox="1"/>
          <p:nvPr/>
        </p:nvSpPr>
        <p:spPr>
          <a:xfrm>
            <a:off x="2633472"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Indice des prix à la consommation — février 2025</a:t>
            </a:r>
            <a:endParaRPr lang="en-US" sz="700" dirty="0"/>
          </a:p>
        </p:txBody>
      </p:sp>
      <p:sp>
        <p:nvSpPr>
          <p:cNvPr id="40" name="Text 35">
            <a:hlinkClick r:id="rId5"/>
          </p:cNvPr>
          <p:cNvSpPr txBox="1"/>
          <p:nvPr/>
        </p:nvSpPr>
        <p:spPr>
          <a:xfrm>
            <a:off x="2633472"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insbu.bi › IPC-Fevrier-2025.pdf</a:t>
            </a:r>
            <a:endParaRPr lang="en-US" sz="650" dirty="0"/>
          </a:p>
        </p:txBody>
      </p:sp>
      <p:sp>
        <p:nvSpPr>
          <p:cNvPr id="41" name="Shape 36"/>
          <p:cNvSpPr/>
          <p:nvPr/>
        </p:nvSpPr>
        <p:spPr>
          <a:xfrm>
            <a:off x="4626864" y="1261872"/>
            <a:ext cx="1965960" cy="1591056"/>
          </a:xfrm>
          <a:prstGeom prst="roundRect">
            <a:avLst>
              <a:gd name="adj" fmla="val 4598"/>
            </a:avLst>
          </a:prstGeom>
          <a:solidFill>
            <a:srgbClr val="FFFFFF"/>
          </a:solidFill>
          <a:ln w="13970">
            <a:solidFill>
              <a:srgbClr val="D49A00"/>
            </a:solidFill>
            <a:prstDash val="solid"/>
          </a:ln>
        </p:spPr>
      </p:sp>
      <p:pic>
        <p:nvPicPr>
          <p:cNvPr id="42" name="Image 2" descr="/home/claude/lab10/qr/p_ci.png">
            <a:hlinkClick r:id="rId7"/>
          </p:cNvPr>
          <p:cNvPicPr>
            <a:picLocks noChangeAspect="1"/>
          </p:cNvPicPr>
          <p:nvPr/>
        </p:nvPicPr>
        <p:blipFill>
          <a:blip r:embed="rId8"/>
          <a:stretch>
            <a:fillRect/>
          </a:stretch>
        </p:blipFill>
        <p:spPr>
          <a:xfrm>
            <a:off x="4690872" y="1325880"/>
            <a:ext cx="896112" cy="896112"/>
          </a:xfrm>
          <a:prstGeom prst="rect">
            <a:avLst/>
          </a:prstGeom>
        </p:spPr>
      </p:pic>
      <p:sp>
        <p:nvSpPr>
          <p:cNvPr id="43" name="Text 37"/>
          <p:cNvSpPr txBox="1"/>
          <p:nvPr/>
        </p:nvSpPr>
        <p:spPr>
          <a:xfrm>
            <a:off x="5632704"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Côte d'Ivoire</a:t>
            </a:r>
            <a:endParaRPr lang="en-US" sz="1150" dirty="0"/>
          </a:p>
        </p:txBody>
      </p:sp>
      <p:sp>
        <p:nvSpPr>
          <p:cNvPr id="44" name="Text 38"/>
          <p:cNvSpPr txBox="1"/>
          <p:nvPr/>
        </p:nvSpPr>
        <p:spPr>
          <a:xfrm>
            <a:off x="5632704"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ANStat</a:t>
            </a:r>
            <a:endParaRPr lang="en-US" sz="800" dirty="0"/>
          </a:p>
        </p:txBody>
      </p:sp>
      <p:sp>
        <p:nvSpPr>
          <p:cNvPr id="45" name="Shape 39"/>
          <p:cNvSpPr/>
          <p:nvPr/>
        </p:nvSpPr>
        <p:spPr>
          <a:xfrm>
            <a:off x="5632704" y="1920240"/>
            <a:ext cx="502920" cy="192024"/>
          </a:xfrm>
          <a:prstGeom prst="roundRect">
            <a:avLst>
              <a:gd name="adj" fmla="val 52381"/>
            </a:avLst>
          </a:prstGeom>
          <a:solidFill>
            <a:srgbClr val="0E7C86"/>
          </a:solidFill>
          <a:ln w="9525">
            <a:solidFill>
              <a:srgbClr val="0E7C86"/>
            </a:solidFill>
            <a:prstDash val="solid"/>
          </a:ln>
        </p:spPr>
      </p:sp>
      <p:sp>
        <p:nvSpPr>
          <p:cNvPr id="46" name="Text 40"/>
          <p:cNvSpPr txBox="1"/>
          <p:nvPr/>
        </p:nvSpPr>
        <p:spPr>
          <a:xfrm>
            <a:off x="5632704"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47" name="Shape 41"/>
          <p:cNvSpPr/>
          <p:nvPr/>
        </p:nvSpPr>
        <p:spPr>
          <a:xfrm>
            <a:off x="6163056"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48" name="Text 42"/>
          <p:cNvSpPr txBox="1"/>
          <p:nvPr/>
        </p:nvSpPr>
        <p:spPr>
          <a:xfrm>
            <a:off x="6163056"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49" name="Shape 43"/>
          <p:cNvSpPr/>
          <p:nvPr/>
        </p:nvSpPr>
        <p:spPr>
          <a:xfrm>
            <a:off x="4718304" y="2276856"/>
            <a:ext cx="109728" cy="109728"/>
          </a:xfrm>
          <a:prstGeom prst="ellipse">
            <a:avLst/>
          </a:prstGeom>
          <a:solidFill>
            <a:srgbClr val="D49A00"/>
          </a:solidFill>
          <a:ln/>
        </p:spPr>
      </p:sp>
      <p:sp>
        <p:nvSpPr>
          <p:cNvPr id="50" name="Text 44"/>
          <p:cNvSpPr txBox="1"/>
          <p:nvPr/>
        </p:nvSpPr>
        <p:spPr>
          <a:xfrm>
            <a:off x="4873752"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PDF à télécharger</a:t>
            </a:r>
            <a:endParaRPr lang="en-US" sz="750" dirty="0"/>
          </a:p>
        </p:txBody>
      </p:sp>
      <p:sp>
        <p:nvSpPr>
          <p:cNvPr id="51" name="Text 45"/>
          <p:cNvSpPr txBox="1"/>
          <p:nvPr/>
        </p:nvSpPr>
        <p:spPr>
          <a:xfrm>
            <a:off x="4718304"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IHPC — février 2026 (page de publication)</a:t>
            </a:r>
            <a:endParaRPr lang="en-US" sz="700" dirty="0"/>
          </a:p>
        </p:txBody>
      </p:sp>
      <p:sp>
        <p:nvSpPr>
          <p:cNvPr id="52" name="Text 46">
            <a:hlinkClick r:id="rId7"/>
          </p:cNvPr>
          <p:cNvSpPr txBox="1"/>
          <p:nvPr/>
        </p:nvSpPr>
        <p:spPr>
          <a:xfrm>
            <a:off x="4718304"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anstat.ci › IHPC février 2026</a:t>
            </a:r>
            <a:endParaRPr lang="en-US" sz="650" dirty="0"/>
          </a:p>
        </p:txBody>
      </p:sp>
      <p:sp>
        <p:nvSpPr>
          <p:cNvPr id="53" name="Shape 47"/>
          <p:cNvSpPr/>
          <p:nvPr/>
        </p:nvSpPr>
        <p:spPr>
          <a:xfrm>
            <a:off x="6711696" y="1261872"/>
            <a:ext cx="1965960" cy="1591056"/>
          </a:xfrm>
          <a:prstGeom prst="roundRect">
            <a:avLst>
              <a:gd name="adj" fmla="val 4598"/>
            </a:avLst>
          </a:prstGeom>
          <a:solidFill>
            <a:srgbClr val="FFFFFF"/>
          </a:solidFill>
          <a:ln w="13970">
            <a:solidFill>
              <a:srgbClr val="D49A00"/>
            </a:solidFill>
            <a:prstDash val="solid"/>
          </a:ln>
        </p:spPr>
      </p:sp>
      <p:pic>
        <p:nvPicPr>
          <p:cNvPr id="54" name="Image 3" descr="/home/claude/lab10/qr/p_eg.png">
            <a:hlinkClick r:id="rId9"/>
          </p:cNvPr>
          <p:cNvPicPr>
            <a:picLocks noChangeAspect="1"/>
          </p:cNvPicPr>
          <p:nvPr/>
        </p:nvPicPr>
        <p:blipFill>
          <a:blip r:embed="rId10"/>
          <a:stretch>
            <a:fillRect/>
          </a:stretch>
        </p:blipFill>
        <p:spPr>
          <a:xfrm>
            <a:off x="6775704" y="1325880"/>
            <a:ext cx="896112" cy="896112"/>
          </a:xfrm>
          <a:prstGeom prst="rect">
            <a:avLst/>
          </a:prstGeom>
        </p:spPr>
      </p:pic>
      <p:sp>
        <p:nvSpPr>
          <p:cNvPr id="55" name="Text 48"/>
          <p:cNvSpPr txBox="1"/>
          <p:nvPr/>
        </p:nvSpPr>
        <p:spPr>
          <a:xfrm>
            <a:off x="7717536"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Égypte</a:t>
            </a:r>
            <a:endParaRPr lang="en-US" sz="1150" dirty="0"/>
          </a:p>
        </p:txBody>
      </p:sp>
      <p:sp>
        <p:nvSpPr>
          <p:cNvPr id="56" name="Text 49"/>
          <p:cNvSpPr txBox="1"/>
          <p:nvPr/>
        </p:nvSpPr>
        <p:spPr>
          <a:xfrm>
            <a:off x="7717536"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CBE · données CAPMAS</a:t>
            </a:r>
            <a:endParaRPr lang="en-US" sz="800" dirty="0"/>
          </a:p>
        </p:txBody>
      </p:sp>
      <p:sp>
        <p:nvSpPr>
          <p:cNvPr id="57" name="Shape 50"/>
          <p:cNvSpPr/>
          <p:nvPr/>
        </p:nvSpPr>
        <p:spPr>
          <a:xfrm>
            <a:off x="7717536" y="1920240"/>
            <a:ext cx="502920" cy="192024"/>
          </a:xfrm>
          <a:prstGeom prst="roundRect">
            <a:avLst>
              <a:gd name="adj" fmla="val 52381"/>
            </a:avLst>
          </a:prstGeom>
          <a:solidFill>
            <a:srgbClr val="B83B2E"/>
          </a:solidFill>
          <a:ln w="9525">
            <a:solidFill>
              <a:srgbClr val="B83B2E"/>
            </a:solidFill>
            <a:prstDash val="solid"/>
          </a:ln>
        </p:spPr>
      </p:sp>
      <p:sp>
        <p:nvSpPr>
          <p:cNvPr id="58" name="Text 51"/>
          <p:cNvSpPr txBox="1"/>
          <p:nvPr/>
        </p:nvSpPr>
        <p:spPr>
          <a:xfrm>
            <a:off x="7717536"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9" name="Shape 52"/>
          <p:cNvSpPr/>
          <p:nvPr/>
        </p:nvSpPr>
        <p:spPr>
          <a:xfrm>
            <a:off x="8247888"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60" name="Text 53"/>
          <p:cNvSpPr txBox="1"/>
          <p:nvPr/>
        </p:nvSpPr>
        <p:spPr>
          <a:xfrm>
            <a:off x="8247888"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61" name="Shape 54"/>
          <p:cNvSpPr/>
          <p:nvPr/>
        </p:nvSpPr>
        <p:spPr>
          <a:xfrm>
            <a:off x="6803136" y="2276856"/>
            <a:ext cx="109728" cy="109728"/>
          </a:xfrm>
          <a:prstGeom prst="ellipse">
            <a:avLst/>
          </a:prstGeom>
          <a:solidFill>
            <a:srgbClr val="D49A00"/>
          </a:solidFill>
          <a:ln/>
        </p:spPr>
      </p:sp>
      <p:sp>
        <p:nvSpPr>
          <p:cNvPr id="62" name="Text 55"/>
          <p:cNvSpPr txBox="1"/>
          <p:nvPr/>
        </p:nvSpPr>
        <p:spPr>
          <a:xfrm>
            <a:off x="6958584"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PDF indexé · Banque centrale</a:t>
            </a:r>
            <a:endParaRPr lang="en-US" sz="750" dirty="0"/>
          </a:p>
        </p:txBody>
      </p:sp>
      <p:sp>
        <p:nvSpPr>
          <p:cNvPr id="63" name="Text 56"/>
          <p:cNvSpPr txBox="1"/>
          <p:nvPr/>
        </p:nvSpPr>
        <p:spPr>
          <a:xfrm>
            <a:off x="6803136"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Monthly Inflation Developments — février 2026</a:t>
            </a:r>
            <a:endParaRPr lang="en-US" sz="700" dirty="0"/>
          </a:p>
        </p:txBody>
      </p:sp>
      <p:sp>
        <p:nvSpPr>
          <p:cNvPr id="64" name="Text 57">
            <a:hlinkClick r:id="rId9"/>
          </p:cNvPr>
          <p:cNvSpPr txBox="1"/>
          <p:nvPr/>
        </p:nvSpPr>
        <p:spPr>
          <a:xfrm>
            <a:off x="6803136"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cbe.org.eg › inf_feb_2026_en.pdf</a:t>
            </a:r>
            <a:endParaRPr lang="en-US" sz="650" dirty="0"/>
          </a:p>
        </p:txBody>
      </p:sp>
      <p:sp>
        <p:nvSpPr>
          <p:cNvPr id="65" name="Shape 58"/>
          <p:cNvSpPr/>
          <p:nvPr/>
        </p:nvSpPr>
        <p:spPr>
          <a:xfrm>
            <a:off x="457200" y="2926080"/>
            <a:ext cx="1965960" cy="1591056"/>
          </a:xfrm>
          <a:prstGeom prst="roundRect">
            <a:avLst>
              <a:gd name="adj" fmla="val 4598"/>
            </a:avLst>
          </a:prstGeom>
          <a:solidFill>
            <a:srgbClr val="FFFFFF"/>
          </a:solidFill>
          <a:ln w="13970">
            <a:solidFill>
              <a:srgbClr val="D49A00"/>
            </a:solidFill>
            <a:prstDash val="solid"/>
          </a:ln>
        </p:spPr>
      </p:sp>
      <p:pic>
        <p:nvPicPr>
          <p:cNvPr id="66" name="Image 4" descr="/home/claude/lab10/qr/p_et.png">
            <a:hlinkClick r:id="rId11"/>
          </p:cNvPr>
          <p:cNvPicPr>
            <a:picLocks noChangeAspect="1"/>
          </p:cNvPicPr>
          <p:nvPr/>
        </p:nvPicPr>
        <p:blipFill>
          <a:blip r:embed="rId12"/>
          <a:stretch>
            <a:fillRect/>
          </a:stretch>
        </p:blipFill>
        <p:spPr>
          <a:xfrm>
            <a:off x="521208" y="2990088"/>
            <a:ext cx="896112" cy="896112"/>
          </a:xfrm>
          <a:prstGeom prst="rect">
            <a:avLst/>
          </a:prstGeom>
        </p:spPr>
      </p:pic>
      <p:sp>
        <p:nvSpPr>
          <p:cNvPr id="67" name="Text 59"/>
          <p:cNvSpPr txBox="1"/>
          <p:nvPr/>
        </p:nvSpPr>
        <p:spPr>
          <a:xfrm>
            <a:off x="1463040"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Éthiopie</a:t>
            </a:r>
            <a:endParaRPr lang="en-US" sz="1150" dirty="0"/>
          </a:p>
        </p:txBody>
      </p:sp>
      <p:sp>
        <p:nvSpPr>
          <p:cNvPr id="68" name="Text 60"/>
          <p:cNvSpPr txBox="1"/>
          <p:nvPr/>
        </p:nvSpPr>
        <p:spPr>
          <a:xfrm>
            <a:off x="1463040"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ESS</a:t>
            </a:r>
            <a:endParaRPr lang="en-US" sz="800" dirty="0"/>
          </a:p>
        </p:txBody>
      </p:sp>
      <p:sp>
        <p:nvSpPr>
          <p:cNvPr id="69" name="Shape 61"/>
          <p:cNvSpPr/>
          <p:nvPr/>
        </p:nvSpPr>
        <p:spPr>
          <a:xfrm>
            <a:off x="1463040" y="3584448"/>
            <a:ext cx="502920" cy="192024"/>
          </a:xfrm>
          <a:prstGeom prst="roundRect">
            <a:avLst>
              <a:gd name="adj" fmla="val 52381"/>
            </a:avLst>
          </a:prstGeom>
          <a:solidFill>
            <a:srgbClr val="0E7C86"/>
          </a:solidFill>
          <a:ln w="9525">
            <a:solidFill>
              <a:srgbClr val="0E7C86"/>
            </a:solidFill>
            <a:prstDash val="solid"/>
          </a:ln>
        </p:spPr>
      </p:sp>
      <p:sp>
        <p:nvSpPr>
          <p:cNvPr id="70" name="Text 62"/>
          <p:cNvSpPr txBox="1"/>
          <p:nvPr/>
        </p:nvSpPr>
        <p:spPr>
          <a:xfrm>
            <a:off x="1463040"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71" name="Shape 63"/>
          <p:cNvSpPr/>
          <p:nvPr/>
        </p:nvSpPr>
        <p:spPr>
          <a:xfrm>
            <a:off x="1993392"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72" name="Text 64"/>
          <p:cNvSpPr txBox="1"/>
          <p:nvPr/>
        </p:nvSpPr>
        <p:spPr>
          <a:xfrm>
            <a:off x="1993392"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73" name="Shape 65"/>
          <p:cNvSpPr/>
          <p:nvPr/>
        </p:nvSpPr>
        <p:spPr>
          <a:xfrm>
            <a:off x="548640" y="3941064"/>
            <a:ext cx="109728" cy="109728"/>
          </a:xfrm>
          <a:prstGeom prst="ellipse">
            <a:avLst/>
          </a:prstGeom>
          <a:solidFill>
            <a:srgbClr val="D49A00"/>
          </a:solidFill>
          <a:ln/>
        </p:spPr>
      </p:sp>
      <p:sp>
        <p:nvSpPr>
          <p:cNvPr id="74" name="Text 66"/>
          <p:cNvSpPr txBox="1"/>
          <p:nvPr/>
        </p:nvSpPr>
        <p:spPr>
          <a:xfrm>
            <a:off x="704088"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ouverte · bouton Download</a:t>
            </a:r>
            <a:endParaRPr lang="en-US" sz="750" dirty="0"/>
          </a:p>
        </p:txBody>
      </p:sp>
      <p:sp>
        <p:nvSpPr>
          <p:cNvPr id="75" name="Text 67"/>
          <p:cNvSpPr txBox="1"/>
          <p:nvPr/>
        </p:nvSpPr>
        <p:spPr>
          <a:xfrm>
            <a:off x="548640"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février 2026 (PDF 2 Mo)</a:t>
            </a:r>
            <a:endParaRPr lang="en-US" sz="700" dirty="0"/>
          </a:p>
        </p:txBody>
      </p:sp>
      <p:sp>
        <p:nvSpPr>
          <p:cNvPr id="76" name="Text 68">
            <a:hlinkClick r:id="rId11"/>
          </p:cNvPr>
          <p:cNvSpPr txBox="1"/>
          <p:nvPr/>
        </p:nvSpPr>
        <p:spPr>
          <a:xfrm>
            <a:off x="548640"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ess.gov.et › CPI February 2026</a:t>
            </a:r>
            <a:endParaRPr lang="en-US" sz="650" dirty="0"/>
          </a:p>
        </p:txBody>
      </p:sp>
      <p:sp>
        <p:nvSpPr>
          <p:cNvPr id="77" name="Shape 69"/>
          <p:cNvSpPr/>
          <p:nvPr/>
        </p:nvSpPr>
        <p:spPr>
          <a:xfrm>
            <a:off x="2542032" y="2926080"/>
            <a:ext cx="1965960" cy="1591056"/>
          </a:xfrm>
          <a:prstGeom prst="roundRect">
            <a:avLst>
              <a:gd name="adj" fmla="val 4598"/>
            </a:avLst>
          </a:prstGeom>
          <a:solidFill>
            <a:srgbClr val="FFFFFF"/>
          </a:solidFill>
          <a:ln w="13970">
            <a:solidFill>
              <a:srgbClr val="D49A00"/>
            </a:solidFill>
            <a:prstDash val="solid"/>
          </a:ln>
        </p:spPr>
      </p:sp>
      <p:pic>
        <p:nvPicPr>
          <p:cNvPr id="78" name="Image 5" descr="/home/claude/lab10/qr/p_gm.png">
            <a:hlinkClick r:id="rId13"/>
          </p:cNvPr>
          <p:cNvPicPr>
            <a:picLocks noChangeAspect="1"/>
          </p:cNvPicPr>
          <p:nvPr/>
        </p:nvPicPr>
        <p:blipFill>
          <a:blip r:embed="rId14"/>
          <a:stretch>
            <a:fillRect/>
          </a:stretch>
        </p:blipFill>
        <p:spPr>
          <a:xfrm>
            <a:off x="2606040" y="2990088"/>
            <a:ext cx="896112" cy="896112"/>
          </a:xfrm>
          <a:prstGeom prst="rect">
            <a:avLst/>
          </a:prstGeom>
        </p:spPr>
      </p:pic>
      <p:sp>
        <p:nvSpPr>
          <p:cNvPr id="79" name="Text 70"/>
          <p:cNvSpPr txBox="1"/>
          <p:nvPr/>
        </p:nvSpPr>
        <p:spPr>
          <a:xfrm>
            <a:off x="3547872"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Gambie</a:t>
            </a:r>
            <a:endParaRPr lang="en-US" sz="1150" dirty="0"/>
          </a:p>
        </p:txBody>
      </p:sp>
      <p:sp>
        <p:nvSpPr>
          <p:cNvPr id="80" name="Text 71"/>
          <p:cNvSpPr txBox="1"/>
          <p:nvPr/>
        </p:nvSpPr>
        <p:spPr>
          <a:xfrm>
            <a:off x="3547872"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GBoS</a:t>
            </a:r>
            <a:endParaRPr lang="en-US" sz="800" dirty="0"/>
          </a:p>
        </p:txBody>
      </p:sp>
      <p:sp>
        <p:nvSpPr>
          <p:cNvPr id="81" name="Shape 72"/>
          <p:cNvSpPr/>
          <p:nvPr/>
        </p:nvSpPr>
        <p:spPr>
          <a:xfrm>
            <a:off x="3547872" y="3584448"/>
            <a:ext cx="502920" cy="192024"/>
          </a:xfrm>
          <a:prstGeom prst="roundRect">
            <a:avLst>
              <a:gd name="adj" fmla="val 52381"/>
            </a:avLst>
          </a:prstGeom>
          <a:solidFill>
            <a:srgbClr val="0E7C86"/>
          </a:solidFill>
          <a:ln w="9525">
            <a:solidFill>
              <a:srgbClr val="0E7C86"/>
            </a:solidFill>
            <a:prstDash val="solid"/>
          </a:ln>
        </p:spPr>
      </p:sp>
      <p:sp>
        <p:nvSpPr>
          <p:cNvPr id="82" name="Text 73"/>
          <p:cNvSpPr txBox="1"/>
          <p:nvPr/>
        </p:nvSpPr>
        <p:spPr>
          <a:xfrm>
            <a:off x="3547872"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83" name="Shape 74"/>
          <p:cNvSpPr/>
          <p:nvPr/>
        </p:nvSpPr>
        <p:spPr>
          <a:xfrm>
            <a:off x="4078224"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84" name="Text 75"/>
          <p:cNvSpPr txBox="1"/>
          <p:nvPr/>
        </p:nvSpPr>
        <p:spPr>
          <a:xfrm>
            <a:off x="4078224"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85" name="Shape 76"/>
          <p:cNvSpPr/>
          <p:nvPr/>
        </p:nvSpPr>
        <p:spPr>
          <a:xfrm>
            <a:off x="2633472" y="3941064"/>
            <a:ext cx="109728" cy="109728"/>
          </a:xfrm>
          <a:prstGeom prst="ellipse">
            <a:avLst/>
          </a:prstGeom>
          <a:solidFill>
            <a:srgbClr val="D49A00"/>
          </a:solidFill>
          <a:ln/>
        </p:spPr>
      </p:sp>
      <p:sp>
        <p:nvSpPr>
          <p:cNvPr id="86" name="Text 77"/>
          <p:cNvSpPr txBox="1"/>
          <p:nvPr/>
        </p:nvSpPr>
        <p:spPr>
          <a:xfrm>
            <a:off x="2788920"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PDF CPI non trouvé</a:t>
            </a:r>
            <a:endParaRPr lang="en-US" sz="750" dirty="0"/>
          </a:p>
        </p:txBody>
      </p:sp>
      <p:sp>
        <p:nvSpPr>
          <p:cNvPr id="87" name="Text 78"/>
          <p:cNvSpPr txBox="1"/>
          <p:nvPr/>
        </p:nvSpPr>
        <p:spPr>
          <a:xfrm>
            <a:off x="2633472"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Téléchargements : CPI 2025 et séries</a:t>
            </a:r>
            <a:endParaRPr lang="en-US" sz="700" dirty="0"/>
          </a:p>
        </p:txBody>
      </p:sp>
      <p:sp>
        <p:nvSpPr>
          <p:cNvPr id="88" name="Text 79">
            <a:hlinkClick r:id="rId13"/>
          </p:cNvPr>
          <p:cNvSpPr txBox="1"/>
          <p:nvPr/>
        </p:nvSpPr>
        <p:spPr>
          <a:xfrm>
            <a:off x="2633472"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gbosdata.org › Downloads</a:t>
            </a:r>
            <a:endParaRPr lang="en-US" sz="650" dirty="0"/>
          </a:p>
        </p:txBody>
      </p:sp>
      <p:sp>
        <p:nvSpPr>
          <p:cNvPr id="89" name="Shape 80"/>
          <p:cNvSpPr/>
          <p:nvPr/>
        </p:nvSpPr>
        <p:spPr>
          <a:xfrm>
            <a:off x="4626864" y="2926080"/>
            <a:ext cx="1965960" cy="1591056"/>
          </a:xfrm>
          <a:prstGeom prst="roundRect">
            <a:avLst>
              <a:gd name="adj" fmla="val 4598"/>
            </a:avLst>
          </a:prstGeom>
          <a:solidFill>
            <a:srgbClr val="FFFFFF"/>
          </a:solidFill>
          <a:ln w="13970">
            <a:solidFill>
              <a:srgbClr val="D49A00"/>
            </a:solidFill>
            <a:prstDash val="solid"/>
          </a:ln>
        </p:spPr>
      </p:sp>
      <p:pic>
        <p:nvPicPr>
          <p:cNvPr id="90" name="Image 6" descr="/home/claude/lab10/qr/p_gh.png">
            <a:hlinkClick r:id="rId15"/>
          </p:cNvPr>
          <p:cNvPicPr>
            <a:picLocks noChangeAspect="1"/>
          </p:cNvPicPr>
          <p:nvPr/>
        </p:nvPicPr>
        <p:blipFill>
          <a:blip r:embed="rId16"/>
          <a:stretch>
            <a:fillRect/>
          </a:stretch>
        </p:blipFill>
        <p:spPr>
          <a:xfrm>
            <a:off x="4690872" y="2990088"/>
            <a:ext cx="896112" cy="896112"/>
          </a:xfrm>
          <a:prstGeom prst="rect">
            <a:avLst/>
          </a:prstGeom>
        </p:spPr>
      </p:pic>
      <p:sp>
        <p:nvSpPr>
          <p:cNvPr id="91" name="Text 81"/>
          <p:cNvSpPr txBox="1"/>
          <p:nvPr/>
        </p:nvSpPr>
        <p:spPr>
          <a:xfrm>
            <a:off x="5632704"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Ghana</a:t>
            </a:r>
            <a:endParaRPr lang="en-US" sz="1150" dirty="0"/>
          </a:p>
        </p:txBody>
      </p:sp>
      <p:sp>
        <p:nvSpPr>
          <p:cNvPr id="92" name="Text 82"/>
          <p:cNvSpPr txBox="1"/>
          <p:nvPr/>
        </p:nvSpPr>
        <p:spPr>
          <a:xfrm>
            <a:off x="5632704"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GSS</a:t>
            </a:r>
            <a:endParaRPr lang="en-US" sz="800" dirty="0"/>
          </a:p>
        </p:txBody>
      </p:sp>
      <p:sp>
        <p:nvSpPr>
          <p:cNvPr id="93" name="Shape 83"/>
          <p:cNvSpPr/>
          <p:nvPr/>
        </p:nvSpPr>
        <p:spPr>
          <a:xfrm>
            <a:off x="5632704" y="3584448"/>
            <a:ext cx="502920" cy="192024"/>
          </a:xfrm>
          <a:prstGeom prst="roundRect">
            <a:avLst>
              <a:gd name="adj" fmla="val 52381"/>
            </a:avLst>
          </a:prstGeom>
          <a:solidFill>
            <a:srgbClr val="0E7C86"/>
          </a:solidFill>
          <a:ln w="9525">
            <a:solidFill>
              <a:srgbClr val="0E7C86"/>
            </a:solidFill>
            <a:prstDash val="solid"/>
          </a:ln>
        </p:spPr>
      </p:sp>
      <p:sp>
        <p:nvSpPr>
          <p:cNvPr id="94" name="Text 84"/>
          <p:cNvSpPr txBox="1"/>
          <p:nvPr/>
        </p:nvSpPr>
        <p:spPr>
          <a:xfrm>
            <a:off x="5632704"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95" name="Shape 85"/>
          <p:cNvSpPr/>
          <p:nvPr/>
        </p:nvSpPr>
        <p:spPr>
          <a:xfrm>
            <a:off x="6163056"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96" name="Text 86"/>
          <p:cNvSpPr txBox="1"/>
          <p:nvPr/>
        </p:nvSpPr>
        <p:spPr>
          <a:xfrm>
            <a:off x="6163056"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97" name="Shape 87"/>
          <p:cNvSpPr/>
          <p:nvPr/>
        </p:nvSpPr>
        <p:spPr>
          <a:xfrm>
            <a:off x="4718304" y="3941064"/>
            <a:ext cx="109728" cy="109728"/>
          </a:xfrm>
          <a:prstGeom prst="ellipse">
            <a:avLst/>
          </a:prstGeom>
          <a:solidFill>
            <a:srgbClr val="D49A00"/>
          </a:solidFill>
          <a:ln/>
        </p:spPr>
      </p:sp>
      <p:sp>
        <p:nvSpPr>
          <p:cNvPr id="98" name="Text 88"/>
          <p:cNvSpPr txBox="1"/>
          <p:nvPr/>
        </p:nvSpPr>
        <p:spPr>
          <a:xfrm>
            <a:off x="4873752"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ouverte · lien PDF dynamique</a:t>
            </a:r>
            <a:endParaRPr lang="en-US" sz="750" dirty="0"/>
          </a:p>
        </p:txBody>
      </p:sp>
      <p:sp>
        <p:nvSpPr>
          <p:cNvPr id="99" name="Text 89"/>
          <p:cNvSpPr txBox="1"/>
          <p:nvPr/>
        </p:nvSpPr>
        <p:spPr>
          <a:xfrm>
            <a:off x="4718304"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Inflation — bulletin IPC août 2026</a:t>
            </a:r>
            <a:endParaRPr lang="en-US" sz="700" dirty="0"/>
          </a:p>
        </p:txBody>
      </p:sp>
      <p:sp>
        <p:nvSpPr>
          <p:cNvPr id="100" name="Text 90">
            <a:hlinkClick r:id="rId15"/>
          </p:cNvPr>
          <p:cNvSpPr txBox="1"/>
          <p:nvPr/>
        </p:nvSpPr>
        <p:spPr>
          <a:xfrm>
            <a:off x="4718304"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statsghana.gov.gh › inflation-rate</a:t>
            </a:r>
            <a:endParaRPr lang="en-US" sz="650" dirty="0"/>
          </a:p>
        </p:txBody>
      </p:sp>
      <p:sp>
        <p:nvSpPr>
          <p:cNvPr id="101" name="Shape 91"/>
          <p:cNvSpPr/>
          <p:nvPr/>
        </p:nvSpPr>
        <p:spPr>
          <a:xfrm>
            <a:off x="6711696" y="2926080"/>
            <a:ext cx="1965960" cy="1591056"/>
          </a:xfrm>
          <a:prstGeom prst="roundRect">
            <a:avLst>
              <a:gd name="adj" fmla="val 4598"/>
            </a:avLst>
          </a:prstGeom>
          <a:solidFill>
            <a:srgbClr val="FFFFFF"/>
          </a:solidFill>
          <a:ln w="13970">
            <a:solidFill>
              <a:srgbClr val="0E7C86"/>
            </a:solidFill>
            <a:prstDash val="solid"/>
          </a:ln>
        </p:spPr>
      </p:sp>
      <p:pic>
        <p:nvPicPr>
          <p:cNvPr id="102" name="Image 7" descr="/home/claude/lab10/qr/p_ke.png">
            <a:hlinkClick r:id="rId17"/>
          </p:cNvPr>
          <p:cNvPicPr>
            <a:picLocks noChangeAspect="1"/>
          </p:cNvPicPr>
          <p:nvPr/>
        </p:nvPicPr>
        <p:blipFill>
          <a:blip r:embed="rId18"/>
          <a:stretch>
            <a:fillRect/>
          </a:stretch>
        </p:blipFill>
        <p:spPr>
          <a:xfrm>
            <a:off x="6775704" y="2990088"/>
            <a:ext cx="896112" cy="896112"/>
          </a:xfrm>
          <a:prstGeom prst="rect">
            <a:avLst/>
          </a:prstGeom>
        </p:spPr>
      </p:pic>
      <p:sp>
        <p:nvSpPr>
          <p:cNvPr id="103" name="Text 92"/>
          <p:cNvSpPr txBox="1"/>
          <p:nvPr/>
        </p:nvSpPr>
        <p:spPr>
          <a:xfrm>
            <a:off x="7717536"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Kenya</a:t>
            </a:r>
            <a:endParaRPr lang="en-US" sz="1150" dirty="0"/>
          </a:p>
        </p:txBody>
      </p:sp>
      <p:sp>
        <p:nvSpPr>
          <p:cNvPr id="104" name="Text 93"/>
          <p:cNvSpPr txBox="1"/>
          <p:nvPr/>
        </p:nvSpPr>
        <p:spPr>
          <a:xfrm>
            <a:off x="7717536"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KNBS</a:t>
            </a:r>
            <a:endParaRPr lang="en-US" sz="800" dirty="0"/>
          </a:p>
        </p:txBody>
      </p:sp>
      <p:sp>
        <p:nvSpPr>
          <p:cNvPr id="105" name="Shape 94"/>
          <p:cNvSpPr/>
          <p:nvPr/>
        </p:nvSpPr>
        <p:spPr>
          <a:xfrm>
            <a:off x="7717536" y="3584448"/>
            <a:ext cx="502920" cy="192024"/>
          </a:xfrm>
          <a:prstGeom prst="roundRect">
            <a:avLst>
              <a:gd name="adj" fmla="val 52381"/>
            </a:avLst>
          </a:prstGeom>
          <a:solidFill>
            <a:srgbClr val="B83B2E"/>
          </a:solidFill>
          <a:ln w="9525">
            <a:solidFill>
              <a:srgbClr val="B83B2E"/>
            </a:solidFill>
            <a:prstDash val="solid"/>
          </a:ln>
        </p:spPr>
      </p:sp>
      <p:sp>
        <p:nvSpPr>
          <p:cNvPr id="106" name="Text 95"/>
          <p:cNvSpPr txBox="1"/>
          <p:nvPr/>
        </p:nvSpPr>
        <p:spPr>
          <a:xfrm>
            <a:off x="7717536"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107" name="Shape 96"/>
          <p:cNvSpPr/>
          <p:nvPr/>
        </p:nvSpPr>
        <p:spPr>
          <a:xfrm>
            <a:off x="8247888"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108" name="Text 97"/>
          <p:cNvSpPr txBox="1"/>
          <p:nvPr/>
        </p:nvSpPr>
        <p:spPr>
          <a:xfrm>
            <a:off x="8247888"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109" name="Shape 98"/>
          <p:cNvSpPr/>
          <p:nvPr/>
        </p:nvSpPr>
        <p:spPr>
          <a:xfrm>
            <a:off x="6803136" y="3941064"/>
            <a:ext cx="109728" cy="109728"/>
          </a:xfrm>
          <a:prstGeom prst="ellipse">
            <a:avLst/>
          </a:prstGeom>
          <a:solidFill>
            <a:srgbClr val="0E7C86"/>
          </a:solidFill>
          <a:ln/>
        </p:spPr>
      </p:sp>
      <p:sp>
        <p:nvSpPr>
          <p:cNvPr id="110" name="Text 99"/>
          <p:cNvSpPr txBox="1"/>
          <p:nvPr/>
        </p:nvSpPr>
        <p:spPr>
          <a:xfrm>
            <a:off x="6958584" y="3904488"/>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indexé</a:t>
            </a:r>
            <a:endParaRPr lang="en-US" sz="750" dirty="0"/>
          </a:p>
        </p:txBody>
      </p:sp>
      <p:sp>
        <p:nvSpPr>
          <p:cNvPr id="111" name="Text 100"/>
          <p:cNvSpPr txBox="1"/>
          <p:nvPr/>
        </p:nvSpPr>
        <p:spPr>
          <a:xfrm>
            <a:off x="6803136"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Indices and Inflation Rates — fév. 2026</a:t>
            </a:r>
            <a:endParaRPr lang="en-US" sz="700" dirty="0"/>
          </a:p>
        </p:txBody>
      </p:sp>
      <p:sp>
        <p:nvSpPr>
          <p:cNvPr id="112" name="Text 101">
            <a:hlinkClick r:id="rId17"/>
          </p:cNvPr>
          <p:cNvSpPr txBox="1"/>
          <p:nvPr/>
        </p:nvSpPr>
        <p:spPr>
          <a:xfrm>
            <a:off x="6803136"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knbs.or.ke › …February-2026.pdf</a:t>
            </a:r>
            <a:endParaRPr lang="en-US" sz="650" dirty="0"/>
          </a:p>
        </p:txBody>
      </p:sp>
      <p:sp>
        <p:nvSpPr>
          <p:cNvPr id="113" name="Shape 102"/>
          <p:cNvSpPr/>
          <p:nvPr/>
        </p:nvSpPr>
        <p:spPr>
          <a:xfrm>
            <a:off x="457200" y="4626864"/>
            <a:ext cx="109728" cy="109728"/>
          </a:xfrm>
          <a:prstGeom prst="ellipse">
            <a:avLst/>
          </a:prstGeom>
          <a:solidFill>
            <a:srgbClr val="00A86A"/>
          </a:solidFill>
          <a:ln/>
        </p:spPr>
      </p:sp>
      <p:sp>
        <p:nvSpPr>
          <p:cNvPr id="114" name="Text 103"/>
          <p:cNvSpPr txBox="1"/>
          <p:nvPr/>
        </p:nvSpPr>
        <p:spPr>
          <a:xfrm>
            <a:off x="6126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Vérifié (ouvert ou lien PDF confirmé)</a:t>
            </a:r>
            <a:endParaRPr lang="en-US" sz="800" dirty="0"/>
          </a:p>
        </p:txBody>
      </p:sp>
      <p:sp>
        <p:nvSpPr>
          <p:cNvPr id="115" name="Shape 104"/>
          <p:cNvSpPr/>
          <p:nvPr/>
        </p:nvSpPr>
        <p:spPr>
          <a:xfrm>
            <a:off x="3200400" y="4626864"/>
            <a:ext cx="109728" cy="109728"/>
          </a:xfrm>
          <a:prstGeom prst="ellipse">
            <a:avLst/>
          </a:prstGeom>
          <a:solidFill>
            <a:srgbClr val="0E7C86"/>
          </a:solidFill>
          <a:ln/>
        </p:spPr>
      </p:sp>
      <p:sp>
        <p:nvSpPr>
          <p:cNvPr id="116" name="Text 105"/>
          <p:cNvSpPr txBox="1"/>
          <p:nvPr/>
        </p:nvSpPr>
        <p:spPr>
          <a:xfrm>
            <a:off x="33558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PDF indexé — à tester à la main</a:t>
            </a:r>
            <a:endParaRPr lang="en-US" sz="800" dirty="0"/>
          </a:p>
        </p:txBody>
      </p:sp>
      <p:sp>
        <p:nvSpPr>
          <p:cNvPr id="117" name="Shape 106"/>
          <p:cNvSpPr/>
          <p:nvPr/>
        </p:nvSpPr>
        <p:spPr>
          <a:xfrm>
            <a:off x="5943600" y="4626864"/>
            <a:ext cx="109728" cy="109728"/>
          </a:xfrm>
          <a:prstGeom prst="ellipse">
            <a:avLst/>
          </a:prstGeom>
          <a:solidFill>
            <a:srgbClr val="D49A00"/>
          </a:solidFill>
          <a:ln/>
        </p:spPr>
      </p:sp>
      <p:sp>
        <p:nvSpPr>
          <p:cNvPr id="118" name="Text 107"/>
          <p:cNvSpPr txBox="1"/>
          <p:nvPr/>
        </p:nvSpPr>
        <p:spPr>
          <a:xfrm>
            <a:off x="60990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Page, autre format ou édition ancienne</a:t>
            </a:r>
            <a:endParaRPr lang="en-US" sz="8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DÉPLOYER</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Documents à tester (2/2) : Madagascar → Zimbabwe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261872"/>
            <a:ext cx="1965960" cy="1591056"/>
          </a:xfrm>
          <a:prstGeom prst="roundRect">
            <a:avLst>
              <a:gd name="adj" fmla="val 4598"/>
            </a:avLst>
          </a:prstGeom>
          <a:solidFill>
            <a:srgbClr val="FFFFFF"/>
          </a:solidFill>
          <a:ln w="13970">
            <a:solidFill>
              <a:srgbClr val="D49A00"/>
            </a:solidFill>
            <a:prstDash val="solid"/>
          </a:ln>
        </p:spPr>
      </p:sp>
      <p:pic>
        <p:nvPicPr>
          <p:cNvPr id="18" name="Image 0" descr="/home/claude/lab10/qr/p_mg.png">
            <a:hlinkClick r:id="rId3"/>
          </p:cNvPr>
          <p:cNvPicPr>
            <a:picLocks noChangeAspect="1"/>
          </p:cNvPicPr>
          <p:nvPr/>
        </p:nvPicPr>
        <p:blipFill>
          <a:blip r:embed="rId4"/>
          <a:stretch>
            <a:fillRect/>
          </a:stretch>
        </p:blipFill>
        <p:spPr>
          <a:xfrm>
            <a:off x="521208" y="1325880"/>
            <a:ext cx="896112" cy="896112"/>
          </a:xfrm>
          <a:prstGeom prst="rect">
            <a:avLst/>
          </a:prstGeom>
        </p:spPr>
      </p:pic>
      <p:sp>
        <p:nvSpPr>
          <p:cNvPr id="19" name="Text 15"/>
          <p:cNvSpPr txBox="1"/>
          <p:nvPr/>
        </p:nvSpPr>
        <p:spPr>
          <a:xfrm>
            <a:off x="1463040"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Madagascar</a:t>
            </a:r>
            <a:endParaRPr lang="en-US" sz="1150" dirty="0"/>
          </a:p>
        </p:txBody>
      </p:sp>
      <p:sp>
        <p:nvSpPr>
          <p:cNvPr id="20" name="Text 16"/>
          <p:cNvSpPr txBox="1"/>
          <p:nvPr/>
        </p:nvSpPr>
        <p:spPr>
          <a:xfrm>
            <a:off x="1463040"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INSTAT</a:t>
            </a:r>
            <a:endParaRPr lang="en-US" sz="800" dirty="0"/>
          </a:p>
        </p:txBody>
      </p:sp>
      <p:sp>
        <p:nvSpPr>
          <p:cNvPr id="21" name="Shape 17"/>
          <p:cNvSpPr/>
          <p:nvPr/>
        </p:nvSpPr>
        <p:spPr>
          <a:xfrm>
            <a:off x="1463040" y="1920240"/>
            <a:ext cx="502920" cy="192024"/>
          </a:xfrm>
          <a:prstGeom prst="roundRect">
            <a:avLst>
              <a:gd name="adj" fmla="val 52381"/>
            </a:avLst>
          </a:prstGeom>
          <a:solidFill>
            <a:srgbClr val="0E7C86"/>
          </a:solidFill>
          <a:ln w="9525">
            <a:solidFill>
              <a:srgbClr val="0E7C86"/>
            </a:solidFill>
            <a:prstDash val="solid"/>
          </a:ln>
        </p:spPr>
      </p:sp>
      <p:sp>
        <p:nvSpPr>
          <p:cNvPr id="22" name="Text 18"/>
          <p:cNvSpPr txBox="1"/>
          <p:nvPr/>
        </p:nvSpPr>
        <p:spPr>
          <a:xfrm>
            <a:off x="1463040"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23" name="Shape 19"/>
          <p:cNvSpPr/>
          <p:nvPr/>
        </p:nvSpPr>
        <p:spPr>
          <a:xfrm>
            <a:off x="1993392"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24" name="Text 20"/>
          <p:cNvSpPr txBox="1"/>
          <p:nvPr/>
        </p:nvSpPr>
        <p:spPr>
          <a:xfrm>
            <a:off x="1993392"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25" name="Shape 21"/>
          <p:cNvSpPr/>
          <p:nvPr/>
        </p:nvSpPr>
        <p:spPr>
          <a:xfrm>
            <a:off x="548640" y="2276856"/>
            <a:ext cx="109728" cy="109728"/>
          </a:xfrm>
          <a:prstGeom prst="ellipse">
            <a:avLst/>
          </a:prstGeom>
          <a:solidFill>
            <a:srgbClr val="D49A00"/>
          </a:solidFill>
          <a:ln/>
        </p:spPr>
      </p:sp>
      <p:sp>
        <p:nvSpPr>
          <p:cNvPr id="26" name="Text 22"/>
          <p:cNvSpPr txBox="1"/>
          <p:nvPr/>
        </p:nvSpPr>
        <p:spPr>
          <a:xfrm>
            <a:off x="704088"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données Excel, pas de PDF</a:t>
            </a:r>
            <a:endParaRPr lang="en-US" sz="750" dirty="0"/>
          </a:p>
        </p:txBody>
      </p:sp>
      <p:sp>
        <p:nvSpPr>
          <p:cNvPr id="27" name="Text 23"/>
          <p:cNvSpPr txBox="1"/>
          <p:nvPr/>
        </p:nvSpPr>
        <p:spPr>
          <a:xfrm>
            <a:off x="548640"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Nouvel indice des prix (NIPC) — janvier 2026, données Excel</a:t>
            </a:r>
            <a:endParaRPr lang="en-US" sz="700" dirty="0"/>
          </a:p>
        </p:txBody>
      </p:sp>
      <p:sp>
        <p:nvSpPr>
          <p:cNvPr id="28" name="Text 24">
            <a:hlinkClick r:id="rId3"/>
          </p:cNvPr>
          <p:cNvSpPr txBox="1"/>
          <p:nvPr/>
        </p:nvSpPr>
        <p:spPr>
          <a:xfrm>
            <a:off x="548640"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instat.mg › NIPC janvier 2026</a:t>
            </a:r>
            <a:endParaRPr lang="en-US" sz="650" dirty="0"/>
          </a:p>
        </p:txBody>
      </p:sp>
      <p:sp>
        <p:nvSpPr>
          <p:cNvPr id="29" name="Shape 25"/>
          <p:cNvSpPr/>
          <p:nvPr/>
        </p:nvSpPr>
        <p:spPr>
          <a:xfrm>
            <a:off x="2542032" y="1261872"/>
            <a:ext cx="1965960" cy="1591056"/>
          </a:xfrm>
          <a:prstGeom prst="roundRect">
            <a:avLst>
              <a:gd name="adj" fmla="val 4598"/>
            </a:avLst>
          </a:prstGeom>
          <a:solidFill>
            <a:srgbClr val="FFFFFF"/>
          </a:solidFill>
          <a:ln w="13970">
            <a:solidFill>
              <a:srgbClr val="00A86A"/>
            </a:solidFill>
            <a:prstDash val="solid"/>
          </a:ln>
        </p:spPr>
      </p:sp>
      <p:pic>
        <p:nvPicPr>
          <p:cNvPr id="30" name="Image 1" descr="/home/claude/lab10/qr/p_ma.png">
            <a:hlinkClick r:id="rId5"/>
          </p:cNvPr>
          <p:cNvPicPr>
            <a:picLocks noChangeAspect="1"/>
          </p:cNvPicPr>
          <p:nvPr/>
        </p:nvPicPr>
        <p:blipFill>
          <a:blip r:embed="rId6"/>
          <a:stretch>
            <a:fillRect/>
          </a:stretch>
        </p:blipFill>
        <p:spPr>
          <a:xfrm>
            <a:off x="2606040" y="1325880"/>
            <a:ext cx="896112" cy="896112"/>
          </a:xfrm>
          <a:prstGeom prst="rect">
            <a:avLst/>
          </a:prstGeom>
        </p:spPr>
      </p:pic>
      <p:sp>
        <p:nvSpPr>
          <p:cNvPr id="31" name="Text 26"/>
          <p:cNvSpPr txBox="1"/>
          <p:nvPr/>
        </p:nvSpPr>
        <p:spPr>
          <a:xfrm>
            <a:off x="3547872"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Maroc</a:t>
            </a:r>
            <a:endParaRPr lang="en-US" sz="1150" dirty="0"/>
          </a:p>
        </p:txBody>
      </p:sp>
      <p:sp>
        <p:nvSpPr>
          <p:cNvPr id="32" name="Text 27"/>
          <p:cNvSpPr txBox="1"/>
          <p:nvPr/>
        </p:nvSpPr>
        <p:spPr>
          <a:xfrm>
            <a:off x="3547872"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HCP</a:t>
            </a:r>
            <a:endParaRPr lang="en-US" sz="800" dirty="0"/>
          </a:p>
        </p:txBody>
      </p:sp>
      <p:sp>
        <p:nvSpPr>
          <p:cNvPr id="33" name="Shape 28"/>
          <p:cNvSpPr/>
          <p:nvPr/>
        </p:nvSpPr>
        <p:spPr>
          <a:xfrm>
            <a:off x="3547872" y="1920240"/>
            <a:ext cx="502920" cy="192024"/>
          </a:xfrm>
          <a:prstGeom prst="roundRect">
            <a:avLst>
              <a:gd name="adj" fmla="val 52381"/>
            </a:avLst>
          </a:prstGeom>
          <a:solidFill>
            <a:srgbClr val="00704A"/>
          </a:solidFill>
          <a:ln w="9525">
            <a:solidFill>
              <a:srgbClr val="00704A"/>
            </a:solidFill>
            <a:prstDash val="solid"/>
          </a:ln>
        </p:spPr>
      </p:sp>
      <p:sp>
        <p:nvSpPr>
          <p:cNvPr id="34" name="Text 29"/>
          <p:cNvSpPr txBox="1"/>
          <p:nvPr/>
        </p:nvSpPr>
        <p:spPr>
          <a:xfrm>
            <a:off x="3547872"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DOCX</a:t>
            </a:r>
            <a:endParaRPr lang="en-US" sz="700" dirty="0"/>
          </a:p>
        </p:txBody>
      </p:sp>
      <p:sp>
        <p:nvSpPr>
          <p:cNvPr id="35" name="Shape 30"/>
          <p:cNvSpPr/>
          <p:nvPr/>
        </p:nvSpPr>
        <p:spPr>
          <a:xfrm>
            <a:off x="4078224"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36" name="Text 31"/>
          <p:cNvSpPr txBox="1"/>
          <p:nvPr/>
        </p:nvSpPr>
        <p:spPr>
          <a:xfrm>
            <a:off x="4078224"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37" name="Shape 32"/>
          <p:cNvSpPr/>
          <p:nvPr/>
        </p:nvSpPr>
        <p:spPr>
          <a:xfrm>
            <a:off x="2633472" y="2276856"/>
            <a:ext cx="109728" cy="109728"/>
          </a:xfrm>
          <a:prstGeom prst="ellipse">
            <a:avLst/>
          </a:prstGeom>
          <a:solidFill>
            <a:srgbClr val="00A86A"/>
          </a:solidFill>
          <a:ln/>
        </p:spPr>
      </p:sp>
      <p:sp>
        <p:nvSpPr>
          <p:cNvPr id="38" name="Text 33"/>
          <p:cNvSpPr txBox="1"/>
          <p:nvPr/>
        </p:nvSpPr>
        <p:spPr>
          <a:xfrm>
            <a:off x="2788920" y="2240280"/>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Lien vérifié · HCP publie en DOCX</a:t>
            </a:r>
            <a:endParaRPr lang="en-US" sz="750" dirty="0"/>
          </a:p>
        </p:txBody>
      </p:sp>
      <p:sp>
        <p:nvSpPr>
          <p:cNvPr id="39" name="Text 34"/>
          <p:cNvSpPr txBox="1"/>
          <p:nvPr/>
        </p:nvSpPr>
        <p:spPr>
          <a:xfrm>
            <a:off x="2633472"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Note IPC — juillet 2026 (format Word)</a:t>
            </a:r>
            <a:endParaRPr lang="en-US" sz="700" dirty="0"/>
          </a:p>
        </p:txBody>
      </p:sp>
      <p:sp>
        <p:nvSpPr>
          <p:cNvPr id="40" name="Text 35">
            <a:hlinkClick r:id="rId5"/>
          </p:cNvPr>
          <p:cNvSpPr txBox="1"/>
          <p:nvPr/>
        </p:nvSpPr>
        <p:spPr>
          <a:xfrm>
            <a:off x="2633472"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hcp.ma › IPC_Juillet 2026_Fr.docx</a:t>
            </a:r>
            <a:endParaRPr lang="en-US" sz="650" dirty="0"/>
          </a:p>
        </p:txBody>
      </p:sp>
      <p:sp>
        <p:nvSpPr>
          <p:cNvPr id="41" name="Shape 36"/>
          <p:cNvSpPr/>
          <p:nvPr/>
        </p:nvSpPr>
        <p:spPr>
          <a:xfrm>
            <a:off x="4626864" y="1261872"/>
            <a:ext cx="1965960" cy="1591056"/>
          </a:xfrm>
          <a:prstGeom prst="roundRect">
            <a:avLst>
              <a:gd name="adj" fmla="val 4598"/>
            </a:avLst>
          </a:prstGeom>
          <a:solidFill>
            <a:srgbClr val="FFFFFF"/>
          </a:solidFill>
          <a:ln w="13970">
            <a:solidFill>
              <a:srgbClr val="D49A00"/>
            </a:solidFill>
            <a:prstDash val="solid"/>
          </a:ln>
        </p:spPr>
      </p:sp>
      <p:pic>
        <p:nvPicPr>
          <p:cNvPr id="42" name="Image 2" descr="/home/claude/lab10/qr/p_ng.png">
            <a:hlinkClick r:id="rId7"/>
          </p:cNvPr>
          <p:cNvPicPr>
            <a:picLocks noChangeAspect="1"/>
          </p:cNvPicPr>
          <p:nvPr/>
        </p:nvPicPr>
        <p:blipFill>
          <a:blip r:embed="rId8"/>
          <a:stretch>
            <a:fillRect/>
          </a:stretch>
        </p:blipFill>
        <p:spPr>
          <a:xfrm>
            <a:off x="4690872" y="1325880"/>
            <a:ext cx="896112" cy="896112"/>
          </a:xfrm>
          <a:prstGeom prst="rect">
            <a:avLst/>
          </a:prstGeom>
        </p:spPr>
      </p:pic>
      <p:sp>
        <p:nvSpPr>
          <p:cNvPr id="43" name="Text 37"/>
          <p:cNvSpPr txBox="1"/>
          <p:nvPr/>
        </p:nvSpPr>
        <p:spPr>
          <a:xfrm>
            <a:off x="5632704"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Nigeria</a:t>
            </a:r>
            <a:endParaRPr lang="en-US" sz="1150" dirty="0"/>
          </a:p>
        </p:txBody>
      </p:sp>
      <p:sp>
        <p:nvSpPr>
          <p:cNvPr id="44" name="Text 38"/>
          <p:cNvSpPr txBox="1"/>
          <p:nvPr/>
        </p:nvSpPr>
        <p:spPr>
          <a:xfrm>
            <a:off x="5632704"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NBS</a:t>
            </a:r>
            <a:endParaRPr lang="en-US" sz="800" dirty="0"/>
          </a:p>
        </p:txBody>
      </p:sp>
      <p:sp>
        <p:nvSpPr>
          <p:cNvPr id="45" name="Shape 39"/>
          <p:cNvSpPr/>
          <p:nvPr/>
        </p:nvSpPr>
        <p:spPr>
          <a:xfrm>
            <a:off x="5632704" y="1920240"/>
            <a:ext cx="502920" cy="192024"/>
          </a:xfrm>
          <a:prstGeom prst="roundRect">
            <a:avLst>
              <a:gd name="adj" fmla="val 52381"/>
            </a:avLst>
          </a:prstGeom>
          <a:solidFill>
            <a:srgbClr val="0E7C86"/>
          </a:solidFill>
          <a:ln w="9525">
            <a:solidFill>
              <a:srgbClr val="0E7C86"/>
            </a:solidFill>
            <a:prstDash val="solid"/>
          </a:ln>
        </p:spPr>
      </p:sp>
      <p:sp>
        <p:nvSpPr>
          <p:cNvPr id="46" name="Text 40"/>
          <p:cNvSpPr txBox="1"/>
          <p:nvPr/>
        </p:nvSpPr>
        <p:spPr>
          <a:xfrm>
            <a:off x="5632704"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47" name="Shape 41"/>
          <p:cNvSpPr/>
          <p:nvPr/>
        </p:nvSpPr>
        <p:spPr>
          <a:xfrm>
            <a:off x="6163056"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48" name="Text 42"/>
          <p:cNvSpPr txBox="1"/>
          <p:nvPr/>
        </p:nvSpPr>
        <p:spPr>
          <a:xfrm>
            <a:off x="6163056"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49" name="Shape 43"/>
          <p:cNvSpPr/>
          <p:nvPr/>
        </p:nvSpPr>
        <p:spPr>
          <a:xfrm>
            <a:off x="4718304" y="2276856"/>
            <a:ext cx="109728" cy="109728"/>
          </a:xfrm>
          <a:prstGeom prst="ellipse">
            <a:avLst/>
          </a:prstGeom>
          <a:solidFill>
            <a:srgbClr val="D49A00"/>
          </a:solidFill>
          <a:ln/>
        </p:spPr>
      </p:sp>
      <p:sp>
        <p:nvSpPr>
          <p:cNvPr id="50" name="Text 44"/>
          <p:cNvSpPr txBox="1"/>
          <p:nvPr/>
        </p:nvSpPr>
        <p:spPr>
          <a:xfrm>
            <a:off x="4873752"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archives ZIP</a:t>
            </a:r>
            <a:endParaRPr lang="en-US" sz="750" dirty="0"/>
          </a:p>
        </p:txBody>
      </p:sp>
      <p:sp>
        <p:nvSpPr>
          <p:cNvPr id="51" name="Text 45"/>
          <p:cNvSpPr txBox="1"/>
          <p:nvPr/>
        </p:nvSpPr>
        <p:spPr>
          <a:xfrm>
            <a:off x="4718304"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CPI Reports 2026 — archives mensuelles (ZIP)</a:t>
            </a:r>
            <a:endParaRPr lang="en-US" sz="700" dirty="0"/>
          </a:p>
        </p:txBody>
      </p:sp>
      <p:sp>
        <p:nvSpPr>
          <p:cNvPr id="52" name="Text 46">
            <a:hlinkClick r:id="rId7"/>
          </p:cNvPr>
          <p:cNvSpPr txBox="1"/>
          <p:nvPr/>
        </p:nvSpPr>
        <p:spPr>
          <a:xfrm>
            <a:off x="4718304"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microdata.nigerianstat.gov.ng › 154</a:t>
            </a:r>
            <a:endParaRPr lang="en-US" sz="650" dirty="0"/>
          </a:p>
        </p:txBody>
      </p:sp>
      <p:sp>
        <p:nvSpPr>
          <p:cNvPr id="53" name="Shape 47"/>
          <p:cNvSpPr/>
          <p:nvPr/>
        </p:nvSpPr>
        <p:spPr>
          <a:xfrm>
            <a:off x="6711696" y="1261872"/>
            <a:ext cx="1965960" cy="1591056"/>
          </a:xfrm>
          <a:prstGeom prst="roundRect">
            <a:avLst>
              <a:gd name="adj" fmla="val 4598"/>
            </a:avLst>
          </a:prstGeom>
          <a:solidFill>
            <a:srgbClr val="FFFFFF"/>
          </a:solidFill>
          <a:ln w="13970">
            <a:solidFill>
              <a:srgbClr val="00A86A"/>
            </a:solidFill>
            <a:prstDash val="solid"/>
          </a:ln>
        </p:spPr>
      </p:sp>
      <p:pic>
        <p:nvPicPr>
          <p:cNvPr id="54" name="Image 3" descr="/home/claude/lab10/qr/p_rw.png">
            <a:hlinkClick r:id="rId9"/>
          </p:cNvPr>
          <p:cNvPicPr>
            <a:picLocks noChangeAspect="1"/>
          </p:cNvPicPr>
          <p:nvPr/>
        </p:nvPicPr>
        <p:blipFill>
          <a:blip r:embed="rId10"/>
          <a:stretch>
            <a:fillRect/>
          </a:stretch>
        </p:blipFill>
        <p:spPr>
          <a:xfrm>
            <a:off x="6775704" y="1325880"/>
            <a:ext cx="896112" cy="896112"/>
          </a:xfrm>
          <a:prstGeom prst="rect">
            <a:avLst/>
          </a:prstGeom>
        </p:spPr>
      </p:pic>
      <p:sp>
        <p:nvSpPr>
          <p:cNvPr id="55" name="Text 48"/>
          <p:cNvSpPr txBox="1"/>
          <p:nvPr/>
        </p:nvSpPr>
        <p:spPr>
          <a:xfrm>
            <a:off x="7717536"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Rwanda</a:t>
            </a:r>
            <a:endParaRPr lang="en-US" sz="1150" dirty="0"/>
          </a:p>
        </p:txBody>
      </p:sp>
      <p:sp>
        <p:nvSpPr>
          <p:cNvPr id="56" name="Text 49"/>
          <p:cNvSpPr txBox="1"/>
          <p:nvPr/>
        </p:nvSpPr>
        <p:spPr>
          <a:xfrm>
            <a:off x="7717536"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NISR</a:t>
            </a:r>
            <a:endParaRPr lang="en-US" sz="800" dirty="0"/>
          </a:p>
        </p:txBody>
      </p:sp>
      <p:sp>
        <p:nvSpPr>
          <p:cNvPr id="57" name="Shape 50"/>
          <p:cNvSpPr/>
          <p:nvPr/>
        </p:nvSpPr>
        <p:spPr>
          <a:xfrm>
            <a:off x="7717536" y="1920240"/>
            <a:ext cx="502920" cy="192024"/>
          </a:xfrm>
          <a:prstGeom prst="roundRect">
            <a:avLst>
              <a:gd name="adj" fmla="val 52381"/>
            </a:avLst>
          </a:prstGeom>
          <a:solidFill>
            <a:srgbClr val="B83B2E"/>
          </a:solidFill>
          <a:ln w="9525">
            <a:solidFill>
              <a:srgbClr val="B83B2E"/>
            </a:solidFill>
            <a:prstDash val="solid"/>
          </a:ln>
        </p:spPr>
      </p:sp>
      <p:sp>
        <p:nvSpPr>
          <p:cNvPr id="58" name="Text 51"/>
          <p:cNvSpPr txBox="1"/>
          <p:nvPr/>
        </p:nvSpPr>
        <p:spPr>
          <a:xfrm>
            <a:off x="7717536"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9" name="Shape 52"/>
          <p:cNvSpPr/>
          <p:nvPr/>
        </p:nvSpPr>
        <p:spPr>
          <a:xfrm>
            <a:off x="8247888"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60" name="Text 53"/>
          <p:cNvSpPr txBox="1"/>
          <p:nvPr/>
        </p:nvSpPr>
        <p:spPr>
          <a:xfrm>
            <a:off x="8247888"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61" name="Shape 54"/>
          <p:cNvSpPr/>
          <p:nvPr/>
        </p:nvSpPr>
        <p:spPr>
          <a:xfrm>
            <a:off x="6803136" y="2276856"/>
            <a:ext cx="109728" cy="109728"/>
          </a:xfrm>
          <a:prstGeom prst="ellipse">
            <a:avLst/>
          </a:prstGeom>
          <a:solidFill>
            <a:srgbClr val="00A86A"/>
          </a:solidFill>
          <a:ln/>
        </p:spPr>
      </p:sp>
      <p:sp>
        <p:nvSpPr>
          <p:cNvPr id="62" name="Text 55"/>
          <p:cNvSpPr txBox="1"/>
          <p:nvPr/>
        </p:nvSpPr>
        <p:spPr>
          <a:xfrm>
            <a:off x="6958584" y="2240280"/>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Lien PDF vérifié</a:t>
            </a:r>
            <a:endParaRPr lang="en-US" sz="750" dirty="0"/>
          </a:p>
        </p:txBody>
      </p:sp>
      <p:sp>
        <p:nvSpPr>
          <p:cNvPr id="63" name="Text 56"/>
          <p:cNvSpPr txBox="1"/>
          <p:nvPr/>
        </p:nvSpPr>
        <p:spPr>
          <a:xfrm>
            <a:off x="6803136"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Report — juillet 2026</a:t>
            </a:r>
            <a:endParaRPr lang="en-US" sz="700" dirty="0"/>
          </a:p>
        </p:txBody>
      </p:sp>
      <p:sp>
        <p:nvSpPr>
          <p:cNvPr id="64" name="Text 57">
            <a:hlinkClick r:id="rId9"/>
          </p:cNvPr>
          <p:cNvSpPr txBox="1"/>
          <p:nvPr/>
        </p:nvSpPr>
        <p:spPr>
          <a:xfrm>
            <a:off x="6803136"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statistics.gov.rw › CPI July 2026 Report.pdf</a:t>
            </a:r>
            <a:endParaRPr lang="en-US" sz="650" dirty="0"/>
          </a:p>
        </p:txBody>
      </p:sp>
      <p:sp>
        <p:nvSpPr>
          <p:cNvPr id="65" name="Shape 58"/>
          <p:cNvSpPr/>
          <p:nvPr/>
        </p:nvSpPr>
        <p:spPr>
          <a:xfrm>
            <a:off x="457200" y="2926080"/>
            <a:ext cx="1965960" cy="1591056"/>
          </a:xfrm>
          <a:prstGeom prst="roundRect">
            <a:avLst>
              <a:gd name="adj" fmla="val 4598"/>
            </a:avLst>
          </a:prstGeom>
          <a:solidFill>
            <a:srgbClr val="FFFFFF"/>
          </a:solidFill>
          <a:ln w="13970">
            <a:solidFill>
              <a:srgbClr val="00A86A"/>
            </a:solidFill>
            <a:prstDash val="solid"/>
          </a:ln>
        </p:spPr>
      </p:sp>
      <p:pic>
        <p:nvPicPr>
          <p:cNvPr id="66" name="Image 4" descr="/home/claude/lab10/qr/p_sn.png">
            <a:hlinkClick r:id="rId11"/>
          </p:cNvPr>
          <p:cNvPicPr>
            <a:picLocks noChangeAspect="1"/>
          </p:cNvPicPr>
          <p:nvPr/>
        </p:nvPicPr>
        <p:blipFill>
          <a:blip r:embed="rId12"/>
          <a:stretch>
            <a:fillRect/>
          </a:stretch>
        </p:blipFill>
        <p:spPr>
          <a:xfrm>
            <a:off x="521208" y="2990088"/>
            <a:ext cx="896112" cy="896112"/>
          </a:xfrm>
          <a:prstGeom prst="rect">
            <a:avLst/>
          </a:prstGeom>
        </p:spPr>
      </p:pic>
      <p:sp>
        <p:nvSpPr>
          <p:cNvPr id="67" name="Text 59"/>
          <p:cNvSpPr txBox="1"/>
          <p:nvPr/>
        </p:nvSpPr>
        <p:spPr>
          <a:xfrm>
            <a:off x="1463040"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Sénégal</a:t>
            </a:r>
            <a:endParaRPr lang="en-US" sz="1150" dirty="0"/>
          </a:p>
        </p:txBody>
      </p:sp>
      <p:sp>
        <p:nvSpPr>
          <p:cNvPr id="68" name="Text 60"/>
          <p:cNvSpPr txBox="1"/>
          <p:nvPr/>
        </p:nvSpPr>
        <p:spPr>
          <a:xfrm>
            <a:off x="1463040"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ANSD</a:t>
            </a:r>
            <a:endParaRPr lang="en-US" sz="800" dirty="0"/>
          </a:p>
        </p:txBody>
      </p:sp>
      <p:sp>
        <p:nvSpPr>
          <p:cNvPr id="69" name="Shape 61"/>
          <p:cNvSpPr/>
          <p:nvPr/>
        </p:nvSpPr>
        <p:spPr>
          <a:xfrm>
            <a:off x="1463040" y="3584448"/>
            <a:ext cx="502920" cy="192024"/>
          </a:xfrm>
          <a:prstGeom prst="roundRect">
            <a:avLst>
              <a:gd name="adj" fmla="val 52381"/>
            </a:avLst>
          </a:prstGeom>
          <a:solidFill>
            <a:srgbClr val="B83B2E"/>
          </a:solidFill>
          <a:ln w="9525">
            <a:solidFill>
              <a:srgbClr val="B83B2E"/>
            </a:solidFill>
            <a:prstDash val="solid"/>
          </a:ln>
        </p:spPr>
      </p:sp>
      <p:sp>
        <p:nvSpPr>
          <p:cNvPr id="70" name="Text 62"/>
          <p:cNvSpPr txBox="1"/>
          <p:nvPr/>
        </p:nvSpPr>
        <p:spPr>
          <a:xfrm>
            <a:off x="1463040"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71" name="Shape 63"/>
          <p:cNvSpPr/>
          <p:nvPr/>
        </p:nvSpPr>
        <p:spPr>
          <a:xfrm>
            <a:off x="1993392"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72" name="Text 64"/>
          <p:cNvSpPr txBox="1"/>
          <p:nvPr/>
        </p:nvSpPr>
        <p:spPr>
          <a:xfrm>
            <a:off x="1993392"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73" name="Shape 65"/>
          <p:cNvSpPr/>
          <p:nvPr/>
        </p:nvSpPr>
        <p:spPr>
          <a:xfrm>
            <a:off x="548640" y="3941064"/>
            <a:ext cx="109728" cy="109728"/>
          </a:xfrm>
          <a:prstGeom prst="ellipse">
            <a:avLst/>
          </a:prstGeom>
          <a:solidFill>
            <a:srgbClr val="00A86A"/>
          </a:solidFill>
          <a:ln/>
        </p:spPr>
      </p:sp>
      <p:sp>
        <p:nvSpPr>
          <p:cNvPr id="74" name="Text 66"/>
          <p:cNvSpPr txBox="1"/>
          <p:nvPr/>
        </p:nvSpPr>
        <p:spPr>
          <a:xfrm>
            <a:off x="704088"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ouvert et lu</a:t>
            </a:r>
            <a:endParaRPr lang="en-US" sz="750" dirty="0"/>
          </a:p>
        </p:txBody>
      </p:sp>
      <p:sp>
        <p:nvSpPr>
          <p:cNvPr id="75" name="Text 67"/>
          <p:cNvSpPr txBox="1"/>
          <p:nvPr/>
        </p:nvSpPr>
        <p:spPr>
          <a:xfrm>
            <a:off x="548640"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Indice harmonisé des prix (IHPC) — déc. 2025</a:t>
            </a:r>
            <a:endParaRPr lang="en-US" sz="700" dirty="0"/>
          </a:p>
        </p:txBody>
      </p:sp>
      <p:sp>
        <p:nvSpPr>
          <p:cNvPr id="76" name="Text 68">
            <a:hlinkClick r:id="rId11"/>
          </p:cNvPr>
          <p:cNvSpPr txBox="1"/>
          <p:nvPr/>
        </p:nvSpPr>
        <p:spPr>
          <a:xfrm>
            <a:off x="548640"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ansd.sn › IHPC_base2023_DEC-25.pdf</a:t>
            </a:r>
            <a:endParaRPr lang="en-US" sz="650" dirty="0"/>
          </a:p>
        </p:txBody>
      </p:sp>
      <p:sp>
        <p:nvSpPr>
          <p:cNvPr id="77" name="Shape 69"/>
          <p:cNvSpPr/>
          <p:nvPr/>
        </p:nvSpPr>
        <p:spPr>
          <a:xfrm>
            <a:off x="2542032" y="2926080"/>
            <a:ext cx="1965960" cy="1591056"/>
          </a:xfrm>
          <a:prstGeom prst="roundRect">
            <a:avLst>
              <a:gd name="adj" fmla="val 4598"/>
            </a:avLst>
          </a:prstGeom>
          <a:solidFill>
            <a:srgbClr val="FFFFFF"/>
          </a:solidFill>
          <a:ln w="13970">
            <a:solidFill>
              <a:srgbClr val="00A86A"/>
            </a:solidFill>
            <a:prstDash val="solid"/>
          </a:ln>
        </p:spPr>
      </p:sp>
      <p:pic>
        <p:nvPicPr>
          <p:cNvPr id="78" name="Image 5" descr="/home/claude/lab10/qr/p_so.png">
            <a:hlinkClick r:id="rId13"/>
          </p:cNvPr>
          <p:cNvPicPr>
            <a:picLocks noChangeAspect="1"/>
          </p:cNvPicPr>
          <p:nvPr/>
        </p:nvPicPr>
        <p:blipFill>
          <a:blip r:embed="rId14"/>
          <a:stretch>
            <a:fillRect/>
          </a:stretch>
        </p:blipFill>
        <p:spPr>
          <a:xfrm>
            <a:off x="2606040" y="2990088"/>
            <a:ext cx="896112" cy="896112"/>
          </a:xfrm>
          <a:prstGeom prst="rect">
            <a:avLst/>
          </a:prstGeom>
        </p:spPr>
      </p:pic>
      <p:sp>
        <p:nvSpPr>
          <p:cNvPr id="79" name="Text 70"/>
          <p:cNvSpPr txBox="1"/>
          <p:nvPr/>
        </p:nvSpPr>
        <p:spPr>
          <a:xfrm>
            <a:off x="3547872"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Somalie</a:t>
            </a:r>
            <a:endParaRPr lang="en-US" sz="1150" dirty="0"/>
          </a:p>
        </p:txBody>
      </p:sp>
      <p:sp>
        <p:nvSpPr>
          <p:cNvPr id="80" name="Text 71"/>
          <p:cNvSpPr txBox="1"/>
          <p:nvPr/>
        </p:nvSpPr>
        <p:spPr>
          <a:xfrm>
            <a:off x="3547872"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SNBS</a:t>
            </a:r>
            <a:endParaRPr lang="en-US" sz="800" dirty="0"/>
          </a:p>
        </p:txBody>
      </p:sp>
      <p:sp>
        <p:nvSpPr>
          <p:cNvPr id="81" name="Shape 72"/>
          <p:cNvSpPr/>
          <p:nvPr/>
        </p:nvSpPr>
        <p:spPr>
          <a:xfrm>
            <a:off x="3547872" y="3584448"/>
            <a:ext cx="502920" cy="192024"/>
          </a:xfrm>
          <a:prstGeom prst="roundRect">
            <a:avLst>
              <a:gd name="adj" fmla="val 52381"/>
            </a:avLst>
          </a:prstGeom>
          <a:solidFill>
            <a:srgbClr val="B83B2E"/>
          </a:solidFill>
          <a:ln w="9525">
            <a:solidFill>
              <a:srgbClr val="B83B2E"/>
            </a:solidFill>
            <a:prstDash val="solid"/>
          </a:ln>
        </p:spPr>
      </p:sp>
      <p:sp>
        <p:nvSpPr>
          <p:cNvPr id="82" name="Text 73"/>
          <p:cNvSpPr txBox="1"/>
          <p:nvPr/>
        </p:nvSpPr>
        <p:spPr>
          <a:xfrm>
            <a:off x="3547872"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83" name="Shape 74"/>
          <p:cNvSpPr/>
          <p:nvPr/>
        </p:nvSpPr>
        <p:spPr>
          <a:xfrm>
            <a:off x="4078224"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84" name="Text 75"/>
          <p:cNvSpPr txBox="1"/>
          <p:nvPr/>
        </p:nvSpPr>
        <p:spPr>
          <a:xfrm>
            <a:off x="4078224"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85" name="Shape 76"/>
          <p:cNvSpPr/>
          <p:nvPr/>
        </p:nvSpPr>
        <p:spPr>
          <a:xfrm>
            <a:off x="2633472" y="3941064"/>
            <a:ext cx="109728" cy="109728"/>
          </a:xfrm>
          <a:prstGeom prst="ellipse">
            <a:avLst/>
          </a:prstGeom>
          <a:solidFill>
            <a:srgbClr val="00A86A"/>
          </a:solidFill>
          <a:ln/>
        </p:spPr>
      </p:sp>
      <p:sp>
        <p:nvSpPr>
          <p:cNvPr id="86" name="Text 77"/>
          <p:cNvSpPr txBox="1"/>
          <p:nvPr/>
        </p:nvSpPr>
        <p:spPr>
          <a:xfrm>
            <a:off x="2788920"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ouvert et lu</a:t>
            </a:r>
            <a:endParaRPr lang="en-US" sz="750" dirty="0"/>
          </a:p>
        </p:txBody>
      </p:sp>
      <p:sp>
        <p:nvSpPr>
          <p:cNvPr id="87" name="Text 78"/>
          <p:cNvSpPr txBox="1"/>
          <p:nvPr/>
        </p:nvSpPr>
        <p:spPr>
          <a:xfrm>
            <a:off x="2633472"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Somalia's Inflation Outlook — note politique, mars 2026</a:t>
            </a:r>
            <a:endParaRPr lang="en-US" sz="700" dirty="0"/>
          </a:p>
        </p:txBody>
      </p:sp>
      <p:sp>
        <p:nvSpPr>
          <p:cNvPr id="88" name="Text 79">
            <a:hlinkClick r:id="rId13"/>
          </p:cNvPr>
          <p:cNvSpPr txBox="1"/>
          <p:nvPr/>
        </p:nvSpPr>
        <p:spPr>
          <a:xfrm>
            <a:off x="2633472"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nbs.gov.so › Somalias-Inflation-Outlook.pdf</a:t>
            </a:r>
            <a:endParaRPr lang="en-US" sz="650" dirty="0"/>
          </a:p>
        </p:txBody>
      </p:sp>
      <p:sp>
        <p:nvSpPr>
          <p:cNvPr id="89" name="Shape 80"/>
          <p:cNvSpPr/>
          <p:nvPr/>
        </p:nvSpPr>
        <p:spPr>
          <a:xfrm>
            <a:off x="4626864" y="2926080"/>
            <a:ext cx="1965960" cy="1591056"/>
          </a:xfrm>
          <a:prstGeom prst="roundRect">
            <a:avLst>
              <a:gd name="adj" fmla="val 4598"/>
            </a:avLst>
          </a:prstGeom>
          <a:solidFill>
            <a:srgbClr val="FFFFFF"/>
          </a:solidFill>
          <a:ln w="13970">
            <a:solidFill>
              <a:srgbClr val="00A86A"/>
            </a:solidFill>
            <a:prstDash val="solid"/>
          </a:ln>
        </p:spPr>
      </p:sp>
      <p:pic>
        <p:nvPicPr>
          <p:cNvPr id="90" name="Image 6" descr="/home/claude/lab10/qr/p_tz.png">
            <a:hlinkClick r:id="rId15"/>
          </p:cNvPr>
          <p:cNvPicPr>
            <a:picLocks noChangeAspect="1"/>
          </p:cNvPicPr>
          <p:nvPr/>
        </p:nvPicPr>
        <p:blipFill>
          <a:blip r:embed="rId16"/>
          <a:stretch>
            <a:fillRect/>
          </a:stretch>
        </p:blipFill>
        <p:spPr>
          <a:xfrm>
            <a:off x="4690872" y="2990088"/>
            <a:ext cx="896112" cy="896112"/>
          </a:xfrm>
          <a:prstGeom prst="rect">
            <a:avLst/>
          </a:prstGeom>
        </p:spPr>
      </p:pic>
      <p:sp>
        <p:nvSpPr>
          <p:cNvPr id="91" name="Text 81"/>
          <p:cNvSpPr txBox="1"/>
          <p:nvPr/>
        </p:nvSpPr>
        <p:spPr>
          <a:xfrm>
            <a:off x="5632704"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Tanzanie</a:t>
            </a:r>
            <a:endParaRPr lang="en-US" sz="1150" dirty="0"/>
          </a:p>
        </p:txBody>
      </p:sp>
      <p:sp>
        <p:nvSpPr>
          <p:cNvPr id="92" name="Text 82"/>
          <p:cNvSpPr txBox="1"/>
          <p:nvPr/>
        </p:nvSpPr>
        <p:spPr>
          <a:xfrm>
            <a:off x="5632704"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NBS</a:t>
            </a:r>
            <a:endParaRPr lang="en-US" sz="800" dirty="0"/>
          </a:p>
        </p:txBody>
      </p:sp>
      <p:sp>
        <p:nvSpPr>
          <p:cNvPr id="93" name="Shape 83"/>
          <p:cNvSpPr/>
          <p:nvPr/>
        </p:nvSpPr>
        <p:spPr>
          <a:xfrm>
            <a:off x="5632704" y="3584448"/>
            <a:ext cx="502920" cy="192024"/>
          </a:xfrm>
          <a:prstGeom prst="roundRect">
            <a:avLst>
              <a:gd name="adj" fmla="val 52381"/>
            </a:avLst>
          </a:prstGeom>
          <a:solidFill>
            <a:srgbClr val="B83B2E"/>
          </a:solidFill>
          <a:ln w="9525">
            <a:solidFill>
              <a:srgbClr val="B83B2E"/>
            </a:solidFill>
            <a:prstDash val="solid"/>
          </a:ln>
        </p:spPr>
      </p:sp>
      <p:sp>
        <p:nvSpPr>
          <p:cNvPr id="94" name="Text 84"/>
          <p:cNvSpPr txBox="1"/>
          <p:nvPr/>
        </p:nvSpPr>
        <p:spPr>
          <a:xfrm>
            <a:off x="5632704"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95" name="Shape 85"/>
          <p:cNvSpPr/>
          <p:nvPr/>
        </p:nvSpPr>
        <p:spPr>
          <a:xfrm>
            <a:off x="6163056"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96" name="Text 86"/>
          <p:cNvSpPr txBox="1"/>
          <p:nvPr/>
        </p:nvSpPr>
        <p:spPr>
          <a:xfrm>
            <a:off x="6163056"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97" name="Shape 87"/>
          <p:cNvSpPr/>
          <p:nvPr/>
        </p:nvSpPr>
        <p:spPr>
          <a:xfrm>
            <a:off x="4718304" y="3941064"/>
            <a:ext cx="109728" cy="109728"/>
          </a:xfrm>
          <a:prstGeom prst="ellipse">
            <a:avLst/>
          </a:prstGeom>
          <a:solidFill>
            <a:srgbClr val="00A86A"/>
          </a:solidFill>
          <a:ln/>
        </p:spPr>
      </p:sp>
      <p:sp>
        <p:nvSpPr>
          <p:cNvPr id="98" name="Text 88"/>
          <p:cNvSpPr txBox="1"/>
          <p:nvPr/>
        </p:nvSpPr>
        <p:spPr>
          <a:xfrm>
            <a:off x="4873752"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ouvert et lu</a:t>
            </a:r>
            <a:endParaRPr lang="en-US" sz="750" dirty="0"/>
          </a:p>
        </p:txBody>
      </p:sp>
      <p:sp>
        <p:nvSpPr>
          <p:cNvPr id="99" name="Text 89"/>
          <p:cNvSpPr txBox="1"/>
          <p:nvPr/>
        </p:nvSpPr>
        <p:spPr>
          <a:xfrm>
            <a:off x="4718304"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National Consumer Price Index — février 2026</a:t>
            </a:r>
            <a:endParaRPr lang="en-US" sz="700" dirty="0"/>
          </a:p>
        </p:txBody>
      </p:sp>
      <p:sp>
        <p:nvSpPr>
          <p:cNvPr id="100" name="Text 90">
            <a:hlinkClick r:id="rId15"/>
          </p:cNvPr>
          <p:cNvSpPr txBox="1"/>
          <p:nvPr/>
        </p:nvSpPr>
        <p:spPr>
          <a:xfrm>
            <a:off x="4718304"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nbs.go.tz › CPI Release_022026_English.pdf</a:t>
            </a:r>
            <a:endParaRPr lang="en-US" sz="650" dirty="0"/>
          </a:p>
        </p:txBody>
      </p:sp>
      <p:sp>
        <p:nvSpPr>
          <p:cNvPr id="101" name="Shape 91"/>
          <p:cNvSpPr/>
          <p:nvPr/>
        </p:nvSpPr>
        <p:spPr>
          <a:xfrm>
            <a:off x="6711696" y="2926080"/>
            <a:ext cx="1965960" cy="1591056"/>
          </a:xfrm>
          <a:prstGeom prst="roundRect">
            <a:avLst>
              <a:gd name="adj" fmla="val 4598"/>
            </a:avLst>
          </a:prstGeom>
          <a:solidFill>
            <a:srgbClr val="FFFFFF"/>
          </a:solidFill>
          <a:ln w="13970">
            <a:solidFill>
              <a:srgbClr val="0E7C86"/>
            </a:solidFill>
            <a:prstDash val="solid"/>
          </a:ln>
        </p:spPr>
      </p:sp>
      <p:pic>
        <p:nvPicPr>
          <p:cNvPr id="102" name="Image 7" descr="/home/claude/lab10/qr/p_zw.png">
            <a:hlinkClick r:id="rId17"/>
          </p:cNvPr>
          <p:cNvPicPr>
            <a:picLocks noChangeAspect="1"/>
          </p:cNvPicPr>
          <p:nvPr/>
        </p:nvPicPr>
        <p:blipFill>
          <a:blip r:embed="rId18"/>
          <a:stretch>
            <a:fillRect/>
          </a:stretch>
        </p:blipFill>
        <p:spPr>
          <a:xfrm>
            <a:off x="6775704" y="2990088"/>
            <a:ext cx="896112" cy="896112"/>
          </a:xfrm>
          <a:prstGeom prst="rect">
            <a:avLst/>
          </a:prstGeom>
        </p:spPr>
      </p:pic>
      <p:sp>
        <p:nvSpPr>
          <p:cNvPr id="103" name="Text 92"/>
          <p:cNvSpPr txBox="1"/>
          <p:nvPr/>
        </p:nvSpPr>
        <p:spPr>
          <a:xfrm>
            <a:off x="7717536"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Zimbabwe</a:t>
            </a:r>
            <a:endParaRPr lang="en-US" sz="1150" dirty="0"/>
          </a:p>
        </p:txBody>
      </p:sp>
      <p:sp>
        <p:nvSpPr>
          <p:cNvPr id="104" name="Text 93"/>
          <p:cNvSpPr txBox="1"/>
          <p:nvPr/>
        </p:nvSpPr>
        <p:spPr>
          <a:xfrm>
            <a:off x="7717536"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ZIMSTAT</a:t>
            </a:r>
            <a:endParaRPr lang="en-US" sz="800" dirty="0"/>
          </a:p>
        </p:txBody>
      </p:sp>
      <p:sp>
        <p:nvSpPr>
          <p:cNvPr id="105" name="Shape 94"/>
          <p:cNvSpPr/>
          <p:nvPr/>
        </p:nvSpPr>
        <p:spPr>
          <a:xfrm>
            <a:off x="7717536" y="3584448"/>
            <a:ext cx="502920" cy="192024"/>
          </a:xfrm>
          <a:prstGeom prst="roundRect">
            <a:avLst>
              <a:gd name="adj" fmla="val 52381"/>
            </a:avLst>
          </a:prstGeom>
          <a:solidFill>
            <a:srgbClr val="B83B2E"/>
          </a:solidFill>
          <a:ln w="9525">
            <a:solidFill>
              <a:srgbClr val="B83B2E"/>
            </a:solidFill>
            <a:prstDash val="solid"/>
          </a:ln>
        </p:spPr>
      </p:sp>
      <p:sp>
        <p:nvSpPr>
          <p:cNvPr id="106" name="Text 95"/>
          <p:cNvSpPr txBox="1"/>
          <p:nvPr/>
        </p:nvSpPr>
        <p:spPr>
          <a:xfrm>
            <a:off x="7717536"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107" name="Shape 96"/>
          <p:cNvSpPr/>
          <p:nvPr/>
        </p:nvSpPr>
        <p:spPr>
          <a:xfrm>
            <a:off x="8247888"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108" name="Text 97"/>
          <p:cNvSpPr txBox="1"/>
          <p:nvPr/>
        </p:nvSpPr>
        <p:spPr>
          <a:xfrm>
            <a:off x="8247888"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109" name="Shape 98"/>
          <p:cNvSpPr/>
          <p:nvPr/>
        </p:nvSpPr>
        <p:spPr>
          <a:xfrm>
            <a:off x="6803136" y="3941064"/>
            <a:ext cx="109728" cy="109728"/>
          </a:xfrm>
          <a:prstGeom prst="ellipse">
            <a:avLst/>
          </a:prstGeom>
          <a:solidFill>
            <a:srgbClr val="0E7C86"/>
          </a:solidFill>
          <a:ln/>
        </p:spPr>
      </p:sp>
      <p:sp>
        <p:nvSpPr>
          <p:cNvPr id="110" name="Text 99"/>
          <p:cNvSpPr txBox="1"/>
          <p:nvPr/>
        </p:nvSpPr>
        <p:spPr>
          <a:xfrm>
            <a:off x="6958584" y="3904488"/>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indexé</a:t>
            </a:r>
            <a:endParaRPr lang="en-US" sz="750" dirty="0"/>
          </a:p>
        </p:txBody>
      </p:sp>
      <p:sp>
        <p:nvSpPr>
          <p:cNvPr id="111" name="Text 100"/>
          <p:cNvSpPr txBox="1"/>
          <p:nvPr/>
        </p:nvSpPr>
        <p:spPr>
          <a:xfrm>
            <a:off x="6803136"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(ZWG) — décembre 2025</a:t>
            </a:r>
            <a:endParaRPr lang="en-US" sz="700" dirty="0"/>
          </a:p>
        </p:txBody>
      </p:sp>
      <p:sp>
        <p:nvSpPr>
          <p:cNvPr id="112" name="Text 101">
            <a:hlinkClick r:id="rId17"/>
          </p:cNvPr>
          <p:cNvSpPr txBox="1"/>
          <p:nvPr/>
        </p:nvSpPr>
        <p:spPr>
          <a:xfrm>
            <a:off x="6803136"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zimstat.co.zw › CPI_ZWG_12_2025.pdf</a:t>
            </a:r>
            <a:endParaRPr lang="en-US" sz="650" dirty="0"/>
          </a:p>
        </p:txBody>
      </p:sp>
      <p:sp>
        <p:nvSpPr>
          <p:cNvPr id="113" name="Shape 102"/>
          <p:cNvSpPr/>
          <p:nvPr/>
        </p:nvSpPr>
        <p:spPr>
          <a:xfrm>
            <a:off x="457200" y="4626864"/>
            <a:ext cx="109728" cy="109728"/>
          </a:xfrm>
          <a:prstGeom prst="ellipse">
            <a:avLst/>
          </a:prstGeom>
          <a:solidFill>
            <a:srgbClr val="00A86A"/>
          </a:solidFill>
          <a:ln/>
        </p:spPr>
      </p:sp>
      <p:sp>
        <p:nvSpPr>
          <p:cNvPr id="114" name="Text 103"/>
          <p:cNvSpPr txBox="1"/>
          <p:nvPr/>
        </p:nvSpPr>
        <p:spPr>
          <a:xfrm>
            <a:off x="6126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Vérifié (ouvert ou lien PDF confirmé)</a:t>
            </a:r>
            <a:endParaRPr lang="en-US" sz="800" dirty="0"/>
          </a:p>
        </p:txBody>
      </p:sp>
      <p:sp>
        <p:nvSpPr>
          <p:cNvPr id="115" name="Shape 104"/>
          <p:cNvSpPr/>
          <p:nvPr/>
        </p:nvSpPr>
        <p:spPr>
          <a:xfrm>
            <a:off x="3200400" y="4626864"/>
            <a:ext cx="109728" cy="109728"/>
          </a:xfrm>
          <a:prstGeom prst="ellipse">
            <a:avLst/>
          </a:prstGeom>
          <a:solidFill>
            <a:srgbClr val="0E7C86"/>
          </a:solidFill>
          <a:ln/>
        </p:spPr>
      </p:sp>
      <p:sp>
        <p:nvSpPr>
          <p:cNvPr id="116" name="Text 105"/>
          <p:cNvSpPr txBox="1"/>
          <p:nvPr/>
        </p:nvSpPr>
        <p:spPr>
          <a:xfrm>
            <a:off x="33558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PDF indexé — à tester à la main</a:t>
            </a:r>
            <a:endParaRPr lang="en-US" sz="800" dirty="0"/>
          </a:p>
        </p:txBody>
      </p:sp>
      <p:sp>
        <p:nvSpPr>
          <p:cNvPr id="117" name="Shape 106"/>
          <p:cNvSpPr/>
          <p:nvPr/>
        </p:nvSpPr>
        <p:spPr>
          <a:xfrm>
            <a:off x="5943600" y="4626864"/>
            <a:ext cx="109728" cy="109728"/>
          </a:xfrm>
          <a:prstGeom prst="ellipse">
            <a:avLst/>
          </a:prstGeom>
          <a:solidFill>
            <a:srgbClr val="D49A00"/>
          </a:solidFill>
          <a:ln/>
        </p:spPr>
      </p:sp>
      <p:sp>
        <p:nvSpPr>
          <p:cNvPr id="118" name="Text 107"/>
          <p:cNvSpPr txBox="1"/>
          <p:nvPr/>
        </p:nvSpPr>
        <p:spPr>
          <a:xfrm>
            <a:off x="60990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Page, autre format ou édition ancienne</a:t>
            </a:r>
            <a:endParaRPr lang="en-US" sz="8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Sources et points de vérification</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Au-delà de ChatGPT — dix outils d’IA pour les INS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07592"/>
            <a:ext cx="8229600" cy="356616"/>
          </a:xfrm>
          <a:prstGeom prst="roundRect">
            <a:avLst>
              <a:gd name="adj" fmla="val 12821"/>
            </a:avLst>
          </a:prstGeom>
          <a:solidFill>
            <a:srgbClr val="F4F7F5"/>
          </a:solidFill>
          <a:ln/>
        </p:spPr>
      </p:sp>
      <p:sp>
        <p:nvSpPr>
          <p:cNvPr id="18" name="Shape 15"/>
          <p:cNvSpPr/>
          <p:nvPr/>
        </p:nvSpPr>
        <p:spPr>
          <a:xfrm>
            <a:off x="548640" y="1389888"/>
            <a:ext cx="1325880" cy="201168"/>
          </a:xfrm>
          <a:prstGeom prst="roundRect">
            <a:avLst>
              <a:gd name="adj" fmla="val 50000"/>
            </a:avLst>
          </a:prstGeom>
          <a:solidFill>
            <a:srgbClr val="00704A">
              <a:alpha val="15000"/>
            </a:srgbClr>
          </a:solidFill>
          <a:ln w="9525">
            <a:solidFill>
              <a:srgbClr val="00704A"/>
            </a:solidFill>
            <a:prstDash val="solid"/>
          </a:ln>
        </p:spPr>
      </p:sp>
      <p:sp>
        <p:nvSpPr>
          <p:cNvPr id="19" name="Text 16"/>
          <p:cNvSpPr txBox="1"/>
          <p:nvPr/>
        </p:nvSpPr>
        <p:spPr>
          <a:xfrm>
            <a:off x="548640" y="1389888"/>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Méthode</a:t>
            </a:r>
            <a:endParaRPr lang="en-US" sz="800" dirty="0"/>
          </a:p>
        </p:txBody>
      </p:sp>
      <p:sp>
        <p:nvSpPr>
          <p:cNvPr id="20" name="Text 17"/>
          <p:cNvSpPr txBox="1"/>
          <p:nvPr/>
        </p:nvSpPr>
        <p:spPr>
          <a:xfrm>
            <a:off x="2011680" y="1325880"/>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CEE-ONU (2019). Modèle générique du processus de production statistique, GSBPM v5.1.</a:t>
            </a:r>
            <a:endParaRPr lang="en-US" sz="1000" dirty="0"/>
          </a:p>
        </p:txBody>
      </p:sp>
      <p:sp>
        <p:nvSpPr>
          <p:cNvPr id="21" name="Shape 18"/>
          <p:cNvSpPr/>
          <p:nvPr/>
        </p:nvSpPr>
        <p:spPr>
          <a:xfrm>
            <a:off x="548640" y="1783080"/>
            <a:ext cx="1325880" cy="201168"/>
          </a:xfrm>
          <a:prstGeom prst="roundRect">
            <a:avLst>
              <a:gd name="adj" fmla="val 50000"/>
            </a:avLst>
          </a:prstGeom>
          <a:solidFill>
            <a:srgbClr val="00704A">
              <a:alpha val="15000"/>
            </a:srgbClr>
          </a:solidFill>
          <a:ln w="9525">
            <a:solidFill>
              <a:srgbClr val="00704A"/>
            </a:solidFill>
            <a:prstDash val="solid"/>
          </a:ln>
        </p:spPr>
      </p:sp>
      <p:sp>
        <p:nvSpPr>
          <p:cNvPr id="22" name="Text 19"/>
          <p:cNvSpPr txBox="1"/>
          <p:nvPr/>
        </p:nvSpPr>
        <p:spPr>
          <a:xfrm>
            <a:off x="548640" y="1783080"/>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LeapSpace</a:t>
            </a:r>
            <a:endParaRPr lang="en-US" sz="800" dirty="0"/>
          </a:p>
        </p:txBody>
      </p:sp>
      <p:sp>
        <p:nvSpPr>
          <p:cNvPr id="23" name="Text 20"/>
          <p:cNvSpPr txBox="1"/>
          <p:nvPr/>
        </p:nvSpPr>
        <p:spPr>
          <a:xfrm>
            <a:off x="2011680" y="1719072"/>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Elsevier (nov. 2025, mise en service 2026). LeapSpace, espace de travail d'IA de niveau recherche. elsevier.com/products/leapspace</a:t>
            </a:r>
            <a:endParaRPr lang="en-US" sz="1000" dirty="0"/>
          </a:p>
        </p:txBody>
      </p:sp>
      <p:sp>
        <p:nvSpPr>
          <p:cNvPr id="24" name="Shape 21"/>
          <p:cNvSpPr/>
          <p:nvPr/>
        </p:nvSpPr>
        <p:spPr>
          <a:xfrm>
            <a:off x="457200" y="2093976"/>
            <a:ext cx="8229600" cy="356616"/>
          </a:xfrm>
          <a:prstGeom prst="roundRect">
            <a:avLst>
              <a:gd name="adj" fmla="val 12821"/>
            </a:avLst>
          </a:prstGeom>
          <a:solidFill>
            <a:srgbClr val="F4F7F5"/>
          </a:solidFill>
          <a:ln/>
        </p:spPr>
      </p:sp>
      <p:sp>
        <p:nvSpPr>
          <p:cNvPr id="25" name="Shape 22"/>
          <p:cNvSpPr/>
          <p:nvPr/>
        </p:nvSpPr>
        <p:spPr>
          <a:xfrm>
            <a:off x="548640" y="2176272"/>
            <a:ext cx="1325880" cy="201168"/>
          </a:xfrm>
          <a:prstGeom prst="roundRect">
            <a:avLst>
              <a:gd name="adj" fmla="val 50000"/>
            </a:avLst>
          </a:prstGeom>
          <a:solidFill>
            <a:srgbClr val="00704A">
              <a:alpha val="15000"/>
            </a:srgbClr>
          </a:solidFill>
          <a:ln w="9525">
            <a:solidFill>
              <a:srgbClr val="00704A"/>
            </a:solidFill>
            <a:prstDash val="solid"/>
          </a:ln>
        </p:spPr>
      </p:sp>
      <p:sp>
        <p:nvSpPr>
          <p:cNvPr id="26" name="Text 23"/>
          <p:cNvSpPr txBox="1"/>
          <p:nvPr/>
        </p:nvSpPr>
        <p:spPr>
          <a:xfrm>
            <a:off x="548640" y="2176272"/>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NotebookLM</a:t>
            </a:r>
            <a:endParaRPr lang="en-US" sz="800" dirty="0"/>
          </a:p>
        </p:txBody>
      </p:sp>
      <p:sp>
        <p:nvSpPr>
          <p:cNvPr id="27" name="Text 24"/>
          <p:cNvSpPr txBox="1"/>
          <p:nvPr/>
        </p:nvSpPr>
        <p:spPr>
          <a:xfrm>
            <a:off x="2011680" y="2112264"/>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Google. Studio : infographies, présentations (export PPTX), vidéos. Aide NotebookLM ; revues de presse 2026.</a:t>
            </a:r>
            <a:endParaRPr lang="en-US" sz="1000" dirty="0"/>
          </a:p>
        </p:txBody>
      </p:sp>
      <p:sp>
        <p:nvSpPr>
          <p:cNvPr id="28" name="Shape 25"/>
          <p:cNvSpPr/>
          <p:nvPr/>
        </p:nvSpPr>
        <p:spPr>
          <a:xfrm>
            <a:off x="548640" y="2569464"/>
            <a:ext cx="1325880" cy="201168"/>
          </a:xfrm>
          <a:prstGeom prst="roundRect">
            <a:avLst>
              <a:gd name="adj" fmla="val 50000"/>
            </a:avLst>
          </a:prstGeom>
          <a:solidFill>
            <a:srgbClr val="00704A">
              <a:alpha val="15000"/>
            </a:srgbClr>
          </a:solidFill>
          <a:ln w="9525">
            <a:solidFill>
              <a:srgbClr val="00704A"/>
            </a:solidFill>
            <a:prstDash val="solid"/>
          </a:ln>
        </p:spPr>
      </p:sp>
      <p:sp>
        <p:nvSpPr>
          <p:cNvPr id="29" name="Text 26"/>
          <p:cNvSpPr txBox="1"/>
          <p:nvPr/>
        </p:nvSpPr>
        <p:spPr>
          <a:xfrm>
            <a:off x="548640" y="2569464"/>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UN Data Commons</a:t>
            </a:r>
            <a:endParaRPr lang="en-US" sz="800" dirty="0"/>
          </a:p>
        </p:txBody>
      </p:sp>
      <p:sp>
        <p:nvSpPr>
          <p:cNvPr id="30" name="Text 27"/>
          <p:cNvSpPr txBox="1"/>
          <p:nvPr/>
        </p:nvSpPr>
        <p:spPr>
          <a:xfrm>
            <a:off x="2011680" y="2505456"/>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ONU et Google (17 sept. 2026). UN System Data Commons. data.un.org · blog.google</a:t>
            </a:r>
            <a:endParaRPr lang="en-US" sz="1000" dirty="0"/>
          </a:p>
        </p:txBody>
      </p:sp>
      <p:sp>
        <p:nvSpPr>
          <p:cNvPr id="31" name="Shape 28"/>
          <p:cNvSpPr/>
          <p:nvPr/>
        </p:nvSpPr>
        <p:spPr>
          <a:xfrm>
            <a:off x="457200" y="2880360"/>
            <a:ext cx="8229600" cy="356616"/>
          </a:xfrm>
          <a:prstGeom prst="roundRect">
            <a:avLst>
              <a:gd name="adj" fmla="val 12821"/>
            </a:avLst>
          </a:prstGeom>
          <a:solidFill>
            <a:srgbClr val="F4F7F5"/>
          </a:solidFill>
          <a:ln/>
        </p:spPr>
      </p:sp>
      <p:sp>
        <p:nvSpPr>
          <p:cNvPr id="32" name="Shape 29"/>
          <p:cNvSpPr/>
          <p:nvPr/>
        </p:nvSpPr>
        <p:spPr>
          <a:xfrm>
            <a:off x="548640" y="2962656"/>
            <a:ext cx="1325880" cy="201168"/>
          </a:xfrm>
          <a:prstGeom prst="roundRect">
            <a:avLst>
              <a:gd name="adj" fmla="val 50000"/>
            </a:avLst>
          </a:prstGeom>
          <a:solidFill>
            <a:srgbClr val="00704A">
              <a:alpha val="15000"/>
            </a:srgbClr>
          </a:solidFill>
          <a:ln w="9525">
            <a:solidFill>
              <a:srgbClr val="00704A"/>
            </a:solidFill>
            <a:prstDash val="solid"/>
          </a:ln>
        </p:spPr>
      </p:sp>
      <p:sp>
        <p:nvSpPr>
          <p:cNvPr id="33" name="Text 30"/>
          <p:cNvSpPr txBox="1"/>
          <p:nvPr/>
        </p:nvSpPr>
        <p:spPr>
          <a:xfrm>
            <a:off x="548640" y="2962656"/>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GLM · Z.ai</a:t>
            </a:r>
            <a:endParaRPr lang="en-US" sz="800" dirty="0"/>
          </a:p>
        </p:txBody>
      </p:sp>
      <p:sp>
        <p:nvSpPr>
          <p:cNvPr id="34" name="Text 31"/>
          <p:cNvSpPr txBox="1"/>
          <p:nvPr/>
        </p:nvSpPr>
        <p:spPr>
          <a:xfrm>
            <a:off x="2011680" y="2898648"/>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Z.ai. Modèles GLM-5 à 5.3, mode Agent de chat.z.ai. docs.z.ai</a:t>
            </a:r>
            <a:endParaRPr lang="en-US" sz="1000" dirty="0"/>
          </a:p>
        </p:txBody>
      </p:sp>
      <p:sp>
        <p:nvSpPr>
          <p:cNvPr id="35" name="Shape 32"/>
          <p:cNvSpPr/>
          <p:nvPr/>
        </p:nvSpPr>
        <p:spPr>
          <a:xfrm>
            <a:off x="548640" y="3355848"/>
            <a:ext cx="1325880" cy="201168"/>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548640" y="3355848"/>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Kimi</a:t>
            </a:r>
            <a:endParaRPr lang="en-US" sz="800" dirty="0"/>
          </a:p>
        </p:txBody>
      </p:sp>
      <p:sp>
        <p:nvSpPr>
          <p:cNvPr id="37" name="Text 34"/>
          <p:cNvSpPr txBox="1"/>
          <p:nvPr/>
        </p:nvSpPr>
        <p:spPr>
          <a:xfrm>
            <a:off x="2011680" y="3291840"/>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Moonshot AI. Mode agent OK Computer, modèles K2.6 à K3. kimi.ai</a:t>
            </a:r>
            <a:endParaRPr lang="en-US" sz="1000" dirty="0"/>
          </a:p>
        </p:txBody>
      </p:sp>
      <p:sp>
        <p:nvSpPr>
          <p:cNvPr id="38" name="Shape 35"/>
          <p:cNvSpPr/>
          <p:nvPr/>
        </p:nvSpPr>
        <p:spPr>
          <a:xfrm>
            <a:off x="457200" y="3666744"/>
            <a:ext cx="8229600" cy="356616"/>
          </a:xfrm>
          <a:prstGeom prst="roundRect">
            <a:avLst>
              <a:gd name="adj" fmla="val 12821"/>
            </a:avLst>
          </a:prstGeom>
          <a:solidFill>
            <a:srgbClr val="F4F7F5"/>
          </a:solidFill>
          <a:ln/>
        </p:spPr>
      </p:sp>
      <p:sp>
        <p:nvSpPr>
          <p:cNvPr id="39" name="Shape 36"/>
          <p:cNvSpPr/>
          <p:nvPr/>
        </p:nvSpPr>
        <p:spPr>
          <a:xfrm>
            <a:off x="548640" y="3749040"/>
            <a:ext cx="1325880" cy="201168"/>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548640" y="3749040"/>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Google Flow</a:t>
            </a:r>
            <a:endParaRPr lang="en-US" sz="800" dirty="0"/>
          </a:p>
        </p:txBody>
      </p:sp>
      <p:sp>
        <p:nvSpPr>
          <p:cNvPr id="41" name="Text 38"/>
          <p:cNvSpPr txBox="1"/>
          <p:nvPr/>
        </p:nvSpPr>
        <p:spPr>
          <a:xfrm>
            <a:off x="2011680" y="3685032"/>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Aide Google Flow (2026) : conditions d'accès (abonnement Google AI, 18 ans, régions).</a:t>
            </a:r>
            <a:endParaRPr lang="en-US" sz="1000" dirty="0"/>
          </a:p>
        </p:txBody>
      </p:sp>
      <p:sp>
        <p:nvSpPr>
          <p:cNvPr id="42" name="Shape 39"/>
          <p:cNvSpPr/>
          <p:nvPr/>
        </p:nvSpPr>
        <p:spPr>
          <a:xfrm>
            <a:off x="548640" y="4142232"/>
            <a:ext cx="1325880" cy="201168"/>
          </a:xfrm>
          <a:prstGeom prst="roundRect">
            <a:avLst>
              <a:gd name="adj" fmla="val 50000"/>
            </a:avLst>
          </a:prstGeom>
          <a:solidFill>
            <a:srgbClr val="00704A">
              <a:alpha val="15000"/>
            </a:srgbClr>
          </a:solidFill>
          <a:ln w="9525">
            <a:solidFill>
              <a:srgbClr val="00704A"/>
            </a:solidFill>
            <a:prstDash val="solid"/>
          </a:ln>
        </p:spPr>
      </p:sp>
      <p:sp>
        <p:nvSpPr>
          <p:cNvPr id="43" name="Text 40"/>
          <p:cNvSpPr txBox="1"/>
          <p:nvPr/>
        </p:nvSpPr>
        <p:spPr>
          <a:xfrm>
            <a:off x="548640" y="4142232"/>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Jev</a:t>
            </a:r>
            <a:endParaRPr lang="en-US" sz="800" dirty="0"/>
          </a:p>
        </p:txBody>
      </p:sp>
      <p:sp>
        <p:nvSpPr>
          <p:cNvPr id="44" name="Text 41"/>
          <p:cNvSpPr txBox="1"/>
          <p:nvPr/>
        </p:nvSpPr>
        <p:spPr>
          <a:xfrm>
            <a:off x="2011680" y="4078224"/>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TypeSafe AI (sept. 2026). Modèle de décision « System One » ; couverture presse spécialisée.</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6558</Words>
  <Application>Microsoft Office PowerPoint</Application>
  <PresentationFormat>On-screen Show (16:9)</PresentationFormat>
  <Paragraphs>722</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Au-delà de ChatGPT — dix outils d'IA pour les instituts de statistique</dc:title>
  <dc:subject>PptxGenJS Presentation</dc:subject>
  <dc:creator>Secrétariat STG17</dc:creator>
  <cp:lastModifiedBy>HADJ TAIEB, MOHAMED ALI</cp:lastModifiedBy>
  <cp:revision>4</cp:revision>
  <dcterms:created xsi:type="dcterms:W3CDTF">2026-09-22T16:56:50Z</dcterms:created>
  <dcterms:modified xsi:type="dcterms:W3CDTF">2026-09-25T10:42:05Z</dcterms:modified>
</cp:coreProperties>
</file>