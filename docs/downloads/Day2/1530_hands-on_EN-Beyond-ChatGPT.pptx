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4" r:id="rId27"/>
    <p:sldId id="285" r:id="rId28"/>
    <p:sldId id="286"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053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Most statistics offices that use AI today stop at ChatGPT. Yet other tools, often free, are clearly better at specific jobs: searching with sources, questioning your own documents, turning a report into a dashboard, producing an infographic, coding answers with a trustworthy probability. This lab presents ten of them, each on a real office use case, with one common method to test and compare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conviction: the right tool depends on the task, not on fame. Second: a statistics office must measure what a tool delivers, not simply be impressed. Third: governance is part of use — access, provider jurisdiction, data allowed. Every card in this guide applies these three principles.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Each section's colour reappears on the dividers and the progress dots.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frames the lab. We place the ten tools in the statistical business process, show their access conditions, then the common test method.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map: each GSBPM phase carries the tools that help it most. Notice the concentration in dissemination — phase 7 — where report-to-dashboard, image and video tools change the most. But documentary search, analysis and processing have their specialised tools too.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table first, before any demonstration. It states honestly what is free and what is not, where each provider is established, and what data may be used. Google Flow requires a Google AI subscription; LeapSpace an institutional access or the trial; Jev is in paid early access. Everything else is free with limits. For all of them: public or synthetic data only. Check the conditions on the day — they change fast.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this slide during set-up: each participant scans the codes with a phone or clicks the links. The addresses are the providers' official sites. For Jev, the official path is the TypeSafe console; the many “playground” sites that exist are independent of the provider and are not recommended.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follows the same five steps, and every trial ends with three measurements. That is what turns a demonstration into useful knowledge: by the end of the lab you know which tool delivers what, on which task, at what risk. The evaluation sheets filled in by participants from all countries form an evidence base for the STG17 Action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four tools for searching and understanding. What they share is that they cite their sources. Perplexity for the web, LeapSpace for scientific literature, NotebookLM for your own documents, and the brand-new UN Data Commons for official UN statistics.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is a conversational search engine: it queries the web and cites its sources next to each statement. It is the tool for horizon scanning and benchmarking. The habit to teach: open every source and check that it is official and recent. The prompt explicitly asks for “not found” rather than a guess.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LeapSpace, launched by Elsevier at the end of 2025, draws only on peer-reviewed scientific sources and shows a Trust Card explaining why each source is cited. It is the methodological review tool. Practical point: full access is institutional; check in advance whether a partner university or the AfDB has access, otherwise use the trial or show it as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NotebookLM answers only from the documents you upload, with citations. Since late 2025 its Studio panel also produces infographics and slide decks that export to PowerPoint, as well as videos. It is the ideal tool for turning a set of published reports into a knowledge base and dissemination products. Watch the figures in generated images: they must be proof-read.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directly useful news for offices: on 17 September 2026 the UN launched the UN System Data Commons, replacing the UNData portal, allowing natural-language queries and exposing the data to AI agents through the MCP protocol. The strong exercise for an NSO: check how its own statistics appear there and identify gaps with national publications. It is also an argument for making your data “AI-ready”.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flagship use case. Two free agents — GLM on chat.z.ai and Kimi with its OK Computer mode — can turn a report into an interactive web page, a dashboard or slides. We compare them on the same report, then verify the result.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GLM is Z.ai's model family. On chat.z.ai, Agent mode can produce documents, analyse data and generate websites or slides. The flagship GLM-5.3, released in August 2026, offers a one-million-token window: a whole report fits in one request. The prompt enforces the report's figures, the source page under each figure and the house style. Checking ten randomly drawn figures is quick and very persuasive.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Kimi, from Moonshot AI, offers the OK Computer agent mode, able to create multi-page sites and editable slides and to handle up to a million rows of data. Running the same task with two agents, on the same report and with the same grid, is the best way to choose. It is also an excellent group exercise: each pair presents its best dashboard.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attractive dashboard is not a correct dashboard. These six checks take about twenty minutes and must be done by someone who did not produce the dashboard. The first matters most: no figure without a source. So does the fifth: a generated HTML file may load external scripts; the IT team must review it before anything goes on the office website.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Google's image and video tools. Nano Banana in the Gemini app for infographics and visuals, Google Flow for video. Absolute rule: every figure shown in an image must be proof-read.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Nano Banana is Google's image model, free with limits in the Gemini app. It is particularly good at visual consistency and at rendering text, which makes it useful for infographics. But an image model can still distort a figure or a letter: proof-reading is mandatory. Give it only figures that are already verified, never the job of computing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Flow is Google's video studio, built on Veo and Nano Banana. It requires a Google AI Plus, Pro or Ultra subscription, an age of 18 and an eligible region, so we show it as a facilitator demonstration. Good practice for a statistical video: never have figures or text generated, add them in editing from the verified release. Veo videos carry an invisible SynthID watermark.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two lesser-known but strategic tools. Jev, a decision model that returns probabilities rather than text, and Mistral's Le Chat, the European alternative. Then the golden rules.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launched in September 2026 by TypeSafe AI, is not a chatbot: it returns choices, scores and probabilities with a confidence, never free text. For a statistics office this is the right family of tool for coding and triage. In our Free AI Studio test, an LLM declared itself confident on 100% of ISCO codes while getting 12% of them wrong: that is exactly the comparison to run here. The published performance figures are the provider's own and must be verified.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tools fall under three jurisdictions: the United States, China and the European Union. None is suitable for confidential data in its free version. Two levers of sovereignty exist. First, European providers such as Mistral, whose Le Chat is free. Second, and above all, open-weight models — GLM, Kimi, Mistral — which can be installed on the office's own servers, where data never leaves. That is the only route to processing microdata with AI.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rules stay on display in the room throughout the lab. Public or synthetic data only. No figure published without going back to the source. All generated content is labelled. Each participant uses their own account, never a shared account or a key pasted into a document.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messages, then launch the rotations. Remind participants that the evaluation sheets are collected at the end: they are what turns the lab into knowledge shared between offices.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to test for the 16 participating countries (part 1 of 2). These are official consumer price or inflation publications, comparable across countries for the report-to-dashboard exercise. Verification status, September 2026: “PDF opened and read” means the file was downloaded and its content checked; “PDF link verified” means the PDF link was confirmed on the official page, which opened; “PDF indexed” means the PDF content appears in the search index but the site could not be opened automatically, so test it by hand; an amber dot means a download page, a non-PDF format or an older edition. Full links: Botswana : https://www.statsbots.org.bw/sites/default/files/Consumer%20Price%20Index%20January%202026.pdf (PDF indexed) ; Burundi : https://www.insbu.bi/documents/IndicesPrixConsommation/IPC-Fevrier-2025.pdf (PDF indexed · 2025 edition) ; Côte d'Ivoire : https://anstat.ci/publication-details/1b5d1bec32f850eee0da5eef4d934262991964ee84e7bdb5ca10d6d95fd49cf223509883be7f379f3de50e332e291607aba319a26187bbce99919abdd5e2440aivtTONDR9UGwBrqU0tao-pjK8gkm8GEX6wEim0Gy9Qk (Page · PDF to download) ; Egypt : https://www.cbe.org.eg/-/media/project/cbe/listing/publication/2026/february/inf_feb_2026_en.pdf (PDF indexed · central bank) ; Ethiopia : https://ess.gov.et/download/consumer-price-index-february-2026/ (Page opened · Download button) ; The Gambia : https://www.gbosdata.org/downloads/strategic-documents-46 (Page · no CPI PDF found) ; Ghana : https://statsghana.gov.gh/highlights/inflation-rate (Page opened · dynamic PDF link) ; Kenya : https://www.knbs.or.ke/wp-content/uploads/2026/02/Kenya-Consumer-Price-Indices-and-Inflation-Rates-February-2026.pdf (PDF indexed)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to test for the 16 participating countries (part 2 of 2). These are official consumer price or inflation publications, comparable across countries for the report-to-dashboard exercise. Verification status, September 2026: “PDF opened and read” means the file was downloaded and its content checked; “PDF link verified” means the PDF link was confirmed on the official page, which opened; “PDF indexed” means the PDF content appears in the search index but the site could not be opened automatically, so test it by hand; an amber dot means a download page, a non-PDF format or an older edition. Full links: Madagascar : https://www.instat.mg/p/nipc-nouvel-indice-des-prix-a-la-consommation-janvier-2026 (Page · Excel data, no PDF) ; Morocco : https://www.hcp.ma/attachment/2898378/ (Link verified · HCP publishes in DOCX) ; Nigeria : https://microdata.nigerianstat.gov.ng/index.php/catalog/154 (Page · ZIP archives) ; Rwanda : https://statistics.gov.rw/sites/default/files/documents/2026-08/CONSUMER%20PRICE%20INDEX%20JULY%20%28CPI%29%202026%20Report%20.pdf (PDF link verified) ; Senegal : https://www.ansd.sn/sites/default/files/2026-01/IHPC_base2023_DEC-25.pdf (PDF opened and read) ; Somalia : https://nbs.gov.so/wp-content/uploads/2026/03/Somalias-Inflation-Outlook.pdf (PDF opened and read) ; Tanzania : https://www.nbs.go.tz/uploads/statistics/documents/en-1773057284-CPI%20%20Release_022026_English.pdf (PDF opened and read) ; Zimbabwe : https://www.zimstat.co.zw/wp-content/uploads/Macro/Prices/CPI/2025/CPI_ZWG_12_2025.pdf (PDF indexed)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information about the tools was verified in September 2026. Offers, names and versions change fast: check them the day before the lab.</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hyperlink" Target="https://www.kimi.ai/" TargetMode="External"/><Relationship Id="rId18" Type="http://schemas.openxmlformats.org/officeDocument/2006/relationships/image" Target="../media/image24.png"/><Relationship Id="rId3" Type="http://schemas.openxmlformats.org/officeDocument/2006/relationships/hyperlink" Target="https://www.perplexity.ai" TargetMode="External"/><Relationship Id="rId21" Type="http://schemas.openxmlformats.org/officeDocument/2006/relationships/hyperlink" Target="https://chat.mistral.ai" TargetMode="External"/><Relationship Id="rId7" Type="http://schemas.openxmlformats.org/officeDocument/2006/relationships/hyperlink" Target="https://notebooklm.google.com" TargetMode="External"/><Relationship Id="rId12" Type="http://schemas.openxmlformats.org/officeDocument/2006/relationships/image" Target="../media/image21.png"/><Relationship Id="rId17" Type="http://schemas.openxmlformats.org/officeDocument/2006/relationships/hyperlink" Target="https://labs.google/fx/tools/flow" TargetMode="External"/><Relationship Id="rId2" Type="http://schemas.openxmlformats.org/officeDocument/2006/relationships/notesSlide" Target="../notesSlides/notesSlide7.xml"/><Relationship Id="rId16" Type="http://schemas.openxmlformats.org/officeDocument/2006/relationships/image" Target="../media/image23.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hyperlink" Target="https://chat.z.ai" TargetMode="External"/><Relationship Id="rId5" Type="http://schemas.openxmlformats.org/officeDocument/2006/relationships/hyperlink" Target="https://www.elsevier.com/products/leapspace" TargetMode="External"/><Relationship Id="rId15" Type="http://schemas.openxmlformats.org/officeDocument/2006/relationships/hyperlink" Target="https://gemini.google.com" TargetMode="External"/><Relationship Id="rId10" Type="http://schemas.openxmlformats.org/officeDocument/2006/relationships/image" Target="../media/image20.png"/><Relationship Id="rId19" Type="http://schemas.openxmlformats.org/officeDocument/2006/relationships/hyperlink" Target="https://console.typesafe.ai" TargetMode="External"/><Relationship Id="rId4" Type="http://schemas.openxmlformats.org/officeDocument/2006/relationships/image" Target="../media/image17.png"/><Relationship Id="rId9" Type="http://schemas.openxmlformats.org/officeDocument/2006/relationships/hyperlink" Target="https://data.un.org" TargetMode="External"/><Relationship Id="rId14" Type="http://schemas.openxmlformats.org/officeDocument/2006/relationships/image" Target="../media/image22.png"/><Relationship Id="rId22"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2.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7.png"/><Relationship Id="rId4" Type="http://schemas.openxmlformats.org/officeDocument/2006/relationships/hyperlink" Target="https://www.perplexity.ai"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8.png"/><Relationship Id="rId4" Type="http://schemas.openxmlformats.org/officeDocument/2006/relationships/hyperlink" Target="https://www.elsevier.com/products/leapspac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hyperlink" Target="https://notebooklm.google.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0.png"/><Relationship Id="rId4" Type="http://schemas.openxmlformats.org/officeDocument/2006/relationships/hyperlink" Target="https://data.un.or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hyperlink" Target="https://chat.z.ai"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hyperlink" Target="https://www.kimi.ai/"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hyperlink" Target="https://gemini.google.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4.png"/><Relationship Id="rId4" Type="http://schemas.openxmlformats.org/officeDocument/2006/relationships/hyperlink" Target="https://labs.google/fx/tools/flow"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hyperlink" Target="https://console.typesafe.ai"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hyperlink" Target="https://chat.mistral.ai" TargetMode="Externa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hyperlink" Target="https://www.gbosdata.org/downloads/strategic-documents-46" TargetMode="External"/><Relationship Id="rId18" Type="http://schemas.openxmlformats.org/officeDocument/2006/relationships/image" Target="../media/image61.png"/><Relationship Id="rId3" Type="http://schemas.openxmlformats.org/officeDocument/2006/relationships/hyperlink" Target="https://www.statsbots.org.bw/sites/default/files/Consumer%20Price%20Index%20January%202026.pdf" TargetMode="External"/><Relationship Id="rId7" Type="http://schemas.openxmlformats.org/officeDocument/2006/relationships/hyperlink" Target="https://anstat.ci/publication-details/1b5d1bec32f850eee0da5eef4d934262991964ee84e7bdb5ca10d6d95fd49cf223509883be7f379f3de50e332e291607aba319a26187bbce99919abdd5e2440aivtTONDR9UGwBrqU0tao-pjK8gkm8GEX6wEim0Gy9Qk" TargetMode="External"/><Relationship Id="rId12" Type="http://schemas.openxmlformats.org/officeDocument/2006/relationships/image" Target="../media/image58.png"/><Relationship Id="rId17" Type="http://schemas.openxmlformats.org/officeDocument/2006/relationships/hyperlink" Target="https://www.knbs.or.ke/wp-content/uploads/2026/02/Kenya-Consumer-Price-Indices-and-Inflation-Rates-February-2026.pdf" TargetMode="External"/><Relationship Id="rId2" Type="http://schemas.openxmlformats.org/officeDocument/2006/relationships/notesSlide" Target="../notesSlides/notesSlide26.xml"/><Relationship Id="rId16"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hyperlink" Target="https://ess.gov.et/download/consumer-price-index-february-2026/" TargetMode="External"/><Relationship Id="rId5" Type="http://schemas.openxmlformats.org/officeDocument/2006/relationships/hyperlink" Target="https://www.insbu.bi/documents/IndicesPrixConsommation/IPC-Fevrier-2025.pdf" TargetMode="External"/><Relationship Id="rId15" Type="http://schemas.openxmlformats.org/officeDocument/2006/relationships/hyperlink" Target="https://statsghana.gov.gh/highlights/inflation-rate" TargetMode="External"/><Relationship Id="rId10" Type="http://schemas.openxmlformats.org/officeDocument/2006/relationships/image" Target="../media/image57.png"/><Relationship Id="rId4" Type="http://schemas.openxmlformats.org/officeDocument/2006/relationships/image" Target="../media/image54.png"/><Relationship Id="rId9" Type="http://schemas.openxmlformats.org/officeDocument/2006/relationships/hyperlink" Target="https://www.cbe.org.eg/-/media/project/cbe/listing/publication/2026/february/inf_feb_2026_en.pdf" TargetMode="External"/><Relationship Id="rId14" Type="http://schemas.openxmlformats.org/officeDocument/2006/relationships/image" Target="../media/image59.png"/></Relationships>
</file>

<file path=ppt/slides/_rels/slide2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hyperlink" Target="https://nbs.gov.so/wp-content/uploads/2026/03/Somalias-Inflation-Outlook.pdf" TargetMode="External"/><Relationship Id="rId18" Type="http://schemas.openxmlformats.org/officeDocument/2006/relationships/image" Target="../media/image69.png"/><Relationship Id="rId3" Type="http://schemas.openxmlformats.org/officeDocument/2006/relationships/hyperlink" Target="https://www.instat.mg/p/nipc-nouvel-indice-des-prix-a-la-consommation-janvier-2026" TargetMode="External"/><Relationship Id="rId7" Type="http://schemas.openxmlformats.org/officeDocument/2006/relationships/hyperlink" Target="https://microdata.nigerianstat.gov.ng/index.php/catalog/154" TargetMode="External"/><Relationship Id="rId12" Type="http://schemas.openxmlformats.org/officeDocument/2006/relationships/image" Target="../media/image66.png"/><Relationship Id="rId17" Type="http://schemas.openxmlformats.org/officeDocument/2006/relationships/hyperlink" Target="https://www.zimstat.co.zw/wp-content/uploads/Macro/Prices/CPI/2025/CPI_ZWG_12_2025.pdf" TargetMode="External"/><Relationship Id="rId2" Type="http://schemas.openxmlformats.org/officeDocument/2006/relationships/notesSlide" Target="../notesSlides/notesSlide27.xml"/><Relationship Id="rId16"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hyperlink" Target="https://www.ansd.sn/sites/default/files/2026-01/IHPC_base2023_DEC-25.pdf" TargetMode="External"/><Relationship Id="rId5" Type="http://schemas.openxmlformats.org/officeDocument/2006/relationships/hyperlink" Target="https://www.hcp.ma/attachment/2898378/" TargetMode="External"/><Relationship Id="rId15" Type="http://schemas.openxmlformats.org/officeDocument/2006/relationships/hyperlink" Target="https://www.nbs.go.tz/uploads/statistics/documents/en-1773057284-CPI%20%20Release_022026_English.pdf" TargetMode="External"/><Relationship Id="rId10" Type="http://schemas.openxmlformats.org/officeDocument/2006/relationships/image" Target="../media/image65.png"/><Relationship Id="rId4" Type="http://schemas.openxmlformats.org/officeDocument/2006/relationships/image" Target="../media/image62.png"/><Relationship Id="rId9" Type="http://schemas.openxmlformats.org/officeDocument/2006/relationships/hyperlink" Target="https://statistics.gov.rw/sites/default/files/documents/2026-08/CONSUMER%20PRICE%20INDEX%20JULY%20%28CPI%29%202026%20Report%20.pdf" TargetMode="External"/><Relationship Id="rId14" Type="http://schemas.openxmlformats.org/officeDocument/2006/relationships/image" Target="../media/image6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85800"/>
            <a:ext cx="64008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STG17 LABORATORY · EXPLORE · MEASURE · CHOOSE</a:t>
            </a:r>
            <a:endParaRPr lang="en-US" sz="1100" dirty="0"/>
          </a:p>
        </p:txBody>
      </p:sp>
      <p:sp>
        <p:nvSpPr>
          <p:cNvPr id="4" name="Text 2"/>
          <p:cNvSpPr txBox="1"/>
          <p:nvPr/>
        </p:nvSpPr>
        <p:spPr>
          <a:xfrm>
            <a:off x="548640" y="1005840"/>
            <a:ext cx="5120640" cy="1600200"/>
          </a:xfrm>
          <a:prstGeom prst="rect">
            <a:avLst/>
          </a:prstGeom>
          <a:noFill/>
          <a:ln/>
        </p:spPr>
        <p:txBody>
          <a:bodyPr wrap="square" lIns="0" tIns="0" rIns="0" bIns="0" rtlCol="0" anchor="t"/>
          <a:lstStyle/>
          <a:p>
            <a:pPr marL="0" indent="0">
              <a:lnSpc>
                <a:spcPct val="90000"/>
              </a:lnSpc>
              <a:buNone/>
            </a:pPr>
            <a:r>
              <a:rPr lang="en-US" sz="4800" b="1" dirty="0">
                <a:solidFill>
                  <a:srgbClr val="FFFFFF"/>
                </a:solidFill>
                <a:latin typeface="Calibri" pitchFamily="34" charset="0"/>
                <a:ea typeface="Calibri" pitchFamily="34" charset="-122"/>
                <a:cs typeface="Calibri" pitchFamily="34" charset="-120"/>
              </a:rPr>
              <a:t>Beyond</a:t>
            </a:r>
            <a:endParaRPr lang="en-US" sz="4800" dirty="0"/>
          </a:p>
          <a:p>
            <a:pPr marL="0" indent="0">
              <a:lnSpc>
                <a:spcPct val="90000"/>
              </a:lnSpc>
              <a:buNone/>
            </a:pPr>
            <a:r>
              <a:rPr lang="en-US" sz="4800" b="1" dirty="0">
                <a:solidFill>
                  <a:srgbClr val="FFFFFF"/>
                </a:solidFill>
                <a:latin typeface="Calibri" pitchFamily="34" charset="0"/>
                <a:ea typeface="Calibri" pitchFamily="34" charset="-122"/>
                <a:cs typeface="Calibri" pitchFamily="34" charset="-120"/>
              </a:rPr>
              <a:t>ChatGPT</a:t>
            </a:r>
            <a:endParaRPr lang="en-US" sz="4800" dirty="0"/>
          </a:p>
        </p:txBody>
      </p:sp>
      <p:sp>
        <p:nvSpPr>
          <p:cNvPr id="5" name="Text 3"/>
          <p:cNvSpPr txBox="1"/>
          <p:nvPr/>
        </p:nvSpPr>
        <p:spPr>
          <a:xfrm>
            <a:off x="548640" y="2697480"/>
            <a:ext cx="4937760" cy="73152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Ten AI tools still rarely used by statistics offices — tested on real use cases</a:t>
            </a:r>
            <a:endParaRPr lang="en-US" sz="1700" dirty="0"/>
          </a:p>
        </p:txBody>
      </p:sp>
      <p:sp>
        <p:nvSpPr>
          <p:cNvPr id="6" name="Text 4"/>
          <p:cNvSpPr txBox="1"/>
          <p:nvPr/>
        </p:nvSpPr>
        <p:spPr>
          <a:xfrm>
            <a:off x="548640" y="3611880"/>
            <a:ext cx="5486400" cy="27432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Practical guide · step-by-step cards · ready-to-use prompts · quality checks</a:t>
            </a:r>
            <a:endParaRPr lang="en-US" sz="1100" dirty="0"/>
          </a:p>
        </p:txBody>
      </p:sp>
      <p:sp>
        <p:nvSpPr>
          <p:cNvPr id="7" name="Text 5"/>
          <p:cNvSpPr txBox="1"/>
          <p:nvPr/>
        </p:nvSpPr>
        <p:spPr>
          <a:xfrm>
            <a:off x="548640" y="4526280"/>
            <a:ext cx="6217920" cy="228600"/>
          </a:xfrm>
          <a:prstGeom prst="rect">
            <a:avLst/>
          </a:prstGeom>
          <a:noFill/>
          <a:ln/>
        </p:spPr>
        <p:txBody>
          <a:bodyPr wrap="square" lIns="0" tIns="0" rIns="0" bIns="0" rtlCol="0" anchor="t"/>
          <a:lstStyle/>
          <a:p>
            <a:pPr marL="0" indent="0">
              <a:buNone/>
            </a:pPr>
            <a:r>
              <a:rPr lang="en-US" sz="950" dirty="0">
                <a:solidFill>
                  <a:srgbClr val="E6F6EE"/>
                </a:solidFill>
                <a:latin typeface="Calibri" pitchFamily="34" charset="0"/>
                <a:ea typeface="Calibri" pitchFamily="34" charset="-122"/>
                <a:cs typeface="Calibri" pitchFamily="34" charset="-120"/>
              </a:rPr>
              <a:t>African Development Bank · African Union (STATAFRIC) · National Institute of Statistics of Rwanda</a:t>
            </a:r>
            <a:endParaRPr lang="en-US" sz="950" dirty="0"/>
          </a:p>
        </p:txBody>
      </p:sp>
      <p:sp>
        <p:nvSpPr>
          <p:cNvPr id="8" name="Shape 6"/>
          <p:cNvSpPr/>
          <p:nvPr/>
        </p:nvSpPr>
        <p:spPr>
          <a:xfrm>
            <a:off x="5989320" y="685800"/>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9" name="Image 0" descr="preencoded.png"/>
          <p:cNvPicPr>
            <a:picLocks noChangeAspect="1"/>
          </p:cNvPicPr>
          <p:nvPr/>
        </p:nvPicPr>
        <p:blipFill>
          <a:blip r:embed="rId4"/>
          <a:stretch>
            <a:fillRect/>
          </a:stretch>
        </p:blipFill>
        <p:spPr>
          <a:xfrm>
            <a:off x="6099048" y="886968"/>
            <a:ext cx="256032" cy="256032"/>
          </a:xfrm>
          <a:prstGeom prst="rect">
            <a:avLst/>
          </a:prstGeom>
        </p:spPr>
      </p:pic>
      <p:sp>
        <p:nvSpPr>
          <p:cNvPr id="10" name="Text 7"/>
          <p:cNvSpPr txBox="1"/>
          <p:nvPr/>
        </p:nvSpPr>
        <p:spPr>
          <a:xfrm>
            <a:off x="6409944" y="777240"/>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Perplexity</a:t>
            </a:r>
            <a:endParaRPr lang="en-US" sz="1000" dirty="0"/>
          </a:p>
        </p:txBody>
      </p:sp>
      <p:sp>
        <p:nvSpPr>
          <p:cNvPr id="11" name="Shape 8"/>
          <p:cNvSpPr/>
          <p:nvPr/>
        </p:nvSpPr>
        <p:spPr>
          <a:xfrm>
            <a:off x="7452360" y="685800"/>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2" name="Image 1" descr="preencoded.png"/>
          <p:cNvPicPr>
            <a:picLocks noChangeAspect="1"/>
          </p:cNvPicPr>
          <p:nvPr/>
        </p:nvPicPr>
        <p:blipFill>
          <a:blip r:embed="rId5"/>
          <a:stretch>
            <a:fillRect/>
          </a:stretch>
        </p:blipFill>
        <p:spPr>
          <a:xfrm>
            <a:off x="7562088" y="886968"/>
            <a:ext cx="256032" cy="256032"/>
          </a:xfrm>
          <a:prstGeom prst="rect">
            <a:avLst/>
          </a:prstGeom>
        </p:spPr>
      </p:pic>
      <p:sp>
        <p:nvSpPr>
          <p:cNvPr id="13" name="Text 9"/>
          <p:cNvSpPr txBox="1"/>
          <p:nvPr/>
        </p:nvSpPr>
        <p:spPr>
          <a:xfrm>
            <a:off x="7872984" y="777240"/>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LeapSpace</a:t>
            </a:r>
            <a:endParaRPr lang="en-US" sz="1000" dirty="0"/>
          </a:p>
        </p:txBody>
      </p:sp>
      <p:sp>
        <p:nvSpPr>
          <p:cNvPr id="14" name="Shape 10"/>
          <p:cNvSpPr/>
          <p:nvPr/>
        </p:nvSpPr>
        <p:spPr>
          <a:xfrm>
            <a:off x="5989320" y="1472184"/>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5" name="Image 2" descr="preencoded.png"/>
          <p:cNvPicPr>
            <a:picLocks noChangeAspect="1"/>
          </p:cNvPicPr>
          <p:nvPr/>
        </p:nvPicPr>
        <p:blipFill>
          <a:blip r:embed="rId6"/>
          <a:stretch>
            <a:fillRect/>
          </a:stretch>
        </p:blipFill>
        <p:spPr>
          <a:xfrm>
            <a:off x="6099048" y="1673352"/>
            <a:ext cx="256032" cy="256032"/>
          </a:xfrm>
          <a:prstGeom prst="rect">
            <a:avLst/>
          </a:prstGeom>
        </p:spPr>
      </p:pic>
      <p:sp>
        <p:nvSpPr>
          <p:cNvPr id="16" name="Text 11"/>
          <p:cNvSpPr txBox="1"/>
          <p:nvPr/>
        </p:nvSpPr>
        <p:spPr>
          <a:xfrm>
            <a:off x="6409944" y="1563624"/>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NotebookLM</a:t>
            </a:r>
            <a:endParaRPr lang="en-US" sz="1000" dirty="0"/>
          </a:p>
        </p:txBody>
      </p:sp>
      <p:sp>
        <p:nvSpPr>
          <p:cNvPr id="17" name="Shape 12"/>
          <p:cNvSpPr/>
          <p:nvPr/>
        </p:nvSpPr>
        <p:spPr>
          <a:xfrm>
            <a:off x="7452360" y="1472184"/>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8" name="Image 3" descr="preencoded.png"/>
          <p:cNvPicPr>
            <a:picLocks noChangeAspect="1"/>
          </p:cNvPicPr>
          <p:nvPr/>
        </p:nvPicPr>
        <p:blipFill>
          <a:blip r:embed="rId7"/>
          <a:stretch>
            <a:fillRect/>
          </a:stretch>
        </p:blipFill>
        <p:spPr>
          <a:xfrm>
            <a:off x="7562088" y="1673352"/>
            <a:ext cx="256032" cy="256032"/>
          </a:xfrm>
          <a:prstGeom prst="rect">
            <a:avLst/>
          </a:prstGeom>
        </p:spPr>
      </p:pic>
      <p:sp>
        <p:nvSpPr>
          <p:cNvPr id="19" name="Text 13"/>
          <p:cNvSpPr txBox="1"/>
          <p:nvPr/>
        </p:nvSpPr>
        <p:spPr>
          <a:xfrm>
            <a:off x="7872984" y="1563624"/>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Data Commons</a:t>
            </a:r>
            <a:endParaRPr lang="en-US" sz="1000" dirty="0"/>
          </a:p>
        </p:txBody>
      </p:sp>
      <p:sp>
        <p:nvSpPr>
          <p:cNvPr id="20" name="Shape 14"/>
          <p:cNvSpPr/>
          <p:nvPr/>
        </p:nvSpPr>
        <p:spPr>
          <a:xfrm>
            <a:off x="5989320" y="2258568"/>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1" name="Image 4" descr="preencoded.png"/>
          <p:cNvPicPr>
            <a:picLocks noChangeAspect="1"/>
          </p:cNvPicPr>
          <p:nvPr/>
        </p:nvPicPr>
        <p:blipFill>
          <a:blip r:embed="rId8"/>
          <a:stretch>
            <a:fillRect/>
          </a:stretch>
        </p:blipFill>
        <p:spPr>
          <a:xfrm>
            <a:off x="6099048" y="2459736"/>
            <a:ext cx="256032" cy="256032"/>
          </a:xfrm>
          <a:prstGeom prst="rect">
            <a:avLst/>
          </a:prstGeom>
        </p:spPr>
      </p:pic>
      <p:sp>
        <p:nvSpPr>
          <p:cNvPr id="22" name="Text 15"/>
          <p:cNvSpPr txBox="1"/>
          <p:nvPr/>
        </p:nvSpPr>
        <p:spPr>
          <a:xfrm>
            <a:off x="6409944" y="2350008"/>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GLM · Z.ai</a:t>
            </a:r>
            <a:endParaRPr lang="en-US" sz="1000" dirty="0"/>
          </a:p>
        </p:txBody>
      </p:sp>
      <p:sp>
        <p:nvSpPr>
          <p:cNvPr id="23" name="Shape 16"/>
          <p:cNvSpPr/>
          <p:nvPr/>
        </p:nvSpPr>
        <p:spPr>
          <a:xfrm>
            <a:off x="7452360" y="2258568"/>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4" name="Image 5" descr="preencoded.png"/>
          <p:cNvPicPr>
            <a:picLocks noChangeAspect="1"/>
          </p:cNvPicPr>
          <p:nvPr/>
        </p:nvPicPr>
        <p:blipFill>
          <a:blip r:embed="rId9"/>
          <a:stretch>
            <a:fillRect/>
          </a:stretch>
        </p:blipFill>
        <p:spPr>
          <a:xfrm>
            <a:off x="7562088" y="2459736"/>
            <a:ext cx="256032" cy="256032"/>
          </a:xfrm>
          <a:prstGeom prst="rect">
            <a:avLst/>
          </a:prstGeom>
        </p:spPr>
      </p:pic>
      <p:sp>
        <p:nvSpPr>
          <p:cNvPr id="25" name="Text 17"/>
          <p:cNvSpPr txBox="1"/>
          <p:nvPr/>
        </p:nvSpPr>
        <p:spPr>
          <a:xfrm>
            <a:off x="7872984" y="2350008"/>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Kimi</a:t>
            </a:r>
            <a:endParaRPr lang="en-US" sz="1000" dirty="0"/>
          </a:p>
        </p:txBody>
      </p:sp>
      <p:sp>
        <p:nvSpPr>
          <p:cNvPr id="26" name="Shape 18"/>
          <p:cNvSpPr/>
          <p:nvPr/>
        </p:nvSpPr>
        <p:spPr>
          <a:xfrm>
            <a:off x="5989320" y="3044952"/>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7" name="Image 6" descr="preencoded.png"/>
          <p:cNvPicPr>
            <a:picLocks noChangeAspect="1"/>
          </p:cNvPicPr>
          <p:nvPr/>
        </p:nvPicPr>
        <p:blipFill>
          <a:blip r:embed="rId10"/>
          <a:stretch>
            <a:fillRect/>
          </a:stretch>
        </p:blipFill>
        <p:spPr>
          <a:xfrm>
            <a:off x="6099048" y="3246120"/>
            <a:ext cx="256032" cy="256032"/>
          </a:xfrm>
          <a:prstGeom prst="rect">
            <a:avLst/>
          </a:prstGeom>
        </p:spPr>
      </p:pic>
      <p:sp>
        <p:nvSpPr>
          <p:cNvPr id="28" name="Text 19"/>
          <p:cNvSpPr txBox="1"/>
          <p:nvPr/>
        </p:nvSpPr>
        <p:spPr>
          <a:xfrm>
            <a:off x="6409944" y="313639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Nano Banana</a:t>
            </a:r>
            <a:endParaRPr lang="en-US" sz="1000" dirty="0"/>
          </a:p>
        </p:txBody>
      </p:sp>
      <p:sp>
        <p:nvSpPr>
          <p:cNvPr id="29" name="Shape 20"/>
          <p:cNvSpPr/>
          <p:nvPr/>
        </p:nvSpPr>
        <p:spPr>
          <a:xfrm>
            <a:off x="7452360" y="3044952"/>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0" name="Image 7" descr="preencoded.png"/>
          <p:cNvPicPr>
            <a:picLocks noChangeAspect="1"/>
          </p:cNvPicPr>
          <p:nvPr/>
        </p:nvPicPr>
        <p:blipFill>
          <a:blip r:embed="rId11"/>
          <a:stretch>
            <a:fillRect/>
          </a:stretch>
        </p:blipFill>
        <p:spPr>
          <a:xfrm>
            <a:off x="7562088" y="3246120"/>
            <a:ext cx="256032" cy="256032"/>
          </a:xfrm>
          <a:prstGeom prst="rect">
            <a:avLst/>
          </a:prstGeom>
        </p:spPr>
      </p:pic>
      <p:sp>
        <p:nvSpPr>
          <p:cNvPr id="31" name="Text 21"/>
          <p:cNvSpPr txBox="1"/>
          <p:nvPr/>
        </p:nvSpPr>
        <p:spPr>
          <a:xfrm>
            <a:off x="7872984" y="313639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Flow</a:t>
            </a:r>
            <a:endParaRPr lang="en-US" sz="1000" dirty="0"/>
          </a:p>
        </p:txBody>
      </p:sp>
      <p:sp>
        <p:nvSpPr>
          <p:cNvPr id="32" name="Shape 22"/>
          <p:cNvSpPr/>
          <p:nvPr/>
        </p:nvSpPr>
        <p:spPr>
          <a:xfrm>
            <a:off x="5989320" y="3831336"/>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3" name="Image 8" descr="preencoded.png"/>
          <p:cNvPicPr>
            <a:picLocks noChangeAspect="1"/>
          </p:cNvPicPr>
          <p:nvPr/>
        </p:nvPicPr>
        <p:blipFill>
          <a:blip r:embed="rId12"/>
          <a:stretch>
            <a:fillRect/>
          </a:stretch>
        </p:blipFill>
        <p:spPr>
          <a:xfrm>
            <a:off x="6099048" y="4032504"/>
            <a:ext cx="256032" cy="256032"/>
          </a:xfrm>
          <a:prstGeom prst="rect">
            <a:avLst/>
          </a:prstGeom>
        </p:spPr>
      </p:pic>
      <p:sp>
        <p:nvSpPr>
          <p:cNvPr id="34" name="Text 23"/>
          <p:cNvSpPr txBox="1"/>
          <p:nvPr/>
        </p:nvSpPr>
        <p:spPr>
          <a:xfrm>
            <a:off x="6409944" y="3922776"/>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Jev</a:t>
            </a:r>
            <a:endParaRPr lang="en-US" sz="1000" dirty="0"/>
          </a:p>
        </p:txBody>
      </p:sp>
      <p:sp>
        <p:nvSpPr>
          <p:cNvPr id="35" name="Shape 24"/>
          <p:cNvSpPr/>
          <p:nvPr/>
        </p:nvSpPr>
        <p:spPr>
          <a:xfrm>
            <a:off x="7452360" y="3831336"/>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6" name="Image 9" descr="preencoded.png"/>
          <p:cNvPicPr>
            <a:picLocks noChangeAspect="1"/>
          </p:cNvPicPr>
          <p:nvPr/>
        </p:nvPicPr>
        <p:blipFill>
          <a:blip r:embed="rId13"/>
          <a:stretch>
            <a:fillRect/>
          </a:stretch>
        </p:blipFill>
        <p:spPr>
          <a:xfrm>
            <a:off x="7562088" y="4032504"/>
            <a:ext cx="256032" cy="256032"/>
          </a:xfrm>
          <a:prstGeom prst="rect">
            <a:avLst/>
          </a:prstGeom>
        </p:spPr>
      </p:pic>
      <p:sp>
        <p:nvSpPr>
          <p:cNvPr id="37" name="Text 25"/>
          <p:cNvSpPr txBox="1"/>
          <p:nvPr/>
        </p:nvSpPr>
        <p:spPr>
          <a:xfrm>
            <a:off x="7872984" y="3922776"/>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Chat</a:t>
            </a:r>
            <a:endParaRPr lang="en-US" sz="10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WHY THIS LAB</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Three convictions behind this guide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457200" y="1371600"/>
            <a:ext cx="2606040" cy="2514600"/>
          </a:xfrm>
          <a:prstGeom prst="roundRect">
            <a:avLst>
              <a:gd name="adj" fmla="val 2909"/>
            </a:avLst>
          </a:prstGeom>
          <a:solidFill>
            <a:srgbClr val="F4F7F5"/>
          </a:solidFill>
          <a:ln w="9525">
            <a:solidFill>
              <a:srgbClr val="D5DED9"/>
            </a:solidFill>
            <a:prstDash val="solid"/>
          </a:ln>
        </p:spPr>
      </p:sp>
      <p:sp>
        <p:nvSpPr>
          <p:cNvPr id="18" name="Shape 15"/>
          <p:cNvSpPr/>
          <p:nvPr/>
        </p:nvSpPr>
        <p:spPr>
          <a:xfrm>
            <a:off x="640080" y="1536192"/>
            <a:ext cx="566928" cy="56692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81812" y="1677924"/>
            <a:ext cx="283464" cy="283464"/>
          </a:xfrm>
          <a:prstGeom prst="rect">
            <a:avLst/>
          </a:prstGeom>
        </p:spPr>
      </p:pic>
      <p:sp>
        <p:nvSpPr>
          <p:cNvPr id="20" name="Text 16"/>
          <p:cNvSpPr txBox="1"/>
          <p:nvPr/>
        </p:nvSpPr>
        <p:spPr>
          <a:xfrm>
            <a:off x="64008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The task first</a:t>
            </a:r>
            <a:endParaRPr lang="en-US" sz="1500" dirty="0"/>
          </a:p>
        </p:txBody>
      </p:sp>
      <p:sp>
        <p:nvSpPr>
          <p:cNvPr id="21" name="Text 17"/>
          <p:cNvSpPr txBox="1"/>
          <p:nvPr/>
        </p:nvSpPr>
        <p:spPr>
          <a:xfrm>
            <a:off x="64008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Each tool is presented on a concrete office use case, in its place in the statistical business process (GSBPM).</a:t>
            </a:r>
            <a:endParaRPr lang="en-US" sz="1100" dirty="0"/>
          </a:p>
        </p:txBody>
      </p:sp>
      <p:sp>
        <p:nvSpPr>
          <p:cNvPr id="22" name="Shape 18"/>
          <p:cNvSpPr/>
          <p:nvPr/>
        </p:nvSpPr>
        <p:spPr>
          <a:xfrm>
            <a:off x="3246120" y="1371600"/>
            <a:ext cx="2606040" cy="2514600"/>
          </a:xfrm>
          <a:prstGeom prst="roundRect">
            <a:avLst>
              <a:gd name="adj" fmla="val 2909"/>
            </a:avLst>
          </a:prstGeom>
          <a:solidFill>
            <a:srgbClr val="E8F5EF"/>
          </a:solidFill>
          <a:ln w="15875">
            <a:solidFill>
              <a:srgbClr val="00A86A"/>
            </a:solidFill>
            <a:prstDash val="solid"/>
          </a:ln>
        </p:spPr>
      </p:sp>
      <p:sp>
        <p:nvSpPr>
          <p:cNvPr id="23" name="Shape 19"/>
          <p:cNvSpPr/>
          <p:nvPr/>
        </p:nvSpPr>
        <p:spPr>
          <a:xfrm>
            <a:off x="3429000" y="1536192"/>
            <a:ext cx="566928" cy="566928"/>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570732" y="1677924"/>
            <a:ext cx="283464" cy="283464"/>
          </a:xfrm>
          <a:prstGeom prst="rect">
            <a:avLst/>
          </a:prstGeom>
        </p:spPr>
      </p:pic>
      <p:sp>
        <p:nvSpPr>
          <p:cNvPr id="25" name="Text 20"/>
          <p:cNvSpPr txBox="1"/>
          <p:nvPr/>
        </p:nvSpPr>
        <p:spPr>
          <a:xfrm>
            <a:off x="342900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Measure, don't marvel</a:t>
            </a:r>
            <a:endParaRPr lang="en-US" sz="1500" dirty="0"/>
          </a:p>
        </p:txBody>
      </p:sp>
      <p:sp>
        <p:nvSpPr>
          <p:cNvPr id="26" name="Text 21"/>
          <p:cNvSpPr txBox="1"/>
          <p:nvPr/>
        </p:nvSpPr>
        <p:spPr>
          <a:xfrm>
            <a:off x="342900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Every trial ends with three measurements: time saved, verified quality, risk. Results feed a shared evidence base.</a:t>
            </a:r>
            <a:endParaRPr lang="en-US" sz="1100" dirty="0"/>
          </a:p>
        </p:txBody>
      </p:sp>
      <p:sp>
        <p:nvSpPr>
          <p:cNvPr id="27" name="Shape 22"/>
          <p:cNvSpPr/>
          <p:nvPr/>
        </p:nvSpPr>
        <p:spPr>
          <a:xfrm>
            <a:off x="6035040" y="1371600"/>
            <a:ext cx="2606040" cy="2514600"/>
          </a:xfrm>
          <a:prstGeom prst="roundRect">
            <a:avLst>
              <a:gd name="adj" fmla="val 2909"/>
            </a:avLst>
          </a:prstGeom>
          <a:solidFill>
            <a:srgbClr val="F4F7F5"/>
          </a:solidFill>
          <a:ln w="9525">
            <a:solidFill>
              <a:srgbClr val="D5DED9"/>
            </a:solidFill>
            <a:prstDash val="solid"/>
          </a:ln>
        </p:spPr>
      </p:sp>
      <p:sp>
        <p:nvSpPr>
          <p:cNvPr id="28" name="Shape 23"/>
          <p:cNvSpPr/>
          <p:nvPr/>
        </p:nvSpPr>
        <p:spPr>
          <a:xfrm>
            <a:off x="6217920" y="1536192"/>
            <a:ext cx="566928" cy="566928"/>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6359652" y="1677924"/>
            <a:ext cx="283464" cy="283464"/>
          </a:xfrm>
          <a:prstGeom prst="rect">
            <a:avLst/>
          </a:prstGeom>
        </p:spPr>
      </p:pic>
      <p:sp>
        <p:nvSpPr>
          <p:cNvPr id="30" name="Text 24"/>
          <p:cNvSpPr txBox="1"/>
          <p:nvPr/>
        </p:nvSpPr>
        <p:spPr>
          <a:xfrm>
            <a:off x="621792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Govern from the start</a:t>
            </a:r>
            <a:endParaRPr lang="en-US" sz="1500" dirty="0"/>
          </a:p>
        </p:txBody>
      </p:sp>
      <p:sp>
        <p:nvSpPr>
          <p:cNvPr id="31" name="Text 25"/>
          <p:cNvSpPr txBox="1"/>
          <p:nvPr/>
        </p:nvSpPr>
        <p:spPr>
          <a:xfrm>
            <a:off x="621792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Access, provider country, data allowed: shown on every card. Nothing confidential goes into an online tool.</a:t>
            </a:r>
            <a:endParaRPr lang="en-US" sz="1100" dirty="0"/>
          </a:p>
        </p:txBody>
      </p:sp>
      <p:sp>
        <p:nvSpPr>
          <p:cNvPr id="32" name="Shape 26"/>
          <p:cNvSpPr/>
          <p:nvPr/>
        </p:nvSpPr>
        <p:spPr>
          <a:xfrm>
            <a:off x="457200" y="4160520"/>
            <a:ext cx="8229600" cy="411480"/>
          </a:xfrm>
          <a:prstGeom prst="roundRect">
            <a:avLst>
              <a:gd name="adj" fmla="val 13333"/>
            </a:avLst>
          </a:prstGeom>
          <a:solidFill>
            <a:srgbClr val="E8F5EF"/>
          </a:solidFill>
          <a:ln/>
        </p:spPr>
      </p:sp>
      <p:sp>
        <p:nvSpPr>
          <p:cNvPr id="33" name="Text 27"/>
          <p:cNvSpPr txBox="1"/>
          <p:nvPr/>
        </p:nvSpPr>
        <p:spPr>
          <a:xfrm>
            <a:off x="640080" y="4160520"/>
            <a:ext cx="7955280" cy="4114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10 tools · 6 families of use · 1 test method · </a:t>
            </a:r>
            <a:r>
              <a:rPr lang="en-US" sz="1200" dirty="0">
                <a:solidFill>
                  <a:srgbClr val="231F20"/>
                </a:solidFill>
                <a:latin typeface="Calibri" pitchFamily="34" charset="0"/>
                <a:ea typeface="Calibri" pitchFamily="34" charset="-122"/>
                <a:cs typeface="Calibri" pitchFamily="34" charset="-120"/>
              </a:rPr>
              <a:t>all reachable from a browser, most of them free of charge.</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CONTENTS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steps, ten tools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371600"/>
            <a:ext cx="39776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21792" y="1536192"/>
            <a:ext cx="731520" cy="54864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Text 16"/>
          <p:cNvSpPr txBox="1"/>
          <p:nvPr/>
        </p:nvSpPr>
        <p:spPr>
          <a:xfrm>
            <a:off x="1371600" y="151790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Framing</a:t>
            </a:r>
            <a:endParaRPr lang="en-US" sz="1400" dirty="0"/>
          </a:p>
        </p:txBody>
      </p:sp>
      <p:sp>
        <p:nvSpPr>
          <p:cNvPr id="20" name="Text 17"/>
          <p:cNvSpPr txBox="1"/>
          <p:nvPr/>
        </p:nvSpPr>
        <p:spPr>
          <a:xfrm>
            <a:off x="1371600" y="181051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Tool map, access conditions, test method</a:t>
            </a:r>
            <a:endParaRPr lang="en-US" sz="1000" dirty="0"/>
          </a:p>
        </p:txBody>
      </p:sp>
      <p:sp>
        <p:nvSpPr>
          <p:cNvPr id="21" name="Shape 18"/>
          <p:cNvSpPr/>
          <p:nvPr/>
        </p:nvSpPr>
        <p:spPr>
          <a:xfrm>
            <a:off x="4617720" y="1371600"/>
            <a:ext cx="3977640" cy="896112"/>
          </a:xfrm>
          <a:prstGeom prst="roundRect">
            <a:avLst>
              <a:gd name="adj" fmla="val 8163"/>
            </a:avLst>
          </a:prstGeom>
          <a:solidFill>
            <a:srgbClr val="F4F7F5"/>
          </a:solidFill>
          <a:ln w="9525">
            <a:solidFill>
              <a:srgbClr val="D5DED9"/>
            </a:solidFill>
            <a:prstDash val="solid"/>
          </a:ln>
        </p:spPr>
      </p:sp>
      <p:sp>
        <p:nvSpPr>
          <p:cNvPr id="22" name="Text 19"/>
          <p:cNvSpPr txBox="1"/>
          <p:nvPr/>
        </p:nvSpPr>
        <p:spPr>
          <a:xfrm>
            <a:off x="4782312" y="1536192"/>
            <a:ext cx="731520" cy="54864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3" name="Text 20"/>
          <p:cNvSpPr txBox="1"/>
          <p:nvPr/>
        </p:nvSpPr>
        <p:spPr>
          <a:xfrm>
            <a:off x="5532120" y="151790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Search and understand</a:t>
            </a:r>
            <a:endParaRPr lang="en-US" sz="1400" dirty="0"/>
          </a:p>
        </p:txBody>
      </p:sp>
      <p:sp>
        <p:nvSpPr>
          <p:cNvPr id="24" name="Text 21"/>
          <p:cNvSpPr txBox="1"/>
          <p:nvPr/>
        </p:nvSpPr>
        <p:spPr>
          <a:xfrm>
            <a:off x="5532120" y="181051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Perplexity · LeapSpace · NotebookLM · UN Data Commons</a:t>
            </a:r>
            <a:endParaRPr lang="en-US" sz="1000" dirty="0"/>
          </a:p>
        </p:txBody>
      </p:sp>
      <p:sp>
        <p:nvSpPr>
          <p:cNvPr id="25" name="Shape 22"/>
          <p:cNvSpPr/>
          <p:nvPr/>
        </p:nvSpPr>
        <p:spPr>
          <a:xfrm>
            <a:off x="457200" y="2423160"/>
            <a:ext cx="3977640" cy="896112"/>
          </a:xfrm>
          <a:prstGeom prst="roundRect">
            <a:avLst>
              <a:gd name="adj" fmla="val 8163"/>
            </a:avLst>
          </a:prstGeom>
          <a:solidFill>
            <a:srgbClr val="F4F7F5"/>
          </a:solidFill>
          <a:ln w="9525">
            <a:solidFill>
              <a:srgbClr val="D5DED9"/>
            </a:solidFill>
            <a:prstDash val="solid"/>
          </a:ln>
        </p:spPr>
      </p:sp>
      <p:sp>
        <p:nvSpPr>
          <p:cNvPr id="26" name="Text 23"/>
          <p:cNvSpPr txBox="1"/>
          <p:nvPr/>
        </p:nvSpPr>
        <p:spPr>
          <a:xfrm>
            <a:off x="621792" y="2587752"/>
            <a:ext cx="731520" cy="54864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27" name="Text 24"/>
          <p:cNvSpPr txBox="1"/>
          <p:nvPr/>
        </p:nvSpPr>
        <p:spPr>
          <a:xfrm>
            <a:off x="1371600" y="256946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Turn reports into products</a:t>
            </a:r>
            <a:endParaRPr lang="en-US" sz="1400" dirty="0"/>
          </a:p>
        </p:txBody>
      </p:sp>
      <p:sp>
        <p:nvSpPr>
          <p:cNvPr id="28" name="Text 25"/>
          <p:cNvSpPr txBox="1"/>
          <p:nvPr/>
        </p:nvSpPr>
        <p:spPr>
          <a:xfrm>
            <a:off x="1371600" y="286207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GLM (Z.ai) · Kimi — from PDF to dashboard</a:t>
            </a:r>
            <a:endParaRPr lang="en-US" sz="1000" dirty="0"/>
          </a:p>
        </p:txBody>
      </p:sp>
      <p:sp>
        <p:nvSpPr>
          <p:cNvPr id="29" name="Shape 26"/>
          <p:cNvSpPr/>
          <p:nvPr/>
        </p:nvSpPr>
        <p:spPr>
          <a:xfrm>
            <a:off x="4617720" y="2423160"/>
            <a:ext cx="3977640" cy="896112"/>
          </a:xfrm>
          <a:prstGeom prst="roundRect">
            <a:avLst>
              <a:gd name="adj" fmla="val 8163"/>
            </a:avLst>
          </a:prstGeom>
          <a:solidFill>
            <a:srgbClr val="F4F7F5"/>
          </a:solidFill>
          <a:ln w="9525">
            <a:solidFill>
              <a:srgbClr val="D5DED9"/>
            </a:solidFill>
            <a:prstDash val="solid"/>
          </a:ln>
        </p:spPr>
      </p:sp>
      <p:sp>
        <p:nvSpPr>
          <p:cNvPr id="30" name="Text 27"/>
          <p:cNvSpPr txBox="1"/>
          <p:nvPr/>
        </p:nvSpPr>
        <p:spPr>
          <a:xfrm>
            <a:off x="4782312" y="2587752"/>
            <a:ext cx="731520" cy="54864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1" name="Text 28"/>
          <p:cNvSpPr txBox="1"/>
          <p:nvPr/>
        </p:nvSpPr>
        <p:spPr>
          <a:xfrm>
            <a:off x="5532120" y="256946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Visualise and tell</a:t>
            </a:r>
            <a:endParaRPr lang="en-US" sz="1400" dirty="0"/>
          </a:p>
        </p:txBody>
      </p:sp>
      <p:sp>
        <p:nvSpPr>
          <p:cNvPr id="32" name="Text 29"/>
          <p:cNvSpPr txBox="1"/>
          <p:nvPr/>
        </p:nvSpPr>
        <p:spPr>
          <a:xfrm>
            <a:off x="5532120" y="286207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Nano Banana · Google Flow</a:t>
            </a:r>
            <a:endParaRPr lang="en-US" sz="1000" dirty="0"/>
          </a:p>
        </p:txBody>
      </p:sp>
      <p:sp>
        <p:nvSpPr>
          <p:cNvPr id="33" name="Shape 30"/>
          <p:cNvSpPr/>
          <p:nvPr/>
        </p:nvSpPr>
        <p:spPr>
          <a:xfrm>
            <a:off x="457200" y="3474720"/>
            <a:ext cx="3977640" cy="896112"/>
          </a:xfrm>
          <a:prstGeom prst="roundRect">
            <a:avLst>
              <a:gd name="adj" fmla="val 8163"/>
            </a:avLst>
          </a:prstGeom>
          <a:solidFill>
            <a:srgbClr val="F4F7F5"/>
          </a:solidFill>
          <a:ln w="9525">
            <a:solidFill>
              <a:srgbClr val="D5DED9"/>
            </a:solidFill>
            <a:prstDash val="solid"/>
          </a:ln>
        </p:spPr>
      </p:sp>
      <p:sp>
        <p:nvSpPr>
          <p:cNvPr id="34" name="Text 31"/>
          <p:cNvSpPr txBox="1"/>
          <p:nvPr/>
        </p:nvSpPr>
        <p:spPr>
          <a:xfrm>
            <a:off x="621792" y="3639312"/>
            <a:ext cx="731520" cy="54864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35" name="Text 32"/>
          <p:cNvSpPr txBox="1"/>
          <p:nvPr/>
        </p:nvSpPr>
        <p:spPr>
          <a:xfrm>
            <a:off x="1371600" y="362102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Decide and protect</a:t>
            </a:r>
            <a:endParaRPr lang="en-US" sz="1400" dirty="0"/>
          </a:p>
        </p:txBody>
      </p:sp>
      <p:sp>
        <p:nvSpPr>
          <p:cNvPr id="36" name="Text 33"/>
          <p:cNvSpPr txBox="1"/>
          <p:nvPr/>
        </p:nvSpPr>
        <p:spPr>
          <a:xfrm>
            <a:off x="1371600" y="391363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Jev · Le Chat · golden rules</a:t>
            </a:r>
            <a:endParaRPr lang="en-US" sz="1000" dirty="0"/>
          </a:p>
        </p:txBody>
      </p:sp>
      <p:sp>
        <p:nvSpPr>
          <p:cNvPr id="37" name="Shape 34"/>
          <p:cNvSpPr/>
          <p:nvPr/>
        </p:nvSpPr>
        <p:spPr>
          <a:xfrm>
            <a:off x="4617720" y="3474720"/>
            <a:ext cx="3977640" cy="896112"/>
          </a:xfrm>
          <a:prstGeom prst="roundRect">
            <a:avLst>
              <a:gd name="adj" fmla="val 8163"/>
            </a:avLst>
          </a:prstGeom>
          <a:solidFill>
            <a:srgbClr val="F4F7F5"/>
          </a:solidFill>
          <a:ln w="9525">
            <a:solidFill>
              <a:srgbClr val="D5DED9"/>
            </a:solidFill>
            <a:prstDash val="solid"/>
          </a:ln>
        </p:spPr>
      </p:sp>
      <p:sp>
        <p:nvSpPr>
          <p:cNvPr id="38" name="Text 35"/>
          <p:cNvSpPr txBox="1"/>
          <p:nvPr/>
        </p:nvSpPr>
        <p:spPr>
          <a:xfrm>
            <a:off x="4782312" y="3639312"/>
            <a:ext cx="731520" cy="54864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39" name="Text 36"/>
          <p:cNvSpPr txBox="1"/>
          <p:nvPr/>
        </p:nvSpPr>
        <p:spPr>
          <a:xfrm>
            <a:off x="5532120" y="362102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Roll out</a:t>
            </a:r>
            <a:endParaRPr lang="en-US" sz="1400" dirty="0"/>
          </a:p>
        </p:txBody>
      </p:sp>
      <p:sp>
        <p:nvSpPr>
          <p:cNvPr id="40" name="Text 37"/>
          <p:cNvSpPr txBox="1"/>
          <p:nvPr/>
        </p:nvSpPr>
        <p:spPr>
          <a:xfrm>
            <a:off x="5532120" y="391363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One-day scenario, lab logistics, evaluation</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 · FRAMING</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The right tool for the right task</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if ChatGPT were not the best tool for half of your tasks?</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5C242"/>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Ten tools across the statistical production chain</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71600"/>
            <a:ext cx="1005840" cy="548640"/>
          </a:xfrm>
          <a:prstGeom prst="chevron">
            <a:avLst/>
          </a:prstGeom>
          <a:solidFill>
            <a:srgbClr val="00A86A"/>
          </a:solidFill>
          <a:ln/>
        </p:spPr>
      </p:sp>
      <p:sp>
        <p:nvSpPr>
          <p:cNvPr id="18" name="Text 15"/>
          <p:cNvSpPr txBox="1"/>
          <p:nvPr/>
        </p:nvSpPr>
        <p:spPr>
          <a:xfrm>
            <a:off x="640080"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1</a:t>
            </a:r>
            <a:endParaRPr lang="en-US" sz="900" dirty="0"/>
          </a:p>
        </p:txBody>
      </p:sp>
      <p:sp>
        <p:nvSpPr>
          <p:cNvPr id="19" name="Text 16"/>
          <p:cNvSpPr txBox="1"/>
          <p:nvPr/>
        </p:nvSpPr>
        <p:spPr>
          <a:xfrm>
            <a:off x="548640"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Specify</a:t>
            </a:r>
            <a:endParaRPr lang="en-US" sz="900" dirty="0"/>
          </a:p>
        </p:txBody>
      </p:sp>
      <p:sp>
        <p:nvSpPr>
          <p:cNvPr id="20" name="Shape 17"/>
          <p:cNvSpPr/>
          <p:nvPr/>
        </p:nvSpPr>
        <p:spPr>
          <a:xfrm>
            <a:off x="457200" y="2084832"/>
            <a:ext cx="960120" cy="1920240"/>
          </a:xfrm>
          <a:prstGeom prst="roundRect">
            <a:avLst>
              <a:gd name="adj" fmla="val 7619"/>
            </a:avLst>
          </a:prstGeom>
          <a:solidFill>
            <a:srgbClr val="F4F7F5"/>
          </a:solidFill>
          <a:ln w="9525">
            <a:solidFill>
              <a:srgbClr val="D5DED9"/>
            </a:solidFill>
            <a:prstDash val="solid"/>
          </a:ln>
        </p:spPr>
      </p:sp>
      <p:sp>
        <p:nvSpPr>
          <p:cNvPr id="21" name="Shape 18"/>
          <p:cNvSpPr/>
          <p:nvPr/>
        </p:nvSpPr>
        <p:spPr>
          <a:xfrm>
            <a:off x="521208" y="2194560"/>
            <a:ext cx="832104" cy="310896"/>
          </a:xfrm>
          <a:prstGeom prst="roundRect">
            <a:avLst>
              <a:gd name="adj" fmla="val 32353"/>
            </a:avLst>
          </a:prstGeom>
          <a:solidFill>
            <a:srgbClr val="0E7C86"/>
          </a:solidFill>
          <a:ln w="9525">
            <a:solidFill>
              <a:srgbClr val="0E7C86"/>
            </a:solidFill>
            <a:prstDash val="solid"/>
          </a:ln>
        </p:spPr>
      </p:sp>
      <p:sp>
        <p:nvSpPr>
          <p:cNvPr id="22" name="Text 19"/>
          <p:cNvSpPr txBox="1"/>
          <p:nvPr/>
        </p:nvSpPr>
        <p:spPr>
          <a:xfrm>
            <a:off x="521208"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Perplexity</a:t>
            </a:r>
            <a:endParaRPr lang="en-US" sz="800" dirty="0"/>
          </a:p>
        </p:txBody>
      </p:sp>
      <p:sp>
        <p:nvSpPr>
          <p:cNvPr id="23" name="Shape 20"/>
          <p:cNvSpPr/>
          <p:nvPr/>
        </p:nvSpPr>
        <p:spPr>
          <a:xfrm>
            <a:off x="521208" y="2596896"/>
            <a:ext cx="832104" cy="310896"/>
          </a:xfrm>
          <a:prstGeom prst="roundRect">
            <a:avLst>
              <a:gd name="adj" fmla="val 32353"/>
            </a:avLst>
          </a:prstGeom>
          <a:solidFill>
            <a:srgbClr val="C4621D"/>
          </a:solidFill>
          <a:ln w="9525">
            <a:solidFill>
              <a:srgbClr val="C4621D"/>
            </a:solidFill>
            <a:prstDash val="solid"/>
          </a:ln>
        </p:spPr>
      </p:sp>
      <p:sp>
        <p:nvSpPr>
          <p:cNvPr id="24" name="Text 21"/>
          <p:cNvSpPr txBox="1"/>
          <p:nvPr/>
        </p:nvSpPr>
        <p:spPr>
          <a:xfrm>
            <a:off x="521208"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Commons</a:t>
            </a:r>
            <a:endParaRPr lang="en-US" sz="800" dirty="0"/>
          </a:p>
        </p:txBody>
      </p:sp>
      <p:sp>
        <p:nvSpPr>
          <p:cNvPr id="25" name="Shape 22"/>
          <p:cNvSpPr/>
          <p:nvPr/>
        </p:nvSpPr>
        <p:spPr>
          <a:xfrm>
            <a:off x="1481328" y="1371600"/>
            <a:ext cx="1005840" cy="548640"/>
          </a:xfrm>
          <a:prstGeom prst="chevron">
            <a:avLst/>
          </a:prstGeom>
          <a:solidFill>
            <a:srgbClr val="00A86A">
              <a:alpha val="98000"/>
            </a:srgbClr>
          </a:solidFill>
          <a:ln/>
        </p:spPr>
      </p:sp>
      <p:sp>
        <p:nvSpPr>
          <p:cNvPr id="26" name="Text 23"/>
          <p:cNvSpPr txBox="1"/>
          <p:nvPr/>
        </p:nvSpPr>
        <p:spPr>
          <a:xfrm>
            <a:off x="1664208"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2</a:t>
            </a:r>
            <a:endParaRPr lang="en-US" sz="900" dirty="0"/>
          </a:p>
        </p:txBody>
      </p:sp>
      <p:sp>
        <p:nvSpPr>
          <p:cNvPr id="27" name="Text 24"/>
          <p:cNvSpPr txBox="1"/>
          <p:nvPr/>
        </p:nvSpPr>
        <p:spPr>
          <a:xfrm>
            <a:off x="1572768"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Design</a:t>
            </a:r>
            <a:endParaRPr lang="en-US" sz="900" dirty="0"/>
          </a:p>
        </p:txBody>
      </p:sp>
      <p:sp>
        <p:nvSpPr>
          <p:cNvPr id="28" name="Shape 25"/>
          <p:cNvSpPr/>
          <p:nvPr/>
        </p:nvSpPr>
        <p:spPr>
          <a:xfrm>
            <a:off x="1481328" y="2084832"/>
            <a:ext cx="960120" cy="1920240"/>
          </a:xfrm>
          <a:prstGeom prst="roundRect">
            <a:avLst>
              <a:gd name="adj" fmla="val 7619"/>
            </a:avLst>
          </a:prstGeom>
          <a:solidFill>
            <a:srgbClr val="F4F7F5"/>
          </a:solidFill>
          <a:ln w="9525">
            <a:solidFill>
              <a:srgbClr val="D5DED9"/>
            </a:solidFill>
            <a:prstDash val="solid"/>
          </a:ln>
        </p:spPr>
      </p:sp>
      <p:sp>
        <p:nvSpPr>
          <p:cNvPr id="29" name="Shape 26"/>
          <p:cNvSpPr/>
          <p:nvPr/>
        </p:nvSpPr>
        <p:spPr>
          <a:xfrm>
            <a:off x="1545336" y="2194560"/>
            <a:ext cx="832104" cy="310896"/>
          </a:xfrm>
          <a:prstGeom prst="roundRect">
            <a:avLst>
              <a:gd name="adj" fmla="val 32353"/>
            </a:avLst>
          </a:prstGeom>
          <a:solidFill>
            <a:srgbClr val="0E7C86"/>
          </a:solidFill>
          <a:ln w="9525">
            <a:solidFill>
              <a:srgbClr val="0E7C86"/>
            </a:solidFill>
            <a:prstDash val="solid"/>
          </a:ln>
        </p:spPr>
      </p:sp>
      <p:sp>
        <p:nvSpPr>
          <p:cNvPr id="30" name="Text 27"/>
          <p:cNvSpPr txBox="1"/>
          <p:nvPr/>
        </p:nvSpPr>
        <p:spPr>
          <a:xfrm>
            <a:off x="1545336"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LeapSpace</a:t>
            </a:r>
            <a:endParaRPr lang="en-US" sz="800" dirty="0"/>
          </a:p>
        </p:txBody>
      </p:sp>
      <p:sp>
        <p:nvSpPr>
          <p:cNvPr id="31" name="Shape 28"/>
          <p:cNvSpPr/>
          <p:nvPr/>
        </p:nvSpPr>
        <p:spPr>
          <a:xfrm>
            <a:off x="1545336" y="2596896"/>
            <a:ext cx="832104" cy="310896"/>
          </a:xfrm>
          <a:prstGeom prst="roundRect">
            <a:avLst>
              <a:gd name="adj" fmla="val 32353"/>
            </a:avLst>
          </a:prstGeom>
          <a:solidFill>
            <a:srgbClr val="C4621D"/>
          </a:solidFill>
          <a:ln w="9525">
            <a:solidFill>
              <a:srgbClr val="C4621D"/>
            </a:solidFill>
            <a:prstDash val="solid"/>
          </a:ln>
        </p:spPr>
      </p:sp>
      <p:sp>
        <p:nvSpPr>
          <p:cNvPr id="32" name="Text 29"/>
          <p:cNvSpPr txBox="1"/>
          <p:nvPr/>
        </p:nvSpPr>
        <p:spPr>
          <a:xfrm>
            <a:off x="1545336"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NotebookLM</a:t>
            </a:r>
            <a:endParaRPr lang="en-US" sz="800" dirty="0"/>
          </a:p>
        </p:txBody>
      </p:sp>
      <p:sp>
        <p:nvSpPr>
          <p:cNvPr id="33" name="Shape 30"/>
          <p:cNvSpPr/>
          <p:nvPr/>
        </p:nvSpPr>
        <p:spPr>
          <a:xfrm>
            <a:off x="2505456" y="1371600"/>
            <a:ext cx="1005840" cy="548640"/>
          </a:xfrm>
          <a:prstGeom prst="chevron">
            <a:avLst/>
          </a:prstGeom>
          <a:solidFill>
            <a:srgbClr val="00A86A">
              <a:alpha val="96000"/>
            </a:srgbClr>
          </a:solidFill>
          <a:ln/>
        </p:spPr>
      </p:sp>
      <p:sp>
        <p:nvSpPr>
          <p:cNvPr id="34" name="Text 31"/>
          <p:cNvSpPr txBox="1"/>
          <p:nvPr/>
        </p:nvSpPr>
        <p:spPr>
          <a:xfrm>
            <a:off x="2688336"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3</a:t>
            </a:r>
            <a:endParaRPr lang="en-US" sz="900" dirty="0"/>
          </a:p>
        </p:txBody>
      </p:sp>
      <p:sp>
        <p:nvSpPr>
          <p:cNvPr id="35" name="Text 32"/>
          <p:cNvSpPr txBox="1"/>
          <p:nvPr/>
        </p:nvSpPr>
        <p:spPr>
          <a:xfrm>
            <a:off x="2596896"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36" name="Shape 33"/>
          <p:cNvSpPr/>
          <p:nvPr/>
        </p:nvSpPr>
        <p:spPr>
          <a:xfrm>
            <a:off x="2505456" y="2084832"/>
            <a:ext cx="960120" cy="1920240"/>
          </a:xfrm>
          <a:prstGeom prst="roundRect">
            <a:avLst>
              <a:gd name="adj" fmla="val 7619"/>
            </a:avLst>
          </a:prstGeom>
          <a:solidFill>
            <a:srgbClr val="F4F7F5"/>
          </a:solidFill>
          <a:ln w="9525">
            <a:solidFill>
              <a:srgbClr val="D5DED9"/>
            </a:solidFill>
            <a:prstDash val="solid"/>
          </a:ln>
        </p:spPr>
      </p:sp>
      <p:sp>
        <p:nvSpPr>
          <p:cNvPr id="37" name="Shape 34"/>
          <p:cNvSpPr/>
          <p:nvPr/>
        </p:nvSpPr>
        <p:spPr>
          <a:xfrm>
            <a:off x="2569464" y="2194560"/>
            <a:ext cx="832104" cy="310896"/>
          </a:xfrm>
          <a:prstGeom prst="roundRect">
            <a:avLst>
              <a:gd name="adj" fmla="val 32353"/>
            </a:avLst>
          </a:prstGeom>
          <a:solidFill>
            <a:srgbClr val="0E7C86"/>
          </a:solidFill>
          <a:ln w="9525">
            <a:solidFill>
              <a:srgbClr val="0E7C86"/>
            </a:solidFill>
            <a:prstDash val="solid"/>
          </a:ln>
        </p:spPr>
      </p:sp>
      <p:sp>
        <p:nvSpPr>
          <p:cNvPr id="38" name="Text 35"/>
          <p:cNvSpPr txBox="1"/>
          <p:nvPr/>
        </p:nvSpPr>
        <p:spPr>
          <a:xfrm>
            <a:off x="2569464"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GLM · Z.ai</a:t>
            </a:r>
            <a:endParaRPr lang="en-US" sz="800" dirty="0"/>
          </a:p>
        </p:txBody>
      </p:sp>
      <p:sp>
        <p:nvSpPr>
          <p:cNvPr id="39" name="Shape 36"/>
          <p:cNvSpPr/>
          <p:nvPr/>
        </p:nvSpPr>
        <p:spPr>
          <a:xfrm>
            <a:off x="3529584" y="1371600"/>
            <a:ext cx="1005840" cy="548640"/>
          </a:xfrm>
          <a:prstGeom prst="chevron">
            <a:avLst/>
          </a:prstGeom>
          <a:solidFill>
            <a:srgbClr val="00A86A">
              <a:alpha val="94000"/>
            </a:srgbClr>
          </a:solidFill>
          <a:ln/>
        </p:spPr>
      </p:sp>
      <p:sp>
        <p:nvSpPr>
          <p:cNvPr id="40" name="Text 37"/>
          <p:cNvSpPr txBox="1"/>
          <p:nvPr/>
        </p:nvSpPr>
        <p:spPr>
          <a:xfrm>
            <a:off x="3712464"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4</a:t>
            </a:r>
            <a:endParaRPr lang="en-US" sz="900" dirty="0"/>
          </a:p>
        </p:txBody>
      </p:sp>
      <p:sp>
        <p:nvSpPr>
          <p:cNvPr id="41" name="Text 38"/>
          <p:cNvSpPr txBox="1"/>
          <p:nvPr/>
        </p:nvSpPr>
        <p:spPr>
          <a:xfrm>
            <a:off x="3621024"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Collect</a:t>
            </a:r>
            <a:endParaRPr lang="en-US" sz="900" dirty="0"/>
          </a:p>
        </p:txBody>
      </p:sp>
      <p:sp>
        <p:nvSpPr>
          <p:cNvPr id="42" name="Shape 39"/>
          <p:cNvSpPr/>
          <p:nvPr/>
        </p:nvSpPr>
        <p:spPr>
          <a:xfrm>
            <a:off x="3529584" y="2084832"/>
            <a:ext cx="960120" cy="1920240"/>
          </a:xfrm>
          <a:prstGeom prst="roundRect">
            <a:avLst>
              <a:gd name="adj" fmla="val 7619"/>
            </a:avLst>
          </a:prstGeom>
          <a:solidFill>
            <a:srgbClr val="F4F7F5"/>
          </a:solidFill>
          <a:ln w="9525">
            <a:solidFill>
              <a:srgbClr val="D5DED9"/>
            </a:solidFill>
            <a:prstDash val="solid"/>
          </a:ln>
        </p:spPr>
      </p:sp>
      <p:sp>
        <p:nvSpPr>
          <p:cNvPr id="43" name="Shape 40"/>
          <p:cNvSpPr/>
          <p:nvPr/>
        </p:nvSpPr>
        <p:spPr>
          <a:xfrm>
            <a:off x="3593592" y="2194560"/>
            <a:ext cx="832104" cy="310896"/>
          </a:xfrm>
          <a:prstGeom prst="roundRect">
            <a:avLst>
              <a:gd name="adj" fmla="val 32353"/>
            </a:avLst>
          </a:prstGeom>
          <a:solidFill>
            <a:srgbClr val="0E7C86"/>
          </a:solidFill>
          <a:ln w="9525">
            <a:solidFill>
              <a:srgbClr val="0E7C86"/>
            </a:solidFill>
            <a:prstDash val="solid"/>
          </a:ln>
        </p:spPr>
      </p:sp>
      <p:sp>
        <p:nvSpPr>
          <p:cNvPr id="44" name="Text 41"/>
          <p:cNvSpPr txBox="1"/>
          <p:nvPr/>
        </p:nvSpPr>
        <p:spPr>
          <a:xfrm>
            <a:off x="3593592"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Le Chat</a:t>
            </a:r>
            <a:endParaRPr lang="en-US" sz="800" dirty="0"/>
          </a:p>
        </p:txBody>
      </p:sp>
      <p:sp>
        <p:nvSpPr>
          <p:cNvPr id="45" name="Shape 42"/>
          <p:cNvSpPr/>
          <p:nvPr/>
        </p:nvSpPr>
        <p:spPr>
          <a:xfrm>
            <a:off x="4553712" y="1371600"/>
            <a:ext cx="1005840" cy="548640"/>
          </a:xfrm>
          <a:prstGeom prst="chevron">
            <a:avLst/>
          </a:prstGeom>
          <a:solidFill>
            <a:srgbClr val="00A86A">
              <a:alpha val="92000"/>
            </a:srgbClr>
          </a:solidFill>
          <a:ln/>
        </p:spPr>
      </p:sp>
      <p:sp>
        <p:nvSpPr>
          <p:cNvPr id="46" name="Text 43"/>
          <p:cNvSpPr txBox="1"/>
          <p:nvPr/>
        </p:nvSpPr>
        <p:spPr>
          <a:xfrm>
            <a:off x="4736592"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5</a:t>
            </a:r>
            <a:endParaRPr lang="en-US" sz="900" dirty="0"/>
          </a:p>
        </p:txBody>
      </p:sp>
      <p:sp>
        <p:nvSpPr>
          <p:cNvPr id="47" name="Text 44"/>
          <p:cNvSpPr txBox="1"/>
          <p:nvPr/>
        </p:nvSpPr>
        <p:spPr>
          <a:xfrm>
            <a:off x="4645152"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Process</a:t>
            </a:r>
            <a:endParaRPr lang="en-US" sz="900" dirty="0"/>
          </a:p>
        </p:txBody>
      </p:sp>
      <p:sp>
        <p:nvSpPr>
          <p:cNvPr id="48" name="Shape 45"/>
          <p:cNvSpPr/>
          <p:nvPr/>
        </p:nvSpPr>
        <p:spPr>
          <a:xfrm>
            <a:off x="4553712" y="2084832"/>
            <a:ext cx="960120" cy="1920240"/>
          </a:xfrm>
          <a:prstGeom prst="roundRect">
            <a:avLst>
              <a:gd name="adj" fmla="val 7619"/>
            </a:avLst>
          </a:prstGeom>
          <a:solidFill>
            <a:srgbClr val="F4F7F5"/>
          </a:solidFill>
          <a:ln w="9525">
            <a:solidFill>
              <a:srgbClr val="D5DED9"/>
            </a:solidFill>
            <a:prstDash val="solid"/>
          </a:ln>
        </p:spPr>
      </p:sp>
      <p:sp>
        <p:nvSpPr>
          <p:cNvPr id="49" name="Shape 46"/>
          <p:cNvSpPr/>
          <p:nvPr/>
        </p:nvSpPr>
        <p:spPr>
          <a:xfrm>
            <a:off x="4617720" y="2194560"/>
            <a:ext cx="832104" cy="310896"/>
          </a:xfrm>
          <a:prstGeom prst="roundRect">
            <a:avLst>
              <a:gd name="adj" fmla="val 32353"/>
            </a:avLst>
          </a:prstGeom>
          <a:solidFill>
            <a:srgbClr val="0E7C86"/>
          </a:solidFill>
          <a:ln w="9525">
            <a:solidFill>
              <a:srgbClr val="0E7C86"/>
            </a:solidFill>
            <a:prstDash val="solid"/>
          </a:ln>
        </p:spPr>
      </p:sp>
      <p:sp>
        <p:nvSpPr>
          <p:cNvPr id="50" name="Text 47"/>
          <p:cNvSpPr txBox="1"/>
          <p:nvPr/>
        </p:nvSpPr>
        <p:spPr>
          <a:xfrm>
            <a:off x="4617720"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Jev</a:t>
            </a:r>
            <a:endParaRPr lang="en-US" sz="800" dirty="0"/>
          </a:p>
        </p:txBody>
      </p:sp>
      <p:sp>
        <p:nvSpPr>
          <p:cNvPr id="51" name="Shape 48"/>
          <p:cNvSpPr/>
          <p:nvPr/>
        </p:nvSpPr>
        <p:spPr>
          <a:xfrm>
            <a:off x="5577840" y="1371600"/>
            <a:ext cx="1005840" cy="548640"/>
          </a:xfrm>
          <a:prstGeom prst="chevron">
            <a:avLst/>
          </a:prstGeom>
          <a:solidFill>
            <a:srgbClr val="00A86A">
              <a:alpha val="90000"/>
            </a:srgbClr>
          </a:solidFill>
          <a:ln/>
        </p:spPr>
      </p:sp>
      <p:sp>
        <p:nvSpPr>
          <p:cNvPr id="52" name="Text 49"/>
          <p:cNvSpPr txBox="1"/>
          <p:nvPr/>
        </p:nvSpPr>
        <p:spPr>
          <a:xfrm>
            <a:off x="5760720"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6</a:t>
            </a:r>
            <a:endParaRPr lang="en-US" sz="900" dirty="0"/>
          </a:p>
        </p:txBody>
      </p:sp>
      <p:sp>
        <p:nvSpPr>
          <p:cNvPr id="53" name="Text 50"/>
          <p:cNvSpPr txBox="1"/>
          <p:nvPr/>
        </p:nvSpPr>
        <p:spPr>
          <a:xfrm>
            <a:off x="5669280"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Analyse</a:t>
            </a:r>
            <a:endParaRPr lang="en-US" sz="900" dirty="0"/>
          </a:p>
        </p:txBody>
      </p:sp>
      <p:sp>
        <p:nvSpPr>
          <p:cNvPr id="54" name="Shape 51"/>
          <p:cNvSpPr/>
          <p:nvPr/>
        </p:nvSpPr>
        <p:spPr>
          <a:xfrm>
            <a:off x="5577840" y="2084832"/>
            <a:ext cx="960120" cy="1920240"/>
          </a:xfrm>
          <a:prstGeom prst="roundRect">
            <a:avLst>
              <a:gd name="adj" fmla="val 7619"/>
            </a:avLst>
          </a:prstGeom>
          <a:solidFill>
            <a:srgbClr val="F4F7F5"/>
          </a:solidFill>
          <a:ln w="9525">
            <a:solidFill>
              <a:srgbClr val="D5DED9"/>
            </a:solidFill>
            <a:prstDash val="solid"/>
          </a:ln>
        </p:spPr>
      </p:sp>
      <p:sp>
        <p:nvSpPr>
          <p:cNvPr id="55" name="Shape 52"/>
          <p:cNvSpPr/>
          <p:nvPr/>
        </p:nvSpPr>
        <p:spPr>
          <a:xfrm>
            <a:off x="5641848" y="2194560"/>
            <a:ext cx="832104" cy="310896"/>
          </a:xfrm>
          <a:prstGeom prst="roundRect">
            <a:avLst>
              <a:gd name="adj" fmla="val 32353"/>
            </a:avLst>
          </a:prstGeom>
          <a:solidFill>
            <a:srgbClr val="0E7C86"/>
          </a:solidFill>
          <a:ln w="9525">
            <a:solidFill>
              <a:srgbClr val="0E7C86"/>
            </a:solidFill>
            <a:prstDash val="solid"/>
          </a:ln>
        </p:spPr>
      </p:sp>
      <p:sp>
        <p:nvSpPr>
          <p:cNvPr id="56" name="Text 53"/>
          <p:cNvSpPr txBox="1"/>
          <p:nvPr/>
        </p:nvSpPr>
        <p:spPr>
          <a:xfrm>
            <a:off x="5641848"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Kimi</a:t>
            </a:r>
            <a:endParaRPr lang="en-US" sz="800" dirty="0"/>
          </a:p>
        </p:txBody>
      </p:sp>
      <p:sp>
        <p:nvSpPr>
          <p:cNvPr id="57" name="Shape 54"/>
          <p:cNvSpPr/>
          <p:nvPr/>
        </p:nvSpPr>
        <p:spPr>
          <a:xfrm>
            <a:off x="5641848" y="2596896"/>
            <a:ext cx="832104" cy="310896"/>
          </a:xfrm>
          <a:prstGeom prst="roundRect">
            <a:avLst>
              <a:gd name="adj" fmla="val 32353"/>
            </a:avLst>
          </a:prstGeom>
          <a:solidFill>
            <a:srgbClr val="C4621D"/>
          </a:solidFill>
          <a:ln w="9525">
            <a:solidFill>
              <a:srgbClr val="C4621D"/>
            </a:solidFill>
            <a:prstDash val="solid"/>
          </a:ln>
        </p:spPr>
      </p:sp>
      <p:sp>
        <p:nvSpPr>
          <p:cNvPr id="58" name="Text 55"/>
          <p:cNvSpPr txBox="1"/>
          <p:nvPr/>
        </p:nvSpPr>
        <p:spPr>
          <a:xfrm>
            <a:off x="5641848"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NotebookLM</a:t>
            </a:r>
            <a:endParaRPr lang="en-US" sz="800" dirty="0"/>
          </a:p>
        </p:txBody>
      </p:sp>
      <p:sp>
        <p:nvSpPr>
          <p:cNvPr id="59" name="Shape 56"/>
          <p:cNvSpPr/>
          <p:nvPr/>
        </p:nvSpPr>
        <p:spPr>
          <a:xfrm>
            <a:off x="6601968" y="1371600"/>
            <a:ext cx="1005840" cy="548640"/>
          </a:xfrm>
          <a:prstGeom prst="chevron">
            <a:avLst/>
          </a:prstGeom>
          <a:solidFill>
            <a:srgbClr val="00704A"/>
          </a:solidFill>
          <a:ln/>
        </p:spPr>
      </p:sp>
      <p:sp>
        <p:nvSpPr>
          <p:cNvPr id="60" name="Text 57"/>
          <p:cNvSpPr txBox="1"/>
          <p:nvPr/>
        </p:nvSpPr>
        <p:spPr>
          <a:xfrm>
            <a:off x="6784848"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7</a:t>
            </a:r>
            <a:endParaRPr lang="en-US" sz="900" dirty="0"/>
          </a:p>
        </p:txBody>
      </p:sp>
      <p:sp>
        <p:nvSpPr>
          <p:cNvPr id="61" name="Text 58"/>
          <p:cNvSpPr txBox="1"/>
          <p:nvPr/>
        </p:nvSpPr>
        <p:spPr>
          <a:xfrm>
            <a:off x="6693408"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Disseminate</a:t>
            </a:r>
            <a:endParaRPr lang="en-US" sz="900" dirty="0"/>
          </a:p>
        </p:txBody>
      </p:sp>
      <p:sp>
        <p:nvSpPr>
          <p:cNvPr id="62" name="Shape 59"/>
          <p:cNvSpPr/>
          <p:nvPr/>
        </p:nvSpPr>
        <p:spPr>
          <a:xfrm>
            <a:off x="6601968" y="2084832"/>
            <a:ext cx="960120" cy="1920240"/>
          </a:xfrm>
          <a:prstGeom prst="roundRect">
            <a:avLst>
              <a:gd name="adj" fmla="val 7619"/>
            </a:avLst>
          </a:prstGeom>
          <a:solidFill>
            <a:srgbClr val="E8F5EF"/>
          </a:solidFill>
          <a:ln w="15875">
            <a:solidFill>
              <a:srgbClr val="00A86A"/>
            </a:solidFill>
            <a:prstDash val="solid"/>
          </a:ln>
        </p:spPr>
      </p:sp>
      <p:sp>
        <p:nvSpPr>
          <p:cNvPr id="63" name="Shape 60"/>
          <p:cNvSpPr/>
          <p:nvPr/>
        </p:nvSpPr>
        <p:spPr>
          <a:xfrm>
            <a:off x="6665976" y="2194560"/>
            <a:ext cx="832104" cy="310896"/>
          </a:xfrm>
          <a:prstGeom prst="roundRect">
            <a:avLst>
              <a:gd name="adj" fmla="val 32353"/>
            </a:avLst>
          </a:prstGeom>
          <a:solidFill>
            <a:srgbClr val="0E7C86"/>
          </a:solidFill>
          <a:ln w="9525">
            <a:solidFill>
              <a:srgbClr val="0E7C86"/>
            </a:solidFill>
            <a:prstDash val="solid"/>
          </a:ln>
        </p:spPr>
      </p:sp>
      <p:sp>
        <p:nvSpPr>
          <p:cNvPr id="64" name="Text 61"/>
          <p:cNvSpPr txBox="1"/>
          <p:nvPr/>
        </p:nvSpPr>
        <p:spPr>
          <a:xfrm>
            <a:off x="6665976"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GLM · Z.ai</a:t>
            </a:r>
            <a:endParaRPr lang="en-US" sz="800" dirty="0"/>
          </a:p>
        </p:txBody>
      </p:sp>
      <p:sp>
        <p:nvSpPr>
          <p:cNvPr id="65" name="Shape 62"/>
          <p:cNvSpPr/>
          <p:nvPr/>
        </p:nvSpPr>
        <p:spPr>
          <a:xfrm>
            <a:off x="6665976" y="2596896"/>
            <a:ext cx="832104" cy="310896"/>
          </a:xfrm>
          <a:prstGeom prst="roundRect">
            <a:avLst>
              <a:gd name="adj" fmla="val 32353"/>
            </a:avLst>
          </a:prstGeom>
          <a:solidFill>
            <a:srgbClr val="C4621D"/>
          </a:solidFill>
          <a:ln w="9525">
            <a:solidFill>
              <a:srgbClr val="C4621D"/>
            </a:solidFill>
            <a:prstDash val="solid"/>
          </a:ln>
        </p:spPr>
      </p:sp>
      <p:sp>
        <p:nvSpPr>
          <p:cNvPr id="66" name="Text 63"/>
          <p:cNvSpPr txBox="1"/>
          <p:nvPr/>
        </p:nvSpPr>
        <p:spPr>
          <a:xfrm>
            <a:off x="6665976"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Kimi</a:t>
            </a:r>
            <a:endParaRPr lang="en-US" sz="800" dirty="0"/>
          </a:p>
        </p:txBody>
      </p:sp>
      <p:sp>
        <p:nvSpPr>
          <p:cNvPr id="67" name="Shape 64"/>
          <p:cNvSpPr/>
          <p:nvPr/>
        </p:nvSpPr>
        <p:spPr>
          <a:xfrm>
            <a:off x="6665976" y="2999232"/>
            <a:ext cx="832104" cy="310896"/>
          </a:xfrm>
          <a:prstGeom prst="roundRect">
            <a:avLst>
              <a:gd name="adj" fmla="val 32353"/>
            </a:avLst>
          </a:prstGeom>
          <a:solidFill>
            <a:srgbClr val="D49A00"/>
          </a:solidFill>
          <a:ln w="9525">
            <a:solidFill>
              <a:srgbClr val="D49A00"/>
            </a:solidFill>
            <a:prstDash val="solid"/>
          </a:ln>
        </p:spPr>
      </p:sp>
      <p:sp>
        <p:nvSpPr>
          <p:cNvPr id="68" name="Text 65"/>
          <p:cNvSpPr txBox="1"/>
          <p:nvPr/>
        </p:nvSpPr>
        <p:spPr>
          <a:xfrm>
            <a:off x="6665976" y="2999232"/>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Nano Banana</a:t>
            </a:r>
            <a:endParaRPr lang="en-US" sz="800" dirty="0"/>
          </a:p>
        </p:txBody>
      </p:sp>
      <p:sp>
        <p:nvSpPr>
          <p:cNvPr id="69" name="Shape 66"/>
          <p:cNvSpPr/>
          <p:nvPr/>
        </p:nvSpPr>
        <p:spPr>
          <a:xfrm>
            <a:off x="6665976" y="3401568"/>
            <a:ext cx="832104" cy="310896"/>
          </a:xfrm>
          <a:prstGeom prst="roundRect">
            <a:avLst>
              <a:gd name="adj" fmla="val 32353"/>
            </a:avLst>
          </a:prstGeom>
          <a:solidFill>
            <a:srgbClr val="B83B2E"/>
          </a:solidFill>
          <a:ln w="9525">
            <a:solidFill>
              <a:srgbClr val="B83B2E"/>
            </a:solidFill>
            <a:prstDash val="solid"/>
          </a:ln>
        </p:spPr>
      </p:sp>
      <p:sp>
        <p:nvSpPr>
          <p:cNvPr id="70" name="Text 67"/>
          <p:cNvSpPr txBox="1"/>
          <p:nvPr/>
        </p:nvSpPr>
        <p:spPr>
          <a:xfrm>
            <a:off x="6665976" y="3401568"/>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Flow</a:t>
            </a:r>
            <a:endParaRPr lang="en-US" sz="800" dirty="0"/>
          </a:p>
        </p:txBody>
      </p:sp>
      <p:sp>
        <p:nvSpPr>
          <p:cNvPr id="71" name="Shape 68"/>
          <p:cNvSpPr/>
          <p:nvPr/>
        </p:nvSpPr>
        <p:spPr>
          <a:xfrm>
            <a:off x="7626096" y="1371600"/>
            <a:ext cx="1005840" cy="548640"/>
          </a:xfrm>
          <a:prstGeom prst="chevron">
            <a:avLst/>
          </a:prstGeom>
          <a:solidFill>
            <a:srgbClr val="00A86A">
              <a:alpha val="86000"/>
            </a:srgbClr>
          </a:solidFill>
          <a:ln/>
        </p:spPr>
      </p:sp>
      <p:sp>
        <p:nvSpPr>
          <p:cNvPr id="72" name="Text 69"/>
          <p:cNvSpPr txBox="1"/>
          <p:nvPr/>
        </p:nvSpPr>
        <p:spPr>
          <a:xfrm>
            <a:off x="7808976"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8</a:t>
            </a:r>
            <a:endParaRPr lang="en-US" sz="900" dirty="0"/>
          </a:p>
        </p:txBody>
      </p:sp>
      <p:sp>
        <p:nvSpPr>
          <p:cNvPr id="73" name="Text 70"/>
          <p:cNvSpPr txBox="1"/>
          <p:nvPr/>
        </p:nvSpPr>
        <p:spPr>
          <a:xfrm>
            <a:off x="7717536"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Evaluate</a:t>
            </a:r>
            <a:endParaRPr lang="en-US" sz="900" dirty="0"/>
          </a:p>
        </p:txBody>
      </p:sp>
      <p:sp>
        <p:nvSpPr>
          <p:cNvPr id="74" name="Shape 71"/>
          <p:cNvSpPr/>
          <p:nvPr/>
        </p:nvSpPr>
        <p:spPr>
          <a:xfrm>
            <a:off x="7626096" y="2084832"/>
            <a:ext cx="960120" cy="1920240"/>
          </a:xfrm>
          <a:prstGeom prst="roundRect">
            <a:avLst>
              <a:gd name="adj" fmla="val 7619"/>
            </a:avLst>
          </a:prstGeom>
          <a:solidFill>
            <a:srgbClr val="F4F7F5"/>
          </a:solidFill>
          <a:ln w="9525">
            <a:solidFill>
              <a:srgbClr val="D5DED9"/>
            </a:solidFill>
            <a:prstDash val="solid"/>
          </a:ln>
        </p:spPr>
      </p:sp>
      <p:sp>
        <p:nvSpPr>
          <p:cNvPr id="75" name="Shape 72"/>
          <p:cNvSpPr/>
          <p:nvPr/>
        </p:nvSpPr>
        <p:spPr>
          <a:xfrm>
            <a:off x="7690104" y="2194560"/>
            <a:ext cx="832104" cy="310896"/>
          </a:xfrm>
          <a:prstGeom prst="roundRect">
            <a:avLst>
              <a:gd name="adj" fmla="val 32353"/>
            </a:avLst>
          </a:prstGeom>
          <a:solidFill>
            <a:srgbClr val="0E7C86"/>
          </a:solidFill>
          <a:ln w="9525">
            <a:solidFill>
              <a:srgbClr val="0E7C86"/>
            </a:solidFill>
            <a:prstDash val="solid"/>
          </a:ln>
        </p:spPr>
      </p:sp>
      <p:sp>
        <p:nvSpPr>
          <p:cNvPr id="76" name="Text 73"/>
          <p:cNvSpPr txBox="1"/>
          <p:nvPr/>
        </p:nvSpPr>
        <p:spPr>
          <a:xfrm>
            <a:off x="7690104"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Perplexity</a:t>
            </a:r>
            <a:endParaRPr lang="en-US" sz="800" dirty="0"/>
          </a:p>
        </p:txBody>
      </p:sp>
      <p:sp>
        <p:nvSpPr>
          <p:cNvPr id="77" name="Shape 74"/>
          <p:cNvSpPr/>
          <p:nvPr/>
        </p:nvSpPr>
        <p:spPr>
          <a:xfrm>
            <a:off x="457200" y="4133088"/>
            <a:ext cx="402336" cy="402336"/>
          </a:xfrm>
          <a:prstGeom prst="ellipse">
            <a:avLst/>
          </a:prstGeom>
          <a:solidFill>
            <a:srgbClr val="D49A00">
              <a:alpha val="22000"/>
            </a:srgbClr>
          </a:solidFill>
          <a:ln/>
        </p:spPr>
      </p:sp>
      <p:pic>
        <p:nvPicPr>
          <p:cNvPr id="78" name="Image 0" descr="preencoded.png"/>
          <p:cNvPicPr>
            <a:picLocks noChangeAspect="1"/>
          </p:cNvPicPr>
          <p:nvPr/>
        </p:nvPicPr>
        <p:blipFill>
          <a:blip r:embed="rId3"/>
          <a:stretch>
            <a:fillRect/>
          </a:stretch>
        </p:blipFill>
        <p:spPr>
          <a:xfrm>
            <a:off x="557784" y="4233672"/>
            <a:ext cx="201168" cy="201168"/>
          </a:xfrm>
          <a:prstGeom prst="rect">
            <a:avLst/>
          </a:prstGeom>
        </p:spPr>
      </p:pic>
      <p:sp>
        <p:nvSpPr>
          <p:cNvPr id="79" name="Text 75"/>
          <p:cNvSpPr txBox="1"/>
          <p:nvPr/>
        </p:nvSpPr>
        <p:spPr>
          <a:xfrm>
            <a:off x="960120" y="4114800"/>
            <a:ext cx="7680960" cy="43891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Key point: </a:t>
            </a:r>
            <a:r>
              <a:rPr lang="en-US" sz="1100" dirty="0">
                <a:solidFill>
                  <a:srgbClr val="231F20"/>
                </a:solidFill>
                <a:latin typeface="Calibri" pitchFamily="34" charset="0"/>
                <a:ea typeface="Calibri" pitchFamily="34" charset="-122"/>
                <a:cs typeface="Calibri" pitchFamily="34" charset="-120"/>
              </a:rPr>
              <a:t>dissemination (phase 7) is where these tools change the most — reports turned into dashboards, infographics and videos.</a:t>
            </a:r>
            <a:endParaRPr lang="en-US" sz="1100" dirty="0"/>
          </a:p>
        </p:txBody>
      </p:sp>
      <p:sp>
        <p:nvSpPr>
          <p:cNvPr id="80" name="Text 76"/>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Reference: UNECE, Generic Statistical Business Process Model (GSBPM) v5.1.</a:t>
            </a:r>
            <a:endParaRPr lang="en-US" sz="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Access, provider country, data allowed</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Text 14"/>
          <p:cNvSpPr txBox="1"/>
          <p:nvPr/>
        </p:nvSpPr>
        <p:spPr>
          <a:xfrm>
            <a:off x="530352" y="1298448"/>
            <a:ext cx="205740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Tool</a:t>
            </a:r>
            <a:endParaRPr lang="en-US" sz="1000" dirty="0"/>
          </a:p>
        </p:txBody>
      </p:sp>
      <p:sp>
        <p:nvSpPr>
          <p:cNvPr id="18" name="Text 15"/>
          <p:cNvSpPr txBox="1"/>
          <p:nvPr/>
        </p:nvSpPr>
        <p:spPr>
          <a:xfrm>
            <a:off x="2587752" y="1298448"/>
            <a:ext cx="237744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Provider · country</a:t>
            </a:r>
            <a:endParaRPr lang="en-US" sz="1000" dirty="0"/>
          </a:p>
        </p:txBody>
      </p:sp>
      <p:sp>
        <p:nvSpPr>
          <p:cNvPr id="19" name="Text 16"/>
          <p:cNvSpPr txBox="1"/>
          <p:nvPr/>
        </p:nvSpPr>
        <p:spPr>
          <a:xfrm>
            <a:off x="4965192" y="1298448"/>
            <a:ext cx="150876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Access</a:t>
            </a:r>
            <a:endParaRPr lang="en-US" sz="1000" dirty="0"/>
          </a:p>
        </p:txBody>
      </p:sp>
      <p:sp>
        <p:nvSpPr>
          <p:cNvPr id="20" name="Text 17"/>
          <p:cNvSpPr txBox="1"/>
          <p:nvPr/>
        </p:nvSpPr>
        <p:spPr>
          <a:xfrm>
            <a:off x="6473952" y="1298448"/>
            <a:ext cx="228600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Data allowed</a:t>
            </a:r>
            <a:endParaRPr lang="en-US" sz="1000" dirty="0"/>
          </a:p>
        </p:txBody>
      </p:sp>
      <p:sp>
        <p:nvSpPr>
          <p:cNvPr id="21" name="Shape 18"/>
          <p:cNvSpPr/>
          <p:nvPr/>
        </p:nvSpPr>
        <p:spPr>
          <a:xfrm>
            <a:off x="457200" y="1536192"/>
            <a:ext cx="8229600" cy="283464"/>
          </a:xfrm>
          <a:prstGeom prst="roundRect">
            <a:avLst>
              <a:gd name="adj" fmla="val 12903"/>
            </a:avLst>
          </a:prstGeom>
          <a:solidFill>
            <a:srgbClr val="F4F7F5"/>
          </a:solidFill>
          <a:ln/>
        </p:spPr>
      </p:sp>
      <p:sp>
        <p:nvSpPr>
          <p:cNvPr id="22" name="Text 19"/>
          <p:cNvSpPr txBox="1"/>
          <p:nvPr/>
        </p:nvSpPr>
        <p:spPr>
          <a:xfrm>
            <a:off x="530352" y="155448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Perplexity</a:t>
            </a:r>
            <a:endParaRPr lang="en-US" sz="1050" dirty="0"/>
          </a:p>
        </p:txBody>
      </p:sp>
      <p:sp>
        <p:nvSpPr>
          <p:cNvPr id="23" name="Text 20"/>
          <p:cNvSpPr txBox="1"/>
          <p:nvPr/>
        </p:nvSpPr>
        <p:spPr>
          <a:xfrm>
            <a:off x="2587752" y="155448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Perplexity AI · United States</a:t>
            </a:r>
            <a:endParaRPr lang="en-US" sz="1000" dirty="0"/>
          </a:p>
        </p:txBody>
      </p:sp>
      <p:sp>
        <p:nvSpPr>
          <p:cNvPr id="24" name="Shape 21"/>
          <p:cNvSpPr/>
          <p:nvPr/>
        </p:nvSpPr>
        <p:spPr>
          <a:xfrm>
            <a:off x="4937760" y="1581912"/>
            <a:ext cx="1371600" cy="192024"/>
          </a:xfrm>
          <a:prstGeom prst="roundRect">
            <a:avLst>
              <a:gd name="adj" fmla="val 52381"/>
            </a:avLst>
          </a:prstGeom>
          <a:solidFill>
            <a:srgbClr val="0E7C86"/>
          </a:solidFill>
          <a:ln w="9525">
            <a:solidFill>
              <a:srgbClr val="0E7C86"/>
            </a:solidFill>
            <a:prstDash val="solid"/>
          </a:ln>
        </p:spPr>
      </p:sp>
      <p:sp>
        <p:nvSpPr>
          <p:cNvPr id="25" name="Text 22"/>
          <p:cNvSpPr txBox="1"/>
          <p:nvPr/>
        </p:nvSpPr>
        <p:spPr>
          <a:xfrm>
            <a:off x="4937760" y="158191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6" name="Text 23"/>
          <p:cNvSpPr txBox="1"/>
          <p:nvPr/>
        </p:nvSpPr>
        <p:spPr>
          <a:xfrm>
            <a:off x="6473952" y="155448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27" name="Text 24"/>
          <p:cNvSpPr txBox="1"/>
          <p:nvPr/>
        </p:nvSpPr>
        <p:spPr>
          <a:xfrm>
            <a:off x="530352" y="185166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LeapSpace</a:t>
            </a:r>
            <a:endParaRPr lang="en-US" sz="1050" dirty="0"/>
          </a:p>
        </p:txBody>
      </p:sp>
      <p:sp>
        <p:nvSpPr>
          <p:cNvPr id="28" name="Text 25"/>
          <p:cNvSpPr txBox="1"/>
          <p:nvPr/>
        </p:nvSpPr>
        <p:spPr>
          <a:xfrm>
            <a:off x="2587752" y="185166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Elsevier · Netherlands / UK</a:t>
            </a:r>
            <a:endParaRPr lang="en-US" sz="1000" dirty="0"/>
          </a:p>
        </p:txBody>
      </p:sp>
      <p:sp>
        <p:nvSpPr>
          <p:cNvPr id="29" name="Shape 26"/>
          <p:cNvSpPr/>
          <p:nvPr/>
        </p:nvSpPr>
        <p:spPr>
          <a:xfrm>
            <a:off x="4937760" y="1879092"/>
            <a:ext cx="1371600" cy="192024"/>
          </a:xfrm>
          <a:prstGeom prst="roundRect">
            <a:avLst>
              <a:gd name="adj" fmla="val 52381"/>
            </a:avLst>
          </a:prstGeom>
          <a:solidFill>
            <a:srgbClr val="D49A00"/>
          </a:solidFill>
          <a:ln w="9525">
            <a:solidFill>
              <a:srgbClr val="D49A00"/>
            </a:solidFill>
            <a:prstDash val="solid"/>
          </a:ln>
        </p:spPr>
      </p:sp>
      <p:sp>
        <p:nvSpPr>
          <p:cNvPr id="30" name="Text 27"/>
          <p:cNvSpPr txBox="1"/>
          <p:nvPr/>
        </p:nvSpPr>
        <p:spPr>
          <a:xfrm>
            <a:off x="4937760" y="187909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INSTITUTIONAL</a:t>
            </a:r>
            <a:endParaRPr lang="en-US" sz="700" dirty="0"/>
          </a:p>
        </p:txBody>
      </p:sp>
      <p:sp>
        <p:nvSpPr>
          <p:cNvPr id="31" name="Text 28"/>
          <p:cNvSpPr txBox="1"/>
          <p:nvPr/>
        </p:nvSpPr>
        <p:spPr>
          <a:xfrm>
            <a:off x="6473952" y="185166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32" name="Shape 29"/>
          <p:cNvSpPr/>
          <p:nvPr/>
        </p:nvSpPr>
        <p:spPr>
          <a:xfrm>
            <a:off x="457200" y="2130552"/>
            <a:ext cx="8229600" cy="283464"/>
          </a:xfrm>
          <a:prstGeom prst="roundRect">
            <a:avLst>
              <a:gd name="adj" fmla="val 12903"/>
            </a:avLst>
          </a:prstGeom>
          <a:solidFill>
            <a:srgbClr val="F4F7F5"/>
          </a:solidFill>
          <a:ln/>
        </p:spPr>
      </p:sp>
      <p:sp>
        <p:nvSpPr>
          <p:cNvPr id="33" name="Text 30"/>
          <p:cNvSpPr txBox="1"/>
          <p:nvPr/>
        </p:nvSpPr>
        <p:spPr>
          <a:xfrm>
            <a:off x="530352" y="214884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NotebookLM</a:t>
            </a:r>
            <a:endParaRPr lang="en-US" sz="1050" dirty="0"/>
          </a:p>
        </p:txBody>
      </p:sp>
      <p:sp>
        <p:nvSpPr>
          <p:cNvPr id="34" name="Text 31"/>
          <p:cNvSpPr txBox="1"/>
          <p:nvPr/>
        </p:nvSpPr>
        <p:spPr>
          <a:xfrm>
            <a:off x="2587752" y="214884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 United States</a:t>
            </a:r>
            <a:endParaRPr lang="en-US" sz="1000" dirty="0"/>
          </a:p>
        </p:txBody>
      </p:sp>
      <p:sp>
        <p:nvSpPr>
          <p:cNvPr id="35" name="Shape 32"/>
          <p:cNvSpPr/>
          <p:nvPr/>
        </p:nvSpPr>
        <p:spPr>
          <a:xfrm>
            <a:off x="4937760" y="2176272"/>
            <a:ext cx="1371600" cy="192024"/>
          </a:xfrm>
          <a:prstGeom prst="roundRect">
            <a:avLst>
              <a:gd name="adj" fmla="val 52381"/>
            </a:avLst>
          </a:prstGeom>
          <a:solidFill>
            <a:srgbClr val="0E7C86"/>
          </a:solidFill>
          <a:ln w="9525">
            <a:solidFill>
              <a:srgbClr val="0E7C86"/>
            </a:solidFill>
            <a:prstDash val="solid"/>
          </a:ln>
        </p:spPr>
      </p:sp>
      <p:sp>
        <p:nvSpPr>
          <p:cNvPr id="36" name="Text 33"/>
          <p:cNvSpPr txBox="1"/>
          <p:nvPr/>
        </p:nvSpPr>
        <p:spPr>
          <a:xfrm>
            <a:off x="4937760" y="217627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37" name="Text 34"/>
          <p:cNvSpPr txBox="1"/>
          <p:nvPr/>
        </p:nvSpPr>
        <p:spPr>
          <a:xfrm>
            <a:off x="6473952" y="214884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38" name="Text 35"/>
          <p:cNvSpPr txBox="1"/>
          <p:nvPr/>
        </p:nvSpPr>
        <p:spPr>
          <a:xfrm>
            <a:off x="530352" y="244602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UN Data Commons</a:t>
            </a:r>
            <a:endParaRPr lang="en-US" sz="1050" dirty="0"/>
          </a:p>
        </p:txBody>
      </p:sp>
      <p:sp>
        <p:nvSpPr>
          <p:cNvPr id="39" name="Text 36"/>
          <p:cNvSpPr txBox="1"/>
          <p:nvPr/>
        </p:nvSpPr>
        <p:spPr>
          <a:xfrm>
            <a:off x="2587752" y="244602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UN + Google</a:t>
            </a:r>
            <a:endParaRPr lang="en-US" sz="1000" dirty="0"/>
          </a:p>
        </p:txBody>
      </p:sp>
      <p:sp>
        <p:nvSpPr>
          <p:cNvPr id="40" name="Shape 37"/>
          <p:cNvSpPr/>
          <p:nvPr/>
        </p:nvSpPr>
        <p:spPr>
          <a:xfrm>
            <a:off x="4937760" y="2473452"/>
            <a:ext cx="1371600" cy="192024"/>
          </a:xfrm>
          <a:prstGeom prst="roundRect">
            <a:avLst>
              <a:gd name="adj" fmla="val 52381"/>
            </a:avLst>
          </a:prstGeom>
          <a:solidFill>
            <a:srgbClr val="00A86A"/>
          </a:solidFill>
          <a:ln w="9525">
            <a:solidFill>
              <a:srgbClr val="00A86A"/>
            </a:solidFill>
            <a:prstDash val="solid"/>
          </a:ln>
        </p:spPr>
      </p:sp>
      <p:sp>
        <p:nvSpPr>
          <p:cNvPr id="41" name="Text 38"/>
          <p:cNvSpPr txBox="1"/>
          <p:nvPr/>
        </p:nvSpPr>
        <p:spPr>
          <a:xfrm>
            <a:off x="4937760" y="247345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a:t>
            </a:r>
            <a:endParaRPr lang="en-US" sz="700" dirty="0"/>
          </a:p>
        </p:txBody>
      </p:sp>
      <p:sp>
        <p:nvSpPr>
          <p:cNvPr id="42" name="Text 39"/>
          <p:cNvSpPr txBox="1"/>
          <p:nvPr/>
        </p:nvSpPr>
        <p:spPr>
          <a:xfrm>
            <a:off x="6473952" y="2446020"/>
            <a:ext cx="2286000" cy="246888"/>
          </a:xfrm>
          <a:prstGeom prst="rect">
            <a:avLst/>
          </a:prstGeom>
          <a:noFill/>
          <a:ln/>
        </p:spPr>
        <p:txBody>
          <a:bodyPr wrap="square" lIns="0" tIns="0" rIns="0" bIns="0" rtlCol="0" anchor="ctr"/>
          <a:lstStyle/>
          <a:p>
            <a:pPr marL="0" indent="0">
              <a:buNone/>
            </a:pPr>
            <a:r>
              <a:rPr lang="en-US" sz="1000" dirty="0">
                <a:solidFill>
                  <a:srgbClr val="00704A"/>
                </a:solidFill>
                <a:latin typeface="Calibri" pitchFamily="34" charset="0"/>
                <a:ea typeface="Calibri" pitchFamily="34" charset="-122"/>
                <a:cs typeface="Calibri" pitchFamily="34" charset="-120"/>
              </a:rPr>
              <a:t>Public UN statistics</a:t>
            </a:r>
            <a:endParaRPr lang="en-US" sz="1000" dirty="0"/>
          </a:p>
        </p:txBody>
      </p:sp>
      <p:sp>
        <p:nvSpPr>
          <p:cNvPr id="43" name="Shape 40"/>
          <p:cNvSpPr/>
          <p:nvPr/>
        </p:nvSpPr>
        <p:spPr>
          <a:xfrm>
            <a:off x="457200" y="2724912"/>
            <a:ext cx="8229600" cy="283464"/>
          </a:xfrm>
          <a:prstGeom prst="roundRect">
            <a:avLst>
              <a:gd name="adj" fmla="val 12903"/>
            </a:avLst>
          </a:prstGeom>
          <a:solidFill>
            <a:srgbClr val="F4F7F5"/>
          </a:solidFill>
          <a:ln/>
        </p:spPr>
      </p:sp>
      <p:sp>
        <p:nvSpPr>
          <p:cNvPr id="44" name="Text 41"/>
          <p:cNvSpPr txBox="1"/>
          <p:nvPr/>
        </p:nvSpPr>
        <p:spPr>
          <a:xfrm>
            <a:off x="530352" y="274320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GLM (chat.z.ai)</a:t>
            </a:r>
            <a:endParaRPr lang="en-US" sz="1050" dirty="0"/>
          </a:p>
        </p:txBody>
      </p:sp>
      <p:sp>
        <p:nvSpPr>
          <p:cNvPr id="45" name="Text 42"/>
          <p:cNvSpPr txBox="1"/>
          <p:nvPr/>
        </p:nvSpPr>
        <p:spPr>
          <a:xfrm>
            <a:off x="2587752" y="274320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Z.ai · China</a:t>
            </a:r>
            <a:endParaRPr lang="en-US" sz="1000" dirty="0"/>
          </a:p>
        </p:txBody>
      </p:sp>
      <p:sp>
        <p:nvSpPr>
          <p:cNvPr id="46" name="Shape 43"/>
          <p:cNvSpPr/>
          <p:nvPr/>
        </p:nvSpPr>
        <p:spPr>
          <a:xfrm>
            <a:off x="4937760" y="2770632"/>
            <a:ext cx="1371600" cy="192024"/>
          </a:xfrm>
          <a:prstGeom prst="roundRect">
            <a:avLst>
              <a:gd name="adj" fmla="val 52381"/>
            </a:avLst>
          </a:prstGeom>
          <a:solidFill>
            <a:srgbClr val="0E7C86"/>
          </a:solidFill>
          <a:ln w="9525">
            <a:solidFill>
              <a:srgbClr val="0E7C86"/>
            </a:solidFill>
            <a:prstDash val="solid"/>
          </a:ln>
        </p:spPr>
      </p:sp>
      <p:sp>
        <p:nvSpPr>
          <p:cNvPr id="47" name="Text 44"/>
          <p:cNvSpPr txBox="1"/>
          <p:nvPr/>
        </p:nvSpPr>
        <p:spPr>
          <a:xfrm>
            <a:off x="4937760" y="277063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48" name="Text 45"/>
          <p:cNvSpPr txBox="1"/>
          <p:nvPr/>
        </p:nvSpPr>
        <p:spPr>
          <a:xfrm>
            <a:off x="6473952" y="274320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49" name="Text 46"/>
          <p:cNvSpPr txBox="1"/>
          <p:nvPr/>
        </p:nvSpPr>
        <p:spPr>
          <a:xfrm>
            <a:off x="530352" y="304038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Kimi (OK Computer)</a:t>
            </a:r>
            <a:endParaRPr lang="en-US" sz="1050" dirty="0"/>
          </a:p>
        </p:txBody>
      </p:sp>
      <p:sp>
        <p:nvSpPr>
          <p:cNvPr id="50" name="Text 47"/>
          <p:cNvSpPr txBox="1"/>
          <p:nvPr/>
        </p:nvSpPr>
        <p:spPr>
          <a:xfrm>
            <a:off x="2587752" y="304038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Moonshot AI · China</a:t>
            </a:r>
            <a:endParaRPr lang="en-US" sz="1000" dirty="0"/>
          </a:p>
        </p:txBody>
      </p:sp>
      <p:sp>
        <p:nvSpPr>
          <p:cNvPr id="51" name="Shape 48"/>
          <p:cNvSpPr/>
          <p:nvPr/>
        </p:nvSpPr>
        <p:spPr>
          <a:xfrm>
            <a:off x="4937760" y="3067812"/>
            <a:ext cx="1371600" cy="192024"/>
          </a:xfrm>
          <a:prstGeom prst="roundRect">
            <a:avLst>
              <a:gd name="adj" fmla="val 52381"/>
            </a:avLst>
          </a:prstGeom>
          <a:solidFill>
            <a:srgbClr val="0E7C86"/>
          </a:solidFill>
          <a:ln w="9525">
            <a:solidFill>
              <a:srgbClr val="0E7C86"/>
            </a:solidFill>
            <a:prstDash val="solid"/>
          </a:ln>
        </p:spPr>
      </p:sp>
      <p:sp>
        <p:nvSpPr>
          <p:cNvPr id="52" name="Text 49"/>
          <p:cNvSpPr txBox="1"/>
          <p:nvPr/>
        </p:nvSpPr>
        <p:spPr>
          <a:xfrm>
            <a:off x="4937760" y="306781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53" name="Text 50"/>
          <p:cNvSpPr txBox="1"/>
          <p:nvPr/>
        </p:nvSpPr>
        <p:spPr>
          <a:xfrm>
            <a:off x="6473952" y="304038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54" name="Shape 51"/>
          <p:cNvSpPr/>
          <p:nvPr/>
        </p:nvSpPr>
        <p:spPr>
          <a:xfrm>
            <a:off x="457200" y="3319272"/>
            <a:ext cx="8229600" cy="283464"/>
          </a:xfrm>
          <a:prstGeom prst="roundRect">
            <a:avLst>
              <a:gd name="adj" fmla="val 12903"/>
            </a:avLst>
          </a:prstGeom>
          <a:solidFill>
            <a:srgbClr val="F4F7F5"/>
          </a:solidFill>
          <a:ln/>
        </p:spPr>
      </p:sp>
      <p:sp>
        <p:nvSpPr>
          <p:cNvPr id="55" name="Text 52"/>
          <p:cNvSpPr txBox="1"/>
          <p:nvPr/>
        </p:nvSpPr>
        <p:spPr>
          <a:xfrm>
            <a:off x="530352" y="333756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Nano Banana</a:t>
            </a:r>
            <a:endParaRPr lang="en-US" sz="1050" dirty="0"/>
          </a:p>
        </p:txBody>
      </p:sp>
      <p:sp>
        <p:nvSpPr>
          <p:cNvPr id="56" name="Text 53"/>
          <p:cNvSpPr txBox="1"/>
          <p:nvPr/>
        </p:nvSpPr>
        <p:spPr>
          <a:xfrm>
            <a:off x="2587752" y="333756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(Gemini app)</a:t>
            </a:r>
            <a:endParaRPr lang="en-US" sz="1000" dirty="0"/>
          </a:p>
        </p:txBody>
      </p:sp>
      <p:sp>
        <p:nvSpPr>
          <p:cNvPr id="57" name="Shape 54"/>
          <p:cNvSpPr/>
          <p:nvPr/>
        </p:nvSpPr>
        <p:spPr>
          <a:xfrm>
            <a:off x="4937760" y="3364992"/>
            <a:ext cx="1371600" cy="192024"/>
          </a:xfrm>
          <a:prstGeom prst="roundRect">
            <a:avLst>
              <a:gd name="adj" fmla="val 52381"/>
            </a:avLst>
          </a:prstGeom>
          <a:solidFill>
            <a:srgbClr val="0E7C86"/>
          </a:solidFill>
          <a:ln w="9525">
            <a:solidFill>
              <a:srgbClr val="0E7C86"/>
            </a:solidFill>
            <a:prstDash val="solid"/>
          </a:ln>
        </p:spPr>
      </p:sp>
      <p:sp>
        <p:nvSpPr>
          <p:cNvPr id="58" name="Text 55"/>
          <p:cNvSpPr txBox="1"/>
          <p:nvPr/>
        </p:nvSpPr>
        <p:spPr>
          <a:xfrm>
            <a:off x="4937760" y="336499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59" name="Text 56"/>
          <p:cNvSpPr txBox="1"/>
          <p:nvPr/>
        </p:nvSpPr>
        <p:spPr>
          <a:xfrm>
            <a:off x="6473952" y="333756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60" name="Text 57"/>
          <p:cNvSpPr txBox="1"/>
          <p:nvPr/>
        </p:nvSpPr>
        <p:spPr>
          <a:xfrm>
            <a:off x="530352" y="363474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Google Flow</a:t>
            </a:r>
            <a:endParaRPr lang="en-US" sz="1050" dirty="0"/>
          </a:p>
        </p:txBody>
      </p:sp>
      <p:sp>
        <p:nvSpPr>
          <p:cNvPr id="61" name="Text 58"/>
          <p:cNvSpPr txBox="1"/>
          <p:nvPr/>
        </p:nvSpPr>
        <p:spPr>
          <a:xfrm>
            <a:off x="2587752" y="363474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 United States</a:t>
            </a:r>
            <a:endParaRPr lang="en-US" sz="1000" dirty="0"/>
          </a:p>
        </p:txBody>
      </p:sp>
      <p:sp>
        <p:nvSpPr>
          <p:cNvPr id="62" name="Shape 59"/>
          <p:cNvSpPr/>
          <p:nvPr/>
        </p:nvSpPr>
        <p:spPr>
          <a:xfrm>
            <a:off x="4937760" y="3662172"/>
            <a:ext cx="1371600" cy="192024"/>
          </a:xfrm>
          <a:prstGeom prst="roundRect">
            <a:avLst>
              <a:gd name="adj" fmla="val 52381"/>
            </a:avLst>
          </a:prstGeom>
          <a:solidFill>
            <a:srgbClr val="B83B2E"/>
          </a:solidFill>
          <a:ln w="9525">
            <a:solidFill>
              <a:srgbClr val="B83B2E"/>
            </a:solidFill>
            <a:prstDash val="solid"/>
          </a:ln>
        </p:spPr>
      </p:sp>
      <p:sp>
        <p:nvSpPr>
          <p:cNvPr id="63" name="Text 60"/>
          <p:cNvSpPr txBox="1"/>
          <p:nvPr/>
        </p:nvSpPr>
        <p:spPr>
          <a:xfrm>
            <a:off x="4937760" y="366217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SUBSCRIPTION</a:t>
            </a:r>
            <a:endParaRPr lang="en-US" sz="700" dirty="0"/>
          </a:p>
        </p:txBody>
      </p:sp>
      <p:sp>
        <p:nvSpPr>
          <p:cNvPr id="64" name="Text 61"/>
          <p:cNvSpPr txBox="1"/>
          <p:nvPr/>
        </p:nvSpPr>
        <p:spPr>
          <a:xfrm>
            <a:off x="6473952" y="363474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65" name="Shape 62"/>
          <p:cNvSpPr/>
          <p:nvPr/>
        </p:nvSpPr>
        <p:spPr>
          <a:xfrm>
            <a:off x="457200" y="3913632"/>
            <a:ext cx="8229600" cy="283464"/>
          </a:xfrm>
          <a:prstGeom prst="roundRect">
            <a:avLst>
              <a:gd name="adj" fmla="val 12903"/>
            </a:avLst>
          </a:prstGeom>
          <a:solidFill>
            <a:srgbClr val="F4F7F5"/>
          </a:solidFill>
          <a:ln/>
        </p:spPr>
      </p:sp>
      <p:sp>
        <p:nvSpPr>
          <p:cNvPr id="66" name="Text 63"/>
          <p:cNvSpPr txBox="1"/>
          <p:nvPr/>
        </p:nvSpPr>
        <p:spPr>
          <a:xfrm>
            <a:off x="530352" y="393192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Jev</a:t>
            </a:r>
            <a:endParaRPr lang="en-US" sz="1050" dirty="0"/>
          </a:p>
        </p:txBody>
      </p:sp>
      <p:sp>
        <p:nvSpPr>
          <p:cNvPr id="67" name="Text 64"/>
          <p:cNvSpPr txBox="1"/>
          <p:nvPr/>
        </p:nvSpPr>
        <p:spPr>
          <a:xfrm>
            <a:off x="2587752" y="393192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TypeSafe AI · United States</a:t>
            </a:r>
            <a:endParaRPr lang="en-US" sz="1000" dirty="0"/>
          </a:p>
        </p:txBody>
      </p:sp>
      <p:sp>
        <p:nvSpPr>
          <p:cNvPr id="68" name="Shape 65"/>
          <p:cNvSpPr/>
          <p:nvPr/>
        </p:nvSpPr>
        <p:spPr>
          <a:xfrm>
            <a:off x="4937760" y="3959352"/>
            <a:ext cx="1371600" cy="192024"/>
          </a:xfrm>
          <a:prstGeom prst="roundRect">
            <a:avLst>
              <a:gd name="adj" fmla="val 52381"/>
            </a:avLst>
          </a:prstGeom>
          <a:solidFill>
            <a:srgbClr val="C4621D"/>
          </a:solidFill>
          <a:ln w="9525">
            <a:solidFill>
              <a:srgbClr val="C4621D"/>
            </a:solidFill>
            <a:prstDash val="solid"/>
          </a:ln>
        </p:spPr>
      </p:sp>
      <p:sp>
        <p:nvSpPr>
          <p:cNvPr id="69" name="Text 66"/>
          <p:cNvSpPr txBox="1"/>
          <p:nvPr/>
        </p:nvSpPr>
        <p:spPr>
          <a:xfrm>
            <a:off x="4937760" y="395935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EARLY ACCESS</a:t>
            </a:r>
            <a:endParaRPr lang="en-US" sz="700" dirty="0"/>
          </a:p>
        </p:txBody>
      </p:sp>
      <p:sp>
        <p:nvSpPr>
          <p:cNvPr id="70" name="Text 67"/>
          <p:cNvSpPr txBox="1"/>
          <p:nvPr/>
        </p:nvSpPr>
        <p:spPr>
          <a:xfrm>
            <a:off x="6473952" y="393192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71" name="Text 68"/>
          <p:cNvSpPr txBox="1"/>
          <p:nvPr/>
        </p:nvSpPr>
        <p:spPr>
          <a:xfrm>
            <a:off x="530352" y="422910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 Chat</a:t>
            </a:r>
            <a:endParaRPr lang="en-US" sz="1050" dirty="0"/>
          </a:p>
        </p:txBody>
      </p:sp>
      <p:sp>
        <p:nvSpPr>
          <p:cNvPr id="72" name="Text 69"/>
          <p:cNvSpPr txBox="1"/>
          <p:nvPr/>
        </p:nvSpPr>
        <p:spPr>
          <a:xfrm>
            <a:off x="2587752" y="422910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Mistral AI · France (EU)</a:t>
            </a:r>
            <a:endParaRPr lang="en-US" sz="1000" dirty="0"/>
          </a:p>
        </p:txBody>
      </p:sp>
      <p:sp>
        <p:nvSpPr>
          <p:cNvPr id="73" name="Shape 70"/>
          <p:cNvSpPr/>
          <p:nvPr/>
        </p:nvSpPr>
        <p:spPr>
          <a:xfrm>
            <a:off x="4937760" y="4256532"/>
            <a:ext cx="1371600" cy="192024"/>
          </a:xfrm>
          <a:prstGeom prst="roundRect">
            <a:avLst>
              <a:gd name="adj" fmla="val 52381"/>
            </a:avLst>
          </a:prstGeom>
          <a:solidFill>
            <a:srgbClr val="0E7C86"/>
          </a:solidFill>
          <a:ln w="9525">
            <a:solidFill>
              <a:srgbClr val="0E7C86"/>
            </a:solidFill>
            <a:prstDash val="solid"/>
          </a:ln>
        </p:spPr>
      </p:sp>
      <p:sp>
        <p:nvSpPr>
          <p:cNvPr id="74" name="Text 71"/>
          <p:cNvSpPr txBox="1"/>
          <p:nvPr/>
        </p:nvSpPr>
        <p:spPr>
          <a:xfrm>
            <a:off x="4937760" y="425653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75" name="Text 72"/>
          <p:cNvSpPr txBox="1"/>
          <p:nvPr/>
        </p:nvSpPr>
        <p:spPr>
          <a:xfrm>
            <a:off x="6473952" y="422910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76" name="Text 73"/>
          <p:cNvSpPr txBox="1"/>
          <p:nvPr/>
        </p:nvSpPr>
        <p:spPr>
          <a:xfrm>
            <a:off x="457200" y="4590288"/>
            <a:ext cx="77724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Conditions verified in September 2026; they change often — confirm on the day of the lab.</a:t>
            </a:r>
            <a:endParaRPr lang="en-US" sz="8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Quick access: scan to open each tool</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98448"/>
            <a:ext cx="1554480" cy="1536192"/>
          </a:xfrm>
          <a:prstGeom prst="roundRect">
            <a:avLst>
              <a:gd name="adj" fmla="val 4762"/>
            </a:avLst>
          </a:prstGeom>
          <a:solidFill>
            <a:srgbClr val="FFFFFF"/>
          </a:solidFill>
          <a:ln w="12700">
            <a:solidFill>
              <a:srgbClr val="00A86A"/>
            </a:solidFill>
            <a:prstDash val="solid"/>
          </a:ln>
        </p:spPr>
      </p:sp>
      <p:pic>
        <p:nvPicPr>
          <p:cNvPr id="18" name="Image 0" descr="/home/claude/lab10en/qr/perplexity.png">
            <a:hlinkClick r:id="rId3"/>
          </p:cNvPr>
          <p:cNvPicPr>
            <a:picLocks noChangeAspect="1"/>
          </p:cNvPicPr>
          <p:nvPr/>
        </p:nvPicPr>
        <p:blipFill>
          <a:blip r:embed="rId4"/>
          <a:stretch>
            <a:fillRect/>
          </a:stretch>
        </p:blipFill>
        <p:spPr>
          <a:xfrm>
            <a:off x="768096" y="1371600"/>
            <a:ext cx="932688" cy="932688"/>
          </a:xfrm>
          <a:prstGeom prst="rect">
            <a:avLst/>
          </a:prstGeom>
        </p:spPr>
      </p:pic>
      <p:sp>
        <p:nvSpPr>
          <p:cNvPr id="19" name="Text 15"/>
          <p:cNvSpPr txBox="1"/>
          <p:nvPr/>
        </p:nvSpPr>
        <p:spPr>
          <a:xfrm>
            <a:off x="50292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Perplexity</a:t>
            </a:r>
            <a:endParaRPr lang="en-US" sz="1050" dirty="0"/>
          </a:p>
        </p:txBody>
      </p:sp>
      <p:sp>
        <p:nvSpPr>
          <p:cNvPr id="20" name="Text 16">
            <a:hlinkClick r:id="rId3"/>
          </p:cNvPr>
          <p:cNvSpPr txBox="1"/>
          <p:nvPr/>
        </p:nvSpPr>
        <p:spPr>
          <a:xfrm>
            <a:off x="50292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www.perplexity.ai</a:t>
            </a:r>
            <a:endParaRPr lang="en-US" sz="750" dirty="0"/>
          </a:p>
        </p:txBody>
      </p:sp>
      <p:sp>
        <p:nvSpPr>
          <p:cNvPr id="21" name="Shape 17"/>
          <p:cNvSpPr/>
          <p:nvPr/>
        </p:nvSpPr>
        <p:spPr>
          <a:xfrm>
            <a:off x="2125980" y="1298448"/>
            <a:ext cx="1554480" cy="1536192"/>
          </a:xfrm>
          <a:prstGeom prst="roundRect">
            <a:avLst>
              <a:gd name="adj" fmla="val 4762"/>
            </a:avLst>
          </a:prstGeom>
          <a:solidFill>
            <a:srgbClr val="FFFFFF"/>
          </a:solidFill>
          <a:ln w="12700">
            <a:solidFill>
              <a:srgbClr val="00704A"/>
            </a:solidFill>
            <a:prstDash val="solid"/>
          </a:ln>
        </p:spPr>
      </p:sp>
      <p:pic>
        <p:nvPicPr>
          <p:cNvPr id="22" name="Image 1" descr="/home/claude/lab10en/qr/leapspace.png">
            <a:hlinkClick r:id="rId5"/>
          </p:cNvPr>
          <p:cNvPicPr>
            <a:picLocks noChangeAspect="1"/>
          </p:cNvPicPr>
          <p:nvPr/>
        </p:nvPicPr>
        <p:blipFill>
          <a:blip r:embed="rId6"/>
          <a:stretch>
            <a:fillRect/>
          </a:stretch>
        </p:blipFill>
        <p:spPr>
          <a:xfrm>
            <a:off x="2436876" y="1371600"/>
            <a:ext cx="932688" cy="932688"/>
          </a:xfrm>
          <a:prstGeom prst="rect">
            <a:avLst/>
          </a:prstGeom>
        </p:spPr>
      </p:pic>
      <p:sp>
        <p:nvSpPr>
          <p:cNvPr id="23" name="Text 18"/>
          <p:cNvSpPr txBox="1"/>
          <p:nvPr/>
        </p:nvSpPr>
        <p:spPr>
          <a:xfrm>
            <a:off x="217170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LeapSpace</a:t>
            </a:r>
            <a:endParaRPr lang="en-US" sz="1050" dirty="0"/>
          </a:p>
        </p:txBody>
      </p:sp>
      <p:sp>
        <p:nvSpPr>
          <p:cNvPr id="24" name="Text 19">
            <a:hlinkClick r:id="rId5"/>
          </p:cNvPr>
          <p:cNvSpPr txBox="1"/>
          <p:nvPr/>
        </p:nvSpPr>
        <p:spPr>
          <a:xfrm>
            <a:off x="217170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elsevier.com/…/leapspace</a:t>
            </a:r>
            <a:endParaRPr lang="en-US" sz="750" dirty="0"/>
          </a:p>
        </p:txBody>
      </p:sp>
      <p:sp>
        <p:nvSpPr>
          <p:cNvPr id="25" name="Shape 20"/>
          <p:cNvSpPr/>
          <p:nvPr/>
        </p:nvSpPr>
        <p:spPr>
          <a:xfrm>
            <a:off x="3794760" y="1298448"/>
            <a:ext cx="1554480" cy="1536192"/>
          </a:xfrm>
          <a:prstGeom prst="roundRect">
            <a:avLst>
              <a:gd name="adj" fmla="val 4762"/>
            </a:avLst>
          </a:prstGeom>
          <a:solidFill>
            <a:srgbClr val="FFFFFF"/>
          </a:solidFill>
          <a:ln w="12700">
            <a:solidFill>
              <a:srgbClr val="0E7C86"/>
            </a:solidFill>
            <a:prstDash val="solid"/>
          </a:ln>
        </p:spPr>
      </p:sp>
      <p:pic>
        <p:nvPicPr>
          <p:cNvPr id="26" name="Image 2" descr="/home/claude/lab10en/qr/notebooklm.png">
            <a:hlinkClick r:id="rId7"/>
          </p:cNvPr>
          <p:cNvPicPr>
            <a:picLocks noChangeAspect="1"/>
          </p:cNvPicPr>
          <p:nvPr/>
        </p:nvPicPr>
        <p:blipFill>
          <a:blip r:embed="rId8"/>
          <a:stretch>
            <a:fillRect/>
          </a:stretch>
        </p:blipFill>
        <p:spPr>
          <a:xfrm>
            <a:off x="4105656" y="1371600"/>
            <a:ext cx="932688" cy="932688"/>
          </a:xfrm>
          <a:prstGeom prst="rect">
            <a:avLst/>
          </a:prstGeom>
        </p:spPr>
      </p:pic>
      <p:sp>
        <p:nvSpPr>
          <p:cNvPr id="27" name="Text 21"/>
          <p:cNvSpPr txBox="1"/>
          <p:nvPr/>
        </p:nvSpPr>
        <p:spPr>
          <a:xfrm>
            <a:off x="384048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NotebookLM</a:t>
            </a:r>
            <a:endParaRPr lang="en-US" sz="1050" dirty="0"/>
          </a:p>
        </p:txBody>
      </p:sp>
      <p:sp>
        <p:nvSpPr>
          <p:cNvPr id="28" name="Text 22">
            <a:hlinkClick r:id="rId7"/>
          </p:cNvPr>
          <p:cNvSpPr txBox="1"/>
          <p:nvPr/>
        </p:nvSpPr>
        <p:spPr>
          <a:xfrm>
            <a:off x="384048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notebooklm.google.com</a:t>
            </a:r>
            <a:endParaRPr lang="en-US" sz="750" dirty="0"/>
          </a:p>
        </p:txBody>
      </p:sp>
      <p:sp>
        <p:nvSpPr>
          <p:cNvPr id="29" name="Shape 23"/>
          <p:cNvSpPr/>
          <p:nvPr/>
        </p:nvSpPr>
        <p:spPr>
          <a:xfrm>
            <a:off x="5463540" y="1298448"/>
            <a:ext cx="1554480" cy="1536192"/>
          </a:xfrm>
          <a:prstGeom prst="roundRect">
            <a:avLst>
              <a:gd name="adj" fmla="val 4762"/>
            </a:avLst>
          </a:prstGeom>
          <a:solidFill>
            <a:srgbClr val="FFFFFF"/>
          </a:solidFill>
          <a:ln w="12700">
            <a:solidFill>
              <a:srgbClr val="D49A00"/>
            </a:solidFill>
            <a:prstDash val="solid"/>
          </a:ln>
        </p:spPr>
      </p:sp>
      <p:pic>
        <p:nvPicPr>
          <p:cNvPr id="30" name="Image 3" descr="/home/claude/lab10en/qr/datacommons.png">
            <a:hlinkClick r:id="rId9"/>
          </p:cNvPr>
          <p:cNvPicPr>
            <a:picLocks noChangeAspect="1"/>
          </p:cNvPicPr>
          <p:nvPr/>
        </p:nvPicPr>
        <p:blipFill>
          <a:blip r:embed="rId10"/>
          <a:stretch>
            <a:fillRect/>
          </a:stretch>
        </p:blipFill>
        <p:spPr>
          <a:xfrm>
            <a:off x="5774436" y="1371600"/>
            <a:ext cx="932688" cy="932688"/>
          </a:xfrm>
          <a:prstGeom prst="rect">
            <a:avLst/>
          </a:prstGeom>
        </p:spPr>
      </p:pic>
      <p:sp>
        <p:nvSpPr>
          <p:cNvPr id="31" name="Text 24"/>
          <p:cNvSpPr txBox="1"/>
          <p:nvPr/>
        </p:nvSpPr>
        <p:spPr>
          <a:xfrm>
            <a:off x="550926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UN Data Commons</a:t>
            </a:r>
            <a:endParaRPr lang="en-US" sz="1050" dirty="0"/>
          </a:p>
        </p:txBody>
      </p:sp>
      <p:sp>
        <p:nvSpPr>
          <p:cNvPr id="32" name="Text 25">
            <a:hlinkClick r:id="rId9"/>
          </p:cNvPr>
          <p:cNvSpPr txBox="1"/>
          <p:nvPr/>
        </p:nvSpPr>
        <p:spPr>
          <a:xfrm>
            <a:off x="550926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data.un.org</a:t>
            </a:r>
            <a:endParaRPr lang="en-US" sz="750" dirty="0"/>
          </a:p>
        </p:txBody>
      </p:sp>
      <p:sp>
        <p:nvSpPr>
          <p:cNvPr id="33" name="Shape 26"/>
          <p:cNvSpPr/>
          <p:nvPr/>
        </p:nvSpPr>
        <p:spPr>
          <a:xfrm>
            <a:off x="7132320" y="1298448"/>
            <a:ext cx="1554480" cy="1536192"/>
          </a:xfrm>
          <a:prstGeom prst="roundRect">
            <a:avLst>
              <a:gd name="adj" fmla="val 4762"/>
            </a:avLst>
          </a:prstGeom>
          <a:solidFill>
            <a:srgbClr val="FFFFFF"/>
          </a:solidFill>
          <a:ln w="12700">
            <a:solidFill>
              <a:srgbClr val="C4621D"/>
            </a:solidFill>
            <a:prstDash val="solid"/>
          </a:ln>
        </p:spPr>
      </p:sp>
      <p:pic>
        <p:nvPicPr>
          <p:cNvPr id="34" name="Image 4" descr="/home/claude/lab10en/qr/glm.png">
            <a:hlinkClick r:id="rId11"/>
          </p:cNvPr>
          <p:cNvPicPr>
            <a:picLocks noChangeAspect="1"/>
          </p:cNvPicPr>
          <p:nvPr/>
        </p:nvPicPr>
        <p:blipFill>
          <a:blip r:embed="rId12"/>
          <a:stretch>
            <a:fillRect/>
          </a:stretch>
        </p:blipFill>
        <p:spPr>
          <a:xfrm>
            <a:off x="7443216" y="1371600"/>
            <a:ext cx="932688" cy="932688"/>
          </a:xfrm>
          <a:prstGeom prst="rect">
            <a:avLst/>
          </a:prstGeom>
        </p:spPr>
      </p:pic>
      <p:sp>
        <p:nvSpPr>
          <p:cNvPr id="35" name="Text 27"/>
          <p:cNvSpPr txBox="1"/>
          <p:nvPr/>
        </p:nvSpPr>
        <p:spPr>
          <a:xfrm>
            <a:off x="717804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GLM · Z.ai</a:t>
            </a:r>
            <a:endParaRPr lang="en-US" sz="1050" dirty="0"/>
          </a:p>
        </p:txBody>
      </p:sp>
      <p:sp>
        <p:nvSpPr>
          <p:cNvPr id="36" name="Text 28">
            <a:hlinkClick r:id="rId11"/>
          </p:cNvPr>
          <p:cNvSpPr txBox="1"/>
          <p:nvPr/>
        </p:nvSpPr>
        <p:spPr>
          <a:xfrm>
            <a:off x="717804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chat.z.ai</a:t>
            </a:r>
            <a:endParaRPr lang="en-US" sz="750" dirty="0"/>
          </a:p>
        </p:txBody>
      </p:sp>
      <p:sp>
        <p:nvSpPr>
          <p:cNvPr id="37" name="Shape 29"/>
          <p:cNvSpPr/>
          <p:nvPr/>
        </p:nvSpPr>
        <p:spPr>
          <a:xfrm>
            <a:off x="457200" y="2944368"/>
            <a:ext cx="1554480" cy="1536192"/>
          </a:xfrm>
          <a:prstGeom prst="roundRect">
            <a:avLst>
              <a:gd name="adj" fmla="val 4762"/>
            </a:avLst>
          </a:prstGeom>
          <a:solidFill>
            <a:srgbClr val="FFFFFF"/>
          </a:solidFill>
          <a:ln w="12700">
            <a:solidFill>
              <a:srgbClr val="B83B2E"/>
            </a:solidFill>
            <a:prstDash val="solid"/>
          </a:ln>
        </p:spPr>
      </p:sp>
      <p:pic>
        <p:nvPicPr>
          <p:cNvPr id="38" name="Image 5" descr="/home/claude/lab10en/qr/kimi.png">
            <a:hlinkClick r:id="rId13"/>
          </p:cNvPr>
          <p:cNvPicPr>
            <a:picLocks noChangeAspect="1"/>
          </p:cNvPicPr>
          <p:nvPr/>
        </p:nvPicPr>
        <p:blipFill>
          <a:blip r:embed="rId14"/>
          <a:stretch>
            <a:fillRect/>
          </a:stretch>
        </p:blipFill>
        <p:spPr>
          <a:xfrm>
            <a:off x="768096" y="3017520"/>
            <a:ext cx="932688" cy="932688"/>
          </a:xfrm>
          <a:prstGeom prst="rect">
            <a:avLst/>
          </a:prstGeom>
        </p:spPr>
      </p:pic>
      <p:sp>
        <p:nvSpPr>
          <p:cNvPr id="39" name="Text 30"/>
          <p:cNvSpPr txBox="1"/>
          <p:nvPr/>
        </p:nvSpPr>
        <p:spPr>
          <a:xfrm>
            <a:off x="50292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Kimi</a:t>
            </a:r>
            <a:endParaRPr lang="en-US" sz="1050" dirty="0"/>
          </a:p>
        </p:txBody>
      </p:sp>
      <p:sp>
        <p:nvSpPr>
          <p:cNvPr id="40" name="Text 31">
            <a:hlinkClick r:id="rId13"/>
          </p:cNvPr>
          <p:cNvSpPr txBox="1"/>
          <p:nvPr/>
        </p:nvSpPr>
        <p:spPr>
          <a:xfrm>
            <a:off x="50292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www.kimi.ai/</a:t>
            </a:r>
            <a:endParaRPr lang="en-US" sz="750" dirty="0"/>
          </a:p>
        </p:txBody>
      </p:sp>
      <p:sp>
        <p:nvSpPr>
          <p:cNvPr id="41" name="Shape 32"/>
          <p:cNvSpPr/>
          <p:nvPr/>
        </p:nvSpPr>
        <p:spPr>
          <a:xfrm>
            <a:off x="2125980" y="2944368"/>
            <a:ext cx="1554480" cy="1536192"/>
          </a:xfrm>
          <a:prstGeom prst="roundRect">
            <a:avLst>
              <a:gd name="adj" fmla="val 4762"/>
            </a:avLst>
          </a:prstGeom>
          <a:solidFill>
            <a:srgbClr val="FFFFFF"/>
          </a:solidFill>
          <a:ln w="12700">
            <a:solidFill>
              <a:srgbClr val="00A86A"/>
            </a:solidFill>
            <a:prstDash val="solid"/>
          </a:ln>
        </p:spPr>
      </p:sp>
      <p:pic>
        <p:nvPicPr>
          <p:cNvPr id="42" name="Image 6" descr="/home/claude/lab10en/qr/nanobanana.png">
            <a:hlinkClick r:id="rId15"/>
          </p:cNvPr>
          <p:cNvPicPr>
            <a:picLocks noChangeAspect="1"/>
          </p:cNvPicPr>
          <p:nvPr/>
        </p:nvPicPr>
        <p:blipFill>
          <a:blip r:embed="rId16"/>
          <a:stretch>
            <a:fillRect/>
          </a:stretch>
        </p:blipFill>
        <p:spPr>
          <a:xfrm>
            <a:off x="2436876" y="3017520"/>
            <a:ext cx="932688" cy="932688"/>
          </a:xfrm>
          <a:prstGeom prst="rect">
            <a:avLst/>
          </a:prstGeom>
        </p:spPr>
      </p:pic>
      <p:sp>
        <p:nvSpPr>
          <p:cNvPr id="43" name="Text 33"/>
          <p:cNvSpPr txBox="1"/>
          <p:nvPr/>
        </p:nvSpPr>
        <p:spPr>
          <a:xfrm>
            <a:off x="217170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Nano Banana (Gemini)</a:t>
            </a:r>
            <a:endParaRPr lang="en-US" sz="1050" dirty="0"/>
          </a:p>
        </p:txBody>
      </p:sp>
      <p:sp>
        <p:nvSpPr>
          <p:cNvPr id="44" name="Text 34">
            <a:hlinkClick r:id="rId15"/>
          </p:cNvPr>
          <p:cNvSpPr txBox="1"/>
          <p:nvPr/>
        </p:nvSpPr>
        <p:spPr>
          <a:xfrm>
            <a:off x="217170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gemini.google.com</a:t>
            </a:r>
            <a:endParaRPr lang="en-US" sz="750" dirty="0"/>
          </a:p>
        </p:txBody>
      </p:sp>
      <p:sp>
        <p:nvSpPr>
          <p:cNvPr id="45" name="Shape 35"/>
          <p:cNvSpPr/>
          <p:nvPr/>
        </p:nvSpPr>
        <p:spPr>
          <a:xfrm>
            <a:off x="3794760" y="2944368"/>
            <a:ext cx="1554480" cy="1536192"/>
          </a:xfrm>
          <a:prstGeom prst="roundRect">
            <a:avLst>
              <a:gd name="adj" fmla="val 4762"/>
            </a:avLst>
          </a:prstGeom>
          <a:solidFill>
            <a:srgbClr val="FFFFFF"/>
          </a:solidFill>
          <a:ln w="12700">
            <a:solidFill>
              <a:srgbClr val="00704A"/>
            </a:solidFill>
            <a:prstDash val="solid"/>
          </a:ln>
        </p:spPr>
      </p:sp>
      <p:pic>
        <p:nvPicPr>
          <p:cNvPr id="46" name="Image 7" descr="/home/claude/lab10en/qr/flow.png">
            <a:hlinkClick r:id="rId17"/>
          </p:cNvPr>
          <p:cNvPicPr>
            <a:picLocks noChangeAspect="1"/>
          </p:cNvPicPr>
          <p:nvPr/>
        </p:nvPicPr>
        <p:blipFill>
          <a:blip r:embed="rId18"/>
          <a:stretch>
            <a:fillRect/>
          </a:stretch>
        </p:blipFill>
        <p:spPr>
          <a:xfrm>
            <a:off x="4105656" y="3017520"/>
            <a:ext cx="932688" cy="932688"/>
          </a:xfrm>
          <a:prstGeom prst="rect">
            <a:avLst/>
          </a:prstGeom>
        </p:spPr>
      </p:pic>
      <p:sp>
        <p:nvSpPr>
          <p:cNvPr id="47" name="Text 36"/>
          <p:cNvSpPr txBox="1"/>
          <p:nvPr/>
        </p:nvSpPr>
        <p:spPr>
          <a:xfrm>
            <a:off x="384048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Google Flow</a:t>
            </a:r>
            <a:endParaRPr lang="en-US" sz="1050" dirty="0"/>
          </a:p>
        </p:txBody>
      </p:sp>
      <p:sp>
        <p:nvSpPr>
          <p:cNvPr id="48" name="Text 37">
            <a:hlinkClick r:id="rId17"/>
          </p:cNvPr>
          <p:cNvSpPr txBox="1"/>
          <p:nvPr/>
        </p:nvSpPr>
        <p:spPr>
          <a:xfrm>
            <a:off x="384048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labs.google/fx/tools/flow</a:t>
            </a:r>
            <a:endParaRPr lang="en-US" sz="750" dirty="0"/>
          </a:p>
        </p:txBody>
      </p:sp>
      <p:sp>
        <p:nvSpPr>
          <p:cNvPr id="49" name="Shape 38"/>
          <p:cNvSpPr/>
          <p:nvPr/>
        </p:nvSpPr>
        <p:spPr>
          <a:xfrm>
            <a:off x="5463540" y="2944368"/>
            <a:ext cx="1554480" cy="1536192"/>
          </a:xfrm>
          <a:prstGeom prst="roundRect">
            <a:avLst>
              <a:gd name="adj" fmla="val 4762"/>
            </a:avLst>
          </a:prstGeom>
          <a:solidFill>
            <a:srgbClr val="FFFFFF"/>
          </a:solidFill>
          <a:ln w="12700">
            <a:solidFill>
              <a:srgbClr val="0E7C86"/>
            </a:solidFill>
            <a:prstDash val="solid"/>
          </a:ln>
        </p:spPr>
      </p:sp>
      <p:pic>
        <p:nvPicPr>
          <p:cNvPr id="50" name="Image 8" descr="/home/claude/lab10en/qr/jev.png">
            <a:hlinkClick r:id="rId19"/>
          </p:cNvPr>
          <p:cNvPicPr>
            <a:picLocks noChangeAspect="1"/>
          </p:cNvPicPr>
          <p:nvPr/>
        </p:nvPicPr>
        <p:blipFill>
          <a:blip r:embed="rId20"/>
          <a:stretch>
            <a:fillRect/>
          </a:stretch>
        </p:blipFill>
        <p:spPr>
          <a:xfrm>
            <a:off x="5774436" y="3017520"/>
            <a:ext cx="932688" cy="932688"/>
          </a:xfrm>
          <a:prstGeom prst="rect">
            <a:avLst/>
          </a:prstGeom>
        </p:spPr>
      </p:pic>
      <p:sp>
        <p:nvSpPr>
          <p:cNvPr id="51" name="Text 39"/>
          <p:cNvSpPr txBox="1"/>
          <p:nvPr/>
        </p:nvSpPr>
        <p:spPr>
          <a:xfrm>
            <a:off x="550926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Jev (TypeSafe)</a:t>
            </a:r>
            <a:endParaRPr lang="en-US" sz="1050" dirty="0"/>
          </a:p>
        </p:txBody>
      </p:sp>
      <p:sp>
        <p:nvSpPr>
          <p:cNvPr id="52" name="Text 40">
            <a:hlinkClick r:id="rId19"/>
          </p:cNvPr>
          <p:cNvSpPr txBox="1"/>
          <p:nvPr/>
        </p:nvSpPr>
        <p:spPr>
          <a:xfrm>
            <a:off x="550926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console.typesafe.ai</a:t>
            </a:r>
            <a:endParaRPr lang="en-US" sz="750" dirty="0"/>
          </a:p>
        </p:txBody>
      </p:sp>
      <p:sp>
        <p:nvSpPr>
          <p:cNvPr id="53" name="Shape 41"/>
          <p:cNvSpPr/>
          <p:nvPr/>
        </p:nvSpPr>
        <p:spPr>
          <a:xfrm>
            <a:off x="7132320" y="2944368"/>
            <a:ext cx="1554480" cy="1536192"/>
          </a:xfrm>
          <a:prstGeom prst="roundRect">
            <a:avLst>
              <a:gd name="adj" fmla="val 4762"/>
            </a:avLst>
          </a:prstGeom>
          <a:solidFill>
            <a:srgbClr val="FFFFFF"/>
          </a:solidFill>
          <a:ln w="12700">
            <a:solidFill>
              <a:srgbClr val="D49A00"/>
            </a:solidFill>
            <a:prstDash val="solid"/>
          </a:ln>
        </p:spPr>
      </p:sp>
      <p:pic>
        <p:nvPicPr>
          <p:cNvPr id="54" name="Image 9" descr="/home/claude/lab10en/qr/lechat.png">
            <a:hlinkClick r:id="rId21"/>
          </p:cNvPr>
          <p:cNvPicPr>
            <a:picLocks noChangeAspect="1"/>
          </p:cNvPicPr>
          <p:nvPr/>
        </p:nvPicPr>
        <p:blipFill>
          <a:blip r:embed="rId22"/>
          <a:stretch>
            <a:fillRect/>
          </a:stretch>
        </p:blipFill>
        <p:spPr>
          <a:xfrm>
            <a:off x="7443216" y="3017520"/>
            <a:ext cx="932688" cy="932688"/>
          </a:xfrm>
          <a:prstGeom prst="rect">
            <a:avLst/>
          </a:prstGeom>
        </p:spPr>
      </p:pic>
      <p:sp>
        <p:nvSpPr>
          <p:cNvPr id="55" name="Text 42"/>
          <p:cNvSpPr txBox="1"/>
          <p:nvPr/>
        </p:nvSpPr>
        <p:spPr>
          <a:xfrm>
            <a:off x="717804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Le Chat (Mistral)</a:t>
            </a:r>
            <a:endParaRPr lang="en-US" sz="1050" dirty="0"/>
          </a:p>
        </p:txBody>
      </p:sp>
      <p:sp>
        <p:nvSpPr>
          <p:cNvPr id="56" name="Text 43">
            <a:hlinkClick r:id="rId21"/>
          </p:cNvPr>
          <p:cNvSpPr txBox="1"/>
          <p:nvPr/>
        </p:nvSpPr>
        <p:spPr>
          <a:xfrm>
            <a:off x="717804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21">
                  <a:extLst>
                    <a:ext uri="{A12FA001-AC4F-418D-AE19-62706E023703}">
                      <ahyp:hlinkClr xmlns:ahyp="http://schemas.microsoft.com/office/drawing/2018/hyperlinkcolor" val="tx"/>
                    </a:ext>
                  </a:extLst>
                </a:hlinkClick>
              </a:rPr>
              <a:t>chat.mistral.ai</a:t>
            </a:r>
            <a:endParaRPr lang="en-US" sz="7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One common test method for the ten tools</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1517904" cy="1371600"/>
          </a:xfrm>
          <a:prstGeom prst="roundRect">
            <a:avLst>
              <a:gd name="adj" fmla="val 5333"/>
            </a:avLst>
          </a:prstGeom>
          <a:solidFill>
            <a:srgbClr val="F4F7F5"/>
          </a:solidFill>
          <a:ln w="9525">
            <a:solidFill>
              <a:srgbClr val="D5DED9"/>
            </a:solidFill>
            <a:prstDash val="solid"/>
          </a:ln>
        </p:spPr>
      </p:sp>
      <p:sp>
        <p:nvSpPr>
          <p:cNvPr id="18" name="Text 15"/>
          <p:cNvSpPr txBox="1"/>
          <p:nvPr/>
        </p:nvSpPr>
        <p:spPr>
          <a:xfrm>
            <a:off x="585216" y="1463040"/>
            <a:ext cx="731520" cy="411480"/>
          </a:xfrm>
          <a:prstGeom prst="rect">
            <a:avLst/>
          </a:prstGeom>
          <a:noFill/>
          <a:ln/>
        </p:spPr>
        <p:txBody>
          <a:bodyPr wrap="square" lIns="0" tIns="0" rIns="0" bIns="0" rtlCol="0" anchor="t"/>
          <a:lstStyle/>
          <a:p>
            <a:pPr marL="0" indent="0">
              <a:buNone/>
            </a:pPr>
            <a:r>
              <a:rPr lang="en-US" sz="2400" b="1" dirty="0">
                <a:solidFill>
                  <a:srgbClr val="00A86A"/>
                </a:solidFill>
                <a:latin typeface="Calibri" pitchFamily="34" charset="0"/>
                <a:ea typeface="Calibri" pitchFamily="34" charset="-122"/>
                <a:cs typeface="Calibri" pitchFamily="34" charset="-120"/>
              </a:rPr>
              <a:t>01</a:t>
            </a:r>
            <a:endParaRPr lang="en-US" sz="2400" dirty="0"/>
          </a:p>
        </p:txBody>
      </p:sp>
      <p:sp>
        <p:nvSpPr>
          <p:cNvPr id="19" name="Shape 16"/>
          <p:cNvSpPr/>
          <p:nvPr/>
        </p:nvSpPr>
        <p:spPr>
          <a:xfrm>
            <a:off x="1444752" y="1481328"/>
            <a:ext cx="402336" cy="402336"/>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1545336" y="1581912"/>
            <a:ext cx="201168" cy="201168"/>
          </a:xfrm>
          <a:prstGeom prst="rect">
            <a:avLst/>
          </a:prstGeom>
        </p:spPr>
      </p:pic>
      <p:sp>
        <p:nvSpPr>
          <p:cNvPr id="21" name="Text 17"/>
          <p:cNvSpPr txBox="1"/>
          <p:nvPr/>
        </p:nvSpPr>
        <p:spPr>
          <a:xfrm>
            <a:off x="585216"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Use case</a:t>
            </a:r>
            <a:endParaRPr lang="en-US" sz="1300" dirty="0"/>
          </a:p>
        </p:txBody>
      </p:sp>
      <p:sp>
        <p:nvSpPr>
          <p:cNvPr id="22" name="Text 18"/>
          <p:cNvSpPr txBox="1"/>
          <p:nvPr/>
        </p:nvSpPr>
        <p:spPr>
          <a:xfrm>
            <a:off x="585216"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real task of the office</a:t>
            </a:r>
            <a:endParaRPr lang="en-US" sz="1000" dirty="0"/>
          </a:p>
        </p:txBody>
      </p:sp>
      <p:pic>
        <p:nvPicPr>
          <p:cNvPr id="23" name="Image 1" descr="preencoded.png"/>
          <p:cNvPicPr>
            <a:picLocks noChangeAspect="1"/>
          </p:cNvPicPr>
          <p:nvPr/>
        </p:nvPicPr>
        <p:blipFill>
          <a:blip r:embed="rId4"/>
          <a:stretch>
            <a:fillRect/>
          </a:stretch>
        </p:blipFill>
        <p:spPr>
          <a:xfrm>
            <a:off x="1993392" y="2057400"/>
            <a:ext cx="118872" cy="182880"/>
          </a:xfrm>
          <a:prstGeom prst="rect">
            <a:avLst/>
          </a:prstGeom>
        </p:spPr>
      </p:pic>
      <p:sp>
        <p:nvSpPr>
          <p:cNvPr id="24" name="Shape 19"/>
          <p:cNvSpPr/>
          <p:nvPr/>
        </p:nvSpPr>
        <p:spPr>
          <a:xfrm>
            <a:off x="2135124" y="1371600"/>
            <a:ext cx="1517904" cy="1371600"/>
          </a:xfrm>
          <a:prstGeom prst="roundRect">
            <a:avLst>
              <a:gd name="adj" fmla="val 5333"/>
            </a:avLst>
          </a:prstGeom>
          <a:solidFill>
            <a:srgbClr val="F4F7F5"/>
          </a:solidFill>
          <a:ln w="9525">
            <a:solidFill>
              <a:srgbClr val="D5DED9"/>
            </a:solidFill>
            <a:prstDash val="solid"/>
          </a:ln>
        </p:spPr>
      </p:sp>
      <p:sp>
        <p:nvSpPr>
          <p:cNvPr id="25" name="Text 20"/>
          <p:cNvSpPr txBox="1"/>
          <p:nvPr/>
        </p:nvSpPr>
        <p:spPr>
          <a:xfrm>
            <a:off x="2263140" y="1463040"/>
            <a:ext cx="731520" cy="411480"/>
          </a:xfrm>
          <a:prstGeom prst="rect">
            <a:avLst/>
          </a:prstGeom>
          <a:noFill/>
          <a:ln/>
        </p:spPr>
        <p:txBody>
          <a:bodyPr wrap="square" lIns="0" tIns="0" rIns="0" bIns="0" rtlCol="0" anchor="t"/>
          <a:lstStyle/>
          <a:p>
            <a:pPr marL="0" indent="0">
              <a:buNone/>
            </a:pPr>
            <a:r>
              <a:rPr lang="en-US" sz="2400" b="1" dirty="0">
                <a:solidFill>
                  <a:srgbClr val="00704A"/>
                </a:solidFill>
                <a:latin typeface="Calibri" pitchFamily="34" charset="0"/>
                <a:ea typeface="Calibri" pitchFamily="34" charset="-122"/>
                <a:cs typeface="Calibri" pitchFamily="34" charset="-120"/>
              </a:rPr>
              <a:t>02</a:t>
            </a:r>
            <a:endParaRPr lang="en-US" sz="2400" dirty="0"/>
          </a:p>
        </p:txBody>
      </p:sp>
      <p:sp>
        <p:nvSpPr>
          <p:cNvPr id="26" name="Shape 21"/>
          <p:cNvSpPr/>
          <p:nvPr/>
        </p:nvSpPr>
        <p:spPr>
          <a:xfrm>
            <a:off x="3122676" y="1481328"/>
            <a:ext cx="402336" cy="402336"/>
          </a:xfrm>
          <a:prstGeom prst="ellipse">
            <a:avLst/>
          </a:prstGeom>
          <a:solidFill>
            <a:srgbClr val="00704A">
              <a:alpha val="22000"/>
            </a:srgbClr>
          </a:solidFill>
          <a:ln/>
        </p:spPr>
      </p:sp>
      <p:pic>
        <p:nvPicPr>
          <p:cNvPr id="27" name="Image 2" descr="preencoded.png"/>
          <p:cNvPicPr>
            <a:picLocks noChangeAspect="1"/>
          </p:cNvPicPr>
          <p:nvPr/>
        </p:nvPicPr>
        <p:blipFill>
          <a:blip r:embed="rId5"/>
          <a:stretch>
            <a:fillRect/>
          </a:stretch>
        </p:blipFill>
        <p:spPr>
          <a:xfrm>
            <a:off x="3223260" y="1581912"/>
            <a:ext cx="201168" cy="201168"/>
          </a:xfrm>
          <a:prstGeom prst="rect">
            <a:avLst/>
          </a:prstGeom>
        </p:spPr>
      </p:pic>
      <p:sp>
        <p:nvSpPr>
          <p:cNvPr id="28" name="Text 22"/>
          <p:cNvSpPr txBox="1"/>
          <p:nvPr/>
        </p:nvSpPr>
        <p:spPr>
          <a:xfrm>
            <a:off x="2263140"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Step by step</a:t>
            </a:r>
            <a:endParaRPr lang="en-US" sz="1300" dirty="0"/>
          </a:p>
        </p:txBody>
      </p:sp>
      <p:sp>
        <p:nvSpPr>
          <p:cNvPr id="29" name="Text 23"/>
          <p:cNvSpPr txBox="1"/>
          <p:nvPr/>
        </p:nvSpPr>
        <p:spPr>
          <a:xfrm>
            <a:off x="2263140"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Four steps inside the tool</a:t>
            </a:r>
            <a:endParaRPr lang="en-US" sz="1000" dirty="0"/>
          </a:p>
        </p:txBody>
      </p:sp>
      <p:pic>
        <p:nvPicPr>
          <p:cNvPr id="30" name="Image 3" descr="preencoded.png"/>
          <p:cNvPicPr>
            <a:picLocks noChangeAspect="1"/>
          </p:cNvPicPr>
          <p:nvPr/>
        </p:nvPicPr>
        <p:blipFill>
          <a:blip r:embed="rId4"/>
          <a:stretch>
            <a:fillRect/>
          </a:stretch>
        </p:blipFill>
        <p:spPr>
          <a:xfrm>
            <a:off x="3671316" y="2057400"/>
            <a:ext cx="118872" cy="182880"/>
          </a:xfrm>
          <a:prstGeom prst="rect">
            <a:avLst/>
          </a:prstGeom>
        </p:spPr>
      </p:pic>
      <p:sp>
        <p:nvSpPr>
          <p:cNvPr id="31" name="Shape 24"/>
          <p:cNvSpPr/>
          <p:nvPr/>
        </p:nvSpPr>
        <p:spPr>
          <a:xfrm>
            <a:off x="3813048" y="1371600"/>
            <a:ext cx="1517904" cy="1371600"/>
          </a:xfrm>
          <a:prstGeom prst="roundRect">
            <a:avLst>
              <a:gd name="adj" fmla="val 5333"/>
            </a:avLst>
          </a:prstGeom>
          <a:solidFill>
            <a:srgbClr val="F4F7F5"/>
          </a:solidFill>
          <a:ln w="9525">
            <a:solidFill>
              <a:srgbClr val="D5DED9"/>
            </a:solidFill>
            <a:prstDash val="solid"/>
          </a:ln>
        </p:spPr>
      </p:sp>
      <p:sp>
        <p:nvSpPr>
          <p:cNvPr id="32" name="Text 25"/>
          <p:cNvSpPr txBox="1"/>
          <p:nvPr/>
        </p:nvSpPr>
        <p:spPr>
          <a:xfrm>
            <a:off x="3941064" y="1463040"/>
            <a:ext cx="731520" cy="411480"/>
          </a:xfrm>
          <a:prstGeom prst="rect">
            <a:avLst/>
          </a:prstGeom>
          <a:noFill/>
          <a:ln/>
        </p:spPr>
        <p:txBody>
          <a:bodyPr wrap="square" lIns="0" tIns="0" rIns="0" bIns="0" rtlCol="0" anchor="t"/>
          <a:lstStyle/>
          <a:p>
            <a:pPr marL="0" indent="0">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33" name="Shape 26"/>
          <p:cNvSpPr/>
          <p:nvPr/>
        </p:nvSpPr>
        <p:spPr>
          <a:xfrm>
            <a:off x="4800600" y="1481328"/>
            <a:ext cx="402336" cy="402336"/>
          </a:xfrm>
          <a:prstGeom prst="ellipse">
            <a:avLst/>
          </a:prstGeom>
          <a:solidFill>
            <a:srgbClr val="0E7C86">
              <a:alpha val="22000"/>
            </a:srgbClr>
          </a:solidFill>
          <a:ln/>
        </p:spPr>
      </p:sp>
      <p:pic>
        <p:nvPicPr>
          <p:cNvPr id="34" name="Image 4" descr="preencoded.png"/>
          <p:cNvPicPr>
            <a:picLocks noChangeAspect="1"/>
          </p:cNvPicPr>
          <p:nvPr/>
        </p:nvPicPr>
        <p:blipFill>
          <a:blip r:embed="rId6"/>
          <a:stretch>
            <a:fillRect/>
          </a:stretch>
        </p:blipFill>
        <p:spPr>
          <a:xfrm>
            <a:off x="4901184" y="1581912"/>
            <a:ext cx="201168" cy="201168"/>
          </a:xfrm>
          <a:prstGeom prst="rect">
            <a:avLst/>
          </a:prstGeom>
        </p:spPr>
      </p:pic>
      <p:sp>
        <p:nvSpPr>
          <p:cNvPr id="35" name="Text 27"/>
          <p:cNvSpPr txBox="1"/>
          <p:nvPr/>
        </p:nvSpPr>
        <p:spPr>
          <a:xfrm>
            <a:off x="3941064"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Prompt</a:t>
            </a:r>
            <a:endParaRPr lang="en-US" sz="1300" dirty="0"/>
          </a:p>
        </p:txBody>
      </p:sp>
      <p:sp>
        <p:nvSpPr>
          <p:cNvPr id="36" name="Text 28"/>
          <p:cNvSpPr txBox="1"/>
          <p:nvPr/>
        </p:nvSpPr>
        <p:spPr>
          <a:xfrm>
            <a:off x="3941064"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Ready to copy and adapt</a:t>
            </a:r>
            <a:endParaRPr lang="en-US" sz="1000" dirty="0"/>
          </a:p>
        </p:txBody>
      </p:sp>
      <p:pic>
        <p:nvPicPr>
          <p:cNvPr id="37" name="Image 5" descr="preencoded.png"/>
          <p:cNvPicPr>
            <a:picLocks noChangeAspect="1"/>
          </p:cNvPicPr>
          <p:nvPr/>
        </p:nvPicPr>
        <p:blipFill>
          <a:blip r:embed="rId4"/>
          <a:stretch>
            <a:fillRect/>
          </a:stretch>
        </p:blipFill>
        <p:spPr>
          <a:xfrm>
            <a:off x="5349240" y="2057400"/>
            <a:ext cx="118872" cy="182880"/>
          </a:xfrm>
          <a:prstGeom prst="rect">
            <a:avLst/>
          </a:prstGeom>
        </p:spPr>
      </p:pic>
      <p:sp>
        <p:nvSpPr>
          <p:cNvPr id="38" name="Shape 29"/>
          <p:cNvSpPr/>
          <p:nvPr/>
        </p:nvSpPr>
        <p:spPr>
          <a:xfrm>
            <a:off x="5490972" y="1371600"/>
            <a:ext cx="1517904" cy="1371600"/>
          </a:xfrm>
          <a:prstGeom prst="roundRect">
            <a:avLst>
              <a:gd name="adj" fmla="val 5333"/>
            </a:avLst>
          </a:prstGeom>
          <a:solidFill>
            <a:srgbClr val="F4F7F5"/>
          </a:solidFill>
          <a:ln w="9525">
            <a:solidFill>
              <a:srgbClr val="D5DED9"/>
            </a:solidFill>
            <a:prstDash val="solid"/>
          </a:ln>
        </p:spPr>
      </p:sp>
      <p:sp>
        <p:nvSpPr>
          <p:cNvPr id="39" name="Text 30"/>
          <p:cNvSpPr txBox="1"/>
          <p:nvPr/>
        </p:nvSpPr>
        <p:spPr>
          <a:xfrm>
            <a:off x="5618988" y="1463040"/>
            <a:ext cx="731520" cy="411480"/>
          </a:xfrm>
          <a:prstGeom prst="rect">
            <a:avLst/>
          </a:prstGeom>
          <a:noFill/>
          <a:ln/>
        </p:spPr>
        <p:txBody>
          <a:bodyPr wrap="square" lIns="0" tIns="0" rIns="0" bIns="0" rtlCol="0" anchor="t"/>
          <a:lstStyle/>
          <a:p>
            <a:pPr marL="0" indent="0">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40" name="Shape 31"/>
          <p:cNvSpPr/>
          <p:nvPr/>
        </p:nvSpPr>
        <p:spPr>
          <a:xfrm>
            <a:off x="6478524" y="1481328"/>
            <a:ext cx="402336" cy="402336"/>
          </a:xfrm>
          <a:prstGeom prst="ellipse">
            <a:avLst/>
          </a:prstGeom>
          <a:solidFill>
            <a:srgbClr val="D49A00">
              <a:alpha val="22000"/>
            </a:srgbClr>
          </a:solidFill>
          <a:ln/>
        </p:spPr>
      </p:sp>
      <p:pic>
        <p:nvPicPr>
          <p:cNvPr id="41" name="Image 6" descr="preencoded.png"/>
          <p:cNvPicPr>
            <a:picLocks noChangeAspect="1"/>
          </p:cNvPicPr>
          <p:nvPr/>
        </p:nvPicPr>
        <p:blipFill>
          <a:blip r:embed="rId7"/>
          <a:stretch>
            <a:fillRect/>
          </a:stretch>
        </p:blipFill>
        <p:spPr>
          <a:xfrm>
            <a:off x="6579108" y="1581912"/>
            <a:ext cx="201168" cy="201168"/>
          </a:xfrm>
          <a:prstGeom prst="rect">
            <a:avLst/>
          </a:prstGeom>
        </p:spPr>
      </p:pic>
      <p:sp>
        <p:nvSpPr>
          <p:cNvPr id="42" name="Text 32"/>
          <p:cNvSpPr txBox="1"/>
          <p:nvPr/>
        </p:nvSpPr>
        <p:spPr>
          <a:xfrm>
            <a:off x="5618988"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Check</a:t>
            </a:r>
            <a:endParaRPr lang="en-US" sz="1300" dirty="0"/>
          </a:p>
        </p:txBody>
      </p:sp>
      <p:sp>
        <p:nvSpPr>
          <p:cNvPr id="43" name="Text 33"/>
          <p:cNvSpPr txBox="1"/>
          <p:nvPr/>
        </p:nvSpPr>
        <p:spPr>
          <a:xfrm>
            <a:off x="5618988"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Control against the source</a:t>
            </a:r>
            <a:endParaRPr lang="en-US" sz="1000" dirty="0"/>
          </a:p>
        </p:txBody>
      </p:sp>
      <p:pic>
        <p:nvPicPr>
          <p:cNvPr id="44" name="Image 7" descr="preencoded.png"/>
          <p:cNvPicPr>
            <a:picLocks noChangeAspect="1"/>
          </p:cNvPicPr>
          <p:nvPr/>
        </p:nvPicPr>
        <p:blipFill>
          <a:blip r:embed="rId4"/>
          <a:stretch>
            <a:fillRect/>
          </a:stretch>
        </p:blipFill>
        <p:spPr>
          <a:xfrm>
            <a:off x="7027164" y="2057400"/>
            <a:ext cx="118872" cy="182880"/>
          </a:xfrm>
          <a:prstGeom prst="rect">
            <a:avLst/>
          </a:prstGeom>
        </p:spPr>
      </p:pic>
      <p:sp>
        <p:nvSpPr>
          <p:cNvPr id="45" name="Shape 34"/>
          <p:cNvSpPr/>
          <p:nvPr/>
        </p:nvSpPr>
        <p:spPr>
          <a:xfrm>
            <a:off x="7168896" y="1371600"/>
            <a:ext cx="1517904" cy="1371600"/>
          </a:xfrm>
          <a:prstGeom prst="roundRect">
            <a:avLst>
              <a:gd name="adj" fmla="val 5333"/>
            </a:avLst>
          </a:prstGeom>
          <a:solidFill>
            <a:srgbClr val="E8F5EF"/>
          </a:solidFill>
          <a:ln w="15875">
            <a:solidFill>
              <a:srgbClr val="00A86A"/>
            </a:solidFill>
            <a:prstDash val="solid"/>
          </a:ln>
        </p:spPr>
      </p:sp>
      <p:sp>
        <p:nvSpPr>
          <p:cNvPr id="46" name="Text 35"/>
          <p:cNvSpPr txBox="1"/>
          <p:nvPr/>
        </p:nvSpPr>
        <p:spPr>
          <a:xfrm>
            <a:off x="7296912" y="1463040"/>
            <a:ext cx="731520" cy="411480"/>
          </a:xfrm>
          <a:prstGeom prst="rect">
            <a:avLst/>
          </a:prstGeom>
          <a:noFill/>
          <a:ln/>
        </p:spPr>
        <p:txBody>
          <a:bodyPr wrap="square" lIns="0" tIns="0" rIns="0" bIns="0" rtlCol="0" anchor="t"/>
          <a:lstStyle/>
          <a:p>
            <a:pPr marL="0" indent="0">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47" name="Shape 36"/>
          <p:cNvSpPr/>
          <p:nvPr/>
        </p:nvSpPr>
        <p:spPr>
          <a:xfrm>
            <a:off x="8156448" y="1481328"/>
            <a:ext cx="402336" cy="402336"/>
          </a:xfrm>
          <a:prstGeom prst="ellipse">
            <a:avLst/>
          </a:prstGeom>
          <a:solidFill>
            <a:srgbClr val="C4621D">
              <a:alpha val="22000"/>
            </a:srgbClr>
          </a:solidFill>
          <a:ln/>
        </p:spPr>
      </p:sp>
      <p:pic>
        <p:nvPicPr>
          <p:cNvPr id="48" name="Image 8" descr="preencoded.png"/>
          <p:cNvPicPr>
            <a:picLocks noChangeAspect="1"/>
          </p:cNvPicPr>
          <p:nvPr/>
        </p:nvPicPr>
        <p:blipFill>
          <a:blip r:embed="rId8"/>
          <a:stretch>
            <a:fillRect/>
          </a:stretch>
        </p:blipFill>
        <p:spPr>
          <a:xfrm>
            <a:off x="8257032" y="1581912"/>
            <a:ext cx="201168" cy="201168"/>
          </a:xfrm>
          <a:prstGeom prst="rect">
            <a:avLst/>
          </a:prstGeom>
        </p:spPr>
      </p:pic>
      <p:sp>
        <p:nvSpPr>
          <p:cNvPr id="49" name="Text 37"/>
          <p:cNvSpPr txBox="1"/>
          <p:nvPr/>
        </p:nvSpPr>
        <p:spPr>
          <a:xfrm>
            <a:off x="7296912"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Measure</a:t>
            </a:r>
            <a:endParaRPr lang="en-US" sz="1300" dirty="0"/>
          </a:p>
        </p:txBody>
      </p:sp>
      <p:sp>
        <p:nvSpPr>
          <p:cNvPr id="50" name="Text 38"/>
          <p:cNvSpPr txBox="1"/>
          <p:nvPr/>
        </p:nvSpPr>
        <p:spPr>
          <a:xfrm>
            <a:off x="7296912"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Time · quality · risk</a:t>
            </a:r>
            <a:endParaRPr lang="en-US" sz="1000" dirty="0"/>
          </a:p>
        </p:txBody>
      </p:sp>
      <p:sp>
        <p:nvSpPr>
          <p:cNvPr id="51" name="Text 39"/>
          <p:cNvSpPr txBox="1"/>
          <p:nvPr/>
        </p:nvSpPr>
        <p:spPr>
          <a:xfrm>
            <a:off x="457200" y="3017520"/>
            <a:ext cx="45720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THE THREE MEASUREMENTS OF EVERY TRIAL</a:t>
            </a:r>
            <a:endParaRPr lang="en-US" sz="900" dirty="0"/>
          </a:p>
        </p:txBody>
      </p:sp>
      <p:sp>
        <p:nvSpPr>
          <p:cNvPr id="52" name="Shape 40"/>
          <p:cNvSpPr/>
          <p:nvPr/>
        </p:nvSpPr>
        <p:spPr>
          <a:xfrm>
            <a:off x="457200" y="3401568"/>
            <a:ext cx="2606040" cy="1051560"/>
          </a:xfrm>
          <a:prstGeom prst="roundRect">
            <a:avLst>
              <a:gd name="adj" fmla="val 6957"/>
            </a:avLst>
          </a:prstGeom>
          <a:solidFill>
            <a:srgbClr val="FFFFFF"/>
          </a:solidFill>
          <a:ln w="13970">
            <a:solidFill>
              <a:srgbClr val="00A86A"/>
            </a:solidFill>
            <a:prstDash val="solid"/>
          </a:ln>
        </p:spPr>
      </p:sp>
      <p:sp>
        <p:nvSpPr>
          <p:cNvPr id="53" name="Text 41"/>
          <p:cNvSpPr txBox="1"/>
          <p:nvPr/>
        </p:nvSpPr>
        <p:spPr>
          <a:xfrm>
            <a:off x="621792" y="3493008"/>
            <a:ext cx="2377440" cy="292608"/>
          </a:xfrm>
          <a:prstGeom prst="rect">
            <a:avLst/>
          </a:prstGeom>
          <a:noFill/>
          <a:ln/>
        </p:spPr>
        <p:txBody>
          <a:bodyPr wrap="square" lIns="0" tIns="0" rIns="0" bIns="0" rtlCol="0" anchor="t"/>
          <a:lstStyle/>
          <a:p>
            <a:pPr marL="0" indent="0">
              <a:buNone/>
            </a:pPr>
            <a:r>
              <a:rPr lang="en-US" sz="1300" b="1" dirty="0">
                <a:solidFill>
                  <a:srgbClr val="00A86A"/>
                </a:solidFill>
                <a:latin typeface="Calibri" pitchFamily="34" charset="0"/>
                <a:ea typeface="Calibri" pitchFamily="34" charset="-122"/>
                <a:cs typeface="Calibri" pitchFamily="34" charset="-120"/>
              </a:rPr>
              <a:t>⏱  Time saved</a:t>
            </a:r>
            <a:endParaRPr lang="en-US" sz="1300" dirty="0"/>
          </a:p>
        </p:txBody>
      </p:sp>
      <p:sp>
        <p:nvSpPr>
          <p:cNvPr id="54" name="Text 42"/>
          <p:cNvSpPr txBox="1"/>
          <p:nvPr/>
        </p:nvSpPr>
        <p:spPr>
          <a:xfrm>
            <a:off x="62179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minutes with the tool vs the usual method</a:t>
            </a:r>
            <a:endParaRPr lang="en-US" sz="1050" dirty="0"/>
          </a:p>
        </p:txBody>
      </p:sp>
      <p:sp>
        <p:nvSpPr>
          <p:cNvPr id="55" name="Shape 43"/>
          <p:cNvSpPr/>
          <p:nvPr/>
        </p:nvSpPr>
        <p:spPr>
          <a:xfrm>
            <a:off x="3246120" y="3401568"/>
            <a:ext cx="2606040" cy="1051560"/>
          </a:xfrm>
          <a:prstGeom prst="roundRect">
            <a:avLst>
              <a:gd name="adj" fmla="val 6957"/>
            </a:avLst>
          </a:prstGeom>
          <a:solidFill>
            <a:srgbClr val="FFFFFF"/>
          </a:solidFill>
          <a:ln w="13970">
            <a:solidFill>
              <a:srgbClr val="0E7C86"/>
            </a:solidFill>
            <a:prstDash val="solid"/>
          </a:ln>
        </p:spPr>
      </p:sp>
      <p:sp>
        <p:nvSpPr>
          <p:cNvPr id="56" name="Text 44"/>
          <p:cNvSpPr txBox="1"/>
          <p:nvPr/>
        </p:nvSpPr>
        <p:spPr>
          <a:xfrm>
            <a:off x="3410712" y="3493008"/>
            <a:ext cx="2377440" cy="292608"/>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  Verified quality</a:t>
            </a:r>
            <a:endParaRPr lang="en-US" sz="1300" dirty="0"/>
          </a:p>
        </p:txBody>
      </p:sp>
      <p:sp>
        <p:nvSpPr>
          <p:cNvPr id="57" name="Text 45"/>
          <p:cNvSpPr txBox="1"/>
          <p:nvPr/>
        </p:nvSpPr>
        <p:spPr>
          <a:xfrm>
            <a:off x="341071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figures, sources or codes checked (%)</a:t>
            </a:r>
            <a:endParaRPr lang="en-US" sz="1050" dirty="0"/>
          </a:p>
        </p:txBody>
      </p:sp>
      <p:sp>
        <p:nvSpPr>
          <p:cNvPr id="58" name="Shape 46"/>
          <p:cNvSpPr/>
          <p:nvPr/>
        </p:nvSpPr>
        <p:spPr>
          <a:xfrm>
            <a:off x="6035040" y="3401568"/>
            <a:ext cx="2606040" cy="1051560"/>
          </a:xfrm>
          <a:prstGeom prst="roundRect">
            <a:avLst>
              <a:gd name="adj" fmla="val 6957"/>
            </a:avLst>
          </a:prstGeom>
          <a:solidFill>
            <a:srgbClr val="FFFFFF"/>
          </a:solidFill>
          <a:ln w="13970">
            <a:solidFill>
              <a:srgbClr val="D49A00"/>
            </a:solidFill>
            <a:prstDash val="solid"/>
          </a:ln>
        </p:spPr>
      </p:sp>
      <p:sp>
        <p:nvSpPr>
          <p:cNvPr id="59" name="Text 47"/>
          <p:cNvSpPr txBox="1"/>
          <p:nvPr/>
        </p:nvSpPr>
        <p:spPr>
          <a:xfrm>
            <a:off x="6199632" y="3493008"/>
            <a:ext cx="2377440" cy="292608"/>
          </a:xfrm>
          <a:prstGeom prst="rect">
            <a:avLst/>
          </a:prstGeom>
          <a:noFill/>
          <a:ln/>
        </p:spPr>
        <p:txBody>
          <a:bodyPr wrap="square" lIns="0" tIns="0" rIns="0" bIns="0" rtlCol="0" anchor="t"/>
          <a:lstStyle/>
          <a:p>
            <a:pPr marL="0" indent="0">
              <a:buNone/>
            </a:pPr>
            <a:r>
              <a:rPr lang="en-US" sz="1300" b="1" dirty="0">
                <a:solidFill>
                  <a:srgbClr val="D49A00"/>
                </a:solidFill>
                <a:latin typeface="Calibri" pitchFamily="34" charset="0"/>
                <a:ea typeface="Calibri" pitchFamily="34" charset="-122"/>
                <a:cs typeface="Calibri" pitchFamily="34" charset="-120"/>
              </a:rPr>
              <a:t>⚠  Risk</a:t>
            </a:r>
            <a:endParaRPr lang="en-US" sz="1300" dirty="0"/>
          </a:p>
        </p:txBody>
      </p:sp>
      <p:sp>
        <p:nvSpPr>
          <p:cNvPr id="60" name="Text 48"/>
          <p:cNvSpPr txBox="1"/>
          <p:nvPr/>
        </p:nvSpPr>
        <p:spPr>
          <a:xfrm>
            <a:off x="619963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data class, jurisdiction, cost, dependency</a:t>
            </a:r>
            <a:endParaRPr lang="en-US" sz="10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 · SEARCH &amp; UNDERSTAND</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Search and understand</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Find the right source, rather than a plausible answer.</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5C242"/>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Perplexity — sourced horizon scanning and benchmarking</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0A86A"/>
            </a:solidFill>
            <a:prstDash val="solid"/>
          </a:ln>
        </p:spPr>
      </p:sp>
      <p:sp>
        <p:nvSpPr>
          <p:cNvPr id="18" name="Shape 15"/>
          <p:cNvSpPr/>
          <p:nvPr/>
        </p:nvSpPr>
        <p:spPr>
          <a:xfrm>
            <a:off x="548640" y="1399032"/>
            <a:ext cx="475488" cy="47548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Perplexity</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Perplexity AI · web search with citations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www.perplexity.ai</a:t>
            </a:r>
            <a:endParaRPr lang="en-US" sz="900" dirty="0"/>
          </a:p>
        </p:txBody>
      </p:sp>
      <p:pic>
        <p:nvPicPr>
          <p:cNvPr id="25" name="Image 1" descr="/home/claude/lab10en/qr/perplexity.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Find out in 10 minutes how other offices publish an indicator, run a digital census or use mobile phone data.</a:t>
            </a:r>
            <a:endParaRPr lang="en-US" sz="1100" dirty="0"/>
          </a:p>
        </p:txBody>
      </p:sp>
      <p:sp>
        <p:nvSpPr>
          <p:cNvPr id="28" name="Shape 23"/>
          <p:cNvSpPr/>
          <p:nvPr/>
        </p:nvSpPr>
        <p:spPr>
          <a:xfrm>
            <a:off x="475488" y="2953512"/>
            <a:ext cx="237744" cy="237744"/>
          </a:xfrm>
          <a:prstGeom prst="ellipse">
            <a:avLst/>
          </a:prstGeom>
          <a:solidFill>
            <a:srgbClr val="00A86A"/>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perplexity.ai (a free account is advisable)</a:t>
            </a:r>
            <a:endParaRPr lang="en-US" sz="1000" dirty="0"/>
          </a:p>
        </p:txBody>
      </p:sp>
      <p:sp>
        <p:nvSpPr>
          <p:cNvPr id="31" name="Shape 26"/>
          <p:cNvSpPr/>
          <p:nvPr/>
        </p:nvSpPr>
        <p:spPr>
          <a:xfrm>
            <a:off x="475488" y="3355848"/>
            <a:ext cx="237744" cy="237744"/>
          </a:xfrm>
          <a:prstGeom prst="ellipse">
            <a:avLst/>
          </a:prstGeom>
          <a:solidFill>
            <a:srgbClr val="00A86A"/>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the question, stating countries, period and type of source</a:t>
            </a:r>
            <a:endParaRPr lang="en-US" sz="1000" dirty="0"/>
          </a:p>
        </p:txBody>
      </p:sp>
      <p:sp>
        <p:nvSpPr>
          <p:cNvPr id="34" name="Shape 29"/>
          <p:cNvSpPr/>
          <p:nvPr/>
        </p:nvSpPr>
        <p:spPr>
          <a:xfrm>
            <a:off x="475488" y="3758184"/>
            <a:ext cx="237744" cy="237744"/>
          </a:xfrm>
          <a:prstGeom prst="ellipse">
            <a:avLst/>
          </a:prstGeom>
          <a:solidFill>
            <a:srgbClr val="00A86A"/>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every cited source; discard blogs and unofficial pages</a:t>
            </a:r>
            <a:endParaRPr lang="en-US" sz="1000" dirty="0"/>
          </a:p>
        </p:txBody>
      </p:sp>
      <p:sp>
        <p:nvSpPr>
          <p:cNvPr id="37" name="Shape 32"/>
          <p:cNvSpPr/>
          <p:nvPr/>
        </p:nvSpPr>
        <p:spPr>
          <a:xfrm>
            <a:off x="475488" y="4160520"/>
            <a:ext cx="237744" cy="237744"/>
          </a:xfrm>
          <a:prstGeom prst="ellipse">
            <a:avLst/>
          </a:prstGeom>
          <a:solidFill>
            <a:srgbClr val="00A86A"/>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Export the answer and the links into your scanning note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Research how African national statistics offices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publish regional inflation (2023-2026). For each</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country: method, frequency, link to the OFFICIAL</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publication. Present a table. Write "not found"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rather than guessing.</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open every link; count the share of official sources (NSO sites, UN, IMF). Aim for 100% for an internal note.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 fluent answer may rest on an old or secondary page. Always check the date of the source.</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LeapSpace — methodological literature review</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0704A"/>
            </a:solidFill>
            <a:prstDash val="solid"/>
          </a:ln>
        </p:spPr>
      </p:sp>
      <p:sp>
        <p:nvSpPr>
          <p:cNvPr id="18" name="Shape 15"/>
          <p:cNvSpPr/>
          <p:nvPr/>
        </p:nvSpPr>
        <p:spPr>
          <a:xfrm>
            <a:off x="548640" y="1399032"/>
            <a:ext cx="475488" cy="475488"/>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LeapSpace</a:t>
            </a:r>
            <a:endParaRPr lang="en-US" sz="1300" dirty="0"/>
          </a:p>
        </p:txBody>
      </p:sp>
      <p:sp>
        <p:nvSpPr>
          <p:cNvPr id="21" name="Shape 17"/>
          <p:cNvSpPr/>
          <p:nvPr/>
        </p:nvSpPr>
        <p:spPr>
          <a:xfrm>
            <a:off x="2651760" y="1362456"/>
            <a:ext cx="1097280" cy="201168"/>
          </a:xfrm>
          <a:prstGeom prst="roundRect">
            <a:avLst>
              <a:gd name="adj" fmla="val 50000"/>
            </a:avLst>
          </a:prstGeom>
          <a:solidFill>
            <a:srgbClr val="D49A00"/>
          </a:solidFill>
          <a:ln w="9525">
            <a:solidFill>
              <a:srgbClr val="D49A00"/>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INSTITUTIONAL</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Elsevier · peer-reviewed scientific literature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elsevier.com/products/leapspace</a:t>
            </a:r>
            <a:endParaRPr lang="en-US" sz="900" dirty="0"/>
          </a:p>
        </p:txBody>
      </p:sp>
      <p:pic>
        <p:nvPicPr>
          <p:cNvPr id="25" name="Image 1" descr="/home/claude/lab10en/qr/leapspace.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Before changing a method (imputation, small area estimation, satellite data), find out what the peer-reviewed literature says.</a:t>
            </a:r>
            <a:endParaRPr lang="en-US" sz="1100" dirty="0"/>
          </a:p>
        </p:txBody>
      </p:sp>
      <p:sp>
        <p:nvSpPr>
          <p:cNvPr id="28" name="Shape 23"/>
          <p:cNvSpPr/>
          <p:nvPr/>
        </p:nvSpPr>
        <p:spPr>
          <a:xfrm>
            <a:off x="475488" y="2953512"/>
            <a:ext cx="237744" cy="237744"/>
          </a:xfrm>
          <a:prstGeom prst="ellipse">
            <a:avLst/>
          </a:prstGeom>
          <a:solidFill>
            <a:srgbClr val="00704A"/>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Sign in through your institution or the free trial</a:t>
            </a:r>
            <a:endParaRPr lang="en-US" sz="1000" dirty="0"/>
          </a:p>
        </p:txBody>
      </p:sp>
      <p:sp>
        <p:nvSpPr>
          <p:cNvPr id="31" name="Shape 26"/>
          <p:cNvSpPr/>
          <p:nvPr/>
        </p:nvSpPr>
        <p:spPr>
          <a:xfrm>
            <a:off x="475488" y="3355848"/>
            <a:ext cx="237744" cy="237744"/>
          </a:xfrm>
          <a:prstGeom prst="ellipse">
            <a:avLst/>
          </a:prstGeom>
          <a:solidFill>
            <a:srgbClr val="00704A"/>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the precise methodological question</a:t>
            </a:r>
            <a:endParaRPr lang="en-US" sz="1000" dirty="0"/>
          </a:p>
        </p:txBody>
      </p:sp>
      <p:sp>
        <p:nvSpPr>
          <p:cNvPr id="34" name="Shape 29"/>
          <p:cNvSpPr/>
          <p:nvPr/>
        </p:nvSpPr>
        <p:spPr>
          <a:xfrm>
            <a:off x="475488" y="3758184"/>
            <a:ext cx="237744" cy="237744"/>
          </a:xfrm>
          <a:prstGeom prst="ellipse">
            <a:avLst/>
          </a:prstGeom>
          <a:solidFill>
            <a:srgbClr val="00704A"/>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Read the Trust Cards: sources and why each is cited</a:t>
            </a:r>
            <a:endParaRPr lang="en-US" sz="1000" dirty="0"/>
          </a:p>
        </p:txBody>
      </p:sp>
      <p:sp>
        <p:nvSpPr>
          <p:cNvPr id="37" name="Shape 32"/>
          <p:cNvSpPr/>
          <p:nvPr/>
        </p:nvSpPr>
        <p:spPr>
          <a:xfrm>
            <a:off x="475488" y="4160520"/>
            <a:ext cx="237744" cy="237744"/>
          </a:xfrm>
          <a:prstGeom prst="ellipse">
            <a:avLst/>
          </a:prstGeom>
          <a:solidFill>
            <a:srgbClr val="00704A"/>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Keep 3 to 5 key papers and their level of evidence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Which small area estimation methods are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recommended for district-level poverty using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household surveys and satellite data? Compare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them (bias, precision, data requirements) and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cite studies published since 2018, stating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their limitations.</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open the 3 most-cited papers and check that the reported conclusion really appears in the abstract or the text.</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Institutional access: check before the lab whether your university, the AfDB or a partner subscribes.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LeapSpace draws only on peer-reviewed content (Scopus, ScienceDirect) and attaches a Trust Card to every answer.</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NotebookLM — your documents become an assistant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E7C86"/>
            </a:solidFill>
            <a:prstDash val="solid"/>
          </a:ln>
        </p:spPr>
      </p:sp>
      <p:sp>
        <p:nvSpPr>
          <p:cNvPr id="18" name="Shape 15"/>
          <p:cNvSpPr/>
          <p:nvPr/>
        </p:nvSpPr>
        <p:spPr>
          <a:xfrm>
            <a:off x="548640" y="1399032"/>
            <a:ext cx="475488" cy="475488"/>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NotebookLM</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grounded in your sources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notebooklm.google.com</a:t>
            </a:r>
            <a:endParaRPr lang="en-US" sz="900" dirty="0"/>
          </a:p>
        </p:txBody>
      </p:sp>
      <p:pic>
        <p:nvPicPr>
          <p:cNvPr id="25" name="Image 1" descr="/home/claude/lab10en/qr/notebooklm.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Turn the office's methodological notes and published reports into a knowledge base: sourced answers, infographic, slide deck, audio or video summary.</a:t>
            </a:r>
            <a:endParaRPr lang="en-US" sz="1100" dirty="0"/>
          </a:p>
        </p:txBody>
      </p:sp>
      <p:sp>
        <p:nvSpPr>
          <p:cNvPr id="28" name="Shape 23"/>
          <p:cNvSpPr/>
          <p:nvPr/>
        </p:nvSpPr>
        <p:spPr>
          <a:xfrm>
            <a:off x="475488" y="2953512"/>
            <a:ext cx="237744" cy="237744"/>
          </a:xfrm>
          <a:prstGeom prst="ellipse">
            <a:avLst/>
          </a:prstGeom>
          <a:solidFill>
            <a:srgbClr val="0E7C86"/>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Create a notebook, add 3 to 5 PUBLISHED documents</a:t>
            </a:r>
            <a:endParaRPr lang="en-US" sz="1000" dirty="0"/>
          </a:p>
        </p:txBody>
      </p:sp>
      <p:sp>
        <p:nvSpPr>
          <p:cNvPr id="31" name="Shape 26"/>
          <p:cNvSpPr/>
          <p:nvPr/>
        </p:nvSpPr>
        <p:spPr>
          <a:xfrm>
            <a:off x="475488" y="3355848"/>
            <a:ext cx="237744" cy="237744"/>
          </a:xfrm>
          <a:prstGeom prst="ellipse">
            <a:avLst/>
          </a:prstGeom>
          <a:solidFill>
            <a:srgbClr val="0E7C86"/>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3 questions; click every citation</a:t>
            </a:r>
            <a:endParaRPr lang="en-US" sz="1000" dirty="0"/>
          </a:p>
        </p:txBody>
      </p:sp>
      <p:sp>
        <p:nvSpPr>
          <p:cNvPr id="34" name="Shape 29"/>
          <p:cNvSpPr/>
          <p:nvPr/>
        </p:nvSpPr>
        <p:spPr>
          <a:xfrm>
            <a:off x="475488" y="3758184"/>
            <a:ext cx="237744" cy="237744"/>
          </a:xfrm>
          <a:prstGeom prst="ellipse">
            <a:avLst/>
          </a:prstGeom>
          <a:solidFill>
            <a:srgbClr val="0E7C86"/>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Studio: generate an infographic, a deck (PPTX export) or a video</a:t>
            </a:r>
            <a:endParaRPr lang="en-US" sz="1000" dirty="0"/>
          </a:p>
        </p:txBody>
      </p:sp>
      <p:sp>
        <p:nvSpPr>
          <p:cNvPr id="37" name="Shape 32"/>
          <p:cNvSpPr/>
          <p:nvPr/>
        </p:nvSpPr>
        <p:spPr>
          <a:xfrm>
            <a:off x="475488" y="4160520"/>
            <a:ext cx="237744" cy="237744"/>
          </a:xfrm>
          <a:prstGeom prst="ellipse">
            <a:avLst/>
          </a:prstGeom>
          <a:solidFill>
            <a:srgbClr val="0E7C86"/>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Re-read the output against the sources; label it “AI-generated”</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Using ONLY the sources: summarise the CPI</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methodology in 5 points for journalists. Cite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 source for each point. State explicitly what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 sources do not cover.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[Studio -&gt; Infographic: institutional style]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does every citation point to the right passage? Are the figures in the infographic identical to the report?</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Generated images (infographics, slides) can distort a figure: re-read them one by one.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Studio: audio and video overviews, mind maps, reports, infographics, slide decks and data tables; decks export to PPTX.</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 Data Commons — the UN in plain language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D49A00"/>
            </a:solidFill>
            <a:prstDash val="solid"/>
          </a:ln>
        </p:spPr>
      </p:sp>
      <p:sp>
        <p:nvSpPr>
          <p:cNvPr id="18" name="Shape 15"/>
          <p:cNvSpPr/>
          <p:nvPr/>
        </p:nvSpPr>
        <p:spPr>
          <a:xfrm>
            <a:off x="548640" y="1399032"/>
            <a:ext cx="475488" cy="475488"/>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UN Data Commons</a:t>
            </a:r>
            <a:endParaRPr lang="en-US" sz="1300" dirty="0"/>
          </a:p>
        </p:txBody>
      </p:sp>
      <p:sp>
        <p:nvSpPr>
          <p:cNvPr id="21" name="Shape 17"/>
          <p:cNvSpPr/>
          <p:nvPr/>
        </p:nvSpPr>
        <p:spPr>
          <a:xfrm>
            <a:off x="2651760" y="1362456"/>
            <a:ext cx="1097280" cy="201168"/>
          </a:xfrm>
          <a:prstGeom prst="roundRect">
            <a:avLst>
              <a:gd name="adj" fmla="val 50000"/>
            </a:avLst>
          </a:prstGeom>
          <a:solidFill>
            <a:srgbClr val="00A86A"/>
          </a:solidFill>
          <a:ln w="9525">
            <a:solidFill>
              <a:srgbClr val="00A86A"/>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UN + Google · since 17/09/2026</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data.un.org</a:t>
            </a:r>
            <a:endParaRPr lang="en-US" sz="900" dirty="0"/>
          </a:p>
        </p:txBody>
      </p:sp>
      <p:pic>
        <p:nvPicPr>
          <p:cNvPr id="25" name="Image 1" descr="/home/claude/lab10en/qr/datacommons.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See how YOUR country's figures appear in UN databases, compare them with your national publications and spot the gaps to fix.</a:t>
            </a:r>
            <a:endParaRPr lang="en-US" sz="1100" dirty="0"/>
          </a:p>
        </p:txBody>
      </p:sp>
      <p:sp>
        <p:nvSpPr>
          <p:cNvPr id="28" name="Shape 23"/>
          <p:cNvSpPr/>
          <p:nvPr/>
        </p:nvSpPr>
        <p:spPr>
          <a:xfrm>
            <a:off x="475488" y="2953512"/>
            <a:ext cx="237744" cy="237744"/>
          </a:xfrm>
          <a:prstGeom prst="ellipse">
            <a:avLst/>
          </a:prstGeom>
          <a:solidFill>
            <a:srgbClr val="D49A00"/>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data.un.org</a:t>
            </a:r>
            <a:endParaRPr lang="en-US" sz="1000" dirty="0"/>
          </a:p>
        </p:txBody>
      </p:sp>
      <p:sp>
        <p:nvSpPr>
          <p:cNvPr id="31" name="Shape 26"/>
          <p:cNvSpPr/>
          <p:nvPr/>
        </p:nvSpPr>
        <p:spPr>
          <a:xfrm>
            <a:off x="475488" y="3355848"/>
            <a:ext cx="237744" cy="237744"/>
          </a:xfrm>
          <a:prstGeom prst="ellipse">
            <a:avLst/>
          </a:prstGeom>
          <a:solidFill>
            <a:srgbClr val="D49A00"/>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a plain-language question about your country</a:t>
            </a:r>
            <a:endParaRPr lang="en-US" sz="1000" dirty="0"/>
          </a:p>
        </p:txBody>
      </p:sp>
      <p:sp>
        <p:nvSpPr>
          <p:cNvPr id="34" name="Shape 29"/>
          <p:cNvSpPr/>
          <p:nvPr/>
        </p:nvSpPr>
        <p:spPr>
          <a:xfrm>
            <a:off x="475488" y="3758184"/>
            <a:ext cx="237744" cy="237744"/>
          </a:xfrm>
          <a:prstGeom prst="ellipse">
            <a:avLst/>
          </a:prstGeom>
          <a:solidFill>
            <a:srgbClr val="D49A00"/>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 every value with the national publication</a:t>
            </a:r>
            <a:endParaRPr lang="en-US" sz="1000" dirty="0"/>
          </a:p>
        </p:txBody>
      </p:sp>
      <p:sp>
        <p:nvSpPr>
          <p:cNvPr id="37" name="Shape 32"/>
          <p:cNvSpPr/>
          <p:nvPr/>
        </p:nvSpPr>
        <p:spPr>
          <a:xfrm>
            <a:off x="475488" y="4160520"/>
            <a:ext cx="237744" cy="237744"/>
          </a:xfrm>
          <a:prstGeom prst="ellipse">
            <a:avLst/>
          </a:prstGeom>
          <a:solidFill>
            <a:srgbClr val="D49A00"/>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Note the gaps: definition, year, source, revision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Poverty rate, access to electricity and primary</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school enrolment in Rwanda, Senegal and Kenya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since 2015</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[then: open each chart -&gt; source and year of</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every value]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for 5 values of your country, is the gap with the national publication zero? If not, why (definition, vintage)?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Access to official data does not mean a correct answer: definitions and years may differ from yours.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UN platform built on Google's Data Commons, with natural-language search and the MCP protocol for AI agents; it replaces the former UNData portal.</a:t>
            </a:r>
            <a:endParaRPr lang="en-US" sz="8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 · TURN REPORTS INTO PRODUCTS</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Turn reports into products</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if every PDF report became an interactive dashboard within an hour?</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5C242"/>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TURN REPORTS INTO PRODUCTS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GLM (Z.ai) — from PDF report to dashboard</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C4621D"/>
            </a:solidFill>
            <a:prstDash val="solid"/>
          </a:ln>
        </p:spPr>
      </p:sp>
      <p:sp>
        <p:nvSpPr>
          <p:cNvPr id="18" name="Shape 15"/>
          <p:cNvSpPr/>
          <p:nvPr/>
        </p:nvSpPr>
        <p:spPr>
          <a:xfrm>
            <a:off x="548640" y="1399032"/>
            <a:ext cx="475488" cy="475488"/>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GLM-5.3</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Z.ai · Agent / Full-Stack mode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chat.z.ai</a:t>
            </a:r>
            <a:endParaRPr lang="en-US" sz="900" dirty="0"/>
          </a:p>
        </p:txBody>
      </p:sp>
      <p:pic>
        <p:nvPicPr>
          <p:cNvPr id="25" name="Image 1" descr="/home/claude/lab10en/qr/glm.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Turn a published release or statistical report into an attractive one-page web dashboard that the dissemination team can review and publish.</a:t>
            </a:r>
            <a:endParaRPr lang="en-US" sz="1100" dirty="0"/>
          </a:p>
        </p:txBody>
      </p:sp>
      <p:sp>
        <p:nvSpPr>
          <p:cNvPr id="28" name="Shape 23"/>
          <p:cNvSpPr/>
          <p:nvPr/>
        </p:nvSpPr>
        <p:spPr>
          <a:xfrm>
            <a:off x="475488" y="2953512"/>
            <a:ext cx="237744" cy="237744"/>
          </a:xfrm>
          <a:prstGeom prst="ellipse">
            <a:avLst/>
          </a:prstGeom>
          <a:solidFill>
            <a:srgbClr val="C4621D"/>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chat.z.ai, switch on Agent (or Full-Stack) mode</a:t>
            </a:r>
            <a:endParaRPr lang="en-US" sz="1000" dirty="0"/>
          </a:p>
        </p:txBody>
      </p:sp>
      <p:sp>
        <p:nvSpPr>
          <p:cNvPr id="31" name="Shape 26"/>
          <p:cNvSpPr/>
          <p:nvPr/>
        </p:nvSpPr>
        <p:spPr>
          <a:xfrm>
            <a:off x="475488" y="3355848"/>
            <a:ext cx="237744" cy="237744"/>
          </a:xfrm>
          <a:prstGeom prst="ellipse">
            <a:avLst/>
          </a:prstGeom>
          <a:solidFill>
            <a:srgbClr val="C4621D"/>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Attach the published PDF report and paste the prompt</a:t>
            </a:r>
            <a:endParaRPr lang="en-US" sz="1000" dirty="0"/>
          </a:p>
        </p:txBody>
      </p:sp>
      <p:sp>
        <p:nvSpPr>
          <p:cNvPr id="34" name="Shape 29"/>
          <p:cNvSpPr/>
          <p:nvPr/>
        </p:nvSpPr>
        <p:spPr>
          <a:xfrm>
            <a:off x="475488" y="3758184"/>
            <a:ext cx="237744" cy="237744"/>
          </a:xfrm>
          <a:prstGeom prst="ellipse">
            <a:avLst/>
          </a:prstGeom>
          <a:solidFill>
            <a:srgbClr val="C4621D"/>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Preview, then ask for 2 rounds of layout changes</a:t>
            </a:r>
            <a:endParaRPr lang="en-US" sz="1000" dirty="0"/>
          </a:p>
        </p:txBody>
      </p:sp>
      <p:sp>
        <p:nvSpPr>
          <p:cNvPr id="37" name="Shape 32"/>
          <p:cNvSpPr/>
          <p:nvPr/>
        </p:nvSpPr>
        <p:spPr>
          <a:xfrm>
            <a:off x="475488" y="4160520"/>
            <a:ext cx="237744" cy="237744"/>
          </a:xfrm>
          <a:prstGeom prst="ellipse">
            <a:avLst/>
          </a:prstGeom>
          <a:solidFill>
            <a:srgbClr val="C4621D"/>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Download the HTML file; run the verification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Build a ONE-page HTML dashboard from the attached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report. Use ONLY its figures; under each figure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show the source page. 3 key indicators, 4 charts,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one downloadable table. Palette green #00704A and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gold #F5C242, readable on mobile, WCAG AA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contrast. A single self-contained HTML file. No</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invented figures: write [MISSING] if data is absent.</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pick 10 figures from the dashboard at random and find them on the report page indicated. Target: 10/10.</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Provider established in China: published reports only. The generated code must be reviewed before going online.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In Agent mode GLM creates documents, analyses, websites and slides; GLM-5.3 offers a one-million-token context window.</a:t>
            </a:r>
            <a:endParaRPr lang="en-US" sz="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TURN REPORTS INTO PRODUCTS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Kimi (OK Computer) — the alternative to compare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B83B2E"/>
            </a:solidFill>
            <a:prstDash val="solid"/>
          </a:ln>
        </p:spPr>
      </p:sp>
      <p:sp>
        <p:nvSpPr>
          <p:cNvPr id="18" name="Shape 15"/>
          <p:cNvSpPr/>
          <p:nvPr/>
        </p:nvSpPr>
        <p:spPr>
          <a:xfrm>
            <a:off x="548640" y="1399032"/>
            <a:ext cx="475488" cy="475488"/>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Kimi</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Moonshot AI · OK Computer agent mode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www.kimi.ai/</a:t>
            </a:r>
            <a:endParaRPr lang="en-US" sz="900" dirty="0"/>
          </a:p>
        </p:txBody>
      </p:sp>
      <p:pic>
        <p:nvPicPr>
          <p:cNvPr id="25" name="Image 1" descr="/home/claude/lab10en/qr/kimi.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Same task as GLM, on the same report: compare two agents to pick the one that suits the dissemination team.</a:t>
            </a:r>
            <a:endParaRPr lang="en-US" sz="1100" dirty="0"/>
          </a:p>
        </p:txBody>
      </p:sp>
      <p:sp>
        <p:nvSpPr>
          <p:cNvPr id="28" name="Shape 23"/>
          <p:cNvSpPr/>
          <p:nvPr/>
        </p:nvSpPr>
        <p:spPr>
          <a:xfrm>
            <a:off x="475488" y="2953512"/>
            <a:ext cx="237744" cy="237744"/>
          </a:xfrm>
          <a:prstGeom prst="ellipse">
            <a:avLst/>
          </a:prstGeom>
          <a:solidFill>
            <a:srgbClr val="B83B2E"/>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kimi.ai, choose Agent mode (OK Computer)</a:t>
            </a:r>
            <a:endParaRPr lang="en-US" sz="1000" dirty="0"/>
          </a:p>
        </p:txBody>
      </p:sp>
      <p:sp>
        <p:nvSpPr>
          <p:cNvPr id="31" name="Shape 26"/>
          <p:cNvSpPr/>
          <p:nvPr/>
        </p:nvSpPr>
        <p:spPr>
          <a:xfrm>
            <a:off x="475488" y="3355848"/>
            <a:ext cx="237744" cy="237744"/>
          </a:xfrm>
          <a:prstGeom prst="ellipse">
            <a:avLst/>
          </a:prstGeom>
          <a:solidFill>
            <a:srgbClr val="B83B2E"/>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Attach the SAME report, paste the SAME prompt</a:t>
            </a:r>
            <a:endParaRPr lang="en-US" sz="1000" dirty="0"/>
          </a:p>
        </p:txBody>
      </p:sp>
      <p:sp>
        <p:nvSpPr>
          <p:cNvPr id="34" name="Shape 29"/>
          <p:cNvSpPr/>
          <p:nvPr/>
        </p:nvSpPr>
        <p:spPr>
          <a:xfrm>
            <a:off x="475488" y="3758184"/>
            <a:ext cx="237744" cy="237744"/>
          </a:xfrm>
          <a:prstGeom prst="ellipse">
            <a:avLst/>
          </a:prstGeom>
          <a:solidFill>
            <a:srgbClr val="B83B2E"/>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Download the result (site or slides)</a:t>
            </a:r>
            <a:endParaRPr lang="en-US" sz="1000" dirty="0"/>
          </a:p>
        </p:txBody>
      </p:sp>
      <p:sp>
        <p:nvSpPr>
          <p:cNvPr id="37" name="Shape 32"/>
          <p:cNvSpPr/>
          <p:nvPr/>
        </p:nvSpPr>
        <p:spPr>
          <a:xfrm>
            <a:off x="475488" y="4160520"/>
            <a:ext cx="237744" cy="237744"/>
          </a:xfrm>
          <a:prstGeom prst="ellipse">
            <a:avLst/>
          </a:prstGeom>
          <a:solidFill>
            <a:srgbClr val="B83B2E"/>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Score both results with the same grid</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[Same prompt as for GLM]</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Comparison grid, scored 1 to 5:</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accuracy of the 10 sampled figures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readability and design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house style respected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accessibility (contrast, mobile)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total time, iterations included</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same sample of 10 figures as for GLM; compare the two scores and the times.</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Provider established in China. Both agents may “embellish”: delete any chart without a source figure.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OK Computer creates multi-page sites and editable slides, and handles up to a million rows of data.</a:t>
            </a:r>
            <a:endParaRPr lang="en-US" sz="8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TURN REPORTS INTO PRODUCTS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checks before publishing a dashboard</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325880"/>
            <a:ext cx="4023360" cy="960120"/>
          </a:xfrm>
          <a:prstGeom prst="roundRect">
            <a:avLst>
              <a:gd name="adj" fmla="val 7619"/>
            </a:avLst>
          </a:prstGeom>
          <a:solidFill>
            <a:srgbClr val="F4F7F5"/>
          </a:solidFill>
          <a:ln w="9525">
            <a:solidFill>
              <a:srgbClr val="D5DED9"/>
            </a:solidFill>
            <a:prstDash val="solid"/>
          </a:ln>
        </p:spPr>
      </p:sp>
      <p:sp>
        <p:nvSpPr>
          <p:cNvPr id="18" name="Shape 15"/>
          <p:cNvSpPr/>
          <p:nvPr/>
        </p:nvSpPr>
        <p:spPr>
          <a:xfrm>
            <a:off x="594360" y="1572768"/>
            <a:ext cx="457200" cy="457200"/>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708660" y="1687068"/>
            <a:ext cx="228600" cy="228600"/>
          </a:xfrm>
          <a:prstGeom prst="rect">
            <a:avLst/>
          </a:prstGeom>
        </p:spPr>
      </p:pic>
      <p:sp>
        <p:nvSpPr>
          <p:cNvPr id="20" name="Text 16"/>
          <p:cNvSpPr txBox="1"/>
          <p:nvPr/>
        </p:nvSpPr>
        <p:spPr>
          <a:xfrm>
            <a:off x="1188720" y="146304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Figures</a:t>
            </a:r>
            <a:endParaRPr lang="en-US" sz="1400" dirty="0"/>
          </a:p>
        </p:txBody>
      </p:sp>
      <p:sp>
        <p:nvSpPr>
          <p:cNvPr id="21" name="Text 17"/>
          <p:cNvSpPr txBox="1"/>
          <p:nvPr/>
        </p:nvSpPr>
        <p:spPr>
          <a:xfrm>
            <a:off x="1188720" y="175564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10 randomly drawn figures found on the source page</a:t>
            </a:r>
            <a:endParaRPr lang="en-US" sz="1050" dirty="0"/>
          </a:p>
        </p:txBody>
      </p:sp>
      <p:sp>
        <p:nvSpPr>
          <p:cNvPr id="22" name="Shape 18"/>
          <p:cNvSpPr/>
          <p:nvPr/>
        </p:nvSpPr>
        <p:spPr>
          <a:xfrm>
            <a:off x="4663440" y="1325880"/>
            <a:ext cx="4023360" cy="960120"/>
          </a:xfrm>
          <a:prstGeom prst="roundRect">
            <a:avLst>
              <a:gd name="adj" fmla="val 7619"/>
            </a:avLst>
          </a:prstGeom>
          <a:solidFill>
            <a:srgbClr val="F4F7F5"/>
          </a:solidFill>
          <a:ln w="9525">
            <a:solidFill>
              <a:srgbClr val="D5DED9"/>
            </a:solidFill>
            <a:prstDash val="solid"/>
          </a:ln>
        </p:spPr>
      </p:sp>
      <p:sp>
        <p:nvSpPr>
          <p:cNvPr id="23" name="Shape 19"/>
          <p:cNvSpPr/>
          <p:nvPr/>
        </p:nvSpPr>
        <p:spPr>
          <a:xfrm>
            <a:off x="4800600" y="1572768"/>
            <a:ext cx="457200" cy="457200"/>
          </a:xfrm>
          <a:prstGeom prst="ellipse">
            <a:avLst/>
          </a:prstGeom>
          <a:solidFill>
            <a:srgbClr val="C4621D">
              <a:alpha val="22000"/>
            </a:srgbClr>
          </a:solidFill>
          <a:ln/>
        </p:spPr>
      </p:sp>
      <p:pic>
        <p:nvPicPr>
          <p:cNvPr id="24" name="Image 1" descr="preencoded.png"/>
          <p:cNvPicPr>
            <a:picLocks noChangeAspect="1"/>
          </p:cNvPicPr>
          <p:nvPr/>
        </p:nvPicPr>
        <p:blipFill>
          <a:blip r:embed="rId4"/>
          <a:stretch>
            <a:fillRect/>
          </a:stretch>
        </p:blipFill>
        <p:spPr>
          <a:xfrm>
            <a:off x="4914900" y="1687068"/>
            <a:ext cx="228600" cy="228600"/>
          </a:xfrm>
          <a:prstGeom prst="rect">
            <a:avLst/>
          </a:prstGeom>
        </p:spPr>
      </p:pic>
      <p:sp>
        <p:nvSpPr>
          <p:cNvPr id="25" name="Text 20"/>
          <p:cNvSpPr txBox="1"/>
          <p:nvPr/>
        </p:nvSpPr>
        <p:spPr>
          <a:xfrm>
            <a:off x="5394960" y="146304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Sources</a:t>
            </a:r>
            <a:endParaRPr lang="en-US" sz="1400" dirty="0"/>
          </a:p>
        </p:txBody>
      </p:sp>
      <p:sp>
        <p:nvSpPr>
          <p:cNvPr id="26" name="Text 21"/>
          <p:cNvSpPr txBox="1"/>
          <p:nvPr/>
        </p:nvSpPr>
        <p:spPr>
          <a:xfrm>
            <a:off x="5394960" y="175564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chart states its source and year</a:t>
            </a:r>
            <a:endParaRPr lang="en-US" sz="1050" dirty="0"/>
          </a:p>
        </p:txBody>
      </p:sp>
      <p:sp>
        <p:nvSpPr>
          <p:cNvPr id="27" name="Shape 22"/>
          <p:cNvSpPr/>
          <p:nvPr/>
        </p:nvSpPr>
        <p:spPr>
          <a:xfrm>
            <a:off x="457200" y="2423160"/>
            <a:ext cx="4023360" cy="960120"/>
          </a:xfrm>
          <a:prstGeom prst="roundRect">
            <a:avLst>
              <a:gd name="adj" fmla="val 7619"/>
            </a:avLst>
          </a:prstGeom>
          <a:solidFill>
            <a:srgbClr val="F4F7F5"/>
          </a:solidFill>
          <a:ln w="9525">
            <a:solidFill>
              <a:srgbClr val="D5DED9"/>
            </a:solidFill>
            <a:prstDash val="solid"/>
          </a:ln>
        </p:spPr>
      </p:sp>
      <p:sp>
        <p:nvSpPr>
          <p:cNvPr id="28" name="Shape 23"/>
          <p:cNvSpPr/>
          <p:nvPr/>
        </p:nvSpPr>
        <p:spPr>
          <a:xfrm>
            <a:off x="594360" y="2670048"/>
            <a:ext cx="457200" cy="457200"/>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08660" y="2784348"/>
            <a:ext cx="228600" cy="228600"/>
          </a:xfrm>
          <a:prstGeom prst="rect">
            <a:avLst/>
          </a:prstGeom>
        </p:spPr>
      </p:pic>
      <p:sp>
        <p:nvSpPr>
          <p:cNvPr id="30" name="Text 24"/>
          <p:cNvSpPr txBox="1"/>
          <p:nvPr/>
        </p:nvSpPr>
        <p:spPr>
          <a:xfrm>
            <a:off x="1188720" y="256032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Nothing invented</a:t>
            </a:r>
            <a:endParaRPr lang="en-US" sz="1400" dirty="0"/>
          </a:p>
        </p:txBody>
      </p:sp>
      <p:sp>
        <p:nvSpPr>
          <p:cNvPr id="31" name="Text 25"/>
          <p:cNvSpPr txBox="1"/>
          <p:nvPr/>
        </p:nvSpPr>
        <p:spPr>
          <a:xfrm>
            <a:off x="1188720" y="285292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“sample” chart, no data absent from the report</a:t>
            </a:r>
            <a:endParaRPr lang="en-US" sz="1050" dirty="0"/>
          </a:p>
        </p:txBody>
      </p:sp>
      <p:sp>
        <p:nvSpPr>
          <p:cNvPr id="32" name="Shape 26"/>
          <p:cNvSpPr/>
          <p:nvPr/>
        </p:nvSpPr>
        <p:spPr>
          <a:xfrm>
            <a:off x="4663440" y="2423160"/>
            <a:ext cx="4023360" cy="960120"/>
          </a:xfrm>
          <a:prstGeom prst="roundRect">
            <a:avLst>
              <a:gd name="adj" fmla="val 7619"/>
            </a:avLst>
          </a:prstGeom>
          <a:solidFill>
            <a:srgbClr val="F4F7F5"/>
          </a:solidFill>
          <a:ln w="9525">
            <a:solidFill>
              <a:srgbClr val="D5DED9"/>
            </a:solidFill>
            <a:prstDash val="solid"/>
          </a:ln>
        </p:spPr>
      </p:sp>
      <p:sp>
        <p:nvSpPr>
          <p:cNvPr id="33" name="Shape 27"/>
          <p:cNvSpPr/>
          <p:nvPr/>
        </p:nvSpPr>
        <p:spPr>
          <a:xfrm>
            <a:off x="4800600" y="2670048"/>
            <a:ext cx="457200" cy="457200"/>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4914900" y="2784348"/>
            <a:ext cx="228600" cy="228600"/>
          </a:xfrm>
          <a:prstGeom prst="rect">
            <a:avLst/>
          </a:prstGeom>
        </p:spPr>
      </p:pic>
      <p:sp>
        <p:nvSpPr>
          <p:cNvPr id="35" name="Text 28"/>
          <p:cNvSpPr txBox="1"/>
          <p:nvPr/>
        </p:nvSpPr>
        <p:spPr>
          <a:xfrm>
            <a:off x="5394960" y="256032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Accessibility</a:t>
            </a:r>
            <a:endParaRPr lang="en-US" sz="1400" dirty="0"/>
          </a:p>
        </p:txBody>
      </p:sp>
      <p:sp>
        <p:nvSpPr>
          <p:cNvPr id="36" name="Text 29"/>
          <p:cNvSpPr txBox="1"/>
          <p:nvPr/>
        </p:nvSpPr>
        <p:spPr>
          <a:xfrm>
            <a:off x="5394960" y="285292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sufficient contrast, readable on a phone, alt text</a:t>
            </a:r>
            <a:endParaRPr lang="en-US" sz="1050" dirty="0"/>
          </a:p>
        </p:txBody>
      </p:sp>
      <p:sp>
        <p:nvSpPr>
          <p:cNvPr id="37" name="Shape 30"/>
          <p:cNvSpPr/>
          <p:nvPr/>
        </p:nvSpPr>
        <p:spPr>
          <a:xfrm>
            <a:off x="457200" y="3520440"/>
            <a:ext cx="4023360" cy="960120"/>
          </a:xfrm>
          <a:prstGeom prst="roundRect">
            <a:avLst>
              <a:gd name="adj" fmla="val 7619"/>
            </a:avLst>
          </a:prstGeom>
          <a:solidFill>
            <a:srgbClr val="F4F7F5"/>
          </a:solidFill>
          <a:ln w="9525">
            <a:solidFill>
              <a:srgbClr val="D5DED9"/>
            </a:solidFill>
            <a:prstDash val="solid"/>
          </a:ln>
        </p:spPr>
      </p:sp>
      <p:sp>
        <p:nvSpPr>
          <p:cNvPr id="38" name="Shape 31"/>
          <p:cNvSpPr/>
          <p:nvPr/>
        </p:nvSpPr>
        <p:spPr>
          <a:xfrm>
            <a:off x="594360" y="3767328"/>
            <a:ext cx="457200" cy="457200"/>
          </a:xfrm>
          <a:prstGeom prst="ellipse">
            <a:avLst/>
          </a:prstGeom>
          <a:solidFill>
            <a:srgbClr val="00704A">
              <a:alpha val="22000"/>
            </a:srgbClr>
          </a:solidFill>
          <a:ln/>
        </p:spPr>
      </p:sp>
      <p:pic>
        <p:nvPicPr>
          <p:cNvPr id="39" name="Image 4" descr="preencoded.png"/>
          <p:cNvPicPr>
            <a:picLocks noChangeAspect="1"/>
          </p:cNvPicPr>
          <p:nvPr/>
        </p:nvPicPr>
        <p:blipFill>
          <a:blip r:embed="rId7"/>
          <a:stretch>
            <a:fillRect/>
          </a:stretch>
        </p:blipFill>
        <p:spPr>
          <a:xfrm>
            <a:off x="708660" y="3881628"/>
            <a:ext cx="228600" cy="228600"/>
          </a:xfrm>
          <a:prstGeom prst="rect">
            <a:avLst/>
          </a:prstGeom>
        </p:spPr>
      </p:pic>
      <p:sp>
        <p:nvSpPr>
          <p:cNvPr id="40" name="Text 32"/>
          <p:cNvSpPr txBox="1"/>
          <p:nvPr/>
        </p:nvSpPr>
        <p:spPr>
          <a:xfrm>
            <a:off x="1188720" y="365760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Code</a:t>
            </a:r>
            <a:endParaRPr lang="en-US" sz="1400" dirty="0"/>
          </a:p>
        </p:txBody>
      </p:sp>
      <p:sp>
        <p:nvSpPr>
          <p:cNvPr id="41" name="Text 33"/>
          <p:cNvSpPr txBox="1"/>
          <p:nvPr/>
        </p:nvSpPr>
        <p:spPr>
          <a:xfrm>
            <a:off x="1188720" y="395020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self-contained file; external scripts reviewed by IT</a:t>
            </a:r>
            <a:endParaRPr lang="en-US" sz="1050" dirty="0"/>
          </a:p>
        </p:txBody>
      </p:sp>
      <p:sp>
        <p:nvSpPr>
          <p:cNvPr id="42" name="Shape 34"/>
          <p:cNvSpPr/>
          <p:nvPr/>
        </p:nvSpPr>
        <p:spPr>
          <a:xfrm>
            <a:off x="4663440" y="3520440"/>
            <a:ext cx="4023360" cy="960120"/>
          </a:xfrm>
          <a:prstGeom prst="roundRect">
            <a:avLst>
              <a:gd name="adj" fmla="val 7619"/>
            </a:avLst>
          </a:prstGeom>
          <a:solidFill>
            <a:srgbClr val="F4F7F5"/>
          </a:solidFill>
          <a:ln w="9525">
            <a:solidFill>
              <a:srgbClr val="D5DED9"/>
            </a:solidFill>
            <a:prstDash val="solid"/>
          </a:ln>
        </p:spPr>
      </p:sp>
      <p:sp>
        <p:nvSpPr>
          <p:cNvPr id="43" name="Shape 35"/>
          <p:cNvSpPr/>
          <p:nvPr/>
        </p:nvSpPr>
        <p:spPr>
          <a:xfrm>
            <a:off x="4800600" y="3767328"/>
            <a:ext cx="457200" cy="457200"/>
          </a:xfrm>
          <a:prstGeom prst="ellipse">
            <a:avLst/>
          </a:prstGeom>
          <a:solidFill>
            <a:srgbClr val="00A86A">
              <a:alpha val="22000"/>
            </a:srgbClr>
          </a:solidFill>
          <a:ln/>
        </p:spPr>
      </p:sp>
      <p:pic>
        <p:nvPicPr>
          <p:cNvPr id="44" name="Image 5" descr="preencoded.png"/>
          <p:cNvPicPr>
            <a:picLocks noChangeAspect="1"/>
          </p:cNvPicPr>
          <p:nvPr/>
        </p:nvPicPr>
        <p:blipFill>
          <a:blip r:embed="rId8"/>
          <a:stretch>
            <a:fillRect/>
          </a:stretch>
        </p:blipFill>
        <p:spPr>
          <a:xfrm>
            <a:off x="4914900" y="3881628"/>
            <a:ext cx="228600" cy="228600"/>
          </a:xfrm>
          <a:prstGeom prst="rect">
            <a:avLst/>
          </a:prstGeom>
        </p:spPr>
      </p:pic>
      <p:sp>
        <p:nvSpPr>
          <p:cNvPr id="45" name="Text 36"/>
          <p:cNvSpPr txBox="1"/>
          <p:nvPr/>
        </p:nvSpPr>
        <p:spPr>
          <a:xfrm>
            <a:off x="5394960" y="365760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Sign-off</a:t>
            </a:r>
            <a:endParaRPr lang="en-US" sz="1400" dirty="0"/>
          </a:p>
        </p:txBody>
      </p:sp>
      <p:sp>
        <p:nvSpPr>
          <p:cNvPr id="46" name="Text 37"/>
          <p:cNvSpPr txBox="1"/>
          <p:nvPr/>
        </p:nvSpPr>
        <p:spPr>
          <a:xfrm>
            <a:off x="5394960" y="395020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line reading “produced with AI, approved by …” and the date</a:t>
            </a:r>
            <a:endParaRPr lang="en-US"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 · VISUALISE &amp; TELL</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Visualise and tell</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One accurate infographic beats ten pages nobody reads.</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5C242"/>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VISUALISE &amp; TELL</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Nano Banana — infographics and visuals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D49A00"/>
            </a:solidFill>
            <a:prstDash val="solid"/>
          </a:ln>
        </p:spPr>
      </p:sp>
      <p:sp>
        <p:nvSpPr>
          <p:cNvPr id="18" name="Shape 15"/>
          <p:cNvSpPr/>
          <p:nvPr/>
        </p:nvSpPr>
        <p:spPr>
          <a:xfrm>
            <a:off x="548640" y="1399032"/>
            <a:ext cx="475488" cy="475488"/>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Nano Banana</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inside the Gemini app</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gemini.google.com</a:t>
            </a:r>
            <a:endParaRPr lang="en-US" sz="900" dirty="0"/>
          </a:p>
        </p:txBody>
      </p:sp>
      <p:pic>
        <p:nvPicPr>
          <p:cNvPr id="25" name="Image 1" descr="/home/claude/lab10en/qr/nanobanana.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Produce the visual card of a release (three key figures), a bulletin cover or a consistent series of social-media visuals.</a:t>
            </a:r>
            <a:endParaRPr lang="en-US" sz="1100" dirty="0"/>
          </a:p>
        </p:txBody>
      </p:sp>
      <p:sp>
        <p:nvSpPr>
          <p:cNvPr id="28" name="Shape 23"/>
          <p:cNvSpPr/>
          <p:nvPr/>
        </p:nvSpPr>
        <p:spPr>
          <a:xfrm>
            <a:off x="475488" y="2953512"/>
            <a:ext cx="237744" cy="237744"/>
          </a:xfrm>
          <a:prstGeom prst="ellipse">
            <a:avLst/>
          </a:prstGeom>
          <a:solidFill>
            <a:srgbClr val="D49A00"/>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gemini.google.com and ask for an image</a:t>
            </a:r>
            <a:endParaRPr lang="en-US" sz="1000" dirty="0"/>
          </a:p>
        </p:txBody>
      </p:sp>
      <p:sp>
        <p:nvSpPr>
          <p:cNvPr id="31" name="Shape 26"/>
          <p:cNvSpPr/>
          <p:nvPr/>
        </p:nvSpPr>
        <p:spPr>
          <a:xfrm>
            <a:off x="475488" y="3355848"/>
            <a:ext cx="237744" cy="237744"/>
          </a:xfrm>
          <a:prstGeom prst="ellipse">
            <a:avLst/>
          </a:prstGeom>
          <a:solidFill>
            <a:srgbClr val="D49A00"/>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Paste the VERIFIED figures and the house style</a:t>
            </a:r>
            <a:endParaRPr lang="en-US" sz="1000" dirty="0"/>
          </a:p>
        </p:txBody>
      </p:sp>
      <p:sp>
        <p:nvSpPr>
          <p:cNvPr id="34" name="Shape 29"/>
          <p:cNvSpPr/>
          <p:nvPr/>
        </p:nvSpPr>
        <p:spPr>
          <a:xfrm>
            <a:off x="475488" y="3758184"/>
            <a:ext cx="237744" cy="237744"/>
          </a:xfrm>
          <a:prstGeom prst="ellipse">
            <a:avLst/>
          </a:prstGeom>
          <a:solidFill>
            <a:srgbClr val="D49A00"/>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Refine through conversation (colours, text, framing)</a:t>
            </a:r>
            <a:endParaRPr lang="en-US" sz="1000" dirty="0"/>
          </a:p>
        </p:txBody>
      </p:sp>
      <p:sp>
        <p:nvSpPr>
          <p:cNvPr id="37" name="Shape 32"/>
          <p:cNvSpPr/>
          <p:nvPr/>
        </p:nvSpPr>
        <p:spPr>
          <a:xfrm>
            <a:off x="475488" y="4160520"/>
            <a:ext cx="237744" cy="237744"/>
          </a:xfrm>
          <a:prstGeom prst="ellipse">
            <a:avLst/>
          </a:prstGeom>
          <a:solidFill>
            <a:srgbClr val="D49A00"/>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Proof-read every figure and every word in the image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Create a square infographic, sober institutional</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style, for a statistical release: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"Inflation 2025: 5.8% (from 6.7% in 2024)"</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"Highest: Highlands, 8.2%"</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"Lowest: Capital, 4.6%"</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Palette green #00704A, gold #F5C242, white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background. Simple pictograms. No other figures.</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compare every figure and every word in the image with the release. A single mistake = regenerate.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No real people, logos, flags or emblems. Label the image “AI-generated”.</a:t>
            </a:r>
            <a:endParaRPr lang="en-US" sz="9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VISUALISE &amp; TELL</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Google Flow — a release teaser video</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C4621D"/>
            </a:solidFill>
            <a:prstDash val="solid"/>
          </a:ln>
        </p:spPr>
      </p:sp>
      <p:sp>
        <p:nvSpPr>
          <p:cNvPr id="18" name="Shape 15"/>
          <p:cNvSpPr/>
          <p:nvPr/>
        </p:nvSpPr>
        <p:spPr>
          <a:xfrm>
            <a:off x="548640" y="1399032"/>
            <a:ext cx="475488" cy="475488"/>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Google Flow</a:t>
            </a:r>
            <a:endParaRPr lang="en-US" sz="1300" dirty="0"/>
          </a:p>
        </p:txBody>
      </p:sp>
      <p:sp>
        <p:nvSpPr>
          <p:cNvPr id="21" name="Shape 17"/>
          <p:cNvSpPr/>
          <p:nvPr/>
        </p:nvSpPr>
        <p:spPr>
          <a:xfrm>
            <a:off x="2651760" y="1362456"/>
            <a:ext cx="1097280" cy="201168"/>
          </a:xfrm>
          <a:prstGeom prst="roundRect">
            <a:avLst>
              <a:gd name="adj" fmla="val 50000"/>
            </a:avLst>
          </a:prstGeom>
          <a:solidFill>
            <a:srgbClr val="B83B2E"/>
          </a:solidFill>
          <a:ln w="9525">
            <a:solidFill>
              <a:srgbClr val="B83B2E"/>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SUBSCRIPTION</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video studio (Veo, Nano Banana)</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labs.google/fx/tools/flow</a:t>
            </a:r>
            <a:endParaRPr lang="en-US" sz="900" dirty="0"/>
          </a:p>
        </p:txBody>
      </p:sp>
      <p:pic>
        <p:nvPicPr>
          <p:cNvPr id="25" name="Image 1" descr="/home/claude/lab10en/qr/flow.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Make an 8 to 15 second teaser announcing a release (census, survey) for social media — with no figures inside the video.</a:t>
            </a:r>
            <a:endParaRPr lang="en-US" sz="1100" dirty="0"/>
          </a:p>
        </p:txBody>
      </p:sp>
      <p:sp>
        <p:nvSpPr>
          <p:cNvPr id="28" name="Shape 23"/>
          <p:cNvSpPr/>
          <p:nvPr/>
        </p:nvSpPr>
        <p:spPr>
          <a:xfrm>
            <a:off x="475488" y="2953512"/>
            <a:ext cx="237744" cy="237744"/>
          </a:xfrm>
          <a:prstGeom prst="ellipse">
            <a:avLst/>
          </a:prstGeom>
          <a:solidFill>
            <a:srgbClr val="C4621D"/>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Facilitator demonstration (Google AI subscription required)</a:t>
            </a:r>
            <a:endParaRPr lang="en-US" sz="1000" dirty="0"/>
          </a:p>
        </p:txBody>
      </p:sp>
      <p:sp>
        <p:nvSpPr>
          <p:cNvPr id="31" name="Shape 26"/>
          <p:cNvSpPr/>
          <p:nvPr/>
        </p:nvSpPr>
        <p:spPr>
          <a:xfrm>
            <a:off x="475488" y="3355848"/>
            <a:ext cx="237744" cy="237744"/>
          </a:xfrm>
          <a:prstGeom prst="ellipse">
            <a:avLst/>
          </a:prstGeom>
          <a:solidFill>
            <a:srgbClr val="C4621D"/>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Create 2 to 3 key images with Nano Banana inside Flow</a:t>
            </a:r>
            <a:endParaRPr lang="en-US" sz="1000" dirty="0"/>
          </a:p>
        </p:txBody>
      </p:sp>
      <p:sp>
        <p:nvSpPr>
          <p:cNvPr id="34" name="Shape 29"/>
          <p:cNvSpPr/>
          <p:nvPr/>
        </p:nvSpPr>
        <p:spPr>
          <a:xfrm>
            <a:off x="475488" y="3758184"/>
            <a:ext cx="237744" cy="237744"/>
          </a:xfrm>
          <a:prstGeom prst="ellipse">
            <a:avLst/>
          </a:prstGeom>
          <a:solidFill>
            <a:srgbClr val="C4621D"/>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Animate them (Veo), assemble in SceneBuilder</a:t>
            </a:r>
            <a:endParaRPr lang="en-US" sz="1000" dirty="0"/>
          </a:p>
        </p:txBody>
      </p:sp>
      <p:sp>
        <p:nvSpPr>
          <p:cNvPr id="37" name="Shape 32"/>
          <p:cNvSpPr/>
          <p:nvPr/>
        </p:nvSpPr>
        <p:spPr>
          <a:xfrm>
            <a:off x="475488" y="4160520"/>
            <a:ext cx="237744" cy="237744"/>
          </a:xfrm>
          <a:prstGeom prst="ellipse">
            <a:avLst/>
          </a:prstGeom>
          <a:solidFill>
            <a:srgbClr val="C4621D"/>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Add title and figures in editing, not in generation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Slow aerial shot at sunrise over green rolling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hills and an East African village, golden light,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documentary style, no text and no identifiable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person. 8 seconds.</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[Title and figures added afterwards in editing,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from the verified release]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no figure or text generated inside the image; titles added in editing from the release.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Google AI subscription (Plus at least), age 18 and an eligible region. No real faces, no misleading scenes.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Flow requires a Google AI Plus, Pro or Ultra subscription, a minimum age of 18 and an eligible region; Veo videos carry an invisible SynthID watermark.</a:t>
            </a:r>
            <a:endParaRPr lang="en-US" sz="8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 · DECIDE &amp; PROTECT</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Decide and protect</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When do you need a reliable decision rather than fine prose?</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5C242"/>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DECIDE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Jev — a decision model, not a chatbot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B83B2E"/>
            </a:solidFill>
            <a:prstDash val="solid"/>
          </a:ln>
        </p:spPr>
      </p:sp>
      <p:sp>
        <p:nvSpPr>
          <p:cNvPr id="18" name="Shape 15"/>
          <p:cNvSpPr/>
          <p:nvPr/>
        </p:nvSpPr>
        <p:spPr>
          <a:xfrm>
            <a:off x="548640" y="1399032"/>
            <a:ext cx="475488" cy="475488"/>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Jev</a:t>
            </a:r>
            <a:endParaRPr lang="en-US" sz="1300" dirty="0"/>
          </a:p>
        </p:txBody>
      </p:sp>
      <p:sp>
        <p:nvSpPr>
          <p:cNvPr id="21" name="Shape 17"/>
          <p:cNvSpPr/>
          <p:nvPr/>
        </p:nvSpPr>
        <p:spPr>
          <a:xfrm>
            <a:off x="2651760" y="1362456"/>
            <a:ext cx="1097280" cy="201168"/>
          </a:xfrm>
          <a:prstGeom prst="roundRect">
            <a:avLst>
              <a:gd name="adj" fmla="val 50000"/>
            </a:avLst>
          </a:prstGeom>
          <a:solidFill>
            <a:srgbClr val="C4621D"/>
          </a:solidFill>
          <a:ln w="9525">
            <a:solidFill>
              <a:srgbClr val="C4621D"/>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EARLY ACCESS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TypeSafe AI · choices, scores and probabilities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console.typesafe.ai</a:t>
            </a:r>
            <a:endParaRPr lang="en-US" sz="900" dirty="0"/>
          </a:p>
        </p:txBody>
      </p:sp>
      <p:pic>
        <p:nvPicPr>
          <p:cNvPr id="25" name="Image 1" descr="/home/claude/lab10en/qr/jev.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Code free-text answers (occupation, industry, reason), route user requests or flag anomalies — with usable confidence.</a:t>
            </a:r>
            <a:endParaRPr lang="en-US" sz="1100" dirty="0"/>
          </a:p>
        </p:txBody>
      </p:sp>
      <p:sp>
        <p:nvSpPr>
          <p:cNvPr id="28" name="Shape 23"/>
          <p:cNvSpPr/>
          <p:nvPr/>
        </p:nvSpPr>
        <p:spPr>
          <a:xfrm>
            <a:off x="475488" y="2953512"/>
            <a:ext cx="237744" cy="237744"/>
          </a:xfrm>
          <a:prstGeom prst="ellipse">
            <a:avLst/>
          </a:prstGeom>
          <a:solidFill>
            <a:srgbClr val="B83B2E"/>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Official TypeSafe console: Playground (early access)</a:t>
            </a:r>
            <a:endParaRPr lang="en-US" sz="1000" dirty="0"/>
          </a:p>
        </p:txBody>
      </p:sp>
      <p:sp>
        <p:nvSpPr>
          <p:cNvPr id="31" name="Shape 26"/>
          <p:cNvSpPr/>
          <p:nvPr/>
        </p:nvSpPr>
        <p:spPr>
          <a:xfrm>
            <a:off x="475488" y="3355848"/>
            <a:ext cx="237744" cy="237744"/>
          </a:xfrm>
          <a:prstGeom prst="ellipse">
            <a:avLst/>
          </a:prstGeom>
          <a:solidFill>
            <a:srgbClr val="B83B2E"/>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Declare the question and the possible choices (e.g. 10 ISCO major groups)</a:t>
            </a:r>
            <a:endParaRPr lang="en-US" sz="1000" dirty="0"/>
          </a:p>
        </p:txBody>
      </p:sp>
      <p:sp>
        <p:nvSpPr>
          <p:cNvPr id="34" name="Shape 29"/>
          <p:cNvSpPr/>
          <p:nvPr/>
        </p:nvSpPr>
        <p:spPr>
          <a:xfrm>
            <a:off x="475488" y="3758184"/>
            <a:ext cx="237744" cy="237744"/>
          </a:xfrm>
          <a:prstGeom prst="ellipse">
            <a:avLst/>
          </a:prstGeom>
          <a:solidFill>
            <a:srgbClr val="B83B2E"/>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Submit 24 answers whose code is known</a:t>
            </a:r>
            <a:endParaRPr lang="en-US" sz="1000" dirty="0"/>
          </a:p>
        </p:txBody>
      </p:sp>
      <p:sp>
        <p:nvSpPr>
          <p:cNvPr id="37" name="Shape 32"/>
          <p:cNvSpPr/>
          <p:nvPr/>
        </p:nvSpPr>
        <p:spPr>
          <a:xfrm>
            <a:off x="475488" y="4160520"/>
            <a:ext cx="237744" cy="237744"/>
          </a:xfrm>
          <a:prstGeom prst="ellipse">
            <a:avLst/>
          </a:prstGeom>
          <a:solidFill>
            <a:srgbClr val="B83B2E"/>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 accuracy AND confidence with those of an LLM</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Question: ISCO-08 major group of the occupation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Choices: 0 Armed forces … 9 Elementary</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occupations (10 choices)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Context: "tea picker paid by the day"</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Expected: one choice + a probability per choice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 confidence level</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on the 24 reference answers: accuracy, and the share of errors flagged by low confidence.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Speed and price figures are the provider's own: verify them on your cases. Synthetic data only.</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Jev returns predefined choices, scores and probabilities with a confidence estimate rather than text; API early access since 17/09/2026.</a:t>
            </a:r>
            <a:endParaRPr lang="en-US" sz="8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DECIDE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Sovereignty: where does the data go?</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206240" cy="603504"/>
          </a:xfrm>
          <a:prstGeom prst="roundRect">
            <a:avLst>
              <a:gd name="adj" fmla="val 12121"/>
            </a:avLst>
          </a:prstGeom>
          <a:solidFill>
            <a:srgbClr val="F4F7F5"/>
          </a:solidFill>
          <a:ln w="9525">
            <a:solidFill>
              <a:srgbClr val="D5DED9"/>
            </a:solidFill>
            <a:prstDash val="solid"/>
          </a:ln>
        </p:spPr>
      </p:sp>
      <p:sp>
        <p:nvSpPr>
          <p:cNvPr id="18" name="Text 15"/>
          <p:cNvSpPr txBox="1"/>
          <p:nvPr/>
        </p:nvSpPr>
        <p:spPr>
          <a:xfrm>
            <a:off x="594360" y="1444752"/>
            <a:ext cx="1463040" cy="457200"/>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United States</a:t>
            </a:r>
            <a:endParaRPr lang="en-US" sz="1300" dirty="0"/>
          </a:p>
        </p:txBody>
      </p:sp>
      <p:sp>
        <p:nvSpPr>
          <p:cNvPr id="19" name="Text 16"/>
          <p:cNvSpPr txBox="1"/>
          <p:nvPr/>
        </p:nvSpPr>
        <p:spPr>
          <a:xfrm>
            <a:off x="2011680" y="1426464"/>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Perplexity · NotebookLM · Nano Banana · Flow · Jev · Data Commons (Google)</a:t>
            </a:r>
            <a:endParaRPr lang="en-US" sz="950" dirty="0"/>
          </a:p>
        </p:txBody>
      </p:sp>
      <p:sp>
        <p:nvSpPr>
          <p:cNvPr id="20" name="Shape 17"/>
          <p:cNvSpPr/>
          <p:nvPr/>
        </p:nvSpPr>
        <p:spPr>
          <a:xfrm>
            <a:off x="457200" y="2084832"/>
            <a:ext cx="4206240" cy="603504"/>
          </a:xfrm>
          <a:prstGeom prst="roundRect">
            <a:avLst>
              <a:gd name="adj" fmla="val 12121"/>
            </a:avLst>
          </a:prstGeom>
          <a:solidFill>
            <a:srgbClr val="F4F7F5"/>
          </a:solidFill>
          <a:ln w="9525">
            <a:solidFill>
              <a:srgbClr val="D5DED9"/>
            </a:solidFill>
            <a:prstDash val="solid"/>
          </a:ln>
        </p:spPr>
      </p:sp>
      <p:sp>
        <p:nvSpPr>
          <p:cNvPr id="21" name="Text 18"/>
          <p:cNvSpPr txBox="1"/>
          <p:nvPr/>
        </p:nvSpPr>
        <p:spPr>
          <a:xfrm>
            <a:off x="594360" y="2157984"/>
            <a:ext cx="1463040" cy="457200"/>
          </a:xfrm>
          <a:prstGeom prst="rect">
            <a:avLst/>
          </a:prstGeom>
          <a:noFill/>
          <a:ln/>
        </p:spPr>
        <p:txBody>
          <a:bodyPr wrap="square" lIns="0" tIns="0" rIns="0" bIns="0" rtlCol="0" anchor="ctr"/>
          <a:lstStyle/>
          <a:p>
            <a:pPr marL="0" indent="0">
              <a:buNone/>
            </a:pPr>
            <a:r>
              <a:rPr lang="en-US" sz="1300" b="1" dirty="0">
                <a:solidFill>
                  <a:srgbClr val="B83B2E"/>
                </a:solidFill>
                <a:latin typeface="Calibri" pitchFamily="34" charset="0"/>
                <a:ea typeface="Calibri" pitchFamily="34" charset="-122"/>
                <a:cs typeface="Calibri" pitchFamily="34" charset="-120"/>
              </a:rPr>
              <a:t>China</a:t>
            </a:r>
            <a:endParaRPr lang="en-US" sz="1300" dirty="0"/>
          </a:p>
        </p:txBody>
      </p:sp>
      <p:sp>
        <p:nvSpPr>
          <p:cNvPr id="22" name="Text 19"/>
          <p:cNvSpPr txBox="1"/>
          <p:nvPr/>
        </p:nvSpPr>
        <p:spPr>
          <a:xfrm>
            <a:off x="2011680" y="2139696"/>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GLM (Z.ai) · Kimi (Moonshot AI)</a:t>
            </a:r>
            <a:endParaRPr lang="en-US" sz="950" dirty="0"/>
          </a:p>
        </p:txBody>
      </p:sp>
      <p:sp>
        <p:nvSpPr>
          <p:cNvPr id="23" name="Shape 20"/>
          <p:cNvSpPr/>
          <p:nvPr/>
        </p:nvSpPr>
        <p:spPr>
          <a:xfrm>
            <a:off x="457200" y="2798064"/>
            <a:ext cx="4206240" cy="603504"/>
          </a:xfrm>
          <a:prstGeom prst="roundRect">
            <a:avLst>
              <a:gd name="adj" fmla="val 12121"/>
            </a:avLst>
          </a:prstGeom>
          <a:solidFill>
            <a:srgbClr val="F4F7F5"/>
          </a:solidFill>
          <a:ln w="9525">
            <a:solidFill>
              <a:srgbClr val="D5DED9"/>
            </a:solidFill>
            <a:prstDash val="solid"/>
          </a:ln>
        </p:spPr>
      </p:sp>
      <p:sp>
        <p:nvSpPr>
          <p:cNvPr id="24" name="Text 21"/>
          <p:cNvSpPr txBox="1"/>
          <p:nvPr/>
        </p:nvSpPr>
        <p:spPr>
          <a:xfrm>
            <a:off x="594360" y="2871216"/>
            <a:ext cx="1463040" cy="457200"/>
          </a:xfrm>
          <a:prstGeom prst="rect">
            <a:avLst/>
          </a:prstGeom>
          <a:noFill/>
          <a:ln/>
        </p:spPr>
        <p:txBody>
          <a:bodyPr wrap="square" lIns="0" tIns="0" rIns="0" bIns="0" rtlCol="0" anchor="ctr"/>
          <a:lstStyle/>
          <a:p>
            <a:pPr marL="0" indent="0">
              <a:buNone/>
            </a:pPr>
            <a:r>
              <a:rPr lang="en-US" sz="1300" b="1" dirty="0">
                <a:solidFill>
                  <a:srgbClr val="00A86A"/>
                </a:solidFill>
                <a:latin typeface="Calibri" pitchFamily="34" charset="0"/>
                <a:ea typeface="Calibri" pitchFamily="34" charset="-122"/>
                <a:cs typeface="Calibri" pitchFamily="34" charset="-120"/>
              </a:rPr>
              <a:t>European Union</a:t>
            </a:r>
            <a:endParaRPr lang="en-US" sz="1300" dirty="0"/>
          </a:p>
        </p:txBody>
      </p:sp>
      <p:sp>
        <p:nvSpPr>
          <p:cNvPr id="25" name="Text 22"/>
          <p:cNvSpPr txBox="1"/>
          <p:nvPr/>
        </p:nvSpPr>
        <p:spPr>
          <a:xfrm>
            <a:off x="2011680" y="2852928"/>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Le Chat (Mistral AI, France) · LeapSpace (Elsevier)</a:t>
            </a:r>
            <a:endParaRPr lang="en-US" sz="950" dirty="0"/>
          </a:p>
        </p:txBody>
      </p:sp>
      <p:sp>
        <p:nvSpPr>
          <p:cNvPr id="26" name="Shape 23"/>
          <p:cNvSpPr/>
          <p:nvPr/>
        </p:nvSpPr>
        <p:spPr>
          <a:xfrm>
            <a:off x="4892040" y="1371600"/>
            <a:ext cx="3794760" cy="2029968"/>
          </a:xfrm>
          <a:prstGeom prst="roundRect">
            <a:avLst>
              <a:gd name="adj" fmla="val 3604"/>
            </a:avLst>
          </a:prstGeom>
          <a:solidFill>
            <a:srgbClr val="E8F5EF"/>
          </a:solidFill>
          <a:ln w="15875">
            <a:solidFill>
              <a:srgbClr val="00A86A"/>
            </a:solidFill>
            <a:prstDash val="solid"/>
          </a:ln>
        </p:spPr>
      </p:sp>
      <p:sp>
        <p:nvSpPr>
          <p:cNvPr id="27" name="Shape 24"/>
          <p:cNvSpPr/>
          <p:nvPr/>
        </p:nvSpPr>
        <p:spPr>
          <a:xfrm>
            <a:off x="5029200" y="1481328"/>
            <a:ext cx="457200" cy="457200"/>
          </a:xfrm>
          <a:prstGeom prst="ellipse">
            <a:avLst/>
          </a:prstGeom>
          <a:solidFill>
            <a:srgbClr val="00704A">
              <a:alpha val="22000"/>
            </a:srgbClr>
          </a:solidFill>
          <a:ln/>
        </p:spPr>
      </p:sp>
      <p:pic>
        <p:nvPicPr>
          <p:cNvPr id="28" name="Image 0" descr="preencoded.png"/>
          <p:cNvPicPr>
            <a:picLocks noChangeAspect="1"/>
          </p:cNvPicPr>
          <p:nvPr/>
        </p:nvPicPr>
        <p:blipFill>
          <a:blip r:embed="rId3"/>
          <a:stretch>
            <a:fillRect/>
          </a:stretch>
        </p:blipFill>
        <p:spPr>
          <a:xfrm>
            <a:off x="5143500" y="1595628"/>
            <a:ext cx="228600" cy="228600"/>
          </a:xfrm>
          <a:prstGeom prst="rect">
            <a:avLst/>
          </a:prstGeom>
        </p:spPr>
      </p:pic>
      <p:sp>
        <p:nvSpPr>
          <p:cNvPr id="29" name="Text 25"/>
          <p:cNvSpPr txBox="1"/>
          <p:nvPr/>
        </p:nvSpPr>
        <p:spPr>
          <a:xfrm>
            <a:off x="5577840" y="1517904"/>
            <a:ext cx="301752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The decisive lever: open weights</a:t>
            </a:r>
            <a:endParaRPr lang="en-US" sz="1300" dirty="0"/>
          </a:p>
        </p:txBody>
      </p:sp>
      <p:sp>
        <p:nvSpPr>
          <p:cNvPr id="30" name="Text 26"/>
          <p:cNvSpPr txBox="1"/>
          <p:nvPr/>
        </p:nvSpPr>
        <p:spPr>
          <a:xfrm>
            <a:off x="5047488" y="2011680"/>
            <a:ext cx="3520440" cy="13258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GLM, Kimi and Mistral publish open-weight models. Installed on an office server, they process sensitive data without it ever leaving the building. This is an infrastructure project, to be run with the IT department.</a:t>
            </a:r>
            <a:endParaRPr lang="en-US" sz="1050" dirty="0"/>
          </a:p>
        </p:txBody>
      </p:sp>
      <p:sp>
        <p:nvSpPr>
          <p:cNvPr id="31" name="Shape 27"/>
          <p:cNvSpPr/>
          <p:nvPr/>
        </p:nvSpPr>
        <p:spPr>
          <a:xfrm>
            <a:off x="457200" y="3584448"/>
            <a:ext cx="8229600" cy="868680"/>
          </a:xfrm>
          <a:prstGeom prst="roundRect">
            <a:avLst>
              <a:gd name="adj" fmla="val 8421"/>
            </a:avLst>
          </a:prstGeom>
          <a:solidFill>
            <a:srgbClr val="FFFFFF"/>
          </a:solidFill>
          <a:ln w="9525">
            <a:solidFill>
              <a:srgbClr val="00704A"/>
            </a:solidFill>
            <a:prstDash val="solid"/>
          </a:ln>
        </p:spPr>
      </p:sp>
      <p:sp>
        <p:nvSpPr>
          <p:cNvPr id="32" name="Shape 28"/>
          <p:cNvSpPr/>
          <p:nvPr/>
        </p:nvSpPr>
        <p:spPr>
          <a:xfrm>
            <a:off x="594360" y="3767328"/>
            <a:ext cx="457200" cy="457200"/>
          </a:xfrm>
          <a:prstGeom prst="ellipse">
            <a:avLst/>
          </a:prstGeom>
          <a:solidFill>
            <a:srgbClr val="00A86A">
              <a:alpha val="22000"/>
            </a:srgbClr>
          </a:solidFill>
          <a:ln/>
        </p:spPr>
      </p:sp>
      <p:pic>
        <p:nvPicPr>
          <p:cNvPr id="33" name="Image 1" descr="preencoded.png"/>
          <p:cNvPicPr>
            <a:picLocks noChangeAspect="1"/>
          </p:cNvPicPr>
          <p:nvPr/>
        </p:nvPicPr>
        <p:blipFill>
          <a:blip r:embed="rId4"/>
          <a:stretch>
            <a:fillRect/>
          </a:stretch>
        </p:blipFill>
        <p:spPr>
          <a:xfrm>
            <a:off x="708660" y="3881628"/>
            <a:ext cx="228600" cy="228600"/>
          </a:xfrm>
          <a:prstGeom prst="rect">
            <a:avLst/>
          </a:prstGeom>
        </p:spPr>
      </p:pic>
      <p:sp>
        <p:nvSpPr>
          <p:cNvPr id="34" name="Text 29"/>
          <p:cNvSpPr txBox="1"/>
          <p:nvPr/>
        </p:nvSpPr>
        <p:spPr>
          <a:xfrm>
            <a:off x="1188720" y="3630168"/>
            <a:ext cx="6583680" cy="77724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Le Chat (Mistral): </a:t>
            </a:r>
            <a:r>
              <a:rPr lang="en-US" sz="1100" dirty="0">
                <a:solidFill>
                  <a:srgbClr val="231F20"/>
                </a:solidFill>
                <a:latin typeface="Calibri" pitchFamily="34" charset="0"/>
                <a:ea typeface="Calibri" pitchFamily="34" charset="-122"/>
                <a:cs typeface="Calibri" pitchFamily="34" charset="-120"/>
              </a:rPr>
              <a:t>the free European alternative, very strong in French. Useful for drafting and translation, under the same data rules. </a:t>
            </a:r>
            <a:r>
              <a:rPr lang="en-US" sz="1100" b="1"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chat.mistral.ai</a:t>
            </a:r>
            <a:endParaRPr lang="en-US" sz="1100" dirty="0"/>
          </a:p>
        </p:txBody>
      </p:sp>
      <p:pic>
        <p:nvPicPr>
          <p:cNvPr id="35" name="Image 2" descr="/home/claude/lab10en/qr/lechat.png">
            <a:hlinkClick r:id="rId5"/>
          </p:cNvPr>
          <p:cNvPicPr>
            <a:picLocks noChangeAspect="1"/>
          </p:cNvPicPr>
          <p:nvPr/>
        </p:nvPicPr>
        <p:blipFill>
          <a:blip r:embed="rId6"/>
          <a:stretch>
            <a:fillRect/>
          </a:stretch>
        </p:blipFill>
        <p:spPr>
          <a:xfrm>
            <a:off x="7909560" y="3648456"/>
            <a:ext cx="731520" cy="731520"/>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DECIDE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Four golden rules, valid for all ten tools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4023360" cy="1444752"/>
          </a:xfrm>
          <a:prstGeom prst="roundRect">
            <a:avLst>
              <a:gd name="adj" fmla="val 5063"/>
            </a:avLst>
          </a:prstGeom>
          <a:solidFill>
            <a:srgbClr val="FFFFFF"/>
          </a:solidFill>
          <a:ln w="15875">
            <a:solidFill>
              <a:srgbClr val="B83B2E"/>
            </a:solidFill>
            <a:prstDash val="solid"/>
          </a:ln>
        </p:spPr>
      </p:sp>
      <p:sp>
        <p:nvSpPr>
          <p:cNvPr id="18" name="Text 15"/>
          <p:cNvSpPr txBox="1"/>
          <p:nvPr/>
        </p:nvSpPr>
        <p:spPr>
          <a:xfrm>
            <a:off x="640080" y="1435608"/>
            <a:ext cx="548640" cy="640080"/>
          </a:xfrm>
          <a:prstGeom prst="rect">
            <a:avLst/>
          </a:prstGeom>
          <a:noFill/>
          <a:ln/>
        </p:spPr>
        <p:txBody>
          <a:bodyPr wrap="square" lIns="0" tIns="0" rIns="0" bIns="0" rtlCol="0" anchor="t"/>
          <a:lstStyle/>
          <a:p>
            <a:pPr marL="0" indent="0">
              <a:buNone/>
            </a:pPr>
            <a:r>
              <a:rPr lang="en-US" sz="3600" b="1" dirty="0">
                <a:solidFill>
                  <a:srgbClr val="B83B2E"/>
                </a:solidFill>
                <a:latin typeface="Calibri" pitchFamily="34" charset="0"/>
                <a:ea typeface="Calibri" pitchFamily="34" charset="-122"/>
                <a:cs typeface="Calibri" pitchFamily="34" charset="-120"/>
              </a:rPr>
              <a:t>1</a:t>
            </a:r>
            <a:endParaRPr lang="en-US" sz="3600" dirty="0"/>
          </a:p>
        </p:txBody>
      </p:sp>
      <p:sp>
        <p:nvSpPr>
          <p:cNvPr id="19" name="Text 16"/>
          <p:cNvSpPr txBox="1"/>
          <p:nvPr/>
        </p:nvSpPr>
        <p:spPr>
          <a:xfrm>
            <a:off x="1234440" y="15087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Public or synthetic data</a:t>
            </a:r>
            <a:endParaRPr lang="en-US" sz="1400" dirty="0"/>
          </a:p>
        </p:txBody>
      </p:sp>
      <p:sp>
        <p:nvSpPr>
          <p:cNvPr id="20" name="Text 17"/>
          <p:cNvSpPr txBox="1"/>
          <p:nvPr/>
        </p:nvSpPr>
        <p:spPr>
          <a:xfrm>
            <a:off x="1234440" y="18745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Never microdata, identifiers, embargoed figures or sensitive internal documents.</a:t>
            </a:r>
            <a:endParaRPr lang="en-US" sz="1050" dirty="0"/>
          </a:p>
        </p:txBody>
      </p:sp>
      <p:sp>
        <p:nvSpPr>
          <p:cNvPr id="21" name="Shape 18"/>
          <p:cNvSpPr/>
          <p:nvPr/>
        </p:nvSpPr>
        <p:spPr>
          <a:xfrm>
            <a:off x="4663440" y="1325880"/>
            <a:ext cx="4023360" cy="1444752"/>
          </a:xfrm>
          <a:prstGeom prst="roundRect">
            <a:avLst>
              <a:gd name="adj" fmla="val 5063"/>
            </a:avLst>
          </a:prstGeom>
          <a:solidFill>
            <a:srgbClr val="FFFFFF"/>
          </a:solidFill>
          <a:ln w="15875">
            <a:solidFill>
              <a:srgbClr val="00A86A"/>
            </a:solidFill>
            <a:prstDash val="solid"/>
          </a:ln>
        </p:spPr>
      </p:sp>
      <p:sp>
        <p:nvSpPr>
          <p:cNvPr id="22" name="Text 19"/>
          <p:cNvSpPr txBox="1"/>
          <p:nvPr/>
        </p:nvSpPr>
        <p:spPr>
          <a:xfrm>
            <a:off x="4846320" y="1435608"/>
            <a:ext cx="548640" cy="640080"/>
          </a:xfrm>
          <a:prstGeom prst="rect">
            <a:avLst/>
          </a:prstGeom>
          <a:noFill/>
          <a:ln/>
        </p:spPr>
        <p:txBody>
          <a:bodyPr wrap="square" lIns="0" tIns="0" rIns="0" bIns="0" rtlCol="0" anchor="t"/>
          <a:lstStyle/>
          <a:p>
            <a:pPr marL="0" indent="0">
              <a:buNone/>
            </a:pPr>
            <a:r>
              <a:rPr lang="en-US" sz="3600" b="1" dirty="0">
                <a:solidFill>
                  <a:srgbClr val="00A86A"/>
                </a:solidFill>
                <a:latin typeface="Calibri" pitchFamily="34" charset="0"/>
                <a:ea typeface="Calibri" pitchFamily="34" charset="-122"/>
                <a:cs typeface="Calibri" pitchFamily="34" charset="-120"/>
              </a:rPr>
              <a:t>2</a:t>
            </a:r>
            <a:endParaRPr lang="en-US" sz="3600" dirty="0"/>
          </a:p>
        </p:txBody>
      </p:sp>
      <p:sp>
        <p:nvSpPr>
          <p:cNvPr id="23" name="Text 20"/>
          <p:cNvSpPr txBox="1"/>
          <p:nvPr/>
        </p:nvSpPr>
        <p:spPr>
          <a:xfrm>
            <a:off x="5440680" y="15087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Back to the source</a:t>
            </a:r>
            <a:endParaRPr lang="en-US" sz="1400" dirty="0"/>
          </a:p>
        </p:txBody>
      </p:sp>
      <p:sp>
        <p:nvSpPr>
          <p:cNvPr id="24" name="Text 21"/>
          <p:cNvSpPr txBox="1"/>
          <p:nvPr/>
        </p:nvSpPr>
        <p:spPr>
          <a:xfrm>
            <a:off x="5440680" y="18745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figure, citation or code produced by a tool is checked against the original document.</a:t>
            </a:r>
            <a:endParaRPr lang="en-US" sz="1050" dirty="0"/>
          </a:p>
        </p:txBody>
      </p:sp>
      <p:sp>
        <p:nvSpPr>
          <p:cNvPr id="25" name="Shape 22"/>
          <p:cNvSpPr/>
          <p:nvPr/>
        </p:nvSpPr>
        <p:spPr>
          <a:xfrm>
            <a:off x="457200" y="2926080"/>
            <a:ext cx="4023360" cy="1444752"/>
          </a:xfrm>
          <a:prstGeom prst="roundRect">
            <a:avLst>
              <a:gd name="adj" fmla="val 5063"/>
            </a:avLst>
          </a:prstGeom>
          <a:solidFill>
            <a:srgbClr val="FFFFFF"/>
          </a:solidFill>
          <a:ln w="15875">
            <a:solidFill>
              <a:srgbClr val="0E7C86"/>
            </a:solidFill>
            <a:prstDash val="solid"/>
          </a:ln>
        </p:spPr>
      </p:sp>
      <p:sp>
        <p:nvSpPr>
          <p:cNvPr id="26" name="Text 23"/>
          <p:cNvSpPr txBox="1"/>
          <p:nvPr/>
        </p:nvSpPr>
        <p:spPr>
          <a:xfrm>
            <a:off x="640080" y="3035808"/>
            <a:ext cx="548640" cy="640080"/>
          </a:xfrm>
          <a:prstGeom prst="rect">
            <a:avLst/>
          </a:prstGeom>
          <a:noFill/>
          <a:ln/>
        </p:spPr>
        <p:txBody>
          <a:bodyPr wrap="square" lIns="0" tIns="0" rIns="0" bIns="0" rtlCol="0" anchor="t"/>
          <a:lstStyle/>
          <a:p>
            <a:pPr marL="0" indent="0">
              <a:buNone/>
            </a:pPr>
            <a:r>
              <a:rPr lang="en-US" sz="3600" b="1" dirty="0">
                <a:solidFill>
                  <a:srgbClr val="0E7C86"/>
                </a:solidFill>
                <a:latin typeface="Calibri" pitchFamily="34" charset="0"/>
                <a:ea typeface="Calibri" pitchFamily="34" charset="-122"/>
                <a:cs typeface="Calibri" pitchFamily="34" charset="-120"/>
              </a:rPr>
              <a:t>3</a:t>
            </a:r>
            <a:endParaRPr lang="en-US" sz="3600" dirty="0"/>
          </a:p>
        </p:txBody>
      </p:sp>
      <p:sp>
        <p:nvSpPr>
          <p:cNvPr id="27" name="Text 24"/>
          <p:cNvSpPr txBox="1"/>
          <p:nvPr/>
        </p:nvSpPr>
        <p:spPr>
          <a:xfrm>
            <a:off x="1234440" y="31089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Label the AI</a:t>
            </a:r>
            <a:endParaRPr lang="en-US" sz="1400" dirty="0"/>
          </a:p>
        </p:txBody>
      </p:sp>
      <p:sp>
        <p:nvSpPr>
          <p:cNvPr id="28" name="Text 25"/>
          <p:cNvSpPr txBox="1"/>
          <p:nvPr/>
        </p:nvSpPr>
        <p:spPr>
          <a:xfrm>
            <a:off x="1234440" y="34747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Images, videos, audio and dashboards carry the line “produced with AI, approved by …”.</a:t>
            </a:r>
            <a:endParaRPr lang="en-US" sz="1050" dirty="0"/>
          </a:p>
        </p:txBody>
      </p:sp>
      <p:sp>
        <p:nvSpPr>
          <p:cNvPr id="29" name="Shape 26"/>
          <p:cNvSpPr/>
          <p:nvPr/>
        </p:nvSpPr>
        <p:spPr>
          <a:xfrm>
            <a:off x="4663440" y="2926080"/>
            <a:ext cx="4023360" cy="1444752"/>
          </a:xfrm>
          <a:prstGeom prst="roundRect">
            <a:avLst>
              <a:gd name="adj" fmla="val 5063"/>
            </a:avLst>
          </a:prstGeom>
          <a:solidFill>
            <a:srgbClr val="FFFFFF"/>
          </a:solidFill>
          <a:ln w="15875">
            <a:solidFill>
              <a:srgbClr val="D49A00"/>
            </a:solidFill>
            <a:prstDash val="solid"/>
          </a:ln>
        </p:spPr>
      </p:sp>
      <p:sp>
        <p:nvSpPr>
          <p:cNvPr id="30" name="Text 27"/>
          <p:cNvSpPr txBox="1"/>
          <p:nvPr/>
        </p:nvSpPr>
        <p:spPr>
          <a:xfrm>
            <a:off x="4846320" y="3035808"/>
            <a:ext cx="548640" cy="640080"/>
          </a:xfrm>
          <a:prstGeom prst="rect">
            <a:avLst/>
          </a:prstGeom>
          <a:noFill/>
          <a:ln/>
        </p:spPr>
        <p:txBody>
          <a:bodyPr wrap="square" lIns="0" tIns="0" rIns="0" bIns="0" rtlCol="0" anchor="t"/>
          <a:lstStyle/>
          <a:p>
            <a:pPr marL="0" indent="0">
              <a:buNone/>
            </a:pPr>
            <a:r>
              <a:rPr lang="en-US" sz="3600" b="1" dirty="0">
                <a:solidFill>
                  <a:srgbClr val="D49A00"/>
                </a:solidFill>
                <a:latin typeface="Calibri" pitchFamily="34" charset="0"/>
                <a:ea typeface="Calibri" pitchFamily="34" charset="-122"/>
                <a:cs typeface="Calibri" pitchFamily="34" charset="-120"/>
              </a:rPr>
              <a:t>4</a:t>
            </a:r>
            <a:endParaRPr lang="en-US" sz="3600" dirty="0"/>
          </a:p>
        </p:txBody>
      </p:sp>
      <p:sp>
        <p:nvSpPr>
          <p:cNvPr id="31" name="Text 28"/>
          <p:cNvSpPr txBox="1"/>
          <p:nvPr/>
        </p:nvSpPr>
        <p:spPr>
          <a:xfrm>
            <a:off x="5440680" y="31089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One account per person</a:t>
            </a:r>
            <a:endParaRPr lang="en-US" sz="1400" dirty="0"/>
          </a:p>
        </p:txBody>
      </p:sp>
      <p:sp>
        <p:nvSpPr>
          <p:cNvPr id="32" name="Text 29"/>
          <p:cNvSpPr txBox="1"/>
          <p:nvPr/>
        </p:nvSpPr>
        <p:spPr>
          <a:xfrm>
            <a:off x="5440680" y="34747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shared account; no password or key in a document or a cell.</a:t>
            </a:r>
            <a:endParaRPr lang="en-US" sz="10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64008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CLOSING · THREE MESSAGES</a:t>
            </a:r>
            <a:endParaRPr lang="en-US" sz="1100" dirty="0"/>
          </a:p>
        </p:txBody>
      </p:sp>
      <p:sp>
        <p:nvSpPr>
          <p:cNvPr id="4" name="Text 2"/>
          <p:cNvSpPr txBox="1"/>
          <p:nvPr/>
        </p:nvSpPr>
        <p:spPr>
          <a:xfrm>
            <a:off x="548640" y="960120"/>
            <a:ext cx="7772400" cy="10972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The right tool, properly checked,</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serving official statistics</a:t>
            </a:r>
            <a:endParaRPr lang="en-US" sz="3200" dirty="0"/>
          </a:p>
        </p:txBody>
      </p:sp>
      <p:sp>
        <p:nvSpPr>
          <p:cNvPr id="5" name="Shape 3"/>
          <p:cNvSpPr/>
          <p:nvPr/>
        </p:nvSpPr>
        <p:spPr>
          <a:xfrm>
            <a:off x="5486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6" name="Text 4"/>
          <p:cNvSpPr txBox="1"/>
          <p:nvPr/>
        </p:nvSpPr>
        <p:spPr>
          <a:xfrm>
            <a:off x="7315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1</a:t>
            </a:r>
            <a:endParaRPr lang="en-US" sz="3600" dirty="0"/>
          </a:p>
        </p:txBody>
      </p:sp>
      <p:sp>
        <p:nvSpPr>
          <p:cNvPr id="7" name="Text 5"/>
          <p:cNvSpPr txBox="1"/>
          <p:nvPr/>
        </p:nvSpPr>
        <p:spPr>
          <a:xfrm>
            <a:off x="7315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The task picks the tool</a:t>
            </a:r>
            <a:endParaRPr lang="en-US" sz="1400" dirty="0"/>
          </a:p>
        </p:txBody>
      </p:sp>
      <p:sp>
        <p:nvSpPr>
          <p:cNvPr id="8" name="Text 6"/>
          <p:cNvSpPr txBox="1"/>
          <p:nvPr/>
        </p:nvSpPr>
        <p:spPr>
          <a:xfrm>
            <a:off x="7315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Search, understand, transform, visualise, decide: each use has its own tool.</a:t>
            </a:r>
            <a:endParaRPr lang="en-US" sz="1050" dirty="0"/>
          </a:p>
        </p:txBody>
      </p:sp>
      <p:sp>
        <p:nvSpPr>
          <p:cNvPr id="9" name="Shape 7"/>
          <p:cNvSpPr/>
          <p:nvPr/>
        </p:nvSpPr>
        <p:spPr>
          <a:xfrm>
            <a:off x="32918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0" name="Text 8"/>
          <p:cNvSpPr txBox="1"/>
          <p:nvPr/>
        </p:nvSpPr>
        <p:spPr>
          <a:xfrm>
            <a:off x="34747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2</a:t>
            </a:r>
            <a:endParaRPr lang="en-US" sz="3600" dirty="0"/>
          </a:p>
        </p:txBody>
      </p:sp>
      <p:sp>
        <p:nvSpPr>
          <p:cNvPr id="11" name="Text 9"/>
          <p:cNvSpPr txBox="1"/>
          <p:nvPr/>
        </p:nvSpPr>
        <p:spPr>
          <a:xfrm>
            <a:off x="34747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Measure before adopting</a:t>
            </a:r>
            <a:endParaRPr lang="en-US" sz="1400" dirty="0"/>
          </a:p>
        </p:txBody>
      </p:sp>
      <p:sp>
        <p:nvSpPr>
          <p:cNvPr id="12" name="Text 10"/>
          <p:cNvSpPr txBox="1"/>
          <p:nvPr/>
        </p:nvSpPr>
        <p:spPr>
          <a:xfrm>
            <a:off x="34747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Time, verified quality, risk: three numbers for every trial, shared between countries.</a:t>
            </a:r>
            <a:endParaRPr lang="en-US" sz="1050" dirty="0"/>
          </a:p>
        </p:txBody>
      </p:sp>
      <p:sp>
        <p:nvSpPr>
          <p:cNvPr id="13" name="Shape 11"/>
          <p:cNvSpPr/>
          <p:nvPr/>
        </p:nvSpPr>
        <p:spPr>
          <a:xfrm>
            <a:off x="60350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4" name="Text 12"/>
          <p:cNvSpPr txBox="1"/>
          <p:nvPr/>
        </p:nvSpPr>
        <p:spPr>
          <a:xfrm>
            <a:off x="62179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3</a:t>
            </a:r>
            <a:endParaRPr lang="en-US" sz="3600" dirty="0"/>
          </a:p>
        </p:txBody>
      </p:sp>
      <p:sp>
        <p:nvSpPr>
          <p:cNvPr id="15" name="Text 13"/>
          <p:cNvSpPr txBox="1"/>
          <p:nvPr/>
        </p:nvSpPr>
        <p:spPr>
          <a:xfrm>
            <a:off x="62179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The source has the last word</a:t>
            </a:r>
            <a:endParaRPr lang="en-US" sz="1400" dirty="0"/>
          </a:p>
        </p:txBody>
      </p:sp>
      <p:sp>
        <p:nvSpPr>
          <p:cNvPr id="16" name="Text 14"/>
          <p:cNvSpPr txBox="1"/>
          <p:nvPr/>
        </p:nvSpPr>
        <p:spPr>
          <a:xfrm>
            <a:off x="62179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Public data, back to the source, generated content labelled, one account per person.</a:t>
            </a:r>
            <a:endParaRPr lang="en-US" sz="1050" dirty="0"/>
          </a:p>
        </p:txBody>
      </p:sp>
      <p:sp>
        <p:nvSpPr>
          <p:cNvPr id="17" name="Text 15"/>
          <p:cNvSpPr txBox="1"/>
          <p:nvPr/>
        </p:nvSpPr>
        <p:spPr>
          <a:xfrm>
            <a:off x="548640" y="4343400"/>
            <a:ext cx="7315200" cy="274320"/>
          </a:xfrm>
          <a:prstGeom prst="rect">
            <a:avLst/>
          </a:prstGeom>
          <a:noFill/>
          <a:ln/>
        </p:spPr>
        <p:txBody>
          <a:bodyPr wrap="square" lIns="0" tIns="0" rIns="0" bIns="0" rtlCol="0" anchor="t"/>
          <a:lstStyle/>
          <a:p>
            <a:pPr marL="0" indent="0">
              <a:buNone/>
            </a:pPr>
            <a:r>
              <a:rPr lang="en-US" sz="1300" i="1" dirty="0">
                <a:solidFill>
                  <a:srgbClr val="FFFFFF"/>
                </a:solidFill>
                <a:latin typeface="Calibri" pitchFamily="34" charset="0"/>
                <a:ea typeface="Calibri" pitchFamily="34" charset="-122"/>
                <a:cs typeface="Calibri" pitchFamily="34" charset="-120"/>
              </a:rPr>
              <a:t>Over to you: choose two cards, test, measure — and share your results.</a:t>
            </a:r>
            <a:endParaRPr lang="en-US" sz="13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ROLL OUT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Documents to test (1/2): Botswana -&gt; Kenya</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261872"/>
            <a:ext cx="1965960" cy="1591056"/>
          </a:xfrm>
          <a:prstGeom prst="roundRect">
            <a:avLst>
              <a:gd name="adj" fmla="val 4598"/>
            </a:avLst>
          </a:prstGeom>
          <a:solidFill>
            <a:srgbClr val="FFFFFF"/>
          </a:solidFill>
          <a:ln w="13970">
            <a:solidFill>
              <a:srgbClr val="0E7C86"/>
            </a:solidFill>
            <a:prstDash val="solid"/>
          </a:ln>
        </p:spPr>
      </p:sp>
      <p:pic>
        <p:nvPicPr>
          <p:cNvPr id="18" name="Image 0" descr="/home/claude/lab10en/qr/p_bw.png">
            <a:hlinkClick r:id="rId3"/>
          </p:cNvPr>
          <p:cNvPicPr>
            <a:picLocks noChangeAspect="1"/>
          </p:cNvPicPr>
          <p:nvPr/>
        </p:nvPicPr>
        <p:blipFill>
          <a:blip r:embed="rId4"/>
          <a:stretch>
            <a:fillRect/>
          </a:stretch>
        </p:blipFill>
        <p:spPr>
          <a:xfrm>
            <a:off x="521208" y="1325880"/>
            <a:ext cx="896112" cy="896112"/>
          </a:xfrm>
          <a:prstGeom prst="rect">
            <a:avLst/>
          </a:prstGeom>
        </p:spPr>
      </p:pic>
      <p:sp>
        <p:nvSpPr>
          <p:cNvPr id="19" name="Text 15"/>
          <p:cNvSpPr txBox="1"/>
          <p:nvPr/>
        </p:nvSpPr>
        <p:spPr>
          <a:xfrm>
            <a:off x="1463040"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Botswana</a:t>
            </a:r>
            <a:endParaRPr lang="en-US" sz="1150" dirty="0"/>
          </a:p>
        </p:txBody>
      </p:sp>
      <p:sp>
        <p:nvSpPr>
          <p:cNvPr id="20" name="Text 16"/>
          <p:cNvSpPr txBox="1"/>
          <p:nvPr/>
        </p:nvSpPr>
        <p:spPr>
          <a:xfrm>
            <a:off x="1463040"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Statistics Botswana</a:t>
            </a:r>
            <a:endParaRPr lang="en-US" sz="800" dirty="0"/>
          </a:p>
        </p:txBody>
      </p:sp>
      <p:sp>
        <p:nvSpPr>
          <p:cNvPr id="21" name="Shape 17"/>
          <p:cNvSpPr/>
          <p:nvPr/>
        </p:nvSpPr>
        <p:spPr>
          <a:xfrm>
            <a:off x="1463040" y="1920240"/>
            <a:ext cx="502920" cy="192024"/>
          </a:xfrm>
          <a:prstGeom prst="roundRect">
            <a:avLst>
              <a:gd name="adj" fmla="val 52381"/>
            </a:avLst>
          </a:prstGeom>
          <a:solidFill>
            <a:srgbClr val="B83B2E"/>
          </a:solidFill>
          <a:ln w="9525">
            <a:solidFill>
              <a:srgbClr val="B83B2E"/>
            </a:solidFill>
            <a:prstDash val="solid"/>
          </a:ln>
        </p:spPr>
      </p:sp>
      <p:sp>
        <p:nvSpPr>
          <p:cNvPr id="22" name="Text 18"/>
          <p:cNvSpPr txBox="1"/>
          <p:nvPr/>
        </p:nvSpPr>
        <p:spPr>
          <a:xfrm>
            <a:off x="1463040"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23" name="Shape 19"/>
          <p:cNvSpPr/>
          <p:nvPr/>
        </p:nvSpPr>
        <p:spPr>
          <a:xfrm>
            <a:off x="1993392"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24" name="Text 20"/>
          <p:cNvSpPr txBox="1"/>
          <p:nvPr/>
        </p:nvSpPr>
        <p:spPr>
          <a:xfrm>
            <a:off x="1993392"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25" name="Shape 21"/>
          <p:cNvSpPr/>
          <p:nvPr/>
        </p:nvSpPr>
        <p:spPr>
          <a:xfrm>
            <a:off x="548640" y="2276856"/>
            <a:ext cx="109728" cy="109728"/>
          </a:xfrm>
          <a:prstGeom prst="ellipse">
            <a:avLst/>
          </a:prstGeom>
          <a:solidFill>
            <a:srgbClr val="0E7C86"/>
          </a:solidFill>
          <a:ln/>
        </p:spPr>
      </p:sp>
      <p:sp>
        <p:nvSpPr>
          <p:cNvPr id="26" name="Text 22"/>
          <p:cNvSpPr txBox="1"/>
          <p:nvPr/>
        </p:nvSpPr>
        <p:spPr>
          <a:xfrm>
            <a:off x="704088" y="2240280"/>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indexed</a:t>
            </a:r>
            <a:endParaRPr lang="en-US" sz="750" dirty="0"/>
          </a:p>
        </p:txBody>
      </p:sp>
      <p:sp>
        <p:nvSpPr>
          <p:cNvPr id="27" name="Text 23"/>
          <p:cNvSpPr txBox="1"/>
          <p:nvPr/>
        </p:nvSpPr>
        <p:spPr>
          <a:xfrm>
            <a:off x="548640"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January 2026</a:t>
            </a:r>
            <a:endParaRPr lang="en-US" sz="700" dirty="0"/>
          </a:p>
        </p:txBody>
      </p:sp>
      <p:sp>
        <p:nvSpPr>
          <p:cNvPr id="28" name="Text 24">
            <a:hlinkClick r:id="rId3"/>
          </p:cNvPr>
          <p:cNvSpPr txBox="1"/>
          <p:nvPr/>
        </p:nvSpPr>
        <p:spPr>
          <a:xfrm>
            <a:off x="548640"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statsbots.org.bw › CPI January 2026.pdf</a:t>
            </a:r>
            <a:endParaRPr lang="en-US" sz="650" dirty="0"/>
          </a:p>
        </p:txBody>
      </p:sp>
      <p:sp>
        <p:nvSpPr>
          <p:cNvPr id="29" name="Shape 25"/>
          <p:cNvSpPr/>
          <p:nvPr/>
        </p:nvSpPr>
        <p:spPr>
          <a:xfrm>
            <a:off x="2542032" y="1261872"/>
            <a:ext cx="1965960" cy="1591056"/>
          </a:xfrm>
          <a:prstGeom prst="roundRect">
            <a:avLst>
              <a:gd name="adj" fmla="val 4598"/>
            </a:avLst>
          </a:prstGeom>
          <a:solidFill>
            <a:srgbClr val="FFFFFF"/>
          </a:solidFill>
          <a:ln w="13970">
            <a:solidFill>
              <a:srgbClr val="D49A00"/>
            </a:solidFill>
            <a:prstDash val="solid"/>
          </a:ln>
        </p:spPr>
      </p:sp>
      <p:pic>
        <p:nvPicPr>
          <p:cNvPr id="30" name="Image 1" descr="/home/claude/lab10en/qr/p_bi.png">
            <a:hlinkClick r:id="rId5"/>
          </p:cNvPr>
          <p:cNvPicPr>
            <a:picLocks noChangeAspect="1"/>
          </p:cNvPicPr>
          <p:nvPr/>
        </p:nvPicPr>
        <p:blipFill>
          <a:blip r:embed="rId6"/>
          <a:stretch>
            <a:fillRect/>
          </a:stretch>
        </p:blipFill>
        <p:spPr>
          <a:xfrm>
            <a:off x="2606040" y="1325880"/>
            <a:ext cx="896112" cy="896112"/>
          </a:xfrm>
          <a:prstGeom prst="rect">
            <a:avLst/>
          </a:prstGeom>
        </p:spPr>
      </p:pic>
      <p:sp>
        <p:nvSpPr>
          <p:cNvPr id="31" name="Text 26"/>
          <p:cNvSpPr txBox="1"/>
          <p:nvPr/>
        </p:nvSpPr>
        <p:spPr>
          <a:xfrm>
            <a:off x="3547872"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Burundi</a:t>
            </a:r>
            <a:endParaRPr lang="en-US" sz="1150" dirty="0"/>
          </a:p>
        </p:txBody>
      </p:sp>
      <p:sp>
        <p:nvSpPr>
          <p:cNvPr id="32" name="Text 27"/>
          <p:cNvSpPr txBox="1"/>
          <p:nvPr/>
        </p:nvSpPr>
        <p:spPr>
          <a:xfrm>
            <a:off x="3547872"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INSBU</a:t>
            </a:r>
            <a:endParaRPr lang="en-US" sz="800" dirty="0"/>
          </a:p>
        </p:txBody>
      </p:sp>
      <p:sp>
        <p:nvSpPr>
          <p:cNvPr id="33" name="Shape 28"/>
          <p:cNvSpPr/>
          <p:nvPr/>
        </p:nvSpPr>
        <p:spPr>
          <a:xfrm>
            <a:off x="3547872" y="1920240"/>
            <a:ext cx="502920" cy="192024"/>
          </a:xfrm>
          <a:prstGeom prst="roundRect">
            <a:avLst>
              <a:gd name="adj" fmla="val 52381"/>
            </a:avLst>
          </a:prstGeom>
          <a:solidFill>
            <a:srgbClr val="B83B2E"/>
          </a:solidFill>
          <a:ln w="9525">
            <a:solidFill>
              <a:srgbClr val="B83B2E"/>
            </a:solidFill>
            <a:prstDash val="solid"/>
          </a:ln>
        </p:spPr>
      </p:sp>
      <p:sp>
        <p:nvSpPr>
          <p:cNvPr id="34" name="Text 29"/>
          <p:cNvSpPr txBox="1"/>
          <p:nvPr/>
        </p:nvSpPr>
        <p:spPr>
          <a:xfrm>
            <a:off x="3547872"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35" name="Shape 30"/>
          <p:cNvSpPr/>
          <p:nvPr/>
        </p:nvSpPr>
        <p:spPr>
          <a:xfrm>
            <a:off x="4078224"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36" name="Text 31"/>
          <p:cNvSpPr txBox="1"/>
          <p:nvPr/>
        </p:nvSpPr>
        <p:spPr>
          <a:xfrm>
            <a:off x="4078224"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37" name="Shape 32"/>
          <p:cNvSpPr/>
          <p:nvPr/>
        </p:nvSpPr>
        <p:spPr>
          <a:xfrm>
            <a:off x="2633472" y="2276856"/>
            <a:ext cx="109728" cy="109728"/>
          </a:xfrm>
          <a:prstGeom prst="ellipse">
            <a:avLst/>
          </a:prstGeom>
          <a:solidFill>
            <a:srgbClr val="D49A00"/>
          </a:solidFill>
          <a:ln/>
        </p:spPr>
      </p:sp>
      <p:sp>
        <p:nvSpPr>
          <p:cNvPr id="38" name="Text 33"/>
          <p:cNvSpPr txBox="1"/>
          <p:nvPr/>
        </p:nvSpPr>
        <p:spPr>
          <a:xfrm>
            <a:off x="2788920"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PDF indexed · 2025 edition</a:t>
            </a:r>
            <a:endParaRPr lang="en-US" sz="750" dirty="0"/>
          </a:p>
        </p:txBody>
      </p:sp>
      <p:sp>
        <p:nvSpPr>
          <p:cNvPr id="39" name="Text 34"/>
          <p:cNvSpPr txBox="1"/>
          <p:nvPr/>
        </p:nvSpPr>
        <p:spPr>
          <a:xfrm>
            <a:off x="2633472"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February 2025</a:t>
            </a:r>
            <a:endParaRPr lang="en-US" sz="700" dirty="0"/>
          </a:p>
        </p:txBody>
      </p:sp>
      <p:sp>
        <p:nvSpPr>
          <p:cNvPr id="40" name="Text 35">
            <a:hlinkClick r:id="rId5"/>
          </p:cNvPr>
          <p:cNvSpPr txBox="1"/>
          <p:nvPr/>
        </p:nvSpPr>
        <p:spPr>
          <a:xfrm>
            <a:off x="2633472"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insbu.bi › IPC-Fevrier-2025.pdf</a:t>
            </a:r>
            <a:endParaRPr lang="en-US" sz="650" dirty="0"/>
          </a:p>
        </p:txBody>
      </p:sp>
      <p:sp>
        <p:nvSpPr>
          <p:cNvPr id="41" name="Shape 36"/>
          <p:cNvSpPr/>
          <p:nvPr/>
        </p:nvSpPr>
        <p:spPr>
          <a:xfrm>
            <a:off x="4626864" y="1261872"/>
            <a:ext cx="1965960" cy="1591056"/>
          </a:xfrm>
          <a:prstGeom prst="roundRect">
            <a:avLst>
              <a:gd name="adj" fmla="val 4598"/>
            </a:avLst>
          </a:prstGeom>
          <a:solidFill>
            <a:srgbClr val="FFFFFF"/>
          </a:solidFill>
          <a:ln w="13970">
            <a:solidFill>
              <a:srgbClr val="D49A00"/>
            </a:solidFill>
            <a:prstDash val="solid"/>
          </a:ln>
        </p:spPr>
      </p:sp>
      <p:pic>
        <p:nvPicPr>
          <p:cNvPr id="42" name="Image 2" descr="/home/claude/lab10en/qr/p_ci.png">
            <a:hlinkClick r:id="rId7"/>
          </p:cNvPr>
          <p:cNvPicPr>
            <a:picLocks noChangeAspect="1"/>
          </p:cNvPicPr>
          <p:nvPr/>
        </p:nvPicPr>
        <p:blipFill>
          <a:blip r:embed="rId8"/>
          <a:stretch>
            <a:fillRect/>
          </a:stretch>
        </p:blipFill>
        <p:spPr>
          <a:xfrm>
            <a:off x="4690872" y="1325880"/>
            <a:ext cx="896112" cy="896112"/>
          </a:xfrm>
          <a:prstGeom prst="rect">
            <a:avLst/>
          </a:prstGeom>
        </p:spPr>
      </p:pic>
      <p:sp>
        <p:nvSpPr>
          <p:cNvPr id="43" name="Text 37"/>
          <p:cNvSpPr txBox="1"/>
          <p:nvPr/>
        </p:nvSpPr>
        <p:spPr>
          <a:xfrm>
            <a:off x="5632704"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Côte d'Ivoire</a:t>
            </a:r>
            <a:endParaRPr lang="en-US" sz="1150" dirty="0"/>
          </a:p>
        </p:txBody>
      </p:sp>
      <p:sp>
        <p:nvSpPr>
          <p:cNvPr id="44" name="Text 38"/>
          <p:cNvSpPr txBox="1"/>
          <p:nvPr/>
        </p:nvSpPr>
        <p:spPr>
          <a:xfrm>
            <a:off x="5632704"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ANStat</a:t>
            </a:r>
            <a:endParaRPr lang="en-US" sz="800" dirty="0"/>
          </a:p>
        </p:txBody>
      </p:sp>
      <p:sp>
        <p:nvSpPr>
          <p:cNvPr id="45" name="Shape 39"/>
          <p:cNvSpPr/>
          <p:nvPr/>
        </p:nvSpPr>
        <p:spPr>
          <a:xfrm>
            <a:off x="5632704" y="1920240"/>
            <a:ext cx="502920" cy="192024"/>
          </a:xfrm>
          <a:prstGeom prst="roundRect">
            <a:avLst>
              <a:gd name="adj" fmla="val 52381"/>
            </a:avLst>
          </a:prstGeom>
          <a:solidFill>
            <a:srgbClr val="0E7C86"/>
          </a:solidFill>
          <a:ln w="9525">
            <a:solidFill>
              <a:srgbClr val="0E7C86"/>
            </a:solidFill>
            <a:prstDash val="solid"/>
          </a:ln>
        </p:spPr>
      </p:sp>
      <p:sp>
        <p:nvSpPr>
          <p:cNvPr id="46" name="Text 40"/>
          <p:cNvSpPr txBox="1"/>
          <p:nvPr/>
        </p:nvSpPr>
        <p:spPr>
          <a:xfrm>
            <a:off x="5632704"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47" name="Shape 41"/>
          <p:cNvSpPr/>
          <p:nvPr/>
        </p:nvSpPr>
        <p:spPr>
          <a:xfrm>
            <a:off x="6163056"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48" name="Text 42"/>
          <p:cNvSpPr txBox="1"/>
          <p:nvPr/>
        </p:nvSpPr>
        <p:spPr>
          <a:xfrm>
            <a:off x="6163056"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49" name="Shape 43"/>
          <p:cNvSpPr/>
          <p:nvPr/>
        </p:nvSpPr>
        <p:spPr>
          <a:xfrm>
            <a:off x="4718304" y="2276856"/>
            <a:ext cx="109728" cy="109728"/>
          </a:xfrm>
          <a:prstGeom prst="ellipse">
            <a:avLst/>
          </a:prstGeom>
          <a:solidFill>
            <a:srgbClr val="D49A00"/>
          </a:solidFill>
          <a:ln/>
        </p:spPr>
      </p:sp>
      <p:sp>
        <p:nvSpPr>
          <p:cNvPr id="50" name="Text 44"/>
          <p:cNvSpPr txBox="1"/>
          <p:nvPr/>
        </p:nvSpPr>
        <p:spPr>
          <a:xfrm>
            <a:off x="4873752"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PDF to download</a:t>
            </a:r>
            <a:endParaRPr lang="en-US" sz="750" dirty="0"/>
          </a:p>
        </p:txBody>
      </p:sp>
      <p:sp>
        <p:nvSpPr>
          <p:cNvPr id="51" name="Text 45"/>
          <p:cNvSpPr txBox="1"/>
          <p:nvPr/>
        </p:nvSpPr>
        <p:spPr>
          <a:xfrm>
            <a:off x="4718304"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Harmonised CPI — February 2026 (publication page)</a:t>
            </a:r>
            <a:endParaRPr lang="en-US" sz="700" dirty="0"/>
          </a:p>
        </p:txBody>
      </p:sp>
      <p:sp>
        <p:nvSpPr>
          <p:cNvPr id="52" name="Text 46">
            <a:hlinkClick r:id="rId7"/>
          </p:cNvPr>
          <p:cNvSpPr txBox="1"/>
          <p:nvPr/>
        </p:nvSpPr>
        <p:spPr>
          <a:xfrm>
            <a:off x="4718304"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anstat.ci › HCPI February 2026</a:t>
            </a:r>
            <a:endParaRPr lang="en-US" sz="650" dirty="0"/>
          </a:p>
        </p:txBody>
      </p:sp>
      <p:sp>
        <p:nvSpPr>
          <p:cNvPr id="53" name="Shape 47"/>
          <p:cNvSpPr/>
          <p:nvPr/>
        </p:nvSpPr>
        <p:spPr>
          <a:xfrm>
            <a:off x="6711696" y="1261872"/>
            <a:ext cx="1965960" cy="1591056"/>
          </a:xfrm>
          <a:prstGeom prst="roundRect">
            <a:avLst>
              <a:gd name="adj" fmla="val 4598"/>
            </a:avLst>
          </a:prstGeom>
          <a:solidFill>
            <a:srgbClr val="FFFFFF"/>
          </a:solidFill>
          <a:ln w="13970">
            <a:solidFill>
              <a:srgbClr val="D49A00"/>
            </a:solidFill>
            <a:prstDash val="solid"/>
          </a:ln>
        </p:spPr>
      </p:sp>
      <p:pic>
        <p:nvPicPr>
          <p:cNvPr id="54" name="Image 3" descr="/home/claude/lab10en/qr/p_eg.png">
            <a:hlinkClick r:id="rId9"/>
          </p:cNvPr>
          <p:cNvPicPr>
            <a:picLocks noChangeAspect="1"/>
          </p:cNvPicPr>
          <p:nvPr/>
        </p:nvPicPr>
        <p:blipFill>
          <a:blip r:embed="rId10"/>
          <a:stretch>
            <a:fillRect/>
          </a:stretch>
        </p:blipFill>
        <p:spPr>
          <a:xfrm>
            <a:off x="6775704" y="1325880"/>
            <a:ext cx="896112" cy="896112"/>
          </a:xfrm>
          <a:prstGeom prst="rect">
            <a:avLst/>
          </a:prstGeom>
        </p:spPr>
      </p:pic>
      <p:sp>
        <p:nvSpPr>
          <p:cNvPr id="55" name="Text 48"/>
          <p:cNvSpPr txBox="1"/>
          <p:nvPr/>
        </p:nvSpPr>
        <p:spPr>
          <a:xfrm>
            <a:off x="7717536"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Egypt</a:t>
            </a:r>
            <a:endParaRPr lang="en-US" sz="1150" dirty="0"/>
          </a:p>
        </p:txBody>
      </p:sp>
      <p:sp>
        <p:nvSpPr>
          <p:cNvPr id="56" name="Text 49"/>
          <p:cNvSpPr txBox="1"/>
          <p:nvPr/>
        </p:nvSpPr>
        <p:spPr>
          <a:xfrm>
            <a:off x="7717536"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CBE · CAPMAS data</a:t>
            </a:r>
            <a:endParaRPr lang="en-US" sz="800" dirty="0"/>
          </a:p>
        </p:txBody>
      </p:sp>
      <p:sp>
        <p:nvSpPr>
          <p:cNvPr id="57" name="Shape 50"/>
          <p:cNvSpPr/>
          <p:nvPr/>
        </p:nvSpPr>
        <p:spPr>
          <a:xfrm>
            <a:off x="7717536" y="1920240"/>
            <a:ext cx="502920" cy="192024"/>
          </a:xfrm>
          <a:prstGeom prst="roundRect">
            <a:avLst>
              <a:gd name="adj" fmla="val 52381"/>
            </a:avLst>
          </a:prstGeom>
          <a:solidFill>
            <a:srgbClr val="B83B2E"/>
          </a:solidFill>
          <a:ln w="9525">
            <a:solidFill>
              <a:srgbClr val="B83B2E"/>
            </a:solidFill>
            <a:prstDash val="solid"/>
          </a:ln>
        </p:spPr>
      </p:sp>
      <p:sp>
        <p:nvSpPr>
          <p:cNvPr id="58" name="Text 51"/>
          <p:cNvSpPr txBox="1"/>
          <p:nvPr/>
        </p:nvSpPr>
        <p:spPr>
          <a:xfrm>
            <a:off x="7717536"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9" name="Shape 52"/>
          <p:cNvSpPr/>
          <p:nvPr/>
        </p:nvSpPr>
        <p:spPr>
          <a:xfrm>
            <a:off x="8247888"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60" name="Text 53"/>
          <p:cNvSpPr txBox="1"/>
          <p:nvPr/>
        </p:nvSpPr>
        <p:spPr>
          <a:xfrm>
            <a:off x="8247888"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61" name="Shape 54"/>
          <p:cNvSpPr/>
          <p:nvPr/>
        </p:nvSpPr>
        <p:spPr>
          <a:xfrm>
            <a:off x="6803136" y="2276856"/>
            <a:ext cx="109728" cy="109728"/>
          </a:xfrm>
          <a:prstGeom prst="ellipse">
            <a:avLst/>
          </a:prstGeom>
          <a:solidFill>
            <a:srgbClr val="D49A00"/>
          </a:solidFill>
          <a:ln/>
        </p:spPr>
      </p:sp>
      <p:sp>
        <p:nvSpPr>
          <p:cNvPr id="62" name="Text 55"/>
          <p:cNvSpPr txBox="1"/>
          <p:nvPr/>
        </p:nvSpPr>
        <p:spPr>
          <a:xfrm>
            <a:off x="6958584"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PDF indexed · central bank</a:t>
            </a:r>
            <a:endParaRPr lang="en-US" sz="750" dirty="0"/>
          </a:p>
        </p:txBody>
      </p:sp>
      <p:sp>
        <p:nvSpPr>
          <p:cNvPr id="63" name="Text 56"/>
          <p:cNvSpPr txBox="1"/>
          <p:nvPr/>
        </p:nvSpPr>
        <p:spPr>
          <a:xfrm>
            <a:off x="6803136"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Monthly Inflation Developments — February 2026</a:t>
            </a:r>
            <a:endParaRPr lang="en-US" sz="700" dirty="0"/>
          </a:p>
        </p:txBody>
      </p:sp>
      <p:sp>
        <p:nvSpPr>
          <p:cNvPr id="64" name="Text 57">
            <a:hlinkClick r:id="rId9"/>
          </p:cNvPr>
          <p:cNvSpPr txBox="1"/>
          <p:nvPr/>
        </p:nvSpPr>
        <p:spPr>
          <a:xfrm>
            <a:off x="6803136"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cbe.org.eg › inf_feb_2026_en.pdf</a:t>
            </a:r>
            <a:endParaRPr lang="en-US" sz="650" dirty="0"/>
          </a:p>
        </p:txBody>
      </p:sp>
      <p:sp>
        <p:nvSpPr>
          <p:cNvPr id="65" name="Shape 58"/>
          <p:cNvSpPr/>
          <p:nvPr/>
        </p:nvSpPr>
        <p:spPr>
          <a:xfrm>
            <a:off x="457200" y="2926080"/>
            <a:ext cx="1965960" cy="1591056"/>
          </a:xfrm>
          <a:prstGeom prst="roundRect">
            <a:avLst>
              <a:gd name="adj" fmla="val 4598"/>
            </a:avLst>
          </a:prstGeom>
          <a:solidFill>
            <a:srgbClr val="FFFFFF"/>
          </a:solidFill>
          <a:ln w="13970">
            <a:solidFill>
              <a:srgbClr val="D49A00"/>
            </a:solidFill>
            <a:prstDash val="solid"/>
          </a:ln>
        </p:spPr>
      </p:sp>
      <p:pic>
        <p:nvPicPr>
          <p:cNvPr id="66" name="Image 4" descr="/home/claude/lab10en/qr/p_et.png">
            <a:hlinkClick r:id="rId11"/>
          </p:cNvPr>
          <p:cNvPicPr>
            <a:picLocks noChangeAspect="1"/>
          </p:cNvPicPr>
          <p:nvPr/>
        </p:nvPicPr>
        <p:blipFill>
          <a:blip r:embed="rId12"/>
          <a:stretch>
            <a:fillRect/>
          </a:stretch>
        </p:blipFill>
        <p:spPr>
          <a:xfrm>
            <a:off x="521208" y="2990088"/>
            <a:ext cx="896112" cy="896112"/>
          </a:xfrm>
          <a:prstGeom prst="rect">
            <a:avLst/>
          </a:prstGeom>
        </p:spPr>
      </p:pic>
      <p:sp>
        <p:nvSpPr>
          <p:cNvPr id="67" name="Text 59"/>
          <p:cNvSpPr txBox="1"/>
          <p:nvPr/>
        </p:nvSpPr>
        <p:spPr>
          <a:xfrm>
            <a:off x="1463040"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Ethiopia</a:t>
            </a:r>
            <a:endParaRPr lang="en-US" sz="1150" dirty="0"/>
          </a:p>
        </p:txBody>
      </p:sp>
      <p:sp>
        <p:nvSpPr>
          <p:cNvPr id="68" name="Text 60"/>
          <p:cNvSpPr txBox="1"/>
          <p:nvPr/>
        </p:nvSpPr>
        <p:spPr>
          <a:xfrm>
            <a:off x="1463040"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ESS</a:t>
            </a:r>
            <a:endParaRPr lang="en-US" sz="800" dirty="0"/>
          </a:p>
        </p:txBody>
      </p:sp>
      <p:sp>
        <p:nvSpPr>
          <p:cNvPr id="69" name="Shape 61"/>
          <p:cNvSpPr/>
          <p:nvPr/>
        </p:nvSpPr>
        <p:spPr>
          <a:xfrm>
            <a:off x="1463040" y="3584448"/>
            <a:ext cx="502920" cy="192024"/>
          </a:xfrm>
          <a:prstGeom prst="roundRect">
            <a:avLst>
              <a:gd name="adj" fmla="val 52381"/>
            </a:avLst>
          </a:prstGeom>
          <a:solidFill>
            <a:srgbClr val="0E7C86"/>
          </a:solidFill>
          <a:ln w="9525">
            <a:solidFill>
              <a:srgbClr val="0E7C86"/>
            </a:solidFill>
            <a:prstDash val="solid"/>
          </a:ln>
        </p:spPr>
      </p:sp>
      <p:sp>
        <p:nvSpPr>
          <p:cNvPr id="70" name="Text 62"/>
          <p:cNvSpPr txBox="1"/>
          <p:nvPr/>
        </p:nvSpPr>
        <p:spPr>
          <a:xfrm>
            <a:off x="1463040"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71" name="Shape 63"/>
          <p:cNvSpPr/>
          <p:nvPr/>
        </p:nvSpPr>
        <p:spPr>
          <a:xfrm>
            <a:off x="1993392"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72" name="Text 64"/>
          <p:cNvSpPr txBox="1"/>
          <p:nvPr/>
        </p:nvSpPr>
        <p:spPr>
          <a:xfrm>
            <a:off x="1993392"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73" name="Shape 65"/>
          <p:cNvSpPr/>
          <p:nvPr/>
        </p:nvSpPr>
        <p:spPr>
          <a:xfrm>
            <a:off x="548640" y="3941064"/>
            <a:ext cx="109728" cy="109728"/>
          </a:xfrm>
          <a:prstGeom prst="ellipse">
            <a:avLst/>
          </a:prstGeom>
          <a:solidFill>
            <a:srgbClr val="D49A00"/>
          </a:solidFill>
          <a:ln/>
        </p:spPr>
      </p:sp>
      <p:sp>
        <p:nvSpPr>
          <p:cNvPr id="74" name="Text 66"/>
          <p:cNvSpPr txBox="1"/>
          <p:nvPr/>
        </p:nvSpPr>
        <p:spPr>
          <a:xfrm>
            <a:off x="704088"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opened · Download button</a:t>
            </a:r>
            <a:endParaRPr lang="en-US" sz="750" dirty="0"/>
          </a:p>
        </p:txBody>
      </p:sp>
      <p:sp>
        <p:nvSpPr>
          <p:cNvPr id="75" name="Text 67"/>
          <p:cNvSpPr txBox="1"/>
          <p:nvPr/>
        </p:nvSpPr>
        <p:spPr>
          <a:xfrm>
            <a:off x="548640"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February 2026 (2 MB PDF)</a:t>
            </a:r>
            <a:endParaRPr lang="en-US" sz="700" dirty="0"/>
          </a:p>
        </p:txBody>
      </p:sp>
      <p:sp>
        <p:nvSpPr>
          <p:cNvPr id="76" name="Text 68">
            <a:hlinkClick r:id="rId11"/>
          </p:cNvPr>
          <p:cNvSpPr txBox="1"/>
          <p:nvPr/>
        </p:nvSpPr>
        <p:spPr>
          <a:xfrm>
            <a:off x="548640"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ess.gov.et › CPI February 2026</a:t>
            </a:r>
            <a:endParaRPr lang="en-US" sz="650" dirty="0"/>
          </a:p>
        </p:txBody>
      </p:sp>
      <p:sp>
        <p:nvSpPr>
          <p:cNvPr id="77" name="Shape 69"/>
          <p:cNvSpPr/>
          <p:nvPr/>
        </p:nvSpPr>
        <p:spPr>
          <a:xfrm>
            <a:off x="2542032" y="2926080"/>
            <a:ext cx="1965960" cy="1591056"/>
          </a:xfrm>
          <a:prstGeom prst="roundRect">
            <a:avLst>
              <a:gd name="adj" fmla="val 4598"/>
            </a:avLst>
          </a:prstGeom>
          <a:solidFill>
            <a:srgbClr val="FFFFFF"/>
          </a:solidFill>
          <a:ln w="13970">
            <a:solidFill>
              <a:srgbClr val="D49A00"/>
            </a:solidFill>
            <a:prstDash val="solid"/>
          </a:ln>
        </p:spPr>
      </p:sp>
      <p:pic>
        <p:nvPicPr>
          <p:cNvPr id="78" name="Image 5" descr="/home/claude/lab10en/qr/p_gm.png">
            <a:hlinkClick r:id="rId13"/>
          </p:cNvPr>
          <p:cNvPicPr>
            <a:picLocks noChangeAspect="1"/>
          </p:cNvPicPr>
          <p:nvPr/>
        </p:nvPicPr>
        <p:blipFill>
          <a:blip r:embed="rId14"/>
          <a:stretch>
            <a:fillRect/>
          </a:stretch>
        </p:blipFill>
        <p:spPr>
          <a:xfrm>
            <a:off x="2606040" y="2990088"/>
            <a:ext cx="896112" cy="896112"/>
          </a:xfrm>
          <a:prstGeom prst="rect">
            <a:avLst/>
          </a:prstGeom>
        </p:spPr>
      </p:pic>
      <p:sp>
        <p:nvSpPr>
          <p:cNvPr id="79" name="Text 70"/>
          <p:cNvSpPr txBox="1"/>
          <p:nvPr/>
        </p:nvSpPr>
        <p:spPr>
          <a:xfrm>
            <a:off x="3547872"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The Gambia</a:t>
            </a:r>
            <a:endParaRPr lang="en-US" sz="1150" dirty="0"/>
          </a:p>
        </p:txBody>
      </p:sp>
      <p:sp>
        <p:nvSpPr>
          <p:cNvPr id="80" name="Text 71"/>
          <p:cNvSpPr txBox="1"/>
          <p:nvPr/>
        </p:nvSpPr>
        <p:spPr>
          <a:xfrm>
            <a:off x="3547872"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GBoS</a:t>
            </a:r>
            <a:endParaRPr lang="en-US" sz="800" dirty="0"/>
          </a:p>
        </p:txBody>
      </p:sp>
      <p:sp>
        <p:nvSpPr>
          <p:cNvPr id="81" name="Shape 72"/>
          <p:cNvSpPr/>
          <p:nvPr/>
        </p:nvSpPr>
        <p:spPr>
          <a:xfrm>
            <a:off x="3547872" y="3584448"/>
            <a:ext cx="502920" cy="192024"/>
          </a:xfrm>
          <a:prstGeom prst="roundRect">
            <a:avLst>
              <a:gd name="adj" fmla="val 52381"/>
            </a:avLst>
          </a:prstGeom>
          <a:solidFill>
            <a:srgbClr val="0E7C86"/>
          </a:solidFill>
          <a:ln w="9525">
            <a:solidFill>
              <a:srgbClr val="0E7C86"/>
            </a:solidFill>
            <a:prstDash val="solid"/>
          </a:ln>
        </p:spPr>
      </p:sp>
      <p:sp>
        <p:nvSpPr>
          <p:cNvPr id="82" name="Text 73"/>
          <p:cNvSpPr txBox="1"/>
          <p:nvPr/>
        </p:nvSpPr>
        <p:spPr>
          <a:xfrm>
            <a:off x="3547872"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83" name="Shape 74"/>
          <p:cNvSpPr/>
          <p:nvPr/>
        </p:nvSpPr>
        <p:spPr>
          <a:xfrm>
            <a:off x="4078224"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84" name="Text 75"/>
          <p:cNvSpPr txBox="1"/>
          <p:nvPr/>
        </p:nvSpPr>
        <p:spPr>
          <a:xfrm>
            <a:off x="4078224"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85" name="Shape 76"/>
          <p:cNvSpPr/>
          <p:nvPr/>
        </p:nvSpPr>
        <p:spPr>
          <a:xfrm>
            <a:off x="2633472" y="3941064"/>
            <a:ext cx="109728" cy="109728"/>
          </a:xfrm>
          <a:prstGeom prst="ellipse">
            <a:avLst/>
          </a:prstGeom>
          <a:solidFill>
            <a:srgbClr val="D49A00"/>
          </a:solidFill>
          <a:ln/>
        </p:spPr>
      </p:sp>
      <p:sp>
        <p:nvSpPr>
          <p:cNvPr id="86" name="Text 77"/>
          <p:cNvSpPr txBox="1"/>
          <p:nvPr/>
        </p:nvSpPr>
        <p:spPr>
          <a:xfrm>
            <a:off x="2788920"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no CPI PDF found</a:t>
            </a:r>
            <a:endParaRPr lang="en-US" sz="750" dirty="0"/>
          </a:p>
        </p:txBody>
      </p:sp>
      <p:sp>
        <p:nvSpPr>
          <p:cNvPr id="87" name="Text 78"/>
          <p:cNvSpPr txBox="1"/>
          <p:nvPr/>
        </p:nvSpPr>
        <p:spPr>
          <a:xfrm>
            <a:off x="2633472"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Downloads: CPI 2025 and series</a:t>
            </a:r>
            <a:endParaRPr lang="en-US" sz="700" dirty="0"/>
          </a:p>
        </p:txBody>
      </p:sp>
      <p:sp>
        <p:nvSpPr>
          <p:cNvPr id="88" name="Text 79">
            <a:hlinkClick r:id="rId13"/>
          </p:cNvPr>
          <p:cNvSpPr txBox="1"/>
          <p:nvPr/>
        </p:nvSpPr>
        <p:spPr>
          <a:xfrm>
            <a:off x="2633472"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gbosdata.org › Downloads</a:t>
            </a:r>
            <a:endParaRPr lang="en-US" sz="650" dirty="0"/>
          </a:p>
        </p:txBody>
      </p:sp>
      <p:sp>
        <p:nvSpPr>
          <p:cNvPr id="89" name="Shape 80"/>
          <p:cNvSpPr/>
          <p:nvPr/>
        </p:nvSpPr>
        <p:spPr>
          <a:xfrm>
            <a:off x="4626864" y="2926080"/>
            <a:ext cx="1965960" cy="1591056"/>
          </a:xfrm>
          <a:prstGeom prst="roundRect">
            <a:avLst>
              <a:gd name="adj" fmla="val 4598"/>
            </a:avLst>
          </a:prstGeom>
          <a:solidFill>
            <a:srgbClr val="FFFFFF"/>
          </a:solidFill>
          <a:ln w="13970">
            <a:solidFill>
              <a:srgbClr val="D49A00"/>
            </a:solidFill>
            <a:prstDash val="solid"/>
          </a:ln>
        </p:spPr>
      </p:sp>
      <p:pic>
        <p:nvPicPr>
          <p:cNvPr id="90" name="Image 6" descr="/home/claude/lab10en/qr/p_gh.png">
            <a:hlinkClick r:id="rId15"/>
          </p:cNvPr>
          <p:cNvPicPr>
            <a:picLocks noChangeAspect="1"/>
          </p:cNvPicPr>
          <p:nvPr/>
        </p:nvPicPr>
        <p:blipFill>
          <a:blip r:embed="rId16"/>
          <a:stretch>
            <a:fillRect/>
          </a:stretch>
        </p:blipFill>
        <p:spPr>
          <a:xfrm>
            <a:off x="4690872" y="2990088"/>
            <a:ext cx="896112" cy="896112"/>
          </a:xfrm>
          <a:prstGeom prst="rect">
            <a:avLst/>
          </a:prstGeom>
        </p:spPr>
      </p:pic>
      <p:sp>
        <p:nvSpPr>
          <p:cNvPr id="91" name="Text 81"/>
          <p:cNvSpPr txBox="1"/>
          <p:nvPr/>
        </p:nvSpPr>
        <p:spPr>
          <a:xfrm>
            <a:off x="5632704"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Ghana</a:t>
            </a:r>
            <a:endParaRPr lang="en-US" sz="1150" dirty="0"/>
          </a:p>
        </p:txBody>
      </p:sp>
      <p:sp>
        <p:nvSpPr>
          <p:cNvPr id="92" name="Text 82"/>
          <p:cNvSpPr txBox="1"/>
          <p:nvPr/>
        </p:nvSpPr>
        <p:spPr>
          <a:xfrm>
            <a:off x="5632704"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GSS</a:t>
            </a:r>
            <a:endParaRPr lang="en-US" sz="800" dirty="0"/>
          </a:p>
        </p:txBody>
      </p:sp>
      <p:sp>
        <p:nvSpPr>
          <p:cNvPr id="93" name="Shape 83"/>
          <p:cNvSpPr/>
          <p:nvPr/>
        </p:nvSpPr>
        <p:spPr>
          <a:xfrm>
            <a:off x="5632704" y="3584448"/>
            <a:ext cx="502920" cy="192024"/>
          </a:xfrm>
          <a:prstGeom prst="roundRect">
            <a:avLst>
              <a:gd name="adj" fmla="val 52381"/>
            </a:avLst>
          </a:prstGeom>
          <a:solidFill>
            <a:srgbClr val="0E7C86"/>
          </a:solidFill>
          <a:ln w="9525">
            <a:solidFill>
              <a:srgbClr val="0E7C86"/>
            </a:solidFill>
            <a:prstDash val="solid"/>
          </a:ln>
        </p:spPr>
      </p:sp>
      <p:sp>
        <p:nvSpPr>
          <p:cNvPr id="94" name="Text 84"/>
          <p:cNvSpPr txBox="1"/>
          <p:nvPr/>
        </p:nvSpPr>
        <p:spPr>
          <a:xfrm>
            <a:off x="5632704"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95" name="Shape 85"/>
          <p:cNvSpPr/>
          <p:nvPr/>
        </p:nvSpPr>
        <p:spPr>
          <a:xfrm>
            <a:off x="6163056"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96" name="Text 86"/>
          <p:cNvSpPr txBox="1"/>
          <p:nvPr/>
        </p:nvSpPr>
        <p:spPr>
          <a:xfrm>
            <a:off x="6163056"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97" name="Shape 87"/>
          <p:cNvSpPr/>
          <p:nvPr/>
        </p:nvSpPr>
        <p:spPr>
          <a:xfrm>
            <a:off x="4718304" y="3941064"/>
            <a:ext cx="109728" cy="109728"/>
          </a:xfrm>
          <a:prstGeom prst="ellipse">
            <a:avLst/>
          </a:prstGeom>
          <a:solidFill>
            <a:srgbClr val="D49A00"/>
          </a:solidFill>
          <a:ln/>
        </p:spPr>
      </p:sp>
      <p:sp>
        <p:nvSpPr>
          <p:cNvPr id="98" name="Text 88"/>
          <p:cNvSpPr txBox="1"/>
          <p:nvPr/>
        </p:nvSpPr>
        <p:spPr>
          <a:xfrm>
            <a:off x="4873752"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opened · dynamic PDF link</a:t>
            </a:r>
            <a:endParaRPr lang="en-US" sz="750" dirty="0"/>
          </a:p>
        </p:txBody>
      </p:sp>
      <p:sp>
        <p:nvSpPr>
          <p:cNvPr id="99" name="Text 89"/>
          <p:cNvSpPr txBox="1"/>
          <p:nvPr/>
        </p:nvSpPr>
        <p:spPr>
          <a:xfrm>
            <a:off x="4718304"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Inflation — CPI bulletin, August 2026</a:t>
            </a:r>
            <a:endParaRPr lang="en-US" sz="700" dirty="0"/>
          </a:p>
        </p:txBody>
      </p:sp>
      <p:sp>
        <p:nvSpPr>
          <p:cNvPr id="100" name="Text 90">
            <a:hlinkClick r:id="rId15"/>
          </p:cNvPr>
          <p:cNvSpPr txBox="1"/>
          <p:nvPr/>
        </p:nvSpPr>
        <p:spPr>
          <a:xfrm>
            <a:off x="4718304"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statsghana.gov.gh › inflation-rate</a:t>
            </a:r>
            <a:endParaRPr lang="en-US" sz="650" dirty="0"/>
          </a:p>
        </p:txBody>
      </p:sp>
      <p:sp>
        <p:nvSpPr>
          <p:cNvPr id="101" name="Shape 91"/>
          <p:cNvSpPr/>
          <p:nvPr/>
        </p:nvSpPr>
        <p:spPr>
          <a:xfrm>
            <a:off x="6711696" y="2926080"/>
            <a:ext cx="1965960" cy="1591056"/>
          </a:xfrm>
          <a:prstGeom prst="roundRect">
            <a:avLst>
              <a:gd name="adj" fmla="val 4598"/>
            </a:avLst>
          </a:prstGeom>
          <a:solidFill>
            <a:srgbClr val="FFFFFF"/>
          </a:solidFill>
          <a:ln w="13970">
            <a:solidFill>
              <a:srgbClr val="0E7C86"/>
            </a:solidFill>
            <a:prstDash val="solid"/>
          </a:ln>
        </p:spPr>
      </p:sp>
      <p:pic>
        <p:nvPicPr>
          <p:cNvPr id="102" name="Image 7" descr="/home/claude/lab10en/qr/p_ke.png">
            <a:hlinkClick r:id="rId17"/>
          </p:cNvPr>
          <p:cNvPicPr>
            <a:picLocks noChangeAspect="1"/>
          </p:cNvPicPr>
          <p:nvPr/>
        </p:nvPicPr>
        <p:blipFill>
          <a:blip r:embed="rId18"/>
          <a:stretch>
            <a:fillRect/>
          </a:stretch>
        </p:blipFill>
        <p:spPr>
          <a:xfrm>
            <a:off x="6775704" y="2990088"/>
            <a:ext cx="896112" cy="896112"/>
          </a:xfrm>
          <a:prstGeom prst="rect">
            <a:avLst/>
          </a:prstGeom>
        </p:spPr>
      </p:pic>
      <p:sp>
        <p:nvSpPr>
          <p:cNvPr id="103" name="Text 92"/>
          <p:cNvSpPr txBox="1"/>
          <p:nvPr/>
        </p:nvSpPr>
        <p:spPr>
          <a:xfrm>
            <a:off x="7717536"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Kenya</a:t>
            </a:r>
            <a:endParaRPr lang="en-US" sz="1150" dirty="0"/>
          </a:p>
        </p:txBody>
      </p:sp>
      <p:sp>
        <p:nvSpPr>
          <p:cNvPr id="104" name="Text 93"/>
          <p:cNvSpPr txBox="1"/>
          <p:nvPr/>
        </p:nvSpPr>
        <p:spPr>
          <a:xfrm>
            <a:off x="7717536"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KNBS</a:t>
            </a:r>
            <a:endParaRPr lang="en-US" sz="800" dirty="0"/>
          </a:p>
        </p:txBody>
      </p:sp>
      <p:sp>
        <p:nvSpPr>
          <p:cNvPr id="105" name="Shape 94"/>
          <p:cNvSpPr/>
          <p:nvPr/>
        </p:nvSpPr>
        <p:spPr>
          <a:xfrm>
            <a:off x="7717536" y="3584448"/>
            <a:ext cx="502920" cy="192024"/>
          </a:xfrm>
          <a:prstGeom prst="roundRect">
            <a:avLst>
              <a:gd name="adj" fmla="val 52381"/>
            </a:avLst>
          </a:prstGeom>
          <a:solidFill>
            <a:srgbClr val="B83B2E"/>
          </a:solidFill>
          <a:ln w="9525">
            <a:solidFill>
              <a:srgbClr val="B83B2E"/>
            </a:solidFill>
            <a:prstDash val="solid"/>
          </a:ln>
        </p:spPr>
      </p:sp>
      <p:sp>
        <p:nvSpPr>
          <p:cNvPr id="106" name="Text 95"/>
          <p:cNvSpPr txBox="1"/>
          <p:nvPr/>
        </p:nvSpPr>
        <p:spPr>
          <a:xfrm>
            <a:off x="7717536"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107" name="Shape 96"/>
          <p:cNvSpPr/>
          <p:nvPr/>
        </p:nvSpPr>
        <p:spPr>
          <a:xfrm>
            <a:off x="8247888"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108" name="Text 97"/>
          <p:cNvSpPr txBox="1"/>
          <p:nvPr/>
        </p:nvSpPr>
        <p:spPr>
          <a:xfrm>
            <a:off x="8247888"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109" name="Shape 98"/>
          <p:cNvSpPr/>
          <p:nvPr/>
        </p:nvSpPr>
        <p:spPr>
          <a:xfrm>
            <a:off x="6803136" y="3941064"/>
            <a:ext cx="109728" cy="109728"/>
          </a:xfrm>
          <a:prstGeom prst="ellipse">
            <a:avLst/>
          </a:prstGeom>
          <a:solidFill>
            <a:srgbClr val="0E7C86"/>
          </a:solidFill>
          <a:ln/>
        </p:spPr>
      </p:sp>
      <p:sp>
        <p:nvSpPr>
          <p:cNvPr id="110" name="Text 99"/>
          <p:cNvSpPr txBox="1"/>
          <p:nvPr/>
        </p:nvSpPr>
        <p:spPr>
          <a:xfrm>
            <a:off x="6958584" y="3904488"/>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indexed</a:t>
            </a:r>
            <a:endParaRPr lang="en-US" sz="750" dirty="0"/>
          </a:p>
        </p:txBody>
      </p:sp>
      <p:sp>
        <p:nvSpPr>
          <p:cNvPr id="111" name="Text 100"/>
          <p:cNvSpPr txBox="1"/>
          <p:nvPr/>
        </p:nvSpPr>
        <p:spPr>
          <a:xfrm>
            <a:off x="6803136"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Indices and Inflation Rates — Feb. 2026</a:t>
            </a:r>
            <a:endParaRPr lang="en-US" sz="700" dirty="0"/>
          </a:p>
        </p:txBody>
      </p:sp>
      <p:sp>
        <p:nvSpPr>
          <p:cNvPr id="112" name="Text 101">
            <a:hlinkClick r:id="rId17"/>
          </p:cNvPr>
          <p:cNvSpPr txBox="1"/>
          <p:nvPr/>
        </p:nvSpPr>
        <p:spPr>
          <a:xfrm>
            <a:off x="6803136"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knbs.or.ke › …February-2026.pdf</a:t>
            </a:r>
            <a:endParaRPr lang="en-US" sz="650" dirty="0"/>
          </a:p>
        </p:txBody>
      </p:sp>
      <p:sp>
        <p:nvSpPr>
          <p:cNvPr id="113" name="Shape 102"/>
          <p:cNvSpPr/>
          <p:nvPr/>
        </p:nvSpPr>
        <p:spPr>
          <a:xfrm>
            <a:off x="457200" y="4626864"/>
            <a:ext cx="109728" cy="109728"/>
          </a:xfrm>
          <a:prstGeom prst="ellipse">
            <a:avLst/>
          </a:prstGeom>
          <a:solidFill>
            <a:srgbClr val="00A86A"/>
          </a:solidFill>
          <a:ln/>
        </p:spPr>
      </p:sp>
      <p:sp>
        <p:nvSpPr>
          <p:cNvPr id="114" name="Text 103"/>
          <p:cNvSpPr txBox="1"/>
          <p:nvPr/>
        </p:nvSpPr>
        <p:spPr>
          <a:xfrm>
            <a:off x="6126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Verified (opened or PDF link confirmed)</a:t>
            </a:r>
            <a:endParaRPr lang="en-US" sz="800" dirty="0"/>
          </a:p>
        </p:txBody>
      </p:sp>
      <p:sp>
        <p:nvSpPr>
          <p:cNvPr id="115" name="Shape 104"/>
          <p:cNvSpPr/>
          <p:nvPr/>
        </p:nvSpPr>
        <p:spPr>
          <a:xfrm>
            <a:off x="3200400" y="4626864"/>
            <a:ext cx="109728" cy="109728"/>
          </a:xfrm>
          <a:prstGeom prst="ellipse">
            <a:avLst/>
          </a:prstGeom>
          <a:solidFill>
            <a:srgbClr val="0E7C86"/>
          </a:solidFill>
          <a:ln/>
        </p:spPr>
      </p:sp>
      <p:sp>
        <p:nvSpPr>
          <p:cNvPr id="116" name="Text 105"/>
          <p:cNvSpPr txBox="1"/>
          <p:nvPr/>
        </p:nvSpPr>
        <p:spPr>
          <a:xfrm>
            <a:off x="33558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PDF indexed — test it by hand</a:t>
            </a:r>
            <a:endParaRPr lang="en-US" sz="800" dirty="0"/>
          </a:p>
        </p:txBody>
      </p:sp>
      <p:sp>
        <p:nvSpPr>
          <p:cNvPr id="117" name="Shape 106"/>
          <p:cNvSpPr/>
          <p:nvPr/>
        </p:nvSpPr>
        <p:spPr>
          <a:xfrm>
            <a:off x="5943600" y="4626864"/>
            <a:ext cx="109728" cy="109728"/>
          </a:xfrm>
          <a:prstGeom prst="ellipse">
            <a:avLst/>
          </a:prstGeom>
          <a:solidFill>
            <a:srgbClr val="D49A00"/>
          </a:solidFill>
          <a:ln/>
        </p:spPr>
      </p:sp>
      <p:sp>
        <p:nvSpPr>
          <p:cNvPr id="118" name="Text 107"/>
          <p:cNvSpPr txBox="1"/>
          <p:nvPr/>
        </p:nvSpPr>
        <p:spPr>
          <a:xfrm>
            <a:off x="60990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Page, other format or older edition</a:t>
            </a:r>
            <a:endParaRPr lang="en-US" sz="8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ROLL OUT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Documents to test (2/2): Madagascar -&gt; Zimbabwe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61872"/>
            <a:ext cx="1965960" cy="1591056"/>
          </a:xfrm>
          <a:prstGeom prst="roundRect">
            <a:avLst>
              <a:gd name="adj" fmla="val 4598"/>
            </a:avLst>
          </a:prstGeom>
          <a:solidFill>
            <a:srgbClr val="FFFFFF"/>
          </a:solidFill>
          <a:ln w="13970">
            <a:solidFill>
              <a:srgbClr val="D49A00"/>
            </a:solidFill>
            <a:prstDash val="solid"/>
          </a:ln>
        </p:spPr>
      </p:sp>
      <p:pic>
        <p:nvPicPr>
          <p:cNvPr id="18" name="Image 0" descr="/home/claude/lab10en/qr/p_mg.png">
            <a:hlinkClick r:id="rId3"/>
          </p:cNvPr>
          <p:cNvPicPr>
            <a:picLocks noChangeAspect="1"/>
          </p:cNvPicPr>
          <p:nvPr/>
        </p:nvPicPr>
        <p:blipFill>
          <a:blip r:embed="rId4"/>
          <a:stretch>
            <a:fillRect/>
          </a:stretch>
        </p:blipFill>
        <p:spPr>
          <a:xfrm>
            <a:off x="521208" y="1325880"/>
            <a:ext cx="896112" cy="896112"/>
          </a:xfrm>
          <a:prstGeom prst="rect">
            <a:avLst/>
          </a:prstGeom>
        </p:spPr>
      </p:pic>
      <p:sp>
        <p:nvSpPr>
          <p:cNvPr id="19" name="Text 15"/>
          <p:cNvSpPr txBox="1"/>
          <p:nvPr/>
        </p:nvSpPr>
        <p:spPr>
          <a:xfrm>
            <a:off x="1463040"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Madagascar</a:t>
            </a:r>
            <a:endParaRPr lang="en-US" sz="1150" dirty="0"/>
          </a:p>
        </p:txBody>
      </p:sp>
      <p:sp>
        <p:nvSpPr>
          <p:cNvPr id="20" name="Text 16"/>
          <p:cNvSpPr txBox="1"/>
          <p:nvPr/>
        </p:nvSpPr>
        <p:spPr>
          <a:xfrm>
            <a:off x="1463040"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INSTAT</a:t>
            </a:r>
            <a:endParaRPr lang="en-US" sz="800" dirty="0"/>
          </a:p>
        </p:txBody>
      </p:sp>
      <p:sp>
        <p:nvSpPr>
          <p:cNvPr id="21" name="Shape 17"/>
          <p:cNvSpPr/>
          <p:nvPr/>
        </p:nvSpPr>
        <p:spPr>
          <a:xfrm>
            <a:off x="1463040" y="1920240"/>
            <a:ext cx="502920" cy="192024"/>
          </a:xfrm>
          <a:prstGeom prst="roundRect">
            <a:avLst>
              <a:gd name="adj" fmla="val 52381"/>
            </a:avLst>
          </a:prstGeom>
          <a:solidFill>
            <a:srgbClr val="0E7C86"/>
          </a:solidFill>
          <a:ln w="9525">
            <a:solidFill>
              <a:srgbClr val="0E7C86"/>
            </a:solidFill>
            <a:prstDash val="solid"/>
          </a:ln>
        </p:spPr>
      </p:sp>
      <p:sp>
        <p:nvSpPr>
          <p:cNvPr id="22" name="Text 18"/>
          <p:cNvSpPr txBox="1"/>
          <p:nvPr/>
        </p:nvSpPr>
        <p:spPr>
          <a:xfrm>
            <a:off x="1463040"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23" name="Shape 19"/>
          <p:cNvSpPr/>
          <p:nvPr/>
        </p:nvSpPr>
        <p:spPr>
          <a:xfrm>
            <a:off x="1993392"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24" name="Text 20"/>
          <p:cNvSpPr txBox="1"/>
          <p:nvPr/>
        </p:nvSpPr>
        <p:spPr>
          <a:xfrm>
            <a:off x="1993392"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25" name="Shape 21"/>
          <p:cNvSpPr/>
          <p:nvPr/>
        </p:nvSpPr>
        <p:spPr>
          <a:xfrm>
            <a:off x="548640" y="2276856"/>
            <a:ext cx="109728" cy="109728"/>
          </a:xfrm>
          <a:prstGeom prst="ellipse">
            <a:avLst/>
          </a:prstGeom>
          <a:solidFill>
            <a:srgbClr val="D49A00"/>
          </a:solidFill>
          <a:ln/>
        </p:spPr>
      </p:sp>
      <p:sp>
        <p:nvSpPr>
          <p:cNvPr id="26" name="Text 22"/>
          <p:cNvSpPr txBox="1"/>
          <p:nvPr/>
        </p:nvSpPr>
        <p:spPr>
          <a:xfrm>
            <a:off x="704088"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Excel data, no PDF</a:t>
            </a:r>
            <a:endParaRPr lang="en-US" sz="750" dirty="0"/>
          </a:p>
        </p:txBody>
      </p:sp>
      <p:sp>
        <p:nvSpPr>
          <p:cNvPr id="27" name="Text 23"/>
          <p:cNvSpPr txBox="1"/>
          <p:nvPr/>
        </p:nvSpPr>
        <p:spPr>
          <a:xfrm>
            <a:off x="548640"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New price index (NIPC) — January 2026, Excel data</a:t>
            </a:r>
            <a:endParaRPr lang="en-US" sz="700" dirty="0"/>
          </a:p>
        </p:txBody>
      </p:sp>
      <p:sp>
        <p:nvSpPr>
          <p:cNvPr id="28" name="Text 24">
            <a:hlinkClick r:id="rId3"/>
          </p:cNvPr>
          <p:cNvSpPr txBox="1"/>
          <p:nvPr/>
        </p:nvSpPr>
        <p:spPr>
          <a:xfrm>
            <a:off x="548640"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instat.mg › NIPC January 2026</a:t>
            </a:r>
            <a:endParaRPr lang="en-US" sz="650" dirty="0"/>
          </a:p>
        </p:txBody>
      </p:sp>
      <p:sp>
        <p:nvSpPr>
          <p:cNvPr id="29" name="Shape 25"/>
          <p:cNvSpPr/>
          <p:nvPr/>
        </p:nvSpPr>
        <p:spPr>
          <a:xfrm>
            <a:off x="2542032" y="1261872"/>
            <a:ext cx="1965960" cy="1591056"/>
          </a:xfrm>
          <a:prstGeom prst="roundRect">
            <a:avLst>
              <a:gd name="adj" fmla="val 4598"/>
            </a:avLst>
          </a:prstGeom>
          <a:solidFill>
            <a:srgbClr val="FFFFFF"/>
          </a:solidFill>
          <a:ln w="13970">
            <a:solidFill>
              <a:srgbClr val="00A86A"/>
            </a:solidFill>
            <a:prstDash val="solid"/>
          </a:ln>
        </p:spPr>
      </p:sp>
      <p:pic>
        <p:nvPicPr>
          <p:cNvPr id="30" name="Image 1" descr="/home/claude/lab10en/qr/p_ma.png">
            <a:hlinkClick r:id="rId5"/>
          </p:cNvPr>
          <p:cNvPicPr>
            <a:picLocks noChangeAspect="1"/>
          </p:cNvPicPr>
          <p:nvPr/>
        </p:nvPicPr>
        <p:blipFill>
          <a:blip r:embed="rId6"/>
          <a:stretch>
            <a:fillRect/>
          </a:stretch>
        </p:blipFill>
        <p:spPr>
          <a:xfrm>
            <a:off x="2606040" y="1325880"/>
            <a:ext cx="896112" cy="896112"/>
          </a:xfrm>
          <a:prstGeom prst="rect">
            <a:avLst/>
          </a:prstGeom>
        </p:spPr>
      </p:pic>
      <p:sp>
        <p:nvSpPr>
          <p:cNvPr id="31" name="Text 26"/>
          <p:cNvSpPr txBox="1"/>
          <p:nvPr/>
        </p:nvSpPr>
        <p:spPr>
          <a:xfrm>
            <a:off x="3547872"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Morocco</a:t>
            </a:r>
            <a:endParaRPr lang="en-US" sz="1150" dirty="0"/>
          </a:p>
        </p:txBody>
      </p:sp>
      <p:sp>
        <p:nvSpPr>
          <p:cNvPr id="32" name="Text 27"/>
          <p:cNvSpPr txBox="1"/>
          <p:nvPr/>
        </p:nvSpPr>
        <p:spPr>
          <a:xfrm>
            <a:off x="3547872"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HCP</a:t>
            </a:r>
            <a:endParaRPr lang="en-US" sz="800" dirty="0"/>
          </a:p>
        </p:txBody>
      </p:sp>
      <p:sp>
        <p:nvSpPr>
          <p:cNvPr id="33" name="Shape 28"/>
          <p:cNvSpPr/>
          <p:nvPr/>
        </p:nvSpPr>
        <p:spPr>
          <a:xfrm>
            <a:off x="3547872" y="1920240"/>
            <a:ext cx="502920" cy="192024"/>
          </a:xfrm>
          <a:prstGeom prst="roundRect">
            <a:avLst>
              <a:gd name="adj" fmla="val 52381"/>
            </a:avLst>
          </a:prstGeom>
          <a:solidFill>
            <a:srgbClr val="00704A"/>
          </a:solidFill>
          <a:ln w="9525">
            <a:solidFill>
              <a:srgbClr val="00704A"/>
            </a:solidFill>
            <a:prstDash val="solid"/>
          </a:ln>
        </p:spPr>
      </p:sp>
      <p:sp>
        <p:nvSpPr>
          <p:cNvPr id="34" name="Text 29"/>
          <p:cNvSpPr txBox="1"/>
          <p:nvPr/>
        </p:nvSpPr>
        <p:spPr>
          <a:xfrm>
            <a:off x="3547872"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DOCX</a:t>
            </a:r>
            <a:endParaRPr lang="en-US" sz="700" dirty="0"/>
          </a:p>
        </p:txBody>
      </p:sp>
      <p:sp>
        <p:nvSpPr>
          <p:cNvPr id="35" name="Shape 30"/>
          <p:cNvSpPr/>
          <p:nvPr/>
        </p:nvSpPr>
        <p:spPr>
          <a:xfrm>
            <a:off x="4078224"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36" name="Text 31"/>
          <p:cNvSpPr txBox="1"/>
          <p:nvPr/>
        </p:nvSpPr>
        <p:spPr>
          <a:xfrm>
            <a:off x="4078224"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37" name="Shape 32"/>
          <p:cNvSpPr/>
          <p:nvPr/>
        </p:nvSpPr>
        <p:spPr>
          <a:xfrm>
            <a:off x="2633472" y="2276856"/>
            <a:ext cx="109728" cy="109728"/>
          </a:xfrm>
          <a:prstGeom prst="ellipse">
            <a:avLst/>
          </a:prstGeom>
          <a:solidFill>
            <a:srgbClr val="00A86A"/>
          </a:solidFill>
          <a:ln/>
        </p:spPr>
      </p:sp>
      <p:sp>
        <p:nvSpPr>
          <p:cNvPr id="38" name="Text 33"/>
          <p:cNvSpPr txBox="1"/>
          <p:nvPr/>
        </p:nvSpPr>
        <p:spPr>
          <a:xfrm>
            <a:off x="2788920" y="2240280"/>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Link verified · HCP publishes in DOCX</a:t>
            </a:r>
            <a:endParaRPr lang="en-US" sz="750" dirty="0"/>
          </a:p>
        </p:txBody>
      </p:sp>
      <p:sp>
        <p:nvSpPr>
          <p:cNvPr id="39" name="Text 34"/>
          <p:cNvSpPr txBox="1"/>
          <p:nvPr/>
        </p:nvSpPr>
        <p:spPr>
          <a:xfrm>
            <a:off x="2633472"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CPI note — July 2026 (Word format)</a:t>
            </a:r>
            <a:endParaRPr lang="en-US" sz="700" dirty="0"/>
          </a:p>
        </p:txBody>
      </p:sp>
      <p:sp>
        <p:nvSpPr>
          <p:cNvPr id="40" name="Text 35">
            <a:hlinkClick r:id="rId5"/>
          </p:cNvPr>
          <p:cNvSpPr txBox="1"/>
          <p:nvPr/>
        </p:nvSpPr>
        <p:spPr>
          <a:xfrm>
            <a:off x="2633472"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hcp.ma › IPC_Juillet 2026_Fr.docx</a:t>
            </a:r>
            <a:endParaRPr lang="en-US" sz="650" dirty="0"/>
          </a:p>
        </p:txBody>
      </p:sp>
      <p:sp>
        <p:nvSpPr>
          <p:cNvPr id="41" name="Shape 36"/>
          <p:cNvSpPr/>
          <p:nvPr/>
        </p:nvSpPr>
        <p:spPr>
          <a:xfrm>
            <a:off x="4626864" y="1261872"/>
            <a:ext cx="1965960" cy="1591056"/>
          </a:xfrm>
          <a:prstGeom prst="roundRect">
            <a:avLst>
              <a:gd name="adj" fmla="val 4598"/>
            </a:avLst>
          </a:prstGeom>
          <a:solidFill>
            <a:srgbClr val="FFFFFF"/>
          </a:solidFill>
          <a:ln w="13970">
            <a:solidFill>
              <a:srgbClr val="D49A00"/>
            </a:solidFill>
            <a:prstDash val="solid"/>
          </a:ln>
        </p:spPr>
      </p:sp>
      <p:pic>
        <p:nvPicPr>
          <p:cNvPr id="42" name="Image 2" descr="/home/claude/lab10en/qr/p_ng.png">
            <a:hlinkClick r:id="rId7"/>
          </p:cNvPr>
          <p:cNvPicPr>
            <a:picLocks noChangeAspect="1"/>
          </p:cNvPicPr>
          <p:nvPr/>
        </p:nvPicPr>
        <p:blipFill>
          <a:blip r:embed="rId8"/>
          <a:stretch>
            <a:fillRect/>
          </a:stretch>
        </p:blipFill>
        <p:spPr>
          <a:xfrm>
            <a:off x="4690872" y="1325880"/>
            <a:ext cx="896112" cy="896112"/>
          </a:xfrm>
          <a:prstGeom prst="rect">
            <a:avLst/>
          </a:prstGeom>
        </p:spPr>
      </p:pic>
      <p:sp>
        <p:nvSpPr>
          <p:cNvPr id="43" name="Text 37"/>
          <p:cNvSpPr txBox="1"/>
          <p:nvPr/>
        </p:nvSpPr>
        <p:spPr>
          <a:xfrm>
            <a:off x="5632704"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Nigeria</a:t>
            </a:r>
            <a:endParaRPr lang="en-US" sz="1150" dirty="0"/>
          </a:p>
        </p:txBody>
      </p:sp>
      <p:sp>
        <p:nvSpPr>
          <p:cNvPr id="44" name="Text 38"/>
          <p:cNvSpPr txBox="1"/>
          <p:nvPr/>
        </p:nvSpPr>
        <p:spPr>
          <a:xfrm>
            <a:off x="5632704"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NBS</a:t>
            </a:r>
            <a:endParaRPr lang="en-US" sz="800" dirty="0"/>
          </a:p>
        </p:txBody>
      </p:sp>
      <p:sp>
        <p:nvSpPr>
          <p:cNvPr id="45" name="Shape 39"/>
          <p:cNvSpPr/>
          <p:nvPr/>
        </p:nvSpPr>
        <p:spPr>
          <a:xfrm>
            <a:off x="5632704" y="1920240"/>
            <a:ext cx="502920" cy="192024"/>
          </a:xfrm>
          <a:prstGeom prst="roundRect">
            <a:avLst>
              <a:gd name="adj" fmla="val 52381"/>
            </a:avLst>
          </a:prstGeom>
          <a:solidFill>
            <a:srgbClr val="0E7C86"/>
          </a:solidFill>
          <a:ln w="9525">
            <a:solidFill>
              <a:srgbClr val="0E7C86"/>
            </a:solidFill>
            <a:prstDash val="solid"/>
          </a:ln>
        </p:spPr>
      </p:sp>
      <p:sp>
        <p:nvSpPr>
          <p:cNvPr id="46" name="Text 40"/>
          <p:cNvSpPr txBox="1"/>
          <p:nvPr/>
        </p:nvSpPr>
        <p:spPr>
          <a:xfrm>
            <a:off x="5632704"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47" name="Shape 41"/>
          <p:cNvSpPr/>
          <p:nvPr/>
        </p:nvSpPr>
        <p:spPr>
          <a:xfrm>
            <a:off x="6163056"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48" name="Text 42"/>
          <p:cNvSpPr txBox="1"/>
          <p:nvPr/>
        </p:nvSpPr>
        <p:spPr>
          <a:xfrm>
            <a:off x="6163056"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49" name="Shape 43"/>
          <p:cNvSpPr/>
          <p:nvPr/>
        </p:nvSpPr>
        <p:spPr>
          <a:xfrm>
            <a:off x="4718304" y="2276856"/>
            <a:ext cx="109728" cy="109728"/>
          </a:xfrm>
          <a:prstGeom prst="ellipse">
            <a:avLst/>
          </a:prstGeom>
          <a:solidFill>
            <a:srgbClr val="D49A00"/>
          </a:solidFill>
          <a:ln/>
        </p:spPr>
      </p:sp>
      <p:sp>
        <p:nvSpPr>
          <p:cNvPr id="50" name="Text 44"/>
          <p:cNvSpPr txBox="1"/>
          <p:nvPr/>
        </p:nvSpPr>
        <p:spPr>
          <a:xfrm>
            <a:off x="4873752"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ZIP archives</a:t>
            </a:r>
            <a:endParaRPr lang="en-US" sz="750" dirty="0"/>
          </a:p>
        </p:txBody>
      </p:sp>
      <p:sp>
        <p:nvSpPr>
          <p:cNvPr id="51" name="Text 45"/>
          <p:cNvSpPr txBox="1"/>
          <p:nvPr/>
        </p:nvSpPr>
        <p:spPr>
          <a:xfrm>
            <a:off x="4718304"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CPI Reports 2026 — monthly archives (ZIP)</a:t>
            </a:r>
            <a:endParaRPr lang="en-US" sz="700" dirty="0"/>
          </a:p>
        </p:txBody>
      </p:sp>
      <p:sp>
        <p:nvSpPr>
          <p:cNvPr id="52" name="Text 46">
            <a:hlinkClick r:id="rId7"/>
          </p:cNvPr>
          <p:cNvSpPr txBox="1"/>
          <p:nvPr/>
        </p:nvSpPr>
        <p:spPr>
          <a:xfrm>
            <a:off x="4718304"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microdata.nigerianstat.gov.ng › 154</a:t>
            </a:r>
            <a:endParaRPr lang="en-US" sz="650" dirty="0"/>
          </a:p>
        </p:txBody>
      </p:sp>
      <p:sp>
        <p:nvSpPr>
          <p:cNvPr id="53" name="Shape 47"/>
          <p:cNvSpPr/>
          <p:nvPr/>
        </p:nvSpPr>
        <p:spPr>
          <a:xfrm>
            <a:off x="6711696" y="1261872"/>
            <a:ext cx="1965960" cy="1591056"/>
          </a:xfrm>
          <a:prstGeom prst="roundRect">
            <a:avLst>
              <a:gd name="adj" fmla="val 4598"/>
            </a:avLst>
          </a:prstGeom>
          <a:solidFill>
            <a:srgbClr val="FFFFFF"/>
          </a:solidFill>
          <a:ln w="13970">
            <a:solidFill>
              <a:srgbClr val="00A86A"/>
            </a:solidFill>
            <a:prstDash val="solid"/>
          </a:ln>
        </p:spPr>
      </p:sp>
      <p:pic>
        <p:nvPicPr>
          <p:cNvPr id="54" name="Image 3" descr="/home/claude/lab10en/qr/p_rw.png">
            <a:hlinkClick r:id="rId9"/>
          </p:cNvPr>
          <p:cNvPicPr>
            <a:picLocks noChangeAspect="1"/>
          </p:cNvPicPr>
          <p:nvPr/>
        </p:nvPicPr>
        <p:blipFill>
          <a:blip r:embed="rId10"/>
          <a:stretch>
            <a:fillRect/>
          </a:stretch>
        </p:blipFill>
        <p:spPr>
          <a:xfrm>
            <a:off x="6775704" y="1325880"/>
            <a:ext cx="896112" cy="896112"/>
          </a:xfrm>
          <a:prstGeom prst="rect">
            <a:avLst/>
          </a:prstGeom>
        </p:spPr>
      </p:pic>
      <p:sp>
        <p:nvSpPr>
          <p:cNvPr id="55" name="Text 48"/>
          <p:cNvSpPr txBox="1"/>
          <p:nvPr/>
        </p:nvSpPr>
        <p:spPr>
          <a:xfrm>
            <a:off x="7717536"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Rwanda</a:t>
            </a:r>
            <a:endParaRPr lang="en-US" sz="1150" dirty="0"/>
          </a:p>
        </p:txBody>
      </p:sp>
      <p:sp>
        <p:nvSpPr>
          <p:cNvPr id="56" name="Text 49"/>
          <p:cNvSpPr txBox="1"/>
          <p:nvPr/>
        </p:nvSpPr>
        <p:spPr>
          <a:xfrm>
            <a:off x="7717536"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NISR</a:t>
            </a:r>
            <a:endParaRPr lang="en-US" sz="800" dirty="0"/>
          </a:p>
        </p:txBody>
      </p:sp>
      <p:sp>
        <p:nvSpPr>
          <p:cNvPr id="57" name="Shape 50"/>
          <p:cNvSpPr/>
          <p:nvPr/>
        </p:nvSpPr>
        <p:spPr>
          <a:xfrm>
            <a:off x="7717536" y="1920240"/>
            <a:ext cx="502920" cy="192024"/>
          </a:xfrm>
          <a:prstGeom prst="roundRect">
            <a:avLst>
              <a:gd name="adj" fmla="val 52381"/>
            </a:avLst>
          </a:prstGeom>
          <a:solidFill>
            <a:srgbClr val="B83B2E"/>
          </a:solidFill>
          <a:ln w="9525">
            <a:solidFill>
              <a:srgbClr val="B83B2E"/>
            </a:solidFill>
            <a:prstDash val="solid"/>
          </a:ln>
        </p:spPr>
      </p:sp>
      <p:sp>
        <p:nvSpPr>
          <p:cNvPr id="58" name="Text 51"/>
          <p:cNvSpPr txBox="1"/>
          <p:nvPr/>
        </p:nvSpPr>
        <p:spPr>
          <a:xfrm>
            <a:off x="7717536"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9" name="Shape 52"/>
          <p:cNvSpPr/>
          <p:nvPr/>
        </p:nvSpPr>
        <p:spPr>
          <a:xfrm>
            <a:off x="8247888"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60" name="Text 53"/>
          <p:cNvSpPr txBox="1"/>
          <p:nvPr/>
        </p:nvSpPr>
        <p:spPr>
          <a:xfrm>
            <a:off x="8247888"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61" name="Shape 54"/>
          <p:cNvSpPr/>
          <p:nvPr/>
        </p:nvSpPr>
        <p:spPr>
          <a:xfrm>
            <a:off x="6803136" y="2276856"/>
            <a:ext cx="109728" cy="109728"/>
          </a:xfrm>
          <a:prstGeom prst="ellipse">
            <a:avLst/>
          </a:prstGeom>
          <a:solidFill>
            <a:srgbClr val="00A86A"/>
          </a:solidFill>
          <a:ln/>
        </p:spPr>
      </p:sp>
      <p:sp>
        <p:nvSpPr>
          <p:cNvPr id="62" name="Text 55"/>
          <p:cNvSpPr txBox="1"/>
          <p:nvPr/>
        </p:nvSpPr>
        <p:spPr>
          <a:xfrm>
            <a:off x="6958584" y="2240280"/>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link verified</a:t>
            </a:r>
            <a:endParaRPr lang="en-US" sz="750" dirty="0"/>
          </a:p>
        </p:txBody>
      </p:sp>
      <p:sp>
        <p:nvSpPr>
          <p:cNvPr id="63" name="Text 56"/>
          <p:cNvSpPr txBox="1"/>
          <p:nvPr/>
        </p:nvSpPr>
        <p:spPr>
          <a:xfrm>
            <a:off x="6803136"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Report — July 2026</a:t>
            </a:r>
            <a:endParaRPr lang="en-US" sz="700" dirty="0"/>
          </a:p>
        </p:txBody>
      </p:sp>
      <p:sp>
        <p:nvSpPr>
          <p:cNvPr id="64" name="Text 57">
            <a:hlinkClick r:id="rId9"/>
          </p:cNvPr>
          <p:cNvSpPr txBox="1"/>
          <p:nvPr/>
        </p:nvSpPr>
        <p:spPr>
          <a:xfrm>
            <a:off x="6803136"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statistics.gov.rw › CPI July 2026 Report.pdf</a:t>
            </a:r>
            <a:endParaRPr lang="en-US" sz="650" dirty="0"/>
          </a:p>
        </p:txBody>
      </p:sp>
      <p:sp>
        <p:nvSpPr>
          <p:cNvPr id="65" name="Shape 58"/>
          <p:cNvSpPr/>
          <p:nvPr/>
        </p:nvSpPr>
        <p:spPr>
          <a:xfrm>
            <a:off x="457200" y="2926080"/>
            <a:ext cx="1965960" cy="1591056"/>
          </a:xfrm>
          <a:prstGeom prst="roundRect">
            <a:avLst>
              <a:gd name="adj" fmla="val 4598"/>
            </a:avLst>
          </a:prstGeom>
          <a:solidFill>
            <a:srgbClr val="FFFFFF"/>
          </a:solidFill>
          <a:ln w="13970">
            <a:solidFill>
              <a:srgbClr val="00A86A"/>
            </a:solidFill>
            <a:prstDash val="solid"/>
          </a:ln>
        </p:spPr>
      </p:sp>
      <p:pic>
        <p:nvPicPr>
          <p:cNvPr id="66" name="Image 4" descr="/home/claude/lab10en/qr/p_sn.png">
            <a:hlinkClick r:id="rId11"/>
          </p:cNvPr>
          <p:cNvPicPr>
            <a:picLocks noChangeAspect="1"/>
          </p:cNvPicPr>
          <p:nvPr/>
        </p:nvPicPr>
        <p:blipFill>
          <a:blip r:embed="rId12"/>
          <a:stretch>
            <a:fillRect/>
          </a:stretch>
        </p:blipFill>
        <p:spPr>
          <a:xfrm>
            <a:off x="521208" y="2990088"/>
            <a:ext cx="896112" cy="896112"/>
          </a:xfrm>
          <a:prstGeom prst="rect">
            <a:avLst/>
          </a:prstGeom>
        </p:spPr>
      </p:pic>
      <p:sp>
        <p:nvSpPr>
          <p:cNvPr id="67" name="Text 59"/>
          <p:cNvSpPr txBox="1"/>
          <p:nvPr/>
        </p:nvSpPr>
        <p:spPr>
          <a:xfrm>
            <a:off x="1463040"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Senegal</a:t>
            </a:r>
            <a:endParaRPr lang="en-US" sz="1150" dirty="0"/>
          </a:p>
        </p:txBody>
      </p:sp>
      <p:sp>
        <p:nvSpPr>
          <p:cNvPr id="68" name="Text 60"/>
          <p:cNvSpPr txBox="1"/>
          <p:nvPr/>
        </p:nvSpPr>
        <p:spPr>
          <a:xfrm>
            <a:off x="1463040"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ANSD</a:t>
            </a:r>
            <a:endParaRPr lang="en-US" sz="800" dirty="0"/>
          </a:p>
        </p:txBody>
      </p:sp>
      <p:sp>
        <p:nvSpPr>
          <p:cNvPr id="69" name="Shape 61"/>
          <p:cNvSpPr/>
          <p:nvPr/>
        </p:nvSpPr>
        <p:spPr>
          <a:xfrm>
            <a:off x="1463040" y="3584448"/>
            <a:ext cx="502920" cy="192024"/>
          </a:xfrm>
          <a:prstGeom prst="roundRect">
            <a:avLst>
              <a:gd name="adj" fmla="val 52381"/>
            </a:avLst>
          </a:prstGeom>
          <a:solidFill>
            <a:srgbClr val="B83B2E"/>
          </a:solidFill>
          <a:ln w="9525">
            <a:solidFill>
              <a:srgbClr val="B83B2E"/>
            </a:solidFill>
            <a:prstDash val="solid"/>
          </a:ln>
        </p:spPr>
      </p:sp>
      <p:sp>
        <p:nvSpPr>
          <p:cNvPr id="70" name="Text 62"/>
          <p:cNvSpPr txBox="1"/>
          <p:nvPr/>
        </p:nvSpPr>
        <p:spPr>
          <a:xfrm>
            <a:off x="1463040"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71" name="Shape 63"/>
          <p:cNvSpPr/>
          <p:nvPr/>
        </p:nvSpPr>
        <p:spPr>
          <a:xfrm>
            <a:off x="1993392"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72" name="Text 64"/>
          <p:cNvSpPr txBox="1"/>
          <p:nvPr/>
        </p:nvSpPr>
        <p:spPr>
          <a:xfrm>
            <a:off x="1993392"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73" name="Shape 65"/>
          <p:cNvSpPr/>
          <p:nvPr/>
        </p:nvSpPr>
        <p:spPr>
          <a:xfrm>
            <a:off x="548640" y="3941064"/>
            <a:ext cx="109728" cy="109728"/>
          </a:xfrm>
          <a:prstGeom prst="ellipse">
            <a:avLst/>
          </a:prstGeom>
          <a:solidFill>
            <a:srgbClr val="00A86A"/>
          </a:solidFill>
          <a:ln/>
        </p:spPr>
      </p:sp>
      <p:sp>
        <p:nvSpPr>
          <p:cNvPr id="74" name="Text 66"/>
          <p:cNvSpPr txBox="1"/>
          <p:nvPr/>
        </p:nvSpPr>
        <p:spPr>
          <a:xfrm>
            <a:off x="704088"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opened and read</a:t>
            </a:r>
            <a:endParaRPr lang="en-US" sz="750" dirty="0"/>
          </a:p>
        </p:txBody>
      </p:sp>
      <p:sp>
        <p:nvSpPr>
          <p:cNvPr id="75" name="Text 67"/>
          <p:cNvSpPr txBox="1"/>
          <p:nvPr/>
        </p:nvSpPr>
        <p:spPr>
          <a:xfrm>
            <a:off x="548640"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Harmonised CPI (HCPI) — Dec. 2025</a:t>
            </a:r>
            <a:endParaRPr lang="en-US" sz="700" dirty="0"/>
          </a:p>
        </p:txBody>
      </p:sp>
      <p:sp>
        <p:nvSpPr>
          <p:cNvPr id="76" name="Text 68">
            <a:hlinkClick r:id="rId11"/>
          </p:cNvPr>
          <p:cNvSpPr txBox="1"/>
          <p:nvPr/>
        </p:nvSpPr>
        <p:spPr>
          <a:xfrm>
            <a:off x="548640"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ansd.sn › IHPC_base2023_DEC-25.pdf</a:t>
            </a:r>
            <a:endParaRPr lang="en-US" sz="650" dirty="0"/>
          </a:p>
        </p:txBody>
      </p:sp>
      <p:sp>
        <p:nvSpPr>
          <p:cNvPr id="77" name="Shape 69"/>
          <p:cNvSpPr/>
          <p:nvPr/>
        </p:nvSpPr>
        <p:spPr>
          <a:xfrm>
            <a:off x="2542032" y="2926080"/>
            <a:ext cx="1965960" cy="1591056"/>
          </a:xfrm>
          <a:prstGeom prst="roundRect">
            <a:avLst>
              <a:gd name="adj" fmla="val 4598"/>
            </a:avLst>
          </a:prstGeom>
          <a:solidFill>
            <a:srgbClr val="FFFFFF"/>
          </a:solidFill>
          <a:ln w="13970">
            <a:solidFill>
              <a:srgbClr val="00A86A"/>
            </a:solidFill>
            <a:prstDash val="solid"/>
          </a:ln>
        </p:spPr>
      </p:sp>
      <p:pic>
        <p:nvPicPr>
          <p:cNvPr id="78" name="Image 5" descr="/home/claude/lab10en/qr/p_so.png">
            <a:hlinkClick r:id="rId13"/>
          </p:cNvPr>
          <p:cNvPicPr>
            <a:picLocks noChangeAspect="1"/>
          </p:cNvPicPr>
          <p:nvPr/>
        </p:nvPicPr>
        <p:blipFill>
          <a:blip r:embed="rId14"/>
          <a:stretch>
            <a:fillRect/>
          </a:stretch>
        </p:blipFill>
        <p:spPr>
          <a:xfrm>
            <a:off x="2606040" y="2990088"/>
            <a:ext cx="896112" cy="896112"/>
          </a:xfrm>
          <a:prstGeom prst="rect">
            <a:avLst/>
          </a:prstGeom>
        </p:spPr>
      </p:pic>
      <p:sp>
        <p:nvSpPr>
          <p:cNvPr id="79" name="Text 70"/>
          <p:cNvSpPr txBox="1"/>
          <p:nvPr/>
        </p:nvSpPr>
        <p:spPr>
          <a:xfrm>
            <a:off x="3547872"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Somalia</a:t>
            </a:r>
            <a:endParaRPr lang="en-US" sz="1150" dirty="0"/>
          </a:p>
        </p:txBody>
      </p:sp>
      <p:sp>
        <p:nvSpPr>
          <p:cNvPr id="80" name="Text 71"/>
          <p:cNvSpPr txBox="1"/>
          <p:nvPr/>
        </p:nvSpPr>
        <p:spPr>
          <a:xfrm>
            <a:off x="3547872"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SNBS</a:t>
            </a:r>
            <a:endParaRPr lang="en-US" sz="800" dirty="0"/>
          </a:p>
        </p:txBody>
      </p:sp>
      <p:sp>
        <p:nvSpPr>
          <p:cNvPr id="81" name="Shape 72"/>
          <p:cNvSpPr/>
          <p:nvPr/>
        </p:nvSpPr>
        <p:spPr>
          <a:xfrm>
            <a:off x="3547872" y="3584448"/>
            <a:ext cx="502920" cy="192024"/>
          </a:xfrm>
          <a:prstGeom prst="roundRect">
            <a:avLst>
              <a:gd name="adj" fmla="val 52381"/>
            </a:avLst>
          </a:prstGeom>
          <a:solidFill>
            <a:srgbClr val="B83B2E"/>
          </a:solidFill>
          <a:ln w="9525">
            <a:solidFill>
              <a:srgbClr val="B83B2E"/>
            </a:solidFill>
            <a:prstDash val="solid"/>
          </a:ln>
        </p:spPr>
      </p:sp>
      <p:sp>
        <p:nvSpPr>
          <p:cNvPr id="82" name="Text 73"/>
          <p:cNvSpPr txBox="1"/>
          <p:nvPr/>
        </p:nvSpPr>
        <p:spPr>
          <a:xfrm>
            <a:off x="3547872"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83" name="Shape 74"/>
          <p:cNvSpPr/>
          <p:nvPr/>
        </p:nvSpPr>
        <p:spPr>
          <a:xfrm>
            <a:off x="4078224"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84" name="Text 75"/>
          <p:cNvSpPr txBox="1"/>
          <p:nvPr/>
        </p:nvSpPr>
        <p:spPr>
          <a:xfrm>
            <a:off x="4078224"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85" name="Shape 76"/>
          <p:cNvSpPr/>
          <p:nvPr/>
        </p:nvSpPr>
        <p:spPr>
          <a:xfrm>
            <a:off x="2633472" y="3941064"/>
            <a:ext cx="109728" cy="109728"/>
          </a:xfrm>
          <a:prstGeom prst="ellipse">
            <a:avLst/>
          </a:prstGeom>
          <a:solidFill>
            <a:srgbClr val="00A86A"/>
          </a:solidFill>
          <a:ln/>
        </p:spPr>
      </p:sp>
      <p:sp>
        <p:nvSpPr>
          <p:cNvPr id="86" name="Text 77"/>
          <p:cNvSpPr txBox="1"/>
          <p:nvPr/>
        </p:nvSpPr>
        <p:spPr>
          <a:xfrm>
            <a:off x="2788920"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opened and read</a:t>
            </a:r>
            <a:endParaRPr lang="en-US" sz="750" dirty="0"/>
          </a:p>
        </p:txBody>
      </p:sp>
      <p:sp>
        <p:nvSpPr>
          <p:cNvPr id="87" name="Text 78"/>
          <p:cNvSpPr txBox="1"/>
          <p:nvPr/>
        </p:nvSpPr>
        <p:spPr>
          <a:xfrm>
            <a:off x="2633472"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Somalia's Inflation Outlook — policy brief, March 2026</a:t>
            </a:r>
            <a:endParaRPr lang="en-US" sz="700" dirty="0"/>
          </a:p>
        </p:txBody>
      </p:sp>
      <p:sp>
        <p:nvSpPr>
          <p:cNvPr id="88" name="Text 79">
            <a:hlinkClick r:id="rId13"/>
          </p:cNvPr>
          <p:cNvSpPr txBox="1"/>
          <p:nvPr/>
        </p:nvSpPr>
        <p:spPr>
          <a:xfrm>
            <a:off x="2633472"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nbs.gov.so › Somalias-Inflation-Outlook.pdf</a:t>
            </a:r>
            <a:endParaRPr lang="en-US" sz="650" dirty="0"/>
          </a:p>
        </p:txBody>
      </p:sp>
      <p:sp>
        <p:nvSpPr>
          <p:cNvPr id="89" name="Shape 80"/>
          <p:cNvSpPr/>
          <p:nvPr/>
        </p:nvSpPr>
        <p:spPr>
          <a:xfrm>
            <a:off x="4626864" y="2926080"/>
            <a:ext cx="1965960" cy="1591056"/>
          </a:xfrm>
          <a:prstGeom prst="roundRect">
            <a:avLst>
              <a:gd name="adj" fmla="val 4598"/>
            </a:avLst>
          </a:prstGeom>
          <a:solidFill>
            <a:srgbClr val="FFFFFF"/>
          </a:solidFill>
          <a:ln w="13970">
            <a:solidFill>
              <a:srgbClr val="00A86A"/>
            </a:solidFill>
            <a:prstDash val="solid"/>
          </a:ln>
        </p:spPr>
      </p:sp>
      <p:pic>
        <p:nvPicPr>
          <p:cNvPr id="90" name="Image 6" descr="/home/claude/lab10en/qr/p_tz.png">
            <a:hlinkClick r:id="rId15"/>
          </p:cNvPr>
          <p:cNvPicPr>
            <a:picLocks noChangeAspect="1"/>
          </p:cNvPicPr>
          <p:nvPr/>
        </p:nvPicPr>
        <p:blipFill>
          <a:blip r:embed="rId16"/>
          <a:stretch>
            <a:fillRect/>
          </a:stretch>
        </p:blipFill>
        <p:spPr>
          <a:xfrm>
            <a:off x="4690872" y="2990088"/>
            <a:ext cx="896112" cy="896112"/>
          </a:xfrm>
          <a:prstGeom prst="rect">
            <a:avLst/>
          </a:prstGeom>
        </p:spPr>
      </p:pic>
      <p:sp>
        <p:nvSpPr>
          <p:cNvPr id="91" name="Text 81"/>
          <p:cNvSpPr txBox="1"/>
          <p:nvPr/>
        </p:nvSpPr>
        <p:spPr>
          <a:xfrm>
            <a:off x="5632704"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Tanzania</a:t>
            </a:r>
            <a:endParaRPr lang="en-US" sz="1150" dirty="0"/>
          </a:p>
        </p:txBody>
      </p:sp>
      <p:sp>
        <p:nvSpPr>
          <p:cNvPr id="92" name="Text 82"/>
          <p:cNvSpPr txBox="1"/>
          <p:nvPr/>
        </p:nvSpPr>
        <p:spPr>
          <a:xfrm>
            <a:off x="5632704"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NBS</a:t>
            </a:r>
            <a:endParaRPr lang="en-US" sz="800" dirty="0"/>
          </a:p>
        </p:txBody>
      </p:sp>
      <p:sp>
        <p:nvSpPr>
          <p:cNvPr id="93" name="Shape 83"/>
          <p:cNvSpPr/>
          <p:nvPr/>
        </p:nvSpPr>
        <p:spPr>
          <a:xfrm>
            <a:off x="5632704" y="3584448"/>
            <a:ext cx="502920" cy="192024"/>
          </a:xfrm>
          <a:prstGeom prst="roundRect">
            <a:avLst>
              <a:gd name="adj" fmla="val 52381"/>
            </a:avLst>
          </a:prstGeom>
          <a:solidFill>
            <a:srgbClr val="B83B2E"/>
          </a:solidFill>
          <a:ln w="9525">
            <a:solidFill>
              <a:srgbClr val="B83B2E"/>
            </a:solidFill>
            <a:prstDash val="solid"/>
          </a:ln>
        </p:spPr>
      </p:sp>
      <p:sp>
        <p:nvSpPr>
          <p:cNvPr id="94" name="Text 84"/>
          <p:cNvSpPr txBox="1"/>
          <p:nvPr/>
        </p:nvSpPr>
        <p:spPr>
          <a:xfrm>
            <a:off x="5632704"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95" name="Shape 85"/>
          <p:cNvSpPr/>
          <p:nvPr/>
        </p:nvSpPr>
        <p:spPr>
          <a:xfrm>
            <a:off x="6163056"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96" name="Text 86"/>
          <p:cNvSpPr txBox="1"/>
          <p:nvPr/>
        </p:nvSpPr>
        <p:spPr>
          <a:xfrm>
            <a:off x="6163056"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97" name="Shape 87"/>
          <p:cNvSpPr/>
          <p:nvPr/>
        </p:nvSpPr>
        <p:spPr>
          <a:xfrm>
            <a:off x="4718304" y="3941064"/>
            <a:ext cx="109728" cy="109728"/>
          </a:xfrm>
          <a:prstGeom prst="ellipse">
            <a:avLst/>
          </a:prstGeom>
          <a:solidFill>
            <a:srgbClr val="00A86A"/>
          </a:solidFill>
          <a:ln/>
        </p:spPr>
      </p:sp>
      <p:sp>
        <p:nvSpPr>
          <p:cNvPr id="98" name="Text 88"/>
          <p:cNvSpPr txBox="1"/>
          <p:nvPr/>
        </p:nvSpPr>
        <p:spPr>
          <a:xfrm>
            <a:off x="4873752"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opened and read</a:t>
            </a:r>
            <a:endParaRPr lang="en-US" sz="750" dirty="0"/>
          </a:p>
        </p:txBody>
      </p:sp>
      <p:sp>
        <p:nvSpPr>
          <p:cNvPr id="99" name="Text 89"/>
          <p:cNvSpPr txBox="1"/>
          <p:nvPr/>
        </p:nvSpPr>
        <p:spPr>
          <a:xfrm>
            <a:off x="4718304"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National Consumer Price Index — February 2026</a:t>
            </a:r>
            <a:endParaRPr lang="en-US" sz="700" dirty="0"/>
          </a:p>
        </p:txBody>
      </p:sp>
      <p:sp>
        <p:nvSpPr>
          <p:cNvPr id="100" name="Text 90">
            <a:hlinkClick r:id="rId15"/>
          </p:cNvPr>
          <p:cNvSpPr txBox="1"/>
          <p:nvPr/>
        </p:nvSpPr>
        <p:spPr>
          <a:xfrm>
            <a:off x="4718304"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nbs.go.tz › CPI Release_022026_English.pdf</a:t>
            </a:r>
            <a:endParaRPr lang="en-US" sz="650" dirty="0"/>
          </a:p>
        </p:txBody>
      </p:sp>
      <p:sp>
        <p:nvSpPr>
          <p:cNvPr id="101" name="Shape 91"/>
          <p:cNvSpPr/>
          <p:nvPr/>
        </p:nvSpPr>
        <p:spPr>
          <a:xfrm>
            <a:off x="6711696" y="2926080"/>
            <a:ext cx="1965960" cy="1591056"/>
          </a:xfrm>
          <a:prstGeom prst="roundRect">
            <a:avLst>
              <a:gd name="adj" fmla="val 4598"/>
            </a:avLst>
          </a:prstGeom>
          <a:solidFill>
            <a:srgbClr val="FFFFFF"/>
          </a:solidFill>
          <a:ln w="13970">
            <a:solidFill>
              <a:srgbClr val="0E7C86"/>
            </a:solidFill>
            <a:prstDash val="solid"/>
          </a:ln>
        </p:spPr>
      </p:sp>
      <p:pic>
        <p:nvPicPr>
          <p:cNvPr id="102" name="Image 7" descr="/home/claude/lab10en/qr/p_zw.png">
            <a:hlinkClick r:id="rId17"/>
          </p:cNvPr>
          <p:cNvPicPr>
            <a:picLocks noChangeAspect="1"/>
          </p:cNvPicPr>
          <p:nvPr/>
        </p:nvPicPr>
        <p:blipFill>
          <a:blip r:embed="rId18"/>
          <a:stretch>
            <a:fillRect/>
          </a:stretch>
        </p:blipFill>
        <p:spPr>
          <a:xfrm>
            <a:off x="6775704" y="2990088"/>
            <a:ext cx="896112" cy="896112"/>
          </a:xfrm>
          <a:prstGeom prst="rect">
            <a:avLst/>
          </a:prstGeom>
        </p:spPr>
      </p:pic>
      <p:sp>
        <p:nvSpPr>
          <p:cNvPr id="103" name="Text 92"/>
          <p:cNvSpPr txBox="1"/>
          <p:nvPr/>
        </p:nvSpPr>
        <p:spPr>
          <a:xfrm>
            <a:off x="7717536"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Zimbabwe</a:t>
            </a:r>
            <a:endParaRPr lang="en-US" sz="1150" dirty="0"/>
          </a:p>
        </p:txBody>
      </p:sp>
      <p:sp>
        <p:nvSpPr>
          <p:cNvPr id="104" name="Text 93"/>
          <p:cNvSpPr txBox="1"/>
          <p:nvPr/>
        </p:nvSpPr>
        <p:spPr>
          <a:xfrm>
            <a:off x="7717536"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ZIMSTAT</a:t>
            </a:r>
            <a:endParaRPr lang="en-US" sz="800" dirty="0"/>
          </a:p>
        </p:txBody>
      </p:sp>
      <p:sp>
        <p:nvSpPr>
          <p:cNvPr id="105" name="Shape 94"/>
          <p:cNvSpPr/>
          <p:nvPr/>
        </p:nvSpPr>
        <p:spPr>
          <a:xfrm>
            <a:off x="7717536" y="3584448"/>
            <a:ext cx="502920" cy="192024"/>
          </a:xfrm>
          <a:prstGeom prst="roundRect">
            <a:avLst>
              <a:gd name="adj" fmla="val 52381"/>
            </a:avLst>
          </a:prstGeom>
          <a:solidFill>
            <a:srgbClr val="B83B2E"/>
          </a:solidFill>
          <a:ln w="9525">
            <a:solidFill>
              <a:srgbClr val="B83B2E"/>
            </a:solidFill>
            <a:prstDash val="solid"/>
          </a:ln>
        </p:spPr>
      </p:sp>
      <p:sp>
        <p:nvSpPr>
          <p:cNvPr id="106" name="Text 95"/>
          <p:cNvSpPr txBox="1"/>
          <p:nvPr/>
        </p:nvSpPr>
        <p:spPr>
          <a:xfrm>
            <a:off x="7717536"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107" name="Shape 96"/>
          <p:cNvSpPr/>
          <p:nvPr/>
        </p:nvSpPr>
        <p:spPr>
          <a:xfrm>
            <a:off x="8247888"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108" name="Text 97"/>
          <p:cNvSpPr txBox="1"/>
          <p:nvPr/>
        </p:nvSpPr>
        <p:spPr>
          <a:xfrm>
            <a:off x="8247888"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109" name="Shape 98"/>
          <p:cNvSpPr/>
          <p:nvPr/>
        </p:nvSpPr>
        <p:spPr>
          <a:xfrm>
            <a:off x="6803136" y="3941064"/>
            <a:ext cx="109728" cy="109728"/>
          </a:xfrm>
          <a:prstGeom prst="ellipse">
            <a:avLst/>
          </a:prstGeom>
          <a:solidFill>
            <a:srgbClr val="0E7C86"/>
          </a:solidFill>
          <a:ln/>
        </p:spPr>
      </p:sp>
      <p:sp>
        <p:nvSpPr>
          <p:cNvPr id="110" name="Text 99"/>
          <p:cNvSpPr txBox="1"/>
          <p:nvPr/>
        </p:nvSpPr>
        <p:spPr>
          <a:xfrm>
            <a:off x="6958584" y="3904488"/>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indexed</a:t>
            </a:r>
            <a:endParaRPr lang="en-US" sz="750" dirty="0"/>
          </a:p>
        </p:txBody>
      </p:sp>
      <p:sp>
        <p:nvSpPr>
          <p:cNvPr id="111" name="Text 100"/>
          <p:cNvSpPr txBox="1"/>
          <p:nvPr/>
        </p:nvSpPr>
        <p:spPr>
          <a:xfrm>
            <a:off x="6803136"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(ZWG) — December 2025</a:t>
            </a:r>
            <a:endParaRPr lang="en-US" sz="700" dirty="0"/>
          </a:p>
        </p:txBody>
      </p:sp>
      <p:sp>
        <p:nvSpPr>
          <p:cNvPr id="112" name="Text 101">
            <a:hlinkClick r:id="rId17"/>
          </p:cNvPr>
          <p:cNvSpPr txBox="1"/>
          <p:nvPr/>
        </p:nvSpPr>
        <p:spPr>
          <a:xfrm>
            <a:off x="6803136"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zimstat.co.zw › CPI_ZWG_12_2025.pdf</a:t>
            </a:r>
            <a:endParaRPr lang="en-US" sz="650" dirty="0"/>
          </a:p>
        </p:txBody>
      </p:sp>
      <p:sp>
        <p:nvSpPr>
          <p:cNvPr id="113" name="Shape 102"/>
          <p:cNvSpPr/>
          <p:nvPr/>
        </p:nvSpPr>
        <p:spPr>
          <a:xfrm>
            <a:off x="457200" y="4626864"/>
            <a:ext cx="109728" cy="109728"/>
          </a:xfrm>
          <a:prstGeom prst="ellipse">
            <a:avLst/>
          </a:prstGeom>
          <a:solidFill>
            <a:srgbClr val="00A86A"/>
          </a:solidFill>
          <a:ln/>
        </p:spPr>
      </p:sp>
      <p:sp>
        <p:nvSpPr>
          <p:cNvPr id="114" name="Text 103"/>
          <p:cNvSpPr txBox="1"/>
          <p:nvPr/>
        </p:nvSpPr>
        <p:spPr>
          <a:xfrm>
            <a:off x="6126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Verified (opened or PDF link confirmed)</a:t>
            </a:r>
            <a:endParaRPr lang="en-US" sz="800" dirty="0"/>
          </a:p>
        </p:txBody>
      </p:sp>
      <p:sp>
        <p:nvSpPr>
          <p:cNvPr id="115" name="Shape 104"/>
          <p:cNvSpPr/>
          <p:nvPr/>
        </p:nvSpPr>
        <p:spPr>
          <a:xfrm>
            <a:off x="3200400" y="4626864"/>
            <a:ext cx="109728" cy="109728"/>
          </a:xfrm>
          <a:prstGeom prst="ellipse">
            <a:avLst/>
          </a:prstGeom>
          <a:solidFill>
            <a:srgbClr val="0E7C86"/>
          </a:solidFill>
          <a:ln/>
        </p:spPr>
      </p:sp>
      <p:sp>
        <p:nvSpPr>
          <p:cNvPr id="116" name="Text 105"/>
          <p:cNvSpPr txBox="1"/>
          <p:nvPr/>
        </p:nvSpPr>
        <p:spPr>
          <a:xfrm>
            <a:off x="33558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PDF indexed — test it by hand</a:t>
            </a:r>
            <a:endParaRPr lang="en-US" sz="800" dirty="0"/>
          </a:p>
        </p:txBody>
      </p:sp>
      <p:sp>
        <p:nvSpPr>
          <p:cNvPr id="117" name="Shape 106"/>
          <p:cNvSpPr/>
          <p:nvPr/>
        </p:nvSpPr>
        <p:spPr>
          <a:xfrm>
            <a:off x="5943600" y="4626864"/>
            <a:ext cx="109728" cy="109728"/>
          </a:xfrm>
          <a:prstGeom prst="ellipse">
            <a:avLst/>
          </a:prstGeom>
          <a:solidFill>
            <a:srgbClr val="D49A00"/>
          </a:solidFill>
          <a:ln/>
        </p:spPr>
      </p:sp>
      <p:sp>
        <p:nvSpPr>
          <p:cNvPr id="118" name="Text 107"/>
          <p:cNvSpPr txBox="1"/>
          <p:nvPr/>
        </p:nvSpPr>
        <p:spPr>
          <a:xfrm>
            <a:off x="60990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Page, other format or older edition</a:t>
            </a:r>
            <a:endParaRPr lang="en-US" sz="8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and verification points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07592"/>
            <a:ext cx="8229600" cy="356616"/>
          </a:xfrm>
          <a:prstGeom prst="roundRect">
            <a:avLst>
              <a:gd name="adj" fmla="val 12821"/>
            </a:avLst>
          </a:prstGeom>
          <a:solidFill>
            <a:srgbClr val="F4F7F5"/>
          </a:solidFill>
          <a:ln/>
        </p:spPr>
      </p:sp>
      <p:sp>
        <p:nvSpPr>
          <p:cNvPr id="18" name="Shape 15"/>
          <p:cNvSpPr/>
          <p:nvPr/>
        </p:nvSpPr>
        <p:spPr>
          <a:xfrm>
            <a:off x="548640" y="1389888"/>
            <a:ext cx="1325880" cy="201168"/>
          </a:xfrm>
          <a:prstGeom prst="roundRect">
            <a:avLst>
              <a:gd name="adj" fmla="val 50000"/>
            </a:avLst>
          </a:prstGeom>
          <a:solidFill>
            <a:srgbClr val="00704A">
              <a:alpha val="15000"/>
            </a:srgbClr>
          </a:solidFill>
          <a:ln w="9525">
            <a:solidFill>
              <a:srgbClr val="00704A"/>
            </a:solidFill>
            <a:prstDash val="solid"/>
          </a:ln>
        </p:spPr>
      </p:sp>
      <p:sp>
        <p:nvSpPr>
          <p:cNvPr id="19" name="Text 16"/>
          <p:cNvSpPr txBox="1"/>
          <p:nvPr/>
        </p:nvSpPr>
        <p:spPr>
          <a:xfrm>
            <a:off x="548640" y="1389888"/>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Method</a:t>
            </a:r>
            <a:endParaRPr lang="en-US" sz="800" dirty="0"/>
          </a:p>
        </p:txBody>
      </p:sp>
      <p:sp>
        <p:nvSpPr>
          <p:cNvPr id="20" name="Text 17"/>
          <p:cNvSpPr txBox="1"/>
          <p:nvPr/>
        </p:nvSpPr>
        <p:spPr>
          <a:xfrm>
            <a:off x="2011680" y="1325880"/>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UNECE (2019). Generic Statistical Business Process Model, GSBPM v5.1.</a:t>
            </a:r>
            <a:endParaRPr lang="en-US" sz="1000" dirty="0"/>
          </a:p>
        </p:txBody>
      </p:sp>
      <p:sp>
        <p:nvSpPr>
          <p:cNvPr id="21" name="Shape 18"/>
          <p:cNvSpPr/>
          <p:nvPr/>
        </p:nvSpPr>
        <p:spPr>
          <a:xfrm>
            <a:off x="548640" y="1783080"/>
            <a:ext cx="1325880" cy="201168"/>
          </a:xfrm>
          <a:prstGeom prst="roundRect">
            <a:avLst>
              <a:gd name="adj" fmla="val 50000"/>
            </a:avLst>
          </a:prstGeom>
          <a:solidFill>
            <a:srgbClr val="00704A">
              <a:alpha val="15000"/>
            </a:srgbClr>
          </a:solidFill>
          <a:ln w="9525">
            <a:solidFill>
              <a:srgbClr val="00704A"/>
            </a:solidFill>
            <a:prstDash val="solid"/>
          </a:ln>
        </p:spPr>
      </p:sp>
      <p:sp>
        <p:nvSpPr>
          <p:cNvPr id="22" name="Text 19"/>
          <p:cNvSpPr txBox="1"/>
          <p:nvPr/>
        </p:nvSpPr>
        <p:spPr>
          <a:xfrm>
            <a:off x="548640" y="1783080"/>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LeapSpace</a:t>
            </a:r>
            <a:endParaRPr lang="en-US" sz="800" dirty="0"/>
          </a:p>
        </p:txBody>
      </p:sp>
      <p:sp>
        <p:nvSpPr>
          <p:cNvPr id="23" name="Text 20"/>
          <p:cNvSpPr txBox="1"/>
          <p:nvPr/>
        </p:nvSpPr>
        <p:spPr>
          <a:xfrm>
            <a:off x="2011680" y="1719072"/>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Elsevier (Nov. 2025, rollout 2026). LeapSpace, research-grade AI workspace. elsevier.com/products/leapspace</a:t>
            </a:r>
            <a:endParaRPr lang="en-US" sz="1000" dirty="0"/>
          </a:p>
        </p:txBody>
      </p:sp>
      <p:sp>
        <p:nvSpPr>
          <p:cNvPr id="24" name="Shape 21"/>
          <p:cNvSpPr/>
          <p:nvPr/>
        </p:nvSpPr>
        <p:spPr>
          <a:xfrm>
            <a:off x="457200" y="2093976"/>
            <a:ext cx="8229600" cy="356616"/>
          </a:xfrm>
          <a:prstGeom prst="roundRect">
            <a:avLst>
              <a:gd name="adj" fmla="val 12821"/>
            </a:avLst>
          </a:prstGeom>
          <a:solidFill>
            <a:srgbClr val="F4F7F5"/>
          </a:solidFill>
          <a:ln/>
        </p:spPr>
      </p:sp>
      <p:sp>
        <p:nvSpPr>
          <p:cNvPr id="25" name="Shape 22"/>
          <p:cNvSpPr/>
          <p:nvPr/>
        </p:nvSpPr>
        <p:spPr>
          <a:xfrm>
            <a:off x="548640" y="2176272"/>
            <a:ext cx="1325880" cy="201168"/>
          </a:xfrm>
          <a:prstGeom prst="roundRect">
            <a:avLst>
              <a:gd name="adj" fmla="val 50000"/>
            </a:avLst>
          </a:prstGeom>
          <a:solidFill>
            <a:srgbClr val="00704A">
              <a:alpha val="15000"/>
            </a:srgbClr>
          </a:solidFill>
          <a:ln w="9525">
            <a:solidFill>
              <a:srgbClr val="00704A"/>
            </a:solidFill>
            <a:prstDash val="solid"/>
          </a:ln>
        </p:spPr>
      </p:sp>
      <p:sp>
        <p:nvSpPr>
          <p:cNvPr id="26" name="Text 23"/>
          <p:cNvSpPr txBox="1"/>
          <p:nvPr/>
        </p:nvSpPr>
        <p:spPr>
          <a:xfrm>
            <a:off x="548640" y="2176272"/>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NotebookLM</a:t>
            </a:r>
            <a:endParaRPr lang="en-US" sz="800" dirty="0"/>
          </a:p>
        </p:txBody>
      </p:sp>
      <p:sp>
        <p:nvSpPr>
          <p:cNvPr id="27" name="Text 24"/>
          <p:cNvSpPr txBox="1"/>
          <p:nvPr/>
        </p:nvSpPr>
        <p:spPr>
          <a:xfrm>
            <a:off x="2011680" y="2112264"/>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Google. Studio: infographics, slide decks (PPTX export), videos. NotebookLM Help; press coverage 2026.</a:t>
            </a:r>
            <a:endParaRPr lang="en-US" sz="1000" dirty="0"/>
          </a:p>
        </p:txBody>
      </p:sp>
      <p:sp>
        <p:nvSpPr>
          <p:cNvPr id="28" name="Shape 25"/>
          <p:cNvSpPr/>
          <p:nvPr/>
        </p:nvSpPr>
        <p:spPr>
          <a:xfrm>
            <a:off x="548640" y="2569464"/>
            <a:ext cx="1325880" cy="201168"/>
          </a:xfrm>
          <a:prstGeom prst="roundRect">
            <a:avLst>
              <a:gd name="adj" fmla="val 50000"/>
            </a:avLst>
          </a:prstGeom>
          <a:solidFill>
            <a:srgbClr val="00704A">
              <a:alpha val="15000"/>
            </a:srgbClr>
          </a:solidFill>
          <a:ln w="9525">
            <a:solidFill>
              <a:srgbClr val="00704A"/>
            </a:solidFill>
            <a:prstDash val="solid"/>
          </a:ln>
        </p:spPr>
      </p:sp>
      <p:sp>
        <p:nvSpPr>
          <p:cNvPr id="29" name="Text 26"/>
          <p:cNvSpPr txBox="1"/>
          <p:nvPr/>
        </p:nvSpPr>
        <p:spPr>
          <a:xfrm>
            <a:off x="548640" y="2569464"/>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UN Data Commons</a:t>
            </a:r>
            <a:endParaRPr lang="en-US" sz="800" dirty="0"/>
          </a:p>
        </p:txBody>
      </p:sp>
      <p:sp>
        <p:nvSpPr>
          <p:cNvPr id="30" name="Text 27"/>
          <p:cNvSpPr txBox="1"/>
          <p:nvPr/>
        </p:nvSpPr>
        <p:spPr>
          <a:xfrm>
            <a:off x="2011680" y="2505456"/>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 and Google (17 Sept. 2026). UN System Data Commons. data.un.org · blog.google</a:t>
            </a:r>
            <a:endParaRPr lang="en-US" sz="1000" dirty="0"/>
          </a:p>
        </p:txBody>
      </p:sp>
      <p:sp>
        <p:nvSpPr>
          <p:cNvPr id="31" name="Shape 28"/>
          <p:cNvSpPr/>
          <p:nvPr/>
        </p:nvSpPr>
        <p:spPr>
          <a:xfrm>
            <a:off x="457200" y="2880360"/>
            <a:ext cx="8229600" cy="356616"/>
          </a:xfrm>
          <a:prstGeom prst="roundRect">
            <a:avLst>
              <a:gd name="adj" fmla="val 12821"/>
            </a:avLst>
          </a:prstGeom>
          <a:solidFill>
            <a:srgbClr val="F4F7F5"/>
          </a:solidFill>
          <a:ln/>
        </p:spPr>
      </p:sp>
      <p:sp>
        <p:nvSpPr>
          <p:cNvPr id="32" name="Shape 29"/>
          <p:cNvSpPr/>
          <p:nvPr/>
        </p:nvSpPr>
        <p:spPr>
          <a:xfrm>
            <a:off x="548640" y="2962656"/>
            <a:ext cx="1325880" cy="201168"/>
          </a:xfrm>
          <a:prstGeom prst="roundRect">
            <a:avLst>
              <a:gd name="adj" fmla="val 50000"/>
            </a:avLst>
          </a:prstGeom>
          <a:solidFill>
            <a:srgbClr val="00704A">
              <a:alpha val="15000"/>
            </a:srgbClr>
          </a:solidFill>
          <a:ln w="9525">
            <a:solidFill>
              <a:srgbClr val="00704A"/>
            </a:solidFill>
            <a:prstDash val="solid"/>
          </a:ln>
        </p:spPr>
      </p:sp>
      <p:sp>
        <p:nvSpPr>
          <p:cNvPr id="33" name="Text 30"/>
          <p:cNvSpPr txBox="1"/>
          <p:nvPr/>
        </p:nvSpPr>
        <p:spPr>
          <a:xfrm>
            <a:off x="548640" y="2962656"/>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GLM · Z.ai</a:t>
            </a:r>
            <a:endParaRPr lang="en-US" sz="800" dirty="0"/>
          </a:p>
        </p:txBody>
      </p:sp>
      <p:sp>
        <p:nvSpPr>
          <p:cNvPr id="34" name="Text 31"/>
          <p:cNvSpPr txBox="1"/>
          <p:nvPr/>
        </p:nvSpPr>
        <p:spPr>
          <a:xfrm>
            <a:off x="2011680" y="2898648"/>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Z.ai. GLM-5 to 5.3 models, Agent mode on chat.z.ai. docs.z.ai</a:t>
            </a:r>
            <a:endParaRPr lang="en-US" sz="1000" dirty="0"/>
          </a:p>
        </p:txBody>
      </p:sp>
      <p:sp>
        <p:nvSpPr>
          <p:cNvPr id="35" name="Shape 32"/>
          <p:cNvSpPr/>
          <p:nvPr/>
        </p:nvSpPr>
        <p:spPr>
          <a:xfrm>
            <a:off x="548640" y="3355848"/>
            <a:ext cx="1325880" cy="201168"/>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548640" y="3355848"/>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Kimi</a:t>
            </a:r>
            <a:endParaRPr lang="en-US" sz="800" dirty="0"/>
          </a:p>
        </p:txBody>
      </p:sp>
      <p:sp>
        <p:nvSpPr>
          <p:cNvPr id="37" name="Text 34"/>
          <p:cNvSpPr txBox="1"/>
          <p:nvPr/>
        </p:nvSpPr>
        <p:spPr>
          <a:xfrm>
            <a:off x="2011680" y="3291840"/>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Moonshot AI. OK Computer agent mode, K2.6 to K3 models. kimi.ai</a:t>
            </a:r>
            <a:endParaRPr lang="en-US" sz="1000" dirty="0"/>
          </a:p>
        </p:txBody>
      </p:sp>
      <p:sp>
        <p:nvSpPr>
          <p:cNvPr id="38" name="Shape 35"/>
          <p:cNvSpPr/>
          <p:nvPr/>
        </p:nvSpPr>
        <p:spPr>
          <a:xfrm>
            <a:off x="457200" y="3666744"/>
            <a:ext cx="8229600" cy="356616"/>
          </a:xfrm>
          <a:prstGeom prst="roundRect">
            <a:avLst>
              <a:gd name="adj" fmla="val 12821"/>
            </a:avLst>
          </a:prstGeom>
          <a:solidFill>
            <a:srgbClr val="F4F7F5"/>
          </a:solidFill>
          <a:ln/>
        </p:spPr>
      </p:sp>
      <p:sp>
        <p:nvSpPr>
          <p:cNvPr id="39" name="Shape 36"/>
          <p:cNvSpPr/>
          <p:nvPr/>
        </p:nvSpPr>
        <p:spPr>
          <a:xfrm>
            <a:off x="548640" y="3749040"/>
            <a:ext cx="1325880" cy="201168"/>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548640" y="3749040"/>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Google Flow</a:t>
            </a:r>
            <a:endParaRPr lang="en-US" sz="800" dirty="0"/>
          </a:p>
        </p:txBody>
      </p:sp>
      <p:sp>
        <p:nvSpPr>
          <p:cNvPr id="41" name="Text 38"/>
          <p:cNvSpPr txBox="1"/>
          <p:nvPr/>
        </p:nvSpPr>
        <p:spPr>
          <a:xfrm>
            <a:off x="2011680" y="3685032"/>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Google Flow Help (2026): access conditions (Google AI subscription, age 18, regions).</a:t>
            </a:r>
            <a:endParaRPr lang="en-US" sz="1000" dirty="0"/>
          </a:p>
        </p:txBody>
      </p:sp>
      <p:sp>
        <p:nvSpPr>
          <p:cNvPr id="42" name="Shape 39"/>
          <p:cNvSpPr/>
          <p:nvPr/>
        </p:nvSpPr>
        <p:spPr>
          <a:xfrm>
            <a:off x="548640" y="4142232"/>
            <a:ext cx="1325880" cy="201168"/>
          </a:xfrm>
          <a:prstGeom prst="roundRect">
            <a:avLst>
              <a:gd name="adj" fmla="val 50000"/>
            </a:avLst>
          </a:prstGeom>
          <a:solidFill>
            <a:srgbClr val="00704A">
              <a:alpha val="15000"/>
            </a:srgbClr>
          </a:solidFill>
          <a:ln w="9525">
            <a:solidFill>
              <a:srgbClr val="00704A"/>
            </a:solidFill>
            <a:prstDash val="solid"/>
          </a:ln>
        </p:spPr>
      </p:sp>
      <p:sp>
        <p:nvSpPr>
          <p:cNvPr id="43" name="Text 40"/>
          <p:cNvSpPr txBox="1"/>
          <p:nvPr/>
        </p:nvSpPr>
        <p:spPr>
          <a:xfrm>
            <a:off x="548640" y="4142232"/>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Jev</a:t>
            </a:r>
            <a:endParaRPr lang="en-US" sz="800" dirty="0"/>
          </a:p>
        </p:txBody>
      </p:sp>
      <p:sp>
        <p:nvSpPr>
          <p:cNvPr id="44" name="Text 41"/>
          <p:cNvSpPr txBox="1"/>
          <p:nvPr/>
        </p:nvSpPr>
        <p:spPr>
          <a:xfrm>
            <a:off x="2011680" y="4078224"/>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TypeSafe AI (Sept. 2026). “System One” decision model; specialist press coverage.</a:t>
            </a:r>
            <a:endParaRPr lang="en-US" sz="1000" dirty="0"/>
          </a:p>
        </p:txBody>
      </p:sp>
      <p:sp>
        <p:nvSpPr>
          <p:cNvPr id="45" name="Text 42"/>
          <p:cNvSpPr txBox="1"/>
          <p:nvPr/>
        </p:nvSpPr>
        <p:spPr>
          <a:xfrm>
            <a:off x="457200" y="4590288"/>
            <a:ext cx="82296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Style: AfDB-inspired institutional palette — not the official brand manual.</a:t>
            </a:r>
            <a:endParaRPr lang="en-US" sz="8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6324</Words>
  <Application>Microsoft Office PowerPoint</Application>
  <PresentationFormat>On-screen Show (16:9)</PresentationFormat>
  <Paragraphs>719</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ChatGPT — ten AI tools for national statistics offices</dc:title>
  <dc:subject>PptxGenJS Presentation</dc:subject>
  <dc:creator>STG17 Secretariat</dc:creator>
  <cp:lastModifiedBy>HADJ TAIEB, MOHAMED ALI</cp:lastModifiedBy>
  <cp:revision>2</cp:revision>
  <dcterms:created xsi:type="dcterms:W3CDTF">2026-09-22T17:39:06Z</dcterms:created>
  <dcterms:modified xsi:type="dcterms:W3CDTF">2026-09-22T17:46:31Z</dcterms:modified>
</cp:coreProperties>
</file>