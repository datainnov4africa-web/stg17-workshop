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last laboratory of Day 2. This morning we learned how to talk to machines; this afternoon we learned how to optimise prompts and choose an inference engine. This hour is about breadth: the same family of models can support almost every job in a statistical office. Seven stations, you pick two, and you leave with two concrete deliverables. Everything we use today is free — which comes with its own price, and we will talk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blocks quickly. Emphasise the rhythm on the right: 10 minutes of briefing with me, then two 20-minute station rotations, then a 10-minute gallery walk where each participant shows one deliverable to a neighbour. The colours you see here stay with each section across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frames the session. The answer to the teaser: all three are text — or can be expressed as text. Code is text, a report is text, a logo can be an SVG file, a chart can be a specification. That is why one model can serve so many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Generic Statistical Business Process Model, version 5.1, maintained by UNECE's HLG-MOS. Along the top are the eight phases. Below each, one realistic assistive use, and the station letter where you practise it today. Notice that dissemination — phase 7 — is where most of today's stations sit: reports, decks, charts, visuals and audio. The HLG-MOS white paper of December 2023 documents real NSO examples such as SAS-to-R translation, classification updates and report generation. Stress the word 'assist': the process owner stays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recipe carries over from this morning's prompt-engineering session. Every station prompt in the notebook is built from these five blocks. Role tells the model whose standards to adopt. Context gives it the material it is allowed to use. Task is one clear verb. Format makes the output machine-checkable — often JSON. Check asks the model to flag what it could not do, rather than inventing. Point at the assembled prompt at the bottom: this is the prompt used in Station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every task on this ladder before you start. Level 1, inspire: brainstorming, you keep nothing verbatim. Level 2, draft: the model writes, you edit line by line. Level 3, transform: the model restructures material you supplied — translating code, extracting a table — and you verify against the source. Level 4, automate: output flows into production without a human reading each item. Level 4 needs an evaluation set, measured accuracy and formal sign-off — the topic of this afternoon's optimisation session. In this lab we stay at levels 1 to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the tools. The teaser answer: we pay with rate limits, fewer model choices, and — on some free tiers — our inputs may be used to improve the provider's products. That last point shapes what data we may put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cards briefly. The two APIs — Gemini through Google AI Studio and Groq — power the notebook; both issue a free key without a credit card. Groq's free tier is rate-limited at the organisation level, around 30 requests per minute at the time of writing. Gemini's free tier now covers the Flash family only; Pro models moved behind billing in 2026. Google states that free-tier content may be used to improve its products — keep that in mind for the traffic-light slide. NotebookLM and the chat apps are used through the browser. Limits change frequently; check on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as a routing table. A filled circle is the recommended tool for that station; a hollow circle is a good alternative. Notice that the notebook column is filled for almost every station — the notebook is where we make things reproducible. Station F is the exception: NotebookLM's audio overview is a web feature, so the notebook provides a code equivalent with grounded Q&amp;A and a text-to-speech briefing.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presents the stations. Each has a goal, three steps, a prompt recipe, a watch-out and — most important — a tangible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seven stations. Each card gives the job and the deliverable you leave with. The deliverable is non-negotiable: at the end of each 20-minute rotation, something must be saved in the outputs folder of the notebook or downloaded from the web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A: generate a function from a specification with unit tests; ask the model to explain or translate legacy code — for example a Stata do-file into Python; paste a real error trace and ask for a diagnosis before a fix. Rule: never run code you have not read. Station B introduces the most important principle of the day: numbers come from pandas, words come from the model. The notebook then extracts every number from the draft and checks that it exists in the source table — a small but powerful automatic fact-check.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C separates content from design: the model returns a JSON outline, Python validates it, and python-pptx renders it in house colours — so every deck looks institutional, whatever the model. Station D uses the same trick: rather than letting the model write arbitrary plotting code, we ask for a small chart specification, render it with our own house style, then ask the model for alt text and a critique against a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E: a text model can write SVG, which means free, editable logo concepts; we then compute WCAG contrast ratios in Python for the palette. Logos are concepts only — a designer and management approval are required, and national emblems must never be reproduced without authority. Station F: NotebookLM answers only from sources you upload and cites them; its Audio Overview produces a conversational briefing. The notebook replicates grounded Q&amp;A in code and produces an MP3 with free text-to-speech. Station G: we generate a chart image whose true values we know, ask Gemini to read it back as JSON, and score the accuracy — a miniature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live illustration for Station B. On the left, the prompt most people write first. The model has no data, so it will produce plausible-sounding numbers — the most dangerous failure for a statistical office. On the right, the same request built with the recipe: role, supplied table, one task, format, and an honesty clause. If time allows, run both in the notebook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This is the part of the session the Kigali Annual Meeting explicitly asked for: AI taken seriously, but handled carefully, with quality and ethics in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gates before anything leaves the lab. Generate. Check facts against the source — in Station B this is automated. Check logic — for code, run the tests; for charts, review the checklist. Check style and standards — your office's template and terminology. Then a human signs off. On the right, the single principle that prevents most embarrassments: computers compute, language models narrate.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tiers are not covered by institutional data-processing agreements, and some providers state that free-tier inputs may be used to improve their products — Google says so for the Gemini API free tier. So: green for anything already public or synthetic; amber for internal but non-sensitive material, after removing names and checking your office policy; red for microdata, identifiers, embargoed results, credentials and confidential partner data such as call-detail records. Everything in today's notebook is synthetic or public. When in doubt, it is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as a checklist. Invented figures: compute in code and run the fact-check. Fabricated references: restrict the model to supplied documents and open every citation. Code that runs but is wrong: unit tests with known answers. Misleading charts: zero baselines for bars, labelled axes, the checklist. Brand and IP risks: logos are concepts, never reproduce emblems or other organisations' marks. Over-trusting audio summaries: listen against the source and label AI-generated audio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logistics. Ask participants to think about the teaser for ten seconds before they choose their stations.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pairings are suggestions, not rules. IT and data-processing staff get the most from code plus multimodal extraction. Methodologists and analysts: reports plus charts. Dissemination teams: presentations plus document analysis and audio. Communication units: visual identity plus presentations. Teams of two from the same country can split and cover four stations between them. Rotation times are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setup. Participants upload the .ipynb to Colab, create two free keys, and store them in Colab's Secrets panel — the key icon in the left sidebar — never pasted into a cell. If a key is missing or a quota is hit, the notebook switches to DEMO mode automatically and returns pre-recorded example answers so nobody is blocked. Remind them of rate limits: space out calls; one person per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six: closing the loop. What you leave with, and how it feeds the STG17 Action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checklist each participant ticks before leaving. The prompt log is generated automatically by the notebook — it is the raw material for a reusable prompt library. Right: this lab is not an isolated training. Under activity 4.2.1, the best prompt recipes become a chapter of the reference manual on key data skills; the self-assessment feeds the competencies framework under 4.1.1; and topics that need more depth go to the brown-bag webinar series under 1.3.1.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messages. Then launch the gallery walk: each participant shows one deliverable to a neighbour from another country and explains how they verified it. Collect exit tickets: one use case each participant will try in their office within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sources used in the deck. Free-tier limits are cited from secondary summaries of provider documentation and change frequently; participants should verify on the providers' own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slideLayout" Target="../slideLayouts/slideLayout1.xml"/><Relationship Id="rId1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slideLayout" Target="../slideLayouts/slideLayout1.xml"/><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685800"/>
            <a:ext cx="54864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STG17 TECHNICAL WORKSHOP · DAY 2 · LABORATORY</a:t>
            </a:r>
            <a:endParaRPr lang="en-US" sz="1100" dirty="0"/>
          </a:p>
        </p:txBody>
      </p:sp>
      <p:sp>
        <p:nvSpPr>
          <p:cNvPr id="4" name="Text 2"/>
          <p:cNvSpPr txBox="1"/>
          <p:nvPr/>
        </p:nvSpPr>
        <p:spPr>
          <a:xfrm>
            <a:off x="548640" y="1005840"/>
            <a:ext cx="5120640" cy="1600200"/>
          </a:xfrm>
          <a:prstGeom prst="rect">
            <a:avLst/>
          </a:prstGeom>
          <a:noFill/>
          <a:ln/>
        </p:spPr>
        <p:txBody>
          <a:bodyPr wrap="square" lIns="0" tIns="0" rIns="0" bIns="0" rtlCol="0" anchor="t"/>
          <a:lstStyle/>
          <a:p>
            <a:pPr indent="0" marL="0">
              <a:lnSpc>
                <a:spcPct val="90000"/>
              </a:lnSpc>
              <a:buNone/>
            </a:pPr>
            <a:r>
              <a:rPr lang="en-US" sz="4800" b="1" dirty="0">
                <a:solidFill>
                  <a:srgbClr val="FFFFFF"/>
                </a:solidFill>
                <a:latin typeface="Calibri" pitchFamily="34" charset="0"/>
                <a:ea typeface="Calibri" pitchFamily="34" charset="-122"/>
                <a:cs typeface="Calibri" pitchFamily="34" charset="-120"/>
              </a:rPr>
              <a:t>One Model,</a:t>
            </a:r>
            <a:endParaRPr lang="en-US" sz="4800" dirty="0"/>
          </a:p>
          <a:p>
            <a:pPr indent="0" marL="0">
              <a:lnSpc>
                <a:spcPct val="90000"/>
              </a:lnSpc>
              <a:buNone/>
            </a:pPr>
            <a:r>
              <a:rPr lang="en-US" sz="4800" b="1" dirty="0">
                <a:solidFill>
                  <a:srgbClr val="FFFFFF"/>
                </a:solidFill>
                <a:latin typeface="Calibri" pitchFamily="34" charset="0"/>
                <a:ea typeface="Calibri" pitchFamily="34" charset="-122"/>
                <a:cs typeface="Calibri" pitchFamily="34" charset="-120"/>
              </a:rPr>
              <a:t>Many Jobs</a:t>
            </a:r>
            <a:endParaRPr lang="en-US" sz="4800" dirty="0"/>
          </a:p>
        </p:txBody>
      </p:sp>
      <p:sp>
        <p:nvSpPr>
          <p:cNvPr id="5" name="Text 3"/>
          <p:cNvSpPr txBox="1"/>
          <p:nvPr/>
        </p:nvSpPr>
        <p:spPr>
          <a:xfrm>
            <a:off x="548640" y="2697480"/>
            <a:ext cx="4754880" cy="68580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An LLM toolkit for statisticians — seven stations, two deliverables, zero licence cost</a:t>
            </a:r>
            <a:endParaRPr lang="en-US" sz="1800" dirty="0"/>
          </a:p>
        </p:txBody>
      </p:sp>
      <p:sp>
        <p:nvSpPr>
          <p:cNvPr id="6" name="Text 4"/>
          <p:cNvSpPr txBox="1"/>
          <p:nvPr/>
        </p:nvSpPr>
        <p:spPr>
          <a:xfrm>
            <a:off x="548640" y="3611880"/>
            <a:ext cx="4937760" cy="4572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Emerging Issues, Emerging Practice · Innovating the Data Value Chain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Tuesday · 15:45 – 16:45</a:t>
            </a:r>
            <a:endParaRPr lang="en-US" sz="1100" dirty="0"/>
          </a:p>
        </p:txBody>
      </p:sp>
      <p:sp>
        <p:nvSpPr>
          <p:cNvPr id="7" name="Text 5"/>
          <p:cNvSpPr txBox="1"/>
          <p:nvPr/>
        </p:nvSpPr>
        <p:spPr>
          <a:xfrm>
            <a:off x="548640" y="4526280"/>
            <a:ext cx="5943600" cy="228600"/>
          </a:xfrm>
          <a:prstGeom prst="rect">
            <a:avLst/>
          </a:prstGeom>
          <a:noFill/>
          <a:ln/>
        </p:spPr>
        <p:txBody>
          <a:bodyPr wrap="square" lIns="0" tIns="0" rIns="0" bIns="0" rtlCol="0" anchor="t"/>
          <a:lstStyle/>
          <a:p>
            <a:pPr indent="0" marL="0">
              <a:buNone/>
            </a:pPr>
            <a:r>
              <a:rPr lang="en-US" sz="950" dirty="0">
                <a:solidFill>
                  <a:srgbClr val="E6F6EE"/>
                </a:solidFill>
                <a:latin typeface="Calibri" pitchFamily="34" charset="0"/>
                <a:ea typeface="Calibri" pitchFamily="34" charset="-122"/>
                <a:cs typeface="Calibri" pitchFamily="34" charset="-120"/>
              </a:rPr>
              <a:t>African Development Bank · African Union (STATAFRIC) · National Institute of Statistics of Rwanda</a:t>
            </a:r>
            <a:endParaRPr lang="en-US" sz="950" dirty="0"/>
          </a:p>
        </p:txBody>
      </p:sp>
      <p:sp>
        <p:nvSpPr>
          <p:cNvPr id="8" name="Shape 6"/>
          <p:cNvSpPr/>
          <p:nvPr/>
        </p:nvSpPr>
        <p:spPr>
          <a:xfrm>
            <a:off x="5852160" y="1097280"/>
            <a:ext cx="2651760" cy="2651760"/>
          </a:xfrm>
          <a:prstGeom prst="ellipse">
            <a:avLst/>
          </a:prstGeom>
          <a:solidFill>
            <a:srgbClr val="FFFFFF">
              <a:alpha val="0"/>
            </a:srgbClr>
          </a:solidFill>
          <a:ln w="12700">
            <a:solidFill>
              <a:srgbClr val="FFFFFF">
                <a:alpha val="50000"/>
              </a:srgbClr>
            </a:solidFill>
            <a:prstDash val="dash"/>
          </a:ln>
        </p:spPr>
      </p:sp>
      <p:sp>
        <p:nvSpPr>
          <p:cNvPr id="9" name="Shape 7"/>
          <p:cNvSpPr/>
          <p:nvPr/>
        </p:nvSpPr>
        <p:spPr>
          <a:xfrm>
            <a:off x="6611112" y="1856232"/>
            <a:ext cx="1133856" cy="1133856"/>
          </a:xfrm>
          <a:prstGeom prst="ellipse">
            <a:avLst/>
          </a:prstGeom>
          <a:solidFill>
            <a:srgbClr val="FFFFFF"/>
          </a:solidFill>
          <a:ln w="31750">
            <a:solidFill>
              <a:srgbClr val="F5C242"/>
            </a:solidFill>
            <a:prstDash val="solid"/>
          </a:ln>
        </p:spPr>
      </p:sp>
      <p:sp>
        <p:nvSpPr>
          <p:cNvPr id="10" name="Text 8"/>
          <p:cNvSpPr txBox="1"/>
          <p:nvPr/>
        </p:nvSpPr>
        <p:spPr>
          <a:xfrm>
            <a:off x="6611112" y="2039112"/>
            <a:ext cx="1133856" cy="768096"/>
          </a:xfrm>
          <a:prstGeom prst="rect">
            <a:avLst/>
          </a:prstGeom>
          <a:noFill/>
          <a:ln/>
        </p:spPr>
        <p:txBody>
          <a:bodyPr wrap="square" lIns="0" tIns="0" rIns="0" bIns="0" rtlCol="0" anchor="ctr"/>
          <a:lstStyle/>
          <a:p>
            <a:pPr algn="ctr" indent="0" marL="0">
              <a:lnSpc>
                <a:spcPct val="85000"/>
              </a:lnSpc>
              <a:buNone/>
            </a:pPr>
            <a:r>
              <a:rPr lang="en-US" sz="1500" b="1" dirty="0">
                <a:solidFill>
                  <a:srgbClr val="00553A"/>
                </a:solidFill>
                <a:latin typeface="Calibri" pitchFamily="34" charset="0"/>
                <a:ea typeface="Calibri" pitchFamily="34" charset="-122"/>
                <a:cs typeface="Calibri" pitchFamily="34" charset="-120"/>
              </a:rPr>
              <a:t>1</a:t>
            </a:r>
            <a:endParaRPr lang="en-US" sz="1500" dirty="0"/>
          </a:p>
          <a:p>
            <a:pPr algn="ctr" indent="0" marL="0">
              <a:lnSpc>
                <a:spcPct val="85000"/>
              </a:lnSpc>
              <a:buNone/>
            </a:pPr>
            <a:r>
              <a:rPr lang="en-US" sz="1500" b="1" dirty="0">
                <a:solidFill>
                  <a:srgbClr val="00553A"/>
                </a:solidFill>
                <a:latin typeface="Calibri" pitchFamily="34" charset="0"/>
                <a:ea typeface="Calibri" pitchFamily="34" charset="-122"/>
                <a:cs typeface="Calibri" pitchFamily="34" charset="-120"/>
              </a:rPr>
              <a:t>MODEL</a:t>
            </a:r>
            <a:endParaRPr lang="en-US" sz="1500" dirty="0"/>
          </a:p>
        </p:txBody>
      </p:sp>
      <p:sp>
        <p:nvSpPr>
          <p:cNvPr id="11" name="Shape 9"/>
          <p:cNvSpPr/>
          <p:nvPr/>
        </p:nvSpPr>
        <p:spPr>
          <a:xfrm>
            <a:off x="6903720" y="822960"/>
            <a:ext cx="548640" cy="548640"/>
          </a:xfrm>
          <a:prstGeom prst="ellipse">
            <a:avLst/>
          </a:prstGeom>
          <a:solidFill>
            <a:srgbClr val="FFFFFF"/>
          </a:solidFill>
          <a:ln/>
        </p:spPr>
      </p:sp>
      <p:pic>
        <p:nvPicPr>
          <p:cNvPr id="12" name="Image 0" descr="preencoded.png">    </p:cNvPr>
          <p:cNvPicPr>
            <a:picLocks noChangeAspect="1"/>
          </p:cNvPicPr>
          <p:nvPr/>
        </p:nvPicPr>
        <p:blipFill>
          <a:blip r:embed="rId2"/>
          <a:stretch>
            <a:fillRect/>
          </a:stretch>
        </p:blipFill>
        <p:spPr>
          <a:xfrm>
            <a:off x="7040880" y="960120"/>
            <a:ext cx="274320" cy="274320"/>
          </a:xfrm>
          <a:prstGeom prst="rect">
            <a:avLst/>
          </a:prstGeom>
        </p:spPr>
      </p:pic>
      <p:sp>
        <p:nvSpPr>
          <p:cNvPr id="13" name="Shape 10"/>
          <p:cNvSpPr/>
          <p:nvPr/>
        </p:nvSpPr>
        <p:spPr>
          <a:xfrm>
            <a:off x="7287768" y="768096"/>
            <a:ext cx="237744" cy="237744"/>
          </a:xfrm>
          <a:prstGeom prst="ellipse">
            <a:avLst/>
          </a:prstGeom>
          <a:solidFill>
            <a:srgbClr val="F5C242"/>
          </a:solidFill>
          <a:ln/>
        </p:spPr>
      </p:sp>
      <p:sp>
        <p:nvSpPr>
          <p:cNvPr id="14" name="Text 11"/>
          <p:cNvSpPr txBox="1"/>
          <p:nvPr/>
        </p:nvSpPr>
        <p:spPr>
          <a:xfrm>
            <a:off x="7287768" y="768096"/>
            <a:ext cx="237744" cy="237744"/>
          </a:xfrm>
          <a:prstGeom prst="rect">
            <a:avLst/>
          </a:prstGeom>
          <a:noFill/>
          <a:ln/>
        </p:spPr>
        <p:txBody>
          <a:bodyPr wrap="square" lIns="0" tIns="0" rIns="0" bIns="0" rtlCol="0" anchor="ctr"/>
          <a:lstStyle/>
          <a:p>
            <a:pPr algn="ctr" indent="0" marL="0">
              <a:buNone/>
            </a:pPr>
            <a:r>
              <a:rPr lang="en-US" sz="1000" b="1" dirty="0">
                <a:solidFill>
                  <a:srgbClr val="00553A"/>
                </a:solidFill>
                <a:latin typeface="Calibri" pitchFamily="34" charset="0"/>
                <a:ea typeface="Calibri" pitchFamily="34" charset="-122"/>
                <a:cs typeface="Calibri" pitchFamily="34" charset="-120"/>
              </a:rPr>
              <a:t>A</a:t>
            </a:r>
            <a:endParaRPr lang="en-US" sz="1000" dirty="0"/>
          </a:p>
        </p:txBody>
      </p:sp>
      <p:sp>
        <p:nvSpPr>
          <p:cNvPr id="15" name="Shape 12"/>
          <p:cNvSpPr/>
          <p:nvPr/>
        </p:nvSpPr>
        <p:spPr>
          <a:xfrm>
            <a:off x="7940335" y="1322167"/>
            <a:ext cx="548640" cy="548640"/>
          </a:xfrm>
          <a:prstGeom prst="ellipse">
            <a:avLst/>
          </a:prstGeom>
          <a:solidFill>
            <a:srgbClr val="FFFFFF"/>
          </a:solidFill>
          <a:ln/>
        </p:spPr>
      </p:sp>
      <p:pic>
        <p:nvPicPr>
          <p:cNvPr id="16" name="Image 1" descr="preencoded.png">    </p:cNvPr>
          <p:cNvPicPr>
            <a:picLocks noChangeAspect="1"/>
          </p:cNvPicPr>
          <p:nvPr/>
        </p:nvPicPr>
        <p:blipFill>
          <a:blip r:embed="rId3"/>
          <a:stretch>
            <a:fillRect/>
          </a:stretch>
        </p:blipFill>
        <p:spPr>
          <a:xfrm>
            <a:off x="8077495" y="1459327"/>
            <a:ext cx="274320" cy="274320"/>
          </a:xfrm>
          <a:prstGeom prst="rect">
            <a:avLst/>
          </a:prstGeom>
        </p:spPr>
      </p:pic>
      <p:sp>
        <p:nvSpPr>
          <p:cNvPr id="17" name="Shape 13"/>
          <p:cNvSpPr/>
          <p:nvPr/>
        </p:nvSpPr>
        <p:spPr>
          <a:xfrm>
            <a:off x="8324383" y="1267303"/>
            <a:ext cx="237744" cy="237744"/>
          </a:xfrm>
          <a:prstGeom prst="ellipse">
            <a:avLst/>
          </a:prstGeom>
          <a:solidFill>
            <a:srgbClr val="F5C242"/>
          </a:solidFill>
          <a:ln/>
        </p:spPr>
      </p:sp>
      <p:sp>
        <p:nvSpPr>
          <p:cNvPr id="18" name="Text 14"/>
          <p:cNvSpPr txBox="1"/>
          <p:nvPr/>
        </p:nvSpPr>
        <p:spPr>
          <a:xfrm>
            <a:off x="8324383" y="1267303"/>
            <a:ext cx="237744" cy="237744"/>
          </a:xfrm>
          <a:prstGeom prst="rect">
            <a:avLst/>
          </a:prstGeom>
          <a:noFill/>
          <a:ln/>
        </p:spPr>
        <p:txBody>
          <a:bodyPr wrap="square" lIns="0" tIns="0" rIns="0" bIns="0" rtlCol="0" anchor="ctr"/>
          <a:lstStyle/>
          <a:p>
            <a:pPr algn="ctr" indent="0" marL="0">
              <a:buNone/>
            </a:pPr>
            <a:r>
              <a:rPr lang="en-US" sz="1000" b="1" dirty="0">
                <a:solidFill>
                  <a:srgbClr val="00553A"/>
                </a:solidFill>
                <a:latin typeface="Calibri" pitchFamily="34" charset="0"/>
                <a:ea typeface="Calibri" pitchFamily="34" charset="-122"/>
                <a:cs typeface="Calibri" pitchFamily="34" charset="-120"/>
              </a:rPr>
              <a:t>B</a:t>
            </a:r>
            <a:endParaRPr lang="en-US" sz="1000" dirty="0"/>
          </a:p>
        </p:txBody>
      </p:sp>
      <p:sp>
        <p:nvSpPr>
          <p:cNvPr id="19" name="Shape 15"/>
          <p:cNvSpPr/>
          <p:nvPr/>
        </p:nvSpPr>
        <p:spPr>
          <a:xfrm>
            <a:off x="8196357" y="2443876"/>
            <a:ext cx="548640" cy="548640"/>
          </a:xfrm>
          <a:prstGeom prst="ellipse">
            <a:avLst/>
          </a:prstGeom>
          <a:solidFill>
            <a:srgbClr val="FFFFFF"/>
          </a:solidFill>
          <a:ln/>
        </p:spPr>
      </p:sp>
      <p:pic>
        <p:nvPicPr>
          <p:cNvPr id="20" name="Image 2" descr="preencoded.png">    </p:cNvPr>
          <p:cNvPicPr>
            <a:picLocks noChangeAspect="1"/>
          </p:cNvPicPr>
          <p:nvPr/>
        </p:nvPicPr>
        <p:blipFill>
          <a:blip r:embed="rId4"/>
          <a:stretch>
            <a:fillRect/>
          </a:stretch>
        </p:blipFill>
        <p:spPr>
          <a:xfrm>
            <a:off x="8333517" y="2581036"/>
            <a:ext cx="274320" cy="274320"/>
          </a:xfrm>
          <a:prstGeom prst="rect">
            <a:avLst/>
          </a:prstGeom>
        </p:spPr>
      </p:pic>
      <p:sp>
        <p:nvSpPr>
          <p:cNvPr id="21" name="Shape 16"/>
          <p:cNvSpPr/>
          <p:nvPr/>
        </p:nvSpPr>
        <p:spPr>
          <a:xfrm>
            <a:off x="8580405" y="2389012"/>
            <a:ext cx="237744" cy="237744"/>
          </a:xfrm>
          <a:prstGeom prst="ellipse">
            <a:avLst/>
          </a:prstGeom>
          <a:solidFill>
            <a:srgbClr val="F5C242"/>
          </a:solidFill>
          <a:ln/>
        </p:spPr>
      </p:sp>
      <p:sp>
        <p:nvSpPr>
          <p:cNvPr id="22" name="Text 17"/>
          <p:cNvSpPr txBox="1"/>
          <p:nvPr/>
        </p:nvSpPr>
        <p:spPr>
          <a:xfrm>
            <a:off x="8580405" y="2389012"/>
            <a:ext cx="237744" cy="237744"/>
          </a:xfrm>
          <a:prstGeom prst="rect">
            <a:avLst/>
          </a:prstGeom>
          <a:noFill/>
          <a:ln/>
        </p:spPr>
        <p:txBody>
          <a:bodyPr wrap="square" lIns="0" tIns="0" rIns="0" bIns="0" rtlCol="0" anchor="ctr"/>
          <a:lstStyle/>
          <a:p>
            <a:pPr algn="ctr" indent="0" marL="0">
              <a:buNone/>
            </a:pPr>
            <a:r>
              <a:rPr lang="en-US" sz="1000" b="1" dirty="0">
                <a:solidFill>
                  <a:srgbClr val="00553A"/>
                </a:solidFill>
                <a:latin typeface="Calibri" pitchFamily="34" charset="0"/>
                <a:ea typeface="Calibri" pitchFamily="34" charset="-122"/>
                <a:cs typeface="Calibri" pitchFamily="34" charset="-120"/>
              </a:rPr>
              <a:t>C</a:t>
            </a:r>
            <a:endParaRPr lang="en-US" sz="1000" dirty="0"/>
          </a:p>
        </p:txBody>
      </p:sp>
      <p:sp>
        <p:nvSpPr>
          <p:cNvPr id="23" name="Shape 18"/>
          <p:cNvSpPr/>
          <p:nvPr/>
        </p:nvSpPr>
        <p:spPr>
          <a:xfrm>
            <a:off x="7478998" y="3343417"/>
            <a:ext cx="548640" cy="548640"/>
          </a:xfrm>
          <a:prstGeom prst="ellipse">
            <a:avLst/>
          </a:prstGeom>
          <a:solidFill>
            <a:srgbClr val="FFFFFF"/>
          </a:solidFill>
          <a:ln/>
        </p:spPr>
      </p:sp>
      <p:pic>
        <p:nvPicPr>
          <p:cNvPr id="24" name="Image 3" descr="preencoded.png">    </p:cNvPr>
          <p:cNvPicPr>
            <a:picLocks noChangeAspect="1"/>
          </p:cNvPicPr>
          <p:nvPr/>
        </p:nvPicPr>
        <p:blipFill>
          <a:blip r:embed="rId5"/>
          <a:stretch>
            <a:fillRect/>
          </a:stretch>
        </p:blipFill>
        <p:spPr>
          <a:xfrm>
            <a:off x="7616158" y="3480577"/>
            <a:ext cx="274320" cy="274320"/>
          </a:xfrm>
          <a:prstGeom prst="rect">
            <a:avLst/>
          </a:prstGeom>
        </p:spPr>
      </p:pic>
      <p:sp>
        <p:nvSpPr>
          <p:cNvPr id="25" name="Shape 19"/>
          <p:cNvSpPr/>
          <p:nvPr/>
        </p:nvSpPr>
        <p:spPr>
          <a:xfrm>
            <a:off x="7863046" y="3288553"/>
            <a:ext cx="237744" cy="237744"/>
          </a:xfrm>
          <a:prstGeom prst="ellipse">
            <a:avLst/>
          </a:prstGeom>
          <a:solidFill>
            <a:srgbClr val="F5C242"/>
          </a:solidFill>
          <a:ln/>
        </p:spPr>
      </p:sp>
      <p:sp>
        <p:nvSpPr>
          <p:cNvPr id="26" name="Text 20"/>
          <p:cNvSpPr txBox="1"/>
          <p:nvPr/>
        </p:nvSpPr>
        <p:spPr>
          <a:xfrm>
            <a:off x="7863046" y="3288553"/>
            <a:ext cx="237744" cy="237744"/>
          </a:xfrm>
          <a:prstGeom prst="rect">
            <a:avLst/>
          </a:prstGeom>
          <a:noFill/>
          <a:ln/>
        </p:spPr>
        <p:txBody>
          <a:bodyPr wrap="square" lIns="0" tIns="0" rIns="0" bIns="0" rtlCol="0" anchor="ctr"/>
          <a:lstStyle/>
          <a:p>
            <a:pPr algn="ctr" indent="0" marL="0">
              <a:buNone/>
            </a:pPr>
            <a:r>
              <a:rPr lang="en-US" sz="1000" b="1" dirty="0">
                <a:solidFill>
                  <a:srgbClr val="00553A"/>
                </a:solidFill>
                <a:latin typeface="Calibri" pitchFamily="34" charset="0"/>
                <a:ea typeface="Calibri" pitchFamily="34" charset="-122"/>
                <a:cs typeface="Calibri" pitchFamily="34" charset="-120"/>
              </a:rPr>
              <a:t>D</a:t>
            </a:r>
            <a:endParaRPr lang="en-US" sz="1000" dirty="0"/>
          </a:p>
        </p:txBody>
      </p:sp>
      <p:sp>
        <p:nvSpPr>
          <p:cNvPr id="27" name="Shape 21"/>
          <p:cNvSpPr/>
          <p:nvPr/>
        </p:nvSpPr>
        <p:spPr>
          <a:xfrm>
            <a:off x="6328442" y="3343417"/>
            <a:ext cx="548640" cy="548640"/>
          </a:xfrm>
          <a:prstGeom prst="ellipse">
            <a:avLst/>
          </a:prstGeom>
          <a:solidFill>
            <a:srgbClr val="FFFFFF"/>
          </a:solidFill>
          <a:ln/>
        </p:spPr>
      </p:sp>
      <p:pic>
        <p:nvPicPr>
          <p:cNvPr id="28" name="Image 4" descr="preencoded.png">    </p:cNvPr>
          <p:cNvPicPr>
            <a:picLocks noChangeAspect="1"/>
          </p:cNvPicPr>
          <p:nvPr/>
        </p:nvPicPr>
        <p:blipFill>
          <a:blip r:embed="rId6"/>
          <a:stretch>
            <a:fillRect/>
          </a:stretch>
        </p:blipFill>
        <p:spPr>
          <a:xfrm>
            <a:off x="6465602" y="3480577"/>
            <a:ext cx="274320" cy="274320"/>
          </a:xfrm>
          <a:prstGeom prst="rect">
            <a:avLst/>
          </a:prstGeom>
        </p:spPr>
      </p:pic>
      <p:sp>
        <p:nvSpPr>
          <p:cNvPr id="29" name="Shape 22"/>
          <p:cNvSpPr/>
          <p:nvPr/>
        </p:nvSpPr>
        <p:spPr>
          <a:xfrm>
            <a:off x="6712490" y="3288553"/>
            <a:ext cx="237744" cy="237744"/>
          </a:xfrm>
          <a:prstGeom prst="ellipse">
            <a:avLst/>
          </a:prstGeom>
          <a:solidFill>
            <a:srgbClr val="F5C242"/>
          </a:solidFill>
          <a:ln/>
        </p:spPr>
      </p:sp>
      <p:sp>
        <p:nvSpPr>
          <p:cNvPr id="30" name="Text 23"/>
          <p:cNvSpPr txBox="1"/>
          <p:nvPr/>
        </p:nvSpPr>
        <p:spPr>
          <a:xfrm>
            <a:off x="6712490" y="3288553"/>
            <a:ext cx="237744" cy="237744"/>
          </a:xfrm>
          <a:prstGeom prst="rect">
            <a:avLst/>
          </a:prstGeom>
          <a:noFill/>
          <a:ln/>
        </p:spPr>
        <p:txBody>
          <a:bodyPr wrap="square" lIns="0" tIns="0" rIns="0" bIns="0" rtlCol="0" anchor="ctr"/>
          <a:lstStyle/>
          <a:p>
            <a:pPr algn="ctr" indent="0" marL="0">
              <a:buNone/>
            </a:pPr>
            <a:r>
              <a:rPr lang="en-US" sz="1000" b="1" dirty="0">
                <a:solidFill>
                  <a:srgbClr val="00553A"/>
                </a:solidFill>
                <a:latin typeface="Calibri" pitchFamily="34" charset="0"/>
                <a:ea typeface="Calibri" pitchFamily="34" charset="-122"/>
                <a:cs typeface="Calibri" pitchFamily="34" charset="-120"/>
              </a:rPr>
              <a:t>E</a:t>
            </a:r>
            <a:endParaRPr lang="en-US" sz="1000" dirty="0"/>
          </a:p>
        </p:txBody>
      </p:sp>
      <p:sp>
        <p:nvSpPr>
          <p:cNvPr id="31" name="Shape 24"/>
          <p:cNvSpPr/>
          <p:nvPr/>
        </p:nvSpPr>
        <p:spPr>
          <a:xfrm>
            <a:off x="5611083" y="2443876"/>
            <a:ext cx="548640" cy="548640"/>
          </a:xfrm>
          <a:prstGeom prst="ellipse">
            <a:avLst/>
          </a:prstGeom>
          <a:solidFill>
            <a:srgbClr val="FFFFFF"/>
          </a:solidFill>
          <a:ln/>
        </p:spPr>
      </p:sp>
      <p:pic>
        <p:nvPicPr>
          <p:cNvPr id="32" name="Image 5" descr="preencoded.png">    </p:cNvPr>
          <p:cNvPicPr>
            <a:picLocks noChangeAspect="1"/>
          </p:cNvPicPr>
          <p:nvPr/>
        </p:nvPicPr>
        <p:blipFill>
          <a:blip r:embed="rId7"/>
          <a:stretch>
            <a:fillRect/>
          </a:stretch>
        </p:blipFill>
        <p:spPr>
          <a:xfrm>
            <a:off x="5748243" y="2581036"/>
            <a:ext cx="274320" cy="274320"/>
          </a:xfrm>
          <a:prstGeom prst="rect">
            <a:avLst/>
          </a:prstGeom>
        </p:spPr>
      </p:pic>
      <p:sp>
        <p:nvSpPr>
          <p:cNvPr id="33" name="Shape 25"/>
          <p:cNvSpPr/>
          <p:nvPr/>
        </p:nvSpPr>
        <p:spPr>
          <a:xfrm>
            <a:off x="5995131" y="2389012"/>
            <a:ext cx="237744" cy="237744"/>
          </a:xfrm>
          <a:prstGeom prst="ellipse">
            <a:avLst/>
          </a:prstGeom>
          <a:solidFill>
            <a:srgbClr val="F5C242"/>
          </a:solidFill>
          <a:ln/>
        </p:spPr>
      </p:sp>
      <p:sp>
        <p:nvSpPr>
          <p:cNvPr id="34" name="Text 26"/>
          <p:cNvSpPr txBox="1"/>
          <p:nvPr/>
        </p:nvSpPr>
        <p:spPr>
          <a:xfrm>
            <a:off x="5995131" y="2389012"/>
            <a:ext cx="237744" cy="237744"/>
          </a:xfrm>
          <a:prstGeom prst="rect">
            <a:avLst/>
          </a:prstGeom>
          <a:noFill/>
          <a:ln/>
        </p:spPr>
        <p:txBody>
          <a:bodyPr wrap="square" lIns="0" tIns="0" rIns="0" bIns="0" rtlCol="0" anchor="ctr"/>
          <a:lstStyle/>
          <a:p>
            <a:pPr algn="ctr" indent="0" marL="0">
              <a:buNone/>
            </a:pPr>
            <a:r>
              <a:rPr lang="en-US" sz="1000" b="1" dirty="0">
                <a:solidFill>
                  <a:srgbClr val="00553A"/>
                </a:solidFill>
                <a:latin typeface="Calibri" pitchFamily="34" charset="0"/>
                <a:ea typeface="Calibri" pitchFamily="34" charset="-122"/>
                <a:cs typeface="Calibri" pitchFamily="34" charset="-120"/>
              </a:rPr>
              <a:t>F</a:t>
            </a:r>
            <a:endParaRPr lang="en-US" sz="1000" dirty="0"/>
          </a:p>
        </p:txBody>
      </p:sp>
      <p:sp>
        <p:nvSpPr>
          <p:cNvPr id="35" name="Shape 27"/>
          <p:cNvSpPr/>
          <p:nvPr/>
        </p:nvSpPr>
        <p:spPr>
          <a:xfrm>
            <a:off x="5867105" y="1322167"/>
            <a:ext cx="548640" cy="548640"/>
          </a:xfrm>
          <a:prstGeom prst="ellipse">
            <a:avLst/>
          </a:prstGeom>
          <a:solidFill>
            <a:srgbClr val="FFFFFF"/>
          </a:solidFill>
          <a:ln/>
        </p:spPr>
      </p:sp>
      <p:pic>
        <p:nvPicPr>
          <p:cNvPr id="36" name="Image 6" descr="preencoded.png">    </p:cNvPr>
          <p:cNvPicPr>
            <a:picLocks noChangeAspect="1"/>
          </p:cNvPicPr>
          <p:nvPr/>
        </p:nvPicPr>
        <p:blipFill>
          <a:blip r:embed="rId8"/>
          <a:stretch>
            <a:fillRect/>
          </a:stretch>
        </p:blipFill>
        <p:spPr>
          <a:xfrm>
            <a:off x="6004265" y="1459327"/>
            <a:ext cx="274320" cy="274320"/>
          </a:xfrm>
          <a:prstGeom prst="rect">
            <a:avLst/>
          </a:prstGeom>
        </p:spPr>
      </p:pic>
      <p:sp>
        <p:nvSpPr>
          <p:cNvPr id="37" name="Shape 28"/>
          <p:cNvSpPr/>
          <p:nvPr/>
        </p:nvSpPr>
        <p:spPr>
          <a:xfrm>
            <a:off x="6251153" y="1267303"/>
            <a:ext cx="237744" cy="237744"/>
          </a:xfrm>
          <a:prstGeom prst="ellipse">
            <a:avLst/>
          </a:prstGeom>
          <a:solidFill>
            <a:srgbClr val="F5C242"/>
          </a:solidFill>
          <a:ln/>
        </p:spPr>
      </p:sp>
      <p:sp>
        <p:nvSpPr>
          <p:cNvPr id="38" name="Text 29"/>
          <p:cNvSpPr txBox="1"/>
          <p:nvPr/>
        </p:nvSpPr>
        <p:spPr>
          <a:xfrm>
            <a:off x="6251153" y="1267303"/>
            <a:ext cx="237744" cy="237744"/>
          </a:xfrm>
          <a:prstGeom prst="rect">
            <a:avLst/>
          </a:prstGeom>
          <a:noFill/>
          <a:ln/>
        </p:spPr>
        <p:txBody>
          <a:bodyPr wrap="square" lIns="0" tIns="0" rIns="0" bIns="0" rtlCol="0" anchor="ctr"/>
          <a:lstStyle/>
          <a:p>
            <a:pPr algn="ctr" indent="0" marL="0">
              <a:buNone/>
            </a:pPr>
            <a:r>
              <a:rPr lang="en-US" sz="1000" b="1" dirty="0">
                <a:solidFill>
                  <a:srgbClr val="00553A"/>
                </a:solidFill>
                <a:latin typeface="Calibri" pitchFamily="34" charset="0"/>
                <a:ea typeface="Calibri" pitchFamily="34" charset="-122"/>
                <a:cs typeface="Calibri" pitchFamily="34" charset="-120"/>
              </a:rPr>
              <a:t>G</a:t>
            </a:r>
            <a:endParaRPr lang="en-US" sz="10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THE HOUR AT A GLANCE</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Six steps from briefing to deliverables</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STG17 · One Model, Many Jobs — an LLM Toolkit for Statisticians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7" name="Shape 14"/>
          <p:cNvSpPr/>
          <p:nvPr/>
        </p:nvSpPr>
        <p:spPr>
          <a:xfrm>
            <a:off x="457200" y="1371600"/>
            <a:ext cx="2514600" cy="914400"/>
          </a:xfrm>
          <a:prstGeom prst="roundRect">
            <a:avLst>
              <a:gd name="adj" fmla="val 8000"/>
            </a:avLst>
          </a:prstGeom>
          <a:solidFill>
            <a:srgbClr val="F4F7F5"/>
          </a:solidFill>
          <a:ln w="9525">
            <a:solidFill>
              <a:srgbClr val="D5DED9"/>
            </a:solidFill>
            <a:prstDash val="solid"/>
          </a:ln>
        </p:spPr>
      </p:sp>
      <p:sp>
        <p:nvSpPr>
          <p:cNvPr id="18" name="Text 15"/>
          <p:cNvSpPr txBox="1"/>
          <p:nvPr/>
        </p:nvSpPr>
        <p:spPr>
          <a:xfrm>
            <a:off x="594360" y="1499616"/>
            <a:ext cx="640080" cy="457200"/>
          </a:xfrm>
          <a:prstGeom prst="rect">
            <a:avLst/>
          </a:prstGeom>
          <a:noFill/>
          <a:ln/>
        </p:spPr>
        <p:txBody>
          <a:bodyPr wrap="square" lIns="0" tIns="0" rIns="0" bIns="0" rtlCol="0" anchor="t"/>
          <a:lstStyle/>
          <a:p>
            <a:pPr indent="0" marL="0">
              <a:buNone/>
            </a:pPr>
            <a:r>
              <a:rPr lang="en-US" sz="3000" b="1" dirty="0">
                <a:solidFill>
                  <a:srgbClr val="00A86A"/>
                </a:solidFill>
                <a:latin typeface="Calibri" pitchFamily="34" charset="0"/>
                <a:ea typeface="Calibri" pitchFamily="34" charset="-122"/>
                <a:cs typeface="Calibri" pitchFamily="34" charset="-120"/>
              </a:rPr>
              <a:t>01</a:t>
            </a:r>
            <a:endParaRPr lang="en-US" sz="3000" dirty="0"/>
          </a:p>
        </p:txBody>
      </p:sp>
      <p:sp>
        <p:nvSpPr>
          <p:cNvPr id="19" name="Text 16"/>
          <p:cNvSpPr txBox="1"/>
          <p:nvPr/>
        </p:nvSpPr>
        <p:spPr>
          <a:xfrm>
            <a:off x="1280160" y="1517904"/>
            <a:ext cx="160020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Framing</a:t>
            </a:r>
            <a:endParaRPr lang="en-US" sz="1350" dirty="0"/>
          </a:p>
        </p:txBody>
      </p:sp>
      <p:sp>
        <p:nvSpPr>
          <p:cNvPr id="20" name="Text 17"/>
          <p:cNvSpPr txBox="1"/>
          <p:nvPr/>
        </p:nvSpPr>
        <p:spPr>
          <a:xfrm>
            <a:off x="1280160" y="1783080"/>
            <a:ext cx="160020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Where LLMs fit in the statistical business process</a:t>
            </a:r>
            <a:endParaRPr lang="en-US" sz="1000" dirty="0"/>
          </a:p>
        </p:txBody>
      </p:sp>
      <p:sp>
        <p:nvSpPr>
          <p:cNvPr id="21" name="Shape 18"/>
          <p:cNvSpPr/>
          <p:nvPr/>
        </p:nvSpPr>
        <p:spPr>
          <a:xfrm>
            <a:off x="3154680" y="1371600"/>
            <a:ext cx="2514600" cy="914400"/>
          </a:xfrm>
          <a:prstGeom prst="roundRect">
            <a:avLst>
              <a:gd name="adj" fmla="val 8000"/>
            </a:avLst>
          </a:prstGeom>
          <a:solidFill>
            <a:srgbClr val="F4F7F5"/>
          </a:solidFill>
          <a:ln w="9525">
            <a:solidFill>
              <a:srgbClr val="D5DED9"/>
            </a:solidFill>
            <a:prstDash val="solid"/>
          </a:ln>
        </p:spPr>
      </p:sp>
      <p:sp>
        <p:nvSpPr>
          <p:cNvPr id="22" name="Text 19"/>
          <p:cNvSpPr txBox="1"/>
          <p:nvPr/>
        </p:nvSpPr>
        <p:spPr>
          <a:xfrm>
            <a:off x="3291840" y="1499616"/>
            <a:ext cx="640080" cy="457200"/>
          </a:xfrm>
          <a:prstGeom prst="rect">
            <a:avLst/>
          </a:prstGeom>
          <a:noFill/>
          <a:ln/>
        </p:spPr>
        <p:txBody>
          <a:bodyPr wrap="square" lIns="0" tIns="0" rIns="0" bIns="0" rtlCol="0" anchor="t"/>
          <a:lstStyle/>
          <a:p>
            <a:pPr indent="0" marL="0">
              <a:buNone/>
            </a:pPr>
            <a:r>
              <a:rPr lang="en-US" sz="3000" b="1" dirty="0">
                <a:solidFill>
                  <a:srgbClr val="00704A"/>
                </a:solidFill>
                <a:latin typeface="Calibri" pitchFamily="34" charset="0"/>
                <a:ea typeface="Calibri" pitchFamily="34" charset="-122"/>
                <a:cs typeface="Calibri" pitchFamily="34" charset="-120"/>
              </a:rPr>
              <a:t>02</a:t>
            </a:r>
            <a:endParaRPr lang="en-US" sz="3000" dirty="0"/>
          </a:p>
        </p:txBody>
      </p:sp>
      <p:sp>
        <p:nvSpPr>
          <p:cNvPr id="23" name="Text 20"/>
          <p:cNvSpPr txBox="1"/>
          <p:nvPr/>
        </p:nvSpPr>
        <p:spPr>
          <a:xfrm>
            <a:off x="3977640" y="1517904"/>
            <a:ext cx="160020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Free toolkit</a:t>
            </a:r>
            <a:endParaRPr lang="en-US" sz="1350" dirty="0"/>
          </a:p>
        </p:txBody>
      </p:sp>
      <p:sp>
        <p:nvSpPr>
          <p:cNvPr id="24" name="Text 21"/>
          <p:cNvSpPr txBox="1"/>
          <p:nvPr/>
        </p:nvSpPr>
        <p:spPr>
          <a:xfrm>
            <a:off x="3977640" y="1783080"/>
            <a:ext cx="160020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Seven free tools and when to use each</a:t>
            </a:r>
            <a:endParaRPr lang="en-US" sz="1000" dirty="0"/>
          </a:p>
        </p:txBody>
      </p:sp>
      <p:sp>
        <p:nvSpPr>
          <p:cNvPr id="25" name="Shape 22"/>
          <p:cNvSpPr/>
          <p:nvPr/>
        </p:nvSpPr>
        <p:spPr>
          <a:xfrm>
            <a:off x="457200" y="2468880"/>
            <a:ext cx="2514600" cy="914400"/>
          </a:xfrm>
          <a:prstGeom prst="roundRect">
            <a:avLst>
              <a:gd name="adj" fmla="val 8000"/>
            </a:avLst>
          </a:prstGeom>
          <a:solidFill>
            <a:srgbClr val="F4F7F5"/>
          </a:solidFill>
          <a:ln w="9525">
            <a:solidFill>
              <a:srgbClr val="D5DED9"/>
            </a:solidFill>
            <a:prstDash val="solid"/>
          </a:ln>
        </p:spPr>
      </p:sp>
      <p:sp>
        <p:nvSpPr>
          <p:cNvPr id="26" name="Text 23"/>
          <p:cNvSpPr txBox="1"/>
          <p:nvPr/>
        </p:nvSpPr>
        <p:spPr>
          <a:xfrm>
            <a:off x="594360" y="2596896"/>
            <a:ext cx="640080" cy="457200"/>
          </a:xfrm>
          <a:prstGeom prst="rect">
            <a:avLst/>
          </a:prstGeom>
          <a:noFill/>
          <a:ln/>
        </p:spPr>
        <p:txBody>
          <a:bodyPr wrap="square" lIns="0" tIns="0" rIns="0" bIns="0" rtlCol="0" anchor="t"/>
          <a:lstStyle/>
          <a:p>
            <a:pPr indent="0" marL="0">
              <a:buNone/>
            </a:pPr>
            <a:r>
              <a:rPr lang="en-US" sz="3000" b="1" dirty="0">
                <a:solidFill>
                  <a:srgbClr val="0E7C86"/>
                </a:solidFill>
                <a:latin typeface="Calibri" pitchFamily="34" charset="0"/>
                <a:ea typeface="Calibri" pitchFamily="34" charset="-122"/>
                <a:cs typeface="Calibri" pitchFamily="34" charset="-120"/>
              </a:rPr>
              <a:t>03</a:t>
            </a:r>
            <a:endParaRPr lang="en-US" sz="3000" dirty="0"/>
          </a:p>
        </p:txBody>
      </p:sp>
      <p:sp>
        <p:nvSpPr>
          <p:cNvPr id="27" name="Text 24"/>
          <p:cNvSpPr txBox="1"/>
          <p:nvPr/>
        </p:nvSpPr>
        <p:spPr>
          <a:xfrm>
            <a:off x="1280160" y="2615184"/>
            <a:ext cx="160020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The stations</a:t>
            </a:r>
            <a:endParaRPr lang="en-US" sz="1350" dirty="0"/>
          </a:p>
        </p:txBody>
      </p:sp>
      <p:sp>
        <p:nvSpPr>
          <p:cNvPr id="28" name="Text 25"/>
          <p:cNvSpPr txBox="1"/>
          <p:nvPr/>
        </p:nvSpPr>
        <p:spPr>
          <a:xfrm>
            <a:off x="1280160" y="2880360"/>
            <a:ext cx="160020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Seven jobs, A to G, with recipes and deliverables</a:t>
            </a:r>
            <a:endParaRPr lang="en-US" sz="1000" dirty="0"/>
          </a:p>
        </p:txBody>
      </p:sp>
      <p:sp>
        <p:nvSpPr>
          <p:cNvPr id="29" name="Shape 26"/>
          <p:cNvSpPr/>
          <p:nvPr/>
        </p:nvSpPr>
        <p:spPr>
          <a:xfrm>
            <a:off x="3154680" y="2468880"/>
            <a:ext cx="2514600" cy="914400"/>
          </a:xfrm>
          <a:prstGeom prst="roundRect">
            <a:avLst>
              <a:gd name="adj" fmla="val 8000"/>
            </a:avLst>
          </a:prstGeom>
          <a:solidFill>
            <a:srgbClr val="F4F7F5"/>
          </a:solidFill>
          <a:ln w="9525">
            <a:solidFill>
              <a:srgbClr val="D5DED9"/>
            </a:solidFill>
            <a:prstDash val="solid"/>
          </a:ln>
        </p:spPr>
      </p:sp>
      <p:sp>
        <p:nvSpPr>
          <p:cNvPr id="30" name="Text 27"/>
          <p:cNvSpPr txBox="1"/>
          <p:nvPr/>
        </p:nvSpPr>
        <p:spPr>
          <a:xfrm>
            <a:off x="3291840" y="2596896"/>
            <a:ext cx="640080" cy="457200"/>
          </a:xfrm>
          <a:prstGeom prst="rect">
            <a:avLst/>
          </a:prstGeom>
          <a:noFill/>
          <a:ln/>
        </p:spPr>
        <p:txBody>
          <a:bodyPr wrap="square" lIns="0" tIns="0" rIns="0" bIns="0" rtlCol="0" anchor="t"/>
          <a:lstStyle/>
          <a:p>
            <a:pPr indent="0" marL="0">
              <a:buNone/>
            </a:pPr>
            <a:r>
              <a:rPr lang="en-US" sz="3000" b="1" dirty="0">
                <a:solidFill>
                  <a:srgbClr val="D49A00"/>
                </a:solidFill>
                <a:latin typeface="Calibri" pitchFamily="34" charset="0"/>
                <a:ea typeface="Calibri" pitchFamily="34" charset="-122"/>
                <a:cs typeface="Calibri" pitchFamily="34" charset="-120"/>
              </a:rPr>
              <a:t>04</a:t>
            </a:r>
            <a:endParaRPr lang="en-US" sz="3000" dirty="0"/>
          </a:p>
        </p:txBody>
      </p:sp>
      <p:sp>
        <p:nvSpPr>
          <p:cNvPr id="31" name="Text 28"/>
          <p:cNvSpPr txBox="1"/>
          <p:nvPr/>
        </p:nvSpPr>
        <p:spPr>
          <a:xfrm>
            <a:off x="3977640" y="2615184"/>
            <a:ext cx="160020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Verify &amp; protect</a:t>
            </a:r>
            <a:endParaRPr lang="en-US" sz="1350" dirty="0"/>
          </a:p>
        </p:txBody>
      </p:sp>
      <p:sp>
        <p:nvSpPr>
          <p:cNvPr id="32" name="Text 29"/>
          <p:cNvSpPr txBox="1"/>
          <p:nvPr/>
        </p:nvSpPr>
        <p:spPr>
          <a:xfrm>
            <a:off x="3977640" y="2880360"/>
            <a:ext cx="160020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Fact-checking, confidentiality, failure modes</a:t>
            </a:r>
            <a:endParaRPr lang="en-US" sz="1000" dirty="0"/>
          </a:p>
        </p:txBody>
      </p:sp>
      <p:sp>
        <p:nvSpPr>
          <p:cNvPr id="33" name="Shape 30"/>
          <p:cNvSpPr/>
          <p:nvPr/>
        </p:nvSpPr>
        <p:spPr>
          <a:xfrm>
            <a:off x="457200" y="3566160"/>
            <a:ext cx="2514600" cy="914400"/>
          </a:xfrm>
          <a:prstGeom prst="roundRect">
            <a:avLst>
              <a:gd name="adj" fmla="val 8000"/>
            </a:avLst>
          </a:prstGeom>
          <a:solidFill>
            <a:srgbClr val="F4F7F5"/>
          </a:solidFill>
          <a:ln w="9525">
            <a:solidFill>
              <a:srgbClr val="D5DED9"/>
            </a:solidFill>
            <a:prstDash val="solid"/>
          </a:ln>
        </p:spPr>
      </p:sp>
      <p:sp>
        <p:nvSpPr>
          <p:cNvPr id="34" name="Text 31"/>
          <p:cNvSpPr txBox="1"/>
          <p:nvPr/>
        </p:nvSpPr>
        <p:spPr>
          <a:xfrm>
            <a:off x="594360" y="3694176"/>
            <a:ext cx="640080" cy="457200"/>
          </a:xfrm>
          <a:prstGeom prst="rect">
            <a:avLst/>
          </a:prstGeom>
          <a:noFill/>
          <a:ln/>
        </p:spPr>
        <p:txBody>
          <a:bodyPr wrap="square" lIns="0" tIns="0" rIns="0" bIns="0" rtlCol="0" anchor="t"/>
          <a:lstStyle/>
          <a:p>
            <a:pPr indent="0" marL="0">
              <a:buNone/>
            </a:pPr>
            <a:r>
              <a:rPr lang="en-US" sz="3000" b="1" dirty="0">
                <a:solidFill>
                  <a:srgbClr val="C4621D"/>
                </a:solidFill>
                <a:latin typeface="Calibri" pitchFamily="34" charset="0"/>
                <a:ea typeface="Calibri" pitchFamily="34" charset="-122"/>
                <a:cs typeface="Calibri" pitchFamily="34" charset="-120"/>
              </a:rPr>
              <a:t>05</a:t>
            </a:r>
            <a:endParaRPr lang="en-US" sz="3000" dirty="0"/>
          </a:p>
        </p:txBody>
      </p:sp>
      <p:sp>
        <p:nvSpPr>
          <p:cNvPr id="35" name="Text 32"/>
          <p:cNvSpPr txBox="1"/>
          <p:nvPr/>
        </p:nvSpPr>
        <p:spPr>
          <a:xfrm>
            <a:off x="1280160" y="3712464"/>
            <a:ext cx="160020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Run the lab</a:t>
            </a:r>
            <a:endParaRPr lang="en-US" sz="1350" dirty="0"/>
          </a:p>
        </p:txBody>
      </p:sp>
      <p:sp>
        <p:nvSpPr>
          <p:cNvPr id="36" name="Text 33"/>
          <p:cNvSpPr txBox="1"/>
          <p:nvPr/>
        </p:nvSpPr>
        <p:spPr>
          <a:xfrm>
            <a:off x="1280160" y="3977640"/>
            <a:ext cx="160020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Choose your pair, get the notebook running</a:t>
            </a:r>
            <a:endParaRPr lang="en-US" sz="1000" dirty="0"/>
          </a:p>
        </p:txBody>
      </p:sp>
      <p:sp>
        <p:nvSpPr>
          <p:cNvPr id="37" name="Shape 34"/>
          <p:cNvSpPr/>
          <p:nvPr/>
        </p:nvSpPr>
        <p:spPr>
          <a:xfrm>
            <a:off x="3154680" y="3566160"/>
            <a:ext cx="2514600" cy="914400"/>
          </a:xfrm>
          <a:prstGeom prst="roundRect">
            <a:avLst>
              <a:gd name="adj" fmla="val 8000"/>
            </a:avLst>
          </a:prstGeom>
          <a:solidFill>
            <a:srgbClr val="F4F7F5"/>
          </a:solidFill>
          <a:ln w="9525">
            <a:solidFill>
              <a:srgbClr val="D5DED9"/>
            </a:solidFill>
            <a:prstDash val="solid"/>
          </a:ln>
        </p:spPr>
      </p:sp>
      <p:sp>
        <p:nvSpPr>
          <p:cNvPr id="38" name="Text 35"/>
          <p:cNvSpPr txBox="1"/>
          <p:nvPr/>
        </p:nvSpPr>
        <p:spPr>
          <a:xfrm>
            <a:off x="3291840" y="3694176"/>
            <a:ext cx="640080" cy="457200"/>
          </a:xfrm>
          <a:prstGeom prst="rect">
            <a:avLst/>
          </a:prstGeom>
          <a:noFill/>
          <a:ln/>
        </p:spPr>
        <p:txBody>
          <a:bodyPr wrap="square" lIns="0" tIns="0" rIns="0" bIns="0" rtlCol="0" anchor="t"/>
          <a:lstStyle/>
          <a:p>
            <a:pPr indent="0" marL="0">
              <a:buNone/>
            </a:pPr>
            <a:r>
              <a:rPr lang="en-US" sz="3000" b="1" dirty="0">
                <a:solidFill>
                  <a:srgbClr val="B83B2E"/>
                </a:solidFill>
                <a:latin typeface="Calibri" pitchFamily="34" charset="0"/>
                <a:ea typeface="Calibri" pitchFamily="34" charset="-122"/>
                <a:cs typeface="Calibri" pitchFamily="34" charset="-120"/>
              </a:rPr>
              <a:t>06</a:t>
            </a:r>
            <a:endParaRPr lang="en-US" sz="3000" dirty="0"/>
          </a:p>
        </p:txBody>
      </p:sp>
      <p:sp>
        <p:nvSpPr>
          <p:cNvPr id="39" name="Text 36"/>
          <p:cNvSpPr txBox="1"/>
          <p:nvPr/>
        </p:nvSpPr>
        <p:spPr>
          <a:xfrm>
            <a:off x="3977640" y="3712464"/>
            <a:ext cx="160020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Take it home</a:t>
            </a:r>
            <a:endParaRPr lang="en-US" sz="1350" dirty="0"/>
          </a:p>
        </p:txBody>
      </p:sp>
      <p:sp>
        <p:nvSpPr>
          <p:cNvPr id="40" name="Text 37"/>
          <p:cNvSpPr txBox="1"/>
          <p:nvPr/>
        </p:nvSpPr>
        <p:spPr>
          <a:xfrm>
            <a:off x="3977640" y="3977640"/>
            <a:ext cx="1600200"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Deliverables and the STG17 Action Plan link</a:t>
            </a:r>
            <a:endParaRPr lang="en-US" sz="1000" dirty="0"/>
          </a:p>
        </p:txBody>
      </p:sp>
      <p:sp>
        <p:nvSpPr>
          <p:cNvPr id="41" name="Shape 38"/>
          <p:cNvSpPr/>
          <p:nvPr/>
        </p:nvSpPr>
        <p:spPr>
          <a:xfrm>
            <a:off x="5989320" y="1371600"/>
            <a:ext cx="2697480" cy="3108960"/>
          </a:xfrm>
          <a:prstGeom prst="roundRect">
            <a:avLst>
              <a:gd name="adj" fmla="val 2712"/>
            </a:avLst>
          </a:prstGeom>
          <a:solidFill>
            <a:srgbClr val="E8F5EF"/>
          </a:solidFill>
          <a:ln w="15875">
            <a:solidFill>
              <a:srgbClr val="00A86A"/>
            </a:solidFill>
            <a:prstDash val="solid"/>
          </a:ln>
        </p:spPr>
      </p:sp>
      <p:sp>
        <p:nvSpPr>
          <p:cNvPr id="42" name="Text 39"/>
          <p:cNvSpPr txBox="1"/>
          <p:nvPr/>
        </p:nvSpPr>
        <p:spPr>
          <a:xfrm>
            <a:off x="6172200" y="1481328"/>
            <a:ext cx="22860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THE 60 MINUTES</a:t>
            </a:r>
            <a:endParaRPr lang="en-US" sz="1000" dirty="0"/>
          </a:p>
        </p:txBody>
      </p:sp>
      <p:sp>
        <p:nvSpPr>
          <p:cNvPr id="43" name="Shape 40"/>
          <p:cNvSpPr/>
          <p:nvPr/>
        </p:nvSpPr>
        <p:spPr>
          <a:xfrm>
            <a:off x="6336792" y="1938528"/>
            <a:ext cx="0" cy="2148840"/>
          </a:xfrm>
          <a:prstGeom prst="line">
            <a:avLst/>
          </a:prstGeom>
          <a:noFill/>
          <a:ln w="25400">
            <a:solidFill>
              <a:srgbClr val="D5DED9"/>
            </a:solidFill>
            <a:prstDash val="solid"/>
          </a:ln>
        </p:spPr>
      </p:sp>
      <p:sp>
        <p:nvSpPr>
          <p:cNvPr id="44" name="Shape 41"/>
          <p:cNvSpPr/>
          <p:nvPr/>
        </p:nvSpPr>
        <p:spPr>
          <a:xfrm>
            <a:off x="6245352" y="1874520"/>
            <a:ext cx="182880" cy="182880"/>
          </a:xfrm>
          <a:prstGeom prst="ellipse">
            <a:avLst/>
          </a:prstGeom>
          <a:solidFill>
            <a:srgbClr val="00A86A"/>
          </a:solidFill>
          <a:ln w="19050">
            <a:solidFill>
              <a:srgbClr val="FFFFFF"/>
            </a:solidFill>
            <a:prstDash val="solid"/>
          </a:ln>
        </p:spPr>
      </p:sp>
      <p:sp>
        <p:nvSpPr>
          <p:cNvPr id="45" name="Text 42"/>
          <p:cNvSpPr txBox="1"/>
          <p:nvPr/>
        </p:nvSpPr>
        <p:spPr>
          <a:xfrm>
            <a:off x="6537960" y="1828800"/>
            <a:ext cx="548640" cy="201168"/>
          </a:xfrm>
          <a:prstGeom prst="rect">
            <a:avLst/>
          </a:prstGeom>
          <a:noFill/>
          <a:ln/>
        </p:spPr>
        <p:txBody>
          <a:bodyPr wrap="square" lIns="0" tIns="0" rIns="0" bIns="0" rtlCol="0" anchor="t"/>
          <a:lstStyle/>
          <a:p>
            <a:pPr indent="0" marL="0">
              <a:buNone/>
            </a:pPr>
            <a:r>
              <a:rPr lang="en-US" sz="1100" b="1" dirty="0">
                <a:solidFill>
                  <a:srgbClr val="00A86A"/>
                </a:solidFill>
                <a:latin typeface="Calibri" pitchFamily="34" charset="0"/>
                <a:ea typeface="Calibri" pitchFamily="34" charset="-122"/>
                <a:cs typeface="Calibri" pitchFamily="34" charset="-120"/>
              </a:rPr>
              <a:t>15:45</a:t>
            </a:r>
            <a:endParaRPr lang="en-US" sz="1100" dirty="0"/>
          </a:p>
        </p:txBody>
      </p:sp>
      <p:sp>
        <p:nvSpPr>
          <p:cNvPr id="46" name="Text 43"/>
          <p:cNvSpPr txBox="1"/>
          <p:nvPr/>
        </p:nvSpPr>
        <p:spPr>
          <a:xfrm>
            <a:off x="7772400" y="1828800"/>
            <a:ext cx="777240" cy="201168"/>
          </a:xfrm>
          <a:prstGeom prst="rect">
            <a:avLst/>
          </a:prstGeom>
          <a:noFill/>
          <a:ln/>
        </p:spPr>
        <p:txBody>
          <a:bodyPr wrap="square" lIns="0" tIns="0" rIns="0" bIns="0" rtlCol="0" anchor="t"/>
          <a:lstStyle/>
          <a:p>
            <a:pPr algn="r" indent="0" marL="0">
              <a:buNone/>
            </a:pPr>
            <a:r>
              <a:rPr lang="en-US" sz="900" dirty="0">
                <a:solidFill>
                  <a:srgbClr val="5E6964"/>
                </a:solidFill>
                <a:latin typeface="Calibri" pitchFamily="34" charset="0"/>
                <a:ea typeface="Calibri" pitchFamily="34" charset="-122"/>
                <a:cs typeface="Calibri" pitchFamily="34" charset="-120"/>
              </a:rPr>
              <a:t>10 min</a:t>
            </a:r>
            <a:endParaRPr lang="en-US" sz="900" dirty="0"/>
          </a:p>
        </p:txBody>
      </p:sp>
      <p:sp>
        <p:nvSpPr>
          <p:cNvPr id="47" name="Text 44"/>
          <p:cNvSpPr txBox="1"/>
          <p:nvPr/>
        </p:nvSpPr>
        <p:spPr>
          <a:xfrm>
            <a:off x="6537960" y="2048256"/>
            <a:ext cx="2011680" cy="22860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Briefing &amp; setup</a:t>
            </a:r>
            <a:endParaRPr lang="en-US" sz="1150" dirty="0"/>
          </a:p>
        </p:txBody>
      </p:sp>
      <p:sp>
        <p:nvSpPr>
          <p:cNvPr id="48" name="Shape 45"/>
          <p:cNvSpPr/>
          <p:nvPr/>
        </p:nvSpPr>
        <p:spPr>
          <a:xfrm>
            <a:off x="6245352" y="2532888"/>
            <a:ext cx="182880" cy="182880"/>
          </a:xfrm>
          <a:prstGeom prst="ellipse">
            <a:avLst/>
          </a:prstGeom>
          <a:solidFill>
            <a:srgbClr val="0E7C86"/>
          </a:solidFill>
          <a:ln w="19050">
            <a:solidFill>
              <a:srgbClr val="FFFFFF"/>
            </a:solidFill>
            <a:prstDash val="solid"/>
          </a:ln>
        </p:spPr>
      </p:sp>
      <p:sp>
        <p:nvSpPr>
          <p:cNvPr id="49" name="Text 46"/>
          <p:cNvSpPr txBox="1"/>
          <p:nvPr/>
        </p:nvSpPr>
        <p:spPr>
          <a:xfrm>
            <a:off x="6537960" y="2487168"/>
            <a:ext cx="548640" cy="201168"/>
          </a:xfrm>
          <a:prstGeom prst="rect">
            <a:avLst/>
          </a:prstGeom>
          <a:noFill/>
          <a:ln/>
        </p:spPr>
        <p:txBody>
          <a:bodyPr wrap="square" lIns="0" tIns="0" rIns="0" bIns="0" rtlCol="0" anchor="t"/>
          <a:lstStyle/>
          <a:p>
            <a:pPr indent="0" marL="0">
              <a:buNone/>
            </a:pPr>
            <a:r>
              <a:rPr lang="en-US" sz="1100" b="1" dirty="0">
                <a:solidFill>
                  <a:srgbClr val="0E7C86"/>
                </a:solidFill>
                <a:latin typeface="Calibri" pitchFamily="34" charset="0"/>
                <a:ea typeface="Calibri" pitchFamily="34" charset="-122"/>
                <a:cs typeface="Calibri" pitchFamily="34" charset="-120"/>
              </a:rPr>
              <a:t>15:55</a:t>
            </a:r>
            <a:endParaRPr lang="en-US" sz="1100" dirty="0"/>
          </a:p>
        </p:txBody>
      </p:sp>
      <p:sp>
        <p:nvSpPr>
          <p:cNvPr id="50" name="Text 47"/>
          <p:cNvSpPr txBox="1"/>
          <p:nvPr/>
        </p:nvSpPr>
        <p:spPr>
          <a:xfrm>
            <a:off x="7772400" y="2487168"/>
            <a:ext cx="777240" cy="201168"/>
          </a:xfrm>
          <a:prstGeom prst="rect">
            <a:avLst/>
          </a:prstGeom>
          <a:noFill/>
          <a:ln/>
        </p:spPr>
        <p:txBody>
          <a:bodyPr wrap="square" lIns="0" tIns="0" rIns="0" bIns="0" rtlCol="0" anchor="t"/>
          <a:lstStyle/>
          <a:p>
            <a:pPr algn="r" indent="0" marL="0">
              <a:buNone/>
            </a:pPr>
            <a:r>
              <a:rPr lang="en-US" sz="900" dirty="0">
                <a:solidFill>
                  <a:srgbClr val="5E6964"/>
                </a:solidFill>
                <a:latin typeface="Calibri" pitchFamily="34" charset="0"/>
                <a:ea typeface="Calibri" pitchFamily="34" charset="-122"/>
                <a:cs typeface="Calibri" pitchFamily="34" charset="-120"/>
              </a:rPr>
              <a:t>20 min</a:t>
            </a:r>
            <a:endParaRPr lang="en-US" sz="900" dirty="0"/>
          </a:p>
        </p:txBody>
      </p:sp>
      <p:sp>
        <p:nvSpPr>
          <p:cNvPr id="51" name="Text 48"/>
          <p:cNvSpPr txBox="1"/>
          <p:nvPr/>
        </p:nvSpPr>
        <p:spPr>
          <a:xfrm>
            <a:off x="6537960" y="2706624"/>
            <a:ext cx="2011680" cy="22860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Station rotation 1</a:t>
            </a:r>
            <a:endParaRPr lang="en-US" sz="1150" dirty="0"/>
          </a:p>
        </p:txBody>
      </p:sp>
      <p:sp>
        <p:nvSpPr>
          <p:cNvPr id="52" name="Shape 49"/>
          <p:cNvSpPr/>
          <p:nvPr/>
        </p:nvSpPr>
        <p:spPr>
          <a:xfrm>
            <a:off x="6245352" y="3191256"/>
            <a:ext cx="182880" cy="182880"/>
          </a:xfrm>
          <a:prstGeom prst="ellipse">
            <a:avLst/>
          </a:prstGeom>
          <a:solidFill>
            <a:srgbClr val="C4621D"/>
          </a:solidFill>
          <a:ln w="19050">
            <a:solidFill>
              <a:srgbClr val="FFFFFF"/>
            </a:solidFill>
            <a:prstDash val="solid"/>
          </a:ln>
        </p:spPr>
      </p:sp>
      <p:sp>
        <p:nvSpPr>
          <p:cNvPr id="53" name="Text 50"/>
          <p:cNvSpPr txBox="1"/>
          <p:nvPr/>
        </p:nvSpPr>
        <p:spPr>
          <a:xfrm>
            <a:off x="6537960" y="3145536"/>
            <a:ext cx="548640" cy="201168"/>
          </a:xfrm>
          <a:prstGeom prst="rect">
            <a:avLst/>
          </a:prstGeom>
          <a:noFill/>
          <a:ln/>
        </p:spPr>
        <p:txBody>
          <a:bodyPr wrap="square" lIns="0" tIns="0" rIns="0" bIns="0" rtlCol="0" anchor="t"/>
          <a:lstStyle/>
          <a:p>
            <a:pPr indent="0" marL="0">
              <a:buNone/>
            </a:pPr>
            <a:r>
              <a:rPr lang="en-US" sz="1100" b="1" dirty="0">
                <a:solidFill>
                  <a:srgbClr val="C4621D"/>
                </a:solidFill>
                <a:latin typeface="Calibri" pitchFamily="34" charset="0"/>
                <a:ea typeface="Calibri" pitchFamily="34" charset="-122"/>
                <a:cs typeface="Calibri" pitchFamily="34" charset="-120"/>
              </a:rPr>
              <a:t>16:15</a:t>
            </a:r>
            <a:endParaRPr lang="en-US" sz="1100" dirty="0"/>
          </a:p>
        </p:txBody>
      </p:sp>
      <p:sp>
        <p:nvSpPr>
          <p:cNvPr id="54" name="Text 51"/>
          <p:cNvSpPr txBox="1"/>
          <p:nvPr/>
        </p:nvSpPr>
        <p:spPr>
          <a:xfrm>
            <a:off x="7772400" y="3145536"/>
            <a:ext cx="777240" cy="201168"/>
          </a:xfrm>
          <a:prstGeom prst="rect">
            <a:avLst/>
          </a:prstGeom>
          <a:noFill/>
          <a:ln/>
        </p:spPr>
        <p:txBody>
          <a:bodyPr wrap="square" lIns="0" tIns="0" rIns="0" bIns="0" rtlCol="0" anchor="t"/>
          <a:lstStyle/>
          <a:p>
            <a:pPr algn="r" indent="0" marL="0">
              <a:buNone/>
            </a:pPr>
            <a:r>
              <a:rPr lang="en-US" sz="900" dirty="0">
                <a:solidFill>
                  <a:srgbClr val="5E6964"/>
                </a:solidFill>
                <a:latin typeface="Calibri" pitchFamily="34" charset="0"/>
                <a:ea typeface="Calibri" pitchFamily="34" charset="-122"/>
                <a:cs typeface="Calibri" pitchFamily="34" charset="-120"/>
              </a:rPr>
              <a:t>20 min</a:t>
            </a:r>
            <a:endParaRPr lang="en-US" sz="900" dirty="0"/>
          </a:p>
        </p:txBody>
      </p:sp>
      <p:sp>
        <p:nvSpPr>
          <p:cNvPr id="55" name="Text 52"/>
          <p:cNvSpPr txBox="1"/>
          <p:nvPr/>
        </p:nvSpPr>
        <p:spPr>
          <a:xfrm>
            <a:off x="6537960" y="3364992"/>
            <a:ext cx="2011680" cy="22860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Station rotation 2</a:t>
            </a:r>
            <a:endParaRPr lang="en-US" sz="1150" dirty="0"/>
          </a:p>
        </p:txBody>
      </p:sp>
      <p:sp>
        <p:nvSpPr>
          <p:cNvPr id="56" name="Shape 53"/>
          <p:cNvSpPr/>
          <p:nvPr/>
        </p:nvSpPr>
        <p:spPr>
          <a:xfrm>
            <a:off x="6245352" y="3849624"/>
            <a:ext cx="182880" cy="182880"/>
          </a:xfrm>
          <a:prstGeom prst="ellipse">
            <a:avLst/>
          </a:prstGeom>
          <a:solidFill>
            <a:srgbClr val="D49A00"/>
          </a:solidFill>
          <a:ln w="19050">
            <a:solidFill>
              <a:srgbClr val="FFFFFF"/>
            </a:solidFill>
            <a:prstDash val="solid"/>
          </a:ln>
        </p:spPr>
      </p:sp>
      <p:sp>
        <p:nvSpPr>
          <p:cNvPr id="57" name="Text 54"/>
          <p:cNvSpPr txBox="1"/>
          <p:nvPr/>
        </p:nvSpPr>
        <p:spPr>
          <a:xfrm>
            <a:off x="6537960" y="3803904"/>
            <a:ext cx="548640" cy="201168"/>
          </a:xfrm>
          <a:prstGeom prst="rect">
            <a:avLst/>
          </a:prstGeom>
          <a:noFill/>
          <a:ln/>
        </p:spPr>
        <p:txBody>
          <a:bodyPr wrap="square" lIns="0" tIns="0" rIns="0" bIns="0" rtlCol="0" anchor="t"/>
          <a:lstStyle/>
          <a:p>
            <a:pPr indent="0" marL="0">
              <a:buNone/>
            </a:pPr>
            <a:r>
              <a:rPr lang="en-US" sz="1100" b="1" dirty="0">
                <a:solidFill>
                  <a:srgbClr val="D49A00"/>
                </a:solidFill>
                <a:latin typeface="Calibri" pitchFamily="34" charset="0"/>
                <a:ea typeface="Calibri" pitchFamily="34" charset="-122"/>
                <a:cs typeface="Calibri" pitchFamily="34" charset="-120"/>
              </a:rPr>
              <a:t>16:35</a:t>
            </a:r>
            <a:endParaRPr lang="en-US" sz="1100" dirty="0"/>
          </a:p>
        </p:txBody>
      </p:sp>
      <p:sp>
        <p:nvSpPr>
          <p:cNvPr id="58" name="Text 55"/>
          <p:cNvSpPr txBox="1"/>
          <p:nvPr/>
        </p:nvSpPr>
        <p:spPr>
          <a:xfrm>
            <a:off x="7772400" y="3803904"/>
            <a:ext cx="777240" cy="201168"/>
          </a:xfrm>
          <a:prstGeom prst="rect">
            <a:avLst/>
          </a:prstGeom>
          <a:noFill/>
          <a:ln/>
        </p:spPr>
        <p:txBody>
          <a:bodyPr wrap="square" lIns="0" tIns="0" rIns="0" bIns="0" rtlCol="0" anchor="t"/>
          <a:lstStyle/>
          <a:p>
            <a:pPr algn="r" indent="0" marL="0">
              <a:buNone/>
            </a:pPr>
            <a:r>
              <a:rPr lang="en-US" sz="900" dirty="0">
                <a:solidFill>
                  <a:srgbClr val="5E6964"/>
                </a:solidFill>
                <a:latin typeface="Calibri" pitchFamily="34" charset="0"/>
                <a:ea typeface="Calibri" pitchFamily="34" charset="-122"/>
                <a:cs typeface="Calibri" pitchFamily="34" charset="-120"/>
              </a:rPr>
              <a:t>10 min</a:t>
            </a:r>
            <a:endParaRPr lang="en-US" sz="900" dirty="0"/>
          </a:p>
        </p:txBody>
      </p:sp>
      <p:sp>
        <p:nvSpPr>
          <p:cNvPr id="59" name="Text 56"/>
          <p:cNvSpPr txBox="1"/>
          <p:nvPr/>
        </p:nvSpPr>
        <p:spPr>
          <a:xfrm>
            <a:off x="6537960" y="4023360"/>
            <a:ext cx="2011680" cy="22860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Gallery walk &amp; exit ticket</a:t>
            </a:r>
            <a:endParaRPr lang="en-US" sz="11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01 · FRAMING</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5" name="Text 3"/>
          <p:cNvSpPr txBox="1"/>
          <p:nvPr/>
        </p:nvSpPr>
        <p:spPr>
          <a:xfrm>
            <a:off x="548640" y="2377440"/>
            <a:ext cx="5303520" cy="10515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Why one model can do many jobs</a:t>
            </a:r>
            <a:endParaRPr lang="en-US" sz="32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What do a Stata script, a methodological note and a logo have in common?</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5C242"/>
          </a:solidFill>
          <a:ln/>
        </p:spPr>
      </p:sp>
      <p:sp>
        <p:nvSpPr>
          <p:cNvPr id="12" name="Shape 9"/>
          <p:cNvSpPr/>
          <p:nvPr/>
        </p:nvSpPr>
        <p:spPr>
          <a:xfrm>
            <a:off x="8019288" y="329184"/>
            <a:ext cx="82296" cy="82296"/>
          </a:xfrm>
          <a:prstGeom prst="ellipse">
            <a:avLst/>
          </a:prstGeom>
          <a:solidFill>
            <a:srgbClr val="FFFFFF">
              <a:alpha val="40000"/>
            </a:srgbClr>
          </a:solidFill>
          <a:ln/>
        </p:spPr>
      </p:sp>
      <p:sp>
        <p:nvSpPr>
          <p:cNvPr id="13" name="Shape 10"/>
          <p:cNvSpPr/>
          <p:nvPr/>
        </p:nvSpPr>
        <p:spPr>
          <a:xfrm>
            <a:off x="8156448" y="329184"/>
            <a:ext cx="82296" cy="82296"/>
          </a:xfrm>
          <a:prstGeom prst="ellipse">
            <a:avLst/>
          </a:prstGeom>
          <a:solidFill>
            <a:srgbClr val="FFFFFF">
              <a:alpha val="40000"/>
            </a:srgbClr>
          </a:solidFill>
          <a:ln/>
        </p:spPr>
      </p:sp>
      <p:sp>
        <p:nvSpPr>
          <p:cNvPr id="14" name="Shape 11"/>
          <p:cNvSpPr/>
          <p:nvPr/>
        </p:nvSpPr>
        <p:spPr>
          <a:xfrm>
            <a:off x="8293608" y="329184"/>
            <a:ext cx="82296" cy="82296"/>
          </a:xfrm>
          <a:prstGeom prst="ellipse">
            <a:avLst/>
          </a:prstGeom>
          <a:solidFill>
            <a:srgbClr val="FFFFFF">
              <a:alpha val="40000"/>
            </a:srgbClr>
          </a:solidFill>
          <a:ln/>
        </p:spPr>
      </p:sp>
      <p:sp>
        <p:nvSpPr>
          <p:cNvPr id="15" name="Shape 12"/>
          <p:cNvSpPr/>
          <p:nvPr/>
        </p:nvSpPr>
        <p:spPr>
          <a:xfrm>
            <a:off x="8430768" y="329184"/>
            <a:ext cx="82296" cy="82296"/>
          </a:xfrm>
          <a:prstGeom prst="ellipse">
            <a:avLst/>
          </a:prstGeom>
          <a:solidFill>
            <a:srgbClr val="FFFFFF">
              <a:alpha val="40000"/>
            </a:srgbClr>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FRAMING</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LLMs can assist in every phase of the statistical process</a:t>
            </a:r>
            <a:endParaRPr lang="en-US" sz="2600" dirty="0"/>
          </a:p>
        </p:txBody>
      </p:sp>
      <p:sp>
        <p:nvSpPr>
          <p:cNvPr id="8" name="Shape 6"/>
          <p:cNvSpPr/>
          <p:nvPr/>
        </p:nvSpPr>
        <p:spPr>
          <a:xfrm>
            <a:off x="7882128" y="329184"/>
            <a:ext cx="82296" cy="82296"/>
          </a:xfrm>
          <a:prstGeom prst="ellipse">
            <a:avLst/>
          </a:prstGeom>
          <a:solidFill>
            <a:srgbClr val="00A86A"/>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STG17 · One Model, Many Jobs — an LLM Toolkit for Statisticians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4</a:t>
            </a:r>
            <a:endParaRPr lang="en-US" sz="850" dirty="0"/>
          </a:p>
        </p:txBody>
      </p:sp>
      <p:sp>
        <p:nvSpPr>
          <p:cNvPr id="17" name="Shape 14"/>
          <p:cNvSpPr/>
          <p:nvPr/>
        </p:nvSpPr>
        <p:spPr>
          <a:xfrm>
            <a:off x="457200" y="1417320"/>
            <a:ext cx="1005840" cy="566928"/>
          </a:xfrm>
          <a:prstGeom prst="chevron">
            <a:avLst/>
          </a:prstGeom>
          <a:solidFill>
            <a:srgbClr val="00A86A"/>
          </a:solidFill>
          <a:ln/>
        </p:spPr>
      </p:sp>
      <p:sp>
        <p:nvSpPr>
          <p:cNvPr id="18" name="Text 15"/>
          <p:cNvSpPr txBox="1"/>
          <p:nvPr/>
        </p:nvSpPr>
        <p:spPr>
          <a:xfrm>
            <a:off x="640080" y="1453896"/>
            <a:ext cx="640080" cy="201168"/>
          </a:xfrm>
          <a:prstGeom prst="rect">
            <a:avLst/>
          </a:prstGeom>
          <a:noFill/>
          <a:ln/>
        </p:spPr>
        <p:txBody>
          <a:bodyPr wrap="square" lIns="0" tIns="0" rIns="0" bIns="0" rtlCol="0" anchor="t"/>
          <a:lstStyle/>
          <a:p>
            <a:pPr algn="ctr" indent="0" marL="0">
              <a:buNone/>
            </a:pPr>
            <a:r>
              <a:rPr lang="en-US" sz="900" b="1" dirty="0">
                <a:solidFill>
                  <a:srgbClr val="F5C242"/>
                </a:solidFill>
                <a:latin typeface="Calibri" pitchFamily="34" charset="0"/>
                <a:ea typeface="Calibri" pitchFamily="34" charset="-122"/>
                <a:cs typeface="Calibri" pitchFamily="34" charset="-120"/>
              </a:rPr>
              <a:t>1</a:t>
            </a:r>
            <a:endParaRPr lang="en-US" sz="900" dirty="0"/>
          </a:p>
        </p:txBody>
      </p:sp>
      <p:sp>
        <p:nvSpPr>
          <p:cNvPr id="19" name="Text 16"/>
          <p:cNvSpPr txBox="1"/>
          <p:nvPr/>
        </p:nvSpPr>
        <p:spPr>
          <a:xfrm>
            <a:off x="548640" y="1627632"/>
            <a:ext cx="86868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Specify needs</a:t>
            </a:r>
            <a:endParaRPr lang="en-US" sz="850" dirty="0"/>
          </a:p>
        </p:txBody>
      </p:sp>
      <p:sp>
        <p:nvSpPr>
          <p:cNvPr id="20" name="Shape 17"/>
          <p:cNvSpPr/>
          <p:nvPr/>
        </p:nvSpPr>
        <p:spPr>
          <a:xfrm>
            <a:off x="457200" y="2194560"/>
            <a:ext cx="960120" cy="1417320"/>
          </a:xfrm>
          <a:prstGeom prst="roundRect">
            <a:avLst>
              <a:gd name="adj" fmla="val 7619"/>
            </a:avLst>
          </a:prstGeom>
          <a:solidFill>
            <a:srgbClr val="F4F7F5"/>
          </a:solidFill>
          <a:ln w="9525">
            <a:solidFill>
              <a:srgbClr val="D5DED9"/>
            </a:solidFill>
            <a:prstDash val="solid"/>
          </a:ln>
        </p:spPr>
      </p:sp>
      <p:sp>
        <p:nvSpPr>
          <p:cNvPr id="21" name="Text 18"/>
          <p:cNvSpPr txBox="1"/>
          <p:nvPr/>
        </p:nvSpPr>
        <p:spPr>
          <a:xfrm>
            <a:off x="530352" y="2304288"/>
            <a:ext cx="813816" cy="77724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Summarise user consultations</a:t>
            </a:r>
            <a:endParaRPr lang="en-US" sz="1000" dirty="0"/>
          </a:p>
        </p:txBody>
      </p:sp>
      <p:sp>
        <p:nvSpPr>
          <p:cNvPr id="22" name="Shape 19"/>
          <p:cNvSpPr/>
          <p:nvPr/>
        </p:nvSpPr>
        <p:spPr>
          <a:xfrm>
            <a:off x="530352" y="3090672"/>
            <a:ext cx="201168" cy="201168"/>
          </a:xfrm>
          <a:prstGeom prst="roundRect">
            <a:avLst>
              <a:gd name="adj" fmla="val 50000"/>
            </a:avLst>
          </a:prstGeom>
          <a:solidFill>
            <a:srgbClr val="0E7C86"/>
          </a:solidFill>
          <a:ln w="9525">
            <a:solidFill>
              <a:srgbClr val="0E7C86"/>
            </a:solidFill>
            <a:prstDash val="solid"/>
          </a:ln>
        </p:spPr>
      </p:sp>
      <p:sp>
        <p:nvSpPr>
          <p:cNvPr id="23" name="Text 20"/>
          <p:cNvSpPr txBox="1"/>
          <p:nvPr/>
        </p:nvSpPr>
        <p:spPr>
          <a:xfrm>
            <a:off x="530352" y="309067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a:t>
            </a:r>
            <a:endParaRPr lang="en-US" sz="800" dirty="0"/>
          </a:p>
        </p:txBody>
      </p:sp>
      <p:sp>
        <p:nvSpPr>
          <p:cNvPr id="24" name="Shape 21"/>
          <p:cNvSpPr/>
          <p:nvPr/>
        </p:nvSpPr>
        <p:spPr>
          <a:xfrm>
            <a:off x="1481328" y="1417320"/>
            <a:ext cx="1005840" cy="566928"/>
          </a:xfrm>
          <a:prstGeom prst="chevron">
            <a:avLst/>
          </a:prstGeom>
          <a:solidFill>
            <a:srgbClr val="00A86A">
              <a:alpha val="98000"/>
            </a:srgbClr>
          </a:solidFill>
          <a:ln/>
        </p:spPr>
      </p:sp>
      <p:sp>
        <p:nvSpPr>
          <p:cNvPr id="25" name="Text 22"/>
          <p:cNvSpPr txBox="1"/>
          <p:nvPr/>
        </p:nvSpPr>
        <p:spPr>
          <a:xfrm>
            <a:off x="1664208" y="1453896"/>
            <a:ext cx="640080" cy="201168"/>
          </a:xfrm>
          <a:prstGeom prst="rect">
            <a:avLst/>
          </a:prstGeom>
          <a:noFill/>
          <a:ln/>
        </p:spPr>
        <p:txBody>
          <a:bodyPr wrap="square" lIns="0" tIns="0" rIns="0" bIns="0" rtlCol="0" anchor="t"/>
          <a:lstStyle/>
          <a:p>
            <a:pPr algn="ctr" indent="0" marL="0">
              <a:buNone/>
            </a:pPr>
            <a:r>
              <a:rPr lang="en-US" sz="900" b="1" dirty="0">
                <a:solidFill>
                  <a:srgbClr val="F5C242"/>
                </a:solidFill>
                <a:latin typeface="Calibri" pitchFamily="34" charset="0"/>
                <a:ea typeface="Calibri" pitchFamily="34" charset="-122"/>
                <a:cs typeface="Calibri" pitchFamily="34" charset="-120"/>
              </a:rPr>
              <a:t>2</a:t>
            </a:r>
            <a:endParaRPr lang="en-US" sz="900" dirty="0"/>
          </a:p>
        </p:txBody>
      </p:sp>
      <p:sp>
        <p:nvSpPr>
          <p:cNvPr id="26" name="Text 23"/>
          <p:cNvSpPr txBox="1"/>
          <p:nvPr/>
        </p:nvSpPr>
        <p:spPr>
          <a:xfrm>
            <a:off x="1572768" y="1627632"/>
            <a:ext cx="86868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Design</a:t>
            </a:r>
            <a:endParaRPr lang="en-US" sz="850" dirty="0"/>
          </a:p>
        </p:txBody>
      </p:sp>
      <p:sp>
        <p:nvSpPr>
          <p:cNvPr id="27" name="Shape 24"/>
          <p:cNvSpPr/>
          <p:nvPr/>
        </p:nvSpPr>
        <p:spPr>
          <a:xfrm>
            <a:off x="1481328" y="2194560"/>
            <a:ext cx="960120" cy="1417320"/>
          </a:xfrm>
          <a:prstGeom prst="roundRect">
            <a:avLst>
              <a:gd name="adj" fmla="val 7619"/>
            </a:avLst>
          </a:prstGeom>
          <a:solidFill>
            <a:srgbClr val="F4F7F5"/>
          </a:solidFill>
          <a:ln w="9525">
            <a:solidFill>
              <a:srgbClr val="D5DED9"/>
            </a:solidFill>
            <a:prstDash val="solid"/>
          </a:ln>
        </p:spPr>
      </p:sp>
      <p:sp>
        <p:nvSpPr>
          <p:cNvPr id="28" name="Text 25"/>
          <p:cNvSpPr txBox="1"/>
          <p:nvPr/>
        </p:nvSpPr>
        <p:spPr>
          <a:xfrm>
            <a:off x="1554480" y="2304288"/>
            <a:ext cx="813816" cy="77724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Draft questions &amp; metadata text</a:t>
            </a:r>
            <a:endParaRPr lang="en-US" sz="1000" dirty="0"/>
          </a:p>
        </p:txBody>
      </p:sp>
      <p:sp>
        <p:nvSpPr>
          <p:cNvPr id="29" name="Shape 26"/>
          <p:cNvSpPr/>
          <p:nvPr/>
        </p:nvSpPr>
        <p:spPr>
          <a:xfrm>
            <a:off x="1554480" y="3090672"/>
            <a:ext cx="201168" cy="201168"/>
          </a:xfrm>
          <a:prstGeom prst="roundRect">
            <a:avLst>
              <a:gd name="adj" fmla="val 50000"/>
            </a:avLst>
          </a:prstGeom>
          <a:solidFill>
            <a:srgbClr val="0E7C86"/>
          </a:solidFill>
          <a:ln w="9525">
            <a:solidFill>
              <a:srgbClr val="0E7C86"/>
            </a:solidFill>
            <a:prstDash val="solid"/>
          </a:ln>
        </p:spPr>
      </p:sp>
      <p:sp>
        <p:nvSpPr>
          <p:cNvPr id="30" name="Text 27"/>
          <p:cNvSpPr txBox="1"/>
          <p:nvPr/>
        </p:nvSpPr>
        <p:spPr>
          <a:xfrm>
            <a:off x="1554480" y="309067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a:t>
            </a:r>
            <a:endParaRPr lang="en-US" sz="800" dirty="0"/>
          </a:p>
        </p:txBody>
      </p:sp>
      <p:sp>
        <p:nvSpPr>
          <p:cNvPr id="31" name="Shape 28"/>
          <p:cNvSpPr/>
          <p:nvPr/>
        </p:nvSpPr>
        <p:spPr>
          <a:xfrm>
            <a:off x="2505456" y="1417320"/>
            <a:ext cx="1005840" cy="566928"/>
          </a:xfrm>
          <a:prstGeom prst="chevron">
            <a:avLst/>
          </a:prstGeom>
          <a:solidFill>
            <a:srgbClr val="00A86A">
              <a:alpha val="96000"/>
            </a:srgbClr>
          </a:solidFill>
          <a:ln/>
        </p:spPr>
      </p:sp>
      <p:sp>
        <p:nvSpPr>
          <p:cNvPr id="32" name="Text 29"/>
          <p:cNvSpPr txBox="1"/>
          <p:nvPr/>
        </p:nvSpPr>
        <p:spPr>
          <a:xfrm>
            <a:off x="2688336" y="1453896"/>
            <a:ext cx="640080" cy="201168"/>
          </a:xfrm>
          <a:prstGeom prst="rect">
            <a:avLst/>
          </a:prstGeom>
          <a:noFill/>
          <a:ln/>
        </p:spPr>
        <p:txBody>
          <a:bodyPr wrap="square" lIns="0" tIns="0" rIns="0" bIns="0" rtlCol="0" anchor="t"/>
          <a:lstStyle/>
          <a:p>
            <a:pPr algn="ctr" indent="0" marL="0">
              <a:buNone/>
            </a:pPr>
            <a:r>
              <a:rPr lang="en-US" sz="900" b="1" dirty="0">
                <a:solidFill>
                  <a:srgbClr val="F5C242"/>
                </a:solidFill>
                <a:latin typeface="Calibri" pitchFamily="34" charset="0"/>
                <a:ea typeface="Calibri" pitchFamily="34" charset="-122"/>
                <a:cs typeface="Calibri" pitchFamily="34" charset="-120"/>
              </a:rPr>
              <a:t>3</a:t>
            </a:r>
            <a:endParaRPr lang="en-US" sz="900" dirty="0"/>
          </a:p>
        </p:txBody>
      </p:sp>
      <p:sp>
        <p:nvSpPr>
          <p:cNvPr id="33" name="Text 30"/>
          <p:cNvSpPr txBox="1"/>
          <p:nvPr/>
        </p:nvSpPr>
        <p:spPr>
          <a:xfrm>
            <a:off x="2596896" y="1627632"/>
            <a:ext cx="86868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Build</a:t>
            </a:r>
            <a:endParaRPr lang="en-US" sz="850" dirty="0"/>
          </a:p>
        </p:txBody>
      </p:sp>
      <p:sp>
        <p:nvSpPr>
          <p:cNvPr id="34" name="Shape 31"/>
          <p:cNvSpPr/>
          <p:nvPr/>
        </p:nvSpPr>
        <p:spPr>
          <a:xfrm>
            <a:off x="2505456" y="2194560"/>
            <a:ext cx="960120" cy="1417320"/>
          </a:xfrm>
          <a:prstGeom prst="roundRect">
            <a:avLst>
              <a:gd name="adj" fmla="val 7619"/>
            </a:avLst>
          </a:prstGeom>
          <a:solidFill>
            <a:srgbClr val="F4F7F5"/>
          </a:solidFill>
          <a:ln w="9525">
            <a:solidFill>
              <a:srgbClr val="D5DED9"/>
            </a:solidFill>
            <a:prstDash val="solid"/>
          </a:ln>
        </p:spPr>
      </p:sp>
      <p:sp>
        <p:nvSpPr>
          <p:cNvPr id="35" name="Text 32"/>
          <p:cNvSpPr txBox="1"/>
          <p:nvPr/>
        </p:nvSpPr>
        <p:spPr>
          <a:xfrm>
            <a:off x="2578608" y="2304288"/>
            <a:ext cx="813816" cy="77724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Write &amp; test processing code</a:t>
            </a:r>
            <a:endParaRPr lang="en-US" sz="1000" dirty="0"/>
          </a:p>
        </p:txBody>
      </p:sp>
      <p:sp>
        <p:nvSpPr>
          <p:cNvPr id="36" name="Shape 33"/>
          <p:cNvSpPr/>
          <p:nvPr/>
        </p:nvSpPr>
        <p:spPr>
          <a:xfrm>
            <a:off x="2578608" y="3090672"/>
            <a:ext cx="201168" cy="201168"/>
          </a:xfrm>
          <a:prstGeom prst="roundRect">
            <a:avLst>
              <a:gd name="adj" fmla="val 50000"/>
            </a:avLst>
          </a:prstGeom>
          <a:solidFill>
            <a:srgbClr val="0E7C86"/>
          </a:solidFill>
          <a:ln w="9525">
            <a:solidFill>
              <a:srgbClr val="0E7C86"/>
            </a:solidFill>
            <a:prstDash val="solid"/>
          </a:ln>
        </p:spPr>
      </p:sp>
      <p:sp>
        <p:nvSpPr>
          <p:cNvPr id="37" name="Text 34"/>
          <p:cNvSpPr txBox="1"/>
          <p:nvPr/>
        </p:nvSpPr>
        <p:spPr>
          <a:xfrm>
            <a:off x="2578608" y="309067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a:t>
            </a:r>
            <a:endParaRPr lang="en-US" sz="800" dirty="0"/>
          </a:p>
        </p:txBody>
      </p:sp>
      <p:sp>
        <p:nvSpPr>
          <p:cNvPr id="38" name="Shape 35"/>
          <p:cNvSpPr/>
          <p:nvPr/>
        </p:nvSpPr>
        <p:spPr>
          <a:xfrm>
            <a:off x="3529584" y="1417320"/>
            <a:ext cx="1005840" cy="566928"/>
          </a:xfrm>
          <a:prstGeom prst="chevron">
            <a:avLst/>
          </a:prstGeom>
          <a:solidFill>
            <a:srgbClr val="00A86A">
              <a:alpha val="94000"/>
            </a:srgbClr>
          </a:solidFill>
          <a:ln/>
        </p:spPr>
      </p:sp>
      <p:sp>
        <p:nvSpPr>
          <p:cNvPr id="39" name="Text 36"/>
          <p:cNvSpPr txBox="1"/>
          <p:nvPr/>
        </p:nvSpPr>
        <p:spPr>
          <a:xfrm>
            <a:off x="3712464" y="1453896"/>
            <a:ext cx="640080" cy="201168"/>
          </a:xfrm>
          <a:prstGeom prst="rect">
            <a:avLst/>
          </a:prstGeom>
          <a:noFill/>
          <a:ln/>
        </p:spPr>
        <p:txBody>
          <a:bodyPr wrap="square" lIns="0" tIns="0" rIns="0" bIns="0" rtlCol="0" anchor="t"/>
          <a:lstStyle/>
          <a:p>
            <a:pPr algn="ctr" indent="0" marL="0">
              <a:buNone/>
            </a:pPr>
            <a:r>
              <a:rPr lang="en-US" sz="900" b="1" dirty="0">
                <a:solidFill>
                  <a:srgbClr val="F5C242"/>
                </a:solidFill>
                <a:latin typeface="Calibri" pitchFamily="34" charset="0"/>
                <a:ea typeface="Calibri" pitchFamily="34" charset="-122"/>
                <a:cs typeface="Calibri" pitchFamily="34" charset="-120"/>
              </a:rPr>
              <a:t>4</a:t>
            </a:r>
            <a:endParaRPr lang="en-US" sz="900" dirty="0"/>
          </a:p>
        </p:txBody>
      </p:sp>
      <p:sp>
        <p:nvSpPr>
          <p:cNvPr id="40" name="Text 37"/>
          <p:cNvSpPr txBox="1"/>
          <p:nvPr/>
        </p:nvSpPr>
        <p:spPr>
          <a:xfrm>
            <a:off x="3621024" y="1627632"/>
            <a:ext cx="86868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Collect</a:t>
            </a:r>
            <a:endParaRPr lang="en-US" sz="850" dirty="0"/>
          </a:p>
        </p:txBody>
      </p:sp>
      <p:sp>
        <p:nvSpPr>
          <p:cNvPr id="41" name="Shape 38"/>
          <p:cNvSpPr/>
          <p:nvPr/>
        </p:nvSpPr>
        <p:spPr>
          <a:xfrm>
            <a:off x="3529584" y="2194560"/>
            <a:ext cx="960120" cy="1417320"/>
          </a:xfrm>
          <a:prstGeom prst="roundRect">
            <a:avLst>
              <a:gd name="adj" fmla="val 7619"/>
            </a:avLst>
          </a:prstGeom>
          <a:solidFill>
            <a:srgbClr val="F4F7F5"/>
          </a:solidFill>
          <a:ln w="9525">
            <a:solidFill>
              <a:srgbClr val="D5DED9"/>
            </a:solidFill>
            <a:prstDash val="solid"/>
          </a:ln>
        </p:spPr>
      </p:sp>
      <p:sp>
        <p:nvSpPr>
          <p:cNvPr id="42" name="Text 39"/>
          <p:cNvSpPr txBox="1"/>
          <p:nvPr/>
        </p:nvSpPr>
        <p:spPr>
          <a:xfrm>
            <a:off x="3602736" y="2304288"/>
            <a:ext cx="813816" cy="77724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Transcribe scanned forms</a:t>
            </a:r>
            <a:endParaRPr lang="en-US" sz="1000" dirty="0"/>
          </a:p>
        </p:txBody>
      </p:sp>
      <p:sp>
        <p:nvSpPr>
          <p:cNvPr id="43" name="Shape 40"/>
          <p:cNvSpPr/>
          <p:nvPr/>
        </p:nvSpPr>
        <p:spPr>
          <a:xfrm>
            <a:off x="3602736" y="3090672"/>
            <a:ext cx="201168" cy="201168"/>
          </a:xfrm>
          <a:prstGeom prst="roundRect">
            <a:avLst>
              <a:gd name="adj" fmla="val 50000"/>
            </a:avLst>
          </a:prstGeom>
          <a:solidFill>
            <a:srgbClr val="0E7C86"/>
          </a:solidFill>
          <a:ln w="9525">
            <a:solidFill>
              <a:srgbClr val="0E7C86"/>
            </a:solidFill>
            <a:prstDash val="solid"/>
          </a:ln>
        </p:spPr>
      </p:sp>
      <p:sp>
        <p:nvSpPr>
          <p:cNvPr id="44" name="Text 41"/>
          <p:cNvSpPr txBox="1"/>
          <p:nvPr/>
        </p:nvSpPr>
        <p:spPr>
          <a:xfrm>
            <a:off x="3602736" y="309067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a:t>
            </a:r>
            <a:endParaRPr lang="en-US" sz="800" dirty="0"/>
          </a:p>
        </p:txBody>
      </p:sp>
      <p:sp>
        <p:nvSpPr>
          <p:cNvPr id="45" name="Shape 42"/>
          <p:cNvSpPr/>
          <p:nvPr/>
        </p:nvSpPr>
        <p:spPr>
          <a:xfrm>
            <a:off x="4553712" y="1417320"/>
            <a:ext cx="1005840" cy="566928"/>
          </a:xfrm>
          <a:prstGeom prst="chevron">
            <a:avLst/>
          </a:prstGeom>
          <a:solidFill>
            <a:srgbClr val="00A86A">
              <a:alpha val="92000"/>
            </a:srgbClr>
          </a:solidFill>
          <a:ln/>
        </p:spPr>
      </p:sp>
      <p:sp>
        <p:nvSpPr>
          <p:cNvPr id="46" name="Text 43"/>
          <p:cNvSpPr txBox="1"/>
          <p:nvPr/>
        </p:nvSpPr>
        <p:spPr>
          <a:xfrm>
            <a:off x="4736592" y="1453896"/>
            <a:ext cx="640080" cy="201168"/>
          </a:xfrm>
          <a:prstGeom prst="rect">
            <a:avLst/>
          </a:prstGeom>
          <a:noFill/>
          <a:ln/>
        </p:spPr>
        <p:txBody>
          <a:bodyPr wrap="square" lIns="0" tIns="0" rIns="0" bIns="0" rtlCol="0" anchor="t"/>
          <a:lstStyle/>
          <a:p>
            <a:pPr algn="ctr" indent="0" marL="0">
              <a:buNone/>
            </a:pPr>
            <a:r>
              <a:rPr lang="en-US" sz="900" b="1" dirty="0">
                <a:solidFill>
                  <a:srgbClr val="F5C242"/>
                </a:solidFill>
                <a:latin typeface="Calibri" pitchFamily="34" charset="0"/>
                <a:ea typeface="Calibri" pitchFamily="34" charset="-122"/>
                <a:cs typeface="Calibri" pitchFamily="34" charset="-120"/>
              </a:rPr>
              <a:t>5</a:t>
            </a:r>
            <a:endParaRPr lang="en-US" sz="900" dirty="0"/>
          </a:p>
        </p:txBody>
      </p:sp>
      <p:sp>
        <p:nvSpPr>
          <p:cNvPr id="47" name="Text 44"/>
          <p:cNvSpPr txBox="1"/>
          <p:nvPr/>
        </p:nvSpPr>
        <p:spPr>
          <a:xfrm>
            <a:off x="4645152" y="1627632"/>
            <a:ext cx="86868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Process</a:t>
            </a:r>
            <a:endParaRPr lang="en-US" sz="850" dirty="0"/>
          </a:p>
        </p:txBody>
      </p:sp>
      <p:sp>
        <p:nvSpPr>
          <p:cNvPr id="48" name="Shape 45"/>
          <p:cNvSpPr/>
          <p:nvPr/>
        </p:nvSpPr>
        <p:spPr>
          <a:xfrm>
            <a:off x="4553712" y="2194560"/>
            <a:ext cx="960120" cy="1417320"/>
          </a:xfrm>
          <a:prstGeom prst="roundRect">
            <a:avLst>
              <a:gd name="adj" fmla="val 7619"/>
            </a:avLst>
          </a:prstGeom>
          <a:solidFill>
            <a:srgbClr val="F4F7F5"/>
          </a:solidFill>
          <a:ln w="9525">
            <a:solidFill>
              <a:srgbClr val="D5DED9"/>
            </a:solidFill>
            <a:prstDash val="solid"/>
          </a:ln>
        </p:spPr>
      </p:sp>
      <p:sp>
        <p:nvSpPr>
          <p:cNvPr id="49" name="Text 46"/>
          <p:cNvSpPr txBox="1"/>
          <p:nvPr/>
        </p:nvSpPr>
        <p:spPr>
          <a:xfrm>
            <a:off x="4626864" y="2304288"/>
            <a:ext cx="813816" cy="77724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Coding, classification, debugging</a:t>
            </a:r>
            <a:endParaRPr lang="en-US" sz="1000" dirty="0"/>
          </a:p>
        </p:txBody>
      </p:sp>
      <p:sp>
        <p:nvSpPr>
          <p:cNvPr id="50" name="Shape 47"/>
          <p:cNvSpPr/>
          <p:nvPr/>
        </p:nvSpPr>
        <p:spPr>
          <a:xfrm>
            <a:off x="4626864" y="3090672"/>
            <a:ext cx="201168" cy="201168"/>
          </a:xfrm>
          <a:prstGeom prst="roundRect">
            <a:avLst>
              <a:gd name="adj" fmla="val 50000"/>
            </a:avLst>
          </a:prstGeom>
          <a:solidFill>
            <a:srgbClr val="0E7C86"/>
          </a:solidFill>
          <a:ln w="9525">
            <a:solidFill>
              <a:srgbClr val="0E7C86"/>
            </a:solidFill>
            <a:prstDash val="solid"/>
          </a:ln>
        </p:spPr>
      </p:sp>
      <p:sp>
        <p:nvSpPr>
          <p:cNvPr id="51" name="Text 48"/>
          <p:cNvSpPr txBox="1"/>
          <p:nvPr/>
        </p:nvSpPr>
        <p:spPr>
          <a:xfrm>
            <a:off x="4626864" y="309067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a:t>
            </a:r>
            <a:endParaRPr lang="en-US" sz="800" dirty="0"/>
          </a:p>
        </p:txBody>
      </p:sp>
      <p:sp>
        <p:nvSpPr>
          <p:cNvPr id="52" name="Shape 49"/>
          <p:cNvSpPr/>
          <p:nvPr/>
        </p:nvSpPr>
        <p:spPr>
          <a:xfrm>
            <a:off x="5577840" y="1417320"/>
            <a:ext cx="1005840" cy="566928"/>
          </a:xfrm>
          <a:prstGeom prst="chevron">
            <a:avLst/>
          </a:prstGeom>
          <a:solidFill>
            <a:srgbClr val="00A86A">
              <a:alpha val="90000"/>
            </a:srgbClr>
          </a:solidFill>
          <a:ln/>
        </p:spPr>
      </p:sp>
      <p:sp>
        <p:nvSpPr>
          <p:cNvPr id="53" name="Text 50"/>
          <p:cNvSpPr txBox="1"/>
          <p:nvPr/>
        </p:nvSpPr>
        <p:spPr>
          <a:xfrm>
            <a:off x="5760720" y="1453896"/>
            <a:ext cx="640080" cy="201168"/>
          </a:xfrm>
          <a:prstGeom prst="rect">
            <a:avLst/>
          </a:prstGeom>
          <a:noFill/>
          <a:ln/>
        </p:spPr>
        <p:txBody>
          <a:bodyPr wrap="square" lIns="0" tIns="0" rIns="0" bIns="0" rtlCol="0" anchor="t"/>
          <a:lstStyle/>
          <a:p>
            <a:pPr algn="ctr" indent="0" marL="0">
              <a:buNone/>
            </a:pPr>
            <a:r>
              <a:rPr lang="en-US" sz="900" b="1" dirty="0">
                <a:solidFill>
                  <a:srgbClr val="F5C242"/>
                </a:solidFill>
                <a:latin typeface="Calibri" pitchFamily="34" charset="0"/>
                <a:ea typeface="Calibri" pitchFamily="34" charset="-122"/>
                <a:cs typeface="Calibri" pitchFamily="34" charset="-120"/>
              </a:rPr>
              <a:t>6</a:t>
            </a:r>
            <a:endParaRPr lang="en-US" sz="900" dirty="0"/>
          </a:p>
        </p:txBody>
      </p:sp>
      <p:sp>
        <p:nvSpPr>
          <p:cNvPr id="54" name="Text 51"/>
          <p:cNvSpPr txBox="1"/>
          <p:nvPr/>
        </p:nvSpPr>
        <p:spPr>
          <a:xfrm>
            <a:off x="5669280" y="1627632"/>
            <a:ext cx="86868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Analyse</a:t>
            </a:r>
            <a:endParaRPr lang="en-US" sz="850" dirty="0"/>
          </a:p>
        </p:txBody>
      </p:sp>
      <p:sp>
        <p:nvSpPr>
          <p:cNvPr id="55" name="Shape 52"/>
          <p:cNvSpPr/>
          <p:nvPr/>
        </p:nvSpPr>
        <p:spPr>
          <a:xfrm>
            <a:off x="5577840" y="2194560"/>
            <a:ext cx="960120" cy="1417320"/>
          </a:xfrm>
          <a:prstGeom prst="roundRect">
            <a:avLst>
              <a:gd name="adj" fmla="val 7619"/>
            </a:avLst>
          </a:prstGeom>
          <a:solidFill>
            <a:srgbClr val="F4F7F5"/>
          </a:solidFill>
          <a:ln w="9525">
            <a:solidFill>
              <a:srgbClr val="D5DED9"/>
            </a:solidFill>
            <a:prstDash val="solid"/>
          </a:ln>
        </p:spPr>
      </p:sp>
      <p:sp>
        <p:nvSpPr>
          <p:cNvPr id="56" name="Text 53"/>
          <p:cNvSpPr txBox="1"/>
          <p:nvPr/>
        </p:nvSpPr>
        <p:spPr>
          <a:xfrm>
            <a:off x="5650992" y="2304288"/>
            <a:ext cx="813816" cy="77724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Charts &amp; first-draft commentary</a:t>
            </a:r>
            <a:endParaRPr lang="en-US" sz="1000" dirty="0"/>
          </a:p>
        </p:txBody>
      </p:sp>
      <p:sp>
        <p:nvSpPr>
          <p:cNvPr id="57" name="Shape 54"/>
          <p:cNvSpPr/>
          <p:nvPr/>
        </p:nvSpPr>
        <p:spPr>
          <a:xfrm>
            <a:off x="5650992" y="3090672"/>
            <a:ext cx="201168" cy="201168"/>
          </a:xfrm>
          <a:prstGeom prst="roundRect">
            <a:avLst>
              <a:gd name="adj" fmla="val 50000"/>
            </a:avLst>
          </a:prstGeom>
          <a:solidFill>
            <a:srgbClr val="0E7C86"/>
          </a:solidFill>
          <a:ln w="9525">
            <a:solidFill>
              <a:srgbClr val="0E7C86"/>
            </a:solidFill>
            <a:prstDash val="solid"/>
          </a:ln>
        </p:spPr>
      </p:sp>
      <p:sp>
        <p:nvSpPr>
          <p:cNvPr id="58" name="Text 55"/>
          <p:cNvSpPr txBox="1"/>
          <p:nvPr/>
        </p:nvSpPr>
        <p:spPr>
          <a:xfrm>
            <a:off x="5650992" y="309067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a:t>
            </a:r>
            <a:endParaRPr lang="en-US" sz="800" dirty="0"/>
          </a:p>
        </p:txBody>
      </p:sp>
      <p:sp>
        <p:nvSpPr>
          <p:cNvPr id="59" name="Shape 56"/>
          <p:cNvSpPr/>
          <p:nvPr/>
        </p:nvSpPr>
        <p:spPr>
          <a:xfrm>
            <a:off x="5879592" y="3090672"/>
            <a:ext cx="201168" cy="201168"/>
          </a:xfrm>
          <a:prstGeom prst="roundRect">
            <a:avLst>
              <a:gd name="adj" fmla="val 50000"/>
            </a:avLst>
          </a:prstGeom>
          <a:solidFill>
            <a:srgbClr val="0E7C86"/>
          </a:solidFill>
          <a:ln w="9525">
            <a:solidFill>
              <a:srgbClr val="0E7C86"/>
            </a:solidFill>
            <a:prstDash val="solid"/>
          </a:ln>
        </p:spPr>
      </p:sp>
      <p:sp>
        <p:nvSpPr>
          <p:cNvPr id="60" name="Text 57"/>
          <p:cNvSpPr txBox="1"/>
          <p:nvPr/>
        </p:nvSpPr>
        <p:spPr>
          <a:xfrm>
            <a:off x="5879592" y="309067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a:t>
            </a:r>
            <a:endParaRPr lang="en-US" sz="800" dirty="0"/>
          </a:p>
        </p:txBody>
      </p:sp>
      <p:sp>
        <p:nvSpPr>
          <p:cNvPr id="61" name="Shape 58"/>
          <p:cNvSpPr/>
          <p:nvPr/>
        </p:nvSpPr>
        <p:spPr>
          <a:xfrm>
            <a:off x="6601968" y="1417320"/>
            <a:ext cx="1005840" cy="566928"/>
          </a:xfrm>
          <a:prstGeom prst="chevron">
            <a:avLst/>
          </a:prstGeom>
          <a:solidFill>
            <a:srgbClr val="00704A"/>
          </a:solidFill>
          <a:ln/>
        </p:spPr>
      </p:sp>
      <p:sp>
        <p:nvSpPr>
          <p:cNvPr id="62" name="Text 59"/>
          <p:cNvSpPr txBox="1"/>
          <p:nvPr/>
        </p:nvSpPr>
        <p:spPr>
          <a:xfrm>
            <a:off x="6784848" y="1453896"/>
            <a:ext cx="640080" cy="201168"/>
          </a:xfrm>
          <a:prstGeom prst="rect">
            <a:avLst/>
          </a:prstGeom>
          <a:noFill/>
          <a:ln/>
        </p:spPr>
        <p:txBody>
          <a:bodyPr wrap="square" lIns="0" tIns="0" rIns="0" bIns="0" rtlCol="0" anchor="t"/>
          <a:lstStyle/>
          <a:p>
            <a:pPr algn="ctr" indent="0" marL="0">
              <a:buNone/>
            </a:pPr>
            <a:r>
              <a:rPr lang="en-US" sz="900" b="1" dirty="0">
                <a:solidFill>
                  <a:srgbClr val="F5C242"/>
                </a:solidFill>
                <a:latin typeface="Calibri" pitchFamily="34" charset="0"/>
                <a:ea typeface="Calibri" pitchFamily="34" charset="-122"/>
                <a:cs typeface="Calibri" pitchFamily="34" charset="-120"/>
              </a:rPr>
              <a:t>7</a:t>
            </a:r>
            <a:endParaRPr lang="en-US" sz="900" dirty="0"/>
          </a:p>
        </p:txBody>
      </p:sp>
      <p:sp>
        <p:nvSpPr>
          <p:cNvPr id="63" name="Text 60"/>
          <p:cNvSpPr txBox="1"/>
          <p:nvPr/>
        </p:nvSpPr>
        <p:spPr>
          <a:xfrm>
            <a:off x="6693408" y="1627632"/>
            <a:ext cx="86868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Disseminate</a:t>
            </a:r>
            <a:endParaRPr lang="en-US" sz="850" dirty="0"/>
          </a:p>
        </p:txBody>
      </p:sp>
      <p:sp>
        <p:nvSpPr>
          <p:cNvPr id="64" name="Shape 61"/>
          <p:cNvSpPr/>
          <p:nvPr/>
        </p:nvSpPr>
        <p:spPr>
          <a:xfrm>
            <a:off x="6601968" y="2194560"/>
            <a:ext cx="960120" cy="1417320"/>
          </a:xfrm>
          <a:prstGeom prst="roundRect">
            <a:avLst>
              <a:gd name="adj" fmla="val 7619"/>
            </a:avLst>
          </a:prstGeom>
          <a:solidFill>
            <a:srgbClr val="E8F5EF"/>
          </a:solidFill>
          <a:ln w="15875">
            <a:solidFill>
              <a:srgbClr val="00A86A"/>
            </a:solidFill>
            <a:prstDash val="solid"/>
          </a:ln>
        </p:spPr>
      </p:sp>
      <p:sp>
        <p:nvSpPr>
          <p:cNvPr id="65" name="Text 62"/>
          <p:cNvSpPr txBox="1"/>
          <p:nvPr/>
        </p:nvSpPr>
        <p:spPr>
          <a:xfrm>
            <a:off x="6675120" y="2304288"/>
            <a:ext cx="813816" cy="77724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Reports, decks, visuals, audio</a:t>
            </a:r>
            <a:endParaRPr lang="en-US" sz="1000" dirty="0"/>
          </a:p>
        </p:txBody>
      </p:sp>
      <p:sp>
        <p:nvSpPr>
          <p:cNvPr id="66" name="Shape 63"/>
          <p:cNvSpPr/>
          <p:nvPr/>
        </p:nvSpPr>
        <p:spPr>
          <a:xfrm>
            <a:off x="6675120" y="2953512"/>
            <a:ext cx="201168" cy="201168"/>
          </a:xfrm>
          <a:prstGeom prst="roundRect">
            <a:avLst>
              <a:gd name="adj" fmla="val 50000"/>
            </a:avLst>
          </a:prstGeom>
          <a:solidFill>
            <a:srgbClr val="0E7C86"/>
          </a:solidFill>
          <a:ln w="9525">
            <a:solidFill>
              <a:srgbClr val="0E7C86"/>
            </a:solidFill>
            <a:prstDash val="solid"/>
          </a:ln>
        </p:spPr>
      </p:sp>
      <p:sp>
        <p:nvSpPr>
          <p:cNvPr id="67" name="Text 64"/>
          <p:cNvSpPr txBox="1"/>
          <p:nvPr/>
        </p:nvSpPr>
        <p:spPr>
          <a:xfrm>
            <a:off x="6675120" y="295351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a:t>
            </a:r>
            <a:endParaRPr lang="en-US" sz="800" dirty="0"/>
          </a:p>
        </p:txBody>
      </p:sp>
      <p:sp>
        <p:nvSpPr>
          <p:cNvPr id="68" name="Shape 65"/>
          <p:cNvSpPr/>
          <p:nvPr/>
        </p:nvSpPr>
        <p:spPr>
          <a:xfrm>
            <a:off x="6903720" y="2953512"/>
            <a:ext cx="201168" cy="201168"/>
          </a:xfrm>
          <a:prstGeom prst="roundRect">
            <a:avLst>
              <a:gd name="adj" fmla="val 50000"/>
            </a:avLst>
          </a:prstGeom>
          <a:solidFill>
            <a:srgbClr val="0E7C86"/>
          </a:solidFill>
          <a:ln w="9525">
            <a:solidFill>
              <a:srgbClr val="0E7C86"/>
            </a:solidFill>
            <a:prstDash val="solid"/>
          </a:ln>
        </p:spPr>
      </p:sp>
      <p:sp>
        <p:nvSpPr>
          <p:cNvPr id="69" name="Text 66"/>
          <p:cNvSpPr txBox="1"/>
          <p:nvPr/>
        </p:nvSpPr>
        <p:spPr>
          <a:xfrm>
            <a:off x="6903720" y="295351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a:t>
            </a:r>
            <a:endParaRPr lang="en-US" sz="800" dirty="0"/>
          </a:p>
        </p:txBody>
      </p:sp>
      <p:sp>
        <p:nvSpPr>
          <p:cNvPr id="70" name="Shape 67"/>
          <p:cNvSpPr/>
          <p:nvPr/>
        </p:nvSpPr>
        <p:spPr>
          <a:xfrm>
            <a:off x="7132320" y="2953512"/>
            <a:ext cx="201168" cy="201168"/>
          </a:xfrm>
          <a:prstGeom prst="roundRect">
            <a:avLst>
              <a:gd name="adj" fmla="val 50000"/>
            </a:avLst>
          </a:prstGeom>
          <a:solidFill>
            <a:srgbClr val="0E7C86"/>
          </a:solidFill>
          <a:ln w="9525">
            <a:solidFill>
              <a:srgbClr val="0E7C86"/>
            </a:solidFill>
            <a:prstDash val="solid"/>
          </a:ln>
        </p:spPr>
      </p:sp>
      <p:sp>
        <p:nvSpPr>
          <p:cNvPr id="71" name="Text 68"/>
          <p:cNvSpPr txBox="1"/>
          <p:nvPr/>
        </p:nvSpPr>
        <p:spPr>
          <a:xfrm>
            <a:off x="7132320" y="295351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a:t>
            </a:r>
            <a:endParaRPr lang="en-US" sz="800" dirty="0"/>
          </a:p>
        </p:txBody>
      </p:sp>
      <p:sp>
        <p:nvSpPr>
          <p:cNvPr id="72" name="Shape 69"/>
          <p:cNvSpPr/>
          <p:nvPr/>
        </p:nvSpPr>
        <p:spPr>
          <a:xfrm>
            <a:off x="6675120" y="3200400"/>
            <a:ext cx="201168" cy="201168"/>
          </a:xfrm>
          <a:prstGeom prst="roundRect">
            <a:avLst>
              <a:gd name="adj" fmla="val 50000"/>
            </a:avLst>
          </a:prstGeom>
          <a:solidFill>
            <a:srgbClr val="0E7C86"/>
          </a:solidFill>
          <a:ln w="9525">
            <a:solidFill>
              <a:srgbClr val="0E7C86"/>
            </a:solidFill>
            <a:prstDash val="solid"/>
          </a:ln>
        </p:spPr>
      </p:sp>
      <p:sp>
        <p:nvSpPr>
          <p:cNvPr id="73" name="Text 70"/>
          <p:cNvSpPr txBox="1"/>
          <p:nvPr/>
        </p:nvSpPr>
        <p:spPr>
          <a:xfrm>
            <a:off x="6675120" y="3200400"/>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a:t>
            </a:r>
            <a:endParaRPr lang="en-US" sz="800" dirty="0"/>
          </a:p>
        </p:txBody>
      </p:sp>
      <p:sp>
        <p:nvSpPr>
          <p:cNvPr id="74" name="Shape 71"/>
          <p:cNvSpPr/>
          <p:nvPr/>
        </p:nvSpPr>
        <p:spPr>
          <a:xfrm>
            <a:off x="6903720" y="3200400"/>
            <a:ext cx="201168" cy="201168"/>
          </a:xfrm>
          <a:prstGeom prst="roundRect">
            <a:avLst>
              <a:gd name="adj" fmla="val 50000"/>
            </a:avLst>
          </a:prstGeom>
          <a:solidFill>
            <a:srgbClr val="0E7C86"/>
          </a:solidFill>
          <a:ln w="9525">
            <a:solidFill>
              <a:srgbClr val="0E7C86"/>
            </a:solidFill>
            <a:prstDash val="solid"/>
          </a:ln>
        </p:spPr>
      </p:sp>
      <p:sp>
        <p:nvSpPr>
          <p:cNvPr id="75" name="Text 72"/>
          <p:cNvSpPr txBox="1"/>
          <p:nvPr/>
        </p:nvSpPr>
        <p:spPr>
          <a:xfrm>
            <a:off x="6903720" y="3200400"/>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a:t>
            </a:r>
            <a:endParaRPr lang="en-US" sz="800" dirty="0"/>
          </a:p>
        </p:txBody>
      </p:sp>
      <p:sp>
        <p:nvSpPr>
          <p:cNvPr id="76" name="Shape 73"/>
          <p:cNvSpPr/>
          <p:nvPr/>
        </p:nvSpPr>
        <p:spPr>
          <a:xfrm>
            <a:off x="7626096" y="1417320"/>
            <a:ext cx="1005840" cy="566928"/>
          </a:xfrm>
          <a:prstGeom prst="chevron">
            <a:avLst/>
          </a:prstGeom>
          <a:solidFill>
            <a:srgbClr val="00A86A">
              <a:alpha val="86000"/>
            </a:srgbClr>
          </a:solidFill>
          <a:ln/>
        </p:spPr>
      </p:sp>
      <p:sp>
        <p:nvSpPr>
          <p:cNvPr id="77" name="Text 74"/>
          <p:cNvSpPr txBox="1"/>
          <p:nvPr/>
        </p:nvSpPr>
        <p:spPr>
          <a:xfrm>
            <a:off x="7808976" y="1453896"/>
            <a:ext cx="640080" cy="201168"/>
          </a:xfrm>
          <a:prstGeom prst="rect">
            <a:avLst/>
          </a:prstGeom>
          <a:noFill/>
          <a:ln/>
        </p:spPr>
        <p:txBody>
          <a:bodyPr wrap="square" lIns="0" tIns="0" rIns="0" bIns="0" rtlCol="0" anchor="t"/>
          <a:lstStyle/>
          <a:p>
            <a:pPr algn="ctr" indent="0" marL="0">
              <a:buNone/>
            </a:pPr>
            <a:r>
              <a:rPr lang="en-US" sz="900" b="1" dirty="0">
                <a:solidFill>
                  <a:srgbClr val="F5C242"/>
                </a:solidFill>
                <a:latin typeface="Calibri" pitchFamily="34" charset="0"/>
                <a:ea typeface="Calibri" pitchFamily="34" charset="-122"/>
                <a:cs typeface="Calibri" pitchFamily="34" charset="-120"/>
              </a:rPr>
              <a:t>8</a:t>
            </a:r>
            <a:endParaRPr lang="en-US" sz="900" dirty="0"/>
          </a:p>
        </p:txBody>
      </p:sp>
      <p:sp>
        <p:nvSpPr>
          <p:cNvPr id="78" name="Text 75"/>
          <p:cNvSpPr txBox="1"/>
          <p:nvPr/>
        </p:nvSpPr>
        <p:spPr>
          <a:xfrm>
            <a:off x="7717536" y="1627632"/>
            <a:ext cx="86868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Evaluate</a:t>
            </a:r>
            <a:endParaRPr lang="en-US" sz="850" dirty="0"/>
          </a:p>
        </p:txBody>
      </p:sp>
      <p:sp>
        <p:nvSpPr>
          <p:cNvPr id="79" name="Shape 76"/>
          <p:cNvSpPr/>
          <p:nvPr/>
        </p:nvSpPr>
        <p:spPr>
          <a:xfrm>
            <a:off x="7626096" y="2194560"/>
            <a:ext cx="960120" cy="1417320"/>
          </a:xfrm>
          <a:prstGeom prst="roundRect">
            <a:avLst>
              <a:gd name="adj" fmla="val 7619"/>
            </a:avLst>
          </a:prstGeom>
          <a:solidFill>
            <a:srgbClr val="F4F7F5"/>
          </a:solidFill>
          <a:ln w="9525">
            <a:solidFill>
              <a:srgbClr val="D5DED9"/>
            </a:solidFill>
            <a:prstDash val="solid"/>
          </a:ln>
        </p:spPr>
      </p:sp>
      <p:sp>
        <p:nvSpPr>
          <p:cNvPr id="80" name="Text 77"/>
          <p:cNvSpPr txBox="1"/>
          <p:nvPr/>
        </p:nvSpPr>
        <p:spPr>
          <a:xfrm>
            <a:off x="7699248" y="2304288"/>
            <a:ext cx="813816" cy="77724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Review docs against standards</a:t>
            </a:r>
            <a:endParaRPr lang="en-US" sz="1000" dirty="0"/>
          </a:p>
        </p:txBody>
      </p:sp>
      <p:sp>
        <p:nvSpPr>
          <p:cNvPr id="81" name="Shape 78"/>
          <p:cNvSpPr/>
          <p:nvPr/>
        </p:nvSpPr>
        <p:spPr>
          <a:xfrm>
            <a:off x="7699248" y="3090672"/>
            <a:ext cx="201168" cy="201168"/>
          </a:xfrm>
          <a:prstGeom prst="roundRect">
            <a:avLst>
              <a:gd name="adj" fmla="val 50000"/>
            </a:avLst>
          </a:prstGeom>
          <a:solidFill>
            <a:srgbClr val="0E7C86"/>
          </a:solidFill>
          <a:ln w="9525">
            <a:solidFill>
              <a:srgbClr val="0E7C86"/>
            </a:solidFill>
            <a:prstDash val="solid"/>
          </a:ln>
        </p:spPr>
      </p:sp>
      <p:sp>
        <p:nvSpPr>
          <p:cNvPr id="82" name="Text 79"/>
          <p:cNvSpPr txBox="1"/>
          <p:nvPr/>
        </p:nvSpPr>
        <p:spPr>
          <a:xfrm>
            <a:off x="7699248" y="309067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a:t>
            </a:r>
            <a:endParaRPr lang="en-US" sz="800" dirty="0"/>
          </a:p>
        </p:txBody>
      </p:sp>
      <p:sp>
        <p:nvSpPr>
          <p:cNvPr id="83" name="Shape 80"/>
          <p:cNvSpPr/>
          <p:nvPr/>
        </p:nvSpPr>
        <p:spPr>
          <a:xfrm>
            <a:off x="457200" y="3886200"/>
            <a:ext cx="438912" cy="438912"/>
          </a:xfrm>
          <a:prstGeom prst="ellipse">
            <a:avLst/>
          </a:prstGeom>
          <a:solidFill>
            <a:srgbClr val="D49A00">
              <a:alpha val="22000"/>
            </a:srgbClr>
          </a:solidFill>
          <a:ln/>
        </p:spPr>
      </p:sp>
      <p:pic>
        <p:nvPicPr>
          <p:cNvPr id="84" name="Image 0" descr="preencoded.png">    </p:cNvPr>
          <p:cNvPicPr>
            <a:picLocks noChangeAspect="1"/>
          </p:cNvPicPr>
          <p:nvPr/>
        </p:nvPicPr>
        <p:blipFill>
          <a:blip r:embed="rId1"/>
          <a:stretch>
            <a:fillRect/>
          </a:stretch>
        </p:blipFill>
        <p:spPr>
          <a:xfrm>
            <a:off x="566928" y="3995928"/>
            <a:ext cx="219456" cy="219456"/>
          </a:xfrm>
          <a:prstGeom prst="rect">
            <a:avLst/>
          </a:prstGeom>
        </p:spPr>
      </p:pic>
      <p:sp>
        <p:nvSpPr>
          <p:cNvPr id="85" name="Text 81"/>
          <p:cNvSpPr txBox="1"/>
          <p:nvPr/>
        </p:nvSpPr>
        <p:spPr>
          <a:xfrm>
            <a:off x="1005840" y="3904488"/>
            <a:ext cx="6949440" cy="41148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Reading the map: </a:t>
            </a:r>
            <a:pPr indent="0" marL="0">
              <a:buNone/>
            </a:pPr>
            <a:r>
              <a:rPr lang="en-US" sz="1150" dirty="0">
                <a:solidFill>
                  <a:srgbClr val="231F20"/>
                </a:solidFill>
                <a:latin typeface="Calibri" pitchFamily="34" charset="0"/>
                <a:ea typeface="Calibri" pitchFamily="34" charset="-122"/>
                <a:cs typeface="Calibri" pitchFamily="34" charset="-120"/>
              </a:rPr>
              <a:t>letters point to today's stations. The LLM assists a phase; it never owns it — the process owner and the quality standards stay the same.</a:t>
            </a:r>
            <a:endParaRPr lang="en-US" sz="1150" dirty="0"/>
          </a:p>
        </p:txBody>
      </p:sp>
      <p:sp>
        <p:nvSpPr>
          <p:cNvPr id="86" name="Text 82"/>
          <p:cNvSpPr txBox="1"/>
          <p:nvPr/>
        </p:nvSpPr>
        <p:spPr>
          <a:xfrm>
            <a:off x="457200" y="4462272"/>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Sources: UNECE, GSBPM v5.1 (2019); HLG-MOS, Large Language Models for Official Statistics, white paper (Dec. 2023).</a:t>
            </a:r>
            <a:endParaRPr lang="en-US" sz="9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FRAMING</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One recipe behind every station: R · C · T · F · C</a:t>
            </a:r>
            <a:endParaRPr lang="en-US" sz="2600" dirty="0"/>
          </a:p>
        </p:txBody>
      </p:sp>
      <p:sp>
        <p:nvSpPr>
          <p:cNvPr id="8" name="Shape 6"/>
          <p:cNvSpPr/>
          <p:nvPr/>
        </p:nvSpPr>
        <p:spPr>
          <a:xfrm>
            <a:off x="7882128" y="329184"/>
            <a:ext cx="82296" cy="82296"/>
          </a:xfrm>
          <a:prstGeom prst="ellipse">
            <a:avLst/>
          </a:prstGeom>
          <a:solidFill>
            <a:srgbClr val="00A86A"/>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STG17 · One Model, Many Jobs — an LLM Toolkit for Statisticians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5</a:t>
            </a:r>
            <a:endParaRPr lang="en-US" sz="850" dirty="0"/>
          </a:p>
        </p:txBody>
      </p:sp>
      <p:sp>
        <p:nvSpPr>
          <p:cNvPr id="17" name="Shape 14"/>
          <p:cNvSpPr/>
          <p:nvPr/>
        </p:nvSpPr>
        <p:spPr>
          <a:xfrm>
            <a:off x="457200" y="1371600"/>
            <a:ext cx="1481328" cy="1874520"/>
          </a:xfrm>
          <a:prstGeom prst="roundRect">
            <a:avLst>
              <a:gd name="adj" fmla="val 4938"/>
            </a:avLst>
          </a:prstGeom>
          <a:solidFill>
            <a:srgbClr val="F4F7F5"/>
          </a:solidFill>
          <a:ln w="9525">
            <a:solidFill>
              <a:srgbClr val="D5DED9"/>
            </a:solidFill>
            <a:prstDash val="solid"/>
          </a:ln>
        </p:spPr>
      </p:sp>
      <p:sp>
        <p:nvSpPr>
          <p:cNvPr id="18" name="Shape 15"/>
          <p:cNvSpPr/>
          <p:nvPr/>
        </p:nvSpPr>
        <p:spPr>
          <a:xfrm>
            <a:off x="594360" y="1508760"/>
            <a:ext cx="420624" cy="420624"/>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699516" y="1613916"/>
            <a:ext cx="210312" cy="210312"/>
          </a:xfrm>
          <a:prstGeom prst="rect">
            <a:avLst/>
          </a:prstGeom>
        </p:spPr>
      </p:pic>
      <p:sp>
        <p:nvSpPr>
          <p:cNvPr id="20" name="Text 16"/>
          <p:cNvSpPr txBox="1"/>
          <p:nvPr/>
        </p:nvSpPr>
        <p:spPr>
          <a:xfrm>
            <a:off x="1097280" y="1517904"/>
            <a:ext cx="822960" cy="237744"/>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Role</a:t>
            </a:r>
            <a:endParaRPr lang="en-US" sz="1500" dirty="0"/>
          </a:p>
        </p:txBody>
      </p:sp>
      <p:sp>
        <p:nvSpPr>
          <p:cNvPr id="21" name="Text 17"/>
          <p:cNvSpPr txBox="1"/>
          <p:nvPr/>
        </p:nvSpPr>
        <p:spPr>
          <a:xfrm>
            <a:off x="1097280" y="1755648"/>
            <a:ext cx="82296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Who should the model be?</a:t>
            </a:r>
            <a:endParaRPr lang="en-US" sz="900" dirty="0"/>
          </a:p>
        </p:txBody>
      </p:sp>
      <p:sp>
        <p:nvSpPr>
          <p:cNvPr id="22" name="Text 18"/>
          <p:cNvSpPr txBox="1"/>
          <p:nvPr/>
        </p:nvSpPr>
        <p:spPr>
          <a:xfrm>
            <a:off x="594360" y="2084832"/>
            <a:ext cx="1207008" cy="1097280"/>
          </a:xfrm>
          <a:prstGeom prst="rect">
            <a:avLst/>
          </a:prstGeom>
          <a:noFill/>
          <a:ln/>
        </p:spPr>
        <p:txBody>
          <a:bodyPr wrap="square" lIns="0" tIns="0" rIns="0" bIns="0" rtlCol="0" anchor="t"/>
          <a:lstStyle/>
          <a:p>
            <a:pPr indent="0" marL="0">
              <a:buNone/>
            </a:pPr>
            <a:r>
              <a:rPr lang="en-US" sz="1050" i="1" dirty="0">
                <a:solidFill>
                  <a:srgbClr val="231F20"/>
                </a:solidFill>
                <a:latin typeface="Calibri" pitchFamily="34" charset="0"/>
                <a:ea typeface="Calibri" pitchFamily="34" charset="-122"/>
                <a:cs typeface="Calibri" pitchFamily="34" charset="-120"/>
              </a:rPr>
              <a:t>“You are a senior economic statistician at a national statistics office.”</a:t>
            </a:r>
            <a:endParaRPr lang="en-US" sz="1050" dirty="0"/>
          </a:p>
        </p:txBody>
      </p:sp>
      <p:sp>
        <p:nvSpPr>
          <p:cNvPr id="23" name="Shape 19"/>
          <p:cNvSpPr/>
          <p:nvPr/>
        </p:nvSpPr>
        <p:spPr>
          <a:xfrm>
            <a:off x="2029968" y="1371600"/>
            <a:ext cx="1481328" cy="1874520"/>
          </a:xfrm>
          <a:prstGeom prst="roundRect">
            <a:avLst>
              <a:gd name="adj" fmla="val 4938"/>
            </a:avLst>
          </a:prstGeom>
          <a:solidFill>
            <a:srgbClr val="F4F7F5"/>
          </a:solidFill>
          <a:ln w="9525">
            <a:solidFill>
              <a:srgbClr val="D5DED9"/>
            </a:solidFill>
            <a:prstDash val="solid"/>
          </a:ln>
        </p:spPr>
      </p:sp>
      <p:sp>
        <p:nvSpPr>
          <p:cNvPr id="24" name="Shape 20"/>
          <p:cNvSpPr/>
          <p:nvPr/>
        </p:nvSpPr>
        <p:spPr>
          <a:xfrm>
            <a:off x="2167128" y="1508760"/>
            <a:ext cx="420624" cy="420624"/>
          </a:xfrm>
          <a:prstGeom prst="ellipse">
            <a:avLst/>
          </a:prstGeom>
          <a:solidFill>
            <a:srgbClr val="00704A">
              <a:alpha val="22000"/>
            </a:srgbClr>
          </a:solidFill>
          <a:ln/>
        </p:spPr>
      </p:sp>
      <p:pic>
        <p:nvPicPr>
          <p:cNvPr id="25" name="Image 1" descr="preencoded.png">    </p:cNvPr>
          <p:cNvPicPr>
            <a:picLocks noChangeAspect="1"/>
          </p:cNvPicPr>
          <p:nvPr/>
        </p:nvPicPr>
        <p:blipFill>
          <a:blip r:embed="rId2"/>
          <a:stretch>
            <a:fillRect/>
          </a:stretch>
        </p:blipFill>
        <p:spPr>
          <a:xfrm>
            <a:off x="2272284" y="1613916"/>
            <a:ext cx="210312" cy="210312"/>
          </a:xfrm>
          <a:prstGeom prst="rect">
            <a:avLst/>
          </a:prstGeom>
        </p:spPr>
      </p:pic>
      <p:sp>
        <p:nvSpPr>
          <p:cNvPr id="26" name="Text 21"/>
          <p:cNvSpPr txBox="1"/>
          <p:nvPr/>
        </p:nvSpPr>
        <p:spPr>
          <a:xfrm>
            <a:off x="2670048" y="1517904"/>
            <a:ext cx="822960" cy="237744"/>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Context</a:t>
            </a:r>
            <a:endParaRPr lang="en-US" sz="1500" dirty="0"/>
          </a:p>
        </p:txBody>
      </p:sp>
      <p:sp>
        <p:nvSpPr>
          <p:cNvPr id="27" name="Text 22"/>
          <p:cNvSpPr txBox="1"/>
          <p:nvPr/>
        </p:nvSpPr>
        <p:spPr>
          <a:xfrm>
            <a:off x="2670048" y="1755648"/>
            <a:ext cx="82296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What may it use?</a:t>
            </a:r>
            <a:endParaRPr lang="en-US" sz="900" dirty="0"/>
          </a:p>
        </p:txBody>
      </p:sp>
      <p:sp>
        <p:nvSpPr>
          <p:cNvPr id="28" name="Text 23"/>
          <p:cNvSpPr txBox="1"/>
          <p:nvPr/>
        </p:nvSpPr>
        <p:spPr>
          <a:xfrm>
            <a:off x="2167128" y="2084832"/>
            <a:ext cx="1207008" cy="1097280"/>
          </a:xfrm>
          <a:prstGeom prst="rect">
            <a:avLst/>
          </a:prstGeom>
          <a:noFill/>
          <a:ln/>
        </p:spPr>
        <p:txBody>
          <a:bodyPr wrap="square" lIns="0" tIns="0" rIns="0" bIns="0" rtlCol="0" anchor="t"/>
          <a:lstStyle/>
          <a:p>
            <a:pPr indent="0" marL="0">
              <a:buNone/>
            </a:pPr>
            <a:r>
              <a:rPr lang="en-US" sz="1050" i="1" dirty="0">
                <a:solidFill>
                  <a:srgbClr val="231F20"/>
                </a:solidFill>
                <a:latin typeface="Calibri" pitchFamily="34" charset="0"/>
                <a:ea typeface="Calibri" pitchFamily="34" charset="-122"/>
                <a:cs typeface="Calibri" pitchFamily="34" charset="-120"/>
              </a:rPr>
              <a:t>“Use ONLY the table below (regional CPI, 2025).”</a:t>
            </a:r>
            <a:endParaRPr lang="en-US" sz="1050" dirty="0"/>
          </a:p>
        </p:txBody>
      </p:sp>
      <p:sp>
        <p:nvSpPr>
          <p:cNvPr id="29" name="Shape 24"/>
          <p:cNvSpPr/>
          <p:nvPr/>
        </p:nvSpPr>
        <p:spPr>
          <a:xfrm>
            <a:off x="3602736" y="1371600"/>
            <a:ext cx="1481328" cy="1874520"/>
          </a:xfrm>
          <a:prstGeom prst="roundRect">
            <a:avLst>
              <a:gd name="adj" fmla="val 4938"/>
            </a:avLst>
          </a:prstGeom>
          <a:solidFill>
            <a:srgbClr val="F4F7F5"/>
          </a:solidFill>
          <a:ln w="9525">
            <a:solidFill>
              <a:srgbClr val="D5DED9"/>
            </a:solidFill>
            <a:prstDash val="solid"/>
          </a:ln>
        </p:spPr>
      </p:sp>
      <p:sp>
        <p:nvSpPr>
          <p:cNvPr id="30" name="Shape 25"/>
          <p:cNvSpPr/>
          <p:nvPr/>
        </p:nvSpPr>
        <p:spPr>
          <a:xfrm>
            <a:off x="3739896" y="1508760"/>
            <a:ext cx="420624" cy="420624"/>
          </a:xfrm>
          <a:prstGeom prst="ellipse">
            <a:avLst/>
          </a:prstGeom>
          <a:solidFill>
            <a:srgbClr val="0E7C86">
              <a:alpha val="22000"/>
            </a:srgbClr>
          </a:solidFill>
          <a:ln/>
        </p:spPr>
      </p:sp>
      <p:pic>
        <p:nvPicPr>
          <p:cNvPr id="31" name="Image 2" descr="preencoded.png">    </p:cNvPr>
          <p:cNvPicPr>
            <a:picLocks noChangeAspect="1"/>
          </p:cNvPicPr>
          <p:nvPr/>
        </p:nvPicPr>
        <p:blipFill>
          <a:blip r:embed="rId3"/>
          <a:stretch>
            <a:fillRect/>
          </a:stretch>
        </p:blipFill>
        <p:spPr>
          <a:xfrm>
            <a:off x="3845052" y="1613916"/>
            <a:ext cx="210312" cy="210312"/>
          </a:xfrm>
          <a:prstGeom prst="rect">
            <a:avLst/>
          </a:prstGeom>
        </p:spPr>
      </p:pic>
      <p:sp>
        <p:nvSpPr>
          <p:cNvPr id="32" name="Text 26"/>
          <p:cNvSpPr txBox="1"/>
          <p:nvPr/>
        </p:nvSpPr>
        <p:spPr>
          <a:xfrm>
            <a:off x="4242816" y="1517904"/>
            <a:ext cx="822960" cy="237744"/>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Task</a:t>
            </a:r>
            <a:endParaRPr lang="en-US" sz="1500" dirty="0"/>
          </a:p>
        </p:txBody>
      </p:sp>
      <p:sp>
        <p:nvSpPr>
          <p:cNvPr id="33" name="Text 27"/>
          <p:cNvSpPr txBox="1"/>
          <p:nvPr/>
        </p:nvSpPr>
        <p:spPr>
          <a:xfrm>
            <a:off x="4242816" y="1755648"/>
            <a:ext cx="82296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One clear verb</a:t>
            </a:r>
            <a:endParaRPr lang="en-US" sz="900" dirty="0"/>
          </a:p>
        </p:txBody>
      </p:sp>
      <p:sp>
        <p:nvSpPr>
          <p:cNvPr id="34" name="Text 28"/>
          <p:cNvSpPr txBox="1"/>
          <p:nvPr/>
        </p:nvSpPr>
        <p:spPr>
          <a:xfrm>
            <a:off x="3739896" y="2084832"/>
            <a:ext cx="1207008" cy="1097280"/>
          </a:xfrm>
          <a:prstGeom prst="rect">
            <a:avLst/>
          </a:prstGeom>
          <a:noFill/>
          <a:ln/>
        </p:spPr>
        <p:txBody>
          <a:bodyPr wrap="square" lIns="0" tIns="0" rIns="0" bIns="0" rtlCol="0" anchor="t"/>
          <a:lstStyle/>
          <a:p>
            <a:pPr indent="0" marL="0">
              <a:buNone/>
            </a:pPr>
            <a:r>
              <a:rPr lang="en-US" sz="1050" i="1" dirty="0">
                <a:solidFill>
                  <a:srgbClr val="231F20"/>
                </a:solidFill>
                <a:latin typeface="Calibri" pitchFamily="34" charset="0"/>
                <a:ea typeface="Calibri" pitchFamily="34" charset="-122"/>
                <a:cs typeface="Calibri" pitchFamily="34" charset="-120"/>
              </a:rPr>
              <a:t>“Draft a 200-word commentary on regional inflation.”</a:t>
            </a:r>
            <a:endParaRPr lang="en-US" sz="1050" dirty="0"/>
          </a:p>
        </p:txBody>
      </p:sp>
      <p:sp>
        <p:nvSpPr>
          <p:cNvPr id="35" name="Shape 29"/>
          <p:cNvSpPr/>
          <p:nvPr/>
        </p:nvSpPr>
        <p:spPr>
          <a:xfrm>
            <a:off x="5175504" y="1371600"/>
            <a:ext cx="1481328" cy="1874520"/>
          </a:xfrm>
          <a:prstGeom prst="roundRect">
            <a:avLst>
              <a:gd name="adj" fmla="val 4938"/>
            </a:avLst>
          </a:prstGeom>
          <a:solidFill>
            <a:srgbClr val="F4F7F5"/>
          </a:solidFill>
          <a:ln w="9525">
            <a:solidFill>
              <a:srgbClr val="D5DED9"/>
            </a:solidFill>
            <a:prstDash val="solid"/>
          </a:ln>
        </p:spPr>
      </p:sp>
      <p:sp>
        <p:nvSpPr>
          <p:cNvPr id="36" name="Shape 30"/>
          <p:cNvSpPr/>
          <p:nvPr/>
        </p:nvSpPr>
        <p:spPr>
          <a:xfrm>
            <a:off x="5312664" y="1508760"/>
            <a:ext cx="420624" cy="420624"/>
          </a:xfrm>
          <a:prstGeom prst="ellipse">
            <a:avLst/>
          </a:prstGeom>
          <a:solidFill>
            <a:srgbClr val="D49A00">
              <a:alpha val="22000"/>
            </a:srgbClr>
          </a:solidFill>
          <a:ln/>
        </p:spPr>
      </p:sp>
      <p:pic>
        <p:nvPicPr>
          <p:cNvPr id="37" name="Image 3" descr="preencoded.png">    </p:cNvPr>
          <p:cNvPicPr>
            <a:picLocks noChangeAspect="1"/>
          </p:cNvPicPr>
          <p:nvPr/>
        </p:nvPicPr>
        <p:blipFill>
          <a:blip r:embed="rId4"/>
          <a:stretch>
            <a:fillRect/>
          </a:stretch>
        </p:blipFill>
        <p:spPr>
          <a:xfrm>
            <a:off x="5417820" y="1613916"/>
            <a:ext cx="210312" cy="210312"/>
          </a:xfrm>
          <a:prstGeom prst="rect">
            <a:avLst/>
          </a:prstGeom>
        </p:spPr>
      </p:pic>
      <p:sp>
        <p:nvSpPr>
          <p:cNvPr id="38" name="Text 31"/>
          <p:cNvSpPr txBox="1"/>
          <p:nvPr/>
        </p:nvSpPr>
        <p:spPr>
          <a:xfrm>
            <a:off x="5815584" y="1517904"/>
            <a:ext cx="822960" cy="237744"/>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Format</a:t>
            </a:r>
            <a:endParaRPr lang="en-US" sz="1500" dirty="0"/>
          </a:p>
        </p:txBody>
      </p:sp>
      <p:sp>
        <p:nvSpPr>
          <p:cNvPr id="39" name="Text 32"/>
          <p:cNvSpPr txBox="1"/>
          <p:nvPr/>
        </p:nvSpPr>
        <p:spPr>
          <a:xfrm>
            <a:off x="5815584" y="1755648"/>
            <a:ext cx="82296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Shape of the output</a:t>
            </a:r>
            <a:endParaRPr lang="en-US" sz="900" dirty="0"/>
          </a:p>
        </p:txBody>
      </p:sp>
      <p:sp>
        <p:nvSpPr>
          <p:cNvPr id="40" name="Text 33"/>
          <p:cNvSpPr txBox="1"/>
          <p:nvPr/>
        </p:nvSpPr>
        <p:spPr>
          <a:xfrm>
            <a:off x="5312664" y="2084832"/>
            <a:ext cx="1207008" cy="1097280"/>
          </a:xfrm>
          <a:prstGeom prst="rect">
            <a:avLst/>
          </a:prstGeom>
          <a:noFill/>
          <a:ln/>
        </p:spPr>
        <p:txBody>
          <a:bodyPr wrap="square" lIns="0" tIns="0" rIns="0" bIns="0" rtlCol="0" anchor="t"/>
          <a:lstStyle/>
          <a:p>
            <a:pPr indent="0" marL="0">
              <a:buNone/>
            </a:pPr>
            <a:r>
              <a:rPr lang="en-US" sz="1050" i="1" dirty="0">
                <a:solidFill>
                  <a:srgbClr val="231F20"/>
                </a:solidFill>
                <a:latin typeface="Calibri" pitchFamily="34" charset="0"/>
                <a:ea typeface="Calibri" pitchFamily="34" charset="-122"/>
                <a:cs typeface="Calibri" pitchFamily="34" charset="-120"/>
              </a:rPr>
              <a:t>“Return Markdown with 3 headings; numbers with 1 decimal.”</a:t>
            </a:r>
            <a:endParaRPr lang="en-US" sz="1050" dirty="0"/>
          </a:p>
        </p:txBody>
      </p:sp>
      <p:sp>
        <p:nvSpPr>
          <p:cNvPr id="41" name="Shape 34"/>
          <p:cNvSpPr/>
          <p:nvPr/>
        </p:nvSpPr>
        <p:spPr>
          <a:xfrm>
            <a:off x="6748272" y="1371600"/>
            <a:ext cx="1481328" cy="1874520"/>
          </a:xfrm>
          <a:prstGeom prst="roundRect">
            <a:avLst>
              <a:gd name="adj" fmla="val 4938"/>
            </a:avLst>
          </a:prstGeom>
          <a:solidFill>
            <a:srgbClr val="E8F5EF"/>
          </a:solidFill>
          <a:ln w="15875">
            <a:solidFill>
              <a:srgbClr val="00A86A"/>
            </a:solidFill>
            <a:prstDash val="solid"/>
          </a:ln>
        </p:spPr>
      </p:sp>
      <p:sp>
        <p:nvSpPr>
          <p:cNvPr id="42" name="Shape 35"/>
          <p:cNvSpPr/>
          <p:nvPr/>
        </p:nvSpPr>
        <p:spPr>
          <a:xfrm>
            <a:off x="6885432" y="1508760"/>
            <a:ext cx="420624" cy="420624"/>
          </a:xfrm>
          <a:prstGeom prst="ellipse">
            <a:avLst/>
          </a:prstGeom>
          <a:solidFill>
            <a:srgbClr val="C4621D">
              <a:alpha val="22000"/>
            </a:srgbClr>
          </a:solidFill>
          <a:ln/>
        </p:spPr>
      </p:sp>
      <p:pic>
        <p:nvPicPr>
          <p:cNvPr id="43" name="Image 4" descr="preencoded.png">    </p:cNvPr>
          <p:cNvPicPr>
            <a:picLocks noChangeAspect="1"/>
          </p:cNvPicPr>
          <p:nvPr/>
        </p:nvPicPr>
        <p:blipFill>
          <a:blip r:embed="rId5"/>
          <a:stretch>
            <a:fillRect/>
          </a:stretch>
        </p:blipFill>
        <p:spPr>
          <a:xfrm>
            <a:off x="6990588" y="1613916"/>
            <a:ext cx="210312" cy="210312"/>
          </a:xfrm>
          <a:prstGeom prst="rect">
            <a:avLst/>
          </a:prstGeom>
        </p:spPr>
      </p:pic>
      <p:sp>
        <p:nvSpPr>
          <p:cNvPr id="44" name="Text 36"/>
          <p:cNvSpPr txBox="1"/>
          <p:nvPr/>
        </p:nvSpPr>
        <p:spPr>
          <a:xfrm>
            <a:off x="7388352" y="1517904"/>
            <a:ext cx="822960" cy="237744"/>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Check</a:t>
            </a:r>
            <a:endParaRPr lang="en-US" sz="1500" dirty="0"/>
          </a:p>
        </p:txBody>
      </p:sp>
      <p:sp>
        <p:nvSpPr>
          <p:cNvPr id="45" name="Text 37"/>
          <p:cNvSpPr txBox="1"/>
          <p:nvPr/>
        </p:nvSpPr>
        <p:spPr>
          <a:xfrm>
            <a:off x="7388352" y="1755648"/>
            <a:ext cx="82296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Honesty clause</a:t>
            </a:r>
            <a:endParaRPr lang="en-US" sz="900" dirty="0"/>
          </a:p>
        </p:txBody>
      </p:sp>
      <p:sp>
        <p:nvSpPr>
          <p:cNvPr id="46" name="Text 38"/>
          <p:cNvSpPr txBox="1"/>
          <p:nvPr/>
        </p:nvSpPr>
        <p:spPr>
          <a:xfrm>
            <a:off x="6885432" y="2084832"/>
            <a:ext cx="1207008" cy="1097280"/>
          </a:xfrm>
          <a:prstGeom prst="rect">
            <a:avLst/>
          </a:prstGeom>
          <a:noFill/>
          <a:ln/>
        </p:spPr>
        <p:txBody>
          <a:bodyPr wrap="square" lIns="0" tIns="0" rIns="0" bIns="0" rtlCol="0" anchor="t"/>
          <a:lstStyle/>
          <a:p>
            <a:pPr indent="0" marL="0">
              <a:buNone/>
            </a:pPr>
            <a:r>
              <a:rPr lang="en-US" sz="1050" i="1" dirty="0">
                <a:solidFill>
                  <a:srgbClr val="231F20"/>
                </a:solidFill>
                <a:latin typeface="Calibri" pitchFamily="34" charset="0"/>
                <a:ea typeface="Calibri" pitchFamily="34" charset="-122"/>
                <a:cs typeface="Calibri" pitchFamily="34" charset="-120"/>
              </a:rPr>
              <a:t>“If a figure is not in the table, write [MISSING].”</a:t>
            </a:r>
            <a:endParaRPr lang="en-US" sz="1050" dirty="0"/>
          </a:p>
        </p:txBody>
      </p:sp>
      <p:sp>
        <p:nvSpPr>
          <p:cNvPr id="47" name="Shape 39"/>
          <p:cNvSpPr/>
          <p:nvPr/>
        </p:nvSpPr>
        <p:spPr>
          <a:xfrm>
            <a:off x="457200" y="3429000"/>
            <a:ext cx="8229600" cy="1005840"/>
          </a:xfrm>
          <a:prstGeom prst="roundRect">
            <a:avLst>
              <a:gd name="adj" fmla="val 7273"/>
            </a:avLst>
          </a:prstGeom>
          <a:solidFill>
            <a:srgbClr val="FFFFFF"/>
          </a:solidFill>
          <a:ln w="12700">
            <a:solidFill>
              <a:srgbClr val="00704A"/>
            </a:solidFill>
            <a:prstDash val="solid"/>
          </a:ln>
        </p:spPr>
      </p:sp>
      <p:sp>
        <p:nvSpPr>
          <p:cNvPr id="48" name="Text 40"/>
          <p:cNvSpPr txBox="1"/>
          <p:nvPr/>
        </p:nvSpPr>
        <p:spPr>
          <a:xfrm>
            <a:off x="640080" y="3502152"/>
            <a:ext cx="3657600" cy="182880"/>
          </a:xfrm>
          <a:prstGeom prst="rect">
            <a:avLst/>
          </a:prstGeom>
          <a:noFill/>
          <a:ln/>
        </p:spPr>
        <p:txBody>
          <a:bodyPr wrap="square" lIns="0" tIns="0" rIns="0" bIns="0" rtlCol="0" anchor="t"/>
          <a:lstStyle/>
          <a:p>
            <a:pPr indent="0" marL="0">
              <a:buNone/>
            </a:pPr>
            <a:r>
              <a:rPr lang="en-US" sz="900" b="1" spc="200" kern="0" dirty="0">
                <a:solidFill>
                  <a:srgbClr val="00704A"/>
                </a:solidFill>
                <a:latin typeface="Calibri" pitchFamily="34" charset="0"/>
                <a:ea typeface="Calibri" pitchFamily="34" charset="-122"/>
                <a:cs typeface="Calibri" pitchFamily="34" charset="-120"/>
              </a:rPr>
              <a:t>ASSEMBLED PROMPT · STATION B</a:t>
            </a:r>
            <a:endParaRPr lang="en-US" sz="900" dirty="0"/>
          </a:p>
        </p:txBody>
      </p:sp>
      <p:sp>
        <p:nvSpPr>
          <p:cNvPr id="49" name="Text 41"/>
          <p:cNvSpPr txBox="1"/>
          <p:nvPr/>
        </p:nvSpPr>
        <p:spPr>
          <a:xfrm>
            <a:off x="640080" y="3730752"/>
            <a:ext cx="7863840" cy="594360"/>
          </a:xfrm>
          <a:prstGeom prst="rect">
            <a:avLst/>
          </a:prstGeom>
          <a:noFill/>
          <a:ln/>
        </p:spPr>
        <p:txBody>
          <a:bodyPr wrap="square" lIns="0" tIns="0" rIns="0" bIns="0" rtlCol="0" anchor="t"/>
          <a:lstStyle/>
          <a:p>
            <a:pPr indent="0" marL="0">
              <a:buNone/>
            </a:pPr>
            <a:r>
              <a:rPr lang="en-US" sz="1000" dirty="0">
                <a:solidFill>
                  <a:srgbClr val="231F20"/>
                </a:solidFill>
                <a:latin typeface="Courier New" pitchFamily="34" charset="0"/>
                <a:ea typeface="Courier New" pitchFamily="34" charset="-122"/>
                <a:cs typeface="Courier New" pitchFamily="34" charset="-120"/>
              </a:rPr>
              <a:t>ROLE: senior economic statistician · CONTEXT: &lt;regional CPI table&gt;</a:t>
            </a:r>
            <a:endParaRPr lang="en-US" sz="1000" dirty="0"/>
          </a:p>
          <a:p>
            <a:pPr indent="0" marL="0">
              <a:buNone/>
            </a:pPr>
            <a:r>
              <a:rPr lang="en-US" sz="1000" dirty="0">
                <a:solidFill>
                  <a:srgbClr val="231F20"/>
                </a:solidFill>
                <a:latin typeface="Courier New" pitchFamily="34" charset="0"/>
                <a:ea typeface="Courier New" pitchFamily="34" charset="-122"/>
                <a:cs typeface="Courier New" pitchFamily="34" charset="-120"/>
              </a:rPr>
              <a:t>TASK: 200-word commentary · FORMAT: Markdown, 3 headings, 1 decimal</a:t>
            </a:r>
            <a:endParaRPr lang="en-US" sz="1000" dirty="0"/>
          </a:p>
          <a:p>
            <a:pPr indent="0" marL="0">
              <a:buNone/>
            </a:pPr>
            <a:r>
              <a:rPr lang="en-US" sz="1000" dirty="0">
                <a:solidFill>
                  <a:srgbClr val="231F20"/>
                </a:solidFill>
                <a:latin typeface="Courier New" pitchFamily="34" charset="0"/>
                <a:ea typeface="Courier New" pitchFamily="34" charset="-122"/>
                <a:cs typeface="Courier New" pitchFamily="34" charset="-120"/>
              </a:rPr>
              <a:t>CHECK: write [MISSING] for any figure not in the table</a:t>
            </a:r>
            <a:endParaRPr lang="en-US" sz="10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FRAMING</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Assist, don't abdicate: four levels of delegation</a:t>
            </a:r>
            <a:endParaRPr lang="en-US" sz="2600" dirty="0"/>
          </a:p>
        </p:txBody>
      </p:sp>
      <p:sp>
        <p:nvSpPr>
          <p:cNvPr id="8" name="Shape 6"/>
          <p:cNvSpPr/>
          <p:nvPr/>
        </p:nvSpPr>
        <p:spPr>
          <a:xfrm>
            <a:off x="7882128" y="329184"/>
            <a:ext cx="82296" cy="82296"/>
          </a:xfrm>
          <a:prstGeom prst="ellipse">
            <a:avLst/>
          </a:prstGeom>
          <a:solidFill>
            <a:srgbClr val="00A86A"/>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STG17 · One Model, Many Jobs — an LLM Toolkit for Statisticians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7" name="Shape 14"/>
          <p:cNvSpPr/>
          <p:nvPr/>
        </p:nvSpPr>
        <p:spPr>
          <a:xfrm>
            <a:off x="731520" y="1874520"/>
            <a:ext cx="7680960" cy="0"/>
          </a:xfrm>
          <a:prstGeom prst="line">
            <a:avLst/>
          </a:prstGeom>
          <a:noFill/>
          <a:ln w="38100">
            <a:solidFill>
              <a:srgbClr val="D5DED9"/>
            </a:solidFill>
            <a:prstDash val="solid"/>
            <a:tailEnd type="triangle"/>
          </a:ln>
        </p:spPr>
      </p:sp>
      <p:sp>
        <p:nvSpPr>
          <p:cNvPr id="18" name="Shape 15"/>
          <p:cNvSpPr/>
          <p:nvPr/>
        </p:nvSpPr>
        <p:spPr>
          <a:xfrm>
            <a:off x="1115568" y="1481328"/>
            <a:ext cx="786384" cy="786384"/>
          </a:xfrm>
          <a:prstGeom prst="ellipse">
            <a:avLst/>
          </a:prstGeom>
          <a:solidFill>
            <a:srgbClr val="FFFFFF"/>
          </a:solidFill>
          <a:ln/>
        </p:spPr>
      </p:sp>
      <p:pic>
        <p:nvPicPr>
          <p:cNvPr id="19" name="Image 0" descr="preencoded.png">    </p:cNvPr>
          <p:cNvPicPr>
            <a:picLocks noChangeAspect="1"/>
          </p:cNvPicPr>
          <p:nvPr/>
        </p:nvPicPr>
        <p:blipFill>
          <a:blip r:embed="rId1"/>
          <a:stretch>
            <a:fillRect/>
          </a:stretch>
        </p:blipFill>
        <p:spPr>
          <a:xfrm>
            <a:off x="1312164" y="1677924"/>
            <a:ext cx="393192" cy="393192"/>
          </a:xfrm>
          <a:prstGeom prst="rect">
            <a:avLst/>
          </a:prstGeom>
        </p:spPr>
      </p:pic>
      <p:sp>
        <p:nvSpPr>
          <p:cNvPr id="20" name="Shape 16"/>
          <p:cNvSpPr/>
          <p:nvPr/>
        </p:nvSpPr>
        <p:spPr>
          <a:xfrm>
            <a:off x="1115568" y="1481328"/>
            <a:ext cx="786384" cy="786384"/>
          </a:xfrm>
          <a:prstGeom prst="ellipse">
            <a:avLst/>
          </a:prstGeom>
          <a:solidFill>
            <a:srgbClr val="00A86A">
              <a:alpha val="0"/>
            </a:srgbClr>
          </a:solidFill>
          <a:ln w="25400">
            <a:solidFill>
              <a:srgbClr val="00A86A"/>
            </a:solidFill>
            <a:prstDash val="solid"/>
          </a:ln>
        </p:spPr>
      </p:sp>
      <p:sp>
        <p:nvSpPr>
          <p:cNvPr id="21" name="Shape 17"/>
          <p:cNvSpPr/>
          <p:nvPr/>
        </p:nvSpPr>
        <p:spPr>
          <a:xfrm>
            <a:off x="457200" y="2468880"/>
            <a:ext cx="1920240" cy="1325880"/>
          </a:xfrm>
          <a:prstGeom prst="roundRect">
            <a:avLst>
              <a:gd name="adj" fmla="val 5517"/>
            </a:avLst>
          </a:prstGeom>
          <a:solidFill>
            <a:srgbClr val="E8F5EF"/>
          </a:solidFill>
          <a:ln w="15875">
            <a:solidFill>
              <a:srgbClr val="00A86A"/>
            </a:solidFill>
            <a:prstDash val="solid"/>
          </a:ln>
        </p:spPr>
      </p:sp>
      <p:sp>
        <p:nvSpPr>
          <p:cNvPr id="22" name="Text 18"/>
          <p:cNvSpPr txBox="1"/>
          <p:nvPr/>
        </p:nvSpPr>
        <p:spPr>
          <a:xfrm>
            <a:off x="594360" y="2560320"/>
            <a:ext cx="1645920" cy="182880"/>
          </a:xfrm>
          <a:prstGeom prst="rect">
            <a:avLst/>
          </a:prstGeom>
          <a:noFill/>
          <a:ln/>
        </p:spPr>
        <p:txBody>
          <a:bodyPr wrap="square" lIns="0" tIns="0" rIns="0" bIns="0" rtlCol="0" anchor="t"/>
          <a:lstStyle/>
          <a:p>
            <a:pPr indent="0" marL="0">
              <a:buNone/>
            </a:pPr>
            <a:r>
              <a:rPr lang="en-US" sz="900" b="1" spc="200" kern="0" dirty="0">
                <a:solidFill>
                  <a:srgbClr val="00A86A"/>
                </a:solidFill>
                <a:latin typeface="Calibri" pitchFamily="34" charset="0"/>
                <a:ea typeface="Calibri" pitchFamily="34" charset="-122"/>
                <a:cs typeface="Calibri" pitchFamily="34" charset="-120"/>
              </a:rPr>
              <a:t>LEVEL 1</a:t>
            </a:r>
            <a:endParaRPr lang="en-US" sz="900" dirty="0"/>
          </a:p>
        </p:txBody>
      </p:sp>
      <p:sp>
        <p:nvSpPr>
          <p:cNvPr id="23" name="Text 19"/>
          <p:cNvSpPr txBox="1"/>
          <p:nvPr/>
        </p:nvSpPr>
        <p:spPr>
          <a:xfrm>
            <a:off x="594360" y="2743200"/>
            <a:ext cx="1645920" cy="292608"/>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Inspire</a:t>
            </a:r>
            <a:endParaRPr lang="en-US" sz="1500" dirty="0"/>
          </a:p>
        </p:txBody>
      </p:sp>
      <p:sp>
        <p:nvSpPr>
          <p:cNvPr id="24" name="Text 20"/>
          <p:cNvSpPr txBox="1"/>
          <p:nvPr/>
        </p:nvSpPr>
        <p:spPr>
          <a:xfrm>
            <a:off x="594360" y="3063240"/>
            <a:ext cx="1691640" cy="6858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Ideas, outlines, alternatives. Nothing is used verbatim.</a:t>
            </a:r>
            <a:endParaRPr lang="en-US" sz="1050" dirty="0"/>
          </a:p>
        </p:txBody>
      </p:sp>
      <p:sp>
        <p:nvSpPr>
          <p:cNvPr id="25" name="Shape 21"/>
          <p:cNvSpPr/>
          <p:nvPr/>
        </p:nvSpPr>
        <p:spPr>
          <a:xfrm>
            <a:off x="3218688" y="1481328"/>
            <a:ext cx="786384" cy="786384"/>
          </a:xfrm>
          <a:prstGeom prst="ellipse">
            <a:avLst/>
          </a:prstGeom>
          <a:solidFill>
            <a:srgbClr val="FFFFFF"/>
          </a:solidFill>
          <a:ln/>
        </p:spPr>
      </p:sp>
      <p:pic>
        <p:nvPicPr>
          <p:cNvPr id="26" name="Image 1" descr="preencoded.png">    </p:cNvPr>
          <p:cNvPicPr>
            <a:picLocks noChangeAspect="1"/>
          </p:cNvPicPr>
          <p:nvPr/>
        </p:nvPicPr>
        <p:blipFill>
          <a:blip r:embed="rId2"/>
          <a:stretch>
            <a:fillRect/>
          </a:stretch>
        </p:blipFill>
        <p:spPr>
          <a:xfrm>
            <a:off x="3415284" y="1677924"/>
            <a:ext cx="393192" cy="393192"/>
          </a:xfrm>
          <a:prstGeom prst="rect">
            <a:avLst/>
          </a:prstGeom>
        </p:spPr>
      </p:pic>
      <p:sp>
        <p:nvSpPr>
          <p:cNvPr id="27" name="Shape 22"/>
          <p:cNvSpPr/>
          <p:nvPr/>
        </p:nvSpPr>
        <p:spPr>
          <a:xfrm>
            <a:off x="3218688" y="1481328"/>
            <a:ext cx="786384" cy="786384"/>
          </a:xfrm>
          <a:prstGeom prst="ellipse">
            <a:avLst/>
          </a:prstGeom>
          <a:solidFill>
            <a:srgbClr val="00704A">
              <a:alpha val="0"/>
            </a:srgbClr>
          </a:solidFill>
          <a:ln w="25400">
            <a:solidFill>
              <a:srgbClr val="00704A"/>
            </a:solidFill>
            <a:prstDash val="solid"/>
          </a:ln>
        </p:spPr>
      </p:sp>
      <p:sp>
        <p:nvSpPr>
          <p:cNvPr id="28" name="Shape 23"/>
          <p:cNvSpPr/>
          <p:nvPr/>
        </p:nvSpPr>
        <p:spPr>
          <a:xfrm>
            <a:off x="2560320" y="2468880"/>
            <a:ext cx="1920240" cy="1325880"/>
          </a:xfrm>
          <a:prstGeom prst="roundRect">
            <a:avLst>
              <a:gd name="adj" fmla="val 5517"/>
            </a:avLst>
          </a:prstGeom>
          <a:solidFill>
            <a:srgbClr val="E8F5EF"/>
          </a:solidFill>
          <a:ln w="15875">
            <a:solidFill>
              <a:srgbClr val="00A86A"/>
            </a:solidFill>
            <a:prstDash val="solid"/>
          </a:ln>
        </p:spPr>
      </p:sp>
      <p:sp>
        <p:nvSpPr>
          <p:cNvPr id="29" name="Text 24"/>
          <p:cNvSpPr txBox="1"/>
          <p:nvPr/>
        </p:nvSpPr>
        <p:spPr>
          <a:xfrm>
            <a:off x="2697480" y="2560320"/>
            <a:ext cx="1645920" cy="182880"/>
          </a:xfrm>
          <a:prstGeom prst="rect">
            <a:avLst/>
          </a:prstGeom>
          <a:noFill/>
          <a:ln/>
        </p:spPr>
        <p:txBody>
          <a:bodyPr wrap="square" lIns="0" tIns="0" rIns="0" bIns="0" rtlCol="0" anchor="t"/>
          <a:lstStyle/>
          <a:p>
            <a:pPr indent="0" marL="0">
              <a:buNone/>
            </a:pPr>
            <a:r>
              <a:rPr lang="en-US" sz="900" b="1" spc="200" kern="0" dirty="0">
                <a:solidFill>
                  <a:srgbClr val="00704A"/>
                </a:solidFill>
                <a:latin typeface="Calibri" pitchFamily="34" charset="0"/>
                <a:ea typeface="Calibri" pitchFamily="34" charset="-122"/>
                <a:cs typeface="Calibri" pitchFamily="34" charset="-120"/>
              </a:rPr>
              <a:t>LEVEL 2</a:t>
            </a:r>
            <a:endParaRPr lang="en-US" sz="900" dirty="0"/>
          </a:p>
        </p:txBody>
      </p:sp>
      <p:sp>
        <p:nvSpPr>
          <p:cNvPr id="30" name="Text 25"/>
          <p:cNvSpPr txBox="1"/>
          <p:nvPr/>
        </p:nvSpPr>
        <p:spPr>
          <a:xfrm>
            <a:off x="2697480" y="2743200"/>
            <a:ext cx="1645920" cy="292608"/>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Draft</a:t>
            </a:r>
            <a:endParaRPr lang="en-US" sz="1500" dirty="0"/>
          </a:p>
        </p:txBody>
      </p:sp>
      <p:sp>
        <p:nvSpPr>
          <p:cNvPr id="31" name="Text 26"/>
          <p:cNvSpPr txBox="1"/>
          <p:nvPr/>
        </p:nvSpPr>
        <p:spPr>
          <a:xfrm>
            <a:off x="2697480" y="3063240"/>
            <a:ext cx="1691640" cy="6858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Model writes a first version; you edit every line.</a:t>
            </a:r>
            <a:endParaRPr lang="en-US" sz="1050" dirty="0"/>
          </a:p>
        </p:txBody>
      </p:sp>
      <p:sp>
        <p:nvSpPr>
          <p:cNvPr id="32" name="Shape 27"/>
          <p:cNvSpPr/>
          <p:nvPr/>
        </p:nvSpPr>
        <p:spPr>
          <a:xfrm>
            <a:off x="5321808" y="1481328"/>
            <a:ext cx="786384" cy="786384"/>
          </a:xfrm>
          <a:prstGeom prst="ellipse">
            <a:avLst/>
          </a:prstGeom>
          <a:solidFill>
            <a:srgbClr val="FFFFFF"/>
          </a:solidFill>
          <a:ln/>
        </p:spPr>
      </p:sp>
      <p:pic>
        <p:nvPicPr>
          <p:cNvPr id="33" name="Image 2" descr="preencoded.png">    </p:cNvPr>
          <p:cNvPicPr>
            <a:picLocks noChangeAspect="1"/>
          </p:cNvPicPr>
          <p:nvPr/>
        </p:nvPicPr>
        <p:blipFill>
          <a:blip r:embed="rId3"/>
          <a:stretch>
            <a:fillRect/>
          </a:stretch>
        </p:blipFill>
        <p:spPr>
          <a:xfrm>
            <a:off x="5518404" y="1677924"/>
            <a:ext cx="393192" cy="393192"/>
          </a:xfrm>
          <a:prstGeom prst="rect">
            <a:avLst/>
          </a:prstGeom>
        </p:spPr>
      </p:pic>
      <p:sp>
        <p:nvSpPr>
          <p:cNvPr id="34" name="Shape 28"/>
          <p:cNvSpPr/>
          <p:nvPr/>
        </p:nvSpPr>
        <p:spPr>
          <a:xfrm>
            <a:off x="5321808" y="1481328"/>
            <a:ext cx="786384" cy="786384"/>
          </a:xfrm>
          <a:prstGeom prst="ellipse">
            <a:avLst/>
          </a:prstGeom>
          <a:solidFill>
            <a:srgbClr val="0E7C86">
              <a:alpha val="0"/>
            </a:srgbClr>
          </a:solidFill>
          <a:ln w="25400">
            <a:solidFill>
              <a:srgbClr val="0E7C86"/>
            </a:solidFill>
            <a:prstDash val="solid"/>
          </a:ln>
        </p:spPr>
      </p:sp>
      <p:sp>
        <p:nvSpPr>
          <p:cNvPr id="35" name="Shape 29"/>
          <p:cNvSpPr/>
          <p:nvPr/>
        </p:nvSpPr>
        <p:spPr>
          <a:xfrm>
            <a:off x="4663440" y="2468880"/>
            <a:ext cx="1920240" cy="1325880"/>
          </a:xfrm>
          <a:prstGeom prst="roundRect">
            <a:avLst>
              <a:gd name="adj" fmla="val 5517"/>
            </a:avLst>
          </a:prstGeom>
          <a:solidFill>
            <a:srgbClr val="E8F5EF"/>
          </a:solidFill>
          <a:ln w="15875">
            <a:solidFill>
              <a:srgbClr val="00A86A"/>
            </a:solidFill>
            <a:prstDash val="solid"/>
          </a:ln>
        </p:spPr>
      </p:sp>
      <p:sp>
        <p:nvSpPr>
          <p:cNvPr id="36" name="Text 30"/>
          <p:cNvSpPr txBox="1"/>
          <p:nvPr/>
        </p:nvSpPr>
        <p:spPr>
          <a:xfrm>
            <a:off x="4800600" y="2560320"/>
            <a:ext cx="1645920" cy="182880"/>
          </a:xfrm>
          <a:prstGeom prst="rect">
            <a:avLst/>
          </a:prstGeom>
          <a:noFill/>
          <a:ln/>
        </p:spPr>
        <p:txBody>
          <a:bodyPr wrap="square" lIns="0" tIns="0" rIns="0" bIns="0" rtlCol="0" anchor="t"/>
          <a:lstStyle/>
          <a:p>
            <a:pPr indent="0" marL="0">
              <a:buNone/>
            </a:pPr>
            <a:r>
              <a:rPr lang="en-US" sz="900" b="1" spc="200" kern="0" dirty="0">
                <a:solidFill>
                  <a:srgbClr val="0E7C86"/>
                </a:solidFill>
                <a:latin typeface="Calibri" pitchFamily="34" charset="0"/>
                <a:ea typeface="Calibri" pitchFamily="34" charset="-122"/>
                <a:cs typeface="Calibri" pitchFamily="34" charset="-120"/>
              </a:rPr>
              <a:t>LEVEL 3</a:t>
            </a:r>
            <a:endParaRPr lang="en-US" sz="900" dirty="0"/>
          </a:p>
        </p:txBody>
      </p:sp>
      <p:sp>
        <p:nvSpPr>
          <p:cNvPr id="37" name="Text 31"/>
          <p:cNvSpPr txBox="1"/>
          <p:nvPr/>
        </p:nvSpPr>
        <p:spPr>
          <a:xfrm>
            <a:off x="4800600" y="2743200"/>
            <a:ext cx="1645920" cy="292608"/>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Transform</a:t>
            </a:r>
            <a:endParaRPr lang="en-US" sz="1500" dirty="0"/>
          </a:p>
        </p:txBody>
      </p:sp>
      <p:sp>
        <p:nvSpPr>
          <p:cNvPr id="38" name="Text 32"/>
          <p:cNvSpPr txBox="1"/>
          <p:nvPr/>
        </p:nvSpPr>
        <p:spPr>
          <a:xfrm>
            <a:off x="4800600" y="3063240"/>
            <a:ext cx="1691640" cy="6858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Model restructures what you supplied; you verify against the source.</a:t>
            </a:r>
            <a:endParaRPr lang="en-US" sz="1050" dirty="0"/>
          </a:p>
        </p:txBody>
      </p:sp>
      <p:sp>
        <p:nvSpPr>
          <p:cNvPr id="39" name="Shape 33"/>
          <p:cNvSpPr/>
          <p:nvPr/>
        </p:nvSpPr>
        <p:spPr>
          <a:xfrm>
            <a:off x="7424928" y="1481328"/>
            <a:ext cx="786384" cy="786384"/>
          </a:xfrm>
          <a:prstGeom prst="ellipse">
            <a:avLst/>
          </a:prstGeom>
          <a:solidFill>
            <a:srgbClr val="FFFFFF"/>
          </a:solidFill>
          <a:ln/>
        </p:spPr>
      </p:sp>
      <p:pic>
        <p:nvPicPr>
          <p:cNvPr id="40" name="Image 3" descr="preencoded.png">    </p:cNvPr>
          <p:cNvPicPr>
            <a:picLocks noChangeAspect="1"/>
          </p:cNvPicPr>
          <p:nvPr/>
        </p:nvPicPr>
        <p:blipFill>
          <a:blip r:embed="rId4"/>
          <a:stretch>
            <a:fillRect/>
          </a:stretch>
        </p:blipFill>
        <p:spPr>
          <a:xfrm>
            <a:off x="7621524" y="1677924"/>
            <a:ext cx="393192" cy="393192"/>
          </a:xfrm>
          <a:prstGeom prst="rect">
            <a:avLst/>
          </a:prstGeom>
        </p:spPr>
      </p:pic>
      <p:sp>
        <p:nvSpPr>
          <p:cNvPr id="41" name="Shape 34"/>
          <p:cNvSpPr/>
          <p:nvPr/>
        </p:nvSpPr>
        <p:spPr>
          <a:xfrm>
            <a:off x="7424928" y="1481328"/>
            <a:ext cx="786384" cy="786384"/>
          </a:xfrm>
          <a:prstGeom prst="ellipse">
            <a:avLst/>
          </a:prstGeom>
          <a:solidFill>
            <a:srgbClr val="B83B2E">
              <a:alpha val="0"/>
            </a:srgbClr>
          </a:solidFill>
          <a:ln w="25400">
            <a:solidFill>
              <a:srgbClr val="B83B2E"/>
            </a:solidFill>
            <a:prstDash val="solid"/>
          </a:ln>
        </p:spPr>
      </p:sp>
      <p:sp>
        <p:nvSpPr>
          <p:cNvPr id="42" name="Shape 35"/>
          <p:cNvSpPr/>
          <p:nvPr/>
        </p:nvSpPr>
        <p:spPr>
          <a:xfrm>
            <a:off x="6766560" y="2468880"/>
            <a:ext cx="1920240" cy="1325880"/>
          </a:xfrm>
          <a:prstGeom prst="roundRect">
            <a:avLst>
              <a:gd name="adj" fmla="val 5517"/>
            </a:avLst>
          </a:prstGeom>
          <a:solidFill>
            <a:srgbClr val="FBEFED"/>
          </a:solidFill>
          <a:ln w="15875">
            <a:solidFill>
              <a:srgbClr val="B83B2E"/>
            </a:solidFill>
            <a:prstDash val="solid"/>
          </a:ln>
        </p:spPr>
      </p:sp>
      <p:sp>
        <p:nvSpPr>
          <p:cNvPr id="43" name="Text 36"/>
          <p:cNvSpPr txBox="1"/>
          <p:nvPr/>
        </p:nvSpPr>
        <p:spPr>
          <a:xfrm>
            <a:off x="6903720" y="2560320"/>
            <a:ext cx="1645920" cy="182880"/>
          </a:xfrm>
          <a:prstGeom prst="rect">
            <a:avLst/>
          </a:prstGeom>
          <a:noFill/>
          <a:ln/>
        </p:spPr>
        <p:txBody>
          <a:bodyPr wrap="square" lIns="0" tIns="0" rIns="0" bIns="0" rtlCol="0" anchor="t"/>
          <a:lstStyle/>
          <a:p>
            <a:pPr indent="0" marL="0">
              <a:buNone/>
            </a:pPr>
            <a:r>
              <a:rPr lang="en-US" sz="900" b="1" spc="200" kern="0" dirty="0">
                <a:solidFill>
                  <a:srgbClr val="B83B2E"/>
                </a:solidFill>
                <a:latin typeface="Calibri" pitchFamily="34" charset="0"/>
                <a:ea typeface="Calibri" pitchFamily="34" charset="-122"/>
                <a:cs typeface="Calibri" pitchFamily="34" charset="-120"/>
              </a:rPr>
              <a:t>LEVEL 4</a:t>
            </a:r>
            <a:endParaRPr lang="en-US" sz="900" dirty="0"/>
          </a:p>
        </p:txBody>
      </p:sp>
      <p:sp>
        <p:nvSpPr>
          <p:cNvPr id="44" name="Text 37"/>
          <p:cNvSpPr txBox="1"/>
          <p:nvPr/>
        </p:nvSpPr>
        <p:spPr>
          <a:xfrm>
            <a:off x="6903720" y="2743200"/>
            <a:ext cx="1645920" cy="292608"/>
          </a:xfrm>
          <a:prstGeom prst="rect">
            <a:avLst/>
          </a:prstGeom>
          <a:noFill/>
          <a:ln/>
        </p:spPr>
        <p:txBody>
          <a:bodyPr wrap="square" lIns="0" tIns="0" rIns="0" bIns="0" rtlCol="0" anchor="t"/>
          <a:lstStyle/>
          <a:p>
            <a:pPr indent="0" marL="0">
              <a:buNone/>
            </a:pPr>
            <a:r>
              <a:rPr lang="en-US" sz="1500" b="1" dirty="0">
                <a:solidFill>
                  <a:srgbClr val="231F20"/>
                </a:solidFill>
                <a:latin typeface="Calibri" pitchFamily="34" charset="0"/>
                <a:ea typeface="Calibri" pitchFamily="34" charset="-122"/>
                <a:cs typeface="Calibri" pitchFamily="34" charset="-120"/>
              </a:rPr>
              <a:t>Automate</a:t>
            </a:r>
            <a:endParaRPr lang="en-US" sz="1500" dirty="0"/>
          </a:p>
        </p:txBody>
      </p:sp>
      <p:sp>
        <p:nvSpPr>
          <p:cNvPr id="45" name="Text 38"/>
          <p:cNvSpPr txBox="1"/>
          <p:nvPr/>
        </p:nvSpPr>
        <p:spPr>
          <a:xfrm>
            <a:off x="6903720" y="3063240"/>
            <a:ext cx="1691640" cy="6858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Output flows to production. Needs an evaluation set and sign-off.</a:t>
            </a:r>
            <a:endParaRPr lang="en-US" sz="1050" dirty="0"/>
          </a:p>
        </p:txBody>
      </p:sp>
      <p:sp>
        <p:nvSpPr>
          <p:cNvPr id="46" name="Shape 39"/>
          <p:cNvSpPr/>
          <p:nvPr/>
        </p:nvSpPr>
        <p:spPr>
          <a:xfrm>
            <a:off x="457200" y="4005072"/>
            <a:ext cx="6217920" cy="384048"/>
          </a:xfrm>
          <a:prstGeom prst="roundRect">
            <a:avLst>
              <a:gd name="adj" fmla="val 26190"/>
            </a:avLst>
          </a:prstGeom>
          <a:solidFill>
            <a:srgbClr val="00A86A">
              <a:alpha val="15000"/>
            </a:srgbClr>
          </a:solidFill>
          <a:ln w="9525">
            <a:solidFill>
              <a:srgbClr val="00A86A"/>
            </a:solidFill>
            <a:prstDash val="solid"/>
          </a:ln>
        </p:spPr>
      </p:sp>
      <p:sp>
        <p:nvSpPr>
          <p:cNvPr id="47" name="Text 40"/>
          <p:cNvSpPr txBox="1"/>
          <p:nvPr/>
        </p:nvSpPr>
        <p:spPr>
          <a:xfrm>
            <a:off x="457200" y="4005072"/>
            <a:ext cx="6217920" cy="384048"/>
          </a:xfrm>
          <a:prstGeom prst="rect">
            <a:avLst/>
          </a:prstGeom>
          <a:noFill/>
          <a:ln/>
        </p:spPr>
        <p:txBody>
          <a:bodyPr wrap="square" lIns="0" tIns="0" rIns="0" bIns="0" rtlCol="0" anchor="ctr"/>
          <a:lstStyle/>
          <a:p>
            <a:pPr algn="ctr" indent="0" marL="0">
              <a:buNone/>
            </a:pPr>
            <a:endParaRPr lang="en-US" sz="850" dirty="0"/>
          </a:p>
        </p:txBody>
      </p:sp>
      <p:sp>
        <p:nvSpPr>
          <p:cNvPr id="48" name="Text 41"/>
          <p:cNvSpPr txBox="1"/>
          <p:nvPr/>
        </p:nvSpPr>
        <p:spPr>
          <a:xfrm>
            <a:off x="640080" y="4005072"/>
            <a:ext cx="5943600" cy="384048"/>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This lab: levels 1–3. </a:t>
            </a:r>
            <a:pPr indent="0" marL="0">
              <a:buNone/>
            </a:pPr>
            <a:r>
              <a:rPr lang="en-US" sz="1100" dirty="0">
                <a:solidFill>
                  <a:srgbClr val="231F20"/>
                </a:solidFill>
                <a:latin typeface="Calibri" pitchFamily="34" charset="0"/>
                <a:ea typeface="Calibri" pitchFamily="34" charset="-122"/>
                <a:cs typeface="Calibri" pitchFamily="34" charset="-120"/>
              </a:rPr>
              <a:t>Level 4 is out of scope — it requires the evaluation discipline from the 14:00 optimisation session.</a:t>
            </a:r>
            <a:endParaRPr lang="en-US" sz="11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02 · FREE TOOLKIT</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5" name="Text 3"/>
          <p:cNvSpPr txBox="1"/>
          <p:nvPr/>
        </p:nvSpPr>
        <p:spPr>
          <a:xfrm>
            <a:off x="548640" y="2377440"/>
            <a:ext cx="5303520" cy="10515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The free toolkit</a:t>
            </a:r>
            <a:endParaRPr lang="en-US" sz="32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Free of charge is not free of cost — what do we pay with instead?</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FFFFF">
              <a:alpha val="40000"/>
            </a:srgbClr>
          </a:solidFill>
          <a:ln/>
        </p:spPr>
      </p:sp>
      <p:sp>
        <p:nvSpPr>
          <p:cNvPr id="12" name="Shape 9"/>
          <p:cNvSpPr/>
          <p:nvPr/>
        </p:nvSpPr>
        <p:spPr>
          <a:xfrm>
            <a:off x="8019288" y="329184"/>
            <a:ext cx="82296" cy="82296"/>
          </a:xfrm>
          <a:prstGeom prst="ellipse">
            <a:avLst/>
          </a:prstGeom>
          <a:solidFill>
            <a:srgbClr val="F5C242"/>
          </a:solidFill>
          <a:ln/>
        </p:spPr>
      </p:sp>
      <p:sp>
        <p:nvSpPr>
          <p:cNvPr id="13" name="Shape 10"/>
          <p:cNvSpPr/>
          <p:nvPr/>
        </p:nvSpPr>
        <p:spPr>
          <a:xfrm>
            <a:off x="8156448" y="329184"/>
            <a:ext cx="82296" cy="82296"/>
          </a:xfrm>
          <a:prstGeom prst="ellipse">
            <a:avLst/>
          </a:prstGeom>
          <a:solidFill>
            <a:srgbClr val="FFFFFF">
              <a:alpha val="40000"/>
            </a:srgbClr>
          </a:solidFill>
          <a:ln/>
        </p:spPr>
      </p:sp>
      <p:sp>
        <p:nvSpPr>
          <p:cNvPr id="14" name="Shape 11"/>
          <p:cNvSpPr/>
          <p:nvPr/>
        </p:nvSpPr>
        <p:spPr>
          <a:xfrm>
            <a:off x="8293608" y="329184"/>
            <a:ext cx="82296" cy="82296"/>
          </a:xfrm>
          <a:prstGeom prst="ellipse">
            <a:avLst/>
          </a:prstGeom>
          <a:solidFill>
            <a:srgbClr val="FFFFFF">
              <a:alpha val="40000"/>
            </a:srgbClr>
          </a:solidFill>
          <a:ln/>
        </p:spPr>
      </p:sp>
      <p:sp>
        <p:nvSpPr>
          <p:cNvPr id="15" name="Shape 12"/>
          <p:cNvSpPr/>
          <p:nvPr/>
        </p:nvSpPr>
        <p:spPr>
          <a:xfrm>
            <a:off x="8430768" y="329184"/>
            <a:ext cx="82296" cy="82296"/>
          </a:xfrm>
          <a:prstGeom prst="ellipse">
            <a:avLst/>
          </a:prstGeom>
          <a:solidFill>
            <a:srgbClr val="FFFFFF">
              <a:alpha val="40000"/>
            </a:srgbClr>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FREE TOOLKIT</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Seven free tools for today's lab</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00704A"/>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STG17 · One Model, Many Jobs — an LLM Toolkit for Statisticians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7" name="Shape 14"/>
          <p:cNvSpPr/>
          <p:nvPr/>
        </p:nvSpPr>
        <p:spPr>
          <a:xfrm>
            <a:off x="457200" y="1325880"/>
            <a:ext cx="1938528" cy="1444752"/>
          </a:xfrm>
          <a:prstGeom prst="roundRect">
            <a:avLst>
              <a:gd name="adj" fmla="val 5063"/>
            </a:avLst>
          </a:prstGeom>
          <a:solidFill>
            <a:srgbClr val="E8F5EF"/>
          </a:solidFill>
          <a:ln w="15875">
            <a:solidFill>
              <a:srgbClr val="00A86A"/>
            </a:solidFill>
            <a:prstDash val="solid"/>
          </a:ln>
        </p:spPr>
      </p:sp>
      <p:sp>
        <p:nvSpPr>
          <p:cNvPr id="18" name="Shape 15"/>
          <p:cNvSpPr/>
          <p:nvPr/>
        </p:nvSpPr>
        <p:spPr>
          <a:xfrm>
            <a:off x="594360" y="1463040"/>
            <a:ext cx="402336" cy="402336"/>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694944" y="1563624"/>
            <a:ext cx="201168" cy="201168"/>
          </a:xfrm>
          <a:prstGeom prst="rect">
            <a:avLst/>
          </a:prstGeom>
        </p:spPr>
      </p:pic>
      <p:sp>
        <p:nvSpPr>
          <p:cNvPr id="20" name="Text 16"/>
          <p:cNvSpPr txBox="1"/>
          <p:nvPr/>
        </p:nvSpPr>
        <p:spPr>
          <a:xfrm>
            <a:off x="1060704" y="1453896"/>
            <a:ext cx="1298448" cy="237744"/>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Gemini API</a:t>
            </a:r>
            <a:endParaRPr lang="en-US" sz="1300" dirty="0"/>
          </a:p>
        </p:txBody>
      </p:sp>
      <p:sp>
        <p:nvSpPr>
          <p:cNvPr id="21" name="Text 17"/>
          <p:cNvSpPr txBox="1"/>
          <p:nvPr/>
        </p:nvSpPr>
        <p:spPr>
          <a:xfrm>
            <a:off x="1060704" y="1673352"/>
            <a:ext cx="1298448" cy="182880"/>
          </a:xfrm>
          <a:prstGeom prst="rect">
            <a:avLst/>
          </a:prstGeom>
          <a:noFill/>
          <a:ln/>
        </p:spPr>
        <p:txBody>
          <a:bodyPr wrap="square" lIns="0" tIns="0" rIns="0" bIns="0" rtlCol="0" anchor="t"/>
          <a:lstStyle/>
          <a:p>
            <a:pPr indent="0" marL="0">
              <a:buNone/>
            </a:pPr>
            <a:r>
              <a:rPr lang="en-US" sz="800" dirty="0">
                <a:solidFill>
                  <a:srgbClr val="5E6964"/>
                </a:solidFill>
                <a:latin typeface="Calibri" pitchFamily="34" charset="0"/>
                <a:ea typeface="Calibri" pitchFamily="34" charset="-122"/>
                <a:cs typeface="Calibri" pitchFamily="34" charset="-120"/>
              </a:rPr>
              <a:t>Google AI Studio</a:t>
            </a:r>
            <a:endParaRPr lang="en-US" sz="800" dirty="0"/>
          </a:p>
        </p:txBody>
      </p:sp>
      <p:sp>
        <p:nvSpPr>
          <p:cNvPr id="22" name="Text 18"/>
          <p:cNvSpPr txBox="1"/>
          <p:nvPr/>
        </p:nvSpPr>
        <p:spPr>
          <a:xfrm>
            <a:off x="594360" y="1947672"/>
            <a:ext cx="1664208" cy="5029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Multimodal model behind stations B, C, D, G in the notebook.</a:t>
            </a:r>
            <a:endParaRPr lang="en-US" sz="950" dirty="0"/>
          </a:p>
        </p:txBody>
      </p:sp>
      <p:sp>
        <p:nvSpPr>
          <p:cNvPr id="23" name="Text 19"/>
          <p:cNvSpPr txBox="1"/>
          <p:nvPr/>
        </p:nvSpPr>
        <p:spPr>
          <a:xfrm>
            <a:off x="594360" y="2487168"/>
            <a:ext cx="1664208" cy="201168"/>
          </a:xfrm>
          <a:prstGeom prst="rect">
            <a:avLst/>
          </a:prstGeom>
          <a:noFill/>
          <a:ln/>
        </p:spPr>
        <p:txBody>
          <a:bodyPr wrap="square" lIns="0" tIns="0" rIns="0" bIns="0" rtlCol="0" anchor="t"/>
          <a:lstStyle/>
          <a:p>
            <a:pPr indent="0" marL="0">
              <a:buNone/>
            </a:pPr>
            <a:r>
              <a:rPr lang="en-US" sz="850" b="1" i="1" dirty="0">
                <a:solidFill>
                  <a:srgbClr val="D49A00"/>
                </a:solidFill>
                <a:latin typeface="Calibri" pitchFamily="34" charset="0"/>
                <a:ea typeface="Calibri" pitchFamily="34" charset="-122"/>
                <a:cs typeface="Calibri" pitchFamily="34" charset="-120"/>
              </a:rPr>
              <a:t>Flash models only; ~10–15 req/min</a:t>
            </a:r>
            <a:endParaRPr lang="en-US" sz="850" dirty="0"/>
          </a:p>
        </p:txBody>
      </p:sp>
      <p:sp>
        <p:nvSpPr>
          <p:cNvPr id="24" name="Shape 20"/>
          <p:cNvSpPr/>
          <p:nvPr/>
        </p:nvSpPr>
        <p:spPr>
          <a:xfrm>
            <a:off x="2551176" y="1325880"/>
            <a:ext cx="1938528" cy="1444752"/>
          </a:xfrm>
          <a:prstGeom prst="roundRect">
            <a:avLst>
              <a:gd name="adj" fmla="val 5063"/>
            </a:avLst>
          </a:prstGeom>
          <a:solidFill>
            <a:srgbClr val="E8F5EF"/>
          </a:solidFill>
          <a:ln w="15875">
            <a:solidFill>
              <a:srgbClr val="00A86A"/>
            </a:solidFill>
            <a:prstDash val="solid"/>
          </a:ln>
        </p:spPr>
      </p:sp>
      <p:sp>
        <p:nvSpPr>
          <p:cNvPr id="25" name="Shape 21"/>
          <p:cNvSpPr/>
          <p:nvPr/>
        </p:nvSpPr>
        <p:spPr>
          <a:xfrm>
            <a:off x="2688336" y="1463040"/>
            <a:ext cx="402336" cy="402336"/>
          </a:xfrm>
          <a:prstGeom prst="ellipse">
            <a:avLst/>
          </a:prstGeom>
          <a:solidFill>
            <a:srgbClr val="00704A">
              <a:alpha val="22000"/>
            </a:srgbClr>
          </a:solidFill>
          <a:ln/>
        </p:spPr>
      </p:sp>
      <p:pic>
        <p:nvPicPr>
          <p:cNvPr id="26" name="Image 1" descr="preencoded.png">    </p:cNvPr>
          <p:cNvPicPr>
            <a:picLocks noChangeAspect="1"/>
          </p:cNvPicPr>
          <p:nvPr/>
        </p:nvPicPr>
        <p:blipFill>
          <a:blip r:embed="rId2"/>
          <a:stretch>
            <a:fillRect/>
          </a:stretch>
        </p:blipFill>
        <p:spPr>
          <a:xfrm>
            <a:off x="2788920" y="1563624"/>
            <a:ext cx="201168" cy="201168"/>
          </a:xfrm>
          <a:prstGeom prst="rect">
            <a:avLst/>
          </a:prstGeom>
        </p:spPr>
      </p:pic>
      <p:sp>
        <p:nvSpPr>
          <p:cNvPr id="27" name="Text 22"/>
          <p:cNvSpPr txBox="1"/>
          <p:nvPr/>
        </p:nvSpPr>
        <p:spPr>
          <a:xfrm>
            <a:off x="3154680" y="1453896"/>
            <a:ext cx="1298448" cy="237744"/>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Groq API</a:t>
            </a:r>
            <a:endParaRPr lang="en-US" sz="1300" dirty="0"/>
          </a:p>
        </p:txBody>
      </p:sp>
      <p:sp>
        <p:nvSpPr>
          <p:cNvPr id="28" name="Text 23"/>
          <p:cNvSpPr txBox="1"/>
          <p:nvPr/>
        </p:nvSpPr>
        <p:spPr>
          <a:xfrm>
            <a:off x="3154680" y="1673352"/>
            <a:ext cx="1298448" cy="182880"/>
          </a:xfrm>
          <a:prstGeom prst="rect">
            <a:avLst/>
          </a:prstGeom>
          <a:noFill/>
          <a:ln/>
        </p:spPr>
        <p:txBody>
          <a:bodyPr wrap="square" lIns="0" tIns="0" rIns="0" bIns="0" rtlCol="0" anchor="t"/>
          <a:lstStyle/>
          <a:p>
            <a:pPr indent="0" marL="0">
              <a:buNone/>
            </a:pPr>
            <a:r>
              <a:rPr lang="en-US" sz="800" dirty="0">
                <a:solidFill>
                  <a:srgbClr val="5E6964"/>
                </a:solidFill>
                <a:latin typeface="Calibri" pitchFamily="34" charset="0"/>
                <a:ea typeface="Calibri" pitchFamily="34" charset="-122"/>
                <a:cs typeface="Calibri" pitchFamily="34" charset="-120"/>
              </a:rPr>
              <a:t>console.groq.com</a:t>
            </a:r>
            <a:endParaRPr lang="en-US" sz="800" dirty="0"/>
          </a:p>
        </p:txBody>
      </p:sp>
      <p:sp>
        <p:nvSpPr>
          <p:cNvPr id="29" name="Text 24"/>
          <p:cNvSpPr txBox="1"/>
          <p:nvPr/>
        </p:nvSpPr>
        <p:spPr>
          <a:xfrm>
            <a:off x="2688336" y="1947672"/>
            <a:ext cx="1664208" cy="5029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Very fast open-weight models (Llama, GPT-OSS) for code and text.</a:t>
            </a:r>
            <a:endParaRPr lang="en-US" sz="950" dirty="0"/>
          </a:p>
        </p:txBody>
      </p:sp>
      <p:sp>
        <p:nvSpPr>
          <p:cNvPr id="30" name="Text 25"/>
          <p:cNvSpPr txBox="1"/>
          <p:nvPr/>
        </p:nvSpPr>
        <p:spPr>
          <a:xfrm>
            <a:off x="2688336" y="2487168"/>
            <a:ext cx="1664208" cy="201168"/>
          </a:xfrm>
          <a:prstGeom prst="rect">
            <a:avLst/>
          </a:prstGeom>
          <a:noFill/>
          <a:ln/>
        </p:spPr>
        <p:txBody>
          <a:bodyPr wrap="square" lIns="0" tIns="0" rIns="0" bIns="0" rtlCol="0" anchor="t"/>
          <a:lstStyle/>
          <a:p>
            <a:pPr indent="0" marL="0">
              <a:buNone/>
            </a:pPr>
            <a:r>
              <a:rPr lang="en-US" sz="850" b="1" i="1" dirty="0">
                <a:solidFill>
                  <a:srgbClr val="D49A00"/>
                </a:solidFill>
                <a:latin typeface="Calibri" pitchFamily="34" charset="0"/>
                <a:ea typeface="Calibri" pitchFamily="34" charset="-122"/>
                <a:cs typeface="Calibri" pitchFamily="34" charset="-120"/>
              </a:rPr>
              <a:t>~30 req/min, org-level limits</a:t>
            </a:r>
            <a:endParaRPr lang="en-US" sz="850" dirty="0"/>
          </a:p>
        </p:txBody>
      </p:sp>
      <p:sp>
        <p:nvSpPr>
          <p:cNvPr id="31" name="Shape 26"/>
          <p:cNvSpPr/>
          <p:nvPr/>
        </p:nvSpPr>
        <p:spPr>
          <a:xfrm>
            <a:off x="4645152" y="1325880"/>
            <a:ext cx="1938528" cy="1444752"/>
          </a:xfrm>
          <a:prstGeom prst="roundRect">
            <a:avLst>
              <a:gd name="adj" fmla="val 5063"/>
            </a:avLst>
          </a:prstGeom>
          <a:solidFill>
            <a:srgbClr val="F4F7F5"/>
          </a:solidFill>
          <a:ln w="9525">
            <a:solidFill>
              <a:srgbClr val="D5DED9"/>
            </a:solidFill>
            <a:prstDash val="solid"/>
          </a:ln>
        </p:spPr>
      </p:sp>
      <p:sp>
        <p:nvSpPr>
          <p:cNvPr id="32" name="Shape 27"/>
          <p:cNvSpPr/>
          <p:nvPr/>
        </p:nvSpPr>
        <p:spPr>
          <a:xfrm>
            <a:off x="4782312" y="1463040"/>
            <a:ext cx="402336" cy="402336"/>
          </a:xfrm>
          <a:prstGeom prst="ellipse">
            <a:avLst/>
          </a:prstGeom>
          <a:solidFill>
            <a:srgbClr val="0E7C86">
              <a:alpha val="22000"/>
            </a:srgbClr>
          </a:solidFill>
          <a:ln/>
        </p:spPr>
      </p:sp>
      <p:pic>
        <p:nvPicPr>
          <p:cNvPr id="33" name="Image 2" descr="preencoded.png">    </p:cNvPr>
          <p:cNvPicPr>
            <a:picLocks noChangeAspect="1"/>
          </p:cNvPicPr>
          <p:nvPr/>
        </p:nvPicPr>
        <p:blipFill>
          <a:blip r:embed="rId3"/>
          <a:stretch>
            <a:fillRect/>
          </a:stretch>
        </p:blipFill>
        <p:spPr>
          <a:xfrm>
            <a:off x="4882896" y="1563624"/>
            <a:ext cx="201168" cy="201168"/>
          </a:xfrm>
          <a:prstGeom prst="rect">
            <a:avLst/>
          </a:prstGeom>
        </p:spPr>
      </p:pic>
      <p:sp>
        <p:nvSpPr>
          <p:cNvPr id="34" name="Text 28"/>
          <p:cNvSpPr txBox="1"/>
          <p:nvPr/>
        </p:nvSpPr>
        <p:spPr>
          <a:xfrm>
            <a:off x="5248656" y="1453896"/>
            <a:ext cx="1298448" cy="237744"/>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NotebookLM</a:t>
            </a:r>
            <a:endParaRPr lang="en-US" sz="1300" dirty="0"/>
          </a:p>
        </p:txBody>
      </p:sp>
      <p:sp>
        <p:nvSpPr>
          <p:cNvPr id="35" name="Text 29"/>
          <p:cNvSpPr txBox="1"/>
          <p:nvPr/>
        </p:nvSpPr>
        <p:spPr>
          <a:xfrm>
            <a:off x="5248656" y="1673352"/>
            <a:ext cx="1298448" cy="182880"/>
          </a:xfrm>
          <a:prstGeom prst="rect">
            <a:avLst/>
          </a:prstGeom>
          <a:noFill/>
          <a:ln/>
        </p:spPr>
        <p:txBody>
          <a:bodyPr wrap="square" lIns="0" tIns="0" rIns="0" bIns="0" rtlCol="0" anchor="t"/>
          <a:lstStyle/>
          <a:p>
            <a:pPr indent="0" marL="0">
              <a:buNone/>
            </a:pPr>
            <a:r>
              <a:rPr lang="en-US" sz="800" dirty="0">
                <a:solidFill>
                  <a:srgbClr val="5E6964"/>
                </a:solidFill>
                <a:latin typeface="Calibri" pitchFamily="34" charset="0"/>
                <a:ea typeface="Calibri" pitchFamily="34" charset="-122"/>
                <a:cs typeface="Calibri" pitchFamily="34" charset="-120"/>
              </a:rPr>
              <a:t>notebooklm.google.com</a:t>
            </a:r>
            <a:endParaRPr lang="en-US" sz="800" dirty="0"/>
          </a:p>
        </p:txBody>
      </p:sp>
      <p:sp>
        <p:nvSpPr>
          <p:cNvPr id="36" name="Text 30"/>
          <p:cNvSpPr txBox="1"/>
          <p:nvPr/>
        </p:nvSpPr>
        <p:spPr>
          <a:xfrm>
            <a:off x="4782312" y="1947672"/>
            <a:ext cx="1664208" cy="5029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Answers grounded in your uploaded sources, with citations; audio overviews.</a:t>
            </a:r>
            <a:endParaRPr lang="en-US" sz="950" dirty="0"/>
          </a:p>
        </p:txBody>
      </p:sp>
      <p:sp>
        <p:nvSpPr>
          <p:cNvPr id="37" name="Text 31"/>
          <p:cNvSpPr txBox="1"/>
          <p:nvPr/>
        </p:nvSpPr>
        <p:spPr>
          <a:xfrm>
            <a:off x="4782312" y="2487168"/>
            <a:ext cx="1664208" cy="201168"/>
          </a:xfrm>
          <a:prstGeom prst="rect">
            <a:avLst/>
          </a:prstGeom>
          <a:noFill/>
          <a:ln/>
        </p:spPr>
        <p:txBody>
          <a:bodyPr wrap="square" lIns="0" tIns="0" rIns="0" bIns="0" rtlCol="0" anchor="t"/>
          <a:lstStyle/>
          <a:p>
            <a:pPr indent="0" marL="0">
              <a:buNone/>
            </a:pPr>
            <a:r>
              <a:rPr lang="en-US" sz="850" b="1" i="1" dirty="0">
                <a:solidFill>
                  <a:srgbClr val="D49A00"/>
                </a:solidFill>
                <a:latin typeface="Calibri" pitchFamily="34" charset="0"/>
                <a:ea typeface="Calibri" pitchFamily="34" charset="-122"/>
                <a:cs typeface="Calibri" pitchFamily="34" charset="-120"/>
              </a:rPr>
              <a:t>Daily usage caps</a:t>
            </a:r>
            <a:endParaRPr lang="en-US" sz="850" dirty="0"/>
          </a:p>
        </p:txBody>
      </p:sp>
      <p:sp>
        <p:nvSpPr>
          <p:cNvPr id="38" name="Shape 32"/>
          <p:cNvSpPr/>
          <p:nvPr/>
        </p:nvSpPr>
        <p:spPr>
          <a:xfrm>
            <a:off x="6739128" y="1325880"/>
            <a:ext cx="1938528" cy="1444752"/>
          </a:xfrm>
          <a:prstGeom prst="roundRect">
            <a:avLst>
              <a:gd name="adj" fmla="val 5063"/>
            </a:avLst>
          </a:prstGeom>
          <a:solidFill>
            <a:srgbClr val="F4F7F5"/>
          </a:solidFill>
          <a:ln w="9525">
            <a:solidFill>
              <a:srgbClr val="D5DED9"/>
            </a:solidFill>
            <a:prstDash val="solid"/>
          </a:ln>
        </p:spPr>
      </p:sp>
      <p:sp>
        <p:nvSpPr>
          <p:cNvPr id="39" name="Shape 33"/>
          <p:cNvSpPr/>
          <p:nvPr/>
        </p:nvSpPr>
        <p:spPr>
          <a:xfrm>
            <a:off x="6876288" y="1463040"/>
            <a:ext cx="402336" cy="402336"/>
          </a:xfrm>
          <a:prstGeom prst="ellipse">
            <a:avLst/>
          </a:prstGeom>
          <a:solidFill>
            <a:srgbClr val="D49A00">
              <a:alpha val="22000"/>
            </a:srgbClr>
          </a:solidFill>
          <a:ln/>
        </p:spPr>
      </p:sp>
      <p:pic>
        <p:nvPicPr>
          <p:cNvPr id="40" name="Image 3" descr="preencoded.png">    </p:cNvPr>
          <p:cNvPicPr>
            <a:picLocks noChangeAspect="1"/>
          </p:cNvPicPr>
          <p:nvPr/>
        </p:nvPicPr>
        <p:blipFill>
          <a:blip r:embed="rId4"/>
          <a:stretch>
            <a:fillRect/>
          </a:stretch>
        </p:blipFill>
        <p:spPr>
          <a:xfrm>
            <a:off x="6976872" y="1563624"/>
            <a:ext cx="201168" cy="201168"/>
          </a:xfrm>
          <a:prstGeom prst="rect">
            <a:avLst/>
          </a:prstGeom>
        </p:spPr>
      </p:pic>
      <p:sp>
        <p:nvSpPr>
          <p:cNvPr id="41" name="Text 34"/>
          <p:cNvSpPr txBox="1"/>
          <p:nvPr/>
        </p:nvSpPr>
        <p:spPr>
          <a:xfrm>
            <a:off x="7342632" y="1453896"/>
            <a:ext cx="1298448" cy="237744"/>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Google Colab</a:t>
            </a:r>
            <a:endParaRPr lang="en-US" sz="1300" dirty="0"/>
          </a:p>
        </p:txBody>
      </p:sp>
      <p:sp>
        <p:nvSpPr>
          <p:cNvPr id="42" name="Text 35"/>
          <p:cNvSpPr txBox="1"/>
          <p:nvPr/>
        </p:nvSpPr>
        <p:spPr>
          <a:xfrm>
            <a:off x="7342632" y="1673352"/>
            <a:ext cx="1298448" cy="182880"/>
          </a:xfrm>
          <a:prstGeom prst="rect">
            <a:avLst/>
          </a:prstGeom>
          <a:noFill/>
          <a:ln/>
        </p:spPr>
        <p:txBody>
          <a:bodyPr wrap="square" lIns="0" tIns="0" rIns="0" bIns="0" rtlCol="0" anchor="t"/>
          <a:lstStyle/>
          <a:p>
            <a:pPr indent="0" marL="0">
              <a:buNone/>
            </a:pPr>
            <a:r>
              <a:rPr lang="en-US" sz="800" dirty="0">
                <a:solidFill>
                  <a:srgbClr val="5E6964"/>
                </a:solidFill>
                <a:latin typeface="Calibri" pitchFamily="34" charset="0"/>
                <a:ea typeface="Calibri" pitchFamily="34" charset="-122"/>
                <a:cs typeface="Calibri" pitchFamily="34" charset="-120"/>
              </a:rPr>
              <a:t>colab.research.google.com</a:t>
            </a:r>
            <a:endParaRPr lang="en-US" sz="800" dirty="0"/>
          </a:p>
        </p:txBody>
      </p:sp>
      <p:sp>
        <p:nvSpPr>
          <p:cNvPr id="43" name="Text 36"/>
          <p:cNvSpPr txBox="1"/>
          <p:nvPr/>
        </p:nvSpPr>
        <p:spPr>
          <a:xfrm>
            <a:off x="6876288" y="1947672"/>
            <a:ext cx="1664208" cy="5029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Free hosted Python to run the lab notebook — nothing to install.</a:t>
            </a:r>
            <a:endParaRPr lang="en-US" sz="950" dirty="0"/>
          </a:p>
        </p:txBody>
      </p:sp>
      <p:sp>
        <p:nvSpPr>
          <p:cNvPr id="44" name="Text 37"/>
          <p:cNvSpPr txBox="1"/>
          <p:nvPr/>
        </p:nvSpPr>
        <p:spPr>
          <a:xfrm>
            <a:off x="6876288" y="2487168"/>
            <a:ext cx="1664208" cy="201168"/>
          </a:xfrm>
          <a:prstGeom prst="rect">
            <a:avLst/>
          </a:prstGeom>
          <a:noFill/>
          <a:ln/>
        </p:spPr>
        <p:txBody>
          <a:bodyPr wrap="square" lIns="0" tIns="0" rIns="0" bIns="0" rtlCol="0" anchor="t"/>
          <a:lstStyle/>
          <a:p>
            <a:pPr indent="0" marL="0">
              <a:buNone/>
            </a:pPr>
            <a:r>
              <a:rPr lang="en-US" sz="850" b="1" i="1" dirty="0">
                <a:solidFill>
                  <a:srgbClr val="D49A00"/>
                </a:solidFill>
                <a:latin typeface="Calibri" pitchFamily="34" charset="0"/>
                <a:ea typeface="Calibri" pitchFamily="34" charset="-122"/>
                <a:cs typeface="Calibri" pitchFamily="34" charset="-120"/>
              </a:rPr>
              <a:t>Sessions time out</a:t>
            </a:r>
            <a:endParaRPr lang="en-US" sz="850" dirty="0"/>
          </a:p>
        </p:txBody>
      </p:sp>
      <p:sp>
        <p:nvSpPr>
          <p:cNvPr id="45" name="Shape 38"/>
          <p:cNvSpPr/>
          <p:nvPr/>
        </p:nvSpPr>
        <p:spPr>
          <a:xfrm>
            <a:off x="457200" y="2907792"/>
            <a:ext cx="1938528" cy="1444752"/>
          </a:xfrm>
          <a:prstGeom prst="roundRect">
            <a:avLst>
              <a:gd name="adj" fmla="val 5063"/>
            </a:avLst>
          </a:prstGeom>
          <a:solidFill>
            <a:srgbClr val="F4F7F5"/>
          </a:solidFill>
          <a:ln w="9525">
            <a:solidFill>
              <a:srgbClr val="D5DED9"/>
            </a:solidFill>
            <a:prstDash val="solid"/>
          </a:ln>
        </p:spPr>
      </p:sp>
      <p:sp>
        <p:nvSpPr>
          <p:cNvPr id="46" name="Shape 39"/>
          <p:cNvSpPr/>
          <p:nvPr/>
        </p:nvSpPr>
        <p:spPr>
          <a:xfrm>
            <a:off x="594360" y="3044952"/>
            <a:ext cx="402336" cy="402336"/>
          </a:xfrm>
          <a:prstGeom prst="ellipse">
            <a:avLst/>
          </a:prstGeom>
          <a:solidFill>
            <a:srgbClr val="C4621D">
              <a:alpha val="22000"/>
            </a:srgbClr>
          </a:solidFill>
          <a:ln/>
        </p:spPr>
      </p:sp>
      <p:pic>
        <p:nvPicPr>
          <p:cNvPr id="47" name="Image 4" descr="preencoded.png">    </p:cNvPr>
          <p:cNvPicPr>
            <a:picLocks noChangeAspect="1"/>
          </p:cNvPicPr>
          <p:nvPr/>
        </p:nvPicPr>
        <p:blipFill>
          <a:blip r:embed="rId5"/>
          <a:stretch>
            <a:fillRect/>
          </a:stretch>
        </p:blipFill>
        <p:spPr>
          <a:xfrm>
            <a:off x="694944" y="3145536"/>
            <a:ext cx="201168" cy="201168"/>
          </a:xfrm>
          <a:prstGeom prst="rect">
            <a:avLst/>
          </a:prstGeom>
        </p:spPr>
      </p:pic>
      <p:sp>
        <p:nvSpPr>
          <p:cNvPr id="48" name="Text 40"/>
          <p:cNvSpPr txBox="1"/>
          <p:nvPr/>
        </p:nvSpPr>
        <p:spPr>
          <a:xfrm>
            <a:off x="1060704" y="3035808"/>
            <a:ext cx="1298448" cy="237744"/>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Gemini app</a:t>
            </a:r>
            <a:endParaRPr lang="en-US" sz="1300" dirty="0"/>
          </a:p>
        </p:txBody>
      </p:sp>
      <p:sp>
        <p:nvSpPr>
          <p:cNvPr id="49" name="Text 41"/>
          <p:cNvSpPr txBox="1"/>
          <p:nvPr/>
        </p:nvSpPr>
        <p:spPr>
          <a:xfrm>
            <a:off x="1060704" y="3255264"/>
            <a:ext cx="1298448" cy="182880"/>
          </a:xfrm>
          <a:prstGeom prst="rect">
            <a:avLst/>
          </a:prstGeom>
          <a:noFill/>
          <a:ln/>
        </p:spPr>
        <p:txBody>
          <a:bodyPr wrap="square" lIns="0" tIns="0" rIns="0" bIns="0" rtlCol="0" anchor="t"/>
          <a:lstStyle/>
          <a:p>
            <a:pPr indent="0" marL="0">
              <a:buNone/>
            </a:pPr>
            <a:r>
              <a:rPr lang="en-US" sz="800" dirty="0">
                <a:solidFill>
                  <a:srgbClr val="5E6964"/>
                </a:solidFill>
                <a:latin typeface="Calibri" pitchFamily="34" charset="0"/>
                <a:ea typeface="Calibri" pitchFamily="34" charset="-122"/>
                <a:cs typeface="Calibri" pitchFamily="34" charset="-120"/>
              </a:rPr>
              <a:t>gemini.google.com</a:t>
            </a:r>
            <a:endParaRPr lang="en-US" sz="800" dirty="0"/>
          </a:p>
        </p:txBody>
      </p:sp>
      <p:sp>
        <p:nvSpPr>
          <p:cNvPr id="50" name="Text 42"/>
          <p:cNvSpPr txBox="1"/>
          <p:nvPr/>
        </p:nvSpPr>
        <p:spPr>
          <a:xfrm>
            <a:off x="594360" y="3529584"/>
            <a:ext cx="1664208" cy="5029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Chat with images and files; image generation for mood boards.</a:t>
            </a:r>
            <a:endParaRPr lang="en-US" sz="950" dirty="0"/>
          </a:p>
        </p:txBody>
      </p:sp>
      <p:sp>
        <p:nvSpPr>
          <p:cNvPr id="51" name="Text 43"/>
          <p:cNvSpPr txBox="1"/>
          <p:nvPr/>
        </p:nvSpPr>
        <p:spPr>
          <a:xfrm>
            <a:off x="594360" y="4069080"/>
            <a:ext cx="1664208" cy="201168"/>
          </a:xfrm>
          <a:prstGeom prst="rect">
            <a:avLst/>
          </a:prstGeom>
          <a:noFill/>
          <a:ln/>
        </p:spPr>
        <p:txBody>
          <a:bodyPr wrap="square" lIns="0" tIns="0" rIns="0" bIns="0" rtlCol="0" anchor="t"/>
          <a:lstStyle/>
          <a:p>
            <a:pPr indent="0" marL="0">
              <a:buNone/>
            </a:pPr>
            <a:r>
              <a:rPr lang="en-US" sz="850" b="1" i="1" dirty="0">
                <a:solidFill>
                  <a:srgbClr val="D49A00"/>
                </a:solidFill>
                <a:latin typeface="Calibri" pitchFamily="34" charset="0"/>
                <a:ea typeface="Calibri" pitchFamily="34" charset="-122"/>
                <a:cs typeface="Calibri" pitchFamily="34" charset="-120"/>
              </a:rPr>
              <a:t>Daily caps on images</a:t>
            </a:r>
            <a:endParaRPr lang="en-US" sz="850" dirty="0"/>
          </a:p>
        </p:txBody>
      </p:sp>
      <p:sp>
        <p:nvSpPr>
          <p:cNvPr id="52" name="Shape 44"/>
          <p:cNvSpPr/>
          <p:nvPr/>
        </p:nvSpPr>
        <p:spPr>
          <a:xfrm>
            <a:off x="2551176" y="2907792"/>
            <a:ext cx="1938528" cy="1444752"/>
          </a:xfrm>
          <a:prstGeom prst="roundRect">
            <a:avLst>
              <a:gd name="adj" fmla="val 5063"/>
            </a:avLst>
          </a:prstGeom>
          <a:solidFill>
            <a:srgbClr val="F4F7F5"/>
          </a:solidFill>
          <a:ln w="9525">
            <a:solidFill>
              <a:srgbClr val="D5DED9"/>
            </a:solidFill>
            <a:prstDash val="solid"/>
          </a:ln>
        </p:spPr>
      </p:sp>
      <p:sp>
        <p:nvSpPr>
          <p:cNvPr id="53" name="Shape 45"/>
          <p:cNvSpPr/>
          <p:nvPr/>
        </p:nvSpPr>
        <p:spPr>
          <a:xfrm>
            <a:off x="2688336" y="3044952"/>
            <a:ext cx="402336" cy="402336"/>
          </a:xfrm>
          <a:prstGeom prst="ellipse">
            <a:avLst/>
          </a:prstGeom>
          <a:solidFill>
            <a:srgbClr val="0E7C86">
              <a:alpha val="22000"/>
            </a:srgbClr>
          </a:solidFill>
          <a:ln/>
        </p:spPr>
      </p:sp>
      <p:pic>
        <p:nvPicPr>
          <p:cNvPr id="54" name="Image 5" descr="preencoded.png">    </p:cNvPr>
          <p:cNvPicPr>
            <a:picLocks noChangeAspect="1"/>
          </p:cNvPicPr>
          <p:nvPr/>
        </p:nvPicPr>
        <p:blipFill>
          <a:blip r:embed="rId6"/>
          <a:stretch>
            <a:fillRect/>
          </a:stretch>
        </p:blipFill>
        <p:spPr>
          <a:xfrm>
            <a:off x="2788920" y="3145536"/>
            <a:ext cx="201168" cy="201168"/>
          </a:xfrm>
          <a:prstGeom prst="rect">
            <a:avLst/>
          </a:prstGeom>
        </p:spPr>
      </p:pic>
      <p:sp>
        <p:nvSpPr>
          <p:cNvPr id="55" name="Text 46"/>
          <p:cNvSpPr txBox="1"/>
          <p:nvPr/>
        </p:nvSpPr>
        <p:spPr>
          <a:xfrm>
            <a:off x="3154680" y="3035808"/>
            <a:ext cx="1298448" cy="237744"/>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ChatGPT (free)</a:t>
            </a:r>
            <a:endParaRPr lang="en-US" sz="1300" dirty="0"/>
          </a:p>
        </p:txBody>
      </p:sp>
      <p:sp>
        <p:nvSpPr>
          <p:cNvPr id="56" name="Text 47"/>
          <p:cNvSpPr txBox="1"/>
          <p:nvPr/>
        </p:nvSpPr>
        <p:spPr>
          <a:xfrm>
            <a:off x="3154680" y="3255264"/>
            <a:ext cx="1298448" cy="182880"/>
          </a:xfrm>
          <a:prstGeom prst="rect">
            <a:avLst/>
          </a:prstGeom>
          <a:noFill/>
          <a:ln/>
        </p:spPr>
        <p:txBody>
          <a:bodyPr wrap="square" lIns="0" tIns="0" rIns="0" bIns="0" rtlCol="0" anchor="t"/>
          <a:lstStyle/>
          <a:p>
            <a:pPr indent="0" marL="0">
              <a:buNone/>
            </a:pPr>
            <a:r>
              <a:rPr lang="en-US" sz="800" dirty="0">
                <a:solidFill>
                  <a:srgbClr val="5E6964"/>
                </a:solidFill>
                <a:latin typeface="Calibri" pitchFamily="34" charset="0"/>
                <a:ea typeface="Calibri" pitchFamily="34" charset="-122"/>
                <a:cs typeface="Calibri" pitchFamily="34" charset="-120"/>
              </a:rPr>
              <a:t>chatgpt.com</a:t>
            </a:r>
            <a:endParaRPr lang="en-US" sz="800" dirty="0"/>
          </a:p>
        </p:txBody>
      </p:sp>
      <p:sp>
        <p:nvSpPr>
          <p:cNvPr id="57" name="Text 48"/>
          <p:cNvSpPr txBox="1"/>
          <p:nvPr/>
        </p:nvSpPr>
        <p:spPr>
          <a:xfrm>
            <a:off x="2688336" y="3529584"/>
            <a:ext cx="1664208" cy="5029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General drafting, code help, file uploads.</a:t>
            </a:r>
            <a:endParaRPr lang="en-US" sz="950" dirty="0"/>
          </a:p>
        </p:txBody>
      </p:sp>
      <p:sp>
        <p:nvSpPr>
          <p:cNvPr id="58" name="Text 49"/>
          <p:cNvSpPr txBox="1"/>
          <p:nvPr/>
        </p:nvSpPr>
        <p:spPr>
          <a:xfrm>
            <a:off x="2688336" y="4069080"/>
            <a:ext cx="1664208" cy="201168"/>
          </a:xfrm>
          <a:prstGeom prst="rect">
            <a:avLst/>
          </a:prstGeom>
          <a:noFill/>
          <a:ln/>
        </p:spPr>
        <p:txBody>
          <a:bodyPr wrap="square" lIns="0" tIns="0" rIns="0" bIns="0" rtlCol="0" anchor="t"/>
          <a:lstStyle/>
          <a:p>
            <a:pPr indent="0" marL="0">
              <a:buNone/>
            </a:pPr>
            <a:r>
              <a:rPr lang="en-US" sz="850" b="1" i="1" dirty="0">
                <a:solidFill>
                  <a:srgbClr val="D49A00"/>
                </a:solidFill>
                <a:latin typeface="Calibri" pitchFamily="34" charset="0"/>
                <a:ea typeface="Calibri" pitchFamily="34" charset="-122"/>
                <a:cs typeface="Calibri" pitchFamily="34" charset="-120"/>
              </a:rPr>
              <a:t>Message caps; model downgrades</a:t>
            </a:r>
            <a:endParaRPr lang="en-US" sz="850" dirty="0"/>
          </a:p>
        </p:txBody>
      </p:sp>
      <p:sp>
        <p:nvSpPr>
          <p:cNvPr id="59" name="Shape 50"/>
          <p:cNvSpPr/>
          <p:nvPr/>
        </p:nvSpPr>
        <p:spPr>
          <a:xfrm>
            <a:off x="4645152" y="2907792"/>
            <a:ext cx="1938528" cy="1444752"/>
          </a:xfrm>
          <a:prstGeom prst="roundRect">
            <a:avLst>
              <a:gd name="adj" fmla="val 5063"/>
            </a:avLst>
          </a:prstGeom>
          <a:solidFill>
            <a:srgbClr val="F4F7F5"/>
          </a:solidFill>
          <a:ln w="9525">
            <a:solidFill>
              <a:srgbClr val="D5DED9"/>
            </a:solidFill>
            <a:prstDash val="solid"/>
          </a:ln>
        </p:spPr>
      </p:sp>
      <p:sp>
        <p:nvSpPr>
          <p:cNvPr id="60" name="Shape 51"/>
          <p:cNvSpPr/>
          <p:nvPr/>
        </p:nvSpPr>
        <p:spPr>
          <a:xfrm>
            <a:off x="4782312" y="3044952"/>
            <a:ext cx="402336" cy="402336"/>
          </a:xfrm>
          <a:prstGeom prst="ellipse">
            <a:avLst/>
          </a:prstGeom>
          <a:solidFill>
            <a:srgbClr val="00704A">
              <a:alpha val="22000"/>
            </a:srgbClr>
          </a:solidFill>
          <a:ln/>
        </p:spPr>
      </p:sp>
      <p:pic>
        <p:nvPicPr>
          <p:cNvPr id="61" name="Image 6" descr="preencoded.png">    </p:cNvPr>
          <p:cNvPicPr>
            <a:picLocks noChangeAspect="1"/>
          </p:cNvPicPr>
          <p:nvPr/>
        </p:nvPicPr>
        <p:blipFill>
          <a:blip r:embed="rId7"/>
          <a:stretch>
            <a:fillRect/>
          </a:stretch>
        </p:blipFill>
        <p:spPr>
          <a:xfrm>
            <a:off x="4882896" y="3145536"/>
            <a:ext cx="201168" cy="201168"/>
          </a:xfrm>
          <a:prstGeom prst="rect">
            <a:avLst/>
          </a:prstGeom>
        </p:spPr>
      </p:pic>
      <p:sp>
        <p:nvSpPr>
          <p:cNvPr id="62" name="Text 52"/>
          <p:cNvSpPr txBox="1"/>
          <p:nvPr/>
        </p:nvSpPr>
        <p:spPr>
          <a:xfrm>
            <a:off x="5248656" y="3035808"/>
            <a:ext cx="1298448" cy="237744"/>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Claude (free)</a:t>
            </a:r>
            <a:endParaRPr lang="en-US" sz="1300" dirty="0"/>
          </a:p>
        </p:txBody>
      </p:sp>
      <p:sp>
        <p:nvSpPr>
          <p:cNvPr id="63" name="Text 53"/>
          <p:cNvSpPr txBox="1"/>
          <p:nvPr/>
        </p:nvSpPr>
        <p:spPr>
          <a:xfrm>
            <a:off x="5248656" y="3255264"/>
            <a:ext cx="1298448" cy="182880"/>
          </a:xfrm>
          <a:prstGeom prst="rect">
            <a:avLst/>
          </a:prstGeom>
          <a:noFill/>
          <a:ln/>
        </p:spPr>
        <p:txBody>
          <a:bodyPr wrap="square" lIns="0" tIns="0" rIns="0" bIns="0" rtlCol="0" anchor="t"/>
          <a:lstStyle/>
          <a:p>
            <a:pPr indent="0" marL="0">
              <a:buNone/>
            </a:pPr>
            <a:r>
              <a:rPr lang="en-US" sz="800" dirty="0">
                <a:solidFill>
                  <a:srgbClr val="5E6964"/>
                </a:solidFill>
                <a:latin typeface="Calibri" pitchFamily="34" charset="0"/>
                <a:ea typeface="Calibri" pitchFamily="34" charset="-122"/>
                <a:cs typeface="Calibri" pitchFamily="34" charset="-120"/>
              </a:rPr>
              <a:t>claude.ai</a:t>
            </a:r>
            <a:endParaRPr lang="en-US" sz="800" dirty="0"/>
          </a:p>
        </p:txBody>
      </p:sp>
      <p:sp>
        <p:nvSpPr>
          <p:cNvPr id="64" name="Text 54"/>
          <p:cNvSpPr txBox="1"/>
          <p:nvPr/>
        </p:nvSpPr>
        <p:spPr>
          <a:xfrm>
            <a:off x="4782312" y="3529584"/>
            <a:ext cx="1664208" cy="5029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Long-document drafting and code review.</a:t>
            </a:r>
            <a:endParaRPr lang="en-US" sz="950" dirty="0"/>
          </a:p>
        </p:txBody>
      </p:sp>
      <p:sp>
        <p:nvSpPr>
          <p:cNvPr id="65" name="Text 55"/>
          <p:cNvSpPr txBox="1"/>
          <p:nvPr/>
        </p:nvSpPr>
        <p:spPr>
          <a:xfrm>
            <a:off x="4782312" y="4069080"/>
            <a:ext cx="1664208" cy="201168"/>
          </a:xfrm>
          <a:prstGeom prst="rect">
            <a:avLst/>
          </a:prstGeom>
          <a:noFill/>
          <a:ln/>
        </p:spPr>
        <p:txBody>
          <a:bodyPr wrap="square" lIns="0" tIns="0" rIns="0" bIns="0" rtlCol="0" anchor="t"/>
          <a:lstStyle/>
          <a:p>
            <a:pPr indent="0" marL="0">
              <a:buNone/>
            </a:pPr>
            <a:r>
              <a:rPr lang="en-US" sz="850" b="1" i="1" dirty="0">
                <a:solidFill>
                  <a:srgbClr val="D49A00"/>
                </a:solidFill>
                <a:latin typeface="Calibri" pitchFamily="34" charset="0"/>
                <a:ea typeface="Calibri" pitchFamily="34" charset="-122"/>
                <a:cs typeface="Calibri" pitchFamily="34" charset="-120"/>
              </a:rPr>
              <a:t>Message caps per session</a:t>
            </a:r>
            <a:endParaRPr lang="en-US" sz="850" dirty="0"/>
          </a:p>
        </p:txBody>
      </p:sp>
      <p:sp>
        <p:nvSpPr>
          <p:cNvPr id="66" name="Shape 56"/>
          <p:cNvSpPr/>
          <p:nvPr/>
        </p:nvSpPr>
        <p:spPr>
          <a:xfrm>
            <a:off x="6739128" y="2907792"/>
            <a:ext cx="1938528" cy="1444752"/>
          </a:xfrm>
          <a:prstGeom prst="roundRect">
            <a:avLst>
              <a:gd name="adj" fmla="val 5063"/>
            </a:avLst>
          </a:prstGeom>
          <a:solidFill>
            <a:srgbClr val="FBF3DE"/>
          </a:solidFill>
          <a:ln w="12700">
            <a:solidFill>
              <a:srgbClr val="D49A00"/>
            </a:solidFill>
            <a:prstDash val="solid"/>
          </a:ln>
        </p:spPr>
      </p:sp>
      <p:sp>
        <p:nvSpPr>
          <p:cNvPr id="67" name="Shape 57"/>
          <p:cNvSpPr/>
          <p:nvPr/>
        </p:nvSpPr>
        <p:spPr>
          <a:xfrm>
            <a:off x="6876288" y="3044952"/>
            <a:ext cx="402336" cy="402336"/>
          </a:xfrm>
          <a:prstGeom prst="ellipse">
            <a:avLst/>
          </a:prstGeom>
          <a:solidFill>
            <a:srgbClr val="D49A00">
              <a:alpha val="22000"/>
            </a:srgbClr>
          </a:solidFill>
          <a:ln/>
        </p:spPr>
      </p:sp>
      <p:pic>
        <p:nvPicPr>
          <p:cNvPr id="68" name="Image 7" descr="preencoded.png">    </p:cNvPr>
          <p:cNvPicPr>
            <a:picLocks noChangeAspect="1"/>
          </p:cNvPicPr>
          <p:nvPr/>
        </p:nvPicPr>
        <p:blipFill>
          <a:blip r:embed="rId8"/>
          <a:stretch>
            <a:fillRect/>
          </a:stretch>
        </p:blipFill>
        <p:spPr>
          <a:xfrm>
            <a:off x="6976872" y="3145536"/>
            <a:ext cx="201168" cy="201168"/>
          </a:xfrm>
          <a:prstGeom prst="rect">
            <a:avLst/>
          </a:prstGeom>
        </p:spPr>
      </p:pic>
      <p:sp>
        <p:nvSpPr>
          <p:cNvPr id="69" name="Text 58"/>
          <p:cNvSpPr txBox="1"/>
          <p:nvPr/>
        </p:nvSpPr>
        <p:spPr>
          <a:xfrm>
            <a:off x="7342632" y="3090672"/>
            <a:ext cx="1280160" cy="32918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Limits change often</a:t>
            </a:r>
            <a:endParaRPr lang="en-US" sz="1200" dirty="0"/>
          </a:p>
        </p:txBody>
      </p:sp>
      <p:sp>
        <p:nvSpPr>
          <p:cNvPr id="70" name="Text 59"/>
          <p:cNvSpPr txBox="1"/>
          <p:nvPr/>
        </p:nvSpPr>
        <p:spPr>
          <a:xfrm>
            <a:off x="6876288" y="3547872"/>
            <a:ext cx="1664208" cy="73152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Figures shown are indicative at the time of writing. Check each provider's current terms on the day.</a:t>
            </a:r>
            <a:endParaRPr lang="en-US" sz="1000" dirty="0"/>
          </a:p>
        </p:txBody>
      </p:sp>
      <p:sp>
        <p:nvSpPr>
          <p:cNvPr id="71" name="Text 60"/>
          <p:cNvSpPr txBox="1"/>
          <p:nvPr/>
        </p:nvSpPr>
        <p:spPr>
          <a:xfrm>
            <a:off x="457200" y="4526280"/>
            <a:ext cx="749808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Sources: Google AI Studio &amp; Groq documentation, as reported by pecollective.com and klymentiev.com (2026). Indicative; subject to change.</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FREE TOOLKIT</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Matching each station to the right tool</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00704A"/>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STG17 · One Model, Many Jobs — an LLM Toolkit for Statisticians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9</a:t>
            </a:r>
            <a:endParaRPr lang="en-US" sz="850" dirty="0"/>
          </a:p>
        </p:txBody>
      </p:sp>
      <p:sp>
        <p:nvSpPr>
          <p:cNvPr id="17" name="Text 14"/>
          <p:cNvSpPr txBox="1"/>
          <p:nvPr/>
        </p:nvSpPr>
        <p:spPr>
          <a:xfrm>
            <a:off x="2834640" y="1298448"/>
            <a:ext cx="1170432" cy="274320"/>
          </a:xfrm>
          <a:prstGeom prst="rect">
            <a:avLst/>
          </a:prstGeom>
          <a:noFill/>
          <a:ln/>
        </p:spPr>
        <p:txBody>
          <a:bodyPr wrap="square" lIns="0" tIns="0" rIns="0" bIns="0" rtlCol="0" anchor="t"/>
          <a:lstStyle/>
          <a:p>
            <a:pPr algn="ctr" indent="0" marL="0">
              <a:buNone/>
            </a:pPr>
            <a:r>
              <a:rPr lang="en-US" sz="1100" b="1" dirty="0">
                <a:solidFill>
                  <a:srgbClr val="00704A"/>
                </a:solidFill>
                <a:latin typeface="Calibri" pitchFamily="34" charset="0"/>
                <a:ea typeface="Calibri" pitchFamily="34" charset="-122"/>
                <a:cs typeface="Calibri" pitchFamily="34" charset="-120"/>
              </a:rPr>
              <a:t>Chat apps</a:t>
            </a:r>
            <a:endParaRPr lang="en-US" sz="1100" dirty="0"/>
          </a:p>
        </p:txBody>
      </p:sp>
      <p:sp>
        <p:nvSpPr>
          <p:cNvPr id="18" name="Text 15"/>
          <p:cNvSpPr txBox="1"/>
          <p:nvPr/>
        </p:nvSpPr>
        <p:spPr>
          <a:xfrm>
            <a:off x="4005072" y="1298448"/>
            <a:ext cx="1170432" cy="274320"/>
          </a:xfrm>
          <a:prstGeom prst="rect">
            <a:avLst/>
          </a:prstGeom>
          <a:noFill/>
          <a:ln/>
        </p:spPr>
        <p:txBody>
          <a:bodyPr wrap="square" lIns="0" tIns="0" rIns="0" bIns="0" rtlCol="0" anchor="t"/>
          <a:lstStyle/>
          <a:p>
            <a:pPr algn="ctr" indent="0" marL="0">
              <a:buNone/>
            </a:pPr>
            <a:r>
              <a:rPr lang="en-US" sz="1100" b="1" dirty="0">
                <a:solidFill>
                  <a:srgbClr val="00704A"/>
                </a:solidFill>
                <a:latin typeface="Calibri" pitchFamily="34" charset="0"/>
                <a:ea typeface="Calibri" pitchFamily="34" charset="-122"/>
                <a:cs typeface="Calibri" pitchFamily="34" charset="-120"/>
              </a:rPr>
              <a:t>NotebookLM</a:t>
            </a:r>
            <a:endParaRPr lang="en-US" sz="1100" dirty="0"/>
          </a:p>
        </p:txBody>
      </p:sp>
      <p:sp>
        <p:nvSpPr>
          <p:cNvPr id="19" name="Text 16"/>
          <p:cNvSpPr txBox="1"/>
          <p:nvPr/>
        </p:nvSpPr>
        <p:spPr>
          <a:xfrm>
            <a:off x="5175504" y="1298448"/>
            <a:ext cx="1170432" cy="274320"/>
          </a:xfrm>
          <a:prstGeom prst="rect">
            <a:avLst/>
          </a:prstGeom>
          <a:noFill/>
          <a:ln/>
        </p:spPr>
        <p:txBody>
          <a:bodyPr wrap="square" lIns="0" tIns="0" rIns="0" bIns="0" rtlCol="0" anchor="t"/>
          <a:lstStyle/>
          <a:p>
            <a:pPr algn="ctr" indent="0" marL="0">
              <a:buNone/>
            </a:pPr>
            <a:r>
              <a:rPr lang="en-US" sz="1100" b="1" dirty="0">
                <a:solidFill>
                  <a:srgbClr val="00704A"/>
                </a:solidFill>
                <a:latin typeface="Calibri" pitchFamily="34" charset="0"/>
                <a:ea typeface="Calibri" pitchFamily="34" charset="-122"/>
                <a:cs typeface="Calibri" pitchFamily="34" charset="-120"/>
              </a:rPr>
              <a:t>Gemini API</a:t>
            </a:r>
            <a:endParaRPr lang="en-US" sz="1100" dirty="0"/>
          </a:p>
        </p:txBody>
      </p:sp>
      <p:sp>
        <p:nvSpPr>
          <p:cNvPr id="20" name="Text 17"/>
          <p:cNvSpPr txBox="1"/>
          <p:nvPr/>
        </p:nvSpPr>
        <p:spPr>
          <a:xfrm>
            <a:off x="6345936" y="1298448"/>
            <a:ext cx="1170432" cy="274320"/>
          </a:xfrm>
          <a:prstGeom prst="rect">
            <a:avLst/>
          </a:prstGeom>
          <a:noFill/>
          <a:ln/>
        </p:spPr>
        <p:txBody>
          <a:bodyPr wrap="square" lIns="0" tIns="0" rIns="0" bIns="0" rtlCol="0" anchor="t"/>
          <a:lstStyle/>
          <a:p>
            <a:pPr algn="ctr" indent="0" marL="0">
              <a:buNone/>
            </a:pPr>
            <a:r>
              <a:rPr lang="en-US" sz="1100" b="1" dirty="0">
                <a:solidFill>
                  <a:srgbClr val="00704A"/>
                </a:solidFill>
                <a:latin typeface="Calibri" pitchFamily="34" charset="0"/>
                <a:ea typeface="Calibri" pitchFamily="34" charset="-122"/>
                <a:cs typeface="Calibri" pitchFamily="34" charset="-120"/>
              </a:rPr>
              <a:t>Groq API</a:t>
            </a:r>
            <a:endParaRPr lang="en-US" sz="1100" dirty="0"/>
          </a:p>
        </p:txBody>
      </p:sp>
      <p:sp>
        <p:nvSpPr>
          <p:cNvPr id="21" name="Text 18"/>
          <p:cNvSpPr txBox="1"/>
          <p:nvPr/>
        </p:nvSpPr>
        <p:spPr>
          <a:xfrm>
            <a:off x="7516368" y="1298448"/>
            <a:ext cx="1170432" cy="274320"/>
          </a:xfrm>
          <a:prstGeom prst="rect">
            <a:avLst/>
          </a:prstGeom>
          <a:noFill/>
          <a:ln/>
        </p:spPr>
        <p:txBody>
          <a:bodyPr wrap="square" lIns="0" tIns="0" rIns="0" bIns="0" rtlCol="0" anchor="t"/>
          <a:lstStyle/>
          <a:p>
            <a:pPr algn="ctr" indent="0" marL="0">
              <a:buNone/>
            </a:pPr>
            <a:r>
              <a:rPr lang="en-US" sz="1100" b="1" dirty="0">
                <a:solidFill>
                  <a:srgbClr val="00704A"/>
                </a:solidFill>
                <a:latin typeface="Calibri" pitchFamily="34" charset="0"/>
                <a:ea typeface="Calibri" pitchFamily="34" charset="-122"/>
                <a:cs typeface="Calibri" pitchFamily="34" charset="-120"/>
              </a:rPr>
              <a:t>Colab notebook</a:t>
            </a:r>
            <a:endParaRPr lang="en-US" sz="1100" dirty="0"/>
          </a:p>
        </p:txBody>
      </p:sp>
      <p:sp>
        <p:nvSpPr>
          <p:cNvPr id="22" name="Shape 19"/>
          <p:cNvSpPr/>
          <p:nvPr/>
        </p:nvSpPr>
        <p:spPr>
          <a:xfrm>
            <a:off x="457200" y="1618488"/>
            <a:ext cx="8229600" cy="347472"/>
          </a:xfrm>
          <a:prstGeom prst="roundRect">
            <a:avLst>
              <a:gd name="adj" fmla="val 15789"/>
            </a:avLst>
          </a:prstGeom>
          <a:solidFill>
            <a:srgbClr val="F4F7F5"/>
          </a:solidFill>
          <a:ln/>
        </p:spPr>
      </p:sp>
      <p:sp>
        <p:nvSpPr>
          <p:cNvPr id="23" name="Shape 20"/>
          <p:cNvSpPr/>
          <p:nvPr/>
        </p:nvSpPr>
        <p:spPr>
          <a:xfrm>
            <a:off x="566928" y="1700784"/>
            <a:ext cx="274320" cy="237744"/>
          </a:xfrm>
          <a:prstGeom prst="roundRect">
            <a:avLst>
              <a:gd name="adj" fmla="val 42308"/>
            </a:avLst>
          </a:prstGeom>
          <a:solidFill>
            <a:srgbClr val="0E7C86"/>
          </a:solidFill>
          <a:ln w="9525">
            <a:solidFill>
              <a:srgbClr val="0E7C86"/>
            </a:solidFill>
            <a:prstDash val="solid"/>
          </a:ln>
        </p:spPr>
      </p:sp>
      <p:sp>
        <p:nvSpPr>
          <p:cNvPr id="24" name="Text 21"/>
          <p:cNvSpPr txBox="1"/>
          <p:nvPr/>
        </p:nvSpPr>
        <p:spPr>
          <a:xfrm>
            <a:off x="566928" y="1700784"/>
            <a:ext cx="27432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a:t>
            </a:r>
            <a:endParaRPr lang="en-US" sz="950" dirty="0"/>
          </a:p>
        </p:txBody>
      </p:sp>
      <p:sp>
        <p:nvSpPr>
          <p:cNvPr id="25" name="Text 22"/>
          <p:cNvSpPr txBox="1"/>
          <p:nvPr/>
        </p:nvSpPr>
        <p:spPr>
          <a:xfrm>
            <a:off x="960120" y="1645920"/>
            <a:ext cx="1828800" cy="347472"/>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Code</a:t>
            </a:r>
            <a:endParaRPr lang="en-US" sz="1200" dirty="0"/>
          </a:p>
        </p:txBody>
      </p:sp>
      <p:sp>
        <p:nvSpPr>
          <p:cNvPr id="26" name="Shape 23"/>
          <p:cNvSpPr/>
          <p:nvPr/>
        </p:nvSpPr>
        <p:spPr>
          <a:xfrm>
            <a:off x="3328416" y="1728216"/>
            <a:ext cx="182880" cy="182880"/>
          </a:xfrm>
          <a:prstGeom prst="ellipse">
            <a:avLst/>
          </a:prstGeom>
          <a:solidFill>
            <a:srgbClr val="00A86A"/>
          </a:solidFill>
          <a:ln w="19050">
            <a:solidFill>
              <a:srgbClr val="00A86A"/>
            </a:solidFill>
            <a:prstDash val="solid"/>
          </a:ln>
        </p:spPr>
      </p:sp>
      <p:sp>
        <p:nvSpPr>
          <p:cNvPr id="27" name="Shape 24"/>
          <p:cNvSpPr/>
          <p:nvPr/>
        </p:nvSpPr>
        <p:spPr>
          <a:xfrm>
            <a:off x="5669280" y="1728216"/>
            <a:ext cx="182880" cy="182880"/>
          </a:xfrm>
          <a:prstGeom prst="ellipse">
            <a:avLst/>
          </a:prstGeom>
          <a:solidFill>
            <a:srgbClr val="FFFFFF"/>
          </a:solidFill>
          <a:ln w="19050">
            <a:solidFill>
              <a:srgbClr val="00A86A"/>
            </a:solidFill>
            <a:prstDash val="solid"/>
          </a:ln>
        </p:spPr>
      </p:sp>
      <p:sp>
        <p:nvSpPr>
          <p:cNvPr id="28" name="Shape 25"/>
          <p:cNvSpPr/>
          <p:nvPr/>
        </p:nvSpPr>
        <p:spPr>
          <a:xfrm>
            <a:off x="6839712" y="1728216"/>
            <a:ext cx="182880" cy="182880"/>
          </a:xfrm>
          <a:prstGeom prst="ellipse">
            <a:avLst/>
          </a:prstGeom>
          <a:solidFill>
            <a:srgbClr val="00A86A"/>
          </a:solidFill>
          <a:ln w="19050">
            <a:solidFill>
              <a:srgbClr val="00A86A"/>
            </a:solidFill>
            <a:prstDash val="solid"/>
          </a:ln>
        </p:spPr>
      </p:sp>
      <p:sp>
        <p:nvSpPr>
          <p:cNvPr id="29" name="Shape 26"/>
          <p:cNvSpPr/>
          <p:nvPr/>
        </p:nvSpPr>
        <p:spPr>
          <a:xfrm>
            <a:off x="8010144" y="1728216"/>
            <a:ext cx="182880" cy="182880"/>
          </a:xfrm>
          <a:prstGeom prst="ellipse">
            <a:avLst/>
          </a:prstGeom>
          <a:solidFill>
            <a:srgbClr val="00A86A"/>
          </a:solidFill>
          <a:ln w="19050">
            <a:solidFill>
              <a:srgbClr val="00A86A"/>
            </a:solidFill>
            <a:prstDash val="solid"/>
          </a:ln>
        </p:spPr>
      </p:sp>
      <p:sp>
        <p:nvSpPr>
          <p:cNvPr id="30" name="Shape 27"/>
          <p:cNvSpPr/>
          <p:nvPr/>
        </p:nvSpPr>
        <p:spPr>
          <a:xfrm>
            <a:off x="566928" y="2084832"/>
            <a:ext cx="274320" cy="237744"/>
          </a:xfrm>
          <a:prstGeom prst="roundRect">
            <a:avLst>
              <a:gd name="adj" fmla="val 42308"/>
            </a:avLst>
          </a:prstGeom>
          <a:solidFill>
            <a:srgbClr val="0E7C86"/>
          </a:solidFill>
          <a:ln w="9525">
            <a:solidFill>
              <a:srgbClr val="0E7C86"/>
            </a:solidFill>
            <a:prstDash val="solid"/>
          </a:ln>
        </p:spPr>
      </p:sp>
      <p:sp>
        <p:nvSpPr>
          <p:cNvPr id="31" name="Text 28"/>
          <p:cNvSpPr txBox="1"/>
          <p:nvPr/>
        </p:nvSpPr>
        <p:spPr>
          <a:xfrm>
            <a:off x="566928" y="2084832"/>
            <a:ext cx="27432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a:t>
            </a:r>
            <a:endParaRPr lang="en-US" sz="950" dirty="0"/>
          </a:p>
        </p:txBody>
      </p:sp>
      <p:sp>
        <p:nvSpPr>
          <p:cNvPr id="32" name="Text 29"/>
          <p:cNvSpPr txBox="1"/>
          <p:nvPr/>
        </p:nvSpPr>
        <p:spPr>
          <a:xfrm>
            <a:off x="960120" y="2029968"/>
            <a:ext cx="1828800" cy="347472"/>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Reports &amp; notes</a:t>
            </a:r>
            <a:endParaRPr lang="en-US" sz="1200" dirty="0"/>
          </a:p>
        </p:txBody>
      </p:sp>
      <p:sp>
        <p:nvSpPr>
          <p:cNvPr id="33" name="Shape 30"/>
          <p:cNvSpPr/>
          <p:nvPr/>
        </p:nvSpPr>
        <p:spPr>
          <a:xfrm>
            <a:off x="3328416" y="2112264"/>
            <a:ext cx="182880" cy="182880"/>
          </a:xfrm>
          <a:prstGeom prst="ellipse">
            <a:avLst/>
          </a:prstGeom>
          <a:solidFill>
            <a:srgbClr val="FFFFFF"/>
          </a:solidFill>
          <a:ln w="19050">
            <a:solidFill>
              <a:srgbClr val="00A86A"/>
            </a:solidFill>
            <a:prstDash val="solid"/>
          </a:ln>
        </p:spPr>
      </p:sp>
      <p:sp>
        <p:nvSpPr>
          <p:cNvPr id="34" name="Shape 31"/>
          <p:cNvSpPr/>
          <p:nvPr/>
        </p:nvSpPr>
        <p:spPr>
          <a:xfrm>
            <a:off x="4498848" y="2112264"/>
            <a:ext cx="182880" cy="182880"/>
          </a:xfrm>
          <a:prstGeom prst="ellipse">
            <a:avLst/>
          </a:prstGeom>
          <a:solidFill>
            <a:srgbClr val="FFFFFF"/>
          </a:solidFill>
          <a:ln w="19050">
            <a:solidFill>
              <a:srgbClr val="00A86A"/>
            </a:solidFill>
            <a:prstDash val="solid"/>
          </a:ln>
        </p:spPr>
      </p:sp>
      <p:sp>
        <p:nvSpPr>
          <p:cNvPr id="35" name="Shape 32"/>
          <p:cNvSpPr/>
          <p:nvPr/>
        </p:nvSpPr>
        <p:spPr>
          <a:xfrm>
            <a:off x="5669280" y="2112264"/>
            <a:ext cx="182880" cy="182880"/>
          </a:xfrm>
          <a:prstGeom prst="ellipse">
            <a:avLst/>
          </a:prstGeom>
          <a:solidFill>
            <a:srgbClr val="00A86A"/>
          </a:solidFill>
          <a:ln w="19050">
            <a:solidFill>
              <a:srgbClr val="00A86A"/>
            </a:solidFill>
            <a:prstDash val="solid"/>
          </a:ln>
        </p:spPr>
      </p:sp>
      <p:sp>
        <p:nvSpPr>
          <p:cNvPr id="36" name="Shape 33"/>
          <p:cNvSpPr/>
          <p:nvPr/>
        </p:nvSpPr>
        <p:spPr>
          <a:xfrm>
            <a:off x="6839712" y="2112264"/>
            <a:ext cx="182880" cy="182880"/>
          </a:xfrm>
          <a:prstGeom prst="ellipse">
            <a:avLst/>
          </a:prstGeom>
          <a:solidFill>
            <a:srgbClr val="FFFFFF"/>
          </a:solidFill>
          <a:ln w="19050">
            <a:solidFill>
              <a:srgbClr val="00A86A"/>
            </a:solidFill>
            <a:prstDash val="solid"/>
          </a:ln>
        </p:spPr>
      </p:sp>
      <p:sp>
        <p:nvSpPr>
          <p:cNvPr id="37" name="Shape 34"/>
          <p:cNvSpPr/>
          <p:nvPr/>
        </p:nvSpPr>
        <p:spPr>
          <a:xfrm>
            <a:off x="8010144" y="2112264"/>
            <a:ext cx="182880" cy="182880"/>
          </a:xfrm>
          <a:prstGeom prst="ellipse">
            <a:avLst/>
          </a:prstGeom>
          <a:solidFill>
            <a:srgbClr val="00A86A"/>
          </a:solidFill>
          <a:ln w="19050">
            <a:solidFill>
              <a:srgbClr val="00A86A"/>
            </a:solidFill>
            <a:prstDash val="solid"/>
          </a:ln>
        </p:spPr>
      </p:sp>
      <p:sp>
        <p:nvSpPr>
          <p:cNvPr id="38" name="Shape 35"/>
          <p:cNvSpPr/>
          <p:nvPr/>
        </p:nvSpPr>
        <p:spPr>
          <a:xfrm>
            <a:off x="457200" y="2386584"/>
            <a:ext cx="8229600" cy="347472"/>
          </a:xfrm>
          <a:prstGeom prst="roundRect">
            <a:avLst>
              <a:gd name="adj" fmla="val 15789"/>
            </a:avLst>
          </a:prstGeom>
          <a:solidFill>
            <a:srgbClr val="F4F7F5"/>
          </a:solidFill>
          <a:ln/>
        </p:spPr>
      </p:sp>
      <p:sp>
        <p:nvSpPr>
          <p:cNvPr id="39" name="Shape 36"/>
          <p:cNvSpPr/>
          <p:nvPr/>
        </p:nvSpPr>
        <p:spPr>
          <a:xfrm>
            <a:off x="566928" y="2468880"/>
            <a:ext cx="274320" cy="237744"/>
          </a:xfrm>
          <a:prstGeom prst="roundRect">
            <a:avLst>
              <a:gd name="adj" fmla="val 42308"/>
            </a:avLst>
          </a:prstGeom>
          <a:solidFill>
            <a:srgbClr val="0E7C86"/>
          </a:solidFill>
          <a:ln w="9525">
            <a:solidFill>
              <a:srgbClr val="0E7C86"/>
            </a:solidFill>
            <a:prstDash val="solid"/>
          </a:ln>
        </p:spPr>
      </p:sp>
      <p:sp>
        <p:nvSpPr>
          <p:cNvPr id="40" name="Text 37"/>
          <p:cNvSpPr txBox="1"/>
          <p:nvPr/>
        </p:nvSpPr>
        <p:spPr>
          <a:xfrm>
            <a:off x="566928" y="2468880"/>
            <a:ext cx="27432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a:t>
            </a:r>
            <a:endParaRPr lang="en-US" sz="950" dirty="0"/>
          </a:p>
        </p:txBody>
      </p:sp>
      <p:sp>
        <p:nvSpPr>
          <p:cNvPr id="41" name="Text 38"/>
          <p:cNvSpPr txBox="1"/>
          <p:nvPr/>
        </p:nvSpPr>
        <p:spPr>
          <a:xfrm>
            <a:off x="960120" y="2414016"/>
            <a:ext cx="1828800" cy="347472"/>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Presentations</a:t>
            </a:r>
            <a:endParaRPr lang="en-US" sz="1200" dirty="0"/>
          </a:p>
        </p:txBody>
      </p:sp>
      <p:sp>
        <p:nvSpPr>
          <p:cNvPr id="42" name="Shape 39"/>
          <p:cNvSpPr/>
          <p:nvPr/>
        </p:nvSpPr>
        <p:spPr>
          <a:xfrm>
            <a:off x="3328416" y="2496312"/>
            <a:ext cx="182880" cy="182880"/>
          </a:xfrm>
          <a:prstGeom prst="ellipse">
            <a:avLst/>
          </a:prstGeom>
          <a:solidFill>
            <a:srgbClr val="FFFFFF"/>
          </a:solidFill>
          <a:ln w="19050">
            <a:solidFill>
              <a:srgbClr val="00A86A"/>
            </a:solidFill>
            <a:prstDash val="solid"/>
          </a:ln>
        </p:spPr>
      </p:sp>
      <p:sp>
        <p:nvSpPr>
          <p:cNvPr id="43" name="Shape 40"/>
          <p:cNvSpPr/>
          <p:nvPr/>
        </p:nvSpPr>
        <p:spPr>
          <a:xfrm>
            <a:off x="5669280" y="2496312"/>
            <a:ext cx="182880" cy="182880"/>
          </a:xfrm>
          <a:prstGeom prst="ellipse">
            <a:avLst/>
          </a:prstGeom>
          <a:solidFill>
            <a:srgbClr val="00A86A"/>
          </a:solidFill>
          <a:ln w="19050">
            <a:solidFill>
              <a:srgbClr val="00A86A"/>
            </a:solidFill>
            <a:prstDash val="solid"/>
          </a:ln>
        </p:spPr>
      </p:sp>
      <p:sp>
        <p:nvSpPr>
          <p:cNvPr id="44" name="Shape 41"/>
          <p:cNvSpPr/>
          <p:nvPr/>
        </p:nvSpPr>
        <p:spPr>
          <a:xfrm>
            <a:off x="6839712" y="2496312"/>
            <a:ext cx="182880" cy="182880"/>
          </a:xfrm>
          <a:prstGeom prst="ellipse">
            <a:avLst/>
          </a:prstGeom>
          <a:solidFill>
            <a:srgbClr val="FFFFFF"/>
          </a:solidFill>
          <a:ln w="19050">
            <a:solidFill>
              <a:srgbClr val="00A86A"/>
            </a:solidFill>
            <a:prstDash val="solid"/>
          </a:ln>
        </p:spPr>
      </p:sp>
      <p:sp>
        <p:nvSpPr>
          <p:cNvPr id="45" name="Shape 42"/>
          <p:cNvSpPr/>
          <p:nvPr/>
        </p:nvSpPr>
        <p:spPr>
          <a:xfrm>
            <a:off x="8010144" y="2496312"/>
            <a:ext cx="182880" cy="182880"/>
          </a:xfrm>
          <a:prstGeom prst="ellipse">
            <a:avLst/>
          </a:prstGeom>
          <a:solidFill>
            <a:srgbClr val="00A86A"/>
          </a:solidFill>
          <a:ln w="19050">
            <a:solidFill>
              <a:srgbClr val="00A86A"/>
            </a:solidFill>
            <a:prstDash val="solid"/>
          </a:ln>
        </p:spPr>
      </p:sp>
      <p:sp>
        <p:nvSpPr>
          <p:cNvPr id="46" name="Shape 43"/>
          <p:cNvSpPr/>
          <p:nvPr/>
        </p:nvSpPr>
        <p:spPr>
          <a:xfrm>
            <a:off x="566928" y="2852928"/>
            <a:ext cx="274320" cy="237744"/>
          </a:xfrm>
          <a:prstGeom prst="roundRect">
            <a:avLst>
              <a:gd name="adj" fmla="val 42308"/>
            </a:avLst>
          </a:prstGeom>
          <a:solidFill>
            <a:srgbClr val="0E7C86"/>
          </a:solidFill>
          <a:ln w="9525">
            <a:solidFill>
              <a:srgbClr val="0E7C86"/>
            </a:solidFill>
            <a:prstDash val="solid"/>
          </a:ln>
        </p:spPr>
      </p:sp>
      <p:sp>
        <p:nvSpPr>
          <p:cNvPr id="47" name="Text 44"/>
          <p:cNvSpPr txBox="1"/>
          <p:nvPr/>
        </p:nvSpPr>
        <p:spPr>
          <a:xfrm>
            <a:off x="566928" y="2852928"/>
            <a:ext cx="27432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a:t>
            </a:r>
            <a:endParaRPr lang="en-US" sz="950" dirty="0"/>
          </a:p>
        </p:txBody>
      </p:sp>
      <p:sp>
        <p:nvSpPr>
          <p:cNvPr id="48" name="Text 45"/>
          <p:cNvSpPr txBox="1"/>
          <p:nvPr/>
        </p:nvSpPr>
        <p:spPr>
          <a:xfrm>
            <a:off x="960120" y="2798064"/>
            <a:ext cx="1828800" cy="347472"/>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Charts &amp; graphics</a:t>
            </a:r>
            <a:endParaRPr lang="en-US" sz="1200" dirty="0"/>
          </a:p>
        </p:txBody>
      </p:sp>
      <p:sp>
        <p:nvSpPr>
          <p:cNvPr id="49" name="Shape 46"/>
          <p:cNvSpPr/>
          <p:nvPr/>
        </p:nvSpPr>
        <p:spPr>
          <a:xfrm>
            <a:off x="3328416" y="2880360"/>
            <a:ext cx="182880" cy="182880"/>
          </a:xfrm>
          <a:prstGeom prst="ellipse">
            <a:avLst/>
          </a:prstGeom>
          <a:solidFill>
            <a:srgbClr val="FFFFFF"/>
          </a:solidFill>
          <a:ln w="19050">
            <a:solidFill>
              <a:srgbClr val="00A86A"/>
            </a:solidFill>
            <a:prstDash val="solid"/>
          </a:ln>
        </p:spPr>
      </p:sp>
      <p:sp>
        <p:nvSpPr>
          <p:cNvPr id="50" name="Shape 47"/>
          <p:cNvSpPr/>
          <p:nvPr/>
        </p:nvSpPr>
        <p:spPr>
          <a:xfrm>
            <a:off x="5669280" y="2880360"/>
            <a:ext cx="182880" cy="182880"/>
          </a:xfrm>
          <a:prstGeom prst="ellipse">
            <a:avLst/>
          </a:prstGeom>
          <a:solidFill>
            <a:srgbClr val="00A86A"/>
          </a:solidFill>
          <a:ln w="19050">
            <a:solidFill>
              <a:srgbClr val="00A86A"/>
            </a:solidFill>
            <a:prstDash val="solid"/>
          </a:ln>
        </p:spPr>
      </p:sp>
      <p:sp>
        <p:nvSpPr>
          <p:cNvPr id="51" name="Shape 48"/>
          <p:cNvSpPr/>
          <p:nvPr/>
        </p:nvSpPr>
        <p:spPr>
          <a:xfrm>
            <a:off x="6839712" y="2880360"/>
            <a:ext cx="182880" cy="182880"/>
          </a:xfrm>
          <a:prstGeom prst="ellipse">
            <a:avLst/>
          </a:prstGeom>
          <a:solidFill>
            <a:srgbClr val="FFFFFF"/>
          </a:solidFill>
          <a:ln w="19050">
            <a:solidFill>
              <a:srgbClr val="00A86A"/>
            </a:solidFill>
            <a:prstDash val="solid"/>
          </a:ln>
        </p:spPr>
      </p:sp>
      <p:sp>
        <p:nvSpPr>
          <p:cNvPr id="52" name="Shape 49"/>
          <p:cNvSpPr/>
          <p:nvPr/>
        </p:nvSpPr>
        <p:spPr>
          <a:xfrm>
            <a:off x="8010144" y="2880360"/>
            <a:ext cx="182880" cy="182880"/>
          </a:xfrm>
          <a:prstGeom prst="ellipse">
            <a:avLst/>
          </a:prstGeom>
          <a:solidFill>
            <a:srgbClr val="00A86A"/>
          </a:solidFill>
          <a:ln w="19050">
            <a:solidFill>
              <a:srgbClr val="00A86A"/>
            </a:solidFill>
            <a:prstDash val="solid"/>
          </a:ln>
        </p:spPr>
      </p:sp>
      <p:sp>
        <p:nvSpPr>
          <p:cNvPr id="53" name="Shape 50"/>
          <p:cNvSpPr/>
          <p:nvPr/>
        </p:nvSpPr>
        <p:spPr>
          <a:xfrm>
            <a:off x="457200" y="3154680"/>
            <a:ext cx="8229600" cy="347472"/>
          </a:xfrm>
          <a:prstGeom prst="roundRect">
            <a:avLst>
              <a:gd name="adj" fmla="val 15789"/>
            </a:avLst>
          </a:prstGeom>
          <a:solidFill>
            <a:srgbClr val="F4F7F5"/>
          </a:solidFill>
          <a:ln/>
        </p:spPr>
      </p:sp>
      <p:sp>
        <p:nvSpPr>
          <p:cNvPr id="54" name="Shape 51"/>
          <p:cNvSpPr/>
          <p:nvPr/>
        </p:nvSpPr>
        <p:spPr>
          <a:xfrm>
            <a:off x="566928" y="3236976"/>
            <a:ext cx="274320" cy="237744"/>
          </a:xfrm>
          <a:prstGeom prst="roundRect">
            <a:avLst>
              <a:gd name="adj" fmla="val 42308"/>
            </a:avLst>
          </a:prstGeom>
          <a:solidFill>
            <a:srgbClr val="0E7C86"/>
          </a:solidFill>
          <a:ln w="9525">
            <a:solidFill>
              <a:srgbClr val="0E7C86"/>
            </a:solidFill>
            <a:prstDash val="solid"/>
          </a:ln>
        </p:spPr>
      </p:sp>
      <p:sp>
        <p:nvSpPr>
          <p:cNvPr id="55" name="Text 52"/>
          <p:cNvSpPr txBox="1"/>
          <p:nvPr/>
        </p:nvSpPr>
        <p:spPr>
          <a:xfrm>
            <a:off x="566928" y="3236976"/>
            <a:ext cx="27432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a:t>
            </a:r>
            <a:endParaRPr lang="en-US" sz="950" dirty="0"/>
          </a:p>
        </p:txBody>
      </p:sp>
      <p:sp>
        <p:nvSpPr>
          <p:cNvPr id="56" name="Text 53"/>
          <p:cNvSpPr txBox="1"/>
          <p:nvPr/>
        </p:nvSpPr>
        <p:spPr>
          <a:xfrm>
            <a:off x="960120" y="3182112"/>
            <a:ext cx="1828800" cy="347472"/>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Visual identity &amp; logos</a:t>
            </a:r>
            <a:endParaRPr lang="en-US" sz="1200" dirty="0"/>
          </a:p>
        </p:txBody>
      </p:sp>
      <p:sp>
        <p:nvSpPr>
          <p:cNvPr id="57" name="Shape 54"/>
          <p:cNvSpPr/>
          <p:nvPr/>
        </p:nvSpPr>
        <p:spPr>
          <a:xfrm>
            <a:off x="3328416" y="3264408"/>
            <a:ext cx="182880" cy="182880"/>
          </a:xfrm>
          <a:prstGeom prst="ellipse">
            <a:avLst/>
          </a:prstGeom>
          <a:solidFill>
            <a:srgbClr val="00A86A"/>
          </a:solidFill>
          <a:ln w="19050">
            <a:solidFill>
              <a:srgbClr val="00A86A"/>
            </a:solidFill>
            <a:prstDash val="solid"/>
          </a:ln>
        </p:spPr>
      </p:sp>
      <p:sp>
        <p:nvSpPr>
          <p:cNvPr id="58" name="Shape 55"/>
          <p:cNvSpPr/>
          <p:nvPr/>
        </p:nvSpPr>
        <p:spPr>
          <a:xfrm>
            <a:off x="5669280" y="3264408"/>
            <a:ext cx="182880" cy="182880"/>
          </a:xfrm>
          <a:prstGeom prst="ellipse">
            <a:avLst/>
          </a:prstGeom>
          <a:solidFill>
            <a:srgbClr val="00A86A"/>
          </a:solidFill>
          <a:ln w="19050">
            <a:solidFill>
              <a:srgbClr val="00A86A"/>
            </a:solidFill>
            <a:prstDash val="solid"/>
          </a:ln>
        </p:spPr>
      </p:sp>
      <p:sp>
        <p:nvSpPr>
          <p:cNvPr id="59" name="Shape 56"/>
          <p:cNvSpPr/>
          <p:nvPr/>
        </p:nvSpPr>
        <p:spPr>
          <a:xfrm>
            <a:off x="6839712" y="3264408"/>
            <a:ext cx="182880" cy="182880"/>
          </a:xfrm>
          <a:prstGeom prst="ellipse">
            <a:avLst/>
          </a:prstGeom>
          <a:solidFill>
            <a:srgbClr val="FFFFFF"/>
          </a:solidFill>
          <a:ln w="19050">
            <a:solidFill>
              <a:srgbClr val="00A86A"/>
            </a:solidFill>
            <a:prstDash val="solid"/>
          </a:ln>
        </p:spPr>
      </p:sp>
      <p:sp>
        <p:nvSpPr>
          <p:cNvPr id="60" name="Shape 57"/>
          <p:cNvSpPr/>
          <p:nvPr/>
        </p:nvSpPr>
        <p:spPr>
          <a:xfrm>
            <a:off x="8010144" y="3264408"/>
            <a:ext cx="182880" cy="182880"/>
          </a:xfrm>
          <a:prstGeom prst="ellipse">
            <a:avLst/>
          </a:prstGeom>
          <a:solidFill>
            <a:srgbClr val="00A86A"/>
          </a:solidFill>
          <a:ln w="19050">
            <a:solidFill>
              <a:srgbClr val="00A86A"/>
            </a:solidFill>
            <a:prstDash val="solid"/>
          </a:ln>
        </p:spPr>
      </p:sp>
      <p:sp>
        <p:nvSpPr>
          <p:cNvPr id="61" name="Shape 58"/>
          <p:cNvSpPr/>
          <p:nvPr/>
        </p:nvSpPr>
        <p:spPr>
          <a:xfrm>
            <a:off x="566928" y="3621024"/>
            <a:ext cx="274320" cy="237744"/>
          </a:xfrm>
          <a:prstGeom prst="roundRect">
            <a:avLst>
              <a:gd name="adj" fmla="val 42308"/>
            </a:avLst>
          </a:prstGeom>
          <a:solidFill>
            <a:srgbClr val="0E7C86"/>
          </a:solidFill>
          <a:ln w="9525">
            <a:solidFill>
              <a:srgbClr val="0E7C86"/>
            </a:solidFill>
            <a:prstDash val="solid"/>
          </a:ln>
        </p:spPr>
      </p:sp>
      <p:sp>
        <p:nvSpPr>
          <p:cNvPr id="62" name="Text 59"/>
          <p:cNvSpPr txBox="1"/>
          <p:nvPr/>
        </p:nvSpPr>
        <p:spPr>
          <a:xfrm>
            <a:off x="566928" y="3621024"/>
            <a:ext cx="27432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a:t>
            </a:r>
            <a:endParaRPr lang="en-US" sz="950" dirty="0"/>
          </a:p>
        </p:txBody>
      </p:sp>
      <p:sp>
        <p:nvSpPr>
          <p:cNvPr id="63" name="Text 60"/>
          <p:cNvSpPr txBox="1"/>
          <p:nvPr/>
        </p:nvSpPr>
        <p:spPr>
          <a:xfrm>
            <a:off x="960120" y="3566160"/>
            <a:ext cx="1828800" cy="347472"/>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Documents &amp; audio</a:t>
            </a:r>
            <a:endParaRPr lang="en-US" sz="1200" dirty="0"/>
          </a:p>
        </p:txBody>
      </p:sp>
      <p:sp>
        <p:nvSpPr>
          <p:cNvPr id="64" name="Shape 61"/>
          <p:cNvSpPr/>
          <p:nvPr/>
        </p:nvSpPr>
        <p:spPr>
          <a:xfrm>
            <a:off x="3328416" y="3648456"/>
            <a:ext cx="182880" cy="182880"/>
          </a:xfrm>
          <a:prstGeom prst="ellipse">
            <a:avLst/>
          </a:prstGeom>
          <a:solidFill>
            <a:srgbClr val="FFFFFF"/>
          </a:solidFill>
          <a:ln w="19050">
            <a:solidFill>
              <a:srgbClr val="00A86A"/>
            </a:solidFill>
            <a:prstDash val="solid"/>
          </a:ln>
        </p:spPr>
      </p:sp>
      <p:sp>
        <p:nvSpPr>
          <p:cNvPr id="65" name="Shape 62"/>
          <p:cNvSpPr/>
          <p:nvPr/>
        </p:nvSpPr>
        <p:spPr>
          <a:xfrm>
            <a:off x="4498848" y="3648456"/>
            <a:ext cx="182880" cy="182880"/>
          </a:xfrm>
          <a:prstGeom prst="ellipse">
            <a:avLst/>
          </a:prstGeom>
          <a:solidFill>
            <a:srgbClr val="00A86A"/>
          </a:solidFill>
          <a:ln w="19050">
            <a:solidFill>
              <a:srgbClr val="00A86A"/>
            </a:solidFill>
            <a:prstDash val="solid"/>
          </a:ln>
        </p:spPr>
      </p:sp>
      <p:sp>
        <p:nvSpPr>
          <p:cNvPr id="66" name="Shape 63"/>
          <p:cNvSpPr/>
          <p:nvPr/>
        </p:nvSpPr>
        <p:spPr>
          <a:xfrm>
            <a:off x="5669280" y="3648456"/>
            <a:ext cx="182880" cy="182880"/>
          </a:xfrm>
          <a:prstGeom prst="ellipse">
            <a:avLst/>
          </a:prstGeom>
          <a:solidFill>
            <a:srgbClr val="FFFFFF"/>
          </a:solidFill>
          <a:ln w="19050">
            <a:solidFill>
              <a:srgbClr val="00A86A"/>
            </a:solidFill>
            <a:prstDash val="solid"/>
          </a:ln>
        </p:spPr>
      </p:sp>
      <p:sp>
        <p:nvSpPr>
          <p:cNvPr id="67" name="Shape 64"/>
          <p:cNvSpPr/>
          <p:nvPr/>
        </p:nvSpPr>
        <p:spPr>
          <a:xfrm>
            <a:off x="8010144" y="3648456"/>
            <a:ext cx="182880" cy="182880"/>
          </a:xfrm>
          <a:prstGeom prst="ellipse">
            <a:avLst/>
          </a:prstGeom>
          <a:solidFill>
            <a:srgbClr val="FFFFFF"/>
          </a:solidFill>
          <a:ln w="19050">
            <a:solidFill>
              <a:srgbClr val="00A86A"/>
            </a:solidFill>
            <a:prstDash val="solid"/>
          </a:ln>
        </p:spPr>
      </p:sp>
      <p:sp>
        <p:nvSpPr>
          <p:cNvPr id="68" name="Shape 65"/>
          <p:cNvSpPr/>
          <p:nvPr/>
        </p:nvSpPr>
        <p:spPr>
          <a:xfrm>
            <a:off x="457200" y="3922776"/>
            <a:ext cx="8229600" cy="347472"/>
          </a:xfrm>
          <a:prstGeom prst="roundRect">
            <a:avLst>
              <a:gd name="adj" fmla="val 15789"/>
            </a:avLst>
          </a:prstGeom>
          <a:solidFill>
            <a:srgbClr val="F4F7F5"/>
          </a:solidFill>
          <a:ln/>
        </p:spPr>
      </p:sp>
      <p:sp>
        <p:nvSpPr>
          <p:cNvPr id="69" name="Shape 66"/>
          <p:cNvSpPr/>
          <p:nvPr/>
        </p:nvSpPr>
        <p:spPr>
          <a:xfrm>
            <a:off x="566928" y="4005072"/>
            <a:ext cx="274320" cy="237744"/>
          </a:xfrm>
          <a:prstGeom prst="roundRect">
            <a:avLst>
              <a:gd name="adj" fmla="val 42308"/>
            </a:avLst>
          </a:prstGeom>
          <a:solidFill>
            <a:srgbClr val="0E7C86"/>
          </a:solidFill>
          <a:ln w="9525">
            <a:solidFill>
              <a:srgbClr val="0E7C86"/>
            </a:solidFill>
            <a:prstDash val="solid"/>
          </a:ln>
        </p:spPr>
      </p:sp>
      <p:sp>
        <p:nvSpPr>
          <p:cNvPr id="70" name="Text 67"/>
          <p:cNvSpPr txBox="1"/>
          <p:nvPr/>
        </p:nvSpPr>
        <p:spPr>
          <a:xfrm>
            <a:off x="566928" y="4005072"/>
            <a:ext cx="27432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a:t>
            </a:r>
            <a:endParaRPr lang="en-US" sz="950" dirty="0"/>
          </a:p>
        </p:txBody>
      </p:sp>
      <p:sp>
        <p:nvSpPr>
          <p:cNvPr id="71" name="Text 68"/>
          <p:cNvSpPr txBox="1"/>
          <p:nvPr/>
        </p:nvSpPr>
        <p:spPr>
          <a:xfrm>
            <a:off x="960120" y="3950208"/>
            <a:ext cx="1828800" cy="347472"/>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Multimodal (images)</a:t>
            </a:r>
            <a:endParaRPr lang="en-US" sz="1200" dirty="0"/>
          </a:p>
        </p:txBody>
      </p:sp>
      <p:sp>
        <p:nvSpPr>
          <p:cNvPr id="72" name="Shape 69"/>
          <p:cNvSpPr/>
          <p:nvPr/>
        </p:nvSpPr>
        <p:spPr>
          <a:xfrm>
            <a:off x="3328416" y="4032504"/>
            <a:ext cx="182880" cy="182880"/>
          </a:xfrm>
          <a:prstGeom prst="ellipse">
            <a:avLst/>
          </a:prstGeom>
          <a:solidFill>
            <a:srgbClr val="00A86A"/>
          </a:solidFill>
          <a:ln w="19050">
            <a:solidFill>
              <a:srgbClr val="00A86A"/>
            </a:solidFill>
            <a:prstDash val="solid"/>
          </a:ln>
        </p:spPr>
      </p:sp>
      <p:sp>
        <p:nvSpPr>
          <p:cNvPr id="73" name="Shape 70"/>
          <p:cNvSpPr/>
          <p:nvPr/>
        </p:nvSpPr>
        <p:spPr>
          <a:xfrm>
            <a:off x="5669280" y="4032504"/>
            <a:ext cx="182880" cy="182880"/>
          </a:xfrm>
          <a:prstGeom prst="ellipse">
            <a:avLst/>
          </a:prstGeom>
          <a:solidFill>
            <a:srgbClr val="00A86A"/>
          </a:solidFill>
          <a:ln w="19050">
            <a:solidFill>
              <a:srgbClr val="00A86A"/>
            </a:solidFill>
            <a:prstDash val="solid"/>
          </a:ln>
        </p:spPr>
      </p:sp>
      <p:sp>
        <p:nvSpPr>
          <p:cNvPr id="74" name="Shape 71"/>
          <p:cNvSpPr/>
          <p:nvPr/>
        </p:nvSpPr>
        <p:spPr>
          <a:xfrm>
            <a:off x="8010144" y="4032504"/>
            <a:ext cx="182880" cy="182880"/>
          </a:xfrm>
          <a:prstGeom prst="ellipse">
            <a:avLst/>
          </a:prstGeom>
          <a:solidFill>
            <a:srgbClr val="00A86A"/>
          </a:solidFill>
          <a:ln w="19050">
            <a:solidFill>
              <a:srgbClr val="00A86A"/>
            </a:solidFill>
            <a:prstDash val="solid"/>
          </a:ln>
        </p:spPr>
      </p:sp>
      <p:sp>
        <p:nvSpPr>
          <p:cNvPr id="75" name="Shape 72"/>
          <p:cNvSpPr/>
          <p:nvPr/>
        </p:nvSpPr>
        <p:spPr>
          <a:xfrm>
            <a:off x="457200" y="4517136"/>
            <a:ext cx="137160" cy="137160"/>
          </a:xfrm>
          <a:prstGeom prst="ellipse">
            <a:avLst/>
          </a:prstGeom>
          <a:solidFill>
            <a:srgbClr val="00A86A"/>
          </a:solidFill>
          <a:ln w="12700">
            <a:solidFill>
              <a:srgbClr val="00A86A"/>
            </a:solidFill>
            <a:prstDash val="solid"/>
          </a:ln>
        </p:spPr>
      </p:sp>
      <p:sp>
        <p:nvSpPr>
          <p:cNvPr id="76" name="Text 73"/>
          <p:cNvSpPr txBox="1"/>
          <p:nvPr/>
        </p:nvSpPr>
        <p:spPr>
          <a:xfrm>
            <a:off x="658368" y="4498848"/>
            <a:ext cx="1097280" cy="1828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Recommended</a:t>
            </a:r>
            <a:endParaRPr lang="en-US" sz="950" dirty="0"/>
          </a:p>
        </p:txBody>
      </p:sp>
      <p:sp>
        <p:nvSpPr>
          <p:cNvPr id="77" name="Shape 74"/>
          <p:cNvSpPr/>
          <p:nvPr/>
        </p:nvSpPr>
        <p:spPr>
          <a:xfrm>
            <a:off x="1783080" y="4517136"/>
            <a:ext cx="137160" cy="137160"/>
          </a:xfrm>
          <a:prstGeom prst="ellipse">
            <a:avLst/>
          </a:prstGeom>
          <a:solidFill>
            <a:srgbClr val="FFFFFF"/>
          </a:solidFill>
          <a:ln w="15875">
            <a:solidFill>
              <a:srgbClr val="00A86A"/>
            </a:solidFill>
            <a:prstDash val="solid"/>
          </a:ln>
        </p:spPr>
      </p:sp>
      <p:sp>
        <p:nvSpPr>
          <p:cNvPr id="78" name="Text 75"/>
          <p:cNvSpPr txBox="1"/>
          <p:nvPr/>
        </p:nvSpPr>
        <p:spPr>
          <a:xfrm>
            <a:off x="1984248" y="4498848"/>
            <a:ext cx="1371600" cy="1828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Good alternative</a:t>
            </a:r>
            <a:endParaRPr lang="en-US" sz="9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03 · THE STATIONS</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5" name="Text 3"/>
          <p:cNvSpPr txBox="1"/>
          <p:nvPr/>
        </p:nvSpPr>
        <p:spPr>
          <a:xfrm>
            <a:off x="548640" y="2377440"/>
            <a:ext cx="5303520" cy="10515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The seven stations</a:t>
            </a:r>
            <a:endParaRPr lang="en-US" sz="32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Pick two. Leave with two deliverables you can show your director on Monday.</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FFFFF">
              <a:alpha val="40000"/>
            </a:srgbClr>
          </a:solidFill>
          <a:ln/>
        </p:spPr>
      </p:sp>
      <p:sp>
        <p:nvSpPr>
          <p:cNvPr id="12" name="Shape 9"/>
          <p:cNvSpPr/>
          <p:nvPr/>
        </p:nvSpPr>
        <p:spPr>
          <a:xfrm>
            <a:off x="8019288" y="329184"/>
            <a:ext cx="82296" cy="82296"/>
          </a:xfrm>
          <a:prstGeom prst="ellipse">
            <a:avLst/>
          </a:prstGeom>
          <a:solidFill>
            <a:srgbClr val="FFFFFF">
              <a:alpha val="40000"/>
            </a:srgbClr>
          </a:solidFill>
          <a:ln/>
        </p:spPr>
      </p:sp>
      <p:sp>
        <p:nvSpPr>
          <p:cNvPr id="13" name="Shape 10"/>
          <p:cNvSpPr/>
          <p:nvPr/>
        </p:nvSpPr>
        <p:spPr>
          <a:xfrm>
            <a:off x="8156448" y="329184"/>
            <a:ext cx="82296" cy="82296"/>
          </a:xfrm>
          <a:prstGeom prst="ellipse">
            <a:avLst/>
          </a:prstGeom>
          <a:solidFill>
            <a:srgbClr val="F5C242"/>
          </a:solidFill>
          <a:ln/>
        </p:spPr>
      </p:sp>
      <p:sp>
        <p:nvSpPr>
          <p:cNvPr id="14" name="Shape 11"/>
          <p:cNvSpPr/>
          <p:nvPr/>
        </p:nvSpPr>
        <p:spPr>
          <a:xfrm>
            <a:off x="8293608" y="329184"/>
            <a:ext cx="82296" cy="82296"/>
          </a:xfrm>
          <a:prstGeom prst="ellipse">
            <a:avLst/>
          </a:prstGeom>
          <a:solidFill>
            <a:srgbClr val="FFFFFF">
              <a:alpha val="40000"/>
            </a:srgbClr>
          </a:solidFill>
          <a:ln/>
        </p:spPr>
      </p:sp>
      <p:sp>
        <p:nvSpPr>
          <p:cNvPr id="15" name="Shape 12"/>
          <p:cNvSpPr/>
          <p:nvPr/>
        </p:nvSpPr>
        <p:spPr>
          <a:xfrm>
            <a:off x="8430768" y="329184"/>
            <a:ext cx="82296" cy="82296"/>
          </a:xfrm>
          <a:prstGeom prst="ellipse">
            <a:avLst/>
          </a:prstGeom>
          <a:solidFill>
            <a:srgbClr val="FFFFFF">
              <a:alpha val="40000"/>
            </a:srgbClr>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THE STATIONS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Seven stations at a glance</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0E7C86"/>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STG17 · One Model, Many Jobs — an LLM Toolkit for Statisticians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457200" y="1325880"/>
            <a:ext cx="1938528" cy="1490472"/>
          </a:xfrm>
          <a:prstGeom prst="roundRect">
            <a:avLst>
              <a:gd name="adj" fmla="val 4908"/>
            </a:avLst>
          </a:prstGeom>
          <a:solidFill>
            <a:srgbClr val="F4F7F5"/>
          </a:solidFill>
          <a:ln w="9525">
            <a:solidFill>
              <a:srgbClr val="D5DED9"/>
            </a:solidFill>
            <a:prstDash val="solid"/>
          </a:ln>
        </p:spPr>
      </p:sp>
      <p:sp>
        <p:nvSpPr>
          <p:cNvPr id="18" name="Shape 15"/>
          <p:cNvSpPr/>
          <p:nvPr/>
        </p:nvSpPr>
        <p:spPr>
          <a:xfrm>
            <a:off x="585216" y="1453896"/>
            <a:ext cx="457200" cy="457200"/>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699516" y="1568196"/>
            <a:ext cx="228600" cy="228600"/>
          </a:xfrm>
          <a:prstGeom prst="rect">
            <a:avLst/>
          </a:prstGeom>
        </p:spPr>
      </p:pic>
      <p:sp>
        <p:nvSpPr>
          <p:cNvPr id="20" name="Text 16"/>
          <p:cNvSpPr txBox="1"/>
          <p:nvPr/>
        </p:nvSpPr>
        <p:spPr>
          <a:xfrm>
            <a:off x="1938528" y="1417320"/>
            <a:ext cx="36576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A</a:t>
            </a:r>
            <a:endParaRPr lang="en-US" sz="2600" dirty="0"/>
          </a:p>
        </p:txBody>
      </p:sp>
      <p:sp>
        <p:nvSpPr>
          <p:cNvPr id="21" name="Text 17"/>
          <p:cNvSpPr txBox="1"/>
          <p:nvPr/>
        </p:nvSpPr>
        <p:spPr>
          <a:xfrm>
            <a:off x="585216" y="1965960"/>
            <a:ext cx="1682496" cy="237744"/>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Code</a:t>
            </a:r>
            <a:endParaRPr lang="en-US" sz="1350" dirty="0"/>
          </a:p>
        </p:txBody>
      </p:sp>
      <p:sp>
        <p:nvSpPr>
          <p:cNvPr id="22" name="Text 18"/>
          <p:cNvSpPr txBox="1"/>
          <p:nvPr/>
        </p:nvSpPr>
        <p:spPr>
          <a:xfrm>
            <a:off x="585216" y="2203704"/>
            <a:ext cx="1682496" cy="36576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Write, explain, translate and debug statistical code</a:t>
            </a:r>
            <a:endParaRPr lang="en-US" sz="900" dirty="0"/>
          </a:p>
        </p:txBody>
      </p:sp>
      <p:sp>
        <p:nvSpPr>
          <p:cNvPr id="23" name="Text 19"/>
          <p:cNvSpPr txBox="1"/>
          <p:nvPr/>
        </p:nvSpPr>
        <p:spPr>
          <a:xfrm>
            <a:off x="585216" y="2569464"/>
            <a:ext cx="1682496" cy="182880"/>
          </a:xfrm>
          <a:prstGeom prst="rect">
            <a:avLst/>
          </a:prstGeom>
          <a:noFill/>
          <a:ln/>
        </p:spPr>
        <p:txBody>
          <a:bodyPr wrap="square" lIns="0" tIns="0" rIns="0" bIns="0" rtlCol="0" anchor="t"/>
          <a:lstStyle/>
          <a:p>
            <a:pPr indent="0" marL="0">
              <a:buNone/>
            </a:pPr>
            <a:r>
              <a:rPr lang="en-US" sz="900" b="1" dirty="0">
                <a:solidFill>
                  <a:srgbClr val="00A86A"/>
                </a:solidFill>
                <a:latin typeface="Calibri" pitchFamily="34" charset="0"/>
                <a:ea typeface="Calibri" pitchFamily="34" charset="-122"/>
                <a:cs typeface="Calibri" pitchFamily="34" charset="-120"/>
              </a:rPr>
              <a:t>→ </a:t>
            </a:r>
            <a:pPr indent="0" marL="0">
              <a:buNone/>
            </a:pPr>
            <a:r>
              <a:rPr lang="en-US" sz="900" b="1" dirty="0">
                <a:solidFill>
                  <a:srgbClr val="00704A"/>
                </a:solidFill>
                <a:latin typeface="Calibri" pitchFamily="34" charset="0"/>
                <a:ea typeface="Calibri" pitchFamily="34" charset="-122"/>
                <a:cs typeface="Calibri" pitchFamily="34" charset="-120"/>
              </a:rPr>
              <a:t>Tested function + debugging log</a:t>
            </a:r>
            <a:endParaRPr lang="en-US" sz="900" dirty="0"/>
          </a:p>
        </p:txBody>
      </p:sp>
      <p:sp>
        <p:nvSpPr>
          <p:cNvPr id="24" name="Shape 20"/>
          <p:cNvSpPr/>
          <p:nvPr/>
        </p:nvSpPr>
        <p:spPr>
          <a:xfrm>
            <a:off x="2551176" y="1325880"/>
            <a:ext cx="1938528" cy="1490472"/>
          </a:xfrm>
          <a:prstGeom prst="roundRect">
            <a:avLst>
              <a:gd name="adj" fmla="val 4908"/>
            </a:avLst>
          </a:prstGeom>
          <a:solidFill>
            <a:srgbClr val="F4F7F5"/>
          </a:solidFill>
          <a:ln w="9525">
            <a:solidFill>
              <a:srgbClr val="D5DED9"/>
            </a:solidFill>
            <a:prstDash val="solid"/>
          </a:ln>
        </p:spPr>
      </p:sp>
      <p:sp>
        <p:nvSpPr>
          <p:cNvPr id="25" name="Shape 21"/>
          <p:cNvSpPr/>
          <p:nvPr/>
        </p:nvSpPr>
        <p:spPr>
          <a:xfrm>
            <a:off x="2679192" y="1453896"/>
            <a:ext cx="457200" cy="457200"/>
          </a:xfrm>
          <a:prstGeom prst="ellipse">
            <a:avLst/>
          </a:prstGeom>
          <a:solidFill>
            <a:srgbClr val="00704A">
              <a:alpha val="22000"/>
            </a:srgbClr>
          </a:solidFill>
          <a:ln/>
        </p:spPr>
      </p:sp>
      <p:pic>
        <p:nvPicPr>
          <p:cNvPr id="26" name="Image 1" descr="preencoded.png">    </p:cNvPr>
          <p:cNvPicPr>
            <a:picLocks noChangeAspect="1"/>
          </p:cNvPicPr>
          <p:nvPr/>
        </p:nvPicPr>
        <p:blipFill>
          <a:blip r:embed="rId2"/>
          <a:stretch>
            <a:fillRect/>
          </a:stretch>
        </p:blipFill>
        <p:spPr>
          <a:xfrm>
            <a:off x="2793492" y="1568196"/>
            <a:ext cx="228600" cy="228600"/>
          </a:xfrm>
          <a:prstGeom prst="rect">
            <a:avLst/>
          </a:prstGeom>
        </p:spPr>
      </p:pic>
      <p:sp>
        <p:nvSpPr>
          <p:cNvPr id="27" name="Text 22"/>
          <p:cNvSpPr txBox="1"/>
          <p:nvPr/>
        </p:nvSpPr>
        <p:spPr>
          <a:xfrm>
            <a:off x="4032504" y="1417320"/>
            <a:ext cx="36576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B</a:t>
            </a:r>
            <a:endParaRPr lang="en-US" sz="2600" dirty="0"/>
          </a:p>
        </p:txBody>
      </p:sp>
      <p:sp>
        <p:nvSpPr>
          <p:cNvPr id="28" name="Text 23"/>
          <p:cNvSpPr txBox="1"/>
          <p:nvPr/>
        </p:nvSpPr>
        <p:spPr>
          <a:xfrm>
            <a:off x="2679192" y="1965960"/>
            <a:ext cx="1682496" cy="237744"/>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Reports &amp; notes</a:t>
            </a:r>
            <a:endParaRPr lang="en-US" sz="1350" dirty="0"/>
          </a:p>
        </p:txBody>
      </p:sp>
      <p:sp>
        <p:nvSpPr>
          <p:cNvPr id="29" name="Text 24"/>
          <p:cNvSpPr txBox="1"/>
          <p:nvPr/>
        </p:nvSpPr>
        <p:spPr>
          <a:xfrm>
            <a:off x="2679192" y="2203704"/>
            <a:ext cx="1682496" cy="36576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Draft commentary and methodological notes from computed tables</a:t>
            </a:r>
            <a:endParaRPr lang="en-US" sz="900" dirty="0"/>
          </a:p>
        </p:txBody>
      </p:sp>
      <p:sp>
        <p:nvSpPr>
          <p:cNvPr id="30" name="Text 25"/>
          <p:cNvSpPr txBox="1"/>
          <p:nvPr/>
        </p:nvSpPr>
        <p:spPr>
          <a:xfrm>
            <a:off x="2679192" y="2569464"/>
            <a:ext cx="1682496" cy="182880"/>
          </a:xfrm>
          <a:prstGeom prst="rect">
            <a:avLst/>
          </a:prstGeom>
          <a:noFill/>
          <a:ln/>
        </p:spPr>
        <p:txBody>
          <a:bodyPr wrap="square" lIns="0" tIns="0" rIns="0" bIns="0" rtlCol="0" anchor="t"/>
          <a:lstStyle/>
          <a:p>
            <a:pPr indent="0" marL="0">
              <a:buNone/>
            </a:pPr>
            <a:r>
              <a:rPr lang="en-US" sz="900" b="1" dirty="0">
                <a:solidFill>
                  <a:srgbClr val="00A86A"/>
                </a:solidFill>
                <a:latin typeface="Calibri" pitchFamily="34" charset="0"/>
                <a:ea typeface="Calibri" pitchFamily="34" charset="-122"/>
                <a:cs typeface="Calibri" pitchFamily="34" charset="-120"/>
              </a:rPr>
              <a:t>→ </a:t>
            </a:r>
            <a:pPr indent="0" marL="0">
              <a:buNone/>
            </a:pPr>
            <a:r>
              <a:rPr lang="en-US" sz="900" b="1" dirty="0">
                <a:solidFill>
                  <a:srgbClr val="00704A"/>
                </a:solidFill>
                <a:latin typeface="Calibri" pitchFamily="34" charset="0"/>
                <a:ea typeface="Calibri" pitchFamily="34" charset="-122"/>
                <a:cs typeface="Calibri" pitchFamily="34" charset="-120"/>
              </a:rPr>
              <a:t>Fact-checked one-page note</a:t>
            </a:r>
            <a:endParaRPr lang="en-US" sz="900" dirty="0"/>
          </a:p>
        </p:txBody>
      </p:sp>
      <p:sp>
        <p:nvSpPr>
          <p:cNvPr id="31" name="Shape 26"/>
          <p:cNvSpPr/>
          <p:nvPr/>
        </p:nvSpPr>
        <p:spPr>
          <a:xfrm>
            <a:off x="4645152" y="1325880"/>
            <a:ext cx="1938528" cy="1490472"/>
          </a:xfrm>
          <a:prstGeom prst="roundRect">
            <a:avLst>
              <a:gd name="adj" fmla="val 4908"/>
            </a:avLst>
          </a:prstGeom>
          <a:solidFill>
            <a:srgbClr val="F4F7F5"/>
          </a:solidFill>
          <a:ln w="9525">
            <a:solidFill>
              <a:srgbClr val="D5DED9"/>
            </a:solidFill>
            <a:prstDash val="solid"/>
          </a:ln>
        </p:spPr>
      </p:sp>
      <p:sp>
        <p:nvSpPr>
          <p:cNvPr id="32" name="Shape 27"/>
          <p:cNvSpPr/>
          <p:nvPr/>
        </p:nvSpPr>
        <p:spPr>
          <a:xfrm>
            <a:off x="4773168" y="1453896"/>
            <a:ext cx="457200" cy="457200"/>
          </a:xfrm>
          <a:prstGeom prst="ellipse">
            <a:avLst/>
          </a:prstGeom>
          <a:solidFill>
            <a:srgbClr val="0E7C86">
              <a:alpha val="22000"/>
            </a:srgbClr>
          </a:solidFill>
          <a:ln/>
        </p:spPr>
      </p:sp>
      <p:pic>
        <p:nvPicPr>
          <p:cNvPr id="33" name="Image 2" descr="preencoded.png">    </p:cNvPr>
          <p:cNvPicPr>
            <a:picLocks noChangeAspect="1"/>
          </p:cNvPicPr>
          <p:nvPr/>
        </p:nvPicPr>
        <p:blipFill>
          <a:blip r:embed="rId3"/>
          <a:stretch>
            <a:fillRect/>
          </a:stretch>
        </p:blipFill>
        <p:spPr>
          <a:xfrm>
            <a:off x="4887468" y="1568196"/>
            <a:ext cx="228600" cy="228600"/>
          </a:xfrm>
          <a:prstGeom prst="rect">
            <a:avLst/>
          </a:prstGeom>
        </p:spPr>
      </p:pic>
      <p:sp>
        <p:nvSpPr>
          <p:cNvPr id="34" name="Text 28"/>
          <p:cNvSpPr txBox="1"/>
          <p:nvPr/>
        </p:nvSpPr>
        <p:spPr>
          <a:xfrm>
            <a:off x="6126480" y="1417320"/>
            <a:ext cx="36576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C</a:t>
            </a:r>
            <a:endParaRPr lang="en-US" sz="2600" dirty="0"/>
          </a:p>
        </p:txBody>
      </p:sp>
      <p:sp>
        <p:nvSpPr>
          <p:cNvPr id="35" name="Text 29"/>
          <p:cNvSpPr txBox="1"/>
          <p:nvPr/>
        </p:nvSpPr>
        <p:spPr>
          <a:xfrm>
            <a:off x="4773168" y="1965960"/>
            <a:ext cx="1682496" cy="237744"/>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Presentations</a:t>
            </a:r>
            <a:endParaRPr lang="en-US" sz="1350" dirty="0"/>
          </a:p>
        </p:txBody>
      </p:sp>
      <p:sp>
        <p:nvSpPr>
          <p:cNvPr id="36" name="Text 30"/>
          <p:cNvSpPr txBox="1"/>
          <p:nvPr/>
        </p:nvSpPr>
        <p:spPr>
          <a:xfrm>
            <a:off x="4773168" y="2203704"/>
            <a:ext cx="1682496" cy="36576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Turn a brief into a structured outline, then into slides</a:t>
            </a:r>
            <a:endParaRPr lang="en-US" sz="900" dirty="0"/>
          </a:p>
        </p:txBody>
      </p:sp>
      <p:sp>
        <p:nvSpPr>
          <p:cNvPr id="37" name="Text 31"/>
          <p:cNvSpPr txBox="1"/>
          <p:nvPr/>
        </p:nvSpPr>
        <p:spPr>
          <a:xfrm>
            <a:off x="4773168" y="2569464"/>
            <a:ext cx="1682496" cy="182880"/>
          </a:xfrm>
          <a:prstGeom prst="rect">
            <a:avLst/>
          </a:prstGeom>
          <a:noFill/>
          <a:ln/>
        </p:spPr>
        <p:txBody>
          <a:bodyPr wrap="square" lIns="0" tIns="0" rIns="0" bIns="0" rtlCol="0" anchor="t"/>
          <a:lstStyle/>
          <a:p>
            <a:pPr indent="0" marL="0">
              <a:buNone/>
            </a:pPr>
            <a:r>
              <a:rPr lang="en-US" sz="900" b="1" dirty="0">
                <a:solidFill>
                  <a:srgbClr val="00A86A"/>
                </a:solidFill>
                <a:latin typeface="Calibri" pitchFamily="34" charset="0"/>
                <a:ea typeface="Calibri" pitchFamily="34" charset="-122"/>
                <a:cs typeface="Calibri" pitchFamily="34" charset="-120"/>
              </a:rPr>
              <a:t>→ </a:t>
            </a:r>
            <a:pPr indent="0" marL="0">
              <a:buNone/>
            </a:pPr>
            <a:r>
              <a:rPr lang="en-US" sz="900" b="1" dirty="0">
                <a:solidFill>
                  <a:srgbClr val="00704A"/>
                </a:solidFill>
                <a:latin typeface="Calibri" pitchFamily="34" charset="0"/>
                <a:ea typeface="Calibri" pitchFamily="34" charset="-122"/>
                <a:cs typeface="Calibri" pitchFamily="34" charset="-120"/>
              </a:rPr>
              <a:t>.pptx in house colours</a:t>
            </a:r>
            <a:endParaRPr lang="en-US" sz="900" dirty="0"/>
          </a:p>
        </p:txBody>
      </p:sp>
      <p:sp>
        <p:nvSpPr>
          <p:cNvPr id="38" name="Shape 32"/>
          <p:cNvSpPr/>
          <p:nvPr/>
        </p:nvSpPr>
        <p:spPr>
          <a:xfrm>
            <a:off x="6739128" y="1325880"/>
            <a:ext cx="1938528" cy="1490472"/>
          </a:xfrm>
          <a:prstGeom prst="roundRect">
            <a:avLst>
              <a:gd name="adj" fmla="val 4908"/>
            </a:avLst>
          </a:prstGeom>
          <a:solidFill>
            <a:srgbClr val="F4F7F5"/>
          </a:solidFill>
          <a:ln w="9525">
            <a:solidFill>
              <a:srgbClr val="D5DED9"/>
            </a:solidFill>
            <a:prstDash val="solid"/>
          </a:ln>
        </p:spPr>
      </p:sp>
      <p:sp>
        <p:nvSpPr>
          <p:cNvPr id="39" name="Shape 33"/>
          <p:cNvSpPr/>
          <p:nvPr/>
        </p:nvSpPr>
        <p:spPr>
          <a:xfrm>
            <a:off x="6867144" y="1453896"/>
            <a:ext cx="457200" cy="457200"/>
          </a:xfrm>
          <a:prstGeom prst="ellipse">
            <a:avLst/>
          </a:prstGeom>
          <a:solidFill>
            <a:srgbClr val="D49A00">
              <a:alpha val="22000"/>
            </a:srgbClr>
          </a:solidFill>
          <a:ln/>
        </p:spPr>
      </p:sp>
      <p:pic>
        <p:nvPicPr>
          <p:cNvPr id="40" name="Image 3" descr="preencoded.png">    </p:cNvPr>
          <p:cNvPicPr>
            <a:picLocks noChangeAspect="1"/>
          </p:cNvPicPr>
          <p:nvPr/>
        </p:nvPicPr>
        <p:blipFill>
          <a:blip r:embed="rId4"/>
          <a:stretch>
            <a:fillRect/>
          </a:stretch>
        </p:blipFill>
        <p:spPr>
          <a:xfrm>
            <a:off x="6981444" y="1568196"/>
            <a:ext cx="228600" cy="228600"/>
          </a:xfrm>
          <a:prstGeom prst="rect">
            <a:avLst/>
          </a:prstGeom>
        </p:spPr>
      </p:pic>
      <p:sp>
        <p:nvSpPr>
          <p:cNvPr id="41" name="Text 34"/>
          <p:cNvSpPr txBox="1"/>
          <p:nvPr/>
        </p:nvSpPr>
        <p:spPr>
          <a:xfrm>
            <a:off x="8220456" y="1417320"/>
            <a:ext cx="36576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D</a:t>
            </a:r>
            <a:endParaRPr lang="en-US" sz="2600" dirty="0"/>
          </a:p>
        </p:txBody>
      </p:sp>
      <p:sp>
        <p:nvSpPr>
          <p:cNvPr id="42" name="Text 35"/>
          <p:cNvSpPr txBox="1"/>
          <p:nvPr/>
        </p:nvSpPr>
        <p:spPr>
          <a:xfrm>
            <a:off x="6867144" y="1965960"/>
            <a:ext cx="1682496" cy="237744"/>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Charts &amp; graphics</a:t>
            </a:r>
            <a:endParaRPr lang="en-US" sz="1350" dirty="0"/>
          </a:p>
        </p:txBody>
      </p:sp>
      <p:sp>
        <p:nvSpPr>
          <p:cNvPr id="43" name="Text 36"/>
          <p:cNvSpPr txBox="1"/>
          <p:nvPr/>
        </p:nvSpPr>
        <p:spPr>
          <a:xfrm>
            <a:off x="6867144" y="2203704"/>
            <a:ext cx="1682496" cy="36576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Chart specifications, house styling, alt text and critique</a:t>
            </a:r>
            <a:endParaRPr lang="en-US" sz="900" dirty="0"/>
          </a:p>
        </p:txBody>
      </p:sp>
      <p:sp>
        <p:nvSpPr>
          <p:cNvPr id="44" name="Text 37"/>
          <p:cNvSpPr txBox="1"/>
          <p:nvPr/>
        </p:nvSpPr>
        <p:spPr>
          <a:xfrm>
            <a:off x="6867144" y="2569464"/>
            <a:ext cx="1682496" cy="182880"/>
          </a:xfrm>
          <a:prstGeom prst="rect">
            <a:avLst/>
          </a:prstGeom>
          <a:noFill/>
          <a:ln/>
        </p:spPr>
        <p:txBody>
          <a:bodyPr wrap="square" lIns="0" tIns="0" rIns="0" bIns="0" rtlCol="0" anchor="t"/>
          <a:lstStyle/>
          <a:p>
            <a:pPr indent="0" marL="0">
              <a:buNone/>
            </a:pPr>
            <a:r>
              <a:rPr lang="en-US" sz="900" b="1" dirty="0">
                <a:solidFill>
                  <a:srgbClr val="00A86A"/>
                </a:solidFill>
                <a:latin typeface="Calibri" pitchFamily="34" charset="0"/>
                <a:ea typeface="Calibri" pitchFamily="34" charset="-122"/>
                <a:cs typeface="Calibri" pitchFamily="34" charset="-120"/>
              </a:rPr>
              <a:t>→ </a:t>
            </a:r>
            <a:pPr indent="0" marL="0">
              <a:buNone/>
            </a:pPr>
            <a:r>
              <a:rPr lang="en-US" sz="900" b="1" dirty="0">
                <a:solidFill>
                  <a:srgbClr val="00704A"/>
                </a:solidFill>
                <a:latin typeface="Calibri" pitchFamily="34" charset="0"/>
                <a:ea typeface="Calibri" pitchFamily="34" charset="-122"/>
                <a:cs typeface="Calibri" pitchFamily="34" charset="-120"/>
              </a:rPr>
              <a:t>Publication-ready chart + alt text</a:t>
            </a:r>
            <a:endParaRPr lang="en-US" sz="900" dirty="0"/>
          </a:p>
        </p:txBody>
      </p:sp>
      <p:sp>
        <p:nvSpPr>
          <p:cNvPr id="45" name="Shape 38"/>
          <p:cNvSpPr/>
          <p:nvPr/>
        </p:nvSpPr>
        <p:spPr>
          <a:xfrm>
            <a:off x="1504188" y="2953512"/>
            <a:ext cx="1938528" cy="1490472"/>
          </a:xfrm>
          <a:prstGeom prst="roundRect">
            <a:avLst>
              <a:gd name="adj" fmla="val 4908"/>
            </a:avLst>
          </a:prstGeom>
          <a:solidFill>
            <a:srgbClr val="F4F7F5"/>
          </a:solidFill>
          <a:ln w="9525">
            <a:solidFill>
              <a:srgbClr val="D5DED9"/>
            </a:solidFill>
            <a:prstDash val="solid"/>
          </a:ln>
        </p:spPr>
      </p:sp>
      <p:sp>
        <p:nvSpPr>
          <p:cNvPr id="46" name="Shape 39"/>
          <p:cNvSpPr/>
          <p:nvPr/>
        </p:nvSpPr>
        <p:spPr>
          <a:xfrm>
            <a:off x="1632204" y="3081528"/>
            <a:ext cx="457200" cy="457200"/>
          </a:xfrm>
          <a:prstGeom prst="ellipse">
            <a:avLst/>
          </a:prstGeom>
          <a:solidFill>
            <a:srgbClr val="C4621D">
              <a:alpha val="22000"/>
            </a:srgbClr>
          </a:solidFill>
          <a:ln/>
        </p:spPr>
      </p:sp>
      <p:pic>
        <p:nvPicPr>
          <p:cNvPr id="47" name="Image 4" descr="preencoded.png">    </p:cNvPr>
          <p:cNvPicPr>
            <a:picLocks noChangeAspect="1"/>
          </p:cNvPicPr>
          <p:nvPr/>
        </p:nvPicPr>
        <p:blipFill>
          <a:blip r:embed="rId5"/>
          <a:stretch>
            <a:fillRect/>
          </a:stretch>
        </p:blipFill>
        <p:spPr>
          <a:xfrm>
            <a:off x="1746504" y="3195828"/>
            <a:ext cx="228600" cy="228600"/>
          </a:xfrm>
          <a:prstGeom prst="rect">
            <a:avLst/>
          </a:prstGeom>
        </p:spPr>
      </p:pic>
      <p:sp>
        <p:nvSpPr>
          <p:cNvPr id="48" name="Text 40"/>
          <p:cNvSpPr txBox="1"/>
          <p:nvPr/>
        </p:nvSpPr>
        <p:spPr>
          <a:xfrm>
            <a:off x="2985516" y="3044952"/>
            <a:ext cx="36576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E</a:t>
            </a:r>
            <a:endParaRPr lang="en-US" sz="2600" dirty="0"/>
          </a:p>
        </p:txBody>
      </p:sp>
      <p:sp>
        <p:nvSpPr>
          <p:cNvPr id="49" name="Text 41"/>
          <p:cNvSpPr txBox="1"/>
          <p:nvPr/>
        </p:nvSpPr>
        <p:spPr>
          <a:xfrm>
            <a:off x="1632204" y="3593592"/>
            <a:ext cx="1682496" cy="237744"/>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Visual identity</a:t>
            </a:r>
            <a:endParaRPr lang="en-US" sz="1350" dirty="0"/>
          </a:p>
        </p:txBody>
      </p:sp>
      <p:sp>
        <p:nvSpPr>
          <p:cNvPr id="50" name="Text 42"/>
          <p:cNvSpPr txBox="1"/>
          <p:nvPr/>
        </p:nvSpPr>
        <p:spPr>
          <a:xfrm>
            <a:off x="1632204" y="3831336"/>
            <a:ext cx="1682496" cy="36576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Logo concepts as SVG, palettes with accessibility checks</a:t>
            </a:r>
            <a:endParaRPr lang="en-US" sz="900" dirty="0"/>
          </a:p>
        </p:txBody>
      </p:sp>
      <p:sp>
        <p:nvSpPr>
          <p:cNvPr id="51" name="Text 43"/>
          <p:cNvSpPr txBox="1"/>
          <p:nvPr/>
        </p:nvSpPr>
        <p:spPr>
          <a:xfrm>
            <a:off x="1632204" y="4197096"/>
            <a:ext cx="1682496" cy="182880"/>
          </a:xfrm>
          <a:prstGeom prst="rect">
            <a:avLst/>
          </a:prstGeom>
          <a:noFill/>
          <a:ln/>
        </p:spPr>
        <p:txBody>
          <a:bodyPr wrap="square" lIns="0" tIns="0" rIns="0" bIns="0" rtlCol="0" anchor="t"/>
          <a:lstStyle/>
          <a:p>
            <a:pPr indent="0" marL="0">
              <a:buNone/>
            </a:pPr>
            <a:r>
              <a:rPr lang="en-US" sz="900" b="1" dirty="0">
                <a:solidFill>
                  <a:srgbClr val="00A86A"/>
                </a:solidFill>
                <a:latin typeface="Calibri" pitchFamily="34" charset="0"/>
                <a:ea typeface="Calibri" pitchFamily="34" charset="-122"/>
                <a:cs typeface="Calibri" pitchFamily="34" charset="-120"/>
              </a:rPr>
              <a:t>→ </a:t>
            </a:r>
            <a:pPr indent="0" marL="0">
              <a:buNone/>
            </a:pPr>
            <a:r>
              <a:rPr lang="en-US" sz="900" b="1" dirty="0">
                <a:solidFill>
                  <a:srgbClr val="00704A"/>
                </a:solidFill>
                <a:latin typeface="Calibri" pitchFamily="34" charset="0"/>
                <a:ea typeface="Calibri" pitchFamily="34" charset="-122"/>
                <a:cs typeface="Calibri" pitchFamily="34" charset="-120"/>
              </a:rPr>
              <a:t>3 SVG logos + checked palette</a:t>
            </a:r>
            <a:endParaRPr lang="en-US" sz="900" dirty="0"/>
          </a:p>
        </p:txBody>
      </p:sp>
      <p:sp>
        <p:nvSpPr>
          <p:cNvPr id="52" name="Shape 44"/>
          <p:cNvSpPr/>
          <p:nvPr/>
        </p:nvSpPr>
        <p:spPr>
          <a:xfrm>
            <a:off x="3598164" y="2953512"/>
            <a:ext cx="1938528" cy="1490472"/>
          </a:xfrm>
          <a:prstGeom prst="roundRect">
            <a:avLst>
              <a:gd name="adj" fmla="val 4908"/>
            </a:avLst>
          </a:prstGeom>
          <a:solidFill>
            <a:srgbClr val="F4F7F5"/>
          </a:solidFill>
          <a:ln w="9525">
            <a:solidFill>
              <a:srgbClr val="D5DED9"/>
            </a:solidFill>
            <a:prstDash val="solid"/>
          </a:ln>
        </p:spPr>
      </p:sp>
      <p:sp>
        <p:nvSpPr>
          <p:cNvPr id="53" name="Shape 45"/>
          <p:cNvSpPr/>
          <p:nvPr/>
        </p:nvSpPr>
        <p:spPr>
          <a:xfrm>
            <a:off x="3726180" y="3081528"/>
            <a:ext cx="457200" cy="457200"/>
          </a:xfrm>
          <a:prstGeom prst="ellipse">
            <a:avLst/>
          </a:prstGeom>
          <a:solidFill>
            <a:srgbClr val="0E7C86">
              <a:alpha val="22000"/>
            </a:srgbClr>
          </a:solidFill>
          <a:ln/>
        </p:spPr>
      </p:sp>
      <p:pic>
        <p:nvPicPr>
          <p:cNvPr id="54" name="Image 5" descr="preencoded.png">    </p:cNvPr>
          <p:cNvPicPr>
            <a:picLocks noChangeAspect="1"/>
          </p:cNvPicPr>
          <p:nvPr/>
        </p:nvPicPr>
        <p:blipFill>
          <a:blip r:embed="rId6"/>
          <a:stretch>
            <a:fillRect/>
          </a:stretch>
        </p:blipFill>
        <p:spPr>
          <a:xfrm>
            <a:off x="3840480" y="3195828"/>
            <a:ext cx="228600" cy="228600"/>
          </a:xfrm>
          <a:prstGeom prst="rect">
            <a:avLst/>
          </a:prstGeom>
        </p:spPr>
      </p:pic>
      <p:sp>
        <p:nvSpPr>
          <p:cNvPr id="55" name="Text 46"/>
          <p:cNvSpPr txBox="1"/>
          <p:nvPr/>
        </p:nvSpPr>
        <p:spPr>
          <a:xfrm>
            <a:off x="5079492" y="3044952"/>
            <a:ext cx="36576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F</a:t>
            </a:r>
            <a:endParaRPr lang="en-US" sz="2600" dirty="0"/>
          </a:p>
        </p:txBody>
      </p:sp>
      <p:sp>
        <p:nvSpPr>
          <p:cNvPr id="56" name="Text 47"/>
          <p:cNvSpPr txBox="1"/>
          <p:nvPr/>
        </p:nvSpPr>
        <p:spPr>
          <a:xfrm>
            <a:off x="3726180" y="3593592"/>
            <a:ext cx="1682496" cy="237744"/>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Documents &amp; audio</a:t>
            </a:r>
            <a:endParaRPr lang="en-US" sz="1350" dirty="0"/>
          </a:p>
        </p:txBody>
      </p:sp>
      <p:sp>
        <p:nvSpPr>
          <p:cNvPr id="57" name="Text 48"/>
          <p:cNvSpPr txBox="1"/>
          <p:nvPr/>
        </p:nvSpPr>
        <p:spPr>
          <a:xfrm>
            <a:off x="3726180" y="3831336"/>
            <a:ext cx="1682496" cy="36576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Grounded Q&amp;A over reports; audio briefings with NotebookLM</a:t>
            </a:r>
            <a:endParaRPr lang="en-US" sz="900" dirty="0"/>
          </a:p>
        </p:txBody>
      </p:sp>
      <p:sp>
        <p:nvSpPr>
          <p:cNvPr id="58" name="Text 49"/>
          <p:cNvSpPr txBox="1"/>
          <p:nvPr/>
        </p:nvSpPr>
        <p:spPr>
          <a:xfrm>
            <a:off x="3726180" y="4197096"/>
            <a:ext cx="1682496" cy="182880"/>
          </a:xfrm>
          <a:prstGeom prst="rect">
            <a:avLst/>
          </a:prstGeom>
          <a:noFill/>
          <a:ln/>
        </p:spPr>
        <p:txBody>
          <a:bodyPr wrap="square" lIns="0" tIns="0" rIns="0" bIns="0" rtlCol="0" anchor="t"/>
          <a:lstStyle/>
          <a:p>
            <a:pPr indent="0" marL="0">
              <a:buNone/>
            </a:pPr>
            <a:r>
              <a:rPr lang="en-US" sz="900" b="1" dirty="0">
                <a:solidFill>
                  <a:srgbClr val="00A86A"/>
                </a:solidFill>
                <a:latin typeface="Calibri" pitchFamily="34" charset="0"/>
                <a:ea typeface="Calibri" pitchFamily="34" charset="-122"/>
                <a:cs typeface="Calibri" pitchFamily="34" charset="-120"/>
              </a:rPr>
              <a:t>→ </a:t>
            </a:r>
            <a:pPr indent="0" marL="0">
              <a:buNone/>
            </a:pPr>
            <a:r>
              <a:rPr lang="en-US" sz="900" b="1" dirty="0">
                <a:solidFill>
                  <a:srgbClr val="00704A"/>
                </a:solidFill>
                <a:latin typeface="Calibri" pitchFamily="34" charset="0"/>
                <a:ea typeface="Calibri" pitchFamily="34" charset="-122"/>
                <a:cs typeface="Calibri" pitchFamily="34" charset="-120"/>
              </a:rPr>
              <a:t>Cited brief + MP3 briefing</a:t>
            </a:r>
            <a:endParaRPr lang="en-US" sz="900" dirty="0"/>
          </a:p>
        </p:txBody>
      </p:sp>
      <p:sp>
        <p:nvSpPr>
          <p:cNvPr id="59" name="Shape 50"/>
          <p:cNvSpPr/>
          <p:nvPr/>
        </p:nvSpPr>
        <p:spPr>
          <a:xfrm>
            <a:off x="5692140" y="2953512"/>
            <a:ext cx="1938528" cy="1490472"/>
          </a:xfrm>
          <a:prstGeom prst="roundRect">
            <a:avLst>
              <a:gd name="adj" fmla="val 4908"/>
            </a:avLst>
          </a:prstGeom>
          <a:solidFill>
            <a:srgbClr val="F4F7F5"/>
          </a:solidFill>
          <a:ln w="9525">
            <a:solidFill>
              <a:srgbClr val="D5DED9"/>
            </a:solidFill>
            <a:prstDash val="solid"/>
          </a:ln>
        </p:spPr>
      </p:sp>
      <p:sp>
        <p:nvSpPr>
          <p:cNvPr id="60" name="Shape 51"/>
          <p:cNvSpPr/>
          <p:nvPr/>
        </p:nvSpPr>
        <p:spPr>
          <a:xfrm>
            <a:off x="5820156" y="3081528"/>
            <a:ext cx="457200" cy="457200"/>
          </a:xfrm>
          <a:prstGeom prst="ellipse">
            <a:avLst/>
          </a:prstGeom>
          <a:solidFill>
            <a:srgbClr val="00704A">
              <a:alpha val="22000"/>
            </a:srgbClr>
          </a:solidFill>
          <a:ln/>
        </p:spPr>
      </p:sp>
      <p:pic>
        <p:nvPicPr>
          <p:cNvPr id="61" name="Image 6" descr="preencoded.png">    </p:cNvPr>
          <p:cNvPicPr>
            <a:picLocks noChangeAspect="1"/>
          </p:cNvPicPr>
          <p:nvPr/>
        </p:nvPicPr>
        <p:blipFill>
          <a:blip r:embed="rId7"/>
          <a:stretch>
            <a:fillRect/>
          </a:stretch>
        </p:blipFill>
        <p:spPr>
          <a:xfrm>
            <a:off x="5934456" y="3195828"/>
            <a:ext cx="228600" cy="228600"/>
          </a:xfrm>
          <a:prstGeom prst="rect">
            <a:avLst/>
          </a:prstGeom>
        </p:spPr>
      </p:pic>
      <p:sp>
        <p:nvSpPr>
          <p:cNvPr id="62" name="Text 52"/>
          <p:cNvSpPr txBox="1"/>
          <p:nvPr/>
        </p:nvSpPr>
        <p:spPr>
          <a:xfrm>
            <a:off x="7173468" y="3044952"/>
            <a:ext cx="36576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G</a:t>
            </a:r>
            <a:endParaRPr lang="en-US" sz="2600" dirty="0"/>
          </a:p>
        </p:txBody>
      </p:sp>
      <p:sp>
        <p:nvSpPr>
          <p:cNvPr id="63" name="Text 53"/>
          <p:cNvSpPr txBox="1"/>
          <p:nvPr/>
        </p:nvSpPr>
        <p:spPr>
          <a:xfrm>
            <a:off x="5820156" y="3593592"/>
            <a:ext cx="1682496" cy="237744"/>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Multimodal</a:t>
            </a:r>
            <a:endParaRPr lang="en-US" sz="1350" dirty="0"/>
          </a:p>
        </p:txBody>
      </p:sp>
      <p:sp>
        <p:nvSpPr>
          <p:cNvPr id="64" name="Text 54"/>
          <p:cNvSpPr txBox="1"/>
          <p:nvPr/>
        </p:nvSpPr>
        <p:spPr>
          <a:xfrm>
            <a:off x="5820156" y="3831336"/>
            <a:ext cx="1682496" cy="36576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Read charts, tables and scanned forms with Gemini</a:t>
            </a:r>
            <a:endParaRPr lang="en-US" sz="900" dirty="0"/>
          </a:p>
        </p:txBody>
      </p:sp>
      <p:sp>
        <p:nvSpPr>
          <p:cNvPr id="65" name="Text 55"/>
          <p:cNvSpPr txBox="1"/>
          <p:nvPr/>
        </p:nvSpPr>
        <p:spPr>
          <a:xfrm>
            <a:off x="5820156" y="4197096"/>
            <a:ext cx="1682496" cy="182880"/>
          </a:xfrm>
          <a:prstGeom prst="rect">
            <a:avLst/>
          </a:prstGeom>
          <a:noFill/>
          <a:ln/>
        </p:spPr>
        <p:txBody>
          <a:bodyPr wrap="square" lIns="0" tIns="0" rIns="0" bIns="0" rtlCol="0" anchor="t"/>
          <a:lstStyle/>
          <a:p>
            <a:pPr indent="0" marL="0">
              <a:buNone/>
            </a:pPr>
            <a:r>
              <a:rPr lang="en-US" sz="900" b="1" dirty="0">
                <a:solidFill>
                  <a:srgbClr val="00A86A"/>
                </a:solidFill>
                <a:latin typeface="Calibri" pitchFamily="34" charset="0"/>
                <a:ea typeface="Calibri" pitchFamily="34" charset="-122"/>
                <a:cs typeface="Calibri" pitchFamily="34" charset="-120"/>
              </a:rPr>
              <a:t>→ </a:t>
            </a:r>
            <a:pPr indent="0" marL="0">
              <a:buNone/>
            </a:pPr>
            <a:r>
              <a:rPr lang="en-US" sz="900" b="1" dirty="0">
                <a:solidFill>
                  <a:srgbClr val="00704A"/>
                </a:solidFill>
                <a:latin typeface="Calibri" pitchFamily="34" charset="0"/>
                <a:ea typeface="Calibri" pitchFamily="34" charset="-122"/>
                <a:cs typeface="Calibri" pitchFamily="34" charset="-120"/>
              </a:rPr>
              <a:t>Extracted table + accuracy score</a:t>
            </a:r>
            <a:endParaRPr lang="en-US"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THE STATIONS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Stations A and B — code, reports and notes</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0E7C86"/>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STG17 · One Model, Many Jobs — an LLM Toolkit for Statisticians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325880"/>
            <a:ext cx="4023360" cy="3200400"/>
          </a:xfrm>
          <a:prstGeom prst="roundRect">
            <a:avLst>
              <a:gd name="adj" fmla="val 2286"/>
            </a:avLst>
          </a:prstGeom>
          <a:solidFill>
            <a:srgbClr val="FFFFFF"/>
          </a:solidFill>
          <a:ln w="9525">
            <a:solidFill>
              <a:srgbClr val="D5DED9"/>
            </a:solidFill>
            <a:prstDash val="solid"/>
          </a:ln>
        </p:spPr>
      </p:sp>
      <p:sp>
        <p:nvSpPr>
          <p:cNvPr id="18" name="Shape 15"/>
          <p:cNvSpPr/>
          <p:nvPr/>
        </p:nvSpPr>
        <p:spPr>
          <a:xfrm>
            <a:off x="594360" y="1435608"/>
            <a:ext cx="420624" cy="420624"/>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699516" y="1540764"/>
            <a:ext cx="210312" cy="210312"/>
          </a:xfrm>
          <a:prstGeom prst="rect">
            <a:avLst/>
          </a:prstGeom>
        </p:spPr>
      </p:pic>
      <p:sp>
        <p:nvSpPr>
          <p:cNvPr id="20" name="Text 16"/>
          <p:cNvSpPr txBox="1"/>
          <p:nvPr/>
        </p:nvSpPr>
        <p:spPr>
          <a:xfrm>
            <a:off x="1097280" y="1444752"/>
            <a:ext cx="3291840" cy="182880"/>
          </a:xfrm>
          <a:prstGeom prst="rect">
            <a:avLst/>
          </a:prstGeom>
          <a:noFill/>
          <a:ln/>
        </p:spPr>
        <p:txBody>
          <a:bodyPr wrap="square" lIns="0" tIns="0" rIns="0" bIns="0" rtlCol="0" anchor="t"/>
          <a:lstStyle/>
          <a:p>
            <a:pPr indent="0" marL="0">
              <a:buNone/>
            </a:pPr>
            <a:r>
              <a:rPr lang="en-US" sz="900" b="1" spc="200" kern="0" dirty="0">
                <a:solidFill>
                  <a:srgbClr val="00A86A"/>
                </a:solidFill>
                <a:latin typeface="Calibri" pitchFamily="34" charset="0"/>
                <a:ea typeface="Calibri" pitchFamily="34" charset="-122"/>
                <a:cs typeface="Calibri" pitchFamily="34" charset="-120"/>
              </a:rPr>
              <a:t>STATION A</a:t>
            </a:r>
            <a:endParaRPr lang="en-US" sz="900" dirty="0"/>
          </a:p>
        </p:txBody>
      </p:sp>
      <p:sp>
        <p:nvSpPr>
          <p:cNvPr id="21" name="Text 17"/>
          <p:cNvSpPr txBox="1"/>
          <p:nvPr/>
        </p:nvSpPr>
        <p:spPr>
          <a:xfrm>
            <a:off x="1097280" y="1618488"/>
            <a:ext cx="3291840" cy="256032"/>
          </a:xfrm>
          <a:prstGeom prst="rect">
            <a:avLst/>
          </a:prstGeom>
          <a:noFill/>
          <a:ln/>
        </p:spPr>
        <p:txBody>
          <a:bodyPr wrap="square" lIns="0" tIns="0" rIns="0" bIns="0" rtlCol="0" anchor="t"/>
          <a:lstStyle/>
          <a:p>
            <a:pPr indent="0" marL="0">
              <a:buNone/>
            </a:pPr>
            <a:r>
              <a:rPr lang="en-US" sz="1400" b="1" dirty="0">
                <a:solidFill>
                  <a:srgbClr val="231F20"/>
                </a:solidFill>
                <a:latin typeface="Calibri" pitchFamily="34" charset="0"/>
                <a:ea typeface="Calibri" pitchFamily="34" charset="-122"/>
                <a:cs typeface="Calibri" pitchFamily="34" charset="-120"/>
              </a:rPr>
              <a:t>Code</a:t>
            </a:r>
            <a:endParaRPr lang="en-US" sz="1400" dirty="0"/>
          </a:p>
        </p:txBody>
      </p:sp>
      <p:sp>
        <p:nvSpPr>
          <p:cNvPr id="22" name="Shape 18"/>
          <p:cNvSpPr/>
          <p:nvPr/>
        </p:nvSpPr>
        <p:spPr>
          <a:xfrm>
            <a:off x="612648" y="2029968"/>
            <a:ext cx="237744" cy="237744"/>
          </a:xfrm>
          <a:prstGeom prst="ellipse">
            <a:avLst/>
          </a:prstGeom>
          <a:solidFill>
            <a:srgbClr val="00A86A"/>
          </a:solidFill>
          <a:ln/>
        </p:spPr>
      </p:sp>
      <p:sp>
        <p:nvSpPr>
          <p:cNvPr id="23" name="Text 19"/>
          <p:cNvSpPr txBox="1"/>
          <p:nvPr/>
        </p:nvSpPr>
        <p:spPr>
          <a:xfrm>
            <a:off x="612648" y="20299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4" name="Text 20"/>
          <p:cNvSpPr txBox="1"/>
          <p:nvPr/>
        </p:nvSpPr>
        <p:spPr>
          <a:xfrm>
            <a:off x="960120" y="2011680"/>
            <a:ext cx="3383280" cy="3657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Generate a function from a written spec — with unit tests</a:t>
            </a:r>
            <a:endParaRPr lang="en-US" sz="1000" dirty="0"/>
          </a:p>
        </p:txBody>
      </p:sp>
      <p:sp>
        <p:nvSpPr>
          <p:cNvPr id="25" name="Shape 21"/>
          <p:cNvSpPr/>
          <p:nvPr/>
        </p:nvSpPr>
        <p:spPr>
          <a:xfrm>
            <a:off x="612648" y="2432304"/>
            <a:ext cx="237744" cy="237744"/>
          </a:xfrm>
          <a:prstGeom prst="ellipse">
            <a:avLst/>
          </a:prstGeom>
          <a:solidFill>
            <a:srgbClr val="00A86A"/>
          </a:solidFill>
          <a:ln/>
        </p:spPr>
      </p:sp>
      <p:sp>
        <p:nvSpPr>
          <p:cNvPr id="26" name="Text 22"/>
          <p:cNvSpPr txBox="1"/>
          <p:nvPr/>
        </p:nvSpPr>
        <p:spPr>
          <a:xfrm>
            <a:off x="612648" y="243230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7" name="Text 23"/>
          <p:cNvSpPr txBox="1"/>
          <p:nvPr/>
        </p:nvSpPr>
        <p:spPr>
          <a:xfrm>
            <a:off x="960120" y="2414016"/>
            <a:ext cx="3383280" cy="3657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Explain or translate legacy code (e.g. Stata → Python)</a:t>
            </a:r>
            <a:endParaRPr lang="en-US" sz="1000" dirty="0"/>
          </a:p>
        </p:txBody>
      </p:sp>
      <p:sp>
        <p:nvSpPr>
          <p:cNvPr id="28" name="Shape 24"/>
          <p:cNvSpPr/>
          <p:nvPr/>
        </p:nvSpPr>
        <p:spPr>
          <a:xfrm>
            <a:off x="612648" y="2834640"/>
            <a:ext cx="237744" cy="237744"/>
          </a:xfrm>
          <a:prstGeom prst="ellipse">
            <a:avLst/>
          </a:prstGeom>
          <a:solidFill>
            <a:srgbClr val="00A86A"/>
          </a:solidFill>
          <a:ln/>
        </p:spPr>
      </p:sp>
      <p:sp>
        <p:nvSpPr>
          <p:cNvPr id="29" name="Text 25"/>
          <p:cNvSpPr txBox="1"/>
          <p:nvPr/>
        </p:nvSpPr>
        <p:spPr>
          <a:xfrm>
            <a:off x="612648" y="28346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0" name="Text 26"/>
          <p:cNvSpPr txBox="1"/>
          <p:nvPr/>
        </p:nvSpPr>
        <p:spPr>
          <a:xfrm>
            <a:off x="960120" y="2816352"/>
            <a:ext cx="3383280" cy="3657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Paste an error trace: ask for the diagnosis before the fix</a:t>
            </a:r>
            <a:endParaRPr lang="en-US" sz="1000" dirty="0"/>
          </a:p>
        </p:txBody>
      </p:sp>
      <p:sp>
        <p:nvSpPr>
          <p:cNvPr id="31" name="Shape 27"/>
          <p:cNvSpPr/>
          <p:nvPr/>
        </p:nvSpPr>
        <p:spPr>
          <a:xfrm>
            <a:off x="594360" y="3246120"/>
            <a:ext cx="3749040" cy="603504"/>
          </a:xfrm>
          <a:prstGeom prst="roundRect">
            <a:avLst>
              <a:gd name="adj" fmla="val 7576"/>
            </a:avLst>
          </a:prstGeom>
          <a:solidFill>
            <a:srgbClr val="E8F5EF"/>
          </a:solidFill>
          <a:ln/>
        </p:spPr>
      </p:sp>
      <p:sp>
        <p:nvSpPr>
          <p:cNvPr id="32" name="Text 28"/>
          <p:cNvSpPr txBox="1"/>
          <p:nvPr/>
        </p:nvSpPr>
        <p:spPr>
          <a:xfrm>
            <a:off x="685800" y="3300984"/>
            <a:ext cx="3566160" cy="512064"/>
          </a:xfrm>
          <a:prstGeom prst="rect">
            <a:avLst/>
          </a:prstGeom>
          <a:noFill/>
          <a:ln/>
        </p:spPr>
        <p:txBody>
          <a:bodyPr wrap="square" lIns="0" tIns="0" rIns="0" bIns="0" rtlCol="0" anchor="ctr"/>
          <a:lstStyle/>
          <a:p>
            <a:pPr indent="0" marL="0">
              <a:buNone/>
            </a:pPr>
            <a:r>
              <a:rPr lang="en-US" sz="850" dirty="0">
                <a:solidFill>
                  <a:srgbClr val="231F20"/>
                </a:solidFill>
                <a:latin typeface="Courier New" pitchFamily="34" charset="0"/>
                <a:ea typeface="Courier New" pitchFamily="34" charset="-122"/>
                <a:cs typeface="Courier New" pitchFamily="34" charset="-120"/>
              </a:rPr>
              <a:t>“Act as a senior data engineer. Write a pandas</a:t>
            </a:r>
            <a:endParaRPr lang="en-US" sz="850" dirty="0"/>
          </a:p>
          <a:p>
            <a:pPr indent="0" marL="0">
              <a:buNone/>
            </a:pPr>
            <a:r>
              <a:rPr lang="en-US" sz="850" dirty="0">
                <a:solidFill>
                  <a:srgbClr val="231F20"/>
                </a:solidFill>
                <a:latin typeface="Courier New" pitchFamily="34" charset="0"/>
                <a:ea typeface="Courier New" pitchFamily="34" charset="-122"/>
                <a:cs typeface="Courier New" pitchFamily="34" charset="-120"/>
              </a:rPr>
              <a:t>function: weighted mean by region. Add a docstring,</a:t>
            </a:r>
            <a:endParaRPr lang="en-US" sz="850" dirty="0"/>
          </a:p>
          <a:p>
            <a:pPr indent="0" marL="0">
              <a:buNone/>
            </a:pPr>
            <a:r>
              <a:rPr lang="en-US" sz="850" dirty="0">
                <a:solidFill>
                  <a:srgbClr val="231F20"/>
                </a:solidFill>
                <a:latin typeface="Courier New" pitchFamily="34" charset="0"/>
                <a:ea typeface="Courier New" pitchFamily="34" charset="-122"/>
                <a:cs typeface="Courier New" pitchFamily="34" charset="-120"/>
              </a:rPr>
              <a:t>3 pytest tests, and list your assumptions.”</a:t>
            </a:r>
            <a:endParaRPr lang="en-US" sz="850" dirty="0"/>
          </a:p>
        </p:txBody>
      </p:sp>
      <p:sp>
        <p:nvSpPr>
          <p:cNvPr id="33" name="Shape 29"/>
          <p:cNvSpPr/>
          <p:nvPr/>
        </p:nvSpPr>
        <p:spPr>
          <a:xfrm>
            <a:off x="594360" y="3931920"/>
            <a:ext cx="3749040" cy="502920"/>
          </a:xfrm>
          <a:prstGeom prst="roundRect">
            <a:avLst>
              <a:gd name="adj" fmla="val 9091"/>
            </a:avLst>
          </a:prstGeom>
          <a:solidFill>
            <a:srgbClr val="D49A00">
              <a:alpha val="13000"/>
            </a:srgbClr>
          </a:solidFill>
          <a:ln w="9525">
            <a:solidFill>
              <a:srgbClr val="D49A00"/>
            </a:solidFill>
            <a:prstDash val="solid"/>
          </a:ln>
        </p:spPr>
      </p:sp>
      <p:pic>
        <p:nvPicPr>
          <p:cNvPr id="34" name="Image 1" descr="preencoded.png">    </p:cNvPr>
          <p:cNvPicPr>
            <a:picLocks noChangeAspect="1"/>
          </p:cNvPicPr>
          <p:nvPr/>
        </p:nvPicPr>
        <p:blipFill>
          <a:blip r:embed="rId2"/>
          <a:stretch>
            <a:fillRect/>
          </a:stretch>
        </p:blipFill>
        <p:spPr>
          <a:xfrm>
            <a:off x="676656" y="4069080"/>
            <a:ext cx="201168" cy="201168"/>
          </a:xfrm>
          <a:prstGeom prst="rect">
            <a:avLst/>
          </a:prstGeom>
        </p:spPr>
      </p:pic>
      <p:sp>
        <p:nvSpPr>
          <p:cNvPr id="35" name="Text 30"/>
          <p:cNvSpPr txBox="1"/>
          <p:nvPr/>
        </p:nvSpPr>
        <p:spPr>
          <a:xfrm>
            <a:off x="960120" y="3959352"/>
            <a:ext cx="3291840" cy="44805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Never run code you have not read. Test against known answers before trusting any output.</a:t>
            </a:r>
            <a:endParaRPr lang="en-US" sz="900" dirty="0"/>
          </a:p>
        </p:txBody>
      </p:sp>
      <p:sp>
        <p:nvSpPr>
          <p:cNvPr id="36" name="Shape 31"/>
          <p:cNvSpPr/>
          <p:nvPr/>
        </p:nvSpPr>
        <p:spPr>
          <a:xfrm>
            <a:off x="4663440" y="1325880"/>
            <a:ext cx="4023360" cy="3200400"/>
          </a:xfrm>
          <a:prstGeom prst="roundRect">
            <a:avLst>
              <a:gd name="adj" fmla="val 2286"/>
            </a:avLst>
          </a:prstGeom>
          <a:solidFill>
            <a:srgbClr val="FFFFFF"/>
          </a:solidFill>
          <a:ln w="9525">
            <a:solidFill>
              <a:srgbClr val="D5DED9"/>
            </a:solidFill>
            <a:prstDash val="solid"/>
          </a:ln>
        </p:spPr>
      </p:sp>
      <p:sp>
        <p:nvSpPr>
          <p:cNvPr id="37" name="Shape 32"/>
          <p:cNvSpPr/>
          <p:nvPr/>
        </p:nvSpPr>
        <p:spPr>
          <a:xfrm>
            <a:off x="4800600" y="1435608"/>
            <a:ext cx="420624" cy="420624"/>
          </a:xfrm>
          <a:prstGeom prst="ellipse">
            <a:avLst/>
          </a:prstGeom>
          <a:solidFill>
            <a:srgbClr val="00704A">
              <a:alpha val="22000"/>
            </a:srgbClr>
          </a:solidFill>
          <a:ln/>
        </p:spPr>
      </p:sp>
      <p:pic>
        <p:nvPicPr>
          <p:cNvPr id="38" name="Image 2" descr="preencoded.png">    </p:cNvPr>
          <p:cNvPicPr>
            <a:picLocks noChangeAspect="1"/>
          </p:cNvPicPr>
          <p:nvPr/>
        </p:nvPicPr>
        <p:blipFill>
          <a:blip r:embed="rId3"/>
          <a:stretch>
            <a:fillRect/>
          </a:stretch>
        </p:blipFill>
        <p:spPr>
          <a:xfrm>
            <a:off x="4905756" y="1540764"/>
            <a:ext cx="210312" cy="210312"/>
          </a:xfrm>
          <a:prstGeom prst="rect">
            <a:avLst/>
          </a:prstGeom>
        </p:spPr>
      </p:pic>
      <p:sp>
        <p:nvSpPr>
          <p:cNvPr id="39" name="Text 33"/>
          <p:cNvSpPr txBox="1"/>
          <p:nvPr/>
        </p:nvSpPr>
        <p:spPr>
          <a:xfrm>
            <a:off x="5303520" y="1444752"/>
            <a:ext cx="3291840" cy="182880"/>
          </a:xfrm>
          <a:prstGeom prst="rect">
            <a:avLst/>
          </a:prstGeom>
          <a:noFill/>
          <a:ln/>
        </p:spPr>
        <p:txBody>
          <a:bodyPr wrap="square" lIns="0" tIns="0" rIns="0" bIns="0" rtlCol="0" anchor="t"/>
          <a:lstStyle/>
          <a:p>
            <a:pPr indent="0" marL="0">
              <a:buNone/>
            </a:pPr>
            <a:r>
              <a:rPr lang="en-US" sz="900" b="1" spc="200" kern="0" dirty="0">
                <a:solidFill>
                  <a:srgbClr val="00704A"/>
                </a:solidFill>
                <a:latin typeface="Calibri" pitchFamily="34" charset="0"/>
                <a:ea typeface="Calibri" pitchFamily="34" charset="-122"/>
                <a:cs typeface="Calibri" pitchFamily="34" charset="-120"/>
              </a:rPr>
              <a:t>STATION B</a:t>
            </a:r>
            <a:endParaRPr lang="en-US" sz="900" dirty="0"/>
          </a:p>
        </p:txBody>
      </p:sp>
      <p:sp>
        <p:nvSpPr>
          <p:cNvPr id="40" name="Text 34"/>
          <p:cNvSpPr txBox="1"/>
          <p:nvPr/>
        </p:nvSpPr>
        <p:spPr>
          <a:xfrm>
            <a:off x="5303520" y="1618488"/>
            <a:ext cx="3291840" cy="256032"/>
          </a:xfrm>
          <a:prstGeom prst="rect">
            <a:avLst/>
          </a:prstGeom>
          <a:noFill/>
          <a:ln/>
        </p:spPr>
        <p:txBody>
          <a:bodyPr wrap="square" lIns="0" tIns="0" rIns="0" bIns="0" rtlCol="0" anchor="t"/>
          <a:lstStyle/>
          <a:p>
            <a:pPr indent="0" marL="0">
              <a:buNone/>
            </a:pPr>
            <a:r>
              <a:rPr lang="en-US" sz="1400" b="1" dirty="0">
                <a:solidFill>
                  <a:srgbClr val="231F20"/>
                </a:solidFill>
                <a:latin typeface="Calibri" pitchFamily="34" charset="0"/>
                <a:ea typeface="Calibri" pitchFamily="34" charset="-122"/>
                <a:cs typeface="Calibri" pitchFamily="34" charset="-120"/>
              </a:rPr>
              <a:t>Reports &amp; notes</a:t>
            </a:r>
            <a:endParaRPr lang="en-US" sz="1400" dirty="0"/>
          </a:p>
        </p:txBody>
      </p:sp>
      <p:sp>
        <p:nvSpPr>
          <p:cNvPr id="41" name="Shape 35"/>
          <p:cNvSpPr/>
          <p:nvPr/>
        </p:nvSpPr>
        <p:spPr>
          <a:xfrm>
            <a:off x="4818888" y="2029968"/>
            <a:ext cx="237744" cy="237744"/>
          </a:xfrm>
          <a:prstGeom prst="ellipse">
            <a:avLst/>
          </a:prstGeom>
          <a:solidFill>
            <a:srgbClr val="00704A"/>
          </a:solidFill>
          <a:ln/>
        </p:spPr>
      </p:sp>
      <p:sp>
        <p:nvSpPr>
          <p:cNvPr id="42" name="Text 36"/>
          <p:cNvSpPr txBox="1"/>
          <p:nvPr/>
        </p:nvSpPr>
        <p:spPr>
          <a:xfrm>
            <a:off x="4818888" y="20299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43" name="Text 37"/>
          <p:cNvSpPr txBox="1"/>
          <p:nvPr/>
        </p:nvSpPr>
        <p:spPr>
          <a:xfrm>
            <a:off x="5166360" y="2011680"/>
            <a:ext cx="3383280" cy="3657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Compute every figure in pandas first — not in the model</a:t>
            </a:r>
            <a:endParaRPr lang="en-US" sz="1000" dirty="0"/>
          </a:p>
        </p:txBody>
      </p:sp>
      <p:sp>
        <p:nvSpPr>
          <p:cNvPr id="44" name="Shape 38"/>
          <p:cNvSpPr/>
          <p:nvPr/>
        </p:nvSpPr>
        <p:spPr>
          <a:xfrm>
            <a:off x="4818888" y="2432304"/>
            <a:ext cx="237744" cy="237744"/>
          </a:xfrm>
          <a:prstGeom prst="ellipse">
            <a:avLst/>
          </a:prstGeom>
          <a:solidFill>
            <a:srgbClr val="00704A"/>
          </a:solidFill>
          <a:ln/>
        </p:spPr>
      </p:sp>
      <p:sp>
        <p:nvSpPr>
          <p:cNvPr id="45" name="Text 39"/>
          <p:cNvSpPr txBox="1"/>
          <p:nvPr/>
        </p:nvSpPr>
        <p:spPr>
          <a:xfrm>
            <a:off x="4818888" y="243230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6" name="Text 40"/>
          <p:cNvSpPr txBox="1"/>
          <p:nvPr/>
        </p:nvSpPr>
        <p:spPr>
          <a:xfrm>
            <a:off x="5166360" y="2414016"/>
            <a:ext cx="3383280" cy="3657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Model drafts the narrative from that table only</a:t>
            </a:r>
            <a:endParaRPr lang="en-US" sz="1000" dirty="0"/>
          </a:p>
        </p:txBody>
      </p:sp>
      <p:sp>
        <p:nvSpPr>
          <p:cNvPr id="47" name="Shape 41"/>
          <p:cNvSpPr/>
          <p:nvPr/>
        </p:nvSpPr>
        <p:spPr>
          <a:xfrm>
            <a:off x="4818888" y="2834640"/>
            <a:ext cx="237744" cy="237744"/>
          </a:xfrm>
          <a:prstGeom prst="ellipse">
            <a:avLst/>
          </a:prstGeom>
          <a:solidFill>
            <a:srgbClr val="00704A"/>
          </a:solidFill>
          <a:ln/>
        </p:spPr>
      </p:sp>
      <p:sp>
        <p:nvSpPr>
          <p:cNvPr id="48" name="Text 42"/>
          <p:cNvSpPr txBox="1"/>
          <p:nvPr/>
        </p:nvSpPr>
        <p:spPr>
          <a:xfrm>
            <a:off x="4818888" y="28346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9" name="Text 43"/>
          <p:cNvSpPr txBox="1"/>
          <p:nvPr/>
        </p:nvSpPr>
        <p:spPr>
          <a:xfrm>
            <a:off x="5166360" y="2816352"/>
            <a:ext cx="3383280" cy="3657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Automatic fact-check: every number in the text must exist in the table</a:t>
            </a:r>
            <a:endParaRPr lang="en-US" sz="1000" dirty="0"/>
          </a:p>
        </p:txBody>
      </p:sp>
      <p:sp>
        <p:nvSpPr>
          <p:cNvPr id="50" name="Shape 44"/>
          <p:cNvSpPr/>
          <p:nvPr/>
        </p:nvSpPr>
        <p:spPr>
          <a:xfrm>
            <a:off x="4800600" y="3246120"/>
            <a:ext cx="3749040" cy="603504"/>
          </a:xfrm>
          <a:prstGeom prst="roundRect">
            <a:avLst>
              <a:gd name="adj" fmla="val 7576"/>
            </a:avLst>
          </a:prstGeom>
          <a:solidFill>
            <a:srgbClr val="E8F5EF"/>
          </a:solidFill>
          <a:ln/>
        </p:spPr>
      </p:sp>
      <p:sp>
        <p:nvSpPr>
          <p:cNvPr id="51" name="Text 45"/>
          <p:cNvSpPr txBox="1"/>
          <p:nvPr/>
        </p:nvSpPr>
        <p:spPr>
          <a:xfrm>
            <a:off x="4892040" y="3300984"/>
            <a:ext cx="3566160" cy="512064"/>
          </a:xfrm>
          <a:prstGeom prst="rect">
            <a:avLst/>
          </a:prstGeom>
          <a:noFill/>
          <a:ln/>
        </p:spPr>
        <p:txBody>
          <a:bodyPr wrap="square" lIns="0" tIns="0" rIns="0" bIns="0" rtlCol="0" anchor="ctr"/>
          <a:lstStyle/>
          <a:p>
            <a:pPr indent="0" marL="0">
              <a:buNone/>
            </a:pPr>
            <a:r>
              <a:rPr lang="en-US" sz="850" dirty="0">
                <a:solidFill>
                  <a:srgbClr val="231F20"/>
                </a:solidFill>
                <a:latin typeface="Courier New" pitchFamily="34" charset="0"/>
                <a:ea typeface="Courier New" pitchFamily="34" charset="-122"/>
                <a:cs typeface="Courier New" pitchFamily="34" charset="-120"/>
              </a:rPr>
              <a:t>“Use ONLY this table. Draft a 200-word note with</a:t>
            </a:r>
            <a:endParaRPr lang="en-US" sz="850" dirty="0"/>
          </a:p>
          <a:p>
            <a:pPr indent="0" marL="0">
              <a:buNone/>
            </a:pPr>
            <a:r>
              <a:rPr lang="en-US" sz="850" dirty="0">
                <a:solidFill>
                  <a:srgbClr val="231F20"/>
                </a:solidFill>
                <a:latin typeface="Courier New" pitchFamily="34" charset="0"/>
                <a:ea typeface="Courier New" pitchFamily="34" charset="-122"/>
                <a:cs typeface="Courier New" pitchFamily="34" charset="-120"/>
              </a:rPr>
              <a:t>headings Context / Findings / Caveats.</a:t>
            </a:r>
            <a:endParaRPr lang="en-US" sz="850" dirty="0"/>
          </a:p>
          <a:p>
            <a:pPr indent="0" marL="0">
              <a:buNone/>
            </a:pPr>
            <a:r>
              <a:rPr lang="en-US" sz="850" dirty="0">
                <a:solidFill>
                  <a:srgbClr val="231F20"/>
                </a:solidFill>
                <a:latin typeface="Courier New" pitchFamily="34" charset="0"/>
                <a:ea typeface="Courier New" pitchFamily="34" charset="-122"/>
                <a:cs typeface="Courier New" pitchFamily="34" charset="-120"/>
              </a:rPr>
              <a:t>Write [MISSING] for any figure you cannot find.”</a:t>
            </a:r>
            <a:endParaRPr lang="en-US" sz="850" dirty="0"/>
          </a:p>
        </p:txBody>
      </p:sp>
      <p:sp>
        <p:nvSpPr>
          <p:cNvPr id="52" name="Shape 46"/>
          <p:cNvSpPr/>
          <p:nvPr/>
        </p:nvSpPr>
        <p:spPr>
          <a:xfrm>
            <a:off x="4800600" y="3931920"/>
            <a:ext cx="3749040" cy="502920"/>
          </a:xfrm>
          <a:prstGeom prst="roundRect">
            <a:avLst>
              <a:gd name="adj" fmla="val 9091"/>
            </a:avLst>
          </a:prstGeom>
          <a:solidFill>
            <a:srgbClr val="D49A00">
              <a:alpha val="13000"/>
            </a:srgbClr>
          </a:solidFill>
          <a:ln w="9525">
            <a:solidFill>
              <a:srgbClr val="D49A00"/>
            </a:solidFill>
            <a:prstDash val="solid"/>
          </a:ln>
        </p:spPr>
      </p:sp>
      <p:pic>
        <p:nvPicPr>
          <p:cNvPr id="53" name="Image 3" descr="preencoded.png">    </p:cNvPr>
          <p:cNvPicPr>
            <a:picLocks noChangeAspect="1"/>
          </p:cNvPicPr>
          <p:nvPr/>
        </p:nvPicPr>
        <p:blipFill>
          <a:blip r:embed="rId4"/>
          <a:stretch>
            <a:fillRect/>
          </a:stretch>
        </p:blipFill>
        <p:spPr>
          <a:xfrm>
            <a:off x="4882896" y="4069080"/>
            <a:ext cx="201168" cy="201168"/>
          </a:xfrm>
          <a:prstGeom prst="rect">
            <a:avLst/>
          </a:prstGeom>
        </p:spPr>
      </p:pic>
      <p:sp>
        <p:nvSpPr>
          <p:cNvPr id="54" name="Text 47"/>
          <p:cNvSpPr txBox="1"/>
          <p:nvPr/>
        </p:nvSpPr>
        <p:spPr>
          <a:xfrm>
            <a:off x="5166360" y="3959352"/>
            <a:ext cx="3291840" cy="44805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Invented or rounded-wrong figures. Keep the fact-check report with the draft.</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THE STATIONS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Stations C and D — presentations, charts and graphics</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0E7C86"/>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STG17 · One Model, Many Jobs — an LLM Toolkit for Statisticians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7" name="Shape 14"/>
          <p:cNvSpPr/>
          <p:nvPr/>
        </p:nvSpPr>
        <p:spPr>
          <a:xfrm>
            <a:off x="457200" y="1325880"/>
            <a:ext cx="4023360" cy="3200400"/>
          </a:xfrm>
          <a:prstGeom prst="roundRect">
            <a:avLst>
              <a:gd name="adj" fmla="val 2286"/>
            </a:avLst>
          </a:prstGeom>
          <a:solidFill>
            <a:srgbClr val="FFFFFF"/>
          </a:solidFill>
          <a:ln w="9525">
            <a:solidFill>
              <a:srgbClr val="D5DED9"/>
            </a:solidFill>
            <a:prstDash val="solid"/>
          </a:ln>
        </p:spPr>
      </p:sp>
      <p:sp>
        <p:nvSpPr>
          <p:cNvPr id="18" name="Shape 15"/>
          <p:cNvSpPr/>
          <p:nvPr/>
        </p:nvSpPr>
        <p:spPr>
          <a:xfrm>
            <a:off x="594360" y="1435608"/>
            <a:ext cx="420624" cy="420624"/>
          </a:xfrm>
          <a:prstGeom prst="ellipse">
            <a:avLst/>
          </a:prstGeom>
          <a:solidFill>
            <a:srgbClr val="0E7C86">
              <a:alpha val="22000"/>
            </a:srgbClr>
          </a:solidFill>
          <a:ln/>
        </p:spPr>
      </p:sp>
      <p:pic>
        <p:nvPicPr>
          <p:cNvPr id="19" name="Image 0" descr="preencoded.png">    </p:cNvPr>
          <p:cNvPicPr>
            <a:picLocks noChangeAspect="1"/>
          </p:cNvPicPr>
          <p:nvPr/>
        </p:nvPicPr>
        <p:blipFill>
          <a:blip r:embed="rId1"/>
          <a:stretch>
            <a:fillRect/>
          </a:stretch>
        </p:blipFill>
        <p:spPr>
          <a:xfrm>
            <a:off x="699516" y="1540764"/>
            <a:ext cx="210312" cy="210312"/>
          </a:xfrm>
          <a:prstGeom prst="rect">
            <a:avLst/>
          </a:prstGeom>
        </p:spPr>
      </p:pic>
      <p:sp>
        <p:nvSpPr>
          <p:cNvPr id="20" name="Text 16"/>
          <p:cNvSpPr txBox="1"/>
          <p:nvPr/>
        </p:nvSpPr>
        <p:spPr>
          <a:xfrm>
            <a:off x="1097280" y="1444752"/>
            <a:ext cx="3291840" cy="182880"/>
          </a:xfrm>
          <a:prstGeom prst="rect">
            <a:avLst/>
          </a:prstGeom>
          <a:noFill/>
          <a:ln/>
        </p:spPr>
        <p:txBody>
          <a:bodyPr wrap="square" lIns="0" tIns="0" rIns="0" bIns="0" rtlCol="0" anchor="t"/>
          <a:lstStyle/>
          <a:p>
            <a:pPr indent="0" marL="0">
              <a:buNone/>
            </a:pPr>
            <a:r>
              <a:rPr lang="en-US" sz="900" b="1" spc="200" kern="0" dirty="0">
                <a:solidFill>
                  <a:srgbClr val="0E7C86"/>
                </a:solidFill>
                <a:latin typeface="Calibri" pitchFamily="34" charset="0"/>
                <a:ea typeface="Calibri" pitchFamily="34" charset="-122"/>
                <a:cs typeface="Calibri" pitchFamily="34" charset="-120"/>
              </a:rPr>
              <a:t>STATION C</a:t>
            </a:r>
            <a:endParaRPr lang="en-US" sz="900" dirty="0"/>
          </a:p>
        </p:txBody>
      </p:sp>
      <p:sp>
        <p:nvSpPr>
          <p:cNvPr id="21" name="Text 17"/>
          <p:cNvSpPr txBox="1"/>
          <p:nvPr/>
        </p:nvSpPr>
        <p:spPr>
          <a:xfrm>
            <a:off x="1097280" y="1618488"/>
            <a:ext cx="3291840" cy="256032"/>
          </a:xfrm>
          <a:prstGeom prst="rect">
            <a:avLst/>
          </a:prstGeom>
          <a:noFill/>
          <a:ln/>
        </p:spPr>
        <p:txBody>
          <a:bodyPr wrap="square" lIns="0" tIns="0" rIns="0" bIns="0" rtlCol="0" anchor="t"/>
          <a:lstStyle/>
          <a:p>
            <a:pPr indent="0" marL="0">
              <a:buNone/>
            </a:pPr>
            <a:r>
              <a:rPr lang="en-US" sz="1400" b="1" dirty="0">
                <a:solidFill>
                  <a:srgbClr val="231F20"/>
                </a:solidFill>
                <a:latin typeface="Calibri" pitchFamily="34" charset="0"/>
                <a:ea typeface="Calibri" pitchFamily="34" charset="-122"/>
                <a:cs typeface="Calibri" pitchFamily="34" charset="-120"/>
              </a:rPr>
              <a:t>Presentations</a:t>
            </a:r>
            <a:endParaRPr lang="en-US" sz="1400" dirty="0"/>
          </a:p>
        </p:txBody>
      </p:sp>
      <p:sp>
        <p:nvSpPr>
          <p:cNvPr id="22" name="Shape 18"/>
          <p:cNvSpPr/>
          <p:nvPr/>
        </p:nvSpPr>
        <p:spPr>
          <a:xfrm>
            <a:off x="612648" y="2029968"/>
            <a:ext cx="237744" cy="237744"/>
          </a:xfrm>
          <a:prstGeom prst="ellipse">
            <a:avLst/>
          </a:prstGeom>
          <a:solidFill>
            <a:srgbClr val="0E7C86"/>
          </a:solidFill>
          <a:ln/>
        </p:spPr>
      </p:sp>
      <p:sp>
        <p:nvSpPr>
          <p:cNvPr id="23" name="Text 19"/>
          <p:cNvSpPr txBox="1"/>
          <p:nvPr/>
        </p:nvSpPr>
        <p:spPr>
          <a:xfrm>
            <a:off x="612648" y="20299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4" name="Text 20"/>
          <p:cNvSpPr txBox="1"/>
          <p:nvPr/>
        </p:nvSpPr>
        <p:spPr>
          <a:xfrm>
            <a:off x="960120" y="2011680"/>
            <a:ext cx="3383280" cy="3657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Model turns your brief into a JSON outline (titles, bullets, notes)</a:t>
            </a:r>
            <a:endParaRPr lang="en-US" sz="1000" dirty="0"/>
          </a:p>
        </p:txBody>
      </p:sp>
      <p:sp>
        <p:nvSpPr>
          <p:cNvPr id="25" name="Shape 21"/>
          <p:cNvSpPr/>
          <p:nvPr/>
        </p:nvSpPr>
        <p:spPr>
          <a:xfrm>
            <a:off x="612648" y="2432304"/>
            <a:ext cx="237744" cy="237744"/>
          </a:xfrm>
          <a:prstGeom prst="ellipse">
            <a:avLst/>
          </a:prstGeom>
          <a:solidFill>
            <a:srgbClr val="0E7C86"/>
          </a:solidFill>
          <a:ln/>
        </p:spPr>
      </p:sp>
      <p:sp>
        <p:nvSpPr>
          <p:cNvPr id="26" name="Text 22"/>
          <p:cNvSpPr txBox="1"/>
          <p:nvPr/>
        </p:nvSpPr>
        <p:spPr>
          <a:xfrm>
            <a:off x="612648" y="243230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7" name="Text 23"/>
          <p:cNvSpPr txBox="1"/>
          <p:nvPr/>
        </p:nvSpPr>
        <p:spPr>
          <a:xfrm>
            <a:off x="960120" y="2414016"/>
            <a:ext cx="3383280" cy="3657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Python validates the structure before rendering</a:t>
            </a:r>
            <a:endParaRPr lang="en-US" sz="1000" dirty="0"/>
          </a:p>
        </p:txBody>
      </p:sp>
      <p:sp>
        <p:nvSpPr>
          <p:cNvPr id="28" name="Shape 24"/>
          <p:cNvSpPr/>
          <p:nvPr/>
        </p:nvSpPr>
        <p:spPr>
          <a:xfrm>
            <a:off x="612648" y="2834640"/>
            <a:ext cx="237744" cy="237744"/>
          </a:xfrm>
          <a:prstGeom prst="ellipse">
            <a:avLst/>
          </a:prstGeom>
          <a:solidFill>
            <a:srgbClr val="0E7C86"/>
          </a:solidFill>
          <a:ln/>
        </p:spPr>
      </p:sp>
      <p:sp>
        <p:nvSpPr>
          <p:cNvPr id="29" name="Text 25"/>
          <p:cNvSpPr txBox="1"/>
          <p:nvPr/>
        </p:nvSpPr>
        <p:spPr>
          <a:xfrm>
            <a:off x="612648" y="28346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0" name="Text 26"/>
          <p:cNvSpPr txBox="1"/>
          <p:nvPr/>
        </p:nvSpPr>
        <p:spPr>
          <a:xfrm>
            <a:off x="960120" y="2816352"/>
            <a:ext cx="3383280" cy="3657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python-pptx renders slides in house colours; download .pptx</a:t>
            </a:r>
            <a:endParaRPr lang="en-US" sz="1000" dirty="0"/>
          </a:p>
        </p:txBody>
      </p:sp>
      <p:sp>
        <p:nvSpPr>
          <p:cNvPr id="31" name="Shape 27"/>
          <p:cNvSpPr/>
          <p:nvPr/>
        </p:nvSpPr>
        <p:spPr>
          <a:xfrm>
            <a:off x="594360" y="3246120"/>
            <a:ext cx="3749040" cy="603504"/>
          </a:xfrm>
          <a:prstGeom prst="roundRect">
            <a:avLst>
              <a:gd name="adj" fmla="val 7576"/>
            </a:avLst>
          </a:prstGeom>
          <a:solidFill>
            <a:srgbClr val="E8F5EF"/>
          </a:solidFill>
          <a:ln/>
        </p:spPr>
      </p:sp>
      <p:sp>
        <p:nvSpPr>
          <p:cNvPr id="32" name="Text 28"/>
          <p:cNvSpPr txBox="1"/>
          <p:nvPr/>
        </p:nvSpPr>
        <p:spPr>
          <a:xfrm>
            <a:off x="685800" y="3300984"/>
            <a:ext cx="3566160" cy="512064"/>
          </a:xfrm>
          <a:prstGeom prst="rect">
            <a:avLst/>
          </a:prstGeom>
          <a:noFill/>
          <a:ln/>
        </p:spPr>
        <p:txBody>
          <a:bodyPr wrap="square" lIns="0" tIns="0" rIns="0" bIns="0" rtlCol="0" anchor="ctr"/>
          <a:lstStyle/>
          <a:p>
            <a:pPr indent="0" marL="0">
              <a:buNone/>
            </a:pPr>
            <a:r>
              <a:rPr lang="en-US" sz="850" dirty="0">
                <a:solidFill>
                  <a:srgbClr val="231F20"/>
                </a:solidFill>
                <a:latin typeface="Courier New" pitchFamily="34" charset="0"/>
                <a:ea typeface="Courier New" pitchFamily="34" charset="-122"/>
                <a:cs typeface="Courier New" pitchFamily="34" charset="-120"/>
              </a:rPr>
              <a:t>“Return JSON only: {title, slides:[{title,</a:t>
            </a:r>
            <a:endParaRPr lang="en-US" sz="850" dirty="0"/>
          </a:p>
          <a:p>
            <a:pPr indent="0" marL="0">
              <a:buNone/>
            </a:pPr>
            <a:r>
              <a:rPr lang="en-US" sz="850" dirty="0">
                <a:solidFill>
                  <a:srgbClr val="231F20"/>
                </a:solidFill>
                <a:latin typeface="Courier New" pitchFamily="34" charset="0"/>
                <a:ea typeface="Courier New" pitchFamily="34" charset="-122"/>
                <a:cs typeface="Courier New" pitchFamily="34" charset="-120"/>
              </a:rPr>
              <a:t>bullets[3-4], notes}]}. 6 slides. Audience:</a:t>
            </a:r>
            <a:endParaRPr lang="en-US" sz="850" dirty="0"/>
          </a:p>
          <a:p>
            <a:pPr indent="0" marL="0">
              <a:buNone/>
            </a:pPr>
            <a:r>
              <a:rPr lang="en-US" sz="850" dirty="0">
                <a:solidFill>
                  <a:srgbClr val="231F20"/>
                </a:solidFill>
                <a:latin typeface="Courier New" pitchFamily="34" charset="0"/>
                <a:ea typeface="Courier New" pitchFamily="34" charset="-122"/>
                <a:cs typeface="Courier New" pitchFamily="34" charset="-120"/>
              </a:rPr>
              <a:t>ministry officials. No figures not in the brief.”</a:t>
            </a:r>
            <a:endParaRPr lang="en-US" sz="850" dirty="0"/>
          </a:p>
        </p:txBody>
      </p:sp>
      <p:sp>
        <p:nvSpPr>
          <p:cNvPr id="33" name="Shape 29"/>
          <p:cNvSpPr/>
          <p:nvPr/>
        </p:nvSpPr>
        <p:spPr>
          <a:xfrm>
            <a:off x="594360" y="3931920"/>
            <a:ext cx="3749040" cy="502920"/>
          </a:xfrm>
          <a:prstGeom prst="roundRect">
            <a:avLst>
              <a:gd name="adj" fmla="val 9091"/>
            </a:avLst>
          </a:prstGeom>
          <a:solidFill>
            <a:srgbClr val="D49A00">
              <a:alpha val="13000"/>
            </a:srgbClr>
          </a:solidFill>
          <a:ln w="9525">
            <a:solidFill>
              <a:srgbClr val="D49A00"/>
            </a:solidFill>
            <a:prstDash val="solid"/>
          </a:ln>
        </p:spPr>
      </p:sp>
      <p:pic>
        <p:nvPicPr>
          <p:cNvPr id="34" name="Image 1" descr="preencoded.png">    </p:cNvPr>
          <p:cNvPicPr>
            <a:picLocks noChangeAspect="1"/>
          </p:cNvPicPr>
          <p:nvPr/>
        </p:nvPicPr>
        <p:blipFill>
          <a:blip r:embed="rId2"/>
          <a:stretch>
            <a:fillRect/>
          </a:stretch>
        </p:blipFill>
        <p:spPr>
          <a:xfrm>
            <a:off x="676656" y="4069080"/>
            <a:ext cx="201168" cy="201168"/>
          </a:xfrm>
          <a:prstGeom prst="rect">
            <a:avLst/>
          </a:prstGeom>
        </p:spPr>
      </p:pic>
      <p:sp>
        <p:nvSpPr>
          <p:cNvPr id="35" name="Text 30"/>
          <p:cNvSpPr txBox="1"/>
          <p:nvPr/>
        </p:nvSpPr>
        <p:spPr>
          <a:xfrm>
            <a:off x="960120" y="3959352"/>
            <a:ext cx="3291840" cy="44805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A tidy deck is not a true deck — check every claim, and add sources before presenting.</a:t>
            </a:r>
            <a:endParaRPr lang="en-US" sz="900" dirty="0"/>
          </a:p>
        </p:txBody>
      </p:sp>
      <p:sp>
        <p:nvSpPr>
          <p:cNvPr id="36" name="Shape 31"/>
          <p:cNvSpPr/>
          <p:nvPr/>
        </p:nvSpPr>
        <p:spPr>
          <a:xfrm>
            <a:off x="4663440" y="1325880"/>
            <a:ext cx="4023360" cy="3200400"/>
          </a:xfrm>
          <a:prstGeom prst="roundRect">
            <a:avLst>
              <a:gd name="adj" fmla="val 2286"/>
            </a:avLst>
          </a:prstGeom>
          <a:solidFill>
            <a:srgbClr val="FFFFFF"/>
          </a:solidFill>
          <a:ln w="9525">
            <a:solidFill>
              <a:srgbClr val="D5DED9"/>
            </a:solidFill>
            <a:prstDash val="solid"/>
          </a:ln>
        </p:spPr>
      </p:sp>
      <p:sp>
        <p:nvSpPr>
          <p:cNvPr id="37" name="Shape 32"/>
          <p:cNvSpPr/>
          <p:nvPr/>
        </p:nvSpPr>
        <p:spPr>
          <a:xfrm>
            <a:off x="4800600" y="1435608"/>
            <a:ext cx="420624" cy="420624"/>
          </a:xfrm>
          <a:prstGeom prst="ellipse">
            <a:avLst/>
          </a:prstGeom>
          <a:solidFill>
            <a:srgbClr val="D49A00">
              <a:alpha val="22000"/>
            </a:srgbClr>
          </a:solidFill>
          <a:ln/>
        </p:spPr>
      </p:sp>
      <p:pic>
        <p:nvPicPr>
          <p:cNvPr id="38" name="Image 2" descr="preencoded.png">    </p:cNvPr>
          <p:cNvPicPr>
            <a:picLocks noChangeAspect="1"/>
          </p:cNvPicPr>
          <p:nvPr/>
        </p:nvPicPr>
        <p:blipFill>
          <a:blip r:embed="rId3"/>
          <a:stretch>
            <a:fillRect/>
          </a:stretch>
        </p:blipFill>
        <p:spPr>
          <a:xfrm>
            <a:off x="4905756" y="1540764"/>
            <a:ext cx="210312" cy="210312"/>
          </a:xfrm>
          <a:prstGeom prst="rect">
            <a:avLst/>
          </a:prstGeom>
        </p:spPr>
      </p:pic>
      <p:sp>
        <p:nvSpPr>
          <p:cNvPr id="39" name="Text 33"/>
          <p:cNvSpPr txBox="1"/>
          <p:nvPr/>
        </p:nvSpPr>
        <p:spPr>
          <a:xfrm>
            <a:off x="5303520" y="1444752"/>
            <a:ext cx="3291840" cy="182880"/>
          </a:xfrm>
          <a:prstGeom prst="rect">
            <a:avLst/>
          </a:prstGeom>
          <a:noFill/>
          <a:ln/>
        </p:spPr>
        <p:txBody>
          <a:bodyPr wrap="square" lIns="0" tIns="0" rIns="0" bIns="0" rtlCol="0" anchor="t"/>
          <a:lstStyle/>
          <a:p>
            <a:pPr indent="0" marL="0">
              <a:buNone/>
            </a:pPr>
            <a:r>
              <a:rPr lang="en-US" sz="900" b="1" spc="200" kern="0" dirty="0">
                <a:solidFill>
                  <a:srgbClr val="D49A00"/>
                </a:solidFill>
                <a:latin typeface="Calibri" pitchFamily="34" charset="0"/>
                <a:ea typeface="Calibri" pitchFamily="34" charset="-122"/>
                <a:cs typeface="Calibri" pitchFamily="34" charset="-120"/>
              </a:rPr>
              <a:t>STATION D</a:t>
            </a:r>
            <a:endParaRPr lang="en-US" sz="900" dirty="0"/>
          </a:p>
        </p:txBody>
      </p:sp>
      <p:sp>
        <p:nvSpPr>
          <p:cNvPr id="40" name="Text 34"/>
          <p:cNvSpPr txBox="1"/>
          <p:nvPr/>
        </p:nvSpPr>
        <p:spPr>
          <a:xfrm>
            <a:off x="5303520" y="1618488"/>
            <a:ext cx="3291840" cy="256032"/>
          </a:xfrm>
          <a:prstGeom prst="rect">
            <a:avLst/>
          </a:prstGeom>
          <a:noFill/>
          <a:ln/>
        </p:spPr>
        <p:txBody>
          <a:bodyPr wrap="square" lIns="0" tIns="0" rIns="0" bIns="0" rtlCol="0" anchor="t"/>
          <a:lstStyle/>
          <a:p>
            <a:pPr indent="0" marL="0">
              <a:buNone/>
            </a:pPr>
            <a:r>
              <a:rPr lang="en-US" sz="1400" b="1" dirty="0">
                <a:solidFill>
                  <a:srgbClr val="231F20"/>
                </a:solidFill>
                <a:latin typeface="Calibri" pitchFamily="34" charset="0"/>
                <a:ea typeface="Calibri" pitchFamily="34" charset="-122"/>
                <a:cs typeface="Calibri" pitchFamily="34" charset="-120"/>
              </a:rPr>
              <a:t>Charts &amp; graphics</a:t>
            </a:r>
            <a:endParaRPr lang="en-US" sz="1400" dirty="0"/>
          </a:p>
        </p:txBody>
      </p:sp>
      <p:sp>
        <p:nvSpPr>
          <p:cNvPr id="41" name="Shape 35"/>
          <p:cNvSpPr/>
          <p:nvPr/>
        </p:nvSpPr>
        <p:spPr>
          <a:xfrm>
            <a:off x="4818888" y="2029968"/>
            <a:ext cx="237744" cy="237744"/>
          </a:xfrm>
          <a:prstGeom prst="ellipse">
            <a:avLst/>
          </a:prstGeom>
          <a:solidFill>
            <a:srgbClr val="D49A00"/>
          </a:solidFill>
          <a:ln/>
        </p:spPr>
      </p:sp>
      <p:sp>
        <p:nvSpPr>
          <p:cNvPr id="42" name="Text 36"/>
          <p:cNvSpPr txBox="1"/>
          <p:nvPr/>
        </p:nvSpPr>
        <p:spPr>
          <a:xfrm>
            <a:off x="4818888" y="20299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43" name="Text 37"/>
          <p:cNvSpPr txBox="1"/>
          <p:nvPr/>
        </p:nvSpPr>
        <p:spPr>
          <a:xfrm>
            <a:off x="5166360" y="2011680"/>
            <a:ext cx="3383280" cy="3657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Describe the data and the one message the chart must carry</a:t>
            </a:r>
            <a:endParaRPr lang="en-US" sz="1000" dirty="0"/>
          </a:p>
        </p:txBody>
      </p:sp>
      <p:sp>
        <p:nvSpPr>
          <p:cNvPr id="44" name="Shape 38"/>
          <p:cNvSpPr/>
          <p:nvPr/>
        </p:nvSpPr>
        <p:spPr>
          <a:xfrm>
            <a:off x="4818888" y="2432304"/>
            <a:ext cx="237744" cy="237744"/>
          </a:xfrm>
          <a:prstGeom prst="ellipse">
            <a:avLst/>
          </a:prstGeom>
          <a:solidFill>
            <a:srgbClr val="D49A00"/>
          </a:solidFill>
          <a:ln/>
        </p:spPr>
      </p:sp>
      <p:sp>
        <p:nvSpPr>
          <p:cNvPr id="45" name="Text 39"/>
          <p:cNvSpPr txBox="1"/>
          <p:nvPr/>
        </p:nvSpPr>
        <p:spPr>
          <a:xfrm>
            <a:off x="4818888" y="243230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6" name="Text 40"/>
          <p:cNvSpPr txBox="1"/>
          <p:nvPr/>
        </p:nvSpPr>
        <p:spPr>
          <a:xfrm>
            <a:off x="5166360" y="2414016"/>
            <a:ext cx="3383280" cy="3657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Model returns a chart spec (type, x, y, title) — not free code</a:t>
            </a:r>
            <a:endParaRPr lang="en-US" sz="1000" dirty="0"/>
          </a:p>
        </p:txBody>
      </p:sp>
      <p:sp>
        <p:nvSpPr>
          <p:cNvPr id="47" name="Shape 41"/>
          <p:cNvSpPr/>
          <p:nvPr/>
        </p:nvSpPr>
        <p:spPr>
          <a:xfrm>
            <a:off x="4818888" y="2834640"/>
            <a:ext cx="237744" cy="237744"/>
          </a:xfrm>
          <a:prstGeom prst="ellipse">
            <a:avLst/>
          </a:prstGeom>
          <a:solidFill>
            <a:srgbClr val="D49A00"/>
          </a:solidFill>
          <a:ln/>
        </p:spPr>
      </p:sp>
      <p:sp>
        <p:nvSpPr>
          <p:cNvPr id="48" name="Text 42"/>
          <p:cNvSpPr txBox="1"/>
          <p:nvPr/>
        </p:nvSpPr>
        <p:spPr>
          <a:xfrm>
            <a:off x="4818888" y="28346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9" name="Text 43"/>
          <p:cNvSpPr txBox="1"/>
          <p:nvPr/>
        </p:nvSpPr>
        <p:spPr>
          <a:xfrm>
            <a:off x="5166360" y="2816352"/>
            <a:ext cx="3383280" cy="3657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Render in house palette; model writes alt text and a critique</a:t>
            </a:r>
            <a:endParaRPr lang="en-US" sz="1000" dirty="0"/>
          </a:p>
        </p:txBody>
      </p:sp>
      <p:sp>
        <p:nvSpPr>
          <p:cNvPr id="50" name="Shape 44"/>
          <p:cNvSpPr/>
          <p:nvPr/>
        </p:nvSpPr>
        <p:spPr>
          <a:xfrm>
            <a:off x="4800600" y="3246120"/>
            <a:ext cx="3749040" cy="603504"/>
          </a:xfrm>
          <a:prstGeom prst="roundRect">
            <a:avLst>
              <a:gd name="adj" fmla="val 7576"/>
            </a:avLst>
          </a:prstGeom>
          <a:solidFill>
            <a:srgbClr val="E8F5EF"/>
          </a:solidFill>
          <a:ln/>
        </p:spPr>
      </p:sp>
      <p:sp>
        <p:nvSpPr>
          <p:cNvPr id="51" name="Text 45"/>
          <p:cNvSpPr txBox="1"/>
          <p:nvPr/>
        </p:nvSpPr>
        <p:spPr>
          <a:xfrm>
            <a:off x="4892040" y="3300984"/>
            <a:ext cx="3566160" cy="512064"/>
          </a:xfrm>
          <a:prstGeom prst="rect">
            <a:avLst/>
          </a:prstGeom>
          <a:noFill/>
          <a:ln/>
        </p:spPr>
        <p:txBody>
          <a:bodyPr wrap="square" lIns="0" tIns="0" rIns="0" bIns="0" rtlCol="0" anchor="ctr"/>
          <a:lstStyle/>
          <a:p>
            <a:pPr indent="0" marL="0">
              <a:buNone/>
            </a:pPr>
            <a:r>
              <a:rPr lang="en-US" sz="850" dirty="0">
                <a:solidFill>
                  <a:srgbClr val="231F20"/>
                </a:solidFill>
                <a:latin typeface="Courier New" pitchFamily="34" charset="0"/>
                <a:ea typeface="Courier New" pitchFamily="34" charset="-122"/>
                <a:cs typeface="Courier New" pitchFamily="34" charset="-120"/>
              </a:rPr>
              <a:t>“Given these columns, return JSON: {chart_type,</a:t>
            </a:r>
            <a:endParaRPr lang="en-US" sz="850" dirty="0"/>
          </a:p>
          <a:p>
            <a:pPr indent="0" marL="0">
              <a:buNone/>
            </a:pPr>
            <a:r>
              <a:rPr lang="en-US" sz="850" dirty="0">
                <a:solidFill>
                  <a:srgbClr val="231F20"/>
                </a:solidFill>
                <a:latin typeface="Courier New" pitchFamily="34" charset="0"/>
                <a:ea typeface="Courier New" pitchFamily="34" charset="-122"/>
                <a:cs typeface="Courier New" pitchFamily="34" charset="-120"/>
              </a:rPr>
              <a:t>x, y, title, subtitle, sort}. Title must state the</a:t>
            </a:r>
            <a:endParaRPr lang="en-US" sz="850" dirty="0"/>
          </a:p>
          <a:p>
            <a:pPr indent="0" marL="0">
              <a:buNone/>
            </a:pPr>
            <a:r>
              <a:rPr lang="en-US" sz="850" dirty="0">
                <a:solidFill>
                  <a:srgbClr val="231F20"/>
                </a:solidFill>
                <a:latin typeface="Courier New" pitchFamily="34" charset="0"/>
                <a:ea typeface="Courier New" pitchFamily="34" charset="-122"/>
                <a:cs typeface="Courier New" pitchFamily="34" charset="-120"/>
              </a:rPr>
              <a:t>finding. Then write 40-word alt text.”</a:t>
            </a:r>
            <a:endParaRPr lang="en-US" sz="850" dirty="0"/>
          </a:p>
        </p:txBody>
      </p:sp>
      <p:sp>
        <p:nvSpPr>
          <p:cNvPr id="52" name="Shape 46"/>
          <p:cNvSpPr/>
          <p:nvPr/>
        </p:nvSpPr>
        <p:spPr>
          <a:xfrm>
            <a:off x="4800600" y="3931920"/>
            <a:ext cx="3749040" cy="502920"/>
          </a:xfrm>
          <a:prstGeom prst="roundRect">
            <a:avLst>
              <a:gd name="adj" fmla="val 9091"/>
            </a:avLst>
          </a:prstGeom>
          <a:solidFill>
            <a:srgbClr val="D49A00">
              <a:alpha val="13000"/>
            </a:srgbClr>
          </a:solidFill>
          <a:ln w="9525">
            <a:solidFill>
              <a:srgbClr val="D49A00"/>
            </a:solidFill>
            <a:prstDash val="solid"/>
          </a:ln>
        </p:spPr>
      </p:sp>
      <p:pic>
        <p:nvPicPr>
          <p:cNvPr id="53" name="Image 3" descr="preencoded.png">    </p:cNvPr>
          <p:cNvPicPr>
            <a:picLocks noChangeAspect="1"/>
          </p:cNvPicPr>
          <p:nvPr/>
        </p:nvPicPr>
        <p:blipFill>
          <a:blip r:embed="rId4"/>
          <a:stretch>
            <a:fillRect/>
          </a:stretch>
        </p:blipFill>
        <p:spPr>
          <a:xfrm>
            <a:off x="4882896" y="4069080"/>
            <a:ext cx="201168" cy="201168"/>
          </a:xfrm>
          <a:prstGeom prst="rect">
            <a:avLst/>
          </a:prstGeom>
        </p:spPr>
      </p:pic>
      <p:sp>
        <p:nvSpPr>
          <p:cNvPr id="54" name="Text 47"/>
          <p:cNvSpPr txBox="1"/>
          <p:nvPr/>
        </p:nvSpPr>
        <p:spPr>
          <a:xfrm>
            <a:off x="5166360" y="3959352"/>
            <a:ext cx="3291840" cy="44805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Truncated axes, 3-D effects, colour-only encoding. Review against the chart checklist.</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THE STATIONS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Stations E, F and G — identity, documents, multimodal</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0E7C86"/>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STG17 · One Model, Many Jobs — an LLM Toolkit for Statisticians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7" name="Shape 14"/>
          <p:cNvSpPr/>
          <p:nvPr/>
        </p:nvSpPr>
        <p:spPr>
          <a:xfrm>
            <a:off x="457200" y="1325880"/>
            <a:ext cx="2606040" cy="3200400"/>
          </a:xfrm>
          <a:prstGeom prst="roundRect">
            <a:avLst>
              <a:gd name="adj" fmla="val 2807"/>
            </a:avLst>
          </a:prstGeom>
          <a:solidFill>
            <a:srgbClr val="FFFFFF"/>
          </a:solidFill>
          <a:ln w="9525">
            <a:solidFill>
              <a:srgbClr val="D5DED9"/>
            </a:solidFill>
            <a:prstDash val="solid"/>
          </a:ln>
        </p:spPr>
      </p:sp>
      <p:sp>
        <p:nvSpPr>
          <p:cNvPr id="18" name="Shape 15"/>
          <p:cNvSpPr/>
          <p:nvPr/>
        </p:nvSpPr>
        <p:spPr>
          <a:xfrm>
            <a:off x="594360" y="1435608"/>
            <a:ext cx="420624" cy="420624"/>
          </a:xfrm>
          <a:prstGeom prst="ellipse">
            <a:avLst/>
          </a:prstGeom>
          <a:solidFill>
            <a:srgbClr val="C4621D">
              <a:alpha val="22000"/>
            </a:srgbClr>
          </a:solidFill>
          <a:ln/>
        </p:spPr>
      </p:sp>
      <p:pic>
        <p:nvPicPr>
          <p:cNvPr id="19" name="Image 0" descr="preencoded.png">    </p:cNvPr>
          <p:cNvPicPr>
            <a:picLocks noChangeAspect="1"/>
          </p:cNvPicPr>
          <p:nvPr/>
        </p:nvPicPr>
        <p:blipFill>
          <a:blip r:embed="rId1"/>
          <a:stretch>
            <a:fillRect/>
          </a:stretch>
        </p:blipFill>
        <p:spPr>
          <a:xfrm>
            <a:off x="699516" y="1540764"/>
            <a:ext cx="210312" cy="210312"/>
          </a:xfrm>
          <a:prstGeom prst="rect">
            <a:avLst/>
          </a:prstGeom>
        </p:spPr>
      </p:pic>
      <p:sp>
        <p:nvSpPr>
          <p:cNvPr id="20" name="Text 16"/>
          <p:cNvSpPr txBox="1"/>
          <p:nvPr/>
        </p:nvSpPr>
        <p:spPr>
          <a:xfrm>
            <a:off x="1097280" y="1444752"/>
            <a:ext cx="1828800" cy="182880"/>
          </a:xfrm>
          <a:prstGeom prst="rect">
            <a:avLst/>
          </a:prstGeom>
          <a:noFill/>
          <a:ln/>
        </p:spPr>
        <p:txBody>
          <a:bodyPr wrap="square" lIns="0" tIns="0" rIns="0" bIns="0" rtlCol="0" anchor="t"/>
          <a:lstStyle/>
          <a:p>
            <a:pPr indent="0" marL="0">
              <a:buNone/>
            </a:pPr>
            <a:r>
              <a:rPr lang="en-US" sz="900" b="1" spc="200" kern="0" dirty="0">
                <a:solidFill>
                  <a:srgbClr val="C4621D"/>
                </a:solidFill>
                <a:latin typeface="Calibri" pitchFamily="34" charset="0"/>
                <a:ea typeface="Calibri" pitchFamily="34" charset="-122"/>
                <a:cs typeface="Calibri" pitchFamily="34" charset="-120"/>
              </a:rPr>
              <a:t>STATION E</a:t>
            </a:r>
            <a:endParaRPr lang="en-US" sz="900" dirty="0"/>
          </a:p>
        </p:txBody>
      </p:sp>
      <p:sp>
        <p:nvSpPr>
          <p:cNvPr id="21" name="Text 17"/>
          <p:cNvSpPr txBox="1"/>
          <p:nvPr/>
        </p:nvSpPr>
        <p:spPr>
          <a:xfrm>
            <a:off x="1097280" y="1618488"/>
            <a:ext cx="1920240" cy="256032"/>
          </a:xfrm>
          <a:prstGeom prst="rect">
            <a:avLst/>
          </a:prstGeom>
          <a:noFill/>
          <a:ln/>
        </p:spPr>
        <p:txBody>
          <a:bodyPr wrap="square" lIns="0" tIns="0" rIns="0" bIns="0" rtlCol="0" anchor="t"/>
          <a:lstStyle/>
          <a:p>
            <a:pPr indent="0" marL="0">
              <a:buNone/>
            </a:pPr>
            <a:r>
              <a:rPr lang="en-US" sz="1400" b="1" dirty="0">
                <a:solidFill>
                  <a:srgbClr val="231F20"/>
                </a:solidFill>
                <a:latin typeface="Calibri" pitchFamily="34" charset="0"/>
                <a:ea typeface="Calibri" pitchFamily="34" charset="-122"/>
                <a:cs typeface="Calibri" pitchFamily="34" charset="-120"/>
              </a:rPr>
              <a:t>Visual identity</a:t>
            </a:r>
            <a:endParaRPr lang="en-US" sz="1400" dirty="0"/>
          </a:p>
        </p:txBody>
      </p:sp>
      <p:sp>
        <p:nvSpPr>
          <p:cNvPr id="22" name="Shape 18"/>
          <p:cNvSpPr/>
          <p:nvPr/>
        </p:nvSpPr>
        <p:spPr>
          <a:xfrm>
            <a:off x="612648" y="2075688"/>
            <a:ext cx="237744" cy="237744"/>
          </a:xfrm>
          <a:prstGeom prst="ellipse">
            <a:avLst/>
          </a:prstGeom>
          <a:solidFill>
            <a:srgbClr val="C4621D"/>
          </a:solidFill>
          <a:ln/>
        </p:spPr>
      </p:sp>
      <p:sp>
        <p:nvSpPr>
          <p:cNvPr id="23" name="Text 19"/>
          <p:cNvSpPr txBox="1"/>
          <p:nvPr/>
        </p:nvSpPr>
        <p:spPr>
          <a:xfrm>
            <a:off x="612648" y="207568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4" name="Text 20"/>
          <p:cNvSpPr txBox="1"/>
          <p:nvPr/>
        </p:nvSpPr>
        <p:spPr>
          <a:xfrm>
            <a:off x="960120" y="2057400"/>
            <a:ext cx="1965960" cy="420624"/>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Brief → 3 SVG logo concepts</a:t>
            </a:r>
            <a:endParaRPr lang="en-US" sz="1050" dirty="0"/>
          </a:p>
        </p:txBody>
      </p:sp>
      <p:sp>
        <p:nvSpPr>
          <p:cNvPr id="25" name="Shape 21"/>
          <p:cNvSpPr/>
          <p:nvPr/>
        </p:nvSpPr>
        <p:spPr>
          <a:xfrm>
            <a:off x="612648" y="2551176"/>
            <a:ext cx="237744" cy="237744"/>
          </a:xfrm>
          <a:prstGeom prst="ellipse">
            <a:avLst/>
          </a:prstGeom>
          <a:solidFill>
            <a:srgbClr val="C4621D"/>
          </a:solidFill>
          <a:ln/>
        </p:spPr>
      </p:sp>
      <p:sp>
        <p:nvSpPr>
          <p:cNvPr id="26" name="Text 22"/>
          <p:cNvSpPr txBox="1"/>
          <p:nvPr/>
        </p:nvSpPr>
        <p:spPr>
          <a:xfrm>
            <a:off x="612648" y="255117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7" name="Text 23"/>
          <p:cNvSpPr txBox="1"/>
          <p:nvPr/>
        </p:nvSpPr>
        <p:spPr>
          <a:xfrm>
            <a:off x="960120" y="2532888"/>
            <a:ext cx="1965960" cy="420624"/>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Palette contrast checked (WCAG ≥ 4.5 : 1)</a:t>
            </a:r>
            <a:endParaRPr lang="en-US" sz="1050" dirty="0"/>
          </a:p>
        </p:txBody>
      </p:sp>
      <p:sp>
        <p:nvSpPr>
          <p:cNvPr id="28" name="Shape 24"/>
          <p:cNvSpPr/>
          <p:nvPr/>
        </p:nvSpPr>
        <p:spPr>
          <a:xfrm>
            <a:off x="612648" y="3026664"/>
            <a:ext cx="237744" cy="237744"/>
          </a:xfrm>
          <a:prstGeom prst="ellipse">
            <a:avLst/>
          </a:prstGeom>
          <a:solidFill>
            <a:srgbClr val="C4621D"/>
          </a:solidFill>
          <a:ln/>
        </p:spPr>
      </p:sp>
      <p:sp>
        <p:nvSpPr>
          <p:cNvPr id="29" name="Text 25"/>
          <p:cNvSpPr txBox="1"/>
          <p:nvPr/>
        </p:nvSpPr>
        <p:spPr>
          <a:xfrm>
            <a:off x="612648" y="302666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0" name="Text 26"/>
          <p:cNvSpPr txBox="1"/>
          <p:nvPr/>
        </p:nvSpPr>
        <p:spPr>
          <a:xfrm>
            <a:off x="960120" y="3008376"/>
            <a:ext cx="1965960" cy="420624"/>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Mood images in the Gemini app</a:t>
            </a:r>
            <a:endParaRPr lang="en-US" sz="1050" dirty="0"/>
          </a:p>
        </p:txBody>
      </p:sp>
      <p:sp>
        <p:nvSpPr>
          <p:cNvPr id="31" name="Shape 27"/>
          <p:cNvSpPr/>
          <p:nvPr/>
        </p:nvSpPr>
        <p:spPr>
          <a:xfrm>
            <a:off x="594360" y="3520440"/>
            <a:ext cx="2331720" cy="256032"/>
          </a:xfrm>
          <a:prstGeom prst="roundRect">
            <a:avLst>
              <a:gd name="adj" fmla="val 39286"/>
            </a:avLst>
          </a:prstGeom>
          <a:solidFill>
            <a:srgbClr val="C4621D">
              <a:alpha val="15000"/>
            </a:srgbClr>
          </a:solidFill>
          <a:ln w="9525">
            <a:solidFill>
              <a:srgbClr val="C4621D"/>
            </a:solidFill>
            <a:prstDash val="solid"/>
          </a:ln>
        </p:spPr>
      </p:sp>
      <p:sp>
        <p:nvSpPr>
          <p:cNvPr id="32" name="Text 28"/>
          <p:cNvSpPr txBox="1"/>
          <p:nvPr/>
        </p:nvSpPr>
        <p:spPr>
          <a:xfrm>
            <a:off x="594360" y="3520440"/>
            <a:ext cx="2331720" cy="256032"/>
          </a:xfrm>
          <a:prstGeom prst="rect">
            <a:avLst/>
          </a:prstGeom>
          <a:noFill/>
          <a:ln/>
        </p:spPr>
        <p:txBody>
          <a:bodyPr wrap="square" lIns="0" tIns="0" rIns="0" bIns="0" rtlCol="0" anchor="ctr"/>
          <a:lstStyle/>
          <a:p>
            <a:pPr algn="ctr" indent="0" marL="0">
              <a:buNone/>
            </a:pPr>
            <a:r>
              <a:rPr lang="en-US" sz="900" b="1" dirty="0">
                <a:solidFill>
                  <a:srgbClr val="C4621D"/>
                </a:solidFill>
                <a:latin typeface="Calibri" pitchFamily="34" charset="0"/>
                <a:ea typeface="Calibri" pitchFamily="34" charset="-122"/>
                <a:cs typeface="Calibri" pitchFamily="34" charset="-120"/>
              </a:rPr>
              <a:t>→ 3 SVG logos + checked palette</a:t>
            </a:r>
            <a:endParaRPr lang="en-US" sz="900" dirty="0"/>
          </a:p>
        </p:txBody>
      </p:sp>
      <p:sp>
        <p:nvSpPr>
          <p:cNvPr id="33" name="Shape 29"/>
          <p:cNvSpPr/>
          <p:nvPr/>
        </p:nvSpPr>
        <p:spPr>
          <a:xfrm>
            <a:off x="594360" y="3886200"/>
            <a:ext cx="2331720" cy="548640"/>
          </a:xfrm>
          <a:prstGeom prst="roundRect">
            <a:avLst>
              <a:gd name="adj" fmla="val 8333"/>
            </a:avLst>
          </a:prstGeom>
          <a:solidFill>
            <a:srgbClr val="D49A00">
              <a:alpha val="13000"/>
            </a:srgbClr>
          </a:solidFill>
          <a:ln w="9525">
            <a:solidFill>
              <a:srgbClr val="D49A00"/>
            </a:solidFill>
            <a:prstDash val="solid"/>
          </a:ln>
        </p:spPr>
      </p:sp>
      <p:pic>
        <p:nvPicPr>
          <p:cNvPr id="34" name="Image 1" descr="preencoded.png">    </p:cNvPr>
          <p:cNvPicPr>
            <a:picLocks noChangeAspect="1"/>
          </p:cNvPicPr>
          <p:nvPr/>
        </p:nvPicPr>
        <p:blipFill>
          <a:blip r:embed="rId2"/>
          <a:stretch>
            <a:fillRect/>
          </a:stretch>
        </p:blipFill>
        <p:spPr>
          <a:xfrm>
            <a:off x="676656" y="4059936"/>
            <a:ext cx="201168" cy="201168"/>
          </a:xfrm>
          <a:prstGeom prst="rect">
            <a:avLst/>
          </a:prstGeom>
        </p:spPr>
      </p:pic>
      <p:sp>
        <p:nvSpPr>
          <p:cNvPr id="35" name="Text 30"/>
          <p:cNvSpPr txBox="1"/>
          <p:nvPr/>
        </p:nvSpPr>
        <p:spPr>
          <a:xfrm>
            <a:off x="960120" y="3913632"/>
            <a:ext cx="1892808" cy="49377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Concepts only. No national emblems; designer + approval required.</a:t>
            </a:r>
            <a:endParaRPr lang="en-US" sz="900" dirty="0"/>
          </a:p>
        </p:txBody>
      </p:sp>
      <p:sp>
        <p:nvSpPr>
          <p:cNvPr id="36" name="Shape 31"/>
          <p:cNvSpPr/>
          <p:nvPr/>
        </p:nvSpPr>
        <p:spPr>
          <a:xfrm>
            <a:off x="3246120" y="1325880"/>
            <a:ext cx="2606040" cy="3200400"/>
          </a:xfrm>
          <a:prstGeom prst="roundRect">
            <a:avLst>
              <a:gd name="adj" fmla="val 2807"/>
            </a:avLst>
          </a:prstGeom>
          <a:solidFill>
            <a:srgbClr val="FFFFFF"/>
          </a:solidFill>
          <a:ln w="9525">
            <a:solidFill>
              <a:srgbClr val="D5DED9"/>
            </a:solidFill>
            <a:prstDash val="solid"/>
          </a:ln>
        </p:spPr>
      </p:sp>
      <p:sp>
        <p:nvSpPr>
          <p:cNvPr id="37" name="Shape 32"/>
          <p:cNvSpPr/>
          <p:nvPr/>
        </p:nvSpPr>
        <p:spPr>
          <a:xfrm>
            <a:off x="3383280" y="1435608"/>
            <a:ext cx="420624" cy="420624"/>
          </a:xfrm>
          <a:prstGeom prst="ellipse">
            <a:avLst/>
          </a:prstGeom>
          <a:solidFill>
            <a:srgbClr val="0E7C86">
              <a:alpha val="22000"/>
            </a:srgbClr>
          </a:solidFill>
          <a:ln/>
        </p:spPr>
      </p:sp>
      <p:pic>
        <p:nvPicPr>
          <p:cNvPr id="38" name="Image 2" descr="preencoded.png">    </p:cNvPr>
          <p:cNvPicPr>
            <a:picLocks noChangeAspect="1"/>
          </p:cNvPicPr>
          <p:nvPr/>
        </p:nvPicPr>
        <p:blipFill>
          <a:blip r:embed="rId3"/>
          <a:stretch>
            <a:fillRect/>
          </a:stretch>
        </p:blipFill>
        <p:spPr>
          <a:xfrm>
            <a:off x="3488436" y="1540764"/>
            <a:ext cx="210312" cy="210312"/>
          </a:xfrm>
          <a:prstGeom prst="rect">
            <a:avLst/>
          </a:prstGeom>
        </p:spPr>
      </p:pic>
      <p:sp>
        <p:nvSpPr>
          <p:cNvPr id="39" name="Text 33"/>
          <p:cNvSpPr txBox="1"/>
          <p:nvPr/>
        </p:nvSpPr>
        <p:spPr>
          <a:xfrm>
            <a:off x="3886200" y="1444752"/>
            <a:ext cx="1828800" cy="182880"/>
          </a:xfrm>
          <a:prstGeom prst="rect">
            <a:avLst/>
          </a:prstGeom>
          <a:noFill/>
          <a:ln/>
        </p:spPr>
        <p:txBody>
          <a:bodyPr wrap="square" lIns="0" tIns="0" rIns="0" bIns="0" rtlCol="0" anchor="t"/>
          <a:lstStyle/>
          <a:p>
            <a:pPr indent="0" marL="0">
              <a:buNone/>
            </a:pPr>
            <a:r>
              <a:rPr lang="en-US" sz="900" b="1" spc="200" kern="0" dirty="0">
                <a:solidFill>
                  <a:srgbClr val="0E7C86"/>
                </a:solidFill>
                <a:latin typeface="Calibri" pitchFamily="34" charset="0"/>
                <a:ea typeface="Calibri" pitchFamily="34" charset="-122"/>
                <a:cs typeface="Calibri" pitchFamily="34" charset="-120"/>
              </a:rPr>
              <a:t>STATION F</a:t>
            </a:r>
            <a:endParaRPr lang="en-US" sz="900" dirty="0"/>
          </a:p>
        </p:txBody>
      </p:sp>
      <p:sp>
        <p:nvSpPr>
          <p:cNvPr id="40" name="Text 34"/>
          <p:cNvSpPr txBox="1"/>
          <p:nvPr/>
        </p:nvSpPr>
        <p:spPr>
          <a:xfrm>
            <a:off x="3886200" y="1618488"/>
            <a:ext cx="1920240" cy="256032"/>
          </a:xfrm>
          <a:prstGeom prst="rect">
            <a:avLst/>
          </a:prstGeom>
          <a:noFill/>
          <a:ln/>
        </p:spPr>
        <p:txBody>
          <a:bodyPr wrap="square" lIns="0" tIns="0" rIns="0" bIns="0" rtlCol="0" anchor="t"/>
          <a:lstStyle/>
          <a:p>
            <a:pPr indent="0" marL="0">
              <a:buNone/>
            </a:pPr>
            <a:r>
              <a:rPr lang="en-US" sz="1400" b="1" dirty="0">
                <a:solidFill>
                  <a:srgbClr val="231F20"/>
                </a:solidFill>
                <a:latin typeface="Calibri" pitchFamily="34" charset="0"/>
                <a:ea typeface="Calibri" pitchFamily="34" charset="-122"/>
                <a:cs typeface="Calibri" pitchFamily="34" charset="-120"/>
              </a:rPr>
              <a:t>Documents &amp; audio</a:t>
            </a:r>
            <a:endParaRPr lang="en-US" sz="1400" dirty="0"/>
          </a:p>
        </p:txBody>
      </p:sp>
      <p:sp>
        <p:nvSpPr>
          <p:cNvPr id="41" name="Shape 35"/>
          <p:cNvSpPr/>
          <p:nvPr/>
        </p:nvSpPr>
        <p:spPr>
          <a:xfrm>
            <a:off x="3401568" y="2075688"/>
            <a:ext cx="237744" cy="237744"/>
          </a:xfrm>
          <a:prstGeom prst="ellipse">
            <a:avLst/>
          </a:prstGeom>
          <a:solidFill>
            <a:srgbClr val="0E7C86"/>
          </a:solidFill>
          <a:ln/>
        </p:spPr>
      </p:sp>
      <p:sp>
        <p:nvSpPr>
          <p:cNvPr id="42" name="Text 36"/>
          <p:cNvSpPr txBox="1"/>
          <p:nvPr/>
        </p:nvSpPr>
        <p:spPr>
          <a:xfrm>
            <a:off x="3401568" y="207568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43" name="Text 37"/>
          <p:cNvSpPr txBox="1"/>
          <p:nvPr/>
        </p:nvSpPr>
        <p:spPr>
          <a:xfrm>
            <a:off x="3749040" y="2057400"/>
            <a:ext cx="1965960" cy="420624"/>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Upload public reports to NotebookLM</a:t>
            </a:r>
            <a:endParaRPr lang="en-US" sz="1050" dirty="0"/>
          </a:p>
        </p:txBody>
      </p:sp>
      <p:sp>
        <p:nvSpPr>
          <p:cNvPr id="44" name="Shape 38"/>
          <p:cNvSpPr/>
          <p:nvPr/>
        </p:nvSpPr>
        <p:spPr>
          <a:xfrm>
            <a:off x="3401568" y="2551176"/>
            <a:ext cx="237744" cy="237744"/>
          </a:xfrm>
          <a:prstGeom prst="ellipse">
            <a:avLst/>
          </a:prstGeom>
          <a:solidFill>
            <a:srgbClr val="0E7C86"/>
          </a:solidFill>
          <a:ln/>
        </p:spPr>
      </p:sp>
      <p:sp>
        <p:nvSpPr>
          <p:cNvPr id="45" name="Text 39"/>
          <p:cNvSpPr txBox="1"/>
          <p:nvPr/>
        </p:nvSpPr>
        <p:spPr>
          <a:xfrm>
            <a:off x="3401568" y="255117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6" name="Text 40"/>
          <p:cNvSpPr txBox="1"/>
          <p:nvPr/>
        </p:nvSpPr>
        <p:spPr>
          <a:xfrm>
            <a:off x="3749040" y="2532888"/>
            <a:ext cx="1965960" cy="420624"/>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Ask cited questions; generate an Audio Overview</a:t>
            </a:r>
            <a:endParaRPr lang="en-US" sz="1050" dirty="0"/>
          </a:p>
        </p:txBody>
      </p:sp>
      <p:sp>
        <p:nvSpPr>
          <p:cNvPr id="47" name="Shape 41"/>
          <p:cNvSpPr/>
          <p:nvPr/>
        </p:nvSpPr>
        <p:spPr>
          <a:xfrm>
            <a:off x="3401568" y="3026664"/>
            <a:ext cx="237744" cy="237744"/>
          </a:xfrm>
          <a:prstGeom prst="ellipse">
            <a:avLst/>
          </a:prstGeom>
          <a:solidFill>
            <a:srgbClr val="0E7C86"/>
          </a:solidFill>
          <a:ln/>
        </p:spPr>
      </p:sp>
      <p:sp>
        <p:nvSpPr>
          <p:cNvPr id="48" name="Text 42"/>
          <p:cNvSpPr txBox="1"/>
          <p:nvPr/>
        </p:nvSpPr>
        <p:spPr>
          <a:xfrm>
            <a:off x="3401568" y="302666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9" name="Text 43"/>
          <p:cNvSpPr txBox="1"/>
          <p:nvPr/>
        </p:nvSpPr>
        <p:spPr>
          <a:xfrm>
            <a:off x="3749040" y="3008376"/>
            <a:ext cx="1965960" cy="420624"/>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Notebook: grounded Q&amp;A + MP3 briefing</a:t>
            </a:r>
            <a:endParaRPr lang="en-US" sz="1050" dirty="0"/>
          </a:p>
        </p:txBody>
      </p:sp>
      <p:sp>
        <p:nvSpPr>
          <p:cNvPr id="50" name="Shape 44"/>
          <p:cNvSpPr/>
          <p:nvPr/>
        </p:nvSpPr>
        <p:spPr>
          <a:xfrm>
            <a:off x="3383280" y="3520440"/>
            <a:ext cx="2331720" cy="256032"/>
          </a:xfrm>
          <a:prstGeom prst="roundRect">
            <a:avLst>
              <a:gd name="adj" fmla="val 39286"/>
            </a:avLst>
          </a:prstGeom>
          <a:solidFill>
            <a:srgbClr val="0E7C86">
              <a:alpha val="15000"/>
            </a:srgbClr>
          </a:solidFill>
          <a:ln w="9525">
            <a:solidFill>
              <a:srgbClr val="0E7C86"/>
            </a:solidFill>
            <a:prstDash val="solid"/>
          </a:ln>
        </p:spPr>
      </p:sp>
      <p:sp>
        <p:nvSpPr>
          <p:cNvPr id="51" name="Text 45"/>
          <p:cNvSpPr txBox="1"/>
          <p:nvPr/>
        </p:nvSpPr>
        <p:spPr>
          <a:xfrm>
            <a:off x="3383280" y="3520440"/>
            <a:ext cx="2331720" cy="256032"/>
          </a:xfrm>
          <a:prstGeom prst="rect">
            <a:avLst/>
          </a:prstGeom>
          <a:noFill/>
          <a:ln/>
        </p:spPr>
        <p:txBody>
          <a:bodyPr wrap="square" lIns="0" tIns="0" rIns="0" bIns="0" rtlCol="0" anchor="ctr"/>
          <a:lstStyle/>
          <a:p>
            <a:pPr algn="ctr" indent="0" marL="0">
              <a:buNone/>
            </a:pPr>
            <a:r>
              <a:rPr lang="en-US" sz="900" b="1" dirty="0">
                <a:solidFill>
                  <a:srgbClr val="0E7C86"/>
                </a:solidFill>
                <a:latin typeface="Calibri" pitchFamily="34" charset="0"/>
                <a:ea typeface="Calibri" pitchFamily="34" charset="-122"/>
                <a:cs typeface="Calibri" pitchFamily="34" charset="-120"/>
              </a:rPr>
              <a:t>→ Cited brief + MP3 briefing</a:t>
            </a:r>
            <a:endParaRPr lang="en-US" sz="900" dirty="0"/>
          </a:p>
        </p:txBody>
      </p:sp>
      <p:sp>
        <p:nvSpPr>
          <p:cNvPr id="52" name="Shape 46"/>
          <p:cNvSpPr/>
          <p:nvPr/>
        </p:nvSpPr>
        <p:spPr>
          <a:xfrm>
            <a:off x="3383280" y="3886200"/>
            <a:ext cx="2331720" cy="548640"/>
          </a:xfrm>
          <a:prstGeom prst="roundRect">
            <a:avLst>
              <a:gd name="adj" fmla="val 8333"/>
            </a:avLst>
          </a:prstGeom>
          <a:solidFill>
            <a:srgbClr val="D49A00">
              <a:alpha val="13000"/>
            </a:srgbClr>
          </a:solidFill>
          <a:ln w="9525">
            <a:solidFill>
              <a:srgbClr val="D49A00"/>
            </a:solidFill>
            <a:prstDash val="solid"/>
          </a:ln>
        </p:spPr>
      </p:sp>
      <p:pic>
        <p:nvPicPr>
          <p:cNvPr id="53" name="Image 3" descr="preencoded.png">    </p:cNvPr>
          <p:cNvPicPr>
            <a:picLocks noChangeAspect="1"/>
          </p:cNvPicPr>
          <p:nvPr/>
        </p:nvPicPr>
        <p:blipFill>
          <a:blip r:embed="rId4"/>
          <a:stretch>
            <a:fillRect/>
          </a:stretch>
        </p:blipFill>
        <p:spPr>
          <a:xfrm>
            <a:off x="3465576" y="4059936"/>
            <a:ext cx="201168" cy="201168"/>
          </a:xfrm>
          <a:prstGeom prst="rect">
            <a:avLst/>
          </a:prstGeom>
        </p:spPr>
      </p:pic>
      <p:sp>
        <p:nvSpPr>
          <p:cNvPr id="54" name="Text 47"/>
          <p:cNvSpPr txBox="1"/>
          <p:nvPr/>
        </p:nvSpPr>
        <p:spPr>
          <a:xfrm>
            <a:off x="3749040" y="3913632"/>
            <a:ext cx="1892808" cy="49377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Audio simplifies nuance. Listen against the source; public documents only.</a:t>
            </a:r>
            <a:endParaRPr lang="en-US" sz="900" dirty="0"/>
          </a:p>
        </p:txBody>
      </p:sp>
      <p:sp>
        <p:nvSpPr>
          <p:cNvPr id="55" name="Shape 48"/>
          <p:cNvSpPr/>
          <p:nvPr/>
        </p:nvSpPr>
        <p:spPr>
          <a:xfrm>
            <a:off x="6035040" y="1325880"/>
            <a:ext cx="2606040" cy="3200400"/>
          </a:xfrm>
          <a:prstGeom prst="roundRect">
            <a:avLst>
              <a:gd name="adj" fmla="val 2807"/>
            </a:avLst>
          </a:prstGeom>
          <a:solidFill>
            <a:srgbClr val="FFFFFF"/>
          </a:solidFill>
          <a:ln w="9525">
            <a:solidFill>
              <a:srgbClr val="D5DED9"/>
            </a:solidFill>
            <a:prstDash val="solid"/>
          </a:ln>
        </p:spPr>
      </p:sp>
      <p:sp>
        <p:nvSpPr>
          <p:cNvPr id="56" name="Shape 49"/>
          <p:cNvSpPr/>
          <p:nvPr/>
        </p:nvSpPr>
        <p:spPr>
          <a:xfrm>
            <a:off x="6172200" y="1435608"/>
            <a:ext cx="420624" cy="420624"/>
          </a:xfrm>
          <a:prstGeom prst="ellipse">
            <a:avLst/>
          </a:prstGeom>
          <a:solidFill>
            <a:srgbClr val="00704A">
              <a:alpha val="22000"/>
            </a:srgbClr>
          </a:solidFill>
          <a:ln/>
        </p:spPr>
      </p:sp>
      <p:pic>
        <p:nvPicPr>
          <p:cNvPr id="57" name="Image 4" descr="preencoded.png">    </p:cNvPr>
          <p:cNvPicPr>
            <a:picLocks noChangeAspect="1"/>
          </p:cNvPicPr>
          <p:nvPr/>
        </p:nvPicPr>
        <p:blipFill>
          <a:blip r:embed="rId5"/>
          <a:stretch>
            <a:fillRect/>
          </a:stretch>
        </p:blipFill>
        <p:spPr>
          <a:xfrm>
            <a:off x="6277356" y="1540764"/>
            <a:ext cx="210312" cy="210312"/>
          </a:xfrm>
          <a:prstGeom prst="rect">
            <a:avLst/>
          </a:prstGeom>
        </p:spPr>
      </p:pic>
      <p:sp>
        <p:nvSpPr>
          <p:cNvPr id="58" name="Text 50"/>
          <p:cNvSpPr txBox="1"/>
          <p:nvPr/>
        </p:nvSpPr>
        <p:spPr>
          <a:xfrm>
            <a:off x="6675120" y="1444752"/>
            <a:ext cx="1828800" cy="182880"/>
          </a:xfrm>
          <a:prstGeom prst="rect">
            <a:avLst/>
          </a:prstGeom>
          <a:noFill/>
          <a:ln/>
        </p:spPr>
        <p:txBody>
          <a:bodyPr wrap="square" lIns="0" tIns="0" rIns="0" bIns="0" rtlCol="0" anchor="t"/>
          <a:lstStyle/>
          <a:p>
            <a:pPr indent="0" marL="0">
              <a:buNone/>
            </a:pPr>
            <a:r>
              <a:rPr lang="en-US" sz="900" b="1" spc="200" kern="0" dirty="0">
                <a:solidFill>
                  <a:srgbClr val="00704A"/>
                </a:solidFill>
                <a:latin typeface="Calibri" pitchFamily="34" charset="0"/>
                <a:ea typeface="Calibri" pitchFamily="34" charset="-122"/>
                <a:cs typeface="Calibri" pitchFamily="34" charset="-120"/>
              </a:rPr>
              <a:t>STATION G</a:t>
            </a:r>
            <a:endParaRPr lang="en-US" sz="900" dirty="0"/>
          </a:p>
        </p:txBody>
      </p:sp>
      <p:sp>
        <p:nvSpPr>
          <p:cNvPr id="59" name="Text 51"/>
          <p:cNvSpPr txBox="1"/>
          <p:nvPr/>
        </p:nvSpPr>
        <p:spPr>
          <a:xfrm>
            <a:off x="6675120" y="1618488"/>
            <a:ext cx="1920240" cy="256032"/>
          </a:xfrm>
          <a:prstGeom prst="rect">
            <a:avLst/>
          </a:prstGeom>
          <a:noFill/>
          <a:ln/>
        </p:spPr>
        <p:txBody>
          <a:bodyPr wrap="square" lIns="0" tIns="0" rIns="0" bIns="0" rtlCol="0" anchor="t"/>
          <a:lstStyle/>
          <a:p>
            <a:pPr indent="0" marL="0">
              <a:buNone/>
            </a:pPr>
            <a:r>
              <a:rPr lang="en-US" sz="1400" b="1" dirty="0">
                <a:solidFill>
                  <a:srgbClr val="231F20"/>
                </a:solidFill>
                <a:latin typeface="Calibri" pitchFamily="34" charset="0"/>
                <a:ea typeface="Calibri" pitchFamily="34" charset="-122"/>
                <a:cs typeface="Calibri" pitchFamily="34" charset="-120"/>
              </a:rPr>
              <a:t>Multimodal</a:t>
            </a:r>
            <a:endParaRPr lang="en-US" sz="1400" dirty="0"/>
          </a:p>
        </p:txBody>
      </p:sp>
      <p:sp>
        <p:nvSpPr>
          <p:cNvPr id="60" name="Shape 52"/>
          <p:cNvSpPr/>
          <p:nvPr/>
        </p:nvSpPr>
        <p:spPr>
          <a:xfrm>
            <a:off x="6190488" y="2075688"/>
            <a:ext cx="237744" cy="237744"/>
          </a:xfrm>
          <a:prstGeom prst="ellipse">
            <a:avLst/>
          </a:prstGeom>
          <a:solidFill>
            <a:srgbClr val="00704A"/>
          </a:solidFill>
          <a:ln/>
        </p:spPr>
      </p:sp>
      <p:sp>
        <p:nvSpPr>
          <p:cNvPr id="61" name="Text 53"/>
          <p:cNvSpPr txBox="1"/>
          <p:nvPr/>
        </p:nvSpPr>
        <p:spPr>
          <a:xfrm>
            <a:off x="6190488" y="207568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2" name="Text 54"/>
          <p:cNvSpPr txBox="1"/>
          <p:nvPr/>
        </p:nvSpPr>
        <p:spPr>
          <a:xfrm>
            <a:off x="6537960" y="2057400"/>
            <a:ext cx="1965960" cy="420624"/>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Send a chart or scanned form image</a:t>
            </a:r>
            <a:endParaRPr lang="en-US" sz="1050" dirty="0"/>
          </a:p>
        </p:txBody>
      </p:sp>
      <p:sp>
        <p:nvSpPr>
          <p:cNvPr id="63" name="Shape 55"/>
          <p:cNvSpPr/>
          <p:nvPr/>
        </p:nvSpPr>
        <p:spPr>
          <a:xfrm>
            <a:off x="6190488" y="2551176"/>
            <a:ext cx="237744" cy="237744"/>
          </a:xfrm>
          <a:prstGeom prst="ellipse">
            <a:avLst/>
          </a:prstGeom>
          <a:solidFill>
            <a:srgbClr val="00704A"/>
          </a:solidFill>
          <a:ln/>
        </p:spPr>
      </p:sp>
      <p:sp>
        <p:nvSpPr>
          <p:cNvPr id="64" name="Text 56"/>
          <p:cNvSpPr txBox="1"/>
          <p:nvPr/>
        </p:nvSpPr>
        <p:spPr>
          <a:xfrm>
            <a:off x="6190488" y="255117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65" name="Text 57"/>
          <p:cNvSpPr txBox="1"/>
          <p:nvPr/>
        </p:nvSpPr>
        <p:spPr>
          <a:xfrm>
            <a:off x="6537960" y="2532888"/>
            <a:ext cx="1965960" cy="420624"/>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Ask for the values as JSON</a:t>
            </a:r>
            <a:endParaRPr lang="en-US" sz="1050" dirty="0"/>
          </a:p>
        </p:txBody>
      </p:sp>
      <p:sp>
        <p:nvSpPr>
          <p:cNvPr id="66" name="Shape 58"/>
          <p:cNvSpPr/>
          <p:nvPr/>
        </p:nvSpPr>
        <p:spPr>
          <a:xfrm>
            <a:off x="6190488" y="3026664"/>
            <a:ext cx="237744" cy="237744"/>
          </a:xfrm>
          <a:prstGeom prst="ellipse">
            <a:avLst/>
          </a:prstGeom>
          <a:solidFill>
            <a:srgbClr val="00704A"/>
          </a:solidFill>
          <a:ln/>
        </p:spPr>
      </p:sp>
      <p:sp>
        <p:nvSpPr>
          <p:cNvPr id="67" name="Text 59"/>
          <p:cNvSpPr txBox="1"/>
          <p:nvPr/>
        </p:nvSpPr>
        <p:spPr>
          <a:xfrm>
            <a:off x="6190488" y="302666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68" name="Text 60"/>
          <p:cNvSpPr txBox="1"/>
          <p:nvPr/>
        </p:nvSpPr>
        <p:spPr>
          <a:xfrm>
            <a:off x="6537960" y="3008376"/>
            <a:ext cx="1965960" cy="420624"/>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Compare with the truth → accuracy score</a:t>
            </a:r>
            <a:endParaRPr lang="en-US" sz="1050" dirty="0"/>
          </a:p>
        </p:txBody>
      </p:sp>
      <p:sp>
        <p:nvSpPr>
          <p:cNvPr id="69" name="Shape 61"/>
          <p:cNvSpPr/>
          <p:nvPr/>
        </p:nvSpPr>
        <p:spPr>
          <a:xfrm>
            <a:off x="6172200" y="3520440"/>
            <a:ext cx="2331720" cy="256032"/>
          </a:xfrm>
          <a:prstGeom prst="roundRect">
            <a:avLst>
              <a:gd name="adj" fmla="val 39286"/>
            </a:avLst>
          </a:prstGeom>
          <a:solidFill>
            <a:srgbClr val="00704A">
              <a:alpha val="15000"/>
            </a:srgbClr>
          </a:solidFill>
          <a:ln w="9525">
            <a:solidFill>
              <a:srgbClr val="00704A"/>
            </a:solidFill>
            <a:prstDash val="solid"/>
          </a:ln>
        </p:spPr>
      </p:sp>
      <p:sp>
        <p:nvSpPr>
          <p:cNvPr id="70" name="Text 62"/>
          <p:cNvSpPr txBox="1"/>
          <p:nvPr/>
        </p:nvSpPr>
        <p:spPr>
          <a:xfrm>
            <a:off x="6172200" y="3520440"/>
            <a:ext cx="2331720" cy="256032"/>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 Extracted table + accuracy score</a:t>
            </a:r>
            <a:endParaRPr lang="en-US" sz="900" dirty="0"/>
          </a:p>
        </p:txBody>
      </p:sp>
      <p:sp>
        <p:nvSpPr>
          <p:cNvPr id="71" name="Shape 63"/>
          <p:cNvSpPr/>
          <p:nvPr/>
        </p:nvSpPr>
        <p:spPr>
          <a:xfrm>
            <a:off x="6172200" y="3886200"/>
            <a:ext cx="2331720" cy="548640"/>
          </a:xfrm>
          <a:prstGeom prst="roundRect">
            <a:avLst>
              <a:gd name="adj" fmla="val 8333"/>
            </a:avLst>
          </a:prstGeom>
          <a:solidFill>
            <a:srgbClr val="D49A00">
              <a:alpha val="13000"/>
            </a:srgbClr>
          </a:solidFill>
          <a:ln w="9525">
            <a:solidFill>
              <a:srgbClr val="D49A00"/>
            </a:solidFill>
            <a:prstDash val="solid"/>
          </a:ln>
        </p:spPr>
      </p:sp>
      <p:pic>
        <p:nvPicPr>
          <p:cNvPr id="72" name="Image 5" descr="preencoded.png">    </p:cNvPr>
          <p:cNvPicPr>
            <a:picLocks noChangeAspect="1"/>
          </p:cNvPicPr>
          <p:nvPr/>
        </p:nvPicPr>
        <p:blipFill>
          <a:blip r:embed="rId6"/>
          <a:stretch>
            <a:fillRect/>
          </a:stretch>
        </p:blipFill>
        <p:spPr>
          <a:xfrm>
            <a:off x="6254496" y="4059936"/>
            <a:ext cx="201168" cy="201168"/>
          </a:xfrm>
          <a:prstGeom prst="rect">
            <a:avLst/>
          </a:prstGeom>
        </p:spPr>
      </p:pic>
      <p:sp>
        <p:nvSpPr>
          <p:cNvPr id="73" name="Text 64"/>
          <p:cNvSpPr txBox="1"/>
          <p:nvPr/>
        </p:nvSpPr>
        <p:spPr>
          <a:xfrm>
            <a:off x="6537960" y="3913632"/>
            <a:ext cx="1892808" cy="493776"/>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Digit misreads and handwriting. Always score against known values.</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THE STATIONS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Same request, two prompts, two very different outputs</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0E7C86"/>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STG17 · One Model, Many Jobs — an LLM Toolkit for Statisticians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7" name="Shape 14"/>
          <p:cNvSpPr/>
          <p:nvPr/>
        </p:nvSpPr>
        <p:spPr>
          <a:xfrm>
            <a:off x="457200" y="1325880"/>
            <a:ext cx="4023360" cy="3154680"/>
          </a:xfrm>
          <a:prstGeom prst="roundRect">
            <a:avLst>
              <a:gd name="adj" fmla="val 2319"/>
            </a:avLst>
          </a:prstGeom>
          <a:solidFill>
            <a:srgbClr val="FBEFED"/>
          </a:solidFill>
          <a:ln w="15875">
            <a:solidFill>
              <a:srgbClr val="B83B2E"/>
            </a:solidFill>
            <a:prstDash val="solid"/>
          </a:ln>
        </p:spPr>
      </p:sp>
      <p:sp>
        <p:nvSpPr>
          <p:cNvPr id="18" name="Text 15"/>
          <p:cNvSpPr txBox="1"/>
          <p:nvPr/>
        </p:nvSpPr>
        <p:spPr>
          <a:xfrm>
            <a:off x="640080" y="1444752"/>
            <a:ext cx="2743200" cy="201168"/>
          </a:xfrm>
          <a:prstGeom prst="rect">
            <a:avLst/>
          </a:prstGeom>
          <a:noFill/>
          <a:ln/>
        </p:spPr>
        <p:txBody>
          <a:bodyPr wrap="square" lIns="0" tIns="0" rIns="0" bIns="0" rtlCol="0" anchor="t"/>
          <a:lstStyle/>
          <a:p>
            <a:pPr indent="0" marL="0">
              <a:buNone/>
            </a:pPr>
            <a:r>
              <a:rPr lang="en-US" sz="1050" b="1" spc="300" kern="0" dirty="0">
                <a:solidFill>
                  <a:srgbClr val="B83B2E"/>
                </a:solidFill>
                <a:latin typeface="Calibri" pitchFamily="34" charset="0"/>
                <a:ea typeface="Calibri" pitchFamily="34" charset="-122"/>
                <a:cs typeface="Calibri" pitchFamily="34" charset="-120"/>
              </a:rPr>
              <a:t>WEAK PROMPT</a:t>
            </a:r>
            <a:endParaRPr lang="en-US" sz="1050" dirty="0"/>
          </a:p>
        </p:txBody>
      </p:sp>
      <p:sp>
        <p:nvSpPr>
          <p:cNvPr id="19" name="Shape 16"/>
          <p:cNvSpPr/>
          <p:nvPr/>
        </p:nvSpPr>
        <p:spPr>
          <a:xfrm>
            <a:off x="640080" y="1719072"/>
            <a:ext cx="3657600" cy="1051560"/>
          </a:xfrm>
          <a:prstGeom prst="roundRect">
            <a:avLst>
              <a:gd name="adj" fmla="val 4348"/>
            </a:avLst>
          </a:prstGeom>
          <a:solidFill>
            <a:srgbClr val="FFFFFF"/>
          </a:solidFill>
          <a:ln w="9525">
            <a:solidFill>
              <a:srgbClr val="D5DED9"/>
            </a:solidFill>
            <a:prstDash val="solid"/>
          </a:ln>
        </p:spPr>
      </p:sp>
      <p:sp>
        <p:nvSpPr>
          <p:cNvPr id="20" name="Text 17"/>
          <p:cNvSpPr txBox="1"/>
          <p:nvPr/>
        </p:nvSpPr>
        <p:spPr>
          <a:xfrm>
            <a:off x="749808" y="1755648"/>
            <a:ext cx="3438144" cy="978408"/>
          </a:xfrm>
          <a:prstGeom prst="rect">
            <a:avLst/>
          </a:prstGeom>
          <a:noFill/>
          <a:ln/>
        </p:spPr>
        <p:txBody>
          <a:bodyPr wrap="square" lIns="0" tIns="0" rIns="0" bIns="0" rtlCol="0" anchor="ctr"/>
          <a:lstStyle/>
          <a:p>
            <a:pPr indent="0" marL="0">
              <a:buNone/>
            </a:pPr>
            <a:r>
              <a:rPr lang="en-US" sz="1200" dirty="0">
                <a:solidFill>
                  <a:srgbClr val="231F20"/>
                </a:solidFill>
                <a:latin typeface="Courier New" pitchFamily="34" charset="0"/>
                <a:ea typeface="Courier New" pitchFamily="34" charset="-122"/>
                <a:cs typeface="Courier New" pitchFamily="34" charset="-120"/>
              </a:rPr>
              <a:t>“Write a report on inflation in our country.”</a:t>
            </a:r>
            <a:endParaRPr lang="en-US" sz="1200" dirty="0"/>
          </a:p>
        </p:txBody>
      </p:sp>
      <p:sp>
        <p:nvSpPr>
          <p:cNvPr id="21" name="Text 18"/>
          <p:cNvSpPr txBox="1"/>
          <p:nvPr/>
        </p:nvSpPr>
        <p:spPr>
          <a:xfrm>
            <a:off x="640080" y="2880360"/>
            <a:ext cx="1828800" cy="182880"/>
          </a:xfrm>
          <a:prstGeom prst="rect">
            <a:avLst/>
          </a:prstGeom>
          <a:noFill/>
          <a:ln/>
        </p:spPr>
        <p:txBody>
          <a:bodyPr wrap="square" lIns="0" tIns="0" rIns="0" bIns="0" rtlCol="0" anchor="t"/>
          <a:lstStyle/>
          <a:p>
            <a:pPr indent="0" marL="0">
              <a:buNone/>
            </a:pPr>
            <a:r>
              <a:rPr lang="en-US" sz="900" b="1" spc="200" kern="0" dirty="0">
                <a:solidFill>
                  <a:srgbClr val="5E6964"/>
                </a:solidFill>
                <a:latin typeface="Calibri" pitchFamily="34" charset="0"/>
                <a:ea typeface="Calibri" pitchFamily="34" charset="-122"/>
                <a:cs typeface="Calibri" pitchFamily="34" charset="-120"/>
              </a:rPr>
              <a:t>WHAT YOU GET</a:t>
            </a:r>
            <a:endParaRPr lang="en-US" sz="900" dirty="0"/>
          </a:p>
        </p:txBody>
      </p:sp>
      <p:pic>
        <p:nvPicPr>
          <p:cNvPr id="22" name="Image 0" descr="preencoded.png">    </p:cNvPr>
          <p:cNvPicPr>
            <a:picLocks noChangeAspect="1"/>
          </p:cNvPicPr>
          <p:nvPr/>
        </p:nvPicPr>
        <p:blipFill>
          <a:blip r:embed="rId1"/>
          <a:stretch>
            <a:fillRect/>
          </a:stretch>
        </p:blipFill>
        <p:spPr>
          <a:xfrm>
            <a:off x="658368" y="3154680"/>
            <a:ext cx="182880" cy="182880"/>
          </a:xfrm>
          <a:prstGeom prst="rect">
            <a:avLst/>
          </a:prstGeom>
        </p:spPr>
      </p:pic>
      <p:sp>
        <p:nvSpPr>
          <p:cNvPr id="23" name="Text 19"/>
          <p:cNvSpPr txBox="1"/>
          <p:nvPr/>
        </p:nvSpPr>
        <p:spPr>
          <a:xfrm>
            <a:off x="960120" y="3127248"/>
            <a:ext cx="3291840" cy="256032"/>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No data supplied → figures are invented</a:t>
            </a:r>
            <a:endParaRPr lang="en-US" sz="1100" dirty="0"/>
          </a:p>
        </p:txBody>
      </p:sp>
      <p:pic>
        <p:nvPicPr>
          <p:cNvPr id="24" name="Image 1" descr="preencoded.png">    </p:cNvPr>
          <p:cNvPicPr>
            <a:picLocks noChangeAspect="1"/>
          </p:cNvPicPr>
          <p:nvPr/>
        </p:nvPicPr>
        <p:blipFill>
          <a:blip r:embed="rId2"/>
          <a:stretch>
            <a:fillRect/>
          </a:stretch>
        </p:blipFill>
        <p:spPr>
          <a:xfrm>
            <a:off x="658368" y="3474720"/>
            <a:ext cx="182880" cy="182880"/>
          </a:xfrm>
          <a:prstGeom prst="rect">
            <a:avLst/>
          </a:prstGeom>
        </p:spPr>
      </p:pic>
      <p:sp>
        <p:nvSpPr>
          <p:cNvPr id="25" name="Text 20"/>
          <p:cNvSpPr txBox="1"/>
          <p:nvPr/>
        </p:nvSpPr>
        <p:spPr>
          <a:xfrm>
            <a:off x="960120" y="3447288"/>
            <a:ext cx="3291840" cy="256032"/>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No audience, length or structure</a:t>
            </a:r>
            <a:endParaRPr lang="en-US" sz="1100" dirty="0"/>
          </a:p>
        </p:txBody>
      </p:sp>
      <p:pic>
        <p:nvPicPr>
          <p:cNvPr id="26" name="Image 2" descr="preencoded.png">    </p:cNvPr>
          <p:cNvPicPr>
            <a:picLocks noChangeAspect="1"/>
          </p:cNvPicPr>
          <p:nvPr/>
        </p:nvPicPr>
        <p:blipFill>
          <a:blip r:embed="rId3"/>
          <a:stretch>
            <a:fillRect/>
          </a:stretch>
        </p:blipFill>
        <p:spPr>
          <a:xfrm>
            <a:off x="658368" y="3794760"/>
            <a:ext cx="182880" cy="182880"/>
          </a:xfrm>
          <a:prstGeom prst="rect">
            <a:avLst/>
          </a:prstGeom>
        </p:spPr>
      </p:pic>
      <p:sp>
        <p:nvSpPr>
          <p:cNvPr id="27" name="Text 21"/>
          <p:cNvSpPr txBox="1"/>
          <p:nvPr/>
        </p:nvSpPr>
        <p:spPr>
          <a:xfrm>
            <a:off x="960120" y="3767328"/>
            <a:ext cx="3291840" cy="256032"/>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Generic tone; no caveats</a:t>
            </a:r>
            <a:endParaRPr lang="en-US" sz="1100" dirty="0"/>
          </a:p>
        </p:txBody>
      </p:sp>
      <p:pic>
        <p:nvPicPr>
          <p:cNvPr id="28" name="Image 3" descr="preencoded.png">    </p:cNvPr>
          <p:cNvPicPr>
            <a:picLocks noChangeAspect="1"/>
          </p:cNvPicPr>
          <p:nvPr/>
        </p:nvPicPr>
        <p:blipFill>
          <a:blip r:embed="rId4"/>
          <a:stretch>
            <a:fillRect/>
          </a:stretch>
        </p:blipFill>
        <p:spPr>
          <a:xfrm>
            <a:off x="658368" y="4114800"/>
            <a:ext cx="182880" cy="182880"/>
          </a:xfrm>
          <a:prstGeom prst="rect">
            <a:avLst/>
          </a:prstGeom>
        </p:spPr>
      </p:pic>
      <p:sp>
        <p:nvSpPr>
          <p:cNvPr id="29" name="Text 22"/>
          <p:cNvSpPr txBox="1"/>
          <p:nvPr/>
        </p:nvSpPr>
        <p:spPr>
          <a:xfrm>
            <a:off x="960120" y="4087368"/>
            <a:ext cx="3291840" cy="256032"/>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Impossible to verify</a:t>
            </a:r>
            <a:endParaRPr lang="en-US" sz="1100" dirty="0"/>
          </a:p>
        </p:txBody>
      </p:sp>
      <p:sp>
        <p:nvSpPr>
          <p:cNvPr id="30" name="Shape 23"/>
          <p:cNvSpPr/>
          <p:nvPr/>
        </p:nvSpPr>
        <p:spPr>
          <a:xfrm>
            <a:off x="4663440" y="1325880"/>
            <a:ext cx="4023360" cy="3154680"/>
          </a:xfrm>
          <a:prstGeom prst="roundRect">
            <a:avLst>
              <a:gd name="adj" fmla="val 2319"/>
            </a:avLst>
          </a:prstGeom>
          <a:solidFill>
            <a:srgbClr val="E8F5EF"/>
          </a:solidFill>
          <a:ln w="15875">
            <a:solidFill>
              <a:srgbClr val="00A86A"/>
            </a:solidFill>
            <a:prstDash val="solid"/>
          </a:ln>
        </p:spPr>
      </p:sp>
      <p:sp>
        <p:nvSpPr>
          <p:cNvPr id="31" name="Text 24"/>
          <p:cNvSpPr txBox="1"/>
          <p:nvPr/>
        </p:nvSpPr>
        <p:spPr>
          <a:xfrm>
            <a:off x="4846320" y="1444752"/>
            <a:ext cx="2743200" cy="201168"/>
          </a:xfrm>
          <a:prstGeom prst="rect">
            <a:avLst/>
          </a:prstGeom>
          <a:noFill/>
          <a:ln/>
        </p:spPr>
        <p:txBody>
          <a:bodyPr wrap="square" lIns="0" tIns="0" rIns="0" bIns="0" rtlCol="0" anchor="t"/>
          <a:lstStyle/>
          <a:p>
            <a:pPr indent="0" marL="0">
              <a:buNone/>
            </a:pPr>
            <a:r>
              <a:rPr lang="en-US" sz="1050" b="1" spc="300" kern="0" dirty="0">
                <a:solidFill>
                  <a:srgbClr val="00A86A"/>
                </a:solidFill>
                <a:latin typeface="Calibri" pitchFamily="34" charset="0"/>
                <a:ea typeface="Calibri" pitchFamily="34" charset="-122"/>
                <a:cs typeface="Calibri" pitchFamily="34" charset="-120"/>
              </a:rPr>
              <a:t>STRONG PROMPT</a:t>
            </a:r>
            <a:endParaRPr lang="en-US" sz="1050" dirty="0"/>
          </a:p>
        </p:txBody>
      </p:sp>
      <p:sp>
        <p:nvSpPr>
          <p:cNvPr id="32" name="Shape 25"/>
          <p:cNvSpPr/>
          <p:nvPr/>
        </p:nvSpPr>
        <p:spPr>
          <a:xfrm>
            <a:off x="4846320" y="1719072"/>
            <a:ext cx="3657600" cy="1051560"/>
          </a:xfrm>
          <a:prstGeom prst="roundRect">
            <a:avLst>
              <a:gd name="adj" fmla="val 4348"/>
            </a:avLst>
          </a:prstGeom>
          <a:solidFill>
            <a:srgbClr val="FFFFFF"/>
          </a:solidFill>
          <a:ln w="9525">
            <a:solidFill>
              <a:srgbClr val="D5DED9"/>
            </a:solidFill>
            <a:prstDash val="solid"/>
          </a:ln>
        </p:spPr>
      </p:sp>
      <p:sp>
        <p:nvSpPr>
          <p:cNvPr id="33" name="Text 26"/>
          <p:cNvSpPr txBox="1"/>
          <p:nvPr/>
        </p:nvSpPr>
        <p:spPr>
          <a:xfrm>
            <a:off x="4956048" y="1755648"/>
            <a:ext cx="3438144" cy="978408"/>
          </a:xfrm>
          <a:prstGeom prst="rect">
            <a:avLst/>
          </a:prstGeom>
          <a:noFill/>
          <a:ln/>
        </p:spPr>
        <p:txBody>
          <a:bodyPr wrap="square" lIns="0" tIns="0" rIns="0" bIns="0" rtlCol="0" anchor="ctr"/>
          <a:lstStyle/>
          <a:p>
            <a:pPr indent="0" marL="0">
              <a:buNone/>
            </a:pPr>
            <a:r>
              <a:rPr lang="en-US" sz="950" dirty="0">
                <a:solidFill>
                  <a:srgbClr val="231F20"/>
                </a:solidFill>
                <a:latin typeface="Courier New" pitchFamily="34" charset="0"/>
                <a:ea typeface="Courier New" pitchFamily="34" charset="-122"/>
                <a:cs typeface="Courier New" pitchFamily="34" charset="-120"/>
              </a:rPr>
              <a:t>“You are a senior price statistician. Using ONLY the table below, write a 200-word note for ministry officials with headings Context / Findings / Caveats. One decimal. Write [MISSING] if a figure is absent.”</a:t>
            </a:r>
            <a:endParaRPr lang="en-US" sz="950" dirty="0"/>
          </a:p>
        </p:txBody>
      </p:sp>
      <p:sp>
        <p:nvSpPr>
          <p:cNvPr id="34" name="Text 27"/>
          <p:cNvSpPr txBox="1"/>
          <p:nvPr/>
        </p:nvSpPr>
        <p:spPr>
          <a:xfrm>
            <a:off x="4846320" y="2880360"/>
            <a:ext cx="1828800" cy="182880"/>
          </a:xfrm>
          <a:prstGeom prst="rect">
            <a:avLst/>
          </a:prstGeom>
          <a:noFill/>
          <a:ln/>
        </p:spPr>
        <p:txBody>
          <a:bodyPr wrap="square" lIns="0" tIns="0" rIns="0" bIns="0" rtlCol="0" anchor="t"/>
          <a:lstStyle/>
          <a:p>
            <a:pPr indent="0" marL="0">
              <a:buNone/>
            </a:pPr>
            <a:r>
              <a:rPr lang="en-US" sz="900" b="1" spc="200" kern="0" dirty="0">
                <a:solidFill>
                  <a:srgbClr val="5E6964"/>
                </a:solidFill>
                <a:latin typeface="Calibri" pitchFamily="34" charset="0"/>
                <a:ea typeface="Calibri" pitchFamily="34" charset="-122"/>
                <a:cs typeface="Calibri" pitchFamily="34" charset="-120"/>
              </a:rPr>
              <a:t>WHAT YOU GET</a:t>
            </a:r>
            <a:endParaRPr lang="en-US" sz="900" dirty="0"/>
          </a:p>
        </p:txBody>
      </p:sp>
      <p:pic>
        <p:nvPicPr>
          <p:cNvPr id="35" name="Image 4" descr="preencoded.png">    </p:cNvPr>
          <p:cNvPicPr>
            <a:picLocks noChangeAspect="1"/>
          </p:cNvPicPr>
          <p:nvPr/>
        </p:nvPicPr>
        <p:blipFill>
          <a:blip r:embed="rId5"/>
          <a:stretch>
            <a:fillRect/>
          </a:stretch>
        </p:blipFill>
        <p:spPr>
          <a:xfrm>
            <a:off x="4864608" y="3154680"/>
            <a:ext cx="182880" cy="182880"/>
          </a:xfrm>
          <a:prstGeom prst="rect">
            <a:avLst/>
          </a:prstGeom>
        </p:spPr>
      </p:pic>
      <p:sp>
        <p:nvSpPr>
          <p:cNvPr id="36" name="Text 28"/>
          <p:cNvSpPr txBox="1"/>
          <p:nvPr/>
        </p:nvSpPr>
        <p:spPr>
          <a:xfrm>
            <a:off x="5166360" y="3127248"/>
            <a:ext cx="3291840" cy="256032"/>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Every figure traceable to the table</a:t>
            </a:r>
            <a:endParaRPr lang="en-US" sz="1100" dirty="0"/>
          </a:p>
        </p:txBody>
      </p:sp>
      <p:pic>
        <p:nvPicPr>
          <p:cNvPr id="37" name="Image 5" descr="preencoded.png">    </p:cNvPr>
          <p:cNvPicPr>
            <a:picLocks noChangeAspect="1"/>
          </p:cNvPicPr>
          <p:nvPr/>
        </p:nvPicPr>
        <p:blipFill>
          <a:blip r:embed="rId6"/>
          <a:stretch>
            <a:fillRect/>
          </a:stretch>
        </p:blipFill>
        <p:spPr>
          <a:xfrm>
            <a:off x="4864608" y="3474720"/>
            <a:ext cx="182880" cy="182880"/>
          </a:xfrm>
          <a:prstGeom prst="rect">
            <a:avLst/>
          </a:prstGeom>
        </p:spPr>
      </p:pic>
      <p:sp>
        <p:nvSpPr>
          <p:cNvPr id="38" name="Text 29"/>
          <p:cNvSpPr txBox="1"/>
          <p:nvPr/>
        </p:nvSpPr>
        <p:spPr>
          <a:xfrm>
            <a:off x="5166360" y="3447288"/>
            <a:ext cx="3291840" cy="256032"/>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Right audience, length and structure</a:t>
            </a:r>
            <a:endParaRPr lang="en-US" sz="1100" dirty="0"/>
          </a:p>
        </p:txBody>
      </p:sp>
      <p:pic>
        <p:nvPicPr>
          <p:cNvPr id="39" name="Image 6" descr="preencoded.png">    </p:cNvPr>
          <p:cNvPicPr>
            <a:picLocks noChangeAspect="1"/>
          </p:cNvPicPr>
          <p:nvPr/>
        </p:nvPicPr>
        <p:blipFill>
          <a:blip r:embed="rId7"/>
          <a:stretch>
            <a:fillRect/>
          </a:stretch>
        </p:blipFill>
        <p:spPr>
          <a:xfrm>
            <a:off x="4864608" y="3794760"/>
            <a:ext cx="182880" cy="182880"/>
          </a:xfrm>
          <a:prstGeom prst="rect">
            <a:avLst/>
          </a:prstGeom>
        </p:spPr>
      </p:pic>
      <p:sp>
        <p:nvSpPr>
          <p:cNvPr id="40" name="Text 30"/>
          <p:cNvSpPr txBox="1"/>
          <p:nvPr/>
        </p:nvSpPr>
        <p:spPr>
          <a:xfrm>
            <a:off x="5166360" y="3767328"/>
            <a:ext cx="3291840" cy="256032"/>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Caveats included by design</a:t>
            </a:r>
            <a:endParaRPr lang="en-US" sz="1100" dirty="0"/>
          </a:p>
        </p:txBody>
      </p:sp>
      <p:pic>
        <p:nvPicPr>
          <p:cNvPr id="41" name="Image 7" descr="preencoded.png">    </p:cNvPr>
          <p:cNvPicPr>
            <a:picLocks noChangeAspect="1"/>
          </p:cNvPicPr>
          <p:nvPr/>
        </p:nvPicPr>
        <p:blipFill>
          <a:blip r:embed="rId8"/>
          <a:stretch>
            <a:fillRect/>
          </a:stretch>
        </p:blipFill>
        <p:spPr>
          <a:xfrm>
            <a:off x="4864608" y="4114800"/>
            <a:ext cx="182880" cy="182880"/>
          </a:xfrm>
          <a:prstGeom prst="rect">
            <a:avLst/>
          </a:prstGeom>
        </p:spPr>
      </p:pic>
      <p:sp>
        <p:nvSpPr>
          <p:cNvPr id="42" name="Text 31"/>
          <p:cNvSpPr txBox="1"/>
          <p:nvPr/>
        </p:nvSpPr>
        <p:spPr>
          <a:xfrm>
            <a:off x="5166360" y="4087368"/>
            <a:ext cx="3291840" cy="256032"/>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Machine-checkable in the notebook</a:t>
            </a:r>
            <a:endParaRPr lang="en-US" sz="11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04 · VERIFY &amp; PROTECT</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5" name="Text 3"/>
          <p:cNvSpPr txBox="1"/>
          <p:nvPr/>
        </p:nvSpPr>
        <p:spPr>
          <a:xfrm>
            <a:off x="548640" y="2377440"/>
            <a:ext cx="5303520" cy="10515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Verify &amp; protect</a:t>
            </a:r>
            <a:endParaRPr lang="en-US" sz="32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Would you sign this output if it carried your office's name?</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FFFFF">
              <a:alpha val="40000"/>
            </a:srgbClr>
          </a:solidFill>
          <a:ln/>
        </p:spPr>
      </p:sp>
      <p:sp>
        <p:nvSpPr>
          <p:cNvPr id="12" name="Shape 9"/>
          <p:cNvSpPr/>
          <p:nvPr/>
        </p:nvSpPr>
        <p:spPr>
          <a:xfrm>
            <a:off x="8019288" y="329184"/>
            <a:ext cx="82296" cy="82296"/>
          </a:xfrm>
          <a:prstGeom prst="ellipse">
            <a:avLst/>
          </a:prstGeom>
          <a:solidFill>
            <a:srgbClr val="FFFFFF">
              <a:alpha val="40000"/>
            </a:srgbClr>
          </a:solidFill>
          <a:ln/>
        </p:spPr>
      </p:sp>
      <p:sp>
        <p:nvSpPr>
          <p:cNvPr id="13" name="Shape 10"/>
          <p:cNvSpPr/>
          <p:nvPr/>
        </p:nvSpPr>
        <p:spPr>
          <a:xfrm>
            <a:off x="8156448" y="329184"/>
            <a:ext cx="82296" cy="82296"/>
          </a:xfrm>
          <a:prstGeom prst="ellipse">
            <a:avLst/>
          </a:prstGeom>
          <a:solidFill>
            <a:srgbClr val="FFFFFF">
              <a:alpha val="40000"/>
            </a:srgbClr>
          </a:solidFill>
          <a:ln/>
        </p:spPr>
      </p:sp>
      <p:sp>
        <p:nvSpPr>
          <p:cNvPr id="14" name="Shape 11"/>
          <p:cNvSpPr/>
          <p:nvPr/>
        </p:nvSpPr>
        <p:spPr>
          <a:xfrm>
            <a:off x="8293608" y="329184"/>
            <a:ext cx="82296" cy="82296"/>
          </a:xfrm>
          <a:prstGeom prst="ellipse">
            <a:avLst/>
          </a:prstGeom>
          <a:solidFill>
            <a:srgbClr val="F5C242"/>
          </a:solidFill>
          <a:ln/>
        </p:spPr>
      </p:sp>
      <p:sp>
        <p:nvSpPr>
          <p:cNvPr id="15" name="Shape 12"/>
          <p:cNvSpPr/>
          <p:nvPr/>
        </p:nvSpPr>
        <p:spPr>
          <a:xfrm>
            <a:off x="8430768" y="329184"/>
            <a:ext cx="82296" cy="82296"/>
          </a:xfrm>
          <a:prstGeom prst="ellipse">
            <a:avLst/>
          </a:prstGeom>
          <a:solidFill>
            <a:srgbClr val="FFFFFF">
              <a:alpha val="40000"/>
            </a:srgbClr>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VERIFY &amp; PROTECT</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The verification loop every output goes through</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49A00"/>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STG17 · One Model, Many Jobs — an LLM Toolkit for Statisticians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Shape 14"/>
          <p:cNvSpPr/>
          <p:nvPr/>
        </p:nvSpPr>
        <p:spPr>
          <a:xfrm>
            <a:off x="457200" y="1371600"/>
            <a:ext cx="475488" cy="475488"/>
          </a:xfrm>
          <a:prstGeom prst="ellipse">
            <a:avLst/>
          </a:prstGeom>
          <a:solidFill>
            <a:srgbClr val="00A86A">
              <a:alpha val="22000"/>
            </a:srgbClr>
          </a:solidFill>
          <a:ln/>
        </p:spPr>
      </p:sp>
      <p:pic>
        <p:nvPicPr>
          <p:cNvPr id="18" name="Image 0" descr="preencoded.png">    </p:cNvPr>
          <p:cNvPicPr>
            <a:picLocks noChangeAspect="1"/>
          </p:cNvPicPr>
          <p:nvPr/>
        </p:nvPicPr>
        <p:blipFill>
          <a:blip r:embed="rId1"/>
          <a:stretch>
            <a:fillRect/>
          </a:stretch>
        </p:blipFill>
        <p:spPr>
          <a:xfrm>
            <a:off x="576072" y="1490472"/>
            <a:ext cx="237744" cy="237744"/>
          </a:xfrm>
          <a:prstGeom prst="rect">
            <a:avLst/>
          </a:prstGeom>
        </p:spPr>
      </p:pic>
      <p:sp>
        <p:nvSpPr>
          <p:cNvPr id="19" name="Text 15"/>
          <p:cNvSpPr txBox="1"/>
          <p:nvPr/>
        </p:nvSpPr>
        <p:spPr>
          <a:xfrm>
            <a:off x="1097280" y="1389888"/>
            <a:ext cx="2011680" cy="237744"/>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Generate</a:t>
            </a:r>
            <a:endParaRPr lang="en-US" sz="1350" dirty="0"/>
          </a:p>
        </p:txBody>
      </p:sp>
      <p:sp>
        <p:nvSpPr>
          <p:cNvPr id="20" name="Text 16"/>
          <p:cNvSpPr txBox="1"/>
          <p:nvPr/>
        </p:nvSpPr>
        <p:spPr>
          <a:xfrm>
            <a:off x="1097280" y="1618488"/>
            <a:ext cx="3291840" cy="21945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Model produces a draft from supplied material</a:t>
            </a:r>
            <a:endParaRPr lang="en-US" sz="1000" dirty="0"/>
          </a:p>
        </p:txBody>
      </p:sp>
      <p:sp>
        <p:nvSpPr>
          <p:cNvPr id="21" name="Shape 17"/>
          <p:cNvSpPr/>
          <p:nvPr/>
        </p:nvSpPr>
        <p:spPr>
          <a:xfrm>
            <a:off x="694944" y="1865376"/>
            <a:ext cx="0" cy="118872"/>
          </a:xfrm>
          <a:prstGeom prst="line">
            <a:avLst/>
          </a:prstGeom>
          <a:noFill/>
          <a:ln w="15875">
            <a:solidFill>
              <a:srgbClr val="5E6964"/>
            </a:solidFill>
            <a:prstDash val="solid"/>
            <a:tailEnd type="triangle"/>
          </a:ln>
        </p:spPr>
      </p:sp>
      <p:sp>
        <p:nvSpPr>
          <p:cNvPr id="22" name="Shape 18"/>
          <p:cNvSpPr/>
          <p:nvPr/>
        </p:nvSpPr>
        <p:spPr>
          <a:xfrm>
            <a:off x="457200" y="1993392"/>
            <a:ext cx="475488" cy="475488"/>
          </a:xfrm>
          <a:prstGeom prst="ellipse">
            <a:avLst/>
          </a:prstGeom>
          <a:solidFill>
            <a:srgbClr val="00704A">
              <a:alpha val="22000"/>
            </a:srgbClr>
          </a:solidFill>
          <a:ln/>
        </p:spPr>
      </p:sp>
      <p:pic>
        <p:nvPicPr>
          <p:cNvPr id="23" name="Image 1" descr="preencoded.png">    </p:cNvPr>
          <p:cNvPicPr>
            <a:picLocks noChangeAspect="1"/>
          </p:cNvPicPr>
          <p:nvPr/>
        </p:nvPicPr>
        <p:blipFill>
          <a:blip r:embed="rId2"/>
          <a:stretch>
            <a:fillRect/>
          </a:stretch>
        </p:blipFill>
        <p:spPr>
          <a:xfrm>
            <a:off x="576072" y="2112264"/>
            <a:ext cx="237744" cy="237744"/>
          </a:xfrm>
          <a:prstGeom prst="rect">
            <a:avLst/>
          </a:prstGeom>
        </p:spPr>
      </p:pic>
      <p:sp>
        <p:nvSpPr>
          <p:cNvPr id="24" name="Text 19"/>
          <p:cNvSpPr txBox="1"/>
          <p:nvPr/>
        </p:nvSpPr>
        <p:spPr>
          <a:xfrm>
            <a:off x="1097280" y="2011680"/>
            <a:ext cx="2011680" cy="237744"/>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Check facts</a:t>
            </a:r>
            <a:endParaRPr lang="en-US" sz="1350" dirty="0"/>
          </a:p>
        </p:txBody>
      </p:sp>
      <p:sp>
        <p:nvSpPr>
          <p:cNvPr id="25" name="Text 20"/>
          <p:cNvSpPr txBox="1"/>
          <p:nvPr/>
        </p:nvSpPr>
        <p:spPr>
          <a:xfrm>
            <a:off x="1097280" y="2240280"/>
            <a:ext cx="3291840" cy="21945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Every figure traced to the source table or document</a:t>
            </a:r>
            <a:endParaRPr lang="en-US" sz="1000" dirty="0"/>
          </a:p>
        </p:txBody>
      </p:sp>
      <p:sp>
        <p:nvSpPr>
          <p:cNvPr id="26" name="Shape 21"/>
          <p:cNvSpPr/>
          <p:nvPr/>
        </p:nvSpPr>
        <p:spPr>
          <a:xfrm>
            <a:off x="694944" y="2487168"/>
            <a:ext cx="0" cy="118872"/>
          </a:xfrm>
          <a:prstGeom prst="line">
            <a:avLst/>
          </a:prstGeom>
          <a:noFill/>
          <a:ln w="15875">
            <a:solidFill>
              <a:srgbClr val="5E6964"/>
            </a:solidFill>
            <a:prstDash val="solid"/>
            <a:tailEnd type="triangle"/>
          </a:ln>
        </p:spPr>
      </p:sp>
      <p:sp>
        <p:nvSpPr>
          <p:cNvPr id="27" name="Shape 22"/>
          <p:cNvSpPr/>
          <p:nvPr/>
        </p:nvSpPr>
        <p:spPr>
          <a:xfrm>
            <a:off x="457200" y="2615184"/>
            <a:ext cx="475488" cy="475488"/>
          </a:xfrm>
          <a:prstGeom prst="ellipse">
            <a:avLst/>
          </a:prstGeom>
          <a:solidFill>
            <a:srgbClr val="0E7C86">
              <a:alpha val="22000"/>
            </a:srgbClr>
          </a:solidFill>
          <a:ln/>
        </p:spPr>
      </p:sp>
      <p:pic>
        <p:nvPicPr>
          <p:cNvPr id="28" name="Image 2" descr="preencoded.png">    </p:cNvPr>
          <p:cNvPicPr>
            <a:picLocks noChangeAspect="1"/>
          </p:cNvPicPr>
          <p:nvPr/>
        </p:nvPicPr>
        <p:blipFill>
          <a:blip r:embed="rId3"/>
          <a:stretch>
            <a:fillRect/>
          </a:stretch>
        </p:blipFill>
        <p:spPr>
          <a:xfrm>
            <a:off x="576072" y="2734056"/>
            <a:ext cx="237744" cy="237744"/>
          </a:xfrm>
          <a:prstGeom prst="rect">
            <a:avLst/>
          </a:prstGeom>
        </p:spPr>
      </p:pic>
      <p:sp>
        <p:nvSpPr>
          <p:cNvPr id="29" name="Text 23"/>
          <p:cNvSpPr txBox="1"/>
          <p:nvPr/>
        </p:nvSpPr>
        <p:spPr>
          <a:xfrm>
            <a:off x="1097280" y="2633472"/>
            <a:ext cx="2011680" cy="237744"/>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Check logic</a:t>
            </a:r>
            <a:endParaRPr lang="en-US" sz="1350" dirty="0"/>
          </a:p>
        </p:txBody>
      </p:sp>
      <p:sp>
        <p:nvSpPr>
          <p:cNvPr id="30" name="Text 24"/>
          <p:cNvSpPr txBox="1"/>
          <p:nvPr/>
        </p:nvSpPr>
        <p:spPr>
          <a:xfrm>
            <a:off x="1097280" y="2862072"/>
            <a:ext cx="3291840" cy="21945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Run tests; recompute; review chart checklist</a:t>
            </a:r>
            <a:endParaRPr lang="en-US" sz="1000" dirty="0"/>
          </a:p>
        </p:txBody>
      </p:sp>
      <p:sp>
        <p:nvSpPr>
          <p:cNvPr id="31" name="Shape 25"/>
          <p:cNvSpPr/>
          <p:nvPr/>
        </p:nvSpPr>
        <p:spPr>
          <a:xfrm>
            <a:off x="694944" y="3108960"/>
            <a:ext cx="0" cy="118872"/>
          </a:xfrm>
          <a:prstGeom prst="line">
            <a:avLst/>
          </a:prstGeom>
          <a:noFill/>
          <a:ln w="15875">
            <a:solidFill>
              <a:srgbClr val="5E6964"/>
            </a:solidFill>
            <a:prstDash val="solid"/>
            <a:tailEnd type="triangle"/>
          </a:ln>
        </p:spPr>
      </p:sp>
      <p:sp>
        <p:nvSpPr>
          <p:cNvPr id="32" name="Shape 26"/>
          <p:cNvSpPr/>
          <p:nvPr/>
        </p:nvSpPr>
        <p:spPr>
          <a:xfrm>
            <a:off x="457200" y="3236976"/>
            <a:ext cx="475488" cy="475488"/>
          </a:xfrm>
          <a:prstGeom prst="ellipse">
            <a:avLst/>
          </a:prstGeom>
          <a:solidFill>
            <a:srgbClr val="D49A00">
              <a:alpha val="22000"/>
            </a:srgbClr>
          </a:solidFill>
          <a:ln/>
        </p:spPr>
      </p:sp>
      <p:pic>
        <p:nvPicPr>
          <p:cNvPr id="33" name="Image 3" descr="preencoded.png">    </p:cNvPr>
          <p:cNvPicPr>
            <a:picLocks noChangeAspect="1"/>
          </p:cNvPicPr>
          <p:nvPr/>
        </p:nvPicPr>
        <p:blipFill>
          <a:blip r:embed="rId4"/>
          <a:stretch>
            <a:fillRect/>
          </a:stretch>
        </p:blipFill>
        <p:spPr>
          <a:xfrm>
            <a:off x="576072" y="3355848"/>
            <a:ext cx="237744" cy="237744"/>
          </a:xfrm>
          <a:prstGeom prst="rect">
            <a:avLst/>
          </a:prstGeom>
        </p:spPr>
      </p:pic>
      <p:sp>
        <p:nvSpPr>
          <p:cNvPr id="34" name="Text 27"/>
          <p:cNvSpPr txBox="1"/>
          <p:nvPr/>
        </p:nvSpPr>
        <p:spPr>
          <a:xfrm>
            <a:off x="1097280" y="3255264"/>
            <a:ext cx="2011680" cy="237744"/>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Check standards</a:t>
            </a:r>
            <a:endParaRPr lang="en-US" sz="1350" dirty="0"/>
          </a:p>
        </p:txBody>
      </p:sp>
      <p:sp>
        <p:nvSpPr>
          <p:cNvPr id="35" name="Text 28"/>
          <p:cNvSpPr txBox="1"/>
          <p:nvPr/>
        </p:nvSpPr>
        <p:spPr>
          <a:xfrm>
            <a:off x="1097280" y="3483864"/>
            <a:ext cx="3291840" cy="21945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House template, terminology, classification codes</a:t>
            </a:r>
            <a:endParaRPr lang="en-US" sz="1000" dirty="0"/>
          </a:p>
        </p:txBody>
      </p:sp>
      <p:sp>
        <p:nvSpPr>
          <p:cNvPr id="36" name="Shape 29"/>
          <p:cNvSpPr/>
          <p:nvPr/>
        </p:nvSpPr>
        <p:spPr>
          <a:xfrm>
            <a:off x="694944" y="3730752"/>
            <a:ext cx="0" cy="118872"/>
          </a:xfrm>
          <a:prstGeom prst="line">
            <a:avLst/>
          </a:prstGeom>
          <a:noFill/>
          <a:ln w="15875">
            <a:solidFill>
              <a:srgbClr val="5E6964"/>
            </a:solidFill>
            <a:prstDash val="solid"/>
            <a:tailEnd type="triangle"/>
          </a:ln>
        </p:spPr>
      </p:sp>
      <p:sp>
        <p:nvSpPr>
          <p:cNvPr id="37" name="Shape 30"/>
          <p:cNvSpPr/>
          <p:nvPr/>
        </p:nvSpPr>
        <p:spPr>
          <a:xfrm>
            <a:off x="457200" y="3858768"/>
            <a:ext cx="475488" cy="475488"/>
          </a:xfrm>
          <a:prstGeom prst="ellipse">
            <a:avLst/>
          </a:prstGeom>
          <a:solidFill>
            <a:srgbClr val="C4621D">
              <a:alpha val="22000"/>
            </a:srgbClr>
          </a:solidFill>
          <a:ln/>
        </p:spPr>
      </p:sp>
      <p:pic>
        <p:nvPicPr>
          <p:cNvPr id="38" name="Image 4" descr="preencoded.png">    </p:cNvPr>
          <p:cNvPicPr>
            <a:picLocks noChangeAspect="1"/>
          </p:cNvPicPr>
          <p:nvPr/>
        </p:nvPicPr>
        <p:blipFill>
          <a:blip r:embed="rId5"/>
          <a:stretch>
            <a:fillRect/>
          </a:stretch>
        </p:blipFill>
        <p:spPr>
          <a:xfrm>
            <a:off x="576072" y="3977640"/>
            <a:ext cx="237744" cy="237744"/>
          </a:xfrm>
          <a:prstGeom prst="rect">
            <a:avLst/>
          </a:prstGeom>
        </p:spPr>
      </p:pic>
      <p:sp>
        <p:nvSpPr>
          <p:cNvPr id="39" name="Text 31"/>
          <p:cNvSpPr txBox="1"/>
          <p:nvPr/>
        </p:nvSpPr>
        <p:spPr>
          <a:xfrm>
            <a:off x="1097280" y="3877056"/>
            <a:ext cx="2011680" cy="237744"/>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Human sign-off</a:t>
            </a:r>
            <a:endParaRPr lang="en-US" sz="1350" dirty="0"/>
          </a:p>
        </p:txBody>
      </p:sp>
      <p:sp>
        <p:nvSpPr>
          <p:cNvPr id="40" name="Text 32"/>
          <p:cNvSpPr txBox="1"/>
          <p:nvPr/>
        </p:nvSpPr>
        <p:spPr>
          <a:xfrm>
            <a:off x="1097280" y="4105656"/>
            <a:ext cx="3291840" cy="21945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 named person is accountable for release</a:t>
            </a:r>
            <a:endParaRPr lang="en-US" sz="1000" dirty="0"/>
          </a:p>
        </p:txBody>
      </p:sp>
      <p:sp>
        <p:nvSpPr>
          <p:cNvPr id="41" name="Shape 33"/>
          <p:cNvSpPr/>
          <p:nvPr/>
        </p:nvSpPr>
        <p:spPr>
          <a:xfrm>
            <a:off x="4846320" y="1371600"/>
            <a:ext cx="3840480" cy="3063240"/>
          </a:xfrm>
          <a:prstGeom prst="roundRect">
            <a:avLst>
              <a:gd name="adj" fmla="val 2388"/>
            </a:avLst>
          </a:prstGeom>
          <a:solidFill>
            <a:srgbClr val="E8F5EF"/>
          </a:solidFill>
          <a:ln w="19050">
            <a:solidFill>
              <a:srgbClr val="00A86A"/>
            </a:solidFill>
            <a:prstDash val="solid"/>
          </a:ln>
        </p:spPr>
      </p:sp>
      <p:sp>
        <p:nvSpPr>
          <p:cNvPr id="42" name="Text 34"/>
          <p:cNvSpPr txBox="1"/>
          <p:nvPr/>
        </p:nvSpPr>
        <p:spPr>
          <a:xfrm>
            <a:off x="5074920" y="1536192"/>
            <a:ext cx="2743200" cy="201168"/>
          </a:xfrm>
          <a:prstGeom prst="rect">
            <a:avLst/>
          </a:prstGeom>
          <a:noFill/>
          <a:ln/>
        </p:spPr>
        <p:txBody>
          <a:bodyPr wrap="square" lIns="0" tIns="0" rIns="0" bIns="0" rtlCol="0" anchor="t"/>
          <a:lstStyle/>
          <a:p>
            <a:pPr indent="0" marL="0">
              <a:buNone/>
            </a:pPr>
            <a:r>
              <a:rPr lang="en-US" sz="1000" b="1" spc="300" kern="0" dirty="0">
                <a:solidFill>
                  <a:srgbClr val="00704A"/>
                </a:solidFill>
                <a:latin typeface="Calibri" pitchFamily="34" charset="0"/>
                <a:ea typeface="Calibri" pitchFamily="34" charset="-122"/>
                <a:cs typeface="Calibri" pitchFamily="34" charset="-120"/>
              </a:rPr>
              <a:t>THE GOLDEN RULE</a:t>
            </a:r>
            <a:endParaRPr lang="en-US" sz="1000" dirty="0"/>
          </a:p>
        </p:txBody>
      </p:sp>
      <p:sp>
        <p:nvSpPr>
          <p:cNvPr id="43" name="Text 35"/>
          <p:cNvSpPr txBox="1"/>
          <p:nvPr/>
        </p:nvSpPr>
        <p:spPr>
          <a:xfrm>
            <a:off x="5074920" y="1810512"/>
            <a:ext cx="3474720" cy="868680"/>
          </a:xfrm>
          <a:prstGeom prst="rect">
            <a:avLst/>
          </a:prstGeom>
          <a:noFill/>
          <a:ln/>
        </p:spPr>
        <p:txBody>
          <a:bodyPr wrap="square" lIns="0" tIns="0" rIns="0" bIns="0" rtlCol="0" anchor="t"/>
          <a:lstStyle/>
          <a:p>
            <a:pPr indent="0" marL="0">
              <a:buNone/>
            </a:pPr>
            <a:r>
              <a:rPr lang="en-US" sz="2400" b="1" dirty="0">
                <a:solidFill>
                  <a:srgbClr val="00553A"/>
                </a:solidFill>
                <a:latin typeface="Calibri" pitchFamily="34" charset="0"/>
                <a:ea typeface="Calibri" pitchFamily="34" charset="-122"/>
                <a:cs typeface="Calibri" pitchFamily="34" charset="-120"/>
              </a:rPr>
              <a:t>Computers compute.</a:t>
            </a:r>
            <a:endParaRPr lang="en-US" sz="2400" dirty="0"/>
          </a:p>
          <a:p>
            <a:pPr indent="0" marL="0">
              <a:buNone/>
            </a:pPr>
            <a:r>
              <a:rPr lang="en-US" sz="2400" b="1" dirty="0">
                <a:solidFill>
                  <a:srgbClr val="00553A"/>
                </a:solidFill>
                <a:latin typeface="Calibri" pitchFamily="34" charset="0"/>
                <a:ea typeface="Calibri" pitchFamily="34" charset="-122"/>
                <a:cs typeface="Calibri" pitchFamily="34" charset="-120"/>
              </a:rPr>
              <a:t>Language models narrate.</a:t>
            </a:r>
            <a:endParaRPr lang="en-US" sz="2400" dirty="0"/>
          </a:p>
        </p:txBody>
      </p:sp>
      <p:sp>
        <p:nvSpPr>
          <p:cNvPr id="44" name="Text 36"/>
          <p:cNvSpPr txBox="1"/>
          <p:nvPr/>
        </p:nvSpPr>
        <p:spPr>
          <a:xfrm>
            <a:off x="5074920" y="2788920"/>
            <a:ext cx="3429000" cy="86868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Every number in a published text should come from code you can rerun — pandas, R, Stata — never from the model's memory. The model turns verified numbers into readable words.</a:t>
            </a:r>
            <a:endParaRPr lang="en-US" sz="1150" dirty="0"/>
          </a:p>
        </p:txBody>
      </p:sp>
      <p:sp>
        <p:nvSpPr>
          <p:cNvPr id="45" name="Shape 37"/>
          <p:cNvSpPr/>
          <p:nvPr/>
        </p:nvSpPr>
        <p:spPr>
          <a:xfrm>
            <a:off x="5074920" y="3858768"/>
            <a:ext cx="3383280" cy="310896"/>
          </a:xfrm>
          <a:prstGeom prst="roundRect">
            <a:avLst>
              <a:gd name="adj" fmla="val 32353"/>
            </a:avLst>
          </a:prstGeom>
          <a:solidFill>
            <a:srgbClr val="00A86A">
              <a:alpha val="15000"/>
            </a:srgbClr>
          </a:solidFill>
          <a:ln w="9525">
            <a:solidFill>
              <a:srgbClr val="00A86A"/>
            </a:solidFill>
            <a:prstDash val="solid"/>
          </a:ln>
        </p:spPr>
      </p:sp>
      <p:sp>
        <p:nvSpPr>
          <p:cNvPr id="46" name="Text 38"/>
          <p:cNvSpPr txBox="1"/>
          <p:nvPr/>
        </p:nvSpPr>
        <p:spPr>
          <a:xfrm>
            <a:off x="5074920" y="3858768"/>
            <a:ext cx="3383280" cy="310896"/>
          </a:xfrm>
          <a:prstGeom prst="rect">
            <a:avLst/>
          </a:prstGeom>
          <a:noFill/>
          <a:ln/>
        </p:spPr>
        <p:txBody>
          <a:bodyPr wrap="square" lIns="0" tIns="0" rIns="0" bIns="0" rtlCol="0" anchor="ctr"/>
          <a:lstStyle/>
          <a:p>
            <a:pPr algn="ctr" indent="0" marL="0">
              <a:buNone/>
            </a:pPr>
            <a:r>
              <a:rPr lang="en-US" sz="1000" b="1" dirty="0">
                <a:solidFill>
                  <a:srgbClr val="00A86A"/>
                </a:solidFill>
                <a:latin typeface="Calibri" pitchFamily="34" charset="0"/>
                <a:ea typeface="Calibri" pitchFamily="34" charset="-122"/>
                <a:cs typeface="Calibri" pitchFamily="34" charset="-120"/>
              </a:rPr>
              <a:t>Implemented as an automatic check in Station B</a:t>
            </a:r>
            <a:endParaRPr lang="en-US" sz="10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VERIFY &amp; PROTECT</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What may go into a free tool? A traffic light</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49A00"/>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STG17 · One Model, Many Jobs — an LLM Toolkit for Statisticians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7" name="Shape 14"/>
          <p:cNvSpPr/>
          <p:nvPr/>
        </p:nvSpPr>
        <p:spPr>
          <a:xfrm>
            <a:off x="457200" y="1325880"/>
            <a:ext cx="2606040" cy="2514600"/>
          </a:xfrm>
          <a:prstGeom prst="roundRect">
            <a:avLst>
              <a:gd name="adj" fmla="val 2909"/>
            </a:avLst>
          </a:prstGeom>
          <a:solidFill>
            <a:srgbClr val="E8F5EF"/>
          </a:solidFill>
          <a:ln w="15875">
            <a:solidFill>
              <a:srgbClr val="00A86A"/>
            </a:solidFill>
            <a:prstDash val="solid"/>
          </a:ln>
        </p:spPr>
      </p:sp>
      <p:sp>
        <p:nvSpPr>
          <p:cNvPr id="18" name="Shape 15"/>
          <p:cNvSpPr/>
          <p:nvPr/>
        </p:nvSpPr>
        <p:spPr>
          <a:xfrm>
            <a:off x="621792" y="1463040"/>
            <a:ext cx="502920" cy="502920"/>
          </a:xfrm>
          <a:prstGeom prst="ellipse">
            <a:avLst/>
          </a:prstGeom>
          <a:solidFill>
            <a:srgbClr val="00A86A"/>
          </a:solidFill>
          <a:ln/>
        </p:spPr>
      </p:sp>
      <p:pic>
        <p:nvPicPr>
          <p:cNvPr id="19" name="Image 0" descr="preencoded.png">    </p:cNvPr>
          <p:cNvPicPr>
            <a:picLocks noChangeAspect="1"/>
          </p:cNvPicPr>
          <p:nvPr/>
        </p:nvPicPr>
        <p:blipFill>
          <a:blip r:embed="rId1"/>
          <a:stretch>
            <a:fillRect/>
          </a:stretch>
        </p:blipFill>
        <p:spPr>
          <a:xfrm>
            <a:off x="747522" y="1588770"/>
            <a:ext cx="251460" cy="251460"/>
          </a:xfrm>
          <a:prstGeom prst="rect">
            <a:avLst/>
          </a:prstGeom>
        </p:spPr>
      </p:pic>
      <p:sp>
        <p:nvSpPr>
          <p:cNvPr id="20" name="Text 16"/>
          <p:cNvSpPr txBox="1"/>
          <p:nvPr/>
        </p:nvSpPr>
        <p:spPr>
          <a:xfrm>
            <a:off x="1234440" y="1463040"/>
            <a:ext cx="1737360" cy="502920"/>
          </a:xfrm>
          <a:prstGeom prst="rect">
            <a:avLst/>
          </a:prstGeom>
          <a:noFill/>
          <a:ln/>
        </p:spPr>
        <p:txBody>
          <a:bodyPr wrap="square" lIns="0" tIns="0" rIns="0" bIns="0" rtlCol="0" anchor="ctr"/>
          <a:lstStyle/>
          <a:p>
            <a:pPr indent="0" marL="0">
              <a:buNone/>
            </a:pPr>
            <a:r>
              <a:rPr lang="en-US" sz="1300" b="1" spc="100" kern="0" dirty="0">
                <a:solidFill>
                  <a:srgbClr val="00A86A"/>
                </a:solidFill>
                <a:latin typeface="Calibri" pitchFamily="34" charset="0"/>
                <a:ea typeface="Calibri" pitchFamily="34" charset="-122"/>
                <a:cs typeface="Calibri" pitchFamily="34" charset="-120"/>
              </a:rPr>
              <a:t>GREEN · GO</a:t>
            </a:r>
            <a:endParaRPr lang="en-US" sz="1300" dirty="0"/>
          </a:p>
        </p:txBody>
      </p:sp>
      <p:sp>
        <p:nvSpPr>
          <p:cNvPr id="21" name="Text 17"/>
          <p:cNvSpPr txBox="1"/>
          <p:nvPr/>
        </p:nvSpPr>
        <p:spPr>
          <a:xfrm>
            <a:off x="658368" y="2148840"/>
            <a:ext cx="224028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Published statistics and reports</a:t>
            </a:r>
            <a:endParaRPr lang="en-US" sz="1100" dirty="0"/>
          </a:p>
        </p:txBody>
      </p:sp>
      <p:sp>
        <p:nvSpPr>
          <p:cNvPr id="22" name="Text 18"/>
          <p:cNvSpPr txBox="1"/>
          <p:nvPr/>
        </p:nvSpPr>
        <p:spPr>
          <a:xfrm>
            <a:off x="658368" y="2551176"/>
            <a:ext cx="224028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Synthetic or dummy datasets</a:t>
            </a:r>
            <a:endParaRPr lang="en-US" sz="1100" dirty="0"/>
          </a:p>
        </p:txBody>
      </p:sp>
      <p:sp>
        <p:nvSpPr>
          <p:cNvPr id="23" name="Text 19"/>
          <p:cNvSpPr txBox="1"/>
          <p:nvPr/>
        </p:nvSpPr>
        <p:spPr>
          <a:xfrm>
            <a:off x="658368" y="2953512"/>
            <a:ext cx="224028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Open-source code</a:t>
            </a:r>
            <a:endParaRPr lang="en-US" sz="1100" dirty="0"/>
          </a:p>
        </p:txBody>
      </p:sp>
      <p:sp>
        <p:nvSpPr>
          <p:cNvPr id="24" name="Text 20"/>
          <p:cNvSpPr txBox="1"/>
          <p:nvPr/>
        </p:nvSpPr>
        <p:spPr>
          <a:xfrm>
            <a:off x="658368" y="3355848"/>
            <a:ext cx="224028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Public metadata and classifications</a:t>
            </a:r>
            <a:endParaRPr lang="en-US" sz="1100" dirty="0"/>
          </a:p>
        </p:txBody>
      </p:sp>
      <p:sp>
        <p:nvSpPr>
          <p:cNvPr id="25" name="Shape 21"/>
          <p:cNvSpPr/>
          <p:nvPr/>
        </p:nvSpPr>
        <p:spPr>
          <a:xfrm>
            <a:off x="3246120" y="1325880"/>
            <a:ext cx="2606040" cy="2514600"/>
          </a:xfrm>
          <a:prstGeom prst="roundRect">
            <a:avLst>
              <a:gd name="adj" fmla="val 2909"/>
            </a:avLst>
          </a:prstGeom>
          <a:solidFill>
            <a:srgbClr val="FBF3DE"/>
          </a:solidFill>
          <a:ln w="15875">
            <a:solidFill>
              <a:srgbClr val="D49A00"/>
            </a:solidFill>
            <a:prstDash val="solid"/>
          </a:ln>
        </p:spPr>
      </p:sp>
      <p:sp>
        <p:nvSpPr>
          <p:cNvPr id="26" name="Shape 22"/>
          <p:cNvSpPr/>
          <p:nvPr/>
        </p:nvSpPr>
        <p:spPr>
          <a:xfrm>
            <a:off x="3410712" y="1463040"/>
            <a:ext cx="502920" cy="502920"/>
          </a:xfrm>
          <a:prstGeom prst="ellipse">
            <a:avLst/>
          </a:prstGeom>
          <a:solidFill>
            <a:srgbClr val="D49A00"/>
          </a:solidFill>
          <a:ln/>
        </p:spPr>
      </p:sp>
      <p:pic>
        <p:nvPicPr>
          <p:cNvPr id="27" name="Image 1" descr="preencoded.png">    </p:cNvPr>
          <p:cNvPicPr>
            <a:picLocks noChangeAspect="1"/>
          </p:cNvPicPr>
          <p:nvPr/>
        </p:nvPicPr>
        <p:blipFill>
          <a:blip r:embed="rId2"/>
          <a:stretch>
            <a:fillRect/>
          </a:stretch>
        </p:blipFill>
        <p:spPr>
          <a:xfrm>
            <a:off x="3536442" y="1588770"/>
            <a:ext cx="251460" cy="251460"/>
          </a:xfrm>
          <a:prstGeom prst="rect">
            <a:avLst/>
          </a:prstGeom>
        </p:spPr>
      </p:pic>
      <p:sp>
        <p:nvSpPr>
          <p:cNvPr id="28" name="Text 23"/>
          <p:cNvSpPr txBox="1"/>
          <p:nvPr/>
        </p:nvSpPr>
        <p:spPr>
          <a:xfrm>
            <a:off x="4023360" y="1463040"/>
            <a:ext cx="1737360" cy="502920"/>
          </a:xfrm>
          <a:prstGeom prst="rect">
            <a:avLst/>
          </a:prstGeom>
          <a:noFill/>
          <a:ln/>
        </p:spPr>
        <p:txBody>
          <a:bodyPr wrap="square" lIns="0" tIns="0" rIns="0" bIns="0" rtlCol="0" anchor="ctr"/>
          <a:lstStyle/>
          <a:p>
            <a:pPr indent="0" marL="0">
              <a:buNone/>
            </a:pPr>
            <a:r>
              <a:rPr lang="en-US" sz="1300" b="1" spc="100" kern="0" dirty="0">
                <a:solidFill>
                  <a:srgbClr val="D49A00"/>
                </a:solidFill>
                <a:latin typeface="Calibri" pitchFamily="34" charset="0"/>
                <a:ea typeface="Calibri" pitchFamily="34" charset="-122"/>
                <a:cs typeface="Calibri" pitchFamily="34" charset="-120"/>
              </a:rPr>
              <a:t>AMBER · PREPARE</a:t>
            </a:r>
            <a:endParaRPr lang="en-US" sz="1300" dirty="0"/>
          </a:p>
        </p:txBody>
      </p:sp>
      <p:sp>
        <p:nvSpPr>
          <p:cNvPr id="29" name="Text 24"/>
          <p:cNvSpPr txBox="1"/>
          <p:nvPr/>
        </p:nvSpPr>
        <p:spPr>
          <a:xfrm>
            <a:off x="3447288" y="2148840"/>
            <a:ext cx="224028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Draft methodology notes</a:t>
            </a:r>
            <a:endParaRPr lang="en-US" sz="1100" dirty="0"/>
          </a:p>
        </p:txBody>
      </p:sp>
      <p:sp>
        <p:nvSpPr>
          <p:cNvPr id="30" name="Text 25"/>
          <p:cNvSpPr txBox="1"/>
          <p:nvPr/>
        </p:nvSpPr>
        <p:spPr>
          <a:xfrm>
            <a:off x="3447288" y="2551176"/>
            <a:ext cx="224028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Internal non-sensitive documents</a:t>
            </a:r>
            <a:endParaRPr lang="en-US" sz="1100" dirty="0"/>
          </a:p>
        </p:txBody>
      </p:sp>
      <p:sp>
        <p:nvSpPr>
          <p:cNvPr id="31" name="Text 26"/>
          <p:cNvSpPr txBox="1"/>
          <p:nvPr/>
        </p:nvSpPr>
        <p:spPr>
          <a:xfrm>
            <a:off x="3447288" y="2953512"/>
            <a:ext cx="2240280" cy="365760"/>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 remove names &amp; identifiers</a:t>
            </a:r>
            <a:endParaRPr lang="en-US" sz="1100" dirty="0"/>
          </a:p>
        </p:txBody>
      </p:sp>
      <p:sp>
        <p:nvSpPr>
          <p:cNvPr id="32" name="Text 27"/>
          <p:cNvSpPr txBox="1"/>
          <p:nvPr/>
        </p:nvSpPr>
        <p:spPr>
          <a:xfrm>
            <a:off x="3447288" y="3355848"/>
            <a:ext cx="2240280" cy="365760"/>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 check your office AI policy</a:t>
            </a:r>
            <a:endParaRPr lang="en-US" sz="1100" dirty="0"/>
          </a:p>
        </p:txBody>
      </p:sp>
      <p:sp>
        <p:nvSpPr>
          <p:cNvPr id="33" name="Shape 28"/>
          <p:cNvSpPr/>
          <p:nvPr/>
        </p:nvSpPr>
        <p:spPr>
          <a:xfrm>
            <a:off x="6035040" y="1325880"/>
            <a:ext cx="2606040" cy="2514600"/>
          </a:xfrm>
          <a:prstGeom prst="roundRect">
            <a:avLst>
              <a:gd name="adj" fmla="val 2909"/>
            </a:avLst>
          </a:prstGeom>
          <a:solidFill>
            <a:srgbClr val="FBEFED"/>
          </a:solidFill>
          <a:ln w="15875">
            <a:solidFill>
              <a:srgbClr val="B83B2E"/>
            </a:solidFill>
            <a:prstDash val="solid"/>
          </a:ln>
        </p:spPr>
      </p:sp>
      <p:sp>
        <p:nvSpPr>
          <p:cNvPr id="34" name="Shape 29"/>
          <p:cNvSpPr/>
          <p:nvPr/>
        </p:nvSpPr>
        <p:spPr>
          <a:xfrm>
            <a:off x="6199632" y="1463040"/>
            <a:ext cx="502920" cy="502920"/>
          </a:xfrm>
          <a:prstGeom prst="ellipse">
            <a:avLst/>
          </a:prstGeom>
          <a:solidFill>
            <a:srgbClr val="B83B2E"/>
          </a:solidFill>
          <a:ln/>
        </p:spPr>
      </p:sp>
      <p:pic>
        <p:nvPicPr>
          <p:cNvPr id="35" name="Image 2" descr="preencoded.png">    </p:cNvPr>
          <p:cNvPicPr>
            <a:picLocks noChangeAspect="1"/>
          </p:cNvPicPr>
          <p:nvPr/>
        </p:nvPicPr>
        <p:blipFill>
          <a:blip r:embed="rId3"/>
          <a:stretch>
            <a:fillRect/>
          </a:stretch>
        </p:blipFill>
        <p:spPr>
          <a:xfrm>
            <a:off x="6325362" y="1588770"/>
            <a:ext cx="251460" cy="251460"/>
          </a:xfrm>
          <a:prstGeom prst="rect">
            <a:avLst/>
          </a:prstGeom>
        </p:spPr>
      </p:pic>
      <p:sp>
        <p:nvSpPr>
          <p:cNvPr id="36" name="Text 30"/>
          <p:cNvSpPr txBox="1"/>
          <p:nvPr/>
        </p:nvSpPr>
        <p:spPr>
          <a:xfrm>
            <a:off x="6812280" y="1463040"/>
            <a:ext cx="1737360" cy="502920"/>
          </a:xfrm>
          <a:prstGeom prst="rect">
            <a:avLst/>
          </a:prstGeom>
          <a:noFill/>
          <a:ln/>
        </p:spPr>
        <p:txBody>
          <a:bodyPr wrap="square" lIns="0" tIns="0" rIns="0" bIns="0" rtlCol="0" anchor="ctr"/>
          <a:lstStyle/>
          <a:p>
            <a:pPr indent="0" marL="0">
              <a:buNone/>
            </a:pPr>
            <a:r>
              <a:rPr lang="en-US" sz="1300" b="1" spc="100" kern="0" dirty="0">
                <a:solidFill>
                  <a:srgbClr val="B83B2E"/>
                </a:solidFill>
                <a:latin typeface="Calibri" pitchFamily="34" charset="0"/>
                <a:ea typeface="Calibri" pitchFamily="34" charset="-122"/>
                <a:cs typeface="Calibri" pitchFamily="34" charset="-120"/>
              </a:rPr>
              <a:t>RED · STOP</a:t>
            </a:r>
            <a:endParaRPr lang="en-US" sz="1300" dirty="0"/>
          </a:p>
        </p:txBody>
      </p:sp>
      <p:sp>
        <p:nvSpPr>
          <p:cNvPr id="37" name="Text 31"/>
          <p:cNvSpPr txBox="1"/>
          <p:nvPr/>
        </p:nvSpPr>
        <p:spPr>
          <a:xfrm>
            <a:off x="6236208" y="2148840"/>
            <a:ext cx="224028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Microdata &amp; personal identifiers</a:t>
            </a:r>
            <a:endParaRPr lang="en-US" sz="1100" dirty="0"/>
          </a:p>
        </p:txBody>
      </p:sp>
      <p:sp>
        <p:nvSpPr>
          <p:cNvPr id="38" name="Text 32"/>
          <p:cNvSpPr txBox="1"/>
          <p:nvPr/>
        </p:nvSpPr>
        <p:spPr>
          <a:xfrm>
            <a:off x="6236208" y="2551176"/>
            <a:ext cx="224028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Embargoed or pre-release results</a:t>
            </a:r>
            <a:endParaRPr lang="en-US" sz="1100" dirty="0"/>
          </a:p>
        </p:txBody>
      </p:sp>
      <p:sp>
        <p:nvSpPr>
          <p:cNvPr id="39" name="Text 33"/>
          <p:cNvSpPr txBox="1"/>
          <p:nvPr/>
        </p:nvSpPr>
        <p:spPr>
          <a:xfrm>
            <a:off x="6236208" y="2953512"/>
            <a:ext cx="224028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API keys, passwords, credentials</a:t>
            </a:r>
            <a:endParaRPr lang="en-US" sz="1100" dirty="0"/>
          </a:p>
        </p:txBody>
      </p:sp>
      <p:sp>
        <p:nvSpPr>
          <p:cNvPr id="40" name="Text 34"/>
          <p:cNvSpPr txBox="1"/>
          <p:nvPr/>
        </p:nvSpPr>
        <p:spPr>
          <a:xfrm>
            <a:off x="6236208" y="3355848"/>
            <a:ext cx="2240280" cy="36576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Confidential partner data (e.g. CDRs)</a:t>
            </a:r>
            <a:endParaRPr lang="en-US" sz="1100" dirty="0"/>
          </a:p>
        </p:txBody>
      </p:sp>
      <p:sp>
        <p:nvSpPr>
          <p:cNvPr id="41" name="Shape 35"/>
          <p:cNvSpPr/>
          <p:nvPr/>
        </p:nvSpPr>
        <p:spPr>
          <a:xfrm>
            <a:off x="457200" y="3977640"/>
            <a:ext cx="8229600" cy="457200"/>
          </a:xfrm>
          <a:prstGeom prst="roundRect">
            <a:avLst>
              <a:gd name="adj" fmla="val 12000"/>
            </a:avLst>
          </a:prstGeom>
          <a:solidFill>
            <a:srgbClr val="D49A00">
              <a:alpha val="13000"/>
            </a:srgbClr>
          </a:solidFill>
          <a:ln w="9525">
            <a:solidFill>
              <a:srgbClr val="D49A00"/>
            </a:solidFill>
            <a:prstDash val="solid"/>
          </a:ln>
        </p:spPr>
      </p:sp>
      <p:pic>
        <p:nvPicPr>
          <p:cNvPr id="42" name="Image 3" descr="preencoded.png">    </p:cNvPr>
          <p:cNvPicPr>
            <a:picLocks noChangeAspect="1"/>
          </p:cNvPicPr>
          <p:nvPr/>
        </p:nvPicPr>
        <p:blipFill>
          <a:blip r:embed="rId4"/>
          <a:stretch>
            <a:fillRect/>
          </a:stretch>
        </p:blipFill>
        <p:spPr>
          <a:xfrm>
            <a:off x="594360" y="4096512"/>
            <a:ext cx="219456" cy="219456"/>
          </a:xfrm>
          <a:prstGeom prst="rect">
            <a:avLst/>
          </a:prstGeom>
        </p:spPr>
      </p:pic>
      <p:sp>
        <p:nvSpPr>
          <p:cNvPr id="43" name="Text 36"/>
          <p:cNvSpPr txBox="1"/>
          <p:nvPr/>
        </p:nvSpPr>
        <p:spPr>
          <a:xfrm>
            <a:off x="960120" y="3977640"/>
            <a:ext cx="7589520" cy="457200"/>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Why it matters: </a:t>
            </a:r>
            <a:pPr indent="0" marL="0">
              <a:buNone/>
            </a:pPr>
            <a:r>
              <a:rPr lang="en-US" sz="1100" dirty="0">
                <a:solidFill>
                  <a:srgbClr val="231F20"/>
                </a:solidFill>
                <a:latin typeface="Calibri" pitchFamily="34" charset="0"/>
                <a:ea typeface="Calibri" pitchFamily="34" charset="-122"/>
                <a:cs typeface="Calibri" pitchFamily="34" charset="-120"/>
              </a:rPr>
              <a:t>free-tier inputs may be used by providers to improve their products. When in doubt, treat it as red.</a:t>
            </a:r>
            <a:endParaRPr lang="en-US" sz="1100" dirty="0"/>
          </a:p>
        </p:txBody>
      </p:sp>
      <p:sp>
        <p:nvSpPr>
          <p:cNvPr id="44" name="Text 37"/>
          <p:cNvSpPr txBox="1"/>
          <p:nvPr/>
        </p:nvSpPr>
        <p:spPr>
          <a:xfrm>
            <a:off x="457200" y="4526280"/>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Source: Google AI Studio free-tier terms, as summarised by pecollective.com (2026).</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VERIFY &amp; PROTECT</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Six failure modes — and the fix for each</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49A00"/>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STG17 · One Model, Many Jobs — an LLM Toolkit for Statisticians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7" name="Shape 14"/>
          <p:cNvSpPr/>
          <p:nvPr/>
        </p:nvSpPr>
        <p:spPr>
          <a:xfrm>
            <a:off x="457200" y="1325880"/>
            <a:ext cx="4023360" cy="987552"/>
          </a:xfrm>
          <a:prstGeom prst="roundRect">
            <a:avLst>
              <a:gd name="adj" fmla="val 7407"/>
            </a:avLst>
          </a:prstGeom>
          <a:solidFill>
            <a:srgbClr val="F4F7F5"/>
          </a:solidFill>
          <a:ln w="9525">
            <a:solidFill>
              <a:srgbClr val="D5DED9"/>
            </a:solidFill>
            <a:prstDash val="solid"/>
          </a:ln>
        </p:spPr>
      </p:sp>
      <p:sp>
        <p:nvSpPr>
          <p:cNvPr id="18" name="Shape 15"/>
          <p:cNvSpPr/>
          <p:nvPr/>
        </p:nvSpPr>
        <p:spPr>
          <a:xfrm>
            <a:off x="594360" y="1591056"/>
            <a:ext cx="457200" cy="457200"/>
          </a:xfrm>
          <a:prstGeom prst="ellipse">
            <a:avLst/>
          </a:prstGeom>
          <a:solidFill>
            <a:srgbClr val="B83B2E">
              <a:alpha val="22000"/>
            </a:srgbClr>
          </a:solidFill>
          <a:ln/>
        </p:spPr>
      </p:sp>
      <p:pic>
        <p:nvPicPr>
          <p:cNvPr id="19" name="Image 0" descr="preencoded.png">    </p:cNvPr>
          <p:cNvPicPr>
            <a:picLocks noChangeAspect="1"/>
          </p:cNvPicPr>
          <p:nvPr/>
        </p:nvPicPr>
        <p:blipFill>
          <a:blip r:embed="rId1"/>
          <a:stretch>
            <a:fillRect/>
          </a:stretch>
        </p:blipFill>
        <p:spPr>
          <a:xfrm>
            <a:off x="708660" y="1705356"/>
            <a:ext cx="228600" cy="228600"/>
          </a:xfrm>
          <a:prstGeom prst="rect">
            <a:avLst/>
          </a:prstGeom>
        </p:spPr>
      </p:pic>
      <p:sp>
        <p:nvSpPr>
          <p:cNvPr id="20" name="Text 16"/>
          <p:cNvSpPr txBox="1"/>
          <p:nvPr/>
        </p:nvSpPr>
        <p:spPr>
          <a:xfrm>
            <a:off x="1188720" y="1444752"/>
            <a:ext cx="256032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Invented figures</a:t>
            </a:r>
            <a:endParaRPr lang="en-US" sz="1350" dirty="0"/>
          </a:p>
        </p:txBody>
      </p:sp>
      <p:pic>
        <p:nvPicPr>
          <p:cNvPr id="21" name="Image 1" descr="preencoded.png">    </p:cNvPr>
          <p:cNvPicPr>
            <a:picLocks noChangeAspect="1"/>
          </p:cNvPicPr>
          <p:nvPr/>
        </p:nvPicPr>
        <p:blipFill>
          <a:blip r:embed="rId2"/>
          <a:stretch>
            <a:fillRect/>
          </a:stretch>
        </p:blipFill>
        <p:spPr>
          <a:xfrm>
            <a:off x="1188720" y="1801368"/>
            <a:ext cx="146304" cy="146304"/>
          </a:xfrm>
          <a:prstGeom prst="rect">
            <a:avLst/>
          </a:prstGeom>
        </p:spPr>
      </p:pic>
      <p:sp>
        <p:nvSpPr>
          <p:cNvPr id="22" name="Text 17"/>
          <p:cNvSpPr txBox="1"/>
          <p:nvPr/>
        </p:nvSpPr>
        <p:spPr>
          <a:xfrm>
            <a:off x="1417320" y="1728216"/>
            <a:ext cx="2926080" cy="411480"/>
          </a:xfrm>
          <a:prstGeom prst="rect">
            <a:avLst/>
          </a:prstGeom>
          <a:noFill/>
          <a:ln/>
        </p:spPr>
        <p:txBody>
          <a:bodyPr wrap="square" lIns="0" tIns="0" rIns="0" bIns="0" rtlCol="0" anchor="ctr"/>
          <a:lstStyle/>
          <a:p>
            <a:pPr indent="0" marL="0">
              <a:buNone/>
            </a:pPr>
            <a:r>
              <a:rPr lang="en-US" sz="1050" dirty="0">
                <a:solidFill>
                  <a:srgbClr val="5E6964"/>
                </a:solidFill>
                <a:latin typeface="Calibri" pitchFamily="34" charset="0"/>
                <a:ea typeface="Calibri" pitchFamily="34" charset="-122"/>
                <a:cs typeface="Calibri" pitchFamily="34" charset="-120"/>
              </a:rPr>
              <a:t>Compute in code; run the automatic fact-check</a:t>
            </a:r>
            <a:endParaRPr lang="en-US" sz="1050" dirty="0"/>
          </a:p>
        </p:txBody>
      </p:sp>
      <p:sp>
        <p:nvSpPr>
          <p:cNvPr id="23" name="Shape 18"/>
          <p:cNvSpPr/>
          <p:nvPr/>
        </p:nvSpPr>
        <p:spPr>
          <a:xfrm>
            <a:off x="3840480" y="1444752"/>
            <a:ext cx="502920" cy="201168"/>
          </a:xfrm>
          <a:prstGeom prst="roundRect">
            <a:avLst>
              <a:gd name="adj" fmla="val 50000"/>
            </a:avLst>
          </a:prstGeom>
          <a:solidFill>
            <a:srgbClr val="0E7C86">
              <a:alpha val="15000"/>
            </a:srgbClr>
          </a:solidFill>
          <a:ln w="9525">
            <a:solidFill>
              <a:srgbClr val="0E7C86"/>
            </a:solidFill>
            <a:prstDash val="solid"/>
          </a:ln>
        </p:spPr>
      </p:sp>
      <p:sp>
        <p:nvSpPr>
          <p:cNvPr id="24" name="Text 19"/>
          <p:cNvSpPr txBox="1"/>
          <p:nvPr/>
        </p:nvSpPr>
        <p:spPr>
          <a:xfrm>
            <a:off x="3840480" y="1444752"/>
            <a:ext cx="502920" cy="20116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B</a:t>
            </a:r>
            <a:endParaRPr lang="en-US" sz="850" dirty="0"/>
          </a:p>
        </p:txBody>
      </p:sp>
      <p:sp>
        <p:nvSpPr>
          <p:cNvPr id="25" name="Shape 20"/>
          <p:cNvSpPr/>
          <p:nvPr/>
        </p:nvSpPr>
        <p:spPr>
          <a:xfrm>
            <a:off x="4663440" y="1325880"/>
            <a:ext cx="4023360" cy="987552"/>
          </a:xfrm>
          <a:prstGeom prst="roundRect">
            <a:avLst>
              <a:gd name="adj" fmla="val 7407"/>
            </a:avLst>
          </a:prstGeom>
          <a:solidFill>
            <a:srgbClr val="F4F7F5"/>
          </a:solidFill>
          <a:ln w="9525">
            <a:solidFill>
              <a:srgbClr val="D5DED9"/>
            </a:solidFill>
            <a:prstDash val="solid"/>
          </a:ln>
        </p:spPr>
      </p:sp>
      <p:sp>
        <p:nvSpPr>
          <p:cNvPr id="26" name="Shape 21"/>
          <p:cNvSpPr/>
          <p:nvPr/>
        </p:nvSpPr>
        <p:spPr>
          <a:xfrm>
            <a:off x="4800600" y="1591056"/>
            <a:ext cx="457200" cy="457200"/>
          </a:xfrm>
          <a:prstGeom prst="ellipse">
            <a:avLst/>
          </a:prstGeom>
          <a:solidFill>
            <a:srgbClr val="B83B2E">
              <a:alpha val="22000"/>
            </a:srgbClr>
          </a:solidFill>
          <a:ln/>
        </p:spPr>
      </p:sp>
      <p:pic>
        <p:nvPicPr>
          <p:cNvPr id="27" name="Image 2" descr="preencoded.png">    </p:cNvPr>
          <p:cNvPicPr>
            <a:picLocks noChangeAspect="1"/>
          </p:cNvPicPr>
          <p:nvPr/>
        </p:nvPicPr>
        <p:blipFill>
          <a:blip r:embed="rId3"/>
          <a:stretch>
            <a:fillRect/>
          </a:stretch>
        </p:blipFill>
        <p:spPr>
          <a:xfrm>
            <a:off x="4914900" y="1705356"/>
            <a:ext cx="228600" cy="228600"/>
          </a:xfrm>
          <a:prstGeom prst="rect">
            <a:avLst/>
          </a:prstGeom>
        </p:spPr>
      </p:pic>
      <p:sp>
        <p:nvSpPr>
          <p:cNvPr id="28" name="Text 22"/>
          <p:cNvSpPr txBox="1"/>
          <p:nvPr/>
        </p:nvSpPr>
        <p:spPr>
          <a:xfrm>
            <a:off x="5394960" y="1444752"/>
            <a:ext cx="256032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Fabricated references</a:t>
            </a:r>
            <a:endParaRPr lang="en-US" sz="1350" dirty="0"/>
          </a:p>
        </p:txBody>
      </p:sp>
      <p:pic>
        <p:nvPicPr>
          <p:cNvPr id="29" name="Image 3" descr="preencoded.png">    </p:cNvPr>
          <p:cNvPicPr>
            <a:picLocks noChangeAspect="1"/>
          </p:cNvPicPr>
          <p:nvPr/>
        </p:nvPicPr>
        <p:blipFill>
          <a:blip r:embed="rId4"/>
          <a:stretch>
            <a:fillRect/>
          </a:stretch>
        </p:blipFill>
        <p:spPr>
          <a:xfrm>
            <a:off x="5394960" y="1801368"/>
            <a:ext cx="146304" cy="146304"/>
          </a:xfrm>
          <a:prstGeom prst="rect">
            <a:avLst/>
          </a:prstGeom>
        </p:spPr>
      </p:pic>
      <p:sp>
        <p:nvSpPr>
          <p:cNvPr id="30" name="Text 23"/>
          <p:cNvSpPr txBox="1"/>
          <p:nvPr/>
        </p:nvSpPr>
        <p:spPr>
          <a:xfrm>
            <a:off x="5623560" y="1728216"/>
            <a:ext cx="2926080" cy="411480"/>
          </a:xfrm>
          <a:prstGeom prst="rect">
            <a:avLst/>
          </a:prstGeom>
          <a:noFill/>
          <a:ln/>
        </p:spPr>
        <p:txBody>
          <a:bodyPr wrap="square" lIns="0" tIns="0" rIns="0" bIns="0" rtlCol="0" anchor="ctr"/>
          <a:lstStyle/>
          <a:p>
            <a:pPr indent="0" marL="0">
              <a:buNone/>
            </a:pPr>
            <a:r>
              <a:rPr lang="en-US" sz="1050" dirty="0">
                <a:solidFill>
                  <a:srgbClr val="5E6964"/>
                </a:solidFill>
                <a:latin typeface="Calibri" pitchFamily="34" charset="0"/>
                <a:ea typeface="Calibri" pitchFamily="34" charset="-122"/>
                <a:cs typeface="Calibri" pitchFamily="34" charset="-120"/>
              </a:rPr>
              <a:t>Restrict to supplied documents; open every citation</a:t>
            </a:r>
            <a:endParaRPr lang="en-US" sz="1050" dirty="0"/>
          </a:p>
        </p:txBody>
      </p:sp>
      <p:sp>
        <p:nvSpPr>
          <p:cNvPr id="31" name="Shape 24"/>
          <p:cNvSpPr/>
          <p:nvPr/>
        </p:nvSpPr>
        <p:spPr>
          <a:xfrm>
            <a:off x="8046720" y="1444752"/>
            <a:ext cx="502920" cy="201168"/>
          </a:xfrm>
          <a:prstGeom prst="roundRect">
            <a:avLst>
              <a:gd name="adj" fmla="val 50000"/>
            </a:avLst>
          </a:prstGeom>
          <a:solidFill>
            <a:srgbClr val="0E7C86">
              <a:alpha val="15000"/>
            </a:srgbClr>
          </a:solidFill>
          <a:ln w="9525">
            <a:solidFill>
              <a:srgbClr val="0E7C86"/>
            </a:solidFill>
            <a:prstDash val="solid"/>
          </a:ln>
        </p:spPr>
      </p:sp>
      <p:sp>
        <p:nvSpPr>
          <p:cNvPr id="32" name="Text 25"/>
          <p:cNvSpPr txBox="1"/>
          <p:nvPr/>
        </p:nvSpPr>
        <p:spPr>
          <a:xfrm>
            <a:off x="8046720" y="1444752"/>
            <a:ext cx="502920" cy="20116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F</a:t>
            </a:r>
            <a:endParaRPr lang="en-US" sz="850" dirty="0"/>
          </a:p>
        </p:txBody>
      </p:sp>
      <p:sp>
        <p:nvSpPr>
          <p:cNvPr id="33" name="Shape 26"/>
          <p:cNvSpPr/>
          <p:nvPr/>
        </p:nvSpPr>
        <p:spPr>
          <a:xfrm>
            <a:off x="457200" y="2441448"/>
            <a:ext cx="4023360" cy="987552"/>
          </a:xfrm>
          <a:prstGeom prst="roundRect">
            <a:avLst>
              <a:gd name="adj" fmla="val 7407"/>
            </a:avLst>
          </a:prstGeom>
          <a:solidFill>
            <a:srgbClr val="F4F7F5"/>
          </a:solidFill>
          <a:ln w="9525">
            <a:solidFill>
              <a:srgbClr val="D5DED9"/>
            </a:solidFill>
            <a:prstDash val="solid"/>
          </a:ln>
        </p:spPr>
      </p:sp>
      <p:sp>
        <p:nvSpPr>
          <p:cNvPr id="34" name="Shape 27"/>
          <p:cNvSpPr/>
          <p:nvPr/>
        </p:nvSpPr>
        <p:spPr>
          <a:xfrm>
            <a:off x="594360" y="2706624"/>
            <a:ext cx="457200" cy="457200"/>
          </a:xfrm>
          <a:prstGeom prst="ellipse">
            <a:avLst/>
          </a:prstGeom>
          <a:solidFill>
            <a:srgbClr val="B83B2E">
              <a:alpha val="22000"/>
            </a:srgbClr>
          </a:solidFill>
          <a:ln/>
        </p:spPr>
      </p:sp>
      <p:pic>
        <p:nvPicPr>
          <p:cNvPr id="35" name="Image 4" descr="preencoded.png">    </p:cNvPr>
          <p:cNvPicPr>
            <a:picLocks noChangeAspect="1"/>
          </p:cNvPicPr>
          <p:nvPr/>
        </p:nvPicPr>
        <p:blipFill>
          <a:blip r:embed="rId5"/>
          <a:stretch>
            <a:fillRect/>
          </a:stretch>
        </p:blipFill>
        <p:spPr>
          <a:xfrm>
            <a:off x="708660" y="2820924"/>
            <a:ext cx="228600" cy="228600"/>
          </a:xfrm>
          <a:prstGeom prst="rect">
            <a:avLst/>
          </a:prstGeom>
        </p:spPr>
      </p:pic>
      <p:sp>
        <p:nvSpPr>
          <p:cNvPr id="36" name="Text 28"/>
          <p:cNvSpPr txBox="1"/>
          <p:nvPr/>
        </p:nvSpPr>
        <p:spPr>
          <a:xfrm>
            <a:off x="1188720" y="2560320"/>
            <a:ext cx="256032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Code runs but is wrong</a:t>
            </a:r>
            <a:endParaRPr lang="en-US" sz="1350" dirty="0"/>
          </a:p>
        </p:txBody>
      </p:sp>
      <p:pic>
        <p:nvPicPr>
          <p:cNvPr id="37" name="Image 5" descr="preencoded.png">    </p:cNvPr>
          <p:cNvPicPr>
            <a:picLocks noChangeAspect="1"/>
          </p:cNvPicPr>
          <p:nvPr/>
        </p:nvPicPr>
        <p:blipFill>
          <a:blip r:embed="rId6"/>
          <a:stretch>
            <a:fillRect/>
          </a:stretch>
        </p:blipFill>
        <p:spPr>
          <a:xfrm>
            <a:off x="1188720" y="2916936"/>
            <a:ext cx="146304" cy="146304"/>
          </a:xfrm>
          <a:prstGeom prst="rect">
            <a:avLst/>
          </a:prstGeom>
        </p:spPr>
      </p:pic>
      <p:sp>
        <p:nvSpPr>
          <p:cNvPr id="38" name="Text 29"/>
          <p:cNvSpPr txBox="1"/>
          <p:nvPr/>
        </p:nvSpPr>
        <p:spPr>
          <a:xfrm>
            <a:off x="1417320" y="2843784"/>
            <a:ext cx="2926080" cy="411480"/>
          </a:xfrm>
          <a:prstGeom prst="rect">
            <a:avLst/>
          </a:prstGeom>
          <a:noFill/>
          <a:ln/>
        </p:spPr>
        <p:txBody>
          <a:bodyPr wrap="square" lIns="0" tIns="0" rIns="0" bIns="0" rtlCol="0" anchor="ctr"/>
          <a:lstStyle/>
          <a:p>
            <a:pPr indent="0" marL="0">
              <a:buNone/>
            </a:pPr>
            <a:r>
              <a:rPr lang="en-US" sz="1050" dirty="0">
                <a:solidFill>
                  <a:srgbClr val="5E6964"/>
                </a:solidFill>
                <a:latin typeface="Calibri" pitchFamily="34" charset="0"/>
                <a:ea typeface="Calibri" pitchFamily="34" charset="-122"/>
                <a:cs typeface="Calibri" pitchFamily="34" charset="-120"/>
              </a:rPr>
              <a:t>Unit tests with known answers before use</a:t>
            </a:r>
            <a:endParaRPr lang="en-US" sz="1050" dirty="0"/>
          </a:p>
        </p:txBody>
      </p:sp>
      <p:sp>
        <p:nvSpPr>
          <p:cNvPr id="39" name="Shape 30"/>
          <p:cNvSpPr/>
          <p:nvPr/>
        </p:nvSpPr>
        <p:spPr>
          <a:xfrm>
            <a:off x="3840480" y="2560320"/>
            <a:ext cx="502920" cy="201168"/>
          </a:xfrm>
          <a:prstGeom prst="roundRect">
            <a:avLst>
              <a:gd name="adj" fmla="val 50000"/>
            </a:avLst>
          </a:prstGeom>
          <a:solidFill>
            <a:srgbClr val="0E7C86">
              <a:alpha val="15000"/>
            </a:srgbClr>
          </a:solidFill>
          <a:ln w="9525">
            <a:solidFill>
              <a:srgbClr val="0E7C86"/>
            </a:solidFill>
            <a:prstDash val="solid"/>
          </a:ln>
        </p:spPr>
      </p:sp>
      <p:sp>
        <p:nvSpPr>
          <p:cNvPr id="40" name="Text 31"/>
          <p:cNvSpPr txBox="1"/>
          <p:nvPr/>
        </p:nvSpPr>
        <p:spPr>
          <a:xfrm>
            <a:off x="3840480" y="2560320"/>
            <a:ext cx="502920" cy="20116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A</a:t>
            </a:r>
            <a:endParaRPr lang="en-US" sz="850" dirty="0"/>
          </a:p>
        </p:txBody>
      </p:sp>
      <p:sp>
        <p:nvSpPr>
          <p:cNvPr id="41" name="Shape 32"/>
          <p:cNvSpPr/>
          <p:nvPr/>
        </p:nvSpPr>
        <p:spPr>
          <a:xfrm>
            <a:off x="4663440" y="2441448"/>
            <a:ext cx="4023360" cy="987552"/>
          </a:xfrm>
          <a:prstGeom prst="roundRect">
            <a:avLst>
              <a:gd name="adj" fmla="val 7407"/>
            </a:avLst>
          </a:prstGeom>
          <a:solidFill>
            <a:srgbClr val="F4F7F5"/>
          </a:solidFill>
          <a:ln w="9525">
            <a:solidFill>
              <a:srgbClr val="D5DED9"/>
            </a:solidFill>
            <a:prstDash val="solid"/>
          </a:ln>
        </p:spPr>
      </p:sp>
      <p:sp>
        <p:nvSpPr>
          <p:cNvPr id="42" name="Shape 33"/>
          <p:cNvSpPr/>
          <p:nvPr/>
        </p:nvSpPr>
        <p:spPr>
          <a:xfrm>
            <a:off x="4800600" y="2706624"/>
            <a:ext cx="457200" cy="457200"/>
          </a:xfrm>
          <a:prstGeom prst="ellipse">
            <a:avLst/>
          </a:prstGeom>
          <a:solidFill>
            <a:srgbClr val="B83B2E">
              <a:alpha val="22000"/>
            </a:srgbClr>
          </a:solidFill>
          <a:ln/>
        </p:spPr>
      </p:sp>
      <p:pic>
        <p:nvPicPr>
          <p:cNvPr id="43" name="Image 6" descr="preencoded.png">    </p:cNvPr>
          <p:cNvPicPr>
            <a:picLocks noChangeAspect="1"/>
          </p:cNvPicPr>
          <p:nvPr/>
        </p:nvPicPr>
        <p:blipFill>
          <a:blip r:embed="rId7"/>
          <a:stretch>
            <a:fillRect/>
          </a:stretch>
        </p:blipFill>
        <p:spPr>
          <a:xfrm>
            <a:off x="4914900" y="2820924"/>
            <a:ext cx="228600" cy="228600"/>
          </a:xfrm>
          <a:prstGeom prst="rect">
            <a:avLst/>
          </a:prstGeom>
        </p:spPr>
      </p:pic>
      <p:sp>
        <p:nvSpPr>
          <p:cNvPr id="44" name="Text 34"/>
          <p:cNvSpPr txBox="1"/>
          <p:nvPr/>
        </p:nvSpPr>
        <p:spPr>
          <a:xfrm>
            <a:off x="5394960" y="2560320"/>
            <a:ext cx="256032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Misleading charts</a:t>
            </a:r>
            <a:endParaRPr lang="en-US" sz="1350" dirty="0"/>
          </a:p>
        </p:txBody>
      </p:sp>
      <p:pic>
        <p:nvPicPr>
          <p:cNvPr id="45" name="Image 7" descr="preencoded.png">    </p:cNvPr>
          <p:cNvPicPr>
            <a:picLocks noChangeAspect="1"/>
          </p:cNvPicPr>
          <p:nvPr/>
        </p:nvPicPr>
        <p:blipFill>
          <a:blip r:embed="rId8"/>
          <a:stretch>
            <a:fillRect/>
          </a:stretch>
        </p:blipFill>
        <p:spPr>
          <a:xfrm>
            <a:off x="5394960" y="2916936"/>
            <a:ext cx="146304" cy="146304"/>
          </a:xfrm>
          <a:prstGeom prst="rect">
            <a:avLst/>
          </a:prstGeom>
        </p:spPr>
      </p:pic>
      <p:sp>
        <p:nvSpPr>
          <p:cNvPr id="46" name="Text 35"/>
          <p:cNvSpPr txBox="1"/>
          <p:nvPr/>
        </p:nvSpPr>
        <p:spPr>
          <a:xfrm>
            <a:off x="5623560" y="2843784"/>
            <a:ext cx="2926080" cy="411480"/>
          </a:xfrm>
          <a:prstGeom prst="rect">
            <a:avLst/>
          </a:prstGeom>
          <a:noFill/>
          <a:ln/>
        </p:spPr>
        <p:txBody>
          <a:bodyPr wrap="square" lIns="0" tIns="0" rIns="0" bIns="0" rtlCol="0" anchor="ctr"/>
          <a:lstStyle/>
          <a:p>
            <a:pPr indent="0" marL="0">
              <a:buNone/>
            </a:pPr>
            <a:r>
              <a:rPr lang="en-US" sz="1050" dirty="0">
                <a:solidFill>
                  <a:srgbClr val="5E6964"/>
                </a:solidFill>
                <a:latin typeface="Calibri" pitchFamily="34" charset="0"/>
                <a:ea typeface="Calibri" pitchFamily="34" charset="-122"/>
                <a:cs typeface="Calibri" pitchFamily="34" charset="-120"/>
              </a:rPr>
              <a:t>Zero baseline for bars; labelled axes; checklist</a:t>
            </a:r>
            <a:endParaRPr lang="en-US" sz="1050" dirty="0"/>
          </a:p>
        </p:txBody>
      </p:sp>
      <p:sp>
        <p:nvSpPr>
          <p:cNvPr id="47" name="Shape 36"/>
          <p:cNvSpPr/>
          <p:nvPr/>
        </p:nvSpPr>
        <p:spPr>
          <a:xfrm>
            <a:off x="8046720" y="2560320"/>
            <a:ext cx="502920" cy="201168"/>
          </a:xfrm>
          <a:prstGeom prst="roundRect">
            <a:avLst>
              <a:gd name="adj" fmla="val 50000"/>
            </a:avLst>
          </a:prstGeom>
          <a:solidFill>
            <a:srgbClr val="0E7C86">
              <a:alpha val="15000"/>
            </a:srgbClr>
          </a:solidFill>
          <a:ln w="9525">
            <a:solidFill>
              <a:srgbClr val="0E7C86"/>
            </a:solidFill>
            <a:prstDash val="solid"/>
          </a:ln>
        </p:spPr>
      </p:sp>
      <p:sp>
        <p:nvSpPr>
          <p:cNvPr id="48" name="Text 37"/>
          <p:cNvSpPr txBox="1"/>
          <p:nvPr/>
        </p:nvSpPr>
        <p:spPr>
          <a:xfrm>
            <a:off x="8046720" y="2560320"/>
            <a:ext cx="502920" cy="20116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D</a:t>
            </a:r>
            <a:endParaRPr lang="en-US" sz="850" dirty="0"/>
          </a:p>
        </p:txBody>
      </p:sp>
      <p:sp>
        <p:nvSpPr>
          <p:cNvPr id="49" name="Shape 38"/>
          <p:cNvSpPr/>
          <p:nvPr/>
        </p:nvSpPr>
        <p:spPr>
          <a:xfrm>
            <a:off x="457200" y="3557016"/>
            <a:ext cx="4023360" cy="987552"/>
          </a:xfrm>
          <a:prstGeom prst="roundRect">
            <a:avLst>
              <a:gd name="adj" fmla="val 7407"/>
            </a:avLst>
          </a:prstGeom>
          <a:solidFill>
            <a:srgbClr val="F4F7F5"/>
          </a:solidFill>
          <a:ln w="9525">
            <a:solidFill>
              <a:srgbClr val="D5DED9"/>
            </a:solidFill>
            <a:prstDash val="solid"/>
          </a:ln>
        </p:spPr>
      </p:sp>
      <p:sp>
        <p:nvSpPr>
          <p:cNvPr id="50" name="Shape 39"/>
          <p:cNvSpPr/>
          <p:nvPr/>
        </p:nvSpPr>
        <p:spPr>
          <a:xfrm>
            <a:off x="594360" y="3822192"/>
            <a:ext cx="457200" cy="457200"/>
          </a:xfrm>
          <a:prstGeom prst="ellipse">
            <a:avLst/>
          </a:prstGeom>
          <a:solidFill>
            <a:srgbClr val="B83B2E">
              <a:alpha val="22000"/>
            </a:srgbClr>
          </a:solidFill>
          <a:ln/>
        </p:spPr>
      </p:sp>
      <p:pic>
        <p:nvPicPr>
          <p:cNvPr id="51" name="Image 8" descr="preencoded.png">    </p:cNvPr>
          <p:cNvPicPr>
            <a:picLocks noChangeAspect="1"/>
          </p:cNvPicPr>
          <p:nvPr/>
        </p:nvPicPr>
        <p:blipFill>
          <a:blip r:embed="rId9"/>
          <a:stretch>
            <a:fillRect/>
          </a:stretch>
        </p:blipFill>
        <p:spPr>
          <a:xfrm>
            <a:off x="708660" y="3936492"/>
            <a:ext cx="228600" cy="228600"/>
          </a:xfrm>
          <a:prstGeom prst="rect">
            <a:avLst/>
          </a:prstGeom>
        </p:spPr>
      </p:pic>
      <p:sp>
        <p:nvSpPr>
          <p:cNvPr id="52" name="Text 40"/>
          <p:cNvSpPr txBox="1"/>
          <p:nvPr/>
        </p:nvSpPr>
        <p:spPr>
          <a:xfrm>
            <a:off x="1188720" y="3675888"/>
            <a:ext cx="256032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Brand &amp; IP risks</a:t>
            </a:r>
            <a:endParaRPr lang="en-US" sz="1350" dirty="0"/>
          </a:p>
        </p:txBody>
      </p:sp>
      <p:pic>
        <p:nvPicPr>
          <p:cNvPr id="53" name="Image 9" descr="preencoded.png">    </p:cNvPr>
          <p:cNvPicPr>
            <a:picLocks noChangeAspect="1"/>
          </p:cNvPicPr>
          <p:nvPr/>
        </p:nvPicPr>
        <p:blipFill>
          <a:blip r:embed="rId10"/>
          <a:stretch>
            <a:fillRect/>
          </a:stretch>
        </p:blipFill>
        <p:spPr>
          <a:xfrm>
            <a:off x="1188720" y="4032504"/>
            <a:ext cx="146304" cy="146304"/>
          </a:xfrm>
          <a:prstGeom prst="rect">
            <a:avLst/>
          </a:prstGeom>
        </p:spPr>
      </p:pic>
      <p:sp>
        <p:nvSpPr>
          <p:cNvPr id="54" name="Text 41"/>
          <p:cNvSpPr txBox="1"/>
          <p:nvPr/>
        </p:nvSpPr>
        <p:spPr>
          <a:xfrm>
            <a:off x="1417320" y="3959352"/>
            <a:ext cx="2926080" cy="411480"/>
          </a:xfrm>
          <a:prstGeom prst="rect">
            <a:avLst/>
          </a:prstGeom>
          <a:noFill/>
          <a:ln/>
        </p:spPr>
        <p:txBody>
          <a:bodyPr wrap="square" lIns="0" tIns="0" rIns="0" bIns="0" rtlCol="0" anchor="ctr"/>
          <a:lstStyle/>
          <a:p>
            <a:pPr indent="0" marL="0">
              <a:buNone/>
            </a:pPr>
            <a:r>
              <a:rPr lang="en-US" sz="1050" dirty="0">
                <a:solidFill>
                  <a:srgbClr val="5E6964"/>
                </a:solidFill>
                <a:latin typeface="Calibri" pitchFamily="34" charset="0"/>
                <a:ea typeface="Calibri" pitchFamily="34" charset="-122"/>
                <a:cs typeface="Calibri" pitchFamily="34" charset="-120"/>
              </a:rPr>
              <a:t>Concepts only; no emblems or third-party marks</a:t>
            </a:r>
            <a:endParaRPr lang="en-US" sz="1050" dirty="0"/>
          </a:p>
        </p:txBody>
      </p:sp>
      <p:sp>
        <p:nvSpPr>
          <p:cNvPr id="55" name="Shape 42"/>
          <p:cNvSpPr/>
          <p:nvPr/>
        </p:nvSpPr>
        <p:spPr>
          <a:xfrm>
            <a:off x="3840480" y="3675888"/>
            <a:ext cx="502920" cy="201168"/>
          </a:xfrm>
          <a:prstGeom prst="roundRect">
            <a:avLst>
              <a:gd name="adj" fmla="val 50000"/>
            </a:avLst>
          </a:prstGeom>
          <a:solidFill>
            <a:srgbClr val="0E7C86">
              <a:alpha val="15000"/>
            </a:srgbClr>
          </a:solidFill>
          <a:ln w="9525">
            <a:solidFill>
              <a:srgbClr val="0E7C86"/>
            </a:solidFill>
            <a:prstDash val="solid"/>
          </a:ln>
        </p:spPr>
      </p:sp>
      <p:sp>
        <p:nvSpPr>
          <p:cNvPr id="56" name="Text 43"/>
          <p:cNvSpPr txBox="1"/>
          <p:nvPr/>
        </p:nvSpPr>
        <p:spPr>
          <a:xfrm>
            <a:off x="3840480" y="3675888"/>
            <a:ext cx="502920" cy="20116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E</a:t>
            </a:r>
            <a:endParaRPr lang="en-US" sz="850" dirty="0"/>
          </a:p>
        </p:txBody>
      </p:sp>
      <p:sp>
        <p:nvSpPr>
          <p:cNvPr id="57" name="Shape 44"/>
          <p:cNvSpPr/>
          <p:nvPr/>
        </p:nvSpPr>
        <p:spPr>
          <a:xfrm>
            <a:off x="4663440" y="3557016"/>
            <a:ext cx="4023360" cy="987552"/>
          </a:xfrm>
          <a:prstGeom prst="roundRect">
            <a:avLst>
              <a:gd name="adj" fmla="val 7407"/>
            </a:avLst>
          </a:prstGeom>
          <a:solidFill>
            <a:srgbClr val="F4F7F5"/>
          </a:solidFill>
          <a:ln w="9525">
            <a:solidFill>
              <a:srgbClr val="D5DED9"/>
            </a:solidFill>
            <a:prstDash val="solid"/>
          </a:ln>
        </p:spPr>
      </p:sp>
      <p:sp>
        <p:nvSpPr>
          <p:cNvPr id="58" name="Shape 45"/>
          <p:cNvSpPr/>
          <p:nvPr/>
        </p:nvSpPr>
        <p:spPr>
          <a:xfrm>
            <a:off x="4800600" y="3822192"/>
            <a:ext cx="457200" cy="457200"/>
          </a:xfrm>
          <a:prstGeom prst="ellipse">
            <a:avLst/>
          </a:prstGeom>
          <a:solidFill>
            <a:srgbClr val="B83B2E">
              <a:alpha val="22000"/>
            </a:srgbClr>
          </a:solidFill>
          <a:ln/>
        </p:spPr>
      </p:sp>
      <p:pic>
        <p:nvPicPr>
          <p:cNvPr id="59" name="Image 10" descr="preencoded.png">    </p:cNvPr>
          <p:cNvPicPr>
            <a:picLocks noChangeAspect="1"/>
          </p:cNvPicPr>
          <p:nvPr/>
        </p:nvPicPr>
        <p:blipFill>
          <a:blip r:embed="rId11"/>
          <a:stretch>
            <a:fillRect/>
          </a:stretch>
        </p:blipFill>
        <p:spPr>
          <a:xfrm>
            <a:off x="4914900" y="3936492"/>
            <a:ext cx="228600" cy="228600"/>
          </a:xfrm>
          <a:prstGeom prst="rect">
            <a:avLst/>
          </a:prstGeom>
        </p:spPr>
      </p:pic>
      <p:sp>
        <p:nvSpPr>
          <p:cNvPr id="60" name="Text 46"/>
          <p:cNvSpPr txBox="1"/>
          <p:nvPr/>
        </p:nvSpPr>
        <p:spPr>
          <a:xfrm>
            <a:off x="5394960" y="3675888"/>
            <a:ext cx="2560320" cy="256032"/>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Over-trusted summaries</a:t>
            </a:r>
            <a:endParaRPr lang="en-US" sz="1350" dirty="0"/>
          </a:p>
        </p:txBody>
      </p:sp>
      <p:pic>
        <p:nvPicPr>
          <p:cNvPr id="61" name="Image 11" descr="preencoded.png">    </p:cNvPr>
          <p:cNvPicPr>
            <a:picLocks noChangeAspect="1"/>
          </p:cNvPicPr>
          <p:nvPr/>
        </p:nvPicPr>
        <p:blipFill>
          <a:blip r:embed="rId12"/>
          <a:stretch>
            <a:fillRect/>
          </a:stretch>
        </p:blipFill>
        <p:spPr>
          <a:xfrm>
            <a:off x="5394960" y="4032504"/>
            <a:ext cx="146304" cy="146304"/>
          </a:xfrm>
          <a:prstGeom prst="rect">
            <a:avLst/>
          </a:prstGeom>
        </p:spPr>
      </p:pic>
      <p:sp>
        <p:nvSpPr>
          <p:cNvPr id="62" name="Text 47"/>
          <p:cNvSpPr txBox="1"/>
          <p:nvPr/>
        </p:nvSpPr>
        <p:spPr>
          <a:xfrm>
            <a:off x="5623560" y="3959352"/>
            <a:ext cx="2926080" cy="411480"/>
          </a:xfrm>
          <a:prstGeom prst="rect">
            <a:avLst/>
          </a:prstGeom>
          <a:noFill/>
          <a:ln/>
        </p:spPr>
        <p:txBody>
          <a:bodyPr wrap="square" lIns="0" tIns="0" rIns="0" bIns="0" rtlCol="0" anchor="ctr"/>
          <a:lstStyle/>
          <a:p>
            <a:pPr indent="0" marL="0">
              <a:buNone/>
            </a:pPr>
            <a:r>
              <a:rPr lang="en-US" sz="1050" dirty="0">
                <a:solidFill>
                  <a:srgbClr val="5E6964"/>
                </a:solidFill>
                <a:latin typeface="Calibri" pitchFamily="34" charset="0"/>
                <a:ea typeface="Calibri" pitchFamily="34" charset="-122"/>
                <a:cs typeface="Calibri" pitchFamily="34" charset="-120"/>
              </a:rPr>
              <a:t>Listen against the source; label AI audio</a:t>
            </a:r>
            <a:endParaRPr lang="en-US" sz="1050" dirty="0"/>
          </a:p>
        </p:txBody>
      </p:sp>
      <p:sp>
        <p:nvSpPr>
          <p:cNvPr id="63" name="Shape 48"/>
          <p:cNvSpPr/>
          <p:nvPr/>
        </p:nvSpPr>
        <p:spPr>
          <a:xfrm>
            <a:off x="8046720" y="3675888"/>
            <a:ext cx="502920" cy="201168"/>
          </a:xfrm>
          <a:prstGeom prst="roundRect">
            <a:avLst>
              <a:gd name="adj" fmla="val 50000"/>
            </a:avLst>
          </a:prstGeom>
          <a:solidFill>
            <a:srgbClr val="0E7C86">
              <a:alpha val="15000"/>
            </a:srgbClr>
          </a:solidFill>
          <a:ln w="9525">
            <a:solidFill>
              <a:srgbClr val="0E7C86"/>
            </a:solidFill>
            <a:prstDash val="solid"/>
          </a:ln>
        </p:spPr>
      </p:sp>
      <p:sp>
        <p:nvSpPr>
          <p:cNvPr id="64" name="Text 49"/>
          <p:cNvSpPr txBox="1"/>
          <p:nvPr/>
        </p:nvSpPr>
        <p:spPr>
          <a:xfrm>
            <a:off x="8046720" y="3675888"/>
            <a:ext cx="502920" cy="20116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F G</a:t>
            </a:r>
            <a:endParaRPr lang="en-US" sz="85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05 · RUN THE LAB</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5" name="Text 3"/>
          <p:cNvSpPr txBox="1"/>
          <p:nvPr/>
        </p:nvSpPr>
        <p:spPr>
          <a:xfrm>
            <a:off x="548640" y="2377440"/>
            <a:ext cx="5303520" cy="10515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Run the lab</a:t>
            </a:r>
            <a:endParaRPr lang="en-US" sz="32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Which two jobs would save your office the most time next month?</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FFFFF">
              <a:alpha val="40000"/>
            </a:srgbClr>
          </a:solidFill>
          <a:ln/>
        </p:spPr>
      </p:sp>
      <p:sp>
        <p:nvSpPr>
          <p:cNvPr id="12" name="Shape 9"/>
          <p:cNvSpPr/>
          <p:nvPr/>
        </p:nvSpPr>
        <p:spPr>
          <a:xfrm>
            <a:off x="8019288" y="329184"/>
            <a:ext cx="82296" cy="82296"/>
          </a:xfrm>
          <a:prstGeom prst="ellipse">
            <a:avLst/>
          </a:prstGeom>
          <a:solidFill>
            <a:srgbClr val="FFFFFF">
              <a:alpha val="40000"/>
            </a:srgbClr>
          </a:solidFill>
          <a:ln/>
        </p:spPr>
      </p:sp>
      <p:sp>
        <p:nvSpPr>
          <p:cNvPr id="13" name="Shape 10"/>
          <p:cNvSpPr/>
          <p:nvPr/>
        </p:nvSpPr>
        <p:spPr>
          <a:xfrm>
            <a:off x="8156448" y="329184"/>
            <a:ext cx="82296" cy="82296"/>
          </a:xfrm>
          <a:prstGeom prst="ellipse">
            <a:avLst/>
          </a:prstGeom>
          <a:solidFill>
            <a:srgbClr val="FFFFFF">
              <a:alpha val="40000"/>
            </a:srgbClr>
          </a:solidFill>
          <a:ln/>
        </p:spPr>
      </p:sp>
      <p:sp>
        <p:nvSpPr>
          <p:cNvPr id="14" name="Shape 11"/>
          <p:cNvSpPr/>
          <p:nvPr/>
        </p:nvSpPr>
        <p:spPr>
          <a:xfrm>
            <a:off x="8293608" y="329184"/>
            <a:ext cx="82296" cy="82296"/>
          </a:xfrm>
          <a:prstGeom prst="ellipse">
            <a:avLst/>
          </a:prstGeom>
          <a:solidFill>
            <a:srgbClr val="FFFFFF">
              <a:alpha val="40000"/>
            </a:srgbClr>
          </a:solidFill>
          <a:ln/>
        </p:spPr>
      </p:sp>
      <p:sp>
        <p:nvSpPr>
          <p:cNvPr id="15" name="Shape 12"/>
          <p:cNvSpPr/>
          <p:nvPr/>
        </p:nvSpPr>
        <p:spPr>
          <a:xfrm>
            <a:off x="8430768" y="329184"/>
            <a:ext cx="82296" cy="82296"/>
          </a:xfrm>
          <a:prstGeom prst="ellipse">
            <a:avLst/>
          </a:prstGeom>
          <a:solidFill>
            <a:srgbClr val="F5C242"/>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RUN THE LAB</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Choose your two stations by office profile</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C4621D"/>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STG17 · One Model, Many Jobs — an LLM Toolkit for Statisticians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Shape 14"/>
          <p:cNvSpPr/>
          <p:nvPr/>
        </p:nvSpPr>
        <p:spPr>
          <a:xfrm>
            <a:off x="457200" y="1325880"/>
            <a:ext cx="2560320" cy="1435608"/>
          </a:xfrm>
          <a:prstGeom prst="roundRect">
            <a:avLst>
              <a:gd name="adj" fmla="val 5096"/>
            </a:avLst>
          </a:prstGeom>
          <a:solidFill>
            <a:srgbClr val="F4F7F5"/>
          </a:solidFill>
          <a:ln w="9525">
            <a:solidFill>
              <a:srgbClr val="D5DED9"/>
            </a:solidFill>
            <a:prstDash val="solid"/>
          </a:ln>
        </p:spPr>
      </p:sp>
      <p:sp>
        <p:nvSpPr>
          <p:cNvPr id="18" name="Shape 15"/>
          <p:cNvSpPr/>
          <p:nvPr/>
        </p:nvSpPr>
        <p:spPr>
          <a:xfrm>
            <a:off x="594360" y="1463040"/>
            <a:ext cx="457200" cy="457200"/>
          </a:xfrm>
          <a:prstGeom prst="ellipse">
            <a:avLst/>
          </a:prstGeom>
          <a:solidFill>
            <a:srgbClr val="C4621D">
              <a:alpha val="22000"/>
            </a:srgbClr>
          </a:solidFill>
          <a:ln/>
        </p:spPr>
      </p:sp>
      <p:pic>
        <p:nvPicPr>
          <p:cNvPr id="19" name="Image 0" descr="preencoded.png">    </p:cNvPr>
          <p:cNvPicPr>
            <a:picLocks noChangeAspect="1"/>
          </p:cNvPicPr>
          <p:nvPr/>
        </p:nvPicPr>
        <p:blipFill>
          <a:blip r:embed="rId1"/>
          <a:stretch>
            <a:fillRect/>
          </a:stretch>
        </p:blipFill>
        <p:spPr>
          <a:xfrm>
            <a:off x="708660" y="1577340"/>
            <a:ext cx="228600" cy="228600"/>
          </a:xfrm>
          <a:prstGeom prst="rect">
            <a:avLst/>
          </a:prstGeom>
        </p:spPr>
      </p:pic>
      <p:sp>
        <p:nvSpPr>
          <p:cNvPr id="20" name="Text 16"/>
          <p:cNvSpPr txBox="1"/>
          <p:nvPr/>
        </p:nvSpPr>
        <p:spPr>
          <a:xfrm>
            <a:off x="1170432" y="1481328"/>
            <a:ext cx="1783080" cy="420624"/>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IT &amp; data processing</a:t>
            </a:r>
            <a:endParaRPr lang="en-US" sz="1300" dirty="0"/>
          </a:p>
        </p:txBody>
      </p:sp>
      <p:sp>
        <p:nvSpPr>
          <p:cNvPr id="21" name="Shape 17"/>
          <p:cNvSpPr/>
          <p:nvPr/>
        </p:nvSpPr>
        <p:spPr>
          <a:xfrm>
            <a:off x="594360" y="2057400"/>
            <a:ext cx="411480" cy="274320"/>
          </a:xfrm>
          <a:prstGeom prst="roundRect">
            <a:avLst>
              <a:gd name="adj" fmla="val 36667"/>
            </a:avLst>
          </a:prstGeom>
          <a:solidFill>
            <a:srgbClr val="0E7C86"/>
          </a:solidFill>
          <a:ln w="9525">
            <a:solidFill>
              <a:srgbClr val="0E7C86"/>
            </a:solidFill>
            <a:prstDash val="solid"/>
          </a:ln>
        </p:spPr>
      </p:sp>
      <p:sp>
        <p:nvSpPr>
          <p:cNvPr id="22" name="Text 18"/>
          <p:cNvSpPr txBox="1"/>
          <p:nvPr/>
        </p:nvSpPr>
        <p:spPr>
          <a:xfrm>
            <a:off x="594360" y="2057400"/>
            <a:ext cx="4114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23" name="Shape 19"/>
          <p:cNvSpPr/>
          <p:nvPr/>
        </p:nvSpPr>
        <p:spPr>
          <a:xfrm>
            <a:off x="1097280" y="2057400"/>
            <a:ext cx="411480" cy="274320"/>
          </a:xfrm>
          <a:prstGeom prst="roundRect">
            <a:avLst>
              <a:gd name="adj" fmla="val 36667"/>
            </a:avLst>
          </a:prstGeom>
          <a:solidFill>
            <a:srgbClr val="0E7C86"/>
          </a:solidFill>
          <a:ln w="9525">
            <a:solidFill>
              <a:srgbClr val="0E7C86"/>
            </a:solidFill>
            <a:prstDash val="solid"/>
          </a:ln>
        </p:spPr>
      </p:sp>
      <p:sp>
        <p:nvSpPr>
          <p:cNvPr id="24" name="Text 20"/>
          <p:cNvSpPr txBox="1"/>
          <p:nvPr/>
        </p:nvSpPr>
        <p:spPr>
          <a:xfrm>
            <a:off x="1097280" y="2057400"/>
            <a:ext cx="4114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a:t>
            </a:r>
            <a:endParaRPr lang="en-US" sz="1100" dirty="0"/>
          </a:p>
        </p:txBody>
      </p:sp>
      <p:sp>
        <p:nvSpPr>
          <p:cNvPr id="25" name="Text 21"/>
          <p:cNvSpPr txBox="1"/>
          <p:nvPr/>
        </p:nvSpPr>
        <p:spPr>
          <a:xfrm>
            <a:off x="1645920" y="2011680"/>
            <a:ext cx="1280160" cy="6583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Automate cleaning scripts; extract tables from scans.</a:t>
            </a:r>
            <a:endParaRPr lang="en-US" sz="950" dirty="0"/>
          </a:p>
        </p:txBody>
      </p:sp>
      <p:sp>
        <p:nvSpPr>
          <p:cNvPr id="26" name="Shape 22"/>
          <p:cNvSpPr/>
          <p:nvPr/>
        </p:nvSpPr>
        <p:spPr>
          <a:xfrm>
            <a:off x="3200400" y="1325880"/>
            <a:ext cx="2560320" cy="1435608"/>
          </a:xfrm>
          <a:prstGeom prst="roundRect">
            <a:avLst>
              <a:gd name="adj" fmla="val 5096"/>
            </a:avLst>
          </a:prstGeom>
          <a:solidFill>
            <a:srgbClr val="F4F7F5"/>
          </a:solidFill>
          <a:ln w="9525">
            <a:solidFill>
              <a:srgbClr val="D5DED9"/>
            </a:solidFill>
            <a:prstDash val="solid"/>
          </a:ln>
        </p:spPr>
      </p:sp>
      <p:sp>
        <p:nvSpPr>
          <p:cNvPr id="27" name="Shape 23"/>
          <p:cNvSpPr/>
          <p:nvPr/>
        </p:nvSpPr>
        <p:spPr>
          <a:xfrm>
            <a:off x="3337560" y="1463040"/>
            <a:ext cx="457200" cy="457200"/>
          </a:xfrm>
          <a:prstGeom prst="ellipse">
            <a:avLst/>
          </a:prstGeom>
          <a:solidFill>
            <a:srgbClr val="C4621D">
              <a:alpha val="22000"/>
            </a:srgbClr>
          </a:solidFill>
          <a:ln/>
        </p:spPr>
      </p:sp>
      <p:pic>
        <p:nvPicPr>
          <p:cNvPr id="28" name="Image 1" descr="preencoded.png">    </p:cNvPr>
          <p:cNvPicPr>
            <a:picLocks noChangeAspect="1"/>
          </p:cNvPicPr>
          <p:nvPr/>
        </p:nvPicPr>
        <p:blipFill>
          <a:blip r:embed="rId2"/>
          <a:stretch>
            <a:fillRect/>
          </a:stretch>
        </p:blipFill>
        <p:spPr>
          <a:xfrm>
            <a:off x="3451860" y="1577340"/>
            <a:ext cx="228600" cy="228600"/>
          </a:xfrm>
          <a:prstGeom prst="rect">
            <a:avLst/>
          </a:prstGeom>
        </p:spPr>
      </p:pic>
      <p:sp>
        <p:nvSpPr>
          <p:cNvPr id="29" name="Text 24"/>
          <p:cNvSpPr txBox="1"/>
          <p:nvPr/>
        </p:nvSpPr>
        <p:spPr>
          <a:xfrm>
            <a:off x="3913632" y="1481328"/>
            <a:ext cx="1783080" cy="420624"/>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Methodology &amp; analysis</a:t>
            </a:r>
            <a:endParaRPr lang="en-US" sz="1300" dirty="0"/>
          </a:p>
        </p:txBody>
      </p:sp>
      <p:sp>
        <p:nvSpPr>
          <p:cNvPr id="30" name="Shape 25"/>
          <p:cNvSpPr/>
          <p:nvPr/>
        </p:nvSpPr>
        <p:spPr>
          <a:xfrm>
            <a:off x="3337560" y="2057400"/>
            <a:ext cx="411480" cy="274320"/>
          </a:xfrm>
          <a:prstGeom prst="roundRect">
            <a:avLst>
              <a:gd name="adj" fmla="val 36667"/>
            </a:avLst>
          </a:prstGeom>
          <a:solidFill>
            <a:srgbClr val="0E7C86"/>
          </a:solidFill>
          <a:ln w="9525">
            <a:solidFill>
              <a:srgbClr val="0E7C86"/>
            </a:solidFill>
            <a:prstDash val="solid"/>
          </a:ln>
        </p:spPr>
      </p:sp>
      <p:sp>
        <p:nvSpPr>
          <p:cNvPr id="31" name="Text 26"/>
          <p:cNvSpPr txBox="1"/>
          <p:nvPr/>
        </p:nvSpPr>
        <p:spPr>
          <a:xfrm>
            <a:off x="3337560" y="2057400"/>
            <a:ext cx="4114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32" name="Shape 27"/>
          <p:cNvSpPr/>
          <p:nvPr/>
        </p:nvSpPr>
        <p:spPr>
          <a:xfrm>
            <a:off x="3840480" y="2057400"/>
            <a:ext cx="411480" cy="274320"/>
          </a:xfrm>
          <a:prstGeom prst="roundRect">
            <a:avLst>
              <a:gd name="adj" fmla="val 36667"/>
            </a:avLst>
          </a:prstGeom>
          <a:solidFill>
            <a:srgbClr val="0E7C86"/>
          </a:solidFill>
          <a:ln w="9525">
            <a:solidFill>
              <a:srgbClr val="0E7C86"/>
            </a:solidFill>
            <a:prstDash val="solid"/>
          </a:ln>
        </p:spPr>
      </p:sp>
      <p:sp>
        <p:nvSpPr>
          <p:cNvPr id="33" name="Text 28"/>
          <p:cNvSpPr txBox="1"/>
          <p:nvPr/>
        </p:nvSpPr>
        <p:spPr>
          <a:xfrm>
            <a:off x="3840480" y="2057400"/>
            <a:ext cx="4114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
            </a:r>
            <a:endParaRPr lang="en-US" sz="1100" dirty="0"/>
          </a:p>
        </p:txBody>
      </p:sp>
      <p:sp>
        <p:nvSpPr>
          <p:cNvPr id="34" name="Text 29"/>
          <p:cNvSpPr txBox="1"/>
          <p:nvPr/>
        </p:nvSpPr>
        <p:spPr>
          <a:xfrm>
            <a:off x="4389120" y="2011680"/>
            <a:ext cx="1280160" cy="6583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Draft notes from verified tables; better charts.</a:t>
            </a:r>
            <a:endParaRPr lang="en-US" sz="950" dirty="0"/>
          </a:p>
        </p:txBody>
      </p:sp>
      <p:sp>
        <p:nvSpPr>
          <p:cNvPr id="35" name="Shape 30"/>
          <p:cNvSpPr/>
          <p:nvPr/>
        </p:nvSpPr>
        <p:spPr>
          <a:xfrm>
            <a:off x="457200" y="2898648"/>
            <a:ext cx="2560320" cy="1435608"/>
          </a:xfrm>
          <a:prstGeom prst="roundRect">
            <a:avLst>
              <a:gd name="adj" fmla="val 5096"/>
            </a:avLst>
          </a:prstGeom>
          <a:solidFill>
            <a:srgbClr val="F4F7F5"/>
          </a:solidFill>
          <a:ln w="9525">
            <a:solidFill>
              <a:srgbClr val="D5DED9"/>
            </a:solidFill>
            <a:prstDash val="solid"/>
          </a:ln>
        </p:spPr>
      </p:sp>
      <p:sp>
        <p:nvSpPr>
          <p:cNvPr id="36" name="Shape 31"/>
          <p:cNvSpPr/>
          <p:nvPr/>
        </p:nvSpPr>
        <p:spPr>
          <a:xfrm>
            <a:off x="594360" y="3035808"/>
            <a:ext cx="457200" cy="457200"/>
          </a:xfrm>
          <a:prstGeom prst="ellipse">
            <a:avLst/>
          </a:prstGeom>
          <a:solidFill>
            <a:srgbClr val="C4621D">
              <a:alpha val="22000"/>
            </a:srgbClr>
          </a:solidFill>
          <a:ln/>
        </p:spPr>
      </p:sp>
      <p:pic>
        <p:nvPicPr>
          <p:cNvPr id="37" name="Image 2" descr="preencoded.png">    </p:cNvPr>
          <p:cNvPicPr>
            <a:picLocks noChangeAspect="1"/>
          </p:cNvPicPr>
          <p:nvPr/>
        </p:nvPicPr>
        <p:blipFill>
          <a:blip r:embed="rId3"/>
          <a:stretch>
            <a:fillRect/>
          </a:stretch>
        </p:blipFill>
        <p:spPr>
          <a:xfrm>
            <a:off x="708660" y="3150108"/>
            <a:ext cx="228600" cy="228600"/>
          </a:xfrm>
          <a:prstGeom prst="rect">
            <a:avLst/>
          </a:prstGeom>
        </p:spPr>
      </p:pic>
      <p:sp>
        <p:nvSpPr>
          <p:cNvPr id="38" name="Text 32"/>
          <p:cNvSpPr txBox="1"/>
          <p:nvPr/>
        </p:nvSpPr>
        <p:spPr>
          <a:xfrm>
            <a:off x="1170432" y="3054096"/>
            <a:ext cx="1783080" cy="420624"/>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Dissemination</a:t>
            </a:r>
            <a:endParaRPr lang="en-US" sz="1300" dirty="0"/>
          </a:p>
        </p:txBody>
      </p:sp>
      <p:sp>
        <p:nvSpPr>
          <p:cNvPr id="39" name="Shape 33"/>
          <p:cNvSpPr/>
          <p:nvPr/>
        </p:nvSpPr>
        <p:spPr>
          <a:xfrm>
            <a:off x="594360" y="3630168"/>
            <a:ext cx="411480" cy="274320"/>
          </a:xfrm>
          <a:prstGeom prst="roundRect">
            <a:avLst>
              <a:gd name="adj" fmla="val 36667"/>
            </a:avLst>
          </a:prstGeom>
          <a:solidFill>
            <a:srgbClr val="0E7C86"/>
          </a:solidFill>
          <a:ln w="9525">
            <a:solidFill>
              <a:srgbClr val="0E7C86"/>
            </a:solidFill>
            <a:prstDash val="solid"/>
          </a:ln>
        </p:spPr>
      </p:sp>
      <p:sp>
        <p:nvSpPr>
          <p:cNvPr id="40" name="Text 34"/>
          <p:cNvSpPr txBox="1"/>
          <p:nvPr/>
        </p:nvSpPr>
        <p:spPr>
          <a:xfrm>
            <a:off x="594360" y="3630168"/>
            <a:ext cx="4114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41" name="Shape 35"/>
          <p:cNvSpPr/>
          <p:nvPr/>
        </p:nvSpPr>
        <p:spPr>
          <a:xfrm>
            <a:off x="1097280" y="3630168"/>
            <a:ext cx="411480" cy="274320"/>
          </a:xfrm>
          <a:prstGeom prst="roundRect">
            <a:avLst>
              <a:gd name="adj" fmla="val 36667"/>
            </a:avLst>
          </a:prstGeom>
          <a:solidFill>
            <a:srgbClr val="0E7C86"/>
          </a:solidFill>
          <a:ln w="9525">
            <a:solidFill>
              <a:srgbClr val="0E7C86"/>
            </a:solidFill>
            <a:prstDash val="solid"/>
          </a:ln>
        </p:spPr>
      </p:sp>
      <p:sp>
        <p:nvSpPr>
          <p:cNvPr id="42" name="Text 36"/>
          <p:cNvSpPr txBox="1"/>
          <p:nvPr/>
        </p:nvSpPr>
        <p:spPr>
          <a:xfrm>
            <a:off x="1097280" y="3630168"/>
            <a:ext cx="4114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t>
            </a:r>
            <a:endParaRPr lang="en-US" sz="1100" dirty="0"/>
          </a:p>
        </p:txBody>
      </p:sp>
      <p:sp>
        <p:nvSpPr>
          <p:cNvPr id="43" name="Text 37"/>
          <p:cNvSpPr txBox="1"/>
          <p:nvPr/>
        </p:nvSpPr>
        <p:spPr>
          <a:xfrm>
            <a:off x="1645920" y="3584448"/>
            <a:ext cx="1280160" cy="6583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Release decks; audio briefings for users.</a:t>
            </a:r>
            <a:endParaRPr lang="en-US" sz="950" dirty="0"/>
          </a:p>
        </p:txBody>
      </p:sp>
      <p:sp>
        <p:nvSpPr>
          <p:cNvPr id="44" name="Shape 38"/>
          <p:cNvSpPr/>
          <p:nvPr/>
        </p:nvSpPr>
        <p:spPr>
          <a:xfrm>
            <a:off x="3200400" y="2898648"/>
            <a:ext cx="2560320" cy="1435608"/>
          </a:xfrm>
          <a:prstGeom prst="roundRect">
            <a:avLst>
              <a:gd name="adj" fmla="val 5096"/>
            </a:avLst>
          </a:prstGeom>
          <a:solidFill>
            <a:srgbClr val="F4F7F5"/>
          </a:solidFill>
          <a:ln w="9525">
            <a:solidFill>
              <a:srgbClr val="D5DED9"/>
            </a:solidFill>
            <a:prstDash val="solid"/>
          </a:ln>
        </p:spPr>
      </p:sp>
      <p:sp>
        <p:nvSpPr>
          <p:cNvPr id="45" name="Shape 39"/>
          <p:cNvSpPr/>
          <p:nvPr/>
        </p:nvSpPr>
        <p:spPr>
          <a:xfrm>
            <a:off x="3337560" y="3035808"/>
            <a:ext cx="457200" cy="457200"/>
          </a:xfrm>
          <a:prstGeom prst="ellipse">
            <a:avLst/>
          </a:prstGeom>
          <a:solidFill>
            <a:srgbClr val="C4621D">
              <a:alpha val="22000"/>
            </a:srgbClr>
          </a:solidFill>
          <a:ln/>
        </p:spPr>
      </p:sp>
      <p:pic>
        <p:nvPicPr>
          <p:cNvPr id="46" name="Image 3" descr="preencoded.png">    </p:cNvPr>
          <p:cNvPicPr>
            <a:picLocks noChangeAspect="1"/>
          </p:cNvPicPr>
          <p:nvPr/>
        </p:nvPicPr>
        <p:blipFill>
          <a:blip r:embed="rId4"/>
          <a:stretch>
            <a:fillRect/>
          </a:stretch>
        </p:blipFill>
        <p:spPr>
          <a:xfrm>
            <a:off x="3451860" y="3150108"/>
            <a:ext cx="228600" cy="228600"/>
          </a:xfrm>
          <a:prstGeom prst="rect">
            <a:avLst/>
          </a:prstGeom>
        </p:spPr>
      </p:pic>
      <p:sp>
        <p:nvSpPr>
          <p:cNvPr id="47" name="Text 40"/>
          <p:cNvSpPr txBox="1"/>
          <p:nvPr/>
        </p:nvSpPr>
        <p:spPr>
          <a:xfrm>
            <a:off x="3913632" y="3054096"/>
            <a:ext cx="1783080" cy="420624"/>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Communication</a:t>
            </a:r>
            <a:endParaRPr lang="en-US" sz="1300" dirty="0"/>
          </a:p>
        </p:txBody>
      </p:sp>
      <p:sp>
        <p:nvSpPr>
          <p:cNvPr id="48" name="Shape 41"/>
          <p:cNvSpPr/>
          <p:nvPr/>
        </p:nvSpPr>
        <p:spPr>
          <a:xfrm>
            <a:off x="3337560" y="3630168"/>
            <a:ext cx="411480" cy="274320"/>
          </a:xfrm>
          <a:prstGeom prst="roundRect">
            <a:avLst>
              <a:gd name="adj" fmla="val 36667"/>
            </a:avLst>
          </a:prstGeom>
          <a:solidFill>
            <a:srgbClr val="0E7C86"/>
          </a:solidFill>
          <a:ln w="9525">
            <a:solidFill>
              <a:srgbClr val="0E7C86"/>
            </a:solidFill>
            <a:prstDash val="solid"/>
          </a:ln>
        </p:spPr>
      </p:sp>
      <p:sp>
        <p:nvSpPr>
          <p:cNvPr id="49" name="Text 42"/>
          <p:cNvSpPr txBox="1"/>
          <p:nvPr/>
        </p:nvSpPr>
        <p:spPr>
          <a:xfrm>
            <a:off x="3337560" y="3630168"/>
            <a:ext cx="4114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a:t>
            </a:r>
            <a:endParaRPr lang="en-US" sz="1100" dirty="0"/>
          </a:p>
        </p:txBody>
      </p:sp>
      <p:sp>
        <p:nvSpPr>
          <p:cNvPr id="50" name="Shape 43"/>
          <p:cNvSpPr/>
          <p:nvPr/>
        </p:nvSpPr>
        <p:spPr>
          <a:xfrm>
            <a:off x="3840480" y="3630168"/>
            <a:ext cx="411480" cy="274320"/>
          </a:xfrm>
          <a:prstGeom prst="roundRect">
            <a:avLst>
              <a:gd name="adj" fmla="val 36667"/>
            </a:avLst>
          </a:prstGeom>
          <a:solidFill>
            <a:srgbClr val="0E7C86"/>
          </a:solidFill>
          <a:ln w="9525">
            <a:solidFill>
              <a:srgbClr val="0E7C86"/>
            </a:solidFill>
            <a:prstDash val="solid"/>
          </a:ln>
        </p:spPr>
      </p:sp>
      <p:sp>
        <p:nvSpPr>
          <p:cNvPr id="51" name="Text 44"/>
          <p:cNvSpPr txBox="1"/>
          <p:nvPr/>
        </p:nvSpPr>
        <p:spPr>
          <a:xfrm>
            <a:off x="3840480" y="3630168"/>
            <a:ext cx="4114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52" name="Text 45"/>
          <p:cNvSpPr txBox="1"/>
          <p:nvPr/>
        </p:nvSpPr>
        <p:spPr>
          <a:xfrm>
            <a:off x="4389120" y="3584448"/>
            <a:ext cx="1280160" cy="6583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Brand concepts; consistent slide design.</a:t>
            </a:r>
            <a:endParaRPr lang="en-US" sz="950" dirty="0"/>
          </a:p>
        </p:txBody>
      </p:sp>
      <p:sp>
        <p:nvSpPr>
          <p:cNvPr id="53" name="Shape 46"/>
          <p:cNvSpPr/>
          <p:nvPr/>
        </p:nvSpPr>
        <p:spPr>
          <a:xfrm>
            <a:off x="6035040" y="1325880"/>
            <a:ext cx="2651760" cy="3017520"/>
          </a:xfrm>
          <a:prstGeom prst="roundRect">
            <a:avLst>
              <a:gd name="adj" fmla="val 2759"/>
            </a:avLst>
          </a:prstGeom>
          <a:solidFill>
            <a:srgbClr val="E8F5EF"/>
          </a:solidFill>
          <a:ln w="15875">
            <a:solidFill>
              <a:srgbClr val="C4621D"/>
            </a:solidFill>
            <a:prstDash val="solid"/>
          </a:ln>
        </p:spPr>
      </p:sp>
      <p:sp>
        <p:nvSpPr>
          <p:cNvPr id="54" name="Text 47"/>
          <p:cNvSpPr txBox="1"/>
          <p:nvPr/>
        </p:nvSpPr>
        <p:spPr>
          <a:xfrm>
            <a:off x="6217920" y="1444752"/>
            <a:ext cx="2286000" cy="201168"/>
          </a:xfrm>
          <a:prstGeom prst="rect">
            <a:avLst/>
          </a:prstGeom>
          <a:noFill/>
          <a:ln/>
        </p:spPr>
        <p:txBody>
          <a:bodyPr wrap="square" lIns="0" tIns="0" rIns="0" bIns="0" rtlCol="0" anchor="t"/>
          <a:lstStyle/>
          <a:p>
            <a:pPr indent="0" marL="0">
              <a:buNone/>
            </a:pPr>
            <a:r>
              <a:rPr lang="en-US" sz="1000" b="1" spc="200" kern="0" dirty="0">
                <a:solidFill>
                  <a:srgbClr val="C4621D"/>
                </a:solidFill>
                <a:latin typeface="Calibri" pitchFamily="34" charset="0"/>
                <a:ea typeface="Calibri" pitchFamily="34" charset="-122"/>
                <a:cs typeface="Calibri" pitchFamily="34" charset="-120"/>
              </a:rPr>
              <a:t>ROTATION PLAN</a:t>
            </a:r>
            <a:endParaRPr lang="en-US" sz="1000" dirty="0"/>
          </a:p>
        </p:txBody>
      </p:sp>
      <p:sp>
        <p:nvSpPr>
          <p:cNvPr id="55" name="Text 48"/>
          <p:cNvSpPr txBox="1"/>
          <p:nvPr/>
        </p:nvSpPr>
        <p:spPr>
          <a:xfrm>
            <a:off x="6217920" y="1783080"/>
            <a:ext cx="548640" cy="228600"/>
          </a:xfrm>
          <a:prstGeom prst="rect">
            <a:avLst/>
          </a:prstGeom>
          <a:noFill/>
          <a:ln/>
        </p:spPr>
        <p:txBody>
          <a:bodyPr wrap="square" lIns="0" tIns="0" rIns="0" bIns="0" rtlCol="0" anchor="t"/>
          <a:lstStyle/>
          <a:p>
            <a:pPr indent="0" marL="0">
              <a:buNone/>
            </a:pPr>
            <a:r>
              <a:rPr lang="en-US" sz="1200" b="1" dirty="0">
                <a:solidFill>
                  <a:srgbClr val="C4621D"/>
                </a:solidFill>
                <a:latin typeface="Calibri" pitchFamily="34" charset="0"/>
                <a:ea typeface="Calibri" pitchFamily="34" charset="-122"/>
                <a:cs typeface="Calibri" pitchFamily="34" charset="-120"/>
              </a:rPr>
              <a:t>15:45</a:t>
            </a:r>
            <a:endParaRPr lang="en-US" sz="1200" dirty="0"/>
          </a:p>
        </p:txBody>
      </p:sp>
      <p:sp>
        <p:nvSpPr>
          <p:cNvPr id="56" name="Text 49"/>
          <p:cNvSpPr txBox="1"/>
          <p:nvPr/>
        </p:nvSpPr>
        <p:spPr>
          <a:xfrm>
            <a:off x="6812280" y="1783080"/>
            <a:ext cx="173736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Briefing &amp; setup</a:t>
            </a:r>
            <a:endParaRPr lang="en-US" sz="1200" dirty="0"/>
          </a:p>
        </p:txBody>
      </p:sp>
      <p:sp>
        <p:nvSpPr>
          <p:cNvPr id="57" name="Text 50"/>
          <p:cNvSpPr txBox="1"/>
          <p:nvPr/>
        </p:nvSpPr>
        <p:spPr>
          <a:xfrm>
            <a:off x="6812280" y="2020824"/>
            <a:ext cx="1783080" cy="2011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Open notebook, add keys</a:t>
            </a:r>
            <a:endParaRPr lang="en-US" sz="950" dirty="0"/>
          </a:p>
        </p:txBody>
      </p:sp>
      <p:sp>
        <p:nvSpPr>
          <p:cNvPr id="58" name="Text 51"/>
          <p:cNvSpPr txBox="1"/>
          <p:nvPr/>
        </p:nvSpPr>
        <p:spPr>
          <a:xfrm>
            <a:off x="6217920" y="2404872"/>
            <a:ext cx="548640" cy="228600"/>
          </a:xfrm>
          <a:prstGeom prst="rect">
            <a:avLst/>
          </a:prstGeom>
          <a:noFill/>
          <a:ln/>
        </p:spPr>
        <p:txBody>
          <a:bodyPr wrap="square" lIns="0" tIns="0" rIns="0" bIns="0" rtlCol="0" anchor="t"/>
          <a:lstStyle/>
          <a:p>
            <a:pPr indent="0" marL="0">
              <a:buNone/>
            </a:pPr>
            <a:r>
              <a:rPr lang="en-US" sz="1200" b="1" dirty="0">
                <a:solidFill>
                  <a:srgbClr val="C4621D"/>
                </a:solidFill>
                <a:latin typeface="Calibri" pitchFamily="34" charset="0"/>
                <a:ea typeface="Calibri" pitchFamily="34" charset="-122"/>
                <a:cs typeface="Calibri" pitchFamily="34" charset="-120"/>
              </a:rPr>
              <a:t>15:55</a:t>
            </a:r>
            <a:endParaRPr lang="en-US" sz="1200" dirty="0"/>
          </a:p>
        </p:txBody>
      </p:sp>
      <p:sp>
        <p:nvSpPr>
          <p:cNvPr id="59" name="Text 52"/>
          <p:cNvSpPr txBox="1"/>
          <p:nvPr/>
        </p:nvSpPr>
        <p:spPr>
          <a:xfrm>
            <a:off x="6812280" y="2404872"/>
            <a:ext cx="173736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Station 1</a:t>
            </a:r>
            <a:endParaRPr lang="en-US" sz="1200" dirty="0"/>
          </a:p>
        </p:txBody>
      </p:sp>
      <p:sp>
        <p:nvSpPr>
          <p:cNvPr id="60" name="Text 53"/>
          <p:cNvSpPr txBox="1"/>
          <p:nvPr/>
        </p:nvSpPr>
        <p:spPr>
          <a:xfrm>
            <a:off x="6812280" y="2642616"/>
            <a:ext cx="1783080" cy="2011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Deliverable saved by 16:13</a:t>
            </a:r>
            <a:endParaRPr lang="en-US" sz="950" dirty="0"/>
          </a:p>
        </p:txBody>
      </p:sp>
      <p:sp>
        <p:nvSpPr>
          <p:cNvPr id="61" name="Text 54"/>
          <p:cNvSpPr txBox="1"/>
          <p:nvPr/>
        </p:nvSpPr>
        <p:spPr>
          <a:xfrm>
            <a:off x="6217920" y="3026664"/>
            <a:ext cx="548640" cy="228600"/>
          </a:xfrm>
          <a:prstGeom prst="rect">
            <a:avLst/>
          </a:prstGeom>
          <a:noFill/>
          <a:ln/>
        </p:spPr>
        <p:txBody>
          <a:bodyPr wrap="square" lIns="0" tIns="0" rIns="0" bIns="0" rtlCol="0" anchor="t"/>
          <a:lstStyle/>
          <a:p>
            <a:pPr indent="0" marL="0">
              <a:buNone/>
            </a:pPr>
            <a:r>
              <a:rPr lang="en-US" sz="1200" b="1" dirty="0">
                <a:solidFill>
                  <a:srgbClr val="C4621D"/>
                </a:solidFill>
                <a:latin typeface="Calibri" pitchFamily="34" charset="0"/>
                <a:ea typeface="Calibri" pitchFamily="34" charset="-122"/>
                <a:cs typeface="Calibri" pitchFamily="34" charset="-120"/>
              </a:rPr>
              <a:t>16:15</a:t>
            </a:r>
            <a:endParaRPr lang="en-US" sz="1200" dirty="0"/>
          </a:p>
        </p:txBody>
      </p:sp>
      <p:sp>
        <p:nvSpPr>
          <p:cNvPr id="62" name="Text 55"/>
          <p:cNvSpPr txBox="1"/>
          <p:nvPr/>
        </p:nvSpPr>
        <p:spPr>
          <a:xfrm>
            <a:off x="6812280" y="3026664"/>
            <a:ext cx="173736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Station 2</a:t>
            </a:r>
            <a:endParaRPr lang="en-US" sz="1200" dirty="0"/>
          </a:p>
        </p:txBody>
      </p:sp>
      <p:sp>
        <p:nvSpPr>
          <p:cNvPr id="63" name="Text 56"/>
          <p:cNvSpPr txBox="1"/>
          <p:nvPr/>
        </p:nvSpPr>
        <p:spPr>
          <a:xfrm>
            <a:off x="6812280" y="3264408"/>
            <a:ext cx="1783080" cy="2011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Deliverable saved by 16:33</a:t>
            </a:r>
            <a:endParaRPr lang="en-US" sz="950" dirty="0"/>
          </a:p>
        </p:txBody>
      </p:sp>
      <p:sp>
        <p:nvSpPr>
          <p:cNvPr id="64" name="Text 57"/>
          <p:cNvSpPr txBox="1"/>
          <p:nvPr/>
        </p:nvSpPr>
        <p:spPr>
          <a:xfrm>
            <a:off x="6217920" y="3648456"/>
            <a:ext cx="548640" cy="228600"/>
          </a:xfrm>
          <a:prstGeom prst="rect">
            <a:avLst/>
          </a:prstGeom>
          <a:noFill/>
          <a:ln/>
        </p:spPr>
        <p:txBody>
          <a:bodyPr wrap="square" lIns="0" tIns="0" rIns="0" bIns="0" rtlCol="0" anchor="t"/>
          <a:lstStyle/>
          <a:p>
            <a:pPr indent="0" marL="0">
              <a:buNone/>
            </a:pPr>
            <a:r>
              <a:rPr lang="en-US" sz="1200" b="1" dirty="0">
                <a:solidFill>
                  <a:srgbClr val="C4621D"/>
                </a:solidFill>
                <a:latin typeface="Calibri" pitchFamily="34" charset="0"/>
                <a:ea typeface="Calibri" pitchFamily="34" charset="-122"/>
                <a:cs typeface="Calibri" pitchFamily="34" charset="-120"/>
              </a:rPr>
              <a:t>16:35</a:t>
            </a:r>
            <a:endParaRPr lang="en-US" sz="1200" dirty="0"/>
          </a:p>
        </p:txBody>
      </p:sp>
      <p:sp>
        <p:nvSpPr>
          <p:cNvPr id="65" name="Text 58"/>
          <p:cNvSpPr txBox="1"/>
          <p:nvPr/>
        </p:nvSpPr>
        <p:spPr>
          <a:xfrm>
            <a:off x="6812280" y="3648456"/>
            <a:ext cx="173736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Gallery walk</a:t>
            </a:r>
            <a:endParaRPr lang="en-US" sz="1200" dirty="0"/>
          </a:p>
        </p:txBody>
      </p:sp>
      <p:sp>
        <p:nvSpPr>
          <p:cNvPr id="66" name="Text 59"/>
          <p:cNvSpPr txBox="1"/>
          <p:nvPr/>
        </p:nvSpPr>
        <p:spPr>
          <a:xfrm>
            <a:off x="6812280" y="3886200"/>
            <a:ext cx="1783080" cy="2011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Show one output; exit ticket</a:t>
            </a:r>
            <a:endParaRPr lang="en-US" sz="9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RUN THE LAB</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Get the notebook running in five steps</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C4621D"/>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STG17 · One Model, Many Jobs — an LLM Toolkit for Statisticians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457200" y="1371600"/>
            <a:ext cx="1517904" cy="2148840"/>
          </a:xfrm>
          <a:prstGeom prst="roundRect">
            <a:avLst>
              <a:gd name="adj" fmla="val 4819"/>
            </a:avLst>
          </a:prstGeom>
          <a:solidFill>
            <a:srgbClr val="F4F7F5"/>
          </a:solidFill>
          <a:ln w="9525">
            <a:solidFill>
              <a:srgbClr val="D5DED9"/>
            </a:solidFill>
            <a:prstDash val="solid"/>
          </a:ln>
        </p:spPr>
      </p:sp>
      <p:sp>
        <p:nvSpPr>
          <p:cNvPr id="18" name="Text 15"/>
          <p:cNvSpPr txBox="1"/>
          <p:nvPr/>
        </p:nvSpPr>
        <p:spPr>
          <a:xfrm>
            <a:off x="594360" y="1463040"/>
            <a:ext cx="731520" cy="457200"/>
          </a:xfrm>
          <a:prstGeom prst="rect">
            <a:avLst/>
          </a:prstGeom>
          <a:noFill/>
          <a:ln/>
        </p:spPr>
        <p:txBody>
          <a:bodyPr wrap="square" lIns="0" tIns="0" rIns="0" bIns="0" rtlCol="0" anchor="t"/>
          <a:lstStyle/>
          <a:p>
            <a:pPr indent="0" marL="0">
              <a:buNone/>
            </a:pPr>
            <a:r>
              <a:rPr lang="en-US" sz="2800" b="1" dirty="0">
                <a:solidFill>
                  <a:srgbClr val="C4621D"/>
                </a:solidFill>
                <a:latin typeface="Calibri" pitchFamily="34" charset="0"/>
                <a:ea typeface="Calibri" pitchFamily="34" charset="-122"/>
                <a:cs typeface="Calibri" pitchFamily="34" charset="-120"/>
              </a:rPr>
              <a:t>01</a:t>
            </a:r>
            <a:endParaRPr lang="en-US" sz="2800" dirty="0"/>
          </a:p>
        </p:txBody>
      </p:sp>
      <p:sp>
        <p:nvSpPr>
          <p:cNvPr id="19" name="Shape 16"/>
          <p:cNvSpPr/>
          <p:nvPr/>
        </p:nvSpPr>
        <p:spPr>
          <a:xfrm>
            <a:off x="1426464" y="1508760"/>
            <a:ext cx="411480" cy="411480"/>
          </a:xfrm>
          <a:prstGeom prst="ellipse">
            <a:avLst/>
          </a:prstGeom>
          <a:solidFill>
            <a:srgbClr val="C4621D">
              <a:alpha val="22000"/>
            </a:srgbClr>
          </a:solidFill>
          <a:ln/>
        </p:spPr>
      </p:sp>
      <p:pic>
        <p:nvPicPr>
          <p:cNvPr id="20" name="Image 0" descr="preencoded.png">    </p:cNvPr>
          <p:cNvPicPr>
            <a:picLocks noChangeAspect="1"/>
          </p:cNvPicPr>
          <p:nvPr/>
        </p:nvPicPr>
        <p:blipFill>
          <a:blip r:embed="rId1"/>
          <a:stretch>
            <a:fillRect/>
          </a:stretch>
        </p:blipFill>
        <p:spPr>
          <a:xfrm>
            <a:off x="1529334" y="1611630"/>
            <a:ext cx="205740" cy="205740"/>
          </a:xfrm>
          <a:prstGeom prst="rect">
            <a:avLst/>
          </a:prstGeom>
        </p:spPr>
      </p:pic>
      <p:sp>
        <p:nvSpPr>
          <p:cNvPr id="21" name="Text 17"/>
          <p:cNvSpPr txBox="1"/>
          <p:nvPr/>
        </p:nvSpPr>
        <p:spPr>
          <a:xfrm>
            <a:off x="594360" y="2011680"/>
            <a:ext cx="1243584" cy="256032"/>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Open in Colab</a:t>
            </a:r>
            <a:endParaRPr lang="en-US" sz="1300" dirty="0"/>
          </a:p>
        </p:txBody>
      </p:sp>
      <p:sp>
        <p:nvSpPr>
          <p:cNvPr id="22" name="Text 18"/>
          <p:cNvSpPr txBox="1"/>
          <p:nvPr/>
        </p:nvSpPr>
        <p:spPr>
          <a:xfrm>
            <a:off x="594360" y="2304288"/>
            <a:ext cx="1243584" cy="11430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Go to Google Colab and use File → Upload notebook.</a:t>
            </a:r>
            <a:endParaRPr lang="en-US" sz="1000" dirty="0"/>
          </a:p>
        </p:txBody>
      </p:sp>
      <p:pic>
        <p:nvPicPr>
          <p:cNvPr id="23" name="Image 1" descr="preencoded.png">    </p:cNvPr>
          <p:cNvPicPr>
            <a:picLocks noChangeAspect="1"/>
          </p:cNvPicPr>
          <p:nvPr/>
        </p:nvPicPr>
        <p:blipFill>
          <a:blip r:embed="rId2"/>
          <a:stretch>
            <a:fillRect/>
          </a:stretch>
        </p:blipFill>
        <p:spPr>
          <a:xfrm>
            <a:off x="1993392" y="2331720"/>
            <a:ext cx="118872" cy="182880"/>
          </a:xfrm>
          <a:prstGeom prst="rect">
            <a:avLst/>
          </a:prstGeom>
        </p:spPr>
      </p:pic>
      <p:sp>
        <p:nvSpPr>
          <p:cNvPr id="24" name="Shape 19"/>
          <p:cNvSpPr/>
          <p:nvPr/>
        </p:nvSpPr>
        <p:spPr>
          <a:xfrm>
            <a:off x="2135124" y="1371600"/>
            <a:ext cx="1517904" cy="2148840"/>
          </a:xfrm>
          <a:prstGeom prst="roundRect">
            <a:avLst>
              <a:gd name="adj" fmla="val 4819"/>
            </a:avLst>
          </a:prstGeom>
          <a:solidFill>
            <a:srgbClr val="F4F7F5"/>
          </a:solidFill>
          <a:ln w="9525">
            <a:solidFill>
              <a:srgbClr val="D5DED9"/>
            </a:solidFill>
            <a:prstDash val="solid"/>
          </a:ln>
        </p:spPr>
      </p:sp>
      <p:sp>
        <p:nvSpPr>
          <p:cNvPr id="25" name="Text 20"/>
          <p:cNvSpPr txBox="1"/>
          <p:nvPr/>
        </p:nvSpPr>
        <p:spPr>
          <a:xfrm>
            <a:off x="2272284" y="1463040"/>
            <a:ext cx="731520" cy="457200"/>
          </a:xfrm>
          <a:prstGeom prst="rect">
            <a:avLst/>
          </a:prstGeom>
          <a:noFill/>
          <a:ln/>
        </p:spPr>
        <p:txBody>
          <a:bodyPr wrap="square" lIns="0" tIns="0" rIns="0" bIns="0" rtlCol="0" anchor="t"/>
          <a:lstStyle/>
          <a:p>
            <a:pPr indent="0" marL="0">
              <a:buNone/>
            </a:pPr>
            <a:r>
              <a:rPr lang="en-US" sz="2800" b="1" dirty="0">
                <a:solidFill>
                  <a:srgbClr val="C4621D"/>
                </a:solidFill>
                <a:latin typeface="Calibri" pitchFamily="34" charset="0"/>
                <a:ea typeface="Calibri" pitchFamily="34" charset="-122"/>
                <a:cs typeface="Calibri" pitchFamily="34" charset="-120"/>
              </a:rPr>
              <a:t>02</a:t>
            </a:r>
            <a:endParaRPr lang="en-US" sz="2800" dirty="0"/>
          </a:p>
        </p:txBody>
      </p:sp>
      <p:sp>
        <p:nvSpPr>
          <p:cNvPr id="26" name="Shape 21"/>
          <p:cNvSpPr/>
          <p:nvPr/>
        </p:nvSpPr>
        <p:spPr>
          <a:xfrm>
            <a:off x="3104388" y="1508760"/>
            <a:ext cx="411480" cy="411480"/>
          </a:xfrm>
          <a:prstGeom prst="ellipse">
            <a:avLst/>
          </a:prstGeom>
          <a:solidFill>
            <a:srgbClr val="C4621D">
              <a:alpha val="22000"/>
            </a:srgbClr>
          </a:solidFill>
          <a:ln/>
        </p:spPr>
      </p:sp>
      <p:pic>
        <p:nvPicPr>
          <p:cNvPr id="27" name="Image 2" descr="preencoded.png">    </p:cNvPr>
          <p:cNvPicPr>
            <a:picLocks noChangeAspect="1"/>
          </p:cNvPicPr>
          <p:nvPr/>
        </p:nvPicPr>
        <p:blipFill>
          <a:blip r:embed="rId3"/>
          <a:stretch>
            <a:fillRect/>
          </a:stretch>
        </p:blipFill>
        <p:spPr>
          <a:xfrm>
            <a:off x="3207258" y="1611630"/>
            <a:ext cx="205740" cy="205740"/>
          </a:xfrm>
          <a:prstGeom prst="rect">
            <a:avLst/>
          </a:prstGeom>
        </p:spPr>
      </p:pic>
      <p:sp>
        <p:nvSpPr>
          <p:cNvPr id="28" name="Text 22"/>
          <p:cNvSpPr txBox="1"/>
          <p:nvPr/>
        </p:nvSpPr>
        <p:spPr>
          <a:xfrm>
            <a:off x="2272284" y="2011680"/>
            <a:ext cx="1243584" cy="256032"/>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Gemini key</a:t>
            </a:r>
            <a:endParaRPr lang="en-US" sz="1300" dirty="0"/>
          </a:p>
        </p:txBody>
      </p:sp>
      <p:sp>
        <p:nvSpPr>
          <p:cNvPr id="29" name="Text 23"/>
          <p:cNvSpPr txBox="1"/>
          <p:nvPr/>
        </p:nvSpPr>
        <p:spPr>
          <a:xfrm>
            <a:off x="2272284" y="2304288"/>
            <a:ext cx="1243584" cy="11430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aistudio.google.com → Get API key. No credit card.</a:t>
            </a:r>
            <a:endParaRPr lang="en-US" sz="1000" dirty="0"/>
          </a:p>
        </p:txBody>
      </p:sp>
      <p:pic>
        <p:nvPicPr>
          <p:cNvPr id="30" name="Image 3" descr="preencoded.png">    </p:cNvPr>
          <p:cNvPicPr>
            <a:picLocks noChangeAspect="1"/>
          </p:cNvPicPr>
          <p:nvPr/>
        </p:nvPicPr>
        <p:blipFill>
          <a:blip r:embed="rId4"/>
          <a:stretch>
            <a:fillRect/>
          </a:stretch>
        </p:blipFill>
        <p:spPr>
          <a:xfrm>
            <a:off x="3671316" y="2331720"/>
            <a:ext cx="118872" cy="182880"/>
          </a:xfrm>
          <a:prstGeom prst="rect">
            <a:avLst/>
          </a:prstGeom>
        </p:spPr>
      </p:pic>
      <p:sp>
        <p:nvSpPr>
          <p:cNvPr id="31" name="Shape 24"/>
          <p:cNvSpPr/>
          <p:nvPr/>
        </p:nvSpPr>
        <p:spPr>
          <a:xfrm>
            <a:off x="3813048" y="1371600"/>
            <a:ext cx="1517904" cy="2148840"/>
          </a:xfrm>
          <a:prstGeom prst="roundRect">
            <a:avLst>
              <a:gd name="adj" fmla="val 4819"/>
            </a:avLst>
          </a:prstGeom>
          <a:solidFill>
            <a:srgbClr val="F4F7F5"/>
          </a:solidFill>
          <a:ln w="9525">
            <a:solidFill>
              <a:srgbClr val="D5DED9"/>
            </a:solidFill>
            <a:prstDash val="solid"/>
          </a:ln>
        </p:spPr>
      </p:sp>
      <p:sp>
        <p:nvSpPr>
          <p:cNvPr id="32" name="Text 25"/>
          <p:cNvSpPr txBox="1"/>
          <p:nvPr/>
        </p:nvSpPr>
        <p:spPr>
          <a:xfrm>
            <a:off x="3950208" y="1463040"/>
            <a:ext cx="731520" cy="457200"/>
          </a:xfrm>
          <a:prstGeom prst="rect">
            <a:avLst/>
          </a:prstGeom>
          <a:noFill/>
          <a:ln/>
        </p:spPr>
        <p:txBody>
          <a:bodyPr wrap="square" lIns="0" tIns="0" rIns="0" bIns="0" rtlCol="0" anchor="t"/>
          <a:lstStyle/>
          <a:p>
            <a:pPr indent="0" marL="0">
              <a:buNone/>
            </a:pPr>
            <a:r>
              <a:rPr lang="en-US" sz="2800" b="1" dirty="0">
                <a:solidFill>
                  <a:srgbClr val="C4621D"/>
                </a:solidFill>
                <a:latin typeface="Calibri" pitchFamily="34" charset="0"/>
                <a:ea typeface="Calibri" pitchFamily="34" charset="-122"/>
                <a:cs typeface="Calibri" pitchFamily="34" charset="-120"/>
              </a:rPr>
              <a:t>03</a:t>
            </a:r>
            <a:endParaRPr lang="en-US" sz="2800" dirty="0"/>
          </a:p>
        </p:txBody>
      </p:sp>
      <p:sp>
        <p:nvSpPr>
          <p:cNvPr id="33" name="Shape 26"/>
          <p:cNvSpPr/>
          <p:nvPr/>
        </p:nvSpPr>
        <p:spPr>
          <a:xfrm>
            <a:off x="4782312" y="1508760"/>
            <a:ext cx="411480" cy="411480"/>
          </a:xfrm>
          <a:prstGeom prst="ellipse">
            <a:avLst/>
          </a:prstGeom>
          <a:solidFill>
            <a:srgbClr val="C4621D">
              <a:alpha val="22000"/>
            </a:srgbClr>
          </a:solidFill>
          <a:ln/>
        </p:spPr>
      </p:sp>
      <p:pic>
        <p:nvPicPr>
          <p:cNvPr id="34" name="Image 4" descr="preencoded.png">    </p:cNvPr>
          <p:cNvPicPr>
            <a:picLocks noChangeAspect="1"/>
          </p:cNvPicPr>
          <p:nvPr/>
        </p:nvPicPr>
        <p:blipFill>
          <a:blip r:embed="rId5"/>
          <a:stretch>
            <a:fillRect/>
          </a:stretch>
        </p:blipFill>
        <p:spPr>
          <a:xfrm>
            <a:off x="4885182" y="1611630"/>
            <a:ext cx="205740" cy="205740"/>
          </a:xfrm>
          <a:prstGeom prst="rect">
            <a:avLst/>
          </a:prstGeom>
        </p:spPr>
      </p:pic>
      <p:sp>
        <p:nvSpPr>
          <p:cNvPr id="35" name="Text 27"/>
          <p:cNvSpPr txBox="1"/>
          <p:nvPr/>
        </p:nvSpPr>
        <p:spPr>
          <a:xfrm>
            <a:off x="3950208" y="2011680"/>
            <a:ext cx="1243584" cy="256032"/>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Groq key</a:t>
            </a:r>
            <a:endParaRPr lang="en-US" sz="1300" dirty="0"/>
          </a:p>
        </p:txBody>
      </p:sp>
      <p:sp>
        <p:nvSpPr>
          <p:cNvPr id="36" name="Text 28"/>
          <p:cNvSpPr txBox="1"/>
          <p:nvPr/>
        </p:nvSpPr>
        <p:spPr>
          <a:xfrm>
            <a:off x="3950208" y="2304288"/>
            <a:ext cx="1243584" cy="11430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console.groq.com → API Keys → Create. No credit card.</a:t>
            </a:r>
            <a:endParaRPr lang="en-US" sz="1000" dirty="0"/>
          </a:p>
        </p:txBody>
      </p:sp>
      <p:pic>
        <p:nvPicPr>
          <p:cNvPr id="37" name="Image 5" descr="preencoded.png">    </p:cNvPr>
          <p:cNvPicPr>
            <a:picLocks noChangeAspect="1"/>
          </p:cNvPicPr>
          <p:nvPr/>
        </p:nvPicPr>
        <p:blipFill>
          <a:blip r:embed="rId6"/>
          <a:stretch>
            <a:fillRect/>
          </a:stretch>
        </p:blipFill>
        <p:spPr>
          <a:xfrm>
            <a:off x="5349240" y="2331720"/>
            <a:ext cx="118872" cy="182880"/>
          </a:xfrm>
          <a:prstGeom prst="rect">
            <a:avLst/>
          </a:prstGeom>
        </p:spPr>
      </p:pic>
      <p:sp>
        <p:nvSpPr>
          <p:cNvPr id="38" name="Shape 29"/>
          <p:cNvSpPr/>
          <p:nvPr/>
        </p:nvSpPr>
        <p:spPr>
          <a:xfrm>
            <a:off x="5490972" y="1371600"/>
            <a:ext cx="1517904" cy="2148840"/>
          </a:xfrm>
          <a:prstGeom prst="roundRect">
            <a:avLst>
              <a:gd name="adj" fmla="val 4819"/>
            </a:avLst>
          </a:prstGeom>
          <a:solidFill>
            <a:srgbClr val="E8F5EF"/>
          </a:solidFill>
          <a:ln w="15875">
            <a:solidFill>
              <a:srgbClr val="00A86A"/>
            </a:solidFill>
            <a:prstDash val="solid"/>
          </a:ln>
        </p:spPr>
      </p:sp>
      <p:sp>
        <p:nvSpPr>
          <p:cNvPr id="39" name="Text 30"/>
          <p:cNvSpPr txBox="1"/>
          <p:nvPr/>
        </p:nvSpPr>
        <p:spPr>
          <a:xfrm>
            <a:off x="5628132" y="1463040"/>
            <a:ext cx="731520" cy="457200"/>
          </a:xfrm>
          <a:prstGeom prst="rect">
            <a:avLst/>
          </a:prstGeom>
          <a:noFill/>
          <a:ln/>
        </p:spPr>
        <p:txBody>
          <a:bodyPr wrap="square" lIns="0" tIns="0" rIns="0" bIns="0" rtlCol="0" anchor="t"/>
          <a:lstStyle/>
          <a:p>
            <a:pPr indent="0" marL="0">
              <a:buNone/>
            </a:pPr>
            <a:r>
              <a:rPr lang="en-US" sz="2800" b="1" dirty="0">
                <a:solidFill>
                  <a:srgbClr val="C4621D"/>
                </a:solidFill>
                <a:latin typeface="Calibri" pitchFamily="34" charset="0"/>
                <a:ea typeface="Calibri" pitchFamily="34" charset="-122"/>
                <a:cs typeface="Calibri" pitchFamily="34" charset="-120"/>
              </a:rPr>
              <a:t>04</a:t>
            </a:r>
            <a:endParaRPr lang="en-US" sz="2800" dirty="0"/>
          </a:p>
        </p:txBody>
      </p:sp>
      <p:sp>
        <p:nvSpPr>
          <p:cNvPr id="40" name="Shape 31"/>
          <p:cNvSpPr/>
          <p:nvPr/>
        </p:nvSpPr>
        <p:spPr>
          <a:xfrm>
            <a:off x="6460236" y="1508760"/>
            <a:ext cx="411480" cy="411480"/>
          </a:xfrm>
          <a:prstGeom prst="ellipse">
            <a:avLst/>
          </a:prstGeom>
          <a:solidFill>
            <a:srgbClr val="C4621D">
              <a:alpha val="22000"/>
            </a:srgbClr>
          </a:solidFill>
          <a:ln/>
        </p:spPr>
      </p:sp>
      <p:pic>
        <p:nvPicPr>
          <p:cNvPr id="41" name="Image 6" descr="preencoded.png">    </p:cNvPr>
          <p:cNvPicPr>
            <a:picLocks noChangeAspect="1"/>
          </p:cNvPicPr>
          <p:nvPr/>
        </p:nvPicPr>
        <p:blipFill>
          <a:blip r:embed="rId7"/>
          <a:stretch>
            <a:fillRect/>
          </a:stretch>
        </p:blipFill>
        <p:spPr>
          <a:xfrm>
            <a:off x="6563106" y="1611630"/>
            <a:ext cx="205740" cy="205740"/>
          </a:xfrm>
          <a:prstGeom prst="rect">
            <a:avLst/>
          </a:prstGeom>
        </p:spPr>
      </p:pic>
      <p:sp>
        <p:nvSpPr>
          <p:cNvPr id="42" name="Text 32"/>
          <p:cNvSpPr txBox="1"/>
          <p:nvPr/>
        </p:nvSpPr>
        <p:spPr>
          <a:xfrm>
            <a:off x="5628132" y="2011680"/>
            <a:ext cx="1243584" cy="256032"/>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Store secrets</a:t>
            </a:r>
            <a:endParaRPr lang="en-US" sz="1300" dirty="0"/>
          </a:p>
        </p:txBody>
      </p:sp>
      <p:sp>
        <p:nvSpPr>
          <p:cNvPr id="43" name="Text 33"/>
          <p:cNvSpPr txBox="1"/>
          <p:nvPr/>
        </p:nvSpPr>
        <p:spPr>
          <a:xfrm>
            <a:off x="5628132" y="2304288"/>
            <a:ext cx="1243584" cy="11430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Colab key-icon panel: add GEMINI_API_KEY and GROQ_API_KEY. Never paste keys in cells.</a:t>
            </a:r>
            <a:endParaRPr lang="en-US" sz="1000" dirty="0"/>
          </a:p>
        </p:txBody>
      </p:sp>
      <p:pic>
        <p:nvPicPr>
          <p:cNvPr id="44" name="Image 7" descr="preencoded.png">    </p:cNvPr>
          <p:cNvPicPr>
            <a:picLocks noChangeAspect="1"/>
          </p:cNvPicPr>
          <p:nvPr/>
        </p:nvPicPr>
        <p:blipFill>
          <a:blip r:embed="rId8"/>
          <a:stretch>
            <a:fillRect/>
          </a:stretch>
        </p:blipFill>
        <p:spPr>
          <a:xfrm>
            <a:off x="7027164" y="2331720"/>
            <a:ext cx="118872" cy="182880"/>
          </a:xfrm>
          <a:prstGeom prst="rect">
            <a:avLst/>
          </a:prstGeom>
        </p:spPr>
      </p:pic>
      <p:sp>
        <p:nvSpPr>
          <p:cNvPr id="45" name="Shape 34"/>
          <p:cNvSpPr/>
          <p:nvPr/>
        </p:nvSpPr>
        <p:spPr>
          <a:xfrm>
            <a:off x="7168896" y="1371600"/>
            <a:ext cx="1517904" cy="2148840"/>
          </a:xfrm>
          <a:prstGeom prst="roundRect">
            <a:avLst>
              <a:gd name="adj" fmla="val 4819"/>
            </a:avLst>
          </a:prstGeom>
          <a:solidFill>
            <a:srgbClr val="F4F7F5"/>
          </a:solidFill>
          <a:ln w="9525">
            <a:solidFill>
              <a:srgbClr val="D5DED9"/>
            </a:solidFill>
            <a:prstDash val="solid"/>
          </a:ln>
        </p:spPr>
      </p:sp>
      <p:sp>
        <p:nvSpPr>
          <p:cNvPr id="46" name="Text 35"/>
          <p:cNvSpPr txBox="1"/>
          <p:nvPr/>
        </p:nvSpPr>
        <p:spPr>
          <a:xfrm>
            <a:off x="7306056" y="1463040"/>
            <a:ext cx="731520" cy="457200"/>
          </a:xfrm>
          <a:prstGeom prst="rect">
            <a:avLst/>
          </a:prstGeom>
          <a:noFill/>
          <a:ln/>
        </p:spPr>
        <p:txBody>
          <a:bodyPr wrap="square" lIns="0" tIns="0" rIns="0" bIns="0" rtlCol="0" anchor="t"/>
          <a:lstStyle/>
          <a:p>
            <a:pPr indent="0" marL="0">
              <a:buNone/>
            </a:pPr>
            <a:r>
              <a:rPr lang="en-US" sz="2800" b="1" dirty="0">
                <a:solidFill>
                  <a:srgbClr val="C4621D"/>
                </a:solidFill>
                <a:latin typeface="Calibri" pitchFamily="34" charset="0"/>
                <a:ea typeface="Calibri" pitchFamily="34" charset="-122"/>
                <a:cs typeface="Calibri" pitchFamily="34" charset="-120"/>
              </a:rPr>
              <a:t>05</a:t>
            </a:r>
            <a:endParaRPr lang="en-US" sz="2800" dirty="0"/>
          </a:p>
        </p:txBody>
      </p:sp>
      <p:sp>
        <p:nvSpPr>
          <p:cNvPr id="47" name="Shape 36"/>
          <p:cNvSpPr/>
          <p:nvPr/>
        </p:nvSpPr>
        <p:spPr>
          <a:xfrm>
            <a:off x="8138160" y="1508760"/>
            <a:ext cx="411480" cy="411480"/>
          </a:xfrm>
          <a:prstGeom prst="ellipse">
            <a:avLst/>
          </a:prstGeom>
          <a:solidFill>
            <a:srgbClr val="C4621D">
              <a:alpha val="22000"/>
            </a:srgbClr>
          </a:solidFill>
          <a:ln/>
        </p:spPr>
      </p:sp>
      <p:pic>
        <p:nvPicPr>
          <p:cNvPr id="48" name="Image 8" descr="preencoded.png">    </p:cNvPr>
          <p:cNvPicPr>
            <a:picLocks noChangeAspect="1"/>
          </p:cNvPicPr>
          <p:nvPr/>
        </p:nvPicPr>
        <p:blipFill>
          <a:blip r:embed="rId9"/>
          <a:stretch>
            <a:fillRect/>
          </a:stretch>
        </p:blipFill>
        <p:spPr>
          <a:xfrm>
            <a:off x="8241030" y="1611630"/>
            <a:ext cx="205740" cy="205740"/>
          </a:xfrm>
          <a:prstGeom prst="rect">
            <a:avLst/>
          </a:prstGeom>
        </p:spPr>
      </p:pic>
      <p:sp>
        <p:nvSpPr>
          <p:cNvPr id="49" name="Text 37"/>
          <p:cNvSpPr txBox="1"/>
          <p:nvPr/>
        </p:nvSpPr>
        <p:spPr>
          <a:xfrm>
            <a:off x="7306056" y="2011680"/>
            <a:ext cx="1243584" cy="256032"/>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Run setup</a:t>
            </a:r>
            <a:endParaRPr lang="en-US" sz="1300" dirty="0"/>
          </a:p>
        </p:txBody>
      </p:sp>
      <p:sp>
        <p:nvSpPr>
          <p:cNvPr id="50" name="Text 38"/>
          <p:cNvSpPr txBox="1"/>
          <p:nvPr/>
        </p:nvSpPr>
        <p:spPr>
          <a:xfrm>
            <a:off x="7306056" y="2304288"/>
            <a:ext cx="1243584" cy="11430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Run section 0. Missing key? DEMO mode starts automatically.</a:t>
            </a:r>
            <a:endParaRPr lang="en-US" sz="1000" dirty="0"/>
          </a:p>
        </p:txBody>
      </p:sp>
      <p:sp>
        <p:nvSpPr>
          <p:cNvPr id="51" name="Shape 39"/>
          <p:cNvSpPr/>
          <p:nvPr/>
        </p:nvSpPr>
        <p:spPr>
          <a:xfrm>
            <a:off x="457200" y="3703320"/>
            <a:ext cx="8229600" cy="731520"/>
          </a:xfrm>
          <a:prstGeom prst="roundRect">
            <a:avLst>
              <a:gd name="adj" fmla="val 10000"/>
            </a:avLst>
          </a:prstGeom>
          <a:solidFill>
            <a:srgbClr val="FFFFFF"/>
          </a:solidFill>
          <a:ln w="9525">
            <a:solidFill>
              <a:srgbClr val="00704A"/>
            </a:solidFill>
            <a:prstDash val="solid"/>
          </a:ln>
        </p:spPr>
      </p:sp>
      <p:sp>
        <p:nvSpPr>
          <p:cNvPr id="52" name="Shape 40"/>
          <p:cNvSpPr/>
          <p:nvPr/>
        </p:nvSpPr>
        <p:spPr>
          <a:xfrm>
            <a:off x="594360" y="3831336"/>
            <a:ext cx="475488" cy="475488"/>
          </a:xfrm>
          <a:prstGeom prst="ellipse">
            <a:avLst/>
          </a:prstGeom>
          <a:solidFill>
            <a:srgbClr val="00704A">
              <a:alpha val="22000"/>
            </a:srgbClr>
          </a:solidFill>
          <a:ln/>
        </p:spPr>
      </p:sp>
      <p:pic>
        <p:nvPicPr>
          <p:cNvPr id="53" name="Image 9" descr="preencoded.png">    </p:cNvPr>
          <p:cNvPicPr>
            <a:picLocks noChangeAspect="1"/>
          </p:cNvPicPr>
          <p:nvPr/>
        </p:nvPicPr>
        <p:blipFill>
          <a:blip r:embed="rId10"/>
          <a:stretch>
            <a:fillRect/>
          </a:stretch>
        </p:blipFill>
        <p:spPr>
          <a:xfrm>
            <a:off x="713232" y="3950208"/>
            <a:ext cx="237744" cy="237744"/>
          </a:xfrm>
          <a:prstGeom prst="rect">
            <a:avLst/>
          </a:prstGeom>
        </p:spPr>
      </p:pic>
      <p:sp>
        <p:nvSpPr>
          <p:cNvPr id="54" name="Text 41"/>
          <p:cNvSpPr txBox="1"/>
          <p:nvPr/>
        </p:nvSpPr>
        <p:spPr>
          <a:xfrm>
            <a:off x="1234440" y="3749040"/>
            <a:ext cx="7315200" cy="64008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Pace your calls. </a:t>
            </a:r>
            <a:pPr indent="0" marL="0">
              <a:buNone/>
            </a:pPr>
            <a:r>
              <a:rPr lang="en-US" sz="1050" dirty="0">
                <a:solidFill>
                  <a:srgbClr val="231F20"/>
                </a:solidFill>
                <a:latin typeface="Calibri" pitchFamily="34" charset="0"/>
                <a:ea typeface="Calibri" pitchFamily="34" charset="-122"/>
                <a:cs typeface="Calibri" pitchFamily="34" charset="-120"/>
              </a:rPr>
              <a:t>Free tiers allow roughly 10–15 requests/minute on Gemini Flash and ~30 on Groq (indicative). Each notebook helper retries politely and logs latency, so you also see the speed difference measured in the Groq benchmark session.</a:t>
            </a:r>
            <a:endParaRPr lang="en-US" sz="10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06 · TAKE IT HOME</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06</a:t>
            </a:r>
            <a:endParaRPr lang="en-US" sz="9600" dirty="0"/>
          </a:p>
        </p:txBody>
      </p:sp>
      <p:sp>
        <p:nvSpPr>
          <p:cNvPr id="5" name="Text 3"/>
          <p:cNvSpPr txBox="1"/>
          <p:nvPr/>
        </p:nvSpPr>
        <p:spPr>
          <a:xfrm>
            <a:off x="548640" y="2377440"/>
            <a:ext cx="5303520" cy="10515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Take it home</a:t>
            </a:r>
            <a:endParaRPr lang="en-US" sz="32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What will you do differently on Monday morning?</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r>
          <p:cNvPicPr>
            <a:picLocks noChangeAspect="1"/>
          </p:cNvPicPr>
          <p:nvPr/>
        </p:nvPicPr>
        <p:blipFill>
          <a:blip r:embed="rId2"/>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FFFFF">
              <a:alpha val="40000"/>
            </a:srgbClr>
          </a:solidFill>
          <a:ln/>
        </p:spPr>
      </p:sp>
      <p:sp>
        <p:nvSpPr>
          <p:cNvPr id="12" name="Shape 9"/>
          <p:cNvSpPr/>
          <p:nvPr/>
        </p:nvSpPr>
        <p:spPr>
          <a:xfrm>
            <a:off x="8019288" y="329184"/>
            <a:ext cx="82296" cy="82296"/>
          </a:xfrm>
          <a:prstGeom prst="ellipse">
            <a:avLst/>
          </a:prstGeom>
          <a:solidFill>
            <a:srgbClr val="FFFFFF">
              <a:alpha val="40000"/>
            </a:srgbClr>
          </a:solidFill>
          <a:ln/>
        </p:spPr>
      </p:sp>
      <p:sp>
        <p:nvSpPr>
          <p:cNvPr id="13" name="Shape 10"/>
          <p:cNvSpPr/>
          <p:nvPr/>
        </p:nvSpPr>
        <p:spPr>
          <a:xfrm>
            <a:off x="8156448" y="329184"/>
            <a:ext cx="82296" cy="82296"/>
          </a:xfrm>
          <a:prstGeom prst="ellipse">
            <a:avLst/>
          </a:prstGeom>
          <a:solidFill>
            <a:srgbClr val="FFFFFF">
              <a:alpha val="40000"/>
            </a:srgbClr>
          </a:solidFill>
          <a:ln/>
        </p:spPr>
      </p:sp>
      <p:sp>
        <p:nvSpPr>
          <p:cNvPr id="14" name="Shape 11"/>
          <p:cNvSpPr/>
          <p:nvPr/>
        </p:nvSpPr>
        <p:spPr>
          <a:xfrm>
            <a:off x="8293608" y="329184"/>
            <a:ext cx="82296" cy="82296"/>
          </a:xfrm>
          <a:prstGeom prst="ellipse">
            <a:avLst/>
          </a:prstGeom>
          <a:solidFill>
            <a:srgbClr val="FFFFFF">
              <a:alpha val="40000"/>
            </a:srgbClr>
          </a:solidFill>
          <a:ln/>
        </p:spPr>
      </p:sp>
      <p:sp>
        <p:nvSpPr>
          <p:cNvPr id="15" name="Shape 12"/>
          <p:cNvSpPr/>
          <p:nvPr/>
        </p:nvSpPr>
        <p:spPr>
          <a:xfrm>
            <a:off x="8430768" y="329184"/>
            <a:ext cx="82296" cy="82296"/>
          </a:xfrm>
          <a:prstGeom prst="ellipse">
            <a:avLst/>
          </a:prstGeom>
          <a:solidFill>
            <a:srgbClr val="FFFFFF">
              <a:alpha val="40000"/>
            </a:srgbClr>
          </a:solidFill>
          <a:ln/>
        </p:spPr>
      </p:sp>
      <p:sp>
        <p:nvSpPr>
          <p:cNvPr id="16" name="Shape 13"/>
          <p:cNvSpPr/>
          <p:nvPr/>
        </p:nvSpPr>
        <p:spPr>
          <a:xfrm>
            <a:off x="8567928" y="329184"/>
            <a:ext cx="82296" cy="82296"/>
          </a:xfrm>
          <a:prstGeom prst="ellipse">
            <a:avLst/>
          </a:prstGeom>
          <a:solidFill>
            <a:srgbClr val="F5C242"/>
          </a:solidFill>
          <a:ln/>
        </p:spPr>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TAKE IT HOME</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Your deliverables and where they go next</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STG17 · One Model, Many Jobs — an LLM Toolkit for Statisticians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7" name="Text 14"/>
          <p:cNvSpPr txBox="1"/>
          <p:nvPr/>
        </p:nvSpPr>
        <p:spPr>
          <a:xfrm>
            <a:off x="457200" y="1371600"/>
            <a:ext cx="3657600" cy="201168"/>
          </a:xfrm>
          <a:prstGeom prst="rect">
            <a:avLst/>
          </a:prstGeom>
          <a:noFill/>
          <a:ln/>
        </p:spPr>
        <p:txBody>
          <a:bodyPr wrap="square" lIns="0" tIns="0" rIns="0" bIns="0" rtlCol="0" anchor="t"/>
          <a:lstStyle/>
          <a:p>
            <a:pPr indent="0" marL="0">
              <a:buNone/>
            </a:pPr>
            <a:r>
              <a:rPr lang="en-US" sz="1000" b="1" spc="200" kern="0" dirty="0">
                <a:solidFill>
                  <a:srgbClr val="B83B2E"/>
                </a:solidFill>
                <a:latin typeface="Calibri" pitchFamily="34" charset="0"/>
                <a:ea typeface="Calibri" pitchFamily="34" charset="-122"/>
                <a:cs typeface="Calibri" pitchFamily="34" charset="-120"/>
              </a:rPr>
              <a:t>BEFORE YOU LEAVE</a:t>
            </a:r>
            <a:endParaRPr lang="en-US" sz="1000" dirty="0"/>
          </a:p>
        </p:txBody>
      </p:sp>
      <p:sp>
        <p:nvSpPr>
          <p:cNvPr id="18" name="Shape 15"/>
          <p:cNvSpPr/>
          <p:nvPr/>
        </p:nvSpPr>
        <p:spPr>
          <a:xfrm>
            <a:off x="457200" y="1664208"/>
            <a:ext cx="3840480" cy="457200"/>
          </a:xfrm>
          <a:prstGeom prst="roundRect">
            <a:avLst>
              <a:gd name="adj" fmla="val 16000"/>
            </a:avLst>
          </a:prstGeom>
          <a:solidFill>
            <a:srgbClr val="F4F7F5"/>
          </a:solidFill>
          <a:ln w="9525">
            <a:solidFill>
              <a:srgbClr val="D5DED9"/>
            </a:solidFill>
            <a:prstDash val="solid"/>
          </a:ln>
        </p:spPr>
      </p:sp>
      <p:pic>
        <p:nvPicPr>
          <p:cNvPr id="19" name="Image 0" descr="preencoded.png">    </p:cNvPr>
          <p:cNvPicPr>
            <a:picLocks noChangeAspect="1"/>
          </p:cNvPicPr>
          <p:nvPr/>
        </p:nvPicPr>
        <p:blipFill>
          <a:blip r:embed="rId1"/>
          <a:stretch>
            <a:fillRect/>
          </a:stretch>
        </p:blipFill>
        <p:spPr>
          <a:xfrm>
            <a:off x="594360" y="1783080"/>
            <a:ext cx="219456" cy="219456"/>
          </a:xfrm>
          <a:prstGeom prst="rect">
            <a:avLst/>
          </a:prstGeom>
        </p:spPr>
      </p:pic>
      <p:sp>
        <p:nvSpPr>
          <p:cNvPr id="20" name="Text 16"/>
          <p:cNvSpPr txBox="1"/>
          <p:nvPr/>
        </p:nvSpPr>
        <p:spPr>
          <a:xfrm>
            <a:off x="960120" y="1664208"/>
            <a:ext cx="3246120" cy="45720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Deliverable from station 1</a:t>
            </a:r>
            <a:pPr indent="0" marL="0">
              <a:buNone/>
            </a:pPr>
            <a:r>
              <a:rPr lang="en-US" sz="1150" dirty="0">
                <a:solidFill>
                  <a:srgbClr val="5E6964"/>
                </a:solidFill>
                <a:latin typeface="Calibri" pitchFamily="34" charset="0"/>
                <a:ea typeface="Calibri" pitchFamily="34" charset="-122"/>
                <a:cs typeface="Calibri" pitchFamily="34" charset="-120"/>
              </a:rPr>
              <a:t>  ·  saved in /outputs</a:t>
            </a:r>
            <a:endParaRPr lang="en-US" sz="1150" dirty="0"/>
          </a:p>
        </p:txBody>
      </p:sp>
      <p:sp>
        <p:nvSpPr>
          <p:cNvPr id="21" name="Shape 17"/>
          <p:cNvSpPr/>
          <p:nvPr/>
        </p:nvSpPr>
        <p:spPr>
          <a:xfrm>
            <a:off x="457200" y="2212848"/>
            <a:ext cx="3840480" cy="457200"/>
          </a:xfrm>
          <a:prstGeom prst="roundRect">
            <a:avLst>
              <a:gd name="adj" fmla="val 16000"/>
            </a:avLst>
          </a:prstGeom>
          <a:solidFill>
            <a:srgbClr val="F4F7F5"/>
          </a:solidFill>
          <a:ln w="9525">
            <a:solidFill>
              <a:srgbClr val="D5DED9"/>
            </a:solidFill>
            <a:prstDash val="solid"/>
          </a:ln>
        </p:spPr>
      </p:sp>
      <p:pic>
        <p:nvPicPr>
          <p:cNvPr id="22" name="Image 1" descr="preencoded.png">    </p:cNvPr>
          <p:cNvPicPr>
            <a:picLocks noChangeAspect="1"/>
          </p:cNvPicPr>
          <p:nvPr/>
        </p:nvPicPr>
        <p:blipFill>
          <a:blip r:embed="rId2"/>
          <a:stretch>
            <a:fillRect/>
          </a:stretch>
        </p:blipFill>
        <p:spPr>
          <a:xfrm>
            <a:off x="594360" y="2331720"/>
            <a:ext cx="219456" cy="219456"/>
          </a:xfrm>
          <a:prstGeom prst="rect">
            <a:avLst/>
          </a:prstGeom>
        </p:spPr>
      </p:pic>
      <p:sp>
        <p:nvSpPr>
          <p:cNvPr id="23" name="Text 18"/>
          <p:cNvSpPr txBox="1"/>
          <p:nvPr/>
        </p:nvSpPr>
        <p:spPr>
          <a:xfrm>
            <a:off x="960120" y="2212848"/>
            <a:ext cx="3246120" cy="45720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Deliverable from station 2</a:t>
            </a:r>
            <a:pPr indent="0" marL="0">
              <a:buNone/>
            </a:pPr>
            <a:r>
              <a:rPr lang="en-US" sz="1150" dirty="0">
                <a:solidFill>
                  <a:srgbClr val="5E6964"/>
                </a:solidFill>
                <a:latin typeface="Calibri" pitchFamily="34" charset="0"/>
                <a:ea typeface="Calibri" pitchFamily="34" charset="-122"/>
                <a:cs typeface="Calibri" pitchFamily="34" charset="-120"/>
              </a:rPr>
              <a:t>  ·  saved in /outputs</a:t>
            </a:r>
            <a:endParaRPr lang="en-US" sz="1150" dirty="0"/>
          </a:p>
        </p:txBody>
      </p:sp>
      <p:sp>
        <p:nvSpPr>
          <p:cNvPr id="24" name="Shape 19"/>
          <p:cNvSpPr/>
          <p:nvPr/>
        </p:nvSpPr>
        <p:spPr>
          <a:xfrm>
            <a:off x="457200" y="2761488"/>
            <a:ext cx="3840480" cy="457200"/>
          </a:xfrm>
          <a:prstGeom prst="roundRect">
            <a:avLst>
              <a:gd name="adj" fmla="val 16000"/>
            </a:avLst>
          </a:prstGeom>
          <a:solidFill>
            <a:srgbClr val="F4F7F5"/>
          </a:solidFill>
          <a:ln w="9525">
            <a:solidFill>
              <a:srgbClr val="D5DED9"/>
            </a:solidFill>
            <a:prstDash val="solid"/>
          </a:ln>
        </p:spPr>
      </p:sp>
      <p:pic>
        <p:nvPicPr>
          <p:cNvPr id="25" name="Image 2" descr="preencoded.png">    </p:cNvPr>
          <p:cNvPicPr>
            <a:picLocks noChangeAspect="1"/>
          </p:cNvPicPr>
          <p:nvPr/>
        </p:nvPicPr>
        <p:blipFill>
          <a:blip r:embed="rId3"/>
          <a:stretch>
            <a:fillRect/>
          </a:stretch>
        </p:blipFill>
        <p:spPr>
          <a:xfrm>
            <a:off x="594360" y="2880360"/>
            <a:ext cx="219456" cy="219456"/>
          </a:xfrm>
          <a:prstGeom prst="rect">
            <a:avLst/>
          </a:prstGeom>
        </p:spPr>
      </p:pic>
      <p:sp>
        <p:nvSpPr>
          <p:cNvPr id="26" name="Text 20"/>
          <p:cNvSpPr txBox="1"/>
          <p:nvPr/>
        </p:nvSpPr>
        <p:spPr>
          <a:xfrm>
            <a:off x="960120" y="2761488"/>
            <a:ext cx="3246120" cy="45720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prompt_log.csv</a:t>
            </a:r>
            <a:pPr indent="0" marL="0">
              <a:buNone/>
            </a:pPr>
            <a:r>
              <a:rPr lang="en-US" sz="1150" dirty="0">
                <a:solidFill>
                  <a:srgbClr val="5E6964"/>
                </a:solidFill>
                <a:latin typeface="Calibri" pitchFamily="34" charset="0"/>
                <a:ea typeface="Calibri" pitchFamily="34" charset="-122"/>
                <a:cs typeface="Calibri" pitchFamily="34" charset="-120"/>
              </a:rPr>
              <a:t>  ·  exported automatically</a:t>
            </a:r>
            <a:endParaRPr lang="en-US" sz="1150" dirty="0"/>
          </a:p>
        </p:txBody>
      </p:sp>
      <p:sp>
        <p:nvSpPr>
          <p:cNvPr id="27" name="Shape 21"/>
          <p:cNvSpPr/>
          <p:nvPr/>
        </p:nvSpPr>
        <p:spPr>
          <a:xfrm>
            <a:off x="457200" y="3310128"/>
            <a:ext cx="3840480" cy="457200"/>
          </a:xfrm>
          <a:prstGeom prst="roundRect">
            <a:avLst>
              <a:gd name="adj" fmla="val 16000"/>
            </a:avLst>
          </a:prstGeom>
          <a:solidFill>
            <a:srgbClr val="F4F7F5"/>
          </a:solidFill>
          <a:ln w="9525">
            <a:solidFill>
              <a:srgbClr val="D5DED9"/>
            </a:solidFill>
            <a:prstDash val="solid"/>
          </a:ln>
        </p:spPr>
      </p:sp>
      <p:pic>
        <p:nvPicPr>
          <p:cNvPr id="28" name="Image 3" descr="preencoded.png">    </p:cNvPr>
          <p:cNvPicPr>
            <a:picLocks noChangeAspect="1"/>
          </p:cNvPicPr>
          <p:nvPr/>
        </p:nvPicPr>
        <p:blipFill>
          <a:blip r:embed="rId4"/>
          <a:stretch>
            <a:fillRect/>
          </a:stretch>
        </p:blipFill>
        <p:spPr>
          <a:xfrm>
            <a:off x="594360" y="3429000"/>
            <a:ext cx="219456" cy="219456"/>
          </a:xfrm>
          <a:prstGeom prst="rect">
            <a:avLst/>
          </a:prstGeom>
        </p:spPr>
      </p:pic>
      <p:sp>
        <p:nvSpPr>
          <p:cNvPr id="29" name="Text 22"/>
          <p:cNvSpPr txBox="1"/>
          <p:nvPr/>
        </p:nvSpPr>
        <p:spPr>
          <a:xfrm>
            <a:off x="960120" y="3310128"/>
            <a:ext cx="3246120" cy="45720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Verification note</a:t>
            </a:r>
            <a:pPr indent="0" marL="0">
              <a:buNone/>
            </a:pPr>
            <a:r>
              <a:rPr lang="en-US" sz="1150" dirty="0">
                <a:solidFill>
                  <a:srgbClr val="5E6964"/>
                </a:solidFill>
                <a:latin typeface="Calibri" pitchFamily="34" charset="0"/>
                <a:ea typeface="Calibri" pitchFamily="34" charset="-122"/>
                <a:cs typeface="Calibri" pitchFamily="34" charset="-120"/>
              </a:rPr>
              <a:t>  ·  what you checked and how</a:t>
            </a:r>
            <a:endParaRPr lang="en-US" sz="1150" dirty="0"/>
          </a:p>
        </p:txBody>
      </p:sp>
      <p:sp>
        <p:nvSpPr>
          <p:cNvPr id="30" name="Shape 23"/>
          <p:cNvSpPr/>
          <p:nvPr/>
        </p:nvSpPr>
        <p:spPr>
          <a:xfrm>
            <a:off x="457200" y="3858768"/>
            <a:ext cx="3840480" cy="457200"/>
          </a:xfrm>
          <a:prstGeom prst="roundRect">
            <a:avLst>
              <a:gd name="adj" fmla="val 16000"/>
            </a:avLst>
          </a:prstGeom>
          <a:solidFill>
            <a:srgbClr val="F4F7F5"/>
          </a:solidFill>
          <a:ln w="9525">
            <a:solidFill>
              <a:srgbClr val="D5DED9"/>
            </a:solidFill>
            <a:prstDash val="solid"/>
          </a:ln>
        </p:spPr>
      </p:sp>
      <p:pic>
        <p:nvPicPr>
          <p:cNvPr id="31" name="Image 4" descr="preencoded.png">    </p:cNvPr>
          <p:cNvPicPr>
            <a:picLocks noChangeAspect="1"/>
          </p:cNvPicPr>
          <p:nvPr/>
        </p:nvPicPr>
        <p:blipFill>
          <a:blip r:embed="rId5"/>
          <a:stretch>
            <a:fillRect/>
          </a:stretch>
        </p:blipFill>
        <p:spPr>
          <a:xfrm>
            <a:off x="594360" y="3977640"/>
            <a:ext cx="219456" cy="219456"/>
          </a:xfrm>
          <a:prstGeom prst="rect">
            <a:avLst/>
          </a:prstGeom>
        </p:spPr>
      </p:pic>
      <p:sp>
        <p:nvSpPr>
          <p:cNvPr id="32" name="Text 24"/>
          <p:cNvSpPr txBox="1"/>
          <p:nvPr/>
        </p:nvSpPr>
        <p:spPr>
          <a:xfrm>
            <a:off x="960120" y="3858768"/>
            <a:ext cx="3246120" cy="45720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Exit ticket</a:t>
            </a:r>
            <a:pPr indent="0" marL="0">
              <a:buNone/>
            </a:pPr>
            <a:r>
              <a:rPr lang="en-US" sz="1150" dirty="0">
                <a:solidFill>
                  <a:srgbClr val="5E6964"/>
                </a:solidFill>
                <a:latin typeface="Calibri" pitchFamily="34" charset="0"/>
                <a:ea typeface="Calibri" pitchFamily="34" charset="-122"/>
                <a:cs typeface="Calibri" pitchFamily="34" charset="-120"/>
              </a:rPr>
              <a:t>  ·  one use case for your office</a:t>
            </a:r>
            <a:endParaRPr lang="en-US" sz="1150" dirty="0"/>
          </a:p>
        </p:txBody>
      </p:sp>
      <p:sp>
        <p:nvSpPr>
          <p:cNvPr id="33" name="Text 25"/>
          <p:cNvSpPr txBox="1"/>
          <p:nvPr/>
        </p:nvSpPr>
        <p:spPr>
          <a:xfrm>
            <a:off x="4754880" y="1371600"/>
            <a:ext cx="3931920" cy="201168"/>
          </a:xfrm>
          <a:prstGeom prst="rect">
            <a:avLst/>
          </a:prstGeom>
          <a:noFill/>
          <a:ln/>
        </p:spPr>
        <p:txBody>
          <a:bodyPr wrap="square" lIns="0" tIns="0" rIns="0" bIns="0" rtlCol="0" anchor="t"/>
          <a:lstStyle/>
          <a:p>
            <a:pPr indent="0" marL="0">
              <a:buNone/>
            </a:pPr>
            <a:r>
              <a:rPr lang="en-US" sz="1000" b="1" spc="200" kern="0" dirty="0">
                <a:solidFill>
                  <a:srgbClr val="B83B2E"/>
                </a:solidFill>
                <a:latin typeface="Calibri" pitchFamily="34" charset="0"/>
                <a:ea typeface="Calibri" pitchFamily="34" charset="-122"/>
                <a:cs typeface="Calibri" pitchFamily="34" charset="-120"/>
              </a:rPr>
              <a:t>FEEDS THE STG17 ACTION PLAN 2025–2030</a:t>
            </a:r>
            <a:endParaRPr lang="en-US" sz="1000" dirty="0"/>
          </a:p>
        </p:txBody>
      </p:sp>
      <p:sp>
        <p:nvSpPr>
          <p:cNvPr id="34" name="Shape 26"/>
          <p:cNvSpPr/>
          <p:nvPr/>
        </p:nvSpPr>
        <p:spPr>
          <a:xfrm>
            <a:off x="4754880" y="1664208"/>
            <a:ext cx="3931920" cy="594360"/>
          </a:xfrm>
          <a:prstGeom prst="roundRect">
            <a:avLst>
              <a:gd name="adj" fmla="val 12308"/>
            </a:avLst>
          </a:prstGeom>
          <a:solidFill>
            <a:srgbClr val="E8F5EF"/>
          </a:solidFill>
          <a:ln w="15875">
            <a:solidFill>
              <a:srgbClr val="B83B2E"/>
            </a:solidFill>
            <a:prstDash val="solid"/>
          </a:ln>
        </p:spPr>
      </p:sp>
      <p:sp>
        <p:nvSpPr>
          <p:cNvPr id="35" name="Text 27"/>
          <p:cNvSpPr txBox="1"/>
          <p:nvPr/>
        </p:nvSpPr>
        <p:spPr>
          <a:xfrm>
            <a:off x="4864608" y="1664208"/>
            <a:ext cx="685800" cy="594360"/>
          </a:xfrm>
          <a:prstGeom prst="rect">
            <a:avLst/>
          </a:prstGeom>
          <a:noFill/>
          <a:ln/>
        </p:spPr>
        <p:txBody>
          <a:bodyPr wrap="square" lIns="0" tIns="0" rIns="0" bIns="0" rtlCol="0" anchor="ctr"/>
          <a:lstStyle/>
          <a:p>
            <a:pPr indent="0" marL="0">
              <a:buNone/>
            </a:pPr>
            <a:r>
              <a:rPr lang="en-US" sz="1800" b="1" dirty="0">
                <a:solidFill>
                  <a:srgbClr val="B83B2E"/>
                </a:solidFill>
                <a:latin typeface="Calibri" pitchFamily="34" charset="0"/>
                <a:ea typeface="Calibri" pitchFamily="34" charset="-122"/>
                <a:cs typeface="Calibri" pitchFamily="34" charset="-120"/>
              </a:rPr>
              <a:t>4.2.1</a:t>
            </a:r>
            <a:endParaRPr lang="en-US" sz="1800" dirty="0"/>
          </a:p>
        </p:txBody>
      </p:sp>
      <p:sp>
        <p:nvSpPr>
          <p:cNvPr id="36" name="Text 28"/>
          <p:cNvSpPr txBox="1"/>
          <p:nvPr/>
        </p:nvSpPr>
        <p:spPr>
          <a:xfrm>
            <a:off x="5596128" y="1737360"/>
            <a:ext cx="301752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Reference manual on key data skills</a:t>
            </a:r>
            <a:endParaRPr lang="en-US" sz="1150" dirty="0"/>
          </a:p>
        </p:txBody>
      </p:sp>
      <p:sp>
        <p:nvSpPr>
          <p:cNvPr id="37" name="Text 29"/>
          <p:cNvSpPr txBox="1"/>
          <p:nvPr/>
        </p:nvSpPr>
        <p:spPr>
          <a:xfrm>
            <a:off x="5596128" y="1975104"/>
            <a:ext cx="3017520" cy="21945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Best prompt recipes → a manual chapter</a:t>
            </a:r>
            <a:endParaRPr lang="en-US" sz="1000" dirty="0"/>
          </a:p>
        </p:txBody>
      </p:sp>
      <p:sp>
        <p:nvSpPr>
          <p:cNvPr id="38" name="Shape 30"/>
          <p:cNvSpPr/>
          <p:nvPr/>
        </p:nvSpPr>
        <p:spPr>
          <a:xfrm>
            <a:off x="4754880" y="2350008"/>
            <a:ext cx="3931920" cy="594360"/>
          </a:xfrm>
          <a:prstGeom prst="roundRect">
            <a:avLst>
              <a:gd name="adj" fmla="val 12308"/>
            </a:avLst>
          </a:prstGeom>
          <a:solidFill>
            <a:srgbClr val="F4F7F5"/>
          </a:solidFill>
          <a:ln w="9525">
            <a:solidFill>
              <a:srgbClr val="D5DED9"/>
            </a:solidFill>
            <a:prstDash val="solid"/>
          </a:ln>
        </p:spPr>
      </p:sp>
      <p:sp>
        <p:nvSpPr>
          <p:cNvPr id="39" name="Text 31"/>
          <p:cNvSpPr txBox="1"/>
          <p:nvPr/>
        </p:nvSpPr>
        <p:spPr>
          <a:xfrm>
            <a:off x="4864608" y="2350008"/>
            <a:ext cx="685800" cy="594360"/>
          </a:xfrm>
          <a:prstGeom prst="rect">
            <a:avLst/>
          </a:prstGeom>
          <a:noFill/>
          <a:ln/>
        </p:spPr>
        <p:txBody>
          <a:bodyPr wrap="square" lIns="0" tIns="0" rIns="0" bIns="0" rtlCol="0" anchor="ctr"/>
          <a:lstStyle/>
          <a:p>
            <a:pPr indent="0" marL="0">
              <a:buNone/>
            </a:pPr>
            <a:r>
              <a:rPr lang="en-US" sz="1800" b="1" dirty="0">
                <a:solidFill>
                  <a:srgbClr val="B83B2E"/>
                </a:solidFill>
                <a:latin typeface="Calibri" pitchFamily="34" charset="0"/>
                <a:ea typeface="Calibri" pitchFamily="34" charset="-122"/>
                <a:cs typeface="Calibri" pitchFamily="34" charset="-120"/>
              </a:rPr>
              <a:t>4.1.1</a:t>
            </a:r>
            <a:endParaRPr lang="en-US" sz="1800" dirty="0"/>
          </a:p>
        </p:txBody>
      </p:sp>
      <p:sp>
        <p:nvSpPr>
          <p:cNvPr id="40" name="Text 32"/>
          <p:cNvSpPr txBox="1"/>
          <p:nvPr/>
        </p:nvSpPr>
        <p:spPr>
          <a:xfrm>
            <a:off x="5596128" y="2423160"/>
            <a:ext cx="301752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Competencies reference framework</a:t>
            </a:r>
            <a:endParaRPr lang="en-US" sz="1150" dirty="0"/>
          </a:p>
        </p:txBody>
      </p:sp>
      <p:sp>
        <p:nvSpPr>
          <p:cNvPr id="41" name="Text 33"/>
          <p:cNvSpPr txBox="1"/>
          <p:nvPr/>
        </p:nvSpPr>
        <p:spPr>
          <a:xfrm>
            <a:off x="5596128" y="2660904"/>
            <a:ext cx="3017520" cy="21945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Baseline / end-line self-assessment</a:t>
            </a:r>
            <a:endParaRPr lang="en-US" sz="1000" dirty="0"/>
          </a:p>
        </p:txBody>
      </p:sp>
      <p:sp>
        <p:nvSpPr>
          <p:cNvPr id="42" name="Shape 34"/>
          <p:cNvSpPr/>
          <p:nvPr/>
        </p:nvSpPr>
        <p:spPr>
          <a:xfrm>
            <a:off x="4754880" y="3035808"/>
            <a:ext cx="3931920" cy="594360"/>
          </a:xfrm>
          <a:prstGeom prst="roundRect">
            <a:avLst>
              <a:gd name="adj" fmla="val 12308"/>
            </a:avLst>
          </a:prstGeom>
          <a:solidFill>
            <a:srgbClr val="F4F7F5"/>
          </a:solidFill>
          <a:ln w="9525">
            <a:solidFill>
              <a:srgbClr val="D5DED9"/>
            </a:solidFill>
            <a:prstDash val="solid"/>
          </a:ln>
        </p:spPr>
      </p:sp>
      <p:sp>
        <p:nvSpPr>
          <p:cNvPr id="43" name="Text 35"/>
          <p:cNvSpPr txBox="1"/>
          <p:nvPr/>
        </p:nvSpPr>
        <p:spPr>
          <a:xfrm>
            <a:off x="4864608" y="3035808"/>
            <a:ext cx="685800" cy="594360"/>
          </a:xfrm>
          <a:prstGeom prst="rect">
            <a:avLst/>
          </a:prstGeom>
          <a:noFill/>
          <a:ln/>
        </p:spPr>
        <p:txBody>
          <a:bodyPr wrap="square" lIns="0" tIns="0" rIns="0" bIns="0" rtlCol="0" anchor="ctr"/>
          <a:lstStyle/>
          <a:p>
            <a:pPr indent="0" marL="0">
              <a:buNone/>
            </a:pPr>
            <a:r>
              <a:rPr lang="en-US" sz="1800" b="1" dirty="0">
                <a:solidFill>
                  <a:srgbClr val="B83B2E"/>
                </a:solidFill>
                <a:latin typeface="Calibri" pitchFamily="34" charset="0"/>
                <a:ea typeface="Calibri" pitchFamily="34" charset="-122"/>
                <a:cs typeface="Calibri" pitchFamily="34" charset="-120"/>
              </a:rPr>
              <a:t>1.3.1</a:t>
            </a:r>
            <a:endParaRPr lang="en-US" sz="1800" dirty="0"/>
          </a:p>
        </p:txBody>
      </p:sp>
      <p:sp>
        <p:nvSpPr>
          <p:cNvPr id="44" name="Text 36"/>
          <p:cNvSpPr txBox="1"/>
          <p:nvPr/>
        </p:nvSpPr>
        <p:spPr>
          <a:xfrm>
            <a:off x="5596128" y="3108960"/>
            <a:ext cx="301752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Brown-bag webinar series</a:t>
            </a:r>
            <a:endParaRPr lang="en-US" sz="1150" dirty="0"/>
          </a:p>
        </p:txBody>
      </p:sp>
      <p:sp>
        <p:nvSpPr>
          <p:cNvPr id="45" name="Text 37"/>
          <p:cNvSpPr txBox="1"/>
          <p:nvPr/>
        </p:nvSpPr>
        <p:spPr>
          <a:xfrm>
            <a:off x="5596128" y="3346704"/>
            <a:ext cx="3017520" cy="21945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Topics that need more depth</a:t>
            </a:r>
            <a:endParaRPr lang="en-US" sz="1000" dirty="0"/>
          </a:p>
        </p:txBody>
      </p:sp>
      <p:sp>
        <p:nvSpPr>
          <p:cNvPr id="46" name="Shape 38"/>
          <p:cNvSpPr/>
          <p:nvPr/>
        </p:nvSpPr>
        <p:spPr>
          <a:xfrm>
            <a:off x="4754880" y="3721608"/>
            <a:ext cx="3931920" cy="594360"/>
          </a:xfrm>
          <a:prstGeom prst="roundRect">
            <a:avLst>
              <a:gd name="adj" fmla="val 12308"/>
            </a:avLst>
          </a:prstGeom>
          <a:solidFill>
            <a:srgbClr val="F4F7F5"/>
          </a:solidFill>
          <a:ln w="9525">
            <a:solidFill>
              <a:srgbClr val="D5DED9"/>
            </a:solidFill>
            <a:prstDash val="solid"/>
          </a:ln>
        </p:spPr>
      </p:sp>
      <p:sp>
        <p:nvSpPr>
          <p:cNvPr id="47" name="Text 39"/>
          <p:cNvSpPr txBox="1"/>
          <p:nvPr/>
        </p:nvSpPr>
        <p:spPr>
          <a:xfrm>
            <a:off x="4864608" y="3721608"/>
            <a:ext cx="685800" cy="594360"/>
          </a:xfrm>
          <a:prstGeom prst="rect">
            <a:avLst/>
          </a:prstGeom>
          <a:noFill/>
          <a:ln/>
        </p:spPr>
        <p:txBody>
          <a:bodyPr wrap="square" lIns="0" tIns="0" rIns="0" bIns="0" rtlCol="0" anchor="ctr"/>
          <a:lstStyle/>
          <a:p>
            <a:pPr indent="0" marL="0">
              <a:buNone/>
            </a:pPr>
            <a:r>
              <a:rPr lang="en-US" sz="1800" b="1" dirty="0">
                <a:solidFill>
                  <a:srgbClr val="B83B2E"/>
                </a:solidFill>
                <a:latin typeface="Calibri" pitchFamily="34" charset="0"/>
                <a:ea typeface="Calibri" pitchFamily="34" charset="-122"/>
                <a:cs typeface="Calibri" pitchFamily="34" charset="-120"/>
              </a:rPr>
              <a:t>4.3</a:t>
            </a:r>
            <a:endParaRPr lang="en-US" sz="1800" dirty="0"/>
          </a:p>
        </p:txBody>
      </p:sp>
      <p:sp>
        <p:nvSpPr>
          <p:cNvPr id="48" name="Text 40"/>
          <p:cNvSpPr txBox="1"/>
          <p:nvPr/>
        </p:nvSpPr>
        <p:spPr>
          <a:xfrm>
            <a:off x="5596128" y="3794760"/>
            <a:ext cx="301752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Data governance reference guide</a:t>
            </a:r>
            <a:endParaRPr lang="en-US" sz="1150" dirty="0"/>
          </a:p>
        </p:txBody>
      </p:sp>
      <p:sp>
        <p:nvSpPr>
          <p:cNvPr id="49" name="Text 41"/>
          <p:cNvSpPr txBox="1"/>
          <p:nvPr/>
        </p:nvSpPr>
        <p:spPr>
          <a:xfrm>
            <a:off x="5596128" y="4032504"/>
            <a:ext cx="3017520" cy="219456"/>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Traffic-light rules → checklist</a:t>
            </a:r>
            <a:endParaRPr lang="en-US" sz="1000" dirty="0"/>
          </a:p>
        </p:txBody>
      </p:sp>
      <p:sp>
        <p:nvSpPr>
          <p:cNvPr id="50" name="Text 42"/>
          <p:cNvSpPr txBox="1"/>
          <p:nvPr/>
        </p:nvSpPr>
        <p:spPr>
          <a:xfrm>
            <a:off x="457200" y="4526280"/>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Source: STG17 Workshop concept note — rationale and link with the Action Plan.</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640080"/>
            <a:ext cx="64008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CLOSING · THREE THINGS TO REMEMBER</a:t>
            </a:r>
            <a:endParaRPr lang="en-US" sz="1100" dirty="0"/>
          </a:p>
        </p:txBody>
      </p:sp>
      <p:sp>
        <p:nvSpPr>
          <p:cNvPr id="4" name="Text 2"/>
          <p:cNvSpPr txBox="1"/>
          <p:nvPr/>
        </p:nvSpPr>
        <p:spPr>
          <a:xfrm>
            <a:off x="548640" y="960120"/>
            <a:ext cx="7315200" cy="109728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One model, many jobs —</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one standard of quality</a:t>
            </a:r>
            <a:endParaRPr lang="en-US" sz="3600" dirty="0"/>
          </a:p>
        </p:txBody>
      </p:sp>
      <p:sp>
        <p:nvSpPr>
          <p:cNvPr id="5" name="Shape 3"/>
          <p:cNvSpPr/>
          <p:nvPr/>
        </p:nvSpPr>
        <p:spPr>
          <a:xfrm>
            <a:off x="548640" y="2331720"/>
            <a:ext cx="2560320" cy="1691640"/>
          </a:xfrm>
          <a:prstGeom prst="roundRect">
            <a:avLst>
              <a:gd name="adj" fmla="val 4324"/>
            </a:avLst>
          </a:prstGeom>
          <a:solidFill>
            <a:srgbClr val="FFFFFF">
              <a:alpha val="12000"/>
            </a:srgbClr>
          </a:solidFill>
          <a:ln w="9525">
            <a:solidFill>
              <a:srgbClr val="FFFFFF">
                <a:alpha val="40000"/>
              </a:srgbClr>
            </a:solidFill>
            <a:prstDash val="solid"/>
          </a:ln>
        </p:spPr>
      </p:sp>
      <p:sp>
        <p:nvSpPr>
          <p:cNvPr id="6" name="Text 4"/>
          <p:cNvSpPr txBox="1"/>
          <p:nvPr/>
        </p:nvSpPr>
        <p:spPr>
          <a:xfrm>
            <a:off x="731520" y="2395728"/>
            <a:ext cx="548640" cy="594360"/>
          </a:xfrm>
          <a:prstGeom prst="rect">
            <a:avLst/>
          </a:prstGeom>
          <a:noFill/>
          <a:ln/>
        </p:spPr>
        <p:txBody>
          <a:bodyPr wrap="square" lIns="0" tIns="0" rIns="0" bIns="0" rtlCol="0" anchor="t"/>
          <a:lstStyle/>
          <a:p>
            <a:pPr indent="0" marL="0">
              <a:buNone/>
            </a:pPr>
            <a:r>
              <a:rPr lang="en-US" sz="3600" b="1" dirty="0">
                <a:solidFill>
                  <a:srgbClr val="F5C242"/>
                </a:solidFill>
                <a:latin typeface="Calibri" pitchFamily="34" charset="0"/>
                <a:ea typeface="Calibri" pitchFamily="34" charset="-122"/>
                <a:cs typeface="Calibri" pitchFamily="34" charset="-120"/>
              </a:rPr>
              <a:t>1</a:t>
            </a:r>
            <a:endParaRPr lang="en-US" sz="3600" dirty="0"/>
          </a:p>
        </p:txBody>
      </p:sp>
      <p:sp>
        <p:nvSpPr>
          <p:cNvPr id="7" name="Text 5"/>
          <p:cNvSpPr txBox="1"/>
          <p:nvPr/>
        </p:nvSpPr>
        <p:spPr>
          <a:xfrm>
            <a:off x="731520" y="2999232"/>
            <a:ext cx="2194560" cy="2743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One recipe</a:t>
            </a:r>
            <a:endParaRPr lang="en-US" sz="1500" dirty="0"/>
          </a:p>
        </p:txBody>
      </p:sp>
      <p:sp>
        <p:nvSpPr>
          <p:cNvPr id="8" name="Text 6"/>
          <p:cNvSpPr txBox="1"/>
          <p:nvPr/>
        </p:nvSpPr>
        <p:spPr>
          <a:xfrm>
            <a:off x="731520" y="3291840"/>
            <a:ext cx="2240280" cy="685800"/>
          </a:xfrm>
          <a:prstGeom prst="rect">
            <a:avLst/>
          </a:prstGeom>
          <a:noFill/>
          <a:ln/>
        </p:spPr>
        <p:txBody>
          <a:bodyPr wrap="square" lIns="0" tIns="0" rIns="0" bIns="0" rtlCol="0" anchor="t"/>
          <a:lstStyle/>
          <a:p>
            <a:pPr indent="0" marL="0">
              <a:buNone/>
            </a:pPr>
            <a:r>
              <a:rPr lang="en-US" sz="1050" dirty="0">
                <a:solidFill>
                  <a:srgbClr val="E6F6EE"/>
                </a:solidFill>
                <a:latin typeface="Calibri" pitchFamily="34" charset="0"/>
                <a:ea typeface="Calibri" pitchFamily="34" charset="-122"/>
                <a:cs typeface="Calibri" pitchFamily="34" charset="-120"/>
              </a:rPr>
              <a:t>Role · Context · Task · Format · Check works for code, notes, slides, charts and logos.</a:t>
            </a:r>
            <a:endParaRPr lang="en-US" sz="1050" dirty="0"/>
          </a:p>
        </p:txBody>
      </p:sp>
      <p:sp>
        <p:nvSpPr>
          <p:cNvPr id="9" name="Shape 7"/>
          <p:cNvSpPr/>
          <p:nvPr/>
        </p:nvSpPr>
        <p:spPr>
          <a:xfrm>
            <a:off x="3291840" y="2331720"/>
            <a:ext cx="2560320" cy="1691640"/>
          </a:xfrm>
          <a:prstGeom prst="roundRect">
            <a:avLst>
              <a:gd name="adj" fmla="val 4324"/>
            </a:avLst>
          </a:prstGeom>
          <a:solidFill>
            <a:srgbClr val="FFFFFF">
              <a:alpha val="12000"/>
            </a:srgbClr>
          </a:solidFill>
          <a:ln w="9525">
            <a:solidFill>
              <a:srgbClr val="FFFFFF">
                <a:alpha val="40000"/>
              </a:srgbClr>
            </a:solidFill>
            <a:prstDash val="solid"/>
          </a:ln>
        </p:spPr>
      </p:sp>
      <p:sp>
        <p:nvSpPr>
          <p:cNvPr id="10" name="Text 8"/>
          <p:cNvSpPr txBox="1"/>
          <p:nvPr/>
        </p:nvSpPr>
        <p:spPr>
          <a:xfrm>
            <a:off x="3474720" y="2395728"/>
            <a:ext cx="548640" cy="594360"/>
          </a:xfrm>
          <a:prstGeom prst="rect">
            <a:avLst/>
          </a:prstGeom>
          <a:noFill/>
          <a:ln/>
        </p:spPr>
        <p:txBody>
          <a:bodyPr wrap="square" lIns="0" tIns="0" rIns="0" bIns="0" rtlCol="0" anchor="t"/>
          <a:lstStyle/>
          <a:p>
            <a:pPr indent="0" marL="0">
              <a:buNone/>
            </a:pPr>
            <a:r>
              <a:rPr lang="en-US" sz="3600" b="1" dirty="0">
                <a:solidFill>
                  <a:srgbClr val="F5C242"/>
                </a:solidFill>
                <a:latin typeface="Calibri" pitchFamily="34" charset="0"/>
                <a:ea typeface="Calibri" pitchFamily="34" charset="-122"/>
                <a:cs typeface="Calibri" pitchFamily="34" charset="-120"/>
              </a:rPr>
              <a:t>2</a:t>
            </a:r>
            <a:endParaRPr lang="en-US" sz="3600" dirty="0"/>
          </a:p>
        </p:txBody>
      </p:sp>
      <p:sp>
        <p:nvSpPr>
          <p:cNvPr id="11" name="Text 9"/>
          <p:cNvSpPr txBox="1"/>
          <p:nvPr/>
        </p:nvSpPr>
        <p:spPr>
          <a:xfrm>
            <a:off x="3474720" y="2999232"/>
            <a:ext cx="2194560" cy="2743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Numbers from code</a:t>
            </a:r>
            <a:endParaRPr lang="en-US" sz="1500" dirty="0"/>
          </a:p>
        </p:txBody>
      </p:sp>
      <p:sp>
        <p:nvSpPr>
          <p:cNvPr id="12" name="Text 10"/>
          <p:cNvSpPr txBox="1"/>
          <p:nvPr/>
        </p:nvSpPr>
        <p:spPr>
          <a:xfrm>
            <a:off x="3474720" y="3291840"/>
            <a:ext cx="2240280" cy="685800"/>
          </a:xfrm>
          <a:prstGeom prst="rect">
            <a:avLst/>
          </a:prstGeom>
          <a:noFill/>
          <a:ln/>
        </p:spPr>
        <p:txBody>
          <a:bodyPr wrap="square" lIns="0" tIns="0" rIns="0" bIns="0" rtlCol="0" anchor="t"/>
          <a:lstStyle/>
          <a:p>
            <a:pPr indent="0" marL="0">
              <a:buNone/>
            </a:pPr>
            <a:r>
              <a:rPr lang="en-US" sz="1050" dirty="0">
                <a:solidFill>
                  <a:srgbClr val="E6F6EE"/>
                </a:solidFill>
                <a:latin typeface="Calibri" pitchFamily="34" charset="0"/>
                <a:ea typeface="Calibri" pitchFamily="34" charset="-122"/>
                <a:cs typeface="Calibri" pitchFamily="34" charset="-120"/>
              </a:rPr>
              <a:t>Computers compute, language models narrate. Fact-check every figure.</a:t>
            </a:r>
            <a:endParaRPr lang="en-US" sz="1050" dirty="0"/>
          </a:p>
        </p:txBody>
      </p:sp>
      <p:sp>
        <p:nvSpPr>
          <p:cNvPr id="13" name="Shape 11"/>
          <p:cNvSpPr/>
          <p:nvPr/>
        </p:nvSpPr>
        <p:spPr>
          <a:xfrm>
            <a:off x="6035040" y="2331720"/>
            <a:ext cx="2560320" cy="1691640"/>
          </a:xfrm>
          <a:prstGeom prst="roundRect">
            <a:avLst>
              <a:gd name="adj" fmla="val 4324"/>
            </a:avLst>
          </a:prstGeom>
          <a:solidFill>
            <a:srgbClr val="FFFFFF">
              <a:alpha val="12000"/>
            </a:srgbClr>
          </a:solidFill>
          <a:ln w="9525">
            <a:solidFill>
              <a:srgbClr val="FFFFFF">
                <a:alpha val="40000"/>
              </a:srgbClr>
            </a:solidFill>
            <a:prstDash val="solid"/>
          </a:ln>
        </p:spPr>
      </p:sp>
      <p:sp>
        <p:nvSpPr>
          <p:cNvPr id="14" name="Text 12"/>
          <p:cNvSpPr txBox="1"/>
          <p:nvPr/>
        </p:nvSpPr>
        <p:spPr>
          <a:xfrm>
            <a:off x="6217920" y="2395728"/>
            <a:ext cx="548640" cy="594360"/>
          </a:xfrm>
          <a:prstGeom prst="rect">
            <a:avLst/>
          </a:prstGeom>
          <a:noFill/>
          <a:ln/>
        </p:spPr>
        <p:txBody>
          <a:bodyPr wrap="square" lIns="0" tIns="0" rIns="0" bIns="0" rtlCol="0" anchor="t"/>
          <a:lstStyle/>
          <a:p>
            <a:pPr indent="0" marL="0">
              <a:buNone/>
            </a:pPr>
            <a:r>
              <a:rPr lang="en-US" sz="3600" b="1" dirty="0">
                <a:solidFill>
                  <a:srgbClr val="F5C242"/>
                </a:solidFill>
                <a:latin typeface="Calibri" pitchFamily="34" charset="0"/>
                <a:ea typeface="Calibri" pitchFamily="34" charset="-122"/>
                <a:cs typeface="Calibri" pitchFamily="34" charset="-120"/>
              </a:rPr>
              <a:t>3</a:t>
            </a:r>
            <a:endParaRPr lang="en-US" sz="3600" dirty="0"/>
          </a:p>
        </p:txBody>
      </p:sp>
      <p:sp>
        <p:nvSpPr>
          <p:cNvPr id="15" name="Text 13"/>
          <p:cNvSpPr txBox="1"/>
          <p:nvPr/>
        </p:nvSpPr>
        <p:spPr>
          <a:xfrm>
            <a:off x="6217920" y="2999232"/>
            <a:ext cx="2194560" cy="2743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Public data only</a:t>
            </a:r>
            <a:endParaRPr lang="en-US" sz="1500" dirty="0"/>
          </a:p>
        </p:txBody>
      </p:sp>
      <p:sp>
        <p:nvSpPr>
          <p:cNvPr id="16" name="Text 14"/>
          <p:cNvSpPr txBox="1"/>
          <p:nvPr/>
        </p:nvSpPr>
        <p:spPr>
          <a:xfrm>
            <a:off x="6217920" y="3291840"/>
            <a:ext cx="2240280" cy="685800"/>
          </a:xfrm>
          <a:prstGeom prst="rect">
            <a:avLst/>
          </a:prstGeom>
          <a:noFill/>
          <a:ln/>
        </p:spPr>
        <p:txBody>
          <a:bodyPr wrap="square" lIns="0" tIns="0" rIns="0" bIns="0" rtlCol="0" anchor="t"/>
          <a:lstStyle/>
          <a:p>
            <a:pPr indent="0" marL="0">
              <a:buNone/>
            </a:pPr>
            <a:r>
              <a:rPr lang="en-US" sz="1050" dirty="0">
                <a:solidFill>
                  <a:srgbClr val="E6F6EE"/>
                </a:solidFill>
                <a:latin typeface="Calibri" pitchFamily="34" charset="0"/>
                <a:ea typeface="Calibri" pitchFamily="34" charset="-122"/>
                <a:cs typeface="Calibri" pitchFamily="34" charset="-120"/>
              </a:rPr>
              <a:t>Free tiers are for public or synthetic material. When in doubt, it is red.</a:t>
            </a:r>
            <a:endParaRPr lang="en-US" sz="1050" dirty="0"/>
          </a:p>
        </p:txBody>
      </p:sp>
      <p:sp>
        <p:nvSpPr>
          <p:cNvPr id="17" name="Text 15"/>
          <p:cNvSpPr txBox="1"/>
          <p:nvPr/>
        </p:nvSpPr>
        <p:spPr>
          <a:xfrm>
            <a:off x="548640" y="4343400"/>
            <a:ext cx="7315200" cy="27432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Gallery walk now · Exit ticket before you go · Questions welcome</a:t>
            </a:r>
            <a:endParaRPr lang="en-US" sz="13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REFERENCES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indent="0" marL="0">
              <a:buNone/>
            </a:pPr>
            <a:r>
              <a:rPr lang="en-US" sz="2600" b="1" dirty="0">
                <a:solidFill>
                  <a:srgbClr val="231F20"/>
                </a:solidFill>
                <a:latin typeface="Calibri" pitchFamily="34" charset="0"/>
                <a:ea typeface="Calibri" pitchFamily="34" charset="-122"/>
                <a:cs typeface="Calibri" pitchFamily="34" charset="-120"/>
              </a:rPr>
              <a:t>Sources and further reading</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STG17 · One Model, Many Jobs — an LLM Toolkit for Statisticians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7" name="Shape 14"/>
          <p:cNvSpPr/>
          <p:nvPr/>
        </p:nvSpPr>
        <p:spPr>
          <a:xfrm>
            <a:off x="457200" y="1353312"/>
            <a:ext cx="8229600" cy="347472"/>
          </a:xfrm>
          <a:prstGeom prst="roundRect">
            <a:avLst>
              <a:gd name="adj" fmla="val 13158"/>
            </a:avLst>
          </a:prstGeom>
          <a:solidFill>
            <a:srgbClr val="F4F7F5"/>
          </a:solidFill>
          <a:ln/>
        </p:spPr>
      </p:sp>
      <p:sp>
        <p:nvSpPr>
          <p:cNvPr id="18" name="Shape 15"/>
          <p:cNvSpPr/>
          <p:nvPr/>
        </p:nvSpPr>
        <p:spPr>
          <a:xfrm>
            <a:off x="548640" y="1435608"/>
            <a:ext cx="1097280" cy="201168"/>
          </a:xfrm>
          <a:prstGeom prst="roundRect">
            <a:avLst>
              <a:gd name="adj" fmla="val 50000"/>
            </a:avLst>
          </a:prstGeom>
          <a:solidFill>
            <a:srgbClr val="00704A">
              <a:alpha val="15000"/>
            </a:srgbClr>
          </a:solidFill>
          <a:ln w="9525">
            <a:solidFill>
              <a:srgbClr val="00704A"/>
            </a:solidFill>
            <a:prstDash val="solid"/>
          </a:ln>
        </p:spPr>
      </p:sp>
      <p:sp>
        <p:nvSpPr>
          <p:cNvPr id="19" name="Text 16"/>
          <p:cNvSpPr txBox="1"/>
          <p:nvPr/>
        </p:nvSpPr>
        <p:spPr>
          <a:xfrm>
            <a:off x="548640" y="1435608"/>
            <a:ext cx="1097280" cy="201168"/>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Workshop</a:t>
            </a:r>
            <a:endParaRPr lang="en-US" sz="850" dirty="0"/>
          </a:p>
        </p:txBody>
      </p:sp>
      <p:sp>
        <p:nvSpPr>
          <p:cNvPr id="20" name="Text 17"/>
          <p:cNvSpPr txBox="1"/>
          <p:nvPr/>
        </p:nvSpPr>
        <p:spPr>
          <a:xfrm>
            <a:off x="1828800" y="1371600"/>
            <a:ext cx="667512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STG17 Technical Workshop — Emerging Issues, Emerging Practice: concept note and agenda (AfDB · AU STATAFRIC · NISR).</a:t>
            </a:r>
            <a:endParaRPr lang="en-US" sz="1050" dirty="0"/>
          </a:p>
        </p:txBody>
      </p:sp>
      <p:sp>
        <p:nvSpPr>
          <p:cNvPr id="21" name="Shape 18"/>
          <p:cNvSpPr/>
          <p:nvPr/>
        </p:nvSpPr>
        <p:spPr>
          <a:xfrm>
            <a:off x="548640" y="1819656"/>
            <a:ext cx="1097280" cy="201168"/>
          </a:xfrm>
          <a:prstGeom prst="roundRect">
            <a:avLst>
              <a:gd name="adj" fmla="val 50000"/>
            </a:avLst>
          </a:prstGeom>
          <a:solidFill>
            <a:srgbClr val="00704A">
              <a:alpha val="15000"/>
            </a:srgbClr>
          </a:solidFill>
          <a:ln w="9525">
            <a:solidFill>
              <a:srgbClr val="00704A"/>
            </a:solidFill>
            <a:prstDash val="solid"/>
          </a:ln>
        </p:spPr>
      </p:sp>
      <p:sp>
        <p:nvSpPr>
          <p:cNvPr id="22" name="Text 19"/>
          <p:cNvSpPr txBox="1"/>
          <p:nvPr/>
        </p:nvSpPr>
        <p:spPr>
          <a:xfrm>
            <a:off x="548640" y="1819656"/>
            <a:ext cx="1097280" cy="201168"/>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Standards</a:t>
            </a:r>
            <a:endParaRPr lang="en-US" sz="850" dirty="0"/>
          </a:p>
        </p:txBody>
      </p:sp>
      <p:sp>
        <p:nvSpPr>
          <p:cNvPr id="23" name="Text 20"/>
          <p:cNvSpPr txBox="1"/>
          <p:nvPr/>
        </p:nvSpPr>
        <p:spPr>
          <a:xfrm>
            <a:off x="1828800" y="1755648"/>
            <a:ext cx="667512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UNECE / HLG-MOS (2019). Generic Statistical Business Process Model, GSBPM v5.1.</a:t>
            </a:r>
            <a:endParaRPr lang="en-US" sz="1050" dirty="0"/>
          </a:p>
        </p:txBody>
      </p:sp>
      <p:sp>
        <p:nvSpPr>
          <p:cNvPr id="24" name="Shape 21"/>
          <p:cNvSpPr/>
          <p:nvPr/>
        </p:nvSpPr>
        <p:spPr>
          <a:xfrm>
            <a:off x="457200" y="2121408"/>
            <a:ext cx="8229600" cy="347472"/>
          </a:xfrm>
          <a:prstGeom prst="roundRect">
            <a:avLst>
              <a:gd name="adj" fmla="val 13158"/>
            </a:avLst>
          </a:prstGeom>
          <a:solidFill>
            <a:srgbClr val="F4F7F5"/>
          </a:solidFill>
          <a:ln/>
        </p:spPr>
      </p:sp>
      <p:sp>
        <p:nvSpPr>
          <p:cNvPr id="25" name="Shape 22"/>
          <p:cNvSpPr/>
          <p:nvPr/>
        </p:nvSpPr>
        <p:spPr>
          <a:xfrm>
            <a:off x="548640" y="2203704"/>
            <a:ext cx="1097280" cy="201168"/>
          </a:xfrm>
          <a:prstGeom prst="roundRect">
            <a:avLst>
              <a:gd name="adj" fmla="val 50000"/>
            </a:avLst>
          </a:prstGeom>
          <a:solidFill>
            <a:srgbClr val="00704A">
              <a:alpha val="15000"/>
            </a:srgbClr>
          </a:solidFill>
          <a:ln w="9525">
            <a:solidFill>
              <a:srgbClr val="00704A"/>
            </a:solidFill>
            <a:prstDash val="solid"/>
          </a:ln>
        </p:spPr>
      </p:sp>
      <p:sp>
        <p:nvSpPr>
          <p:cNvPr id="26" name="Text 23"/>
          <p:cNvSpPr txBox="1"/>
          <p:nvPr/>
        </p:nvSpPr>
        <p:spPr>
          <a:xfrm>
            <a:off x="548640" y="2203704"/>
            <a:ext cx="1097280" cy="201168"/>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LLMs in NSOs</a:t>
            </a:r>
            <a:endParaRPr lang="en-US" sz="850" dirty="0"/>
          </a:p>
        </p:txBody>
      </p:sp>
      <p:sp>
        <p:nvSpPr>
          <p:cNvPr id="27" name="Text 24"/>
          <p:cNvSpPr txBox="1"/>
          <p:nvPr/>
        </p:nvSpPr>
        <p:spPr>
          <a:xfrm>
            <a:off x="1828800" y="2139696"/>
            <a:ext cx="667512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HLG-MOS (Dec. 2023). Large Language Models for Official Statistics — white paper. unece.org</a:t>
            </a:r>
            <a:endParaRPr lang="en-US" sz="1050" dirty="0"/>
          </a:p>
        </p:txBody>
      </p:sp>
      <p:sp>
        <p:nvSpPr>
          <p:cNvPr id="28" name="Shape 25"/>
          <p:cNvSpPr/>
          <p:nvPr/>
        </p:nvSpPr>
        <p:spPr>
          <a:xfrm>
            <a:off x="548640" y="2587752"/>
            <a:ext cx="1097280" cy="201168"/>
          </a:xfrm>
          <a:prstGeom prst="roundRect">
            <a:avLst>
              <a:gd name="adj" fmla="val 50000"/>
            </a:avLst>
          </a:prstGeom>
          <a:solidFill>
            <a:srgbClr val="00704A">
              <a:alpha val="15000"/>
            </a:srgbClr>
          </a:solidFill>
          <a:ln w="9525">
            <a:solidFill>
              <a:srgbClr val="00704A"/>
            </a:solidFill>
            <a:prstDash val="solid"/>
          </a:ln>
        </p:spPr>
      </p:sp>
      <p:sp>
        <p:nvSpPr>
          <p:cNvPr id="29" name="Text 26"/>
          <p:cNvSpPr txBox="1"/>
          <p:nvPr/>
        </p:nvSpPr>
        <p:spPr>
          <a:xfrm>
            <a:off x="548640" y="2587752"/>
            <a:ext cx="1097280" cy="201168"/>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LLMs in NSOs</a:t>
            </a:r>
            <a:endParaRPr lang="en-US" sz="850" dirty="0"/>
          </a:p>
        </p:txBody>
      </p:sp>
      <p:sp>
        <p:nvSpPr>
          <p:cNvPr id="30" name="Text 27"/>
          <p:cNvSpPr txBox="1"/>
          <p:nvPr/>
        </p:nvSpPr>
        <p:spPr>
          <a:xfrm>
            <a:off x="1828800" y="2523744"/>
            <a:ext cx="667512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HLG-MOS (Sept. 2025). Generative AI for Official Statistics — report. unece.org</a:t>
            </a:r>
            <a:endParaRPr lang="en-US" sz="1050" dirty="0"/>
          </a:p>
        </p:txBody>
      </p:sp>
      <p:sp>
        <p:nvSpPr>
          <p:cNvPr id="31" name="Shape 28"/>
          <p:cNvSpPr/>
          <p:nvPr/>
        </p:nvSpPr>
        <p:spPr>
          <a:xfrm>
            <a:off x="457200" y="2889504"/>
            <a:ext cx="8229600" cy="347472"/>
          </a:xfrm>
          <a:prstGeom prst="roundRect">
            <a:avLst>
              <a:gd name="adj" fmla="val 13158"/>
            </a:avLst>
          </a:prstGeom>
          <a:solidFill>
            <a:srgbClr val="F4F7F5"/>
          </a:solidFill>
          <a:ln/>
        </p:spPr>
      </p:sp>
      <p:sp>
        <p:nvSpPr>
          <p:cNvPr id="32" name="Shape 29"/>
          <p:cNvSpPr/>
          <p:nvPr/>
        </p:nvSpPr>
        <p:spPr>
          <a:xfrm>
            <a:off x="548640" y="2971800"/>
            <a:ext cx="1097280" cy="201168"/>
          </a:xfrm>
          <a:prstGeom prst="roundRect">
            <a:avLst>
              <a:gd name="adj" fmla="val 50000"/>
            </a:avLst>
          </a:prstGeom>
          <a:solidFill>
            <a:srgbClr val="00704A">
              <a:alpha val="15000"/>
            </a:srgbClr>
          </a:solidFill>
          <a:ln w="9525">
            <a:solidFill>
              <a:srgbClr val="00704A"/>
            </a:solidFill>
            <a:prstDash val="solid"/>
          </a:ln>
        </p:spPr>
      </p:sp>
      <p:sp>
        <p:nvSpPr>
          <p:cNvPr id="33" name="Text 30"/>
          <p:cNvSpPr txBox="1"/>
          <p:nvPr/>
        </p:nvSpPr>
        <p:spPr>
          <a:xfrm>
            <a:off x="548640" y="2971800"/>
            <a:ext cx="1097280" cy="201168"/>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Free tiers</a:t>
            </a:r>
            <a:endParaRPr lang="en-US" sz="850" dirty="0"/>
          </a:p>
        </p:txBody>
      </p:sp>
      <p:sp>
        <p:nvSpPr>
          <p:cNvPr id="34" name="Text 31"/>
          <p:cNvSpPr txBox="1"/>
          <p:nvPr/>
        </p:nvSpPr>
        <p:spPr>
          <a:xfrm>
            <a:off x="1828800" y="2907792"/>
            <a:ext cx="667512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pecollective.com (2026). Gemini API Free Tier 2026: limits, quotas and what you get.</a:t>
            </a:r>
            <a:endParaRPr lang="en-US" sz="1050" dirty="0"/>
          </a:p>
        </p:txBody>
      </p:sp>
      <p:sp>
        <p:nvSpPr>
          <p:cNvPr id="35" name="Shape 32"/>
          <p:cNvSpPr/>
          <p:nvPr/>
        </p:nvSpPr>
        <p:spPr>
          <a:xfrm>
            <a:off x="548640" y="3355848"/>
            <a:ext cx="1097280" cy="201168"/>
          </a:xfrm>
          <a:prstGeom prst="roundRect">
            <a:avLst>
              <a:gd name="adj" fmla="val 50000"/>
            </a:avLst>
          </a:prstGeom>
          <a:solidFill>
            <a:srgbClr val="00704A">
              <a:alpha val="15000"/>
            </a:srgbClr>
          </a:solidFill>
          <a:ln w="9525">
            <a:solidFill>
              <a:srgbClr val="00704A"/>
            </a:solidFill>
            <a:prstDash val="solid"/>
          </a:ln>
        </p:spPr>
      </p:sp>
      <p:sp>
        <p:nvSpPr>
          <p:cNvPr id="36" name="Text 33"/>
          <p:cNvSpPr txBox="1"/>
          <p:nvPr/>
        </p:nvSpPr>
        <p:spPr>
          <a:xfrm>
            <a:off x="548640" y="3355848"/>
            <a:ext cx="1097280" cy="201168"/>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Free tiers</a:t>
            </a:r>
            <a:endParaRPr lang="en-US" sz="850" dirty="0"/>
          </a:p>
        </p:txBody>
      </p:sp>
      <p:sp>
        <p:nvSpPr>
          <p:cNvPr id="37" name="Text 34"/>
          <p:cNvSpPr txBox="1"/>
          <p:nvPr/>
        </p:nvSpPr>
        <p:spPr>
          <a:xfrm>
            <a:off x="1828800" y="3291840"/>
            <a:ext cx="667512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klymentiev.com (June 2026). Groq API pricing &amp; free-tier rate limits 2026.</a:t>
            </a:r>
            <a:endParaRPr lang="en-US" sz="1050" dirty="0"/>
          </a:p>
        </p:txBody>
      </p:sp>
      <p:sp>
        <p:nvSpPr>
          <p:cNvPr id="38" name="Shape 35"/>
          <p:cNvSpPr/>
          <p:nvPr/>
        </p:nvSpPr>
        <p:spPr>
          <a:xfrm>
            <a:off x="457200" y="3657600"/>
            <a:ext cx="8229600" cy="347472"/>
          </a:xfrm>
          <a:prstGeom prst="roundRect">
            <a:avLst>
              <a:gd name="adj" fmla="val 13158"/>
            </a:avLst>
          </a:prstGeom>
          <a:solidFill>
            <a:srgbClr val="F4F7F5"/>
          </a:solidFill>
          <a:ln/>
        </p:spPr>
      </p:sp>
      <p:sp>
        <p:nvSpPr>
          <p:cNvPr id="39" name="Shape 36"/>
          <p:cNvSpPr/>
          <p:nvPr/>
        </p:nvSpPr>
        <p:spPr>
          <a:xfrm>
            <a:off x="548640" y="3739896"/>
            <a:ext cx="1097280" cy="201168"/>
          </a:xfrm>
          <a:prstGeom prst="roundRect">
            <a:avLst>
              <a:gd name="adj" fmla="val 50000"/>
            </a:avLst>
          </a:prstGeom>
          <a:solidFill>
            <a:srgbClr val="00704A">
              <a:alpha val="15000"/>
            </a:srgbClr>
          </a:solidFill>
          <a:ln w="9525">
            <a:solidFill>
              <a:srgbClr val="00704A"/>
            </a:solidFill>
            <a:prstDash val="solid"/>
          </a:ln>
        </p:spPr>
      </p:sp>
      <p:sp>
        <p:nvSpPr>
          <p:cNvPr id="40" name="Text 37"/>
          <p:cNvSpPr txBox="1"/>
          <p:nvPr/>
        </p:nvSpPr>
        <p:spPr>
          <a:xfrm>
            <a:off x="548640" y="3739896"/>
            <a:ext cx="1097280" cy="201168"/>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Accessibility</a:t>
            </a:r>
            <a:endParaRPr lang="en-US" sz="850" dirty="0"/>
          </a:p>
        </p:txBody>
      </p:sp>
      <p:sp>
        <p:nvSpPr>
          <p:cNvPr id="41" name="Text 38"/>
          <p:cNvSpPr txBox="1"/>
          <p:nvPr/>
        </p:nvSpPr>
        <p:spPr>
          <a:xfrm>
            <a:off x="1828800" y="3675888"/>
            <a:ext cx="667512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W3C (2023). Web Content Accessibility Guidelines 2.2 — contrast minimum 4.5 : 1.</a:t>
            </a:r>
            <a:endParaRPr lang="en-US" sz="1050" dirty="0"/>
          </a:p>
        </p:txBody>
      </p:sp>
      <p:sp>
        <p:nvSpPr>
          <p:cNvPr id="42" name="Shape 39"/>
          <p:cNvSpPr/>
          <p:nvPr/>
        </p:nvSpPr>
        <p:spPr>
          <a:xfrm>
            <a:off x="548640" y="4123944"/>
            <a:ext cx="1097280" cy="201168"/>
          </a:xfrm>
          <a:prstGeom prst="roundRect">
            <a:avLst>
              <a:gd name="adj" fmla="val 50000"/>
            </a:avLst>
          </a:prstGeom>
          <a:solidFill>
            <a:srgbClr val="00704A">
              <a:alpha val="15000"/>
            </a:srgbClr>
          </a:solidFill>
          <a:ln w="9525">
            <a:solidFill>
              <a:srgbClr val="00704A"/>
            </a:solidFill>
            <a:prstDash val="solid"/>
          </a:ln>
        </p:spPr>
      </p:sp>
      <p:sp>
        <p:nvSpPr>
          <p:cNvPr id="43" name="Text 40"/>
          <p:cNvSpPr txBox="1"/>
          <p:nvPr/>
        </p:nvSpPr>
        <p:spPr>
          <a:xfrm>
            <a:off x="548640" y="4123944"/>
            <a:ext cx="1097280" cy="201168"/>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Tools</a:t>
            </a:r>
            <a:endParaRPr lang="en-US" sz="850" dirty="0"/>
          </a:p>
        </p:txBody>
      </p:sp>
      <p:sp>
        <p:nvSpPr>
          <p:cNvPr id="44" name="Text 41"/>
          <p:cNvSpPr txBox="1"/>
          <p:nvPr/>
        </p:nvSpPr>
        <p:spPr>
          <a:xfrm>
            <a:off x="1828800" y="4059936"/>
            <a:ext cx="667512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aistudio.google.com · console.groq.com · notebooklm.google.com · colab.research.google.com</a:t>
            </a:r>
            <a:endParaRPr lang="en-US" sz="1050" dirty="0"/>
          </a:p>
        </p:txBody>
      </p:sp>
      <p:sp>
        <p:nvSpPr>
          <p:cNvPr id="45" name="Text 42"/>
          <p:cNvSpPr txBox="1"/>
          <p:nvPr/>
        </p:nvSpPr>
        <p:spPr>
          <a:xfrm>
            <a:off x="457200" y="4526280"/>
            <a:ext cx="82296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Style: AfDB-inspired institutional palette — not the official AfDB brand manual. Confirm logo and colours with the communication department.</a:t>
            </a:r>
            <a:endParaRPr lang="en-US" sz="9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Model, Many Jobs — an LLM Toolkit for Statisticians</dc:title>
  <dc:subject>PptxGenJS Presentation</dc:subject>
  <dc:creator>STG17 Secretariat</dc:creator>
  <cp:lastModifiedBy>STG17 Secretariat</cp:lastModifiedBy>
  <cp:revision>1</cp:revision>
  <dcterms:created xsi:type="dcterms:W3CDTF">2026-09-16T09:44:58Z</dcterms:created>
  <dcterms:modified xsi:type="dcterms:W3CDTF">2026-09-16T09:44:58Z</dcterms:modified>
</cp:coreProperties>
</file>