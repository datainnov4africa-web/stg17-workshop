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31F20"/>
                </a:solidFill>
                <a:latin typeface="Calibri"/>
              </a:defRPr>
            </a:pPr>
            <a:r>
              <a:rPr sz="1200" b="0" i="0" u="none" strike="noStrike">
                <a:solidFill>
                  <a:srgbClr val="231F20"/>
                </a:solidFill>
                <a:latin typeface="Calibri"/>
              </a:rPr>
              <a:t>Part de la population utilisant internet, Afrique, 2024 (%)</a:t>
            </a:r>
          </a:p>
        </c:rich>
      </c:tx>
      <c:layout/>
      <c:overlay val="0"/>
    </c:title>
    <c:autoTitleDeleted val="0"/>
    <c:plotArea>
      <c:layout/>
      <c:barChart>
        <c:barDir val="col"/>
        <c:grouping val="clustered"/>
        <c:varyColors val="0"/>
        <c:ser>
          <c:idx val="0"/>
          <c:order val="0"/>
          <c:tx>
            <c:strRef>
              <c:f>Sheet1!$B$1</c:f>
              <c:strCache>
                <c:ptCount val="1"/>
                <c:pt idx="0">
                  <c:v>Utilisation d'internet, Afrique, 2024 (%)</c:v>
                </c:pt>
              </c:strCache>
            </c:strRef>
          </c:tx>
          <c:spPr>
            <a:solidFill>
              <a:srgbClr val="10A06A"/>
            </a:solidFill>
            <a:effectLst/>
          </c:spPr>
          <c:invertIfNegative val="0"/>
          <c:dLbls>
            <c:numFmt formatCode="0&quot; %&quot;" sourceLinked="0"/>
            <c:txPr>
              <a:bodyPr/>
              <a:lstStyle/>
              <a:p>
                <a:pPr>
                  <a:defRPr b="1" i="0" strike="noStrike" sz="1200" u="none">
                    <a:solidFill>
                      <a:srgbClr val="231F20"/>
                    </a:solidFill>
                    <a:latin typeface="Arial"/>
                  </a:defRPr>
                </a:pPr>
              </a:p>
            </c:txPr>
            <c:showLegendKey val="0"/>
            <c:showVal val="1"/>
            <c:showCatName val="0"/>
            <c:showSerName val="0"/>
            <c:showPercent val="0"/>
            <c:showBubbleSize val="0"/>
            <c:showLeaderLines val="0"/>
          </c:dLbls>
          <c:cat>
            <c:multiLvlStrRef>
              <c:f>Sheet1!$A$2:$A$6</c:f>
              <c:multiLvlStrCache>
                <c:ptCount val="5"/>
                <c:lvl>
                  <c:pt idx="0">
                    <c:v>Total</c:v>
                  </c:pt>
                  <c:pt idx="1">
                    <c:v>Urbain</c:v>
                  </c:pt>
                  <c:pt idx="2">
                    <c:v>Rural</c:v>
                  </c:pt>
                  <c:pt idx="3">
                    <c:v>Hommes</c:v>
                  </c:pt>
                  <c:pt idx="4">
                    <c:v>Femmes</c:v>
                  </c:pt>
                </c:lvl>
              </c:multiLvlStrCache>
            </c:multiLvlStrRef>
          </c:cat>
          <c:val>
            <c:numRef>
              <c:f>Sheet1!$B$2:$B$6</c:f>
              <c:numCache>
                <c:formatCode>General</c:formatCode>
                <c:ptCount val="5"/>
                <c:pt idx="0">
                  <c:v>38</c:v>
                </c:pt>
                <c:pt idx="1">
                  <c:v>57</c:v>
                </c:pt>
                <c:pt idx="2">
                  <c:v>23</c:v>
                </c:pt>
                <c:pt idx="3">
                  <c:v>43</c:v>
                </c:pt>
                <c:pt idx="4">
                  <c:v>31</c:v>
                </c:pt>
              </c:numCache>
            </c:numRef>
          </c:val>
        </c:ser>
        <c:dLbls>
          <c:numFmt formatCode="0&quot; %&quot;" sourceLinked="0"/>
          <c:txPr>
            <a:bodyPr/>
            <a:lstStyle/>
            <a:p>
              <a:pPr>
                <a:defRPr b="1" i="0" strike="noStrike" sz="1200" u="none">
                  <a:solidFill>
                    <a:srgbClr val="231F20"/>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5DED9"/>
            </a:solidFill>
            <a:prstDash val="solid"/>
            <a:round/>
          </a:ln>
        </c:spPr>
        <c:txPr>
          <a:bodyPr/>
          <a:lstStyle/>
          <a:p>
            <a:pPr>
              <a:defRPr sz="1100" b="0" i="0" u="none" strike="noStrike">
                <a:solidFill>
                  <a:srgbClr val="5E6964"/>
                </a:solidFill>
                <a:latin typeface="Calibri"/>
              </a:defRPr>
            </a:pPr>
            <a:endParaRPr lang="en-US"/>
          </a:p>
        </c:txPr>
        <c:crossAx val="2094734552"/>
        <c:crosses val="autoZero"/>
        <c:auto val="1"/>
        <c:lblAlgn val="ctr"/>
        <c:noMultiLvlLbl val="1"/>
      </c:catAx>
      <c:valAx>
        <c:axId val="2094734552"/>
        <c:scaling>
          <c:orientation val="minMax"/>
          <c:max val="7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Accueillir les participants. Cette session ouvre le jour 3 de l'atelier technique STG17, « Au-delà de l'enquête ». Il s'agit d'une session de 90 minutes, exposé et laboratoire : environ 50 minutes de concepts, 30 minutes de travail en équipe sur un exercice réel d'évaluation de source, et 10 minutes de restitution et de transition vers le laboratoire Ookla / WorldPop qui suit la pause-café. Positionner la session : il ne s'agit pas de remplacer les recensements et les enquêtes, mais d'apprendre à utiliser de nouvelles matières premières de manière responsable au sein du système statistique officiel.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Parcourir la semaine. Les jours 1 et 2 ont développé les compétences en IA et en LLM. Le jour 3 ouvre le volet données : cette session fournit le vocabulaire commun et les grilles de lecture qualité, accès et éthique. Juste après la pause, les équipes les appliquent à Ookla Speedtest et WorldPop. L'après-midi passe à l'échelle avec Elasticsearch. Le jour 4 est entièrement consacré aux lumières nocturnes. Le jour 5 est celui de la publication. Tout ce qui est dit ce matin sera utilisé concrètement avant vendredi.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Lire les six objectifs. Souligner que chacun correspond à une partie de la session et à un livrable de la semaine : la classification alimente le labo Ookla ; la grille qualité alimente la validation des lumières nocturnes au jour 4 ; l'accès et l'éthique alimentent la liste de contrôle STG17 sur la gouvernance des données (activité 4.3 du Plan d'action) et les travaux sur les partenariats avec le secteur privé (activité 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la feuille de route et le minutage. Les sections 1 à 5 constituent l'exposé (environ 50 minutes). La section 6 est le laboratoire : 30 minutes en équipe, 10 minutes de restitution. La couleur de chaque section est conservée sur toutes les diapositives — les points en haut à droite indiquent où nous en sommes.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 avant d'examiner les sources elles-mêmes, il faut clarifier pourquoi elles comptent aujourd'hui, pour nos instituts en particulier.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L'Agenda 2030 à lui seul demande 231 indicateurs uniques, la plupart désagrégés. Les instruments traditionnels sont excellents mais lents et coûteux, et conçus pour des estimations nationales. Demander à la salle : laquelle de ces quatre pressions est la plus forte dans votre institut ? Garder les réponses pour la synthèse finale.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diapositive répond à la question « avons-nous le droit ? ». Le principe 5 des Principes fondamentaux de l'ONU autorise explicitement les instituts à puiser dans tous les types de sources, en choisissant selon la qualité, l'actualité, le coût et la charge pour les répondants. La SHaSA II a créé le système des GTS ; le STG17 couvre les questions émergentes et a adopté son Plan d'action 2025–2030 à Kigali en septembre 2025. Le Rwanda accueille le Hub régional de l'ONU pour le big data en Afrique, à la suite d'un protocole d'accord signé en mars 2020. Souligner la condition commune : qualité et confidentialité.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contraste conceptuel le plus important de la session. Une enquête est conçue : nous choisissons la population, les concepts et les questions. Une source non traditionnelle est trouvée : quelqu'un d'autre l'a conçue pour un autre objectif, et nous héritons de ses choix. Lire deux ou trois lignes, puis insister sur la dernière : les faiblesses principales sont symétriques.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 ouvrons maintenant la carte au trésor. D'abord une définition, puis deux façons complémentaires de classer, puis chaque famille tour à 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Donner la définition de travail. Présenter ensuite la classification de la CEE-ONU, qui pose une seule question : qui ou quoi a produit l'enregistrement ? Elle est utile car chaque processus porte des risques typiques : les données d'origine humaine portent l'auto-sélection et les effets d'opinion ; les données issues de processus héritent de règles métier ; les données générées par des machines héritent du comportement et des pannes des capteurs. Le test en bas de la diapositive permet de trancher les débats.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six familles correspondent à la description de la session dans l'agenda. Pour chacune : ce qu'elle est, ce qu'elle peut mesurer pour la statistique officielle, un exemple documenté et le principal piège. Noter les étiquettes : deux familles sont pratiquées cette semaine (mesure participative avec Ookla, imagerie satellitaire avec les lumières nocturnes).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données satellitaires sont la source la plus « démocratique » : couverture mondiale, gratuité en moyenne résolution, aucune négociation. Leur limite centrale est conceptuelle — elles observent des indicateurs physiques indirects. Demain, nous consacrerons toute la journée aux lumières nocturnes et rencontrerons les artefacts connus : halo autour des villes, saturation, torchères, saisonnalité et rupture entre DMSP et VIIRS.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famille fait le lien avec le laboratoire après la pause. Insister sur l'auto-sélection : le « répondant » décide de lancer un test, souvent quand la connexion semble lente. La licence compte aussi — non commerciale, partage à l'identique — et doit être prise en compte dans la manière dont un INS publie les indicateurs dérivés.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famille la plus mûre en statistique officielle — les données de caisse sont utilisées dans les IPC européens depuis vingt ans — et la plus sensible. Dans les contextes africains, l'économie informelle est une limite décisive pour les données de transaction. Mentionner Blumenstock et al. (2015) : les métadonnées téléphoniques ont permis de prédire la richesse au Rwanda.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moissonnage du web est peu coûteux à démarrer et coûteux à maintenir : chaque refonte de site casse un moissonneur. Encourager une politique de moissonnage « courtois » : identifier l'INS dans l'agent utilisateur, respecter robots.txt, limiter la fréquence des requêtes et informer les grands sites — cela crée la confiance et débouche souvent sur un flux de données direct.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données de capteurs sont précises mais instables. L'enjeu statistique est la gestion du changement : quand un compteur est remplacé ou une station déplacée, la série saute. Les services publics d'eau et d'électricité sont souvent des partenaires naturels, car publics ou régulés.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données citoyennes sont la seule famille produite délibérément par les personnes observées elles-mêmes. Le Cadre de Copenhague donne aux INS un rôle d'évaluateur de qualité et de facilitateur plutôt que de gardien. Il est particulièrement pertinent pour les groupes à « ne pas laisser de côté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Utiliser cette matrice pour consolider. Plus de points signifie davantage de la propriété ; pour le risque de confidentialité, plus de points rouges signifie plus de risque. Souligner l'arbitrage : les sources les plus faciles d'accès (satellite, données participatives ouvertes) sont aussi les moins sensibles, tandis que les données de processus les plus riches (transactions, CDR) sont les plus difficiles à obtenir. Inviter les participants à contester selon leur contexte — ces notes sont un outil pédagogique, pas une mesure.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 le trésor est réel, mais il comporte des pièges. Cette section est le cœur méthodologique de la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cadres classiques (pertinence, exactitude, actualité, cohérence, accessibilité) restent valables. Mais avec des données trouvées, la qualité dépend aussi de la source — le fournisseur, l'environnement juridique et institutionnel — et de métadonnées contrôlées par un tiers. Le cadre CEE-ONU de 2014 le traduit par trois hyperdimensions et demande d'évaluer la qualité à l'entrée (pouvons-nous accepter cette source ?), au traitement (est-il solide et stable ?) et à la sortie (le produit est-il publiable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l'identité de Meng de façon intuitive. L'erreur d'estimation d'une source non probabiliste est le produit de trois termes : la qualité des données (corrélation entre le fait d'être enregistré et la valeur mesurée), la quantité de données (qui dépend de la part de la population couverte, pas du nombre brut) et la difficulté du problème (variabilité de la grandeur mesurée). Dans un échantillon aléatoire, le premier terme est nul en moyenne. Dans les données trouvées, non — et une infime corrélation multipliée par une population immense produit une grande erreur. Exemple américain de 2016 : 2,3 millions de réponses auto-déclarées valaient environ 400 entretiens aléatoires.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Chiffres de l'UIT. En 2024, seuls 38 % des Africains utilisaient internet : 57 % en zone urbaine mais 23 % en zone rurale, 43 % des hommes et 31 % des femmes. Facts and Figures 2025 situe l'Afrique à 36 % contre 74 % dans le monde. Selon la GSMA, 63 % des Africains vivent sous couverture haut débit mobile sans être en ligne. Un test Ookla, une publication sur les réseaux sociaux ou un prix en ligne décrivent donc une minorité connectée, urbaine, plus souvent masculine — l'inverse des groupes que les politiques publiques ont le plus besoin de voir.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gestes. Diagnostiquer : comparer la source à une référence — recensement, enquête, registre — et identifier qui est sur- ou sous-représenté. Corriger : caler sur des totaux connus, pondérer par la population, utiliser la source comme variable auxiliaire en estimation sur petits domaines. Recadrer : si le biais ne peut être corrigé, publier des évolutions et des points de retournement, ou utiliser la source comme outil de diagnostic, pas comme estimation de niveau. Les encadrés Ookla montrent chaque étape en pratique.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Lire lentement deux exemples. La discipline attendue est simple : chaque note d'indicateur doit énoncer le concept cible, l'indicateur indirect réellement mesuré et l'écart connu entre les deux. Au jour 4, le livrable de validation des lumières nocturnes exige explicitement cette note de limites.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 l'expérience du continent montre que c'est l'accès, et non l'analyse, qui bloque la plupart des initiatives. Cette section donne un vocabulaire pour choisir délibérément une voie d'accès.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Parcourir de gauche à droite. Les données ouvertes sont immédiates, mais on prend ce qui est publié, sous sa licence — la licence non commerciale et de partage à l'identique d'Ookla en est un bon exemple. L'achat est rapide mais crée des coûts récurrents et une dépendance. Les accords bilatéraux sont la voie la plus fréquente, et c'est là que les compétences de négociation de l'INS comptent. Les collaboratifs de données mutualisent plusieurs fournisseurs, souvent via un tiers de confiance. L'obligation légale — l'accès inscrit dans la loi statistique — est la plus durable mais la plus lente et politiquement exigeante. Demander aux participants quel modèle leur institut utilise aujourd'hui.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Au-delà de la voie juridique, choisir le mode technique. Transférer des microdonnées brutes maximise la souplesse mais aussi le risque, et les fournisseurs l'acceptent rarement. Recevoir des indicateurs pré-agrégés est simple mais fige la méthode. Le mode « code vers les données » — les algorithmes de l'INS s'exécutent dans l'environnement du fournisseur et seuls des agrégats sûrs en sortent — est désormais le modèle de référence pour les données télécoms ; c'est celui utilisé au Ghana avec FlowKit. Les technologies renforçant la confidentialité (enclaves sécurisées, confidentialité différentielle, analyse fédérée) vont plus loin.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exemple africain, documenté et durable. Il est né de contacts pris au premier Forum mondial des Nations Unies sur les données, au Cap, en 2017. L'accord de décembre 2018 a installé FlowKit derrière le pare-feu de Vodafone, avec une interface sécurisée pour le personnel du GSS. Parce que la chaîne juridique et technique existait déjà, le GSS a pu publier des analyses de mobilité COVID-19 en quelques semaines en 2020. Un comité de pilotage présidé par le Statisticien général approuve tout partage ultérieur d'agrégats. Le partenariat a été renouvelé en janvier 2023. Leçon : construire le partenariat avant la crise.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liste alimente l'activité 4.3 du Plan d'action (guide de référence sur la gouvernance des données) et l'activité 3.1 (partenariats avec le secteur privé). Insister sur les clauses 7 et 9 : droits de publication et sortie. Beaucoup de partenariats échouent quand l'INS découvre qu'il ne peut pas publier la méthode, ou quand le fournisseur change de stratégie et que la série s'arrête.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 la confiance est la véritable infrastructure de la statistique officielle. Un seul incident de confidentialité peut mettre fin à un programme — et nuire aussi à la confiance dans le recensement et les enquêtes.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Lire de haut en bas. Les Principes fondamentaux de l'ONU, notamment le principe 6 sur la confidentialité, s'appliquent aux données de toute origine. Au niveau continental, la Charte africaine de la statistique fixe les normes professionnelles, et la Convention de Malabo est entrée en vigueur le 8 juin 2023 après sa 15e ratification. Au niveau national, la loi statistique et la loi sur la protection des données s'appliquent toutes deux, et ne concordent pas toujours sur l'accès à des fins statistiques. Enfin, contrats et licences ajoutent leurs propres conditions — les données ouvertes d'Ookla sont non commerciales et en partage à l'identique, ce qui encadre la rediffusion des indicateurs dérivés.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L'étude de de Montjoye a porté sur 15 mois de données de mobilité de 1,5 million de personnes : avec une résolution horaire et une localisation à l'antenne, quatre points suffisaient à isoler 95 % des individus. Supprimer les noms n'est donc pas anonymiser. Au-delà des individus, insister sur la protection des groupes : une carte agrégée peut encore exposer une communauté vulnérable, par exemple des personnes déplacées ou une minorité. Et sur le détournement de finalité : des données partagées pour la statistique ne doivent jamais servir à la surveillance ou à la répression.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cadre des « Five Safes » est largement utilisé par les instituts statistiques et les centres de données pour la recherche. Le risque de divulgation est maîtrisé conjointement : un jeu de données moins sûr peut être acceptable dans un environnement très sûr, avec des personnes formées et un contrôle des résultats. Le rapporter au cas ghanéen : projet sûr (finalité statistique, comité de pilotage), personnes sûres (personnel du GSS formé), environnement sûr (derrière le pare-feu de l'opérateur), données sûres (pseudonymisées), résultats sûrs (agrégats uniquement).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volet éthique de la liste de contrôle que l'atelier produit pour le guide de référence STG17 sur la gouvernance des données. Proposer que chaque équipe pays réponde par écrit à ces questions dans le README de son dépôt GitHub. La question « qui devient invisible » renvoie au biais de couverture : éthique et qualité relèvent de la même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vers la partie pratique. Former les équipes par pays ou par sous-région, comme pour le reste de la semaine.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Expliquer les règles. Chaque équipe choisit un scénario, de préférence pertinent pour son pays. À l'aide du canevas de la diapositive suivante, elle décide si la source proposée est publiable, utilisable seulement pour un diagnostic interne, ou inadaptée — et justifie son verdict. Le scénario A mène directement au labo Ookla ; le scénario B prépare le jour 4. Minutage : 5 minutes pour choisir et cadrer, 20 minutes pour remplir le canevas, 5 minutes pour arrêter le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l'outil. Les équipes peuvent le reproduire sur un tableau papier ou un document partagé. L'ordre compte : toujours partir de la question politique, jamais du jeu de données. La case 8 est le verdict et doit découler logiquement des autres. Un exemple rempli suit.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montrer l'exemple qu'une fois les équipes lancées, ou pour débloquer une équipe. Noter le verdict : le niveau de débit est biaisé vers les testeurs ; il est donc publié comme indicateur expérimental pondéré par la population, avec une note de limites, et utilisé surtout pour le classement et l'évolution. La licence encadre aussi la rediffusion.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modes d'intégration, du plus courant au plus exigeant. L'essentiel de l'expérience africaine se situe aujourd'hui en A et C. D — la substitution directe — exige une qualité démontrée et un approvisionnement sûr, comme pour les données de caisse dans les IPC ailleurs. La règle en bas de diapositive résume toute la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plupart des échecs viennent d'une tentative d'étape 4 sur des fondations d'étape 1. Demander à chaque équipe où se situe son institut aujourd'hui. Puis relier à la semaine : cette session et les laboratoires produisent des livrables qui alimentent des activités précises du Plan d'action STG17 — lignes directrices méthodologiques sur les nouvelles sources (2.1.1), partenariats avec le secteur privé (3.1) et guide de référence sur la gouvernance des données (4.3).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Résumer en cinq phrases. Inviter chaque équipe à ajouter son propre enseignement au tableau mural ouvert toute la semaine — il sera consolidé vendredi.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de référence pour les participants ; non présentée en détail.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Références complètes de tous les chiffres et cas cités dans la présentation.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Clore l'exposé et ouvrir la discussion avec les trois questions. Passer ensuite au travail en équipe, ou — si le temps manque — reprendre ces questions lors de la restitution. Rappeler que le laboratoire Ookla et WorldPop commence à 10h45.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slideLayout" Target="../slideLayouts/slideLayout1.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image" Target="../media/image-26-11.png"/><Relationship Id="rId12" Type="http://schemas.openxmlformats.org/officeDocument/2006/relationships/image" Target="../media/image-26-12.png"/><Relationship Id="rId13" Type="http://schemas.openxmlformats.org/officeDocument/2006/relationships/image" Target="../media/image-26-13.png"/><Relationship Id="rId14" Type="http://schemas.openxmlformats.org/officeDocument/2006/relationships/image" Target="../media/image-26-14.png"/><Relationship Id="rId15" Type="http://schemas.openxmlformats.org/officeDocument/2006/relationships/image" Target="../media/image-26-15.png"/><Relationship Id="rId16" Type="http://schemas.openxmlformats.org/officeDocument/2006/relationships/slideLayout" Target="../slideLayouts/slideLayout1.xml"/><Relationship Id="rId1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slideLayout" Target="../slideLayouts/slideLayout1.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slideLayout" Target="../slideLayouts/slideLayout1.xml"/><Relationship Id="rId8"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image" Target="../media/image-34-7.png"/><Relationship Id="rId8" Type="http://schemas.openxmlformats.org/officeDocument/2006/relationships/image" Target="../media/image-34-8.png"/><Relationship Id="rId9" Type="http://schemas.openxmlformats.org/officeDocument/2006/relationships/image" Target="../media/image-34-9.png"/><Relationship Id="rId10" Type="http://schemas.openxmlformats.org/officeDocument/2006/relationships/image" Target="../media/image-34-10.png"/><Relationship Id="rId11" Type="http://schemas.openxmlformats.org/officeDocument/2006/relationships/image" Target="../media/image-34-11.png"/><Relationship Id="rId12" Type="http://schemas.openxmlformats.org/officeDocument/2006/relationships/image" Target="../media/image-34-12.png"/><Relationship Id="rId13" Type="http://schemas.openxmlformats.org/officeDocument/2006/relationships/slideLayout" Target="../slideLayouts/slideLayout1.xml"/><Relationship Id="rId1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image" Target="../media/image-37-7.png"/><Relationship Id="rId8" Type="http://schemas.openxmlformats.org/officeDocument/2006/relationships/image" Target="../media/image-37-8.png"/><Relationship Id="rId9" Type="http://schemas.openxmlformats.org/officeDocument/2006/relationships/slideLayout" Target="../slideLayouts/slideLayout1.xml"/><Relationship Id="rId10"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slideLayout" Target="../slideLayouts/slideLayout1.xml"/><Relationship Id="rId7"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502920"/>
            <a:ext cx="8138160" cy="228600"/>
          </a:xfrm>
          <a:prstGeom prst="rect">
            <a:avLst/>
          </a:prstGeom>
          <a:noFill/>
          <a:ln/>
        </p:spPr>
        <p:txBody>
          <a:bodyPr wrap="square" lIns="0" tIns="0" rIns="0" bIns="0" rtlCol="0" anchor="t"/>
          <a:lstStyle/>
          <a:p>
            <a:pPr indent="0" marL="0">
              <a:buNone/>
            </a:pPr>
            <a:r>
              <a:rPr lang="en-US" sz="1000" b="1" spc="200" kern="0" dirty="0">
                <a:solidFill>
                  <a:srgbClr val="F5C242"/>
                </a:solidFill>
                <a:latin typeface="Calibri" pitchFamily="34" charset="0"/>
                <a:ea typeface="Calibri" pitchFamily="34" charset="-122"/>
                <a:cs typeface="Calibri" pitchFamily="34" charset="-120"/>
              </a:rPr>
              <a:t>ATELIER TECHNIQUE STG17 · QUESTIONS ÉMERGENTES, PRATIQUES ÉMERGENTES</a:t>
            </a:r>
            <a:endParaRPr lang="en-US" sz="1000" dirty="0"/>
          </a:p>
        </p:txBody>
      </p:sp>
      <p:sp>
        <p:nvSpPr>
          <p:cNvPr id="4" name="Text 1"/>
          <p:cNvSpPr txBox="1"/>
          <p:nvPr/>
        </p:nvSpPr>
        <p:spPr>
          <a:xfrm>
            <a:off x="548640" y="914400"/>
            <a:ext cx="5760720" cy="155448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Sources de données</a:t>
            </a:r>
            <a:endParaRPr lang="en-US" sz="4000" dirty="0"/>
          </a:p>
          <a:p>
            <a:pPr indent="0" marL="0">
              <a:buNone/>
            </a:pPr>
            <a:r>
              <a:rPr lang="en-US" sz="4000" b="1" dirty="0">
                <a:solidFill>
                  <a:srgbClr val="FFFFFF"/>
                </a:solidFill>
                <a:latin typeface="Calibri" pitchFamily="34" charset="0"/>
                <a:ea typeface="Calibri" pitchFamily="34" charset="-122"/>
                <a:cs typeface="Calibri" pitchFamily="34" charset="-120"/>
              </a:rPr>
              <a:t>non traditionnelles</a:t>
            </a:r>
            <a:endParaRPr lang="en-US" sz="4000" dirty="0"/>
          </a:p>
        </p:txBody>
      </p:sp>
      <p:sp>
        <p:nvSpPr>
          <p:cNvPr id="5" name="Text 2"/>
          <p:cNvSpPr txBox="1"/>
          <p:nvPr/>
        </p:nvSpPr>
        <p:spPr>
          <a:xfrm>
            <a:off x="548640" y="2560320"/>
            <a:ext cx="5303520" cy="68580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Le trésor caché — taxonomie, qualité, accès et éthique pour la statistique officielle</a:t>
            </a:r>
            <a:endParaRPr lang="en-US" sz="1800" dirty="0"/>
          </a:p>
        </p:txBody>
      </p:sp>
      <p:sp>
        <p:nvSpPr>
          <p:cNvPr id="6" name="Shape 3"/>
          <p:cNvSpPr/>
          <p:nvPr/>
        </p:nvSpPr>
        <p:spPr>
          <a:xfrm>
            <a:off x="566928" y="3474720"/>
            <a:ext cx="822960" cy="0"/>
          </a:xfrm>
          <a:prstGeom prst="line">
            <a:avLst/>
          </a:prstGeom>
          <a:noFill/>
          <a:ln w="25400">
            <a:solidFill>
              <a:srgbClr val="F5C242"/>
            </a:solidFill>
            <a:prstDash val="solid"/>
          </a:ln>
        </p:spPr>
      </p:sp>
      <p:sp>
        <p:nvSpPr>
          <p:cNvPr id="7" name="Text 4"/>
          <p:cNvSpPr txBox="1"/>
          <p:nvPr/>
        </p:nvSpPr>
        <p:spPr>
          <a:xfrm>
            <a:off x="548640" y="3611880"/>
            <a:ext cx="5943600" cy="22860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Jour 3 · Au-delà de l'enquête  |  Session 1 · 09h00–10h30  |  Exposé et laboratoire</a:t>
            </a:r>
            <a:endParaRPr lang="en-US" sz="1200" dirty="0"/>
          </a:p>
        </p:txBody>
      </p:sp>
      <p:sp>
        <p:nvSpPr>
          <p:cNvPr id="8" name="Text 5"/>
          <p:cNvSpPr txBox="1"/>
          <p:nvPr/>
        </p:nvSpPr>
        <p:spPr>
          <a:xfrm>
            <a:off x="548640" y="3886200"/>
            <a:ext cx="6217920" cy="228600"/>
          </a:xfrm>
          <a:prstGeom prst="rect">
            <a:avLst/>
          </a:prstGeom>
          <a:noFill/>
          <a:ln/>
        </p:spPr>
        <p:txBody>
          <a:bodyPr wrap="square" lIns="0" tIns="0" rIns="0" bIns="0" rtlCol="0" anchor="t"/>
          <a:lstStyle/>
          <a:p>
            <a:pPr indent="0" marL="0">
              <a:buNone/>
            </a:pPr>
            <a:r>
              <a:rPr lang="en-US" sz="1100" dirty="0">
                <a:solidFill>
                  <a:srgbClr val="E6F6EE"/>
                </a:solidFill>
                <a:latin typeface="Calibri" pitchFamily="34" charset="0"/>
                <a:ea typeface="Calibri" pitchFamily="34" charset="-122"/>
                <a:cs typeface="Calibri" pitchFamily="34" charset="-120"/>
              </a:rPr>
              <a:t>Banque africaine de développement · Union africaine (STATAFRIC) · Institut national de la statistique du Rwanda</a:t>
            </a:r>
            <a:endParaRPr lang="en-US" sz="1100" dirty="0"/>
          </a:p>
        </p:txBody>
      </p:sp>
      <p:sp>
        <p:nvSpPr>
          <p:cNvPr id="9" name="Shape 6"/>
          <p:cNvSpPr/>
          <p:nvPr/>
        </p:nvSpPr>
        <p:spPr>
          <a:xfrm>
            <a:off x="6309360" y="1188720"/>
            <a:ext cx="2377440" cy="2377440"/>
          </a:xfrm>
          <a:prstGeom prst="ellipse">
            <a:avLst/>
          </a:prstGeom>
          <a:solidFill>
            <a:srgbClr val="FFFFFF">
              <a:alpha val="12000"/>
            </a:srgbClr>
          </a:solidFill>
          <a:ln/>
        </p:spPr>
      </p:sp>
      <p:sp>
        <p:nvSpPr>
          <p:cNvPr id="10" name="Shape 7"/>
          <p:cNvSpPr/>
          <p:nvPr/>
        </p:nvSpPr>
        <p:spPr>
          <a:xfrm>
            <a:off x="6720840" y="1600200"/>
            <a:ext cx="1554480" cy="1554480"/>
          </a:xfrm>
          <a:prstGeom prst="ellipse">
            <a:avLst/>
          </a:prstGeom>
          <a:solidFill>
            <a:srgbClr val="FFFFFF"/>
          </a:solidFill>
          <a:ln/>
        </p:spPr>
      </p:sp>
      <p:pic>
        <p:nvPicPr>
          <p:cNvPr id="11" name="Image 0" descr="preencoded.png">    </p:cNvPr>
          <p:cNvPicPr>
            <a:picLocks noChangeAspect="1"/>
          </p:cNvPicPr>
          <p:nvPr/>
        </p:nvPicPr>
        <p:blipFill>
          <a:blip r:embed="rId2"/>
          <a:stretch>
            <a:fillRect/>
          </a:stretch>
        </p:blipFill>
        <p:spPr>
          <a:xfrm>
            <a:off x="7086600" y="1965960"/>
            <a:ext cx="822960" cy="822960"/>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CONTEXTE · ATELIER STG17</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La place de cette session dans la semaine</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Cet exposé apporte les concepts ; les laboratoires des jours 3 à 5 les transforment en produits nationaux publiés.</a:t>
            </a:r>
            <a:endParaRPr lang="en-US" sz="1150" dirty="0"/>
          </a:p>
        </p:txBody>
      </p:sp>
      <p:sp>
        <p:nvSpPr>
          <p:cNvPr id="9" name="Text 7"/>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Sources de données non traditionnelles · Le trésor caché · Atelier STG17</a:t>
            </a:r>
            <a:endParaRPr lang="en-US" sz="850" dirty="0"/>
          </a:p>
        </p:txBody>
      </p:sp>
      <p:sp>
        <p:nvSpPr>
          <p:cNvPr id="10" name="Text 8"/>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a:t>
            </a:r>
            <a:endParaRPr lang="en-US" sz="850" dirty="0"/>
          </a:p>
        </p:txBody>
      </p:sp>
      <p:sp>
        <p:nvSpPr>
          <p:cNvPr id="12" name="Shape 9"/>
          <p:cNvSpPr/>
          <p:nvPr/>
        </p:nvSpPr>
        <p:spPr>
          <a:xfrm>
            <a:off x="731520" y="1764792"/>
            <a:ext cx="7680960" cy="0"/>
          </a:xfrm>
          <a:prstGeom prst="line">
            <a:avLst/>
          </a:prstGeom>
          <a:noFill/>
          <a:ln w="19050">
            <a:solidFill>
              <a:srgbClr val="D5DED9"/>
            </a:solidFill>
            <a:prstDash val="solid"/>
          </a:ln>
        </p:spPr>
      </p:sp>
      <p:sp>
        <p:nvSpPr>
          <p:cNvPr id="13" name="Shape 10"/>
          <p:cNvSpPr/>
          <p:nvPr/>
        </p:nvSpPr>
        <p:spPr>
          <a:xfrm>
            <a:off x="941832" y="1490472"/>
            <a:ext cx="548640" cy="548640"/>
          </a:xfrm>
          <a:prstGeom prst="ellipse">
            <a:avLst/>
          </a:prstGeom>
          <a:solidFill>
            <a:srgbClr val="5E6964">
              <a:alpha val="22000"/>
            </a:srgbClr>
          </a:solidFill>
          <a:ln/>
        </p:spPr>
      </p:sp>
      <p:pic>
        <p:nvPicPr>
          <p:cNvPr id="14" name="Image 0" descr="preencoded.png">    </p:cNvPr>
          <p:cNvPicPr>
            <a:picLocks noChangeAspect="1"/>
          </p:cNvPicPr>
          <p:nvPr/>
        </p:nvPicPr>
        <p:blipFill>
          <a:blip r:embed="rId1"/>
          <a:stretch>
            <a:fillRect/>
          </a:stretch>
        </p:blipFill>
        <p:spPr>
          <a:xfrm>
            <a:off x="1078992" y="1627632"/>
            <a:ext cx="274320" cy="274320"/>
          </a:xfrm>
          <a:prstGeom prst="rect">
            <a:avLst/>
          </a:prstGeom>
        </p:spPr>
      </p:pic>
      <p:sp>
        <p:nvSpPr>
          <p:cNvPr id="15" name="Shape 11"/>
          <p:cNvSpPr/>
          <p:nvPr/>
        </p:nvSpPr>
        <p:spPr>
          <a:xfrm>
            <a:off x="457200" y="2194560"/>
            <a:ext cx="1517904" cy="960120"/>
          </a:xfrm>
          <a:prstGeom prst="roundRect">
            <a:avLst>
              <a:gd name="adj" fmla="val 7619"/>
            </a:avLst>
          </a:prstGeom>
          <a:solidFill>
            <a:srgbClr val="F4F7F5"/>
          </a:solidFill>
          <a:ln w="9525">
            <a:solidFill>
              <a:srgbClr val="D5DED9"/>
            </a:solidFill>
            <a:prstDash val="solid"/>
          </a:ln>
        </p:spPr>
      </p:sp>
      <p:sp>
        <p:nvSpPr>
          <p:cNvPr id="16" name="Text 12"/>
          <p:cNvSpPr txBox="1"/>
          <p:nvPr/>
        </p:nvSpPr>
        <p:spPr>
          <a:xfrm>
            <a:off x="548640" y="2267712"/>
            <a:ext cx="1335024" cy="201168"/>
          </a:xfrm>
          <a:prstGeom prst="rect">
            <a:avLst/>
          </a:prstGeom>
          <a:noFill/>
          <a:ln/>
        </p:spPr>
        <p:txBody>
          <a:bodyPr wrap="square" lIns="0" tIns="0" rIns="0" bIns="0" rtlCol="0" anchor="t"/>
          <a:lstStyle/>
          <a:p>
            <a:pPr algn="ctr" indent="0" marL="0">
              <a:buNone/>
            </a:pPr>
            <a:r>
              <a:rPr lang="en-US" sz="1050" b="1" spc="200" kern="0" dirty="0">
                <a:solidFill>
                  <a:srgbClr val="5E6964"/>
                </a:solidFill>
                <a:latin typeface="Calibri" pitchFamily="34" charset="0"/>
                <a:ea typeface="Calibri" pitchFamily="34" charset="-122"/>
                <a:cs typeface="Calibri" pitchFamily="34" charset="-120"/>
              </a:rPr>
              <a:t>JOUR 1</a:t>
            </a:r>
            <a:endParaRPr lang="en-US" sz="1050" dirty="0"/>
          </a:p>
        </p:txBody>
      </p:sp>
      <p:sp>
        <p:nvSpPr>
          <p:cNvPr id="17" name="Text 13"/>
          <p:cNvSpPr txBox="1"/>
          <p:nvPr/>
        </p:nvSpPr>
        <p:spPr>
          <a:xfrm>
            <a:off x="548640" y="2487168"/>
            <a:ext cx="1335024" cy="594360"/>
          </a:xfrm>
          <a:prstGeom prst="rect">
            <a:avLst/>
          </a:prstGeom>
          <a:noFill/>
          <a:ln/>
        </p:spPr>
        <p:txBody>
          <a:bodyPr wrap="square" lIns="0" tIns="0" rIns="0" bIns="0" rtlCol="0" anchor="t"/>
          <a:lstStyle/>
          <a:p>
            <a:pPr algn="ctr" indent="0" marL="0">
              <a:buNone/>
            </a:pPr>
            <a:r>
              <a:rPr lang="en-US" sz="1150" b="1" dirty="0">
                <a:solidFill>
                  <a:srgbClr val="231F20"/>
                </a:solidFill>
                <a:latin typeface="Calibri" pitchFamily="34" charset="0"/>
                <a:ea typeface="Calibri" pitchFamily="34" charset="-122"/>
                <a:cs typeface="Calibri" pitchFamily="34" charset="-120"/>
              </a:rPr>
              <a:t>Concepts et infrastructure d'IA</a:t>
            </a:r>
            <a:endParaRPr lang="en-US" sz="1150" dirty="0"/>
          </a:p>
        </p:txBody>
      </p:sp>
      <p:sp>
        <p:nvSpPr>
          <p:cNvPr id="18" name="Shape 14"/>
          <p:cNvSpPr/>
          <p:nvPr/>
        </p:nvSpPr>
        <p:spPr>
          <a:xfrm>
            <a:off x="2642616" y="1490472"/>
            <a:ext cx="548640" cy="548640"/>
          </a:xfrm>
          <a:prstGeom prst="ellipse">
            <a:avLst/>
          </a:prstGeom>
          <a:solidFill>
            <a:srgbClr val="5E6964">
              <a:alpha val="22000"/>
            </a:srgbClr>
          </a:solidFill>
          <a:ln/>
        </p:spPr>
      </p:sp>
      <p:pic>
        <p:nvPicPr>
          <p:cNvPr id="19" name="Image 1" descr="preencoded.png">    </p:cNvPr>
          <p:cNvPicPr>
            <a:picLocks noChangeAspect="1"/>
          </p:cNvPicPr>
          <p:nvPr/>
        </p:nvPicPr>
        <p:blipFill>
          <a:blip r:embed="rId2"/>
          <a:stretch>
            <a:fillRect/>
          </a:stretch>
        </p:blipFill>
        <p:spPr>
          <a:xfrm>
            <a:off x="2779776" y="1627632"/>
            <a:ext cx="274320" cy="274320"/>
          </a:xfrm>
          <a:prstGeom prst="rect">
            <a:avLst/>
          </a:prstGeom>
        </p:spPr>
      </p:pic>
      <p:sp>
        <p:nvSpPr>
          <p:cNvPr id="20" name="Shape 15"/>
          <p:cNvSpPr/>
          <p:nvPr/>
        </p:nvSpPr>
        <p:spPr>
          <a:xfrm>
            <a:off x="2157984" y="2194560"/>
            <a:ext cx="1517904" cy="960120"/>
          </a:xfrm>
          <a:prstGeom prst="roundRect">
            <a:avLst>
              <a:gd name="adj" fmla="val 7619"/>
            </a:avLst>
          </a:prstGeom>
          <a:solidFill>
            <a:srgbClr val="F4F7F5"/>
          </a:solidFill>
          <a:ln w="9525">
            <a:solidFill>
              <a:srgbClr val="D5DED9"/>
            </a:solidFill>
            <a:prstDash val="solid"/>
          </a:ln>
        </p:spPr>
      </p:sp>
      <p:sp>
        <p:nvSpPr>
          <p:cNvPr id="21" name="Text 16"/>
          <p:cNvSpPr txBox="1"/>
          <p:nvPr/>
        </p:nvSpPr>
        <p:spPr>
          <a:xfrm>
            <a:off x="2249424" y="2267712"/>
            <a:ext cx="1335024" cy="201168"/>
          </a:xfrm>
          <a:prstGeom prst="rect">
            <a:avLst/>
          </a:prstGeom>
          <a:noFill/>
          <a:ln/>
        </p:spPr>
        <p:txBody>
          <a:bodyPr wrap="square" lIns="0" tIns="0" rIns="0" bIns="0" rtlCol="0" anchor="t"/>
          <a:lstStyle/>
          <a:p>
            <a:pPr algn="ctr" indent="0" marL="0">
              <a:buNone/>
            </a:pPr>
            <a:r>
              <a:rPr lang="en-US" sz="1050" b="1" spc="200" kern="0" dirty="0">
                <a:solidFill>
                  <a:srgbClr val="5E6964"/>
                </a:solidFill>
                <a:latin typeface="Calibri" pitchFamily="34" charset="0"/>
                <a:ea typeface="Calibri" pitchFamily="34" charset="-122"/>
                <a:cs typeface="Calibri" pitchFamily="34" charset="-120"/>
              </a:rPr>
              <a:t>JOUR 2</a:t>
            </a:r>
            <a:endParaRPr lang="en-US" sz="1050" dirty="0"/>
          </a:p>
        </p:txBody>
      </p:sp>
      <p:sp>
        <p:nvSpPr>
          <p:cNvPr id="22" name="Text 17"/>
          <p:cNvSpPr txBox="1"/>
          <p:nvPr/>
        </p:nvSpPr>
        <p:spPr>
          <a:xfrm>
            <a:off x="2249424" y="2487168"/>
            <a:ext cx="1335024" cy="594360"/>
          </a:xfrm>
          <a:prstGeom prst="rect">
            <a:avLst/>
          </a:prstGeom>
          <a:noFill/>
          <a:ln/>
        </p:spPr>
        <p:txBody>
          <a:bodyPr wrap="square" lIns="0" tIns="0" rIns="0" bIns="0" rtlCol="0" anchor="t"/>
          <a:lstStyle/>
          <a:p>
            <a:pPr algn="ctr" indent="0" marL="0">
              <a:buNone/>
            </a:pPr>
            <a:r>
              <a:rPr lang="en-US" sz="1150" b="1" dirty="0">
                <a:solidFill>
                  <a:srgbClr val="231F20"/>
                </a:solidFill>
                <a:latin typeface="Calibri" pitchFamily="34" charset="0"/>
                <a:ea typeface="Calibri" pitchFamily="34" charset="-122"/>
                <a:cs typeface="Calibri" pitchFamily="34" charset="-120"/>
              </a:rPr>
              <a:t>Ingénierie de prompts et LLM</a:t>
            </a:r>
            <a:endParaRPr lang="en-US" sz="1150" dirty="0"/>
          </a:p>
        </p:txBody>
      </p:sp>
      <p:sp>
        <p:nvSpPr>
          <p:cNvPr id="23" name="Shape 18"/>
          <p:cNvSpPr/>
          <p:nvPr/>
        </p:nvSpPr>
        <p:spPr>
          <a:xfrm>
            <a:off x="4343400" y="1490472"/>
            <a:ext cx="548640" cy="548640"/>
          </a:xfrm>
          <a:prstGeom prst="ellipse">
            <a:avLst/>
          </a:prstGeom>
          <a:solidFill>
            <a:srgbClr val="00A86A">
              <a:alpha val="22000"/>
            </a:srgbClr>
          </a:solidFill>
          <a:ln/>
        </p:spPr>
      </p:sp>
      <p:pic>
        <p:nvPicPr>
          <p:cNvPr id="24" name="Image 2" descr="preencoded.png">    </p:cNvPr>
          <p:cNvPicPr>
            <a:picLocks noChangeAspect="1"/>
          </p:cNvPicPr>
          <p:nvPr/>
        </p:nvPicPr>
        <p:blipFill>
          <a:blip r:embed="rId3"/>
          <a:stretch>
            <a:fillRect/>
          </a:stretch>
        </p:blipFill>
        <p:spPr>
          <a:xfrm>
            <a:off x="4480560" y="1627632"/>
            <a:ext cx="274320" cy="274320"/>
          </a:xfrm>
          <a:prstGeom prst="rect">
            <a:avLst/>
          </a:prstGeom>
        </p:spPr>
      </p:pic>
      <p:sp>
        <p:nvSpPr>
          <p:cNvPr id="25" name="Shape 19"/>
          <p:cNvSpPr/>
          <p:nvPr/>
        </p:nvSpPr>
        <p:spPr>
          <a:xfrm>
            <a:off x="3858768" y="2194560"/>
            <a:ext cx="1517904" cy="960120"/>
          </a:xfrm>
          <a:prstGeom prst="roundRect">
            <a:avLst>
              <a:gd name="adj" fmla="val 7619"/>
            </a:avLst>
          </a:prstGeom>
          <a:solidFill>
            <a:srgbClr val="E8F5EF"/>
          </a:solidFill>
          <a:ln w="15875">
            <a:solidFill>
              <a:srgbClr val="00A86A"/>
            </a:solidFill>
            <a:prstDash val="solid"/>
          </a:ln>
        </p:spPr>
      </p:sp>
      <p:sp>
        <p:nvSpPr>
          <p:cNvPr id="26" name="Text 20"/>
          <p:cNvSpPr txBox="1"/>
          <p:nvPr/>
        </p:nvSpPr>
        <p:spPr>
          <a:xfrm>
            <a:off x="3950208" y="2267712"/>
            <a:ext cx="1335024" cy="201168"/>
          </a:xfrm>
          <a:prstGeom prst="rect">
            <a:avLst/>
          </a:prstGeom>
          <a:noFill/>
          <a:ln/>
        </p:spPr>
        <p:txBody>
          <a:bodyPr wrap="square" lIns="0" tIns="0" rIns="0" bIns="0" rtlCol="0" anchor="t"/>
          <a:lstStyle/>
          <a:p>
            <a:pPr algn="ctr" indent="0" marL="0">
              <a:buNone/>
            </a:pPr>
            <a:r>
              <a:rPr lang="en-US" sz="1050" b="1" spc="200" kern="0" dirty="0">
                <a:solidFill>
                  <a:srgbClr val="00704A"/>
                </a:solidFill>
                <a:latin typeface="Calibri" pitchFamily="34" charset="0"/>
                <a:ea typeface="Calibri" pitchFamily="34" charset="-122"/>
                <a:cs typeface="Calibri" pitchFamily="34" charset="-120"/>
              </a:rPr>
              <a:t>JOUR 3</a:t>
            </a:r>
            <a:endParaRPr lang="en-US" sz="1050" dirty="0"/>
          </a:p>
        </p:txBody>
      </p:sp>
      <p:sp>
        <p:nvSpPr>
          <p:cNvPr id="27" name="Text 21"/>
          <p:cNvSpPr txBox="1"/>
          <p:nvPr/>
        </p:nvSpPr>
        <p:spPr>
          <a:xfrm>
            <a:off x="3950208" y="2487168"/>
            <a:ext cx="1335024" cy="594360"/>
          </a:xfrm>
          <a:prstGeom prst="rect">
            <a:avLst/>
          </a:prstGeom>
          <a:noFill/>
          <a:ln/>
        </p:spPr>
        <p:txBody>
          <a:bodyPr wrap="square" lIns="0" tIns="0" rIns="0" bIns="0" rtlCol="0" anchor="t"/>
          <a:lstStyle/>
          <a:p>
            <a:pPr algn="ctr" indent="0" marL="0">
              <a:buNone/>
            </a:pPr>
            <a:r>
              <a:rPr lang="en-US" sz="1150" b="1" dirty="0">
                <a:solidFill>
                  <a:srgbClr val="231F20"/>
                </a:solidFill>
                <a:latin typeface="Calibri" pitchFamily="34" charset="0"/>
                <a:ea typeface="Calibri" pitchFamily="34" charset="-122"/>
                <a:cs typeface="Calibri" pitchFamily="34" charset="-120"/>
              </a:rPr>
              <a:t>Données non traditionnelles et big data</a:t>
            </a:r>
            <a:endParaRPr lang="en-US" sz="1150" dirty="0"/>
          </a:p>
        </p:txBody>
      </p:sp>
      <p:sp>
        <p:nvSpPr>
          <p:cNvPr id="28" name="Shape 22"/>
          <p:cNvSpPr/>
          <p:nvPr/>
        </p:nvSpPr>
        <p:spPr>
          <a:xfrm>
            <a:off x="6044184" y="1490472"/>
            <a:ext cx="548640" cy="548640"/>
          </a:xfrm>
          <a:prstGeom prst="ellipse">
            <a:avLst/>
          </a:prstGeom>
          <a:solidFill>
            <a:srgbClr val="00704A">
              <a:alpha val="22000"/>
            </a:srgbClr>
          </a:solidFill>
          <a:ln/>
        </p:spPr>
      </p:sp>
      <p:pic>
        <p:nvPicPr>
          <p:cNvPr id="29" name="Image 3" descr="preencoded.png">    </p:cNvPr>
          <p:cNvPicPr>
            <a:picLocks noChangeAspect="1"/>
          </p:cNvPicPr>
          <p:nvPr/>
        </p:nvPicPr>
        <p:blipFill>
          <a:blip r:embed="rId4"/>
          <a:stretch>
            <a:fillRect/>
          </a:stretch>
        </p:blipFill>
        <p:spPr>
          <a:xfrm>
            <a:off x="6181344" y="1627632"/>
            <a:ext cx="274320" cy="274320"/>
          </a:xfrm>
          <a:prstGeom prst="rect">
            <a:avLst/>
          </a:prstGeom>
        </p:spPr>
      </p:pic>
      <p:sp>
        <p:nvSpPr>
          <p:cNvPr id="30" name="Shape 23"/>
          <p:cNvSpPr/>
          <p:nvPr/>
        </p:nvSpPr>
        <p:spPr>
          <a:xfrm>
            <a:off x="5559552" y="2194560"/>
            <a:ext cx="1517904" cy="960120"/>
          </a:xfrm>
          <a:prstGeom prst="roundRect">
            <a:avLst>
              <a:gd name="adj" fmla="val 7619"/>
            </a:avLst>
          </a:prstGeom>
          <a:solidFill>
            <a:srgbClr val="F4F7F5"/>
          </a:solidFill>
          <a:ln w="9525">
            <a:solidFill>
              <a:srgbClr val="D5DED9"/>
            </a:solidFill>
            <a:prstDash val="solid"/>
          </a:ln>
        </p:spPr>
      </p:sp>
      <p:sp>
        <p:nvSpPr>
          <p:cNvPr id="31" name="Text 24"/>
          <p:cNvSpPr txBox="1"/>
          <p:nvPr/>
        </p:nvSpPr>
        <p:spPr>
          <a:xfrm>
            <a:off x="5650992" y="2267712"/>
            <a:ext cx="1335024" cy="201168"/>
          </a:xfrm>
          <a:prstGeom prst="rect">
            <a:avLst/>
          </a:prstGeom>
          <a:noFill/>
          <a:ln/>
        </p:spPr>
        <p:txBody>
          <a:bodyPr wrap="square" lIns="0" tIns="0" rIns="0" bIns="0" rtlCol="0" anchor="t"/>
          <a:lstStyle/>
          <a:p>
            <a:pPr algn="ctr" indent="0" marL="0">
              <a:buNone/>
            </a:pPr>
            <a:r>
              <a:rPr lang="en-US" sz="1050" b="1" spc="200" kern="0" dirty="0">
                <a:solidFill>
                  <a:srgbClr val="5E6964"/>
                </a:solidFill>
                <a:latin typeface="Calibri" pitchFamily="34" charset="0"/>
                <a:ea typeface="Calibri" pitchFamily="34" charset="-122"/>
                <a:cs typeface="Calibri" pitchFamily="34" charset="-120"/>
              </a:rPr>
              <a:t>JOUR 4</a:t>
            </a:r>
            <a:endParaRPr lang="en-US" sz="1050" dirty="0"/>
          </a:p>
        </p:txBody>
      </p:sp>
      <p:sp>
        <p:nvSpPr>
          <p:cNvPr id="32" name="Text 25"/>
          <p:cNvSpPr txBox="1"/>
          <p:nvPr/>
        </p:nvSpPr>
        <p:spPr>
          <a:xfrm>
            <a:off x="5650992" y="2487168"/>
            <a:ext cx="1335024" cy="594360"/>
          </a:xfrm>
          <a:prstGeom prst="rect">
            <a:avLst/>
          </a:prstGeom>
          <a:noFill/>
          <a:ln/>
        </p:spPr>
        <p:txBody>
          <a:bodyPr wrap="square" lIns="0" tIns="0" rIns="0" bIns="0" rtlCol="0" anchor="t"/>
          <a:lstStyle/>
          <a:p>
            <a:pPr algn="ctr" indent="0" marL="0">
              <a:buNone/>
            </a:pPr>
            <a:r>
              <a:rPr lang="en-US" sz="1150" b="1" dirty="0">
                <a:solidFill>
                  <a:srgbClr val="231F20"/>
                </a:solidFill>
                <a:latin typeface="Calibri" pitchFamily="34" charset="0"/>
                <a:ea typeface="Calibri" pitchFamily="34" charset="-122"/>
                <a:cs typeface="Calibri" pitchFamily="34" charset="-120"/>
              </a:rPr>
              <a:t>Lumières nocturnes : du brut au validé</a:t>
            </a:r>
            <a:endParaRPr lang="en-US" sz="1150" dirty="0"/>
          </a:p>
        </p:txBody>
      </p:sp>
      <p:sp>
        <p:nvSpPr>
          <p:cNvPr id="33" name="Shape 26"/>
          <p:cNvSpPr/>
          <p:nvPr/>
        </p:nvSpPr>
        <p:spPr>
          <a:xfrm>
            <a:off x="7744968" y="1490472"/>
            <a:ext cx="548640" cy="548640"/>
          </a:xfrm>
          <a:prstGeom prst="ellipse">
            <a:avLst/>
          </a:prstGeom>
          <a:solidFill>
            <a:srgbClr val="00704A">
              <a:alpha val="22000"/>
            </a:srgbClr>
          </a:solidFill>
          <a:ln/>
        </p:spPr>
      </p:sp>
      <p:pic>
        <p:nvPicPr>
          <p:cNvPr id="34" name="Image 4" descr="preencoded.png">    </p:cNvPr>
          <p:cNvPicPr>
            <a:picLocks noChangeAspect="1"/>
          </p:cNvPicPr>
          <p:nvPr/>
        </p:nvPicPr>
        <p:blipFill>
          <a:blip r:embed="rId5"/>
          <a:stretch>
            <a:fillRect/>
          </a:stretch>
        </p:blipFill>
        <p:spPr>
          <a:xfrm>
            <a:off x="7882128" y="1627632"/>
            <a:ext cx="274320" cy="274320"/>
          </a:xfrm>
          <a:prstGeom prst="rect">
            <a:avLst/>
          </a:prstGeom>
        </p:spPr>
      </p:pic>
      <p:sp>
        <p:nvSpPr>
          <p:cNvPr id="35" name="Shape 27"/>
          <p:cNvSpPr/>
          <p:nvPr/>
        </p:nvSpPr>
        <p:spPr>
          <a:xfrm>
            <a:off x="7260336" y="2194560"/>
            <a:ext cx="1517904" cy="960120"/>
          </a:xfrm>
          <a:prstGeom prst="roundRect">
            <a:avLst>
              <a:gd name="adj" fmla="val 7619"/>
            </a:avLst>
          </a:prstGeom>
          <a:solidFill>
            <a:srgbClr val="F4F7F5"/>
          </a:solidFill>
          <a:ln w="9525">
            <a:solidFill>
              <a:srgbClr val="D5DED9"/>
            </a:solidFill>
            <a:prstDash val="solid"/>
          </a:ln>
        </p:spPr>
      </p:sp>
      <p:sp>
        <p:nvSpPr>
          <p:cNvPr id="36" name="Text 28"/>
          <p:cNvSpPr txBox="1"/>
          <p:nvPr/>
        </p:nvSpPr>
        <p:spPr>
          <a:xfrm>
            <a:off x="7351776" y="2267712"/>
            <a:ext cx="1335024" cy="201168"/>
          </a:xfrm>
          <a:prstGeom prst="rect">
            <a:avLst/>
          </a:prstGeom>
          <a:noFill/>
          <a:ln/>
        </p:spPr>
        <p:txBody>
          <a:bodyPr wrap="square" lIns="0" tIns="0" rIns="0" bIns="0" rtlCol="0" anchor="t"/>
          <a:lstStyle/>
          <a:p>
            <a:pPr algn="ctr" indent="0" marL="0">
              <a:buNone/>
            </a:pPr>
            <a:r>
              <a:rPr lang="en-US" sz="1050" b="1" spc="200" kern="0" dirty="0">
                <a:solidFill>
                  <a:srgbClr val="5E6964"/>
                </a:solidFill>
                <a:latin typeface="Calibri" pitchFamily="34" charset="0"/>
                <a:ea typeface="Calibri" pitchFamily="34" charset="-122"/>
                <a:cs typeface="Calibri" pitchFamily="34" charset="-120"/>
              </a:rPr>
              <a:t>JOUR 5</a:t>
            </a:r>
            <a:endParaRPr lang="en-US" sz="1050" dirty="0"/>
          </a:p>
        </p:txBody>
      </p:sp>
      <p:sp>
        <p:nvSpPr>
          <p:cNvPr id="37" name="Text 29"/>
          <p:cNvSpPr txBox="1"/>
          <p:nvPr/>
        </p:nvSpPr>
        <p:spPr>
          <a:xfrm>
            <a:off x="7351776" y="2487168"/>
            <a:ext cx="1335024" cy="594360"/>
          </a:xfrm>
          <a:prstGeom prst="rect">
            <a:avLst/>
          </a:prstGeom>
          <a:noFill/>
          <a:ln/>
        </p:spPr>
        <p:txBody>
          <a:bodyPr wrap="square" lIns="0" tIns="0" rIns="0" bIns="0" rtlCol="0" anchor="t"/>
          <a:lstStyle/>
          <a:p>
            <a:pPr algn="ctr" indent="0" marL="0">
              <a:buNone/>
            </a:pPr>
            <a:r>
              <a:rPr lang="en-US" sz="1150" b="1" dirty="0">
                <a:solidFill>
                  <a:srgbClr val="231F20"/>
                </a:solidFill>
                <a:latin typeface="Calibri" pitchFamily="34" charset="0"/>
                <a:ea typeface="Calibri" pitchFamily="34" charset="-122"/>
                <a:cs typeface="Calibri" pitchFamily="34" charset="-120"/>
              </a:rPr>
              <a:t>Publier, présenter, perspectives</a:t>
            </a:r>
            <a:endParaRPr lang="en-US" sz="1150" dirty="0"/>
          </a:p>
        </p:txBody>
      </p:sp>
      <p:sp>
        <p:nvSpPr>
          <p:cNvPr id="38" name="Shape 30"/>
          <p:cNvSpPr/>
          <p:nvPr/>
        </p:nvSpPr>
        <p:spPr>
          <a:xfrm>
            <a:off x="457200" y="3337560"/>
            <a:ext cx="8229600" cy="1188720"/>
          </a:xfrm>
          <a:prstGeom prst="roundRect">
            <a:avLst>
              <a:gd name="adj" fmla="val 6154"/>
            </a:avLst>
          </a:prstGeom>
          <a:solidFill>
            <a:srgbClr val="FFFFFF"/>
          </a:solidFill>
          <a:ln w="9525">
            <a:solidFill>
              <a:srgbClr val="D5DED9"/>
            </a:solidFill>
            <a:prstDash val="solid"/>
          </a:ln>
        </p:spPr>
      </p:sp>
      <p:sp>
        <p:nvSpPr>
          <p:cNvPr id="39" name="Text 31"/>
          <p:cNvSpPr txBox="1"/>
          <p:nvPr/>
        </p:nvSpPr>
        <p:spPr>
          <a:xfrm>
            <a:off x="640080" y="3429000"/>
            <a:ext cx="2743200" cy="182880"/>
          </a:xfrm>
          <a:prstGeom prst="rect">
            <a:avLst/>
          </a:prstGeom>
          <a:noFill/>
          <a:ln/>
        </p:spPr>
        <p:txBody>
          <a:bodyPr wrap="square" lIns="0" tIns="0" rIns="0" bIns="0" rtlCol="0" anchor="t"/>
          <a:lstStyle/>
          <a:p>
            <a:pPr indent="0" marL="0">
              <a:buNone/>
            </a:pPr>
            <a:r>
              <a:rPr lang="en-US" sz="950" b="1" spc="200" kern="0" dirty="0">
                <a:solidFill>
                  <a:srgbClr val="00704A"/>
                </a:solidFill>
                <a:latin typeface="Calibri" pitchFamily="34" charset="0"/>
                <a:ea typeface="Calibri" pitchFamily="34" charset="-122"/>
                <a:cs typeface="Calibri" pitchFamily="34" charset="-120"/>
              </a:rPr>
              <a:t>LE JOUR 3 EN DÉTAIL</a:t>
            </a:r>
            <a:endParaRPr lang="en-US" sz="950" dirty="0"/>
          </a:p>
        </p:txBody>
      </p:sp>
      <p:sp>
        <p:nvSpPr>
          <p:cNvPr id="40" name="Shape 32"/>
          <p:cNvSpPr/>
          <p:nvPr/>
        </p:nvSpPr>
        <p:spPr>
          <a:xfrm>
            <a:off x="640080" y="3703320"/>
            <a:ext cx="640080" cy="237744"/>
          </a:xfrm>
          <a:prstGeom prst="roundRect">
            <a:avLst>
              <a:gd name="adj" fmla="val 50000"/>
            </a:avLst>
          </a:prstGeom>
          <a:solidFill>
            <a:srgbClr val="00A86A">
              <a:alpha val="15000"/>
            </a:srgbClr>
          </a:solidFill>
          <a:ln w="9525">
            <a:solidFill>
              <a:srgbClr val="00A86A"/>
            </a:solidFill>
            <a:prstDash val="solid"/>
          </a:ln>
        </p:spPr>
      </p:sp>
      <p:sp>
        <p:nvSpPr>
          <p:cNvPr id="41" name="Text 33"/>
          <p:cNvSpPr txBox="1"/>
          <p:nvPr/>
        </p:nvSpPr>
        <p:spPr>
          <a:xfrm>
            <a:off x="640080" y="3703320"/>
            <a:ext cx="640080" cy="237744"/>
          </a:xfrm>
          <a:prstGeom prst="rect">
            <a:avLst/>
          </a:prstGeom>
          <a:noFill/>
          <a:ln/>
        </p:spPr>
        <p:txBody>
          <a:bodyPr wrap="square" lIns="0" tIns="0" rIns="0" bIns="0" rtlCol="0" anchor="ctr"/>
          <a:lstStyle/>
          <a:p>
            <a:pPr algn="ctr" indent="0" marL="0">
              <a:buNone/>
            </a:pPr>
            <a:r>
              <a:rPr lang="en-US" sz="950" b="1" dirty="0">
                <a:solidFill>
                  <a:srgbClr val="00A86A"/>
                </a:solidFill>
                <a:latin typeface="Calibri" pitchFamily="34" charset="0"/>
                <a:ea typeface="Calibri" pitchFamily="34" charset="-122"/>
                <a:cs typeface="Calibri" pitchFamily="34" charset="-120"/>
              </a:rPr>
              <a:t>09h00</a:t>
            </a:r>
            <a:endParaRPr lang="en-US" sz="950" dirty="0"/>
          </a:p>
        </p:txBody>
      </p:sp>
      <p:sp>
        <p:nvSpPr>
          <p:cNvPr id="42" name="Text 34"/>
          <p:cNvSpPr txBox="1"/>
          <p:nvPr/>
        </p:nvSpPr>
        <p:spPr>
          <a:xfrm>
            <a:off x="1353312" y="3675888"/>
            <a:ext cx="1188720" cy="292608"/>
          </a:xfrm>
          <a:prstGeom prst="rect">
            <a:avLst/>
          </a:prstGeom>
          <a:noFill/>
          <a:ln/>
        </p:spPr>
        <p:txBody>
          <a:bodyPr wrap="square" lIns="0" tIns="0" rIns="0" bIns="0" rtlCol="0" anchor="ctr"/>
          <a:lstStyle/>
          <a:p>
            <a:pPr indent="0" marL="0">
              <a:buNone/>
            </a:pPr>
            <a:r>
              <a:rPr lang="en-US" sz="1050" b="1" dirty="0">
                <a:solidFill>
                  <a:srgbClr val="00704A"/>
                </a:solidFill>
                <a:latin typeface="Calibri" pitchFamily="34" charset="0"/>
                <a:ea typeface="Calibri" pitchFamily="34" charset="-122"/>
                <a:cs typeface="Calibri" pitchFamily="34" charset="-120"/>
              </a:rPr>
              <a:t>Cette session</a:t>
            </a:r>
            <a:endParaRPr lang="en-US" sz="1050" dirty="0"/>
          </a:p>
        </p:txBody>
      </p:sp>
      <p:sp>
        <p:nvSpPr>
          <p:cNvPr id="43" name="Text 35"/>
          <p:cNvSpPr txBox="1"/>
          <p:nvPr/>
        </p:nvSpPr>
        <p:spPr>
          <a:xfrm>
            <a:off x="640080" y="4023360"/>
            <a:ext cx="1828800" cy="41148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Taxonomie · qualité · accès · éthique</a:t>
            </a:r>
            <a:endParaRPr lang="en-US" sz="950" dirty="0"/>
          </a:p>
        </p:txBody>
      </p:sp>
      <p:sp>
        <p:nvSpPr>
          <p:cNvPr id="44" name="Shape 36"/>
          <p:cNvSpPr/>
          <p:nvPr/>
        </p:nvSpPr>
        <p:spPr>
          <a:xfrm>
            <a:off x="2651760" y="3703320"/>
            <a:ext cx="640080" cy="237744"/>
          </a:xfrm>
          <a:prstGeom prst="roundRect">
            <a:avLst>
              <a:gd name="adj" fmla="val 50000"/>
            </a:avLst>
          </a:prstGeom>
          <a:solidFill>
            <a:srgbClr val="5E6964">
              <a:alpha val="15000"/>
            </a:srgbClr>
          </a:solidFill>
          <a:ln w="9525">
            <a:solidFill>
              <a:srgbClr val="5E6964"/>
            </a:solidFill>
            <a:prstDash val="solid"/>
          </a:ln>
        </p:spPr>
      </p:sp>
      <p:sp>
        <p:nvSpPr>
          <p:cNvPr id="45" name="Text 37"/>
          <p:cNvSpPr txBox="1"/>
          <p:nvPr/>
        </p:nvSpPr>
        <p:spPr>
          <a:xfrm>
            <a:off x="2651760" y="3703320"/>
            <a:ext cx="640080" cy="237744"/>
          </a:xfrm>
          <a:prstGeom prst="rect">
            <a:avLst/>
          </a:prstGeom>
          <a:noFill/>
          <a:ln/>
        </p:spPr>
        <p:txBody>
          <a:bodyPr wrap="square" lIns="0" tIns="0" rIns="0" bIns="0" rtlCol="0" anchor="ctr"/>
          <a:lstStyle/>
          <a:p>
            <a:pPr algn="ctr" indent="0" marL="0">
              <a:buNone/>
            </a:pPr>
            <a:r>
              <a:rPr lang="en-US" sz="950" b="1" dirty="0">
                <a:solidFill>
                  <a:srgbClr val="5E6964"/>
                </a:solidFill>
                <a:latin typeface="Calibri" pitchFamily="34" charset="0"/>
                <a:ea typeface="Calibri" pitchFamily="34" charset="-122"/>
                <a:cs typeface="Calibri" pitchFamily="34" charset="-120"/>
              </a:rPr>
              <a:t>10h45</a:t>
            </a:r>
            <a:endParaRPr lang="en-US" sz="950" dirty="0"/>
          </a:p>
        </p:txBody>
      </p:sp>
      <p:sp>
        <p:nvSpPr>
          <p:cNvPr id="46" name="Text 38"/>
          <p:cNvSpPr txBox="1"/>
          <p:nvPr/>
        </p:nvSpPr>
        <p:spPr>
          <a:xfrm>
            <a:off x="3364992" y="3675888"/>
            <a:ext cx="1188720" cy="29260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Labo : Ookla + WorldPop</a:t>
            </a:r>
            <a:endParaRPr lang="en-US" sz="1050" dirty="0"/>
          </a:p>
        </p:txBody>
      </p:sp>
      <p:sp>
        <p:nvSpPr>
          <p:cNvPr id="47" name="Text 39"/>
          <p:cNvSpPr txBox="1"/>
          <p:nvPr/>
        </p:nvSpPr>
        <p:spPr>
          <a:xfrm>
            <a:off x="2651760" y="4023360"/>
            <a:ext cx="1828800" cy="41148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Connectivité par région pondérée par la population</a:t>
            </a:r>
            <a:endParaRPr lang="en-US" sz="950" dirty="0"/>
          </a:p>
        </p:txBody>
      </p:sp>
      <p:sp>
        <p:nvSpPr>
          <p:cNvPr id="48" name="Shape 40"/>
          <p:cNvSpPr/>
          <p:nvPr/>
        </p:nvSpPr>
        <p:spPr>
          <a:xfrm>
            <a:off x="4663440" y="3703320"/>
            <a:ext cx="640080" cy="237744"/>
          </a:xfrm>
          <a:prstGeom prst="roundRect">
            <a:avLst>
              <a:gd name="adj" fmla="val 50000"/>
            </a:avLst>
          </a:prstGeom>
          <a:solidFill>
            <a:srgbClr val="5E6964">
              <a:alpha val="15000"/>
            </a:srgbClr>
          </a:solidFill>
          <a:ln w="9525">
            <a:solidFill>
              <a:srgbClr val="5E6964"/>
            </a:solidFill>
            <a:prstDash val="solid"/>
          </a:ln>
        </p:spPr>
      </p:sp>
      <p:sp>
        <p:nvSpPr>
          <p:cNvPr id="49" name="Text 41"/>
          <p:cNvSpPr txBox="1"/>
          <p:nvPr/>
        </p:nvSpPr>
        <p:spPr>
          <a:xfrm>
            <a:off x="4663440" y="3703320"/>
            <a:ext cx="640080" cy="237744"/>
          </a:xfrm>
          <a:prstGeom prst="rect">
            <a:avLst/>
          </a:prstGeom>
          <a:noFill/>
          <a:ln/>
        </p:spPr>
        <p:txBody>
          <a:bodyPr wrap="square" lIns="0" tIns="0" rIns="0" bIns="0" rtlCol="0" anchor="ctr"/>
          <a:lstStyle/>
          <a:p>
            <a:pPr algn="ctr" indent="0" marL="0">
              <a:buNone/>
            </a:pPr>
            <a:r>
              <a:rPr lang="en-US" sz="950" b="1" dirty="0">
                <a:solidFill>
                  <a:srgbClr val="5E6964"/>
                </a:solidFill>
                <a:latin typeface="Calibri" pitchFamily="34" charset="0"/>
                <a:ea typeface="Calibri" pitchFamily="34" charset="-122"/>
                <a:cs typeface="Calibri" pitchFamily="34" charset="-120"/>
              </a:rPr>
              <a:t>14h00</a:t>
            </a:r>
            <a:endParaRPr lang="en-US" sz="950" dirty="0"/>
          </a:p>
        </p:txBody>
      </p:sp>
      <p:sp>
        <p:nvSpPr>
          <p:cNvPr id="50" name="Text 42"/>
          <p:cNvSpPr txBox="1"/>
          <p:nvPr/>
        </p:nvSpPr>
        <p:spPr>
          <a:xfrm>
            <a:off x="5376672" y="3675888"/>
            <a:ext cx="1188720" cy="29260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Moteurs à grande échelle</a:t>
            </a:r>
            <a:endParaRPr lang="en-US" sz="1050" dirty="0"/>
          </a:p>
        </p:txBody>
      </p:sp>
      <p:sp>
        <p:nvSpPr>
          <p:cNvPr id="51" name="Text 43"/>
          <p:cNvSpPr txBox="1"/>
          <p:nvPr/>
        </p:nvSpPr>
        <p:spPr>
          <a:xfrm>
            <a:off x="4663440" y="4023360"/>
            <a:ext cx="1828800" cy="41148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Ingestion, lakehouse, Spark, recherche</a:t>
            </a:r>
            <a:endParaRPr lang="en-US" sz="950" dirty="0"/>
          </a:p>
        </p:txBody>
      </p:sp>
      <p:sp>
        <p:nvSpPr>
          <p:cNvPr id="52" name="Shape 44"/>
          <p:cNvSpPr/>
          <p:nvPr/>
        </p:nvSpPr>
        <p:spPr>
          <a:xfrm>
            <a:off x="6675120" y="3703320"/>
            <a:ext cx="640080" cy="237744"/>
          </a:xfrm>
          <a:prstGeom prst="roundRect">
            <a:avLst>
              <a:gd name="adj" fmla="val 50000"/>
            </a:avLst>
          </a:prstGeom>
          <a:solidFill>
            <a:srgbClr val="5E6964">
              <a:alpha val="15000"/>
            </a:srgbClr>
          </a:solidFill>
          <a:ln w="9525">
            <a:solidFill>
              <a:srgbClr val="5E6964"/>
            </a:solidFill>
            <a:prstDash val="solid"/>
          </a:ln>
        </p:spPr>
      </p:sp>
      <p:sp>
        <p:nvSpPr>
          <p:cNvPr id="53" name="Text 45"/>
          <p:cNvSpPr txBox="1"/>
          <p:nvPr/>
        </p:nvSpPr>
        <p:spPr>
          <a:xfrm>
            <a:off x="6675120" y="3703320"/>
            <a:ext cx="640080" cy="237744"/>
          </a:xfrm>
          <a:prstGeom prst="rect">
            <a:avLst/>
          </a:prstGeom>
          <a:noFill/>
          <a:ln/>
        </p:spPr>
        <p:txBody>
          <a:bodyPr wrap="square" lIns="0" tIns="0" rIns="0" bIns="0" rtlCol="0" anchor="ctr"/>
          <a:lstStyle/>
          <a:p>
            <a:pPr algn="ctr" indent="0" marL="0">
              <a:buNone/>
            </a:pPr>
            <a:r>
              <a:rPr lang="en-US" sz="950" b="1" dirty="0">
                <a:solidFill>
                  <a:srgbClr val="5E6964"/>
                </a:solidFill>
                <a:latin typeface="Calibri" pitchFamily="34" charset="0"/>
                <a:ea typeface="Calibri" pitchFamily="34" charset="-122"/>
                <a:cs typeface="Calibri" pitchFamily="34" charset="-120"/>
              </a:rPr>
              <a:t>14h45</a:t>
            </a:r>
            <a:endParaRPr lang="en-US" sz="950" dirty="0"/>
          </a:p>
        </p:txBody>
      </p:sp>
      <p:sp>
        <p:nvSpPr>
          <p:cNvPr id="54" name="Text 46"/>
          <p:cNvSpPr txBox="1"/>
          <p:nvPr/>
        </p:nvSpPr>
        <p:spPr>
          <a:xfrm>
            <a:off x="7388352" y="3675888"/>
            <a:ext cx="1188720" cy="29260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Labo : Ookla à l'échelle</a:t>
            </a:r>
            <a:endParaRPr lang="en-US" sz="1050" dirty="0"/>
          </a:p>
        </p:txBody>
      </p:sp>
      <p:sp>
        <p:nvSpPr>
          <p:cNvPr id="55" name="Text 47"/>
          <p:cNvSpPr txBox="1"/>
          <p:nvPr/>
        </p:nvSpPr>
        <p:spPr>
          <a:xfrm>
            <a:off x="6675120" y="4023360"/>
            <a:ext cx="1828800" cy="41148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Elasticsearch, geo_shape, GitHub</a:t>
            </a:r>
            <a:endParaRPr lang="en-US" sz="950" dirty="0"/>
          </a:p>
        </p:txBody>
      </p:sp>
      <p:sp>
        <p:nvSpPr>
          <p:cNvPr id="56" name="Text 48"/>
          <p:cNvSpPr txBox="1"/>
          <p:nvPr/>
        </p:nvSpPr>
        <p:spPr>
          <a:xfrm>
            <a:off x="457200" y="4626864"/>
            <a:ext cx="749808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Source : agenda de l'atelier technique STG17, « Emerging Issues, Emerging Practice » (BAD · UA STATAFRIC · NISR, version du 01/09/2026).</a:t>
            </a:r>
            <a:endParaRPr lang="en-US" sz="85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CADRE PÉDAGOGIQUE</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À 10h30, vous serez capables de…</a:t>
            </a:r>
            <a:endParaRPr lang="en-US" sz="2400" dirty="0"/>
          </a:p>
        </p:txBody>
      </p:sp>
      <p:sp>
        <p:nvSpPr>
          <p:cNvPr id="8" name="Text 6"/>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Sources de données non traditionnelles · Le trésor caché · Atelier STG17</a:t>
            </a:r>
            <a:endParaRPr lang="en-US" sz="850" dirty="0"/>
          </a:p>
        </p:txBody>
      </p:sp>
      <p:sp>
        <p:nvSpPr>
          <p:cNvPr id="9" name="Text 7"/>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a:t>
            </a:r>
            <a:endParaRPr lang="en-US" sz="850" dirty="0"/>
          </a:p>
        </p:txBody>
      </p:sp>
      <p:sp>
        <p:nvSpPr>
          <p:cNvPr id="11" name="Shape 8"/>
          <p:cNvSpPr/>
          <p:nvPr/>
        </p:nvSpPr>
        <p:spPr>
          <a:xfrm>
            <a:off x="457200" y="1097280"/>
            <a:ext cx="4023360" cy="960120"/>
          </a:xfrm>
          <a:prstGeom prst="roundRect">
            <a:avLst>
              <a:gd name="adj" fmla="val 7619"/>
            </a:avLst>
          </a:prstGeom>
          <a:solidFill>
            <a:srgbClr val="F4F7F5"/>
          </a:solidFill>
          <a:ln w="9525">
            <a:solidFill>
              <a:srgbClr val="D5DED9"/>
            </a:solidFill>
            <a:prstDash val="solid"/>
          </a:ln>
        </p:spPr>
      </p:sp>
      <p:sp>
        <p:nvSpPr>
          <p:cNvPr id="12" name="Shape 9"/>
          <p:cNvSpPr/>
          <p:nvPr/>
        </p:nvSpPr>
        <p:spPr>
          <a:xfrm>
            <a:off x="621792" y="1298448"/>
            <a:ext cx="548640" cy="548640"/>
          </a:xfrm>
          <a:prstGeom prst="ellipse">
            <a:avLst/>
          </a:prstGeom>
          <a:solidFill>
            <a:srgbClr val="00A86A">
              <a:alpha val="22000"/>
            </a:srgbClr>
          </a:solidFill>
          <a:ln/>
        </p:spPr>
      </p:sp>
      <p:pic>
        <p:nvPicPr>
          <p:cNvPr id="13" name="Image 0" descr="preencoded.png">    </p:cNvPr>
          <p:cNvPicPr>
            <a:picLocks noChangeAspect="1"/>
          </p:cNvPicPr>
          <p:nvPr/>
        </p:nvPicPr>
        <p:blipFill>
          <a:blip r:embed="rId1"/>
          <a:stretch>
            <a:fillRect/>
          </a:stretch>
        </p:blipFill>
        <p:spPr>
          <a:xfrm>
            <a:off x="758952" y="1435608"/>
            <a:ext cx="274320" cy="274320"/>
          </a:xfrm>
          <a:prstGeom prst="rect">
            <a:avLst/>
          </a:prstGeom>
        </p:spPr>
      </p:pic>
      <p:sp>
        <p:nvSpPr>
          <p:cNvPr id="14" name="Text 10"/>
          <p:cNvSpPr txBox="1"/>
          <p:nvPr/>
        </p:nvSpPr>
        <p:spPr>
          <a:xfrm>
            <a:off x="1325880" y="1225296"/>
            <a:ext cx="3063240" cy="274320"/>
          </a:xfrm>
          <a:prstGeom prst="rect">
            <a:avLst/>
          </a:prstGeom>
          <a:noFill/>
          <a:ln/>
        </p:spPr>
        <p:txBody>
          <a:bodyPr wrap="square" lIns="0" tIns="0" rIns="0" bIns="0" rtlCol="0" anchor="t"/>
          <a:lstStyle/>
          <a:p>
            <a:pPr indent="0" marL="0">
              <a:buNone/>
            </a:pPr>
            <a:r>
              <a:rPr lang="en-US" sz="1300" b="1" dirty="0">
                <a:solidFill>
                  <a:srgbClr val="00A86A"/>
                </a:solidFill>
                <a:latin typeface="Calibri" pitchFamily="34" charset="0"/>
                <a:ea typeface="Calibri" pitchFamily="34" charset="-122"/>
                <a:cs typeface="Calibri" pitchFamily="34" charset="-120"/>
              </a:rPr>
              <a:t>Classer</a:t>
            </a:r>
            <a:endParaRPr lang="en-US" sz="1300" dirty="0"/>
          </a:p>
        </p:txBody>
      </p:sp>
      <p:sp>
        <p:nvSpPr>
          <p:cNvPr id="15" name="Text 11"/>
          <p:cNvSpPr txBox="1"/>
          <p:nvPr/>
        </p:nvSpPr>
        <p:spPr>
          <a:xfrm>
            <a:off x="1325880" y="1508760"/>
            <a:ext cx="3063240" cy="50292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Situer toute nouvelle source dans une taxonomie claire — six familles, trois processus de production.</a:t>
            </a:r>
            <a:endParaRPr lang="en-US" sz="1050" dirty="0"/>
          </a:p>
        </p:txBody>
      </p:sp>
      <p:sp>
        <p:nvSpPr>
          <p:cNvPr id="16" name="Shape 12"/>
          <p:cNvSpPr/>
          <p:nvPr/>
        </p:nvSpPr>
        <p:spPr>
          <a:xfrm>
            <a:off x="4663440" y="1097280"/>
            <a:ext cx="4023360" cy="960120"/>
          </a:xfrm>
          <a:prstGeom prst="roundRect">
            <a:avLst>
              <a:gd name="adj" fmla="val 7619"/>
            </a:avLst>
          </a:prstGeom>
          <a:solidFill>
            <a:srgbClr val="F4F7F5"/>
          </a:solidFill>
          <a:ln w="9525">
            <a:solidFill>
              <a:srgbClr val="D5DED9"/>
            </a:solidFill>
            <a:prstDash val="solid"/>
          </a:ln>
        </p:spPr>
      </p:sp>
      <p:sp>
        <p:nvSpPr>
          <p:cNvPr id="17" name="Shape 13"/>
          <p:cNvSpPr/>
          <p:nvPr/>
        </p:nvSpPr>
        <p:spPr>
          <a:xfrm>
            <a:off x="4828032" y="1298448"/>
            <a:ext cx="548640" cy="548640"/>
          </a:xfrm>
          <a:prstGeom prst="ellipse">
            <a:avLst/>
          </a:prstGeom>
          <a:solidFill>
            <a:srgbClr val="00704A">
              <a:alpha val="22000"/>
            </a:srgbClr>
          </a:solidFill>
          <a:ln/>
        </p:spPr>
      </p:sp>
      <p:pic>
        <p:nvPicPr>
          <p:cNvPr id="18" name="Image 1" descr="preencoded.png">    </p:cNvPr>
          <p:cNvPicPr>
            <a:picLocks noChangeAspect="1"/>
          </p:cNvPicPr>
          <p:nvPr/>
        </p:nvPicPr>
        <p:blipFill>
          <a:blip r:embed="rId2"/>
          <a:stretch>
            <a:fillRect/>
          </a:stretch>
        </p:blipFill>
        <p:spPr>
          <a:xfrm>
            <a:off x="4965192" y="1435608"/>
            <a:ext cx="274320" cy="274320"/>
          </a:xfrm>
          <a:prstGeom prst="rect">
            <a:avLst/>
          </a:prstGeom>
        </p:spPr>
      </p:pic>
      <p:sp>
        <p:nvSpPr>
          <p:cNvPr id="19" name="Text 14"/>
          <p:cNvSpPr txBox="1"/>
          <p:nvPr/>
        </p:nvSpPr>
        <p:spPr>
          <a:xfrm>
            <a:off x="5532120" y="1225296"/>
            <a:ext cx="3063240" cy="274320"/>
          </a:xfrm>
          <a:prstGeom prst="rect">
            <a:avLst/>
          </a:prstGeom>
          <a:noFill/>
          <a:ln/>
        </p:spPr>
        <p:txBody>
          <a:bodyPr wrap="square" lIns="0" tIns="0" rIns="0" bIns="0" rtlCol="0" anchor="t"/>
          <a:lstStyle/>
          <a:p>
            <a:pPr indent="0" marL="0">
              <a:buNone/>
            </a:pPr>
            <a:r>
              <a:rPr lang="en-US" sz="1300" b="1" dirty="0">
                <a:solidFill>
                  <a:srgbClr val="00704A"/>
                </a:solidFill>
                <a:latin typeface="Calibri" pitchFamily="34" charset="0"/>
                <a:ea typeface="Calibri" pitchFamily="34" charset="-122"/>
                <a:cs typeface="Calibri" pitchFamily="34" charset="-120"/>
              </a:rPr>
              <a:t>Juger l'adéquation à l'usage</a:t>
            </a:r>
            <a:endParaRPr lang="en-US" sz="1300" dirty="0"/>
          </a:p>
        </p:txBody>
      </p:sp>
      <p:sp>
        <p:nvSpPr>
          <p:cNvPr id="20" name="Text 15"/>
          <p:cNvSpPr txBox="1"/>
          <p:nvPr/>
        </p:nvSpPr>
        <p:spPr>
          <a:xfrm>
            <a:off x="5532120" y="1508760"/>
            <a:ext cx="3063240" cy="50292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Distinguer le concept cible de l'indicateur indirect et expliciter l'écart.</a:t>
            </a:r>
            <a:endParaRPr lang="en-US" sz="1050" dirty="0"/>
          </a:p>
        </p:txBody>
      </p:sp>
      <p:sp>
        <p:nvSpPr>
          <p:cNvPr id="21" name="Shape 16"/>
          <p:cNvSpPr/>
          <p:nvPr/>
        </p:nvSpPr>
        <p:spPr>
          <a:xfrm>
            <a:off x="457200" y="2240280"/>
            <a:ext cx="4023360" cy="960120"/>
          </a:xfrm>
          <a:prstGeom prst="roundRect">
            <a:avLst>
              <a:gd name="adj" fmla="val 7619"/>
            </a:avLst>
          </a:prstGeom>
          <a:solidFill>
            <a:srgbClr val="F4F7F5"/>
          </a:solidFill>
          <a:ln w="9525">
            <a:solidFill>
              <a:srgbClr val="D5DED9"/>
            </a:solidFill>
            <a:prstDash val="solid"/>
          </a:ln>
        </p:spPr>
      </p:sp>
      <p:sp>
        <p:nvSpPr>
          <p:cNvPr id="22" name="Shape 17"/>
          <p:cNvSpPr/>
          <p:nvPr/>
        </p:nvSpPr>
        <p:spPr>
          <a:xfrm>
            <a:off x="621792" y="2441448"/>
            <a:ext cx="548640" cy="548640"/>
          </a:xfrm>
          <a:prstGeom prst="ellipse">
            <a:avLst/>
          </a:prstGeom>
          <a:solidFill>
            <a:srgbClr val="0E7C86">
              <a:alpha val="22000"/>
            </a:srgbClr>
          </a:solidFill>
          <a:ln/>
        </p:spPr>
      </p:sp>
      <p:pic>
        <p:nvPicPr>
          <p:cNvPr id="23" name="Image 2" descr="preencoded.png">    </p:cNvPr>
          <p:cNvPicPr>
            <a:picLocks noChangeAspect="1"/>
          </p:cNvPicPr>
          <p:nvPr/>
        </p:nvPicPr>
        <p:blipFill>
          <a:blip r:embed="rId3"/>
          <a:stretch>
            <a:fillRect/>
          </a:stretch>
        </p:blipFill>
        <p:spPr>
          <a:xfrm>
            <a:off x="758952" y="2578608"/>
            <a:ext cx="274320" cy="274320"/>
          </a:xfrm>
          <a:prstGeom prst="rect">
            <a:avLst/>
          </a:prstGeom>
        </p:spPr>
      </p:pic>
      <p:sp>
        <p:nvSpPr>
          <p:cNvPr id="24" name="Text 18"/>
          <p:cNvSpPr txBox="1"/>
          <p:nvPr/>
        </p:nvSpPr>
        <p:spPr>
          <a:xfrm>
            <a:off x="1325880" y="2368296"/>
            <a:ext cx="3063240" cy="274320"/>
          </a:xfrm>
          <a:prstGeom prst="rect">
            <a:avLst/>
          </a:prstGeom>
          <a:noFill/>
          <a:ln/>
        </p:spPr>
        <p:txBody>
          <a:bodyPr wrap="square" lIns="0" tIns="0" rIns="0" bIns="0" rtlCol="0" anchor="t"/>
          <a:lstStyle/>
          <a:p>
            <a:pPr indent="0" marL="0">
              <a:buNone/>
            </a:pPr>
            <a:r>
              <a:rPr lang="en-US" sz="1300" b="1" dirty="0">
                <a:solidFill>
                  <a:srgbClr val="0E7C86"/>
                </a:solidFill>
                <a:latin typeface="Calibri" pitchFamily="34" charset="0"/>
                <a:ea typeface="Calibri" pitchFamily="34" charset="-122"/>
                <a:cs typeface="Calibri" pitchFamily="34" charset="-120"/>
              </a:rPr>
              <a:t>Diagnostiquer le biais de couverture</a:t>
            </a:r>
            <a:endParaRPr lang="en-US" sz="1300" dirty="0"/>
          </a:p>
        </p:txBody>
      </p:sp>
      <p:sp>
        <p:nvSpPr>
          <p:cNvPr id="25" name="Text 19"/>
          <p:cNvSpPr txBox="1"/>
          <p:nvPr/>
        </p:nvSpPr>
        <p:spPr>
          <a:xfrm>
            <a:off x="1325880" y="2651760"/>
            <a:ext cx="3063240" cy="50292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Expliquer pourquoi le volume ne corrige pas le biais, et comment le détecter.</a:t>
            </a:r>
            <a:endParaRPr lang="en-US" sz="1050" dirty="0"/>
          </a:p>
        </p:txBody>
      </p:sp>
      <p:sp>
        <p:nvSpPr>
          <p:cNvPr id="26" name="Shape 20"/>
          <p:cNvSpPr/>
          <p:nvPr/>
        </p:nvSpPr>
        <p:spPr>
          <a:xfrm>
            <a:off x="4663440" y="2240280"/>
            <a:ext cx="4023360" cy="960120"/>
          </a:xfrm>
          <a:prstGeom prst="roundRect">
            <a:avLst>
              <a:gd name="adj" fmla="val 7619"/>
            </a:avLst>
          </a:prstGeom>
          <a:solidFill>
            <a:srgbClr val="F4F7F5"/>
          </a:solidFill>
          <a:ln w="9525">
            <a:solidFill>
              <a:srgbClr val="D5DED9"/>
            </a:solidFill>
            <a:prstDash val="solid"/>
          </a:ln>
        </p:spPr>
      </p:sp>
      <p:sp>
        <p:nvSpPr>
          <p:cNvPr id="27" name="Shape 21"/>
          <p:cNvSpPr/>
          <p:nvPr/>
        </p:nvSpPr>
        <p:spPr>
          <a:xfrm>
            <a:off x="4828032" y="2441448"/>
            <a:ext cx="548640" cy="548640"/>
          </a:xfrm>
          <a:prstGeom prst="ellipse">
            <a:avLst/>
          </a:prstGeom>
          <a:solidFill>
            <a:srgbClr val="D49A00">
              <a:alpha val="22000"/>
            </a:srgbClr>
          </a:solidFill>
          <a:ln/>
        </p:spPr>
      </p:sp>
      <p:pic>
        <p:nvPicPr>
          <p:cNvPr id="28" name="Image 3" descr="preencoded.png">    </p:cNvPr>
          <p:cNvPicPr>
            <a:picLocks noChangeAspect="1"/>
          </p:cNvPicPr>
          <p:nvPr/>
        </p:nvPicPr>
        <p:blipFill>
          <a:blip r:embed="rId4"/>
          <a:stretch>
            <a:fillRect/>
          </a:stretch>
        </p:blipFill>
        <p:spPr>
          <a:xfrm>
            <a:off x="4965192" y="2578608"/>
            <a:ext cx="274320" cy="274320"/>
          </a:xfrm>
          <a:prstGeom prst="rect">
            <a:avLst/>
          </a:prstGeom>
        </p:spPr>
      </p:pic>
      <p:sp>
        <p:nvSpPr>
          <p:cNvPr id="29" name="Text 22"/>
          <p:cNvSpPr txBox="1"/>
          <p:nvPr/>
        </p:nvSpPr>
        <p:spPr>
          <a:xfrm>
            <a:off x="5532120" y="2368296"/>
            <a:ext cx="3063240" cy="274320"/>
          </a:xfrm>
          <a:prstGeom prst="rect">
            <a:avLst/>
          </a:prstGeom>
          <a:noFill/>
          <a:ln/>
        </p:spPr>
        <p:txBody>
          <a:bodyPr wrap="square" lIns="0" tIns="0" rIns="0" bIns="0" rtlCol="0" anchor="t"/>
          <a:lstStyle/>
          <a:p>
            <a:pPr indent="0" marL="0">
              <a:buNone/>
            </a:pPr>
            <a:r>
              <a:rPr lang="en-US" sz="1300" b="1" dirty="0">
                <a:solidFill>
                  <a:srgbClr val="D49A00"/>
                </a:solidFill>
                <a:latin typeface="Calibri" pitchFamily="34" charset="0"/>
                <a:ea typeface="Calibri" pitchFamily="34" charset="-122"/>
                <a:cs typeface="Calibri" pitchFamily="34" charset="-120"/>
              </a:rPr>
              <a:t>Choisir un modèle d'accès</a:t>
            </a:r>
            <a:endParaRPr lang="en-US" sz="1300" dirty="0"/>
          </a:p>
        </p:txBody>
      </p:sp>
      <p:sp>
        <p:nvSpPr>
          <p:cNvPr id="30" name="Text 23"/>
          <p:cNvSpPr txBox="1"/>
          <p:nvPr/>
        </p:nvSpPr>
        <p:spPr>
          <a:xfrm>
            <a:off x="5532120" y="2651760"/>
            <a:ext cx="3063240" cy="50292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Comparer accès ouvert, achat, accord, collaboratif et obligation légale.</a:t>
            </a:r>
            <a:endParaRPr lang="en-US" sz="1050" dirty="0"/>
          </a:p>
        </p:txBody>
      </p:sp>
      <p:sp>
        <p:nvSpPr>
          <p:cNvPr id="31" name="Shape 24"/>
          <p:cNvSpPr/>
          <p:nvPr/>
        </p:nvSpPr>
        <p:spPr>
          <a:xfrm>
            <a:off x="457200" y="3383280"/>
            <a:ext cx="4023360" cy="960120"/>
          </a:xfrm>
          <a:prstGeom prst="roundRect">
            <a:avLst>
              <a:gd name="adj" fmla="val 7619"/>
            </a:avLst>
          </a:prstGeom>
          <a:solidFill>
            <a:srgbClr val="F4F7F5"/>
          </a:solidFill>
          <a:ln w="9525">
            <a:solidFill>
              <a:srgbClr val="D5DED9"/>
            </a:solidFill>
            <a:prstDash val="solid"/>
          </a:ln>
        </p:spPr>
      </p:sp>
      <p:sp>
        <p:nvSpPr>
          <p:cNvPr id="32" name="Shape 25"/>
          <p:cNvSpPr/>
          <p:nvPr/>
        </p:nvSpPr>
        <p:spPr>
          <a:xfrm>
            <a:off x="621792" y="3584448"/>
            <a:ext cx="548640" cy="548640"/>
          </a:xfrm>
          <a:prstGeom prst="ellipse">
            <a:avLst/>
          </a:prstGeom>
          <a:solidFill>
            <a:srgbClr val="C4621D">
              <a:alpha val="22000"/>
            </a:srgbClr>
          </a:solidFill>
          <a:ln/>
        </p:spPr>
      </p:sp>
      <p:pic>
        <p:nvPicPr>
          <p:cNvPr id="33" name="Image 4" descr="preencoded.png">    </p:cNvPr>
          <p:cNvPicPr>
            <a:picLocks noChangeAspect="1"/>
          </p:cNvPicPr>
          <p:nvPr/>
        </p:nvPicPr>
        <p:blipFill>
          <a:blip r:embed="rId5"/>
          <a:stretch>
            <a:fillRect/>
          </a:stretch>
        </p:blipFill>
        <p:spPr>
          <a:xfrm>
            <a:off x="758952" y="3721608"/>
            <a:ext cx="274320" cy="274320"/>
          </a:xfrm>
          <a:prstGeom prst="rect">
            <a:avLst/>
          </a:prstGeom>
        </p:spPr>
      </p:pic>
      <p:sp>
        <p:nvSpPr>
          <p:cNvPr id="34" name="Text 26"/>
          <p:cNvSpPr txBox="1"/>
          <p:nvPr/>
        </p:nvSpPr>
        <p:spPr>
          <a:xfrm>
            <a:off x="1325880" y="3511296"/>
            <a:ext cx="3063240" cy="274320"/>
          </a:xfrm>
          <a:prstGeom prst="rect">
            <a:avLst/>
          </a:prstGeom>
          <a:noFill/>
          <a:ln/>
        </p:spPr>
        <p:txBody>
          <a:bodyPr wrap="square" lIns="0" tIns="0" rIns="0" bIns="0" rtlCol="0" anchor="t"/>
          <a:lstStyle/>
          <a:p>
            <a:pPr indent="0" marL="0">
              <a:buNone/>
            </a:pPr>
            <a:r>
              <a:rPr lang="en-US" sz="1300" b="1" dirty="0">
                <a:solidFill>
                  <a:srgbClr val="C4621D"/>
                </a:solidFill>
                <a:latin typeface="Calibri" pitchFamily="34" charset="0"/>
                <a:ea typeface="Calibri" pitchFamily="34" charset="-122"/>
                <a:cs typeface="Calibri" pitchFamily="34" charset="-120"/>
              </a:rPr>
              <a:t>Protéger la confidentialité</a:t>
            </a:r>
            <a:endParaRPr lang="en-US" sz="1300" dirty="0"/>
          </a:p>
        </p:txBody>
      </p:sp>
      <p:sp>
        <p:nvSpPr>
          <p:cNvPr id="35" name="Text 27"/>
          <p:cNvSpPr txBox="1"/>
          <p:nvPr/>
        </p:nvSpPr>
        <p:spPr>
          <a:xfrm>
            <a:off x="1325880" y="3794760"/>
            <a:ext cx="3063240" cy="50292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Appliquer des garde-fous juridiques, éthiques et techniques avant tout transfert.</a:t>
            </a:r>
            <a:endParaRPr lang="en-US" sz="1050" dirty="0"/>
          </a:p>
        </p:txBody>
      </p:sp>
      <p:sp>
        <p:nvSpPr>
          <p:cNvPr id="36" name="Shape 28"/>
          <p:cNvSpPr/>
          <p:nvPr/>
        </p:nvSpPr>
        <p:spPr>
          <a:xfrm>
            <a:off x="4663440" y="3383280"/>
            <a:ext cx="4023360" cy="960120"/>
          </a:xfrm>
          <a:prstGeom prst="roundRect">
            <a:avLst>
              <a:gd name="adj" fmla="val 7619"/>
            </a:avLst>
          </a:prstGeom>
          <a:solidFill>
            <a:srgbClr val="F4F7F5"/>
          </a:solidFill>
          <a:ln w="9525">
            <a:solidFill>
              <a:srgbClr val="D5DED9"/>
            </a:solidFill>
            <a:prstDash val="solid"/>
          </a:ln>
        </p:spPr>
      </p:sp>
      <p:sp>
        <p:nvSpPr>
          <p:cNvPr id="37" name="Shape 29"/>
          <p:cNvSpPr/>
          <p:nvPr/>
        </p:nvSpPr>
        <p:spPr>
          <a:xfrm>
            <a:off x="4828032" y="3584448"/>
            <a:ext cx="548640" cy="548640"/>
          </a:xfrm>
          <a:prstGeom prst="ellipse">
            <a:avLst/>
          </a:prstGeom>
          <a:solidFill>
            <a:srgbClr val="B83B2E">
              <a:alpha val="22000"/>
            </a:srgbClr>
          </a:solidFill>
          <a:ln/>
        </p:spPr>
      </p:sp>
      <p:pic>
        <p:nvPicPr>
          <p:cNvPr id="38" name="Image 5" descr="preencoded.png">    </p:cNvPr>
          <p:cNvPicPr>
            <a:picLocks noChangeAspect="1"/>
          </p:cNvPicPr>
          <p:nvPr/>
        </p:nvPicPr>
        <p:blipFill>
          <a:blip r:embed="rId6"/>
          <a:stretch>
            <a:fillRect/>
          </a:stretch>
        </p:blipFill>
        <p:spPr>
          <a:xfrm>
            <a:off x="4965192" y="3721608"/>
            <a:ext cx="274320" cy="274320"/>
          </a:xfrm>
          <a:prstGeom prst="rect">
            <a:avLst/>
          </a:prstGeom>
        </p:spPr>
      </p:pic>
      <p:sp>
        <p:nvSpPr>
          <p:cNvPr id="39" name="Text 30"/>
          <p:cNvSpPr txBox="1"/>
          <p:nvPr/>
        </p:nvSpPr>
        <p:spPr>
          <a:xfrm>
            <a:off x="5532120" y="3511296"/>
            <a:ext cx="3063240" cy="274320"/>
          </a:xfrm>
          <a:prstGeom prst="rect">
            <a:avLst/>
          </a:prstGeom>
          <a:noFill/>
          <a:ln/>
        </p:spPr>
        <p:txBody>
          <a:bodyPr wrap="square" lIns="0" tIns="0" rIns="0" bIns="0" rtlCol="0" anchor="t"/>
          <a:lstStyle/>
          <a:p>
            <a:pPr indent="0" marL="0">
              <a:buNone/>
            </a:pPr>
            <a:r>
              <a:rPr lang="en-US" sz="1300" b="1" dirty="0">
                <a:solidFill>
                  <a:srgbClr val="B83B2E"/>
                </a:solidFill>
                <a:latin typeface="Calibri" pitchFamily="34" charset="0"/>
                <a:ea typeface="Calibri" pitchFamily="34" charset="-122"/>
                <a:cs typeface="Calibri" pitchFamily="34" charset="-120"/>
              </a:rPr>
              <a:t>Évaluer une source réelle</a:t>
            </a:r>
            <a:endParaRPr lang="en-US" sz="1300" dirty="0"/>
          </a:p>
        </p:txBody>
      </p:sp>
      <p:sp>
        <p:nvSpPr>
          <p:cNvPr id="40" name="Text 31"/>
          <p:cNvSpPr txBox="1"/>
          <p:nvPr/>
        </p:nvSpPr>
        <p:spPr>
          <a:xfrm>
            <a:off x="5532120" y="3794760"/>
            <a:ext cx="3063240" cy="50292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Remplir en équipe un canevas d'évaluation et défendre le verdict.</a:t>
            </a:r>
            <a:endParaRPr lang="en-US" sz="105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FEUILLE DE ROUTE · 90 MINUTES</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Six sections, un fil conducteur</a:t>
            </a:r>
            <a:endParaRPr lang="en-US" sz="2400" dirty="0"/>
          </a:p>
        </p:txBody>
      </p:sp>
      <p:sp>
        <p:nvSpPr>
          <p:cNvPr id="8" name="Text 6"/>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Sources de données non traditionnelles · Le trésor caché · Atelier STG17</a:t>
            </a:r>
            <a:endParaRPr lang="en-US" sz="850" dirty="0"/>
          </a:p>
        </p:txBody>
      </p:sp>
      <p:sp>
        <p:nvSpPr>
          <p:cNvPr id="9" name="Text 7"/>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4</a:t>
            </a:r>
            <a:endParaRPr lang="en-US" sz="850" dirty="0"/>
          </a:p>
        </p:txBody>
      </p:sp>
      <p:sp>
        <p:nvSpPr>
          <p:cNvPr id="11" name="Shape 8"/>
          <p:cNvSpPr/>
          <p:nvPr/>
        </p:nvSpPr>
        <p:spPr>
          <a:xfrm>
            <a:off x="457200" y="1143000"/>
            <a:ext cx="2615184" cy="1554480"/>
          </a:xfrm>
          <a:prstGeom prst="roundRect">
            <a:avLst>
              <a:gd name="adj" fmla="val 4706"/>
            </a:avLst>
          </a:prstGeom>
          <a:solidFill>
            <a:srgbClr val="F4F7F5"/>
          </a:solidFill>
          <a:ln w="9525">
            <a:solidFill>
              <a:srgbClr val="D5DED9"/>
            </a:solidFill>
            <a:prstDash val="solid"/>
          </a:ln>
        </p:spPr>
      </p:sp>
      <p:sp>
        <p:nvSpPr>
          <p:cNvPr id="12" name="Shape 9"/>
          <p:cNvSpPr/>
          <p:nvPr/>
        </p:nvSpPr>
        <p:spPr>
          <a:xfrm>
            <a:off x="621792" y="1307592"/>
            <a:ext cx="502920" cy="502920"/>
          </a:xfrm>
          <a:prstGeom prst="ellipse">
            <a:avLst/>
          </a:prstGeom>
          <a:solidFill>
            <a:srgbClr val="00A86A">
              <a:alpha val="22000"/>
            </a:srgbClr>
          </a:solidFill>
          <a:ln/>
        </p:spPr>
      </p:sp>
      <p:pic>
        <p:nvPicPr>
          <p:cNvPr id="13" name="Image 0" descr="preencoded.png">    </p:cNvPr>
          <p:cNvPicPr>
            <a:picLocks noChangeAspect="1"/>
          </p:cNvPicPr>
          <p:nvPr/>
        </p:nvPicPr>
        <p:blipFill>
          <a:blip r:embed="rId1"/>
          <a:stretch>
            <a:fillRect/>
          </a:stretch>
        </p:blipFill>
        <p:spPr>
          <a:xfrm>
            <a:off x="747522" y="1433322"/>
            <a:ext cx="251460" cy="251460"/>
          </a:xfrm>
          <a:prstGeom prst="rect">
            <a:avLst/>
          </a:prstGeom>
        </p:spPr>
      </p:pic>
      <p:sp>
        <p:nvSpPr>
          <p:cNvPr id="14" name="Text 10"/>
          <p:cNvSpPr txBox="1"/>
          <p:nvPr/>
        </p:nvSpPr>
        <p:spPr>
          <a:xfrm>
            <a:off x="2194560" y="1271016"/>
            <a:ext cx="731520" cy="411480"/>
          </a:xfrm>
          <a:prstGeom prst="rect">
            <a:avLst/>
          </a:prstGeom>
          <a:noFill/>
          <a:ln/>
        </p:spPr>
        <p:txBody>
          <a:bodyPr wrap="square" lIns="0" tIns="0" rIns="0" bIns="0" rtlCol="0" anchor="t"/>
          <a:lstStyle/>
          <a:p>
            <a:pPr algn="r" indent="0" marL="0">
              <a:buNone/>
            </a:pPr>
            <a:r>
              <a:rPr lang="en-US" sz="2600" b="1" dirty="0">
                <a:solidFill>
                  <a:srgbClr val="F5C242"/>
                </a:solidFill>
                <a:latin typeface="Calibri" pitchFamily="34" charset="0"/>
                <a:ea typeface="Calibri" pitchFamily="34" charset="-122"/>
                <a:cs typeface="Calibri" pitchFamily="34" charset="-120"/>
              </a:rPr>
              <a:t>01</a:t>
            </a:r>
            <a:endParaRPr lang="en-US" sz="2600" dirty="0"/>
          </a:p>
        </p:txBody>
      </p:sp>
      <p:sp>
        <p:nvSpPr>
          <p:cNvPr id="15" name="Text 11"/>
          <p:cNvSpPr txBox="1"/>
          <p:nvPr/>
        </p:nvSpPr>
        <p:spPr>
          <a:xfrm>
            <a:off x="621792" y="1892808"/>
            <a:ext cx="2377440" cy="274320"/>
          </a:xfrm>
          <a:prstGeom prst="rect">
            <a:avLst/>
          </a:prstGeom>
          <a:noFill/>
          <a:ln/>
        </p:spPr>
        <p:txBody>
          <a:bodyPr wrap="square" lIns="0" tIns="0" rIns="0" bIns="0" rtlCol="0" anchor="t"/>
          <a:lstStyle/>
          <a:p>
            <a:pPr indent="0" marL="0">
              <a:buNone/>
            </a:pPr>
            <a:r>
              <a:rPr lang="en-US" sz="1300" b="1" dirty="0">
                <a:solidFill>
                  <a:srgbClr val="00A86A"/>
                </a:solidFill>
                <a:latin typeface="Calibri" pitchFamily="34" charset="0"/>
                <a:ea typeface="Calibri" pitchFamily="34" charset="-122"/>
                <a:cs typeface="Calibri" pitchFamily="34" charset="-120"/>
              </a:rPr>
              <a:t>Pourquoi c'est important</a:t>
            </a:r>
            <a:endParaRPr lang="en-US" sz="1300" dirty="0"/>
          </a:p>
        </p:txBody>
      </p:sp>
      <p:sp>
        <p:nvSpPr>
          <p:cNvPr id="16" name="Text 12"/>
          <p:cNvSpPr txBox="1"/>
          <p:nvPr/>
        </p:nvSpPr>
        <p:spPr>
          <a:xfrm>
            <a:off x="621792" y="2167128"/>
            <a:ext cx="1691640" cy="4572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Pressions sur les INS et mandat d'innover</a:t>
            </a:r>
            <a:endParaRPr lang="en-US" sz="1050" dirty="0"/>
          </a:p>
        </p:txBody>
      </p:sp>
      <p:sp>
        <p:nvSpPr>
          <p:cNvPr id="17" name="Shape 13"/>
          <p:cNvSpPr/>
          <p:nvPr/>
        </p:nvSpPr>
        <p:spPr>
          <a:xfrm>
            <a:off x="2304288" y="2331720"/>
            <a:ext cx="621792" cy="237744"/>
          </a:xfrm>
          <a:prstGeom prst="roundRect">
            <a:avLst>
              <a:gd name="adj" fmla="val 50000"/>
            </a:avLst>
          </a:prstGeom>
          <a:solidFill>
            <a:srgbClr val="00A86A">
              <a:alpha val="15000"/>
            </a:srgbClr>
          </a:solidFill>
          <a:ln w="9525">
            <a:solidFill>
              <a:srgbClr val="00A86A"/>
            </a:solidFill>
            <a:prstDash val="solid"/>
          </a:ln>
        </p:spPr>
      </p:sp>
      <p:sp>
        <p:nvSpPr>
          <p:cNvPr id="18" name="Text 14"/>
          <p:cNvSpPr txBox="1"/>
          <p:nvPr/>
        </p:nvSpPr>
        <p:spPr>
          <a:xfrm>
            <a:off x="2304288" y="2331720"/>
            <a:ext cx="621792" cy="237744"/>
          </a:xfrm>
          <a:prstGeom prst="rect">
            <a:avLst/>
          </a:prstGeom>
          <a:noFill/>
          <a:ln/>
        </p:spPr>
        <p:txBody>
          <a:bodyPr wrap="square" lIns="0" tIns="0" rIns="0" bIns="0" rtlCol="0" anchor="ctr"/>
          <a:lstStyle/>
          <a:p>
            <a:pPr algn="ctr" indent="0" marL="0">
              <a:buNone/>
            </a:pPr>
            <a:r>
              <a:rPr lang="en-US" sz="950" b="1" dirty="0">
                <a:solidFill>
                  <a:srgbClr val="00A86A"/>
                </a:solidFill>
                <a:latin typeface="Calibri" pitchFamily="34" charset="0"/>
                <a:ea typeface="Calibri" pitchFamily="34" charset="-122"/>
                <a:cs typeface="Calibri" pitchFamily="34" charset="-120"/>
              </a:rPr>
              <a:t>8 min</a:t>
            </a:r>
            <a:endParaRPr lang="en-US" sz="950" dirty="0"/>
          </a:p>
        </p:txBody>
      </p:sp>
      <p:sp>
        <p:nvSpPr>
          <p:cNvPr id="19" name="Shape 15"/>
          <p:cNvSpPr/>
          <p:nvPr/>
        </p:nvSpPr>
        <p:spPr>
          <a:xfrm>
            <a:off x="3264408" y="1143000"/>
            <a:ext cx="2615184" cy="1554480"/>
          </a:xfrm>
          <a:prstGeom prst="roundRect">
            <a:avLst>
              <a:gd name="adj" fmla="val 4706"/>
            </a:avLst>
          </a:prstGeom>
          <a:solidFill>
            <a:srgbClr val="F4F7F5"/>
          </a:solidFill>
          <a:ln w="9525">
            <a:solidFill>
              <a:srgbClr val="D5DED9"/>
            </a:solidFill>
            <a:prstDash val="solid"/>
          </a:ln>
        </p:spPr>
      </p:sp>
      <p:sp>
        <p:nvSpPr>
          <p:cNvPr id="20" name="Shape 16"/>
          <p:cNvSpPr/>
          <p:nvPr/>
        </p:nvSpPr>
        <p:spPr>
          <a:xfrm>
            <a:off x="3429000" y="1307592"/>
            <a:ext cx="502920" cy="502920"/>
          </a:xfrm>
          <a:prstGeom prst="ellipse">
            <a:avLst/>
          </a:prstGeom>
          <a:solidFill>
            <a:srgbClr val="00704A">
              <a:alpha val="22000"/>
            </a:srgbClr>
          </a:solidFill>
          <a:ln/>
        </p:spPr>
      </p:sp>
      <p:pic>
        <p:nvPicPr>
          <p:cNvPr id="21" name="Image 1" descr="preencoded.png">    </p:cNvPr>
          <p:cNvPicPr>
            <a:picLocks noChangeAspect="1"/>
          </p:cNvPicPr>
          <p:nvPr/>
        </p:nvPicPr>
        <p:blipFill>
          <a:blip r:embed="rId2"/>
          <a:stretch>
            <a:fillRect/>
          </a:stretch>
        </p:blipFill>
        <p:spPr>
          <a:xfrm>
            <a:off x="3554730" y="1433322"/>
            <a:ext cx="251460" cy="251460"/>
          </a:xfrm>
          <a:prstGeom prst="rect">
            <a:avLst/>
          </a:prstGeom>
        </p:spPr>
      </p:pic>
      <p:sp>
        <p:nvSpPr>
          <p:cNvPr id="22" name="Text 17"/>
          <p:cNvSpPr txBox="1"/>
          <p:nvPr/>
        </p:nvSpPr>
        <p:spPr>
          <a:xfrm>
            <a:off x="5001768" y="1271016"/>
            <a:ext cx="731520" cy="411480"/>
          </a:xfrm>
          <a:prstGeom prst="rect">
            <a:avLst/>
          </a:prstGeom>
          <a:noFill/>
          <a:ln/>
        </p:spPr>
        <p:txBody>
          <a:bodyPr wrap="square" lIns="0" tIns="0" rIns="0" bIns="0" rtlCol="0" anchor="t"/>
          <a:lstStyle/>
          <a:p>
            <a:pPr algn="r" indent="0" marL="0">
              <a:buNone/>
            </a:pPr>
            <a:r>
              <a:rPr lang="en-US" sz="2600" b="1" dirty="0">
                <a:solidFill>
                  <a:srgbClr val="F5C242"/>
                </a:solidFill>
                <a:latin typeface="Calibri" pitchFamily="34" charset="0"/>
                <a:ea typeface="Calibri" pitchFamily="34" charset="-122"/>
                <a:cs typeface="Calibri" pitchFamily="34" charset="-120"/>
              </a:rPr>
              <a:t>02</a:t>
            </a:r>
            <a:endParaRPr lang="en-US" sz="2600" dirty="0"/>
          </a:p>
        </p:txBody>
      </p:sp>
      <p:sp>
        <p:nvSpPr>
          <p:cNvPr id="23" name="Text 18"/>
          <p:cNvSpPr txBox="1"/>
          <p:nvPr/>
        </p:nvSpPr>
        <p:spPr>
          <a:xfrm>
            <a:off x="3429000" y="1892808"/>
            <a:ext cx="2377440" cy="274320"/>
          </a:xfrm>
          <a:prstGeom prst="rect">
            <a:avLst/>
          </a:prstGeom>
          <a:noFill/>
          <a:ln/>
        </p:spPr>
        <p:txBody>
          <a:bodyPr wrap="square" lIns="0" tIns="0" rIns="0" bIns="0" rtlCol="0" anchor="t"/>
          <a:lstStyle/>
          <a:p>
            <a:pPr indent="0" marL="0">
              <a:buNone/>
            </a:pPr>
            <a:r>
              <a:rPr lang="en-US" sz="1300" b="1" dirty="0">
                <a:solidFill>
                  <a:srgbClr val="00704A"/>
                </a:solidFill>
                <a:latin typeface="Calibri" pitchFamily="34" charset="0"/>
                <a:ea typeface="Calibri" pitchFamily="34" charset="-122"/>
                <a:cs typeface="Calibri" pitchFamily="34" charset="-120"/>
              </a:rPr>
              <a:t>Taxonomie</a:t>
            </a:r>
            <a:endParaRPr lang="en-US" sz="1300" dirty="0"/>
          </a:p>
        </p:txBody>
      </p:sp>
      <p:sp>
        <p:nvSpPr>
          <p:cNvPr id="24" name="Text 19"/>
          <p:cNvSpPr txBox="1"/>
          <p:nvPr/>
        </p:nvSpPr>
        <p:spPr>
          <a:xfrm>
            <a:off x="3429000" y="2167128"/>
            <a:ext cx="1691640" cy="4572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Six familles de sources et ce qu'elles mesurent</a:t>
            </a:r>
            <a:endParaRPr lang="en-US" sz="1050" dirty="0"/>
          </a:p>
        </p:txBody>
      </p:sp>
      <p:sp>
        <p:nvSpPr>
          <p:cNvPr id="25" name="Shape 20"/>
          <p:cNvSpPr/>
          <p:nvPr/>
        </p:nvSpPr>
        <p:spPr>
          <a:xfrm>
            <a:off x="5111496" y="2331720"/>
            <a:ext cx="621792" cy="237744"/>
          </a:xfrm>
          <a:prstGeom prst="roundRect">
            <a:avLst>
              <a:gd name="adj" fmla="val 50000"/>
            </a:avLst>
          </a:prstGeom>
          <a:solidFill>
            <a:srgbClr val="00704A">
              <a:alpha val="15000"/>
            </a:srgbClr>
          </a:solidFill>
          <a:ln w="9525">
            <a:solidFill>
              <a:srgbClr val="00704A"/>
            </a:solidFill>
            <a:prstDash val="solid"/>
          </a:ln>
        </p:spPr>
      </p:sp>
      <p:sp>
        <p:nvSpPr>
          <p:cNvPr id="26" name="Text 21"/>
          <p:cNvSpPr txBox="1"/>
          <p:nvPr/>
        </p:nvSpPr>
        <p:spPr>
          <a:xfrm>
            <a:off x="5111496" y="2331720"/>
            <a:ext cx="621792" cy="237744"/>
          </a:xfrm>
          <a:prstGeom prst="rect">
            <a:avLst/>
          </a:prstGeom>
          <a:noFill/>
          <a:ln/>
        </p:spPr>
        <p:txBody>
          <a:bodyPr wrap="square" lIns="0" tIns="0" rIns="0" bIns="0" rtlCol="0" anchor="ctr"/>
          <a:lstStyle/>
          <a:p>
            <a:pPr algn="ctr" indent="0" marL="0">
              <a:buNone/>
            </a:pPr>
            <a:r>
              <a:rPr lang="en-US" sz="950" b="1" dirty="0">
                <a:solidFill>
                  <a:srgbClr val="00704A"/>
                </a:solidFill>
                <a:latin typeface="Calibri" pitchFamily="34" charset="0"/>
                <a:ea typeface="Calibri" pitchFamily="34" charset="-122"/>
                <a:cs typeface="Calibri" pitchFamily="34" charset="-120"/>
              </a:rPr>
              <a:t>15 min</a:t>
            </a:r>
            <a:endParaRPr lang="en-US" sz="950" dirty="0"/>
          </a:p>
        </p:txBody>
      </p:sp>
      <p:sp>
        <p:nvSpPr>
          <p:cNvPr id="27" name="Shape 22"/>
          <p:cNvSpPr/>
          <p:nvPr/>
        </p:nvSpPr>
        <p:spPr>
          <a:xfrm>
            <a:off x="6071616" y="1143000"/>
            <a:ext cx="2615184" cy="1554480"/>
          </a:xfrm>
          <a:prstGeom prst="roundRect">
            <a:avLst>
              <a:gd name="adj" fmla="val 4706"/>
            </a:avLst>
          </a:prstGeom>
          <a:solidFill>
            <a:srgbClr val="F4F7F5"/>
          </a:solidFill>
          <a:ln w="9525">
            <a:solidFill>
              <a:srgbClr val="D5DED9"/>
            </a:solidFill>
            <a:prstDash val="solid"/>
          </a:ln>
        </p:spPr>
      </p:sp>
      <p:sp>
        <p:nvSpPr>
          <p:cNvPr id="28" name="Shape 23"/>
          <p:cNvSpPr/>
          <p:nvPr/>
        </p:nvSpPr>
        <p:spPr>
          <a:xfrm>
            <a:off x="6236208" y="1307592"/>
            <a:ext cx="502920" cy="502920"/>
          </a:xfrm>
          <a:prstGeom prst="ellipse">
            <a:avLst/>
          </a:prstGeom>
          <a:solidFill>
            <a:srgbClr val="0E7C86">
              <a:alpha val="22000"/>
            </a:srgbClr>
          </a:solidFill>
          <a:ln/>
        </p:spPr>
      </p:sp>
      <p:pic>
        <p:nvPicPr>
          <p:cNvPr id="29" name="Image 2" descr="preencoded.png">    </p:cNvPr>
          <p:cNvPicPr>
            <a:picLocks noChangeAspect="1"/>
          </p:cNvPicPr>
          <p:nvPr/>
        </p:nvPicPr>
        <p:blipFill>
          <a:blip r:embed="rId3"/>
          <a:stretch>
            <a:fillRect/>
          </a:stretch>
        </p:blipFill>
        <p:spPr>
          <a:xfrm>
            <a:off x="6361938" y="1433322"/>
            <a:ext cx="251460" cy="251460"/>
          </a:xfrm>
          <a:prstGeom prst="rect">
            <a:avLst/>
          </a:prstGeom>
        </p:spPr>
      </p:pic>
      <p:sp>
        <p:nvSpPr>
          <p:cNvPr id="30" name="Text 24"/>
          <p:cNvSpPr txBox="1"/>
          <p:nvPr/>
        </p:nvSpPr>
        <p:spPr>
          <a:xfrm>
            <a:off x="7808976" y="1271016"/>
            <a:ext cx="731520" cy="411480"/>
          </a:xfrm>
          <a:prstGeom prst="rect">
            <a:avLst/>
          </a:prstGeom>
          <a:noFill/>
          <a:ln/>
        </p:spPr>
        <p:txBody>
          <a:bodyPr wrap="square" lIns="0" tIns="0" rIns="0" bIns="0" rtlCol="0" anchor="t"/>
          <a:lstStyle/>
          <a:p>
            <a:pPr algn="r" indent="0" marL="0">
              <a:buNone/>
            </a:pPr>
            <a:r>
              <a:rPr lang="en-US" sz="2600" b="1" dirty="0">
                <a:solidFill>
                  <a:srgbClr val="F5C242"/>
                </a:solidFill>
                <a:latin typeface="Calibri" pitchFamily="34" charset="0"/>
                <a:ea typeface="Calibri" pitchFamily="34" charset="-122"/>
                <a:cs typeface="Calibri" pitchFamily="34" charset="-120"/>
              </a:rPr>
              <a:t>03</a:t>
            </a:r>
            <a:endParaRPr lang="en-US" sz="2600" dirty="0"/>
          </a:p>
        </p:txBody>
      </p:sp>
      <p:sp>
        <p:nvSpPr>
          <p:cNvPr id="31" name="Text 25"/>
          <p:cNvSpPr txBox="1"/>
          <p:nvPr/>
        </p:nvSpPr>
        <p:spPr>
          <a:xfrm>
            <a:off x="6236208" y="1892808"/>
            <a:ext cx="2377440" cy="274320"/>
          </a:xfrm>
          <a:prstGeom prst="rect">
            <a:avLst/>
          </a:prstGeom>
          <a:noFill/>
          <a:ln/>
        </p:spPr>
        <p:txBody>
          <a:bodyPr wrap="square" lIns="0" tIns="0" rIns="0" bIns="0" rtlCol="0" anchor="t"/>
          <a:lstStyle/>
          <a:p>
            <a:pPr indent="0" marL="0">
              <a:buNone/>
            </a:pPr>
            <a:r>
              <a:rPr lang="en-US" sz="1300" b="1" dirty="0">
                <a:solidFill>
                  <a:srgbClr val="0E7C86"/>
                </a:solidFill>
                <a:latin typeface="Calibri" pitchFamily="34" charset="0"/>
                <a:ea typeface="Calibri" pitchFamily="34" charset="-122"/>
                <a:cs typeface="Calibri" pitchFamily="34" charset="-120"/>
              </a:rPr>
              <a:t>Qualité et biais</a:t>
            </a:r>
            <a:endParaRPr lang="en-US" sz="1300" dirty="0"/>
          </a:p>
        </p:txBody>
      </p:sp>
      <p:sp>
        <p:nvSpPr>
          <p:cNvPr id="32" name="Text 26"/>
          <p:cNvSpPr txBox="1"/>
          <p:nvPr/>
        </p:nvSpPr>
        <p:spPr>
          <a:xfrm>
            <a:off x="6236208" y="2167128"/>
            <a:ext cx="1691640" cy="4572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Cadres de qualité adaptés, paradoxe du big data</a:t>
            </a:r>
            <a:endParaRPr lang="en-US" sz="1050" dirty="0"/>
          </a:p>
        </p:txBody>
      </p:sp>
      <p:sp>
        <p:nvSpPr>
          <p:cNvPr id="33" name="Shape 27"/>
          <p:cNvSpPr/>
          <p:nvPr/>
        </p:nvSpPr>
        <p:spPr>
          <a:xfrm>
            <a:off x="7918704" y="2331720"/>
            <a:ext cx="621792" cy="237744"/>
          </a:xfrm>
          <a:prstGeom prst="roundRect">
            <a:avLst>
              <a:gd name="adj" fmla="val 50000"/>
            </a:avLst>
          </a:prstGeom>
          <a:solidFill>
            <a:srgbClr val="0E7C86">
              <a:alpha val="15000"/>
            </a:srgbClr>
          </a:solidFill>
          <a:ln w="9525">
            <a:solidFill>
              <a:srgbClr val="0E7C86"/>
            </a:solidFill>
            <a:prstDash val="solid"/>
          </a:ln>
        </p:spPr>
      </p:sp>
      <p:sp>
        <p:nvSpPr>
          <p:cNvPr id="34" name="Text 28"/>
          <p:cNvSpPr txBox="1"/>
          <p:nvPr/>
        </p:nvSpPr>
        <p:spPr>
          <a:xfrm>
            <a:off x="7918704" y="2331720"/>
            <a:ext cx="621792" cy="237744"/>
          </a:xfrm>
          <a:prstGeom prst="rect">
            <a:avLst/>
          </a:prstGeom>
          <a:noFill/>
          <a:ln/>
        </p:spPr>
        <p:txBody>
          <a:bodyPr wrap="square" lIns="0" tIns="0" rIns="0" bIns="0" rtlCol="0" anchor="ctr"/>
          <a:lstStyle/>
          <a:p>
            <a:pPr algn="ctr" indent="0" marL="0">
              <a:buNone/>
            </a:pPr>
            <a:r>
              <a:rPr lang="en-US" sz="950" b="1" dirty="0">
                <a:solidFill>
                  <a:srgbClr val="0E7C86"/>
                </a:solidFill>
                <a:latin typeface="Calibri" pitchFamily="34" charset="0"/>
                <a:ea typeface="Calibri" pitchFamily="34" charset="-122"/>
                <a:cs typeface="Calibri" pitchFamily="34" charset="-120"/>
              </a:rPr>
              <a:t>12 min</a:t>
            </a:r>
            <a:endParaRPr lang="en-US" sz="950" dirty="0"/>
          </a:p>
        </p:txBody>
      </p:sp>
      <p:sp>
        <p:nvSpPr>
          <p:cNvPr id="35" name="Shape 29"/>
          <p:cNvSpPr/>
          <p:nvPr/>
        </p:nvSpPr>
        <p:spPr>
          <a:xfrm>
            <a:off x="457200" y="2880360"/>
            <a:ext cx="2615184" cy="1554480"/>
          </a:xfrm>
          <a:prstGeom prst="roundRect">
            <a:avLst>
              <a:gd name="adj" fmla="val 4706"/>
            </a:avLst>
          </a:prstGeom>
          <a:solidFill>
            <a:srgbClr val="F4F7F5"/>
          </a:solidFill>
          <a:ln w="9525">
            <a:solidFill>
              <a:srgbClr val="D5DED9"/>
            </a:solidFill>
            <a:prstDash val="solid"/>
          </a:ln>
        </p:spPr>
      </p:sp>
      <p:sp>
        <p:nvSpPr>
          <p:cNvPr id="36" name="Shape 30"/>
          <p:cNvSpPr/>
          <p:nvPr/>
        </p:nvSpPr>
        <p:spPr>
          <a:xfrm>
            <a:off x="621792" y="3044952"/>
            <a:ext cx="502920" cy="502920"/>
          </a:xfrm>
          <a:prstGeom prst="ellipse">
            <a:avLst/>
          </a:prstGeom>
          <a:solidFill>
            <a:srgbClr val="D49A00">
              <a:alpha val="22000"/>
            </a:srgbClr>
          </a:solidFill>
          <a:ln/>
        </p:spPr>
      </p:sp>
      <p:pic>
        <p:nvPicPr>
          <p:cNvPr id="37" name="Image 3" descr="preencoded.png">    </p:cNvPr>
          <p:cNvPicPr>
            <a:picLocks noChangeAspect="1"/>
          </p:cNvPicPr>
          <p:nvPr/>
        </p:nvPicPr>
        <p:blipFill>
          <a:blip r:embed="rId4"/>
          <a:stretch>
            <a:fillRect/>
          </a:stretch>
        </p:blipFill>
        <p:spPr>
          <a:xfrm>
            <a:off x="747522" y="3170682"/>
            <a:ext cx="251460" cy="251460"/>
          </a:xfrm>
          <a:prstGeom prst="rect">
            <a:avLst/>
          </a:prstGeom>
        </p:spPr>
      </p:pic>
      <p:sp>
        <p:nvSpPr>
          <p:cNvPr id="38" name="Text 31"/>
          <p:cNvSpPr txBox="1"/>
          <p:nvPr/>
        </p:nvSpPr>
        <p:spPr>
          <a:xfrm>
            <a:off x="2194560" y="3008376"/>
            <a:ext cx="731520" cy="411480"/>
          </a:xfrm>
          <a:prstGeom prst="rect">
            <a:avLst/>
          </a:prstGeom>
          <a:noFill/>
          <a:ln/>
        </p:spPr>
        <p:txBody>
          <a:bodyPr wrap="square" lIns="0" tIns="0" rIns="0" bIns="0" rtlCol="0" anchor="t"/>
          <a:lstStyle/>
          <a:p>
            <a:pPr algn="r" indent="0" marL="0">
              <a:buNone/>
            </a:pPr>
            <a:r>
              <a:rPr lang="en-US" sz="2600" b="1" dirty="0">
                <a:solidFill>
                  <a:srgbClr val="F5C242"/>
                </a:solidFill>
                <a:latin typeface="Calibri" pitchFamily="34" charset="0"/>
                <a:ea typeface="Calibri" pitchFamily="34" charset="-122"/>
                <a:cs typeface="Calibri" pitchFamily="34" charset="-120"/>
              </a:rPr>
              <a:t>04</a:t>
            </a:r>
            <a:endParaRPr lang="en-US" sz="2600" dirty="0"/>
          </a:p>
        </p:txBody>
      </p:sp>
      <p:sp>
        <p:nvSpPr>
          <p:cNvPr id="39" name="Text 32"/>
          <p:cNvSpPr txBox="1"/>
          <p:nvPr/>
        </p:nvSpPr>
        <p:spPr>
          <a:xfrm>
            <a:off x="621792" y="3630168"/>
            <a:ext cx="2377440" cy="274320"/>
          </a:xfrm>
          <a:prstGeom prst="rect">
            <a:avLst/>
          </a:prstGeom>
          <a:noFill/>
          <a:ln/>
        </p:spPr>
        <p:txBody>
          <a:bodyPr wrap="square" lIns="0" tIns="0" rIns="0" bIns="0" rtlCol="0" anchor="t"/>
          <a:lstStyle/>
          <a:p>
            <a:pPr indent="0" marL="0">
              <a:buNone/>
            </a:pPr>
            <a:r>
              <a:rPr lang="en-US" sz="1300" b="1" dirty="0">
                <a:solidFill>
                  <a:srgbClr val="D49A00"/>
                </a:solidFill>
                <a:latin typeface="Calibri" pitchFamily="34" charset="0"/>
                <a:ea typeface="Calibri" pitchFamily="34" charset="-122"/>
                <a:cs typeface="Calibri" pitchFamily="34" charset="-120"/>
              </a:rPr>
              <a:t>Accès et partenariats</a:t>
            </a:r>
            <a:endParaRPr lang="en-US" sz="1300" dirty="0"/>
          </a:p>
        </p:txBody>
      </p:sp>
      <p:sp>
        <p:nvSpPr>
          <p:cNvPr id="40" name="Text 33"/>
          <p:cNvSpPr txBox="1"/>
          <p:nvPr/>
        </p:nvSpPr>
        <p:spPr>
          <a:xfrm>
            <a:off x="621792" y="3904488"/>
            <a:ext cx="1691640" cy="4572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Cinq modèles d'accès, accords de partage</a:t>
            </a:r>
            <a:endParaRPr lang="en-US" sz="1050" dirty="0"/>
          </a:p>
        </p:txBody>
      </p:sp>
      <p:sp>
        <p:nvSpPr>
          <p:cNvPr id="41" name="Shape 34"/>
          <p:cNvSpPr/>
          <p:nvPr/>
        </p:nvSpPr>
        <p:spPr>
          <a:xfrm>
            <a:off x="2304288" y="4069080"/>
            <a:ext cx="621792" cy="237744"/>
          </a:xfrm>
          <a:prstGeom prst="roundRect">
            <a:avLst>
              <a:gd name="adj" fmla="val 50000"/>
            </a:avLst>
          </a:prstGeom>
          <a:solidFill>
            <a:srgbClr val="D49A00">
              <a:alpha val="15000"/>
            </a:srgbClr>
          </a:solidFill>
          <a:ln w="9525">
            <a:solidFill>
              <a:srgbClr val="D49A00"/>
            </a:solidFill>
            <a:prstDash val="solid"/>
          </a:ln>
        </p:spPr>
      </p:sp>
      <p:sp>
        <p:nvSpPr>
          <p:cNvPr id="42" name="Text 35"/>
          <p:cNvSpPr txBox="1"/>
          <p:nvPr/>
        </p:nvSpPr>
        <p:spPr>
          <a:xfrm>
            <a:off x="2304288" y="4069080"/>
            <a:ext cx="621792" cy="237744"/>
          </a:xfrm>
          <a:prstGeom prst="rect">
            <a:avLst/>
          </a:prstGeom>
          <a:noFill/>
          <a:ln/>
        </p:spPr>
        <p:txBody>
          <a:bodyPr wrap="square" lIns="0" tIns="0" rIns="0" bIns="0" rtlCol="0" anchor="ctr"/>
          <a:lstStyle/>
          <a:p>
            <a:pPr algn="ctr" indent="0" marL="0">
              <a:buNone/>
            </a:pPr>
            <a:r>
              <a:rPr lang="en-US" sz="950" b="1" dirty="0">
                <a:solidFill>
                  <a:srgbClr val="D49A00"/>
                </a:solidFill>
                <a:latin typeface="Calibri" pitchFamily="34" charset="0"/>
                <a:ea typeface="Calibri" pitchFamily="34" charset="-122"/>
                <a:cs typeface="Calibri" pitchFamily="34" charset="-120"/>
              </a:rPr>
              <a:t>8 min</a:t>
            </a:r>
            <a:endParaRPr lang="en-US" sz="950" dirty="0"/>
          </a:p>
        </p:txBody>
      </p:sp>
      <p:sp>
        <p:nvSpPr>
          <p:cNvPr id="43" name="Shape 36"/>
          <p:cNvSpPr/>
          <p:nvPr/>
        </p:nvSpPr>
        <p:spPr>
          <a:xfrm>
            <a:off x="3264408" y="2880360"/>
            <a:ext cx="2615184" cy="1554480"/>
          </a:xfrm>
          <a:prstGeom prst="roundRect">
            <a:avLst>
              <a:gd name="adj" fmla="val 4706"/>
            </a:avLst>
          </a:prstGeom>
          <a:solidFill>
            <a:srgbClr val="F4F7F5"/>
          </a:solidFill>
          <a:ln w="9525">
            <a:solidFill>
              <a:srgbClr val="D5DED9"/>
            </a:solidFill>
            <a:prstDash val="solid"/>
          </a:ln>
        </p:spPr>
      </p:sp>
      <p:sp>
        <p:nvSpPr>
          <p:cNvPr id="44" name="Shape 37"/>
          <p:cNvSpPr/>
          <p:nvPr/>
        </p:nvSpPr>
        <p:spPr>
          <a:xfrm>
            <a:off x="3429000" y="3044952"/>
            <a:ext cx="502920" cy="502920"/>
          </a:xfrm>
          <a:prstGeom prst="ellipse">
            <a:avLst/>
          </a:prstGeom>
          <a:solidFill>
            <a:srgbClr val="C4621D">
              <a:alpha val="22000"/>
            </a:srgbClr>
          </a:solidFill>
          <a:ln/>
        </p:spPr>
      </p:sp>
      <p:pic>
        <p:nvPicPr>
          <p:cNvPr id="45" name="Image 4" descr="preencoded.png">    </p:cNvPr>
          <p:cNvPicPr>
            <a:picLocks noChangeAspect="1"/>
          </p:cNvPicPr>
          <p:nvPr/>
        </p:nvPicPr>
        <p:blipFill>
          <a:blip r:embed="rId5"/>
          <a:stretch>
            <a:fillRect/>
          </a:stretch>
        </p:blipFill>
        <p:spPr>
          <a:xfrm>
            <a:off x="3554730" y="3170682"/>
            <a:ext cx="251460" cy="251460"/>
          </a:xfrm>
          <a:prstGeom prst="rect">
            <a:avLst/>
          </a:prstGeom>
        </p:spPr>
      </p:pic>
      <p:sp>
        <p:nvSpPr>
          <p:cNvPr id="46" name="Text 38"/>
          <p:cNvSpPr txBox="1"/>
          <p:nvPr/>
        </p:nvSpPr>
        <p:spPr>
          <a:xfrm>
            <a:off x="5001768" y="3008376"/>
            <a:ext cx="731520" cy="411480"/>
          </a:xfrm>
          <a:prstGeom prst="rect">
            <a:avLst/>
          </a:prstGeom>
          <a:noFill/>
          <a:ln/>
        </p:spPr>
        <p:txBody>
          <a:bodyPr wrap="square" lIns="0" tIns="0" rIns="0" bIns="0" rtlCol="0" anchor="t"/>
          <a:lstStyle/>
          <a:p>
            <a:pPr algn="r" indent="0" marL="0">
              <a:buNone/>
            </a:pPr>
            <a:r>
              <a:rPr lang="en-US" sz="2600" b="1" dirty="0">
                <a:solidFill>
                  <a:srgbClr val="F5C242"/>
                </a:solidFill>
                <a:latin typeface="Calibri" pitchFamily="34" charset="0"/>
                <a:ea typeface="Calibri" pitchFamily="34" charset="-122"/>
                <a:cs typeface="Calibri" pitchFamily="34" charset="-120"/>
              </a:rPr>
              <a:t>05</a:t>
            </a:r>
            <a:endParaRPr lang="en-US" sz="2600" dirty="0"/>
          </a:p>
        </p:txBody>
      </p:sp>
      <p:sp>
        <p:nvSpPr>
          <p:cNvPr id="47" name="Text 39"/>
          <p:cNvSpPr txBox="1"/>
          <p:nvPr/>
        </p:nvSpPr>
        <p:spPr>
          <a:xfrm>
            <a:off x="3429000" y="3630168"/>
            <a:ext cx="2377440" cy="274320"/>
          </a:xfrm>
          <a:prstGeom prst="rect">
            <a:avLst/>
          </a:prstGeom>
          <a:noFill/>
          <a:ln/>
        </p:spPr>
        <p:txBody>
          <a:bodyPr wrap="square" lIns="0" tIns="0" rIns="0" bIns="0" rtlCol="0" anchor="t"/>
          <a:lstStyle/>
          <a:p>
            <a:pPr indent="0" marL="0">
              <a:buNone/>
            </a:pPr>
            <a:r>
              <a:rPr lang="en-US" sz="1300" b="1" dirty="0">
                <a:solidFill>
                  <a:srgbClr val="C4621D"/>
                </a:solidFill>
                <a:latin typeface="Calibri" pitchFamily="34" charset="0"/>
                <a:ea typeface="Calibri" pitchFamily="34" charset="-122"/>
                <a:cs typeface="Calibri" pitchFamily="34" charset="-120"/>
              </a:rPr>
              <a:t>Éthique et confidentialité</a:t>
            </a:r>
            <a:endParaRPr lang="en-US" sz="1300" dirty="0"/>
          </a:p>
        </p:txBody>
      </p:sp>
      <p:sp>
        <p:nvSpPr>
          <p:cNvPr id="48" name="Text 40"/>
          <p:cNvSpPr txBox="1"/>
          <p:nvPr/>
        </p:nvSpPr>
        <p:spPr>
          <a:xfrm>
            <a:off x="3429000" y="3904488"/>
            <a:ext cx="1691640" cy="4572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Droit, réidentification, les « Five Safes »</a:t>
            </a:r>
            <a:endParaRPr lang="en-US" sz="1050" dirty="0"/>
          </a:p>
        </p:txBody>
      </p:sp>
      <p:sp>
        <p:nvSpPr>
          <p:cNvPr id="49" name="Shape 41"/>
          <p:cNvSpPr/>
          <p:nvPr/>
        </p:nvSpPr>
        <p:spPr>
          <a:xfrm>
            <a:off x="5111496" y="4069080"/>
            <a:ext cx="621792" cy="237744"/>
          </a:xfrm>
          <a:prstGeom prst="roundRect">
            <a:avLst>
              <a:gd name="adj" fmla="val 50000"/>
            </a:avLst>
          </a:prstGeom>
          <a:solidFill>
            <a:srgbClr val="C4621D">
              <a:alpha val="15000"/>
            </a:srgbClr>
          </a:solidFill>
          <a:ln w="9525">
            <a:solidFill>
              <a:srgbClr val="C4621D"/>
            </a:solidFill>
            <a:prstDash val="solid"/>
          </a:ln>
        </p:spPr>
      </p:sp>
      <p:sp>
        <p:nvSpPr>
          <p:cNvPr id="50" name="Text 42"/>
          <p:cNvSpPr txBox="1"/>
          <p:nvPr/>
        </p:nvSpPr>
        <p:spPr>
          <a:xfrm>
            <a:off x="5111496" y="4069080"/>
            <a:ext cx="621792" cy="237744"/>
          </a:xfrm>
          <a:prstGeom prst="rect">
            <a:avLst/>
          </a:prstGeom>
          <a:noFill/>
          <a:ln/>
        </p:spPr>
        <p:txBody>
          <a:bodyPr wrap="square" lIns="0" tIns="0" rIns="0" bIns="0" rtlCol="0" anchor="ctr"/>
          <a:lstStyle/>
          <a:p>
            <a:pPr algn="ctr" indent="0" marL="0">
              <a:buNone/>
            </a:pPr>
            <a:r>
              <a:rPr lang="en-US" sz="950" b="1" dirty="0">
                <a:solidFill>
                  <a:srgbClr val="C4621D"/>
                </a:solidFill>
                <a:latin typeface="Calibri" pitchFamily="34" charset="0"/>
                <a:ea typeface="Calibri" pitchFamily="34" charset="-122"/>
                <a:cs typeface="Calibri" pitchFamily="34" charset="-120"/>
              </a:rPr>
              <a:t>7 min</a:t>
            </a:r>
            <a:endParaRPr lang="en-US" sz="950" dirty="0"/>
          </a:p>
        </p:txBody>
      </p:sp>
      <p:sp>
        <p:nvSpPr>
          <p:cNvPr id="51" name="Shape 43"/>
          <p:cNvSpPr/>
          <p:nvPr/>
        </p:nvSpPr>
        <p:spPr>
          <a:xfrm>
            <a:off x="6071616" y="2880360"/>
            <a:ext cx="2615184" cy="1554480"/>
          </a:xfrm>
          <a:prstGeom prst="roundRect">
            <a:avLst>
              <a:gd name="adj" fmla="val 4706"/>
            </a:avLst>
          </a:prstGeom>
          <a:solidFill>
            <a:srgbClr val="E8F5EF"/>
          </a:solidFill>
          <a:ln w="15875">
            <a:solidFill>
              <a:srgbClr val="B83B2E"/>
            </a:solidFill>
            <a:prstDash val="solid"/>
          </a:ln>
        </p:spPr>
      </p:sp>
      <p:sp>
        <p:nvSpPr>
          <p:cNvPr id="52" name="Shape 44"/>
          <p:cNvSpPr/>
          <p:nvPr/>
        </p:nvSpPr>
        <p:spPr>
          <a:xfrm>
            <a:off x="6236208" y="3044952"/>
            <a:ext cx="502920" cy="502920"/>
          </a:xfrm>
          <a:prstGeom prst="ellipse">
            <a:avLst/>
          </a:prstGeom>
          <a:solidFill>
            <a:srgbClr val="B83B2E">
              <a:alpha val="22000"/>
            </a:srgbClr>
          </a:solidFill>
          <a:ln/>
        </p:spPr>
      </p:sp>
      <p:pic>
        <p:nvPicPr>
          <p:cNvPr id="53" name="Image 5" descr="preencoded.png">    </p:cNvPr>
          <p:cNvPicPr>
            <a:picLocks noChangeAspect="1"/>
          </p:cNvPicPr>
          <p:nvPr/>
        </p:nvPicPr>
        <p:blipFill>
          <a:blip r:embed="rId6"/>
          <a:stretch>
            <a:fillRect/>
          </a:stretch>
        </p:blipFill>
        <p:spPr>
          <a:xfrm>
            <a:off x="6361938" y="3170682"/>
            <a:ext cx="251460" cy="251460"/>
          </a:xfrm>
          <a:prstGeom prst="rect">
            <a:avLst/>
          </a:prstGeom>
        </p:spPr>
      </p:pic>
      <p:sp>
        <p:nvSpPr>
          <p:cNvPr id="54" name="Text 45"/>
          <p:cNvSpPr txBox="1"/>
          <p:nvPr/>
        </p:nvSpPr>
        <p:spPr>
          <a:xfrm>
            <a:off x="7808976" y="3008376"/>
            <a:ext cx="731520" cy="411480"/>
          </a:xfrm>
          <a:prstGeom prst="rect">
            <a:avLst/>
          </a:prstGeom>
          <a:noFill/>
          <a:ln/>
        </p:spPr>
        <p:txBody>
          <a:bodyPr wrap="square" lIns="0" tIns="0" rIns="0" bIns="0" rtlCol="0" anchor="t"/>
          <a:lstStyle/>
          <a:p>
            <a:pPr algn="r" indent="0" marL="0">
              <a:buNone/>
            </a:pPr>
            <a:r>
              <a:rPr lang="en-US" sz="2600" b="1" dirty="0">
                <a:solidFill>
                  <a:srgbClr val="F5C242"/>
                </a:solidFill>
                <a:latin typeface="Calibri" pitchFamily="34" charset="0"/>
                <a:ea typeface="Calibri" pitchFamily="34" charset="-122"/>
                <a:cs typeface="Calibri" pitchFamily="34" charset="-120"/>
              </a:rPr>
              <a:t>06</a:t>
            </a:r>
            <a:endParaRPr lang="en-US" sz="2600" dirty="0"/>
          </a:p>
        </p:txBody>
      </p:sp>
      <p:sp>
        <p:nvSpPr>
          <p:cNvPr id="55" name="Text 46"/>
          <p:cNvSpPr txBox="1"/>
          <p:nvPr/>
        </p:nvSpPr>
        <p:spPr>
          <a:xfrm>
            <a:off x="6236208" y="3630168"/>
            <a:ext cx="2377440" cy="274320"/>
          </a:xfrm>
          <a:prstGeom prst="rect">
            <a:avLst/>
          </a:prstGeom>
          <a:noFill/>
          <a:ln/>
        </p:spPr>
        <p:txBody>
          <a:bodyPr wrap="square" lIns="0" tIns="0" rIns="0" bIns="0" rtlCol="0" anchor="t"/>
          <a:lstStyle/>
          <a:p>
            <a:pPr indent="0" marL="0">
              <a:buNone/>
            </a:pPr>
            <a:r>
              <a:rPr lang="en-US" sz="1300" b="1" dirty="0">
                <a:solidFill>
                  <a:srgbClr val="B83B2E"/>
                </a:solidFill>
                <a:latin typeface="Calibri" pitchFamily="34" charset="0"/>
                <a:ea typeface="Calibri" pitchFamily="34" charset="-122"/>
                <a:cs typeface="Calibri" pitchFamily="34" charset="-120"/>
              </a:rPr>
              <a:t>Laboratoire et perspectives</a:t>
            </a:r>
            <a:endParaRPr lang="en-US" sz="1300" dirty="0"/>
          </a:p>
        </p:txBody>
      </p:sp>
      <p:sp>
        <p:nvSpPr>
          <p:cNvPr id="56" name="Text 47"/>
          <p:cNvSpPr txBox="1"/>
          <p:nvPr/>
        </p:nvSpPr>
        <p:spPr>
          <a:xfrm>
            <a:off x="6236208" y="3904488"/>
            <a:ext cx="1691640" cy="4572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Canevas d'évaluation, puis restitution</a:t>
            </a:r>
            <a:endParaRPr lang="en-US" sz="1050" dirty="0"/>
          </a:p>
        </p:txBody>
      </p:sp>
      <p:sp>
        <p:nvSpPr>
          <p:cNvPr id="57" name="Shape 48"/>
          <p:cNvSpPr/>
          <p:nvPr/>
        </p:nvSpPr>
        <p:spPr>
          <a:xfrm>
            <a:off x="7918704" y="4069080"/>
            <a:ext cx="621792" cy="237744"/>
          </a:xfrm>
          <a:prstGeom prst="roundRect">
            <a:avLst>
              <a:gd name="adj" fmla="val 50000"/>
            </a:avLst>
          </a:prstGeom>
          <a:solidFill>
            <a:srgbClr val="B83B2E">
              <a:alpha val="15000"/>
            </a:srgbClr>
          </a:solidFill>
          <a:ln w="9525">
            <a:solidFill>
              <a:srgbClr val="B83B2E"/>
            </a:solidFill>
            <a:prstDash val="solid"/>
          </a:ln>
        </p:spPr>
      </p:sp>
      <p:sp>
        <p:nvSpPr>
          <p:cNvPr id="58" name="Text 49"/>
          <p:cNvSpPr txBox="1"/>
          <p:nvPr/>
        </p:nvSpPr>
        <p:spPr>
          <a:xfrm>
            <a:off x="7918704" y="4069080"/>
            <a:ext cx="621792" cy="237744"/>
          </a:xfrm>
          <a:prstGeom prst="rect">
            <a:avLst/>
          </a:prstGeom>
          <a:noFill/>
          <a:ln/>
        </p:spPr>
        <p:txBody>
          <a:bodyPr wrap="square" lIns="0" tIns="0" rIns="0" bIns="0" rtlCol="0" anchor="ctr"/>
          <a:lstStyle/>
          <a:p>
            <a:pPr algn="ctr" indent="0" marL="0">
              <a:buNone/>
            </a:pPr>
            <a:r>
              <a:rPr lang="en-US" sz="950" b="1" dirty="0">
                <a:solidFill>
                  <a:srgbClr val="B83B2E"/>
                </a:solidFill>
                <a:latin typeface="Calibri" pitchFamily="34" charset="0"/>
                <a:ea typeface="Calibri" pitchFamily="34" charset="-122"/>
                <a:cs typeface="Calibri" pitchFamily="34" charset="-120"/>
              </a:rPr>
              <a:t>40 min</a:t>
            </a:r>
            <a:endParaRPr lang="en-US" sz="95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640080"/>
            <a:ext cx="3657600" cy="22860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SECTION 1 SUR 6</a:t>
            </a:r>
            <a:endParaRPr lang="en-US" sz="1100" dirty="0"/>
          </a:p>
        </p:txBody>
      </p:sp>
      <p:sp>
        <p:nvSpPr>
          <p:cNvPr id="4" name="Text 1"/>
          <p:cNvSpPr txBox="1"/>
          <p:nvPr/>
        </p:nvSpPr>
        <p:spPr>
          <a:xfrm>
            <a:off x="502920" y="914400"/>
            <a:ext cx="2743200" cy="1280160"/>
          </a:xfrm>
          <a:prstGeom prst="rect">
            <a:avLst/>
          </a:prstGeom>
          <a:noFill/>
          <a:ln/>
        </p:spPr>
        <p:txBody>
          <a:bodyPr wrap="square" lIns="0" tIns="0" rIns="0" bIns="0" rtlCol="0" anchor="t"/>
          <a:lstStyle/>
          <a:p>
            <a:pPr indent="0" marL="0">
              <a:buNone/>
            </a:pPr>
            <a:r>
              <a:rPr lang="en-US" sz="9600" b="1" dirty="0">
                <a:solidFill>
                  <a:srgbClr val="F5C242"/>
                </a:solidFill>
                <a:latin typeface="Calibri" pitchFamily="34" charset="0"/>
                <a:ea typeface="Calibri" pitchFamily="34" charset="-122"/>
                <a:cs typeface="Calibri" pitchFamily="34" charset="-120"/>
              </a:rPr>
              <a:t>01</a:t>
            </a:r>
            <a:endParaRPr lang="en-US" sz="9600" dirty="0"/>
          </a:p>
        </p:txBody>
      </p:sp>
      <p:sp>
        <p:nvSpPr>
          <p:cNvPr id="5" name="Text 2"/>
          <p:cNvSpPr txBox="1"/>
          <p:nvPr/>
        </p:nvSpPr>
        <p:spPr>
          <a:xfrm>
            <a:off x="548640" y="2331720"/>
            <a:ext cx="5486400" cy="68580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Pourquoi c'est important</a:t>
            </a:r>
            <a:endParaRPr lang="en-US" sz="3600" dirty="0"/>
          </a:p>
        </p:txBody>
      </p:sp>
      <p:sp>
        <p:nvSpPr>
          <p:cNvPr id="6" name="Text 3"/>
          <p:cNvSpPr txBox="1"/>
          <p:nvPr/>
        </p:nvSpPr>
        <p:spPr>
          <a:xfrm>
            <a:off x="548640" y="3108960"/>
            <a:ext cx="475488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Pourquoi un institut statistique africain devrait-il s'intéresser à des données qu'il n'a pas collectées ?</a:t>
            </a:r>
            <a:endParaRPr lang="en-US" sz="1800" dirty="0"/>
          </a:p>
        </p:txBody>
      </p:sp>
      <p:sp>
        <p:nvSpPr>
          <p:cNvPr id="7" name="Shape 4"/>
          <p:cNvSpPr/>
          <p:nvPr/>
        </p:nvSpPr>
        <p:spPr>
          <a:xfrm>
            <a:off x="566928" y="4343400"/>
            <a:ext cx="100584" cy="100584"/>
          </a:xfrm>
          <a:prstGeom prst="ellipse">
            <a:avLst/>
          </a:prstGeom>
          <a:solidFill>
            <a:srgbClr val="F5C242"/>
          </a:solidFill>
          <a:ln/>
        </p:spPr>
      </p:sp>
      <p:sp>
        <p:nvSpPr>
          <p:cNvPr id="8" name="Shape 5"/>
          <p:cNvSpPr/>
          <p:nvPr/>
        </p:nvSpPr>
        <p:spPr>
          <a:xfrm>
            <a:off x="749808" y="4343400"/>
            <a:ext cx="100584" cy="100584"/>
          </a:xfrm>
          <a:prstGeom prst="ellipse">
            <a:avLst/>
          </a:prstGeom>
          <a:solidFill>
            <a:srgbClr val="FFFFFF">
              <a:alpha val="35000"/>
            </a:srgbClr>
          </a:solidFill>
          <a:ln/>
        </p:spPr>
      </p:sp>
      <p:sp>
        <p:nvSpPr>
          <p:cNvPr id="9" name="Shape 6"/>
          <p:cNvSpPr/>
          <p:nvPr/>
        </p:nvSpPr>
        <p:spPr>
          <a:xfrm>
            <a:off x="932688" y="4343400"/>
            <a:ext cx="100584" cy="100584"/>
          </a:xfrm>
          <a:prstGeom prst="ellipse">
            <a:avLst/>
          </a:prstGeom>
          <a:solidFill>
            <a:srgbClr val="FFFFFF">
              <a:alpha val="35000"/>
            </a:srgbClr>
          </a:solidFill>
          <a:ln/>
        </p:spPr>
      </p:sp>
      <p:sp>
        <p:nvSpPr>
          <p:cNvPr id="10" name="Shape 7"/>
          <p:cNvSpPr/>
          <p:nvPr/>
        </p:nvSpPr>
        <p:spPr>
          <a:xfrm>
            <a:off x="1115568" y="4343400"/>
            <a:ext cx="100584" cy="100584"/>
          </a:xfrm>
          <a:prstGeom prst="ellipse">
            <a:avLst/>
          </a:prstGeom>
          <a:solidFill>
            <a:srgbClr val="FFFFFF">
              <a:alpha val="35000"/>
            </a:srgbClr>
          </a:solidFill>
          <a:ln/>
        </p:spPr>
      </p:sp>
      <p:sp>
        <p:nvSpPr>
          <p:cNvPr id="11" name="Shape 8"/>
          <p:cNvSpPr/>
          <p:nvPr/>
        </p:nvSpPr>
        <p:spPr>
          <a:xfrm>
            <a:off x="1298448" y="4343400"/>
            <a:ext cx="100584" cy="100584"/>
          </a:xfrm>
          <a:prstGeom prst="ellipse">
            <a:avLst/>
          </a:prstGeom>
          <a:solidFill>
            <a:srgbClr val="FFFFFF">
              <a:alpha val="35000"/>
            </a:srgbClr>
          </a:solidFill>
          <a:ln/>
        </p:spPr>
      </p:sp>
      <p:sp>
        <p:nvSpPr>
          <p:cNvPr id="12" name="Shape 9"/>
          <p:cNvSpPr/>
          <p:nvPr/>
        </p:nvSpPr>
        <p:spPr>
          <a:xfrm>
            <a:off x="1481328" y="4343400"/>
            <a:ext cx="100584" cy="100584"/>
          </a:xfrm>
          <a:prstGeom prst="ellipse">
            <a:avLst/>
          </a:prstGeom>
          <a:solidFill>
            <a:srgbClr val="FFFFFF">
              <a:alpha val="35000"/>
            </a:srgbClr>
          </a:solidFill>
          <a:ln/>
        </p:spPr>
      </p:sp>
      <p:sp>
        <p:nvSpPr>
          <p:cNvPr id="13" name="Shape 10"/>
          <p:cNvSpPr/>
          <p:nvPr/>
        </p:nvSpPr>
        <p:spPr>
          <a:xfrm>
            <a:off x="5989320" y="1143000"/>
            <a:ext cx="2651760" cy="2651760"/>
          </a:xfrm>
          <a:prstGeom prst="ellipse">
            <a:avLst/>
          </a:prstGeom>
          <a:solidFill>
            <a:srgbClr val="FFFFFF">
              <a:alpha val="12000"/>
            </a:srgbClr>
          </a:solidFill>
          <a:ln/>
        </p:spPr>
      </p:sp>
      <p:sp>
        <p:nvSpPr>
          <p:cNvPr id="14" name="Shape 11"/>
          <p:cNvSpPr/>
          <p:nvPr/>
        </p:nvSpPr>
        <p:spPr>
          <a:xfrm>
            <a:off x="6355080" y="1508760"/>
            <a:ext cx="1920240" cy="1920240"/>
          </a:xfrm>
          <a:prstGeom prst="ellipse">
            <a:avLst/>
          </a:prstGeom>
          <a:solidFill>
            <a:srgbClr val="FFFFFF">
              <a:alpha val="20000"/>
            </a:srgbClr>
          </a:solidFill>
          <a:ln/>
        </p:spPr>
      </p:sp>
      <p:sp>
        <p:nvSpPr>
          <p:cNvPr id="15" name="Shape 12"/>
          <p:cNvSpPr/>
          <p:nvPr/>
        </p:nvSpPr>
        <p:spPr>
          <a:xfrm>
            <a:off x="6675120" y="1828800"/>
            <a:ext cx="1280160" cy="1280160"/>
          </a:xfrm>
          <a:prstGeom prst="ellipse">
            <a:avLst/>
          </a:prstGeom>
          <a:solidFill>
            <a:srgbClr val="FFFFFF"/>
          </a:solidFill>
          <a:ln/>
        </p:spPr>
      </p:sp>
      <p:pic>
        <p:nvPicPr>
          <p:cNvPr id="16" name="Image 0" descr="preencoded.png">    </p:cNvPr>
          <p:cNvPicPr>
            <a:picLocks noChangeAspect="1"/>
          </p:cNvPicPr>
          <p:nvPr/>
        </p:nvPicPr>
        <p:blipFill>
          <a:blip r:embed="rId2"/>
          <a:stretch>
            <a:fillRect/>
          </a:stretch>
        </p:blipFill>
        <p:spPr>
          <a:xfrm>
            <a:off x="6995160" y="2148840"/>
            <a:ext cx="640080" cy="640080"/>
          </a:xfrm>
          <a:prstGeom prst="rect">
            <a:avLst/>
          </a:prstGeom>
        </p:spPr>
      </p:pic>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POURQUOI C'EST IMPORTANT</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La demande dépasse la collecte traditionnelle</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Quatre pressions convergent simultanément sur les instituts nationaux de statistique.</a:t>
            </a:r>
            <a:endParaRPr lang="en-US" sz="1150" dirty="0"/>
          </a:p>
        </p:txBody>
      </p:sp>
      <p:sp>
        <p:nvSpPr>
          <p:cNvPr id="9" name="Shape 7"/>
          <p:cNvSpPr/>
          <p:nvPr/>
        </p:nvSpPr>
        <p:spPr>
          <a:xfrm>
            <a:off x="7662672" y="329184"/>
            <a:ext cx="100584" cy="100584"/>
          </a:xfrm>
          <a:prstGeom prst="ellipse">
            <a:avLst/>
          </a:prstGeom>
          <a:solidFill>
            <a:srgbClr val="00A86A"/>
          </a:solidFill>
          <a:ln/>
        </p:spPr>
      </p:sp>
      <p:sp>
        <p:nvSpPr>
          <p:cNvPr id="10" name="Shape 8"/>
          <p:cNvSpPr/>
          <p:nvPr/>
        </p:nvSpPr>
        <p:spPr>
          <a:xfrm>
            <a:off x="7845552" y="329184"/>
            <a:ext cx="100584" cy="100584"/>
          </a:xfrm>
          <a:prstGeom prst="ellipse">
            <a:avLst/>
          </a:prstGeom>
          <a:solidFill>
            <a:srgbClr val="D5DED9"/>
          </a:solidFill>
          <a:ln/>
        </p:spPr>
      </p:sp>
      <p:sp>
        <p:nvSpPr>
          <p:cNvPr id="11" name="Shape 9"/>
          <p:cNvSpPr/>
          <p:nvPr/>
        </p:nvSpPr>
        <p:spPr>
          <a:xfrm>
            <a:off x="8028432" y="329184"/>
            <a:ext cx="100584" cy="100584"/>
          </a:xfrm>
          <a:prstGeom prst="ellipse">
            <a:avLst/>
          </a:prstGeom>
          <a:solidFill>
            <a:srgbClr val="D5DED9"/>
          </a:solidFill>
          <a:ln/>
        </p:spPr>
      </p:sp>
      <p:sp>
        <p:nvSpPr>
          <p:cNvPr id="12" name="Shape 10"/>
          <p:cNvSpPr/>
          <p:nvPr/>
        </p:nvSpPr>
        <p:spPr>
          <a:xfrm>
            <a:off x="8211312" y="329184"/>
            <a:ext cx="100584" cy="100584"/>
          </a:xfrm>
          <a:prstGeom prst="ellipse">
            <a:avLst/>
          </a:prstGeom>
          <a:solidFill>
            <a:srgbClr val="D5DED9"/>
          </a:solidFill>
          <a:ln/>
        </p:spPr>
      </p:sp>
      <p:sp>
        <p:nvSpPr>
          <p:cNvPr id="13" name="Shape 11"/>
          <p:cNvSpPr/>
          <p:nvPr/>
        </p:nvSpPr>
        <p:spPr>
          <a:xfrm>
            <a:off x="8394192" y="329184"/>
            <a:ext cx="100584" cy="100584"/>
          </a:xfrm>
          <a:prstGeom prst="ellipse">
            <a:avLst/>
          </a:prstGeom>
          <a:solidFill>
            <a:srgbClr val="D5DED9"/>
          </a:solidFill>
          <a:ln/>
        </p:spPr>
      </p:sp>
      <p:sp>
        <p:nvSpPr>
          <p:cNvPr id="14" name="Shape 12"/>
          <p:cNvSpPr/>
          <p:nvPr/>
        </p:nvSpPr>
        <p:spPr>
          <a:xfrm>
            <a:off x="8577072" y="329184"/>
            <a:ext cx="100584" cy="100584"/>
          </a:xfrm>
          <a:prstGeom prst="ellipse">
            <a:avLst/>
          </a:prstGeom>
          <a:solidFill>
            <a:srgbClr val="D5DED9"/>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Sources de données non traditionnelles · Le trésor caché · Atelier STG17</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6</a:t>
            </a:r>
            <a:endParaRPr lang="en-US" sz="850" dirty="0"/>
          </a:p>
        </p:txBody>
      </p:sp>
      <p:sp>
        <p:nvSpPr>
          <p:cNvPr id="18" name="Shape 15"/>
          <p:cNvSpPr/>
          <p:nvPr/>
        </p:nvSpPr>
        <p:spPr>
          <a:xfrm>
            <a:off x="457200" y="1371600"/>
            <a:ext cx="2651760" cy="3154680"/>
          </a:xfrm>
          <a:prstGeom prst="roundRect">
            <a:avLst>
              <a:gd name="adj" fmla="val 2759"/>
            </a:avLst>
          </a:prstGeom>
          <a:solidFill>
            <a:srgbClr val="00553A"/>
          </a:solidFill>
          <a:ln/>
        </p:spPr>
      </p:sp>
      <p:sp>
        <p:nvSpPr>
          <p:cNvPr id="19" name="Text 16"/>
          <p:cNvSpPr txBox="1"/>
          <p:nvPr/>
        </p:nvSpPr>
        <p:spPr>
          <a:xfrm>
            <a:off x="685800" y="1554480"/>
            <a:ext cx="2194560" cy="201168"/>
          </a:xfrm>
          <a:prstGeom prst="rect">
            <a:avLst/>
          </a:prstGeom>
          <a:noFill/>
          <a:ln/>
        </p:spPr>
        <p:txBody>
          <a:bodyPr wrap="square" lIns="0" tIns="0" rIns="0" bIns="0" rtlCol="0" anchor="t"/>
          <a:lstStyle/>
          <a:p>
            <a:pPr indent="0" marL="0">
              <a:buNone/>
            </a:pPr>
            <a:r>
              <a:rPr lang="en-US" sz="950" b="1" spc="200" kern="0" dirty="0">
                <a:solidFill>
                  <a:srgbClr val="F5C242"/>
                </a:solidFill>
                <a:latin typeface="Calibri" pitchFamily="34" charset="0"/>
                <a:ea typeface="Calibri" pitchFamily="34" charset="-122"/>
                <a:cs typeface="Calibri" pitchFamily="34" charset="-120"/>
              </a:rPr>
              <a:t>CÔTÉ DEMANDE</a:t>
            </a:r>
            <a:endParaRPr lang="en-US" sz="950" dirty="0"/>
          </a:p>
        </p:txBody>
      </p:sp>
      <p:sp>
        <p:nvSpPr>
          <p:cNvPr id="20" name="Text 17"/>
          <p:cNvSpPr txBox="1"/>
          <p:nvPr/>
        </p:nvSpPr>
        <p:spPr>
          <a:xfrm>
            <a:off x="685800" y="1810512"/>
            <a:ext cx="2194560" cy="73152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231</a:t>
            </a:r>
            <a:endParaRPr lang="en-US" sz="4400" dirty="0"/>
          </a:p>
        </p:txBody>
      </p:sp>
      <p:sp>
        <p:nvSpPr>
          <p:cNvPr id="21" name="Text 18"/>
          <p:cNvSpPr txBox="1"/>
          <p:nvPr/>
        </p:nvSpPr>
        <p:spPr>
          <a:xfrm>
            <a:off x="685800" y="2560320"/>
            <a:ext cx="2240280" cy="868680"/>
          </a:xfrm>
          <a:prstGeom prst="rect">
            <a:avLst/>
          </a:prstGeom>
          <a:noFill/>
          <a:ln/>
        </p:spPr>
        <p:txBody>
          <a:bodyPr wrap="square" lIns="0" tIns="0" rIns="0" bIns="0" rtlCol="0" anchor="t"/>
          <a:lstStyle/>
          <a:p>
            <a:pPr indent="0" marL="0">
              <a:buNone/>
            </a:pPr>
            <a:r>
              <a:rPr lang="en-US" sz="1100" dirty="0">
                <a:solidFill>
                  <a:srgbClr val="E6F6EE"/>
                </a:solidFill>
                <a:latin typeface="Calibri" pitchFamily="34" charset="0"/>
                <a:ea typeface="Calibri" pitchFamily="34" charset="-122"/>
                <a:cs typeface="Calibri" pitchFamily="34" charset="-120"/>
              </a:rPr>
              <a:t>indicateurs uniques dans le cadre mondial des ODD — la plupart à désagréger par sexe, âge, lieu et revenu</a:t>
            </a:r>
            <a:endParaRPr lang="en-US" sz="1100" dirty="0"/>
          </a:p>
        </p:txBody>
      </p:sp>
      <p:sp>
        <p:nvSpPr>
          <p:cNvPr id="22" name="Text 19"/>
          <p:cNvSpPr txBox="1"/>
          <p:nvPr/>
        </p:nvSpPr>
        <p:spPr>
          <a:xfrm>
            <a:off x="685800" y="3520440"/>
            <a:ext cx="2240280" cy="868680"/>
          </a:xfrm>
          <a:prstGeom prst="rect">
            <a:avLst/>
          </a:prstGeom>
          <a:noFill/>
          <a:ln/>
        </p:spPr>
        <p:txBody>
          <a:bodyPr wrap="square" lIns="0" tIns="0" rIns="0" bIns="0" rtlCol="0" anchor="t"/>
          <a:lstStyle/>
          <a:p>
            <a:pPr indent="0" marL="0">
              <a:buNone/>
            </a:pPr>
            <a:r>
              <a:rPr lang="en-US" sz="1100" i="1" dirty="0">
                <a:solidFill>
                  <a:srgbClr val="F5C242"/>
                </a:solidFill>
                <a:latin typeface="Calibri" pitchFamily="34" charset="0"/>
                <a:ea typeface="Calibri" pitchFamily="34" charset="-122"/>
                <a:cs typeface="Calibri" pitchFamily="34" charset="-120"/>
              </a:rPr>
              <a:t>« Ne laisser personne de côté » impose de voir les petites zones et les petits groupes hors de portée des échantillons nationaux.</a:t>
            </a:r>
            <a:endParaRPr lang="en-US" sz="1100" dirty="0"/>
          </a:p>
        </p:txBody>
      </p:sp>
      <p:sp>
        <p:nvSpPr>
          <p:cNvPr id="23" name="Shape 20"/>
          <p:cNvSpPr/>
          <p:nvPr/>
        </p:nvSpPr>
        <p:spPr>
          <a:xfrm>
            <a:off x="3337560" y="1371600"/>
            <a:ext cx="2560320" cy="1481328"/>
          </a:xfrm>
          <a:prstGeom prst="roundRect">
            <a:avLst>
              <a:gd name="adj" fmla="val 4938"/>
            </a:avLst>
          </a:prstGeom>
          <a:solidFill>
            <a:srgbClr val="F4F7F5"/>
          </a:solidFill>
          <a:ln w="9525">
            <a:solidFill>
              <a:srgbClr val="D5DED9"/>
            </a:solidFill>
            <a:prstDash val="solid"/>
          </a:ln>
        </p:spPr>
      </p:sp>
      <p:sp>
        <p:nvSpPr>
          <p:cNvPr id="24" name="Shape 21"/>
          <p:cNvSpPr/>
          <p:nvPr/>
        </p:nvSpPr>
        <p:spPr>
          <a:xfrm>
            <a:off x="3502152" y="1536192"/>
            <a:ext cx="457200" cy="457200"/>
          </a:xfrm>
          <a:prstGeom prst="ellipse">
            <a:avLst/>
          </a:prstGeom>
          <a:solidFill>
            <a:srgbClr val="00A86A">
              <a:alpha val="22000"/>
            </a:srgbClr>
          </a:solidFill>
          <a:ln/>
        </p:spPr>
      </p:sp>
      <p:pic>
        <p:nvPicPr>
          <p:cNvPr id="25" name="Image 0" descr="preencoded.png">    </p:cNvPr>
          <p:cNvPicPr>
            <a:picLocks noChangeAspect="1"/>
          </p:cNvPicPr>
          <p:nvPr/>
        </p:nvPicPr>
        <p:blipFill>
          <a:blip r:embed="rId1"/>
          <a:stretch>
            <a:fillRect/>
          </a:stretch>
        </p:blipFill>
        <p:spPr>
          <a:xfrm>
            <a:off x="3616452" y="1650492"/>
            <a:ext cx="228600" cy="228600"/>
          </a:xfrm>
          <a:prstGeom prst="rect">
            <a:avLst/>
          </a:prstGeom>
        </p:spPr>
      </p:pic>
      <p:sp>
        <p:nvSpPr>
          <p:cNvPr id="26" name="Text 22"/>
          <p:cNvSpPr txBox="1"/>
          <p:nvPr/>
        </p:nvSpPr>
        <p:spPr>
          <a:xfrm>
            <a:off x="4069080" y="1609344"/>
            <a:ext cx="1737360" cy="292608"/>
          </a:xfrm>
          <a:prstGeom prst="rect">
            <a:avLst/>
          </a:prstGeom>
          <a:noFill/>
          <a:ln/>
        </p:spPr>
        <p:txBody>
          <a:bodyPr wrap="square" lIns="0" tIns="0" rIns="0" bIns="0" rtlCol="0" anchor="t"/>
          <a:lstStyle/>
          <a:p>
            <a:pPr indent="0" marL="0">
              <a:buNone/>
            </a:pPr>
            <a:r>
              <a:rPr lang="en-US" sz="1400" b="1" dirty="0">
                <a:solidFill>
                  <a:srgbClr val="00704A"/>
                </a:solidFill>
                <a:latin typeface="Calibri" pitchFamily="34" charset="0"/>
                <a:ea typeface="Calibri" pitchFamily="34" charset="-122"/>
                <a:cs typeface="Calibri" pitchFamily="34" charset="-120"/>
              </a:rPr>
              <a:t>Coût</a:t>
            </a:r>
            <a:endParaRPr lang="en-US" sz="1400" dirty="0"/>
          </a:p>
        </p:txBody>
      </p:sp>
      <p:sp>
        <p:nvSpPr>
          <p:cNvPr id="27" name="Text 23"/>
          <p:cNvSpPr txBox="1"/>
          <p:nvPr/>
        </p:nvSpPr>
        <p:spPr>
          <a:xfrm>
            <a:off x="3502152" y="2103120"/>
            <a:ext cx="2240280" cy="6858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Terrain, enquêteurs et relances absorbent des budgets stables ou en baisse.</a:t>
            </a:r>
            <a:endParaRPr lang="en-US" sz="1050" dirty="0"/>
          </a:p>
        </p:txBody>
      </p:sp>
      <p:sp>
        <p:nvSpPr>
          <p:cNvPr id="28" name="Shape 24"/>
          <p:cNvSpPr/>
          <p:nvPr/>
        </p:nvSpPr>
        <p:spPr>
          <a:xfrm>
            <a:off x="6035040" y="1371600"/>
            <a:ext cx="2560320" cy="1481328"/>
          </a:xfrm>
          <a:prstGeom prst="roundRect">
            <a:avLst>
              <a:gd name="adj" fmla="val 4938"/>
            </a:avLst>
          </a:prstGeom>
          <a:solidFill>
            <a:srgbClr val="F4F7F5"/>
          </a:solidFill>
          <a:ln w="9525">
            <a:solidFill>
              <a:srgbClr val="D5DED9"/>
            </a:solidFill>
            <a:prstDash val="solid"/>
          </a:ln>
        </p:spPr>
      </p:sp>
      <p:sp>
        <p:nvSpPr>
          <p:cNvPr id="29" name="Shape 25"/>
          <p:cNvSpPr/>
          <p:nvPr/>
        </p:nvSpPr>
        <p:spPr>
          <a:xfrm>
            <a:off x="6199632" y="1536192"/>
            <a:ext cx="457200" cy="457200"/>
          </a:xfrm>
          <a:prstGeom prst="ellipse">
            <a:avLst/>
          </a:prstGeom>
          <a:solidFill>
            <a:srgbClr val="00A86A">
              <a:alpha val="22000"/>
            </a:srgbClr>
          </a:solidFill>
          <a:ln/>
        </p:spPr>
      </p:sp>
      <p:pic>
        <p:nvPicPr>
          <p:cNvPr id="30" name="Image 1" descr="preencoded.png">    </p:cNvPr>
          <p:cNvPicPr>
            <a:picLocks noChangeAspect="1"/>
          </p:cNvPicPr>
          <p:nvPr/>
        </p:nvPicPr>
        <p:blipFill>
          <a:blip r:embed="rId2"/>
          <a:stretch>
            <a:fillRect/>
          </a:stretch>
        </p:blipFill>
        <p:spPr>
          <a:xfrm>
            <a:off x="6313932" y="1650492"/>
            <a:ext cx="228600" cy="228600"/>
          </a:xfrm>
          <a:prstGeom prst="rect">
            <a:avLst/>
          </a:prstGeom>
        </p:spPr>
      </p:pic>
      <p:sp>
        <p:nvSpPr>
          <p:cNvPr id="31" name="Text 26"/>
          <p:cNvSpPr txBox="1"/>
          <p:nvPr/>
        </p:nvSpPr>
        <p:spPr>
          <a:xfrm>
            <a:off x="6766560" y="1609344"/>
            <a:ext cx="1737360" cy="292608"/>
          </a:xfrm>
          <a:prstGeom prst="rect">
            <a:avLst/>
          </a:prstGeom>
          <a:noFill/>
          <a:ln/>
        </p:spPr>
        <p:txBody>
          <a:bodyPr wrap="square" lIns="0" tIns="0" rIns="0" bIns="0" rtlCol="0" anchor="t"/>
          <a:lstStyle/>
          <a:p>
            <a:pPr indent="0" marL="0">
              <a:buNone/>
            </a:pPr>
            <a:r>
              <a:rPr lang="en-US" sz="1400" b="1" dirty="0">
                <a:solidFill>
                  <a:srgbClr val="00704A"/>
                </a:solidFill>
                <a:latin typeface="Calibri" pitchFamily="34" charset="0"/>
                <a:ea typeface="Calibri" pitchFamily="34" charset="-122"/>
                <a:cs typeface="Calibri" pitchFamily="34" charset="-120"/>
              </a:rPr>
              <a:t>Délais</a:t>
            </a:r>
            <a:endParaRPr lang="en-US" sz="1400" dirty="0"/>
          </a:p>
        </p:txBody>
      </p:sp>
      <p:sp>
        <p:nvSpPr>
          <p:cNvPr id="32" name="Text 27"/>
          <p:cNvSpPr txBox="1"/>
          <p:nvPr/>
        </p:nvSpPr>
        <p:spPr>
          <a:xfrm>
            <a:off x="6199632" y="2103120"/>
            <a:ext cx="2240280" cy="6858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Recensement tous les ~10 ans, enquêtes tous les 3 à 5 ans : la décision précède souvent le chiffre.</a:t>
            </a:r>
            <a:endParaRPr lang="en-US" sz="1050" dirty="0"/>
          </a:p>
        </p:txBody>
      </p:sp>
      <p:sp>
        <p:nvSpPr>
          <p:cNvPr id="33" name="Shape 28"/>
          <p:cNvSpPr/>
          <p:nvPr/>
        </p:nvSpPr>
        <p:spPr>
          <a:xfrm>
            <a:off x="3337560" y="2990088"/>
            <a:ext cx="2560320" cy="1481328"/>
          </a:xfrm>
          <a:prstGeom prst="roundRect">
            <a:avLst>
              <a:gd name="adj" fmla="val 4938"/>
            </a:avLst>
          </a:prstGeom>
          <a:solidFill>
            <a:srgbClr val="F4F7F5"/>
          </a:solidFill>
          <a:ln w="9525">
            <a:solidFill>
              <a:srgbClr val="D5DED9"/>
            </a:solidFill>
            <a:prstDash val="solid"/>
          </a:ln>
        </p:spPr>
      </p:sp>
      <p:sp>
        <p:nvSpPr>
          <p:cNvPr id="34" name="Shape 29"/>
          <p:cNvSpPr/>
          <p:nvPr/>
        </p:nvSpPr>
        <p:spPr>
          <a:xfrm>
            <a:off x="3502152" y="3154680"/>
            <a:ext cx="457200" cy="457200"/>
          </a:xfrm>
          <a:prstGeom prst="ellipse">
            <a:avLst/>
          </a:prstGeom>
          <a:solidFill>
            <a:srgbClr val="00A86A">
              <a:alpha val="22000"/>
            </a:srgbClr>
          </a:solidFill>
          <a:ln/>
        </p:spPr>
      </p:sp>
      <p:pic>
        <p:nvPicPr>
          <p:cNvPr id="35" name="Image 2" descr="preencoded.png">    </p:cNvPr>
          <p:cNvPicPr>
            <a:picLocks noChangeAspect="1"/>
          </p:cNvPicPr>
          <p:nvPr/>
        </p:nvPicPr>
        <p:blipFill>
          <a:blip r:embed="rId3"/>
          <a:stretch>
            <a:fillRect/>
          </a:stretch>
        </p:blipFill>
        <p:spPr>
          <a:xfrm>
            <a:off x="3616452" y="3268980"/>
            <a:ext cx="228600" cy="228600"/>
          </a:xfrm>
          <a:prstGeom prst="rect">
            <a:avLst/>
          </a:prstGeom>
        </p:spPr>
      </p:pic>
      <p:sp>
        <p:nvSpPr>
          <p:cNvPr id="36" name="Text 30"/>
          <p:cNvSpPr txBox="1"/>
          <p:nvPr/>
        </p:nvSpPr>
        <p:spPr>
          <a:xfrm>
            <a:off x="4069080" y="3227832"/>
            <a:ext cx="1737360" cy="292608"/>
          </a:xfrm>
          <a:prstGeom prst="rect">
            <a:avLst/>
          </a:prstGeom>
          <a:noFill/>
          <a:ln/>
        </p:spPr>
        <p:txBody>
          <a:bodyPr wrap="square" lIns="0" tIns="0" rIns="0" bIns="0" rtlCol="0" anchor="t"/>
          <a:lstStyle/>
          <a:p>
            <a:pPr indent="0" marL="0">
              <a:buNone/>
            </a:pPr>
            <a:r>
              <a:rPr lang="en-US" sz="1400" b="1" dirty="0">
                <a:solidFill>
                  <a:srgbClr val="00704A"/>
                </a:solidFill>
                <a:latin typeface="Calibri" pitchFamily="34" charset="0"/>
                <a:ea typeface="Calibri" pitchFamily="34" charset="-122"/>
                <a:cs typeface="Calibri" pitchFamily="34" charset="-120"/>
              </a:rPr>
              <a:t>Granularité</a:t>
            </a:r>
            <a:endParaRPr lang="en-US" sz="1400" dirty="0"/>
          </a:p>
        </p:txBody>
      </p:sp>
      <p:sp>
        <p:nvSpPr>
          <p:cNvPr id="37" name="Text 31"/>
          <p:cNvSpPr txBox="1"/>
          <p:nvPr/>
        </p:nvSpPr>
        <p:spPr>
          <a:xfrm>
            <a:off x="3502152" y="3721608"/>
            <a:ext cx="2240280" cy="6858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Un échantillon national ne renseigne pas de façon fiable un district, une semaine ou un petit groupe.</a:t>
            </a:r>
            <a:endParaRPr lang="en-US" sz="1050" dirty="0"/>
          </a:p>
        </p:txBody>
      </p:sp>
      <p:sp>
        <p:nvSpPr>
          <p:cNvPr id="38" name="Shape 32"/>
          <p:cNvSpPr/>
          <p:nvPr/>
        </p:nvSpPr>
        <p:spPr>
          <a:xfrm>
            <a:off x="6035040" y="2990088"/>
            <a:ext cx="2560320" cy="1481328"/>
          </a:xfrm>
          <a:prstGeom prst="roundRect">
            <a:avLst>
              <a:gd name="adj" fmla="val 4938"/>
            </a:avLst>
          </a:prstGeom>
          <a:solidFill>
            <a:srgbClr val="F4F7F5"/>
          </a:solidFill>
          <a:ln w="9525">
            <a:solidFill>
              <a:srgbClr val="D5DED9"/>
            </a:solidFill>
            <a:prstDash val="solid"/>
          </a:ln>
        </p:spPr>
      </p:sp>
      <p:sp>
        <p:nvSpPr>
          <p:cNvPr id="39" name="Shape 33"/>
          <p:cNvSpPr/>
          <p:nvPr/>
        </p:nvSpPr>
        <p:spPr>
          <a:xfrm>
            <a:off x="6199632" y="3154680"/>
            <a:ext cx="457200" cy="457200"/>
          </a:xfrm>
          <a:prstGeom prst="ellipse">
            <a:avLst/>
          </a:prstGeom>
          <a:solidFill>
            <a:srgbClr val="00A86A">
              <a:alpha val="22000"/>
            </a:srgbClr>
          </a:solidFill>
          <a:ln/>
        </p:spPr>
      </p:sp>
      <p:pic>
        <p:nvPicPr>
          <p:cNvPr id="40" name="Image 3" descr="preencoded.png">    </p:cNvPr>
          <p:cNvPicPr>
            <a:picLocks noChangeAspect="1"/>
          </p:cNvPicPr>
          <p:nvPr/>
        </p:nvPicPr>
        <p:blipFill>
          <a:blip r:embed="rId4"/>
          <a:stretch>
            <a:fillRect/>
          </a:stretch>
        </p:blipFill>
        <p:spPr>
          <a:xfrm>
            <a:off x="6313932" y="3268980"/>
            <a:ext cx="228600" cy="228600"/>
          </a:xfrm>
          <a:prstGeom prst="rect">
            <a:avLst/>
          </a:prstGeom>
        </p:spPr>
      </p:pic>
      <p:sp>
        <p:nvSpPr>
          <p:cNvPr id="41" name="Text 34"/>
          <p:cNvSpPr txBox="1"/>
          <p:nvPr/>
        </p:nvSpPr>
        <p:spPr>
          <a:xfrm>
            <a:off x="6766560" y="3227832"/>
            <a:ext cx="1737360" cy="292608"/>
          </a:xfrm>
          <a:prstGeom prst="rect">
            <a:avLst/>
          </a:prstGeom>
          <a:noFill/>
          <a:ln/>
        </p:spPr>
        <p:txBody>
          <a:bodyPr wrap="square" lIns="0" tIns="0" rIns="0" bIns="0" rtlCol="0" anchor="t"/>
          <a:lstStyle/>
          <a:p>
            <a:pPr indent="0" marL="0">
              <a:buNone/>
            </a:pPr>
            <a:r>
              <a:rPr lang="en-US" sz="1400" b="1" dirty="0">
                <a:solidFill>
                  <a:srgbClr val="00704A"/>
                </a:solidFill>
                <a:latin typeface="Calibri" pitchFamily="34" charset="0"/>
                <a:ea typeface="Calibri" pitchFamily="34" charset="-122"/>
                <a:cs typeface="Calibri" pitchFamily="34" charset="-120"/>
              </a:rPr>
              <a:t>Fragilité</a:t>
            </a:r>
            <a:endParaRPr lang="en-US" sz="1400" dirty="0"/>
          </a:p>
        </p:txBody>
      </p:sp>
      <p:sp>
        <p:nvSpPr>
          <p:cNvPr id="42" name="Text 35"/>
          <p:cNvSpPr txBox="1"/>
          <p:nvPr/>
        </p:nvSpPr>
        <p:spPr>
          <a:xfrm>
            <a:off x="6199632" y="3721608"/>
            <a:ext cx="2240280" cy="6858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Épidémies, inondations, conflits interrompent le terrain au moment où l'information est la plus utile.</a:t>
            </a:r>
            <a:endParaRPr lang="en-US" sz="1050" dirty="0"/>
          </a:p>
        </p:txBody>
      </p:sp>
      <p:sp>
        <p:nvSpPr>
          <p:cNvPr id="43" name="Text 36"/>
          <p:cNvSpPr txBox="1"/>
          <p:nvPr/>
        </p:nvSpPr>
        <p:spPr>
          <a:xfrm>
            <a:off x="457200" y="4626864"/>
            <a:ext cx="749808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Sources : Division de statistique de l'ONU, cadre mondial d'indicateurs ODD ; cycles de recensement/enquête indicatifs, variables selon les pays.</a:t>
            </a:r>
            <a:endParaRPr lang="en-US" sz="85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POURQUOI C'EST IMPORTANT</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Le mandat d'innover est déjà écrit</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Principes, stratégie continentale et infrastructures vont dans le même sens — sous conditions.</a:t>
            </a:r>
            <a:endParaRPr lang="en-US" sz="1150" dirty="0"/>
          </a:p>
        </p:txBody>
      </p:sp>
      <p:sp>
        <p:nvSpPr>
          <p:cNvPr id="9" name="Shape 7"/>
          <p:cNvSpPr/>
          <p:nvPr/>
        </p:nvSpPr>
        <p:spPr>
          <a:xfrm>
            <a:off x="7662672" y="329184"/>
            <a:ext cx="100584" cy="100584"/>
          </a:xfrm>
          <a:prstGeom prst="ellipse">
            <a:avLst/>
          </a:prstGeom>
          <a:solidFill>
            <a:srgbClr val="00A86A"/>
          </a:solidFill>
          <a:ln/>
        </p:spPr>
      </p:sp>
      <p:sp>
        <p:nvSpPr>
          <p:cNvPr id="10" name="Shape 8"/>
          <p:cNvSpPr/>
          <p:nvPr/>
        </p:nvSpPr>
        <p:spPr>
          <a:xfrm>
            <a:off x="7845552" y="329184"/>
            <a:ext cx="100584" cy="100584"/>
          </a:xfrm>
          <a:prstGeom prst="ellipse">
            <a:avLst/>
          </a:prstGeom>
          <a:solidFill>
            <a:srgbClr val="D5DED9"/>
          </a:solidFill>
          <a:ln/>
        </p:spPr>
      </p:sp>
      <p:sp>
        <p:nvSpPr>
          <p:cNvPr id="11" name="Shape 9"/>
          <p:cNvSpPr/>
          <p:nvPr/>
        </p:nvSpPr>
        <p:spPr>
          <a:xfrm>
            <a:off x="8028432" y="329184"/>
            <a:ext cx="100584" cy="100584"/>
          </a:xfrm>
          <a:prstGeom prst="ellipse">
            <a:avLst/>
          </a:prstGeom>
          <a:solidFill>
            <a:srgbClr val="D5DED9"/>
          </a:solidFill>
          <a:ln/>
        </p:spPr>
      </p:sp>
      <p:sp>
        <p:nvSpPr>
          <p:cNvPr id="12" name="Shape 10"/>
          <p:cNvSpPr/>
          <p:nvPr/>
        </p:nvSpPr>
        <p:spPr>
          <a:xfrm>
            <a:off x="8211312" y="329184"/>
            <a:ext cx="100584" cy="100584"/>
          </a:xfrm>
          <a:prstGeom prst="ellipse">
            <a:avLst/>
          </a:prstGeom>
          <a:solidFill>
            <a:srgbClr val="D5DED9"/>
          </a:solidFill>
          <a:ln/>
        </p:spPr>
      </p:sp>
      <p:sp>
        <p:nvSpPr>
          <p:cNvPr id="13" name="Shape 11"/>
          <p:cNvSpPr/>
          <p:nvPr/>
        </p:nvSpPr>
        <p:spPr>
          <a:xfrm>
            <a:off x="8394192" y="329184"/>
            <a:ext cx="100584" cy="100584"/>
          </a:xfrm>
          <a:prstGeom prst="ellipse">
            <a:avLst/>
          </a:prstGeom>
          <a:solidFill>
            <a:srgbClr val="D5DED9"/>
          </a:solidFill>
          <a:ln/>
        </p:spPr>
      </p:sp>
      <p:sp>
        <p:nvSpPr>
          <p:cNvPr id="14" name="Shape 12"/>
          <p:cNvSpPr/>
          <p:nvPr/>
        </p:nvSpPr>
        <p:spPr>
          <a:xfrm>
            <a:off x="8577072" y="329184"/>
            <a:ext cx="100584" cy="100584"/>
          </a:xfrm>
          <a:prstGeom prst="ellipse">
            <a:avLst/>
          </a:prstGeom>
          <a:solidFill>
            <a:srgbClr val="D5DED9"/>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Sources de données non traditionnelles · Le trésor caché · Atelier STG17</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7</a:t>
            </a:r>
            <a:endParaRPr lang="en-US" sz="850" dirty="0"/>
          </a:p>
        </p:txBody>
      </p:sp>
      <p:sp>
        <p:nvSpPr>
          <p:cNvPr id="18" name="Shape 15"/>
          <p:cNvSpPr/>
          <p:nvPr/>
        </p:nvSpPr>
        <p:spPr>
          <a:xfrm>
            <a:off x="822960" y="1847088"/>
            <a:ext cx="7498080" cy="0"/>
          </a:xfrm>
          <a:prstGeom prst="line">
            <a:avLst/>
          </a:prstGeom>
          <a:noFill/>
          <a:ln w="25400">
            <a:solidFill>
              <a:srgbClr val="00A86A"/>
            </a:solidFill>
            <a:prstDash val="solid"/>
          </a:ln>
        </p:spPr>
      </p:sp>
      <p:sp>
        <p:nvSpPr>
          <p:cNvPr id="19" name="Shape 16"/>
          <p:cNvSpPr/>
          <p:nvPr/>
        </p:nvSpPr>
        <p:spPr>
          <a:xfrm>
            <a:off x="713232" y="1737360"/>
            <a:ext cx="219456" cy="219456"/>
          </a:xfrm>
          <a:prstGeom prst="ellipse">
            <a:avLst/>
          </a:prstGeom>
          <a:solidFill>
            <a:srgbClr val="FFFFFF"/>
          </a:solidFill>
          <a:ln w="25400">
            <a:solidFill>
              <a:srgbClr val="00A86A"/>
            </a:solidFill>
            <a:prstDash val="solid"/>
          </a:ln>
        </p:spPr>
      </p:sp>
      <p:sp>
        <p:nvSpPr>
          <p:cNvPr id="20" name="Text 17"/>
          <p:cNvSpPr txBox="1"/>
          <p:nvPr/>
        </p:nvSpPr>
        <p:spPr>
          <a:xfrm>
            <a:off x="457200" y="1353312"/>
            <a:ext cx="1097280" cy="320040"/>
          </a:xfrm>
          <a:prstGeom prst="rect">
            <a:avLst/>
          </a:prstGeom>
          <a:noFill/>
          <a:ln/>
        </p:spPr>
        <p:txBody>
          <a:bodyPr wrap="square" lIns="0" tIns="0" rIns="0" bIns="0" rtlCol="0" anchor="t"/>
          <a:lstStyle/>
          <a:p>
            <a:pPr indent="0" marL="0">
              <a:buNone/>
            </a:pPr>
            <a:r>
              <a:rPr lang="en-US" sz="2000" b="1" dirty="0">
                <a:solidFill>
                  <a:srgbClr val="D49A00"/>
                </a:solidFill>
                <a:latin typeface="Calibri" pitchFamily="34" charset="0"/>
                <a:ea typeface="Calibri" pitchFamily="34" charset="-122"/>
                <a:cs typeface="Calibri" pitchFamily="34" charset="-120"/>
              </a:rPr>
              <a:t>2014</a:t>
            </a:r>
            <a:endParaRPr lang="en-US" sz="2000" dirty="0"/>
          </a:p>
        </p:txBody>
      </p:sp>
      <p:sp>
        <p:nvSpPr>
          <p:cNvPr id="21" name="Shape 18"/>
          <p:cNvSpPr/>
          <p:nvPr/>
        </p:nvSpPr>
        <p:spPr>
          <a:xfrm>
            <a:off x="457200" y="2148840"/>
            <a:ext cx="1938528" cy="1691640"/>
          </a:xfrm>
          <a:prstGeom prst="roundRect">
            <a:avLst>
              <a:gd name="adj" fmla="val 4324"/>
            </a:avLst>
          </a:prstGeom>
          <a:solidFill>
            <a:srgbClr val="F4F7F5"/>
          </a:solidFill>
          <a:ln w="9525">
            <a:solidFill>
              <a:srgbClr val="D5DED9"/>
            </a:solidFill>
            <a:prstDash val="solid"/>
          </a:ln>
        </p:spPr>
      </p:sp>
      <p:sp>
        <p:nvSpPr>
          <p:cNvPr id="22" name="Shape 19"/>
          <p:cNvSpPr/>
          <p:nvPr/>
        </p:nvSpPr>
        <p:spPr>
          <a:xfrm>
            <a:off x="594360" y="2286000"/>
            <a:ext cx="411480" cy="411480"/>
          </a:xfrm>
          <a:prstGeom prst="ellipse">
            <a:avLst/>
          </a:prstGeom>
          <a:solidFill>
            <a:srgbClr val="00704A">
              <a:alpha val="22000"/>
            </a:srgbClr>
          </a:solidFill>
          <a:ln/>
        </p:spPr>
      </p:sp>
      <p:pic>
        <p:nvPicPr>
          <p:cNvPr id="23" name="Image 0" descr="preencoded.png">    </p:cNvPr>
          <p:cNvPicPr>
            <a:picLocks noChangeAspect="1"/>
          </p:cNvPicPr>
          <p:nvPr/>
        </p:nvPicPr>
        <p:blipFill>
          <a:blip r:embed="rId1"/>
          <a:stretch>
            <a:fillRect/>
          </a:stretch>
        </p:blipFill>
        <p:spPr>
          <a:xfrm>
            <a:off x="697230" y="2388870"/>
            <a:ext cx="205740" cy="205740"/>
          </a:xfrm>
          <a:prstGeom prst="rect">
            <a:avLst/>
          </a:prstGeom>
        </p:spPr>
      </p:pic>
      <p:sp>
        <p:nvSpPr>
          <p:cNvPr id="24" name="Text 20"/>
          <p:cNvSpPr txBox="1"/>
          <p:nvPr/>
        </p:nvSpPr>
        <p:spPr>
          <a:xfrm>
            <a:off x="1097280" y="2286000"/>
            <a:ext cx="1261872" cy="411480"/>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Principes fondamentaux ONU</a:t>
            </a:r>
            <a:endParaRPr lang="en-US" sz="1100" dirty="0"/>
          </a:p>
        </p:txBody>
      </p:sp>
      <p:sp>
        <p:nvSpPr>
          <p:cNvPr id="25" name="Text 21"/>
          <p:cNvSpPr txBox="1"/>
          <p:nvPr/>
        </p:nvSpPr>
        <p:spPr>
          <a:xfrm>
            <a:off x="594360" y="2761488"/>
            <a:ext cx="1691640" cy="105156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Principe 5 : toutes sources possibles, choisies selon qualité, actualité, coût et charge des répondants.</a:t>
            </a:r>
            <a:endParaRPr lang="en-US" sz="1000" dirty="0"/>
          </a:p>
        </p:txBody>
      </p:sp>
      <p:sp>
        <p:nvSpPr>
          <p:cNvPr id="26" name="Shape 22"/>
          <p:cNvSpPr/>
          <p:nvPr/>
        </p:nvSpPr>
        <p:spPr>
          <a:xfrm>
            <a:off x="2816352" y="1737360"/>
            <a:ext cx="219456" cy="219456"/>
          </a:xfrm>
          <a:prstGeom prst="ellipse">
            <a:avLst/>
          </a:prstGeom>
          <a:solidFill>
            <a:srgbClr val="FFFFFF"/>
          </a:solidFill>
          <a:ln w="25400">
            <a:solidFill>
              <a:srgbClr val="00A86A"/>
            </a:solidFill>
            <a:prstDash val="solid"/>
          </a:ln>
        </p:spPr>
      </p:sp>
      <p:sp>
        <p:nvSpPr>
          <p:cNvPr id="27" name="Text 23"/>
          <p:cNvSpPr txBox="1"/>
          <p:nvPr/>
        </p:nvSpPr>
        <p:spPr>
          <a:xfrm>
            <a:off x="2560320" y="1353312"/>
            <a:ext cx="1097280" cy="320040"/>
          </a:xfrm>
          <a:prstGeom prst="rect">
            <a:avLst/>
          </a:prstGeom>
          <a:noFill/>
          <a:ln/>
        </p:spPr>
        <p:txBody>
          <a:bodyPr wrap="square" lIns="0" tIns="0" rIns="0" bIns="0" rtlCol="0" anchor="t"/>
          <a:lstStyle/>
          <a:p>
            <a:pPr indent="0" marL="0">
              <a:buNone/>
            </a:pPr>
            <a:r>
              <a:rPr lang="en-US" sz="2000" b="1" dirty="0">
                <a:solidFill>
                  <a:srgbClr val="D49A00"/>
                </a:solidFill>
                <a:latin typeface="Calibri" pitchFamily="34" charset="0"/>
                <a:ea typeface="Calibri" pitchFamily="34" charset="-122"/>
                <a:cs typeface="Calibri" pitchFamily="34" charset="-120"/>
              </a:rPr>
              <a:t>2018</a:t>
            </a:r>
            <a:endParaRPr lang="en-US" sz="2000" dirty="0"/>
          </a:p>
        </p:txBody>
      </p:sp>
      <p:sp>
        <p:nvSpPr>
          <p:cNvPr id="28" name="Shape 24"/>
          <p:cNvSpPr/>
          <p:nvPr/>
        </p:nvSpPr>
        <p:spPr>
          <a:xfrm>
            <a:off x="2560320" y="2148840"/>
            <a:ext cx="1938528" cy="1691640"/>
          </a:xfrm>
          <a:prstGeom prst="roundRect">
            <a:avLst>
              <a:gd name="adj" fmla="val 4324"/>
            </a:avLst>
          </a:prstGeom>
          <a:solidFill>
            <a:srgbClr val="F4F7F5"/>
          </a:solidFill>
          <a:ln w="9525">
            <a:solidFill>
              <a:srgbClr val="D5DED9"/>
            </a:solidFill>
            <a:prstDash val="solid"/>
          </a:ln>
        </p:spPr>
      </p:sp>
      <p:sp>
        <p:nvSpPr>
          <p:cNvPr id="29" name="Shape 25"/>
          <p:cNvSpPr/>
          <p:nvPr/>
        </p:nvSpPr>
        <p:spPr>
          <a:xfrm>
            <a:off x="2697480" y="2286000"/>
            <a:ext cx="411480" cy="411480"/>
          </a:xfrm>
          <a:prstGeom prst="ellipse">
            <a:avLst/>
          </a:prstGeom>
          <a:solidFill>
            <a:srgbClr val="00704A">
              <a:alpha val="22000"/>
            </a:srgbClr>
          </a:solidFill>
          <a:ln/>
        </p:spPr>
      </p:sp>
      <p:pic>
        <p:nvPicPr>
          <p:cNvPr id="30" name="Image 1" descr="preencoded.png">    </p:cNvPr>
          <p:cNvPicPr>
            <a:picLocks noChangeAspect="1"/>
          </p:cNvPicPr>
          <p:nvPr/>
        </p:nvPicPr>
        <p:blipFill>
          <a:blip r:embed="rId2"/>
          <a:stretch>
            <a:fillRect/>
          </a:stretch>
        </p:blipFill>
        <p:spPr>
          <a:xfrm>
            <a:off x="2800350" y="2388870"/>
            <a:ext cx="205740" cy="205740"/>
          </a:xfrm>
          <a:prstGeom prst="rect">
            <a:avLst/>
          </a:prstGeom>
        </p:spPr>
      </p:pic>
      <p:sp>
        <p:nvSpPr>
          <p:cNvPr id="31" name="Text 26"/>
          <p:cNvSpPr txBox="1"/>
          <p:nvPr/>
        </p:nvSpPr>
        <p:spPr>
          <a:xfrm>
            <a:off x="3200400" y="2286000"/>
            <a:ext cx="1261872" cy="411480"/>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SHaSA II adoptée</a:t>
            </a:r>
            <a:endParaRPr lang="en-US" sz="1100" dirty="0"/>
          </a:p>
        </p:txBody>
      </p:sp>
      <p:sp>
        <p:nvSpPr>
          <p:cNvPr id="32" name="Text 27"/>
          <p:cNvSpPr txBox="1"/>
          <p:nvPr/>
        </p:nvSpPr>
        <p:spPr>
          <a:xfrm>
            <a:off x="2697480" y="2761488"/>
            <a:ext cx="1691640" cy="105156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Le Conseil exécutif de l'UA adopte la stratégie continentale, mise en œuvre par 18 groupes techniques spécialisés.</a:t>
            </a:r>
            <a:endParaRPr lang="en-US" sz="1000" dirty="0"/>
          </a:p>
        </p:txBody>
      </p:sp>
      <p:sp>
        <p:nvSpPr>
          <p:cNvPr id="33" name="Shape 28"/>
          <p:cNvSpPr/>
          <p:nvPr/>
        </p:nvSpPr>
        <p:spPr>
          <a:xfrm>
            <a:off x="4919472" y="1737360"/>
            <a:ext cx="219456" cy="219456"/>
          </a:xfrm>
          <a:prstGeom prst="ellipse">
            <a:avLst/>
          </a:prstGeom>
          <a:solidFill>
            <a:srgbClr val="FFFFFF"/>
          </a:solidFill>
          <a:ln w="25400">
            <a:solidFill>
              <a:srgbClr val="00A86A"/>
            </a:solidFill>
            <a:prstDash val="solid"/>
          </a:ln>
        </p:spPr>
      </p:sp>
      <p:sp>
        <p:nvSpPr>
          <p:cNvPr id="34" name="Text 29"/>
          <p:cNvSpPr txBox="1"/>
          <p:nvPr/>
        </p:nvSpPr>
        <p:spPr>
          <a:xfrm>
            <a:off x="4663440" y="1353312"/>
            <a:ext cx="1097280" cy="320040"/>
          </a:xfrm>
          <a:prstGeom prst="rect">
            <a:avLst/>
          </a:prstGeom>
          <a:noFill/>
          <a:ln/>
        </p:spPr>
        <p:txBody>
          <a:bodyPr wrap="square" lIns="0" tIns="0" rIns="0" bIns="0" rtlCol="0" anchor="t"/>
          <a:lstStyle/>
          <a:p>
            <a:pPr indent="0" marL="0">
              <a:buNone/>
            </a:pPr>
            <a:r>
              <a:rPr lang="en-US" sz="2000" b="1" dirty="0">
                <a:solidFill>
                  <a:srgbClr val="D49A00"/>
                </a:solidFill>
                <a:latin typeface="Calibri" pitchFamily="34" charset="0"/>
                <a:ea typeface="Calibri" pitchFamily="34" charset="-122"/>
                <a:cs typeface="Calibri" pitchFamily="34" charset="-120"/>
              </a:rPr>
              <a:t>2020</a:t>
            </a:r>
            <a:endParaRPr lang="en-US" sz="2000" dirty="0"/>
          </a:p>
        </p:txBody>
      </p:sp>
      <p:sp>
        <p:nvSpPr>
          <p:cNvPr id="35" name="Shape 30"/>
          <p:cNvSpPr/>
          <p:nvPr/>
        </p:nvSpPr>
        <p:spPr>
          <a:xfrm>
            <a:off x="4663440" y="2148840"/>
            <a:ext cx="1938528" cy="1691640"/>
          </a:xfrm>
          <a:prstGeom prst="roundRect">
            <a:avLst>
              <a:gd name="adj" fmla="val 4324"/>
            </a:avLst>
          </a:prstGeom>
          <a:solidFill>
            <a:srgbClr val="F4F7F5"/>
          </a:solidFill>
          <a:ln w="9525">
            <a:solidFill>
              <a:srgbClr val="D5DED9"/>
            </a:solidFill>
            <a:prstDash val="solid"/>
          </a:ln>
        </p:spPr>
      </p:sp>
      <p:sp>
        <p:nvSpPr>
          <p:cNvPr id="36" name="Shape 31"/>
          <p:cNvSpPr/>
          <p:nvPr/>
        </p:nvSpPr>
        <p:spPr>
          <a:xfrm>
            <a:off x="4800600" y="2286000"/>
            <a:ext cx="411480" cy="411480"/>
          </a:xfrm>
          <a:prstGeom prst="ellipse">
            <a:avLst/>
          </a:prstGeom>
          <a:solidFill>
            <a:srgbClr val="00704A">
              <a:alpha val="22000"/>
            </a:srgbClr>
          </a:solidFill>
          <a:ln/>
        </p:spPr>
      </p:sp>
      <p:pic>
        <p:nvPicPr>
          <p:cNvPr id="37" name="Image 2" descr="preencoded.png">    </p:cNvPr>
          <p:cNvPicPr>
            <a:picLocks noChangeAspect="1"/>
          </p:cNvPicPr>
          <p:nvPr/>
        </p:nvPicPr>
        <p:blipFill>
          <a:blip r:embed="rId3"/>
          <a:stretch>
            <a:fillRect/>
          </a:stretch>
        </p:blipFill>
        <p:spPr>
          <a:xfrm>
            <a:off x="4903470" y="2388870"/>
            <a:ext cx="205740" cy="205740"/>
          </a:xfrm>
          <a:prstGeom prst="rect">
            <a:avLst/>
          </a:prstGeom>
        </p:spPr>
      </p:pic>
      <p:sp>
        <p:nvSpPr>
          <p:cNvPr id="38" name="Text 32"/>
          <p:cNvSpPr txBox="1"/>
          <p:nvPr/>
        </p:nvSpPr>
        <p:spPr>
          <a:xfrm>
            <a:off x="5303520" y="2286000"/>
            <a:ext cx="1261872" cy="411480"/>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Hub big data ONU, Kigali</a:t>
            </a:r>
            <a:endParaRPr lang="en-US" sz="1100" dirty="0"/>
          </a:p>
        </p:txBody>
      </p:sp>
      <p:sp>
        <p:nvSpPr>
          <p:cNvPr id="39" name="Text 33"/>
          <p:cNvSpPr txBox="1"/>
          <p:nvPr/>
        </p:nvSpPr>
        <p:spPr>
          <a:xfrm>
            <a:off x="4800600" y="2761488"/>
            <a:ext cx="1691640" cy="105156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Le Rwanda signe avec l'ONU un accord pour accueillir le Hub régional big data pour l'Afrique au NISR.</a:t>
            </a:r>
            <a:endParaRPr lang="en-US" sz="1000" dirty="0"/>
          </a:p>
        </p:txBody>
      </p:sp>
      <p:sp>
        <p:nvSpPr>
          <p:cNvPr id="40" name="Shape 34"/>
          <p:cNvSpPr/>
          <p:nvPr/>
        </p:nvSpPr>
        <p:spPr>
          <a:xfrm>
            <a:off x="7022592" y="1737360"/>
            <a:ext cx="219456" cy="219456"/>
          </a:xfrm>
          <a:prstGeom prst="ellipse">
            <a:avLst/>
          </a:prstGeom>
          <a:solidFill>
            <a:srgbClr val="FFFFFF"/>
          </a:solidFill>
          <a:ln w="25400">
            <a:solidFill>
              <a:srgbClr val="00A86A"/>
            </a:solidFill>
            <a:prstDash val="solid"/>
          </a:ln>
        </p:spPr>
      </p:sp>
      <p:sp>
        <p:nvSpPr>
          <p:cNvPr id="41" name="Text 35"/>
          <p:cNvSpPr txBox="1"/>
          <p:nvPr/>
        </p:nvSpPr>
        <p:spPr>
          <a:xfrm>
            <a:off x="6766560" y="1353312"/>
            <a:ext cx="1097280" cy="320040"/>
          </a:xfrm>
          <a:prstGeom prst="rect">
            <a:avLst/>
          </a:prstGeom>
          <a:noFill/>
          <a:ln/>
        </p:spPr>
        <p:txBody>
          <a:bodyPr wrap="square" lIns="0" tIns="0" rIns="0" bIns="0" rtlCol="0" anchor="t"/>
          <a:lstStyle/>
          <a:p>
            <a:pPr indent="0" marL="0">
              <a:buNone/>
            </a:pPr>
            <a:r>
              <a:rPr lang="en-US" sz="2000" b="1" dirty="0">
                <a:solidFill>
                  <a:srgbClr val="D49A00"/>
                </a:solidFill>
                <a:latin typeface="Calibri" pitchFamily="34" charset="0"/>
                <a:ea typeface="Calibri" pitchFamily="34" charset="-122"/>
                <a:cs typeface="Calibri" pitchFamily="34" charset="-120"/>
              </a:rPr>
              <a:t>2025</a:t>
            </a:r>
            <a:endParaRPr lang="en-US" sz="2000" dirty="0"/>
          </a:p>
        </p:txBody>
      </p:sp>
      <p:sp>
        <p:nvSpPr>
          <p:cNvPr id="42" name="Shape 36"/>
          <p:cNvSpPr/>
          <p:nvPr/>
        </p:nvSpPr>
        <p:spPr>
          <a:xfrm>
            <a:off x="6766560" y="2148840"/>
            <a:ext cx="1938528" cy="1691640"/>
          </a:xfrm>
          <a:prstGeom prst="roundRect">
            <a:avLst>
              <a:gd name="adj" fmla="val 4324"/>
            </a:avLst>
          </a:prstGeom>
          <a:solidFill>
            <a:srgbClr val="F4F7F5"/>
          </a:solidFill>
          <a:ln w="9525">
            <a:solidFill>
              <a:srgbClr val="D5DED9"/>
            </a:solidFill>
            <a:prstDash val="solid"/>
          </a:ln>
        </p:spPr>
      </p:sp>
      <p:sp>
        <p:nvSpPr>
          <p:cNvPr id="43" name="Shape 37"/>
          <p:cNvSpPr/>
          <p:nvPr/>
        </p:nvSpPr>
        <p:spPr>
          <a:xfrm>
            <a:off x="6903720" y="2286000"/>
            <a:ext cx="411480" cy="411480"/>
          </a:xfrm>
          <a:prstGeom prst="ellipse">
            <a:avLst/>
          </a:prstGeom>
          <a:solidFill>
            <a:srgbClr val="00704A">
              <a:alpha val="22000"/>
            </a:srgbClr>
          </a:solidFill>
          <a:ln/>
        </p:spPr>
      </p:sp>
      <p:pic>
        <p:nvPicPr>
          <p:cNvPr id="44" name="Image 3" descr="preencoded.png">    </p:cNvPr>
          <p:cNvPicPr>
            <a:picLocks noChangeAspect="1"/>
          </p:cNvPicPr>
          <p:nvPr/>
        </p:nvPicPr>
        <p:blipFill>
          <a:blip r:embed="rId4"/>
          <a:stretch>
            <a:fillRect/>
          </a:stretch>
        </p:blipFill>
        <p:spPr>
          <a:xfrm>
            <a:off x="7006590" y="2388870"/>
            <a:ext cx="205740" cy="205740"/>
          </a:xfrm>
          <a:prstGeom prst="rect">
            <a:avLst/>
          </a:prstGeom>
        </p:spPr>
      </p:pic>
      <p:sp>
        <p:nvSpPr>
          <p:cNvPr id="45" name="Text 38"/>
          <p:cNvSpPr txBox="1"/>
          <p:nvPr/>
        </p:nvSpPr>
        <p:spPr>
          <a:xfrm>
            <a:off x="7406640" y="2286000"/>
            <a:ext cx="1261872" cy="411480"/>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Plan d'action STG17</a:t>
            </a:r>
            <a:endParaRPr lang="en-US" sz="1100" dirty="0"/>
          </a:p>
        </p:txBody>
      </p:sp>
      <p:sp>
        <p:nvSpPr>
          <p:cNvPr id="46" name="Text 39"/>
          <p:cNvSpPr txBox="1"/>
          <p:nvPr/>
        </p:nvSpPr>
        <p:spPr>
          <a:xfrm>
            <a:off x="6903720" y="2761488"/>
            <a:ext cx="1691640" cy="105156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1re réunion annuelle (Kigali) : Bureau, TdR et Plan d'action 2025–2030 sur big data, données ouvertes et IA.</a:t>
            </a:r>
            <a:endParaRPr lang="en-US" sz="1000" dirty="0"/>
          </a:p>
        </p:txBody>
      </p:sp>
      <p:sp>
        <p:nvSpPr>
          <p:cNvPr id="47" name="Shape 40"/>
          <p:cNvSpPr/>
          <p:nvPr/>
        </p:nvSpPr>
        <p:spPr>
          <a:xfrm>
            <a:off x="457200" y="4005072"/>
            <a:ext cx="8229600" cy="530352"/>
          </a:xfrm>
          <a:prstGeom prst="roundRect">
            <a:avLst>
              <a:gd name="adj" fmla="val 10345"/>
            </a:avLst>
          </a:prstGeom>
          <a:solidFill>
            <a:srgbClr val="00704A">
              <a:alpha val="13000"/>
            </a:srgbClr>
          </a:solidFill>
          <a:ln w="12700">
            <a:solidFill>
              <a:srgbClr val="00704A"/>
            </a:solidFill>
            <a:prstDash val="solid"/>
          </a:ln>
        </p:spPr>
      </p:sp>
      <p:pic>
        <p:nvPicPr>
          <p:cNvPr id="48" name="Image 4" descr="preencoded.png">    </p:cNvPr>
          <p:cNvPicPr>
            <a:picLocks noChangeAspect="1"/>
          </p:cNvPicPr>
          <p:nvPr/>
        </p:nvPicPr>
        <p:blipFill>
          <a:blip r:embed="rId5"/>
          <a:stretch>
            <a:fillRect/>
          </a:stretch>
        </p:blipFill>
        <p:spPr>
          <a:xfrm>
            <a:off x="585216" y="4133088"/>
            <a:ext cx="274320" cy="274320"/>
          </a:xfrm>
          <a:prstGeom prst="rect">
            <a:avLst/>
          </a:prstGeom>
        </p:spPr>
      </p:pic>
      <p:sp>
        <p:nvSpPr>
          <p:cNvPr id="49" name="Text 41"/>
          <p:cNvSpPr txBox="1"/>
          <p:nvPr/>
        </p:nvSpPr>
        <p:spPr>
          <a:xfrm>
            <a:off x="987552" y="4059936"/>
            <a:ext cx="7571232" cy="420624"/>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La condition commune : l'innovation n'est bienvenue que si la qualité, la confidentialité et l'indépendance professionnelle sont préservées.</a:t>
            </a:r>
            <a:endParaRPr lang="en-US" sz="1150" dirty="0"/>
          </a:p>
        </p:txBody>
      </p:sp>
      <p:sp>
        <p:nvSpPr>
          <p:cNvPr id="50" name="Text 42"/>
          <p:cNvSpPr txBox="1"/>
          <p:nvPr/>
        </p:nvSpPr>
        <p:spPr>
          <a:xfrm>
            <a:off x="457200" y="4626864"/>
            <a:ext cx="749808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Sources : AGNU A/RES/68/261 (2014) ; note conceptuelle de l'atelier STG17 (2026) ; UN-CEBD, Hub régional big data pour l'Afrique (unstats.un.org/bigdata).</a:t>
            </a:r>
            <a:endParaRPr lang="en-US" sz="85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POURQUOI C'EST IMPORTANT</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Données conçues et données trouvées</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Aucune n'est supérieure : leurs faiblesses sont opposées — c'est pourquoi elles se combinent bien.</a:t>
            </a:r>
            <a:endParaRPr lang="en-US" sz="1150" dirty="0"/>
          </a:p>
        </p:txBody>
      </p:sp>
      <p:sp>
        <p:nvSpPr>
          <p:cNvPr id="9" name="Shape 7"/>
          <p:cNvSpPr/>
          <p:nvPr/>
        </p:nvSpPr>
        <p:spPr>
          <a:xfrm>
            <a:off x="7662672" y="329184"/>
            <a:ext cx="100584" cy="100584"/>
          </a:xfrm>
          <a:prstGeom prst="ellipse">
            <a:avLst/>
          </a:prstGeom>
          <a:solidFill>
            <a:srgbClr val="00A86A"/>
          </a:solidFill>
          <a:ln/>
        </p:spPr>
      </p:sp>
      <p:sp>
        <p:nvSpPr>
          <p:cNvPr id="10" name="Shape 8"/>
          <p:cNvSpPr/>
          <p:nvPr/>
        </p:nvSpPr>
        <p:spPr>
          <a:xfrm>
            <a:off x="7845552" y="329184"/>
            <a:ext cx="100584" cy="100584"/>
          </a:xfrm>
          <a:prstGeom prst="ellipse">
            <a:avLst/>
          </a:prstGeom>
          <a:solidFill>
            <a:srgbClr val="D5DED9"/>
          </a:solidFill>
          <a:ln/>
        </p:spPr>
      </p:sp>
      <p:sp>
        <p:nvSpPr>
          <p:cNvPr id="11" name="Shape 9"/>
          <p:cNvSpPr/>
          <p:nvPr/>
        </p:nvSpPr>
        <p:spPr>
          <a:xfrm>
            <a:off x="8028432" y="329184"/>
            <a:ext cx="100584" cy="100584"/>
          </a:xfrm>
          <a:prstGeom prst="ellipse">
            <a:avLst/>
          </a:prstGeom>
          <a:solidFill>
            <a:srgbClr val="D5DED9"/>
          </a:solidFill>
          <a:ln/>
        </p:spPr>
      </p:sp>
      <p:sp>
        <p:nvSpPr>
          <p:cNvPr id="12" name="Shape 10"/>
          <p:cNvSpPr/>
          <p:nvPr/>
        </p:nvSpPr>
        <p:spPr>
          <a:xfrm>
            <a:off x="8211312" y="329184"/>
            <a:ext cx="100584" cy="100584"/>
          </a:xfrm>
          <a:prstGeom prst="ellipse">
            <a:avLst/>
          </a:prstGeom>
          <a:solidFill>
            <a:srgbClr val="D5DED9"/>
          </a:solidFill>
          <a:ln/>
        </p:spPr>
      </p:sp>
      <p:sp>
        <p:nvSpPr>
          <p:cNvPr id="13" name="Shape 11"/>
          <p:cNvSpPr/>
          <p:nvPr/>
        </p:nvSpPr>
        <p:spPr>
          <a:xfrm>
            <a:off x="8394192" y="329184"/>
            <a:ext cx="100584" cy="100584"/>
          </a:xfrm>
          <a:prstGeom prst="ellipse">
            <a:avLst/>
          </a:prstGeom>
          <a:solidFill>
            <a:srgbClr val="D5DED9"/>
          </a:solidFill>
          <a:ln/>
        </p:spPr>
      </p:sp>
      <p:sp>
        <p:nvSpPr>
          <p:cNvPr id="14" name="Shape 12"/>
          <p:cNvSpPr/>
          <p:nvPr/>
        </p:nvSpPr>
        <p:spPr>
          <a:xfrm>
            <a:off x="8577072" y="329184"/>
            <a:ext cx="100584" cy="100584"/>
          </a:xfrm>
          <a:prstGeom prst="ellipse">
            <a:avLst/>
          </a:prstGeom>
          <a:solidFill>
            <a:srgbClr val="D5DED9"/>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Sources de données non traditionnelles · Le trésor caché · Atelier STG17</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8</a:t>
            </a:r>
            <a:endParaRPr lang="en-US" sz="850" dirty="0"/>
          </a:p>
        </p:txBody>
      </p:sp>
      <p:sp>
        <p:nvSpPr>
          <p:cNvPr id="18" name="Shape 15"/>
          <p:cNvSpPr/>
          <p:nvPr/>
        </p:nvSpPr>
        <p:spPr>
          <a:xfrm>
            <a:off x="2331720" y="1353312"/>
            <a:ext cx="329184" cy="329184"/>
          </a:xfrm>
          <a:prstGeom prst="ellipse">
            <a:avLst/>
          </a:prstGeom>
          <a:solidFill>
            <a:srgbClr val="00704A">
              <a:alpha val="22000"/>
            </a:srgbClr>
          </a:solidFill>
          <a:ln/>
        </p:spPr>
      </p:sp>
      <p:pic>
        <p:nvPicPr>
          <p:cNvPr id="19" name="Image 0" descr="preencoded.png">    </p:cNvPr>
          <p:cNvPicPr>
            <a:picLocks noChangeAspect="1"/>
          </p:cNvPicPr>
          <p:nvPr/>
        </p:nvPicPr>
        <p:blipFill>
          <a:blip r:embed="rId1"/>
          <a:stretch>
            <a:fillRect/>
          </a:stretch>
        </p:blipFill>
        <p:spPr>
          <a:xfrm>
            <a:off x="2414016" y="1435608"/>
            <a:ext cx="164592" cy="164592"/>
          </a:xfrm>
          <a:prstGeom prst="rect">
            <a:avLst/>
          </a:prstGeom>
        </p:spPr>
      </p:pic>
      <p:sp>
        <p:nvSpPr>
          <p:cNvPr id="20" name="Text 16"/>
          <p:cNvSpPr txBox="1"/>
          <p:nvPr/>
        </p:nvSpPr>
        <p:spPr>
          <a:xfrm>
            <a:off x="2743200" y="1371600"/>
            <a:ext cx="2468880" cy="292608"/>
          </a:xfrm>
          <a:prstGeom prst="rect">
            <a:avLst/>
          </a:prstGeom>
          <a:noFill/>
          <a:ln/>
        </p:spPr>
        <p:txBody>
          <a:bodyPr wrap="square" lIns="0" tIns="0" rIns="0" bIns="0" rtlCol="0" anchor="ctr"/>
          <a:lstStyle/>
          <a:p>
            <a:pPr indent="0" marL="0">
              <a:buNone/>
            </a:pPr>
            <a:r>
              <a:rPr lang="en-US" sz="1300" b="1" dirty="0">
                <a:solidFill>
                  <a:srgbClr val="00704A"/>
                </a:solidFill>
                <a:latin typeface="Calibri" pitchFamily="34" charset="0"/>
                <a:ea typeface="Calibri" pitchFamily="34" charset="-122"/>
                <a:cs typeface="Calibri" pitchFamily="34" charset="-120"/>
              </a:rPr>
              <a:t>Traditionnelles (conçues)</a:t>
            </a:r>
            <a:endParaRPr lang="en-US" sz="1300" dirty="0"/>
          </a:p>
        </p:txBody>
      </p:sp>
      <p:sp>
        <p:nvSpPr>
          <p:cNvPr id="21" name="Shape 17"/>
          <p:cNvSpPr/>
          <p:nvPr/>
        </p:nvSpPr>
        <p:spPr>
          <a:xfrm>
            <a:off x="5440680" y="1353312"/>
            <a:ext cx="329184" cy="329184"/>
          </a:xfrm>
          <a:prstGeom prst="ellipse">
            <a:avLst/>
          </a:prstGeom>
          <a:solidFill>
            <a:srgbClr val="D49A00">
              <a:alpha val="22000"/>
            </a:srgbClr>
          </a:solidFill>
          <a:ln/>
        </p:spPr>
      </p:sp>
      <p:pic>
        <p:nvPicPr>
          <p:cNvPr id="22" name="Image 1" descr="preencoded.png">    </p:cNvPr>
          <p:cNvPicPr>
            <a:picLocks noChangeAspect="1"/>
          </p:cNvPicPr>
          <p:nvPr/>
        </p:nvPicPr>
        <p:blipFill>
          <a:blip r:embed="rId2"/>
          <a:stretch>
            <a:fillRect/>
          </a:stretch>
        </p:blipFill>
        <p:spPr>
          <a:xfrm>
            <a:off x="5522976" y="1435608"/>
            <a:ext cx="164592" cy="164592"/>
          </a:xfrm>
          <a:prstGeom prst="rect">
            <a:avLst/>
          </a:prstGeom>
        </p:spPr>
      </p:pic>
      <p:sp>
        <p:nvSpPr>
          <p:cNvPr id="23" name="Text 18"/>
          <p:cNvSpPr txBox="1"/>
          <p:nvPr/>
        </p:nvSpPr>
        <p:spPr>
          <a:xfrm>
            <a:off x="5852160" y="1371600"/>
            <a:ext cx="2468880" cy="292608"/>
          </a:xfrm>
          <a:prstGeom prst="rect">
            <a:avLst/>
          </a:prstGeom>
          <a:noFill/>
          <a:ln/>
        </p:spPr>
        <p:txBody>
          <a:bodyPr wrap="square" lIns="0" tIns="0" rIns="0" bIns="0" rtlCol="0" anchor="ctr"/>
          <a:lstStyle/>
          <a:p>
            <a:pPr indent="0" marL="0">
              <a:buNone/>
            </a:pPr>
            <a:r>
              <a:rPr lang="en-US" sz="1300" b="1" dirty="0">
                <a:solidFill>
                  <a:srgbClr val="D49A00"/>
                </a:solidFill>
                <a:latin typeface="Calibri" pitchFamily="34" charset="0"/>
                <a:ea typeface="Calibri" pitchFamily="34" charset="-122"/>
                <a:cs typeface="Calibri" pitchFamily="34" charset="-120"/>
              </a:rPr>
              <a:t>Non traditionnelles (trouvées)</a:t>
            </a:r>
            <a:endParaRPr lang="en-US" sz="1300" dirty="0"/>
          </a:p>
        </p:txBody>
      </p:sp>
      <p:sp>
        <p:nvSpPr>
          <p:cNvPr id="24" name="Shape 19"/>
          <p:cNvSpPr/>
          <p:nvPr/>
        </p:nvSpPr>
        <p:spPr>
          <a:xfrm>
            <a:off x="457200" y="1773936"/>
            <a:ext cx="8229600" cy="310896"/>
          </a:xfrm>
          <a:prstGeom prst="roundRect">
            <a:avLst>
              <a:gd name="adj" fmla="val 14706"/>
            </a:avLst>
          </a:prstGeom>
          <a:solidFill>
            <a:srgbClr val="F4F7F5"/>
          </a:solidFill>
          <a:ln w="6350">
            <a:solidFill>
              <a:srgbClr val="D5DED9"/>
            </a:solidFill>
            <a:prstDash val="solid"/>
          </a:ln>
        </p:spPr>
      </p:sp>
      <p:sp>
        <p:nvSpPr>
          <p:cNvPr id="25" name="Text 20"/>
          <p:cNvSpPr txBox="1"/>
          <p:nvPr/>
        </p:nvSpPr>
        <p:spPr>
          <a:xfrm>
            <a:off x="594360" y="1773936"/>
            <a:ext cx="1554480" cy="310896"/>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Origine</a:t>
            </a:r>
            <a:endParaRPr lang="en-US" sz="1100" dirty="0"/>
          </a:p>
        </p:txBody>
      </p:sp>
      <p:sp>
        <p:nvSpPr>
          <p:cNvPr id="26" name="Text 21"/>
          <p:cNvSpPr txBox="1"/>
          <p:nvPr/>
        </p:nvSpPr>
        <p:spPr>
          <a:xfrm>
            <a:off x="2331720" y="1773936"/>
            <a:ext cx="2926080" cy="310896"/>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Conçues pour mesurer</a:t>
            </a:r>
            <a:endParaRPr lang="en-US" sz="1100" dirty="0"/>
          </a:p>
        </p:txBody>
      </p:sp>
      <p:sp>
        <p:nvSpPr>
          <p:cNvPr id="27" name="Text 22"/>
          <p:cNvSpPr txBox="1"/>
          <p:nvPr/>
        </p:nvSpPr>
        <p:spPr>
          <a:xfrm>
            <a:off x="5440680" y="1773936"/>
            <a:ext cx="2926080" cy="310896"/>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Sous-produit d'une autre activité</a:t>
            </a:r>
            <a:endParaRPr lang="en-US" sz="1100" dirty="0"/>
          </a:p>
        </p:txBody>
      </p:sp>
      <p:sp>
        <p:nvSpPr>
          <p:cNvPr id="28" name="Shape 23"/>
          <p:cNvSpPr/>
          <p:nvPr/>
        </p:nvSpPr>
        <p:spPr>
          <a:xfrm>
            <a:off x="457200" y="2130552"/>
            <a:ext cx="8229600" cy="310896"/>
          </a:xfrm>
          <a:prstGeom prst="roundRect">
            <a:avLst>
              <a:gd name="adj" fmla="val 14706"/>
            </a:avLst>
          </a:prstGeom>
          <a:solidFill>
            <a:srgbClr val="FFFFFF"/>
          </a:solidFill>
          <a:ln w="6350">
            <a:solidFill>
              <a:srgbClr val="D5DED9"/>
            </a:solidFill>
            <a:prstDash val="solid"/>
          </a:ln>
        </p:spPr>
      </p:sp>
      <p:sp>
        <p:nvSpPr>
          <p:cNvPr id="29" name="Text 24"/>
          <p:cNvSpPr txBox="1"/>
          <p:nvPr/>
        </p:nvSpPr>
        <p:spPr>
          <a:xfrm>
            <a:off x="594360" y="2130552"/>
            <a:ext cx="1554480" cy="310896"/>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Concepts</a:t>
            </a:r>
            <a:endParaRPr lang="en-US" sz="1100" dirty="0"/>
          </a:p>
        </p:txBody>
      </p:sp>
      <p:sp>
        <p:nvSpPr>
          <p:cNvPr id="30" name="Text 25"/>
          <p:cNvSpPr txBox="1"/>
          <p:nvPr/>
        </p:nvSpPr>
        <p:spPr>
          <a:xfrm>
            <a:off x="2331720" y="2130552"/>
            <a:ext cx="2926080" cy="310896"/>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Définis par le statisticien</a:t>
            </a:r>
            <a:endParaRPr lang="en-US" sz="1100" dirty="0"/>
          </a:p>
        </p:txBody>
      </p:sp>
      <p:sp>
        <p:nvSpPr>
          <p:cNvPr id="31" name="Text 26"/>
          <p:cNvSpPr txBox="1"/>
          <p:nvPr/>
        </p:nvSpPr>
        <p:spPr>
          <a:xfrm>
            <a:off x="5440680" y="2130552"/>
            <a:ext cx="2926080" cy="310896"/>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Définis par le producteur des données</a:t>
            </a:r>
            <a:endParaRPr lang="en-US" sz="1100" dirty="0"/>
          </a:p>
        </p:txBody>
      </p:sp>
      <p:sp>
        <p:nvSpPr>
          <p:cNvPr id="32" name="Shape 27"/>
          <p:cNvSpPr/>
          <p:nvPr/>
        </p:nvSpPr>
        <p:spPr>
          <a:xfrm>
            <a:off x="457200" y="2487168"/>
            <a:ext cx="8229600" cy="310896"/>
          </a:xfrm>
          <a:prstGeom prst="roundRect">
            <a:avLst>
              <a:gd name="adj" fmla="val 14706"/>
            </a:avLst>
          </a:prstGeom>
          <a:solidFill>
            <a:srgbClr val="F4F7F5"/>
          </a:solidFill>
          <a:ln w="6350">
            <a:solidFill>
              <a:srgbClr val="D5DED9"/>
            </a:solidFill>
            <a:prstDash val="solid"/>
          </a:ln>
        </p:spPr>
      </p:sp>
      <p:sp>
        <p:nvSpPr>
          <p:cNvPr id="33" name="Text 28"/>
          <p:cNvSpPr txBox="1"/>
          <p:nvPr/>
        </p:nvSpPr>
        <p:spPr>
          <a:xfrm>
            <a:off x="594360" y="2487168"/>
            <a:ext cx="1554480" cy="310896"/>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Population</a:t>
            </a:r>
            <a:endParaRPr lang="en-US" sz="1100" dirty="0"/>
          </a:p>
        </p:txBody>
      </p:sp>
      <p:sp>
        <p:nvSpPr>
          <p:cNvPr id="34" name="Text 29"/>
          <p:cNvSpPr txBox="1"/>
          <p:nvPr/>
        </p:nvSpPr>
        <p:spPr>
          <a:xfrm>
            <a:off x="2331720" y="2487168"/>
            <a:ext cx="2926080" cy="310896"/>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Base de sondage connue</a:t>
            </a:r>
            <a:endParaRPr lang="en-US" sz="1100" dirty="0"/>
          </a:p>
        </p:txBody>
      </p:sp>
      <p:sp>
        <p:nvSpPr>
          <p:cNvPr id="35" name="Text 30"/>
          <p:cNvSpPr txBox="1"/>
          <p:nvPr/>
        </p:nvSpPr>
        <p:spPr>
          <a:xfrm>
            <a:off x="5440680" y="2487168"/>
            <a:ext cx="2926080" cy="310896"/>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Utilisateurs auto-sélectionnés, inconnus</a:t>
            </a:r>
            <a:endParaRPr lang="en-US" sz="1100" dirty="0"/>
          </a:p>
        </p:txBody>
      </p:sp>
      <p:sp>
        <p:nvSpPr>
          <p:cNvPr id="36" name="Shape 31"/>
          <p:cNvSpPr/>
          <p:nvPr/>
        </p:nvSpPr>
        <p:spPr>
          <a:xfrm>
            <a:off x="457200" y="2843784"/>
            <a:ext cx="8229600" cy="310896"/>
          </a:xfrm>
          <a:prstGeom prst="roundRect">
            <a:avLst>
              <a:gd name="adj" fmla="val 14706"/>
            </a:avLst>
          </a:prstGeom>
          <a:solidFill>
            <a:srgbClr val="FFFFFF"/>
          </a:solidFill>
          <a:ln w="6350">
            <a:solidFill>
              <a:srgbClr val="D5DED9"/>
            </a:solidFill>
            <a:prstDash val="solid"/>
          </a:ln>
        </p:spPr>
      </p:sp>
      <p:sp>
        <p:nvSpPr>
          <p:cNvPr id="37" name="Text 32"/>
          <p:cNvSpPr txBox="1"/>
          <p:nvPr/>
        </p:nvSpPr>
        <p:spPr>
          <a:xfrm>
            <a:off x="594360" y="2843784"/>
            <a:ext cx="1554480" cy="310896"/>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Délais</a:t>
            </a:r>
            <a:endParaRPr lang="en-US" sz="1100" dirty="0"/>
          </a:p>
        </p:txBody>
      </p:sp>
      <p:sp>
        <p:nvSpPr>
          <p:cNvPr id="38" name="Text 33"/>
          <p:cNvSpPr txBox="1"/>
          <p:nvPr/>
        </p:nvSpPr>
        <p:spPr>
          <a:xfrm>
            <a:off x="2331720" y="2843784"/>
            <a:ext cx="2926080" cy="310896"/>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Des mois à des années</a:t>
            </a:r>
            <a:endParaRPr lang="en-US" sz="1100" dirty="0"/>
          </a:p>
        </p:txBody>
      </p:sp>
      <p:sp>
        <p:nvSpPr>
          <p:cNvPr id="39" name="Text 34"/>
          <p:cNvSpPr txBox="1"/>
          <p:nvPr/>
        </p:nvSpPr>
        <p:spPr>
          <a:xfrm>
            <a:off x="5440680" y="2843784"/>
            <a:ext cx="2926080" cy="310896"/>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Des heures à des jours</a:t>
            </a:r>
            <a:endParaRPr lang="en-US" sz="1100" dirty="0"/>
          </a:p>
        </p:txBody>
      </p:sp>
      <p:sp>
        <p:nvSpPr>
          <p:cNvPr id="40" name="Shape 35"/>
          <p:cNvSpPr/>
          <p:nvPr/>
        </p:nvSpPr>
        <p:spPr>
          <a:xfrm>
            <a:off x="457200" y="3200400"/>
            <a:ext cx="8229600" cy="310896"/>
          </a:xfrm>
          <a:prstGeom prst="roundRect">
            <a:avLst>
              <a:gd name="adj" fmla="val 14706"/>
            </a:avLst>
          </a:prstGeom>
          <a:solidFill>
            <a:srgbClr val="F4F7F5"/>
          </a:solidFill>
          <a:ln w="6350">
            <a:solidFill>
              <a:srgbClr val="D5DED9"/>
            </a:solidFill>
            <a:prstDash val="solid"/>
          </a:ln>
        </p:spPr>
      </p:sp>
      <p:sp>
        <p:nvSpPr>
          <p:cNvPr id="41" name="Text 36"/>
          <p:cNvSpPr txBox="1"/>
          <p:nvPr/>
        </p:nvSpPr>
        <p:spPr>
          <a:xfrm>
            <a:off x="594360" y="3200400"/>
            <a:ext cx="1554480" cy="310896"/>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Granularité</a:t>
            </a:r>
            <a:endParaRPr lang="en-US" sz="1100" dirty="0"/>
          </a:p>
        </p:txBody>
      </p:sp>
      <p:sp>
        <p:nvSpPr>
          <p:cNvPr id="42" name="Text 37"/>
          <p:cNvSpPr txBox="1"/>
          <p:nvPr/>
        </p:nvSpPr>
        <p:spPr>
          <a:xfrm>
            <a:off x="2331720" y="3200400"/>
            <a:ext cx="2926080" cy="310896"/>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Limitée par la taille d'échantillon</a:t>
            </a:r>
            <a:endParaRPr lang="en-US" sz="1100" dirty="0"/>
          </a:p>
        </p:txBody>
      </p:sp>
      <p:sp>
        <p:nvSpPr>
          <p:cNvPr id="43" name="Text 38"/>
          <p:cNvSpPr txBox="1"/>
          <p:nvPr/>
        </p:nvSpPr>
        <p:spPr>
          <a:xfrm>
            <a:off x="5440680" y="3200400"/>
            <a:ext cx="2926080" cy="310896"/>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Très fine — tuile, heure, produit</a:t>
            </a:r>
            <a:endParaRPr lang="en-US" sz="1100" dirty="0"/>
          </a:p>
        </p:txBody>
      </p:sp>
      <p:sp>
        <p:nvSpPr>
          <p:cNvPr id="44" name="Shape 39"/>
          <p:cNvSpPr/>
          <p:nvPr/>
        </p:nvSpPr>
        <p:spPr>
          <a:xfrm>
            <a:off x="457200" y="3557016"/>
            <a:ext cx="8229600" cy="310896"/>
          </a:xfrm>
          <a:prstGeom prst="roundRect">
            <a:avLst>
              <a:gd name="adj" fmla="val 14706"/>
            </a:avLst>
          </a:prstGeom>
          <a:solidFill>
            <a:srgbClr val="FFFFFF"/>
          </a:solidFill>
          <a:ln w="6350">
            <a:solidFill>
              <a:srgbClr val="D5DED9"/>
            </a:solidFill>
            <a:prstDash val="solid"/>
          </a:ln>
        </p:spPr>
      </p:sp>
      <p:sp>
        <p:nvSpPr>
          <p:cNvPr id="45" name="Text 40"/>
          <p:cNvSpPr txBox="1"/>
          <p:nvPr/>
        </p:nvSpPr>
        <p:spPr>
          <a:xfrm>
            <a:off x="594360" y="3557016"/>
            <a:ext cx="1554480" cy="310896"/>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Coût marginal</a:t>
            </a:r>
            <a:endParaRPr lang="en-US" sz="1100" dirty="0"/>
          </a:p>
        </p:txBody>
      </p:sp>
      <p:sp>
        <p:nvSpPr>
          <p:cNvPr id="46" name="Text 41"/>
          <p:cNvSpPr txBox="1"/>
          <p:nvPr/>
        </p:nvSpPr>
        <p:spPr>
          <a:xfrm>
            <a:off x="2331720" y="3557016"/>
            <a:ext cx="2926080" cy="310896"/>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Élevé par observation</a:t>
            </a:r>
            <a:endParaRPr lang="en-US" sz="1100" dirty="0"/>
          </a:p>
        </p:txBody>
      </p:sp>
      <p:sp>
        <p:nvSpPr>
          <p:cNvPr id="47" name="Text 42"/>
          <p:cNvSpPr txBox="1"/>
          <p:nvPr/>
        </p:nvSpPr>
        <p:spPr>
          <a:xfrm>
            <a:off x="5440680" y="3557016"/>
            <a:ext cx="2926080" cy="310896"/>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Faible une fois l'accès obtenu</a:t>
            </a:r>
            <a:endParaRPr lang="en-US" sz="1100" dirty="0"/>
          </a:p>
        </p:txBody>
      </p:sp>
      <p:sp>
        <p:nvSpPr>
          <p:cNvPr id="48" name="Shape 43"/>
          <p:cNvSpPr/>
          <p:nvPr/>
        </p:nvSpPr>
        <p:spPr>
          <a:xfrm>
            <a:off x="457200" y="3913632"/>
            <a:ext cx="8229600" cy="310896"/>
          </a:xfrm>
          <a:prstGeom prst="roundRect">
            <a:avLst>
              <a:gd name="adj" fmla="val 14706"/>
            </a:avLst>
          </a:prstGeom>
          <a:solidFill>
            <a:srgbClr val="F4F7F5"/>
          </a:solidFill>
          <a:ln w="6350">
            <a:solidFill>
              <a:srgbClr val="D5DED9"/>
            </a:solidFill>
            <a:prstDash val="solid"/>
          </a:ln>
        </p:spPr>
      </p:sp>
      <p:sp>
        <p:nvSpPr>
          <p:cNvPr id="49" name="Text 44"/>
          <p:cNvSpPr txBox="1"/>
          <p:nvPr/>
        </p:nvSpPr>
        <p:spPr>
          <a:xfrm>
            <a:off x="594360" y="3913632"/>
            <a:ext cx="1554480" cy="310896"/>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Continuité</a:t>
            </a:r>
            <a:endParaRPr lang="en-US" sz="1100" dirty="0"/>
          </a:p>
        </p:txBody>
      </p:sp>
      <p:sp>
        <p:nvSpPr>
          <p:cNvPr id="50" name="Text 45"/>
          <p:cNvSpPr txBox="1"/>
          <p:nvPr/>
        </p:nvSpPr>
        <p:spPr>
          <a:xfrm>
            <a:off x="2331720" y="3913632"/>
            <a:ext cx="2926080" cy="310896"/>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Garantie par le mandat</a:t>
            </a:r>
            <a:endParaRPr lang="en-US" sz="1100" dirty="0"/>
          </a:p>
        </p:txBody>
      </p:sp>
      <p:sp>
        <p:nvSpPr>
          <p:cNvPr id="51" name="Text 46"/>
          <p:cNvSpPr txBox="1"/>
          <p:nvPr/>
        </p:nvSpPr>
        <p:spPr>
          <a:xfrm>
            <a:off x="5440680" y="3913632"/>
            <a:ext cx="2926080" cy="310896"/>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Dépend d'un tiers</a:t>
            </a:r>
            <a:endParaRPr lang="en-US" sz="1100" dirty="0"/>
          </a:p>
        </p:txBody>
      </p:sp>
      <p:sp>
        <p:nvSpPr>
          <p:cNvPr id="52" name="Shape 47"/>
          <p:cNvSpPr/>
          <p:nvPr/>
        </p:nvSpPr>
        <p:spPr>
          <a:xfrm>
            <a:off x="457200" y="4270248"/>
            <a:ext cx="8229600" cy="310896"/>
          </a:xfrm>
          <a:prstGeom prst="roundRect">
            <a:avLst>
              <a:gd name="adj" fmla="val 14706"/>
            </a:avLst>
          </a:prstGeom>
          <a:solidFill>
            <a:srgbClr val="E8F5EF"/>
          </a:solidFill>
          <a:ln w="15875">
            <a:solidFill>
              <a:srgbClr val="00A86A"/>
            </a:solidFill>
            <a:prstDash val="solid"/>
          </a:ln>
        </p:spPr>
      </p:sp>
      <p:sp>
        <p:nvSpPr>
          <p:cNvPr id="53" name="Text 48"/>
          <p:cNvSpPr txBox="1"/>
          <p:nvPr/>
        </p:nvSpPr>
        <p:spPr>
          <a:xfrm>
            <a:off x="594360" y="4270248"/>
            <a:ext cx="1554480" cy="310896"/>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Faiblesse principale</a:t>
            </a:r>
            <a:endParaRPr lang="en-US" sz="1100" dirty="0"/>
          </a:p>
        </p:txBody>
      </p:sp>
      <p:sp>
        <p:nvSpPr>
          <p:cNvPr id="54" name="Text 49"/>
          <p:cNvSpPr txBox="1"/>
          <p:nvPr/>
        </p:nvSpPr>
        <p:spPr>
          <a:xfrm>
            <a:off x="2331720" y="4270248"/>
            <a:ext cx="2926080" cy="310896"/>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Coût, délai, non-réponse</a:t>
            </a:r>
            <a:endParaRPr lang="en-US" sz="1100" dirty="0"/>
          </a:p>
        </p:txBody>
      </p:sp>
      <p:sp>
        <p:nvSpPr>
          <p:cNvPr id="55" name="Text 50"/>
          <p:cNvSpPr txBox="1"/>
          <p:nvPr/>
        </p:nvSpPr>
        <p:spPr>
          <a:xfrm>
            <a:off x="5440680" y="4270248"/>
            <a:ext cx="2926080" cy="310896"/>
          </a:xfrm>
          <a:prstGeom prst="rect">
            <a:avLst/>
          </a:prstGeom>
          <a:noFill/>
          <a:ln/>
        </p:spPr>
        <p:txBody>
          <a:bodyPr wrap="square" lIns="0" tIns="0" rIns="0" bIns="0" rtlCol="0" anchor="ctr"/>
          <a:lstStyle/>
          <a:p>
            <a:pPr indent="0" marL="0">
              <a:buNone/>
            </a:pPr>
            <a:r>
              <a:rPr lang="en-US" sz="1100" dirty="0">
                <a:solidFill>
                  <a:srgbClr val="5E6964"/>
                </a:solidFill>
                <a:latin typeface="Calibri" pitchFamily="34" charset="0"/>
                <a:ea typeface="Calibri" pitchFamily="34" charset="-122"/>
                <a:cs typeface="Calibri" pitchFamily="34" charset="-120"/>
              </a:rPr>
              <a:t>Biais de couverture, instabilité</a:t>
            </a:r>
            <a:endParaRPr lang="en-US" sz="11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640080"/>
            <a:ext cx="3657600" cy="22860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SECTION 2 SUR 6</a:t>
            </a:r>
            <a:endParaRPr lang="en-US" sz="1100" dirty="0"/>
          </a:p>
        </p:txBody>
      </p:sp>
      <p:sp>
        <p:nvSpPr>
          <p:cNvPr id="4" name="Text 1"/>
          <p:cNvSpPr txBox="1"/>
          <p:nvPr/>
        </p:nvSpPr>
        <p:spPr>
          <a:xfrm>
            <a:off x="502920" y="914400"/>
            <a:ext cx="2743200" cy="1280160"/>
          </a:xfrm>
          <a:prstGeom prst="rect">
            <a:avLst/>
          </a:prstGeom>
          <a:noFill/>
          <a:ln/>
        </p:spPr>
        <p:txBody>
          <a:bodyPr wrap="square" lIns="0" tIns="0" rIns="0" bIns="0" rtlCol="0" anchor="t"/>
          <a:lstStyle/>
          <a:p>
            <a:pPr indent="0" marL="0">
              <a:buNone/>
            </a:pPr>
            <a:r>
              <a:rPr lang="en-US" sz="9600" b="1" dirty="0">
                <a:solidFill>
                  <a:srgbClr val="F5C242"/>
                </a:solidFill>
                <a:latin typeface="Calibri" pitchFamily="34" charset="0"/>
                <a:ea typeface="Calibri" pitchFamily="34" charset="-122"/>
                <a:cs typeface="Calibri" pitchFamily="34" charset="-120"/>
              </a:rPr>
              <a:t>02</a:t>
            </a:r>
            <a:endParaRPr lang="en-US" sz="9600" dirty="0"/>
          </a:p>
        </p:txBody>
      </p:sp>
      <p:sp>
        <p:nvSpPr>
          <p:cNvPr id="5" name="Text 2"/>
          <p:cNvSpPr txBox="1"/>
          <p:nvPr/>
        </p:nvSpPr>
        <p:spPr>
          <a:xfrm>
            <a:off x="548640" y="2331720"/>
            <a:ext cx="5486400" cy="68580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Taxonomie</a:t>
            </a:r>
            <a:endParaRPr lang="en-US" sz="3600" dirty="0"/>
          </a:p>
        </p:txBody>
      </p:sp>
      <p:sp>
        <p:nvSpPr>
          <p:cNvPr id="6" name="Text 3"/>
          <p:cNvSpPr txBox="1"/>
          <p:nvPr/>
        </p:nvSpPr>
        <p:spPr>
          <a:xfrm>
            <a:off x="548640" y="3108960"/>
            <a:ext cx="475488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Comment nommer, classer et comparer des sources qui n'ont jamais été conçues comme des statistiques ?</a:t>
            </a:r>
            <a:endParaRPr lang="en-US" sz="1800" dirty="0"/>
          </a:p>
        </p:txBody>
      </p:sp>
      <p:sp>
        <p:nvSpPr>
          <p:cNvPr id="7" name="Shape 4"/>
          <p:cNvSpPr/>
          <p:nvPr/>
        </p:nvSpPr>
        <p:spPr>
          <a:xfrm>
            <a:off x="566928" y="4343400"/>
            <a:ext cx="100584" cy="100584"/>
          </a:xfrm>
          <a:prstGeom prst="ellipse">
            <a:avLst/>
          </a:prstGeom>
          <a:solidFill>
            <a:srgbClr val="FFFFFF">
              <a:alpha val="35000"/>
            </a:srgbClr>
          </a:solidFill>
          <a:ln/>
        </p:spPr>
      </p:sp>
      <p:sp>
        <p:nvSpPr>
          <p:cNvPr id="8" name="Shape 5"/>
          <p:cNvSpPr/>
          <p:nvPr/>
        </p:nvSpPr>
        <p:spPr>
          <a:xfrm>
            <a:off x="749808" y="4343400"/>
            <a:ext cx="100584" cy="100584"/>
          </a:xfrm>
          <a:prstGeom prst="ellipse">
            <a:avLst/>
          </a:prstGeom>
          <a:solidFill>
            <a:srgbClr val="F5C242"/>
          </a:solidFill>
          <a:ln/>
        </p:spPr>
      </p:sp>
      <p:sp>
        <p:nvSpPr>
          <p:cNvPr id="9" name="Shape 6"/>
          <p:cNvSpPr/>
          <p:nvPr/>
        </p:nvSpPr>
        <p:spPr>
          <a:xfrm>
            <a:off x="932688" y="4343400"/>
            <a:ext cx="100584" cy="100584"/>
          </a:xfrm>
          <a:prstGeom prst="ellipse">
            <a:avLst/>
          </a:prstGeom>
          <a:solidFill>
            <a:srgbClr val="FFFFFF">
              <a:alpha val="35000"/>
            </a:srgbClr>
          </a:solidFill>
          <a:ln/>
        </p:spPr>
      </p:sp>
      <p:sp>
        <p:nvSpPr>
          <p:cNvPr id="10" name="Shape 7"/>
          <p:cNvSpPr/>
          <p:nvPr/>
        </p:nvSpPr>
        <p:spPr>
          <a:xfrm>
            <a:off x="1115568" y="4343400"/>
            <a:ext cx="100584" cy="100584"/>
          </a:xfrm>
          <a:prstGeom prst="ellipse">
            <a:avLst/>
          </a:prstGeom>
          <a:solidFill>
            <a:srgbClr val="FFFFFF">
              <a:alpha val="35000"/>
            </a:srgbClr>
          </a:solidFill>
          <a:ln/>
        </p:spPr>
      </p:sp>
      <p:sp>
        <p:nvSpPr>
          <p:cNvPr id="11" name="Shape 8"/>
          <p:cNvSpPr/>
          <p:nvPr/>
        </p:nvSpPr>
        <p:spPr>
          <a:xfrm>
            <a:off x="1298448" y="4343400"/>
            <a:ext cx="100584" cy="100584"/>
          </a:xfrm>
          <a:prstGeom prst="ellipse">
            <a:avLst/>
          </a:prstGeom>
          <a:solidFill>
            <a:srgbClr val="FFFFFF">
              <a:alpha val="35000"/>
            </a:srgbClr>
          </a:solidFill>
          <a:ln/>
        </p:spPr>
      </p:sp>
      <p:sp>
        <p:nvSpPr>
          <p:cNvPr id="12" name="Shape 9"/>
          <p:cNvSpPr/>
          <p:nvPr/>
        </p:nvSpPr>
        <p:spPr>
          <a:xfrm>
            <a:off x="1481328" y="4343400"/>
            <a:ext cx="100584" cy="100584"/>
          </a:xfrm>
          <a:prstGeom prst="ellipse">
            <a:avLst/>
          </a:prstGeom>
          <a:solidFill>
            <a:srgbClr val="FFFFFF">
              <a:alpha val="35000"/>
            </a:srgbClr>
          </a:solidFill>
          <a:ln/>
        </p:spPr>
      </p:sp>
      <p:sp>
        <p:nvSpPr>
          <p:cNvPr id="13" name="Shape 10"/>
          <p:cNvSpPr/>
          <p:nvPr/>
        </p:nvSpPr>
        <p:spPr>
          <a:xfrm>
            <a:off x="5989320" y="1143000"/>
            <a:ext cx="2651760" cy="2651760"/>
          </a:xfrm>
          <a:prstGeom prst="ellipse">
            <a:avLst/>
          </a:prstGeom>
          <a:solidFill>
            <a:srgbClr val="FFFFFF">
              <a:alpha val="12000"/>
            </a:srgbClr>
          </a:solidFill>
          <a:ln/>
        </p:spPr>
      </p:sp>
      <p:sp>
        <p:nvSpPr>
          <p:cNvPr id="14" name="Shape 11"/>
          <p:cNvSpPr/>
          <p:nvPr/>
        </p:nvSpPr>
        <p:spPr>
          <a:xfrm>
            <a:off x="6355080" y="1508760"/>
            <a:ext cx="1920240" cy="1920240"/>
          </a:xfrm>
          <a:prstGeom prst="ellipse">
            <a:avLst/>
          </a:prstGeom>
          <a:solidFill>
            <a:srgbClr val="FFFFFF">
              <a:alpha val="20000"/>
            </a:srgbClr>
          </a:solidFill>
          <a:ln/>
        </p:spPr>
      </p:sp>
      <p:sp>
        <p:nvSpPr>
          <p:cNvPr id="15" name="Shape 12"/>
          <p:cNvSpPr/>
          <p:nvPr/>
        </p:nvSpPr>
        <p:spPr>
          <a:xfrm>
            <a:off x="6675120" y="1828800"/>
            <a:ext cx="1280160" cy="1280160"/>
          </a:xfrm>
          <a:prstGeom prst="ellipse">
            <a:avLst/>
          </a:prstGeom>
          <a:solidFill>
            <a:srgbClr val="FFFFFF"/>
          </a:solidFill>
          <a:ln/>
        </p:spPr>
      </p:sp>
      <p:pic>
        <p:nvPicPr>
          <p:cNvPr id="16" name="Image 0" descr="preencoded.png">    </p:cNvPr>
          <p:cNvPicPr>
            <a:picLocks noChangeAspect="1"/>
          </p:cNvPicPr>
          <p:nvPr/>
        </p:nvPicPr>
        <p:blipFill>
          <a:blip r:embed="rId2"/>
          <a:stretch>
            <a:fillRect/>
          </a:stretch>
        </p:blipFill>
        <p:spPr>
          <a:xfrm>
            <a:off x="6995160" y="2148840"/>
            <a:ext cx="640080" cy="640080"/>
          </a:xfrm>
          <a:prstGeom prst="rect">
            <a:avLst/>
          </a:prstGeom>
        </p:spPr>
      </p:pic>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TAXONOMIE</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Qu'est-ce qu'une source « non traditionnelle » ?</a:t>
            </a:r>
            <a:endParaRPr lang="en-US" sz="2400" dirty="0"/>
          </a:p>
        </p:txBody>
      </p:sp>
      <p:sp>
        <p:nvSpPr>
          <p:cNvPr id="8" name="Shape 6"/>
          <p:cNvSpPr/>
          <p:nvPr/>
        </p:nvSpPr>
        <p:spPr>
          <a:xfrm>
            <a:off x="7662672" y="329184"/>
            <a:ext cx="100584" cy="100584"/>
          </a:xfrm>
          <a:prstGeom prst="ellipse">
            <a:avLst/>
          </a:prstGeom>
          <a:solidFill>
            <a:srgbClr val="D5DED9"/>
          </a:solidFill>
          <a:ln/>
        </p:spPr>
      </p:sp>
      <p:sp>
        <p:nvSpPr>
          <p:cNvPr id="9" name="Shape 7"/>
          <p:cNvSpPr/>
          <p:nvPr/>
        </p:nvSpPr>
        <p:spPr>
          <a:xfrm>
            <a:off x="7845552" y="329184"/>
            <a:ext cx="100584" cy="100584"/>
          </a:xfrm>
          <a:prstGeom prst="ellipse">
            <a:avLst/>
          </a:prstGeom>
          <a:solidFill>
            <a:srgbClr val="00704A"/>
          </a:solidFill>
          <a:ln/>
        </p:spPr>
      </p:sp>
      <p:sp>
        <p:nvSpPr>
          <p:cNvPr id="10" name="Shape 8"/>
          <p:cNvSpPr/>
          <p:nvPr/>
        </p:nvSpPr>
        <p:spPr>
          <a:xfrm>
            <a:off x="8028432" y="329184"/>
            <a:ext cx="100584" cy="100584"/>
          </a:xfrm>
          <a:prstGeom prst="ellipse">
            <a:avLst/>
          </a:prstGeom>
          <a:solidFill>
            <a:srgbClr val="D5DED9"/>
          </a:solidFill>
          <a:ln/>
        </p:spPr>
      </p:sp>
      <p:sp>
        <p:nvSpPr>
          <p:cNvPr id="11" name="Shape 9"/>
          <p:cNvSpPr/>
          <p:nvPr/>
        </p:nvSpPr>
        <p:spPr>
          <a:xfrm>
            <a:off x="8211312" y="329184"/>
            <a:ext cx="100584" cy="100584"/>
          </a:xfrm>
          <a:prstGeom prst="ellipse">
            <a:avLst/>
          </a:prstGeom>
          <a:solidFill>
            <a:srgbClr val="D5DED9"/>
          </a:solidFill>
          <a:ln/>
        </p:spPr>
      </p:sp>
      <p:sp>
        <p:nvSpPr>
          <p:cNvPr id="12" name="Shape 10"/>
          <p:cNvSpPr/>
          <p:nvPr/>
        </p:nvSpPr>
        <p:spPr>
          <a:xfrm>
            <a:off x="8394192" y="329184"/>
            <a:ext cx="100584" cy="100584"/>
          </a:xfrm>
          <a:prstGeom prst="ellipse">
            <a:avLst/>
          </a:prstGeom>
          <a:solidFill>
            <a:srgbClr val="D5DED9"/>
          </a:solidFill>
          <a:ln/>
        </p:spPr>
      </p:sp>
      <p:sp>
        <p:nvSpPr>
          <p:cNvPr id="13" name="Shape 11"/>
          <p:cNvSpPr/>
          <p:nvPr/>
        </p:nvSpPr>
        <p:spPr>
          <a:xfrm>
            <a:off x="8577072" y="329184"/>
            <a:ext cx="100584" cy="100584"/>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Sources de données non traditionnelles · Le trésor caché · Atelier STG17</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10</a:t>
            </a:r>
            <a:endParaRPr lang="en-US" sz="850" dirty="0"/>
          </a:p>
        </p:txBody>
      </p:sp>
      <p:sp>
        <p:nvSpPr>
          <p:cNvPr id="17" name="Shape 14"/>
          <p:cNvSpPr/>
          <p:nvPr/>
        </p:nvSpPr>
        <p:spPr>
          <a:xfrm>
            <a:off x="457200" y="1051560"/>
            <a:ext cx="8229600" cy="868680"/>
          </a:xfrm>
          <a:prstGeom prst="roundRect">
            <a:avLst>
              <a:gd name="adj" fmla="val 8421"/>
            </a:avLst>
          </a:prstGeom>
          <a:solidFill>
            <a:srgbClr val="E8F5EF"/>
          </a:solidFill>
          <a:ln w="15875">
            <a:solidFill>
              <a:srgbClr val="00A86A"/>
            </a:solidFill>
            <a:prstDash val="solid"/>
          </a:ln>
        </p:spPr>
      </p:sp>
      <p:sp>
        <p:nvSpPr>
          <p:cNvPr id="18" name="Shape 15"/>
          <p:cNvSpPr/>
          <p:nvPr/>
        </p:nvSpPr>
        <p:spPr>
          <a:xfrm>
            <a:off x="640080" y="1216152"/>
            <a:ext cx="530352" cy="530352"/>
          </a:xfrm>
          <a:prstGeom prst="ellipse">
            <a:avLst/>
          </a:prstGeom>
          <a:solidFill>
            <a:srgbClr val="00A86A">
              <a:alpha val="22000"/>
            </a:srgbClr>
          </a:solidFill>
          <a:ln/>
        </p:spPr>
      </p:sp>
      <p:pic>
        <p:nvPicPr>
          <p:cNvPr id="19" name="Image 0" descr="preencoded.png">    </p:cNvPr>
          <p:cNvPicPr>
            <a:picLocks noChangeAspect="1"/>
          </p:cNvPicPr>
          <p:nvPr/>
        </p:nvPicPr>
        <p:blipFill>
          <a:blip r:embed="rId1"/>
          <a:stretch>
            <a:fillRect/>
          </a:stretch>
        </p:blipFill>
        <p:spPr>
          <a:xfrm>
            <a:off x="772668" y="1348740"/>
            <a:ext cx="265176" cy="265176"/>
          </a:xfrm>
          <a:prstGeom prst="rect">
            <a:avLst/>
          </a:prstGeom>
        </p:spPr>
      </p:pic>
      <p:sp>
        <p:nvSpPr>
          <p:cNvPr id="20" name="Text 16"/>
          <p:cNvSpPr txBox="1"/>
          <p:nvPr/>
        </p:nvSpPr>
        <p:spPr>
          <a:xfrm>
            <a:off x="1325880" y="1097280"/>
            <a:ext cx="7269480" cy="768096"/>
          </a:xfrm>
          <a:prstGeom prst="rect">
            <a:avLst/>
          </a:prstGeom>
          <a:noFill/>
          <a:ln/>
        </p:spPr>
        <p:txBody>
          <a:bodyPr wrap="square" lIns="0" tIns="0" rIns="0" bIns="0" rtlCol="0" anchor="ctr"/>
          <a:lstStyle/>
          <a:p>
            <a:pPr indent="0" marL="0">
              <a:buNone/>
            </a:pPr>
            <a:r>
              <a:rPr lang="en-US" sz="1200" b="1" dirty="0">
                <a:solidFill>
                  <a:srgbClr val="00704A"/>
                </a:solidFill>
                <a:latin typeface="Calibri" pitchFamily="34" charset="0"/>
                <a:ea typeface="Calibri" pitchFamily="34" charset="-122"/>
                <a:cs typeface="Calibri" pitchFamily="34" charset="-120"/>
              </a:rPr>
              <a:t>Définition de travail. </a:t>
            </a:r>
            <a:pPr indent="0" marL="0">
              <a:buNone/>
            </a:pPr>
            <a:r>
              <a:rPr lang="en-US" sz="1200" dirty="0">
                <a:solidFill>
                  <a:srgbClr val="231F20"/>
                </a:solidFill>
                <a:latin typeface="Calibri" pitchFamily="34" charset="0"/>
                <a:ea typeface="Calibri" pitchFamily="34" charset="-122"/>
                <a:cs typeface="Calibri" pitchFamily="34" charset="-120"/>
              </a:rPr>
              <a:t>Données produites comme sous-produit d'une activité menée à une autre fin que la statistique — une transaction, un service, un capteur, une publication — et réutilisées pour produire des éléments probants statistiques.</a:t>
            </a:r>
            <a:endParaRPr lang="en-US" sz="1200" dirty="0"/>
          </a:p>
        </p:txBody>
      </p:sp>
      <p:sp>
        <p:nvSpPr>
          <p:cNvPr id="21" name="Text 17"/>
          <p:cNvSpPr txBox="1"/>
          <p:nvPr/>
        </p:nvSpPr>
        <p:spPr>
          <a:xfrm>
            <a:off x="457200" y="2075688"/>
            <a:ext cx="5486400" cy="256032"/>
          </a:xfrm>
          <a:prstGeom prst="rect">
            <a:avLst/>
          </a:prstGeom>
          <a:noFill/>
          <a:ln/>
        </p:spPr>
        <p:txBody>
          <a:bodyPr wrap="square" lIns="0" tIns="0" rIns="0" bIns="0" rtlCol="0" anchor="t"/>
          <a:lstStyle/>
          <a:p>
            <a:pPr indent="0" marL="0">
              <a:buNone/>
            </a:pPr>
            <a:r>
              <a:rPr lang="en-US" sz="1300" b="1" dirty="0">
                <a:solidFill>
                  <a:srgbClr val="00704A"/>
                </a:solidFill>
                <a:latin typeface="Calibri" pitchFamily="34" charset="0"/>
                <a:ea typeface="Calibri" pitchFamily="34" charset="-122"/>
                <a:cs typeface="Calibri" pitchFamily="34" charset="-120"/>
              </a:rPr>
              <a:t>Classification de la CEE-ONU selon le processus de production</a:t>
            </a:r>
            <a:endParaRPr lang="en-US" sz="1300" dirty="0"/>
          </a:p>
        </p:txBody>
      </p:sp>
      <p:sp>
        <p:nvSpPr>
          <p:cNvPr id="22" name="Shape 18"/>
          <p:cNvSpPr/>
          <p:nvPr/>
        </p:nvSpPr>
        <p:spPr>
          <a:xfrm>
            <a:off x="457200" y="2395728"/>
            <a:ext cx="2615184" cy="1572768"/>
          </a:xfrm>
          <a:prstGeom prst="roundRect">
            <a:avLst>
              <a:gd name="adj" fmla="val 4651"/>
            </a:avLst>
          </a:prstGeom>
          <a:solidFill>
            <a:srgbClr val="F4F7F5"/>
          </a:solidFill>
          <a:ln w="9525">
            <a:solidFill>
              <a:srgbClr val="D5DED9"/>
            </a:solidFill>
            <a:prstDash val="solid"/>
          </a:ln>
        </p:spPr>
      </p:sp>
      <p:sp>
        <p:nvSpPr>
          <p:cNvPr id="23" name="Shape 19"/>
          <p:cNvSpPr/>
          <p:nvPr/>
        </p:nvSpPr>
        <p:spPr>
          <a:xfrm>
            <a:off x="594360" y="2514600"/>
            <a:ext cx="438912" cy="438912"/>
          </a:xfrm>
          <a:prstGeom prst="ellipse">
            <a:avLst/>
          </a:prstGeom>
          <a:solidFill>
            <a:srgbClr val="00A86A">
              <a:alpha val="22000"/>
            </a:srgbClr>
          </a:solidFill>
          <a:ln/>
        </p:spPr>
      </p:sp>
      <p:pic>
        <p:nvPicPr>
          <p:cNvPr id="24" name="Image 1" descr="preencoded.png">    </p:cNvPr>
          <p:cNvPicPr>
            <a:picLocks noChangeAspect="1"/>
          </p:cNvPicPr>
          <p:nvPr/>
        </p:nvPicPr>
        <p:blipFill>
          <a:blip r:embed="rId2"/>
          <a:stretch>
            <a:fillRect/>
          </a:stretch>
        </p:blipFill>
        <p:spPr>
          <a:xfrm>
            <a:off x="704088" y="2624328"/>
            <a:ext cx="219456" cy="219456"/>
          </a:xfrm>
          <a:prstGeom prst="rect">
            <a:avLst/>
          </a:prstGeom>
        </p:spPr>
      </p:pic>
      <p:sp>
        <p:nvSpPr>
          <p:cNvPr id="25" name="Text 20"/>
          <p:cNvSpPr txBox="1"/>
          <p:nvPr/>
        </p:nvSpPr>
        <p:spPr>
          <a:xfrm>
            <a:off x="1115568" y="2560320"/>
            <a:ext cx="1874520" cy="347472"/>
          </a:xfrm>
          <a:prstGeom prst="rect">
            <a:avLst/>
          </a:prstGeom>
          <a:noFill/>
          <a:ln/>
        </p:spPr>
        <p:txBody>
          <a:bodyPr wrap="square" lIns="0" tIns="0" rIns="0" bIns="0" rtlCol="0" anchor="ctr"/>
          <a:lstStyle/>
          <a:p>
            <a:pPr indent="0" marL="0">
              <a:buNone/>
            </a:pPr>
            <a:r>
              <a:rPr lang="en-US" sz="1300" b="1" dirty="0">
                <a:solidFill>
                  <a:srgbClr val="00A86A"/>
                </a:solidFill>
                <a:latin typeface="Calibri" pitchFamily="34" charset="0"/>
                <a:ea typeface="Calibri" pitchFamily="34" charset="-122"/>
                <a:cs typeface="Calibri" pitchFamily="34" charset="-120"/>
              </a:rPr>
              <a:t>D'origine humaine</a:t>
            </a:r>
            <a:endParaRPr lang="en-US" sz="1300" dirty="0"/>
          </a:p>
        </p:txBody>
      </p:sp>
      <p:sp>
        <p:nvSpPr>
          <p:cNvPr id="26" name="Text 21"/>
          <p:cNvSpPr txBox="1"/>
          <p:nvPr/>
        </p:nvSpPr>
        <p:spPr>
          <a:xfrm>
            <a:off x="594360" y="3017520"/>
            <a:ext cx="2331720" cy="365760"/>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Des personnes consignent leurs expériences, souvent en ligne.</a:t>
            </a:r>
            <a:endParaRPr lang="en-US" sz="1050" dirty="0"/>
          </a:p>
        </p:txBody>
      </p:sp>
      <p:sp>
        <p:nvSpPr>
          <p:cNvPr id="27" name="Text 22"/>
          <p:cNvSpPr txBox="1"/>
          <p:nvPr/>
        </p:nvSpPr>
        <p:spPr>
          <a:xfrm>
            <a:off x="594360" y="3401568"/>
            <a:ext cx="2331720" cy="50292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Réseaux sociaux · recherches web · avis · cartographie participative · tests de débit</a:t>
            </a:r>
            <a:endParaRPr lang="en-US" sz="1000" dirty="0"/>
          </a:p>
        </p:txBody>
      </p:sp>
      <p:sp>
        <p:nvSpPr>
          <p:cNvPr id="28" name="Shape 23"/>
          <p:cNvSpPr/>
          <p:nvPr/>
        </p:nvSpPr>
        <p:spPr>
          <a:xfrm>
            <a:off x="3264408" y="2395728"/>
            <a:ext cx="2615184" cy="1572768"/>
          </a:xfrm>
          <a:prstGeom prst="roundRect">
            <a:avLst>
              <a:gd name="adj" fmla="val 4651"/>
            </a:avLst>
          </a:prstGeom>
          <a:solidFill>
            <a:srgbClr val="F4F7F5"/>
          </a:solidFill>
          <a:ln w="9525">
            <a:solidFill>
              <a:srgbClr val="D5DED9"/>
            </a:solidFill>
            <a:prstDash val="solid"/>
          </a:ln>
        </p:spPr>
      </p:sp>
      <p:sp>
        <p:nvSpPr>
          <p:cNvPr id="29" name="Shape 24"/>
          <p:cNvSpPr/>
          <p:nvPr/>
        </p:nvSpPr>
        <p:spPr>
          <a:xfrm>
            <a:off x="3401568" y="2514600"/>
            <a:ext cx="438912" cy="438912"/>
          </a:xfrm>
          <a:prstGeom prst="ellipse">
            <a:avLst/>
          </a:prstGeom>
          <a:solidFill>
            <a:srgbClr val="0E7C86">
              <a:alpha val="22000"/>
            </a:srgbClr>
          </a:solidFill>
          <a:ln/>
        </p:spPr>
      </p:sp>
      <p:pic>
        <p:nvPicPr>
          <p:cNvPr id="30" name="Image 2" descr="preencoded.png">    </p:cNvPr>
          <p:cNvPicPr>
            <a:picLocks noChangeAspect="1"/>
          </p:cNvPicPr>
          <p:nvPr/>
        </p:nvPicPr>
        <p:blipFill>
          <a:blip r:embed="rId3"/>
          <a:stretch>
            <a:fillRect/>
          </a:stretch>
        </p:blipFill>
        <p:spPr>
          <a:xfrm>
            <a:off x="3511296" y="2624328"/>
            <a:ext cx="219456" cy="219456"/>
          </a:xfrm>
          <a:prstGeom prst="rect">
            <a:avLst/>
          </a:prstGeom>
        </p:spPr>
      </p:pic>
      <p:sp>
        <p:nvSpPr>
          <p:cNvPr id="31" name="Text 25"/>
          <p:cNvSpPr txBox="1"/>
          <p:nvPr/>
        </p:nvSpPr>
        <p:spPr>
          <a:xfrm>
            <a:off x="3922776" y="2560320"/>
            <a:ext cx="1874520" cy="347472"/>
          </a:xfrm>
          <a:prstGeom prst="rect">
            <a:avLst/>
          </a:prstGeom>
          <a:noFill/>
          <a:ln/>
        </p:spPr>
        <p:txBody>
          <a:bodyPr wrap="square" lIns="0" tIns="0" rIns="0" bIns="0" rtlCol="0" anchor="ctr"/>
          <a:lstStyle/>
          <a:p>
            <a:pPr indent="0" marL="0">
              <a:buNone/>
            </a:pPr>
            <a:r>
              <a:rPr lang="en-US" sz="1300" b="1" dirty="0">
                <a:solidFill>
                  <a:srgbClr val="0E7C86"/>
                </a:solidFill>
                <a:latin typeface="Calibri" pitchFamily="34" charset="0"/>
                <a:ea typeface="Calibri" pitchFamily="34" charset="-122"/>
                <a:cs typeface="Calibri" pitchFamily="34" charset="-120"/>
              </a:rPr>
              <a:t>Issues de processus</a:t>
            </a:r>
            <a:endParaRPr lang="en-US" sz="1300" dirty="0"/>
          </a:p>
        </p:txBody>
      </p:sp>
      <p:sp>
        <p:nvSpPr>
          <p:cNvPr id="32" name="Text 26"/>
          <p:cNvSpPr txBox="1"/>
          <p:nvPr/>
        </p:nvSpPr>
        <p:spPr>
          <a:xfrm>
            <a:off x="3401568" y="3017520"/>
            <a:ext cx="2331720" cy="365760"/>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Traces laissées par des processus commerciaux ou administratifs.</a:t>
            </a:r>
            <a:endParaRPr lang="en-US" sz="1050" dirty="0"/>
          </a:p>
        </p:txBody>
      </p:sp>
      <p:sp>
        <p:nvSpPr>
          <p:cNvPr id="33" name="Text 27"/>
          <p:cNvSpPr txBox="1"/>
          <p:nvPr/>
        </p:nvSpPr>
        <p:spPr>
          <a:xfrm>
            <a:off x="3401568" y="3401568"/>
            <a:ext cx="2331720" cy="50292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Données de caisse et de carte · mobile money · CDR · factures électroniques</a:t>
            </a:r>
            <a:endParaRPr lang="en-US" sz="1000" dirty="0"/>
          </a:p>
        </p:txBody>
      </p:sp>
      <p:sp>
        <p:nvSpPr>
          <p:cNvPr id="34" name="Shape 28"/>
          <p:cNvSpPr/>
          <p:nvPr/>
        </p:nvSpPr>
        <p:spPr>
          <a:xfrm>
            <a:off x="6071616" y="2395728"/>
            <a:ext cx="2615184" cy="1572768"/>
          </a:xfrm>
          <a:prstGeom prst="roundRect">
            <a:avLst>
              <a:gd name="adj" fmla="val 4651"/>
            </a:avLst>
          </a:prstGeom>
          <a:solidFill>
            <a:srgbClr val="F4F7F5"/>
          </a:solidFill>
          <a:ln w="9525">
            <a:solidFill>
              <a:srgbClr val="D5DED9"/>
            </a:solidFill>
            <a:prstDash val="solid"/>
          </a:ln>
        </p:spPr>
      </p:sp>
      <p:sp>
        <p:nvSpPr>
          <p:cNvPr id="35" name="Shape 29"/>
          <p:cNvSpPr/>
          <p:nvPr/>
        </p:nvSpPr>
        <p:spPr>
          <a:xfrm>
            <a:off x="6208776" y="2514600"/>
            <a:ext cx="438912" cy="438912"/>
          </a:xfrm>
          <a:prstGeom prst="ellipse">
            <a:avLst/>
          </a:prstGeom>
          <a:solidFill>
            <a:srgbClr val="00704A">
              <a:alpha val="22000"/>
            </a:srgbClr>
          </a:solidFill>
          <a:ln/>
        </p:spPr>
      </p:sp>
      <p:pic>
        <p:nvPicPr>
          <p:cNvPr id="36" name="Image 3" descr="preencoded.png">    </p:cNvPr>
          <p:cNvPicPr>
            <a:picLocks noChangeAspect="1"/>
          </p:cNvPicPr>
          <p:nvPr/>
        </p:nvPicPr>
        <p:blipFill>
          <a:blip r:embed="rId4"/>
          <a:stretch>
            <a:fillRect/>
          </a:stretch>
        </p:blipFill>
        <p:spPr>
          <a:xfrm>
            <a:off x="6318504" y="2624328"/>
            <a:ext cx="219456" cy="219456"/>
          </a:xfrm>
          <a:prstGeom prst="rect">
            <a:avLst/>
          </a:prstGeom>
        </p:spPr>
      </p:pic>
      <p:sp>
        <p:nvSpPr>
          <p:cNvPr id="37" name="Text 30"/>
          <p:cNvSpPr txBox="1"/>
          <p:nvPr/>
        </p:nvSpPr>
        <p:spPr>
          <a:xfrm>
            <a:off x="6729984" y="2560320"/>
            <a:ext cx="1874520" cy="347472"/>
          </a:xfrm>
          <a:prstGeom prst="rect">
            <a:avLst/>
          </a:prstGeom>
          <a:noFill/>
          <a:ln/>
        </p:spPr>
        <p:txBody>
          <a:bodyPr wrap="square" lIns="0" tIns="0" rIns="0" bIns="0" rtlCol="0" anchor="ctr"/>
          <a:lstStyle/>
          <a:p>
            <a:pPr indent="0" marL="0">
              <a:buNone/>
            </a:pPr>
            <a:r>
              <a:rPr lang="en-US" sz="1300" b="1" dirty="0">
                <a:solidFill>
                  <a:srgbClr val="00704A"/>
                </a:solidFill>
                <a:latin typeface="Calibri" pitchFamily="34" charset="0"/>
                <a:ea typeface="Calibri" pitchFamily="34" charset="-122"/>
                <a:cs typeface="Calibri" pitchFamily="34" charset="-120"/>
              </a:rPr>
              <a:t>Générées par machine</a:t>
            </a:r>
            <a:endParaRPr lang="en-US" sz="1300" dirty="0"/>
          </a:p>
        </p:txBody>
      </p:sp>
      <p:sp>
        <p:nvSpPr>
          <p:cNvPr id="38" name="Text 31"/>
          <p:cNvSpPr txBox="1"/>
          <p:nvPr/>
        </p:nvSpPr>
        <p:spPr>
          <a:xfrm>
            <a:off x="6208776" y="3017520"/>
            <a:ext cx="2331720" cy="365760"/>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Capteurs et appareils qui observent le monde physique.</a:t>
            </a:r>
            <a:endParaRPr lang="en-US" sz="1050" dirty="0"/>
          </a:p>
        </p:txBody>
      </p:sp>
      <p:sp>
        <p:nvSpPr>
          <p:cNvPr id="39" name="Text 32"/>
          <p:cNvSpPr txBox="1"/>
          <p:nvPr/>
        </p:nvSpPr>
        <p:spPr>
          <a:xfrm>
            <a:off x="6208776" y="3401568"/>
            <a:ext cx="2331720" cy="50292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Imagerie satellitaire · compteurs intelligents · GPS et AIS · capteurs de qualité de l'air</a:t>
            </a:r>
            <a:endParaRPr lang="en-US" sz="1000" dirty="0"/>
          </a:p>
        </p:txBody>
      </p:sp>
      <p:sp>
        <p:nvSpPr>
          <p:cNvPr id="40" name="Shape 33"/>
          <p:cNvSpPr/>
          <p:nvPr/>
        </p:nvSpPr>
        <p:spPr>
          <a:xfrm>
            <a:off x="457200" y="4078224"/>
            <a:ext cx="8229600" cy="457200"/>
          </a:xfrm>
          <a:prstGeom prst="roundRect">
            <a:avLst>
              <a:gd name="adj" fmla="val 12000"/>
            </a:avLst>
          </a:prstGeom>
          <a:solidFill>
            <a:srgbClr val="D49A00">
              <a:alpha val="13000"/>
            </a:srgbClr>
          </a:solidFill>
          <a:ln w="12700">
            <a:solidFill>
              <a:srgbClr val="D49A00"/>
            </a:solidFill>
            <a:prstDash val="solid"/>
          </a:ln>
        </p:spPr>
      </p:sp>
      <p:pic>
        <p:nvPicPr>
          <p:cNvPr id="41" name="Image 4" descr="preencoded.png">    </p:cNvPr>
          <p:cNvPicPr>
            <a:picLocks noChangeAspect="1"/>
          </p:cNvPicPr>
          <p:nvPr/>
        </p:nvPicPr>
        <p:blipFill>
          <a:blip r:embed="rId5"/>
          <a:stretch>
            <a:fillRect/>
          </a:stretch>
        </p:blipFill>
        <p:spPr>
          <a:xfrm>
            <a:off x="585216" y="4169664"/>
            <a:ext cx="274320" cy="274320"/>
          </a:xfrm>
          <a:prstGeom prst="rect">
            <a:avLst/>
          </a:prstGeom>
        </p:spPr>
      </p:pic>
      <p:sp>
        <p:nvSpPr>
          <p:cNvPr id="42" name="Text 34"/>
          <p:cNvSpPr txBox="1"/>
          <p:nvPr/>
        </p:nvSpPr>
        <p:spPr>
          <a:xfrm>
            <a:off x="987552" y="4133088"/>
            <a:ext cx="7571232" cy="347472"/>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Test rapide : si l'enregistrement existerait même si aucun statisticien ne le regardait jamais, la source est non traditionnelle.</a:t>
            </a:r>
            <a:endParaRPr lang="en-US" sz="1100" dirty="0"/>
          </a:p>
        </p:txBody>
      </p:sp>
      <p:sp>
        <p:nvSpPr>
          <p:cNvPr id="43" name="Text 35"/>
          <p:cNvSpPr txBox="1"/>
          <p:nvPr/>
        </p:nvSpPr>
        <p:spPr>
          <a:xfrm>
            <a:off x="457200" y="4626864"/>
            <a:ext cx="749808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Source : CEE-ONU (2013), Classification of Types of Big Data, équipe spéciale Big Data du HLG-MOS.</a:t>
            </a:r>
            <a:endParaRPr lang="en-US" sz="85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TAXONOMIE</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La carte au trésor : six familles de sources</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Regroupées selon ce qu'un INS manipule réellement. Nous ouvrons chaque coffre dans les diapositives suivantes.</a:t>
            </a:r>
            <a:endParaRPr lang="en-US" sz="1150" dirty="0"/>
          </a:p>
        </p:txBody>
      </p:sp>
      <p:sp>
        <p:nvSpPr>
          <p:cNvPr id="9" name="Shape 7"/>
          <p:cNvSpPr/>
          <p:nvPr/>
        </p:nvSpPr>
        <p:spPr>
          <a:xfrm>
            <a:off x="7662672" y="329184"/>
            <a:ext cx="100584" cy="100584"/>
          </a:xfrm>
          <a:prstGeom prst="ellipse">
            <a:avLst/>
          </a:prstGeom>
          <a:solidFill>
            <a:srgbClr val="D5DED9"/>
          </a:solidFill>
          <a:ln/>
        </p:spPr>
      </p:sp>
      <p:sp>
        <p:nvSpPr>
          <p:cNvPr id="10" name="Shape 8"/>
          <p:cNvSpPr/>
          <p:nvPr/>
        </p:nvSpPr>
        <p:spPr>
          <a:xfrm>
            <a:off x="7845552" y="329184"/>
            <a:ext cx="100584" cy="100584"/>
          </a:xfrm>
          <a:prstGeom prst="ellipse">
            <a:avLst/>
          </a:prstGeom>
          <a:solidFill>
            <a:srgbClr val="00704A"/>
          </a:solidFill>
          <a:ln/>
        </p:spPr>
      </p:sp>
      <p:sp>
        <p:nvSpPr>
          <p:cNvPr id="11" name="Shape 9"/>
          <p:cNvSpPr/>
          <p:nvPr/>
        </p:nvSpPr>
        <p:spPr>
          <a:xfrm>
            <a:off x="8028432" y="329184"/>
            <a:ext cx="100584" cy="100584"/>
          </a:xfrm>
          <a:prstGeom prst="ellipse">
            <a:avLst/>
          </a:prstGeom>
          <a:solidFill>
            <a:srgbClr val="D5DED9"/>
          </a:solidFill>
          <a:ln/>
        </p:spPr>
      </p:sp>
      <p:sp>
        <p:nvSpPr>
          <p:cNvPr id="12" name="Shape 10"/>
          <p:cNvSpPr/>
          <p:nvPr/>
        </p:nvSpPr>
        <p:spPr>
          <a:xfrm>
            <a:off x="8211312" y="329184"/>
            <a:ext cx="100584" cy="100584"/>
          </a:xfrm>
          <a:prstGeom prst="ellipse">
            <a:avLst/>
          </a:prstGeom>
          <a:solidFill>
            <a:srgbClr val="D5DED9"/>
          </a:solidFill>
          <a:ln/>
        </p:spPr>
      </p:sp>
      <p:sp>
        <p:nvSpPr>
          <p:cNvPr id="13" name="Shape 11"/>
          <p:cNvSpPr/>
          <p:nvPr/>
        </p:nvSpPr>
        <p:spPr>
          <a:xfrm>
            <a:off x="8394192" y="329184"/>
            <a:ext cx="100584" cy="100584"/>
          </a:xfrm>
          <a:prstGeom prst="ellipse">
            <a:avLst/>
          </a:prstGeom>
          <a:solidFill>
            <a:srgbClr val="D5DED9"/>
          </a:solidFill>
          <a:ln/>
        </p:spPr>
      </p:sp>
      <p:sp>
        <p:nvSpPr>
          <p:cNvPr id="14" name="Shape 12"/>
          <p:cNvSpPr/>
          <p:nvPr/>
        </p:nvSpPr>
        <p:spPr>
          <a:xfrm>
            <a:off x="8577072" y="329184"/>
            <a:ext cx="100584" cy="100584"/>
          </a:xfrm>
          <a:prstGeom prst="ellipse">
            <a:avLst/>
          </a:prstGeom>
          <a:solidFill>
            <a:srgbClr val="D5DED9"/>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Sources de données non traditionnelles · Le trésor caché · Atelier STG17</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11</a:t>
            </a:r>
            <a:endParaRPr lang="en-US" sz="850" dirty="0"/>
          </a:p>
        </p:txBody>
      </p:sp>
      <p:sp>
        <p:nvSpPr>
          <p:cNvPr id="18" name="Shape 15"/>
          <p:cNvSpPr/>
          <p:nvPr/>
        </p:nvSpPr>
        <p:spPr>
          <a:xfrm>
            <a:off x="457200" y="1417320"/>
            <a:ext cx="2615184" cy="1417320"/>
          </a:xfrm>
          <a:prstGeom prst="roundRect">
            <a:avLst>
              <a:gd name="adj" fmla="val 5161"/>
            </a:avLst>
          </a:prstGeom>
          <a:solidFill>
            <a:srgbClr val="E8F5EF"/>
          </a:solidFill>
          <a:ln w="15875">
            <a:solidFill>
              <a:srgbClr val="00704A"/>
            </a:solidFill>
            <a:prstDash val="solid"/>
          </a:ln>
        </p:spPr>
      </p:sp>
      <p:sp>
        <p:nvSpPr>
          <p:cNvPr id="19" name="Shape 16"/>
          <p:cNvSpPr/>
          <p:nvPr/>
        </p:nvSpPr>
        <p:spPr>
          <a:xfrm>
            <a:off x="640080" y="1618488"/>
            <a:ext cx="640080" cy="640080"/>
          </a:xfrm>
          <a:prstGeom prst="ellipse">
            <a:avLst/>
          </a:prstGeom>
          <a:solidFill>
            <a:srgbClr val="00704A">
              <a:alpha val="22000"/>
            </a:srgbClr>
          </a:solidFill>
          <a:ln/>
        </p:spPr>
      </p:sp>
      <p:pic>
        <p:nvPicPr>
          <p:cNvPr id="20" name="Image 0" descr="preencoded.png">    </p:cNvPr>
          <p:cNvPicPr>
            <a:picLocks noChangeAspect="1"/>
          </p:cNvPicPr>
          <p:nvPr/>
        </p:nvPicPr>
        <p:blipFill>
          <a:blip r:embed="rId1"/>
          <a:stretch>
            <a:fillRect/>
          </a:stretch>
        </p:blipFill>
        <p:spPr>
          <a:xfrm>
            <a:off x="800100" y="1778508"/>
            <a:ext cx="320040" cy="320040"/>
          </a:xfrm>
          <a:prstGeom prst="rect">
            <a:avLst/>
          </a:prstGeom>
        </p:spPr>
      </p:pic>
      <p:sp>
        <p:nvSpPr>
          <p:cNvPr id="21" name="Text 17"/>
          <p:cNvSpPr txBox="1"/>
          <p:nvPr/>
        </p:nvSpPr>
        <p:spPr>
          <a:xfrm>
            <a:off x="2514600" y="1527048"/>
            <a:ext cx="411480" cy="365760"/>
          </a:xfrm>
          <a:prstGeom prst="rect">
            <a:avLst/>
          </a:prstGeom>
          <a:noFill/>
          <a:ln/>
        </p:spPr>
        <p:txBody>
          <a:bodyPr wrap="square" lIns="0" tIns="0" rIns="0" bIns="0" rtlCol="0" anchor="t"/>
          <a:lstStyle/>
          <a:p>
            <a:pPr algn="r" indent="0" marL="0">
              <a:buNone/>
            </a:pPr>
            <a:r>
              <a:rPr lang="en-US" sz="2200" b="1" dirty="0">
                <a:solidFill>
                  <a:srgbClr val="F5C242"/>
                </a:solidFill>
                <a:latin typeface="Calibri" pitchFamily="34" charset="0"/>
                <a:ea typeface="Calibri" pitchFamily="34" charset="-122"/>
                <a:cs typeface="Calibri" pitchFamily="34" charset="-120"/>
              </a:rPr>
              <a:t>1</a:t>
            </a:r>
            <a:endParaRPr lang="en-US" sz="2200" dirty="0"/>
          </a:p>
        </p:txBody>
      </p:sp>
      <p:sp>
        <p:nvSpPr>
          <p:cNvPr id="22" name="Text 18"/>
          <p:cNvSpPr txBox="1"/>
          <p:nvPr/>
        </p:nvSpPr>
        <p:spPr>
          <a:xfrm>
            <a:off x="640080" y="2313432"/>
            <a:ext cx="2377440" cy="256032"/>
          </a:xfrm>
          <a:prstGeom prst="rect">
            <a:avLst/>
          </a:prstGeom>
          <a:noFill/>
          <a:ln/>
        </p:spPr>
        <p:txBody>
          <a:bodyPr wrap="square" lIns="0" tIns="0" rIns="0" bIns="0" rtlCol="0" anchor="t"/>
          <a:lstStyle/>
          <a:p>
            <a:pPr indent="0" marL="0">
              <a:buNone/>
            </a:pPr>
            <a:r>
              <a:rPr lang="en-US" sz="1250" b="1" dirty="0">
                <a:solidFill>
                  <a:srgbClr val="00704A"/>
                </a:solidFill>
                <a:latin typeface="Calibri" pitchFamily="34" charset="0"/>
                <a:ea typeface="Calibri" pitchFamily="34" charset="-122"/>
                <a:cs typeface="Calibri" pitchFamily="34" charset="-120"/>
              </a:rPr>
              <a:t>Imagerie satellitaire</a:t>
            </a:r>
            <a:endParaRPr lang="en-US" sz="1250" dirty="0"/>
          </a:p>
        </p:txBody>
      </p:sp>
      <p:sp>
        <p:nvSpPr>
          <p:cNvPr id="23" name="Text 19"/>
          <p:cNvSpPr txBox="1"/>
          <p:nvPr/>
        </p:nvSpPr>
        <p:spPr>
          <a:xfrm>
            <a:off x="640080" y="2551176"/>
            <a:ext cx="2286000" cy="2286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Sols, lumière, eau, bâti</a:t>
            </a:r>
            <a:endParaRPr lang="en-US" sz="1050" dirty="0"/>
          </a:p>
        </p:txBody>
      </p:sp>
      <p:sp>
        <p:nvSpPr>
          <p:cNvPr id="24" name="Shape 20"/>
          <p:cNvSpPr/>
          <p:nvPr/>
        </p:nvSpPr>
        <p:spPr>
          <a:xfrm>
            <a:off x="1371600" y="1746504"/>
            <a:ext cx="1188720" cy="237744"/>
          </a:xfrm>
          <a:prstGeom prst="roundRect">
            <a:avLst>
              <a:gd name="adj" fmla="val 50000"/>
            </a:avLst>
          </a:prstGeom>
          <a:solidFill>
            <a:srgbClr val="00A86A">
              <a:alpha val="15000"/>
            </a:srgbClr>
          </a:solidFill>
          <a:ln w="9525">
            <a:solidFill>
              <a:srgbClr val="00A86A"/>
            </a:solidFill>
            <a:prstDash val="solid"/>
          </a:ln>
        </p:spPr>
      </p:sp>
      <p:sp>
        <p:nvSpPr>
          <p:cNvPr id="25" name="Text 21"/>
          <p:cNvSpPr txBox="1"/>
          <p:nvPr/>
        </p:nvSpPr>
        <p:spPr>
          <a:xfrm>
            <a:off x="1371600" y="1746504"/>
            <a:ext cx="1188720" cy="237744"/>
          </a:xfrm>
          <a:prstGeom prst="rect">
            <a:avLst/>
          </a:prstGeom>
          <a:noFill/>
          <a:ln/>
        </p:spPr>
        <p:txBody>
          <a:bodyPr wrap="square" lIns="0" tIns="0" rIns="0" bIns="0" rtlCol="0" anchor="ctr"/>
          <a:lstStyle/>
          <a:p>
            <a:pPr algn="ctr" indent="0" marL="0">
              <a:buNone/>
            </a:pPr>
            <a:r>
              <a:rPr lang="en-US" sz="950" b="1" dirty="0">
                <a:solidFill>
                  <a:srgbClr val="00A86A"/>
                </a:solidFill>
                <a:latin typeface="Calibri" pitchFamily="34" charset="0"/>
                <a:ea typeface="Calibri" pitchFamily="34" charset="-122"/>
                <a:cs typeface="Calibri" pitchFamily="34" charset="-120"/>
              </a:rPr>
              <a:t>Labo : jour 4 (LN)</a:t>
            </a:r>
            <a:endParaRPr lang="en-US" sz="950" dirty="0"/>
          </a:p>
        </p:txBody>
      </p:sp>
      <p:sp>
        <p:nvSpPr>
          <p:cNvPr id="26" name="Shape 22"/>
          <p:cNvSpPr/>
          <p:nvPr/>
        </p:nvSpPr>
        <p:spPr>
          <a:xfrm>
            <a:off x="3264408" y="1417320"/>
            <a:ext cx="2615184" cy="1417320"/>
          </a:xfrm>
          <a:prstGeom prst="roundRect">
            <a:avLst>
              <a:gd name="adj" fmla="val 5161"/>
            </a:avLst>
          </a:prstGeom>
          <a:solidFill>
            <a:srgbClr val="E8F5EF"/>
          </a:solidFill>
          <a:ln w="15875">
            <a:solidFill>
              <a:srgbClr val="00704A"/>
            </a:solidFill>
            <a:prstDash val="solid"/>
          </a:ln>
        </p:spPr>
      </p:sp>
      <p:sp>
        <p:nvSpPr>
          <p:cNvPr id="27" name="Shape 23"/>
          <p:cNvSpPr/>
          <p:nvPr/>
        </p:nvSpPr>
        <p:spPr>
          <a:xfrm>
            <a:off x="3447288" y="1618488"/>
            <a:ext cx="640080" cy="640080"/>
          </a:xfrm>
          <a:prstGeom prst="ellipse">
            <a:avLst/>
          </a:prstGeom>
          <a:solidFill>
            <a:srgbClr val="00704A">
              <a:alpha val="22000"/>
            </a:srgbClr>
          </a:solidFill>
          <a:ln/>
        </p:spPr>
      </p:sp>
      <p:pic>
        <p:nvPicPr>
          <p:cNvPr id="28" name="Image 1" descr="preencoded.png">    </p:cNvPr>
          <p:cNvPicPr>
            <a:picLocks noChangeAspect="1"/>
          </p:cNvPicPr>
          <p:nvPr/>
        </p:nvPicPr>
        <p:blipFill>
          <a:blip r:embed="rId2"/>
          <a:stretch>
            <a:fillRect/>
          </a:stretch>
        </p:blipFill>
        <p:spPr>
          <a:xfrm>
            <a:off x="3607308" y="1778508"/>
            <a:ext cx="320040" cy="320040"/>
          </a:xfrm>
          <a:prstGeom prst="rect">
            <a:avLst/>
          </a:prstGeom>
        </p:spPr>
      </p:pic>
      <p:sp>
        <p:nvSpPr>
          <p:cNvPr id="29" name="Text 24"/>
          <p:cNvSpPr txBox="1"/>
          <p:nvPr/>
        </p:nvSpPr>
        <p:spPr>
          <a:xfrm>
            <a:off x="5321808" y="1527048"/>
            <a:ext cx="411480" cy="365760"/>
          </a:xfrm>
          <a:prstGeom prst="rect">
            <a:avLst/>
          </a:prstGeom>
          <a:noFill/>
          <a:ln/>
        </p:spPr>
        <p:txBody>
          <a:bodyPr wrap="square" lIns="0" tIns="0" rIns="0" bIns="0" rtlCol="0" anchor="t"/>
          <a:lstStyle/>
          <a:p>
            <a:pPr algn="r" indent="0" marL="0">
              <a:buNone/>
            </a:pPr>
            <a:r>
              <a:rPr lang="en-US" sz="2200" b="1" dirty="0">
                <a:solidFill>
                  <a:srgbClr val="F5C242"/>
                </a:solidFill>
                <a:latin typeface="Calibri" pitchFamily="34" charset="0"/>
                <a:ea typeface="Calibri" pitchFamily="34" charset="-122"/>
                <a:cs typeface="Calibri" pitchFamily="34" charset="-120"/>
              </a:rPr>
              <a:t>2</a:t>
            </a:r>
            <a:endParaRPr lang="en-US" sz="2200" dirty="0"/>
          </a:p>
        </p:txBody>
      </p:sp>
      <p:sp>
        <p:nvSpPr>
          <p:cNvPr id="30" name="Text 25"/>
          <p:cNvSpPr txBox="1"/>
          <p:nvPr/>
        </p:nvSpPr>
        <p:spPr>
          <a:xfrm>
            <a:off x="3447288" y="2313432"/>
            <a:ext cx="2377440" cy="256032"/>
          </a:xfrm>
          <a:prstGeom prst="rect">
            <a:avLst/>
          </a:prstGeom>
          <a:noFill/>
          <a:ln/>
        </p:spPr>
        <p:txBody>
          <a:bodyPr wrap="square" lIns="0" tIns="0" rIns="0" bIns="0" rtlCol="0" anchor="t"/>
          <a:lstStyle/>
          <a:p>
            <a:pPr indent="0" marL="0">
              <a:buNone/>
            </a:pPr>
            <a:r>
              <a:rPr lang="en-US" sz="1250" b="1" dirty="0">
                <a:solidFill>
                  <a:srgbClr val="00704A"/>
                </a:solidFill>
                <a:latin typeface="Calibri" pitchFamily="34" charset="0"/>
                <a:ea typeface="Calibri" pitchFamily="34" charset="-122"/>
                <a:cs typeface="Calibri" pitchFamily="34" charset="-120"/>
              </a:rPr>
              <a:t>Mesure participative</a:t>
            </a:r>
            <a:endParaRPr lang="en-US" sz="1250" dirty="0"/>
          </a:p>
        </p:txBody>
      </p:sp>
      <p:sp>
        <p:nvSpPr>
          <p:cNvPr id="31" name="Text 26"/>
          <p:cNvSpPr txBox="1"/>
          <p:nvPr/>
        </p:nvSpPr>
        <p:spPr>
          <a:xfrm>
            <a:off x="3447288" y="2551176"/>
            <a:ext cx="2286000" cy="2286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Connectivité, cartes, prix</a:t>
            </a:r>
            <a:endParaRPr lang="en-US" sz="1050" dirty="0"/>
          </a:p>
        </p:txBody>
      </p:sp>
      <p:sp>
        <p:nvSpPr>
          <p:cNvPr id="32" name="Shape 27"/>
          <p:cNvSpPr/>
          <p:nvPr/>
        </p:nvSpPr>
        <p:spPr>
          <a:xfrm>
            <a:off x="4178808" y="1746504"/>
            <a:ext cx="1188720" cy="237744"/>
          </a:xfrm>
          <a:prstGeom prst="roundRect">
            <a:avLst>
              <a:gd name="adj" fmla="val 50000"/>
            </a:avLst>
          </a:prstGeom>
          <a:solidFill>
            <a:srgbClr val="00A86A">
              <a:alpha val="15000"/>
            </a:srgbClr>
          </a:solidFill>
          <a:ln w="9525">
            <a:solidFill>
              <a:srgbClr val="00A86A"/>
            </a:solidFill>
            <a:prstDash val="solid"/>
          </a:ln>
        </p:spPr>
      </p:sp>
      <p:sp>
        <p:nvSpPr>
          <p:cNvPr id="33" name="Text 28"/>
          <p:cNvSpPr txBox="1"/>
          <p:nvPr/>
        </p:nvSpPr>
        <p:spPr>
          <a:xfrm>
            <a:off x="4178808" y="1746504"/>
            <a:ext cx="1188720" cy="237744"/>
          </a:xfrm>
          <a:prstGeom prst="rect">
            <a:avLst/>
          </a:prstGeom>
          <a:noFill/>
          <a:ln/>
        </p:spPr>
        <p:txBody>
          <a:bodyPr wrap="square" lIns="0" tIns="0" rIns="0" bIns="0" rtlCol="0" anchor="ctr"/>
          <a:lstStyle/>
          <a:p>
            <a:pPr algn="ctr" indent="0" marL="0">
              <a:buNone/>
            </a:pPr>
            <a:r>
              <a:rPr lang="en-US" sz="950" b="1" dirty="0">
                <a:solidFill>
                  <a:srgbClr val="00A86A"/>
                </a:solidFill>
                <a:latin typeface="Calibri" pitchFamily="34" charset="0"/>
                <a:ea typeface="Calibri" pitchFamily="34" charset="-122"/>
                <a:cs typeface="Calibri" pitchFamily="34" charset="-120"/>
              </a:rPr>
              <a:t>Labo : jour 3 (Ookla)</a:t>
            </a:r>
            <a:endParaRPr lang="en-US" sz="950" dirty="0"/>
          </a:p>
        </p:txBody>
      </p:sp>
      <p:sp>
        <p:nvSpPr>
          <p:cNvPr id="34" name="Shape 29"/>
          <p:cNvSpPr/>
          <p:nvPr/>
        </p:nvSpPr>
        <p:spPr>
          <a:xfrm>
            <a:off x="6071616" y="1417320"/>
            <a:ext cx="2615184" cy="1417320"/>
          </a:xfrm>
          <a:prstGeom prst="roundRect">
            <a:avLst>
              <a:gd name="adj" fmla="val 5161"/>
            </a:avLst>
          </a:prstGeom>
          <a:solidFill>
            <a:srgbClr val="F4F7F5"/>
          </a:solidFill>
          <a:ln w="9525">
            <a:solidFill>
              <a:srgbClr val="D5DED9"/>
            </a:solidFill>
            <a:prstDash val="solid"/>
          </a:ln>
        </p:spPr>
      </p:sp>
      <p:sp>
        <p:nvSpPr>
          <p:cNvPr id="35" name="Shape 30"/>
          <p:cNvSpPr/>
          <p:nvPr/>
        </p:nvSpPr>
        <p:spPr>
          <a:xfrm>
            <a:off x="6254496" y="1618488"/>
            <a:ext cx="640080" cy="640080"/>
          </a:xfrm>
          <a:prstGeom prst="ellipse">
            <a:avLst/>
          </a:prstGeom>
          <a:solidFill>
            <a:srgbClr val="00704A">
              <a:alpha val="22000"/>
            </a:srgbClr>
          </a:solidFill>
          <a:ln/>
        </p:spPr>
      </p:sp>
      <p:pic>
        <p:nvPicPr>
          <p:cNvPr id="36" name="Image 2" descr="preencoded.png">    </p:cNvPr>
          <p:cNvPicPr>
            <a:picLocks noChangeAspect="1"/>
          </p:cNvPicPr>
          <p:nvPr/>
        </p:nvPicPr>
        <p:blipFill>
          <a:blip r:embed="rId3"/>
          <a:stretch>
            <a:fillRect/>
          </a:stretch>
        </p:blipFill>
        <p:spPr>
          <a:xfrm>
            <a:off x="6414516" y="1778508"/>
            <a:ext cx="320040" cy="320040"/>
          </a:xfrm>
          <a:prstGeom prst="rect">
            <a:avLst/>
          </a:prstGeom>
        </p:spPr>
      </p:pic>
      <p:sp>
        <p:nvSpPr>
          <p:cNvPr id="37" name="Text 31"/>
          <p:cNvSpPr txBox="1"/>
          <p:nvPr/>
        </p:nvSpPr>
        <p:spPr>
          <a:xfrm>
            <a:off x="8129016" y="1527048"/>
            <a:ext cx="411480" cy="365760"/>
          </a:xfrm>
          <a:prstGeom prst="rect">
            <a:avLst/>
          </a:prstGeom>
          <a:noFill/>
          <a:ln/>
        </p:spPr>
        <p:txBody>
          <a:bodyPr wrap="square" lIns="0" tIns="0" rIns="0" bIns="0" rtlCol="0" anchor="t"/>
          <a:lstStyle/>
          <a:p>
            <a:pPr algn="r" indent="0" marL="0">
              <a:buNone/>
            </a:pPr>
            <a:r>
              <a:rPr lang="en-US" sz="2200" b="1" dirty="0">
                <a:solidFill>
                  <a:srgbClr val="F5C242"/>
                </a:solidFill>
                <a:latin typeface="Calibri" pitchFamily="34" charset="0"/>
                <a:ea typeface="Calibri" pitchFamily="34" charset="-122"/>
                <a:cs typeface="Calibri" pitchFamily="34" charset="-120"/>
              </a:rPr>
              <a:t>3</a:t>
            </a:r>
            <a:endParaRPr lang="en-US" sz="2200" dirty="0"/>
          </a:p>
        </p:txBody>
      </p:sp>
      <p:sp>
        <p:nvSpPr>
          <p:cNvPr id="38" name="Text 32"/>
          <p:cNvSpPr txBox="1"/>
          <p:nvPr/>
        </p:nvSpPr>
        <p:spPr>
          <a:xfrm>
            <a:off x="6254496" y="2313432"/>
            <a:ext cx="2377440" cy="256032"/>
          </a:xfrm>
          <a:prstGeom prst="rect">
            <a:avLst/>
          </a:prstGeom>
          <a:noFill/>
          <a:ln/>
        </p:spPr>
        <p:txBody>
          <a:bodyPr wrap="square" lIns="0" tIns="0" rIns="0" bIns="0" rtlCol="0" anchor="t"/>
          <a:lstStyle/>
          <a:p>
            <a:pPr indent="0" marL="0">
              <a:buNone/>
            </a:pPr>
            <a:r>
              <a:rPr lang="en-US" sz="1250" b="1" dirty="0">
                <a:solidFill>
                  <a:srgbClr val="00704A"/>
                </a:solidFill>
                <a:latin typeface="Calibri" pitchFamily="34" charset="0"/>
                <a:ea typeface="Calibri" pitchFamily="34" charset="-122"/>
                <a:cs typeface="Calibri" pitchFamily="34" charset="-120"/>
              </a:rPr>
              <a:t>Caisse, transactions et télécoms</a:t>
            </a:r>
            <a:endParaRPr lang="en-US" sz="1250" dirty="0"/>
          </a:p>
        </p:txBody>
      </p:sp>
      <p:sp>
        <p:nvSpPr>
          <p:cNvPr id="39" name="Text 33"/>
          <p:cNvSpPr txBox="1"/>
          <p:nvPr/>
        </p:nvSpPr>
        <p:spPr>
          <a:xfrm>
            <a:off x="6254496" y="2551176"/>
            <a:ext cx="2286000" cy="2286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Prix, dépenses, mobilité</a:t>
            </a:r>
            <a:endParaRPr lang="en-US" sz="1050" dirty="0"/>
          </a:p>
        </p:txBody>
      </p:sp>
      <p:sp>
        <p:nvSpPr>
          <p:cNvPr id="40" name="Shape 34"/>
          <p:cNvSpPr/>
          <p:nvPr/>
        </p:nvSpPr>
        <p:spPr>
          <a:xfrm>
            <a:off x="457200" y="3017520"/>
            <a:ext cx="2615184" cy="1417320"/>
          </a:xfrm>
          <a:prstGeom prst="roundRect">
            <a:avLst>
              <a:gd name="adj" fmla="val 5161"/>
            </a:avLst>
          </a:prstGeom>
          <a:solidFill>
            <a:srgbClr val="F4F7F5"/>
          </a:solidFill>
          <a:ln w="9525">
            <a:solidFill>
              <a:srgbClr val="D5DED9"/>
            </a:solidFill>
            <a:prstDash val="solid"/>
          </a:ln>
        </p:spPr>
      </p:sp>
      <p:sp>
        <p:nvSpPr>
          <p:cNvPr id="41" name="Shape 35"/>
          <p:cNvSpPr/>
          <p:nvPr/>
        </p:nvSpPr>
        <p:spPr>
          <a:xfrm>
            <a:off x="640080" y="3218688"/>
            <a:ext cx="640080" cy="640080"/>
          </a:xfrm>
          <a:prstGeom prst="ellipse">
            <a:avLst/>
          </a:prstGeom>
          <a:solidFill>
            <a:srgbClr val="00704A">
              <a:alpha val="22000"/>
            </a:srgbClr>
          </a:solidFill>
          <a:ln/>
        </p:spPr>
      </p:sp>
      <p:pic>
        <p:nvPicPr>
          <p:cNvPr id="42" name="Image 3" descr="preencoded.png">    </p:cNvPr>
          <p:cNvPicPr>
            <a:picLocks noChangeAspect="1"/>
          </p:cNvPicPr>
          <p:nvPr/>
        </p:nvPicPr>
        <p:blipFill>
          <a:blip r:embed="rId4"/>
          <a:stretch>
            <a:fillRect/>
          </a:stretch>
        </p:blipFill>
        <p:spPr>
          <a:xfrm>
            <a:off x="800100" y="3378708"/>
            <a:ext cx="320040" cy="320040"/>
          </a:xfrm>
          <a:prstGeom prst="rect">
            <a:avLst/>
          </a:prstGeom>
        </p:spPr>
      </p:pic>
      <p:sp>
        <p:nvSpPr>
          <p:cNvPr id="43" name="Text 36"/>
          <p:cNvSpPr txBox="1"/>
          <p:nvPr/>
        </p:nvSpPr>
        <p:spPr>
          <a:xfrm>
            <a:off x="2514600" y="3127248"/>
            <a:ext cx="411480" cy="365760"/>
          </a:xfrm>
          <a:prstGeom prst="rect">
            <a:avLst/>
          </a:prstGeom>
          <a:noFill/>
          <a:ln/>
        </p:spPr>
        <p:txBody>
          <a:bodyPr wrap="square" lIns="0" tIns="0" rIns="0" bIns="0" rtlCol="0" anchor="t"/>
          <a:lstStyle/>
          <a:p>
            <a:pPr algn="r" indent="0" marL="0">
              <a:buNone/>
            </a:pPr>
            <a:r>
              <a:rPr lang="en-US" sz="2200" b="1" dirty="0">
                <a:solidFill>
                  <a:srgbClr val="F5C242"/>
                </a:solidFill>
                <a:latin typeface="Calibri" pitchFamily="34" charset="0"/>
                <a:ea typeface="Calibri" pitchFamily="34" charset="-122"/>
                <a:cs typeface="Calibri" pitchFamily="34" charset="-120"/>
              </a:rPr>
              <a:t>4</a:t>
            </a:r>
            <a:endParaRPr lang="en-US" sz="2200" dirty="0"/>
          </a:p>
        </p:txBody>
      </p:sp>
      <p:sp>
        <p:nvSpPr>
          <p:cNvPr id="44" name="Text 37"/>
          <p:cNvSpPr txBox="1"/>
          <p:nvPr/>
        </p:nvSpPr>
        <p:spPr>
          <a:xfrm>
            <a:off x="640080" y="3913632"/>
            <a:ext cx="2377440" cy="256032"/>
          </a:xfrm>
          <a:prstGeom prst="rect">
            <a:avLst/>
          </a:prstGeom>
          <a:noFill/>
          <a:ln/>
        </p:spPr>
        <p:txBody>
          <a:bodyPr wrap="square" lIns="0" tIns="0" rIns="0" bIns="0" rtlCol="0" anchor="t"/>
          <a:lstStyle/>
          <a:p>
            <a:pPr indent="0" marL="0">
              <a:buNone/>
            </a:pPr>
            <a:r>
              <a:rPr lang="en-US" sz="1250" b="1" dirty="0">
                <a:solidFill>
                  <a:srgbClr val="00704A"/>
                </a:solidFill>
                <a:latin typeface="Calibri" pitchFamily="34" charset="0"/>
                <a:ea typeface="Calibri" pitchFamily="34" charset="-122"/>
                <a:cs typeface="Calibri" pitchFamily="34" charset="-120"/>
              </a:rPr>
              <a:t>Moissonnage du web</a:t>
            </a:r>
            <a:endParaRPr lang="en-US" sz="1250" dirty="0"/>
          </a:p>
        </p:txBody>
      </p:sp>
      <p:sp>
        <p:nvSpPr>
          <p:cNvPr id="45" name="Text 38"/>
          <p:cNvSpPr txBox="1"/>
          <p:nvPr/>
        </p:nvSpPr>
        <p:spPr>
          <a:xfrm>
            <a:off x="640080" y="4151376"/>
            <a:ext cx="2286000" cy="2286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Prix en ligne, emplois, entreprises</a:t>
            </a:r>
            <a:endParaRPr lang="en-US" sz="1050" dirty="0"/>
          </a:p>
        </p:txBody>
      </p:sp>
      <p:sp>
        <p:nvSpPr>
          <p:cNvPr id="46" name="Shape 39"/>
          <p:cNvSpPr/>
          <p:nvPr/>
        </p:nvSpPr>
        <p:spPr>
          <a:xfrm>
            <a:off x="3264408" y="3017520"/>
            <a:ext cx="2615184" cy="1417320"/>
          </a:xfrm>
          <a:prstGeom prst="roundRect">
            <a:avLst>
              <a:gd name="adj" fmla="val 5161"/>
            </a:avLst>
          </a:prstGeom>
          <a:solidFill>
            <a:srgbClr val="F4F7F5"/>
          </a:solidFill>
          <a:ln w="9525">
            <a:solidFill>
              <a:srgbClr val="D5DED9"/>
            </a:solidFill>
            <a:prstDash val="solid"/>
          </a:ln>
        </p:spPr>
      </p:sp>
      <p:sp>
        <p:nvSpPr>
          <p:cNvPr id="47" name="Shape 40"/>
          <p:cNvSpPr/>
          <p:nvPr/>
        </p:nvSpPr>
        <p:spPr>
          <a:xfrm>
            <a:off x="3447288" y="3218688"/>
            <a:ext cx="640080" cy="640080"/>
          </a:xfrm>
          <a:prstGeom prst="ellipse">
            <a:avLst/>
          </a:prstGeom>
          <a:solidFill>
            <a:srgbClr val="00704A">
              <a:alpha val="22000"/>
            </a:srgbClr>
          </a:solidFill>
          <a:ln/>
        </p:spPr>
      </p:sp>
      <p:pic>
        <p:nvPicPr>
          <p:cNvPr id="48" name="Image 4" descr="preencoded.png">    </p:cNvPr>
          <p:cNvPicPr>
            <a:picLocks noChangeAspect="1"/>
          </p:cNvPicPr>
          <p:nvPr/>
        </p:nvPicPr>
        <p:blipFill>
          <a:blip r:embed="rId5"/>
          <a:stretch>
            <a:fillRect/>
          </a:stretch>
        </p:blipFill>
        <p:spPr>
          <a:xfrm>
            <a:off x="3607308" y="3378708"/>
            <a:ext cx="320040" cy="320040"/>
          </a:xfrm>
          <a:prstGeom prst="rect">
            <a:avLst/>
          </a:prstGeom>
        </p:spPr>
      </p:pic>
      <p:sp>
        <p:nvSpPr>
          <p:cNvPr id="49" name="Text 41"/>
          <p:cNvSpPr txBox="1"/>
          <p:nvPr/>
        </p:nvSpPr>
        <p:spPr>
          <a:xfrm>
            <a:off x="5321808" y="3127248"/>
            <a:ext cx="411480" cy="365760"/>
          </a:xfrm>
          <a:prstGeom prst="rect">
            <a:avLst/>
          </a:prstGeom>
          <a:noFill/>
          <a:ln/>
        </p:spPr>
        <p:txBody>
          <a:bodyPr wrap="square" lIns="0" tIns="0" rIns="0" bIns="0" rtlCol="0" anchor="t"/>
          <a:lstStyle/>
          <a:p>
            <a:pPr algn="r" indent="0" marL="0">
              <a:buNone/>
            </a:pPr>
            <a:r>
              <a:rPr lang="en-US" sz="2200" b="1" dirty="0">
                <a:solidFill>
                  <a:srgbClr val="F5C242"/>
                </a:solidFill>
                <a:latin typeface="Calibri" pitchFamily="34" charset="0"/>
                <a:ea typeface="Calibri" pitchFamily="34" charset="-122"/>
                <a:cs typeface="Calibri" pitchFamily="34" charset="-120"/>
              </a:rPr>
              <a:t>5</a:t>
            </a:r>
            <a:endParaRPr lang="en-US" sz="2200" dirty="0"/>
          </a:p>
        </p:txBody>
      </p:sp>
      <p:sp>
        <p:nvSpPr>
          <p:cNvPr id="50" name="Text 42"/>
          <p:cNvSpPr txBox="1"/>
          <p:nvPr/>
        </p:nvSpPr>
        <p:spPr>
          <a:xfrm>
            <a:off x="3447288" y="3913632"/>
            <a:ext cx="2377440" cy="256032"/>
          </a:xfrm>
          <a:prstGeom prst="rect">
            <a:avLst/>
          </a:prstGeom>
          <a:noFill/>
          <a:ln/>
        </p:spPr>
        <p:txBody>
          <a:bodyPr wrap="square" lIns="0" tIns="0" rIns="0" bIns="0" rtlCol="0" anchor="t"/>
          <a:lstStyle/>
          <a:p>
            <a:pPr indent="0" marL="0">
              <a:buNone/>
            </a:pPr>
            <a:r>
              <a:rPr lang="en-US" sz="1250" b="1" dirty="0">
                <a:solidFill>
                  <a:srgbClr val="00704A"/>
                </a:solidFill>
                <a:latin typeface="Calibri" pitchFamily="34" charset="0"/>
                <a:ea typeface="Calibri" pitchFamily="34" charset="-122"/>
                <a:cs typeface="Calibri" pitchFamily="34" charset="-120"/>
              </a:rPr>
              <a:t>Capteurs et IoT</a:t>
            </a:r>
            <a:endParaRPr lang="en-US" sz="1250" dirty="0"/>
          </a:p>
        </p:txBody>
      </p:sp>
      <p:sp>
        <p:nvSpPr>
          <p:cNvPr id="51" name="Text 43"/>
          <p:cNvSpPr txBox="1"/>
          <p:nvPr/>
        </p:nvSpPr>
        <p:spPr>
          <a:xfrm>
            <a:off x="3447288" y="4151376"/>
            <a:ext cx="2286000" cy="2286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Énergie, trafic, environnement</a:t>
            </a:r>
            <a:endParaRPr lang="en-US" sz="1050" dirty="0"/>
          </a:p>
        </p:txBody>
      </p:sp>
      <p:sp>
        <p:nvSpPr>
          <p:cNvPr id="52" name="Shape 44"/>
          <p:cNvSpPr/>
          <p:nvPr/>
        </p:nvSpPr>
        <p:spPr>
          <a:xfrm>
            <a:off x="6071616" y="3017520"/>
            <a:ext cx="2615184" cy="1417320"/>
          </a:xfrm>
          <a:prstGeom prst="roundRect">
            <a:avLst>
              <a:gd name="adj" fmla="val 5161"/>
            </a:avLst>
          </a:prstGeom>
          <a:solidFill>
            <a:srgbClr val="F4F7F5"/>
          </a:solidFill>
          <a:ln w="9525">
            <a:solidFill>
              <a:srgbClr val="D5DED9"/>
            </a:solidFill>
            <a:prstDash val="solid"/>
          </a:ln>
        </p:spPr>
      </p:sp>
      <p:sp>
        <p:nvSpPr>
          <p:cNvPr id="53" name="Shape 45"/>
          <p:cNvSpPr/>
          <p:nvPr/>
        </p:nvSpPr>
        <p:spPr>
          <a:xfrm>
            <a:off x="6254496" y="3218688"/>
            <a:ext cx="640080" cy="640080"/>
          </a:xfrm>
          <a:prstGeom prst="ellipse">
            <a:avLst/>
          </a:prstGeom>
          <a:solidFill>
            <a:srgbClr val="00704A">
              <a:alpha val="22000"/>
            </a:srgbClr>
          </a:solidFill>
          <a:ln/>
        </p:spPr>
      </p:sp>
      <p:pic>
        <p:nvPicPr>
          <p:cNvPr id="54" name="Image 5" descr="preencoded.png">    </p:cNvPr>
          <p:cNvPicPr>
            <a:picLocks noChangeAspect="1"/>
          </p:cNvPicPr>
          <p:nvPr/>
        </p:nvPicPr>
        <p:blipFill>
          <a:blip r:embed="rId6"/>
          <a:stretch>
            <a:fillRect/>
          </a:stretch>
        </p:blipFill>
        <p:spPr>
          <a:xfrm>
            <a:off x="6414516" y="3378708"/>
            <a:ext cx="320040" cy="320040"/>
          </a:xfrm>
          <a:prstGeom prst="rect">
            <a:avLst/>
          </a:prstGeom>
        </p:spPr>
      </p:pic>
      <p:sp>
        <p:nvSpPr>
          <p:cNvPr id="55" name="Text 46"/>
          <p:cNvSpPr txBox="1"/>
          <p:nvPr/>
        </p:nvSpPr>
        <p:spPr>
          <a:xfrm>
            <a:off x="8129016" y="3127248"/>
            <a:ext cx="411480" cy="365760"/>
          </a:xfrm>
          <a:prstGeom prst="rect">
            <a:avLst/>
          </a:prstGeom>
          <a:noFill/>
          <a:ln/>
        </p:spPr>
        <p:txBody>
          <a:bodyPr wrap="square" lIns="0" tIns="0" rIns="0" bIns="0" rtlCol="0" anchor="t"/>
          <a:lstStyle/>
          <a:p>
            <a:pPr algn="r" indent="0" marL="0">
              <a:buNone/>
            </a:pPr>
            <a:r>
              <a:rPr lang="en-US" sz="2200" b="1" dirty="0">
                <a:solidFill>
                  <a:srgbClr val="F5C242"/>
                </a:solidFill>
                <a:latin typeface="Calibri" pitchFamily="34" charset="0"/>
                <a:ea typeface="Calibri" pitchFamily="34" charset="-122"/>
                <a:cs typeface="Calibri" pitchFamily="34" charset="-120"/>
              </a:rPr>
              <a:t>6</a:t>
            </a:r>
            <a:endParaRPr lang="en-US" sz="2200" dirty="0"/>
          </a:p>
        </p:txBody>
      </p:sp>
      <p:sp>
        <p:nvSpPr>
          <p:cNvPr id="56" name="Text 47"/>
          <p:cNvSpPr txBox="1"/>
          <p:nvPr/>
        </p:nvSpPr>
        <p:spPr>
          <a:xfrm>
            <a:off x="6254496" y="3913632"/>
            <a:ext cx="2377440" cy="256032"/>
          </a:xfrm>
          <a:prstGeom prst="rect">
            <a:avLst/>
          </a:prstGeom>
          <a:noFill/>
          <a:ln/>
        </p:spPr>
        <p:txBody>
          <a:bodyPr wrap="square" lIns="0" tIns="0" rIns="0" bIns="0" rtlCol="0" anchor="t"/>
          <a:lstStyle/>
          <a:p>
            <a:pPr indent="0" marL="0">
              <a:buNone/>
            </a:pPr>
            <a:r>
              <a:rPr lang="en-US" sz="1250" b="1" dirty="0">
                <a:solidFill>
                  <a:srgbClr val="00704A"/>
                </a:solidFill>
                <a:latin typeface="Calibri" pitchFamily="34" charset="0"/>
                <a:ea typeface="Calibri" pitchFamily="34" charset="-122"/>
                <a:cs typeface="Calibri" pitchFamily="34" charset="-120"/>
              </a:rPr>
              <a:t>Données citoyennes</a:t>
            </a:r>
            <a:endParaRPr lang="en-US" sz="1250" dirty="0"/>
          </a:p>
        </p:txBody>
      </p:sp>
      <p:sp>
        <p:nvSpPr>
          <p:cNvPr id="57" name="Text 48"/>
          <p:cNvSpPr txBox="1"/>
          <p:nvPr/>
        </p:nvSpPr>
        <p:spPr>
          <a:xfrm>
            <a:off x="6254496" y="4151376"/>
            <a:ext cx="2286000" cy="2286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Réalités locales, voix, services</a:t>
            </a:r>
            <a:endParaRPr lang="en-US" sz="105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TAXONOMIE · FAMILLE 1 SUR 6</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Imagerie satellitaire et observation de la Terre</a:t>
            </a:r>
            <a:endParaRPr lang="en-US" sz="2400" dirty="0"/>
          </a:p>
        </p:txBody>
      </p:sp>
      <p:sp>
        <p:nvSpPr>
          <p:cNvPr id="8" name="Shape 6"/>
          <p:cNvSpPr/>
          <p:nvPr/>
        </p:nvSpPr>
        <p:spPr>
          <a:xfrm>
            <a:off x="7662672" y="329184"/>
            <a:ext cx="100584" cy="100584"/>
          </a:xfrm>
          <a:prstGeom prst="ellipse">
            <a:avLst/>
          </a:prstGeom>
          <a:solidFill>
            <a:srgbClr val="D5DED9"/>
          </a:solidFill>
          <a:ln/>
        </p:spPr>
      </p:sp>
      <p:sp>
        <p:nvSpPr>
          <p:cNvPr id="9" name="Shape 7"/>
          <p:cNvSpPr/>
          <p:nvPr/>
        </p:nvSpPr>
        <p:spPr>
          <a:xfrm>
            <a:off x="7845552" y="329184"/>
            <a:ext cx="100584" cy="100584"/>
          </a:xfrm>
          <a:prstGeom prst="ellipse">
            <a:avLst/>
          </a:prstGeom>
          <a:solidFill>
            <a:srgbClr val="00704A"/>
          </a:solidFill>
          <a:ln/>
        </p:spPr>
      </p:sp>
      <p:sp>
        <p:nvSpPr>
          <p:cNvPr id="10" name="Shape 8"/>
          <p:cNvSpPr/>
          <p:nvPr/>
        </p:nvSpPr>
        <p:spPr>
          <a:xfrm>
            <a:off x="8028432" y="329184"/>
            <a:ext cx="100584" cy="100584"/>
          </a:xfrm>
          <a:prstGeom prst="ellipse">
            <a:avLst/>
          </a:prstGeom>
          <a:solidFill>
            <a:srgbClr val="D5DED9"/>
          </a:solidFill>
          <a:ln/>
        </p:spPr>
      </p:sp>
      <p:sp>
        <p:nvSpPr>
          <p:cNvPr id="11" name="Shape 9"/>
          <p:cNvSpPr/>
          <p:nvPr/>
        </p:nvSpPr>
        <p:spPr>
          <a:xfrm>
            <a:off x="8211312" y="329184"/>
            <a:ext cx="100584" cy="100584"/>
          </a:xfrm>
          <a:prstGeom prst="ellipse">
            <a:avLst/>
          </a:prstGeom>
          <a:solidFill>
            <a:srgbClr val="D5DED9"/>
          </a:solidFill>
          <a:ln/>
        </p:spPr>
      </p:sp>
      <p:sp>
        <p:nvSpPr>
          <p:cNvPr id="12" name="Shape 10"/>
          <p:cNvSpPr/>
          <p:nvPr/>
        </p:nvSpPr>
        <p:spPr>
          <a:xfrm>
            <a:off x="8394192" y="329184"/>
            <a:ext cx="100584" cy="100584"/>
          </a:xfrm>
          <a:prstGeom prst="ellipse">
            <a:avLst/>
          </a:prstGeom>
          <a:solidFill>
            <a:srgbClr val="D5DED9"/>
          </a:solidFill>
          <a:ln/>
        </p:spPr>
      </p:sp>
      <p:sp>
        <p:nvSpPr>
          <p:cNvPr id="13" name="Shape 11"/>
          <p:cNvSpPr/>
          <p:nvPr/>
        </p:nvSpPr>
        <p:spPr>
          <a:xfrm>
            <a:off x="8577072" y="329184"/>
            <a:ext cx="100584" cy="100584"/>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Sources de données non traditionnelles · Le trésor caché · Atelier STG17</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12</a:t>
            </a:r>
            <a:endParaRPr lang="en-US" sz="850" dirty="0"/>
          </a:p>
        </p:txBody>
      </p:sp>
      <p:sp>
        <p:nvSpPr>
          <p:cNvPr id="17" name="Shape 14"/>
          <p:cNvSpPr/>
          <p:nvPr/>
        </p:nvSpPr>
        <p:spPr>
          <a:xfrm>
            <a:off x="457200" y="1097280"/>
            <a:ext cx="2743200" cy="1600200"/>
          </a:xfrm>
          <a:prstGeom prst="roundRect">
            <a:avLst>
              <a:gd name="adj" fmla="val 4571"/>
            </a:avLst>
          </a:prstGeom>
          <a:solidFill>
            <a:srgbClr val="F4F7F5"/>
          </a:solidFill>
          <a:ln w="9525">
            <a:solidFill>
              <a:srgbClr val="D5DED9"/>
            </a:solidFill>
            <a:prstDash val="solid"/>
          </a:ln>
        </p:spPr>
      </p:sp>
      <p:sp>
        <p:nvSpPr>
          <p:cNvPr id="18" name="Shape 15"/>
          <p:cNvSpPr/>
          <p:nvPr/>
        </p:nvSpPr>
        <p:spPr>
          <a:xfrm>
            <a:off x="594360" y="1207008"/>
            <a:ext cx="384048" cy="384048"/>
          </a:xfrm>
          <a:prstGeom prst="ellipse">
            <a:avLst/>
          </a:prstGeom>
          <a:solidFill>
            <a:srgbClr val="00704A">
              <a:alpha val="22000"/>
            </a:srgbClr>
          </a:solidFill>
          <a:ln/>
        </p:spPr>
      </p:sp>
      <p:pic>
        <p:nvPicPr>
          <p:cNvPr id="19" name="Image 0" descr="preencoded.png">    </p:cNvPr>
          <p:cNvPicPr>
            <a:picLocks noChangeAspect="1"/>
          </p:cNvPicPr>
          <p:nvPr/>
        </p:nvPicPr>
        <p:blipFill>
          <a:blip r:embed="rId1"/>
          <a:stretch>
            <a:fillRect/>
          </a:stretch>
        </p:blipFill>
        <p:spPr>
          <a:xfrm>
            <a:off x="690372" y="1303020"/>
            <a:ext cx="192024" cy="192024"/>
          </a:xfrm>
          <a:prstGeom prst="rect">
            <a:avLst/>
          </a:prstGeom>
        </p:spPr>
      </p:pic>
      <p:sp>
        <p:nvSpPr>
          <p:cNvPr id="20" name="Text 16"/>
          <p:cNvSpPr txBox="1"/>
          <p:nvPr/>
        </p:nvSpPr>
        <p:spPr>
          <a:xfrm>
            <a:off x="1069848" y="1207008"/>
            <a:ext cx="1828800" cy="384048"/>
          </a:xfrm>
          <a:prstGeom prst="rect">
            <a:avLst/>
          </a:prstGeom>
          <a:noFill/>
          <a:ln/>
        </p:spPr>
        <p:txBody>
          <a:bodyPr wrap="square" lIns="0" tIns="0" rIns="0" bIns="0" rtlCol="0" anchor="ctr"/>
          <a:lstStyle/>
          <a:p>
            <a:pPr indent="0" marL="0">
              <a:buNone/>
            </a:pPr>
            <a:r>
              <a:rPr lang="en-US" sz="1000" b="1" spc="200" kern="0" dirty="0">
                <a:solidFill>
                  <a:srgbClr val="00704A"/>
                </a:solidFill>
                <a:latin typeface="Calibri" pitchFamily="34" charset="0"/>
                <a:ea typeface="Calibri" pitchFamily="34" charset="-122"/>
                <a:cs typeface="Calibri" pitchFamily="34" charset="-120"/>
              </a:rPr>
              <a:t>DE QUOI S'AGIT-IL ?</a:t>
            </a:r>
            <a:endParaRPr lang="en-US" sz="1000" dirty="0"/>
          </a:p>
        </p:txBody>
      </p:sp>
      <p:sp>
        <p:nvSpPr>
          <p:cNvPr id="21" name="Text 17"/>
          <p:cNvSpPr txBox="1"/>
          <p:nvPr/>
        </p:nvSpPr>
        <p:spPr>
          <a:xfrm>
            <a:off x="594360" y="1645920"/>
            <a:ext cx="2487168" cy="1024128"/>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Images optiques, radar et de lumières nocturnes issues de missions publiques (Sentinel, Landsat, VIIRS) et de fournisseurs commerciaux — mondiales, répétées et largement gratuites en moyenne résolution.</a:t>
            </a:r>
            <a:endParaRPr lang="en-US" sz="1000" dirty="0"/>
          </a:p>
        </p:txBody>
      </p:sp>
      <p:sp>
        <p:nvSpPr>
          <p:cNvPr id="22" name="Shape 18"/>
          <p:cNvSpPr/>
          <p:nvPr/>
        </p:nvSpPr>
        <p:spPr>
          <a:xfrm>
            <a:off x="457200" y="2807208"/>
            <a:ext cx="2743200" cy="1188720"/>
          </a:xfrm>
          <a:prstGeom prst="roundRect">
            <a:avLst>
              <a:gd name="adj" fmla="val 6154"/>
            </a:avLst>
          </a:prstGeom>
          <a:solidFill>
            <a:srgbClr val="F4F7F5"/>
          </a:solidFill>
          <a:ln w="9525">
            <a:solidFill>
              <a:srgbClr val="D5DED9"/>
            </a:solidFill>
            <a:prstDash val="solid"/>
          </a:ln>
        </p:spPr>
      </p:sp>
      <p:sp>
        <p:nvSpPr>
          <p:cNvPr id="23" name="Text 19"/>
          <p:cNvSpPr txBox="1"/>
          <p:nvPr/>
        </p:nvSpPr>
        <p:spPr>
          <a:xfrm>
            <a:off x="594360" y="2880360"/>
            <a:ext cx="2286000" cy="201168"/>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OÙ LA TROUVER</a:t>
            </a:r>
            <a:endParaRPr lang="en-US" sz="1000" dirty="0"/>
          </a:p>
        </p:txBody>
      </p:sp>
      <p:sp>
        <p:nvSpPr>
          <p:cNvPr id="24" name="Shape 20"/>
          <p:cNvSpPr/>
          <p:nvPr/>
        </p:nvSpPr>
        <p:spPr>
          <a:xfrm>
            <a:off x="594360" y="3163824"/>
            <a:ext cx="1207008" cy="329184"/>
          </a:xfrm>
          <a:prstGeom prst="roundRect">
            <a:avLst>
              <a:gd name="adj" fmla="val 22222"/>
            </a:avLst>
          </a:prstGeom>
          <a:solidFill>
            <a:srgbClr val="FFFFFF"/>
          </a:solidFill>
          <a:ln w="9525">
            <a:solidFill>
              <a:srgbClr val="00704A"/>
            </a:solidFill>
            <a:prstDash val="solid"/>
          </a:ln>
        </p:spPr>
      </p:sp>
      <p:sp>
        <p:nvSpPr>
          <p:cNvPr id="25" name="Text 21"/>
          <p:cNvSpPr txBox="1"/>
          <p:nvPr/>
        </p:nvSpPr>
        <p:spPr>
          <a:xfrm>
            <a:off x="621792" y="3163824"/>
            <a:ext cx="1152144" cy="329184"/>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Copernicus Sentinel-2</a:t>
            </a:r>
            <a:endParaRPr lang="en-US" sz="850" dirty="0"/>
          </a:p>
        </p:txBody>
      </p:sp>
      <p:sp>
        <p:nvSpPr>
          <p:cNvPr id="26" name="Shape 22"/>
          <p:cNvSpPr/>
          <p:nvPr/>
        </p:nvSpPr>
        <p:spPr>
          <a:xfrm>
            <a:off x="1865376" y="3163824"/>
            <a:ext cx="1207008" cy="329184"/>
          </a:xfrm>
          <a:prstGeom prst="roundRect">
            <a:avLst>
              <a:gd name="adj" fmla="val 22222"/>
            </a:avLst>
          </a:prstGeom>
          <a:solidFill>
            <a:srgbClr val="FFFFFF"/>
          </a:solidFill>
          <a:ln w="9525">
            <a:solidFill>
              <a:srgbClr val="00704A"/>
            </a:solidFill>
            <a:prstDash val="solid"/>
          </a:ln>
        </p:spPr>
      </p:sp>
      <p:sp>
        <p:nvSpPr>
          <p:cNvPr id="27" name="Text 23"/>
          <p:cNvSpPr txBox="1"/>
          <p:nvPr/>
        </p:nvSpPr>
        <p:spPr>
          <a:xfrm>
            <a:off x="1892808" y="3163824"/>
            <a:ext cx="1152144" cy="329184"/>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Landsat 8/9</a:t>
            </a:r>
            <a:endParaRPr lang="en-US" sz="850" dirty="0"/>
          </a:p>
        </p:txBody>
      </p:sp>
      <p:sp>
        <p:nvSpPr>
          <p:cNvPr id="28" name="Shape 24"/>
          <p:cNvSpPr/>
          <p:nvPr/>
        </p:nvSpPr>
        <p:spPr>
          <a:xfrm>
            <a:off x="594360" y="3557016"/>
            <a:ext cx="1207008" cy="329184"/>
          </a:xfrm>
          <a:prstGeom prst="roundRect">
            <a:avLst>
              <a:gd name="adj" fmla="val 22222"/>
            </a:avLst>
          </a:prstGeom>
          <a:solidFill>
            <a:srgbClr val="FFFFFF"/>
          </a:solidFill>
          <a:ln w="9525">
            <a:solidFill>
              <a:srgbClr val="00704A"/>
            </a:solidFill>
            <a:prstDash val="solid"/>
          </a:ln>
        </p:spPr>
      </p:sp>
      <p:sp>
        <p:nvSpPr>
          <p:cNvPr id="29" name="Text 25"/>
          <p:cNvSpPr txBox="1"/>
          <p:nvPr/>
        </p:nvSpPr>
        <p:spPr>
          <a:xfrm>
            <a:off x="621792" y="3557016"/>
            <a:ext cx="1152144" cy="329184"/>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NASA Black Marble</a:t>
            </a:r>
            <a:endParaRPr lang="en-US" sz="850" dirty="0"/>
          </a:p>
        </p:txBody>
      </p:sp>
      <p:sp>
        <p:nvSpPr>
          <p:cNvPr id="30" name="Shape 26"/>
          <p:cNvSpPr/>
          <p:nvPr/>
        </p:nvSpPr>
        <p:spPr>
          <a:xfrm>
            <a:off x="1865376" y="3557016"/>
            <a:ext cx="1207008" cy="329184"/>
          </a:xfrm>
          <a:prstGeom prst="roundRect">
            <a:avLst>
              <a:gd name="adj" fmla="val 22222"/>
            </a:avLst>
          </a:prstGeom>
          <a:solidFill>
            <a:srgbClr val="FFFFFF"/>
          </a:solidFill>
          <a:ln w="9525">
            <a:solidFill>
              <a:srgbClr val="00704A"/>
            </a:solidFill>
            <a:prstDash val="solid"/>
          </a:ln>
        </p:spPr>
      </p:sp>
      <p:sp>
        <p:nvSpPr>
          <p:cNvPr id="31" name="Text 27"/>
          <p:cNvSpPr txBox="1"/>
          <p:nvPr/>
        </p:nvSpPr>
        <p:spPr>
          <a:xfrm>
            <a:off x="1892808" y="3557016"/>
            <a:ext cx="1152144" cy="329184"/>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Google Earth Engine</a:t>
            </a:r>
            <a:endParaRPr lang="en-US" sz="850" dirty="0"/>
          </a:p>
        </p:txBody>
      </p:sp>
      <p:sp>
        <p:nvSpPr>
          <p:cNvPr id="32" name="Shape 28"/>
          <p:cNvSpPr/>
          <p:nvPr/>
        </p:nvSpPr>
        <p:spPr>
          <a:xfrm>
            <a:off x="3337560" y="1097280"/>
            <a:ext cx="2697480" cy="2898648"/>
          </a:xfrm>
          <a:prstGeom prst="roundRect">
            <a:avLst>
              <a:gd name="adj" fmla="val 2712"/>
            </a:avLst>
          </a:prstGeom>
          <a:solidFill>
            <a:srgbClr val="F4F7F5"/>
          </a:solidFill>
          <a:ln w="9525">
            <a:solidFill>
              <a:srgbClr val="D5DED9"/>
            </a:solidFill>
            <a:prstDash val="solid"/>
          </a:ln>
        </p:spPr>
      </p:sp>
      <p:sp>
        <p:nvSpPr>
          <p:cNvPr id="33" name="Text 29"/>
          <p:cNvSpPr txBox="1"/>
          <p:nvPr/>
        </p:nvSpPr>
        <p:spPr>
          <a:xfrm>
            <a:off x="3474720" y="1207008"/>
            <a:ext cx="2468880" cy="274320"/>
          </a:xfrm>
          <a:prstGeom prst="rect">
            <a:avLst/>
          </a:prstGeom>
          <a:noFill/>
          <a:ln/>
        </p:spPr>
        <p:txBody>
          <a:bodyPr wrap="square" lIns="0" tIns="0" rIns="0" bIns="0" rtlCol="0" anchor="ctr"/>
          <a:lstStyle/>
          <a:p>
            <a:pPr indent="0" marL="0">
              <a:buNone/>
            </a:pPr>
            <a:r>
              <a:rPr lang="en-US" sz="1000" b="1" spc="200" kern="0" dirty="0">
                <a:solidFill>
                  <a:srgbClr val="00704A"/>
                </a:solidFill>
                <a:latin typeface="Calibri" pitchFamily="34" charset="0"/>
                <a:ea typeface="Calibri" pitchFamily="34" charset="-122"/>
                <a:cs typeface="Calibri" pitchFamily="34" charset="-120"/>
              </a:rPr>
              <a:t>CE QU'ELLE PERMET DE MESURER</a:t>
            </a:r>
            <a:endParaRPr lang="en-US" sz="1000" dirty="0"/>
          </a:p>
        </p:txBody>
      </p:sp>
      <p:pic>
        <p:nvPicPr>
          <p:cNvPr id="34" name="Image 1" descr="preencoded.png">    </p:cNvPr>
          <p:cNvPicPr>
            <a:picLocks noChangeAspect="1"/>
          </p:cNvPicPr>
          <p:nvPr/>
        </p:nvPicPr>
        <p:blipFill>
          <a:blip r:embed="rId2"/>
          <a:stretch>
            <a:fillRect/>
          </a:stretch>
        </p:blipFill>
        <p:spPr>
          <a:xfrm>
            <a:off x="3474720" y="1664208"/>
            <a:ext cx="182880" cy="182880"/>
          </a:xfrm>
          <a:prstGeom prst="rect">
            <a:avLst/>
          </a:prstGeom>
        </p:spPr>
      </p:pic>
      <p:sp>
        <p:nvSpPr>
          <p:cNvPr id="35" name="Text 30"/>
          <p:cNvSpPr txBox="1"/>
          <p:nvPr/>
        </p:nvSpPr>
        <p:spPr>
          <a:xfrm>
            <a:off x="3749040" y="1627632"/>
            <a:ext cx="2212848"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Occupation du sol, surfaces et état des cultures</a:t>
            </a:r>
            <a:endParaRPr lang="en-US" sz="1050" dirty="0"/>
          </a:p>
        </p:txBody>
      </p:sp>
      <p:pic>
        <p:nvPicPr>
          <p:cNvPr id="36" name="Image 2" descr="preencoded.png">    </p:cNvPr>
          <p:cNvPicPr>
            <a:picLocks noChangeAspect="1"/>
          </p:cNvPicPr>
          <p:nvPr/>
        </p:nvPicPr>
        <p:blipFill>
          <a:blip r:embed="rId3"/>
          <a:stretch>
            <a:fillRect/>
          </a:stretch>
        </p:blipFill>
        <p:spPr>
          <a:xfrm>
            <a:off x="3474720" y="2121408"/>
            <a:ext cx="182880" cy="182880"/>
          </a:xfrm>
          <a:prstGeom prst="rect">
            <a:avLst/>
          </a:prstGeom>
        </p:spPr>
      </p:pic>
      <p:sp>
        <p:nvSpPr>
          <p:cNvPr id="37" name="Text 31"/>
          <p:cNvSpPr txBox="1"/>
          <p:nvPr/>
        </p:nvSpPr>
        <p:spPr>
          <a:xfrm>
            <a:off x="3749040" y="2084832"/>
            <a:ext cx="2212848"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Surfaces bâties et croissance urbaine</a:t>
            </a:r>
            <a:endParaRPr lang="en-US" sz="1050" dirty="0"/>
          </a:p>
        </p:txBody>
      </p:sp>
      <p:pic>
        <p:nvPicPr>
          <p:cNvPr id="38" name="Image 3" descr="preencoded.png">    </p:cNvPr>
          <p:cNvPicPr>
            <a:picLocks noChangeAspect="1"/>
          </p:cNvPicPr>
          <p:nvPr/>
        </p:nvPicPr>
        <p:blipFill>
          <a:blip r:embed="rId4"/>
          <a:stretch>
            <a:fillRect/>
          </a:stretch>
        </p:blipFill>
        <p:spPr>
          <a:xfrm>
            <a:off x="3474720" y="2578608"/>
            <a:ext cx="182880" cy="182880"/>
          </a:xfrm>
          <a:prstGeom prst="rect">
            <a:avLst/>
          </a:prstGeom>
        </p:spPr>
      </p:pic>
      <p:sp>
        <p:nvSpPr>
          <p:cNvPr id="39" name="Text 32"/>
          <p:cNvSpPr txBox="1"/>
          <p:nvPr/>
        </p:nvSpPr>
        <p:spPr>
          <a:xfrm>
            <a:off x="3749040" y="2542032"/>
            <a:ext cx="2212848"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Radiance nocturne : électrification, activité</a:t>
            </a:r>
            <a:endParaRPr lang="en-US" sz="1050" dirty="0"/>
          </a:p>
        </p:txBody>
      </p:sp>
      <p:pic>
        <p:nvPicPr>
          <p:cNvPr id="40" name="Image 4" descr="preencoded.png">    </p:cNvPr>
          <p:cNvPicPr>
            <a:picLocks noChangeAspect="1"/>
          </p:cNvPicPr>
          <p:nvPr/>
        </p:nvPicPr>
        <p:blipFill>
          <a:blip r:embed="rId5"/>
          <a:stretch>
            <a:fillRect/>
          </a:stretch>
        </p:blipFill>
        <p:spPr>
          <a:xfrm>
            <a:off x="3474720" y="3035808"/>
            <a:ext cx="182880" cy="182880"/>
          </a:xfrm>
          <a:prstGeom prst="rect">
            <a:avLst/>
          </a:prstGeom>
        </p:spPr>
      </p:pic>
      <p:sp>
        <p:nvSpPr>
          <p:cNvPr id="41" name="Text 33"/>
          <p:cNvSpPr txBox="1"/>
          <p:nvPr/>
        </p:nvSpPr>
        <p:spPr>
          <a:xfrm>
            <a:off x="3749040" y="2999232"/>
            <a:ext cx="2212848"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Inondations, sécheresse, plans d'eau</a:t>
            </a:r>
            <a:endParaRPr lang="en-US" sz="1050" dirty="0"/>
          </a:p>
        </p:txBody>
      </p:sp>
      <p:pic>
        <p:nvPicPr>
          <p:cNvPr id="42" name="Image 5" descr="preencoded.png">    </p:cNvPr>
          <p:cNvPicPr>
            <a:picLocks noChangeAspect="1"/>
          </p:cNvPicPr>
          <p:nvPr/>
        </p:nvPicPr>
        <p:blipFill>
          <a:blip r:embed="rId6"/>
          <a:stretch>
            <a:fillRect/>
          </a:stretch>
        </p:blipFill>
        <p:spPr>
          <a:xfrm>
            <a:off x="3474720" y="3493008"/>
            <a:ext cx="182880" cy="182880"/>
          </a:xfrm>
          <a:prstGeom prst="rect">
            <a:avLst/>
          </a:prstGeom>
        </p:spPr>
      </p:pic>
      <p:sp>
        <p:nvSpPr>
          <p:cNvPr id="43" name="Text 34"/>
          <p:cNvSpPr txBox="1"/>
          <p:nvPr/>
        </p:nvSpPr>
        <p:spPr>
          <a:xfrm>
            <a:off x="3749040" y="3456432"/>
            <a:ext cx="2212848"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Cartographie de la pauvreté, avec les enquêtes</a:t>
            </a:r>
            <a:endParaRPr lang="en-US" sz="1050" dirty="0"/>
          </a:p>
        </p:txBody>
      </p:sp>
      <p:sp>
        <p:nvSpPr>
          <p:cNvPr id="44" name="Shape 35"/>
          <p:cNvSpPr/>
          <p:nvPr/>
        </p:nvSpPr>
        <p:spPr>
          <a:xfrm>
            <a:off x="6172200" y="1097280"/>
            <a:ext cx="2514600" cy="1783080"/>
          </a:xfrm>
          <a:prstGeom prst="roundRect">
            <a:avLst>
              <a:gd name="adj" fmla="val 4103"/>
            </a:avLst>
          </a:prstGeom>
          <a:solidFill>
            <a:srgbClr val="E8F5EF"/>
          </a:solidFill>
          <a:ln w="15875">
            <a:solidFill>
              <a:srgbClr val="00A86A"/>
            </a:solidFill>
            <a:prstDash val="solid"/>
          </a:ln>
        </p:spPr>
      </p:sp>
      <p:sp>
        <p:nvSpPr>
          <p:cNvPr id="45" name="Text 36"/>
          <p:cNvSpPr txBox="1"/>
          <p:nvPr/>
        </p:nvSpPr>
        <p:spPr>
          <a:xfrm>
            <a:off x="6309360" y="1188720"/>
            <a:ext cx="2286000" cy="228600"/>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EXEMPLE DOCUMENTÉ</a:t>
            </a:r>
            <a:endParaRPr lang="en-US" sz="1000" dirty="0"/>
          </a:p>
        </p:txBody>
      </p:sp>
      <p:sp>
        <p:nvSpPr>
          <p:cNvPr id="46" name="Text 37"/>
          <p:cNvSpPr txBox="1"/>
          <p:nvPr/>
        </p:nvSpPr>
        <p:spPr>
          <a:xfrm>
            <a:off x="6309360" y="1426464"/>
            <a:ext cx="2286000" cy="141732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Jean et al. (Science, 2016) ont entraîné un modèle sur l'imagerie diurne et les lumières nocturnes pour prédire la consommation et les actifs des ménages dans cinq pays africains, dont le Rwanda.</a:t>
            </a:r>
            <a:endParaRPr lang="en-US" sz="1000" dirty="0"/>
          </a:p>
        </p:txBody>
      </p:sp>
      <p:sp>
        <p:nvSpPr>
          <p:cNvPr id="47" name="Shape 38"/>
          <p:cNvSpPr/>
          <p:nvPr/>
        </p:nvSpPr>
        <p:spPr>
          <a:xfrm>
            <a:off x="6172200" y="2990088"/>
            <a:ext cx="2514600" cy="1005840"/>
          </a:xfrm>
          <a:prstGeom prst="roundRect">
            <a:avLst>
              <a:gd name="adj" fmla="val 5455"/>
            </a:avLst>
          </a:prstGeom>
          <a:solidFill>
            <a:srgbClr val="D49A00">
              <a:alpha val="13000"/>
            </a:srgbClr>
          </a:solidFill>
          <a:ln w="12700">
            <a:solidFill>
              <a:srgbClr val="D49A00"/>
            </a:solidFill>
            <a:prstDash val="solid"/>
          </a:ln>
        </p:spPr>
      </p:sp>
      <p:pic>
        <p:nvPicPr>
          <p:cNvPr id="48" name="Image 6" descr="preencoded.png">    </p:cNvPr>
          <p:cNvPicPr>
            <a:picLocks noChangeAspect="1"/>
          </p:cNvPicPr>
          <p:nvPr/>
        </p:nvPicPr>
        <p:blipFill>
          <a:blip r:embed="rId7"/>
          <a:stretch>
            <a:fillRect/>
          </a:stretch>
        </p:blipFill>
        <p:spPr>
          <a:xfrm>
            <a:off x="6291072" y="3072384"/>
            <a:ext cx="182880" cy="182880"/>
          </a:xfrm>
          <a:prstGeom prst="rect">
            <a:avLst/>
          </a:prstGeom>
        </p:spPr>
      </p:pic>
      <p:sp>
        <p:nvSpPr>
          <p:cNvPr id="49" name="Text 39"/>
          <p:cNvSpPr txBox="1"/>
          <p:nvPr/>
        </p:nvSpPr>
        <p:spPr>
          <a:xfrm>
            <a:off x="6537960" y="3063240"/>
            <a:ext cx="1828800" cy="201168"/>
          </a:xfrm>
          <a:prstGeom prst="rect">
            <a:avLst/>
          </a:prstGeom>
          <a:noFill/>
          <a:ln/>
        </p:spPr>
        <p:txBody>
          <a:bodyPr wrap="square" lIns="0" tIns="0" rIns="0" bIns="0" rtlCol="0" anchor="t"/>
          <a:lstStyle/>
          <a:p>
            <a:pPr indent="0" marL="0">
              <a:buNone/>
            </a:pPr>
            <a:r>
              <a:rPr lang="en-US" sz="1000" b="1" spc="200" kern="0" dirty="0">
                <a:solidFill>
                  <a:srgbClr val="D49A00"/>
                </a:solidFill>
                <a:latin typeface="Calibri" pitchFamily="34" charset="0"/>
                <a:ea typeface="Calibri" pitchFamily="34" charset="-122"/>
                <a:cs typeface="Calibri" pitchFamily="34" charset="-120"/>
              </a:rPr>
              <a:t>VIGILANCE</a:t>
            </a:r>
            <a:endParaRPr lang="en-US" sz="1000" dirty="0"/>
          </a:p>
        </p:txBody>
      </p:sp>
      <p:sp>
        <p:nvSpPr>
          <p:cNvPr id="50" name="Text 40"/>
          <p:cNvSpPr txBox="1"/>
          <p:nvPr/>
        </p:nvSpPr>
        <p:spPr>
          <a:xfrm>
            <a:off x="6291072" y="3273552"/>
            <a:ext cx="2322576" cy="704088"/>
          </a:xfrm>
          <a:prstGeom prst="rect">
            <a:avLst/>
          </a:prstGeom>
          <a:noFill/>
          <a:ln/>
        </p:spPr>
        <p:txBody>
          <a:bodyPr wrap="square" lIns="0" tIns="0" rIns="0" bIns="0" rtlCol="0" anchor="t"/>
          <a:lstStyle/>
          <a:p>
            <a:pPr indent="0" marL="0">
              <a:buNone/>
            </a:pPr>
            <a:r>
              <a:rPr lang="en-US" sz="900" dirty="0">
                <a:solidFill>
                  <a:srgbClr val="231F20"/>
                </a:solidFill>
                <a:latin typeface="Calibri" pitchFamily="34" charset="0"/>
                <a:ea typeface="Calibri" pitchFamily="34" charset="-122"/>
                <a:cs typeface="Calibri" pitchFamily="34" charset="-120"/>
              </a:rPr>
              <a:t>Le capteur voit un indicateur indirect, jamais le concept : la lumière n'est pas le PIB, le vert n'est pas le rendement. Calibrer sur le terrain et revalider.</a:t>
            </a:r>
            <a:endParaRPr lang="en-US" sz="900" dirty="0"/>
          </a:p>
        </p:txBody>
      </p:sp>
      <p:sp>
        <p:nvSpPr>
          <p:cNvPr id="51" name="Shape 41"/>
          <p:cNvSpPr/>
          <p:nvPr/>
        </p:nvSpPr>
        <p:spPr>
          <a:xfrm>
            <a:off x="457200" y="4114800"/>
            <a:ext cx="2615184" cy="438912"/>
          </a:xfrm>
          <a:prstGeom prst="roundRect">
            <a:avLst>
              <a:gd name="adj" fmla="val 12500"/>
            </a:avLst>
          </a:prstGeom>
          <a:solidFill>
            <a:srgbClr val="FFFFFF"/>
          </a:solidFill>
          <a:ln w="9525">
            <a:solidFill>
              <a:srgbClr val="D5DED9"/>
            </a:solidFill>
            <a:prstDash val="solid"/>
          </a:ln>
        </p:spPr>
      </p:sp>
      <p:sp>
        <p:nvSpPr>
          <p:cNvPr id="52" name="Text 42"/>
          <p:cNvSpPr txBox="1"/>
          <p:nvPr/>
        </p:nvSpPr>
        <p:spPr>
          <a:xfrm>
            <a:off x="548640" y="4114800"/>
            <a:ext cx="1188720" cy="438912"/>
          </a:xfrm>
          <a:prstGeom prst="rect">
            <a:avLst/>
          </a:prstGeom>
          <a:noFill/>
          <a:ln/>
        </p:spPr>
        <p:txBody>
          <a:bodyPr wrap="square" lIns="0" tIns="0" rIns="0" bIns="0" rtlCol="0" anchor="ctr">
            <a:normAutofit/>
          </a:bodyPr>
          <a:lstStyle/>
          <a:p>
            <a:pPr indent="0" marL="0">
              <a:buNone/>
            </a:pPr>
            <a:r>
              <a:rPr lang="en-US" sz="1300" b="1" dirty="0">
                <a:solidFill>
                  <a:srgbClr val="00A86A"/>
                </a:solidFill>
                <a:latin typeface="Calibri" pitchFamily="34" charset="0"/>
                <a:ea typeface="Calibri" pitchFamily="34" charset="-122"/>
                <a:cs typeface="Calibri" pitchFamily="34" charset="-120"/>
              </a:rPr>
              <a:t>10 m</a:t>
            </a:r>
            <a:endParaRPr lang="en-US" sz="1300" dirty="0"/>
          </a:p>
        </p:txBody>
      </p:sp>
      <p:sp>
        <p:nvSpPr>
          <p:cNvPr id="53" name="Text 43"/>
          <p:cNvSpPr txBox="1"/>
          <p:nvPr/>
        </p:nvSpPr>
        <p:spPr>
          <a:xfrm>
            <a:off x="1755648" y="4114800"/>
            <a:ext cx="1280160" cy="438912"/>
          </a:xfrm>
          <a:prstGeom prst="rect">
            <a:avLst/>
          </a:prstGeom>
          <a:noFill/>
          <a:ln/>
        </p:spPr>
        <p:txBody>
          <a:bodyPr wrap="square" lIns="0" tIns="0" rIns="0" bIns="0" rtlCol="0" anchor="ctr"/>
          <a:lstStyle/>
          <a:p>
            <a:pPr indent="0" marL="0">
              <a:buNone/>
            </a:pPr>
            <a:r>
              <a:rPr lang="en-US" sz="900" dirty="0">
                <a:solidFill>
                  <a:srgbClr val="5E6964"/>
                </a:solidFill>
                <a:latin typeface="Calibri" pitchFamily="34" charset="0"/>
                <a:ea typeface="Calibri" pitchFamily="34" charset="-122"/>
                <a:cs typeface="Calibri" pitchFamily="34" charset="-120"/>
              </a:rPr>
              <a:t>résolution de Sentinel-2</a:t>
            </a:r>
            <a:endParaRPr lang="en-US" sz="900" dirty="0"/>
          </a:p>
        </p:txBody>
      </p:sp>
      <p:sp>
        <p:nvSpPr>
          <p:cNvPr id="54" name="Shape 44"/>
          <p:cNvSpPr/>
          <p:nvPr/>
        </p:nvSpPr>
        <p:spPr>
          <a:xfrm>
            <a:off x="3264408" y="4114800"/>
            <a:ext cx="2615184" cy="438912"/>
          </a:xfrm>
          <a:prstGeom prst="roundRect">
            <a:avLst>
              <a:gd name="adj" fmla="val 12500"/>
            </a:avLst>
          </a:prstGeom>
          <a:solidFill>
            <a:srgbClr val="FFFFFF"/>
          </a:solidFill>
          <a:ln w="9525">
            <a:solidFill>
              <a:srgbClr val="D5DED9"/>
            </a:solidFill>
            <a:prstDash val="solid"/>
          </a:ln>
        </p:spPr>
      </p:sp>
      <p:sp>
        <p:nvSpPr>
          <p:cNvPr id="55" name="Text 45"/>
          <p:cNvSpPr txBox="1"/>
          <p:nvPr/>
        </p:nvSpPr>
        <p:spPr>
          <a:xfrm>
            <a:off x="3355848" y="4114800"/>
            <a:ext cx="1188720" cy="438912"/>
          </a:xfrm>
          <a:prstGeom prst="rect">
            <a:avLst/>
          </a:prstGeom>
          <a:noFill/>
          <a:ln/>
        </p:spPr>
        <p:txBody>
          <a:bodyPr wrap="square" lIns="0" tIns="0" rIns="0" bIns="0" rtlCol="0" anchor="ctr">
            <a:normAutofit/>
          </a:bodyPr>
          <a:lstStyle/>
          <a:p>
            <a:pPr indent="0" marL="0">
              <a:buNone/>
            </a:pPr>
            <a:r>
              <a:rPr lang="en-US" sz="1300" b="1" dirty="0">
                <a:solidFill>
                  <a:srgbClr val="00A86A"/>
                </a:solidFill>
                <a:latin typeface="Calibri" pitchFamily="34" charset="0"/>
                <a:ea typeface="Calibri" pitchFamily="34" charset="-122"/>
                <a:cs typeface="Calibri" pitchFamily="34" charset="-120"/>
              </a:rPr>
              <a:t>~500 m</a:t>
            </a:r>
            <a:endParaRPr lang="en-US" sz="1300" dirty="0"/>
          </a:p>
        </p:txBody>
      </p:sp>
      <p:sp>
        <p:nvSpPr>
          <p:cNvPr id="56" name="Text 46"/>
          <p:cNvSpPr txBox="1"/>
          <p:nvPr/>
        </p:nvSpPr>
        <p:spPr>
          <a:xfrm>
            <a:off x="4562856" y="4114800"/>
            <a:ext cx="1280160" cy="438912"/>
          </a:xfrm>
          <a:prstGeom prst="rect">
            <a:avLst/>
          </a:prstGeom>
          <a:noFill/>
          <a:ln/>
        </p:spPr>
        <p:txBody>
          <a:bodyPr wrap="square" lIns="0" tIns="0" rIns="0" bIns="0" rtlCol="0" anchor="ctr"/>
          <a:lstStyle/>
          <a:p>
            <a:pPr indent="0" marL="0">
              <a:buNone/>
            </a:pPr>
            <a:r>
              <a:rPr lang="en-US" sz="900" dirty="0">
                <a:solidFill>
                  <a:srgbClr val="5E6964"/>
                </a:solidFill>
                <a:latin typeface="Calibri" pitchFamily="34" charset="0"/>
                <a:ea typeface="Calibri" pitchFamily="34" charset="-122"/>
                <a:cs typeface="Calibri" pitchFamily="34" charset="-120"/>
              </a:rPr>
              <a:t>grille Black Marble (15")</a:t>
            </a:r>
            <a:endParaRPr lang="en-US" sz="900" dirty="0"/>
          </a:p>
        </p:txBody>
      </p:sp>
      <p:sp>
        <p:nvSpPr>
          <p:cNvPr id="57" name="Shape 47"/>
          <p:cNvSpPr/>
          <p:nvPr/>
        </p:nvSpPr>
        <p:spPr>
          <a:xfrm>
            <a:off x="6071616" y="4114800"/>
            <a:ext cx="2615184" cy="438912"/>
          </a:xfrm>
          <a:prstGeom prst="roundRect">
            <a:avLst>
              <a:gd name="adj" fmla="val 12500"/>
            </a:avLst>
          </a:prstGeom>
          <a:solidFill>
            <a:srgbClr val="FFFFFF"/>
          </a:solidFill>
          <a:ln w="9525">
            <a:solidFill>
              <a:srgbClr val="D5DED9"/>
            </a:solidFill>
            <a:prstDash val="solid"/>
          </a:ln>
        </p:spPr>
      </p:sp>
      <p:sp>
        <p:nvSpPr>
          <p:cNvPr id="58" name="Text 48"/>
          <p:cNvSpPr txBox="1"/>
          <p:nvPr/>
        </p:nvSpPr>
        <p:spPr>
          <a:xfrm>
            <a:off x="6163056" y="4114800"/>
            <a:ext cx="1188720" cy="438912"/>
          </a:xfrm>
          <a:prstGeom prst="rect">
            <a:avLst/>
          </a:prstGeom>
          <a:noFill/>
          <a:ln/>
        </p:spPr>
        <p:txBody>
          <a:bodyPr wrap="square" lIns="0" tIns="0" rIns="0" bIns="0" rtlCol="0" anchor="ctr">
            <a:normAutofit/>
          </a:bodyPr>
          <a:lstStyle/>
          <a:p>
            <a:pPr indent="0" marL="0">
              <a:buNone/>
            </a:pPr>
            <a:r>
              <a:rPr lang="en-US" sz="1300" b="1" dirty="0">
                <a:solidFill>
                  <a:srgbClr val="00A86A"/>
                </a:solidFill>
                <a:latin typeface="Calibri" pitchFamily="34" charset="0"/>
                <a:ea typeface="Calibri" pitchFamily="34" charset="-122"/>
                <a:cs typeface="Calibri" pitchFamily="34" charset="-120"/>
              </a:rPr>
              <a:t>1992–2013</a:t>
            </a:r>
            <a:endParaRPr lang="en-US" sz="1300" dirty="0"/>
          </a:p>
        </p:txBody>
      </p:sp>
      <p:sp>
        <p:nvSpPr>
          <p:cNvPr id="59" name="Text 49"/>
          <p:cNvSpPr txBox="1"/>
          <p:nvPr/>
        </p:nvSpPr>
        <p:spPr>
          <a:xfrm>
            <a:off x="7370064" y="4114800"/>
            <a:ext cx="1280160" cy="438912"/>
          </a:xfrm>
          <a:prstGeom prst="rect">
            <a:avLst/>
          </a:prstGeom>
          <a:noFill/>
          <a:ln/>
        </p:spPr>
        <p:txBody>
          <a:bodyPr wrap="square" lIns="0" tIns="0" rIns="0" bIns="0" rtlCol="0" anchor="ctr"/>
          <a:lstStyle/>
          <a:p>
            <a:pPr indent="0" marL="0">
              <a:buNone/>
            </a:pPr>
            <a:r>
              <a:rPr lang="en-US" sz="900" dirty="0">
                <a:solidFill>
                  <a:srgbClr val="5E6964"/>
                </a:solidFill>
                <a:latin typeface="Calibri" pitchFamily="34" charset="0"/>
                <a:ea typeface="Calibri" pitchFamily="34" charset="-122"/>
                <a:cs typeface="Calibri" pitchFamily="34" charset="-120"/>
              </a:rPr>
              <a:t>archive DMSP-OLS</a:t>
            </a:r>
            <a:endParaRPr lang="en-US" sz="900" dirty="0"/>
          </a:p>
        </p:txBody>
      </p:sp>
      <p:sp>
        <p:nvSpPr>
          <p:cNvPr id="60" name="Text 50"/>
          <p:cNvSpPr txBox="1"/>
          <p:nvPr/>
        </p:nvSpPr>
        <p:spPr>
          <a:xfrm>
            <a:off x="457200" y="4626864"/>
            <a:ext cx="749808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Sources : ESA Copernicus ; NASA Black Marble (Román et al., 2018) ; Jean et al. (2016), Science 353(6301).</a:t>
            </a:r>
            <a:endParaRPr lang="en-US" sz="85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TAXONOMIE · FAMILLE 2 SUR 6</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Mesure participative (crowdsourcing)</a:t>
            </a:r>
            <a:endParaRPr lang="en-US" sz="2400" dirty="0"/>
          </a:p>
        </p:txBody>
      </p:sp>
      <p:sp>
        <p:nvSpPr>
          <p:cNvPr id="8" name="Shape 6"/>
          <p:cNvSpPr/>
          <p:nvPr/>
        </p:nvSpPr>
        <p:spPr>
          <a:xfrm>
            <a:off x="7662672" y="329184"/>
            <a:ext cx="100584" cy="100584"/>
          </a:xfrm>
          <a:prstGeom prst="ellipse">
            <a:avLst/>
          </a:prstGeom>
          <a:solidFill>
            <a:srgbClr val="D5DED9"/>
          </a:solidFill>
          <a:ln/>
        </p:spPr>
      </p:sp>
      <p:sp>
        <p:nvSpPr>
          <p:cNvPr id="9" name="Shape 7"/>
          <p:cNvSpPr/>
          <p:nvPr/>
        </p:nvSpPr>
        <p:spPr>
          <a:xfrm>
            <a:off x="7845552" y="329184"/>
            <a:ext cx="100584" cy="100584"/>
          </a:xfrm>
          <a:prstGeom prst="ellipse">
            <a:avLst/>
          </a:prstGeom>
          <a:solidFill>
            <a:srgbClr val="00704A"/>
          </a:solidFill>
          <a:ln/>
        </p:spPr>
      </p:sp>
      <p:sp>
        <p:nvSpPr>
          <p:cNvPr id="10" name="Shape 8"/>
          <p:cNvSpPr/>
          <p:nvPr/>
        </p:nvSpPr>
        <p:spPr>
          <a:xfrm>
            <a:off x="8028432" y="329184"/>
            <a:ext cx="100584" cy="100584"/>
          </a:xfrm>
          <a:prstGeom prst="ellipse">
            <a:avLst/>
          </a:prstGeom>
          <a:solidFill>
            <a:srgbClr val="D5DED9"/>
          </a:solidFill>
          <a:ln/>
        </p:spPr>
      </p:sp>
      <p:sp>
        <p:nvSpPr>
          <p:cNvPr id="11" name="Shape 9"/>
          <p:cNvSpPr/>
          <p:nvPr/>
        </p:nvSpPr>
        <p:spPr>
          <a:xfrm>
            <a:off x="8211312" y="329184"/>
            <a:ext cx="100584" cy="100584"/>
          </a:xfrm>
          <a:prstGeom prst="ellipse">
            <a:avLst/>
          </a:prstGeom>
          <a:solidFill>
            <a:srgbClr val="D5DED9"/>
          </a:solidFill>
          <a:ln/>
        </p:spPr>
      </p:sp>
      <p:sp>
        <p:nvSpPr>
          <p:cNvPr id="12" name="Shape 10"/>
          <p:cNvSpPr/>
          <p:nvPr/>
        </p:nvSpPr>
        <p:spPr>
          <a:xfrm>
            <a:off x="8394192" y="329184"/>
            <a:ext cx="100584" cy="100584"/>
          </a:xfrm>
          <a:prstGeom prst="ellipse">
            <a:avLst/>
          </a:prstGeom>
          <a:solidFill>
            <a:srgbClr val="D5DED9"/>
          </a:solidFill>
          <a:ln/>
        </p:spPr>
      </p:sp>
      <p:sp>
        <p:nvSpPr>
          <p:cNvPr id="13" name="Shape 11"/>
          <p:cNvSpPr/>
          <p:nvPr/>
        </p:nvSpPr>
        <p:spPr>
          <a:xfrm>
            <a:off x="8577072" y="329184"/>
            <a:ext cx="100584" cy="100584"/>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Sources de données non traditionnelles · Le trésor caché · Atelier STG17</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13</a:t>
            </a:r>
            <a:endParaRPr lang="en-US" sz="850" dirty="0"/>
          </a:p>
        </p:txBody>
      </p:sp>
      <p:sp>
        <p:nvSpPr>
          <p:cNvPr id="17" name="Shape 14"/>
          <p:cNvSpPr/>
          <p:nvPr/>
        </p:nvSpPr>
        <p:spPr>
          <a:xfrm>
            <a:off x="457200" y="1097280"/>
            <a:ext cx="2743200" cy="1600200"/>
          </a:xfrm>
          <a:prstGeom prst="roundRect">
            <a:avLst>
              <a:gd name="adj" fmla="val 4571"/>
            </a:avLst>
          </a:prstGeom>
          <a:solidFill>
            <a:srgbClr val="F4F7F5"/>
          </a:solidFill>
          <a:ln w="9525">
            <a:solidFill>
              <a:srgbClr val="D5DED9"/>
            </a:solidFill>
            <a:prstDash val="solid"/>
          </a:ln>
        </p:spPr>
      </p:sp>
      <p:sp>
        <p:nvSpPr>
          <p:cNvPr id="18" name="Shape 15"/>
          <p:cNvSpPr/>
          <p:nvPr/>
        </p:nvSpPr>
        <p:spPr>
          <a:xfrm>
            <a:off x="594360" y="1207008"/>
            <a:ext cx="384048" cy="384048"/>
          </a:xfrm>
          <a:prstGeom prst="ellipse">
            <a:avLst/>
          </a:prstGeom>
          <a:solidFill>
            <a:srgbClr val="00704A">
              <a:alpha val="22000"/>
            </a:srgbClr>
          </a:solidFill>
          <a:ln/>
        </p:spPr>
      </p:sp>
      <p:pic>
        <p:nvPicPr>
          <p:cNvPr id="19" name="Image 0" descr="preencoded.png">    </p:cNvPr>
          <p:cNvPicPr>
            <a:picLocks noChangeAspect="1"/>
          </p:cNvPicPr>
          <p:nvPr/>
        </p:nvPicPr>
        <p:blipFill>
          <a:blip r:embed="rId1"/>
          <a:stretch>
            <a:fillRect/>
          </a:stretch>
        </p:blipFill>
        <p:spPr>
          <a:xfrm>
            <a:off x="690372" y="1303020"/>
            <a:ext cx="192024" cy="192024"/>
          </a:xfrm>
          <a:prstGeom prst="rect">
            <a:avLst/>
          </a:prstGeom>
        </p:spPr>
      </p:pic>
      <p:sp>
        <p:nvSpPr>
          <p:cNvPr id="20" name="Text 16"/>
          <p:cNvSpPr txBox="1"/>
          <p:nvPr/>
        </p:nvSpPr>
        <p:spPr>
          <a:xfrm>
            <a:off x="1069848" y="1207008"/>
            <a:ext cx="1828800" cy="384048"/>
          </a:xfrm>
          <a:prstGeom prst="rect">
            <a:avLst/>
          </a:prstGeom>
          <a:noFill/>
          <a:ln/>
        </p:spPr>
        <p:txBody>
          <a:bodyPr wrap="square" lIns="0" tIns="0" rIns="0" bIns="0" rtlCol="0" anchor="ctr"/>
          <a:lstStyle/>
          <a:p>
            <a:pPr indent="0" marL="0">
              <a:buNone/>
            </a:pPr>
            <a:r>
              <a:rPr lang="en-US" sz="1000" b="1" spc="200" kern="0" dirty="0">
                <a:solidFill>
                  <a:srgbClr val="00704A"/>
                </a:solidFill>
                <a:latin typeface="Calibri" pitchFamily="34" charset="0"/>
                <a:ea typeface="Calibri" pitchFamily="34" charset="-122"/>
                <a:cs typeface="Calibri" pitchFamily="34" charset="-120"/>
              </a:rPr>
              <a:t>DE QUOI S'AGIT-IL ?</a:t>
            </a:r>
            <a:endParaRPr lang="en-US" sz="1000" dirty="0"/>
          </a:p>
        </p:txBody>
      </p:sp>
      <p:sp>
        <p:nvSpPr>
          <p:cNvPr id="21" name="Text 17"/>
          <p:cNvSpPr txBox="1"/>
          <p:nvPr/>
        </p:nvSpPr>
        <p:spPr>
          <a:xfrm>
            <a:off x="594360" y="1645920"/>
            <a:ext cx="2487168" cy="1024128"/>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Observations fournies volontairement par de nombreux utilisateurs via une application ou une plateforme — tests de débit, cartographie collaborative, prix signalés — puis agrégées.</a:t>
            </a:r>
            <a:endParaRPr lang="en-US" sz="1000" dirty="0"/>
          </a:p>
        </p:txBody>
      </p:sp>
      <p:sp>
        <p:nvSpPr>
          <p:cNvPr id="22" name="Shape 18"/>
          <p:cNvSpPr/>
          <p:nvPr/>
        </p:nvSpPr>
        <p:spPr>
          <a:xfrm>
            <a:off x="457200" y="2807208"/>
            <a:ext cx="2743200" cy="1188720"/>
          </a:xfrm>
          <a:prstGeom prst="roundRect">
            <a:avLst>
              <a:gd name="adj" fmla="val 6154"/>
            </a:avLst>
          </a:prstGeom>
          <a:solidFill>
            <a:srgbClr val="F4F7F5"/>
          </a:solidFill>
          <a:ln w="9525">
            <a:solidFill>
              <a:srgbClr val="D5DED9"/>
            </a:solidFill>
            <a:prstDash val="solid"/>
          </a:ln>
        </p:spPr>
      </p:sp>
      <p:sp>
        <p:nvSpPr>
          <p:cNvPr id="23" name="Text 19"/>
          <p:cNvSpPr txBox="1"/>
          <p:nvPr/>
        </p:nvSpPr>
        <p:spPr>
          <a:xfrm>
            <a:off x="594360" y="2880360"/>
            <a:ext cx="2286000" cy="201168"/>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OÙ LA TROUVER</a:t>
            </a:r>
            <a:endParaRPr lang="en-US" sz="1000" dirty="0"/>
          </a:p>
        </p:txBody>
      </p:sp>
      <p:sp>
        <p:nvSpPr>
          <p:cNvPr id="24" name="Shape 20"/>
          <p:cNvSpPr/>
          <p:nvPr/>
        </p:nvSpPr>
        <p:spPr>
          <a:xfrm>
            <a:off x="594360" y="3163824"/>
            <a:ext cx="1207008" cy="329184"/>
          </a:xfrm>
          <a:prstGeom prst="roundRect">
            <a:avLst>
              <a:gd name="adj" fmla="val 22222"/>
            </a:avLst>
          </a:prstGeom>
          <a:solidFill>
            <a:srgbClr val="FFFFFF"/>
          </a:solidFill>
          <a:ln w="9525">
            <a:solidFill>
              <a:srgbClr val="00704A"/>
            </a:solidFill>
            <a:prstDash val="solid"/>
          </a:ln>
        </p:spPr>
      </p:sp>
      <p:sp>
        <p:nvSpPr>
          <p:cNvPr id="25" name="Text 21"/>
          <p:cNvSpPr txBox="1"/>
          <p:nvPr/>
        </p:nvSpPr>
        <p:spPr>
          <a:xfrm>
            <a:off x="621792" y="3163824"/>
            <a:ext cx="1152144" cy="329184"/>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Ookla Speedtest (ouvert)</a:t>
            </a:r>
            <a:endParaRPr lang="en-US" sz="850" dirty="0"/>
          </a:p>
        </p:txBody>
      </p:sp>
      <p:sp>
        <p:nvSpPr>
          <p:cNvPr id="26" name="Shape 22"/>
          <p:cNvSpPr/>
          <p:nvPr/>
        </p:nvSpPr>
        <p:spPr>
          <a:xfrm>
            <a:off x="1865376" y="3163824"/>
            <a:ext cx="1207008" cy="329184"/>
          </a:xfrm>
          <a:prstGeom prst="roundRect">
            <a:avLst>
              <a:gd name="adj" fmla="val 22222"/>
            </a:avLst>
          </a:prstGeom>
          <a:solidFill>
            <a:srgbClr val="FFFFFF"/>
          </a:solidFill>
          <a:ln w="9525">
            <a:solidFill>
              <a:srgbClr val="00704A"/>
            </a:solidFill>
            <a:prstDash val="solid"/>
          </a:ln>
        </p:spPr>
      </p:sp>
      <p:sp>
        <p:nvSpPr>
          <p:cNvPr id="27" name="Text 23"/>
          <p:cNvSpPr txBox="1"/>
          <p:nvPr/>
        </p:nvSpPr>
        <p:spPr>
          <a:xfrm>
            <a:off x="1892808" y="3163824"/>
            <a:ext cx="1152144" cy="329184"/>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OpenStreetMap</a:t>
            </a:r>
            <a:endParaRPr lang="en-US" sz="850" dirty="0"/>
          </a:p>
        </p:txBody>
      </p:sp>
      <p:sp>
        <p:nvSpPr>
          <p:cNvPr id="28" name="Shape 24"/>
          <p:cNvSpPr/>
          <p:nvPr/>
        </p:nvSpPr>
        <p:spPr>
          <a:xfrm>
            <a:off x="594360" y="3557016"/>
            <a:ext cx="1207008" cy="329184"/>
          </a:xfrm>
          <a:prstGeom prst="roundRect">
            <a:avLst>
              <a:gd name="adj" fmla="val 22222"/>
            </a:avLst>
          </a:prstGeom>
          <a:solidFill>
            <a:srgbClr val="FFFFFF"/>
          </a:solidFill>
          <a:ln w="9525">
            <a:solidFill>
              <a:srgbClr val="00704A"/>
            </a:solidFill>
            <a:prstDash val="solid"/>
          </a:ln>
        </p:spPr>
      </p:sp>
      <p:sp>
        <p:nvSpPr>
          <p:cNvPr id="29" name="Text 25"/>
          <p:cNvSpPr txBox="1"/>
          <p:nvPr/>
        </p:nvSpPr>
        <p:spPr>
          <a:xfrm>
            <a:off x="621792" y="3557016"/>
            <a:ext cx="1152144" cy="329184"/>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Applis de prix</a:t>
            </a:r>
            <a:endParaRPr lang="en-US" sz="850" dirty="0"/>
          </a:p>
        </p:txBody>
      </p:sp>
      <p:sp>
        <p:nvSpPr>
          <p:cNvPr id="30" name="Shape 26"/>
          <p:cNvSpPr/>
          <p:nvPr/>
        </p:nvSpPr>
        <p:spPr>
          <a:xfrm>
            <a:off x="1865376" y="3557016"/>
            <a:ext cx="1207008" cy="329184"/>
          </a:xfrm>
          <a:prstGeom prst="roundRect">
            <a:avLst>
              <a:gd name="adj" fmla="val 22222"/>
            </a:avLst>
          </a:prstGeom>
          <a:solidFill>
            <a:srgbClr val="FFFFFF"/>
          </a:solidFill>
          <a:ln w="9525">
            <a:solidFill>
              <a:srgbClr val="00704A"/>
            </a:solidFill>
            <a:prstDash val="solid"/>
          </a:ln>
        </p:spPr>
      </p:sp>
      <p:sp>
        <p:nvSpPr>
          <p:cNvPr id="31" name="Text 27"/>
          <p:cNvSpPr txBox="1"/>
          <p:nvPr/>
        </p:nvSpPr>
        <p:spPr>
          <a:xfrm>
            <a:off x="1892808" y="3557016"/>
            <a:ext cx="1152144" cy="329184"/>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WorldPop (auxiliaire)</a:t>
            </a:r>
            <a:endParaRPr lang="en-US" sz="850" dirty="0"/>
          </a:p>
        </p:txBody>
      </p:sp>
      <p:sp>
        <p:nvSpPr>
          <p:cNvPr id="32" name="Shape 28"/>
          <p:cNvSpPr/>
          <p:nvPr/>
        </p:nvSpPr>
        <p:spPr>
          <a:xfrm>
            <a:off x="3337560" y="1097280"/>
            <a:ext cx="2697480" cy="2898648"/>
          </a:xfrm>
          <a:prstGeom prst="roundRect">
            <a:avLst>
              <a:gd name="adj" fmla="val 2712"/>
            </a:avLst>
          </a:prstGeom>
          <a:solidFill>
            <a:srgbClr val="F4F7F5"/>
          </a:solidFill>
          <a:ln w="9525">
            <a:solidFill>
              <a:srgbClr val="D5DED9"/>
            </a:solidFill>
            <a:prstDash val="solid"/>
          </a:ln>
        </p:spPr>
      </p:sp>
      <p:sp>
        <p:nvSpPr>
          <p:cNvPr id="33" name="Text 29"/>
          <p:cNvSpPr txBox="1"/>
          <p:nvPr/>
        </p:nvSpPr>
        <p:spPr>
          <a:xfrm>
            <a:off x="3474720" y="1207008"/>
            <a:ext cx="2468880" cy="274320"/>
          </a:xfrm>
          <a:prstGeom prst="rect">
            <a:avLst/>
          </a:prstGeom>
          <a:noFill/>
          <a:ln/>
        </p:spPr>
        <p:txBody>
          <a:bodyPr wrap="square" lIns="0" tIns="0" rIns="0" bIns="0" rtlCol="0" anchor="ctr"/>
          <a:lstStyle/>
          <a:p>
            <a:pPr indent="0" marL="0">
              <a:buNone/>
            </a:pPr>
            <a:r>
              <a:rPr lang="en-US" sz="1000" b="1" spc="200" kern="0" dirty="0">
                <a:solidFill>
                  <a:srgbClr val="00704A"/>
                </a:solidFill>
                <a:latin typeface="Calibri" pitchFamily="34" charset="0"/>
                <a:ea typeface="Calibri" pitchFamily="34" charset="-122"/>
                <a:cs typeface="Calibri" pitchFamily="34" charset="-120"/>
              </a:rPr>
              <a:t>CE QU'ELLE PERMET DE MESURER</a:t>
            </a:r>
            <a:endParaRPr lang="en-US" sz="1000" dirty="0"/>
          </a:p>
        </p:txBody>
      </p:sp>
      <p:pic>
        <p:nvPicPr>
          <p:cNvPr id="34" name="Image 1" descr="preencoded.png">    </p:cNvPr>
          <p:cNvPicPr>
            <a:picLocks noChangeAspect="1"/>
          </p:cNvPicPr>
          <p:nvPr/>
        </p:nvPicPr>
        <p:blipFill>
          <a:blip r:embed="rId2"/>
          <a:stretch>
            <a:fillRect/>
          </a:stretch>
        </p:blipFill>
        <p:spPr>
          <a:xfrm>
            <a:off x="3474720" y="1664208"/>
            <a:ext cx="182880" cy="182880"/>
          </a:xfrm>
          <a:prstGeom prst="rect">
            <a:avLst/>
          </a:prstGeom>
        </p:spPr>
      </p:pic>
      <p:sp>
        <p:nvSpPr>
          <p:cNvPr id="35" name="Text 30"/>
          <p:cNvSpPr txBox="1"/>
          <p:nvPr/>
        </p:nvSpPr>
        <p:spPr>
          <a:xfrm>
            <a:off x="3749040" y="1627632"/>
            <a:ext cx="2212848"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Débit montant/descendant et latence par tuile</a:t>
            </a:r>
            <a:endParaRPr lang="en-US" sz="1050" dirty="0"/>
          </a:p>
        </p:txBody>
      </p:sp>
      <p:pic>
        <p:nvPicPr>
          <p:cNvPr id="36" name="Image 2" descr="preencoded.png">    </p:cNvPr>
          <p:cNvPicPr>
            <a:picLocks noChangeAspect="1"/>
          </p:cNvPicPr>
          <p:nvPr/>
        </p:nvPicPr>
        <p:blipFill>
          <a:blip r:embed="rId3"/>
          <a:stretch>
            <a:fillRect/>
          </a:stretch>
        </p:blipFill>
        <p:spPr>
          <a:xfrm>
            <a:off x="3474720" y="2121408"/>
            <a:ext cx="182880" cy="182880"/>
          </a:xfrm>
          <a:prstGeom prst="rect">
            <a:avLst/>
          </a:prstGeom>
        </p:spPr>
      </p:pic>
      <p:sp>
        <p:nvSpPr>
          <p:cNvPr id="37" name="Text 31"/>
          <p:cNvSpPr txBox="1"/>
          <p:nvPr/>
        </p:nvSpPr>
        <p:spPr>
          <a:xfrm>
            <a:off x="3749040" y="2084832"/>
            <a:ext cx="2212848"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Fracture numérique entre régions et trimestres</a:t>
            </a:r>
            <a:endParaRPr lang="en-US" sz="1050" dirty="0"/>
          </a:p>
        </p:txBody>
      </p:sp>
      <p:pic>
        <p:nvPicPr>
          <p:cNvPr id="38" name="Image 3" descr="preencoded.png">    </p:cNvPr>
          <p:cNvPicPr>
            <a:picLocks noChangeAspect="1"/>
          </p:cNvPicPr>
          <p:nvPr/>
        </p:nvPicPr>
        <p:blipFill>
          <a:blip r:embed="rId4"/>
          <a:stretch>
            <a:fillRect/>
          </a:stretch>
        </p:blipFill>
        <p:spPr>
          <a:xfrm>
            <a:off x="3474720" y="2578608"/>
            <a:ext cx="182880" cy="182880"/>
          </a:xfrm>
          <a:prstGeom prst="rect">
            <a:avLst/>
          </a:prstGeom>
        </p:spPr>
      </p:pic>
      <p:sp>
        <p:nvSpPr>
          <p:cNvPr id="39" name="Text 32"/>
          <p:cNvSpPr txBox="1"/>
          <p:nvPr/>
        </p:nvSpPr>
        <p:spPr>
          <a:xfrm>
            <a:off x="3749040" y="2542032"/>
            <a:ext cx="2212848"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Routes, bâtiments et équipements</a:t>
            </a:r>
            <a:endParaRPr lang="en-US" sz="1050" dirty="0"/>
          </a:p>
        </p:txBody>
      </p:sp>
      <p:pic>
        <p:nvPicPr>
          <p:cNvPr id="40" name="Image 4" descr="preencoded.png">    </p:cNvPr>
          <p:cNvPicPr>
            <a:picLocks noChangeAspect="1"/>
          </p:cNvPicPr>
          <p:nvPr/>
        </p:nvPicPr>
        <p:blipFill>
          <a:blip r:embed="rId5"/>
          <a:stretch>
            <a:fillRect/>
          </a:stretch>
        </p:blipFill>
        <p:spPr>
          <a:xfrm>
            <a:off x="3474720" y="3035808"/>
            <a:ext cx="182880" cy="182880"/>
          </a:xfrm>
          <a:prstGeom prst="rect">
            <a:avLst/>
          </a:prstGeom>
        </p:spPr>
      </p:pic>
      <p:sp>
        <p:nvSpPr>
          <p:cNvPr id="41" name="Text 33"/>
          <p:cNvSpPr txBox="1"/>
          <p:nvPr/>
        </p:nvSpPr>
        <p:spPr>
          <a:xfrm>
            <a:off x="3749040" y="2999232"/>
            <a:ext cx="2212848"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Prix de marché signalés par des bénévoles</a:t>
            </a:r>
            <a:endParaRPr lang="en-US" sz="1050" dirty="0"/>
          </a:p>
        </p:txBody>
      </p:sp>
      <p:pic>
        <p:nvPicPr>
          <p:cNvPr id="42" name="Image 5" descr="preencoded.png">    </p:cNvPr>
          <p:cNvPicPr>
            <a:picLocks noChangeAspect="1"/>
          </p:cNvPicPr>
          <p:nvPr/>
        </p:nvPicPr>
        <p:blipFill>
          <a:blip r:embed="rId6"/>
          <a:stretch>
            <a:fillRect/>
          </a:stretch>
        </p:blipFill>
        <p:spPr>
          <a:xfrm>
            <a:off x="3474720" y="3493008"/>
            <a:ext cx="182880" cy="182880"/>
          </a:xfrm>
          <a:prstGeom prst="rect">
            <a:avLst/>
          </a:prstGeom>
        </p:spPr>
      </p:pic>
      <p:sp>
        <p:nvSpPr>
          <p:cNvPr id="43" name="Text 34"/>
          <p:cNvSpPr txBox="1"/>
          <p:nvPr/>
        </p:nvSpPr>
        <p:spPr>
          <a:xfrm>
            <a:off x="3749040" y="3456432"/>
            <a:ext cx="2212848"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Disponibilité des services au niveau local</a:t>
            </a:r>
            <a:endParaRPr lang="en-US" sz="1050" dirty="0"/>
          </a:p>
        </p:txBody>
      </p:sp>
      <p:sp>
        <p:nvSpPr>
          <p:cNvPr id="44" name="Shape 35"/>
          <p:cNvSpPr/>
          <p:nvPr/>
        </p:nvSpPr>
        <p:spPr>
          <a:xfrm>
            <a:off x="6172200" y="1097280"/>
            <a:ext cx="2514600" cy="1783080"/>
          </a:xfrm>
          <a:prstGeom prst="roundRect">
            <a:avLst>
              <a:gd name="adj" fmla="val 4103"/>
            </a:avLst>
          </a:prstGeom>
          <a:solidFill>
            <a:srgbClr val="E8F5EF"/>
          </a:solidFill>
          <a:ln w="15875">
            <a:solidFill>
              <a:srgbClr val="00A86A"/>
            </a:solidFill>
            <a:prstDash val="solid"/>
          </a:ln>
        </p:spPr>
      </p:sp>
      <p:sp>
        <p:nvSpPr>
          <p:cNvPr id="45" name="Text 36"/>
          <p:cNvSpPr txBox="1"/>
          <p:nvPr/>
        </p:nvSpPr>
        <p:spPr>
          <a:xfrm>
            <a:off x="6309360" y="1188720"/>
            <a:ext cx="2286000" cy="228600"/>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EXEMPLE DOCUMENTÉ</a:t>
            </a:r>
            <a:endParaRPr lang="en-US" sz="1000" dirty="0"/>
          </a:p>
        </p:txBody>
      </p:sp>
      <p:sp>
        <p:nvSpPr>
          <p:cNvPr id="46" name="Text 37"/>
          <p:cNvSpPr txBox="1"/>
          <p:nvPr/>
        </p:nvSpPr>
        <p:spPr>
          <a:xfrm>
            <a:off x="6309360" y="1426464"/>
            <a:ext cx="2286000" cy="141732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Ookla publie chaque trimestre des tuiles d'environ 611 m (zoom 16) avec avg_d_kbps, avg_lat_ms, tests et appareils. Pondérées par WorldPop, elles donnent un indicateur régional de connectivité — le labo d'aujourd'hui.</a:t>
            </a:r>
            <a:endParaRPr lang="en-US" sz="1000" dirty="0"/>
          </a:p>
        </p:txBody>
      </p:sp>
      <p:sp>
        <p:nvSpPr>
          <p:cNvPr id="47" name="Shape 38"/>
          <p:cNvSpPr/>
          <p:nvPr/>
        </p:nvSpPr>
        <p:spPr>
          <a:xfrm>
            <a:off x="6172200" y="2990088"/>
            <a:ext cx="2514600" cy="1005840"/>
          </a:xfrm>
          <a:prstGeom prst="roundRect">
            <a:avLst>
              <a:gd name="adj" fmla="val 5455"/>
            </a:avLst>
          </a:prstGeom>
          <a:solidFill>
            <a:srgbClr val="D49A00">
              <a:alpha val="13000"/>
            </a:srgbClr>
          </a:solidFill>
          <a:ln w="12700">
            <a:solidFill>
              <a:srgbClr val="D49A00"/>
            </a:solidFill>
            <a:prstDash val="solid"/>
          </a:ln>
        </p:spPr>
      </p:sp>
      <p:pic>
        <p:nvPicPr>
          <p:cNvPr id="48" name="Image 6" descr="preencoded.png">    </p:cNvPr>
          <p:cNvPicPr>
            <a:picLocks noChangeAspect="1"/>
          </p:cNvPicPr>
          <p:nvPr/>
        </p:nvPicPr>
        <p:blipFill>
          <a:blip r:embed="rId7"/>
          <a:stretch>
            <a:fillRect/>
          </a:stretch>
        </p:blipFill>
        <p:spPr>
          <a:xfrm>
            <a:off x="6291072" y="3072384"/>
            <a:ext cx="182880" cy="182880"/>
          </a:xfrm>
          <a:prstGeom prst="rect">
            <a:avLst/>
          </a:prstGeom>
        </p:spPr>
      </p:pic>
      <p:sp>
        <p:nvSpPr>
          <p:cNvPr id="49" name="Text 39"/>
          <p:cNvSpPr txBox="1"/>
          <p:nvPr/>
        </p:nvSpPr>
        <p:spPr>
          <a:xfrm>
            <a:off x="6537960" y="3063240"/>
            <a:ext cx="1828800" cy="201168"/>
          </a:xfrm>
          <a:prstGeom prst="rect">
            <a:avLst/>
          </a:prstGeom>
          <a:noFill/>
          <a:ln/>
        </p:spPr>
        <p:txBody>
          <a:bodyPr wrap="square" lIns="0" tIns="0" rIns="0" bIns="0" rtlCol="0" anchor="t"/>
          <a:lstStyle/>
          <a:p>
            <a:pPr indent="0" marL="0">
              <a:buNone/>
            </a:pPr>
            <a:r>
              <a:rPr lang="en-US" sz="1000" b="1" spc="200" kern="0" dirty="0">
                <a:solidFill>
                  <a:srgbClr val="D49A00"/>
                </a:solidFill>
                <a:latin typeface="Calibri" pitchFamily="34" charset="0"/>
                <a:ea typeface="Calibri" pitchFamily="34" charset="-122"/>
                <a:cs typeface="Calibri" pitchFamily="34" charset="-120"/>
              </a:rPr>
              <a:t>VIGILANCE</a:t>
            </a:r>
            <a:endParaRPr lang="en-US" sz="1000" dirty="0"/>
          </a:p>
        </p:txBody>
      </p:sp>
      <p:sp>
        <p:nvSpPr>
          <p:cNvPr id="50" name="Text 40"/>
          <p:cNvSpPr txBox="1"/>
          <p:nvPr/>
        </p:nvSpPr>
        <p:spPr>
          <a:xfrm>
            <a:off x="6291072" y="3273552"/>
            <a:ext cx="2322576" cy="704088"/>
          </a:xfrm>
          <a:prstGeom prst="rect">
            <a:avLst/>
          </a:prstGeom>
          <a:noFill/>
          <a:ln/>
        </p:spPr>
        <p:txBody>
          <a:bodyPr wrap="square" lIns="0" tIns="0" rIns="0" bIns="0" rtlCol="0" anchor="t"/>
          <a:lstStyle/>
          <a:p>
            <a:pPr indent="0" marL="0">
              <a:buNone/>
            </a:pPr>
            <a:r>
              <a:rPr lang="en-US" sz="900" dirty="0">
                <a:solidFill>
                  <a:srgbClr val="231F20"/>
                </a:solidFill>
                <a:latin typeface="Calibri" pitchFamily="34" charset="0"/>
                <a:ea typeface="Calibri" pitchFamily="34" charset="-122"/>
                <a:cs typeface="Calibri" pitchFamily="34" charset="-120"/>
              </a:rPr>
              <a:t>Les tests viennent de personnes qui choisissent de tester, souvent en ville et sur smartphone. Une tuile sans test n'est pas une tuile sans signal. Vérifier d'abord la couverture.</a:t>
            </a:r>
            <a:endParaRPr lang="en-US" sz="900" dirty="0"/>
          </a:p>
        </p:txBody>
      </p:sp>
      <p:sp>
        <p:nvSpPr>
          <p:cNvPr id="51" name="Shape 41"/>
          <p:cNvSpPr/>
          <p:nvPr/>
        </p:nvSpPr>
        <p:spPr>
          <a:xfrm>
            <a:off x="457200" y="4114800"/>
            <a:ext cx="2615184" cy="438912"/>
          </a:xfrm>
          <a:prstGeom prst="roundRect">
            <a:avLst>
              <a:gd name="adj" fmla="val 12500"/>
            </a:avLst>
          </a:prstGeom>
          <a:solidFill>
            <a:srgbClr val="FFFFFF"/>
          </a:solidFill>
          <a:ln w="9525">
            <a:solidFill>
              <a:srgbClr val="D5DED9"/>
            </a:solidFill>
            <a:prstDash val="solid"/>
          </a:ln>
        </p:spPr>
      </p:sp>
      <p:sp>
        <p:nvSpPr>
          <p:cNvPr id="52" name="Text 42"/>
          <p:cNvSpPr txBox="1"/>
          <p:nvPr/>
        </p:nvSpPr>
        <p:spPr>
          <a:xfrm>
            <a:off x="548640" y="4114800"/>
            <a:ext cx="1188720" cy="438912"/>
          </a:xfrm>
          <a:prstGeom prst="rect">
            <a:avLst/>
          </a:prstGeom>
          <a:noFill/>
          <a:ln/>
        </p:spPr>
        <p:txBody>
          <a:bodyPr wrap="square" lIns="0" tIns="0" rIns="0" bIns="0" rtlCol="0" anchor="ctr">
            <a:normAutofit/>
          </a:bodyPr>
          <a:lstStyle/>
          <a:p>
            <a:pPr indent="0" marL="0">
              <a:buNone/>
            </a:pPr>
            <a:r>
              <a:rPr lang="en-US" sz="1300" b="1" dirty="0">
                <a:solidFill>
                  <a:srgbClr val="00A86A"/>
                </a:solidFill>
                <a:latin typeface="Calibri" pitchFamily="34" charset="0"/>
                <a:ea typeface="Calibri" pitchFamily="34" charset="-122"/>
                <a:cs typeface="Calibri" pitchFamily="34" charset="-120"/>
              </a:rPr>
              <a:t>~611 m</a:t>
            </a:r>
            <a:endParaRPr lang="en-US" sz="1300" dirty="0"/>
          </a:p>
        </p:txBody>
      </p:sp>
      <p:sp>
        <p:nvSpPr>
          <p:cNvPr id="53" name="Text 43"/>
          <p:cNvSpPr txBox="1"/>
          <p:nvPr/>
        </p:nvSpPr>
        <p:spPr>
          <a:xfrm>
            <a:off x="1755648" y="4114800"/>
            <a:ext cx="1280160" cy="438912"/>
          </a:xfrm>
          <a:prstGeom prst="rect">
            <a:avLst/>
          </a:prstGeom>
          <a:noFill/>
          <a:ln/>
        </p:spPr>
        <p:txBody>
          <a:bodyPr wrap="square" lIns="0" tIns="0" rIns="0" bIns="0" rtlCol="0" anchor="ctr"/>
          <a:lstStyle/>
          <a:p>
            <a:pPr indent="0" marL="0">
              <a:buNone/>
            </a:pPr>
            <a:r>
              <a:rPr lang="en-US" sz="900" dirty="0">
                <a:solidFill>
                  <a:srgbClr val="5E6964"/>
                </a:solidFill>
                <a:latin typeface="Calibri" pitchFamily="34" charset="0"/>
                <a:ea typeface="Calibri" pitchFamily="34" charset="-122"/>
                <a:cs typeface="Calibri" pitchFamily="34" charset="-120"/>
              </a:rPr>
              <a:t>côté d'une tuile à l'équateur</a:t>
            </a:r>
            <a:endParaRPr lang="en-US" sz="900" dirty="0"/>
          </a:p>
        </p:txBody>
      </p:sp>
      <p:sp>
        <p:nvSpPr>
          <p:cNvPr id="54" name="Shape 44"/>
          <p:cNvSpPr/>
          <p:nvPr/>
        </p:nvSpPr>
        <p:spPr>
          <a:xfrm>
            <a:off x="3264408" y="4114800"/>
            <a:ext cx="2615184" cy="438912"/>
          </a:xfrm>
          <a:prstGeom prst="roundRect">
            <a:avLst>
              <a:gd name="adj" fmla="val 12500"/>
            </a:avLst>
          </a:prstGeom>
          <a:solidFill>
            <a:srgbClr val="FFFFFF"/>
          </a:solidFill>
          <a:ln w="9525">
            <a:solidFill>
              <a:srgbClr val="D5DED9"/>
            </a:solidFill>
            <a:prstDash val="solid"/>
          </a:ln>
        </p:spPr>
      </p:sp>
      <p:sp>
        <p:nvSpPr>
          <p:cNvPr id="55" name="Text 45"/>
          <p:cNvSpPr txBox="1"/>
          <p:nvPr/>
        </p:nvSpPr>
        <p:spPr>
          <a:xfrm>
            <a:off x="3355848" y="4114800"/>
            <a:ext cx="1188720" cy="438912"/>
          </a:xfrm>
          <a:prstGeom prst="rect">
            <a:avLst/>
          </a:prstGeom>
          <a:noFill/>
          <a:ln/>
        </p:spPr>
        <p:txBody>
          <a:bodyPr wrap="square" lIns="0" tIns="0" rIns="0" bIns="0" rtlCol="0" anchor="ctr">
            <a:normAutofit/>
          </a:bodyPr>
          <a:lstStyle/>
          <a:p>
            <a:pPr indent="0" marL="0">
              <a:buNone/>
            </a:pPr>
            <a:r>
              <a:rPr lang="en-US" sz="1300" b="1" dirty="0">
                <a:solidFill>
                  <a:srgbClr val="00A86A"/>
                </a:solidFill>
                <a:latin typeface="Calibri" pitchFamily="34" charset="0"/>
                <a:ea typeface="Calibri" pitchFamily="34" charset="-122"/>
                <a:cs typeface="Calibri" pitchFamily="34" charset="-120"/>
              </a:rPr>
              <a:t>Trimestriel</a:t>
            </a:r>
            <a:endParaRPr lang="en-US" sz="1300" dirty="0"/>
          </a:p>
        </p:txBody>
      </p:sp>
      <p:sp>
        <p:nvSpPr>
          <p:cNvPr id="56" name="Text 46"/>
          <p:cNvSpPr txBox="1"/>
          <p:nvPr/>
        </p:nvSpPr>
        <p:spPr>
          <a:xfrm>
            <a:off x="4562856" y="4114800"/>
            <a:ext cx="1280160" cy="438912"/>
          </a:xfrm>
          <a:prstGeom prst="rect">
            <a:avLst/>
          </a:prstGeom>
          <a:noFill/>
          <a:ln/>
        </p:spPr>
        <p:txBody>
          <a:bodyPr wrap="square" lIns="0" tIns="0" rIns="0" bIns="0" rtlCol="0" anchor="ctr"/>
          <a:lstStyle/>
          <a:p>
            <a:pPr indent="0" marL="0">
              <a:buNone/>
            </a:pPr>
            <a:r>
              <a:rPr lang="en-US" sz="900" dirty="0">
                <a:solidFill>
                  <a:srgbClr val="5E6964"/>
                </a:solidFill>
                <a:latin typeface="Calibri" pitchFamily="34" charset="0"/>
                <a:ea typeface="Calibri" pitchFamily="34" charset="-122"/>
                <a:cs typeface="Calibri" pitchFamily="34" charset="-120"/>
              </a:rPr>
              <a:t>depuis 2019</a:t>
            </a:r>
            <a:endParaRPr lang="en-US" sz="900" dirty="0"/>
          </a:p>
        </p:txBody>
      </p:sp>
      <p:sp>
        <p:nvSpPr>
          <p:cNvPr id="57" name="Shape 47"/>
          <p:cNvSpPr/>
          <p:nvPr/>
        </p:nvSpPr>
        <p:spPr>
          <a:xfrm>
            <a:off x="6071616" y="4114800"/>
            <a:ext cx="2615184" cy="438912"/>
          </a:xfrm>
          <a:prstGeom prst="roundRect">
            <a:avLst>
              <a:gd name="adj" fmla="val 12500"/>
            </a:avLst>
          </a:prstGeom>
          <a:solidFill>
            <a:srgbClr val="FFFFFF"/>
          </a:solidFill>
          <a:ln w="9525">
            <a:solidFill>
              <a:srgbClr val="D5DED9"/>
            </a:solidFill>
            <a:prstDash val="solid"/>
          </a:ln>
        </p:spPr>
      </p:sp>
      <p:sp>
        <p:nvSpPr>
          <p:cNvPr id="58" name="Text 48"/>
          <p:cNvSpPr txBox="1"/>
          <p:nvPr/>
        </p:nvSpPr>
        <p:spPr>
          <a:xfrm>
            <a:off x="6163056" y="4114800"/>
            <a:ext cx="1188720" cy="438912"/>
          </a:xfrm>
          <a:prstGeom prst="rect">
            <a:avLst/>
          </a:prstGeom>
          <a:noFill/>
          <a:ln/>
        </p:spPr>
        <p:txBody>
          <a:bodyPr wrap="square" lIns="0" tIns="0" rIns="0" bIns="0" rtlCol="0" anchor="ctr">
            <a:normAutofit/>
          </a:bodyPr>
          <a:lstStyle/>
          <a:p>
            <a:pPr indent="0" marL="0">
              <a:buNone/>
            </a:pPr>
            <a:r>
              <a:rPr lang="en-US" sz="1300" b="1" dirty="0">
                <a:solidFill>
                  <a:srgbClr val="00A86A"/>
                </a:solidFill>
                <a:latin typeface="Calibri" pitchFamily="34" charset="0"/>
                <a:ea typeface="Calibri" pitchFamily="34" charset="-122"/>
                <a:cs typeface="Calibri" pitchFamily="34" charset="-120"/>
              </a:rPr>
              <a:t>CC BY-NC-SA</a:t>
            </a:r>
            <a:endParaRPr lang="en-US" sz="1300" dirty="0"/>
          </a:p>
        </p:txBody>
      </p:sp>
      <p:sp>
        <p:nvSpPr>
          <p:cNvPr id="59" name="Text 49"/>
          <p:cNvSpPr txBox="1"/>
          <p:nvPr/>
        </p:nvSpPr>
        <p:spPr>
          <a:xfrm>
            <a:off x="7370064" y="4114800"/>
            <a:ext cx="1280160" cy="438912"/>
          </a:xfrm>
          <a:prstGeom prst="rect">
            <a:avLst/>
          </a:prstGeom>
          <a:noFill/>
          <a:ln/>
        </p:spPr>
        <p:txBody>
          <a:bodyPr wrap="square" lIns="0" tIns="0" rIns="0" bIns="0" rtlCol="0" anchor="ctr"/>
          <a:lstStyle/>
          <a:p>
            <a:pPr indent="0" marL="0">
              <a:buNone/>
            </a:pPr>
            <a:r>
              <a:rPr lang="en-US" sz="900" dirty="0">
                <a:solidFill>
                  <a:srgbClr val="5E6964"/>
                </a:solidFill>
                <a:latin typeface="Calibri" pitchFamily="34" charset="0"/>
                <a:ea typeface="Calibri" pitchFamily="34" charset="-122"/>
                <a:cs typeface="Calibri" pitchFamily="34" charset="-120"/>
              </a:rPr>
              <a:t>licence v4.0, non commerciale</a:t>
            </a:r>
            <a:endParaRPr lang="en-US" sz="900" dirty="0"/>
          </a:p>
        </p:txBody>
      </p:sp>
      <p:sp>
        <p:nvSpPr>
          <p:cNvPr id="60" name="Text 50"/>
          <p:cNvSpPr txBox="1"/>
          <p:nvPr/>
        </p:nvSpPr>
        <p:spPr>
          <a:xfrm>
            <a:off x="457200" y="4626864"/>
            <a:ext cx="749808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Sources : Ookla, Global Fixed and Mobile Network Performance Maps (github.com/teamookla/ookla-open-data) ; WorldPop, Université de Southampton.</a:t>
            </a:r>
            <a:endParaRPr lang="en-US" sz="85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TAXONOMIE · FAMILLE 3 SUR 6</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Données de caisse, de transaction et de télécoms</a:t>
            </a:r>
            <a:endParaRPr lang="en-US" sz="2400" dirty="0"/>
          </a:p>
        </p:txBody>
      </p:sp>
      <p:sp>
        <p:nvSpPr>
          <p:cNvPr id="8" name="Shape 6"/>
          <p:cNvSpPr/>
          <p:nvPr/>
        </p:nvSpPr>
        <p:spPr>
          <a:xfrm>
            <a:off x="7662672" y="329184"/>
            <a:ext cx="100584" cy="100584"/>
          </a:xfrm>
          <a:prstGeom prst="ellipse">
            <a:avLst/>
          </a:prstGeom>
          <a:solidFill>
            <a:srgbClr val="D5DED9"/>
          </a:solidFill>
          <a:ln/>
        </p:spPr>
      </p:sp>
      <p:sp>
        <p:nvSpPr>
          <p:cNvPr id="9" name="Shape 7"/>
          <p:cNvSpPr/>
          <p:nvPr/>
        </p:nvSpPr>
        <p:spPr>
          <a:xfrm>
            <a:off x="7845552" y="329184"/>
            <a:ext cx="100584" cy="100584"/>
          </a:xfrm>
          <a:prstGeom prst="ellipse">
            <a:avLst/>
          </a:prstGeom>
          <a:solidFill>
            <a:srgbClr val="00704A"/>
          </a:solidFill>
          <a:ln/>
        </p:spPr>
      </p:sp>
      <p:sp>
        <p:nvSpPr>
          <p:cNvPr id="10" name="Shape 8"/>
          <p:cNvSpPr/>
          <p:nvPr/>
        </p:nvSpPr>
        <p:spPr>
          <a:xfrm>
            <a:off x="8028432" y="329184"/>
            <a:ext cx="100584" cy="100584"/>
          </a:xfrm>
          <a:prstGeom prst="ellipse">
            <a:avLst/>
          </a:prstGeom>
          <a:solidFill>
            <a:srgbClr val="D5DED9"/>
          </a:solidFill>
          <a:ln/>
        </p:spPr>
      </p:sp>
      <p:sp>
        <p:nvSpPr>
          <p:cNvPr id="11" name="Shape 9"/>
          <p:cNvSpPr/>
          <p:nvPr/>
        </p:nvSpPr>
        <p:spPr>
          <a:xfrm>
            <a:off x="8211312" y="329184"/>
            <a:ext cx="100584" cy="100584"/>
          </a:xfrm>
          <a:prstGeom prst="ellipse">
            <a:avLst/>
          </a:prstGeom>
          <a:solidFill>
            <a:srgbClr val="D5DED9"/>
          </a:solidFill>
          <a:ln/>
        </p:spPr>
      </p:sp>
      <p:sp>
        <p:nvSpPr>
          <p:cNvPr id="12" name="Shape 10"/>
          <p:cNvSpPr/>
          <p:nvPr/>
        </p:nvSpPr>
        <p:spPr>
          <a:xfrm>
            <a:off x="8394192" y="329184"/>
            <a:ext cx="100584" cy="100584"/>
          </a:xfrm>
          <a:prstGeom prst="ellipse">
            <a:avLst/>
          </a:prstGeom>
          <a:solidFill>
            <a:srgbClr val="D5DED9"/>
          </a:solidFill>
          <a:ln/>
        </p:spPr>
      </p:sp>
      <p:sp>
        <p:nvSpPr>
          <p:cNvPr id="13" name="Shape 11"/>
          <p:cNvSpPr/>
          <p:nvPr/>
        </p:nvSpPr>
        <p:spPr>
          <a:xfrm>
            <a:off x="8577072" y="329184"/>
            <a:ext cx="100584" cy="100584"/>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Sources de données non traditionnelles · Le trésor caché · Atelier STG17</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14</a:t>
            </a:r>
            <a:endParaRPr lang="en-US" sz="850" dirty="0"/>
          </a:p>
        </p:txBody>
      </p:sp>
      <p:sp>
        <p:nvSpPr>
          <p:cNvPr id="17" name="Shape 14"/>
          <p:cNvSpPr/>
          <p:nvPr/>
        </p:nvSpPr>
        <p:spPr>
          <a:xfrm>
            <a:off x="457200" y="1097280"/>
            <a:ext cx="2743200" cy="1600200"/>
          </a:xfrm>
          <a:prstGeom prst="roundRect">
            <a:avLst>
              <a:gd name="adj" fmla="val 4571"/>
            </a:avLst>
          </a:prstGeom>
          <a:solidFill>
            <a:srgbClr val="F4F7F5"/>
          </a:solidFill>
          <a:ln w="9525">
            <a:solidFill>
              <a:srgbClr val="D5DED9"/>
            </a:solidFill>
            <a:prstDash val="solid"/>
          </a:ln>
        </p:spPr>
      </p:sp>
      <p:sp>
        <p:nvSpPr>
          <p:cNvPr id="18" name="Shape 15"/>
          <p:cNvSpPr/>
          <p:nvPr/>
        </p:nvSpPr>
        <p:spPr>
          <a:xfrm>
            <a:off x="594360" y="1207008"/>
            <a:ext cx="384048" cy="384048"/>
          </a:xfrm>
          <a:prstGeom prst="ellipse">
            <a:avLst/>
          </a:prstGeom>
          <a:solidFill>
            <a:srgbClr val="00704A">
              <a:alpha val="22000"/>
            </a:srgbClr>
          </a:solidFill>
          <a:ln/>
        </p:spPr>
      </p:sp>
      <p:pic>
        <p:nvPicPr>
          <p:cNvPr id="19" name="Image 0" descr="preencoded.png">    </p:cNvPr>
          <p:cNvPicPr>
            <a:picLocks noChangeAspect="1"/>
          </p:cNvPicPr>
          <p:nvPr/>
        </p:nvPicPr>
        <p:blipFill>
          <a:blip r:embed="rId1"/>
          <a:stretch>
            <a:fillRect/>
          </a:stretch>
        </p:blipFill>
        <p:spPr>
          <a:xfrm>
            <a:off x="690372" y="1303020"/>
            <a:ext cx="192024" cy="192024"/>
          </a:xfrm>
          <a:prstGeom prst="rect">
            <a:avLst/>
          </a:prstGeom>
        </p:spPr>
      </p:pic>
      <p:sp>
        <p:nvSpPr>
          <p:cNvPr id="20" name="Text 16"/>
          <p:cNvSpPr txBox="1"/>
          <p:nvPr/>
        </p:nvSpPr>
        <p:spPr>
          <a:xfrm>
            <a:off x="1069848" y="1207008"/>
            <a:ext cx="1828800" cy="384048"/>
          </a:xfrm>
          <a:prstGeom prst="rect">
            <a:avLst/>
          </a:prstGeom>
          <a:noFill/>
          <a:ln/>
        </p:spPr>
        <p:txBody>
          <a:bodyPr wrap="square" lIns="0" tIns="0" rIns="0" bIns="0" rtlCol="0" anchor="ctr"/>
          <a:lstStyle/>
          <a:p>
            <a:pPr indent="0" marL="0">
              <a:buNone/>
            </a:pPr>
            <a:r>
              <a:rPr lang="en-US" sz="1000" b="1" spc="200" kern="0" dirty="0">
                <a:solidFill>
                  <a:srgbClr val="00704A"/>
                </a:solidFill>
                <a:latin typeface="Calibri" pitchFamily="34" charset="0"/>
                <a:ea typeface="Calibri" pitchFamily="34" charset="-122"/>
                <a:cs typeface="Calibri" pitchFamily="34" charset="-120"/>
              </a:rPr>
              <a:t>DE QUOI S'AGIT-IL ?</a:t>
            </a:r>
            <a:endParaRPr lang="en-US" sz="1000" dirty="0"/>
          </a:p>
        </p:txBody>
      </p:sp>
      <p:sp>
        <p:nvSpPr>
          <p:cNvPr id="21" name="Text 17"/>
          <p:cNvSpPr txBox="1"/>
          <p:nvPr/>
        </p:nvSpPr>
        <p:spPr>
          <a:xfrm>
            <a:off x="594360" y="1645920"/>
            <a:ext cx="2487168" cy="1024128"/>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Enregistrements issus de processus commerciaux : fichiers de caisse, transactions par carte et mobile money, factures électroniques, et enregistrements détaillés des appels (CDR) des opérateurs.</a:t>
            </a:r>
            <a:endParaRPr lang="en-US" sz="1000" dirty="0"/>
          </a:p>
        </p:txBody>
      </p:sp>
      <p:sp>
        <p:nvSpPr>
          <p:cNvPr id="22" name="Shape 18"/>
          <p:cNvSpPr/>
          <p:nvPr/>
        </p:nvSpPr>
        <p:spPr>
          <a:xfrm>
            <a:off x="457200" y="2807208"/>
            <a:ext cx="2743200" cy="1188720"/>
          </a:xfrm>
          <a:prstGeom prst="roundRect">
            <a:avLst>
              <a:gd name="adj" fmla="val 6154"/>
            </a:avLst>
          </a:prstGeom>
          <a:solidFill>
            <a:srgbClr val="F4F7F5"/>
          </a:solidFill>
          <a:ln w="9525">
            <a:solidFill>
              <a:srgbClr val="D5DED9"/>
            </a:solidFill>
            <a:prstDash val="solid"/>
          </a:ln>
        </p:spPr>
      </p:sp>
      <p:sp>
        <p:nvSpPr>
          <p:cNvPr id="23" name="Text 19"/>
          <p:cNvSpPr txBox="1"/>
          <p:nvPr/>
        </p:nvSpPr>
        <p:spPr>
          <a:xfrm>
            <a:off x="594360" y="2880360"/>
            <a:ext cx="2286000" cy="201168"/>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OÙ LA TROUVER</a:t>
            </a:r>
            <a:endParaRPr lang="en-US" sz="1000" dirty="0"/>
          </a:p>
        </p:txBody>
      </p:sp>
      <p:sp>
        <p:nvSpPr>
          <p:cNvPr id="24" name="Shape 20"/>
          <p:cNvSpPr/>
          <p:nvPr/>
        </p:nvSpPr>
        <p:spPr>
          <a:xfrm>
            <a:off x="594360" y="3163824"/>
            <a:ext cx="1207008" cy="329184"/>
          </a:xfrm>
          <a:prstGeom prst="roundRect">
            <a:avLst>
              <a:gd name="adj" fmla="val 22222"/>
            </a:avLst>
          </a:prstGeom>
          <a:solidFill>
            <a:srgbClr val="FFFFFF"/>
          </a:solidFill>
          <a:ln w="9525">
            <a:solidFill>
              <a:srgbClr val="00704A"/>
            </a:solidFill>
            <a:prstDash val="solid"/>
          </a:ln>
        </p:spPr>
      </p:sp>
      <p:sp>
        <p:nvSpPr>
          <p:cNvPr id="25" name="Text 21"/>
          <p:cNvSpPr txBox="1"/>
          <p:nvPr/>
        </p:nvSpPr>
        <p:spPr>
          <a:xfrm>
            <a:off x="621792" y="3163824"/>
            <a:ext cx="1152144" cy="329184"/>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Fichiers de caisse</a:t>
            </a:r>
            <a:endParaRPr lang="en-US" sz="850" dirty="0"/>
          </a:p>
        </p:txBody>
      </p:sp>
      <p:sp>
        <p:nvSpPr>
          <p:cNvPr id="26" name="Shape 22"/>
          <p:cNvSpPr/>
          <p:nvPr/>
        </p:nvSpPr>
        <p:spPr>
          <a:xfrm>
            <a:off x="1865376" y="3163824"/>
            <a:ext cx="1207008" cy="329184"/>
          </a:xfrm>
          <a:prstGeom prst="roundRect">
            <a:avLst>
              <a:gd name="adj" fmla="val 22222"/>
            </a:avLst>
          </a:prstGeom>
          <a:solidFill>
            <a:srgbClr val="FFFFFF"/>
          </a:solidFill>
          <a:ln w="9525">
            <a:solidFill>
              <a:srgbClr val="00704A"/>
            </a:solidFill>
            <a:prstDash val="solid"/>
          </a:ln>
        </p:spPr>
      </p:sp>
      <p:sp>
        <p:nvSpPr>
          <p:cNvPr id="27" name="Text 23"/>
          <p:cNvSpPr txBox="1"/>
          <p:nvPr/>
        </p:nvSpPr>
        <p:spPr>
          <a:xfrm>
            <a:off x="1892808" y="3163824"/>
            <a:ext cx="1152144" cy="329184"/>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Opérateurs mobile money</a:t>
            </a:r>
            <a:endParaRPr lang="en-US" sz="850" dirty="0"/>
          </a:p>
        </p:txBody>
      </p:sp>
      <p:sp>
        <p:nvSpPr>
          <p:cNvPr id="28" name="Shape 24"/>
          <p:cNvSpPr/>
          <p:nvPr/>
        </p:nvSpPr>
        <p:spPr>
          <a:xfrm>
            <a:off x="594360" y="3557016"/>
            <a:ext cx="1207008" cy="329184"/>
          </a:xfrm>
          <a:prstGeom prst="roundRect">
            <a:avLst>
              <a:gd name="adj" fmla="val 22222"/>
            </a:avLst>
          </a:prstGeom>
          <a:solidFill>
            <a:srgbClr val="FFFFFF"/>
          </a:solidFill>
          <a:ln w="9525">
            <a:solidFill>
              <a:srgbClr val="00704A"/>
            </a:solidFill>
            <a:prstDash val="solid"/>
          </a:ln>
        </p:spPr>
      </p:sp>
      <p:sp>
        <p:nvSpPr>
          <p:cNvPr id="29" name="Text 25"/>
          <p:cNvSpPr txBox="1"/>
          <p:nvPr/>
        </p:nvSpPr>
        <p:spPr>
          <a:xfrm>
            <a:off x="621792" y="3557016"/>
            <a:ext cx="1152144" cy="329184"/>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E-facturation (fisc)</a:t>
            </a:r>
            <a:endParaRPr lang="en-US" sz="850" dirty="0"/>
          </a:p>
        </p:txBody>
      </p:sp>
      <p:sp>
        <p:nvSpPr>
          <p:cNvPr id="30" name="Shape 26"/>
          <p:cNvSpPr/>
          <p:nvPr/>
        </p:nvSpPr>
        <p:spPr>
          <a:xfrm>
            <a:off x="1865376" y="3557016"/>
            <a:ext cx="1207008" cy="329184"/>
          </a:xfrm>
          <a:prstGeom prst="roundRect">
            <a:avLst>
              <a:gd name="adj" fmla="val 22222"/>
            </a:avLst>
          </a:prstGeom>
          <a:solidFill>
            <a:srgbClr val="FFFFFF"/>
          </a:solidFill>
          <a:ln w="9525">
            <a:solidFill>
              <a:srgbClr val="00704A"/>
            </a:solidFill>
            <a:prstDash val="solid"/>
          </a:ln>
        </p:spPr>
      </p:sp>
      <p:sp>
        <p:nvSpPr>
          <p:cNvPr id="31" name="Text 27"/>
          <p:cNvSpPr txBox="1"/>
          <p:nvPr/>
        </p:nvSpPr>
        <p:spPr>
          <a:xfrm>
            <a:off x="1892808" y="3557016"/>
            <a:ext cx="1152144" cy="329184"/>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CDR / signalisation</a:t>
            </a:r>
            <a:endParaRPr lang="en-US" sz="850" dirty="0"/>
          </a:p>
        </p:txBody>
      </p:sp>
      <p:sp>
        <p:nvSpPr>
          <p:cNvPr id="32" name="Shape 28"/>
          <p:cNvSpPr/>
          <p:nvPr/>
        </p:nvSpPr>
        <p:spPr>
          <a:xfrm>
            <a:off x="3337560" y="1097280"/>
            <a:ext cx="2697480" cy="2898648"/>
          </a:xfrm>
          <a:prstGeom prst="roundRect">
            <a:avLst>
              <a:gd name="adj" fmla="val 2712"/>
            </a:avLst>
          </a:prstGeom>
          <a:solidFill>
            <a:srgbClr val="F4F7F5"/>
          </a:solidFill>
          <a:ln w="9525">
            <a:solidFill>
              <a:srgbClr val="D5DED9"/>
            </a:solidFill>
            <a:prstDash val="solid"/>
          </a:ln>
        </p:spPr>
      </p:sp>
      <p:sp>
        <p:nvSpPr>
          <p:cNvPr id="33" name="Text 29"/>
          <p:cNvSpPr txBox="1"/>
          <p:nvPr/>
        </p:nvSpPr>
        <p:spPr>
          <a:xfrm>
            <a:off x="3474720" y="1207008"/>
            <a:ext cx="2468880" cy="274320"/>
          </a:xfrm>
          <a:prstGeom prst="rect">
            <a:avLst/>
          </a:prstGeom>
          <a:noFill/>
          <a:ln/>
        </p:spPr>
        <p:txBody>
          <a:bodyPr wrap="square" lIns="0" tIns="0" rIns="0" bIns="0" rtlCol="0" anchor="ctr"/>
          <a:lstStyle/>
          <a:p>
            <a:pPr indent="0" marL="0">
              <a:buNone/>
            </a:pPr>
            <a:r>
              <a:rPr lang="en-US" sz="1000" b="1" spc="200" kern="0" dirty="0">
                <a:solidFill>
                  <a:srgbClr val="00704A"/>
                </a:solidFill>
                <a:latin typeface="Calibri" pitchFamily="34" charset="0"/>
                <a:ea typeface="Calibri" pitchFamily="34" charset="-122"/>
                <a:cs typeface="Calibri" pitchFamily="34" charset="-120"/>
              </a:rPr>
              <a:t>CE QU'ELLE PERMET DE MESURER</a:t>
            </a:r>
            <a:endParaRPr lang="en-US" sz="1000" dirty="0"/>
          </a:p>
        </p:txBody>
      </p:sp>
      <p:pic>
        <p:nvPicPr>
          <p:cNvPr id="34" name="Image 1" descr="preencoded.png">    </p:cNvPr>
          <p:cNvPicPr>
            <a:picLocks noChangeAspect="1"/>
          </p:cNvPicPr>
          <p:nvPr/>
        </p:nvPicPr>
        <p:blipFill>
          <a:blip r:embed="rId2"/>
          <a:stretch>
            <a:fillRect/>
          </a:stretch>
        </p:blipFill>
        <p:spPr>
          <a:xfrm>
            <a:off x="3474720" y="1664208"/>
            <a:ext cx="182880" cy="182880"/>
          </a:xfrm>
          <a:prstGeom prst="rect">
            <a:avLst/>
          </a:prstGeom>
        </p:spPr>
      </p:pic>
      <p:sp>
        <p:nvSpPr>
          <p:cNvPr id="35" name="Text 30"/>
          <p:cNvSpPr txBox="1"/>
          <p:nvPr/>
        </p:nvSpPr>
        <p:spPr>
          <a:xfrm>
            <a:off x="3749040" y="1627632"/>
            <a:ext cx="2212848"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Prix et quantités par produit (IPC)</a:t>
            </a:r>
            <a:endParaRPr lang="en-US" sz="1050" dirty="0"/>
          </a:p>
        </p:txBody>
      </p:sp>
      <p:pic>
        <p:nvPicPr>
          <p:cNvPr id="36" name="Image 2" descr="preencoded.png">    </p:cNvPr>
          <p:cNvPicPr>
            <a:picLocks noChangeAspect="1"/>
          </p:cNvPicPr>
          <p:nvPr/>
        </p:nvPicPr>
        <p:blipFill>
          <a:blip r:embed="rId3"/>
          <a:stretch>
            <a:fillRect/>
          </a:stretch>
        </p:blipFill>
        <p:spPr>
          <a:xfrm>
            <a:off x="3474720" y="2121408"/>
            <a:ext cx="182880" cy="182880"/>
          </a:xfrm>
          <a:prstGeom prst="rect">
            <a:avLst/>
          </a:prstGeom>
        </p:spPr>
      </p:pic>
      <p:sp>
        <p:nvSpPr>
          <p:cNvPr id="37" name="Text 31"/>
          <p:cNvSpPr txBox="1"/>
          <p:nvPr/>
        </p:nvSpPr>
        <p:spPr>
          <a:xfrm>
            <a:off x="3749040" y="2084832"/>
            <a:ext cx="2212848"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Chiffre d'affaires et prévisions immédiates</a:t>
            </a:r>
            <a:endParaRPr lang="en-US" sz="1050" dirty="0"/>
          </a:p>
        </p:txBody>
      </p:sp>
      <p:pic>
        <p:nvPicPr>
          <p:cNvPr id="38" name="Image 3" descr="preencoded.png">    </p:cNvPr>
          <p:cNvPicPr>
            <a:picLocks noChangeAspect="1"/>
          </p:cNvPicPr>
          <p:nvPr/>
        </p:nvPicPr>
        <p:blipFill>
          <a:blip r:embed="rId4"/>
          <a:stretch>
            <a:fillRect/>
          </a:stretch>
        </p:blipFill>
        <p:spPr>
          <a:xfrm>
            <a:off x="3474720" y="2578608"/>
            <a:ext cx="182880" cy="182880"/>
          </a:xfrm>
          <a:prstGeom prst="rect">
            <a:avLst/>
          </a:prstGeom>
        </p:spPr>
      </p:pic>
      <p:sp>
        <p:nvSpPr>
          <p:cNvPr id="39" name="Text 32"/>
          <p:cNvSpPr txBox="1"/>
          <p:nvPr/>
        </p:nvSpPr>
        <p:spPr>
          <a:xfrm>
            <a:off x="3749040" y="2542032"/>
            <a:ext cx="2212848"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Inclusion financière</a:t>
            </a:r>
            <a:endParaRPr lang="en-US" sz="1050" dirty="0"/>
          </a:p>
        </p:txBody>
      </p:sp>
      <p:pic>
        <p:nvPicPr>
          <p:cNvPr id="40" name="Image 4" descr="preencoded.png">    </p:cNvPr>
          <p:cNvPicPr>
            <a:picLocks noChangeAspect="1"/>
          </p:cNvPicPr>
          <p:nvPr/>
        </p:nvPicPr>
        <p:blipFill>
          <a:blip r:embed="rId5"/>
          <a:stretch>
            <a:fillRect/>
          </a:stretch>
        </p:blipFill>
        <p:spPr>
          <a:xfrm>
            <a:off x="3474720" y="3035808"/>
            <a:ext cx="182880" cy="182880"/>
          </a:xfrm>
          <a:prstGeom prst="rect">
            <a:avLst/>
          </a:prstGeom>
        </p:spPr>
      </p:pic>
      <p:sp>
        <p:nvSpPr>
          <p:cNvPr id="41" name="Text 33"/>
          <p:cNvSpPr txBox="1"/>
          <p:nvPr/>
        </p:nvSpPr>
        <p:spPr>
          <a:xfrm>
            <a:off x="3749040" y="2999232"/>
            <a:ext cx="2212848"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Présence et mobilité quotidienne</a:t>
            </a:r>
            <a:endParaRPr lang="en-US" sz="1050" dirty="0"/>
          </a:p>
        </p:txBody>
      </p:sp>
      <p:pic>
        <p:nvPicPr>
          <p:cNvPr id="42" name="Image 5" descr="preencoded.png">    </p:cNvPr>
          <p:cNvPicPr>
            <a:picLocks noChangeAspect="1"/>
          </p:cNvPicPr>
          <p:nvPr/>
        </p:nvPicPr>
        <p:blipFill>
          <a:blip r:embed="rId6"/>
          <a:stretch>
            <a:fillRect/>
          </a:stretch>
        </p:blipFill>
        <p:spPr>
          <a:xfrm>
            <a:off x="3474720" y="3493008"/>
            <a:ext cx="182880" cy="182880"/>
          </a:xfrm>
          <a:prstGeom prst="rect">
            <a:avLst/>
          </a:prstGeom>
        </p:spPr>
      </p:pic>
      <p:sp>
        <p:nvSpPr>
          <p:cNvPr id="43" name="Text 34"/>
          <p:cNvSpPr txBox="1"/>
          <p:nvPr/>
        </p:nvSpPr>
        <p:spPr>
          <a:xfrm>
            <a:off x="3749040" y="3456432"/>
            <a:ext cx="2212848"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Déplacements après un choc</a:t>
            </a:r>
            <a:endParaRPr lang="en-US" sz="1050" dirty="0"/>
          </a:p>
        </p:txBody>
      </p:sp>
      <p:sp>
        <p:nvSpPr>
          <p:cNvPr id="44" name="Shape 35"/>
          <p:cNvSpPr/>
          <p:nvPr/>
        </p:nvSpPr>
        <p:spPr>
          <a:xfrm>
            <a:off x="6172200" y="1097280"/>
            <a:ext cx="2514600" cy="1783080"/>
          </a:xfrm>
          <a:prstGeom prst="roundRect">
            <a:avLst>
              <a:gd name="adj" fmla="val 4103"/>
            </a:avLst>
          </a:prstGeom>
          <a:solidFill>
            <a:srgbClr val="E8F5EF"/>
          </a:solidFill>
          <a:ln w="15875">
            <a:solidFill>
              <a:srgbClr val="00A86A"/>
            </a:solidFill>
            <a:prstDash val="solid"/>
          </a:ln>
        </p:spPr>
      </p:sp>
      <p:sp>
        <p:nvSpPr>
          <p:cNvPr id="45" name="Text 36"/>
          <p:cNvSpPr txBox="1"/>
          <p:nvPr/>
        </p:nvSpPr>
        <p:spPr>
          <a:xfrm>
            <a:off x="6309360" y="1188720"/>
            <a:ext cx="2286000" cy="228600"/>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EXEMPLE DOCUMENTÉ</a:t>
            </a:r>
            <a:endParaRPr lang="en-US" sz="1000" dirty="0"/>
          </a:p>
        </p:txBody>
      </p:sp>
      <p:sp>
        <p:nvSpPr>
          <p:cNvPr id="46" name="Text 37"/>
          <p:cNvSpPr txBox="1"/>
          <p:nvPr/>
        </p:nvSpPr>
        <p:spPr>
          <a:xfrm>
            <a:off x="6309360" y="1426464"/>
            <a:ext cx="2286000" cy="141732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Le Ghana Statistical Service, Vodafone Ghana et Flowminder ont utilisé des CDR agrégés pour publier, dès avril 2020, des rapports de mobilité mesurant le respect des restrictions COVID-19 par district.</a:t>
            </a:r>
            <a:endParaRPr lang="en-US" sz="1000" dirty="0"/>
          </a:p>
        </p:txBody>
      </p:sp>
      <p:sp>
        <p:nvSpPr>
          <p:cNvPr id="47" name="Shape 38"/>
          <p:cNvSpPr/>
          <p:nvPr/>
        </p:nvSpPr>
        <p:spPr>
          <a:xfrm>
            <a:off x="6172200" y="2990088"/>
            <a:ext cx="2514600" cy="1005840"/>
          </a:xfrm>
          <a:prstGeom prst="roundRect">
            <a:avLst>
              <a:gd name="adj" fmla="val 5455"/>
            </a:avLst>
          </a:prstGeom>
          <a:solidFill>
            <a:srgbClr val="D49A00">
              <a:alpha val="13000"/>
            </a:srgbClr>
          </a:solidFill>
          <a:ln w="12700">
            <a:solidFill>
              <a:srgbClr val="D49A00"/>
            </a:solidFill>
            <a:prstDash val="solid"/>
          </a:ln>
        </p:spPr>
      </p:sp>
      <p:pic>
        <p:nvPicPr>
          <p:cNvPr id="48" name="Image 6" descr="preencoded.png">    </p:cNvPr>
          <p:cNvPicPr>
            <a:picLocks noChangeAspect="1"/>
          </p:cNvPicPr>
          <p:nvPr/>
        </p:nvPicPr>
        <p:blipFill>
          <a:blip r:embed="rId7"/>
          <a:stretch>
            <a:fillRect/>
          </a:stretch>
        </p:blipFill>
        <p:spPr>
          <a:xfrm>
            <a:off x="6291072" y="3072384"/>
            <a:ext cx="182880" cy="182880"/>
          </a:xfrm>
          <a:prstGeom prst="rect">
            <a:avLst/>
          </a:prstGeom>
        </p:spPr>
      </p:pic>
      <p:sp>
        <p:nvSpPr>
          <p:cNvPr id="49" name="Text 39"/>
          <p:cNvSpPr txBox="1"/>
          <p:nvPr/>
        </p:nvSpPr>
        <p:spPr>
          <a:xfrm>
            <a:off x="6537960" y="3063240"/>
            <a:ext cx="1828800" cy="201168"/>
          </a:xfrm>
          <a:prstGeom prst="rect">
            <a:avLst/>
          </a:prstGeom>
          <a:noFill/>
          <a:ln/>
        </p:spPr>
        <p:txBody>
          <a:bodyPr wrap="square" lIns="0" tIns="0" rIns="0" bIns="0" rtlCol="0" anchor="t"/>
          <a:lstStyle/>
          <a:p>
            <a:pPr indent="0" marL="0">
              <a:buNone/>
            </a:pPr>
            <a:r>
              <a:rPr lang="en-US" sz="1000" b="1" spc="200" kern="0" dirty="0">
                <a:solidFill>
                  <a:srgbClr val="D49A00"/>
                </a:solidFill>
                <a:latin typeface="Calibri" pitchFamily="34" charset="0"/>
                <a:ea typeface="Calibri" pitchFamily="34" charset="-122"/>
                <a:cs typeface="Calibri" pitchFamily="34" charset="-120"/>
              </a:rPr>
              <a:t>VIGILANCE</a:t>
            </a:r>
            <a:endParaRPr lang="en-US" sz="1000" dirty="0"/>
          </a:p>
        </p:txBody>
      </p:sp>
      <p:sp>
        <p:nvSpPr>
          <p:cNvPr id="50" name="Text 40"/>
          <p:cNvSpPr txBox="1"/>
          <p:nvPr/>
        </p:nvSpPr>
        <p:spPr>
          <a:xfrm>
            <a:off x="6291072" y="3273552"/>
            <a:ext cx="2322576" cy="704088"/>
          </a:xfrm>
          <a:prstGeom prst="rect">
            <a:avLst/>
          </a:prstGeom>
          <a:noFill/>
          <a:ln/>
        </p:spPr>
        <p:txBody>
          <a:bodyPr wrap="square" lIns="0" tIns="0" rIns="0" bIns="0" rtlCol="0" anchor="t"/>
          <a:lstStyle/>
          <a:p>
            <a:pPr indent="0" marL="0">
              <a:buNone/>
            </a:pPr>
            <a:r>
              <a:rPr lang="en-US" sz="900" dirty="0">
                <a:solidFill>
                  <a:srgbClr val="231F20"/>
                </a:solidFill>
                <a:latin typeface="Calibri" pitchFamily="34" charset="0"/>
                <a:ea typeface="Calibri" pitchFamily="34" charset="-122"/>
                <a:cs typeface="Calibri" pitchFamily="34" charset="-120"/>
              </a:rPr>
              <a:t>Seule l'activité formelle et enregistrée est visible. Espèces, commerce informel et non-abonnés disparaissent ; les clients d'un opérateur ne sont pas la population.</a:t>
            </a:r>
            <a:endParaRPr lang="en-US" sz="900" dirty="0"/>
          </a:p>
        </p:txBody>
      </p:sp>
      <p:sp>
        <p:nvSpPr>
          <p:cNvPr id="51" name="Shape 41"/>
          <p:cNvSpPr/>
          <p:nvPr/>
        </p:nvSpPr>
        <p:spPr>
          <a:xfrm>
            <a:off x="457200" y="4114800"/>
            <a:ext cx="2615184" cy="438912"/>
          </a:xfrm>
          <a:prstGeom prst="roundRect">
            <a:avLst>
              <a:gd name="adj" fmla="val 12500"/>
            </a:avLst>
          </a:prstGeom>
          <a:solidFill>
            <a:srgbClr val="FFFFFF"/>
          </a:solidFill>
          <a:ln w="9525">
            <a:solidFill>
              <a:srgbClr val="D5DED9"/>
            </a:solidFill>
            <a:prstDash val="solid"/>
          </a:ln>
        </p:spPr>
      </p:sp>
      <p:sp>
        <p:nvSpPr>
          <p:cNvPr id="52" name="Text 42"/>
          <p:cNvSpPr txBox="1"/>
          <p:nvPr/>
        </p:nvSpPr>
        <p:spPr>
          <a:xfrm>
            <a:off x="548640" y="4114800"/>
            <a:ext cx="1188720" cy="438912"/>
          </a:xfrm>
          <a:prstGeom prst="rect">
            <a:avLst/>
          </a:prstGeom>
          <a:noFill/>
          <a:ln/>
        </p:spPr>
        <p:txBody>
          <a:bodyPr wrap="square" lIns="0" tIns="0" rIns="0" bIns="0" rtlCol="0" anchor="ctr">
            <a:normAutofit/>
          </a:bodyPr>
          <a:lstStyle/>
          <a:p>
            <a:pPr indent="0" marL="0">
              <a:buNone/>
            </a:pPr>
            <a:r>
              <a:rPr lang="en-US" sz="1300" b="1" dirty="0">
                <a:solidFill>
                  <a:srgbClr val="00A86A"/>
                </a:solidFill>
                <a:latin typeface="Calibri" pitchFamily="34" charset="0"/>
                <a:ea typeface="Calibri" pitchFamily="34" charset="-122"/>
                <a:cs typeface="Calibri" pitchFamily="34" charset="-120"/>
              </a:rPr>
              <a:t>Années 2000</a:t>
            </a:r>
            <a:endParaRPr lang="en-US" sz="1300" dirty="0"/>
          </a:p>
        </p:txBody>
      </p:sp>
      <p:sp>
        <p:nvSpPr>
          <p:cNvPr id="53" name="Text 43"/>
          <p:cNvSpPr txBox="1"/>
          <p:nvPr/>
        </p:nvSpPr>
        <p:spPr>
          <a:xfrm>
            <a:off x="1755648" y="4114800"/>
            <a:ext cx="1280160" cy="438912"/>
          </a:xfrm>
          <a:prstGeom prst="rect">
            <a:avLst/>
          </a:prstGeom>
          <a:noFill/>
          <a:ln/>
        </p:spPr>
        <p:txBody>
          <a:bodyPr wrap="square" lIns="0" tIns="0" rIns="0" bIns="0" rtlCol="0" anchor="ctr"/>
          <a:lstStyle/>
          <a:p>
            <a:pPr indent="0" marL="0">
              <a:buNone/>
            </a:pPr>
            <a:r>
              <a:rPr lang="en-US" sz="900" dirty="0">
                <a:solidFill>
                  <a:srgbClr val="5E6964"/>
                </a:solidFill>
                <a:latin typeface="Calibri" pitchFamily="34" charset="0"/>
                <a:ea typeface="Calibri" pitchFamily="34" charset="-122"/>
                <a:cs typeface="Calibri" pitchFamily="34" charset="-120"/>
              </a:rPr>
              <a:t>premiers IPC sur données de caisse (Europe)</a:t>
            </a:r>
            <a:endParaRPr lang="en-US" sz="900" dirty="0"/>
          </a:p>
        </p:txBody>
      </p:sp>
      <p:sp>
        <p:nvSpPr>
          <p:cNvPr id="54" name="Shape 44"/>
          <p:cNvSpPr/>
          <p:nvPr/>
        </p:nvSpPr>
        <p:spPr>
          <a:xfrm>
            <a:off x="3264408" y="4114800"/>
            <a:ext cx="2615184" cy="438912"/>
          </a:xfrm>
          <a:prstGeom prst="roundRect">
            <a:avLst>
              <a:gd name="adj" fmla="val 12500"/>
            </a:avLst>
          </a:prstGeom>
          <a:solidFill>
            <a:srgbClr val="FFFFFF"/>
          </a:solidFill>
          <a:ln w="9525">
            <a:solidFill>
              <a:srgbClr val="D5DED9"/>
            </a:solidFill>
            <a:prstDash val="solid"/>
          </a:ln>
        </p:spPr>
      </p:sp>
      <p:sp>
        <p:nvSpPr>
          <p:cNvPr id="55" name="Text 45"/>
          <p:cNvSpPr txBox="1"/>
          <p:nvPr/>
        </p:nvSpPr>
        <p:spPr>
          <a:xfrm>
            <a:off x="3355848" y="4114800"/>
            <a:ext cx="1188720" cy="438912"/>
          </a:xfrm>
          <a:prstGeom prst="rect">
            <a:avLst/>
          </a:prstGeom>
          <a:noFill/>
          <a:ln/>
        </p:spPr>
        <p:txBody>
          <a:bodyPr wrap="square" lIns="0" tIns="0" rIns="0" bIns="0" rtlCol="0" anchor="ctr">
            <a:normAutofit/>
          </a:bodyPr>
          <a:lstStyle/>
          <a:p>
            <a:pPr indent="0" marL="0">
              <a:buNone/>
            </a:pPr>
            <a:r>
              <a:rPr lang="en-US" sz="1300" b="1" dirty="0">
                <a:solidFill>
                  <a:srgbClr val="00A86A"/>
                </a:solidFill>
                <a:latin typeface="Calibri" pitchFamily="34" charset="0"/>
                <a:ea typeface="Calibri" pitchFamily="34" charset="-122"/>
                <a:cs typeface="Calibri" pitchFamily="34" charset="-120"/>
              </a:rPr>
              <a:t>2018</a:t>
            </a:r>
            <a:endParaRPr lang="en-US" sz="1300" dirty="0"/>
          </a:p>
        </p:txBody>
      </p:sp>
      <p:sp>
        <p:nvSpPr>
          <p:cNvPr id="56" name="Text 46"/>
          <p:cNvSpPr txBox="1"/>
          <p:nvPr/>
        </p:nvSpPr>
        <p:spPr>
          <a:xfrm>
            <a:off x="4562856" y="4114800"/>
            <a:ext cx="1280160" cy="438912"/>
          </a:xfrm>
          <a:prstGeom prst="rect">
            <a:avLst/>
          </a:prstGeom>
          <a:noFill/>
          <a:ln/>
        </p:spPr>
        <p:txBody>
          <a:bodyPr wrap="square" lIns="0" tIns="0" rIns="0" bIns="0" rtlCol="0" anchor="ctr"/>
          <a:lstStyle/>
          <a:p>
            <a:pPr indent="0" marL="0">
              <a:buNone/>
            </a:pPr>
            <a:r>
              <a:rPr lang="en-US" sz="900" dirty="0">
                <a:solidFill>
                  <a:srgbClr val="5E6964"/>
                </a:solidFill>
                <a:latin typeface="Calibri" pitchFamily="34" charset="0"/>
                <a:ea typeface="Calibri" pitchFamily="34" charset="-122"/>
                <a:cs typeface="Calibri" pitchFamily="34" charset="-120"/>
              </a:rPr>
              <a:t>accord GSS–Vodafone–Flowminder</a:t>
            </a:r>
            <a:endParaRPr lang="en-US" sz="900" dirty="0"/>
          </a:p>
        </p:txBody>
      </p:sp>
      <p:sp>
        <p:nvSpPr>
          <p:cNvPr id="57" name="Shape 47"/>
          <p:cNvSpPr/>
          <p:nvPr/>
        </p:nvSpPr>
        <p:spPr>
          <a:xfrm>
            <a:off x="6071616" y="4114800"/>
            <a:ext cx="2615184" cy="438912"/>
          </a:xfrm>
          <a:prstGeom prst="roundRect">
            <a:avLst>
              <a:gd name="adj" fmla="val 12500"/>
            </a:avLst>
          </a:prstGeom>
          <a:solidFill>
            <a:srgbClr val="FFFFFF"/>
          </a:solidFill>
          <a:ln w="9525">
            <a:solidFill>
              <a:srgbClr val="D5DED9"/>
            </a:solidFill>
            <a:prstDash val="solid"/>
          </a:ln>
        </p:spPr>
      </p:sp>
      <p:sp>
        <p:nvSpPr>
          <p:cNvPr id="58" name="Text 48"/>
          <p:cNvSpPr txBox="1"/>
          <p:nvPr/>
        </p:nvSpPr>
        <p:spPr>
          <a:xfrm>
            <a:off x="6163056" y="4114800"/>
            <a:ext cx="1188720" cy="438912"/>
          </a:xfrm>
          <a:prstGeom prst="rect">
            <a:avLst/>
          </a:prstGeom>
          <a:noFill/>
          <a:ln/>
        </p:spPr>
        <p:txBody>
          <a:bodyPr wrap="square" lIns="0" tIns="0" rIns="0" bIns="0" rtlCol="0" anchor="ctr">
            <a:normAutofit/>
          </a:bodyPr>
          <a:lstStyle/>
          <a:p>
            <a:pPr indent="0" marL="0">
              <a:buNone/>
            </a:pPr>
            <a:r>
              <a:rPr lang="en-US" sz="1300" b="1" dirty="0">
                <a:solidFill>
                  <a:srgbClr val="00A86A"/>
                </a:solidFill>
                <a:latin typeface="Calibri" pitchFamily="34" charset="0"/>
                <a:ea typeface="Calibri" pitchFamily="34" charset="-122"/>
                <a:cs typeface="Calibri" pitchFamily="34" charset="-120"/>
              </a:rPr>
              <a:t>Agrégés</a:t>
            </a:r>
            <a:endParaRPr lang="en-US" sz="1300" dirty="0"/>
          </a:p>
        </p:txBody>
      </p:sp>
      <p:sp>
        <p:nvSpPr>
          <p:cNvPr id="59" name="Text 49"/>
          <p:cNvSpPr txBox="1"/>
          <p:nvPr/>
        </p:nvSpPr>
        <p:spPr>
          <a:xfrm>
            <a:off x="7370064" y="4114800"/>
            <a:ext cx="1280160" cy="438912"/>
          </a:xfrm>
          <a:prstGeom prst="rect">
            <a:avLst/>
          </a:prstGeom>
          <a:noFill/>
          <a:ln/>
        </p:spPr>
        <p:txBody>
          <a:bodyPr wrap="square" lIns="0" tIns="0" rIns="0" bIns="0" rtlCol="0" anchor="ctr"/>
          <a:lstStyle/>
          <a:p>
            <a:pPr indent="0" marL="0">
              <a:buNone/>
            </a:pPr>
            <a:r>
              <a:rPr lang="en-US" sz="900" dirty="0">
                <a:solidFill>
                  <a:srgbClr val="5E6964"/>
                </a:solidFill>
                <a:latin typeface="Calibri" pitchFamily="34" charset="0"/>
                <a:ea typeface="Calibri" pitchFamily="34" charset="-122"/>
                <a:cs typeface="Calibri" pitchFamily="34" charset="-120"/>
              </a:rPr>
              <a:t>seuls les résultats quittent l'opérateur</a:t>
            </a:r>
            <a:endParaRPr lang="en-US" sz="900" dirty="0"/>
          </a:p>
        </p:txBody>
      </p:sp>
      <p:sp>
        <p:nvSpPr>
          <p:cNvPr id="60" name="Text 50"/>
          <p:cNvSpPr txBox="1"/>
          <p:nvPr/>
        </p:nvSpPr>
        <p:spPr>
          <a:xfrm>
            <a:off x="457200" y="4626864"/>
            <a:ext cx="749808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Sources : UN Statistics Wiki, guide sur les données de téléphonie mobile, annexe 1.5 Ghana ; Flowminder (2020–2023) ; Blumenstock et al. (2015), Science 350(6264).</a:t>
            </a:r>
            <a:endParaRPr lang="en-US" sz="85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TAXONOMIE · FAMILLE 4 SUR 6</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Moissonnage du web et plateformes en ligne</a:t>
            </a:r>
            <a:endParaRPr lang="en-US" sz="2400" dirty="0"/>
          </a:p>
        </p:txBody>
      </p:sp>
      <p:sp>
        <p:nvSpPr>
          <p:cNvPr id="8" name="Shape 6"/>
          <p:cNvSpPr/>
          <p:nvPr/>
        </p:nvSpPr>
        <p:spPr>
          <a:xfrm>
            <a:off x="7662672" y="329184"/>
            <a:ext cx="100584" cy="100584"/>
          </a:xfrm>
          <a:prstGeom prst="ellipse">
            <a:avLst/>
          </a:prstGeom>
          <a:solidFill>
            <a:srgbClr val="D5DED9"/>
          </a:solidFill>
          <a:ln/>
        </p:spPr>
      </p:sp>
      <p:sp>
        <p:nvSpPr>
          <p:cNvPr id="9" name="Shape 7"/>
          <p:cNvSpPr/>
          <p:nvPr/>
        </p:nvSpPr>
        <p:spPr>
          <a:xfrm>
            <a:off x="7845552" y="329184"/>
            <a:ext cx="100584" cy="100584"/>
          </a:xfrm>
          <a:prstGeom prst="ellipse">
            <a:avLst/>
          </a:prstGeom>
          <a:solidFill>
            <a:srgbClr val="00704A"/>
          </a:solidFill>
          <a:ln/>
        </p:spPr>
      </p:sp>
      <p:sp>
        <p:nvSpPr>
          <p:cNvPr id="10" name="Shape 8"/>
          <p:cNvSpPr/>
          <p:nvPr/>
        </p:nvSpPr>
        <p:spPr>
          <a:xfrm>
            <a:off x="8028432" y="329184"/>
            <a:ext cx="100584" cy="100584"/>
          </a:xfrm>
          <a:prstGeom prst="ellipse">
            <a:avLst/>
          </a:prstGeom>
          <a:solidFill>
            <a:srgbClr val="D5DED9"/>
          </a:solidFill>
          <a:ln/>
        </p:spPr>
      </p:sp>
      <p:sp>
        <p:nvSpPr>
          <p:cNvPr id="11" name="Shape 9"/>
          <p:cNvSpPr/>
          <p:nvPr/>
        </p:nvSpPr>
        <p:spPr>
          <a:xfrm>
            <a:off x="8211312" y="329184"/>
            <a:ext cx="100584" cy="100584"/>
          </a:xfrm>
          <a:prstGeom prst="ellipse">
            <a:avLst/>
          </a:prstGeom>
          <a:solidFill>
            <a:srgbClr val="D5DED9"/>
          </a:solidFill>
          <a:ln/>
        </p:spPr>
      </p:sp>
      <p:sp>
        <p:nvSpPr>
          <p:cNvPr id="12" name="Shape 10"/>
          <p:cNvSpPr/>
          <p:nvPr/>
        </p:nvSpPr>
        <p:spPr>
          <a:xfrm>
            <a:off x="8394192" y="329184"/>
            <a:ext cx="100584" cy="100584"/>
          </a:xfrm>
          <a:prstGeom prst="ellipse">
            <a:avLst/>
          </a:prstGeom>
          <a:solidFill>
            <a:srgbClr val="D5DED9"/>
          </a:solidFill>
          <a:ln/>
        </p:spPr>
      </p:sp>
      <p:sp>
        <p:nvSpPr>
          <p:cNvPr id="13" name="Shape 11"/>
          <p:cNvSpPr/>
          <p:nvPr/>
        </p:nvSpPr>
        <p:spPr>
          <a:xfrm>
            <a:off x="8577072" y="329184"/>
            <a:ext cx="100584" cy="100584"/>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Sources de données non traditionnelles · Le trésor caché · Atelier STG17</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15</a:t>
            </a:r>
            <a:endParaRPr lang="en-US" sz="850" dirty="0"/>
          </a:p>
        </p:txBody>
      </p:sp>
      <p:sp>
        <p:nvSpPr>
          <p:cNvPr id="17" name="Shape 14"/>
          <p:cNvSpPr/>
          <p:nvPr/>
        </p:nvSpPr>
        <p:spPr>
          <a:xfrm>
            <a:off x="457200" y="1097280"/>
            <a:ext cx="2743200" cy="1600200"/>
          </a:xfrm>
          <a:prstGeom prst="roundRect">
            <a:avLst>
              <a:gd name="adj" fmla="val 4571"/>
            </a:avLst>
          </a:prstGeom>
          <a:solidFill>
            <a:srgbClr val="F4F7F5"/>
          </a:solidFill>
          <a:ln w="9525">
            <a:solidFill>
              <a:srgbClr val="D5DED9"/>
            </a:solidFill>
            <a:prstDash val="solid"/>
          </a:ln>
        </p:spPr>
      </p:sp>
      <p:sp>
        <p:nvSpPr>
          <p:cNvPr id="18" name="Shape 15"/>
          <p:cNvSpPr/>
          <p:nvPr/>
        </p:nvSpPr>
        <p:spPr>
          <a:xfrm>
            <a:off x="594360" y="1207008"/>
            <a:ext cx="384048" cy="384048"/>
          </a:xfrm>
          <a:prstGeom prst="ellipse">
            <a:avLst/>
          </a:prstGeom>
          <a:solidFill>
            <a:srgbClr val="00704A">
              <a:alpha val="22000"/>
            </a:srgbClr>
          </a:solidFill>
          <a:ln/>
        </p:spPr>
      </p:sp>
      <p:pic>
        <p:nvPicPr>
          <p:cNvPr id="19" name="Image 0" descr="preencoded.png">    </p:cNvPr>
          <p:cNvPicPr>
            <a:picLocks noChangeAspect="1"/>
          </p:cNvPicPr>
          <p:nvPr/>
        </p:nvPicPr>
        <p:blipFill>
          <a:blip r:embed="rId1"/>
          <a:stretch>
            <a:fillRect/>
          </a:stretch>
        </p:blipFill>
        <p:spPr>
          <a:xfrm>
            <a:off x="690372" y="1303020"/>
            <a:ext cx="192024" cy="192024"/>
          </a:xfrm>
          <a:prstGeom prst="rect">
            <a:avLst/>
          </a:prstGeom>
        </p:spPr>
      </p:pic>
      <p:sp>
        <p:nvSpPr>
          <p:cNvPr id="20" name="Text 16"/>
          <p:cNvSpPr txBox="1"/>
          <p:nvPr/>
        </p:nvSpPr>
        <p:spPr>
          <a:xfrm>
            <a:off x="1069848" y="1207008"/>
            <a:ext cx="1828800" cy="384048"/>
          </a:xfrm>
          <a:prstGeom prst="rect">
            <a:avLst/>
          </a:prstGeom>
          <a:noFill/>
          <a:ln/>
        </p:spPr>
        <p:txBody>
          <a:bodyPr wrap="square" lIns="0" tIns="0" rIns="0" bIns="0" rtlCol="0" anchor="ctr"/>
          <a:lstStyle/>
          <a:p>
            <a:pPr indent="0" marL="0">
              <a:buNone/>
            </a:pPr>
            <a:r>
              <a:rPr lang="en-US" sz="1000" b="1" spc="200" kern="0" dirty="0">
                <a:solidFill>
                  <a:srgbClr val="00704A"/>
                </a:solidFill>
                <a:latin typeface="Calibri" pitchFamily="34" charset="0"/>
                <a:ea typeface="Calibri" pitchFamily="34" charset="-122"/>
                <a:cs typeface="Calibri" pitchFamily="34" charset="-120"/>
              </a:rPr>
              <a:t>DE QUOI S'AGIT-IL ?</a:t>
            </a:r>
            <a:endParaRPr lang="en-US" sz="1000" dirty="0"/>
          </a:p>
        </p:txBody>
      </p:sp>
      <p:sp>
        <p:nvSpPr>
          <p:cNvPr id="21" name="Text 17"/>
          <p:cNvSpPr txBox="1"/>
          <p:nvPr/>
        </p:nvSpPr>
        <p:spPr>
          <a:xfrm>
            <a:off x="594360" y="1645920"/>
            <a:ext cx="2487168" cy="1024128"/>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Collecte automatisée d'informations affichées publiquement en ligne — prix, offres d'emploi et annonces immobilières, sites d'entreprises — et données de plateformes et de recherche.</a:t>
            </a:r>
            <a:endParaRPr lang="en-US" sz="1000" dirty="0"/>
          </a:p>
        </p:txBody>
      </p:sp>
      <p:sp>
        <p:nvSpPr>
          <p:cNvPr id="22" name="Shape 18"/>
          <p:cNvSpPr/>
          <p:nvPr/>
        </p:nvSpPr>
        <p:spPr>
          <a:xfrm>
            <a:off x="457200" y="2807208"/>
            <a:ext cx="2743200" cy="1188720"/>
          </a:xfrm>
          <a:prstGeom prst="roundRect">
            <a:avLst>
              <a:gd name="adj" fmla="val 6154"/>
            </a:avLst>
          </a:prstGeom>
          <a:solidFill>
            <a:srgbClr val="F4F7F5"/>
          </a:solidFill>
          <a:ln w="9525">
            <a:solidFill>
              <a:srgbClr val="D5DED9"/>
            </a:solidFill>
            <a:prstDash val="solid"/>
          </a:ln>
        </p:spPr>
      </p:sp>
      <p:sp>
        <p:nvSpPr>
          <p:cNvPr id="23" name="Text 19"/>
          <p:cNvSpPr txBox="1"/>
          <p:nvPr/>
        </p:nvSpPr>
        <p:spPr>
          <a:xfrm>
            <a:off x="594360" y="2880360"/>
            <a:ext cx="2286000" cy="201168"/>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OÙ LA TROUVER</a:t>
            </a:r>
            <a:endParaRPr lang="en-US" sz="1000" dirty="0"/>
          </a:p>
        </p:txBody>
      </p:sp>
      <p:sp>
        <p:nvSpPr>
          <p:cNvPr id="24" name="Shape 20"/>
          <p:cNvSpPr/>
          <p:nvPr/>
        </p:nvSpPr>
        <p:spPr>
          <a:xfrm>
            <a:off x="594360" y="3163824"/>
            <a:ext cx="1207008" cy="329184"/>
          </a:xfrm>
          <a:prstGeom prst="roundRect">
            <a:avLst>
              <a:gd name="adj" fmla="val 22222"/>
            </a:avLst>
          </a:prstGeom>
          <a:solidFill>
            <a:srgbClr val="FFFFFF"/>
          </a:solidFill>
          <a:ln w="9525">
            <a:solidFill>
              <a:srgbClr val="00704A"/>
            </a:solidFill>
            <a:prstDash val="solid"/>
          </a:ln>
        </p:spPr>
      </p:sp>
      <p:sp>
        <p:nvSpPr>
          <p:cNvPr id="25" name="Text 21"/>
          <p:cNvSpPr txBox="1"/>
          <p:nvPr/>
        </p:nvSpPr>
        <p:spPr>
          <a:xfrm>
            <a:off x="621792" y="3163824"/>
            <a:ext cx="1152144" cy="329184"/>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Sites de e-commerce</a:t>
            </a:r>
            <a:endParaRPr lang="en-US" sz="850" dirty="0"/>
          </a:p>
        </p:txBody>
      </p:sp>
      <p:sp>
        <p:nvSpPr>
          <p:cNvPr id="26" name="Shape 22"/>
          <p:cNvSpPr/>
          <p:nvPr/>
        </p:nvSpPr>
        <p:spPr>
          <a:xfrm>
            <a:off x="1865376" y="3163824"/>
            <a:ext cx="1207008" cy="329184"/>
          </a:xfrm>
          <a:prstGeom prst="roundRect">
            <a:avLst>
              <a:gd name="adj" fmla="val 22222"/>
            </a:avLst>
          </a:prstGeom>
          <a:solidFill>
            <a:srgbClr val="FFFFFF"/>
          </a:solidFill>
          <a:ln w="9525">
            <a:solidFill>
              <a:srgbClr val="00704A"/>
            </a:solidFill>
            <a:prstDash val="solid"/>
          </a:ln>
        </p:spPr>
      </p:sp>
      <p:sp>
        <p:nvSpPr>
          <p:cNvPr id="27" name="Text 23"/>
          <p:cNvSpPr txBox="1"/>
          <p:nvPr/>
        </p:nvSpPr>
        <p:spPr>
          <a:xfrm>
            <a:off x="1892808" y="3163824"/>
            <a:ext cx="1152144" cy="329184"/>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Portails d'emploi</a:t>
            </a:r>
            <a:endParaRPr lang="en-US" sz="850" dirty="0"/>
          </a:p>
        </p:txBody>
      </p:sp>
      <p:sp>
        <p:nvSpPr>
          <p:cNvPr id="28" name="Shape 24"/>
          <p:cNvSpPr/>
          <p:nvPr/>
        </p:nvSpPr>
        <p:spPr>
          <a:xfrm>
            <a:off x="594360" y="3557016"/>
            <a:ext cx="1207008" cy="329184"/>
          </a:xfrm>
          <a:prstGeom prst="roundRect">
            <a:avLst>
              <a:gd name="adj" fmla="val 22222"/>
            </a:avLst>
          </a:prstGeom>
          <a:solidFill>
            <a:srgbClr val="FFFFFF"/>
          </a:solidFill>
          <a:ln w="9525">
            <a:solidFill>
              <a:srgbClr val="00704A"/>
            </a:solidFill>
            <a:prstDash val="solid"/>
          </a:ln>
        </p:spPr>
      </p:sp>
      <p:sp>
        <p:nvSpPr>
          <p:cNvPr id="29" name="Text 25"/>
          <p:cNvSpPr txBox="1"/>
          <p:nvPr/>
        </p:nvSpPr>
        <p:spPr>
          <a:xfrm>
            <a:off x="621792" y="3557016"/>
            <a:ext cx="1152144" cy="329184"/>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Annonces immobilières</a:t>
            </a:r>
            <a:endParaRPr lang="en-US" sz="850" dirty="0"/>
          </a:p>
        </p:txBody>
      </p:sp>
      <p:sp>
        <p:nvSpPr>
          <p:cNvPr id="30" name="Shape 26"/>
          <p:cNvSpPr/>
          <p:nvPr/>
        </p:nvSpPr>
        <p:spPr>
          <a:xfrm>
            <a:off x="1865376" y="3557016"/>
            <a:ext cx="1207008" cy="329184"/>
          </a:xfrm>
          <a:prstGeom prst="roundRect">
            <a:avLst>
              <a:gd name="adj" fmla="val 22222"/>
            </a:avLst>
          </a:prstGeom>
          <a:solidFill>
            <a:srgbClr val="FFFFFF"/>
          </a:solidFill>
          <a:ln w="9525">
            <a:solidFill>
              <a:srgbClr val="00704A"/>
            </a:solidFill>
            <a:prstDash val="solid"/>
          </a:ln>
        </p:spPr>
      </p:sp>
      <p:sp>
        <p:nvSpPr>
          <p:cNvPr id="31" name="Text 27"/>
          <p:cNvSpPr txBox="1"/>
          <p:nvPr/>
        </p:nvSpPr>
        <p:spPr>
          <a:xfrm>
            <a:off x="1892808" y="3557016"/>
            <a:ext cx="1152144" cy="329184"/>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Annuaires d'entreprises</a:t>
            </a:r>
            <a:endParaRPr lang="en-US" sz="850" dirty="0"/>
          </a:p>
        </p:txBody>
      </p:sp>
      <p:sp>
        <p:nvSpPr>
          <p:cNvPr id="32" name="Shape 28"/>
          <p:cNvSpPr/>
          <p:nvPr/>
        </p:nvSpPr>
        <p:spPr>
          <a:xfrm>
            <a:off x="3337560" y="1097280"/>
            <a:ext cx="2697480" cy="2898648"/>
          </a:xfrm>
          <a:prstGeom prst="roundRect">
            <a:avLst>
              <a:gd name="adj" fmla="val 2712"/>
            </a:avLst>
          </a:prstGeom>
          <a:solidFill>
            <a:srgbClr val="F4F7F5"/>
          </a:solidFill>
          <a:ln w="9525">
            <a:solidFill>
              <a:srgbClr val="D5DED9"/>
            </a:solidFill>
            <a:prstDash val="solid"/>
          </a:ln>
        </p:spPr>
      </p:sp>
      <p:sp>
        <p:nvSpPr>
          <p:cNvPr id="33" name="Text 29"/>
          <p:cNvSpPr txBox="1"/>
          <p:nvPr/>
        </p:nvSpPr>
        <p:spPr>
          <a:xfrm>
            <a:off x="3474720" y="1207008"/>
            <a:ext cx="2468880" cy="274320"/>
          </a:xfrm>
          <a:prstGeom prst="rect">
            <a:avLst/>
          </a:prstGeom>
          <a:noFill/>
          <a:ln/>
        </p:spPr>
        <p:txBody>
          <a:bodyPr wrap="square" lIns="0" tIns="0" rIns="0" bIns="0" rtlCol="0" anchor="ctr"/>
          <a:lstStyle/>
          <a:p>
            <a:pPr indent="0" marL="0">
              <a:buNone/>
            </a:pPr>
            <a:r>
              <a:rPr lang="en-US" sz="1000" b="1" spc="200" kern="0" dirty="0">
                <a:solidFill>
                  <a:srgbClr val="00704A"/>
                </a:solidFill>
                <a:latin typeface="Calibri" pitchFamily="34" charset="0"/>
                <a:ea typeface="Calibri" pitchFamily="34" charset="-122"/>
                <a:cs typeface="Calibri" pitchFamily="34" charset="-120"/>
              </a:rPr>
              <a:t>CE QU'ELLE PERMET DE MESURER</a:t>
            </a:r>
            <a:endParaRPr lang="en-US" sz="1000" dirty="0"/>
          </a:p>
        </p:txBody>
      </p:sp>
      <p:pic>
        <p:nvPicPr>
          <p:cNvPr id="34" name="Image 1" descr="preencoded.png">    </p:cNvPr>
          <p:cNvPicPr>
            <a:picLocks noChangeAspect="1"/>
          </p:cNvPicPr>
          <p:nvPr/>
        </p:nvPicPr>
        <p:blipFill>
          <a:blip r:embed="rId2"/>
          <a:stretch>
            <a:fillRect/>
          </a:stretch>
        </p:blipFill>
        <p:spPr>
          <a:xfrm>
            <a:off x="3474720" y="1664208"/>
            <a:ext cx="182880" cy="182880"/>
          </a:xfrm>
          <a:prstGeom prst="rect">
            <a:avLst/>
          </a:prstGeom>
        </p:spPr>
      </p:pic>
      <p:sp>
        <p:nvSpPr>
          <p:cNvPr id="35" name="Text 30"/>
          <p:cNvSpPr txBox="1"/>
          <p:nvPr/>
        </p:nvSpPr>
        <p:spPr>
          <a:xfrm>
            <a:off x="3749040" y="1627632"/>
            <a:ext cx="2212848"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Prix en ligne, mis à jour chaque jour</a:t>
            </a:r>
            <a:endParaRPr lang="en-US" sz="1050" dirty="0"/>
          </a:p>
        </p:txBody>
      </p:sp>
      <p:pic>
        <p:nvPicPr>
          <p:cNvPr id="36" name="Image 2" descr="preencoded.png">    </p:cNvPr>
          <p:cNvPicPr>
            <a:picLocks noChangeAspect="1"/>
          </p:cNvPicPr>
          <p:nvPr/>
        </p:nvPicPr>
        <p:blipFill>
          <a:blip r:embed="rId3"/>
          <a:stretch>
            <a:fillRect/>
          </a:stretch>
        </p:blipFill>
        <p:spPr>
          <a:xfrm>
            <a:off x="3474720" y="2121408"/>
            <a:ext cx="182880" cy="182880"/>
          </a:xfrm>
          <a:prstGeom prst="rect">
            <a:avLst/>
          </a:prstGeom>
        </p:spPr>
      </p:pic>
      <p:sp>
        <p:nvSpPr>
          <p:cNvPr id="37" name="Text 31"/>
          <p:cNvSpPr txBox="1"/>
          <p:nvPr/>
        </p:nvSpPr>
        <p:spPr>
          <a:xfrm>
            <a:off x="3749040" y="2084832"/>
            <a:ext cx="2212848"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Demande de travail par compétence et métier</a:t>
            </a:r>
            <a:endParaRPr lang="en-US" sz="1050" dirty="0"/>
          </a:p>
        </p:txBody>
      </p:sp>
      <p:pic>
        <p:nvPicPr>
          <p:cNvPr id="38" name="Image 3" descr="preencoded.png">    </p:cNvPr>
          <p:cNvPicPr>
            <a:picLocks noChangeAspect="1"/>
          </p:cNvPicPr>
          <p:nvPr/>
        </p:nvPicPr>
        <p:blipFill>
          <a:blip r:embed="rId4"/>
          <a:stretch>
            <a:fillRect/>
          </a:stretch>
        </p:blipFill>
        <p:spPr>
          <a:xfrm>
            <a:off x="3474720" y="2578608"/>
            <a:ext cx="182880" cy="182880"/>
          </a:xfrm>
          <a:prstGeom prst="rect">
            <a:avLst/>
          </a:prstGeom>
        </p:spPr>
      </p:pic>
      <p:sp>
        <p:nvSpPr>
          <p:cNvPr id="39" name="Text 32"/>
          <p:cNvSpPr txBox="1"/>
          <p:nvPr/>
        </p:nvSpPr>
        <p:spPr>
          <a:xfrm>
            <a:off x="3749040" y="2542032"/>
            <a:ext cx="2212848"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Loyers et offre de logements</a:t>
            </a:r>
            <a:endParaRPr lang="en-US" sz="1050" dirty="0"/>
          </a:p>
        </p:txBody>
      </p:sp>
      <p:pic>
        <p:nvPicPr>
          <p:cNvPr id="40" name="Image 4" descr="preencoded.png">    </p:cNvPr>
          <p:cNvPicPr>
            <a:picLocks noChangeAspect="1"/>
          </p:cNvPicPr>
          <p:nvPr/>
        </p:nvPicPr>
        <p:blipFill>
          <a:blip r:embed="rId5"/>
          <a:stretch>
            <a:fillRect/>
          </a:stretch>
        </p:blipFill>
        <p:spPr>
          <a:xfrm>
            <a:off x="3474720" y="3035808"/>
            <a:ext cx="182880" cy="182880"/>
          </a:xfrm>
          <a:prstGeom prst="rect">
            <a:avLst/>
          </a:prstGeom>
        </p:spPr>
      </p:pic>
      <p:sp>
        <p:nvSpPr>
          <p:cNvPr id="41" name="Text 33"/>
          <p:cNvSpPr txBox="1"/>
          <p:nvPr/>
        </p:nvSpPr>
        <p:spPr>
          <a:xfrm>
            <a:off x="3749040" y="2999232"/>
            <a:ext cx="2212848"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Répertoires et activité des entreprises</a:t>
            </a:r>
            <a:endParaRPr lang="en-US" sz="1050" dirty="0"/>
          </a:p>
        </p:txBody>
      </p:sp>
      <p:pic>
        <p:nvPicPr>
          <p:cNvPr id="42" name="Image 5" descr="preencoded.png">    </p:cNvPr>
          <p:cNvPicPr>
            <a:picLocks noChangeAspect="1"/>
          </p:cNvPicPr>
          <p:nvPr/>
        </p:nvPicPr>
        <p:blipFill>
          <a:blip r:embed="rId6"/>
          <a:stretch>
            <a:fillRect/>
          </a:stretch>
        </p:blipFill>
        <p:spPr>
          <a:xfrm>
            <a:off x="3474720" y="3493008"/>
            <a:ext cx="182880" cy="182880"/>
          </a:xfrm>
          <a:prstGeom prst="rect">
            <a:avLst/>
          </a:prstGeom>
        </p:spPr>
      </p:pic>
      <p:sp>
        <p:nvSpPr>
          <p:cNvPr id="43" name="Text 34"/>
          <p:cNvSpPr txBox="1"/>
          <p:nvPr/>
        </p:nvSpPr>
        <p:spPr>
          <a:xfrm>
            <a:off x="3749040" y="3456432"/>
            <a:ext cx="2212848"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Signaux précoces de chocs de prix</a:t>
            </a:r>
            <a:endParaRPr lang="en-US" sz="1050" dirty="0"/>
          </a:p>
        </p:txBody>
      </p:sp>
      <p:sp>
        <p:nvSpPr>
          <p:cNvPr id="44" name="Shape 35"/>
          <p:cNvSpPr/>
          <p:nvPr/>
        </p:nvSpPr>
        <p:spPr>
          <a:xfrm>
            <a:off x="6172200" y="1097280"/>
            <a:ext cx="2514600" cy="1783080"/>
          </a:xfrm>
          <a:prstGeom prst="roundRect">
            <a:avLst>
              <a:gd name="adj" fmla="val 4103"/>
            </a:avLst>
          </a:prstGeom>
          <a:solidFill>
            <a:srgbClr val="E8F5EF"/>
          </a:solidFill>
          <a:ln w="15875">
            <a:solidFill>
              <a:srgbClr val="00A86A"/>
            </a:solidFill>
            <a:prstDash val="solid"/>
          </a:ln>
        </p:spPr>
      </p:sp>
      <p:sp>
        <p:nvSpPr>
          <p:cNvPr id="45" name="Text 36"/>
          <p:cNvSpPr txBox="1"/>
          <p:nvPr/>
        </p:nvSpPr>
        <p:spPr>
          <a:xfrm>
            <a:off x="6309360" y="1188720"/>
            <a:ext cx="2286000" cy="228600"/>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EXEMPLE DOCUMENTÉ</a:t>
            </a:r>
            <a:endParaRPr lang="en-US" sz="1000" dirty="0"/>
          </a:p>
        </p:txBody>
      </p:sp>
      <p:sp>
        <p:nvSpPr>
          <p:cNvPr id="46" name="Text 37"/>
          <p:cNvSpPr txBox="1"/>
          <p:nvPr/>
        </p:nvSpPr>
        <p:spPr>
          <a:xfrm>
            <a:off x="6309360" y="1426464"/>
            <a:ext cx="2286000" cy="141732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Le Billion Prices Project du MIT a collecté chaque jour les prix en ligne de détaillants dans des dizaines de pays et produit des séries d'inflation qui suivaient — et parfois anticipaient — les IPC officiels.</a:t>
            </a:r>
            <a:endParaRPr lang="en-US" sz="1000" dirty="0"/>
          </a:p>
        </p:txBody>
      </p:sp>
      <p:sp>
        <p:nvSpPr>
          <p:cNvPr id="47" name="Shape 38"/>
          <p:cNvSpPr/>
          <p:nvPr/>
        </p:nvSpPr>
        <p:spPr>
          <a:xfrm>
            <a:off x="6172200" y="2990088"/>
            <a:ext cx="2514600" cy="1005840"/>
          </a:xfrm>
          <a:prstGeom prst="roundRect">
            <a:avLst>
              <a:gd name="adj" fmla="val 5455"/>
            </a:avLst>
          </a:prstGeom>
          <a:solidFill>
            <a:srgbClr val="D49A00">
              <a:alpha val="13000"/>
            </a:srgbClr>
          </a:solidFill>
          <a:ln w="12700">
            <a:solidFill>
              <a:srgbClr val="D49A00"/>
            </a:solidFill>
            <a:prstDash val="solid"/>
          </a:ln>
        </p:spPr>
      </p:sp>
      <p:pic>
        <p:nvPicPr>
          <p:cNvPr id="48" name="Image 6" descr="preencoded.png">    </p:cNvPr>
          <p:cNvPicPr>
            <a:picLocks noChangeAspect="1"/>
          </p:cNvPicPr>
          <p:nvPr/>
        </p:nvPicPr>
        <p:blipFill>
          <a:blip r:embed="rId7"/>
          <a:stretch>
            <a:fillRect/>
          </a:stretch>
        </p:blipFill>
        <p:spPr>
          <a:xfrm>
            <a:off x="6291072" y="3072384"/>
            <a:ext cx="182880" cy="182880"/>
          </a:xfrm>
          <a:prstGeom prst="rect">
            <a:avLst/>
          </a:prstGeom>
        </p:spPr>
      </p:pic>
      <p:sp>
        <p:nvSpPr>
          <p:cNvPr id="49" name="Text 39"/>
          <p:cNvSpPr txBox="1"/>
          <p:nvPr/>
        </p:nvSpPr>
        <p:spPr>
          <a:xfrm>
            <a:off x="6537960" y="3063240"/>
            <a:ext cx="1828800" cy="201168"/>
          </a:xfrm>
          <a:prstGeom prst="rect">
            <a:avLst/>
          </a:prstGeom>
          <a:noFill/>
          <a:ln/>
        </p:spPr>
        <p:txBody>
          <a:bodyPr wrap="square" lIns="0" tIns="0" rIns="0" bIns="0" rtlCol="0" anchor="t"/>
          <a:lstStyle/>
          <a:p>
            <a:pPr indent="0" marL="0">
              <a:buNone/>
            </a:pPr>
            <a:r>
              <a:rPr lang="en-US" sz="1000" b="1" spc="200" kern="0" dirty="0">
                <a:solidFill>
                  <a:srgbClr val="D49A00"/>
                </a:solidFill>
                <a:latin typeface="Calibri" pitchFamily="34" charset="0"/>
                <a:ea typeface="Calibri" pitchFamily="34" charset="-122"/>
                <a:cs typeface="Calibri" pitchFamily="34" charset="-120"/>
              </a:rPr>
              <a:t>VIGILANCE</a:t>
            </a:r>
            <a:endParaRPr lang="en-US" sz="1000" dirty="0"/>
          </a:p>
        </p:txBody>
      </p:sp>
      <p:sp>
        <p:nvSpPr>
          <p:cNvPr id="50" name="Text 40"/>
          <p:cNvSpPr txBox="1"/>
          <p:nvPr/>
        </p:nvSpPr>
        <p:spPr>
          <a:xfrm>
            <a:off x="6291072" y="3273552"/>
            <a:ext cx="2322576" cy="704088"/>
          </a:xfrm>
          <a:prstGeom prst="rect">
            <a:avLst/>
          </a:prstGeom>
          <a:noFill/>
          <a:ln/>
        </p:spPr>
        <p:txBody>
          <a:bodyPr wrap="square" lIns="0" tIns="0" rIns="0" bIns="0" rtlCol="0" anchor="t"/>
          <a:lstStyle/>
          <a:p>
            <a:pPr indent="0" marL="0">
              <a:buNone/>
            </a:pPr>
            <a:r>
              <a:rPr lang="en-US" sz="900" dirty="0">
                <a:solidFill>
                  <a:srgbClr val="231F20"/>
                </a:solidFill>
                <a:latin typeface="Calibri" pitchFamily="34" charset="0"/>
                <a:ea typeface="Calibri" pitchFamily="34" charset="-122"/>
                <a:cs typeface="Calibri" pitchFamily="34" charset="-120"/>
              </a:rPr>
              <a:t>Les sites changent du jour au lendemain ; une offre n'est pas une vente ; les vendeurs urbains et formels dominent. « Visible publiquement » ne veut pas dire « réutilisable légalement ».</a:t>
            </a:r>
            <a:endParaRPr lang="en-US" sz="900" dirty="0"/>
          </a:p>
        </p:txBody>
      </p:sp>
      <p:sp>
        <p:nvSpPr>
          <p:cNvPr id="51" name="Shape 41"/>
          <p:cNvSpPr/>
          <p:nvPr/>
        </p:nvSpPr>
        <p:spPr>
          <a:xfrm>
            <a:off x="457200" y="4114800"/>
            <a:ext cx="2615184" cy="438912"/>
          </a:xfrm>
          <a:prstGeom prst="roundRect">
            <a:avLst>
              <a:gd name="adj" fmla="val 12500"/>
            </a:avLst>
          </a:prstGeom>
          <a:solidFill>
            <a:srgbClr val="FFFFFF"/>
          </a:solidFill>
          <a:ln w="9525">
            <a:solidFill>
              <a:srgbClr val="D5DED9"/>
            </a:solidFill>
            <a:prstDash val="solid"/>
          </a:ln>
        </p:spPr>
      </p:sp>
      <p:sp>
        <p:nvSpPr>
          <p:cNvPr id="52" name="Text 42"/>
          <p:cNvSpPr txBox="1"/>
          <p:nvPr/>
        </p:nvSpPr>
        <p:spPr>
          <a:xfrm>
            <a:off x="548640" y="4114800"/>
            <a:ext cx="1188720" cy="438912"/>
          </a:xfrm>
          <a:prstGeom prst="rect">
            <a:avLst/>
          </a:prstGeom>
          <a:noFill/>
          <a:ln/>
        </p:spPr>
        <p:txBody>
          <a:bodyPr wrap="square" lIns="0" tIns="0" rIns="0" bIns="0" rtlCol="0" anchor="ctr">
            <a:normAutofit/>
          </a:bodyPr>
          <a:lstStyle/>
          <a:p>
            <a:pPr indent="0" marL="0">
              <a:buNone/>
            </a:pPr>
            <a:r>
              <a:rPr lang="en-US" sz="1300" b="1" dirty="0">
                <a:solidFill>
                  <a:srgbClr val="00A86A"/>
                </a:solidFill>
                <a:latin typeface="Calibri" pitchFamily="34" charset="0"/>
                <a:ea typeface="Calibri" pitchFamily="34" charset="-122"/>
                <a:cs typeface="Calibri" pitchFamily="34" charset="-120"/>
              </a:rPr>
              <a:t>Quotidien</a:t>
            </a:r>
            <a:endParaRPr lang="en-US" sz="1300" dirty="0"/>
          </a:p>
        </p:txBody>
      </p:sp>
      <p:sp>
        <p:nvSpPr>
          <p:cNvPr id="53" name="Text 43"/>
          <p:cNvSpPr txBox="1"/>
          <p:nvPr/>
        </p:nvSpPr>
        <p:spPr>
          <a:xfrm>
            <a:off x="1755648" y="4114800"/>
            <a:ext cx="1280160" cy="438912"/>
          </a:xfrm>
          <a:prstGeom prst="rect">
            <a:avLst/>
          </a:prstGeom>
          <a:noFill/>
          <a:ln/>
        </p:spPr>
        <p:txBody>
          <a:bodyPr wrap="square" lIns="0" tIns="0" rIns="0" bIns="0" rtlCol="0" anchor="ctr"/>
          <a:lstStyle/>
          <a:p>
            <a:pPr indent="0" marL="0">
              <a:buNone/>
            </a:pPr>
            <a:r>
              <a:rPr lang="en-US" sz="900" dirty="0">
                <a:solidFill>
                  <a:srgbClr val="5E6964"/>
                </a:solidFill>
                <a:latin typeface="Calibri" pitchFamily="34" charset="0"/>
                <a:ea typeface="Calibri" pitchFamily="34" charset="-122"/>
                <a:cs typeface="Calibri" pitchFamily="34" charset="-120"/>
              </a:rPr>
              <a:t>fréquence possible</a:t>
            </a:r>
            <a:endParaRPr lang="en-US" sz="900" dirty="0"/>
          </a:p>
        </p:txBody>
      </p:sp>
      <p:sp>
        <p:nvSpPr>
          <p:cNvPr id="54" name="Shape 44"/>
          <p:cNvSpPr/>
          <p:nvPr/>
        </p:nvSpPr>
        <p:spPr>
          <a:xfrm>
            <a:off x="3264408" y="4114800"/>
            <a:ext cx="2615184" cy="438912"/>
          </a:xfrm>
          <a:prstGeom prst="roundRect">
            <a:avLst>
              <a:gd name="adj" fmla="val 12500"/>
            </a:avLst>
          </a:prstGeom>
          <a:solidFill>
            <a:srgbClr val="FFFFFF"/>
          </a:solidFill>
          <a:ln w="9525">
            <a:solidFill>
              <a:srgbClr val="D5DED9"/>
            </a:solidFill>
            <a:prstDash val="solid"/>
          </a:ln>
        </p:spPr>
      </p:sp>
      <p:sp>
        <p:nvSpPr>
          <p:cNvPr id="55" name="Text 45"/>
          <p:cNvSpPr txBox="1"/>
          <p:nvPr/>
        </p:nvSpPr>
        <p:spPr>
          <a:xfrm>
            <a:off x="3355848" y="4114800"/>
            <a:ext cx="1188720" cy="438912"/>
          </a:xfrm>
          <a:prstGeom prst="rect">
            <a:avLst/>
          </a:prstGeom>
          <a:noFill/>
          <a:ln/>
        </p:spPr>
        <p:txBody>
          <a:bodyPr wrap="square" lIns="0" tIns="0" rIns="0" bIns="0" rtlCol="0" anchor="ctr">
            <a:normAutofit/>
          </a:bodyPr>
          <a:lstStyle/>
          <a:p>
            <a:pPr indent="0" marL="0">
              <a:buNone/>
            </a:pPr>
            <a:r>
              <a:rPr lang="en-US" sz="1300" b="1" dirty="0">
                <a:solidFill>
                  <a:srgbClr val="00A86A"/>
                </a:solidFill>
                <a:latin typeface="Calibri" pitchFamily="34" charset="0"/>
                <a:ea typeface="Calibri" pitchFamily="34" charset="-122"/>
                <a:cs typeface="Calibri" pitchFamily="34" charset="-120"/>
              </a:rPr>
              <a:t>Robots.txt</a:t>
            </a:r>
            <a:endParaRPr lang="en-US" sz="1300" dirty="0"/>
          </a:p>
        </p:txBody>
      </p:sp>
      <p:sp>
        <p:nvSpPr>
          <p:cNvPr id="56" name="Text 46"/>
          <p:cNvSpPr txBox="1"/>
          <p:nvPr/>
        </p:nvSpPr>
        <p:spPr>
          <a:xfrm>
            <a:off x="4562856" y="4114800"/>
            <a:ext cx="1280160" cy="438912"/>
          </a:xfrm>
          <a:prstGeom prst="rect">
            <a:avLst/>
          </a:prstGeom>
          <a:noFill/>
          <a:ln/>
        </p:spPr>
        <p:txBody>
          <a:bodyPr wrap="square" lIns="0" tIns="0" rIns="0" bIns="0" rtlCol="0" anchor="ctr"/>
          <a:lstStyle/>
          <a:p>
            <a:pPr indent="0" marL="0">
              <a:buNone/>
            </a:pPr>
            <a:r>
              <a:rPr lang="en-US" sz="900" dirty="0">
                <a:solidFill>
                  <a:srgbClr val="5E6964"/>
                </a:solidFill>
                <a:latin typeface="Calibri" pitchFamily="34" charset="0"/>
                <a:ea typeface="Calibri" pitchFamily="34" charset="-122"/>
                <a:cs typeface="Calibri" pitchFamily="34" charset="-120"/>
              </a:rPr>
              <a:t>et conditions d'utilisation s'appliquent</a:t>
            </a:r>
            <a:endParaRPr lang="en-US" sz="900" dirty="0"/>
          </a:p>
        </p:txBody>
      </p:sp>
      <p:sp>
        <p:nvSpPr>
          <p:cNvPr id="57" name="Shape 47"/>
          <p:cNvSpPr/>
          <p:nvPr/>
        </p:nvSpPr>
        <p:spPr>
          <a:xfrm>
            <a:off x="6071616" y="4114800"/>
            <a:ext cx="2615184" cy="438912"/>
          </a:xfrm>
          <a:prstGeom prst="roundRect">
            <a:avLst>
              <a:gd name="adj" fmla="val 12500"/>
            </a:avLst>
          </a:prstGeom>
          <a:solidFill>
            <a:srgbClr val="FFFFFF"/>
          </a:solidFill>
          <a:ln w="9525">
            <a:solidFill>
              <a:srgbClr val="D5DED9"/>
            </a:solidFill>
            <a:prstDash val="solid"/>
          </a:ln>
        </p:spPr>
      </p:sp>
      <p:sp>
        <p:nvSpPr>
          <p:cNvPr id="58" name="Text 48"/>
          <p:cNvSpPr txBox="1"/>
          <p:nvPr/>
        </p:nvSpPr>
        <p:spPr>
          <a:xfrm>
            <a:off x="6163056" y="4114800"/>
            <a:ext cx="1188720" cy="438912"/>
          </a:xfrm>
          <a:prstGeom prst="rect">
            <a:avLst/>
          </a:prstGeom>
          <a:noFill/>
          <a:ln/>
        </p:spPr>
        <p:txBody>
          <a:bodyPr wrap="square" lIns="0" tIns="0" rIns="0" bIns="0" rtlCol="0" anchor="ctr">
            <a:normAutofit/>
          </a:bodyPr>
          <a:lstStyle/>
          <a:p>
            <a:pPr indent="0" marL="0">
              <a:buNone/>
            </a:pPr>
            <a:r>
              <a:rPr lang="en-US" sz="1300" b="1" dirty="0">
                <a:solidFill>
                  <a:srgbClr val="00A86A"/>
                </a:solidFill>
                <a:latin typeface="Calibri" pitchFamily="34" charset="0"/>
                <a:ea typeface="Calibri" pitchFamily="34" charset="-122"/>
                <a:cs typeface="Calibri" pitchFamily="34" charset="-120"/>
              </a:rPr>
              <a:t>Offre ≠ vente</a:t>
            </a:r>
            <a:endParaRPr lang="en-US" sz="1300" dirty="0"/>
          </a:p>
        </p:txBody>
      </p:sp>
      <p:sp>
        <p:nvSpPr>
          <p:cNvPr id="59" name="Text 49"/>
          <p:cNvSpPr txBox="1"/>
          <p:nvPr/>
        </p:nvSpPr>
        <p:spPr>
          <a:xfrm>
            <a:off x="7370064" y="4114800"/>
            <a:ext cx="1280160" cy="438912"/>
          </a:xfrm>
          <a:prstGeom prst="rect">
            <a:avLst/>
          </a:prstGeom>
          <a:noFill/>
          <a:ln/>
        </p:spPr>
        <p:txBody>
          <a:bodyPr wrap="square" lIns="0" tIns="0" rIns="0" bIns="0" rtlCol="0" anchor="ctr"/>
          <a:lstStyle/>
          <a:p>
            <a:pPr indent="0" marL="0">
              <a:buNone/>
            </a:pPr>
            <a:r>
              <a:rPr lang="en-US" sz="900" dirty="0">
                <a:solidFill>
                  <a:srgbClr val="5E6964"/>
                </a:solidFill>
                <a:latin typeface="Calibri" pitchFamily="34" charset="0"/>
                <a:ea typeface="Calibri" pitchFamily="34" charset="-122"/>
                <a:cs typeface="Calibri" pitchFamily="34" charset="-120"/>
              </a:rPr>
              <a:t>l'écart central de l'indicateur</a:t>
            </a:r>
            <a:endParaRPr lang="en-US" sz="900" dirty="0"/>
          </a:p>
        </p:txBody>
      </p:sp>
      <p:sp>
        <p:nvSpPr>
          <p:cNvPr id="60" name="Text 50"/>
          <p:cNvSpPr txBox="1"/>
          <p:nvPr/>
        </p:nvSpPr>
        <p:spPr>
          <a:xfrm>
            <a:off x="457200" y="4626864"/>
            <a:ext cx="749808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Sources : Cavallo et Rigobon (2016), « The Billion Prices Project », Journal of Economic Perspectives 30(2) ; travaux CEE-ONU / SSE sur l'intelligence web.</a:t>
            </a:r>
            <a:endParaRPr lang="en-US" sz="85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TAXONOMIE · FAMILLE 5 SUR 6</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Capteurs, IoT et télématique</a:t>
            </a:r>
            <a:endParaRPr lang="en-US" sz="2400" dirty="0"/>
          </a:p>
        </p:txBody>
      </p:sp>
      <p:sp>
        <p:nvSpPr>
          <p:cNvPr id="8" name="Shape 6"/>
          <p:cNvSpPr/>
          <p:nvPr/>
        </p:nvSpPr>
        <p:spPr>
          <a:xfrm>
            <a:off x="7662672" y="329184"/>
            <a:ext cx="100584" cy="100584"/>
          </a:xfrm>
          <a:prstGeom prst="ellipse">
            <a:avLst/>
          </a:prstGeom>
          <a:solidFill>
            <a:srgbClr val="D5DED9"/>
          </a:solidFill>
          <a:ln/>
        </p:spPr>
      </p:sp>
      <p:sp>
        <p:nvSpPr>
          <p:cNvPr id="9" name="Shape 7"/>
          <p:cNvSpPr/>
          <p:nvPr/>
        </p:nvSpPr>
        <p:spPr>
          <a:xfrm>
            <a:off x="7845552" y="329184"/>
            <a:ext cx="100584" cy="100584"/>
          </a:xfrm>
          <a:prstGeom prst="ellipse">
            <a:avLst/>
          </a:prstGeom>
          <a:solidFill>
            <a:srgbClr val="00704A"/>
          </a:solidFill>
          <a:ln/>
        </p:spPr>
      </p:sp>
      <p:sp>
        <p:nvSpPr>
          <p:cNvPr id="10" name="Shape 8"/>
          <p:cNvSpPr/>
          <p:nvPr/>
        </p:nvSpPr>
        <p:spPr>
          <a:xfrm>
            <a:off x="8028432" y="329184"/>
            <a:ext cx="100584" cy="100584"/>
          </a:xfrm>
          <a:prstGeom prst="ellipse">
            <a:avLst/>
          </a:prstGeom>
          <a:solidFill>
            <a:srgbClr val="D5DED9"/>
          </a:solidFill>
          <a:ln/>
        </p:spPr>
      </p:sp>
      <p:sp>
        <p:nvSpPr>
          <p:cNvPr id="11" name="Shape 9"/>
          <p:cNvSpPr/>
          <p:nvPr/>
        </p:nvSpPr>
        <p:spPr>
          <a:xfrm>
            <a:off x="8211312" y="329184"/>
            <a:ext cx="100584" cy="100584"/>
          </a:xfrm>
          <a:prstGeom prst="ellipse">
            <a:avLst/>
          </a:prstGeom>
          <a:solidFill>
            <a:srgbClr val="D5DED9"/>
          </a:solidFill>
          <a:ln/>
        </p:spPr>
      </p:sp>
      <p:sp>
        <p:nvSpPr>
          <p:cNvPr id="12" name="Shape 10"/>
          <p:cNvSpPr/>
          <p:nvPr/>
        </p:nvSpPr>
        <p:spPr>
          <a:xfrm>
            <a:off x="8394192" y="329184"/>
            <a:ext cx="100584" cy="100584"/>
          </a:xfrm>
          <a:prstGeom prst="ellipse">
            <a:avLst/>
          </a:prstGeom>
          <a:solidFill>
            <a:srgbClr val="D5DED9"/>
          </a:solidFill>
          <a:ln/>
        </p:spPr>
      </p:sp>
      <p:sp>
        <p:nvSpPr>
          <p:cNvPr id="13" name="Shape 11"/>
          <p:cNvSpPr/>
          <p:nvPr/>
        </p:nvSpPr>
        <p:spPr>
          <a:xfrm>
            <a:off x="8577072" y="329184"/>
            <a:ext cx="100584" cy="100584"/>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Sources de données non traditionnelles · Le trésor caché · Atelier STG17</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16</a:t>
            </a:r>
            <a:endParaRPr lang="en-US" sz="850" dirty="0"/>
          </a:p>
        </p:txBody>
      </p:sp>
      <p:sp>
        <p:nvSpPr>
          <p:cNvPr id="17" name="Shape 14"/>
          <p:cNvSpPr/>
          <p:nvPr/>
        </p:nvSpPr>
        <p:spPr>
          <a:xfrm>
            <a:off x="457200" y="1097280"/>
            <a:ext cx="2743200" cy="1600200"/>
          </a:xfrm>
          <a:prstGeom prst="roundRect">
            <a:avLst>
              <a:gd name="adj" fmla="val 4571"/>
            </a:avLst>
          </a:prstGeom>
          <a:solidFill>
            <a:srgbClr val="F4F7F5"/>
          </a:solidFill>
          <a:ln w="9525">
            <a:solidFill>
              <a:srgbClr val="D5DED9"/>
            </a:solidFill>
            <a:prstDash val="solid"/>
          </a:ln>
        </p:spPr>
      </p:sp>
      <p:sp>
        <p:nvSpPr>
          <p:cNvPr id="18" name="Shape 15"/>
          <p:cNvSpPr/>
          <p:nvPr/>
        </p:nvSpPr>
        <p:spPr>
          <a:xfrm>
            <a:off x="594360" y="1207008"/>
            <a:ext cx="384048" cy="384048"/>
          </a:xfrm>
          <a:prstGeom prst="ellipse">
            <a:avLst/>
          </a:prstGeom>
          <a:solidFill>
            <a:srgbClr val="00704A">
              <a:alpha val="22000"/>
            </a:srgbClr>
          </a:solidFill>
          <a:ln/>
        </p:spPr>
      </p:sp>
      <p:pic>
        <p:nvPicPr>
          <p:cNvPr id="19" name="Image 0" descr="preencoded.png">    </p:cNvPr>
          <p:cNvPicPr>
            <a:picLocks noChangeAspect="1"/>
          </p:cNvPicPr>
          <p:nvPr/>
        </p:nvPicPr>
        <p:blipFill>
          <a:blip r:embed="rId1"/>
          <a:stretch>
            <a:fillRect/>
          </a:stretch>
        </p:blipFill>
        <p:spPr>
          <a:xfrm>
            <a:off x="690372" y="1303020"/>
            <a:ext cx="192024" cy="192024"/>
          </a:xfrm>
          <a:prstGeom prst="rect">
            <a:avLst/>
          </a:prstGeom>
        </p:spPr>
      </p:pic>
      <p:sp>
        <p:nvSpPr>
          <p:cNvPr id="20" name="Text 16"/>
          <p:cNvSpPr txBox="1"/>
          <p:nvPr/>
        </p:nvSpPr>
        <p:spPr>
          <a:xfrm>
            <a:off x="1069848" y="1207008"/>
            <a:ext cx="1828800" cy="384048"/>
          </a:xfrm>
          <a:prstGeom prst="rect">
            <a:avLst/>
          </a:prstGeom>
          <a:noFill/>
          <a:ln/>
        </p:spPr>
        <p:txBody>
          <a:bodyPr wrap="square" lIns="0" tIns="0" rIns="0" bIns="0" rtlCol="0" anchor="ctr"/>
          <a:lstStyle/>
          <a:p>
            <a:pPr indent="0" marL="0">
              <a:buNone/>
            </a:pPr>
            <a:r>
              <a:rPr lang="en-US" sz="1000" b="1" spc="200" kern="0" dirty="0">
                <a:solidFill>
                  <a:srgbClr val="00704A"/>
                </a:solidFill>
                <a:latin typeface="Calibri" pitchFamily="34" charset="0"/>
                <a:ea typeface="Calibri" pitchFamily="34" charset="-122"/>
                <a:cs typeface="Calibri" pitchFamily="34" charset="-120"/>
              </a:rPr>
              <a:t>DE QUOI S'AGIT-IL ?</a:t>
            </a:r>
            <a:endParaRPr lang="en-US" sz="1000" dirty="0"/>
          </a:p>
        </p:txBody>
      </p:sp>
      <p:sp>
        <p:nvSpPr>
          <p:cNvPr id="21" name="Text 17"/>
          <p:cNvSpPr txBox="1"/>
          <p:nvPr/>
        </p:nvSpPr>
        <p:spPr>
          <a:xfrm>
            <a:off x="594360" y="1645920"/>
            <a:ext cx="2487168" cy="1024128"/>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Instruments fixes ou mobiles qui mesurent en continu : compteurs intelligents d'électricité et d'eau, compteurs de trafic, stations de qualité de l'air, traceurs GPS, transpondeurs de navires (AIS).</a:t>
            </a:r>
            <a:endParaRPr lang="en-US" sz="1000" dirty="0"/>
          </a:p>
        </p:txBody>
      </p:sp>
      <p:sp>
        <p:nvSpPr>
          <p:cNvPr id="22" name="Shape 18"/>
          <p:cNvSpPr/>
          <p:nvPr/>
        </p:nvSpPr>
        <p:spPr>
          <a:xfrm>
            <a:off x="457200" y="2807208"/>
            <a:ext cx="2743200" cy="1188720"/>
          </a:xfrm>
          <a:prstGeom prst="roundRect">
            <a:avLst>
              <a:gd name="adj" fmla="val 6154"/>
            </a:avLst>
          </a:prstGeom>
          <a:solidFill>
            <a:srgbClr val="F4F7F5"/>
          </a:solidFill>
          <a:ln w="9525">
            <a:solidFill>
              <a:srgbClr val="D5DED9"/>
            </a:solidFill>
            <a:prstDash val="solid"/>
          </a:ln>
        </p:spPr>
      </p:sp>
      <p:sp>
        <p:nvSpPr>
          <p:cNvPr id="23" name="Text 19"/>
          <p:cNvSpPr txBox="1"/>
          <p:nvPr/>
        </p:nvSpPr>
        <p:spPr>
          <a:xfrm>
            <a:off x="594360" y="2880360"/>
            <a:ext cx="2286000" cy="201168"/>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OÙ LA TROUVER</a:t>
            </a:r>
            <a:endParaRPr lang="en-US" sz="1000" dirty="0"/>
          </a:p>
        </p:txBody>
      </p:sp>
      <p:sp>
        <p:nvSpPr>
          <p:cNvPr id="24" name="Shape 20"/>
          <p:cNvSpPr/>
          <p:nvPr/>
        </p:nvSpPr>
        <p:spPr>
          <a:xfrm>
            <a:off x="594360" y="3163824"/>
            <a:ext cx="1207008" cy="329184"/>
          </a:xfrm>
          <a:prstGeom prst="roundRect">
            <a:avLst>
              <a:gd name="adj" fmla="val 22222"/>
            </a:avLst>
          </a:prstGeom>
          <a:solidFill>
            <a:srgbClr val="FFFFFF"/>
          </a:solidFill>
          <a:ln w="9525">
            <a:solidFill>
              <a:srgbClr val="00704A"/>
            </a:solidFill>
            <a:prstDash val="solid"/>
          </a:ln>
        </p:spPr>
      </p:sp>
      <p:sp>
        <p:nvSpPr>
          <p:cNvPr id="25" name="Text 21"/>
          <p:cNvSpPr txBox="1"/>
          <p:nvPr/>
        </p:nvSpPr>
        <p:spPr>
          <a:xfrm>
            <a:off x="621792" y="3163824"/>
            <a:ext cx="1152144" cy="329184"/>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Compteurs intelligents</a:t>
            </a:r>
            <a:endParaRPr lang="en-US" sz="850" dirty="0"/>
          </a:p>
        </p:txBody>
      </p:sp>
      <p:sp>
        <p:nvSpPr>
          <p:cNvPr id="26" name="Shape 22"/>
          <p:cNvSpPr/>
          <p:nvPr/>
        </p:nvSpPr>
        <p:spPr>
          <a:xfrm>
            <a:off x="1865376" y="3163824"/>
            <a:ext cx="1207008" cy="329184"/>
          </a:xfrm>
          <a:prstGeom prst="roundRect">
            <a:avLst>
              <a:gd name="adj" fmla="val 22222"/>
            </a:avLst>
          </a:prstGeom>
          <a:solidFill>
            <a:srgbClr val="FFFFFF"/>
          </a:solidFill>
          <a:ln w="9525">
            <a:solidFill>
              <a:srgbClr val="00704A"/>
            </a:solidFill>
            <a:prstDash val="solid"/>
          </a:ln>
        </p:spPr>
      </p:sp>
      <p:sp>
        <p:nvSpPr>
          <p:cNvPr id="27" name="Text 23"/>
          <p:cNvSpPr txBox="1"/>
          <p:nvPr/>
        </p:nvSpPr>
        <p:spPr>
          <a:xfrm>
            <a:off x="1892808" y="3163824"/>
            <a:ext cx="1152144" cy="329184"/>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Suivi des navires AIS</a:t>
            </a:r>
            <a:endParaRPr lang="en-US" sz="850" dirty="0"/>
          </a:p>
        </p:txBody>
      </p:sp>
      <p:sp>
        <p:nvSpPr>
          <p:cNvPr id="28" name="Shape 24"/>
          <p:cNvSpPr/>
          <p:nvPr/>
        </p:nvSpPr>
        <p:spPr>
          <a:xfrm>
            <a:off x="594360" y="3557016"/>
            <a:ext cx="1207008" cy="329184"/>
          </a:xfrm>
          <a:prstGeom prst="roundRect">
            <a:avLst>
              <a:gd name="adj" fmla="val 22222"/>
            </a:avLst>
          </a:prstGeom>
          <a:solidFill>
            <a:srgbClr val="FFFFFF"/>
          </a:solidFill>
          <a:ln w="9525">
            <a:solidFill>
              <a:srgbClr val="00704A"/>
            </a:solidFill>
            <a:prstDash val="solid"/>
          </a:ln>
        </p:spPr>
      </p:sp>
      <p:sp>
        <p:nvSpPr>
          <p:cNvPr id="29" name="Text 25"/>
          <p:cNvSpPr txBox="1"/>
          <p:nvPr/>
        </p:nvSpPr>
        <p:spPr>
          <a:xfrm>
            <a:off x="621792" y="3557016"/>
            <a:ext cx="1152144" cy="329184"/>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Réseaux qualité de l'air</a:t>
            </a:r>
            <a:endParaRPr lang="en-US" sz="850" dirty="0"/>
          </a:p>
        </p:txBody>
      </p:sp>
      <p:sp>
        <p:nvSpPr>
          <p:cNvPr id="30" name="Shape 26"/>
          <p:cNvSpPr/>
          <p:nvPr/>
        </p:nvSpPr>
        <p:spPr>
          <a:xfrm>
            <a:off x="1865376" y="3557016"/>
            <a:ext cx="1207008" cy="329184"/>
          </a:xfrm>
          <a:prstGeom prst="roundRect">
            <a:avLst>
              <a:gd name="adj" fmla="val 22222"/>
            </a:avLst>
          </a:prstGeom>
          <a:solidFill>
            <a:srgbClr val="FFFFFF"/>
          </a:solidFill>
          <a:ln w="9525">
            <a:solidFill>
              <a:srgbClr val="00704A"/>
            </a:solidFill>
            <a:prstDash val="solid"/>
          </a:ln>
        </p:spPr>
      </p:sp>
      <p:sp>
        <p:nvSpPr>
          <p:cNvPr id="31" name="Text 27"/>
          <p:cNvSpPr txBox="1"/>
          <p:nvPr/>
        </p:nvSpPr>
        <p:spPr>
          <a:xfrm>
            <a:off x="1892808" y="3557016"/>
            <a:ext cx="1152144" cy="329184"/>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GPS de flottes</a:t>
            </a:r>
            <a:endParaRPr lang="en-US" sz="850" dirty="0"/>
          </a:p>
        </p:txBody>
      </p:sp>
      <p:sp>
        <p:nvSpPr>
          <p:cNvPr id="32" name="Shape 28"/>
          <p:cNvSpPr/>
          <p:nvPr/>
        </p:nvSpPr>
        <p:spPr>
          <a:xfrm>
            <a:off x="3337560" y="1097280"/>
            <a:ext cx="2697480" cy="2898648"/>
          </a:xfrm>
          <a:prstGeom prst="roundRect">
            <a:avLst>
              <a:gd name="adj" fmla="val 2712"/>
            </a:avLst>
          </a:prstGeom>
          <a:solidFill>
            <a:srgbClr val="F4F7F5"/>
          </a:solidFill>
          <a:ln w="9525">
            <a:solidFill>
              <a:srgbClr val="D5DED9"/>
            </a:solidFill>
            <a:prstDash val="solid"/>
          </a:ln>
        </p:spPr>
      </p:sp>
      <p:sp>
        <p:nvSpPr>
          <p:cNvPr id="33" name="Text 29"/>
          <p:cNvSpPr txBox="1"/>
          <p:nvPr/>
        </p:nvSpPr>
        <p:spPr>
          <a:xfrm>
            <a:off x="3474720" y="1207008"/>
            <a:ext cx="2468880" cy="274320"/>
          </a:xfrm>
          <a:prstGeom prst="rect">
            <a:avLst/>
          </a:prstGeom>
          <a:noFill/>
          <a:ln/>
        </p:spPr>
        <p:txBody>
          <a:bodyPr wrap="square" lIns="0" tIns="0" rIns="0" bIns="0" rtlCol="0" anchor="ctr"/>
          <a:lstStyle/>
          <a:p>
            <a:pPr indent="0" marL="0">
              <a:buNone/>
            </a:pPr>
            <a:r>
              <a:rPr lang="en-US" sz="1000" b="1" spc="200" kern="0" dirty="0">
                <a:solidFill>
                  <a:srgbClr val="00704A"/>
                </a:solidFill>
                <a:latin typeface="Calibri" pitchFamily="34" charset="0"/>
                <a:ea typeface="Calibri" pitchFamily="34" charset="-122"/>
                <a:cs typeface="Calibri" pitchFamily="34" charset="-120"/>
              </a:rPr>
              <a:t>CE QU'ELLE PERMET DE MESURER</a:t>
            </a:r>
            <a:endParaRPr lang="en-US" sz="1000" dirty="0"/>
          </a:p>
        </p:txBody>
      </p:sp>
      <p:pic>
        <p:nvPicPr>
          <p:cNvPr id="34" name="Image 1" descr="preencoded.png">    </p:cNvPr>
          <p:cNvPicPr>
            <a:picLocks noChangeAspect="1"/>
          </p:cNvPicPr>
          <p:nvPr/>
        </p:nvPicPr>
        <p:blipFill>
          <a:blip r:embed="rId2"/>
          <a:stretch>
            <a:fillRect/>
          </a:stretch>
        </p:blipFill>
        <p:spPr>
          <a:xfrm>
            <a:off x="3474720" y="1664208"/>
            <a:ext cx="182880" cy="182880"/>
          </a:xfrm>
          <a:prstGeom prst="rect">
            <a:avLst/>
          </a:prstGeom>
        </p:spPr>
      </p:pic>
      <p:sp>
        <p:nvSpPr>
          <p:cNvPr id="35" name="Text 30"/>
          <p:cNvSpPr txBox="1"/>
          <p:nvPr/>
        </p:nvSpPr>
        <p:spPr>
          <a:xfrm>
            <a:off x="3749040" y="1627632"/>
            <a:ext cx="2212848"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Consommation d'électricité et d'eau</a:t>
            </a:r>
            <a:endParaRPr lang="en-US" sz="1050" dirty="0"/>
          </a:p>
        </p:txBody>
      </p:sp>
      <p:pic>
        <p:nvPicPr>
          <p:cNvPr id="36" name="Image 2" descr="preencoded.png">    </p:cNvPr>
          <p:cNvPicPr>
            <a:picLocks noChangeAspect="1"/>
          </p:cNvPicPr>
          <p:nvPr/>
        </p:nvPicPr>
        <p:blipFill>
          <a:blip r:embed="rId3"/>
          <a:stretch>
            <a:fillRect/>
          </a:stretch>
        </p:blipFill>
        <p:spPr>
          <a:xfrm>
            <a:off x="3474720" y="2121408"/>
            <a:ext cx="182880" cy="182880"/>
          </a:xfrm>
          <a:prstGeom prst="rect">
            <a:avLst/>
          </a:prstGeom>
        </p:spPr>
      </p:pic>
      <p:sp>
        <p:nvSpPr>
          <p:cNvPr id="37" name="Text 31"/>
          <p:cNvSpPr txBox="1"/>
          <p:nvPr/>
        </p:nvSpPr>
        <p:spPr>
          <a:xfrm>
            <a:off x="3749040" y="2084832"/>
            <a:ext cx="2212848"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Escales et flux du commerce maritime</a:t>
            </a:r>
            <a:endParaRPr lang="en-US" sz="1050" dirty="0"/>
          </a:p>
        </p:txBody>
      </p:sp>
      <p:pic>
        <p:nvPicPr>
          <p:cNvPr id="38" name="Image 3" descr="preencoded.png">    </p:cNvPr>
          <p:cNvPicPr>
            <a:picLocks noChangeAspect="1"/>
          </p:cNvPicPr>
          <p:nvPr/>
        </p:nvPicPr>
        <p:blipFill>
          <a:blip r:embed="rId4"/>
          <a:stretch>
            <a:fillRect/>
          </a:stretch>
        </p:blipFill>
        <p:spPr>
          <a:xfrm>
            <a:off x="3474720" y="2578608"/>
            <a:ext cx="182880" cy="182880"/>
          </a:xfrm>
          <a:prstGeom prst="rect">
            <a:avLst/>
          </a:prstGeom>
        </p:spPr>
      </p:pic>
      <p:sp>
        <p:nvSpPr>
          <p:cNvPr id="39" name="Text 32"/>
          <p:cNvSpPr txBox="1"/>
          <p:nvPr/>
        </p:nvSpPr>
        <p:spPr>
          <a:xfrm>
            <a:off x="3749040" y="2542032"/>
            <a:ext cx="2212848"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Volumes de trafic et congestion</a:t>
            </a:r>
            <a:endParaRPr lang="en-US" sz="1050" dirty="0"/>
          </a:p>
        </p:txBody>
      </p:sp>
      <p:pic>
        <p:nvPicPr>
          <p:cNvPr id="40" name="Image 4" descr="preencoded.png">    </p:cNvPr>
          <p:cNvPicPr>
            <a:picLocks noChangeAspect="1"/>
          </p:cNvPicPr>
          <p:nvPr/>
        </p:nvPicPr>
        <p:blipFill>
          <a:blip r:embed="rId5"/>
          <a:stretch>
            <a:fillRect/>
          </a:stretch>
        </p:blipFill>
        <p:spPr>
          <a:xfrm>
            <a:off x="3474720" y="3035808"/>
            <a:ext cx="182880" cy="182880"/>
          </a:xfrm>
          <a:prstGeom prst="rect">
            <a:avLst/>
          </a:prstGeom>
        </p:spPr>
      </p:pic>
      <p:sp>
        <p:nvSpPr>
          <p:cNvPr id="41" name="Text 33"/>
          <p:cNvSpPr txBox="1"/>
          <p:nvPr/>
        </p:nvSpPr>
        <p:spPr>
          <a:xfrm>
            <a:off x="3749040" y="2999232"/>
            <a:ext cx="2212848"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Exposition à la pollution</a:t>
            </a:r>
            <a:endParaRPr lang="en-US" sz="1050" dirty="0"/>
          </a:p>
        </p:txBody>
      </p:sp>
      <p:pic>
        <p:nvPicPr>
          <p:cNvPr id="42" name="Image 5" descr="preencoded.png">    </p:cNvPr>
          <p:cNvPicPr>
            <a:picLocks noChangeAspect="1"/>
          </p:cNvPicPr>
          <p:nvPr/>
        </p:nvPicPr>
        <p:blipFill>
          <a:blip r:embed="rId6"/>
          <a:stretch>
            <a:fillRect/>
          </a:stretch>
        </p:blipFill>
        <p:spPr>
          <a:xfrm>
            <a:off x="3474720" y="3493008"/>
            <a:ext cx="182880" cy="182880"/>
          </a:xfrm>
          <a:prstGeom prst="rect">
            <a:avLst/>
          </a:prstGeom>
        </p:spPr>
      </p:pic>
      <p:sp>
        <p:nvSpPr>
          <p:cNvPr id="43" name="Text 34"/>
          <p:cNvSpPr txBox="1"/>
          <p:nvPr/>
        </p:nvSpPr>
        <p:spPr>
          <a:xfrm>
            <a:off x="3749040" y="3456432"/>
            <a:ext cx="2212848"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Indicateurs d'activité à haute fréquence</a:t>
            </a:r>
            <a:endParaRPr lang="en-US" sz="1050" dirty="0"/>
          </a:p>
        </p:txBody>
      </p:sp>
      <p:sp>
        <p:nvSpPr>
          <p:cNvPr id="44" name="Shape 35"/>
          <p:cNvSpPr/>
          <p:nvPr/>
        </p:nvSpPr>
        <p:spPr>
          <a:xfrm>
            <a:off x="6172200" y="1097280"/>
            <a:ext cx="2514600" cy="1783080"/>
          </a:xfrm>
          <a:prstGeom prst="roundRect">
            <a:avLst>
              <a:gd name="adj" fmla="val 4103"/>
            </a:avLst>
          </a:prstGeom>
          <a:solidFill>
            <a:srgbClr val="E8F5EF"/>
          </a:solidFill>
          <a:ln w="15875">
            <a:solidFill>
              <a:srgbClr val="00A86A"/>
            </a:solidFill>
            <a:prstDash val="solid"/>
          </a:ln>
        </p:spPr>
      </p:sp>
      <p:sp>
        <p:nvSpPr>
          <p:cNvPr id="45" name="Text 36"/>
          <p:cNvSpPr txBox="1"/>
          <p:nvPr/>
        </p:nvSpPr>
        <p:spPr>
          <a:xfrm>
            <a:off x="6309360" y="1188720"/>
            <a:ext cx="2286000" cy="228600"/>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EXEMPLE DOCUMENTÉ</a:t>
            </a:r>
            <a:endParaRPr lang="en-US" sz="1000" dirty="0"/>
          </a:p>
        </p:txBody>
      </p:sp>
      <p:sp>
        <p:nvSpPr>
          <p:cNvPr id="46" name="Text 37"/>
          <p:cNvSpPr txBox="1"/>
          <p:nvPr/>
        </p:nvSpPr>
        <p:spPr>
          <a:xfrm>
            <a:off x="6309360" y="1426464"/>
            <a:ext cx="2286000" cy="141732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Les signaux AIS des navires sont utilisés au niveau international pour estimer en temps quasi réel l'activité portuaire et les volumes échangés, des semaines avant les statistiques douanières.</a:t>
            </a:r>
            <a:endParaRPr lang="en-US" sz="1000" dirty="0"/>
          </a:p>
        </p:txBody>
      </p:sp>
      <p:sp>
        <p:nvSpPr>
          <p:cNvPr id="47" name="Shape 38"/>
          <p:cNvSpPr/>
          <p:nvPr/>
        </p:nvSpPr>
        <p:spPr>
          <a:xfrm>
            <a:off x="6172200" y="2990088"/>
            <a:ext cx="2514600" cy="1005840"/>
          </a:xfrm>
          <a:prstGeom prst="roundRect">
            <a:avLst>
              <a:gd name="adj" fmla="val 5455"/>
            </a:avLst>
          </a:prstGeom>
          <a:solidFill>
            <a:srgbClr val="D49A00">
              <a:alpha val="13000"/>
            </a:srgbClr>
          </a:solidFill>
          <a:ln w="12700">
            <a:solidFill>
              <a:srgbClr val="D49A00"/>
            </a:solidFill>
            <a:prstDash val="solid"/>
          </a:ln>
        </p:spPr>
      </p:sp>
      <p:pic>
        <p:nvPicPr>
          <p:cNvPr id="48" name="Image 6" descr="preencoded.png">    </p:cNvPr>
          <p:cNvPicPr>
            <a:picLocks noChangeAspect="1"/>
          </p:cNvPicPr>
          <p:nvPr/>
        </p:nvPicPr>
        <p:blipFill>
          <a:blip r:embed="rId7"/>
          <a:stretch>
            <a:fillRect/>
          </a:stretch>
        </p:blipFill>
        <p:spPr>
          <a:xfrm>
            <a:off x="6291072" y="3072384"/>
            <a:ext cx="182880" cy="182880"/>
          </a:xfrm>
          <a:prstGeom prst="rect">
            <a:avLst/>
          </a:prstGeom>
        </p:spPr>
      </p:pic>
      <p:sp>
        <p:nvSpPr>
          <p:cNvPr id="49" name="Text 39"/>
          <p:cNvSpPr txBox="1"/>
          <p:nvPr/>
        </p:nvSpPr>
        <p:spPr>
          <a:xfrm>
            <a:off x="6537960" y="3063240"/>
            <a:ext cx="1828800" cy="201168"/>
          </a:xfrm>
          <a:prstGeom prst="rect">
            <a:avLst/>
          </a:prstGeom>
          <a:noFill/>
          <a:ln/>
        </p:spPr>
        <p:txBody>
          <a:bodyPr wrap="square" lIns="0" tIns="0" rIns="0" bIns="0" rtlCol="0" anchor="t"/>
          <a:lstStyle/>
          <a:p>
            <a:pPr indent="0" marL="0">
              <a:buNone/>
            </a:pPr>
            <a:r>
              <a:rPr lang="en-US" sz="1000" b="1" spc="200" kern="0" dirty="0">
                <a:solidFill>
                  <a:srgbClr val="D49A00"/>
                </a:solidFill>
                <a:latin typeface="Calibri" pitchFamily="34" charset="0"/>
                <a:ea typeface="Calibri" pitchFamily="34" charset="-122"/>
                <a:cs typeface="Calibri" pitchFamily="34" charset="-120"/>
              </a:rPr>
              <a:t>VIGILANCE</a:t>
            </a:r>
            <a:endParaRPr lang="en-US" sz="1000" dirty="0"/>
          </a:p>
        </p:txBody>
      </p:sp>
      <p:sp>
        <p:nvSpPr>
          <p:cNvPr id="50" name="Text 40"/>
          <p:cNvSpPr txBox="1"/>
          <p:nvPr/>
        </p:nvSpPr>
        <p:spPr>
          <a:xfrm>
            <a:off x="6291072" y="3273552"/>
            <a:ext cx="2322576" cy="704088"/>
          </a:xfrm>
          <a:prstGeom prst="rect">
            <a:avLst/>
          </a:prstGeom>
          <a:noFill/>
          <a:ln/>
        </p:spPr>
        <p:txBody>
          <a:bodyPr wrap="square" lIns="0" tIns="0" rIns="0" bIns="0" rtlCol="0" anchor="t"/>
          <a:lstStyle/>
          <a:p>
            <a:pPr indent="0" marL="0">
              <a:buNone/>
            </a:pPr>
            <a:r>
              <a:rPr lang="en-US" sz="900" dirty="0">
                <a:solidFill>
                  <a:srgbClr val="231F20"/>
                </a:solidFill>
                <a:latin typeface="Calibri" pitchFamily="34" charset="0"/>
                <a:ea typeface="Calibri" pitchFamily="34" charset="-122"/>
                <a:cs typeface="Calibri" pitchFamily="34" charset="-120"/>
              </a:rPr>
              <a:t>Les capteurs dérivent, tombent en panne, sont déplacés. Une rupture de série est souvent un événement matériel, pas économique : les métadonnées des appareils font partie de la statistique.</a:t>
            </a:r>
            <a:endParaRPr lang="en-US" sz="900" dirty="0"/>
          </a:p>
        </p:txBody>
      </p:sp>
      <p:sp>
        <p:nvSpPr>
          <p:cNvPr id="51" name="Shape 41"/>
          <p:cNvSpPr/>
          <p:nvPr/>
        </p:nvSpPr>
        <p:spPr>
          <a:xfrm>
            <a:off x="457200" y="4114800"/>
            <a:ext cx="2615184" cy="438912"/>
          </a:xfrm>
          <a:prstGeom prst="roundRect">
            <a:avLst>
              <a:gd name="adj" fmla="val 12500"/>
            </a:avLst>
          </a:prstGeom>
          <a:solidFill>
            <a:srgbClr val="FFFFFF"/>
          </a:solidFill>
          <a:ln w="9525">
            <a:solidFill>
              <a:srgbClr val="D5DED9"/>
            </a:solidFill>
            <a:prstDash val="solid"/>
          </a:ln>
        </p:spPr>
      </p:sp>
      <p:sp>
        <p:nvSpPr>
          <p:cNvPr id="52" name="Text 42"/>
          <p:cNvSpPr txBox="1"/>
          <p:nvPr/>
        </p:nvSpPr>
        <p:spPr>
          <a:xfrm>
            <a:off x="548640" y="4114800"/>
            <a:ext cx="1188720" cy="438912"/>
          </a:xfrm>
          <a:prstGeom prst="rect">
            <a:avLst/>
          </a:prstGeom>
          <a:noFill/>
          <a:ln/>
        </p:spPr>
        <p:txBody>
          <a:bodyPr wrap="square" lIns="0" tIns="0" rIns="0" bIns="0" rtlCol="0" anchor="ctr">
            <a:normAutofit/>
          </a:bodyPr>
          <a:lstStyle/>
          <a:p>
            <a:pPr indent="0" marL="0">
              <a:buNone/>
            </a:pPr>
            <a:r>
              <a:rPr lang="en-US" sz="1300" b="1" dirty="0">
                <a:solidFill>
                  <a:srgbClr val="00A86A"/>
                </a:solidFill>
                <a:latin typeface="Calibri" pitchFamily="34" charset="0"/>
                <a:ea typeface="Calibri" pitchFamily="34" charset="-122"/>
                <a:cs typeface="Calibri" pitchFamily="34" charset="-120"/>
              </a:rPr>
              <a:t>Minutes</a:t>
            </a:r>
            <a:endParaRPr lang="en-US" sz="1300" dirty="0"/>
          </a:p>
        </p:txBody>
      </p:sp>
      <p:sp>
        <p:nvSpPr>
          <p:cNvPr id="53" name="Text 43"/>
          <p:cNvSpPr txBox="1"/>
          <p:nvPr/>
        </p:nvSpPr>
        <p:spPr>
          <a:xfrm>
            <a:off x="1755648" y="4114800"/>
            <a:ext cx="1280160" cy="438912"/>
          </a:xfrm>
          <a:prstGeom prst="rect">
            <a:avLst/>
          </a:prstGeom>
          <a:noFill/>
          <a:ln/>
        </p:spPr>
        <p:txBody>
          <a:bodyPr wrap="square" lIns="0" tIns="0" rIns="0" bIns="0" rtlCol="0" anchor="ctr"/>
          <a:lstStyle/>
          <a:p>
            <a:pPr indent="0" marL="0">
              <a:buNone/>
            </a:pPr>
            <a:r>
              <a:rPr lang="en-US" sz="900" dirty="0">
                <a:solidFill>
                  <a:srgbClr val="5E6964"/>
                </a:solidFill>
                <a:latin typeface="Calibri" pitchFamily="34" charset="0"/>
                <a:ea typeface="Calibri" pitchFamily="34" charset="-122"/>
                <a:cs typeface="Calibri" pitchFamily="34" charset="-120"/>
              </a:rPr>
              <a:t>intervalle de transmission typique</a:t>
            </a:r>
            <a:endParaRPr lang="en-US" sz="900" dirty="0"/>
          </a:p>
        </p:txBody>
      </p:sp>
      <p:sp>
        <p:nvSpPr>
          <p:cNvPr id="54" name="Shape 44"/>
          <p:cNvSpPr/>
          <p:nvPr/>
        </p:nvSpPr>
        <p:spPr>
          <a:xfrm>
            <a:off x="3264408" y="4114800"/>
            <a:ext cx="2615184" cy="438912"/>
          </a:xfrm>
          <a:prstGeom prst="roundRect">
            <a:avLst>
              <a:gd name="adj" fmla="val 12500"/>
            </a:avLst>
          </a:prstGeom>
          <a:solidFill>
            <a:srgbClr val="FFFFFF"/>
          </a:solidFill>
          <a:ln w="9525">
            <a:solidFill>
              <a:srgbClr val="D5DED9"/>
            </a:solidFill>
            <a:prstDash val="solid"/>
          </a:ln>
        </p:spPr>
      </p:sp>
      <p:sp>
        <p:nvSpPr>
          <p:cNvPr id="55" name="Text 45"/>
          <p:cNvSpPr txBox="1"/>
          <p:nvPr/>
        </p:nvSpPr>
        <p:spPr>
          <a:xfrm>
            <a:off x="3355848" y="4114800"/>
            <a:ext cx="1188720" cy="438912"/>
          </a:xfrm>
          <a:prstGeom prst="rect">
            <a:avLst/>
          </a:prstGeom>
          <a:noFill/>
          <a:ln/>
        </p:spPr>
        <p:txBody>
          <a:bodyPr wrap="square" lIns="0" tIns="0" rIns="0" bIns="0" rtlCol="0" anchor="ctr">
            <a:normAutofit/>
          </a:bodyPr>
          <a:lstStyle/>
          <a:p>
            <a:pPr indent="0" marL="0">
              <a:buNone/>
            </a:pPr>
            <a:r>
              <a:rPr lang="en-US" sz="1300" b="1" dirty="0">
                <a:solidFill>
                  <a:srgbClr val="00A86A"/>
                </a:solidFill>
                <a:latin typeface="Calibri" pitchFamily="34" charset="0"/>
                <a:ea typeface="Calibri" pitchFamily="34" charset="-122"/>
                <a:cs typeface="Calibri" pitchFamily="34" charset="-120"/>
              </a:rPr>
              <a:t>Journaux</a:t>
            </a:r>
            <a:endParaRPr lang="en-US" sz="1300" dirty="0"/>
          </a:p>
        </p:txBody>
      </p:sp>
      <p:sp>
        <p:nvSpPr>
          <p:cNvPr id="56" name="Text 46"/>
          <p:cNvSpPr txBox="1"/>
          <p:nvPr/>
        </p:nvSpPr>
        <p:spPr>
          <a:xfrm>
            <a:off x="4562856" y="4114800"/>
            <a:ext cx="1280160" cy="438912"/>
          </a:xfrm>
          <a:prstGeom prst="rect">
            <a:avLst/>
          </a:prstGeom>
          <a:noFill/>
          <a:ln/>
        </p:spPr>
        <p:txBody>
          <a:bodyPr wrap="square" lIns="0" tIns="0" rIns="0" bIns="0" rtlCol="0" anchor="ctr"/>
          <a:lstStyle/>
          <a:p>
            <a:pPr indent="0" marL="0">
              <a:buNone/>
            </a:pPr>
            <a:r>
              <a:rPr lang="en-US" sz="900" dirty="0">
                <a:solidFill>
                  <a:srgbClr val="5E6964"/>
                </a:solidFill>
                <a:latin typeface="Calibri" pitchFamily="34" charset="0"/>
                <a:ea typeface="Calibri" pitchFamily="34" charset="-122"/>
                <a:cs typeface="Calibri" pitchFamily="34" charset="-120"/>
              </a:rPr>
              <a:t>nécessaires pour expliquer les ruptures</a:t>
            </a:r>
            <a:endParaRPr lang="en-US" sz="900" dirty="0"/>
          </a:p>
        </p:txBody>
      </p:sp>
      <p:sp>
        <p:nvSpPr>
          <p:cNvPr id="57" name="Shape 47"/>
          <p:cNvSpPr/>
          <p:nvPr/>
        </p:nvSpPr>
        <p:spPr>
          <a:xfrm>
            <a:off x="6071616" y="4114800"/>
            <a:ext cx="2615184" cy="438912"/>
          </a:xfrm>
          <a:prstGeom prst="roundRect">
            <a:avLst>
              <a:gd name="adj" fmla="val 12500"/>
            </a:avLst>
          </a:prstGeom>
          <a:solidFill>
            <a:srgbClr val="FFFFFF"/>
          </a:solidFill>
          <a:ln w="9525">
            <a:solidFill>
              <a:srgbClr val="D5DED9"/>
            </a:solidFill>
            <a:prstDash val="solid"/>
          </a:ln>
        </p:spPr>
      </p:sp>
      <p:sp>
        <p:nvSpPr>
          <p:cNvPr id="58" name="Text 48"/>
          <p:cNvSpPr txBox="1"/>
          <p:nvPr/>
        </p:nvSpPr>
        <p:spPr>
          <a:xfrm>
            <a:off x="6163056" y="4114800"/>
            <a:ext cx="1188720" cy="438912"/>
          </a:xfrm>
          <a:prstGeom prst="rect">
            <a:avLst/>
          </a:prstGeom>
          <a:noFill/>
          <a:ln/>
        </p:spPr>
        <p:txBody>
          <a:bodyPr wrap="square" lIns="0" tIns="0" rIns="0" bIns="0" rtlCol="0" anchor="ctr">
            <a:normAutofit/>
          </a:bodyPr>
          <a:lstStyle/>
          <a:p>
            <a:pPr indent="0" marL="0">
              <a:buNone/>
            </a:pPr>
            <a:r>
              <a:rPr lang="en-US" sz="1300" b="1" dirty="0">
                <a:solidFill>
                  <a:srgbClr val="00A86A"/>
                </a:solidFill>
                <a:latin typeface="Calibri" pitchFamily="34" charset="0"/>
                <a:ea typeface="Calibri" pitchFamily="34" charset="-122"/>
                <a:cs typeface="Calibri" pitchFamily="34" charset="-120"/>
              </a:rPr>
              <a:t>Eau, énergie</a:t>
            </a:r>
            <a:endParaRPr lang="en-US" sz="1300" dirty="0"/>
          </a:p>
        </p:txBody>
      </p:sp>
      <p:sp>
        <p:nvSpPr>
          <p:cNvPr id="59" name="Text 49"/>
          <p:cNvSpPr txBox="1"/>
          <p:nvPr/>
        </p:nvSpPr>
        <p:spPr>
          <a:xfrm>
            <a:off x="7370064" y="4114800"/>
            <a:ext cx="1280160" cy="438912"/>
          </a:xfrm>
          <a:prstGeom prst="rect">
            <a:avLst/>
          </a:prstGeom>
          <a:noFill/>
          <a:ln/>
        </p:spPr>
        <p:txBody>
          <a:bodyPr wrap="square" lIns="0" tIns="0" rIns="0" bIns="0" rtlCol="0" anchor="ctr"/>
          <a:lstStyle/>
          <a:p>
            <a:pPr indent="0" marL="0">
              <a:buNone/>
            </a:pPr>
            <a:r>
              <a:rPr lang="en-US" sz="900" dirty="0">
                <a:solidFill>
                  <a:srgbClr val="5E6964"/>
                </a:solidFill>
                <a:latin typeface="Calibri" pitchFamily="34" charset="0"/>
                <a:ea typeface="Calibri" pitchFamily="34" charset="-122"/>
                <a:cs typeface="Calibri" pitchFamily="34" charset="-120"/>
              </a:rPr>
              <a:t>services publics : partenaires naturels</a:t>
            </a:r>
            <a:endParaRPr lang="en-US" sz="900" dirty="0"/>
          </a:p>
        </p:txBody>
      </p:sp>
      <p:sp>
        <p:nvSpPr>
          <p:cNvPr id="60" name="Text 50"/>
          <p:cNvSpPr txBox="1"/>
          <p:nvPr/>
        </p:nvSpPr>
        <p:spPr>
          <a:xfrm>
            <a:off x="457200" y="4626864"/>
            <a:ext cx="749808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Sources : UN Global Platform / travaux du UN-CEBD sur les données AIS ; CEE-ONU (2014), dimensions temporelles et de validité.</a:t>
            </a:r>
            <a:endParaRPr lang="en-US" sz="85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TAXONOMIE · FAMILLE 6 SUR 6</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Données générées par les citoyens</a:t>
            </a:r>
            <a:endParaRPr lang="en-US" sz="2400" dirty="0"/>
          </a:p>
        </p:txBody>
      </p:sp>
      <p:sp>
        <p:nvSpPr>
          <p:cNvPr id="8" name="Shape 6"/>
          <p:cNvSpPr/>
          <p:nvPr/>
        </p:nvSpPr>
        <p:spPr>
          <a:xfrm>
            <a:off x="7662672" y="329184"/>
            <a:ext cx="100584" cy="100584"/>
          </a:xfrm>
          <a:prstGeom prst="ellipse">
            <a:avLst/>
          </a:prstGeom>
          <a:solidFill>
            <a:srgbClr val="D5DED9"/>
          </a:solidFill>
          <a:ln/>
        </p:spPr>
      </p:sp>
      <p:sp>
        <p:nvSpPr>
          <p:cNvPr id="9" name="Shape 7"/>
          <p:cNvSpPr/>
          <p:nvPr/>
        </p:nvSpPr>
        <p:spPr>
          <a:xfrm>
            <a:off x="7845552" y="329184"/>
            <a:ext cx="100584" cy="100584"/>
          </a:xfrm>
          <a:prstGeom prst="ellipse">
            <a:avLst/>
          </a:prstGeom>
          <a:solidFill>
            <a:srgbClr val="00704A"/>
          </a:solidFill>
          <a:ln/>
        </p:spPr>
      </p:sp>
      <p:sp>
        <p:nvSpPr>
          <p:cNvPr id="10" name="Shape 8"/>
          <p:cNvSpPr/>
          <p:nvPr/>
        </p:nvSpPr>
        <p:spPr>
          <a:xfrm>
            <a:off x="8028432" y="329184"/>
            <a:ext cx="100584" cy="100584"/>
          </a:xfrm>
          <a:prstGeom prst="ellipse">
            <a:avLst/>
          </a:prstGeom>
          <a:solidFill>
            <a:srgbClr val="D5DED9"/>
          </a:solidFill>
          <a:ln/>
        </p:spPr>
      </p:sp>
      <p:sp>
        <p:nvSpPr>
          <p:cNvPr id="11" name="Shape 9"/>
          <p:cNvSpPr/>
          <p:nvPr/>
        </p:nvSpPr>
        <p:spPr>
          <a:xfrm>
            <a:off x="8211312" y="329184"/>
            <a:ext cx="100584" cy="100584"/>
          </a:xfrm>
          <a:prstGeom prst="ellipse">
            <a:avLst/>
          </a:prstGeom>
          <a:solidFill>
            <a:srgbClr val="D5DED9"/>
          </a:solidFill>
          <a:ln/>
        </p:spPr>
      </p:sp>
      <p:sp>
        <p:nvSpPr>
          <p:cNvPr id="12" name="Shape 10"/>
          <p:cNvSpPr/>
          <p:nvPr/>
        </p:nvSpPr>
        <p:spPr>
          <a:xfrm>
            <a:off x="8394192" y="329184"/>
            <a:ext cx="100584" cy="100584"/>
          </a:xfrm>
          <a:prstGeom prst="ellipse">
            <a:avLst/>
          </a:prstGeom>
          <a:solidFill>
            <a:srgbClr val="D5DED9"/>
          </a:solidFill>
          <a:ln/>
        </p:spPr>
      </p:sp>
      <p:sp>
        <p:nvSpPr>
          <p:cNvPr id="13" name="Shape 11"/>
          <p:cNvSpPr/>
          <p:nvPr/>
        </p:nvSpPr>
        <p:spPr>
          <a:xfrm>
            <a:off x="8577072" y="329184"/>
            <a:ext cx="100584" cy="100584"/>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Sources de données non traditionnelles · Le trésor caché · Atelier STG17</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17</a:t>
            </a:r>
            <a:endParaRPr lang="en-US" sz="850" dirty="0"/>
          </a:p>
        </p:txBody>
      </p:sp>
      <p:sp>
        <p:nvSpPr>
          <p:cNvPr id="17" name="Shape 14"/>
          <p:cNvSpPr/>
          <p:nvPr/>
        </p:nvSpPr>
        <p:spPr>
          <a:xfrm>
            <a:off x="457200" y="1097280"/>
            <a:ext cx="2743200" cy="1600200"/>
          </a:xfrm>
          <a:prstGeom prst="roundRect">
            <a:avLst>
              <a:gd name="adj" fmla="val 4571"/>
            </a:avLst>
          </a:prstGeom>
          <a:solidFill>
            <a:srgbClr val="F4F7F5"/>
          </a:solidFill>
          <a:ln w="9525">
            <a:solidFill>
              <a:srgbClr val="D5DED9"/>
            </a:solidFill>
            <a:prstDash val="solid"/>
          </a:ln>
        </p:spPr>
      </p:sp>
      <p:sp>
        <p:nvSpPr>
          <p:cNvPr id="18" name="Shape 15"/>
          <p:cNvSpPr/>
          <p:nvPr/>
        </p:nvSpPr>
        <p:spPr>
          <a:xfrm>
            <a:off x="594360" y="1207008"/>
            <a:ext cx="384048" cy="384048"/>
          </a:xfrm>
          <a:prstGeom prst="ellipse">
            <a:avLst/>
          </a:prstGeom>
          <a:solidFill>
            <a:srgbClr val="00704A">
              <a:alpha val="22000"/>
            </a:srgbClr>
          </a:solidFill>
          <a:ln/>
        </p:spPr>
      </p:sp>
      <p:pic>
        <p:nvPicPr>
          <p:cNvPr id="19" name="Image 0" descr="preencoded.png">    </p:cNvPr>
          <p:cNvPicPr>
            <a:picLocks noChangeAspect="1"/>
          </p:cNvPicPr>
          <p:nvPr/>
        </p:nvPicPr>
        <p:blipFill>
          <a:blip r:embed="rId1"/>
          <a:stretch>
            <a:fillRect/>
          </a:stretch>
        </p:blipFill>
        <p:spPr>
          <a:xfrm>
            <a:off x="690372" y="1303020"/>
            <a:ext cx="192024" cy="192024"/>
          </a:xfrm>
          <a:prstGeom prst="rect">
            <a:avLst/>
          </a:prstGeom>
        </p:spPr>
      </p:pic>
      <p:sp>
        <p:nvSpPr>
          <p:cNvPr id="20" name="Text 16"/>
          <p:cNvSpPr txBox="1"/>
          <p:nvPr/>
        </p:nvSpPr>
        <p:spPr>
          <a:xfrm>
            <a:off x="1069848" y="1207008"/>
            <a:ext cx="1828800" cy="384048"/>
          </a:xfrm>
          <a:prstGeom prst="rect">
            <a:avLst/>
          </a:prstGeom>
          <a:noFill/>
          <a:ln/>
        </p:spPr>
        <p:txBody>
          <a:bodyPr wrap="square" lIns="0" tIns="0" rIns="0" bIns="0" rtlCol="0" anchor="ctr"/>
          <a:lstStyle/>
          <a:p>
            <a:pPr indent="0" marL="0">
              <a:buNone/>
            </a:pPr>
            <a:r>
              <a:rPr lang="en-US" sz="1000" b="1" spc="200" kern="0" dirty="0">
                <a:solidFill>
                  <a:srgbClr val="00704A"/>
                </a:solidFill>
                <a:latin typeface="Calibri" pitchFamily="34" charset="0"/>
                <a:ea typeface="Calibri" pitchFamily="34" charset="-122"/>
                <a:cs typeface="Calibri" pitchFamily="34" charset="-120"/>
              </a:rPr>
              <a:t>DE QUOI S'AGIT-IL ?</a:t>
            </a:r>
            <a:endParaRPr lang="en-US" sz="1000" dirty="0"/>
          </a:p>
        </p:txBody>
      </p:sp>
      <p:sp>
        <p:nvSpPr>
          <p:cNvPr id="21" name="Text 17"/>
          <p:cNvSpPr txBox="1"/>
          <p:nvPr/>
        </p:nvSpPr>
        <p:spPr>
          <a:xfrm>
            <a:off x="594360" y="1645920"/>
            <a:ext cx="2487168" cy="1024128"/>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Données que des personnes ou leurs organisations produisent délibérément pour suivre les questions qui les concernent — enquêtes communautaires, cartographie participative, science citoyenne, fiches d'évaluation.</a:t>
            </a:r>
            <a:endParaRPr lang="en-US" sz="1000" dirty="0"/>
          </a:p>
        </p:txBody>
      </p:sp>
      <p:sp>
        <p:nvSpPr>
          <p:cNvPr id="22" name="Shape 18"/>
          <p:cNvSpPr/>
          <p:nvPr/>
        </p:nvSpPr>
        <p:spPr>
          <a:xfrm>
            <a:off x="457200" y="2807208"/>
            <a:ext cx="2743200" cy="1188720"/>
          </a:xfrm>
          <a:prstGeom prst="roundRect">
            <a:avLst>
              <a:gd name="adj" fmla="val 6154"/>
            </a:avLst>
          </a:prstGeom>
          <a:solidFill>
            <a:srgbClr val="F4F7F5"/>
          </a:solidFill>
          <a:ln w="9525">
            <a:solidFill>
              <a:srgbClr val="D5DED9"/>
            </a:solidFill>
            <a:prstDash val="solid"/>
          </a:ln>
        </p:spPr>
      </p:sp>
      <p:sp>
        <p:nvSpPr>
          <p:cNvPr id="23" name="Text 19"/>
          <p:cNvSpPr txBox="1"/>
          <p:nvPr/>
        </p:nvSpPr>
        <p:spPr>
          <a:xfrm>
            <a:off x="594360" y="2880360"/>
            <a:ext cx="2286000" cy="201168"/>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OÙ LA TROUVER</a:t>
            </a:r>
            <a:endParaRPr lang="en-US" sz="1000" dirty="0"/>
          </a:p>
        </p:txBody>
      </p:sp>
      <p:sp>
        <p:nvSpPr>
          <p:cNvPr id="24" name="Shape 20"/>
          <p:cNvSpPr/>
          <p:nvPr/>
        </p:nvSpPr>
        <p:spPr>
          <a:xfrm>
            <a:off x="594360" y="3163824"/>
            <a:ext cx="1207008" cy="329184"/>
          </a:xfrm>
          <a:prstGeom prst="roundRect">
            <a:avLst>
              <a:gd name="adj" fmla="val 22222"/>
            </a:avLst>
          </a:prstGeom>
          <a:solidFill>
            <a:srgbClr val="FFFFFF"/>
          </a:solidFill>
          <a:ln w="9525">
            <a:solidFill>
              <a:srgbClr val="00704A"/>
            </a:solidFill>
            <a:prstDash val="solid"/>
          </a:ln>
        </p:spPr>
      </p:sp>
      <p:sp>
        <p:nvSpPr>
          <p:cNvPr id="25" name="Text 21"/>
          <p:cNvSpPr txBox="1"/>
          <p:nvPr/>
        </p:nvSpPr>
        <p:spPr>
          <a:xfrm>
            <a:off x="621792" y="3163824"/>
            <a:ext cx="1152144" cy="329184"/>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Suivi par la société civile</a:t>
            </a:r>
            <a:endParaRPr lang="en-US" sz="850" dirty="0"/>
          </a:p>
        </p:txBody>
      </p:sp>
      <p:sp>
        <p:nvSpPr>
          <p:cNvPr id="26" name="Shape 22"/>
          <p:cNvSpPr/>
          <p:nvPr/>
        </p:nvSpPr>
        <p:spPr>
          <a:xfrm>
            <a:off x="1865376" y="3163824"/>
            <a:ext cx="1207008" cy="329184"/>
          </a:xfrm>
          <a:prstGeom prst="roundRect">
            <a:avLst>
              <a:gd name="adj" fmla="val 22222"/>
            </a:avLst>
          </a:prstGeom>
          <a:solidFill>
            <a:srgbClr val="FFFFFF"/>
          </a:solidFill>
          <a:ln w="9525">
            <a:solidFill>
              <a:srgbClr val="00704A"/>
            </a:solidFill>
            <a:prstDash val="solid"/>
          </a:ln>
        </p:spPr>
      </p:sp>
      <p:sp>
        <p:nvSpPr>
          <p:cNvPr id="27" name="Text 23"/>
          <p:cNvSpPr txBox="1"/>
          <p:nvPr/>
        </p:nvSpPr>
        <p:spPr>
          <a:xfrm>
            <a:off x="1892808" y="3163824"/>
            <a:ext cx="1152144" cy="329184"/>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Science citoyenne</a:t>
            </a:r>
            <a:endParaRPr lang="en-US" sz="850" dirty="0"/>
          </a:p>
        </p:txBody>
      </p:sp>
      <p:sp>
        <p:nvSpPr>
          <p:cNvPr id="28" name="Shape 24"/>
          <p:cNvSpPr/>
          <p:nvPr/>
        </p:nvSpPr>
        <p:spPr>
          <a:xfrm>
            <a:off x="594360" y="3557016"/>
            <a:ext cx="1207008" cy="329184"/>
          </a:xfrm>
          <a:prstGeom prst="roundRect">
            <a:avLst>
              <a:gd name="adj" fmla="val 22222"/>
            </a:avLst>
          </a:prstGeom>
          <a:solidFill>
            <a:srgbClr val="FFFFFF"/>
          </a:solidFill>
          <a:ln w="9525">
            <a:solidFill>
              <a:srgbClr val="00704A"/>
            </a:solidFill>
            <a:prstDash val="solid"/>
          </a:ln>
        </p:spPr>
      </p:sp>
      <p:sp>
        <p:nvSpPr>
          <p:cNvPr id="29" name="Text 25"/>
          <p:cNvSpPr txBox="1"/>
          <p:nvPr/>
        </p:nvSpPr>
        <p:spPr>
          <a:xfrm>
            <a:off x="621792" y="3557016"/>
            <a:ext cx="1152144" cy="329184"/>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Cartographie participative</a:t>
            </a:r>
            <a:endParaRPr lang="en-US" sz="850" dirty="0"/>
          </a:p>
        </p:txBody>
      </p:sp>
      <p:sp>
        <p:nvSpPr>
          <p:cNvPr id="30" name="Shape 26"/>
          <p:cNvSpPr/>
          <p:nvPr/>
        </p:nvSpPr>
        <p:spPr>
          <a:xfrm>
            <a:off x="1865376" y="3557016"/>
            <a:ext cx="1207008" cy="329184"/>
          </a:xfrm>
          <a:prstGeom prst="roundRect">
            <a:avLst>
              <a:gd name="adj" fmla="val 22222"/>
            </a:avLst>
          </a:prstGeom>
          <a:solidFill>
            <a:srgbClr val="FFFFFF"/>
          </a:solidFill>
          <a:ln w="9525">
            <a:solidFill>
              <a:srgbClr val="00704A"/>
            </a:solidFill>
            <a:prstDash val="solid"/>
          </a:ln>
        </p:spPr>
      </p:sp>
      <p:sp>
        <p:nvSpPr>
          <p:cNvPr id="31" name="Text 27"/>
          <p:cNvSpPr txBox="1"/>
          <p:nvPr/>
        </p:nvSpPr>
        <p:spPr>
          <a:xfrm>
            <a:off x="1892808" y="3557016"/>
            <a:ext cx="1152144" cy="329184"/>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Fiches communautaires</a:t>
            </a:r>
            <a:endParaRPr lang="en-US" sz="850" dirty="0"/>
          </a:p>
        </p:txBody>
      </p:sp>
      <p:sp>
        <p:nvSpPr>
          <p:cNvPr id="32" name="Shape 28"/>
          <p:cNvSpPr/>
          <p:nvPr/>
        </p:nvSpPr>
        <p:spPr>
          <a:xfrm>
            <a:off x="3337560" y="1097280"/>
            <a:ext cx="2697480" cy="2898648"/>
          </a:xfrm>
          <a:prstGeom prst="roundRect">
            <a:avLst>
              <a:gd name="adj" fmla="val 2712"/>
            </a:avLst>
          </a:prstGeom>
          <a:solidFill>
            <a:srgbClr val="F4F7F5"/>
          </a:solidFill>
          <a:ln w="9525">
            <a:solidFill>
              <a:srgbClr val="D5DED9"/>
            </a:solidFill>
            <a:prstDash val="solid"/>
          </a:ln>
        </p:spPr>
      </p:sp>
      <p:sp>
        <p:nvSpPr>
          <p:cNvPr id="33" name="Text 29"/>
          <p:cNvSpPr txBox="1"/>
          <p:nvPr/>
        </p:nvSpPr>
        <p:spPr>
          <a:xfrm>
            <a:off x="3474720" y="1207008"/>
            <a:ext cx="2468880" cy="274320"/>
          </a:xfrm>
          <a:prstGeom prst="rect">
            <a:avLst/>
          </a:prstGeom>
          <a:noFill/>
          <a:ln/>
        </p:spPr>
        <p:txBody>
          <a:bodyPr wrap="square" lIns="0" tIns="0" rIns="0" bIns="0" rtlCol="0" anchor="ctr"/>
          <a:lstStyle/>
          <a:p>
            <a:pPr indent="0" marL="0">
              <a:buNone/>
            </a:pPr>
            <a:r>
              <a:rPr lang="en-US" sz="1000" b="1" spc="200" kern="0" dirty="0">
                <a:solidFill>
                  <a:srgbClr val="00704A"/>
                </a:solidFill>
                <a:latin typeface="Calibri" pitchFamily="34" charset="0"/>
                <a:ea typeface="Calibri" pitchFamily="34" charset="-122"/>
                <a:cs typeface="Calibri" pitchFamily="34" charset="-120"/>
              </a:rPr>
              <a:t>CE QU'ELLE PERMET DE MESURER</a:t>
            </a:r>
            <a:endParaRPr lang="en-US" sz="1000" dirty="0"/>
          </a:p>
        </p:txBody>
      </p:sp>
      <p:pic>
        <p:nvPicPr>
          <p:cNvPr id="34" name="Image 1" descr="preencoded.png">    </p:cNvPr>
          <p:cNvPicPr>
            <a:picLocks noChangeAspect="1"/>
          </p:cNvPicPr>
          <p:nvPr/>
        </p:nvPicPr>
        <p:blipFill>
          <a:blip r:embed="rId2"/>
          <a:stretch>
            <a:fillRect/>
          </a:stretch>
        </p:blipFill>
        <p:spPr>
          <a:xfrm>
            <a:off x="3474720" y="1664208"/>
            <a:ext cx="182880" cy="182880"/>
          </a:xfrm>
          <a:prstGeom prst="rect">
            <a:avLst/>
          </a:prstGeom>
        </p:spPr>
      </p:pic>
      <p:sp>
        <p:nvSpPr>
          <p:cNvPr id="35" name="Text 30"/>
          <p:cNvSpPr txBox="1"/>
          <p:nvPr/>
        </p:nvSpPr>
        <p:spPr>
          <a:xfrm>
            <a:off x="3749040" y="1627632"/>
            <a:ext cx="2212848"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Services publics vus par les usagers</a:t>
            </a:r>
            <a:endParaRPr lang="en-US" sz="1050" dirty="0"/>
          </a:p>
        </p:txBody>
      </p:sp>
      <p:pic>
        <p:nvPicPr>
          <p:cNvPr id="36" name="Image 2" descr="preencoded.png">    </p:cNvPr>
          <p:cNvPicPr>
            <a:picLocks noChangeAspect="1"/>
          </p:cNvPicPr>
          <p:nvPr/>
        </p:nvPicPr>
        <p:blipFill>
          <a:blip r:embed="rId3"/>
          <a:stretch>
            <a:fillRect/>
          </a:stretch>
        </p:blipFill>
        <p:spPr>
          <a:xfrm>
            <a:off x="3474720" y="2121408"/>
            <a:ext cx="182880" cy="182880"/>
          </a:xfrm>
          <a:prstGeom prst="rect">
            <a:avLst/>
          </a:prstGeom>
        </p:spPr>
      </p:pic>
      <p:sp>
        <p:nvSpPr>
          <p:cNvPr id="37" name="Text 31"/>
          <p:cNvSpPr txBox="1"/>
          <p:nvPr/>
        </p:nvSpPr>
        <p:spPr>
          <a:xfrm>
            <a:off x="3749040" y="2084832"/>
            <a:ext cx="2212848"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Conditions environnementales locales</a:t>
            </a:r>
            <a:endParaRPr lang="en-US" sz="1050" dirty="0"/>
          </a:p>
        </p:txBody>
      </p:sp>
      <p:pic>
        <p:nvPicPr>
          <p:cNvPr id="38" name="Image 3" descr="preencoded.png">    </p:cNvPr>
          <p:cNvPicPr>
            <a:picLocks noChangeAspect="1"/>
          </p:cNvPicPr>
          <p:nvPr/>
        </p:nvPicPr>
        <p:blipFill>
          <a:blip r:embed="rId4"/>
          <a:stretch>
            <a:fillRect/>
          </a:stretch>
        </p:blipFill>
        <p:spPr>
          <a:xfrm>
            <a:off x="3474720" y="2578608"/>
            <a:ext cx="182880" cy="182880"/>
          </a:xfrm>
          <a:prstGeom prst="rect">
            <a:avLst/>
          </a:prstGeom>
        </p:spPr>
      </p:pic>
      <p:sp>
        <p:nvSpPr>
          <p:cNvPr id="39" name="Text 32"/>
          <p:cNvSpPr txBox="1"/>
          <p:nvPr/>
        </p:nvSpPr>
        <p:spPr>
          <a:xfrm>
            <a:off x="3749040" y="2542032"/>
            <a:ext cx="2212848"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Groupes absents des registres</a:t>
            </a:r>
            <a:endParaRPr lang="en-US" sz="1050" dirty="0"/>
          </a:p>
        </p:txBody>
      </p:sp>
      <p:pic>
        <p:nvPicPr>
          <p:cNvPr id="40" name="Image 4" descr="preencoded.png">    </p:cNvPr>
          <p:cNvPicPr>
            <a:picLocks noChangeAspect="1"/>
          </p:cNvPicPr>
          <p:nvPr/>
        </p:nvPicPr>
        <p:blipFill>
          <a:blip r:embed="rId5"/>
          <a:stretch>
            <a:fillRect/>
          </a:stretch>
        </p:blipFill>
        <p:spPr>
          <a:xfrm>
            <a:off x="3474720" y="3035808"/>
            <a:ext cx="182880" cy="182880"/>
          </a:xfrm>
          <a:prstGeom prst="rect">
            <a:avLst/>
          </a:prstGeom>
        </p:spPr>
      </p:pic>
      <p:sp>
        <p:nvSpPr>
          <p:cNvPr id="41" name="Text 33"/>
          <p:cNvSpPr txBox="1"/>
          <p:nvPr/>
        </p:nvSpPr>
        <p:spPr>
          <a:xfrm>
            <a:off x="3749040" y="2999232"/>
            <a:ext cx="2212848"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Écarts liés au genre et au handicap</a:t>
            </a:r>
            <a:endParaRPr lang="en-US" sz="1050" dirty="0"/>
          </a:p>
        </p:txBody>
      </p:sp>
      <p:pic>
        <p:nvPicPr>
          <p:cNvPr id="42" name="Image 5" descr="preencoded.png">    </p:cNvPr>
          <p:cNvPicPr>
            <a:picLocks noChangeAspect="1"/>
          </p:cNvPicPr>
          <p:nvPr/>
        </p:nvPicPr>
        <p:blipFill>
          <a:blip r:embed="rId6"/>
          <a:stretch>
            <a:fillRect/>
          </a:stretch>
        </p:blipFill>
        <p:spPr>
          <a:xfrm>
            <a:off x="3474720" y="3493008"/>
            <a:ext cx="182880" cy="182880"/>
          </a:xfrm>
          <a:prstGeom prst="rect">
            <a:avLst/>
          </a:prstGeom>
        </p:spPr>
      </p:pic>
      <p:sp>
        <p:nvSpPr>
          <p:cNvPr id="43" name="Text 34"/>
          <p:cNvSpPr txBox="1"/>
          <p:nvPr/>
        </p:nvSpPr>
        <p:spPr>
          <a:xfrm>
            <a:off x="3749040" y="3456432"/>
            <a:ext cx="2212848"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Indicateurs ODD sans autre source</a:t>
            </a:r>
            <a:endParaRPr lang="en-US" sz="1050" dirty="0"/>
          </a:p>
        </p:txBody>
      </p:sp>
      <p:sp>
        <p:nvSpPr>
          <p:cNvPr id="44" name="Shape 35"/>
          <p:cNvSpPr/>
          <p:nvPr/>
        </p:nvSpPr>
        <p:spPr>
          <a:xfrm>
            <a:off x="6172200" y="1097280"/>
            <a:ext cx="2514600" cy="1783080"/>
          </a:xfrm>
          <a:prstGeom prst="roundRect">
            <a:avLst>
              <a:gd name="adj" fmla="val 4103"/>
            </a:avLst>
          </a:prstGeom>
          <a:solidFill>
            <a:srgbClr val="E8F5EF"/>
          </a:solidFill>
          <a:ln w="15875">
            <a:solidFill>
              <a:srgbClr val="00A86A"/>
            </a:solidFill>
            <a:prstDash val="solid"/>
          </a:ln>
        </p:spPr>
      </p:sp>
      <p:sp>
        <p:nvSpPr>
          <p:cNvPr id="45" name="Text 36"/>
          <p:cNvSpPr txBox="1"/>
          <p:nvPr/>
        </p:nvSpPr>
        <p:spPr>
          <a:xfrm>
            <a:off x="6309360" y="1188720"/>
            <a:ext cx="2286000" cy="228600"/>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EXEMPLE DOCUMENTÉ</a:t>
            </a:r>
            <a:endParaRPr lang="en-US" sz="1000" dirty="0"/>
          </a:p>
        </p:txBody>
      </p:sp>
      <p:sp>
        <p:nvSpPr>
          <p:cNvPr id="46" name="Text 37"/>
          <p:cNvSpPr txBox="1"/>
          <p:nvPr/>
        </p:nvSpPr>
        <p:spPr>
          <a:xfrm>
            <a:off x="6309360" y="1426464"/>
            <a:ext cx="2286000" cy="141732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Au Ghana, des observations de science citoyenne sur les déchets marins ont servi à éclairer la politique environnementale et le suivi des ODD — un exemple cité autour du Cadre de Copenhague.</a:t>
            </a:r>
            <a:endParaRPr lang="en-US" sz="1000" dirty="0"/>
          </a:p>
        </p:txBody>
      </p:sp>
      <p:sp>
        <p:nvSpPr>
          <p:cNvPr id="47" name="Shape 38"/>
          <p:cNvSpPr/>
          <p:nvPr/>
        </p:nvSpPr>
        <p:spPr>
          <a:xfrm>
            <a:off x="6172200" y="2990088"/>
            <a:ext cx="2514600" cy="1005840"/>
          </a:xfrm>
          <a:prstGeom prst="roundRect">
            <a:avLst>
              <a:gd name="adj" fmla="val 5455"/>
            </a:avLst>
          </a:prstGeom>
          <a:solidFill>
            <a:srgbClr val="D49A00">
              <a:alpha val="13000"/>
            </a:srgbClr>
          </a:solidFill>
          <a:ln w="12700">
            <a:solidFill>
              <a:srgbClr val="D49A00"/>
            </a:solidFill>
            <a:prstDash val="solid"/>
          </a:ln>
        </p:spPr>
      </p:sp>
      <p:pic>
        <p:nvPicPr>
          <p:cNvPr id="48" name="Image 6" descr="preencoded.png">    </p:cNvPr>
          <p:cNvPicPr>
            <a:picLocks noChangeAspect="1"/>
          </p:cNvPicPr>
          <p:nvPr/>
        </p:nvPicPr>
        <p:blipFill>
          <a:blip r:embed="rId7"/>
          <a:stretch>
            <a:fillRect/>
          </a:stretch>
        </p:blipFill>
        <p:spPr>
          <a:xfrm>
            <a:off x="6291072" y="3072384"/>
            <a:ext cx="182880" cy="182880"/>
          </a:xfrm>
          <a:prstGeom prst="rect">
            <a:avLst/>
          </a:prstGeom>
        </p:spPr>
      </p:pic>
      <p:sp>
        <p:nvSpPr>
          <p:cNvPr id="49" name="Text 39"/>
          <p:cNvSpPr txBox="1"/>
          <p:nvPr/>
        </p:nvSpPr>
        <p:spPr>
          <a:xfrm>
            <a:off x="6537960" y="3063240"/>
            <a:ext cx="1828800" cy="201168"/>
          </a:xfrm>
          <a:prstGeom prst="rect">
            <a:avLst/>
          </a:prstGeom>
          <a:noFill/>
          <a:ln/>
        </p:spPr>
        <p:txBody>
          <a:bodyPr wrap="square" lIns="0" tIns="0" rIns="0" bIns="0" rtlCol="0" anchor="t"/>
          <a:lstStyle/>
          <a:p>
            <a:pPr indent="0" marL="0">
              <a:buNone/>
            </a:pPr>
            <a:r>
              <a:rPr lang="en-US" sz="1000" b="1" spc="200" kern="0" dirty="0">
                <a:solidFill>
                  <a:srgbClr val="D49A00"/>
                </a:solidFill>
                <a:latin typeface="Calibri" pitchFamily="34" charset="0"/>
                <a:ea typeface="Calibri" pitchFamily="34" charset="-122"/>
                <a:cs typeface="Calibri" pitchFamily="34" charset="-120"/>
              </a:rPr>
              <a:t>VIGILANCE</a:t>
            </a:r>
            <a:endParaRPr lang="en-US" sz="1000" dirty="0"/>
          </a:p>
        </p:txBody>
      </p:sp>
      <p:sp>
        <p:nvSpPr>
          <p:cNvPr id="50" name="Text 40"/>
          <p:cNvSpPr txBox="1"/>
          <p:nvPr/>
        </p:nvSpPr>
        <p:spPr>
          <a:xfrm>
            <a:off x="6291072" y="3273552"/>
            <a:ext cx="2322576" cy="704088"/>
          </a:xfrm>
          <a:prstGeom prst="rect">
            <a:avLst/>
          </a:prstGeom>
          <a:noFill/>
          <a:ln/>
        </p:spPr>
        <p:txBody>
          <a:bodyPr wrap="square" lIns="0" tIns="0" rIns="0" bIns="0" rtlCol="0" anchor="t"/>
          <a:lstStyle/>
          <a:p>
            <a:pPr indent="0" marL="0">
              <a:buNone/>
            </a:pPr>
            <a:r>
              <a:rPr lang="en-US" sz="900" dirty="0">
                <a:solidFill>
                  <a:srgbClr val="231F20"/>
                </a:solidFill>
                <a:latin typeface="Calibri" pitchFamily="34" charset="0"/>
                <a:ea typeface="Calibri" pitchFamily="34" charset="-122"/>
                <a:cs typeface="Calibri" pitchFamily="34" charset="-120"/>
              </a:rPr>
              <a:t>Précieuses pour la voix et le détail local, mais rarement représentatives. Protocoles, formation et métadonnées décident de leur entrée en statistique officielle.</a:t>
            </a:r>
            <a:endParaRPr lang="en-US" sz="900" dirty="0"/>
          </a:p>
        </p:txBody>
      </p:sp>
      <p:sp>
        <p:nvSpPr>
          <p:cNvPr id="51" name="Shape 41"/>
          <p:cNvSpPr/>
          <p:nvPr/>
        </p:nvSpPr>
        <p:spPr>
          <a:xfrm>
            <a:off x="457200" y="4114800"/>
            <a:ext cx="2615184" cy="438912"/>
          </a:xfrm>
          <a:prstGeom prst="roundRect">
            <a:avLst>
              <a:gd name="adj" fmla="val 12500"/>
            </a:avLst>
          </a:prstGeom>
          <a:solidFill>
            <a:srgbClr val="FFFFFF"/>
          </a:solidFill>
          <a:ln w="9525">
            <a:solidFill>
              <a:srgbClr val="D5DED9"/>
            </a:solidFill>
            <a:prstDash val="solid"/>
          </a:ln>
        </p:spPr>
      </p:sp>
      <p:sp>
        <p:nvSpPr>
          <p:cNvPr id="52" name="Text 42"/>
          <p:cNvSpPr txBox="1"/>
          <p:nvPr/>
        </p:nvSpPr>
        <p:spPr>
          <a:xfrm>
            <a:off x="548640" y="4114800"/>
            <a:ext cx="1188720" cy="438912"/>
          </a:xfrm>
          <a:prstGeom prst="rect">
            <a:avLst/>
          </a:prstGeom>
          <a:noFill/>
          <a:ln/>
        </p:spPr>
        <p:txBody>
          <a:bodyPr wrap="square" lIns="0" tIns="0" rIns="0" bIns="0" rtlCol="0" anchor="ctr">
            <a:normAutofit/>
          </a:bodyPr>
          <a:lstStyle/>
          <a:p>
            <a:pPr indent="0" marL="0">
              <a:buNone/>
            </a:pPr>
            <a:r>
              <a:rPr lang="en-US" sz="1300" b="1" dirty="0">
                <a:solidFill>
                  <a:srgbClr val="00A86A"/>
                </a:solidFill>
                <a:latin typeface="Calibri" pitchFamily="34" charset="0"/>
                <a:ea typeface="Calibri" pitchFamily="34" charset="-122"/>
                <a:cs typeface="Calibri" pitchFamily="34" charset="-120"/>
              </a:rPr>
              <a:t>2024</a:t>
            </a:r>
            <a:endParaRPr lang="en-US" sz="1300" dirty="0"/>
          </a:p>
        </p:txBody>
      </p:sp>
      <p:sp>
        <p:nvSpPr>
          <p:cNvPr id="53" name="Text 43"/>
          <p:cNvSpPr txBox="1"/>
          <p:nvPr/>
        </p:nvSpPr>
        <p:spPr>
          <a:xfrm>
            <a:off x="1755648" y="4114800"/>
            <a:ext cx="1280160" cy="438912"/>
          </a:xfrm>
          <a:prstGeom prst="rect">
            <a:avLst/>
          </a:prstGeom>
          <a:noFill/>
          <a:ln/>
        </p:spPr>
        <p:txBody>
          <a:bodyPr wrap="square" lIns="0" tIns="0" rIns="0" bIns="0" rtlCol="0" anchor="ctr"/>
          <a:lstStyle/>
          <a:p>
            <a:pPr indent="0" marL="0">
              <a:buNone/>
            </a:pPr>
            <a:r>
              <a:rPr lang="en-US" sz="900" dirty="0">
                <a:solidFill>
                  <a:srgbClr val="5E6964"/>
                </a:solidFill>
                <a:latin typeface="Calibri" pitchFamily="34" charset="0"/>
                <a:ea typeface="Calibri" pitchFamily="34" charset="-122"/>
                <a:cs typeface="Calibri" pitchFamily="34" charset="-120"/>
              </a:rPr>
              <a:t>Cadre de Copenhague salué (CSNU 55)</a:t>
            </a:r>
            <a:endParaRPr lang="en-US" sz="900" dirty="0"/>
          </a:p>
        </p:txBody>
      </p:sp>
      <p:sp>
        <p:nvSpPr>
          <p:cNvPr id="54" name="Shape 44"/>
          <p:cNvSpPr/>
          <p:nvPr/>
        </p:nvSpPr>
        <p:spPr>
          <a:xfrm>
            <a:off x="3264408" y="4114800"/>
            <a:ext cx="2615184" cy="438912"/>
          </a:xfrm>
          <a:prstGeom prst="roundRect">
            <a:avLst>
              <a:gd name="adj" fmla="val 12500"/>
            </a:avLst>
          </a:prstGeom>
          <a:solidFill>
            <a:srgbClr val="FFFFFF"/>
          </a:solidFill>
          <a:ln w="9525">
            <a:solidFill>
              <a:srgbClr val="D5DED9"/>
            </a:solidFill>
            <a:prstDash val="solid"/>
          </a:ln>
        </p:spPr>
      </p:sp>
      <p:sp>
        <p:nvSpPr>
          <p:cNvPr id="55" name="Text 45"/>
          <p:cNvSpPr txBox="1"/>
          <p:nvPr/>
        </p:nvSpPr>
        <p:spPr>
          <a:xfrm>
            <a:off x="3355848" y="4114800"/>
            <a:ext cx="1188720" cy="438912"/>
          </a:xfrm>
          <a:prstGeom prst="rect">
            <a:avLst/>
          </a:prstGeom>
          <a:noFill/>
          <a:ln/>
        </p:spPr>
        <p:txBody>
          <a:bodyPr wrap="square" lIns="0" tIns="0" rIns="0" bIns="0" rtlCol="0" anchor="ctr">
            <a:normAutofit/>
          </a:bodyPr>
          <a:lstStyle/>
          <a:p>
            <a:pPr indent="0" marL="0">
              <a:buNone/>
            </a:pPr>
            <a:r>
              <a:rPr lang="en-US" sz="1300" b="1" dirty="0">
                <a:solidFill>
                  <a:srgbClr val="00A86A"/>
                </a:solidFill>
                <a:latin typeface="Calibri" pitchFamily="34" charset="0"/>
                <a:ea typeface="Calibri" pitchFamily="34" charset="-122"/>
                <a:cs typeface="Calibri" pitchFamily="34" charset="-120"/>
              </a:rPr>
              <a:t>2025</a:t>
            </a:r>
            <a:endParaRPr lang="en-US" sz="1300" dirty="0"/>
          </a:p>
        </p:txBody>
      </p:sp>
      <p:sp>
        <p:nvSpPr>
          <p:cNvPr id="56" name="Text 46"/>
          <p:cNvSpPr txBox="1"/>
          <p:nvPr/>
        </p:nvSpPr>
        <p:spPr>
          <a:xfrm>
            <a:off x="4562856" y="4114800"/>
            <a:ext cx="1280160" cy="438912"/>
          </a:xfrm>
          <a:prstGeom prst="rect">
            <a:avLst/>
          </a:prstGeom>
          <a:noFill/>
          <a:ln/>
        </p:spPr>
        <p:txBody>
          <a:bodyPr wrap="square" lIns="0" tIns="0" rIns="0" bIns="0" rtlCol="0" anchor="ctr"/>
          <a:lstStyle/>
          <a:p>
            <a:pPr indent="0" marL="0">
              <a:buNone/>
            </a:pPr>
            <a:r>
              <a:rPr lang="en-US" sz="900" dirty="0">
                <a:solidFill>
                  <a:srgbClr val="5E6964"/>
                </a:solidFill>
                <a:latin typeface="Calibri" pitchFamily="34" charset="0"/>
                <a:ea typeface="Calibri" pitchFamily="34" charset="-122"/>
                <a:cs typeface="Calibri" pitchFamily="34" charset="-120"/>
              </a:rPr>
              <a:t>v1.0 approuvée (CSNU 56)</a:t>
            </a:r>
            <a:endParaRPr lang="en-US" sz="900" dirty="0"/>
          </a:p>
        </p:txBody>
      </p:sp>
      <p:sp>
        <p:nvSpPr>
          <p:cNvPr id="57" name="Shape 47"/>
          <p:cNvSpPr/>
          <p:nvPr/>
        </p:nvSpPr>
        <p:spPr>
          <a:xfrm>
            <a:off x="6071616" y="4114800"/>
            <a:ext cx="2615184" cy="438912"/>
          </a:xfrm>
          <a:prstGeom prst="roundRect">
            <a:avLst>
              <a:gd name="adj" fmla="val 12500"/>
            </a:avLst>
          </a:prstGeom>
          <a:solidFill>
            <a:srgbClr val="FFFFFF"/>
          </a:solidFill>
          <a:ln w="9525">
            <a:solidFill>
              <a:srgbClr val="D5DED9"/>
            </a:solidFill>
            <a:prstDash val="solid"/>
          </a:ln>
        </p:spPr>
      </p:sp>
      <p:sp>
        <p:nvSpPr>
          <p:cNvPr id="58" name="Text 48"/>
          <p:cNvSpPr txBox="1"/>
          <p:nvPr/>
        </p:nvSpPr>
        <p:spPr>
          <a:xfrm>
            <a:off x="6163056" y="4114800"/>
            <a:ext cx="1188720" cy="438912"/>
          </a:xfrm>
          <a:prstGeom prst="rect">
            <a:avLst/>
          </a:prstGeom>
          <a:noFill/>
          <a:ln/>
        </p:spPr>
        <p:txBody>
          <a:bodyPr wrap="square" lIns="0" tIns="0" rIns="0" bIns="0" rtlCol="0" anchor="ctr">
            <a:normAutofit/>
          </a:bodyPr>
          <a:lstStyle/>
          <a:p>
            <a:pPr indent="0" marL="0">
              <a:buNone/>
            </a:pPr>
            <a:r>
              <a:rPr lang="en-US" sz="1300" b="1" dirty="0">
                <a:solidFill>
                  <a:srgbClr val="00A86A"/>
                </a:solidFill>
                <a:latin typeface="Calibri" pitchFamily="34" charset="0"/>
                <a:ea typeface="Calibri" pitchFamily="34" charset="-122"/>
                <a:cs typeface="Calibri" pitchFamily="34" charset="-120"/>
              </a:rPr>
              <a:t>La voix</a:t>
            </a:r>
            <a:endParaRPr lang="en-US" sz="1300" dirty="0"/>
          </a:p>
        </p:txBody>
      </p:sp>
      <p:sp>
        <p:nvSpPr>
          <p:cNvPr id="59" name="Text 49"/>
          <p:cNvSpPr txBox="1"/>
          <p:nvPr/>
        </p:nvSpPr>
        <p:spPr>
          <a:xfrm>
            <a:off x="7370064" y="4114800"/>
            <a:ext cx="1280160" cy="438912"/>
          </a:xfrm>
          <a:prstGeom prst="rect">
            <a:avLst/>
          </a:prstGeom>
          <a:noFill/>
          <a:ln/>
        </p:spPr>
        <p:txBody>
          <a:bodyPr wrap="square" lIns="0" tIns="0" rIns="0" bIns="0" rtlCol="0" anchor="ctr"/>
          <a:lstStyle/>
          <a:p>
            <a:pPr indent="0" marL="0">
              <a:buNone/>
            </a:pPr>
            <a:r>
              <a:rPr lang="en-US" sz="900" dirty="0">
                <a:solidFill>
                  <a:srgbClr val="5E6964"/>
                </a:solidFill>
                <a:latin typeface="Calibri" pitchFamily="34" charset="0"/>
                <a:ea typeface="Calibri" pitchFamily="34" charset="-122"/>
                <a:cs typeface="Calibri" pitchFamily="34" charset="-120"/>
              </a:rPr>
              <a:t>comme atout de qualité</a:t>
            </a:r>
            <a:endParaRPr lang="en-US" sz="900" dirty="0"/>
          </a:p>
        </p:txBody>
      </p:sp>
      <p:sp>
        <p:nvSpPr>
          <p:cNvPr id="60" name="Text 50"/>
          <p:cNvSpPr txBox="1"/>
          <p:nvPr/>
        </p:nvSpPr>
        <p:spPr>
          <a:xfrm>
            <a:off x="457200" y="4626864"/>
            <a:ext cx="749808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Sources : Collaborative on Citizen Data, Copenhagen Framework on Citizen Data v1.0 (Commission de statistique, 56e session, 2025) ; IISD SDG Knowledge Hub (2024).</a:t>
            </a:r>
            <a:endParaRPr lang="en-US" sz="85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TAXONOMIE · SYNTHÈSE</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Les six familles comparées d'un coup d'œil</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Appréciation indicative pour un INS africain type — à confronter à l'expérience de votre pays.</a:t>
            </a:r>
            <a:endParaRPr lang="en-US" sz="1150" dirty="0"/>
          </a:p>
        </p:txBody>
      </p:sp>
      <p:sp>
        <p:nvSpPr>
          <p:cNvPr id="9" name="Shape 7"/>
          <p:cNvSpPr/>
          <p:nvPr/>
        </p:nvSpPr>
        <p:spPr>
          <a:xfrm>
            <a:off x="7662672" y="329184"/>
            <a:ext cx="100584" cy="100584"/>
          </a:xfrm>
          <a:prstGeom prst="ellipse">
            <a:avLst/>
          </a:prstGeom>
          <a:solidFill>
            <a:srgbClr val="D5DED9"/>
          </a:solidFill>
          <a:ln/>
        </p:spPr>
      </p:sp>
      <p:sp>
        <p:nvSpPr>
          <p:cNvPr id="10" name="Shape 8"/>
          <p:cNvSpPr/>
          <p:nvPr/>
        </p:nvSpPr>
        <p:spPr>
          <a:xfrm>
            <a:off x="7845552" y="329184"/>
            <a:ext cx="100584" cy="100584"/>
          </a:xfrm>
          <a:prstGeom prst="ellipse">
            <a:avLst/>
          </a:prstGeom>
          <a:solidFill>
            <a:srgbClr val="00704A"/>
          </a:solidFill>
          <a:ln/>
        </p:spPr>
      </p:sp>
      <p:sp>
        <p:nvSpPr>
          <p:cNvPr id="11" name="Shape 9"/>
          <p:cNvSpPr/>
          <p:nvPr/>
        </p:nvSpPr>
        <p:spPr>
          <a:xfrm>
            <a:off x="8028432" y="329184"/>
            <a:ext cx="100584" cy="100584"/>
          </a:xfrm>
          <a:prstGeom prst="ellipse">
            <a:avLst/>
          </a:prstGeom>
          <a:solidFill>
            <a:srgbClr val="D5DED9"/>
          </a:solidFill>
          <a:ln/>
        </p:spPr>
      </p:sp>
      <p:sp>
        <p:nvSpPr>
          <p:cNvPr id="12" name="Shape 10"/>
          <p:cNvSpPr/>
          <p:nvPr/>
        </p:nvSpPr>
        <p:spPr>
          <a:xfrm>
            <a:off x="8211312" y="329184"/>
            <a:ext cx="100584" cy="100584"/>
          </a:xfrm>
          <a:prstGeom prst="ellipse">
            <a:avLst/>
          </a:prstGeom>
          <a:solidFill>
            <a:srgbClr val="D5DED9"/>
          </a:solidFill>
          <a:ln/>
        </p:spPr>
      </p:sp>
      <p:sp>
        <p:nvSpPr>
          <p:cNvPr id="13" name="Shape 11"/>
          <p:cNvSpPr/>
          <p:nvPr/>
        </p:nvSpPr>
        <p:spPr>
          <a:xfrm>
            <a:off x="8394192" y="329184"/>
            <a:ext cx="100584" cy="100584"/>
          </a:xfrm>
          <a:prstGeom prst="ellipse">
            <a:avLst/>
          </a:prstGeom>
          <a:solidFill>
            <a:srgbClr val="D5DED9"/>
          </a:solidFill>
          <a:ln/>
        </p:spPr>
      </p:sp>
      <p:sp>
        <p:nvSpPr>
          <p:cNvPr id="14" name="Shape 12"/>
          <p:cNvSpPr/>
          <p:nvPr/>
        </p:nvSpPr>
        <p:spPr>
          <a:xfrm>
            <a:off x="8577072" y="329184"/>
            <a:ext cx="100584" cy="100584"/>
          </a:xfrm>
          <a:prstGeom prst="ellipse">
            <a:avLst/>
          </a:prstGeom>
          <a:solidFill>
            <a:srgbClr val="D5DED9"/>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Sources de données non traditionnelles · Le trésor caché · Atelier STG17</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18</a:t>
            </a:r>
            <a:endParaRPr lang="en-US" sz="850" dirty="0"/>
          </a:p>
        </p:txBody>
      </p:sp>
      <p:sp>
        <p:nvSpPr>
          <p:cNvPr id="18" name="Text 15"/>
          <p:cNvSpPr txBox="1"/>
          <p:nvPr/>
        </p:nvSpPr>
        <p:spPr>
          <a:xfrm>
            <a:off x="3200400" y="1298448"/>
            <a:ext cx="1097280" cy="365760"/>
          </a:xfrm>
          <a:prstGeom prst="rect">
            <a:avLst/>
          </a:prstGeom>
          <a:noFill/>
          <a:ln/>
        </p:spPr>
        <p:txBody>
          <a:bodyPr wrap="square" lIns="0" tIns="0" rIns="0" bIns="0" rtlCol="0" anchor="ctr"/>
          <a:lstStyle/>
          <a:p>
            <a:pPr algn="ctr" indent="0" marL="0">
              <a:buNone/>
            </a:pPr>
            <a:r>
              <a:rPr lang="en-US" sz="1000" b="1" dirty="0">
                <a:solidFill>
                  <a:srgbClr val="00704A"/>
                </a:solidFill>
                <a:latin typeface="Calibri" pitchFamily="34" charset="0"/>
                <a:ea typeface="Calibri" pitchFamily="34" charset="-122"/>
                <a:cs typeface="Calibri" pitchFamily="34" charset="-120"/>
              </a:rPr>
              <a:t>Actualité</a:t>
            </a:r>
            <a:endParaRPr lang="en-US" sz="1000" dirty="0"/>
          </a:p>
        </p:txBody>
      </p:sp>
      <p:sp>
        <p:nvSpPr>
          <p:cNvPr id="19" name="Text 16"/>
          <p:cNvSpPr txBox="1"/>
          <p:nvPr/>
        </p:nvSpPr>
        <p:spPr>
          <a:xfrm>
            <a:off x="4297680" y="1298448"/>
            <a:ext cx="1097280" cy="365760"/>
          </a:xfrm>
          <a:prstGeom prst="rect">
            <a:avLst/>
          </a:prstGeom>
          <a:noFill/>
          <a:ln/>
        </p:spPr>
        <p:txBody>
          <a:bodyPr wrap="square" lIns="0" tIns="0" rIns="0" bIns="0" rtlCol="0" anchor="ctr"/>
          <a:lstStyle/>
          <a:p>
            <a:pPr algn="ctr" indent="0" marL="0">
              <a:buNone/>
            </a:pPr>
            <a:r>
              <a:rPr lang="en-US" sz="1000" b="1" dirty="0">
                <a:solidFill>
                  <a:srgbClr val="00704A"/>
                </a:solidFill>
                <a:latin typeface="Calibri" pitchFamily="34" charset="0"/>
                <a:ea typeface="Calibri" pitchFamily="34" charset="-122"/>
                <a:cs typeface="Calibri" pitchFamily="34" charset="-120"/>
              </a:rPr>
              <a:t>Granularité</a:t>
            </a:r>
            <a:endParaRPr lang="en-US" sz="1000" dirty="0"/>
          </a:p>
        </p:txBody>
      </p:sp>
      <p:sp>
        <p:nvSpPr>
          <p:cNvPr id="20" name="Text 17"/>
          <p:cNvSpPr txBox="1"/>
          <p:nvPr/>
        </p:nvSpPr>
        <p:spPr>
          <a:xfrm>
            <a:off x="5394960" y="1298448"/>
            <a:ext cx="1097280" cy="365760"/>
          </a:xfrm>
          <a:prstGeom prst="rect">
            <a:avLst/>
          </a:prstGeom>
          <a:noFill/>
          <a:ln/>
        </p:spPr>
        <p:txBody>
          <a:bodyPr wrap="square" lIns="0" tIns="0" rIns="0" bIns="0" rtlCol="0" anchor="ctr"/>
          <a:lstStyle/>
          <a:p>
            <a:pPr algn="ctr" indent="0" marL="0">
              <a:buNone/>
            </a:pPr>
            <a:r>
              <a:rPr lang="en-US" sz="1000" b="1" dirty="0">
                <a:solidFill>
                  <a:srgbClr val="00704A"/>
                </a:solidFill>
                <a:latin typeface="Calibri" pitchFamily="34" charset="0"/>
                <a:ea typeface="Calibri" pitchFamily="34" charset="-122"/>
                <a:cs typeface="Calibri" pitchFamily="34" charset="-120"/>
              </a:rPr>
              <a:t>Couverture en Afrique</a:t>
            </a:r>
            <a:endParaRPr lang="en-US" sz="1000" dirty="0"/>
          </a:p>
        </p:txBody>
      </p:sp>
      <p:sp>
        <p:nvSpPr>
          <p:cNvPr id="21" name="Text 18"/>
          <p:cNvSpPr txBox="1"/>
          <p:nvPr/>
        </p:nvSpPr>
        <p:spPr>
          <a:xfrm>
            <a:off x="6492240" y="1298448"/>
            <a:ext cx="1097280" cy="365760"/>
          </a:xfrm>
          <a:prstGeom prst="rect">
            <a:avLst/>
          </a:prstGeom>
          <a:noFill/>
          <a:ln/>
        </p:spPr>
        <p:txBody>
          <a:bodyPr wrap="square" lIns="0" tIns="0" rIns="0" bIns="0" rtlCol="0" anchor="ctr"/>
          <a:lstStyle/>
          <a:p>
            <a:pPr algn="ctr" indent="0" marL="0">
              <a:buNone/>
            </a:pPr>
            <a:r>
              <a:rPr lang="en-US" sz="1000" b="1" dirty="0">
                <a:solidFill>
                  <a:srgbClr val="00704A"/>
                </a:solidFill>
                <a:latin typeface="Calibri" pitchFamily="34" charset="0"/>
                <a:ea typeface="Calibri" pitchFamily="34" charset="-122"/>
                <a:cs typeface="Calibri" pitchFamily="34" charset="-120"/>
              </a:rPr>
              <a:t>Facilité d'accès</a:t>
            </a:r>
            <a:endParaRPr lang="en-US" sz="1000" dirty="0"/>
          </a:p>
        </p:txBody>
      </p:sp>
      <p:sp>
        <p:nvSpPr>
          <p:cNvPr id="22" name="Text 19"/>
          <p:cNvSpPr txBox="1"/>
          <p:nvPr/>
        </p:nvSpPr>
        <p:spPr>
          <a:xfrm>
            <a:off x="7589520" y="1298448"/>
            <a:ext cx="1097280" cy="365760"/>
          </a:xfrm>
          <a:prstGeom prst="rect">
            <a:avLst/>
          </a:prstGeom>
          <a:noFill/>
          <a:ln/>
        </p:spPr>
        <p:txBody>
          <a:bodyPr wrap="square" lIns="0" tIns="0" rIns="0" bIns="0" rtlCol="0" anchor="ctr"/>
          <a:lstStyle/>
          <a:p>
            <a:pPr algn="ctr" indent="0" marL="0">
              <a:buNone/>
            </a:pPr>
            <a:r>
              <a:rPr lang="en-US" sz="1000" b="1" dirty="0">
                <a:solidFill>
                  <a:srgbClr val="B83B2E"/>
                </a:solidFill>
                <a:latin typeface="Calibri" pitchFamily="34" charset="0"/>
                <a:ea typeface="Calibri" pitchFamily="34" charset="-122"/>
                <a:cs typeface="Calibri" pitchFamily="34" charset="-120"/>
              </a:rPr>
              <a:t>Risque de confidentialité</a:t>
            </a:r>
            <a:endParaRPr lang="en-US" sz="1000" dirty="0"/>
          </a:p>
        </p:txBody>
      </p:sp>
      <p:sp>
        <p:nvSpPr>
          <p:cNvPr id="23" name="Shape 20"/>
          <p:cNvSpPr/>
          <p:nvPr/>
        </p:nvSpPr>
        <p:spPr>
          <a:xfrm>
            <a:off x="457200" y="1700784"/>
            <a:ext cx="8229600" cy="384048"/>
          </a:xfrm>
          <a:prstGeom prst="roundRect">
            <a:avLst>
              <a:gd name="adj" fmla="val 11905"/>
            </a:avLst>
          </a:prstGeom>
          <a:solidFill>
            <a:srgbClr val="F4F7F5"/>
          </a:solidFill>
          <a:ln w="6350">
            <a:solidFill>
              <a:srgbClr val="D5DED9"/>
            </a:solidFill>
            <a:prstDash val="solid"/>
          </a:ln>
        </p:spPr>
      </p:sp>
      <p:pic>
        <p:nvPicPr>
          <p:cNvPr id="24" name="Image 0" descr="preencoded.png">    </p:cNvPr>
          <p:cNvPicPr>
            <a:picLocks noChangeAspect="1"/>
          </p:cNvPicPr>
          <p:nvPr/>
        </p:nvPicPr>
        <p:blipFill>
          <a:blip r:embed="rId1"/>
          <a:stretch>
            <a:fillRect/>
          </a:stretch>
        </p:blipFill>
        <p:spPr>
          <a:xfrm>
            <a:off x="585216" y="1792224"/>
            <a:ext cx="201168" cy="201168"/>
          </a:xfrm>
          <a:prstGeom prst="rect">
            <a:avLst/>
          </a:prstGeom>
        </p:spPr>
      </p:pic>
      <p:sp>
        <p:nvSpPr>
          <p:cNvPr id="25" name="Text 21"/>
          <p:cNvSpPr txBox="1"/>
          <p:nvPr/>
        </p:nvSpPr>
        <p:spPr>
          <a:xfrm>
            <a:off x="896112" y="1700784"/>
            <a:ext cx="2286000" cy="384048"/>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Imagerie satellitaire</a:t>
            </a:r>
            <a:endParaRPr lang="en-US" sz="1150" dirty="0"/>
          </a:p>
        </p:txBody>
      </p:sp>
      <p:sp>
        <p:nvSpPr>
          <p:cNvPr id="26" name="Shape 22"/>
          <p:cNvSpPr/>
          <p:nvPr/>
        </p:nvSpPr>
        <p:spPr>
          <a:xfrm>
            <a:off x="3529584" y="1837944"/>
            <a:ext cx="118872" cy="118872"/>
          </a:xfrm>
          <a:prstGeom prst="ellipse">
            <a:avLst/>
          </a:prstGeom>
          <a:solidFill>
            <a:srgbClr val="00A86A"/>
          </a:solidFill>
          <a:ln/>
        </p:spPr>
      </p:sp>
      <p:sp>
        <p:nvSpPr>
          <p:cNvPr id="27" name="Shape 23"/>
          <p:cNvSpPr/>
          <p:nvPr/>
        </p:nvSpPr>
        <p:spPr>
          <a:xfrm>
            <a:off x="3694176" y="1837944"/>
            <a:ext cx="118872" cy="118872"/>
          </a:xfrm>
          <a:prstGeom prst="ellipse">
            <a:avLst/>
          </a:prstGeom>
          <a:solidFill>
            <a:srgbClr val="00A86A"/>
          </a:solidFill>
          <a:ln/>
        </p:spPr>
      </p:sp>
      <p:sp>
        <p:nvSpPr>
          <p:cNvPr id="28" name="Shape 24"/>
          <p:cNvSpPr/>
          <p:nvPr/>
        </p:nvSpPr>
        <p:spPr>
          <a:xfrm>
            <a:off x="3858768" y="1837944"/>
            <a:ext cx="118872" cy="118872"/>
          </a:xfrm>
          <a:prstGeom prst="ellipse">
            <a:avLst/>
          </a:prstGeom>
          <a:solidFill>
            <a:srgbClr val="D5DED9"/>
          </a:solidFill>
          <a:ln/>
        </p:spPr>
      </p:sp>
      <p:sp>
        <p:nvSpPr>
          <p:cNvPr id="29" name="Shape 25"/>
          <p:cNvSpPr/>
          <p:nvPr/>
        </p:nvSpPr>
        <p:spPr>
          <a:xfrm>
            <a:off x="4626864" y="1837944"/>
            <a:ext cx="118872" cy="118872"/>
          </a:xfrm>
          <a:prstGeom prst="ellipse">
            <a:avLst/>
          </a:prstGeom>
          <a:solidFill>
            <a:srgbClr val="00A86A"/>
          </a:solidFill>
          <a:ln/>
        </p:spPr>
      </p:sp>
      <p:sp>
        <p:nvSpPr>
          <p:cNvPr id="30" name="Shape 26"/>
          <p:cNvSpPr/>
          <p:nvPr/>
        </p:nvSpPr>
        <p:spPr>
          <a:xfrm>
            <a:off x="4791456" y="1837944"/>
            <a:ext cx="118872" cy="118872"/>
          </a:xfrm>
          <a:prstGeom prst="ellipse">
            <a:avLst/>
          </a:prstGeom>
          <a:solidFill>
            <a:srgbClr val="00A86A"/>
          </a:solidFill>
          <a:ln/>
        </p:spPr>
      </p:sp>
      <p:sp>
        <p:nvSpPr>
          <p:cNvPr id="31" name="Shape 27"/>
          <p:cNvSpPr/>
          <p:nvPr/>
        </p:nvSpPr>
        <p:spPr>
          <a:xfrm>
            <a:off x="4956048" y="1837944"/>
            <a:ext cx="118872" cy="118872"/>
          </a:xfrm>
          <a:prstGeom prst="ellipse">
            <a:avLst/>
          </a:prstGeom>
          <a:solidFill>
            <a:srgbClr val="00A86A"/>
          </a:solidFill>
          <a:ln/>
        </p:spPr>
      </p:sp>
      <p:sp>
        <p:nvSpPr>
          <p:cNvPr id="32" name="Shape 28"/>
          <p:cNvSpPr/>
          <p:nvPr/>
        </p:nvSpPr>
        <p:spPr>
          <a:xfrm>
            <a:off x="5724144" y="1837944"/>
            <a:ext cx="118872" cy="118872"/>
          </a:xfrm>
          <a:prstGeom prst="ellipse">
            <a:avLst/>
          </a:prstGeom>
          <a:solidFill>
            <a:srgbClr val="00A86A"/>
          </a:solidFill>
          <a:ln/>
        </p:spPr>
      </p:sp>
      <p:sp>
        <p:nvSpPr>
          <p:cNvPr id="33" name="Shape 29"/>
          <p:cNvSpPr/>
          <p:nvPr/>
        </p:nvSpPr>
        <p:spPr>
          <a:xfrm>
            <a:off x="5888736" y="1837944"/>
            <a:ext cx="118872" cy="118872"/>
          </a:xfrm>
          <a:prstGeom prst="ellipse">
            <a:avLst/>
          </a:prstGeom>
          <a:solidFill>
            <a:srgbClr val="00A86A"/>
          </a:solidFill>
          <a:ln/>
        </p:spPr>
      </p:sp>
      <p:sp>
        <p:nvSpPr>
          <p:cNvPr id="34" name="Shape 30"/>
          <p:cNvSpPr/>
          <p:nvPr/>
        </p:nvSpPr>
        <p:spPr>
          <a:xfrm>
            <a:off x="6053328" y="1837944"/>
            <a:ext cx="118872" cy="118872"/>
          </a:xfrm>
          <a:prstGeom prst="ellipse">
            <a:avLst/>
          </a:prstGeom>
          <a:solidFill>
            <a:srgbClr val="00A86A"/>
          </a:solidFill>
          <a:ln/>
        </p:spPr>
      </p:sp>
      <p:sp>
        <p:nvSpPr>
          <p:cNvPr id="35" name="Shape 31"/>
          <p:cNvSpPr/>
          <p:nvPr/>
        </p:nvSpPr>
        <p:spPr>
          <a:xfrm>
            <a:off x="6821424" y="1837944"/>
            <a:ext cx="118872" cy="118872"/>
          </a:xfrm>
          <a:prstGeom prst="ellipse">
            <a:avLst/>
          </a:prstGeom>
          <a:solidFill>
            <a:srgbClr val="00A86A"/>
          </a:solidFill>
          <a:ln/>
        </p:spPr>
      </p:sp>
      <p:sp>
        <p:nvSpPr>
          <p:cNvPr id="36" name="Shape 32"/>
          <p:cNvSpPr/>
          <p:nvPr/>
        </p:nvSpPr>
        <p:spPr>
          <a:xfrm>
            <a:off x="6986016" y="1837944"/>
            <a:ext cx="118872" cy="118872"/>
          </a:xfrm>
          <a:prstGeom prst="ellipse">
            <a:avLst/>
          </a:prstGeom>
          <a:solidFill>
            <a:srgbClr val="00A86A"/>
          </a:solidFill>
          <a:ln/>
        </p:spPr>
      </p:sp>
      <p:sp>
        <p:nvSpPr>
          <p:cNvPr id="37" name="Shape 33"/>
          <p:cNvSpPr/>
          <p:nvPr/>
        </p:nvSpPr>
        <p:spPr>
          <a:xfrm>
            <a:off x="7150608" y="1837944"/>
            <a:ext cx="118872" cy="118872"/>
          </a:xfrm>
          <a:prstGeom prst="ellipse">
            <a:avLst/>
          </a:prstGeom>
          <a:solidFill>
            <a:srgbClr val="00A86A"/>
          </a:solidFill>
          <a:ln/>
        </p:spPr>
      </p:sp>
      <p:sp>
        <p:nvSpPr>
          <p:cNvPr id="38" name="Shape 34"/>
          <p:cNvSpPr/>
          <p:nvPr/>
        </p:nvSpPr>
        <p:spPr>
          <a:xfrm>
            <a:off x="7918704" y="1837944"/>
            <a:ext cx="118872" cy="118872"/>
          </a:xfrm>
          <a:prstGeom prst="ellipse">
            <a:avLst/>
          </a:prstGeom>
          <a:solidFill>
            <a:srgbClr val="B83B2E"/>
          </a:solidFill>
          <a:ln/>
        </p:spPr>
      </p:sp>
      <p:sp>
        <p:nvSpPr>
          <p:cNvPr id="39" name="Shape 35"/>
          <p:cNvSpPr/>
          <p:nvPr/>
        </p:nvSpPr>
        <p:spPr>
          <a:xfrm>
            <a:off x="8083296" y="1837944"/>
            <a:ext cx="118872" cy="118872"/>
          </a:xfrm>
          <a:prstGeom prst="ellipse">
            <a:avLst/>
          </a:prstGeom>
          <a:solidFill>
            <a:srgbClr val="D5DED9"/>
          </a:solidFill>
          <a:ln/>
        </p:spPr>
      </p:sp>
      <p:sp>
        <p:nvSpPr>
          <p:cNvPr id="40" name="Shape 36"/>
          <p:cNvSpPr/>
          <p:nvPr/>
        </p:nvSpPr>
        <p:spPr>
          <a:xfrm>
            <a:off x="8247888" y="1837944"/>
            <a:ext cx="118872" cy="118872"/>
          </a:xfrm>
          <a:prstGeom prst="ellipse">
            <a:avLst/>
          </a:prstGeom>
          <a:solidFill>
            <a:srgbClr val="D5DED9"/>
          </a:solidFill>
          <a:ln/>
        </p:spPr>
      </p:sp>
      <p:sp>
        <p:nvSpPr>
          <p:cNvPr id="41" name="Shape 37"/>
          <p:cNvSpPr/>
          <p:nvPr/>
        </p:nvSpPr>
        <p:spPr>
          <a:xfrm>
            <a:off x="457200" y="2148840"/>
            <a:ext cx="8229600" cy="384048"/>
          </a:xfrm>
          <a:prstGeom prst="roundRect">
            <a:avLst>
              <a:gd name="adj" fmla="val 11905"/>
            </a:avLst>
          </a:prstGeom>
          <a:solidFill>
            <a:srgbClr val="FFFFFF"/>
          </a:solidFill>
          <a:ln w="6350">
            <a:solidFill>
              <a:srgbClr val="D5DED9"/>
            </a:solidFill>
            <a:prstDash val="solid"/>
          </a:ln>
        </p:spPr>
      </p:sp>
      <p:pic>
        <p:nvPicPr>
          <p:cNvPr id="42" name="Image 1" descr="preencoded.png">    </p:cNvPr>
          <p:cNvPicPr>
            <a:picLocks noChangeAspect="1"/>
          </p:cNvPicPr>
          <p:nvPr/>
        </p:nvPicPr>
        <p:blipFill>
          <a:blip r:embed="rId2"/>
          <a:stretch>
            <a:fillRect/>
          </a:stretch>
        </p:blipFill>
        <p:spPr>
          <a:xfrm>
            <a:off x="585216" y="2240280"/>
            <a:ext cx="201168" cy="201168"/>
          </a:xfrm>
          <a:prstGeom prst="rect">
            <a:avLst/>
          </a:prstGeom>
        </p:spPr>
      </p:pic>
      <p:sp>
        <p:nvSpPr>
          <p:cNvPr id="43" name="Text 38"/>
          <p:cNvSpPr txBox="1"/>
          <p:nvPr/>
        </p:nvSpPr>
        <p:spPr>
          <a:xfrm>
            <a:off x="896112" y="2148840"/>
            <a:ext cx="2286000" cy="384048"/>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Mesure participative</a:t>
            </a:r>
            <a:endParaRPr lang="en-US" sz="1150" dirty="0"/>
          </a:p>
        </p:txBody>
      </p:sp>
      <p:sp>
        <p:nvSpPr>
          <p:cNvPr id="44" name="Shape 39"/>
          <p:cNvSpPr/>
          <p:nvPr/>
        </p:nvSpPr>
        <p:spPr>
          <a:xfrm>
            <a:off x="3529584" y="2286000"/>
            <a:ext cx="118872" cy="118872"/>
          </a:xfrm>
          <a:prstGeom prst="ellipse">
            <a:avLst/>
          </a:prstGeom>
          <a:solidFill>
            <a:srgbClr val="00A86A"/>
          </a:solidFill>
          <a:ln/>
        </p:spPr>
      </p:sp>
      <p:sp>
        <p:nvSpPr>
          <p:cNvPr id="45" name="Shape 40"/>
          <p:cNvSpPr/>
          <p:nvPr/>
        </p:nvSpPr>
        <p:spPr>
          <a:xfrm>
            <a:off x="3694176" y="2286000"/>
            <a:ext cx="118872" cy="118872"/>
          </a:xfrm>
          <a:prstGeom prst="ellipse">
            <a:avLst/>
          </a:prstGeom>
          <a:solidFill>
            <a:srgbClr val="00A86A"/>
          </a:solidFill>
          <a:ln/>
        </p:spPr>
      </p:sp>
      <p:sp>
        <p:nvSpPr>
          <p:cNvPr id="46" name="Shape 41"/>
          <p:cNvSpPr/>
          <p:nvPr/>
        </p:nvSpPr>
        <p:spPr>
          <a:xfrm>
            <a:off x="3858768" y="2286000"/>
            <a:ext cx="118872" cy="118872"/>
          </a:xfrm>
          <a:prstGeom prst="ellipse">
            <a:avLst/>
          </a:prstGeom>
          <a:solidFill>
            <a:srgbClr val="D5DED9"/>
          </a:solidFill>
          <a:ln/>
        </p:spPr>
      </p:sp>
      <p:sp>
        <p:nvSpPr>
          <p:cNvPr id="47" name="Shape 42"/>
          <p:cNvSpPr/>
          <p:nvPr/>
        </p:nvSpPr>
        <p:spPr>
          <a:xfrm>
            <a:off x="4626864" y="2286000"/>
            <a:ext cx="118872" cy="118872"/>
          </a:xfrm>
          <a:prstGeom prst="ellipse">
            <a:avLst/>
          </a:prstGeom>
          <a:solidFill>
            <a:srgbClr val="00A86A"/>
          </a:solidFill>
          <a:ln/>
        </p:spPr>
      </p:sp>
      <p:sp>
        <p:nvSpPr>
          <p:cNvPr id="48" name="Shape 43"/>
          <p:cNvSpPr/>
          <p:nvPr/>
        </p:nvSpPr>
        <p:spPr>
          <a:xfrm>
            <a:off x="4791456" y="2286000"/>
            <a:ext cx="118872" cy="118872"/>
          </a:xfrm>
          <a:prstGeom prst="ellipse">
            <a:avLst/>
          </a:prstGeom>
          <a:solidFill>
            <a:srgbClr val="00A86A"/>
          </a:solidFill>
          <a:ln/>
        </p:spPr>
      </p:sp>
      <p:sp>
        <p:nvSpPr>
          <p:cNvPr id="49" name="Shape 44"/>
          <p:cNvSpPr/>
          <p:nvPr/>
        </p:nvSpPr>
        <p:spPr>
          <a:xfrm>
            <a:off x="4956048" y="2286000"/>
            <a:ext cx="118872" cy="118872"/>
          </a:xfrm>
          <a:prstGeom prst="ellipse">
            <a:avLst/>
          </a:prstGeom>
          <a:solidFill>
            <a:srgbClr val="00A86A"/>
          </a:solidFill>
          <a:ln/>
        </p:spPr>
      </p:sp>
      <p:sp>
        <p:nvSpPr>
          <p:cNvPr id="50" name="Shape 45"/>
          <p:cNvSpPr/>
          <p:nvPr/>
        </p:nvSpPr>
        <p:spPr>
          <a:xfrm>
            <a:off x="5724144" y="2286000"/>
            <a:ext cx="118872" cy="118872"/>
          </a:xfrm>
          <a:prstGeom prst="ellipse">
            <a:avLst/>
          </a:prstGeom>
          <a:solidFill>
            <a:srgbClr val="00A86A"/>
          </a:solidFill>
          <a:ln/>
        </p:spPr>
      </p:sp>
      <p:sp>
        <p:nvSpPr>
          <p:cNvPr id="51" name="Shape 46"/>
          <p:cNvSpPr/>
          <p:nvPr/>
        </p:nvSpPr>
        <p:spPr>
          <a:xfrm>
            <a:off x="5888736" y="2286000"/>
            <a:ext cx="118872" cy="118872"/>
          </a:xfrm>
          <a:prstGeom prst="ellipse">
            <a:avLst/>
          </a:prstGeom>
          <a:solidFill>
            <a:srgbClr val="D5DED9"/>
          </a:solidFill>
          <a:ln/>
        </p:spPr>
      </p:sp>
      <p:sp>
        <p:nvSpPr>
          <p:cNvPr id="52" name="Shape 47"/>
          <p:cNvSpPr/>
          <p:nvPr/>
        </p:nvSpPr>
        <p:spPr>
          <a:xfrm>
            <a:off x="6053328" y="2286000"/>
            <a:ext cx="118872" cy="118872"/>
          </a:xfrm>
          <a:prstGeom prst="ellipse">
            <a:avLst/>
          </a:prstGeom>
          <a:solidFill>
            <a:srgbClr val="D5DED9"/>
          </a:solidFill>
          <a:ln/>
        </p:spPr>
      </p:sp>
      <p:sp>
        <p:nvSpPr>
          <p:cNvPr id="53" name="Shape 48"/>
          <p:cNvSpPr/>
          <p:nvPr/>
        </p:nvSpPr>
        <p:spPr>
          <a:xfrm>
            <a:off x="6821424" y="2286000"/>
            <a:ext cx="118872" cy="118872"/>
          </a:xfrm>
          <a:prstGeom prst="ellipse">
            <a:avLst/>
          </a:prstGeom>
          <a:solidFill>
            <a:srgbClr val="00A86A"/>
          </a:solidFill>
          <a:ln/>
        </p:spPr>
      </p:sp>
      <p:sp>
        <p:nvSpPr>
          <p:cNvPr id="54" name="Shape 49"/>
          <p:cNvSpPr/>
          <p:nvPr/>
        </p:nvSpPr>
        <p:spPr>
          <a:xfrm>
            <a:off x="6986016" y="2286000"/>
            <a:ext cx="118872" cy="118872"/>
          </a:xfrm>
          <a:prstGeom prst="ellipse">
            <a:avLst/>
          </a:prstGeom>
          <a:solidFill>
            <a:srgbClr val="00A86A"/>
          </a:solidFill>
          <a:ln/>
        </p:spPr>
      </p:sp>
      <p:sp>
        <p:nvSpPr>
          <p:cNvPr id="55" name="Shape 50"/>
          <p:cNvSpPr/>
          <p:nvPr/>
        </p:nvSpPr>
        <p:spPr>
          <a:xfrm>
            <a:off x="7150608" y="2286000"/>
            <a:ext cx="118872" cy="118872"/>
          </a:xfrm>
          <a:prstGeom prst="ellipse">
            <a:avLst/>
          </a:prstGeom>
          <a:solidFill>
            <a:srgbClr val="00A86A"/>
          </a:solidFill>
          <a:ln/>
        </p:spPr>
      </p:sp>
      <p:sp>
        <p:nvSpPr>
          <p:cNvPr id="56" name="Shape 51"/>
          <p:cNvSpPr/>
          <p:nvPr/>
        </p:nvSpPr>
        <p:spPr>
          <a:xfrm>
            <a:off x="7918704" y="2286000"/>
            <a:ext cx="118872" cy="118872"/>
          </a:xfrm>
          <a:prstGeom prst="ellipse">
            <a:avLst/>
          </a:prstGeom>
          <a:solidFill>
            <a:srgbClr val="B83B2E"/>
          </a:solidFill>
          <a:ln/>
        </p:spPr>
      </p:sp>
      <p:sp>
        <p:nvSpPr>
          <p:cNvPr id="57" name="Shape 52"/>
          <p:cNvSpPr/>
          <p:nvPr/>
        </p:nvSpPr>
        <p:spPr>
          <a:xfrm>
            <a:off x="8083296" y="2286000"/>
            <a:ext cx="118872" cy="118872"/>
          </a:xfrm>
          <a:prstGeom prst="ellipse">
            <a:avLst/>
          </a:prstGeom>
          <a:solidFill>
            <a:srgbClr val="D5DED9"/>
          </a:solidFill>
          <a:ln/>
        </p:spPr>
      </p:sp>
      <p:sp>
        <p:nvSpPr>
          <p:cNvPr id="58" name="Shape 53"/>
          <p:cNvSpPr/>
          <p:nvPr/>
        </p:nvSpPr>
        <p:spPr>
          <a:xfrm>
            <a:off x="8247888" y="2286000"/>
            <a:ext cx="118872" cy="118872"/>
          </a:xfrm>
          <a:prstGeom prst="ellipse">
            <a:avLst/>
          </a:prstGeom>
          <a:solidFill>
            <a:srgbClr val="D5DED9"/>
          </a:solidFill>
          <a:ln/>
        </p:spPr>
      </p:sp>
      <p:sp>
        <p:nvSpPr>
          <p:cNvPr id="59" name="Shape 54"/>
          <p:cNvSpPr/>
          <p:nvPr/>
        </p:nvSpPr>
        <p:spPr>
          <a:xfrm>
            <a:off x="457200" y="2596896"/>
            <a:ext cx="8229600" cy="384048"/>
          </a:xfrm>
          <a:prstGeom prst="roundRect">
            <a:avLst>
              <a:gd name="adj" fmla="val 11905"/>
            </a:avLst>
          </a:prstGeom>
          <a:solidFill>
            <a:srgbClr val="F4F7F5"/>
          </a:solidFill>
          <a:ln w="6350">
            <a:solidFill>
              <a:srgbClr val="D5DED9"/>
            </a:solidFill>
            <a:prstDash val="solid"/>
          </a:ln>
        </p:spPr>
      </p:sp>
      <p:pic>
        <p:nvPicPr>
          <p:cNvPr id="60" name="Image 2" descr="preencoded.png">    </p:cNvPr>
          <p:cNvPicPr>
            <a:picLocks noChangeAspect="1"/>
          </p:cNvPicPr>
          <p:nvPr/>
        </p:nvPicPr>
        <p:blipFill>
          <a:blip r:embed="rId3"/>
          <a:stretch>
            <a:fillRect/>
          </a:stretch>
        </p:blipFill>
        <p:spPr>
          <a:xfrm>
            <a:off x="585216" y="2688336"/>
            <a:ext cx="201168" cy="201168"/>
          </a:xfrm>
          <a:prstGeom prst="rect">
            <a:avLst/>
          </a:prstGeom>
        </p:spPr>
      </p:pic>
      <p:sp>
        <p:nvSpPr>
          <p:cNvPr id="61" name="Text 55"/>
          <p:cNvSpPr txBox="1"/>
          <p:nvPr/>
        </p:nvSpPr>
        <p:spPr>
          <a:xfrm>
            <a:off x="896112" y="2596896"/>
            <a:ext cx="2286000" cy="384048"/>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Caisse, transactions et télécoms</a:t>
            </a:r>
            <a:endParaRPr lang="en-US" sz="1150" dirty="0"/>
          </a:p>
        </p:txBody>
      </p:sp>
      <p:sp>
        <p:nvSpPr>
          <p:cNvPr id="62" name="Shape 56"/>
          <p:cNvSpPr/>
          <p:nvPr/>
        </p:nvSpPr>
        <p:spPr>
          <a:xfrm>
            <a:off x="3529584" y="2734056"/>
            <a:ext cx="118872" cy="118872"/>
          </a:xfrm>
          <a:prstGeom prst="ellipse">
            <a:avLst/>
          </a:prstGeom>
          <a:solidFill>
            <a:srgbClr val="00A86A"/>
          </a:solidFill>
          <a:ln/>
        </p:spPr>
      </p:sp>
      <p:sp>
        <p:nvSpPr>
          <p:cNvPr id="63" name="Shape 57"/>
          <p:cNvSpPr/>
          <p:nvPr/>
        </p:nvSpPr>
        <p:spPr>
          <a:xfrm>
            <a:off x="3694176" y="2734056"/>
            <a:ext cx="118872" cy="118872"/>
          </a:xfrm>
          <a:prstGeom prst="ellipse">
            <a:avLst/>
          </a:prstGeom>
          <a:solidFill>
            <a:srgbClr val="00A86A"/>
          </a:solidFill>
          <a:ln/>
        </p:spPr>
      </p:sp>
      <p:sp>
        <p:nvSpPr>
          <p:cNvPr id="64" name="Shape 58"/>
          <p:cNvSpPr/>
          <p:nvPr/>
        </p:nvSpPr>
        <p:spPr>
          <a:xfrm>
            <a:off x="3858768" y="2734056"/>
            <a:ext cx="118872" cy="118872"/>
          </a:xfrm>
          <a:prstGeom prst="ellipse">
            <a:avLst/>
          </a:prstGeom>
          <a:solidFill>
            <a:srgbClr val="00A86A"/>
          </a:solidFill>
          <a:ln/>
        </p:spPr>
      </p:sp>
      <p:sp>
        <p:nvSpPr>
          <p:cNvPr id="65" name="Shape 59"/>
          <p:cNvSpPr/>
          <p:nvPr/>
        </p:nvSpPr>
        <p:spPr>
          <a:xfrm>
            <a:off x="4626864" y="2734056"/>
            <a:ext cx="118872" cy="118872"/>
          </a:xfrm>
          <a:prstGeom prst="ellipse">
            <a:avLst/>
          </a:prstGeom>
          <a:solidFill>
            <a:srgbClr val="00A86A"/>
          </a:solidFill>
          <a:ln/>
        </p:spPr>
      </p:sp>
      <p:sp>
        <p:nvSpPr>
          <p:cNvPr id="66" name="Shape 60"/>
          <p:cNvSpPr/>
          <p:nvPr/>
        </p:nvSpPr>
        <p:spPr>
          <a:xfrm>
            <a:off x="4791456" y="2734056"/>
            <a:ext cx="118872" cy="118872"/>
          </a:xfrm>
          <a:prstGeom prst="ellipse">
            <a:avLst/>
          </a:prstGeom>
          <a:solidFill>
            <a:srgbClr val="00A86A"/>
          </a:solidFill>
          <a:ln/>
        </p:spPr>
      </p:sp>
      <p:sp>
        <p:nvSpPr>
          <p:cNvPr id="67" name="Shape 61"/>
          <p:cNvSpPr/>
          <p:nvPr/>
        </p:nvSpPr>
        <p:spPr>
          <a:xfrm>
            <a:off x="4956048" y="2734056"/>
            <a:ext cx="118872" cy="118872"/>
          </a:xfrm>
          <a:prstGeom prst="ellipse">
            <a:avLst/>
          </a:prstGeom>
          <a:solidFill>
            <a:srgbClr val="00A86A"/>
          </a:solidFill>
          <a:ln/>
        </p:spPr>
      </p:sp>
      <p:sp>
        <p:nvSpPr>
          <p:cNvPr id="68" name="Shape 62"/>
          <p:cNvSpPr/>
          <p:nvPr/>
        </p:nvSpPr>
        <p:spPr>
          <a:xfrm>
            <a:off x="5724144" y="2734056"/>
            <a:ext cx="118872" cy="118872"/>
          </a:xfrm>
          <a:prstGeom prst="ellipse">
            <a:avLst/>
          </a:prstGeom>
          <a:solidFill>
            <a:srgbClr val="00A86A"/>
          </a:solidFill>
          <a:ln/>
        </p:spPr>
      </p:sp>
      <p:sp>
        <p:nvSpPr>
          <p:cNvPr id="69" name="Shape 63"/>
          <p:cNvSpPr/>
          <p:nvPr/>
        </p:nvSpPr>
        <p:spPr>
          <a:xfrm>
            <a:off x="5888736" y="2734056"/>
            <a:ext cx="118872" cy="118872"/>
          </a:xfrm>
          <a:prstGeom prst="ellipse">
            <a:avLst/>
          </a:prstGeom>
          <a:solidFill>
            <a:srgbClr val="00A86A"/>
          </a:solidFill>
          <a:ln/>
        </p:spPr>
      </p:sp>
      <p:sp>
        <p:nvSpPr>
          <p:cNvPr id="70" name="Shape 64"/>
          <p:cNvSpPr/>
          <p:nvPr/>
        </p:nvSpPr>
        <p:spPr>
          <a:xfrm>
            <a:off x="6053328" y="2734056"/>
            <a:ext cx="118872" cy="118872"/>
          </a:xfrm>
          <a:prstGeom prst="ellipse">
            <a:avLst/>
          </a:prstGeom>
          <a:solidFill>
            <a:srgbClr val="D5DED9"/>
          </a:solidFill>
          <a:ln/>
        </p:spPr>
      </p:sp>
      <p:sp>
        <p:nvSpPr>
          <p:cNvPr id="71" name="Shape 65"/>
          <p:cNvSpPr/>
          <p:nvPr/>
        </p:nvSpPr>
        <p:spPr>
          <a:xfrm>
            <a:off x="6821424" y="2734056"/>
            <a:ext cx="118872" cy="118872"/>
          </a:xfrm>
          <a:prstGeom prst="ellipse">
            <a:avLst/>
          </a:prstGeom>
          <a:solidFill>
            <a:srgbClr val="00A86A"/>
          </a:solidFill>
          <a:ln/>
        </p:spPr>
      </p:sp>
      <p:sp>
        <p:nvSpPr>
          <p:cNvPr id="72" name="Shape 66"/>
          <p:cNvSpPr/>
          <p:nvPr/>
        </p:nvSpPr>
        <p:spPr>
          <a:xfrm>
            <a:off x="6986016" y="2734056"/>
            <a:ext cx="118872" cy="118872"/>
          </a:xfrm>
          <a:prstGeom prst="ellipse">
            <a:avLst/>
          </a:prstGeom>
          <a:solidFill>
            <a:srgbClr val="D5DED9"/>
          </a:solidFill>
          <a:ln/>
        </p:spPr>
      </p:sp>
      <p:sp>
        <p:nvSpPr>
          <p:cNvPr id="73" name="Shape 67"/>
          <p:cNvSpPr/>
          <p:nvPr/>
        </p:nvSpPr>
        <p:spPr>
          <a:xfrm>
            <a:off x="7150608" y="2734056"/>
            <a:ext cx="118872" cy="118872"/>
          </a:xfrm>
          <a:prstGeom prst="ellipse">
            <a:avLst/>
          </a:prstGeom>
          <a:solidFill>
            <a:srgbClr val="D5DED9"/>
          </a:solidFill>
          <a:ln/>
        </p:spPr>
      </p:sp>
      <p:sp>
        <p:nvSpPr>
          <p:cNvPr id="74" name="Shape 68"/>
          <p:cNvSpPr/>
          <p:nvPr/>
        </p:nvSpPr>
        <p:spPr>
          <a:xfrm>
            <a:off x="7918704" y="2734056"/>
            <a:ext cx="118872" cy="118872"/>
          </a:xfrm>
          <a:prstGeom prst="ellipse">
            <a:avLst/>
          </a:prstGeom>
          <a:solidFill>
            <a:srgbClr val="B83B2E"/>
          </a:solidFill>
          <a:ln/>
        </p:spPr>
      </p:sp>
      <p:sp>
        <p:nvSpPr>
          <p:cNvPr id="75" name="Shape 69"/>
          <p:cNvSpPr/>
          <p:nvPr/>
        </p:nvSpPr>
        <p:spPr>
          <a:xfrm>
            <a:off x="8083296" y="2734056"/>
            <a:ext cx="118872" cy="118872"/>
          </a:xfrm>
          <a:prstGeom prst="ellipse">
            <a:avLst/>
          </a:prstGeom>
          <a:solidFill>
            <a:srgbClr val="B83B2E"/>
          </a:solidFill>
          <a:ln/>
        </p:spPr>
      </p:sp>
      <p:sp>
        <p:nvSpPr>
          <p:cNvPr id="76" name="Shape 70"/>
          <p:cNvSpPr/>
          <p:nvPr/>
        </p:nvSpPr>
        <p:spPr>
          <a:xfrm>
            <a:off x="8247888" y="2734056"/>
            <a:ext cx="118872" cy="118872"/>
          </a:xfrm>
          <a:prstGeom prst="ellipse">
            <a:avLst/>
          </a:prstGeom>
          <a:solidFill>
            <a:srgbClr val="B83B2E"/>
          </a:solidFill>
          <a:ln/>
        </p:spPr>
      </p:sp>
      <p:sp>
        <p:nvSpPr>
          <p:cNvPr id="77" name="Shape 71"/>
          <p:cNvSpPr/>
          <p:nvPr/>
        </p:nvSpPr>
        <p:spPr>
          <a:xfrm>
            <a:off x="457200" y="3044952"/>
            <a:ext cx="8229600" cy="384048"/>
          </a:xfrm>
          <a:prstGeom prst="roundRect">
            <a:avLst>
              <a:gd name="adj" fmla="val 11905"/>
            </a:avLst>
          </a:prstGeom>
          <a:solidFill>
            <a:srgbClr val="FFFFFF"/>
          </a:solidFill>
          <a:ln w="6350">
            <a:solidFill>
              <a:srgbClr val="D5DED9"/>
            </a:solidFill>
            <a:prstDash val="solid"/>
          </a:ln>
        </p:spPr>
      </p:sp>
      <p:pic>
        <p:nvPicPr>
          <p:cNvPr id="78" name="Image 3" descr="preencoded.png">    </p:cNvPr>
          <p:cNvPicPr>
            <a:picLocks noChangeAspect="1"/>
          </p:cNvPicPr>
          <p:nvPr/>
        </p:nvPicPr>
        <p:blipFill>
          <a:blip r:embed="rId4"/>
          <a:stretch>
            <a:fillRect/>
          </a:stretch>
        </p:blipFill>
        <p:spPr>
          <a:xfrm>
            <a:off x="585216" y="3136392"/>
            <a:ext cx="201168" cy="201168"/>
          </a:xfrm>
          <a:prstGeom prst="rect">
            <a:avLst/>
          </a:prstGeom>
        </p:spPr>
      </p:pic>
      <p:sp>
        <p:nvSpPr>
          <p:cNvPr id="79" name="Text 72"/>
          <p:cNvSpPr txBox="1"/>
          <p:nvPr/>
        </p:nvSpPr>
        <p:spPr>
          <a:xfrm>
            <a:off x="896112" y="3044952"/>
            <a:ext cx="2286000" cy="384048"/>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Moissonnage du web</a:t>
            </a:r>
            <a:endParaRPr lang="en-US" sz="1150" dirty="0"/>
          </a:p>
        </p:txBody>
      </p:sp>
      <p:sp>
        <p:nvSpPr>
          <p:cNvPr id="80" name="Shape 73"/>
          <p:cNvSpPr/>
          <p:nvPr/>
        </p:nvSpPr>
        <p:spPr>
          <a:xfrm>
            <a:off x="3529584" y="3182112"/>
            <a:ext cx="118872" cy="118872"/>
          </a:xfrm>
          <a:prstGeom prst="ellipse">
            <a:avLst/>
          </a:prstGeom>
          <a:solidFill>
            <a:srgbClr val="00A86A"/>
          </a:solidFill>
          <a:ln/>
        </p:spPr>
      </p:sp>
      <p:sp>
        <p:nvSpPr>
          <p:cNvPr id="81" name="Shape 74"/>
          <p:cNvSpPr/>
          <p:nvPr/>
        </p:nvSpPr>
        <p:spPr>
          <a:xfrm>
            <a:off x="3694176" y="3182112"/>
            <a:ext cx="118872" cy="118872"/>
          </a:xfrm>
          <a:prstGeom prst="ellipse">
            <a:avLst/>
          </a:prstGeom>
          <a:solidFill>
            <a:srgbClr val="00A86A"/>
          </a:solidFill>
          <a:ln/>
        </p:spPr>
      </p:sp>
      <p:sp>
        <p:nvSpPr>
          <p:cNvPr id="82" name="Shape 75"/>
          <p:cNvSpPr/>
          <p:nvPr/>
        </p:nvSpPr>
        <p:spPr>
          <a:xfrm>
            <a:off x="3858768" y="3182112"/>
            <a:ext cx="118872" cy="118872"/>
          </a:xfrm>
          <a:prstGeom prst="ellipse">
            <a:avLst/>
          </a:prstGeom>
          <a:solidFill>
            <a:srgbClr val="00A86A"/>
          </a:solidFill>
          <a:ln/>
        </p:spPr>
      </p:sp>
      <p:sp>
        <p:nvSpPr>
          <p:cNvPr id="83" name="Shape 76"/>
          <p:cNvSpPr/>
          <p:nvPr/>
        </p:nvSpPr>
        <p:spPr>
          <a:xfrm>
            <a:off x="4626864" y="3182112"/>
            <a:ext cx="118872" cy="118872"/>
          </a:xfrm>
          <a:prstGeom prst="ellipse">
            <a:avLst/>
          </a:prstGeom>
          <a:solidFill>
            <a:srgbClr val="00A86A"/>
          </a:solidFill>
          <a:ln/>
        </p:spPr>
      </p:sp>
      <p:sp>
        <p:nvSpPr>
          <p:cNvPr id="84" name="Shape 77"/>
          <p:cNvSpPr/>
          <p:nvPr/>
        </p:nvSpPr>
        <p:spPr>
          <a:xfrm>
            <a:off x="4791456" y="3182112"/>
            <a:ext cx="118872" cy="118872"/>
          </a:xfrm>
          <a:prstGeom prst="ellipse">
            <a:avLst/>
          </a:prstGeom>
          <a:solidFill>
            <a:srgbClr val="00A86A"/>
          </a:solidFill>
          <a:ln/>
        </p:spPr>
      </p:sp>
      <p:sp>
        <p:nvSpPr>
          <p:cNvPr id="85" name="Shape 78"/>
          <p:cNvSpPr/>
          <p:nvPr/>
        </p:nvSpPr>
        <p:spPr>
          <a:xfrm>
            <a:off x="4956048" y="3182112"/>
            <a:ext cx="118872" cy="118872"/>
          </a:xfrm>
          <a:prstGeom prst="ellipse">
            <a:avLst/>
          </a:prstGeom>
          <a:solidFill>
            <a:srgbClr val="D5DED9"/>
          </a:solidFill>
          <a:ln/>
        </p:spPr>
      </p:sp>
      <p:sp>
        <p:nvSpPr>
          <p:cNvPr id="86" name="Shape 79"/>
          <p:cNvSpPr/>
          <p:nvPr/>
        </p:nvSpPr>
        <p:spPr>
          <a:xfrm>
            <a:off x="5724144" y="3182112"/>
            <a:ext cx="118872" cy="118872"/>
          </a:xfrm>
          <a:prstGeom prst="ellipse">
            <a:avLst/>
          </a:prstGeom>
          <a:solidFill>
            <a:srgbClr val="00A86A"/>
          </a:solidFill>
          <a:ln/>
        </p:spPr>
      </p:sp>
      <p:sp>
        <p:nvSpPr>
          <p:cNvPr id="87" name="Shape 80"/>
          <p:cNvSpPr/>
          <p:nvPr/>
        </p:nvSpPr>
        <p:spPr>
          <a:xfrm>
            <a:off x="5888736" y="3182112"/>
            <a:ext cx="118872" cy="118872"/>
          </a:xfrm>
          <a:prstGeom prst="ellipse">
            <a:avLst/>
          </a:prstGeom>
          <a:solidFill>
            <a:srgbClr val="D5DED9"/>
          </a:solidFill>
          <a:ln/>
        </p:spPr>
      </p:sp>
      <p:sp>
        <p:nvSpPr>
          <p:cNvPr id="88" name="Shape 81"/>
          <p:cNvSpPr/>
          <p:nvPr/>
        </p:nvSpPr>
        <p:spPr>
          <a:xfrm>
            <a:off x="6053328" y="3182112"/>
            <a:ext cx="118872" cy="118872"/>
          </a:xfrm>
          <a:prstGeom prst="ellipse">
            <a:avLst/>
          </a:prstGeom>
          <a:solidFill>
            <a:srgbClr val="D5DED9"/>
          </a:solidFill>
          <a:ln/>
        </p:spPr>
      </p:sp>
      <p:sp>
        <p:nvSpPr>
          <p:cNvPr id="89" name="Shape 82"/>
          <p:cNvSpPr/>
          <p:nvPr/>
        </p:nvSpPr>
        <p:spPr>
          <a:xfrm>
            <a:off x="6821424" y="3182112"/>
            <a:ext cx="118872" cy="118872"/>
          </a:xfrm>
          <a:prstGeom prst="ellipse">
            <a:avLst/>
          </a:prstGeom>
          <a:solidFill>
            <a:srgbClr val="00A86A"/>
          </a:solidFill>
          <a:ln/>
        </p:spPr>
      </p:sp>
      <p:sp>
        <p:nvSpPr>
          <p:cNvPr id="90" name="Shape 83"/>
          <p:cNvSpPr/>
          <p:nvPr/>
        </p:nvSpPr>
        <p:spPr>
          <a:xfrm>
            <a:off x="6986016" y="3182112"/>
            <a:ext cx="118872" cy="118872"/>
          </a:xfrm>
          <a:prstGeom prst="ellipse">
            <a:avLst/>
          </a:prstGeom>
          <a:solidFill>
            <a:srgbClr val="00A86A"/>
          </a:solidFill>
          <a:ln/>
        </p:spPr>
      </p:sp>
      <p:sp>
        <p:nvSpPr>
          <p:cNvPr id="91" name="Shape 84"/>
          <p:cNvSpPr/>
          <p:nvPr/>
        </p:nvSpPr>
        <p:spPr>
          <a:xfrm>
            <a:off x="7150608" y="3182112"/>
            <a:ext cx="118872" cy="118872"/>
          </a:xfrm>
          <a:prstGeom prst="ellipse">
            <a:avLst/>
          </a:prstGeom>
          <a:solidFill>
            <a:srgbClr val="D5DED9"/>
          </a:solidFill>
          <a:ln/>
        </p:spPr>
      </p:sp>
      <p:sp>
        <p:nvSpPr>
          <p:cNvPr id="92" name="Shape 85"/>
          <p:cNvSpPr/>
          <p:nvPr/>
        </p:nvSpPr>
        <p:spPr>
          <a:xfrm>
            <a:off x="7918704" y="3182112"/>
            <a:ext cx="118872" cy="118872"/>
          </a:xfrm>
          <a:prstGeom prst="ellipse">
            <a:avLst/>
          </a:prstGeom>
          <a:solidFill>
            <a:srgbClr val="B83B2E"/>
          </a:solidFill>
          <a:ln/>
        </p:spPr>
      </p:sp>
      <p:sp>
        <p:nvSpPr>
          <p:cNvPr id="93" name="Shape 86"/>
          <p:cNvSpPr/>
          <p:nvPr/>
        </p:nvSpPr>
        <p:spPr>
          <a:xfrm>
            <a:off x="8083296" y="3182112"/>
            <a:ext cx="118872" cy="118872"/>
          </a:xfrm>
          <a:prstGeom prst="ellipse">
            <a:avLst/>
          </a:prstGeom>
          <a:solidFill>
            <a:srgbClr val="B83B2E"/>
          </a:solidFill>
          <a:ln/>
        </p:spPr>
      </p:sp>
      <p:sp>
        <p:nvSpPr>
          <p:cNvPr id="94" name="Shape 87"/>
          <p:cNvSpPr/>
          <p:nvPr/>
        </p:nvSpPr>
        <p:spPr>
          <a:xfrm>
            <a:off x="8247888" y="3182112"/>
            <a:ext cx="118872" cy="118872"/>
          </a:xfrm>
          <a:prstGeom prst="ellipse">
            <a:avLst/>
          </a:prstGeom>
          <a:solidFill>
            <a:srgbClr val="D5DED9"/>
          </a:solidFill>
          <a:ln/>
        </p:spPr>
      </p:sp>
      <p:sp>
        <p:nvSpPr>
          <p:cNvPr id="95" name="Shape 88"/>
          <p:cNvSpPr/>
          <p:nvPr/>
        </p:nvSpPr>
        <p:spPr>
          <a:xfrm>
            <a:off x="457200" y="3493008"/>
            <a:ext cx="8229600" cy="384048"/>
          </a:xfrm>
          <a:prstGeom prst="roundRect">
            <a:avLst>
              <a:gd name="adj" fmla="val 11905"/>
            </a:avLst>
          </a:prstGeom>
          <a:solidFill>
            <a:srgbClr val="F4F7F5"/>
          </a:solidFill>
          <a:ln w="6350">
            <a:solidFill>
              <a:srgbClr val="D5DED9"/>
            </a:solidFill>
            <a:prstDash val="solid"/>
          </a:ln>
        </p:spPr>
      </p:sp>
      <p:pic>
        <p:nvPicPr>
          <p:cNvPr id="96" name="Image 4" descr="preencoded.png">    </p:cNvPr>
          <p:cNvPicPr>
            <a:picLocks noChangeAspect="1"/>
          </p:cNvPicPr>
          <p:nvPr/>
        </p:nvPicPr>
        <p:blipFill>
          <a:blip r:embed="rId5"/>
          <a:stretch>
            <a:fillRect/>
          </a:stretch>
        </p:blipFill>
        <p:spPr>
          <a:xfrm>
            <a:off x="585216" y="3584448"/>
            <a:ext cx="201168" cy="201168"/>
          </a:xfrm>
          <a:prstGeom prst="rect">
            <a:avLst/>
          </a:prstGeom>
        </p:spPr>
      </p:pic>
      <p:sp>
        <p:nvSpPr>
          <p:cNvPr id="97" name="Text 89"/>
          <p:cNvSpPr txBox="1"/>
          <p:nvPr/>
        </p:nvSpPr>
        <p:spPr>
          <a:xfrm>
            <a:off x="896112" y="3493008"/>
            <a:ext cx="2286000" cy="384048"/>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Capteurs et IoT</a:t>
            </a:r>
            <a:endParaRPr lang="en-US" sz="1150" dirty="0"/>
          </a:p>
        </p:txBody>
      </p:sp>
      <p:sp>
        <p:nvSpPr>
          <p:cNvPr id="98" name="Shape 90"/>
          <p:cNvSpPr/>
          <p:nvPr/>
        </p:nvSpPr>
        <p:spPr>
          <a:xfrm>
            <a:off x="3529584" y="3630168"/>
            <a:ext cx="118872" cy="118872"/>
          </a:xfrm>
          <a:prstGeom prst="ellipse">
            <a:avLst/>
          </a:prstGeom>
          <a:solidFill>
            <a:srgbClr val="00A86A"/>
          </a:solidFill>
          <a:ln/>
        </p:spPr>
      </p:sp>
      <p:sp>
        <p:nvSpPr>
          <p:cNvPr id="99" name="Shape 91"/>
          <p:cNvSpPr/>
          <p:nvPr/>
        </p:nvSpPr>
        <p:spPr>
          <a:xfrm>
            <a:off x="3694176" y="3630168"/>
            <a:ext cx="118872" cy="118872"/>
          </a:xfrm>
          <a:prstGeom prst="ellipse">
            <a:avLst/>
          </a:prstGeom>
          <a:solidFill>
            <a:srgbClr val="00A86A"/>
          </a:solidFill>
          <a:ln/>
        </p:spPr>
      </p:sp>
      <p:sp>
        <p:nvSpPr>
          <p:cNvPr id="100" name="Shape 92"/>
          <p:cNvSpPr/>
          <p:nvPr/>
        </p:nvSpPr>
        <p:spPr>
          <a:xfrm>
            <a:off x="3858768" y="3630168"/>
            <a:ext cx="118872" cy="118872"/>
          </a:xfrm>
          <a:prstGeom prst="ellipse">
            <a:avLst/>
          </a:prstGeom>
          <a:solidFill>
            <a:srgbClr val="00A86A"/>
          </a:solidFill>
          <a:ln/>
        </p:spPr>
      </p:sp>
      <p:sp>
        <p:nvSpPr>
          <p:cNvPr id="101" name="Shape 93"/>
          <p:cNvSpPr/>
          <p:nvPr/>
        </p:nvSpPr>
        <p:spPr>
          <a:xfrm>
            <a:off x="4626864" y="3630168"/>
            <a:ext cx="118872" cy="118872"/>
          </a:xfrm>
          <a:prstGeom prst="ellipse">
            <a:avLst/>
          </a:prstGeom>
          <a:solidFill>
            <a:srgbClr val="00A86A"/>
          </a:solidFill>
          <a:ln/>
        </p:spPr>
      </p:sp>
      <p:sp>
        <p:nvSpPr>
          <p:cNvPr id="102" name="Shape 94"/>
          <p:cNvSpPr/>
          <p:nvPr/>
        </p:nvSpPr>
        <p:spPr>
          <a:xfrm>
            <a:off x="4791456" y="3630168"/>
            <a:ext cx="118872" cy="118872"/>
          </a:xfrm>
          <a:prstGeom prst="ellipse">
            <a:avLst/>
          </a:prstGeom>
          <a:solidFill>
            <a:srgbClr val="00A86A"/>
          </a:solidFill>
          <a:ln/>
        </p:spPr>
      </p:sp>
      <p:sp>
        <p:nvSpPr>
          <p:cNvPr id="103" name="Shape 95"/>
          <p:cNvSpPr/>
          <p:nvPr/>
        </p:nvSpPr>
        <p:spPr>
          <a:xfrm>
            <a:off x="4956048" y="3630168"/>
            <a:ext cx="118872" cy="118872"/>
          </a:xfrm>
          <a:prstGeom prst="ellipse">
            <a:avLst/>
          </a:prstGeom>
          <a:solidFill>
            <a:srgbClr val="D5DED9"/>
          </a:solidFill>
          <a:ln/>
        </p:spPr>
      </p:sp>
      <p:sp>
        <p:nvSpPr>
          <p:cNvPr id="104" name="Shape 96"/>
          <p:cNvSpPr/>
          <p:nvPr/>
        </p:nvSpPr>
        <p:spPr>
          <a:xfrm>
            <a:off x="5724144" y="3630168"/>
            <a:ext cx="118872" cy="118872"/>
          </a:xfrm>
          <a:prstGeom prst="ellipse">
            <a:avLst/>
          </a:prstGeom>
          <a:solidFill>
            <a:srgbClr val="00A86A"/>
          </a:solidFill>
          <a:ln/>
        </p:spPr>
      </p:sp>
      <p:sp>
        <p:nvSpPr>
          <p:cNvPr id="105" name="Shape 97"/>
          <p:cNvSpPr/>
          <p:nvPr/>
        </p:nvSpPr>
        <p:spPr>
          <a:xfrm>
            <a:off x="5888736" y="3630168"/>
            <a:ext cx="118872" cy="118872"/>
          </a:xfrm>
          <a:prstGeom prst="ellipse">
            <a:avLst/>
          </a:prstGeom>
          <a:solidFill>
            <a:srgbClr val="D5DED9"/>
          </a:solidFill>
          <a:ln/>
        </p:spPr>
      </p:sp>
      <p:sp>
        <p:nvSpPr>
          <p:cNvPr id="106" name="Shape 98"/>
          <p:cNvSpPr/>
          <p:nvPr/>
        </p:nvSpPr>
        <p:spPr>
          <a:xfrm>
            <a:off x="6053328" y="3630168"/>
            <a:ext cx="118872" cy="118872"/>
          </a:xfrm>
          <a:prstGeom prst="ellipse">
            <a:avLst/>
          </a:prstGeom>
          <a:solidFill>
            <a:srgbClr val="D5DED9"/>
          </a:solidFill>
          <a:ln/>
        </p:spPr>
      </p:sp>
      <p:sp>
        <p:nvSpPr>
          <p:cNvPr id="107" name="Shape 99"/>
          <p:cNvSpPr/>
          <p:nvPr/>
        </p:nvSpPr>
        <p:spPr>
          <a:xfrm>
            <a:off x="6821424" y="3630168"/>
            <a:ext cx="118872" cy="118872"/>
          </a:xfrm>
          <a:prstGeom prst="ellipse">
            <a:avLst/>
          </a:prstGeom>
          <a:solidFill>
            <a:srgbClr val="00A86A"/>
          </a:solidFill>
          <a:ln/>
        </p:spPr>
      </p:sp>
      <p:sp>
        <p:nvSpPr>
          <p:cNvPr id="108" name="Shape 100"/>
          <p:cNvSpPr/>
          <p:nvPr/>
        </p:nvSpPr>
        <p:spPr>
          <a:xfrm>
            <a:off x="6986016" y="3630168"/>
            <a:ext cx="118872" cy="118872"/>
          </a:xfrm>
          <a:prstGeom prst="ellipse">
            <a:avLst/>
          </a:prstGeom>
          <a:solidFill>
            <a:srgbClr val="00A86A"/>
          </a:solidFill>
          <a:ln/>
        </p:spPr>
      </p:sp>
      <p:sp>
        <p:nvSpPr>
          <p:cNvPr id="109" name="Shape 101"/>
          <p:cNvSpPr/>
          <p:nvPr/>
        </p:nvSpPr>
        <p:spPr>
          <a:xfrm>
            <a:off x="7150608" y="3630168"/>
            <a:ext cx="118872" cy="118872"/>
          </a:xfrm>
          <a:prstGeom prst="ellipse">
            <a:avLst/>
          </a:prstGeom>
          <a:solidFill>
            <a:srgbClr val="D5DED9"/>
          </a:solidFill>
          <a:ln/>
        </p:spPr>
      </p:sp>
      <p:sp>
        <p:nvSpPr>
          <p:cNvPr id="110" name="Shape 102"/>
          <p:cNvSpPr/>
          <p:nvPr/>
        </p:nvSpPr>
        <p:spPr>
          <a:xfrm>
            <a:off x="7918704" y="3630168"/>
            <a:ext cx="118872" cy="118872"/>
          </a:xfrm>
          <a:prstGeom prst="ellipse">
            <a:avLst/>
          </a:prstGeom>
          <a:solidFill>
            <a:srgbClr val="B83B2E"/>
          </a:solidFill>
          <a:ln/>
        </p:spPr>
      </p:sp>
      <p:sp>
        <p:nvSpPr>
          <p:cNvPr id="111" name="Shape 103"/>
          <p:cNvSpPr/>
          <p:nvPr/>
        </p:nvSpPr>
        <p:spPr>
          <a:xfrm>
            <a:off x="8083296" y="3630168"/>
            <a:ext cx="118872" cy="118872"/>
          </a:xfrm>
          <a:prstGeom prst="ellipse">
            <a:avLst/>
          </a:prstGeom>
          <a:solidFill>
            <a:srgbClr val="B83B2E"/>
          </a:solidFill>
          <a:ln/>
        </p:spPr>
      </p:sp>
      <p:sp>
        <p:nvSpPr>
          <p:cNvPr id="112" name="Shape 104"/>
          <p:cNvSpPr/>
          <p:nvPr/>
        </p:nvSpPr>
        <p:spPr>
          <a:xfrm>
            <a:off x="8247888" y="3630168"/>
            <a:ext cx="118872" cy="118872"/>
          </a:xfrm>
          <a:prstGeom prst="ellipse">
            <a:avLst/>
          </a:prstGeom>
          <a:solidFill>
            <a:srgbClr val="D5DED9"/>
          </a:solidFill>
          <a:ln/>
        </p:spPr>
      </p:sp>
      <p:sp>
        <p:nvSpPr>
          <p:cNvPr id="113" name="Shape 105"/>
          <p:cNvSpPr/>
          <p:nvPr/>
        </p:nvSpPr>
        <p:spPr>
          <a:xfrm>
            <a:off x="457200" y="3941064"/>
            <a:ext cx="8229600" cy="384048"/>
          </a:xfrm>
          <a:prstGeom prst="roundRect">
            <a:avLst>
              <a:gd name="adj" fmla="val 11905"/>
            </a:avLst>
          </a:prstGeom>
          <a:solidFill>
            <a:srgbClr val="FFFFFF"/>
          </a:solidFill>
          <a:ln w="6350">
            <a:solidFill>
              <a:srgbClr val="D5DED9"/>
            </a:solidFill>
            <a:prstDash val="solid"/>
          </a:ln>
        </p:spPr>
      </p:sp>
      <p:pic>
        <p:nvPicPr>
          <p:cNvPr id="114" name="Image 5" descr="preencoded.png">    </p:cNvPr>
          <p:cNvPicPr>
            <a:picLocks noChangeAspect="1"/>
          </p:cNvPicPr>
          <p:nvPr/>
        </p:nvPicPr>
        <p:blipFill>
          <a:blip r:embed="rId6"/>
          <a:stretch>
            <a:fillRect/>
          </a:stretch>
        </p:blipFill>
        <p:spPr>
          <a:xfrm>
            <a:off x="585216" y="4032504"/>
            <a:ext cx="201168" cy="201168"/>
          </a:xfrm>
          <a:prstGeom prst="rect">
            <a:avLst/>
          </a:prstGeom>
        </p:spPr>
      </p:pic>
      <p:sp>
        <p:nvSpPr>
          <p:cNvPr id="115" name="Text 106"/>
          <p:cNvSpPr txBox="1"/>
          <p:nvPr/>
        </p:nvSpPr>
        <p:spPr>
          <a:xfrm>
            <a:off x="896112" y="3941064"/>
            <a:ext cx="2286000" cy="384048"/>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Données citoyennes</a:t>
            </a:r>
            <a:endParaRPr lang="en-US" sz="1150" dirty="0"/>
          </a:p>
        </p:txBody>
      </p:sp>
      <p:sp>
        <p:nvSpPr>
          <p:cNvPr id="116" name="Shape 107"/>
          <p:cNvSpPr/>
          <p:nvPr/>
        </p:nvSpPr>
        <p:spPr>
          <a:xfrm>
            <a:off x="3529584" y="4078224"/>
            <a:ext cx="118872" cy="118872"/>
          </a:xfrm>
          <a:prstGeom prst="ellipse">
            <a:avLst/>
          </a:prstGeom>
          <a:solidFill>
            <a:srgbClr val="00A86A"/>
          </a:solidFill>
          <a:ln/>
        </p:spPr>
      </p:sp>
      <p:sp>
        <p:nvSpPr>
          <p:cNvPr id="117" name="Shape 108"/>
          <p:cNvSpPr/>
          <p:nvPr/>
        </p:nvSpPr>
        <p:spPr>
          <a:xfrm>
            <a:off x="3694176" y="4078224"/>
            <a:ext cx="118872" cy="118872"/>
          </a:xfrm>
          <a:prstGeom prst="ellipse">
            <a:avLst/>
          </a:prstGeom>
          <a:solidFill>
            <a:srgbClr val="00A86A"/>
          </a:solidFill>
          <a:ln/>
        </p:spPr>
      </p:sp>
      <p:sp>
        <p:nvSpPr>
          <p:cNvPr id="118" name="Shape 109"/>
          <p:cNvSpPr/>
          <p:nvPr/>
        </p:nvSpPr>
        <p:spPr>
          <a:xfrm>
            <a:off x="3858768" y="4078224"/>
            <a:ext cx="118872" cy="118872"/>
          </a:xfrm>
          <a:prstGeom prst="ellipse">
            <a:avLst/>
          </a:prstGeom>
          <a:solidFill>
            <a:srgbClr val="D5DED9"/>
          </a:solidFill>
          <a:ln/>
        </p:spPr>
      </p:sp>
      <p:sp>
        <p:nvSpPr>
          <p:cNvPr id="119" name="Shape 110"/>
          <p:cNvSpPr/>
          <p:nvPr/>
        </p:nvSpPr>
        <p:spPr>
          <a:xfrm>
            <a:off x="4626864" y="4078224"/>
            <a:ext cx="118872" cy="118872"/>
          </a:xfrm>
          <a:prstGeom prst="ellipse">
            <a:avLst/>
          </a:prstGeom>
          <a:solidFill>
            <a:srgbClr val="00A86A"/>
          </a:solidFill>
          <a:ln/>
        </p:spPr>
      </p:sp>
      <p:sp>
        <p:nvSpPr>
          <p:cNvPr id="120" name="Shape 111"/>
          <p:cNvSpPr/>
          <p:nvPr/>
        </p:nvSpPr>
        <p:spPr>
          <a:xfrm>
            <a:off x="4791456" y="4078224"/>
            <a:ext cx="118872" cy="118872"/>
          </a:xfrm>
          <a:prstGeom prst="ellipse">
            <a:avLst/>
          </a:prstGeom>
          <a:solidFill>
            <a:srgbClr val="00A86A"/>
          </a:solidFill>
          <a:ln/>
        </p:spPr>
      </p:sp>
      <p:sp>
        <p:nvSpPr>
          <p:cNvPr id="121" name="Shape 112"/>
          <p:cNvSpPr/>
          <p:nvPr/>
        </p:nvSpPr>
        <p:spPr>
          <a:xfrm>
            <a:off x="4956048" y="4078224"/>
            <a:ext cx="118872" cy="118872"/>
          </a:xfrm>
          <a:prstGeom prst="ellipse">
            <a:avLst/>
          </a:prstGeom>
          <a:solidFill>
            <a:srgbClr val="00A86A"/>
          </a:solidFill>
          <a:ln/>
        </p:spPr>
      </p:sp>
      <p:sp>
        <p:nvSpPr>
          <p:cNvPr id="122" name="Shape 113"/>
          <p:cNvSpPr/>
          <p:nvPr/>
        </p:nvSpPr>
        <p:spPr>
          <a:xfrm>
            <a:off x="5724144" y="4078224"/>
            <a:ext cx="118872" cy="118872"/>
          </a:xfrm>
          <a:prstGeom prst="ellipse">
            <a:avLst/>
          </a:prstGeom>
          <a:solidFill>
            <a:srgbClr val="00A86A"/>
          </a:solidFill>
          <a:ln/>
        </p:spPr>
      </p:sp>
      <p:sp>
        <p:nvSpPr>
          <p:cNvPr id="123" name="Shape 114"/>
          <p:cNvSpPr/>
          <p:nvPr/>
        </p:nvSpPr>
        <p:spPr>
          <a:xfrm>
            <a:off x="5888736" y="4078224"/>
            <a:ext cx="118872" cy="118872"/>
          </a:xfrm>
          <a:prstGeom prst="ellipse">
            <a:avLst/>
          </a:prstGeom>
          <a:solidFill>
            <a:srgbClr val="D5DED9"/>
          </a:solidFill>
          <a:ln/>
        </p:spPr>
      </p:sp>
      <p:sp>
        <p:nvSpPr>
          <p:cNvPr id="124" name="Shape 115"/>
          <p:cNvSpPr/>
          <p:nvPr/>
        </p:nvSpPr>
        <p:spPr>
          <a:xfrm>
            <a:off x="6053328" y="4078224"/>
            <a:ext cx="118872" cy="118872"/>
          </a:xfrm>
          <a:prstGeom prst="ellipse">
            <a:avLst/>
          </a:prstGeom>
          <a:solidFill>
            <a:srgbClr val="D5DED9"/>
          </a:solidFill>
          <a:ln/>
        </p:spPr>
      </p:sp>
      <p:sp>
        <p:nvSpPr>
          <p:cNvPr id="125" name="Shape 116"/>
          <p:cNvSpPr/>
          <p:nvPr/>
        </p:nvSpPr>
        <p:spPr>
          <a:xfrm>
            <a:off x="6821424" y="4078224"/>
            <a:ext cx="118872" cy="118872"/>
          </a:xfrm>
          <a:prstGeom prst="ellipse">
            <a:avLst/>
          </a:prstGeom>
          <a:solidFill>
            <a:srgbClr val="00A86A"/>
          </a:solidFill>
          <a:ln/>
        </p:spPr>
      </p:sp>
      <p:sp>
        <p:nvSpPr>
          <p:cNvPr id="126" name="Shape 117"/>
          <p:cNvSpPr/>
          <p:nvPr/>
        </p:nvSpPr>
        <p:spPr>
          <a:xfrm>
            <a:off x="6986016" y="4078224"/>
            <a:ext cx="118872" cy="118872"/>
          </a:xfrm>
          <a:prstGeom prst="ellipse">
            <a:avLst/>
          </a:prstGeom>
          <a:solidFill>
            <a:srgbClr val="00A86A"/>
          </a:solidFill>
          <a:ln/>
        </p:spPr>
      </p:sp>
      <p:sp>
        <p:nvSpPr>
          <p:cNvPr id="127" name="Shape 118"/>
          <p:cNvSpPr/>
          <p:nvPr/>
        </p:nvSpPr>
        <p:spPr>
          <a:xfrm>
            <a:off x="7150608" y="4078224"/>
            <a:ext cx="118872" cy="118872"/>
          </a:xfrm>
          <a:prstGeom prst="ellipse">
            <a:avLst/>
          </a:prstGeom>
          <a:solidFill>
            <a:srgbClr val="D5DED9"/>
          </a:solidFill>
          <a:ln/>
        </p:spPr>
      </p:sp>
      <p:sp>
        <p:nvSpPr>
          <p:cNvPr id="128" name="Shape 119"/>
          <p:cNvSpPr/>
          <p:nvPr/>
        </p:nvSpPr>
        <p:spPr>
          <a:xfrm>
            <a:off x="7918704" y="4078224"/>
            <a:ext cx="118872" cy="118872"/>
          </a:xfrm>
          <a:prstGeom prst="ellipse">
            <a:avLst/>
          </a:prstGeom>
          <a:solidFill>
            <a:srgbClr val="B83B2E"/>
          </a:solidFill>
          <a:ln/>
        </p:spPr>
      </p:sp>
      <p:sp>
        <p:nvSpPr>
          <p:cNvPr id="129" name="Shape 120"/>
          <p:cNvSpPr/>
          <p:nvPr/>
        </p:nvSpPr>
        <p:spPr>
          <a:xfrm>
            <a:off x="8083296" y="4078224"/>
            <a:ext cx="118872" cy="118872"/>
          </a:xfrm>
          <a:prstGeom prst="ellipse">
            <a:avLst/>
          </a:prstGeom>
          <a:solidFill>
            <a:srgbClr val="B83B2E"/>
          </a:solidFill>
          <a:ln/>
        </p:spPr>
      </p:sp>
      <p:sp>
        <p:nvSpPr>
          <p:cNvPr id="130" name="Shape 121"/>
          <p:cNvSpPr/>
          <p:nvPr/>
        </p:nvSpPr>
        <p:spPr>
          <a:xfrm>
            <a:off x="8247888" y="4078224"/>
            <a:ext cx="118872" cy="118872"/>
          </a:xfrm>
          <a:prstGeom prst="ellipse">
            <a:avLst/>
          </a:prstGeom>
          <a:solidFill>
            <a:srgbClr val="D5DED9"/>
          </a:solidFill>
          <a:ln/>
        </p:spPr>
      </p:sp>
      <p:sp>
        <p:nvSpPr>
          <p:cNvPr id="131" name="Text 122"/>
          <p:cNvSpPr txBox="1"/>
          <p:nvPr/>
        </p:nvSpPr>
        <p:spPr>
          <a:xfrm>
            <a:off x="457200" y="4626864"/>
            <a:ext cx="749808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Appréciation indicative de l'auteur, à visée pédagogique : ●●● = élevé, ●○○ = faible. La couverture désigne la part de la population que la source reflète habituellement.</a:t>
            </a:r>
            <a:endParaRPr lang="en-US" sz="85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640080"/>
            <a:ext cx="3657600" cy="22860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SECTION 3 SUR 6</a:t>
            </a:r>
            <a:endParaRPr lang="en-US" sz="1100" dirty="0"/>
          </a:p>
        </p:txBody>
      </p:sp>
      <p:sp>
        <p:nvSpPr>
          <p:cNvPr id="4" name="Text 1"/>
          <p:cNvSpPr txBox="1"/>
          <p:nvPr/>
        </p:nvSpPr>
        <p:spPr>
          <a:xfrm>
            <a:off x="502920" y="914400"/>
            <a:ext cx="2743200" cy="1280160"/>
          </a:xfrm>
          <a:prstGeom prst="rect">
            <a:avLst/>
          </a:prstGeom>
          <a:noFill/>
          <a:ln/>
        </p:spPr>
        <p:txBody>
          <a:bodyPr wrap="square" lIns="0" tIns="0" rIns="0" bIns="0" rtlCol="0" anchor="t"/>
          <a:lstStyle/>
          <a:p>
            <a:pPr indent="0" marL="0">
              <a:buNone/>
            </a:pPr>
            <a:r>
              <a:rPr lang="en-US" sz="9600" b="1" dirty="0">
                <a:solidFill>
                  <a:srgbClr val="F5C242"/>
                </a:solidFill>
                <a:latin typeface="Calibri" pitchFamily="34" charset="0"/>
                <a:ea typeface="Calibri" pitchFamily="34" charset="-122"/>
                <a:cs typeface="Calibri" pitchFamily="34" charset="-120"/>
              </a:rPr>
              <a:t>03</a:t>
            </a:r>
            <a:endParaRPr lang="en-US" sz="9600" dirty="0"/>
          </a:p>
        </p:txBody>
      </p:sp>
      <p:sp>
        <p:nvSpPr>
          <p:cNvPr id="5" name="Text 2"/>
          <p:cNvSpPr txBox="1"/>
          <p:nvPr/>
        </p:nvSpPr>
        <p:spPr>
          <a:xfrm>
            <a:off x="548640" y="2331720"/>
            <a:ext cx="5486400" cy="68580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Qualité et biais</a:t>
            </a:r>
            <a:endParaRPr lang="en-US" sz="3600" dirty="0"/>
          </a:p>
        </p:txBody>
      </p:sp>
      <p:sp>
        <p:nvSpPr>
          <p:cNvPr id="6" name="Text 3"/>
          <p:cNvSpPr txBox="1"/>
          <p:nvPr/>
        </p:nvSpPr>
        <p:spPr>
          <a:xfrm>
            <a:off x="548640" y="3108960"/>
            <a:ext cx="475488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Avec dix millions d'enregistrements, comment une source peut-elle se tromper sur tout le monde ?</a:t>
            </a:r>
            <a:endParaRPr lang="en-US" sz="1800" dirty="0"/>
          </a:p>
        </p:txBody>
      </p:sp>
      <p:sp>
        <p:nvSpPr>
          <p:cNvPr id="7" name="Shape 4"/>
          <p:cNvSpPr/>
          <p:nvPr/>
        </p:nvSpPr>
        <p:spPr>
          <a:xfrm>
            <a:off x="566928" y="4343400"/>
            <a:ext cx="100584" cy="100584"/>
          </a:xfrm>
          <a:prstGeom prst="ellipse">
            <a:avLst/>
          </a:prstGeom>
          <a:solidFill>
            <a:srgbClr val="FFFFFF">
              <a:alpha val="35000"/>
            </a:srgbClr>
          </a:solidFill>
          <a:ln/>
        </p:spPr>
      </p:sp>
      <p:sp>
        <p:nvSpPr>
          <p:cNvPr id="8" name="Shape 5"/>
          <p:cNvSpPr/>
          <p:nvPr/>
        </p:nvSpPr>
        <p:spPr>
          <a:xfrm>
            <a:off x="749808" y="4343400"/>
            <a:ext cx="100584" cy="100584"/>
          </a:xfrm>
          <a:prstGeom prst="ellipse">
            <a:avLst/>
          </a:prstGeom>
          <a:solidFill>
            <a:srgbClr val="FFFFFF">
              <a:alpha val="35000"/>
            </a:srgbClr>
          </a:solidFill>
          <a:ln/>
        </p:spPr>
      </p:sp>
      <p:sp>
        <p:nvSpPr>
          <p:cNvPr id="9" name="Shape 6"/>
          <p:cNvSpPr/>
          <p:nvPr/>
        </p:nvSpPr>
        <p:spPr>
          <a:xfrm>
            <a:off x="932688" y="4343400"/>
            <a:ext cx="100584" cy="100584"/>
          </a:xfrm>
          <a:prstGeom prst="ellipse">
            <a:avLst/>
          </a:prstGeom>
          <a:solidFill>
            <a:srgbClr val="F5C242"/>
          </a:solidFill>
          <a:ln/>
        </p:spPr>
      </p:sp>
      <p:sp>
        <p:nvSpPr>
          <p:cNvPr id="10" name="Shape 7"/>
          <p:cNvSpPr/>
          <p:nvPr/>
        </p:nvSpPr>
        <p:spPr>
          <a:xfrm>
            <a:off x="1115568" y="4343400"/>
            <a:ext cx="100584" cy="100584"/>
          </a:xfrm>
          <a:prstGeom prst="ellipse">
            <a:avLst/>
          </a:prstGeom>
          <a:solidFill>
            <a:srgbClr val="FFFFFF">
              <a:alpha val="35000"/>
            </a:srgbClr>
          </a:solidFill>
          <a:ln/>
        </p:spPr>
      </p:sp>
      <p:sp>
        <p:nvSpPr>
          <p:cNvPr id="11" name="Shape 8"/>
          <p:cNvSpPr/>
          <p:nvPr/>
        </p:nvSpPr>
        <p:spPr>
          <a:xfrm>
            <a:off x="1298448" y="4343400"/>
            <a:ext cx="100584" cy="100584"/>
          </a:xfrm>
          <a:prstGeom prst="ellipse">
            <a:avLst/>
          </a:prstGeom>
          <a:solidFill>
            <a:srgbClr val="FFFFFF">
              <a:alpha val="35000"/>
            </a:srgbClr>
          </a:solidFill>
          <a:ln/>
        </p:spPr>
      </p:sp>
      <p:sp>
        <p:nvSpPr>
          <p:cNvPr id="12" name="Shape 9"/>
          <p:cNvSpPr/>
          <p:nvPr/>
        </p:nvSpPr>
        <p:spPr>
          <a:xfrm>
            <a:off x="1481328" y="4343400"/>
            <a:ext cx="100584" cy="100584"/>
          </a:xfrm>
          <a:prstGeom prst="ellipse">
            <a:avLst/>
          </a:prstGeom>
          <a:solidFill>
            <a:srgbClr val="FFFFFF">
              <a:alpha val="35000"/>
            </a:srgbClr>
          </a:solidFill>
          <a:ln/>
        </p:spPr>
      </p:sp>
      <p:sp>
        <p:nvSpPr>
          <p:cNvPr id="13" name="Shape 10"/>
          <p:cNvSpPr/>
          <p:nvPr/>
        </p:nvSpPr>
        <p:spPr>
          <a:xfrm>
            <a:off x="5989320" y="1143000"/>
            <a:ext cx="2651760" cy="2651760"/>
          </a:xfrm>
          <a:prstGeom prst="ellipse">
            <a:avLst/>
          </a:prstGeom>
          <a:solidFill>
            <a:srgbClr val="FFFFFF">
              <a:alpha val="12000"/>
            </a:srgbClr>
          </a:solidFill>
          <a:ln/>
        </p:spPr>
      </p:sp>
      <p:sp>
        <p:nvSpPr>
          <p:cNvPr id="14" name="Shape 11"/>
          <p:cNvSpPr/>
          <p:nvPr/>
        </p:nvSpPr>
        <p:spPr>
          <a:xfrm>
            <a:off x="6355080" y="1508760"/>
            <a:ext cx="1920240" cy="1920240"/>
          </a:xfrm>
          <a:prstGeom prst="ellipse">
            <a:avLst/>
          </a:prstGeom>
          <a:solidFill>
            <a:srgbClr val="FFFFFF">
              <a:alpha val="20000"/>
            </a:srgbClr>
          </a:solidFill>
          <a:ln/>
        </p:spPr>
      </p:sp>
      <p:sp>
        <p:nvSpPr>
          <p:cNvPr id="15" name="Shape 12"/>
          <p:cNvSpPr/>
          <p:nvPr/>
        </p:nvSpPr>
        <p:spPr>
          <a:xfrm>
            <a:off x="6675120" y="1828800"/>
            <a:ext cx="1280160" cy="1280160"/>
          </a:xfrm>
          <a:prstGeom prst="ellipse">
            <a:avLst/>
          </a:prstGeom>
          <a:solidFill>
            <a:srgbClr val="FFFFFF"/>
          </a:solidFill>
          <a:ln/>
        </p:spPr>
      </p:sp>
      <p:pic>
        <p:nvPicPr>
          <p:cNvPr id="16" name="Image 0" descr="preencoded.png">    </p:cNvPr>
          <p:cNvPicPr>
            <a:picLocks noChangeAspect="1"/>
          </p:cNvPicPr>
          <p:nvPr/>
        </p:nvPicPr>
        <p:blipFill>
          <a:blip r:embed="rId2"/>
          <a:stretch>
            <a:fillRect/>
          </a:stretch>
        </p:blipFill>
        <p:spPr>
          <a:xfrm>
            <a:off x="6995160" y="2148840"/>
            <a:ext cx="640080" cy="640080"/>
          </a:xfrm>
          <a:prstGeom prst="rect">
            <a:avLst/>
          </a:prstGeom>
        </p:spPr>
      </p:pic>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QUALITÉ ET BIAIS</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Étendre les cadres de qualité aux données trouvées</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La CEE-ONU propose trois « hyperdimensions », évaluées aux phases d'entrée, de traitement et de sortie.</a:t>
            </a:r>
            <a:endParaRPr lang="en-US" sz="1150" dirty="0"/>
          </a:p>
        </p:txBody>
      </p:sp>
      <p:sp>
        <p:nvSpPr>
          <p:cNvPr id="9" name="Shape 7"/>
          <p:cNvSpPr/>
          <p:nvPr/>
        </p:nvSpPr>
        <p:spPr>
          <a:xfrm>
            <a:off x="7662672" y="329184"/>
            <a:ext cx="100584" cy="100584"/>
          </a:xfrm>
          <a:prstGeom prst="ellipse">
            <a:avLst/>
          </a:prstGeom>
          <a:solidFill>
            <a:srgbClr val="D5DED9"/>
          </a:solidFill>
          <a:ln/>
        </p:spPr>
      </p:sp>
      <p:sp>
        <p:nvSpPr>
          <p:cNvPr id="10" name="Shape 8"/>
          <p:cNvSpPr/>
          <p:nvPr/>
        </p:nvSpPr>
        <p:spPr>
          <a:xfrm>
            <a:off x="7845552" y="329184"/>
            <a:ext cx="100584" cy="100584"/>
          </a:xfrm>
          <a:prstGeom prst="ellipse">
            <a:avLst/>
          </a:prstGeom>
          <a:solidFill>
            <a:srgbClr val="D5DED9"/>
          </a:solidFill>
          <a:ln/>
        </p:spPr>
      </p:sp>
      <p:sp>
        <p:nvSpPr>
          <p:cNvPr id="11" name="Shape 9"/>
          <p:cNvSpPr/>
          <p:nvPr/>
        </p:nvSpPr>
        <p:spPr>
          <a:xfrm>
            <a:off x="8028432" y="329184"/>
            <a:ext cx="100584" cy="100584"/>
          </a:xfrm>
          <a:prstGeom prst="ellipse">
            <a:avLst/>
          </a:prstGeom>
          <a:solidFill>
            <a:srgbClr val="0E7C86"/>
          </a:solidFill>
          <a:ln/>
        </p:spPr>
      </p:sp>
      <p:sp>
        <p:nvSpPr>
          <p:cNvPr id="12" name="Shape 10"/>
          <p:cNvSpPr/>
          <p:nvPr/>
        </p:nvSpPr>
        <p:spPr>
          <a:xfrm>
            <a:off x="8211312" y="329184"/>
            <a:ext cx="100584" cy="100584"/>
          </a:xfrm>
          <a:prstGeom prst="ellipse">
            <a:avLst/>
          </a:prstGeom>
          <a:solidFill>
            <a:srgbClr val="D5DED9"/>
          </a:solidFill>
          <a:ln/>
        </p:spPr>
      </p:sp>
      <p:sp>
        <p:nvSpPr>
          <p:cNvPr id="13" name="Shape 11"/>
          <p:cNvSpPr/>
          <p:nvPr/>
        </p:nvSpPr>
        <p:spPr>
          <a:xfrm>
            <a:off x="8394192" y="329184"/>
            <a:ext cx="100584" cy="100584"/>
          </a:xfrm>
          <a:prstGeom prst="ellipse">
            <a:avLst/>
          </a:prstGeom>
          <a:solidFill>
            <a:srgbClr val="D5DED9"/>
          </a:solidFill>
          <a:ln/>
        </p:spPr>
      </p:sp>
      <p:sp>
        <p:nvSpPr>
          <p:cNvPr id="14" name="Shape 12"/>
          <p:cNvSpPr/>
          <p:nvPr/>
        </p:nvSpPr>
        <p:spPr>
          <a:xfrm>
            <a:off x="8577072" y="329184"/>
            <a:ext cx="100584" cy="100584"/>
          </a:xfrm>
          <a:prstGeom prst="ellipse">
            <a:avLst/>
          </a:prstGeom>
          <a:solidFill>
            <a:srgbClr val="D5DED9"/>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Sources de données non traditionnelles · Le trésor caché · Atelier STG17</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20</a:t>
            </a:r>
            <a:endParaRPr lang="en-US" sz="850" dirty="0"/>
          </a:p>
        </p:txBody>
      </p:sp>
      <p:sp>
        <p:nvSpPr>
          <p:cNvPr id="18" name="Shape 15"/>
          <p:cNvSpPr/>
          <p:nvPr/>
        </p:nvSpPr>
        <p:spPr>
          <a:xfrm>
            <a:off x="457200" y="1417320"/>
            <a:ext cx="2011680" cy="2468880"/>
          </a:xfrm>
          <a:prstGeom prst="roundRect">
            <a:avLst>
              <a:gd name="adj" fmla="val 3636"/>
            </a:avLst>
          </a:prstGeom>
          <a:solidFill>
            <a:srgbClr val="F4F7F5"/>
          </a:solidFill>
          <a:ln w="9525">
            <a:solidFill>
              <a:srgbClr val="D5DED9"/>
            </a:solidFill>
            <a:prstDash val="solid"/>
          </a:ln>
        </p:spPr>
      </p:sp>
      <p:sp>
        <p:nvSpPr>
          <p:cNvPr id="19" name="Shape 16"/>
          <p:cNvSpPr/>
          <p:nvPr/>
        </p:nvSpPr>
        <p:spPr>
          <a:xfrm>
            <a:off x="466344" y="1426464"/>
            <a:ext cx="1993392" cy="18288"/>
          </a:xfrm>
          <a:prstGeom prst="rect">
            <a:avLst/>
          </a:prstGeom>
          <a:solidFill>
            <a:srgbClr val="F4F7F5"/>
          </a:solidFill>
          <a:ln/>
        </p:spPr>
      </p:sp>
      <p:sp>
        <p:nvSpPr>
          <p:cNvPr id="20" name="Shape 17"/>
          <p:cNvSpPr/>
          <p:nvPr/>
        </p:nvSpPr>
        <p:spPr>
          <a:xfrm>
            <a:off x="1188720" y="1554480"/>
            <a:ext cx="548640" cy="548640"/>
          </a:xfrm>
          <a:prstGeom prst="ellipse">
            <a:avLst/>
          </a:prstGeom>
          <a:solidFill>
            <a:srgbClr val="0E7C86">
              <a:alpha val="22000"/>
            </a:srgbClr>
          </a:solidFill>
          <a:ln/>
        </p:spPr>
      </p:sp>
      <p:pic>
        <p:nvPicPr>
          <p:cNvPr id="21" name="Image 0" descr="preencoded.png">    </p:cNvPr>
          <p:cNvPicPr>
            <a:picLocks noChangeAspect="1"/>
          </p:cNvPicPr>
          <p:nvPr/>
        </p:nvPicPr>
        <p:blipFill>
          <a:blip r:embed="rId1"/>
          <a:stretch>
            <a:fillRect/>
          </a:stretch>
        </p:blipFill>
        <p:spPr>
          <a:xfrm>
            <a:off x="1325880" y="1691640"/>
            <a:ext cx="274320" cy="274320"/>
          </a:xfrm>
          <a:prstGeom prst="rect">
            <a:avLst/>
          </a:prstGeom>
        </p:spPr>
      </p:pic>
      <p:sp>
        <p:nvSpPr>
          <p:cNvPr id="22" name="Text 18"/>
          <p:cNvSpPr txBox="1"/>
          <p:nvPr/>
        </p:nvSpPr>
        <p:spPr>
          <a:xfrm>
            <a:off x="457200" y="2176272"/>
            <a:ext cx="2011680" cy="256032"/>
          </a:xfrm>
          <a:prstGeom prst="rect">
            <a:avLst/>
          </a:prstGeom>
          <a:noFill/>
          <a:ln/>
        </p:spPr>
        <p:txBody>
          <a:bodyPr wrap="square" lIns="0" tIns="0" rIns="0" bIns="0" rtlCol="0" anchor="t"/>
          <a:lstStyle/>
          <a:p>
            <a:pPr algn="ctr" indent="0" marL="0">
              <a:buNone/>
            </a:pPr>
            <a:r>
              <a:rPr lang="en-US" sz="1400" b="1" spc="200" kern="0" dirty="0">
                <a:solidFill>
                  <a:srgbClr val="0E7C86"/>
                </a:solidFill>
                <a:latin typeface="Calibri" pitchFamily="34" charset="0"/>
                <a:ea typeface="Calibri" pitchFamily="34" charset="-122"/>
                <a:cs typeface="Calibri" pitchFamily="34" charset="-120"/>
              </a:rPr>
              <a:t>SOURCE</a:t>
            </a:r>
            <a:endParaRPr lang="en-US" sz="1400" dirty="0"/>
          </a:p>
        </p:txBody>
      </p:sp>
      <p:sp>
        <p:nvSpPr>
          <p:cNvPr id="23" name="Text 19"/>
          <p:cNvSpPr txBox="1"/>
          <p:nvPr/>
        </p:nvSpPr>
        <p:spPr>
          <a:xfrm>
            <a:off x="502920" y="2432304"/>
            <a:ext cx="1920240" cy="274320"/>
          </a:xfrm>
          <a:prstGeom prst="rect">
            <a:avLst/>
          </a:prstGeom>
          <a:noFill/>
          <a:ln/>
        </p:spPr>
        <p:txBody>
          <a:bodyPr wrap="square" lIns="0" tIns="0" rIns="0" bIns="0" rtlCol="0" anchor="t"/>
          <a:lstStyle/>
          <a:p>
            <a:pPr algn="ctr" indent="0" marL="0">
              <a:buNone/>
            </a:pPr>
            <a:r>
              <a:rPr lang="en-US" sz="950" i="1" dirty="0">
                <a:solidFill>
                  <a:srgbClr val="5E6964"/>
                </a:solidFill>
                <a:latin typeface="Calibri" pitchFamily="34" charset="0"/>
                <a:ea typeface="Calibri" pitchFamily="34" charset="-122"/>
                <a:cs typeface="Calibri" pitchFamily="34" charset="-120"/>
              </a:rPr>
              <a:t>Le fournisseur et son environnement</a:t>
            </a:r>
            <a:endParaRPr lang="en-US" sz="950" dirty="0"/>
          </a:p>
        </p:txBody>
      </p:sp>
      <p:sp>
        <p:nvSpPr>
          <p:cNvPr id="24" name="Text 20"/>
          <p:cNvSpPr txBox="1"/>
          <p:nvPr/>
        </p:nvSpPr>
        <p:spPr>
          <a:xfrm>
            <a:off x="566928" y="2743200"/>
            <a:ext cx="1828800" cy="1097280"/>
          </a:xfrm>
          <a:prstGeom prst="rect">
            <a:avLst/>
          </a:prstGeom>
          <a:noFill/>
          <a:ln/>
        </p:spPr>
        <p:txBody>
          <a:bodyPr wrap="square" lIns="0" tIns="0" rIns="0" bIns="0" rtlCol="0" anchor="t"/>
          <a:lstStyle/>
          <a:p>
            <a:pPr marL="152400" indent="-1524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Environnement institutionnel et commercial</a:t>
            </a:r>
            <a:endParaRPr lang="en-US" sz="1000" dirty="0"/>
          </a:p>
          <a:p>
            <a:pPr marL="152400" indent="-1524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Confidentialité et sécurité</a:t>
            </a:r>
            <a:endParaRPr lang="en-US" sz="1000" dirty="0"/>
          </a:p>
        </p:txBody>
      </p:sp>
      <p:sp>
        <p:nvSpPr>
          <p:cNvPr id="25" name="Shape 21"/>
          <p:cNvSpPr/>
          <p:nvPr/>
        </p:nvSpPr>
        <p:spPr>
          <a:xfrm>
            <a:off x="2606040" y="1417320"/>
            <a:ext cx="2011680" cy="2468880"/>
          </a:xfrm>
          <a:prstGeom prst="roundRect">
            <a:avLst>
              <a:gd name="adj" fmla="val 3636"/>
            </a:avLst>
          </a:prstGeom>
          <a:solidFill>
            <a:srgbClr val="F4F7F5"/>
          </a:solidFill>
          <a:ln w="9525">
            <a:solidFill>
              <a:srgbClr val="D5DED9"/>
            </a:solidFill>
            <a:prstDash val="solid"/>
          </a:ln>
        </p:spPr>
      </p:sp>
      <p:sp>
        <p:nvSpPr>
          <p:cNvPr id="26" name="Shape 22"/>
          <p:cNvSpPr/>
          <p:nvPr/>
        </p:nvSpPr>
        <p:spPr>
          <a:xfrm>
            <a:off x="2615184" y="1426464"/>
            <a:ext cx="1993392" cy="18288"/>
          </a:xfrm>
          <a:prstGeom prst="rect">
            <a:avLst/>
          </a:prstGeom>
          <a:solidFill>
            <a:srgbClr val="F4F7F5"/>
          </a:solidFill>
          <a:ln/>
        </p:spPr>
      </p:sp>
      <p:sp>
        <p:nvSpPr>
          <p:cNvPr id="27" name="Shape 23"/>
          <p:cNvSpPr/>
          <p:nvPr/>
        </p:nvSpPr>
        <p:spPr>
          <a:xfrm>
            <a:off x="3337560" y="1554480"/>
            <a:ext cx="548640" cy="548640"/>
          </a:xfrm>
          <a:prstGeom prst="ellipse">
            <a:avLst/>
          </a:prstGeom>
          <a:solidFill>
            <a:srgbClr val="00704A">
              <a:alpha val="22000"/>
            </a:srgbClr>
          </a:solidFill>
          <a:ln/>
        </p:spPr>
      </p:sp>
      <p:pic>
        <p:nvPicPr>
          <p:cNvPr id="28" name="Image 1" descr="preencoded.png">    </p:cNvPr>
          <p:cNvPicPr>
            <a:picLocks noChangeAspect="1"/>
          </p:cNvPicPr>
          <p:nvPr/>
        </p:nvPicPr>
        <p:blipFill>
          <a:blip r:embed="rId2"/>
          <a:stretch>
            <a:fillRect/>
          </a:stretch>
        </p:blipFill>
        <p:spPr>
          <a:xfrm>
            <a:off x="3474720" y="1691640"/>
            <a:ext cx="274320" cy="274320"/>
          </a:xfrm>
          <a:prstGeom prst="rect">
            <a:avLst/>
          </a:prstGeom>
        </p:spPr>
      </p:pic>
      <p:sp>
        <p:nvSpPr>
          <p:cNvPr id="29" name="Text 24"/>
          <p:cNvSpPr txBox="1"/>
          <p:nvPr/>
        </p:nvSpPr>
        <p:spPr>
          <a:xfrm>
            <a:off x="2606040" y="2176272"/>
            <a:ext cx="2011680" cy="256032"/>
          </a:xfrm>
          <a:prstGeom prst="rect">
            <a:avLst/>
          </a:prstGeom>
          <a:noFill/>
          <a:ln/>
        </p:spPr>
        <p:txBody>
          <a:bodyPr wrap="square" lIns="0" tIns="0" rIns="0" bIns="0" rtlCol="0" anchor="t"/>
          <a:lstStyle/>
          <a:p>
            <a:pPr algn="ctr" indent="0" marL="0">
              <a:buNone/>
            </a:pPr>
            <a:r>
              <a:rPr lang="en-US" sz="1400" b="1" spc="200" kern="0" dirty="0">
                <a:solidFill>
                  <a:srgbClr val="00704A"/>
                </a:solidFill>
                <a:latin typeface="Calibri" pitchFamily="34" charset="0"/>
                <a:ea typeface="Calibri" pitchFamily="34" charset="-122"/>
                <a:cs typeface="Calibri" pitchFamily="34" charset="-120"/>
              </a:rPr>
              <a:t>MÉTADONNÉES</a:t>
            </a:r>
            <a:endParaRPr lang="en-US" sz="1400" dirty="0"/>
          </a:p>
        </p:txBody>
      </p:sp>
      <p:sp>
        <p:nvSpPr>
          <p:cNvPr id="30" name="Text 25"/>
          <p:cNvSpPr txBox="1"/>
          <p:nvPr/>
        </p:nvSpPr>
        <p:spPr>
          <a:xfrm>
            <a:off x="2651760" y="2432304"/>
            <a:ext cx="1920240" cy="274320"/>
          </a:xfrm>
          <a:prstGeom prst="rect">
            <a:avLst/>
          </a:prstGeom>
          <a:noFill/>
          <a:ln/>
        </p:spPr>
        <p:txBody>
          <a:bodyPr wrap="square" lIns="0" tIns="0" rIns="0" bIns="0" rtlCol="0" anchor="t"/>
          <a:lstStyle/>
          <a:p>
            <a:pPr algn="ctr" indent="0" marL="0">
              <a:buNone/>
            </a:pPr>
            <a:r>
              <a:rPr lang="en-US" sz="950" i="1" dirty="0">
                <a:solidFill>
                  <a:srgbClr val="5E6964"/>
                </a:solidFill>
                <a:latin typeface="Calibri" pitchFamily="34" charset="0"/>
                <a:ea typeface="Calibri" pitchFamily="34" charset="-122"/>
                <a:cs typeface="Calibri" pitchFamily="34" charset="-120"/>
              </a:rPr>
              <a:t>Ce que l'on sait des données</a:t>
            </a:r>
            <a:endParaRPr lang="en-US" sz="950" dirty="0"/>
          </a:p>
        </p:txBody>
      </p:sp>
      <p:sp>
        <p:nvSpPr>
          <p:cNvPr id="31" name="Text 26"/>
          <p:cNvSpPr txBox="1"/>
          <p:nvPr/>
        </p:nvSpPr>
        <p:spPr>
          <a:xfrm>
            <a:off x="2715768" y="2743200"/>
            <a:ext cx="1828800" cy="1097280"/>
          </a:xfrm>
          <a:prstGeom prst="rect">
            <a:avLst/>
          </a:prstGeom>
          <a:noFill/>
          <a:ln/>
        </p:spPr>
        <p:txBody>
          <a:bodyPr wrap="square" lIns="0" tIns="0" rIns="0" bIns="0" rtlCol="0" anchor="t"/>
          <a:lstStyle/>
          <a:p>
            <a:pPr marL="152400" indent="-1524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Complexité et exhaustivité</a:t>
            </a:r>
            <a:endParaRPr lang="en-US" sz="1000" dirty="0"/>
          </a:p>
          <a:p>
            <a:pPr marL="152400" indent="-1524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Utilisabilité et appariement</a:t>
            </a:r>
            <a:endParaRPr lang="en-US" sz="1000" dirty="0"/>
          </a:p>
          <a:p>
            <a:pPr marL="152400" indent="-1524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Facteurs temporels</a:t>
            </a:r>
            <a:endParaRPr lang="en-US" sz="1000" dirty="0"/>
          </a:p>
        </p:txBody>
      </p:sp>
      <p:sp>
        <p:nvSpPr>
          <p:cNvPr id="32" name="Shape 27"/>
          <p:cNvSpPr/>
          <p:nvPr/>
        </p:nvSpPr>
        <p:spPr>
          <a:xfrm>
            <a:off x="4754880" y="1417320"/>
            <a:ext cx="2011680" cy="2468880"/>
          </a:xfrm>
          <a:prstGeom prst="roundRect">
            <a:avLst>
              <a:gd name="adj" fmla="val 3636"/>
            </a:avLst>
          </a:prstGeom>
          <a:solidFill>
            <a:srgbClr val="F4F7F5"/>
          </a:solidFill>
          <a:ln w="9525">
            <a:solidFill>
              <a:srgbClr val="D5DED9"/>
            </a:solidFill>
            <a:prstDash val="solid"/>
          </a:ln>
        </p:spPr>
      </p:sp>
      <p:sp>
        <p:nvSpPr>
          <p:cNvPr id="33" name="Shape 28"/>
          <p:cNvSpPr/>
          <p:nvPr/>
        </p:nvSpPr>
        <p:spPr>
          <a:xfrm>
            <a:off x="4764024" y="1426464"/>
            <a:ext cx="1993392" cy="18288"/>
          </a:xfrm>
          <a:prstGeom prst="rect">
            <a:avLst/>
          </a:prstGeom>
          <a:solidFill>
            <a:srgbClr val="F4F7F5"/>
          </a:solidFill>
          <a:ln/>
        </p:spPr>
      </p:sp>
      <p:sp>
        <p:nvSpPr>
          <p:cNvPr id="34" name="Shape 29"/>
          <p:cNvSpPr/>
          <p:nvPr/>
        </p:nvSpPr>
        <p:spPr>
          <a:xfrm>
            <a:off x="5486400" y="1554480"/>
            <a:ext cx="548640" cy="548640"/>
          </a:xfrm>
          <a:prstGeom prst="ellipse">
            <a:avLst/>
          </a:prstGeom>
          <a:solidFill>
            <a:srgbClr val="00A86A">
              <a:alpha val="22000"/>
            </a:srgbClr>
          </a:solidFill>
          <a:ln/>
        </p:spPr>
      </p:sp>
      <p:pic>
        <p:nvPicPr>
          <p:cNvPr id="35" name="Image 2" descr="preencoded.png">    </p:cNvPr>
          <p:cNvPicPr>
            <a:picLocks noChangeAspect="1"/>
          </p:cNvPicPr>
          <p:nvPr/>
        </p:nvPicPr>
        <p:blipFill>
          <a:blip r:embed="rId3"/>
          <a:stretch>
            <a:fillRect/>
          </a:stretch>
        </p:blipFill>
        <p:spPr>
          <a:xfrm>
            <a:off x="5623560" y="1691640"/>
            <a:ext cx="274320" cy="274320"/>
          </a:xfrm>
          <a:prstGeom prst="rect">
            <a:avLst/>
          </a:prstGeom>
        </p:spPr>
      </p:pic>
      <p:sp>
        <p:nvSpPr>
          <p:cNvPr id="36" name="Text 30"/>
          <p:cNvSpPr txBox="1"/>
          <p:nvPr/>
        </p:nvSpPr>
        <p:spPr>
          <a:xfrm>
            <a:off x="4754880" y="2176272"/>
            <a:ext cx="2011680" cy="256032"/>
          </a:xfrm>
          <a:prstGeom prst="rect">
            <a:avLst/>
          </a:prstGeom>
          <a:noFill/>
          <a:ln/>
        </p:spPr>
        <p:txBody>
          <a:bodyPr wrap="square" lIns="0" tIns="0" rIns="0" bIns="0" rtlCol="0" anchor="t"/>
          <a:lstStyle/>
          <a:p>
            <a:pPr algn="ctr" indent="0" marL="0">
              <a:buNone/>
            </a:pPr>
            <a:r>
              <a:rPr lang="en-US" sz="1400" b="1" spc="200" kern="0" dirty="0">
                <a:solidFill>
                  <a:srgbClr val="00A86A"/>
                </a:solidFill>
                <a:latin typeface="Calibri" pitchFamily="34" charset="0"/>
                <a:ea typeface="Calibri" pitchFamily="34" charset="-122"/>
                <a:cs typeface="Calibri" pitchFamily="34" charset="-120"/>
              </a:rPr>
              <a:t>DONNÉES</a:t>
            </a:r>
            <a:endParaRPr lang="en-US" sz="1400" dirty="0"/>
          </a:p>
        </p:txBody>
      </p:sp>
      <p:sp>
        <p:nvSpPr>
          <p:cNvPr id="37" name="Text 31"/>
          <p:cNvSpPr txBox="1"/>
          <p:nvPr/>
        </p:nvSpPr>
        <p:spPr>
          <a:xfrm>
            <a:off x="4800600" y="2432304"/>
            <a:ext cx="1920240" cy="274320"/>
          </a:xfrm>
          <a:prstGeom prst="rect">
            <a:avLst/>
          </a:prstGeom>
          <a:noFill/>
          <a:ln/>
        </p:spPr>
        <p:txBody>
          <a:bodyPr wrap="square" lIns="0" tIns="0" rIns="0" bIns="0" rtlCol="0" anchor="t"/>
          <a:lstStyle/>
          <a:p>
            <a:pPr algn="ctr" indent="0" marL="0">
              <a:buNone/>
            </a:pPr>
            <a:r>
              <a:rPr lang="en-US" sz="950" i="1" dirty="0">
                <a:solidFill>
                  <a:srgbClr val="5E6964"/>
                </a:solidFill>
                <a:latin typeface="Calibri" pitchFamily="34" charset="0"/>
                <a:ea typeface="Calibri" pitchFamily="34" charset="-122"/>
                <a:cs typeface="Calibri" pitchFamily="34" charset="-120"/>
              </a:rPr>
              <a:t>Les enregistrements eux-mêmes</a:t>
            </a:r>
            <a:endParaRPr lang="en-US" sz="950" dirty="0"/>
          </a:p>
        </p:txBody>
      </p:sp>
      <p:sp>
        <p:nvSpPr>
          <p:cNvPr id="38" name="Text 32"/>
          <p:cNvSpPr txBox="1"/>
          <p:nvPr/>
        </p:nvSpPr>
        <p:spPr>
          <a:xfrm>
            <a:off x="4864608" y="2743200"/>
            <a:ext cx="1828800" cy="1097280"/>
          </a:xfrm>
          <a:prstGeom prst="rect">
            <a:avLst/>
          </a:prstGeom>
          <a:noFill/>
          <a:ln/>
        </p:spPr>
        <p:txBody>
          <a:bodyPr wrap="square" lIns="0" tIns="0" rIns="0" bIns="0" rtlCol="0" anchor="t"/>
          <a:lstStyle/>
          <a:p>
            <a:pPr marL="152400" indent="-1524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Exactitude et sélectivité</a:t>
            </a:r>
            <a:endParaRPr lang="en-US" sz="1000" dirty="0"/>
          </a:p>
          <a:p>
            <a:pPr marL="152400" indent="-1524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Cohérence et validité</a:t>
            </a:r>
            <a:endParaRPr lang="en-US" sz="1000" dirty="0"/>
          </a:p>
          <a:p>
            <a:pPr marL="152400" indent="-152400">
              <a:spcAft>
                <a:spcPts val="300"/>
              </a:spcAft>
              <a:buSzPct val="100000"/>
              <a:buChar char="•"/>
            </a:pPr>
            <a:r>
              <a:rPr lang="en-US" sz="1000" dirty="0">
                <a:solidFill>
                  <a:srgbClr val="231F20"/>
                </a:solidFill>
                <a:latin typeface="Calibri" pitchFamily="34" charset="0"/>
                <a:ea typeface="Calibri" pitchFamily="34" charset="-122"/>
                <a:cs typeface="Calibri" pitchFamily="34" charset="-120"/>
              </a:rPr>
              <a:t>Appariement et actualité</a:t>
            </a:r>
            <a:endParaRPr lang="en-US" sz="1000" dirty="0"/>
          </a:p>
        </p:txBody>
      </p:sp>
      <p:sp>
        <p:nvSpPr>
          <p:cNvPr id="39" name="Text 33"/>
          <p:cNvSpPr txBox="1"/>
          <p:nvPr/>
        </p:nvSpPr>
        <p:spPr>
          <a:xfrm>
            <a:off x="6995160" y="1417320"/>
            <a:ext cx="1737360" cy="201168"/>
          </a:xfrm>
          <a:prstGeom prst="rect">
            <a:avLst/>
          </a:prstGeom>
          <a:noFill/>
          <a:ln/>
        </p:spPr>
        <p:txBody>
          <a:bodyPr wrap="square" lIns="0" tIns="0" rIns="0" bIns="0" rtlCol="0" anchor="t"/>
          <a:lstStyle/>
          <a:p>
            <a:pPr indent="0" marL="0">
              <a:buNone/>
            </a:pPr>
            <a:r>
              <a:rPr lang="en-US" sz="950" b="1" spc="100" kern="0" dirty="0">
                <a:solidFill>
                  <a:srgbClr val="00704A"/>
                </a:solidFill>
                <a:latin typeface="Calibri" pitchFamily="34" charset="0"/>
                <a:ea typeface="Calibri" pitchFamily="34" charset="-122"/>
                <a:cs typeface="Calibri" pitchFamily="34" charset="-120"/>
              </a:rPr>
              <a:t>ÉVALUÉES À TROIS PHASES</a:t>
            </a:r>
            <a:endParaRPr lang="en-US" sz="950" dirty="0"/>
          </a:p>
        </p:txBody>
      </p:sp>
      <p:sp>
        <p:nvSpPr>
          <p:cNvPr id="40" name="Shape 34"/>
          <p:cNvSpPr/>
          <p:nvPr/>
        </p:nvSpPr>
        <p:spPr>
          <a:xfrm>
            <a:off x="6995160" y="1691640"/>
            <a:ext cx="1691640" cy="621792"/>
          </a:xfrm>
          <a:prstGeom prst="roundRect">
            <a:avLst>
              <a:gd name="adj" fmla="val 8824"/>
            </a:avLst>
          </a:prstGeom>
          <a:solidFill>
            <a:srgbClr val="E8F5EF"/>
          </a:solidFill>
          <a:ln w="12700">
            <a:solidFill>
              <a:srgbClr val="0E7C86"/>
            </a:solidFill>
            <a:prstDash val="solid"/>
          </a:ln>
        </p:spPr>
      </p:sp>
      <p:sp>
        <p:nvSpPr>
          <p:cNvPr id="41" name="Text 35"/>
          <p:cNvSpPr txBox="1"/>
          <p:nvPr/>
        </p:nvSpPr>
        <p:spPr>
          <a:xfrm>
            <a:off x="7086600" y="1737360"/>
            <a:ext cx="1554480" cy="228600"/>
          </a:xfrm>
          <a:prstGeom prst="rect">
            <a:avLst/>
          </a:prstGeom>
          <a:noFill/>
          <a:ln/>
        </p:spPr>
        <p:txBody>
          <a:bodyPr wrap="square" lIns="0" tIns="0" rIns="0" bIns="0" rtlCol="0" anchor="t"/>
          <a:lstStyle/>
          <a:p>
            <a:pPr indent="0" marL="0">
              <a:buNone/>
            </a:pPr>
            <a:r>
              <a:rPr lang="en-US" sz="1200" b="1" dirty="0">
                <a:solidFill>
                  <a:srgbClr val="0E7C86"/>
                </a:solidFill>
                <a:latin typeface="Calibri" pitchFamily="34" charset="0"/>
                <a:ea typeface="Calibri" pitchFamily="34" charset="-122"/>
                <a:cs typeface="Calibri" pitchFamily="34" charset="-120"/>
              </a:rPr>
              <a:t>Entrée</a:t>
            </a:r>
            <a:endParaRPr lang="en-US" sz="1200" dirty="0"/>
          </a:p>
        </p:txBody>
      </p:sp>
      <p:sp>
        <p:nvSpPr>
          <p:cNvPr id="42" name="Text 36"/>
          <p:cNvSpPr txBox="1"/>
          <p:nvPr/>
        </p:nvSpPr>
        <p:spPr>
          <a:xfrm>
            <a:off x="7086600" y="1965960"/>
            <a:ext cx="1554480" cy="32004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Accepter cette source ?</a:t>
            </a:r>
            <a:endParaRPr lang="en-US" sz="950" dirty="0"/>
          </a:p>
        </p:txBody>
      </p:sp>
      <p:sp>
        <p:nvSpPr>
          <p:cNvPr id="43" name="Shape 37"/>
          <p:cNvSpPr/>
          <p:nvPr/>
        </p:nvSpPr>
        <p:spPr>
          <a:xfrm>
            <a:off x="7840980" y="2313432"/>
            <a:ext cx="0" cy="128016"/>
          </a:xfrm>
          <a:prstGeom prst="line">
            <a:avLst/>
          </a:prstGeom>
          <a:noFill/>
          <a:ln w="12700">
            <a:solidFill>
              <a:srgbClr val="5E6964"/>
            </a:solidFill>
            <a:prstDash val="solid"/>
            <a:tailEnd type="triangle"/>
          </a:ln>
        </p:spPr>
      </p:sp>
      <p:sp>
        <p:nvSpPr>
          <p:cNvPr id="44" name="Shape 38"/>
          <p:cNvSpPr/>
          <p:nvPr/>
        </p:nvSpPr>
        <p:spPr>
          <a:xfrm>
            <a:off x="6995160" y="2441448"/>
            <a:ext cx="1691640" cy="621792"/>
          </a:xfrm>
          <a:prstGeom prst="roundRect">
            <a:avLst>
              <a:gd name="adj" fmla="val 8824"/>
            </a:avLst>
          </a:prstGeom>
          <a:solidFill>
            <a:srgbClr val="E8F5EF"/>
          </a:solidFill>
          <a:ln w="12700">
            <a:solidFill>
              <a:srgbClr val="0E7C86"/>
            </a:solidFill>
            <a:prstDash val="solid"/>
          </a:ln>
        </p:spPr>
      </p:sp>
      <p:sp>
        <p:nvSpPr>
          <p:cNvPr id="45" name="Text 39"/>
          <p:cNvSpPr txBox="1"/>
          <p:nvPr/>
        </p:nvSpPr>
        <p:spPr>
          <a:xfrm>
            <a:off x="7086600" y="2487168"/>
            <a:ext cx="1554480" cy="228600"/>
          </a:xfrm>
          <a:prstGeom prst="rect">
            <a:avLst/>
          </a:prstGeom>
          <a:noFill/>
          <a:ln/>
        </p:spPr>
        <p:txBody>
          <a:bodyPr wrap="square" lIns="0" tIns="0" rIns="0" bIns="0" rtlCol="0" anchor="t"/>
          <a:lstStyle/>
          <a:p>
            <a:pPr indent="0" marL="0">
              <a:buNone/>
            </a:pPr>
            <a:r>
              <a:rPr lang="en-US" sz="1200" b="1" dirty="0">
                <a:solidFill>
                  <a:srgbClr val="0E7C86"/>
                </a:solidFill>
                <a:latin typeface="Calibri" pitchFamily="34" charset="0"/>
                <a:ea typeface="Calibri" pitchFamily="34" charset="-122"/>
                <a:cs typeface="Calibri" pitchFamily="34" charset="-120"/>
              </a:rPr>
              <a:t>Traitement</a:t>
            </a:r>
            <a:endParaRPr lang="en-US" sz="1200" dirty="0"/>
          </a:p>
        </p:txBody>
      </p:sp>
      <p:sp>
        <p:nvSpPr>
          <p:cNvPr id="46" name="Text 40"/>
          <p:cNvSpPr txBox="1"/>
          <p:nvPr/>
        </p:nvSpPr>
        <p:spPr>
          <a:xfrm>
            <a:off x="7086600" y="2715768"/>
            <a:ext cx="1554480" cy="32004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Est-il solide et stable ?</a:t>
            </a:r>
            <a:endParaRPr lang="en-US" sz="950" dirty="0"/>
          </a:p>
        </p:txBody>
      </p:sp>
      <p:sp>
        <p:nvSpPr>
          <p:cNvPr id="47" name="Shape 41"/>
          <p:cNvSpPr/>
          <p:nvPr/>
        </p:nvSpPr>
        <p:spPr>
          <a:xfrm>
            <a:off x="7840980" y="3063240"/>
            <a:ext cx="0" cy="128016"/>
          </a:xfrm>
          <a:prstGeom prst="line">
            <a:avLst/>
          </a:prstGeom>
          <a:noFill/>
          <a:ln w="12700">
            <a:solidFill>
              <a:srgbClr val="5E6964"/>
            </a:solidFill>
            <a:prstDash val="solid"/>
            <a:tailEnd type="triangle"/>
          </a:ln>
        </p:spPr>
      </p:sp>
      <p:sp>
        <p:nvSpPr>
          <p:cNvPr id="48" name="Shape 42"/>
          <p:cNvSpPr/>
          <p:nvPr/>
        </p:nvSpPr>
        <p:spPr>
          <a:xfrm>
            <a:off x="6995160" y="3191256"/>
            <a:ext cx="1691640" cy="621792"/>
          </a:xfrm>
          <a:prstGeom prst="roundRect">
            <a:avLst>
              <a:gd name="adj" fmla="val 8824"/>
            </a:avLst>
          </a:prstGeom>
          <a:solidFill>
            <a:srgbClr val="E8F5EF"/>
          </a:solidFill>
          <a:ln w="12700">
            <a:solidFill>
              <a:srgbClr val="0E7C86"/>
            </a:solidFill>
            <a:prstDash val="solid"/>
          </a:ln>
        </p:spPr>
      </p:sp>
      <p:sp>
        <p:nvSpPr>
          <p:cNvPr id="49" name="Text 43"/>
          <p:cNvSpPr txBox="1"/>
          <p:nvPr/>
        </p:nvSpPr>
        <p:spPr>
          <a:xfrm>
            <a:off x="7086600" y="3236976"/>
            <a:ext cx="1554480" cy="228600"/>
          </a:xfrm>
          <a:prstGeom prst="rect">
            <a:avLst/>
          </a:prstGeom>
          <a:noFill/>
          <a:ln/>
        </p:spPr>
        <p:txBody>
          <a:bodyPr wrap="square" lIns="0" tIns="0" rIns="0" bIns="0" rtlCol="0" anchor="t"/>
          <a:lstStyle/>
          <a:p>
            <a:pPr indent="0" marL="0">
              <a:buNone/>
            </a:pPr>
            <a:r>
              <a:rPr lang="en-US" sz="1200" b="1" dirty="0">
                <a:solidFill>
                  <a:srgbClr val="0E7C86"/>
                </a:solidFill>
                <a:latin typeface="Calibri" pitchFamily="34" charset="0"/>
                <a:ea typeface="Calibri" pitchFamily="34" charset="-122"/>
                <a:cs typeface="Calibri" pitchFamily="34" charset="-120"/>
              </a:rPr>
              <a:t>Sortie</a:t>
            </a:r>
            <a:endParaRPr lang="en-US" sz="1200" dirty="0"/>
          </a:p>
        </p:txBody>
      </p:sp>
      <p:sp>
        <p:nvSpPr>
          <p:cNvPr id="50" name="Text 44"/>
          <p:cNvSpPr txBox="1"/>
          <p:nvPr/>
        </p:nvSpPr>
        <p:spPr>
          <a:xfrm>
            <a:off x="7086600" y="3465576"/>
            <a:ext cx="1554480" cy="32004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Le produit est-il publiable ?</a:t>
            </a:r>
            <a:endParaRPr lang="en-US" sz="950" dirty="0"/>
          </a:p>
        </p:txBody>
      </p:sp>
      <p:sp>
        <p:nvSpPr>
          <p:cNvPr id="51" name="Shape 45"/>
          <p:cNvSpPr/>
          <p:nvPr/>
        </p:nvSpPr>
        <p:spPr>
          <a:xfrm>
            <a:off x="457200" y="4005072"/>
            <a:ext cx="8229600" cy="530352"/>
          </a:xfrm>
          <a:prstGeom prst="roundRect">
            <a:avLst>
              <a:gd name="adj" fmla="val 10345"/>
            </a:avLst>
          </a:prstGeom>
          <a:solidFill>
            <a:srgbClr val="0E7C86">
              <a:alpha val="13000"/>
            </a:srgbClr>
          </a:solidFill>
          <a:ln w="12700">
            <a:solidFill>
              <a:srgbClr val="0E7C86"/>
            </a:solidFill>
            <a:prstDash val="solid"/>
          </a:ln>
        </p:spPr>
      </p:sp>
      <p:pic>
        <p:nvPicPr>
          <p:cNvPr id="52" name="Image 3" descr="preencoded.png">    </p:cNvPr>
          <p:cNvPicPr>
            <a:picLocks noChangeAspect="1"/>
          </p:cNvPicPr>
          <p:nvPr/>
        </p:nvPicPr>
        <p:blipFill>
          <a:blip r:embed="rId4"/>
          <a:stretch>
            <a:fillRect/>
          </a:stretch>
        </p:blipFill>
        <p:spPr>
          <a:xfrm>
            <a:off x="585216" y="4133088"/>
            <a:ext cx="274320" cy="274320"/>
          </a:xfrm>
          <a:prstGeom prst="rect">
            <a:avLst/>
          </a:prstGeom>
        </p:spPr>
      </p:pic>
      <p:sp>
        <p:nvSpPr>
          <p:cNvPr id="53" name="Text 46"/>
          <p:cNvSpPr txBox="1"/>
          <p:nvPr/>
        </p:nvSpPr>
        <p:spPr>
          <a:xfrm>
            <a:off x="987552" y="4059936"/>
            <a:ext cx="7571232" cy="420624"/>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Des questions nouvelles : cette source existera-t-elle encore dans trois ans ? Quelle solution de repli si le fournisseur se retire ?</a:t>
            </a:r>
            <a:endParaRPr lang="en-US" sz="1100" dirty="0"/>
          </a:p>
        </p:txBody>
      </p:sp>
      <p:sp>
        <p:nvSpPr>
          <p:cNvPr id="54" name="Text 47"/>
          <p:cNvSpPr txBox="1"/>
          <p:nvPr/>
        </p:nvSpPr>
        <p:spPr>
          <a:xfrm>
            <a:off x="457200" y="4626864"/>
            <a:ext cx="749808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Source : CEE-ONU (2014), A Suggested Framework for the Quality of Big Data, équipe spéciale sur la qualité du big data (HLG-MOS).</a:t>
            </a:r>
            <a:endParaRPr lang="en-US" sz="85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QUALITÉ ET BIAIS</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Le paradoxe du big data : le volume ne corrige pas le biais</a:t>
            </a:r>
            <a:endParaRPr lang="en-US" sz="2400" dirty="0"/>
          </a:p>
        </p:txBody>
      </p:sp>
      <p:sp>
        <p:nvSpPr>
          <p:cNvPr id="8" name="Shape 6"/>
          <p:cNvSpPr/>
          <p:nvPr/>
        </p:nvSpPr>
        <p:spPr>
          <a:xfrm>
            <a:off x="7662672" y="329184"/>
            <a:ext cx="100584" cy="100584"/>
          </a:xfrm>
          <a:prstGeom prst="ellipse">
            <a:avLst/>
          </a:prstGeom>
          <a:solidFill>
            <a:srgbClr val="D5DED9"/>
          </a:solidFill>
          <a:ln/>
        </p:spPr>
      </p:sp>
      <p:sp>
        <p:nvSpPr>
          <p:cNvPr id="9" name="Shape 7"/>
          <p:cNvSpPr/>
          <p:nvPr/>
        </p:nvSpPr>
        <p:spPr>
          <a:xfrm>
            <a:off x="7845552" y="329184"/>
            <a:ext cx="100584" cy="100584"/>
          </a:xfrm>
          <a:prstGeom prst="ellipse">
            <a:avLst/>
          </a:prstGeom>
          <a:solidFill>
            <a:srgbClr val="D5DED9"/>
          </a:solidFill>
          <a:ln/>
        </p:spPr>
      </p:sp>
      <p:sp>
        <p:nvSpPr>
          <p:cNvPr id="10" name="Shape 8"/>
          <p:cNvSpPr/>
          <p:nvPr/>
        </p:nvSpPr>
        <p:spPr>
          <a:xfrm>
            <a:off x="8028432" y="329184"/>
            <a:ext cx="100584" cy="100584"/>
          </a:xfrm>
          <a:prstGeom prst="ellipse">
            <a:avLst/>
          </a:prstGeom>
          <a:solidFill>
            <a:srgbClr val="0E7C86"/>
          </a:solidFill>
          <a:ln/>
        </p:spPr>
      </p:sp>
      <p:sp>
        <p:nvSpPr>
          <p:cNvPr id="11" name="Shape 9"/>
          <p:cNvSpPr/>
          <p:nvPr/>
        </p:nvSpPr>
        <p:spPr>
          <a:xfrm>
            <a:off x="8211312" y="329184"/>
            <a:ext cx="100584" cy="100584"/>
          </a:xfrm>
          <a:prstGeom prst="ellipse">
            <a:avLst/>
          </a:prstGeom>
          <a:solidFill>
            <a:srgbClr val="D5DED9"/>
          </a:solidFill>
          <a:ln/>
        </p:spPr>
      </p:sp>
      <p:sp>
        <p:nvSpPr>
          <p:cNvPr id="12" name="Shape 10"/>
          <p:cNvSpPr/>
          <p:nvPr/>
        </p:nvSpPr>
        <p:spPr>
          <a:xfrm>
            <a:off x="8394192" y="329184"/>
            <a:ext cx="100584" cy="100584"/>
          </a:xfrm>
          <a:prstGeom prst="ellipse">
            <a:avLst/>
          </a:prstGeom>
          <a:solidFill>
            <a:srgbClr val="D5DED9"/>
          </a:solidFill>
          <a:ln/>
        </p:spPr>
      </p:sp>
      <p:sp>
        <p:nvSpPr>
          <p:cNvPr id="13" name="Shape 11"/>
          <p:cNvSpPr/>
          <p:nvPr/>
        </p:nvSpPr>
        <p:spPr>
          <a:xfrm>
            <a:off x="8577072" y="329184"/>
            <a:ext cx="100584" cy="100584"/>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Sources de données non traditionnelles · Le trésor caché · Atelier STG17</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21</a:t>
            </a:r>
            <a:endParaRPr lang="en-US" sz="850" dirty="0"/>
          </a:p>
        </p:txBody>
      </p:sp>
      <p:sp>
        <p:nvSpPr>
          <p:cNvPr id="17" name="Text 14"/>
          <p:cNvSpPr txBox="1"/>
          <p:nvPr/>
        </p:nvSpPr>
        <p:spPr>
          <a:xfrm>
            <a:off x="457200" y="1051560"/>
            <a:ext cx="5486400" cy="256032"/>
          </a:xfrm>
          <a:prstGeom prst="rect">
            <a:avLst/>
          </a:prstGeom>
          <a:noFill/>
          <a:ln/>
        </p:spPr>
        <p:txBody>
          <a:bodyPr wrap="square" lIns="0" tIns="0" rIns="0" bIns="0" rtlCol="0" anchor="t"/>
          <a:lstStyle/>
          <a:p>
            <a:pPr indent="0" marL="0">
              <a:buNone/>
            </a:pPr>
            <a:r>
              <a:rPr lang="en-US" sz="1300" b="1" dirty="0">
                <a:solidFill>
                  <a:srgbClr val="0E7C86"/>
                </a:solidFill>
                <a:latin typeface="Calibri" pitchFamily="34" charset="0"/>
                <a:ea typeface="Calibri" pitchFamily="34" charset="-122"/>
                <a:cs typeface="Calibri" pitchFamily="34" charset="-120"/>
              </a:rPr>
              <a:t>Décomposition de Meng de l'erreur de toute moyenne d'échantillon</a:t>
            </a:r>
            <a:endParaRPr lang="en-US" sz="1300" dirty="0"/>
          </a:p>
        </p:txBody>
      </p:sp>
      <p:sp>
        <p:nvSpPr>
          <p:cNvPr id="18" name="Shape 15"/>
          <p:cNvSpPr/>
          <p:nvPr/>
        </p:nvSpPr>
        <p:spPr>
          <a:xfrm>
            <a:off x="457200" y="1417320"/>
            <a:ext cx="1234440" cy="1097280"/>
          </a:xfrm>
          <a:prstGeom prst="roundRect">
            <a:avLst>
              <a:gd name="adj" fmla="val 6667"/>
            </a:avLst>
          </a:prstGeom>
          <a:solidFill>
            <a:srgbClr val="F4F7F5"/>
          </a:solidFill>
          <a:ln w="9525">
            <a:solidFill>
              <a:srgbClr val="231F20"/>
            </a:solidFill>
            <a:prstDash val="solid"/>
          </a:ln>
        </p:spPr>
      </p:sp>
      <p:sp>
        <p:nvSpPr>
          <p:cNvPr id="19" name="Text 16"/>
          <p:cNvSpPr txBox="1"/>
          <p:nvPr/>
        </p:nvSpPr>
        <p:spPr>
          <a:xfrm>
            <a:off x="548640" y="1508760"/>
            <a:ext cx="1051560" cy="274320"/>
          </a:xfrm>
          <a:prstGeom prst="rect">
            <a:avLst/>
          </a:prstGeom>
          <a:noFill/>
          <a:ln/>
        </p:spPr>
        <p:txBody>
          <a:bodyPr wrap="square" lIns="0" tIns="0" rIns="0" bIns="0" rtlCol="0" anchor="t"/>
          <a:lstStyle/>
          <a:p>
            <a:pPr algn="ctr" indent="0" marL="0">
              <a:buNone/>
            </a:pPr>
            <a:r>
              <a:rPr lang="en-US" sz="1400" b="1" dirty="0">
                <a:solidFill>
                  <a:srgbClr val="231F20"/>
                </a:solidFill>
                <a:latin typeface="Calibri" pitchFamily="34" charset="0"/>
                <a:ea typeface="Calibri" pitchFamily="34" charset="-122"/>
                <a:cs typeface="Calibri" pitchFamily="34" charset="-120"/>
              </a:rPr>
              <a:t>Erreur</a:t>
            </a:r>
            <a:endParaRPr lang="en-US" sz="1400" dirty="0"/>
          </a:p>
        </p:txBody>
      </p:sp>
      <p:sp>
        <p:nvSpPr>
          <p:cNvPr id="20" name="Text 17"/>
          <p:cNvSpPr txBox="1"/>
          <p:nvPr/>
        </p:nvSpPr>
        <p:spPr>
          <a:xfrm>
            <a:off x="548640" y="1810512"/>
            <a:ext cx="1051560" cy="658368"/>
          </a:xfrm>
          <a:prstGeom prst="rect">
            <a:avLst/>
          </a:prstGeom>
          <a:noFill/>
          <a:ln/>
        </p:spPr>
        <p:txBody>
          <a:bodyPr wrap="square" lIns="0" tIns="0" rIns="0" bIns="0" rtlCol="0" anchor="t"/>
          <a:lstStyle/>
          <a:p>
            <a:pPr algn="ctr" indent="0" marL="0">
              <a:buNone/>
            </a:pPr>
            <a:r>
              <a:rPr lang="en-US" sz="1000" dirty="0">
                <a:solidFill>
                  <a:srgbClr val="5E6964"/>
                </a:solidFill>
                <a:latin typeface="Calibri" pitchFamily="34" charset="0"/>
                <a:ea typeface="Calibri" pitchFamily="34" charset="-122"/>
                <a:cs typeface="Calibri" pitchFamily="34" charset="-120"/>
              </a:rPr>
              <a:t>estimation − vraie valeur</a:t>
            </a:r>
            <a:endParaRPr lang="en-US" sz="1000" dirty="0"/>
          </a:p>
        </p:txBody>
      </p:sp>
      <p:sp>
        <p:nvSpPr>
          <p:cNvPr id="21" name="Text 18"/>
          <p:cNvSpPr txBox="1"/>
          <p:nvPr/>
        </p:nvSpPr>
        <p:spPr>
          <a:xfrm>
            <a:off x="1691640" y="1737360"/>
            <a:ext cx="274320" cy="411480"/>
          </a:xfrm>
          <a:prstGeom prst="rect">
            <a:avLst/>
          </a:prstGeom>
          <a:noFill/>
          <a:ln/>
        </p:spPr>
        <p:txBody>
          <a:bodyPr wrap="square" lIns="0" tIns="0" rIns="0" bIns="0" rtlCol="0" anchor="ctr"/>
          <a:lstStyle/>
          <a:p>
            <a:pPr algn="ctr" indent="0" marL="0">
              <a:buNone/>
            </a:pPr>
            <a:r>
              <a:rPr lang="en-US" sz="2400" b="1" dirty="0">
                <a:solidFill>
                  <a:srgbClr val="5E6964"/>
                </a:solidFill>
                <a:latin typeface="Calibri" pitchFamily="34" charset="0"/>
                <a:ea typeface="Calibri" pitchFamily="34" charset="-122"/>
                <a:cs typeface="Calibri" pitchFamily="34" charset="-120"/>
              </a:rPr>
              <a:t>=</a:t>
            </a:r>
            <a:endParaRPr lang="en-US" sz="2400" dirty="0"/>
          </a:p>
        </p:txBody>
      </p:sp>
      <p:sp>
        <p:nvSpPr>
          <p:cNvPr id="22" name="Shape 19"/>
          <p:cNvSpPr/>
          <p:nvPr/>
        </p:nvSpPr>
        <p:spPr>
          <a:xfrm>
            <a:off x="1965960" y="1417320"/>
            <a:ext cx="1600200" cy="1097280"/>
          </a:xfrm>
          <a:prstGeom prst="roundRect">
            <a:avLst>
              <a:gd name="adj" fmla="val 6667"/>
            </a:avLst>
          </a:prstGeom>
          <a:solidFill>
            <a:srgbClr val="FBEDEB"/>
          </a:solidFill>
          <a:ln w="19050">
            <a:solidFill>
              <a:srgbClr val="B83B2E"/>
            </a:solidFill>
            <a:prstDash val="solid"/>
          </a:ln>
        </p:spPr>
      </p:sp>
      <p:sp>
        <p:nvSpPr>
          <p:cNvPr id="23" name="Text 20"/>
          <p:cNvSpPr txBox="1"/>
          <p:nvPr/>
        </p:nvSpPr>
        <p:spPr>
          <a:xfrm>
            <a:off x="2057400" y="1508760"/>
            <a:ext cx="1417320" cy="274320"/>
          </a:xfrm>
          <a:prstGeom prst="rect">
            <a:avLst/>
          </a:prstGeom>
          <a:noFill/>
          <a:ln/>
        </p:spPr>
        <p:txBody>
          <a:bodyPr wrap="square" lIns="0" tIns="0" rIns="0" bIns="0" rtlCol="0" anchor="t"/>
          <a:lstStyle/>
          <a:p>
            <a:pPr algn="ctr" indent="0" marL="0">
              <a:buNone/>
            </a:pPr>
            <a:r>
              <a:rPr lang="en-US" sz="1400" b="1" dirty="0">
                <a:solidFill>
                  <a:srgbClr val="B83B2E"/>
                </a:solidFill>
                <a:latin typeface="Calibri" pitchFamily="34" charset="0"/>
                <a:ea typeface="Calibri" pitchFamily="34" charset="-122"/>
                <a:cs typeface="Calibri" pitchFamily="34" charset="-120"/>
              </a:rPr>
              <a:t>Qualité</a:t>
            </a:r>
            <a:endParaRPr lang="en-US" sz="1400" dirty="0"/>
          </a:p>
        </p:txBody>
      </p:sp>
      <p:sp>
        <p:nvSpPr>
          <p:cNvPr id="24" name="Text 21"/>
          <p:cNvSpPr txBox="1"/>
          <p:nvPr/>
        </p:nvSpPr>
        <p:spPr>
          <a:xfrm>
            <a:off x="2057400" y="1810512"/>
            <a:ext cx="1417320" cy="658368"/>
          </a:xfrm>
          <a:prstGeom prst="rect">
            <a:avLst/>
          </a:prstGeom>
          <a:noFill/>
          <a:ln/>
        </p:spPr>
        <p:txBody>
          <a:bodyPr wrap="square" lIns="0" tIns="0" rIns="0" bIns="0" rtlCol="0" anchor="t"/>
          <a:lstStyle/>
          <a:p>
            <a:pPr algn="ctr" indent="0" marL="0">
              <a:buNone/>
            </a:pPr>
            <a:r>
              <a:rPr lang="en-US" sz="1000" dirty="0">
                <a:solidFill>
                  <a:srgbClr val="5E6964"/>
                </a:solidFill>
                <a:latin typeface="Calibri" pitchFamily="34" charset="0"/>
                <a:ea typeface="Calibri" pitchFamily="34" charset="-122"/>
                <a:cs typeface="Calibri" pitchFamily="34" charset="-120"/>
              </a:rPr>
              <a:t>corrélation entre être enregistré et la valeur (ρ)</a:t>
            </a:r>
            <a:endParaRPr lang="en-US" sz="1000" dirty="0"/>
          </a:p>
        </p:txBody>
      </p:sp>
      <p:sp>
        <p:nvSpPr>
          <p:cNvPr id="25" name="Text 22"/>
          <p:cNvSpPr txBox="1"/>
          <p:nvPr/>
        </p:nvSpPr>
        <p:spPr>
          <a:xfrm>
            <a:off x="3566160" y="1737360"/>
            <a:ext cx="274320" cy="411480"/>
          </a:xfrm>
          <a:prstGeom prst="rect">
            <a:avLst/>
          </a:prstGeom>
          <a:noFill/>
          <a:ln/>
        </p:spPr>
        <p:txBody>
          <a:bodyPr wrap="square" lIns="0" tIns="0" rIns="0" bIns="0" rtlCol="0" anchor="ctr"/>
          <a:lstStyle/>
          <a:p>
            <a:pPr algn="ctr" indent="0" marL="0">
              <a:buNone/>
            </a:pPr>
            <a:r>
              <a:rPr lang="en-US" sz="2400" b="1" dirty="0">
                <a:solidFill>
                  <a:srgbClr val="5E6964"/>
                </a:solidFill>
                <a:latin typeface="Calibri" pitchFamily="34" charset="0"/>
                <a:ea typeface="Calibri" pitchFamily="34" charset="-122"/>
                <a:cs typeface="Calibri" pitchFamily="34" charset="-120"/>
              </a:rPr>
              <a:t>×</a:t>
            </a:r>
            <a:endParaRPr lang="en-US" sz="2400" dirty="0"/>
          </a:p>
        </p:txBody>
      </p:sp>
      <p:sp>
        <p:nvSpPr>
          <p:cNvPr id="26" name="Shape 23"/>
          <p:cNvSpPr/>
          <p:nvPr/>
        </p:nvSpPr>
        <p:spPr>
          <a:xfrm>
            <a:off x="3840480" y="1417320"/>
            <a:ext cx="1600200" cy="1097280"/>
          </a:xfrm>
          <a:prstGeom prst="roundRect">
            <a:avLst>
              <a:gd name="adj" fmla="val 6667"/>
            </a:avLst>
          </a:prstGeom>
          <a:solidFill>
            <a:srgbClr val="F4F7F5"/>
          </a:solidFill>
          <a:ln w="9525">
            <a:solidFill>
              <a:srgbClr val="0E7C86"/>
            </a:solidFill>
            <a:prstDash val="solid"/>
          </a:ln>
        </p:spPr>
      </p:sp>
      <p:sp>
        <p:nvSpPr>
          <p:cNvPr id="27" name="Text 24"/>
          <p:cNvSpPr txBox="1"/>
          <p:nvPr/>
        </p:nvSpPr>
        <p:spPr>
          <a:xfrm>
            <a:off x="3931920" y="1508760"/>
            <a:ext cx="1417320" cy="274320"/>
          </a:xfrm>
          <a:prstGeom prst="rect">
            <a:avLst/>
          </a:prstGeom>
          <a:noFill/>
          <a:ln/>
        </p:spPr>
        <p:txBody>
          <a:bodyPr wrap="square" lIns="0" tIns="0" rIns="0" bIns="0" rtlCol="0" anchor="t"/>
          <a:lstStyle/>
          <a:p>
            <a:pPr algn="ctr" indent="0" marL="0">
              <a:buNone/>
            </a:pPr>
            <a:r>
              <a:rPr lang="en-US" sz="1400" b="1" dirty="0">
                <a:solidFill>
                  <a:srgbClr val="0E7C86"/>
                </a:solidFill>
                <a:latin typeface="Calibri" pitchFamily="34" charset="0"/>
                <a:ea typeface="Calibri" pitchFamily="34" charset="-122"/>
                <a:cs typeface="Calibri" pitchFamily="34" charset="-120"/>
              </a:rPr>
              <a:t>Quantité</a:t>
            </a:r>
            <a:endParaRPr lang="en-US" sz="1400" dirty="0"/>
          </a:p>
        </p:txBody>
      </p:sp>
      <p:sp>
        <p:nvSpPr>
          <p:cNvPr id="28" name="Text 25"/>
          <p:cNvSpPr txBox="1"/>
          <p:nvPr/>
        </p:nvSpPr>
        <p:spPr>
          <a:xfrm>
            <a:off x="3931920" y="1810512"/>
            <a:ext cx="1417320" cy="658368"/>
          </a:xfrm>
          <a:prstGeom prst="rect">
            <a:avLst/>
          </a:prstGeom>
          <a:noFill/>
          <a:ln/>
        </p:spPr>
        <p:txBody>
          <a:bodyPr wrap="square" lIns="0" tIns="0" rIns="0" bIns="0" rtlCol="0" anchor="t"/>
          <a:lstStyle/>
          <a:p>
            <a:pPr algn="ctr" indent="0" marL="0">
              <a:buNone/>
            </a:pPr>
            <a:r>
              <a:rPr lang="en-US" sz="1000" dirty="0">
                <a:solidFill>
                  <a:srgbClr val="5E6964"/>
                </a:solidFill>
                <a:latin typeface="Calibri" pitchFamily="34" charset="0"/>
                <a:ea typeface="Calibri" pitchFamily="34" charset="-122"/>
                <a:cs typeface="Calibri" pitchFamily="34" charset="-120"/>
              </a:rPr>
              <a:t>dépend de la part de la population couverte</a:t>
            </a:r>
            <a:endParaRPr lang="en-US" sz="1000" dirty="0"/>
          </a:p>
        </p:txBody>
      </p:sp>
      <p:sp>
        <p:nvSpPr>
          <p:cNvPr id="29" name="Text 26"/>
          <p:cNvSpPr txBox="1"/>
          <p:nvPr/>
        </p:nvSpPr>
        <p:spPr>
          <a:xfrm>
            <a:off x="5440680" y="1737360"/>
            <a:ext cx="274320" cy="411480"/>
          </a:xfrm>
          <a:prstGeom prst="rect">
            <a:avLst/>
          </a:prstGeom>
          <a:noFill/>
          <a:ln/>
        </p:spPr>
        <p:txBody>
          <a:bodyPr wrap="square" lIns="0" tIns="0" rIns="0" bIns="0" rtlCol="0" anchor="ctr"/>
          <a:lstStyle/>
          <a:p>
            <a:pPr algn="ctr" indent="0" marL="0">
              <a:buNone/>
            </a:pPr>
            <a:r>
              <a:rPr lang="en-US" sz="2400" b="1" dirty="0">
                <a:solidFill>
                  <a:srgbClr val="5E6964"/>
                </a:solidFill>
                <a:latin typeface="Calibri" pitchFamily="34" charset="0"/>
                <a:ea typeface="Calibri" pitchFamily="34" charset="-122"/>
                <a:cs typeface="Calibri" pitchFamily="34" charset="-120"/>
              </a:rPr>
              <a:t>×</a:t>
            </a:r>
            <a:endParaRPr lang="en-US" sz="2400" dirty="0"/>
          </a:p>
        </p:txBody>
      </p:sp>
      <p:sp>
        <p:nvSpPr>
          <p:cNvPr id="30" name="Shape 27"/>
          <p:cNvSpPr/>
          <p:nvPr/>
        </p:nvSpPr>
        <p:spPr>
          <a:xfrm>
            <a:off x="5715000" y="1417320"/>
            <a:ext cx="1600200" cy="1097280"/>
          </a:xfrm>
          <a:prstGeom prst="roundRect">
            <a:avLst>
              <a:gd name="adj" fmla="val 6667"/>
            </a:avLst>
          </a:prstGeom>
          <a:solidFill>
            <a:srgbClr val="F4F7F5"/>
          </a:solidFill>
          <a:ln w="9525">
            <a:solidFill>
              <a:srgbClr val="00704A"/>
            </a:solidFill>
            <a:prstDash val="solid"/>
          </a:ln>
        </p:spPr>
      </p:sp>
      <p:sp>
        <p:nvSpPr>
          <p:cNvPr id="31" name="Text 28"/>
          <p:cNvSpPr txBox="1"/>
          <p:nvPr/>
        </p:nvSpPr>
        <p:spPr>
          <a:xfrm>
            <a:off x="5806440" y="1508760"/>
            <a:ext cx="1417320" cy="274320"/>
          </a:xfrm>
          <a:prstGeom prst="rect">
            <a:avLst/>
          </a:prstGeom>
          <a:noFill/>
          <a:ln/>
        </p:spPr>
        <p:txBody>
          <a:bodyPr wrap="square" lIns="0" tIns="0" rIns="0" bIns="0" rtlCol="0" anchor="t"/>
          <a:lstStyle/>
          <a:p>
            <a:pPr algn="ctr" indent="0" marL="0">
              <a:buNone/>
            </a:pPr>
            <a:r>
              <a:rPr lang="en-US" sz="1400" b="1" dirty="0">
                <a:solidFill>
                  <a:srgbClr val="00704A"/>
                </a:solidFill>
                <a:latin typeface="Calibri" pitchFamily="34" charset="0"/>
                <a:ea typeface="Calibri" pitchFamily="34" charset="-122"/>
                <a:cs typeface="Calibri" pitchFamily="34" charset="-120"/>
              </a:rPr>
              <a:t>Difficulté</a:t>
            </a:r>
            <a:endParaRPr lang="en-US" sz="1400" dirty="0"/>
          </a:p>
        </p:txBody>
      </p:sp>
      <p:sp>
        <p:nvSpPr>
          <p:cNvPr id="32" name="Text 29"/>
          <p:cNvSpPr txBox="1"/>
          <p:nvPr/>
        </p:nvSpPr>
        <p:spPr>
          <a:xfrm>
            <a:off x="5806440" y="1810512"/>
            <a:ext cx="1417320" cy="658368"/>
          </a:xfrm>
          <a:prstGeom prst="rect">
            <a:avLst/>
          </a:prstGeom>
          <a:noFill/>
          <a:ln/>
        </p:spPr>
        <p:txBody>
          <a:bodyPr wrap="square" lIns="0" tIns="0" rIns="0" bIns="0" rtlCol="0" anchor="t"/>
          <a:lstStyle/>
          <a:p>
            <a:pPr algn="ctr" indent="0" marL="0">
              <a:buNone/>
            </a:pPr>
            <a:r>
              <a:rPr lang="en-US" sz="1000" dirty="0">
                <a:solidFill>
                  <a:srgbClr val="5E6964"/>
                </a:solidFill>
                <a:latin typeface="Calibri" pitchFamily="34" charset="0"/>
                <a:ea typeface="Calibri" pitchFamily="34" charset="-122"/>
                <a:cs typeface="Calibri" pitchFamily="34" charset="-120"/>
              </a:rPr>
              <a:t>variabilité du phénomène (σ)</a:t>
            </a:r>
            <a:endParaRPr lang="en-US" sz="1000" dirty="0"/>
          </a:p>
        </p:txBody>
      </p:sp>
      <p:sp>
        <p:nvSpPr>
          <p:cNvPr id="33" name="Shape 30"/>
          <p:cNvSpPr/>
          <p:nvPr/>
        </p:nvSpPr>
        <p:spPr>
          <a:xfrm>
            <a:off x="457200" y="2743200"/>
            <a:ext cx="5029200" cy="1783080"/>
          </a:xfrm>
          <a:prstGeom prst="roundRect">
            <a:avLst>
              <a:gd name="adj" fmla="val 4103"/>
            </a:avLst>
          </a:prstGeom>
          <a:solidFill>
            <a:srgbClr val="00553A"/>
          </a:solidFill>
          <a:ln/>
        </p:spPr>
      </p:sp>
      <p:sp>
        <p:nvSpPr>
          <p:cNvPr id="34" name="Text 31"/>
          <p:cNvSpPr txBox="1"/>
          <p:nvPr/>
        </p:nvSpPr>
        <p:spPr>
          <a:xfrm>
            <a:off x="685800" y="2852928"/>
            <a:ext cx="4572000" cy="201168"/>
          </a:xfrm>
          <a:prstGeom prst="rect">
            <a:avLst/>
          </a:prstGeom>
          <a:noFill/>
          <a:ln/>
        </p:spPr>
        <p:txBody>
          <a:bodyPr wrap="square" lIns="0" tIns="0" rIns="0" bIns="0" rtlCol="0" anchor="t"/>
          <a:lstStyle/>
          <a:p>
            <a:pPr indent="0" marL="0">
              <a:buNone/>
            </a:pPr>
            <a:r>
              <a:rPr lang="en-US" sz="950" b="1" spc="200" kern="0" dirty="0">
                <a:solidFill>
                  <a:srgbClr val="F5C242"/>
                </a:solidFill>
                <a:latin typeface="Calibri" pitchFamily="34" charset="0"/>
                <a:ea typeface="Calibri" pitchFamily="34" charset="-122"/>
                <a:cs typeface="Calibri" pitchFamily="34" charset="-120"/>
              </a:rPr>
              <a:t>EXEMPLE · ÉLECTION AMÉRICAINE DE 2016</a:t>
            </a:r>
            <a:endParaRPr lang="en-US" sz="950" dirty="0"/>
          </a:p>
        </p:txBody>
      </p:sp>
      <p:sp>
        <p:nvSpPr>
          <p:cNvPr id="35" name="Text 32"/>
          <p:cNvSpPr txBox="1"/>
          <p:nvPr/>
        </p:nvSpPr>
        <p:spPr>
          <a:xfrm>
            <a:off x="685800" y="3108960"/>
            <a:ext cx="2103120" cy="548640"/>
          </a:xfrm>
          <a:prstGeom prst="rect">
            <a:avLst/>
          </a:prstGeom>
          <a:noFill/>
          <a:ln/>
        </p:spPr>
        <p:txBody>
          <a:bodyPr wrap="square" lIns="0" tIns="0" rIns="0" bIns="0" rtlCol="0" anchor="t"/>
          <a:lstStyle/>
          <a:p>
            <a:pPr indent="0" marL="0">
              <a:buNone/>
            </a:pPr>
            <a:r>
              <a:rPr lang="en-US" sz="3000" b="1" dirty="0">
                <a:solidFill>
                  <a:srgbClr val="FFFFFF"/>
                </a:solidFill>
                <a:latin typeface="Calibri" pitchFamily="34" charset="0"/>
                <a:ea typeface="Calibri" pitchFamily="34" charset="-122"/>
                <a:cs typeface="Calibri" pitchFamily="34" charset="-120"/>
              </a:rPr>
              <a:t>2 300 000</a:t>
            </a:r>
            <a:endParaRPr lang="en-US" sz="3000" dirty="0"/>
          </a:p>
        </p:txBody>
      </p:sp>
      <p:sp>
        <p:nvSpPr>
          <p:cNvPr id="36" name="Text 33"/>
          <p:cNvSpPr txBox="1"/>
          <p:nvPr/>
        </p:nvSpPr>
        <p:spPr>
          <a:xfrm>
            <a:off x="685800" y="3657600"/>
            <a:ext cx="2011680" cy="457200"/>
          </a:xfrm>
          <a:prstGeom prst="rect">
            <a:avLst/>
          </a:prstGeom>
          <a:noFill/>
          <a:ln/>
        </p:spPr>
        <p:txBody>
          <a:bodyPr wrap="square" lIns="0" tIns="0" rIns="0" bIns="0" rtlCol="0" anchor="t"/>
          <a:lstStyle/>
          <a:p>
            <a:pPr indent="0" marL="0">
              <a:buNone/>
            </a:pPr>
            <a:r>
              <a:rPr lang="en-US" sz="1050" dirty="0">
                <a:solidFill>
                  <a:srgbClr val="E6F6EE"/>
                </a:solidFill>
                <a:latin typeface="Calibri" pitchFamily="34" charset="0"/>
                <a:ea typeface="Calibri" pitchFamily="34" charset="-122"/>
                <a:cs typeface="Calibri" pitchFamily="34" charset="-120"/>
              </a:rPr>
              <a:t>réponses auto-déclarées (1 % des électeurs)</a:t>
            </a:r>
            <a:endParaRPr lang="en-US" sz="1050" dirty="0"/>
          </a:p>
        </p:txBody>
      </p:sp>
      <p:sp>
        <p:nvSpPr>
          <p:cNvPr id="37" name="Text 34"/>
          <p:cNvSpPr txBox="1"/>
          <p:nvPr/>
        </p:nvSpPr>
        <p:spPr>
          <a:xfrm>
            <a:off x="2743200" y="3108960"/>
            <a:ext cx="365760" cy="548640"/>
          </a:xfrm>
          <a:prstGeom prst="rect">
            <a:avLst/>
          </a:prstGeom>
          <a:noFill/>
          <a:ln/>
        </p:spPr>
        <p:txBody>
          <a:bodyPr wrap="square" lIns="0" tIns="0" rIns="0" bIns="0" rtlCol="0" anchor="t"/>
          <a:lstStyle/>
          <a:p>
            <a:pPr algn="ctr" indent="0" marL="0">
              <a:buNone/>
            </a:pPr>
            <a:r>
              <a:rPr lang="en-US" sz="3000" b="1" dirty="0">
                <a:solidFill>
                  <a:srgbClr val="F5C242"/>
                </a:solidFill>
                <a:latin typeface="Calibri" pitchFamily="34" charset="0"/>
                <a:ea typeface="Calibri" pitchFamily="34" charset="-122"/>
                <a:cs typeface="Calibri" pitchFamily="34" charset="-120"/>
              </a:rPr>
              <a:t>≈</a:t>
            </a:r>
            <a:endParaRPr lang="en-US" sz="3000" dirty="0"/>
          </a:p>
        </p:txBody>
      </p:sp>
      <p:sp>
        <p:nvSpPr>
          <p:cNvPr id="38" name="Text 35"/>
          <p:cNvSpPr txBox="1"/>
          <p:nvPr/>
        </p:nvSpPr>
        <p:spPr>
          <a:xfrm>
            <a:off x="3200400" y="3108960"/>
            <a:ext cx="2103120" cy="548640"/>
          </a:xfrm>
          <a:prstGeom prst="rect">
            <a:avLst/>
          </a:prstGeom>
          <a:noFill/>
          <a:ln/>
        </p:spPr>
        <p:txBody>
          <a:bodyPr wrap="square" lIns="0" tIns="0" rIns="0" bIns="0" rtlCol="0" anchor="t"/>
          <a:lstStyle/>
          <a:p>
            <a:pPr indent="0" marL="0">
              <a:buNone/>
            </a:pPr>
            <a:r>
              <a:rPr lang="en-US" sz="3000" b="1" dirty="0">
                <a:solidFill>
                  <a:srgbClr val="F5C242"/>
                </a:solidFill>
                <a:latin typeface="Calibri" pitchFamily="34" charset="0"/>
                <a:ea typeface="Calibri" pitchFamily="34" charset="-122"/>
                <a:cs typeface="Calibri" pitchFamily="34" charset="-120"/>
              </a:rPr>
              <a:t>400</a:t>
            </a:r>
            <a:endParaRPr lang="en-US" sz="3000" dirty="0"/>
          </a:p>
        </p:txBody>
      </p:sp>
      <p:sp>
        <p:nvSpPr>
          <p:cNvPr id="39" name="Text 36"/>
          <p:cNvSpPr txBox="1"/>
          <p:nvPr/>
        </p:nvSpPr>
        <p:spPr>
          <a:xfrm>
            <a:off x="3200400" y="3657600"/>
            <a:ext cx="2103120" cy="640080"/>
          </a:xfrm>
          <a:prstGeom prst="rect">
            <a:avLst/>
          </a:prstGeom>
          <a:noFill/>
          <a:ln/>
        </p:spPr>
        <p:txBody>
          <a:bodyPr wrap="square" lIns="0" tIns="0" rIns="0" bIns="0" rtlCol="0" anchor="t"/>
          <a:lstStyle/>
          <a:p>
            <a:pPr indent="0" marL="0">
              <a:buNone/>
            </a:pPr>
            <a:r>
              <a:rPr lang="en-US" sz="1050" dirty="0">
                <a:solidFill>
                  <a:srgbClr val="E6F6EE"/>
                </a:solidFill>
                <a:latin typeface="Calibri" pitchFamily="34" charset="0"/>
                <a:ea typeface="Calibri" pitchFamily="34" charset="-122"/>
                <a:cs typeface="Calibri" pitchFamily="34" charset="-120"/>
              </a:rPr>
              <a:t>entretiens aléatoires — pour une corrélation de défaut d'à peine −0,005</a:t>
            </a:r>
            <a:endParaRPr lang="en-US" sz="1050" dirty="0"/>
          </a:p>
        </p:txBody>
      </p:sp>
      <p:sp>
        <p:nvSpPr>
          <p:cNvPr id="40" name="Shape 37"/>
          <p:cNvSpPr/>
          <p:nvPr/>
        </p:nvSpPr>
        <p:spPr>
          <a:xfrm>
            <a:off x="5669280" y="2743200"/>
            <a:ext cx="3017520" cy="1783080"/>
          </a:xfrm>
          <a:prstGeom prst="roundRect">
            <a:avLst>
              <a:gd name="adj" fmla="val 4103"/>
            </a:avLst>
          </a:prstGeom>
          <a:solidFill>
            <a:srgbClr val="E8F5EF"/>
          </a:solidFill>
          <a:ln w="15875">
            <a:solidFill>
              <a:srgbClr val="0E7C86"/>
            </a:solidFill>
            <a:prstDash val="solid"/>
          </a:ln>
        </p:spPr>
      </p:sp>
      <p:sp>
        <p:nvSpPr>
          <p:cNvPr id="41" name="Text 38"/>
          <p:cNvSpPr txBox="1"/>
          <p:nvPr/>
        </p:nvSpPr>
        <p:spPr>
          <a:xfrm>
            <a:off x="5806440" y="2834640"/>
            <a:ext cx="2743200" cy="201168"/>
          </a:xfrm>
          <a:prstGeom prst="rect">
            <a:avLst/>
          </a:prstGeom>
          <a:noFill/>
          <a:ln/>
        </p:spPr>
        <p:txBody>
          <a:bodyPr wrap="square" lIns="0" tIns="0" rIns="0" bIns="0" rtlCol="0" anchor="t"/>
          <a:lstStyle/>
          <a:p>
            <a:pPr indent="0" marL="0">
              <a:buNone/>
            </a:pPr>
            <a:r>
              <a:rPr lang="en-US" sz="950" b="1" spc="100" kern="0" dirty="0">
                <a:solidFill>
                  <a:srgbClr val="0E7C86"/>
                </a:solidFill>
                <a:latin typeface="Calibri" pitchFamily="34" charset="0"/>
                <a:ea typeface="Calibri" pitchFamily="34" charset="-122"/>
                <a:cs typeface="Calibri" pitchFamily="34" charset="-120"/>
              </a:rPr>
              <a:t>CE QUE CELA SIGNIFIE POUR LES INS</a:t>
            </a:r>
            <a:endParaRPr lang="en-US" sz="950" dirty="0"/>
          </a:p>
        </p:txBody>
      </p:sp>
      <p:sp>
        <p:nvSpPr>
          <p:cNvPr id="42" name="Text 39"/>
          <p:cNvSpPr txBox="1"/>
          <p:nvPr/>
        </p:nvSpPr>
        <p:spPr>
          <a:xfrm>
            <a:off x="5806440" y="3090672"/>
            <a:ext cx="2788920" cy="137160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231F20"/>
                </a:solidFill>
                <a:latin typeface="Calibri" pitchFamily="34" charset="0"/>
                <a:ea typeface="Calibri" pitchFamily="34" charset="-122"/>
                <a:cs typeface="Calibri" pitchFamily="34" charset="-120"/>
              </a:rPr>
              <a:t>Les intervalles de confiance du big data sont étroits — et faux.</a:t>
            </a:r>
            <a:endParaRPr lang="en-US" sz="1050" dirty="0"/>
          </a:p>
          <a:p>
            <a:pPr marL="152400" indent="-152400">
              <a:spcAft>
                <a:spcPts val="500"/>
              </a:spcAft>
              <a:buSzPct val="100000"/>
              <a:buChar char="•"/>
            </a:pPr>
            <a:r>
              <a:rPr lang="en-US" sz="1050" dirty="0">
                <a:solidFill>
                  <a:srgbClr val="231F20"/>
                </a:solidFill>
                <a:latin typeface="Calibri" pitchFamily="34" charset="0"/>
                <a:ea typeface="Calibri" pitchFamily="34" charset="-122"/>
                <a:cs typeface="Calibri" pitchFamily="34" charset="-120"/>
              </a:rPr>
              <a:t>Une petite enquête aléatoire peut battre une énorme source biaisée.</a:t>
            </a:r>
            <a:endParaRPr lang="en-US" sz="1050" dirty="0"/>
          </a:p>
          <a:p>
            <a:pPr marL="152400" indent="-152400">
              <a:spcAft>
                <a:spcPts val="500"/>
              </a:spcAft>
              <a:buSzPct val="100000"/>
              <a:buChar char="•"/>
            </a:pPr>
            <a:r>
              <a:rPr lang="en-US" sz="1050" dirty="0">
                <a:solidFill>
                  <a:srgbClr val="231F20"/>
                </a:solidFill>
                <a:latin typeface="Calibri" pitchFamily="34" charset="0"/>
                <a:ea typeface="Calibri" pitchFamily="34" charset="-122"/>
                <a:cs typeface="Calibri" pitchFamily="34" charset="-120"/>
              </a:rPr>
              <a:t>Mesurer ρ, même grossièrement, avant de publier des niveaux.</a:t>
            </a:r>
            <a:endParaRPr lang="en-US" sz="1050" dirty="0"/>
          </a:p>
        </p:txBody>
      </p:sp>
      <p:sp>
        <p:nvSpPr>
          <p:cNvPr id="43" name="Text 40"/>
          <p:cNvSpPr txBox="1"/>
          <p:nvPr/>
        </p:nvSpPr>
        <p:spPr>
          <a:xfrm>
            <a:off x="457200" y="4626864"/>
            <a:ext cx="749808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Source : Meng, X.-L. (2018), « Statistical paradises and paradoxes in big data (I) », Annals of Applied Statistics 12(2) : 685–726.</a:t>
            </a:r>
            <a:endParaRPr lang="en-US" sz="85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QUALITÉ ET BIAIS</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Qui manque ? La fracture numérique comme biais</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Toute source fondée sur l'usage d'internet ou du smartphone hérite de ces écarts.</a:t>
            </a:r>
            <a:endParaRPr lang="en-US" sz="1150" dirty="0"/>
          </a:p>
        </p:txBody>
      </p:sp>
      <p:sp>
        <p:nvSpPr>
          <p:cNvPr id="9" name="Shape 7"/>
          <p:cNvSpPr/>
          <p:nvPr/>
        </p:nvSpPr>
        <p:spPr>
          <a:xfrm>
            <a:off x="7662672" y="329184"/>
            <a:ext cx="100584" cy="100584"/>
          </a:xfrm>
          <a:prstGeom prst="ellipse">
            <a:avLst/>
          </a:prstGeom>
          <a:solidFill>
            <a:srgbClr val="D5DED9"/>
          </a:solidFill>
          <a:ln/>
        </p:spPr>
      </p:sp>
      <p:sp>
        <p:nvSpPr>
          <p:cNvPr id="10" name="Shape 8"/>
          <p:cNvSpPr/>
          <p:nvPr/>
        </p:nvSpPr>
        <p:spPr>
          <a:xfrm>
            <a:off x="7845552" y="329184"/>
            <a:ext cx="100584" cy="100584"/>
          </a:xfrm>
          <a:prstGeom prst="ellipse">
            <a:avLst/>
          </a:prstGeom>
          <a:solidFill>
            <a:srgbClr val="D5DED9"/>
          </a:solidFill>
          <a:ln/>
        </p:spPr>
      </p:sp>
      <p:sp>
        <p:nvSpPr>
          <p:cNvPr id="11" name="Shape 9"/>
          <p:cNvSpPr/>
          <p:nvPr/>
        </p:nvSpPr>
        <p:spPr>
          <a:xfrm>
            <a:off x="8028432" y="329184"/>
            <a:ext cx="100584" cy="100584"/>
          </a:xfrm>
          <a:prstGeom prst="ellipse">
            <a:avLst/>
          </a:prstGeom>
          <a:solidFill>
            <a:srgbClr val="0E7C86"/>
          </a:solidFill>
          <a:ln/>
        </p:spPr>
      </p:sp>
      <p:sp>
        <p:nvSpPr>
          <p:cNvPr id="12" name="Shape 10"/>
          <p:cNvSpPr/>
          <p:nvPr/>
        </p:nvSpPr>
        <p:spPr>
          <a:xfrm>
            <a:off x="8211312" y="329184"/>
            <a:ext cx="100584" cy="100584"/>
          </a:xfrm>
          <a:prstGeom prst="ellipse">
            <a:avLst/>
          </a:prstGeom>
          <a:solidFill>
            <a:srgbClr val="D5DED9"/>
          </a:solidFill>
          <a:ln/>
        </p:spPr>
      </p:sp>
      <p:sp>
        <p:nvSpPr>
          <p:cNvPr id="13" name="Shape 11"/>
          <p:cNvSpPr/>
          <p:nvPr/>
        </p:nvSpPr>
        <p:spPr>
          <a:xfrm>
            <a:off x="8394192" y="329184"/>
            <a:ext cx="100584" cy="100584"/>
          </a:xfrm>
          <a:prstGeom prst="ellipse">
            <a:avLst/>
          </a:prstGeom>
          <a:solidFill>
            <a:srgbClr val="D5DED9"/>
          </a:solidFill>
          <a:ln/>
        </p:spPr>
      </p:sp>
      <p:sp>
        <p:nvSpPr>
          <p:cNvPr id="14" name="Shape 12"/>
          <p:cNvSpPr/>
          <p:nvPr/>
        </p:nvSpPr>
        <p:spPr>
          <a:xfrm>
            <a:off x="8577072" y="329184"/>
            <a:ext cx="100584" cy="100584"/>
          </a:xfrm>
          <a:prstGeom prst="ellipse">
            <a:avLst/>
          </a:prstGeom>
          <a:solidFill>
            <a:srgbClr val="D5DED9"/>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Sources de données non traditionnelles · Le trésor caché · Atelier STG17</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22</a:t>
            </a:r>
            <a:endParaRPr lang="en-US" sz="850" dirty="0"/>
          </a:p>
        </p:txBody>
      </p:sp>
      <p:graphicFrame>
        <p:nvGraphicFramePr>
          <p:cNvPr id="18" name="Chart 0" descr=""/>
          <p:cNvGraphicFramePr/>
          <p:nvPr/>
        </p:nvGraphicFramePr>
        <p:xfrm>
          <a:off x="457200" y="1325880"/>
          <a:ext cx="4937760" cy="3200400"/>
        </p:xfrm>
        <a:graphic xmlns:a="http://schemas.openxmlformats.org/drawingml/2006/main">
          <a:graphicData uri="http://schemas.openxmlformats.org/drawingml/2006/chart">
            <c:chart xmlns:c="http://schemas.openxmlformats.org/drawingml/2006/chart" r:id="rId1"/>
          </a:graphicData>
        </a:graphic>
      </p:graphicFrame>
      <p:sp>
        <p:nvSpPr>
          <p:cNvPr id="19" name="Shape 15"/>
          <p:cNvSpPr/>
          <p:nvPr/>
        </p:nvSpPr>
        <p:spPr>
          <a:xfrm>
            <a:off x="5623560" y="1325880"/>
            <a:ext cx="3063240" cy="987552"/>
          </a:xfrm>
          <a:prstGeom prst="roundRect">
            <a:avLst>
              <a:gd name="adj" fmla="val 7407"/>
            </a:avLst>
          </a:prstGeom>
          <a:solidFill>
            <a:srgbClr val="F4F7F5"/>
          </a:solidFill>
          <a:ln w="9525">
            <a:solidFill>
              <a:srgbClr val="D5DED9"/>
            </a:solidFill>
            <a:prstDash val="solid"/>
          </a:ln>
        </p:spPr>
      </p:sp>
      <p:sp>
        <p:nvSpPr>
          <p:cNvPr id="20" name="Text 16"/>
          <p:cNvSpPr txBox="1"/>
          <p:nvPr/>
        </p:nvSpPr>
        <p:spPr>
          <a:xfrm>
            <a:off x="5760720" y="1399032"/>
            <a:ext cx="1325880" cy="548640"/>
          </a:xfrm>
          <a:prstGeom prst="rect">
            <a:avLst/>
          </a:prstGeom>
          <a:noFill/>
          <a:ln/>
        </p:spPr>
        <p:txBody>
          <a:bodyPr wrap="square" lIns="0" tIns="0" rIns="0" bIns="0" rtlCol="0" anchor="ctr"/>
          <a:lstStyle/>
          <a:p>
            <a:pPr indent="0" marL="0">
              <a:buNone/>
            </a:pPr>
            <a:r>
              <a:rPr lang="en-US" sz="3000" b="1" dirty="0">
                <a:solidFill>
                  <a:srgbClr val="B83B2E"/>
                </a:solidFill>
                <a:latin typeface="Calibri" pitchFamily="34" charset="0"/>
                <a:ea typeface="Calibri" pitchFamily="34" charset="-122"/>
                <a:cs typeface="Calibri" pitchFamily="34" charset="-120"/>
              </a:rPr>
              <a:t>36 %</a:t>
            </a:r>
            <a:endParaRPr lang="en-US" sz="3000" dirty="0"/>
          </a:p>
        </p:txBody>
      </p:sp>
      <p:sp>
        <p:nvSpPr>
          <p:cNvPr id="21" name="Text 17"/>
          <p:cNvSpPr txBox="1"/>
          <p:nvPr/>
        </p:nvSpPr>
        <p:spPr>
          <a:xfrm>
            <a:off x="7132320" y="1453896"/>
            <a:ext cx="1508760" cy="457200"/>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contre 74 %</a:t>
            </a:r>
            <a:endParaRPr lang="en-US" sz="1150" dirty="0"/>
          </a:p>
        </p:txBody>
      </p:sp>
      <p:sp>
        <p:nvSpPr>
          <p:cNvPr id="22" name="Text 18"/>
          <p:cNvSpPr txBox="1"/>
          <p:nvPr/>
        </p:nvSpPr>
        <p:spPr>
          <a:xfrm>
            <a:off x="5760720" y="1965960"/>
            <a:ext cx="2834640" cy="29260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usage d'internet, Afrique vs monde, 2025</a:t>
            </a:r>
            <a:endParaRPr lang="en-US" sz="950" dirty="0"/>
          </a:p>
        </p:txBody>
      </p:sp>
      <p:sp>
        <p:nvSpPr>
          <p:cNvPr id="23" name="Shape 19"/>
          <p:cNvSpPr/>
          <p:nvPr/>
        </p:nvSpPr>
        <p:spPr>
          <a:xfrm>
            <a:off x="5623560" y="2423160"/>
            <a:ext cx="3063240" cy="987552"/>
          </a:xfrm>
          <a:prstGeom prst="roundRect">
            <a:avLst>
              <a:gd name="adj" fmla="val 7407"/>
            </a:avLst>
          </a:prstGeom>
          <a:solidFill>
            <a:srgbClr val="F4F7F5"/>
          </a:solidFill>
          <a:ln w="9525">
            <a:solidFill>
              <a:srgbClr val="D5DED9"/>
            </a:solidFill>
            <a:prstDash val="solid"/>
          </a:ln>
        </p:spPr>
      </p:sp>
      <p:sp>
        <p:nvSpPr>
          <p:cNvPr id="24" name="Text 20"/>
          <p:cNvSpPr txBox="1"/>
          <p:nvPr/>
        </p:nvSpPr>
        <p:spPr>
          <a:xfrm>
            <a:off x="5760720" y="2496312"/>
            <a:ext cx="1325880" cy="548640"/>
          </a:xfrm>
          <a:prstGeom prst="rect">
            <a:avLst/>
          </a:prstGeom>
          <a:noFill/>
          <a:ln/>
        </p:spPr>
        <p:txBody>
          <a:bodyPr wrap="square" lIns="0" tIns="0" rIns="0" bIns="0" rtlCol="0" anchor="ctr"/>
          <a:lstStyle/>
          <a:p>
            <a:pPr indent="0" marL="0">
              <a:buNone/>
            </a:pPr>
            <a:r>
              <a:rPr lang="en-US" sz="3000" b="1" dirty="0">
                <a:solidFill>
                  <a:srgbClr val="D49A00"/>
                </a:solidFill>
                <a:latin typeface="Calibri" pitchFamily="34" charset="0"/>
                <a:ea typeface="Calibri" pitchFamily="34" charset="-122"/>
                <a:cs typeface="Calibri" pitchFamily="34" charset="-120"/>
              </a:rPr>
              <a:t>2,5×</a:t>
            </a:r>
            <a:endParaRPr lang="en-US" sz="3000" dirty="0"/>
          </a:p>
        </p:txBody>
      </p:sp>
      <p:sp>
        <p:nvSpPr>
          <p:cNvPr id="25" name="Text 21"/>
          <p:cNvSpPr txBox="1"/>
          <p:nvPr/>
        </p:nvSpPr>
        <p:spPr>
          <a:xfrm>
            <a:off x="7132320" y="2551176"/>
            <a:ext cx="1508760" cy="457200"/>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urbain / rural</a:t>
            </a:r>
            <a:endParaRPr lang="en-US" sz="1150" dirty="0"/>
          </a:p>
        </p:txBody>
      </p:sp>
      <p:sp>
        <p:nvSpPr>
          <p:cNvPr id="26" name="Text 22"/>
          <p:cNvSpPr txBox="1"/>
          <p:nvPr/>
        </p:nvSpPr>
        <p:spPr>
          <a:xfrm>
            <a:off x="5760720" y="3063240"/>
            <a:ext cx="2834640" cy="29260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taux urbain rapporté au taux rural, 2024</a:t>
            </a:r>
            <a:endParaRPr lang="en-US" sz="950" dirty="0"/>
          </a:p>
        </p:txBody>
      </p:sp>
      <p:sp>
        <p:nvSpPr>
          <p:cNvPr id="27" name="Shape 23"/>
          <p:cNvSpPr/>
          <p:nvPr/>
        </p:nvSpPr>
        <p:spPr>
          <a:xfrm>
            <a:off x="5623560" y="3520440"/>
            <a:ext cx="3063240" cy="987552"/>
          </a:xfrm>
          <a:prstGeom prst="roundRect">
            <a:avLst>
              <a:gd name="adj" fmla="val 7407"/>
            </a:avLst>
          </a:prstGeom>
          <a:solidFill>
            <a:srgbClr val="F4F7F5"/>
          </a:solidFill>
          <a:ln w="9525">
            <a:solidFill>
              <a:srgbClr val="D5DED9"/>
            </a:solidFill>
            <a:prstDash val="solid"/>
          </a:ln>
        </p:spPr>
      </p:sp>
      <p:sp>
        <p:nvSpPr>
          <p:cNvPr id="28" name="Text 24"/>
          <p:cNvSpPr txBox="1"/>
          <p:nvPr/>
        </p:nvSpPr>
        <p:spPr>
          <a:xfrm>
            <a:off x="5760720" y="3593592"/>
            <a:ext cx="1325880" cy="548640"/>
          </a:xfrm>
          <a:prstGeom prst="rect">
            <a:avLst/>
          </a:prstGeom>
          <a:noFill/>
          <a:ln/>
        </p:spPr>
        <p:txBody>
          <a:bodyPr wrap="square" lIns="0" tIns="0" rIns="0" bIns="0" rtlCol="0" anchor="ctr"/>
          <a:lstStyle/>
          <a:p>
            <a:pPr indent="0" marL="0">
              <a:buNone/>
            </a:pPr>
            <a:r>
              <a:rPr lang="en-US" sz="3000" b="1" dirty="0">
                <a:solidFill>
                  <a:srgbClr val="0E7C86"/>
                </a:solidFill>
                <a:latin typeface="Calibri" pitchFamily="34" charset="0"/>
                <a:ea typeface="Calibri" pitchFamily="34" charset="-122"/>
                <a:cs typeface="Calibri" pitchFamily="34" charset="-120"/>
              </a:rPr>
              <a:t>63 %</a:t>
            </a:r>
            <a:endParaRPr lang="en-US" sz="3000" dirty="0"/>
          </a:p>
        </p:txBody>
      </p:sp>
      <p:sp>
        <p:nvSpPr>
          <p:cNvPr id="29" name="Text 25"/>
          <p:cNvSpPr txBox="1"/>
          <p:nvPr/>
        </p:nvSpPr>
        <p:spPr>
          <a:xfrm>
            <a:off x="7132320" y="3648456"/>
            <a:ext cx="1508760" cy="457200"/>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couverts, non connectés</a:t>
            </a:r>
            <a:endParaRPr lang="en-US" sz="1150" dirty="0"/>
          </a:p>
        </p:txBody>
      </p:sp>
      <p:sp>
        <p:nvSpPr>
          <p:cNvPr id="30" name="Text 26"/>
          <p:cNvSpPr txBox="1"/>
          <p:nvPr/>
        </p:nvSpPr>
        <p:spPr>
          <a:xfrm>
            <a:off x="5760720" y="4160520"/>
            <a:ext cx="2834640" cy="29260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Africains couverts par le haut débit mobile sans l'utiliser</a:t>
            </a:r>
            <a:endParaRPr lang="en-US" sz="950" dirty="0"/>
          </a:p>
        </p:txBody>
      </p:sp>
      <p:sp>
        <p:nvSpPr>
          <p:cNvPr id="31" name="Text 27"/>
          <p:cNvSpPr txBox="1"/>
          <p:nvPr/>
        </p:nvSpPr>
        <p:spPr>
          <a:xfrm>
            <a:off x="457200" y="4626864"/>
            <a:ext cx="749808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Sources : UIT (2025), State of Digital Development in Africa ; UIT, Facts and Figures 2025 ; GSMA Intelligence, The Mobile Economy Africa 2026.</a:t>
            </a:r>
            <a:endParaRPr lang="en-US" sz="85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QUALITÉ ET BIAIS</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Traiter le biais : diagnostiquer, corriger, recadrer</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Illustré par l'indicateur de connectivité Ookla que vous construirez après la pause.</a:t>
            </a:r>
            <a:endParaRPr lang="en-US" sz="1150" dirty="0"/>
          </a:p>
        </p:txBody>
      </p:sp>
      <p:sp>
        <p:nvSpPr>
          <p:cNvPr id="9" name="Shape 7"/>
          <p:cNvSpPr/>
          <p:nvPr/>
        </p:nvSpPr>
        <p:spPr>
          <a:xfrm>
            <a:off x="7662672" y="329184"/>
            <a:ext cx="100584" cy="100584"/>
          </a:xfrm>
          <a:prstGeom prst="ellipse">
            <a:avLst/>
          </a:prstGeom>
          <a:solidFill>
            <a:srgbClr val="D5DED9"/>
          </a:solidFill>
          <a:ln/>
        </p:spPr>
      </p:sp>
      <p:sp>
        <p:nvSpPr>
          <p:cNvPr id="10" name="Shape 8"/>
          <p:cNvSpPr/>
          <p:nvPr/>
        </p:nvSpPr>
        <p:spPr>
          <a:xfrm>
            <a:off x="7845552" y="329184"/>
            <a:ext cx="100584" cy="100584"/>
          </a:xfrm>
          <a:prstGeom prst="ellipse">
            <a:avLst/>
          </a:prstGeom>
          <a:solidFill>
            <a:srgbClr val="D5DED9"/>
          </a:solidFill>
          <a:ln/>
        </p:spPr>
      </p:sp>
      <p:sp>
        <p:nvSpPr>
          <p:cNvPr id="11" name="Shape 9"/>
          <p:cNvSpPr/>
          <p:nvPr/>
        </p:nvSpPr>
        <p:spPr>
          <a:xfrm>
            <a:off x="8028432" y="329184"/>
            <a:ext cx="100584" cy="100584"/>
          </a:xfrm>
          <a:prstGeom prst="ellipse">
            <a:avLst/>
          </a:prstGeom>
          <a:solidFill>
            <a:srgbClr val="0E7C86"/>
          </a:solidFill>
          <a:ln/>
        </p:spPr>
      </p:sp>
      <p:sp>
        <p:nvSpPr>
          <p:cNvPr id="12" name="Shape 10"/>
          <p:cNvSpPr/>
          <p:nvPr/>
        </p:nvSpPr>
        <p:spPr>
          <a:xfrm>
            <a:off x="8211312" y="329184"/>
            <a:ext cx="100584" cy="100584"/>
          </a:xfrm>
          <a:prstGeom prst="ellipse">
            <a:avLst/>
          </a:prstGeom>
          <a:solidFill>
            <a:srgbClr val="D5DED9"/>
          </a:solidFill>
          <a:ln/>
        </p:spPr>
      </p:sp>
      <p:sp>
        <p:nvSpPr>
          <p:cNvPr id="13" name="Shape 11"/>
          <p:cNvSpPr/>
          <p:nvPr/>
        </p:nvSpPr>
        <p:spPr>
          <a:xfrm>
            <a:off x="8394192" y="329184"/>
            <a:ext cx="100584" cy="100584"/>
          </a:xfrm>
          <a:prstGeom prst="ellipse">
            <a:avLst/>
          </a:prstGeom>
          <a:solidFill>
            <a:srgbClr val="D5DED9"/>
          </a:solidFill>
          <a:ln/>
        </p:spPr>
      </p:sp>
      <p:sp>
        <p:nvSpPr>
          <p:cNvPr id="14" name="Shape 12"/>
          <p:cNvSpPr/>
          <p:nvPr/>
        </p:nvSpPr>
        <p:spPr>
          <a:xfrm>
            <a:off x="8577072" y="329184"/>
            <a:ext cx="100584" cy="100584"/>
          </a:xfrm>
          <a:prstGeom prst="ellipse">
            <a:avLst/>
          </a:prstGeom>
          <a:solidFill>
            <a:srgbClr val="D5DED9"/>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Sources de données non traditionnelles · Le trésor caché · Atelier STG17</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23</a:t>
            </a:r>
            <a:endParaRPr lang="en-US" sz="850" dirty="0"/>
          </a:p>
        </p:txBody>
      </p:sp>
      <p:sp>
        <p:nvSpPr>
          <p:cNvPr id="18" name="Shape 15"/>
          <p:cNvSpPr/>
          <p:nvPr/>
        </p:nvSpPr>
        <p:spPr>
          <a:xfrm>
            <a:off x="457200" y="1371600"/>
            <a:ext cx="2615184" cy="3154680"/>
          </a:xfrm>
          <a:prstGeom prst="roundRect">
            <a:avLst>
              <a:gd name="adj" fmla="val 2797"/>
            </a:avLst>
          </a:prstGeom>
          <a:solidFill>
            <a:srgbClr val="F4F7F5"/>
          </a:solidFill>
          <a:ln w="9525">
            <a:solidFill>
              <a:srgbClr val="D5DED9"/>
            </a:solidFill>
            <a:prstDash val="solid"/>
          </a:ln>
        </p:spPr>
      </p:sp>
      <p:sp>
        <p:nvSpPr>
          <p:cNvPr id="19" name="Shape 16"/>
          <p:cNvSpPr/>
          <p:nvPr/>
        </p:nvSpPr>
        <p:spPr>
          <a:xfrm>
            <a:off x="621792" y="1508760"/>
            <a:ext cx="502920" cy="502920"/>
          </a:xfrm>
          <a:prstGeom prst="ellipse">
            <a:avLst/>
          </a:prstGeom>
          <a:solidFill>
            <a:srgbClr val="0E7C86">
              <a:alpha val="22000"/>
            </a:srgbClr>
          </a:solidFill>
          <a:ln/>
        </p:spPr>
      </p:sp>
      <p:pic>
        <p:nvPicPr>
          <p:cNvPr id="20" name="Image 0" descr="preencoded.png">    </p:cNvPr>
          <p:cNvPicPr>
            <a:picLocks noChangeAspect="1"/>
          </p:cNvPicPr>
          <p:nvPr/>
        </p:nvPicPr>
        <p:blipFill>
          <a:blip r:embed="rId1"/>
          <a:stretch>
            <a:fillRect/>
          </a:stretch>
        </p:blipFill>
        <p:spPr>
          <a:xfrm>
            <a:off x="747522" y="1634490"/>
            <a:ext cx="251460" cy="251460"/>
          </a:xfrm>
          <a:prstGeom prst="rect">
            <a:avLst/>
          </a:prstGeom>
        </p:spPr>
      </p:pic>
      <p:sp>
        <p:nvSpPr>
          <p:cNvPr id="21" name="Text 17"/>
          <p:cNvSpPr txBox="1"/>
          <p:nvPr/>
        </p:nvSpPr>
        <p:spPr>
          <a:xfrm>
            <a:off x="1234440" y="1517904"/>
            <a:ext cx="1371600" cy="182880"/>
          </a:xfrm>
          <a:prstGeom prst="rect">
            <a:avLst/>
          </a:prstGeom>
          <a:noFill/>
          <a:ln/>
        </p:spPr>
        <p:txBody>
          <a:bodyPr wrap="square" lIns="0" tIns="0" rIns="0" bIns="0" rtlCol="0" anchor="t"/>
          <a:lstStyle/>
          <a:p>
            <a:pPr indent="0" marL="0">
              <a:buNone/>
            </a:pPr>
            <a:r>
              <a:rPr lang="en-US" sz="950" b="1" spc="200" kern="0" dirty="0">
                <a:solidFill>
                  <a:srgbClr val="5E6964"/>
                </a:solidFill>
                <a:latin typeface="Calibri" pitchFamily="34" charset="0"/>
                <a:ea typeface="Calibri" pitchFamily="34" charset="-122"/>
                <a:cs typeface="Calibri" pitchFamily="34" charset="-120"/>
              </a:rPr>
              <a:t>ÉTAPE 1</a:t>
            </a:r>
            <a:endParaRPr lang="en-US" sz="950" dirty="0"/>
          </a:p>
        </p:txBody>
      </p:sp>
      <p:sp>
        <p:nvSpPr>
          <p:cNvPr id="22" name="Text 18"/>
          <p:cNvSpPr txBox="1"/>
          <p:nvPr/>
        </p:nvSpPr>
        <p:spPr>
          <a:xfrm>
            <a:off x="1234440" y="1700784"/>
            <a:ext cx="1783080" cy="320040"/>
          </a:xfrm>
          <a:prstGeom prst="rect">
            <a:avLst/>
          </a:prstGeom>
          <a:noFill/>
          <a:ln/>
        </p:spPr>
        <p:txBody>
          <a:bodyPr wrap="square" lIns="0" tIns="0" rIns="0" bIns="0" rtlCol="0" anchor="t"/>
          <a:lstStyle/>
          <a:p>
            <a:pPr indent="0" marL="0">
              <a:buNone/>
            </a:pPr>
            <a:r>
              <a:rPr lang="en-US" sz="1500" b="1" dirty="0">
                <a:solidFill>
                  <a:srgbClr val="0E7C86"/>
                </a:solidFill>
                <a:latin typeface="Calibri" pitchFamily="34" charset="0"/>
                <a:ea typeface="Calibri" pitchFamily="34" charset="-122"/>
                <a:cs typeface="Calibri" pitchFamily="34" charset="-120"/>
              </a:rPr>
              <a:t>Diagnostiquer</a:t>
            </a:r>
            <a:endParaRPr lang="en-US" sz="1500" dirty="0"/>
          </a:p>
        </p:txBody>
      </p:sp>
      <p:sp>
        <p:nvSpPr>
          <p:cNvPr id="23" name="Text 19"/>
          <p:cNvSpPr txBox="1"/>
          <p:nvPr/>
        </p:nvSpPr>
        <p:spPr>
          <a:xfrm>
            <a:off x="621792" y="2148840"/>
            <a:ext cx="2304288" cy="105156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Comparer à une référence ; identifier les sur- et sous-représentés ; cartographier les cellules vides.</a:t>
            </a:r>
            <a:endParaRPr lang="en-US" sz="1050" dirty="0"/>
          </a:p>
        </p:txBody>
      </p:sp>
      <p:sp>
        <p:nvSpPr>
          <p:cNvPr id="24" name="Shape 20"/>
          <p:cNvSpPr/>
          <p:nvPr/>
        </p:nvSpPr>
        <p:spPr>
          <a:xfrm>
            <a:off x="566928" y="3246120"/>
            <a:ext cx="2395728" cy="1170432"/>
          </a:xfrm>
          <a:prstGeom prst="roundRect">
            <a:avLst>
              <a:gd name="adj" fmla="val 4688"/>
            </a:avLst>
          </a:prstGeom>
          <a:solidFill>
            <a:srgbClr val="E8F5EF"/>
          </a:solidFill>
          <a:ln w="12700">
            <a:solidFill>
              <a:srgbClr val="00A86A"/>
            </a:solidFill>
            <a:prstDash val="solid"/>
          </a:ln>
        </p:spPr>
      </p:sp>
      <p:pic>
        <p:nvPicPr>
          <p:cNvPr id="25" name="Image 1" descr="preencoded.png">    </p:cNvPr>
          <p:cNvPicPr>
            <a:picLocks noChangeAspect="1"/>
          </p:cNvPicPr>
          <p:nvPr/>
        </p:nvPicPr>
        <p:blipFill>
          <a:blip r:embed="rId2"/>
          <a:stretch>
            <a:fillRect/>
          </a:stretch>
        </p:blipFill>
        <p:spPr>
          <a:xfrm>
            <a:off x="676656" y="3337560"/>
            <a:ext cx="182880" cy="182880"/>
          </a:xfrm>
          <a:prstGeom prst="rect">
            <a:avLst/>
          </a:prstGeom>
        </p:spPr>
      </p:pic>
      <p:sp>
        <p:nvSpPr>
          <p:cNvPr id="26" name="Text 21"/>
          <p:cNvSpPr txBox="1"/>
          <p:nvPr/>
        </p:nvSpPr>
        <p:spPr>
          <a:xfrm>
            <a:off x="914400" y="3328416"/>
            <a:ext cx="1828800" cy="201168"/>
          </a:xfrm>
          <a:prstGeom prst="rect">
            <a:avLst/>
          </a:prstGeom>
          <a:noFill/>
          <a:ln/>
        </p:spPr>
        <p:txBody>
          <a:bodyPr wrap="square" lIns="0" tIns="0" rIns="0" bIns="0" rtlCol="0" anchor="t"/>
          <a:lstStyle/>
          <a:p>
            <a:pPr indent="0" marL="0">
              <a:buNone/>
            </a:pPr>
            <a:r>
              <a:rPr lang="en-US" sz="900" b="1" spc="100" kern="0" dirty="0">
                <a:solidFill>
                  <a:srgbClr val="00704A"/>
                </a:solidFill>
                <a:latin typeface="Calibri" pitchFamily="34" charset="0"/>
                <a:ea typeface="Calibri" pitchFamily="34" charset="-122"/>
                <a:cs typeface="Calibri" pitchFamily="34" charset="-120"/>
              </a:rPr>
              <a:t>DANS LE LABO OOKLA</a:t>
            </a:r>
            <a:endParaRPr lang="en-US" sz="900" dirty="0"/>
          </a:p>
        </p:txBody>
      </p:sp>
      <p:sp>
        <p:nvSpPr>
          <p:cNvPr id="27" name="Text 22"/>
          <p:cNvSpPr txBox="1"/>
          <p:nvPr/>
        </p:nvSpPr>
        <p:spPr>
          <a:xfrm>
            <a:off x="676656" y="3566160"/>
            <a:ext cx="2212848" cy="82296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Croiser les tuiles sans test avec la population WorldPop et les questions TIC du recensement.</a:t>
            </a:r>
            <a:endParaRPr lang="en-US" sz="1000" dirty="0"/>
          </a:p>
        </p:txBody>
      </p:sp>
      <p:sp>
        <p:nvSpPr>
          <p:cNvPr id="28" name="Shape 23"/>
          <p:cNvSpPr/>
          <p:nvPr/>
        </p:nvSpPr>
        <p:spPr>
          <a:xfrm>
            <a:off x="3090672" y="1828800"/>
            <a:ext cx="155448" cy="0"/>
          </a:xfrm>
          <a:prstGeom prst="line">
            <a:avLst/>
          </a:prstGeom>
          <a:noFill/>
          <a:ln w="15875">
            <a:solidFill>
              <a:srgbClr val="5E6964"/>
            </a:solidFill>
            <a:prstDash val="solid"/>
            <a:tailEnd type="triangle"/>
          </a:ln>
        </p:spPr>
      </p:sp>
      <p:sp>
        <p:nvSpPr>
          <p:cNvPr id="29" name="Shape 24"/>
          <p:cNvSpPr/>
          <p:nvPr/>
        </p:nvSpPr>
        <p:spPr>
          <a:xfrm>
            <a:off x="3264408" y="1371600"/>
            <a:ext cx="2615184" cy="3154680"/>
          </a:xfrm>
          <a:prstGeom prst="roundRect">
            <a:avLst>
              <a:gd name="adj" fmla="val 2797"/>
            </a:avLst>
          </a:prstGeom>
          <a:solidFill>
            <a:srgbClr val="F4F7F5"/>
          </a:solidFill>
          <a:ln w="9525">
            <a:solidFill>
              <a:srgbClr val="D5DED9"/>
            </a:solidFill>
            <a:prstDash val="solid"/>
          </a:ln>
        </p:spPr>
      </p:sp>
      <p:sp>
        <p:nvSpPr>
          <p:cNvPr id="30" name="Shape 25"/>
          <p:cNvSpPr/>
          <p:nvPr/>
        </p:nvSpPr>
        <p:spPr>
          <a:xfrm>
            <a:off x="3429000" y="1508760"/>
            <a:ext cx="502920" cy="502920"/>
          </a:xfrm>
          <a:prstGeom prst="ellipse">
            <a:avLst/>
          </a:prstGeom>
          <a:solidFill>
            <a:srgbClr val="0E7C86">
              <a:alpha val="22000"/>
            </a:srgbClr>
          </a:solidFill>
          <a:ln/>
        </p:spPr>
      </p:sp>
      <p:pic>
        <p:nvPicPr>
          <p:cNvPr id="31" name="Image 2" descr="preencoded.png">    </p:cNvPr>
          <p:cNvPicPr>
            <a:picLocks noChangeAspect="1"/>
          </p:cNvPicPr>
          <p:nvPr/>
        </p:nvPicPr>
        <p:blipFill>
          <a:blip r:embed="rId3"/>
          <a:stretch>
            <a:fillRect/>
          </a:stretch>
        </p:blipFill>
        <p:spPr>
          <a:xfrm>
            <a:off x="3554730" y="1634490"/>
            <a:ext cx="251460" cy="251460"/>
          </a:xfrm>
          <a:prstGeom prst="rect">
            <a:avLst/>
          </a:prstGeom>
        </p:spPr>
      </p:pic>
      <p:sp>
        <p:nvSpPr>
          <p:cNvPr id="32" name="Text 26"/>
          <p:cNvSpPr txBox="1"/>
          <p:nvPr/>
        </p:nvSpPr>
        <p:spPr>
          <a:xfrm>
            <a:off x="4041648" y="1517904"/>
            <a:ext cx="1371600" cy="182880"/>
          </a:xfrm>
          <a:prstGeom prst="rect">
            <a:avLst/>
          </a:prstGeom>
          <a:noFill/>
          <a:ln/>
        </p:spPr>
        <p:txBody>
          <a:bodyPr wrap="square" lIns="0" tIns="0" rIns="0" bIns="0" rtlCol="0" anchor="t"/>
          <a:lstStyle/>
          <a:p>
            <a:pPr indent="0" marL="0">
              <a:buNone/>
            </a:pPr>
            <a:r>
              <a:rPr lang="en-US" sz="950" b="1" spc="200" kern="0" dirty="0">
                <a:solidFill>
                  <a:srgbClr val="5E6964"/>
                </a:solidFill>
                <a:latin typeface="Calibri" pitchFamily="34" charset="0"/>
                <a:ea typeface="Calibri" pitchFamily="34" charset="-122"/>
                <a:cs typeface="Calibri" pitchFamily="34" charset="-120"/>
              </a:rPr>
              <a:t>ÉTAPE 2</a:t>
            </a:r>
            <a:endParaRPr lang="en-US" sz="950" dirty="0"/>
          </a:p>
        </p:txBody>
      </p:sp>
      <p:sp>
        <p:nvSpPr>
          <p:cNvPr id="33" name="Text 27"/>
          <p:cNvSpPr txBox="1"/>
          <p:nvPr/>
        </p:nvSpPr>
        <p:spPr>
          <a:xfrm>
            <a:off x="4041648" y="1700784"/>
            <a:ext cx="1783080" cy="320040"/>
          </a:xfrm>
          <a:prstGeom prst="rect">
            <a:avLst/>
          </a:prstGeom>
          <a:noFill/>
          <a:ln/>
        </p:spPr>
        <p:txBody>
          <a:bodyPr wrap="square" lIns="0" tIns="0" rIns="0" bIns="0" rtlCol="0" anchor="t"/>
          <a:lstStyle/>
          <a:p>
            <a:pPr indent="0" marL="0">
              <a:buNone/>
            </a:pPr>
            <a:r>
              <a:rPr lang="en-US" sz="1500" b="1" dirty="0">
                <a:solidFill>
                  <a:srgbClr val="0E7C86"/>
                </a:solidFill>
                <a:latin typeface="Calibri" pitchFamily="34" charset="0"/>
                <a:ea typeface="Calibri" pitchFamily="34" charset="-122"/>
                <a:cs typeface="Calibri" pitchFamily="34" charset="-120"/>
              </a:rPr>
              <a:t>Corriger</a:t>
            </a:r>
            <a:endParaRPr lang="en-US" sz="1500" dirty="0"/>
          </a:p>
        </p:txBody>
      </p:sp>
      <p:sp>
        <p:nvSpPr>
          <p:cNvPr id="34" name="Text 28"/>
          <p:cNvSpPr txBox="1"/>
          <p:nvPr/>
        </p:nvSpPr>
        <p:spPr>
          <a:xfrm>
            <a:off x="3429000" y="2148840"/>
            <a:ext cx="2304288" cy="105156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Calage sur totaux connus, post-stratification, pondération inverse, modèles pour petits domaines.</a:t>
            </a:r>
            <a:endParaRPr lang="en-US" sz="1050" dirty="0"/>
          </a:p>
        </p:txBody>
      </p:sp>
      <p:sp>
        <p:nvSpPr>
          <p:cNvPr id="35" name="Shape 29"/>
          <p:cNvSpPr/>
          <p:nvPr/>
        </p:nvSpPr>
        <p:spPr>
          <a:xfrm>
            <a:off x="3374136" y="3246120"/>
            <a:ext cx="2395728" cy="1170432"/>
          </a:xfrm>
          <a:prstGeom prst="roundRect">
            <a:avLst>
              <a:gd name="adj" fmla="val 4688"/>
            </a:avLst>
          </a:prstGeom>
          <a:solidFill>
            <a:srgbClr val="E8F5EF"/>
          </a:solidFill>
          <a:ln w="12700">
            <a:solidFill>
              <a:srgbClr val="00A86A"/>
            </a:solidFill>
            <a:prstDash val="solid"/>
          </a:ln>
        </p:spPr>
      </p:sp>
      <p:pic>
        <p:nvPicPr>
          <p:cNvPr id="36" name="Image 3" descr="preencoded.png">    </p:cNvPr>
          <p:cNvPicPr>
            <a:picLocks noChangeAspect="1"/>
          </p:cNvPicPr>
          <p:nvPr/>
        </p:nvPicPr>
        <p:blipFill>
          <a:blip r:embed="rId4"/>
          <a:stretch>
            <a:fillRect/>
          </a:stretch>
        </p:blipFill>
        <p:spPr>
          <a:xfrm>
            <a:off x="3483864" y="3337560"/>
            <a:ext cx="182880" cy="182880"/>
          </a:xfrm>
          <a:prstGeom prst="rect">
            <a:avLst/>
          </a:prstGeom>
        </p:spPr>
      </p:pic>
      <p:sp>
        <p:nvSpPr>
          <p:cNvPr id="37" name="Text 30"/>
          <p:cNvSpPr txBox="1"/>
          <p:nvPr/>
        </p:nvSpPr>
        <p:spPr>
          <a:xfrm>
            <a:off x="3721608" y="3328416"/>
            <a:ext cx="1828800" cy="201168"/>
          </a:xfrm>
          <a:prstGeom prst="rect">
            <a:avLst/>
          </a:prstGeom>
          <a:noFill/>
          <a:ln/>
        </p:spPr>
        <p:txBody>
          <a:bodyPr wrap="square" lIns="0" tIns="0" rIns="0" bIns="0" rtlCol="0" anchor="t"/>
          <a:lstStyle/>
          <a:p>
            <a:pPr indent="0" marL="0">
              <a:buNone/>
            </a:pPr>
            <a:r>
              <a:rPr lang="en-US" sz="900" b="1" spc="100" kern="0" dirty="0">
                <a:solidFill>
                  <a:srgbClr val="00704A"/>
                </a:solidFill>
                <a:latin typeface="Calibri" pitchFamily="34" charset="0"/>
                <a:ea typeface="Calibri" pitchFamily="34" charset="-122"/>
                <a:cs typeface="Calibri" pitchFamily="34" charset="-120"/>
              </a:rPr>
              <a:t>DANS LE LABO OOKLA</a:t>
            </a:r>
            <a:endParaRPr lang="en-US" sz="900" dirty="0"/>
          </a:p>
        </p:txBody>
      </p:sp>
      <p:sp>
        <p:nvSpPr>
          <p:cNvPr id="38" name="Text 31"/>
          <p:cNvSpPr txBox="1"/>
          <p:nvPr/>
        </p:nvSpPr>
        <p:spPr>
          <a:xfrm>
            <a:off x="3483864" y="3566160"/>
            <a:ext cx="2212848" cy="82296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Pondérer les débits par la population WorldPop plutôt que par le nombre de tests.</a:t>
            </a:r>
            <a:endParaRPr lang="en-US" sz="1000" dirty="0"/>
          </a:p>
        </p:txBody>
      </p:sp>
      <p:sp>
        <p:nvSpPr>
          <p:cNvPr id="39" name="Shape 32"/>
          <p:cNvSpPr/>
          <p:nvPr/>
        </p:nvSpPr>
        <p:spPr>
          <a:xfrm>
            <a:off x="5897880" y="1828800"/>
            <a:ext cx="155448" cy="0"/>
          </a:xfrm>
          <a:prstGeom prst="line">
            <a:avLst/>
          </a:prstGeom>
          <a:noFill/>
          <a:ln w="15875">
            <a:solidFill>
              <a:srgbClr val="5E6964"/>
            </a:solidFill>
            <a:prstDash val="solid"/>
            <a:tailEnd type="triangle"/>
          </a:ln>
        </p:spPr>
      </p:sp>
      <p:sp>
        <p:nvSpPr>
          <p:cNvPr id="40" name="Shape 33"/>
          <p:cNvSpPr/>
          <p:nvPr/>
        </p:nvSpPr>
        <p:spPr>
          <a:xfrm>
            <a:off x="6071616" y="1371600"/>
            <a:ext cx="2615184" cy="3154680"/>
          </a:xfrm>
          <a:prstGeom prst="roundRect">
            <a:avLst>
              <a:gd name="adj" fmla="val 2797"/>
            </a:avLst>
          </a:prstGeom>
          <a:solidFill>
            <a:srgbClr val="F4F7F5"/>
          </a:solidFill>
          <a:ln w="9525">
            <a:solidFill>
              <a:srgbClr val="D5DED9"/>
            </a:solidFill>
            <a:prstDash val="solid"/>
          </a:ln>
        </p:spPr>
      </p:sp>
      <p:sp>
        <p:nvSpPr>
          <p:cNvPr id="41" name="Shape 34"/>
          <p:cNvSpPr/>
          <p:nvPr/>
        </p:nvSpPr>
        <p:spPr>
          <a:xfrm>
            <a:off x="6236208" y="1508760"/>
            <a:ext cx="502920" cy="502920"/>
          </a:xfrm>
          <a:prstGeom prst="ellipse">
            <a:avLst/>
          </a:prstGeom>
          <a:solidFill>
            <a:srgbClr val="0E7C86">
              <a:alpha val="22000"/>
            </a:srgbClr>
          </a:solidFill>
          <a:ln/>
        </p:spPr>
      </p:sp>
      <p:pic>
        <p:nvPicPr>
          <p:cNvPr id="42" name="Image 4" descr="preencoded.png">    </p:cNvPr>
          <p:cNvPicPr>
            <a:picLocks noChangeAspect="1"/>
          </p:cNvPicPr>
          <p:nvPr/>
        </p:nvPicPr>
        <p:blipFill>
          <a:blip r:embed="rId5"/>
          <a:stretch>
            <a:fillRect/>
          </a:stretch>
        </p:blipFill>
        <p:spPr>
          <a:xfrm>
            <a:off x="6361938" y="1634490"/>
            <a:ext cx="251460" cy="251460"/>
          </a:xfrm>
          <a:prstGeom prst="rect">
            <a:avLst/>
          </a:prstGeom>
        </p:spPr>
      </p:pic>
      <p:sp>
        <p:nvSpPr>
          <p:cNvPr id="43" name="Text 35"/>
          <p:cNvSpPr txBox="1"/>
          <p:nvPr/>
        </p:nvSpPr>
        <p:spPr>
          <a:xfrm>
            <a:off x="6848856" y="1517904"/>
            <a:ext cx="1371600" cy="182880"/>
          </a:xfrm>
          <a:prstGeom prst="rect">
            <a:avLst/>
          </a:prstGeom>
          <a:noFill/>
          <a:ln/>
        </p:spPr>
        <p:txBody>
          <a:bodyPr wrap="square" lIns="0" tIns="0" rIns="0" bIns="0" rtlCol="0" anchor="t"/>
          <a:lstStyle/>
          <a:p>
            <a:pPr indent="0" marL="0">
              <a:buNone/>
            </a:pPr>
            <a:r>
              <a:rPr lang="en-US" sz="950" b="1" spc="200" kern="0" dirty="0">
                <a:solidFill>
                  <a:srgbClr val="5E6964"/>
                </a:solidFill>
                <a:latin typeface="Calibri" pitchFamily="34" charset="0"/>
                <a:ea typeface="Calibri" pitchFamily="34" charset="-122"/>
                <a:cs typeface="Calibri" pitchFamily="34" charset="-120"/>
              </a:rPr>
              <a:t>ÉTAPE 3</a:t>
            </a:r>
            <a:endParaRPr lang="en-US" sz="950" dirty="0"/>
          </a:p>
        </p:txBody>
      </p:sp>
      <p:sp>
        <p:nvSpPr>
          <p:cNvPr id="44" name="Text 36"/>
          <p:cNvSpPr txBox="1"/>
          <p:nvPr/>
        </p:nvSpPr>
        <p:spPr>
          <a:xfrm>
            <a:off x="6848856" y="1700784"/>
            <a:ext cx="1783080" cy="320040"/>
          </a:xfrm>
          <a:prstGeom prst="rect">
            <a:avLst/>
          </a:prstGeom>
          <a:noFill/>
          <a:ln/>
        </p:spPr>
        <p:txBody>
          <a:bodyPr wrap="square" lIns="0" tIns="0" rIns="0" bIns="0" rtlCol="0" anchor="t"/>
          <a:lstStyle/>
          <a:p>
            <a:pPr indent="0" marL="0">
              <a:buNone/>
            </a:pPr>
            <a:r>
              <a:rPr lang="en-US" sz="1500" b="1" dirty="0">
                <a:solidFill>
                  <a:srgbClr val="0E7C86"/>
                </a:solidFill>
                <a:latin typeface="Calibri" pitchFamily="34" charset="0"/>
                <a:ea typeface="Calibri" pitchFamily="34" charset="-122"/>
                <a:cs typeface="Calibri" pitchFamily="34" charset="-120"/>
              </a:rPr>
              <a:t>Recadrer</a:t>
            </a:r>
            <a:endParaRPr lang="en-US" sz="1500" dirty="0"/>
          </a:p>
        </p:txBody>
      </p:sp>
      <p:sp>
        <p:nvSpPr>
          <p:cNvPr id="45" name="Text 37"/>
          <p:cNvSpPr txBox="1"/>
          <p:nvPr/>
        </p:nvSpPr>
        <p:spPr>
          <a:xfrm>
            <a:off x="6236208" y="2148840"/>
            <a:ext cx="2304288" cy="105156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Si les niveaux restent biaisés, publier évolutions, classements ou retournements — ou rester en diagnostic.</a:t>
            </a:r>
            <a:endParaRPr lang="en-US" sz="1050" dirty="0"/>
          </a:p>
        </p:txBody>
      </p:sp>
      <p:sp>
        <p:nvSpPr>
          <p:cNvPr id="46" name="Shape 38"/>
          <p:cNvSpPr/>
          <p:nvPr/>
        </p:nvSpPr>
        <p:spPr>
          <a:xfrm>
            <a:off x="6181344" y="3246120"/>
            <a:ext cx="2395728" cy="1170432"/>
          </a:xfrm>
          <a:prstGeom prst="roundRect">
            <a:avLst>
              <a:gd name="adj" fmla="val 4688"/>
            </a:avLst>
          </a:prstGeom>
          <a:solidFill>
            <a:srgbClr val="E8F5EF"/>
          </a:solidFill>
          <a:ln w="12700">
            <a:solidFill>
              <a:srgbClr val="00A86A"/>
            </a:solidFill>
            <a:prstDash val="solid"/>
          </a:ln>
        </p:spPr>
      </p:sp>
      <p:pic>
        <p:nvPicPr>
          <p:cNvPr id="47" name="Image 5" descr="preencoded.png">    </p:cNvPr>
          <p:cNvPicPr>
            <a:picLocks noChangeAspect="1"/>
          </p:cNvPicPr>
          <p:nvPr/>
        </p:nvPicPr>
        <p:blipFill>
          <a:blip r:embed="rId6"/>
          <a:stretch>
            <a:fillRect/>
          </a:stretch>
        </p:blipFill>
        <p:spPr>
          <a:xfrm>
            <a:off x="6291072" y="3337560"/>
            <a:ext cx="182880" cy="182880"/>
          </a:xfrm>
          <a:prstGeom prst="rect">
            <a:avLst/>
          </a:prstGeom>
        </p:spPr>
      </p:pic>
      <p:sp>
        <p:nvSpPr>
          <p:cNvPr id="48" name="Text 39"/>
          <p:cNvSpPr txBox="1"/>
          <p:nvPr/>
        </p:nvSpPr>
        <p:spPr>
          <a:xfrm>
            <a:off x="6528816" y="3328416"/>
            <a:ext cx="1828800" cy="201168"/>
          </a:xfrm>
          <a:prstGeom prst="rect">
            <a:avLst/>
          </a:prstGeom>
          <a:noFill/>
          <a:ln/>
        </p:spPr>
        <p:txBody>
          <a:bodyPr wrap="square" lIns="0" tIns="0" rIns="0" bIns="0" rtlCol="0" anchor="t"/>
          <a:lstStyle/>
          <a:p>
            <a:pPr indent="0" marL="0">
              <a:buNone/>
            </a:pPr>
            <a:r>
              <a:rPr lang="en-US" sz="900" b="1" spc="100" kern="0" dirty="0">
                <a:solidFill>
                  <a:srgbClr val="00704A"/>
                </a:solidFill>
                <a:latin typeface="Calibri" pitchFamily="34" charset="0"/>
                <a:ea typeface="Calibri" pitchFamily="34" charset="-122"/>
                <a:cs typeface="Calibri" pitchFamily="34" charset="-120"/>
              </a:rPr>
              <a:t>DANS LE LABO OOKLA</a:t>
            </a:r>
            <a:endParaRPr lang="en-US" sz="900" dirty="0"/>
          </a:p>
        </p:txBody>
      </p:sp>
      <p:sp>
        <p:nvSpPr>
          <p:cNvPr id="49" name="Text 40"/>
          <p:cNvSpPr txBox="1"/>
          <p:nvPr/>
        </p:nvSpPr>
        <p:spPr>
          <a:xfrm>
            <a:off x="6291072" y="3566160"/>
            <a:ext cx="2212848" cy="82296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Publier l'évolution trimestrielle et le classement régional, avec une note explicite de limites.</a:t>
            </a:r>
            <a:endParaRPr lang="en-US" sz="10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QUALITÉ ET BIAIS</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Nommer le concept, l'indicateur indirect et l'écart</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Les problèmes de validité sont rarement techniques : ils sont conceptuels et doivent être écrits.</a:t>
            </a:r>
            <a:endParaRPr lang="en-US" sz="1150" dirty="0"/>
          </a:p>
        </p:txBody>
      </p:sp>
      <p:sp>
        <p:nvSpPr>
          <p:cNvPr id="9" name="Shape 7"/>
          <p:cNvSpPr/>
          <p:nvPr/>
        </p:nvSpPr>
        <p:spPr>
          <a:xfrm>
            <a:off x="7662672" y="329184"/>
            <a:ext cx="100584" cy="100584"/>
          </a:xfrm>
          <a:prstGeom prst="ellipse">
            <a:avLst/>
          </a:prstGeom>
          <a:solidFill>
            <a:srgbClr val="D5DED9"/>
          </a:solidFill>
          <a:ln/>
        </p:spPr>
      </p:sp>
      <p:sp>
        <p:nvSpPr>
          <p:cNvPr id="10" name="Shape 8"/>
          <p:cNvSpPr/>
          <p:nvPr/>
        </p:nvSpPr>
        <p:spPr>
          <a:xfrm>
            <a:off x="7845552" y="329184"/>
            <a:ext cx="100584" cy="100584"/>
          </a:xfrm>
          <a:prstGeom prst="ellipse">
            <a:avLst/>
          </a:prstGeom>
          <a:solidFill>
            <a:srgbClr val="D5DED9"/>
          </a:solidFill>
          <a:ln/>
        </p:spPr>
      </p:sp>
      <p:sp>
        <p:nvSpPr>
          <p:cNvPr id="11" name="Shape 9"/>
          <p:cNvSpPr/>
          <p:nvPr/>
        </p:nvSpPr>
        <p:spPr>
          <a:xfrm>
            <a:off x="8028432" y="329184"/>
            <a:ext cx="100584" cy="100584"/>
          </a:xfrm>
          <a:prstGeom prst="ellipse">
            <a:avLst/>
          </a:prstGeom>
          <a:solidFill>
            <a:srgbClr val="0E7C86"/>
          </a:solidFill>
          <a:ln/>
        </p:spPr>
      </p:sp>
      <p:sp>
        <p:nvSpPr>
          <p:cNvPr id="12" name="Shape 10"/>
          <p:cNvSpPr/>
          <p:nvPr/>
        </p:nvSpPr>
        <p:spPr>
          <a:xfrm>
            <a:off x="8211312" y="329184"/>
            <a:ext cx="100584" cy="100584"/>
          </a:xfrm>
          <a:prstGeom prst="ellipse">
            <a:avLst/>
          </a:prstGeom>
          <a:solidFill>
            <a:srgbClr val="D5DED9"/>
          </a:solidFill>
          <a:ln/>
        </p:spPr>
      </p:sp>
      <p:sp>
        <p:nvSpPr>
          <p:cNvPr id="13" name="Shape 11"/>
          <p:cNvSpPr/>
          <p:nvPr/>
        </p:nvSpPr>
        <p:spPr>
          <a:xfrm>
            <a:off x="8394192" y="329184"/>
            <a:ext cx="100584" cy="100584"/>
          </a:xfrm>
          <a:prstGeom prst="ellipse">
            <a:avLst/>
          </a:prstGeom>
          <a:solidFill>
            <a:srgbClr val="D5DED9"/>
          </a:solidFill>
          <a:ln/>
        </p:spPr>
      </p:sp>
      <p:sp>
        <p:nvSpPr>
          <p:cNvPr id="14" name="Shape 12"/>
          <p:cNvSpPr/>
          <p:nvPr/>
        </p:nvSpPr>
        <p:spPr>
          <a:xfrm>
            <a:off x="8577072" y="329184"/>
            <a:ext cx="100584" cy="100584"/>
          </a:xfrm>
          <a:prstGeom prst="ellipse">
            <a:avLst/>
          </a:prstGeom>
          <a:solidFill>
            <a:srgbClr val="D5DED9"/>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Sources de données non traditionnelles · Le trésor caché · Atelier STG17</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24</a:t>
            </a:r>
            <a:endParaRPr lang="en-US" sz="850" dirty="0"/>
          </a:p>
        </p:txBody>
      </p:sp>
      <p:pic>
        <p:nvPicPr>
          <p:cNvPr id="18" name="Image 0" descr="preencoded.png">    </p:cNvPr>
          <p:cNvPicPr>
            <a:picLocks noChangeAspect="1"/>
          </p:cNvPicPr>
          <p:nvPr/>
        </p:nvPicPr>
        <p:blipFill>
          <a:blip r:embed="rId1"/>
          <a:stretch>
            <a:fillRect/>
          </a:stretch>
        </p:blipFill>
        <p:spPr>
          <a:xfrm>
            <a:off x="457200" y="1371600"/>
            <a:ext cx="201168" cy="201168"/>
          </a:xfrm>
          <a:prstGeom prst="rect">
            <a:avLst/>
          </a:prstGeom>
        </p:spPr>
      </p:pic>
      <p:sp>
        <p:nvSpPr>
          <p:cNvPr id="19" name="Text 15"/>
          <p:cNvSpPr txBox="1"/>
          <p:nvPr/>
        </p:nvSpPr>
        <p:spPr>
          <a:xfrm>
            <a:off x="731520" y="1353312"/>
            <a:ext cx="2286000" cy="237744"/>
          </a:xfrm>
          <a:prstGeom prst="rect">
            <a:avLst/>
          </a:prstGeom>
          <a:noFill/>
          <a:ln/>
        </p:spPr>
        <p:txBody>
          <a:bodyPr wrap="square" lIns="0" tIns="0" rIns="0" bIns="0" rtlCol="0" anchor="ctr"/>
          <a:lstStyle/>
          <a:p>
            <a:pPr indent="0" marL="0">
              <a:buNone/>
            </a:pPr>
            <a:r>
              <a:rPr lang="en-US" sz="1050" b="1" spc="200" kern="0" dirty="0">
                <a:solidFill>
                  <a:srgbClr val="00704A"/>
                </a:solidFill>
                <a:latin typeface="Calibri" pitchFamily="34" charset="0"/>
                <a:ea typeface="Calibri" pitchFamily="34" charset="-122"/>
                <a:cs typeface="Calibri" pitchFamily="34" charset="-120"/>
              </a:rPr>
              <a:t>CONCEPT CIBLE</a:t>
            </a:r>
            <a:endParaRPr lang="en-US" sz="1050" dirty="0"/>
          </a:p>
        </p:txBody>
      </p:sp>
      <p:pic>
        <p:nvPicPr>
          <p:cNvPr id="20" name="Image 1" descr="preencoded.png">    </p:cNvPr>
          <p:cNvPicPr>
            <a:picLocks noChangeAspect="1"/>
          </p:cNvPicPr>
          <p:nvPr/>
        </p:nvPicPr>
        <p:blipFill>
          <a:blip r:embed="rId2"/>
          <a:stretch>
            <a:fillRect/>
          </a:stretch>
        </p:blipFill>
        <p:spPr>
          <a:xfrm>
            <a:off x="2743200" y="1371600"/>
            <a:ext cx="201168" cy="201168"/>
          </a:xfrm>
          <a:prstGeom prst="rect">
            <a:avLst/>
          </a:prstGeom>
        </p:spPr>
      </p:pic>
      <p:sp>
        <p:nvSpPr>
          <p:cNvPr id="21" name="Text 16"/>
          <p:cNvSpPr txBox="1"/>
          <p:nvPr/>
        </p:nvSpPr>
        <p:spPr>
          <a:xfrm>
            <a:off x="3017520" y="1353312"/>
            <a:ext cx="2286000" cy="237744"/>
          </a:xfrm>
          <a:prstGeom prst="rect">
            <a:avLst/>
          </a:prstGeom>
          <a:noFill/>
          <a:ln/>
        </p:spPr>
        <p:txBody>
          <a:bodyPr wrap="square" lIns="0" tIns="0" rIns="0" bIns="0" rtlCol="0" anchor="ctr"/>
          <a:lstStyle/>
          <a:p>
            <a:pPr indent="0" marL="0">
              <a:buNone/>
            </a:pPr>
            <a:r>
              <a:rPr lang="en-US" sz="1050" b="1" spc="200" kern="0" dirty="0">
                <a:solidFill>
                  <a:srgbClr val="0E7C86"/>
                </a:solidFill>
                <a:latin typeface="Calibri" pitchFamily="34" charset="0"/>
                <a:ea typeface="Calibri" pitchFamily="34" charset="-122"/>
                <a:cs typeface="Calibri" pitchFamily="34" charset="-120"/>
              </a:rPr>
              <a:t>INDICATEUR OBSERVÉ</a:t>
            </a:r>
            <a:endParaRPr lang="en-US" sz="1050" dirty="0"/>
          </a:p>
        </p:txBody>
      </p:sp>
      <p:pic>
        <p:nvPicPr>
          <p:cNvPr id="22" name="Image 2" descr="preencoded.png">    </p:cNvPr>
          <p:cNvPicPr>
            <a:picLocks noChangeAspect="1"/>
          </p:cNvPicPr>
          <p:nvPr/>
        </p:nvPicPr>
        <p:blipFill>
          <a:blip r:embed="rId3"/>
          <a:stretch>
            <a:fillRect/>
          </a:stretch>
        </p:blipFill>
        <p:spPr>
          <a:xfrm>
            <a:off x="5029200" y="1371600"/>
            <a:ext cx="201168" cy="201168"/>
          </a:xfrm>
          <a:prstGeom prst="rect">
            <a:avLst/>
          </a:prstGeom>
        </p:spPr>
      </p:pic>
      <p:sp>
        <p:nvSpPr>
          <p:cNvPr id="23" name="Text 17"/>
          <p:cNvSpPr txBox="1"/>
          <p:nvPr/>
        </p:nvSpPr>
        <p:spPr>
          <a:xfrm>
            <a:off x="5303520" y="1353312"/>
            <a:ext cx="2286000" cy="237744"/>
          </a:xfrm>
          <a:prstGeom prst="rect">
            <a:avLst/>
          </a:prstGeom>
          <a:noFill/>
          <a:ln/>
        </p:spPr>
        <p:txBody>
          <a:bodyPr wrap="square" lIns="0" tIns="0" rIns="0" bIns="0" rtlCol="0" anchor="ctr"/>
          <a:lstStyle/>
          <a:p>
            <a:pPr indent="0" marL="0">
              <a:buNone/>
            </a:pPr>
            <a:r>
              <a:rPr lang="en-US" sz="1050" b="1" spc="200" kern="0" dirty="0">
                <a:solidFill>
                  <a:srgbClr val="D49A00"/>
                </a:solidFill>
                <a:latin typeface="Calibri" pitchFamily="34" charset="0"/>
                <a:ea typeface="Calibri" pitchFamily="34" charset="-122"/>
                <a:cs typeface="Calibri" pitchFamily="34" charset="-120"/>
              </a:rPr>
              <a:t>ÉCART À DOCUMENTER</a:t>
            </a:r>
            <a:endParaRPr lang="en-US" sz="1050" dirty="0"/>
          </a:p>
        </p:txBody>
      </p:sp>
      <p:sp>
        <p:nvSpPr>
          <p:cNvPr id="24" name="Shape 18"/>
          <p:cNvSpPr/>
          <p:nvPr/>
        </p:nvSpPr>
        <p:spPr>
          <a:xfrm>
            <a:off x="457200" y="1691640"/>
            <a:ext cx="2148840" cy="475488"/>
          </a:xfrm>
          <a:prstGeom prst="roundRect">
            <a:avLst>
              <a:gd name="adj" fmla="val 11538"/>
            </a:avLst>
          </a:prstGeom>
          <a:solidFill>
            <a:srgbClr val="E8F5EF"/>
          </a:solidFill>
          <a:ln w="9525">
            <a:solidFill>
              <a:srgbClr val="D5DED9"/>
            </a:solidFill>
            <a:prstDash val="solid"/>
          </a:ln>
        </p:spPr>
      </p:sp>
      <p:sp>
        <p:nvSpPr>
          <p:cNvPr id="25" name="Text 19"/>
          <p:cNvSpPr txBox="1"/>
          <p:nvPr/>
        </p:nvSpPr>
        <p:spPr>
          <a:xfrm>
            <a:off x="548640" y="1691640"/>
            <a:ext cx="1965960" cy="475488"/>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Activité économique locale</a:t>
            </a:r>
            <a:endParaRPr lang="en-US" sz="1100" dirty="0"/>
          </a:p>
        </p:txBody>
      </p:sp>
      <p:sp>
        <p:nvSpPr>
          <p:cNvPr id="26" name="Shape 20"/>
          <p:cNvSpPr/>
          <p:nvPr/>
        </p:nvSpPr>
        <p:spPr>
          <a:xfrm>
            <a:off x="2743200" y="1691640"/>
            <a:ext cx="2148840" cy="475488"/>
          </a:xfrm>
          <a:prstGeom prst="roundRect">
            <a:avLst>
              <a:gd name="adj" fmla="val 11538"/>
            </a:avLst>
          </a:prstGeom>
          <a:solidFill>
            <a:srgbClr val="F4F7F5"/>
          </a:solidFill>
          <a:ln w="9525">
            <a:solidFill>
              <a:srgbClr val="D5DED9"/>
            </a:solidFill>
            <a:prstDash val="solid"/>
          </a:ln>
        </p:spPr>
      </p:sp>
      <p:sp>
        <p:nvSpPr>
          <p:cNvPr id="27" name="Text 21"/>
          <p:cNvSpPr txBox="1"/>
          <p:nvPr/>
        </p:nvSpPr>
        <p:spPr>
          <a:xfrm>
            <a:off x="2834640" y="1691640"/>
            <a:ext cx="1965960" cy="475488"/>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Radiance des lumières nocturnes</a:t>
            </a:r>
            <a:endParaRPr lang="en-US" sz="1000" dirty="0"/>
          </a:p>
        </p:txBody>
      </p:sp>
      <p:sp>
        <p:nvSpPr>
          <p:cNvPr id="28" name="Shape 22"/>
          <p:cNvSpPr/>
          <p:nvPr/>
        </p:nvSpPr>
        <p:spPr>
          <a:xfrm>
            <a:off x="5029200" y="1691640"/>
            <a:ext cx="3657600" cy="475488"/>
          </a:xfrm>
          <a:prstGeom prst="roundRect">
            <a:avLst>
              <a:gd name="adj" fmla="val 11538"/>
            </a:avLst>
          </a:prstGeom>
          <a:solidFill>
            <a:srgbClr val="FDF6E3"/>
          </a:solidFill>
          <a:ln w="9525">
            <a:solidFill>
              <a:srgbClr val="D49A00"/>
            </a:solidFill>
            <a:prstDash val="solid"/>
          </a:ln>
        </p:spPr>
      </p:sp>
      <p:sp>
        <p:nvSpPr>
          <p:cNvPr id="29" name="Text 23"/>
          <p:cNvSpPr txBox="1"/>
          <p:nvPr/>
        </p:nvSpPr>
        <p:spPr>
          <a:xfrm>
            <a:off x="5120640" y="1691640"/>
            <a:ext cx="3474720" cy="475488"/>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Saturation urbaine, torchères, activité informelle non éclairée, agriculture</a:t>
            </a:r>
            <a:endParaRPr lang="en-US" sz="1000" dirty="0"/>
          </a:p>
        </p:txBody>
      </p:sp>
      <p:sp>
        <p:nvSpPr>
          <p:cNvPr id="30" name="Shape 24"/>
          <p:cNvSpPr/>
          <p:nvPr/>
        </p:nvSpPr>
        <p:spPr>
          <a:xfrm>
            <a:off x="2624328" y="1929384"/>
            <a:ext cx="100584" cy="0"/>
          </a:xfrm>
          <a:prstGeom prst="line">
            <a:avLst/>
          </a:prstGeom>
          <a:noFill/>
          <a:ln w="12700">
            <a:solidFill>
              <a:srgbClr val="5E6964"/>
            </a:solidFill>
            <a:prstDash val="solid"/>
            <a:tailEnd type="triangle"/>
          </a:ln>
        </p:spPr>
      </p:sp>
      <p:sp>
        <p:nvSpPr>
          <p:cNvPr id="31" name="Shape 25"/>
          <p:cNvSpPr/>
          <p:nvPr/>
        </p:nvSpPr>
        <p:spPr>
          <a:xfrm>
            <a:off x="4910328" y="1929384"/>
            <a:ext cx="100584" cy="0"/>
          </a:xfrm>
          <a:prstGeom prst="line">
            <a:avLst/>
          </a:prstGeom>
          <a:noFill/>
          <a:ln w="12700">
            <a:solidFill>
              <a:srgbClr val="5E6964"/>
            </a:solidFill>
            <a:prstDash val="solid"/>
            <a:tailEnd type="triangle"/>
          </a:ln>
        </p:spPr>
      </p:sp>
      <p:sp>
        <p:nvSpPr>
          <p:cNvPr id="32" name="Shape 26"/>
          <p:cNvSpPr/>
          <p:nvPr/>
        </p:nvSpPr>
        <p:spPr>
          <a:xfrm>
            <a:off x="457200" y="2258568"/>
            <a:ext cx="2148840" cy="475488"/>
          </a:xfrm>
          <a:prstGeom prst="roundRect">
            <a:avLst>
              <a:gd name="adj" fmla="val 11538"/>
            </a:avLst>
          </a:prstGeom>
          <a:solidFill>
            <a:srgbClr val="E8F5EF"/>
          </a:solidFill>
          <a:ln w="9525">
            <a:solidFill>
              <a:srgbClr val="D5DED9"/>
            </a:solidFill>
            <a:prstDash val="solid"/>
          </a:ln>
        </p:spPr>
      </p:sp>
      <p:sp>
        <p:nvSpPr>
          <p:cNvPr id="33" name="Text 27"/>
          <p:cNvSpPr txBox="1"/>
          <p:nvPr/>
        </p:nvSpPr>
        <p:spPr>
          <a:xfrm>
            <a:off x="548640" y="2258568"/>
            <a:ext cx="1965960" cy="475488"/>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Qualité de l'accès internet</a:t>
            </a:r>
            <a:endParaRPr lang="en-US" sz="1100" dirty="0"/>
          </a:p>
        </p:txBody>
      </p:sp>
      <p:sp>
        <p:nvSpPr>
          <p:cNvPr id="34" name="Shape 28"/>
          <p:cNvSpPr/>
          <p:nvPr/>
        </p:nvSpPr>
        <p:spPr>
          <a:xfrm>
            <a:off x="2743200" y="2258568"/>
            <a:ext cx="2148840" cy="475488"/>
          </a:xfrm>
          <a:prstGeom prst="roundRect">
            <a:avLst>
              <a:gd name="adj" fmla="val 11538"/>
            </a:avLst>
          </a:prstGeom>
          <a:solidFill>
            <a:srgbClr val="F4F7F5"/>
          </a:solidFill>
          <a:ln w="9525">
            <a:solidFill>
              <a:srgbClr val="D5DED9"/>
            </a:solidFill>
            <a:prstDash val="solid"/>
          </a:ln>
        </p:spPr>
      </p:sp>
      <p:sp>
        <p:nvSpPr>
          <p:cNvPr id="35" name="Text 29"/>
          <p:cNvSpPr txBox="1"/>
          <p:nvPr/>
        </p:nvSpPr>
        <p:spPr>
          <a:xfrm>
            <a:off x="2834640" y="2258568"/>
            <a:ext cx="1965960" cy="475488"/>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Tests de débit participatifs</a:t>
            </a:r>
            <a:endParaRPr lang="en-US" sz="1000" dirty="0"/>
          </a:p>
        </p:txBody>
      </p:sp>
      <p:sp>
        <p:nvSpPr>
          <p:cNvPr id="36" name="Shape 30"/>
          <p:cNvSpPr/>
          <p:nvPr/>
        </p:nvSpPr>
        <p:spPr>
          <a:xfrm>
            <a:off x="5029200" y="2258568"/>
            <a:ext cx="3657600" cy="475488"/>
          </a:xfrm>
          <a:prstGeom prst="roundRect">
            <a:avLst>
              <a:gd name="adj" fmla="val 11538"/>
            </a:avLst>
          </a:prstGeom>
          <a:solidFill>
            <a:srgbClr val="FDF6E3"/>
          </a:solidFill>
          <a:ln w="9525">
            <a:solidFill>
              <a:srgbClr val="D49A00"/>
            </a:solidFill>
            <a:prstDash val="solid"/>
          </a:ln>
        </p:spPr>
      </p:sp>
      <p:sp>
        <p:nvSpPr>
          <p:cNvPr id="37" name="Text 31"/>
          <p:cNvSpPr txBox="1"/>
          <p:nvPr/>
        </p:nvSpPr>
        <p:spPr>
          <a:xfrm>
            <a:off x="5120640" y="2258568"/>
            <a:ext cx="3474720" cy="475488"/>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Un test n'est pas un usager ; auto-sélection ; tuile vide ≠ absence de signal</a:t>
            </a:r>
            <a:endParaRPr lang="en-US" sz="1000" dirty="0"/>
          </a:p>
        </p:txBody>
      </p:sp>
      <p:sp>
        <p:nvSpPr>
          <p:cNvPr id="38" name="Shape 32"/>
          <p:cNvSpPr/>
          <p:nvPr/>
        </p:nvSpPr>
        <p:spPr>
          <a:xfrm>
            <a:off x="2624328" y="2496312"/>
            <a:ext cx="100584" cy="0"/>
          </a:xfrm>
          <a:prstGeom prst="line">
            <a:avLst/>
          </a:prstGeom>
          <a:noFill/>
          <a:ln w="12700">
            <a:solidFill>
              <a:srgbClr val="5E6964"/>
            </a:solidFill>
            <a:prstDash val="solid"/>
            <a:tailEnd type="triangle"/>
          </a:ln>
        </p:spPr>
      </p:sp>
      <p:sp>
        <p:nvSpPr>
          <p:cNvPr id="39" name="Shape 33"/>
          <p:cNvSpPr/>
          <p:nvPr/>
        </p:nvSpPr>
        <p:spPr>
          <a:xfrm>
            <a:off x="4910328" y="2496312"/>
            <a:ext cx="100584" cy="0"/>
          </a:xfrm>
          <a:prstGeom prst="line">
            <a:avLst/>
          </a:prstGeom>
          <a:noFill/>
          <a:ln w="12700">
            <a:solidFill>
              <a:srgbClr val="5E6964"/>
            </a:solidFill>
            <a:prstDash val="solid"/>
            <a:tailEnd type="triangle"/>
          </a:ln>
        </p:spPr>
      </p:sp>
      <p:sp>
        <p:nvSpPr>
          <p:cNvPr id="40" name="Shape 34"/>
          <p:cNvSpPr/>
          <p:nvPr/>
        </p:nvSpPr>
        <p:spPr>
          <a:xfrm>
            <a:off x="457200" y="2825496"/>
            <a:ext cx="2148840" cy="475488"/>
          </a:xfrm>
          <a:prstGeom prst="roundRect">
            <a:avLst>
              <a:gd name="adj" fmla="val 11538"/>
            </a:avLst>
          </a:prstGeom>
          <a:solidFill>
            <a:srgbClr val="E8F5EF"/>
          </a:solidFill>
          <a:ln w="9525">
            <a:solidFill>
              <a:srgbClr val="D5DED9"/>
            </a:solidFill>
            <a:prstDash val="solid"/>
          </a:ln>
        </p:spPr>
      </p:sp>
      <p:sp>
        <p:nvSpPr>
          <p:cNvPr id="41" name="Text 35"/>
          <p:cNvSpPr txBox="1"/>
          <p:nvPr/>
        </p:nvSpPr>
        <p:spPr>
          <a:xfrm>
            <a:off x="548640" y="2825496"/>
            <a:ext cx="1965960" cy="475488"/>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Population présente</a:t>
            </a:r>
            <a:endParaRPr lang="en-US" sz="1100" dirty="0"/>
          </a:p>
        </p:txBody>
      </p:sp>
      <p:sp>
        <p:nvSpPr>
          <p:cNvPr id="42" name="Shape 36"/>
          <p:cNvSpPr/>
          <p:nvPr/>
        </p:nvSpPr>
        <p:spPr>
          <a:xfrm>
            <a:off x="2743200" y="2825496"/>
            <a:ext cx="2148840" cy="475488"/>
          </a:xfrm>
          <a:prstGeom prst="roundRect">
            <a:avLst>
              <a:gd name="adj" fmla="val 11538"/>
            </a:avLst>
          </a:prstGeom>
          <a:solidFill>
            <a:srgbClr val="F4F7F5"/>
          </a:solidFill>
          <a:ln w="9525">
            <a:solidFill>
              <a:srgbClr val="D5DED9"/>
            </a:solidFill>
            <a:prstDash val="solid"/>
          </a:ln>
        </p:spPr>
      </p:sp>
      <p:sp>
        <p:nvSpPr>
          <p:cNvPr id="43" name="Text 37"/>
          <p:cNvSpPr txBox="1"/>
          <p:nvPr/>
        </p:nvSpPr>
        <p:spPr>
          <a:xfrm>
            <a:off x="2834640" y="2825496"/>
            <a:ext cx="1965960" cy="475488"/>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Cartes SIM actives par antenne</a:t>
            </a:r>
            <a:endParaRPr lang="en-US" sz="1000" dirty="0"/>
          </a:p>
        </p:txBody>
      </p:sp>
      <p:sp>
        <p:nvSpPr>
          <p:cNvPr id="44" name="Shape 38"/>
          <p:cNvSpPr/>
          <p:nvPr/>
        </p:nvSpPr>
        <p:spPr>
          <a:xfrm>
            <a:off x="5029200" y="2825496"/>
            <a:ext cx="3657600" cy="475488"/>
          </a:xfrm>
          <a:prstGeom prst="roundRect">
            <a:avLst>
              <a:gd name="adj" fmla="val 11538"/>
            </a:avLst>
          </a:prstGeom>
          <a:solidFill>
            <a:srgbClr val="FDF6E3"/>
          </a:solidFill>
          <a:ln w="9525">
            <a:solidFill>
              <a:srgbClr val="D49A00"/>
            </a:solidFill>
            <a:prstDash val="solid"/>
          </a:ln>
        </p:spPr>
      </p:sp>
      <p:sp>
        <p:nvSpPr>
          <p:cNvPr id="45" name="Text 39"/>
          <p:cNvSpPr txBox="1"/>
          <p:nvPr/>
        </p:nvSpPr>
        <p:spPr>
          <a:xfrm>
            <a:off x="5120640" y="2825496"/>
            <a:ext cx="3474720" cy="475488"/>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Multi-SIM, téléphones partagés, enfants et non-connectés</a:t>
            </a:r>
            <a:endParaRPr lang="en-US" sz="1000" dirty="0"/>
          </a:p>
        </p:txBody>
      </p:sp>
      <p:sp>
        <p:nvSpPr>
          <p:cNvPr id="46" name="Shape 40"/>
          <p:cNvSpPr/>
          <p:nvPr/>
        </p:nvSpPr>
        <p:spPr>
          <a:xfrm>
            <a:off x="2624328" y="3063240"/>
            <a:ext cx="100584" cy="0"/>
          </a:xfrm>
          <a:prstGeom prst="line">
            <a:avLst/>
          </a:prstGeom>
          <a:noFill/>
          <a:ln w="12700">
            <a:solidFill>
              <a:srgbClr val="5E6964"/>
            </a:solidFill>
            <a:prstDash val="solid"/>
            <a:tailEnd type="triangle"/>
          </a:ln>
        </p:spPr>
      </p:sp>
      <p:sp>
        <p:nvSpPr>
          <p:cNvPr id="47" name="Shape 41"/>
          <p:cNvSpPr/>
          <p:nvPr/>
        </p:nvSpPr>
        <p:spPr>
          <a:xfrm>
            <a:off x="4910328" y="3063240"/>
            <a:ext cx="100584" cy="0"/>
          </a:xfrm>
          <a:prstGeom prst="line">
            <a:avLst/>
          </a:prstGeom>
          <a:noFill/>
          <a:ln w="12700">
            <a:solidFill>
              <a:srgbClr val="5E6964"/>
            </a:solidFill>
            <a:prstDash val="solid"/>
            <a:tailEnd type="triangle"/>
          </a:ln>
        </p:spPr>
      </p:sp>
      <p:sp>
        <p:nvSpPr>
          <p:cNvPr id="48" name="Shape 42"/>
          <p:cNvSpPr/>
          <p:nvPr/>
        </p:nvSpPr>
        <p:spPr>
          <a:xfrm>
            <a:off x="457200" y="3392424"/>
            <a:ext cx="2148840" cy="475488"/>
          </a:xfrm>
          <a:prstGeom prst="roundRect">
            <a:avLst>
              <a:gd name="adj" fmla="val 11538"/>
            </a:avLst>
          </a:prstGeom>
          <a:solidFill>
            <a:srgbClr val="E8F5EF"/>
          </a:solidFill>
          <a:ln w="9525">
            <a:solidFill>
              <a:srgbClr val="D5DED9"/>
            </a:solidFill>
            <a:prstDash val="solid"/>
          </a:ln>
        </p:spPr>
      </p:sp>
      <p:sp>
        <p:nvSpPr>
          <p:cNvPr id="49" name="Text 43"/>
          <p:cNvSpPr txBox="1"/>
          <p:nvPr/>
        </p:nvSpPr>
        <p:spPr>
          <a:xfrm>
            <a:off x="548640" y="3392424"/>
            <a:ext cx="1965960" cy="475488"/>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Prix à la consommation</a:t>
            </a:r>
            <a:endParaRPr lang="en-US" sz="1100" dirty="0"/>
          </a:p>
        </p:txBody>
      </p:sp>
      <p:sp>
        <p:nvSpPr>
          <p:cNvPr id="50" name="Shape 44"/>
          <p:cNvSpPr/>
          <p:nvPr/>
        </p:nvSpPr>
        <p:spPr>
          <a:xfrm>
            <a:off x="2743200" y="3392424"/>
            <a:ext cx="2148840" cy="475488"/>
          </a:xfrm>
          <a:prstGeom prst="roundRect">
            <a:avLst>
              <a:gd name="adj" fmla="val 11538"/>
            </a:avLst>
          </a:prstGeom>
          <a:solidFill>
            <a:srgbClr val="F4F7F5"/>
          </a:solidFill>
          <a:ln w="9525">
            <a:solidFill>
              <a:srgbClr val="D5DED9"/>
            </a:solidFill>
            <a:prstDash val="solid"/>
          </a:ln>
        </p:spPr>
      </p:sp>
      <p:sp>
        <p:nvSpPr>
          <p:cNvPr id="51" name="Text 45"/>
          <p:cNvSpPr txBox="1"/>
          <p:nvPr/>
        </p:nvSpPr>
        <p:spPr>
          <a:xfrm>
            <a:off x="2834640" y="3392424"/>
            <a:ext cx="1965960" cy="475488"/>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Prix affichés en ligne</a:t>
            </a:r>
            <a:endParaRPr lang="en-US" sz="1000" dirty="0"/>
          </a:p>
        </p:txBody>
      </p:sp>
      <p:sp>
        <p:nvSpPr>
          <p:cNvPr id="52" name="Shape 46"/>
          <p:cNvSpPr/>
          <p:nvPr/>
        </p:nvSpPr>
        <p:spPr>
          <a:xfrm>
            <a:off x="5029200" y="3392424"/>
            <a:ext cx="3657600" cy="475488"/>
          </a:xfrm>
          <a:prstGeom prst="roundRect">
            <a:avLst>
              <a:gd name="adj" fmla="val 11538"/>
            </a:avLst>
          </a:prstGeom>
          <a:solidFill>
            <a:srgbClr val="FDF6E3"/>
          </a:solidFill>
          <a:ln w="9525">
            <a:solidFill>
              <a:srgbClr val="D49A00"/>
            </a:solidFill>
            <a:prstDash val="solid"/>
          </a:ln>
        </p:spPr>
      </p:sp>
      <p:sp>
        <p:nvSpPr>
          <p:cNvPr id="53" name="Text 47"/>
          <p:cNvSpPr txBox="1"/>
          <p:nvPr/>
        </p:nvSpPr>
        <p:spPr>
          <a:xfrm>
            <a:off x="5120640" y="3392424"/>
            <a:ext cx="3474720" cy="475488"/>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Une offre n'est pas une transaction ; marchés informels absents</a:t>
            </a:r>
            <a:endParaRPr lang="en-US" sz="1000" dirty="0"/>
          </a:p>
        </p:txBody>
      </p:sp>
      <p:sp>
        <p:nvSpPr>
          <p:cNvPr id="54" name="Shape 48"/>
          <p:cNvSpPr/>
          <p:nvPr/>
        </p:nvSpPr>
        <p:spPr>
          <a:xfrm>
            <a:off x="2624328" y="3630168"/>
            <a:ext cx="100584" cy="0"/>
          </a:xfrm>
          <a:prstGeom prst="line">
            <a:avLst/>
          </a:prstGeom>
          <a:noFill/>
          <a:ln w="12700">
            <a:solidFill>
              <a:srgbClr val="5E6964"/>
            </a:solidFill>
            <a:prstDash val="solid"/>
            <a:tailEnd type="triangle"/>
          </a:ln>
        </p:spPr>
      </p:sp>
      <p:sp>
        <p:nvSpPr>
          <p:cNvPr id="55" name="Shape 49"/>
          <p:cNvSpPr/>
          <p:nvPr/>
        </p:nvSpPr>
        <p:spPr>
          <a:xfrm>
            <a:off x="4910328" y="3630168"/>
            <a:ext cx="100584" cy="0"/>
          </a:xfrm>
          <a:prstGeom prst="line">
            <a:avLst/>
          </a:prstGeom>
          <a:noFill/>
          <a:ln w="12700">
            <a:solidFill>
              <a:srgbClr val="5E6964"/>
            </a:solidFill>
            <a:prstDash val="solid"/>
            <a:tailEnd type="triangle"/>
          </a:ln>
        </p:spPr>
      </p:sp>
      <p:sp>
        <p:nvSpPr>
          <p:cNvPr id="56" name="Shape 50"/>
          <p:cNvSpPr/>
          <p:nvPr/>
        </p:nvSpPr>
        <p:spPr>
          <a:xfrm>
            <a:off x="457200" y="3959352"/>
            <a:ext cx="2148840" cy="475488"/>
          </a:xfrm>
          <a:prstGeom prst="roundRect">
            <a:avLst>
              <a:gd name="adj" fmla="val 11538"/>
            </a:avLst>
          </a:prstGeom>
          <a:solidFill>
            <a:srgbClr val="E8F5EF"/>
          </a:solidFill>
          <a:ln w="9525">
            <a:solidFill>
              <a:srgbClr val="D5DED9"/>
            </a:solidFill>
            <a:prstDash val="solid"/>
          </a:ln>
        </p:spPr>
      </p:sp>
      <p:sp>
        <p:nvSpPr>
          <p:cNvPr id="57" name="Text 51"/>
          <p:cNvSpPr txBox="1"/>
          <p:nvPr/>
        </p:nvSpPr>
        <p:spPr>
          <a:xfrm>
            <a:off x="548640" y="3959352"/>
            <a:ext cx="1965960" cy="475488"/>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Opinion publique</a:t>
            </a:r>
            <a:endParaRPr lang="en-US" sz="1100" dirty="0"/>
          </a:p>
        </p:txBody>
      </p:sp>
      <p:sp>
        <p:nvSpPr>
          <p:cNvPr id="58" name="Shape 52"/>
          <p:cNvSpPr/>
          <p:nvPr/>
        </p:nvSpPr>
        <p:spPr>
          <a:xfrm>
            <a:off x="2743200" y="3959352"/>
            <a:ext cx="2148840" cy="475488"/>
          </a:xfrm>
          <a:prstGeom prst="roundRect">
            <a:avLst>
              <a:gd name="adj" fmla="val 11538"/>
            </a:avLst>
          </a:prstGeom>
          <a:solidFill>
            <a:srgbClr val="F4F7F5"/>
          </a:solidFill>
          <a:ln w="9525">
            <a:solidFill>
              <a:srgbClr val="D5DED9"/>
            </a:solidFill>
            <a:prstDash val="solid"/>
          </a:ln>
        </p:spPr>
      </p:sp>
      <p:sp>
        <p:nvSpPr>
          <p:cNvPr id="59" name="Text 53"/>
          <p:cNvSpPr txBox="1"/>
          <p:nvPr/>
        </p:nvSpPr>
        <p:spPr>
          <a:xfrm>
            <a:off x="2834640" y="3959352"/>
            <a:ext cx="1965960" cy="475488"/>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Tonalité des réseaux sociaux</a:t>
            </a:r>
            <a:endParaRPr lang="en-US" sz="1000" dirty="0"/>
          </a:p>
        </p:txBody>
      </p:sp>
      <p:sp>
        <p:nvSpPr>
          <p:cNvPr id="60" name="Shape 54"/>
          <p:cNvSpPr/>
          <p:nvPr/>
        </p:nvSpPr>
        <p:spPr>
          <a:xfrm>
            <a:off x="5029200" y="3959352"/>
            <a:ext cx="3657600" cy="475488"/>
          </a:xfrm>
          <a:prstGeom prst="roundRect">
            <a:avLst>
              <a:gd name="adj" fmla="val 11538"/>
            </a:avLst>
          </a:prstGeom>
          <a:solidFill>
            <a:srgbClr val="FDF6E3"/>
          </a:solidFill>
          <a:ln w="9525">
            <a:solidFill>
              <a:srgbClr val="D49A00"/>
            </a:solidFill>
            <a:prstDash val="solid"/>
          </a:ln>
        </p:spPr>
      </p:sp>
      <p:sp>
        <p:nvSpPr>
          <p:cNvPr id="61" name="Text 55"/>
          <p:cNvSpPr txBox="1"/>
          <p:nvPr/>
        </p:nvSpPr>
        <p:spPr>
          <a:xfrm>
            <a:off x="5120640" y="3959352"/>
            <a:ext cx="3474720" cy="475488"/>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Opinion des utilisateurs actifs, amplifiée par les algorithmes</a:t>
            </a:r>
            <a:endParaRPr lang="en-US" sz="1000" dirty="0"/>
          </a:p>
        </p:txBody>
      </p:sp>
      <p:sp>
        <p:nvSpPr>
          <p:cNvPr id="62" name="Shape 56"/>
          <p:cNvSpPr/>
          <p:nvPr/>
        </p:nvSpPr>
        <p:spPr>
          <a:xfrm>
            <a:off x="2624328" y="4197096"/>
            <a:ext cx="100584" cy="0"/>
          </a:xfrm>
          <a:prstGeom prst="line">
            <a:avLst/>
          </a:prstGeom>
          <a:noFill/>
          <a:ln w="12700">
            <a:solidFill>
              <a:srgbClr val="5E6964"/>
            </a:solidFill>
            <a:prstDash val="solid"/>
            <a:tailEnd type="triangle"/>
          </a:ln>
        </p:spPr>
      </p:sp>
      <p:sp>
        <p:nvSpPr>
          <p:cNvPr id="63" name="Shape 57"/>
          <p:cNvSpPr/>
          <p:nvPr/>
        </p:nvSpPr>
        <p:spPr>
          <a:xfrm>
            <a:off x="4910328" y="4197096"/>
            <a:ext cx="100584" cy="0"/>
          </a:xfrm>
          <a:prstGeom prst="line">
            <a:avLst/>
          </a:prstGeom>
          <a:noFill/>
          <a:ln w="12700">
            <a:solidFill>
              <a:srgbClr val="5E6964"/>
            </a:solidFill>
            <a:prstDash val="solid"/>
            <a:tailEnd type="triangle"/>
          </a:ln>
        </p:spPr>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640080"/>
            <a:ext cx="3657600" cy="22860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SECTION 4 SUR 6</a:t>
            </a:r>
            <a:endParaRPr lang="en-US" sz="1100" dirty="0"/>
          </a:p>
        </p:txBody>
      </p:sp>
      <p:sp>
        <p:nvSpPr>
          <p:cNvPr id="4" name="Text 1"/>
          <p:cNvSpPr txBox="1"/>
          <p:nvPr/>
        </p:nvSpPr>
        <p:spPr>
          <a:xfrm>
            <a:off x="502920" y="914400"/>
            <a:ext cx="2743200" cy="1280160"/>
          </a:xfrm>
          <a:prstGeom prst="rect">
            <a:avLst/>
          </a:prstGeom>
          <a:noFill/>
          <a:ln/>
        </p:spPr>
        <p:txBody>
          <a:bodyPr wrap="square" lIns="0" tIns="0" rIns="0" bIns="0" rtlCol="0" anchor="t"/>
          <a:lstStyle/>
          <a:p>
            <a:pPr indent="0" marL="0">
              <a:buNone/>
            </a:pPr>
            <a:r>
              <a:rPr lang="en-US" sz="9600" b="1" dirty="0">
                <a:solidFill>
                  <a:srgbClr val="F5C242"/>
                </a:solidFill>
                <a:latin typeface="Calibri" pitchFamily="34" charset="0"/>
                <a:ea typeface="Calibri" pitchFamily="34" charset="-122"/>
                <a:cs typeface="Calibri" pitchFamily="34" charset="-120"/>
              </a:rPr>
              <a:t>04</a:t>
            </a:r>
            <a:endParaRPr lang="en-US" sz="9600" dirty="0"/>
          </a:p>
        </p:txBody>
      </p:sp>
      <p:sp>
        <p:nvSpPr>
          <p:cNvPr id="5" name="Text 2"/>
          <p:cNvSpPr txBox="1"/>
          <p:nvPr/>
        </p:nvSpPr>
        <p:spPr>
          <a:xfrm>
            <a:off x="548640" y="2331720"/>
            <a:ext cx="5486400" cy="68580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Accès et partenariats</a:t>
            </a:r>
            <a:endParaRPr lang="en-US" sz="3600" dirty="0"/>
          </a:p>
        </p:txBody>
      </p:sp>
      <p:sp>
        <p:nvSpPr>
          <p:cNvPr id="6" name="Text 3"/>
          <p:cNvSpPr txBox="1"/>
          <p:nvPr/>
        </p:nvSpPr>
        <p:spPr>
          <a:xfrm>
            <a:off x="548640" y="3108960"/>
            <a:ext cx="475488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Les données existent. Pourquoi les obtenir est-il la partie la plus difficile du projet ?</a:t>
            </a:r>
            <a:endParaRPr lang="en-US" sz="1800" dirty="0"/>
          </a:p>
        </p:txBody>
      </p:sp>
      <p:sp>
        <p:nvSpPr>
          <p:cNvPr id="7" name="Shape 4"/>
          <p:cNvSpPr/>
          <p:nvPr/>
        </p:nvSpPr>
        <p:spPr>
          <a:xfrm>
            <a:off x="566928" y="4343400"/>
            <a:ext cx="100584" cy="100584"/>
          </a:xfrm>
          <a:prstGeom prst="ellipse">
            <a:avLst/>
          </a:prstGeom>
          <a:solidFill>
            <a:srgbClr val="FFFFFF">
              <a:alpha val="35000"/>
            </a:srgbClr>
          </a:solidFill>
          <a:ln/>
        </p:spPr>
      </p:sp>
      <p:sp>
        <p:nvSpPr>
          <p:cNvPr id="8" name="Shape 5"/>
          <p:cNvSpPr/>
          <p:nvPr/>
        </p:nvSpPr>
        <p:spPr>
          <a:xfrm>
            <a:off x="749808" y="4343400"/>
            <a:ext cx="100584" cy="100584"/>
          </a:xfrm>
          <a:prstGeom prst="ellipse">
            <a:avLst/>
          </a:prstGeom>
          <a:solidFill>
            <a:srgbClr val="FFFFFF">
              <a:alpha val="35000"/>
            </a:srgbClr>
          </a:solidFill>
          <a:ln/>
        </p:spPr>
      </p:sp>
      <p:sp>
        <p:nvSpPr>
          <p:cNvPr id="9" name="Shape 6"/>
          <p:cNvSpPr/>
          <p:nvPr/>
        </p:nvSpPr>
        <p:spPr>
          <a:xfrm>
            <a:off x="932688" y="4343400"/>
            <a:ext cx="100584" cy="100584"/>
          </a:xfrm>
          <a:prstGeom prst="ellipse">
            <a:avLst/>
          </a:prstGeom>
          <a:solidFill>
            <a:srgbClr val="FFFFFF">
              <a:alpha val="35000"/>
            </a:srgbClr>
          </a:solidFill>
          <a:ln/>
        </p:spPr>
      </p:sp>
      <p:sp>
        <p:nvSpPr>
          <p:cNvPr id="10" name="Shape 7"/>
          <p:cNvSpPr/>
          <p:nvPr/>
        </p:nvSpPr>
        <p:spPr>
          <a:xfrm>
            <a:off x="1115568" y="4343400"/>
            <a:ext cx="100584" cy="100584"/>
          </a:xfrm>
          <a:prstGeom prst="ellipse">
            <a:avLst/>
          </a:prstGeom>
          <a:solidFill>
            <a:srgbClr val="F5C242"/>
          </a:solidFill>
          <a:ln/>
        </p:spPr>
      </p:sp>
      <p:sp>
        <p:nvSpPr>
          <p:cNvPr id="11" name="Shape 8"/>
          <p:cNvSpPr/>
          <p:nvPr/>
        </p:nvSpPr>
        <p:spPr>
          <a:xfrm>
            <a:off x="1298448" y="4343400"/>
            <a:ext cx="100584" cy="100584"/>
          </a:xfrm>
          <a:prstGeom prst="ellipse">
            <a:avLst/>
          </a:prstGeom>
          <a:solidFill>
            <a:srgbClr val="FFFFFF">
              <a:alpha val="35000"/>
            </a:srgbClr>
          </a:solidFill>
          <a:ln/>
        </p:spPr>
      </p:sp>
      <p:sp>
        <p:nvSpPr>
          <p:cNvPr id="12" name="Shape 9"/>
          <p:cNvSpPr/>
          <p:nvPr/>
        </p:nvSpPr>
        <p:spPr>
          <a:xfrm>
            <a:off x="1481328" y="4343400"/>
            <a:ext cx="100584" cy="100584"/>
          </a:xfrm>
          <a:prstGeom prst="ellipse">
            <a:avLst/>
          </a:prstGeom>
          <a:solidFill>
            <a:srgbClr val="FFFFFF">
              <a:alpha val="35000"/>
            </a:srgbClr>
          </a:solidFill>
          <a:ln/>
        </p:spPr>
      </p:sp>
      <p:sp>
        <p:nvSpPr>
          <p:cNvPr id="13" name="Shape 10"/>
          <p:cNvSpPr/>
          <p:nvPr/>
        </p:nvSpPr>
        <p:spPr>
          <a:xfrm>
            <a:off x="5989320" y="1143000"/>
            <a:ext cx="2651760" cy="2651760"/>
          </a:xfrm>
          <a:prstGeom prst="ellipse">
            <a:avLst/>
          </a:prstGeom>
          <a:solidFill>
            <a:srgbClr val="FFFFFF">
              <a:alpha val="12000"/>
            </a:srgbClr>
          </a:solidFill>
          <a:ln/>
        </p:spPr>
      </p:sp>
      <p:sp>
        <p:nvSpPr>
          <p:cNvPr id="14" name="Shape 11"/>
          <p:cNvSpPr/>
          <p:nvPr/>
        </p:nvSpPr>
        <p:spPr>
          <a:xfrm>
            <a:off x="6355080" y="1508760"/>
            <a:ext cx="1920240" cy="1920240"/>
          </a:xfrm>
          <a:prstGeom prst="ellipse">
            <a:avLst/>
          </a:prstGeom>
          <a:solidFill>
            <a:srgbClr val="FFFFFF">
              <a:alpha val="20000"/>
            </a:srgbClr>
          </a:solidFill>
          <a:ln/>
        </p:spPr>
      </p:sp>
      <p:sp>
        <p:nvSpPr>
          <p:cNvPr id="15" name="Shape 12"/>
          <p:cNvSpPr/>
          <p:nvPr/>
        </p:nvSpPr>
        <p:spPr>
          <a:xfrm>
            <a:off x="6675120" y="1828800"/>
            <a:ext cx="1280160" cy="1280160"/>
          </a:xfrm>
          <a:prstGeom prst="ellipse">
            <a:avLst/>
          </a:prstGeom>
          <a:solidFill>
            <a:srgbClr val="FFFFFF"/>
          </a:solidFill>
          <a:ln/>
        </p:spPr>
      </p:sp>
      <p:pic>
        <p:nvPicPr>
          <p:cNvPr id="16" name="Image 0" descr="preencoded.png">    </p:cNvPr>
          <p:cNvPicPr>
            <a:picLocks noChangeAspect="1"/>
          </p:cNvPicPr>
          <p:nvPr/>
        </p:nvPicPr>
        <p:blipFill>
          <a:blip r:embed="rId2"/>
          <a:stretch>
            <a:fillRect/>
          </a:stretch>
        </p:blipFill>
        <p:spPr>
          <a:xfrm>
            <a:off x="6995160" y="2148840"/>
            <a:ext cx="640080" cy="640080"/>
          </a:xfrm>
          <a:prstGeom prst="rect">
            <a:avLst/>
          </a:prstGeom>
        </p:spPr>
      </p:pic>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ACCÈS ET PARTENARIATS</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Cinq façons d'obtenir des données détenues par d'autres</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Du plus rapide à mettre en place au plus durable. Les programmes matures en combinent plusieurs.</a:t>
            </a:r>
            <a:endParaRPr lang="en-US" sz="1150" dirty="0"/>
          </a:p>
        </p:txBody>
      </p:sp>
      <p:sp>
        <p:nvSpPr>
          <p:cNvPr id="9" name="Shape 7"/>
          <p:cNvSpPr/>
          <p:nvPr/>
        </p:nvSpPr>
        <p:spPr>
          <a:xfrm>
            <a:off x="7662672" y="329184"/>
            <a:ext cx="100584" cy="100584"/>
          </a:xfrm>
          <a:prstGeom prst="ellipse">
            <a:avLst/>
          </a:prstGeom>
          <a:solidFill>
            <a:srgbClr val="D5DED9"/>
          </a:solidFill>
          <a:ln/>
        </p:spPr>
      </p:sp>
      <p:sp>
        <p:nvSpPr>
          <p:cNvPr id="10" name="Shape 8"/>
          <p:cNvSpPr/>
          <p:nvPr/>
        </p:nvSpPr>
        <p:spPr>
          <a:xfrm>
            <a:off x="7845552" y="329184"/>
            <a:ext cx="100584" cy="100584"/>
          </a:xfrm>
          <a:prstGeom prst="ellipse">
            <a:avLst/>
          </a:prstGeom>
          <a:solidFill>
            <a:srgbClr val="D5DED9"/>
          </a:solidFill>
          <a:ln/>
        </p:spPr>
      </p:sp>
      <p:sp>
        <p:nvSpPr>
          <p:cNvPr id="11" name="Shape 9"/>
          <p:cNvSpPr/>
          <p:nvPr/>
        </p:nvSpPr>
        <p:spPr>
          <a:xfrm>
            <a:off x="8028432" y="329184"/>
            <a:ext cx="100584" cy="100584"/>
          </a:xfrm>
          <a:prstGeom prst="ellipse">
            <a:avLst/>
          </a:prstGeom>
          <a:solidFill>
            <a:srgbClr val="D5DED9"/>
          </a:solidFill>
          <a:ln/>
        </p:spPr>
      </p:sp>
      <p:sp>
        <p:nvSpPr>
          <p:cNvPr id="12" name="Shape 10"/>
          <p:cNvSpPr/>
          <p:nvPr/>
        </p:nvSpPr>
        <p:spPr>
          <a:xfrm>
            <a:off x="8211312" y="329184"/>
            <a:ext cx="100584" cy="100584"/>
          </a:xfrm>
          <a:prstGeom prst="ellipse">
            <a:avLst/>
          </a:prstGeom>
          <a:solidFill>
            <a:srgbClr val="D49A00"/>
          </a:solidFill>
          <a:ln/>
        </p:spPr>
      </p:sp>
      <p:sp>
        <p:nvSpPr>
          <p:cNvPr id="13" name="Shape 11"/>
          <p:cNvSpPr/>
          <p:nvPr/>
        </p:nvSpPr>
        <p:spPr>
          <a:xfrm>
            <a:off x="8394192" y="329184"/>
            <a:ext cx="100584" cy="100584"/>
          </a:xfrm>
          <a:prstGeom prst="ellipse">
            <a:avLst/>
          </a:prstGeom>
          <a:solidFill>
            <a:srgbClr val="D5DED9"/>
          </a:solidFill>
          <a:ln/>
        </p:spPr>
      </p:sp>
      <p:sp>
        <p:nvSpPr>
          <p:cNvPr id="14" name="Shape 12"/>
          <p:cNvSpPr/>
          <p:nvPr/>
        </p:nvSpPr>
        <p:spPr>
          <a:xfrm>
            <a:off x="8577072" y="329184"/>
            <a:ext cx="100584" cy="100584"/>
          </a:xfrm>
          <a:prstGeom prst="ellipse">
            <a:avLst/>
          </a:prstGeom>
          <a:solidFill>
            <a:srgbClr val="D5DED9"/>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Sources de données non traditionnelles · Le trésor caché · Atelier STG17</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26</a:t>
            </a:r>
            <a:endParaRPr lang="en-US" sz="850" dirty="0"/>
          </a:p>
        </p:txBody>
      </p:sp>
      <p:sp>
        <p:nvSpPr>
          <p:cNvPr id="18" name="Shape 15"/>
          <p:cNvSpPr/>
          <p:nvPr/>
        </p:nvSpPr>
        <p:spPr>
          <a:xfrm>
            <a:off x="640080" y="1417320"/>
            <a:ext cx="7863840" cy="0"/>
          </a:xfrm>
          <a:prstGeom prst="line">
            <a:avLst/>
          </a:prstGeom>
          <a:noFill/>
          <a:ln w="19050">
            <a:solidFill>
              <a:srgbClr val="D49A00"/>
            </a:solidFill>
            <a:prstDash val="solid"/>
            <a:tailEnd type="triangle"/>
          </a:ln>
        </p:spPr>
      </p:sp>
      <p:sp>
        <p:nvSpPr>
          <p:cNvPr id="19" name="Text 16"/>
          <p:cNvSpPr txBox="1"/>
          <p:nvPr/>
        </p:nvSpPr>
        <p:spPr>
          <a:xfrm>
            <a:off x="457200" y="1188720"/>
            <a:ext cx="1828800"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plus rapide à lancer</a:t>
            </a:r>
            <a:endParaRPr lang="en-US" sz="900" dirty="0"/>
          </a:p>
        </p:txBody>
      </p:sp>
      <p:sp>
        <p:nvSpPr>
          <p:cNvPr id="20" name="Text 17"/>
          <p:cNvSpPr txBox="1"/>
          <p:nvPr/>
        </p:nvSpPr>
        <p:spPr>
          <a:xfrm>
            <a:off x="6858000" y="1188720"/>
            <a:ext cx="1828800" cy="182880"/>
          </a:xfrm>
          <a:prstGeom prst="rect">
            <a:avLst/>
          </a:prstGeom>
          <a:noFill/>
          <a:ln/>
        </p:spPr>
        <p:txBody>
          <a:bodyPr wrap="square" lIns="0" tIns="0" rIns="0" bIns="0" rtlCol="0" anchor="t"/>
          <a:lstStyle/>
          <a:p>
            <a:pPr algn="r" indent="0" marL="0">
              <a:buNone/>
            </a:pPr>
            <a:r>
              <a:rPr lang="en-US" sz="900" i="1" dirty="0">
                <a:solidFill>
                  <a:srgbClr val="5E6964"/>
                </a:solidFill>
                <a:latin typeface="Calibri" pitchFamily="34" charset="0"/>
                <a:ea typeface="Calibri" pitchFamily="34" charset="-122"/>
                <a:cs typeface="Calibri" pitchFamily="34" charset="-120"/>
              </a:rPr>
              <a:t>plus durable</a:t>
            </a:r>
            <a:endParaRPr lang="en-US" sz="900" dirty="0"/>
          </a:p>
        </p:txBody>
      </p:sp>
      <p:sp>
        <p:nvSpPr>
          <p:cNvPr id="21" name="Shape 18"/>
          <p:cNvSpPr/>
          <p:nvPr/>
        </p:nvSpPr>
        <p:spPr>
          <a:xfrm>
            <a:off x="457200" y="1600200"/>
            <a:ext cx="1554480" cy="2926080"/>
          </a:xfrm>
          <a:prstGeom prst="roundRect">
            <a:avLst>
              <a:gd name="adj" fmla="val 4706"/>
            </a:avLst>
          </a:prstGeom>
          <a:solidFill>
            <a:srgbClr val="F4F7F5"/>
          </a:solidFill>
          <a:ln w="9525">
            <a:solidFill>
              <a:srgbClr val="D5DED9"/>
            </a:solidFill>
            <a:prstDash val="solid"/>
          </a:ln>
        </p:spPr>
      </p:sp>
      <p:sp>
        <p:nvSpPr>
          <p:cNvPr id="22" name="Shape 19"/>
          <p:cNvSpPr/>
          <p:nvPr/>
        </p:nvSpPr>
        <p:spPr>
          <a:xfrm>
            <a:off x="960120" y="1737360"/>
            <a:ext cx="548640" cy="548640"/>
          </a:xfrm>
          <a:prstGeom prst="ellipse">
            <a:avLst/>
          </a:prstGeom>
          <a:solidFill>
            <a:srgbClr val="D49A00">
              <a:alpha val="22000"/>
            </a:srgbClr>
          </a:solidFill>
          <a:ln/>
        </p:spPr>
      </p:sp>
      <p:pic>
        <p:nvPicPr>
          <p:cNvPr id="23" name="Image 0" descr="preencoded.png">    </p:cNvPr>
          <p:cNvPicPr>
            <a:picLocks noChangeAspect="1"/>
          </p:cNvPicPr>
          <p:nvPr/>
        </p:nvPicPr>
        <p:blipFill>
          <a:blip r:embed="rId1"/>
          <a:stretch>
            <a:fillRect/>
          </a:stretch>
        </p:blipFill>
        <p:spPr>
          <a:xfrm>
            <a:off x="1097280" y="1874520"/>
            <a:ext cx="274320" cy="274320"/>
          </a:xfrm>
          <a:prstGeom prst="rect">
            <a:avLst/>
          </a:prstGeom>
        </p:spPr>
      </p:pic>
      <p:sp>
        <p:nvSpPr>
          <p:cNvPr id="24" name="Text 20"/>
          <p:cNvSpPr txBox="1"/>
          <p:nvPr/>
        </p:nvSpPr>
        <p:spPr>
          <a:xfrm>
            <a:off x="512064" y="2359152"/>
            <a:ext cx="1444752" cy="411480"/>
          </a:xfrm>
          <a:prstGeom prst="rect">
            <a:avLst/>
          </a:prstGeom>
          <a:noFill/>
          <a:ln/>
        </p:spPr>
        <p:txBody>
          <a:bodyPr wrap="square" lIns="0" tIns="0" rIns="0" bIns="0" rtlCol="0" anchor="ctr"/>
          <a:lstStyle/>
          <a:p>
            <a:pPr algn="ctr" indent="0" marL="0">
              <a:buNone/>
            </a:pPr>
            <a:r>
              <a:rPr lang="en-US" sz="1200" b="1" dirty="0">
                <a:solidFill>
                  <a:srgbClr val="231F20"/>
                </a:solidFill>
                <a:latin typeface="Calibri" pitchFamily="34" charset="0"/>
                <a:ea typeface="Calibri" pitchFamily="34" charset="-122"/>
                <a:cs typeface="Calibri" pitchFamily="34" charset="-120"/>
              </a:rPr>
              <a:t>Données ouvertes</a:t>
            </a:r>
            <a:endParaRPr lang="en-US" sz="1200" dirty="0"/>
          </a:p>
        </p:txBody>
      </p:sp>
      <p:sp>
        <p:nvSpPr>
          <p:cNvPr id="25" name="Text 21"/>
          <p:cNvSpPr txBox="1"/>
          <p:nvPr/>
        </p:nvSpPr>
        <p:spPr>
          <a:xfrm>
            <a:off x="566928" y="2788920"/>
            <a:ext cx="1335024" cy="96012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Publiées sous licence : archives satellitaires, tuiles Ookla, OpenStreetMap.</a:t>
            </a:r>
            <a:endParaRPr lang="en-US" sz="1000" dirty="0"/>
          </a:p>
        </p:txBody>
      </p:sp>
      <p:pic>
        <p:nvPicPr>
          <p:cNvPr id="26" name="Image 1" descr="preencoded.png">    </p:cNvPr>
          <p:cNvPicPr>
            <a:picLocks noChangeAspect="1"/>
          </p:cNvPicPr>
          <p:nvPr/>
        </p:nvPicPr>
        <p:blipFill>
          <a:blip r:embed="rId2"/>
          <a:stretch>
            <a:fillRect/>
          </a:stretch>
        </p:blipFill>
        <p:spPr>
          <a:xfrm>
            <a:off x="566928" y="3840480"/>
            <a:ext cx="155448" cy="155448"/>
          </a:xfrm>
          <a:prstGeom prst="rect">
            <a:avLst/>
          </a:prstGeom>
        </p:spPr>
      </p:pic>
      <p:sp>
        <p:nvSpPr>
          <p:cNvPr id="27" name="Text 22"/>
          <p:cNvSpPr txBox="1"/>
          <p:nvPr/>
        </p:nvSpPr>
        <p:spPr>
          <a:xfrm>
            <a:off x="758952" y="3803904"/>
            <a:ext cx="1207008" cy="228600"/>
          </a:xfrm>
          <a:prstGeom prst="rect">
            <a:avLst/>
          </a:prstGeom>
          <a:noFill/>
          <a:ln/>
        </p:spPr>
        <p:txBody>
          <a:bodyPr wrap="square" lIns="0" tIns="0" rIns="0" bIns="0" rtlCol="0" anchor="ctr"/>
          <a:lstStyle/>
          <a:p>
            <a:pPr indent="0" marL="0">
              <a:buNone/>
            </a:pPr>
            <a:r>
              <a:rPr lang="en-US" sz="950" b="1" dirty="0">
                <a:solidFill>
                  <a:srgbClr val="00704A"/>
                </a:solidFill>
                <a:latin typeface="Calibri" pitchFamily="34" charset="0"/>
                <a:ea typeface="Calibri" pitchFamily="34" charset="-122"/>
                <a:cs typeface="Calibri" pitchFamily="34" charset="-120"/>
              </a:rPr>
              <a:t>Immédiat</a:t>
            </a:r>
            <a:endParaRPr lang="en-US" sz="950" dirty="0"/>
          </a:p>
        </p:txBody>
      </p:sp>
      <p:pic>
        <p:nvPicPr>
          <p:cNvPr id="28" name="Image 2" descr="preencoded.png">    </p:cNvPr>
          <p:cNvPicPr>
            <a:picLocks noChangeAspect="1"/>
          </p:cNvPicPr>
          <p:nvPr/>
        </p:nvPicPr>
        <p:blipFill>
          <a:blip r:embed="rId3"/>
          <a:stretch>
            <a:fillRect/>
          </a:stretch>
        </p:blipFill>
        <p:spPr>
          <a:xfrm>
            <a:off x="566928" y="4160520"/>
            <a:ext cx="155448" cy="155448"/>
          </a:xfrm>
          <a:prstGeom prst="rect">
            <a:avLst/>
          </a:prstGeom>
        </p:spPr>
      </p:pic>
      <p:sp>
        <p:nvSpPr>
          <p:cNvPr id="29" name="Text 23"/>
          <p:cNvSpPr txBox="1"/>
          <p:nvPr/>
        </p:nvSpPr>
        <p:spPr>
          <a:xfrm>
            <a:off x="758952" y="4123944"/>
            <a:ext cx="1207008" cy="228600"/>
          </a:xfrm>
          <a:prstGeom prst="rect">
            <a:avLst/>
          </a:prstGeom>
          <a:noFill/>
          <a:ln/>
        </p:spPr>
        <p:txBody>
          <a:bodyPr wrap="square" lIns="0" tIns="0" rIns="0" bIns="0" rtlCol="0" anchor="ctr"/>
          <a:lstStyle/>
          <a:p>
            <a:pPr indent="0" marL="0">
              <a:buNone/>
            </a:pPr>
            <a:r>
              <a:rPr lang="en-US" sz="950" b="1" dirty="0">
                <a:solidFill>
                  <a:srgbClr val="B83B2E"/>
                </a:solidFill>
                <a:latin typeface="Calibri" pitchFamily="34" charset="0"/>
                <a:ea typeface="Calibri" pitchFamily="34" charset="-122"/>
                <a:cs typeface="Calibri" pitchFamily="34" charset="-120"/>
              </a:rPr>
              <a:t>Limites de licence</a:t>
            </a:r>
            <a:endParaRPr lang="en-US" sz="950" dirty="0"/>
          </a:p>
        </p:txBody>
      </p:sp>
      <p:sp>
        <p:nvSpPr>
          <p:cNvPr id="30" name="Shape 24"/>
          <p:cNvSpPr/>
          <p:nvPr/>
        </p:nvSpPr>
        <p:spPr>
          <a:xfrm>
            <a:off x="2139696" y="1600200"/>
            <a:ext cx="1554480" cy="2926080"/>
          </a:xfrm>
          <a:prstGeom prst="roundRect">
            <a:avLst>
              <a:gd name="adj" fmla="val 4706"/>
            </a:avLst>
          </a:prstGeom>
          <a:solidFill>
            <a:srgbClr val="F4F7F5"/>
          </a:solidFill>
          <a:ln w="9525">
            <a:solidFill>
              <a:srgbClr val="D5DED9"/>
            </a:solidFill>
            <a:prstDash val="solid"/>
          </a:ln>
        </p:spPr>
      </p:sp>
      <p:sp>
        <p:nvSpPr>
          <p:cNvPr id="31" name="Shape 25"/>
          <p:cNvSpPr/>
          <p:nvPr/>
        </p:nvSpPr>
        <p:spPr>
          <a:xfrm>
            <a:off x="2642616" y="1737360"/>
            <a:ext cx="548640" cy="548640"/>
          </a:xfrm>
          <a:prstGeom prst="ellipse">
            <a:avLst/>
          </a:prstGeom>
          <a:solidFill>
            <a:srgbClr val="D49A00">
              <a:alpha val="22000"/>
            </a:srgbClr>
          </a:solidFill>
          <a:ln/>
        </p:spPr>
      </p:sp>
      <p:pic>
        <p:nvPicPr>
          <p:cNvPr id="32" name="Image 3" descr="preencoded.png">    </p:cNvPr>
          <p:cNvPicPr>
            <a:picLocks noChangeAspect="1"/>
          </p:cNvPicPr>
          <p:nvPr/>
        </p:nvPicPr>
        <p:blipFill>
          <a:blip r:embed="rId4"/>
          <a:stretch>
            <a:fillRect/>
          </a:stretch>
        </p:blipFill>
        <p:spPr>
          <a:xfrm>
            <a:off x="2779776" y="1874520"/>
            <a:ext cx="274320" cy="274320"/>
          </a:xfrm>
          <a:prstGeom prst="rect">
            <a:avLst/>
          </a:prstGeom>
        </p:spPr>
      </p:pic>
      <p:sp>
        <p:nvSpPr>
          <p:cNvPr id="33" name="Text 26"/>
          <p:cNvSpPr txBox="1"/>
          <p:nvPr/>
        </p:nvSpPr>
        <p:spPr>
          <a:xfrm>
            <a:off x="2194560" y="2359152"/>
            <a:ext cx="1444752" cy="411480"/>
          </a:xfrm>
          <a:prstGeom prst="rect">
            <a:avLst/>
          </a:prstGeom>
          <a:noFill/>
          <a:ln/>
        </p:spPr>
        <p:txBody>
          <a:bodyPr wrap="square" lIns="0" tIns="0" rIns="0" bIns="0" rtlCol="0" anchor="ctr"/>
          <a:lstStyle/>
          <a:p>
            <a:pPr algn="ctr" indent="0" marL="0">
              <a:buNone/>
            </a:pPr>
            <a:r>
              <a:rPr lang="en-US" sz="1200" b="1" dirty="0">
                <a:solidFill>
                  <a:srgbClr val="231F20"/>
                </a:solidFill>
                <a:latin typeface="Calibri" pitchFamily="34" charset="0"/>
                <a:ea typeface="Calibri" pitchFamily="34" charset="-122"/>
                <a:cs typeface="Calibri" pitchFamily="34" charset="-120"/>
              </a:rPr>
              <a:t>Achat</a:t>
            </a:r>
            <a:endParaRPr lang="en-US" sz="1200" dirty="0"/>
          </a:p>
        </p:txBody>
      </p:sp>
      <p:sp>
        <p:nvSpPr>
          <p:cNvPr id="34" name="Text 27"/>
          <p:cNvSpPr txBox="1"/>
          <p:nvPr/>
        </p:nvSpPr>
        <p:spPr>
          <a:xfrm>
            <a:off x="2249424" y="2788920"/>
            <a:ext cx="1335024" cy="96012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Licence acquise auprès d'un vendeur ou agrégateur pour un usage défini.</a:t>
            </a:r>
            <a:endParaRPr lang="en-US" sz="1000" dirty="0"/>
          </a:p>
        </p:txBody>
      </p:sp>
      <p:pic>
        <p:nvPicPr>
          <p:cNvPr id="35" name="Image 4" descr="preencoded.png">    </p:cNvPr>
          <p:cNvPicPr>
            <a:picLocks noChangeAspect="1"/>
          </p:cNvPicPr>
          <p:nvPr/>
        </p:nvPicPr>
        <p:blipFill>
          <a:blip r:embed="rId5"/>
          <a:stretch>
            <a:fillRect/>
          </a:stretch>
        </p:blipFill>
        <p:spPr>
          <a:xfrm>
            <a:off x="2249424" y="3840480"/>
            <a:ext cx="155448" cy="155448"/>
          </a:xfrm>
          <a:prstGeom prst="rect">
            <a:avLst/>
          </a:prstGeom>
        </p:spPr>
      </p:pic>
      <p:sp>
        <p:nvSpPr>
          <p:cNvPr id="36" name="Text 28"/>
          <p:cNvSpPr txBox="1"/>
          <p:nvPr/>
        </p:nvSpPr>
        <p:spPr>
          <a:xfrm>
            <a:off x="2441448" y="3803904"/>
            <a:ext cx="1207008" cy="228600"/>
          </a:xfrm>
          <a:prstGeom prst="rect">
            <a:avLst/>
          </a:prstGeom>
          <a:noFill/>
          <a:ln/>
        </p:spPr>
        <p:txBody>
          <a:bodyPr wrap="square" lIns="0" tIns="0" rIns="0" bIns="0" rtlCol="0" anchor="ctr"/>
          <a:lstStyle/>
          <a:p>
            <a:pPr indent="0" marL="0">
              <a:buNone/>
            </a:pPr>
            <a:r>
              <a:rPr lang="en-US" sz="950" b="1" dirty="0">
                <a:solidFill>
                  <a:srgbClr val="00704A"/>
                </a:solidFill>
                <a:latin typeface="Calibri" pitchFamily="34" charset="0"/>
                <a:ea typeface="Calibri" pitchFamily="34" charset="-122"/>
                <a:cs typeface="Calibri" pitchFamily="34" charset="-120"/>
              </a:rPr>
              <a:t>Rapide, propre</a:t>
            </a:r>
            <a:endParaRPr lang="en-US" sz="950" dirty="0"/>
          </a:p>
        </p:txBody>
      </p:sp>
      <p:pic>
        <p:nvPicPr>
          <p:cNvPr id="37" name="Image 5" descr="preencoded.png">    </p:cNvPr>
          <p:cNvPicPr>
            <a:picLocks noChangeAspect="1"/>
          </p:cNvPicPr>
          <p:nvPr/>
        </p:nvPicPr>
        <p:blipFill>
          <a:blip r:embed="rId6"/>
          <a:stretch>
            <a:fillRect/>
          </a:stretch>
        </p:blipFill>
        <p:spPr>
          <a:xfrm>
            <a:off x="2249424" y="4160520"/>
            <a:ext cx="155448" cy="155448"/>
          </a:xfrm>
          <a:prstGeom prst="rect">
            <a:avLst/>
          </a:prstGeom>
        </p:spPr>
      </p:pic>
      <p:sp>
        <p:nvSpPr>
          <p:cNvPr id="38" name="Text 29"/>
          <p:cNvSpPr txBox="1"/>
          <p:nvPr/>
        </p:nvSpPr>
        <p:spPr>
          <a:xfrm>
            <a:off x="2441448" y="4123944"/>
            <a:ext cx="1207008" cy="228600"/>
          </a:xfrm>
          <a:prstGeom prst="rect">
            <a:avLst/>
          </a:prstGeom>
          <a:noFill/>
          <a:ln/>
        </p:spPr>
        <p:txBody>
          <a:bodyPr wrap="square" lIns="0" tIns="0" rIns="0" bIns="0" rtlCol="0" anchor="ctr"/>
          <a:lstStyle/>
          <a:p>
            <a:pPr indent="0" marL="0">
              <a:buNone/>
            </a:pPr>
            <a:r>
              <a:rPr lang="en-US" sz="950" b="1" dirty="0">
                <a:solidFill>
                  <a:srgbClr val="B83B2E"/>
                </a:solidFill>
                <a:latin typeface="Calibri" pitchFamily="34" charset="0"/>
                <a:ea typeface="Calibri" pitchFamily="34" charset="-122"/>
                <a:cs typeface="Calibri" pitchFamily="34" charset="-120"/>
              </a:rPr>
              <a:t>Coût, dépendance</a:t>
            </a:r>
            <a:endParaRPr lang="en-US" sz="950" dirty="0"/>
          </a:p>
        </p:txBody>
      </p:sp>
      <p:sp>
        <p:nvSpPr>
          <p:cNvPr id="39" name="Shape 30"/>
          <p:cNvSpPr/>
          <p:nvPr/>
        </p:nvSpPr>
        <p:spPr>
          <a:xfrm>
            <a:off x="3822192" y="1600200"/>
            <a:ext cx="1554480" cy="2926080"/>
          </a:xfrm>
          <a:prstGeom prst="roundRect">
            <a:avLst>
              <a:gd name="adj" fmla="val 4706"/>
            </a:avLst>
          </a:prstGeom>
          <a:solidFill>
            <a:srgbClr val="E8F5EF"/>
          </a:solidFill>
          <a:ln w="15875">
            <a:solidFill>
              <a:srgbClr val="D49A00"/>
            </a:solidFill>
            <a:prstDash val="solid"/>
          </a:ln>
        </p:spPr>
      </p:sp>
      <p:sp>
        <p:nvSpPr>
          <p:cNvPr id="40" name="Shape 31"/>
          <p:cNvSpPr/>
          <p:nvPr/>
        </p:nvSpPr>
        <p:spPr>
          <a:xfrm>
            <a:off x="4325112" y="1737360"/>
            <a:ext cx="548640" cy="548640"/>
          </a:xfrm>
          <a:prstGeom prst="ellipse">
            <a:avLst/>
          </a:prstGeom>
          <a:solidFill>
            <a:srgbClr val="D49A00">
              <a:alpha val="22000"/>
            </a:srgbClr>
          </a:solidFill>
          <a:ln/>
        </p:spPr>
      </p:sp>
      <p:pic>
        <p:nvPicPr>
          <p:cNvPr id="41" name="Image 6" descr="preencoded.png">    </p:cNvPr>
          <p:cNvPicPr>
            <a:picLocks noChangeAspect="1"/>
          </p:cNvPicPr>
          <p:nvPr/>
        </p:nvPicPr>
        <p:blipFill>
          <a:blip r:embed="rId7"/>
          <a:stretch>
            <a:fillRect/>
          </a:stretch>
        </p:blipFill>
        <p:spPr>
          <a:xfrm>
            <a:off x="4462272" y="1874520"/>
            <a:ext cx="274320" cy="274320"/>
          </a:xfrm>
          <a:prstGeom prst="rect">
            <a:avLst/>
          </a:prstGeom>
        </p:spPr>
      </p:pic>
      <p:sp>
        <p:nvSpPr>
          <p:cNvPr id="42" name="Text 32"/>
          <p:cNvSpPr txBox="1"/>
          <p:nvPr/>
        </p:nvSpPr>
        <p:spPr>
          <a:xfrm>
            <a:off x="3877056" y="2359152"/>
            <a:ext cx="1444752" cy="411480"/>
          </a:xfrm>
          <a:prstGeom prst="rect">
            <a:avLst/>
          </a:prstGeom>
          <a:noFill/>
          <a:ln/>
        </p:spPr>
        <p:txBody>
          <a:bodyPr wrap="square" lIns="0" tIns="0" rIns="0" bIns="0" rtlCol="0" anchor="ctr"/>
          <a:lstStyle/>
          <a:p>
            <a:pPr algn="ctr" indent="0" marL="0">
              <a:buNone/>
            </a:pPr>
            <a:r>
              <a:rPr lang="en-US" sz="1200" b="1" dirty="0">
                <a:solidFill>
                  <a:srgbClr val="231F20"/>
                </a:solidFill>
                <a:latin typeface="Calibri" pitchFamily="34" charset="0"/>
                <a:ea typeface="Calibri" pitchFamily="34" charset="-122"/>
                <a:cs typeface="Calibri" pitchFamily="34" charset="-120"/>
              </a:rPr>
              <a:t>Accord bilatéral</a:t>
            </a:r>
            <a:endParaRPr lang="en-US" sz="1200" dirty="0"/>
          </a:p>
        </p:txBody>
      </p:sp>
      <p:sp>
        <p:nvSpPr>
          <p:cNvPr id="43" name="Text 33"/>
          <p:cNvSpPr txBox="1"/>
          <p:nvPr/>
        </p:nvSpPr>
        <p:spPr>
          <a:xfrm>
            <a:off x="3931920" y="2788920"/>
            <a:ext cx="1335024" cy="96012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Protocole avec une entreprise : périmètre, produits, garanties, bénéfice mutuel.</a:t>
            </a:r>
            <a:endParaRPr lang="en-US" sz="1000" dirty="0"/>
          </a:p>
        </p:txBody>
      </p:sp>
      <p:pic>
        <p:nvPicPr>
          <p:cNvPr id="44" name="Image 7" descr="preencoded.png">    </p:cNvPr>
          <p:cNvPicPr>
            <a:picLocks noChangeAspect="1"/>
          </p:cNvPicPr>
          <p:nvPr/>
        </p:nvPicPr>
        <p:blipFill>
          <a:blip r:embed="rId8"/>
          <a:stretch>
            <a:fillRect/>
          </a:stretch>
        </p:blipFill>
        <p:spPr>
          <a:xfrm>
            <a:off x="3931920" y="3840480"/>
            <a:ext cx="155448" cy="155448"/>
          </a:xfrm>
          <a:prstGeom prst="rect">
            <a:avLst/>
          </a:prstGeom>
        </p:spPr>
      </p:pic>
      <p:sp>
        <p:nvSpPr>
          <p:cNvPr id="45" name="Text 34"/>
          <p:cNvSpPr txBox="1"/>
          <p:nvPr/>
        </p:nvSpPr>
        <p:spPr>
          <a:xfrm>
            <a:off x="4123944" y="3803904"/>
            <a:ext cx="1207008" cy="228600"/>
          </a:xfrm>
          <a:prstGeom prst="rect">
            <a:avLst/>
          </a:prstGeom>
          <a:noFill/>
          <a:ln/>
        </p:spPr>
        <p:txBody>
          <a:bodyPr wrap="square" lIns="0" tIns="0" rIns="0" bIns="0" rtlCol="0" anchor="ctr"/>
          <a:lstStyle/>
          <a:p>
            <a:pPr indent="0" marL="0">
              <a:buNone/>
            </a:pPr>
            <a:r>
              <a:rPr lang="en-US" sz="950" b="1" dirty="0">
                <a:solidFill>
                  <a:srgbClr val="00704A"/>
                </a:solidFill>
                <a:latin typeface="Calibri" pitchFamily="34" charset="0"/>
                <a:ea typeface="Calibri" pitchFamily="34" charset="-122"/>
                <a:cs typeface="Calibri" pitchFamily="34" charset="-120"/>
              </a:rPr>
              <a:t>Sur mesure</a:t>
            </a:r>
            <a:endParaRPr lang="en-US" sz="950" dirty="0"/>
          </a:p>
        </p:txBody>
      </p:sp>
      <p:pic>
        <p:nvPicPr>
          <p:cNvPr id="46" name="Image 8" descr="preencoded.png">    </p:cNvPr>
          <p:cNvPicPr>
            <a:picLocks noChangeAspect="1"/>
          </p:cNvPicPr>
          <p:nvPr/>
        </p:nvPicPr>
        <p:blipFill>
          <a:blip r:embed="rId9"/>
          <a:stretch>
            <a:fillRect/>
          </a:stretch>
        </p:blipFill>
        <p:spPr>
          <a:xfrm>
            <a:off x="3931920" y="4160520"/>
            <a:ext cx="155448" cy="155448"/>
          </a:xfrm>
          <a:prstGeom prst="rect">
            <a:avLst/>
          </a:prstGeom>
        </p:spPr>
      </p:pic>
      <p:sp>
        <p:nvSpPr>
          <p:cNvPr id="47" name="Text 35"/>
          <p:cNvSpPr txBox="1"/>
          <p:nvPr/>
        </p:nvSpPr>
        <p:spPr>
          <a:xfrm>
            <a:off x="4123944" y="4123944"/>
            <a:ext cx="1207008" cy="228600"/>
          </a:xfrm>
          <a:prstGeom prst="rect">
            <a:avLst/>
          </a:prstGeom>
          <a:noFill/>
          <a:ln/>
        </p:spPr>
        <p:txBody>
          <a:bodyPr wrap="square" lIns="0" tIns="0" rIns="0" bIns="0" rtlCol="0" anchor="ctr"/>
          <a:lstStyle/>
          <a:p>
            <a:pPr indent="0" marL="0">
              <a:buNone/>
            </a:pPr>
            <a:r>
              <a:rPr lang="en-US" sz="950" b="1" dirty="0">
                <a:solidFill>
                  <a:srgbClr val="B83B2E"/>
                </a:solidFill>
                <a:latin typeface="Calibri" pitchFamily="34" charset="0"/>
                <a:ea typeface="Calibri" pitchFamily="34" charset="-122"/>
                <a:cs typeface="Calibri" pitchFamily="34" charset="-120"/>
              </a:rPr>
              <a:t>Négociation lente</a:t>
            </a:r>
            <a:endParaRPr lang="en-US" sz="950" dirty="0"/>
          </a:p>
        </p:txBody>
      </p:sp>
      <p:sp>
        <p:nvSpPr>
          <p:cNvPr id="48" name="Shape 36"/>
          <p:cNvSpPr/>
          <p:nvPr/>
        </p:nvSpPr>
        <p:spPr>
          <a:xfrm>
            <a:off x="5504688" y="1600200"/>
            <a:ext cx="1554480" cy="2926080"/>
          </a:xfrm>
          <a:prstGeom prst="roundRect">
            <a:avLst>
              <a:gd name="adj" fmla="val 4706"/>
            </a:avLst>
          </a:prstGeom>
          <a:solidFill>
            <a:srgbClr val="F4F7F5"/>
          </a:solidFill>
          <a:ln w="9525">
            <a:solidFill>
              <a:srgbClr val="D5DED9"/>
            </a:solidFill>
            <a:prstDash val="solid"/>
          </a:ln>
        </p:spPr>
      </p:sp>
      <p:sp>
        <p:nvSpPr>
          <p:cNvPr id="49" name="Shape 37"/>
          <p:cNvSpPr/>
          <p:nvPr/>
        </p:nvSpPr>
        <p:spPr>
          <a:xfrm>
            <a:off x="6007608" y="1737360"/>
            <a:ext cx="548640" cy="548640"/>
          </a:xfrm>
          <a:prstGeom prst="ellipse">
            <a:avLst/>
          </a:prstGeom>
          <a:solidFill>
            <a:srgbClr val="D49A00">
              <a:alpha val="22000"/>
            </a:srgbClr>
          </a:solidFill>
          <a:ln/>
        </p:spPr>
      </p:sp>
      <p:pic>
        <p:nvPicPr>
          <p:cNvPr id="50" name="Image 9" descr="preencoded.png">    </p:cNvPr>
          <p:cNvPicPr>
            <a:picLocks noChangeAspect="1"/>
          </p:cNvPicPr>
          <p:nvPr/>
        </p:nvPicPr>
        <p:blipFill>
          <a:blip r:embed="rId10"/>
          <a:stretch>
            <a:fillRect/>
          </a:stretch>
        </p:blipFill>
        <p:spPr>
          <a:xfrm>
            <a:off x="6144768" y="1874520"/>
            <a:ext cx="274320" cy="274320"/>
          </a:xfrm>
          <a:prstGeom prst="rect">
            <a:avLst/>
          </a:prstGeom>
        </p:spPr>
      </p:pic>
      <p:sp>
        <p:nvSpPr>
          <p:cNvPr id="51" name="Text 38"/>
          <p:cNvSpPr txBox="1"/>
          <p:nvPr/>
        </p:nvSpPr>
        <p:spPr>
          <a:xfrm>
            <a:off x="5559552" y="2359152"/>
            <a:ext cx="1444752" cy="411480"/>
          </a:xfrm>
          <a:prstGeom prst="rect">
            <a:avLst/>
          </a:prstGeom>
          <a:noFill/>
          <a:ln/>
        </p:spPr>
        <p:txBody>
          <a:bodyPr wrap="square" lIns="0" tIns="0" rIns="0" bIns="0" rtlCol="0" anchor="ctr"/>
          <a:lstStyle/>
          <a:p>
            <a:pPr algn="ctr" indent="0" marL="0">
              <a:buNone/>
            </a:pPr>
            <a:r>
              <a:rPr lang="en-US" sz="1200" b="1" dirty="0">
                <a:solidFill>
                  <a:srgbClr val="231F20"/>
                </a:solidFill>
                <a:latin typeface="Calibri" pitchFamily="34" charset="0"/>
                <a:ea typeface="Calibri" pitchFamily="34" charset="-122"/>
                <a:cs typeface="Calibri" pitchFamily="34" charset="-120"/>
              </a:rPr>
              <a:t>Collaboratif de données</a:t>
            </a:r>
            <a:endParaRPr lang="en-US" sz="1200" dirty="0"/>
          </a:p>
        </p:txBody>
      </p:sp>
      <p:sp>
        <p:nvSpPr>
          <p:cNvPr id="52" name="Text 39"/>
          <p:cNvSpPr txBox="1"/>
          <p:nvPr/>
        </p:nvSpPr>
        <p:spPr>
          <a:xfrm>
            <a:off x="5614416" y="2788920"/>
            <a:ext cx="1335024" cy="96012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Plusieurs détenteurs mutualisent leurs données via un tiers de confiance.</a:t>
            </a:r>
            <a:endParaRPr lang="en-US" sz="1000" dirty="0"/>
          </a:p>
        </p:txBody>
      </p:sp>
      <p:pic>
        <p:nvPicPr>
          <p:cNvPr id="53" name="Image 10" descr="preencoded.png">    </p:cNvPr>
          <p:cNvPicPr>
            <a:picLocks noChangeAspect="1"/>
          </p:cNvPicPr>
          <p:nvPr/>
        </p:nvPicPr>
        <p:blipFill>
          <a:blip r:embed="rId11"/>
          <a:stretch>
            <a:fillRect/>
          </a:stretch>
        </p:blipFill>
        <p:spPr>
          <a:xfrm>
            <a:off x="5614416" y="3840480"/>
            <a:ext cx="155448" cy="155448"/>
          </a:xfrm>
          <a:prstGeom prst="rect">
            <a:avLst/>
          </a:prstGeom>
        </p:spPr>
      </p:pic>
      <p:sp>
        <p:nvSpPr>
          <p:cNvPr id="54" name="Text 40"/>
          <p:cNvSpPr txBox="1"/>
          <p:nvPr/>
        </p:nvSpPr>
        <p:spPr>
          <a:xfrm>
            <a:off x="5806440" y="3803904"/>
            <a:ext cx="1207008" cy="228600"/>
          </a:xfrm>
          <a:prstGeom prst="rect">
            <a:avLst/>
          </a:prstGeom>
          <a:noFill/>
          <a:ln/>
        </p:spPr>
        <p:txBody>
          <a:bodyPr wrap="square" lIns="0" tIns="0" rIns="0" bIns="0" rtlCol="0" anchor="ctr"/>
          <a:lstStyle/>
          <a:p>
            <a:pPr indent="0" marL="0">
              <a:buNone/>
            </a:pPr>
            <a:r>
              <a:rPr lang="en-US" sz="950" b="1" dirty="0">
                <a:solidFill>
                  <a:srgbClr val="00704A"/>
                </a:solidFill>
                <a:latin typeface="Calibri" pitchFamily="34" charset="0"/>
                <a:ea typeface="Calibri" pitchFamily="34" charset="-122"/>
                <a:cs typeface="Calibri" pitchFamily="34" charset="-120"/>
              </a:rPr>
              <a:t>Échelle, neutralité</a:t>
            </a:r>
            <a:endParaRPr lang="en-US" sz="950" dirty="0"/>
          </a:p>
        </p:txBody>
      </p:sp>
      <p:pic>
        <p:nvPicPr>
          <p:cNvPr id="55" name="Image 11" descr="preencoded.png">    </p:cNvPr>
          <p:cNvPicPr>
            <a:picLocks noChangeAspect="1"/>
          </p:cNvPicPr>
          <p:nvPr/>
        </p:nvPicPr>
        <p:blipFill>
          <a:blip r:embed="rId12"/>
          <a:stretch>
            <a:fillRect/>
          </a:stretch>
        </p:blipFill>
        <p:spPr>
          <a:xfrm>
            <a:off x="5614416" y="4160520"/>
            <a:ext cx="155448" cy="155448"/>
          </a:xfrm>
          <a:prstGeom prst="rect">
            <a:avLst/>
          </a:prstGeom>
        </p:spPr>
      </p:pic>
      <p:sp>
        <p:nvSpPr>
          <p:cNvPr id="56" name="Text 41"/>
          <p:cNvSpPr txBox="1"/>
          <p:nvPr/>
        </p:nvSpPr>
        <p:spPr>
          <a:xfrm>
            <a:off x="5806440" y="4123944"/>
            <a:ext cx="1207008" cy="228600"/>
          </a:xfrm>
          <a:prstGeom prst="rect">
            <a:avLst/>
          </a:prstGeom>
          <a:noFill/>
          <a:ln/>
        </p:spPr>
        <p:txBody>
          <a:bodyPr wrap="square" lIns="0" tIns="0" rIns="0" bIns="0" rtlCol="0" anchor="ctr"/>
          <a:lstStyle/>
          <a:p>
            <a:pPr indent="0" marL="0">
              <a:buNone/>
            </a:pPr>
            <a:r>
              <a:rPr lang="en-US" sz="950" b="1" dirty="0">
                <a:solidFill>
                  <a:srgbClr val="B83B2E"/>
                </a:solidFill>
                <a:latin typeface="Calibri" pitchFamily="34" charset="0"/>
                <a:ea typeface="Calibri" pitchFamily="34" charset="-122"/>
                <a:cs typeface="Calibri" pitchFamily="34" charset="-120"/>
              </a:rPr>
              <a:t>Gouvernance lourde</a:t>
            </a:r>
            <a:endParaRPr lang="en-US" sz="950" dirty="0"/>
          </a:p>
        </p:txBody>
      </p:sp>
      <p:sp>
        <p:nvSpPr>
          <p:cNvPr id="57" name="Shape 42"/>
          <p:cNvSpPr/>
          <p:nvPr/>
        </p:nvSpPr>
        <p:spPr>
          <a:xfrm>
            <a:off x="7187184" y="1600200"/>
            <a:ext cx="1554480" cy="2926080"/>
          </a:xfrm>
          <a:prstGeom prst="roundRect">
            <a:avLst>
              <a:gd name="adj" fmla="val 4706"/>
            </a:avLst>
          </a:prstGeom>
          <a:solidFill>
            <a:srgbClr val="F4F7F5"/>
          </a:solidFill>
          <a:ln w="9525">
            <a:solidFill>
              <a:srgbClr val="D5DED9"/>
            </a:solidFill>
            <a:prstDash val="solid"/>
          </a:ln>
        </p:spPr>
      </p:sp>
      <p:sp>
        <p:nvSpPr>
          <p:cNvPr id="58" name="Shape 43"/>
          <p:cNvSpPr/>
          <p:nvPr/>
        </p:nvSpPr>
        <p:spPr>
          <a:xfrm>
            <a:off x="7690104" y="1737360"/>
            <a:ext cx="548640" cy="548640"/>
          </a:xfrm>
          <a:prstGeom prst="ellipse">
            <a:avLst/>
          </a:prstGeom>
          <a:solidFill>
            <a:srgbClr val="D49A00">
              <a:alpha val="22000"/>
            </a:srgbClr>
          </a:solidFill>
          <a:ln/>
        </p:spPr>
      </p:sp>
      <p:pic>
        <p:nvPicPr>
          <p:cNvPr id="59" name="Image 12" descr="preencoded.png">    </p:cNvPr>
          <p:cNvPicPr>
            <a:picLocks noChangeAspect="1"/>
          </p:cNvPicPr>
          <p:nvPr/>
        </p:nvPicPr>
        <p:blipFill>
          <a:blip r:embed="rId13"/>
          <a:stretch>
            <a:fillRect/>
          </a:stretch>
        </p:blipFill>
        <p:spPr>
          <a:xfrm>
            <a:off x="7827264" y="1874520"/>
            <a:ext cx="274320" cy="274320"/>
          </a:xfrm>
          <a:prstGeom prst="rect">
            <a:avLst/>
          </a:prstGeom>
        </p:spPr>
      </p:pic>
      <p:sp>
        <p:nvSpPr>
          <p:cNvPr id="60" name="Text 44"/>
          <p:cNvSpPr txBox="1"/>
          <p:nvPr/>
        </p:nvSpPr>
        <p:spPr>
          <a:xfrm>
            <a:off x="7242048" y="2359152"/>
            <a:ext cx="1444752" cy="411480"/>
          </a:xfrm>
          <a:prstGeom prst="rect">
            <a:avLst/>
          </a:prstGeom>
          <a:noFill/>
          <a:ln/>
        </p:spPr>
        <p:txBody>
          <a:bodyPr wrap="square" lIns="0" tIns="0" rIns="0" bIns="0" rtlCol="0" anchor="ctr"/>
          <a:lstStyle/>
          <a:p>
            <a:pPr algn="ctr" indent="0" marL="0">
              <a:buNone/>
            </a:pPr>
            <a:r>
              <a:rPr lang="en-US" sz="1200" b="1" dirty="0">
                <a:solidFill>
                  <a:srgbClr val="231F20"/>
                </a:solidFill>
                <a:latin typeface="Calibri" pitchFamily="34" charset="0"/>
                <a:ea typeface="Calibri" pitchFamily="34" charset="-122"/>
                <a:cs typeface="Calibri" pitchFamily="34" charset="-120"/>
              </a:rPr>
              <a:t>Obligation légale</a:t>
            </a:r>
            <a:endParaRPr lang="en-US" sz="1200" dirty="0"/>
          </a:p>
        </p:txBody>
      </p:sp>
      <p:sp>
        <p:nvSpPr>
          <p:cNvPr id="61" name="Text 45"/>
          <p:cNvSpPr txBox="1"/>
          <p:nvPr/>
        </p:nvSpPr>
        <p:spPr>
          <a:xfrm>
            <a:off x="7296912" y="2788920"/>
            <a:ext cx="1335024" cy="96012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La loi statistique oblige les détenteurs à fournir les données.</a:t>
            </a:r>
            <a:endParaRPr lang="en-US" sz="1000" dirty="0"/>
          </a:p>
        </p:txBody>
      </p:sp>
      <p:pic>
        <p:nvPicPr>
          <p:cNvPr id="62" name="Image 13" descr="preencoded.png">    </p:cNvPr>
          <p:cNvPicPr>
            <a:picLocks noChangeAspect="1"/>
          </p:cNvPicPr>
          <p:nvPr/>
        </p:nvPicPr>
        <p:blipFill>
          <a:blip r:embed="rId14"/>
          <a:stretch>
            <a:fillRect/>
          </a:stretch>
        </p:blipFill>
        <p:spPr>
          <a:xfrm>
            <a:off x="7296912" y="3840480"/>
            <a:ext cx="155448" cy="155448"/>
          </a:xfrm>
          <a:prstGeom prst="rect">
            <a:avLst/>
          </a:prstGeom>
        </p:spPr>
      </p:pic>
      <p:sp>
        <p:nvSpPr>
          <p:cNvPr id="63" name="Text 46"/>
          <p:cNvSpPr txBox="1"/>
          <p:nvPr/>
        </p:nvSpPr>
        <p:spPr>
          <a:xfrm>
            <a:off x="7488936" y="3803904"/>
            <a:ext cx="1207008" cy="228600"/>
          </a:xfrm>
          <a:prstGeom prst="rect">
            <a:avLst/>
          </a:prstGeom>
          <a:noFill/>
          <a:ln/>
        </p:spPr>
        <p:txBody>
          <a:bodyPr wrap="square" lIns="0" tIns="0" rIns="0" bIns="0" rtlCol="0" anchor="ctr"/>
          <a:lstStyle/>
          <a:p>
            <a:pPr indent="0" marL="0">
              <a:buNone/>
            </a:pPr>
            <a:r>
              <a:rPr lang="en-US" sz="950" b="1" dirty="0">
                <a:solidFill>
                  <a:srgbClr val="00704A"/>
                </a:solidFill>
                <a:latin typeface="Calibri" pitchFamily="34" charset="0"/>
                <a:ea typeface="Calibri" pitchFamily="34" charset="-122"/>
                <a:cs typeface="Calibri" pitchFamily="34" charset="-120"/>
              </a:rPr>
              <a:t>Durable</a:t>
            </a:r>
            <a:endParaRPr lang="en-US" sz="950" dirty="0"/>
          </a:p>
        </p:txBody>
      </p:sp>
      <p:pic>
        <p:nvPicPr>
          <p:cNvPr id="64" name="Image 14" descr="preencoded.png">    </p:cNvPr>
          <p:cNvPicPr>
            <a:picLocks noChangeAspect="1"/>
          </p:cNvPicPr>
          <p:nvPr/>
        </p:nvPicPr>
        <p:blipFill>
          <a:blip r:embed="rId15"/>
          <a:stretch>
            <a:fillRect/>
          </a:stretch>
        </p:blipFill>
        <p:spPr>
          <a:xfrm>
            <a:off x="7296912" y="4160520"/>
            <a:ext cx="155448" cy="155448"/>
          </a:xfrm>
          <a:prstGeom prst="rect">
            <a:avLst/>
          </a:prstGeom>
        </p:spPr>
      </p:pic>
      <p:sp>
        <p:nvSpPr>
          <p:cNvPr id="65" name="Text 47"/>
          <p:cNvSpPr txBox="1"/>
          <p:nvPr/>
        </p:nvSpPr>
        <p:spPr>
          <a:xfrm>
            <a:off x="7488936" y="4123944"/>
            <a:ext cx="1207008" cy="228600"/>
          </a:xfrm>
          <a:prstGeom prst="rect">
            <a:avLst/>
          </a:prstGeom>
          <a:noFill/>
          <a:ln/>
        </p:spPr>
        <p:txBody>
          <a:bodyPr wrap="square" lIns="0" tIns="0" rIns="0" bIns="0" rtlCol="0" anchor="ctr"/>
          <a:lstStyle/>
          <a:p>
            <a:pPr indent="0" marL="0">
              <a:buNone/>
            </a:pPr>
            <a:r>
              <a:rPr lang="en-US" sz="950" b="1" dirty="0">
                <a:solidFill>
                  <a:srgbClr val="B83B2E"/>
                </a:solidFill>
                <a:latin typeface="Calibri" pitchFamily="34" charset="0"/>
                <a:ea typeface="Calibri" pitchFamily="34" charset="-122"/>
                <a:cs typeface="Calibri" pitchFamily="34" charset="-120"/>
              </a:rPr>
              <a:t>Lent, politique</a:t>
            </a:r>
            <a:endParaRPr lang="en-US" sz="95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ACCÈS ET PARTENARIATS</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Comment les données circulent : un choix clé</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Quatre modes techniques d'accès, du plus au moins exposant pour les données individuelles.</a:t>
            </a:r>
            <a:endParaRPr lang="en-US" sz="1150" dirty="0"/>
          </a:p>
        </p:txBody>
      </p:sp>
      <p:sp>
        <p:nvSpPr>
          <p:cNvPr id="9" name="Shape 7"/>
          <p:cNvSpPr/>
          <p:nvPr/>
        </p:nvSpPr>
        <p:spPr>
          <a:xfrm>
            <a:off x="7662672" y="329184"/>
            <a:ext cx="100584" cy="100584"/>
          </a:xfrm>
          <a:prstGeom prst="ellipse">
            <a:avLst/>
          </a:prstGeom>
          <a:solidFill>
            <a:srgbClr val="D5DED9"/>
          </a:solidFill>
          <a:ln/>
        </p:spPr>
      </p:sp>
      <p:sp>
        <p:nvSpPr>
          <p:cNvPr id="10" name="Shape 8"/>
          <p:cNvSpPr/>
          <p:nvPr/>
        </p:nvSpPr>
        <p:spPr>
          <a:xfrm>
            <a:off x="7845552" y="329184"/>
            <a:ext cx="100584" cy="100584"/>
          </a:xfrm>
          <a:prstGeom prst="ellipse">
            <a:avLst/>
          </a:prstGeom>
          <a:solidFill>
            <a:srgbClr val="D5DED9"/>
          </a:solidFill>
          <a:ln/>
        </p:spPr>
      </p:sp>
      <p:sp>
        <p:nvSpPr>
          <p:cNvPr id="11" name="Shape 9"/>
          <p:cNvSpPr/>
          <p:nvPr/>
        </p:nvSpPr>
        <p:spPr>
          <a:xfrm>
            <a:off x="8028432" y="329184"/>
            <a:ext cx="100584" cy="100584"/>
          </a:xfrm>
          <a:prstGeom prst="ellipse">
            <a:avLst/>
          </a:prstGeom>
          <a:solidFill>
            <a:srgbClr val="D5DED9"/>
          </a:solidFill>
          <a:ln/>
        </p:spPr>
      </p:sp>
      <p:sp>
        <p:nvSpPr>
          <p:cNvPr id="12" name="Shape 10"/>
          <p:cNvSpPr/>
          <p:nvPr/>
        </p:nvSpPr>
        <p:spPr>
          <a:xfrm>
            <a:off x="8211312" y="329184"/>
            <a:ext cx="100584" cy="100584"/>
          </a:xfrm>
          <a:prstGeom prst="ellipse">
            <a:avLst/>
          </a:prstGeom>
          <a:solidFill>
            <a:srgbClr val="D49A00"/>
          </a:solidFill>
          <a:ln/>
        </p:spPr>
      </p:sp>
      <p:sp>
        <p:nvSpPr>
          <p:cNvPr id="13" name="Shape 11"/>
          <p:cNvSpPr/>
          <p:nvPr/>
        </p:nvSpPr>
        <p:spPr>
          <a:xfrm>
            <a:off x="8394192" y="329184"/>
            <a:ext cx="100584" cy="100584"/>
          </a:xfrm>
          <a:prstGeom prst="ellipse">
            <a:avLst/>
          </a:prstGeom>
          <a:solidFill>
            <a:srgbClr val="D5DED9"/>
          </a:solidFill>
          <a:ln/>
        </p:spPr>
      </p:sp>
      <p:sp>
        <p:nvSpPr>
          <p:cNvPr id="14" name="Shape 12"/>
          <p:cNvSpPr/>
          <p:nvPr/>
        </p:nvSpPr>
        <p:spPr>
          <a:xfrm>
            <a:off x="8577072" y="329184"/>
            <a:ext cx="100584" cy="100584"/>
          </a:xfrm>
          <a:prstGeom prst="ellipse">
            <a:avLst/>
          </a:prstGeom>
          <a:solidFill>
            <a:srgbClr val="D5DED9"/>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Sources de données non traditionnelles · Le trésor caché · Atelier STG17</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27</a:t>
            </a:r>
            <a:endParaRPr lang="en-US" sz="850" dirty="0"/>
          </a:p>
        </p:txBody>
      </p:sp>
      <p:sp>
        <p:nvSpPr>
          <p:cNvPr id="18" name="Shape 15"/>
          <p:cNvSpPr/>
          <p:nvPr/>
        </p:nvSpPr>
        <p:spPr>
          <a:xfrm>
            <a:off x="457200" y="1325880"/>
            <a:ext cx="5577840" cy="694944"/>
          </a:xfrm>
          <a:prstGeom prst="roundRect">
            <a:avLst>
              <a:gd name="adj" fmla="val 10526"/>
            </a:avLst>
          </a:prstGeom>
          <a:solidFill>
            <a:srgbClr val="F4F7F5"/>
          </a:solidFill>
          <a:ln w="9525">
            <a:solidFill>
              <a:srgbClr val="D5DED9"/>
            </a:solidFill>
            <a:prstDash val="solid"/>
          </a:ln>
        </p:spPr>
      </p:sp>
      <p:sp>
        <p:nvSpPr>
          <p:cNvPr id="19" name="Shape 16"/>
          <p:cNvSpPr/>
          <p:nvPr/>
        </p:nvSpPr>
        <p:spPr>
          <a:xfrm>
            <a:off x="566928" y="1444752"/>
            <a:ext cx="457200" cy="457200"/>
          </a:xfrm>
          <a:prstGeom prst="ellipse">
            <a:avLst/>
          </a:prstGeom>
          <a:solidFill>
            <a:srgbClr val="D49A00">
              <a:alpha val="22000"/>
            </a:srgbClr>
          </a:solidFill>
          <a:ln/>
        </p:spPr>
      </p:sp>
      <p:pic>
        <p:nvPicPr>
          <p:cNvPr id="20" name="Image 0" descr="preencoded.png">    </p:cNvPr>
          <p:cNvPicPr>
            <a:picLocks noChangeAspect="1"/>
          </p:cNvPicPr>
          <p:nvPr/>
        </p:nvPicPr>
        <p:blipFill>
          <a:blip r:embed="rId1"/>
          <a:stretch>
            <a:fillRect/>
          </a:stretch>
        </p:blipFill>
        <p:spPr>
          <a:xfrm>
            <a:off x="681228" y="1559052"/>
            <a:ext cx="228600" cy="228600"/>
          </a:xfrm>
          <a:prstGeom prst="rect">
            <a:avLst/>
          </a:prstGeom>
        </p:spPr>
      </p:pic>
      <p:sp>
        <p:nvSpPr>
          <p:cNvPr id="21" name="Text 17"/>
          <p:cNvSpPr txBox="1"/>
          <p:nvPr/>
        </p:nvSpPr>
        <p:spPr>
          <a:xfrm>
            <a:off x="1143000" y="1380744"/>
            <a:ext cx="2057400" cy="27432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Transfert de microdonnées</a:t>
            </a:r>
            <a:endParaRPr lang="en-US" sz="1150" dirty="0"/>
          </a:p>
        </p:txBody>
      </p:sp>
      <p:sp>
        <p:nvSpPr>
          <p:cNvPr id="22" name="Text 18"/>
          <p:cNvSpPr txBox="1"/>
          <p:nvPr/>
        </p:nvSpPr>
        <p:spPr>
          <a:xfrm>
            <a:off x="1143000" y="1655064"/>
            <a:ext cx="2057400" cy="347472"/>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Enregistrements copiés à l'INS</a:t>
            </a:r>
            <a:endParaRPr lang="en-US" sz="850" dirty="0"/>
          </a:p>
        </p:txBody>
      </p:sp>
      <p:sp>
        <p:nvSpPr>
          <p:cNvPr id="23" name="Text 19"/>
          <p:cNvSpPr txBox="1"/>
          <p:nvPr/>
        </p:nvSpPr>
        <p:spPr>
          <a:xfrm>
            <a:off x="3291840" y="1380744"/>
            <a:ext cx="2651760" cy="58521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Souplesse maximale ; risque de divulgation le plus élevé ; rarement accepté.</a:t>
            </a:r>
            <a:endParaRPr lang="en-US" sz="1000" dirty="0"/>
          </a:p>
        </p:txBody>
      </p:sp>
      <p:sp>
        <p:nvSpPr>
          <p:cNvPr id="24" name="Shape 20"/>
          <p:cNvSpPr/>
          <p:nvPr/>
        </p:nvSpPr>
        <p:spPr>
          <a:xfrm>
            <a:off x="457200" y="2130552"/>
            <a:ext cx="5577840" cy="694944"/>
          </a:xfrm>
          <a:prstGeom prst="roundRect">
            <a:avLst>
              <a:gd name="adj" fmla="val 10526"/>
            </a:avLst>
          </a:prstGeom>
          <a:solidFill>
            <a:srgbClr val="F4F7F5"/>
          </a:solidFill>
          <a:ln w="9525">
            <a:solidFill>
              <a:srgbClr val="D5DED9"/>
            </a:solidFill>
            <a:prstDash val="solid"/>
          </a:ln>
        </p:spPr>
      </p:sp>
      <p:sp>
        <p:nvSpPr>
          <p:cNvPr id="25" name="Shape 21"/>
          <p:cNvSpPr/>
          <p:nvPr/>
        </p:nvSpPr>
        <p:spPr>
          <a:xfrm>
            <a:off x="566928" y="2249424"/>
            <a:ext cx="457200" cy="457200"/>
          </a:xfrm>
          <a:prstGeom prst="ellipse">
            <a:avLst/>
          </a:prstGeom>
          <a:solidFill>
            <a:srgbClr val="D49A00">
              <a:alpha val="22000"/>
            </a:srgbClr>
          </a:solidFill>
          <a:ln/>
        </p:spPr>
      </p:sp>
      <p:pic>
        <p:nvPicPr>
          <p:cNvPr id="26" name="Image 1" descr="preencoded.png">    </p:cNvPr>
          <p:cNvPicPr>
            <a:picLocks noChangeAspect="1"/>
          </p:cNvPicPr>
          <p:nvPr/>
        </p:nvPicPr>
        <p:blipFill>
          <a:blip r:embed="rId2"/>
          <a:stretch>
            <a:fillRect/>
          </a:stretch>
        </p:blipFill>
        <p:spPr>
          <a:xfrm>
            <a:off x="681228" y="2363724"/>
            <a:ext cx="228600" cy="228600"/>
          </a:xfrm>
          <a:prstGeom prst="rect">
            <a:avLst/>
          </a:prstGeom>
        </p:spPr>
      </p:pic>
      <p:sp>
        <p:nvSpPr>
          <p:cNvPr id="27" name="Text 22"/>
          <p:cNvSpPr txBox="1"/>
          <p:nvPr/>
        </p:nvSpPr>
        <p:spPr>
          <a:xfrm>
            <a:off x="1143000" y="2185416"/>
            <a:ext cx="2057400" cy="27432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Indicateurs pré-agrégés</a:t>
            </a:r>
            <a:endParaRPr lang="en-US" sz="1150" dirty="0"/>
          </a:p>
        </p:txBody>
      </p:sp>
      <p:sp>
        <p:nvSpPr>
          <p:cNvPr id="28" name="Text 23"/>
          <p:cNvSpPr txBox="1"/>
          <p:nvPr/>
        </p:nvSpPr>
        <p:spPr>
          <a:xfrm>
            <a:off x="1143000" y="2459736"/>
            <a:ext cx="2057400" cy="347472"/>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Le fournisseur calcule les tableaux convenus</a:t>
            </a:r>
            <a:endParaRPr lang="en-US" sz="850" dirty="0"/>
          </a:p>
        </p:txBody>
      </p:sp>
      <p:sp>
        <p:nvSpPr>
          <p:cNvPr id="29" name="Text 24"/>
          <p:cNvSpPr txBox="1"/>
          <p:nvPr/>
        </p:nvSpPr>
        <p:spPr>
          <a:xfrm>
            <a:off x="3291840" y="2185416"/>
            <a:ext cx="2651760" cy="58521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Simple et sûr ; la méthode devient une boîte noire difficile à modifier.</a:t>
            </a:r>
            <a:endParaRPr lang="en-US" sz="1000" dirty="0"/>
          </a:p>
        </p:txBody>
      </p:sp>
      <p:sp>
        <p:nvSpPr>
          <p:cNvPr id="30" name="Shape 25"/>
          <p:cNvSpPr/>
          <p:nvPr/>
        </p:nvSpPr>
        <p:spPr>
          <a:xfrm>
            <a:off x="457200" y="2935224"/>
            <a:ext cx="5577840" cy="694944"/>
          </a:xfrm>
          <a:prstGeom prst="roundRect">
            <a:avLst>
              <a:gd name="adj" fmla="val 10526"/>
            </a:avLst>
          </a:prstGeom>
          <a:solidFill>
            <a:srgbClr val="E8F5EF"/>
          </a:solidFill>
          <a:ln w="15875">
            <a:solidFill>
              <a:srgbClr val="D49A00"/>
            </a:solidFill>
            <a:prstDash val="solid"/>
          </a:ln>
        </p:spPr>
      </p:sp>
      <p:sp>
        <p:nvSpPr>
          <p:cNvPr id="31" name="Shape 26"/>
          <p:cNvSpPr/>
          <p:nvPr/>
        </p:nvSpPr>
        <p:spPr>
          <a:xfrm>
            <a:off x="566928" y="3054096"/>
            <a:ext cx="457200" cy="457200"/>
          </a:xfrm>
          <a:prstGeom prst="ellipse">
            <a:avLst/>
          </a:prstGeom>
          <a:solidFill>
            <a:srgbClr val="D49A00">
              <a:alpha val="22000"/>
            </a:srgbClr>
          </a:solidFill>
          <a:ln/>
        </p:spPr>
      </p:sp>
      <p:pic>
        <p:nvPicPr>
          <p:cNvPr id="32" name="Image 2" descr="preencoded.png">    </p:cNvPr>
          <p:cNvPicPr>
            <a:picLocks noChangeAspect="1"/>
          </p:cNvPicPr>
          <p:nvPr/>
        </p:nvPicPr>
        <p:blipFill>
          <a:blip r:embed="rId3"/>
          <a:stretch>
            <a:fillRect/>
          </a:stretch>
        </p:blipFill>
        <p:spPr>
          <a:xfrm>
            <a:off x="681228" y="3168396"/>
            <a:ext cx="228600" cy="228600"/>
          </a:xfrm>
          <a:prstGeom prst="rect">
            <a:avLst/>
          </a:prstGeom>
        </p:spPr>
      </p:pic>
      <p:sp>
        <p:nvSpPr>
          <p:cNvPr id="33" name="Text 27"/>
          <p:cNvSpPr txBox="1"/>
          <p:nvPr/>
        </p:nvSpPr>
        <p:spPr>
          <a:xfrm>
            <a:off x="1143000" y="2990088"/>
            <a:ext cx="2057400" cy="27432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Code vers les données</a:t>
            </a:r>
            <a:endParaRPr lang="en-US" sz="1150" dirty="0"/>
          </a:p>
        </p:txBody>
      </p:sp>
      <p:sp>
        <p:nvSpPr>
          <p:cNvPr id="34" name="Text 28"/>
          <p:cNvSpPr txBox="1"/>
          <p:nvPr/>
        </p:nvSpPr>
        <p:spPr>
          <a:xfrm>
            <a:off x="1143000" y="3264408"/>
            <a:ext cx="2057400" cy="347472"/>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Le code de l'INS tourne derrière le pare-feu du fournisseur</a:t>
            </a:r>
            <a:endParaRPr lang="en-US" sz="850" dirty="0"/>
          </a:p>
        </p:txBody>
      </p:sp>
      <p:sp>
        <p:nvSpPr>
          <p:cNvPr id="35" name="Text 29"/>
          <p:cNvSpPr txBox="1"/>
          <p:nvPr/>
        </p:nvSpPr>
        <p:spPr>
          <a:xfrm>
            <a:off x="3291840" y="2990088"/>
            <a:ext cx="2651760" cy="58521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Seuls des agrégats vérifiés sortent. Modèle de référence pour les télécoms.</a:t>
            </a:r>
            <a:endParaRPr lang="en-US" sz="1000" dirty="0"/>
          </a:p>
        </p:txBody>
      </p:sp>
      <p:sp>
        <p:nvSpPr>
          <p:cNvPr id="36" name="Shape 30"/>
          <p:cNvSpPr/>
          <p:nvPr/>
        </p:nvSpPr>
        <p:spPr>
          <a:xfrm>
            <a:off x="457200" y="3739896"/>
            <a:ext cx="5577840" cy="694944"/>
          </a:xfrm>
          <a:prstGeom prst="roundRect">
            <a:avLst>
              <a:gd name="adj" fmla="val 10526"/>
            </a:avLst>
          </a:prstGeom>
          <a:solidFill>
            <a:srgbClr val="F4F7F5"/>
          </a:solidFill>
          <a:ln w="9525">
            <a:solidFill>
              <a:srgbClr val="D5DED9"/>
            </a:solidFill>
            <a:prstDash val="solid"/>
          </a:ln>
        </p:spPr>
      </p:sp>
      <p:sp>
        <p:nvSpPr>
          <p:cNvPr id="37" name="Shape 31"/>
          <p:cNvSpPr/>
          <p:nvPr/>
        </p:nvSpPr>
        <p:spPr>
          <a:xfrm>
            <a:off x="566928" y="3858768"/>
            <a:ext cx="457200" cy="457200"/>
          </a:xfrm>
          <a:prstGeom prst="ellipse">
            <a:avLst/>
          </a:prstGeom>
          <a:solidFill>
            <a:srgbClr val="D49A00">
              <a:alpha val="22000"/>
            </a:srgbClr>
          </a:solidFill>
          <a:ln/>
        </p:spPr>
      </p:sp>
      <p:pic>
        <p:nvPicPr>
          <p:cNvPr id="38" name="Image 3" descr="preencoded.png">    </p:cNvPr>
          <p:cNvPicPr>
            <a:picLocks noChangeAspect="1"/>
          </p:cNvPicPr>
          <p:nvPr/>
        </p:nvPicPr>
        <p:blipFill>
          <a:blip r:embed="rId4"/>
          <a:stretch>
            <a:fillRect/>
          </a:stretch>
        </p:blipFill>
        <p:spPr>
          <a:xfrm>
            <a:off x="681228" y="3973068"/>
            <a:ext cx="228600" cy="228600"/>
          </a:xfrm>
          <a:prstGeom prst="rect">
            <a:avLst/>
          </a:prstGeom>
        </p:spPr>
      </p:pic>
      <p:sp>
        <p:nvSpPr>
          <p:cNvPr id="39" name="Text 32"/>
          <p:cNvSpPr txBox="1"/>
          <p:nvPr/>
        </p:nvSpPr>
        <p:spPr>
          <a:xfrm>
            <a:off x="1143000" y="3794760"/>
            <a:ext cx="2057400" cy="27432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Technologies de confidentialité</a:t>
            </a:r>
            <a:endParaRPr lang="en-US" sz="1150" dirty="0"/>
          </a:p>
        </p:txBody>
      </p:sp>
      <p:sp>
        <p:nvSpPr>
          <p:cNvPr id="40" name="Text 33"/>
          <p:cNvSpPr txBox="1"/>
          <p:nvPr/>
        </p:nvSpPr>
        <p:spPr>
          <a:xfrm>
            <a:off x="1143000" y="4069080"/>
            <a:ext cx="2057400" cy="347472"/>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Enclaves, confidentialité différentielle, analyse fédérée</a:t>
            </a:r>
            <a:endParaRPr lang="en-US" sz="850" dirty="0"/>
          </a:p>
        </p:txBody>
      </p:sp>
      <p:sp>
        <p:nvSpPr>
          <p:cNvPr id="41" name="Text 34"/>
          <p:cNvSpPr txBox="1"/>
          <p:nvPr/>
        </p:nvSpPr>
        <p:spPr>
          <a:xfrm>
            <a:off x="3291840" y="3794760"/>
            <a:ext cx="2651760" cy="58521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Protection forte ; exige des compétences et infrastructures avancées.</a:t>
            </a:r>
            <a:endParaRPr lang="en-US" sz="1000" dirty="0"/>
          </a:p>
        </p:txBody>
      </p:sp>
      <p:sp>
        <p:nvSpPr>
          <p:cNvPr id="42" name="Text 35"/>
          <p:cNvSpPr txBox="1"/>
          <p:nvPr/>
        </p:nvSpPr>
        <p:spPr>
          <a:xfrm>
            <a:off x="6263640" y="1325880"/>
            <a:ext cx="1280160" cy="411480"/>
          </a:xfrm>
          <a:prstGeom prst="rect">
            <a:avLst/>
          </a:prstGeom>
          <a:noFill/>
          <a:ln/>
        </p:spPr>
        <p:txBody>
          <a:bodyPr wrap="square" lIns="0" tIns="0" rIns="0" bIns="0" rtlCol="0" anchor="t"/>
          <a:lstStyle/>
          <a:p>
            <a:pPr indent="0" marL="0">
              <a:buNone/>
            </a:pPr>
            <a:r>
              <a:rPr lang="en-US" sz="900" b="1" spc="100" kern="0" dirty="0">
                <a:solidFill>
                  <a:srgbClr val="5E6964"/>
                </a:solidFill>
                <a:latin typeface="Calibri" pitchFamily="34" charset="0"/>
                <a:ea typeface="Calibri" pitchFamily="34" charset="-122"/>
                <a:cs typeface="Calibri" pitchFamily="34" charset="-120"/>
              </a:rPr>
              <a:t>EXPOSITION</a:t>
            </a:r>
            <a:endParaRPr lang="en-US" sz="900" dirty="0"/>
          </a:p>
          <a:p>
            <a:pPr indent="0" marL="0">
              <a:buNone/>
            </a:pPr>
            <a:r>
              <a:rPr lang="en-US" sz="900" b="1" spc="100" kern="0" dirty="0">
                <a:solidFill>
                  <a:srgbClr val="5E6964"/>
                </a:solidFill>
                <a:latin typeface="Calibri" pitchFamily="34" charset="0"/>
                <a:ea typeface="Calibri" pitchFamily="34" charset="-122"/>
                <a:cs typeface="Calibri" pitchFamily="34" charset="-120"/>
              </a:rPr>
              <a:t>INDIVIDUELLE</a:t>
            </a:r>
            <a:endParaRPr lang="en-US" sz="900" dirty="0"/>
          </a:p>
        </p:txBody>
      </p:sp>
      <p:sp>
        <p:nvSpPr>
          <p:cNvPr id="43" name="Shape 36"/>
          <p:cNvSpPr/>
          <p:nvPr/>
        </p:nvSpPr>
        <p:spPr>
          <a:xfrm>
            <a:off x="6355080" y="1810512"/>
            <a:ext cx="201168" cy="640080"/>
          </a:xfrm>
          <a:prstGeom prst="rect">
            <a:avLst/>
          </a:prstGeom>
          <a:solidFill>
            <a:srgbClr val="B83B2E"/>
          </a:solidFill>
          <a:ln/>
        </p:spPr>
      </p:sp>
      <p:sp>
        <p:nvSpPr>
          <p:cNvPr id="44" name="Shape 37"/>
          <p:cNvSpPr/>
          <p:nvPr/>
        </p:nvSpPr>
        <p:spPr>
          <a:xfrm>
            <a:off x="6355080" y="2450592"/>
            <a:ext cx="201168" cy="640080"/>
          </a:xfrm>
          <a:prstGeom prst="rect">
            <a:avLst/>
          </a:prstGeom>
          <a:solidFill>
            <a:srgbClr val="C4621D"/>
          </a:solidFill>
          <a:ln/>
        </p:spPr>
      </p:sp>
      <p:sp>
        <p:nvSpPr>
          <p:cNvPr id="45" name="Shape 38"/>
          <p:cNvSpPr/>
          <p:nvPr/>
        </p:nvSpPr>
        <p:spPr>
          <a:xfrm>
            <a:off x="6355080" y="3090672"/>
            <a:ext cx="201168" cy="640080"/>
          </a:xfrm>
          <a:prstGeom prst="rect">
            <a:avLst/>
          </a:prstGeom>
          <a:solidFill>
            <a:srgbClr val="D49A00"/>
          </a:solidFill>
          <a:ln/>
        </p:spPr>
      </p:sp>
      <p:sp>
        <p:nvSpPr>
          <p:cNvPr id="46" name="Shape 39"/>
          <p:cNvSpPr/>
          <p:nvPr/>
        </p:nvSpPr>
        <p:spPr>
          <a:xfrm>
            <a:off x="6355080" y="3730752"/>
            <a:ext cx="201168" cy="640080"/>
          </a:xfrm>
          <a:prstGeom prst="rect">
            <a:avLst/>
          </a:prstGeom>
          <a:solidFill>
            <a:srgbClr val="00A86A"/>
          </a:solidFill>
          <a:ln/>
        </p:spPr>
      </p:sp>
      <p:sp>
        <p:nvSpPr>
          <p:cNvPr id="47" name="Text 40"/>
          <p:cNvSpPr txBox="1"/>
          <p:nvPr/>
        </p:nvSpPr>
        <p:spPr>
          <a:xfrm>
            <a:off x="6629400" y="1828800"/>
            <a:ext cx="548640" cy="182880"/>
          </a:xfrm>
          <a:prstGeom prst="rect">
            <a:avLst/>
          </a:prstGeom>
          <a:noFill/>
          <a:ln/>
        </p:spPr>
        <p:txBody>
          <a:bodyPr wrap="square" lIns="0" tIns="0" rIns="0" bIns="0" rtlCol="0" anchor="t"/>
          <a:lstStyle/>
          <a:p>
            <a:pPr indent="0" marL="0">
              <a:buNone/>
            </a:pPr>
            <a:r>
              <a:rPr lang="en-US" sz="900" b="1" dirty="0">
                <a:solidFill>
                  <a:srgbClr val="B83B2E"/>
                </a:solidFill>
                <a:latin typeface="Calibri" pitchFamily="34" charset="0"/>
                <a:ea typeface="Calibri" pitchFamily="34" charset="-122"/>
                <a:cs typeface="Calibri" pitchFamily="34" charset="-120"/>
              </a:rPr>
              <a:t>élevée</a:t>
            </a:r>
            <a:endParaRPr lang="en-US" sz="900" dirty="0"/>
          </a:p>
        </p:txBody>
      </p:sp>
      <p:sp>
        <p:nvSpPr>
          <p:cNvPr id="48" name="Text 41"/>
          <p:cNvSpPr txBox="1"/>
          <p:nvPr/>
        </p:nvSpPr>
        <p:spPr>
          <a:xfrm>
            <a:off x="6629400" y="4160520"/>
            <a:ext cx="548640" cy="182880"/>
          </a:xfrm>
          <a:prstGeom prst="rect">
            <a:avLst/>
          </a:prstGeom>
          <a:noFill/>
          <a:ln/>
        </p:spPr>
        <p:txBody>
          <a:bodyPr wrap="square" lIns="0" tIns="0" rIns="0" bIns="0" rtlCol="0" anchor="t"/>
          <a:lstStyle/>
          <a:p>
            <a:pPr indent="0" marL="0">
              <a:buNone/>
            </a:pPr>
            <a:r>
              <a:rPr lang="en-US" sz="900" b="1" dirty="0">
                <a:solidFill>
                  <a:srgbClr val="00A86A"/>
                </a:solidFill>
                <a:latin typeface="Calibri" pitchFamily="34" charset="0"/>
                <a:ea typeface="Calibri" pitchFamily="34" charset="-122"/>
                <a:cs typeface="Calibri" pitchFamily="34" charset="-120"/>
              </a:rPr>
              <a:t>faible</a:t>
            </a:r>
            <a:endParaRPr lang="en-US" sz="900" dirty="0"/>
          </a:p>
        </p:txBody>
      </p:sp>
      <p:sp>
        <p:nvSpPr>
          <p:cNvPr id="49" name="Shape 42"/>
          <p:cNvSpPr/>
          <p:nvPr/>
        </p:nvSpPr>
        <p:spPr>
          <a:xfrm>
            <a:off x="7223760" y="1810512"/>
            <a:ext cx="1463040" cy="2560320"/>
          </a:xfrm>
          <a:prstGeom prst="roundRect">
            <a:avLst>
              <a:gd name="adj" fmla="val 5000"/>
            </a:avLst>
          </a:prstGeom>
          <a:solidFill>
            <a:srgbClr val="00553A"/>
          </a:solidFill>
          <a:ln/>
        </p:spPr>
      </p:sp>
      <p:sp>
        <p:nvSpPr>
          <p:cNvPr id="50" name="Text 43"/>
          <p:cNvSpPr txBox="1"/>
          <p:nvPr/>
        </p:nvSpPr>
        <p:spPr>
          <a:xfrm>
            <a:off x="7315200" y="1920240"/>
            <a:ext cx="1280160" cy="182880"/>
          </a:xfrm>
          <a:prstGeom prst="rect">
            <a:avLst/>
          </a:prstGeom>
          <a:noFill/>
          <a:ln/>
        </p:spPr>
        <p:txBody>
          <a:bodyPr wrap="square" lIns="0" tIns="0" rIns="0" bIns="0" rtlCol="0" anchor="t"/>
          <a:lstStyle/>
          <a:p>
            <a:pPr indent="0" marL="0">
              <a:buNone/>
            </a:pPr>
            <a:r>
              <a:rPr lang="en-US" sz="900" b="1" spc="100" kern="0" dirty="0">
                <a:solidFill>
                  <a:srgbClr val="F5C242"/>
                </a:solidFill>
                <a:latin typeface="Calibri" pitchFamily="34" charset="0"/>
                <a:ea typeface="Calibri" pitchFamily="34" charset="-122"/>
                <a:cs typeface="Calibri" pitchFamily="34" charset="-120"/>
              </a:rPr>
              <a:t>RÈGLE D'OR</a:t>
            </a:r>
            <a:endParaRPr lang="en-US" sz="900" dirty="0"/>
          </a:p>
        </p:txBody>
      </p:sp>
      <p:sp>
        <p:nvSpPr>
          <p:cNvPr id="51" name="Text 44"/>
          <p:cNvSpPr txBox="1"/>
          <p:nvPr/>
        </p:nvSpPr>
        <p:spPr>
          <a:xfrm>
            <a:off x="7315200" y="2194560"/>
            <a:ext cx="1298448" cy="10972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Déplacer le code vers les données, pas l'inverse.</a:t>
            </a:r>
            <a:endParaRPr lang="en-US" sz="1300" dirty="0"/>
          </a:p>
        </p:txBody>
      </p:sp>
      <p:sp>
        <p:nvSpPr>
          <p:cNvPr id="52" name="Text 45"/>
          <p:cNvSpPr txBox="1"/>
          <p:nvPr/>
        </p:nvSpPr>
        <p:spPr>
          <a:xfrm>
            <a:off x="7315200" y="3337560"/>
            <a:ext cx="1298448" cy="914400"/>
          </a:xfrm>
          <a:prstGeom prst="rect">
            <a:avLst/>
          </a:prstGeom>
          <a:noFill/>
          <a:ln/>
        </p:spPr>
        <p:txBody>
          <a:bodyPr wrap="square" lIns="0" tIns="0" rIns="0" bIns="0" rtlCol="0" anchor="t"/>
          <a:lstStyle/>
          <a:p>
            <a:pPr indent="0" marL="0">
              <a:buNone/>
            </a:pPr>
            <a:r>
              <a:rPr lang="en-US" sz="1000" i="1" dirty="0">
                <a:solidFill>
                  <a:srgbClr val="E6F6EE"/>
                </a:solidFill>
                <a:latin typeface="Calibri" pitchFamily="34" charset="0"/>
                <a:ea typeface="Calibri" pitchFamily="34" charset="-122"/>
                <a:cs typeface="Calibri" pitchFamily="34" charset="-120"/>
              </a:rPr>
              <a:t>Agréger tôt, de façon irréversible, et seulement ce que la question exige.</a:t>
            </a:r>
            <a:endParaRPr lang="en-US" sz="100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ACCÈS ET PARTENARIATS</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Étude de cas : données mobiles au Ghana</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Ghana Statistical Service · Vodafone Ghana · Fondation Flowminder</a:t>
            </a:r>
            <a:endParaRPr lang="en-US" sz="1150" dirty="0"/>
          </a:p>
        </p:txBody>
      </p:sp>
      <p:sp>
        <p:nvSpPr>
          <p:cNvPr id="9" name="Shape 7"/>
          <p:cNvSpPr/>
          <p:nvPr/>
        </p:nvSpPr>
        <p:spPr>
          <a:xfrm>
            <a:off x="7662672" y="329184"/>
            <a:ext cx="100584" cy="100584"/>
          </a:xfrm>
          <a:prstGeom prst="ellipse">
            <a:avLst/>
          </a:prstGeom>
          <a:solidFill>
            <a:srgbClr val="D5DED9"/>
          </a:solidFill>
          <a:ln/>
        </p:spPr>
      </p:sp>
      <p:sp>
        <p:nvSpPr>
          <p:cNvPr id="10" name="Shape 8"/>
          <p:cNvSpPr/>
          <p:nvPr/>
        </p:nvSpPr>
        <p:spPr>
          <a:xfrm>
            <a:off x="7845552" y="329184"/>
            <a:ext cx="100584" cy="100584"/>
          </a:xfrm>
          <a:prstGeom prst="ellipse">
            <a:avLst/>
          </a:prstGeom>
          <a:solidFill>
            <a:srgbClr val="D5DED9"/>
          </a:solidFill>
          <a:ln/>
        </p:spPr>
      </p:sp>
      <p:sp>
        <p:nvSpPr>
          <p:cNvPr id="11" name="Shape 9"/>
          <p:cNvSpPr/>
          <p:nvPr/>
        </p:nvSpPr>
        <p:spPr>
          <a:xfrm>
            <a:off x="8028432" y="329184"/>
            <a:ext cx="100584" cy="100584"/>
          </a:xfrm>
          <a:prstGeom prst="ellipse">
            <a:avLst/>
          </a:prstGeom>
          <a:solidFill>
            <a:srgbClr val="D5DED9"/>
          </a:solidFill>
          <a:ln/>
        </p:spPr>
      </p:sp>
      <p:sp>
        <p:nvSpPr>
          <p:cNvPr id="12" name="Shape 10"/>
          <p:cNvSpPr/>
          <p:nvPr/>
        </p:nvSpPr>
        <p:spPr>
          <a:xfrm>
            <a:off x="8211312" y="329184"/>
            <a:ext cx="100584" cy="100584"/>
          </a:xfrm>
          <a:prstGeom prst="ellipse">
            <a:avLst/>
          </a:prstGeom>
          <a:solidFill>
            <a:srgbClr val="D49A00"/>
          </a:solidFill>
          <a:ln/>
        </p:spPr>
      </p:sp>
      <p:sp>
        <p:nvSpPr>
          <p:cNvPr id="13" name="Shape 11"/>
          <p:cNvSpPr/>
          <p:nvPr/>
        </p:nvSpPr>
        <p:spPr>
          <a:xfrm>
            <a:off x="8394192" y="329184"/>
            <a:ext cx="100584" cy="100584"/>
          </a:xfrm>
          <a:prstGeom prst="ellipse">
            <a:avLst/>
          </a:prstGeom>
          <a:solidFill>
            <a:srgbClr val="D5DED9"/>
          </a:solidFill>
          <a:ln/>
        </p:spPr>
      </p:sp>
      <p:sp>
        <p:nvSpPr>
          <p:cNvPr id="14" name="Shape 12"/>
          <p:cNvSpPr/>
          <p:nvPr/>
        </p:nvSpPr>
        <p:spPr>
          <a:xfrm>
            <a:off x="8577072" y="329184"/>
            <a:ext cx="100584" cy="100584"/>
          </a:xfrm>
          <a:prstGeom prst="ellipse">
            <a:avLst/>
          </a:prstGeom>
          <a:solidFill>
            <a:srgbClr val="D5DED9"/>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Sources de données non traditionnelles · Le trésor caché · Atelier STG17</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28</a:t>
            </a:r>
            <a:endParaRPr lang="en-US" sz="850" dirty="0"/>
          </a:p>
        </p:txBody>
      </p:sp>
      <p:sp>
        <p:nvSpPr>
          <p:cNvPr id="18" name="Shape 15"/>
          <p:cNvSpPr/>
          <p:nvPr/>
        </p:nvSpPr>
        <p:spPr>
          <a:xfrm>
            <a:off x="685800" y="1481328"/>
            <a:ext cx="0" cy="2834640"/>
          </a:xfrm>
          <a:prstGeom prst="line">
            <a:avLst/>
          </a:prstGeom>
          <a:noFill/>
          <a:ln w="25400">
            <a:solidFill>
              <a:srgbClr val="D49A00"/>
            </a:solidFill>
            <a:prstDash val="solid"/>
          </a:ln>
        </p:spPr>
      </p:sp>
      <p:sp>
        <p:nvSpPr>
          <p:cNvPr id="19" name="Shape 16"/>
          <p:cNvSpPr/>
          <p:nvPr/>
        </p:nvSpPr>
        <p:spPr>
          <a:xfrm>
            <a:off x="585216" y="1417320"/>
            <a:ext cx="201168" cy="201168"/>
          </a:xfrm>
          <a:prstGeom prst="ellipse">
            <a:avLst/>
          </a:prstGeom>
          <a:solidFill>
            <a:srgbClr val="FFFFFF"/>
          </a:solidFill>
          <a:ln w="25400">
            <a:solidFill>
              <a:srgbClr val="D49A00"/>
            </a:solidFill>
            <a:prstDash val="solid"/>
          </a:ln>
        </p:spPr>
      </p:sp>
      <p:sp>
        <p:nvSpPr>
          <p:cNvPr id="20" name="Text 17"/>
          <p:cNvSpPr txBox="1"/>
          <p:nvPr/>
        </p:nvSpPr>
        <p:spPr>
          <a:xfrm>
            <a:off x="914400" y="1371600"/>
            <a:ext cx="1097280" cy="274320"/>
          </a:xfrm>
          <a:prstGeom prst="rect">
            <a:avLst/>
          </a:prstGeom>
          <a:noFill/>
          <a:ln/>
        </p:spPr>
        <p:txBody>
          <a:bodyPr wrap="square" lIns="0" tIns="0" rIns="0" bIns="0" rtlCol="0" anchor="t"/>
          <a:lstStyle/>
          <a:p>
            <a:pPr indent="0" marL="0">
              <a:buNone/>
            </a:pPr>
            <a:r>
              <a:rPr lang="en-US" sz="1400" b="1" dirty="0">
                <a:solidFill>
                  <a:srgbClr val="D49A00"/>
                </a:solidFill>
                <a:latin typeface="Calibri" pitchFamily="34" charset="0"/>
                <a:ea typeface="Calibri" pitchFamily="34" charset="-122"/>
                <a:cs typeface="Calibri" pitchFamily="34" charset="-120"/>
              </a:rPr>
              <a:t>2017</a:t>
            </a:r>
            <a:endParaRPr lang="en-US" sz="1400" dirty="0"/>
          </a:p>
        </p:txBody>
      </p:sp>
      <p:sp>
        <p:nvSpPr>
          <p:cNvPr id="21" name="Text 18"/>
          <p:cNvSpPr txBox="1"/>
          <p:nvPr/>
        </p:nvSpPr>
        <p:spPr>
          <a:xfrm>
            <a:off x="914400" y="1645920"/>
            <a:ext cx="3291840"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Premiers contacts au Forum mondial de l'ONU sur les données, Le Cap</a:t>
            </a:r>
            <a:endParaRPr lang="en-US" sz="1050" dirty="0"/>
          </a:p>
        </p:txBody>
      </p:sp>
      <p:sp>
        <p:nvSpPr>
          <p:cNvPr id="22" name="Shape 19"/>
          <p:cNvSpPr/>
          <p:nvPr/>
        </p:nvSpPr>
        <p:spPr>
          <a:xfrm>
            <a:off x="585216" y="2176272"/>
            <a:ext cx="201168" cy="201168"/>
          </a:xfrm>
          <a:prstGeom prst="ellipse">
            <a:avLst/>
          </a:prstGeom>
          <a:solidFill>
            <a:srgbClr val="FFFFFF"/>
          </a:solidFill>
          <a:ln w="25400">
            <a:solidFill>
              <a:srgbClr val="D49A00"/>
            </a:solidFill>
            <a:prstDash val="solid"/>
          </a:ln>
        </p:spPr>
      </p:sp>
      <p:sp>
        <p:nvSpPr>
          <p:cNvPr id="23" name="Text 20"/>
          <p:cNvSpPr txBox="1"/>
          <p:nvPr/>
        </p:nvSpPr>
        <p:spPr>
          <a:xfrm>
            <a:off x="914400" y="2130552"/>
            <a:ext cx="1097280" cy="274320"/>
          </a:xfrm>
          <a:prstGeom prst="rect">
            <a:avLst/>
          </a:prstGeom>
          <a:noFill/>
          <a:ln/>
        </p:spPr>
        <p:txBody>
          <a:bodyPr wrap="square" lIns="0" tIns="0" rIns="0" bIns="0" rtlCol="0" anchor="t"/>
          <a:lstStyle/>
          <a:p>
            <a:pPr indent="0" marL="0">
              <a:buNone/>
            </a:pPr>
            <a:r>
              <a:rPr lang="en-US" sz="1400" b="1" dirty="0">
                <a:solidFill>
                  <a:srgbClr val="D49A00"/>
                </a:solidFill>
                <a:latin typeface="Calibri" pitchFamily="34" charset="0"/>
                <a:ea typeface="Calibri" pitchFamily="34" charset="-122"/>
                <a:cs typeface="Calibri" pitchFamily="34" charset="-120"/>
              </a:rPr>
              <a:t>Déc. 2018</a:t>
            </a:r>
            <a:endParaRPr lang="en-US" sz="1400" dirty="0"/>
          </a:p>
        </p:txBody>
      </p:sp>
      <p:sp>
        <p:nvSpPr>
          <p:cNvPr id="24" name="Text 21"/>
          <p:cNvSpPr txBox="1"/>
          <p:nvPr/>
        </p:nvSpPr>
        <p:spPr>
          <a:xfrm>
            <a:off x="914400" y="2404872"/>
            <a:ext cx="3291840"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Accord signé ; chaîne FlowKit installée derrière le pare-feu de l'opérateur</a:t>
            </a:r>
            <a:endParaRPr lang="en-US" sz="1050" dirty="0"/>
          </a:p>
        </p:txBody>
      </p:sp>
      <p:sp>
        <p:nvSpPr>
          <p:cNvPr id="25" name="Shape 22"/>
          <p:cNvSpPr/>
          <p:nvPr/>
        </p:nvSpPr>
        <p:spPr>
          <a:xfrm>
            <a:off x="585216" y="2935224"/>
            <a:ext cx="201168" cy="201168"/>
          </a:xfrm>
          <a:prstGeom prst="ellipse">
            <a:avLst/>
          </a:prstGeom>
          <a:solidFill>
            <a:srgbClr val="FFFFFF"/>
          </a:solidFill>
          <a:ln w="25400">
            <a:solidFill>
              <a:srgbClr val="D49A00"/>
            </a:solidFill>
            <a:prstDash val="solid"/>
          </a:ln>
        </p:spPr>
      </p:sp>
      <p:sp>
        <p:nvSpPr>
          <p:cNvPr id="26" name="Text 23"/>
          <p:cNvSpPr txBox="1"/>
          <p:nvPr/>
        </p:nvSpPr>
        <p:spPr>
          <a:xfrm>
            <a:off x="914400" y="2889504"/>
            <a:ext cx="1097280" cy="274320"/>
          </a:xfrm>
          <a:prstGeom prst="rect">
            <a:avLst/>
          </a:prstGeom>
          <a:noFill/>
          <a:ln/>
        </p:spPr>
        <p:txBody>
          <a:bodyPr wrap="square" lIns="0" tIns="0" rIns="0" bIns="0" rtlCol="0" anchor="t"/>
          <a:lstStyle/>
          <a:p>
            <a:pPr indent="0" marL="0">
              <a:buNone/>
            </a:pPr>
            <a:r>
              <a:rPr lang="en-US" sz="1400" b="1" dirty="0">
                <a:solidFill>
                  <a:srgbClr val="D49A00"/>
                </a:solidFill>
                <a:latin typeface="Calibri" pitchFamily="34" charset="0"/>
                <a:ea typeface="Calibri" pitchFamily="34" charset="-122"/>
                <a:cs typeface="Calibri" pitchFamily="34" charset="-120"/>
              </a:rPr>
              <a:t>Avr. 2020</a:t>
            </a:r>
            <a:endParaRPr lang="en-US" sz="1400" dirty="0"/>
          </a:p>
        </p:txBody>
      </p:sp>
      <p:sp>
        <p:nvSpPr>
          <p:cNvPr id="27" name="Text 24"/>
          <p:cNvSpPr txBox="1"/>
          <p:nvPr/>
        </p:nvSpPr>
        <p:spPr>
          <a:xfrm>
            <a:off x="914400" y="3163824"/>
            <a:ext cx="3291840"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Premier rapport de mobilité COVID-19, quelques semaines après les restrictions</a:t>
            </a:r>
            <a:endParaRPr lang="en-US" sz="1050" dirty="0"/>
          </a:p>
        </p:txBody>
      </p:sp>
      <p:sp>
        <p:nvSpPr>
          <p:cNvPr id="28" name="Shape 25"/>
          <p:cNvSpPr/>
          <p:nvPr/>
        </p:nvSpPr>
        <p:spPr>
          <a:xfrm>
            <a:off x="585216" y="3694176"/>
            <a:ext cx="201168" cy="201168"/>
          </a:xfrm>
          <a:prstGeom prst="ellipse">
            <a:avLst/>
          </a:prstGeom>
          <a:solidFill>
            <a:srgbClr val="FFFFFF"/>
          </a:solidFill>
          <a:ln w="25400">
            <a:solidFill>
              <a:srgbClr val="D49A00"/>
            </a:solidFill>
            <a:prstDash val="solid"/>
          </a:ln>
        </p:spPr>
      </p:sp>
      <p:sp>
        <p:nvSpPr>
          <p:cNvPr id="29" name="Text 26"/>
          <p:cNvSpPr txBox="1"/>
          <p:nvPr/>
        </p:nvSpPr>
        <p:spPr>
          <a:xfrm>
            <a:off x="914400" y="3648456"/>
            <a:ext cx="1097280" cy="274320"/>
          </a:xfrm>
          <a:prstGeom prst="rect">
            <a:avLst/>
          </a:prstGeom>
          <a:noFill/>
          <a:ln/>
        </p:spPr>
        <p:txBody>
          <a:bodyPr wrap="square" lIns="0" tIns="0" rIns="0" bIns="0" rtlCol="0" anchor="t"/>
          <a:lstStyle/>
          <a:p>
            <a:pPr indent="0" marL="0">
              <a:buNone/>
            </a:pPr>
            <a:r>
              <a:rPr lang="en-US" sz="1400" b="1" dirty="0">
                <a:solidFill>
                  <a:srgbClr val="D49A00"/>
                </a:solidFill>
                <a:latin typeface="Calibri" pitchFamily="34" charset="0"/>
                <a:ea typeface="Calibri" pitchFamily="34" charset="-122"/>
                <a:cs typeface="Calibri" pitchFamily="34" charset="-120"/>
              </a:rPr>
              <a:t>Janv. 2023</a:t>
            </a:r>
            <a:endParaRPr lang="en-US" sz="1400" dirty="0"/>
          </a:p>
        </p:txBody>
      </p:sp>
      <p:sp>
        <p:nvSpPr>
          <p:cNvPr id="30" name="Text 27"/>
          <p:cNvSpPr txBox="1"/>
          <p:nvPr/>
        </p:nvSpPr>
        <p:spPr>
          <a:xfrm>
            <a:off x="914400" y="3922776"/>
            <a:ext cx="3291840" cy="4114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Signature de la phase 2 du partenariat « Data for Good »</a:t>
            </a:r>
            <a:endParaRPr lang="en-US" sz="1050" dirty="0"/>
          </a:p>
        </p:txBody>
      </p:sp>
      <p:sp>
        <p:nvSpPr>
          <p:cNvPr id="31" name="Shape 28"/>
          <p:cNvSpPr/>
          <p:nvPr/>
        </p:nvSpPr>
        <p:spPr>
          <a:xfrm>
            <a:off x="4526280" y="1371600"/>
            <a:ext cx="4160520" cy="2011680"/>
          </a:xfrm>
          <a:prstGeom prst="roundRect">
            <a:avLst>
              <a:gd name="adj" fmla="val 3636"/>
            </a:avLst>
          </a:prstGeom>
          <a:solidFill>
            <a:srgbClr val="E8F5EF"/>
          </a:solidFill>
          <a:ln w="15875">
            <a:solidFill>
              <a:srgbClr val="00A86A"/>
            </a:solidFill>
            <a:prstDash val="solid"/>
          </a:ln>
        </p:spPr>
      </p:sp>
      <p:sp>
        <p:nvSpPr>
          <p:cNvPr id="32" name="Text 29"/>
          <p:cNvSpPr txBox="1"/>
          <p:nvPr/>
        </p:nvSpPr>
        <p:spPr>
          <a:xfrm>
            <a:off x="4681728" y="1463040"/>
            <a:ext cx="3657600" cy="201168"/>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LES FACTEURS DE RÉUSSITE</a:t>
            </a:r>
            <a:endParaRPr lang="en-US" sz="1000" dirty="0"/>
          </a:p>
        </p:txBody>
      </p:sp>
      <p:pic>
        <p:nvPicPr>
          <p:cNvPr id="33" name="Image 0" descr="preencoded.png">    </p:cNvPr>
          <p:cNvPicPr>
            <a:picLocks noChangeAspect="1"/>
          </p:cNvPicPr>
          <p:nvPr/>
        </p:nvPicPr>
        <p:blipFill>
          <a:blip r:embed="rId1"/>
          <a:stretch>
            <a:fillRect/>
          </a:stretch>
        </p:blipFill>
        <p:spPr>
          <a:xfrm>
            <a:off x="4700016" y="1810512"/>
            <a:ext cx="219456" cy="219456"/>
          </a:xfrm>
          <a:prstGeom prst="rect">
            <a:avLst/>
          </a:prstGeom>
        </p:spPr>
      </p:pic>
      <p:sp>
        <p:nvSpPr>
          <p:cNvPr id="34" name="Text 30"/>
          <p:cNvSpPr txBox="1"/>
          <p:nvPr/>
        </p:nvSpPr>
        <p:spPr>
          <a:xfrm>
            <a:off x="5029200" y="1755648"/>
            <a:ext cx="3611880" cy="365760"/>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Code vers les données : seuls des résultats agrégés et anonymisés sortent.</a:t>
            </a:r>
            <a:endParaRPr lang="en-US" sz="1000" dirty="0"/>
          </a:p>
        </p:txBody>
      </p:sp>
      <p:pic>
        <p:nvPicPr>
          <p:cNvPr id="35" name="Image 1" descr="preencoded.png">    </p:cNvPr>
          <p:cNvPicPr>
            <a:picLocks noChangeAspect="1"/>
          </p:cNvPicPr>
          <p:nvPr/>
        </p:nvPicPr>
        <p:blipFill>
          <a:blip r:embed="rId2"/>
          <a:stretch>
            <a:fillRect/>
          </a:stretch>
        </p:blipFill>
        <p:spPr>
          <a:xfrm>
            <a:off x="4700016" y="2212848"/>
            <a:ext cx="219456" cy="219456"/>
          </a:xfrm>
          <a:prstGeom prst="rect">
            <a:avLst/>
          </a:prstGeom>
        </p:spPr>
      </p:pic>
      <p:sp>
        <p:nvSpPr>
          <p:cNvPr id="36" name="Text 31"/>
          <p:cNvSpPr txBox="1"/>
          <p:nvPr/>
        </p:nvSpPr>
        <p:spPr>
          <a:xfrm>
            <a:off x="5029200" y="2157984"/>
            <a:ext cx="3611880" cy="365760"/>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Comité de pilotage présidé par le Statisticien général, avec la société civile.</a:t>
            </a:r>
            <a:endParaRPr lang="en-US" sz="1000" dirty="0"/>
          </a:p>
        </p:txBody>
      </p:sp>
      <p:pic>
        <p:nvPicPr>
          <p:cNvPr id="37" name="Image 2" descr="preencoded.png">    </p:cNvPr>
          <p:cNvPicPr>
            <a:picLocks noChangeAspect="1"/>
          </p:cNvPicPr>
          <p:nvPr/>
        </p:nvPicPr>
        <p:blipFill>
          <a:blip r:embed="rId3"/>
          <a:stretch>
            <a:fillRect/>
          </a:stretch>
        </p:blipFill>
        <p:spPr>
          <a:xfrm>
            <a:off x="4700016" y="2615184"/>
            <a:ext cx="219456" cy="219456"/>
          </a:xfrm>
          <a:prstGeom prst="rect">
            <a:avLst/>
          </a:prstGeom>
        </p:spPr>
      </p:pic>
      <p:sp>
        <p:nvSpPr>
          <p:cNvPr id="38" name="Text 32"/>
          <p:cNvSpPr txBox="1"/>
          <p:nvPr/>
        </p:nvSpPr>
        <p:spPr>
          <a:xfrm>
            <a:off x="5029200" y="2560320"/>
            <a:ext cx="3611880" cy="365760"/>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Critères convenus à l'avance pour tout partage avec des tiers.</a:t>
            </a:r>
            <a:endParaRPr lang="en-US" sz="1000" dirty="0"/>
          </a:p>
        </p:txBody>
      </p:sp>
      <p:pic>
        <p:nvPicPr>
          <p:cNvPr id="39" name="Image 3" descr="preencoded.png">    </p:cNvPr>
          <p:cNvPicPr>
            <a:picLocks noChangeAspect="1"/>
          </p:cNvPicPr>
          <p:nvPr/>
        </p:nvPicPr>
        <p:blipFill>
          <a:blip r:embed="rId4"/>
          <a:stretch>
            <a:fillRect/>
          </a:stretch>
        </p:blipFill>
        <p:spPr>
          <a:xfrm>
            <a:off x="4700016" y="3017520"/>
            <a:ext cx="219456" cy="219456"/>
          </a:xfrm>
          <a:prstGeom prst="rect">
            <a:avLst/>
          </a:prstGeom>
        </p:spPr>
      </p:pic>
      <p:sp>
        <p:nvSpPr>
          <p:cNvPr id="40" name="Text 33"/>
          <p:cNvSpPr txBox="1"/>
          <p:nvPr/>
        </p:nvSpPr>
        <p:spPr>
          <a:xfrm>
            <a:off x="5029200" y="2962656"/>
            <a:ext cx="3611880" cy="365760"/>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Renforcement durable des capacités des data scientists du GSS.</a:t>
            </a:r>
            <a:endParaRPr lang="en-US" sz="1000" dirty="0"/>
          </a:p>
        </p:txBody>
      </p:sp>
      <p:sp>
        <p:nvSpPr>
          <p:cNvPr id="41" name="Shape 34"/>
          <p:cNvSpPr/>
          <p:nvPr/>
        </p:nvSpPr>
        <p:spPr>
          <a:xfrm>
            <a:off x="4526280" y="3520440"/>
            <a:ext cx="4160520" cy="960120"/>
          </a:xfrm>
          <a:prstGeom prst="roundRect">
            <a:avLst>
              <a:gd name="adj" fmla="val 5714"/>
            </a:avLst>
          </a:prstGeom>
          <a:solidFill>
            <a:srgbClr val="D49A00">
              <a:alpha val="13000"/>
            </a:srgbClr>
          </a:solidFill>
          <a:ln w="12700">
            <a:solidFill>
              <a:srgbClr val="D49A00"/>
            </a:solidFill>
            <a:prstDash val="solid"/>
          </a:ln>
        </p:spPr>
      </p:sp>
      <p:pic>
        <p:nvPicPr>
          <p:cNvPr id="42" name="Image 4" descr="preencoded.png">    </p:cNvPr>
          <p:cNvPicPr>
            <a:picLocks noChangeAspect="1"/>
          </p:cNvPicPr>
          <p:nvPr/>
        </p:nvPicPr>
        <p:blipFill>
          <a:blip r:embed="rId5"/>
          <a:stretch>
            <a:fillRect/>
          </a:stretch>
        </p:blipFill>
        <p:spPr>
          <a:xfrm>
            <a:off x="4654296" y="3863340"/>
            <a:ext cx="274320" cy="274320"/>
          </a:xfrm>
          <a:prstGeom prst="rect">
            <a:avLst/>
          </a:prstGeom>
        </p:spPr>
      </p:pic>
      <p:sp>
        <p:nvSpPr>
          <p:cNvPr id="43" name="Text 35"/>
          <p:cNvSpPr txBox="1"/>
          <p:nvPr/>
        </p:nvSpPr>
        <p:spPr>
          <a:xfrm>
            <a:off x="5056632" y="3575304"/>
            <a:ext cx="3502152" cy="850392"/>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Construire le partenariat avant la crise : la chaîne existait avant la COVID-19, les résultats sont arrivés en semaines, non en mois.</a:t>
            </a:r>
            <a:endParaRPr lang="en-US" sz="1100" dirty="0"/>
          </a:p>
        </p:txBody>
      </p:sp>
      <p:sp>
        <p:nvSpPr>
          <p:cNvPr id="44" name="Text 36"/>
          <p:cNvSpPr txBox="1"/>
          <p:nvPr/>
        </p:nvSpPr>
        <p:spPr>
          <a:xfrm>
            <a:off x="457200" y="4626864"/>
            <a:ext cx="749808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Sources : UN Statistics Wiki, guide sur les données mobiles, annexe 1.5 (Ghana) ; Flowminder (2020, 2023) ; SDSN TReNDS / C4DC.</a:t>
            </a:r>
            <a:endParaRPr lang="en-US" sz="85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ACCÈS ET PARTENARIATS</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Dix clauses indispensables d'un accord de partage</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Une liste à apporter à la table des négociations — et au guide de référence STG17 sur la gouvernance des données.</a:t>
            </a:r>
            <a:endParaRPr lang="en-US" sz="1150" dirty="0"/>
          </a:p>
        </p:txBody>
      </p:sp>
      <p:sp>
        <p:nvSpPr>
          <p:cNvPr id="9" name="Shape 7"/>
          <p:cNvSpPr/>
          <p:nvPr/>
        </p:nvSpPr>
        <p:spPr>
          <a:xfrm>
            <a:off x="7662672" y="329184"/>
            <a:ext cx="100584" cy="100584"/>
          </a:xfrm>
          <a:prstGeom prst="ellipse">
            <a:avLst/>
          </a:prstGeom>
          <a:solidFill>
            <a:srgbClr val="D5DED9"/>
          </a:solidFill>
          <a:ln/>
        </p:spPr>
      </p:sp>
      <p:sp>
        <p:nvSpPr>
          <p:cNvPr id="10" name="Shape 8"/>
          <p:cNvSpPr/>
          <p:nvPr/>
        </p:nvSpPr>
        <p:spPr>
          <a:xfrm>
            <a:off x="7845552" y="329184"/>
            <a:ext cx="100584" cy="100584"/>
          </a:xfrm>
          <a:prstGeom prst="ellipse">
            <a:avLst/>
          </a:prstGeom>
          <a:solidFill>
            <a:srgbClr val="D5DED9"/>
          </a:solidFill>
          <a:ln/>
        </p:spPr>
      </p:sp>
      <p:sp>
        <p:nvSpPr>
          <p:cNvPr id="11" name="Shape 9"/>
          <p:cNvSpPr/>
          <p:nvPr/>
        </p:nvSpPr>
        <p:spPr>
          <a:xfrm>
            <a:off x="8028432" y="329184"/>
            <a:ext cx="100584" cy="100584"/>
          </a:xfrm>
          <a:prstGeom prst="ellipse">
            <a:avLst/>
          </a:prstGeom>
          <a:solidFill>
            <a:srgbClr val="D5DED9"/>
          </a:solidFill>
          <a:ln/>
        </p:spPr>
      </p:sp>
      <p:sp>
        <p:nvSpPr>
          <p:cNvPr id="12" name="Shape 10"/>
          <p:cNvSpPr/>
          <p:nvPr/>
        </p:nvSpPr>
        <p:spPr>
          <a:xfrm>
            <a:off x="8211312" y="329184"/>
            <a:ext cx="100584" cy="100584"/>
          </a:xfrm>
          <a:prstGeom prst="ellipse">
            <a:avLst/>
          </a:prstGeom>
          <a:solidFill>
            <a:srgbClr val="D49A00"/>
          </a:solidFill>
          <a:ln/>
        </p:spPr>
      </p:sp>
      <p:sp>
        <p:nvSpPr>
          <p:cNvPr id="13" name="Shape 11"/>
          <p:cNvSpPr/>
          <p:nvPr/>
        </p:nvSpPr>
        <p:spPr>
          <a:xfrm>
            <a:off x="8394192" y="329184"/>
            <a:ext cx="100584" cy="100584"/>
          </a:xfrm>
          <a:prstGeom prst="ellipse">
            <a:avLst/>
          </a:prstGeom>
          <a:solidFill>
            <a:srgbClr val="D5DED9"/>
          </a:solidFill>
          <a:ln/>
        </p:spPr>
      </p:sp>
      <p:sp>
        <p:nvSpPr>
          <p:cNvPr id="14" name="Shape 12"/>
          <p:cNvSpPr/>
          <p:nvPr/>
        </p:nvSpPr>
        <p:spPr>
          <a:xfrm>
            <a:off x="8577072" y="329184"/>
            <a:ext cx="100584" cy="100584"/>
          </a:xfrm>
          <a:prstGeom prst="ellipse">
            <a:avLst/>
          </a:prstGeom>
          <a:solidFill>
            <a:srgbClr val="D5DED9"/>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Sources de données non traditionnelles · Le trésor caché · Atelier STG17</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29</a:t>
            </a:r>
            <a:endParaRPr lang="en-US" sz="850" dirty="0"/>
          </a:p>
        </p:txBody>
      </p:sp>
      <p:sp>
        <p:nvSpPr>
          <p:cNvPr id="18" name="Shape 15"/>
          <p:cNvSpPr/>
          <p:nvPr/>
        </p:nvSpPr>
        <p:spPr>
          <a:xfrm>
            <a:off x="457200" y="1325880"/>
            <a:ext cx="4023360" cy="548640"/>
          </a:xfrm>
          <a:prstGeom prst="roundRect">
            <a:avLst>
              <a:gd name="adj" fmla="val 13333"/>
            </a:avLst>
          </a:prstGeom>
          <a:solidFill>
            <a:srgbClr val="F4F7F5"/>
          </a:solidFill>
          <a:ln w="9525">
            <a:solidFill>
              <a:srgbClr val="D5DED9"/>
            </a:solidFill>
            <a:prstDash val="solid"/>
          </a:ln>
        </p:spPr>
      </p:sp>
      <p:sp>
        <p:nvSpPr>
          <p:cNvPr id="19" name="Shape 16"/>
          <p:cNvSpPr/>
          <p:nvPr/>
        </p:nvSpPr>
        <p:spPr>
          <a:xfrm>
            <a:off x="566928" y="1435608"/>
            <a:ext cx="329184" cy="329184"/>
          </a:xfrm>
          <a:prstGeom prst="ellipse">
            <a:avLst/>
          </a:prstGeom>
          <a:solidFill>
            <a:srgbClr val="D49A00"/>
          </a:solidFill>
          <a:ln/>
        </p:spPr>
      </p:sp>
      <p:sp>
        <p:nvSpPr>
          <p:cNvPr id="20" name="Text 17"/>
          <p:cNvSpPr txBox="1"/>
          <p:nvPr/>
        </p:nvSpPr>
        <p:spPr>
          <a:xfrm>
            <a:off x="566928" y="14356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1" name="Text 18"/>
          <p:cNvSpPr txBox="1"/>
          <p:nvPr/>
        </p:nvSpPr>
        <p:spPr>
          <a:xfrm>
            <a:off x="1024128" y="1362456"/>
            <a:ext cx="338328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Finalité</a:t>
            </a:r>
            <a:endParaRPr lang="en-US" sz="1150" dirty="0"/>
          </a:p>
        </p:txBody>
      </p:sp>
      <p:sp>
        <p:nvSpPr>
          <p:cNvPr id="22" name="Text 19"/>
          <p:cNvSpPr txBox="1"/>
          <p:nvPr/>
        </p:nvSpPr>
        <p:spPr>
          <a:xfrm>
            <a:off x="1024128" y="1591056"/>
            <a:ext cx="3401568" cy="24688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Usage statistique seul, précisément défini.</a:t>
            </a:r>
            <a:endParaRPr lang="en-US" sz="950" dirty="0"/>
          </a:p>
        </p:txBody>
      </p:sp>
      <p:sp>
        <p:nvSpPr>
          <p:cNvPr id="23" name="Shape 20"/>
          <p:cNvSpPr/>
          <p:nvPr/>
        </p:nvSpPr>
        <p:spPr>
          <a:xfrm>
            <a:off x="4663440" y="1325880"/>
            <a:ext cx="4023360" cy="548640"/>
          </a:xfrm>
          <a:prstGeom prst="roundRect">
            <a:avLst>
              <a:gd name="adj" fmla="val 13333"/>
            </a:avLst>
          </a:prstGeom>
          <a:solidFill>
            <a:srgbClr val="F4F7F5"/>
          </a:solidFill>
          <a:ln w="9525">
            <a:solidFill>
              <a:srgbClr val="D5DED9"/>
            </a:solidFill>
            <a:prstDash val="solid"/>
          </a:ln>
        </p:spPr>
      </p:sp>
      <p:sp>
        <p:nvSpPr>
          <p:cNvPr id="24" name="Shape 21"/>
          <p:cNvSpPr/>
          <p:nvPr/>
        </p:nvSpPr>
        <p:spPr>
          <a:xfrm>
            <a:off x="4773168" y="1435608"/>
            <a:ext cx="329184" cy="329184"/>
          </a:xfrm>
          <a:prstGeom prst="ellipse">
            <a:avLst/>
          </a:prstGeom>
          <a:solidFill>
            <a:srgbClr val="D49A00"/>
          </a:solidFill>
          <a:ln/>
        </p:spPr>
      </p:sp>
      <p:sp>
        <p:nvSpPr>
          <p:cNvPr id="25" name="Text 22"/>
          <p:cNvSpPr txBox="1"/>
          <p:nvPr/>
        </p:nvSpPr>
        <p:spPr>
          <a:xfrm>
            <a:off x="4773168" y="14356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6" name="Text 23"/>
          <p:cNvSpPr txBox="1"/>
          <p:nvPr/>
        </p:nvSpPr>
        <p:spPr>
          <a:xfrm>
            <a:off x="5230368" y="1362456"/>
            <a:ext cx="338328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Spécification des données</a:t>
            </a:r>
            <a:endParaRPr lang="en-US" sz="1150" dirty="0"/>
          </a:p>
        </p:txBody>
      </p:sp>
      <p:sp>
        <p:nvSpPr>
          <p:cNvPr id="27" name="Text 24"/>
          <p:cNvSpPr txBox="1"/>
          <p:nvPr/>
        </p:nvSpPr>
        <p:spPr>
          <a:xfrm>
            <a:off x="5230368" y="1591056"/>
            <a:ext cx="3401568" cy="24688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Champs, granularité, fréquence, historique et format.</a:t>
            </a:r>
            <a:endParaRPr lang="en-US" sz="950" dirty="0"/>
          </a:p>
        </p:txBody>
      </p:sp>
      <p:sp>
        <p:nvSpPr>
          <p:cNvPr id="28" name="Shape 25"/>
          <p:cNvSpPr/>
          <p:nvPr/>
        </p:nvSpPr>
        <p:spPr>
          <a:xfrm>
            <a:off x="457200" y="1975104"/>
            <a:ext cx="4023360" cy="548640"/>
          </a:xfrm>
          <a:prstGeom prst="roundRect">
            <a:avLst>
              <a:gd name="adj" fmla="val 13333"/>
            </a:avLst>
          </a:prstGeom>
          <a:solidFill>
            <a:srgbClr val="F4F7F5"/>
          </a:solidFill>
          <a:ln w="9525">
            <a:solidFill>
              <a:srgbClr val="D5DED9"/>
            </a:solidFill>
            <a:prstDash val="solid"/>
          </a:ln>
        </p:spPr>
      </p:sp>
      <p:sp>
        <p:nvSpPr>
          <p:cNvPr id="29" name="Shape 26"/>
          <p:cNvSpPr/>
          <p:nvPr/>
        </p:nvSpPr>
        <p:spPr>
          <a:xfrm>
            <a:off x="566928" y="2084832"/>
            <a:ext cx="329184" cy="329184"/>
          </a:xfrm>
          <a:prstGeom prst="ellipse">
            <a:avLst/>
          </a:prstGeom>
          <a:solidFill>
            <a:srgbClr val="D49A00"/>
          </a:solidFill>
          <a:ln/>
        </p:spPr>
      </p:sp>
      <p:sp>
        <p:nvSpPr>
          <p:cNvPr id="30" name="Text 27"/>
          <p:cNvSpPr txBox="1"/>
          <p:nvPr/>
        </p:nvSpPr>
        <p:spPr>
          <a:xfrm>
            <a:off x="566928" y="208483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1" name="Text 28"/>
          <p:cNvSpPr txBox="1"/>
          <p:nvPr/>
        </p:nvSpPr>
        <p:spPr>
          <a:xfrm>
            <a:off x="1024128" y="2011680"/>
            <a:ext cx="338328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Base juridique</a:t>
            </a:r>
            <a:endParaRPr lang="en-US" sz="1150" dirty="0"/>
          </a:p>
        </p:txBody>
      </p:sp>
      <p:sp>
        <p:nvSpPr>
          <p:cNvPr id="32" name="Text 29"/>
          <p:cNvSpPr txBox="1"/>
          <p:nvPr/>
        </p:nvSpPr>
        <p:spPr>
          <a:xfrm>
            <a:off x="1024128" y="2240280"/>
            <a:ext cx="3401568" cy="24688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Loi statistique, loi sur les données personnelles, consentement.</a:t>
            </a:r>
            <a:endParaRPr lang="en-US" sz="950" dirty="0"/>
          </a:p>
        </p:txBody>
      </p:sp>
      <p:sp>
        <p:nvSpPr>
          <p:cNvPr id="33" name="Shape 30"/>
          <p:cNvSpPr/>
          <p:nvPr/>
        </p:nvSpPr>
        <p:spPr>
          <a:xfrm>
            <a:off x="4663440" y="1975104"/>
            <a:ext cx="4023360" cy="548640"/>
          </a:xfrm>
          <a:prstGeom prst="roundRect">
            <a:avLst>
              <a:gd name="adj" fmla="val 13333"/>
            </a:avLst>
          </a:prstGeom>
          <a:solidFill>
            <a:srgbClr val="F4F7F5"/>
          </a:solidFill>
          <a:ln w="9525">
            <a:solidFill>
              <a:srgbClr val="D5DED9"/>
            </a:solidFill>
            <a:prstDash val="solid"/>
          </a:ln>
        </p:spPr>
      </p:sp>
      <p:sp>
        <p:nvSpPr>
          <p:cNvPr id="34" name="Shape 31"/>
          <p:cNvSpPr/>
          <p:nvPr/>
        </p:nvSpPr>
        <p:spPr>
          <a:xfrm>
            <a:off x="4773168" y="2084832"/>
            <a:ext cx="329184" cy="329184"/>
          </a:xfrm>
          <a:prstGeom prst="ellipse">
            <a:avLst/>
          </a:prstGeom>
          <a:solidFill>
            <a:srgbClr val="D49A00"/>
          </a:solidFill>
          <a:ln/>
        </p:spPr>
      </p:sp>
      <p:sp>
        <p:nvSpPr>
          <p:cNvPr id="35" name="Text 32"/>
          <p:cNvSpPr txBox="1"/>
          <p:nvPr/>
        </p:nvSpPr>
        <p:spPr>
          <a:xfrm>
            <a:off x="4773168" y="208483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6" name="Text 33"/>
          <p:cNvSpPr txBox="1"/>
          <p:nvPr/>
        </p:nvSpPr>
        <p:spPr>
          <a:xfrm>
            <a:off x="5230368" y="2011680"/>
            <a:ext cx="338328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Agrégation et seuils</a:t>
            </a:r>
            <a:endParaRPr lang="en-US" sz="1150" dirty="0"/>
          </a:p>
        </p:txBody>
      </p:sp>
      <p:sp>
        <p:nvSpPr>
          <p:cNvPr id="37" name="Text 34"/>
          <p:cNvSpPr txBox="1"/>
          <p:nvPr/>
        </p:nvSpPr>
        <p:spPr>
          <a:xfrm>
            <a:off x="5230368" y="2240280"/>
            <a:ext cx="3401568" cy="24688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Effectifs minimaux ; ce qui peut sortir de quel environnement.</a:t>
            </a:r>
            <a:endParaRPr lang="en-US" sz="950" dirty="0"/>
          </a:p>
        </p:txBody>
      </p:sp>
      <p:sp>
        <p:nvSpPr>
          <p:cNvPr id="38" name="Shape 35"/>
          <p:cNvSpPr/>
          <p:nvPr/>
        </p:nvSpPr>
        <p:spPr>
          <a:xfrm>
            <a:off x="457200" y="2624328"/>
            <a:ext cx="4023360" cy="548640"/>
          </a:xfrm>
          <a:prstGeom prst="roundRect">
            <a:avLst>
              <a:gd name="adj" fmla="val 13333"/>
            </a:avLst>
          </a:prstGeom>
          <a:solidFill>
            <a:srgbClr val="F4F7F5"/>
          </a:solidFill>
          <a:ln w="9525">
            <a:solidFill>
              <a:srgbClr val="D5DED9"/>
            </a:solidFill>
            <a:prstDash val="solid"/>
          </a:ln>
        </p:spPr>
      </p:sp>
      <p:sp>
        <p:nvSpPr>
          <p:cNvPr id="39" name="Shape 36"/>
          <p:cNvSpPr/>
          <p:nvPr/>
        </p:nvSpPr>
        <p:spPr>
          <a:xfrm>
            <a:off x="566928" y="2734056"/>
            <a:ext cx="329184" cy="329184"/>
          </a:xfrm>
          <a:prstGeom prst="ellipse">
            <a:avLst/>
          </a:prstGeom>
          <a:solidFill>
            <a:srgbClr val="D49A00"/>
          </a:solidFill>
          <a:ln/>
        </p:spPr>
      </p:sp>
      <p:sp>
        <p:nvSpPr>
          <p:cNvPr id="40" name="Text 37"/>
          <p:cNvSpPr txBox="1"/>
          <p:nvPr/>
        </p:nvSpPr>
        <p:spPr>
          <a:xfrm>
            <a:off x="566928" y="273405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1" name="Text 38"/>
          <p:cNvSpPr txBox="1"/>
          <p:nvPr/>
        </p:nvSpPr>
        <p:spPr>
          <a:xfrm>
            <a:off x="1024128" y="2660904"/>
            <a:ext cx="338328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Sécurité</a:t>
            </a:r>
            <a:endParaRPr lang="en-US" sz="1150" dirty="0"/>
          </a:p>
        </p:txBody>
      </p:sp>
      <p:sp>
        <p:nvSpPr>
          <p:cNvPr id="42" name="Text 39"/>
          <p:cNvSpPr txBox="1"/>
          <p:nvPr/>
        </p:nvSpPr>
        <p:spPr>
          <a:xfrm>
            <a:off x="1024128" y="2889504"/>
            <a:ext cx="3401568" cy="24688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Stockage, contrôle d'accès, traçabilité, notification des violations.</a:t>
            </a:r>
            <a:endParaRPr lang="en-US" sz="950" dirty="0"/>
          </a:p>
        </p:txBody>
      </p:sp>
      <p:sp>
        <p:nvSpPr>
          <p:cNvPr id="43" name="Shape 40"/>
          <p:cNvSpPr/>
          <p:nvPr/>
        </p:nvSpPr>
        <p:spPr>
          <a:xfrm>
            <a:off x="4663440" y="2624328"/>
            <a:ext cx="4023360" cy="548640"/>
          </a:xfrm>
          <a:prstGeom prst="roundRect">
            <a:avLst>
              <a:gd name="adj" fmla="val 13333"/>
            </a:avLst>
          </a:prstGeom>
          <a:solidFill>
            <a:srgbClr val="F4F7F5"/>
          </a:solidFill>
          <a:ln w="9525">
            <a:solidFill>
              <a:srgbClr val="D5DED9"/>
            </a:solidFill>
            <a:prstDash val="solid"/>
          </a:ln>
        </p:spPr>
      </p:sp>
      <p:sp>
        <p:nvSpPr>
          <p:cNvPr id="44" name="Shape 41"/>
          <p:cNvSpPr/>
          <p:nvPr/>
        </p:nvSpPr>
        <p:spPr>
          <a:xfrm>
            <a:off x="4773168" y="2734056"/>
            <a:ext cx="329184" cy="329184"/>
          </a:xfrm>
          <a:prstGeom prst="ellipse">
            <a:avLst/>
          </a:prstGeom>
          <a:solidFill>
            <a:srgbClr val="D49A00"/>
          </a:solidFill>
          <a:ln/>
        </p:spPr>
      </p:sp>
      <p:sp>
        <p:nvSpPr>
          <p:cNvPr id="45" name="Text 42"/>
          <p:cNvSpPr txBox="1"/>
          <p:nvPr/>
        </p:nvSpPr>
        <p:spPr>
          <a:xfrm>
            <a:off x="4773168" y="273405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6" name="Text 43"/>
          <p:cNvSpPr txBox="1"/>
          <p:nvPr/>
        </p:nvSpPr>
        <p:spPr>
          <a:xfrm>
            <a:off x="5230368" y="2660904"/>
            <a:ext cx="338328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Rôles et coûts</a:t>
            </a:r>
            <a:endParaRPr lang="en-US" sz="1150" dirty="0"/>
          </a:p>
        </p:txBody>
      </p:sp>
      <p:sp>
        <p:nvSpPr>
          <p:cNvPr id="47" name="Text 44"/>
          <p:cNvSpPr txBox="1"/>
          <p:nvPr/>
        </p:nvSpPr>
        <p:spPr>
          <a:xfrm>
            <a:off x="5230368" y="2889504"/>
            <a:ext cx="3401568" cy="24688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Qui fait quoi ; qui paie ; contributions en nature.</a:t>
            </a:r>
            <a:endParaRPr lang="en-US" sz="950" dirty="0"/>
          </a:p>
        </p:txBody>
      </p:sp>
      <p:sp>
        <p:nvSpPr>
          <p:cNvPr id="48" name="Shape 45"/>
          <p:cNvSpPr/>
          <p:nvPr/>
        </p:nvSpPr>
        <p:spPr>
          <a:xfrm>
            <a:off x="457200" y="3273552"/>
            <a:ext cx="4023360" cy="548640"/>
          </a:xfrm>
          <a:prstGeom prst="roundRect">
            <a:avLst>
              <a:gd name="adj" fmla="val 13333"/>
            </a:avLst>
          </a:prstGeom>
          <a:solidFill>
            <a:srgbClr val="E8F5EF"/>
          </a:solidFill>
          <a:ln w="15875">
            <a:solidFill>
              <a:srgbClr val="D49A00"/>
            </a:solidFill>
            <a:prstDash val="solid"/>
          </a:ln>
        </p:spPr>
      </p:sp>
      <p:sp>
        <p:nvSpPr>
          <p:cNvPr id="49" name="Shape 46"/>
          <p:cNvSpPr/>
          <p:nvPr/>
        </p:nvSpPr>
        <p:spPr>
          <a:xfrm>
            <a:off x="566928" y="3383280"/>
            <a:ext cx="329184" cy="329184"/>
          </a:xfrm>
          <a:prstGeom prst="ellipse">
            <a:avLst/>
          </a:prstGeom>
          <a:solidFill>
            <a:srgbClr val="D49A00"/>
          </a:solidFill>
          <a:ln/>
        </p:spPr>
      </p:sp>
      <p:sp>
        <p:nvSpPr>
          <p:cNvPr id="50" name="Text 47"/>
          <p:cNvSpPr txBox="1"/>
          <p:nvPr/>
        </p:nvSpPr>
        <p:spPr>
          <a:xfrm>
            <a:off x="566928" y="338328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1" name="Text 48"/>
          <p:cNvSpPr txBox="1"/>
          <p:nvPr/>
        </p:nvSpPr>
        <p:spPr>
          <a:xfrm>
            <a:off x="1024128" y="3310128"/>
            <a:ext cx="338328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Droits de publication</a:t>
            </a:r>
            <a:endParaRPr lang="en-US" sz="1150" dirty="0"/>
          </a:p>
        </p:txBody>
      </p:sp>
      <p:sp>
        <p:nvSpPr>
          <p:cNvPr id="52" name="Text 49"/>
          <p:cNvSpPr txBox="1"/>
          <p:nvPr/>
        </p:nvSpPr>
        <p:spPr>
          <a:xfrm>
            <a:off x="1024128" y="3538728"/>
            <a:ext cx="3401568" cy="24688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Droit de publier résultats et méthodes ; délai de relecture.</a:t>
            </a:r>
            <a:endParaRPr lang="en-US" sz="950" dirty="0"/>
          </a:p>
        </p:txBody>
      </p:sp>
      <p:sp>
        <p:nvSpPr>
          <p:cNvPr id="53" name="Shape 50"/>
          <p:cNvSpPr/>
          <p:nvPr/>
        </p:nvSpPr>
        <p:spPr>
          <a:xfrm>
            <a:off x="4663440" y="3273552"/>
            <a:ext cx="4023360" cy="548640"/>
          </a:xfrm>
          <a:prstGeom prst="roundRect">
            <a:avLst>
              <a:gd name="adj" fmla="val 13333"/>
            </a:avLst>
          </a:prstGeom>
          <a:solidFill>
            <a:srgbClr val="F4F7F5"/>
          </a:solidFill>
          <a:ln w="9525">
            <a:solidFill>
              <a:srgbClr val="D5DED9"/>
            </a:solidFill>
            <a:prstDash val="solid"/>
          </a:ln>
        </p:spPr>
      </p:sp>
      <p:sp>
        <p:nvSpPr>
          <p:cNvPr id="54" name="Shape 51"/>
          <p:cNvSpPr/>
          <p:nvPr/>
        </p:nvSpPr>
        <p:spPr>
          <a:xfrm>
            <a:off x="4773168" y="3383280"/>
            <a:ext cx="329184" cy="329184"/>
          </a:xfrm>
          <a:prstGeom prst="ellipse">
            <a:avLst/>
          </a:prstGeom>
          <a:solidFill>
            <a:srgbClr val="D49A00"/>
          </a:solidFill>
          <a:ln/>
        </p:spPr>
      </p:sp>
      <p:sp>
        <p:nvSpPr>
          <p:cNvPr id="55" name="Text 52"/>
          <p:cNvSpPr txBox="1"/>
          <p:nvPr/>
        </p:nvSpPr>
        <p:spPr>
          <a:xfrm>
            <a:off x="4773168" y="338328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56" name="Text 53"/>
          <p:cNvSpPr txBox="1"/>
          <p:nvPr/>
        </p:nvSpPr>
        <p:spPr>
          <a:xfrm>
            <a:off x="5230368" y="3310128"/>
            <a:ext cx="338328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Propriété intellectuelle</a:t>
            </a:r>
            <a:endParaRPr lang="en-US" sz="1150" dirty="0"/>
          </a:p>
        </p:txBody>
      </p:sp>
      <p:sp>
        <p:nvSpPr>
          <p:cNvPr id="57" name="Text 54"/>
          <p:cNvSpPr txBox="1"/>
          <p:nvPr/>
        </p:nvSpPr>
        <p:spPr>
          <a:xfrm>
            <a:off x="5230368" y="3538728"/>
            <a:ext cx="3401568" cy="24688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Propriété des données brutes, du code et des indicateurs dérivés.</a:t>
            </a:r>
            <a:endParaRPr lang="en-US" sz="950" dirty="0"/>
          </a:p>
        </p:txBody>
      </p:sp>
      <p:sp>
        <p:nvSpPr>
          <p:cNvPr id="58" name="Shape 55"/>
          <p:cNvSpPr/>
          <p:nvPr/>
        </p:nvSpPr>
        <p:spPr>
          <a:xfrm>
            <a:off x="457200" y="3922776"/>
            <a:ext cx="4023360" cy="548640"/>
          </a:xfrm>
          <a:prstGeom prst="roundRect">
            <a:avLst>
              <a:gd name="adj" fmla="val 13333"/>
            </a:avLst>
          </a:prstGeom>
          <a:solidFill>
            <a:srgbClr val="E8F5EF"/>
          </a:solidFill>
          <a:ln w="15875">
            <a:solidFill>
              <a:srgbClr val="D49A00"/>
            </a:solidFill>
            <a:prstDash val="solid"/>
          </a:ln>
        </p:spPr>
      </p:sp>
      <p:sp>
        <p:nvSpPr>
          <p:cNvPr id="59" name="Shape 56"/>
          <p:cNvSpPr/>
          <p:nvPr/>
        </p:nvSpPr>
        <p:spPr>
          <a:xfrm>
            <a:off x="566928" y="4032504"/>
            <a:ext cx="329184" cy="329184"/>
          </a:xfrm>
          <a:prstGeom prst="ellipse">
            <a:avLst/>
          </a:prstGeom>
          <a:solidFill>
            <a:srgbClr val="D49A00"/>
          </a:solidFill>
          <a:ln/>
        </p:spPr>
      </p:sp>
      <p:sp>
        <p:nvSpPr>
          <p:cNvPr id="60" name="Text 57"/>
          <p:cNvSpPr txBox="1"/>
          <p:nvPr/>
        </p:nvSpPr>
        <p:spPr>
          <a:xfrm>
            <a:off x="566928" y="403250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61" name="Text 58"/>
          <p:cNvSpPr txBox="1"/>
          <p:nvPr/>
        </p:nvSpPr>
        <p:spPr>
          <a:xfrm>
            <a:off x="1024128" y="3959352"/>
            <a:ext cx="338328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Durée et sortie</a:t>
            </a:r>
            <a:endParaRPr lang="en-US" sz="1150" dirty="0"/>
          </a:p>
        </p:txBody>
      </p:sp>
      <p:sp>
        <p:nvSpPr>
          <p:cNvPr id="62" name="Text 59"/>
          <p:cNvSpPr txBox="1"/>
          <p:nvPr/>
        </p:nvSpPr>
        <p:spPr>
          <a:xfrm>
            <a:off x="1024128" y="4187952"/>
            <a:ext cx="3401568" cy="24688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Durée, renouvellement, préavis, suppression, solution de repli.</a:t>
            </a:r>
            <a:endParaRPr lang="en-US" sz="950" dirty="0"/>
          </a:p>
        </p:txBody>
      </p:sp>
      <p:sp>
        <p:nvSpPr>
          <p:cNvPr id="63" name="Shape 60"/>
          <p:cNvSpPr/>
          <p:nvPr/>
        </p:nvSpPr>
        <p:spPr>
          <a:xfrm>
            <a:off x="4663440" y="3922776"/>
            <a:ext cx="4023360" cy="548640"/>
          </a:xfrm>
          <a:prstGeom prst="roundRect">
            <a:avLst>
              <a:gd name="adj" fmla="val 13333"/>
            </a:avLst>
          </a:prstGeom>
          <a:solidFill>
            <a:srgbClr val="F4F7F5"/>
          </a:solidFill>
          <a:ln w="9525">
            <a:solidFill>
              <a:srgbClr val="D5DED9"/>
            </a:solidFill>
            <a:prstDash val="solid"/>
          </a:ln>
        </p:spPr>
      </p:sp>
      <p:sp>
        <p:nvSpPr>
          <p:cNvPr id="64" name="Shape 61"/>
          <p:cNvSpPr/>
          <p:nvPr/>
        </p:nvSpPr>
        <p:spPr>
          <a:xfrm>
            <a:off x="4773168" y="4032504"/>
            <a:ext cx="329184" cy="329184"/>
          </a:xfrm>
          <a:prstGeom prst="ellipse">
            <a:avLst/>
          </a:prstGeom>
          <a:solidFill>
            <a:srgbClr val="D49A00"/>
          </a:solidFill>
          <a:ln/>
        </p:spPr>
      </p:sp>
      <p:sp>
        <p:nvSpPr>
          <p:cNvPr id="65" name="Text 62"/>
          <p:cNvSpPr txBox="1"/>
          <p:nvPr/>
        </p:nvSpPr>
        <p:spPr>
          <a:xfrm>
            <a:off x="4773168" y="403250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66" name="Text 63"/>
          <p:cNvSpPr txBox="1"/>
          <p:nvPr/>
        </p:nvSpPr>
        <p:spPr>
          <a:xfrm>
            <a:off x="5230368" y="3959352"/>
            <a:ext cx="338328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Gouvernance</a:t>
            </a:r>
            <a:endParaRPr lang="en-US" sz="1150" dirty="0"/>
          </a:p>
        </p:txBody>
      </p:sp>
      <p:sp>
        <p:nvSpPr>
          <p:cNvPr id="67" name="Text 64"/>
          <p:cNvSpPr txBox="1"/>
          <p:nvPr/>
        </p:nvSpPr>
        <p:spPr>
          <a:xfrm>
            <a:off x="5230368" y="4187952"/>
            <a:ext cx="3401568" cy="24688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Comité de pilotage, règlement des différends, revue périodique.</a:t>
            </a:r>
            <a:endParaRPr lang="en-US" sz="95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640080"/>
            <a:ext cx="3657600" cy="22860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SECTION 5 SUR 6</a:t>
            </a:r>
            <a:endParaRPr lang="en-US" sz="1100" dirty="0"/>
          </a:p>
        </p:txBody>
      </p:sp>
      <p:sp>
        <p:nvSpPr>
          <p:cNvPr id="4" name="Text 1"/>
          <p:cNvSpPr txBox="1"/>
          <p:nvPr/>
        </p:nvSpPr>
        <p:spPr>
          <a:xfrm>
            <a:off x="502920" y="914400"/>
            <a:ext cx="2743200" cy="1280160"/>
          </a:xfrm>
          <a:prstGeom prst="rect">
            <a:avLst/>
          </a:prstGeom>
          <a:noFill/>
          <a:ln/>
        </p:spPr>
        <p:txBody>
          <a:bodyPr wrap="square" lIns="0" tIns="0" rIns="0" bIns="0" rtlCol="0" anchor="t"/>
          <a:lstStyle/>
          <a:p>
            <a:pPr indent="0" marL="0">
              <a:buNone/>
            </a:pPr>
            <a:r>
              <a:rPr lang="en-US" sz="9600" b="1" dirty="0">
                <a:solidFill>
                  <a:srgbClr val="F5C242"/>
                </a:solidFill>
                <a:latin typeface="Calibri" pitchFamily="34" charset="0"/>
                <a:ea typeface="Calibri" pitchFamily="34" charset="-122"/>
                <a:cs typeface="Calibri" pitchFamily="34" charset="-120"/>
              </a:rPr>
              <a:t>05</a:t>
            </a:r>
            <a:endParaRPr lang="en-US" sz="9600" dirty="0"/>
          </a:p>
        </p:txBody>
      </p:sp>
      <p:sp>
        <p:nvSpPr>
          <p:cNvPr id="5" name="Text 2"/>
          <p:cNvSpPr txBox="1"/>
          <p:nvPr/>
        </p:nvSpPr>
        <p:spPr>
          <a:xfrm>
            <a:off x="548640" y="2331720"/>
            <a:ext cx="5486400" cy="68580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Éthique et confidentialité</a:t>
            </a:r>
            <a:endParaRPr lang="en-US" sz="3600" dirty="0"/>
          </a:p>
        </p:txBody>
      </p:sp>
      <p:sp>
        <p:nvSpPr>
          <p:cNvPr id="6" name="Text 3"/>
          <p:cNvSpPr txBox="1"/>
          <p:nvPr/>
        </p:nvSpPr>
        <p:spPr>
          <a:xfrm>
            <a:off x="548640" y="3108960"/>
            <a:ext cx="475488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Techniquement possible, juridiquement permis, socialement acceptable : les trois sont-ils vrais ?</a:t>
            </a:r>
            <a:endParaRPr lang="en-US" sz="1800" dirty="0"/>
          </a:p>
        </p:txBody>
      </p:sp>
      <p:sp>
        <p:nvSpPr>
          <p:cNvPr id="7" name="Shape 4"/>
          <p:cNvSpPr/>
          <p:nvPr/>
        </p:nvSpPr>
        <p:spPr>
          <a:xfrm>
            <a:off x="566928" y="4343400"/>
            <a:ext cx="100584" cy="100584"/>
          </a:xfrm>
          <a:prstGeom prst="ellipse">
            <a:avLst/>
          </a:prstGeom>
          <a:solidFill>
            <a:srgbClr val="FFFFFF">
              <a:alpha val="35000"/>
            </a:srgbClr>
          </a:solidFill>
          <a:ln/>
        </p:spPr>
      </p:sp>
      <p:sp>
        <p:nvSpPr>
          <p:cNvPr id="8" name="Shape 5"/>
          <p:cNvSpPr/>
          <p:nvPr/>
        </p:nvSpPr>
        <p:spPr>
          <a:xfrm>
            <a:off x="749808" y="4343400"/>
            <a:ext cx="100584" cy="100584"/>
          </a:xfrm>
          <a:prstGeom prst="ellipse">
            <a:avLst/>
          </a:prstGeom>
          <a:solidFill>
            <a:srgbClr val="FFFFFF">
              <a:alpha val="35000"/>
            </a:srgbClr>
          </a:solidFill>
          <a:ln/>
        </p:spPr>
      </p:sp>
      <p:sp>
        <p:nvSpPr>
          <p:cNvPr id="9" name="Shape 6"/>
          <p:cNvSpPr/>
          <p:nvPr/>
        </p:nvSpPr>
        <p:spPr>
          <a:xfrm>
            <a:off x="932688" y="4343400"/>
            <a:ext cx="100584" cy="100584"/>
          </a:xfrm>
          <a:prstGeom prst="ellipse">
            <a:avLst/>
          </a:prstGeom>
          <a:solidFill>
            <a:srgbClr val="FFFFFF">
              <a:alpha val="35000"/>
            </a:srgbClr>
          </a:solidFill>
          <a:ln/>
        </p:spPr>
      </p:sp>
      <p:sp>
        <p:nvSpPr>
          <p:cNvPr id="10" name="Shape 7"/>
          <p:cNvSpPr/>
          <p:nvPr/>
        </p:nvSpPr>
        <p:spPr>
          <a:xfrm>
            <a:off x="1115568" y="4343400"/>
            <a:ext cx="100584" cy="100584"/>
          </a:xfrm>
          <a:prstGeom prst="ellipse">
            <a:avLst/>
          </a:prstGeom>
          <a:solidFill>
            <a:srgbClr val="FFFFFF">
              <a:alpha val="35000"/>
            </a:srgbClr>
          </a:solidFill>
          <a:ln/>
        </p:spPr>
      </p:sp>
      <p:sp>
        <p:nvSpPr>
          <p:cNvPr id="11" name="Shape 8"/>
          <p:cNvSpPr/>
          <p:nvPr/>
        </p:nvSpPr>
        <p:spPr>
          <a:xfrm>
            <a:off x="1298448" y="4343400"/>
            <a:ext cx="100584" cy="100584"/>
          </a:xfrm>
          <a:prstGeom prst="ellipse">
            <a:avLst/>
          </a:prstGeom>
          <a:solidFill>
            <a:srgbClr val="F5C242"/>
          </a:solidFill>
          <a:ln/>
        </p:spPr>
      </p:sp>
      <p:sp>
        <p:nvSpPr>
          <p:cNvPr id="12" name="Shape 9"/>
          <p:cNvSpPr/>
          <p:nvPr/>
        </p:nvSpPr>
        <p:spPr>
          <a:xfrm>
            <a:off x="1481328" y="4343400"/>
            <a:ext cx="100584" cy="100584"/>
          </a:xfrm>
          <a:prstGeom prst="ellipse">
            <a:avLst/>
          </a:prstGeom>
          <a:solidFill>
            <a:srgbClr val="FFFFFF">
              <a:alpha val="35000"/>
            </a:srgbClr>
          </a:solidFill>
          <a:ln/>
        </p:spPr>
      </p:sp>
      <p:sp>
        <p:nvSpPr>
          <p:cNvPr id="13" name="Shape 10"/>
          <p:cNvSpPr/>
          <p:nvPr/>
        </p:nvSpPr>
        <p:spPr>
          <a:xfrm>
            <a:off x="5989320" y="1143000"/>
            <a:ext cx="2651760" cy="2651760"/>
          </a:xfrm>
          <a:prstGeom prst="ellipse">
            <a:avLst/>
          </a:prstGeom>
          <a:solidFill>
            <a:srgbClr val="FFFFFF">
              <a:alpha val="12000"/>
            </a:srgbClr>
          </a:solidFill>
          <a:ln/>
        </p:spPr>
      </p:sp>
      <p:sp>
        <p:nvSpPr>
          <p:cNvPr id="14" name="Shape 11"/>
          <p:cNvSpPr/>
          <p:nvPr/>
        </p:nvSpPr>
        <p:spPr>
          <a:xfrm>
            <a:off x="6355080" y="1508760"/>
            <a:ext cx="1920240" cy="1920240"/>
          </a:xfrm>
          <a:prstGeom prst="ellipse">
            <a:avLst/>
          </a:prstGeom>
          <a:solidFill>
            <a:srgbClr val="FFFFFF">
              <a:alpha val="20000"/>
            </a:srgbClr>
          </a:solidFill>
          <a:ln/>
        </p:spPr>
      </p:sp>
      <p:sp>
        <p:nvSpPr>
          <p:cNvPr id="15" name="Shape 12"/>
          <p:cNvSpPr/>
          <p:nvPr/>
        </p:nvSpPr>
        <p:spPr>
          <a:xfrm>
            <a:off x="6675120" y="1828800"/>
            <a:ext cx="1280160" cy="1280160"/>
          </a:xfrm>
          <a:prstGeom prst="ellipse">
            <a:avLst/>
          </a:prstGeom>
          <a:solidFill>
            <a:srgbClr val="FFFFFF"/>
          </a:solidFill>
          <a:ln/>
        </p:spPr>
      </p:sp>
      <p:pic>
        <p:nvPicPr>
          <p:cNvPr id="16" name="Image 0" descr="preencoded.png">    </p:cNvPr>
          <p:cNvPicPr>
            <a:picLocks noChangeAspect="1"/>
          </p:cNvPicPr>
          <p:nvPr/>
        </p:nvPicPr>
        <p:blipFill>
          <a:blip r:embed="rId2"/>
          <a:stretch>
            <a:fillRect/>
          </a:stretch>
        </p:blipFill>
        <p:spPr>
          <a:xfrm>
            <a:off x="6995160" y="2148840"/>
            <a:ext cx="640080" cy="640080"/>
          </a:xfrm>
          <a:prstGeom prst="rect">
            <a:avLst/>
          </a:prstGeom>
        </p:spPr>
      </p:pic>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05 · ÉTHIQUE ET CONFIDENTIALITÉ</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Quatre niveaux de règles s'appliquent simultanément</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Un INS doit vérifier chaque niveau avant tout transfert d'enregistrement.</a:t>
            </a:r>
            <a:endParaRPr lang="en-US" sz="1150" dirty="0"/>
          </a:p>
        </p:txBody>
      </p:sp>
      <p:sp>
        <p:nvSpPr>
          <p:cNvPr id="9" name="Shape 7"/>
          <p:cNvSpPr/>
          <p:nvPr/>
        </p:nvSpPr>
        <p:spPr>
          <a:xfrm>
            <a:off x="7662672" y="329184"/>
            <a:ext cx="100584" cy="100584"/>
          </a:xfrm>
          <a:prstGeom prst="ellipse">
            <a:avLst/>
          </a:prstGeom>
          <a:solidFill>
            <a:srgbClr val="D5DED9"/>
          </a:solidFill>
          <a:ln/>
        </p:spPr>
      </p:sp>
      <p:sp>
        <p:nvSpPr>
          <p:cNvPr id="10" name="Shape 8"/>
          <p:cNvSpPr/>
          <p:nvPr/>
        </p:nvSpPr>
        <p:spPr>
          <a:xfrm>
            <a:off x="7845552" y="329184"/>
            <a:ext cx="100584" cy="100584"/>
          </a:xfrm>
          <a:prstGeom prst="ellipse">
            <a:avLst/>
          </a:prstGeom>
          <a:solidFill>
            <a:srgbClr val="D5DED9"/>
          </a:solidFill>
          <a:ln/>
        </p:spPr>
      </p:sp>
      <p:sp>
        <p:nvSpPr>
          <p:cNvPr id="11" name="Shape 9"/>
          <p:cNvSpPr/>
          <p:nvPr/>
        </p:nvSpPr>
        <p:spPr>
          <a:xfrm>
            <a:off x="8028432" y="329184"/>
            <a:ext cx="100584" cy="100584"/>
          </a:xfrm>
          <a:prstGeom prst="ellipse">
            <a:avLst/>
          </a:prstGeom>
          <a:solidFill>
            <a:srgbClr val="D5DED9"/>
          </a:solidFill>
          <a:ln/>
        </p:spPr>
      </p:sp>
      <p:sp>
        <p:nvSpPr>
          <p:cNvPr id="12" name="Shape 10"/>
          <p:cNvSpPr/>
          <p:nvPr/>
        </p:nvSpPr>
        <p:spPr>
          <a:xfrm>
            <a:off x="8211312" y="329184"/>
            <a:ext cx="100584" cy="100584"/>
          </a:xfrm>
          <a:prstGeom prst="ellipse">
            <a:avLst/>
          </a:prstGeom>
          <a:solidFill>
            <a:srgbClr val="D5DED9"/>
          </a:solidFill>
          <a:ln/>
        </p:spPr>
      </p:sp>
      <p:sp>
        <p:nvSpPr>
          <p:cNvPr id="13" name="Shape 11"/>
          <p:cNvSpPr/>
          <p:nvPr/>
        </p:nvSpPr>
        <p:spPr>
          <a:xfrm>
            <a:off x="8394192" y="329184"/>
            <a:ext cx="100584" cy="100584"/>
          </a:xfrm>
          <a:prstGeom prst="ellipse">
            <a:avLst/>
          </a:prstGeom>
          <a:solidFill>
            <a:srgbClr val="C4621D"/>
          </a:solidFill>
          <a:ln/>
        </p:spPr>
      </p:sp>
      <p:sp>
        <p:nvSpPr>
          <p:cNvPr id="14" name="Shape 12"/>
          <p:cNvSpPr/>
          <p:nvPr/>
        </p:nvSpPr>
        <p:spPr>
          <a:xfrm>
            <a:off x="8577072" y="329184"/>
            <a:ext cx="100584" cy="100584"/>
          </a:xfrm>
          <a:prstGeom prst="ellipse">
            <a:avLst/>
          </a:prstGeom>
          <a:solidFill>
            <a:srgbClr val="D5DED9"/>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Sources de données non traditionnelles · Le trésor caché · Atelier STG17</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31</a:t>
            </a:r>
            <a:endParaRPr lang="en-US" sz="850" dirty="0"/>
          </a:p>
        </p:txBody>
      </p:sp>
      <p:sp>
        <p:nvSpPr>
          <p:cNvPr id="18" name="Shape 15"/>
          <p:cNvSpPr/>
          <p:nvPr/>
        </p:nvSpPr>
        <p:spPr>
          <a:xfrm>
            <a:off x="457200" y="1325880"/>
            <a:ext cx="8229600" cy="694944"/>
          </a:xfrm>
          <a:prstGeom prst="roundRect">
            <a:avLst>
              <a:gd name="adj" fmla="val 10526"/>
            </a:avLst>
          </a:prstGeom>
          <a:solidFill>
            <a:srgbClr val="C4621D">
              <a:alpha val="12000"/>
            </a:srgbClr>
          </a:solidFill>
          <a:ln w="12700">
            <a:solidFill>
              <a:srgbClr val="C4621D"/>
            </a:solidFill>
            <a:prstDash val="solid"/>
          </a:ln>
        </p:spPr>
      </p:sp>
      <p:sp>
        <p:nvSpPr>
          <p:cNvPr id="19" name="Shape 16"/>
          <p:cNvSpPr/>
          <p:nvPr/>
        </p:nvSpPr>
        <p:spPr>
          <a:xfrm>
            <a:off x="566928" y="1444752"/>
            <a:ext cx="457200" cy="457200"/>
          </a:xfrm>
          <a:prstGeom prst="ellipse">
            <a:avLst/>
          </a:prstGeom>
          <a:solidFill>
            <a:srgbClr val="C4621D">
              <a:alpha val="22000"/>
            </a:srgbClr>
          </a:solidFill>
          <a:ln/>
        </p:spPr>
      </p:sp>
      <p:pic>
        <p:nvPicPr>
          <p:cNvPr id="20" name="Image 0" descr="preencoded.png">    </p:cNvPr>
          <p:cNvPicPr>
            <a:picLocks noChangeAspect="1"/>
          </p:cNvPicPr>
          <p:nvPr/>
        </p:nvPicPr>
        <p:blipFill>
          <a:blip r:embed="rId1"/>
          <a:stretch>
            <a:fillRect/>
          </a:stretch>
        </p:blipFill>
        <p:spPr>
          <a:xfrm>
            <a:off x="681228" y="1559052"/>
            <a:ext cx="228600" cy="228600"/>
          </a:xfrm>
          <a:prstGeom prst="rect">
            <a:avLst/>
          </a:prstGeom>
        </p:spPr>
      </p:pic>
      <p:sp>
        <p:nvSpPr>
          <p:cNvPr id="21" name="Text 17"/>
          <p:cNvSpPr txBox="1"/>
          <p:nvPr/>
        </p:nvSpPr>
        <p:spPr>
          <a:xfrm>
            <a:off x="1143000" y="1399032"/>
            <a:ext cx="1463040" cy="201168"/>
          </a:xfrm>
          <a:prstGeom prst="rect">
            <a:avLst/>
          </a:prstGeom>
          <a:noFill/>
          <a:ln/>
        </p:spPr>
        <p:txBody>
          <a:bodyPr wrap="square" lIns="0" tIns="0" rIns="0" bIns="0" rtlCol="0" anchor="t"/>
          <a:lstStyle/>
          <a:p>
            <a:pPr indent="0" marL="0">
              <a:buNone/>
            </a:pPr>
            <a:r>
              <a:rPr lang="en-US" sz="950" b="1" spc="200" kern="0" dirty="0">
                <a:solidFill>
                  <a:srgbClr val="C4621D"/>
                </a:solidFill>
                <a:latin typeface="Calibri" pitchFamily="34" charset="0"/>
                <a:ea typeface="Calibri" pitchFamily="34" charset="-122"/>
                <a:cs typeface="Calibri" pitchFamily="34" charset="-120"/>
              </a:rPr>
              <a:t>MONDIAL</a:t>
            </a:r>
            <a:endParaRPr lang="en-US" sz="950" dirty="0"/>
          </a:p>
        </p:txBody>
      </p:sp>
      <p:sp>
        <p:nvSpPr>
          <p:cNvPr id="22" name="Text 18"/>
          <p:cNvSpPr txBox="1"/>
          <p:nvPr/>
        </p:nvSpPr>
        <p:spPr>
          <a:xfrm>
            <a:off x="1143000" y="1581912"/>
            <a:ext cx="3108960" cy="420624"/>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Principes fondamentaux de la statistique officielle</a:t>
            </a:r>
            <a:endParaRPr lang="en-US" sz="1050" dirty="0"/>
          </a:p>
        </p:txBody>
      </p:sp>
      <p:sp>
        <p:nvSpPr>
          <p:cNvPr id="23" name="Text 19"/>
          <p:cNvSpPr txBox="1"/>
          <p:nvPr/>
        </p:nvSpPr>
        <p:spPr>
          <a:xfrm>
            <a:off x="4343400" y="1362456"/>
            <a:ext cx="4224528" cy="621792"/>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Principe 5 : toute source, choisie selon qualité, actualité, coût et charge. Principe 6 : données individuelles strictement confidentielles.</a:t>
            </a:r>
            <a:endParaRPr lang="en-US" sz="950" dirty="0"/>
          </a:p>
        </p:txBody>
      </p:sp>
      <p:sp>
        <p:nvSpPr>
          <p:cNvPr id="24" name="Shape 20"/>
          <p:cNvSpPr/>
          <p:nvPr/>
        </p:nvSpPr>
        <p:spPr>
          <a:xfrm>
            <a:off x="685800" y="2130552"/>
            <a:ext cx="7772400" cy="694944"/>
          </a:xfrm>
          <a:prstGeom prst="roundRect">
            <a:avLst>
              <a:gd name="adj" fmla="val 10526"/>
            </a:avLst>
          </a:prstGeom>
          <a:solidFill>
            <a:srgbClr val="C4621D">
              <a:alpha val="12000"/>
            </a:srgbClr>
          </a:solidFill>
          <a:ln w="12700">
            <a:solidFill>
              <a:srgbClr val="C4621D"/>
            </a:solidFill>
            <a:prstDash val="solid"/>
          </a:ln>
        </p:spPr>
      </p:sp>
      <p:sp>
        <p:nvSpPr>
          <p:cNvPr id="25" name="Shape 21"/>
          <p:cNvSpPr/>
          <p:nvPr/>
        </p:nvSpPr>
        <p:spPr>
          <a:xfrm>
            <a:off x="795528" y="2249424"/>
            <a:ext cx="457200" cy="457200"/>
          </a:xfrm>
          <a:prstGeom prst="ellipse">
            <a:avLst/>
          </a:prstGeom>
          <a:solidFill>
            <a:srgbClr val="C4621D">
              <a:alpha val="22000"/>
            </a:srgbClr>
          </a:solidFill>
          <a:ln/>
        </p:spPr>
      </p:sp>
      <p:pic>
        <p:nvPicPr>
          <p:cNvPr id="26" name="Image 1" descr="preencoded.png">    </p:cNvPr>
          <p:cNvPicPr>
            <a:picLocks noChangeAspect="1"/>
          </p:cNvPicPr>
          <p:nvPr/>
        </p:nvPicPr>
        <p:blipFill>
          <a:blip r:embed="rId2"/>
          <a:stretch>
            <a:fillRect/>
          </a:stretch>
        </p:blipFill>
        <p:spPr>
          <a:xfrm>
            <a:off x="909828" y="2363724"/>
            <a:ext cx="228600" cy="228600"/>
          </a:xfrm>
          <a:prstGeom prst="rect">
            <a:avLst/>
          </a:prstGeom>
        </p:spPr>
      </p:pic>
      <p:sp>
        <p:nvSpPr>
          <p:cNvPr id="27" name="Text 22"/>
          <p:cNvSpPr txBox="1"/>
          <p:nvPr/>
        </p:nvSpPr>
        <p:spPr>
          <a:xfrm>
            <a:off x="1371600" y="2203704"/>
            <a:ext cx="1463040" cy="201168"/>
          </a:xfrm>
          <a:prstGeom prst="rect">
            <a:avLst/>
          </a:prstGeom>
          <a:noFill/>
          <a:ln/>
        </p:spPr>
        <p:txBody>
          <a:bodyPr wrap="square" lIns="0" tIns="0" rIns="0" bIns="0" rtlCol="0" anchor="t"/>
          <a:lstStyle/>
          <a:p>
            <a:pPr indent="0" marL="0">
              <a:buNone/>
            </a:pPr>
            <a:r>
              <a:rPr lang="en-US" sz="950" b="1" spc="200" kern="0" dirty="0">
                <a:solidFill>
                  <a:srgbClr val="C4621D"/>
                </a:solidFill>
                <a:latin typeface="Calibri" pitchFamily="34" charset="0"/>
                <a:ea typeface="Calibri" pitchFamily="34" charset="-122"/>
                <a:cs typeface="Calibri" pitchFamily="34" charset="-120"/>
              </a:rPr>
              <a:t>CONTINENTAL</a:t>
            </a:r>
            <a:endParaRPr lang="en-US" sz="950" dirty="0"/>
          </a:p>
        </p:txBody>
      </p:sp>
      <p:sp>
        <p:nvSpPr>
          <p:cNvPr id="28" name="Text 23"/>
          <p:cNvSpPr txBox="1"/>
          <p:nvPr/>
        </p:nvSpPr>
        <p:spPr>
          <a:xfrm>
            <a:off x="1371600" y="2386584"/>
            <a:ext cx="2880360" cy="420624"/>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Charte africaine de la statistique · Convention de Malabo</a:t>
            </a:r>
            <a:endParaRPr lang="en-US" sz="1050" dirty="0"/>
          </a:p>
        </p:txBody>
      </p:sp>
      <p:sp>
        <p:nvSpPr>
          <p:cNvPr id="29" name="Text 24"/>
          <p:cNvSpPr txBox="1"/>
          <p:nvPr/>
        </p:nvSpPr>
        <p:spPr>
          <a:xfrm>
            <a:off x="4343400" y="2167128"/>
            <a:ext cx="3995928" cy="621792"/>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Indépendance professionnelle et confidentialité ; traité de l'UA sur les données personnelles en vigueur depuis le 8 juin 2023.</a:t>
            </a:r>
            <a:endParaRPr lang="en-US" sz="950" dirty="0"/>
          </a:p>
        </p:txBody>
      </p:sp>
      <p:sp>
        <p:nvSpPr>
          <p:cNvPr id="30" name="Shape 25"/>
          <p:cNvSpPr/>
          <p:nvPr/>
        </p:nvSpPr>
        <p:spPr>
          <a:xfrm>
            <a:off x="914400" y="2935224"/>
            <a:ext cx="7315200" cy="694944"/>
          </a:xfrm>
          <a:prstGeom prst="roundRect">
            <a:avLst>
              <a:gd name="adj" fmla="val 10526"/>
            </a:avLst>
          </a:prstGeom>
          <a:solidFill>
            <a:srgbClr val="C4621D">
              <a:alpha val="12000"/>
            </a:srgbClr>
          </a:solidFill>
          <a:ln w="12700">
            <a:solidFill>
              <a:srgbClr val="C4621D"/>
            </a:solidFill>
            <a:prstDash val="solid"/>
          </a:ln>
        </p:spPr>
      </p:sp>
      <p:sp>
        <p:nvSpPr>
          <p:cNvPr id="31" name="Shape 26"/>
          <p:cNvSpPr/>
          <p:nvPr/>
        </p:nvSpPr>
        <p:spPr>
          <a:xfrm>
            <a:off x="1024128" y="3054096"/>
            <a:ext cx="457200" cy="457200"/>
          </a:xfrm>
          <a:prstGeom prst="ellipse">
            <a:avLst/>
          </a:prstGeom>
          <a:solidFill>
            <a:srgbClr val="C4621D">
              <a:alpha val="22000"/>
            </a:srgbClr>
          </a:solidFill>
          <a:ln/>
        </p:spPr>
      </p:sp>
      <p:pic>
        <p:nvPicPr>
          <p:cNvPr id="32" name="Image 2" descr="preencoded.png">    </p:cNvPr>
          <p:cNvPicPr>
            <a:picLocks noChangeAspect="1"/>
          </p:cNvPicPr>
          <p:nvPr/>
        </p:nvPicPr>
        <p:blipFill>
          <a:blip r:embed="rId3"/>
          <a:stretch>
            <a:fillRect/>
          </a:stretch>
        </p:blipFill>
        <p:spPr>
          <a:xfrm>
            <a:off x="1138428" y="3168396"/>
            <a:ext cx="228600" cy="228600"/>
          </a:xfrm>
          <a:prstGeom prst="rect">
            <a:avLst/>
          </a:prstGeom>
        </p:spPr>
      </p:pic>
      <p:sp>
        <p:nvSpPr>
          <p:cNvPr id="33" name="Text 27"/>
          <p:cNvSpPr txBox="1"/>
          <p:nvPr/>
        </p:nvSpPr>
        <p:spPr>
          <a:xfrm>
            <a:off x="1600200" y="3008376"/>
            <a:ext cx="1463040" cy="201168"/>
          </a:xfrm>
          <a:prstGeom prst="rect">
            <a:avLst/>
          </a:prstGeom>
          <a:noFill/>
          <a:ln/>
        </p:spPr>
        <p:txBody>
          <a:bodyPr wrap="square" lIns="0" tIns="0" rIns="0" bIns="0" rtlCol="0" anchor="t"/>
          <a:lstStyle/>
          <a:p>
            <a:pPr indent="0" marL="0">
              <a:buNone/>
            </a:pPr>
            <a:r>
              <a:rPr lang="en-US" sz="950" b="1" spc="200" kern="0" dirty="0">
                <a:solidFill>
                  <a:srgbClr val="C4621D"/>
                </a:solidFill>
                <a:latin typeface="Calibri" pitchFamily="34" charset="0"/>
                <a:ea typeface="Calibri" pitchFamily="34" charset="-122"/>
                <a:cs typeface="Calibri" pitchFamily="34" charset="-120"/>
              </a:rPr>
              <a:t>NATIONAL</a:t>
            </a:r>
            <a:endParaRPr lang="en-US" sz="950" dirty="0"/>
          </a:p>
        </p:txBody>
      </p:sp>
      <p:sp>
        <p:nvSpPr>
          <p:cNvPr id="34" name="Text 28"/>
          <p:cNvSpPr txBox="1"/>
          <p:nvPr/>
        </p:nvSpPr>
        <p:spPr>
          <a:xfrm>
            <a:off x="1600200" y="3191256"/>
            <a:ext cx="2651760" cy="420624"/>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Loi statistique · Loi sur les données personnelles</a:t>
            </a:r>
            <a:endParaRPr lang="en-US" sz="1050" dirty="0"/>
          </a:p>
        </p:txBody>
      </p:sp>
      <p:sp>
        <p:nvSpPr>
          <p:cNvPr id="35" name="Text 29"/>
          <p:cNvSpPr txBox="1"/>
          <p:nvPr/>
        </p:nvSpPr>
        <p:spPr>
          <a:xfrm>
            <a:off x="4343400" y="2971800"/>
            <a:ext cx="3767328" cy="621792"/>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Pouvoirs d'accès à des fins statistiques ; base légale ; autorité de contrôle ; règles sectorielles (télécoms, banque).</a:t>
            </a:r>
            <a:endParaRPr lang="en-US" sz="950" dirty="0"/>
          </a:p>
        </p:txBody>
      </p:sp>
      <p:sp>
        <p:nvSpPr>
          <p:cNvPr id="36" name="Shape 30"/>
          <p:cNvSpPr/>
          <p:nvPr/>
        </p:nvSpPr>
        <p:spPr>
          <a:xfrm>
            <a:off x="1143000" y="3739896"/>
            <a:ext cx="6858000" cy="694944"/>
          </a:xfrm>
          <a:prstGeom prst="roundRect">
            <a:avLst>
              <a:gd name="adj" fmla="val 10526"/>
            </a:avLst>
          </a:prstGeom>
          <a:solidFill>
            <a:srgbClr val="C4621D">
              <a:alpha val="12000"/>
            </a:srgbClr>
          </a:solidFill>
          <a:ln w="12700">
            <a:solidFill>
              <a:srgbClr val="C4621D"/>
            </a:solidFill>
            <a:prstDash val="solid"/>
          </a:ln>
        </p:spPr>
      </p:sp>
      <p:sp>
        <p:nvSpPr>
          <p:cNvPr id="37" name="Shape 31"/>
          <p:cNvSpPr/>
          <p:nvPr/>
        </p:nvSpPr>
        <p:spPr>
          <a:xfrm>
            <a:off x="1252728" y="3858768"/>
            <a:ext cx="457200" cy="457200"/>
          </a:xfrm>
          <a:prstGeom prst="ellipse">
            <a:avLst/>
          </a:prstGeom>
          <a:solidFill>
            <a:srgbClr val="C4621D">
              <a:alpha val="22000"/>
            </a:srgbClr>
          </a:solidFill>
          <a:ln/>
        </p:spPr>
      </p:sp>
      <p:pic>
        <p:nvPicPr>
          <p:cNvPr id="38" name="Image 3" descr="preencoded.png">    </p:cNvPr>
          <p:cNvPicPr>
            <a:picLocks noChangeAspect="1"/>
          </p:cNvPicPr>
          <p:nvPr/>
        </p:nvPicPr>
        <p:blipFill>
          <a:blip r:embed="rId4"/>
          <a:stretch>
            <a:fillRect/>
          </a:stretch>
        </p:blipFill>
        <p:spPr>
          <a:xfrm>
            <a:off x="1367028" y="3973068"/>
            <a:ext cx="228600" cy="228600"/>
          </a:xfrm>
          <a:prstGeom prst="rect">
            <a:avLst/>
          </a:prstGeom>
        </p:spPr>
      </p:pic>
      <p:sp>
        <p:nvSpPr>
          <p:cNvPr id="39" name="Text 32"/>
          <p:cNvSpPr txBox="1"/>
          <p:nvPr/>
        </p:nvSpPr>
        <p:spPr>
          <a:xfrm>
            <a:off x="1828800" y="3813048"/>
            <a:ext cx="1463040" cy="201168"/>
          </a:xfrm>
          <a:prstGeom prst="rect">
            <a:avLst/>
          </a:prstGeom>
          <a:noFill/>
          <a:ln/>
        </p:spPr>
        <p:txBody>
          <a:bodyPr wrap="square" lIns="0" tIns="0" rIns="0" bIns="0" rtlCol="0" anchor="t"/>
          <a:lstStyle/>
          <a:p>
            <a:pPr indent="0" marL="0">
              <a:buNone/>
            </a:pPr>
            <a:r>
              <a:rPr lang="en-US" sz="950" b="1" spc="200" kern="0" dirty="0">
                <a:solidFill>
                  <a:srgbClr val="C4621D"/>
                </a:solidFill>
                <a:latin typeface="Calibri" pitchFamily="34" charset="0"/>
                <a:ea typeface="Calibri" pitchFamily="34" charset="-122"/>
                <a:cs typeface="Calibri" pitchFamily="34" charset="-120"/>
              </a:rPr>
              <a:t>CONTRACTUEL</a:t>
            </a:r>
            <a:endParaRPr lang="en-US" sz="950" dirty="0"/>
          </a:p>
        </p:txBody>
      </p:sp>
      <p:sp>
        <p:nvSpPr>
          <p:cNvPr id="40" name="Text 33"/>
          <p:cNvSpPr txBox="1"/>
          <p:nvPr/>
        </p:nvSpPr>
        <p:spPr>
          <a:xfrm>
            <a:off x="1828800" y="3995928"/>
            <a:ext cx="2423160" cy="420624"/>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Accords · Conditions d'utilisation · Licences</a:t>
            </a:r>
            <a:endParaRPr lang="en-US" sz="1050" dirty="0"/>
          </a:p>
        </p:txBody>
      </p:sp>
      <p:sp>
        <p:nvSpPr>
          <p:cNvPr id="41" name="Text 34"/>
          <p:cNvSpPr txBox="1"/>
          <p:nvPr/>
        </p:nvSpPr>
        <p:spPr>
          <a:xfrm>
            <a:off x="4343400" y="3776472"/>
            <a:ext cx="3538728" cy="621792"/>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Ex. : données ouvertes Ookla sous CC BY-NC-SA 4.0 : attribution, pas d'usage commercial, partage à l'identique.</a:t>
            </a:r>
            <a:endParaRPr lang="en-US" sz="950" dirty="0"/>
          </a:p>
        </p:txBody>
      </p:sp>
      <p:sp>
        <p:nvSpPr>
          <p:cNvPr id="42" name="Text 35"/>
          <p:cNvSpPr txBox="1"/>
          <p:nvPr/>
        </p:nvSpPr>
        <p:spPr>
          <a:xfrm>
            <a:off x="457200" y="4626864"/>
            <a:ext cx="749808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Sources : AGNU A/RES/68/261 (2014) ; Charte africaine de la statistique (2009) ; Convention de Malabo (2014, en vigueur 2023) ; licence Ookla.</a:t>
            </a:r>
            <a:endParaRPr lang="en-US" sz="85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05 · ÉTHIQUE ET CONFIDENTIALITÉ</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L'anonymisation est plus fragile qu'il n'y paraît</a:t>
            </a:r>
            <a:endParaRPr lang="en-US" sz="2400" dirty="0"/>
          </a:p>
        </p:txBody>
      </p:sp>
      <p:sp>
        <p:nvSpPr>
          <p:cNvPr id="8" name="Shape 6"/>
          <p:cNvSpPr/>
          <p:nvPr/>
        </p:nvSpPr>
        <p:spPr>
          <a:xfrm>
            <a:off x="7662672" y="329184"/>
            <a:ext cx="100584" cy="100584"/>
          </a:xfrm>
          <a:prstGeom prst="ellipse">
            <a:avLst/>
          </a:prstGeom>
          <a:solidFill>
            <a:srgbClr val="D5DED9"/>
          </a:solidFill>
          <a:ln/>
        </p:spPr>
      </p:sp>
      <p:sp>
        <p:nvSpPr>
          <p:cNvPr id="9" name="Shape 7"/>
          <p:cNvSpPr/>
          <p:nvPr/>
        </p:nvSpPr>
        <p:spPr>
          <a:xfrm>
            <a:off x="7845552" y="329184"/>
            <a:ext cx="100584" cy="100584"/>
          </a:xfrm>
          <a:prstGeom prst="ellipse">
            <a:avLst/>
          </a:prstGeom>
          <a:solidFill>
            <a:srgbClr val="D5DED9"/>
          </a:solidFill>
          <a:ln/>
        </p:spPr>
      </p:sp>
      <p:sp>
        <p:nvSpPr>
          <p:cNvPr id="10" name="Shape 8"/>
          <p:cNvSpPr/>
          <p:nvPr/>
        </p:nvSpPr>
        <p:spPr>
          <a:xfrm>
            <a:off x="8028432" y="329184"/>
            <a:ext cx="100584" cy="100584"/>
          </a:xfrm>
          <a:prstGeom prst="ellipse">
            <a:avLst/>
          </a:prstGeom>
          <a:solidFill>
            <a:srgbClr val="D5DED9"/>
          </a:solidFill>
          <a:ln/>
        </p:spPr>
      </p:sp>
      <p:sp>
        <p:nvSpPr>
          <p:cNvPr id="11" name="Shape 9"/>
          <p:cNvSpPr/>
          <p:nvPr/>
        </p:nvSpPr>
        <p:spPr>
          <a:xfrm>
            <a:off x="8211312" y="329184"/>
            <a:ext cx="100584" cy="100584"/>
          </a:xfrm>
          <a:prstGeom prst="ellipse">
            <a:avLst/>
          </a:prstGeom>
          <a:solidFill>
            <a:srgbClr val="D5DED9"/>
          </a:solidFill>
          <a:ln/>
        </p:spPr>
      </p:sp>
      <p:sp>
        <p:nvSpPr>
          <p:cNvPr id="12" name="Shape 10"/>
          <p:cNvSpPr/>
          <p:nvPr/>
        </p:nvSpPr>
        <p:spPr>
          <a:xfrm>
            <a:off x="8394192" y="329184"/>
            <a:ext cx="100584" cy="100584"/>
          </a:xfrm>
          <a:prstGeom prst="ellipse">
            <a:avLst/>
          </a:prstGeom>
          <a:solidFill>
            <a:srgbClr val="C4621D"/>
          </a:solidFill>
          <a:ln/>
        </p:spPr>
      </p:sp>
      <p:sp>
        <p:nvSpPr>
          <p:cNvPr id="13" name="Shape 11"/>
          <p:cNvSpPr/>
          <p:nvPr/>
        </p:nvSpPr>
        <p:spPr>
          <a:xfrm>
            <a:off x="8577072" y="329184"/>
            <a:ext cx="100584" cy="100584"/>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Sources de données non traditionnelles · Le trésor caché · Atelier STG17</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32</a:t>
            </a:r>
            <a:endParaRPr lang="en-US" sz="850" dirty="0"/>
          </a:p>
        </p:txBody>
      </p:sp>
      <p:sp>
        <p:nvSpPr>
          <p:cNvPr id="17" name="Shape 14"/>
          <p:cNvSpPr/>
          <p:nvPr/>
        </p:nvSpPr>
        <p:spPr>
          <a:xfrm>
            <a:off x="457200" y="1097280"/>
            <a:ext cx="3291840" cy="3429000"/>
          </a:xfrm>
          <a:prstGeom prst="roundRect">
            <a:avLst>
              <a:gd name="adj" fmla="val 2222"/>
            </a:avLst>
          </a:prstGeom>
          <a:solidFill>
            <a:srgbClr val="00553A"/>
          </a:solidFill>
          <a:ln/>
        </p:spPr>
      </p:sp>
      <p:sp>
        <p:nvSpPr>
          <p:cNvPr id="18" name="Text 15"/>
          <p:cNvSpPr txBox="1"/>
          <p:nvPr/>
        </p:nvSpPr>
        <p:spPr>
          <a:xfrm>
            <a:off x="685800" y="1261872"/>
            <a:ext cx="2834640" cy="201168"/>
          </a:xfrm>
          <a:prstGeom prst="rect">
            <a:avLst/>
          </a:prstGeom>
          <a:noFill/>
          <a:ln/>
        </p:spPr>
        <p:txBody>
          <a:bodyPr wrap="square" lIns="0" tIns="0" rIns="0" bIns="0" rtlCol="0" anchor="t"/>
          <a:lstStyle/>
          <a:p>
            <a:pPr indent="0" marL="0">
              <a:buNone/>
            </a:pPr>
            <a:r>
              <a:rPr lang="en-US" sz="950" b="1" spc="200" kern="0" dirty="0">
                <a:solidFill>
                  <a:srgbClr val="F5C242"/>
                </a:solidFill>
                <a:latin typeface="Calibri" pitchFamily="34" charset="0"/>
                <a:ea typeface="Calibri" pitchFamily="34" charset="-122"/>
                <a:cs typeface="Calibri" pitchFamily="34" charset="-120"/>
              </a:rPr>
              <a:t>UNIQUE DANS LA FOULE</a:t>
            </a:r>
            <a:endParaRPr lang="en-US" sz="950" dirty="0"/>
          </a:p>
        </p:txBody>
      </p:sp>
      <p:sp>
        <p:nvSpPr>
          <p:cNvPr id="19" name="Text 16"/>
          <p:cNvSpPr txBox="1"/>
          <p:nvPr/>
        </p:nvSpPr>
        <p:spPr>
          <a:xfrm>
            <a:off x="685800" y="1508760"/>
            <a:ext cx="914400" cy="914400"/>
          </a:xfrm>
          <a:prstGeom prst="rect">
            <a:avLst/>
          </a:prstGeom>
          <a:noFill/>
          <a:ln/>
        </p:spPr>
        <p:txBody>
          <a:bodyPr wrap="square" lIns="0" tIns="0" rIns="0" bIns="0" rtlCol="0" anchor="t"/>
          <a:lstStyle/>
          <a:p>
            <a:pPr indent="0" marL="0">
              <a:buNone/>
            </a:pPr>
            <a:r>
              <a:rPr lang="en-US" sz="6000" b="1" dirty="0">
                <a:solidFill>
                  <a:srgbClr val="F5C242"/>
                </a:solidFill>
                <a:latin typeface="Calibri" pitchFamily="34" charset="0"/>
                <a:ea typeface="Calibri" pitchFamily="34" charset="-122"/>
                <a:cs typeface="Calibri" pitchFamily="34" charset="-120"/>
              </a:rPr>
              <a:t>4</a:t>
            </a:r>
            <a:endParaRPr lang="en-US" sz="6000" dirty="0"/>
          </a:p>
        </p:txBody>
      </p:sp>
      <p:sp>
        <p:nvSpPr>
          <p:cNvPr id="20" name="Text 17"/>
          <p:cNvSpPr txBox="1"/>
          <p:nvPr/>
        </p:nvSpPr>
        <p:spPr>
          <a:xfrm>
            <a:off x="1508760" y="1783080"/>
            <a:ext cx="210312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points lieu–heure</a:t>
            </a:r>
            <a:endParaRPr lang="en-US" sz="1400" dirty="0"/>
          </a:p>
        </p:txBody>
      </p:sp>
      <p:sp>
        <p:nvSpPr>
          <p:cNvPr id="21" name="Text 18"/>
          <p:cNvSpPr txBox="1"/>
          <p:nvPr/>
        </p:nvSpPr>
        <p:spPr>
          <a:xfrm>
            <a:off x="685800" y="2487168"/>
            <a:ext cx="2834640" cy="274320"/>
          </a:xfrm>
          <a:prstGeom prst="rect">
            <a:avLst/>
          </a:prstGeom>
          <a:noFill/>
          <a:ln/>
        </p:spPr>
        <p:txBody>
          <a:bodyPr wrap="square" lIns="0" tIns="0" rIns="0" bIns="0" rtlCol="0" anchor="t"/>
          <a:lstStyle/>
          <a:p>
            <a:pPr indent="0" marL="0">
              <a:buNone/>
            </a:pPr>
            <a:r>
              <a:rPr lang="en-US" sz="1200" dirty="0">
                <a:solidFill>
                  <a:srgbClr val="E6F6EE"/>
                </a:solidFill>
                <a:latin typeface="Calibri" pitchFamily="34" charset="0"/>
                <a:ea typeface="Calibri" pitchFamily="34" charset="-122"/>
                <a:cs typeface="Calibri" pitchFamily="34" charset="-120"/>
              </a:rPr>
              <a:t>suffisaient à isoler</a:t>
            </a:r>
            <a:endParaRPr lang="en-US" sz="1200" dirty="0"/>
          </a:p>
        </p:txBody>
      </p:sp>
      <p:sp>
        <p:nvSpPr>
          <p:cNvPr id="22" name="Text 19"/>
          <p:cNvSpPr txBox="1"/>
          <p:nvPr/>
        </p:nvSpPr>
        <p:spPr>
          <a:xfrm>
            <a:off x="685800" y="2761488"/>
            <a:ext cx="1737360" cy="822960"/>
          </a:xfrm>
          <a:prstGeom prst="rect">
            <a:avLst/>
          </a:prstGeom>
          <a:noFill/>
          <a:ln/>
        </p:spPr>
        <p:txBody>
          <a:bodyPr wrap="square" lIns="0" tIns="0" rIns="0" bIns="0" rtlCol="0" anchor="t"/>
          <a:lstStyle/>
          <a:p>
            <a:pPr indent="0" marL="0">
              <a:buNone/>
            </a:pPr>
            <a:r>
              <a:rPr lang="en-US" sz="5200" b="1" dirty="0">
                <a:solidFill>
                  <a:srgbClr val="FFFFFF"/>
                </a:solidFill>
                <a:latin typeface="Calibri" pitchFamily="34" charset="0"/>
                <a:ea typeface="Calibri" pitchFamily="34" charset="-122"/>
                <a:cs typeface="Calibri" pitchFamily="34" charset="-120"/>
              </a:rPr>
              <a:t>95 %</a:t>
            </a:r>
            <a:endParaRPr lang="en-US" sz="5200" dirty="0"/>
          </a:p>
        </p:txBody>
      </p:sp>
      <p:sp>
        <p:nvSpPr>
          <p:cNvPr id="23" name="Text 20"/>
          <p:cNvSpPr txBox="1"/>
          <p:nvPr/>
        </p:nvSpPr>
        <p:spPr>
          <a:xfrm>
            <a:off x="685800" y="3611880"/>
            <a:ext cx="2880360" cy="731520"/>
          </a:xfrm>
          <a:prstGeom prst="rect">
            <a:avLst/>
          </a:prstGeom>
          <a:noFill/>
          <a:ln/>
        </p:spPr>
        <p:txBody>
          <a:bodyPr wrap="square" lIns="0" tIns="0" rIns="0" bIns="0" rtlCol="0" anchor="t"/>
          <a:lstStyle/>
          <a:p>
            <a:pPr indent="0" marL="0">
              <a:buNone/>
            </a:pPr>
            <a:r>
              <a:rPr lang="en-US" sz="1100" i="1" dirty="0">
                <a:solidFill>
                  <a:srgbClr val="E6F6EE"/>
                </a:solidFill>
                <a:latin typeface="Calibri" pitchFamily="34" charset="0"/>
                <a:ea typeface="Calibri" pitchFamily="34" charset="-122"/>
                <a:cs typeface="Calibri" pitchFamily="34" charset="-120"/>
              </a:rPr>
              <a:t>des 1,5 million de personnes d'un jeu de données de mobilité téléphonique — sans aucun nom.</a:t>
            </a:r>
            <a:endParaRPr lang="en-US" sz="1100" dirty="0"/>
          </a:p>
        </p:txBody>
      </p:sp>
      <p:sp>
        <p:nvSpPr>
          <p:cNvPr id="24" name="Shape 21"/>
          <p:cNvSpPr/>
          <p:nvPr/>
        </p:nvSpPr>
        <p:spPr>
          <a:xfrm>
            <a:off x="3931920" y="1097280"/>
            <a:ext cx="4754880" cy="758952"/>
          </a:xfrm>
          <a:prstGeom prst="roundRect">
            <a:avLst>
              <a:gd name="adj" fmla="val 9639"/>
            </a:avLst>
          </a:prstGeom>
          <a:solidFill>
            <a:srgbClr val="F4F7F5"/>
          </a:solidFill>
          <a:ln w="9525">
            <a:solidFill>
              <a:srgbClr val="D5DED9"/>
            </a:solidFill>
            <a:prstDash val="solid"/>
          </a:ln>
        </p:spPr>
      </p:sp>
      <p:sp>
        <p:nvSpPr>
          <p:cNvPr id="25" name="Shape 22"/>
          <p:cNvSpPr/>
          <p:nvPr/>
        </p:nvSpPr>
        <p:spPr>
          <a:xfrm>
            <a:off x="4041648" y="1234440"/>
            <a:ext cx="475488" cy="475488"/>
          </a:xfrm>
          <a:prstGeom prst="ellipse">
            <a:avLst/>
          </a:prstGeom>
          <a:solidFill>
            <a:srgbClr val="C4621D">
              <a:alpha val="22000"/>
            </a:srgbClr>
          </a:solidFill>
          <a:ln/>
        </p:spPr>
      </p:sp>
      <p:pic>
        <p:nvPicPr>
          <p:cNvPr id="26" name="Image 0" descr="preencoded.png">    </p:cNvPr>
          <p:cNvPicPr>
            <a:picLocks noChangeAspect="1"/>
          </p:cNvPicPr>
          <p:nvPr/>
        </p:nvPicPr>
        <p:blipFill>
          <a:blip r:embed="rId1"/>
          <a:stretch>
            <a:fillRect/>
          </a:stretch>
        </p:blipFill>
        <p:spPr>
          <a:xfrm>
            <a:off x="4160520" y="1353312"/>
            <a:ext cx="237744" cy="237744"/>
          </a:xfrm>
          <a:prstGeom prst="rect">
            <a:avLst/>
          </a:prstGeom>
        </p:spPr>
      </p:pic>
      <p:sp>
        <p:nvSpPr>
          <p:cNvPr id="27" name="Text 23"/>
          <p:cNvSpPr txBox="1"/>
          <p:nvPr/>
        </p:nvSpPr>
        <p:spPr>
          <a:xfrm>
            <a:off x="4663440" y="1170432"/>
            <a:ext cx="3931920" cy="256032"/>
          </a:xfrm>
          <a:prstGeom prst="rect">
            <a:avLst/>
          </a:prstGeom>
          <a:noFill/>
          <a:ln/>
        </p:spPr>
        <p:txBody>
          <a:bodyPr wrap="square" lIns="0" tIns="0" rIns="0" bIns="0" rtlCol="0" anchor="t"/>
          <a:lstStyle/>
          <a:p>
            <a:pPr indent="0" marL="0">
              <a:buNone/>
            </a:pPr>
            <a:r>
              <a:rPr lang="en-US" sz="1250" b="1" dirty="0">
                <a:solidFill>
                  <a:srgbClr val="C4621D"/>
                </a:solidFill>
                <a:latin typeface="Calibri" pitchFamily="34" charset="0"/>
                <a:ea typeface="Calibri" pitchFamily="34" charset="-122"/>
                <a:cs typeface="Calibri" pitchFamily="34" charset="-120"/>
              </a:rPr>
              <a:t>Réidentification individuelle</a:t>
            </a:r>
            <a:endParaRPr lang="en-US" sz="1250" dirty="0"/>
          </a:p>
        </p:txBody>
      </p:sp>
      <p:sp>
        <p:nvSpPr>
          <p:cNvPr id="28" name="Text 24"/>
          <p:cNvSpPr txBox="1"/>
          <p:nvPr/>
        </p:nvSpPr>
        <p:spPr>
          <a:xfrm>
            <a:off x="4663440" y="1417320"/>
            <a:ext cx="3950208" cy="420624"/>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Des combinaisons rares de lieux et d'heures trahissent une personne, même sans nom ni numéro.</a:t>
            </a:r>
            <a:endParaRPr lang="en-US" sz="1000" dirty="0"/>
          </a:p>
        </p:txBody>
      </p:sp>
      <p:sp>
        <p:nvSpPr>
          <p:cNvPr id="29" name="Shape 25"/>
          <p:cNvSpPr/>
          <p:nvPr/>
        </p:nvSpPr>
        <p:spPr>
          <a:xfrm>
            <a:off x="3931920" y="1965960"/>
            <a:ext cx="4754880" cy="758952"/>
          </a:xfrm>
          <a:prstGeom prst="roundRect">
            <a:avLst>
              <a:gd name="adj" fmla="val 9639"/>
            </a:avLst>
          </a:prstGeom>
          <a:solidFill>
            <a:srgbClr val="F4F7F5"/>
          </a:solidFill>
          <a:ln w="9525">
            <a:solidFill>
              <a:srgbClr val="D5DED9"/>
            </a:solidFill>
            <a:prstDash val="solid"/>
          </a:ln>
        </p:spPr>
      </p:sp>
      <p:sp>
        <p:nvSpPr>
          <p:cNvPr id="30" name="Shape 26"/>
          <p:cNvSpPr/>
          <p:nvPr/>
        </p:nvSpPr>
        <p:spPr>
          <a:xfrm>
            <a:off x="4041648" y="2103120"/>
            <a:ext cx="475488" cy="475488"/>
          </a:xfrm>
          <a:prstGeom prst="ellipse">
            <a:avLst/>
          </a:prstGeom>
          <a:solidFill>
            <a:srgbClr val="C4621D">
              <a:alpha val="22000"/>
            </a:srgbClr>
          </a:solidFill>
          <a:ln/>
        </p:spPr>
      </p:sp>
      <p:pic>
        <p:nvPicPr>
          <p:cNvPr id="31" name="Image 1" descr="preencoded.png">    </p:cNvPr>
          <p:cNvPicPr>
            <a:picLocks noChangeAspect="1"/>
          </p:cNvPicPr>
          <p:nvPr/>
        </p:nvPicPr>
        <p:blipFill>
          <a:blip r:embed="rId2"/>
          <a:stretch>
            <a:fillRect/>
          </a:stretch>
        </p:blipFill>
        <p:spPr>
          <a:xfrm>
            <a:off x="4160520" y="2221992"/>
            <a:ext cx="237744" cy="237744"/>
          </a:xfrm>
          <a:prstGeom prst="rect">
            <a:avLst/>
          </a:prstGeom>
        </p:spPr>
      </p:pic>
      <p:sp>
        <p:nvSpPr>
          <p:cNvPr id="32" name="Text 27"/>
          <p:cNvSpPr txBox="1"/>
          <p:nvPr/>
        </p:nvSpPr>
        <p:spPr>
          <a:xfrm>
            <a:off x="4663440" y="2039112"/>
            <a:ext cx="3931920" cy="256032"/>
          </a:xfrm>
          <a:prstGeom prst="rect">
            <a:avLst/>
          </a:prstGeom>
          <a:noFill/>
          <a:ln/>
        </p:spPr>
        <p:txBody>
          <a:bodyPr wrap="square" lIns="0" tIns="0" rIns="0" bIns="0" rtlCol="0" anchor="t"/>
          <a:lstStyle/>
          <a:p>
            <a:pPr indent="0" marL="0">
              <a:buNone/>
            </a:pPr>
            <a:r>
              <a:rPr lang="en-US" sz="1250" b="1" dirty="0">
                <a:solidFill>
                  <a:srgbClr val="C4621D"/>
                </a:solidFill>
                <a:latin typeface="Calibri" pitchFamily="34" charset="0"/>
                <a:ea typeface="Calibri" pitchFamily="34" charset="-122"/>
                <a:cs typeface="Calibri" pitchFamily="34" charset="-120"/>
              </a:rPr>
              <a:t>Préjudice collectif</a:t>
            </a:r>
            <a:endParaRPr lang="en-US" sz="1250" dirty="0"/>
          </a:p>
        </p:txBody>
      </p:sp>
      <p:sp>
        <p:nvSpPr>
          <p:cNvPr id="33" name="Text 28"/>
          <p:cNvSpPr txBox="1"/>
          <p:nvPr/>
        </p:nvSpPr>
        <p:spPr>
          <a:xfrm>
            <a:off x="4663440" y="2286000"/>
            <a:ext cx="3950208" cy="420624"/>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Des agrégats peuvent exposer une communauté — déplacés, minorités, quartiers informels.</a:t>
            </a:r>
            <a:endParaRPr lang="en-US" sz="1000" dirty="0"/>
          </a:p>
        </p:txBody>
      </p:sp>
      <p:sp>
        <p:nvSpPr>
          <p:cNvPr id="34" name="Shape 29"/>
          <p:cNvSpPr/>
          <p:nvPr/>
        </p:nvSpPr>
        <p:spPr>
          <a:xfrm>
            <a:off x="3931920" y="2834640"/>
            <a:ext cx="4754880" cy="758952"/>
          </a:xfrm>
          <a:prstGeom prst="roundRect">
            <a:avLst>
              <a:gd name="adj" fmla="val 9639"/>
            </a:avLst>
          </a:prstGeom>
          <a:solidFill>
            <a:srgbClr val="F4F7F5"/>
          </a:solidFill>
          <a:ln w="9525">
            <a:solidFill>
              <a:srgbClr val="D5DED9"/>
            </a:solidFill>
            <a:prstDash val="solid"/>
          </a:ln>
        </p:spPr>
      </p:sp>
      <p:sp>
        <p:nvSpPr>
          <p:cNvPr id="35" name="Shape 30"/>
          <p:cNvSpPr/>
          <p:nvPr/>
        </p:nvSpPr>
        <p:spPr>
          <a:xfrm>
            <a:off x="4041648" y="2971800"/>
            <a:ext cx="475488" cy="475488"/>
          </a:xfrm>
          <a:prstGeom prst="ellipse">
            <a:avLst/>
          </a:prstGeom>
          <a:solidFill>
            <a:srgbClr val="C4621D">
              <a:alpha val="22000"/>
            </a:srgbClr>
          </a:solidFill>
          <a:ln/>
        </p:spPr>
      </p:sp>
      <p:pic>
        <p:nvPicPr>
          <p:cNvPr id="36" name="Image 2" descr="preencoded.png">    </p:cNvPr>
          <p:cNvPicPr>
            <a:picLocks noChangeAspect="1"/>
          </p:cNvPicPr>
          <p:nvPr/>
        </p:nvPicPr>
        <p:blipFill>
          <a:blip r:embed="rId3"/>
          <a:stretch>
            <a:fillRect/>
          </a:stretch>
        </p:blipFill>
        <p:spPr>
          <a:xfrm>
            <a:off x="4160520" y="3090672"/>
            <a:ext cx="237744" cy="237744"/>
          </a:xfrm>
          <a:prstGeom prst="rect">
            <a:avLst/>
          </a:prstGeom>
        </p:spPr>
      </p:pic>
      <p:sp>
        <p:nvSpPr>
          <p:cNvPr id="37" name="Text 31"/>
          <p:cNvSpPr txBox="1"/>
          <p:nvPr/>
        </p:nvSpPr>
        <p:spPr>
          <a:xfrm>
            <a:off x="4663440" y="2907792"/>
            <a:ext cx="3931920" cy="256032"/>
          </a:xfrm>
          <a:prstGeom prst="rect">
            <a:avLst/>
          </a:prstGeom>
          <a:noFill/>
          <a:ln/>
        </p:spPr>
        <p:txBody>
          <a:bodyPr wrap="square" lIns="0" tIns="0" rIns="0" bIns="0" rtlCol="0" anchor="t"/>
          <a:lstStyle/>
          <a:p>
            <a:pPr indent="0" marL="0">
              <a:buNone/>
            </a:pPr>
            <a:r>
              <a:rPr lang="en-US" sz="1250" b="1" dirty="0">
                <a:solidFill>
                  <a:srgbClr val="C4621D"/>
                </a:solidFill>
                <a:latin typeface="Calibri" pitchFamily="34" charset="0"/>
                <a:ea typeface="Calibri" pitchFamily="34" charset="-122"/>
                <a:cs typeface="Calibri" pitchFamily="34" charset="-120"/>
              </a:rPr>
              <a:t>Détournement de finalité</a:t>
            </a:r>
            <a:endParaRPr lang="en-US" sz="1250" dirty="0"/>
          </a:p>
        </p:txBody>
      </p:sp>
      <p:sp>
        <p:nvSpPr>
          <p:cNvPr id="38" name="Text 32"/>
          <p:cNvSpPr txBox="1"/>
          <p:nvPr/>
        </p:nvSpPr>
        <p:spPr>
          <a:xfrm>
            <a:off x="4663440" y="3154680"/>
            <a:ext cx="3950208" cy="420624"/>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Des données partagées pour la statistique ne doivent jamais servir à la surveillance, à la répression ou au ciblage commercial.</a:t>
            </a:r>
            <a:endParaRPr lang="en-US" sz="1000" dirty="0"/>
          </a:p>
        </p:txBody>
      </p:sp>
      <p:sp>
        <p:nvSpPr>
          <p:cNvPr id="39" name="Shape 33"/>
          <p:cNvSpPr/>
          <p:nvPr/>
        </p:nvSpPr>
        <p:spPr>
          <a:xfrm>
            <a:off x="3931920" y="3703320"/>
            <a:ext cx="4754880" cy="758952"/>
          </a:xfrm>
          <a:prstGeom prst="roundRect">
            <a:avLst>
              <a:gd name="adj" fmla="val 9639"/>
            </a:avLst>
          </a:prstGeom>
          <a:solidFill>
            <a:srgbClr val="F4F7F5"/>
          </a:solidFill>
          <a:ln w="9525">
            <a:solidFill>
              <a:srgbClr val="D5DED9"/>
            </a:solidFill>
            <a:prstDash val="solid"/>
          </a:ln>
        </p:spPr>
      </p:sp>
      <p:sp>
        <p:nvSpPr>
          <p:cNvPr id="40" name="Shape 34"/>
          <p:cNvSpPr/>
          <p:nvPr/>
        </p:nvSpPr>
        <p:spPr>
          <a:xfrm>
            <a:off x="4041648" y="3840480"/>
            <a:ext cx="475488" cy="475488"/>
          </a:xfrm>
          <a:prstGeom prst="ellipse">
            <a:avLst/>
          </a:prstGeom>
          <a:solidFill>
            <a:srgbClr val="C4621D">
              <a:alpha val="22000"/>
            </a:srgbClr>
          </a:solidFill>
          <a:ln/>
        </p:spPr>
      </p:sp>
      <p:pic>
        <p:nvPicPr>
          <p:cNvPr id="41" name="Image 3" descr="preencoded.png">    </p:cNvPr>
          <p:cNvPicPr>
            <a:picLocks noChangeAspect="1"/>
          </p:cNvPicPr>
          <p:nvPr/>
        </p:nvPicPr>
        <p:blipFill>
          <a:blip r:embed="rId4"/>
          <a:stretch>
            <a:fillRect/>
          </a:stretch>
        </p:blipFill>
        <p:spPr>
          <a:xfrm>
            <a:off x="4160520" y="3959352"/>
            <a:ext cx="237744" cy="237744"/>
          </a:xfrm>
          <a:prstGeom prst="rect">
            <a:avLst/>
          </a:prstGeom>
        </p:spPr>
      </p:pic>
      <p:sp>
        <p:nvSpPr>
          <p:cNvPr id="42" name="Text 35"/>
          <p:cNvSpPr txBox="1"/>
          <p:nvPr/>
        </p:nvSpPr>
        <p:spPr>
          <a:xfrm>
            <a:off x="4663440" y="3776472"/>
            <a:ext cx="3931920" cy="256032"/>
          </a:xfrm>
          <a:prstGeom prst="rect">
            <a:avLst/>
          </a:prstGeom>
          <a:noFill/>
          <a:ln/>
        </p:spPr>
        <p:txBody>
          <a:bodyPr wrap="square" lIns="0" tIns="0" rIns="0" bIns="0" rtlCol="0" anchor="t"/>
          <a:lstStyle/>
          <a:p>
            <a:pPr indent="0" marL="0">
              <a:buNone/>
            </a:pPr>
            <a:r>
              <a:rPr lang="en-US" sz="1250" b="1" dirty="0">
                <a:solidFill>
                  <a:srgbClr val="C4621D"/>
                </a:solidFill>
                <a:latin typeface="Calibri" pitchFamily="34" charset="0"/>
                <a:ea typeface="Calibri" pitchFamily="34" charset="-122"/>
                <a:cs typeface="Calibri" pitchFamily="34" charset="-120"/>
              </a:rPr>
              <a:t>Effet mosaïque</a:t>
            </a:r>
            <a:endParaRPr lang="en-US" sz="1250" dirty="0"/>
          </a:p>
        </p:txBody>
      </p:sp>
      <p:sp>
        <p:nvSpPr>
          <p:cNvPr id="43" name="Text 36"/>
          <p:cNvSpPr txBox="1"/>
          <p:nvPr/>
        </p:nvSpPr>
        <p:spPr>
          <a:xfrm>
            <a:off x="4663440" y="4023360"/>
            <a:ext cx="3950208" cy="420624"/>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Des tableaux anodins, combinés à d'autres données publiques, révèlent ce que chacun cachait.</a:t>
            </a:r>
            <a:endParaRPr lang="en-US" sz="1000" dirty="0"/>
          </a:p>
        </p:txBody>
      </p:sp>
      <p:sp>
        <p:nvSpPr>
          <p:cNvPr id="44" name="Text 37"/>
          <p:cNvSpPr txBox="1"/>
          <p:nvPr/>
        </p:nvSpPr>
        <p:spPr>
          <a:xfrm>
            <a:off x="457200" y="4626864"/>
            <a:ext cx="749808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Source : de Montjoye, Y.-A., Hidalgo, C., Verleysen, M. et Blondel, V. (2013), « Unique in the Crowd », Scientific Reports 3 : 1376.</a:t>
            </a:r>
            <a:endParaRPr lang="en-US" sz="850" dirty="0"/>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05 · ÉTHIQUE ET CONFIDENTIALITÉ</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Les « Five Safes » : un cadre pour un accès sécurisé</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Le risque se gère en combinant cinq contrôles — aucun ne suffit seul.</a:t>
            </a:r>
            <a:endParaRPr lang="en-US" sz="1150" dirty="0"/>
          </a:p>
        </p:txBody>
      </p:sp>
      <p:sp>
        <p:nvSpPr>
          <p:cNvPr id="9" name="Shape 7"/>
          <p:cNvSpPr/>
          <p:nvPr/>
        </p:nvSpPr>
        <p:spPr>
          <a:xfrm>
            <a:off x="7662672" y="329184"/>
            <a:ext cx="100584" cy="100584"/>
          </a:xfrm>
          <a:prstGeom prst="ellipse">
            <a:avLst/>
          </a:prstGeom>
          <a:solidFill>
            <a:srgbClr val="D5DED9"/>
          </a:solidFill>
          <a:ln/>
        </p:spPr>
      </p:sp>
      <p:sp>
        <p:nvSpPr>
          <p:cNvPr id="10" name="Shape 8"/>
          <p:cNvSpPr/>
          <p:nvPr/>
        </p:nvSpPr>
        <p:spPr>
          <a:xfrm>
            <a:off x="7845552" y="329184"/>
            <a:ext cx="100584" cy="100584"/>
          </a:xfrm>
          <a:prstGeom prst="ellipse">
            <a:avLst/>
          </a:prstGeom>
          <a:solidFill>
            <a:srgbClr val="D5DED9"/>
          </a:solidFill>
          <a:ln/>
        </p:spPr>
      </p:sp>
      <p:sp>
        <p:nvSpPr>
          <p:cNvPr id="11" name="Shape 9"/>
          <p:cNvSpPr/>
          <p:nvPr/>
        </p:nvSpPr>
        <p:spPr>
          <a:xfrm>
            <a:off x="8028432" y="329184"/>
            <a:ext cx="100584" cy="100584"/>
          </a:xfrm>
          <a:prstGeom prst="ellipse">
            <a:avLst/>
          </a:prstGeom>
          <a:solidFill>
            <a:srgbClr val="D5DED9"/>
          </a:solidFill>
          <a:ln/>
        </p:spPr>
      </p:sp>
      <p:sp>
        <p:nvSpPr>
          <p:cNvPr id="12" name="Shape 10"/>
          <p:cNvSpPr/>
          <p:nvPr/>
        </p:nvSpPr>
        <p:spPr>
          <a:xfrm>
            <a:off x="8211312" y="329184"/>
            <a:ext cx="100584" cy="100584"/>
          </a:xfrm>
          <a:prstGeom prst="ellipse">
            <a:avLst/>
          </a:prstGeom>
          <a:solidFill>
            <a:srgbClr val="D5DED9"/>
          </a:solidFill>
          <a:ln/>
        </p:spPr>
      </p:sp>
      <p:sp>
        <p:nvSpPr>
          <p:cNvPr id="13" name="Shape 11"/>
          <p:cNvSpPr/>
          <p:nvPr/>
        </p:nvSpPr>
        <p:spPr>
          <a:xfrm>
            <a:off x="8394192" y="329184"/>
            <a:ext cx="100584" cy="100584"/>
          </a:xfrm>
          <a:prstGeom prst="ellipse">
            <a:avLst/>
          </a:prstGeom>
          <a:solidFill>
            <a:srgbClr val="C4621D"/>
          </a:solidFill>
          <a:ln/>
        </p:spPr>
      </p:sp>
      <p:sp>
        <p:nvSpPr>
          <p:cNvPr id="14" name="Shape 12"/>
          <p:cNvSpPr/>
          <p:nvPr/>
        </p:nvSpPr>
        <p:spPr>
          <a:xfrm>
            <a:off x="8577072" y="329184"/>
            <a:ext cx="100584" cy="100584"/>
          </a:xfrm>
          <a:prstGeom prst="ellipse">
            <a:avLst/>
          </a:prstGeom>
          <a:solidFill>
            <a:srgbClr val="D5DED9"/>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Sources de données non traditionnelles · Le trésor caché · Atelier STG17</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33</a:t>
            </a:r>
            <a:endParaRPr lang="en-US" sz="850" dirty="0"/>
          </a:p>
        </p:txBody>
      </p:sp>
      <p:sp>
        <p:nvSpPr>
          <p:cNvPr id="18" name="Shape 15"/>
          <p:cNvSpPr/>
          <p:nvPr/>
        </p:nvSpPr>
        <p:spPr>
          <a:xfrm>
            <a:off x="457200" y="1371600"/>
            <a:ext cx="1554480" cy="2514600"/>
          </a:xfrm>
          <a:prstGeom prst="roundRect">
            <a:avLst>
              <a:gd name="adj" fmla="val 4706"/>
            </a:avLst>
          </a:prstGeom>
          <a:solidFill>
            <a:srgbClr val="F4F7F5"/>
          </a:solidFill>
          <a:ln w="9525">
            <a:solidFill>
              <a:srgbClr val="D5DED9"/>
            </a:solidFill>
            <a:prstDash val="solid"/>
          </a:ln>
        </p:spPr>
      </p:sp>
      <p:sp>
        <p:nvSpPr>
          <p:cNvPr id="19" name="Shape 16"/>
          <p:cNvSpPr/>
          <p:nvPr/>
        </p:nvSpPr>
        <p:spPr>
          <a:xfrm>
            <a:off x="914400" y="1481328"/>
            <a:ext cx="640080" cy="640080"/>
          </a:xfrm>
          <a:prstGeom prst="ellipse">
            <a:avLst/>
          </a:prstGeom>
          <a:solidFill>
            <a:srgbClr val="C4621D">
              <a:alpha val="22000"/>
            </a:srgbClr>
          </a:solidFill>
          <a:ln/>
        </p:spPr>
      </p:sp>
      <p:pic>
        <p:nvPicPr>
          <p:cNvPr id="20" name="Image 0" descr="preencoded.png">    </p:cNvPr>
          <p:cNvPicPr>
            <a:picLocks noChangeAspect="1"/>
          </p:cNvPicPr>
          <p:nvPr/>
        </p:nvPicPr>
        <p:blipFill>
          <a:blip r:embed="rId1"/>
          <a:stretch>
            <a:fillRect/>
          </a:stretch>
        </p:blipFill>
        <p:spPr>
          <a:xfrm>
            <a:off x="1074420" y="1641348"/>
            <a:ext cx="320040" cy="320040"/>
          </a:xfrm>
          <a:prstGeom prst="rect">
            <a:avLst/>
          </a:prstGeom>
        </p:spPr>
      </p:pic>
      <p:sp>
        <p:nvSpPr>
          <p:cNvPr id="21" name="Text 17"/>
          <p:cNvSpPr txBox="1"/>
          <p:nvPr/>
        </p:nvSpPr>
        <p:spPr>
          <a:xfrm>
            <a:off x="493776" y="2194560"/>
            <a:ext cx="1481328" cy="274320"/>
          </a:xfrm>
          <a:prstGeom prst="rect">
            <a:avLst/>
          </a:prstGeom>
          <a:noFill/>
          <a:ln/>
        </p:spPr>
        <p:txBody>
          <a:bodyPr wrap="square" lIns="0" tIns="0" rIns="0" bIns="0" rtlCol="0" anchor="t"/>
          <a:lstStyle/>
          <a:p>
            <a:pPr algn="ctr" indent="0" marL="0">
              <a:buNone/>
            </a:pPr>
            <a:r>
              <a:rPr lang="en-US" sz="1200" b="1" dirty="0">
                <a:solidFill>
                  <a:srgbClr val="C4621D"/>
                </a:solidFill>
                <a:latin typeface="Calibri" pitchFamily="34" charset="0"/>
                <a:ea typeface="Calibri" pitchFamily="34" charset="-122"/>
                <a:cs typeface="Calibri" pitchFamily="34" charset="-120"/>
              </a:rPr>
              <a:t>Projets sûrs</a:t>
            </a:r>
            <a:endParaRPr lang="en-US" sz="1200" dirty="0"/>
          </a:p>
        </p:txBody>
      </p:sp>
      <p:sp>
        <p:nvSpPr>
          <p:cNvPr id="22" name="Text 18"/>
          <p:cNvSpPr txBox="1"/>
          <p:nvPr/>
        </p:nvSpPr>
        <p:spPr>
          <a:xfrm>
            <a:off x="566928" y="2487168"/>
            <a:ext cx="1335024" cy="676656"/>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L'usage est-il approprié, licite et d'intérêt public ?</a:t>
            </a:r>
            <a:endParaRPr lang="en-US" sz="950" dirty="0"/>
          </a:p>
        </p:txBody>
      </p:sp>
      <p:sp>
        <p:nvSpPr>
          <p:cNvPr id="23" name="Shape 19"/>
          <p:cNvSpPr/>
          <p:nvPr/>
        </p:nvSpPr>
        <p:spPr>
          <a:xfrm>
            <a:off x="566928" y="3200400"/>
            <a:ext cx="1335024" cy="0"/>
          </a:xfrm>
          <a:prstGeom prst="line">
            <a:avLst/>
          </a:prstGeom>
          <a:noFill/>
          <a:ln w="9525">
            <a:solidFill>
              <a:srgbClr val="D5DED9"/>
            </a:solidFill>
            <a:prstDash val="solid"/>
          </a:ln>
        </p:spPr>
      </p:sp>
      <p:sp>
        <p:nvSpPr>
          <p:cNvPr id="24" name="Text 20"/>
          <p:cNvSpPr txBox="1"/>
          <p:nvPr/>
        </p:nvSpPr>
        <p:spPr>
          <a:xfrm>
            <a:off x="566928" y="3255264"/>
            <a:ext cx="1097280" cy="164592"/>
          </a:xfrm>
          <a:prstGeom prst="rect">
            <a:avLst/>
          </a:prstGeom>
          <a:noFill/>
          <a:ln/>
        </p:spPr>
        <p:txBody>
          <a:bodyPr wrap="square" lIns="0" tIns="0" rIns="0" bIns="0" rtlCol="0" anchor="t"/>
          <a:lstStyle/>
          <a:p>
            <a:pPr indent="0" marL="0">
              <a:buNone/>
            </a:pPr>
            <a:r>
              <a:rPr lang="en-US" sz="850" b="1" spc="100" kern="0" dirty="0">
                <a:solidFill>
                  <a:srgbClr val="00704A"/>
                </a:solidFill>
                <a:latin typeface="Calibri" pitchFamily="34" charset="0"/>
                <a:ea typeface="Calibri" pitchFamily="34" charset="-122"/>
                <a:cs typeface="Calibri" pitchFamily="34" charset="-120"/>
              </a:rPr>
              <a:t>AU GHANA</a:t>
            </a:r>
            <a:endParaRPr lang="en-US" sz="850" dirty="0"/>
          </a:p>
        </p:txBody>
      </p:sp>
      <p:sp>
        <p:nvSpPr>
          <p:cNvPr id="25" name="Text 21"/>
          <p:cNvSpPr txBox="1"/>
          <p:nvPr/>
        </p:nvSpPr>
        <p:spPr>
          <a:xfrm>
            <a:off x="566928" y="3438144"/>
            <a:ext cx="1335024" cy="420624"/>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Finalité statistique ; validation du comité de pilotage</a:t>
            </a:r>
            <a:endParaRPr lang="en-US" sz="900" dirty="0"/>
          </a:p>
        </p:txBody>
      </p:sp>
      <p:sp>
        <p:nvSpPr>
          <p:cNvPr id="26" name="Text 22"/>
          <p:cNvSpPr txBox="1"/>
          <p:nvPr/>
        </p:nvSpPr>
        <p:spPr>
          <a:xfrm>
            <a:off x="2011680" y="1828800"/>
            <a:ext cx="128016" cy="274320"/>
          </a:xfrm>
          <a:prstGeom prst="rect">
            <a:avLst/>
          </a:prstGeom>
          <a:noFill/>
          <a:ln/>
        </p:spPr>
        <p:txBody>
          <a:bodyPr wrap="square" lIns="0" tIns="0" rIns="0" bIns="0" rtlCol="0" anchor="ctr"/>
          <a:lstStyle/>
          <a:p>
            <a:pPr algn="ctr" indent="0" marL="0">
              <a:buNone/>
            </a:pPr>
            <a:r>
              <a:rPr lang="en-US" sz="1600" b="1" dirty="0">
                <a:solidFill>
                  <a:srgbClr val="C4621D"/>
                </a:solidFill>
                <a:latin typeface="Calibri" pitchFamily="34" charset="0"/>
                <a:ea typeface="Calibri" pitchFamily="34" charset="-122"/>
                <a:cs typeface="Calibri" pitchFamily="34" charset="-120"/>
              </a:rPr>
              <a:t>+</a:t>
            </a:r>
            <a:endParaRPr lang="en-US" sz="1600" dirty="0"/>
          </a:p>
        </p:txBody>
      </p:sp>
      <p:sp>
        <p:nvSpPr>
          <p:cNvPr id="27" name="Shape 23"/>
          <p:cNvSpPr/>
          <p:nvPr/>
        </p:nvSpPr>
        <p:spPr>
          <a:xfrm>
            <a:off x="2139696" y="1371600"/>
            <a:ext cx="1554480" cy="2514600"/>
          </a:xfrm>
          <a:prstGeom prst="roundRect">
            <a:avLst>
              <a:gd name="adj" fmla="val 4706"/>
            </a:avLst>
          </a:prstGeom>
          <a:solidFill>
            <a:srgbClr val="F4F7F5"/>
          </a:solidFill>
          <a:ln w="9525">
            <a:solidFill>
              <a:srgbClr val="D5DED9"/>
            </a:solidFill>
            <a:prstDash val="solid"/>
          </a:ln>
        </p:spPr>
      </p:sp>
      <p:sp>
        <p:nvSpPr>
          <p:cNvPr id="28" name="Shape 24"/>
          <p:cNvSpPr/>
          <p:nvPr/>
        </p:nvSpPr>
        <p:spPr>
          <a:xfrm>
            <a:off x="2596896" y="1481328"/>
            <a:ext cx="640080" cy="640080"/>
          </a:xfrm>
          <a:prstGeom prst="ellipse">
            <a:avLst/>
          </a:prstGeom>
          <a:solidFill>
            <a:srgbClr val="C4621D">
              <a:alpha val="22000"/>
            </a:srgbClr>
          </a:solidFill>
          <a:ln/>
        </p:spPr>
      </p:sp>
      <p:pic>
        <p:nvPicPr>
          <p:cNvPr id="29" name="Image 1" descr="preencoded.png">    </p:cNvPr>
          <p:cNvPicPr>
            <a:picLocks noChangeAspect="1"/>
          </p:cNvPicPr>
          <p:nvPr/>
        </p:nvPicPr>
        <p:blipFill>
          <a:blip r:embed="rId2"/>
          <a:stretch>
            <a:fillRect/>
          </a:stretch>
        </p:blipFill>
        <p:spPr>
          <a:xfrm>
            <a:off x="2756916" y="1641348"/>
            <a:ext cx="320040" cy="320040"/>
          </a:xfrm>
          <a:prstGeom prst="rect">
            <a:avLst/>
          </a:prstGeom>
        </p:spPr>
      </p:pic>
      <p:sp>
        <p:nvSpPr>
          <p:cNvPr id="30" name="Text 25"/>
          <p:cNvSpPr txBox="1"/>
          <p:nvPr/>
        </p:nvSpPr>
        <p:spPr>
          <a:xfrm>
            <a:off x="2176272" y="2194560"/>
            <a:ext cx="1481328" cy="274320"/>
          </a:xfrm>
          <a:prstGeom prst="rect">
            <a:avLst/>
          </a:prstGeom>
          <a:noFill/>
          <a:ln/>
        </p:spPr>
        <p:txBody>
          <a:bodyPr wrap="square" lIns="0" tIns="0" rIns="0" bIns="0" rtlCol="0" anchor="t"/>
          <a:lstStyle/>
          <a:p>
            <a:pPr algn="ctr" indent="0" marL="0">
              <a:buNone/>
            </a:pPr>
            <a:r>
              <a:rPr lang="en-US" sz="1200" b="1" dirty="0">
                <a:solidFill>
                  <a:srgbClr val="C4621D"/>
                </a:solidFill>
                <a:latin typeface="Calibri" pitchFamily="34" charset="0"/>
                <a:ea typeface="Calibri" pitchFamily="34" charset="-122"/>
                <a:cs typeface="Calibri" pitchFamily="34" charset="-120"/>
              </a:rPr>
              <a:t>Personnes sûres</a:t>
            </a:r>
            <a:endParaRPr lang="en-US" sz="1200" dirty="0"/>
          </a:p>
        </p:txBody>
      </p:sp>
      <p:sp>
        <p:nvSpPr>
          <p:cNvPr id="31" name="Text 26"/>
          <p:cNvSpPr txBox="1"/>
          <p:nvPr/>
        </p:nvSpPr>
        <p:spPr>
          <a:xfrm>
            <a:off x="2249424" y="2487168"/>
            <a:ext cx="1335024" cy="676656"/>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Les utilisateurs sont-ils formés, habilités et tenus au secret ?</a:t>
            </a:r>
            <a:endParaRPr lang="en-US" sz="950" dirty="0"/>
          </a:p>
        </p:txBody>
      </p:sp>
      <p:sp>
        <p:nvSpPr>
          <p:cNvPr id="32" name="Shape 27"/>
          <p:cNvSpPr/>
          <p:nvPr/>
        </p:nvSpPr>
        <p:spPr>
          <a:xfrm>
            <a:off x="2249424" y="3200400"/>
            <a:ext cx="1335024" cy="0"/>
          </a:xfrm>
          <a:prstGeom prst="line">
            <a:avLst/>
          </a:prstGeom>
          <a:noFill/>
          <a:ln w="9525">
            <a:solidFill>
              <a:srgbClr val="D5DED9"/>
            </a:solidFill>
            <a:prstDash val="solid"/>
          </a:ln>
        </p:spPr>
      </p:sp>
      <p:sp>
        <p:nvSpPr>
          <p:cNvPr id="33" name="Text 28"/>
          <p:cNvSpPr txBox="1"/>
          <p:nvPr/>
        </p:nvSpPr>
        <p:spPr>
          <a:xfrm>
            <a:off x="2249424" y="3255264"/>
            <a:ext cx="1097280" cy="164592"/>
          </a:xfrm>
          <a:prstGeom prst="rect">
            <a:avLst/>
          </a:prstGeom>
          <a:noFill/>
          <a:ln/>
        </p:spPr>
        <p:txBody>
          <a:bodyPr wrap="square" lIns="0" tIns="0" rIns="0" bIns="0" rtlCol="0" anchor="t"/>
          <a:lstStyle/>
          <a:p>
            <a:pPr indent="0" marL="0">
              <a:buNone/>
            </a:pPr>
            <a:r>
              <a:rPr lang="en-US" sz="850" b="1" spc="100" kern="0" dirty="0">
                <a:solidFill>
                  <a:srgbClr val="00704A"/>
                </a:solidFill>
                <a:latin typeface="Calibri" pitchFamily="34" charset="0"/>
                <a:ea typeface="Calibri" pitchFamily="34" charset="-122"/>
                <a:cs typeface="Calibri" pitchFamily="34" charset="-120"/>
              </a:rPr>
              <a:t>AU GHANA</a:t>
            </a:r>
            <a:endParaRPr lang="en-US" sz="850" dirty="0"/>
          </a:p>
        </p:txBody>
      </p:sp>
      <p:sp>
        <p:nvSpPr>
          <p:cNvPr id="34" name="Text 29"/>
          <p:cNvSpPr txBox="1"/>
          <p:nvPr/>
        </p:nvSpPr>
        <p:spPr>
          <a:xfrm>
            <a:off x="2249424" y="3438144"/>
            <a:ext cx="1335024" cy="420624"/>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Analystes du GSS formés et habilités</a:t>
            </a:r>
            <a:endParaRPr lang="en-US" sz="900" dirty="0"/>
          </a:p>
        </p:txBody>
      </p:sp>
      <p:sp>
        <p:nvSpPr>
          <p:cNvPr id="35" name="Text 30"/>
          <p:cNvSpPr txBox="1"/>
          <p:nvPr/>
        </p:nvSpPr>
        <p:spPr>
          <a:xfrm>
            <a:off x="3694176" y="1828800"/>
            <a:ext cx="128016" cy="274320"/>
          </a:xfrm>
          <a:prstGeom prst="rect">
            <a:avLst/>
          </a:prstGeom>
          <a:noFill/>
          <a:ln/>
        </p:spPr>
        <p:txBody>
          <a:bodyPr wrap="square" lIns="0" tIns="0" rIns="0" bIns="0" rtlCol="0" anchor="ctr"/>
          <a:lstStyle/>
          <a:p>
            <a:pPr algn="ctr" indent="0" marL="0">
              <a:buNone/>
            </a:pPr>
            <a:r>
              <a:rPr lang="en-US" sz="1600" b="1" dirty="0">
                <a:solidFill>
                  <a:srgbClr val="C4621D"/>
                </a:solidFill>
                <a:latin typeface="Calibri" pitchFamily="34" charset="0"/>
                <a:ea typeface="Calibri" pitchFamily="34" charset="-122"/>
                <a:cs typeface="Calibri" pitchFamily="34" charset="-120"/>
              </a:rPr>
              <a:t>+</a:t>
            </a:r>
            <a:endParaRPr lang="en-US" sz="1600" dirty="0"/>
          </a:p>
        </p:txBody>
      </p:sp>
      <p:sp>
        <p:nvSpPr>
          <p:cNvPr id="36" name="Shape 31"/>
          <p:cNvSpPr/>
          <p:nvPr/>
        </p:nvSpPr>
        <p:spPr>
          <a:xfrm>
            <a:off x="3822192" y="1371600"/>
            <a:ext cx="1554480" cy="2514600"/>
          </a:xfrm>
          <a:prstGeom prst="roundRect">
            <a:avLst>
              <a:gd name="adj" fmla="val 4706"/>
            </a:avLst>
          </a:prstGeom>
          <a:solidFill>
            <a:srgbClr val="F4F7F5"/>
          </a:solidFill>
          <a:ln w="9525">
            <a:solidFill>
              <a:srgbClr val="D5DED9"/>
            </a:solidFill>
            <a:prstDash val="solid"/>
          </a:ln>
        </p:spPr>
      </p:sp>
      <p:sp>
        <p:nvSpPr>
          <p:cNvPr id="37" name="Shape 32"/>
          <p:cNvSpPr/>
          <p:nvPr/>
        </p:nvSpPr>
        <p:spPr>
          <a:xfrm>
            <a:off x="4279392" y="1481328"/>
            <a:ext cx="640080" cy="640080"/>
          </a:xfrm>
          <a:prstGeom prst="ellipse">
            <a:avLst/>
          </a:prstGeom>
          <a:solidFill>
            <a:srgbClr val="C4621D">
              <a:alpha val="22000"/>
            </a:srgbClr>
          </a:solidFill>
          <a:ln/>
        </p:spPr>
      </p:sp>
      <p:pic>
        <p:nvPicPr>
          <p:cNvPr id="38" name="Image 2" descr="preencoded.png">    </p:cNvPr>
          <p:cNvPicPr>
            <a:picLocks noChangeAspect="1"/>
          </p:cNvPicPr>
          <p:nvPr/>
        </p:nvPicPr>
        <p:blipFill>
          <a:blip r:embed="rId3"/>
          <a:stretch>
            <a:fillRect/>
          </a:stretch>
        </p:blipFill>
        <p:spPr>
          <a:xfrm>
            <a:off x="4439412" y="1641348"/>
            <a:ext cx="320040" cy="320040"/>
          </a:xfrm>
          <a:prstGeom prst="rect">
            <a:avLst/>
          </a:prstGeom>
        </p:spPr>
      </p:pic>
      <p:sp>
        <p:nvSpPr>
          <p:cNvPr id="39" name="Text 33"/>
          <p:cNvSpPr txBox="1"/>
          <p:nvPr/>
        </p:nvSpPr>
        <p:spPr>
          <a:xfrm>
            <a:off x="3858768" y="2194560"/>
            <a:ext cx="1481328" cy="274320"/>
          </a:xfrm>
          <a:prstGeom prst="rect">
            <a:avLst/>
          </a:prstGeom>
          <a:noFill/>
          <a:ln/>
        </p:spPr>
        <p:txBody>
          <a:bodyPr wrap="square" lIns="0" tIns="0" rIns="0" bIns="0" rtlCol="0" anchor="t"/>
          <a:lstStyle/>
          <a:p>
            <a:pPr algn="ctr" indent="0" marL="0">
              <a:buNone/>
            </a:pPr>
            <a:r>
              <a:rPr lang="en-US" sz="1200" b="1" dirty="0">
                <a:solidFill>
                  <a:srgbClr val="C4621D"/>
                </a:solidFill>
                <a:latin typeface="Calibri" pitchFamily="34" charset="0"/>
                <a:ea typeface="Calibri" pitchFamily="34" charset="-122"/>
                <a:cs typeface="Calibri" pitchFamily="34" charset="-120"/>
              </a:rPr>
              <a:t>Environnements sûrs</a:t>
            </a:r>
            <a:endParaRPr lang="en-US" sz="1200" dirty="0"/>
          </a:p>
        </p:txBody>
      </p:sp>
      <p:sp>
        <p:nvSpPr>
          <p:cNvPr id="40" name="Text 34"/>
          <p:cNvSpPr txBox="1"/>
          <p:nvPr/>
        </p:nvSpPr>
        <p:spPr>
          <a:xfrm>
            <a:off x="3931920" y="2487168"/>
            <a:ext cx="1335024" cy="676656"/>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L'environnement empêche-t-il usage ou copie non autorisés ?</a:t>
            </a:r>
            <a:endParaRPr lang="en-US" sz="950" dirty="0"/>
          </a:p>
        </p:txBody>
      </p:sp>
      <p:sp>
        <p:nvSpPr>
          <p:cNvPr id="41" name="Shape 35"/>
          <p:cNvSpPr/>
          <p:nvPr/>
        </p:nvSpPr>
        <p:spPr>
          <a:xfrm>
            <a:off x="3931920" y="3200400"/>
            <a:ext cx="1335024" cy="0"/>
          </a:xfrm>
          <a:prstGeom prst="line">
            <a:avLst/>
          </a:prstGeom>
          <a:noFill/>
          <a:ln w="9525">
            <a:solidFill>
              <a:srgbClr val="D5DED9"/>
            </a:solidFill>
            <a:prstDash val="solid"/>
          </a:ln>
        </p:spPr>
      </p:sp>
      <p:sp>
        <p:nvSpPr>
          <p:cNvPr id="42" name="Text 36"/>
          <p:cNvSpPr txBox="1"/>
          <p:nvPr/>
        </p:nvSpPr>
        <p:spPr>
          <a:xfrm>
            <a:off x="3931920" y="3255264"/>
            <a:ext cx="1097280" cy="164592"/>
          </a:xfrm>
          <a:prstGeom prst="rect">
            <a:avLst/>
          </a:prstGeom>
          <a:noFill/>
          <a:ln/>
        </p:spPr>
        <p:txBody>
          <a:bodyPr wrap="square" lIns="0" tIns="0" rIns="0" bIns="0" rtlCol="0" anchor="t"/>
          <a:lstStyle/>
          <a:p>
            <a:pPr indent="0" marL="0">
              <a:buNone/>
            </a:pPr>
            <a:r>
              <a:rPr lang="en-US" sz="850" b="1" spc="100" kern="0" dirty="0">
                <a:solidFill>
                  <a:srgbClr val="00704A"/>
                </a:solidFill>
                <a:latin typeface="Calibri" pitchFamily="34" charset="0"/>
                <a:ea typeface="Calibri" pitchFamily="34" charset="-122"/>
                <a:cs typeface="Calibri" pitchFamily="34" charset="-120"/>
              </a:rPr>
              <a:t>AU GHANA</a:t>
            </a:r>
            <a:endParaRPr lang="en-US" sz="850" dirty="0"/>
          </a:p>
        </p:txBody>
      </p:sp>
      <p:sp>
        <p:nvSpPr>
          <p:cNvPr id="43" name="Text 37"/>
          <p:cNvSpPr txBox="1"/>
          <p:nvPr/>
        </p:nvSpPr>
        <p:spPr>
          <a:xfrm>
            <a:off x="3931920" y="3438144"/>
            <a:ext cx="1335024" cy="420624"/>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Traitement derrière le pare-feu de l'opérateur</a:t>
            </a:r>
            <a:endParaRPr lang="en-US" sz="900" dirty="0"/>
          </a:p>
        </p:txBody>
      </p:sp>
      <p:sp>
        <p:nvSpPr>
          <p:cNvPr id="44" name="Text 38"/>
          <p:cNvSpPr txBox="1"/>
          <p:nvPr/>
        </p:nvSpPr>
        <p:spPr>
          <a:xfrm>
            <a:off x="5376672" y="1828800"/>
            <a:ext cx="128016" cy="274320"/>
          </a:xfrm>
          <a:prstGeom prst="rect">
            <a:avLst/>
          </a:prstGeom>
          <a:noFill/>
          <a:ln/>
        </p:spPr>
        <p:txBody>
          <a:bodyPr wrap="square" lIns="0" tIns="0" rIns="0" bIns="0" rtlCol="0" anchor="ctr"/>
          <a:lstStyle/>
          <a:p>
            <a:pPr algn="ctr" indent="0" marL="0">
              <a:buNone/>
            </a:pPr>
            <a:r>
              <a:rPr lang="en-US" sz="1600" b="1" dirty="0">
                <a:solidFill>
                  <a:srgbClr val="C4621D"/>
                </a:solidFill>
                <a:latin typeface="Calibri" pitchFamily="34" charset="0"/>
                <a:ea typeface="Calibri" pitchFamily="34" charset="-122"/>
                <a:cs typeface="Calibri" pitchFamily="34" charset="-120"/>
              </a:rPr>
              <a:t>+</a:t>
            </a:r>
            <a:endParaRPr lang="en-US" sz="1600" dirty="0"/>
          </a:p>
        </p:txBody>
      </p:sp>
      <p:sp>
        <p:nvSpPr>
          <p:cNvPr id="45" name="Shape 39"/>
          <p:cNvSpPr/>
          <p:nvPr/>
        </p:nvSpPr>
        <p:spPr>
          <a:xfrm>
            <a:off x="5504688" y="1371600"/>
            <a:ext cx="1554480" cy="2514600"/>
          </a:xfrm>
          <a:prstGeom prst="roundRect">
            <a:avLst>
              <a:gd name="adj" fmla="val 4706"/>
            </a:avLst>
          </a:prstGeom>
          <a:solidFill>
            <a:srgbClr val="F4F7F5"/>
          </a:solidFill>
          <a:ln w="9525">
            <a:solidFill>
              <a:srgbClr val="D5DED9"/>
            </a:solidFill>
            <a:prstDash val="solid"/>
          </a:ln>
        </p:spPr>
      </p:sp>
      <p:sp>
        <p:nvSpPr>
          <p:cNvPr id="46" name="Shape 40"/>
          <p:cNvSpPr/>
          <p:nvPr/>
        </p:nvSpPr>
        <p:spPr>
          <a:xfrm>
            <a:off x="5961888" y="1481328"/>
            <a:ext cx="640080" cy="640080"/>
          </a:xfrm>
          <a:prstGeom prst="ellipse">
            <a:avLst/>
          </a:prstGeom>
          <a:solidFill>
            <a:srgbClr val="C4621D">
              <a:alpha val="22000"/>
            </a:srgbClr>
          </a:solidFill>
          <a:ln/>
        </p:spPr>
      </p:sp>
      <p:pic>
        <p:nvPicPr>
          <p:cNvPr id="47" name="Image 3" descr="preencoded.png">    </p:cNvPr>
          <p:cNvPicPr>
            <a:picLocks noChangeAspect="1"/>
          </p:cNvPicPr>
          <p:nvPr/>
        </p:nvPicPr>
        <p:blipFill>
          <a:blip r:embed="rId4"/>
          <a:stretch>
            <a:fillRect/>
          </a:stretch>
        </p:blipFill>
        <p:spPr>
          <a:xfrm>
            <a:off x="6121908" y="1641348"/>
            <a:ext cx="320040" cy="320040"/>
          </a:xfrm>
          <a:prstGeom prst="rect">
            <a:avLst/>
          </a:prstGeom>
        </p:spPr>
      </p:pic>
      <p:sp>
        <p:nvSpPr>
          <p:cNvPr id="48" name="Text 41"/>
          <p:cNvSpPr txBox="1"/>
          <p:nvPr/>
        </p:nvSpPr>
        <p:spPr>
          <a:xfrm>
            <a:off x="5541264" y="2194560"/>
            <a:ext cx="1481328" cy="274320"/>
          </a:xfrm>
          <a:prstGeom prst="rect">
            <a:avLst/>
          </a:prstGeom>
          <a:noFill/>
          <a:ln/>
        </p:spPr>
        <p:txBody>
          <a:bodyPr wrap="square" lIns="0" tIns="0" rIns="0" bIns="0" rtlCol="0" anchor="t"/>
          <a:lstStyle/>
          <a:p>
            <a:pPr algn="ctr" indent="0" marL="0">
              <a:buNone/>
            </a:pPr>
            <a:r>
              <a:rPr lang="en-US" sz="1200" b="1" dirty="0">
                <a:solidFill>
                  <a:srgbClr val="C4621D"/>
                </a:solidFill>
                <a:latin typeface="Calibri" pitchFamily="34" charset="0"/>
                <a:ea typeface="Calibri" pitchFamily="34" charset="-122"/>
                <a:cs typeface="Calibri" pitchFamily="34" charset="-120"/>
              </a:rPr>
              <a:t>Données sûres</a:t>
            </a:r>
            <a:endParaRPr lang="en-US" sz="1200" dirty="0"/>
          </a:p>
        </p:txBody>
      </p:sp>
      <p:sp>
        <p:nvSpPr>
          <p:cNvPr id="49" name="Text 42"/>
          <p:cNvSpPr txBox="1"/>
          <p:nvPr/>
        </p:nvSpPr>
        <p:spPr>
          <a:xfrm>
            <a:off x="5614416" y="2487168"/>
            <a:ext cx="1335024" cy="676656"/>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Les données sont-elles minimisées, pseudonymisées ou agrégées ?</a:t>
            </a:r>
            <a:endParaRPr lang="en-US" sz="950" dirty="0"/>
          </a:p>
        </p:txBody>
      </p:sp>
      <p:sp>
        <p:nvSpPr>
          <p:cNvPr id="50" name="Shape 43"/>
          <p:cNvSpPr/>
          <p:nvPr/>
        </p:nvSpPr>
        <p:spPr>
          <a:xfrm>
            <a:off x="5614416" y="3200400"/>
            <a:ext cx="1335024" cy="0"/>
          </a:xfrm>
          <a:prstGeom prst="line">
            <a:avLst/>
          </a:prstGeom>
          <a:noFill/>
          <a:ln w="9525">
            <a:solidFill>
              <a:srgbClr val="D5DED9"/>
            </a:solidFill>
            <a:prstDash val="solid"/>
          </a:ln>
        </p:spPr>
      </p:sp>
      <p:sp>
        <p:nvSpPr>
          <p:cNvPr id="51" name="Text 44"/>
          <p:cNvSpPr txBox="1"/>
          <p:nvPr/>
        </p:nvSpPr>
        <p:spPr>
          <a:xfrm>
            <a:off x="5614416" y="3255264"/>
            <a:ext cx="1097280" cy="164592"/>
          </a:xfrm>
          <a:prstGeom prst="rect">
            <a:avLst/>
          </a:prstGeom>
          <a:noFill/>
          <a:ln/>
        </p:spPr>
        <p:txBody>
          <a:bodyPr wrap="square" lIns="0" tIns="0" rIns="0" bIns="0" rtlCol="0" anchor="t"/>
          <a:lstStyle/>
          <a:p>
            <a:pPr indent="0" marL="0">
              <a:buNone/>
            </a:pPr>
            <a:r>
              <a:rPr lang="en-US" sz="850" b="1" spc="100" kern="0" dirty="0">
                <a:solidFill>
                  <a:srgbClr val="00704A"/>
                </a:solidFill>
                <a:latin typeface="Calibri" pitchFamily="34" charset="0"/>
                <a:ea typeface="Calibri" pitchFamily="34" charset="-122"/>
                <a:cs typeface="Calibri" pitchFamily="34" charset="-120"/>
              </a:rPr>
              <a:t>AU GHANA</a:t>
            </a:r>
            <a:endParaRPr lang="en-US" sz="850" dirty="0"/>
          </a:p>
        </p:txBody>
      </p:sp>
      <p:sp>
        <p:nvSpPr>
          <p:cNvPr id="52" name="Text 45"/>
          <p:cNvSpPr txBox="1"/>
          <p:nvPr/>
        </p:nvSpPr>
        <p:spPr>
          <a:xfrm>
            <a:off x="5614416" y="3438144"/>
            <a:ext cx="1335024" cy="420624"/>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Données pseudonymisées, qui ne quittent pas l'opérateur</a:t>
            </a:r>
            <a:endParaRPr lang="en-US" sz="900" dirty="0"/>
          </a:p>
        </p:txBody>
      </p:sp>
      <p:sp>
        <p:nvSpPr>
          <p:cNvPr id="53" name="Text 46"/>
          <p:cNvSpPr txBox="1"/>
          <p:nvPr/>
        </p:nvSpPr>
        <p:spPr>
          <a:xfrm>
            <a:off x="7059168" y="1828800"/>
            <a:ext cx="128016" cy="274320"/>
          </a:xfrm>
          <a:prstGeom prst="rect">
            <a:avLst/>
          </a:prstGeom>
          <a:noFill/>
          <a:ln/>
        </p:spPr>
        <p:txBody>
          <a:bodyPr wrap="square" lIns="0" tIns="0" rIns="0" bIns="0" rtlCol="0" anchor="ctr"/>
          <a:lstStyle/>
          <a:p>
            <a:pPr algn="ctr" indent="0" marL="0">
              <a:buNone/>
            </a:pPr>
            <a:r>
              <a:rPr lang="en-US" sz="1600" b="1" dirty="0">
                <a:solidFill>
                  <a:srgbClr val="C4621D"/>
                </a:solidFill>
                <a:latin typeface="Calibri" pitchFamily="34" charset="0"/>
                <a:ea typeface="Calibri" pitchFamily="34" charset="-122"/>
                <a:cs typeface="Calibri" pitchFamily="34" charset="-120"/>
              </a:rPr>
              <a:t>+</a:t>
            </a:r>
            <a:endParaRPr lang="en-US" sz="1600" dirty="0"/>
          </a:p>
        </p:txBody>
      </p:sp>
      <p:sp>
        <p:nvSpPr>
          <p:cNvPr id="54" name="Shape 47"/>
          <p:cNvSpPr/>
          <p:nvPr/>
        </p:nvSpPr>
        <p:spPr>
          <a:xfrm>
            <a:off x="7187184" y="1371600"/>
            <a:ext cx="1554480" cy="2514600"/>
          </a:xfrm>
          <a:prstGeom prst="roundRect">
            <a:avLst>
              <a:gd name="adj" fmla="val 4706"/>
            </a:avLst>
          </a:prstGeom>
          <a:solidFill>
            <a:srgbClr val="F4F7F5"/>
          </a:solidFill>
          <a:ln w="9525">
            <a:solidFill>
              <a:srgbClr val="D5DED9"/>
            </a:solidFill>
            <a:prstDash val="solid"/>
          </a:ln>
        </p:spPr>
      </p:sp>
      <p:sp>
        <p:nvSpPr>
          <p:cNvPr id="55" name="Shape 48"/>
          <p:cNvSpPr/>
          <p:nvPr/>
        </p:nvSpPr>
        <p:spPr>
          <a:xfrm>
            <a:off x="7644384" y="1481328"/>
            <a:ext cx="640080" cy="640080"/>
          </a:xfrm>
          <a:prstGeom prst="ellipse">
            <a:avLst/>
          </a:prstGeom>
          <a:solidFill>
            <a:srgbClr val="C4621D">
              <a:alpha val="22000"/>
            </a:srgbClr>
          </a:solidFill>
          <a:ln/>
        </p:spPr>
      </p:sp>
      <p:pic>
        <p:nvPicPr>
          <p:cNvPr id="56" name="Image 4" descr="preencoded.png">    </p:cNvPr>
          <p:cNvPicPr>
            <a:picLocks noChangeAspect="1"/>
          </p:cNvPicPr>
          <p:nvPr/>
        </p:nvPicPr>
        <p:blipFill>
          <a:blip r:embed="rId5"/>
          <a:stretch>
            <a:fillRect/>
          </a:stretch>
        </p:blipFill>
        <p:spPr>
          <a:xfrm>
            <a:off x="7804404" y="1641348"/>
            <a:ext cx="320040" cy="320040"/>
          </a:xfrm>
          <a:prstGeom prst="rect">
            <a:avLst/>
          </a:prstGeom>
        </p:spPr>
      </p:pic>
      <p:sp>
        <p:nvSpPr>
          <p:cNvPr id="57" name="Text 49"/>
          <p:cNvSpPr txBox="1"/>
          <p:nvPr/>
        </p:nvSpPr>
        <p:spPr>
          <a:xfrm>
            <a:off x="7223760" y="2194560"/>
            <a:ext cx="1481328" cy="274320"/>
          </a:xfrm>
          <a:prstGeom prst="rect">
            <a:avLst/>
          </a:prstGeom>
          <a:noFill/>
          <a:ln/>
        </p:spPr>
        <p:txBody>
          <a:bodyPr wrap="square" lIns="0" tIns="0" rIns="0" bIns="0" rtlCol="0" anchor="t"/>
          <a:lstStyle/>
          <a:p>
            <a:pPr algn="ctr" indent="0" marL="0">
              <a:buNone/>
            </a:pPr>
            <a:r>
              <a:rPr lang="en-US" sz="1200" b="1" dirty="0">
                <a:solidFill>
                  <a:srgbClr val="C4621D"/>
                </a:solidFill>
                <a:latin typeface="Calibri" pitchFamily="34" charset="0"/>
                <a:ea typeface="Calibri" pitchFamily="34" charset="-122"/>
                <a:cs typeface="Calibri" pitchFamily="34" charset="-120"/>
              </a:rPr>
              <a:t>Résultats sûrs</a:t>
            </a:r>
            <a:endParaRPr lang="en-US" sz="1200" dirty="0"/>
          </a:p>
        </p:txBody>
      </p:sp>
      <p:sp>
        <p:nvSpPr>
          <p:cNvPr id="58" name="Text 50"/>
          <p:cNvSpPr txBox="1"/>
          <p:nvPr/>
        </p:nvSpPr>
        <p:spPr>
          <a:xfrm>
            <a:off x="7296912" y="2487168"/>
            <a:ext cx="1335024" cy="676656"/>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Les résultats sont-ils contrôlés avant diffusion ?</a:t>
            </a:r>
            <a:endParaRPr lang="en-US" sz="950" dirty="0"/>
          </a:p>
        </p:txBody>
      </p:sp>
      <p:sp>
        <p:nvSpPr>
          <p:cNvPr id="59" name="Shape 51"/>
          <p:cNvSpPr/>
          <p:nvPr/>
        </p:nvSpPr>
        <p:spPr>
          <a:xfrm>
            <a:off x="7296912" y="3200400"/>
            <a:ext cx="1335024" cy="0"/>
          </a:xfrm>
          <a:prstGeom prst="line">
            <a:avLst/>
          </a:prstGeom>
          <a:noFill/>
          <a:ln w="9525">
            <a:solidFill>
              <a:srgbClr val="D5DED9"/>
            </a:solidFill>
            <a:prstDash val="solid"/>
          </a:ln>
        </p:spPr>
      </p:sp>
      <p:sp>
        <p:nvSpPr>
          <p:cNvPr id="60" name="Text 52"/>
          <p:cNvSpPr txBox="1"/>
          <p:nvPr/>
        </p:nvSpPr>
        <p:spPr>
          <a:xfrm>
            <a:off x="7296912" y="3255264"/>
            <a:ext cx="1097280" cy="164592"/>
          </a:xfrm>
          <a:prstGeom prst="rect">
            <a:avLst/>
          </a:prstGeom>
          <a:noFill/>
          <a:ln/>
        </p:spPr>
        <p:txBody>
          <a:bodyPr wrap="square" lIns="0" tIns="0" rIns="0" bIns="0" rtlCol="0" anchor="t"/>
          <a:lstStyle/>
          <a:p>
            <a:pPr indent="0" marL="0">
              <a:buNone/>
            </a:pPr>
            <a:r>
              <a:rPr lang="en-US" sz="850" b="1" spc="100" kern="0" dirty="0">
                <a:solidFill>
                  <a:srgbClr val="00704A"/>
                </a:solidFill>
                <a:latin typeface="Calibri" pitchFamily="34" charset="0"/>
                <a:ea typeface="Calibri" pitchFamily="34" charset="-122"/>
                <a:cs typeface="Calibri" pitchFamily="34" charset="-120"/>
              </a:rPr>
              <a:t>AU GHANA</a:t>
            </a:r>
            <a:endParaRPr lang="en-US" sz="850" dirty="0"/>
          </a:p>
        </p:txBody>
      </p:sp>
      <p:sp>
        <p:nvSpPr>
          <p:cNvPr id="61" name="Text 53"/>
          <p:cNvSpPr txBox="1"/>
          <p:nvPr/>
        </p:nvSpPr>
        <p:spPr>
          <a:xfrm>
            <a:off x="7296912" y="3438144"/>
            <a:ext cx="1335024" cy="420624"/>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Seuls des indicateurs agrégés sont exportés</a:t>
            </a:r>
            <a:endParaRPr lang="en-US" sz="900" dirty="0"/>
          </a:p>
        </p:txBody>
      </p:sp>
      <p:sp>
        <p:nvSpPr>
          <p:cNvPr id="62" name="Shape 54"/>
          <p:cNvSpPr/>
          <p:nvPr/>
        </p:nvSpPr>
        <p:spPr>
          <a:xfrm>
            <a:off x="457200" y="4023360"/>
            <a:ext cx="8229600" cy="512064"/>
          </a:xfrm>
          <a:prstGeom prst="roundRect">
            <a:avLst>
              <a:gd name="adj" fmla="val 10714"/>
            </a:avLst>
          </a:prstGeom>
          <a:solidFill>
            <a:srgbClr val="C4621D">
              <a:alpha val="13000"/>
            </a:srgbClr>
          </a:solidFill>
          <a:ln w="12700">
            <a:solidFill>
              <a:srgbClr val="C4621D"/>
            </a:solidFill>
            <a:prstDash val="solid"/>
          </a:ln>
        </p:spPr>
      </p:sp>
      <p:pic>
        <p:nvPicPr>
          <p:cNvPr id="63" name="Image 5" descr="preencoded.png">    </p:cNvPr>
          <p:cNvPicPr>
            <a:picLocks noChangeAspect="1"/>
          </p:cNvPicPr>
          <p:nvPr/>
        </p:nvPicPr>
        <p:blipFill>
          <a:blip r:embed="rId6"/>
          <a:stretch>
            <a:fillRect/>
          </a:stretch>
        </p:blipFill>
        <p:spPr>
          <a:xfrm>
            <a:off x="585216" y="4142232"/>
            <a:ext cx="274320" cy="274320"/>
          </a:xfrm>
          <a:prstGeom prst="rect">
            <a:avLst/>
          </a:prstGeom>
        </p:spPr>
      </p:pic>
      <p:sp>
        <p:nvSpPr>
          <p:cNvPr id="64" name="Text 55"/>
          <p:cNvSpPr txBox="1"/>
          <p:nvPr/>
        </p:nvSpPr>
        <p:spPr>
          <a:xfrm>
            <a:off x="987552" y="4078224"/>
            <a:ext cx="7571232" cy="402336"/>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Les contrôles se compensent : des données plus riches ne sont acceptables que dans un environnement plus sûr, avec des personnes formées et un contrôle des résultats.</a:t>
            </a:r>
            <a:endParaRPr lang="en-US" sz="1100" dirty="0"/>
          </a:p>
        </p:txBody>
      </p:sp>
      <p:sp>
        <p:nvSpPr>
          <p:cNvPr id="65" name="Text 56"/>
          <p:cNvSpPr txBox="1"/>
          <p:nvPr/>
        </p:nvSpPr>
        <p:spPr>
          <a:xfrm>
            <a:off x="457200" y="4626864"/>
            <a:ext cx="749808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Source : Desai, T., Ritchie, F. et Welpton, R. (2016), « Five Safes: designing data access for research », UWE Economics Working Paper 1601.</a:t>
            </a:r>
            <a:endParaRPr lang="en-US" sz="850" dirty="0"/>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05 · ÉTHIQUE ET CONFIDENTIALITÉ</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Les questions éthiques : avant, pendant, après</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Assez courtes pour chaque revue de projet ; assez fortes pour arrêter un mauvais projet.</a:t>
            </a:r>
            <a:endParaRPr lang="en-US" sz="1150" dirty="0"/>
          </a:p>
        </p:txBody>
      </p:sp>
      <p:sp>
        <p:nvSpPr>
          <p:cNvPr id="9" name="Shape 7"/>
          <p:cNvSpPr/>
          <p:nvPr/>
        </p:nvSpPr>
        <p:spPr>
          <a:xfrm>
            <a:off x="7662672" y="329184"/>
            <a:ext cx="100584" cy="100584"/>
          </a:xfrm>
          <a:prstGeom prst="ellipse">
            <a:avLst/>
          </a:prstGeom>
          <a:solidFill>
            <a:srgbClr val="D5DED9"/>
          </a:solidFill>
          <a:ln/>
        </p:spPr>
      </p:sp>
      <p:sp>
        <p:nvSpPr>
          <p:cNvPr id="10" name="Shape 8"/>
          <p:cNvSpPr/>
          <p:nvPr/>
        </p:nvSpPr>
        <p:spPr>
          <a:xfrm>
            <a:off x="7845552" y="329184"/>
            <a:ext cx="100584" cy="100584"/>
          </a:xfrm>
          <a:prstGeom prst="ellipse">
            <a:avLst/>
          </a:prstGeom>
          <a:solidFill>
            <a:srgbClr val="D5DED9"/>
          </a:solidFill>
          <a:ln/>
        </p:spPr>
      </p:sp>
      <p:sp>
        <p:nvSpPr>
          <p:cNvPr id="11" name="Shape 9"/>
          <p:cNvSpPr/>
          <p:nvPr/>
        </p:nvSpPr>
        <p:spPr>
          <a:xfrm>
            <a:off x="8028432" y="329184"/>
            <a:ext cx="100584" cy="100584"/>
          </a:xfrm>
          <a:prstGeom prst="ellipse">
            <a:avLst/>
          </a:prstGeom>
          <a:solidFill>
            <a:srgbClr val="D5DED9"/>
          </a:solidFill>
          <a:ln/>
        </p:spPr>
      </p:sp>
      <p:sp>
        <p:nvSpPr>
          <p:cNvPr id="12" name="Shape 10"/>
          <p:cNvSpPr/>
          <p:nvPr/>
        </p:nvSpPr>
        <p:spPr>
          <a:xfrm>
            <a:off x="8211312" y="329184"/>
            <a:ext cx="100584" cy="100584"/>
          </a:xfrm>
          <a:prstGeom prst="ellipse">
            <a:avLst/>
          </a:prstGeom>
          <a:solidFill>
            <a:srgbClr val="D5DED9"/>
          </a:solidFill>
          <a:ln/>
        </p:spPr>
      </p:sp>
      <p:sp>
        <p:nvSpPr>
          <p:cNvPr id="13" name="Shape 11"/>
          <p:cNvSpPr/>
          <p:nvPr/>
        </p:nvSpPr>
        <p:spPr>
          <a:xfrm>
            <a:off x="8394192" y="329184"/>
            <a:ext cx="100584" cy="100584"/>
          </a:xfrm>
          <a:prstGeom prst="ellipse">
            <a:avLst/>
          </a:prstGeom>
          <a:solidFill>
            <a:srgbClr val="C4621D"/>
          </a:solidFill>
          <a:ln/>
        </p:spPr>
      </p:sp>
      <p:sp>
        <p:nvSpPr>
          <p:cNvPr id="14" name="Shape 12"/>
          <p:cNvSpPr/>
          <p:nvPr/>
        </p:nvSpPr>
        <p:spPr>
          <a:xfrm>
            <a:off x="8577072" y="329184"/>
            <a:ext cx="100584" cy="100584"/>
          </a:xfrm>
          <a:prstGeom prst="ellipse">
            <a:avLst/>
          </a:prstGeom>
          <a:solidFill>
            <a:srgbClr val="D5DED9"/>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Sources de données non traditionnelles · Le trésor caché · Atelier STG17</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34</a:t>
            </a:r>
            <a:endParaRPr lang="en-US" sz="850" dirty="0"/>
          </a:p>
        </p:txBody>
      </p:sp>
      <p:sp>
        <p:nvSpPr>
          <p:cNvPr id="18" name="Shape 15"/>
          <p:cNvSpPr/>
          <p:nvPr/>
        </p:nvSpPr>
        <p:spPr>
          <a:xfrm>
            <a:off x="457200" y="1325880"/>
            <a:ext cx="2615184" cy="3200400"/>
          </a:xfrm>
          <a:prstGeom prst="roundRect">
            <a:avLst>
              <a:gd name="adj" fmla="val 2797"/>
            </a:avLst>
          </a:prstGeom>
          <a:solidFill>
            <a:srgbClr val="F4F7F5"/>
          </a:solidFill>
          <a:ln w="9525">
            <a:solidFill>
              <a:srgbClr val="D5DED9"/>
            </a:solidFill>
            <a:prstDash val="solid"/>
          </a:ln>
        </p:spPr>
      </p:sp>
      <p:sp>
        <p:nvSpPr>
          <p:cNvPr id="19" name="Shape 16"/>
          <p:cNvSpPr/>
          <p:nvPr/>
        </p:nvSpPr>
        <p:spPr>
          <a:xfrm>
            <a:off x="594360" y="1463040"/>
            <a:ext cx="960120" cy="274320"/>
          </a:xfrm>
          <a:prstGeom prst="roundRect">
            <a:avLst>
              <a:gd name="adj" fmla="val 50000"/>
            </a:avLst>
          </a:prstGeom>
          <a:solidFill>
            <a:srgbClr val="C4621D"/>
          </a:solidFill>
          <a:ln/>
        </p:spPr>
      </p:sp>
      <p:sp>
        <p:nvSpPr>
          <p:cNvPr id="20" name="Text 17"/>
          <p:cNvSpPr txBox="1"/>
          <p:nvPr/>
        </p:nvSpPr>
        <p:spPr>
          <a:xfrm>
            <a:off x="594360" y="1463040"/>
            <a:ext cx="960120" cy="274320"/>
          </a:xfrm>
          <a:prstGeom prst="rect">
            <a:avLst/>
          </a:prstGeom>
          <a:noFill/>
          <a:ln/>
        </p:spPr>
        <p:txBody>
          <a:bodyPr wrap="square" lIns="0" tIns="0" rIns="0" bIns="0" rtlCol="0" anchor="ctr"/>
          <a:lstStyle/>
          <a:p>
            <a:pPr algn="ctr" indent="0" marL="0">
              <a:buNone/>
            </a:pPr>
            <a:r>
              <a:rPr lang="en-US" sz="950" b="1" spc="200" kern="0" dirty="0">
                <a:solidFill>
                  <a:srgbClr val="FFFFFF"/>
                </a:solidFill>
                <a:latin typeface="Calibri" pitchFamily="34" charset="0"/>
                <a:ea typeface="Calibri" pitchFamily="34" charset="-122"/>
                <a:cs typeface="Calibri" pitchFamily="34" charset="-120"/>
              </a:rPr>
              <a:t>AVANT</a:t>
            </a:r>
            <a:endParaRPr lang="en-US" sz="950" dirty="0"/>
          </a:p>
        </p:txBody>
      </p:sp>
      <p:sp>
        <p:nvSpPr>
          <p:cNvPr id="21" name="Text 18"/>
          <p:cNvSpPr txBox="1"/>
          <p:nvPr/>
        </p:nvSpPr>
        <p:spPr>
          <a:xfrm>
            <a:off x="1627632" y="1463040"/>
            <a:ext cx="1417320" cy="274320"/>
          </a:xfrm>
          <a:prstGeom prst="rect">
            <a:avLst/>
          </a:prstGeom>
          <a:noFill/>
          <a:ln/>
        </p:spPr>
        <p:txBody>
          <a:bodyPr wrap="square" lIns="0" tIns="0" rIns="0" bIns="0" rtlCol="0" anchor="ctr"/>
          <a:lstStyle/>
          <a:p>
            <a:pPr indent="0" marL="0">
              <a:buNone/>
            </a:pPr>
            <a:r>
              <a:rPr lang="en-US" sz="1150" b="1" dirty="0">
                <a:solidFill>
                  <a:srgbClr val="C4621D"/>
                </a:solidFill>
                <a:latin typeface="Calibri" pitchFamily="34" charset="0"/>
                <a:ea typeface="Calibri" pitchFamily="34" charset="-122"/>
                <a:cs typeface="Calibri" pitchFamily="34" charset="-120"/>
              </a:rPr>
              <a:t>Conception et accès</a:t>
            </a:r>
            <a:endParaRPr lang="en-US" sz="1150" dirty="0"/>
          </a:p>
        </p:txBody>
      </p:sp>
      <p:pic>
        <p:nvPicPr>
          <p:cNvPr id="22" name="Image 0" descr="preencoded.png">    </p:cNvPr>
          <p:cNvPicPr>
            <a:picLocks noChangeAspect="1"/>
          </p:cNvPicPr>
          <p:nvPr/>
        </p:nvPicPr>
        <p:blipFill>
          <a:blip r:embed="rId1"/>
          <a:stretch>
            <a:fillRect/>
          </a:stretch>
        </p:blipFill>
        <p:spPr>
          <a:xfrm>
            <a:off x="612648" y="1956816"/>
            <a:ext cx="182880" cy="182880"/>
          </a:xfrm>
          <a:prstGeom prst="rect">
            <a:avLst/>
          </a:prstGeom>
        </p:spPr>
      </p:pic>
      <p:sp>
        <p:nvSpPr>
          <p:cNvPr id="23" name="Text 19"/>
          <p:cNvSpPr txBox="1"/>
          <p:nvPr/>
        </p:nvSpPr>
        <p:spPr>
          <a:xfrm>
            <a:off x="886968" y="1920240"/>
            <a:ext cx="2084832" cy="566928"/>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La finalité d'intérêt public est-elle claire ?</a:t>
            </a:r>
            <a:endParaRPr lang="en-US" sz="1050" dirty="0"/>
          </a:p>
        </p:txBody>
      </p:sp>
      <p:pic>
        <p:nvPicPr>
          <p:cNvPr id="24" name="Image 1" descr="preencoded.png">    </p:cNvPr>
          <p:cNvPicPr>
            <a:picLocks noChangeAspect="1"/>
          </p:cNvPicPr>
          <p:nvPr/>
        </p:nvPicPr>
        <p:blipFill>
          <a:blip r:embed="rId2"/>
          <a:stretch>
            <a:fillRect/>
          </a:stretch>
        </p:blipFill>
        <p:spPr>
          <a:xfrm>
            <a:off x="612648" y="2596896"/>
            <a:ext cx="182880" cy="182880"/>
          </a:xfrm>
          <a:prstGeom prst="rect">
            <a:avLst/>
          </a:prstGeom>
        </p:spPr>
      </p:pic>
      <p:sp>
        <p:nvSpPr>
          <p:cNvPr id="25" name="Text 20"/>
          <p:cNvSpPr txBox="1"/>
          <p:nvPr/>
        </p:nvSpPr>
        <p:spPr>
          <a:xfrm>
            <a:off x="886968" y="2560320"/>
            <a:ext cx="2084832" cy="566928"/>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Quelle base légale, et qui l'a validée ?</a:t>
            </a:r>
            <a:endParaRPr lang="en-US" sz="1050" dirty="0"/>
          </a:p>
        </p:txBody>
      </p:sp>
      <p:pic>
        <p:nvPicPr>
          <p:cNvPr id="26" name="Image 2" descr="preencoded.png">    </p:cNvPr>
          <p:cNvPicPr>
            <a:picLocks noChangeAspect="1"/>
          </p:cNvPicPr>
          <p:nvPr/>
        </p:nvPicPr>
        <p:blipFill>
          <a:blip r:embed="rId3"/>
          <a:stretch>
            <a:fillRect/>
          </a:stretch>
        </p:blipFill>
        <p:spPr>
          <a:xfrm>
            <a:off x="612648" y="3236976"/>
            <a:ext cx="182880" cy="182880"/>
          </a:xfrm>
          <a:prstGeom prst="rect">
            <a:avLst/>
          </a:prstGeom>
        </p:spPr>
      </p:pic>
      <p:sp>
        <p:nvSpPr>
          <p:cNvPr id="27" name="Text 21"/>
          <p:cNvSpPr txBox="1"/>
          <p:nvPr/>
        </p:nvSpPr>
        <p:spPr>
          <a:xfrm>
            <a:off x="886968" y="3200400"/>
            <a:ext cx="2084832" cy="566928"/>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Les personnes concernées jugeraient-elles l'usage raisonnable ?</a:t>
            </a:r>
            <a:endParaRPr lang="en-US" sz="1050" dirty="0"/>
          </a:p>
        </p:txBody>
      </p:sp>
      <p:pic>
        <p:nvPicPr>
          <p:cNvPr id="28" name="Image 3" descr="preencoded.png">    </p:cNvPr>
          <p:cNvPicPr>
            <a:picLocks noChangeAspect="1"/>
          </p:cNvPicPr>
          <p:nvPr/>
        </p:nvPicPr>
        <p:blipFill>
          <a:blip r:embed="rId4"/>
          <a:stretch>
            <a:fillRect/>
          </a:stretch>
        </p:blipFill>
        <p:spPr>
          <a:xfrm>
            <a:off x="612648" y="3877056"/>
            <a:ext cx="182880" cy="182880"/>
          </a:xfrm>
          <a:prstGeom prst="rect">
            <a:avLst/>
          </a:prstGeom>
        </p:spPr>
      </p:pic>
      <p:sp>
        <p:nvSpPr>
          <p:cNvPr id="29" name="Text 22"/>
          <p:cNvSpPr txBox="1"/>
          <p:nvPr/>
        </p:nvSpPr>
        <p:spPr>
          <a:xfrm>
            <a:off x="886968" y="3840480"/>
            <a:ext cx="2084832" cy="566928"/>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Existe-t-il une source moins intrusive ?</a:t>
            </a:r>
            <a:endParaRPr lang="en-US" sz="1050" dirty="0"/>
          </a:p>
        </p:txBody>
      </p:sp>
      <p:sp>
        <p:nvSpPr>
          <p:cNvPr id="30" name="Shape 23"/>
          <p:cNvSpPr/>
          <p:nvPr/>
        </p:nvSpPr>
        <p:spPr>
          <a:xfrm>
            <a:off x="3264408" y="1325880"/>
            <a:ext cx="2615184" cy="3200400"/>
          </a:xfrm>
          <a:prstGeom prst="roundRect">
            <a:avLst>
              <a:gd name="adj" fmla="val 2797"/>
            </a:avLst>
          </a:prstGeom>
          <a:solidFill>
            <a:srgbClr val="F4F7F5"/>
          </a:solidFill>
          <a:ln w="9525">
            <a:solidFill>
              <a:srgbClr val="D5DED9"/>
            </a:solidFill>
            <a:prstDash val="solid"/>
          </a:ln>
        </p:spPr>
      </p:sp>
      <p:sp>
        <p:nvSpPr>
          <p:cNvPr id="31" name="Shape 24"/>
          <p:cNvSpPr/>
          <p:nvPr/>
        </p:nvSpPr>
        <p:spPr>
          <a:xfrm>
            <a:off x="3401568" y="1463040"/>
            <a:ext cx="960120" cy="274320"/>
          </a:xfrm>
          <a:prstGeom prst="roundRect">
            <a:avLst>
              <a:gd name="adj" fmla="val 50000"/>
            </a:avLst>
          </a:prstGeom>
          <a:solidFill>
            <a:srgbClr val="C4621D"/>
          </a:solidFill>
          <a:ln/>
        </p:spPr>
      </p:sp>
      <p:sp>
        <p:nvSpPr>
          <p:cNvPr id="32" name="Text 25"/>
          <p:cNvSpPr txBox="1"/>
          <p:nvPr/>
        </p:nvSpPr>
        <p:spPr>
          <a:xfrm>
            <a:off x="3401568" y="1463040"/>
            <a:ext cx="960120" cy="274320"/>
          </a:xfrm>
          <a:prstGeom prst="rect">
            <a:avLst/>
          </a:prstGeom>
          <a:noFill/>
          <a:ln/>
        </p:spPr>
        <p:txBody>
          <a:bodyPr wrap="square" lIns="0" tIns="0" rIns="0" bIns="0" rtlCol="0" anchor="ctr"/>
          <a:lstStyle/>
          <a:p>
            <a:pPr algn="ctr" indent="0" marL="0">
              <a:buNone/>
            </a:pPr>
            <a:r>
              <a:rPr lang="en-US" sz="950" b="1" spc="200" kern="0" dirty="0">
                <a:solidFill>
                  <a:srgbClr val="FFFFFF"/>
                </a:solidFill>
                <a:latin typeface="Calibri" pitchFamily="34" charset="0"/>
                <a:ea typeface="Calibri" pitchFamily="34" charset="-122"/>
                <a:cs typeface="Calibri" pitchFamily="34" charset="-120"/>
              </a:rPr>
              <a:t>PENDANT</a:t>
            </a:r>
            <a:endParaRPr lang="en-US" sz="950" dirty="0"/>
          </a:p>
        </p:txBody>
      </p:sp>
      <p:sp>
        <p:nvSpPr>
          <p:cNvPr id="33" name="Text 26"/>
          <p:cNvSpPr txBox="1"/>
          <p:nvPr/>
        </p:nvSpPr>
        <p:spPr>
          <a:xfrm>
            <a:off x="4434840" y="1463040"/>
            <a:ext cx="1417320" cy="274320"/>
          </a:xfrm>
          <a:prstGeom prst="rect">
            <a:avLst/>
          </a:prstGeom>
          <a:noFill/>
          <a:ln/>
        </p:spPr>
        <p:txBody>
          <a:bodyPr wrap="square" lIns="0" tIns="0" rIns="0" bIns="0" rtlCol="0" anchor="ctr"/>
          <a:lstStyle/>
          <a:p>
            <a:pPr indent="0" marL="0">
              <a:buNone/>
            </a:pPr>
            <a:r>
              <a:rPr lang="en-US" sz="1150" b="1" dirty="0">
                <a:solidFill>
                  <a:srgbClr val="C4621D"/>
                </a:solidFill>
                <a:latin typeface="Calibri" pitchFamily="34" charset="0"/>
                <a:ea typeface="Calibri" pitchFamily="34" charset="-122"/>
                <a:cs typeface="Calibri" pitchFamily="34" charset="-120"/>
              </a:rPr>
              <a:t>Traitement</a:t>
            </a:r>
            <a:endParaRPr lang="en-US" sz="1150" dirty="0"/>
          </a:p>
        </p:txBody>
      </p:sp>
      <p:pic>
        <p:nvPicPr>
          <p:cNvPr id="34" name="Image 4" descr="preencoded.png">    </p:cNvPr>
          <p:cNvPicPr>
            <a:picLocks noChangeAspect="1"/>
          </p:cNvPicPr>
          <p:nvPr/>
        </p:nvPicPr>
        <p:blipFill>
          <a:blip r:embed="rId5"/>
          <a:stretch>
            <a:fillRect/>
          </a:stretch>
        </p:blipFill>
        <p:spPr>
          <a:xfrm>
            <a:off x="3419856" y="1956816"/>
            <a:ext cx="182880" cy="182880"/>
          </a:xfrm>
          <a:prstGeom prst="rect">
            <a:avLst/>
          </a:prstGeom>
        </p:spPr>
      </p:pic>
      <p:sp>
        <p:nvSpPr>
          <p:cNvPr id="35" name="Text 27"/>
          <p:cNvSpPr txBox="1"/>
          <p:nvPr/>
        </p:nvSpPr>
        <p:spPr>
          <a:xfrm>
            <a:off x="3694176" y="1920240"/>
            <a:ext cx="2084832" cy="566928"/>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Les données sont-elles minimisées et agrégées au plus tôt ?</a:t>
            </a:r>
            <a:endParaRPr lang="en-US" sz="1050" dirty="0"/>
          </a:p>
        </p:txBody>
      </p:sp>
      <p:pic>
        <p:nvPicPr>
          <p:cNvPr id="36" name="Image 5" descr="preencoded.png">    </p:cNvPr>
          <p:cNvPicPr>
            <a:picLocks noChangeAspect="1"/>
          </p:cNvPicPr>
          <p:nvPr/>
        </p:nvPicPr>
        <p:blipFill>
          <a:blip r:embed="rId6"/>
          <a:stretch>
            <a:fillRect/>
          </a:stretch>
        </p:blipFill>
        <p:spPr>
          <a:xfrm>
            <a:off x="3419856" y="2596896"/>
            <a:ext cx="182880" cy="182880"/>
          </a:xfrm>
          <a:prstGeom prst="rect">
            <a:avLst/>
          </a:prstGeom>
        </p:spPr>
      </p:pic>
      <p:sp>
        <p:nvSpPr>
          <p:cNvPr id="37" name="Text 28"/>
          <p:cNvSpPr txBox="1"/>
          <p:nvPr/>
        </p:nvSpPr>
        <p:spPr>
          <a:xfrm>
            <a:off x="3694176" y="2560320"/>
            <a:ext cx="2084832" cy="566928"/>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Qui voit quoi, où, et est-ce tracé ?</a:t>
            </a:r>
            <a:endParaRPr lang="en-US" sz="1050" dirty="0"/>
          </a:p>
        </p:txBody>
      </p:sp>
      <p:pic>
        <p:nvPicPr>
          <p:cNvPr id="38" name="Image 6" descr="preencoded.png">    </p:cNvPr>
          <p:cNvPicPr>
            <a:picLocks noChangeAspect="1"/>
          </p:cNvPicPr>
          <p:nvPr/>
        </p:nvPicPr>
        <p:blipFill>
          <a:blip r:embed="rId7"/>
          <a:stretch>
            <a:fillRect/>
          </a:stretch>
        </p:blipFill>
        <p:spPr>
          <a:xfrm>
            <a:off x="3419856" y="3236976"/>
            <a:ext cx="182880" cy="182880"/>
          </a:xfrm>
          <a:prstGeom prst="rect">
            <a:avLst/>
          </a:prstGeom>
        </p:spPr>
      </p:pic>
      <p:sp>
        <p:nvSpPr>
          <p:cNvPr id="39" name="Text 29"/>
          <p:cNvSpPr txBox="1"/>
          <p:nvPr/>
        </p:nvSpPr>
        <p:spPr>
          <a:xfrm>
            <a:off x="3694176" y="3200400"/>
            <a:ext cx="2084832" cy="566928"/>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Les modèles sont-ils documentés et reproductibles ?</a:t>
            </a:r>
            <a:endParaRPr lang="en-US" sz="1050" dirty="0"/>
          </a:p>
        </p:txBody>
      </p:sp>
      <p:pic>
        <p:nvPicPr>
          <p:cNvPr id="40" name="Image 7" descr="preencoded.png">    </p:cNvPr>
          <p:cNvPicPr>
            <a:picLocks noChangeAspect="1"/>
          </p:cNvPicPr>
          <p:nvPr/>
        </p:nvPicPr>
        <p:blipFill>
          <a:blip r:embed="rId8"/>
          <a:stretch>
            <a:fillRect/>
          </a:stretch>
        </p:blipFill>
        <p:spPr>
          <a:xfrm>
            <a:off x="3419856" y="3877056"/>
            <a:ext cx="182880" cy="182880"/>
          </a:xfrm>
          <a:prstGeom prst="rect">
            <a:avLst/>
          </a:prstGeom>
        </p:spPr>
      </p:pic>
      <p:sp>
        <p:nvSpPr>
          <p:cNvPr id="41" name="Text 30"/>
          <p:cNvSpPr txBox="1"/>
          <p:nvPr/>
        </p:nvSpPr>
        <p:spPr>
          <a:xfrm>
            <a:off x="3694176" y="3840480"/>
            <a:ext cx="2084832" cy="566928"/>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Les petites cellules sont-elles masquées ?</a:t>
            </a:r>
            <a:endParaRPr lang="en-US" sz="1050" dirty="0"/>
          </a:p>
        </p:txBody>
      </p:sp>
      <p:sp>
        <p:nvSpPr>
          <p:cNvPr id="42" name="Shape 31"/>
          <p:cNvSpPr/>
          <p:nvPr/>
        </p:nvSpPr>
        <p:spPr>
          <a:xfrm>
            <a:off x="6071616" y="1325880"/>
            <a:ext cx="2615184" cy="3200400"/>
          </a:xfrm>
          <a:prstGeom prst="roundRect">
            <a:avLst>
              <a:gd name="adj" fmla="val 2797"/>
            </a:avLst>
          </a:prstGeom>
          <a:solidFill>
            <a:srgbClr val="E8F5EF"/>
          </a:solidFill>
          <a:ln w="15875">
            <a:solidFill>
              <a:srgbClr val="C4621D"/>
            </a:solidFill>
            <a:prstDash val="solid"/>
          </a:ln>
        </p:spPr>
      </p:sp>
      <p:sp>
        <p:nvSpPr>
          <p:cNvPr id="43" name="Shape 32"/>
          <p:cNvSpPr/>
          <p:nvPr/>
        </p:nvSpPr>
        <p:spPr>
          <a:xfrm>
            <a:off x="6208776" y="1463040"/>
            <a:ext cx="960120" cy="274320"/>
          </a:xfrm>
          <a:prstGeom prst="roundRect">
            <a:avLst>
              <a:gd name="adj" fmla="val 50000"/>
            </a:avLst>
          </a:prstGeom>
          <a:solidFill>
            <a:srgbClr val="C4621D"/>
          </a:solidFill>
          <a:ln/>
        </p:spPr>
      </p:sp>
      <p:sp>
        <p:nvSpPr>
          <p:cNvPr id="44" name="Text 33"/>
          <p:cNvSpPr txBox="1"/>
          <p:nvPr/>
        </p:nvSpPr>
        <p:spPr>
          <a:xfrm>
            <a:off x="6208776" y="1463040"/>
            <a:ext cx="960120" cy="274320"/>
          </a:xfrm>
          <a:prstGeom prst="rect">
            <a:avLst/>
          </a:prstGeom>
          <a:noFill/>
          <a:ln/>
        </p:spPr>
        <p:txBody>
          <a:bodyPr wrap="square" lIns="0" tIns="0" rIns="0" bIns="0" rtlCol="0" anchor="ctr"/>
          <a:lstStyle/>
          <a:p>
            <a:pPr algn="ctr" indent="0" marL="0">
              <a:buNone/>
            </a:pPr>
            <a:r>
              <a:rPr lang="en-US" sz="950" b="1" spc="200" kern="0" dirty="0">
                <a:solidFill>
                  <a:srgbClr val="FFFFFF"/>
                </a:solidFill>
                <a:latin typeface="Calibri" pitchFamily="34" charset="0"/>
                <a:ea typeface="Calibri" pitchFamily="34" charset="-122"/>
                <a:cs typeface="Calibri" pitchFamily="34" charset="-120"/>
              </a:rPr>
              <a:t>APRÈS</a:t>
            </a:r>
            <a:endParaRPr lang="en-US" sz="950" dirty="0"/>
          </a:p>
        </p:txBody>
      </p:sp>
      <p:sp>
        <p:nvSpPr>
          <p:cNvPr id="45" name="Text 34"/>
          <p:cNvSpPr txBox="1"/>
          <p:nvPr/>
        </p:nvSpPr>
        <p:spPr>
          <a:xfrm>
            <a:off x="7242048" y="1463040"/>
            <a:ext cx="1417320" cy="274320"/>
          </a:xfrm>
          <a:prstGeom prst="rect">
            <a:avLst/>
          </a:prstGeom>
          <a:noFill/>
          <a:ln/>
        </p:spPr>
        <p:txBody>
          <a:bodyPr wrap="square" lIns="0" tIns="0" rIns="0" bIns="0" rtlCol="0" anchor="ctr"/>
          <a:lstStyle/>
          <a:p>
            <a:pPr indent="0" marL="0">
              <a:buNone/>
            </a:pPr>
            <a:r>
              <a:rPr lang="en-US" sz="1150" b="1" dirty="0">
                <a:solidFill>
                  <a:srgbClr val="C4621D"/>
                </a:solidFill>
                <a:latin typeface="Calibri" pitchFamily="34" charset="0"/>
                <a:ea typeface="Calibri" pitchFamily="34" charset="-122"/>
                <a:cs typeface="Calibri" pitchFamily="34" charset="-120"/>
              </a:rPr>
              <a:t>Publication et usage</a:t>
            </a:r>
            <a:endParaRPr lang="en-US" sz="1150" dirty="0"/>
          </a:p>
        </p:txBody>
      </p:sp>
      <p:pic>
        <p:nvPicPr>
          <p:cNvPr id="46" name="Image 8" descr="preencoded.png">    </p:cNvPr>
          <p:cNvPicPr>
            <a:picLocks noChangeAspect="1"/>
          </p:cNvPicPr>
          <p:nvPr/>
        </p:nvPicPr>
        <p:blipFill>
          <a:blip r:embed="rId9"/>
          <a:stretch>
            <a:fillRect/>
          </a:stretch>
        </p:blipFill>
        <p:spPr>
          <a:xfrm>
            <a:off x="6227064" y="1956816"/>
            <a:ext cx="182880" cy="182880"/>
          </a:xfrm>
          <a:prstGeom prst="rect">
            <a:avLst/>
          </a:prstGeom>
        </p:spPr>
      </p:pic>
      <p:sp>
        <p:nvSpPr>
          <p:cNvPr id="47" name="Text 35"/>
          <p:cNvSpPr txBox="1"/>
          <p:nvPr/>
        </p:nvSpPr>
        <p:spPr>
          <a:xfrm>
            <a:off x="6501384" y="1920240"/>
            <a:ext cx="2084832" cy="566928"/>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Les limites sont-elles publiées aussi visiblement que les résultats ?</a:t>
            </a:r>
            <a:endParaRPr lang="en-US" sz="1050" dirty="0"/>
          </a:p>
        </p:txBody>
      </p:sp>
      <p:pic>
        <p:nvPicPr>
          <p:cNvPr id="48" name="Image 9" descr="preencoded.png">    </p:cNvPr>
          <p:cNvPicPr>
            <a:picLocks noChangeAspect="1"/>
          </p:cNvPicPr>
          <p:nvPr/>
        </p:nvPicPr>
        <p:blipFill>
          <a:blip r:embed="rId10"/>
          <a:stretch>
            <a:fillRect/>
          </a:stretch>
        </p:blipFill>
        <p:spPr>
          <a:xfrm>
            <a:off x="6227064" y="2596896"/>
            <a:ext cx="182880" cy="182880"/>
          </a:xfrm>
          <a:prstGeom prst="rect">
            <a:avLst/>
          </a:prstGeom>
        </p:spPr>
      </p:pic>
      <p:sp>
        <p:nvSpPr>
          <p:cNvPr id="49" name="Text 36"/>
          <p:cNvSpPr txBox="1"/>
          <p:nvPr/>
        </p:nvSpPr>
        <p:spPr>
          <a:xfrm>
            <a:off x="6501384" y="2560320"/>
            <a:ext cx="2084832" cy="566928"/>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Un résultat peut-il nuire à un groupe ?</a:t>
            </a:r>
            <a:endParaRPr lang="en-US" sz="1050" dirty="0"/>
          </a:p>
        </p:txBody>
      </p:sp>
      <p:pic>
        <p:nvPicPr>
          <p:cNvPr id="50" name="Image 10" descr="preencoded.png">    </p:cNvPr>
          <p:cNvPicPr>
            <a:picLocks noChangeAspect="1"/>
          </p:cNvPicPr>
          <p:nvPr/>
        </p:nvPicPr>
        <p:blipFill>
          <a:blip r:embed="rId11"/>
          <a:stretch>
            <a:fillRect/>
          </a:stretch>
        </p:blipFill>
        <p:spPr>
          <a:xfrm>
            <a:off x="6227064" y="3236976"/>
            <a:ext cx="182880" cy="182880"/>
          </a:xfrm>
          <a:prstGeom prst="rect">
            <a:avLst/>
          </a:prstGeom>
        </p:spPr>
      </p:pic>
      <p:sp>
        <p:nvSpPr>
          <p:cNvPr id="51" name="Text 37"/>
          <p:cNvSpPr txBox="1"/>
          <p:nvPr/>
        </p:nvSpPr>
        <p:spPr>
          <a:xfrm>
            <a:off x="6501384" y="3200400"/>
            <a:ext cx="2084832" cy="566928"/>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Qui devient invisible dans ces données ?</a:t>
            </a:r>
            <a:endParaRPr lang="en-US" sz="1050" dirty="0"/>
          </a:p>
        </p:txBody>
      </p:sp>
      <p:pic>
        <p:nvPicPr>
          <p:cNvPr id="52" name="Image 11" descr="preencoded.png">    </p:cNvPr>
          <p:cNvPicPr>
            <a:picLocks noChangeAspect="1"/>
          </p:cNvPicPr>
          <p:nvPr/>
        </p:nvPicPr>
        <p:blipFill>
          <a:blip r:embed="rId12"/>
          <a:stretch>
            <a:fillRect/>
          </a:stretch>
        </p:blipFill>
        <p:spPr>
          <a:xfrm>
            <a:off x="6227064" y="3877056"/>
            <a:ext cx="182880" cy="182880"/>
          </a:xfrm>
          <a:prstGeom prst="rect">
            <a:avLst/>
          </a:prstGeom>
        </p:spPr>
      </p:pic>
      <p:sp>
        <p:nvSpPr>
          <p:cNvPr id="53" name="Text 38"/>
          <p:cNvSpPr txBox="1"/>
          <p:nvPr/>
        </p:nvSpPr>
        <p:spPr>
          <a:xfrm>
            <a:off x="6501384" y="3840480"/>
            <a:ext cx="2084832" cy="566928"/>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Quand les données brutes seront-elles supprimées ?</a:t>
            </a:r>
            <a:endParaRPr lang="en-US" sz="1050" dirty="0"/>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640080"/>
            <a:ext cx="3657600" cy="22860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SECTION 6 SUR 6</a:t>
            </a:r>
            <a:endParaRPr lang="en-US" sz="1100" dirty="0"/>
          </a:p>
        </p:txBody>
      </p:sp>
      <p:sp>
        <p:nvSpPr>
          <p:cNvPr id="4" name="Text 1"/>
          <p:cNvSpPr txBox="1"/>
          <p:nvPr/>
        </p:nvSpPr>
        <p:spPr>
          <a:xfrm>
            <a:off x="502920" y="914400"/>
            <a:ext cx="2743200" cy="1280160"/>
          </a:xfrm>
          <a:prstGeom prst="rect">
            <a:avLst/>
          </a:prstGeom>
          <a:noFill/>
          <a:ln/>
        </p:spPr>
        <p:txBody>
          <a:bodyPr wrap="square" lIns="0" tIns="0" rIns="0" bIns="0" rtlCol="0" anchor="t"/>
          <a:lstStyle/>
          <a:p>
            <a:pPr indent="0" marL="0">
              <a:buNone/>
            </a:pPr>
            <a:r>
              <a:rPr lang="en-US" sz="9600" b="1" dirty="0">
                <a:solidFill>
                  <a:srgbClr val="F5C242"/>
                </a:solidFill>
                <a:latin typeface="Calibri" pitchFamily="34" charset="0"/>
                <a:ea typeface="Calibri" pitchFamily="34" charset="-122"/>
                <a:cs typeface="Calibri" pitchFamily="34" charset="-120"/>
              </a:rPr>
              <a:t>06</a:t>
            </a:r>
            <a:endParaRPr lang="en-US" sz="9600" dirty="0"/>
          </a:p>
        </p:txBody>
      </p:sp>
      <p:sp>
        <p:nvSpPr>
          <p:cNvPr id="5" name="Text 2"/>
          <p:cNvSpPr txBox="1"/>
          <p:nvPr/>
        </p:nvSpPr>
        <p:spPr>
          <a:xfrm>
            <a:off x="548640" y="2331720"/>
            <a:ext cx="5486400" cy="68580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Laboratoire et perspectives</a:t>
            </a:r>
            <a:endParaRPr lang="en-US" sz="3600" dirty="0"/>
          </a:p>
        </p:txBody>
      </p:sp>
      <p:sp>
        <p:nvSpPr>
          <p:cNvPr id="6" name="Text 3"/>
          <p:cNvSpPr txBox="1"/>
          <p:nvPr/>
        </p:nvSpPr>
        <p:spPr>
          <a:xfrm>
            <a:off x="548640" y="3108960"/>
            <a:ext cx="475488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Votre équipe peut-elle décider, en 30 minutes, si une source est apte à un usage officiel ?</a:t>
            </a:r>
            <a:endParaRPr lang="en-US" sz="1800" dirty="0"/>
          </a:p>
        </p:txBody>
      </p:sp>
      <p:sp>
        <p:nvSpPr>
          <p:cNvPr id="7" name="Shape 4"/>
          <p:cNvSpPr/>
          <p:nvPr/>
        </p:nvSpPr>
        <p:spPr>
          <a:xfrm>
            <a:off x="566928" y="4343400"/>
            <a:ext cx="100584" cy="100584"/>
          </a:xfrm>
          <a:prstGeom prst="ellipse">
            <a:avLst/>
          </a:prstGeom>
          <a:solidFill>
            <a:srgbClr val="FFFFFF">
              <a:alpha val="35000"/>
            </a:srgbClr>
          </a:solidFill>
          <a:ln/>
        </p:spPr>
      </p:sp>
      <p:sp>
        <p:nvSpPr>
          <p:cNvPr id="8" name="Shape 5"/>
          <p:cNvSpPr/>
          <p:nvPr/>
        </p:nvSpPr>
        <p:spPr>
          <a:xfrm>
            <a:off x="749808" y="4343400"/>
            <a:ext cx="100584" cy="100584"/>
          </a:xfrm>
          <a:prstGeom prst="ellipse">
            <a:avLst/>
          </a:prstGeom>
          <a:solidFill>
            <a:srgbClr val="FFFFFF">
              <a:alpha val="35000"/>
            </a:srgbClr>
          </a:solidFill>
          <a:ln/>
        </p:spPr>
      </p:sp>
      <p:sp>
        <p:nvSpPr>
          <p:cNvPr id="9" name="Shape 6"/>
          <p:cNvSpPr/>
          <p:nvPr/>
        </p:nvSpPr>
        <p:spPr>
          <a:xfrm>
            <a:off x="932688" y="4343400"/>
            <a:ext cx="100584" cy="100584"/>
          </a:xfrm>
          <a:prstGeom prst="ellipse">
            <a:avLst/>
          </a:prstGeom>
          <a:solidFill>
            <a:srgbClr val="FFFFFF">
              <a:alpha val="35000"/>
            </a:srgbClr>
          </a:solidFill>
          <a:ln/>
        </p:spPr>
      </p:sp>
      <p:sp>
        <p:nvSpPr>
          <p:cNvPr id="10" name="Shape 7"/>
          <p:cNvSpPr/>
          <p:nvPr/>
        </p:nvSpPr>
        <p:spPr>
          <a:xfrm>
            <a:off x="1115568" y="4343400"/>
            <a:ext cx="100584" cy="100584"/>
          </a:xfrm>
          <a:prstGeom prst="ellipse">
            <a:avLst/>
          </a:prstGeom>
          <a:solidFill>
            <a:srgbClr val="FFFFFF">
              <a:alpha val="35000"/>
            </a:srgbClr>
          </a:solidFill>
          <a:ln/>
        </p:spPr>
      </p:sp>
      <p:sp>
        <p:nvSpPr>
          <p:cNvPr id="11" name="Shape 8"/>
          <p:cNvSpPr/>
          <p:nvPr/>
        </p:nvSpPr>
        <p:spPr>
          <a:xfrm>
            <a:off x="1298448" y="4343400"/>
            <a:ext cx="100584" cy="100584"/>
          </a:xfrm>
          <a:prstGeom prst="ellipse">
            <a:avLst/>
          </a:prstGeom>
          <a:solidFill>
            <a:srgbClr val="FFFFFF">
              <a:alpha val="35000"/>
            </a:srgbClr>
          </a:solidFill>
          <a:ln/>
        </p:spPr>
      </p:sp>
      <p:sp>
        <p:nvSpPr>
          <p:cNvPr id="12" name="Shape 9"/>
          <p:cNvSpPr/>
          <p:nvPr/>
        </p:nvSpPr>
        <p:spPr>
          <a:xfrm>
            <a:off x="1481328" y="4343400"/>
            <a:ext cx="100584" cy="100584"/>
          </a:xfrm>
          <a:prstGeom prst="ellipse">
            <a:avLst/>
          </a:prstGeom>
          <a:solidFill>
            <a:srgbClr val="F5C242"/>
          </a:solidFill>
          <a:ln/>
        </p:spPr>
      </p:sp>
      <p:sp>
        <p:nvSpPr>
          <p:cNvPr id="13" name="Shape 10"/>
          <p:cNvSpPr/>
          <p:nvPr/>
        </p:nvSpPr>
        <p:spPr>
          <a:xfrm>
            <a:off x="5989320" y="1143000"/>
            <a:ext cx="2651760" cy="2651760"/>
          </a:xfrm>
          <a:prstGeom prst="ellipse">
            <a:avLst/>
          </a:prstGeom>
          <a:solidFill>
            <a:srgbClr val="FFFFFF">
              <a:alpha val="12000"/>
            </a:srgbClr>
          </a:solidFill>
          <a:ln/>
        </p:spPr>
      </p:sp>
      <p:sp>
        <p:nvSpPr>
          <p:cNvPr id="14" name="Shape 11"/>
          <p:cNvSpPr/>
          <p:nvPr/>
        </p:nvSpPr>
        <p:spPr>
          <a:xfrm>
            <a:off x="6355080" y="1508760"/>
            <a:ext cx="1920240" cy="1920240"/>
          </a:xfrm>
          <a:prstGeom prst="ellipse">
            <a:avLst/>
          </a:prstGeom>
          <a:solidFill>
            <a:srgbClr val="FFFFFF">
              <a:alpha val="20000"/>
            </a:srgbClr>
          </a:solidFill>
          <a:ln/>
        </p:spPr>
      </p:sp>
      <p:sp>
        <p:nvSpPr>
          <p:cNvPr id="15" name="Shape 12"/>
          <p:cNvSpPr/>
          <p:nvPr/>
        </p:nvSpPr>
        <p:spPr>
          <a:xfrm>
            <a:off x="6675120" y="1828800"/>
            <a:ext cx="1280160" cy="1280160"/>
          </a:xfrm>
          <a:prstGeom prst="ellipse">
            <a:avLst/>
          </a:prstGeom>
          <a:solidFill>
            <a:srgbClr val="FFFFFF"/>
          </a:solidFill>
          <a:ln/>
        </p:spPr>
      </p:sp>
      <p:pic>
        <p:nvPicPr>
          <p:cNvPr id="16" name="Image 0" descr="preencoded.png">    </p:cNvPr>
          <p:cNvPicPr>
            <a:picLocks noChangeAspect="1"/>
          </p:cNvPicPr>
          <p:nvPr/>
        </p:nvPicPr>
        <p:blipFill>
          <a:blip r:embed="rId2"/>
          <a:stretch>
            <a:fillRect/>
          </a:stretch>
        </p:blipFill>
        <p:spPr>
          <a:xfrm>
            <a:off x="6995160" y="2148840"/>
            <a:ext cx="640080" cy="640080"/>
          </a:xfrm>
          <a:prstGeom prst="rect">
            <a:avLst/>
          </a:prstGeom>
        </p:spPr>
      </p:pic>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LABORATOIRE · CONSIGNES</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Défi d'équipe : cette source est-elle adaptée ?</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30 minutes en équipe · 10 minutes de restitution · un canevas par équipe.</a:t>
            </a:r>
            <a:endParaRPr lang="en-US" sz="1150" dirty="0"/>
          </a:p>
        </p:txBody>
      </p:sp>
      <p:sp>
        <p:nvSpPr>
          <p:cNvPr id="9" name="Shape 7"/>
          <p:cNvSpPr/>
          <p:nvPr/>
        </p:nvSpPr>
        <p:spPr>
          <a:xfrm>
            <a:off x="7662672" y="329184"/>
            <a:ext cx="100584" cy="100584"/>
          </a:xfrm>
          <a:prstGeom prst="ellipse">
            <a:avLst/>
          </a:prstGeom>
          <a:solidFill>
            <a:srgbClr val="D5DED9"/>
          </a:solidFill>
          <a:ln/>
        </p:spPr>
      </p:sp>
      <p:sp>
        <p:nvSpPr>
          <p:cNvPr id="10" name="Shape 8"/>
          <p:cNvSpPr/>
          <p:nvPr/>
        </p:nvSpPr>
        <p:spPr>
          <a:xfrm>
            <a:off x="7845552" y="329184"/>
            <a:ext cx="100584" cy="100584"/>
          </a:xfrm>
          <a:prstGeom prst="ellipse">
            <a:avLst/>
          </a:prstGeom>
          <a:solidFill>
            <a:srgbClr val="D5DED9"/>
          </a:solidFill>
          <a:ln/>
        </p:spPr>
      </p:sp>
      <p:sp>
        <p:nvSpPr>
          <p:cNvPr id="11" name="Shape 9"/>
          <p:cNvSpPr/>
          <p:nvPr/>
        </p:nvSpPr>
        <p:spPr>
          <a:xfrm>
            <a:off x="8028432" y="329184"/>
            <a:ext cx="100584" cy="100584"/>
          </a:xfrm>
          <a:prstGeom prst="ellipse">
            <a:avLst/>
          </a:prstGeom>
          <a:solidFill>
            <a:srgbClr val="D5DED9"/>
          </a:solidFill>
          <a:ln/>
        </p:spPr>
      </p:sp>
      <p:sp>
        <p:nvSpPr>
          <p:cNvPr id="12" name="Shape 10"/>
          <p:cNvSpPr/>
          <p:nvPr/>
        </p:nvSpPr>
        <p:spPr>
          <a:xfrm>
            <a:off x="8211312" y="329184"/>
            <a:ext cx="100584" cy="100584"/>
          </a:xfrm>
          <a:prstGeom prst="ellipse">
            <a:avLst/>
          </a:prstGeom>
          <a:solidFill>
            <a:srgbClr val="D5DED9"/>
          </a:solidFill>
          <a:ln/>
        </p:spPr>
      </p:sp>
      <p:sp>
        <p:nvSpPr>
          <p:cNvPr id="13" name="Shape 11"/>
          <p:cNvSpPr/>
          <p:nvPr/>
        </p:nvSpPr>
        <p:spPr>
          <a:xfrm>
            <a:off x="8394192" y="329184"/>
            <a:ext cx="100584" cy="100584"/>
          </a:xfrm>
          <a:prstGeom prst="ellipse">
            <a:avLst/>
          </a:prstGeom>
          <a:solidFill>
            <a:srgbClr val="D5DED9"/>
          </a:solidFill>
          <a:ln/>
        </p:spPr>
      </p:sp>
      <p:sp>
        <p:nvSpPr>
          <p:cNvPr id="14" name="Shape 12"/>
          <p:cNvSpPr/>
          <p:nvPr/>
        </p:nvSpPr>
        <p:spPr>
          <a:xfrm>
            <a:off x="8577072" y="329184"/>
            <a:ext cx="100584" cy="100584"/>
          </a:xfrm>
          <a:prstGeom prst="ellipse">
            <a:avLst/>
          </a:prstGeom>
          <a:solidFill>
            <a:srgbClr val="B83B2E"/>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Sources de données non traditionnelles · Le trésor caché · Atelier STG17</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36</a:t>
            </a:r>
            <a:endParaRPr lang="en-US" sz="850" dirty="0"/>
          </a:p>
        </p:txBody>
      </p:sp>
      <p:sp>
        <p:nvSpPr>
          <p:cNvPr id="18" name="Shape 15"/>
          <p:cNvSpPr/>
          <p:nvPr/>
        </p:nvSpPr>
        <p:spPr>
          <a:xfrm>
            <a:off x="457200" y="1371600"/>
            <a:ext cx="2651760" cy="1463040"/>
          </a:xfrm>
          <a:prstGeom prst="roundRect">
            <a:avLst>
              <a:gd name="adj" fmla="val 5000"/>
            </a:avLst>
          </a:prstGeom>
          <a:solidFill>
            <a:srgbClr val="E8F5EF"/>
          </a:solidFill>
          <a:ln w="15875">
            <a:solidFill>
              <a:srgbClr val="B83B2E"/>
            </a:solidFill>
            <a:prstDash val="solid"/>
          </a:ln>
        </p:spPr>
      </p:sp>
      <p:sp>
        <p:nvSpPr>
          <p:cNvPr id="19" name="Shape 16"/>
          <p:cNvSpPr/>
          <p:nvPr/>
        </p:nvSpPr>
        <p:spPr>
          <a:xfrm>
            <a:off x="585216" y="1499616"/>
            <a:ext cx="402336" cy="402336"/>
          </a:xfrm>
          <a:prstGeom prst="ellipse">
            <a:avLst/>
          </a:prstGeom>
          <a:solidFill>
            <a:srgbClr val="B83B2E"/>
          </a:solidFill>
          <a:ln/>
        </p:spPr>
      </p:sp>
      <p:sp>
        <p:nvSpPr>
          <p:cNvPr id="20" name="Text 17"/>
          <p:cNvSpPr txBox="1"/>
          <p:nvPr/>
        </p:nvSpPr>
        <p:spPr>
          <a:xfrm>
            <a:off x="585216" y="1499616"/>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21" name="Text 18"/>
          <p:cNvSpPr txBox="1"/>
          <p:nvPr/>
        </p:nvSpPr>
        <p:spPr>
          <a:xfrm>
            <a:off x="1078992" y="1499616"/>
            <a:ext cx="1965960" cy="402336"/>
          </a:xfrm>
          <a:prstGeom prst="rect">
            <a:avLst/>
          </a:prstGeom>
          <a:noFill/>
          <a:ln/>
        </p:spPr>
        <p:txBody>
          <a:bodyPr wrap="square" lIns="0" tIns="0" rIns="0" bIns="0" rtlCol="0" anchor="ctr"/>
          <a:lstStyle/>
          <a:p>
            <a:pPr indent="0" marL="0">
              <a:buNone/>
            </a:pPr>
            <a:r>
              <a:rPr lang="en-US" sz="1150" b="1" dirty="0">
                <a:solidFill>
                  <a:srgbClr val="B83B2E"/>
                </a:solidFill>
                <a:latin typeface="Calibri" pitchFamily="34" charset="0"/>
                <a:ea typeface="Calibri" pitchFamily="34" charset="-122"/>
                <a:cs typeface="Calibri" pitchFamily="34" charset="-120"/>
              </a:rPr>
              <a:t>Connectivité par région</a:t>
            </a:r>
            <a:endParaRPr lang="en-US" sz="1150" dirty="0"/>
          </a:p>
        </p:txBody>
      </p:sp>
      <p:sp>
        <p:nvSpPr>
          <p:cNvPr id="22" name="Text 19"/>
          <p:cNvSpPr txBox="1"/>
          <p:nvPr/>
        </p:nvSpPr>
        <p:spPr>
          <a:xfrm>
            <a:off x="585216" y="1947672"/>
            <a:ext cx="2432304" cy="530352"/>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Le ministère des TIC veut un indicateur infranational trimestriel de qualité internet.</a:t>
            </a:r>
            <a:endParaRPr lang="en-US" sz="1000" dirty="0"/>
          </a:p>
        </p:txBody>
      </p:sp>
      <p:pic>
        <p:nvPicPr>
          <p:cNvPr id="23" name="Image 0" descr="preencoded.png">    </p:cNvPr>
          <p:cNvPicPr>
            <a:picLocks noChangeAspect="1"/>
          </p:cNvPicPr>
          <p:nvPr/>
        </p:nvPicPr>
        <p:blipFill>
          <a:blip r:embed="rId1"/>
          <a:stretch>
            <a:fillRect/>
          </a:stretch>
        </p:blipFill>
        <p:spPr>
          <a:xfrm>
            <a:off x="585216" y="2532888"/>
            <a:ext cx="164592" cy="164592"/>
          </a:xfrm>
          <a:prstGeom prst="rect">
            <a:avLst/>
          </a:prstGeom>
        </p:spPr>
      </p:pic>
      <p:sp>
        <p:nvSpPr>
          <p:cNvPr id="24" name="Text 20"/>
          <p:cNvSpPr txBox="1"/>
          <p:nvPr/>
        </p:nvSpPr>
        <p:spPr>
          <a:xfrm>
            <a:off x="822960" y="2487168"/>
            <a:ext cx="2240280" cy="256032"/>
          </a:xfrm>
          <a:prstGeom prst="rect">
            <a:avLst/>
          </a:prstGeom>
          <a:noFill/>
          <a:ln/>
        </p:spPr>
        <p:txBody>
          <a:bodyPr wrap="square" lIns="0" tIns="0" rIns="0" bIns="0" rtlCol="0" anchor="ctr"/>
          <a:lstStyle/>
          <a:p>
            <a:pPr indent="0" marL="0">
              <a:buNone/>
            </a:pPr>
            <a:r>
              <a:rPr lang="en-US" sz="950" b="1" i="1" dirty="0">
                <a:solidFill>
                  <a:srgbClr val="5E6964"/>
                </a:solidFill>
                <a:latin typeface="Calibri" pitchFamily="34" charset="0"/>
                <a:ea typeface="Calibri" pitchFamily="34" charset="-122"/>
                <a:cs typeface="Calibri" pitchFamily="34" charset="-120"/>
              </a:rPr>
              <a:t>Tuiles Ookla + WorldPop</a:t>
            </a:r>
            <a:endParaRPr lang="en-US" sz="950" dirty="0"/>
          </a:p>
        </p:txBody>
      </p:sp>
      <p:sp>
        <p:nvSpPr>
          <p:cNvPr id="25" name="Shape 21"/>
          <p:cNvSpPr/>
          <p:nvPr/>
        </p:nvSpPr>
        <p:spPr>
          <a:xfrm>
            <a:off x="3246120" y="1371600"/>
            <a:ext cx="2651760" cy="1463040"/>
          </a:xfrm>
          <a:prstGeom prst="roundRect">
            <a:avLst>
              <a:gd name="adj" fmla="val 5000"/>
            </a:avLst>
          </a:prstGeom>
          <a:solidFill>
            <a:srgbClr val="F4F7F5"/>
          </a:solidFill>
          <a:ln w="9525">
            <a:solidFill>
              <a:srgbClr val="D5DED9"/>
            </a:solidFill>
            <a:prstDash val="solid"/>
          </a:ln>
        </p:spPr>
      </p:sp>
      <p:sp>
        <p:nvSpPr>
          <p:cNvPr id="26" name="Shape 22"/>
          <p:cNvSpPr/>
          <p:nvPr/>
        </p:nvSpPr>
        <p:spPr>
          <a:xfrm>
            <a:off x="3374136" y="1499616"/>
            <a:ext cx="402336" cy="402336"/>
          </a:xfrm>
          <a:prstGeom prst="ellipse">
            <a:avLst/>
          </a:prstGeom>
          <a:solidFill>
            <a:srgbClr val="B83B2E"/>
          </a:solidFill>
          <a:ln/>
        </p:spPr>
      </p:sp>
      <p:sp>
        <p:nvSpPr>
          <p:cNvPr id="27" name="Text 23"/>
          <p:cNvSpPr txBox="1"/>
          <p:nvPr/>
        </p:nvSpPr>
        <p:spPr>
          <a:xfrm>
            <a:off x="3374136" y="1499616"/>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28" name="Text 24"/>
          <p:cNvSpPr txBox="1"/>
          <p:nvPr/>
        </p:nvSpPr>
        <p:spPr>
          <a:xfrm>
            <a:off x="3867912" y="1499616"/>
            <a:ext cx="1965960" cy="402336"/>
          </a:xfrm>
          <a:prstGeom prst="rect">
            <a:avLst/>
          </a:prstGeom>
          <a:noFill/>
          <a:ln/>
        </p:spPr>
        <p:txBody>
          <a:bodyPr wrap="square" lIns="0" tIns="0" rIns="0" bIns="0" rtlCol="0" anchor="ctr"/>
          <a:lstStyle/>
          <a:p>
            <a:pPr indent="0" marL="0">
              <a:buNone/>
            </a:pPr>
            <a:r>
              <a:rPr lang="en-US" sz="1150" b="1" dirty="0">
                <a:solidFill>
                  <a:srgbClr val="B83B2E"/>
                </a:solidFill>
                <a:latin typeface="Calibri" pitchFamily="34" charset="0"/>
                <a:ea typeface="Calibri" pitchFamily="34" charset="-122"/>
                <a:cs typeface="Calibri" pitchFamily="34" charset="-120"/>
              </a:rPr>
              <a:t>Activité économique locale</a:t>
            </a:r>
            <a:endParaRPr lang="en-US" sz="1150" dirty="0"/>
          </a:p>
        </p:txBody>
      </p:sp>
      <p:sp>
        <p:nvSpPr>
          <p:cNvPr id="29" name="Text 25"/>
          <p:cNvSpPr txBox="1"/>
          <p:nvPr/>
        </p:nvSpPr>
        <p:spPr>
          <a:xfrm>
            <a:off x="3374136" y="1947672"/>
            <a:ext cx="2432304" cy="530352"/>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Le Plan demande des estimations annuelles d'activité par district entre deux enquêtes.</a:t>
            </a:r>
            <a:endParaRPr lang="en-US" sz="1000" dirty="0"/>
          </a:p>
        </p:txBody>
      </p:sp>
      <p:pic>
        <p:nvPicPr>
          <p:cNvPr id="30" name="Image 1" descr="preencoded.png">    </p:cNvPr>
          <p:cNvPicPr>
            <a:picLocks noChangeAspect="1"/>
          </p:cNvPicPr>
          <p:nvPr/>
        </p:nvPicPr>
        <p:blipFill>
          <a:blip r:embed="rId2"/>
          <a:stretch>
            <a:fillRect/>
          </a:stretch>
        </p:blipFill>
        <p:spPr>
          <a:xfrm>
            <a:off x="3374136" y="2532888"/>
            <a:ext cx="164592" cy="164592"/>
          </a:xfrm>
          <a:prstGeom prst="rect">
            <a:avLst/>
          </a:prstGeom>
        </p:spPr>
      </p:pic>
      <p:sp>
        <p:nvSpPr>
          <p:cNvPr id="31" name="Text 26"/>
          <p:cNvSpPr txBox="1"/>
          <p:nvPr/>
        </p:nvSpPr>
        <p:spPr>
          <a:xfrm>
            <a:off x="3611880" y="2487168"/>
            <a:ext cx="2240280" cy="256032"/>
          </a:xfrm>
          <a:prstGeom prst="rect">
            <a:avLst/>
          </a:prstGeom>
          <a:noFill/>
          <a:ln/>
        </p:spPr>
        <p:txBody>
          <a:bodyPr wrap="square" lIns="0" tIns="0" rIns="0" bIns="0" rtlCol="0" anchor="ctr"/>
          <a:lstStyle/>
          <a:p>
            <a:pPr indent="0" marL="0">
              <a:buNone/>
            </a:pPr>
            <a:r>
              <a:rPr lang="en-US" sz="950" b="1" i="1" dirty="0">
                <a:solidFill>
                  <a:srgbClr val="5E6964"/>
                </a:solidFill>
                <a:latin typeface="Calibri" pitchFamily="34" charset="0"/>
                <a:ea typeface="Calibri" pitchFamily="34" charset="-122"/>
                <a:cs typeface="Calibri" pitchFamily="34" charset="-120"/>
              </a:rPr>
              <a:t>Lumières nocturnes VIIRS Black Marble</a:t>
            </a:r>
            <a:endParaRPr lang="en-US" sz="950" dirty="0"/>
          </a:p>
        </p:txBody>
      </p:sp>
      <p:sp>
        <p:nvSpPr>
          <p:cNvPr id="32" name="Shape 27"/>
          <p:cNvSpPr/>
          <p:nvPr/>
        </p:nvSpPr>
        <p:spPr>
          <a:xfrm>
            <a:off x="457200" y="2971800"/>
            <a:ext cx="2651760" cy="1463040"/>
          </a:xfrm>
          <a:prstGeom prst="roundRect">
            <a:avLst>
              <a:gd name="adj" fmla="val 5000"/>
            </a:avLst>
          </a:prstGeom>
          <a:solidFill>
            <a:srgbClr val="F4F7F5"/>
          </a:solidFill>
          <a:ln w="9525">
            <a:solidFill>
              <a:srgbClr val="D5DED9"/>
            </a:solidFill>
            <a:prstDash val="solid"/>
          </a:ln>
        </p:spPr>
      </p:sp>
      <p:sp>
        <p:nvSpPr>
          <p:cNvPr id="33" name="Shape 28"/>
          <p:cNvSpPr/>
          <p:nvPr/>
        </p:nvSpPr>
        <p:spPr>
          <a:xfrm>
            <a:off x="585216" y="3099816"/>
            <a:ext cx="402336" cy="402336"/>
          </a:xfrm>
          <a:prstGeom prst="ellipse">
            <a:avLst/>
          </a:prstGeom>
          <a:solidFill>
            <a:srgbClr val="B83B2E"/>
          </a:solidFill>
          <a:ln/>
        </p:spPr>
      </p:sp>
      <p:sp>
        <p:nvSpPr>
          <p:cNvPr id="34" name="Text 29"/>
          <p:cNvSpPr txBox="1"/>
          <p:nvPr/>
        </p:nvSpPr>
        <p:spPr>
          <a:xfrm>
            <a:off x="585216" y="3099816"/>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35" name="Text 30"/>
          <p:cNvSpPr txBox="1"/>
          <p:nvPr/>
        </p:nvSpPr>
        <p:spPr>
          <a:xfrm>
            <a:off x="1078992" y="3099816"/>
            <a:ext cx="1965960" cy="402336"/>
          </a:xfrm>
          <a:prstGeom prst="rect">
            <a:avLst/>
          </a:prstGeom>
          <a:noFill/>
          <a:ln/>
        </p:spPr>
        <p:txBody>
          <a:bodyPr wrap="square" lIns="0" tIns="0" rIns="0" bIns="0" rtlCol="0" anchor="ctr"/>
          <a:lstStyle/>
          <a:p>
            <a:pPr indent="0" marL="0">
              <a:buNone/>
            </a:pPr>
            <a:r>
              <a:rPr lang="en-US" sz="1150" b="1" dirty="0">
                <a:solidFill>
                  <a:srgbClr val="B83B2E"/>
                </a:solidFill>
                <a:latin typeface="Calibri" pitchFamily="34" charset="0"/>
                <a:ea typeface="Calibri" pitchFamily="34" charset="-122"/>
                <a:cs typeface="Calibri" pitchFamily="34" charset="-120"/>
              </a:rPr>
              <a:t>Suivi des prix alimentaires</a:t>
            </a:r>
            <a:endParaRPr lang="en-US" sz="1150" dirty="0"/>
          </a:p>
        </p:txBody>
      </p:sp>
      <p:sp>
        <p:nvSpPr>
          <p:cNvPr id="36" name="Text 31"/>
          <p:cNvSpPr txBox="1"/>
          <p:nvPr/>
        </p:nvSpPr>
        <p:spPr>
          <a:xfrm>
            <a:off x="585216" y="3547872"/>
            <a:ext cx="2432304" cy="530352"/>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L'unité d'alerte précoce veut des prix hebdomadaires sur les principaux marchés.</a:t>
            </a:r>
            <a:endParaRPr lang="en-US" sz="1000" dirty="0"/>
          </a:p>
        </p:txBody>
      </p:sp>
      <p:pic>
        <p:nvPicPr>
          <p:cNvPr id="37" name="Image 2" descr="preencoded.png">    </p:cNvPr>
          <p:cNvPicPr>
            <a:picLocks noChangeAspect="1"/>
          </p:cNvPicPr>
          <p:nvPr/>
        </p:nvPicPr>
        <p:blipFill>
          <a:blip r:embed="rId3"/>
          <a:stretch>
            <a:fillRect/>
          </a:stretch>
        </p:blipFill>
        <p:spPr>
          <a:xfrm>
            <a:off x="585216" y="4133088"/>
            <a:ext cx="164592" cy="164592"/>
          </a:xfrm>
          <a:prstGeom prst="rect">
            <a:avLst/>
          </a:prstGeom>
        </p:spPr>
      </p:pic>
      <p:sp>
        <p:nvSpPr>
          <p:cNvPr id="38" name="Text 32"/>
          <p:cNvSpPr txBox="1"/>
          <p:nvPr/>
        </p:nvSpPr>
        <p:spPr>
          <a:xfrm>
            <a:off x="822960" y="4087368"/>
            <a:ext cx="2240280" cy="256032"/>
          </a:xfrm>
          <a:prstGeom prst="rect">
            <a:avLst/>
          </a:prstGeom>
          <a:noFill/>
          <a:ln/>
        </p:spPr>
        <p:txBody>
          <a:bodyPr wrap="square" lIns="0" tIns="0" rIns="0" bIns="0" rtlCol="0" anchor="ctr"/>
          <a:lstStyle/>
          <a:p>
            <a:pPr indent="0" marL="0">
              <a:buNone/>
            </a:pPr>
            <a:r>
              <a:rPr lang="en-US" sz="950" b="1" i="1" dirty="0">
                <a:solidFill>
                  <a:srgbClr val="5E6964"/>
                </a:solidFill>
                <a:latin typeface="Calibri" pitchFamily="34" charset="0"/>
                <a:ea typeface="Calibri" pitchFamily="34" charset="-122"/>
                <a:cs typeface="Calibri" pitchFamily="34" charset="-120"/>
              </a:rPr>
              <a:t>Moissonnage web + appli commerçants</a:t>
            </a:r>
            <a:endParaRPr lang="en-US" sz="950" dirty="0"/>
          </a:p>
        </p:txBody>
      </p:sp>
      <p:sp>
        <p:nvSpPr>
          <p:cNvPr id="39" name="Shape 33"/>
          <p:cNvSpPr/>
          <p:nvPr/>
        </p:nvSpPr>
        <p:spPr>
          <a:xfrm>
            <a:off x="3246120" y="2971800"/>
            <a:ext cx="2651760" cy="1463040"/>
          </a:xfrm>
          <a:prstGeom prst="roundRect">
            <a:avLst>
              <a:gd name="adj" fmla="val 5000"/>
            </a:avLst>
          </a:prstGeom>
          <a:solidFill>
            <a:srgbClr val="F4F7F5"/>
          </a:solidFill>
          <a:ln w="9525">
            <a:solidFill>
              <a:srgbClr val="D5DED9"/>
            </a:solidFill>
            <a:prstDash val="solid"/>
          </a:ln>
        </p:spPr>
      </p:sp>
      <p:sp>
        <p:nvSpPr>
          <p:cNvPr id="40" name="Shape 34"/>
          <p:cNvSpPr/>
          <p:nvPr/>
        </p:nvSpPr>
        <p:spPr>
          <a:xfrm>
            <a:off x="3374136" y="3099816"/>
            <a:ext cx="402336" cy="402336"/>
          </a:xfrm>
          <a:prstGeom prst="ellipse">
            <a:avLst/>
          </a:prstGeom>
          <a:solidFill>
            <a:srgbClr val="B83B2E"/>
          </a:solidFill>
          <a:ln/>
        </p:spPr>
      </p:sp>
      <p:sp>
        <p:nvSpPr>
          <p:cNvPr id="41" name="Text 35"/>
          <p:cNvSpPr txBox="1"/>
          <p:nvPr/>
        </p:nvSpPr>
        <p:spPr>
          <a:xfrm>
            <a:off x="3374136" y="3099816"/>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42" name="Text 36"/>
          <p:cNvSpPr txBox="1"/>
          <p:nvPr/>
        </p:nvSpPr>
        <p:spPr>
          <a:xfrm>
            <a:off x="3867912" y="3099816"/>
            <a:ext cx="1965960" cy="402336"/>
          </a:xfrm>
          <a:prstGeom prst="rect">
            <a:avLst/>
          </a:prstGeom>
          <a:noFill/>
          <a:ln/>
        </p:spPr>
        <p:txBody>
          <a:bodyPr wrap="square" lIns="0" tIns="0" rIns="0" bIns="0" rtlCol="0" anchor="ctr"/>
          <a:lstStyle/>
          <a:p>
            <a:pPr indent="0" marL="0">
              <a:buNone/>
            </a:pPr>
            <a:r>
              <a:rPr lang="en-US" sz="1150" b="1" dirty="0">
                <a:solidFill>
                  <a:srgbClr val="B83B2E"/>
                </a:solidFill>
                <a:latin typeface="Calibri" pitchFamily="34" charset="0"/>
                <a:ea typeface="Calibri" pitchFamily="34" charset="-122"/>
                <a:cs typeface="Calibri" pitchFamily="34" charset="-120"/>
              </a:rPr>
              <a:t>Déplacements après inondation</a:t>
            </a:r>
            <a:endParaRPr lang="en-US" sz="1150" dirty="0"/>
          </a:p>
        </p:txBody>
      </p:sp>
      <p:sp>
        <p:nvSpPr>
          <p:cNvPr id="43" name="Text 37"/>
          <p:cNvSpPr txBox="1"/>
          <p:nvPr/>
        </p:nvSpPr>
        <p:spPr>
          <a:xfrm>
            <a:off x="3374136" y="3547872"/>
            <a:ext cx="2432304" cy="530352"/>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L'agence de gestion des catastrophes veut savoir où les gens sont allés dans les deux semaines.</a:t>
            </a:r>
            <a:endParaRPr lang="en-US" sz="1000" dirty="0"/>
          </a:p>
        </p:txBody>
      </p:sp>
      <p:pic>
        <p:nvPicPr>
          <p:cNvPr id="44" name="Image 3" descr="preencoded.png">    </p:cNvPr>
          <p:cNvPicPr>
            <a:picLocks noChangeAspect="1"/>
          </p:cNvPicPr>
          <p:nvPr/>
        </p:nvPicPr>
        <p:blipFill>
          <a:blip r:embed="rId4"/>
          <a:stretch>
            <a:fillRect/>
          </a:stretch>
        </p:blipFill>
        <p:spPr>
          <a:xfrm>
            <a:off x="3374136" y="4133088"/>
            <a:ext cx="164592" cy="164592"/>
          </a:xfrm>
          <a:prstGeom prst="rect">
            <a:avLst/>
          </a:prstGeom>
        </p:spPr>
      </p:pic>
      <p:sp>
        <p:nvSpPr>
          <p:cNvPr id="45" name="Text 38"/>
          <p:cNvSpPr txBox="1"/>
          <p:nvPr/>
        </p:nvSpPr>
        <p:spPr>
          <a:xfrm>
            <a:off x="3611880" y="4087368"/>
            <a:ext cx="2240280" cy="256032"/>
          </a:xfrm>
          <a:prstGeom prst="rect">
            <a:avLst/>
          </a:prstGeom>
          <a:noFill/>
          <a:ln/>
        </p:spPr>
        <p:txBody>
          <a:bodyPr wrap="square" lIns="0" tIns="0" rIns="0" bIns="0" rtlCol="0" anchor="ctr"/>
          <a:lstStyle/>
          <a:p>
            <a:pPr indent="0" marL="0">
              <a:buNone/>
            </a:pPr>
            <a:r>
              <a:rPr lang="en-US" sz="950" b="1" i="1" dirty="0">
                <a:solidFill>
                  <a:srgbClr val="5E6964"/>
                </a:solidFill>
                <a:latin typeface="Calibri" pitchFamily="34" charset="0"/>
                <a:ea typeface="Calibri" pitchFamily="34" charset="-122"/>
                <a:cs typeface="Calibri" pitchFamily="34" charset="-120"/>
              </a:rPr>
              <a:t>CDR d'opérateur + satellite</a:t>
            </a:r>
            <a:endParaRPr lang="en-US" sz="950" dirty="0"/>
          </a:p>
        </p:txBody>
      </p:sp>
      <p:sp>
        <p:nvSpPr>
          <p:cNvPr id="46" name="Shape 39"/>
          <p:cNvSpPr/>
          <p:nvPr/>
        </p:nvSpPr>
        <p:spPr>
          <a:xfrm>
            <a:off x="6172200" y="1371600"/>
            <a:ext cx="2514600" cy="3063240"/>
          </a:xfrm>
          <a:prstGeom prst="roundRect">
            <a:avLst>
              <a:gd name="adj" fmla="val 2909"/>
            </a:avLst>
          </a:prstGeom>
          <a:solidFill>
            <a:srgbClr val="00553A"/>
          </a:solidFill>
          <a:ln/>
        </p:spPr>
      </p:sp>
      <p:sp>
        <p:nvSpPr>
          <p:cNvPr id="47" name="Text 40"/>
          <p:cNvSpPr txBox="1"/>
          <p:nvPr/>
        </p:nvSpPr>
        <p:spPr>
          <a:xfrm>
            <a:off x="6355080" y="1481328"/>
            <a:ext cx="2194560" cy="201168"/>
          </a:xfrm>
          <a:prstGeom prst="rect">
            <a:avLst/>
          </a:prstGeom>
          <a:noFill/>
          <a:ln/>
        </p:spPr>
        <p:txBody>
          <a:bodyPr wrap="square" lIns="0" tIns="0" rIns="0" bIns="0" rtlCol="0" anchor="t"/>
          <a:lstStyle/>
          <a:p>
            <a:pPr indent="0" marL="0">
              <a:buNone/>
            </a:pPr>
            <a:r>
              <a:rPr lang="en-US" sz="950" b="1" spc="200" kern="0" dirty="0">
                <a:solidFill>
                  <a:srgbClr val="F5C242"/>
                </a:solidFill>
                <a:latin typeface="Calibri" pitchFamily="34" charset="0"/>
                <a:ea typeface="Calibri" pitchFamily="34" charset="-122"/>
                <a:cs typeface="Calibri" pitchFamily="34" charset="-120"/>
              </a:rPr>
              <a:t>DÉROULÉ</a:t>
            </a:r>
            <a:endParaRPr lang="en-US" sz="950" dirty="0"/>
          </a:p>
        </p:txBody>
      </p:sp>
      <p:sp>
        <p:nvSpPr>
          <p:cNvPr id="48" name="Text 41"/>
          <p:cNvSpPr txBox="1"/>
          <p:nvPr/>
        </p:nvSpPr>
        <p:spPr>
          <a:xfrm>
            <a:off x="6355080" y="1783080"/>
            <a:ext cx="548640" cy="411480"/>
          </a:xfrm>
          <a:prstGeom prst="rect">
            <a:avLst/>
          </a:prstGeom>
          <a:noFill/>
          <a:ln/>
        </p:spPr>
        <p:txBody>
          <a:bodyPr wrap="square" lIns="0" tIns="0" rIns="0" bIns="0" rtlCol="0" anchor="ctr"/>
          <a:lstStyle/>
          <a:p>
            <a:pPr indent="0" marL="0">
              <a:buNone/>
            </a:pPr>
            <a:r>
              <a:rPr lang="en-US" sz="1800" b="1" dirty="0">
                <a:solidFill>
                  <a:srgbClr val="F5C242"/>
                </a:solidFill>
                <a:latin typeface="Calibri" pitchFamily="34" charset="0"/>
                <a:ea typeface="Calibri" pitchFamily="34" charset="-122"/>
                <a:cs typeface="Calibri" pitchFamily="34" charset="-120"/>
              </a:rPr>
              <a:t>5′</a:t>
            </a:r>
            <a:endParaRPr lang="en-US" sz="1800" dirty="0"/>
          </a:p>
        </p:txBody>
      </p:sp>
      <p:sp>
        <p:nvSpPr>
          <p:cNvPr id="49" name="Text 42"/>
          <p:cNvSpPr txBox="1"/>
          <p:nvPr/>
        </p:nvSpPr>
        <p:spPr>
          <a:xfrm>
            <a:off x="6903720" y="1783080"/>
            <a:ext cx="1691640" cy="45720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Choisir un scénario, cadrer la question</a:t>
            </a:r>
            <a:endParaRPr lang="en-US" sz="1050" dirty="0"/>
          </a:p>
        </p:txBody>
      </p:sp>
      <p:sp>
        <p:nvSpPr>
          <p:cNvPr id="50" name="Text 43"/>
          <p:cNvSpPr txBox="1"/>
          <p:nvPr/>
        </p:nvSpPr>
        <p:spPr>
          <a:xfrm>
            <a:off x="6355080" y="2350008"/>
            <a:ext cx="548640" cy="411480"/>
          </a:xfrm>
          <a:prstGeom prst="rect">
            <a:avLst/>
          </a:prstGeom>
          <a:noFill/>
          <a:ln/>
        </p:spPr>
        <p:txBody>
          <a:bodyPr wrap="square" lIns="0" tIns="0" rIns="0" bIns="0" rtlCol="0" anchor="ctr"/>
          <a:lstStyle/>
          <a:p>
            <a:pPr indent="0" marL="0">
              <a:buNone/>
            </a:pPr>
            <a:r>
              <a:rPr lang="en-US" sz="1800" b="1" dirty="0">
                <a:solidFill>
                  <a:srgbClr val="F5C242"/>
                </a:solidFill>
                <a:latin typeface="Calibri" pitchFamily="34" charset="0"/>
                <a:ea typeface="Calibri" pitchFamily="34" charset="-122"/>
                <a:cs typeface="Calibri" pitchFamily="34" charset="-120"/>
              </a:rPr>
              <a:t>20′</a:t>
            </a:r>
            <a:endParaRPr lang="en-US" sz="1800" dirty="0"/>
          </a:p>
        </p:txBody>
      </p:sp>
      <p:sp>
        <p:nvSpPr>
          <p:cNvPr id="51" name="Text 44"/>
          <p:cNvSpPr txBox="1"/>
          <p:nvPr/>
        </p:nvSpPr>
        <p:spPr>
          <a:xfrm>
            <a:off x="6903720" y="2350008"/>
            <a:ext cx="1691640" cy="45720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Remplir le canevas d'évaluation</a:t>
            </a:r>
            <a:endParaRPr lang="en-US" sz="1050" dirty="0"/>
          </a:p>
        </p:txBody>
      </p:sp>
      <p:sp>
        <p:nvSpPr>
          <p:cNvPr id="52" name="Text 45"/>
          <p:cNvSpPr txBox="1"/>
          <p:nvPr/>
        </p:nvSpPr>
        <p:spPr>
          <a:xfrm>
            <a:off x="6355080" y="2916936"/>
            <a:ext cx="548640" cy="411480"/>
          </a:xfrm>
          <a:prstGeom prst="rect">
            <a:avLst/>
          </a:prstGeom>
          <a:noFill/>
          <a:ln/>
        </p:spPr>
        <p:txBody>
          <a:bodyPr wrap="square" lIns="0" tIns="0" rIns="0" bIns="0" rtlCol="0" anchor="ctr"/>
          <a:lstStyle/>
          <a:p>
            <a:pPr indent="0" marL="0">
              <a:buNone/>
            </a:pPr>
            <a:r>
              <a:rPr lang="en-US" sz="1800" b="1" dirty="0">
                <a:solidFill>
                  <a:srgbClr val="F5C242"/>
                </a:solidFill>
                <a:latin typeface="Calibri" pitchFamily="34" charset="0"/>
                <a:ea typeface="Calibri" pitchFamily="34" charset="-122"/>
                <a:cs typeface="Calibri" pitchFamily="34" charset="-120"/>
              </a:rPr>
              <a:t>5′</a:t>
            </a:r>
            <a:endParaRPr lang="en-US" sz="1800" dirty="0"/>
          </a:p>
        </p:txBody>
      </p:sp>
      <p:sp>
        <p:nvSpPr>
          <p:cNvPr id="53" name="Text 46"/>
          <p:cNvSpPr txBox="1"/>
          <p:nvPr/>
        </p:nvSpPr>
        <p:spPr>
          <a:xfrm>
            <a:off x="6903720" y="2916936"/>
            <a:ext cx="1691640" cy="45720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Arrêter un verdict et un risque clé</a:t>
            </a:r>
            <a:endParaRPr lang="en-US" sz="1050" dirty="0"/>
          </a:p>
        </p:txBody>
      </p:sp>
      <p:sp>
        <p:nvSpPr>
          <p:cNvPr id="54" name="Text 47"/>
          <p:cNvSpPr txBox="1"/>
          <p:nvPr/>
        </p:nvSpPr>
        <p:spPr>
          <a:xfrm>
            <a:off x="6355080" y="3483864"/>
            <a:ext cx="548640" cy="411480"/>
          </a:xfrm>
          <a:prstGeom prst="rect">
            <a:avLst/>
          </a:prstGeom>
          <a:noFill/>
          <a:ln/>
        </p:spPr>
        <p:txBody>
          <a:bodyPr wrap="square" lIns="0" tIns="0" rIns="0" bIns="0" rtlCol="0" anchor="ctr"/>
          <a:lstStyle/>
          <a:p>
            <a:pPr indent="0" marL="0">
              <a:buNone/>
            </a:pPr>
            <a:r>
              <a:rPr lang="en-US" sz="1800" b="1" dirty="0">
                <a:solidFill>
                  <a:srgbClr val="F5C242"/>
                </a:solidFill>
                <a:latin typeface="Calibri" pitchFamily="34" charset="0"/>
                <a:ea typeface="Calibri" pitchFamily="34" charset="-122"/>
                <a:cs typeface="Calibri" pitchFamily="34" charset="-120"/>
              </a:rPr>
              <a:t>10′</a:t>
            </a:r>
            <a:endParaRPr lang="en-US" sz="1800" dirty="0"/>
          </a:p>
        </p:txBody>
      </p:sp>
      <p:sp>
        <p:nvSpPr>
          <p:cNvPr id="55" name="Text 48"/>
          <p:cNvSpPr txBox="1"/>
          <p:nvPr/>
        </p:nvSpPr>
        <p:spPr>
          <a:xfrm>
            <a:off x="6903720" y="3483864"/>
            <a:ext cx="1691640" cy="45720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Plénière : deux minutes par équipe</a:t>
            </a:r>
            <a:endParaRPr lang="en-US" sz="1050" dirty="0"/>
          </a:p>
        </p:txBody>
      </p:sp>
      <p:sp>
        <p:nvSpPr>
          <p:cNvPr id="56" name="Text 49"/>
          <p:cNvSpPr txBox="1"/>
          <p:nvPr/>
        </p:nvSpPr>
        <p:spPr>
          <a:xfrm>
            <a:off x="6355080" y="4069080"/>
            <a:ext cx="2194560" cy="274320"/>
          </a:xfrm>
          <a:prstGeom prst="rect">
            <a:avLst/>
          </a:prstGeom>
          <a:noFill/>
          <a:ln/>
        </p:spPr>
        <p:txBody>
          <a:bodyPr wrap="square" lIns="0" tIns="0" rIns="0" bIns="0" rtlCol="0" anchor="t"/>
          <a:lstStyle/>
          <a:p>
            <a:pPr indent="0" marL="0">
              <a:buNone/>
            </a:pPr>
            <a:r>
              <a:rPr lang="en-US" sz="950" i="1" dirty="0">
                <a:solidFill>
                  <a:srgbClr val="E6F6EE"/>
                </a:solidFill>
                <a:latin typeface="Calibri" pitchFamily="34" charset="0"/>
                <a:ea typeface="Calibri" pitchFamily="34" charset="-122"/>
                <a:cs typeface="Calibri" pitchFamily="34" charset="-120"/>
              </a:rPr>
              <a:t>Verdict : publier · diagnostic seul · inadapté</a:t>
            </a:r>
            <a:endParaRPr lang="en-US" sz="950" dirty="0"/>
          </a:p>
        </p:txBody>
      </p:sp>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LABORATOIRE · OUTIL</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Le canevas d'évaluation des sources</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Remplir les cases 1 à 8 dans l'ordre. La case 8 doit se justifier par les cases 1 à 7.</a:t>
            </a:r>
            <a:endParaRPr lang="en-US" sz="1150" dirty="0"/>
          </a:p>
        </p:txBody>
      </p:sp>
      <p:sp>
        <p:nvSpPr>
          <p:cNvPr id="9" name="Shape 7"/>
          <p:cNvSpPr/>
          <p:nvPr/>
        </p:nvSpPr>
        <p:spPr>
          <a:xfrm>
            <a:off x="7662672" y="329184"/>
            <a:ext cx="100584" cy="100584"/>
          </a:xfrm>
          <a:prstGeom prst="ellipse">
            <a:avLst/>
          </a:prstGeom>
          <a:solidFill>
            <a:srgbClr val="D5DED9"/>
          </a:solidFill>
          <a:ln/>
        </p:spPr>
      </p:sp>
      <p:sp>
        <p:nvSpPr>
          <p:cNvPr id="10" name="Shape 8"/>
          <p:cNvSpPr/>
          <p:nvPr/>
        </p:nvSpPr>
        <p:spPr>
          <a:xfrm>
            <a:off x="7845552" y="329184"/>
            <a:ext cx="100584" cy="100584"/>
          </a:xfrm>
          <a:prstGeom prst="ellipse">
            <a:avLst/>
          </a:prstGeom>
          <a:solidFill>
            <a:srgbClr val="D5DED9"/>
          </a:solidFill>
          <a:ln/>
        </p:spPr>
      </p:sp>
      <p:sp>
        <p:nvSpPr>
          <p:cNvPr id="11" name="Shape 9"/>
          <p:cNvSpPr/>
          <p:nvPr/>
        </p:nvSpPr>
        <p:spPr>
          <a:xfrm>
            <a:off x="8028432" y="329184"/>
            <a:ext cx="100584" cy="100584"/>
          </a:xfrm>
          <a:prstGeom prst="ellipse">
            <a:avLst/>
          </a:prstGeom>
          <a:solidFill>
            <a:srgbClr val="D5DED9"/>
          </a:solidFill>
          <a:ln/>
        </p:spPr>
      </p:sp>
      <p:sp>
        <p:nvSpPr>
          <p:cNvPr id="12" name="Shape 10"/>
          <p:cNvSpPr/>
          <p:nvPr/>
        </p:nvSpPr>
        <p:spPr>
          <a:xfrm>
            <a:off x="8211312" y="329184"/>
            <a:ext cx="100584" cy="100584"/>
          </a:xfrm>
          <a:prstGeom prst="ellipse">
            <a:avLst/>
          </a:prstGeom>
          <a:solidFill>
            <a:srgbClr val="D5DED9"/>
          </a:solidFill>
          <a:ln/>
        </p:spPr>
      </p:sp>
      <p:sp>
        <p:nvSpPr>
          <p:cNvPr id="13" name="Shape 11"/>
          <p:cNvSpPr/>
          <p:nvPr/>
        </p:nvSpPr>
        <p:spPr>
          <a:xfrm>
            <a:off x="8394192" y="329184"/>
            <a:ext cx="100584" cy="100584"/>
          </a:xfrm>
          <a:prstGeom prst="ellipse">
            <a:avLst/>
          </a:prstGeom>
          <a:solidFill>
            <a:srgbClr val="D5DED9"/>
          </a:solidFill>
          <a:ln/>
        </p:spPr>
      </p:sp>
      <p:sp>
        <p:nvSpPr>
          <p:cNvPr id="14" name="Shape 12"/>
          <p:cNvSpPr/>
          <p:nvPr/>
        </p:nvSpPr>
        <p:spPr>
          <a:xfrm>
            <a:off x="8577072" y="329184"/>
            <a:ext cx="100584" cy="100584"/>
          </a:xfrm>
          <a:prstGeom prst="ellipse">
            <a:avLst/>
          </a:prstGeom>
          <a:solidFill>
            <a:srgbClr val="B83B2E"/>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Sources de données non traditionnelles · Le trésor caché · Atelier STG17</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37</a:t>
            </a:r>
            <a:endParaRPr lang="en-US" sz="850" dirty="0"/>
          </a:p>
        </p:txBody>
      </p:sp>
      <p:sp>
        <p:nvSpPr>
          <p:cNvPr id="18" name="Shape 15"/>
          <p:cNvSpPr/>
          <p:nvPr/>
        </p:nvSpPr>
        <p:spPr>
          <a:xfrm>
            <a:off x="457200" y="1325880"/>
            <a:ext cx="1975104" cy="1508760"/>
          </a:xfrm>
          <a:prstGeom prst="roundRect">
            <a:avLst>
              <a:gd name="adj" fmla="val 4848"/>
            </a:avLst>
          </a:prstGeom>
          <a:solidFill>
            <a:srgbClr val="FFFFFF"/>
          </a:solidFill>
          <a:ln w="9525">
            <a:solidFill>
              <a:srgbClr val="D5DED9"/>
            </a:solidFill>
            <a:prstDash val="solid"/>
          </a:ln>
        </p:spPr>
      </p:sp>
      <p:sp>
        <p:nvSpPr>
          <p:cNvPr id="19" name="Shape 16"/>
          <p:cNvSpPr/>
          <p:nvPr/>
        </p:nvSpPr>
        <p:spPr>
          <a:xfrm>
            <a:off x="548640" y="1417320"/>
            <a:ext cx="274320" cy="274320"/>
          </a:xfrm>
          <a:prstGeom prst="ellipse">
            <a:avLst/>
          </a:prstGeom>
          <a:solidFill>
            <a:srgbClr val="00704A"/>
          </a:solidFill>
          <a:ln/>
        </p:spPr>
      </p:sp>
      <p:sp>
        <p:nvSpPr>
          <p:cNvPr id="20" name="Text 17"/>
          <p:cNvSpPr txBox="1"/>
          <p:nvPr/>
        </p:nvSpPr>
        <p:spPr>
          <a:xfrm>
            <a:off x="548640" y="141732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1" name="Text 18"/>
          <p:cNvSpPr txBox="1"/>
          <p:nvPr/>
        </p:nvSpPr>
        <p:spPr>
          <a:xfrm>
            <a:off x="877824" y="1380744"/>
            <a:ext cx="1517904" cy="365760"/>
          </a:xfrm>
          <a:prstGeom prst="rect">
            <a:avLst/>
          </a:prstGeom>
          <a:noFill/>
          <a:ln/>
        </p:spPr>
        <p:txBody>
          <a:bodyPr wrap="square" lIns="0" tIns="0" rIns="0" bIns="0" rtlCol="0" anchor="ctr"/>
          <a:lstStyle/>
          <a:p>
            <a:pPr indent="0" marL="0">
              <a:buNone/>
            </a:pPr>
            <a:r>
              <a:rPr lang="en-US" sz="1050" b="1" dirty="0">
                <a:solidFill>
                  <a:srgbClr val="00704A"/>
                </a:solidFill>
                <a:latin typeface="Calibri" pitchFamily="34" charset="0"/>
                <a:ea typeface="Calibri" pitchFamily="34" charset="-122"/>
                <a:cs typeface="Calibri" pitchFamily="34" charset="-120"/>
              </a:rPr>
              <a:t>Question politique</a:t>
            </a:r>
            <a:endParaRPr lang="en-US" sz="1050" dirty="0"/>
          </a:p>
        </p:txBody>
      </p:sp>
      <p:sp>
        <p:nvSpPr>
          <p:cNvPr id="22" name="Text 19"/>
          <p:cNvSpPr txBox="1"/>
          <p:nvPr/>
        </p:nvSpPr>
        <p:spPr>
          <a:xfrm>
            <a:off x="566928" y="1764792"/>
            <a:ext cx="1773936" cy="411480"/>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Qui a besoin de quoi, quand, à quel niveau ?</a:t>
            </a:r>
            <a:endParaRPr lang="en-US" sz="950" dirty="0"/>
          </a:p>
        </p:txBody>
      </p:sp>
      <p:pic>
        <p:nvPicPr>
          <p:cNvPr id="23" name="Image 0" descr="preencoded.png">    </p:cNvPr>
          <p:cNvPicPr>
            <a:picLocks noChangeAspect="1"/>
          </p:cNvPicPr>
          <p:nvPr/>
        </p:nvPicPr>
        <p:blipFill>
          <a:blip r:embed="rId1"/>
          <a:stretch>
            <a:fillRect/>
          </a:stretch>
        </p:blipFill>
        <p:spPr>
          <a:xfrm>
            <a:off x="1874520" y="2286000"/>
            <a:ext cx="411480" cy="411480"/>
          </a:xfrm>
          <a:prstGeom prst="rect">
            <a:avLst/>
          </a:prstGeom>
        </p:spPr>
      </p:pic>
      <p:sp>
        <p:nvSpPr>
          <p:cNvPr id="24" name="Shape 20"/>
          <p:cNvSpPr/>
          <p:nvPr/>
        </p:nvSpPr>
        <p:spPr>
          <a:xfrm>
            <a:off x="566928" y="2350008"/>
            <a:ext cx="1188720" cy="0"/>
          </a:xfrm>
          <a:prstGeom prst="line">
            <a:avLst/>
          </a:prstGeom>
          <a:noFill/>
          <a:ln w="9525">
            <a:solidFill>
              <a:srgbClr val="D5DED9"/>
            </a:solidFill>
            <a:prstDash val="dash"/>
          </a:ln>
        </p:spPr>
      </p:sp>
      <p:sp>
        <p:nvSpPr>
          <p:cNvPr id="25" name="Shape 21"/>
          <p:cNvSpPr/>
          <p:nvPr/>
        </p:nvSpPr>
        <p:spPr>
          <a:xfrm>
            <a:off x="566928" y="2551176"/>
            <a:ext cx="1188720" cy="0"/>
          </a:xfrm>
          <a:prstGeom prst="line">
            <a:avLst/>
          </a:prstGeom>
          <a:noFill/>
          <a:ln w="9525">
            <a:solidFill>
              <a:srgbClr val="D5DED9"/>
            </a:solidFill>
            <a:prstDash val="dash"/>
          </a:ln>
        </p:spPr>
      </p:sp>
      <p:sp>
        <p:nvSpPr>
          <p:cNvPr id="26" name="Shape 22"/>
          <p:cNvSpPr/>
          <p:nvPr/>
        </p:nvSpPr>
        <p:spPr>
          <a:xfrm>
            <a:off x="2542032" y="1325880"/>
            <a:ext cx="1975104" cy="1508760"/>
          </a:xfrm>
          <a:prstGeom prst="roundRect">
            <a:avLst>
              <a:gd name="adj" fmla="val 4848"/>
            </a:avLst>
          </a:prstGeom>
          <a:solidFill>
            <a:srgbClr val="FFFFFF"/>
          </a:solidFill>
          <a:ln w="9525">
            <a:solidFill>
              <a:srgbClr val="D5DED9"/>
            </a:solidFill>
            <a:prstDash val="solid"/>
          </a:ln>
        </p:spPr>
      </p:sp>
      <p:sp>
        <p:nvSpPr>
          <p:cNvPr id="27" name="Shape 23"/>
          <p:cNvSpPr/>
          <p:nvPr/>
        </p:nvSpPr>
        <p:spPr>
          <a:xfrm>
            <a:off x="2633472" y="1417320"/>
            <a:ext cx="274320" cy="274320"/>
          </a:xfrm>
          <a:prstGeom prst="ellipse">
            <a:avLst/>
          </a:prstGeom>
          <a:solidFill>
            <a:srgbClr val="00704A"/>
          </a:solidFill>
          <a:ln/>
        </p:spPr>
      </p:sp>
      <p:sp>
        <p:nvSpPr>
          <p:cNvPr id="28" name="Text 24"/>
          <p:cNvSpPr txBox="1"/>
          <p:nvPr/>
        </p:nvSpPr>
        <p:spPr>
          <a:xfrm>
            <a:off x="2633472" y="141732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9" name="Text 25"/>
          <p:cNvSpPr txBox="1"/>
          <p:nvPr/>
        </p:nvSpPr>
        <p:spPr>
          <a:xfrm>
            <a:off x="2962656" y="1380744"/>
            <a:ext cx="1517904" cy="365760"/>
          </a:xfrm>
          <a:prstGeom prst="rect">
            <a:avLst/>
          </a:prstGeom>
          <a:noFill/>
          <a:ln/>
        </p:spPr>
        <p:txBody>
          <a:bodyPr wrap="square" lIns="0" tIns="0" rIns="0" bIns="0" rtlCol="0" anchor="ctr"/>
          <a:lstStyle/>
          <a:p>
            <a:pPr indent="0" marL="0">
              <a:buNone/>
            </a:pPr>
            <a:r>
              <a:rPr lang="en-US" sz="1050" b="1" dirty="0">
                <a:solidFill>
                  <a:srgbClr val="00704A"/>
                </a:solidFill>
                <a:latin typeface="Calibri" pitchFamily="34" charset="0"/>
                <a:ea typeface="Calibri" pitchFamily="34" charset="-122"/>
                <a:cs typeface="Calibri" pitchFamily="34" charset="-120"/>
              </a:rPr>
              <a:t>Concept cible</a:t>
            </a:r>
            <a:endParaRPr lang="en-US" sz="1050" dirty="0"/>
          </a:p>
        </p:txBody>
      </p:sp>
      <p:sp>
        <p:nvSpPr>
          <p:cNvPr id="30" name="Text 26"/>
          <p:cNvSpPr txBox="1"/>
          <p:nvPr/>
        </p:nvSpPr>
        <p:spPr>
          <a:xfrm>
            <a:off x="2651760" y="1764792"/>
            <a:ext cx="1773936" cy="411480"/>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Que faut-il mesurer exactement ?</a:t>
            </a:r>
            <a:endParaRPr lang="en-US" sz="950" dirty="0"/>
          </a:p>
        </p:txBody>
      </p:sp>
      <p:pic>
        <p:nvPicPr>
          <p:cNvPr id="31" name="Image 1" descr="preencoded.png">    </p:cNvPr>
          <p:cNvPicPr>
            <a:picLocks noChangeAspect="1"/>
          </p:cNvPicPr>
          <p:nvPr/>
        </p:nvPicPr>
        <p:blipFill>
          <a:blip r:embed="rId2"/>
          <a:stretch>
            <a:fillRect/>
          </a:stretch>
        </p:blipFill>
        <p:spPr>
          <a:xfrm>
            <a:off x="3959352" y="2286000"/>
            <a:ext cx="411480" cy="411480"/>
          </a:xfrm>
          <a:prstGeom prst="rect">
            <a:avLst/>
          </a:prstGeom>
        </p:spPr>
      </p:pic>
      <p:sp>
        <p:nvSpPr>
          <p:cNvPr id="32" name="Shape 27"/>
          <p:cNvSpPr/>
          <p:nvPr/>
        </p:nvSpPr>
        <p:spPr>
          <a:xfrm>
            <a:off x="2651760" y="2350008"/>
            <a:ext cx="1188720" cy="0"/>
          </a:xfrm>
          <a:prstGeom prst="line">
            <a:avLst/>
          </a:prstGeom>
          <a:noFill/>
          <a:ln w="9525">
            <a:solidFill>
              <a:srgbClr val="D5DED9"/>
            </a:solidFill>
            <a:prstDash val="dash"/>
          </a:ln>
        </p:spPr>
      </p:sp>
      <p:sp>
        <p:nvSpPr>
          <p:cNvPr id="33" name="Shape 28"/>
          <p:cNvSpPr/>
          <p:nvPr/>
        </p:nvSpPr>
        <p:spPr>
          <a:xfrm>
            <a:off x="2651760" y="2551176"/>
            <a:ext cx="1188720" cy="0"/>
          </a:xfrm>
          <a:prstGeom prst="line">
            <a:avLst/>
          </a:prstGeom>
          <a:noFill/>
          <a:ln w="9525">
            <a:solidFill>
              <a:srgbClr val="D5DED9"/>
            </a:solidFill>
            <a:prstDash val="dash"/>
          </a:ln>
        </p:spPr>
      </p:sp>
      <p:sp>
        <p:nvSpPr>
          <p:cNvPr id="34" name="Shape 29"/>
          <p:cNvSpPr/>
          <p:nvPr/>
        </p:nvSpPr>
        <p:spPr>
          <a:xfrm>
            <a:off x="4626864" y="1325880"/>
            <a:ext cx="1975104" cy="1508760"/>
          </a:xfrm>
          <a:prstGeom prst="roundRect">
            <a:avLst>
              <a:gd name="adj" fmla="val 4848"/>
            </a:avLst>
          </a:prstGeom>
          <a:solidFill>
            <a:srgbClr val="FFFFFF"/>
          </a:solidFill>
          <a:ln w="9525">
            <a:solidFill>
              <a:srgbClr val="D5DED9"/>
            </a:solidFill>
            <a:prstDash val="solid"/>
          </a:ln>
        </p:spPr>
      </p:sp>
      <p:sp>
        <p:nvSpPr>
          <p:cNvPr id="35" name="Shape 30"/>
          <p:cNvSpPr/>
          <p:nvPr/>
        </p:nvSpPr>
        <p:spPr>
          <a:xfrm>
            <a:off x="4718304" y="1417320"/>
            <a:ext cx="274320" cy="274320"/>
          </a:xfrm>
          <a:prstGeom prst="ellipse">
            <a:avLst/>
          </a:prstGeom>
          <a:solidFill>
            <a:srgbClr val="00704A"/>
          </a:solidFill>
          <a:ln/>
        </p:spPr>
      </p:sp>
      <p:sp>
        <p:nvSpPr>
          <p:cNvPr id="36" name="Text 31"/>
          <p:cNvSpPr txBox="1"/>
          <p:nvPr/>
        </p:nvSpPr>
        <p:spPr>
          <a:xfrm>
            <a:off x="4718304" y="141732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7" name="Text 32"/>
          <p:cNvSpPr txBox="1"/>
          <p:nvPr/>
        </p:nvSpPr>
        <p:spPr>
          <a:xfrm>
            <a:off x="5047488" y="1380744"/>
            <a:ext cx="1517904" cy="365760"/>
          </a:xfrm>
          <a:prstGeom prst="rect">
            <a:avLst/>
          </a:prstGeom>
          <a:noFill/>
          <a:ln/>
        </p:spPr>
        <p:txBody>
          <a:bodyPr wrap="square" lIns="0" tIns="0" rIns="0" bIns="0" rtlCol="0" anchor="ctr"/>
          <a:lstStyle/>
          <a:p>
            <a:pPr indent="0" marL="0">
              <a:buNone/>
            </a:pPr>
            <a:r>
              <a:rPr lang="en-US" sz="1050" b="1" dirty="0">
                <a:solidFill>
                  <a:srgbClr val="00704A"/>
                </a:solidFill>
                <a:latin typeface="Calibri" pitchFamily="34" charset="0"/>
                <a:ea typeface="Calibri" pitchFamily="34" charset="-122"/>
                <a:cs typeface="Calibri" pitchFamily="34" charset="-120"/>
              </a:rPr>
              <a:t>Indicateur et source</a:t>
            </a:r>
            <a:endParaRPr lang="en-US" sz="1050" dirty="0"/>
          </a:p>
        </p:txBody>
      </p:sp>
      <p:sp>
        <p:nvSpPr>
          <p:cNvPr id="38" name="Text 33"/>
          <p:cNvSpPr txBox="1"/>
          <p:nvPr/>
        </p:nvSpPr>
        <p:spPr>
          <a:xfrm>
            <a:off x="4736592" y="1764792"/>
            <a:ext cx="1773936" cy="411480"/>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Qu'observe-t-on, par qui, à quelle fréquence ?</a:t>
            </a:r>
            <a:endParaRPr lang="en-US" sz="950" dirty="0"/>
          </a:p>
        </p:txBody>
      </p:sp>
      <p:pic>
        <p:nvPicPr>
          <p:cNvPr id="39" name="Image 2" descr="preencoded.png">    </p:cNvPr>
          <p:cNvPicPr>
            <a:picLocks noChangeAspect="1"/>
          </p:cNvPicPr>
          <p:nvPr/>
        </p:nvPicPr>
        <p:blipFill>
          <a:blip r:embed="rId3"/>
          <a:stretch>
            <a:fillRect/>
          </a:stretch>
        </p:blipFill>
        <p:spPr>
          <a:xfrm>
            <a:off x="6044184" y="2286000"/>
            <a:ext cx="411480" cy="411480"/>
          </a:xfrm>
          <a:prstGeom prst="rect">
            <a:avLst/>
          </a:prstGeom>
        </p:spPr>
      </p:pic>
      <p:sp>
        <p:nvSpPr>
          <p:cNvPr id="40" name="Shape 34"/>
          <p:cNvSpPr/>
          <p:nvPr/>
        </p:nvSpPr>
        <p:spPr>
          <a:xfrm>
            <a:off x="4736592" y="2350008"/>
            <a:ext cx="1188720" cy="0"/>
          </a:xfrm>
          <a:prstGeom prst="line">
            <a:avLst/>
          </a:prstGeom>
          <a:noFill/>
          <a:ln w="9525">
            <a:solidFill>
              <a:srgbClr val="D5DED9"/>
            </a:solidFill>
            <a:prstDash val="dash"/>
          </a:ln>
        </p:spPr>
      </p:sp>
      <p:sp>
        <p:nvSpPr>
          <p:cNvPr id="41" name="Shape 35"/>
          <p:cNvSpPr/>
          <p:nvPr/>
        </p:nvSpPr>
        <p:spPr>
          <a:xfrm>
            <a:off x="4736592" y="2551176"/>
            <a:ext cx="1188720" cy="0"/>
          </a:xfrm>
          <a:prstGeom prst="line">
            <a:avLst/>
          </a:prstGeom>
          <a:noFill/>
          <a:ln w="9525">
            <a:solidFill>
              <a:srgbClr val="D5DED9"/>
            </a:solidFill>
            <a:prstDash val="dash"/>
          </a:ln>
        </p:spPr>
      </p:sp>
      <p:sp>
        <p:nvSpPr>
          <p:cNvPr id="42" name="Shape 36"/>
          <p:cNvSpPr/>
          <p:nvPr/>
        </p:nvSpPr>
        <p:spPr>
          <a:xfrm>
            <a:off x="6711696" y="1325880"/>
            <a:ext cx="1975104" cy="1508760"/>
          </a:xfrm>
          <a:prstGeom prst="roundRect">
            <a:avLst>
              <a:gd name="adj" fmla="val 4848"/>
            </a:avLst>
          </a:prstGeom>
          <a:solidFill>
            <a:srgbClr val="FFFFFF"/>
          </a:solidFill>
          <a:ln w="9525">
            <a:solidFill>
              <a:srgbClr val="D5DED9"/>
            </a:solidFill>
            <a:prstDash val="solid"/>
          </a:ln>
        </p:spPr>
      </p:sp>
      <p:sp>
        <p:nvSpPr>
          <p:cNvPr id="43" name="Shape 37"/>
          <p:cNvSpPr/>
          <p:nvPr/>
        </p:nvSpPr>
        <p:spPr>
          <a:xfrm>
            <a:off x="6803136" y="1417320"/>
            <a:ext cx="274320" cy="274320"/>
          </a:xfrm>
          <a:prstGeom prst="ellipse">
            <a:avLst/>
          </a:prstGeom>
          <a:solidFill>
            <a:srgbClr val="00704A"/>
          </a:solidFill>
          <a:ln/>
        </p:spPr>
      </p:sp>
      <p:sp>
        <p:nvSpPr>
          <p:cNvPr id="44" name="Text 38"/>
          <p:cNvSpPr txBox="1"/>
          <p:nvPr/>
        </p:nvSpPr>
        <p:spPr>
          <a:xfrm>
            <a:off x="6803136" y="141732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45" name="Text 39"/>
          <p:cNvSpPr txBox="1"/>
          <p:nvPr/>
        </p:nvSpPr>
        <p:spPr>
          <a:xfrm>
            <a:off x="7132320" y="1380744"/>
            <a:ext cx="1517904" cy="365760"/>
          </a:xfrm>
          <a:prstGeom prst="rect">
            <a:avLst/>
          </a:prstGeom>
          <a:noFill/>
          <a:ln/>
        </p:spPr>
        <p:txBody>
          <a:bodyPr wrap="square" lIns="0" tIns="0" rIns="0" bIns="0" rtlCol="0" anchor="ctr"/>
          <a:lstStyle/>
          <a:p>
            <a:pPr indent="0" marL="0">
              <a:buNone/>
            </a:pPr>
            <a:r>
              <a:rPr lang="en-US" sz="1050" b="1" dirty="0">
                <a:solidFill>
                  <a:srgbClr val="00704A"/>
                </a:solidFill>
                <a:latin typeface="Calibri" pitchFamily="34" charset="0"/>
                <a:ea typeface="Calibri" pitchFamily="34" charset="-122"/>
                <a:cs typeface="Calibri" pitchFamily="34" charset="-120"/>
              </a:rPr>
              <a:t>Qui manque ?</a:t>
            </a:r>
            <a:endParaRPr lang="en-US" sz="1050" dirty="0"/>
          </a:p>
        </p:txBody>
      </p:sp>
      <p:sp>
        <p:nvSpPr>
          <p:cNvPr id="46" name="Text 40"/>
          <p:cNvSpPr txBox="1"/>
          <p:nvPr/>
        </p:nvSpPr>
        <p:spPr>
          <a:xfrm>
            <a:off x="6821424" y="1764792"/>
            <a:ext cx="1773936" cy="411480"/>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Lacunes de couverture et auto-sélection</a:t>
            </a:r>
            <a:endParaRPr lang="en-US" sz="950" dirty="0"/>
          </a:p>
        </p:txBody>
      </p:sp>
      <p:pic>
        <p:nvPicPr>
          <p:cNvPr id="47" name="Image 3" descr="preencoded.png">    </p:cNvPr>
          <p:cNvPicPr>
            <a:picLocks noChangeAspect="1"/>
          </p:cNvPicPr>
          <p:nvPr/>
        </p:nvPicPr>
        <p:blipFill>
          <a:blip r:embed="rId4"/>
          <a:stretch>
            <a:fillRect/>
          </a:stretch>
        </p:blipFill>
        <p:spPr>
          <a:xfrm>
            <a:off x="8129016" y="2286000"/>
            <a:ext cx="411480" cy="411480"/>
          </a:xfrm>
          <a:prstGeom prst="rect">
            <a:avLst/>
          </a:prstGeom>
        </p:spPr>
      </p:pic>
      <p:sp>
        <p:nvSpPr>
          <p:cNvPr id="48" name="Shape 41"/>
          <p:cNvSpPr/>
          <p:nvPr/>
        </p:nvSpPr>
        <p:spPr>
          <a:xfrm>
            <a:off x="6821424" y="2350008"/>
            <a:ext cx="1188720" cy="0"/>
          </a:xfrm>
          <a:prstGeom prst="line">
            <a:avLst/>
          </a:prstGeom>
          <a:noFill/>
          <a:ln w="9525">
            <a:solidFill>
              <a:srgbClr val="D5DED9"/>
            </a:solidFill>
            <a:prstDash val="dash"/>
          </a:ln>
        </p:spPr>
      </p:sp>
      <p:sp>
        <p:nvSpPr>
          <p:cNvPr id="49" name="Shape 42"/>
          <p:cNvSpPr/>
          <p:nvPr/>
        </p:nvSpPr>
        <p:spPr>
          <a:xfrm>
            <a:off x="6821424" y="2551176"/>
            <a:ext cx="1188720" cy="0"/>
          </a:xfrm>
          <a:prstGeom prst="line">
            <a:avLst/>
          </a:prstGeom>
          <a:noFill/>
          <a:ln w="9525">
            <a:solidFill>
              <a:srgbClr val="D5DED9"/>
            </a:solidFill>
            <a:prstDash val="dash"/>
          </a:ln>
        </p:spPr>
      </p:sp>
      <p:sp>
        <p:nvSpPr>
          <p:cNvPr id="50" name="Shape 43"/>
          <p:cNvSpPr/>
          <p:nvPr/>
        </p:nvSpPr>
        <p:spPr>
          <a:xfrm>
            <a:off x="457200" y="2944368"/>
            <a:ext cx="1975104" cy="1508760"/>
          </a:xfrm>
          <a:prstGeom prst="roundRect">
            <a:avLst>
              <a:gd name="adj" fmla="val 4848"/>
            </a:avLst>
          </a:prstGeom>
          <a:solidFill>
            <a:srgbClr val="FFFFFF"/>
          </a:solidFill>
          <a:ln w="9525">
            <a:solidFill>
              <a:srgbClr val="D5DED9"/>
            </a:solidFill>
            <a:prstDash val="solid"/>
          </a:ln>
        </p:spPr>
      </p:sp>
      <p:sp>
        <p:nvSpPr>
          <p:cNvPr id="51" name="Shape 44"/>
          <p:cNvSpPr/>
          <p:nvPr/>
        </p:nvSpPr>
        <p:spPr>
          <a:xfrm>
            <a:off x="548640" y="3035808"/>
            <a:ext cx="274320" cy="274320"/>
          </a:xfrm>
          <a:prstGeom prst="ellipse">
            <a:avLst/>
          </a:prstGeom>
          <a:solidFill>
            <a:srgbClr val="00704A"/>
          </a:solidFill>
          <a:ln/>
        </p:spPr>
      </p:sp>
      <p:sp>
        <p:nvSpPr>
          <p:cNvPr id="52" name="Text 45"/>
          <p:cNvSpPr txBox="1"/>
          <p:nvPr/>
        </p:nvSpPr>
        <p:spPr>
          <a:xfrm>
            <a:off x="548640" y="3035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53" name="Text 46"/>
          <p:cNvSpPr txBox="1"/>
          <p:nvPr/>
        </p:nvSpPr>
        <p:spPr>
          <a:xfrm>
            <a:off x="877824" y="2999232"/>
            <a:ext cx="1517904" cy="365760"/>
          </a:xfrm>
          <a:prstGeom prst="rect">
            <a:avLst/>
          </a:prstGeom>
          <a:noFill/>
          <a:ln/>
        </p:spPr>
        <p:txBody>
          <a:bodyPr wrap="square" lIns="0" tIns="0" rIns="0" bIns="0" rtlCol="0" anchor="ctr"/>
          <a:lstStyle/>
          <a:p>
            <a:pPr indent="0" marL="0">
              <a:buNone/>
            </a:pPr>
            <a:r>
              <a:rPr lang="en-US" sz="1050" b="1" dirty="0">
                <a:solidFill>
                  <a:srgbClr val="00704A"/>
                </a:solidFill>
                <a:latin typeface="Calibri" pitchFamily="34" charset="0"/>
                <a:ea typeface="Calibri" pitchFamily="34" charset="-122"/>
                <a:cs typeface="Calibri" pitchFamily="34" charset="-120"/>
              </a:rPr>
              <a:t>Modèle d'accès</a:t>
            </a:r>
            <a:endParaRPr lang="en-US" sz="1050" dirty="0"/>
          </a:p>
        </p:txBody>
      </p:sp>
      <p:sp>
        <p:nvSpPr>
          <p:cNvPr id="54" name="Text 47"/>
          <p:cNvSpPr txBox="1"/>
          <p:nvPr/>
        </p:nvSpPr>
        <p:spPr>
          <a:xfrm>
            <a:off x="566928" y="3383280"/>
            <a:ext cx="1773936" cy="411480"/>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Ouvert, achat, accord, collaboratif, loi</a:t>
            </a:r>
            <a:endParaRPr lang="en-US" sz="950" dirty="0"/>
          </a:p>
        </p:txBody>
      </p:sp>
      <p:pic>
        <p:nvPicPr>
          <p:cNvPr id="55" name="Image 4" descr="preencoded.png">    </p:cNvPr>
          <p:cNvPicPr>
            <a:picLocks noChangeAspect="1"/>
          </p:cNvPicPr>
          <p:nvPr/>
        </p:nvPicPr>
        <p:blipFill>
          <a:blip r:embed="rId5"/>
          <a:stretch>
            <a:fillRect/>
          </a:stretch>
        </p:blipFill>
        <p:spPr>
          <a:xfrm>
            <a:off x="1874520" y="3904488"/>
            <a:ext cx="411480" cy="411480"/>
          </a:xfrm>
          <a:prstGeom prst="rect">
            <a:avLst/>
          </a:prstGeom>
        </p:spPr>
      </p:pic>
      <p:sp>
        <p:nvSpPr>
          <p:cNvPr id="56" name="Shape 48"/>
          <p:cNvSpPr/>
          <p:nvPr/>
        </p:nvSpPr>
        <p:spPr>
          <a:xfrm>
            <a:off x="566928" y="3968496"/>
            <a:ext cx="1188720" cy="0"/>
          </a:xfrm>
          <a:prstGeom prst="line">
            <a:avLst/>
          </a:prstGeom>
          <a:noFill/>
          <a:ln w="9525">
            <a:solidFill>
              <a:srgbClr val="D5DED9"/>
            </a:solidFill>
            <a:prstDash val="dash"/>
          </a:ln>
        </p:spPr>
      </p:sp>
      <p:sp>
        <p:nvSpPr>
          <p:cNvPr id="57" name="Shape 49"/>
          <p:cNvSpPr/>
          <p:nvPr/>
        </p:nvSpPr>
        <p:spPr>
          <a:xfrm>
            <a:off x="566928" y="4169664"/>
            <a:ext cx="1188720" cy="0"/>
          </a:xfrm>
          <a:prstGeom prst="line">
            <a:avLst/>
          </a:prstGeom>
          <a:noFill/>
          <a:ln w="9525">
            <a:solidFill>
              <a:srgbClr val="D5DED9"/>
            </a:solidFill>
            <a:prstDash val="dash"/>
          </a:ln>
        </p:spPr>
      </p:sp>
      <p:sp>
        <p:nvSpPr>
          <p:cNvPr id="58" name="Shape 50"/>
          <p:cNvSpPr/>
          <p:nvPr/>
        </p:nvSpPr>
        <p:spPr>
          <a:xfrm>
            <a:off x="2542032" y="2944368"/>
            <a:ext cx="1975104" cy="1508760"/>
          </a:xfrm>
          <a:prstGeom prst="roundRect">
            <a:avLst>
              <a:gd name="adj" fmla="val 4848"/>
            </a:avLst>
          </a:prstGeom>
          <a:solidFill>
            <a:srgbClr val="FFFFFF"/>
          </a:solidFill>
          <a:ln w="9525">
            <a:solidFill>
              <a:srgbClr val="D5DED9"/>
            </a:solidFill>
            <a:prstDash val="solid"/>
          </a:ln>
        </p:spPr>
      </p:sp>
      <p:sp>
        <p:nvSpPr>
          <p:cNvPr id="59" name="Shape 51"/>
          <p:cNvSpPr/>
          <p:nvPr/>
        </p:nvSpPr>
        <p:spPr>
          <a:xfrm>
            <a:off x="2633472" y="3035808"/>
            <a:ext cx="274320" cy="274320"/>
          </a:xfrm>
          <a:prstGeom prst="ellipse">
            <a:avLst/>
          </a:prstGeom>
          <a:solidFill>
            <a:srgbClr val="00704A"/>
          </a:solidFill>
          <a:ln/>
        </p:spPr>
      </p:sp>
      <p:sp>
        <p:nvSpPr>
          <p:cNvPr id="60" name="Text 52"/>
          <p:cNvSpPr txBox="1"/>
          <p:nvPr/>
        </p:nvSpPr>
        <p:spPr>
          <a:xfrm>
            <a:off x="2633472" y="3035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61" name="Text 53"/>
          <p:cNvSpPr txBox="1"/>
          <p:nvPr/>
        </p:nvSpPr>
        <p:spPr>
          <a:xfrm>
            <a:off x="2962656" y="2999232"/>
            <a:ext cx="1517904" cy="365760"/>
          </a:xfrm>
          <a:prstGeom prst="rect">
            <a:avLst/>
          </a:prstGeom>
          <a:noFill/>
          <a:ln/>
        </p:spPr>
        <p:txBody>
          <a:bodyPr wrap="square" lIns="0" tIns="0" rIns="0" bIns="0" rtlCol="0" anchor="ctr"/>
          <a:lstStyle/>
          <a:p>
            <a:pPr indent="0" marL="0">
              <a:buNone/>
            </a:pPr>
            <a:r>
              <a:rPr lang="en-US" sz="1050" b="1" dirty="0">
                <a:solidFill>
                  <a:srgbClr val="00704A"/>
                </a:solidFill>
                <a:latin typeface="Calibri" pitchFamily="34" charset="0"/>
                <a:ea typeface="Calibri" pitchFamily="34" charset="-122"/>
                <a:cs typeface="Calibri" pitchFamily="34" charset="-120"/>
              </a:rPr>
              <a:t>Risque juridique et éthique</a:t>
            </a:r>
            <a:endParaRPr lang="en-US" sz="1050" dirty="0"/>
          </a:p>
        </p:txBody>
      </p:sp>
      <p:sp>
        <p:nvSpPr>
          <p:cNvPr id="62" name="Text 54"/>
          <p:cNvSpPr txBox="1"/>
          <p:nvPr/>
        </p:nvSpPr>
        <p:spPr>
          <a:xfrm>
            <a:off x="2651760" y="3383280"/>
            <a:ext cx="1773936" cy="411480"/>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Base légale, réidentification, préjudice collectif</a:t>
            </a:r>
            <a:endParaRPr lang="en-US" sz="950" dirty="0"/>
          </a:p>
        </p:txBody>
      </p:sp>
      <p:pic>
        <p:nvPicPr>
          <p:cNvPr id="63" name="Image 5" descr="preencoded.png">    </p:cNvPr>
          <p:cNvPicPr>
            <a:picLocks noChangeAspect="1"/>
          </p:cNvPicPr>
          <p:nvPr/>
        </p:nvPicPr>
        <p:blipFill>
          <a:blip r:embed="rId6"/>
          <a:stretch>
            <a:fillRect/>
          </a:stretch>
        </p:blipFill>
        <p:spPr>
          <a:xfrm>
            <a:off x="3959352" y="3904488"/>
            <a:ext cx="411480" cy="411480"/>
          </a:xfrm>
          <a:prstGeom prst="rect">
            <a:avLst/>
          </a:prstGeom>
        </p:spPr>
      </p:pic>
      <p:sp>
        <p:nvSpPr>
          <p:cNvPr id="64" name="Shape 55"/>
          <p:cNvSpPr/>
          <p:nvPr/>
        </p:nvSpPr>
        <p:spPr>
          <a:xfrm>
            <a:off x="2651760" y="3968496"/>
            <a:ext cx="1188720" cy="0"/>
          </a:xfrm>
          <a:prstGeom prst="line">
            <a:avLst/>
          </a:prstGeom>
          <a:noFill/>
          <a:ln w="9525">
            <a:solidFill>
              <a:srgbClr val="D5DED9"/>
            </a:solidFill>
            <a:prstDash val="dash"/>
          </a:ln>
        </p:spPr>
      </p:sp>
      <p:sp>
        <p:nvSpPr>
          <p:cNvPr id="65" name="Shape 56"/>
          <p:cNvSpPr/>
          <p:nvPr/>
        </p:nvSpPr>
        <p:spPr>
          <a:xfrm>
            <a:off x="2651760" y="4169664"/>
            <a:ext cx="1188720" cy="0"/>
          </a:xfrm>
          <a:prstGeom prst="line">
            <a:avLst/>
          </a:prstGeom>
          <a:noFill/>
          <a:ln w="9525">
            <a:solidFill>
              <a:srgbClr val="D5DED9"/>
            </a:solidFill>
            <a:prstDash val="dash"/>
          </a:ln>
        </p:spPr>
      </p:sp>
      <p:sp>
        <p:nvSpPr>
          <p:cNvPr id="66" name="Shape 57"/>
          <p:cNvSpPr/>
          <p:nvPr/>
        </p:nvSpPr>
        <p:spPr>
          <a:xfrm>
            <a:off x="4626864" y="2944368"/>
            <a:ext cx="1975104" cy="1508760"/>
          </a:xfrm>
          <a:prstGeom prst="roundRect">
            <a:avLst>
              <a:gd name="adj" fmla="val 4848"/>
            </a:avLst>
          </a:prstGeom>
          <a:solidFill>
            <a:srgbClr val="FFFFFF"/>
          </a:solidFill>
          <a:ln w="9525">
            <a:solidFill>
              <a:srgbClr val="D5DED9"/>
            </a:solidFill>
            <a:prstDash val="solid"/>
          </a:ln>
        </p:spPr>
      </p:sp>
      <p:sp>
        <p:nvSpPr>
          <p:cNvPr id="67" name="Shape 58"/>
          <p:cNvSpPr/>
          <p:nvPr/>
        </p:nvSpPr>
        <p:spPr>
          <a:xfrm>
            <a:off x="4718304" y="3035808"/>
            <a:ext cx="274320" cy="274320"/>
          </a:xfrm>
          <a:prstGeom prst="ellipse">
            <a:avLst/>
          </a:prstGeom>
          <a:solidFill>
            <a:srgbClr val="00704A"/>
          </a:solidFill>
          <a:ln/>
        </p:spPr>
      </p:sp>
      <p:sp>
        <p:nvSpPr>
          <p:cNvPr id="68" name="Text 59"/>
          <p:cNvSpPr txBox="1"/>
          <p:nvPr/>
        </p:nvSpPr>
        <p:spPr>
          <a:xfrm>
            <a:off x="4718304" y="3035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69" name="Text 60"/>
          <p:cNvSpPr txBox="1"/>
          <p:nvPr/>
        </p:nvSpPr>
        <p:spPr>
          <a:xfrm>
            <a:off x="5047488" y="2999232"/>
            <a:ext cx="1517904" cy="365760"/>
          </a:xfrm>
          <a:prstGeom prst="rect">
            <a:avLst/>
          </a:prstGeom>
          <a:noFill/>
          <a:ln/>
        </p:spPr>
        <p:txBody>
          <a:bodyPr wrap="square" lIns="0" tIns="0" rIns="0" bIns="0" rtlCol="0" anchor="ctr"/>
          <a:lstStyle/>
          <a:p>
            <a:pPr indent="0" marL="0">
              <a:buNone/>
            </a:pPr>
            <a:r>
              <a:rPr lang="en-US" sz="1050" b="1" dirty="0">
                <a:solidFill>
                  <a:srgbClr val="00704A"/>
                </a:solidFill>
                <a:latin typeface="Calibri" pitchFamily="34" charset="0"/>
                <a:ea typeface="Calibri" pitchFamily="34" charset="-122"/>
                <a:cs typeface="Calibri" pitchFamily="34" charset="-120"/>
              </a:rPr>
              <a:t>Validation</a:t>
            </a:r>
            <a:endParaRPr lang="en-US" sz="1050" dirty="0"/>
          </a:p>
        </p:txBody>
      </p:sp>
      <p:sp>
        <p:nvSpPr>
          <p:cNvPr id="70" name="Text 61"/>
          <p:cNvSpPr txBox="1"/>
          <p:nvPr/>
        </p:nvSpPr>
        <p:spPr>
          <a:xfrm>
            <a:off x="4736592" y="3383280"/>
            <a:ext cx="1773936" cy="411480"/>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Référence à laquelle se comparer</a:t>
            </a:r>
            <a:endParaRPr lang="en-US" sz="950" dirty="0"/>
          </a:p>
        </p:txBody>
      </p:sp>
      <p:pic>
        <p:nvPicPr>
          <p:cNvPr id="71" name="Image 6" descr="preencoded.png">    </p:cNvPr>
          <p:cNvPicPr>
            <a:picLocks noChangeAspect="1"/>
          </p:cNvPicPr>
          <p:nvPr/>
        </p:nvPicPr>
        <p:blipFill>
          <a:blip r:embed="rId7"/>
          <a:stretch>
            <a:fillRect/>
          </a:stretch>
        </p:blipFill>
        <p:spPr>
          <a:xfrm>
            <a:off x="6044184" y="3904488"/>
            <a:ext cx="411480" cy="411480"/>
          </a:xfrm>
          <a:prstGeom prst="rect">
            <a:avLst/>
          </a:prstGeom>
        </p:spPr>
      </p:pic>
      <p:sp>
        <p:nvSpPr>
          <p:cNvPr id="72" name="Shape 62"/>
          <p:cNvSpPr/>
          <p:nvPr/>
        </p:nvSpPr>
        <p:spPr>
          <a:xfrm>
            <a:off x="4736592" y="3968496"/>
            <a:ext cx="1188720" cy="0"/>
          </a:xfrm>
          <a:prstGeom prst="line">
            <a:avLst/>
          </a:prstGeom>
          <a:noFill/>
          <a:ln w="9525">
            <a:solidFill>
              <a:srgbClr val="D5DED9"/>
            </a:solidFill>
            <a:prstDash val="dash"/>
          </a:ln>
        </p:spPr>
      </p:sp>
      <p:sp>
        <p:nvSpPr>
          <p:cNvPr id="73" name="Shape 63"/>
          <p:cNvSpPr/>
          <p:nvPr/>
        </p:nvSpPr>
        <p:spPr>
          <a:xfrm>
            <a:off x="4736592" y="4169664"/>
            <a:ext cx="1188720" cy="0"/>
          </a:xfrm>
          <a:prstGeom prst="line">
            <a:avLst/>
          </a:prstGeom>
          <a:noFill/>
          <a:ln w="9525">
            <a:solidFill>
              <a:srgbClr val="D5DED9"/>
            </a:solidFill>
            <a:prstDash val="dash"/>
          </a:ln>
        </p:spPr>
      </p:sp>
      <p:sp>
        <p:nvSpPr>
          <p:cNvPr id="74" name="Shape 64"/>
          <p:cNvSpPr/>
          <p:nvPr/>
        </p:nvSpPr>
        <p:spPr>
          <a:xfrm>
            <a:off x="6711696" y="2944368"/>
            <a:ext cx="1975104" cy="1508760"/>
          </a:xfrm>
          <a:prstGeom prst="roundRect">
            <a:avLst>
              <a:gd name="adj" fmla="val 4848"/>
            </a:avLst>
          </a:prstGeom>
          <a:solidFill>
            <a:srgbClr val="E8F5EF"/>
          </a:solidFill>
          <a:ln w="15875">
            <a:solidFill>
              <a:srgbClr val="B83B2E"/>
            </a:solidFill>
            <a:prstDash val="solid"/>
          </a:ln>
        </p:spPr>
      </p:sp>
      <p:sp>
        <p:nvSpPr>
          <p:cNvPr id="75" name="Shape 65"/>
          <p:cNvSpPr/>
          <p:nvPr/>
        </p:nvSpPr>
        <p:spPr>
          <a:xfrm>
            <a:off x="6803136" y="3035808"/>
            <a:ext cx="274320" cy="274320"/>
          </a:xfrm>
          <a:prstGeom prst="ellipse">
            <a:avLst/>
          </a:prstGeom>
          <a:solidFill>
            <a:srgbClr val="B83B2E"/>
          </a:solidFill>
          <a:ln/>
        </p:spPr>
      </p:sp>
      <p:sp>
        <p:nvSpPr>
          <p:cNvPr id="76" name="Text 66"/>
          <p:cNvSpPr txBox="1"/>
          <p:nvPr/>
        </p:nvSpPr>
        <p:spPr>
          <a:xfrm>
            <a:off x="6803136" y="3035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77" name="Text 67"/>
          <p:cNvSpPr txBox="1"/>
          <p:nvPr/>
        </p:nvSpPr>
        <p:spPr>
          <a:xfrm>
            <a:off x="7132320" y="2999232"/>
            <a:ext cx="1517904" cy="365760"/>
          </a:xfrm>
          <a:prstGeom prst="rect">
            <a:avLst/>
          </a:prstGeom>
          <a:noFill/>
          <a:ln/>
        </p:spPr>
        <p:txBody>
          <a:bodyPr wrap="square" lIns="0" tIns="0" rIns="0" bIns="0" rtlCol="0" anchor="ctr"/>
          <a:lstStyle/>
          <a:p>
            <a:pPr indent="0" marL="0">
              <a:buNone/>
            </a:pPr>
            <a:r>
              <a:rPr lang="en-US" sz="1050" b="1" dirty="0">
                <a:solidFill>
                  <a:srgbClr val="B83B2E"/>
                </a:solidFill>
                <a:latin typeface="Calibri" pitchFamily="34" charset="0"/>
                <a:ea typeface="Calibri" pitchFamily="34" charset="-122"/>
                <a:cs typeface="Calibri" pitchFamily="34" charset="-120"/>
              </a:rPr>
              <a:t>Verdict</a:t>
            </a:r>
            <a:endParaRPr lang="en-US" sz="1050" dirty="0"/>
          </a:p>
        </p:txBody>
      </p:sp>
      <p:sp>
        <p:nvSpPr>
          <p:cNvPr id="78" name="Text 68"/>
          <p:cNvSpPr txBox="1"/>
          <p:nvPr/>
        </p:nvSpPr>
        <p:spPr>
          <a:xfrm>
            <a:off x="6821424" y="3383280"/>
            <a:ext cx="1773936" cy="411480"/>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Publier · diagnostic seul · inadapté — pourquoi ?</a:t>
            </a:r>
            <a:endParaRPr lang="en-US" sz="950" dirty="0"/>
          </a:p>
        </p:txBody>
      </p:sp>
      <p:pic>
        <p:nvPicPr>
          <p:cNvPr id="79" name="Image 7" descr="preencoded.png">    </p:cNvPr>
          <p:cNvPicPr>
            <a:picLocks noChangeAspect="1"/>
          </p:cNvPicPr>
          <p:nvPr/>
        </p:nvPicPr>
        <p:blipFill>
          <a:blip r:embed="rId8"/>
          <a:stretch>
            <a:fillRect/>
          </a:stretch>
        </p:blipFill>
        <p:spPr>
          <a:xfrm>
            <a:off x="8129016" y="3904488"/>
            <a:ext cx="411480" cy="411480"/>
          </a:xfrm>
          <a:prstGeom prst="rect">
            <a:avLst/>
          </a:prstGeom>
        </p:spPr>
      </p:pic>
      <p:sp>
        <p:nvSpPr>
          <p:cNvPr id="80" name="Shape 69"/>
          <p:cNvSpPr/>
          <p:nvPr/>
        </p:nvSpPr>
        <p:spPr>
          <a:xfrm>
            <a:off x="6821424" y="3968496"/>
            <a:ext cx="1188720" cy="0"/>
          </a:xfrm>
          <a:prstGeom prst="line">
            <a:avLst/>
          </a:prstGeom>
          <a:noFill/>
          <a:ln w="9525">
            <a:solidFill>
              <a:srgbClr val="D5DED9"/>
            </a:solidFill>
            <a:prstDash val="dash"/>
          </a:ln>
        </p:spPr>
      </p:sp>
      <p:sp>
        <p:nvSpPr>
          <p:cNvPr id="81" name="Shape 70"/>
          <p:cNvSpPr/>
          <p:nvPr/>
        </p:nvSpPr>
        <p:spPr>
          <a:xfrm>
            <a:off x="6821424" y="4169664"/>
            <a:ext cx="1188720" cy="0"/>
          </a:xfrm>
          <a:prstGeom prst="line">
            <a:avLst/>
          </a:prstGeom>
          <a:noFill/>
          <a:ln w="9525">
            <a:solidFill>
              <a:srgbClr val="D5DED9"/>
            </a:solidFill>
            <a:prstDash val="dash"/>
          </a:ln>
        </p:spPr>
      </p:sp>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LABORATOIRE · EXEMPLE</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Exemple : scénario A — connectivité par région</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Un canevas rempli à titre d'illustration, à affiner dans le labo Ookla après la pause.</a:t>
            </a:r>
            <a:endParaRPr lang="en-US" sz="1150" dirty="0"/>
          </a:p>
        </p:txBody>
      </p:sp>
      <p:sp>
        <p:nvSpPr>
          <p:cNvPr id="9" name="Shape 7"/>
          <p:cNvSpPr/>
          <p:nvPr/>
        </p:nvSpPr>
        <p:spPr>
          <a:xfrm>
            <a:off x="7662672" y="329184"/>
            <a:ext cx="100584" cy="100584"/>
          </a:xfrm>
          <a:prstGeom prst="ellipse">
            <a:avLst/>
          </a:prstGeom>
          <a:solidFill>
            <a:srgbClr val="D5DED9"/>
          </a:solidFill>
          <a:ln/>
        </p:spPr>
      </p:sp>
      <p:sp>
        <p:nvSpPr>
          <p:cNvPr id="10" name="Shape 8"/>
          <p:cNvSpPr/>
          <p:nvPr/>
        </p:nvSpPr>
        <p:spPr>
          <a:xfrm>
            <a:off x="7845552" y="329184"/>
            <a:ext cx="100584" cy="100584"/>
          </a:xfrm>
          <a:prstGeom prst="ellipse">
            <a:avLst/>
          </a:prstGeom>
          <a:solidFill>
            <a:srgbClr val="D5DED9"/>
          </a:solidFill>
          <a:ln/>
        </p:spPr>
      </p:sp>
      <p:sp>
        <p:nvSpPr>
          <p:cNvPr id="11" name="Shape 9"/>
          <p:cNvSpPr/>
          <p:nvPr/>
        </p:nvSpPr>
        <p:spPr>
          <a:xfrm>
            <a:off x="8028432" y="329184"/>
            <a:ext cx="100584" cy="100584"/>
          </a:xfrm>
          <a:prstGeom prst="ellipse">
            <a:avLst/>
          </a:prstGeom>
          <a:solidFill>
            <a:srgbClr val="D5DED9"/>
          </a:solidFill>
          <a:ln/>
        </p:spPr>
      </p:sp>
      <p:sp>
        <p:nvSpPr>
          <p:cNvPr id="12" name="Shape 10"/>
          <p:cNvSpPr/>
          <p:nvPr/>
        </p:nvSpPr>
        <p:spPr>
          <a:xfrm>
            <a:off x="8211312" y="329184"/>
            <a:ext cx="100584" cy="100584"/>
          </a:xfrm>
          <a:prstGeom prst="ellipse">
            <a:avLst/>
          </a:prstGeom>
          <a:solidFill>
            <a:srgbClr val="D5DED9"/>
          </a:solidFill>
          <a:ln/>
        </p:spPr>
      </p:sp>
      <p:sp>
        <p:nvSpPr>
          <p:cNvPr id="13" name="Shape 11"/>
          <p:cNvSpPr/>
          <p:nvPr/>
        </p:nvSpPr>
        <p:spPr>
          <a:xfrm>
            <a:off x="8394192" y="329184"/>
            <a:ext cx="100584" cy="100584"/>
          </a:xfrm>
          <a:prstGeom prst="ellipse">
            <a:avLst/>
          </a:prstGeom>
          <a:solidFill>
            <a:srgbClr val="D5DED9"/>
          </a:solidFill>
          <a:ln/>
        </p:spPr>
      </p:sp>
      <p:sp>
        <p:nvSpPr>
          <p:cNvPr id="14" name="Shape 12"/>
          <p:cNvSpPr/>
          <p:nvPr/>
        </p:nvSpPr>
        <p:spPr>
          <a:xfrm>
            <a:off x="8577072" y="329184"/>
            <a:ext cx="100584" cy="100584"/>
          </a:xfrm>
          <a:prstGeom prst="ellipse">
            <a:avLst/>
          </a:prstGeom>
          <a:solidFill>
            <a:srgbClr val="B83B2E"/>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Sources de données non traditionnelles · Le trésor caché · Atelier STG17</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38</a:t>
            </a:r>
            <a:endParaRPr lang="en-US" sz="850" dirty="0"/>
          </a:p>
        </p:txBody>
      </p:sp>
      <p:sp>
        <p:nvSpPr>
          <p:cNvPr id="18" name="Shape 15"/>
          <p:cNvSpPr/>
          <p:nvPr/>
        </p:nvSpPr>
        <p:spPr>
          <a:xfrm>
            <a:off x="457200" y="1325880"/>
            <a:ext cx="1975104" cy="1508760"/>
          </a:xfrm>
          <a:prstGeom prst="roundRect">
            <a:avLst>
              <a:gd name="adj" fmla="val 4848"/>
            </a:avLst>
          </a:prstGeom>
          <a:solidFill>
            <a:srgbClr val="FFFFFF"/>
          </a:solidFill>
          <a:ln w="9525">
            <a:solidFill>
              <a:srgbClr val="D5DED9"/>
            </a:solidFill>
            <a:prstDash val="solid"/>
          </a:ln>
        </p:spPr>
      </p:sp>
      <p:sp>
        <p:nvSpPr>
          <p:cNvPr id="19" name="Shape 16"/>
          <p:cNvSpPr/>
          <p:nvPr/>
        </p:nvSpPr>
        <p:spPr>
          <a:xfrm>
            <a:off x="548640" y="1417320"/>
            <a:ext cx="274320" cy="274320"/>
          </a:xfrm>
          <a:prstGeom prst="ellipse">
            <a:avLst/>
          </a:prstGeom>
          <a:solidFill>
            <a:srgbClr val="00704A"/>
          </a:solidFill>
          <a:ln/>
        </p:spPr>
      </p:sp>
      <p:sp>
        <p:nvSpPr>
          <p:cNvPr id="20" name="Text 17"/>
          <p:cNvSpPr txBox="1"/>
          <p:nvPr/>
        </p:nvSpPr>
        <p:spPr>
          <a:xfrm>
            <a:off x="548640" y="141732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1" name="Text 18"/>
          <p:cNvSpPr txBox="1"/>
          <p:nvPr/>
        </p:nvSpPr>
        <p:spPr>
          <a:xfrm>
            <a:off x="877824" y="1380744"/>
            <a:ext cx="1517904" cy="365760"/>
          </a:xfrm>
          <a:prstGeom prst="rect">
            <a:avLst/>
          </a:prstGeom>
          <a:noFill/>
          <a:ln/>
        </p:spPr>
        <p:txBody>
          <a:bodyPr wrap="square" lIns="0" tIns="0" rIns="0" bIns="0" rtlCol="0" anchor="ctr"/>
          <a:lstStyle/>
          <a:p>
            <a:pPr indent="0" marL="0">
              <a:buNone/>
            </a:pPr>
            <a:r>
              <a:rPr lang="en-US" sz="1050" b="1" dirty="0">
                <a:solidFill>
                  <a:srgbClr val="00704A"/>
                </a:solidFill>
                <a:latin typeface="Calibri" pitchFamily="34" charset="0"/>
                <a:ea typeface="Calibri" pitchFamily="34" charset="-122"/>
                <a:cs typeface="Calibri" pitchFamily="34" charset="-120"/>
              </a:rPr>
              <a:t>Question politique</a:t>
            </a:r>
            <a:endParaRPr lang="en-US" sz="1050" dirty="0"/>
          </a:p>
        </p:txBody>
      </p:sp>
      <p:sp>
        <p:nvSpPr>
          <p:cNvPr id="22" name="Text 19"/>
          <p:cNvSpPr txBox="1"/>
          <p:nvPr/>
        </p:nvSpPr>
        <p:spPr>
          <a:xfrm>
            <a:off x="566928" y="1783080"/>
            <a:ext cx="1773936" cy="1024128"/>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Ministère des TIC : qualité internet trimestrielle par région, pour cibler l'investissement.</a:t>
            </a:r>
            <a:endParaRPr lang="en-US" sz="950" dirty="0"/>
          </a:p>
        </p:txBody>
      </p:sp>
      <p:sp>
        <p:nvSpPr>
          <p:cNvPr id="23" name="Shape 20"/>
          <p:cNvSpPr/>
          <p:nvPr/>
        </p:nvSpPr>
        <p:spPr>
          <a:xfrm>
            <a:off x="2542032" y="1325880"/>
            <a:ext cx="1975104" cy="1508760"/>
          </a:xfrm>
          <a:prstGeom prst="roundRect">
            <a:avLst>
              <a:gd name="adj" fmla="val 4848"/>
            </a:avLst>
          </a:prstGeom>
          <a:solidFill>
            <a:srgbClr val="FFFFFF"/>
          </a:solidFill>
          <a:ln w="9525">
            <a:solidFill>
              <a:srgbClr val="D5DED9"/>
            </a:solidFill>
            <a:prstDash val="solid"/>
          </a:ln>
        </p:spPr>
      </p:sp>
      <p:sp>
        <p:nvSpPr>
          <p:cNvPr id="24" name="Shape 21"/>
          <p:cNvSpPr/>
          <p:nvPr/>
        </p:nvSpPr>
        <p:spPr>
          <a:xfrm>
            <a:off x="2633472" y="1417320"/>
            <a:ext cx="274320" cy="274320"/>
          </a:xfrm>
          <a:prstGeom prst="ellipse">
            <a:avLst/>
          </a:prstGeom>
          <a:solidFill>
            <a:srgbClr val="00704A"/>
          </a:solidFill>
          <a:ln/>
        </p:spPr>
      </p:sp>
      <p:sp>
        <p:nvSpPr>
          <p:cNvPr id="25" name="Text 22"/>
          <p:cNvSpPr txBox="1"/>
          <p:nvPr/>
        </p:nvSpPr>
        <p:spPr>
          <a:xfrm>
            <a:off x="2633472" y="141732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6" name="Text 23"/>
          <p:cNvSpPr txBox="1"/>
          <p:nvPr/>
        </p:nvSpPr>
        <p:spPr>
          <a:xfrm>
            <a:off x="2962656" y="1380744"/>
            <a:ext cx="1517904" cy="365760"/>
          </a:xfrm>
          <a:prstGeom prst="rect">
            <a:avLst/>
          </a:prstGeom>
          <a:noFill/>
          <a:ln/>
        </p:spPr>
        <p:txBody>
          <a:bodyPr wrap="square" lIns="0" tIns="0" rIns="0" bIns="0" rtlCol="0" anchor="ctr"/>
          <a:lstStyle/>
          <a:p>
            <a:pPr indent="0" marL="0">
              <a:buNone/>
            </a:pPr>
            <a:r>
              <a:rPr lang="en-US" sz="1050" b="1" dirty="0">
                <a:solidFill>
                  <a:srgbClr val="00704A"/>
                </a:solidFill>
                <a:latin typeface="Calibri" pitchFamily="34" charset="0"/>
                <a:ea typeface="Calibri" pitchFamily="34" charset="-122"/>
                <a:cs typeface="Calibri" pitchFamily="34" charset="-120"/>
              </a:rPr>
              <a:t>Concept cible</a:t>
            </a:r>
            <a:endParaRPr lang="en-US" sz="1050" dirty="0"/>
          </a:p>
        </p:txBody>
      </p:sp>
      <p:sp>
        <p:nvSpPr>
          <p:cNvPr id="27" name="Text 24"/>
          <p:cNvSpPr txBox="1"/>
          <p:nvPr/>
        </p:nvSpPr>
        <p:spPr>
          <a:xfrm>
            <a:off x="2651760" y="1783080"/>
            <a:ext cx="1773936" cy="1024128"/>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Qualité de l'internet mobile vécue par la population de chaque région.</a:t>
            </a:r>
            <a:endParaRPr lang="en-US" sz="950" dirty="0"/>
          </a:p>
        </p:txBody>
      </p:sp>
      <p:sp>
        <p:nvSpPr>
          <p:cNvPr id="28" name="Shape 25"/>
          <p:cNvSpPr/>
          <p:nvPr/>
        </p:nvSpPr>
        <p:spPr>
          <a:xfrm>
            <a:off x="4626864" y="1325880"/>
            <a:ext cx="1975104" cy="1508760"/>
          </a:xfrm>
          <a:prstGeom prst="roundRect">
            <a:avLst>
              <a:gd name="adj" fmla="val 4848"/>
            </a:avLst>
          </a:prstGeom>
          <a:solidFill>
            <a:srgbClr val="FFFFFF"/>
          </a:solidFill>
          <a:ln w="9525">
            <a:solidFill>
              <a:srgbClr val="D5DED9"/>
            </a:solidFill>
            <a:prstDash val="solid"/>
          </a:ln>
        </p:spPr>
      </p:sp>
      <p:sp>
        <p:nvSpPr>
          <p:cNvPr id="29" name="Shape 26"/>
          <p:cNvSpPr/>
          <p:nvPr/>
        </p:nvSpPr>
        <p:spPr>
          <a:xfrm>
            <a:off x="4718304" y="1417320"/>
            <a:ext cx="274320" cy="274320"/>
          </a:xfrm>
          <a:prstGeom prst="ellipse">
            <a:avLst/>
          </a:prstGeom>
          <a:solidFill>
            <a:srgbClr val="00704A"/>
          </a:solidFill>
          <a:ln/>
        </p:spPr>
      </p:sp>
      <p:sp>
        <p:nvSpPr>
          <p:cNvPr id="30" name="Text 27"/>
          <p:cNvSpPr txBox="1"/>
          <p:nvPr/>
        </p:nvSpPr>
        <p:spPr>
          <a:xfrm>
            <a:off x="4718304" y="141732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1" name="Text 28"/>
          <p:cNvSpPr txBox="1"/>
          <p:nvPr/>
        </p:nvSpPr>
        <p:spPr>
          <a:xfrm>
            <a:off x="5047488" y="1380744"/>
            <a:ext cx="1517904" cy="365760"/>
          </a:xfrm>
          <a:prstGeom prst="rect">
            <a:avLst/>
          </a:prstGeom>
          <a:noFill/>
          <a:ln/>
        </p:spPr>
        <p:txBody>
          <a:bodyPr wrap="square" lIns="0" tIns="0" rIns="0" bIns="0" rtlCol="0" anchor="ctr"/>
          <a:lstStyle/>
          <a:p>
            <a:pPr indent="0" marL="0">
              <a:buNone/>
            </a:pPr>
            <a:r>
              <a:rPr lang="en-US" sz="1050" b="1" dirty="0">
                <a:solidFill>
                  <a:srgbClr val="00704A"/>
                </a:solidFill>
                <a:latin typeface="Calibri" pitchFamily="34" charset="0"/>
                <a:ea typeface="Calibri" pitchFamily="34" charset="-122"/>
                <a:cs typeface="Calibri" pitchFamily="34" charset="-120"/>
              </a:rPr>
              <a:t>Indicateur et source</a:t>
            </a:r>
            <a:endParaRPr lang="en-US" sz="1050" dirty="0"/>
          </a:p>
        </p:txBody>
      </p:sp>
      <p:sp>
        <p:nvSpPr>
          <p:cNvPr id="32" name="Text 29"/>
          <p:cNvSpPr txBox="1"/>
          <p:nvPr/>
        </p:nvSpPr>
        <p:spPr>
          <a:xfrm>
            <a:off x="4736592" y="1783080"/>
            <a:ext cx="1773936" cy="1024128"/>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Moyennes Ookla par tuile (débit, latence, tests, appareils), trimestrielles, ~611 m.</a:t>
            </a:r>
            <a:endParaRPr lang="en-US" sz="950" dirty="0"/>
          </a:p>
        </p:txBody>
      </p:sp>
      <p:sp>
        <p:nvSpPr>
          <p:cNvPr id="33" name="Shape 30"/>
          <p:cNvSpPr/>
          <p:nvPr/>
        </p:nvSpPr>
        <p:spPr>
          <a:xfrm>
            <a:off x="6711696" y="1325880"/>
            <a:ext cx="1975104" cy="1508760"/>
          </a:xfrm>
          <a:prstGeom prst="roundRect">
            <a:avLst>
              <a:gd name="adj" fmla="val 4848"/>
            </a:avLst>
          </a:prstGeom>
          <a:solidFill>
            <a:srgbClr val="FFFFFF"/>
          </a:solidFill>
          <a:ln w="9525">
            <a:solidFill>
              <a:srgbClr val="D5DED9"/>
            </a:solidFill>
            <a:prstDash val="solid"/>
          </a:ln>
        </p:spPr>
      </p:sp>
      <p:sp>
        <p:nvSpPr>
          <p:cNvPr id="34" name="Shape 31"/>
          <p:cNvSpPr/>
          <p:nvPr/>
        </p:nvSpPr>
        <p:spPr>
          <a:xfrm>
            <a:off x="6803136" y="1417320"/>
            <a:ext cx="274320" cy="274320"/>
          </a:xfrm>
          <a:prstGeom prst="ellipse">
            <a:avLst/>
          </a:prstGeom>
          <a:solidFill>
            <a:srgbClr val="00704A"/>
          </a:solidFill>
          <a:ln/>
        </p:spPr>
      </p:sp>
      <p:sp>
        <p:nvSpPr>
          <p:cNvPr id="35" name="Text 32"/>
          <p:cNvSpPr txBox="1"/>
          <p:nvPr/>
        </p:nvSpPr>
        <p:spPr>
          <a:xfrm>
            <a:off x="6803136" y="141732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6" name="Text 33"/>
          <p:cNvSpPr txBox="1"/>
          <p:nvPr/>
        </p:nvSpPr>
        <p:spPr>
          <a:xfrm>
            <a:off x="7132320" y="1380744"/>
            <a:ext cx="1517904" cy="365760"/>
          </a:xfrm>
          <a:prstGeom prst="rect">
            <a:avLst/>
          </a:prstGeom>
          <a:noFill/>
          <a:ln/>
        </p:spPr>
        <p:txBody>
          <a:bodyPr wrap="square" lIns="0" tIns="0" rIns="0" bIns="0" rtlCol="0" anchor="ctr"/>
          <a:lstStyle/>
          <a:p>
            <a:pPr indent="0" marL="0">
              <a:buNone/>
            </a:pPr>
            <a:r>
              <a:rPr lang="en-US" sz="1050" b="1" dirty="0">
                <a:solidFill>
                  <a:srgbClr val="00704A"/>
                </a:solidFill>
                <a:latin typeface="Calibri" pitchFamily="34" charset="0"/>
                <a:ea typeface="Calibri" pitchFamily="34" charset="-122"/>
                <a:cs typeface="Calibri" pitchFamily="34" charset="-120"/>
              </a:rPr>
              <a:t>Qui manque ?</a:t>
            </a:r>
            <a:endParaRPr lang="en-US" sz="1050" dirty="0"/>
          </a:p>
        </p:txBody>
      </p:sp>
      <p:sp>
        <p:nvSpPr>
          <p:cNvPr id="37" name="Text 34"/>
          <p:cNvSpPr txBox="1"/>
          <p:nvPr/>
        </p:nvSpPr>
        <p:spPr>
          <a:xfrm>
            <a:off x="6821424" y="1783080"/>
            <a:ext cx="1773936" cy="1024128"/>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Ruraux et non-utilisateurs de smartphone ; tuiles sans test ; tests lancés quand ça rame.</a:t>
            </a:r>
            <a:endParaRPr lang="en-US" sz="950" dirty="0"/>
          </a:p>
        </p:txBody>
      </p:sp>
      <p:sp>
        <p:nvSpPr>
          <p:cNvPr id="38" name="Shape 35"/>
          <p:cNvSpPr/>
          <p:nvPr/>
        </p:nvSpPr>
        <p:spPr>
          <a:xfrm>
            <a:off x="457200" y="2944368"/>
            <a:ext cx="1975104" cy="1508760"/>
          </a:xfrm>
          <a:prstGeom prst="roundRect">
            <a:avLst>
              <a:gd name="adj" fmla="val 4848"/>
            </a:avLst>
          </a:prstGeom>
          <a:solidFill>
            <a:srgbClr val="FFFFFF"/>
          </a:solidFill>
          <a:ln w="9525">
            <a:solidFill>
              <a:srgbClr val="D5DED9"/>
            </a:solidFill>
            <a:prstDash val="solid"/>
          </a:ln>
        </p:spPr>
      </p:sp>
      <p:sp>
        <p:nvSpPr>
          <p:cNvPr id="39" name="Shape 36"/>
          <p:cNvSpPr/>
          <p:nvPr/>
        </p:nvSpPr>
        <p:spPr>
          <a:xfrm>
            <a:off x="548640" y="3035808"/>
            <a:ext cx="274320" cy="274320"/>
          </a:xfrm>
          <a:prstGeom prst="ellipse">
            <a:avLst/>
          </a:prstGeom>
          <a:solidFill>
            <a:srgbClr val="00704A"/>
          </a:solidFill>
          <a:ln/>
        </p:spPr>
      </p:sp>
      <p:sp>
        <p:nvSpPr>
          <p:cNvPr id="40" name="Text 37"/>
          <p:cNvSpPr txBox="1"/>
          <p:nvPr/>
        </p:nvSpPr>
        <p:spPr>
          <a:xfrm>
            <a:off x="548640" y="3035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41" name="Text 38"/>
          <p:cNvSpPr txBox="1"/>
          <p:nvPr/>
        </p:nvSpPr>
        <p:spPr>
          <a:xfrm>
            <a:off x="877824" y="2999232"/>
            <a:ext cx="1517904" cy="365760"/>
          </a:xfrm>
          <a:prstGeom prst="rect">
            <a:avLst/>
          </a:prstGeom>
          <a:noFill/>
          <a:ln/>
        </p:spPr>
        <p:txBody>
          <a:bodyPr wrap="square" lIns="0" tIns="0" rIns="0" bIns="0" rtlCol="0" anchor="ctr"/>
          <a:lstStyle/>
          <a:p>
            <a:pPr indent="0" marL="0">
              <a:buNone/>
            </a:pPr>
            <a:r>
              <a:rPr lang="en-US" sz="1050" b="1" dirty="0">
                <a:solidFill>
                  <a:srgbClr val="00704A"/>
                </a:solidFill>
                <a:latin typeface="Calibri" pitchFamily="34" charset="0"/>
                <a:ea typeface="Calibri" pitchFamily="34" charset="-122"/>
                <a:cs typeface="Calibri" pitchFamily="34" charset="-120"/>
              </a:rPr>
              <a:t>Modèle d'accès</a:t>
            </a:r>
            <a:endParaRPr lang="en-US" sz="1050" dirty="0"/>
          </a:p>
        </p:txBody>
      </p:sp>
      <p:sp>
        <p:nvSpPr>
          <p:cNvPr id="42" name="Text 39"/>
          <p:cNvSpPr txBox="1"/>
          <p:nvPr/>
        </p:nvSpPr>
        <p:spPr>
          <a:xfrm>
            <a:off x="566928" y="3401568"/>
            <a:ext cx="1773936" cy="1024128"/>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Données ouvertes (CC BY-NC-SA 4.0) — sans négociation ; licence respectée.</a:t>
            </a:r>
            <a:endParaRPr lang="en-US" sz="950" dirty="0"/>
          </a:p>
        </p:txBody>
      </p:sp>
      <p:sp>
        <p:nvSpPr>
          <p:cNvPr id="43" name="Shape 40"/>
          <p:cNvSpPr/>
          <p:nvPr/>
        </p:nvSpPr>
        <p:spPr>
          <a:xfrm>
            <a:off x="2542032" y="2944368"/>
            <a:ext cx="1975104" cy="1508760"/>
          </a:xfrm>
          <a:prstGeom prst="roundRect">
            <a:avLst>
              <a:gd name="adj" fmla="val 4848"/>
            </a:avLst>
          </a:prstGeom>
          <a:solidFill>
            <a:srgbClr val="FFFFFF"/>
          </a:solidFill>
          <a:ln w="9525">
            <a:solidFill>
              <a:srgbClr val="D5DED9"/>
            </a:solidFill>
            <a:prstDash val="solid"/>
          </a:ln>
        </p:spPr>
      </p:sp>
      <p:sp>
        <p:nvSpPr>
          <p:cNvPr id="44" name="Shape 41"/>
          <p:cNvSpPr/>
          <p:nvPr/>
        </p:nvSpPr>
        <p:spPr>
          <a:xfrm>
            <a:off x="2633472" y="3035808"/>
            <a:ext cx="274320" cy="274320"/>
          </a:xfrm>
          <a:prstGeom prst="ellipse">
            <a:avLst/>
          </a:prstGeom>
          <a:solidFill>
            <a:srgbClr val="00704A"/>
          </a:solidFill>
          <a:ln/>
        </p:spPr>
      </p:sp>
      <p:sp>
        <p:nvSpPr>
          <p:cNvPr id="45" name="Text 42"/>
          <p:cNvSpPr txBox="1"/>
          <p:nvPr/>
        </p:nvSpPr>
        <p:spPr>
          <a:xfrm>
            <a:off x="2633472" y="3035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46" name="Text 43"/>
          <p:cNvSpPr txBox="1"/>
          <p:nvPr/>
        </p:nvSpPr>
        <p:spPr>
          <a:xfrm>
            <a:off x="2962656" y="2999232"/>
            <a:ext cx="1517904" cy="365760"/>
          </a:xfrm>
          <a:prstGeom prst="rect">
            <a:avLst/>
          </a:prstGeom>
          <a:noFill/>
          <a:ln/>
        </p:spPr>
        <p:txBody>
          <a:bodyPr wrap="square" lIns="0" tIns="0" rIns="0" bIns="0" rtlCol="0" anchor="ctr"/>
          <a:lstStyle/>
          <a:p>
            <a:pPr indent="0" marL="0">
              <a:buNone/>
            </a:pPr>
            <a:r>
              <a:rPr lang="en-US" sz="1050" b="1" dirty="0">
                <a:solidFill>
                  <a:srgbClr val="00704A"/>
                </a:solidFill>
                <a:latin typeface="Calibri" pitchFamily="34" charset="0"/>
                <a:ea typeface="Calibri" pitchFamily="34" charset="-122"/>
                <a:cs typeface="Calibri" pitchFamily="34" charset="-120"/>
              </a:rPr>
              <a:t>Risque juridique et éthique</a:t>
            </a:r>
            <a:endParaRPr lang="en-US" sz="1050" dirty="0"/>
          </a:p>
        </p:txBody>
      </p:sp>
      <p:sp>
        <p:nvSpPr>
          <p:cNvPr id="47" name="Text 44"/>
          <p:cNvSpPr txBox="1"/>
          <p:nvPr/>
        </p:nvSpPr>
        <p:spPr>
          <a:xfrm>
            <a:off x="2651760" y="3401568"/>
            <a:ext cx="1773936" cy="1024128"/>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Faible : tuiles agrégées, pas de données personnelles. Citer Ookla ; partage à l'identique.</a:t>
            </a:r>
            <a:endParaRPr lang="en-US" sz="950" dirty="0"/>
          </a:p>
        </p:txBody>
      </p:sp>
      <p:sp>
        <p:nvSpPr>
          <p:cNvPr id="48" name="Shape 45"/>
          <p:cNvSpPr/>
          <p:nvPr/>
        </p:nvSpPr>
        <p:spPr>
          <a:xfrm>
            <a:off x="4626864" y="2944368"/>
            <a:ext cx="1975104" cy="1508760"/>
          </a:xfrm>
          <a:prstGeom prst="roundRect">
            <a:avLst>
              <a:gd name="adj" fmla="val 4848"/>
            </a:avLst>
          </a:prstGeom>
          <a:solidFill>
            <a:srgbClr val="FFFFFF"/>
          </a:solidFill>
          <a:ln w="9525">
            <a:solidFill>
              <a:srgbClr val="D5DED9"/>
            </a:solidFill>
            <a:prstDash val="solid"/>
          </a:ln>
        </p:spPr>
      </p:sp>
      <p:sp>
        <p:nvSpPr>
          <p:cNvPr id="49" name="Shape 46"/>
          <p:cNvSpPr/>
          <p:nvPr/>
        </p:nvSpPr>
        <p:spPr>
          <a:xfrm>
            <a:off x="4718304" y="3035808"/>
            <a:ext cx="274320" cy="274320"/>
          </a:xfrm>
          <a:prstGeom prst="ellipse">
            <a:avLst/>
          </a:prstGeom>
          <a:solidFill>
            <a:srgbClr val="00704A"/>
          </a:solidFill>
          <a:ln/>
        </p:spPr>
      </p:sp>
      <p:sp>
        <p:nvSpPr>
          <p:cNvPr id="50" name="Text 47"/>
          <p:cNvSpPr txBox="1"/>
          <p:nvPr/>
        </p:nvSpPr>
        <p:spPr>
          <a:xfrm>
            <a:off x="4718304" y="3035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51" name="Text 48"/>
          <p:cNvSpPr txBox="1"/>
          <p:nvPr/>
        </p:nvSpPr>
        <p:spPr>
          <a:xfrm>
            <a:off x="5047488" y="2999232"/>
            <a:ext cx="1517904" cy="365760"/>
          </a:xfrm>
          <a:prstGeom prst="rect">
            <a:avLst/>
          </a:prstGeom>
          <a:noFill/>
          <a:ln/>
        </p:spPr>
        <p:txBody>
          <a:bodyPr wrap="square" lIns="0" tIns="0" rIns="0" bIns="0" rtlCol="0" anchor="ctr"/>
          <a:lstStyle/>
          <a:p>
            <a:pPr indent="0" marL="0">
              <a:buNone/>
            </a:pPr>
            <a:r>
              <a:rPr lang="en-US" sz="1050" b="1" dirty="0">
                <a:solidFill>
                  <a:srgbClr val="00704A"/>
                </a:solidFill>
                <a:latin typeface="Calibri" pitchFamily="34" charset="0"/>
                <a:ea typeface="Calibri" pitchFamily="34" charset="-122"/>
                <a:cs typeface="Calibri" pitchFamily="34" charset="-120"/>
              </a:rPr>
              <a:t>Validation</a:t>
            </a:r>
            <a:endParaRPr lang="en-US" sz="1050" dirty="0"/>
          </a:p>
        </p:txBody>
      </p:sp>
      <p:sp>
        <p:nvSpPr>
          <p:cNvPr id="52" name="Text 49"/>
          <p:cNvSpPr txBox="1"/>
          <p:nvPr/>
        </p:nvSpPr>
        <p:spPr>
          <a:xfrm>
            <a:off x="4736592" y="3401568"/>
            <a:ext cx="1773936" cy="1024128"/>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Questions TIC du recensement/enquête ; cartes du régulateur ; indicateurs opérateurs.</a:t>
            </a:r>
            <a:endParaRPr lang="en-US" sz="950" dirty="0"/>
          </a:p>
        </p:txBody>
      </p:sp>
      <p:sp>
        <p:nvSpPr>
          <p:cNvPr id="53" name="Shape 50"/>
          <p:cNvSpPr/>
          <p:nvPr/>
        </p:nvSpPr>
        <p:spPr>
          <a:xfrm>
            <a:off x="6711696" y="2944368"/>
            <a:ext cx="1975104" cy="1508760"/>
          </a:xfrm>
          <a:prstGeom prst="roundRect">
            <a:avLst>
              <a:gd name="adj" fmla="val 4848"/>
            </a:avLst>
          </a:prstGeom>
          <a:solidFill>
            <a:srgbClr val="E8F5EF"/>
          </a:solidFill>
          <a:ln w="15875">
            <a:solidFill>
              <a:srgbClr val="B83B2E"/>
            </a:solidFill>
            <a:prstDash val="solid"/>
          </a:ln>
        </p:spPr>
      </p:sp>
      <p:sp>
        <p:nvSpPr>
          <p:cNvPr id="54" name="Shape 51"/>
          <p:cNvSpPr/>
          <p:nvPr/>
        </p:nvSpPr>
        <p:spPr>
          <a:xfrm>
            <a:off x="6803136" y="3035808"/>
            <a:ext cx="274320" cy="274320"/>
          </a:xfrm>
          <a:prstGeom prst="ellipse">
            <a:avLst/>
          </a:prstGeom>
          <a:solidFill>
            <a:srgbClr val="B83B2E"/>
          </a:solidFill>
          <a:ln/>
        </p:spPr>
      </p:sp>
      <p:sp>
        <p:nvSpPr>
          <p:cNvPr id="55" name="Text 52"/>
          <p:cNvSpPr txBox="1"/>
          <p:nvPr/>
        </p:nvSpPr>
        <p:spPr>
          <a:xfrm>
            <a:off x="6803136" y="3035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56" name="Text 53"/>
          <p:cNvSpPr txBox="1"/>
          <p:nvPr/>
        </p:nvSpPr>
        <p:spPr>
          <a:xfrm>
            <a:off x="7132320" y="2999232"/>
            <a:ext cx="1517904" cy="365760"/>
          </a:xfrm>
          <a:prstGeom prst="rect">
            <a:avLst/>
          </a:prstGeom>
          <a:noFill/>
          <a:ln/>
        </p:spPr>
        <p:txBody>
          <a:bodyPr wrap="square" lIns="0" tIns="0" rIns="0" bIns="0" rtlCol="0" anchor="ctr"/>
          <a:lstStyle/>
          <a:p>
            <a:pPr indent="0" marL="0">
              <a:buNone/>
            </a:pPr>
            <a:r>
              <a:rPr lang="en-US" sz="1050" b="1" dirty="0">
                <a:solidFill>
                  <a:srgbClr val="B83B2E"/>
                </a:solidFill>
                <a:latin typeface="Calibri" pitchFamily="34" charset="0"/>
                <a:ea typeface="Calibri" pitchFamily="34" charset="-122"/>
                <a:cs typeface="Calibri" pitchFamily="34" charset="-120"/>
              </a:rPr>
              <a:t>Verdict</a:t>
            </a:r>
            <a:endParaRPr lang="en-US" sz="1050" dirty="0"/>
          </a:p>
        </p:txBody>
      </p:sp>
      <p:sp>
        <p:nvSpPr>
          <p:cNvPr id="57" name="Text 54"/>
          <p:cNvSpPr txBox="1"/>
          <p:nvPr/>
        </p:nvSpPr>
        <p:spPr>
          <a:xfrm>
            <a:off x="6821424" y="3401568"/>
            <a:ext cx="1773936" cy="1024128"/>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Publier en expérimental, pondéré WorldPop, limites explicites ; privilégier évolutions et classement.</a:t>
            </a:r>
            <a:endParaRPr lang="en-US" sz="950" dirty="0"/>
          </a:p>
        </p:txBody>
      </p:sp>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PERSPECTIVES</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Intégrer, pas remplacer</a:t>
            </a:r>
            <a:endParaRPr lang="en-US" sz="2400" dirty="0"/>
          </a:p>
        </p:txBody>
      </p:sp>
      <p:sp>
        <p:nvSpPr>
          <p:cNvPr id="8" name="Text 6"/>
          <p:cNvSpPr txBox="1"/>
          <p:nvPr/>
        </p:nvSpPr>
        <p:spPr>
          <a:xfrm>
            <a:off x="457200" y="950976"/>
            <a:ext cx="8229600" cy="310896"/>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La question n'est jamais « nouvelle source ou enquête ? », mais « que fait chacune le mieux, et comment les combiner ? »</a:t>
            </a:r>
            <a:endParaRPr lang="en-US" sz="1150" dirty="0"/>
          </a:p>
        </p:txBody>
      </p:sp>
      <p:sp>
        <p:nvSpPr>
          <p:cNvPr id="9" name="Shape 7"/>
          <p:cNvSpPr/>
          <p:nvPr/>
        </p:nvSpPr>
        <p:spPr>
          <a:xfrm>
            <a:off x="7662672" y="329184"/>
            <a:ext cx="100584" cy="100584"/>
          </a:xfrm>
          <a:prstGeom prst="ellipse">
            <a:avLst/>
          </a:prstGeom>
          <a:solidFill>
            <a:srgbClr val="D5DED9"/>
          </a:solidFill>
          <a:ln/>
        </p:spPr>
      </p:sp>
      <p:sp>
        <p:nvSpPr>
          <p:cNvPr id="10" name="Shape 8"/>
          <p:cNvSpPr/>
          <p:nvPr/>
        </p:nvSpPr>
        <p:spPr>
          <a:xfrm>
            <a:off x="7845552" y="329184"/>
            <a:ext cx="100584" cy="100584"/>
          </a:xfrm>
          <a:prstGeom prst="ellipse">
            <a:avLst/>
          </a:prstGeom>
          <a:solidFill>
            <a:srgbClr val="D5DED9"/>
          </a:solidFill>
          <a:ln/>
        </p:spPr>
      </p:sp>
      <p:sp>
        <p:nvSpPr>
          <p:cNvPr id="11" name="Shape 9"/>
          <p:cNvSpPr/>
          <p:nvPr/>
        </p:nvSpPr>
        <p:spPr>
          <a:xfrm>
            <a:off x="8028432" y="329184"/>
            <a:ext cx="100584" cy="100584"/>
          </a:xfrm>
          <a:prstGeom prst="ellipse">
            <a:avLst/>
          </a:prstGeom>
          <a:solidFill>
            <a:srgbClr val="D5DED9"/>
          </a:solidFill>
          <a:ln/>
        </p:spPr>
      </p:sp>
      <p:sp>
        <p:nvSpPr>
          <p:cNvPr id="12" name="Shape 10"/>
          <p:cNvSpPr/>
          <p:nvPr/>
        </p:nvSpPr>
        <p:spPr>
          <a:xfrm>
            <a:off x="8211312" y="329184"/>
            <a:ext cx="100584" cy="100584"/>
          </a:xfrm>
          <a:prstGeom prst="ellipse">
            <a:avLst/>
          </a:prstGeom>
          <a:solidFill>
            <a:srgbClr val="D5DED9"/>
          </a:solidFill>
          <a:ln/>
        </p:spPr>
      </p:sp>
      <p:sp>
        <p:nvSpPr>
          <p:cNvPr id="13" name="Shape 11"/>
          <p:cNvSpPr/>
          <p:nvPr/>
        </p:nvSpPr>
        <p:spPr>
          <a:xfrm>
            <a:off x="8394192" y="329184"/>
            <a:ext cx="100584" cy="100584"/>
          </a:xfrm>
          <a:prstGeom prst="ellipse">
            <a:avLst/>
          </a:prstGeom>
          <a:solidFill>
            <a:srgbClr val="D5DED9"/>
          </a:solidFill>
          <a:ln/>
        </p:spPr>
      </p:sp>
      <p:sp>
        <p:nvSpPr>
          <p:cNvPr id="14" name="Shape 12"/>
          <p:cNvSpPr/>
          <p:nvPr/>
        </p:nvSpPr>
        <p:spPr>
          <a:xfrm>
            <a:off x="8577072" y="329184"/>
            <a:ext cx="100584" cy="100584"/>
          </a:xfrm>
          <a:prstGeom prst="ellipse">
            <a:avLst/>
          </a:prstGeom>
          <a:solidFill>
            <a:srgbClr val="B83B2E"/>
          </a:solidFill>
          <a:ln/>
        </p:spPr>
      </p:sp>
      <p:sp>
        <p:nvSpPr>
          <p:cNvPr id="15" name="Text 13"/>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Sources de données non traditionnelles · Le trésor caché · Atelier STG17</a:t>
            </a:r>
            <a:endParaRPr lang="en-US" sz="850" dirty="0"/>
          </a:p>
        </p:txBody>
      </p:sp>
      <p:sp>
        <p:nvSpPr>
          <p:cNvPr id="16" name="Text 14"/>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39</a:t>
            </a:r>
            <a:endParaRPr lang="en-US" sz="850" dirty="0"/>
          </a:p>
        </p:txBody>
      </p:sp>
      <p:sp>
        <p:nvSpPr>
          <p:cNvPr id="18" name="Shape 15"/>
          <p:cNvSpPr/>
          <p:nvPr/>
        </p:nvSpPr>
        <p:spPr>
          <a:xfrm>
            <a:off x="457200" y="1417320"/>
            <a:ext cx="1965960" cy="2514600"/>
          </a:xfrm>
          <a:prstGeom prst="roundRect">
            <a:avLst>
              <a:gd name="adj" fmla="val 3721"/>
            </a:avLst>
          </a:prstGeom>
          <a:solidFill>
            <a:srgbClr val="E8F5EF"/>
          </a:solidFill>
          <a:ln w="15875">
            <a:solidFill>
              <a:srgbClr val="00A86A"/>
            </a:solidFill>
            <a:prstDash val="solid"/>
          </a:ln>
        </p:spPr>
      </p:sp>
      <p:sp>
        <p:nvSpPr>
          <p:cNvPr id="19" name="Text 16"/>
          <p:cNvSpPr txBox="1"/>
          <p:nvPr/>
        </p:nvSpPr>
        <p:spPr>
          <a:xfrm>
            <a:off x="594360" y="1481328"/>
            <a:ext cx="731520" cy="640080"/>
          </a:xfrm>
          <a:prstGeom prst="rect">
            <a:avLst/>
          </a:prstGeom>
          <a:noFill/>
          <a:ln/>
        </p:spPr>
        <p:txBody>
          <a:bodyPr wrap="square" lIns="0" tIns="0" rIns="0" bIns="0" rtlCol="0" anchor="t"/>
          <a:lstStyle/>
          <a:p>
            <a:pPr indent="0" marL="0">
              <a:buNone/>
            </a:pPr>
            <a:r>
              <a:rPr lang="en-US" sz="3600" b="1" dirty="0">
                <a:solidFill>
                  <a:srgbClr val="F5C242"/>
                </a:solidFill>
                <a:latin typeface="Calibri" pitchFamily="34" charset="0"/>
                <a:ea typeface="Calibri" pitchFamily="34" charset="-122"/>
                <a:cs typeface="Calibri" pitchFamily="34" charset="-120"/>
              </a:rPr>
              <a:t>A</a:t>
            </a:r>
            <a:endParaRPr lang="en-US" sz="3600" dirty="0"/>
          </a:p>
        </p:txBody>
      </p:sp>
      <p:sp>
        <p:nvSpPr>
          <p:cNvPr id="20" name="Text 17"/>
          <p:cNvSpPr txBox="1"/>
          <p:nvPr/>
        </p:nvSpPr>
        <p:spPr>
          <a:xfrm>
            <a:off x="594360" y="2121408"/>
            <a:ext cx="1737360" cy="457200"/>
          </a:xfrm>
          <a:prstGeom prst="rect">
            <a:avLst/>
          </a:prstGeom>
          <a:noFill/>
          <a:ln/>
        </p:spPr>
        <p:txBody>
          <a:bodyPr wrap="square" lIns="0" tIns="0" rIns="0" bIns="0" rtlCol="0" anchor="ctr"/>
          <a:lstStyle/>
          <a:p>
            <a:pPr indent="0" marL="0">
              <a:buNone/>
            </a:pPr>
            <a:r>
              <a:rPr lang="en-US" sz="1300" b="1" dirty="0">
                <a:solidFill>
                  <a:srgbClr val="00704A"/>
                </a:solidFill>
                <a:latin typeface="Calibri" pitchFamily="34" charset="0"/>
                <a:ea typeface="Calibri" pitchFamily="34" charset="-122"/>
                <a:cs typeface="Calibri" pitchFamily="34" charset="-120"/>
              </a:rPr>
              <a:t>Variable auxiliaire</a:t>
            </a:r>
            <a:endParaRPr lang="en-US" sz="1300" dirty="0"/>
          </a:p>
        </p:txBody>
      </p:sp>
      <p:sp>
        <p:nvSpPr>
          <p:cNvPr id="21" name="Text 18"/>
          <p:cNvSpPr txBox="1"/>
          <p:nvPr/>
        </p:nvSpPr>
        <p:spPr>
          <a:xfrm>
            <a:off x="576072" y="2587752"/>
            <a:ext cx="1755648" cy="9144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La nouvelle source est une covariable d'un modèle bâti sur l'enquête — petits domaines, cartes de pauvreté.</a:t>
            </a:r>
            <a:endParaRPr lang="en-US" sz="1000" dirty="0"/>
          </a:p>
        </p:txBody>
      </p:sp>
      <p:sp>
        <p:nvSpPr>
          <p:cNvPr id="22" name="Shape 19"/>
          <p:cNvSpPr/>
          <p:nvPr/>
        </p:nvSpPr>
        <p:spPr>
          <a:xfrm>
            <a:off x="594360" y="3547872"/>
            <a:ext cx="1691640" cy="237744"/>
          </a:xfrm>
          <a:prstGeom prst="roundRect">
            <a:avLst>
              <a:gd name="adj" fmla="val 50000"/>
            </a:avLst>
          </a:prstGeom>
          <a:solidFill>
            <a:srgbClr val="00A86A">
              <a:alpha val="15000"/>
            </a:srgbClr>
          </a:solidFill>
          <a:ln w="9525">
            <a:solidFill>
              <a:srgbClr val="00A86A"/>
            </a:solidFill>
            <a:prstDash val="solid"/>
          </a:ln>
        </p:spPr>
      </p:sp>
      <p:sp>
        <p:nvSpPr>
          <p:cNvPr id="23" name="Text 20"/>
          <p:cNvSpPr txBox="1"/>
          <p:nvPr/>
        </p:nvSpPr>
        <p:spPr>
          <a:xfrm>
            <a:off x="594360" y="3547872"/>
            <a:ext cx="1691640" cy="237744"/>
          </a:xfrm>
          <a:prstGeom prst="rect">
            <a:avLst/>
          </a:prstGeom>
          <a:noFill/>
          <a:ln/>
        </p:spPr>
        <p:txBody>
          <a:bodyPr wrap="square" lIns="0" tIns="0" rIns="0" bIns="0" rtlCol="0" anchor="ctr"/>
          <a:lstStyle/>
          <a:p>
            <a:pPr algn="ctr" indent="0" marL="0">
              <a:buNone/>
            </a:pPr>
            <a:r>
              <a:rPr lang="en-US" sz="950" b="1" dirty="0">
                <a:solidFill>
                  <a:srgbClr val="00A86A"/>
                </a:solidFill>
                <a:latin typeface="Calibri" pitchFamily="34" charset="0"/>
                <a:ea typeface="Calibri" pitchFamily="34" charset="-122"/>
                <a:cs typeface="Calibri" pitchFamily="34" charset="-120"/>
              </a:rPr>
              <a:t>LN + grappes EDS</a:t>
            </a:r>
            <a:endParaRPr lang="en-US" sz="950" dirty="0"/>
          </a:p>
        </p:txBody>
      </p:sp>
      <p:sp>
        <p:nvSpPr>
          <p:cNvPr id="24" name="Shape 21"/>
          <p:cNvSpPr/>
          <p:nvPr/>
        </p:nvSpPr>
        <p:spPr>
          <a:xfrm>
            <a:off x="2560320" y="1417320"/>
            <a:ext cx="1965960" cy="2514600"/>
          </a:xfrm>
          <a:prstGeom prst="roundRect">
            <a:avLst>
              <a:gd name="adj" fmla="val 3721"/>
            </a:avLst>
          </a:prstGeom>
          <a:solidFill>
            <a:srgbClr val="F4F7F5"/>
          </a:solidFill>
          <a:ln w="9525">
            <a:solidFill>
              <a:srgbClr val="D5DED9"/>
            </a:solidFill>
            <a:prstDash val="solid"/>
          </a:ln>
        </p:spPr>
      </p:sp>
      <p:sp>
        <p:nvSpPr>
          <p:cNvPr id="25" name="Text 22"/>
          <p:cNvSpPr txBox="1"/>
          <p:nvPr/>
        </p:nvSpPr>
        <p:spPr>
          <a:xfrm>
            <a:off x="2697480" y="1481328"/>
            <a:ext cx="731520" cy="640080"/>
          </a:xfrm>
          <a:prstGeom prst="rect">
            <a:avLst/>
          </a:prstGeom>
          <a:noFill/>
          <a:ln/>
        </p:spPr>
        <p:txBody>
          <a:bodyPr wrap="square" lIns="0" tIns="0" rIns="0" bIns="0" rtlCol="0" anchor="t"/>
          <a:lstStyle/>
          <a:p>
            <a:pPr indent="0" marL="0">
              <a:buNone/>
            </a:pPr>
            <a:r>
              <a:rPr lang="en-US" sz="3600" b="1" dirty="0">
                <a:solidFill>
                  <a:srgbClr val="F5C242"/>
                </a:solidFill>
                <a:latin typeface="Calibri" pitchFamily="34" charset="0"/>
                <a:ea typeface="Calibri" pitchFamily="34" charset="-122"/>
                <a:cs typeface="Calibri" pitchFamily="34" charset="-120"/>
              </a:rPr>
              <a:t>B</a:t>
            </a:r>
            <a:endParaRPr lang="en-US" sz="3600" dirty="0"/>
          </a:p>
        </p:txBody>
      </p:sp>
      <p:sp>
        <p:nvSpPr>
          <p:cNvPr id="26" name="Text 23"/>
          <p:cNvSpPr txBox="1"/>
          <p:nvPr/>
        </p:nvSpPr>
        <p:spPr>
          <a:xfrm>
            <a:off x="2697480" y="2121408"/>
            <a:ext cx="1737360" cy="457200"/>
          </a:xfrm>
          <a:prstGeom prst="rect">
            <a:avLst/>
          </a:prstGeom>
          <a:noFill/>
          <a:ln/>
        </p:spPr>
        <p:txBody>
          <a:bodyPr wrap="square" lIns="0" tIns="0" rIns="0" bIns="0" rtlCol="0" anchor="ctr"/>
          <a:lstStyle/>
          <a:p>
            <a:pPr indent="0" marL="0">
              <a:buNone/>
            </a:pPr>
            <a:r>
              <a:rPr lang="en-US" sz="1300" b="1" dirty="0">
                <a:solidFill>
                  <a:srgbClr val="00704A"/>
                </a:solidFill>
                <a:latin typeface="Calibri" pitchFamily="34" charset="0"/>
                <a:ea typeface="Calibri" pitchFamily="34" charset="-122"/>
                <a:cs typeface="Calibri" pitchFamily="34" charset="-120"/>
              </a:rPr>
              <a:t>Calage et étalonnage</a:t>
            </a:r>
            <a:endParaRPr lang="en-US" sz="1300" dirty="0"/>
          </a:p>
        </p:txBody>
      </p:sp>
      <p:sp>
        <p:nvSpPr>
          <p:cNvPr id="27" name="Text 24"/>
          <p:cNvSpPr txBox="1"/>
          <p:nvPr/>
        </p:nvSpPr>
        <p:spPr>
          <a:xfrm>
            <a:off x="2679192" y="2587752"/>
            <a:ext cx="1755648" cy="9144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La source à haute fréquence donne le profil de la série ; la statistique officielle ancre le niveau.</a:t>
            </a:r>
            <a:endParaRPr lang="en-US" sz="1000" dirty="0"/>
          </a:p>
        </p:txBody>
      </p:sp>
      <p:sp>
        <p:nvSpPr>
          <p:cNvPr id="28" name="Shape 25"/>
          <p:cNvSpPr/>
          <p:nvPr/>
        </p:nvSpPr>
        <p:spPr>
          <a:xfrm>
            <a:off x="2697480" y="3547872"/>
            <a:ext cx="1691640" cy="237744"/>
          </a:xfrm>
          <a:prstGeom prst="roundRect">
            <a:avLst>
              <a:gd name="adj" fmla="val 50000"/>
            </a:avLst>
          </a:prstGeom>
          <a:solidFill>
            <a:srgbClr val="00A86A">
              <a:alpha val="15000"/>
            </a:srgbClr>
          </a:solidFill>
          <a:ln w="9525">
            <a:solidFill>
              <a:srgbClr val="00A86A"/>
            </a:solidFill>
            <a:prstDash val="solid"/>
          </a:ln>
        </p:spPr>
      </p:sp>
      <p:sp>
        <p:nvSpPr>
          <p:cNvPr id="29" name="Text 26"/>
          <p:cNvSpPr txBox="1"/>
          <p:nvPr/>
        </p:nvSpPr>
        <p:spPr>
          <a:xfrm>
            <a:off x="2697480" y="3547872"/>
            <a:ext cx="1691640" cy="237744"/>
          </a:xfrm>
          <a:prstGeom prst="rect">
            <a:avLst/>
          </a:prstGeom>
          <a:noFill/>
          <a:ln/>
        </p:spPr>
        <p:txBody>
          <a:bodyPr wrap="square" lIns="0" tIns="0" rIns="0" bIns="0" rtlCol="0" anchor="ctr"/>
          <a:lstStyle/>
          <a:p>
            <a:pPr algn="ctr" indent="0" marL="0">
              <a:buNone/>
            </a:pPr>
            <a:r>
              <a:rPr lang="en-US" sz="950" b="1" dirty="0">
                <a:solidFill>
                  <a:srgbClr val="00A86A"/>
                </a:solidFill>
                <a:latin typeface="Calibri" pitchFamily="34" charset="0"/>
                <a:ea typeface="Calibri" pitchFamily="34" charset="-122"/>
                <a:cs typeface="Calibri" pitchFamily="34" charset="-120"/>
              </a:rPr>
              <a:t>Cartes + enquête commerce</a:t>
            </a:r>
            <a:endParaRPr lang="en-US" sz="950" dirty="0"/>
          </a:p>
        </p:txBody>
      </p:sp>
      <p:sp>
        <p:nvSpPr>
          <p:cNvPr id="30" name="Shape 27"/>
          <p:cNvSpPr/>
          <p:nvPr/>
        </p:nvSpPr>
        <p:spPr>
          <a:xfrm>
            <a:off x="4663440" y="1417320"/>
            <a:ext cx="1965960" cy="2514600"/>
          </a:xfrm>
          <a:prstGeom prst="roundRect">
            <a:avLst>
              <a:gd name="adj" fmla="val 3721"/>
            </a:avLst>
          </a:prstGeom>
          <a:solidFill>
            <a:srgbClr val="F4F7F5"/>
          </a:solidFill>
          <a:ln w="9525">
            <a:solidFill>
              <a:srgbClr val="D5DED9"/>
            </a:solidFill>
            <a:prstDash val="solid"/>
          </a:ln>
        </p:spPr>
      </p:sp>
      <p:sp>
        <p:nvSpPr>
          <p:cNvPr id="31" name="Text 28"/>
          <p:cNvSpPr txBox="1"/>
          <p:nvPr/>
        </p:nvSpPr>
        <p:spPr>
          <a:xfrm>
            <a:off x="4800600" y="1481328"/>
            <a:ext cx="731520" cy="640080"/>
          </a:xfrm>
          <a:prstGeom prst="rect">
            <a:avLst/>
          </a:prstGeom>
          <a:noFill/>
          <a:ln/>
        </p:spPr>
        <p:txBody>
          <a:bodyPr wrap="square" lIns="0" tIns="0" rIns="0" bIns="0" rtlCol="0" anchor="t"/>
          <a:lstStyle/>
          <a:p>
            <a:pPr indent="0" marL="0">
              <a:buNone/>
            </a:pPr>
            <a:r>
              <a:rPr lang="en-US" sz="3600" b="1" dirty="0">
                <a:solidFill>
                  <a:srgbClr val="F5C242"/>
                </a:solidFill>
                <a:latin typeface="Calibri" pitchFamily="34" charset="0"/>
                <a:ea typeface="Calibri" pitchFamily="34" charset="-122"/>
                <a:cs typeface="Calibri" pitchFamily="34" charset="-120"/>
              </a:rPr>
              <a:t>C</a:t>
            </a:r>
            <a:endParaRPr lang="en-US" sz="3600" dirty="0"/>
          </a:p>
        </p:txBody>
      </p:sp>
      <p:sp>
        <p:nvSpPr>
          <p:cNvPr id="32" name="Text 29"/>
          <p:cNvSpPr txBox="1"/>
          <p:nvPr/>
        </p:nvSpPr>
        <p:spPr>
          <a:xfrm>
            <a:off x="4800600" y="2121408"/>
            <a:ext cx="1737360" cy="457200"/>
          </a:xfrm>
          <a:prstGeom prst="rect">
            <a:avLst/>
          </a:prstGeom>
          <a:noFill/>
          <a:ln/>
        </p:spPr>
        <p:txBody>
          <a:bodyPr wrap="square" lIns="0" tIns="0" rIns="0" bIns="0" rtlCol="0" anchor="ctr"/>
          <a:lstStyle/>
          <a:p>
            <a:pPr indent="0" marL="0">
              <a:buNone/>
            </a:pPr>
            <a:r>
              <a:rPr lang="en-US" sz="1300" b="1" dirty="0">
                <a:solidFill>
                  <a:srgbClr val="00704A"/>
                </a:solidFill>
                <a:latin typeface="Calibri" pitchFamily="34" charset="0"/>
                <a:ea typeface="Calibri" pitchFamily="34" charset="-122"/>
                <a:cs typeface="Calibri" pitchFamily="34" charset="-120"/>
              </a:rPr>
              <a:t>Prévision immédiate</a:t>
            </a:r>
            <a:endParaRPr lang="en-US" sz="1300" dirty="0"/>
          </a:p>
        </p:txBody>
      </p:sp>
      <p:sp>
        <p:nvSpPr>
          <p:cNvPr id="33" name="Text 30"/>
          <p:cNvSpPr txBox="1"/>
          <p:nvPr/>
        </p:nvSpPr>
        <p:spPr>
          <a:xfrm>
            <a:off x="4782312" y="2587752"/>
            <a:ext cx="1755648" cy="9144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La nouvelle source estime le présent ; la statistique traditionnelle confirme et révise ensuite.</a:t>
            </a:r>
            <a:endParaRPr lang="en-US" sz="1000" dirty="0"/>
          </a:p>
        </p:txBody>
      </p:sp>
      <p:sp>
        <p:nvSpPr>
          <p:cNvPr id="34" name="Shape 31"/>
          <p:cNvSpPr/>
          <p:nvPr/>
        </p:nvSpPr>
        <p:spPr>
          <a:xfrm>
            <a:off x="4800600" y="3547872"/>
            <a:ext cx="1691640" cy="237744"/>
          </a:xfrm>
          <a:prstGeom prst="roundRect">
            <a:avLst>
              <a:gd name="adj" fmla="val 50000"/>
            </a:avLst>
          </a:prstGeom>
          <a:solidFill>
            <a:srgbClr val="00A86A">
              <a:alpha val="15000"/>
            </a:srgbClr>
          </a:solidFill>
          <a:ln w="9525">
            <a:solidFill>
              <a:srgbClr val="00A86A"/>
            </a:solidFill>
            <a:prstDash val="solid"/>
          </a:ln>
        </p:spPr>
      </p:sp>
      <p:sp>
        <p:nvSpPr>
          <p:cNvPr id="35" name="Text 32"/>
          <p:cNvSpPr txBox="1"/>
          <p:nvPr/>
        </p:nvSpPr>
        <p:spPr>
          <a:xfrm>
            <a:off x="4800600" y="3547872"/>
            <a:ext cx="1691640" cy="237744"/>
          </a:xfrm>
          <a:prstGeom prst="rect">
            <a:avLst/>
          </a:prstGeom>
          <a:noFill/>
          <a:ln/>
        </p:spPr>
        <p:txBody>
          <a:bodyPr wrap="square" lIns="0" tIns="0" rIns="0" bIns="0" rtlCol="0" anchor="ctr"/>
          <a:lstStyle/>
          <a:p>
            <a:pPr algn="ctr" indent="0" marL="0">
              <a:buNone/>
            </a:pPr>
            <a:r>
              <a:rPr lang="en-US" sz="950" b="1" dirty="0">
                <a:solidFill>
                  <a:srgbClr val="00A86A"/>
                </a:solidFill>
                <a:latin typeface="Calibri" pitchFamily="34" charset="0"/>
                <a:ea typeface="Calibri" pitchFamily="34" charset="-122"/>
                <a:cs typeface="Calibri" pitchFamily="34" charset="-120"/>
              </a:rPr>
              <a:t>Électricité + PIB trimestriel</a:t>
            </a:r>
            <a:endParaRPr lang="en-US" sz="950" dirty="0"/>
          </a:p>
        </p:txBody>
      </p:sp>
      <p:sp>
        <p:nvSpPr>
          <p:cNvPr id="36" name="Shape 33"/>
          <p:cNvSpPr/>
          <p:nvPr/>
        </p:nvSpPr>
        <p:spPr>
          <a:xfrm>
            <a:off x="6766560" y="1417320"/>
            <a:ext cx="1965960" cy="2514600"/>
          </a:xfrm>
          <a:prstGeom prst="roundRect">
            <a:avLst>
              <a:gd name="adj" fmla="val 3721"/>
            </a:avLst>
          </a:prstGeom>
          <a:solidFill>
            <a:srgbClr val="F4F7F5"/>
          </a:solidFill>
          <a:ln w="9525">
            <a:solidFill>
              <a:srgbClr val="D5DED9"/>
            </a:solidFill>
            <a:prstDash val="solid"/>
          </a:ln>
        </p:spPr>
      </p:sp>
      <p:sp>
        <p:nvSpPr>
          <p:cNvPr id="37" name="Text 34"/>
          <p:cNvSpPr txBox="1"/>
          <p:nvPr/>
        </p:nvSpPr>
        <p:spPr>
          <a:xfrm>
            <a:off x="6903720" y="1481328"/>
            <a:ext cx="731520" cy="640080"/>
          </a:xfrm>
          <a:prstGeom prst="rect">
            <a:avLst/>
          </a:prstGeom>
          <a:noFill/>
          <a:ln/>
        </p:spPr>
        <p:txBody>
          <a:bodyPr wrap="square" lIns="0" tIns="0" rIns="0" bIns="0" rtlCol="0" anchor="t"/>
          <a:lstStyle/>
          <a:p>
            <a:pPr indent="0" marL="0">
              <a:buNone/>
            </a:pPr>
            <a:r>
              <a:rPr lang="en-US" sz="3600" b="1" dirty="0">
                <a:solidFill>
                  <a:srgbClr val="F5C242"/>
                </a:solidFill>
                <a:latin typeface="Calibri" pitchFamily="34" charset="0"/>
                <a:ea typeface="Calibri" pitchFamily="34" charset="-122"/>
                <a:cs typeface="Calibri" pitchFamily="34" charset="-120"/>
              </a:rPr>
              <a:t>D</a:t>
            </a:r>
            <a:endParaRPr lang="en-US" sz="3600" dirty="0"/>
          </a:p>
        </p:txBody>
      </p:sp>
      <p:sp>
        <p:nvSpPr>
          <p:cNvPr id="38" name="Text 35"/>
          <p:cNvSpPr txBox="1"/>
          <p:nvPr/>
        </p:nvSpPr>
        <p:spPr>
          <a:xfrm>
            <a:off x="6903720" y="2121408"/>
            <a:ext cx="1737360" cy="457200"/>
          </a:xfrm>
          <a:prstGeom prst="rect">
            <a:avLst/>
          </a:prstGeom>
          <a:noFill/>
          <a:ln/>
        </p:spPr>
        <p:txBody>
          <a:bodyPr wrap="square" lIns="0" tIns="0" rIns="0" bIns="0" rtlCol="0" anchor="ctr"/>
          <a:lstStyle/>
          <a:p>
            <a:pPr indent="0" marL="0">
              <a:buNone/>
            </a:pPr>
            <a:r>
              <a:rPr lang="en-US" sz="1300" b="1" dirty="0">
                <a:solidFill>
                  <a:srgbClr val="00704A"/>
                </a:solidFill>
                <a:latin typeface="Calibri" pitchFamily="34" charset="0"/>
                <a:ea typeface="Calibri" pitchFamily="34" charset="-122"/>
                <a:cs typeface="Calibri" pitchFamily="34" charset="-120"/>
              </a:rPr>
              <a:t>Substitution directe</a:t>
            </a:r>
            <a:endParaRPr lang="en-US" sz="1300" dirty="0"/>
          </a:p>
        </p:txBody>
      </p:sp>
      <p:sp>
        <p:nvSpPr>
          <p:cNvPr id="39" name="Text 36"/>
          <p:cNvSpPr txBox="1"/>
          <p:nvPr/>
        </p:nvSpPr>
        <p:spPr>
          <a:xfrm>
            <a:off x="6885432" y="2587752"/>
            <a:ext cx="1755648" cy="9144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Là où la qualité est démontrée, la nouvelle source remplace une partie de la collecte.</a:t>
            </a:r>
            <a:endParaRPr lang="en-US" sz="1000" dirty="0"/>
          </a:p>
        </p:txBody>
      </p:sp>
      <p:sp>
        <p:nvSpPr>
          <p:cNvPr id="40" name="Shape 37"/>
          <p:cNvSpPr/>
          <p:nvPr/>
        </p:nvSpPr>
        <p:spPr>
          <a:xfrm>
            <a:off x="6903720" y="3547872"/>
            <a:ext cx="1691640" cy="237744"/>
          </a:xfrm>
          <a:prstGeom prst="roundRect">
            <a:avLst>
              <a:gd name="adj" fmla="val 50000"/>
            </a:avLst>
          </a:prstGeom>
          <a:solidFill>
            <a:srgbClr val="00A86A">
              <a:alpha val="15000"/>
            </a:srgbClr>
          </a:solidFill>
          <a:ln w="9525">
            <a:solidFill>
              <a:srgbClr val="00A86A"/>
            </a:solidFill>
            <a:prstDash val="solid"/>
          </a:ln>
        </p:spPr>
      </p:sp>
      <p:sp>
        <p:nvSpPr>
          <p:cNvPr id="41" name="Text 38"/>
          <p:cNvSpPr txBox="1"/>
          <p:nvPr/>
        </p:nvSpPr>
        <p:spPr>
          <a:xfrm>
            <a:off x="6903720" y="3547872"/>
            <a:ext cx="1691640" cy="237744"/>
          </a:xfrm>
          <a:prstGeom prst="rect">
            <a:avLst/>
          </a:prstGeom>
          <a:noFill/>
          <a:ln/>
        </p:spPr>
        <p:txBody>
          <a:bodyPr wrap="square" lIns="0" tIns="0" rIns="0" bIns="0" rtlCol="0" anchor="ctr"/>
          <a:lstStyle/>
          <a:p>
            <a:pPr algn="ctr" indent="0" marL="0">
              <a:buNone/>
            </a:pPr>
            <a:r>
              <a:rPr lang="en-US" sz="950" b="1" dirty="0">
                <a:solidFill>
                  <a:srgbClr val="00A86A"/>
                </a:solidFill>
                <a:latin typeface="Calibri" pitchFamily="34" charset="0"/>
                <a:ea typeface="Calibri" pitchFamily="34" charset="-122"/>
                <a:cs typeface="Calibri" pitchFamily="34" charset="-120"/>
              </a:rPr>
              <a:t>Données de caisse dans l'IPC</a:t>
            </a:r>
            <a:endParaRPr lang="en-US" sz="950" dirty="0"/>
          </a:p>
        </p:txBody>
      </p:sp>
      <p:sp>
        <p:nvSpPr>
          <p:cNvPr id="42" name="Shape 39"/>
          <p:cNvSpPr/>
          <p:nvPr/>
        </p:nvSpPr>
        <p:spPr>
          <a:xfrm>
            <a:off x="548640" y="4087368"/>
            <a:ext cx="8046720" cy="0"/>
          </a:xfrm>
          <a:prstGeom prst="line">
            <a:avLst/>
          </a:prstGeom>
          <a:noFill/>
          <a:ln w="12700">
            <a:solidFill>
              <a:srgbClr val="D5DED9"/>
            </a:solidFill>
            <a:prstDash val="solid"/>
            <a:tailEnd type="triangle"/>
          </a:ln>
        </p:spPr>
      </p:sp>
      <p:sp>
        <p:nvSpPr>
          <p:cNvPr id="43" name="Text 40"/>
          <p:cNvSpPr txBox="1"/>
          <p:nvPr/>
        </p:nvSpPr>
        <p:spPr>
          <a:xfrm>
            <a:off x="4846320" y="3913632"/>
            <a:ext cx="3840480" cy="164592"/>
          </a:xfrm>
          <a:prstGeom prst="rect">
            <a:avLst/>
          </a:prstGeom>
          <a:noFill/>
          <a:ln/>
        </p:spPr>
        <p:txBody>
          <a:bodyPr wrap="square" lIns="0" tIns="0" rIns="0" bIns="0" rtlCol="0" anchor="t"/>
          <a:lstStyle/>
          <a:p>
            <a:pPr algn="r" indent="0" marL="0">
              <a:buNone/>
            </a:pPr>
            <a:r>
              <a:rPr lang="en-US" sz="850" i="1" dirty="0">
                <a:solidFill>
                  <a:srgbClr val="5E6964"/>
                </a:solidFill>
                <a:latin typeface="Calibri" pitchFamily="34" charset="0"/>
                <a:ea typeface="Calibri" pitchFamily="34" charset="-122"/>
                <a:cs typeface="Calibri" pitchFamily="34" charset="-120"/>
              </a:rPr>
              <a:t>exigences croissantes de qualité et de sécurité →</a:t>
            </a:r>
            <a:endParaRPr lang="en-US" sz="850" dirty="0"/>
          </a:p>
        </p:txBody>
      </p:sp>
      <p:sp>
        <p:nvSpPr>
          <p:cNvPr id="44" name="Shape 41"/>
          <p:cNvSpPr/>
          <p:nvPr/>
        </p:nvSpPr>
        <p:spPr>
          <a:xfrm>
            <a:off x="457200" y="4160520"/>
            <a:ext cx="8229600" cy="384048"/>
          </a:xfrm>
          <a:prstGeom prst="roundRect">
            <a:avLst>
              <a:gd name="adj" fmla="val 14286"/>
            </a:avLst>
          </a:prstGeom>
          <a:solidFill>
            <a:srgbClr val="D49A00">
              <a:alpha val="13000"/>
            </a:srgbClr>
          </a:solidFill>
          <a:ln w="12700">
            <a:solidFill>
              <a:srgbClr val="D49A00"/>
            </a:solidFill>
            <a:prstDash val="solid"/>
          </a:ln>
        </p:spPr>
      </p:sp>
      <p:pic>
        <p:nvPicPr>
          <p:cNvPr id="45" name="Image 0" descr="preencoded.png">    </p:cNvPr>
          <p:cNvPicPr>
            <a:picLocks noChangeAspect="1"/>
          </p:cNvPicPr>
          <p:nvPr/>
        </p:nvPicPr>
        <p:blipFill>
          <a:blip r:embed="rId1"/>
          <a:stretch>
            <a:fillRect/>
          </a:stretch>
        </p:blipFill>
        <p:spPr>
          <a:xfrm>
            <a:off x="585216" y="4215384"/>
            <a:ext cx="274320" cy="274320"/>
          </a:xfrm>
          <a:prstGeom prst="rect">
            <a:avLst/>
          </a:prstGeom>
        </p:spPr>
      </p:pic>
      <p:sp>
        <p:nvSpPr>
          <p:cNvPr id="46" name="Text 42"/>
          <p:cNvSpPr txBox="1"/>
          <p:nvPr/>
        </p:nvSpPr>
        <p:spPr>
          <a:xfrm>
            <a:off x="987552" y="4215384"/>
            <a:ext cx="7571232" cy="27432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Règle d'or : la source traditionnelle ancre la vérité ; la source non traditionnelle apporte vitesse et détail.</a:t>
            </a:r>
            <a:endParaRPr lang="en-US" sz="1100" dirty="0"/>
          </a:p>
        </p:txBody>
      </p:sp>
    </p:spTree>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PERSPECTIVES</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Du pilote à la production</a:t>
            </a:r>
            <a:endParaRPr lang="en-US" sz="2400" dirty="0"/>
          </a:p>
        </p:txBody>
      </p:sp>
      <p:sp>
        <p:nvSpPr>
          <p:cNvPr id="8" name="Shape 6"/>
          <p:cNvSpPr/>
          <p:nvPr/>
        </p:nvSpPr>
        <p:spPr>
          <a:xfrm>
            <a:off x="7662672" y="329184"/>
            <a:ext cx="100584" cy="100584"/>
          </a:xfrm>
          <a:prstGeom prst="ellipse">
            <a:avLst/>
          </a:prstGeom>
          <a:solidFill>
            <a:srgbClr val="D5DED9"/>
          </a:solidFill>
          <a:ln/>
        </p:spPr>
      </p:sp>
      <p:sp>
        <p:nvSpPr>
          <p:cNvPr id="9" name="Shape 7"/>
          <p:cNvSpPr/>
          <p:nvPr/>
        </p:nvSpPr>
        <p:spPr>
          <a:xfrm>
            <a:off x="7845552" y="329184"/>
            <a:ext cx="100584" cy="100584"/>
          </a:xfrm>
          <a:prstGeom prst="ellipse">
            <a:avLst/>
          </a:prstGeom>
          <a:solidFill>
            <a:srgbClr val="D5DED9"/>
          </a:solidFill>
          <a:ln/>
        </p:spPr>
      </p:sp>
      <p:sp>
        <p:nvSpPr>
          <p:cNvPr id="10" name="Shape 8"/>
          <p:cNvSpPr/>
          <p:nvPr/>
        </p:nvSpPr>
        <p:spPr>
          <a:xfrm>
            <a:off x="8028432" y="329184"/>
            <a:ext cx="100584" cy="100584"/>
          </a:xfrm>
          <a:prstGeom prst="ellipse">
            <a:avLst/>
          </a:prstGeom>
          <a:solidFill>
            <a:srgbClr val="D5DED9"/>
          </a:solidFill>
          <a:ln/>
        </p:spPr>
      </p:sp>
      <p:sp>
        <p:nvSpPr>
          <p:cNvPr id="11" name="Shape 9"/>
          <p:cNvSpPr/>
          <p:nvPr/>
        </p:nvSpPr>
        <p:spPr>
          <a:xfrm>
            <a:off x="8211312" y="329184"/>
            <a:ext cx="100584" cy="100584"/>
          </a:xfrm>
          <a:prstGeom prst="ellipse">
            <a:avLst/>
          </a:prstGeom>
          <a:solidFill>
            <a:srgbClr val="D5DED9"/>
          </a:solidFill>
          <a:ln/>
        </p:spPr>
      </p:sp>
      <p:sp>
        <p:nvSpPr>
          <p:cNvPr id="12" name="Shape 10"/>
          <p:cNvSpPr/>
          <p:nvPr/>
        </p:nvSpPr>
        <p:spPr>
          <a:xfrm>
            <a:off x="8394192" y="329184"/>
            <a:ext cx="100584" cy="100584"/>
          </a:xfrm>
          <a:prstGeom prst="ellipse">
            <a:avLst/>
          </a:prstGeom>
          <a:solidFill>
            <a:srgbClr val="D5DED9"/>
          </a:solidFill>
          <a:ln/>
        </p:spPr>
      </p:sp>
      <p:sp>
        <p:nvSpPr>
          <p:cNvPr id="13" name="Shape 11"/>
          <p:cNvSpPr/>
          <p:nvPr/>
        </p:nvSpPr>
        <p:spPr>
          <a:xfrm>
            <a:off x="8577072" y="329184"/>
            <a:ext cx="100584" cy="100584"/>
          </a:xfrm>
          <a:prstGeom prst="ellipse">
            <a:avLst/>
          </a:prstGeom>
          <a:solidFill>
            <a:srgbClr val="B83B2E"/>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Sources de données non traditionnelles · Le trésor caché · Atelier STG17</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40</a:t>
            </a:r>
            <a:endParaRPr lang="en-US" sz="850" dirty="0"/>
          </a:p>
        </p:txBody>
      </p:sp>
      <p:sp>
        <p:nvSpPr>
          <p:cNvPr id="17" name="Text 14"/>
          <p:cNvSpPr txBox="1"/>
          <p:nvPr/>
        </p:nvSpPr>
        <p:spPr>
          <a:xfrm>
            <a:off x="457200" y="1051560"/>
            <a:ext cx="4572000" cy="201168"/>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PARCOURS DE MATURITÉ EN CINQ ÉTAPES</a:t>
            </a:r>
            <a:endParaRPr lang="en-US" sz="1000" dirty="0"/>
          </a:p>
        </p:txBody>
      </p:sp>
      <p:sp>
        <p:nvSpPr>
          <p:cNvPr id="18" name="Shape 15"/>
          <p:cNvSpPr/>
          <p:nvPr/>
        </p:nvSpPr>
        <p:spPr>
          <a:xfrm>
            <a:off x="457200" y="2130552"/>
            <a:ext cx="1536192" cy="822960"/>
          </a:xfrm>
          <a:prstGeom prst="roundRect">
            <a:avLst>
              <a:gd name="adj" fmla="val 6667"/>
            </a:avLst>
          </a:prstGeom>
          <a:solidFill>
            <a:srgbClr val="9ED9C0"/>
          </a:solidFill>
          <a:ln/>
        </p:spPr>
      </p:sp>
      <p:sp>
        <p:nvSpPr>
          <p:cNvPr id="19" name="Text 16"/>
          <p:cNvSpPr txBox="1"/>
          <p:nvPr/>
        </p:nvSpPr>
        <p:spPr>
          <a:xfrm>
            <a:off x="548640" y="2185416"/>
            <a:ext cx="365760" cy="320040"/>
          </a:xfrm>
          <a:prstGeom prst="rect">
            <a:avLst/>
          </a:prstGeom>
          <a:noFill/>
          <a:ln/>
        </p:spPr>
        <p:txBody>
          <a:bodyPr wrap="square" lIns="0" tIns="0" rIns="0" bIns="0" rtlCol="0" anchor="t"/>
          <a:lstStyle/>
          <a:p>
            <a:pPr indent="0" marL="0">
              <a:buNone/>
            </a:pPr>
            <a:r>
              <a:rPr lang="en-US" sz="1800" b="1" dirty="0">
                <a:solidFill>
                  <a:srgbClr val="00553A"/>
                </a:solidFill>
                <a:latin typeface="Calibri" pitchFamily="34" charset="0"/>
                <a:ea typeface="Calibri" pitchFamily="34" charset="-122"/>
                <a:cs typeface="Calibri" pitchFamily="34" charset="-120"/>
              </a:rPr>
              <a:t>1</a:t>
            </a:r>
            <a:endParaRPr lang="en-US" sz="1800" dirty="0"/>
          </a:p>
        </p:txBody>
      </p:sp>
      <p:sp>
        <p:nvSpPr>
          <p:cNvPr id="20" name="Text 17"/>
          <p:cNvSpPr txBox="1"/>
          <p:nvPr/>
        </p:nvSpPr>
        <p:spPr>
          <a:xfrm>
            <a:off x="502920" y="2980944"/>
            <a:ext cx="1554480" cy="237744"/>
          </a:xfrm>
          <a:prstGeom prst="rect">
            <a:avLst/>
          </a:prstGeom>
          <a:noFill/>
          <a:ln/>
        </p:spPr>
        <p:txBody>
          <a:bodyPr wrap="square" lIns="0" tIns="0" rIns="0" bIns="0" rtlCol="0" anchor="t"/>
          <a:lstStyle/>
          <a:p>
            <a:pPr indent="0" marL="0">
              <a:buNone/>
            </a:pPr>
            <a:r>
              <a:rPr lang="en-US" sz="1150" b="1" dirty="0">
                <a:solidFill>
                  <a:srgbClr val="00704A"/>
                </a:solidFill>
                <a:latin typeface="Calibri" pitchFamily="34" charset="0"/>
                <a:ea typeface="Calibri" pitchFamily="34" charset="-122"/>
                <a:cs typeface="Calibri" pitchFamily="34" charset="-120"/>
              </a:rPr>
              <a:t>Explorer</a:t>
            </a:r>
            <a:endParaRPr lang="en-US" sz="1150" dirty="0"/>
          </a:p>
        </p:txBody>
      </p:sp>
      <p:sp>
        <p:nvSpPr>
          <p:cNvPr id="21" name="Text 18"/>
          <p:cNvSpPr txBox="1"/>
          <p:nvPr/>
        </p:nvSpPr>
        <p:spPr>
          <a:xfrm>
            <a:off x="502920" y="3218688"/>
            <a:ext cx="1481328" cy="41148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Inventorier les sources ; petits essais sans risque</a:t>
            </a:r>
            <a:endParaRPr lang="en-US" sz="900" dirty="0"/>
          </a:p>
        </p:txBody>
      </p:sp>
      <p:sp>
        <p:nvSpPr>
          <p:cNvPr id="22" name="Shape 19"/>
          <p:cNvSpPr/>
          <p:nvPr/>
        </p:nvSpPr>
        <p:spPr>
          <a:xfrm>
            <a:off x="2121408" y="1929384"/>
            <a:ext cx="1536192" cy="1024128"/>
          </a:xfrm>
          <a:prstGeom prst="roundRect">
            <a:avLst>
              <a:gd name="adj" fmla="val 5357"/>
            </a:avLst>
          </a:prstGeom>
          <a:solidFill>
            <a:srgbClr val="57BD92"/>
          </a:solidFill>
          <a:ln/>
        </p:spPr>
      </p:sp>
      <p:sp>
        <p:nvSpPr>
          <p:cNvPr id="23" name="Text 20"/>
          <p:cNvSpPr txBox="1"/>
          <p:nvPr/>
        </p:nvSpPr>
        <p:spPr>
          <a:xfrm>
            <a:off x="2212848" y="1984248"/>
            <a:ext cx="365760" cy="32004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4" name="Text 21"/>
          <p:cNvSpPr txBox="1"/>
          <p:nvPr/>
        </p:nvSpPr>
        <p:spPr>
          <a:xfrm>
            <a:off x="2167128" y="2980944"/>
            <a:ext cx="1554480" cy="237744"/>
          </a:xfrm>
          <a:prstGeom prst="rect">
            <a:avLst/>
          </a:prstGeom>
          <a:noFill/>
          <a:ln/>
        </p:spPr>
        <p:txBody>
          <a:bodyPr wrap="square" lIns="0" tIns="0" rIns="0" bIns="0" rtlCol="0" anchor="t"/>
          <a:lstStyle/>
          <a:p>
            <a:pPr indent="0" marL="0">
              <a:buNone/>
            </a:pPr>
            <a:r>
              <a:rPr lang="en-US" sz="1150" b="1" dirty="0">
                <a:solidFill>
                  <a:srgbClr val="00704A"/>
                </a:solidFill>
                <a:latin typeface="Calibri" pitchFamily="34" charset="0"/>
                <a:ea typeface="Calibri" pitchFamily="34" charset="-122"/>
                <a:cs typeface="Calibri" pitchFamily="34" charset="-120"/>
              </a:rPr>
              <a:t>Démontrer</a:t>
            </a:r>
            <a:endParaRPr lang="en-US" sz="1150" dirty="0"/>
          </a:p>
        </p:txBody>
      </p:sp>
      <p:sp>
        <p:nvSpPr>
          <p:cNvPr id="25" name="Text 22"/>
          <p:cNvSpPr txBox="1"/>
          <p:nvPr/>
        </p:nvSpPr>
        <p:spPr>
          <a:xfrm>
            <a:off x="2167128" y="3218688"/>
            <a:ext cx="1481328" cy="41148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Un cas d'usage, une validation honnête</a:t>
            </a:r>
            <a:endParaRPr lang="en-US" sz="900" dirty="0"/>
          </a:p>
        </p:txBody>
      </p:sp>
      <p:sp>
        <p:nvSpPr>
          <p:cNvPr id="26" name="Shape 23"/>
          <p:cNvSpPr/>
          <p:nvPr/>
        </p:nvSpPr>
        <p:spPr>
          <a:xfrm>
            <a:off x="3785616" y="1728216"/>
            <a:ext cx="1536192" cy="1225296"/>
          </a:xfrm>
          <a:prstGeom prst="roundRect">
            <a:avLst>
              <a:gd name="adj" fmla="val 4478"/>
            </a:avLst>
          </a:prstGeom>
          <a:solidFill>
            <a:srgbClr val="10A06A"/>
          </a:solidFill>
          <a:ln/>
        </p:spPr>
      </p:sp>
      <p:sp>
        <p:nvSpPr>
          <p:cNvPr id="27" name="Text 24"/>
          <p:cNvSpPr txBox="1"/>
          <p:nvPr/>
        </p:nvSpPr>
        <p:spPr>
          <a:xfrm>
            <a:off x="3877056" y="1783080"/>
            <a:ext cx="365760" cy="32004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8" name="Text 25"/>
          <p:cNvSpPr txBox="1"/>
          <p:nvPr/>
        </p:nvSpPr>
        <p:spPr>
          <a:xfrm>
            <a:off x="3831336" y="2980944"/>
            <a:ext cx="1554480" cy="237744"/>
          </a:xfrm>
          <a:prstGeom prst="rect">
            <a:avLst/>
          </a:prstGeom>
          <a:noFill/>
          <a:ln/>
        </p:spPr>
        <p:txBody>
          <a:bodyPr wrap="square" lIns="0" tIns="0" rIns="0" bIns="0" rtlCol="0" anchor="t"/>
          <a:lstStyle/>
          <a:p>
            <a:pPr indent="0" marL="0">
              <a:buNone/>
            </a:pPr>
            <a:r>
              <a:rPr lang="en-US" sz="1150" b="1" dirty="0">
                <a:solidFill>
                  <a:srgbClr val="00704A"/>
                </a:solidFill>
                <a:latin typeface="Calibri" pitchFamily="34" charset="0"/>
                <a:ea typeface="Calibri" pitchFamily="34" charset="-122"/>
                <a:cs typeface="Calibri" pitchFamily="34" charset="-120"/>
              </a:rPr>
              <a:t>Sécuriser</a:t>
            </a:r>
            <a:endParaRPr lang="en-US" sz="1150" dirty="0"/>
          </a:p>
        </p:txBody>
      </p:sp>
      <p:sp>
        <p:nvSpPr>
          <p:cNvPr id="29" name="Text 26"/>
          <p:cNvSpPr txBox="1"/>
          <p:nvPr/>
        </p:nvSpPr>
        <p:spPr>
          <a:xfrm>
            <a:off x="3831336" y="3218688"/>
            <a:ext cx="1481328" cy="41148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Accès formel, base légale, confidentialité</a:t>
            </a:r>
            <a:endParaRPr lang="en-US" sz="900" dirty="0"/>
          </a:p>
        </p:txBody>
      </p:sp>
      <p:sp>
        <p:nvSpPr>
          <p:cNvPr id="30" name="Shape 27"/>
          <p:cNvSpPr/>
          <p:nvPr/>
        </p:nvSpPr>
        <p:spPr>
          <a:xfrm>
            <a:off x="5449824" y="1527048"/>
            <a:ext cx="1536192" cy="1426464"/>
          </a:xfrm>
          <a:prstGeom prst="roundRect">
            <a:avLst>
              <a:gd name="adj" fmla="val 3846"/>
            </a:avLst>
          </a:prstGeom>
          <a:solidFill>
            <a:srgbClr val="008A5B"/>
          </a:solidFill>
          <a:ln/>
        </p:spPr>
      </p:sp>
      <p:sp>
        <p:nvSpPr>
          <p:cNvPr id="31" name="Text 28"/>
          <p:cNvSpPr txBox="1"/>
          <p:nvPr/>
        </p:nvSpPr>
        <p:spPr>
          <a:xfrm>
            <a:off x="5541264" y="1581912"/>
            <a:ext cx="365760" cy="32004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2" name="Text 29"/>
          <p:cNvSpPr txBox="1"/>
          <p:nvPr/>
        </p:nvSpPr>
        <p:spPr>
          <a:xfrm>
            <a:off x="5495544" y="2980944"/>
            <a:ext cx="1554480" cy="237744"/>
          </a:xfrm>
          <a:prstGeom prst="rect">
            <a:avLst/>
          </a:prstGeom>
          <a:noFill/>
          <a:ln/>
        </p:spPr>
        <p:txBody>
          <a:bodyPr wrap="square" lIns="0" tIns="0" rIns="0" bIns="0" rtlCol="0" anchor="t"/>
          <a:lstStyle/>
          <a:p>
            <a:pPr indent="0" marL="0">
              <a:buNone/>
            </a:pPr>
            <a:r>
              <a:rPr lang="en-US" sz="1150" b="1" dirty="0">
                <a:solidFill>
                  <a:srgbClr val="00704A"/>
                </a:solidFill>
                <a:latin typeface="Calibri" pitchFamily="34" charset="0"/>
                <a:ea typeface="Calibri" pitchFamily="34" charset="-122"/>
                <a:cs typeface="Calibri" pitchFamily="34" charset="-120"/>
              </a:rPr>
              <a:t>Industrialiser</a:t>
            </a:r>
            <a:endParaRPr lang="en-US" sz="1150" dirty="0"/>
          </a:p>
        </p:txBody>
      </p:sp>
      <p:sp>
        <p:nvSpPr>
          <p:cNvPr id="33" name="Text 30"/>
          <p:cNvSpPr txBox="1"/>
          <p:nvPr/>
        </p:nvSpPr>
        <p:spPr>
          <a:xfrm>
            <a:off x="5495544" y="3218688"/>
            <a:ext cx="1481328" cy="41148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Chaînes automatisées et documentées</a:t>
            </a:r>
            <a:endParaRPr lang="en-US" sz="900" dirty="0"/>
          </a:p>
        </p:txBody>
      </p:sp>
      <p:sp>
        <p:nvSpPr>
          <p:cNvPr id="34" name="Shape 31"/>
          <p:cNvSpPr/>
          <p:nvPr/>
        </p:nvSpPr>
        <p:spPr>
          <a:xfrm>
            <a:off x="7114032" y="1325880"/>
            <a:ext cx="1536192" cy="1627632"/>
          </a:xfrm>
          <a:prstGeom prst="roundRect">
            <a:avLst>
              <a:gd name="adj" fmla="val 3571"/>
            </a:avLst>
          </a:prstGeom>
          <a:solidFill>
            <a:srgbClr val="00664A"/>
          </a:solidFill>
          <a:ln/>
        </p:spPr>
      </p:sp>
      <p:sp>
        <p:nvSpPr>
          <p:cNvPr id="35" name="Text 32"/>
          <p:cNvSpPr txBox="1"/>
          <p:nvPr/>
        </p:nvSpPr>
        <p:spPr>
          <a:xfrm>
            <a:off x="7205472" y="1380744"/>
            <a:ext cx="365760" cy="32004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6" name="Text 33"/>
          <p:cNvSpPr txBox="1"/>
          <p:nvPr/>
        </p:nvSpPr>
        <p:spPr>
          <a:xfrm>
            <a:off x="7159752" y="2980944"/>
            <a:ext cx="1554480" cy="237744"/>
          </a:xfrm>
          <a:prstGeom prst="rect">
            <a:avLst/>
          </a:prstGeom>
          <a:noFill/>
          <a:ln/>
        </p:spPr>
        <p:txBody>
          <a:bodyPr wrap="square" lIns="0" tIns="0" rIns="0" bIns="0" rtlCol="0" anchor="t"/>
          <a:lstStyle/>
          <a:p>
            <a:pPr indent="0" marL="0">
              <a:buNone/>
            </a:pPr>
            <a:r>
              <a:rPr lang="en-US" sz="1150" b="1" dirty="0">
                <a:solidFill>
                  <a:srgbClr val="00704A"/>
                </a:solidFill>
                <a:latin typeface="Calibri" pitchFamily="34" charset="0"/>
                <a:ea typeface="Calibri" pitchFamily="34" charset="-122"/>
                <a:cs typeface="Calibri" pitchFamily="34" charset="-120"/>
              </a:rPr>
              <a:t>Institutionnaliser</a:t>
            </a:r>
            <a:endParaRPr lang="en-US" sz="1150" dirty="0"/>
          </a:p>
        </p:txBody>
      </p:sp>
      <p:sp>
        <p:nvSpPr>
          <p:cNvPr id="37" name="Text 34"/>
          <p:cNvSpPr txBox="1"/>
          <p:nvPr/>
        </p:nvSpPr>
        <p:spPr>
          <a:xfrm>
            <a:off x="7159752" y="3218688"/>
            <a:ext cx="1481328" cy="41148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Ligne budgétaire, programme officiel</a:t>
            </a:r>
            <a:endParaRPr lang="en-US" sz="900" dirty="0"/>
          </a:p>
        </p:txBody>
      </p:sp>
      <p:sp>
        <p:nvSpPr>
          <p:cNvPr id="38" name="Shape 35"/>
          <p:cNvSpPr/>
          <p:nvPr/>
        </p:nvSpPr>
        <p:spPr>
          <a:xfrm>
            <a:off x="457200" y="3703320"/>
            <a:ext cx="8229600" cy="841248"/>
          </a:xfrm>
          <a:prstGeom prst="roundRect">
            <a:avLst>
              <a:gd name="adj" fmla="val 8696"/>
            </a:avLst>
          </a:prstGeom>
          <a:solidFill>
            <a:srgbClr val="E8F5EF"/>
          </a:solidFill>
          <a:ln w="15875">
            <a:solidFill>
              <a:srgbClr val="00A86A"/>
            </a:solidFill>
            <a:prstDash val="solid"/>
          </a:ln>
        </p:spPr>
      </p:sp>
      <p:sp>
        <p:nvSpPr>
          <p:cNvPr id="39" name="Text 36"/>
          <p:cNvSpPr txBox="1"/>
          <p:nvPr/>
        </p:nvSpPr>
        <p:spPr>
          <a:xfrm>
            <a:off x="594360" y="3767328"/>
            <a:ext cx="5486400" cy="182880"/>
          </a:xfrm>
          <a:prstGeom prst="rect">
            <a:avLst/>
          </a:prstGeom>
          <a:noFill/>
          <a:ln/>
        </p:spPr>
        <p:txBody>
          <a:bodyPr wrap="square" lIns="0" tIns="0" rIns="0" bIns="0" rtlCol="0" anchor="t"/>
          <a:lstStyle/>
          <a:p>
            <a:pPr indent="0" marL="0">
              <a:buNone/>
            </a:pPr>
            <a:r>
              <a:rPr lang="en-US" sz="950" b="1" spc="100" kern="0" dirty="0">
                <a:solidFill>
                  <a:srgbClr val="00704A"/>
                </a:solidFill>
                <a:latin typeface="Calibri" pitchFamily="34" charset="0"/>
                <a:ea typeface="Calibri" pitchFamily="34" charset="-122"/>
                <a:cs typeface="Calibri" pitchFamily="34" charset="-120"/>
              </a:rPr>
              <a:t>CETTE SEMAINE ALIMENTE LE PLAN D'ACTION STG17 2025–2030</a:t>
            </a:r>
            <a:endParaRPr lang="en-US" sz="950" dirty="0"/>
          </a:p>
        </p:txBody>
      </p:sp>
      <p:sp>
        <p:nvSpPr>
          <p:cNvPr id="40" name="Shape 37"/>
          <p:cNvSpPr/>
          <p:nvPr/>
        </p:nvSpPr>
        <p:spPr>
          <a:xfrm>
            <a:off x="594360" y="4087368"/>
            <a:ext cx="640080" cy="237744"/>
          </a:xfrm>
          <a:prstGeom prst="roundRect">
            <a:avLst>
              <a:gd name="adj" fmla="val 50000"/>
            </a:avLst>
          </a:prstGeom>
          <a:solidFill>
            <a:srgbClr val="00704A">
              <a:alpha val="15000"/>
            </a:srgbClr>
          </a:solidFill>
          <a:ln w="9525">
            <a:solidFill>
              <a:srgbClr val="00704A"/>
            </a:solidFill>
            <a:prstDash val="solid"/>
          </a:ln>
        </p:spPr>
      </p:sp>
      <p:sp>
        <p:nvSpPr>
          <p:cNvPr id="41" name="Text 38"/>
          <p:cNvSpPr txBox="1"/>
          <p:nvPr/>
        </p:nvSpPr>
        <p:spPr>
          <a:xfrm>
            <a:off x="594360" y="4087368"/>
            <a:ext cx="640080" cy="237744"/>
          </a:xfrm>
          <a:prstGeom prst="rect">
            <a:avLst/>
          </a:prstGeom>
          <a:noFill/>
          <a:ln/>
        </p:spPr>
        <p:txBody>
          <a:bodyPr wrap="square" lIns="0" tIns="0" rIns="0" bIns="0" rtlCol="0" anchor="ctr"/>
          <a:lstStyle/>
          <a:p>
            <a:pPr algn="ctr" indent="0" marL="0">
              <a:buNone/>
            </a:pPr>
            <a:r>
              <a:rPr lang="en-US" sz="950" b="1" dirty="0">
                <a:solidFill>
                  <a:srgbClr val="00704A"/>
                </a:solidFill>
                <a:latin typeface="Calibri" pitchFamily="34" charset="0"/>
                <a:ea typeface="Calibri" pitchFamily="34" charset="-122"/>
                <a:cs typeface="Calibri" pitchFamily="34" charset="-120"/>
              </a:rPr>
              <a:t>2.1.1</a:t>
            </a:r>
            <a:endParaRPr lang="en-US" sz="950" dirty="0"/>
          </a:p>
        </p:txBody>
      </p:sp>
      <p:sp>
        <p:nvSpPr>
          <p:cNvPr id="42" name="Text 39"/>
          <p:cNvSpPr txBox="1"/>
          <p:nvPr/>
        </p:nvSpPr>
        <p:spPr>
          <a:xfrm>
            <a:off x="1307592" y="4023360"/>
            <a:ext cx="192024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Guide nouvelles sources</a:t>
            </a:r>
            <a:endParaRPr lang="en-US" sz="1050" dirty="0"/>
          </a:p>
        </p:txBody>
      </p:sp>
      <p:sp>
        <p:nvSpPr>
          <p:cNvPr id="43" name="Shape 40"/>
          <p:cNvSpPr/>
          <p:nvPr/>
        </p:nvSpPr>
        <p:spPr>
          <a:xfrm>
            <a:off x="3291840" y="4087368"/>
            <a:ext cx="640080" cy="237744"/>
          </a:xfrm>
          <a:prstGeom prst="roundRect">
            <a:avLst>
              <a:gd name="adj" fmla="val 50000"/>
            </a:avLst>
          </a:prstGeom>
          <a:solidFill>
            <a:srgbClr val="00704A">
              <a:alpha val="15000"/>
            </a:srgbClr>
          </a:solidFill>
          <a:ln w="9525">
            <a:solidFill>
              <a:srgbClr val="00704A"/>
            </a:solidFill>
            <a:prstDash val="solid"/>
          </a:ln>
        </p:spPr>
      </p:sp>
      <p:sp>
        <p:nvSpPr>
          <p:cNvPr id="44" name="Text 41"/>
          <p:cNvSpPr txBox="1"/>
          <p:nvPr/>
        </p:nvSpPr>
        <p:spPr>
          <a:xfrm>
            <a:off x="3291840" y="4087368"/>
            <a:ext cx="640080" cy="237744"/>
          </a:xfrm>
          <a:prstGeom prst="rect">
            <a:avLst/>
          </a:prstGeom>
          <a:noFill/>
          <a:ln/>
        </p:spPr>
        <p:txBody>
          <a:bodyPr wrap="square" lIns="0" tIns="0" rIns="0" bIns="0" rtlCol="0" anchor="ctr"/>
          <a:lstStyle/>
          <a:p>
            <a:pPr algn="ctr" indent="0" marL="0">
              <a:buNone/>
            </a:pPr>
            <a:r>
              <a:rPr lang="en-US" sz="950" b="1" dirty="0">
                <a:solidFill>
                  <a:srgbClr val="00704A"/>
                </a:solidFill>
                <a:latin typeface="Calibri" pitchFamily="34" charset="0"/>
                <a:ea typeface="Calibri" pitchFamily="34" charset="-122"/>
                <a:cs typeface="Calibri" pitchFamily="34" charset="-120"/>
              </a:rPr>
              <a:t>3.1</a:t>
            </a:r>
            <a:endParaRPr lang="en-US" sz="950" dirty="0"/>
          </a:p>
        </p:txBody>
      </p:sp>
      <p:sp>
        <p:nvSpPr>
          <p:cNvPr id="45" name="Text 42"/>
          <p:cNvSpPr txBox="1"/>
          <p:nvPr/>
        </p:nvSpPr>
        <p:spPr>
          <a:xfrm>
            <a:off x="4005072" y="4023360"/>
            <a:ext cx="192024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Partenariats secteur privé</a:t>
            </a:r>
            <a:endParaRPr lang="en-US" sz="1050" dirty="0"/>
          </a:p>
        </p:txBody>
      </p:sp>
      <p:sp>
        <p:nvSpPr>
          <p:cNvPr id="46" name="Shape 43"/>
          <p:cNvSpPr/>
          <p:nvPr/>
        </p:nvSpPr>
        <p:spPr>
          <a:xfrm>
            <a:off x="5989320" y="4087368"/>
            <a:ext cx="640080" cy="237744"/>
          </a:xfrm>
          <a:prstGeom prst="roundRect">
            <a:avLst>
              <a:gd name="adj" fmla="val 50000"/>
            </a:avLst>
          </a:prstGeom>
          <a:solidFill>
            <a:srgbClr val="00704A">
              <a:alpha val="15000"/>
            </a:srgbClr>
          </a:solidFill>
          <a:ln w="9525">
            <a:solidFill>
              <a:srgbClr val="00704A"/>
            </a:solidFill>
            <a:prstDash val="solid"/>
          </a:ln>
        </p:spPr>
      </p:sp>
      <p:sp>
        <p:nvSpPr>
          <p:cNvPr id="47" name="Text 44"/>
          <p:cNvSpPr txBox="1"/>
          <p:nvPr/>
        </p:nvSpPr>
        <p:spPr>
          <a:xfrm>
            <a:off x="5989320" y="4087368"/>
            <a:ext cx="640080" cy="237744"/>
          </a:xfrm>
          <a:prstGeom prst="rect">
            <a:avLst/>
          </a:prstGeom>
          <a:noFill/>
          <a:ln/>
        </p:spPr>
        <p:txBody>
          <a:bodyPr wrap="square" lIns="0" tIns="0" rIns="0" bIns="0" rtlCol="0" anchor="ctr"/>
          <a:lstStyle/>
          <a:p>
            <a:pPr algn="ctr" indent="0" marL="0">
              <a:buNone/>
            </a:pPr>
            <a:r>
              <a:rPr lang="en-US" sz="950" b="1" dirty="0">
                <a:solidFill>
                  <a:srgbClr val="00704A"/>
                </a:solidFill>
                <a:latin typeface="Calibri" pitchFamily="34" charset="0"/>
                <a:ea typeface="Calibri" pitchFamily="34" charset="-122"/>
                <a:cs typeface="Calibri" pitchFamily="34" charset="-120"/>
              </a:rPr>
              <a:t>4.3</a:t>
            </a:r>
            <a:endParaRPr lang="en-US" sz="950" dirty="0"/>
          </a:p>
        </p:txBody>
      </p:sp>
      <p:sp>
        <p:nvSpPr>
          <p:cNvPr id="48" name="Text 45"/>
          <p:cNvSpPr txBox="1"/>
          <p:nvPr/>
        </p:nvSpPr>
        <p:spPr>
          <a:xfrm>
            <a:off x="6702552" y="4023360"/>
            <a:ext cx="192024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Guide gouvernance des données</a:t>
            </a:r>
            <a:endParaRPr lang="en-US" sz="1050" dirty="0"/>
          </a:p>
        </p:txBody>
      </p:sp>
      <p:sp>
        <p:nvSpPr>
          <p:cNvPr id="49" name="Text 46"/>
          <p:cNvSpPr txBox="1"/>
          <p:nvPr/>
        </p:nvSpPr>
        <p:spPr>
          <a:xfrm>
            <a:off x="457200" y="4626864"/>
            <a:ext cx="7498080" cy="182880"/>
          </a:xfrm>
          <a:prstGeom prst="rect">
            <a:avLst/>
          </a:prstGeom>
          <a:noFill/>
          <a:ln/>
        </p:spPr>
        <p:txBody>
          <a:bodyPr wrap="square" lIns="0" tIns="0" rIns="0" bIns="0" rtlCol="0" anchor="t"/>
          <a:lstStyle/>
          <a:p>
            <a:pPr indent="0" marL="0">
              <a:buNone/>
            </a:pPr>
            <a:r>
              <a:rPr lang="en-US" sz="850" i="1" dirty="0">
                <a:solidFill>
                  <a:srgbClr val="5E6964"/>
                </a:solidFill>
                <a:latin typeface="Calibri" pitchFamily="34" charset="0"/>
                <a:ea typeface="Calibri" pitchFamily="34" charset="-122"/>
                <a:cs typeface="Calibri" pitchFamily="34" charset="-120"/>
              </a:rPr>
              <a:t>Source : agenda de l'atelier technique STG17 (2026), tableau « Produit de l'atelier → activité du Plan d'action STG17 ».</a:t>
            </a:r>
            <a:endParaRPr lang="en-US" sz="850" dirty="0"/>
          </a:p>
        </p:txBody>
      </p:sp>
    </p:spTree>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EN CONCLUSION</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Cinq idées à rapporter dans votre institut</a:t>
            </a:r>
            <a:endParaRPr lang="en-US" sz="2400" dirty="0"/>
          </a:p>
        </p:txBody>
      </p:sp>
      <p:sp>
        <p:nvSpPr>
          <p:cNvPr id="8" name="Text 6"/>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Sources de données non traditionnelles · Le trésor caché · Atelier STG17</a:t>
            </a:r>
            <a:endParaRPr lang="en-US" sz="850" dirty="0"/>
          </a:p>
        </p:txBody>
      </p:sp>
      <p:sp>
        <p:nvSpPr>
          <p:cNvPr id="9" name="Text 7"/>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41</a:t>
            </a:r>
            <a:endParaRPr lang="en-US" sz="850" dirty="0"/>
          </a:p>
        </p:txBody>
      </p:sp>
      <p:sp>
        <p:nvSpPr>
          <p:cNvPr id="11" name="Shape 8"/>
          <p:cNvSpPr/>
          <p:nvPr/>
        </p:nvSpPr>
        <p:spPr>
          <a:xfrm>
            <a:off x="457200" y="1097280"/>
            <a:ext cx="8229600" cy="603504"/>
          </a:xfrm>
          <a:prstGeom prst="roundRect">
            <a:avLst>
              <a:gd name="adj" fmla="val 12121"/>
            </a:avLst>
          </a:prstGeom>
          <a:solidFill>
            <a:srgbClr val="F4F7F5"/>
          </a:solidFill>
          <a:ln w="9525">
            <a:solidFill>
              <a:srgbClr val="D5DED9"/>
            </a:solidFill>
            <a:prstDash val="solid"/>
          </a:ln>
        </p:spPr>
      </p:sp>
      <p:sp>
        <p:nvSpPr>
          <p:cNvPr id="12" name="Shape 9"/>
          <p:cNvSpPr/>
          <p:nvPr/>
        </p:nvSpPr>
        <p:spPr>
          <a:xfrm>
            <a:off x="566928" y="1188720"/>
            <a:ext cx="420624" cy="420624"/>
          </a:xfrm>
          <a:prstGeom prst="ellipse">
            <a:avLst/>
          </a:prstGeom>
          <a:solidFill>
            <a:srgbClr val="00A86A">
              <a:alpha val="22000"/>
            </a:srgbClr>
          </a:solidFill>
          <a:ln/>
        </p:spPr>
      </p:sp>
      <p:pic>
        <p:nvPicPr>
          <p:cNvPr id="13" name="Image 0" descr="preencoded.png">    </p:cNvPr>
          <p:cNvPicPr>
            <a:picLocks noChangeAspect="1"/>
          </p:cNvPicPr>
          <p:nvPr/>
        </p:nvPicPr>
        <p:blipFill>
          <a:blip r:embed="rId1"/>
          <a:stretch>
            <a:fillRect/>
          </a:stretch>
        </p:blipFill>
        <p:spPr>
          <a:xfrm>
            <a:off x="672084" y="1293876"/>
            <a:ext cx="210312" cy="210312"/>
          </a:xfrm>
          <a:prstGeom prst="rect">
            <a:avLst/>
          </a:prstGeom>
        </p:spPr>
      </p:pic>
      <p:sp>
        <p:nvSpPr>
          <p:cNvPr id="14" name="Text 10"/>
          <p:cNvSpPr txBox="1"/>
          <p:nvPr/>
        </p:nvSpPr>
        <p:spPr>
          <a:xfrm>
            <a:off x="1097280" y="1097280"/>
            <a:ext cx="457200" cy="603504"/>
          </a:xfrm>
          <a:prstGeom prst="rect">
            <a:avLst/>
          </a:prstGeom>
          <a:noFill/>
          <a:ln/>
        </p:spPr>
        <p:txBody>
          <a:bodyPr wrap="square" lIns="0" tIns="0" rIns="0" bIns="0" rtlCol="0" anchor="ctr"/>
          <a:lstStyle/>
          <a:p>
            <a:pPr indent="0" marL="0">
              <a:buNone/>
            </a:pPr>
            <a:r>
              <a:rPr lang="en-US" sz="1800" b="1" dirty="0">
                <a:solidFill>
                  <a:srgbClr val="F5C242"/>
                </a:solidFill>
                <a:latin typeface="Calibri" pitchFamily="34" charset="0"/>
                <a:ea typeface="Calibri" pitchFamily="34" charset="-122"/>
                <a:cs typeface="Calibri" pitchFamily="34" charset="-120"/>
              </a:rPr>
              <a:t>01</a:t>
            </a:r>
            <a:endParaRPr lang="en-US" sz="1800" dirty="0"/>
          </a:p>
        </p:txBody>
      </p:sp>
      <p:sp>
        <p:nvSpPr>
          <p:cNvPr id="15" name="Text 11"/>
          <p:cNvSpPr txBox="1"/>
          <p:nvPr/>
        </p:nvSpPr>
        <p:spPr>
          <a:xfrm>
            <a:off x="1600200" y="1097280"/>
            <a:ext cx="2834640" cy="603504"/>
          </a:xfrm>
          <a:prstGeom prst="rect">
            <a:avLst/>
          </a:prstGeom>
          <a:noFill/>
          <a:ln/>
        </p:spPr>
        <p:txBody>
          <a:bodyPr wrap="square" lIns="0" tIns="0" rIns="0" bIns="0" rtlCol="0" anchor="ctr"/>
          <a:lstStyle/>
          <a:p>
            <a:pPr indent="0" marL="0">
              <a:buNone/>
            </a:pPr>
            <a:r>
              <a:rPr lang="en-US" sz="1300" b="1" dirty="0">
                <a:solidFill>
                  <a:srgbClr val="00A86A"/>
                </a:solidFill>
                <a:latin typeface="Calibri" pitchFamily="34" charset="0"/>
                <a:ea typeface="Calibri" pitchFamily="34" charset="-122"/>
                <a:cs typeface="Calibri" pitchFamily="34" charset="-120"/>
              </a:rPr>
              <a:t>Le trésor est réel</a:t>
            </a:r>
            <a:endParaRPr lang="en-US" sz="1300" dirty="0"/>
          </a:p>
        </p:txBody>
      </p:sp>
      <p:sp>
        <p:nvSpPr>
          <p:cNvPr id="16" name="Text 12"/>
          <p:cNvSpPr txBox="1"/>
          <p:nvPr/>
        </p:nvSpPr>
        <p:spPr>
          <a:xfrm>
            <a:off x="4480560" y="1097280"/>
            <a:ext cx="4114800" cy="603504"/>
          </a:xfrm>
          <a:prstGeom prst="rect">
            <a:avLst/>
          </a:prstGeom>
          <a:noFill/>
          <a:ln/>
        </p:spPr>
        <p:txBody>
          <a:bodyPr wrap="square" lIns="0" tIns="0" rIns="0" bIns="0" rtlCol="0" anchor="ctr"/>
          <a:lstStyle/>
          <a:p>
            <a:pPr indent="0" marL="0">
              <a:buNone/>
            </a:pPr>
            <a:r>
              <a:rPr lang="en-US" sz="1050" dirty="0">
                <a:solidFill>
                  <a:srgbClr val="5E6964"/>
                </a:solidFill>
                <a:latin typeface="Calibri" pitchFamily="34" charset="0"/>
                <a:ea typeface="Calibri" pitchFamily="34" charset="-122"/>
                <a:cs typeface="Calibri" pitchFamily="34" charset="-120"/>
              </a:rPr>
              <a:t>Actualité, granularité et couverture que les données conçues ne peuvent offrir seules.</a:t>
            </a:r>
            <a:endParaRPr lang="en-US" sz="1050" dirty="0"/>
          </a:p>
        </p:txBody>
      </p:sp>
      <p:sp>
        <p:nvSpPr>
          <p:cNvPr id="17" name="Shape 13"/>
          <p:cNvSpPr/>
          <p:nvPr/>
        </p:nvSpPr>
        <p:spPr>
          <a:xfrm>
            <a:off x="457200" y="1792224"/>
            <a:ext cx="8229600" cy="603504"/>
          </a:xfrm>
          <a:prstGeom prst="roundRect">
            <a:avLst>
              <a:gd name="adj" fmla="val 12121"/>
            </a:avLst>
          </a:prstGeom>
          <a:solidFill>
            <a:srgbClr val="E8F5EF"/>
          </a:solidFill>
          <a:ln w="15875">
            <a:solidFill>
              <a:srgbClr val="0E7C86"/>
            </a:solidFill>
            <a:prstDash val="solid"/>
          </a:ln>
        </p:spPr>
      </p:sp>
      <p:sp>
        <p:nvSpPr>
          <p:cNvPr id="18" name="Shape 14"/>
          <p:cNvSpPr/>
          <p:nvPr/>
        </p:nvSpPr>
        <p:spPr>
          <a:xfrm>
            <a:off x="566928" y="1883664"/>
            <a:ext cx="420624" cy="420624"/>
          </a:xfrm>
          <a:prstGeom prst="ellipse">
            <a:avLst/>
          </a:prstGeom>
          <a:solidFill>
            <a:srgbClr val="0E7C86">
              <a:alpha val="22000"/>
            </a:srgbClr>
          </a:solidFill>
          <a:ln/>
        </p:spPr>
      </p:sp>
      <p:pic>
        <p:nvPicPr>
          <p:cNvPr id="19" name="Image 1" descr="preencoded.png">    </p:cNvPr>
          <p:cNvPicPr>
            <a:picLocks noChangeAspect="1"/>
          </p:cNvPicPr>
          <p:nvPr/>
        </p:nvPicPr>
        <p:blipFill>
          <a:blip r:embed="rId2"/>
          <a:stretch>
            <a:fillRect/>
          </a:stretch>
        </p:blipFill>
        <p:spPr>
          <a:xfrm>
            <a:off x="672084" y="1988820"/>
            <a:ext cx="210312" cy="210312"/>
          </a:xfrm>
          <a:prstGeom prst="rect">
            <a:avLst/>
          </a:prstGeom>
        </p:spPr>
      </p:pic>
      <p:sp>
        <p:nvSpPr>
          <p:cNvPr id="20" name="Text 15"/>
          <p:cNvSpPr txBox="1"/>
          <p:nvPr/>
        </p:nvSpPr>
        <p:spPr>
          <a:xfrm>
            <a:off x="1097280" y="1792224"/>
            <a:ext cx="457200" cy="603504"/>
          </a:xfrm>
          <a:prstGeom prst="rect">
            <a:avLst/>
          </a:prstGeom>
          <a:noFill/>
          <a:ln/>
        </p:spPr>
        <p:txBody>
          <a:bodyPr wrap="square" lIns="0" tIns="0" rIns="0" bIns="0" rtlCol="0" anchor="ctr"/>
          <a:lstStyle/>
          <a:p>
            <a:pPr indent="0" marL="0">
              <a:buNone/>
            </a:pPr>
            <a:r>
              <a:rPr lang="en-US" sz="1800" b="1" dirty="0">
                <a:solidFill>
                  <a:srgbClr val="F5C242"/>
                </a:solidFill>
                <a:latin typeface="Calibri" pitchFamily="34" charset="0"/>
                <a:ea typeface="Calibri" pitchFamily="34" charset="-122"/>
                <a:cs typeface="Calibri" pitchFamily="34" charset="-120"/>
              </a:rPr>
              <a:t>02</a:t>
            </a:r>
            <a:endParaRPr lang="en-US" sz="1800" dirty="0"/>
          </a:p>
        </p:txBody>
      </p:sp>
      <p:sp>
        <p:nvSpPr>
          <p:cNvPr id="21" name="Text 16"/>
          <p:cNvSpPr txBox="1"/>
          <p:nvPr/>
        </p:nvSpPr>
        <p:spPr>
          <a:xfrm>
            <a:off x="1600200" y="1792224"/>
            <a:ext cx="2834640" cy="603504"/>
          </a:xfrm>
          <a:prstGeom prst="rect">
            <a:avLst/>
          </a:prstGeom>
          <a:noFill/>
          <a:ln/>
        </p:spPr>
        <p:txBody>
          <a:bodyPr wrap="square" lIns="0" tIns="0" rIns="0" bIns="0" rtlCol="0" anchor="ctr"/>
          <a:lstStyle/>
          <a:p>
            <a:pPr indent="0" marL="0">
              <a:buNone/>
            </a:pPr>
            <a:r>
              <a:rPr lang="en-US" sz="1300" b="1" dirty="0">
                <a:solidFill>
                  <a:srgbClr val="0E7C86"/>
                </a:solidFill>
                <a:latin typeface="Calibri" pitchFamily="34" charset="0"/>
                <a:ea typeface="Calibri" pitchFamily="34" charset="-122"/>
                <a:cs typeface="Calibri" pitchFamily="34" charset="-120"/>
              </a:rPr>
              <a:t>Le biais est le risque central</a:t>
            </a:r>
            <a:endParaRPr lang="en-US" sz="1300" dirty="0"/>
          </a:p>
        </p:txBody>
      </p:sp>
      <p:sp>
        <p:nvSpPr>
          <p:cNvPr id="22" name="Text 17"/>
          <p:cNvSpPr txBox="1"/>
          <p:nvPr/>
        </p:nvSpPr>
        <p:spPr>
          <a:xfrm>
            <a:off x="4480560" y="1792224"/>
            <a:ext cx="4114800" cy="603504"/>
          </a:xfrm>
          <a:prstGeom prst="rect">
            <a:avLst/>
          </a:prstGeom>
          <a:noFill/>
          <a:ln/>
        </p:spPr>
        <p:txBody>
          <a:bodyPr wrap="square" lIns="0" tIns="0" rIns="0" bIns="0" rtlCol="0" anchor="ctr"/>
          <a:lstStyle/>
          <a:p>
            <a:pPr indent="0" marL="0">
              <a:buNone/>
            </a:pPr>
            <a:r>
              <a:rPr lang="en-US" sz="1050" dirty="0">
                <a:solidFill>
                  <a:srgbClr val="5E6964"/>
                </a:solidFill>
                <a:latin typeface="Calibri" pitchFamily="34" charset="0"/>
                <a:ea typeface="Calibri" pitchFamily="34" charset="-122"/>
                <a:cs typeface="Calibri" pitchFamily="34" charset="-120"/>
              </a:rPr>
              <a:t>Volume n'est pas représentativité. Toujours demander qui manque, et comparer.</a:t>
            </a:r>
            <a:endParaRPr lang="en-US" sz="1050" dirty="0"/>
          </a:p>
        </p:txBody>
      </p:sp>
      <p:sp>
        <p:nvSpPr>
          <p:cNvPr id="23" name="Shape 18"/>
          <p:cNvSpPr/>
          <p:nvPr/>
        </p:nvSpPr>
        <p:spPr>
          <a:xfrm>
            <a:off x="457200" y="2487168"/>
            <a:ext cx="8229600" cy="603504"/>
          </a:xfrm>
          <a:prstGeom prst="roundRect">
            <a:avLst>
              <a:gd name="adj" fmla="val 12121"/>
            </a:avLst>
          </a:prstGeom>
          <a:solidFill>
            <a:srgbClr val="F4F7F5"/>
          </a:solidFill>
          <a:ln w="9525">
            <a:solidFill>
              <a:srgbClr val="D5DED9"/>
            </a:solidFill>
            <a:prstDash val="solid"/>
          </a:ln>
        </p:spPr>
      </p:sp>
      <p:sp>
        <p:nvSpPr>
          <p:cNvPr id="24" name="Shape 19"/>
          <p:cNvSpPr/>
          <p:nvPr/>
        </p:nvSpPr>
        <p:spPr>
          <a:xfrm>
            <a:off x="566928" y="2578608"/>
            <a:ext cx="420624" cy="420624"/>
          </a:xfrm>
          <a:prstGeom prst="ellipse">
            <a:avLst/>
          </a:prstGeom>
          <a:solidFill>
            <a:srgbClr val="D49A00">
              <a:alpha val="22000"/>
            </a:srgbClr>
          </a:solidFill>
          <a:ln/>
        </p:spPr>
      </p:sp>
      <p:pic>
        <p:nvPicPr>
          <p:cNvPr id="25" name="Image 2" descr="preencoded.png">    </p:cNvPr>
          <p:cNvPicPr>
            <a:picLocks noChangeAspect="1"/>
          </p:cNvPicPr>
          <p:nvPr/>
        </p:nvPicPr>
        <p:blipFill>
          <a:blip r:embed="rId3"/>
          <a:stretch>
            <a:fillRect/>
          </a:stretch>
        </p:blipFill>
        <p:spPr>
          <a:xfrm>
            <a:off x="672084" y="2683764"/>
            <a:ext cx="210312" cy="210312"/>
          </a:xfrm>
          <a:prstGeom prst="rect">
            <a:avLst/>
          </a:prstGeom>
        </p:spPr>
      </p:pic>
      <p:sp>
        <p:nvSpPr>
          <p:cNvPr id="26" name="Text 20"/>
          <p:cNvSpPr txBox="1"/>
          <p:nvPr/>
        </p:nvSpPr>
        <p:spPr>
          <a:xfrm>
            <a:off x="1097280" y="2487168"/>
            <a:ext cx="457200" cy="603504"/>
          </a:xfrm>
          <a:prstGeom prst="rect">
            <a:avLst/>
          </a:prstGeom>
          <a:noFill/>
          <a:ln/>
        </p:spPr>
        <p:txBody>
          <a:bodyPr wrap="square" lIns="0" tIns="0" rIns="0" bIns="0" rtlCol="0" anchor="ctr"/>
          <a:lstStyle/>
          <a:p>
            <a:pPr indent="0" marL="0">
              <a:buNone/>
            </a:pPr>
            <a:r>
              <a:rPr lang="en-US" sz="1800" b="1" dirty="0">
                <a:solidFill>
                  <a:srgbClr val="F5C242"/>
                </a:solidFill>
                <a:latin typeface="Calibri" pitchFamily="34" charset="0"/>
                <a:ea typeface="Calibri" pitchFamily="34" charset="-122"/>
                <a:cs typeface="Calibri" pitchFamily="34" charset="-120"/>
              </a:rPr>
              <a:t>03</a:t>
            </a:r>
            <a:endParaRPr lang="en-US" sz="1800" dirty="0"/>
          </a:p>
        </p:txBody>
      </p:sp>
      <p:sp>
        <p:nvSpPr>
          <p:cNvPr id="27" name="Text 21"/>
          <p:cNvSpPr txBox="1"/>
          <p:nvPr/>
        </p:nvSpPr>
        <p:spPr>
          <a:xfrm>
            <a:off x="1600200" y="2487168"/>
            <a:ext cx="2834640" cy="603504"/>
          </a:xfrm>
          <a:prstGeom prst="rect">
            <a:avLst/>
          </a:prstGeom>
          <a:noFill/>
          <a:ln/>
        </p:spPr>
        <p:txBody>
          <a:bodyPr wrap="square" lIns="0" tIns="0" rIns="0" bIns="0" rtlCol="0" anchor="ctr"/>
          <a:lstStyle/>
          <a:p>
            <a:pPr indent="0" marL="0">
              <a:buNone/>
            </a:pPr>
            <a:r>
              <a:rPr lang="en-US" sz="1300" b="1" dirty="0">
                <a:solidFill>
                  <a:srgbClr val="D49A00"/>
                </a:solidFill>
                <a:latin typeface="Calibri" pitchFamily="34" charset="0"/>
                <a:ea typeface="Calibri" pitchFamily="34" charset="-122"/>
                <a:cs typeface="Calibri" pitchFamily="34" charset="-120"/>
              </a:rPr>
              <a:t>L'accès est une relation</a:t>
            </a:r>
            <a:endParaRPr lang="en-US" sz="1300" dirty="0"/>
          </a:p>
        </p:txBody>
      </p:sp>
      <p:sp>
        <p:nvSpPr>
          <p:cNvPr id="28" name="Text 22"/>
          <p:cNvSpPr txBox="1"/>
          <p:nvPr/>
        </p:nvSpPr>
        <p:spPr>
          <a:xfrm>
            <a:off x="4480560" y="2487168"/>
            <a:ext cx="4114800" cy="603504"/>
          </a:xfrm>
          <a:prstGeom prst="rect">
            <a:avLst/>
          </a:prstGeom>
          <a:noFill/>
          <a:ln/>
        </p:spPr>
        <p:txBody>
          <a:bodyPr wrap="square" lIns="0" tIns="0" rIns="0" bIns="0" rtlCol="0" anchor="ctr"/>
          <a:lstStyle/>
          <a:p>
            <a:pPr indent="0" marL="0">
              <a:buNone/>
            </a:pPr>
            <a:r>
              <a:rPr lang="en-US" sz="1050" dirty="0">
                <a:solidFill>
                  <a:srgbClr val="5E6964"/>
                </a:solidFill>
                <a:latin typeface="Calibri" pitchFamily="34" charset="0"/>
                <a:ea typeface="Calibri" pitchFamily="34" charset="-122"/>
                <a:cs typeface="Calibri" pitchFamily="34" charset="-120"/>
              </a:rPr>
              <a:t>Bâtir les partenariats avant les crises ; déplacer le code ; prévoir la sortie.</a:t>
            </a:r>
            <a:endParaRPr lang="en-US" sz="1050" dirty="0"/>
          </a:p>
        </p:txBody>
      </p:sp>
      <p:sp>
        <p:nvSpPr>
          <p:cNvPr id="29" name="Shape 23"/>
          <p:cNvSpPr/>
          <p:nvPr/>
        </p:nvSpPr>
        <p:spPr>
          <a:xfrm>
            <a:off x="457200" y="3182112"/>
            <a:ext cx="8229600" cy="603504"/>
          </a:xfrm>
          <a:prstGeom prst="roundRect">
            <a:avLst>
              <a:gd name="adj" fmla="val 12121"/>
            </a:avLst>
          </a:prstGeom>
          <a:solidFill>
            <a:srgbClr val="F4F7F5"/>
          </a:solidFill>
          <a:ln w="9525">
            <a:solidFill>
              <a:srgbClr val="D5DED9"/>
            </a:solidFill>
            <a:prstDash val="solid"/>
          </a:ln>
        </p:spPr>
      </p:sp>
      <p:sp>
        <p:nvSpPr>
          <p:cNvPr id="30" name="Shape 24"/>
          <p:cNvSpPr/>
          <p:nvPr/>
        </p:nvSpPr>
        <p:spPr>
          <a:xfrm>
            <a:off x="566928" y="3273552"/>
            <a:ext cx="420624" cy="420624"/>
          </a:xfrm>
          <a:prstGeom prst="ellipse">
            <a:avLst/>
          </a:prstGeom>
          <a:solidFill>
            <a:srgbClr val="C4621D">
              <a:alpha val="22000"/>
            </a:srgbClr>
          </a:solidFill>
          <a:ln/>
        </p:spPr>
      </p:sp>
      <p:pic>
        <p:nvPicPr>
          <p:cNvPr id="31" name="Image 3" descr="preencoded.png">    </p:cNvPr>
          <p:cNvPicPr>
            <a:picLocks noChangeAspect="1"/>
          </p:cNvPicPr>
          <p:nvPr/>
        </p:nvPicPr>
        <p:blipFill>
          <a:blip r:embed="rId4"/>
          <a:stretch>
            <a:fillRect/>
          </a:stretch>
        </p:blipFill>
        <p:spPr>
          <a:xfrm>
            <a:off x="672084" y="3378708"/>
            <a:ext cx="210312" cy="210312"/>
          </a:xfrm>
          <a:prstGeom prst="rect">
            <a:avLst/>
          </a:prstGeom>
        </p:spPr>
      </p:pic>
      <p:sp>
        <p:nvSpPr>
          <p:cNvPr id="32" name="Text 25"/>
          <p:cNvSpPr txBox="1"/>
          <p:nvPr/>
        </p:nvSpPr>
        <p:spPr>
          <a:xfrm>
            <a:off x="1097280" y="3182112"/>
            <a:ext cx="457200" cy="603504"/>
          </a:xfrm>
          <a:prstGeom prst="rect">
            <a:avLst/>
          </a:prstGeom>
          <a:noFill/>
          <a:ln/>
        </p:spPr>
        <p:txBody>
          <a:bodyPr wrap="square" lIns="0" tIns="0" rIns="0" bIns="0" rtlCol="0" anchor="ctr"/>
          <a:lstStyle/>
          <a:p>
            <a:pPr indent="0" marL="0">
              <a:buNone/>
            </a:pPr>
            <a:r>
              <a:rPr lang="en-US" sz="1800" b="1" dirty="0">
                <a:solidFill>
                  <a:srgbClr val="F5C242"/>
                </a:solidFill>
                <a:latin typeface="Calibri" pitchFamily="34" charset="0"/>
                <a:ea typeface="Calibri" pitchFamily="34" charset="-122"/>
                <a:cs typeface="Calibri" pitchFamily="34" charset="-120"/>
              </a:rPr>
              <a:t>04</a:t>
            </a:r>
            <a:endParaRPr lang="en-US" sz="1800" dirty="0"/>
          </a:p>
        </p:txBody>
      </p:sp>
      <p:sp>
        <p:nvSpPr>
          <p:cNvPr id="33" name="Text 26"/>
          <p:cNvSpPr txBox="1"/>
          <p:nvPr/>
        </p:nvSpPr>
        <p:spPr>
          <a:xfrm>
            <a:off x="1600200" y="3182112"/>
            <a:ext cx="2834640" cy="603504"/>
          </a:xfrm>
          <a:prstGeom prst="rect">
            <a:avLst/>
          </a:prstGeom>
          <a:noFill/>
          <a:ln/>
        </p:spPr>
        <p:txBody>
          <a:bodyPr wrap="square" lIns="0" tIns="0" rIns="0" bIns="0" rtlCol="0" anchor="ctr"/>
          <a:lstStyle/>
          <a:p>
            <a:pPr indent="0" marL="0">
              <a:buNone/>
            </a:pPr>
            <a:r>
              <a:rPr lang="en-US" sz="1300" b="1" dirty="0">
                <a:solidFill>
                  <a:srgbClr val="C4621D"/>
                </a:solidFill>
                <a:latin typeface="Calibri" pitchFamily="34" charset="0"/>
                <a:ea typeface="Calibri" pitchFamily="34" charset="-122"/>
                <a:cs typeface="Calibri" pitchFamily="34" charset="-120"/>
              </a:rPr>
              <a:t>La confiance est l'infrastructure</a:t>
            </a:r>
            <a:endParaRPr lang="en-US" sz="1300" dirty="0"/>
          </a:p>
        </p:txBody>
      </p:sp>
      <p:sp>
        <p:nvSpPr>
          <p:cNvPr id="34" name="Text 27"/>
          <p:cNvSpPr txBox="1"/>
          <p:nvPr/>
        </p:nvSpPr>
        <p:spPr>
          <a:xfrm>
            <a:off x="4480560" y="3182112"/>
            <a:ext cx="4114800" cy="603504"/>
          </a:xfrm>
          <a:prstGeom prst="rect">
            <a:avLst/>
          </a:prstGeom>
          <a:noFill/>
          <a:ln/>
        </p:spPr>
        <p:txBody>
          <a:bodyPr wrap="square" lIns="0" tIns="0" rIns="0" bIns="0" rtlCol="0" anchor="ctr"/>
          <a:lstStyle/>
          <a:p>
            <a:pPr indent="0" marL="0">
              <a:buNone/>
            </a:pPr>
            <a:r>
              <a:rPr lang="en-US" sz="1050" dirty="0">
                <a:solidFill>
                  <a:srgbClr val="5E6964"/>
                </a:solidFill>
                <a:latin typeface="Calibri" pitchFamily="34" charset="0"/>
                <a:ea typeface="Calibri" pitchFamily="34" charset="-122"/>
                <a:cs typeface="Calibri" pitchFamily="34" charset="-120"/>
              </a:rPr>
              <a:t>Droit, éthique et transparence font durer l'innovation.</a:t>
            </a:r>
            <a:endParaRPr lang="en-US" sz="1050" dirty="0"/>
          </a:p>
        </p:txBody>
      </p:sp>
      <p:sp>
        <p:nvSpPr>
          <p:cNvPr id="35" name="Shape 28"/>
          <p:cNvSpPr/>
          <p:nvPr/>
        </p:nvSpPr>
        <p:spPr>
          <a:xfrm>
            <a:off x="457200" y="3877056"/>
            <a:ext cx="8229600" cy="603504"/>
          </a:xfrm>
          <a:prstGeom prst="roundRect">
            <a:avLst>
              <a:gd name="adj" fmla="val 12121"/>
            </a:avLst>
          </a:prstGeom>
          <a:solidFill>
            <a:srgbClr val="F4F7F5"/>
          </a:solidFill>
          <a:ln w="9525">
            <a:solidFill>
              <a:srgbClr val="D5DED9"/>
            </a:solidFill>
            <a:prstDash val="solid"/>
          </a:ln>
        </p:spPr>
      </p:sp>
      <p:sp>
        <p:nvSpPr>
          <p:cNvPr id="36" name="Shape 29"/>
          <p:cNvSpPr/>
          <p:nvPr/>
        </p:nvSpPr>
        <p:spPr>
          <a:xfrm>
            <a:off x="566928" y="3968496"/>
            <a:ext cx="420624" cy="420624"/>
          </a:xfrm>
          <a:prstGeom prst="ellipse">
            <a:avLst/>
          </a:prstGeom>
          <a:solidFill>
            <a:srgbClr val="00704A">
              <a:alpha val="22000"/>
            </a:srgbClr>
          </a:solidFill>
          <a:ln/>
        </p:spPr>
      </p:sp>
      <p:pic>
        <p:nvPicPr>
          <p:cNvPr id="37" name="Image 4" descr="preencoded.png">    </p:cNvPr>
          <p:cNvPicPr>
            <a:picLocks noChangeAspect="1"/>
          </p:cNvPicPr>
          <p:nvPr/>
        </p:nvPicPr>
        <p:blipFill>
          <a:blip r:embed="rId5"/>
          <a:stretch>
            <a:fillRect/>
          </a:stretch>
        </p:blipFill>
        <p:spPr>
          <a:xfrm>
            <a:off x="672084" y="4073652"/>
            <a:ext cx="210312" cy="210312"/>
          </a:xfrm>
          <a:prstGeom prst="rect">
            <a:avLst/>
          </a:prstGeom>
        </p:spPr>
      </p:pic>
      <p:sp>
        <p:nvSpPr>
          <p:cNvPr id="38" name="Text 30"/>
          <p:cNvSpPr txBox="1"/>
          <p:nvPr/>
        </p:nvSpPr>
        <p:spPr>
          <a:xfrm>
            <a:off x="1097280" y="3877056"/>
            <a:ext cx="457200" cy="603504"/>
          </a:xfrm>
          <a:prstGeom prst="rect">
            <a:avLst/>
          </a:prstGeom>
          <a:noFill/>
          <a:ln/>
        </p:spPr>
        <p:txBody>
          <a:bodyPr wrap="square" lIns="0" tIns="0" rIns="0" bIns="0" rtlCol="0" anchor="ctr"/>
          <a:lstStyle/>
          <a:p>
            <a:pPr indent="0" marL="0">
              <a:buNone/>
            </a:pPr>
            <a:r>
              <a:rPr lang="en-US" sz="1800" b="1" dirty="0">
                <a:solidFill>
                  <a:srgbClr val="F5C242"/>
                </a:solidFill>
                <a:latin typeface="Calibri" pitchFamily="34" charset="0"/>
                <a:ea typeface="Calibri" pitchFamily="34" charset="-122"/>
                <a:cs typeface="Calibri" pitchFamily="34" charset="-120"/>
              </a:rPr>
              <a:t>05</a:t>
            </a:r>
            <a:endParaRPr lang="en-US" sz="1800" dirty="0"/>
          </a:p>
        </p:txBody>
      </p:sp>
      <p:sp>
        <p:nvSpPr>
          <p:cNvPr id="39" name="Text 31"/>
          <p:cNvSpPr txBox="1"/>
          <p:nvPr/>
        </p:nvSpPr>
        <p:spPr>
          <a:xfrm>
            <a:off x="1600200" y="3877056"/>
            <a:ext cx="2834640" cy="603504"/>
          </a:xfrm>
          <a:prstGeom prst="rect">
            <a:avLst/>
          </a:prstGeom>
          <a:noFill/>
          <a:ln/>
        </p:spPr>
        <p:txBody>
          <a:bodyPr wrap="square" lIns="0" tIns="0" rIns="0" bIns="0" rtlCol="0" anchor="ctr"/>
          <a:lstStyle/>
          <a:p>
            <a:pPr indent="0" marL="0">
              <a:buNone/>
            </a:pPr>
            <a:r>
              <a:rPr lang="en-US" sz="1300" b="1" dirty="0">
                <a:solidFill>
                  <a:srgbClr val="00704A"/>
                </a:solidFill>
                <a:latin typeface="Calibri" pitchFamily="34" charset="0"/>
                <a:ea typeface="Calibri" pitchFamily="34" charset="-122"/>
                <a:cs typeface="Calibri" pitchFamily="34" charset="-120"/>
              </a:rPr>
              <a:t>Combiner, ne pas remplacer</a:t>
            </a:r>
            <a:endParaRPr lang="en-US" sz="1300" dirty="0"/>
          </a:p>
        </p:txBody>
      </p:sp>
      <p:sp>
        <p:nvSpPr>
          <p:cNvPr id="40" name="Text 32"/>
          <p:cNvSpPr txBox="1"/>
          <p:nvPr/>
        </p:nvSpPr>
        <p:spPr>
          <a:xfrm>
            <a:off x="4480560" y="3877056"/>
            <a:ext cx="4114800" cy="603504"/>
          </a:xfrm>
          <a:prstGeom prst="rect">
            <a:avLst/>
          </a:prstGeom>
          <a:noFill/>
          <a:ln/>
        </p:spPr>
        <p:txBody>
          <a:bodyPr wrap="square" lIns="0" tIns="0" rIns="0" bIns="0" rtlCol="0" anchor="ctr"/>
          <a:lstStyle/>
          <a:p>
            <a:pPr indent="0" marL="0">
              <a:buNone/>
            </a:pPr>
            <a:r>
              <a:rPr lang="en-US" sz="1050" dirty="0">
                <a:solidFill>
                  <a:srgbClr val="5E6964"/>
                </a:solidFill>
                <a:latin typeface="Calibri" pitchFamily="34" charset="0"/>
                <a:ea typeface="Calibri" pitchFamily="34" charset="-122"/>
                <a:cs typeface="Calibri" pitchFamily="34" charset="-120"/>
              </a:rPr>
              <a:t>Les nouvelles sources apportent vitesse et détail ; les sources officielles ancrent la vérité.</a:t>
            </a:r>
            <a:endParaRPr lang="en-US" sz="1050" dirty="0"/>
          </a:p>
        </p:txBody>
      </p:sp>
    </p:spTree>
  </p:cSld>
  <p:clrMapOvr>
    <a:masterClrMapping/>
  </p:clrMapOvr>
  <p:transition spd="med">
    <p:fade/>
  </p:transition>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RÉFÉRENCE</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Glossaire des termes essentiels</a:t>
            </a:r>
            <a:endParaRPr lang="en-US" sz="2400" dirty="0"/>
          </a:p>
        </p:txBody>
      </p:sp>
      <p:sp>
        <p:nvSpPr>
          <p:cNvPr id="8" name="Text 6"/>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Sources de données non traditionnelles · Le trésor caché · Atelier STG17</a:t>
            </a:r>
            <a:endParaRPr lang="en-US" sz="850" dirty="0"/>
          </a:p>
        </p:txBody>
      </p:sp>
      <p:sp>
        <p:nvSpPr>
          <p:cNvPr id="9" name="Text 7"/>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42</a:t>
            </a:r>
            <a:endParaRPr lang="en-US" sz="850" dirty="0"/>
          </a:p>
        </p:txBody>
      </p:sp>
      <p:sp>
        <p:nvSpPr>
          <p:cNvPr id="11" name="Shape 8"/>
          <p:cNvSpPr/>
          <p:nvPr/>
        </p:nvSpPr>
        <p:spPr>
          <a:xfrm>
            <a:off x="457200" y="1097280"/>
            <a:ext cx="4023360" cy="603504"/>
          </a:xfrm>
          <a:prstGeom prst="roundRect">
            <a:avLst>
              <a:gd name="adj" fmla="val 12121"/>
            </a:avLst>
          </a:prstGeom>
          <a:solidFill>
            <a:srgbClr val="F4F7F5"/>
          </a:solidFill>
          <a:ln w="9525">
            <a:solidFill>
              <a:srgbClr val="D5DED9"/>
            </a:solidFill>
            <a:prstDash val="solid"/>
          </a:ln>
        </p:spPr>
      </p:sp>
      <p:sp>
        <p:nvSpPr>
          <p:cNvPr id="12" name="Text 9"/>
          <p:cNvSpPr txBox="1"/>
          <p:nvPr/>
        </p:nvSpPr>
        <p:spPr>
          <a:xfrm>
            <a:off x="594360" y="1143000"/>
            <a:ext cx="3749040" cy="219456"/>
          </a:xfrm>
          <a:prstGeom prst="rect">
            <a:avLst/>
          </a:prstGeom>
          <a:noFill/>
          <a:ln/>
        </p:spPr>
        <p:txBody>
          <a:bodyPr wrap="square" lIns="0" tIns="0" rIns="0" bIns="0" rtlCol="0" anchor="t"/>
          <a:lstStyle/>
          <a:p>
            <a:pPr indent="0" marL="0">
              <a:buNone/>
            </a:pPr>
            <a:r>
              <a:rPr lang="en-US" sz="1150" b="1" dirty="0">
                <a:solidFill>
                  <a:srgbClr val="00704A"/>
                </a:solidFill>
                <a:latin typeface="Calibri" pitchFamily="34" charset="0"/>
                <a:ea typeface="Calibri" pitchFamily="34" charset="-122"/>
                <a:cs typeface="Calibri" pitchFamily="34" charset="-120"/>
              </a:rPr>
              <a:t>Données non traditionnelles</a:t>
            </a:r>
            <a:endParaRPr lang="en-US" sz="1150" dirty="0"/>
          </a:p>
        </p:txBody>
      </p:sp>
      <p:sp>
        <p:nvSpPr>
          <p:cNvPr id="13" name="Text 10"/>
          <p:cNvSpPr txBox="1"/>
          <p:nvPr/>
        </p:nvSpPr>
        <p:spPr>
          <a:xfrm>
            <a:off x="594360" y="1371600"/>
            <a:ext cx="3794760" cy="310896"/>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Données produites à une fin non statistique puis réutilisées comme éléments probants.</a:t>
            </a:r>
            <a:endParaRPr lang="en-US" sz="950" dirty="0"/>
          </a:p>
        </p:txBody>
      </p:sp>
      <p:sp>
        <p:nvSpPr>
          <p:cNvPr id="14" name="Shape 11"/>
          <p:cNvSpPr/>
          <p:nvPr/>
        </p:nvSpPr>
        <p:spPr>
          <a:xfrm>
            <a:off x="4663440" y="1097280"/>
            <a:ext cx="4023360" cy="603504"/>
          </a:xfrm>
          <a:prstGeom prst="roundRect">
            <a:avLst>
              <a:gd name="adj" fmla="val 12121"/>
            </a:avLst>
          </a:prstGeom>
          <a:solidFill>
            <a:srgbClr val="F4F7F5"/>
          </a:solidFill>
          <a:ln w="9525">
            <a:solidFill>
              <a:srgbClr val="D5DED9"/>
            </a:solidFill>
            <a:prstDash val="solid"/>
          </a:ln>
        </p:spPr>
      </p:sp>
      <p:sp>
        <p:nvSpPr>
          <p:cNvPr id="15" name="Text 12"/>
          <p:cNvSpPr txBox="1"/>
          <p:nvPr/>
        </p:nvSpPr>
        <p:spPr>
          <a:xfrm>
            <a:off x="4800600" y="1143000"/>
            <a:ext cx="3749040" cy="219456"/>
          </a:xfrm>
          <a:prstGeom prst="rect">
            <a:avLst/>
          </a:prstGeom>
          <a:noFill/>
          <a:ln/>
        </p:spPr>
        <p:txBody>
          <a:bodyPr wrap="square" lIns="0" tIns="0" rIns="0" bIns="0" rtlCol="0" anchor="t"/>
          <a:lstStyle/>
          <a:p>
            <a:pPr indent="0" marL="0">
              <a:buNone/>
            </a:pPr>
            <a:r>
              <a:rPr lang="en-US" sz="1150" b="1" dirty="0">
                <a:solidFill>
                  <a:srgbClr val="00704A"/>
                </a:solidFill>
                <a:latin typeface="Calibri" pitchFamily="34" charset="0"/>
                <a:ea typeface="Calibri" pitchFamily="34" charset="-122"/>
                <a:cs typeface="Calibri" pitchFamily="34" charset="-120"/>
              </a:rPr>
              <a:t>Indicateur indirect (proxy)</a:t>
            </a:r>
            <a:endParaRPr lang="en-US" sz="1150" dirty="0"/>
          </a:p>
        </p:txBody>
      </p:sp>
      <p:sp>
        <p:nvSpPr>
          <p:cNvPr id="16" name="Text 13"/>
          <p:cNvSpPr txBox="1"/>
          <p:nvPr/>
        </p:nvSpPr>
        <p:spPr>
          <a:xfrm>
            <a:off x="4800600" y="1371600"/>
            <a:ext cx="3794760" cy="310896"/>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Variable observable utilisée à la place d'un concept non mesurable directement.</a:t>
            </a:r>
            <a:endParaRPr lang="en-US" sz="950" dirty="0"/>
          </a:p>
        </p:txBody>
      </p:sp>
      <p:sp>
        <p:nvSpPr>
          <p:cNvPr id="17" name="Shape 14"/>
          <p:cNvSpPr/>
          <p:nvPr/>
        </p:nvSpPr>
        <p:spPr>
          <a:xfrm>
            <a:off x="457200" y="1792224"/>
            <a:ext cx="4023360" cy="603504"/>
          </a:xfrm>
          <a:prstGeom prst="roundRect">
            <a:avLst>
              <a:gd name="adj" fmla="val 12121"/>
            </a:avLst>
          </a:prstGeom>
          <a:solidFill>
            <a:srgbClr val="F4F7F5"/>
          </a:solidFill>
          <a:ln w="9525">
            <a:solidFill>
              <a:srgbClr val="D5DED9"/>
            </a:solidFill>
            <a:prstDash val="solid"/>
          </a:ln>
        </p:spPr>
      </p:sp>
      <p:sp>
        <p:nvSpPr>
          <p:cNvPr id="18" name="Text 15"/>
          <p:cNvSpPr txBox="1"/>
          <p:nvPr/>
        </p:nvSpPr>
        <p:spPr>
          <a:xfrm>
            <a:off x="594360" y="1837944"/>
            <a:ext cx="3749040" cy="219456"/>
          </a:xfrm>
          <a:prstGeom prst="rect">
            <a:avLst/>
          </a:prstGeom>
          <a:noFill/>
          <a:ln/>
        </p:spPr>
        <p:txBody>
          <a:bodyPr wrap="square" lIns="0" tIns="0" rIns="0" bIns="0" rtlCol="0" anchor="t"/>
          <a:lstStyle/>
          <a:p>
            <a:pPr indent="0" marL="0">
              <a:buNone/>
            </a:pPr>
            <a:r>
              <a:rPr lang="en-US" sz="1150" b="1" dirty="0">
                <a:solidFill>
                  <a:srgbClr val="00704A"/>
                </a:solidFill>
                <a:latin typeface="Calibri" pitchFamily="34" charset="0"/>
                <a:ea typeface="Calibri" pitchFamily="34" charset="-122"/>
                <a:cs typeface="Calibri" pitchFamily="34" charset="-120"/>
              </a:rPr>
              <a:t>Biais de couverture</a:t>
            </a:r>
            <a:endParaRPr lang="en-US" sz="1150" dirty="0"/>
          </a:p>
        </p:txBody>
      </p:sp>
      <p:sp>
        <p:nvSpPr>
          <p:cNvPr id="19" name="Text 16"/>
          <p:cNvSpPr txBox="1"/>
          <p:nvPr/>
        </p:nvSpPr>
        <p:spPr>
          <a:xfrm>
            <a:off x="594360" y="2066544"/>
            <a:ext cx="3794760" cy="310896"/>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Erreur due à des unités observées systématiquement différentes de la population cible.</a:t>
            </a:r>
            <a:endParaRPr lang="en-US" sz="950" dirty="0"/>
          </a:p>
        </p:txBody>
      </p:sp>
      <p:sp>
        <p:nvSpPr>
          <p:cNvPr id="20" name="Shape 17"/>
          <p:cNvSpPr/>
          <p:nvPr/>
        </p:nvSpPr>
        <p:spPr>
          <a:xfrm>
            <a:off x="4663440" y="1792224"/>
            <a:ext cx="4023360" cy="603504"/>
          </a:xfrm>
          <a:prstGeom prst="roundRect">
            <a:avLst>
              <a:gd name="adj" fmla="val 12121"/>
            </a:avLst>
          </a:prstGeom>
          <a:solidFill>
            <a:srgbClr val="F4F7F5"/>
          </a:solidFill>
          <a:ln w="9525">
            <a:solidFill>
              <a:srgbClr val="D5DED9"/>
            </a:solidFill>
            <a:prstDash val="solid"/>
          </a:ln>
        </p:spPr>
      </p:sp>
      <p:sp>
        <p:nvSpPr>
          <p:cNvPr id="21" name="Text 18"/>
          <p:cNvSpPr txBox="1"/>
          <p:nvPr/>
        </p:nvSpPr>
        <p:spPr>
          <a:xfrm>
            <a:off x="4800600" y="1837944"/>
            <a:ext cx="3749040" cy="219456"/>
          </a:xfrm>
          <a:prstGeom prst="rect">
            <a:avLst/>
          </a:prstGeom>
          <a:noFill/>
          <a:ln/>
        </p:spPr>
        <p:txBody>
          <a:bodyPr wrap="square" lIns="0" tIns="0" rIns="0" bIns="0" rtlCol="0" anchor="t"/>
          <a:lstStyle/>
          <a:p>
            <a:pPr indent="0" marL="0">
              <a:buNone/>
            </a:pPr>
            <a:r>
              <a:rPr lang="en-US" sz="1150" b="1" dirty="0">
                <a:solidFill>
                  <a:srgbClr val="00704A"/>
                </a:solidFill>
                <a:latin typeface="Calibri" pitchFamily="34" charset="0"/>
                <a:ea typeface="Calibri" pitchFamily="34" charset="-122"/>
                <a:cs typeface="Calibri" pitchFamily="34" charset="-120"/>
              </a:rPr>
              <a:t>Corrélation de défaut (ρ)</a:t>
            </a:r>
            <a:endParaRPr lang="en-US" sz="1150" dirty="0"/>
          </a:p>
        </p:txBody>
      </p:sp>
      <p:sp>
        <p:nvSpPr>
          <p:cNvPr id="22" name="Text 19"/>
          <p:cNvSpPr txBox="1"/>
          <p:nvPr/>
        </p:nvSpPr>
        <p:spPr>
          <a:xfrm>
            <a:off x="4800600" y="2066544"/>
            <a:ext cx="3794760" cy="310896"/>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Corrélation entre le fait d'être enregistré et la valeur ; nulle en tirage aléatoire.</a:t>
            </a:r>
            <a:endParaRPr lang="en-US" sz="950" dirty="0"/>
          </a:p>
        </p:txBody>
      </p:sp>
      <p:sp>
        <p:nvSpPr>
          <p:cNvPr id="23" name="Shape 20"/>
          <p:cNvSpPr/>
          <p:nvPr/>
        </p:nvSpPr>
        <p:spPr>
          <a:xfrm>
            <a:off x="457200" y="2487168"/>
            <a:ext cx="4023360" cy="603504"/>
          </a:xfrm>
          <a:prstGeom prst="roundRect">
            <a:avLst>
              <a:gd name="adj" fmla="val 12121"/>
            </a:avLst>
          </a:prstGeom>
          <a:solidFill>
            <a:srgbClr val="F4F7F5"/>
          </a:solidFill>
          <a:ln w="9525">
            <a:solidFill>
              <a:srgbClr val="D5DED9"/>
            </a:solidFill>
            <a:prstDash val="solid"/>
          </a:ln>
        </p:spPr>
      </p:sp>
      <p:sp>
        <p:nvSpPr>
          <p:cNvPr id="24" name="Text 21"/>
          <p:cNvSpPr txBox="1"/>
          <p:nvPr/>
        </p:nvSpPr>
        <p:spPr>
          <a:xfrm>
            <a:off x="594360" y="2532888"/>
            <a:ext cx="3749040" cy="219456"/>
          </a:xfrm>
          <a:prstGeom prst="rect">
            <a:avLst/>
          </a:prstGeom>
          <a:noFill/>
          <a:ln/>
        </p:spPr>
        <p:txBody>
          <a:bodyPr wrap="square" lIns="0" tIns="0" rIns="0" bIns="0" rtlCol="0" anchor="t"/>
          <a:lstStyle/>
          <a:p>
            <a:pPr indent="0" marL="0">
              <a:buNone/>
            </a:pPr>
            <a:r>
              <a:rPr lang="en-US" sz="1150" b="1" dirty="0">
                <a:solidFill>
                  <a:srgbClr val="00704A"/>
                </a:solidFill>
                <a:latin typeface="Calibri" pitchFamily="34" charset="0"/>
                <a:ea typeface="Calibri" pitchFamily="34" charset="-122"/>
                <a:cs typeface="Calibri" pitchFamily="34" charset="-120"/>
              </a:rPr>
              <a:t>Calage</a:t>
            </a:r>
            <a:endParaRPr lang="en-US" sz="1150" dirty="0"/>
          </a:p>
        </p:txBody>
      </p:sp>
      <p:sp>
        <p:nvSpPr>
          <p:cNvPr id="25" name="Text 22"/>
          <p:cNvSpPr txBox="1"/>
          <p:nvPr/>
        </p:nvSpPr>
        <p:spPr>
          <a:xfrm>
            <a:off x="594360" y="2761488"/>
            <a:ext cx="3794760" cy="310896"/>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Ajustement des poids pour reproduire des totaux connus issus d'une source fiable.</a:t>
            </a:r>
            <a:endParaRPr lang="en-US" sz="950" dirty="0"/>
          </a:p>
        </p:txBody>
      </p:sp>
      <p:sp>
        <p:nvSpPr>
          <p:cNvPr id="26" name="Shape 23"/>
          <p:cNvSpPr/>
          <p:nvPr/>
        </p:nvSpPr>
        <p:spPr>
          <a:xfrm>
            <a:off x="4663440" y="2487168"/>
            <a:ext cx="4023360" cy="603504"/>
          </a:xfrm>
          <a:prstGeom prst="roundRect">
            <a:avLst>
              <a:gd name="adj" fmla="val 12121"/>
            </a:avLst>
          </a:prstGeom>
          <a:solidFill>
            <a:srgbClr val="F4F7F5"/>
          </a:solidFill>
          <a:ln w="9525">
            <a:solidFill>
              <a:srgbClr val="D5DED9"/>
            </a:solidFill>
            <a:prstDash val="solid"/>
          </a:ln>
        </p:spPr>
      </p:sp>
      <p:sp>
        <p:nvSpPr>
          <p:cNvPr id="27" name="Text 24"/>
          <p:cNvSpPr txBox="1"/>
          <p:nvPr/>
        </p:nvSpPr>
        <p:spPr>
          <a:xfrm>
            <a:off x="4800600" y="2532888"/>
            <a:ext cx="3749040" cy="219456"/>
          </a:xfrm>
          <a:prstGeom prst="rect">
            <a:avLst/>
          </a:prstGeom>
          <a:noFill/>
          <a:ln/>
        </p:spPr>
        <p:txBody>
          <a:bodyPr wrap="square" lIns="0" tIns="0" rIns="0" bIns="0" rtlCol="0" anchor="t"/>
          <a:lstStyle/>
          <a:p>
            <a:pPr indent="0" marL="0">
              <a:buNone/>
            </a:pPr>
            <a:r>
              <a:rPr lang="en-US" sz="1150" b="1" dirty="0">
                <a:solidFill>
                  <a:srgbClr val="00704A"/>
                </a:solidFill>
                <a:latin typeface="Calibri" pitchFamily="34" charset="0"/>
                <a:ea typeface="Calibri" pitchFamily="34" charset="-122"/>
                <a:cs typeface="Calibri" pitchFamily="34" charset="-120"/>
              </a:rPr>
              <a:t>Estimation sur petits domaines</a:t>
            </a:r>
            <a:endParaRPr lang="en-US" sz="1150" dirty="0"/>
          </a:p>
        </p:txBody>
      </p:sp>
      <p:sp>
        <p:nvSpPr>
          <p:cNvPr id="28" name="Text 25"/>
          <p:cNvSpPr txBox="1"/>
          <p:nvPr/>
        </p:nvSpPr>
        <p:spPr>
          <a:xfrm>
            <a:off x="4800600" y="2761488"/>
            <a:ext cx="3794760" cy="310896"/>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Estimations par modèle à fine échelle, combinant enquête et données auxiliaires.</a:t>
            </a:r>
            <a:endParaRPr lang="en-US" sz="950" dirty="0"/>
          </a:p>
        </p:txBody>
      </p:sp>
      <p:sp>
        <p:nvSpPr>
          <p:cNvPr id="29" name="Shape 26"/>
          <p:cNvSpPr/>
          <p:nvPr/>
        </p:nvSpPr>
        <p:spPr>
          <a:xfrm>
            <a:off x="457200" y="3182112"/>
            <a:ext cx="4023360" cy="603504"/>
          </a:xfrm>
          <a:prstGeom prst="roundRect">
            <a:avLst>
              <a:gd name="adj" fmla="val 12121"/>
            </a:avLst>
          </a:prstGeom>
          <a:solidFill>
            <a:srgbClr val="F4F7F5"/>
          </a:solidFill>
          <a:ln w="9525">
            <a:solidFill>
              <a:srgbClr val="D5DED9"/>
            </a:solidFill>
            <a:prstDash val="solid"/>
          </a:ln>
        </p:spPr>
      </p:sp>
      <p:sp>
        <p:nvSpPr>
          <p:cNvPr id="30" name="Text 27"/>
          <p:cNvSpPr txBox="1"/>
          <p:nvPr/>
        </p:nvSpPr>
        <p:spPr>
          <a:xfrm>
            <a:off x="594360" y="3227832"/>
            <a:ext cx="3749040" cy="219456"/>
          </a:xfrm>
          <a:prstGeom prst="rect">
            <a:avLst/>
          </a:prstGeom>
          <a:noFill/>
          <a:ln/>
        </p:spPr>
        <p:txBody>
          <a:bodyPr wrap="square" lIns="0" tIns="0" rIns="0" bIns="0" rtlCol="0" anchor="t"/>
          <a:lstStyle/>
          <a:p>
            <a:pPr indent="0" marL="0">
              <a:buNone/>
            </a:pPr>
            <a:r>
              <a:rPr lang="en-US" sz="1150" b="1" dirty="0">
                <a:solidFill>
                  <a:srgbClr val="00704A"/>
                </a:solidFill>
                <a:latin typeface="Calibri" pitchFamily="34" charset="0"/>
                <a:ea typeface="Calibri" pitchFamily="34" charset="-122"/>
                <a:cs typeface="Calibri" pitchFamily="34" charset="-120"/>
              </a:rPr>
              <a:t>CDR (enregistrement d'appel)</a:t>
            </a:r>
            <a:endParaRPr lang="en-US" sz="1150" dirty="0"/>
          </a:p>
        </p:txBody>
      </p:sp>
      <p:sp>
        <p:nvSpPr>
          <p:cNvPr id="31" name="Text 28"/>
          <p:cNvSpPr txBox="1"/>
          <p:nvPr/>
        </p:nvSpPr>
        <p:spPr>
          <a:xfrm>
            <a:off x="594360" y="3456432"/>
            <a:ext cx="3794760" cy="310896"/>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Journal d'opérateur d'un événement téléphonique : antenne, heure, durée.</a:t>
            </a:r>
            <a:endParaRPr lang="en-US" sz="950" dirty="0"/>
          </a:p>
        </p:txBody>
      </p:sp>
      <p:sp>
        <p:nvSpPr>
          <p:cNvPr id="32" name="Shape 29"/>
          <p:cNvSpPr/>
          <p:nvPr/>
        </p:nvSpPr>
        <p:spPr>
          <a:xfrm>
            <a:off x="4663440" y="3182112"/>
            <a:ext cx="4023360" cy="603504"/>
          </a:xfrm>
          <a:prstGeom prst="roundRect">
            <a:avLst>
              <a:gd name="adj" fmla="val 12121"/>
            </a:avLst>
          </a:prstGeom>
          <a:solidFill>
            <a:srgbClr val="F4F7F5"/>
          </a:solidFill>
          <a:ln w="9525">
            <a:solidFill>
              <a:srgbClr val="D5DED9"/>
            </a:solidFill>
            <a:prstDash val="solid"/>
          </a:ln>
        </p:spPr>
      </p:sp>
      <p:sp>
        <p:nvSpPr>
          <p:cNvPr id="33" name="Text 30"/>
          <p:cNvSpPr txBox="1"/>
          <p:nvPr/>
        </p:nvSpPr>
        <p:spPr>
          <a:xfrm>
            <a:off x="4800600" y="3227832"/>
            <a:ext cx="3749040" cy="219456"/>
          </a:xfrm>
          <a:prstGeom prst="rect">
            <a:avLst/>
          </a:prstGeom>
          <a:noFill/>
          <a:ln/>
        </p:spPr>
        <p:txBody>
          <a:bodyPr wrap="square" lIns="0" tIns="0" rIns="0" bIns="0" rtlCol="0" anchor="t"/>
          <a:lstStyle/>
          <a:p>
            <a:pPr indent="0" marL="0">
              <a:buNone/>
            </a:pPr>
            <a:r>
              <a:rPr lang="en-US" sz="1150" b="1" dirty="0">
                <a:solidFill>
                  <a:srgbClr val="00704A"/>
                </a:solidFill>
                <a:latin typeface="Calibri" pitchFamily="34" charset="0"/>
                <a:ea typeface="Calibri" pitchFamily="34" charset="-122"/>
                <a:cs typeface="Calibri" pitchFamily="34" charset="-120"/>
              </a:rPr>
              <a:t>Quadkey</a:t>
            </a:r>
            <a:endParaRPr lang="en-US" sz="1150" dirty="0"/>
          </a:p>
        </p:txBody>
      </p:sp>
      <p:sp>
        <p:nvSpPr>
          <p:cNvPr id="34" name="Text 31"/>
          <p:cNvSpPr txBox="1"/>
          <p:nvPr/>
        </p:nvSpPr>
        <p:spPr>
          <a:xfrm>
            <a:off x="4800600" y="3456432"/>
            <a:ext cx="3794760" cy="310896"/>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Chaîne identifiant une tuile web-Mercator ; identifiant des tuiles Ookla.</a:t>
            </a:r>
            <a:endParaRPr lang="en-US" sz="950" dirty="0"/>
          </a:p>
        </p:txBody>
      </p:sp>
      <p:sp>
        <p:nvSpPr>
          <p:cNvPr id="35" name="Shape 32"/>
          <p:cNvSpPr/>
          <p:nvPr/>
        </p:nvSpPr>
        <p:spPr>
          <a:xfrm>
            <a:off x="457200" y="3877056"/>
            <a:ext cx="4023360" cy="603504"/>
          </a:xfrm>
          <a:prstGeom prst="roundRect">
            <a:avLst>
              <a:gd name="adj" fmla="val 12121"/>
            </a:avLst>
          </a:prstGeom>
          <a:solidFill>
            <a:srgbClr val="F4F7F5"/>
          </a:solidFill>
          <a:ln w="9525">
            <a:solidFill>
              <a:srgbClr val="D5DED9"/>
            </a:solidFill>
            <a:prstDash val="solid"/>
          </a:ln>
        </p:spPr>
      </p:sp>
      <p:sp>
        <p:nvSpPr>
          <p:cNvPr id="36" name="Text 33"/>
          <p:cNvSpPr txBox="1"/>
          <p:nvPr/>
        </p:nvSpPr>
        <p:spPr>
          <a:xfrm>
            <a:off x="594360" y="3922776"/>
            <a:ext cx="3749040" cy="219456"/>
          </a:xfrm>
          <a:prstGeom prst="rect">
            <a:avLst/>
          </a:prstGeom>
          <a:noFill/>
          <a:ln/>
        </p:spPr>
        <p:txBody>
          <a:bodyPr wrap="square" lIns="0" tIns="0" rIns="0" bIns="0" rtlCol="0" anchor="t"/>
          <a:lstStyle/>
          <a:p>
            <a:pPr indent="0" marL="0">
              <a:buNone/>
            </a:pPr>
            <a:r>
              <a:rPr lang="en-US" sz="1150" b="1" dirty="0">
                <a:solidFill>
                  <a:srgbClr val="00704A"/>
                </a:solidFill>
                <a:latin typeface="Calibri" pitchFamily="34" charset="0"/>
                <a:ea typeface="Calibri" pitchFamily="34" charset="-122"/>
                <a:cs typeface="Calibri" pitchFamily="34" charset="-120"/>
              </a:rPr>
              <a:t>Code vers les données</a:t>
            </a:r>
            <a:endParaRPr lang="en-US" sz="1150" dirty="0"/>
          </a:p>
        </p:txBody>
      </p:sp>
      <p:sp>
        <p:nvSpPr>
          <p:cNvPr id="37" name="Text 34"/>
          <p:cNvSpPr txBox="1"/>
          <p:nvPr/>
        </p:nvSpPr>
        <p:spPr>
          <a:xfrm>
            <a:off x="594360" y="4151376"/>
            <a:ext cx="3794760" cy="310896"/>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Mode d'accès où le code de l'analyste tourne chez le fournisseur.</a:t>
            </a:r>
            <a:endParaRPr lang="en-US" sz="950" dirty="0"/>
          </a:p>
        </p:txBody>
      </p:sp>
      <p:sp>
        <p:nvSpPr>
          <p:cNvPr id="38" name="Shape 35"/>
          <p:cNvSpPr/>
          <p:nvPr/>
        </p:nvSpPr>
        <p:spPr>
          <a:xfrm>
            <a:off x="4663440" y="3877056"/>
            <a:ext cx="4023360" cy="603504"/>
          </a:xfrm>
          <a:prstGeom prst="roundRect">
            <a:avLst>
              <a:gd name="adj" fmla="val 12121"/>
            </a:avLst>
          </a:prstGeom>
          <a:solidFill>
            <a:srgbClr val="F4F7F5"/>
          </a:solidFill>
          <a:ln w="9525">
            <a:solidFill>
              <a:srgbClr val="D5DED9"/>
            </a:solidFill>
            <a:prstDash val="solid"/>
          </a:ln>
        </p:spPr>
      </p:sp>
      <p:sp>
        <p:nvSpPr>
          <p:cNvPr id="39" name="Text 36"/>
          <p:cNvSpPr txBox="1"/>
          <p:nvPr/>
        </p:nvSpPr>
        <p:spPr>
          <a:xfrm>
            <a:off x="4800600" y="3922776"/>
            <a:ext cx="3749040" cy="219456"/>
          </a:xfrm>
          <a:prstGeom prst="rect">
            <a:avLst/>
          </a:prstGeom>
          <a:noFill/>
          <a:ln/>
        </p:spPr>
        <p:txBody>
          <a:bodyPr wrap="square" lIns="0" tIns="0" rIns="0" bIns="0" rtlCol="0" anchor="t"/>
          <a:lstStyle/>
          <a:p>
            <a:pPr indent="0" marL="0">
              <a:buNone/>
            </a:pPr>
            <a:r>
              <a:rPr lang="en-US" sz="1150" b="1" dirty="0">
                <a:solidFill>
                  <a:srgbClr val="00704A"/>
                </a:solidFill>
                <a:latin typeface="Calibri" pitchFamily="34" charset="0"/>
                <a:ea typeface="Calibri" pitchFamily="34" charset="-122"/>
                <a:cs typeface="Calibri" pitchFamily="34" charset="-120"/>
              </a:rPr>
              <a:t>Five Safes</a:t>
            </a:r>
            <a:endParaRPr lang="en-US" sz="1150" dirty="0"/>
          </a:p>
        </p:txBody>
      </p:sp>
      <p:sp>
        <p:nvSpPr>
          <p:cNvPr id="40" name="Text 37"/>
          <p:cNvSpPr txBox="1"/>
          <p:nvPr/>
        </p:nvSpPr>
        <p:spPr>
          <a:xfrm>
            <a:off x="4800600" y="4151376"/>
            <a:ext cx="3794760" cy="310896"/>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Projets, personnes, environnements, données, résultats — cadre d'accès sécurisé.</a:t>
            </a:r>
            <a:endParaRPr lang="en-US" sz="950" dirty="0"/>
          </a:p>
        </p:txBody>
      </p:sp>
    </p:spTree>
  </p:cSld>
  <p:clrMapOvr>
    <a:masterClrMapping/>
  </p:clrMapOvr>
  <p:transition spd="med">
    <p:fade/>
  </p:transition>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3657600"/>
            <a:ext cx="2377440" cy="2377440"/>
          </a:xfrm>
          <a:prstGeom prst="ellipse">
            <a:avLst/>
          </a:prstGeom>
          <a:solidFill>
            <a:srgbClr val="00A86A">
              <a:alpha val="5000"/>
            </a:srgbClr>
          </a:solidFill>
          <a:ln/>
        </p:spPr>
      </p:sp>
      <p:sp>
        <p:nvSpPr>
          <p:cNvPr id="3" name="Shape 1"/>
          <p:cNvSpPr/>
          <p:nvPr/>
        </p:nvSpPr>
        <p:spPr>
          <a:xfrm>
            <a:off x="8092440" y="4114800"/>
            <a:ext cx="1463040" cy="1463040"/>
          </a:xfrm>
          <a:prstGeom prst="ellipse">
            <a:avLst/>
          </a:prstGeom>
          <a:solidFill>
            <a:srgbClr val="00A86A">
              <a:alpha val="7000"/>
            </a:srgbClr>
          </a:solidFill>
          <a:ln/>
        </p:spPr>
      </p:sp>
      <p:sp>
        <p:nvSpPr>
          <p:cNvPr id="4" name="Shape 2"/>
          <p:cNvSpPr/>
          <p:nvPr/>
        </p:nvSpPr>
        <p:spPr>
          <a:xfrm>
            <a:off x="0" y="0"/>
            <a:ext cx="9144000" cy="54864"/>
          </a:xfrm>
          <a:prstGeom prst="rect">
            <a:avLst/>
          </a:prstGeom>
          <a:solidFill>
            <a:srgbClr val="00A86A"/>
          </a:solidFill>
          <a:ln/>
        </p:spPr>
      </p:sp>
      <p:sp>
        <p:nvSpPr>
          <p:cNvPr id="5" name="Shape 3"/>
          <p:cNvSpPr/>
          <p:nvPr/>
        </p:nvSpPr>
        <p:spPr>
          <a:xfrm>
            <a:off x="0" y="0"/>
            <a:ext cx="1234440" cy="54864"/>
          </a:xfrm>
          <a:prstGeom prst="rect">
            <a:avLst/>
          </a:prstGeom>
          <a:solidFill>
            <a:srgbClr val="F5C242"/>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RÉFÉRENCE</a:t>
            </a:r>
            <a:endParaRPr lang="en-US" sz="1050" dirty="0"/>
          </a:p>
        </p:txBody>
      </p:sp>
      <p:sp>
        <p:nvSpPr>
          <p:cNvPr id="7" name="Text 5"/>
          <p:cNvSpPr txBox="1"/>
          <p:nvPr/>
        </p:nvSpPr>
        <p:spPr>
          <a:xfrm>
            <a:off x="457200" y="475488"/>
            <a:ext cx="7498080" cy="457200"/>
          </a:xfrm>
          <a:prstGeom prst="rect">
            <a:avLst/>
          </a:prstGeom>
          <a:noFill/>
          <a:ln/>
        </p:spPr>
        <p:txBody>
          <a:bodyPr wrap="square" lIns="0" tIns="0" rIns="0" bIns="0" rtlCol="0" anchor="ctr"/>
          <a:lstStyle/>
          <a:p>
            <a:pPr indent="0" marL="0">
              <a:buNone/>
            </a:pPr>
            <a:r>
              <a:rPr lang="en-US" sz="2400" b="1" dirty="0">
                <a:solidFill>
                  <a:srgbClr val="231F20"/>
                </a:solidFill>
                <a:latin typeface="Calibri" pitchFamily="34" charset="0"/>
                <a:ea typeface="Calibri" pitchFamily="34" charset="-122"/>
                <a:cs typeface="Calibri" pitchFamily="34" charset="-120"/>
              </a:rPr>
              <a:t>Sources et lectures complémentaires</a:t>
            </a:r>
            <a:endParaRPr lang="en-US" sz="2400" dirty="0"/>
          </a:p>
        </p:txBody>
      </p:sp>
      <p:sp>
        <p:nvSpPr>
          <p:cNvPr id="8" name="Text 6"/>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Sources de données non traditionnelles · Le trésor caché · Atelier STG17</a:t>
            </a:r>
            <a:endParaRPr lang="en-US" sz="850" dirty="0"/>
          </a:p>
        </p:txBody>
      </p:sp>
      <p:sp>
        <p:nvSpPr>
          <p:cNvPr id="9" name="Text 7"/>
          <p:cNvSpPr txBox="1"/>
          <p:nvPr/>
        </p:nvSpPr>
        <p:spPr>
          <a:xfrm>
            <a:off x="8138160" y="4846320"/>
            <a:ext cx="54864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43</a:t>
            </a:r>
            <a:endParaRPr lang="en-US" sz="850" dirty="0"/>
          </a:p>
        </p:txBody>
      </p:sp>
      <p:sp>
        <p:nvSpPr>
          <p:cNvPr id="11" name="Shape 8"/>
          <p:cNvSpPr/>
          <p:nvPr/>
        </p:nvSpPr>
        <p:spPr>
          <a:xfrm>
            <a:off x="457200" y="1097280"/>
            <a:ext cx="4023360" cy="3474720"/>
          </a:xfrm>
          <a:prstGeom prst="roundRect">
            <a:avLst>
              <a:gd name="adj" fmla="val 2105"/>
            </a:avLst>
          </a:prstGeom>
          <a:solidFill>
            <a:srgbClr val="F4F7F5"/>
          </a:solidFill>
          <a:ln w="9525">
            <a:solidFill>
              <a:srgbClr val="D5DED9"/>
            </a:solidFill>
            <a:prstDash val="solid"/>
          </a:ln>
        </p:spPr>
      </p:sp>
      <p:sp>
        <p:nvSpPr>
          <p:cNvPr id="12" name="Shape 9"/>
          <p:cNvSpPr/>
          <p:nvPr/>
        </p:nvSpPr>
        <p:spPr>
          <a:xfrm>
            <a:off x="4663440" y="1097280"/>
            <a:ext cx="4023360" cy="3474720"/>
          </a:xfrm>
          <a:prstGeom prst="roundRect">
            <a:avLst>
              <a:gd name="adj" fmla="val 2105"/>
            </a:avLst>
          </a:prstGeom>
          <a:solidFill>
            <a:srgbClr val="F4F7F5"/>
          </a:solidFill>
          <a:ln w="9525">
            <a:solidFill>
              <a:srgbClr val="D5DED9"/>
            </a:solidFill>
            <a:prstDash val="solid"/>
          </a:ln>
        </p:spPr>
      </p:sp>
      <p:sp>
        <p:nvSpPr>
          <p:cNvPr id="13" name="Text 10"/>
          <p:cNvSpPr txBox="1"/>
          <p:nvPr/>
        </p:nvSpPr>
        <p:spPr>
          <a:xfrm>
            <a:off x="566928" y="1188720"/>
            <a:ext cx="3794760" cy="3291840"/>
          </a:xfrm>
          <a:prstGeom prst="rect">
            <a:avLst/>
          </a:prstGeom>
          <a:noFill/>
          <a:ln/>
        </p:spPr>
        <p:txBody>
          <a:bodyPr wrap="square" lIns="0" tIns="0" rIns="0" bIns="0" rtlCol="0" anchor="t"/>
          <a:lstStyle/>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BAD, UA STATAFRIC et NISR (2026). Atelier technique STG17 — Emerging Issues, Emerging Practice. Agenda, v. 01/09/2026.</a:t>
            </a:r>
            <a:endParaRPr lang="en-US" sz="1000" dirty="0"/>
          </a:p>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Blumenstock, J., Cadamuro, G. &amp; On, R. (2015). Predicting poverty and wealth from mobile phone metadata. Science 350(6264).</a:t>
            </a:r>
            <a:endParaRPr lang="en-US" sz="1000" dirty="0"/>
          </a:p>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Cavallo, A. &amp; Rigobon, R. (2016). The Billion Prices Project. Journal of Economic Perspectives 30(2).</a:t>
            </a:r>
            <a:endParaRPr lang="en-US" sz="1000" dirty="0"/>
          </a:p>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Collaborative on Citizen Data (2025). The Copenhagen Framework on Citizen Data, v1.0. Commission de statistique de l'ONU, 56e session.</a:t>
            </a:r>
            <a:endParaRPr lang="en-US" sz="1000" dirty="0"/>
          </a:p>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de Montjoye, Y.-A. et al. (2013). Unique in the Crowd: the privacy bounds of human mobility. Scientific Reports 3: 1376.</a:t>
            </a:r>
            <a:endParaRPr lang="en-US" sz="1000" dirty="0"/>
          </a:p>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Desai, T., Ritchie, F. &amp; Welpton, R. (2016). Five Safes: designing data access for research. UWE Working Paper 1601.</a:t>
            </a:r>
            <a:endParaRPr lang="en-US" sz="1000" dirty="0"/>
          </a:p>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GSMA Intelligence (2026). The Mobile Economy Africa 2026.</a:t>
            </a:r>
            <a:endParaRPr lang="en-US" sz="1000" dirty="0"/>
          </a:p>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UIT (2025). Facts and Figures 2025 ; State of Digital Development in Africa 2025.</a:t>
            </a:r>
            <a:endParaRPr lang="en-US" sz="1000" dirty="0"/>
          </a:p>
        </p:txBody>
      </p:sp>
      <p:sp>
        <p:nvSpPr>
          <p:cNvPr id="14" name="Text 11"/>
          <p:cNvSpPr txBox="1"/>
          <p:nvPr/>
        </p:nvSpPr>
        <p:spPr>
          <a:xfrm>
            <a:off x="4773168" y="1188720"/>
            <a:ext cx="3794760" cy="3291840"/>
          </a:xfrm>
          <a:prstGeom prst="rect">
            <a:avLst/>
          </a:prstGeom>
          <a:noFill/>
          <a:ln/>
        </p:spPr>
        <p:txBody>
          <a:bodyPr wrap="square" lIns="0" tIns="0" rIns="0" bIns="0" rtlCol="0" anchor="t"/>
          <a:lstStyle/>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Jean, N. et al. (2016). Combining satellite imagery and machine learning to predict poverty. Science 353(6301).</a:t>
            </a:r>
            <a:endParaRPr lang="en-US" sz="1000" dirty="0"/>
          </a:p>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Meng, X.-L. (2018). Statistical paradises and paradoxes in big data (I). Annals of Applied Statistics 12(2): 685–726.</a:t>
            </a:r>
            <a:endParaRPr lang="en-US" sz="1000" dirty="0"/>
          </a:p>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Ookla. Speedtest Global Fixed and Mobile Network Performance Maps. github.com/teamookla/ookla-open-data.</a:t>
            </a:r>
            <a:endParaRPr lang="en-US" sz="1000" dirty="0"/>
          </a:p>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Román, M.O. et al. (2018). NASA's Black Marble nighttime lights product suite. Remote Sensing of Environment 210.</a:t>
            </a:r>
            <a:endParaRPr lang="en-US" sz="1000" dirty="0"/>
          </a:p>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Assemblée générale des Nations Unies (2014). Principes fondamentaux de la statistique officielle, A/RES/68/261.</a:t>
            </a:r>
            <a:endParaRPr lang="en-US" sz="1000" dirty="0"/>
          </a:p>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Division de statistique de l'ONU. Guide méthodologique sur les données de téléphonie mobile, annexe 1.5 (Ghana). UN Statistics Wiki.</a:t>
            </a:r>
            <a:endParaRPr lang="en-US" sz="1000" dirty="0"/>
          </a:p>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CEE-ONU (2013). Classification of Types of Big Data ; CEE-ONU (2014). A Suggested Framework for the Quality of Big Data.</a:t>
            </a:r>
            <a:endParaRPr lang="en-US" sz="1000" dirty="0"/>
          </a:p>
          <a:p>
            <a:pPr marL="152400" indent="-152400">
              <a:spcAft>
                <a:spcPts val="600"/>
              </a:spcAft>
              <a:buSzPct val="100000"/>
              <a:buChar char="•"/>
            </a:pPr>
            <a:r>
              <a:rPr lang="en-US" sz="1000" dirty="0">
                <a:solidFill>
                  <a:srgbClr val="231F20"/>
                </a:solidFill>
                <a:latin typeface="Calibri" pitchFamily="34" charset="0"/>
                <a:ea typeface="Calibri" pitchFamily="34" charset="-122"/>
                <a:cs typeface="Calibri" pitchFamily="34" charset="-120"/>
              </a:rPr>
              <a:t>Union africaine (2009). Charte africaine de la statistique ; UA (2014). Convention sur la cybersécurité et la protection des données à caractère personnel.</a:t>
            </a:r>
            <a:endParaRPr lang="en-US" sz="1000" dirty="0"/>
          </a:p>
        </p:txBody>
      </p:sp>
    </p:spTree>
  </p:cSld>
  <p:clrMapOvr>
    <a:masterClrMapping/>
  </p:clrMapOvr>
  <p:transition spd="med">
    <p:fade/>
  </p:transition>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548640"/>
            <a:ext cx="3657600" cy="22860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ÉCHANGES</a:t>
            </a:r>
            <a:endParaRPr lang="en-US" sz="1100" dirty="0"/>
          </a:p>
        </p:txBody>
      </p:sp>
      <p:sp>
        <p:nvSpPr>
          <p:cNvPr id="4" name="Text 1"/>
          <p:cNvSpPr txBox="1"/>
          <p:nvPr/>
        </p:nvSpPr>
        <p:spPr>
          <a:xfrm>
            <a:off x="548640" y="868680"/>
            <a:ext cx="5029200" cy="822960"/>
          </a:xfrm>
          <a:prstGeom prst="rect">
            <a:avLst/>
          </a:prstGeom>
          <a:noFill/>
          <a:ln/>
        </p:spPr>
        <p:txBody>
          <a:bodyPr wrap="square" lIns="0" tIns="0" rIns="0" bIns="0" rtlCol="0" anchor="t"/>
          <a:lstStyle/>
          <a:p>
            <a:pPr indent="0" marL="0">
              <a:buNone/>
            </a:pPr>
            <a:r>
              <a:rPr lang="en-US" sz="4600" b="1" dirty="0">
                <a:solidFill>
                  <a:srgbClr val="FFFFFF"/>
                </a:solidFill>
                <a:latin typeface="Calibri" pitchFamily="34" charset="0"/>
                <a:ea typeface="Calibri" pitchFamily="34" charset="-122"/>
                <a:cs typeface="Calibri" pitchFamily="34" charset="-120"/>
              </a:rPr>
              <a:t>Merci</a:t>
            </a:r>
            <a:endParaRPr lang="en-US" sz="4600" dirty="0"/>
          </a:p>
        </p:txBody>
      </p:sp>
      <p:sp>
        <p:nvSpPr>
          <p:cNvPr id="5" name="Text 2"/>
          <p:cNvSpPr txBox="1"/>
          <p:nvPr/>
        </p:nvSpPr>
        <p:spPr>
          <a:xfrm>
            <a:off x="548640" y="1737360"/>
            <a:ext cx="5394960" cy="685800"/>
          </a:xfrm>
          <a:prstGeom prst="rect">
            <a:avLst/>
          </a:prstGeom>
          <a:noFill/>
          <a:ln/>
        </p:spPr>
        <p:txBody>
          <a:bodyPr wrap="square" lIns="0" tIns="0" rIns="0" bIns="0" rtlCol="0" anchor="t"/>
          <a:lstStyle/>
          <a:p>
            <a:pPr indent="0" marL="0">
              <a:buNone/>
            </a:pPr>
            <a:r>
              <a:rPr lang="en-US" sz="1600" i="1" dirty="0">
                <a:solidFill>
                  <a:srgbClr val="E6F6EE"/>
                </a:solidFill>
                <a:latin typeface="Calibri" pitchFamily="34" charset="0"/>
                <a:ea typeface="Calibri" pitchFamily="34" charset="-122"/>
                <a:cs typeface="Calibri" pitchFamily="34" charset="-120"/>
              </a:rPr>
              <a:t>Le trésor, ce ne sont pas les données : ce sont les décisions qu'elles permettent — en toute sécurité.</a:t>
            </a:r>
            <a:endParaRPr lang="en-US" sz="1600" dirty="0"/>
          </a:p>
        </p:txBody>
      </p:sp>
      <p:sp>
        <p:nvSpPr>
          <p:cNvPr id="6" name="Shape 3"/>
          <p:cNvSpPr/>
          <p:nvPr/>
        </p:nvSpPr>
        <p:spPr>
          <a:xfrm>
            <a:off x="548640" y="2606040"/>
            <a:ext cx="5486400" cy="457200"/>
          </a:xfrm>
          <a:prstGeom prst="roundRect">
            <a:avLst>
              <a:gd name="adj" fmla="val 16000"/>
            </a:avLst>
          </a:prstGeom>
          <a:solidFill>
            <a:srgbClr val="FFFFFF">
              <a:alpha val="15000"/>
            </a:srgbClr>
          </a:solidFill>
          <a:ln w="9525">
            <a:solidFill>
              <a:srgbClr val="FFFFFF">
                <a:alpha val="50000"/>
              </a:srgbClr>
            </a:solidFill>
            <a:prstDash val="solid"/>
          </a:ln>
        </p:spPr>
      </p:sp>
      <p:sp>
        <p:nvSpPr>
          <p:cNvPr id="7" name="Text 4"/>
          <p:cNvSpPr txBox="1"/>
          <p:nvPr/>
        </p:nvSpPr>
        <p:spPr>
          <a:xfrm>
            <a:off x="658368" y="2606040"/>
            <a:ext cx="457200" cy="457200"/>
          </a:xfrm>
          <a:prstGeom prst="rect">
            <a:avLst/>
          </a:prstGeom>
          <a:noFill/>
          <a:ln/>
        </p:spPr>
        <p:txBody>
          <a:bodyPr wrap="square" lIns="0" tIns="0" rIns="0" bIns="0" rtlCol="0" anchor="ctr"/>
          <a:lstStyle/>
          <a:p>
            <a:pPr indent="0" marL="0">
              <a:buNone/>
            </a:pPr>
            <a:r>
              <a:rPr lang="en-US" sz="1400" b="1" dirty="0">
                <a:solidFill>
                  <a:srgbClr val="F5C242"/>
                </a:solidFill>
                <a:latin typeface="Calibri" pitchFamily="34" charset="0"/>
                <a:ea typeface="Calibri" pitchFamily="34" charset="-122"/>
                <a:cs typeface="Calibri" pitchFamily="34" charset="-120"/>
              </a:rPr>
              <a:t>Q1</a:t>
            </a:r>
            <a:endParaRPr lang="en-US" sz="1400" dirty="0"/>
          </a:p>
        </p:txBody>
      </p:sp>
      <p:sp>
        <p:nvSpPr>
          <p:cNvPr id="8" name="Text 5"/>
          <p:cNvSpPr txBox="1"/>
          <p:nvPr/>
        </p:nvSpPr>
        <p:spPr>
          <a:xfrm>
            <a:off x="1143000" y="2606040"/>
            <a:ext cx="4800600" cy="45720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Quelle source non traditionnelle votre institut est-il le plus près d'utiliser en statistique officielle ?</a:t>
            </a:r>
            <a:endParaRPr lang="en-US" sz="1150" dirty="0"/>
          </a:p>
        </p:txBody>
      </p:sp>
      <p:sp>
        <p:nvSpPr>
          <p:cNvPr id="9" name="Shape 6"/>
          <p:cNvSpPr/>
          <p:nvPr/>
        </p:nvSpPr>
        <p:spPr>
          <a:xfrm>
            <a:off x="548640" y="3172968"/>
            <a:ext cx="5486400" cy="457200"/>
          </a:xfrm>
          <a:prstGeom prst="roundRect">
            <a:avLst>
              <a:gd name="adj" fmla="val 16000"/>
            </a:avLst>
          </a:prstGeom>
          <a:solidFill>
            <a:srgbClr val="FFFFFF">
              <a:alpha val="15000"/>
            </a:srgbClr>
          </a:solidFill>
          <a:ln w="9525">
            <a:solidFill>
              <a:srgbClr val="FFFFFF">
                <a:alpha val="50000"/>
              </a:srgbClr>
            </a:solidFill>
            <a:prstDash val="solid"/>
          </a:ln>
        </p:spPr>
      </p:sp>
      <p:sp>
        <p:nvSpPr>
          <p:cNvPr id="10" name="Text 7"/>
          <p:cNvSpPr txBox="1"/>
          <p:nvPr/>
        </p:nvSpPr>
        <p:spPr>
          <a:xfrm>
            <a:off x="658368" y="3172968"/>
            <a:ext cx="457200" cy="457200"/>
          </a:xfrm>
          <a:prstGeom prst="rect">
            <a:avLst/>
          </a:prstGeom>
          <a:noFill/>
          <a:ln/>
        </p:spPr>
        <p:txBody>
          <a:bodyPr wrap="square" lIns="0" tIns="0" rIns="0" bIns="0" rtlCol="0" anchor="ctr"/>
          <a:lstStyle/>
          <a:p>
            <a:pPr indent="0" marL="0">
              <a:buNone/>
            </a:pPr>
            <a:r>
              <a:rPr lang="en-US" sz="1400" b="1" dirty="0">
                <a:solidFill>
                  <a:srgbClr val="F5C242"/>
                </a:solidFill>
                <a:latin typeface="Calibri" pitchFamily="34" charset="0"/>
                <a:ea typeface="Calibri" pitchFamily="34" charset="-122"/>
                <a:cs typeface="Calibri" pitchFamily="34" charset="-120"/>
              </a:rPr>
              <a:t>Q2</a:t>
            </a:r>
            <a:endParaRPr lang="en-US" sz="1400" dirty="0"/>
          </a:p>
        </p:txBody>
      </p:sp>
      <p:sp>
        <p:nvSpPr>
          <p:cNvPr id="11" name="Text 8"/>
          <p:cNvSpPr txBox="1"/>
          <p:nvPr/>
        </p:nvSpPr>
        <p:spPr>
          <a:xfrm>
            <a:off x="1143000" y="3172968"/>
            <a:ext cx="4800600" cy="45720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Quel est le principal obstacle : l'accès, les compétences, le droit ou la confiance ?</a:t>
            </a:r>
            <a:endParaRPr lang="en-US" sz="1150" dirty="0"/>
          </a:p>
        </p:txBody>
      </p:sp>
      <p:sp>
        <p:nvSpPr>
          <p:cNvPr id="12" name="Shape 9"/>
          <p:cNvSpPr/>
          <p:nvPr/>
        </p:nvSpPr>
        <p:spPr>
          <a:xfrm>
            <a:off x="548640" y="3739896"/>
            <a:ext cx="5486400" cy="457200"/>
          </a:xfrm>
          <a:prstGeom prst="roundRect">
            <a:avLst>
              <a:gd name="adj" fmla="val 16000"/>
            </a:avLst>
          </a:prstGeom>
          <a:solidFill>
            <a:srgbClr val="FFFFFF">
              <a:alpha val="15000"/>
            </a:srgbClr>
          </a:solidFill>
          <a:ln w="9525">
            <a:solidFill>
              <a:srgbClr val="FFFFFF">
                <a:alpha val="50000"/>
              </a:srgbClr>
            </a:solidFill>
            <a:prstDash val="solid"/>
          </a:ln>
        </p:spPr>
      </p:sp>
      <p:sp>
        <p:nvSpPr>
          <p:cNvPr id="13" name="Text 10"/>
          <p:cNvSpPr txBox="1"/>
          <p:nvPr/>
        </p:nvSpPr>
        <p:spPr>
          <a:xfrm>
            <a:off x="658368" y="3739896"/>
            <a:ext cx="457200" cy="457200"/>
          </a:xfrm>
          <a:prstGeom prst="rect">
            <a:avLst/>
          </a:prstGeom>
          <a:noFill/>
          <a:ln/>
        </p:spPr>
        <p:txBody>
          <a:bodyPr wrap="square" lIns="0" tIns="0" rIns="0" bIns="0" rtlCol="0" anchor="ctr"/>
          <a:lstStyle/>
          <a:p>
            <a:pPr indent="0" marL="0">
              <a:buNone/>
            </a:pPr>
            <a:r>
              <a:rPr lang="en-US" sz="1400" b="1" dirty="0">
                <a:solidFill>
                  <a:srgbClr val="F5C242"/>
                </a:solidFill>
                <a:latin typeface="Calibri" pitchFamily="34" charset="0"/>
                <a:ea typeface="Calibri" pitchFamily="34" charset="-122"/>
                <a:cs typeface="Calibri" pitchFamily="34" charset="-120"/>
              </a:rPr>
              <a:t>Q3</a:t>
            </a:r>
            <a:endParaRPr lang="en-US" sz="1400" dirty="0"/>
          </a:p>
        </p:txBody>
      </p:sp>
      <p:sp>
        <p:nvSpPr>
          <p:cNvPr id="14" name="Text 11"/>
          <p:cNvSpPr txBox="1"/>
          <p:nvPr/>
        </p:nvSpPr>
        <p:spPr>
          <a:xfrm>
            <a:off x="1143000" y="3739896"/>
            <a:ext cx="4800600" cy="45720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Quel partenariat le STG17 pourrait-il aider votre pays à reproduire ?</a:t>
            </a:r>
            <a:endParaRPr lang="en-US" sz="1150" dirty="0"/>
          </a:p>
        </p:txBody>
      </p:sp>
      <p:sp>
        <p:nvSpPr>
          <p:cNvPr id="15" name="Text 12"/>
          <p:cNvSpPr txBox="1"/>
          <p:nvPr/>
        </p:nvSpPr>
        <p:spPr>
          <a:xfrm>
            <a:off x="548640" y="4389120"/>
            <a:ext cx="5943600" cy="274320"/>
          </a:xfrm>
          <a:prstGeom prst="rect">
            <a:avLst/>
          </a:prstGeom>
          <a:noFill/>
          <a:ln/>
        </p:spPr>
        <p:txBody>
          <a:bodyPr wrap="square" lIns="0" tIns="0" rIns="0" bIns="0" rtlCol="0" anchor="t"/>
          <a:lstStyle/>
          <a:p>
            <a:pPr indent="0" marL="0">
              <a:buNone/>
            </a:pPr>
            <a:r>
              <a:rPr lang="en-US" sz="1200" b="1" dirty="0">
                <a:solidFill>
                  <a:srgbClr val="F5C242"/>
                </a:solidFill>
                <a:latin typeface="Calibri" pitchFamily="34" charset="0"/>
                <a:ea typeface="Calibri" pitchFamily="34" charset="-122"/>
                <a:cs typeface="Calibri" pitchFamily="34" charset="-120"/>
              </a:rPr>
              <a:t>Ensuite : 10h45 · Pratique — données ouvertes Ookla Speedtest et WorldPop</a:t>
            </a:r>
            <a:endParaRPr lang="en-US" sz="1200" dirty="0"/>
          </a:p>
        </p:txBody>
      </p:sp>
      <p:sp>
        <p:nvSpPr>
          <p:cNvPr id="16" name="Shape 13"/>
          <p:cNvSpPr/>
          <p:nvPr/>
        </p:nvSpPr>
        <p:spPr>
          <a:xfrm>
            <a:off x="6400800" y="1280160"/>
            <a:ext cx="2194560" cy="2194560"/>
          </a:xfrm>
          <a:prstGeom prst="ellipse">
            <a:avLst/>
          </a:prstGeom>
          <a:solidFill>
            <a:srgbClr val="FFFFFF">
              <a:alpha val="12000"/>
            </a:srgbClr>
          </a:solidFill>
          <a:ln/>
        </p:spPr>
      </p:sp>
      <p:sp>
        <p:nvSpPr>
          <p:cNvPr id="17" name="Shape 14"/>
          <p:cNvSpPr/>
          <p:nvPr/>
        </p:nvSpPr>
        <p:spPr>
          <a:xfrm>
            <a:off x="6812280" y="1691640"/>
            <a:ext cx="1371600" cy="1371600"/>
          </a:xfrm>
          <a:prstGeom prst="ellipse">
            <a:avLst/>
          </a:prstGeom>
          <a:solidFill>
            <a:srgbClr val="FFFFFF"/>
          </a:solidFill>
          <a:ln/>
        </p:spPr>
      </p:sp>
      <p:pic>
        <p:nvPicPr>
          <p:cNvPr id="18" name="Image 0" descr="preencoded.png">    </p:cNvPr>
          <p:cNvPicPr>
            <a:picLocks noChangeAspect="1"/>
          </p:cNvPicPr>
          <p:nvPr/>
        </p:nvPicPr>
        <p:blipFill>
          <a:blip r:embed="rId2"/>
          <a:stretch>
            <a:fillRect/>
          </a:stretch>
        </p:blipFill>
        <p:spPr>
          <a:xfrm>
            <a:off x="7178040" y="2057400"/>
            <a:ext cx="640080" cy="640080"/>
          </a:xfrm>
          <a:prstGeom prst="rect">
            <a:avLst/>
          </a:prstGeom>
        </p:spPr>
      </p:pic>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Sources de données non traditionnelles : le trésor caché</dc:title>
  <dc:subject>PptxGenJS Presentation</dc:subject>
  <dc:creator>Atelier technique STG17 — BAD · UA STATAFRIC · NISR</dc:creator>
  <cp:lastModifiedBy>Atelier technique STG17 — BAD · UA STATAFRIC · NISR</cp:lastModifiedBy>
  <cp:revision>1</cp:revision>
  <dcterms:created xsi:type="dcterms:W3CDTF">2026-09-16T13:46:11Z</dcterms:created>
  <dcterms:modified xsi:type="dcterms:W3CDTF">2026-09-16T13:46:11Z</dcterms:modified>
</cp:coreProperties>
</file>