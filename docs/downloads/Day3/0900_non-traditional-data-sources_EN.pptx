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Share of population using the internet, Africa, 2024 (%)</a:t>
            </a:r>
          </a:p>
        </c:rich>
      </c:tx>
      <c:layout/>
      <c:overlay val="0"/>
    </c:title>
    <c:autoTitleDeleted val="0"/>
    <c:plotArea>
      <c:layout/>
      <c:barChart>
        <c:barDir val="col"/>
        <c:grouping val="clustered"/>
        <c:varyColors val="0"/>
        <c:ser>
          <c:idx val="0"/>
          <c:order val="0"/>
          <c:tx>
            <c:strRef>
              <c:f>Sheet1!$B$1</c:f>
              <c:strCache>
                <c:ptCount val="1"/>
                <c:pt idx="0">
                  <c:v>Internet use, Africa, 2024 (%)</c:v>
                </c:pt>
              </c:strCache>
            </c:strRef>
          </c:tx>
          <c:spPr>
            <a:solidFill>
              <a:srgbClr val="10A06A"/>
            </a:solidFill>
            <a:effectLst/>
          </c:spPr>
          <c:invertIfNegative val="0"/>
          <c:dLbls>
            <c:numFmt formatCode="0&quot;%&quot;" sourceLinked="0"/>
            <c:txPr>
              <a:bodyPr/>
              <a:lstStyle/>
              <a:p>
                <a:pPr>
                  <a:defRPr b="1" i="0" strike="noStrike" sz="1200" u="none">
                    <a:solidFill>
                      <a:srgbClr val="231F20"/>
                    </a:solidFill>
                    <a:latin typeface="Arial"/>
                  </a:defRPr>
                </a:pPr>
              </a:p>
            </c:txPr>
            <c:showLegendKey val="0"/>
            <c:showVal val="1"/>
            <c:showCatName val="0"/>
            <c:showSerName val="0"/>
            <c:showPercent val="0"/>
            <c:showBubbleSize val="0"/>
            <c:showLeaderLines val="0"/>
          </c:dLbls>
          <c:cat>
            <c:multiLvlStrRef>
              <c:f>Sheet1!$A$2:$A$6</c:f>
              <c:multiLvlStrCache>
                <c:ptCount val="5"/>
                <c:lvl>
                  <c:pt idx="0">
                    <c:v>Total</c:v>
                  </c:pt>
                  <c:pt idx="1">
                    <c:v>Urban</c:v>
                  </c:pt>
                  <c:pt idx="2">
                    <c:v>Rural</c:v>
                  </c:pt>
                  <c:pt idx="3">
                    <c:v>Men</c:v>
                  </c:pt>
                  <c:pt idx="4">
                    <c:v>Women</c:v>
                  </c:pt>
                </c:lvl>
              </c:multiLvlStrCache>
            </c:multiLvlStrRef>
          </c:cat>
          <c:val>
            <c:numRef>
              <c:f>Sheet1!$B$2:$B$6</c:f>
              <c:numCache>
                <c:formatCode>General</c:formatCode>
                <c:ptCount val="5"/>
                <c:pt idx="0">
                  <c:v>38</c:v>
                </c:pt>
                <c:pt idx="1">
                  <c:v>57</c:v>
                </c:pt>
                <c:pt idx="2">
                  <c:v>23</c:v>
                </c:pt>
                <c:pt idx="3">
                  <c:v>43</c:v>
                </c:pt>
                <c:pt idx="4">
                  <c:v>31</c:v>
                </c:pt>
              </c:numCache>
            </c:numRef>
          </c:val>
        </c:ser>
        <c:dLbls>
          <c:numFmt formatCode="0&quot;%&quot;" sourceLinked="0"/>
          <c:txPr>
            <a:bodyPr/>
            <a:lstStyle/>
            <a:p>
              <a:pPr>
                <a:defRPr b="1" i="0" strike="noStrike" sz="1200" u="none">
                  <a:solidFill>
                    <a:srgbClr val="231F2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5DED9"/>
            </a:solidFill>
            <a:prstDash val="solid"/>
            <a:round/>
          </a:ln>
        </c:spPr>
        <c:txPr>
          <a:bodyPr/>
          <a:lstStyle/>
          <a:p>
            <a:pPr>
              <a:defRPr sz="110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max val="7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This session opens Day 3 of the STG17 Technical Workshop, "Beyond the Survey". It is a 90-minute Talk &amp; Laboratory: about 50 minutes of concepts, 30 minutes of team work on a real source-assessment exercise, and 10 minutes to report back and connect to the Ookla / WorldPop laboratory that follows the coffee break. Position the session: we are not here to replace censuses and surveys, but to learn how to use new raw material responsibly inside the official statistical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week. Days 1–2 built AI and LLM skills. Day 3 opens the data side: this session gives the shared vocabulary and the quality, access and ethics lenses. Right after the break, teams apply them to Ookla Speedtest and WorldPop. The afternoon scales the same data with Elasticsearch. Day 4 is entirely Night-Time Lights. Day 5 publishes. Everything said this morning will be used, concretely, before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five objectives. Stress that each maps to a part of the session and to a deliverable later in the week: the classification feeds the Ookla lab; the quality lens feeds the NTL validation on Day 4; access and ethics feed the STG17 data-governance checklist (Action Plan activity 4.3) and the private-sector partnership work (activity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roadmap and timing. Sections 1 to 5 are the talk (about 50 minutes). Section 6 is the laboratory: 30 minutes in teams, 10 minutes report-back. The colour of each section is kept on every slide — look at the dots in the top-right corner to know where we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before looking at the sources themselves, we need to be clear on why they matter now, for our offices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2030 Agenda alone asks for 231 unique indicators, most of them disaggregated. Traditional instruments are excellent but slow and costly, and they are designed for national estimates. Ask the room: which of these four pressures is most acute in your office? Keep the answers for the synthesis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"are we allowed to do this?". Principle 5 of the UN Fundamental Principles explicitly lets offices draw on all types of sources, choosing on quality, timeliness, cost and respondent burden. SHaSA II created the STG system; STG17 covers emerging issues and adopted its 2025–2030 Action Plan in Kigali in September 2025. Rwanda hosts the UN Regional Hub for Big Data in Africa, following an MoU signed in March 2020. Note the condition that runs through all of them: quality and confidentiality.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conceptual contrast of the session. A survey is designed: we choose the population, the concepts and the questions. A non-traditional source is found: someone else designed it for another purpose, and we inherit its choices. Read two or three rows, then insist on the last one: the main weaknesses are mirror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we now open the treasure map. First a definition, then two complementary ways of classifying, then each family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working definition. Then introduce the UNECE classification, which asks a single question: who or what generated the record? It is useful because each generating process carries typical risks: human-sourced data carries self-selection and opinion effects; process-mediated data inherits business rules; machine-generated data inherits sensor behaviour and failures. The test at the bottom is a good way to settle debates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families match the session description in the workshop agenda. For each one we will see: what it is, what it can measure for official statistics, a documented example, and the main trap. Note the tags: two families are used hands-on this week (crowdsourced measurement with Ookla, and satellite imagery with Night-Time Lights).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 data is the most "democratic" source: global coverage, free at medium resolution, no negotiation. Its central limitation is conceptual — it observes physical proxies. Tomorrow we will spend the whole day on Night-Time Lights and meet the known artefacts: blooming, saturation, gas flares, seasonality, and the DMSP-to-VIIRS discontinuity.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family is the bridge to the laboratory after the break. Emphasise the self-selection: the "respondent" decides to run a test, often when the connection feels slow. The licence matters too — non-commercial, share-alike — and must be reflected in how an NSO publishes derived indicators.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mature family in official statistics — scanner data has been in European CPIs for two decades — and the most sensitive. In African contexts the informal economy is a decisive limitation for transaction data. Mention Blumenstock et al. (2015): phone metadata predicted wealth in Rwanda.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scraping is cheap to start and expensive to maintain. Every site redesign breaks a scraper. Encourage a "polite scraping" policy: identify the NSO in the user agent, respect robots.txt, rate-limit requests, and inform major site owners — it builds trust and often leads to a data feed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 data is precise but unstable. The statistical challenge is change management: when a meter is replaced or a station relocated, the series jumps. Utilities are often natural first partners because they are public or regulated.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Citizen data is the only family deliberately produced by the observed people themselves. The Copenhagen Framework gives NSOs a role as quality assessor and convener rather than gatekeeper. It is especially relevant for leave-no-one-behind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matrix to consolidate. More dots mean more of the property; for privacy risk, more red dots mean more risk. Point out the trade-off: the sources that are easiest to access (satellite, crowdsourced open data) are also the least privacy-sensitive, while the richest process data (transactions, CDR) is the hardest to obtain. Invite participants to disagree based on their own context — the ratings are a teaching device, not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treasure is real, but it comes with traps. This section is the methodological heart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frameworks (relevance, accuracy, timeliness, coherence, accessibility) still apply. But with found data, quality also depends on the source — the provider, the legal and institutional environment — and on metadata that someone else controls. The UNECE 2014 framework captures this with three hyperdimensions and asks that quality be assessed at input (can we accept this source?), throughput (is processing sound and stable?) and output (is the product fit for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Meng's identity intuitively. The estimation error of a non-probability source is the product of three things: data quality (the correlation between being in the data and the value being measured), data quantity (which depends on the share of the population covered, not the raw count), and problem difficulty (the variability of what we measure). In a random sample the first term averages to zero. In found data it does not — and a tiny correlation multiplied by a huge population produces a large error. The US 2016 example: 2.3 million self-reported responses were worth about 400 random interviews.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ITU figures. In 2024 only 38% of Africa's population used the internet, 57% in urban areas but 23% in rural areas, 43% of men and 31% of women. Facts and Figures 2025 puts Africa at 36% against 74% worldwide. GSMA estimates that 63% of Africans live under mobile broadband coverage but are not online. So an Ookla test, a social-media post or an online price describes a connected, urban, more often male minority — exactly the opposite of the groups policy most needs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moves. Diagnose: compare the source with a benchmark — census, survey, register — and profile who is over- and under-represented. Correct: calibrate to known totals, weight by population, use the source as an auxiliary variable in small-area estimation. Reframe: if the bias cannot be corrected, publish change and turning points, or use the source as a diagnostic, not as a level estimate. The Ookla column shows what each step looks like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two examples slowly. The discipline we want is simple: every indicator note should state the target concept, the proxy actually measured, and the known gap between them. On Day 4, the NTL validation deliverable explicitly asks for this limitations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experience across the continent shows that access, not analysis, is where most initiatives stall. This section gives a vocabulary for choosing an access route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Open data is immediate but you take what is published, under its licence — Ookla's non-commercial share-alike licence is a good example. Purchase is fast but creates recurring cost and lock-in. Bilateral agreements are the most common route and are where the NSO's negotiating skills matter. Data collaboratives pool several providers, often with a trusted intermediary. A legal mandate — access written into the statistics act — is the most durable but slowest and politically demanding. Ask participants which model their office uses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legal route, choose the technical mode. Transferring raw microdata maximises flexibility but also risk, and providers rarely accept it. Receiving pre-aggregated indicators is simple but freezes the method. The "code-to-data" mode — the NSO's algorithms run inside the provider's environment and only safe aggregates leave — is now the reference model for telecom data; it is what Ghana used with FlowKit. Privacy-enhancing technologies (secure enclaves, differential privacy, federated analysis) push this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African, documented and durable example. It started from contacts at the first UN World Data Forum in Cape Town in 2017. The agreement of December 2018 installed FlowKit behind Vodafone's firewall, with GSS staff given a secure interface. Because the legal and technical pipeline already existed, GSS could publish COVID-19 mobility insights within weeks in 2020. A steering committee chaired by the Government Statistician approves any further sharing of aggregates. The partnership was renewed in January 2023. The lesson: build the partnership before the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 feeds Action Plan activity 4.3, the reference guide on data governance, and activity 3.1 on private-sector partnerships. Emphasise clauses 7 and 9: publication rights and exit. Many partnerships fail when the NSO discovers it cannot publish the method, or when the provider changes strategy and the series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trust is the real infrastructure of official statistics. One privacy incident can end a programme — and damage trust in the census and surveys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from the top. The UN Fundamental Principles, especially Principle 6 on confidentiality, apply to data from any source. At continental level, the African Charter on Statistics sets professional standards, and the Malabo Convention entered into force on 8 June 2023 after its 15th ratification. Nationally, both the statistics act and the data-protection law apply, and they do not always agree on access for statistical purposes. Finally, contracts and licences add their own conditions — Ookla's open data is non-commercial and share-alike, which affects how derived indicators may be redistributed.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 Montjoye study used 15 months of mobility data for 1.5 million people: with hourly timestamps and antenna-level location, four points were enough to single out 95% of individuals. Removing names is therefore not anonymisation. Beyond individuals, stress group privacy: an aggregate map can still expose a vulnerable community, for instance displaced people or a minority group. And function creep: data shared for statistics must never become an input to surveillance or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Safes is widely used by statistical offices and research data centres. The idea is that disclosure risk is controlled jointly: a less-safe dataset can be acceptable in a very safe setting with trained people and output checking. Map it back to the Ghana case: safe project (statistical purpose, steering committee), safe people (trained GSS staff), safe setting (behind the operator's firewall), safe data (pseudonymised), safe outputs (aggregates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ethics part of the checklist the workshop is producing for the STG17 reference guide on data governance. Propose that each country team answers these questions in writing in its GitHub README. The last question — who becomes invisible — links back to coverage bias: ethics and quality are the same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practical part. Form teams at country or sub-regional level, as for the rest of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rules. Each team picks one scenario, preferably one relevant to its own country. Using the canvas on the next slide, the team must decide whether the proposed source is fit for publication, fit for internal diagnosis only, or not fit — and justify the verdict. Scenario A leads directly into the Ookla laboratory; scenario B prepares Day 4. Timekeeping: 5 minutes to choose and frame, 20 minutes to fill the canvas, 5 minutes to agree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tool. Teams can copy it onto a flipchart or a shared document. The order matters: always start from the policy question, never from the dataset. Box 8 is the verdict and must follow logically from the others. A worked example follows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worked example only after teams have started, or use it to unblock a team that is stuck. Note the verdict: the level of speed is biased towards testers, so it is published as a population-weighted, experimental indicator with a limitations statement, and mainly used for ranking and change over time. The licence also constrains redistribution.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integration patterns, from the most common to the most demanding. Most African experience today sits in A and C. D — direct substitution — requires demonstrated quality and a secure supply, as with scanner data in CPIs elsewhere. The rule of thumb at the bottom summarises the whole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failures come from attempting stage four with stage-one foundations. Ask each team where its office stands today. Then connect to the week: this session and the labs produce outputs that feed specific STG17 Action Plan activities — methodological guidelines on new data sources (2.1.1), private-sector partnerships (3.1) and the data-governance reference guide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five sentences. Invite each team to add its own takeaway to the wall board kept open all week — it will be consolidated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participants; not presented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for all figures and cases cited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talk and open discussion with the three questions. Then move into team work, or — if time is short — take these questions into the report-back. Remind participants that the Ookla and WorldPop laboratory starts at 10:45.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slideLayout" Target="../slideLayouts/slideLayout1.xml"/><Relationship Id="rId1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34-9.png"/><Relationship Id="rId10" Type="http://schemas.openxmlformats.org/officeDocument/2006/relationships/image" Target="../media/image-34-10.png"/><Relationship Id="rId11" Type="http://schemas.openxmlformats.org/officeDocument/2006/relationships/image" Target="../media/image-34-11.png"/><Relationship Id="rId12" Type="http://schemas.openxmlformats.org/officeDocument/2006/relationships/image" Target="../media/image-34-12.png"/><Relationship Id="rId13" Type="http://schemas.openxmlformats.org/officeDocument/2006/relationships/slideLayout" Target="../slideLayouts/slideLayout1.xml"/><Relationship Id="rId1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slideLayout" Target="../slideLayouts/slideLayout1.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68580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STG17 TECHNICAL WORKSHOP · EMERGING ISSUES, EMERGING PRACTICE</a:t>
            </a:r>
            <a:endParaRPr lang="en-US" sz="1100" dirty="0"/>
          </a:p>
        </p:txBody>
      </p:sp>
      <p:sp>
        <p:nvSpPr>
          <p:cNvPr id="4" name="Text 1"/>
          <p:cNvSpPr txBox="1"/>
          <p:nvPr/>
        </p:nvSpPr>
        <p:spPr>
          <a:xfrm>
            <a:off x="548640" y="914400"/>
            <a:ext cx="5669280" cy="155448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Non-Traditional</a:t>
            </a:r>
            <a:endParaRPr lang="en-US" sz="4600" dirty="0"/>
          </a:p>
          <a:p>
            <a:pPr indent="0" marL="0">
              <a:buNone/>
            </a:pPr>
            <a:r>
              <a:rPr lang="en-US" sz="4600" b="1" dirty="0">
                <a:solidFill>
                  <a:srgbClr val="FFFFFF"/>
                </a:solidFill>
                <a:latin typeface="Calibri" pitchFamily="34" charset="0"/>
                <a:ea typeface="Calibri" pitchFamily="34" charset="-122"/>
                <a:cs typeface="Calibri" pitchFamily="34" charset="-120"/>
              </a:rPr>
              <a:t>Data Sources</a:t>
            </a:r>
            <a:endParaRPr lang="en-US" sz="4600" dirty="0"/>
          </a:p>
        </p:txBody>
      </p:sp>
      <p:sp>
        <p:nvSpPr>
          <p:cNvPr id="5" name="Text 2"/>
          <p:cNvSpPr txBox="1"/>
          <p:nvPr/>
        </p:nvSpPr>
        <p:spPr>
          <a:xfrm>
            <a:off x="548640" y="2560320"/>
            <a:ext cx="5303520" cy="68580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The Hidden Treasure — taxonomy, quality, access and ethics for official statistics</a:t>
            </a:r>
            <a:endParaRPr lang="en-US" sz="1800" dirty="0"/>
          </a:p>
        </p:txBody>
      </p:sp>
      <p:sp>
        <p:nvSpPr>
          <p:cNvPr id="6" name="Shape 3"/>
          <p:cNvSpPr/>
          <p:nvPr/>
        </p:nvSpPr>
        <p:spPr>
          <a:xfrm>
            <a:off x="566928" y="3474720"/>
            <a:ext cx="822960" cy="0"/>
          </a:xfrm>
          <a:prstGeom prst="line">
            <a:avLst/>
          </a:prstGeom>
          <a:noFill/>
          <a:ln w="25400">
            <a:solidFill>
              <a:srgbClr val="F5C242"/>
            </a:solidFill>
            <a:prstDash val="solid"/>
          </a:ln>
        </p:spPr>
      </p:sp>
      <p:sp>
        <p:nvSpPr>
          <p:cNvPr id="7" name="Text 4"/>
          <p:cNvSpPr txBox="1"/>
          <p:nvPr/>
        </p:nvSpPr>
        <p:spPr>
          <a:xfrm>
            <a:off x="548640" y="3611880"/>
            <a:ext cx="5943600" cy="2286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Day 3 · Beyond the Survey  |  Session 1 · 09:00–10:30  |  Talk &amp; Laboratory</a:t>
            </a:r>
            <a:endParaRPr lang="en-US" sz="1200" dirty="0"/>
          </a:p>
        </p:txBody>
      </p:sp>
      <p:sp>
        <p:nvSpPr>
          <p:cNvPr id="8" name="Text 5"/>
          <p:cNvSpPr txBox="1"/>
          <p:nvPr/>
        </p:nvSpPr>
        <p:spPr>
          <a:xfrm>
            <a:off x="548640" y="3886200"/>
            <a:ext cx="6217920" cy="228600"/>
          </a:xfrm>
          <a:prstGeom prst="rect">
            <a:avLst/>
          </a:prstGeom>
          <a:noFill/>
          <a:ln/>
        </p:spPr>
        <p:txBody>
          <a:bodyPr wrap="square" lIns="0" tIns="0" rIns="0" bIns="0" rtlCol="0" anchor="t"/>
          <a:lstStyle/>
          <a:p>
            <a:pPr indent="0" marL="0">
              <a:buNone/>
            </a:pPr>
            <a:r>
              <a:rPr lang="en-US" sz="1100" dirty="0">
                <a:solidFill>
                  <a:srgbClr val="E6F6EE"/>
                </a:solidFill>
                <a:latin typeface="Calibri" pitchFamily="34" charset="0"/>
                <a:ea typeface="Calibri" pitchFamily="34" charset="-122"/>
                <a:cs typeface="Calibri" pitchFamily="34" charset="-120"/>
              </a:rPr>
              <a:t>African Development Bank · African Union (STATAFRIC) · National Institute of Statistics of Rwanda</a:t>
            </a:r>
            <a:endParaRPr lang="en-US" sz="1100" dirty="0"/>
          </a:p>
        </p:txBody>
      </p:sp>
      <p:sp>
        <p:nvSpPr>
          <p:cNvPr id="9" name="Shape 6"/>
          <p:cNvSpPr/>
          <p:nvPr/>
        </p:nvSpPr>
        <p:spPr>
          <a:xfrm>
            <a:off x="6309360" y="1188720"/>
            <a:ext cx="2377440" cy="2377440"/>
          </a:xfrm>
          <a:prstGeom prst="ellipse">
            <a:avLst/>
          </a:prstGeom>
          <a:solidFill>
            <a:srgbClr val="FFFFFF">
              <a:alpha val="12000"/>
            </a:srgbClr>
          </a:solidFill>
          <a:ln/>
        </p:spPr>
      </p:sp>
      <p:sp>
        <p:nvSpPr>
          <p:cNvPr id="10" name="Shape 7"/>
          <p:cNvSpPr/>
          <p:nvPr/>
        </p:nvSpPr>
        <p:spPr>
          <a:xfrm>
            <a:off x="6720840" y="1600200"/>
            <a:ext cx="1554480" cy="1554480"/>
          </a:xfrm>
          <a:prstGeom prst="ellipse">
            <a:avLst/>
          </a:prstGeom>
          <a:solidFill>
            <a:srgbClr val="FFFFFF"/>
          </a:solidFill>
          <a:ln/>
        </p:spPr>
      </p:sp>
      <p:pic>
        <p:nvPicPr>
          <p:cNvPr id="11" name="Image 0" descr="preencoded.png">    </p:cNvPr>
          <p:cNvPicPr>
            <a:picLocks noChangeAspect="1"/>
          </p:cNvPicPr>
          <p:nvPr/>
        </p:nvPicPr>
        <p:blipFill>
          <a:blip r:embed="rId2"/>
          <a:stretch>
            <a:fillRect/>
          </a:stretch>
        </p:blipFill>
        <p:spPr>
          <a:xfrm>
            <a:off x="7086600" y="1965960"/>
            <a:ext cx="822960" cy="82296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CONTEXT · STG17 WORKSHOP</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Where this session sits in the week</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This talk supplies the concepts; the laboratories of Days 3–5 turn them into published, country-level products.</a:t>
            </a:r>
            <a:endParaRPr lang="en-US" sz="1150" dirty="0"/>
          </a:p>
        </p:txBody>
      </p:sp>
      <p:sp>
        <p:nvSpPr>
          <p:cNvPr id="9" name="Text 7"/>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0" name="Text 8"/>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2" name="Shape 9"/>
          <p:cNvSpPr/>
          <p:nvPr/>
        </p:nvSpPr>
        <p:spPr>
          <a:xfrm>
            <a:off x="731520" y="1764792"/>
            <a:ext cx="7680960" cy="0"/>
          </a:xfrm>
          <a:prstGeom prst="line">
            <a:avLst/>
          </a:prstGeom>
          <a:noFill/>
          <a:ln w="19050">
            <a:solidFill>
              <a:srgbClr val="D5DED9"/>
            </a:solidFill>
            <a:prstDash val="solid"/>
          </a:ln>
        </p:spPr>
      </p:sp>
      <p:sp>
        <p:nvSpPr>
          <p:cNvPr id="13" name="Shape 10"/>
          <p:cNvSpPr/>
          <p:nvPr/>
        </p:nvSpPr>
        <p:spPr>
          <a:xfrm>
            <a:off x="941832" y="1490472"/>
            <a:ext cx="548640" cy="548640"/>
          </a:xfrm>
          <a:prstGeom prst="ellipse">
            <a:avLst/>
          </a:prstGeom>
          <a:solidFill>
            <a:srgbClr val="5E6964">
              <a:alpha val="22000"/>
            </a:srgbClr>
          </a:solidFill>
          <a:ln/>
        </p:spPr>
      </p:sp>
      <p:pic>
        <p:nvPicPr>
          <p:cNvPr id="14" name="Image 0" descr="preencoded.png">    </p:cNvPr>
          <p:cNvPicPr>
            <a:picLocks noChangeAspect="1"/>
          </p:cNvPicPr>
          <p:nvPr/>
        </p:nvPicPr>
        <p:blipFill>
          <a:blip r:embed="rId1"/>
          <a:stretch>
            <a:fillRect/>
          </a:stretch>
        </p:blipFill>
        <p:spPr>
          <a:xfrm>
            <a:off x="1078992" y="1627632"/>
            <a:ext cx="274320" cy="274320"/>
          </a:xfrm>
          <a:prstGeom prst="rect">
            <a:avLst/>
          </a:prstGeom>
        </p:spPr>
      </p:pic>
      <p:sp>
        <p:nvSpPr>
          <p:cNvPr id="15" name="Shape 11"/>
          <p:cNvSpPr/>
          <p:nvPr/>
        </p:nvSpPr>
        <p:spPr>
          <a:xfrm>
            <a:off x="457200" y="2194560"/>
            <a:ext cx="1517904" cy="960120"/>
          </a:xfrm>
          <a:prstGeom prst="roundRect">
            <a:avLst>
              <a:gd name="adj" fmla="val 7619"/>
            </a:avLst>
          </a:prstGeom>
          <a:solidFill>
            <a:srgbClr val="F4F7F5"/>
          </a:solidFill>
          <a:ln w="9525">
            <a:solidFill>
              <a:srgbClr val="D5DED9"/>
            </a:solidFill>
            <a:prstDash val="solid"/>
          </a:ln>
        </p:spPr>
      </p:sp>
      <p:sp>
        <p:nvSpPr>
          <p:cNvPr id="16" name="Text 12"/>
          <p:cNvSpPr txBox="1"/>
          <p:nvPr/>
        </p:nvSpPr>
        <p:spPr>
          <a:xfrm>
            <a:off x="548640" y="2267712"/>
            <a:ext cx="1335024" cy="201168"/>
          </a:xfrm>
          <a:prstGeom prst="rect">
            <a:avLst/>
          </a:prstGeom>
          <a:noFill/>
          <a:ln/>
        </p:spPr>
        <p:txBody>
          <a:bodyPr wrap="square" lIns="0" tIns="0" rIns="0" bIns="0" rtlCol="0" anchor="t"/>
          <a:lstStyle/>
          <a:p>
            <a:pPr algn="ctr" indent="0" marL="0">
              <a:buNone/>
            </a:pPr>
            <a:r>
              <a:rPr lang="en-US" sz="1050" b="1" spc="200" kern="0" dirty="0">
                <a:solidFill>
                  <a:srgbClr val="5E6964"/>
                </a:solidFill>
                <a:latin typeface="Calibri" pitchFamily="34" charset="0"/>
                <a:ea typeface="Calibri" pitchFamily="34" charset="-122"/>
                <a:cs typeface="Calibri" pitchFamily="34" charset="-120"/>
              </a:rPr>
              <a:t>DAY 1</a:t>
            </a:r>
            <a:endParaRPr lang="en-US" sz="1050" dirty="0"/>
          </a:p>
        </p:txBody>
      </p:sp>
      <p:sp>
        <p:nvSpPr>
          <p:cNvPr id="17" name="Text 13"/>
          <p:cNvSpPr txBox="1"/>
          <p:nvPr/>
        </p:nvSpPr>
        <p:spPr>
          <a:xfrm>
            <a:off x="548640" y="2487168"/>
            <a:ext cx="1335024" cy="59436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AI concepts &amp; infrastructure</a:t>
            </a:r>
            <a:endParaRPr lang="en-US" sz="1150" dirty="0"/>
          </a:p>
        </p:txBody>
      </p:sp>
      <p:sp>
        <p:nvSpPr>
          <p:cNvPr id="18" name="Shape 14"/>
          <p:cNvSpPr/>
          <p:nvPr/>
        </p:nvSpPr>
        <p:spPr>
          <a:xfrm>
            <a:off x="2642616" y="1490472"/>
            <a:ext cx="548640" cy="548640"/>
          </a:xfrm>
          <a:prstGeom prst="ellipse">
            <a:avLst/>
          </a:prstGeom>
          <a:solidFill>
            <a:srgbClr val="5E6964">
              <a:alpha val="22000"/>
            </a:srgbClr>
          </a:solidFill>
          <a:ln/>
        </p:spPr>
      </p:sp>
      <p:pic>
        <p:nvPicPr>
          <p:cNvPr id="19" name="Image 1" descr="preencoded.png">    </p:cNvPr>
          <p:cNvPicPr>
            <a:picLocks noChangeAspect="1"/>
          </p:cNvPicPr>
          <p:nvPr/>
        </p:nvPicPr>
        <p:blipFill>
          <a:blip r:embed="rId2"/>
          <a:stretch>
            <a:fillRect/>
          </a:stretch>
        </p:blipFill>
        <p:spPr>
          <a:xfrm>
            <a:off x="2779776" y="1627632"/>
            <a:ext cx="274320" cy="274320"/>
          </a:xfrm>
          <a:prstGeom prst="rect">
            <a:avLst/>
          </a:prstGeom>
        </p:spPr>
      </p:pic>
      <p:sp>
        <p:nvSpPr>
          <p:cNvPr id="20" name="Shape 15"/>
          <p:cNvSpPr/>
          <p:nvPr/>
        </p:nvSpPr>
        <p:spPr>
          <a:xfrm>
            <a:off x="2157984" y="2194560"/>
            <a:ext cx="1517904" cy="960120"/>
          </a:xfrm>
          <a:prstGeom prst="roundRect">
            <a:avLst>
              <a:gd name="adj" fmla="val 7619"/>
            </a:avLst>
          </a:prstGeom>
          <a:solidFill>
            <a:srgbClr val="F4F7F5"/>
          </a:solidFill>
          <a:ln w="9525">
            <a:solidFill>
              <a:srgbClr val="D5DED9"/>
            </a:solidFill>
            <a:prstDash val="solid"/>
          </a:ln>
        </p:spPr>
      </p:sp>
      <p:sp>
        <p:nvSpPr>
          <p:cNvPr id="21" name="Text 16"/>
          <p:cNvSpPr txBox="1"/>
          <p:nvPr/>
        </p:nvSpPr>
        <p:spPr>
          <a:xfrm>
            <a:off x="2249424" y="2267712"/>
            <a:ext cx="1335024" cy="201168"/>
          </a:xfrm>
          <a:prstGeom prst="rect">
            <a:avLst/>
          </a:prstGeom>
          <a:noFill/>
          <a:ln/>
        </p:spPr>
        <p:txBody>
          <a:bodyPr wrap="square" lIns="0" tIns="0" rIns="0" bIns="0" rtlCol="0" anchor="t"/>
          <a:lstStyle/>
          <a:p>
            <a:pPr algn="ctr" indent="0" marL="0">
              <a:buNone/>
            </a:pPr>
            <a:r>
              <a:rPr lang="en-US" sz="1050" b="1" spc="200" kern="0" dirty="0">
                <a:solidFill>
                  <a:srgbClr val="5E6964"/>
                </a:solidFill>
                <a:latin typeface="Calibri" pitchFamily="34" charset="0"/>
                <a:ea typeface="Calibri" pitchFamily="34" charset="-122"/>
                <a:cs typeface="Calibri" pitchFamily="34" charset="-120"/>
              </a:rPr>
              <a:t>DAY 2</a:t>
            </a:r>
            <a:endParaRPr lang="en-US" sz="1050" dirty="0"/>
          </a:p>
        </p:txBody>
      </p:sp>
      <p:sp>
        <p:nvSpPr>
          <p:cNvPr id="22" name="Text 17"/>
          <p:cNvSpPr txBox="1"/>
          <p:nvPr/>
        </p:nvSpPr>
        <p:spPr>
          <a:xfrm>
            <a:off x="2249424" y="2487168"/>
            <a:ext cx="1335024" cy="59436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Prompt engineering &amp; LLMs</a:t>
            </a:r>
            <a:endParaRPr lang="en-US" sz="1150" dirty="0"/>
          </a:p>
        </p:txBody>
      </p:sp>
      <p:sp>
        <p:nvSpPr>
          <p:cNvPr id="23" name="Shape 18"/>
          <p:cNvSpPr/>
          <p:nvPr/>
        </p:nvSpPr>
        <p:spPr>
          <a:xfrm>
            <a:off x="4343400" y="1490472"/>
            <a:ext cx="548640" cy="548640"/>
          </a:xfrm>
          <a:prstGeom prst="ellipse">
            <a:avLst/>
          </a:prstGeom>
          <a:solidFill>
            <a:srgbClr val="00A86A">
              <a:alpha val="22000"/>
            </a:srgbClr>
          </a:solidFill>
          <a:ln/>
        </p:spPr>
      </p:sp>
      <p:pic>
        <p:nvPicPr>
          <p:cNvPr id="24" name="Image 2" descr="preencoded.png">    </p:cNvPr>
          <p:cNvPicPr>
            <a:picLocks noChangeAspect="1"/>
          </p:cNvPicPr>
          <p:nvPr/>
        </p:nvPicPr>
        <p:blipFill>
          <a:blip r:embed="rId3"/>
          <a:stretch>
            <a:fillRect/>
          </a:stretch>
        </p:blipFill>
        <p:spPr>
          <a:xfrm>
            <a:off x="4480560" y="1627632"/>
            <a:ext cx="274320" cy="274320"/>
          </a:xfrm>
          <a:prstGeom prst="rect">
            <a:avLst/>
          </a:prstGeom>
        </p:spPr>
      </p:pic>
      <p:sp>
        <p:nvSpPr>
          <p:cNvPr id="25" name="Shape 19"/>
          <p:cNvSpPr/>
          <p:nvPr/>
        </p:nvSpPr>
        <p:spPr>
          <a:xfrm>
            <a:off x="3858768" y="2194560"/>
            <a:ext cx="1517904" cy="960120"/>
          </a:xfrm>
          <a:prstGeom prst="roundRect">
            <a:avLst>
              <a:gd name="adj" fmla="val 7619"/>
            </a:avLst>
          </a:prstGeom>
          <a:solidFill>
            <a:srgbClr val="E8F5EF"/>
          </a:solidFill>
          <a:ln w="15875">
            <a:solidFill>
              <a:srgbClr val="00A86A"/>
            </a:solidFill>
            <a:prstDash val="solid"/>
          </a:ln>
        </p:spPr>
      </p:sp>
      <p:sp>
        <p:nvSpPr>
          <p:cNvPr id="26" name="Text 20"/>
          <p:cNvSpPr txBox="1"/>
          <p:nvPr/>
        </p:nvSpPr>
        <p:spPr>
          <a:xfrm>
            <a:off x="3950208" y="2267712"/>
            <a:ext cx="1335024" cy="201168"/>
          </a:xfrm>
          <a:prstGeom prst="rect">
            <a:avLst/>
          </a:prstGeom>
          <a:noFill/>
          <a:ln/>
        </p:spPr>
        <p:txBody>
          <a:bodyPr wrap="square" lIns="0" tIns="0" rIns="0" bIns="0" rtlCol="0" anchor="t"/>
          <a:lstStyle/>
          <a:p>
            <a:pPr algn="ctr" indent="0" marL="0">
              <a:buNone/>
            </a:pPr>
            <a:r>
              <a:rPr lang="en-US" sz="1050" b="1" spc="200" kern="0" dirty="0">
                <a:solidFill>
                  <a:srgbClr val="00704A"/>
                </a:solidFill>
                <a:latin typeface="Calibri" pitchFamily="34" charset="0"/>
                <a:ea typeface="Calibri" pitchFamily="34" charset="-122"/>
                <a:cs typeface="Calibri" pitchFamily="34" charset="-120"/>
              </a:rPr>
              <a:t>DAY 3</a:t>
            </a:r>
            <a:endParaRPr lang="en-US" sz="1050" dirty="0"/>
          </a:p>
        </p:txBody>
      </p:sp>
      <p:sp>
        <p:nvSpPr>
          <p:cNvPr id="27" name="Text 21"/>
          <p:cNvSpPr txBox="1"/>
          <p:nvPr/>
        </p:nvSpPr>
        <p:spPr>
          <a:xfrm>
            <a:off x="3950208" y="2487168"/>
            <a:ext cx="1335024" cy="59436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Non-traditional data &amp; big-data engines</a:t>
            </a:r>
            <a:endParaRPr lang="en-US" sz="1150" dirty="0"/>
          </a:p>
        </p:txBody>
      </p:sp>
      <p:sp>
        <p:nvSpPr>
          <p:cNvPr id="28" name="Shape 22"/>
          <p:cNvSpPr/>
          <p:nvPr/>
        </p:nvSpPr>
        <p:spPr>
          <a:xfrm>
            <a:off x="6044184" y="1490472"/>
            <a:ext cx="548640" cy="548640"/>
          </a:xfrm>
          <a:prstGeom prst="ellipse">
            <a:avLst/>
          </a:prstGeom>
          <a:solidFill>
            <a:srgbClr val="00704A">
              <a:alpha val="22000"/>
            </a:srgbClr>
          </a:solidFill>
          <a:ln/>
        </p:spPr>
      </p:sp>
      <p:pic>
        <p:nvPicPr>
          <p:cNvPr id="29" name="Image 3" descr="preencoded.png">    </p:cNvPr>
          <p:cNvPicPr>
            <a:picLocks noChangeAspect="1"/>
          </p:cNvPicPr>
          <p:nvPr/>
        </p:nvPicPr>
        <p:blipFill>
          <a:blip r:embed="rId4"/>
          <a:stretch>
            <a:fillRect/>
          </a:stretch>
        </p:blipFill>
        <p:spPr>
          <a:xfrm>
            <a:off x="6181344" y="1627632"/>
            <a:ext cx="274320" cy="274320"/>
          </a:xfrm>
          <a:prstGeom prst="rect">
            <a:avLst/>
          </a:prstGeom>
        </p:spPr>
      </p:pic>
      <p:sp>
        <p:nvSpPr>
          <p:cNvPr id="30" name="Shape 23"/>
          <p:cNvSpPr/>
          <p:nvPr/>
        </p:nvSpPr>
        <p:spPr>
          <a:xfrm>
            <a:off x="5559552" y="2194560"/>
            <a:ext cx="1517904" cy="960120"/>
          </a:xfrm>
          <a:prstGeom prst="roundRect">
            <a:avLst>
              <a:gd name="adj" fmla="val 7619"/>
            </a:avLst>
          </a:prstGeom>
          <a:solidFill>
            <a:srgbClr val="F4F7F5"/>
          </a:solidFill>
          <a:ln w="9525">
            <a:solidFill>
              <a:srgbClr val="D5DED9"/>
            </a:solidFill>
            <a:prstDash val="solid"/>
          </a:ln>
        </p:spPr>
      </p:sp>
      <p:sp>
        <p:nvSpPr>
          <p:cNvPr id="31" name="Text 24"/>
          <p:cNvSpPr txBox="1"/>
          <p:nvPr/>
        </p:nvSpPr>
        <p:spPr>
          <a:xfrm>
            <a:off x="5650992" y="2267712"/>
            <a:ext cx="1335024" cy="201168"/>
          </a:xfrm>
          <a:prstGeom prst="rect">
            <a:avLst/>
          </a:prstGeom>
          <a:noFill/>
          <a:ln/>
        </p:spPr>
        <p:txBody>
          <a:bodyPr wrap="square" lIns="0" tIns="0" rIns="0" bIns="0" rtlCol="0" anchor="t"/>
          <a:lstStyle/>
          <a:p>
            <a:pPr algn="ctr" indent="0" marL="0">
              <a:buNone/>
            </a:pPr>
            <a:r>
              <a:rPr lang="en-US" sz="1050" b="1" spc="200" kern="0" dirty="0">
                <a:solidFill>
                  <a:srgbClr val="5E6964"/>
                </a:solidFill>
                <a:latin typeface="Calibri" pitchFamily="34" charset="0"/>
                <a:ea typeface="Calibri" pitchFamily="34" charset="-122"/>
                <a:cs typeface="Calibri" pitchFamily="34" charset="-120"/>
              </a:rPr>
              <a:t>DAY 4</a:t>
            </a:r>
            <a:endParaRPr lang="en-US" sz="1050" dirty="0"/>
          </a:p>
        </p:txBody>
      </p:sp>
      <p:sp>
        <p:nvSpPr>
          <p:cNvPr id="32" name="Text 25"/>
          <p:cNvSpPr txBox="1"/>
          <p:nvPr/>
        </p:nvSpPr>
        <p:spPr>
          <a:xfrm>
            <a:off x="5650992" y="2487168"/>
            <a:ext cx="1335024" cy="59436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Night-Time Lights, raw to validated</a:t>
            </a:r>
            <a:endParaRPr lang="en-US" sz="1150" dirty="0"/>
          </a:p>
        </p:txBody>
      </p:sp>
      <p:sp>
        <p:nvSpPr>
          <p:cNvPr id="33" name="Shape 26"/>
          <p:cNvSpPr/>
          <p:nvPr/>
        </p:nvSpPr>
        <p:spPr>
          <a:xfrm>
            <a:off x="7744968" y="1490472"/>
            <a:ext cx="548640" cy="548640"/>
          </a:xfrm>
          <a:prstGeom prst="ellipse">
            <a:avLst/>
          </a:prstGeom>
          <a:solidFill>
            <a:srgbClr val="00704A">
              <a:alpha val="22000"/>
            </a:srgbClr>
          </a:solidFill>
          <a:ln/>
        </p:spPr>
      </p:sp>
      <p:pic>
        <p:nvPicPr>
          <p:cNvPr id="34" name="Image 4" descr="preencoded.png">    </p:cNvPr>
          <p:cNvPicPr>
            <a:picLocks noChangeAspect="1"/>
          </p:cNvPicPr>
          <p:nvPr/>
        </p:nvPicPr>
        <p:blipFill>
          <a:blip r:embed="rId5"/>
          <a:stretch>
            <a:fillRect/>
          </a:stretch>
        </p:blipFill>
        <p:spPr>
          <a:xfrm>
            <a:off x="7882128" y="1627632"/>
            <a:ext cx="274320" cy="274320"/>
          </a:xfrm>
          <a:prstGeom prst="rect">
            <a:avLst/>
          </a:prstGeom>
        </p:spPr>
      </p:pic>
      <p:sp>
        <p:nvSpPr>
          <p:cNvPr id="35" name="Shape 27"/>
          <p:cNvSpPr/>
          <p:nvPr/>
        </p:nvSpPr>
        <p:spPr>
          <a:xfrm>
            <a:off x="7260336" y="2194560"/>
            <a:ext cx="1517904" cy="960120"/>
          </a:xfrm>
          <a:prstGeom prst="roundRect">
            <a:avLst>
              <a:gd name="adj" fmla="val 7619"/>
            </a:avLst>
          </a:prstGeom>
          <a:solidFill>
            <a:srgbClr val="F4F7F5"/>
          </a:solidFill>
          <a:ln w="9525">
            <a:solidFill>
              <a:srgbClr val="D5DED9"/>
            </a:solidFill>
            <a:prstDash val="solid"/>
          </a:ln>
        </p:spPr>
      </p:sp>
      <p:sp>
        <p:nvSpPr>
          <p:cNvPr id="36" name="Text 28"/>
          <p:cNvSpPr txBox="1"/>
          <p:nvPr/>
        </p:nvSpPr>
        <p:spPr>
          <a:xfrm>
            <a:off x="7351776" y="2267712"/>
            <a:ext cx="1335024" cy="201168"/>
          </a:xfrm>
          <a:prstGeom prst="rect">
            <a:avLst/>
          </a:prstGeom>
          <a:noFill/>
          <a:ln/>
        </p:spPr>
        <p:txBody>
          <a:bodyPr wrap="square" lIns="0" tIns="0" rIns="0" bIns="0" rtlCol="0" anchor="t"/>
          <a:lstStyle/>
          <a:p>
            <a:pPr algn="ctr" indent="0" marL="0">
              <a:buNone/>
            </a:pPr>
            <a:r>
              <a:rPr lang="en-US" sz="1050" b="1" spc="200" kern="0" dirty="0">
                <a:solidFill>
                  <a:srgbClr val="5E6964"/>
                </a:solidFill>
                <a:latin typeface="Calibri" pitchFamily="34" charset="0"/>
                <a:ea typeface="Calibri" pitchFamily="34" charset="-122"/>
                <a:cs typeface="Calibri" pitchFamily="34" charset="-120"/>
              </a:rPr>
              <a:t>DAY 5</a:t>
            </a:r>
            <a:endParaRPr lang="en-US" sz="1050" dirty="0"/>
          </a:p>
        </p:txBody>
      </p:sp>
      <p:sp>
        <p:nvSpPr>
          <p:cNvPr id="37" name="Text 29"/>
          <p:cNvSpPr txBox="1"/>
          <p:nvPr/>
        </p:nvSpPr>
        <p:spPr>
          <a:xfrm>
            <a:off x="7351776" y="2487168"/>
            <a:ext cx="1335024" cy="59436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Publish, present, way forward</a:t>
            </a:r>
            <a:endParaRPr lang="en-US" sz="1150" dirty="0"/>
          </a:p>
        </p:txBody>
      </p:sp>
      <p:sp>
        <p:nvSpPr>
          <p:cNvPr id="38" name="Shape 30"/>
          <p:cNvSpPr/>
          <p:nvPr/>
        </p:nvSpPr>
        <p:spPr>
          <a:xfrm>
            <a:off x="457200" y="3337560"/>
            <a:ext cx="8229600" cy="1188720"/>
          </a:xfrm>
          <a:prstGeom prst="roundRect">
            <a:avLst>
              <a:gd name="adj" fmla="val 6154"/>
            </a:avLst>
          </a:prstGeom>
          <a:solidFill>
            <a:srgbClr val="FFFFFF"/>
          </a:solidFill>
          <a:ln w="9525">
            <a:solidFill>
              <a:srgbClr val="D5DED9"/>
            </a:solidFill>
            <a:prstDash val="solid"/>
          </a:ln>
        </p:spPr>
      </p:sp>
      <p:sp>
        <p:nvSpPr>
          <p:cNvPr id="39" name="Text 31"/>
          <p:cNvSpPr txBox="1"/>
          <p:nvPr/>
        </p:nvSpPr>
        <p:spPr>
          <a:xfrm>
            <a:off x="640080" y="3429000"/>
            <a:ext cx="2743200" cy="182880"/>
          </a:xfrm>
          <a:prstGeom prst="rect">
            <a:avLst/>
          </a:prstGeom>
          <a:noFill/>
          <a:ln/>
        </p:spPr>
        <p:txBody>
          <a:bodyPr wrap="square" lIns="0" tIns="0" rIns="0" bIns="0" rtlCol="0" anchor="t"/>
          <a:lstStyle/>
          <a:p>
            <a:pPr indent="0" marL="0">
              <a:buNone/>
            </a:pPr>
            <a:r>
              <a:rPr lang="en-US" sz="950" b="1" spc="200" kern="0" dirty="0">
                <a:solidFill>
                  <a:srgbClr val="00704A"/>
                </a:solidFill>
                <a:latin typeface="Calibri" pitchFamily="34" charset="0"/>
                <a:ea typeface="Calibri" pitchFamily="34" charset="-122"/>
                <a:cs typeface="Calibri" pitchFamily="34" charset="-120"/>
              </a:rPr>
              <a:t>DAY 3 IN DETAIL</a:t>
            </a:r>
            <a:endParaRPr lang="en-US" sz="950" dirty="0"/>
          </a:p>
        </p:txBody>
      </p:sp>
      <p:sp>
        <p:nvSpPr>
          <p:cNvPr id="40" name="Shape 32"/>
          <p:cNvSpPr/>
          <p:nvPr/>
        </p:nvSpPr>
        <p:spPr>
          <a:xfrm>
            <a:off x="640080" y="3703320"/>
            <a:ext cx="640080" cy="237744"/>
          </a:xfrm>
          <a:prstGeom prst="roundRect">
            <a:avLst>
              <a:gd name="adj" fmla="val 50000"/>
            </a:avLst>
          </a:prstGeom>
          <a:solidFill>
            <a:srgbClr val="00A86A">
              <a:alpha val="15000"/>
            </a:srgbClr>
          </a:solidFill>
          <a:ln w="9525">
            <a:solidFill>
              <a:srgbClr val="00A86A"/>
            </a:solidFill>
            <a:prstDash val="solid"/>
          </a:ln>
        </p:spPr>
      </p:sp>
      <p:sp>
        <p:nvSpPr>
          <p:cNvPr id="41" name="Text 33"/>
          <p:cNvSpPr txBox="1"/>
          <p:nvPr/>
        </p:nvSpPr>
        <p:spPr>
          <a:xfrm>
            <a:off x="640080" y="3703320"/>
            <a:ext cx="64008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09:00</a:t>
            </a:r>
            <a:endParaRPr lang="en-US" sz="950" dirty="0"/>
          </a:p>
        </p:txBody>
      </p:sp>
      <p:sp>
        <p:nvSpPr>
          <p:cNvPr id="42" name="Text 34"/>
          <p:cNvSpPr txBox="1"/>
          <p:nvPr/>
        </p:nvSpPr>
        <p:spPr>
          <a:xfrm>
            <a:off x="1353312" y="3675888"/>
            <a:ext cx="1188720" cy="292608"/>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This session</a:t>
            </a:r>
            <a:endParaRPr lang="en-US" sz="1100" dirty="0"/>
          </a:p>
        </p:txBody>
      </p:sp>
      <p:sp>
        <p:nvSpPr>
          <p:cNvPr id="43" name="Text 35"/>
          <p:cNvSpPr txBox="1"/>
          <p:nvPr/>
        </p:nvSpPr>
        <p:spPr>
          <a:xfrm>
            <a:off x="640080" y="4023360"/>
            <a:ext cx="182880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Taxonomy · quality · access · ethics</a:t>
            </a:r>
            <a:endParaRPr lang="en-US" sz="950" dirty="0"/>
          </a:p>
        </p:txBody>
      </p:sp>
      <p:sp>
        <p:nvSpPr>
          <p:cNvPr id="44" name="Shape 36"/>
          <p:cNvSpPr/>
          <p:nvPr/>
        </p:nvSpPr>
        <p:spPr>
          <a:xfrm>
            <a:off x="2651760" y="3703320"/>
            <a:ext cx="640080" cy="237744"/>
          </a:xfrm>
          <a:prstGeom prst="roundRect">
            <a:avLst>
              <a:gd name="adj" fmla="val 50000"/>
            </a:avLst>
          </a:prstGeom>
          <a:solidFill>
            <a:srgbClr val="5E6964">
              <a:alpha val="15000"/>
            </a:srgbClr>
          </a:solidFill>
          <a:ln w="9525">
            <a:solidFill>
              <a:srgbClr val="5E6964"/>
            </a:solidFill>
            <a:prstDash val="solid"/>
          </a:ln>
        </p:spPr>
      </p:sp>
      <p:sp>
        <p:nvSpPr>
          <p:cNvPr id="45" name="Text 37"/>
          <p:cNvSpPr txBox="1"/>
          <p:nvPr/>
        </p:nvSpPr>
        <p:spPr>
          <a:xfrm>
            <a:off x="2651760" y="3703320"/>
            <a:ext cx="640080" cy="237744"/>
          </a:xfrm>
          <a:prstGeom prst="rect">
            <a:avLst/>
          </a:prstGeom>
          <a:noFill/>
          <a:ln/>
        </p:spPr>
        <p:txBody>
          <a:bodyPr wrap="square" lIns="0" tIns="0" rIns="0" bIns="0" rtlCol="0" anchor="ctr"/>
          <a:lstStyle/>
          <a:p>
            <a:pPr algn="ctr" indent="0" marL="0">
              <a:buNone/>
            </a:pPr>
            <a:r>
              <a:rPr lang="en-US" sz="950" b="1" dirty="0">
                <a:solidFill>
                  <a:srgbClr val="5E6964"/>
                </a:solidFill>
                <a:latin typeface="Calibri" pitchFamily="34" charset="0"/>
                <a:ea typeface="Calibri" pitchFamily="34" charset="-122"/>
                <a:cs typeface="Calibri" pitchFamily="34" charset="-120"/>
              </a:rPr>
              <a:t>10:45</a:t>
            </a:r>
            <a:endParaRPr lang="en-US" sz="950" dirty="0"/>
          </a:p>
        </p:txBody>
      </p:sp>
      <p:sp>
        <p:nvSpPr>
          <p:cNvPr id="46" name="Text 38"/>
          <p:cNvSpPr txBox="1"/>
          <p:nvPr/>
        </p:nvSpPr>
        <p:spPr>
          <a:xfrm>
            <a:off x="3364992" y="3675888"/>
            <a:ext cx="1188720" cy="29260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Lab: Ookla + WorldPop</a:t>
            </a:r>
            <a:endParaRPr lang="en-US" sz="1100" dirty="0"/>
          </a:p>
        </p:txBody>
      </p:sp>
      <p:sp>
        <p:nvSpPr>
          <p:cNvPr id="47" name="Text 39"/>
          <p:cNvSpPr txBox="1"/>
          <p:nvPr/>
        </p:nvSpPr>
        <p:spPr>
          <a:xfrm>
            <a:off x="2651760" y="4023360"/>
            <a:ext cx="182880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Population-weighted connectivity by region</a:t>
            </a:r>
            <a:endParaRPr lang="en-US" sz="950" dirty="0"/>
          </a:p>
        </p:txBody>
      </p:sp>
      <p:sp>
        <p:nvSpPr>
          <p:cNvPr id="48" name="Shape 40"/>
          <p:cNvSpPr/>
          <p:nvPr/>
        </p:nvSpPr>
        <p:spPr>
          <a:xfrm>
            <a:off x="4663440" y="3703320"/>
            <a:ext cx="640080" cy="237744"/>
          </a:xfrm>
          <a:prstGeom prst="roundRect">
            <a:avLst>
              <a:gd name="adj" fmla="val 50000"/>
            </a:avLst>
          </a:prstGeom>
          <a:solidFill>
            <a:srgbClr val="5E6964">
              <a:alpha val="15000"/>
            </a:srgbClr>
          </a:solidFill>
          <a:ln w="9525">
            <a:solidFill>
              <a:srgbClr val="5E6964"/>
            </a:solidFill>
            <a:prstDash val="solid"/>
          </a:ln>
        </p:spPr>
      </p:sp>
      <p:sp>
        <p:nvSpPr>
          <p:cNvPr id="49" name="Text 41"/>
          <p:cNvSpPr txBox="1"/>
          <p:nvPr/>
        </p:nvSpPr>
        <p:spPr>
          <a:xfrm>
            <a:off x="4663440" y="3703320"/>
            <a:ext cx="640080" cy="237744"/>
          </a:xfrm>
          <a:prstGeom prst="rect">
            <a:avLst/>
          </a:prstGeom>
          <a:noFill/>
          <a:ln/>
        </p:spPr>
        <p:txBody>
          <a:bodyPr wrap="square" lIns="0" tIns="0" rIns="0" bIns="0" rtlCol="0" anchor="ctr"/>
          <a:lstStyle/>
          <a:p>
            <a:pPr algn="ctr" indent="0" marL="0">
              <a:buNone/>
            </a:pPr>
            <a:r>
              <a:rPr lang="en-US" sz="950" b="1" dirty="0">
                <a:solidFill>
                  <a:srgbClr val="5E6964"/>
                </a:solidFill>
                <a:latin typeface="Calibri" pitchFamily="34" charset="0"/>
                <a:ea typeface="Calibri" pitchFamily="34" charset="-122"/>
                <a:cs typeface="Calibri" pitchFamily="34" charset="-120"/>
              </a:rPr>
              <a:t>14:00</a:t>
            </a:r>
            <a:endParaRPr lang="en-US" sz="950" dirty="0"/>
          </a:p>
        </p:txBody>
      </p:sp>
      <p:sp>
        <p:nvSpPr>
          <p:cNvPr id="50" name="Text 42"/>
          <p:cNvSpPr txBox="1"/>
          <p:nvPr/>
        </p:nvSpPr>
        <p:spPr>
          <a:xfrm>
            <a:off x="5376672" y="3675888"/>
            <a:ext cx="1188720" cy="29260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Engines of scale</a:t>
            </a:r>
            <a:endParaRPr lang="en-US" sz="1100" dirty="0"/>
          </a:p>
        </p:txBody>
      </p:sp>
      <p:sp>
        <p:nvSpPr>
          <p:cNvPr id="51" name="Text 43"/>
          <p:cNvSpPr txBox="1"/>
          <p:nvPr/>
        </p:nvSpPr>
        <p:spPr>
          <a:xfrm>
            <a:off x="4663440" y="4023360"/>
            <a:ext cx="182880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Ingestion, lakehouse, Spark, search</a:t>
            </a:r>
            <a:endParaRPr lang="en-US" sz="950" dirty="0"/>
          </a:p>
        </p:txBody>
      </p:sp>
      <p:sp>
        <p:nvSpPr>
          <p:cNvPr id="52" name="Shape 44"/>
          <p:cNvSpPr/>
          <p:nvPr/>
        </p:nvSpPr>
        <p:spPr>
          <a:xfrm>
            <a:off x="6675120" y="3703320"/>
            <a:ext cx="640080" cy="237744"/>
          </a:xfrm>
          <a:prstGeom prst="roundRect">
            <a:avLst>
              <a:gd name="adj" fmla="val 50000"/>
            </a:avLst>
          </a:prstGeom>
          <a:solidFill>
            <a:srgbClr val="5E6964">
              <a:alpha val="15000"/>
            </a:srgbClr>
          </a:solidFill>
          <a:ln w="9525">
            <a:solidFill>
              <a:srgbClr val="5E6964"/>
            </a:solidFill>
            <a:prstDash val="solid"/>
          </a:ln>
        </p:spPr>
      </p:sp>
      <p:sp>
        <p:nvSpPr>
          <p:cNvPr id="53" name="Text 45"/>
          <p:cNvSpPr txBox="1"/>
          <p:nvPr/>
        </p:nvSpPr>
        <p:spPr>
          <a:xfrm>
            <a:off x="6675120" y="3703320"/>
            <a:ext cx="640080" cy="237744"/>
          </a:xfrm>
          <a:prstGeom prst="rect">
            <a:avLst/>
          </a:prstGeom>
          <a:noFill/>
          <a:ln/>
        </p:spPr>
        <p:txBody>
          <a:bodyPr wrap="square" lIns="0" tIns="0" rIns="0" bIns="0" rtlCol="0" anchor="ctr"/>
          <a:lstStyle/>
          <a:p>
            <a:pPr algn="ctr" indent="0" marL="0">
              <a:buNone/>
            </a:pPr>
            <a:r>
              <a:rPr lang="en-US" sz="950" b="1" dirty="0">
                <a:solidFill>
                  <a:srgbClr val="5E6964"/>
                </a:solidFill>
                <a:latin typeface="Calibri" pitchFamily="34" charset="0"/>
                <a:ea typeface="Calibri" pitchFamily="34" charset="-122"/>
                <a:cs typeface="Calibri" pitchFamily="34" charset="-120"/>
              </a:rPr>
              <a:t>14:45</a:t>
            </a:r>
            <a:endParaRPr lang="en-US" sz="950" dirty="0"/>
          </a:p>
        </p:txBody>
      </p:sp>
      <p:sp>
        <p:nvSpPr>
          <p:cNvPr id="54" name="Text 46"/>
          <p:cNvSpPr txBox="1"/>
          <p:nvPr/>
        </p:nvSpPr>
        <p:spPr>
          <a:xfrm>
            <a:off x="7388352" y="3675888"/>
            <a:ext cx="1188720" cy="29260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Lab: Ookla at scale</a:t>
            </a:r>
            <a:endParaRPr lang="en-US" sz="1100" dirty="0"/>
          </a:p>
        </p:txBody>
      </p:sp>
      <p:sp>
        <p:nvSpPr>
          <p:cNvPr id="55" name="Text 47"/>
          <p:cNvSpPr txBox="1"/>
          <p:nvPr/>
        </p:nvSpPr>
        <p:spPr>
          <a:xfrm>
            <a:off x="6675120" y="4023360"/>
            <a:ext cx="182880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Elasticsearch, geo_shape, GitHub</a:t>
            </a:r>
            <a:endParaRPr lang="en-US" sz="950" dirty="0"/>
          </a:p>
        </p:txBody>
      </p:sp>
      <p:sp>
        <p:nvSpPr>
          <p:cNvPr id="56" name="Text 48"/>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STG17 Technical Workshop agenda, "Emerging Issues, Emerging Practice" (AfDB · AU STATAFRIC · NISR, version 01/09/2026).</a:t>
            </a:r>
            <a:endParaRPr lang="en-US" sz="8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PEDAGOGICAL FRAME</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By 10:30, you will be able to…</a:t>
            </a:r>
            <a:endParaRPr lang="en-US" sz="24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1" name="Shape 8"/>
          <p:cNvSpPr/>
          <p:nvPr/>
        </p:nvSpPr>
        <p:spPr>
          <a:xfrm>
            <a:off x="457200" y="1097280"/>
            <a:ext cx="4023360" cy="960120"/>
          </a:xfrm>
          <a:prstGeom prst="roundRect">
            <a:avLst>
              <a:gd name="adj" fmla="val 7619"/>
            </a:avLst>
          </a:prstGeom>
          <a:solidFill>
            <a:srgbClr val="F4F7F5"/>
          </a:solidFill>
          <a:ln w="9525">
            <a:solidFill>
              <a:srgbClr val="D5DED9"/>
            </a:solidFill>
            <a:prstDash val="solid"/>
          </a:ln>
        </p:spPr>
      </p:sp>
      <p:sp>
        <p:nvSpPr>
          <p:cNvPr id="12" name="Shape 9"/>
          <p:cNvSpPr/>
          <p:nvPr/>
        </p:nvSpPr>
        <p:spPr>
          <a:xfrm>
            <a:off x="621792" y="1298448"/>
            <a:ext cx="548640" cy="548640"/>
          </a:xfrm>
          <a:prstGeom prst="ellipse">
            <a:avLst/>
          </a:prstGeom>
          <a:solidFill>
            <a:srgbClr val="00A86A">
              <a:alpha val="22000"/>
            </a:srgbClr>
          </a:solidFill>
          <a:ln/>
        </p:spPr>
      </p:sp>
      <p:pic>
        <p:nvPicPr>
          <p:cNvPr id="13" name="Image 0" descr="preencoded.png">    </p:cNvPr>
          <p:cNvPicPr>
            <a:picLocks noChangeAspect="1"/>
          </p:cNvPicPr>
          <p:nvPr/>
        </p:nvPicPr>
        <p:blipFill>
          <a:blip r:embed="rId1"/>
          <a:stretch>
            <a:fillRect/>
          </a:stretch>
        </p:blipFill>
        <p:spPr>
          <a:xfrm>
            <a:off x="758952" y="1435608"/>
            <a:ext cx="274320" cy="274320"/>
          </a:xfrm>
          <a:prstGeom prst="rect">
            <a:avLst/>
          </a:prstGeom>
        </p:spPr>
      </p:pic>
      <p:sp>
        <p:nvSpPr>
          <p:cNvPr id="14" name="Text 10"/>
          <p:cNvSpPr txBox="1"/>
          <p:nvPr/>
        </p:nvSpPr>
        <p:spPr>
          <a:xfrm>
            <a:off x="1325880" y="1225296"/>
            <a:ext cx="3017520" cy="274320"/>
          </a:xfrm>
          <a:prstGeom prst="rect">
            <a:avLst/>
          </a:prstGeom>
          <a:noFill/>
          <a:ln/>
        </p:spPr>
        <p:txBody>
          <a:bodyPr wrap="square" lIns="0" tIns="0" rIns="0" bIns="0" rtlCol="0" anchor="t"/>
          <a:lstStyle/>
          <a:p>
            <a:pPr indent="0" marL="0">
              <a:buNone/>
            </a:pPr>
            <a:r>
              <a:rPr lang="en-US" sz="1400" b="1" dirty="0">
                <a:solidFill>
                  <a:srgbClr val="00A86A"/>
                </a:solidFill>
                <a:latin typeface="Calibri" pitchFamily="34" charset="0"/>
                <a:ea typeface="Calibri" pitchFamily="34" charset="-122"/>
                <a:cs typeface="Calibri" pitchFamily="34" charset="-120"/>
              </a:rPr>
              <a:t>Classify</a:t>
            </a:r>
            <a:endParaRPr lang="en-US" sz="1400" dirty="0"/>
          </a:p>
        </p:txBody>
      </p:sp>
      <p:sp>
        <p:nvSpPr>
          <p:cNvPr id="15" name="Text 11"/>
          <p:cNvSpPr txBox="1"/>
          <p:nvPr/>
        </p:nvSpPr>
        <p:spPr>
          <a:xfrm>
            <a:off x="1325880" y="1508760"/>
            <a:ext cx="3017520" cy="47548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Place any new source in a clear taxonomy — six families, three generating processes.</a:t>
            </a:r>
            <a:endParaRPr lang="en-US" sz="1100" dirty="0"/>
          </a:p>
        </p:txBody>
      </p:sp>
      <p:sp>
        <p:nvSpPr>
          <p:cNvPr id="16" name="Shape 12"/>
          <p:cNvSpPr/>
          <p:nvPr/>
        </p:nvSpPr>
        <p:spPr>
          <a:xfrm>
            <a:off x="4663440" y="1097280"/>
            <a:ext cx="4023360" cy="960120"/>
          </a:xfrm>
          <a:prstGeom prst="roundRect">
            <a:avLst>
              <a:gd name="adj" fmla="val 7619"/>
            </a:avLst>
          </a:prstGeom>
          <a:solidFill>
            <a:srgbClr val="F4F7F5"/>
          </a:solidFill>
          <a:ln w="9525">
            <a:solidFill>
              <a:srgbClr val="D5DED9"/>
            </a:solidFill>
            <a:prstDash val="solid"/>
          </a:ln>
        </p:spPr>
      </p:sp>
      <p:sp>
        <p:nvSpPr>
          <p:cNvPr id="17" name="Shape 13"/>
          <p:cNvSpPr/>
          <p:nvPr/>
        </p:nvSpPr>
        <p:spPr>
          <a:xfrm>
            <a:off x="4828032" y="1298448"/>
            <a:ext cx="548640" cy="548640"/>
          </a:xfrm>
          <a:prstGeom prst="ellipse">
            <a:avLst/>
          </a:prstGeom>
          <a:solidFill>
            <a:srgbClr val="00704A">
              <a:alpha val="22000"/>
            </a:srgbClr>
          </a:solidFill>
          <a:ln/>
        </p:spPr>
      </p:sp>
      <p:pic>
        <p:nvPicPr>
          <p:cNvPr id="18" name="Image 1" descr="preencoded.png">    </p:cNvPr>
          <p:cNvPicPr>
            <a:picLocks noChangeAspect="1"/>
          </p:cNvPicPr>
          <p:nvPr/>
        </p:nvPicPr>
        <p:blipFill>
          <a:blip r:embed="rId2"/>
          <a:stretch>
            <a:fillRect/>
          </a:stretch>
        </p:blipFill>
        <p:spPr>
          <a:xfrm>
            <a:off x="4965192" y="1435608"/>
            <a:ext cx="274320" cy="274320"/>
          </a:xfrm>
          <a:prstGeom prst="rect">
            <a:avLst/>
          </a:prstGeom>
        </p:spPr>
      </p:pic>
      <p:sp>
        <p:nvSpPr>
          <p:cNvPr id="19" name="Text 14"/>
          <p:cNvSpPr txBox="1"/>
          <p:nvPr/>
        </p:nvSpPr>
        <p:spPr>
          <a:xfrm>
            <a:off x="5532120" y="1225296"/>
            <a:ext cx="3017520" cy="274320"/>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Judge fitness for purpose</a:t>
            </a:r>
            <a:endParaRPr lang="en-US" sz="1400" dirty="0"/>
          </a:p>
        </p:txBody>
      </p:sp>
      <p:sp>
        <p:nvSpPr>
          <p:cNvPr id="20" name="Text 15"/>
          <p:cNvSpPr txBox="1"/>
          <p:nvPr/>
        </p:nvSpPr>
        <p:spPr>
          <a:xfrm>
            <a:off x="5532120" y="1508760"/>
            <a:ext cx="3017520" cy="47548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Separate the target concept from the proxy and state the gap between them.</a:t>
            </a:r>
            <a:endParaRPr lang="en-US" sz="1100" dirty="0"/>
          </a:p>
        </p:txBody>
      </p:sp>
      <p:sp>
        <p:nvSpPr>
          <p:cNvPr id="21" name="Shape 16"/>
          <p:cNvSpPr/>
          <p:nvPr/>
        </p:nvSpPr>
        <p:spPr>
          <a:xfrm>
            <a:off x="457200" y="2240280"/>
            <a:ext cx="4023360" cy="960120"/>
          </a:xfrm>
          <a:prstGeom prst="roundRect">
            <a:avLst>
              <a:gd name="adj" fmla="val 7619"/>
            </a:avLst>
          </a:prstGeom>
          <a:solidFill>
            <a:srgbClr val="F4F7F5"/>
          </a:solidFill>
          <a:ln w="9525">
            <a:solidFill>
              <a:srgbClr val="D5DED9"/>
            </a:solidFill>
            <a:prstDash val="solid"/>
          </a:ln>
        </p:spPr>
      </p:sp>
      <p:sp>
        <p:nvSpPr>
          <p:cNvPr id="22" name="Shape 17"/>
          <p:cNvSpPr/>
          <p:nvPr/>
        </p:nvSpPr>
        <p:spPr>
          <a:xfrm>
            <a:off x="621792" y="2441448"/>
            <a:ext cx="548640" cy="548640"/>
          </a:xfrm>
          <a:prstGeom prst="ellipse">
            <a:avLst/>
          </a:prstGeom>
          <a:solidFill>
            <a:srgbClr val="0E7C86">
              <a:alpha val="22000"/>
            </a:srgbClr>
          </a:solidFill>
          <a:ln/>
        </p:spPr>
      </p:sp>
      <p:pic>
        <p:nvPicPr>
          <p:cNvPr id="23" name="Image 2" descr="preencoded.png">    </p:cNvPr>
          <p:cNvPicPr>
            <a:picLocks noChangeAspect="1"/>
          </p:cNvPicPr>
          <p:nvPr/>
        </p:nvPicPr>
        <p:blipFill>
          <a:blip r:embed="rId3"/>
          <a:stretch>
            <a:fillRect/>
          </a:stretch>
        </p:blipFill>
        <p:spPr>
          <a:xfrm>
            <a:off x="758952" y="2578608"/>
            <a:ext cx="274320" cy="274320"/>
          </a:xfrm>
          <a:prstGeom prst="rect">
            <a:avLst/>
          </a:prstGeom>
        </p:spPr>
      </p:pic>
      <p:sp>
        <p:nvSpPr>
          <p:cNvPr id="24" name="Text 18"/>
          <p:cNvSpPr txBox="1"/>
          <p:nvPr/>
        </p:nvSpPr>
        <p:spPr>
          <a:xfrm>
            <a:off x="1325880" y="2368296"/>
            <a:ext cx="3017520" cy="274320"/>
          </a:xfrm>
          <a:prstGeom prst="rect">
            <a:avLst/>
          </a:prstGeom>
          <a:noFill/>
          <a:ln/>
        </p:spPr>
        <p:txBody>
          <a:bodyPr wrap="square" lIns="0" tIns="0" rIns="0" bIns="0" rtlCol="0" anchor="t"/>
          <a:lstStyle/>
          <a:p>
            <a:pPr indent="0" marL="0">
              <a:buNone/>
            </a:pPr>
            <a:r>
              <a:rPr lang="en-US" sz="1400" b="1" dirty="0">
                <a:solidFill>
                  <a:srgbClr val="0E7C86"/>
                </a:solidFill>
                <a:latin typeface="Calibri" pitchFamily="34" charset="0"/>
                <a:ea typeface="Calibri" pitchFamily="34" charset="-122"/>
                <a:cs typeface="Calibri" pitchFamily="34" charset="-120"/>
              </a:rPr>
              <a:t>Diagnose coverage bias</a:t>
            </a:r>
            <a:endParaRPr lang="en-US" sz="1400" dirty="0"/>
          </a:p>
        </p:txBody>
      </p:sp>
      <p:sp>
        <p:nvSpPr>
          <p:cNvPr id="25" name="Text 19"/>
          <p:cNvSpPr txBox="1"/>
          <p:nvPr/>
        </p:nvSpPr>
        <p:spPr>
          <a:xfrm>
            <a:off x="1325880" y="2651760"/>
            <a:ext cx="3017520" cy="47548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Explain why volume does not cure bias, and how to detect and correct it.</a:t>
            </a:r>
            <a:endParaRPr lang="en-US" sz="1100" dirty="0"/>
          </a:p>
        </p:txBody>
      </p:sp>
      <p:sp>
        <p:nvSpPr>
          <p:cNvPr id="26" name="Shape 20"/>
          <p:cNvSpPr/>
          <p:nvPr/>
        </p:nvSpPr>
        <p:spPr>
          <a:xfrm>
            <a:off x="4663440" y="2240280"/>
            <a:ext cx="4023360" cy="960120"/>
          </a:xfrm>
          <a:prstGeom prst="roundRect">
            <a:avLst>
              <a:gd name="adj" fmla="val 7619"/>
            </a:avLst>
          </a:prstGeom>
          <a:solidFill>
            <a:srgbClr val="F4F7F5"/>
          </a:solidFill>
          <a:ln w="9525">
            <a:solidFill>
              <a:srgbClr val="D5DED9"/>
            </a:solidFill>
            <a:prstDash val="solid"/>
          </a:ln>
        </p:spPr>
      </p:sp>
      <p:sp>
        <p:nvSpPr>
          <p:cNvPr id="27" name="Shape 21"/>
          <p:cNvSpPr/>
          <p:nvPr/>
        </p:nvSpPr>
        <p:spPr>
          <a:xfrm>
            <a:off x="4828032" y="2441448"/>
            <a:ext cx="548640" cy="548640"/>
          </a:xfrm>
          <a:prstGeom prst="ellipse">
            <a:avLst/>
          </a:prstGeom>
          <a:solidFill>
            <a:srgbClr val="D49A00">
              <a:alpha val="22000"/>
            </a:srgbClr>
          </a:solidFill>
          <a:ln/>
        </p:spPr>
      </p:sp>
      <p:pic>
        <p:nvPicPr>
          <p:cNvPr id="28" name="Image 3" descr="preencoded.png">    </p:cNvPr>
          <p:cNvPicPr>
            <a:picLocks noChangeAspect="1"/>
          </p:cNvPicPr>
          <p:nvPr/>
        </p:nvPicPr>
        <p:blipFill>
          <a:blip r:embed="rId4"/>
          <a:stretch>
            <a:fillRect/>
          </a:stretch>
        </p:blipFill>
        <p:spPr>
          <a:xfrm>
            <a:off x="4965192" y="2578608"/>
            <a:ext cx="274320" cy="274320"/>
          </a:xfrm>
          <a:prstGeom prst="rect">
            <a:avLst/>
          </a:prstGeom>
        </p:spPr>
      </p:pic>
      <p:sp>
        <p:nvSpPr>
          <p:cNvPr id="29" name="Text 22"/>
          <p:cNvSpPr txBox="1"/>
          <p:nvPr/>
        </p:nvSpPr>
        <p:spPr>
          <a:xfrm>
            <a:off x="5532120" y="2368296"/>
            <a:ext cx="3017520" cy="274320"/>
          </a:xfrm>
          <a:prstGeom prst="rect">
            <a:avLst/>
          </a:prstGeom>
          <a:noFill/>
          <a:ln/>
        </p:spPr>
        <p:txBody>
          <a:bodyPr wrap="square" lIns="0" tIns="0" rIns="0" bIns="0" rtlCol="0" anchor="t"/>
          <a:lstStyle/>
          <a:p>
            <a:pPr indent="0" marL="0">
              <a:buNone/>
            </a:pPr>
            <a:r>
              <a:rPr lang="en-US" sz="1400" b="1" dirty="0">
                <a:solidFill>
                  <a:srgbClr val="D49A00"/>
                </a:solidFill>
                <a:latin typeface="Calibri" pitchFamily="34" charset="0"/>
                <a:ea typeface="Calibri" pitchFamily="34" charset="-122"/>
                <a:cs typeface="Calibri" pitchFamily="34" charset="-120"/>
              </a:rPr>
              <a:t>Choose an access model</a:t>
            </a:r>
            <a:endParaRPr lang="en-US" sz="1400" dirty="0"/>
          </a:p>
        </p:txBody>
      </p:sp>
      <p:sp>
        <p:nvSpPr>
          <p:cNvPr id="30" name="Text 23"/>
          <p:cNvSpPr txBox="1"/>
          <p:nvPr/>
        </p:nvSpPr>
        <p:spPr>
          <a:xfrm>
            <a:off x="5532120" y="2651760"/>
            <a:ext cx="3017520" cy="47548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Compare open, purchased, agreed, collaborative and mandated access to private data.</a:t>
            </a:r>
            <a:endParaRPr lang="en-US" sz="1100" dirty="0"/>
          </a:p>
        </p:txBody>
      </p:sp>
      <p:sp>
        <p:nvSpPr>
          <p:cNvPr id="31" name="Shape 24"/>
          <p:cNvSpPr/>
          <p:nvPr/>
        </p:nvSpPr>
        <p:spPr>
          <a:xfrm>
            <a:off x="457200" y="3383280"/>
            <a:ext cx="4023360" cy="960120"/>
          </a:xfrm>
          <a:prstGeom prst="roundRect">
            <a:avLst>
              <a:gd name="adj" fmla="val 7619"/>
            </a:avLst>
          </a:prstGeom>
          <a:solidFill>
            <a:srgbClr val="F4F7F5"/>
          </a:solidFill>
          <a:ln w="9525">
            <a:solidFill>
              <a:srgbClr val="D5DED9"/>
            </a:solidFill>
            <a:prstDash val="solid"/>
          </a:ln>
        </p:spPr>
      </p:sp>
      <p:sp>
        <p:nvSpPr>
          <p:cNvPr id="32" name="Shape 25"/>
          <p:cNvSpPr/>
          <p:nvPr/>
        </p:nvSpPr>
        <p:spPr>
          <a:xfrm>
            <a:off x="621792" y="3584448"/>
            <a:ext cx="548640" cy="548640"/>
          </a:xfrm>
          <a:prstGeom prst="ellipse">
            <a:avLst/>
          </a:prstGeom>
          <a:solidFill>
            <a:srgbClr val="C4621D">
              <a:alpha val="22000"/>
            </a:srgbClr>
          </a:solidFill>
          <a:ln/>
        </p:spPr>
      </p:sp>
      <p:pic>
        <p:nvPicPr>
          <p:cNvPr id="33" name="Image 4" descr="preencoded.png">    </p:cNvPr>
          <p:cNvPicPr>
            <a:picLocks noChangeAspect="1"/>
          </p:cNvPicPr>
          <p:nvPr/>
        </p:nvPicPr>
        <p:blipFill>
          <a:blip r:embed="rId5"/>
          <a:stretch>
            <a:fillRect/>
          </a:stretch>
        </p:blipFill>
        <p:spPr>
          <a:xfrm>
            <a:off x="758952" y="3721608"/>
            <a:ext cx="274320" cy="274320"/>
          </a:xfrm>
          <a:prstGeom prst="rect">
            <a:avLst/>
          </a:prstGeom>
        </p:spPr>
      </p:pic>
      <p:sp>
        <p:nvSpPr>
          <p:cNvPr id="34" name="Text 26"/>
          <p:cNvSpPr txBox="1"/>
          <p:nvPr/>
        </p:nvSpPr>
        <p:spPr>
          <a:xfrm>
            <a:off x="1325880" y="3511296"/>
            <a:ext cx="3017520" cy="274320"/>
          </a:xfrm>
          <a:prstGeom prst="rect">
            <a:avLst/>
          </a:prstGeom>
          <a:noFill/>
          <a:ln/>
        </p:spPr>
        <p:txBody>
          <a:bodyPr wrap="square" lIns="0" tIns="0" rIns="0" bIns="0" rtlCol="0" anchor="t"/>
          <a:lstStyle/>
          <a:p>
            <a:pPr indent="0" marL="0">
              <a:buNone/>
            </a:pPr>
            <a:r>
              <a:rPr lang="en-US" sz="1400" b="1" dirty="0">
                <a:solidFill>
                  <a:srgbClr val="C4621D"/>
                </a:solidFill>
                <a:latin typeface="Calibri" pitchFamily="34" charset="0"/>
                <a:ea typeface="Calibri" pitchFamily="34" charset="-122"/>
                <a:cs typeface="Calibri" pitchFamily="34" charset="-120"/>
              </a:rPr>
              <a:t>Protect confidentiality</a:t>
            </a:r>
            <a:endParaRPr lang="en-US" sz="1400" dirty="0"/>
          </a:p>
        </p:txBody>
      </p:sp>
      <p:sp>
        <p:nvSpPr>
          <p:cNvPr id="35" name="Text 27"/>
          <p:cNvSpPr txBox="1"/>
          <p:nvPr/>
        </p:nvSpPr>
        <p:spPr>
          <a:xfrm>
            <a:off x="1325880" y="3794760"/>
            <a:ext cx="3017520" cy="47548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Apply legal, ethical and technical safeguards before any data moves.</a:t>
            </a:r>
            <a:endParaRPr lang="en-US" sz="1100" dirty="0"/>
          </a:p>
        </p:txBody>
      </p:sp>
      <p:sp>
        <p:nvSpPr>
          <p:cNvPr id="36" name="Shape 28"/>
          <p:cNvSpPr/>
          <p:nvPr/>
        </p:nvSpPr>
        <p:spPr>
          <a:xfrm>
            <a:off x="4663440" y="3383280"/>
            <a:ext cx="4023360" cy="960120"/>
          </a:xfrm>
          <a:prstGeom prst="roundRect">
            <a:avLst>
              <a:gd name="adj" fmla="val 7619"/>
            </a:avLst>
          </a:prstGeom>
          <a:solidFill>
            <a:srgbClr val="F4F7F5"/>
          </a:solidFill>
          <a:ln w="9525">
            <a:solidFill>
              <a:srgbClr val="D5DED9"/>
            </a:solidFill>
            <a:prstDash val="solid"/>
          </a:ln>
        </p:spPr>
      </p:sp>
      <p:sp>
        <p:nvSpPr>
          <p:cNvPr id="37" name="Shape 29"/>
          <p:cNvSpPr/>
          <p:nvPr/>
        </p:nvSpPr>
        <p:spPr>
          <a:xfrm>
            <a:off x="4828032" y="3584448"/>
            <a:ext cx="548640" cy="548640"/>
          </a:xfrm>
          <a:prstGeom prst="ellipse">
            <a:avLst/>
          </a:prstGeom>
          <a:solidFill>
            <a:srgbClr val="B83B2E">
              <a:alpha val="22000"/>
            </a:srgbClr>
          </a:solidFill>
          <a:ln/>
        </p:spPr>
      </p:sp>
      <p:pic>
        <p:nvPicPr>
          <p:cNvPr id="38" name="Image 5" descr="preencoded.png">    </p:cNvPr>
          <p:cNvPicPr>
            <a:picLocks noChangeAspect="1"/>
          </p:cNvPicPr>
          <p:nvPr/>
        </p:nvPicPr>
        <p:blipFill>
          <a:blip r:embed="rId6"/>
          <a:stretch>
            <a:fillRect/>
          </a:stretch>
        </p:blipFill>
        <p:spPr>
          <a:xfrm>
            <a:off x="4965192" y="3721608"/>
            <a:ext cx="274320" cy="274320"/>
          </a:xfrm>
          <a:prstGeom prst="rect">
            <a:avLst/>
          </a:prstGeom>
        </p:spPr>
      </p:pic>
      <p:sp>
        <p:nvSpPr>
          <p:cNvPr id="39" name="Text 30"/>
          <p:cNvSpPr txBox="1"/>
          <p:nvPr/>
        </p:nvSpPr>
        <p:spPr>
          <a:xfrm>
            <a:off x="5532120" y="3511296"/>
            <a:ext cx="3017520" cy="274320"/>
          </a:xfrm>
          <a:prstGeom prst="rect">
            <a:avLst/>
          </a:prstGeom>
          <a:noFill/>
          <a:ln/>
        </p:spPr>
        <p:txBody>
          <a:bodyPr wrap="square" lIns="0" tIns="0" rIns="0" bIns="0" rtlCol="0" anchor="t"/>
          <a:lstStyle/>
          <a:p>
            <a:pPr indent="0" marL="0">
              <a:buNone/>
            </a:pPr>
            <a:r>
              <a:rPr lang="en-US" sz="1400" b="1" dirty="0">
                <a:solidFill>
                  <a:srgbClr val="B83B2E"/>
                </a:solidFill>
                <a:latin typeface="Calibri" pitchFamily="34" charset="0"/>
                <a:ea typeface="Calibri" pitchFamily="34" charset="-122"/>
                <a:cs typeface="Calibri" pitchFamily="34" charset="-120"/>
              </a:rPr>
              <a:t>Assess a real source</a:t>
            </a:r>
            <a:endParaRPr lang="en-US" sz="1400" dirty="0"/>
          </a:p>
        </p:txBody>
      </p:sp>
      <p:sp>
        <p:nvSpPr>
          <p:cNvPr id="40" name="Text 31"/>
          <p:cNvSpPr txBox="1"/>
          <p:nvPr/>
        </p:nvSpPr>
        <p:spPr>
          <a:xfrm>
            <a:off x="5532120" y="3794760"/>
            <a:ext cx="3017520" cy="47548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Complete a Source Assessment Canvas in teams and defend the verdict.</a:t>
            </a:r>
            <a:endParaRPr lang="en-US" sz="11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ROADMAP · 90 MINUTES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Six sections, one thread</a:t>
            </a:r>
            <a:endParaRPr lang="en-US" sz="24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1" name="Shape 8"/>
          <p:cNvSpPr/>
          <p:nvPr/>
        </p:nvSpPr>
        <p:spPr>
          <a:xfrm>
            <a:off x="457200" y="1143000"/>
            <a:ext cx="2615184" cy="1554480"/>
          </a:xfrm>
          <a:prstGeom prst="roundRect">
            <a:avLst>
              <a:gd name="adj" fmla="val 4706"/>
            </a:avLst>
          </a:prstGeom>
          <a:solidFill>
            <a:srgbClr val="F4F7F5"/>
          </a:solidFill>
          <a:ln w="9525">
            <a:solidFill>
              <a:srgbClr val="D5DED9"/>
            </a:solidFill>
            <a:prstDash val="solid"/>
          </a:ln>
        </p:spPr>
      </p:sp>
      <p:sp>
        <p:nvSpPr>
          <p:cNvPr id="12" name="Shape 9"/>
          <p:cNvSpPr/>
          <p:nvPr/>
        </p:nvSpPr>
        <p:spPr>
          <a:xfrm>
            <a:off x="621792" y="1307592"/>
            <a:ext cx="502920" cy="502920"/>
          </a:xfrm>
          <a:prstGeom prst="ellipse">
            <a:avLst/>
          </a:prstGeom>
          <a:solidFill>
            <a:srgbClr val="00A86A">
              <a:alpha val="22000"/>
            </a:srgbClr>
          </a:solidFill>
          <a:ln/>
        </p:spPr>
      </p:sp>
      <p:pic>
        <p:nvPicPr>
          <p:cNvPr id="13" name="Image 0" descr="preencoded.png">    </p:cNvPr>
          <p:cNvPicPr>
            <a:picLocks noChangeAspect="1"/>
          </p:cNvPicPr>
          <p:nvPr/>
        </p:nvPicPr>
        <p:blipFill>
          <a:blip r:embed="rId1"/>
          <a:stretch>
            <a:fillRect/>
          </a:stretch>
        </p:blipFill>
        <p:spPr>
          <a:xfrm>
            <a:off x="747522" y="1433322"/>
            <a:ext cx="251460" cy="251460"/>
          </a:xfrm>
          <a:prstGeom prst="rect">
            <a:avLst/>
          </a:prstGeom>
        </p:spPr>
      </p:pic>
      <p:sp>
        <p:nvSpPr>
          <p:cNvPr id="14" name="Text 10"/>
          <p:cNvSpPr txBox="1"/>
          <p:nvPr/>
        </p:nvSpPr>
        <p:spPr>
          <a:xfrm>
            <a:off x="2194560" y="1271016"/>
            <a:ext cx="73152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01</a:t>
            </a:r>
            <a:endParaRPr lang="en-US" sz="2600" dirty="0"/>
          </a:p>
        </p:txBody>
      </p:sp>
      <p:sp>
        <p:nvSpPr>
          <p:cNvPr id="15" name="Text 11"/>
          <p:cNvSpPr txBox="1"/>
          <p:nvPr/>
        </p:nvSpPr>
        <p:spPr>
          <a:xfrm>
            <a:off x="621792" y="1892808"/>
            <a:ext cx="2286000" cy="274320"/>
          </a:xfrm>
          <a:prstGeom prst="rect">
            <a:avLst/>
          </a:prstGeom>
          <a:noFill/>
          <a:ln/>
        </p:spPr>
        <p:txBody>
          <a:bodyPr wrap="square" lIns="0" tIns="0" rIns="0" bIns="0" rtlCol="0" anchor="t"/>
          <a:lstStyle/>
          <a:p>
            <a:pPr indent="0" marL="0">
              <a:buNone/>
            </a:pPr>
            <a:r>
              <a:rPr lang="en-US" sz="1400" b="1" dirty="0">
                <a:solidFill>
                  <a:srgbClr val="00A86A"/>
                </a:solidFill>
                <a:latin typeface="Calibri" pitchFamily="34" charset="0"/>
                <a:ea typeface="Calibri" pitchFamily="34" charset="-122"/>
                <a:cs typeface="Calibri" pitchFamily="34" charset="-120"/>
              </a:rPr>
              <a:t>Why it matters</a:t>
            </a:r>
            <a:endParaRPr lang="en-US" sz="1400" dirty="0"/>
          </a:p>
        </p:txBody>
      </p:sp>
      <p:sp>
        <p:nvSpPr>
          <p:cNvPr id="16" name="Text 12"/>
          <p:cNvSpPr txBox="1"/>
          <p:nvPr/>
        </p:nvSpPr>
        <p:spPr>
          <a:xfrm>
            <a:off x="621792" y="2167128"/>
            <a:ext cx="169164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Pressures on NSOs and the mandate to innovate</a:t>
            </a:r>
            <a:endParaRPr lang="en-US" sz="1050" dirty="0"/>
          </a:p>
        </p:txBody>
      </p:sp>
      <p:sp>
        <p:nvSpPr>
          <p:cNvPr id="17" name="Shape 13"/>
          <p:cNvSpPr/>
          <p:nvPr/>
        </p:nvSpPr>
        <p:spPr>
          <a:xfrm>
            <a:off x="2304288" y="2331720"/>
            <a:ext cx="621792" cy="237744"/>
          </a:xfrm>
          <a:prstGeom prst="roundRect">
            <a:avLst>
              <a:gd name="adj" fmla="val 50000"/>
            </a:avLst>
          </a:prstGeom>
          <a:solidFill>
            <a:srgbClr val="00A86A">
              <a:alpha val="15000"/>
            </a:srgbClr>
          </a:solidFill>
          <a:ln w="9525">
            <a:solidFill>
              <a:srgbClr val="00A86A"/>
            </a:solidFill>
            <a:prstDash val="solid"/>
          </a:ln>
        </p:spPr>
      </p:sp>
      <p:sp>
        <p:nvSpPr>
          <p:cNvPr id="18" name="Text 14"/>
          <p:cNvSpPr txBox="1"/>
          <p:nvPr/>
        </p:nvSpPr>
        <p:spPr>
          <a:xfrm>
            <a:off x="2304288" y="2331720"/>
            <a:ext cx="621792"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8 min</a:t>
            </a:r>
            <a:endParaRPr lang="en-US" sz="950" dirty="0"/>
          </a:p>
        </p:txBody>
      </p:sp>
      <p:sp>
        <p:nvSpPr>
          <p:cNvPr id="19" name="Shape 15"/>
          <p:cNvSpPr/>
          <p:nvPr/>
        </p:nvSpPr>
        <p:spPr>
          <a:xfrm>
            <a:off x="3264408" y="1143000"/>
            <a:ext cx="2615184" cy="1554480"/>
          </a:xfrm>
          <a:prstGeom prst="roundRect">
            <a:avLst>
              <a:gd name="adj" fmla="val 4706"/>
            </a:avLst>
          </a:prstGeom>
          <a:solidFill>
            <a:srgbClr val="F4F7F5"/>
          </a:solidFill>
          <a:ln w="9525">
            <a:solidFill>
              <a:srgbClr val="D5DED9"/>
            </a:solidFill>
            <a:prstDash val="solid"/>
          </a:ln>
        </p:spPr>
      </p:sp>
      <p:sp>
        <p:nvSpPr>
          <p:cNvPr id="20" name="Shape 16"/>
          <p:cNvSpPr/>
          <p:nvPr/>
        </p:nvSpPr>
        <p:spPr>
          <a:xfrm>
            <a:off x="3429000" y="1307592"/>
            <a:ext cx="502920" cy="502920"/>
          </a:xfrm>
          <a:prstGeom prst="ellipse">
            <a:avLst/>
          </a:prstGeom>
          <a:solidFill>
            <a:srgbClr val="00704A">
              <a:alpha val="22000"/>
            </a:srgbClr>
          </a:solidFill>
          <a:ln/>
        </p:spPr>
      </p:sp>
      <p:pic>
        <p:nvPicPr>
          <p:cNvPr id="21" name="Image 1" descr="preencoded.png">    </p:cNvPr>
          <p:cNvPicPr>
            <a:picLocks noChangeAspect="1"/>
          </p:cNvPicPr>
          <p:nvPr/>
        </p:nvPicPr>
        <p:blipFill>
          <a:blip r:embed="rId2"/>
          <a:stretch>
            <a:fillRect/>
          </a:stretch>
        </p:blipFill>
        <p:spPr>
          <a:xfrm>
            <a:off x="3554730" y="1433322"/>
            <a:ext cx="251460" cy="251460"/>
          </a:xfrm>
          <a:prstGeom prst="rect">
            <a:avLst/>
          </a:prstGeom>
        </p:spPr>
      </p:pic>
      <p:sp>
        <p:nvSpPr>
          <p:cNvPr id="22" name="Text 17"/>
          <p:cNvSpPr txBox="1"/>
          <p:nvPr/>
        </p:nvSpPr>
        <p:spPr>
          <a:xfrm>
            <a:off x="5001768" y="1271016"/>
            <a:ext cx="73152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02</a:t>
            </a:r>
            <a:endParaRPr lang="en-US" sz="2600" dirty="0"/>
          </a:p>
        </p:txBody>
      </p:sp>
      <p:sp>
        <p:nvSpPr>
          <p:cNvPr id="23" name="Text 18"/>
          <p:cNvSpPr txBox="1"/>
          <p:nvPr/>
        </p:nvSpPr>
        <p:spPr>
          <a:xfrm>
            <a:off x="3429000" y="1892808"/>
            <a:ext cx="2286000" cy="274320"/>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Taxonomy</a:t>
            </a:r>
            <a:endParaRPr lang="en-US" sz="1400" dirty="0"/>
          </a:p>
        </p:txBody>
      </p:sp>
      <p:sp>
        <p:nvSpPr>
          <p:cNvPr id="24" name="Text 19"/>
          <p:cNvSpPr txBox="1"/>
          <p:nvPr/>
        </p:nvSpPr>
        <p:spPr>
          <a:xfrm>
            <a:off x="3429000" y="2167128"/>
            <a:ext cx="169164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Six families of sources, what each can measure</a:t>
            </a:r>
            <a:endParaRPr lang="en-US" sz="1050" dirty="0"/>
          </a:p>
        </p:txBody>
      </p:sp>
      <p:sp>
        <p:nvSpPr>
          <p:cNvPr id="25" name="Shape 20"/>
          <p:cNvSpPr/>
          <p:nvPr/>
        </p:nvSpPr>
        <p:spPr>
          <a:xfrm>
            <a:off x="5111496" y="2331720"/>
            <a:ext cx="621792" cy="237744"/>
          </a:xfrm>
          <a:prstGeom prst="roundRect">
            <a:avLst>
              <a:gd name="adj" fmla="val 50000"/>
            </a:avLst>
          </a:prstGeom>
          <a:solidFill>
            <a:srgbClr val="00704A">
              <a:alpha val="15000"/>
            </a:srgbClr>
          </a:solidFill>
          <a:ln w="9525">
            <a:solidFill>
              <a:srgbClr val="00704A"/>
            </a:solidFill>
            <a:prstDash val="solid"/>
          </a:ln>
        </p:spPr>
      </p:sp>
      <p:sp>
        <p:nvSpPr>
          <p:cNvPr id="26" name="Text 21"/>
          <p:cNvSpPr txBox="1"/>
          <p:nvPr/>
        </p:nvSpPr>
        <p:spPr>
          <a:xfrm>
            <a:off x="5111496" y="2331720"/>
            <a:ext cx="621792" cy="237744"/>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15 min</a:t>
            </a:r>
            <a:endParaRPr lang="en-US" sz="950" dirty="0"/>
          </a:p>
        </p:txBody>
      </p:sp>
      <p:sp>
        <p:nvSpPr>
          <p:cNvPr id="27" name="Shape 22"/>
          <p:cNvSpPr/>
          <p:nvPr/>
        </p:nvSpPr>
        <p:spPr>
          <a:xfrm>
            <a:off x="6071616" y="1143000"/>
            <a:ext cx="2615184" cy="1554480"/>
          </a:xfrm>
          <a:prstGeom prst="roundRect">
            <a:avLst>
              <a:gd name="adj" fmla="val 4706"/>
            </a:avLst>
          </a:prstGeom>
          <a:solidFill>
            <a:srgbClr val="F4F7F5"/>
          </a:solidFill>
          <a:ln w="9525">
            <a:solidFill>
              <a:srgbClr val="D5DED9"/>
            </a:solidFill>
            <a:prstDash val="solid"/>
          </a:ln>
        </p:spPr>
      </p:sp>
      <p:sp>
        <p:nvSpPr>
          <p:cNvPr id="28" name="Shape 23"/>
          <p:cNvSpPr/>
          <p:nvPr/>
        </p:nvSpPr>
        <p:spPr>
          <a:xfrm>
            <a:off x="6236208" y="1307592"/>
            <a:ext cx="502920" cy="502920"/>
          </a:xfrm>
          <a:prstGeom prst="ellipse">
            <a:avLst/>
          </a:prstGeom>
          <a:solidFill>
            <a:srgbClr val="0E7C86">
              <a:alpha val="22000"/>
            </a:srgbClr>
          </a:solidFill>
          <a:ln/>
        </p:spPr>
      </p:sp>
      <p:pic>
        <p:nvPicPr>
          <p:cNvPr id="29" name="Image 2" descr="preencoded.png">    </p:cNvPr>
          <p:cNvPicPr>
            <a:picLocks noChangeAspect="1"/>
          </p:cNvPicPr>
          <p:nvPr/>
        </p:nvPicPr>
        <p:blipFill>
          <a:blip r:embed="rId3"/>
          <a:stretch>
            <a:fillRect/>
          </a:stretch>
        </p:blipFill>
        <p:spPr>
          <a:xfrm>
            <a:off x="6361938" y="1433322"/>
            <a:ext cx="251460" cy="251460"/>
          </a:xfrm>
          <a:prstGeom prst="rect">
            <a:avLst/>
          </a:prstGeom>
        </p:spPr>
      </p:pic>
      <p:sp>
        <p:nvSpPr>
          <p:cNvPr id="30" name="Text 24"/>
          <p:cNvSpPr txBox="1"/>
          <p:nvPr/>
        </p:nvSpPr>
        <p:spPr>
          <a:xfrm>
            <a:off x="7808976" y="1271016"/>
            <a:ext cx="73152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03</a:t>
            </a:r>
            <a:endParaRPr lang="en-US" sz="2600" dirty="0"/>
          </a:p>
        </p:txBody>
      </p:sp>
      <p:sp>
        <p:nvSpPr>
          <p:cNvPr id="31" name="Text 25"/>
          <p:cNvSpPr txBox="1"/>
          <p:nvPr/>
        </p:nvSpPr>
        <p:spPr>
          <a:xfrm>
            <a:off x="6236208" y="1892808"/>
            <a:ext cx="2286000" cy="274320"/>
          </a:xfrm>
          <a:prstGeom prst="rect">
            <a:avLst/>
          </a:prstGeom>
          <a:noFill/>
          <a:ln/>
        </p:spPr>
        <p:txBody>
          <a:bodyPr wrap="square" lIns="0" tIns="0" rIns="0" bIns="0" rtlCol="0" anchor="t"/>
          <a:lstStyle/>
          <a:p>
            <a:pPr indent="0" marL="0">
              <a:buNone/>
            </a:pPr>
            <a:r>
              <a:rPr lang="en-US" sz="1400" b="1" dirty="0">
                <a:solidFill>
                  <a:srgbClr val="0E7C86"/>
                </a:solidFill>
                <a:latin typeface="Calibri" pitchFamily="34" charset="0"/>
                <a:ea typeface="Calibri" pitchFamily="34" charset="-122"/>
                <a:cs typeface="Calibri" pitchFamily="34" charset="-120"/>
              </a:rPr>
              <a:t>Quality &amp; bias</a:t>
            </a:r>
            <a:endParaRPr lang="en-US" sz="1400" dirty="0"/>
          </a:p>
        </p:txBody>
      </p:sp>
      <p:sp>
        <p:nvSpPr>
          <p:cNvPr id="32" name="Text 26"/>
          <p:cNvSpPr txBox="1"/>
          <p:nvPr/>
        </p:nvSpPr>
        <p:spPr>
          <a:xfrm>
            <a:off x="6236208" y="2167128"/>
            <a:ext cx="169164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Adapted quality frameworks, the big-data paradox</a:t>
            </a:r>
            <a:endParaRPr lang="en-US" sz="1050" dirty="0"/>
          </a:p>
        </p:txBody>
      </p:sp>
      <p:sp>
        <p:nvSpPr>
          <p:cNvPr id="33" name="Shape 27"/>
          <p:cNvSpPr/>
          <p:nvPr/>
        </p:nvSpPr>
        <p:spPr>
          <a:xfrm>
            <a:off x="7918704" y="2331720"/>
            <a:ext cx="621792" cy="237744"/>
          </a:xfrm>
          <a:prstGeom prst="roundRect">
            <a:avLst>
              <a:gd name="adj" fmla="val 50000"/>
            </a:avLst>
          </a:prstGeom>
          <a:solidFill>
            <a:srgbClr val="0E7C86">
              <a:alpha val="15000"/>
            </a:srgbClr>
          </a:solidFill>
          <a:ln w="9525">
            <a:solidFill>
              <a:srgbClr val="0E7C86"/>
            </a:solidFill>
            <a:prstDash val="solid"/>
          </a:ln>
        </p:spPr>
      </p:sp>
      <p:sp>
        <p:nvSpPr>
          <p:cNvPr id="34" name="Text 28"/>
          <p:cNvSpPr txBox="1"/>
          <p:nvPr/>
        </p:nvSpPr>
        <p:spPr>
          <a:xfrm>
            <a:off x="7918704" y="2331720"/>
            <a:ext cx="621792" cy="237744"/>
          </a:xfrm>
          <a:prstGeom prst="rect">
            <a:avLst/>
          </a:prstGeom>
          <a:noFill/>
          <a:ln/>
        </p:spPr>
        <p:txBody>
          <a:bodyPr wrap="square" lIns="0" tIns="0" rIns="0" bIns="0" rtlCol="0" anchor="ctr"/>
          <a:lstStyle/>
          <a:p>
            <a:pPr algn="ctr" indent="0" marL="0">
              <a:buNone/>
            </a:pPr>
            <a:r>
              <a:rPr lang="en-US" sz="950" b="1" dirty="0">
                <a:solidFill>
                  <a:srgbClr val="0E7C86"/>
                </a:solidFill>
                <a:latin typeface="Calibri" pitchFamily="34" charset="0"/>
                <a:ea typeface="Calibri" pitchFamily="34" charset="-122"/>
                <a:cs typeface="Calibri" pitchFamily="34" charset="-120"/>
              </a:rPr>
              <a:t>12 min</a:t>
            </a:r>
            <a:endParaRPr lang="en-US" sz="950" dirty="0"/>
          </a:p>
        </p:txBody>
      </p:sp>
      <p:sp>
        <p:nvSpPr>
          <p:cNvPr id="35" name="Shape 29"/>
          <p:cNvSpPr/>
          <p:nvPr/>
        </p:nvSpPr>
        <p:spPr>
          <a:xfrm>
            <a:off x="457200" y="2880360"/>
            <a:ext cx="2615184" cy="1554480"/>
          </a:xfrm>
          <a:prstGeom prst="roundRect">
            <a:avLst>
              <a:gd name="adj" fmla="val 4706"/>
            </a:avLst>
          </a:prstGeom>
          <a:solidFill>
            <a:srgbClr val="F4F7F5"/>
          </a:solidFill>
          <a:ln w="9525">
            <a:solidFill>
              <a:srgbClr val="D5DED9"/>
            </a:solidFill>
            <a:prstDash val="solid"/>
          </a:ln>
        </p:spPr>
      </p:sp>
      <p:sp>
        <p:nvSpPr>
          <p:cNvPr id="36" name="Shape 30"/>
          <p:cNvSpPr/>
          <p:nvPr/>
        </p:nvSpPr>
        <p:spPr>
          <a:xfrm>
            <a:off x="621792" y="3044952"/>
            <a:ext cx="502920" cy="502920"/>
          </a:xfrm>
          <a:prstGeom prst="ellipse">
            <a:avLst/>
          </a:prstGeom>
          <a:solidFill>
            <a:srgbClr val="D49A00">
              <a:alpha val="22000"/>
            </a:srgbClr>
          </a:solidFill>
          <a:ln/>
        </p:spPr>
      </p:sp>
      <p:pic>
        <p:nvPicPr>
          <p:cNvPr id="37" name="Image 3" descr="preencoded.png">    </p:cNvPr>
          <p:cNvPicPr>
            <a:picLocks noChangeAspect="1"/>
          </p:cNvPicPr>
          <p:nvPr/>
        </p:nvPicPr>
        <p:blipFill>
          <a:blip r:embed="rId4"/>
          <a:stretch>
            <a:fillRect/>
          </a:stretch>
        </p:blipFill>
        <p:spPr>
          <a:xfrm>
            <a:off x="747522" y="3170682"/>
            <a:ext cx="251460" cy="251460"/>
          </a:xfrm>
          <a:prstGeom prst="rect">
            <a:avLst/>
          </a:prstGeom>
        </p:spPr>
      </p:pic>
      <p:sp>
        <p:nvSpPr>
          <p:cNvPr id="38" name="Text 31"/>
          <p:cNvSpPr txBox="1"/>
          <p:nvPr/>
        </p:nvSpPr>
        <p:spPr>
          <a:xfrm>
            <a:off x="2194560" y="3008376"/>
            <a:ext cx="73152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04</a:t>
            </a:r>
            <a:endParaRPr lang="en-US" sz="2600" dirty="0"/>
          </a:p>
        </p:txBody>
      </p:sp>
      <p:sp>
        <p:nvSpPr>
          <p:cNvPr id="39" name="Text 32"/>
          <p:cNvSpPr txBox="1"/>
          <p:nvPr/>
        </p:nvSpPr>
        <p:spPr>
          <a:xfrm>
            <a:off x="621792" y="3630168"/>
            <a:ext cx="2286000" cy="274320"/>
          </a:xfrm>
          <a:prstGeom prst="rect">
            <a:avLst/>
          </a:prstGeom>
          <a:noFill/>
          <a:ln/>
        </p:spPr>
        <p:txBody>
          <a:bodyPr wrap="square" lIns="0" tIns="0" rIns="0" bIns="0" rtlCol="0" anchor="t"/>
          <a:lstStyle/>
          <a:p>
            <a:pPr indent="0" marL="0">
              <a:buNone/>
            </a:pPr>
            <a:r>
              <a:rPr lang="en-US" sz="1400" b="1" dirty="0">
                <a:solidFill>
                  <a:srgbClr val="D49A00"/>
                </a:solidFill>
                <a:latin typeface="Calibri" pitchFamily="34" charset="0"/>
                <a:ea typeface="Calibri" pitchFamily="34" charset="-122"/>
                <a:cs typeface="Calibri" pitchFamily="34" charset="-120"/>
              </a:rPr>
              <a:t>Access &amp; partnerships</a:t>
            </a:r>
            <a:endParaRPr lang="en-US" sz="1400" dirty="0"/>
          </a:p>
        </p:txBody>
      </p:sp>
      <p:sp>
        <p:nvSpPr>
          <p:cNvPr id="40" name="Text 33"/>
          <p:cNvSpPr txBox="1"/>
          <p:nvPr/>
        </p:nvSpPr>
        <p:spPr>
          <a:xfrm>
            <a:off x="621792" y="3904488"/>
            <a:ext cx="169164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Five access models and data-sharing agreements</a:t>
            </a:r>
            <a:endParaRPr lang="en-US" sz="1050" dirty="0"/>
          </a:p>
        </p:txBody>
      </p:sp>
      <p:sp>
        <p:nvSpPr>
          <p:cNvPr id="41" name="Shape 34"/>
          <p:cNvSpPr/>
          <p:nvPr/>
        </p:nvSpPr>
        <p:spPr>
          <a:xfrm>
            <a:off x="2304288" y="4069080"/>
            <a:ext cx="621792" cy="237744"/>
          </a:xfrm>
          <a:prstGeom prst="roundRect">
            <a:avLst>
              <a:gd name="adj" fmla="val 50000"/>
            </a:avLst>
          </a:prstGeom>
          <a:solidFill>
            <a:srgbClr val="D49A00">
              <a:alpha val="15000"/>
            </a:srgbClr>
          </a:solidFill>
          <a:ln w="9525">
            <a:solidFill>
              <a:srgbClr val="D49A00"/>
            </a:solidFill>
            <a:prstDash val="solid"/>
          </a:ln>
        </p:spPr>
      </p:sp>
      <p:sp>
        <p:nvSpPr>
          <p:cNvPr id="42" name="Text 35"/>
          <p:cNvSpPr txBox="1"/>
          <p:nvPr/>
        </p:nvSpPr>
        <p:spPr>
          <a:xfrm>
            <a:off x="2304288" y="4069080"/>
            <a:ext cx="621792" cy="237744"/>
          </a:xfrm>
          <a:prstGeom prst="rect">
            <a:avLst/>
          </a:prstGeom>
          <a:noFill/>
          <a:ln/>
        </p:spPr>
        <p:txBody>
          <a:bodyPr wrap="square" lIns="0" tIns="0" rIns="0" bIns="0" rtlCol="0" anchor="ctr"/>
          <a:lstStyle/>
          <a:p>
            <a:pPr algn="ctr" indent="0" marL="0">
              <a:buNone/>
            </a:pPr>
            <a:r>
              <a:rPr lang="en-US" sz="950" b="1" dirty="0">
                <a:solidFill>
                  <a:srgbClr val="D49A00"/>
                </a:solidFill>
                <a:latin typeface="Calibri" pitchFamily="34" charset="0"/>
                <a:ea typeface="Calibri" pitchFamily="34" charset="-122"/>
                <a:cs typeface="Calibri" pitchFamily="34" charset="-120"/>
              </a:rPr>
              <a:t>8 min</a:t>
            </a:r>
            <a:endParaRPr lang="en-US" sz="950" dirty="0"/>
          </a:p>
        </p:txBody>
      </p:sp>
      <p:sp>
        <p:nvSpPr>
          <p:cNvPr id="43" name="Shape 36"/>
          <p:cNvSpPr/>
          <p:nvPr/>
        </p:nvSpPr>
        <p:spPr>
          <a:xfrm>
            <a:off x="3264408" y="2880360"/>
            <a:ext cx="2615184" cy="1554480"/>
          </a:xfrm>
          <a:prstGeom prst="roundRect">
            <a:avLst>
              <a:gd name="adj" fmla="val 4706"/>
            </a:avLst>
          </a:prstGeom>
          <a:solidFill>
            <a:srgbClr val="F4F7F5"/>
          </a:solidFill>
          <a:ln w="9525">
            <a:solidFill>
              <a:srgbClr val="D5DED9"/>
            </a:solidFill>
            <a:prstDash val="solid"/>
          </a:ln>
        </p:spPr>
      </p:sp>
      <p:sp>
        <p:nvSpPr>
          <p:cNvPr id="44" name="Shape 37"/>
          <p:cNvSpPr/>
          <p:nvPr/>
        </p:nvSpPr>
        <p:spPr>
          <a:xfrm>
            <a:off x="3429000" y="3044952"/>
            <a:ext cx="502920" cy="502920"/>
          </a:xfrm>
          <a:prstGeom prst="ellipse">
            <a:avLst/>
          </a:prstGeom>
          <a:solidFill>
            <a:srgbClr val="C4621D">
              <a:alpha val="22000"/>
            </a:srgbClr>
          </a:solidFill>
          <a:ln/>
        </p:spPr>
      </p:sp>
      <p:pic>
        <p:nvPicPr>
          <p:cNvPr id="45" name="Image 4" descr="preencoded.png">    </p:cNvPr>
          <p:cNvPicPr>
            <a:picLocks noChangeAspect="1"/>
          </p:cNvPicPr>
          <p:nvPr/>
        </p:nvPicPr>
        <p:blipFill>
          <a:blip r:embed="rId5"/>
          <a:stretch>
            <a:fillRect/>
          </a:stretch>
        </p:blipFill>
        <p:spPr>
          <a:xfrm>
            <a:off x="3554730" y="3170682"/>
            <a:ext cx="251460" cy="251460"/>
          </a:xfrm>
          <a:prstGeom prst="rect">
            <a:avLst/>
          </a:prstGeom>
        </p:spPr>
      </p:pic>
      <p:sp>
        <p:nvSpPr>
          <p:cNvPr id="46" name="Text 38"/>
          <p:cNvSpPr txBox="1"/>
          <p:nvPr/>
        </p:nvSpPr>
        <p:spPr>
          <a:xfrm>
            <a:off x="5001768" y="3008376"/>
            <a:ext cx="73152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05</a:t>
            </a:r>
            <a:endParaRPr lang="en-US" sz="2600" dirty="0"/>
          </a:p>
        </p:txBody>
      </p:sp>
      <p:sp>
        <p:nvSpPr>
          <p:cNvPr id="47" name="Text 39"/>
          <p:cNvSpPr txBox="1"/>
          <p:nvPr/>
        </p:nvSpPr>
        <p:spPr>
          <a:xfrm>
            <a:off x="3429000" y="3630168"/>
            <a:ext cx="2286000" cy="274320"/>
          </a:xfrm>
          <a:prstGeom prst="rect">
            <a:avLst/>
          </a:prstGeom>
          <a:noFill/>
          <a:ln/>
        </p:spPr>
        <p:txBody>
          <a:bodyPr wrap="square" lIns="0" tIns="0" rIns="0" bIns="0" rtlCol="0" anchor="t"/>
          <a:lstStyle/>
          <a:p>
            <a:pPr indent="0" marL="0">
              <a:buNone/>
            </a:pPr>
            <a:r>
              <a:rPr lang="en-US" sz="1400" b="1" dirty="0">
                <a:solidFill>
                  <a:srgbClr val="C4621D"/>
                </a:solidFill>
                <a:latin typeface="Calibri" pitchFamily="34" charset="0"/>
                <a:ea typeface="Calibri" pitchFamily="34" charset="-122"/>
                <a:cs typeface="Calibri" pitchFamily="34" charset="-120"/>
              </a:rPr>
              <a:t>Ethics &amp; confidentiality</a:t>
            </a:r>
            <a:endParaRPr lang="en-US" sz="1400" dirty="0"/>
          </a:p>
        </p:txBody>
      </p:sp>
      <p:sp>
        <p:nvSpPr>
          <p:cNvPr id="48" name="Text 40"/>
          <p:cNvSpPr txBox="1"/>
          <p:nvPr/>
        </p:nvSpPr>
        <p:spPr>
          <a:xfrm>
            <a:off x="3429000" y="3904488"/>
            <a:ext cx="169164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Law, re-identification risk, the Five Safes</a:t>
            </a:r>
            <a:endParaRPr lang="en-US" sz="1050" dirty="0"/>
          </a:p>
        </p:txBody>
      </p:sp>
      <p:sp>
        <p:nvSpPr>
          <p:cNvPr id="49" name="Shape 41"/>
          <p:cNvSpPr/>
          <p:nvPr/>
        </p:nvSpPr>
        <p:spPr>
          <a:xfrm>
            <a:off x="5111496" y="4069080"/>
            <a:ext cx="621792" cy="237744"/>
          </a:xfrm>
          <a:prstGeom prst="roundRect">
            <a:avLst>
              <a:gd name="adj" fmla="val 50000"/>
            </a:avLst>
          </a:prstGeom>
          <a:solidFill>
            <a:srgbClr val="C4621D">
              <a:alpha val="15000"/>
            </a:srgbClr>
          </a:solidFill>
          <a:ln w="9525">
            <a:solidFill>
              <a:srgbClr val="C4621D"/>
            </a:solidFill>
            <a:prstDash val="solid"/>
          </a:ln>
        </p:spPr>
      </p:sp>
      <p:sp>
        <p:nvSpPr>
          <p:cNvPr id="50" name="Text 42"/>
          <p:cNvSpPr txBox="1"/>
          <p:nvPr/>
        </p:nvSpPr>
        <p:spPr>
          <a:xfrm>
            <a:off x="5111496" y="4069080"/>
            <a:ext cx="621792" cy="237744"/>
          </a:xfrm>
          <a:prstGeom prst="rect">
            <a:avLst/>
          </a:prstGeom>
          <a:noFill/>
          <a:ln/>
        </p:spPr>
        <p:txBody>
          <a:bodyPr wrap="square" lIns="0" tIns="0" rIns="0" bIns="0" rtlCol="0" anchor="ctr"/>
          <a:lstStyle/>
          <a:p>
            <a:pPr algn="ctr" indent="0" marL="0">
              <a:buNone/>
            </a:pPr>
            <a:r>
              <a:rPr lang="en-US" sz="950" b="1" dirty="0">
                <a:solidFill>
                  <a:srgbClr val="C4621D"/>
                </a:solidFill>
                <a:latin typeface="Calibri" pitchFamily="34" charset="0"/>
                <a:ea typeface="Calibri" pitchFamily="34" charset="-122"/>
                <a:cs typeface="Calibri" pitchFamily="34" charset="-120"/>
              </a:rPr>
              <a:t>7 min</a:t>
            </a:r>
            <a:endParaRPr lang="en-US" sz="950" dirty="0"/>
          </a:p>
        </p:txBody>
      </p:sp>
      <p:sp>
        <p:nvSpPr>
          <p:cNvPr id="51" name="Shape 43"/>
          <p:cNvSpPr/>
          <p:nvPr/>
        </p:nvSpPr>
        <p:spPr>
          <a:xfrm>
            <a:off x="6071616" y="2880360"/>
            <a:ext cx="2615184" cy="1554480"/>
          </a:xfrm>
          <a:prstGeom prst="roundRect">
            <a:avLst>
              <a:gd name="adj" fmla="val 4706"/>
            </a:avLst>
          </a:prstGeom>
          <a:solidFill>
            <a:srgbClr val="E8F5EF"/>
          </a:solidFill>
          <a:ln w="15875">
            <a:solidFill>
              <a:srgbClr val="B83B2E"/>
            </a:solidFill>
            <a:prstDash val="solid"/>
          </a:ln>
        </p:spPr>
      </p:sp>
      <p:sp>
        <p:nvSpPr>
          <p:cNvPr id="52" name="Shape 44"/>
          <p:cNvSpPr/>
          <p:nvPr/>
        </p:nvSpPr>
        <p:spPr>
          <a:xfrm>
            <a:off x="6236208" y="3044952"/>
            <a:ext cx="502920" cy="502920"/>
          </a:xfrm>
          <a:prstGeom prst="ellipse">
            <a:avLst/>
          </a:prstGeom>
          <a:solidFill>
            <a:srgbClr val="B83B2E">
              <a:alpha val="22000"/>
            </a:srgbClr>
          </a:solidFill>
          <a:ln/>
        </p:spPr>
      </p:sp>
      <p:pic>
        <p:nvPicPr>
          <p:cNvPr id="53" name="Image 5" descr="preencoded.png">    </p:cNvPr>
          <p:cNvPicPr>
            <a:picLocks noChangeAspect="1"/>
          </p:cNvPicPr>
          <p:nvPr/>
        </p:nvPicPr>
        <p:blipFill>
          <a:blip r:embed="rId6"/>
          <a:stretch>
            <a:fillRect/>
          </a:stretch>
        </p:blipFill>
        <p:spPr>
          <a:xfrm>
            <a:off x="6361938" y="3170682"/>
            <a:ext cx="251460" cy="251460"/>
          </a:xfrm>
          <a:prstGeom prst="rect">
            <a:avLst/>
          </a:prstGeom>
        </p:spPr>
      </p:pic>
      <p:sp>
        <p:nvSpPr>
          <p:cNvPr id="54" name="Text 45"/>
          <p:cNvSpPr txBox="1"/>
          <p:nvPr/>
        </p:nvSpPr>
        <p:spPr>
          <a:xfrm>
            <a:off x="7808976" y="3008376"/>
            <a:ext cx="73152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06</a:t>
            </a:r>
            <a:endParaRPr lang="en-US" sz="2600" dirty="0"/>
          </a:p>
        </p:txBody>
      </p:sp>
      <p:sp>
        <p:nvSpPr>
          <p:cNvPr id="55" name="Text 46"/>
          <p:cNvSpPr txBox="1"/>
          <p:nvPr/>
        </p:nvSpPr>
        <p:spPr>
          <a:xfrm>
            <a:off x="6236208" y="3630168"/>
            <a:ext cx="2286000" cy="274320"/>
          </a:xfrm>
          <a:prstGeom prst="rect">
            <a:avLst/>
          </a:prstGeom>
          <a:noFill/>
          <a:ln/>
        </p:spPr>
        <p:txBody>
          <a:bodyPr wrap="square" lIns="0" tIns="0" rIns="0" bIns="0" rtlCol="0" anchor="t"/>
          <a:lstStyle/>
          <a:p>
            <a:pPr indent="0" marL="0">
              <a:buNone/>
            </a:pPr>
            <a:r>
              <a:rPr lang="en-US" sz="1400" b="1" dirty="0">
                <a:solidFill>
                  <a:srgbClr val="B83B2E"/>
                </a:solidFill>
                <a:latin typeface="Calibri" pitchFamily="34" charset="0"/>
                <a:ea typeface="Calibri" pitchFamily="34" charset="-122"/>
                <a:cs typeface="Calibri" pitchFamily="34" charset="-120"/>
              </a:rPr>
              <a:t>Laboratory &amp; way forward</a:t>
            </a:r>
            <a:endParaRPr lang="en-US" sz="1400" dirty="0"/>
          </a:p>
        </p:txBody>
      </p:sp>
      <p:sp>
        <p:nvSpPr>
          <p:cNvPr id="56" name="Text 47"/>
          <p:cNvSpPr txBox="1"/>
          <p:nvPr/>
        </p:nvSpPr>
        <p:spPr>
          <a:xfrm>
            <a:off x="6236208" y="3904488"/>
            <a:ext cx="169164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Source Assessment Canvas, then report back</a:t>
            </a:r>
            <a:endParaRPr lang="en-US" sz="1050" dirty="0"/>
          </a:p>
        </p:txBody>
      </p:sp>
      <p:sp>
        <p:nvSpPr>
          <p:cNvPr id="57" name="Shape 48"/>
          <p:cNvSpPr/>
          <p:nvPr/>
        </p:nvSpPr>
        <p:spPr>
          <a:xfrm>
            <a:off x="7918704" y="4069080"/>
            <a:ext cx="621792" cy="237744"/>
          </a:xfrm>
          <a:prstGeom prst="roundRect">
            <a:avLst>
              <a:gd name="adj" fmla="val 50000"/>
            </a:avLst>
          </a:prstGeom>
          <a:solidFill>
            <a:srgbClr val="B83B2E">
              <a:alpha val="15000"/>
            </a:srgbClr>
          </a:solidFill>
          <a:ln w="9525">
            <a:solidFill>
              <a:srgbClr val="B83B2E"/>
            </a:solidFill>
            <a:prstDash val="solid"/>
          </a:ln>
        </p:spPr>
      </p:sp>
      <p:sp>
        <p:nvSpPr>
          <p:cNvPr id="58" name="Text 49"/>
          <p:cNvSpPr txBox="1"/>
          <p:nvPr/>
        </p:nvSpPr>
        <p:spPr>
          <a:xfrm>
            <a:off x="7918704" y="4069080"/>
            <a:ext cx="621792" cy="237744"/>
          </a:xfrm>
          <a:prstGeom prst="rect">
            <a:avLst/>
          </a:prstGeom>
          <a:noFill/>
          <a:ln/>
        </p:spPr>
        <p:txBody>
          <a:bodyPr wrap="square" lIns="0" tIns="0" rIns="0" bIns="0" rtlCol="0" anchor="ctr"/>
          <a:lstStyle/>
          <a:p>
            <a:pPr algn="ctr" indent="0" marL="0">
              <a:buNone/>
            </a:pPr>
            <a:r>
              <a:rPr lang="en-US" sz="950" b="1" dirty="0">
                <a:solidFill>
                  <a:srgbClr val="B83B2E"/>
                </a:solidFill>
                <a:latin typeface="Calibri" pitchFamily="34" charset="0"/>
                <a:ea typeface="Calibri" pitchFamily="34" charset="-122"/>
                <a:cs typeface="Calibri" pitchFamily="34" charset="-120"/>
              </a:rPr>
              <a:t>40 min</a:t>
            </a:r>
            <a:endParaRPr lang="en-US" sz="9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1 OF 6</a:t>
            </a:r>
            <a:endParaRPr lang="en-US" sz="1100" dirty="0"/>
          </a:p>
        </p:txBody>
      </p:sp>
      <p:sp>
        <p:nvSpPr>
          <p:cNvPr id="4" name="Text 1"/>
          <p:cNvSpPr txBox="1"/>
          <p:nvPr/>
        </p:nvSpPr>
        <p:spPr>
          <a:xfrm>
            <a:off x="502920" y="91440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2"/>
          <p:cNvSpPr txBox="1"/>
          <p:nvPr/>
        </p:nvSpPr>
        <p:spPr>
          <a:xfrm>
            <a:off x="548640" y="233172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Why it matters</a:t>
            </a:r>
            <a:endParaRPr lang="en-US" sz="3600" dirty="0"/>
          </a:p>
        </p:txBody>
      </p:sp>
      <p:sp>
        <p:nvSpPr>
          <p:cNvPr id="6" name="Text 3"/>
          <p:cNvSpPr txBox="1"/>
          <p:nvPr/>
        </p:nvSpPr>
        <p:spPr>
          <a:xfrm>
            <a:off x="548640" y="3108960"/>
            <a:ext cx="475488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Why should an African statistical office care about data it never collected?</a:t>
            </a:r>
            <a:endParaRPr lang="en-US" sz="1800" dirty="0"/>
          </a:p>
        </p:txBody>
      </p:sp>
      <p:sp>
        <p:nvSpPr>
          <p:cNvPr id="7" name="Shape 4"/>
          <p:cNvSpPr/>
          <p:nvPr/>
        </p:nvSpPr>
        <p:spPr>
          <a:xfrm>
            <a:off x="566928" y="4343400"/>
            <a:ext cx="100584" cy="100584"/>
          </a:xfrm>
          <a:prstGeom prst="ellipse">
            <a:avLst/>
          </a:prstGeom>
          <a:solidFill>
            <a:srgbClr val="F5C242"/>
          </a:solidFill>
          <a:ln/>
        </p:spPr>
      </p:sp>
      <p:sp>
        <p:nvSpPr>
          <p:cNvPr id="8" name="Shape 5"/>
          <p:cNvSpPr/>
          <p:nvPr/>
        </p:nvSpPr>
        <p:spPr>
          <a:xfrm>
            <a:off x="749808" y="4343400"/>
            <a:ext cx="100584" cy="100584"/>
          </a:xfrm>
          <a:prstGeom prst="ellipse">
            <a:avLst/>
          </a:prstGeom>
          <a:solidFill>
            <a:srgbClr val="FFFFFF">
              <a:alpha val="35000"/>
            </a:srgbClr>
          </a:solidFill>
          <a:ln/>
        </p:spPr>
      </p:sp>
      <p:sp>
        <p:nvSpPr>
          <p:cNvPr id="9" name="Shape 6"/>
          <p:cNvSpPr/>
          <p:nvPr/>
        </p:nvSpPr>
        <p:spPr>
          <a:xfrm>
            <a:off x="932688" y="4343400"/>
            <a:ext cx="100584" cy="100584"/>
          </a:xfrm>
          <a:prstGeom prst="ellipse">
            <a:avLst/>
          </a:prstGeom>
          <a:solidFill>
            <a:srgbClr val="FFFFFF">
              <a:alpha val="35000"/>
            </a:srgbClr>
          </a:solidFill>
          <a:ln/>
        </p:spPr>
      </p:sp>
      <p:sp>
        <p:nvSpPr>
          <p:cNvPr id="10" name="Shape 7"/>
          <p:cNvSpPr/>
          <p:nvPr/>
        </p:nvSpPr>
        <p:spPr>
          <a:xfrm>
            <a:off x="1115568" y="4343400"/>
            <a:ext cx="100584" cy="100584"/>
          </a:xfrm>
          <a:prstGeom prst="ellipse">
            <a:avLst/>
          </a:prstGeom>
          <a:solidFill>
            <a:srgbClr val="FFFFFF">
              <a:alpha val="35000"/>
            </a:srgbClr>
          </a:solidFill>
          <a:ln/>
        </p:spPr>
      </p:sp>
      <p:sp>
        <p:nvSpPr>
          <p:cNvPr id="11" name="Shape 8"/>
          <p:cNvSpPr/>
          <p:nvPr/>
        </p:nvSpPr>
        <p:spPr>
          <a:xfrm>
            <a:off x="1298448" y="4343400"/>
            <a:ext cx="100584" cy="100584"/>
          </a:xfrm>
          <a:prstGeom prst="ellipse">
            <a:avLst/>
          </a:prstGeom>
          <a:solidFill>
            <a:srgbClr val="FFFFFF">
              <a:alpha val="35000"/>
            </a:srgbClr>
          </a:solidFill>
          <a:ln/>
        </p:spPr>
      </p:sp>
      <p:sp>
        <p:nvSpPr>
          <p:cNvPr id="12" name="Shape 9"/>
          <p:cNvSpPr/>
          <p:nvPr/>
        </p:nvSpPr>
        <p:spPr>
          <a:xfrm>
            <a:off x="1481328" y="4343400"/>
            <a:ext cx="100584" cy="100584"/>
          </a:xfrm>
          <a:prstGeom prst="ellipse">
            <a:avLst/>
          </a:prstGeom>
          <a:solidFill>
            <a:srgbClr val="FFFFFF">
              <a:alpha val="35000"/>
            </a:srgbClr>
          </a:solidFill>
          <a:ln/>
        </p:spPr>
      </p:sp>
      <p:sp>
        <p:nvSpPr>
          <p:cNvPr id="13" name="Shape 10"/>
          <p:cNvSpPr/>
          <p:nvPr/>
        </p:nvSpPr>
        <p:spPr>
          <a:xfrm>
            <a:off x="5989320" y="1143000"/>
            <a:ext cx="2651760" cy="2651760"/>
          </a:xfrm>
          <a:prstGeom prst="ellipse">
            <a:avLst/>
          </a:prstGeom>
          <a:solidFill>
            <a:srgbClr val="FFFFFF">
              <a:alpha val="12000"/>
            </a:srgbClr>
          </a:solidFill>
          <a:ln/>
        </p:spPr>
      </p:sp>
      <p:sp>
        <p:nvSpPr>
          <p:cNvPr id="14" name="Shape 11"/>
          <p:cNvSpPr/>
          <p:nvPr/>
        </p:nvSpPr>
        <p:spPr>
          <a:xfrm>
            <a:off x="6355080" y="1508760"/>
            <a:ext cx="1920240" cy="1920240"/>
          </a:xfrm>
          <a:prstGeom prst="ellipse">
            <a:avLst/>
          </a:prstGeom>
          <a:solidFill>
            <a:srgbClr val="FFFFFF">
              <a:alpha val="20000"/>
            </a:srgbClr>
          </a:solidFill>
          <a:ln/>
        </p:spPr>
      </p:sp>
      <p:sp>
        <p:nvSpPr>
          <p:cNvPr id="15" name="Shape 12"/>
          <p:cNvSpPr/>
          <p:nvPr/>
        </p:nvSpPr>
        <p:spPr>
          <a:xfrm>
            <a:off x="6675120" y="1828800"/>
            <a:ext cx="1280160" cy="1280160"/>
          </a:xfrm>
          <a:prstGeom prst="ellipse">
            <a:avLst/>
          </a:prstGeom>
          <a:solidFill>
            <a:srgbClr val="FFFFFF"/>
          </a:solidFill>
          <a:ln/>
        </p:spPr>
      </p:sp>
      <p:pic>
        <p:nvPicPr>
          <p:cNvPr id="16" name="Image 0" descr="preencoded.png">    </p:cNvPr>
          <p:cNvPicPr>
            <a:picLocks noChangeAspect="1"/>
          </p:cNvPicPr>
          <p:nvPr/>
        </p:nvPicPr>
        <p:blipFill>
          <a:blip r:embed="rId2"/>
          <a:stretch>
            <a:fillRect/>
          </a:stretch>
        </p:blipFill>
        <p:spPr>
          <a:xfrm>
            <a:off x="6995160" y="2148840"/>
            <a:ext cx="640080" cy="640080"/>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WHY IT MATTERS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Demand is outpacing traditional collection</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Four pressures converge on national statistical offices at the same time.</a:t>
            </a:r>
            <a:endParaRPr lang="en-US" sz="1150" dirty="0"/>
          </a:p>
        </p:txBody>
      </p:sp>
      <p:sp>
        <p:nvSpPr>
          <p:cNvPr id="9" name="Shape 7"/>
          <p:cNvSpPr/>
          <p:nvPr/>
        </p:nvSpPr>
        <p:spPr>
          <a:xfrm>
            <a:off x="7662672" y="329184"/>
            <a:ext cx="100584" cy="100584"/>
          </a:xfrm>
          <a:prstGeom prst="ellipse">
            <a:avLst/>
          </a:prstGeom>
          <a:solidFill>
            <a:srgbClr val="00A86A"/>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8" name="Shape 15"/>
          <p:cNvSpPr/>
          <p:nvPr/>
        </p:nvSpPr>
        <p:spPr>
          <a:xfrm>
            <a:off x="457200" y="1371600"/>
            <a:ext cx="2651760" cy="3154680"/>
          </a:xfrm>
          <a:prstGeom prst="roundRect">
            <a:avLst>
              <a:gd name="adj" fmla="val 2759"/>
            </a:avLst>
          </a:prstGeom>
          <a:solidFill>
            <a:srgbClr val="00553A"/>
          </a:solidFill>
          <a:ln/>
        </p:spPr>
      </p:sp>
      <p:sp>
        <p:nvSpPr>
          <p:cNvPr id="19" name="Text 16"/>
          <p:cNvSpPr txBox="1"/>
          <p:nvPr/>
        </p:nvSpPr>
        <p:spPr>
          <a:xfrm>
            <a:off x="685800" y="1554480"/>
            <a:ext cx="2194560" cy="201168"/>
          </a:xfrm>
          <a:prstGeom prst="rect">
            <a:avLst/>
          </a:prstGeom>
          <a:noFill/>
          <a:ln/>
        </p:spPr>
        <p:txBody>
          <a:bodyPr wrap="square" lIns="0" tIns="0" rIns="0" bIns="0" rtlCol="0" anchor="t"/>
          <a:lstStyle/>
          <a:p>
            <a:pPr indent="0" marL="0">
              <a:buNone/>
            </a:pPr>
            <a:r>
              <a:rPr lang="en-US" sz="950" b="1" spc="200" kern="0" dirty="0">
                <a:solidFill>
                  <a:srgbClr val="F5C242"/>
                </a:solidFill>
                <a:latin typeface="Calibri" pitchFamily="34" charset="0"/>
                <a:ea typeface="Calibri" pitchFamily="34" charset="-122"/>
                <a:cs typeface="Calibri" pitchFamily="34" charset="-120"/>
              </a:rPr>
              <a:t>THE DEMAND SIDE</a:t>
            </a:r>
            <a:endParaRPr lang="en-US" sz="950" dirty="0"/>
          </a:p>
        </p:txBody>
      </p:sp>
      <p:sp>
        <p:nvSpPr>
          <p:cNvPr id="20" name="Text 17"/>
          <p:cNvSpPr txBox="1"/>
          <p:nvPr/>
        </p:nvSpPr>
        <p:spPr>
          <a:xfrm>
            <a:off x="685800" y="1810512"/>
            <a:ext cx="2194560" cy="7315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231</a:t>
            </a:r>
            <a:endParaRPr lang="en-US" sz="4400" dirty="0"/>
          </a:p>
        </p:txBody>
      </p:sp>
      <p:sp>
        <p:nvSpPr>
          <p:cNvPr id="21" name="Text 18"/>
          <p:cNvSpPr txBox="1"/>
          <p:nvPr/>
        </p:nvSpPr>
        <p:spPr>
          <a:xfrm>
            <a:off x="685800" y="2560320"/>
            <a:ext cx="2240280" cy="868680"/>
          </a:xfrm>
          <a:prstGeom prst="rect">
            <a:avLst/>
          </a:prstGeom>
          <a:noFill/>
          <a:ln/>
        </p:spPr>
        <p:txBody>
          <a:bodyPr wrap="square" lIns="0" tIns="0" rIns="0" bIns="0" rtlCol="0" anchor="t"/>
          <a:lstStyle/>
          <a:p>
            <a:pPr indent="0" marL="0">
              <a:buNone/>
            </a:pPr>
            <a:r>
              <a:rPr lang="en-US" sz="1100" dirty="0">
                <a:solidFill>
                  <a:srgbClr val="E6F6EE"/>
                </a:solidFill>
                <a:latin typeface="Calibri" pitchFamily="34" charset="0"/>
                <a:ea typeface="Calibri" pitchFamily="34" charset="-122"/>
                <a:cs typeface="Calibri" pitchFamily="34" charset="-120"/>
              </a:rPr>
              <a:t>unique indicators in the global SDG framework — most to be disaggregated by sex, age, location and income</a:t>
            </a:r>
            <a:endParaRPr lang="en-US" sz="1100" dirty="0"/>
          </a:p>
        </p:txBody>
      </p:sp>
      <p:sp>
        <p:nvSpPr>
          <p:cNvPr id="22" name="Text 19"/>
          <p:cNvSpPr txBox="1"/>
          <p:nvPr/>
        </p:nvSpPr>
        <p:spPr>
          <a:xfrm>
            <a:off x="685800" y="3520440"/>
            <a:ext cx="2240280" cy="868680"/>
          </a:xfrm>
          <a:prstGeom prst="rect">
            <a:avLst/>
          </a:prstGeom>
          <a:noFill/>
          <a:ln/>
        </p:spPr>
        <p:txBody>
          <a:bodyPr wrap="square" lIns="0" tIns="0" rIns="0" bIns="0" rtlCol="0" anchor="t"/>
          <a:lstStyle/>
          <a:p>
            <a:pPr indent="0" marL="0">
              <a:buNone/>
            </a:pPr>
            <a:r>
              <a:rPr lang="en-US" sz="1100" i="1" dirty="0">
                <a:solidFill>
                  <a:srgbClr val="F5C242"/>
                </a:solidFill>
                <a:latin typeface="Calibri" pitchFamily="34" charset="0"/>
                <a:ea typeface="Calibri" pitchFamily="34" charset="-122"/>
                <a:cs typeface="Calibri" pitchFamily="34" charset="-120"/>
              </a:rPr>
              <a:t>"Leave no one behind" means seeing small areas and small groups that national samples cannot reach.</a:t>
            </a:r>
            <a:endParaRPr lang="en-US" sz="1100" dirty="0"/>
          </a:p>
        </p:txBody>
      </p:sp>
      <p:sp>
        <p:nvSpPr>
          <p:cNvPr id="23" name="Shape 20"/>
          <p:cNvSpPr/>
          <p:nvPr/>
        </p:nvSpPr>
        <p:spPr>
          <a:xfrm>
            <a:off x="3337560" y="1371600"/>
            <a:ext cx="2560320" cy="1481328"/>
          </a:xfrm>
          <a:prstGeom prst="roundRect">
            <a:avLst>
              <a:gd name="adj" fmla="val 4938"/>
            </a:avLst>
          </a:prstGeom>
          <a:solidFill>
            <a:srgbClr val="F4F7F5"/>
          </a:solidFill>
          <a:ln w="9525">
            <a:solidFill>
              <a:srgbClr val="D5DED9"/>
            </a:solidFill>
            <a:prstDash val="solid"/>
          </a:ln>
        </p:spPr>
      </p:sp>
      <p:sp>
        <p:nvSpPr>
          <p:cNvPr id="24" name="Shape 21"/>
          <p:cNvSpPr/>
          <p:nvPr/>
        </p:nvSpPr>
        <p:spPr>
          <a:xfrm>
            <a:off x="3502152" y="1536192"/>
            <a:ext cx="457200" cy="457200"/>
          </a:xfrm>
          <a:prstGeom prst="ellipse">
            <a:avLst/>
          </a:prstGeom>
          <a:solidFill>
            <a:srgbClr val="00A86A">
              <a:alpha val="22000"/>
            </a:srgbClr>
          </a:solidFill>
          <a:ln/>
        </p:spPr>
      </p:sp>
      <p:pic>
        <p:nvPicPr>
          <p:cNvPr id="25" name="Image 0" descr="preencoded.png">    </p:cNvPr>
          <p:cNvPicPr>
            <a:picLocks noChangeAspect="1"/>
          </p:cNvPicPr>
          <p:nvPr/>
        </p:nvPicPr>
        <p:blipFill>
          <a:blip r:embed="rId1"/>
          <a:stretch>
            <a:fillRect/>
          </a:stretch>
        </p:blipFill>
        <p:spPr>
          <a:xfrm>
            <a:off x="3616452" y="1650492"/>
            <a:ext cx="228600" cy="228600"/>
          </a:xfrm>
          <a:prstGeom prst="rect">
            <a:avLst/>
          </a:prstGeom>
        </p:spPr>
      </p:pic>
      <p:sp>
        <p:nvSpPr>
          <p:cNvPr id="26" name="Text 22"/>
          <p:cNvSpPr txBox="1"/>
          <p:nvPr/>
        </p:nvSpPr>
        <p:spPr>
          <a:xfrm>
            <a:off x="4069080" y="1609344"/>
            <a:ext cx="1737360" cy="292608"/>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Cost</a:t>
            </a:r>
            <a:endParaRPr lang="en-US" sz="1400" dirty="0"/>
          </a:p>
        </p:txBody>
      </p:sp>
      <p:sp>
        <p:nvSpPr>
          <p:cNvPr id="27" name="Text 23"/>
          <p:cNvSpPr txBox="1"/>
          <p:nvPr/>
        </p:nvSpPr>
        <p:spPr>
          <a:xfrm>
            <a:off x="3502152" y="2103120"/>
            <a:ext cx="224028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Fieldwork, interviewers and follow-up absorb budgets that are flat or shrinking.</a:t>
            </a:r>
            <a:endParaRPr lang="en-US" sz="1050" dirty="0"/>
          </a:p>
        </p:txBody>
      </p:sp>
      <p:sp>
        <p:nvSpPr>
          <p:cNvPr id="28" name="Shape 24"/>
          <p:cNvSpPr/>
          <p:nvPr/>
        </p:nvSpPr>
        <p:spPr>
          <a:xfrm>
            <a:off x="6035040" y="1371600"/>
            <a:ext cx="2560320" cy="1481328"/>
          </a:xfrm>
          <a:prstGeom prst="roundRect">
            <a:avLst>
              <a:gd name="adj" fmla="val 4938"/>
            </a:avLst>
          </a:prstGeom>
          <a:solidFill>
            <a:srgbClr val="F4F7F5"/>
          </a:solidFill>
          <a:ln w="9525">
            <a:solidFill>
              <a:srgbClr val="D5DED9"/>
            </a:solidFill>
            <a:prstDash val="solid"/>
          </a:ln>
        </p:spPr>
      </p:sp>
      <p:sp>
        <p:nvSpPr>
          <p:cNvPr id="29" name="Shape 25"/>
          <p:cNvSpPr/>
          <p:nvPr/>
        </p:nvSpPr>
        <p:spPr>
          <a:xfrm>
            <a:off x="6199632" y="1536192"/>
            <a:ext cx="457200" cy="457200"/>
          </a:xfrm>
          <a:prstGeom prst="ellipse">
            <a:avLst/>
          </a:prstGeom>
          <a:solidFill>
            <a:srgbClr val="00A86A">
              <a:alpha val="22000"/>
            </a:srgbClr>
          </a:solidFill>
          <a:ln/>
        </p:spPr>
      </p:sp>
      <p:pic>
        <p:nvPicPr>
          <p:cNvPr id="30" name="Image 1" descr="preencoded.png">    </p:cNvPr>
          <p:cNvPicPr>
            <a:picLocks noChangeAspect="1"/>
          </p:cNvPicPr>
          <p:nvPr/>
        </p:nvPicPr>
        <p:blipFill>
          <a:blip r:embed="rId2"/>
          <a:stretch>
            <a:fillRect/>
          </a:stretch>
        </p:blipFill>
        <p:spPr>
          <a:xfrm>
            <a:off x="6313932" y="1650492"/>
            <a:ext cx="228600" cy="228600"/>
          </a:xfrm>
          <a:prstGeom prst="rect">
            <a:avLst/>
          </a:prstGeom>
        </p:spPr>
      </p:pic>
      <p:sp>
        <p:nvSpPr>
          <p:cNvPr id="31" name="Text 26"/>
          <p:cNvSpPr txBox="1"/>
          <p:nvPr/>
        </p:nvSpPr>
        <p:spPr>
          <a:xfrm>
            <a:off x="6766560" y="1609344"/>
            <a:ext cx="1737360" cy="292608"/>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Timeliness</a:t>
            </a:r>
            <a:endParaRPr lang="en-US" sz="1400" dirty="0"/>
          </a:p>
        </p:txBody>
      </p:sp>
      <p:sp>
        <p:nvSpPr>
          <p:cNvPr id="32" name="Text 27"/>
          <p:cNvSpPr txBox="1"/>
          <p:nvPr/>
        </p:nvSpPr>
        <p:spPr>
          <a:xfrm>
            <a:off x="6199632" y="2103120"/>
            <a:ext cx="224028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Censuses every ~10 years, surveys every 3–5: the decision is often taken before the figure exists.</a:t>
            </a:r>
            <a:endParaRPr lang="en-US" sz="1050" dirty="0"/>
          </a:p>
        </p:txBody>
      </p:sp>
      <p:sp>
        <p:nvSpPr>
          <p:cNvPr id="33" name="Shape 28"/>
          <p:cNvSpPr/>
          <p:nvPr/>
        </p:nvSpPr>
        <p:spPr>
          <a:xfrm>
            <a:off x="3337560" y="2990088"/>
            <a:ext cx="2560320" cy="1481328"/>
          </a:xfrm>
          <a:prstGeom prst="roundRect">
            <a:avLst>
              <a:gd name="adj" fmla="val 4938"/>
            </a:avLst>
          </a:prstGeom>
          <a:solidFill>
            <a:srgbClr val="F4F7F5"/>
          </a:solidFill>
          <a:ln w="9525">
            <a:solidFill>
              <a:srgbClr val="D5DED9"/>
            </a:solidFill>
            <a:prstDash val="solid"/>
          </a:ln>
        </p:spPr>
      </p:sp>
      <p:sp>
        <p:nvSpPr>
          <p:cNvPr id="34" name="Shape 29"/>
          <p:cNvSpPr/>
          <p:nvPr/>
        </p:nvSpPr>
        <p:spPr>
          <a:xfrm>
            <a:off x="3502152" y="3154680"/>
            <a:ext cx="457200" cy="457200"/>
          </a:xfrm>
          <a:prstGeom prst="ellipse">
            <a:avLst/>
          </a:prstGeom>
          <a:solidFill>
            <a:srgbClr val="00A86A">
              <a:alpha val="22000"/>
            </a:srgbClr>
          </a:solidFill>
          <a:ln/>
        </p:spPr>
      </p:sp>
      <p:pic>
        <p:nvPicPr>
          <p:cNvPr id="35" name="Image 2" descr="preencoded.png">    </p:cNvPr>
          <p:cNvPicPr>
            <a:picLocks noChangeAspect="1"/>
          </p:cNvPicPr>
          <p:nvPr/>
        </p:nvPicPr>
        <p:blipFill>
          <a:blip r:embed="rId3"/>
          <a:stretch>
            <a:fillRect/>
          </a:stretch>
        </p:blipFill>
        <p:spPr>
          <a:xfrm>
            <a:off x="3616452" y="3268980"/>
            <a:ext cx="228600" cy="228600"/>
          </a:xfrm>
          <a:prstGeom prst="rect">
            <a:avLst/>
          </a:prstGeom>
        </p:spPr>
      </p:pic>
      <p:sp>
        <p:nvSpPr>
          <p:cNvPr id="36" name="Text 30"/>
          <p:cNvSpPr txBox="1"/>
          <p:nvPr/>
        </p:nvSpPr>
        <p:spPr>
          <a:xfrm>
            <a:off x="4069080" y="3227832"/>
            <a:ext cx="1737360" cy="292608"/>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Granularity</a:t>
            </a:r>
            <a:endParaRPr lang="en-US" sz="1400" dirty="0"/>
          </a:p>
        </p:txBody>
      </p:sp>
      <p:sp>
        <p:nvSpPr>
          <p:cNvPr id="37" name="Text 31"/>
          <p:cNvSpPr txBox="1"/>
          <p:nvPr/>
        </p:nvSpPr>
        <p:spPr>
          <a:xfrm>
            <a:off x="3502152" y="3721608"/>
            <a:ext cx="224028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Samples designed for national totals cannot speak reliably about a district, a week or a niche group.</a:t>
            </a:r>
            <a:endParaRPr lang="en-US" sz="1050" dirty="0"/>
          </a:p>
        </p:txBody>
      </p:sp>
      <p:sp>
        <p:nvSpPr>
          <p:cNvPr id="38" name="Shape 32"/>
          <p:cNvSpPr/>
          <p:nvPr/>
        </p:nvSpPr>
        <p:spPr>
          <a:xfrm>
            <a:off x="6035040" y="2990088"/>
            <a:ext cx="2560320" cy="1481328"/>
          </a:xfrm>
          <a:prstGeom prst="roundRect">
            <a:avLst>
              <a:gd name="adj" fmla="val 4938"/>
            </a:avLst>
          </a:prstGeom>
          <a:solidFill>
            <a:srgbClr val="F4F7F5"/>
          </a:solidFill>
          <a:ln w="9525">
            <a:solidFill>
              <a:srgbClr val="D5DED9"/>
            </a:solidFill>
            <a:prstDash val="solid"/>
          </a:ln>
        </p:spPr>
      </p:sp>
      <p:sp>
        <p:nvSpPr>
          <p:cNvPr id="39" name="Shape 33"/>
          <p:cNvSpPr/>
          <p:nvPr/>
        </p:nvSpPr>
        <p:spPr>
          <a:xfrm>
            <a:off x="6199632" y="3154680"/>
            <a:ext cx="457200" cy="457200"/>
          </a:xfrm>
          <a:prstGeom prst="ellipse">
            <a:avLst/>
          </a:prstGeom>
          <a:solidFill>
            <a:srgbClr val="00A86A">
              <a:alpha val="22000"/>
            </a:srgbClr>
          </a:solidFill>
          <a:ln/>
        </p:spPr>
      </p:sp>
      <p:pic>
        <p:nvPicPr>
          <p:cNvPr id="40" name="Image 3" descr="preencoded.png">    </p:cNvPr>
          <p:cNvPicPr>
            <a:picLocks noChangeAspect="1"/>
          </p:cNvPicPr>
          <p:nvPr/>
        </p:nvPicPr>
        <p:blipFill>
          <a:blip r:embed="rId4"/>
          <a:stretch>
            <a:fillRect/>
          </a:stretch>
        </p:blipFill>
        <p:spPr>
          <a:xfrm>
            <a:off x="6313932" y="3268980"/>
            <a:ext cx="228600" cy="228600"/>
          </a:xfrm>
          <a:prstGeom prst="rect">
            <a:avLst/>
          </a:prstGeom>
        </p:spPr>
      </p:pic>
      <p:sp>
        <p:nvSpPr>
          <p:cNvPr id="41" name="Text 34"/>
          <p:cNvSpPr txBox="1"/>
          <p:nvPr/>
        </p:nvSpPr>
        <p:spPr>
          <a:xfrm>
            <a:off x="6766560" y="3227832"/>
            <a:ext cx="1737360" cy="292608"/>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Fragility</a:t>
            </a:r>
            <a:endParaRPr lang="en-US" sz="1400" dirty="0"/>
          </a:p>
        </p:txBody>
      </p:sp>
      <p:sp>
        <p:nvSpPr>
          <p:cNvPr id="42" name="Text 35"/>
          <p:cNvSpPr txBox="1"/>
          <p:nvPr/>
        </p:nvSpPr>
        <p:spPr>
          <a:xfrm>
            <a:off x="6199632" y="3721608"/>
            <a:ext cx="224028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Crises — epidemics, floods, conflict — interrupt fieldwork precisely when information is most needed.</a:t>
            </a:r>
            <a:endParaRPr lang="en-US" sz="1050" dirty="0"/>
          </a:p>
        </p:txBody>
      </p:sp>
      <p:sp>
        <p:nvSpPr>
          <p:cNvPr id="43" name="Text 36"/>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UN Statistics Division, Global SDG Indicator Framework; typical census/survey cycles are indicative and vary by country.</a:t>
            </a:r>
            <a:endParaRPr lang="en-US" sz="8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WHY IT MATTERS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The mandate to innovate is already written down</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Principles, continental strategy and infrastructure all point the same way — with conditions.</a:t>
            </a:r>
            <a:endParaRPr lang="en-US" sz="1150" dirty="0"/>
          </a:p>
        </p:txBody>
      </p:sp>
      <p:sp>
        <p:nvSpPr>
          <p:cNvPr id="9" name="Shape 7"/>
          <p:cNvSpPr/>
          <p:nvPr/>
        </p:nvSpPr>
        <p:spPr>
          <a:xfrm>
            <a:off x="7662672" y="329184"/>
            <a:ext cx="100584" cy="100584"/>
          </a:xfrm>
          <a:prstGeom prst="ellipse">
            <a:avLst/>
          </a:prstGeom>
          <a:solidFill>
            <a:srgbClr val="00A86A"/>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8" name="Shape 15"/>
          <p:cNvSpPr/>
          <p:nvPr/>
        </p:nvSpPr>
        <p:spPr>
          <a:xfrm>
            <a:off x="822960" y="1847088"/>
            <a:ext cx="7498080" cy="0"/>
          </a:xfrm>
          <a:prstGeom prst="line">
            <a:avLst/>
          </a:prstGeom>
          <a:noFill/>
          <a:ln w="25400">
            <a:solidFill>
              <a:srgbClr val="00A86A"/>
            </a:solidFill>
            <a:prstDash val="solid"/>
          </a:ln>
        </p:spPr>
      </p:sp>
      <p:sp>
        <p:nvSpPr>
          <p:cNvPr id="19" name="Shape 16"/>
          <p:cNvSpPr/>
          <p:nvPr/>
        </p:nvSpPr>
        <p:spPr>
          <a:xfrm>
            <a:off x="713232" y="1737360"/>
            <a:ext cx="219456" cy="219456"/>
          </a:xfrm>
          <a:prstGeom prst="ellipse">
            <a:avLst/>
          </a:prstGeom>
          <a:solidFill>
            <a:srgbClr val="FFFFFF"/>
          </a:solidFill>
          <a:ln w="25400">
            <a:solidFill>
              <a:srgbClr val="00A86A"/>
            </a:solidFill>
            <a:prstDash val="solid"/>
          </a:ln>
        </p:spPr>
      </p:sp>
      <p:sp>
        <p:nvSpPr>
          <p:cNvPr id="20" name="Text 17"/>
          <p:cNvSpPr txBox="1"/>
          <p:nvPr/>
        </p:nvSpPr>
        <p:spPr>
          <a:xfrm>
            <a:off x="457200" y="1353312"/>
            <a:ext cx="1097280" cy="320040"/>
          </a:xfrm>
          <a:prstGeom prst="rect">
            <a:avLst/>
          </a:prstGeom>
          <a:noFill/>
          <a:ln/>
        </p:spPr>
        <p:txBody>
          <a:bodyPr wrap="square" lIns="0" tIns="0" rIns="0" bIns="0" rtlCol="0" anchor="t"/>
          <a:lstStyle/>
          <a:p>
            <a:pPr indent="0" marL="0">
              <a:buNone/>
            </a:pPr>
            <a:r>
              <a:rPr lang="en-US" sz="2000" b="1" dirty="0">
                <a:solidFill>
                  <a:srgbClr val="D49A00"/>
                </a:solidFill>
                <a:latin typeface="Calibri" pitchFamily="34" charset="0"/>
                <a:ea typeface="Calibri" pitchFamily="34" charset="-122"/>
                <a:cs typeface="Calibri" pitchFamily="34" charset="-120"/>
              </a:rPr>
              <a:t>2014</a:t>
            </a:r>
            <a:endParaRPr lang="en-US" sz="2000" dirty="0"/>
          </a:p>
        </p:txBody>
      </p:sp>
      <p:sp>
        <p:nvSpPr>
          <p:cNvPr id="21" name="Shape 18"/>
          <p:cNvSpPr/>
          <p:nvPr/>
        </p:nvSpPr>
        <p:spPr>
          <a:xfrm>
            <a:off x="457200" y="2148840"/>
            <a:ext cx="1938528" cy="1691640"/>
          </a:xfrm>
          <a:prstGeom prst="roundRect">
            <a:avLst>
              <a:gd name="adj" fmla="val 4324"/>
            </a:avLst>
          </a:prstGeom>
          <a:solidFill>
            <a:srgbClr val="F4F7F5"/>
          </a:solidFill>
          <a:ln w="9525">
            <a:solidFill>
              <a:srgbClr val="D5DED9"/>
            </a:solidFill>
            <a:prstDash val="solid"/>
          </a:ln>
        </p:spPr>
      </p:sp>
      <p:sp>
        <p:nvSpPr>
          <p:cNvPr id="22" name="Shape 19"/>
          <p:cNvSpPr/>
          <p:nvPr/>
        </p:nvSpPr>
        <p:spPr>
          <a:xfrm>
            <a:off x="594360" y="2286000"/>
            <a:ext cx="411480" cy="411480"/>
          </a:xfrm>
          <a:prstGeom prst="ellipse">
            <a:avLst/>
          </a:prstGeom>
          <a:solidFill>
            <a:srgbClr val="00704A">
              <a:alpha val="22000"/>
            </a:srgbClr>
          </a:solidFill>
          <a:ln/>
        </p:spPr>
      </p:sp>
      <p:pic>
        <p:nvPicPr>
          <p:cNvPr id="23" name="Image 0" descr="preencoded.png">    </p:cNvPr>
          <p:cNvPicPr>
            <a:picLocks noChangeAspect="1"/>
          </p:cNvPicPr>
          <p:nvPr/>
        </p:nvPicPr>
        <p:blipFill>
          <a:blip r:embed="rId1"/>
          <a:stretch>
            <a:fillRect/>
          </a:stretch>
        </p:blipFill>
        <p:spPr>
          <a:xfrm>
            <a:off x="697230" y="2388870"/>
            <a:ext cx="205740" cy="205740"/>
          </a:xfrm>
          <a:prstGeom prst="rect">
            <a:avLst/>
          </a:prstGeom>
        </p:spPr>
      </p:pic>
      <p:sp>
        <p:nvSpPr>
          <p:cNvPr id="24" name="Text 20"/>
          <p:cNvSpPr txBox="1"/>
          <p:nvPr/>
        </p:nvSpPr>
        <p:spPr>
          <a:xfrm>
            <a:off x="1097280" y="2286000"/>
            <a:ext cx="1234440" cy="411480"/>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UN Fundamental Principles</a:t>
            </a:r>
            <a:endParaRPr lang="en-US" sz="1200" dirty="0"/>
          </a:p>
        </p:txBody>
      </p:sp>
      <p:sp>
        <p:nvSpPr>
          <p:cNvPr id="25" name="Text 21"/>
          <p:cNvSpPr txBox="1"/>
          <p:nvPr/>
        </p:nvSpPr>
        <p:spPr>
          <a:xfrm>
            <a:off x="594360" y="2788920"/>
            <a:ext cx="1691640" cy="10058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Principle 5: data may come from all types of sources; choose on quality, timeliness, cost and respondent burden.</a:t>
            </a:r>
            <a:endParaRPr lang="en-US" sz="1050" dirty="0"/>
          </a:p>
        </p:txBody>
      </p:sp>
      <p:sp>
        <p:nvSpPr>
          <p:cNvPr id="26" name="Shape 22"/>
          <p:cNvSpPr/>
          <p:nvPr/>
        </p:nvSpPr>
        <p:spPr>
          <a:xfrm>
            <a:off x="2816352" y="1737360"/>
            <a:ext cx="219456" cy="219456"/>
          </a:xfrm>
          <a:prstGeom prst="ellipse">
            <a:avLst/>
          </a:prstGeom>
          <a:solidFill>
            <a:srgbClr val="FFFFFF"/>
          </a:solidFill>
          <a:ln w="25400">
            <a:solidFill>
              <a:srgbClr val="00A86A"/>
            </a:solidFill>
            <a:prstDash val="solid"/>
          </a:ln>
        </p:spPr>
      </p:sp>
      <p:sp>
        <p:nvSpPr>
          <p:cNvPr id="27" name="Text 23"/>
          <p:cNvSpPr txBox="1"/>
          <p:nvPr/>
        </p:nvSpPr>
        <p:spPr>
          <a:xfrm>
            <a:off x="2560320" y="1353312"/>
            <a:ext cx="1097280" cy="320040"/>
          </a:xfrm>
          <a:prstGeom prst="rect">
            <a:avLst/>
          </a:prstGeom>
          <a:noFill/>
          <a:ln/>
        </p:spPr>
        <p:txBody>
          <a:bodyPr wrap="square" lIns="0" tIns="0" rIns="0" bIns="0" rtlCol="0" anchor="t"/>
          <a:lstStyle/>
          <a:p>
            <a:pPr indent="0" marL="0">
              <a:buNone/>
            </a:pPr>
            <a:r>
              <a:rPr lang="en-US" sz="2000" b="1" dirty="0">
                <a:solidFill>
                  <a:srgbClr val="D49A00"/>
                </a:solidFill>
                <a:latin typeface="Calibri" pitchFamily="34" charset="0"/>
                <a:ea typeface="Calibri" pitchFamily="34" charset="-122"/>
                <a:cs typeface="Calibri" pitchFamily="34" charset="-120"/>
              </a:rPr>
              <a:t>2018</a:t>
            </a:r>
            <a:endParaRPr lang="en-US" sz="2000" dirty="0"/>
          </a:p>
        </p:txBody>
      </p:sp>
      <p:sp>
        <p:nvSpPr>
          <p:cNvPr id="28" name="Shape 24"/>
          <p:cNvSpPr/>
          <p:nvPr/>
        </p:nvSpPr>
        <p:spPr>
          <a:xfrm>
            <a:off x="2560320" y="2148840"/>
            <a:ext cx="1938528" cy="1691640"/>
          </a:xfrm>
          <a:prstGeom prst="roundRect">
            <a:avLst>
              <a:gd name="adj" fmla="val 4324"/>
            </a:avLst>
          </a:prstGeom>
          <a:solidFill>
            <a:srgbClr val="F4F7F5"/>
          </a:solidFill>
          <a:ln w="9525">
            <a:solidFill>
              <a:srgbClr val="D5DED9"/>
            </a:solidFill>
            <a:prstDash val="solid"/>
          </a:ln>
        </p:spPr>
      </p:sp>
      <p:sp>
        <p:nvSpPr>
          <p:cNvPr id="29" name="Shape 25"/>
          <p:cNvSpPr/>
          <p:nvPr/>
        </p:nvSpPr>
        <p:spPr>
          <a:xfrm>
            <a:off x="2697480" y="2286000"/>
            <a:ext cx="411480" cy="411480"/>
          </a:xfrm>
          <a:prstGeom prst="ellipse">
            <a:avLst/>
          </a:prstGeom>
          <a:solidFill>
            <a:srgbClr val="00704A">
              <a:alpha val="22000"/>
            </a:srgbClr>
          </a:solidFill>
          <a:ln/>
        </p:spPr>
      </p:sp>
      <p:pic>
        <p:nvPicPr>
          <p:cNvPr id="30" name="Image 1" descr="preencoded.png">    </p:cNvPr>
          <p:cNvPicPr>
            <a:picLocks noChangeAspect="1"/>
          </p:cNvPicPr>
          <p:nvPr/>
        </p:nvPicPr>
        <p:blipFill>
          <a:blip r:embed="rId2"/>
          <a:stretch>
            <a:fillRect/>
          </a:stretch>
        </p:blipFill>
        <p:spPr>
          <a:xfrm>
            <a:off x="2800350" y="2388870"/>
            <a:ext cx="205740" cy="205740"/>
          </a:xfrm>
          <a:prstGeom prst="rect">
            <a:avLst/>
          </a:prstGeom>
        </p:spPr>
      </p:pic>
      <p:sp>
        <p:nvSpPr>
          <p:cNvPr id="31" name="Text 26"/>
          <p:cNvSpPr txBox="1"/>
          <p:nvPr/>
        </p:nvSpPr>
        <p:spPr>
          <a:xfrm>
            <a:off x="3200400" y="2286000"/>
            <a:ext cx="1234440" cy="411480"/>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SHaSA II adopted</a:t>
            </a:r>
            <a:endParaRPr lang="en-US" sz="1200" dirty="0"/>
          </a:p>
        </p:txBody>
      </p:sp>
      <p:sp>
        <p:nvSpPr>
          <p:cNvPr id="32" name="Text 27"/>
          <p:cNvSpPr txBox="1"/>
          <p:nvPr/>
        </p:nvSpPr>
        <p:spPr>
          <a:xfrm>
            <a:off x="2697480" y="2788920"/>
            <a:ext cx="1691640" cy="10058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AU Executive Council adopts the continental strategy, run through 18 Specialized Technical Groups.</a:t>
            </a:r>
            <a:endParaRPr lang="en-US" sz="1050" dirty="0"/>
          </a:p>
        </p:txBody>
      </p:sp>
      <p:sp>
        <p:nvSpPr>
          <p:cNvPr id="33" name="Shape 28"/>
          <p:cNvSpPr/>
          <p:nvPr/>
        </p:nvSpPr>
        <p:spPr>
          <a:xfrm>
            <a:off x="4919472" y="1737360"/>
            <a:ext cx="219456" cy="219456"/>
          </a:xfrm>
          <a:prstGeom prst="ellipse">
            <a:avLst/>
          </a:prstGeom>
          <a:solidFill>
            <a:srgbClr val="FFFFFF"/>
          </a:solidFill>
          <a:ln w="25400">
            <a:solidFill>
              <a:srgbClr val="00A86A"/>
            </a:solidFill>
            <a:prstDash val="solid"/>
          </a:ln>
        </p:spPr>
      </p:sp>
      <p:sp>
        <p:nvSpPr>
          <p:cNvPr id="34" name="Text 29"/>
          <p:cNvSpPr txBox="1"/>
          <p:nvPr/>
        </p:nvSpPr>
        <p:spPr>
          <a:xfrm>
            <a:off x="4663440" y="1353312"/>
            <a:ext cx="1097280" cy="320040"/>
          </a:xfrm>
          <a:prstGeom prst="rect">
            <a:avLst/>
          </a:prstGeom>
          <a:noFill/>
          <a:ln/>
        </p:spPr>
        <p:txBody>
          <a:bodyPr wrap="square" lIns="0" tIns="0" rIns="0" bIns="0" rtlCol="0" anchor="t"/>
          <a:lstStyle/>
          <a:p>
            <a:pPr indent="0" marL="0">
              <a:buNone/>
            </a:pPr>
            <a:r>
              <a:rPr lang="en-US" sz="2000" b="1" dirty="0">
                <a:solidFill>
                  <a:srgbClr val="D49A00"/>
                </a:solidFill>
                <a:latin typeface="Calibri" pitchFamily="34" charset="0"/>
                <a:ea typeface="Calibri" pitchFamily="34" charset="-122"/>
                <a:cs typeface="Calibri" pitchFamily="34" charset="-120"/>
              </a:rPr>
              <a:t>2020</a:t>
            </a:r>
            <a:endParaRPr lang="en-US" sz="2000" dirty="0"/>
          </a:p>
        </p:txBody>
      </p:sp>
      <p:sp>
        <p:nvSpPr>
          <p:cNvPr id="35" name="Shape 30"/>
          <p:cNvSpPr/>
          <p:nvPr/>
        </p:nvSpPr>
        <p:spPr>
          <a:xfrm>
            <a:off x="4663440" y="2148840"/>
            <a:ext cx="1938528" cy="1691640"/>
          </a:xfrm>
          <a:prstGeom prst="roundRect">
            <a:avLst>
              <a:gd name="adj" fmla="val 4324"/>
            </a:avLst>
          </a:prstGeom>
          <a:solidFill>
            <a:srgbClr val="F4F7F5"/>
          </a:solidFill>
          <a:ln w="9525">
            <a:solidFill>
              <a:srgbClr val="D5DED9"/>
            </a:solidFill>
            <a:prstDash val="solid"/>
          </a:ln>
        </p:spPr>
      </p:sp>
      <p:sp>
        <p:nvSpPr>
          <p:cNvPr id="36" name="Shape 31"/>
          <p:cNvSpPr/>
          <p:nvPr/>
        </p:nvSpPr>
        <p:spPr>
          <a:xfrm>
            <a:off x="4800600" y="2286000"/>
            <a:ext cx="411480" cy="411480"/>
          </a:xfrm>
          <a:prstGeom prst="ellipse">
            <a:avLst/>
          </a:prstGeom>
          <a:solidFill>
            <a:srgbClr val="00704A">
              <a:alpha val="22000"/>
            </a:srgbClr>
          </a:solidFill>
          <a:ln/>
        </p:spPr>
      </p:sp>
      <p:pic>
        <p:nvPicPr>
          <p:cNvPr id="37" name="Image 2" descr="preencoded.png">    </p:cNvPr>
          <p:cNvPicPr>
            <a:picLocks noChangeAspect="1"/>
          </p:cNvPicPr>
          <p:nvPr/>
        </p:nvPicPr>
        <p:blipFill>
          <a:blip r:embed="rId3"/>
          <a:stretch>
            <a:fillRect/>
          </a:stretch>
        </p:blipFill>
        <p:spPr>
          <a:xfrm>
            <a:off x="4903470" y="2388870"/>
            <a:ext cx="205740" cy="205740"/>
          </a:xfrm>
          <a:prstGeom prst="rect">
            <a:avLst/>
          </a:prstGeom>
        </p:spPr>
      </p:pic>
      <p:sp>
        <p:nvSpPr>
          <p:cNvPr id="38" name="Text 32"/>
          <p:cNvSpPr txBox="1"/>
          <p:nvPr/>
        </p:nvSpPr>
        <p:spPr>
          <a:xfrm>
            <a:off x="5303520" y="2286000"/>
            <a:ext cx="1234440" cy="411480"/>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UN Big Data Hub, Kigali</a:t>
            </a:r>
            <a:endParaRPr lang="en-US" sz="1200" dirty="0"/>
          </a:p>
        </p:txBody>
      </p:sp>
      <p:sp>
        <p:nvSpPr>
          <p:cNvPr id="39" name="Text 33"/>
          <p:cNvSpPr txBox="1"/>
          <p:nvPr/>
        </p:nvSpPr>
        <p:spPr>
          <a:xfrm>
            <a:off x="4800600" y="2788920"/>
            <a:ext cx="1691640" cy="10058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Rwanda signs an MoU with the UN to host the Regional Hub for Big Data in Africa at NISR.</a:t>
            </a:r>
            <a:endParaRPr lang="en-US" sz="1050" dirty="0"/>
          </a:p>
        </p:txBody>
      </p:sp>
      <p:sp>
        <p:nvSpPr>
          <p:cNvPr id="40" name="Shape 34"/>
          <p:cNvSpPr/>
          <p:nvPr/>
        </p:nvSpPr>
        <p:spPr>
          <a:xfrm>
            <a:off x="7022592" y="1737360"/>
            <a:ext cx="219456" cy="219456"/>
          </a:xfrm>
          <a:prstGeom prst="ellipse">
            <a:avLst/>
          </a:prstGeom>
          <a:solidFill>
            <a:srgbClr val="FFFFFF"/>
          </a:solidFill>
          <a:ln w="25400">
            <a:solidFill>
              <a:srgbClr val="00A86A"/>
            </a:solidFill>
            <a:prstDash val="solid"/>
          </a:ln>
        </p:spPr>
      </p:sp>
      <p:sp>
        <p:nvSpPr>
          <p:cNvPr id="41" name="Text 35"/>
          <p:cNvSpPr txBox="1"/>
          <p:nvPr/>
        </p:nvSpPr>
        <p:spPr>
          <a:xfrm>
            <a:off x="6766560" y="1353312"/>
            <a:ext cx="1097280" cy="320040"/>
          </a:xfrm>
          <a:prstGeom prst="rect">
            <a:avLst/>
          </a:prstGeom>
          <a:noFill/>
          <a:ln/>
        </p:spPr>
        <p:txBody>
          <a:bodyPr wrap="square" lIns="0" tIns="0" rIns="0" bIns="0" rtlCol="0" anchor="t"/>
          <a:lstStyle/>
          <a:p>
            <a:pPr indent="0" marL="0">
              <a:buNone/>
            </a:pPr>
            <a:r>
              <a:rPr lang="en-US" sz="2000" b="1" dirty="0">
                <a:solidFill>
                  <a:srgbClr val="D49A00"/>
                </a:solidFill>
                <a:latin typeface="Calibri" pitchFamily="34" charset="0"/>
                <a:ea typeface="Calibri" pitchFamily="34" charset="-122"/>
                <a:cs typeface="Calibri" pitchFamily="34" charset="-120"/>
              </a:rPr>
              <a:t>2025</a:t>
            </a:r>
            <a:endParaRPr lang="en-US" sz="2000" dirty="0"/>
          </a:p>
        </p:txBody>
      </p:sp>
      <p:sp>
        <p:nvSpPr>
          <p:cNvPr id="42" name="Shape 36"/>
          <p:cNvSpPr/>
          <p:nvPr/>
        </p:nvSpPr>
        <p:spPr>
          <a:xfrm>
            <a:off x="6766560" y="2148840"/>
            <a:ext cx="1938528" cy="1691640"/>
          </a:xfrm>
          <a:prstGeom prst="roundRect">
            <a:avLst>
              <a:gd name="adj" fmla="val 4324"/>
            </a:avLst>
          </a:prstGeom>
          <a:solidFill>
            <a:srgbClr val="F4F7F5"/>
          </a:solidFill>
          <a:ln w="9525">
            <a:solidFill>
              <a:srgbClr val="D5DED9"/>
            </a:solidFill>
            <a:prstDash val="solid"/>
          </a:ln>
        </p:spPr>
      </p:sp>
      <p:sp>
        <p:nvSpPr>
          <p:cNvPr id="43" name="Shape 37"/>
          <p:cNvSpPr/>
          <p:nvPr/>
        </p:nvSpPr>
        <p:spPr>
          <a:xfrm>
            <a:off x="6903720" y="2286000"/>
            <a:ext cx="411480" cy="411480"/>
          </a:xfrm>
          <a:prstGeom prst="ellipse">
            <a:avLst/>
          </a:prstGeom>
          <a:solidFill>
            <a:srgbClr val="00704A">
              <a:alpha val="22000"/>
            </a:srgbClr>
          </a:solidFill>
          <a:ln/>
        </p:spPr>
      </p:sp>
      <p:pic>
        <p:nvPicPr>
          <p:cNvPr id="44" name="Image 3" descr="preencoded.png">    </p:cNvPr>
          <p:cNvPicPr>
            <a:picLocks noChangeAspect="1"/>
          </p:cNvPicPr>
          <p:nvPr/>
        </p:nvPicPr>
        <p:blipFill>
          <a:blip r:embed="rId4"/>
          <a:stretch>
            <a:fillRect/>
          </a:stretch>
        </p:blipFill>
        <p:spPr>
          <a:xfrm>
            <a:off x="7006590" y="2388870"/>
            <a:ext cx="205740" cy="205740"/>
          </a:xfrm>
          <a:prstGeom prst="rect">
            <a:avLst/>
          </a:prstGeom>
        </p:spPr>
      </p:pic>
      <p:sp>
        <p:nvSpPr>
          <p:cNvPr id="45" name="Text 38"/>
          <p:cNvSpPr txBox="1"/>
          <p:nvPr/>
        </p:nvSpPr>
        <p:spPr>
          <a:xfrm>
            <a:off x="7406640" y="2286000"/>
            <a:ext cx="1234440" cy="411480"/>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STG17 Action Plan</a:t>
            </a:r>
            <a:endParaRPr lang="en-US" sz="1200" dirty="0"/>
          </a:p>
        </p:txBody>
      </p:sp>
      <p:sp>
        <p:nvSpPr>
          <p:cNvPr id="46" name="Text 39"/>
          <p:cNvSpPr txBox="1"/>
          <p:nvPr/>
        </p:nvSpPr>
        <p:spPr>
          <a:xfrm>
            <a:off x="6903720" y="2788920"/>
            <a:ext cx="1691640" cy="10058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First Annual Meeting (Kigali): Bureau, ToR and Action Plan 2025–2030 on big data, open data and AI.</a:t>
            </a:r>
            <a:endParaRPr lang="en-US" sz="1050" dirty="0"/>
          </a:p>
        </p:txBody>
      </p:sp>
      <p:sp>
        <p:nvSpPr>
          <p:cNvPr id="47" name="Shape 40"/>
          <p:cNvSpPr/>
          <p:nvPr/>
        </p:nvSpPr>
        <p:spPr>
          <a:xfrm>
            <a:off x="457200" y="4005072"/>
            <a:ext cx="8229600" cy="530352"/>
          </a:xfrm>
          <a:prstGeom prst="roundRect">
            <a:avLst>
              <a:gd name="adj" fmla="val 10345"/>
            </a:avLst>
          </a:prstGeom>
          <a:solidFill>
            <a:srgbClr val="00704A">
              <a:alpha val="13000"/>
            </a:srgbClr>
          </a:solidFill>
          <a:ln w="12700">
            <a:solidFill>
              <a:srgbClr val="00704A"/>
            </a:solidFill>
            <a:prstDash val="solid"/>
          </a:ln>
        </p:spPr>
      </p:sp>
      <p:pic>
        <p:nvPicPr>
          <p:cNvPr id="48" name="Image 4" descr="preencoded.png">    </p:cNvPr>
          <p:cNvPicPr>
            <a:picLocks noChangeAspect="1"/>
          </p:cNvPicPr>
          <p:nvPr/>
        </p:nvPicPr>
        <p:blipFill>
          <a:blip r:embed="rId5"/>
          <a:stretch>
            <a:fillRect/>
          </a:stretch>
        </p:blipFill>
        <p:spPr>
          <a:xfrm>
            <a:off x="585216" y="4133088"/>
            <a:ext cx="274320" cy="274320"/>
          </a:xfrm>
          <a:prstGeom prst="rect">
            <a:avLst/>
          </a:prstGeom>
        </p:spPr>
      </p:pic>
      <p:sp>
        <p:nvSpPr>
          <p:cNvPr id="49" name="Text 41"/>
          <p:cNvSpPr txBox="1"/>
          <p:nvPr/>
        </p:nvSpPr>
        <p:spPr>
          <a:xfrm>
            <a:off x="987552" y="4059936"/>
            <a:ext cx="7571232" cy="420624"/>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The common condition: innovation is welcome only if quality, confidentiality and professional independence are preserved.</a:t>
            </a:r>
            <a:endParaRPr lang="en-US" sz="1150" dirty="0"/>
          </a:p>
        </p:txBody>
      </p:sp>
      <p:sp>
        <p:nvSpPr>
          <p:cNvPr id="50" name="Text 42"/>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UNGA A/RES/68/261 (2014); STG17 workshop concept note (2026); UN-CEBD, Regional Hub for Big Data in Africa (unstats.un.org/bigdata).</a:t>
            </a:r>
            <a:endParaRPr lang="en-US" sz="8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WHY IT MATTERS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Designed data versus found data</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Neither is superior. They fail in opposite directions — which is exactly why they combine well.</a:t>
            </a:r>
            <a:endParaRPr lang="en-US" sz="1150" dirty="0"/>
          </a:p>
        </p:txBody>
      </p:sp>
      <p:sp>
        <p:nvSpPr>
          <p:cNvPr id="9" name="Shape 7"/>
          <p:cNvSpPr/>
          <p:nvPr/>
        </p:nvSpPr>
        <p:spPr>
          <a:xfrm>
            <a:off x="7662672" y="329184"/>
            <a:ext cx="100584" cy="100584"/>
          </a:xfrm>
          <a:prstGeom prst="ellipse">
            <a:avLst/>
          </a:prstGeom>
          <a:solidFill>
            <a:srgbClr val="00A86A"/>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8" name="Shape 15"/>
          <p:cNvSpPr/>
          <p:nvPr/>
        </p:nvSpPr>
        <p:spPr>
          <a:xfrm>
            <a:off x="2331720" y="1353312"/>
            <a:ext cx="329184" cy="329184"/>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2414016" y="1435608"/>
            <a:ext cx="164592" cy="164592"/>
          </a:xfrm>
          <a:prstGeom prst="rect">
            <a:avLst/>
          </a:prstGeom>
        </p:spPr>
      </p:pic>
      <p:sp>
        <p:nvSpPr>
          <p:cNvPr id="20" name="Text 16"/>
          <p:cNvSpPr txBox="1"/>
          <p:nvPr/>
        </p:nvSpPr>
        <p:spPr>
          <a:xfrm>
            <a:off x="2743200" y="1371600"/>
            <a:ext cx="2468880" cy="292608"/>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Traditional (designed)</a:t>
            </a:r>
            <a:endParaRPr lang="en-US" sz="1300" dirty="0"/>
          </a:p>
        </p:txBody>
      </p:sp>
      <p:sp>
        <p:nvSpPr>
          <p:cNvPr id="21" name="Shape 17"/>
          <p:cNvSpPr/>
          <p:nvPr/>
        </p:nvSpPr>
        <p:spPr>
          <a:xfrm>
            <a:off x="5440680" y="1353312"/>
            <a:ext cx="329184" cy="329184"/>
          </a:xfrm>
          <a:prstGeom prst="ellipse">
            <a:avLst/>
          </a:prstGeom>
          <a:solidFill>
            <a:srgbClr val="D49A00">
              <a:alpha val="22000"/>
            </a:srgbClr>
          </a:solidFill>
          <a:ln/>
        </p:spPr>
      </p:sp>
      <p:pic>
        <p:nvPicPr>
          <p:cNvPr id="22" name="Image 1" descr="preencoded.png">    </p:cNvPr>
          <p:cNvPicPr>
            <a:picLocks noChangeAspect="1"/>
          </p:cNvPicPr>
          <p:nvPr/>
        </p:nvPicPr>
        <p:blipFill>
          <a:blip r:embed="rId2"/>
          <a:stretch>
            <a:fillRect/>
          </a:stretch>
        </p:blipFill>
        <p:spPr>
          <a:xfrm>
            <a:off x="5522976" y="1435608"/>
            <a:ext cx="164592" cy="164592"/>
          </a:xfrm>
          <a:prstGeom prst="rect">
            <a:avLst/>
          </a:prstGeom>
        </p:spPr>
      </p:pic>
      <p:sp>
        <p:nvSpPr>
          <p:cNvPr id="23" name="Text 18"/>
          <p:cNvSpPr txBox="1"/>
          <p:nvPr/>
        </p:nvSpPr>
        <p:spPr>
          <a:xfrm>
            <a:off x="5852160" y="1371600"/>
            <a:ext cx="2468880" cy="292608"/>
          </a:xfrm>
          <a:prstGeom prst="rect">
            <a:avLst/>
          </a:prstGeom>
          <a:noFill/>
          <a:ln/>
        </p:spPr>
        <p:txBody>
          <a:bodyPr wrap="square" lIns="0" tIns="0" rIns="0" bIns="0" rtlCol="0" anchor="ctr"/>
          <a:lstStyle/>
          <a:p>
            <a:pPr indent="0" marL="0">
              <a:buNone/>
            </a:pPr>
            <a:r>
              <a:rPr lang="en-US" sz="1300" b="1" dirty="0">
                <a:solidFill>
                  <a:srgbClr val="D49A00"/>
                </a:solidFill>
                <a:latin typeface="Calibri" pitchFamily="34" charset="0"/>
                <a:ea typeface="Calibri" pitchFamily="34" charset="-122"/>
                <a:cs typeface="Calibri" pitchFamily="34" charset="-120"/>
              </a:rPr>
              <a:t>Non-traditional (found)</a:t>
            </a:r>
            <a:endParaRPr lang="en-US" sz="1300" dirty="0"/>
          </a:p>
        </p:txBody>
      </p:sp>
      <p:sp>
        <p:nvSpPr>
          <p:cNvPr id="24" name="Shape 19"/>
          <p:cNvSpPr/>
          <p:nvPr/>
        </p:nvSpPr>
        <p:spPr>
          <a:xfrm>
            <a:off x="457200" y="1773936"/>
            <a:ext cx="8229600" cy="310896"/>
          </a:xfrm>
          <a:prstGeom prst="roundRect">
            <a:avLst>
              <a:gd name="adj" fmla="val 14706"/>
            </a:avLst>
          </a:prstGeom>
          <a:solidFill>
            <a:srgbClr val="F4F7F5"/>
          </a:solidFill>
          <a:ln w="6350">
            <a:solidFill>
              <a:srgbClr val="D5DED9"/>
            </a:solidFill>
            <a:prstDash val="solid"/>
          </a:ln>
        </p:spPr>
      </p:sp>
      <p:sp>
        <p:nvSpPr>
          <p:cNvPr id="25" name="Text 20"/>
          <p:cNvSpPr txBox="1"/>
          <p:nvPr/>
        </p:nvSpPr>
        <p:spPr>
          <a:xfrm>
            <a:off x="594360" y="1773936"/>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Origin</a:t>
            </a:r>
            <a:endParaRPr lang="en-US" sz="1100" dirty="0"/>
          </a:p>
        </p:txBody>
      </p:sp>
      <p:sp>
        <p:nvSpPr>
          <p:cNvPr id="26" name="Text 21"/>
          <p:cNvSpPr txBox="1"/>
          <p:nvPr/>
        </p:nvSpPr>
        <p:spPr>
          <a:xfrm>
            <a:off x="2331720" y="1773936"/>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Designed for measurement</a:t>
            </a:r>
            <a:endParaRPr lang="en-US" sz="1100" dirty="0"/>
          </a:p>
        </p:txBody>
      </p:sp>
      <p:sp>
        <p:nvSpPr>
          <p:cNvPr id="27" name="Text 22"/>
          <p:cNvSpPr txBox="1"/>
          <p:nvPr/>
        </p:nvSpPr>
        <p:spPr>
          <a:xfrm>
            <a:off x="5440680" y="1773936"/>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By-product of another activity</a:t>
            </a:r>
            <a:endParaRPr lang="en-US" sz="1100" dirty="0"/>
          </a:p>
        </p:txBody>
      </p:sp>
      <p:sp>
        <p:nvSpPr>
          <p:cNvPr id="28" name="Shape 23"/>
          <p:cNvSpPr/>
          <p:nvPr/>
        </p:nvSpPr>
        <p:spPr>
          <a:xfrm>
            <a:off x="457200" y="2130552"/>
            <a:ext cx="8229600" cy="310896"/>
          </a:xfrm>
          <a:prstGeom prst="roundRect">
            <a:avLst>
              <a:gd name="adj" fmla="val 14706"/>
            </a:avLst>
          </a:prstGeom>
          <a:solidFill>
            <a:srgbClr val="FFFFFF"/>
          </a:solidFill>
          <a:ln w="6350">
            <a:solidFill>
              <a:srgbClr val="D5DED9"/>
            </a:solidFill>
            <a:prstDash val="solid"/>
          </a:ln>
        </p:spPr>
      </p:sp>
      <p:sp>
        <p:nvSpPr>
          <p:cNvPr id="29" name="Text 24"/>
          <p:cNvSpPr txBox="1"/>
          <p:nvPr/>
        </p:nvSpPr>
        <p:spPr>
          <a:xfrm>
            <a:off x="594360" y="2130552"/>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Concepts</a:t>
            </a:r>
            <a:endParaRPr lang="en-US" sz="1100" dirty="0"/>
          </a:p>
        </p:txBody>
      </p:sp>
      <p:sp>
        <p:nvSpPr>
          <p:cNvPr id="30" name="Text 25"/>
          <p:cNvSpPr txBox="1"/>
          <p:nvPr/>
        </p:nvSpPr>
        <p:spPr>
          <a:xfrm>
            <a:off x="2331720" y="2130552"/>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Defined by the statistician</a:t>
            </a:r>
            <a:endParaRPr lang="en-US" sz="1100" dirty="0"/>
          </a:p>
        </p:txBody>
      </p:sp>
      <p:sp>
        <p:nvSpPr>
          <p:cNvPr id="31" name="Text 26"/>
          <p:cNvSpPr txBox="1"/>
          <p:nvPr/>
        </p:nvSpPr>
        <p:spPr>
          <a:xfrm>
            <a:off x="5440680" y="2130552"/>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Defined by the data producer</a:t>
            </a:r>
            <a:endParaRPr lang="en-US" sz="1100" dirty="0"/>
          </a:p>
        </p:txBody>
      </p:sp>
      <p:sp>
        <p:nvSpPr>
          <p:cNvPr id="32" name="Shape 27"/>
          <p:cNvSpPr/>
          <p:nvPr/>
        </p:nvSpPr>
        <p:spPr>
          <a:xfrm>
            <a:off x="457200" y="2487168"/>
            <a:ext cx="8229600" cy="310896"/>
          </a:xfrm>
          <a:prstGeom prst="roundRect">
            <a:avLst>
              <a:gd name="adj" fmla="val 14706"/>
            </a:avLst>
          </a:prstGeom>
          <a:solidFill>
            <a:srgbClr val="F4F7F5"/>
          </a:solidFill>
          <a:ln w="6350">
            <a:solidFill>
              <a:srgbClr val="D5DED9"/>
            </a:solidFill>
            <a:prstDash val="solid"/>
          </a:ln>
        </p:spPr>
      </p:sp>
      <p:sp>
        <p:nvSpPr>
          <p:cNvPr id="33" name="Text 28"/>
          <p:cNvSpPr txBox="1"/>
          <p:nvPr/>
        </p:nvSpPr>
        <p:spPr>
          <a:xfrm>
            <a:off x="594360" y="2487168"/>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Population</a:t>
            </a:r>
            <a:endParaRPr lang="en-US" sz="1100" dirty="0"/>
          </a:p>
        </p:txBody>
      </p:sp>
      <p:sp>
        <p:nvSpPr>
          <p:cNvPr id="34" name="Text 29"/>
          <p:cNvSpPr txBox="1"/>
          <p:nvPr/>
        </p:nvSpPr>
        <p:spPr>
          <a:xfrm>
            <a:off x="2331720" y="2487168"/>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Known sampling frame</a:t>
            </a:r>
            <a:endParaRPr lang="en-US" sz="1100" dirty="0"/>
          </a:p>
        </p:txBody>
      </p:sp>
      <p:sp>
        <p:nvSpPr>
          <p:cNvPr id="35" name="Text 30"/>
          <p:cNvSpPr txBox="1"/>
          <p:nvPr/>
        </p:nvSpPr>
        <p:spPr>
          <a:xfrm>
            <a:off x="5440680" y="2487168"/>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Unknown, self-selected users</a:t>
            </a:r>
            <a:endParaRPr lang="en-US" sz="1100" dirty="0"/>
          </a:p>
        </p:txBody>
      </p:sp>
      <p:sp>
        <p:nvSpPr>
          <p:cNvPr id="36" name="Shape 31"/>
          <p:cNvSpPr/>
          <p:nvPr/>
        </p:nvSpPr>
        <p:spPr>
          <a:xfrm>
            <a:off x="457200" y="2843784"/>
            <a:ext cx="8229600" cy="310896"/>
          </a:xfrm>
          <a:prstGeom prst="roundRect">
            <a:avLst>
              <a:gd name="adj" fmla="val 14706"/>
            </a:avLst>
          </a:prstGeom>
          <a:solidFill>
            <a:srgbClr val="FFFFFF"/>
          </a:solidFill>
          <a:ln w="6350">
            <a:solidFill>
              <a:srgbClr val="D5DED9"/>
            </a:solidFill>
            <a:prstDash val="solid"/>
          </a:ln>
        </p:spPr>
      </p:sp>
      <p:sp>
        <p:nvSpPr>
          <p:cNvPr id="37" name="Text 32"/>
          <p:cNvSpPr txBox="1"/>
          <p:nvPr/>
        </p:nvSpPr>
        <p:spPr>
          <a:xfrm>
            <a:off x="594360" y="2843784"/>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Timeliness</a:t>
            </a:r>
            <a:endParaRPr lang="en-US" sz="1100" dirty="0"/>
          </a:p>
        </p:txBody>
      </p:sp>
      <p:sp>
        <p:nvSpPr>
          <p:cNvPr id="38" name="Text 33"/>
          <p:cNvSpPr txBox="1"/>
          <p:nvPr/>
        </p:nvSpPr>
        <p:spPr>
          <a:xfrm>
            <a:off x="2331720" y="2843784"/>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Months to years</a:t>
            </a:r>
            <a:endParaRPr lang="en-US" sz="1100" dirty="0"/>
          </a:p>
        </p:txBody>
      </p:sp>
      <p:sp>
        <p:nvSpPr>
          <p:cNvPr id="39" name="Text 34"/>
          <p:cNvSpPr txBox="1"/>
          <p:nvPr/>
        </p:nvSpPr>
        <p:spPr>
          <a:xfrm>
            <a:off x="5440680" y="2843784"/>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Hours to days</a:t>
            </a:r>
            <a:endParaRPr lang="en-US" sz="1100" dirty="0"/>
          </a:p>
        </p:txBody>
      </p:sp>
      <p:sp>
        <p:nvSpPr>
          <p:cNvPr id="40" name="Shape 35"/>
          <p:cNvSpPr/>
          <p:nvPr/>
        </p:nvSpPr>
        <p:spPr>
          <a:xfrm>
            <a:off x="457200" y="3200400"/>
            <a:ext cx="8229600" cy="310896"/>
          </a:xfrm>
          <a:prstGeom prst="roundRect">
            <a:avLst>
              <a:gd name="adj" fmla="val 14706"/>
            </a:avLst>
          </a:prstGeom>
          <a:solidFill>
            <a:srgbClr val="F4F7F5"/>
          </a:solidFill>
          <a:ln w="6350">
            <a:solidFill>
              <a:srgbClr val="D5DED9"/>
            </a:solidFill>
            <a:prstDash val="solid"/>
          </a:ln>
        </p:spPr>
      </p:sp>
      <p:sp>
        <p:nvSpPr>
          <p:cNvPr id="41" name="Text 36"/>
          <p:cNvSpPr txBox="1"/>
          <p:nvPr/>
        </p:nvSpPr>
        <p:spPr>
          <a:xfrm>
            <a:off x="594360" y="3200400"/>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Granularity</a:t>
            </a:r>
            <a:endParaRPr lang="en-US" sz="1100" dirty="0"/>
          </a:p>
        </p:txBody>
      </p:sp>
      <p:sp>
        <p:nvSpPr>
          <p:cNvPr id="42" name="Text 37"/>
          <p:cNvSpPr txBox="1"/>
          <p:nvPr/>
        </p:nvSpPr>
        <p:spPr>
          <a:xfrm>
            <a:off x="2331720" y="3200400"/>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Limited by sample size</a:t>
            </a:r>
            <a:endParaRPr lang="en-US" sz="1100" dirty="0"/>
          </a:p>
        </p:txBody>
      </p:sp>
      <p:sp>
        <p:nvSpPr>
          <p:cNvPr id="43" name="Text 38"/>
          <p:cNvSpPr txBox="1"/>
          <p:nvPr/>
        </p:nvSpPr>
        <p:spPr>
          <a:xfrm>
            <a:off x="5440680" y="3200400"/>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Very fine — tile, hour, product</a:t>
            </a:r>
            <a:endParaRPr lang="en-US" sz="1100" dirty="0"/>
          </a:p>
        </p:txBody>
      </p:sp>
      <p:sp>
        <p:nvSpPr>
          <p:cNvPr id="44" name="Shape 39"/>
          <p:cNvSpPr/>
          <p:nvPr/>
        </p:nvSpPr>
        <p:spPr>
          <a:xfrm>
            <a:off x="457200" y="3557016"/>
            <a:ext cx="8229600" cy="310896"/>
          </a:xfrm>
          <a:prstGeom prst="roundRect">
            <a:avLst>
              <a:gd name="adj" fmla="val 14706"/>
            </a:avLst>
          </a:prstGeom>
          <a:solidFill>
            <a:srgbClr val="FFFFFF"/>
          </a:solidFill>
          <a:ln w="6350">
            <a:solidFill>
              <a:srgbClr val="D5DED9"/>
            </a:solidFill>
            <a:prstDash val="solid"/>
          </a:ln>
        </p:spPr>
      </p:sp>
      <p:sp>
        <p:nvSpPr>
          <p:cNvPr id="45" name="Text 40"/>
          <p:cNvSpPr txBox="1"/>
          <p:nvPr/>
        </p:nvSpPr>
        <p:spPr>
          <a:xfrm>
            <a:off x="594360" y="3557016"/>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Marginal cost</a:t>
            </a:r>
            <a:endParaRPr lang="en-US" sz="1100" dirty="0"/>
          </a:p>
        </p:txBody>
      </p:sp>
      <p:sp>
        <p:nvSpPr>
          <p:cNvPr id="46" name="Text 41"/>
          <p:cNvSpPr txBox="1"/>
          <p:nvPr/>
        </p:nvSpPr>
        <p:spPr>
          <a:xfrm>
            <a:off x="2331720" y="3557016"/>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High per observation</a:t>
            </a:r>
            <a:endParaRPr lang="en-US" sz="1100" dirty="0"/>
          </a:p>
        </p:txBody>
      </p:sp>
      <p:sp>
        <p:nvSpPr>
          <p:cNvPr id="47" name="Text 42"/>
          <p:cNvSpPr txBox="1"/>
          <p:nvPr/>
        </p:nvSpPr>
        <p:spPr>
          <a:xfrm>
            <a:off x="5440680" y="3557016"/>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Low once access is secured</a:t>
            </a:r>
            <a:endParaRPr lang="en-US" sz="1100" dirty="0"/>
          </a:p>
        </p:txBody>
      </p:sp>
      <p:sp>
        <p:nvSpPr>
          <p:cNvPr id="48" name="Shape 43"/>
          <p:cNvSpPr/>
          <p:nvPr/>
        </p:nvSpPr>
        <p:spPr>
          <a:xfrm>
            <a:off x="457200" y="3913632"/>
            <a:ext cx="8229600" cy="310896"/>
          </a:xfrm>
          <a:prstGeom prst="roundRect">
            <a:avLst>
              <a:gd name="adj" fmla="val 14706"/>
            </a:avLst>
          </a:prstGeom>
          <a:solidFill>
            <a:srgbClr val="F4F7F5"/>
          </a:solidFill>
          <a:ln w="6350">
            <a:solidFill>
              <a:srgbClr val="D5DED9"/>
            </a:solidFill>
            <a:prstDash val="solid"/>
          </a:ln>
        </p:spPr>
      </p:sp>
      <p:sp>
        <p:nvSpPr>
          <p:cNvPr id="49" name="Text 44"/>
          <p:cNvSpPr txBox="1"/>
          <p:nvPr/>
        </p:nvSpPr>
        <p:spPr>
          <a:xfrm>
            <a:off x="594360" y="3913632"/>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Continuity</a:t>
            </a:r>
            <a:endParaRPr lang="en-US" sz="1100" dirty="0"/>
          </a:p>
        </p:txBody>
      </p:sp>
      <p:sp>
        <p:nvSpPr>
          <p:cNvPr id="50" name="Text 45"/>
          <p:cNvSpPr txBox="1"/>
          <p:nvPr/>
        </p:nvSpPr>
        <p:spPr>
          <a:xfrm>
            <a:off x="2331720" y="3913632"/>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Guaranteed by mandate</a:t>
            </a:r>
            <a:endParaRPr lang="en-US" sz="1100" dirty="0"/>
          </a:p>
        </p:txBody>
      </p:sp>
      <p:sp>
        <p:nvSpPr>
          <p:cNvPr id="51" name="Text 46"/>
          <p:cNvSpPr txBox="1"/>
          <p:nvPr/>
        </p:nvSpPr>
        <p:spPr>
          <a:xfrm>
            <a:off x="5440680" y="3913632"/>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Depends on a third party</a:t>
            </a:r>
            <a:endParaRPr lang="en-US" sz="1100" dirty="0"/>
          </a:p>
        </p:txBody>
      </p:sp>
      <p:sp>
        <p:nvSpPr>
          <p:cNvPr id="52" name="Shape 47"/>
          <p:cNvSpPr/>
          <p:nvPr/>
        </p:nvSpPr>
        <p:spPr>
          <a:xfrm>
            <a:off x="457200" y="4270248"/>
            <a:ext cx="8229600" cy="310896"/>
          </a:xfrm>
          <a:prstGeom prst="roundRect">
            <a:avLst>
              <a:gd name="adj" fmla="val 14706"/>
            </a:avLst>
          </a:prstGeom>
          <a:solidFill>
            <a:srgbClr val="E8F5EF"/>
          </a:solidFill>
          <a:ln w="15875">
            <a:solidFill>
              <a:srgbClr val="00A86A"/>
            </a:solidFill>
            <a:prstDash val="solid"/>
          </a:ln>
        </p:spPr>
      </p:sp>
      <p:sp>
        <p:nvSpPr>
          <p:cNvPr id="53" name="Text 48"/>
          <p:cNvSpPr txBox="1"/>
          <p:nvPr/>
        </p:nvSpPr>
        <p:spPr>
          <a:xfrm>
            <a:off x="594360" y="4270248"/>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Main weakness</a:t>
            </a:r>
            <a:endParaRPr lang="en-US" sz="1100" dirty="0"/>
          </a:p>
        </p:txBody>
      </p:sp>
      <p:sp>
        <p:nvSpPr>
          <p:cNvPr id="54" name="Text 49"/>
          <p:cNvSpPr txBox="1"/>
          <p:nvPr/>
        </p:nvSpPr>
        <p:spPr>
          <a:xfrm>
            <a:off x="2331720" y="4270248"/>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Cost, lag, non-response</a:t>
            </a:r>
            <a:endParaRPr lang="en-US" sz="1100" dirty="0"/>
          </a:p>
        </p:txBody>
      </p:sp>
      <p:sp>
        <p:nvSpPr>
          <p:cNvPr id="55" name="Text 50"/>
          <p:cNvSpPr txBox="1"/>
          <p:nvPr/>
        </p:nvSpPr>
        <p:spPr>
          <a:xfrm>
            <a:off x="5440680" y="4270248"/>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Coverage bias, instability</a:t>
            </a:r>
            <a:endParaRPr lang="en-US" sz="11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2 OF 6</a:t>
            </a:r>
            <a:endParaRPr lang="en-US" sz="1100" dirty="0"/>
          </a:p>
        </p:txBody>
      </p:sp>
      <p:sp>
        <p:nvSpPr>
          <p:cNvPr id="4" name="Text 1"/>
          <p:cNvSpPr txBox="1"/>
          <p:nvPr/>
        </p:nvSpPr>
        <p:spPr>
          <a:xfrm>
            <a:off x="502920" y="91440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2"/>
          <p:cNvSpPr txBox="1"/>
          <p:nvPr/>
        </p:nvSpPr>
        <p:spPr>
          <a:xfrm>
            <a:off x="548640" y="233172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Taxonomy</a:t>
            </a:r>
            <a:endParaRPr lang="en-US" sz="3600" dirty="0"/>
          </a:p>
        </p:txBody>
      </p:sp>
      <p:sp>
        <p:nvSpPr>
          <p:cNvPr id="6" name="Text 3"/>
          <p:cNvSpPr txBox="1"/>
          <p:nvPr/>
        </p:nvSpPr>
        <p:spPr>
          <a:xfrm>
            <a:off x="548640" y="3108960"/>
            <a:ext cx="475488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How do we name, sort and compare sources that were never meant to be statistics?</a:t>
            </a:r>
            <a:endParaRPr lang="en-US" sz="1800" dirty="0"/>
          </a:p>
        </p:txBody>
      </p:sp>
      <p:sp>
        <p:nvSpPr>
          <p:cNvPr id="7" name="Shape 4"/>
          <p:cNvSpPr/>
          <p:nvPr/>
        </p:nvSpPr>
        <p:spPr>
          <a:xfrm>
            <a:off x="566928" y="4343400"/>
            <a:ext cx="100584" cy="100584"/>
          </a:xfrm>
          <a:prstGeom prst="ellipse">
            <a:avLst/>
          </a:prstGeom>
          <a:solidFill>
            <a:srgbClr val="FFFFFF">
              <a:alpha val="35000"/>
            </a:srgbClr>
          </a:solidFill>
          <a:ln/>
        </p:spPr>
      </p:sp>
      <p:sp>
        <p:nvSpPr>
          <p:cNvPr id="8" name="Shape 5"/>
          <p:cNvSpPr/>
          <p:nvPr/>
        </p:nvSpPr>
        <p:spPr>
          <a:xfrm>
            <a:off x="749808" y="4343400"/>
            <a:ext cx="100584" cy="100584"/>
          </a:xfrm>
          <a:prstGeom prst="ellipse">
            <a:avLst/>
          </a:prstGeom>
          <a:solidFill>
            <a:srgbClr val="F5C242"/>
          </a:solidFill>
          <a:ln/>
        </p:spPr>
      </p:sp>
      <p:sp>
        <p:nvSpPr>
          <p:cNvPr id="9" name="Shape 6"/>
          <p:cNvSpPr/>
          <p:nvPr/>
        </p:nvSpPr>
        <p:spPr>
          <a:xfrm>
            <a:off x="932688" y="4343400"/>
            <a:ext cx="100584" cy="100584"/>
          </a:xfrm>
          <a:prstGeom prst="ellipse">
            <a:avLst/>
          </a:prstGeom>
          <a:solidFill>
            <a:srgbClr val="FFFFFF">
              <a:alpha val="35000"/>
            </a:srgbClr>
          </a:solidFill>
          <a:ln/>
        </p:spPr>
      </p:sp>
      <p:sp>
        <p:nvSpPr>
          <p:cNvPr id="10" name="Shape 7"/>
          <p:cNvSpPr/>
          <p:nvPr/>
        </p:nvSpPr>
        <p:spPr>
          <a:xfrm>
            <a:off x="1115568" y="4343400"/>
            <a:ext cx="100584" cy="100584"/>
          </a:xfrm>
          <a:prstGeom prst="ellipse">
            <a:avLst/>
          </a:prstGeom>
          <a:solidFill>
            <a:srgbClr val="FFFFFF">
              <a:alpha val="35000"/>
            </a:srgbClr>
          </a:solidFill>
          <a:ln/>
        </p:spPr>
      </p:sp>
      <p:sp>
        <p:nvSpPr>
          <p:cNvPr id="11" name="Shape 8"/>
          <p:cNvSpPr/>
          <p:nvPr/>
        </p:nvSpPr>
        <p:spPr>
          <a:xfrm>
            <a:off x="1298448" y="4343400"/>
            <a:ext cx="100584" cy="100584"/>
          </a:xfrm>
          <a:prstGeom prst="ellipse">
            <a:avLst/>
          </a:prstGeom>
          <a:solidFill>
            <a:srgbClr val="FFFFFF">
              <a:alpha val="35000"/>
            </a:srgbClr>
          </a:solidFill>
          <a:ln/>
        </p:spPr>
      </p:sp>
      <p:sp>
        <p:nvSpPr>
          <p:cNvPr id="12" name="Shape 9"/>
          <p:cNvSpPr/>
          <p:nvPr/>
        </p:nvSpPr>
        <p:spPr>
          <a:xfrm>
            <a:off x="1481328" y="4343400"/>
            <a:ext cx="100584" cy="100584"/>
          </a:xfrm>
          <a:prstGeom prst="ellipse">
            <a:avLst/>
          </a:prstGeom>
          <a:solidFill>
            <a:srgbClr val="FFFFFF">
              <a:alpha val="35000"/>
            </a:srgbClr>
          </a:solidFill>
          <a:ln/>
        </p:spPr>
      </p:sp>
      <p:sp>
        <p:nvSpPr>
          <p:cNvPr id="13" name="Shape 10"/>
          <p:cNvSpPr/>
          <p:nvPr/>
        </p:nvSpPr>
        <p:spPr>
          <a:xfrm>
            <a:off x="5989320" y="1143000"/>
            <a:ext cx="2651760" cy="2651760"/>
          </a:xfrm>
          <a:prstGeom prst="ellipse">
            <a:avLst/>
          </a:prstGeom>
          <a:solidFill>
            <a:srgbClr val="FFFFFF">
              <a:alpha val="12000"/>
            </a:srgbClr>
          </a:solidFill>
          <a:ln/>
        </p:spPr>
      </p:sp>
      <p:sp>
        <p:nvSpPr>
          <p:cNvPr id="14" name="Shape 11"/>
          <p:cNvSpPr/>
          <p:nvPr/>
        </p:nvSpPr>
        <p:spPr>
          <a:xfrm>
            <a:off x="6355080" y="1508760"/>
            <a:ext cx="1920240" cy="1920240"/>
          </a:xfrm>
          <a:prstGeom prst="ellipse">
            <a:avLst/>
          </a:prstGeom>
          <a:solidFill>
            <a:srgbClr val="FFFFFF">
              <a:alpha val="20000"/>
            </a:srgbClr>
          </a:solidFill>
          <a:ln/>
        </p:spPr>
      </p:sp>
      <p:sp>
        <p:nvSpPr>
          <p:cNvPr id="15" name="Shape 12"/>
          <p:cNvSpPr/>
          <p:nvPr/>
        </p:nvSpPr>
        <p:spPr>
          <a:xfrm>
            <a:off x="6675120" y="1828800"/>
            <a:ext cx="1280160" cy="1280160"/>
          </a:xfrm>
          <a:prstGeom prst="ellipse">
            <a:avLst/>
          </a:prstGeom>
          <a:solidFill>
            <a:srgbClr val="FFFFFF"/>
          </a:solidFill>
          <a:ln/>
        </p:spPr>
      </p:sp>
      <p:pic>
        <p:nvPicPr>
          <p:cNvPr id="16" name="Image 0" descr="preencoded.png">    </p:cNvPr>
          <p:cNvPicPr>
            <a:picLocks noChangeAspect="1"/>
          </p:cNvPicPr>
          <p:nvPr/>
        </p:nvPicPr>
        <p:blipFill>
          <a:blip r:embed="rId2"/>
          <a:stretch>
            <a:fillRect/>
          </a:stretch>
        </p:blipFill>
        <p:spPr>
          <a:xfrm>
            <a:off x="6995160" y="2148840"/>
            <a:ext cx="640080" cy="640080"/>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TAXONOMY</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What makes a source "non-traditional"?</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1051560"/>
            <a:ext cx="8229600" cy="868680"/>
          </a:xfrm>
          <a:prstGeom prst="roundRect">
            <a:avLst>
              <a:gd name="adj" fmla="val 8421"/>
            </a:avLst>
          </a:prstGeom>
          <a:solidFill>
            <a:srgbClr val="E8F5EF"/>
          </a:solidFill>
          <a:ln w="15875">
            <a:solidFill>
              <a:srgbClr val="00A86A"/>
            </a:solidFill>
            <a:prstDash val="solid"/>
          </a:ln>
        </p:spPr>
      </p:sp>
      <p:sp>
        <p:nvSpPr>
          <p:cNvPr id="18" name="Shape 15"/>
          <p:cNvSpPr/>
          <p:nvPr/>
        </p:nvSpPr>
        <p:spPr>
          <a:xfrm>
            <a:off x="640080" y="1216152"/>
            <a:ext cx="530352" cy="530352"/>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772668" y="1348740"/>
            <a:ext cx="265176" cy="265176"/>
          </a:xfrm>
          <a:prstGeom prst="rect">
            <a:avLst/>
          </a:prstGeom>
        </p:spPr>
      </p:pic>
      <p:sp>
        <p:nvSpPr>
          <p:cNvPr id="20" name="Text 16"/>
          <p:cNvSpPr txBox="1"/>
          <p:nvPr/>
        </p:nvSpPr>
        <p:spPr>
          <a:xfrm>
            <a:off x="1325880" y="1115568"/>
            <a:ext cx="7223760" cy="731520"/>
          </a:xfrm>
          <a:prstGeom prst="rect">
            <a:avLst/>
          </a:prstGeom>
          <a:noFill/>
          <a:ln/>
        </p:spPr>
        <p:txBody>
          <a:bodyPr wrap="square" lIns="0" tIns="0" rIns="0" bIns="0" rtlCol="0" anchor="ctr"/>
          <a:lstStyle/>
          <a:p>
            <a:pPr indent="0" marL="0">
              <a:buNone/>
            </a:pPr>
            <a:r>
              <a:rPr lang="en-US" sz="1250" b="1" dirty="0">
                <a:solidFill>
                  <a:srgbClr val="00704A"/>
                </a:solidFill>
                <a:latin typeface="Calibri" pitchFamily="34" charset="0"/>
                <a:ea typeface="Calibri" pitchFamily="34" charset="-122"/>
                <a:cs typeface="Calibri" pitchFamily="34" charset="-120"/>
              </a:rPr>
              <a:t>Working definition. </a:t>
            </a:r>
            <a:pPr indent="0" marL="0">
              <a:buNone/>
            </a:pPr>
            <a:r>
              <a:rPr lang="en-US" sz="1250" dirty="0">
                <a:solidFill>
                  <a:srgbClr val="231F20"/>
                </a:solidFill>
                <a:latin typeface="Calibri" pitchFamily="34" charset="0"/>
                <a:ea typeface="Calibri" pitchFamily="34" charset="-122"/>
                <a:cs typeface="Calibri" pitchFamily="34" charset="-120"/>
              </a:rPr>
              <a:t>Data generated as a by-product of an activity carried out for a purpose other than statistics — a transaction, a service, a sensor, a post — and repurposed to produce statistical evidence.</a:t>
            </a:r>
            <a:endParaRPr lang="en-US" sz="1250" dirty="0"/>
          </a:p>
        </p:txBody>
      </p:sp>
      <p:sp>
        <p:nvSpPr>
          <p:cNvPr id="21" name="Text 17"/>
          <p:cNvSpPr txBox="1"/>
          <p:nvPr/>
        </p:nvSpPr>
        <p:spPr>
          <a:xfrm>
            <a:off x="457200" y="2075688"/>
            <a:ext cx="5486400" cy="256032"/>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UNECE classification by generating process</a:t>
            </a:r>
            <a:endParaRPr lang="en-US" sz="1300" dirty="0"/>
          </a:p>
        </p:txBody>
      </p:sp>
      <p:sp>
        <p:nvSpPr>
          <p:cNvPr id="22" name="Shape 18"/>
          <p:cNvSpPr/>
          <p:nvPr/>
        </p:nvSpPr>
        <p:spPr>
          <a:xfrm>
            <a:off x="457200" y="2395728"/>
            <a:ext cx="2615184" cy="1572768"/>
          </a:xfrm>
          <a:prstGeom prst="roundRect">
            <a:avLst>
              <a:gd name="adj" fmla="val 4651"/>
            </a:avLst>
          </a:prstGeom>
          <a:solidFill>
            <a:srgbClr val="F4F7F5"/>
          </a:solidFill>
          <a:ln w="9525">
            <a:solidFill>
              <a:srgbClr val="D5DED9"/>
            </a:solidFill>
            <a:prstDash val="solid"/>
          </a:ln>
        </p:spPr>
      </p:sp>
      <p:sp>
        <p:nvSpPr>
          <p:cNvPr id="23" name="Shape 19"/>
          <p:cNvSpPr/>
          <p:nvPr/>
        </p:nvSpPr>
        <p:spPr>
          <a:xfrm>
            <a:off x="594360" y="2514600"/>
            <a:ext cx="438912" cy="438912"/>
          </a:xfrm>
          <a:prstGeom prst="ellipse">
            <a:avLst/>
          </a:prstGeom>
          <a:solidFill>
            <a:srgbClr val="00A86A">
              <a:alpha val="22000"/>
            </a:srgbClr>
          </a:solidFill>
          <a:ln/>
        </p:spPr>
      </p:sp>
      <p:pic>
        <p:nvPicPr>
          <p:cNvPr id="24" name="Image 1" descr="preencoded.png">    </p:cNvPr>
          <p:cNvPicPr>
            <a:picLocks noChangeAspect="1"/>
          </p:cNvPicPr>
          <p:nvPr/>
        </p:nvPicPr>
        <p:blipFill>
          <a:blip r:embed="rId2"/>
          <a:stretch>
            <a:fillRect/>
          </a:stretch>
        </p:blipFill>
        <p:spPr>
          <a:xfrm>
            <a:off x="704088" y="2624328"/>
            <a:ext cx="219456" cy="219456"/>
          </a:xfrm>
          <a:prstGeom prst="rect">
            <a:avLst/>
          </a:prstGeom>
        </p:spPr>
      </p:pic>
      <p:sp>
        <p:nvSpPr>
          <p:cNvPr id="25" name="Text 20"/>
          <p:cNvSpPr txBox="1"/>
          <p:nvPr/>
        </p:nvSpPr>
        <p:spPr>
          <a:xfrm>
            <a:off x="1115568" y="2560320"/>
            <a:ext cx="1828800" cy="347472"/>
          </a:xfrm>
          <a:prstGeom prst="rect">
            <a:avLst/>
          </a:prstGeom>
          <a:noFill/>
          <a:ln/>
        </p:spPr>
        <p:txBody>
          <a:bodyPr wrap="square" lIns="0" tIns="0" rIns="0" bIns="0" rtlCol="0" anchor="ctr"/>
          <a:lstStyle/>
          <a:p>
            <a:pPr indent="0" marL="0">
              <a:buNone/>
            </a:pPr>
            <a:r>
              <a:rPr lang="en-US" sz="1400" b="1" dirty="0">
                <a:solidFill>
                  <a:srgbClr val="00A86A"/>
                </a:solidFill>
                <a:latin typeface="Calibri" pitchFamily="34" charset="0"/>
                <a:ea typeface="Calibri" pitchFamily="34" charset="-122"/>
                <a:cs typeface="Calibri" pitchFamily="34" charset="-120"/>
              </a:rPr>
              <a:t>Human-sourced</a:t>
            </a:r>
            <a:endParaRPr lang="en-US" sz="1400" dirty="0"/>
          </a:p>
        </p:txBody>
      </p:sp>
      <p:sp>
        <p:nvSpPr>
          <p:cNvPr id="26" name="Text 21"/>
          <p:cNvSpPr txBox="1"/>
          <p:nvPr/>
        </p:nvSpPr>
        <p:spPr>
          <a:xfrm>
            <a:off x="594360" y="3017520"/>
            <a:ext cx="2331720" cy="365760"/>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People record their experiences, often digitally.</a:t>
            </a:r>
            <a:endParaRPr lang="en-US" sz="1050" dirty="0"/>
          </a:p>
        </p:txBody>
      </p:sp>
      <p:sp>
        <p:nvSpPr>
          <p:cNvPr id="27" name="Text 22"/>
          <p:cNvSpPr txBox="1"/>
          <p:nvPr/>
        </p:nvSpPr>
        <p:spPr>
          <a:xfrm>
            <a:off x="594360" y="3401568"/>
            <a:ext cx="233172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Social media · search queries · reviews · crowdsourced maps · speed tests</a:t>
            </a:r>
            <a:endParaRPr lang="en-US" sz="1000" dirty="0"/>
          </a:p>
        </p:txBody>
      </p:sp>
      <p:sp>
        <p:nvSpPr>
          <p:cNvPr id="28" name="Shape 23"/>
          <p:cNvSpPr/>
          <p:nvPr/>
        </p:nvSpPr>
        <p:spPr>
          <a:xfrm>
            <a:off x="3264408" y="2395728"/>
            <a:ext cx="2615184" cy="1572768"/>
          </a:xfrm>
          <a:prstGeom prst="roundRect">
            <a:avLst>
              <a:gd name="adj" fmla="val 4651"/>
            </a:avLst>
          </a:prstGeom>
          <a:solidFill>
            <a:srgbClr val="F4F7F5"/>
          </a:solidFill>
          <a:ln w="9525">
            <a:solidFill>
              <a:srgbClr val="D5DED9"/>
            </a:solidFill>
            <a:prstDash val="solid"/>
          </a:ln>
        </p:spPr>
      </p:sp>
      <p:sp>
        <p:nvSpPr>
          <p:cNvPr id="29" name="Shape 24"/>
          <p:cNvSpPr/>
          <p:nvPr/>
        </p:nvSpPr>
        <p:spPr>
          <a:xfrm>
            <a:off x="3401568" y="2514600"/>
            <a:ext cx="438912" cy="438912"/>
          </a:xfrm>
          <a:prstGeom prst="ellipse">
            <a:avLst/>
          </a:prstGeom>
          <a:solidFill>
            <a:srgbClr val="0E7C86">
              <a:alpha val="22000"/>
            </a:srgbClr>
          </a:solidFill>
          <a:ln/>
        </p:spPr>
      </p:sp>
      <p:pic>
        <p:nvPicPr>
          <p:cNvPr id="30" name="Image 2" descr="preencoded.png">    </p:cNvPr>
          <p:cNvPicPr>
            <a:picLocks noChangeAspect="1"/>
          </p:cNvPicPr>
          <p:nvPr/>
        </p:nvPicPr>
        <p:blipFill>
          <a:blip r:embed="rId3"/>
          <a:stretch>
            <a:fillRect/>
          </a:stretch>
        </p:blipFill>
        <p:spPr>
          <a:xfrm>
            <a:off x="3511296" y="2624328"/>
            <a:ext cx="219456" cy="219456"/>
          </a:xfrm>
          <a:prstGeom prst="rect">
            <a:avLst/>
          </a:prstGeom>
        </p:spPr>
      </p:pic>
      <p:sp>
        <p:nvSpPr>
          <p:cNvPr id="31" name="Text 25"/>
          <p:cNvSpPr txBox="1"/>
          <p:nvPr/>
        </p:nvSpPr>
        <p:spPr>
          <a:xfrm>
            <a:off x="3922776" y="2560320"/>
            <a:ext cx="1828800" cy="347472"/>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Process-mediated</a:t>
            </a:r>
            <a:endParaRPr lang="en-US" sz="1400" dirty="0"/>
          </a:p>
        </p:txBody>
      </p:sp>
      <p:sp>
        <p:nvSpPr>
          <p:cNvPr id="32" name="Text 26"/>
          <p:cNvSpPr txBox="1"/>
          <p:nvPr/>
        </p:nvSpPr>
        <p:spPr>
          <a:xfrm>
            <a:off x="3401568" y="3017520"/>
            <a:ext cx="2331720" cy="365760"/>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Records left by business or administrative processes.</a:t>
            </a:r>
            <a:endParaRPr lang="en-US" sz="1050" dirty="0"/>
          </a:p>
        </p:txBody>
      </p:sp>
      <p:sp>
        <p:nvSpPr>
          <p:cNvPr id="33" name="Text 27"/>
          <p:cNvSpPr txBox="1"/>
          <p:nvPr/>
        </p:nvSpPr>
        <p:spPr>
          <a:xfrm>
            <a:off x="3401568" y="3401568"/>
            <a:ext cx="233172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Scanner &amp; card data · mobile-money logs · call detail records · e-invoices</a:t>
            </a:r>
            <a:endParaRPr lang="en-US" sz="1000" dirty="0"/>
          </a:p>
        </p:txBody>
      </p:sp>
      <p:sp>
        <p:nvSpPr>
          <p:cNvPr id="34" name="Shape 28"/>
          <p:cNvSpPr/>
          <p:nvPr/>
        </p:nvSpPr>
        <p:spPr>
          <a:xfrm>
            <a:off x="6071616" y="2395728"/>
            <a:ext cx="2615184" cy="1572768"/>
          </a:xfrm>
          <a:prstGeom prst="roundRect">
            <a:avLst>
              <a:gd name="adj" fmla="val 4651"/>
            </a:avLst>
          </a:prstGeom>
          <a:solidFill>
            <a:srgbClr val="F4F7F5"/>
          </a:solidFill>
          <a:ln w="9525">
            <a:solidFill>
              <a:srgbClr val="D5DED9"/>
            </a:solidFill>
            <a:prstDash val="solid"/>
          </a:ln>
        </p:spPr>
      </p:sp>
      <p:sp>
        <p:nvSpPr>
          <p:cNvPr id="35" name="Shape 29"/>
          <p:cNvSpPr/>
          <p:nvPr/>
        </p:nvSpPr>
        <p:spPr>
          <a:xfrm>
            <a:off x="6208776" y="2514600"/>
            <a:ext cx="438912" cy="438912"/>
          </a:xfrm>
          <a:prstGeom prst="ellipse">
            <a:avLst/>
          </a:prstGeom>
          <a:solidFill>
            <a:srgbClr val="00704A">
              <a:alpha val="22000"/>
            </a:srgbClr>
          </a:solidFill>
          <a:ln/>
        </p:spPr>
      </p:sp>
      <p:pic>
        <p:nvPicPr>
          <p:cNvPr id="36" name="Image 3" descr="preencoded.png">    </p:cNvPr>
          <p:cNvPicPr>
            <a:picLocks noChangeAspect="1"/>
          </p:cNvPicPr>
          <p:nvPr/>
        </p:nvPicPr>
        <p:blipFill>
          <a:blip r:embed="rId4"/>
          <a:stretch>
            <a:fillRect/>
          </a:stretch>
        </p:blipFill>
        <p:spPr>
          <a:xfrm>
            <a:off x="6318504" y="2624328"/>
            <a:ext cx="219456" cy="219456"/>
          </a:xfrm>
          <a:prstGeom prst="rect">
            <a:avLst/>
          </a:prstGeom>
        </p:spPr>
      </p:pic>
      <p:sp>
        <p:nvSpPr>
          <p:cNvPr id="37" name="Text 30"/>
          <p:cNvSpPr txBox="1"/>
          <p:nvPr/>
        </p:nvSpPr>
        <p:spPr>
          <a:xfrm>
            <a:off x="6729984" y="2560320"/>
            <a:ext cx="1828800" cy="347472"/>
          </a:xfrm>
          <a:prstGeom prst="rect">
            <a:avLst/>
          </a:prstGeom>
          <a:noFill/>
          <a:ln/>
        </p:spPr>
        <p:txBody>
          <a:bodyPr wrap="square" lIns="0" tIns="0" rIns="0" bIns="0" rtlCol="0" anchor="ctr"/>
          <a:lstStyle/>
          <a:p>
            <a:pPr indent="0" marL="0">
              <a:buNone/>
            </a:pPr>
            <a:r>
              <a:rPr lang="en-US" sz="1400" b="1" dirty="0">
                <a:solidFill>
                  <a:srgbClr val="00704A"/>
                </a:solidFill>
                <a:latin typeface="Calibri" pitchFamily="34" charset="0"/>
                <a:ea typeface="Calibri" pitchFamily="34" charset="-122"/>
                <a:cs typeface="Calibri" pitchFamily="34" charset="-120"/>
              </a:rPr>
              <a:t>Machine-generated</a:t>
            </a:r>
            <a:endParaRPr lang="en-US" sz="1400" dirty="0"/>
          </a:p>
        </p:txBody>
      </p:sp>
      <p:sp>
        <p:nvSpPr>
          <p:cNvPr id="38" name="Text 31"/>
          <p:cNvSpPr txBox="1"/>
          <p:nvPr/>
        </p:nvSpPr>
        <p:spPr>
          <a:xfrm>
            <a:off x="6208776" y="3017520"/>
            <a:ext cx="2331720" cy="365760"/>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Sensors and devices observing the physical world.</a:t>
            </a:r>
            <a:endParaRPr lang="en-US" sz="1050" dirty="0"/>
          </a:p>
        </p:txBody>
      </p:sp>
      <p:sp>
        <p:nvSpPr>
          <p:cNvPr id="39" name="Text 32"/>
          <p:cNvSpPr txBox="1"/>
          <p:nvPr/>
        </p:nvSpPr>
        <p:spPr>
          <a:xfrm>
            <a:off x="6208776" y="3401568"/>
            <a:ext cx="233172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Satellite imagery · smart meters · GPS &amp; AIS tracking · air-quality sensors</a:t>
            </a:r>
            <a:endParaRPr lang="en-US" sz="1000" dirty="0"/>
          </a:p>
        </p:txBody>
      </p:sp>
      <p:sp>
        <p:nvSpPr>
          <p:cNvPr id="40" name="Shape 33"/>
          <p:cNvSpPr/>
          <p:nvPr/>
        </p:nvSpPr>
        <p:spPr>
          <a:xfrm>
            <a:off x="457200" y="4078224"/>
            <a:ext cx="8229600" cy="457200"/>
          </a:xfrm>
          <a:prstGeom prst="roundRect">
            <a:avLst>
              <a:gd name="adj" fmla="val 12000"/>
            </a:avLst>
          </a:prstGeom>
          <a:solidFill>
            <a:srgbClr val="D49A00">
              <a:alpha val="13000"/>
            </a:srgbClr>
          </a:solidFill>
          <a:ln w="12700">
            <a:solidFill>
              <a:srgbClr val="D49A00"/>
            </a:solidFill>
            <a:prstDash val="solid"/>
          </a:ln>
        </p:spPr>
      </p:sp>
      <p:pic>
        <p:nvPicPr>
          <p:cNvPr id="41" name="Image 4" descr="preencoded.png">    </p:cNvPr>
          <p:cNvPicPr>
            <a:picLocks noChangeAspect="1"/>
          </p:cNvPicPr>
          <p:nvPr/>
        </p:nvPicPr>
        <p:blipFill>
          <a:blip r:embed="rId5"/>
          <a:stretch>
            <a:fillRect/>
          </a:stretch>
        </p:blipFill>
        <p:spPr>
          <a:xfrm>
            <a:off x="585216" y="4169664"/>
            <a:ext cx="274320" cy="274320"/>
          </a:xfrm>
          <a:prstGeom prst="rect">
            <a:avLst/>
          </a:prstGeom>
        </p:spPr>
      </p:pic>
      <p:sp>
        <p:nvSpPr>
          <p:cNvPr id="42" name="Text 34"/>
          <p:cNvSpPr txBox="1"/>
          <p:nvPr/>
        </p:nvSpPr>
        <p:spPr>
          <a:xfrm>
            <a:off x="987552" y="4133088"/>
            <a:ext cx="7571232" cy="34747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Quick test: if the record would still exist even if no statistician ever looked at it, the source is non-traditional.</a:t>
            </a:r>
            <a:endParaRPr lang="en-US" sz="1100" dirty="0"/>
          </a:p>
        </p:txBody>
      </p:sp>
      <p:sp>
        <p:nvSpPr>
          <p:cNvPr id="43" name="Text 35"/>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UNECE (2013), Classification of Types of Big Data, HLG-MOS Big Data Task Team.</a:t>
            </a:r>
            <a:endParaRPr lang="en-US" sz="8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TAXONOMY</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The treasure map: six families of sources</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Grouped by what an NSO actually works with. We open each chest on the next slides.</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00704A"/>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8" name="Shape 15"/>
          <p:cNvSpPr/>
          <p:nvPr/>
        </p:nvSpPr>
        <p:spPr>
          <a:xfrm>
            <a:off x="457200" y="1417320"/>
            <a:ext cx="2615184" cy="1417320"/>
          </a:xfrm>
          <a:prstGeom prst="roundRect">
            <a:avLst>
              <a:gd name="adj" fmla="val 5161"/>
            </a:avLst>
          </a:prstGeom>
          <a:solidFill>
            <a:srgbClr val="E8F5EF"/>
          </a:solidFill>
          <a:ln w="15875">
            <a:solidFill>
              <a:srgbClr val="00704A"/>
            </a:solidFill>
            <a:prstDash val="solid"/>
          </a:ln>
        </p:spPr>
      </p:sp>
      <p:sp>
        <p:nvSpPr>
          <p:cNvPr id="19" name="Shape 16"/>
          <p:cNvSpPr/>
          <p:nvPr/>
        </p:nvSpPr>
        <p:spPr>
          <a:xfrm>
            <a:off x="640080" y="1618488"/>
            <a:ext cx="640080" cy="640080"/>
          </a:xfrm>
          <a:prstGeom prst="ellipse">
            <a:avLst/>
          </a:prstGeom>
          <a:solidFill>
            <a:srgbClr val="00704A">
              <a:alpha val="22000"/>
            </a:srgbClr>
          </a:solidFill>
          <a:ln/>
        </p:spPr>
      </p:sp>
      <p:pic>
        <p:nvPicPr>
          <p:cNvPr id="20" name="Image 0" descr="preencoded.png">    </p:cNvPr>
          <p:cNvPicPr>
            <a:picLocks noChangeAspect="1"/>
          </p:cNvPicPr>
          <p:nvPr/>
        </p:nvPicPr>
        <p:blipFill>
          <a:blip r:embed="rId1"/>
          <a:stretch>
            <a:fillRect/>
          </a:stretch>
        </p:blipFill>
        <p:spPr>
          <a:xfrm>
            <a:off x="800100" y="1778508"/>
            <a:ext cx="320040" cy="320040"/>
          </a:xfrm>
          <a:prstGeom prst="rect">
            <a:avLst/>
          </a:prstGeom>
        </p:spPr>
      </p:pic>
      <p:sp>
        <p:nvSpPr>
          <p:cNvPr id="21" name="Text 17"/>
          <p:cNvSpPr txBox="1"/>
          <p:nvPr/>
        </p:nvSpPr>
        <p:spPr>
          <a:xfrm>
            <a:off x="2514600" y="1527048"/>
            <a:ext cx="411480" cy="365760"/>
          </a:xfrm>
          <a:prstGeom prst="rect">
            <a:avLst/>
          </a:prstGeom>
          <a:noFill/>
          <a:ln/>
        </p:spPr>
        <p:txBody>
          <a:bodyPr wrap="square" lIns="0" tIns="0" rIns="0" bIns="0" rtlCol="0" anchor="t"/>
          <a:lstStyle/>
          <a:p>
            <a:pPr algn="r" indent="0" marL="0">
              <a:buNone/>
            </a:pPr>
            <a:r>
              <a:rPr lang="en-US" sz="2200" b="1" dirty="0">
                <a:solidFill>
                  <a:srgbClr val="F5C242"/>
                </a:solidFill>
                <a:latin typeface="Calibri" pitchFamily="34" charset="0"/>
                <a:ea typeface="Calibri" pitchFamily="34" charset="-122"/>
                <a:cs typeface="Calibri" pitchFamily="34" charset="-120"/>
              </a:rPr>
              <a:t>1</a:t>
            </a:r>
            <a:endParaRPr lang="en-US" sz="2200" dirty="0"/>
          </a:p>
        </p:txBody>
      </p:sp>
      <p:sp>
        <p:nvSpPr>
          <p:cNvPr id="22" name="Text 18"/>
          <p:cNvSpPr txBox="1"/>
          <p:nvPr/>
        </p:nvSpPr>
        <p:spPr>
          <a:xfrm>
            <a:off x="640080" y="2313432"/>
            <a:ext cx="2286000" cy="256032"/>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Satellite imagery</a:t>
            </a:r>
            <a:endParaRPr lang="en-US" sz="1300" dirty="0"/>
          </a:p>
        </p:txBody>
      </p:sp>
      <p:sp>
        <p:nvSpPr>
          <p:cNvPr id="23" name="Text 19"/>
          <p:cNvSpPr txBox="1"/>
          <p:nvPr/>
        </p:nvSpPr>
        <p:spPr>
          <a:xfrm>
            <a:off x="640080" y="2551176"/>
            <a:ext cx="228600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Land, light, water, buildings</a:t>
            </a:r>
            <a:endParaRPr lang="en-US" sz="1050" dirty="0"/>
          </a:p>
        </p:txBody>
      </p:sp>
      <p:sp>
        <p:nvSpPr>
          <p:cNvPr id="24" name="Shape 20"/>
          <p:cNvSpPr/>
          <p:nvPr/>
        </p:nvSpPr>
        <p:spPr>
          <a:xfrm>
            <a:off x="1417320" y="1746504"/>
            <a:ext cx="1143000" cy="237744"/>
          </a:xfrm>
          <a:prstGeom prst="roundRect">
            <a:avLst>
              <a:gd name="adj" fmla="val 50000"/>
            </a:avLst>
          </a:prstGeom>
          <a:solidFill>
            <a:srgbClr val="00A86A">
              <a:alpha val="15000"/>
            </a:srgbClr>
          </a:solidFill>
          <a:ln w="9525">
            <a:solidFill>
              <a:srgbClr val="00A86A"/>
            </a:solidFill>
            <a:prstDash val="solid"/>
          </a:ln>
        </p:spPr>
      </p:sp>
      <p:sp>
        <p:nvSpPr>
          <p:cNvPr id="25" name="Text 21"/>
          <p:cNvSpPr txBox="1"/>
          <p:nvPr/>
        </p:nvSpPr>
        <p:spPr>
          <a:xfrm>
            <a:off x="1417320" y="1746504"/>
            <a:ext cx="114300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Lab: Day 4 (NTL)</a:t>
            </a:r>
            <a:endParaRPr lang="en-US" sz="950" dirty="0"/>
          </a:p>
        </p:txBody>
      </p:sp>
      <p:sp>
        <p:nvSpPr>
          <p:cNvPr id="26" name="Shape 22"/>
          <p:cNvSpPr/>
          <p:nvPr/>
        </p:nvSpPr>
        <p:spPr>
          <a:xfrm>
            <a:off x="3264408" y="1417320"/>
            <a:ext cx="2615184" cy="1417320"/>
          </a:xfrm>
          <a:prstGeom prst="roundRect">
            <a:avLst>
              <a:gd name="adj" fmla="val 5161"/>
            </a:avLst>
          </a:prstGeom>
          <a:solidFill>
            <a:srgbClr val="E8F5EF"/>
          </a:solidFill>
          <a:ln w="15875">
            <a:solidFill>
              <a:srgbClr val="00704A"/>
            </a:solidFill>
            <a:prstDash val="solid"/>
          </a:ln>
        </p:spPr>
      </p:sp>
      <p:sp>
        <p:nvSpPr>
          <p:cNvPr id="27" name="Shape 23"/>
          <p:cNvSpPr/>
          <p:nvPr/>
        </p:nvSpPr>
        <p:spPr>
          <a:xfrm>
            <a:off x="3447288" y="1618488"/>
            <a:ext cx="640080" cy="640080"/>
          </a:xfrm>
          <a:prstGeom prst="ellipse">
            <a:avLst/>
          </a:prstGeom>
          <a:solidFill>
            <a:srgbClr val="00704A">
              <a:alpha val="22000"/>
            </a:srgbClr>
          </a:solidFill>
          <a:ln/>
        </p:spPr>
      </p:sp>
      <p:pic>
        <p:nvPicPr>
          <p:cNvPr id="28" name="Image 1" descr="preencoded.png">    </p:cNvPr>
          <p:cNvPicPr>
            <a:picLocks noChangeAspect="1"/>
          </p:cNvPicPr>
          <p:nvPr/>
        </p:nvPicPr>
        <p:blipFill>
          <a:blip r:embed="rId2"/>
          <a:stretch>
            <a:fillRect/>
          </a:stretch>
        </p:blipFill>
        <p:spPr>
          <a:xfrm>
            <a:off x="3607308" y="1778508"/>
            <a:ext cx="320040" cy="320040"/>
          </a:xfrm>
          <a:prstGeom prst="rect">
            <a:avLst/>
          </a:prstGeom>
        </p:spPr>
      </p:pic>
      <p:sp>
        <p:nvSpPr>
          <p:cNvPr id="29" name="Text 24"/>
          <p:cNvSpPr txBox="1"/>
          <p:nvPr/>
        </p:nvSpPr>
        <p:spPr>
          <a:xfrm>
            <a:off x="5321808" y="1527048"/>
            <a:ext cx="411480" cy="365760"/>
          </a:xfrm>
          <a:prstGeom prst="rect">
            <a:avLst/>
          </a:prstGeom>
          <a:noFill/>
          <a:ln/>
        </p:spPr>
        <p:txBody>
          <a:bodyPr wrap="square" lIns="0" tIns="0" rIns="0" bIns="0" rtlCol="0" anchor="t"/>
          <a:lstStyle/>
          <a:p>
            <a:pPr algn="r" indent="0" marL="0">
              <a:buNone/>
            </a:pPr>
            <a:r>
              <a:rPr lang="en-US" sz="2200" b="1" dirty="0">
                <a:solidFill>
                  <a:srgbClr val="F5C242"/>
                </a:solidFill>
                <a:latin typeface="Calibri" pitchFamily="34" charset="0"/>
                <a:ea typeface="Calibri" pitchFamily="34" charset="-122"/>
                <a:cs typeface="Calibri" pitchFamily="34" charset="-120"/>
              </a:rPr>
              <a:t>2</a:t>
            </a:r>
            <a:endParaRPr lang="en-US" sz="2200" dirty="0"/>
          </a:p>
        </p:txBody>
      </p:sp>
      <p:sp>
        <p:nvSpPr>
          <p:cNvPr id="30" name="Text 25"/>
          <p:cNvSpPr txBox="1"/>
          <p:nvPr/>
        </p:nvSpPr>
        <p:spPr>
          <a:xfrm>
            <a:off x="3447288" y="2313432"/>
            <a:ext cx="2286000" cy="256032"/>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Crowdsourced measurement</a:t>
            </a:r>
            <a:endParaRPr lang="en-US" sz="1300" dirty="0"/>
          </a:p>
        </p:txBody>
      </p:sp>
      <p:sp>
        <p:nvSpPr>
          <p:cNvPr id="31" name="Text 26"/>
          <p:cNvSpPr txBox="1"/>
          <p:nvPr/>
        </p:nvSpPr>
        <p:spPr>
          <a:xfrm>
            <a:off x="3447288" y="2551176"/>
            <a:ext cx="228600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Connectivity, maps, prices</a:t>
            </a:r>
            <a:endParaRPr lang="en-US" sz="1050" dirty="0"/>
          </a:p>
        </p:txBody>
      </p:sp>
      <p:sp>
        <p:nvSpPr>
          <p:cNvPr id="32" name="Shape 27"/>
          <p:cNvSpPr/>
          <p:nvPr/>
        </p:nvSpPr>
        <p:spPr>
          <a:xfrm>
            <a:off x="4224528" y="1746504"/>
            <a:ext cx="1143000" cy="237744"/>
          </a:xfrm>
          <a:prstGeom prst="roundRect">
            <a:avLst>
              <a:gd name="adj" fmla="val 50000"/>
            </a:avLst>
          </a:prstGeom>
          <a:solidFill>
            <a:srgbClr val="00A86A">
              <a:alpha val="15000"/>
            </a:srgbClr>
          </a:solidFill>
          <a:ln w="9525">
            <a:solidFill>
              <a:srgbClr val="00A86A"/>
            </a:solidFill>
            <a:prstDash val="solid"/>
          </a:ln>
        </p:spPr>
      </p:sp>
      <p:sp>
        <p:nvSpPr>
          <p:cNvPr id="33" name="Text 28"/>
          <p:cNvSpPr txBox="1"/>
          <p:nvPr/>
        </p:nvSpPr>
        <p:spPr>
          <a:xfrm>
            <a:off x="4224528" y="1746504"/>
            <a:ext cx="114300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Lab: Day 3 (Ookla)</a:t>
            </a:r>
            <a:endParaRPr lang="en-US" sz="950" dirty="0"/>
          </a:p>
        </p:txBody>
      </p:sp>
      <p:sp>
        <p:nvSpPr>
          <p:cNvPr id="34" name="Shape 29"/>
          <p:cNvSpPr/>
          <p:nvPr/>
        </p:nvSpPr>
        <p:spPr>
          <a:xfrm>
            <a:off x="6071616" y="1417320"/>
            <a:ext cx="2615184" cy="1417320"/>
          </a:xfrm>
          <a:prstGeom prst="roundRect">
            <a:avLst>
              <a:gd name="adj" fmla="val 5161"/>
            </a:avLst>
          </a:prstGeom>
          <a:solidFill>
            <a:srgbClr val="F4F7F5"/>
          </a:solidFill>
          <a:ln w="9525">
            <a:solidFill>
              <a:srgbClr val="D5DED9"/>
            </a:solidFill>
            <a:prstDash val="solid"/>
          </a:ln>
        </p:spPr>
      </p:sp>
      <p:sp>
        <p:nvSpPr>
          <p:cNvPr id="35" name="Shape 30"/>
          <p:cNvSpPr/>
          <p:nvPr/>
        </p:nvSpPr>
        <p:spPr>
          <a:xfrm>
            <a:off x="6254496" y="1618488"/>
            <a:ext cx="640080" cy="640080"/>
          </a:xfrm>
          <a:prstGeom prst="ellipse">
            <a:avLst/>
          </a:prstGeom>
          <a:solidFill>
            <a:srgbClr val="00704A">
              <a:alpha val="22000"/>
            </a:srgbClr>
          </a:solidFill>
          <a:ln/>
        </p:spPr>
      </p:sp>
      <p:pic>
        <p:nvPicPr>
          <p:cNvPr id="36" name="Image 2" descr="preencoded.png">    </p:cNvPr>
          <p:cNvPicPr>
            <a:picLocks noChangeAspect="1"/>
          </p:cNvPicPr>
          <p:nvPr/>
        </p:nvPicPr>
        <p:blipFill>
          <a:blip r:embed="rId3"/>
          <a:stretch>
            <a:fillRect/>
          </a:stretch>
        </p:blipFill>
        <p:spPr>
          <a:xfrm>
            <a:off x="6414516" y="1778508"/>
            <a:ext cx="320040" cy="320040"/>
          </a:xfrm>
          <a:prstGeom prst="rect">
            <a:avLst/>
          </a:prstGeom>
        </p:spPr>
      </p:pic>
      <p:sp>
        <p:nvSpPr>
          <p:cNvPr id="37" name="Text 31"/>
          <p:cNvSpPr txBox="1"/>
          <p:nvPr/>
        </p:nvSpPr>
        <p:spPr>
          <a:xfrm>
            <a:off x="8129016" y="1527048"/>
            <a:ext cx="411480" cy="365760"/>
          </a:xfrm>
          <a:prstGeom prst="rect">
            <a:avLst/>
          </a:prstGeom>
          <a:noFill/>
          <a:ln/>
        </p:spPr>
        <p:txBody>
          <a:bodyPr wrap="square" lIns="0" tIns="0" rIns="0" bIns="0" rtlCol="0" anchor="t"/>
          <a:lstStyle/>
          <a:p>
            <a:pPr algn="r" indent="0" marL="0">
              <a:buNone/>
            </a:pPr>
            <a:r>
              <a:rPr lang="en-US" sz="2200" b="1" dirty="0">
                <a:solidFill>
                  <a:srgbClr val="F5C242"/>
                </a:solidFill>
                <a:latin typeface="Calibri" pitchFamily="34" charset="0"/>
                <a:ea typeface="Calibri" pitchFamily="34" charset="-122"/>
                <a:cs typeface="Calibri" pitchFamily="34" charset="-120"/>
              </a:rPr>
              <a:t>3</a:t>
            </a:r>
            <a:endParaRPr lang="en-US" sz="2200" dirty="0"/>
          </a:p>
        </p:txBody>
      </p:sp>
      <p:sp>
        <p:nvSpPr>
          <p:cNvPr id="38" name="Text 32"/>
          <p:cNvSpPr txBox="1"/>
          <p:nvPr/>
        </p:nvSpPr>
        <p:spPr>
          <a:xfrm>
            <a:off x="6254496" y="2313432"/>
            <a:ext cx="2286000" cy="256032"/>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Scanner, transaction &amp; telecom</a:t>
            </a:r>
            <a:endParaRPr lang="en-US" sz="1300" dirty="0"/>
          </a:p>
        </p:txBody>
      </p:sp>
      <p:sp>
        <p:nvSpPr>
          <p:cNvPr id="39" name="Text 33"/>
          <p:cNvSpPr txBox="1"/>
          <p:nvPr/>
        </p:nvSpPr>
        <p:spPr>
          <a:xfrm>
            <a:off x="6254496" y="2551176"/>
            <a:ext cx="228600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Prices, spending, mobility</a:t>
            </a:r>
            <a:endParaRPr lang="en-US" sz="1050" dirty="0"/>
          </a:p>
        </p:txBody>
      </p:sp>
      <p:sp>
        <p:nvSpPr>
          <p:cNvPr id="40" name="Shape 34"/>
          <p:cNvSpPr/>
          <p:nvPr/>
        </p:nvSpPr>
        <p:spPr>
          <a:xfrm>
            <a:off x="457200" y="3017520"/>
            <a:ext cx="2615184" cy="1417320"/>
          </a:xfrm>
          <a:prstGeom prst="roundRect">
            <a:avLst>
              <a:gd name="adj" fmla="val 5161"/>
            </a:avLst>
          </a:prstGeom>
          <a:solidFill>
            <a:srgbClr val="F4F7F5"/>
          </a:solidFill>
          <a:ln w="9525">
            <a:solidFill>
              <a:srgbClr val="D5DED9"/>
            </a:solidFill>
            <a:prstDash val="solid"/>
          </a:ln>
        </p:spPr>
      </p:sp>
      <p:sp>
        <p:nvSpPr>
          <p:cNvPr id="41" name="Shape 35"/>
          <p:cNvSpPr/>
          <p:nvPr/>
        </p:nvSpPr>
        <p:spPr>
          <a:xfrm>
            <a:off x="640080" y="3218688"/>
            <a:ext cx="640080" cy="640080"/>
          </a:xfrm>
          <a:prstGeom prst="ellipse">
            <a:avLst/>
          </a:prstGeom>
          <a:solidFill>
            <a:srgbClr val="00704A">
              <a:alpha val="22000"/>
            </a:srgbClr>
          </a:solidFill>
          <a:ln/>
        </p:spPr>
      </p:sp>
      <p:pic>
        <p:nvPicPr>
          <p:cNvPr id="42" name="Image 3" descr="preencoded.png">    </p:cNvPr>
          <p:cNvPicPr>
            <a:picLocks noChangeAspect="1"/>
          </p:cNvPicPr>
          <p:nvPr/>
        </p:nvPicPr>
        <p:blipFill>
          <a:blip r:embed="rId4"/>
          <a:stretch>
            <a:fillRect/>
          </a:stretch>
        </p:blipFill>
        <p:spPr>
          <a:xfrm>
            <a:off x="800100" y="3378708"/>
            <a:ext cx="320040" cy="320040"/>
          </a:xfrm>
          <a:prstGeom prst="rect">
            <a:avLst/>
          </a:prstGeom>
        </p:spPr>
      </p:pic>
      <p:sp>
        <p:nvSpPr>
          <p:cNvPr id="43" name="Text 36"/>
          <p:cNvSpPr txBox="1"/>
          <p:nvPr/>
        </p:nvSpPr>
        <p:spPr>
          <a:xfrm>
            <a:off x="2514600" y="3127248"/>
            <a:ext cx="411480" cy="365760"/>
          </a:xfrm>
          <a:prstGeom prst="rect">
            <a:avLst/>
          </a:prstGeom>
          <a:noFill/>
          <a:ln/>
        </p:spPr>
        <p:txBody>
          <a:bodyPr wrap="square" lIns="0" tIns="0" rIns="0" bIns="0" rtlCol="0" anchor="t"/>
          <a:lstStyle/>
          <a:p>
            <a:pPr algn="r" indent="0" marL="0">
              <a:buNone/>
            </a:pPr>
            <a:r>
              <a:rPr lang="en-US" sz="2200" b="1" dirty="0">
                <a:solidFill>
                  <a:srgbClr val="F5C242"/>
                </a:solidFill>
                <a:latin typeface="Calibri" pitchFamily="34" charset="0"/>
                <a:ea typeface="Calibri" pitchFamily="34" charset="-122"/>
                <a:cs typeface="Calibri" pitchFamily="34" charset="-120"/>
              </a:rPr>
              <a:t>4</a:t>
            </a:r>
            <a:endParaRPr lang="en-US" sz="2200" dirty="0"/>
          </a:p>
        </p:txBody>
      </p:sp>
      <p:sp>
        <p:nvSpPr>
          <p:cNvPr id="44" name="Text 37"/>
          <p:cNvSpPr txBox="1"/>
          <p:nvPr/>
        </p:nvSpPr>
        <p:spPr>
          <a:xfrm>
            <a:off x="640080" y="3913632"/>
            <a:ext cx="2286000" cy="256032"/>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Web scraping</a:t>
            </a:r>
            <a:endParaRPr lang="en-US" sz="1300" dirty="0"/>
          </a:p>
        </p:txBody>
      </p:sp>
      <p:sp>
        <p:nvSpPr>
          <p:cNvPr id="45" name="Text 38"/>
          <p:cNvSpPr txBox="1"/>
          <p:nvPr/>
        </p:nvSpPr>
        <p:spPr>
          <a:xfrm>
            <a:off x="640080" y="4151376"/>
            <a:ext cx="228600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Online prices, jobs, firms</a:t>
            </a:r>
            <a:endParaRPr lang="en-US" sz="1050" dirty="0"/>
          </a:p>
        </p:txBody>
      </p:sp>
      <p:sp>
        <p:nvSpPr>
          <p:cNvPr id="46" name="Shape 39"/>
          <p:cNvSpPr/>
          <p:nvPr/>
        </p:nvSpPr>
        <p:spPr>
          <a:xfrm>
            <a:off x="3264408" y="3017520"/>
            <a:ext cx="2615184" cy="1417320"/>
          </a:xfrm>
          <a:prstGeom prst="roundRect">
            <a:avLst>
              <a:gd name="adj" fmla="val 5161"/>
            </a:avLst>
          </a:prstGeom>
          <a:solidFill>
            <a:srgbClr val="F4F7F5"/>
          </a:solidFill>
          <a:ln w="9525">
            <a:solidFill>
              <a:srgbClr val="D5DED9"/>
            </a:solidFill>
            <a:prstDash val="solid"/>
          </a:ln>
        </p:spPr>
      </p:sp>
      <p:sp>
        <p:nvSpPr>
          <p:cNvPr id="47" name="Shape 40"/>
          <p:cNvSpPr/>
          <p:nvPr/>
        </p:nvSpPr>
        <p:spPr>
          <a:xfrm>
            <a:off x="3447288" y="3218688"/>
            <a:ext cx="640080" cy="640080"/>
          </a:xfrm>
          <a:prstGeom prst="ellipse">
            <a:avLst/>
          </a:prstGeom>
          <a:solidFill>
            <a:srgbClr val="00704A">
              <a:alpha val="22000"/>
            </a:srgbClr>
          </a:solidFill>
          <a:ln/>
        </p:spPr>
      </p:sp>
      <p:pic>
        <p:nvPicPr>
          <p:cNvPr id="48" name="Image 4" descr="preencoded.png">    </p:cNvPr>
          <p:cNvPicPr>
            <a:picLocks noChangeAspect="1"/>
          </p:cNvPicPr>
          <p:nvPr/>
        </p:nvPicPr>
        <p:blipFill>
          <a:blip r:embed="rId5"/>
          <a:stretch>
            <a:fillRect/>
          </a:stretch>
        </p:blipFill>
        <p:spPr>
          <a:xfrm>
            <a:off x="3607308" y="3378708"/>
            <a:ext cx="320040" cy="320040"/>
          </a:xfrm>
          <a:prstGeom prst="rect">
            <a:avLst/>
          </a:prstGeom>
        </p:spPr>
      </p:pic>
      <p:sp>
        <p:nvSpPr>
          <p:cNvPr id="49" name="Text 41"/>
          <p:cNvSpPr txBox="1"/>
          <p:nvPr/>
        </p:nvSpPr>
        <p:spPr>
          <a:xfrm>
            <a:off x="5321808" y="3127248"/>
            <a:ext cx="411480" cy="365760"/>
          </a:xfrm>
          <a:prstGeom prst="rect">
            <a:avLst/>
          </a:prstGeom>
          <a:noFill/>
          <a:ln/>
        </p:spPr>
        <p:txBody>
          <a:bodyPr wrap="square" lIns="0" tIns="0" rIns="0" bIns="0" rtlCol="0" anchor="t"/>
          <a:lstStyle/>
          <a:p>
            <a:pPr algn="r" indent="0" marL="0">
              <a:buNone/>
            </a:pPr>
            <a:r>
              <a:rPr lang="en-US" sz="2200" b="1" dirty="0">
                <a:solidFill>
                  <a:srgbClr val="F5C242"/>
                </a:solidFill>
                <a:latin typeface="Calibri" pitchFamily="34" charset="0"/>
                <a:ea typeface="Calibri" pitchFamily="34" charset="-122"/>
                <a:cs typeface="Calibri" pitchFamily="34" charset="-120"/>
              </a:rPr>
              <a:t>5</a:t>
            </a:r>
            <a:endParaRPr lang="en-US" sz="2200" dirty="0"/>
          </a:p>
        </p:txBody>
      </p:sp>
      <p:sp>
        <p:nvSpPr>
          <p:cNvPr id="50" name="Text 42"/>
          <p:cNvSpPr txBox="1"/>
          <p:nvPr/>
        </p:nvSpPr>
        <p:spPr>
          <a:xfrm>
            <a:off x="3447288" y="3913632"/>
            <a:ext cx="2286000" cy="256032"/>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Sensors &amp; IoT</a:t>
            </a:r>
            <a:endParaRPr lang="en-US" sz="1300" dirty="0"/>
          </a:p>
        </p:txBody>
      </p:sp>
      <p:sp>
        <p:nvSpPr>
          <p:cNvPr id="51" name="Text 43"/>
          <p:cNvSpPr txBox="1"/>
          <p:nvPr/>
        </p:nvSpPr>
        <p:spPr>
          <a:xfrm>
            <a:off x="3447288" y="4151376"/>
            <a:ext cx="228600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Energy, traffic, environment</a:t>
            </a:r>
            <a:endParaRPr lang="en-US" sz="1050" dirty="0"/>
          </a:p>
        </p:txBody>
      </p:sp>
      <p:sp>
        <p:nvSpPr>
          <p:cNvPr id="52" name="Shape 44"/>
          <p:cNvSpPr/>
          <p:nvPr/>
        </p:nvSpPr>
        <p:spPr>
          <a:xfrm>
            <a:off x="6071616" y="3017520"/>
            <a:ext cx="2615184" cy="1417320"/>
          </a:xfrm>
          <a:prstGeom prst="roundRect">
            <a:avLst>
              <a:gd name="adj" fmla="val 5161"/>
            </a:avLst>
          </a:prstGeom>
          <a:solidFill>
            <a:srgbClr val="F4F7F5"/>
          </a:solidFill>
          <a:ln w="9525">
            <a:solidFill>
              <a:srgbClr val="D5DED9"/>
            </a:solidFill>
            <a:prstDash val="solid"/>
          </a:ln>
        </p:spPr>
      </p:sp>
      <p:sp>
        <p:nvSpPr>
          <p:cNvPr id="53" name="Shape 45"/>
          <p:cNvSpPr/>
          <p:nvPr/>
        </p:nvSpPr>
        <p:spPr>
          <a:xfrm>
            <a:off x="6254496" y="3218688"/>
            <a:ext cx="640080" cy="640080"/>
          </a:xfrm>
          <a:prstGeom prst="ellipse">
            <a:avLst/>
          </a:prstGeom>
          <a:solidFill>
            <a:srgbClr val="00704A">
              <a:alpha val="22000"/>
            </a:srgbClr>
          </a:solidFill>
          <a:ln/>
        </p:spPr>
      </p:sp>
      <p:pic>
        <p:nvPicPr>
          <p:cNvPr id="54" name="Image 5" descr="preencoded.png">    </p:cNvPr>
          <p:cNvPicPr>
            <a:picLocks noChangeAspect="1"/>
          </p:cNvPicPr>
          <p:nvPr/>
        </p:nvPicPr>
        <p:blipFill>
          <a:blip r:embed="rId6"/>
          <a:stretch>
            <a:fillRect/>
          </a:stretch>
        </p:blipFill>
        <p:spPr>
          <a:xfrm>
            <a:off x="6414516" y="3378708"/>
            <a:ext cx="320040" cy="320040"/>
          </a:xfrm>
          <a:prstGeom prst="rect">
            <a:avLst/>
          </a:prstGeom>
        </p:spPr>
      </p:pic>
      <p:sp>
        <p:nvSpPr>
          <p:cNvPr id="55" name="Text 46"/>
          <p:cNvSpPr txBox="1"/>
          <p:nvPr/>
        </p:nvSpPr>
        <p:spPr>
          <a:xfrm>
            <a:off x="8129016" y="3127248"/>
            <a:ext cx="411480" cy="365760"/>
          </a:xfrm>
          <a:prstGeom prst="rect">
            <a:avLst/>
          </a:prstGeom>
          <a:noFill/>
          <a:ln/>
        </p:spPr>
        <p:txBody>
          <a:bodyPr wrap="square" lIns="0" tIns="0" rIns="0" bIns="0" rtlCol="0" anchor="t"/>
          <a:lstStyle/>
          <a:p>
            <a:pPr algn="r" indent="0" marL="0">
              <a:buNone/>
            </a:pPr>
            <a:r>
              <a:rPr lang="en-US" sz="2200" b="1" dirty="0">
                <a:solidFill>
                  <a:srgbClr val="F5C242"/>
                </a:solidFill>
                <a:latin typeface="Calibri" pitchFamily="34" charset="0"/>
                <a:ea typeface="Calibri" pitchFamily="34" charset="-122"/>
                <a:cs typeface="Calibri" pitchFamily="34" charset="-120"/>
              </a:rPr>
              <a:t>6</a:t>
            </a:r>
            <a:endParaRPr lang="en-US" sz="2200" dirty="0"/>
          </a:p>
        </p:txBody>
      </p:sp>
      <p:sp>
        <p:nvSpPr>
          <p:cNvPr id="56" name="Text 47"/>
          <p:cNvSpPr txBox="1"/>
          <p:nvPr/>
        </p:nvSpPr>
        <p:spPr>
          <a:xfrm>
            <a:off x="6254496" y="3913632"/>
            <a:ext cx="2286000" cy="256032"/>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Citizen-generated data</a:t>
            </a:r>
            <a:endParaRPr lang="en-US" sz="1300" dirty="0"/>
          </a:p>
        </p:txBody>
      </p:sp>
      <p:sp>
        <p:nvSpPr>
          <p:cNvPr id="57" name="Text 48"/>
          <p:cNvSpPr txBox="1"/>
          <p:nvPr/>
        </p:nvSpPr>
        <p:spPr>
          <a:xfrm>
            <a:off x="6254496" y="4151376"/>
            <a:ext cx="228600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Local realities, voice, services</a:t>
            </a:r>
            <a:endParaRPr lang="en-US" sz="10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TAXONOMY · FAMILY 1 OF 6</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Satellite imagery and Earth observation</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097280"/>
            <a:ext cx="2743200" cy="1600200"/>
          </a:xfrm>
          <a:prstGeom prst="roundRect">
            <a:avLst>
              <a:gd name="adj" fmla="val 4571"/>
            </a:avLst>
          </a:prstGeom>
          <a:solidFill>
            <a:srgbClr val="F4F7F5"/>
          </a:solidFill>
          <a:ln w="9525">
            <a:solidFill>
              <a:srgbClr val="D5DED9"/>
            </a:solidFill>
            <a:prstDash val="solid"/>
          </a:ln>
        </p:spPr>
      </p:sp>
      <p:sp>
        <p:nvSpPr>
          <p:cNvPr id="18" name="Shape 15"/>
          <p:cNvSpPr/>
          <p:nvPr/>
        </p:nvSpPr>
        <p:spPr>
          <a:xfrm>
            <a:off x="594360" y="1207008"/>
            <a:ext cx="384048" cy="384048"/>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690372" y="1303020"/>
            <a:ext cx="192024" cy="192024"/>
          </a:xfrm>
          <a:prstGeom prst="rect">
            <a:avLst/>
          </a:prstGeom>
        </p:spPr>
      </p:pic>
      <p:sp>
        <p:nvSpPr>
          <p:cNvPr id="20" name="Text 16"/>
          <p:cNvSpPr txBox="1"/>
          <p:nvPr/>
        </p:nvSpPr>
        <p:spPr>
          <a:xfrm>
            <a:off x="1069848" y="1207008"/>
            <a:ext cx="1828800" cy="38404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WHAT IT IS</a:t>
            </a:r>
            <a:endParaRPr lang="en-US" sz="1000" dirty="0"/>
          </a:p>
        </p:txBody>
      </p:sp>
      <p:sp>
        <p:nvSpPr>
          <p:cNvPr id="21" name="Text 17"/>
          <p:cNvSpPr txBox="1"/>
          <p:nvPr/>
        </p:nvSpPr>
        <p:spPr>
          <a:xfrm>
            <a:off x="594360" y="1664208"/>
            <a:ext cx="2468880" cy="98755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Optical, radar and night-time light imagery from public missions (Sentinel, Landsat, VIIRS) and commercial providers — global, repeated, and largely free at medium resolution.</a:t>
            </a:r>
            <a:endParaRPr lang="en-US" sz="1050" dirty="0"/>
          </a:p>
        </p:txBody>
      </p:sp>
      <p:sp>
        <p:nvSpPr>
          <p:cNvPr id="22" name="Shape 18"/>
          <p:cNvSpPr/>
          <p:nvPr/>
        </p:nvSpPr>
        <p:spPr>
          <a:xfrm>
            <a:off x="457200" y="2807208"/>
            <a:ext cx="2743200" cy="1188720"/>
          </a:xfrm>
          <a:prstGeom prst="roundRect">
            <a:avLst>
              <a:gd name="adj" fmla="val 6154"/>
            </a:avLst>
          </a:prstGeom>
          <a:solidFill>
            <a:srgbClr val="F4F7F5"/>
          </a:solidFill>
          <a:ln w="9525">
            <a:solidFill>
              <a:srgbClr val="D5DED9"/>
            </a:solidFill>
            <a:prstDash val="solid"/>
          </a:ln>
        </p:spPr>
      </p:sp>
      <p:sp>
        <p:nvSpPr>
          <p:cNvPr id="23" name="Text 19"/>
          <p:cNvSpPr txBox="1"/>
          <p:nvPr/>
        </p:nvSpPr>
        <p:spPr>
          <a:xfrm>
            <a:off x="594360" y="2880360"/>
            <a:ext cx="2286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WHERE TO FIND IT</a:t>
            </a:r>
            <a:endParaRPr lang="en-US" sz="1000" dirty="0"/>
          </a:p>
        </p:txBody>
      </p:sp>
      <p:sp>
        <p:nvSpPr>
          <p:cNvPr id="24" name="Shape 20"/>
          <p:cNvSpPr/>
          <p:nvPr/>
        </p:nvSpPr>
        <p:spPr>
          <a:xfrm>
            <a:off x="594360" y="3163824"/>
            <a:ext cx="1207008" cy="329184"/>
          </a:xfrm>
          <a:prstGeom prst="roundRect">
            <a:avLst>
              <a:gd name="adj" fmla="val 22222"/>
            </a:avLst>
          </a:prstGeom>
          <a:solidFill>
            <a:srgbClr val="FFFFFF"/>
          </a:solidFill>
          <a:ln w="9525">
            <a:solidFill>
              <a:srgbClr val="00704A"/>
            </a:solidFill>
            <a:prstDash val="solid"/>
          </a:ln>
        </p:spPr>
      </p:sp>
      <p:sp>
        <p:nvSpPr>
          <p:cNvPr id="25" name="Text 21"/>
          <p:cNvSpPr txBox="1"/>
          <p:nvPr/>
        </p:nvSpPr>
        <p:spPr>
          <a:xfrm>
            <a:off x="630936" y="3163824"/>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Copernicus Sentinel-2</a:t>
            </a:r>
            <a:endParaRPr lang="en-US" sz="900" dirty="0"/>
          </a:p>
        </p:txBody>
      </p:sp>
      <p:sp>
        <p:nvSpPr>
          <p:cNvPr id="26" name="Shape 22"/>
          <p:cNvSpPr/>
          <p:nvPr/>
        </p:nvSpPr>
        <p:spPr>
          <a:xfrm>
            <a:off x="1865376" y="3163824"/>
            <a:ext cx="1207008" cy="329184"/>
          </a:xfrm>
          <a:prstGeom prst="roundRect">
            <a:avLst>
              <a:gd name="adj" fmla="val 22222"/>
            </a:avLst>
          </a:prstGeom>
          <a:solidFill>
            <a:srgbClr val="FFFFFF"/>
          </a:solidFill>
          <a:ln w="9525">
            <a:solidFill>
              <a:srgbClr val="00704A"/>
            </a:solidFill>
            <a:prstDash val="solid"/>
          </a:ln>
        </p:spPr>
      </p:sp>
      <p:sp>
        <p:nvSpPr>
          <p:cNvPr id="27" name="Text 23"/>
          <p:cNvSpPr txBox="1"/>
          <p:nvPr/>
        </p:nvSpPr>
        <p:spPr>
          <a:xfrm>
            <a:off x="1901952" y="3163824"/>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Landsat 8/9</a:t>
            </a:r>
            <a:endParaRPr lang="en-US" sz="900" dirty="0"/>
          </a:p>
        </p:txBody>
      </p:sp>
      <p:sp>
        <p:nvSpPr>
          <p:cNvPr id="28" name="Shape 24"/>
          <p:cNvSpPr/>
          <p:nvPr/>
        </p:nvSpPr>
        <p:spPr>
          <a:xfrm>
            <a:off x="594360" y="3557016"/>
            <a:ext cx="1207008" cy="329184"/>
          </a:xfrm>
          <a:prstGeom prst="roundRect">
            <a:avLst>
              <a:gd name="adj" fmla="val 22222"/>
            </a:avLst>
          </a:prstGeom>
          <a:solidFill>
            <a:srgbClr val="FFFFFF"/>
          </a:solidFill>
          <a:ln w="9525">
            <a:solidFill>
              <a:srgbClr val="00704A"/>
            </a:solidFill>
            <a:prstDash val="solid"/>
          </a:ln>
        </p:spPr>
      </p:sp>
      <p:sp>
        <p:nvSpPr>
          <p:cNvPr id="29" name="Text 25"/>
          <p:cNvSpPr txBox="1"/>
          <p:nvPr/>
        </p:nvSpPr>
        <p:spPr>
          <a:xfrm>
            <a:off x="630936" y="3557016"/>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NASA Black Marble</a:t>
            </a:r>
            <a:endParaRPr lang="en-US" sz="900" dirty="0"/>
          </a:p>
        </p:txBody>
      </p:sp>
      <p:sp>
        <p:nvSpPr>
          <p:cNvPr id="30" name="Shape 26"/>
          <p:cNvSpPr/>
          <p:nvPr/>
        </p:nvSpPr>
        <p:spPr>
          <a:xfrm>
            <a:off x="1865376" y="3557016"/>
            <a:ext cx="1207008" cy="329184"/>
          </a:xfrm>
          <a:prstGeom prst="roundRect">
            <a:avLst>
              <a:gd name="adj" fmla="val 22222"/>
            </a:avLst>
          </a:prstGeom>
          <a:solidFill>
            <a:srgbClr val="FFFFFF"/>
          </a:solidFill>
          <a:ln w="9525">
            <a:solidFill>
              <a:srgbClr val="00704A"/>
            </a:solidFill>
            <a:prstDash val="solid"/>
          </a:ln>
        </p:spPr>
      </p:sp>
      <p:sp>
        <p:nvSpPr>
          <p:cNvPr id="31" name="Text 27"/>
          <p:cNvSpPr txBox="1"/>
          <p:nvPr/>
        </p:nvSpPr>
        <p:spPr>
          <a:xfrm>
            <a:off x="1901952" y="3557016"/>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Google Earth Engine</a:t>
            </a:r>
            <a:endParaRPr lang="en-US" sz="900" dirty="0"/>
          </a:p>
        </p:txBody>
      </p:sp>
      <p:sp>
        <p:nvSpPr>
          <p:cNvPr id="32" name="Shape 28"/>
          <p:cNvSpPr/>
          <p:nvPr/>
        </p:nvSpPr>
        <p:spPr>
          <a:xfrm>
            <a:off x="3337560" y="1097280"/>
            <a:ext cx="2697480" cy="2898648"/>
          </a:xfrm>
          <a:prstGeom prst="roundRect">
            <a:avLst>
              <a:gd name="adj" fmla="val 2712"/>
            </a:avLst>
          </a:prstGeom>
          <a:solidFill>
            <a:srgbClr val="F4F7F5"/>
          </a:solidFill>
          <a:ln w="9525">
            <a:solidFill>
              <a:srgbClr val="D5DED9"/>
            </a:solidFill>
            <a:prstDash val="solid"/>
          </a:ln>
        </p:spPr>
      </p:sp>
      <p:sp>
        <p:nvSpPr>
          <p:cNvPr id="33" name="Text 29"/>
          <p:cNvSpPr txBox="1"/>
          <p:nvPr/>
        </p:nvSpPr>
        <p:spPr>
          <a:xfrm>
            <a:off x="3474720" y="1207008"/>
            <a:ext cx="2468880" cy="274320"/>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WHAT NSOs CAN MEASURE</a:t>
            </a:r>
            <a:endParaRPr lang="en-US" sz="1000" dirty="0"/>
          </a:p>
        </p:txBody>
      </p:sp>
      <p:pic>
        <p:nvPicPr>
          <p:cNvPr id="34" name="Image 1" descr="preencoded.png">    </p:cNvPr>
          <p:cNvPicPr>
            <a:picLocks noChangeAspect="1"/>
          </p:cNvPicPr>
          <p:nvPr/>
        </p:nvPicPr>
        <p:blipFill>
          <a:blip r:embed="rId2"/>
          <a:stretch>
            <a:fillRect/>
          </a:stretch>
        </p:blipFill>
        <p:spPr>
          <a:xfrm>
            <a:off x="3474720" y="1664208"/>
            <a:ext cx="182880" cy="182880"/>
          </a:xfrm>
          <a:prstGeom prst="rect">
            <a:avLst/>
          </a:prstGeom>
        </p:spPr>
      </p:pic>
      <p:sp>
        <p:nvSpPr>
          <p:cNvPr id="35" name="Text 30"/>
          <p:cNvSpPr txBox="1"/>
          <p:nvPr/>
        </p:nvSpPr>
        <p:spPr>
          <a:xfrm>
            <a:off x="3749040" y="16276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Land cover, crop area and crop condition</a:t>
            </a:r>
            <a:endParaRPr lang="en-US" sz="1050" dirty="0"/>
          </a:p>
        </p:txBody>
      </p:sp>
      <p:pic>
        <p:nvPicPr>
          <p:cNvPr id="36" name="Image 2" descr="preencoded.png">    </p:cNvPr>
          <p:cNvPicPr>
            <a:picLocks noChangeAspect="1"/>
          </p:cNvPicPr>
          <p:nvPr/>
        </p:nvPicPr>
        <p:blipFill>
          <a:blip r:embed="rId3"/>
          <a:stretch>
            <a:fillRect/>
          </a:stretch>
        </p:blipFill>
        <p:spPr>
          <a:xfrm>
            <a:off x="3474720" y="2121408"/>
            <a:ext cx="182880" cy="182880"/>
          </a:xfrm>
          <a:prstGeom prst="rect">
            <a:avLst/>
          </a:prstGeom>
        </p:spPr>
      </p:pic>
      <p:sp>
        <p:nvSpPr>
          <p:cNvPr id="37" name="Text 31"/>
          <p:cNvSpPr txBox="1"/>
          <p:nvPr/>
        </p:nvSpPr>
        <p:spPr>
          <a:xfrm>
            <a:off x="3749040" y="20848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Built-up area and settlement growth</a:t>
            </a:r>
            <a:endParaRPr lang="en-US" sz="1050" dirty="0"/>
          </a:p>
        </p:txBody>
      </p:sp>
      <p:pic>
        <p:nvPicPr>
          <p:cNvPr id="38" name="Image 3" descr="preencoded.png">    </p:cNvPr>
          <p:cNvPicPr>
            <a:picLocks noChangeAspect="1"/>
          </p:cNvPicPr>
          <p:nvPr/>
        </p:nvPicPr>
        <p:blipFill>
          <a:blip r:embed="rId4"/>
          <a:stretch>
            <a:fillRect/>
          </a:stretch>
        </p:blipFill>
        <p:spPr>
          <a:xfrm>
            <a:off x="3474720" y="2578608"/>
            <a:ext cx="182880" cy="182880"/>
          </a:xfrm>
          <a:prstGeom prst="rect">
            <a:avLst/>
          </a:prstGeom>
        </p:spPr>
      </p:pic>
      <p:sp>
        <p:nvSpPr>
          <p:cNvPr id="39" name="Text 32"/>
          <p:cNvSpPr txBox="1"/>
          <p:nvPr/>
        </p:nvSpPr>
        <p:spPr>
          <a:xfrm>
            <a:off x="3749040" y="25420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Night-time radiance: electrification, activity</a:t>
            </a:r>
            <a:endParaRPr lang="en-US" sz="1050" dirty="0"/>
          </a:p>
        </p:txBody>
      </p:sp>
      <p:pic>
        <p:nvPicPr>
          <p:cNvPr id="40" name="Image 4" descr="preencoded.png">    </p:cNvPr>
          <p:cNvPicPr>
            <a:picLocks noChangeAspect="1"/>
          </p:cNvPicPr>
          <p:nvPr/>
        </p:nvPicPr>
        <p:blipFill>
          <a:blip r:embed="rId5"/>
          <a:stretch>
            <a:fillRect/>
          </a:stretch>
        </p:blipFill>
        <p:spPr>
          <a:xfrm>
            <a:off x="3474720" y="3035808"/>
            <a:ext cx="182880" cy="182880"/>
          </a:xfrm>
          <a:prstGeom prst="rect">
            <a:avLst/>
          </a:prstGeom>
        </p:spPr>
      </p:pic>
      <p:sp>
        <p:nvSpPr>
          <p:cNvPr id="41" name="Text 33"/>
          <p:cNvSpPr txBox="1"/>
          <p:nvPr/>
        </p:nvSpPr>
        <p:spPr>
          <a:xfrm>
            <a:off x="3749040" y="29992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Floods, drought and water bodies</a:t>
            </a:r>
            <a:endParaRPr lang="en-US" sz="1050" dirty="0"/>
          </a:p>
        </p:txBody>
      </p:sp>
      <p:pic>
        <p:nvPicPr>
          <p:cNvPr id="42" name="Image 5" descr="preencoded.png">    </p:cNvPr>
          <p:cNvPicPr>
            <a:picLocks noChangeAspect="1"/>
          </p:cNvPicPr>
          <p:nvPr/>
        </p:nvPicPr>
        <p:blipFill>
          <a:blip r:embed="rId6"/>
          <a:stretch>
            <a:fillRect/>
          </a:stretch>
        </p:blipFill>
        <p:spPr>
          <a:xfrm>
            <a:off x="3474720" y="3493008"/>
            <a:ext cx="182880" cy="182880"/>
          </a:xfrm>
          <a:prstGeom prst="rect">
            <a:avLst/>
          </a:prstGeom>
        </p:spPr>
      </p:pic>
      <p:sp>
        <p:nvSpPr>
          <p:cNvPr id="43" name="Text 34"/>
          <p:cNvSpPr txBox="1"/>
          <p:nvPr/>
        </p:nvSpPr>
        <p:spPr>
          <a:xfrm>
            <a:off x="3749040" y="34564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Poverty mapping, combined with surveys</a:t>
            </a:r>
            <a:endParaRPr lang="en-US" sz="1050" dirty="0"/>
          </a:p>
        </p:txBody>
      </p:sp>
      <p:sp>
        <p:nvSpPr>
          <p:cNvPr id="44" name="Shape 35"/>
          <p:cNvSpPr/>
          <p:nvPr/>
        </p:nvSpPr>
        <p:spPr>
          <a:xfrm>
            <a:off x="6172200" y="1097280"/>
            <a:ext cx="2514600" cy="1783080"/>
          </a:xfrm>
          <a:prstGeom prst="roundRect">
            <a:avLst>
              <a:gd name="adj" fmla="val 4103"/>
            </a:avLst>
          </a:prstGeom>
          <a:solidFill>
            <a:srgbClr val="E8F5EF"/>
          </a:solidFill>
          <a:ln w="15875">
            <a:solidFill>
              <a:srgbClr val="00A86A"/>
            </a:solidFill>
            <a:prstDash val="solid"/>
          </a:ln>
        </p:spPr>
      </p:sp>
      <p:sp>
        <p:nvSpPr>
          <p:cNvPr id="45" name="Text 36"/>
          <p:cNvSpPr txBox="1"/>
          <p:nvPr/>
        </p:nvSpPr>
        <p:spPr>
          <a:xfrm>
            <a:off x="6309360" y="1188720"/>
            <a:ext cx="2286000" cy="22860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DOCUMENTED EXAMPLE</a:t>
            </a:r>
            <a:endParaRPr lang="en-US" sz="1000" dirty="0"/>
          </a:p>
        </p:txBody>
      </p:sp>
      <p:sp>
        <p:nvSpPr>
          <p:cNvPr id="46" name="Text 37"/>
          <p:cNvSpPr txBox="1"/>
          <p:nvPr/>
        </p:nvSpPr>
        <p:spPr>
          <a:xfrm>
            <a:off x="6309360" y="1444752"/>
            <a:ext cx="2258568" cy="13716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Jean et al. (Science, 2016) trained a model on daytime imagery and night lights to predict household consumption and assets in five African countries, including Rwanda.</a:t>
            </a:r>
            <a:endParaRPr lang="en-US" sz="1050" dirty="0"/>
          </a:p>
        </p:txBody>
      </p:sp>
      <p:sp>
        <p:nvSpPr>
          <p:cNvPr id="47" name="Shape 38"/>
          <p:cNvSpPr/>
          <p:nvPr/>
        </p:nvSpPr>
        <p:spPr>
          <a:xfrm>
            <a:off x="6172200" y="2990088"/>
            <a:ext cx="2514600" cy="1005840"/>
          </a:xfrm>
          <a:prstGeom prst="roundRect">
            <a:avLst>
              <a:gd name="adj" fmla="val 5455"/>
            </a:avLst>
          </a:prstGeom>
          <a:solidFill>
            <a:srgbClr val="D49A00">
              <a:alpha val="13000"/>
            </a:srgbClr>
          </a:solidFill>
          <a:ln w="12700">
            <a:solidFill>
              <a:srgbClr val="D49A00"/>
            </a:solidFill>
            <a:prstDash val="solid"/>
          </a:ln>
        </p:spPr>
      </p:sp>
      <p:pic>
        <p:nvPicPr>
          <p:cNvPr id="48" name="Image 6" descr="preencoded.png">    </p:cNvPr>
          <p:cNvPicPr>
            <a:picLocks noChangeAspect="1"/>
          </p:cNvPicPr>
          <p:nvPr/>
        </p:nvPicPr>
        <p:blipFill>
          <a:blip r:embed="rId7"/>
          <a:stretch>
            <a:fillRect/>
          </a:stretch>
        </p:blipFill>
        <p:spPr>
          <a:xfrm>
            <a:off x="6291072" y="3072384"/>
            <a:ext cx="182880" cy="182880"/>
          </a:xfrm>
          <a:prstGeom prst="rect">
            <a:avLst/>
          </a:prstGeom>
        </p:spPr>
      </p:pic>
      <p:sp>
        <p:nvSpPr>
          <p:cNvPr id="49" name="Text 39"/>
          <p:cNvSpPr txBox="1"/>
          <p:nvPr/>
        </p:nvSpPr>
        <p:spPr>
          <a:xfrm>
            <a:off x="6537960" y="3063240"/>
            <a:ext cx="1828800" cy="201168"/>
          </a:xfrm>
          <a:prstGeom prst="rect">
            <a:avLst/>
          </a:prstGeom>
          <a:noFill/>
          <a:ln/>
        </p:spPr>
        <p:txBody>
          <a:bodyPr wrap="square" lIns="0" tIns="0" rIns="0" bIns="0" rtlCol="0" anchor="t"/>
          <a:lstStyle/>
          <a:p>
            <a:pPr indent="0" marL="0">
              <a:buNone/>
            </a:pPr>
            <a:r>
              <a:rPr lang="en-US" sz="1000" b="1" spc="200" kern="0" dirty="0">
                <a:solidFill>
                  <a:srgbClr val="D49A00"/>
                </a:solidFill>
                <a:latin typeface="Calibri" pitchFamily="34" charset="0"/>
                <a:ea typeface="Calibri" pitchFamily="34" charset="-122"/>
                <a:cs typeface="Calibri" pitchFamily="34" charset="-120"/>
              </a:rPr>
              <a:t>WATCH OUT</a:t>
            </a:r>
            <a:endParaRPr lang="en-US" sz="1000" dirty="0"/>
          </a:p>
        </p:txBody>
      </p:sp>
      <p:sp>
        <p:nvSpPr>
          <p:cNvPr id="50" name="Text 40"/>
          <p:cNvSpPr txBox="1"/>
          <p:nvPr/>
        </p:nvSpPr>
        <p:spPr>
          <a:xfrm>
            <a:off x="6291072" y="3291840"/>
            <a:ext cx="2286000" cy="676656"/>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The sensor sees a proxy, never the concept: light is not GDP, green is not yield. Calibrate against ground truth and revalidate over time.</a:t>
            </a:r>
            <a:endParaRPr lang="en-US" sz="950" dirty="0"/>
          </a:p>
        </p:txBody>
      </p:sp>
      <p:sp>
        <p:nvSpPr>
          <p:cNvPr id="51" name="Shape 41"/>
          <p:cNvSpPr/>
          <p:nvPr/>
        </p:nvSpPr>
        <p:spPr>
          <a:xfrm>
            <a:off x="457200" y="4114800"/>
            <a:ext cx="2615184" cy="438912"/>
          </a:xfrm>
          <a:prstGeom prst="roundRect">
            <a:avLst>
              <a:gd name="adj" fmla="val 12500"/>
            </a:avLst>
          </a:prstGeom>
          <a:solidFill>
            <a:srgbClr val="FFFFFF"/>
          </a:solidFill>
          <a:ln w="9525">
            <a:solidFill>
              <a:srgbClr val="D5DED9"/>
            </a:solidFill>
            <a:prstDash val="solid"/>
          </a:ln>
        </p:spPr>
      </p:sp>
      <p:sp>
        <p:nvSpPr>
          <p:cNvPr id="52" name="Text 42"/>
          <p:cNvSpPr txBox="1"/>
          <p:nvPr/>
        </p:nvSpPr>
        <p:spPr>
          <a:xfrm>
            <a:off x="566928"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10 m</a:t>
            </a:r>
            <a:endParaRPr lang="en-US" sz="1400" dirty="0"/>
          </a:p>
        </p:txBody>
      </p:sp>
      <p:sp>
        <p:nvSpPr>
          <p:cNvPr id="53" name="Text 43"/>
          <p:cNvSpPr txBox="1"/>
          <p:nvPr/>
        </p:nvSpPr>
        <p:spPr>
          <a:xfrm>
            <a:off x="1719072"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Sentinel-2 resolution</a:t>
            </a:r>
            <a:endParaRPr lang="en-US" sz="950" dirty="0"/>
          </a:p>
        </p:txBody>
      </p:sp>
      <p:sp>
        <p:nvSpPr>
          <p:cNvPr id="54" name="Shape 44"/>
          <p:cNvSpPr/>
          <p:nvPr/>
        </p:nvSpPr>
        <p:spPr>
          <a:xfrm>
            <a:off x="3264408" y="4114800"/>
            <a:ext cx="2615184" cy="438912"/>
          </a:xfrm>
          <a:prstGeom prst="roundRect">
            <a:avLst>
              <a:gd name="adj" fmla="val 12500"/>
            </a:avLst>
          </a:prstGeom>
          <a:solidFill>
            <a:srgbClr val="FFFFFF"/>
          </a:solidFill>
          <a:ln w="9525">
            <a:solidFill>
              <a:srgbClr val="D5DED9"/>
            </a:solidFill>
            <a:prstDash val="solid"/>
          </a:ln>
        </p:spPr>
      </p:sp>
      <p:sp>
        <p:nvSpPr>
          <p:cNvPr id="55" name="Text 45"/>
          <p:cNvSpPr txBox="1"/>
          <p:nvPr/>
        </p:nvSpPr>
        <p:spPr>
          <a:xfrm>
            <a:off x="3374136"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~500 m</a:t>
            </a:r>
            <a:endParaRPr lang="en-US" sz="1400" dirty="0"/>
          </a:p>
        </p:txBody>
      </p:sp>
      <p:sp>
        <p:nvSpPr>
          <p:cNvPr id="56" name="Text 46"/>
          <p:cNvSpPr txBox="1"/>
          <p:nvPr/>
        </p:nvSpPr>
        <p:spPr>
          <a:xfrm>
            <a:off x="4526280"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Black Marble grid (15")</a:t>
            </a:r>
            <a:endParaRPr lang="en-US" sz="950" dirty="0"/>
          </a:p>
        </p:txBody>
      </p:sp>
      <p:sp>
        <p:nvSpPr>
          <p:cNvPr id="57" name="Shape 47"/>
          <p:cNvSpPr/>
          <p:nvPr/>
        </p:nvSpPr>
        <p:spPr>
          <a:xfrm>
            <a:off x="6071616" y="4114800"/>
            <a:ext cx="2615184" cy="438912"/>
          </a:xfrm>
          <a:prstGeom prst="roundRect">
            <a:avLst>
              <a:gd name="adj" fmla="val 12500"/>
            </a:avLst>
          </a:prstGeom>
          <a:solidFill>
            <a:srgbClr val="FFFFFF"/>
          </a:solidFill>
          <a:ln w="9525">
            <a:solidFill>
              <a:srgbClr val="D5DED9"/>
            </a:solidFill>
            <a:prstDash val="solid"/>
          </a:ln>
        </p:spPr>
      </p:sp>
      <p:sp>
        <p:nvSpPr>
          <p:cNvPr id="58" name="Text 48"/>
          <p:cNvSpPr txBox="1"/>
          <p:nvPr/>
        </p:nvSpPr>
        <p:spPr>
          <a:xfrm>
            <a:off x="6181344"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1992–2013</a:t>
            </a:r>
            <a:endParaRPr lang="en-US" sz="1400" dirty="0"/>
          </a:p>
        </p:txBody>
      </p:sp>
      <p:sp>
        <p:nvSpPr>
          <p:cNvPr id="59" name="Text 49"/>
          <p:cNvSpPr txBox="1"/>
          <p:nvPr/>
        </p:nvSpPr>
        <p:spPr>
          <a:xfrm>
            <a:off x="7333488"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DMSP-OLS archive</a:t>
            </a:r>
            <a:endParaRPr lang="en-US" sz="950" dirty="0"/>
          </a:p>
        </p:txBody>
      </p:sp>
      <p:sp>
        <p:nvSpPr>
          <p:cNvPr id="60" name="Text 5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ESA Copernicus; NASA Black Marble (Román et al., 2018); Jean et al. (2016), Science 353(6301).</a:t>
            </a:r>
            <a:endParaRPr lang="en-US" sz="8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TAXONOMY · FAMILY 2 OF 6</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Crowdsourced measurement</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097280"/>
            <a:ext cx="2743200" cy="1600200"/>
          </a:xfrm>
          <a:prstGeom prst="roundRect">
            <a:avLst>
              <a:gd name="adj" fmla="val 4571"/>
            </a:avLst>
          </a:prstGeom>
          <a:solidFill>
            <a:srgbClr val="F4F7F5"/>
          </a:solidFill>
          <a:ln w="9525">
            <a:solidFill>
              <a:srgbClr val="D5DED9"/>
            </a:solidFill>
            <a:prstDash val="solid"/>
          </a:ln>
        </p:spPr>
      </p:sp>
      <p:sp>
        <p:nvSpPr>
          <p:cNvPr id="18" name="Shape 15"/>
          <p:cNvSpPr/>
          <p:nvPr/>
        </p:nvSpPr>
        <p:spPr>
          <a:xfrm>
            <a:off x="594360" y="1207008"/>
            <a:ext cx="384048" cy="384048"/>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690372" y="1303020"/>
            <a:ext cx="192024" cy="192024"/>
          </a:xfrm>
          <a:prstGeom prst="rect">
            <a:avLst/>
          </a:prstGeom>
        </p:spPr>
      </p:pic>
      <p:sp>
        <p:nvSpPr>
          <p:cNvPr id="20" name="Text 16"/>
          <p:cNvSpPr txBox="1"/>
          <p:nvPr/>
        </p:nvSpPr>
        <p:spPr>
          <a:xfrm>
            <a:off x="1069848" y="1207008"/>
            <a:ext cx="1828800" cy="38404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WHAT IT IS</a:t>
            </a:r>
            <a:endParaRPr lang="en-US" sz="1000" dirty="0"/>
          </a:p>
        </p:txBody>
      </p:sp>
      <p:sp>
        <p:nvSpPr>
          <p:cNvPr id="21" name="Text 17"/>
          <p:cNvSpPr txBox="1"/>
          <p:nvPr/>
        </p:nvSpPr>
        <p:spPr>
          <a:xfrm>
            <a:off x="594360" y="1664208"/>
            <a:ext cx="2468880" cy="98755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Observations contributed voluntarily by many users through an app or platform — network speed tests, collaborative maps, crowd-reported prices — then aggregated by the platform.</a:t>
            </a:r>
            <a:endParaRPr lang="en-US" sz="1050" dirty="0"/>
          </a:p>
        </p:txBody>
      </p:sp>
      <p:sp>
        <p:nvSpPr>
          <p:cNvPr id="22" name="Shape 18"/>
          <p:cNvSpPr/>
          <p:nvPr/>
        </p:nvSpPr>
        <p:spPr>
          <a:xfrm>
            <a:off x="457200" y="2807208"/>
            <a:ext cx="2743200" cy="1188720"/>
          </a:xfrm>
          <a:prstGeom prst="roundRect">
            <a:avLst>
              <a:gd name="adj" fmla="val 6154"/>
            </a:avLst>
          </a:prstGeom>
          <a:solidFill>
            <a:srgbClr val="F4F7F5"/>
          </a:solidFill>
          <a:ln w="9525">
            <a:solidFill>
              <a:srgbClr val="D5DED9"/>
            </a:solidFill>
            <a:prstDash val="solid"/>
          </a:ln>
        </p:spPr>
      </p:sp>
      <p:sp>
        <p:nvSpPr>
          <p:cNvPr id="23" name="Text 19"/>
          <p:cNvSpPr txBox="1"/>
          <p:nvPr/>
        </p:nvSpPr>
        <p:spPr>
          <a:xfrm>
            <a:off x="594360" y="2880360"/>
            <a:ext cx="2286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WHERE TO FIND IT</a:t>
            </a:r>
            <a:endParaRPr lang="en-US" sz="1000" dirty="0"/>
          </a:p>
        </p:txBody>
      </p:sp>
      <p:sp>
        <p:nvSpPr>
          <p:cNvPr id="24" name="Shape 20"/>
          <p:cNvSpPr/>
          <p:nvPr/>
        </p:nvSpPr>
        <p:spPr>
          <a:xfrm>
            <a:off x="594360" y="3163824"/>
            <a:ext cx="1207008" cy="329184"/>
          </a:xfrm>
          <a:prstGeom prst="roundRect">
            <a:avLst>
              <a:gd name="adj" fmla="val 22222"/>
            </a:avLst>
          </a:prstGeom>
          <a:solidFill>
            <a:srgbClr val="FFFFFF"/>
          </a:solidFill>
          <a:ln w="9525">
            <a:solidFill>
              <a:srgbClr val="00704A"/>
            </a:solidFill>
            <a:prstDash val="solid"/>
          </a:ln>
        </p:spPr>
      </p:sp>
      <p:sp>
        <p:nvSpPr>
          <p:cNvPr id="25" name="Text 21"/>
          <p:cNvSpPr txBox="1"/>
          <p:nvPr/>
        </p:nvSpPr>
        <p:spPr>
          <a:xfrm>
            <a:off x="630936" y="3163824"/>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Ookla Speedtest open data</a:t>
            </a:r>
            <a:endParaRPr lang="en-US" sz="900" dirty="0"/>
          </a:p>
        </p:txBody>
      </p:sp>
      <p:sp>
        <p:nvSpPr>
          <p:cNvPr id="26" name="Shape 22"/>
          <p:cNvSpPr/>
          <p:nvPr/>
        </p:nvSpPr>
        <p:spPr>
          <a:xfrm>
            <a:off x="1865376" y="3163824"/>
            <a:ext cx="1207008" cy="329184"/>
          </a:xfrm>
          <a:prstGeom prst="roundRect">
            <a:avLst>
              <a:gd name="adj" fmla="val 22222"/>
            </a:avLst>
          </a:prstGeom>
          <a:solidFill>
            <a:srgbClr val="FFFFFF"/>
          </a:solidFill>
          <a:ln w="9525">
            <a:solidFill>
              <a:srgbClr val="00704A"/>
            </a:solidFill>
            <a:prstDash val="solid"/>
          </a:ln>
        </p:spPr>
      </p:sp>
      <p:sp>
        <p:nvSpPr>
          <p:cNvPr id="27" name="Text 23"/>
          <p:cNvSpPr txBox="1"/>
          <p:nvPr/>
        </p:nvSpPr>
        <p:spPr>
          <a:xfrm>
            <a:off x="1901952" y="3163824"/>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OpenStreetMap</a:t>
            </a:r>
            <a:endParaRPr lang="en-US" sz="900" dirty="0"/>
          </a:p>
        </p:txBody>
      </p:sp>
      <p:sp>
        <p:nvSpPr>
          <p:cNvPr id="28" name="Shape 24"/>
          <p:cNvSpPr/>
          <p:nvPr/>
        </p:nvSpPr>
        <p:spPr>
          <a:xfrm>
            <a:off x="594360" y="3557016"/>
            <a:ext cx="1207008" cy="329184"/>
          </a:xfrm>
          <a:prstGeom prst="roundRect">
            <a:avLst>
              <a:gd name="adj" fmla="val 22222"/>
            </a:avLst>
          </a:prstGeom>
          <a:solidFill>
            <a:srgbClr val="FFFFFF"/>
          </a:solidFill>
          <a:ln w="9525">
            <a:solidFill>
              <a:srgbClr val="00704A"/>
            </a:solidFill>
            <a:prstDash val="solid"/>
          </a:ln>
        </p:spPr>
      </p:sp>
      <p:sp>
        <p:nvSpPr>
          <p:cNvPr id="29" name="Text 25"/>
          <p:cNvSpPr txBox="1"/>
          <p:nvPr/>
        </p:nvSpPr>
        <p:spPr>
          <a:xfrm>
            <a:off x="630936" y="3557016"/>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Crowd price apps</a:t>
            </a:r>
            <a:endParaRPr lang="en-US" sz="900" dirty="0"/>
          </a:p>
        </p:txBody>
      </p:sp>
      <p:sp>
        <p:nvSpPr>
          <p:cNvPr id="30" name="Shape 26"/>
          <p:cNvSpPr/>
          <p:nvPr/>
        </p:nvSpPr>
        <p:spPr>
          <a:xfrm>
            <a:off x="1865376" y="3557016"/>
            <a:ext cx="1207008" cy="329184"/>
          </a:xfrm>
          <a:prstGeom prst="roundRect">
            <a:avLst>
              <a:gd name="adj" fmla="val 22222"/>
            </a:avLst>
          </a:prstGeom>
          <a:solidFill>
            <a:srgbClr val="FFFFFF"/>
          </a:solidFill>
          <a:ln w="9525">
            <a:solidFill>
              <a:srgbClr val="00704A"/>
            </a:solidFill>
            <a:prstDash val="solid"/>
          </a:ln>
        </p:spPr>
      </p:sp>
      <p:sp>
        <p:nvSpPr>
          <p:cNvPr id="31" name="Text 27"/>
          <p:cNvSpPr txBox="1"/>
          <p:nvPr/>
        </p:nvSpPr>
        <p:spPr>
          <a:xfrm>
            <a:off x="1901952" y="3557016"/>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WorldPop (auxiliary)</a:t>
            </a:r>
            <a:endParaRPr lang="en-US" sz="900" dirty="0"/>
          </a:p>
        </p:txBody>
      </p:sp>
      <p:sp>
        <p:nvSpPr>
          <p:cNvPr id="32" name="Shape 28"/>
          <p:cNvSpPr/>
          <p:nvPr/>
        </p:nvSpPr>
        <p:spPr>
          <a:xfrm>
            <a:off x="3337560" y="1097280"/>
            <a:ext cx="2697480" cy="2898648"/>
          </a:xfrm>
          <a:prstGeom prst="roundRect">
            <a:avLst>
              <a:gd name="adj" fmla="val 2712"/>
            </a:avLst>
          </a:prstGeom>
          <a:solidFill>
            <a:srgbClr val="F4F7F5"/>
          </a:solidFill>
          <a:ln w="9525">
            <a:solidFill>
              <a:srgbClr val="D5DED9"/>
            </a:solidFill>
            <a:prstDash val="solid"/>
          </a:ln>
        </p:spPr>
      </p:sp>
      <p:sp>
        <p:nvSpPr>
          <p:cNvPr id="33" name="Text 29"/>
          <p:cNvSpPr txBox="1"/>
          <p:nvPr/>
        </p:nvSpPr>
        <p:spPr>
          <a:xfrm>
            <a:off x="3474720" y="1207008"/>
            <a:ext cx="2468880" cy="274320"/>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WHAT NSOs CAN MEASURE</a:t>
            </a:r>
            <a:endParaRPr lang="en-US" sz="1000" dirty="0"/>
          </a:p>
        </p:txBody>
      </p:sp>
      <p:pic>
        <p:nvPicPr>
          <p:cNvPr id="34" name="Image 1" descr="preencoded.png">    </p:cNvPr>
          <p:cNvPicPr>
            <a:picLocks noChangeAspect="1"/>
          </p:cNvPicPr>
          <p:nvPr/>
        </p:nvPicPr>
        <p:blipFill>
          <a:blip r:embed="rId2"/>
          <a:stretch>
            <a:fillRect/>
          </a:stretch>
        </p:blipFill>
        <p:spPr>
          <a:xfrm>
            <a:off x="3474720" y="1664208"/>
            <a:ext cx="182880" cy="182880"/>
          </a:xfrm>
          <a:prstGeom prst="rect">
            <a:avLst/>
          </a:prstGeom>
        </p:spPr>
      </p:pic>
      <p:sp>
        <p:nvSpPr>
          <p:cNvPr id="35" name="Text 30"/>
          <p:cNvSpPr txBox="1"/>
          <p:nvPr/>
        </p:nvSpPr>
        <p:spPr>
          <a:xfrm>
            <a:off x="3749040" y="16276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Download / upload speed and latency by tile</a:t>
            </a:r>
            <a:endParaRPr lang="en-US" sz="1050" dirty="0"/>
          </a:p>
        </p:txBody>
      </p:sp>
      <p:pic>
        <p:nvPicPr>
          <p:cNvPr id="36" name="Image 2" descr="preencoded.png">    </p:cNvPr>
          <p:cNvPicPr>
            <a:picLocks noChangeAspect="1"/>
          </p:cNvPicPr>
          <p:nvPr/>
        </p:nvPicPr>
        <p:blipFill>
          <a:blip r:embed="rId3"/>
          <a:stretch>
            <a:fillRect/>
          </a:stretch>
        </p:blipFill>
        <p:spPr>
          <a:xfrm>
            <a:off x="3474720" y="2121408"/>
            <a:ext cx="182880" cy="182880"/>
          </a:xfrm>
          <a:prstGeom prst="rect">
            <a:avLst/>
          </a:prstGeom>
        </p:spPr>
      </p:pic>
      <p:sp>
        <p:nvSpPr>
          <p:cNvPr id="37" name="Text 31"/>
          <p:cNvSpPr txBox="1"/>
          <p:nvPr/>
        </p:nvSpPr>
        <p:spPr>
          <a:xfrm>
            <a:off x="3749040" y="20848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Digital divide between regions and quarters</a:t>
            </a:r>
            <a:endParaRPr lang="en-US" sz="1050" dirty="0"/>
          </a:p>
        </p:txBody>
      </p:sp>
      <p:pic>
        <p:nvPicPr>
          <p:cNvPr id="38" name="Image 3" descr="preencoded.png">    </p:cNvPr>
          <p:cNvPicPr>
            <a:picLocks noChangeAspect="1"/>
          </p:cNvPicPr>
          <p:nvPr/>
        </p:nvPicPr>
        <p:blipFill>
          <a:blip r:embed="rId4"/>
          <a:stretch>
            <a:fillRect/>
          </a:stretch>
        </p:blipFill>
        <p:spPr>
          <a:xfrm>
            <a:off x="3474720" y="2578608"/>
            <a:ext cx="182880" cy="182880"/>
          </a:xfrm>
          <a:prstGeom prst="rect">
            <a:avLst/>
          </a:prstGeom>
        </p:spPr>
      </p:pic>
      <p:sp>
        <p:nvSpPr>
          <p:cNvPr id="39" name="Text 32"/>
          <p:cNvSpPr txBox="1"/>
          <p:nvPr/>
        </p:nvSpPr>
        <p:spPr>
          <a:xfrm>
            <a:off x="3749040" y="25420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Roads, buildings and facilities</a:t>
            </a:r>
            <a:endParaRPr lang="en-US" sz="1050" dirty="0"/>
          </a:p>
        </p:txBody>
      </p:sp>
      <p:pic>
        <p:nvPicPr>
          <p:cNvPr id="40" name="Image 4" descr="preencoded.png">    </p:cNvPr>
          <p:cNvPicPr>
            <a:picLocks noChangeAspect="1"/>
          </p:cNvPicPr>
          <p:nvPr/>
        </p:nvPicPr>
        <p:blipFill>
          <a:blip r:embed="rId5"/>
          <a:stretch>
            <a:fillRect/>
          </a:stretch>
        </p:blipFill>
        <p:spPr>
          <a:xfrm>
            <a:off x="3474720" y="3035808"/>
            <a:ext cx="182880" cy="182880"/>
          </a:xfrm>
          <a:prstGeom prst="rect">
            <a:avLst/>
          </a:prstGeom>
        </p:spPr>
      </p:pic>
      <p:sp>
        <p:nvSpPr>
          <p:cNvPr id="41" name="Text 33"/>
          <p:cNvSpPr txBox="1"/>
          <p:nvPr/>
        </p:nvSpPr>
        <p:spPr>
          <a:xfrm>
            <a:off x="3749040" y="29992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Market prices reported by volunteers</a:t>
            </a:r>
            <a:endParaRPr lang="en-US" sz="1050" dirty="0"/>
          </a:p>
        </p:txBody>
      </p:sp>
      <p:pic>
        <p:nvPicPr>
          <p:cNvPr id="42" name="Image 5" descr="preencoded.png">    </p:cNvPr>
          <p:cNvPicPr>
            <a:picLocks noChangeAspect="1"/>
          </p:cNvPicPr>
          <p:nvPr/>
        </p:nvPicPr>
        <p:blipFill>
          <a:blip r:embed="rId6"/>
          <a:stretch>
            <a:fillRect/>
          </a:stretch>
        </p:blipFill>
        <p:spPr>
          <a:xfrm>
            <a:off x="3474720" y="3493008"/>
            <a:ext cx="182880" cy="182880"/>
          </a:xfrm>
          <a:prstGeom prst="rect">
            <a:avLst/>
          </a:prstGeom>
        </p:spPr>
      </p:pic>
      <p:sp>
        <p:nvSpPr>
          <p:cNvPr id="43" name="Text 34"/>
          <p:cNvSpPr txBox="1"/>
          <p:nvPr/>
        </p:nvSpPr>
        <p:spPr>
          <a:xfrm>
            <a:off x="3749040" y="34564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Service availability at local level</a:t>
            </a:r>
            <a:endParaRPr lang="en-US" sz="1050" dirty="0"/>
          </a:p>
        </p:txBody>
      </p:sp>
      <p:sp>
        <p:nvSpPr>
          <p:cNvPr id="44" name="Shape 35"/>
          <p:cNvSpPr/>
          <p:nvPr/>
        </p:nvSpPr>
        <p:spPr>
          <a:xfrm>
            <a:off x="6172200" y="1097280"/>
            <a:ext cx="2514600" cy="1783080"/>
          </a:xfrm>
          <a:prstGeom prst="roundRect">
            <a:avLst>
              <a:gd name="adj" fmla="val 4103"/>
            </a:avLst>
          </a:prstGeom>
          <a:solidFill>
            <a:srgbClr val="E8F5EF"/>
          </a:solidFill>
          <a:ln w="15875">
            <a:solidFill>
              <a:srgbClr val="00A86A"/>
            </a:solidFill>
            <a:prstDash val="solid"/>
          </a:ln>
        </p:spPr>
      </p:sp>
      <p:sp>
        <p:nvSpPr>
          <p:cNvPr id="45" name="Text 36"/>
          <p:cNvSpPr txBox="1"/>
          <p:nvPr/>
        </p:nvSpPr>
        <p:spPr>
          <a:xfrm>
            <a:off x="6309360" y="1188720"/>
            <a:ext cx="2286000" cy="22860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DOCUMENTED EXAMPLE</a:t>
            </a:r>
            <a:endParaRPr lang="en-US" sz="1000" dirty="0"/>
          </a:p>
        </p:txBody>
      </p:sp>
      <p:sp>
        <p:nvSpPr>
          <p:cNvPr id="46" name="Text 37"/>
          <p:cNvSpPr txBox="1"/>
          <p:nvPr/>
        </p:nvSpPr>
        <p:spPr>
          <a:xfrm>
            <a:off x="6309360" y="1444752"/>
            <a:ext cx="2258568" cy="13716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Ookla publishes quarterly tiles of ~611 m (zoom 16) with avg_d_kbps, avg_lat_ms, tests and devices. Weighted by WorldPop population, they become a regional connectivity indicator — today's lab.</a:t>
            </a:r>
            <a:endParaRPr lang="en-US" sz="1050" dirty="0"/>
          </a:p>
        </p:txBody>
      </p:sp>
      <p:sp>
        <p:nvSpPr>
          <p:cNvPr id="47" name="Shape 38"/>
          <p:cNvSpPr/>
          <p:nvPr/>
        </p:nvSpPr>
        <p:spPr>
          <a:xfrm>
            <a:off x="6172200" y="2990088"/>
            <a:ext cx="2514600" cy="1005840"/>
          </a:xfrm>
          <a:prstGeom prst="roundRect">
            <a:avLst>
              <a:gd name="adj" fmla="val 5455"/>
            </a:avLst>
          </a:prstGeom>
          <a:solidFill>
            <a:srgbClr val="D49A00">
              <a:alpha val="13000"/>
            </a:srgbClr>
          </a:solidFill>
          <a:ln w="12700">
            <a:solidFill>
              <a:srgbClr val="D49A00"/>
            </a:solidFill>
            <a:prstDash val="solid"/>
          </a:ln>
        </p:spPr>
      </p:sp>
      <p:pic>
        <p:nvPicPr>
          <p:cNvPr id="48" name="Image 6" descr="preencoded.png">    </p:cNvPr>
          <p:cNvPicPr>
            <a:picLocks noChangeAspect="1"/>
          </p:cNvPicPr>
          <p:nvPr/>
        </p:nvPicPr>
        <p:blipFill>
          <a:blip r:embed="rId7"/>
          <a:stretch>
            <a:fillRect/>
          </a:stretch>
        </p:blipFill>
        <p:spPr>
          <a:xfrm>
            <a:off x="6291072" y="3072384"/>
            <a:ext cx="182880" cy="182880"/>
          </a:xfrm>
          <a:prstGeom prst="rect">
            <a:avLst/>
          </a:prstGeom>
        </p:spPr>
      </p:pic>
      <p:sp>
        <p:nvSpPr>
          <p:cNvPr id="49" name="Text 39"/>
          <p:cNvSpPr txBox="1"/>
          <p:nvPr/>
        </p:nvSpPr>
        <p:spPr>
          <a:xfrm>
            <a:off x="6537960" y="3063240"/>
            <a:ext cx="1828800" cy="201168"/>
          </a:xfrm>
          <a:prstGeom prst="rect">
            <a:avLst/>
          </a:prstGeom>
          <a:noFill/>
          <a:ln/>
        </p:spPr>
        <p:txBody>
          <a:bodyPr wrap="square" lIns="0" tIns="0" rIns="0" bIns="0" rtlCol="0" anchor="t"/>
          <a:lstStyle/>
          <a:p>
            <a:pPr indent="0" marL="0">
              <a:buNone/>
            </a:pPr>
            <a:r>
              <a:rPr lang="en-US" sz="1000" b="1" spc="200" kern="0" dirty="0">
                <a:solidFill>
                  <a:srgbClr val="D49A00"/>
                </a:solidFill>
                <a:latin typeface="Calibri" pitchFamily="34" charset="0"/>
                <a:ea typeface="Calibri" pitchFamily="34" charset="-122"/>
                <a:cs typeface="Calibri" pitchFamily="34" charset="-120"/>
              </a:rPr>
              <a:t>WATCH OUT</a:t>
            </a:r>
            <a:endParaRPr lang="en-US" sz="1000" dirty="0"/>
          </a:p>
        </p:txBody>
      </p:sp>
      <p:sp>
        <p:nvSpPr>
          <p:cNvPr id="50" name="Text 40"/>
          <p:cNvSpPr txBox="1"/>
          <p:nvPr/>
        </p:nvSpPr>
        <p:spPr>
          <a:xfrm>
            <a:off x="6291072" y="3291840"/>
            <a:ext cx="2286000" cy="676656"/>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Tests come from people who choose to test, usually on smartphones and in towns. A tile with no test is not a tile with no signal. Check national coverage first.</a:t>
            </a:r>
            <a:endParaRPr lang="en-US" sz="950" dirty="0"/>
          </a:p>
        </p:txBody>
      </p:sp>
      <p:sp>
        <p:nvSpPr>
          <p:cNvPr id="51" name="Shape 41"/>
          <p:cNvSpPr/>
          <p:nvPr/>
        </p:nvSpPr>
        <p:spPr>
          <a:xfrm>
            <a:off x="457200" y="4114800"/>
            <a:ext cx="2615184" cy="438912"/>
          </a:xfrm>
          <a:prstGeom prst="roundRect">
            <a:avLst>
              <a:gd name="adj" fmla="val 12500"/>
            </a:avLst>
          </a:prstGeom>
          <a:solidFill>
            <a:srgbClr val="FFFFFF"/>
          </a:solidFill>
          <a:ln w="9525">
            <a:solidFill>
              <a:srgbClr val="D5DED9"/>
            </a:solidFill>
            <a:prstDash val="solid"/>
          </a:ln>
        </p:spPr>
      </p:sp>
      <p:sp>
        <p:nvSpPr>
          <p:cNvPr id="52" name="Text 42"/>
          <p:cNvSpPr txBox="1"/>
          <p:nvPr/>
        </p:nvSpPr>
        <p:spPr>
          <a:xfrm>
            <a:off x="566928"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~611 m</a:t>
            </a:r>
            <a:endParaRPr lang="en-US" sz="1400" dirty="0"/>
          </a:p>
        </p:txBody>
      </p:sp>
      <p:sp>
        <p:nvSpPr>
          <p:cNvPr id="53" name="Text 43"/>
          <p:cNvSpPr txBox="1"/>
          <p:nvPr/>
        </p:nvSpPr>
        <p:spPr>
          <a:xfrm>
            <a:off x="1719072"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tile side at the equator</a:t>
            </a:r>
            <a:endParaRPr lang="en-US" sz="950" dirty="0"/>
          </a:p>
        </p:txBody>
      </p:sp>
      <p:sp>
        <p:nvSpPr>
          <p:cNvPr id="54" name="Shape 44"/>
          <p:cNvSpPr/>
          <p:nvPr/>
        </p:nvSpPr>
        <p:spPr>
          <a:xfrm>
            <a:off x="3264408" y="4114800"/>
            <a:ext cx="2615184" cy="438912"/>
          </a:xfrm>
          <a:prstGeom prst="roundRect">
            <a:avLst>
              <a:gd name="adj" fmla="val 12500"/>
            </a:avLst>
          </a:prstGeom>
          <a:solidFill>
            <a:srgbClr val="FFFFFF"/>
          </a:solidFill>
          <a:ln w="9525">
            <a:solidFill>
              <a:srgbClr val="D5DED9"/>
            </a:solidFill>
            <a:prstDash val="solid"/>
          </a:ln>
        </p:spPr>
      </p:sp>
      <p:sp>
        <p:nvSpPr>
          <p:cNvPr id="55" name="Text 45"/>
          <p:cNvSpPr txBox="1"/>
          <p:nvPr/>
        </p:nvSpPr>
        <p:spPr>
          <a:xfrm>
            <a:off x="3374136"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Quarterly</a:t>
            </a:r>
            <a:endParaRPr lang="en-US" sz="1400" dirty="0"/>
          </a:p>
        </p:txBody>
      </p:sp>
      <p:sp>
        <p:nvSpPr>
          <p:cNvPr id="56" name="Text 46"/>
          <p:cNvSpPr txBox="1"/>
          <p:nvPr/>
        </p:nvSpPr>
        <p:spPr>
          <a:xfrm>
            <a:off x="4526280"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since 2019</a:t>
            </a:r>
            <a:endParaRPr lang="en-US" sz="950" dirty="0"/>
          </a:p>
        </p:txBody>
      </p:sp>
      <p:sp>
        <p:nvSpPr>
          <p:cNvPr id="57" name="Shape 47"/>
          <p:cNvSpPr/>
          <p:nvPr/>
        </p:nvSpPr>
        <p:spPr>
          <a:xfrm>
            <a:off x="6071616" y="4114800"/>
            <a:ext cx="2615184" cy="438912"/>
          </a:xfrm>
          <a:prstGeom prst="roundRect">
            <a:avLst>
              <a:gd name="adj" fmla="val 12500"/>
            </a:avLst>
          </a:prstGeom>
          <a:solidFill>
            <a:srgbClr val="FFFFFF"/>
          </a:solidFill>
          <a:ln w="9525">
            <a:solidFill>
              <a:srgbClr val="D5DED9"/>
            </a:solidFill>
            <a:prstDash val="solid"/>
          </a:ln>
        </p:spPr>
      </p:sp>
      <p:sp>
        <p:nvSpPr>
          <p:cNvPr id="58" name="Text 48"/>
          <p:cNvSpPr txBox="1"/>
          <p:nvPr/>
        </p:nvSpPr>
        <p:spPr>
          <a:xfrm>
            <a:off x="6181344"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CC BY-NC-SA</a:t>
            </a:r>
            <a:endParaRPr lang="en-US" sz="1400" dirty="0"/>
          </a:p>
        </p:txBody>
      </p:sp>
      <p:sp>
        <p:nvSpPr>
          <p:cNvPr id="59" name="Text 49"/>
          <p:cNvSpPr txBox="1"/>
          <p:nvPr/>
        </p:nvSpPr>
        <p:spPr>
          <a:xfrm>
            <a:off x="7333488"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v4.0 licence: non-commercial, share-alike</a:t>
            </a:r>
            <a:endParaRPr lang="en-US" sz="950" dirty="0"/>
          </a:p>
        </p:txBody>
      </p:sp>
      <p:sp>
        <p:nvSpPr>
          <p:cNvPr id="60" name="Text 5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Ookla, Global Fixed and Mobile Network Performance Maps (github.com/teamookla/ookla-open-data); WorldPop, Univ. of Southampton.</a:t>
            </a:r>
            <a:endParaRPr lang="en-US" sz="8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TAXONOMY · FAMILY 3 OF 6</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Scanner, transaction and telecom data</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457200" y="1097280"/>
            <a:ext cx="2743200" cy="1600200"/>
          </a:xfrm>
          <a:prstGeom prst="roundRect">
            <a:avLst>
              <a:gd name="adj" fmla="val 4571"/>
            </a:avLst>
          </a:prstGeom>
          <a:solidFill>
            <a:srgbClr val="F4F7F5"/>
          </a:solidFill>
          <a:ln w="9525">
            <a:solidFill>
              <a:srgbClr val="D5DED9"/>
            </a:solidFill>
            <a:prstDash val="solid"/>
          </a:ln>
        </p:spPr>
      </p:sp>
      <p:sp>
        <p:nvSpPr>
          <p:cNvPr id="18" name="Shape 15"/>
          <p:cNvSpPr/>
          <p:nvPr/>
        </p:nvSpPr>
        <p:spPr>
          <a:xfrm>
            <a:off x="594360" y="1207008"/>
            <a:ext cx="384048" cy="384048"/>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690372" y="1303020"/>
            <a:ext cx="192024" cy="192024"/>
          </a:xfrm>
          <a:prstGeom prst="rect">
            <a:avLst/>
          </a:prstGeom>
        </p:spPr>
      </p:pic>
      <p:sp>
        <p:nvSpPr>
          <p:cNvPr id="20" name="Text 16"/>
          <p:cNvSpPr txBox="1"/>
          <p:nvPr/>
        </p:nvSpPr>
        <p:spPr>
          <a:xfrm>
            <a:off x="1069848" y="1207008"/>
            <a:ext cx="1828800" cy="38404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WHAT IT IS</a:t>
            </a:r>
            <a:endParaRPr lang="en-US" sz="1000" dirty="0"/>
          </a:p>
        </p:txBody>
      </p:sp>
      <p:sp>
        <p:nvSpPr>
          <p:cNvPr id="21" name="Text 17"/>
          <p:cNvSpPr txBox="1"/>
          <p:nvPr/>
        </p:nvSpPr>
        <p:spPr>
          <a:xfrm>
            <a:off x="594360" y="1664208"/>
            <a:ext cx="2468880" cy="98755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Records produced by commercial processes: point-of-sale scanner files, card and mobile-money transactions, e-invoices, and mobile operators' call detail records (CDR).</a:t>
            </a:r>
            <a:endParaRPr lang="en-US" sz="1050" dirty="0"/>
          </a:p>
        </p:txBody>
      </p:sp>
      <p:sp>
        <p:nvSpPr>
          <p:cNvPr id="22" name="Shape 18"/>
          <p:cNvSpPr/>
          <p:nvPr/>
        </p:nvSpPr>
        <p:spPr>
          <a:xfrm>
            <a:off x="457200" y="2807208"/>
            <a:ext cx="2743200" cy="1188720"/>
          </a:xfrm>
          <a:prstGeom prst="roundRect">
            <a:avLst>
              <a:gd name="adj" fmla="val 6154"/>
            </a:avLst>
          </a:prstGeom>
          <a:solidFill>
            <a:srgbClr val="F4F7F5"/>
          </a:solidFill>
          <a:ln w="9525">
            <a:solidFill>
              <a:srgbClr val="D5DED9"/>
            </a:solidFill>
            <a:prstDash val="solid"/>
          </a:ln>
        </p:spPr>
      </p:sp>
      <p:sp>
        <p:nvSpPr>
          <p:cNvPr id="23" name="Text 19"/>
          <p:cNvSpPr txBox="1"/>
          <p:nvPr/>
        </p:nvSpPr>
        <p:spPr>
          <a:xfrm>
            <a:off x="594360" y="2880360"/>
            <a:ext cx="2286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WHERE TO FIND IT</a:t>
            </a:r>
            <a:endParaRPr lang="en-US" sz="1000" dirty="0"/>
          </a:p>
        </p:txBody>
      </p:sp>
      <p:sp>
        <p:nvSpPr>
          <p:cNvPr id="24" name="Shape 20"/>
          <p:cNvSpPr/>
          <p:nvPr/>
        </p:nvSpPr>
        <p:spPr>
          <a:xfrm>
            <a:off x="594360" y="3163824"/>
            <a:ext cx="1207008" cy="329184"/>
          </a:xfrm>
          <a:prstGeom prst="roundRect">
            <a:avLst>
              <a:gd name="adj" fmla="val 22222"/>
            </a:avLst>
          </a:prstGeom>
          <a:solidFill>
            <a:srgbClr val="FFFFFF"/>
          </a:solidFill>
          <a:ln w="9525">
            <a:solidFill>
              <a:srgbClr val="00704A"/>
            </a:solidFill>
            <a:prstDash val="solid"/>
          </a:ln>
        </p:spPr>
      </p:sp>
      <p:sp>
        <p:nvSpPr>
          <p:cNvPr id="25" name="Text 21"/>
          <p:cNvSpPr txBox="1"/>
          <p:nvPr/>
        </p:nvSpPr>
        <p:spPr>
          <a:xfrm>
            <a:off x="630936" y="3163824"/>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Retailer scanner files</a:t>
            </a:r>
            <a:endParaRPr lang="en-US" sz="900" dirty="0"/>
          </a:p>
        </p:txBody>
      </p:sp>
      <p:sp>
        <p:nvSpPr>
          <p:cNvPr id="26" name="Shape 22"/>
          <p:cNvSpPr/>
          <p:nvPr/>
        </p:nvSpPr>
        <p:spPr>
          <a:xfrm>
            <a:off x="1865376" y="3163824"/>
            <a:ext cx="1207008" cy="329184"/>
          </a:xfrm>
          <a:prstGeom prst="roundRect">
            <a:avLst>
              <a:gd name="adj" fmla="val 22222"/>
            </a:avLst>
          </a:prstGeom>
          <a:solidFill>
            <a:srgbClr val="FFFFFF"/>
          </a:solidFill>
          <a:ln w="9525">
            <a:solidFill>
              <a:srgbClr val="00704A"/>
            </a:solidFill>
            <a:prstDash val="solid"/>
          </a:ln>
        </p:spPr>
      </p:sp>
      <p:sp>
        <p:nvSpPr>
          <p:cNvPr id="27" name="Text 23"/>
          <p:cNvSpPr txBox="1"/>
          <p:nvPr/>
        </p:nvSpPr>
        <p:spPr>
          <a:xfrm>
            <a:off x="1901952" y="3163824"/>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Mobile-money operators</a:t>
            </a:r>
            <a:endParaRPr lang="en-US" sz="900" dirty="0"/>
          </a:p>
        </p:txBody>
      </p:sp>
      <p:sp>
        <p:nvSpPr>
          <p:cNvPr id="28" name="Shape 24"/>
          <p:cNvSpPr/>
          <p:nvPr/>
        </p:nvSpPr>
        <p:spPr>
          <a:xfrm>
            <a:off x="594360" y="3557016"/>
            <a:ext cx="1207008" cy="329184"/>
          </a:xfrm>
          <a:prstGeom prst="roundRect">
            <a:avLst>
              <a:gd name="adj" fmla="val 22222"/>
            </a:avLst>
          </a:prstGeom>
          <a:solidFill>
            <a:srgbClr val="FFFFFF"/>
          </a:solidFill>
          <a:ln w="9525">
            <a:solidFill>
              <a:srgbClr val="00704A"/>
            </a:solidFill>
            <a:prstDash val="solid"/>
          </a:ln>
        </p:spPr>
      </p:sp>
      <p:sp>
        <p:nvSpPr>
          <p:cNvPr id="29" name="Text 25"/>
          <p:cNvSpPr txBox="1"/>
          <p:nvPr/>
        </p:nvSpPr>
        <p:spPr>
          <a:xfrm>
            <a:off x="630936" y="3557016"/>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E-invoicing (tax authority)</a:t>
            </a:r>
            <a:endParaRPr lang="en-US" sz="900" dirty="0"/>
          </a:p>
        </p:txBody>
      </p:sp>
      <p:sp>
        <p:nvSpPr>
          <p:cNvPr id="30" name="Shape 26"/>
          <p:cNvSpPr/>
          <p:nvPr/>
        </p:nvSpPr>
        <p:spPr>
          <a:xfrm>
            <a:off x="1865376" y="3557016"/>
            <a:ext cx="1207008" cy="329184"/>
          </a:xfrm>
          <a:prstGeom prst="roundRect">
            <a:avLst>
              <a:gd name="adj" fmla="val 22222"/>
            </a:avLst>
          </a:prstGeom>
          <a:solidFill>
            <a:srgbClr val="FFFFFF"/>
          </a:solidFill>
          <a:ln w="9525">
            <a:solidFill>
              <a:srgbClr val="00704A"/>
            </a:solidFill>
            <a:prstDash val="solid"/>
          </a:ln>
        </p:spPr>
      </p:sp>
      <p:sp>
        <p:nvSpPr>
          <p:cNvPr id="31" name="Text 27"/>
          <p:cNvSpPr txBox="1"/>
          <p:nvPr/>
        </p:nvSpPr>
        <p:spPr>
          <a:xfrm>
            <a:off x="1901952" y="3557016"/>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Operator CDR / signalling</a:t>
            </a:r>
            <a:endParaRPr lang="en-US" sz="900" dirty="0"/>
          </a:p>
        </p:txBody>
      </p:sp>
      <p:sp>
        <p:nvSpPr>
          <p:cNvPr id="32" name="Shape 28"/>
          <p:cNvSpPr/>
          <p:nvPr/>
        </p:nvSpPr>
        <p:spPr>
          <a:xfrm>
            <a:off x="3337560" y="1097280"/>
            <a:ext cx="2697480" cy="2898648"/>
          </a:xfrm>
          <a:prstGeom prst="roundRect">
            <a:avLst>
              <a:gd name="adj" fmla="val 2712"/>
            </a:avLst>
          </a:prstGeom>
          <a:solidFill>
            <a:srgbClr val="F4F7F5"/>
          </a:solidFill>
          <a:ln w="9525">
            <a:solidFill>
              <a:srgbClr val="D5DED9"/>
            </a:solidFill>
            <a:prstDash val="solid"/>
          </a:ln>
        </p:spPr>
      </p:sp>
      <p:sp>
        <p:nvSpPr>
          <p:cNvPr id="33" name="Text 29"/>
          <p:cNvSpPr txBox="1"/>
          <p:nvPr/>
        </p:nvSpPr>
        <p:spPr>
          <a:xfrm>
            <a:off x="3474720" y="1207008"/>
            <a:ext cx="2468880" cy="274320"/>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WHAT NSOs CAN MEASURE</a:t>
            </a:r>
            <a:endParaRPr lang="en-US" sz="1000" dirty="0"/>
          </a:p>
        </p:txBody>
      </p:sp>
      <p:pic>
        <p:nvPicPr>
          <p:cNvPr id="34" name="Image 1" descr="preencoded.png">    </p:cNvPr>
          <p:cNvPicPr>
            <a:picLocks noChangeAspect="1"/>
          </p:cNvPicPr>
          <p:nvPr/>
        </p:nvPicPr>
        <p:blipFill>
          <a:blip r:embed="rId2"/>
          <a:stretch>
            <a:fillRect/>
          </a:stretch>
        </p:blipFill>
        <p:spPr>
          <a:xfrm>
            <a:off x="3474720" y="1664208"/>
            <a:ext cx="182880" cy="182880"/>
          </a:xfrm>
          <a:prstGeom prst="rect">
            <a:avLst/>
          </a:prstGeom>
        </p:spPr>
      </p:pic>
      <p:sp>
        <p:nvSpPr>
          <p:cNvPr id="35" name="Text 30"/>
          <p:cNvSpPr txBox="1"/>
          <p:nvPr/>
        </p:nvSpPr>
        <p:spPr>
          <a:xfrm>
            <a:off x="3749040" y="16276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Prices and quantities at product level (CPI)</a:t>
            </a:r>
            <a:endParaRPr lang="en-US" sz="1050" dirty="0"/>
          </a:p>
        </p:txBody>
      </p:sp>
      <p:pic>
        <p:nvPicPr>
          <p:cNvPr id="36" name="Image 2" descr="preencoded.png">    </p:cNvPr>
          <p:cNvPicPr>
            <a:picLocks noChangeAspect="1"/>
          </p:cNvPicPr>
          <p:nvPr/>
        </p:nvPicPr>
        <p:blipFill>
          <a:blip r:embed="rId3"/>
          <a:stretch>
            <a:fillRect/>
          </a:stretch>
        </p:blipFill>
        <p:spPr>
          <a:xfrm>
            <a:off x="3474720" y="2121408"/>
            <a:ext cx="182880" cy="182880"/>
          </a:xfrm>
          <a:prstGeom prst="rect">
            <a:avLst/>
          </a:prstGeom>
        </p:spPr>
      </p:pic>
      <p:sp>
        <p:nvSpPr>
          <p:cNvPr id="37" name="Text 31"/>
          <p:cNvSpPr txBox="1"/>
          <p:nvPr/>
        </p:nvSpPr>
        <p:spPr>
          <a:xfrm>
            <a:off x="3749040" y="20848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Retail turnover and consumption nowcasts</a:t>
            </a:r>
            <a:endParaRPr lang="en-US" sz="1050" dirty="0"/>
          </a:p>
        </p:txBody>
      </p:sp>
      <p:pic>
        <p:nvPicPr>
          <p:cNvPr id="38" name="Image 3" descr="preencoded.png">    </p:cNvPr>
          <p:cNvPicPr>
            <a:picLocks noChangeAspect="1"/>
          </p:cNvPicPr>
          <p:nvPr/>
        </p:nvPicPr>
        <p:blipFill>
          <a:blip r:embed="rId4"/>
          <a:stretch>
            <a:fillRect/>
          </a:stretch>
        </p:blipFill>
        <p:spPr>
          <a:xfrm>
            <a:off x="3474720" y="2578608"/>
            <a:ext cx="182880" cy="182880"/>
          </a:xfrm>
          <a:prstGeom prst="rect">
            <a:avLst/>
          </a:prstGeom>
        </p:spPr>
      </p:pic>
      <p:sp>
        <p:nvSpPr>
          <p:cNvPr id="39" name="Text 32"/>
          <p:cNvSpPr txBox="1"/>
          <p:nvPr/>
        </p:nvSpPr>
        <p:spPr>
          <a:xfrm>
            <a:off x="3749040" y="25420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Financial inclusion patterns</a:t>
            </a:r>
            <a:endParaRPr lang="en-US" sz="1050" dirty="0"/>
          </a:p>
        </p:txBody>
      </p:sp>
      <p:pic>
        <p:nvPicPr>
          <p:cNvPr id="40" name="Image 4" descr="preencoded.png">    </p:cNvPr>
          <p:cNvPicPr>
            <a:picLocks noChangeAspect="1"/>
          </p:cNvPicPr>
          <p:nvPr/>
        </p:nvPicPr>
        <p:blipFill>
          <a:blip r:embed="rId5"/>
          <a:stretch>
            <a:fillRect/>
          </a:stretch>
        </p:blipFill>
        <p:spPr>
          <a:xfrm>
            <a:off x="3474720" y="3035808"/>
            <a:ext cx="182880" cy="182880"/>
          </a:xfrm>
          <a:prstGeom prst="rect">
            <a:avLst/>
          </a:prstGeom>
        </p:spPr>
      </p:pic>
      <p:sp>
        <p:nvSpPr>
          <p:cNvPr id="41" name="Text 33"/>
          <p:cNvSpPr txBox="1"/>
          <p:nvPr/>
        </p:nvSpPr>
        <p:spPr>
          <a:xfrm>
            <a:off x="3749040" y="29992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Population presence and daily mobility</a:t>
            </a:r>
            <a:endParaRPr lang="en-US" sz="1050" dirty="0"/>
          </a:p>
        </p:txBody>
      </p:sp>
      <p:pic>
        <p:nvPicPr>
          <p:cNvPr id="42" name="Image 5" descr="preencoded.png">    </p:cNvPr>
          <p:cNvPicPr>
            <a:picLocks noChangeAspect="1"/>
          </p:cNvPicPr>
          <p:nvPr/>
        </p:nvPicPr>
        <p:blipFill>
          <a:blip r:embed="rId6"/>
          <a:stretch>
            <a:fillRect/>
          </a:stretch>
        </p:blipFill>
        <p:spPr>
          <a:xfrm>
            <a:off x="3474720" y="3493008"/>
            <a:ext cx="182880" cy="182880"/>
          </a:xfrm>
          <a:prstGeom prst="rect">
            <a:avLst/>
          </a:prstGeom>
        </p:spPr>
      </p:pic>
      <p:sp>
        <p:nvSpPr>
          <p:cNvPr id="43" name="Text 34"/>
          <p:cNvSpPr txBox="1"/>
          <p:nvPr/>
        </p:nvSpPr>
        <p:spPr>
          <a:xfrm>
            <a:off x="3749040" y="34564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Displacement after shocks</a:t>
            </a:r>
            <a:endParaRPr lang="en-US" sz="1050" dirty="0"/>
          </a:p>
        </p:txBody>
      </p:sp>
      <p:sp>
        <p:nvSpPr>
          <p:cNvPr id="44" name="Shape 35"/>
          <p:cNvSpPr/>
          <p:nvPr/>
        </p:nvSpPr>
        <p:spPr>
          <a:xfrm>
            <a:off x="6172200" y="1097280"/>
            <a:ext cx="2514600" cy="1783080"/>
          </a:xfrm>
          <a:prstGeom prst="roundRect">
            <a:avLst>
              <a:gd name="adj" fmla="val 4103"/>
            </a:avLst>
          </a:prstGeom>
          <a:solidFill>
            <a:srgbClr val="E8F5EF"/>
          </a:solidFill>
          <a:ln w="15875">
            <a:solidFill>
              <a:srgbClr val="00A86A"/>
            </a:solidFill>
            <a:prstDash val="solid"/>
          </a:ln>
        </p:spPr>
      </p:sp>
      <p:sp>
        <p:nvSpPr>
          <p:cNvPr id="45" name="Text 36"/>
          <p:cNvSpPr txBox="1"/>
          <p:nvPr/>
        </p:nvSpPr>
        <p:spPr>
          <a:xfrm>
            <a:off x="6309360" y="1188720"/>
            <a:ext cx="2286000" cy="22860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DOCUMENTED EXAMPLE</a:t>
            </a:r>
            <a:endParaRPr lang="en-US" sz="1000" dirty="0"/>
          </a:p>
        </p:txBody>
      </p:sp>
      <p:sp>
        <p:nvSpPr>
          <p:cNvPr id="46" name="Text 37"/>
          <p:cNvSpPr txBox="1"/>
          <p:nvPr/>
        </p:nvSpPr>
        <p:spPr>
          <a:xfrm>
            <a:off x="6309360" y="1444752"/>
            <a:ext cx="2258568" cy="13716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Ghana Statistical Service, Vodafone Ghana and Flowminder used aggregated CDR to publish mobility reports from April 2020, tracking adherence to COVID-19 restrictions by district.</a:t>
            </a:r>
            <a:endParaRPr lang="en-US" sz="1050" dirty="0"/>
          </a:p>
        </p:txBody>
      </p:sp>
      <p:sp>
        <p:nvSpPr>
          <p:cNvPr id="47" name="Shape 38"/>
          <p:cNvSpPr/>
          <p:nvPr/>
        </p:nvSpPr>
        <p:spPr>
          <a:xfrm>
            <a:off x="6172200" y="2990088"/>
            <a:ext cx="2514600" cy="1005840"/>
          </a:xfrm>
          <a:prstGeom prst="roundRect">
            <a:avLst>
              <a:gd name="adj" fmla="val 5455"/>
            </a:avLst>
          </a:prstGeom>
          <a:solidFill>
            <a:srgbClr val="D49A00">
              <a:alpha val="13000"/>
            </a:srgbClr>
          </a:solidFill>
          <a:ln w="12700">
            <a:solidFill>
              <a:srgbClr val="D49A00"/>
            </a:solidFill>
            <a:prstDash val="solid"/>
          </a:ln>
        </p:spPr>
      </p:sp>
      <p:pic>
        <p:nvPicPr>
          <p:cNvPr id="48" name="Image 6" descr="preencoded.png">    </p:cNvPr>
          <p:cNvPicPr>
            <a:picLocks noChangeAspect="1"/>
          </p:cNvPicPr>
          <p:nvPr/>
        </p:nvPicPr>
        <p:blipFill>
          <a:blip r:embed="rId7"/>
          <a:stretch>
            <a:fillRect/>
          </a:stretch>
        </p:blipFill>
        <p:spPr>
          <a:xfrm>
            <a:off x="6291072" y="3072384"/>
            <a:ext cx="182880" cy="182880"/>
          </a:xfrm>
          <a:prstGeom prst="rect">
            <a:avLst/>
          </a:prstGeom>
        </p:spPr>
      </p:pic>
      <p:sp>
        <p:nvSpPr>
          <p:cNvPr id="49" name="Text 39"/>
          <p:cNvSpPr txBox="1"/>
          <p:nvPr/>
        </p:nvSpPr>
        <p:spPr>
          <a:xfrm>
            <a:off x="6537960" y="3063240"/>
            <a:ext cx="1828800" cy="201168"/>
          </a:xfrm>
          <a:prstGeom prst="rect">
            <a:avLst/>
          </a:prstGeom>
          <a:noFill/>
          <a:ln/>
        </p:spPr>
        <p:txBody>
          <a:bodyPr wrap="square" lIns="0" tIns="0" rIns="0" bIns="0" rtlCol="0" anchor="t"/>
          <a:lstStyle/>
          <a:p>
            <a:pPr indent="0" marL="0">
              <a:buNone/>
            </a:pPr>
            <a:r>
              <a:rPr lang="en-US" sz="1000" b="1" spc="200" kern="0" dirty="0">
                <a:solidFill>
                  <a:srgbClr val="D49A00"/>
                </a:solidFill>
                <a:latin typeface="Calibri" pitchFamily="34" charset="0"/>
                <a:ea typeface="Calibri" pitchFamily="34" charset="-122"/>
                <a:cs typeface="Calibri" pitchFamily="34" charset="-120"/>
              </a:rPr>
              <a:t>WATCH OUT</a:t>
            </a:r>
            <a:endParaRPr lang="en-US" sz="1000" dirty="0"/>
          </a:p>
        </p:txBody>
      </p:sp>
      <p:sp>
        <p:nvSpPr>
          <p:cNvPr id="50" name="Text 40"/>
          <p:cNvSpPr txBox="1"/>
          <p:nvPr/>
        </p:nvSpPr>
        <p:spPr>
          <a:xfrm>
            <a:off x="6291072" y="3291840"/>
            <a:ext cx="2286000" cy="676656"/>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Only formal, recorded activity is visible. Cash, informal trade and non-subscribers disappear; one operator's customers are not the population.</a:t>
            </a:r>
            <a:endParaRPr lang="en-US" sz="950" dirty="0"/>
          </a:p>
        </p:txBody>
      </p:sp>
      <p:sp>
        <p:nvSpPr>
          <p:cNvPr id="51" name="Shape 41"/>
          <p:cNvSpPr/>
          <p:nvPr/>
        </p:nvSpPr>
        <p:spPr>
          <a:xfrm>
            <a:off x="457200" y="4114800"/>
            <a:ext cx="2615184" cy="438912"/>
          </a:xfrm>
          <a:prstGeom prst="roundRect">
            <a:avLst>
              <a:gd name="adj" fmla="val 12500"/>
            </a:avLst>
          </a:prstGeom>
          <a:solidFill>
            <a:srgbClr val="FFFFFF"/>
          </a:solidFill>
          <a:ln w="9525">
            <a:solidFill>
              <a:srgbClr val="D5DED9"/>
            </a:solidFill>
            <a:prstDash val="solid"/>
          </a:ln>
        </p:spPr>
      </p:sp>
      <p:sp>
        <p:nvSpPr>
          <p:cNvPr id="52" name="Text 42"/>
          <p:cNvSpPr txBox="1"/>
          <p:nvPr/>
        </p:nvSpPr>
        <p:spPr>
          <a:xfrm>
            <a:off x="566928"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Early 2000s</a:t>
            </a:r>
            <a:endParaRPr lang="en-US" sz="1400" dirty="0"/>
          </a:p>
        </p:txBody>
      </p:sp>
      <p:sp>
        <p:nvSpPr>
          <p:cNvPr id="53" name="Text 43"/>
          <p:cNvSpPr txBox="1"/>
          <p:nvPr/>
        </p:nvSpPr>
        <p:spPr>
          <a:xfrm>
            <a:off x="1719072"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first scanner-based CPIs (Europe)</a:t>
            </a:r>
            <a:endParaRPr lang="en-US" sz="950" dirty="0"/>
          </a:p>
        </p:txBody>
      </p:sp>
      <p:sp>
        <p:nvSpPr>
          <p:cNvPr id="54" name="Shape 44"/>
          <p:cNvSpPr/>
          <p:nvPr/>
        </p:nvSpPr>
        <p:spPr>
          <a:xfrm>
            <a:off x="3264408" y="4114800"/>
            <a:ext cx="2615184" cy="438912"/>
          </a:xfrm>
          <a:prstGeom prst="roundRect">
            <a:avLst>
              <a:gd name="adj" fmla="val 12500"/>
            </a:avLst>
          </a:prstGeom>
          <a:solidFill>
            <a:srgbClr val="FFFFFF"/>
          </a:solidFill>
          <a:ln w="9525">
            <a:solidFill>
              <a:srgbClr val="D5DED9"/>
            </a:solidFill>
            <a:prstDash val="solid"/>
          </a:ln>
        </p:spPr>
      </p:sp>
      <p:sp>
        <p:nvSpPr>
          <p:cNvPr id="55" name="Text 45"/>
          <p:cNvSpPr txBox="1"/>
          <p:nvPr/>
        </p:nvSpPr>
        <p:spPr>
          <a:xfrm>
            <a:off x="3374136"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2018</a:t>
            </a:r>
            <a:endParaRPr lang="en-US" sz="1400" dirty="0"/>
          </a:p>
        </p:txBody>
      </p:sp>
      <p:sp>
        <p:nvSpPr>
          <p:cNvPr id="56" name="Text 46"/>
          <p:cNvSpPr txBox="1"/>
          <p:nvPr/>
        </p:nvSpPr>
        <p:spPr>
          <a:xfrm>
            <a:off x="4526280"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GSS–Vodafone–Flowminder agreement</a:t>
            </a:r>
            <a:endParaRPr lang="en-US" sz="950" dirty="0"/>
          </a:p>
        </p:txBody>
      </p:sp>
      <p:sp>
        <p:nvSpPr>
          <p:cNvPr id="57" name="Shape 47"/>
          <p:cNvSpPr/>
          <p:nvPr/>
        </p:nvSpPr>
        <p:spPr>
          <a:xfrm>
            <a:off x="6071616" y="4114800"/>
            <a:ext cx="2615184" cy="438912"/>
          </a:xfrm>
          <a:prstGeom prst="roundRect">
            <a:avLst>
              <a:gd name="adj" fmla="val 12500"/>
            </a:avLst>
          </a:prstGeom>
          <a:solidFill>
            <a:srgbClr val="FFFFFF"/>
          </a:solidFill>
          <a:ln w="9525">
            <a:solidFill>
              <a:srgbClr val="D5DED9"/>
            </a:solidFill>
            <a:prstDash val="solid"/>
          </a:ln>
        </p:spPr>
      </p:sp>
      <p:sp>
        <p:nvSpPr>
          <p:cNvPr id="58" name="Text 48"/>
          <p:cNvSpPr txBox="1"/>
          <p:nvPr/>
        </p:nvSpPr>
        <p:spPr>
          <a:xfrm>
            <a:off x="6181344"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Aggregated</a:t>
            </a:r>
            <a:endParaRPr lang="en-US" sz="1400" dirty="0"/>
          </a:p>
        </p:txBody>
      </p:sp>
      <p:sp>
        <p:nvSpPr>
          <p:cNvPr id="59" name="Text 49"/>
          <p:cNvSpPr txBox="1"/>
          <p:nvPr/>
        </p:nvSpPr>
        <p:spPr>
          <a:xfrm>
            <a:off x="7333488"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only outputs leave the operator</a:t>
            </a:r>
            <a:endParaRPr lang="en-US" sz="950" dirty="0"/>
          </a:p>
        </p:txBody>
      </p:sp>
      <p:sp>
        <p:nvSpPr>
          <p:cNvPr id="60" name="Text 5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UN Statistics Wiki, Mobile phone data guide, Appendix 1.5 Ghana; Flowminder (2020–2023); Blumenstock et al. (2015), Science 350(6264).</a:t>
            </a:r>
            <a:endParaRPr lang="en-US" sz="8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TAXONOMY · FAMILY 4 OF 6</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Web scraping and online platforms</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Shape 14"/>
          <p:cNvSpPr/>
          <p:nvPr/>
        </p:nvSpPr>
        <p:spPr>
          <a:xfrm>
            <a:off x="457200" y="1097280"/>
            <a:ext cx="2743200" cy="1600200"/>
          </a:xfrm>
          <a:prstGeom prst="roundRect">
            <a:avLst>
              <a:gd name="adj" fmla="val 4571"/>
            </a:avLst>
          </a:prstGeom>
          <a:solidFill>
            <a:srgbClr val="F4F7F5"/>
          </a:solidFill>
          <a:ln w="9525">
            <a:solidFill>
              <a:srgbClr val="D5DED9"/>
            </a:solidFill>
            <a:prstDash val="solid"/>
          </a:ln>
        </p:spPr>
      </p:sp>
      <p:sp>
        <p:nvSpPr>
          <p:cNvPr id="18" name="Shape 15"/>
          <p:cNvSpPr/>
          <p:nvPr/>
        </p:nvSpPr>
        <p:spPr>
          <a:xfrm>
            <a:off x="594360" y="1207008"/>
            <a:ext cx="384048" cy="384048"/>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690372" y="1303020"/>
            <a:ext cx="192024" cy="192024"/>
          </a:xfrm>
          <a:prstGeom prst="rect">
            <a:avLst/>
          </a:prstGeom>
        </p:spPr>
      </p:pic>
      <p:sp>
        <p:nvSpPr>
          <p:cNvPr id="20" name="Text 16"/>
          <p:cNvSpPr txBox="1"/>
          <p:nvPr/>
        </p:nvSpPr>
        <p:spPr>
          <a:xfrm>
            <a:off x="1069848" y="1207008"/>
            <a:ext cx="1828800" cy="38404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WHAT IT IS</a:t>
            </a:r>
            <a:endParaRPr lang="en-US" sz="1000" dirty="0"/>
          </a:p>
        </p:txBody>
      </p:sp>
      <p:sp>
        <p:nvSpPr>
          <p:cNvPr id="21" name="Text 17"/>
          <p:cNvSpPr txBox="1"/>
          <p:nvPr/>
        </p:nvSpPr>
        <p:spPr>
          <a:xfrm>
            <a:off x="594360" y="1664208"/>
            <a:ext cx="2468880" cy="98755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Automated collection of information displayed publicly online — product prices, job and property listings, company websites — plus platform and search-behaviour data.</a:t>
            </a:r>
            <a:endParaRPr lang="en-US" sz="1050" dirty="0"/>
          </a:p>
        </p:txBody>
      </p:sp>
      <p:sp>
        <p:nvSpPr>
          <p:cNvPr id="22" name="Shape 18"/>
          <p:cNvSpPr/>
          <p:nvPr/>
        </p:nvSpPr>
        <p:spPr>
          <a:xfrm>
            <a:off x="457200" y="2807208"/>
            <a:ext cx="2743200" cy="1188720"/>
          </a:xfrm>
          <a:prstGeom prst="roundRect">
            <a:avLst>
              <a:gd name="adj" fmla="val 6154"/>
            </a:avLst>
          </a:prstGeom>
          <a:solidFill>
            <a:srgbClr val="F4F7F5"/>
          </a:solidFill>
          <a:ln w="9525">
            <a:solidFill>
              <a:srgbClr val="D5DED9"/>
            </a:solidFill>
            <a:prstDash val="solid"/>
          </a:ln>
        </p:spPr>
      </p:sp>
      <p:sp>
        <p:nvSpPr>
          <p:cNvPr id="23" name="Text 19"/>
          <p:cNvSpPr txBox="1"/>
          <p:nvPr/>
        </p:nvSpPr>
        <p:spPr>
          <a:xfrm>
            <a:off x="594360" y="2880360"/>
            <a:ext cx="2286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WHERE TO FIND IT</a:t>
            </a:r>
            <a:endParaRPr lang="en-US" sz="1000" dirty="0"/>
          </a:p>
        </p:txBody>
      </p:sp>
      <p:sp>
        <p:nvSpPr>
          <p:cNvPr id="24" name="Shape 20"/>
          <p:cNvSpPr/>
          <p:nvPr/>
        </p:nvSpPr>
        <p:spPr>
          <a:xfrm>
            <a:off x="594360" y="3163824"/>
            <a:ext cx="1207008" cy="329184"/>
          </a:xfrm>
          <a:prstGeom prst="roundRect">
            <a:avLst>
              <a:gd name="adj" fmla="val 22222"/>
            </a:avLst>
          </a:prstGeom>
          <a:solidFill>
            <a:srgbClr val="FFFFFF"/>
          </a:solidFill>
          <a:ln w="9525">
            <a:solidFill>
              <a:srgbClr val="00704A"/>
            </a:solidFill>
            <a:prstDash val="solid"/>
          </a:ln>
        </p:spPr>
      </p:sp>
      <p:sp>
        <p:nvSpPr>
          <p:cNvPr id="25" name="Text 21"/>
          <p:cNvSpPr txBox="1"/>
          <p:nvPr/>
        </p:nvSpPr>
        <p:spPr>
          <a:xfrm>
            <a:off x="630936" y="3163824"/>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E-commerce sites</a:t>
            </a:r>
            <a:endParaRPr lang="en-US" sz="900" dirty="0"/>
          </a:p>
        </p:txBody>
      </p:sp>
      <p:sp>
        <p:nvSpPr>
          <p:cNvPr id="26" name="Shape 22"/>
          <p:cNvSpPr/>
          <p:nvPr/>
        </p:nvSpPr>
        <p:spPr>
          <a:xfrm>
            <a:off x="1865376" y="3163824"/>
            <a:ext cx="1207008" cy="329184"/>
          </a:xfrm>
          <a:prstGeom prst="roundRect">
            <a:avLst>
              <a:gd name="adj" fmla="val 22222"/>
            </a:avLst>
          </a:prstGeom>
          <a:solidFill>
            <a:srgbClr val="FFFFFF"/>
          </a:solidFill>
          <a:ln w="9525">
            <a:solidFill>
              <a:srgbClr val="00704A"/>
            </a:solidFill>
            <a:prstDash val="solid"/>
          </a:ln>
        </p:spPr>
      </p:sp>
      <p:sp>
        <p:nvSpPr>
          <p:cNvPr id="27" name="Text 23"/>
          <p:cNvSpPr txBox="1"/>
          <p:nvPr/>
        </p:nvSpPr>
        <p:spPr>
          <a:xfrm>
            <a:off x="1901952" y="3163824"/>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Job portals</a:t>
            </a:r>
            <a:endParaRPr lang="en-US" sz="900" dirty="0"/>
          </a:p>
        </p:txBody>
      </p:sp>
      <p:sp>
        <p:nvSpPr>
          <p:cNvPr id="28" name="Shape 24"/>
          <p:cNvSpPr/>
          <p:nvPr/>
        </p:nvSpPr>
        <p:spPr>
          <a:xfrm>
            <a:off x="594360" y="3557016"/>
            <a:ext cx="1207008" cy="329184"/>
          </a:xfrm>
          <a:prstGeom prst="roundRect">
            <a:avLst>
              <a:gd name="adj" fmla="val 22222"/>
            </a:avLst>
          </a:prstGeom>
          <a:solidFill>
            <a:srgbClr val="FFFFFF"/>
          </a:solidFill>
          <a:ln w="9525">
            <a:solidFill>
              <a:srgbClr val="00704A"/>
            </a:solidFill>
            <a:prstDash val="solid"/>
          </a:ln>
        </p:spPr>
      </p:sp>
      <p:sp>
        <p:nvSpPr>
          <p:cNvPr id="29" name="Text 25"/>
          <p:cNvSpPr txBox="1"/>
          <p:nvPr/>
        </p:nvSpPr>
        <p:spPr>
          <a:xfrm>
            <a:off x="630936" y="3557016"/>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Property listings</a:t>
            </a:r>
            <a:endParaRPr lang="en-US" sz="900" dirty="0"/>
          </a:p>
        </p:txBody>
      </p:sp>
      <p:sp>
        <p:nvSpPr>
          <p:cNvPr id="30" name="Shape 26"/>
          <p:cNvSpPr/>
          <p:nvPr/>
        </p:nvSpPr>
        <p:spPr>
          <a:xfrm>
            <a:off x="1865376" y="3557016"/>
            <a:ext cx="1207008" cy="329184"/>
          </a:xfrm>
          <a:prstGeom prst="roundRect">
            <a:avLst>
              <a:gd name="adj" fmla="val 22222"/>
            </a:avLst>
          </a:prstGeom>
          <a:solidFill>
            <a:srgbClr val="FFFFFF"/>
          </a:solidFill>
          <a:ln w="9525">
            <a:solidFill>
              <a:srgbClr val="00704A"/>
            </a:solidFill>
            <a:prstDash val="solid"/>
          </a:ln>
        </p:spPr>
      </p:sp>
      <p:sp>
        <p:nvSpPr>
          <p:cNvPr id="31" name="Text 27"/>
          <p:cNvSpPr txBox="1"/>
          <p:nvPr/>
        </p:nvSpPr>
        <p:spPr>
          <a:xfrm>
            <a:off x="1901952" y="3557016"/>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Business directories</a:t>
            </a:r>
            <a:endParaRPr lang="en-US" sz="900" dirty="0"/>
          </a:p>
        </p:txBody>
      </p:sp>
      <p:sp>
        <p:nvSpPr>
          <p:cNvPr id="32" name="Shape 28"/>
          <p:cNvSpPr/>
          <p:nvPr/>
        </p:nvSpPr>
        <p:spPr>
          <a:xfrm>
            <a:off x="3337560" y="1097280"/>
            <a:ext cx="2697480" cy="2898648"/>
          </a:xfrm>
          <a:prstGeom prst="roundRect">
            <a:avLst>
              <a:gd name="adj" fmla="val 2712"/>
            </a:avLst>
          </a:prstGeom>
          <a:solidFill>
            <a:srgbClr val="F4F7F5"/>
          </a:solidFill>
          <a:ln w="9525">
            <a:solidFill>
              <a:srgbClr val="D5DED9"/>
            </a:solidFill>
            <a:prstDash val="solid"/>
          </a:ln>
        </p:spPr>
      </p:sp>
      <p:sp>
        <p:nvSpPr>
          <p:cNvPr id="33" name="Text 29"/>
          <p:cNvSpPr txBox="1"/>
          <p:nvPr/>
        </p:nvSpPr>
        <p:spPr>
          <a:xfrm>
            <a:off x="3474720" y="1207008"/>
            <a:ext cx="2468880" cy="274320"/>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WHAT NSOs CAN MEASURE</a:t>
            </a:r>
            <a:endParaRPr lang="en-US" sz="1000" dirty="0"/>
          </a:p>
        </p:txBody>
      </p:sp>
      <p:pic>
        <p:nvPicPr>
          <p:cNvPr id="34" name="Image 1" descr="preencoded.png">    </p:cNvPr>
          <p:cNvPicPr>
            <a:picLocks noChangeAspect="1"/>
          </p:cNvPicPr>
          <p:nvPr/>
        </p:nvPicPr>
        <p:blipFill>
          <a:blip r:embed="rId2"/>
          <a:stretch>
            <a:fillRect/>
          </a:stretch>
        </p:blipFill>
        <p:spPr>
          <a:xfrm>
            <a:off x="3474720" y="1664208"/>
            <a:ext cx="182880" cy="182880"/>
          </a:xfrm>
          <a:prstGeom prst="rect">
            <a:avLst/>
          </a:prstGeom>
        </p:spPr>
      </p:pic>
      <p:sp>
        <p:nvSpPr>
          <p:cNvPr id="35" name="Text 30"/>
          <p:cNvSpPr txBox="1"/>
          <p:nvPr/>
        </p:nvSpPr>
        <p:spPr>
          <a:xfrm>
            <a:off x="3749040" y="16276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Online prices, updated daily</a:t>
            </a:r>
            <a:endParaRPr lang="en-US" sz="1050" dirty="0"/>
          </a:p>
        </p:txBody>
      </p:sp>
      <p:pic>
        <p:nvPicPr>
          <p:cNvPr id="36" name="Image 2" descr="preencoded.png">    </p:cNvPr>
          <p:cNvPicPr>
            <a:picLocks noChangeAspect="1"/>
          </p:cNvPicPr>
          <p:nvPr/>
        </p:nvPicPr>
        <p:blipFill>
          <a:blip r:embed="rId3"/>
          <a:stretch>
            <a:fillRect/>
          </a:stretch>
        </p:blipFill>
        <p:spPr>
          <a:xfrm>
            <a:off x="3474720" y="2121408"/>
            <a:ext cx="182880" cy="182880"/>
          </a:xfrm>
          <a:prstGeom prst="rect">
            <a:avLst/>
          </a:prstGeom>
        </p:spPr>
      </p:pic>
      <p:sp>
        <p:nvSpPr>
          <p:cNvPr id="37" name="Text 31"/>
          <p:cNvSpPr txBox="1"/>
          <p:nvPr/>
        </p:nvSpPr>
        <p:spPr>
          <a:xfrm>
            <a:off x="3749040" y="20848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Labour demand by skill and occupation</a:t>
            </a:r>
            <a:endParaRPr lang="en-US" sz="1050" dirty="0"/>
          </a:p>
        </p:txBody>
      </p:sp>
      <p:pic>
        <p:nvPicPr>
          <p:cNvPr id="38" name="Image 3" descr="preencoded.png">    </p:cNvPr>
          <p:cNvPicPr>
            <a:picLocks noChangeAspect="1"/>
          </p:cNvPicPr>
          <p:nvPr/>
        </p:nvPicPr>
        <p:blipFill>
          <a:blip r:embed="rId4"/>
          <a:stretch>
            <a:fillRect/>
          </a:stretch>
        </p:blipFill>
        <p:spPr>
          <a:xfrm>
            <a:off x="3474720" y="2578608"/>
            <a:ext cx="182880" cy="182880"/>
          </a:xfrm>
          <a:prstGeom prst="rect">
            <a:avLst/>
          </a:prstGeom>
        </p:spPr>
      </p:pic>
      <p:sp>
        <p:nvSpPr>
          <p:cNvPr id="39" name="Text 32"/>
          <p:cNvSpPr txBox="1"/>
          <p:nvPr/>
        </p:nvSpPr>
        <p:spPr>
          <a:xfrm>
            <a:off x="3749040" y="25420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Rents and housing supply</a:t>
            </a:r>
            <a:endParaRPr lang="en-US" sz="1050" dirty="0"/>
          </a:p>
        </p:txBody>
      </p:sp>
      <p:pic>
        <p:nvPicPr>
          <p:cNvPr id="40" name="Image 4" descr="preencoded.png">    </p:cNvPr>
          <p:cNvPicPr>
            <a:picLocks noChangeAspect="1"/>
          </p:cNvPicPr>
          <p:nvPr/>
        </p:nvPicPr>
        <p:blipFill>
          <a:blip r:embed="rId5"/>
          <a:stretch>
            <a:fillRect/>
          </a:stretch>
        </p:blipFill>
        <p:spPr>
          <a:xfrm>
            <a:off x="3474720" y="3035808"/>
            <a:ext cx="182880" cy="182880"/>
          </a:xfrm>
          <a:prstGeom prst="rect">
            <a:avLst/>
          </a:prstGeom>
        </p:spPr>
      </p:pic>
      <p:sp>
        <p:nvSpPr>
          <p:cNvPr id="41" name="Text 33"/>
          <p:cNvSpPr txBox="1"/>
          <p:nvPr/>
        </p:nvSpPr>
        <p:spPr>
          <a:xfrm>
            <a:off x="3749040" y="29992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Business registers and firm activity</a:t>
            </a:r>
            <a:endParaRPr lang="en-US" sz="1050" dirty="0"/>
          </a:p>
        </p:txBody>
      </p:sp>
      <p:pic>
        <p:nvPicPr>
          <p:cNvPr id="42" name="Image 5" descr="preencoded.png">    </p:cNvPr>
          <p:cNvPicPr>
            <a:picLocks noChangeAspect="1"/>
          </p:cNvPicPr>
          <p:nvPr/>
        </p:nvPicPr>
        <p:blipFill>
          <a:blip r:embed="rId6"/>
          <a:stretch>
            <a:fillRect/>
          </a:stretch>
        </p:blipFill>
        <p:spPr>
          <a:xfrm>
            <a:off x="3474720" y="3493008"/>
            <a:ext cx="182880" cy="182880"/>
          </a:xfrm>
          <a:prstGeom prst="rect">
            <a:avLst/>
          </a:prstGeom>
        </p:spPr>
      </p:pic>
      <p:sp>
        <p:nvSpPr>
          <p:cNvPr id="43" name="Text 34"/>
          <p:cNvSpPr txBox="1"/>
          <p:nvPr/>
        </p:nvSpPr>
        <p:spPr>
          <a:xfrm>
            <a:off x="3749040" y="34564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Early signals of price shocks</a:t>
            </a:r>
            <a:endParaRPr lang="en-US" sz="1050" dirty="0"/>
          </a:p>
        </p:txBody>
      </p:sp>
      <p:sp>
        <p:nvSpPr>
          <p:cNvPr id="44" name="Shape 35"/>
          <p:cNvSpPr/>
          <p:nvPr/>
        </p:nvSpPr>
        <p:spPr>
          <a:xfrm>
            <a:off x="6172200" y="1097280"/>
            <a:ext cx="2514600" cy="1783080"/>
          </a:xfrm>
          <a:prstGeom prst="roundRect">
            <a:avLst>
              <a:gd name="adj" fmla="val 4103"/>
            </a:avLst>
          </a:prstGeom>
          <a:solidFill>
            <a:srgbClr val="E8F5EF"/>
          </a:solidFill>
          <a:ln w="15875">
            <a:solidFill>
              <a:srgbClr val="00A86A"/>
            </a:solidFill>
            <a:prstDash val="solid"/>
          </a:ln>
        </p:spPr>
      </p:sp>
      <p:sp>
        <p:nvSpPr>
          <p:cNvPr id="45" name="Text 36"/>
          <p:cNvSpPr txBox="1"/>
          <p:nvPr/>
        </p:nvSpPr>
        <p:spPr>
          <a:xfrm>
            <a:off x="6309360" y="1188720"/>
            <a:ext cx="2286000" cy="22860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DOCUMENTED EXAMPLE</a:t>
            </a:r>
            <a:endParaRPr lang="en-US" sz="1000" dirty="0"/>
          </a:p>
        </p:txBody>
      </p:sp>
      <p:sp>
        <p:nvSpPr>
          <p:cNvPr id="46" name="Text 37"/>
          <p:cNvSpPr txBox="1"/>
          <p:nvPr/>
        </p:nvSpPr>
        <p:spPr>
          <a:xfrm>
            <a:off x="6309360" y="1444752"/>
            <a:ext cx="2258568" cy="13716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MIT's Billion Prices Project scraped daily online prices from retailers in dozens of countries and produced inflation series that tracked — and sometimes anticipated — official CPIs.</a:t>
            </a:r>
            <a:endParaRPr lang="en-US" sz="1050" dirty="0"/>
          </a:p>
        </p:txBody>
      </p:sp>
      <p:sp>
        <p:nvSpPr>
          <p:cNvPr id="47" name="Shape 38"/>
          <p:cNvSpPr/>
          <p:nvPr/>
        </p:nvSpPr>
        <p:spPr>
          <a:xfrm>
            <a:off x="6172200" y="2990088"/>
            <a:ext cx="2514600" cy="1005840"/>
          </a:xfrm>
          <a:prstGeom prst="roundRect">
            <a:avLst>
              <a:gd name="adj" fmla="val 5455"/>
            </a:avLst>
          </a:prstGeom>
          <a:solidFill>
            <a:srgbClr val="D49A00">
              <a:alpha val="13000"/>
            </a:srgbClr>
          </a:solidFill>
          <a:ln w="12700">
            <a:solidFill>
              <a:srgbClr val="D49A00"/>
            </a:solidFill>
            <a:prstDash val="solid"/>
          </a:ln>
        </p:spPr>
      </p:sp>
      <p:pic>
        <p:nvPicPr>
          <p:cNvPr id="48" name="Image 6" descr="preencoded.png">    </p:cNvPr>
          <p:cNvPicPr>
            <a:picLocks noChangeAspect="1"/>
          </p:cNvPicPr>
          <p:nvPr/>
        </p:nvPicPr>
        <p:blipFill>
          <a:blip r:embed="rId7"/>
          <a:stretch>
            <a:fillRect/>
          </a:stretch>
        </p:blipFill>
        <p:spPr>
          <a:xfrm>
            <a:off x="6291072" y="3072384"/>
            <a:ext cx="182880" cy="182880"/>
          </a:xfrm>
          <a:prstGeom prst="rect">
            <a:avLst/>
          </a:prstGeom>
        </p:spPr>
      </p:pic>
      <p:sp>
        <p:nvSpPr>
          <p:cNvPr id="49" name="Text 39"/>
          <p:cNvSpPr txBox="1"/>
          <p:nvPr/>
        </p:nvSpPr>
        <p:spPr>
          <a:xfrm>
            <a:off x="6537960" y="3063240"/>
            <a:ext cx="1828800" cy="201168"/>
          </a:xfrm>
          <a:prstGeom prst="rect">
            <a:avLst/>
          </a:prstGeom>
          <a:noFill/>
          <a:ln/>
        </p:spPr>
        <p:txBody>
          <a:bodyPr wrap="square" lIns="0" tIns="0" rIns="0" bIns="0" rtlCol="0" anchor="t"/>
          <a:lstStyle/>
          <a:p>
            <a:pPr indent="0" marL="0">
              <a:buNone/>
            </a:pPr>
            <a:r>
              <a:rPr lang="en-US" sz="1000" b="1" spc="200" kern="0" dirty="0">
                <a:solidFill>
                  <a:srgbClr val="D49A00"/>
                </a:solidFill>
                <a:latin typeface="Calibri" pitchFamily="34" charset="0"/>
                <a:ea typeface="Calibri" pitchFamily="34" charset="-122"/>
                <a:cs typeface="Calibri" pitchFamily="34" charset="-120"/>
              </a:rPr>
              <a:t>WATCH OUT</a:t>
            </a:r>
            <a:endParaRPr lang="en-US" sz="1000" dirty="0"/>
          </a:p>
        </p:txBody>
      </p:sp>
      <p:sp>
        <p:nvSpPr>
          <p:cNvPr id="50" name="Text 40"/>
          <p:cNvSpPr txBox="1"/>
          <p:nvPr/>
        </p:nvSpPr>
        <p:spPr>
          <a:xfrm>
            <a:off x="6291072" y="3291840"/>
            <a:ext cx="2286000" cy="676656"/>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Websites change layout overnight; online offers are not transactions; urban, formal sellers dominate. "Publicly visible" is not "lawfully reusable" — check terms and law.</a:t>
            </a:r>
            <a:endParaRPr lang="en-US" sz="950" dirty="0"/>
          </a:p>
        </p:txBody>
      </p:sp>
      <p:sp>
        <p:nvSpPr>
          <p:cNvPr id="51" name="Shape 41"/>
          <p:cNvSpPr/>
          <p:nvPr/>
        </p:nvSpPr>
        <p:spPr>
          <a:xfrm>
            <a:off x="457200" y="4114800"/>
            <a:ext cx="2615184" cy="438912"/>
          </a:xfrm>
          <a:prstGeom prst="roundRect">
            <a:avLst>
              <a:gd name="adj" fmla="val 12500"/>
            </a:avLst>
          </a:prstGeom>
          <a:solidFill>
            <a:srgbClr val="FFFFFF"/>
          </a:solidFill>
          <a:ln w="9525">
            <a:solidFill>
              <a:srgbClr val="D5DED9"/>
            </a:solidFill>
            <a:prstDash val="solid"/>
          </a:ln>
        </p:spPr>
      </p:sp>
      <p:sp>
        <p:nvSpPr>
          <p:cNvPr id="52" name="Text 42"/>
          <p:cNvSpPr txBox="1"/>
          <p:nvPr/>
        </p:nvSpPr>
        <p:spPr>
          <a:xfrm>
            <a:off x="566928"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Daily</a:t>
            </a:r>
            <a:endParaRPr lang="en-US" sz="1400" dirty="0"/>
          </a:p>
        </p:txBody>
      </p:sp>
      <p:sp>
        <p:nvSpPr>
          <p:cNvPr id="53" name="Text 43"/>
          <p:cNvSpPr txBox="1"/>
          <p:nvPr/>
        </p:nvSpPr>
        <p:spPr>
          <a:xfrm>
            <a:off x="1719072"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possible frequency</a:t>
            </a:r>
            <a:endParaRPr lang="en-US" sz="950" dirty="0"/>
          </a:p>
        </p:txBody>
      </p:sp>
      <p:sp>
        <p:nvSpPr>
          <p:cNvPr id="54" name="Shape 44"/>
          <p:cNvSpPr/>
          <p:nvPr/>
        </p:nvSpPr>
        <p:spPr>
          <a:xfrm>
            <a:off x="3264408" y="4114800"/>
            <a:ext cx="2615184" cy="438912"/>
          </a:xfrm>
          <a:prstGeom prst="roundRect">
            <a:avLst>
              <a:gd name="adj" fmla="val 12500"/>
            </a:avLst>
          </a:prstGeom>
          <a:solidFill>
            <a:srgbClr val="FFFFFF"/>
          </a:solidFill>
          <a:ln w="9525">
            <a:solidFill>
              <a:srgbClr val="D5DED9"/>
            </a:solidFill>
            <a:prstDash val="solid"/>
          </a:ln>
        </p:spPr>
      </p:sp>
      <p:sp>
        <p:nvSpPr>
          <p:cNvPr id="55" name="Text 45"/>
          <p:cNvSpPr txBox="1"/>
          <p:nvPr/>
        </p:nvSpPr>
        <p:spPr>
          <a:xfrm>
            <a:off x="3374136"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Robots.txt</a:t>
            </a:r>
            <a:endParaRPr lang="en-US" sz="1400" dirty="0"/>
          </a:p>
        </p:txBody>
      </p:sp>
      <p:sp>
        <p:nvSpPr>
          <p:cNvPr id="56" name="Text 46"/>
          <p:cNvSpPr txBox="1"/>
          <p:nvPr/>
        </p:nvSpPr>
        <p:spPr>
          <a:xfrm>
            <a:off x="4526280"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and terms of use apply</a:t>
            </a:r>
            <a:endParaRPr lang="en-US" sz="950" dirty="0"/>
          </a:p>
        </p:txBody>
      </p:sp>
      <p:sp>
        <p:nvSpPr>
          <p:cNvPr id="57" name="Shape 47"/>
          <p:cNvSpPr/>
          <p:nvPr/>
        </p:nvSpPr>
        <p:spPr>
          <a:xfrm>
            <a:off x="6071616" y="4114800"/>
            <a:ext cx="2615184" cy="438912"/>
          </a:xfrm>
          <a:prstGeom prst="roundRect">
            <a:avLst>
              <a:gd name="adj" fmla="val 12500"/>
            </a:avLst>
          </a:prstGeom>
          <a:solidFill>
            <a:srgbClr val="FFFFFF"/>
          </a:solidFill>
          <a:ln w="9525">
            <a:solidFill>
              <a:srgbClr val="D5DED9"/>
            </a:solidFill>
            <a:prstDash val="solid"/>
          </a:ln>
        </p:spPr>
      </p:sp>
      <p:sp>
        <p:nvSpPr>
          <p:cNvPr id="58" name="Text 48"/>
          <p:cNvSpPr txBox="1"/>
          <p:nvPr/>
        </p:nvSpPr>
        <p:spPr>
          <a:xfrm>
            <a:off x="6181344"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Offer ≠ sale</a:t>
            </a:r>
            <a:endParaRPr lang="en-US" sz="1400" dirty="0"/>
          </a:p>
        </p:txBody>
      </p:sp>
      <p:sp>
        <p:nvSpPr>
          <p:cNvPr id="59" name="Text 49"/>
          <p:cNvSpPr txBox="1"/>
          <p:nvPr/>
        </p:nvSpPr>
        <p:spPr>
          <a:xfrm>
            <a:off x="7333488"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the core proxy gap</a:t>
            </a:r>
            <a:endParaRPr lang="en-US" sz="950" dirty="0"/>
          </a:p>
        </p:txBody>
      </p:sp>
      <p:sp>
        <p:nvSpPr>
          <p:cNvPr id="60" name="Text 5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Cavallo &amp; Rigobon (2016), "The Billion Prices Project", Journal of Economic Perspectives 30(2); UNECE/ESS web intelligence work.</a:t>
            </a:r>
            <a:endParaRPr lang="en-US" sz="8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TAXONOMY · FAMILY 5 OF 6</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Sensors, IoT and telematics</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097280"/>
            <a:ext cx="2743200" cy="1600200"/>
          </a:xfrm>
          <a:prstGeom prst="roundRect">
            <a:avLst>
              <a:gd name="adj" fmla="val 4571"/>
            </a:avLst>
          </a:prstGeom>
          <a:solidFill>
            <a:srgbClr val="F4F7F5"/>
          </a:solidFill>
          <a:ln w="9525">
            <a:solidFill>
              <a:srgbClr val="D5DED9"/>
            </a:solidFill>
            <a:prstDash val="solid"/>
          </a:ln>
        </p:spPr>
      </p:sp>
      <p:sp>
        <p:nvSpPr>
          <p:cNvPr id="18" name="Shape 15"/>
          <p:cNvSpPr/>
          <p:nvPr/>
        </p:nvSpPr>
        <p:spPr>
          <a:xfrm>
            <a:off x="594360" y="1207008"/>
            <a:ext cx="384048" cy="384048"/>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690372" y="1303020"/>
            <a:ext cx="192024" cy="192024"/>
          </a:xfrm>
          <a:prstGeom prst="rect">
            <a:avLst/>
          </a:prstGeom>
        </p:spPr>
      </p:pic>
      <p:sp>
        <p:nvSpPr>
          <p:cNvPr id="20" name="Text 16"/>
          <p:cNvSpPr txBox="1"/>
          <p:nvPr/>
        </p:nvSpPr>
        <p:spPr>
          <a:xfrm>
            <a:off x="1069848" y="1207008"/>
            <a:ext cx="1828800" cy="38404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WHAT IT IS</a:t>
            </a:r>
            <a:endParaRPr lang="en-US" sz="1000" dirty="0"/>
          </a:p>
        </p:txBody>
      </p:sp>
      <p:sp>
        <p:nvSpPr>
          <p:cNvPr id="21" name="Text 17"/>
          <p:cNvSpPr txBox="1"/>
          <p:nvPr/>
        </p:nvSpPr>
        <p:spPr>
          <a:xfrm>
            <a:off x="594360" y="1664208"/>
            <a:ext cx="2468880" cy="98755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Fixed and mobile instruments that measure continuously: smart electricity and water meters, traffic counters, air-quality stations, GPS trackers, ship (AIS) and flight transponders.</a:t>
            </a:r>
            <a:endParaRPr lang="en-US" sz="1050" dirty="0"/>
          </a:p>
        </p:txBody>
      </p:sp>
      <p:sp>
        <p:nvSpPr>
          <p:cNvPr id="22" name="Shape 18"/>
          <p:cNvSpPr/>
          <p:nvPr/>
        </p:nvSpPr>
        <p:spPr>
          <a:xfrm>
            <a:off x="457200" y="2807208"/>
            <a:ext cx="2743200" cy="1188720"/>
          </a:xfrm>
          <a:prstGeom prst="roundRect">
            <a:avLst>
              <a:gd name="adj" fmla="val 6154"/>
            </a:avLst>
          </a:prstGeom>
          <a:solidFill>
            <a:srgbClr val="F4F7F5"/>
          </a:solidFill>
          <a:ln w="9525">
            <a:solidFill>
              <a:srgbClr val="D5DED9"/>
            </a:solidFill>
            <a:prstDash val="solid"/>
          </a:ln>
        </p:spPr>
      </p:sp>
      <p:sp>
        <p:nvSpPr>
          <p:cNvPr id="23" name="Text 19"/>
          <p:cNvSpPr txBox="1"/>
          <p:nvPr/>
        </p:nvSpPr>
        <p:spPr>
          <a:xfrm>
            <a:off x="594360" y="2880360"/>
            <a:ext cx="2286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WHERE TO FIND IT</a:t>
            </a:r>
            <a:endParaRPr lang="en-US" sz="1000" dirty="0"/>
          </a:p>
        </p:txBody>
      </p:sp>
      <p:sp>
        <p:nvSpPr>
          <p:cNvPr id="24" name="Shape 20"/>
          <p:cNvSpPr/>
          <p:nvPr/>
        </p:nvSpPr>
        <p:spPr>
          <a:xfrm>
            <a:off x="594360" y="3163824"/>
            <a:ext cx="1207008" cy="329184"/>
          </a:xfrm>
          <a:prstGeom prst="roundRect">
            <a:avLst>
              <a:gd name="adj" fmla="val 22222"/>
            </a:avLst>
          </a:prstGeom>
          <a:solidFill>
            <a:srgbClr val="FFFFFF"/>
          </a:solidFill>
          <a:ln w="9525">
            <a:solidFill>
              <a:srgbClr val="00704A"/>
            </a:solidFill>
            <a:prstDash val="solid"/>
          </a:ln>
        </p:spPr>
      </p:sp>
      <p:sp>
        <p:nvSpPr>
          <p:cNvPr id="25" name="Text 21"/>
          <p:cNvSpPr txBox="1"/>
          <p:nvPr/>
        </p:nvSpPr>
        <p:spPr>
          <a:xfrm>
            <a:off x="630936" y="3163824"/>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Utility smart meters</a:t>
            </a:r>
            <a:endParaRPr lang="en-US" sz="900" dirty="0"/>
          </a:p>
        </p:txBody>
      </p:sp>
      <p:sp>
        <p:nvSpPr>
          <p:cNvPr id="26" name="Shape 22"/>
          <p:cNvSpPr/>
          <p:nvPr/>
        </p:nvSpPr>
        <p:spPr>
          <a:xfrm>
            <a:off x="1865376" y="3163824"/>
            <a:ext cx="1207008" cy="329184"/>
          </a:xfrm>
          <a:prstGeom prst="roundRect">
            <a:avLst>
              <a:gd name="adj" fmla="val 22222"/>
            </a:avLst>
          </a:prstGeom>
          <a:solidFill>
            <a:srgbClr val="FFFFFF"/>
          </a:solidFill>
          <a:ln w="9525">
            <a:solidFill>
              <a:srgbClr val="00704A"/>
            </a:solidFill>
            <a:prstDash val="solid"/>
          </a:ln>
        </p:spPr>
      </p:sp>
      <p:sp>
        <p:nvSpPr>
          <p:cNvPr id="27" name="Text 23"/>
          <p:cNvSpPr txBox="1"/>
          <p:nvPr/>
        </p:nvSpPr>
        <p:spPr>
          <a:xfrm>
            <a:off x="1901952" y="3163824"/>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AIS vessel tracking</a:t>
            </a:r>
            <a:endParaRPr lang="en-US" sz="900" dirty="0"/>
          </a:p>
        </p:txBody>
      </p:sp>
      <p:sp>
        <p:nvSpPr>
          <p:cNvPr id="28" name="Shape 24"/>
          <p:cNvSpPr/>
          <p:nvPr/>
        </p:nvSpPr>
        <p:spPr>
          <a:xfrm>
            <a:off x="594360" y="3557016"/>
            <a:ext cx="1207008" cy="329184"/>
          </a:xfrm>
          <a:prstGeom prst="roundRect">
            <a:avLst>
              <a:gd name="adj" fmla="val 22222"/>
            </a:avLst>
          </a:prstGeom>
          <a:solidFill>
            <a:srgbClr val="FFFFFF"/>
          </a:solidFill>
          <a:ln w="9525">
            <a:solidFill>
              <a:srgbClr val="00704A"/>
            </a:solidFill>
            <a:prstDash val="solid"/>
          </a:ln>
        </p:spPr>
      </p:sp>
      <p:sp>
        <p:nvSpPr>
          <p:cNvPr id="29" name="Text 25"/>
          <p:cNvSpPr txBox="1"/>
          <p:nvPr/>
        </p:nvSpPr>
        <p:spPr>
          <a:xfrm>
            <a:off x="630936" y="3557016"/>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Air-quality networks</a:t>
            </a:r>
            <a:endParaRPr lang="en-US" sz="900" dirty="0"/>
          </a:p>
        </p:txBody>
      </p:sp>
      <p:sp>
        <p:nvSpPr>
          <p:cNvPr id="30" name="Shape 26"/>
          <p:cNvSpPr/>
          <p:nvPr/>
        </p:nvSpPr>
        <p:spPr>
          <a:xfrm>
            <a:off x="1865376" y="3557016"/>
            <a:ext cx="1207008" cy="329184"/>
          </a:xfrm>
          <a:prstGeom prst="roundRect">
            <a:avLst>
              <a:gd name="adj" fmla="val 22222"/>
            </a:avLst>
          </a:prstGeom>
          <a:solidFill>
            <a:srgbClr val="FFFFFF"/>
          </a:solidFill>
          <a:ln w="9525">
            <a:solidFill>
              <a:srgbClr val="00704A"/>
            </a:solidFill>
            <a:prstDash val="solid"/>
          </a:ln>
        </p:spPr>
      </p:sp>
      <p:sp>
        <p:nvSpPr>
          <p:cNvPr id="31" name="Text 27"/>
          <p:cNvSpPr txBox="1"/>
          <p:nvPr/>
        </p:nvSpPr>
        <p:spPr>
          <a:xfrm>
            <a:off x="1901952" y="3557016"/>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Fleet GPS / telematics</a:t>
            </a:r>
            <a:endParaRPr lang="en-US" sz="900" dirty="0"/>
          </a:p>
        </p:txBody>
      </p:sp>
      <p:sp>
        <p:nvSpPr>
          <p:cNvPr id="32" name="Shape 28"/>
          <p:cNvSpPr/>
          <p:nvPr/>
        </p:nvSpPr>
        <p:spPr>
          <a:xfrm>
            <a:off x="3337560" y="1097280"/>
            <a:ext cx="2697480" cy="2898648"/>
          </a:xfrm>
          <a:prstGeom prst="roundRect">
            <a:avLst>
              <a:gd name="adj" fmla="val 2712"/>
            </a:avLst>
          </a:prstGeom>
          <a:solidFill>
            <a:srgbClr val="F4F7F5"/>
          </a:solidFill>
          <a:ln w="9525">
            <a:solidFill>
              <a:srgbClr val="D5DED9"/>
            </a:solidFill>
            <a:prstDash val="solid"/>
          </a:ln>
        </p:spPr>
      </p:sp>
      <p:sp>
        <p:nvSpPr>
          <p:cNvPr id="33" name="Text 29"/>
          <p:cNvSpPr txBox="1"/>
          <p:nvPr/>
        </p:nvSpPr>
        <p:spPr>
          <a:xfrm>
            <a:off x="3474720" y="1207008"/>
            <a:ext cx="2468880" cy="274320"/>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WHAT NSOs CAN MEASURE</a:t>
            </a:r>
            <a:endParaRPr lang="en-US" sz="1000" dirty="0"/>
          </a:p>
        </p:txBody>
      </p:sp>
      <p:pic>
        <p:nvPicPr>
          <p:cNvPr id="34" name="Image 1" descr="preencoded.png">    </p:cNvPr>
          <p:cNvPicPr>
            <a:picLocks noChangeAspect="1"/>
          </p:cNvPicPr>
          <p:nvPr/>
        </p:nvPicPr>
        <p:blipFill>
          <a:blip r:embed="rId2"/>
          <a:stretch>
            <a:fillRect/>
          </a:stretch>
        </p:blipFill>
        <p:spPr>
          <a:xfrm>
            <a:off x="3474720" y="1664208"/>
            <a:ext cx="182880" cy="182880"/>
          </a:xfrm>
          <a:prstGeom prst="rect">
            <a:avLst/>
          </a:prstGeom>
        </p:spPr>
      </p:pic>
      <p:sp>
        <p:nvSpPr>
          <p:cNvPr id="35" name="Text 30"/>
          <p:cNvSpPr txBox="1"/>
          <p:nvPr/>
        </p:nvSpPr>
        <p:spPr>
          <a:xfrm>
            <a:off x="3749040" y="16276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Electricity and water consumption</a:t>
            </a:r>
            <a:endParaRPr lang="en-US" sz="1050" dirty="0"/>
          </a:p>
        </p:txBody>
      </p:sp>
      <p:pic>
        <p:nvPicPr>
          <p:cNvPr id="36" name="Image 2" descr="preencoded.png">    </p:cNvPr>
          <p:cNvPicPr>
            <a:picLocks noChangeAspect="1"/>
          </p:cNvPicPr>
          <p:nvPr/>
        </p:nvPicPr>
        <p:blipFill>
          <a:blip r:embed="rId3"/>
          <a:stretch>
            <a:fillRect/>
          </a:stretch>
        </p:blipFill>
        <p:spPr>
          <a:xfrm>
            <a:off x="3474720" y="2121408"/>
            <a:ext cx="182880" cy="182880"/>
          </a:xfrm>
          <a:prstGeom prst="rect">
            <a:avLst/>
          </a:prstGeom>
        </p:spPr>
      </p:pic>
      <p:sp>
        <p:nvSpPr>
          <p:cNvPr id="37" name="Text 31"/>
          <p:cNvSpPr txBox="1"/>
          <p:nvPr/>
        </p:nvSpPr>
        <p:spPr>
          <a:xfrm>
            <a:off x="3749040" y="20848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Port calls and maritime trade flows</a:t>
            </a:r>
            <a:endParaRPr lang="en-US" sz="1050" dirty="0"/>
          </a:p>
        </p:txBody>
      </p:sp>
      <p:pic>
        <p:nvPicPr>
          <p:cNvPr id="38" name="Image 3" descr="preencoded.png">    </p:cNvPr>
          <p:cNvPicPr>
            <a:picLocks noChangeAspect="1"/>
          </p:cNvPicPr>
          <p:nvPr/>
        </p:nvPicPr>
        <p:blipFill>
          <a:blip r:embed="rId4"/>
          <a:stretch>
            <a:fillRect/>
          </a:stretch>
        </p:blipFill>
        <p:spPr>
          <a:xfrm>
            <a:off x="3474720" y="2578608"/>
            <a:ext cx="182880" cy="182880"/>
          </a:xfrm>
          <a:prstGeom prst="rect">
            <a:avLst/>
          </a:prstGeom>
        </p:spPr>
      </p:pic>
      <p:sp>
        <p:nvSpPr>
          <p:cNvPr id="39" name="Text 32"/>
          <p:cNvSpPr txBox="1"/>
          <p:nvPr/>
        </p:nvSpPr>
        <p:spPr>
          <a:xfrm>
            <a:off x="3749040" y="25420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Traffic volumes and congestion</a:t>
            </a:r>
            <a:endParaRPr lang="en-US" sz="1050" dirty="0"/>
          </a:p>
        </p:txBody>
      </p:sp>
      <p:pic>
        <p:nvPicPr>
          <p:cNvPr id="40" name="Image 4" descr="preencoded.png">    </p:cNvPr>
          <p:cNvPicPr>
            <a:picLocks noChangeAspect="1"/>
          </p:cNvPicPr>
          <p:nvPr/>
        </p:nvPicPr>
        <p:blipFill>
          <a:blip r:embed="rId5"/>
          <a:stretch>
            <a:fillRect/>
          </a:stretch>
        </p:blipFill>
        <p:spPr>
          <a:xfrm>
            <a:off x="3474720" y="3035808"/>
            <a:ext cx="182880" cy="182880"/>
          </a:xfrm>
          <a:prstGeom prst="rect">
            <a:avLst/>
          </a:prstGeom>
        </p:spPr>
      </p:pic>
      <p:sp>
        <p:nvSpPr>
          <p:cNvPr id="41" name="Text 33"/>
          <p:cNvSpPr txBox="1"/>
          <p:nvPr/>
        </p:nvSpPr>
        <p:spPr>
          <a:xfrm>
            <a:off x="3749040" y="29992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Air and water quality exposure</a:t>
            </a:r>
            <a:endParaRPr lang="en-US" sz="1050" dirty="0"/>
          </a:p>
        </p:txBody>
      </p:sp>
      <p:pic>
        <p:nvPicPr>
          <p:cNvPr id="42" name="Image 5" descr="preencoded.png">    </p:cNvPr>
          <p:cNvPicPr>
            <a:picLocks noChangeAspect="1"/>
          </p:cNvPicPr>
          <p:nvPr/>
        </p:nvPicPr>
        <p:blipFill>
          <a:blip r:embed="rId6"/>
          <a:stretch>
            <a:fillRect/>
          </a:stretch>
        </p:blipFill>
        <p:spPr>
          <a:xfrm>
            <a:off x="3474720" y="3493008"/>
            <a:ext cx="182880" cy="182880"/>
          </a:xfrm>
          <a:prstGeom prst="rect">
            <a:avLst/>
          </a:prstGeom>
        </p:spPr>
      </p:pic>
      <p:sp>
        <p:nvSpPr>
          <p:cNvPr id="43" name="Text 34"/>
          <p:cNvSpPr txBox="1"/>
          <p:nvPr/>
        </p:nvSpPr>
        <p:spPr>
          <a:xfrm>
            <a:off x="3749040" y="34564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High-frequency activity indicators</a:t>
            </a:r>
            <a:endParaRPr lang="en-US" sz="1050" dirty="0"/>
          </a:p>
        </p:txBody>
      </p:sp>
      <p:sp>
        <p:nvSpPr>
          <p:cNvPr id="44" name="Shape 35"/>
          <p:cNvSpPr/>
          <p:nvPr/>
        </p:nvSpPr>
        <p:spPr>
          <a:xfrm>
            <a:off x="6172200" y="1097280"/>
            <a:ext cx="2514600" cy="1783080"/>
          </a:xfrm>
          <a:prstGeom prst="roundRect">
            <a:avLst>
              <a:gd name="adj" fmla="val 4103"/>
            </a:avLst>
          </a:prstGeom>
          <a:solidFill>
            <a:srgbClr val="E8F5EF"/>
          </a:solidFill>
          <a:ln w="15875">
            <a:solidFill>
              <a:srgbClr val="00A86A"/>
            </a:solidFill>
            <a:prstDash val="solid"/>
          </a:ln>
        </p:spPr>
      </p:sp>
      <p:sp>
        <p:nvSpPr>
          <p:cNvPr id="45" name="Text 36"/>
          <p:cNvSpPr txBox="1"/>
          <p:nvPr/>
        </p:nvSpPr>
        <p:spPr>
          <a:xfrm>
            <a:off x="6309360" y="1188720"/>
            <a:ext cx="2286000" cy="22860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DOCUMENTED EXAMPLE</a:t>
            </a:r>
            <a:endParaRPr lang="en-US" sz="1000" dirty="0"/>
          </a:p>
        </p:txBody>
      </p:sp>
      <p:sp>
        <p:nvSpPr>
          <p:cNvPr id="46" name="Text 37"/>
          <p:cNvSpPr txBox="1"/>
          <p:nvPr/>
        </p:nvSpPr>
        <p:spPr>
          <a:xfrm>
            <a:off x="6309360" y="1444752"/>
            <a:ext cx="2258568" cy="13716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AIS signals from ships are used internationally to nowcast port activity and trade volumes weeks before customs statistics are compiled — relevant for coastal economies.</a:t>
            </a:r>
            <a:endParaRPr lang="en-US" sz="1050" dirty="0"/>
          </a:p>
        </p:txBody>
      </p:sp>
      <p:sp>
        <p:nvSpPr>
          <p:cNvPr id="47" name="Shape 38"/>
          <p:cNvSpPr/>
          <p:nvPr/>
        </p:nvSpPr>
        <p:spPr>
          <a:xfrm>
            <a:off x="6172200" y="2990088"/>
            <a:ext cx="2514600" cy="1005840"/>
          </a:xfrm>
          <a:prstGeom prst="roundRect">
            <a:avLst>
              <a:gd name="adj" fmla="val 5455"/>
            </a:avLst>
          </a:prstGeom>
          <a:solidFill>
            <a:srgbClr val="D49A00">
              <a:alpha val="13000"/>
            </a:srgbClr>
          </a:solidFill>
          <a:ln w="12700">
            <a:solidFill>
              <a:srgbClr val="D49A00"/>
            </a:solidFill>
            <a:prstDash val="solid"/>
          </a:ln>
        </p:spPr>
      </p:sp>
      <p:pic>
        <p:nvPicPr>
          <p:cNvPr id="48" name="Image 6" descr="preencoded.png">    </p:cNvPr>
          <p:cNvPicPr>
            <a:picLocks noChangeAspect="1"/>
          </p:cNvPicPr>
          <p:nvPr/>
        </p:nvPicPr>
        <p:blipFill>
          <a:blip r:embed="rId7"/>
          <a:stretch>
            <a:fillRect/>
          </a:stretch>
        </p:blipFill>
        <p:spPr>
          <a:xfrm>
            <a:off x="6291072" y="3072384"/>
            <a:ext cx="182880" cy="182880"/>
          </a:xfrm>
          <a:prstGeom prst="rect">
            <a:avLst/>
          </a:prstGeom>
        </p:spPr>
      </p:pic>
      <p:sp>
        <p:nvSpPr>
          <p:cNvPr id="49" name="Text 39"/>
          <p:cNvSpPr txBox="1"/>
          <p:nvPr/>
        </p:nvSpPr>
        <p:spPr>
          <a:xfrm>
            <a:off x="6537960" y="3063240"/>
            <a:ext cx="1828800" cy="201168"/>
          </a:xfrm>
          <a:prstGeom prst="rect">
            <a:avLst/>
          </a:prstGeom>
          <a:noFill/>
          <a:ln/>
        </p:spPr>
        <p:txBody>
          <a:bodyPr wrap="square" lIns="0" tIns="0" rIns="0" bIns="0" rtlCol="0" anchor="t"/>
          <a:lstStyle/>
          <a:p>
            <a:pPr indent="0" marL="0">
              <a:buNone/>
            </a:pPr>
            <a:r>
              <a:rPr lang="en-US" sz="1000" b="1" spc="200" kern="0" dirty="0">
                <a:solidFill>
                  <a:srgbClr val="D49A00"/>
                </a:solidFill>
                <a:latin typeface="Calibri" pitchFamily="34" charset="0"/>
                <a:ea typeface="Calibri" pitchFamily="34" charset="-122"/>
                <a:cs typeface="Calibri" pitchFamily="34" charset="-120"/>
              </a:rPr>
              <a:t>WATCH OUT</a:t>
            </a:r>
            <a:endParaRPr lang="en-US" sz="1000" dirty="0"/>
          </a:p>
        </p:txBody>
      </p:sp>
      <p:sp>
        <p:nvSpPr>
          <p:cNvPr id="50" name="Text 40"/>
          <p:cNvSpPr txBox="1"/>
          <p:nvPr/>
        </p:nvSpPr>
        <p:spPr>
          <a:xfrm>
            <a:off x="6291072" y="3291840"/>
            <a:ext cx="2286000" cy="676656"/>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Sensors drift, fail and move. A break in the series is often a hardware event, not an economic one: device metadata is part of the statistics.</a:t>
            </a:r>
            <a:endParaRPr lang="en-US" sz="950" dirty="0"/>
          </a:p>
        </p:txBody>
      </p:sp>
      <p:sp>
        <p:nvSpPr>
          <p:cNvPr id="51" name="Shape 41"/>
          <p:cNvSpPr/>
          <p:nvPr/>
        </p:nvSpPr>
        <p:spPr>
          <a:xfrm>
            <a:off x="457200" y="4114800"/>
            <a:ext cx="2615184" cy="438912"/>
          </a:xfrm>
          <a:prstGeom prst="roundRect">
            <a:avLst>
              <a:gd name="adj" fmla="val 12500"/>
            </a:avLst>
          </a:prstGeom>
          <a:solidFill>
            <a:srgbClr val="FFFFFF"/>
          </a:solidFill>
          <a:ln w="9525">
            <a:solidFill>
              <a:srgbClr val="D5DED9"/>
            </a:solidFill>
            <a:prstDash val="solid"/>
          </a:ln>
        </p:spPr>
      </p:sp>
      <p:sp>
        <p:nvSpPr>
          <p:cNvPr id="52" name="Text 42"/>
          <p:cNvSpPr txBox="1"/>
          <p:nvPr/>
        </p:nvSpPr>
        <p:spPr>
          <a:xfrm>
            <a:off x="566928"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Minutes</a:t>
            </a:r>
            <a:endParaRPr lang="en-US" sz="1400" dirty="0"/>
          </a:p>
        </p:txBody>
      </p:sp>
      <p:sp>
        <p:nvSpPr>
          <p:cNvPr id="53" name="Text 43"/>
          <p:cNvSpPr txBox="1"/>
          <p:nvPr/>
        </p:nvSpPr>
        <p:spPr>
          <a:xfrm>
            <a:off x="1719072"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typical reporting interval</a:t>
            </a:r>
            <a:endParaRPr lang="en-US" sz="950" dirty="0"/>
          </a:p>
        </p:txBody>
      </p:sp>
      <p:sp>
        <p:nvSpPr>
          <p:cNvPr id="54" name="Shape 44"/>
          <p:cNvSpPr/>
          <p:nvPr/>
        </p:nvSpPr>
        <p:spPr>
          <a:xfrm>
            <a:off x="3264408" y="4114800"/>
            <a:ext cx="2615184" cy="438912"/>
          </a:xfrm>
          <a:prstGeom prst="roundRect">
            <a:avLst>
              <a:gd name="adj" fmla="val 12500"/>
            </a:avLst>
          </a:prstGeom>
          <a:solidFill>
            <a:srgbClr val="FFFFFF"/>
          </a:solidFill>
          <a:ln w="9525">
            <a:solidFill>
              <a:srgbClr val="D5DED9"/>
            </a:solidFill>
            <a:prstDash val="solid"/>
          </a:ln>
        </p:spPr>
      </p:sp>
      <p:sp>
        <p:nvSpPr>
          <p:cNvPr id="55" name="Text 45"/>
          <p:cNvSpPr txBox="1"/>
          <p:nvPr/>
        </p:nvSpPr>
        <p:spPr>
          <a:xfrm>
            <a:off x="3374136"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Device logs</a:t>
            </a:r>
            <a:endParaRPr lang="en-US" sz="1400" dirty="0"/>
          </a:p>
        </p:txBody>
      </p:sp>
      <p:sp>
        <p:nvSpPr>
          <p:cNvPr id="56" name="Text 46"/>
          <p:cNvSpPr txBox="1"/>
          <p:nvPr/>
        </p:nvSpPr>
        <p:spPr>
          <a:xfrm>
            <a:off x="4526280"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needed to explain breaks</a:t>
            </a:r>
            <a:endParaRPr lang="en-US" sz="950" dirty="0"/>
          </a:p>
        </p:txBody>
      </p:sp>
      <p:sp>
        <p:nvSpPr>
          <p:cNvPr id="57" name="Shape 47"/>
          <p:cNvSpPr/>
          <p:nvPr/>
        </p:nvSpPr>
        <p:spPr>
          <a:xfrm>
            <a:off x="6071616" y="4114800"/>
            <a:ext cx="2615184" cy="438912"/>
          </a:xfrm>
          <a:prstGeom prst="roundRect">
            <a:avLst>
              <a:gd name="adj" fmla="val 12500"/>
            </a:avLst>
          </a:prstGeom>
          <a:solidFill>
            <a:srgbClr val="FFFFFF"/>
          </a:solidFill>
          <a:ln w="9525">
            <a:solidFill>
              <a:srgbClr val="D5DED9"/>
            </a:solidFill>
            <a:prstDash val="solid"/>
          </a:ln>
        </p:spPr>
      </p:sp>
      <p:sp>
        <p:nvSpPr>
          <p:cNvPr id="58" name="Text 48"/>
          <p:cNvSpPr txBox="1"/>
          <p:nvPr/>
        </p:nvSpPr>
        <p:spPr>
          <a:xfrm>
            <a:off x="6181344"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Utilities</a:t>
            </a:r>
            <a:endParaRPr lang="en-US" sz="1400" dirty="0"/>
          </a:p>
        </p:txBody>
      </p:sp>
      <p:sp>
        <p:nvSpPr>
          <p:cNvPr id="59" name="Text 49"/>
          <p:cNvSpPr txBox="1"/>
          <p:nvPr/>
        </p:nvSpPr>
        <p:spPr>
          <a:xfrm>
            <a:off x="7333488"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natural first partners</a:t>
            </a:r>
            <a:endParaRPr lang="en-US" sz="950" dirty="0"/>
          </a:p>
        </p:txBody>
      </p:sp>
      <p:sp>
        <p:nvSpPr>
          <p:cNvPr id="60" name="Text 5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UN Global Platform / UN-CEBD work on AIS data; UNECE (2014) quality framework, time-related and validity dimensions.</a:t>
            </a:r>
            <a:endParaRPr lang="en-US" sz="8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TAXONOMY · FAMILY 6 OF 6</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Citizen-generated data</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Shape 14"/>
          <p:cNvSpPr/>
          <p:nvPr/>
        </p:nvSpPr>
        <p:spPr>
          <a:xfrm>
            <a:off x="457200" y="1097280"/>
            <a:ext cx="2743200" cy="1600200"/>
          </a:xfrm>
          <a:prstGeom prst="roundRect">
            <a:avLst>
              <a:gd name="adj" fmla="val 4571"/>
            </a:avLst>
          </a:prstGeom>
          <a:solidFill>
            <a:srgbClr val="F4F7F5"/>
          </a:solidFill>
          <a:ln w="9525">
            <a:solidFill>
              <a:srgbClr val="D5DED9"/>
            </a:solidFill>
            <a:prstDash val="solid"/>
          </a:ln>
        </p:spPr>
      </p:sp>
      <p:sp>
        <p:nvSpPr>
          <p:cNvPr id="18" name="Shape 15"/>
          <p:cNvSpPr/>
          <p:nvPr/>
        </p:nvSpPr>
        <p:spPr>
          <a:xfrm>
            <a:off x="594360" y="1207008"/>
            <a:ext cx="384048" cy="384048"/>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690372" y="1303020"/>
            <a:ext cx="192024" cy="192024"/>
          </a:xfrm>
          <a:prstGeom prst="rect">
            <a:avLst/>
          </a:prstGeom>
        </p:spPr>
      </p:pic>
      <p:sp>
        <p:nvSpPr>
          <p:cNvPr id="20" name="Text 16"/>
          <p:cNvSpPr txBox="1"/>
          <p:nvPr/>
        </p:nvSpPr>
        <p:spPr>
          <a:xfrm>
            <a:off x="1069848" y="1207008"/>
            <a:ext cx="1828800" cy="38404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WHAT IT IS</a:t>
            </a:r>
            <a:endParaRPr lang="en-US" sz="1000" dirty="0"/>
          </a:p>
        </p:txBody>
      </p:sp>
      <p:sp>
        <p:nvSpPr>
          <p:cNvPr id="21" name="Text 17"/>
          <p:cNvSpPr txBox="1"/>
          <p:nvPr/>
        </p:nvSpPr>
        <p:spPr>
          <a:xfrm>
            <a:off x="594360" y="1664208"/>
            <a:ext cx="2468880" cy="98755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Data that people or their organisations deliberately produce to monitor issues that affect them — community surveys, participatory mapping, citizen science, service scorecards.</a:t>
            </a:r>
            <a:endParaRPr lang="en-US" sz="1050" dirty="0"/>
          </a:p>
        </p:txBody>
      </p:sp>
      <p:sp>
        <p:nvSpPr>
          <p:cNvPr id="22" name="Shape 18"/>
          <p:cNvSpPr/>
          <p:nvPr/>
        </p:nvSpPr>
        <p:spPr>
          <a:xfrm>
            <a:off x="457200" y="2807208"/>
            <a:ext cx="2743200" cy="1188720"/>
          </a:xfrm>
          <a:prstGeom prst="roundRect">
            <a:avLst>
              <a:gd name="adj" fmla="val 6154"/>
            </a:avLst>
          </a:prstGeom>
          <a:solidFill>
            <a:srgbClr val="F4F7F5"/>
          </a:solidFill>
          <a:ln w="9525">
            <a:solidFill>
              <a:srgbClr val="D5DED9"/>
            </a:solidFill>
            <a:prstDash val="solid"/>
          </a:ln>
        </p:spPr>
      </p:sp>
      <p:sp>
        <p:nvSpPr>
          <p:cNvPr id="23" name="Text 19"/>
          <p:cNvSpPr txBox="1"/>
          <p:nvPr/>
        </p:nvSpPr>
        <p:spPr>
          <a:xfrm>
            <a:off x="594360" y="2880360"/>
            <a:ext cx="2286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WHERE TO FIND IT</a:t>
            </a:r>
            <a:endParaRPr lang="en-US" sz="1000" dirty="0"/>
          </a:p>
        </p:txBody>
      </p:sp>
      <p:sp>
        <p:nvSpPr>
          <p:cNvPr id="24" name="Shape 20"/>
          <p:cNvSpPr/>
          <p:nvPr/>
        </p:nvSpPr>
        <p:spPr>
          <a:xfrm>
            <a:off x="594360" y="3163824"/>
            <a:ext cx="1207008" cy="329184"/>
          </a:xfrm>
          <a:prstGeom prst="roundRect">
            <a:avLst>
              <a:gd name="adj" fmla="val 22222"/>
            </a:avLst>
          </a:prstGeom>
          <a:solidFill>
            <a:srgbClr val="FFFFFF"/>
          </a:solidFill>
          <a:ln w="9525">
            <a:solidFill>
              <a:srgbClr val="00704A"/>
            </a:solidFill>
            <a:prstDash val="solid"/>
          </a:ln>
        </p:spPr>
      </p:sp>
      <p:sp>
        <p:nvSpPr>
          <p:cNvPr id="25" name="Text 21"/>
          <p:cNvSpPr txBox="1"/>
          <p:nvPr/>
        </p:nvSpPr>
        <p:spPr>
          <a:xfrm>
            <a:off x="630936" y="3163824"/>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Civil-society monitoring</a:t>
            </a:r>
            <a:endParaRPr lang="en-US" sz="900" dirty="0"/>
          </a:p>
        </p:txBody>
      </p:sp>
      <p:sp>
        <p:nvSpPr>
          <p:cNvPr id="26" name="Shape 22"/>
          <p:cNvSpPr/>
          <p:nvPr/>
        </p:nvSpPr>
        <p:spPr>
          <a:xfrm>
            <a:off x="1865376" y="3163824"/>
            <a:ext cx="1207008" cy="329184"/>
          </a:xfrm>
          <a:prstGeom prst="roundRect">
            <a:avLst>
              <a:gd name="adj" fmla="val 22222"/>
            </a:avLst>
          </a:prstGeom>
          <a:solidFill>
            <a:srgbClr val="FFFFFF"/>
          </a:solidFill>
          <a:ln w="9525">
            <a:solidFill>
              <a:srgbClr val="00704A"/>
            </a:solidFill>
            <a:prstDash val="solid"/>
          </a:ln>
        </p:spPr>
      </p:sp>
      <p:sp>
        <p:nvSpPr>
          <p:cNvPr id="27" name="Text 23"/>
          <p:cNvSpPr txBox="1"/>
          <p:nvPr/>
        </p:nvSpPr>
        <p:spPr>
          <a:xfrm>
            <a:off x="1901952" y="3163824"/>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Citizen science projects</a:t>
            </a:r>
            <a:endParaRPr lang="en-US" sz="900" dirty="0"/>
          </a:p>
        </p:txBody>
      </p:sp>
      <p:sp>
        <p:nvSpPr>
          <p:cNvPr id="28" name="Shape 24"/>
          <p:cNvSpPr/>
          <p:nvPr/>
        </p:nvSpPr>
        <p:spPr>
          <a:xfrm>
            <a:off x="594360" y="3557016"/>
            <a:ext cx="1207008" cy="329184"/>
          </a:xfrm>
          <a:prstGeom prst="roundRect">
            <a:avLst>
              <a:gd name="adj" fmla="val 22222"/>
            </a:avLst>
          </a:prstGeom>
          <a:solidFill>
            <a:srgbClr val="FFFFFF"/>
          </a:solidFill>
          <a:ln w="9525">
            <a:solidFill>
              <a:srgbClr val="00704A"/>
            </a:solidFill>
            <a:prstDash val="solid"/>
          </a:ln>
        </p:spPr>
      </p:sp>
      <p:sp>
        <p:nvSpPr>
          <p:cNvPr id="29" name="Text 25"/>
          <p:cNvSpPr txBox="1"/>
          <p:nvPr/>
        </p:nvSpPr>
        <p:spPr>
          <a:xfrm>
            <a:off x="630936" y="3557016"/>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Participatory mapping</a:t>
            </a:r>
            <a:endParaRPr lang="en-US" sz="900" dirty="0"/>
          </a:p>
        </p:txBody>
      </p:sp>
      <p:sp>
        <p:nvSpPr>
          <p:cNvPr id="30" name="Shape 26"/>
          <p:cNvSpPr/>
          <p:nvPr/>
        </p:nvSpPr>
        <p:spPr>
          <a:xfrm>
            <a:off x="1865376" y="3557016"/>
            <a:ext cx="1207008" cy="329184"/>
          </a:xfrm>
          <a:prstGeom prst="roundRect">
            <a:avLst>
              <a:gd name="adj" fmla="val 22222"/>
            </a:avLst>
          </a:prstGeom>
          <a:solidFill>
            <a:srgbClr val="FFFFFF"/>
          </a:solidFill>
          <a:ln w="9525">
            <a:solidFill>
              <a:srgbClr val="00704A"/>
            </a:solidFill>
            <a:prstDash val="solid"/>
          </a:ln>
        </p:spPr>
      </p:sp>
      <p:sp>
        <p:nvSpPr>
          <p:cNvPr id="31" name="Text 27"/>
          <p:cNvSpPr txBox="1"/>
          <p:nvPr/>
        </p:nvSpPr>
        <p:spPr>
          <a:xfrm>
            <a:off x="1901952" y="3557016"/>
            <a:ext cx="1133856" cy="329184"/>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Community scorecards</a:t>
            </a:r>
            <a:endParaRPr lang="en-US" sz="900" dirty="0"/>
          </a:p>
        </p:txBody>
      </p:sp>
      <p:sp>
        <p:nvSpPr>
          <p:cNvPr id="32" name="Shape 28"/>
          <p:cNvSpPr/>
          <p:nvPr/>
        </p:nvSpPr>
        <p:spPr>
          <a:xfrm>
            <a:off x="3337560" y="1097280"/>
            <a:ext cx="2697480" cy="2898648"/>
          </a:xfrm>
          <a:prstGeom prst="roundRect">
            <a:avLst>
              <a:gd name="adj" fmla="val 2712"/>
            </a:avLst>
          </a:prstGeom>
          <a:solidFill>
            <a:srgbClr val="F4F7F5"/>
          </a:solidFill>
          <a:ln w="9525">
            <a:solidFill>
              <a:srgbClr val="D5DED9"/>
            </a:solidFill>
            <a:prstDash val="solid"/>
          </a:ln>
        </p:spPr>
      </p:sp>
      <p:sp>
        <p:nvSpPr>
          <p:cNvPr id="33" name="Text 29"/>
          <p:cNvSpPr txBox="1"/>
          <p:nvPr/>
        </p:nvSpPr>
        <p:spPr>
          <a:xfrm>
            <a:off x="3474720" y="1207008"/>
            <a:ext cx="2468880" cy="274320"/>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WHAT NSOs CAN MEASURE</a:t>
            </a:r>
            <a:endParaRPr lang="en-US" sz="1000" dirty="0"/>
          </a:p>
        </p:txBody>
      </p:sp>
      <p:pic>
        <p:nvPicPr>
          <p:cNvPr id="34" name="Image 1" descr="preencoded.png">    </p:cNvPr>
          <p:cNvPicPr>
            <a:picLocks noChangeAspect="1"/>
          </p:cNvPicPr>
          <p:nvPr/>
        </p:nvPicPr>
        <p:blipFill>
          <a:blip r:embed="rId2"/>
          <a:stretch>
            <a:fillRect/>
          </a:stretch>
        </p:blipFill>
        <p:spPr>
          <a:xfrm>
            <a:off x="3474720" y="1664208"/>
            <a:ext cx="182880" cy="182880"/>
          </a:xfrm>
          <a:prstGeom prst="rect">
            <a:avLst/>
          </a:prstGeom>
        </p:spPr>
      </p:pic>
      <p:sp>
        <p:nvSpPr>
          <p:cNvPr id="35" name="Text 30"/>
          <p:cNvSpPr txBox="1"/>
          <p:nvPr/>
        </p:nvSpPr>
        <p:spPr>
          <a:xfrm>
            <a:off x="3749040" y="16276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Service delivery as experienced by users</a:t>
            </a:r>
            <a:endParaRPr lang="en-US" sz="1050" dirty="0"/>
          </a:p>
        </p:txBody>
      </p:sp>
      <p:pic>
        <p:nvPicPr>
          <p:cNvPr id="36" name="Image 2" descr="preencoded.png">    </p:cNvPr>
          <p:cNvPicPr>
            <a:picLocks noChangeAspect="1"/>
          </p:cNvPicPr>
          <p:nvPr/>
        </p:nvPicPr>
        <p:blipFill>
          <a:blip r:embed="rId3"/>
          <a:stretch>
            <a:fillRect/>
          </a:stretch>
        </p:blipFill>
        <p:spPr>
          <a:xfrm>
            <a:off x="3474720" y="2121408"/>
            <a:ext cx="182880" cy="182880"/>
          </a:xfrm>
          <a:prstGeom prst="rect">
            <a:avLst/>
          </a:prstGeom>
        </p:spPr>
      </p:pic>
      <p:sp>
        <p:nvSpPr>
          <p:cNvPr id="37" name="Text 31"/>
          <p:cNvSpPr txBox="1"/>
          <p:nvPr/>
        </p:nvSpPr>
        <p:spPr>
          <a:xfrm>
            <a:off x="3749040" y="20848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Local environmental conditions</a:t>
            </a:r>
            <a:endParaRPr lang="en-US" sz="1050" dirty="0"/>
          </a:p>
        </p:txBody>
      </p:sp>
      <p:pic>
        <p:nvPicPr>
          <p:cNvPr id="38" name="Image 3" descr="preencoded.png">    </p:cNvPr>
          <p:cNvPicPr>
            <a:picLocks noChangeAspect="1"/>
          </p:cNvPicPr>
          <p:nvPr/>
        </p:nvPicPr>
        <p:blipFill>
          <a:blip r:embed="rId4"/>
          <a:stretch>
            <a:fillRect/>
          </a:stretch>
        </p:blipFill>
        <p:spPr>
          <a:xfrm>
            <a:off x="3474720" y="2578608"/>
            <a:ext cx="182880" cy="182880"/>
          </a:xfrm>
          <a:prstGeom prst="rect">
            <a:avLst/>
          </a:prstGeom>
        </p:spPr>
      </p:pic>
      <p:sp>
        <p:nvSpPr>
          <p:cNvPr id="39" name="Text 32"/>
          <p:cNvSpPr txBox="1"/>
          <p:nvPr/>
        </p:nvSpPr>
        <p:spPr>
          <a:xfrm>
            <a:off x="3749040" y="25420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Groups absent from registers</a:t>
            </a:r>
            <a:endParaRPr lang="en-US" sz="1050" dirty="0"/>
          </a:p>
        </p:txBody>
      </p:sp>
      <p:pic>
        <p:nvPicPr>
          <p:cNvPr id="40" name="Image 4" descr="preencoded.png">    </p:cNvPr>
          <p:cNvPicPr>
            <a:picLocks noChangeAspect="1"/>
          </p:cNvPicPr>
          <p:nvPr/>
        </p:nvPicPr>
        <p:blipFill>
          <a:blip r:embed="rId5"/>
          <a:stretch>
            <a:fillRect/>
          </a:stretch>
        </p:blipFill>
        <p:spPr>
          <a:xfrm>
            <a:off x="3474720" y="3035808"/>
            <a:ext cx="182880" cy="182880"/>
          </a:xfrm>
          <a:prstGeom prst="rect">
            <a:avLst/>
          </a:prstGeom>
        </p:spPr>
      </p:pic>
      <p:sp>
        <p:nvSpPr>
          <p:cNvPr id="41" name="Text 33"/>
          <p:cNvSpPr txBox="1"/>
          <p:nvPr/>
        </p:nvSpPr>
        <p:spPr>
          <a:xfrm>
            <a:off x="3749040" y="29992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Gender-based and disability-related gaps</a:t>
            </a:r>
            <a:endParaRPr lang="en-US" sz="1050" dirty="0"/>
          </a:p>
        </p:txBody>
      </p:sp>
      <p:pic>
        <p:nvPicPr>
          <p:cNvPr id="42" name="Image 5" descr="preencoded.png">    </p:cNvPr>
          <p:cNvPicPr>
            <a:picLocks noChangeAspect="1"/>
          </p:cNvPicPr>
          <p:nvPr/>
        </p:nvPicPr>
        <p:blipFill>
          <a:blip r:embed="rId6"/>
          <a:stretch>
            <a:fillRect/>
          </a:stretch>
        </p:blipFill>
        <p:spPr>
          <a:xfrm>
            <a:off x="3474720" y="3493008"/>
            <a:ext cx="182880" cy="182880"/>
          </a:xfrm>
          <a:prstGeom prst="rect">
            <a:avLst/>
          </a:prstGeom>
        </p:spPr>
      </p:pic>
      <p:sp>
        <p:nvSpPr>
          <p:cNvPr id="43" name="Text 34"/>
          <p:cNvSpPr txBox="1"/>
          <p:nvPr/>
        </p:nvSpPr>
        <p:spPr>
          <a:xfrm>
            <a:off x="3749040" y="3456432"/>
            <a:ext cx="219456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SDG indicators with no other source</a:t>
            </a:r>
            <a:endParaRPr lang="en-US" sz="1050" dirty="0"/>
          </a:p>
        </p:txBody>
      </p:sp>
      <p:sp>
        <p:nvSpPr>
          <p:cNvPr id="44" name="Shape 35"/>
          <p:cNvSpPr/>
          <p:nvPr/>
        </p:nvSpPr>
        <p:spPr>
          <a:xfrm>
            <a:off x="6172200" y="1097280"/>
            <a:ext cx="2514600" cy="1783080"/>
          </a:xfrm>
          <a:prstGeom prst="roundRect">
            <a:avLst>
              <a:gd name="adj" fmla="val 4103"/>
            </a:avLst>
          </a:prstGeom>
          <a:solidFill>
            <a:srgbClr val="E8F5EF"/>
          </a:solidFill>
          <a:ln w="15875">
            <a:solidFill>
              <a:srgbClr val="00A86A"/>
            </a:solidFill>
            <a:prstDash val="solid"/>
          </a:ln>
        </p:spPr>
      </p:sp>
      <p:sp>
        <p:nvSpPr>
          <p:cNvPr id="45" name="Text 36"/>
          <p:cNvSpPr txBox="1"/>
          <p:nvPr/>
        </p:nvSpPr>
        <p:spPr>
          <a:xfrm>
            <a:off x="6309360" y="1188720"/>
            <a:ext cx="2286000" cy="22860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DOCUMENTED EXAMPLE</a:t>
            </a:r>
            <a:endParaRPr lang="en-US" sz="1000" dirty="0"/>
          </a:p>
        </p:txBody>
      </p:sp>
      <p:sp>
        <p:nvSpPr>
          <p:cNvPr id="46" name="Text 37"/>
          <p:cNvSpPr txBox="1"/>
          <p:nvPr/>
        </p:nvSpPr>
        <p:spPr>
          <a:xfrm>
            <a:off x="6309360" y="1444752"/>
            <a:ext cx="2258568" cy="13716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In Ghana, citizen-science observations on marine litter have been used to inform environmental policy and SDG reporting — an example cited around the Copenhagen Framework.</a:t>
            </a:r>
            <a:endParaRPr lang="en-US" sz="1050" dirty="0"/>
          </a:p>
        </p:txBody>
      </p:sp>
      <p:sp>
        <p:nvSpPr>
          <p:cNvPr id="47" name="Shape 38"/>
          <p:cNvSpPr/>
          <p:nvPr/>
        </p:nvSpPr>
        <p:spPr>
          <a:xfrm>
            <a:off x="6172200" y="2990088"/>
            <a:ext cx="2514600" cy="1005840"/>
          </a:xfrm>
          <a:prstGeom prst="roundRect">
            <a:avLst>
              <a:gd name="adj" fmla="val 5455"/>
            </a:avLst>
          </a:prstGeom>
          <a:solidFill>
            <a:srgbClr val="D49A00">
              <a:alpha val="13000"/>
            </a:srgbClr>
          </a:solidFill>
          <a:ln w="12700">
            <a:solidFill>
              <a:srgbClr val="D49A00"/>
            </a:solidFill>
            <a:prstDash val="solid"/>
          </a:ln>
        </p:spPr>
      </p:sp>
      <p:pic>
        <p:nvPicPr>
          <p:cNvPr id="48" name="Image 6" descr="preencoded.png">    </p:cNvPr>
          <p:cNvPicPr>
            <a:picLocks noChangeAspect="1"/>
          </p:cNvPicPr>
          <p:nvPr/>
        </p:nvPicPr>
        <p:blipFill>
          <a:blip r:embed="rId7"/>
          <a:stretch>
            <a:fillRect/>
          </a:stretch>
        </p:blipFill>
        <p:spPr>
          <a:xfrm>
            <a:off x="6291072" y="3072384"/>
            <a:ext cx="182880" cy="182880"/>
          </a:xfrm>
          <a:prstGeom prst="rect">
            <a:avLst/>
          </a:prstGeom>
        </p:spPr>
      </p:pic>
      <p:sp>
        <p:nvSpPr>
          <p:cNvPr id="49" name="Text 39"/>
          <p:cNvSpPr txBox="1"/>
          <p:nvPr/>
        </p:nvSpPr>
        <p:spPr>
          <a:xfrm>
            <a:off x="6537960" y="3063240"/>
            <a:ext cx="1828800" cy="201168"/>
          </a:xfrm>
          <a:prstGeom prst="rect">
            <a:avLst/>
          </a:prstGeom>
          <a:noFill/>
          <a:ln/>
        </p:spPr>
        <p:txBody>
          <a:bodyPr wrap="square" lIns="0" tIns="0" rIns="0" bIns="0" rtlCol="0" anchor="t"/>
          <a:lstStyle/>
          <a:p>
            <a:pPr indent="0" marL="0">
              <a:buNone/>
            </a:pPr>
            <a:r>
              <a:rPr lang="en-US" sz="1000" b="1" spc="200" kern="0" dirty="0">
                <a:solidFill>
                  <a:srgbClr val="D49A00"/>
                </a:solidFill>
                <a:latin typeface="Calibri" pitchFamily="34" charset="0"/>
                <a:ea typeface="Calibri" pitchFamily="34" charset="-122"/>
                <a:cs typeface="Calibri" pitchFamily="34" charset="-120"/>
              </a:rPr>
              <a:t>WATCH OUT</a:t>
            </a:r>
            <a:endParaRPr lang="en-US" sz="1000" dirty="0"/>
          </a:p>
        </p:txBody>
      </p:sp>
      <p:sp>
        <p:nvSpPr>
          <p:cNvPr id="50" name="Text 40"/>
          <p:cNvSpPr txBox="1"/>
          <p:nvPr/>
        </p:nvSpPr>
        <p:spPr>
          <a:xfrm>
            <a:off x="6291072" y="3291840"/>
            <a:ext cx="2286000" cy="676656"/>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Powerful for voice and local detail, but rarely representative. Protocols, training and metadata determine whether it can enter official statistics.</a:t>
            </a:r>
            <a:endParaRPr lang="en-US" sz="950" dirty="0"/>
          </a:p>
        </p:txBody>
      </p:sp>
      <p:sp>
        <p:nvSpPr>
          <p:cNvPr id="51" name="Shape 41"/>
          <p:cNvSpPr/>
          <p:nvPr/>
        </p:nvSpPr>
        <p:spPr>
          <a:xfrm>
            <a:off x="457200" y="4114800"/>
            <a:ext cx="2615184" cy="438912"/>
          </a:xfrm>
          <a:prstGeom prst="roundRect">
            <a:avLst>
              <a:gd name="adj" fmla="val 12500"/>
            </a:avLst>
          </a:prstGeom>
          <a:solidFill>
            <a:srgbClr val="FFFFFF"/>
          </a:solidFill>
          <a:ln w="9525">
            <a:solidFill>
              <a:srgbClr val="D5DED9"/>
            </a:solidFill>
            <a:prstDash val="solid"/>
          </a:ln>
        </p:spPr>
      </p:sp>
      <p:sp>
        <p:nvSpPr>
          <p:cNvPr id="52" name="Text 42"/>
          <p:cNvSpPr txBox="1"/>
          <p:nvPr/>
        </p:nvSpPr>
        <p:spPr>
          <a:xfrm>
            <a:off x="566928"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2024</a:t>
            </a:r>
            <a:endParaRPr lang="en-US" sz="1400" dirty="0"/>
          </a:p>
        </p:txBody>
      </p:sp>
      <p:sp>
        <p:nvSpPr>
          <p:cNvPr id="53" name="Text 43"/>
          <p:cNvSpPr txBox="1"/>
          <p:nvPr/>
        </p:nvSpPr>
        <p:spPr>
          <a:xfrm>
            <a:off x="1719072"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Copenhagen Framework welcomed (UNSC 55)</a:t>
            </a:r>
            <a:endParaRPr lang="en-US" sz="950" dirty="0"/>
          </a:p>
        </p:txBody>
      </p:sp>
      <p:sp>
        <p:nvSpPr>
          <p:cNvPr id="54" name="Shape 44"/>
          <p:cNvSpPr/>
          <p:nvPr/>
        </p:nvSpPr>
        <p:spPr>
          <a:xfrm>
            <a:off x="3264408" y="4114800"/>
            <a:ext cx="2615184" cy="438912"/>
          </a:xfrm>
          <a:prstGeom prst="roundRect">
            <a:avLst>
              <a:gd name="adj" fmla="val 12500"/>
            </a:avLst>
          </a:prstGeom>
          <a:solidFill>
            <a:srgbClr val="FFFFFF"/>
          </a:solidFill>
          <a:ln w="9525">
            <a:solidFill>
              <a:srgbClr val="D5DED9"/>
            </a:solidFill>
            <a:prstDash val="solid"/>
          </a:ln>
        </p:spPr>
      </p:sp>
      <p:sp>
        <p:nvSpPr>
          <p:cNvPr id="55" name="Text 45"/>
          <p:cNvSpPr txBox="1"/>
          <p:nvPr/>
        </p:nvSpPr>
        <p:spPr>
          <a:xfrm>
            <a:off x="3374136"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2025</a:t>
            </a:r>
            <a:endParaRPr lang="en-US" sz="1400" dirty="0"/>
          </a:p>
        </p:txBody>
      </p:sp>
      <p:sp>
        <p:nvSpPr>
          <p:cNvPr id="56" name="Text 46"/>
          <p:cNvSpPr txBox="1"/>
          <p:nvPr/>
        </p:nvSpPr>
        <p:spPr>
          <a:xfrm>
            <a:off x="4526280"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v1.0 endorsed (UNSC 56)</a:t>
            </a:r>
            <a:endParaRPr lang="en-US" sz="950" dirty="0"/>
          </a:p>
        </p:txBody>
      </p:sp>
      <p:sp>
        <p:nvSpPr>
          <p:cNvPr id="57" name="Shape 47"/>
          <p:cNvSpPr/>
          <p:nvPr/>
        </p:nvSpPr>
        <p:spPr>
          <a:xfrm>
            <a:off x="6071616" y="4114800"/>
            <a:ext cx="2615184" cy="438912"/>
          </a:xfrm>
          <a:prstGeom prst="roundRect">
            <a:avLst>
              <a:gd name="adj" fmla="val 12500"/>
            </a:avLst>
          </a:prstGeom>
          <a:solidFill>
            <a:srgbClr val="FFFFFF"/>
          </a:solidFill>
          <a:ln w="9525">
            <a:solidFill>
              <a:srgbClr val="D5DED9"/>
            </a:solidFill>
            <a:prstDash val="solid"/>
          </a:ln>
        </p:spPr>
      </p:sp>
      <p:sp>
        <p:nvSpPr>
          <p:cNvPr id="58" name="Text 48"/>
          <p:cNvSpPr txBox="1"/>
          <p:nvPr/>
        </p:nvSpPr>
        <p:spPr>
          <a:xfrm>
            <a:off x="6181344" y="4114800"/>
            <a:ext cx="1143000" cy="438912"/>
          </a:xfrm>
          <a:prstGeom prst="rect">
            <a:avLst/>
          </a:prstGeom>
          <a:noFill/>
          <a:ln/>
        </p:spPr>
        <p:txBody>
          <a:bodyPr wrap="square" lIns="0" tIns="0" rIns="0" bIns="0" rtlCol="0" anchor="ctr">
            <a:normAutofit/>
          </a:bodyPr>
          <a:lstStyle/>
          <a:p>
            <a:pPr indent="0" marL="0">
              <a:buNone/>
            </a:pPr>
            <a:r>
              <a:rPr lang="en-US" sz="1400" b="1" dirty="0">
                <a:solidFill>
                  <a:srgbClr val="00A86A"/>
                </a:solidFill>
                <a:latin typeface="Calibri" pitchFamily="34" charset="0"/>
                <a:ea typeface="Calibri" pitchFamily="34" charset="-122"/>
                <a:cs typeface="Calibri" pitchFamily="34" charset="-120"/>
              </a:rPr>
              <a:t>Voice</a:t>
            </a:r>
            <a:endParaRPr lang="en-US" sz="1400" dirty="0"/>
          </a:p>
        </p:txBody>
      </p:sp>
      <p:sp>
        <p:nvSpPr>
          <p:cNvPr id="59" name="Text 49"/>
          <p:cNvSpPr txBox="1"/>
          <p:nvPr/>
        </p:nvSpPr>
        <p:spPr>
          <a:xfrm>
            <a:off x="7333488" y="4114800"/>
            <a:ext cx="1280160" cy="438912"/>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as a data quality asset</a:t>
            </a:r>
            <a:endParaRPr lang="en-US" sz="950" dirty="0"/>
          </a:p>
        </p:txBody>
      </p:sp>
      <p:sp>
        <p:nvSpPr>
          <p:cNvPr id="60" name="Text 5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Collaborative on Citizen Data, Copenhagen Framework on Citizen Data v1.0 (UNSC 56th session, 2025); IISD SDG Knowledge Hub (2024).</a:t>
            </a:r>
            <a:endParaRPr lang="en-US" sz="8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TAXONOMY · SYNTHESIS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Comparing the six families at a glance</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Indicative assessment for a typical African NSO — to be challenged with your own country experience.</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00704A"/>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8" name="Text 15"/>
          <p:cNvSpPr txBox="1"/>
          <p:nvPr/>
        </p:nvSpPr>
        <p:spPr>
          <a:xfrm>
            <a:off x="3200400" y="1371600"/>
            <a:ext cx="1097280" cy="274320"/>
          </a:xfrm>
          <a:prstGeom prst="rect">
            <a:avLst/>
          </a:prstGeom>
          <a:noFill/>
          <a:ln/>
        </p:spPr>
        <p:txBody>
          <a:bodyPr wrap="square" lIns="0" tIns="0" rIns="0" bIns="0" rtlCol="0" anchor="ctr"/>
          <a:lstStyle/>
          <a:p>
            <a:pPr algn="ctr" indent="0" marL="0">
              <a:buNone/>
            </a:pPr>
            <a:r>
              <a:rPr lang="en-US" sz="1050" b="1" dirty="0">
                <a:solidFill>
                  <a:srgbClr val="00704A"/>
                </a:solidFill>
                <a:latin typeface="Calibri" pitchFamily="34" charset="0"/>
                <a:ea typeface="Calibri" pitchFamily="34" charset="-122"/>
                <a:cs typeface="Calibri" pitchFamily="34" charset="-120"/>
              </a:rPr>
              <a:t>Timeliness</a:t>
            </a:r>
            <a:endParaRPr lang="en-US" sz="1050" dirty="0"/>
          </a:p>
        </p:txBody>
      </p:sp>
      <p:sp>
        <p:nvSpPr>
          <p:cNvPr id="19" name="Text 16"/>
          <p:cNvSpPr txBox="1"/>
          <p:nvPr/>
        </p:nvSpPr>
        <p:spPr>
          <a:xfrm>
            <a:off x="4297680" y="1371600"/>
            <a:ext cx="1097280" cy="274320"/>
          </a:xfrm>
          <a:prstGeom prst="rect">
            <a:avLst/>
          </a:prstGeom>
          <a:noFill/>
          <a:ln/>
        </p:spPr>
        <p:txBody>
          <a:bodyPr wrap="square" lIns="0" tIns="0" rIns="0" bIns="0" rtlCol="0" anchor="ctr"/>
          <a:lstStyle/>
          <a:p>
            <a:pPr algn="ctr" indent="0" marL="0">
              <a:buNone/>
            </a:pPr>
            <a:r>
              <a:rPr lang="en-US" sz="1050" b="1" dirty="0">
                <a:solidFill>
                  <a:srgbClr val="00704A"/>
                </a:solidFill>
                <a:latin typeface="Calibri" pitchFamily="34" charset="0"/>
                <a:ea typeface="Calibri" pitchFamily="34" charset="-122"/>
                <a:cs typeface="Calibri" pitchFamily="34" charset="-120"/>
              </a:rPr>
              <a:t>Granularity</a:t>
            </a:r>
            <a:endParaRPr lang="en-US" sz="1050" dirty="0"/>
          </a:p>
        </p:txBody>
      </p:sp>
      <p:sp>
        <p:nvSpPr>
          <p:cNvPr id="20" name="Text 17"/>
          <p:cNvSpPr txBox="1"/>
          <p:nvPr/>
        </p:nvSpPr>
        <p:spPr>
          <a:xfrm>
            <a:off x="5394960" y="1371600"/>
            <a:ext cx="1097280" cy="274320"/>
          </a:xfrm>
          <a:prstGeom prst="rect">
            <a:avLst/>
          </a:prstGeom>
          <a:noFill/>
          <a:ln/>
        </p:spPr>
        <p:txBody>
          <a:bodyPr wrap="square" lIns="0" tIns="0" rIns="0" bIns="0" rtlCol="0" anchor="ctr"/>
          <a:lstStyle/>
          <a:p>
            <a:pPr algn="ctr" indent="0" marL="0">
              <a:buNone/>
            </a:pPr>
            <a:r>
              <a:rPr lang="en-US" sz="1050" b="1" dirty="0">
                <a:solidFill>
                  <a:srgbClr val="00704A"/>
                </a:solidFill>
                <a:latin typeface="Calibri" pitchFamily="34" charset="0"/>
                <a:ea typeface="Calibri" pitchFamily="34" charset="-122"/>
                <a:cs typeface="Calibri" pitchFamily="34" charset="-120"/>
              </a:rPr>
              <a:t>Coverage in Africa</a:t>
            </a:r>
            <a:endParaRPr lang="en-US" sz="1050" dirty="0"/>
          </a:p>
        </p:txBody>
      </p:sp>
      <p:sp>
        <p:nvSpPr>
          <p:cNvPr id="21" name="Text 18"/>
          <p:cNvSpPr txBox="1"/>
          <p:nvPr/>
        </p:nvSpPr>
        <p:spPr>
          <a:xfrm>
            <a:off x="6492240" y="1371600"/>
            <a:ext cx="1097280" cy="274320"/>
          </a:xfrm>
          <a:prstGeom prst="rect">
            <a:avLst/>
          </a:prstGeom>
          <a:noFill/>
          <a:ln/>
        </p:spPr>
        <p:txBody>
          <a:bodyPr wrap="square" lIns="0" tIns="0" rIns="0" bIns="0" rtlCol="0" anchor="ctr"/>
          <a:lstStyle/>
          <a:p>
            <a:pPr algn="ctr" indent="0" marL="0">
              <a:buNone/>
            </a:pPr>
            <a:r>
              <a:rPr lang="en-US" sz="1050" b="1" dirty="0">
                <a:solidFill>
                  <a:srgbClr val="00704A"/>
                </a:solidFill>
                <a:latin typeface="Calibri" pitchFamily="34" charset="0"/>
                <a:ea typeface="Calibri" pitchFamily="34" charset="-122"/>
                <a:cs typeface="Calibri" pitchFamily="34" charset="-120"/>
              </a:rPr>
              <a:t>Ease of access</a:t>
            </a:r>
            <a:endParaRPr lang="en-US" sz="1050" dirty="0"/>
          </a:p>
        </p:txBody>
      </p:sp>
      <p:sp>
        <p:nvSpPr>
          <p:cNvPr id="22" name="Text 19"/>
          <p:cNvSpPr txBox="1"/>
          <p:nvPr/>
        </p:nvSpPr>
        <p:spPr>
          <a:xfrm>
            <a:off x="7589520" y="1371600"/>
            <a:ext cx="1097280" cy="274320"/>
          </a:xfrm>
          <a:prstGeom prst="rect">
            <a:avLst/>
          </a:prstGeom>
          <a:noFill/>
          <a:ln/>
        </p:spPr>
        <p:txBody>
          <a:bodyPr wrap="square" lIns="0" tIns="0" rIns="0" bIns="0" rtlCol="0" anchor="ctr"/>
          <a:lstStyle/>
          <a:p>
            <a:pPr algn="ctr" indent="0" marL="0">
              <a:buNone/>
            </a:pPr>
            <a:r>
              <a:rPr lang="en-US" sz="1050" b="1" dirty="0">
                <a:solidFill>
                  <a:srgbClr val="B83B2E"/>
                </a:solidFill>
                <a:latin typeface="Calibri" pitchFamily="34" charset="0"/>
                <a:ea typeface="Calibri" pitchFamily="34" charset="-122"/>
                <a:cs typeface="Calibri" pitchFamily="34" charset="-120"/>
              </a:rPr>
              <a:t>Privacy risk</a:t>
            </a:r>
            <a:endParaRPr lang="en-US" sz="1050" dirty="0"/>
          </a:p>
        </p:txBody>
      </p:sp>
      <p:sp>
        <p:nvSpPr>
          <p:cNvPr id="23" name="Shape 20"/>
          <p:cNvSpPr/>
          <p:nvPr/>
        </p:nvSpPr>
        <p:spPr>
          <a:xfrm>
            <a:off x="457200" y="1700784"/>
            <a:ext cx="8229600" cy="384048"/>
          </a:xfrm>
          <a:prstGeom prst="roundRect">
            <a:avLst>
              <a:gd name="adj" fmla="val 11905"/>
            </a:avLst>
          </a:prstGeom>
          <a:solidFill>
            <a:srgbClr val="F4F7F5"/>
          </a:solidFill>
          <a:ln w="6350">
            <a:solidFill>
              <a:srgbClr val="D5DED9"/>
            </a:solidFill>
            <a:prstDash val="solid"/>
          </a:ln>
        </p:spPr>
      </p:sp>
      <p:pic>
        <p:nvPicPr>
          <p:cNvPr id="24" name="Image 0" descr="preencoded.png">    </p:cNvPr>
          <p:cNvPicPr>
            <a:picLocks noChangeAspect="1"/>
          </p:cNvPicPr>
          <p:nvPr/>
        </p:nvPicPr>
        <p:blipFill>
          <a:blip r:embed="rId1"/>
          <a:stretch>
            <a:fillRect/>
          </a:stretch>
        </p:blipFill>
        <p:spPr>
          <a:xfrm>
            <a:off x="585216" y="1792224"/>
            <a:ext cx="201168" cy="201168"/>
          </a:xfrm>
          <a:prstGeom prst="rect">
            <a:avLst/>
          </a:prstGeom>
        </p:spPr>
      </p:pic>
      <p:sp>
        <p:nvSpPr>
          <p:cNvPr id="25" name="Text 21"/>
          <p:cNvSpPr txBox="1"/>
          <p:nvPr/>
        </p:nvSpPr>
        <p:spPr>
          <a:xfrm>
            <a:off x="896112" y="1700784"/>
            <a:ext cx="2286000" cy="38404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Satellite imagery</a:t>
            </a:r>
            <a:endParaRPr lang="en-US" sz="1150" dirty="0"/>
          </a:p>
        </p:txBody>
      </p:sp>
      <p:sp>
        <p:nvSpPr>
          <p:cNvPr id="26" name="Shape 22"/>
          <p:cNvSpPr/>
          <p:nvPr/>
        </p:nvSpPr>
        <p:spPr>
          <a:xfrm>
            <a:off x="3529584" y="1837944"/>
            <a:ext cx="118872" cy="118872"/>
          </a:xfrm>
          <a:prstGeom prst="ellipse">
            <a:avLst/>
          </a:prstGeom>
          <a:solidFill>
            <a:srgbClr val="00A86A"/>
          </a:solidFill>
          <a:ln/>
        </p:spPr>
      </p:sp>
      <p:sp>
        <p:nvSpPr>
          <p:cNvPr id="27" name="Shape 23"/>
          <p:cNvSpPr/>
          <p:nvPr/>
        </p:nvSpPr>
        <p:spPr>
          <a:xfrm>
            <a:off x="3694176" y="1837944"/>
            <a:ext cx="118872" cy="118872"/>
          </a:xfrm>
          <a:prstGeom prst="ellipse">
            <a:avLst/>
          </a:prstGeom>
          <a:solidFill>
            <a:srgbClr val="00A86A"/>
          </a:solidFill>
          <a:ln/>
        </p:spPr>
      </p:sp>
      <p:sp>
        <p:nvSpPr>
          <p:cNvPr id="28" name="Shape 24"/>
          <p:cNvSpPr/>
          <p:nvPr/>
        </p:nvSpPr>
        <p:spPr>
          <a:xfrm>
            <a:off x="3858768" y="1837944"/>
            <a:ext cx="118872" cy="118872"/>
          </a:xfrm>
          <a:prstGeom prst="ellipse">
            <a:avLst/>
          </a:prstGeom>
          <a:solidFill>
            <a:srgbClr val="D5DED9"/>
          </a:solidFill>
          <a:ln/>
        </p:spPr>
      </p:sp>
      <p:sp>
        <p:nvSpPr>
          <p:cNvPr id="29" name="Shape 25"/>
          <p:cNvSpPr/>
          <p:nvPr/>
        </p:nvSpPr>
        <p:spPr>
          <a:xfrm>
            <a:off x="4626864" y="1837944"/>
            <a:ext cx="118872" cy="118872"/>
          </a:xfrm>
          <a:prstGeom prst="ellipse">
            <a:avLst/>
          </a:prstGeom>
          <a:solidFill>
            <a:srgbClr val="00A86A"/>
          </a:solidFill>
          <a:ln/>
        </p:spPr>
      </p:sp>
      <p:sp>
        <p:nvSpPr>
          <p:cNvPr id="30" name="Shape 26"/>
          <p:cNvSpPr/>
          <p:nvPr/>
        </p:nvSpPr>
        <p:spPr>
          <a:xfrm>
            <a:off x="4791456" y="1837944"/>
            <a:ext cx="118872" cy="118872"/>
          </a:xfrm>
          <a:prstGeom prst="ellipse">
            <a:avLst/>
          </a:prstGeom>
          <a:solidFill>
            <a:srgbClr val="00A86A"/>
          </a:solidFill>
          <a:ln/>
        </p:spPr>
      </p:sp>
      <p:sp>
        <p:nvSpPr>
          <p:cNvPr id="31" name="Shape 27"/>
          <p:cNvSpPr/>
          <p:nvPr/>
        </p:nvSpPr>
        <p:spPr>
          <a:xfrm>
            <a:off x="4956048" y="1837944"/>
            <a:ext cx="118872" cy="118872"/>
          </a:xfrm>
          <a:prstGeom prst="ellipse">
            <a:avLst/>
          </a:prstGeom>
          <a:solidFill>
            <a:srgbClr val="00A86A"/>
          </a:solidFill>
          <a:ln/>
        </p:spPr>
      </p:sp>
      <p:sp>
        <p:nvSpPr>
          <p:cNvPr id="32" name="Shape 28"/>
          <p:cNvSpPr/>
          <p:nvPr/>
        </p:nvSpPr>
        <p:spPr>
          <a:xfrm>
            <a:off x="5724144" y="1837944"/>
            <a:ext cx="118872" cy="118872"/>
          </a:xfrm>
          <a:prstGeom prst="ellipse">
            <a:avLst/>
          </a:prstGeom>
          <a:solidFill>
            <a:srgbClr val="00A86A"/>
          </a:solidFill>
          <a:ln/>
        </p:spPr>
      </p:sp>
      <p:sp>
        <p:nvSpPr>
          <p:cNvPr id="33" name="Shape 29"/>
          <p:cNvSpPr/>
          <p:nvPr/>
        </p:nvSpPr>
        <p:spPr>
          <a:xfrm>
            <a:off x="5888736" y="1837944"/>
            <a:ext cx="118872" cy="118872"/>
          </a:xfrm>
          <a:prstGeom prst="ellipse">
            <a:avLst/>
          </a:prstGeom>
          <a:solidFill>
            <a:srgbClr val="00A86A"/>
          </a:solidFill>
          <a:ln/>
        </p:spPr>
      </p:sp>
      <p:sp>
        <p:nvSpPr>
          <p:cNvPr id="34" name="Shape 30"/>
          <p:cNvSpPr/>
          <p:nvPr/>
        </p:nvSpPr>
        <p:spPr>
          <a:xfrm>
            <a:off x="6053328" y="1837944"/>
            <a:ext cx="118872" cy="118872"/>
          </a:xfrm>
          <a:prstGeom prst="ellipse">
            <a:avLst/>
          </a:prstGeom>
          <a:solidFill>
            <a:srgbClr val="00A86A"/>
          </a:solidFill>
          <a:ln/>
        </p:spPr>
      </p:sp>
      <p:sp>
        <p:nvSpPr>
          <p:cNvPr id="35" name="Shape 31"/>
          <p:cNvSpPr/>
          <p:nvPr/>
        </p:nvSpPr>
        <p:spPr>
          <a:xfrm>
            <a:off x="6821424" y="1837944"/>
            <a:ext cx="118872" cy="118872"/>
          </a:xfrm>
          <a:prstGeom prst="ellipse">
            <a:avLst/>
          </a:prstGeom>
          <a:solidFill>
            <a:srgbClr val="00A86A"/>
          </a:solidFill>
          <a:ln/>
        </p:spPr>
      </p:sp>
      <p:sp>
        <p:nvSpPr>
          <p:cNvPr id="36" name="Shape 32"/>
          <p:cNvSpPr/>
          <p:nvPr/>
        </p:nvSpPr>
        <p:spPr>
          <a:xfrm>
            <a:off x="6986016" y="1837944"/>
            <a:ext cx="118872" cy="118872"/>
          </a:xfrm>
          <a:prstGeom prst="ellipse">
            <a:avLst/>
          </a:prstGeom>
          <a:solidFill>
            <a:srgbClr val="00A86A"/>
          </a:solidFill>
          <a:ln/>
        </p:spPr>
      </p:sp>
      <p:sp>
        <p:nvSpPr>
          <p:cNvPr id="37" name="Shape 33"/>
          <p:cNvSpPr/>
          <p:nvPr/>
        </p:nvSpPr>
        <p:spPr>
          <a:xfrm>
            <a:off x="7150608" y="1837944"/>
            <a:ext cx="118872" cy="118872"/>
          </a:xfrm>
          <a:prstGeom prst="ellipse">
            <a:avLst/>
          </a:prstGeom>
          <a:solidFill>
            <a:srgbClr val="00A86A"/>
          </a:solidFill>
          <a:ln/>
        </p:spPr>
      </p:sp>
      <p:sp>
        <p:nvSpPr>
          <p:cNvPr id="38" name="Shape 34"/>
          <p:cNvSpPr/>
          <p:nvPr/>
        </p:nvSpPr>
        <p:spPr>
          <a:xfrm>
            <a:off x="7918704" y="1837944"/>
            <a:ext cx="118872" cy="118872"/>
          </a:xfrm>
          <a:prstGeom prst="ellipse">
            <a:avLst/>
          </a:prstGeom>
          <a:solidFill>
            <a:srgbClr val="B83B2E"/>
          </a:solidFill>
          <a:ln/>
        </p:spPr>
      </p:sp>
      <p:sp>
        <p:nvSpPr>
          <p:cNvPr id="39" name="Shape 35"/>
          <p:cNvSpPr/>
          <p:nvPr/>
        </p:nvSpPr>
        <p:spPr>
          <a:xfrm>
            <a:off x="8083296" y="1837944"/>
            <a:ext cx="118872" cy="118872"/>
          </a:xfrm>
          <a:prstGeom prst="ellipse">
            <a:avLst/>
          </a:prstGeom>
          <a:solidFill>
            <a:srgbClr val="D5DED9"/>
          </a:solidFill>
          <a:ln/>
        </p:spPr>
      </p:sp>
      <p:sp>
        <p:nvSpPr>
          <p:cNvPr id="40" name="Shape 36"/>
          <p:cNvSpPr/>
          <p:nvPr/>
        </p:nvSpPr>
        <p:spPr>
          <a:xfrm>
            <a:off x="8247888" y="1837944"/>
            <a:ext cx="118872" cy="118872"/>
          </a:xfrm>
          <a:prstGeom prst="ellipse">
            <a:avLst/>
          </a:prstGeom>
          <a:solidFill>
            <a:srgbClr val="D5DED9"/>
          </a:solidFill>
          <a:ln/>
        </p:spPr>
      </p:sp>
      <p:sp>
        <p:nvSpPr>
          <p:cNvPr id="41" name="Shape 37"/>
          <p:cNvSpPr/>
          <p:nvPr/>
        </p:nvSpPr>
        <p:spPr>
          <a:xfrm>
            <a:off x="457200" y="2148840"/>
            <a:ext cx="8229600" cy="384048"/>
          </a:xfrm>
          <a:prstGeom prst="roundRect">
            <a:avLst>
              <a:gd name="adj" fmla="val 11905"/>
            </a:avLst>
          </a:prstGeom>
          <a:solidFill>
            <a:srgbClr val="FFFFFF"/>
          </a:solidFill>
          <a:ln w="6350">
            <a:solidFill>
              <a:srgbClr val="D5DED9"/>
            </a:solidFill>
            <a:prstDash val="solid"/>
          </a:ln>
        </p:spPr>
      </p:sp>
      <p:pic>
        <p:nvPicPr>
          <p:cNvPr id="42" name="Image 1" descr="preencoded.png">    </p:cNvPr>
          <p:cNvPicPr>
            <a:picLocks noChangeAspect="1"/>
          </p:cNvPicPr>
          <p:nvPr/>
        </p:nvPicPr>
        <p:blipFill>
          <a:blip r:embed="rId2"/>
          <a:stretch>
            <a:fillRect/>
          </a:stretch>
        </p:blipFill>
        <p:spPr>
          <a:xfrm>
            <a:off x="585216" y="2240280"/>
            <a:ext cx="201168" cy="201168"/>
          </a:xfrm>
          <a:prstGeom prst="rect">
            <a:avLst/>
          </a:prstGeom>
        </p:spPr>
      </p:pic>
      <p:sp>
        <p:nvSpPr>
          <p:cNvPr id="43" name="Text 38"/>
          <p:cNvSpPr txBox="1"/>
          <p:nvPr/>
        </p:nvSpPr>
        <p:spPr>
          <a:xfrm>
            <a:off x="896112" y="2148840"/>
            <a:ext cx="2286000" cy="38404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Crowdsourced measurement</a:t>
            </a:r>
            <a:endParaRPr lang="en-US" sz="1150" dirty="0"/>
          </a:p>
        </p:txBody>
      </p:sp>
      <p:sp>
        <p:nvSpPr>
          <p:cNvPr id="44" name="Shape 39"/>
          <p:cNvSpPr/>
          <p:nvPr/>
        </p:nvSpPr>
        <p:spPr>
          <a:xfrm>
            <a:off x="3529584" y="2286000"/>
            <a:ext cx="118872" cy="118872"/>
          </a:xfrm>
          <a:prstGeom prst="ellipse">
            <a:avLst/>
          </a:prstGeom>
          <a:solidFill>
            <a:srgbClr val="00A86A"/>
          </a:solidFill>
          <a:ln/>
        </p:spPr>
      </p:sp>
      <p:sp>
        <p:nvSpPr>
          <p:cNvPr id="45" name="Shape 40"/>
          <p:cNvSpPr/>
          <p:nvPr/>
        </p:nvSpPr>
        <p:spPr>
          <a:xfrm>
            <a:off x="3694176" y="2286000"/>
            <a:ext cx="118872" cy="118872"/>
          </a:xfrm>
          <a:prstGeom prst="ellipse">
            <a:avLst/>
          </a:prstGeom>
          <a:solidFill>
            <a:srgbClr val="00A86A"/>
          </a:solidFill>
          <a:ln/>
        </p:spPr>
      </p:sp>
      <p:sp>
        <p:nvSpPr>
          <p:cNvPr id="46" name="Shape 41"/>
          <p:cNvSpPr/>
          <p:nvPr/>
        </p:nvSpPr>
        <p:spPr>
          <a:xfrm>
            <a:off x="3858768" y="2286000"/>
            <a:ext cx="118872" cy="118872"/>
          </a:xfrm>
          <a:prstGeom prst="ellipse">
            <a:avLst/>
          </a:prstGeom>
          <a:solidFill>
            <a:srgbClr val="D5DED9"/>
          </a:solidFill>
          <a:ln/>
        </p:spPr>
      </p:sp>
      <p:sp>
        <p:nvSpPr>
          <p:cNvPr id="47" name="Shape 42"/>
          <p:cNvSpPr/>
          <p:nvPr/>
        </p:nvSpPr>
        <p:spPr>
          <a:xfrm>
            <a:off x="4626864" y="2286000"/>
            <a:ext cx="118872" cy="118872"/>
          </a:xfrm>
          <a:prstGeom prst="ellipse">
            <a:avLst/>
          </a:prstGeom>
          <a:solidFill>
            <a:srgbClr val="00A86A"/>
          </a:solidFill>
          <a:ln/>
        </p:spPr>
      </p:sp>
      <p:sp>
        <p:nvSpPr>
          <p:cNvPr id="48" name="Shape 43"/>
          <p:cNvSpPr/>
          <p:nvPr/>
        </p:nvSpPr>
        <p:spPr>
          <a:xfrm>
            <a:off x="4791456" y="2286000"/>
            <a:ext cx="118872" cy="118872"/>
          </a:xfrm>
          <a:prstGeom prst="ellipse">
            <a:avLst/>
          </a:prstGeom>
          <a:solidFill>
            <a:srgbClr val="00A86A"/>
          </a:solidFill>
          <a:ln/>
        </p:spPr>
      </p:sp>
      <p:sp>
        <p:nvSpPr>
          <p:cNvPr id="49" name="Shape 44"/>
          <p:cNvSpPr/>
          <p:nvPr/>
        </p:nvSpPr>
        <p:spPr>
          <a:xfrm>
            <a:off x="4956048" y="2286000"/>
            <a:ext cx="118872" cy="118872"/>
          </a:xfrm>
          <a:prstGeom prst="ellipse">
            <a:avLst/>
          </a:prstGeom>
          <a:solidFill>
            <a:srgbClr val="00A86A"/>
          </a:solidFill>
          <a:ln/>
        </p:spPr>
      </p:sp>
      <p:sp>
        <p:nvSpPr>
          <p:cNvPr id="50" name="Shape 45"/>
          <p:cNvSpPr/>
          <p:nvPr/>
        </p:nvSpPr>
        <p:spPr>
          <a:xfrm>
            <a:off x="5724144" y="2286000"/>
            <a:ext cx="118872" cy="118872"/>
          </a:xfrm>
          <a:prstGeom prst="ellipse">
            <a:avLst/>
          </a:prstGeom>
          <a:solidFill>
            <a:srgbClr val="00A86A"/>
          </a:solidFill>
          <a:ln/>
        </p:spPr>
      </p:sp>
      <p:sp>
        <p:nvSpPr>
          <p:cNvPr id="51" name="Shape 46"/>
          <p:cNvSpPr/>
          <p:nvPr/>
        </p:nvSpPr>
        <p:spPr>
          <a:xfrm>
            <a:off x="5888736" y="2286000"/>
            <a:ext cx="118872" cy="118872"/>
          </a:xfrm>
          <a:prstGeom prst="ellipse">
            <a:avLst/>
          </a:prstGeom>
          <a:solidFill>
            <a:srgbClr val="D5DED9"/>
          </a:solidFill>
          <a:ln/>
        </p:spPr>
      </p:sp>
      <p:sp>
        <p:nvSpPr>
          <p:cNvPr id="52" name="Shape 47"/>
          <p:cNvSpPr/>
          <p:nvPr/>
        </p:nvSpPr>
        <p:spPr>
          <a:xfrm>
            <a:off x="6053328" y="2286000"/>
            <a:ext cx="118872" cy="118872"/>
          </a:xfrm>
          <a:prstGeom prst="ellipse">
            <a:avLst/>
          </a:prstGeom>
          <a:solidFill>
            <a:srgbClr val="D5DED9"/>
          </a:solidFill>
          <a:ln/>
        </p:spPr>
      </p:sp>
      <p:sp>
        <p:nvSpPr>
          <p:cNvPr id="53" name="Shape 48"/>
          <p:cNvSpPr/>
          <p:nvPr/>
        </p:nvSpPr>
        <p:spPr>
          <a:xfrm>
            <a:off x="6821424" y="2286000"/>
            <a:ext cx="118872" cy="118872"/>
          </a:xfrm>
          <a:prstGeom prst="ellipse">
            <a:avLst/>
          </a:prstGeom>
          <a:solidFill>
            <a:srgbClr val="00A86A"/>
          </a:solidFill>
          <a:ln/>
        </p:spPr>
      </p:sp>
      <p:sp>
        <p:nvSpPr>
          <p:cNvPr id="54" name="Shape 49"/>
          <p:cNvSpPr/>
          <p:nvPr/>
        </p:nvSpPr>
        <p:spPr>
          <a:xfrm>
            <a:off x="6986016" y="2286000"/>
            <a:ext cx="118872" cy="118872"/>
          </a:xfrm>
          <a:prstGeom prst="ellipse">
            <a:avLst/>
          </a:prstGeom>
          <a:solidFill>
            <a:srgbClr val="00A86A"/>
          </a:solidFill>
          <a:ln/>
        </p:spPr>
      </p:sp>
      <p:sp>
        <p:nvSpPr>
          <p:cNvPr id="55" name="Shape 50"/>
          <p:cNvSpPr/>
          <p:nvPr/>
        </p:nvSpPr>
        <p:spPr>
          <a:xfrm>
            <a:off x="7150608" y="2286000"/>
            <a:ext cx="118872" cy="118872"/>
          </a:xfrm>
          <a:prstGeom prst="ellipse">
            <a:avLst/>
          </a:prstGeom>
          <a:solidFill>
            <a:srgbClr val="00A86A"/>
          </a:solidFill>
          <a:ln/>
        </p:spPr>
      </p:sp>
      <p:sp>
        <p:nvSpPr>
          <p:cNvPr id="56" name="Shape 51"/>
          <p:cNvSpPr/>
          <p:nvPr/>
        </p:nvSpPr>
        <p:spPr>
          <a:xfrm>
            <a:off x="7918704" y="2286000"/>
            <a:ext cx="118872" cy="118872"/>
          </a:xfrm>
          <a:prstGeom prst="ellipse">
            <a:avLst/>
          </a:prstGeom>
          <a:solidFill>
            <a:srgbClr val="B83B2E"/>
          </a:solidFill>
          <a:ln/>
        </p:spPr>
      </p:sp>
      <p:sp>
        <p:nvSpPr>
          <p:cNvPr id="57" name="Shape 52"/>
          <p:cNvSpPr/>
          <p:nvPr/>
        </p:nvSpPr>
        <p:spPr>
          <a:xfrm>
            <a:off x="8083296" y="2286000"/>
            <a:ext cx="118872" cy="118872"/>
          </a:xfrm>
          <a:prstGeom prst="ellipse">
            <a:avLst/>
          </a:prstGeom>
          <a:solidFill>
            <a:srgbClr val="D5DED9"/>
          </a:solidFill>
          <a:ln/>
        </p:spPr>
      </p:sp>
      <p:sp>
        <p:nvSpPr>
          <p:cNvPr id="58" name="Shape 53"/>
          <p:cNvSpPr/>
          <p:nvPr/>
        </p:nvSpPr>
        <p:spPr>
          <a:xfrm>
            <a:off x="8247888" y="2286000"/>
            <a:ext cx="118872" cy="118872"/>
          </a:xfrm>
          <a:prstGeom prst="ellipse">
            <a:avLst/>
          </a:prstGeom>
          <a:solidFill>
            <a:srgbClr val="D5DED9"/>
          </a:solidFill>
          <a:ln/>
        </p:spPr>
      </p:sp>
      <p:sp>
        <p:nvSpPr>
          <p:cNvPr id="59" name="Shape 54"/>
          <p:cNvSpPr/>
          <p:nvPr/>
        </p:nvSpPr>
        <p:spPr>
          <a:xfrm>
            <a:off x="457200" y="2596896"/>
            <a:ext cx="8229600" cy="384048"/>
          </a:xfrm>
          <a:prstGeom prst="roundRect">
            <a:avLst>
              <a:gd name="adj" fmla="val 11905"/>
            </a:avLst>
          </a:prstGeom>
          <a:solidFill>
            <a:srgbClr val="F4F7F5"/>
          </a:solidFill>
          <a:ln w="6350">
            <a:solidFill>
              <a:srgbClr val="D5DED9"/>
            </a:solidFill>
            <a:prstDash val="solid"/>
          </a:ln>
        </p:spPr>
      </p:sp>
      <p:pic>
        <p:nvPicPr>
          <p:cNvPr id="60" name="Image 2" descr="preencoded.png">    </p:cNvPr>
          <p:cNvPicPr>
            <a:picLocks noChangeAspect="1"/>
          </p:cNvPicPr>
          <p:nvPr/>
        </p:nvPicPr>
        <p:blipFill>
          <a:blip r:embed="rId3"/>
          <a:stretch>
            <a:fillRect/>
          </a:stretch>
        </p:blipFill>
        <p:spPr>
          <a:xfrm>
            <a:off x="585216" y="2688336"/>
            <a:ext cx="201168" cy="201168"/>
          </a:xfrm>
          <a:prstGeom prst="rect">
            <a:avLst/>
          </a:prstGeom>
        </p:spPr>
      </p:pic>
      <p:sp>
        <p:nvSpPr>
          <p:cNvPr id="61" name="Text 55"/>
          <p:cNvSpPr txBox="1"/>
          <p:nvPr/>
        </p:nvSpPr>
        <p:spPr>
          <a:xfrm>
            <a:off x="896112" y="2596896"/>
            <a:ext cx="2286000" cy="38404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Scanner, transaction &amp; telecom</a:t>
            </a:r>
            <a:endParaRPr lang="en-US" sz="1150" dirty="0"/>
          </a:p>
        </p:txBody>
      </p:sp>
      <p:sp>
        <p:nvSpPr>
          <p:cNvPr id="62" name="Shape 56"/>
          <p:cNvSpPr/>
          <p:nvPr/>
        </p:nvSpPr>
        <p:spPr>
          <a:xfrm>
            <a:off x="3529584" y="2734056"/>
            <a:ext cx="118872" cy="118872"/>
          </a:xfrm>
          <a:prstGeom prst="ellipse">
            <a:avLst/>
          </a:prstGeom>
          <a:solidFill>
            <a:srgbClr val="00A86A"/>
          </a:solidFill>
          <a:ln/>
        </p:spPr>
      </p:sp>
      <p:sp>
        <p:nvSpPr>
          <p:cNvPr id="63" name="Shape 57"/>
          <p:cNvSpPr/>
          <p:nvPr/>
        </p:nvSpPr>
        <p:spPr>
          <a:xfrm>
            <a:off x="3694176" y="2734056"/>
            <a:ext cx="118872" cy="118872"/>
          </a:xfrm>
          <a:prstGeom prst="ellipse">
            <a:avLst/>
          </a:prstGeom>
          <a:solidFill>
            <a:srgbClr val="00A86A"/>
          </a:solidFill>
          <a:ln/>
        </p:spPr>
      </p:sp>
      <p:sp>
        <p:nvSpPr>
          <p:cNvPr id="64" name="Shape 58"/>
          <p:cNvSpPr/>
          <p:nvPr/>
        </p:nvSpPr>
        <p:spPr>
          <a:xfrm>
            <a:off x="3858768" y="2734056"/>
            <a:ext cx="118872" cy="118872"/>
          </a:xfrm>
          <a:prstGeom prst="ellipse">
            <a:avLst/>
          </a:prstGeom>
          <a:solidFill>
            <a:srgbClr val="00A86A"/>
          </a:solidFill>
          <a:ln/>
        </p:spPr>
      </p:sp>
      <p:sp>
        <p:nvSpPr>
          <p:cNvPr id="65" name="Shape 59"/>
          <p:cNvSpPr/>
          <p:nvPr/>
        </p:nvSpPr>
        <p:spPr>
          <a:xfrm>
            <a:off x="4626864" y="2734056"/>
            <a:ext cx="118872" cy="118872"/>
          </a:xfrm>
          <a:prstGeom prst="ellipse">
            <a:avLst/>
          </a:prstGeom>
          <a:solidFill>
            <a:srgbClr val="00A86A"/>
          </a:solidFill>
          <a:ln/>
        </p:spPr>
      </p:sp>
      <p:sp>
        <p:nvSpPr>
          <p:cNvPr id="66" name="Shape 60"/>
          <p:cNvSpPr/>
          <p:nvPr/>
        </p:nvSpPr>
        <p:spPr>
          <a:xfrm>
            <a:off x="4791456" y="2734056"/>
            <a:ext cx="118872" cy="118872"/>
          </a:xfrm>
          <a:prstGeom prst="ellipse">
            <a:avLst/>
          </a:prstGeom>
          <a:solidFill>
            <a:srgbClr val="00A86A"/>
          </a:solidFill>
          <a:ln/>
        </p:spPr>
      </p:sp>
      <p:sp>
        <p:nvSpPr>
          <p:cNvPr id="67" name="Shape 61"/>
          <p:cNvSpPr/>
          <p:nvPr/>
        </p:nvSpPr>
        <p:spPr>
          <a:xfrm>
            <a:off x="4956048" y="2734056"/>
            <a:ext cx="118872" cy="118872"/>
          </a:xfrm>
          <a:prstGeom prst="ellipse">
            <a:avLst/>
          </a:prstGeom>
          <a:solidFill>
            <a:srgbClr val="00A86A"/>
          </a:solidFill>
          <a:ln/>
        </p:spPr>
      </p:sp>
      <p:sp>
        <p:nvSpPr>
          <p:cNvPr id="68" name="Shape 62"/>
          <p:cNvSpPr/>
          <p:nvPr/>
        </p:nvSpPr>
        <p:spPr>
          <a:xfrm>
            <a:off x="5724144" y="2734056"/>
            <a:ext cx="118872" cy="118872"/>
          </a:xfrm>
          <a:prstGeom prst="ellipse">
            <a:avLst/>
          </a:prstGeom>
          <a:solidFill>
            <a:srgbClr val="00A86A"/>
          </a:solidFill>
          <a:ln/>
        </p:spPr>
      </p:sp>
      <p:sp>
        <p:nvSpPr>
          <p:cNvPr id="69" name="Shape 63"/>
          <p:cNvSpPr/>
          <p:nvPr/>
        </p:nvSpPr>
        <p:spPr>
          <a:xfrm>
            <a:off x="5888736" y="2734056"/>
            <a:ext cx="118872" cy="118872"/>
          </a:xfrm>
          <a:prstGeom prst="ellipse">
            <a:avLst/>
          </a:prstGeom>
          <a:solidFill>
            <a:srgbClr val="00A86A"/>
          </a:solidFill>
          <a:ln/>
        </p:spPr>
      </p:sp>
      <p:sp>
        <p:nvSpPr>
          <p:cNvPr id="70" name="Shape 64"/>
          <p:cNvSpPr/>
          <p:nvPr/>
        </p:nvSpPr>
        <p:spPr>
          <a:xfrm>
            <a:off x="6053328" y="2734056"/>
            <a:ext cx="118872" cy="118872"/>
          </a:xfrm>
          <a:prstGeom prst="ellipse">
            <a:avLst/>
          </a:prstGeom>
          <a:solidFill>
            <a:srgbClr val="D5DED9"/>
          </a:solidFill>
          <a:ln/>
        </p:spPr>
      </p:sp>
      <p:sp>
        <p:nvSpPr>
          <p:cNvPr id="71" name="Shape 65"/>
          <p:cNvSpPr/>
          <p:nvPr/>
        </p:nvSpPr>
        <p:spPr>
          <a:xfrm>
            <a:off x="6821424" y="2734056"/>
            <a:ext cx="118872" cy="118872"/>
          </a:xfrm>
          <a:prstGeom prst="ellipse">
            <a:avLst/>
          </a:prstGeom>
          <a:solidFill>
            <a:srgbClr val="00A86A"/>
          </a:solidFill>
          <a:ln/>
        </p:spPr>
      </p:sp>
      <p:sp>
        <p:nvSpPr>
          <p:cNvPr id="72" name="Shape 66"/>
          <p:cNvSpPr/>
          <p:nvPr/>
        </p:nvSpPr>
        <p:spPr>
          <a:xfrm>
            <a:off x="6986016" y="2734056"/>
            <a:ext cx="118872" cy="118872"/>
          </a:xfrm>
          <a:prstGeom prst="ellipse">
            <a:avLst/>
          </a:prstGeom>
          <a:solidFill>
            <a:srgbClr val="D5DED9"/>
          </a:solidFill>
          <a:ln/>
        </p:spPr>
      </p:sp>
      <p:sp>
        <p:nvSpPr>
          <p:cNvPr id="73" name="Shape 67"/>
          <p:cNvSpPr/>
          <p:nvPr/>
        </p:nvSpPr>
        <p:spPr>
          <a:xfrm>
            <a:off x="7150608" y="2734056"/>
            <a:ext cx="118872" cy="118872"/>
          </a:xfrm>
          <a:prstGeom prst="ellipse">
            <a:avLst/>
          </a:prstGeom>
          <a:solidFill>
            <a:srgbClr val="D5DED9"/>
          </a:solidFill>
          <a:ln/>
        </p:spPr>
      </p:sp>
      <p:sp>
        <p:nvSpPr>
          <p:cNvPr id="74" name="Shape 68"/>
          <p:cNvSpPr/>
          <p:nvPr/>
        </p:nvSpPr>
        <p:spPr>
          <a:xfrm>
            <a:off x="7918704" y="2734056"/>
            <a:ext cx="118872" cy="118872"/>
          </a:xfrm>
          <a:prstGeom prst="ellipse">
            <a:avLst/>
          </a:prstGeom>
          <a:solidFill>
            <a:srgbClr val="B83B2E"/>
          </a:solidFill>
          <a:ln/>
        </p:spPr>
      </p:sp>
      <p:sp>
        <p:nvSpPr>
          <p:cNvPr id="75" name="Shape 69"/>
          <p:cNvSpPr/>
          <p:nvPr/>
        </p:nvSpPr>
        <p:spPr>
          <a:xfrm>
            <a:off x="8083296" y="2734056"/>
            <a:ext cx="118872" cy="118872"/>
          </a:xfrm>
          <a:prstGeom prst="ellipse">
            <a:avLst/>
          </a:prstGeom>
          <a:solidFill>
            <a:srgbClr val="B83B2E"/>
          </a:solidFill>
          <a:ln/>
        </p:spPr>
      </p:sp>
      <p:sp>
        <p:nvSpPr>
          <p:cNvPr id="76" name="Shape 70"/>
          <p:cNvSpPr/>
          <p:nvPr/>
        </p:nvSpPr>
        <p:spPr>
          <a:xfrm>
            <a:off x="8247888" y="2734056"/>
            <a:ext cx="118872" cy="118872"/>
          </a:xfrm>
          <a:prstGeom prst="ellipse">
            <a:avLst/>
          </a:prstGeom>
          <a:solidFill>
            <a:srgbClr val="B83B2E"/>
          </a:solidFill>
          <a:ln/>
        </p:spPr>
      </p:sp>
      <p:sp>
        <p:nvSpPr>
          <p:cNvPr id="77" name="Shape 71"/>
          <p:cNvSpPr/>
          <p:nvPr/>
        </p:nvSpPr>
        <p:spPr>
          <a:xfrm>
            <a:off x="457200" y="3044952"/>
            <a:ext cx="8229600" cy="384048"/>
          </a:xfrm>
          <a:prstGeom prst="roundRect">
            <a:avLst>
              <a:gd name="adj" fmla="val 11905"/>
            </a:avLst>
          </a:prstGeom>
          <a:solidFill>
            <a:srgbClr val="FFFFFF"/>
          </a:solidFill>
          <a:ln w="6350">
            <a:solidFill>
              <a:srgbClr val="D5DED9"/>
            </a:solidFill>
            <a:prstDash val="solid"/>
          </a:ln>
        </p:spPr>
      </p:sp>
      <p:pic>
        <p:nvPicPr>
          <p:cNvPr id="78" name="Image 3" descr="preencoded.png">    </p:cNvPr>
          <p:cNvPicPr>
            <a:picLocks noChangeAspect="1"/>
          </p:cNvPicPr>
          <p:nvPr/>
        </p:nvPicPr>
        <p:blipFill>
          <a:blip r:embed="rId4"/>
          <a:stretch>
            <a:fillRect/>
          </a:stretch>
        </p:blipFill>
        <p:spPr>
          <a:xfrm>
            <a:off x="585216" y="3136392"/>
            <a:ext cx="201168" cy="201168"/>
          </a:xfrm>
          <a:prstGeom prst="rect">
            <a:avLst/>
          </a:prstGeom>
        </p:spPr>
      </p:pic>
      <p:sp>
        <p:nvSpPr>
          <p:cNvPr id="79" name="Text 72"/>
          <p:cNvSpPr txBox="1"/>
          <p:nvPr/>
        </p:nvSpPr>
        <p:spPr>
          <a:xfrm>
            <a:off x="896112" y="3044952"/>
            <a:ext cx="2286000" cy="38404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Web scraping</a:t>
            </a:r>
            <a:endParaRPr lang="en-US" sz="1150" dirty="0"/>
          </a:p>
        </p:txBody>
      </p:sp>
      <p:sp>
        <p:nvSpPr>
          <p:cNvPr id="80" name="Shape 73"/>
          <p:cNvSpPr/>
          <p:nvPr/>
        </p:nvSpPr>
        <p:spPr>
          <a:xfrm>
            <a:off x="3529584" y="3182112"/>
            <a:ext cx="118872" cy="118872"/>
          </a:xfrm>
          <a:prstGeom prst="ellipse">
            <a:avLst/>
          </a:prstGeom>
          <a:solidFill>
            <a:srgbClr val="00A86A"/>
          </a:solidFill>
          <a:ln/>
        </p:spPr>
      </p:sp>
      <p:sp>
        <p:nvSpPr>
          <p:cNvPr id="81" name="Shape 74"/>
          <p:cNvSpPr/>
          <p:nvPr/>
        </p:nvSpPr>
        <p:spPr>
          <a:xfrm>
            <a:off x="3694176" y="3182112"/>
            <a:ext cx="118872" cy="118872"/>
          </a:xfrm>
          <a:prstGeom prst="ellipse">
            <a:avLst/>
          </a:prstGeom>
          <a:solidFill>
            <a:srgbClr val="00A86A"/>
          </a:solidFill>
          <a:ln/>
        </p:spPr>
      </p:sp>
      <p:sp>
        <p:nvSpPr>
          <p:cNvPr id="82" name="Shape 75"/>
          <p:cNvSpPr/>
          <p:nvPr/>
        </p:nvSpPr>
        <p:spPr>
          <a:xfrm>
            <a:off x="3858768" y="3182112"/>
            <a:ext cx="118872" cy="118872"/>
          </a:xfrm>
          <a:prstGeom prst="ellipse">
            <a:avLst/>
          </a:prstGeom>
          <a:solidFill>
            <a:srgbClr val="00A86A"/>
          </a:solidFill>
          <a:ln/>
        </p:spPr>
      </p:sp>
      <p:sp>
        <p:nvSpPr>
          <p:cNvPr id="83" name="Shape 76"/>
          <p:cNvSpPr/>
          <p:nvPr/>
        </p:nvSpPr>
        <p:spPr>
          <a:xfrm>
            <a:off x="4626864" y="3182112"/>
            <a:ext cx="118872" cy="118872"/>
          </a:xfrm>
          <a:prstGeom prst="ellipse">
            <a:avLst/>
          </a:prstGeom>
          <a:solidFill>
            <a:srgbClr val="00A86A"/>
          </a:solidFill>
          <a:ln/>
        </p:spPr>
      </p:sp>
      <p:sp>
        <p:nvSpPr>
          <p:cNvPr id="84" name="Shape 77"/>
          <p:cNvSpPr/>
          <p:nvPr/>
        </p:nvSpPr>
        <p:spPr>
          <a:xfrm>
            <a:off x="4791456" y="3182112"/>
            <a:ext cx="118872" cy="118872"/>
          </a:xfrm>
          <a:prstGeom prst="ellipse">
            <a:avLst/>
          </a:prstGeom>
          <a:solidFill>
            <a:srgbClr val="00A86A"/>
          </a:solidFill>
          <a:ln/>
        </p:spPr>
      </p:sp>
      <p:sp>
        <p:nvSpPr>
          <p:cNvPr id="85" name="Shape 78"/>
          <p:cNvSpPr/>
          <p:nvPr/>
        </p:nvSpPr>
        <p:spPr>
          <a:xfrm>
            <a:off x="4956048" y="3182112"/>
            <a:ext cx="118872" cy="118872"/>
          </a:xfrm>
          <a:prstGeom prst="ellipse">
            <a:avLst/>
          </a:prstGeom>
          <a:solidFill>
            <a:srgbClr val="D5DED9"/>
          </a:solidFill>
          <a:ln/>
        </p:spPr>
      </p:sp>
      <p:sp>
        <p:nvSpPr>
          <p:cNvPr id="86" name="Shape 79"/>
          <p:cNvSpPr/>
          <p:nvPr/>
        </p:nvSpPr>
        <p:spPr>
          <a:xfrm>
            <a:off x="5724144" y="3182112"/>
            <a:ext cx="118872" cy="118872"/>
          </a:xfrm>
          <a:prstGeom prst="ellipse">
            <a:avLst/>
          </a:prstGeom>
          <a:solidFill>
            <a:srgbClr val="00A86A"/>
          </a:solidFill>
          <a:ln/>
        </p:spPr>
      </p:sp>
      <p:sp>
        <p:nvSpPr>
          <p:cNvPr id="87" name="Shape 80"/>
          <p:cNvSpPr/>
          <p:nvPr/>
        </p:nvSpPr>
        <p:spPr>
          <a:xfrm>
            <a:off x="5888736" y="3182112"/>
            <a:ext cx="118872" cy="118872"/>
          </a:xfrm>
          <a:prstGeom prst="ellipse">
            <a:avLst/>
          </a:prstGeom>
          <a:solidFill>
            <a:srgbClr val="D5DED9"/>
          </a:solidFill>
          <a:ln/>
        </p:spPr>
      </p:sp>
      <p:sp>
        <p:nvSpPr>
          <p:cNvPr id="88" name="Shape 81"/>
          <p:cNvSpPr/>
          <p:nvPr/>
        </p:nvSpPr>
        <p:spPr>
          <a:xfrm>
            <a:off x="6053328" y="3182112"/>
            <a:ext cx="118872" cy="118872"/>
          </a:xfrm>
          <a:prstGeom prst="ellipse">
            <a:avLst/>
          </a:prstGeom>
          <a:solidFill>
            <a:srgbClr val="D5DED9"/>
          </a:solidFill>
          <a:ln/>
        </p:spPr>
      </p:sp>
      <p:sp>
        <p:nvSpPr>
          <p:cNvPr id="89" name="Shape 82"/>
          <p:cNvSpPr/>
          <p:nvPr/>
        </p:nvSpPr>
        <p:spPr>
          <a:xfrm>
            <a:off x="6821424" y="3182112"/>
            <a:ext cx="118872" cy="118872"/>
          </a:xfrm>
          <a:prstGeom prst="ellipse">
            <a:avLst/>
          </a:prstGeom>
          <a:solidFill>
            <a:srgbClr val="00A86A"/>
          </a:solidFill>
          <a:ln/>
        </p:spPr>
      </p:sp>
      <p:sp>
        <p:nvSpPr>
          <p:cNvPr id="90" name="Shape 83"/>
          <p:cNvSpPr/>
          <p:nvPr/>
        </p:nvSpPr>
        <p:spPr>
          <a:xfrm>
            <a:off x="6986016" y="3182112"/>
            <a:ext cx="118872" cy="118872"/>
          </a:xfrm>
          <a:prstGeom prst="ellipse">
            <a:avLst/>
          </a:prstGeom>
          <a:solidFill>
            <a:srgbClr val="00A86A"/>
          </a:solidFill>
          <a:ln/>
        </p:spPr>
      </p:sp>
      <p:sp>
        <p:nvSpPr>
          <p:cNvPr id="91" name="Shape 84"/>
          <p:cNvSpPr/>
          <p:nvPr/>
        </p:nvSpPr>
        <p:spPr>
          <a:xfrm>
            <a:off x="7150608" y="3182112"/>
            <a:ext cx="118872" cy="118872"/>
          </a:xfrm>
          <a:prstGeom prst="ellipse">
            <a:avLst/>
          </a:prstGeom>
          <a:solidFill>
            <a:srgbClr val="D5DED9"/>
          </a:solidFill>
          <a:ln/>
        </p:spPr>
      </p:sp>
      <p:sp>
        <p:nvSpPr>
          <p:cNvPr id="92" name="Shape 85"/>
          <p:cNvSpPr/>
          <p:nvPr/>
        </p:nvSpPr>
        <p:spPr>
          <a:xfrm>
            <a:off x="7918704" y="3182112"/>
            <a:ext cx="118872" cy="118872"/>
          </a:xfrm>
          <a:prstGeom prst="ellipse">
            <a:avLst/>
          </a:prstGeom>
          <a:solidFill>
            <a:srgbClr val="B83B2E"/>
          </a:solidFill>
          <a:ln/>
        </p:spPr>
      </p:sp>
      <p:sp>
        <p:nvSpPr>
          <p:cNvPr id="93" name="Shape 86"/>
          <p:cNvSpPr/>
          <p:nvPr/>
        </p:nvSpPr>
        <p:spPr>
          <a:xfrm>
            <a:off x="8083296" y="3182112"/>
            <a:ext cx="118872" cy="118872"/>
          </a:xfrm>
          <a:prstGeom prst="ellipse">
            <a:avLst/>
          </a:prstGeom>
          <a:solidFill>
            <a:srgbClr val="B83B2E"/>
          </a:solidFill>
          <a:ln/>
        </p:spPr>
      </p:sp>
      <p:sp>
        <p:nvSpPr>
          <p:cNvPr id="94" name="Shape 87"/>
          <p:cNvSpPr/>
          <p:nvPr/>
        </p:nvSpPr>
        <p:spPr>
          <a:xfrm>
            <a:off x="8247888" y="3182112"/>
            <a:ext cx="118872" cy="118872"/>
          </a:xfrm>
          <a:prstGeom prst="ellipse">
            <a:avLst/>
          </a:prstGeom>
          <a:solidFill>
            <a:srgbClr val="D5DED9"/>
          </a:solidFill>
          <a:ln/>
        </p:spPr>
      </p:sp>
      <p:sp>
        <p:nvSpPr>
          <p:cNvPr id="95" name="Shape 88"/>
          <p:cNvSpPr/>
          <p:nvPr/>
        </p:nvSpPr>
        <p:spPr>
          <a:xfrm>
            <a:off x="457200" y="3493008"/>
            <a:ext cx="8229600" cy="384048"/>
          </a:xfrm>
          <a:prstGeom prst="roundRect">
            <a:avLst>
              <a:gd name="adj" fmla="val 11905"/>
            </a:avLst>
          </a:prstGeom>
          <a:solidFill>
            <a:srgbClr val="F4F7F5"/>
          </a:solidFill>
          <a:ln w="6350">
            <a:solidFill>
              <a:srgbClr val="D5DED9"/>
            </a:solidFill>
            <a:prstDash val="solid"/>
          </a:ln>
        </p:spPr>
      </p:sp>
      <p:pic>
        <p:nvPicPr>
          <p:cNvPr id="96" name="Image 4" descr="preencoded.png">    </p:cNvPr>
          <p:cNvPicPr>
            <a:picLocks noChangeAspect="1"/>
          </p:cNvPicPr>
          <p:nvPr/>
        </p:nvPicPr>
        <p:blipFill>
          <a:blip r:embed="rId5"/>
          <a:stretch>
            <a:fillRect/>
          </a:stretch>
        </p:blipFill>
        <p:spPr>
          <a:xfrm>
            <a:off x="585216" y="3584448"/>
            <a:ext cx="201168" cy="201168"/>
          </a:xfrm>
          <a:prstGeom prst="rect">
            <a:avLst/>
          </a:prstGeom>
        </p:spPr>
      </p:pic>
      <p:sp>
        <p:nvSpPr>
          <p:cNvPr id="97" name="Text 89"/>
          <p:cNvSpPr txBox="1"/>
          <p:nvPr/>
        </p:nvSpPr>
        <p:spPr>
          <a:xfrm>
            <a:off x="896112" y="3493008"/>
            <a:ext cx="2286000" cy="38404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Sensors &amp; IoT</a:t>
            </a:r>
            <a:endParaRPr lang="en-US" sz="1150" dirty="0"/>
          </a:p>
        </p:txBody>
      </p:sp>
      <p:sp>
        <p:nvSpPr>
          <p:cNvPr id="98" name="Shape 90"/>
          <p:cNvSpPr/>
          <p:nvPr/>
        </p:nvSpPr>
        <p:spPr>
          <a:xfrm>
            <a:off x="3529584" y="3630168"/>
            <a:ext cx="118872" cy="118872"/>
          </a:xfrm>
          <a:prstGeom prst="ellipse">
            <a:avLst/>
          </a:prstGeom>
          <a:solidFill>
            <a:srgbClr val="00A86A"/>
          </a:solidFill>
          <a:ln/>
        </p:spPr>
      </p:sp>
      <p:sp>
        <p:nvSpPr>
          <p:cNvPr id="99" name="Shape 91"/>
          <p:cNvSpPr/>
          <p:nvPr/>
        </p:nvSpPr>
        <p:spPr>
          <a:xfrm>
            <a:off x="3694176" y="3630168"/>
            <a:ext cx="118872" cy="118872"/>
          </a:xfrm>
          <a:prstGeom prst="ellipse">
            <a:avLst/>
          </a:prstGeom>
          <a:solidFill>
            <a:srgbClr val="00A86A"/>
          </a:solidFill>
          <a:ln/>
        </p:spPr>
      </p:sp>
      <p:sp>
        <p:nvSpPr>
          <p:cNvPr id="100" name="Shape 92"/>
          <p:cNvSpPr/>
          <p:nvPr/>
        </p:nvSpPr>
        <p:spPr>
          <a:xfrm>
            <a:off x="3858768" y="3630168"/>
            <a:ext cx="118872" cy="118872"/>
          </a:xfrm>
          <a:prstGeom prst="ellipse">
            <a:avLst/>
          </a:prstGeom>
          <a:solidFill>
            <a:srgbClr val="00A86A"/>
          </a:solidFill>
          <a:ln/>
        </p:spPr>
      </p:sp>
      <p:sp>
        <p:nvSpPr>
          <p:cNvPr id="101" name="Shape 93"/>
          <p:cNvSpPr/>
          <p:nvPr/>
        </p:nvSpPr>
        <p:spPr>
          <a:xfrm>
            <a:off x="4626864" y="3630168"/>
            <a:ext cx="118872" cy="118872"/>
          </a:xfrm>
          <a:prstGeom prst="ellipse">
            <a:avLst/>
          </a:prstGeom>
          <a:solidFill>
            <a:srgbClr val="00A86A"/>
          </a:solidFill>
          <a:ln/>
        </p:spPr>
      </p:sp>
      <p:sp>
        <p:nvSpPr>
          <p:cNvPr id="102" name="Shape 94"/>
          <p:cNvSpPr/>
          <p:nvPr/>
        </p:nvSpPr>
        <p:spPr>
          <a:xfrm>
            <a:off x="4791456" y="3630168"/>
            <a:ext cx="118872" cy="118872"/>
          </a:xfrm>
          <a:prstGeom prst="ellipse">
            <a:avLst/>
          </a:prstGeom>
          <a:solidFill>
            <a:srgbClr val="00A86A"/>
          </a:solidFill>
          <a:ln/>
        </p:spPr>
      </p:sp>
      <p:sp>
        <p:nvSpPr>
          <p:cNvPr id="103" name="Shape 95"/>
          <p:cNvSpPr/>
          <p:nvPr/>
        </p:nvSpPr>
        <p:spPr>
          <a:xfrm>
            <a:off x="4956048" y="3630168"/>
            <a:ext cx="118872" cy="118872"/>
          </a:xfrm>
          <a:prstGeom prst="ellipse">
            <a:avLst/>
          </a:prstGeom>
          <a:solidFill>
            <a:srgbClr val="D5DED9"/>
          </a:solidFill>
          <a:ln/>
        </p:spPr>
      </p:sp>
      <p:sp>
        <p:nvSpPr>
          <p:cNvPr id="104" name="Shape 96"/>
          <p:cNvSpPr/>
          <p:nvPr/>
        </p:nvSpPr>
        <p:spPr>
          <a:xfrm>
            <a:off x="5724144" y="3630168"/>
            <a:ext cx="118872" cy="118872"/>
          </a:xfrm>
          <a:prstGeom prst="ellipse">
            <a:avLst/>
          </a:prstGeom>
          <a:solidFill>
            <a:srgbClr val="00A86A"/>
          </a:solidFill>
          <a:ln/>
        </p:spPr>
      </p:sp>
      <p:sp>
        <p:nvSpPr>
          <p:cNvPr id="105" name="Shape 97"/>
          <p:cNvSpPr/>
          <p:nvPr/>
        </p:nvSpPr>
        <p:spPr>
          <a:xfrm>
            <a:off x="5888736" y="3630168"/>
            <a:ext cx="118872" cy="118872"/>
          </a:xfrm>
          <a:prstGeom prst="ellipse">
            <a:avLst/>
          </a:prstGeom>
          <a:solidFill>
            <a:srgbClr val="D5DED9"/>
          </a:solidFill>
          <a:ln/>
        </p:spPr>
      </p:sp>
      <p:sp>
        <p:nvSpPr>
          <p:cNvPr id="106" name="Shape 98"/>
          <p:cNvSpPr/>
          <p:nvPr/>
        </p:nvSpPr>
        <p:spPr>
          <a:xfrm>
            <a:off x="6053328" y="3630168"/>
            <a:ext cx="118872" cy="118872"/>
          </a:xfrm>
          <a:prstGeom prst="ellipse">
            <a:avLst/>
          </a:prstGeom>
          <a:solidFill>
            <a:srgbClr val="D5DED9"/>
          </a:solidFill>
          <a:ln/>
        </p:spPr>
      </p:sp>
      <p:sp>
        <p:nvSpPr>
          <p:cNvPr id="107" name="Shape 99"/>
          <p:cNvSpPr/>
          <p:nvPr/>
        </p:nvSpPr>
        <p:spPr>
          <a:xfrm>
            <a:off x="6821424" y="3630168"/>
            <a:ext cx="118872" cy="118872"/>
          </a:xfrm>
          <a:prstGeom prst="ellipse">
            <a:avLst/>
          </a:prstGeom>
          <a:solidFill>
            <a:srgbClr val="00A86A"/>
          </a:solidFill>
          <a:ln/>
        </p:spPr>
      </p:sp>
      <p:sp>
        <p:nvSpPr>
          <p:cNvPr id="108" name="Shape 100"/>
          <p:cNvSpPr/>
          <p:nvPr/>
        </p:nvSpPr>
        <p:spPr>
          <a:xfrm>
            <a:off x="6986016" y="3630168"/>
            <a:ext cx="118872" cy="118872"/>
          </a:xfrm>
          <a:prstGeom prst="ellipse">
            <a:avLst/>
          </a:prstGeom>
          <a:solidFill>
            <a:srgbClr val="00A86A"/>
          </a:solidFill>
          <a:ln/>
        </p:spPr>
      </p:sp>
      <p:sp>
        <p:nvSpPr>
          <p:cNvPr id="109" name="Shape 101"/>
          <p:cNvSpPr/>
          <p:nvPr/>
        </p:nvSpPr>
        <p:spPr>
          <a:xfrm>
            <a:off x="7150608" y="3630168"/>
            <a:ext cx="118872" cy="118872"/>
          </a:xfrm>
          <a:prstGeom prst="ellipse">
            <a:avLst/>
          </a:prstGeom>
          <a:solidFill>
            <a:srgbClr val="D5DED9"/>
          </a:solidFill>
          <a:ln/>
        </p:spPr>
      </p:sp>
      <p:sp>
        <p:nvSpPr>
          <p:cNvPr id="110" name="Shape 102"/>
          <p:cNvSpPr/>
          <p:nvPr/>
        </p:nvSpPr>
        <p:spPr>
          <a:xfrm>
            <a:off x="7918704" y="3630168"/>
            <a:ext cx="118872" cy="118872"/>
          </a:xfrm>
          <a:prstGeom prst="ellipse">
            <a:avLst/>
          </a:prstGeom>
          <a:solidFill>
            <a:srgbClr val="B83B2E"/>
          </a:solidFill>
          <a:ln/>
        </p:spPr>
      </p:sp>
      <p:sp>
        <p:nvSpPr>
          <p:cNvPr id="111" name="Shape 103"/>
          <p:cNvSpPr/>
          <p:nvPr/>
        </p:nvSpPr>
        <p:spPr>
          <a:xfrm>
            <a:off x="8083296" y="3630168"/>
            <a:ext cx="118872" cy="118872"/>
          </a:xfrm>
          <a:prstGeom prst="ellipse">
            <a:avLst/>
          </a:prstGeom>
          <a:solidFill>
            <a:srgbClr val="B83B2E"/>
          </a:solidFill>
          <a:ln/>
        </p:spPr>
      </p:sp>
      <p:sp>
        <p:nvSpPr>
          <p:cNvPr id="112" name="Shape 104"/>
          <p:cNvSpPr/>
          <p:nvPr/>
        </p:nvSpPr>
        <p:spPr>
          <a:xfrm>
            <a:off x="8247888" y="3630168"/>
            <a:ext cx="118872" cy="118872"/>
          </a:xfrm>
          <a:prstGeom prst="ellipse">
            <a:avLst/>
          </a:prstGeom>
          <a:solidFill>
            <a:srgbClr val="D5DED9"/>
          </a:solidFill>
          <a:ln/>
        </p:spPr>
      </p:sp>
      <p:sp>
        <p:nvSpPr>
          <p:cNvPr id="113" name="Shape 105"/>
          <p:cNvSpPr/>
          <p:nvPr/>
        </p:nvSpPr>
        <p:spPr>
          <a:xfrm>
            <a:off x="457200" y="3941064"/>
            <a:ext cx="8229600" cy="384048"/>
          </a:xfrm>
          <a:prstGeom prst="roundRect">
            <a:avLst>
              <a:gd name="adj" fmla="val 11905"/>
            </a:avLst>
          </a:prstGeom>
          <a:solidFill>
            <a:srgbClr val="FFFFFF"/>
          </a:solidFill>
          <a:ln w="6350">
            <a:solidFill>
              <a:srgbClr val="D5DED9"/>
            </a:solidFill>
            <a:prstDash val="solid"/>
          </a:ln>
        </p:spPr>
      </p:sp>
      <p:pic>
        <p:nvPicPr>
          <p:cNvPr id="114" name="Image 5" descr="preencoded.png">    </p:cNvPr>
          <p:cNvPicPr>
            <a:picLocks noChangeAspect="1"/>
          </p:cNvPicPr>
          <p:nvPr/>
        </p:nvPicPr>
        <p:blipFill>
          <a:blip r:embed="rId6"/>
          <a:stretch>
            <a:fillRect/>
          </a:stretch>
        </p:blipFill>
        <p:spPr>
          <a:xfrm>
            <a:off x="585216" y="4032504"/>
            <a:ext cx="201168" cy="201168"/>
          </a:xfrm>
          <a:prstGeom prst="rect">
            <a:avLst/>
          </a:prstGeom>
        </p:spPr>
      </p:pic>
      <p:sp>
        <p:nvSpPr>
          <p:cNvPr id="115" name="Text 106"/>
          <p:cNvSpPr txBox="1"/>
          <p:nvPr/>
        </p:nvSpPr>
        <p:spPr>
          <a:xfrm>
            <a:off x="896112" y="3941064"/>
            <a:ext cx="2286000" cy="38404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Citizen-generated data</a:t>
            </a:r>
            <a:endParaRPr lang="en-US" sz="1150" dirty="0"/>
          </a:p>
        </p:txBody>
      </p:sp>
      <p:sp>
        <p:nvSpPr>
          <p:cNvPr id="116" name="Shape 107"/>
          <p:cNvSpPr/>
          <p:nvPr/>
        </p:nvSpPr>
        <p:spPr>
          <a:xfrm>
            <a:off x="3529584" y="4078224"/>
            <a:ext cx="118872" cy="118872"/>
          </a:xfrm>
          <a:prstGeom prst="ellipse">
            <a:avLst/>
          </a:prstGeom>
          <a:solidFill>
            <a:srgbClr val="00A86A"/>
          </a:solidFill>
          <a:ln/>
        </p:spPr>
      </p:sp>
      <p:sp>
        <p:nvSpPr>
          <p:cNvPr id="117" name="Shape 108"/>
          <p:cNvSpPr/>
          <p:nvPr/>
        </p:nvSpPr>
        <p:spPr>
          <a:xfrm>
            <a:off x="3694176" y="4078224"/>
            <a:ext cx="118872" cy="118872"/>
          </a:xfrm>
          <a:prstGeom prst="ellipse">
            <a:avLst/>
          </a:prstGeom>
          <a:solidFill>
            <a:srgbClr val="00A86A"/>
          </a:solidFill>
          <a:ln/>
        </p:spPr>
      </p:sp>
      <p:sp>
        <p:nvSpPr>
          <p:cNvPr id="118" name="Shape 109"/>
          <p:cNvSpPr/>
          <p:nvPr/>
        </p:nvSpPr>
        <p:spPr>
          <a:xfrm>
            <a:off x="3858768" y="4078224"/>
            <a:ext cx="118872" cy="118872"/>
          </a:xfrm>
          <a:prstGeom prst="ellipse">
            <a:avLst/>
          </a:prstGeom>
          <a:solidFill>
            <a:srgbClr val="D5DED9"/>
          </a:solidFill>
          <a:ln/>
        </p:spPr>
      </p:sp>
      <p:sp>
        <p:nvSpPr>
          <p:cNvPr id="119" name="Shape 110"/>
          <p:cNvSpPr/>
          <p:nvPr/>
        </p:nvSpPr>
        <p:spPr>
          <a:xfrm>
            <a:off x="4626864" y="4078224"/>
            <a:ext cx="118872" cy="118872"/>
          </a:xfrm>
          <a:prstGeom prst="ellipse">
            <a:avLst/>
          </a:prstGeom>
          <a:solidFill>
            <a:srgbClr val="00A86A"/>
          </a:solidFill>
          <a:ln/>
        </p:spPr>
      </p:sp>
      <p:sp>
        <p:nvSpPr>
          <p:cNvPr id="120" name="Shape 111"/>
          <p:cNvSpPr/>
          <p:nvPr/>
        </p:nvSpPr>
        <p:spPr>
          <a:xfrm>
            <a:off x="4791456" y="4078224"/>
            <a:ext cx="118872" cy="118872"/>
          </a:xfrm>
          <a:prstGeom prst="ellipse">
            <a:avLst/>
          </a:prstGeom>
          <a:solidFill>
            <a:srgbClr val="00A86A"/>
          </a:solidFill>
          <a:ln/>
        </p:spPr>
      </p:sp>
      <p:sp>
        <p:nvSpPr>
          <p:cNvPr id="121" name="Shape 112"/>
          <p:cNvSpPr/>
          <p:nvPr/>
        </p:nvSpPr>
        <p:spPr>
          <a:xfrm>
            <a:off x="4956048" y="4078224"/>
            <a:ext cx="118872" cy="118872"/>
          </a:xfrm>
          <a:prstGeom prst="ellipse">
            <a:avLst/>
          </a:prstGeom>
          <a:solidFill>
            <a:srgbClr val="00A86A"/>
          </a:solidFill>
          <a:ln/>
        </p:spPr>
      </p:sp>
      <p:sp>
        <p:nvSpPr>
          <p:cNvPr id="122" name="Shape 113"/>
          <p:cNvSpPr/>
          <p:nvPr/>
        </p:nvSpPr>
        <p:spPr>
          <a:xfrm>
            <a:off x="5724144" y="4078224"/>
            <a:ext cx="118872" cy="118872"/>
          </a:xfrm>
          <a:prstGeom prst="ellipse">
            <a:avLst/>
          </a:prstGeom>
          <a:solidFill>
            <a:srgbClr val="00A86A"/>
          </a:solidFill>
          <a:ln/>
        </p:spPr>
      </p:sp>
      <p:sp>
        <p:nvSpPr>
          <p:cNvPr id="123" name="Shape 114"/>
          <p:cNvSpPr/>
          <p:nvPr/>
        </p:nvSpPr>
        <p:spPr>
          <a:xfrm>
            <a:off x="5888736" y="4078224"/>
            <a:ext cx="118872" cy="118872"/>
          </a:xfrm>
          <a:prstGeom prst="ellipse">
            <a:avLst/>
          </a:prstGeom>
          <a:solidFill>
            <a:srgbClr val="D5DED9"/>
          </a:solidFill>
          <a:ln/>
        </p:spPr>
      </p:sp>
      <p:sp>
        <p:nvSpPr>
          <p:cNvPr id="124" name="Shape 115"/>
          <p:cNvSpPr/>
          <p:nvPr/>
        </p:nvSpPr>
        <p:spPr>
          <a:xfrm>
            <a:off x="6053328" y="4078224"/>
            <a:ext cx="118872" cy="118872"/>
          </a:xfrm>
          <a:prstGeom prst="ellipse">
            <a:avLst/>
          </a:prstGeom>
          <a:solidFill>
            <a:srgbClr val="D5DED9"/>
          </a:solidFill>
          <a:ln/>
        </p:spPr>
      </p:sp>
      <p:sp>
        <p:nvSpPr>
          <p:cNvPr id="125" name="Shape 116"/>
          <p:cNvSpPr/>
          <p:nvPr/>
        </p:nvSpPr>
        <p:spPr>
          <a:xfrm>
            <a:off x="6821424" y="4078224"/>
            <a:ext cx="118872" cy="118872"/>
          </a:xfrm>
          <a:prstGeom prst="ellipse">
            <a:avLst/>
          </a:prstGeom>
          <a:solidFill>
            <a:srgbClr val="00A86A"/>
          </a:solidFill>
          <a:ln/>
        </p:spPr>
      </p:sp>
      <p:sp>
        <p:nvSpPr>
          <p:cNvPr id="126" name="Shape 117"/>
          <p:cNvSpPr/>
          <p:nvPr/>
        </p:nvSpPr>
        <p:spPr>
          <a:xfrm>
            <a:off x="6986016" y="4078224"/>
            <a:ext cx="118872" cy="118872"/>
          </a:xfrm>
          <a:prstGeom prst="ellipse">
            <a:avLst/>
          </a:prstGeom>
          <a:solidFill>
            <a:srgbClr val="00A86A"/>
          </a:solidFill>
          <a:ln/>
        </p:spPr>
      </p:sp>
      <p:sp>
        <p:nvSpPr>
          <p:cNvPr id="127" name="Shape 118"/>
          <p:cNvSpPr/>
          <p:nvPr/>
        </p:nvSpPr>
        <p:spPr>
          <a:xfrm>
            <a:off x="7150608" y="4078224"/>
            <a:ext cx="118872" cy="118872"/>
          </a:xfrm>
          <a:prstGeom prst="ellipse">
            <a:avLst/>
          </a:prstGeom>
          <a:solidFill>
            <a:srgbClr val="D5DED9"/>
          </a:solidFill>
          <a:ln/>
        </p:spPr>
      </p:sp>
      <p:sp>
        <p:nvSpPr>
          <p:cNvPr id="128" name="Shape 119"/>
          <p:cNvSpPr/>
          <p:nvPr/>
        </p:nvSpPr>
        <p:spPr>
          <a:xfrm>
            <a:off x="7918704" y="4078224"/>
            <a:ext cx="118872" cy="118872"/>
          </a:xfrm>
          <a:prstGeom prst="ellipse">
            <a:avLst/>
          </a:prstGeom>
          <a:solidFill>
            <a:srgbClr val="B83B2E"/>
          </a:solidFill>
          <a:ln/>
        </p:spPr>
      </p:sp>
      <p:sp>
        <p:nvSpPr>
          <p:cNvPr id="129" name="Shape 120"/>
          <p:cNvSpPr/>
          <p:nvPr/>
        </p:nvSpPr>
        <p:spPr>
          <a:xfrm>
            <a:off x="8083296" y="4078224"/>
            <a:ext cx="118872" cy="118872"/>
          </a:xfrm>
          <a:prstGeom prst="ellipse">
            <a:avLst/>
          </a:prstGeom>
          <a:solidFill>
            <a:srgbClr val="B83B2E"/>
          </a:solidFill>
          <a:ln/>
        </p:spPr>
      </p:sp>
      <p:sp>
        <p:nvSpPr>
          <p:cNvPr id="130" name="Shape 121"/>
          <p:cNvSpPr/>
          <p:nvPr/>
        </p:nvSpPr>
        <p:spPr>
          <a:xfrm>
            <a:off x="8247888" y="4078224"/>
            <a:ext cx="118872" cy="118872"/>
          </a:xfrm>
          <a:prstGeom prst="ellipse">
            <a:avLst/>
          </a:prstGeom>
          <a:solidFill>
            <a:srgbClr val="D5DED9"/>
          </a:solidFill>
          <a:ln/>
        </p:spPr>
      </p:sp>
      <p:sp>
        <p:nvSpPr>
          <p:cNvPr id="131" name="Text 122"/>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Indicative, author's assessment for teaching purposes: ●●● = high, ●○○ = low. Coverage refers to the share of the population the source typically reflects.</a:t>
            </a:r>
            <a:endParaRPr lang="en-US" sz="8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3 OF 6</a:t>
            </a:r>
            <a:endParaRPr lang="en-US" sz="1100" dirty="0"/>
          </a:p>
        </p:txBody>
      </p:sp>
      <p:sp>
        <p:nvSpPr>
          <p:cNvPr id="4" name="Text 1"/>
          <p:cNvSpPr txBox="1"/>
          <p:nvPr/>
        </p:nvSpPr>
        <p:spPr>
          <a:xfrm>
            <a:off x="502920" y="91440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2"/>
          <p:cNvSpPr txBox="1"/>
          <p:nvPr/>
        </p:nvSpPr>
        <p:spPr>
          <a:xfrm>
            <a:off x="548640" y="233172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Quality &amp; bias</a:t>
            </a:r>
            <a:endParaRPr lang="en-US" sz="3600" dirty="0"/>
          </a:p>
        </p:txBody>
      </p:sp>
      <p:sp>
        <p:nvSpPr>
          <p:cNvPr id="6" name="Text 3"/>
          <p:cNvSpPr txBox="1"/>
          <p:nvPr/>
        </p:nvSpPr>
        <p:spPr>
          <a:xfrm>
            <a:off x="548640" y="3108960"/>
            <a:ext cx="475488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If a source has ten million records, why can it still be wrong about everyone?</a:t>
            </a:r>
            <a:endParaRPr lang="en-US" sz="1800" dirty="0"/>
          </a:p>
        </p:txBody>
      </p:sp>
      <p:sp>
        <p:nvSpPr>
          <p:cNvPr id="7" name="Shape 4"/>
          <p:cNvSpPr/>
          <p:nvPr/>
        </p:nvSpPr>
        <p:spPr>
          <a:xfrm>
            <a:off x="566928" y="4343400"/>
            <a:ext cx="100584" cy="100584"/>
          </a:xfrm>
          <a:prstGeom prst="ellipse">
            <a:avLst/>
          </a:prstGeom>
          <a:solidFill>
            <a:srgbClr val="FFFFFF">
              <a:alpha val="35000"/>
            </a:srgbClr>
          </a:solidFill>
          <a:ln/>
        </p:spPr>
      </p:sp>
      <p:sp>
        <p:nvSpPr>
          <p:cNvPr id="8" name="Shape 5"/>
          <p:cNvSpPr/>
          <p:nvPr/>
        </p:nvSpPr>
        <p:spPr>
          <a:xfrm>
            <a:off x="749808" y="4343400"/>
            <a:ext cx="100584" cy="100584"/>
          </a:xfrm>
          <a:prstGeom prst="ellipse">
            <a:avLst/>
          </a:prstGeom>
          <a:solidFill>
            <a:srgbClr val="FFFFFF">
              <a:alpha val="35000"/>
            </a:srgbClr>
          </a:solidFill>
          <a:ln/>
        </p:spPr>
      </p:sp>
      <p:sp>
        <p:nvSpPr>
          <p:cNvPr id="9" name="Shape 6"/>
          <p:cNvSpPr/>
          <p:nvPr/>
        </p:nvSpPr>
        <p:spPr>
          <a:xfrm>
            <a:off x="932688" y="4343400"/>
            <a:ext cx="100584" cy="100584"/>
          </a:xfrm>
          <a:prstGeom prst="ellipse">
            <a:avLst/>
          </a:prstGeom>
          <a:solidFill>
            <a:srgbClr val="F5C242"/>
          </a:solidFill>
          <a:ln/>
        </p:spPr>
      </p:sp>
      <p:sp>
        <p:nvSpPr>
          <p:cNvPr id="10" name="Shape 7"/>
          <p:cNvSpPr/>
          <p:nvPr/>
        </p:nvSpPr>
        <p:spPr>
          <a:xfrm>
            <a:off x="1115568" y="4343400"/>
            <a:ext cx="100584" cy="100584"/>
          </a:xfrm>
          <a:prstGeom prst="ellipse">
            <a:avLst/>
          </a:prstGeom>
          <a:solidFill>
            <a:srgbClr val="FFFFFF">
              <a:alpha val="35000"/>
            </a:srgbClr>
          </a:solidFill>
          <a:ln/>
        </p:spPr>
      </p:sp>
      <p:sp>
        <p:nvSpPr>
          <p:cNvPr id="11" name="Shape 8"/>
          <p:cNvSpPr/>
          <p:nvPr/>
        </p:nvSpPr>
        <p:spPr>
          <a:xfrm>
            <a:off x="1298448" y="4343400"/>
            <a:ext cx="100584" cy="100584"/>
          </a:xfrm>
          <a:prstGeom prst="ellipse">
            <a:avLst/>
          </a:prstGeom>
          <a:solidFill>
            <a:srgbClr val="FFFFFF">
              <a:alpha val="35000"/>
            </a:srgbClr>
          </a:solidFill>
          <a:ln/>
        </p:spPr>
      </p:sp>
      <p:sp>
        <p:nvSpPr>
          <p:cNvPr id="12" name="Shape 9"/>
          <p:cNvSpPr/>
          <p:nvPr/>
        </p:nvSpPr>
        <p:spPr>
          <a:xfrm>
            <a:off x="1481328" y="4343400"/>
            <a:ext cx="100584" cy="100584"/>
          </a:xfrm>
          <a:prstGeom prst="ellipse">
            <a:avLst/>
          </a:prstGeom>
          <a:solidFill>
            <a:srgbClr val="FFFFFF">
              <a:alpha val="35000"/>
            </a:srgbClr>
          </a:solidFill>
          <a:ln/>
        </p:spPr>
      </p:sp>
      <p:sp>
        <p:nvSpPr>
          <p:cNvPr id="13" name="Shape 10"/>
          <p:cNvSpPr/>
          <p:nvPr/>
        </p:nvSpPr>
        <p:spPr>
          <a:xfrm>
            <a:off x="5989320" y="1143000"/>
            <a:ext cx="2651760" cy="2651760"/>
          </a:xfrm>
          <a:prstGeom prst="ellipse">
            <a:avLst/>
          </a:prstGeom>
          <a:solidFill>
            <a:srgbClr val="FFFFFF">
              <a:alpha val="12000"/>
            </a:srgbClr>
          </a:solidFill>
          <a:ln/>
        </p:spPr>
      </p:sp>
      <p:sp>
        <p:nvSpPr>
          <p:cNvPr id="14" name="Shape 11"/>
          <p:cNvSpPr/>
          <p:nvPr/>
        </p:nvSpPr>
        <p:spPr>
          <a:xfrm>
            <a:off x="6355080" y="1508760"/>
            <a:ext cx="1920240" cy="1920240"/>
          </a:xfrm>
          <a:prstGeom prst="ellipse">
            <a:avLst/>
          </a:prstGeom>
          <a:solidFill>
            <a:srgbClr val="FFFFFF">
              <a:alpha val="20000"/>
            </a:srgbClr>
          </a:solidFill>
          <a:ln/>
        </p:spPr>
      </p:sp>
      <p:sp>
        <p:nvSpPr>
          <p:cNvPr id="15" name="Shape 12"/>
          <p:cNvSpPr/>
          <p:nvPr/>
        </p:nvSpPr>
        <p:spPr>
          <a:xfrm>
            <a:off x="6675120" y="1828800"/>
            <a:ext cx="1280160" cy="1280160"/>
          </a:xfrm>
          <a:prstGeom prst="ellipse">
            <a:avLst/>
          </a:prstGeom>
          <a:solidFill>
            <a:srgbClr val="FFFFFF"/>
          </a:solidFill>
          <a:ln/>
        </p:spPr>
      </p:sp>
      <p:pic>
        <p:nvPicPr>
          <p:cNvPr id="16" name="Image 0" descr="preencoded.png">    </p:cNvPr>
          <p:cNvPicPr>
            <a:picLocks noChangeAspect="1"/>
          </p:cNvPicPr>
          <p:nvPr/>
        </p:nvPicPr>
        <p:blipFill>
          <a:blip r:embed="rId2"/>
          <a:stretch>
            <a:fillRect/>
          </a:stretch>
        </p:blipFill>
        <p:spPr>
          <a:xfrm>
            <a:off x="6995160" y="2148840"/>
            <a:ext cx="640080" cy="640080"/>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QUALITY &amp; BIAS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Extending quality frameworks to found data</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UNECE proposes three "hyperdimensions", assessed at the input, throughput and output phases.</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0E7C86"/>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8" name="Shape 15"/>
          <p:cNvSpPr/>
          <p:nvPr/>
        </p:nvSpPr>
        <p:spPr>
          <a:xfrm>
            <a:off x="457200" y="1417320"/>
            <a:ext cx="2011680" cy="2468880"/>
          </a:xfrm>
          <a:prstGeom prst="roundRect">
            <a:avLst>
              <a:gd name="adj" fmla="val 3636"/>
            </a:avLst>
          </a:prstGeom>
          <a:solidFill>
            <a:srgbClr val="F4F7F5"/>
          </a:solidFill>
          <a:ln w="9525">
            <a:solidFill>
              <a:srgbClr val="D5DED9"/>
            </a:solidFill>
            <a:prstDash val="solid"/>
          </a:ln>
        </p:spPr>
      </p:sp>
      <p:sp>
        <p:nvSpPr>
          <p:cNvPr id="19" name="Shape 16"/>
          <p:cNvSpPr/>
          <p:nvPr/>
        </p:nvSpPr>
        <p:spPr>
          <a:xfrm>
            <a:off x="466344" y="1426464"/>
            <a:ext cx="1993392" cy="18288"/>
          </a:xfrm>
          <a:prstGeom prst="rect">
            <a:avLst/>
          </a:prstGeom>
          <a:solidFill>
            <a:srgbClr val="F4F7F5"/>
          </a:solidFill>
          <a:ln/>
        </p:spPr>
      </p:sp>
      <p:sp>
        <p:nvSpPr>
          <p:cNvPr id="20" name="Shape 17"/>
          <p:cNvSpPr/>
          <p:nvPr/>
        </p:nvSpPr>
        <p:spPr>
          <a:xfrm>
            <a:off x="1188720" y="1554480"/>
            <a:ext cx="548640" cy="548640"/>
          </a:xfrm>
          <a:prstGeom prst="ellipse">
            <a:avLst/>
          </a:prstGeom>
          <a:solidFill>
            <a:srgbClr val="0E7C86">
              <a:alpha val="22000"/>
            </a:srgbClr>
          </a:solidFill>
          <a:ln/>
        </p:spPr>
      </p:sp>
      <p:pic>
        <p:nvPicPr>
          <p:cNvPr id="21" name="Image 0" descr="preencoded.png">    </p:cNvPr>
          <p:cNvPicPr>
            <a:picLocks noChangeAspect="1"/>
          </p:cNvPicPr>
          <p:nvPr/>
        </p:nvPicPr>
        <p:blipFill>
          <a:blip r:embed="rId1"/>
          <a:stretch>
            <a:fillRect/>
          </a:stretch>
        </p:blipFill>
        <p:spPr>
          <a:xfrm>
            <a:off x="1325880" y="1691640"/>
            <a:ext cx="274320" cy="274320"/>
          </a:xfrm>
          <a:prstGeom prst="rect">
            <a:avLst/>
          </a:prstGeom>
        </p:spPr>
      </p:pic>
      <p:sp>
        <p:nvSpPr>
          <p:cNvPr id="22" name="Text 18"/>
          <p:cNvSpPr txBox="1"/>
          <p:nvPr/>
        </p:nvSpPr>
        <p:spPr>
          <a:xfrm>
            <a:off x="457200" y="2176272"/>
            <a:ext cx="2011680" cy="256032"/>
          </a:xfrm>
          <a:prstGeom prst="rect">
            <a:avLst/>
          </a:prstGeom>
          <a:noFill/>
          <a:ln/>
        </p:spPr>
        <p:txBody>
          <a:bodyPr wrap="square" lIns="0" tIns="0" rIns="0" bIns="0" rtlCol="0" anchor="t"/>
          <a:lstStyle/>
          <a:p>
            <a:pPr algn="ctr" indent="0" marL="0">
              <a:buNone/>
            </a:pPr>
            <a:r>
              <a:rPr lang="en-US" sz="1400" b="1" spc="200" kern="0" dirty="0">
                <a:solidFill>
                  <a:srgbClr val="0E7C86"/>
                </a:solidFill>
                <a:latin typeface="Calibri" pitchFamily="34" charset="0"/>
                <a:ea typeface="Calibri" pitchFamily="34" charset="-122"/>
                <a:cs typeface="Calibri" pitchFamily="34" charset="-120"/>
              </a:rPr>
              <a:t>SOURCE</a:t>
            </a:r>
            <a:endParaRPr lang="en-US" sz="1400" dirty="0"/>
          </a:p>
        </p:txBody>
      </p:sp>
      <p:sp>
        <p:nvSpPr>
          <p:cNvPr id="23" name="Text 19"/>
          <p:cNvSpPr txBox="1"/>
          <p:nvPr/>
        </p:nvSpPr>
        <p:spPr>
          <a:xfrm>
            <a:off x="548640" y="2432304"/>
            <a:ext cx="1828800" cy="256032"/>
          </a:xfrm>
          <a:prstGeom prst="rect">
            <a:avLst/>
          </a:prstGeom>
          <a:noFill/>
          <a:ln/>
        </p:spPr>
        <p:txBody>
          <a:bodyPr wrap="square" lIns="0" tIns="0" rIns="0" bIns="0" rtlCol="0" anchor="t"/>
          <a:lstStyle/>
          <a:p>
            <a:pPr algn="ctr" indent="0" marL="0">
              <a:buNone/>
            </a:pPr>
            <a:r>
              <a:rPr lang="en-US" sz="1000" i="1" dirty="0">
                <a:solidFill>
                  <a:srgbClr val="5E6964"/>
                </a:solidFill>
                <a:latin typeface="Calibri" pitchFamily="34" charset="0"/>
                <a:ea typeface="Calibri" pitchFamily="34" charset="-122"/>
                <a:cs typeface="Calibri" pitchFamily="34" charset="-120"/>
              </a:rPr>
              <a:t>The provider and its environment</a:t>
            </a:r>
            <a:endParaRPr lang="en-US" sz="1000" dirty="0"/>
          </a:p>
        </p:txBody>
      </p:sp>
      <p:sp>
        <p:nvSpPr>
          <p:cNvPr id="24" name="Text 20"/>
          <p:cNvSpPr txBox="1"/>
          <p:nvPr/>
        </p:nvSpPr>
        <p:spPr>
          <a:xfrm>
            <a:off x="594360" y="2743200"/>
            <a:ext cx="1783080" cy="10972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Institutional &amp; business environment</a:t>
            </a:r>
            <a:endParaRPr lang="en-US" sz="1050" dirty="0"/>
          </a:p>
          <a:p>
            <a:pPr marL="152400" indent="-1524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Privacy and security</a:t>
            </a:r>
            <a:endParaRPr lang="en-US" sz="1050" dirty="0"/>
          </a:p>
        </p:txBody>
      </p:sp>
      <p:sp>
        <p:nvSpPr>
          <p:cNvPr id="25" name="Shape 21"/>
          <p:cNvSpPr/>
          <p:nvPr/>
        </p:nvSpPr>
        <p:spPr>
          <a:xfrm>
            <a:off x="2606040" y="1417320"/>
            <a:ext cx="2011680" cy="2468880"/>
          </a:xfrm>
          <a:prstGeom prst="roundRect">
            <a:avLst>
              <a:gd name="adj" fmla="val 3636"/>
            </a:avLst>
          </a:prstGeom>
          <a:solidFill>
            <a:srgbClr val="F4F7F5"/>
          </a:solidFill>
          <a:ln w="9525">
            <a:solidFill>
              <a:srgbClr val="D5DED9"/>
            </a:solidFill>
            <a:prstDash val="solid"/>
          </a:ln>
        </p:spPr>
      </p:sp>
      <p:sp>
        <p:nvSpPr>
          <p:cNvPr id="26" name="Shape 22"/>
          <p:cNvSpPr/>
          <p:nvPr/>
        </p:nvSpPr>
        <p:spPr>
          <a:xfrm>
            <a:off x="2615184" y="1426464"/>
            <a:ext cx="1993392" cy="18288"/>
          </a:xfrm>
          <a:prstGeom prst="rect">
            <a:avLst/>
          </a:prstGeom>
          <a:solidFill>
            <a:srgbClr val="F4F7F5"/>
          </a:solidFill>
          <a:ln/>
        </p:spPr>
      </p:sp>
      <p:sp>
        <p:nvSpPr>
          <p:cNvPr id="27" name="Shape 23"/>
          <p:cNvSpPr/>
          <p:nvPr/>
        </p:nvSpPr>
        <p:spPr>
          <a:xfrm>
            <a:off x="3337560" y="1554480"/>
            <a:ext cx="548640" cy="548640"/>
          </a:xfrm>
          <a:prstGeom prst="ellipse">
            <a:avLst/>
          </a:prstGeom>
          <a:solidFill>
            <a:srgbClr val="00704A">
              <a:alpha val="22000"/>
            </a:srgbClr>
          </a:solidFill>
          <a:ln/>
        </p:spPr>
      </p:sp>
      <p:pic>
        <p:nvPicPr>
          <p:cNvPr id="28" name="Image 1" descr="preencoded.png">    </p:cNvPr>
          <p:cNvPicPr>
            <a:picLocks noChangeAspect="1"/>
          </p:cNvPicPr>
          <p:nvPr/>
        </p:nvPicPr>
        <p:blipFill>
          <a:blip r:embed="rId2"/>
          <a:stretch>
            <a:fillRect/>
          </a:stretch>
        </p:blipFill>
        <p:spPr>
          <a:xfrm>
            <a:off x="3474720" y="1691640"/>
            <a:ext cx="274320" cy="274320"/>
          </a:xfrm>
          <a:prstGeom prst="rect">
            <a:avLst/>
          </a:prstGeom>
        </p:spPr>
      </p:pic>
      <p:sp>
        <p:nvSpPr>
          <p:cNvPr id="29" name="Text 24"/>
          <p:cNvSpPr txBox="1"/>
          <p:nvPr/>
        </p:nvSpPr>
        <p:spPr>
          <a:xfrm>
            <a:off x="2606040" y="2176272"/>
            <a:ext cx="2011680" cy="256032"/>
          </a:xfrm>
          <a:prstGeom prst="rect">
            <a:avLst/>
          </a:prstGeom>
          <a:noFill/>
          <a:ln/>
        </p:spPr>
        <p:txBody>
          <a:bodyPr wrap="square" lIns="0" tIns="0" rIns="0" bIns="0" rtlCol="0" anchor="t"/>
          <a:lstStyle/>
          <a:p>
            <a:pPr algn="ctr" indent="0" marL="0">
              <a:buNone/>
            </a:pPr>
            <a:r>
              <a:rPr lang="en-US" sz="1400" b="1" spc="200" kern="0" dirty="0">
                <a:solidFill>
                  <a:srgbClr val="00704A"/>
                </a:solidFill>
                <a:latin typeface="Calibri" pitchFamily="34" charset="0"/>
                <a:ea typeface="Calibri" pitchFamily="34" charset="-122"/>
                <a:cs typeface="Calibri" pitchFamily="34" charset="-120"/>
              </a:rPr>
              <a:t>METADATA</a:t>
            </a:r>
            <a:endParaRPr lang="en-US" sz="1400" dirty="0"/>
          </a:p>
        </p:txBody>
      </p:sp>
      <p:sp>
        <p:nvSpPr>
          <p:cNvPr id="30" name="Text 25"/>
          <p:cNvSpPr txBox="1"/>
          <p:nvPr/>
        </p:nvSpPr>
        <p:spPr>
          <a:xfrm>
            <a:off x="2697480" y="2432304"/>
            <a:ext cx="1828800" cy="256032"/>
          </a:xfrm>
          <a:prstGeom prst="rect">
            <a:avLst/>
          </a:prstGeom>
          <a:noFill/>
          <a:ln/>
        </p:spPr>
        <p:txBody>
          <a:bodyPr wrap="square" lIns="0" tIns="0" rIns="0" bIns="0" rtlCol="0" anchor="t"/>
          <a:lstStyle/>
          <a:p>
            <a:pPr algn="ctr" indent="0" marL="0">
              <a:buNone/>
            </a:pPr>
            <a:r>
              <a:rPr lang="en-US" sz="1000" i="1" dirty="0">
                <a:solidFill>
                  <a:srgbClr val="5E6964"/>
                </a:solidFill>
                <a:latin typeface="Calibri" pitchFamily="34" charset="0"/>
                <a:ea typeface="Calibri" pitchFamily="34" charset="-122"/>
                <a:cs typeface="Calibri" pitchFamily="34" charset="-120"/>
              </a:rPr>
              <a:t>What we know about the data</a:t>
            </a:r>
            <a:endParaRPr lang="en-US" sz="1000" dirty="0"/>
          </a:p>
        </p:txBody>
      </p:sp>
      <p:sp>
        <p:nvSpPr>
          <p:cNvPr id="31" name="Text 26"/>
          <p:cNvSpPr txBox="1"/>
          <p:nvPr/>
        </p:nvSpPr>
        <p:spPr>
          <a:xfrm>
            <a:off x="2743200" y="2743200"/>
            <a:ext cx="1783080" cy="10972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Complexity and completeness</a:t>
            </a:r>
            <a:endParaRPr lang="en-US" sz="1050" dirty="0"/>
          </a:p>
          <a:p>
            <a:pPr marL="152400" indent="-1524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Usability and linkability</a:t>
            </a:r>
            <a:endParaRPr lang="en-US" sz="1050" dirty="0"/>
          </a:p>
          <a:p>
            <a:pPr marL="152400" indent="-1524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Time-related factors</a:t>
            </a:r>
            <a:endParaRPr lang="en-US" sz="1050" dirty="0"/>
          </a:p>
        </p:txBody>
      </p:sp>
      <p:sp>
        <p:nvSpPr>
          <p:cNvPr id="32" name="Shape 27"/>
          <p:cNvSpPr/>
          <p:nvPr/>
        </p:nvSpPr>
        <p:spPr>
          <a:xfrm>
            <a:off x="4754880" y="1417320"/>
            <a:ext cx="2011680" cy="2468880"/>
          </a:xfrm>
          <a:prstGeom prst="roundRect">
            <a:avLst>
              <a:gd name="adj" fmla="val 3636"/>
            </a:avLst>
          </a:prstGeom>
          <a:solidFill>
            <a:srgbClr val="F4F7F5"/>
          </a:solidFill>
          <a:ln w="9525">
            <a:solidFill>
              <a:srgbClr val="D5DED9"/>
            </a:solidFill>
            <a:prstDash val="solid"/>
          </a:ln>
        </p:spPr>
      </p:sp>
      <p:sp>
        <p:nvSpPr>
          <p:cNvPr id="33" name="Shape 28"/>
          <p:cNvSpPr/>
          <p:nvPr/>
        </p:nvSpPr>
        <p:spPr>
          <a:xfrm>
            <a:off x="4764024" y="1426464"/>
            <a:ext cx="1993392" cy="18288"/>
          </a:xfrm>
          <a:prstGeom prst="rect">
            <a:avLst/>
          </a:prstGeom>
          <a:solidFill>
            <a:srgbClr val="F4F7F5"/>
          </a:solidFill>
          <a:ln/>
        </p:spPr>
      </p:sp>
      <p:sp>
        <p:nvSpPr>
          <p:cNvPr id="34" name="Shape 29"/>
          <p:cNvSpPr/>
          <p:nvPr/>
        </p:nvSpPr>
        <p:spPr>
          <a:xfrm>
            <a:off x="5486400" y="1554480"/>
            <a:ext cx="548640" cy="548640"/>
          </a:xfrm>
          <a:prstGeom prst="ellipse">
            <a:avLst/>
          </a:prstGeom>
          <a:solidFill>
            <a:srgbClr val="00A86A">
              <a:alpha val="22000"/>
            </a:srgbClr>
          </a:solidFill>
          <a:ln/>
        </p:spPr>
      </p:sp>
      <p:pic>
        <p:nvPicPr>
          <p:cNvPr id="35" name="Image 2" descr="preencoded.png">    </p:cNvPr>
          <p:cNvPicPr>
            <a:picLocks noChangeAspect="1"/>
          </p:cNvPicPr>
          <p:nvPr/>
        </p:nvPicPr>
        <p:blipFill>
          <a:blip r:embed="rId3"/>
          <a:stretch>
            <a:fillRect/>
          </a:stretch>
        </p:blipFill>
        <p:spPr>
          <a:xfrm>
            <a:off x="5623560" y="1691640"/>
            <a:ext cx="274320" cy="274320"/>
          </a:xfrm>
          <a:prstGeom prst="rect">
            <a:avLst/>
          </a:prstGeom>
        </p:spPr>
      </p:pic>
      <p:sp>
        <p:nvSpPr>
          <p:cNvPr id="36" name="Text 30"/>
          <p:cNvSpPr txBox="1"/>
          <p:nvPr/>
        </p:nvSpPr>
        <p:spPr>
          <a:xfrm>
            <a:off x="4754880" y="2176272"/>
            <a:ext cx="2011680" cy="256032"/>
          </a:xfrm>
          <a:prstGeom prst="rect">
            <a:avLst/>
          </a:prstGeom>
          <a:noFill/>
          <a:ln/>
        </p:spPr>
        <p:txBody>
          <a:bodyPr wrap="square" lIns="0" tIns="0" rIns="0" bIns="0" rtlCol="0" anchor="t"/>
          <a:lstStyle/>
          <a:p>
            <a:pPr algn="ctr" indent="0" marL="0">
              <a:buNone/>
            </a:pPr>
            <a:r>
              <a:rPr lang="en-US" sz="1400" b="1" spc="200" kern="0" dirty="0">
                <a:solidFill>
                  <a:srgbClr val="00A86A"/>
                </a:solidFill>
                <a:latin typeface="Calibri" pitchFamily="34" charset="0"/>
                <a:ea typeface="Calibri" pitchFamily="34" charset="-122"/>
                <a:cs typeface="Calibri" pitchFamily="34" charset="-120"/>
              </a:rPr>
              <a:t>DATA</a:t>
            </a:r>
            <a:endParaRPr lang="en-US" sz="1400" dirty="0"/>
          </a:p>
        </p:txBody>
      </p:sp>
      <p:sp>
        <p:nvSpPr>
          <p:cNvPr id="37" name="Text 31"/>
          <p:cNvSpPr txBox="1"/>
          <p:nvPr/>
        </p:nvSpPr>
        <p:spPr>
          <a:xfrm>
            <a:off x="4846320" y="2432304"/>
            <a:ext cx="1828800" cy="256032"/>
          </a:xfrm>
          <a:prstGeom prst="rect">
            <a:avLst/>
          </a:prstGeom>
          <a:noFill/>
          <a:ln/>
        </p:spPr>
        <p:txBody>
          <a:bodyPr wrap="square" lIns="0" tIns="0" rIns="0" bIns="0" rtlCol="0" anchor="t"/>
          <a:lstStyle/>
          <a:p>
            <a:pPr algn="ctr" indent="0" marL="0">
              <a:buNone/>
            </a:pPr>
            <a:r>
              <a:rPr lang="en-US" sz="1000" i="1" dirty="0">
                <a:solidFill>
                  <a:srgbClr val="5E6964"/>
                </a:solidFill>
                <a:latin typeface="Calibri" pitchFamily="34" charset="0"/>
                <a:ea typeface="Calibri" pitchFamily="34" charset="-122"/>
                <a:cs typeface="Calibri" pitchFamily="34" charset="-120"/>
              </a:rPr>
              <a:t>The records themselves</a:t>
            </a:r>
            <a:endParaRPr lang="en-US" sz="1000" dirty="0"/>
          </a:p>
        </p:txBody>
      </p:sp>
      <p:sp>
        <p:nvSpPr>
          <p:cNvPr id="38" name="Text 32"/>
          <p:cNvSpPr txBox="1"/>
          <p:nvPr/>
        </p:nvSpPr>
        <p:spPr>
          <a:xfrm>
            <a:off x="4892040" y="2743200"/>
            <a:ext cx="1783080" cy="10972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Accuracy and selectivity</a:t>
            </a:r>
            <a:endParaRPr lang="en-US" sz="1050" dirty="0"/>
          </a:p>
          <a:p>
            <a:pPr marL="152400" indent="-1524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Coherence and validity</a:t>
            </a:r>
            <a:endParaRPr lang="en-US" sz="1050" dirty="0"/>
          </a:p>
          <a:p>
            <a:pPr marL="152400" indent="-1524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Linkability and timeliness</a:t>
            </a:r>
            <a:endParaRPr lang="en-US" sz="1050" dirty="0"/>
          </a:p>
        </p:txBody>
      </p:sp>
      <p:sp>
        <p:nvSpPr>
          <p:cNvPr id="39" name="Text 33"/>
          <p:cNvSpPr txBox="1"/>
          <p:nvPr/>
        </p:nvSpPr>
        <p:spPr>
          <a:xfrm>
            <a:off x="6995160" y="1417320"/>
            <a:ext cx="1737360" cy="201168"/>
          </a:xfrm>
          <a:prstGeom prst="rect">
            <a:avLst/>
          </a:prstGeom>
          <a:noFill/>
          <a:ln/>
        </p:spPr>
        <p:txBody>
          <a:bodyPr wrap="square" lIns="0" tIns="0" rIns="0" bIns="0" rtlCol="0" anchor="t"/>
          <a:lstStyle/>
          <a:p>
            <a:pPr indent="0" marL="0">
              <a:buNone/>
            </a:pPr>
            <a:r>
              <a:rPr lang="en-US" sz="950" b="1" spc="100" kern="0" dirty="0">
                <a:solidFill>
                  <a:srgbClr val="00704A"/>
                </a:solidFill>
                <a:latin typeface="Calibri" pitchFamily="34" charset="0"/>
                <a:ea typeface="Calibri" pitchFamily="34" charset="-122"/>
                <a:cs typeface="Calibri" pitchFamily="34" charset="-120"/>
              </a:rPr>
              <a:t>ASSESSED AT THREE PHASES</a:t>
            </a:r>
            <a:endParaRPr lang="en-US" sz="950" dirty="0"/>
          </a:p>
        </p:txBody>
      </p:sp>
      <p:sp>
        <p:nvSpPr>
          <p:cNvPr id="40" name="Shape 34"/>
          <p:cNvSpPr/>
          <p:nvPr/>
        </p:nvSpPr>
        <p:spPr>
          <a:xfrm>
            <a:off x="6995160" y="1691640"/>
            <a:ext cx="1691640" cy="621792"/>
          </a:xfrm>
          <a:prstGeom prst="roundRect">
            <a:avLst>
              <a:gd name="adj" fmla="val 8824"/>
            </a:avLst>
          </a:prstGeom>
          <a:solidFill>
            <a:srgbClr val="E8F5EF"/>
          </a:solidFill>
          <a:ln w="12700">
            <a:solidFill>
              <a:srgbClr val="0E7C86"/>
            </a:solidFill>
            <a:prstDash val="solid"/>
          </a:ln>
        </p:spPr>
      </p:sp>
      <p:sp>
        <p:nvSpPr>
          <p:cNvPr id="41" name="Text 35"/>
          <p:cNvSpPr txBox="1"/>
          <p:nvPr/>
        </p:nvSpPr>
        <p:spPr>
          <a:xfrm>
            <a:off x="7086600" y="1737360"/>
            <a:ext cx="1554480" cy="228600"/>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Input</a:t>
            </a:r>
            <a:endParaRPr lang="en-US" sz="1200" dirty="0"/>
          </a:p>
        </p:txBody>
      </p:sp>
      <p:sp>
        <p:nvSpPr>
          <p:cNvPr id="42" name="Text 36"/>
          <p:cNvSpPr txBox="1"/>
          <p:nvPr/>
        </p:nvSpPr>
        <p:spPr>
          <a:xfrm>
            <a:off x="7086600" y="1965960"/>
            <a:ext cx="1554480" cy="32004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Should we accept this source?</a:t>
            </a:r>
            <a:endParaRPr lang="en-US" sz="950" dirty="0"/>
          </a:p>
        </p:txBody>
      </p:sp>
      <p:sp>
        <p:nvSpPr>
          <p:cNvPr id="43" name="Shape 37"/>
          <p:cNvSpPr/>
          <p:nvPr/>
        </p:nvSpPr>
        <p:spPr>
          <a:xfrm>
            <a:off x="7840980" y="2313432"/>
            <a:ext cx="0" cy="128016"/>
          </a:xfrm>
          <a:prstGeom prst="line">
            <a:avLst/>
          </a:prstGeom>
          <a:noFill/>
          <a:ln w="12700">
            <a:solidFill>
              <a:srgbClr val="5E6964"/>
            </a:solidFill>
            <a:prstDash val="solid"/>
            <a:tailEnd type="triangle"/>
          </a:ln>
        </p:spPr>
      </p:sp>
      <p:sp>
        <p:nvSpPr>
          <p:cNvPr id="44" name="Shape 38"/>
          <p:cNvSpPr/>
          <p:nvPr/>
        </p:nvSpPr>
        <p:spPr>
          <a:xfrm>
            <a:off x="6995160" y="2441448"/>
            <a:ext cx="1691640" cy="621792"/>
          </a:xfrm>
          <a:prstGeom prst="roundRect">
            <a:avLst>
              <a:gd name="adj" fmla="val 8824"/>
            </a:avLst>
          </a:prstGeom>
          <a:solidFill>
            <a:srgbClr val="E8F5EF"/>
          </a:solidFill>
          <a:ln w="12700">
            <a:solidFill>
              <a:srgbClr val="0E7C86"/>
            </a:solidFill>
            <a:prstDash val="solid"/>
          </a:ln>
        </p:spPr>
      </p:sp>
      <p:sp>
        <p:nvSpPr>
          <p:cNvPr id="45" name="Text 39"/>
          <p:cNvSpPr txBox="1"/>
          <p:nvPr/>
        </p:nvSpPr>
        <p:spPr>
          <a:xfrm>
            <a:off x="7086600" y="2487168"/>
            <a:ext cx="1554480" cy="228600"/>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Throughput</a:t>
            </a:r>
            <a:endParaRPr lang="en-US" sz="1200" dirty="0"/>
          </a:p>
        </p:txBody>
      </p:sp>
      <p:sp>
        <p:nvSpPr>
          <p:cNvPr id="46" name="Text 40"/>
          <p:cNvSpPr txBox="1"/>
          <p:nvPr/>
        </p:nvSpPr>
        <p:spPr>
          <a:xfrm>
            <a:off x="7086600" y="2715768"/>
            <a:ext cx="1554480" cy="32004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Is processing sound and stable?</a:t>
            </a:r>
            <a:endParaRPr lang="en-US" sz="950" dirty="0"/>
          </a:p>
        </p:txBody>
      </p:sp>
      <p:sp>
        <p:nvSpPr>
          <p:cNvPr id="47" name="Shape 41"/>
          <p:cNvSpPr/>
          <p:nvPr/>
        </p:nvSpPr>
        <p:spPr>
          <a:xfrm>
            <a:off x="7840980" y="3063240"/>
            <a:ext cx="0" cy="128016"/>
          </a:xfrm>
          <a:prstGeom prst="line">
            <a:avLst/>
          </a:prstGeom>
          <a:noFill/>
          <a:ln w="12700">
            <a:solidFill>
              <a:srgbClr val="5E6964"/>
            </a:solidFill>
            <a:prstDash val="solid"/>
            <a:tailEnd type="triangle"/>
          </a:ln>
        </p:spPr>
      </p:sp>
      <p:sp>
        <p:nvSpPr>
          <p:cNvPr id="48" name="Shape 42"/>
          <p:cNvSpPr/>
          <p:nvPr/>
        </p:nvSpPr>
        <p:spPr>
          <a:xfrm>
            <a:off x="6995160" y="3191256"/>
            <a:ext cx="1691640" cy="621792"/>
          </a:xfrm>
          <a:prstGeom prst="roundRect">
            <a:avLst>
              <a:gd name="adj" fmla="val 8824"/>
            </a:avLst>
          </a:prstGeom>
          <a:solidFill>
            <a:srgbClr val="E8F5EF"/>
          </a:solidFill>
          <a:ln w="12700">
            <a:solidFill>
              <a:srgbClr val="0E7C86"/>
            </a:solidFill>
            <a:prstDash val="solid"/>
          </a:ln>
        </p:spPr>
      </p:sp>
      <p:sp>
        <p:nvSpPr>
          <p:cNvPr id="49" name="Text 43"/>
          <p:cNvSpPr txBox="1"/>
          <p:nvPr/>
        </p:nvSpPr>
        <p:spPr>
          <a:xfrm>
            <a:off x="7086600" y="3236976"/>
            <a:ext cx="1554480" cy="228600"/>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Output</a:t>
            </a:r>
            <a:endParaRPr lang="en-US" sz="1200" dirty="0"/>
          </a:p>
        </p:txBody>
      </p:sp>
      <p:sp>
        <p:nvSpPr>
          <p:cNvPr id="50" name="Text 44"/>
          <p:cNvSpPr txBox="1"/>
          <p:nvPr/>
        </p:nvSpPr>
        <p:spPr>
          <a:xfrm>
            <a:off x="7086600" y="3465576"/>
            <a:ext cx="1554480" cy="32004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Is the product fit to publish?</a:t>
            </a:r>
            <a:endParaRPr lang="en-US" sz="950" dirty="0"/>
          </a:p>
        </p:txBody>
      </p:sp>
      <p:sp>
        <p:nvSpPr>
          <p:cNvPr id="51" name="Shape 45"/>
          <p:cNvSpPr/>
          <p:nvPr/>
        </p:nvSpPr>
        <p:spPr>
          <a:xfrm>
            <a:off x="457200" y="4005072"/>
            <a:ext cx="8229600" cy="530352"/>
          </a:xfrm>
          <a:prstGeom prst="roundRect">
            <a:avLst>
              <a:gd name="adj" fmla="val 10345"/>
            </a:avLst>
          </a:prstGeom>
          <a:solidFill>
            <a:srgbClr val="0E7C86">
              <a:alpha val="13000"/>
            </a:srgbClr>
          </a:solidFill>
          <a:ln w="12700">
            <a:solidFill>
              <a:srgbClr val="0E7C86"/>
            </a:solidFill>
            <a:prstDash val="solid"/>
          </a:ln>
        </p:spPr>
      </p:sp>
      <p:pic>
        <p:nvPicPr>
          <p:cNvPr id="52" name="Image 3" descr="preencoded.png">    </p:cNvPr>
          <p:cNvPicPr>
            <a:picLocks noChangeAspect="1"/>
          </p:cNvPicPr>
          <p:nvPr/>
        </p:nvPicPr>
        <p:blipFill>
          <a:blip r:embed="rId4"/>
          <a:stretch>
            <a:fillRect/>
          </a:stretch>
        </p:blipFill>
        <p:spPr>
          <a:xfrm>
            <a:off x="585216" y="4133088"/>
            <a:ext cx="274320" cy="274320"/>
          </a:xfrm>
          <a:prstGeom prst="rect">
            <a:avLst/>
          </a:prstGeom>
        </p:spPr>
      </p:pic>
      <p:sp>
        <p:nvSpPr>
          <p:cNvPr id="53" name="Text 46"/>
          <p:cNvSpPr txBox="1"/>
          <p:nvPr/>
        </p:nvSpPr>
        <p:spPr>
          <a:xfrm>
            <a:off x="987552" y="4059936"/>
            <a:ext cx="7571232" cy="42062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New questions classic frameworks never asked: Will this source still exist in three years? What is the fallback if the provider withdraws?</a:t>
            </a:r>
            <a:endParaRPr lang="en-US" sz="1100" dirty="0"/>
          </a:p>
        </p:txBody>
      </p:sp>
      <p:sp>
        <p:nvSpPr>
          <p:cNvPr id="54" name="Text 47"/>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UNECE (2014), A Suggested Framework for the Quality of Big Data, Big Data Quality Task Team (HLG-MOS).</a:t>
            </a:r>
            <a:endParaRPr lang="en-US" sz="8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QUALITY &amp; BIAS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The big-data paradox: volume does not cure bias</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D5DED9"/>
          </a:solidFill>
          <a:ln/>
        </p:spPr>
      </p:sp>
      <p:sp>
        <p:nvSpPr>
          <p:cNvPr id="10" name="Shape 8"/>
          <p:cNvSpPr/>
          <p:nvPr/>
        </p:nvSpPr>
        <p:spPr>
          <a:xfrm>
            <a:off x="8028432" y="329184"/>
            <a:ext cx="100584" cy="100584"/>
          </a:xfrm>
          <a:prstGeom prst="ellipse">
            <a:avLst/>
          </a:prstGeom>
          <a:solidFill>
            <a:srgbClr val="0E7C86"/>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Text 14"/>
          <p:cNvSpPr txBox="1"/>
          <p:nvPr/>
        </p:nvSpPr>
        <p:spPr>
          <a:xfrm>
            <a:off x="457200" y="1051560"/>
            <a:ext cx="5486400" cy="256032"/>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Meng's decomposition of the error of any sample mean</a:t>
            </a:r>
            <a:endParaRPr lang="en-US" sz="1300" dirty="0"/>
          </a:p>
        </p:txBody>
      </p:sp>
      <p:sp>
        <p:nvSpPr>
          <p:cNvPr id="18" name="Shape 15"/>
          <p:cNvSpPr/>
          <p:nvPr/>
        </p:nvSpPr>
        <p:spPr>
          <a:xfrm>
            <a:off x="457200" y="1417320"/>
            <a:ext cx="1234440" cy="1097280"/>
          </a:xfrm>
          <a:prstGeom prst="roundRect">
            <a:avLst>
              <a:gd name="adj" fmla="val 6667"/>
            </a:avLst>
          </a:prstGeom>
          <a:solidFill>
            <a:srgbClr val="F4F7F5"/>
          </a:solidFill>
          <a:ln w="9525">
            <a:solidFill>
              <a:srgbClr val="231F20"/>
            </a:solidFill>
            <a:prstDash val="solid"/>
          </a:ln>
        </p:spPr>
      </p:sp>
      <p:sp>
        <p:nvSpPr>
          <p:cNvPr id="19" name="Text 16"/>
          <p:cNvSpPr txBox="1"/>
          <p:nvPr/>
        </p:nvSpPr>
        <p:spPr>
          <a:xfrm>
            <a:off x="548640" y="1508760"/>
            <a:ext cx="105156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Error</a:t>
            </a:r>
            <a:endParaRPr lang="en-US" sz="1400" dirty="0"/>
          </a:p>
        </p:txBody>
      </p:sp>
      <p:sp>
        <p:nvSpPr>
          <p:cNvPr id="20" name="Text 17"/>
          <p:cNvSpPr txBox="1"/>
          <p:nvPr/>
        </p:nvSpPr>
        <p:spPr>
          <a:xfrm>
            <a:off x="548640" y="1810512"/>
            <a:ext cx="1051560" cy="658368"/>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estimate − truth</a:t>
            </a:r>
            <a:endParaRPr lang="en-US" sz="1000" dirty="0"/>
          </a:p>
        </p:txBody>
      </p:sp>
      <p:sp>
        <p:nvSpPr>
          <p:cNvPr id="21" name="Text 18"/>
          <p:cNvSpPr txBox="1"/>
          <p:nvPr/>
        </p:nvSpPr>
        <p:spPr>
          <a:xfrm>
            <a:off x="1691640" y="1737360"/>
            <a:ext cx="274320" cy="411480"/>
          </a:xfrm>
          <a:prstGeom prst="rect">
            <a:avLst/>
          </a:prstGeom>
          <a:noFill/>
          <a:ln/>
        </p:spPr>
        <p:txBody>
          <a:bodyPr wrap="square" lIns="0" tIns="0" rIns="0" bIns="0" rtlCol="0" anchor="ctr"/>
          <a:lstStyle/>
          <a:p>
            <a:pPr algn="ctr" indent="0" marL="0">
              <a:buNone/>
            </a:pPr>
            <a:r>
              <a:rPr lang="en-US" sz="2400" b="1" dirty="0">
                <a:solidFill>
                  <a:srgbClr val="5E6964"/>
                </a:solidFill>
                <a:latin typeface="Calibri" pitchFamily="34" charset="0"/>
                <a:ea typeface="Calibri" pitchFamily="34" charset="-122"/>
                <a:cs typeface="Calibri" pitchFamily="34" charset="-120"/>
              </a:rPr>
              <a:t>=</a:t>
            </a:r>
            <a:endParaRPr lang="en-US" sz="2400" dirty="0"/>
          </a:p>
        </p:txBody>
      </p:sp>
      <p:sp>
        <p:nvSpPr>
          <p:cNvPr id="22" name="Shape 19"/>
          <p:cNvSpPr/>
          <p:nvPr/>
        </p:nvSpPr>
        <p:spPr>
          <a:xfrm>
            <a:off x="1965960" y="1417320"/>
            <a:ext cx="1600200" cy="1097280"/>
          </a:xfrm>
          <a:prstGeom prst="roundRect">
            <a:avLst>
              <a:gd name="adj" fmla="val 6667"/>
            </a:avLst>
          </a:prstGeom>
          <a:solidFill>
            <a:srgbClr val="FBEDEB"/>
          </a:solidFill>
          <a:ln w="19050">
            <a:solidFill>
              <a:srgbClr val="B83B2E"/>
            </a:solidFill>
            <a:prstDash val="solid"/>
          </a:ln>
        </p:spPr>
      </p:sp>
      <p:sp>
        <p:nvSpPr>
          <p:cNvPr id="23" name="Text 20"/>
          <p:cNvSpPr txBox="1"/>
          <p:nvPr/>
        </p:nvSpPr>
        <p:spPr>
          <a:xfrm>
            <a:off x="2057400" y="1508760"/>
            <a:ext cx="1417320" cy="274320"/>
          </a:xfrm>
          <a:prstGeom prst="rect">
            <a:avLst/>
          </a:prstGeom>
          <a:noFill/>
          <a:ln/>
        </p:spPr>
        <p:txBody>
          <a:bodyPr wrap="square" lIns="0" tIns="0" rIns="0" bIns="0" rtlCol="0" anchor="t"/>
          <a:lstStyle/>
          <a:p>
            <a:pPr algn="ctr" indent="0" marL="0">
              <a:buNone/>
            </a:pPr>
            <a:r>
              <a:rPr lang="en-US" sz="1400" b="1" dirty="0">
                <a:solidFill>
                  <a:srgbClr val="B83B2E"/>
                </a:solidFill>
                <a:latin typeface="Calibri" pitchFamily="34" charset="0"/>
                <a:ea typeface="Calibri" pitchFamily="34" charset="-122"/>
                <a:cs typeface="Calibri" pitchFamily="34" charset="-120"/>
              </a:rPr>
              <a:t>Data quality</a:t>
            </a:r>
            <a:endParaRPr lang="en-US" sz="1400" dirty="0"/>
          </a:p>
        </p:txBody>
      </p:sp>
      <p:sp>
        <p:nvSpPr>
          <p:cNvPr id="24" name="Text 21"/>
          <p:cNvSpPr txBox="1"/>
          <p:nvPr/>
        </p:nvSpPr>
        <p:spPr>
          <a:xfrm>
            <a:off x="2057400" y="1810512"/>
            <a:ext cx="1417320" cy="658368"/>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correlation between being recorded and the value (ρ)</a:t>
            </a:r>
            <a:endParaRPr lang="en-US" sz="1000" dirty="0"/>
          </a:p>
        </p:txBody>
      </p:sp>
      <p:sp>
        <p:nvSpPr>
          <p:cNvPr id="25" name="Text 22"/>
          <p:cNvSpPr txBox="1"/>
          <p:nvPr/>
        </p:nvSpPr>
        <p:spPr>
          <a:xfrm>
            <a:off x="3566160" y="1737360"/>
            <a:ext cx="274320" cy="411480"/>
          </a:xfrm>
          <a:prstGeom prst="rect">
            <a:avLst/>
          </a:prstGeom>
          <a:noFill/>
          <a:ln/>
        </p:spPr>
        <p:txBody>
          <a:bodyPr wrap="square" lIns="0" tIns="0" rIns="0" bIns="0" rtlCol="0" anchor="ctr"/>
          <a:lstStyle/>
          <a:p>
            <a:pPr algn="ctr" indent="0" marL="0">
              <a:buNone/>
            </a:pPr>
            <a:r>
              <a:rPr lang="en-US" sz="2400" b="1" dirty="0">
                <a:solidFill>
                  <a:srgbClr val="5E6964"/>
                </a:solidFill>
                <a:latin typeface="Calibri" pitchFamily="34" charset="0"/>
                <a:ea typeface="Calibri" pitchFamily="34" charset="-122"/>
                <a:cs typeface="Calibri" pitchFamily="34" charset="-120"/>
              </a:rPr>
              <a:t>×</a:t>
            </a:r>
            <a:endParaRPr lang="en-US" sz="2400" dirty="0"/>
          </a:p>
        </p:txBody>
      </p:sp>
      <p:sp>
        <p:nvSpPr>
          <p:cNvPr id="26" name="Shape 23"/>
          <p:cNvSpPr/>
          <p:nvPr/>
        </p:nvSpPr>
        <p:spPr>
          <a:xfrm>
            <a:off x="3840480" y="1417320"/>
            <a:ext cx="1600200" cy="1097280"/>
          </a:xfrm>
          <a:prstGeom prst="roundRect">
            <a:avLst>
              <a:gd name="adj" fmla="val 6667"/>
            </a:avLst>
          </a:prstGeom>
          <a:solidFill>
            <a:srgbClr val="F4F7F5"/>
          </a:solidFill>
          <a:ln w="9525">
            <a:solidFill>
              <a:srgbClr val="0E7C86"/>
            </a:solidFill>
            <a:prstDash val="solid"/>
          </a:ln>
        </p:spPr>
      </p:sp>
      <p:sp>
        <p:nvSpPr>
          <p:cNvPr id="27" name="Text 24"/>
          <p:cNvSpPr txBox="1"/>
          <p:nvPr/>
        </p:nvSpPr>
        <p:spPr>
          <a:xfrm>
            <a:off x="3931920" y="1508760"/>
            <a:ext cx="1417320" cy="274320"/>
          </a:xfrm>
          <a:prstGeom prst="rect">
            <a:avLst/>
          </a:prstGeom>
          <a:noFill/>
          <a:ln/>
        </p:spPr>
        <p:txBody>
          <a:bodyPr wrap="square" lIns="0" tIns="0" rIns="0" bIns="0" rtlCol="0" anchor="t"/>
          <a:lstStyle/>
          <a:p>
            <a:pPr algn="ctr" indent="0" marL="0">
              <a:buNone/>
            </a:pPr>
            <a:r>
              <a:rPr lang="en-US" sz="1400" b="1" dirty="0">
                <a:solidFill>
                  <a:srgbClr val="0E7C86"/>
                </a:solidFill>
                <a:latin typeface="Calibri" pitchFamily="34" charset="0"/>
                <a:ea typeface="Calibri" pitchFamily="34" charset="-122"/>
                <a:cs typeface="Calibri" pitchFamily="34" charset="-120"/>
              </a:rPr>
              <a:t>Data quantity</a:t>
            </a:r>
            <a:endParaRPr lang="en-US" sz="1400" dirty="0"/>
          </a:p>
        </p:txBody>
      </p:sp>
      <p:sp>
        <p:nvSpPr>
          <p:cNvPr id="28" name="Text 25"/>
          <p:cNvSpPr txBox="1"/>
          <p:nvPr/>
        </p:nvSpPr>
        <p:spPr>
          <a:xfrm>
            <a:off x="3931920" y="1810512"/>
            <a:ext cx="1417320" cy="658368"/>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depends on the share of the population covered</a:t>
            </a:r>
            <a:endParaRPr lang="en-US" sz="1000" dirty="0"/>
          </a:p>
        </p:txBody>
      </p:sp>
      <p:sp>
        <p:nvSpPr>
          <p:cNvPr id="29" name="Text 26"/>
          <p:cNvSpPr txBox="1"/>
          <p:nvPr/>
        </p:nvSpPr>
        <p:spPr>
          <a:xfrm>
            <a:off x="5440680" y="1737360"/>
            <a:ext cx="274320" cy="411480"/>
          </a:xfrm>
          <a:prstGeom prst="rect">
            <a:avLst/>
          </a:prstGeom>
          <a:noFill/>
          <a:ln/>
        </p:spPr>
        <p:txBody>
          <a:bodyPr wrap="square" lIns="0" tIns="0" rIns="0" bIns="0" rtlCol="0" anchor="ctr"/>
          <a:lstStyle/>
          <a:p>
            <a:pPr algn="ctr" indent="0" marL="0">
              <a:buNone/>
            </a:pPr>
            <a:r>
              <a:rPr lang="en-US" sz="2400" b="1" dirty="0">
                <a:solidFill>
                  <a:srgbClr val="5E6964"/>
                </a:solidFill>
                <a:latin typeface="Calibri" pitchFamily="34" charset="0"/>
                <a:ea typeface="Calibri" pitchFamily="34" charset="-122"/>
                <a:cs typeface="Calibri" pitchFamily="34" charset="-120"/>
              </a:rPr>
              <a:t>×</a:t>
            </a:r>
            <a:endParaRPr lang="en-US" sz="2400" dirty="0"/>
          </a:p>
        </p:txBody>
      </p:sp>
      <p:sp>
        <p:nvSpPr>
          <p:cNvPr id="30" name="Shape 27"/>
          <p:cNvSpPr/>
          <p:nvPr/>
        </p:nvSpPr>
        <p:spPr>
          <a:xfrm>
            <a:off x="5715000" y="1417320"/>
            <a:ext cx="1600200" cy="1097280"/>
          </a:xfrm>
          <a:prstGeom prst="roundRect">
            <a:avLst>
              <a:gd name="adj" fmla="val 6667"/>
            </a:avLst>
          </a:prstGeom>
          <a:solidFill>
            <a:srgbClr val="F4F7F5"/>
          </a:solidFill>
          <a:ln w="9525">
            <a:solidFill>
              <a:srgbClr val="00704A"/>
            </a:solidFill>
            <a:prstDash val="solid"/>
          </a:ln>
        </p:spPr>
      </p:sp>
      <p:sp>
        <p:nvSpPr>
          <p:cNvPr id="31" name="Text 28"/>
          <p:cNvSpPr txBox="1"/>
          <p:nvPr/>
        </p:nvSpPr>
        <p:spPr>
          <a:xfrm>
            <a:off x="5806440" y="1508760"/>
            <a:ext cx="1417320" cy="274320"/>
          </a:xfrm>
          <a:prstGeom prst="rect">
            <a:avLst/>
          </a:prstGeom>
          <a:noFill/>
          <a:ln/>
        </p:spPr>
        <p:txBody>
          <a:bodyPr wrap="square" lIns="0" tIns="0" rIns="0" bIns="0" rtlCol="0" anchor="t"/>
          <a:lstStyle/>
          <a:p>
            <a:pPr algn="ctr" indent="0" marL="0">
              <a:buNone/>
            </a:pPr>
            <a:r>
              <a:rPr lang="en-US" sz="1400" b="1" dirty="0">
                <a:solidFill>
                  <a:srgbClr val="00704A"/>
                </a:solidFill>
                <a:latin typeface="Calibri" pitchFamily="34" charset="0"/>
                <a:ea typeface="Calibri" pitchFamily="34" charset="-122"/>
                <a:cs typeface="Calibri" pitchFamily="34" charset="-120"/>
              </a:rPr>
              <a:t>Difficulty</a:t>
            </a:r>
            <a:endParaRPr lang="en-US" sz="1400" dirty="0"/>
          </a:p>
        </p:txBody>
      </p:sp>
      <p:sp>
        <p:nvSpPr>
          <p:cNvPr id="32" name="Text 29"/>
          <p:cNvSpPr txBox="1"/>
          <p:nvPr/>
        </p:nvSpPr>
        <p:spPr>
          <a:xfrm>
            <a:off x="5806440" y="1810512"/>
            <a:ext cx="1417320" cy="658368"/>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variability of the phenomenon (σ)</a:t>
            </a:r>
            <a:endParaRPr lang="en-US" sz="1000" dirty="0"/>
          </a:p>
        </p:txBody>
      </p:sp>
      <p:sp>
        <p:nvSpPr>
          <p:cNvPr id="33" name="Shape 30"/>
          <p:cNvSpPr/>
          <p:nvPr/>
        </p:nvSpPr>
        <p:spPr>
          <a:xfrm>
            <a:off x="457200" y="2743200"/>
            <a:ext cx="5029200" cy="1783080"/>
          </a:xfrm>
          <a:prstGeom prst="roundRect">
            <a:avLst>
              <a:gd name="adj" fmla="val 4103"/>
            </a:avLst>
          </a:prstGeom>
          <a:solidFill>
            <a:srgbClr val="00553A"/>
          </a:solidFill>
          <a:ln/>
        </p:spPr>
      </p:sp>
      <p:sp>
        <p:nvSpPr>
          <p:cNvPr id="34" name="Text 31"/>
          <p:cNvSpPr txBox="1"/>
          <p:nvPr/>
        </p:nvSpPr>
        <p:spPr>
          <a:xfrm>
            <a:off x="685800" y="2852928"/>
            <a:ext cx="4572000" cy="201168"/>
          </a:xfrm>
          <a:prstGeom prst="rect">
            <a:avLst/>
          </a:prstGeom>
          <a:noFill/>
          <a:ln/>
        </p:spPr>
        <p:txBody>
          <a:bodyPr wrap="square" lIns="0" tIns="0" rIns="0" bIns="0" rtlCol="0" anchor="t"/>
          <a:lstStyle/>
          <a:p>
            <a:pPr indent="0" marL="0">
              <a:buNone/>
            </a:pPr>
            <a:r>
              <a:rPr lang="en-US" sz="950" b="1" spc="200" kern="0" dirty="0">
                <a:solidFill>
                  <a:srgbClr val="F5C242"/>
                </a:solidFill>
                <a:latin typeface="Calibri" pitchFamily="34" charset="0"/>
                <a:ea typeface="Calibri" pitchFamily="34" charset="-122"/>
                <a:cs typeface="Calibri" pitchFamily="34" charset="-120"/>
              </a:rPr>
              <a:t>WORKED EXAMPLE · US 2016 ELECTION</a:t>
            </a:r>
            <a:endParaRPr lang="en-US" sz="950" dirty="0"/>
          </a:p>
        </p:txBody>
      </p:sp>
      <p:sp>
        <p:nvSpPr>
          <p:cNvPr id="35" name="Text 32"/>
          <p:cNvSpPr txBox="1"/>
          <p:nvPr/>
        </p:nvSpPr>
        <p:spPr>
          <a:xfrm>
            <a:off x="685800" y="3108960"/>
            <a:ext cx="2103120" cy="5486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2,300,000</a:t>
            </a:r>
            <a:endParaRPr lang="en-US" sz="3000" dirty="0"/>
          </a:p>
        </p:txBody>
      </p:sp>
      <p:sp>
        <p:nvSpPr>
          <p:cNvPr id="36" name="Text 33"/>
          <p:cNvSpPr txBox="1"/>
          <p:nvPr/>
        </p:nvSpPr>
        <p:spPr>
          <a:xfrm>
            <a:off x="685800" y="3657600"/>
            <a:ext cx="2011680" cy="457200"/>
          </a:xfrm>
          <a:prstGeom prst="rect">
            <a:avLst/>
          </a:prstGeom>
          <a:noFill/>
          <a:ln/>
        </p:spPr>
        <p:txBody>
          <a:bodyPr wrap="square" lIns="0" tIns="0" rIns="0" bIns="0" rtlCol="0" anchor="t"/>
          <a:lstStyle/>
          <a:p>
            <a:pPr indent="0" marL="0">
              <a:buNone/>
            </a:pPr>
            <a:r>
              <a:rPr lang="en-US" sz="1050" dirty="0">
                <a:solidFill>
                  <a:srgbClr val="E6F6EE"/>
                </a:solidFill>
                <a:latin typeface="Calibri" pitchFamily="34" charset="0"/>
                <a:ea typeface="Calibri" pitchFamily="34" charset="-122"/>
                <a:cs typeface="Calibri" pitchFamily="34" charset="-120"/>
              </a:rPr>
              <a:t>self-reported responses (1% of voters)</a:t>
            </a:r>
            <a:endParaRPr lang="en-US" sz="1050" dirty="0"/>
          </a:p>
        </p:txBody>
      </p:sp>
      <p:sp>
        <p:nvSpPr>
          <p:cNvPr id="37" name="Text 34"/>
          <p:cNvSpPr txBox="1"/>
          <p:nvPr/>
        </p:nvSpPr>
        <p:spPr>
          <a:xfrm>
            <a:off x="2743200" y="3108960"/>
            <a:ext cx="365760" cy="548640"/>
          </a:xfrm>
          <a:prstGeom prst="rect">
            <a:avLst/>
          </a:prstGeom>
          <a:noFill/>
          <a:ln/>
        </p:spPr>
        <p:txBody>
          <a:bodyPr wrap="square" lIns="0" tIns="0" rIns="0" bIns="0" rtlCol="0" anchor="t"/>
          <a:lstStyle/>
          <a:p>
            <a:pPr algn="ctr" indent="0" marL="0">
              <a:buNone/>
            </a:pPr>
            <a:r>
              <a:rPr lang="en-US" sz="3000" b="1" dirty="0">
                <a:solidFill>
                  <a:srgbClr val="F5C242"/>
                </a:solidFill>
                <a:latin typeface="Calibri" pitchFamily="34" charset="0"/>
                <a:ea typeface="Calibri" pitchFamily="34" charset="-122"/>
                <a:cs typeface="Calibri" pitchFamily="34" charset="-120"/>
              </a:rPr>
              <a:t>≈</a:t>
            </a:r>
            <a:endParaRPr lang="en-US" sz="3000" dirty="0"/>
          </a:p>
        </p:txBody>
      </p:sp>
      <p:sp>
        <p:nvSpPr>
          <p:cNvPr id="38" name="Text 35"/>
          <p:cNvSpPr txBox="1"/>
          <p:nvPr/>
        </p:nvSpPr>
        <p:spPr>
          <a:xfrm>
            <a:off x="3200400" y="3108960"/>
            <a:ext cx="2103120" cy="548640"/>
          </a:xfrm>
          <a:prstGeom prst="rect">
            <a:avLst/>
          </a:prstGeom>
          <a:noFill/>
          <a:ln/>
        </p:spPr>
        <p:txBody>
          <a:bodyPr wrap="square" lIns="0" tIns="0" rIns="0" bIns="0" rtlCol="0" anchor="t"/>
          <a:lstStyle/>
          <a:p>
            <a:pPr indent="0" marL="0">
              <a:buNone/>
            </a:pPr>
            <a:r>
              <a:rPr lang="en-US" sz="3000" b="1" dirty="0">
                <a:solidFill>
                  <a:srgbClr val="F5C242"/>
                </a:solidFill>
                <a:latin typeface="Calibri" pitchFamily="34" charset="0"/>
                <a:ea typeface="Calibri" pitchFamily="34" charset="-122"/>
                <a:cs typeface="Calibri" pitchFamily="34" charset="-120"/>
              </a:rPr>
              <a:t>400</a:t>
            </a:r>
            <a:endParaRPr lang="en-US" sz="3000" dirty="0"/>
          </a:p>
        </p:txBody>
      </p:sp>
      <p:sp>
        <p:nvSpPr>
          <p:cNvPr id="39" name="Text 36"/>
          <p:cNvSpPr txBox="1"/>
          <p:nvPr/>
        </p:nvSpPr>
        <p:spPr>
          <a:xfrm>
            <a:off x="3200400" y="3657600"/>
            <a:ext cx="2103120" cy="640080"/>
          </a:xfrm>
          <a:prstGeom prst="rect">
            <a:avLst/>
          </a:prstGeom>
          <a:noFill/>
          <a:ln/>
        </p:spPr>
        <p:txBody>
          <a:bodyPr wrap="square" lIns="0" tIns="0" rIns="0" bIns="0" rtlCol="0" anchor="t"/>
          <a:lstStyle/>
          <a:p>
            <a:pPr indent="0" marL="0">
              <a:buNone/>
            </a:pPr>
            <a:r>
              <a:rPr lang="en-US" sz="1050" dirty="0">
                <a:solidFill>
                  <a:srgbClr val="E6F6EE"/>
                </a:solidFill>
                <a:latin typeface="Calibri" pitchFamily="34" charset="0"/>
                <a:ea typeface="Calibri" pitchFamily="34" charset="-122"/>
                <a:cs typeface="Calibri" pitchFamily="34" charset="-120"/>
              </a:rPr>
              <a:t>random interviews — with a data-defect correlation of only about −0.005</a:t>
            </a:r>
            <a:endParaRPr lang="en-US" sz="1050" dirty="0"/>
          </a:p>
        </p:txBody>
      </p:sp>
      <p:sp>
        <p:nvSpPr>
          <p:cNvPr id="40" name="Shape 37"/>
          <p:cNvSpPr/>
          <p:nvPr/>
        </p:nvSpPr>
        <p:spPr>
          <a:xfrm>
            <a:off x="5669280" y="2743200"/>
            <a:ext cx="3017520" cy="1783080"/>
          </a:xfrm>
          <a:prstGeom prst="roundRect">
            <a:avLst>
              <a:gd name="adj" fmla="val 4103"/>
            </a:avLst>
          </a:prstGeom>
          <a:solidFill>
            <a:srgbClr val="E8F5EF"/>
          </a:solidFill>
          <a:ln w="15875">
            <a:solidFill>
              <a:srgbClr val="0E7C86"/>
            </a:solidFill>
            <a:prstDash val="solid"/>
          </a:ln>
        </p:spPr>
      </p:sp>
      <p:sp>
        <p:nvSpPr>
          <p:cNvPr id="41" name="Text 38"/>
          <p:cNvSpPr txBox="1"/>
          <p:nvPr/>
        </p:nvSpPr>
        <p:spPr>
          <a:xfrm>
            <a:off x="5806440" y="2834640"/>
            <a:ext cx="2743200" cy="201168"/>
          </a:xfrm>
          <a:prstGeom prst="rect">
            <a:avLst/>
          </a:prstGeom>
          <a:noFill/>
          <a:ln/>
        </p:spPr>
        <p:txBody>
          <a:bodyPr wrap="square" lIns="0" tIns="0" rIns="0" bIns="0" rtlCol="0" anchor="t"/>
          <a:lstStyle/>
          <a:p>
            <a:pPr indent="0" marL="0">
              <a:buNone/>
            </a:pPr>
            <a:r>
              <a:rPr lang="en-US" sz="950" b="1" spc="100" kern="0" dirty="0">
                <a:solidFill>
                  <a:srgbClr val="0E7C86"/>
                </a:solidFill>
                <a:latin typeface="Calibri" pitchFamily="34" charset="0"/>
                <a:ea typeface="Calibri" pitchFamily="34" charset="-122"/>
                <a:cs typeface="Calibri" pitchFamily="34" charset="-120"/>
              </a:rPr>
              <a:t>WHAT THIS MEANS FOR NSOs</a:t>
            </a:r>
            <a:endParaRPr lang="en-US" sz="950" dirty="0"/>
          </a:p>
        </p:txBody>
      </p:sp>
      <p:sp>
        <p:nvSpPr>
          <p:cNvPr id="42" name="Text 39"/>
          <p:cNvSpPr txBox="1"/>
          <p:nvPr/>
        </p:nvSpPr>
        <p:spPr>
          <a:xfrm>
            <a:off x="5806440" y="3090672"/>
            <a:ext cx="2788920" cy="13716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Confidence intervals from big data are narrow — and wrong.</a:t>
            </a:r>
            <a:endParaRPr lang="en-US" sz="1100" dirty="0"/>
          </a:p>
          <a:p>
            <a:pPr marL="152400" indent="-1524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 small random survey can beat a huge biased source.</a:t>
            </a:r>
            <a:endParaRPr lang="en-US" sz="1100" dirty="0"/>
          </a:p>
          <a:p>
            <a:pPr marL="152400" indent="-1524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Measure ρ, even roughly, before publishing levels.</a:t>
            </a:r>
            <a:endParaRPr lang="en-US" sz="1100" dirty="0"/>
          </a:p>
        </p:txBody>
      </p:sp>
      <p:sp>
        <p:nvSpPr>
          <p:cNvPr id="43" name="Text 4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Meng, X.-L. (2018), "Statistical paradises and paradoxes in big data (I)", Annals of Applied Statistics 12(2): 685–726.</a:t>
            </a:r>
            <a:endParaRPr lang="en-US" sz="8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QUALITY &amp; BIAS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Who is missing? The digital divide as bias</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Any source built on internet or smartphone use inherits these gaps.</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0E7C86"/>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graphicFrame>
        <p:nvGraphicFramePr>
          <p:cNvPr id="18" name="Chart 0" descr=""/>
          <p:cNvGraphicFramePr/>
          <p:nvPr/>
        </p:nvGraphicFramePr>
        <p:xfrm>
          <a:off x="457200" y="132588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19" name="Shape 15"/>
          <p:cNvSpPr/>
          <p:nvPr/>
        </p:nvSpPr>
        <p:spPr>
          <a:xfrm>
            <a:off x="5623560" y="1325880"/>
            <a:ext cx="3063240" cy="987552"/>
          </a:xfrm>
          <a:prstGeom prst="roundRect">
            <a:avLst>
              <a:gd name="adj" fmla="val 7407"/>
            </a:avLst>
          </a:prstGeom>
          <a:solidFill>
            <a:srgbClr val="F4F7F5"/>
          </a:solidFill>
          <a:ln w="9525">
            <a:solidFill>
              <a:srgbClr val="D5DED9"/>
            </a:solidFill>
            <a:prstDash val="solid"/>
          </a:ln>
        </p:spPr>
      </p:sp>
      <p:sp>
        <p:nvSpPr>
          <p:cNvPr id="20" name="Text 16"/>
          <p:cNvSpPr txBox="1"/>
          <p:nvPr/>
        </p:nvSpPr>
        <p:spPr>
          <a:xfrm>
            <a:off x="5760720" y="1399032"/>
            <a:ext cx="1234440" cy="548640"/>
          </a:xfrm>
          <a:prstGeom prst="rect">
            <a:avLst/>
          </a:prstGeom>
          <a:noFill/>
          <a:ln/>
        </p:spPr>
        <p:txBody>
          <a:bodyPr wrap="square" lIns="0" tIns="0" rIns="0" bIns="0" rtlCol="0" anchor="ctr"/>
          <a:lstStyle/>
          <a:p>
            <a:pPr indent="0" marL="0">
              <a:buNone/>
            </a:pPr>
            <a:r>
              <a:rPr lang="en-US" sz="3200" b="1" dirty="0">
                <a:solidFill>
                  <a:srgbClr val="B83B2E"/>
                </a:solidFill>
                <a:latin typeface="Calibri" pitchFamily="34" charset="0"/>
                <a:ea typeface="Calibri" pitchFamily="34" charset="-122"/>
                <a:cs typeface="Calibri" pitchFamily="34" charset="-120"/>
              </a:rPr>
              <a:t>36%</a:t>
            </a:r>
            <a:endParaRPr lang="en-US" sz="3200" dirty="0"/>
          </a:p>
        </p:txBody>
      </p:sp>
      <p:sp>
        <p:nvSpPr>
          <p:cNvPr id="21" name="Text 17"/>
          <p:cNvSpPr txBox="1"/>
          <p:nvPr/>
        </p:nvSpPr>
        <p:spPr>
          <a:xfrm>
            <a:off x="6995160" y="1453896"/>
            <a:ext cx="1645920" cy="457200"/>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vs 74%</a:t>
            </a:r>
            <a:endParaRPr lang="en-US" sz="1200" dirty="0"/>
          </a:p>
        </p:txBody>
      </p:sp>
      <p:sp>
        <p:nvSpPr>
          <p:cNvPr id="22" name="Text 18"/>
          <p:cNvSpPr txBox="1"/>
          <p:nvPr/>
        </p:nvSpPr>
        <p:spPr>
          <a:xfrm>
            <a:off x="5760720" y="1965960"/>
            <a:ext cx="2834640" cy="29260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Africa vs world internet use, 2025</a:t>
            </a:r>
            <a:endParaRPr lang="en-US" sz="950" dirty="0"/>
          </a:p>
        </p:txBody>
      </p:sp>
      <p:sp>
        <p:nvSpPr>
          <p:cNvPr id="23" name="Shape 19"/>
          <p:cNvSpPr/>
          <p:nvPr/>
        </p:nvSpPr>
        <p:spPr>
          <a:xfrm>
            <a:off x="5623560" y="2423160"/>
            <a:ext cx="3063240" cy="987552"/>
          </a:xfrm>
          <a:prstGeom prst="roundRect">
            <a:avLst>
              <a:gd name="adj" fmla="val 7407"/>
            </a:avLst>
          </a:prstGeom>
          <a:solidFill>
            <a:srgbClr val="F4F7F5"/>
          </a:solidFill>
          <a:ln w="9525">
            <a:solidFill>
              <a:srgbClr val="D5DED9"/>
            </a:solidFill>
            <a:prstDash val="solid"/>
          </a:ln>
        </p:spPr>
      </p:sp>
      <p:sp>
        <p:nvSpPr>
          <p:cNvPr id="24" name="Text 20"/>
          <p:cNvSpPr txBox="1"/>
          <p:nvPr/>
        </p:nvSpPr>
        <p:spPr>
          <a:xfrm>
            <a:off x="5760720" y="2496312"/>
            <a:ext cx="1234440" cy="548640"/>
          </a:xfrm>
          <a:prstGeom prst="rect">
            <a:avLst/>
          </a:prstGeom>
          <a:noFill/>
          <a:ln/>
        </p:spPr>
        <p:txBody>
          <a:bodyPr wrap="square" lIns="0" tIns="0" rIns="0" bIns="0" rtlCol="0" anchor="ctr"/>
          <a:lstStyle/>
          <a:p>
            <a:pPr indent="0" marL="0">
              <a:buNone/>
            </a:pPr>
            <a:r>
              <a:rPr lang="en-US" sz="3200" b="1" dirty="0">
                <a:solidFill>
                  <a:srgbClr val="D49A00"/>
                </a:solidFill>
                <a:latin typeface="Calibri" pitchFamily="34" charset="0"/>
                <a:ea typeface="Calibri" pitchFamily="34" charset="-122"/>
                <a:cs typeface="Calibri" pitchFamily="34" charset="-120"/>
              </a:rPr>
              <a:t>2.5×</a:t>
            </a:r>
            <a:endParaRPr lang="en-US" sz="3200" dirty="0"/>
          </a:p>
        </p:txBody>
      </p:sp>
      <p:sp>
        <p:nvSpPr>
          <p:cNvPr id="25" name="Text 21"/>
          <p:cNvSpPr txBox="1"/>
          <p:nvPr/>
        </p:nvSpPr>
        <p:spPr>
          <a:xfrm>
            <a:off x="6995160" y="2551176"/>
            <a:ext cx="1645920" cy="457200"/>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urban vs rural</a:t>
            </a:r>
            <a:endParaRPr lang="en-US" sz="1200" dirty="0"/>
          </a:p>
        </p:txBody>
      </p:sp>
      <p:sp>
        <p:nvSpPr>
          <p:cNvPr id="26" name="Text 22"/>
          <p:cNvSpPr txBox="1"/>
          <p:nvPr/>
        </p:nvSpPr>
        <p:spPr>
          <a:xfrm>
            <a:off x="5760720" y="3063240"/>
            <a:ext cx="2834640" cy="29260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urban users relative to rural users, 2024</a:t>
            </a:r>
            <a:endParaRPr lang="en-US" sz="950" dirty="0"/>
          </a:p>
        </p:txBody>
      </p:sp>
      <p:sp>
        <p:nvSpPr>
          <p:cNvPr id="27" name="Shape 23"/>
          <p:cNvSpPr/>
          <p:nvPr/>
        </p:nvSpPr>
        <p:spPr>
          <a:xfrm>
            <a:off x="5623560" y="3520440"/>
            <a:ext cx="3063240" cy="987552"/>
          </a:xfrm>
          <a:prstGeom prst="roundRect">
            <a:avLst>
              <a:gd name="adj" fmla="val 7407"/>
            </a:avLst>
          </a:prstGeom>
          <a:solidFill>
            <a:srgbClr val="F4F7F5"/>
          </a:solidFill>
          <a:ln w="9525">
            <a:solidFill>
              <a:srgbClr val="D5DED9"/>
            </a:solidFill>
            <a:prstDash val="solid"/>
          </a:ln>
        </p:spPr>
      </p:sp>
      <p:sp>
        <p:nvSpPr>
          <p:cNvPr id="28" name="Text 24"/>
          <p:cNvSpPr txBox="1"/>
          <p:nvPr/>
        </p:nvSpPr>
        <p:spPr>
          <a:xfrm>
            <a:off x="5760720" y="3593592"/>
            <a:ext cx="1234440" cy="548640"/>
          </a:xfrm>
          <a:prstGeom prst="rect">
            <a:avLst/>
          </a:prstGeom>
          <a:noFill/>
          <a:ln/>
        </p:spPr>
        <p:txBody>
          <a:bodyPr wrap="square" lIns="0" tIns="0" rIns="0" bIns="0" rtlCol="0" anchor="ctr"/>
          <a:lstStyle/>
          <a:p>
            <a:pPr indent="0" marL="0">
              <a:buNone/>
            </a:pPr>
            <a:r>
              <a:rPr lang="en-US" sz="3200" b="1" dirty="0">
                <a:solidFill>
                  <a:srgbClr val="0E7C86"/>
                </a:solidFill>
                <a:latin typeface="Calibri" pitchFamily="34" charset="0"/>
                <a:ea typeface="Calibri" pitchFamily="34" charset="-122"/>
                <a:cs typeface="Calibri" pitchFamily="34" charset="-120"/>
              </a:rPr>
              <a:t>63%</a:t>
            </a:r>
            <a:endParaRPr lang="en-US" sz="3200" dirty="0"/>
          </a:p>
        </p:txBody>
      </p:sp>
      <p:sp>
        <p:nvSpPr>
          <p:cNvPr id="29" name="Text 25"/>
          <p:cNvSpPr txBox="1"/>
          <p:nvPr/>
        </p:nvSpPr>
        <p:spPr>
          <a:xfrm>
            <a:off x="6995160" y="3648456"/>
            <a:ext cx="1645920" cy="457200"/>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covered, not online</a:t>
            </a:r>
            <a:endParaRPr lang="en-US" sz="1200" dirty="0"/>
          </a:p>
        </p:txBody>
      </p:sp>
      <p:sp>
        <p:nvSpPr>
          <p:cNvPr id="30" name="Text 26"/>
          <p:cNvSpPr txBox="1"/>
          <p:nvPr/>
        </p:nvSpPr>
        <p:spPr>
          <a:xfrm>
            <a:off x="5760720" y="4160520"/>
            <a:ext cx="2834640" cy="29260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Africans under mobile broadband who do not use it</a:t>
            </a:r>
            <a:endParaRPr lang="en-US" sz="950" dirty="0"/>
          </a:p>
        </p:txBody>
      </p:sp>
      <p:sp>
        <p:nvSpPr>
          <p:cNvPr id="31" name="Text 27"/>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ITU (2025), State of Digital Development in Africa; ITU, Facts and Figures 2025; GSMA Intelligence, The Mobile Economy Africa 2026.</a:t>
            </a:r>
            <a:endParaRPr lang="en-US" sz="8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QUALITY &amp; BIAS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Handling coverage bias: diagnose, correct, or reframe</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Illustrated with the Ookla connectivity indicator you will build after the break.</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0E7C86"/>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8" name="Shape 15"/>
          <p:cNvSpPr/>
          <p:nvPr/>
        </p:nvSpPr>
        <p:spPr>
          <a:xfrm>
            <a:off x="457200" y="1371600"/>
            <a:ext cx="2615184" cy="3154680"/>
          </a:xfrm>
          <a:prstGeom prst="roundRect">
            <a:avLst>
              <a:gd name="adj" fmla="val 2797"/>
            </a:avLst>
          </a:prstGeom>
          <a:solidFill>
            <a:srgbClr val="F4F7F5"/>
          </a:solidFill>
          <a:ln w="9525">
            <a:solidFill>
              <a:srgbClr val="D5DED9"/>
            </a:solidFill>
            <a:prstDash val="solid"/>
          </a:ln>
        </p:spPr>
      </p:sp>
      <p:sp>
        <p:nvSpPr>
          <p:cNvPr id="19" name="Shape 16"/>
          <p:cNvSpPr/>
          <p:nvPr/>
        </p:nvSpPr>
        <p:spPr>
          <a:xfrm>
            <a:off x="621792" y="1508760"/>
            <a:ext cx="502920" cy="502920"/>
          </a:xfrm>
          <a:prstGeom prst="ellipse">
            <a:avLst/>
          </a:prstGeom>
          <a:solidFill>
            <a:srgbClr val="0E7C86">
              <a:alpha val="22000"/>
            </a:srgbClr>
          </a:solidFill>
          <a:ln/>
        </p:spPr>
      </p:sp>
      <p:pic>
        <p:nvPicPr>
          <p:cNvPr id="20" name="Image 0" descr="preencoded.png">    </p:cNvPr>
          <p:cNvPicPr>
            <a:picLocks noChangeAspect="1"/>
          </p:cNvPicPr>
          <p:nvPr/>
        </p:nvPicPr>
        <p:blipFill>
          <a:blip r:embed="rId1"/>
          <a:stretch>
            <a:fillRect/>
          </a:stretch>
        </p:blipFill>
        <p:spPr>
          <a:xfrm>
            <a:off x="747522" y="1634490"/>
            <a:ext cx="251460" cy="251460"/>
          </a:xfrm>
          <a:prstGeom prst="rect">
            <a:avLst/>
          </a:prstGeom>
        </p:spPr>
      </p:pic>
      <p:sp>
        <p:nvSpPr>
          <p:cNvPr id="21" name="Text 17"/>
          <p:cNvSpPr txBox="1"/>
          <p:nvPr/>
        </p:nvSpPr>
        <p:spPr>
          <a:xfrm>
            <a:off x="1234440" y="1517904"/>
            <a:ext cx="1371600" cy="182880"/>
          </a:xfrm>
          <a:prstGeom prst="rect">
            <a:avLst/>
          </a:prstGeom>
          <a:noFill/>
          <a:ln/>
        </p:spPr>
        <p:txBody>
          <a:bodyPr wrap="square" lIns="0" tIns="0" rIns="0" bIns="0" rtlCol="0" anchor="t"/>
          <a:lstStyle/>
          <a:p>
            <a:pPr indent="0" marL="0">
              <a:buNone/>
            </a:pPr>
            <a:r>
              <a:rPr lang="en-US" sz="950" b="1" spc="200" kern="0" dirty="0">
                <a:solidFill>
                  <a:srgbClr val="5E6964"/>
                </a:solidFill>
                <a:latin typeface="Calibri" pitchFamily="34" charset="0"/>
                <a:ea typeface="Calibri" pitchFamily="34" charset="-122"/>
                <a:cs typeface="Calibri" pitchFamily="34" charset="-120"/>
              </a:rPr>
              <a:t>STEP 1</a:t>
            </a:r>
            <a:endParaRPr lang="en-US" sz="950" dirty="0"/>
          </a:p>
        </p:txBody>
      </p:sp>
      <p:sp>
        <p:nvSpPr>
          <p:cNvPr id="22" name="Text 18"/>
          <p:cNvSpPr txBox="1"/>
          <p:nvPr/>
        </p:nvSpPr>
        <p:spPr>
          <a:xfrm>
            <a:off x="1234440" y="1700784"/>
            <a:ext cx="1737360" cy="320040"/>
          </a:xfrm>
          <a:prstGeom prst="rect">
            <a:avLst/>
          </a:prstGeom>
          <a:noFill/>
          <a:ln/>
        </p:spPr>
        <p:txBody>
          <a:bodyPr wrap="square" lIns="0" tIns="0" rIns="0" bIns="0" rtlCol="0" anchor="t"/>
          <a:lstStyle/>
          <a:p>
            <a:pPr indent="0" marL="0">
              <a:buNone/>
            </a:pPr>
            <a:r>
              <a:rPr lang="en-US" sz="1600" b="1" dirty="0">
                <a:solidFill>
                  <a:srgbClr val="0E7C86"/>
                </a:solidFill>
                <a:latin typeface="Calibri" pitchFamily="34" charset="0"/>
                <a:ea typeface="Calibri" pitchFamily="34" charset="-122"/>
                <a:cs typeface="Calibri" pitchFamily="34" charset="-120"/>
              </a:rPr>
              <a:t>Diagnose</a:t>
            </a:r>
            <a:endParaRPr lang="en-US" sz="1600" dirty="0"/>
          </a:p>
        </p:txBody>
      </p:sp>
      <p:sp>
        <p:nvSpPr>
          <p:cNvPr id="23" name="Text 19"/>
          <p:cNvSpPr txBox="1"/>
          <p:nvPr/>
        </p:nvSpPr>
        <p:spPr>
          <a:xfrm>
            <a:off x="621792" y="2148840"/>
            <a:ext cx="2286000" cy="10058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Compare with a gold standard; profile who is over- and under-represented; map the empty cells.</a:t>
            </a:r>
            <a:endParaRPr lang="en-US" sz="1100" dirty="0"/>
          </a:p>
        </p:txBody>
      </p:sp>
      <p:sp>
        <p:nvSpPr>
          <p:cNvPr id="24" name="Shape 20"/>
          <p:cNvSpPr/>
          <p:nvPr/>
        </p:nvSpPr>
        <p:spPr>
          <a:xfrm>
            <a:off x="566928" y="3246120"/>
            <a:ext cx="2395728" cy="1170432"/>
          </a:xfrm>
          <a:prstGeom prst="roundRect">
            <a:avLst>
              <a:gd name="adj" fmla="val 4688"/>
            </a:avLst>
          </a:prstGeom>
          <a:solidFill>
            <a:srgbClr val="E8F5EF"/>
          </a:solidFill>
          <a:ln w="12700">
            <a:solidFill>
              <a:srgbClr val="00A86A"/>
            </a:solidFill>
            <a:prstDash val="solid"/>
          </a:ln>
        </p:spPr>
      </p:sp>
      <p:pic>
        <p:nvPicPr>
          <p:cNvPr id="25" name="Image 1" descr="preencoded.png">    </p:cNvPr>
          <p:cNvPicPr>
            <a:picLocks noChangeAspect="1"/>
          </p:cNvPicPr>
          <p:nvPr/>
        </p:nvPicPr>
        <p:blipFill>
          <a:blip r:embed="rId2"/>
          <a:stretch>
            <a:fillRect/>
          </a:stretch>
        </p:blipFill>
        <p:spPr>
          <a:xfrm>
            <a:off x="676656" y="3337560"/>
            <a:ext cx="182880" cy="182880"/>
          </a:xfrm>
          <a:prstGeom prst="rect">
            <a:avLst/>
          </a:prstGeom>
        </p:spPr>
      </p:pic>
      <p:sp>
        <p:nvSpPr>
          <p:cNvPr id="26" name="Text 21"/>
          <p:cNvSpPr txBox="1"/>
          <p:nvPr/>
        </p:nvSpPr>
        <p:spPr>
          <a:xfrm>
            <a:off x="914400" y="3328416"/>
            <a:ext cx="182880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IN THE OOKLA LAB</a:t>
            </a:r>
            <a:endParaRPr lang="en-US" sz="900" dirty="0"/>
          </a:p>
        </p:txBody>
      </p:sp>
      <p:sp>
        <p:nvSpPr>
          <p:cNvPr id="27" name="Text 22"/>
          <p:cNvSpPr txBox="1"/>
          <p:nvPr/>
        </p:nvSpPr>
        <p:spPr>
          <a:xfrm>
            <a:off x="676656" y="3584448"/>
            <a:ext cx="2194560" cy="77724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Map tiles with zero tests against WorldPop population and census connectivity questions.</a:t>
            </a:r>
            <a:endParaRPr lang="en-US" sz="1050" dirty="0"/>
          </a:p>
        </p:txBody>
      </p:sp>
      <p:sp>
        <p:nvSpPr>
          <p:cNvPr id="28" name="Shape 23"/>
          <p:cNvSpPr/>
          <p:nvPr/>
        </p:nvSpPr>
        <p:spPr>
          <a:xfrm>
            <a:off x="3090672" y="1828800"/>
            <a:ext cx="155448" cy="0"/>
          </a:xfrm>
          <a:prstGeom prst="line">
            <a:avLst/>
          </a:prstGeom>
          <a:noFill/>
          <a:ln w="15875">
            <a:solidFill>
              <a:srgbClr val="5E6964"/>
            </a:solidFill>
            <a:prstDash val="solid"/>
            <a:tailEnd type="triangle"/>
          </a:ln>
        </p:spPr>
      </p:sp>
      <p:sp>
        <p:nvSpPr>
          <p:cNvPr id="29" name="Shape 24"/>
          <p:cNvSpPr/>
          <p:nvPr/>
        </p:nvSpPr>
        <p:spPr>
          <a:xfrm>
            <a:off x="3264408" y="1371600"/>
            <a:ext cx="2615184" cy="3154680"/>
          </a:xfrm>
          <a:prstGeom prst="roundRect">
            <a:avLst>
              <a:gd name="adj" fmla="val 2797"/>
            </a:avLst>
          </a:prstGeom>
          <a:solidFill>
            <a:srgbClr val="F4F7F5"/>
          </a:solidFill>
          <a:ln w="9525">
            <a:solidFill>
              <a:srgbClr val="D5DED9"/>
            </a:solidFill>
            <a:prstDash val="solid"/>
          </a:ln>
        </p:spPr>
      </p:sp>
      <p:sp>
        <p:nvSpPr>
          <p:cNvPr id="30" name="Shape 25"/>
          <p:cNvSpPr/>
          <p:nvPr/>
        </p:nvSpPr>
        <p:spPr>
          <a:xfrm>
            <a:off x="3429000" y="1508760"/>
            <a:ext cx="502920" cy="502920"/>
          </a:xfrm>
          <a:prstGeom prst="ellipse">
            <a:avLst/>
          </a:prstGeom>
          <a:solidFill>
            <a:srgbClr val="0E7C86">
              <a:alpha val="22000"/>
            </a:srgbClr>
          </a:solidFill>
          <a:ln/>
        </p:spPr>
      </p:sp>
      <p:pic>
        <p:nvPicPr>
          <p:cNvPr id="31" name="Image 2" descr="preencoded.png">    </p:cNvPr>
          <p:cNvPicPr>
            <a:picLocks noChangeAspect="1"/>
          </p:cNvPicPr>
          <p:nvPr/>
        </p:nvPicPr>
        <p:blipFill>
          <a:blip r:embed="rId3"/>
          <a:stretch>
            <a:fillRect/>
          </a:stretch>
        </p:blipFill>
        <p:spPr>
          <a:xfrm>
            <a:off x="3554730" y="1634490"/>
            <a:ext cx="251460" cy="251460"/>
          </a:xfrm>
          <a:prstGeom prst="rect">
            <a:avLst/>
          </a:prstGeom>
        </p:spPr>
      </p:pic>
      <p:sp>
        <p:nvSpPr>
          <p:cNvPr id="32" name="Text 26"/>
          <p:cNvSpPr txBox="1"/>
          <p:nvPr/>
        </p:nvSpPr>
        <p:spPr>
          <a:xfrm>
            <a:off x="4041648" y="1517904"/>
            <a:ext cx="1371600" cy="182880"/>
          </a:xfrm>
          <a:prstGeom prst="rect">
            <a:avLst/>
          </a:prstGeom>
          <a:noFill/>
          <a:ln/>
        </p:spPr>
        <p:txBody>
          <a:bodyPr wrap="square" lIns="0" tIns="0" rIns="0" bIns="0" rtlCol="0" anchor="t"/>
          <a:lstStyle/>
          <a:p>
            <a:pPr indent="0" marL="0">
              <a:buNone/>
            </a:pPr>
            <a:r>
              <a:rPr lang="en-US" sz="950" b="1" spc="200" kern="0" dirty="0">
                <a:solidFill>
                  <a:srgbClr val="5E6964"/>
                </a:solidFill>
                <a:latin typeface="Calibri" pitchFamily="34" charset="0"/>
                <a:ea typeface="Calibri" pitchFamily="34" charset="-122"/>
                <a:cs typeface="Calibri" pitchFamily="34" charset="-120"/>
              </a:rPr>
              <a:t>STEP 2</a:t>
            </a:r>
            <a:endParaRPr lang="en-US" sz="950" dirty="0"/>
          </a:p>
        </p:txBody>
      </p:sp>
      <p:sp>
        <p:nvSpPr>
          <p:cNvPr id="33" name="Text 27"/>
          <p:cNvSpPr txBox="1"/>
          <p:nvPr/>
        </p:nvSpPr>
        <p:spPr>
          <a:xfrm>
            <a:off x="4041648" y="1700784"/>
            <a:ext cx="1737360" cy="320040"/>
          </a:xfrm>
          <a:prstGeom prst="rect">
            <a:avLst/>
          </a:prstGeom>
          <a:noFill/>
          <a:ln/>
        </p:spPr>
        <p:txBody>
          <a:bodyPr wrap="square" lIns="0" tIns="0" rIns="0" bIns="0" rtlCol="0" anchor="t"/>
          <a:lstStyle/>
          <a:p>
            <a:pPr indent="0" marL="0">
              <a:buNone/>
            </a:pPr>
            <a:r>
              <a:rPr lang="en-US" sz="1600" b="1" dirty="0">
                <a:solidFill>
                  <a:srgbClr val="0E7C86"/>
                </a:solidFill>
                <a:latin typeface="Calibri" pitchFamily="34" charset="0"/>
                <a:ea typeface="Calibri" pitchFamily="34" charset="-122"/>
                <a:cs typeface="Calibri" pitchFamily="34" charset="-120"/>
              </a:rPr>
              <a:t>Correct</a:t>
            </a:r>
            <a:endParaRPr lang="en-US" sz="1600" dirty="0"/>
          </a:p>
        </p:txBody>
      </p:sp>
      <p:sp>
        <p:nvSpPr>
          <p:cNvPr id="34" name="Text 28"/>
          <p:cNvSpPr txBox="1"/>
          <p:nvPr/>
        </p:nvSpPr>
        <p:spPr>
          <a:xfrm>
            <a:off x="3429000" y="2148840"/>
            <a:ext cx="2286000" cy="10058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Calibration to known totals, post-stratification, inverse-probability weighting, small-area models.</a:t>
            </a:r>
            <a:endParaRPr lang="en-US" sz="1100" dirty="0"/>
          </a:p>
        </p:txBody>
      </p:sp>
      <p:sp>
        <p:nvSpPr>
          <p:cNvPr id="35" name="Shape 29"/>
          <p:cNvSpPr/>
          <p:nvPr/>
        </p:nvSpPr>
        <p:spPr>
          <a:xfrm>
            <a:off x="3374136" y="3246120"/>
            <a:ext cx="2395728" cy="1170432"/>
          </a:xfrm>
          <a:prstGeom prst="roundRect">
            <a:avLst>
              <a:gd name="adj" fmla="val 4688"/>
            </a:avLst>
          </a:prstGeom>
          <a:solidFill>
            <a:srgbClr val="E8F5EF"/>
          </a:solidFill>
          <a:ln w="12700">
            <a:solidFill>
              <a:srgbClr val="00A86A"/>
            </a:solidFill>
            <a:prstDash val="solid"/>
          </a:ln>
        </p:spPr>
      </p:sp>
      <p:pic>
        <p:nvPicPr>
          <p:cNvPr id="36" name="Image 3" descr="preencoded.png">    </p:cNvPr>
          <p:cNvPicPr>
            <a:picLocks noChangeAspect="1"/>
          </p:cNvPicPr>
          <p:nvPr/>
        </p:nvPicPr>
        <p:blipFill>
          <a:blip r:embed="rId4"/>
          <a:stretch>
            <a:fillRect/>
          </a:stretch>
        </p:blipFill>
        <p:spPr>
          <a:xfrm>
            <a:off x="3483864" y="3337560"/>
            <a:ext cx="182880" cy="182880"/>
          </a:xfrm>
          <a:prstGeom prst="rect">
            <a:avLst/>
          </a:prstGeom>
        </p:spPr>
      </p:pic>
      <p:sp>
        <p:nvSpPr>
          <p:cNvPr id="37" name="Text 30"/>
          <p:cNvSpPr txBox="1"/>
          <p:nvPr/>
        </p:nvSpPr>
        <p:spPr>
          <a:xfrm>
            <a:off x="3721608" y="3328416"/>
            <a:ext cx="182880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IN THE OOKLA LAB</a:t>
            </a:r>
            <a:endParaRPr lang="en-US" sz="900" dirty="0"/>
          </a:p>
        </p:txBody>
      </p:sp>
      <p:sp>
        <p:nvSpPr>
          <p:cNvPr id="38" name="Text 31"/>
          <p:cNvSpPr txBox="1"/>
          <p:nvPr/>
        </p:nvSpPr>
        <p:spPr>
          <a:xfrm>
            <a:off x="3483864" y="3584448"/>
            <a:ext cx="2194560" cy="77724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Weight tile speeds by WorldPop population rather than by number of tests.</a:t>
            </a:r>
            <a:endParaRPr lang="en-US" sz="1050" dirty="0"/>
          </a:p>
        </p:txBody>
      </p:sp>
      <p:sp>
        <p:nvSpPr>
          <p:cNvPr id="39" name="Shape 32"/>
          <p:cNvSpPr/>
          <p:nvPr/>
        </p:nvSpPr>
        <p:spPr>
          <a:xfrm>
            <a:off x="5897880" y="1828800"/>
            <a:ext cx="155448" cy="0"/>
          </a:xfrm>
          <a:prstGeom prst="line">
            <a:avLst/>
          </a:prstGeom>
          <a:noFill/>
          <a:ln w="15875">
            <a:solidFill>
              <a:srgbClr val="5E6964"/>
            </a:solidFill>
            <a:prstDash val="solid"/>
            <a:tailEnd type="triangle"/>
          </a:ln>
        </p:spPr>
      </p:sp>
      <p:sp>
        <p:nvSpPr>
          <p:cNvPr id="40" name="Shape 33"/>
          <p:cNvSpPr/>
          <p:nvPr/>
        </p:nvSpPr>
        <p:spPr>
          <a:xfrm>
            <a:off x="6071616" y="1371600"/>
            <a:ext cx="2615184" cy="3154680"/>
          </a:xfrm>
          <a:prstGeom prst="roundRect">
            <a:avLst>
              <a:gd name="adj" fmla="val 2797"/>
            </a:avLst>
          </a:prstGeom>
          <a:solidFill>
            <a:srgbClr val="F4F7F5"/>
          </a:solidFill>
          <a:ln w="9525">
            <a:solidFill>
              <a:srgbClr val="D5DED9"/>
            </a:solidFill>
            <a:prstDash val="solid"/>
          </a:ln>
        </p:spPr>
      </p:sp>
      <p:sp>
        <p:nvSpPr>
          <p:cNvPr id="41" name="Shape 34"/>
          <p:cNvSpPr/>
          <p:nvPr/>
        </p:nvSpPr>
        <p:spPr>
          <a:xfrm>
            <a:off x="6236208" y="1508760"/>
            <a:ext cx="502920" cy="502920"/>
          </a:xfrm>
          <a:prstGeom prst="ellipse">
            <a:avLst/>
          </a:prstGeom>
          <a:solidFill>
            <a:srgbClr val="0E7C86">
              <a:alpha val="22000"/>
            </a:srgbClr>
          </a:solidFill>
          <a:ln/>
        </p:spPr>
      </p:sp>
      <p:pic>
        <p:nvPicPr>
          <p:cNvPr id="42" name="Image 4" descr="preencoded.png">    </p:cNvPr>
          <p:cNvPicPr>
            <a:picLocks noChangeAspect="1"/>
          </p:cNvPicPr>
          <p:nvPr/>
        </p:nvPicPr>
        <p:blipFill>
          <a:blip r:embed="rId5"/>
          <a:stretch>
            <a:fillRect/>
          </a:stretch>
        </p:blipFill>
        <p:spPr>
          <a:xfrm>
            <a:off x="6361938" y="1634490"/>
            <a:ext cx="251460" cy="251460"/>
          </a:xfrm>
          <a:prstGeom prst="rect">
            <a:avLst/>
          </a:prstGeom>
        </p:spPr>
      </p:pic>
      <p:sp>
        <p:nvSpPr>
          <p:cNvPr id="43" name="Text 35"/>
          <p:cNvSpPr txBox="1"/>
          <p:nvPr/>
        </p:nvSpPr>
        <p:spPr>
          <a:xfrm>
            <a:off x="6848856" y="1517904"/>
            <a:ext cx="1371600" cy="182880"/>
          </a:xfrm>
          <a:prstGeom prst="rect">
            <a:avLst/>
          </a:prstGeom>
          <a:noFill/>
          <a:ln/>
        </p:spPr>
        <p:txBody>
          <a:bodyPr wrap="square" lIns="0" tIns="0" rIns="0" bIns="0" rtlCol="0" anchor="t"/>
          <a:lstStyle/>
          <a:p>
            <a:pPr indent="0" marL="0">
              <a:buNone/>
            </a:pPr>
            <a:r>
              <a:rPr lang="en-US" sz="950" b="1" spc="200" kern="0" dirty="0">
                <a:solidFill>
                  <a:srgbClr val="5E6964"/>
                </a:solidFill>
                <a:latin typeface="Calibri" pitchFamily="34" charset="0"/>
                <a:ea typeface="Calibri" pitchFamily="34" charset="-122"/>
                <a:cs typeface="Calibri" pitchFamily="34" charset="-120"/>
              </a:rPr>
              <a:t>STEP 3</a:t>
            </a:r>
            <a:endParaRPr lang="en-US" sz="950" dirty="0"/>
          </a:p>
        </p:txBody>
      </p:sp>
      <p:sp>
        <p:nvSpPr>
          <p:cNvPr id="44" name="Text 36"/>
          <p:cNvSpPr txBox="1"/>
          <p:nvPr/>
        </p:nvSpPr>
        <p:spPr>
          <a:xfrm>
            <a:off x="6848856" y="1700784"/>
            <a:ext cx="1737360" cy="320040"/>
          </a:xfrm>
          <a:prstGeom prst="rect">
            <a:avLst/>
          </a:prstGeom>
          <a:noFill/>
          <a:ln/>
        </p:spPr>
        <p:txBody>
          <a:bodyPr wrap="square" lIns="0" tIns="0" rIns="0" bIns="0" rtlCol="0" anchor="t"/>
          <a:lstStyle/>
          <a:p>
            <a:pPr indent="0" marL="0">
              <a:buNone/>
            </a:pPr>
            <a:r>
              <a:rPr lang="en-US" sz="1600" b="1" dirty="0">
                <a:solidFill>
                  <a:srgbClr val="0E7C86"/>
                </a:solidFill>
                <a:latin typeface="Calibri" pitchFamily="34" charset="0"/>
                <a:ea typeface="Calibri" pitchFamily="34" charset="-122"/>
                <a:cs typeface="Calibri" pitchFamily="34" charset="-120"/>
              </a:rPr>
              <a:t>Reframe</a:t>
            </a:r>
            <a:endParaRPr lang="en-US" sz="1600" dirty="0"/>
          </a:p>
        </p:txBody>
      </p:sp>
      <p:sp>
        <p:nvSpPr>
          <p:cNvPr id="45" name="Text 37"/>
          <p:cNvSpPr txBox="1"/>
          <p:nvPr/>
        </p:nvSpPr>
        <p:spPr>
          <a:xfrm>
            <a:off x="6236208" y="2148840"/>
            <a:ext cx="2286000" cy="10058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If levels stay biased, publish change, rankings or turning points — or keep the indicator diagnostic.</a:t>
            </a:r>
            <a:endParaRPr lang="en-US" sz="1100" dirty="0"/>
          </a:p>
        </p:txBody>
      </p:sp>
      <p:sp>
        <p:nvSpPr>
          <p:cNvPr id="46" name="Shape 38"/>
          <p:cNvSpPr/>
          <p:nvPr/>
        </p:nvSpPr>
        <p:spPr>
          <a:xfrm>
            <a:off x="6181344" y="3246120"/>
            <a:ext cx="2395728" cy="1170432"/>
          </a:xfrm>
          <a:prstGeom prst="roundRect">
            <a:avLst>
              <a:gd name="adj" fmla="val 4688"/>
            </a:avLst>
          </a:prstGeom>
          <a:solidFill>
            <a:srgbClr val="E8F5EF"/>
          </a:solidFill>
          <a:ln w="12700">
            <a:solidFill>
              <a:srgbClr val="00A86A"/>
            </a:solidFill>
            <a:prstDash val="solid"/>
          </a:ln>
        </p:spPr>
      </p:sp>
      <p:pic>
        <p:nvPicPr>
          <p:cNvPr id="47" name="Image 5" descr="preencoded.png">    </p:cNvPr>
          <p:cNvPicPr>
            <a:picLocks noChangeAspect="1"/>
          </p:cNvPicPr>
          <p:nvPr/>
        </p:nvPicPr>
        <p:blipFill>
          <a:blip r:embed="rId6"/>
          <a:stretch>
            <a:fillRect/>
          </a:stretch>
        </p:blipFill>
        <p:spPr>
          <a:xfrm>
            <a:off x="6291072" y="3337560"/>
            <a:ext cx="182880" cy="182880"/>
          </a:xfrm>
          <a:prstGeom prst="rect">
            <a:avLst/>
          </a:prstGeom>
        </p:spPr>
      </p:pic>
      <p:sp>
        <p:nvSpPr>
          <p:cNvPr id="48" name="Text 39"/>
          <p:cNvSpPr txBox="1"/>
          <p:nvPr/>
        </p:nvSpPr>
        <p:spPr>
          <a:xfrm>
            <a:off x="6528816" y="3328416"/>
            <a:ext cx="182880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IN THE OOKLA LAB</a:t>
            </a:r>
            <a:endParaRPr lang="en-US" sz="900" dirty="0"/>
          </a:p>
        </p:txBody>
      </p:sp>
      <p:sp>
        <p:nvSpPr>
          <p:cNvPr id="49" name="Text 40"/>
          <p:cNvSpPr txBox="1"/>
          <p:nvPr/>
        </p:nvSpPr>
        <p:spPr>
          <a:xfrm>
            <a:off x="6291072" y="3584448"/>
            <a:ext cx="2194560" cy="77724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Publish quarterly change and regional ranking, with an explicit limitations statement.</a:t>
            </a:r>
            <a:endParaRPr lang="en-US" sz="105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QUALITY &amp; BIAS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Always name the concept, the proxy — and the gap</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Validity problems are rarely technical. They are conceptual, and must be written down.</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0E7C86"/>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pic>
        <p:nvPicPr>
          <p:cNvPr id="18" name="Image 0" descr="preencoded.png">    </p:cNvPr>
          <p:cNvPicPr>
            <a:picLocks noChangeAspect="1"/>
          </p:cNvPicPr>
          <p:nvPr/>
        </p:nvPicPr>
        <p:blipFill>
          <a:blip r:embed="rId1"/>
          <a:stretch>
            <a:fillRect/>
          </a:stretch>
        </p:blipFill>
        <p:spPr>
          <a:xfrm>
            <a:off x="457200" y="1371600"/>
            <a:ext cx="201168" cy="201168"/>
          </a:xfrm>
          <a:prstGeom prst="rect">
            <a:avLst/>
          </a:prstGeom>
        </p:spPr>
      </p:pic>
      <p:sp>
        <p:nvSpPr>
          <p:cNvPr id="19" name="Text 15"/>
          <p:cNvSpPr txBox="1"/>
          <p:nvPr/>
        </p:nvSpPr>
        <p:spPr>
          <a:xfrm>
            <a:off x="731520" y="1353312"/>
            <a:ext cx="2286000" cy="237744"/>
          </a:xfrm>
          <a:prstGeom prst="rect">
            <a:avLst/>
          </a:prstGeom>
          <a:noFill/>
          <a:ln/>
        </p:spPr>
        <p:txBody>
          <a:bodyPr wrap="square" lIns="0" tIns="0" rIns="0" bIns="0" rtlCol="0" anchor="ctr"/>
          <a:lstStyle/>
          <a:p>
            <a:pPr indent="0" marL="0">
              <a:buNone/>
            </a:pPr>
            <a:r>
              <a:rPr lang="en-US" sz="1050" b="1" spc="200" kern="0" dirty="0">
                <a:solidFill>
                  <a:srgbClr val="00704A"/>
                </a:solidFill>
                <a:latin typeface="Calibri" pitchFamily="34" charset="0"/>
                <a:ea typeface="Calibri" pitchFamily="34" charset="-122"/>
                <a:cs typeface="Calibri" pitchFamily="34" charset="-120"/>
              </a:rPr>
              <a:t>TARGET CONCEPT</a:t>
            </a:r>
            <a:endParaRPr lang="en-US" sz="1050" dirty="0"/>
          </a:p>
        </p:txBody>
      </p:sp>
      <p:pic>
        <p:nvPicPr>
          <p:cNvPr id="20" name="Image 1" descr="preencoded.png">    </p:cNvPr>
          <p:cNvPicPr>
            <a:picLocks noChangeAspect="1"/>
          </p:cNvPicPr>
          <p:nvPr/>
        </p:nvPicPr>
        <p:blipFill>
          <a:blip r:embed="rId2"/>
          <a:stretch>
            <a:fillRect/>
          </a:stretch>
        </p:blipFill>
        <p:spPr>
          <a:xfrm>
            <a:off x="2743200" y="1371600"/>
            <a:ext cx="201168" cy="201168"/>
          </a:xfrm>
          <a:prstGeom prst="rect">
            <a:avLst/>
          </a:prstGeom>
        </p:spPr>
      </p:pic>
      <p:sp>
        <p:nvSpPr>
          <p:cNvPr id="21" name="Text 16"/>
          <p:cNvSpPr txBox="1"/>
          <p:nvPr/>
        </p:nvSpPr>
        <p:spPr>
          <a:xfrm>
            <a:off x="3017520" y="1353312"/>
            <a:ext cx="2286000" cy="237744"/>
          </a:xfrm>
          <a:prstGeom prst="rect">
            <a:avLst/>
          </a:prstGeom>
          <a:noFill/>
          <a:ln/>
        </p:spPr>
        <p:txBody>
          <a:bodyPr wrap="square" lIns="0" tIns="0" rIns="0" bIns="0" rtlCol="0" anchor="ctr"/>
          <a:lstStyle/>
          <a:p>
            <a:pPr indent="0" marL="0">
              <a:buNone/>
            </a:pPr>
            <a:r>
              <a:rPr lang="en-US" sz="1050" b="1" spc="200" kern="0" dirty="0">
                <a:solidFill>
                  <a:srgbClr val="0E7C86"/>
                </a:solidFill>
                <a:latin typeface="Calibri" pitchFamily="34" charset="0"/>
                <a:ea typeface="Calibri" pitchFamily="34" charset="-122"/>
                <a:cs typeface="Calibri" pitchFamily="34" charset="-120"/>
              </a:rPr>
              <a:t>PROXY OBSERVED</a:t>
            </a:r>
            <a:endParaRPr lang="en-US" sz="1050" dirty="0"/>
          </a:p>
        </p:txBody>
      </p:sp>
      <p:pic>
        <p:nvPicPr>
          <p:cNvPr id="22" name="Image 2" descr="preencoded.png">    </p:cNvPr>
          <p:cNvPicPr>
            <a:picLocks noChangeAspect="1"/>
          </p:cNvPicPr>
          <p:nvPr/>
        </p:nvPicPr>
        <p:blipFill>
          <a:blip r:embed="rId3"/>
          <a:stretch>
            <a:fillRect/>
          </a:stretch>
        </p:blipFill>
        <p:spPr>
          <a:xfrm>
            <a:off x="5029200" y="1371600"/>
            <a:ext cx="201168" cy="201168"/>
          </a:xfrm>
          <a:prstGeom prst="rect">
            <a:avLst/>
          </a:prstGeom>
        </p:spPr>
      </p:pic>
      <p:sp>
        <p:nvSpPr>
          <p:cNvPr id="23" name="Text 17"/>
          <p:cNvSpPr txBox="1"/>
          <p:nvPr/>
        </p:nvSpPr>
        <p:spPr>
          <a:xfrm>
            <a:off x="5303520" y="1353312"/>
            <a:ext cx="2286000" cy="237744"/>
          </a:xfrm>
          <a:prstGeom prst="rect">
            <a:avLst/>
          </a:prstGeom>
          <a:noFill/>
          <a:ln/>
        </p:spPr>
        <p:txBody>
          <a:bodyPr wrap="square" lIns="0" tIns="0" rIns="0" bIns="0" rtlCol="0" anchor="ctr"/>
          <a:lstStyle/>
          <a:p>
            <a:pPr indent="0" marL="0">
              <a:buNone/>
            </a:pPr>
            <a:r>
              <a:rPr lang="en-US" sz="1050" b="1" spc="200" kern="0" dirty="0">
                <a:solidFill>
                  <a:srgbClr val="D49A00"/>
                </a:solidFill>
                <a:latin typeface="Calibri" pitchFamily="34" charset="0"/>
                <a:ea typeface="Calibri" pitchFamily="34" charset="-122"/>
                <a:cs typeface="Calibri" pitchFamily="34" charset="-120"/>
              </a:rPr>
              <a:t>THE GAP TO DOCUMENT</a:t>
            </a:r>
            <a:endParaRPr lang="en-US" sz="1050" dirty="0"/>
          </a:p>
        </p:txBody>
      </p:sp>
      <p:sp>
        <p:nvSpPr>
          <p:cNvPr id="24" name="Shape 18"/>
          <p:cNvSpPr/>
          <p:nvPr/>
        </p:nvSpPr>
        <p:spPr>
          <a:xfrm>
            <a:off x="457200" y="1691640"/>
            <a:ext cx="2148840" cy="475488"/>
          </a:xfrm>
          <a:prstGeom prst="roundRect">
            <a:avLst>
              <a:gd name="adj" fmla="val 11538"/>
            </a:avLst>
          </a:prstGeom>
          <a:solidFill>
            <a:srgbClr val="E8F5EF"/>
          </a:solidFill>
          <a:ln w="9525">
            <a:solidFill>
              <a:srgbClr val="D5DED9"/>
            </a:solidFill>
            <a:prstDash val="solid"/>
          </a:ln>
        </p:spPr>
      </p:sp>
      <p:sp>
        <p:nvSpPr>
          <p:cNvPr id="25" name="Text 19"/>
          <p:cNvSpPr txBox="1"/>
          <p:nvPr/>
        </p:nvSpPr>
        <p:spPr>
          <a:xfrm>
            <a:off x="566928" y="1691640"/>
            <a:ext cx="1929384" cy="47548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Local economic activity</a:t>
            </a:r>
            <a:endParaRPr lang="en-US" sz="1150" dirty="0"/>
          </a:p>
        </p:txBody>
      </p:sp>
      <p:sp>
        <p:nvSpPr>
          <p:cNvPr id="26" name="Shape 20"/>
          <p:cNvSpPr/>
          <p:nvPr/>
        </p:nvSpPr>
        <p:spPr>
          <a:xfrm>
            <a:off x="2743200" y="1691640"/>
            <a:ext cx="2148840" cy="475488"/>
          </a:xfrm>
          <a:prstGeom prst="roundRect">
            <a:avLst>
              <a:gd name="adj" fmla="val 11538"/>
            </a:avLst>
          </a:prstGeom>
          <a:solidFill>
            <a:srgbClr val="F4F7F5"/>
          </a:solidFill>
          <a:ln w="9525">
            <a:solidFill>
              <a:srgbClr val="D5DED9"/>
            </a:solidFill>
            <a:prstDash val="solid"/>
          </a:ln>
        </p:spPr>
      </p:sp>
      <p:sp>
        <p:nvSpPr>
          <p:cNvPr id="27" name="Text 21"/>
          <p:cNvSpPr txBox="1"/>
          <p:nvPr/>
        </p:nvSpPr>
        <p:spPr>
          <a:xfrm>
            <a:off x="2852928" y="1691640"/>
            <a:ext cx="1929384" cy="475488"/>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Night-time light radiance</a:t>
            </a:r>
            <a:endParaRPr lang="en-US" sz="1050" dirty="0"/>
          </a:p>
        </p:txBody>
      </p:sp>
      <p:sp>
        <p:nvSpPr>
          <p:cNvPr id="28" name="Shape 22"/>
          <p:cNvSpPr/>
          <p:nvPr/>
        </p:nvSpPr>
        <p:spPr>
          <a:xfrm>
            <a:off x="5029200" y="1691640"/>
            <a:ext cx="3657600" cy="475488"/>
          </a:xfrm>
          <a:prstGeom prst="roundRect">
            <a:avLst>
              <a:gd name="adj" fmla="val 11538"/>
            </a:avLst>
          </a:prstGeom>
          <a:solidFill>
            <a:srgbClr val="FDF6E3"/>
          </a:solidFill>
          <a:ln w="9525">
            <a:solidFill>
              <a:srgbClr val="D49A00"/>
            </a:solidFill>
            <a:prstDash val="solid"/>
          </a:ln>
        </p:spPr>
      </p:sp>
      <p:sp>
        <p:nvSpPr>
          <p:cNvPr id="29" name="Text 23"/>
          <p:cNvSpPr txBox="1"/>
          <p:nvPr/>
        </p:nvSpPr>
        <p:spPr>
          <a:xfrm>
            <a:off x="5138928" y="1691640"/>
            <a:ext cx="3438144" cy="475488"/>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Saturation in cities, gas flares, unlit informal activity, agriculture</a:t>
            </a:r>
            <a:endParaRPr lang="en-US" sz="1050" dirty="0"/>
          </a:p>
        </p:txBody>
      </p:sp>
      <p:sp>
        <p:nvSpPr>
          <p:cNvPr id="30" name="Shape 24"/>
          <p:cNvSpPr/>
          <p:nvPr/>
        </p:nvSpPr>
        <p:spPr>
          <a:xfrm>
            <a:off x="2624328" y="1929384"/>
            <a:ext cx="100584" cy="0"/>
          </a:xfrm>
          <a:prstGeom prst="line">
            <a:avLst/>
          </a:prstGeom>
          <a:noFill/>
          <a:ln w="12700">
            <a:solidFill>
              <a:srgbClr val="5E6964"/>
            </a:solidFill>
            <a:prstDash val="solid"/>
            <a:tailEnd type="triangle"/>
          </a:ln>
        </p:spPr>
      </p:sp>
      <p:sp>
        <p:nvSpPr>
          <p:cNvPr id="31" name="Shape 25"/>
          <p:cNvSpPr/>
          <p:nvPr/>
        </p:nvSpPr>
        <p:spPr>
          <a:xfrm>
            <a:off x="4910328" y="1929384"/>
            <a:ext cx="100584" cy="0"/>
          </a:xfrm>
          <a:prstGeom prst="line">
            <a:avLst/>
          </a:prstGeom>
          <a:noFill/>
          <a:ln w="12700">
            <a:solidFill>
              <a:srgbClr val="5E6964"/>
            </a:solidFill>
            <a:prstDash val="solid"/>
            <a:tailEnd type="triangle"/>
          </a:ln>
        </p:spPr>
      </p:sp>
      <p:sp>
        <p:nvSpPr>
          <p:cNvPr id="32" name="Shape 26"/>
          <p:cNvSpPr/>
          <p:nvPr/>
        </p:nvSpPr>
        <p:spPr>
          <a:xfrm>
            <a:off x="457200" y="2258568"/>
            <a:ext cx="2148840" cy="475488"/>
          </a:xfrm>
          <a:prstGeom prst="roundRect">
            <a:avLst>
              <a:gd name="adj" fmla="val 11538"/>
            </a:avLst>
          </a:prstGeom>
          <a:solidFill>
            <a:srgbClr val="E8F5EF"/>
          </a:solidFill>
          <a:ln w="9525">
            <a:solidFill>
              <a:srgbClr val="D5DED9"/>
            </a:solidFill>
            <a:prstDash val="solid"/>
          </a:ln>
        </p:spPr>
      </p:sp>
      <p:sp>
        <p:nvSpPr>
          <p:cNvPr id="33" name="Text 27"/>
          <p:cNvSpPr txBox="1"/>
          <p:nvPr/>
        </p:nvSpPr>
        <p:spPr>
          <a:xfrm>
            <a:off x="566928" y="2258568"/>
            <a:ext cx="1929384" cy="47548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Internet access quality</a:t>
            </a:r>
            <a:endParaRPr lang="en-US" sz="1150" dirty="0"/>
          </a:p>
        </p:txBody>
      </p:sp>
      <p:sp>
        <p:nvSpPr>
          <p:cNvPr id="34" name="Shape 28"/>
          <p:cNvSpPr/>
          <p:nvPr/>
        </p:nvSpPr>
        <p:spPr>
          <a:xfrm>
            <a:off x="2743200" y="2258568"/>
            <a:ext cx="2148840" cy="475488"/>
          </a:xfrm>
          <a:prstGeom prst="roundRect">
            <a:avLst>
              <a:gd name="adj" fmla="val 11538"/>
            </a:avLst>
          </a:prstGeom>
          <a:solidFill>
            <a:srgbClr val="F4F7F5"/>
          </a:solidFill>
          <a:ln w="9525">
            <a:solidFill>
              <a:srgbClr val="D5DED9"/>
            </a:solidFill>
            <a:prstDash val="solid"/>
          </a:ln>
        </p:spPr>
      </p:sp>
      <p:sp>
        <p:nvSpPr>
          <p:cNvPr id="35" name="Text 29"/>
          <p:cNvSpPr txBox="1"/>
          <p:nvPr/>
        </p:nvSpPr>
        <p:spPr>
          <a:xfrm>
            <a:off x="2852928" y="2258568"/>
            <a:ext cx="1929384" cy="475488"/>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Crowdsourced speed tests</a:t>
            </a:r>
            <a:endParaRPr lang="en-US" sz="1050" dirty="0"/>
          </a:p>
        </p:txBody>
      </p:sp>
      <p:sp>
        <p:nvSpPr>
          <p:cNvPr id="36" name="Shape 30"/>
          <p:cNvSpPr/>
          <p:nvPr/>
        </p:nvSpPr>
        <p:spPr>
          <a:xfrm>
            <a:off x="5029200" y="2258568"/>
            <a:ext cx="3657600" cy="475488"/>
          </a:xfrm>
          <a:prstGeom prst="roundRect">
            <a:avLst>
              <a:gd name="adj" fmla="val 11538"/>
            </a:avLst>
          </a:prstGeom>
          <a:solidFill>
            <a:srgbClr val="FDF6E3"/>
          </a:solidFill>
          <a:ln w="9525">
            <a:solidFill>
              <a:srgbClr val="D49A00"/>
            </a:solidFill>
            <a:prstDash val="solid"/>
          </a:ln>
        </p:spPr>
      </p:sp>
      <p:sp>
        <p:nvSpPr>
          <p:cNvPr id="37" name="Text 31"/>
          <p:cNvSpPr txBox="1"/>
          <p:nvPr/>
        </p:nvSpPr>
        <p:spPr>
          <a:xfrm>
            <a:off x="5138928" y="2258568"/>
            <a:ext cx="3438144" cy="475488"/>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A test is not a user; testers self-select; empty tiles ≠ no signal</a:t>
            </a:r>
            <a:endParaRPr lang="en-US" sz="1050" dirty="0"/>
          </a:p>
        </p:txBody>
      </p:sp>
      <p:sp>
        <p:nvSpPr>
          <p:cNvPr id="38" name="Shape 32"/>
          <p:cNvSpPr/>
          <p:nvPr/>
        </p:nvSpPr>
        <p:spPr>
          <a:xfrm>
            <a:off x="2624328" y="2496312"/>
            <a:ext cx="100584" cy="0"/>
          </a:xfrm>
          <a:prstGeom prst="line">
            <a:avLst/>
          </a:prstGeom>
          <a:noFill/>
          <a:ln w="12700">
            <a:solidFill>
              <a:srgbClr val="5E6964"/>
            </a:solidFill>
            <a:prstDash val="solid"/>
            <a:tailEnd type="triangle"/>
          </a:ln>
        </p:spPr>
      </p:sp>
      <p:sp>
        <p:nvSpPr>
          <p:cNvPr id="39" name="Shape 33"/>
          <p:cNvSpPr/>
          <p:nvPr/>
        </p:nvSpPr>
        <p:spPr>
          <a:xfrm>
            <a:off x="4910328" y="2496312"/>
            <a:ext cx="100584" cy="0"/>
          </a:xfrm>
          <a:prstGeom prst="line">
            <a:avLst/>
          </a:prstGeom>
          <a:noFill/>
          <a:ln w="12700">
            <a:solidFill>
              <a:srgbClr val="5E6964"/>
            </a:solidFill>
            <a:prstDash val="solid"/>
            <a:tailEnd type="triangle"/>
          </a:ln>
        </p:spPr>
      </p:sp>
      <p:sp>
        <p:nvSpPr>
          <p:cNvPr id="40" name="Shape 34"/>
          <p:cNvSpPr/>
          <p:nvPr/>
        </p:nvSpPr>
        <p:spPr>
          <a:xfrm>
            <a:off x="457200" y="2825496"/>
            <a:ext cx="2148840" cy="475488"/>
          </a:xfrm>
          <a:prstGeom prst="roundRect">
            <a:avLst>
              <a:gd name="adj" fmla="val 11538"/>
            </a:avLst>
          </a:prstGeom>
          <a:solidFill>
            <a:srgbClr val="E8F5EF"/>
          </a:solidFill>
          <a:ln w="9525">
            <a:solidFill>
              <a:srgbClr val="D5DED9"/>
            </a:solidFill>
            <a:prstDash val="solid"/>
          </a:ln>
        </p:spPr>
      </p:sp>
      <p:sp>
        <p:nvSpPr>
          <p:cNvPr id="41" name="Text 35"/>
          <p:cNvSpPr txBox="1"/>
          <p:nvPr/>
        </p:nvSpPr>
        <p:spPr>
          <a:xfrm>
            <a:off x="566928" y="2825496"/>
            <a:ext cx="1929384" cy="47548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Population present</a:t>
            </a:r>
            <a:endParaRPr lang="en-US" sz="1150" dirty="0"/>
          </a:p>
        </p:txBody>
      </p:sp>
      <p:sp>
        <p:nvSpPr>
          <p:cNvPr id="42" name="Shape 36"/>
          <p:cNvSpPr/>
          <p:nvPr/>
        </p:nvSpPr>
        <p:spPr>
          <a:xfrm>
            <a:off x="2743200" y="2825496"/>
            <a:ext cx="2148840" cy="475488"/>
          </a:xfrm>
          <a:prstGeom prst="roundRect">
            <a:avLst>
              <a:gd name="adj" fmla="val 11538"/>
            </a:avLst>
          </a:prstGeom>
          <a:solidFill>
            <a:srgbClr val="F4F7F5"/>
          </a:solidFill>
          <a:ln w="9525">
            <a:solidFill>
              <a:srgbClr val="D5DED9"/>
            </a:solidFill>
            <a:prstDash val="solid"/>
          </a:ln>
        </p:spPr>
      </p:sp>
      <p:sp>
        <p:nvSpPr>
          <p:cNvPr id="43" name="Text 37"/>
          <p:cNvSpPr txBox="1"/>
          <p:nvPr/>
        </p:nvSpPr>
        <p:spPr>
          <a:xfrm>
            <a:off x="2852928" y="2825496"/>
            <a:ext cx="1929384" cy="475488"/>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Active SIM cards per antenna</a:t>
            </a:r>
            <a:endParaRPr lang="en-US" sz="1050" dirty="0"/>
          </a:p>
        </p:txBody>
      </p:sp>
      <p:sp>
        <p:nvSpPr>
          <p:cNvPr id="44" name="Shape 38"/>
          <p:cNvSpPr/>
          <p:nvPr/>
        </p:nvSpPr>
        <p:spPr>
          <a:xfrm>
            <a:off x="5029200" y="2825496"/>
            <a:ext cx="3657600" cy="475488"/>
          </a:xfrm>
          <a:prstGeom prst="roundRect">
            <a:avLst>
              <a:gd name="adj" fmla="val 11538"/>
            </a:avLst>
          </a:prstGeom>
          <a:solidFill>
            <a:srgbClr val="FDF6E3"/>
          </a:solidFill>
          <a:ln w="9525">
            <a:solidFill>
              <a:srgbClr val="D49A00"/>
            </a:solidFill>
            <a:prstDash val="solid"/>
          </a:ln>
        </p:spPr>
      </p:sp>
      <p:sp>
        <p:nvSpPr>
          <p:cNvPr id="45" name="Text 39"/>
          <p:cNvSpPr txBox="1"/>
          <p:nvPr/>
        </p:nvSpPr>
        <p:spPr>
          <a:xfrm>
            <a:off x="5138928" y="2825496"/>
            <a:ext cx="3438144" cy="475488"/>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Multi-SIM owners, shared phones, children and the unconnected</a:t>
            </a:r>
            <a:endParaRPr lang="en-US" sz="1050" dirty="0"/>
          </a:p>
        </p:txBody>
      </p:sp>
      <p:sp>
        <p:nvSpPr>
          <p:cNvPr id="46" name="Shape 40"/>
          <p:cNvSpPr/>
          <p:nvPr/>
        </p:nvSpPr>
        <p:spPr>
          <a:xfrm>
            <a:off x="2624328" y="3063240"/>
            <a:ext cx="100584" cy="0"/>
          </a:xfrm>
          <a:prstGeom prst="line">
            <a:avLst/>
          </a:prstGeom>
          <a:noFill/>
          <a:ln w="12700">
            <a:solidFill>
              <a:srgbClr val="5E6964"/>
            </a:solidFill>
            <a:prstDash val="solid"/>
            <a:tailEnd type="triangle"/>
          </a:ln>
        </p:spPr>
      </p:sp>
      <p:sp>
        <p:nvSpPr>
          <p:cNvPr id="47" name="Shape 41"/>
          <p:cNvSpPr/>
          <p:nvPr/>
        </p:nvSpPr>
        <p:spPr>
          <a:xfrm>
            <a:off x="4910328" y="3063240"/>
            <a:ext cx="100584" cy="0"/>
          </a:xfrm>
          <a:prstGeom prst="line">
            <a:avLst/>
          </a:prstGeom>
          <a:noFill/>
          <a:ln w="12700">
            <a:solidFill>
              <a:srgbClr val="5E6964"/>
            </a:solidFill>
            <a:prstDash val="solid"/>
            <a:tailEnd type="triangle"/>
          </a:ln>
        </p:spPr>
      </p:sp>
      <p:sp>
        <p:nvSpPr>
          <p:cNvPr id="48" name="Shape 42"/>
          <p:cNvSpPr/>
          <p:nvPr/>
        </p:nvSpPr>
        <p:spPr>
          <a:xfrm>
            <a:off x="457200" y="3392424"/>
            <a:ext cx="2148840" cy="475488"/>
          </a:xfrm>
          <a:prstGeom prst="roundRect">
            <a:avLst>
              <a:gd name="adj" fmla="val 11538"/>
            </a:avLst>
          </a:prstGeom>
          <a:solidFill>
            <a:srgbClr val="E8F5EF"/>
          </a:solidFill>
          <a:ln w="9525">
            <a:solidFill>
              <a:srgbClr val="D5DED9"/>
            </a:solidFill>
            <a:prstDash val="solid"/>
          </a:ln>
        </p:spPr>
      </p:sp>
      <p:sp>
        <p:nvSpPr>
          <p:cNvPr id="49" name="Text 43"/>
          <p:cNvSpPr txBox="1"/>
          <p:nvPr/>
        </p:nvSpPr>
        <p:spPr>
          <a:xfrm>
            <a:off x="566928" y="3392424"/>
            <a:ext cx="1929384" cy="47548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Consumer prices</a:t>
            </a:r>
            <a:endParaRPr lang="en-US" sz="1150" dirty="0"/>
          </a:p>
        </p:txBody>
      </p:sp>
      <p:sp>
        <p:nvSpPr>
          <p:cNvPr id="50" name="Shape 44"/>
          <p:cNvSpPr/>
          <p:nvPr/>
        </p:nvSpPr>
        <p:spPr>
          <a:xfrm>
            <a:off x="2743200" y="3392424"/>
            <a:ext cx="2148840" cy="475488"/>
          </a:xfrm>
          <a:prstGeom prst="roundRect">
            <a:avLst>
              <a:gd name="adj" fmla="val 11538"/>
            </a:avLst>
          </a:prstGeom>
          <a:solidFill>
            <a:srgbClr val="F4F7F5"/>
          </a:solidFill>
          <a:ln w="9525">
            <a:solidFill>
              <a:srgbClr val="D5DED9"/>
            </a:solidFill>
            <a:prstDash val="solid"/>
          </a:ln>
        </p:spPr>
      </p:sp>
      <p:sp>
        <p:nvSpPr>
          <p:cNvPr id="51" name="Text 45"/>
          <p:cNvSpPr txBox="1"/>
          <p:nvPr/>
        </p:nvSpPr>
        <p:spPr>
          <a:xfrm>
            <a:off x="2852928" y="3392424"/>
            <a:ext cx="1929384" cy="475488"/>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Online advertised prices</a:t>
            </a:r>
            <a:endParaRPr lang="en-US" sz="1050" dirty="0"/>
          </a:p>
        </p:txBody>
      </p:sp>
      <p:sp>
        <p:nvSpPr>
          <p:cNvPr id="52" name="Shape 46"/>
          <p:cNvSpPr/>
          <p:nvPr/>
        </p:nvSpPr>
        <p:spPr>
          <a:xfrm>
            <a:off x="5029200" y="3392424"/>
            <a:ext cx="3657600" cy="475488"/>
          </a:xfrm>
          <a:prstGeom prst="roundRect">
            <a:avLst>
              <a:gd name="adj" fmla="val 11538"/>
            </a:avLst>
          </a:prstGeom>
          <a:solidFill>
            <a:srgbClr val="FDF6E3"/>
          </a:solidFill>
          <a:ln w="9525">
            <a:solidFill>
              <a:srgbClr val="D49A00"/>
            </a:solidFill>
            <a:prstDash val="solid"/>
          </a:ln>
        </p:spPr>
      </p:sp>
      <p:sp>
        <p:nvSpPr>
          <p:cNvPr id="53" name="Text 47"/>
          <p:cNvSpPr txBox="1"/>
          <p:nvPr/>
        </p:nvSpPr>
        <p:spPr>
          <a:xfrm>
            <a:off x="5138928" y="3392424"/>
            <a:ext cx="3438144" cy="475488"/>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An offer is not a transaction; informal markets are absent</a:t>
            </a:r>
            <a:endParaRPr lang="en-US" sz="1050" dirty="0"/>
          </a:p>
        </p:txBody>
      </p:sp>
      <p:sp>
        <p:nvSpPr>
          <p:cNvPr id="54" name="Shape 48"/>
          <p:cNvSpPr/>
          <p:nvPr/>
        </p:nvSpPr>
        <p:spPr>
          <a:xfrm>
            <a:off x="2624328" y="3630168"/>
            <a:ext cx="100584" cy="0"/>
          </a:xfrm>
          <a:prstGeom prst="line">
            <a:avLst/>
          </a:prstGeom>
          <a:noFill/>
          <a:ln w="12700">
            <a:solidFill>
              <a:srgbClr val="5E6964"/>
            </a:solidFill>
            <a:prstDash val="solid"/>
            <a:tailEnd type="triangle"/>
          </a:ln>
        </p:spPr>
      </p:sp>
      <p:sp>
        <p:nvSpPr>
          <p:cNvPr id="55" name="Shape 49"/>
          <p:cNvSpPr/>
          <p:nvPr/>
        </p:nvSpPr>
        <p:spPr>
          <a:xfrm>
            <a:off x="4910328" y="3630168"/>
            <a:ext cx="100584" cy="0"/>
          </a:xfrm>
          <a:prstGeom prst="line">
            <a:avLst/>
          </a:prstGeom>
          <a:noFill/>
          <a:ln w="12700">
            <a:solidFill>
              <a:srgbClr val="5E6964"/>
            </a:solidFill>
            <a:prstDash val="solid"/>
            <a:tailEnd type="triangle"/>
          </a:ln>
        </p:spPr>
      </p:sp>
      <p:sp>
        <p:nvSpPr>
          <p:cNvPr id="56" name="Shape 50"/>
          <p:cNvSpPr/>
          <p:nvPr/>
        </p:nvSpPr>
        <p:spPr>
          <a:xfrm>
            <a:off x="457200" y="3959352"/>
            <a:ext cx="2148840" cy="475488"/>
          </a:xfrm>
          <a:prstGeom prst="roundRect">
            <a:avLst>
              <a:gd name="adj" fmla="val 11538"/>
            </a:avLst>
          </a:prstGeom>
          <a:solidFill>
            <a:srgbClr val="E8F5EF"/>
          </a:solidFill>
          <a:ln w="9525">
            <a:solidFill>
              <a:srgbClr val="D5DED9"/>
            </a:solidFill>
            <a:prstDash val="solid"/>
          </a:ln>
        </p:spPr>
      </p:sp>
      <p:sp>
        <p:nvSpPr>
          <p:cNvPr id="57" name="Text 51"/>
          <p:cNvSpPr txBox="1"/>
          <p:nvPr/>
        </p:nvSpPr>
        <p:spPr>
          <a:xfrm>
            <a:off x="566928" y="3959352"/>
            <a:ext cx="1929384" cy="47548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Public opinion</a:t>
            </a:r>
            <a:endParaRPr lang="en-US" sz="1150" dirty="0"/>
          </a:p>
        </p:txBody>
      </p:sp>
      <p:sp>
        <p:nvSpPr>
          <p:cNvPr id="58" name="Shape 52"/>
          <p:cNvSpPr/>
          <p:nvPr/>
        </p:nvSpPr>
        <p:spPr>
          <a:xfrm>
            <a:off x="2743200" y="3959352"/>
            <a:ext cx="2148840" cy="475488"/>
          </a:xfrm>
          <a:prstGeom prst="roundRect">
            <a:avLst>
              <a:gd name="adj" fmla="val 11538"/>
            </a:avLst>
          </a:prstGeom>
          <a:solidFill>
            <a:srgbClr val="F4F7F5"/>
          </a:solidFill>
          <a:ln w="9525">
            <a:solidFill>
              <a:srgbClr val="D5DED9"/>
            </a:solidFill>
            <a:prstDash val="solid"/>
          </a:ln>
        </p:spPr>
      </p:sp>
      <p:sp>
        <p:nvSpPr>
          <p:cNvPr id="59" name="Text 53"/>
          <p:cNvSpPr txBox="1"/>
          <p:nvPr/>
        </p:nvSpPr>
        <p:spPr>
          <a:xfrm>
            <a:off x="2852928" y="3959352"/>
            <a:ext cx="1929384" cy="475488"/>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Social-media sentiment</a:t>
            </a:r>
            <a:endParaRPr lang="en-US" sz="1050" dirty="0"/>
          </a:p>
        </p:txBody>
      </p:sp>
      <p:sp>
        <p:nvSpPr>
          <p:cNvPr id="60" name="Shape 54"/>
          <p:cNvSpPr/>
          <p:nvPr/>
        </p:nvSpPr>
        <p:spPr>
          <a:xfrm>
            <a:off x="5029200" y="3959352"/>
            <a:ext cx="3657600" cy="475488"/>
          </a:xfrm>
          <a:prstGeom prst="roundRect">
            <a:avLst>
              <a:gd name="adj" fmla="val 11538"/>
            </a:avLst>
          </a:prstGeom>
          <a:solidFill>
            <a:srgbClr val="FDF6E3"/>
          </a:solidFill>
          <a:ln w="9525">
            <a:solidFill>
              <a:srgbClr val="D49A00"/>
            </a:solidFill>
            <a:prstDash val="solid"/>
          </a:ln>
        </p:spPr>
      </p:sp>
      <p:sp>
        <p:nvSpPr>
          <p:cNvPr id="61" name="Text 55"/>
          <p:cNvSpPr txBox="1"/>
          <p:nvPr/>
        </p:nvSpPr>
        <p:spPr>
          <a:xfrm>
            <a:off x="5138928" y="3959352"/>
            <a:ext cx="3438144" cy="475488"/>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Opinion of active users, amplified by platform algorithms</a:t>
            </a:r>
            <a:endParaRPr lang="en-US" sz="1050" dirty="0"/>
          </a:p>
        </p:txBody>
      </p:sp>
      <p:sp>
        <p:nvSpPr>
          <p:cNvPr id="62" name="Shape 56"/>
          <p:cNvSpPr/>
          <p:nvPr/>
        </p:nvSpPr>
        <p:spPr>
          <a:xfrm>
            <a:off x="2624328" y="4197096"/>
            <a:ext cx="100584" cy="0"/>
          </a:xfrm>
          <a:prstGeom prst="line">
            <a:avLst/>
          </a:prstGeom>
          <a:noFill/>
          <a:ln w="12700">
            <a:solidFill>
              <a:srgbClr val="5E6964"/>
            </a:solidFill>
            <a:prstDash val="solid"/>
            <a:tailEnd type="triangle"/>
          </a:ln>
        </p:spPr>
      </p:sp>
      <p:sp>
        <p:nvSpPr>
          <p:cNvPr id="63" name="Shape 57"/>
          <p:cNvSpPr/>
          <p:nvPr/>
        </p:nvSpPr>
        <p:spPr>
          <a:xfrm>
            <a:off x="4910328" y="4197096"/>
            <a:ext cx="100584" cy="0"/>
          </a:xfrm>
          <a:prstGeom prst="line">
            <a:avLst/>
          </a:prstGeom>
          <a:noFill/>
          <a:ln w="12700">
            <a:solidFill>
              <a:srgbClr val="5E6964"/>
            </a:solidFill>
            <a:prstDash val="solid"/>
            <a:tailEnd type="triangle"/>
          </a:ln>
        </p:spPr>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4 OF 6</a:t>
            </a:r>
            <a:endParaRPr lang="en-US" sz="1100" dirty="0"/>
          </a:p>
        </p:txBody>
      </p:sp>
      <p:sp>
        <p:nvSpPr>
          <p:cNvPr id="4" name="Text 1"/>
          <p:cNvSpPr txBox="1"/>
          <p:nvPr/>
        </p:nvSpPr>
        <p:spPr>
          <a:xfrm>
            <a:off x="502920" y="91440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2"/>
          <p:cNvSpPr txBox="1"/>
          <p:nvPr/>
        </p:nvSpPr>
        <p:spPr>
          <a:xfrm>
            <a:off x="548640" y="233172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Access &amp; partnerships</a:t>
            </a:r>
            <a:endParaRPr lang="en-US" sz="3600" dirty="0"/>
          </a:p>
        </p:txBody>
      </p:sp>
      <p:sp>
        <p:nvSpPr>
          <p:cNvPr id="6" name="Text 3"/>
          <p:cNvSpPr txBox="1"/>
          <p:nvPr/>
        </p:nvSpPr>
        <p:spPr>
          <a:xfrm>
            <a:off x="548640" y="3108960"/>
            <a:ext cx="475488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The data exists. Why is getting it the hardest part of the project?</a:t>
            </a:r>
            <a:endParaRPr lang="en-US" sz="1800" dirty="0"/>
          </a:p>
        </p:txBody>
      </p:sp>
      <p:sp>
        <p:nvSpPr>
          <p:cNvPr id="7" name="Shape 4"/>
          <p:cNvSpPr/>
          <p:nvPr/>
        </p:nvSpPr>
        <p:spPr>
          <a:xfrm>
            <a:off x="566928" y="4343400"/>
            <a:ext cx="100584" cy="100584"/>
          </a:xfrm>
          <a:prstGeom prst="ellipse">
            <a:avLst/>
          </a:prstGeom>
          <a:solidFill>
            <a:srgbClr val="FFFFFF">
              <a:alpha val="35000"/>
            </a:srgbClr>
          </a:solidFill>
          <a:ln/>
        </p:spPr>
      </p:sp>
      <p:sp>
        <p:nvSpPr>
          <p:cNvPr id="8" name="Shape 5"/>
          <p:cNvSpPr/>
          <p:nvPr/>
        </p:nvSpPr>
        <p:spPr>
          <a:xfrm>
            <a:off x="749808" y="4343400"/>
            <a:ext cx="100584" cy="100584"/>
          </a:xfrm>
          <a:prstGeom prst="ellipse">
            <a:avLst/>
          </a:prstGeom>
          <a:solidFill>
            <a:srgbClr val="FFFFFF">
              <a:alpha val="35000"/>
            </a:srgbClr>
          </a:solidFill>
          <a:ln/>
        </p:spPr>
      </p:sp>
      <p:sp>
        <p:nvSpPr>
          <p:cNvPr id="9" name="Shape 6"/>
          <p:cNvSpPr/>
          <p:nvPr/>
        </p:nvSpPr>
        <p:spPr>
          <a:xfrm>
            <a:off x="932688" y="4343400"/>
            <a:ext cx="100584" cy="100584"/>
          </a:xfrm>
          <a:prstGeom prst="ellipse">
            <a:avLst/>
          </a:prstGeom>
          <a:solidFill>
            <a:srgbClr val="FFFFFF">
              <a:alpha val="35000"/>
            </a:srgbClr>
          </a:solidFill>
          <a:ln/>
        </p:spPr>
      </p:sp>
      <p:sp>
        <p:nvSpPr>
          <p:cNvPr id="10" name="Shape 7"/>
          <p:cNvSpPr/>
          <p:nvPr/>
        </p:nvSpPr>
        <p:spPr>
          <a:xfrm>
            <a:off x="1115568" y="4343400"/>
            <a:ext cx="100584" cy="100584"/>
          </a:xfrm>
          <a:prstGeom prst="ellipse">
            <a:avLst/>
          </a:prstGeom>
          <a:solidFill>
            <a:srgbClr val="F5C242"/>
          </a:solidFill>
          <a:ln/>
        </p:spPr>
      </p:sp>
      <p:sp>
        <p:nvSpPr>
          <p:cNvPr id="11" name="Shape 8"/>
          <p:cNvSpPr/>
          <p:nvPr/>
        </p:nvSpPr>
        <p:spPr>
          <a:xfrm>
            <a:off x="1298448" y="4343400"/>
            <a:ext cx="100584" cy="100584"/>
          </a:xfrm>
          <a:prstGeom prst="ellipse">
            <a:avLst/>
          </a:prstGeom>
          <a:solidFill>
            <a:srgbClr val="FFFFFF">
              <a:alpha val="35000"/>
            </a:srgbClr>
          </a:solidFill>
          <a:ln/>
        </p:spPr>
      </p:sp>
      <p:sp>
        <p:nvSpPr>
          <p:cNvPr id="12" name="Shape 9"/>
          <p:cNvSpPr/>
          <p:nvPr/>
        </p:nvSpPr>
        <p:spPr>
          <a:xfrm>
            <a:off x="1481328" y="4343400"/>
            <a:ext cx="100584" cy="100584"/>
          </a:xfrm>
          <a:prstGeom prst="ellipse">
            <a:avLst/>
          </a:prstGeom>
          <a:solidFill>
            <a:srgbClr val="FFFFFF">
              <a:alpha val="35000"/>
            </a:srgbClr>
          </a:solidFill>
          <a:ln/>
        </p:spPr>
      </p:sp>
      <p:sp>
        <p:nvSpPr>
          <p:cNvPr id="13" name="Shape 10"/>
          <p:cNvSpPr/>
          <p:nvPr/>
        </p:nvSpPr>
        <p:spPr>
          <a:xfrm>
            <a:off x="5989320" y="1143000"/>
            <a:ext cx="2651760" cy="2651760"/>
          </a:xfrm>
          <a:prstGeom prst="ellipse">
            <a:avLst/>
          </a:prstGeom>
          <a:solidFill>
            <a:srgbClr val="FFFFFF">
              <a:alpha val="12000"/>
            </a:srgbClr>
          </a:solidFill>
          <a:ln/>
        </p:spPr>
      </p:sp>
      <p:sp>
        <p:nvSpPr>
          <p:cNvPr id="14" name="Shape 11"/>
          <p:cNvSpPr/>
          <p:nvPr/>
        </p:nvSpPr>
        <p:spPr>
          <a:xfrm>
            <a:off x="6355080" y="1508760"/>
            <a:ext cx="1920240" cy="1920240"/>
          </a:xfrm>
          <a:prstGeom prst="ellipse">
            <a:avLst/>
          </a:prstGeom>
          <a:solidFill>
            <a:srgbClr val="FFFFFF">
              <a:alpha val="20000"/>
            </a:srgbClr>
          </a:solidFill>
          <a:ln/>
        </p:spPr>
      </p:sp>
      <p:sp>
        <p:nvSpPr>
          <p:cNvPr id="15" name="Shape 12"/>
          <p:cNvSpPr/>
          <p:nvPr/>
        </p:nvSpPr>
        <p:spPr>
          <a:xfrm>
            <a:off x="6675120" y="1828800"/>
            <a:ext cx="1280160" cy="1280160"/>
          </a:xfrm>
          <a:prstGeom prst="ellipse">
            <a:avLst/>
          </a:prstGeom>
          <a:solidFill>
            <a:srgbClr val="FFFFFF"/>
          </a:solidFill>
          <a:ln/>
        </p:spPr>
      </p:sp>
      <p:pic>
        <p:nvPicPr>
          <p:cNvPr id="16" name="Image 0" descr="preencoded.png">    </p:cNvPr>
          <p:cNvPicPr>
            <a:picLocks noChangeAspect="1"/>
          </p:cNvPicPr>
          <p:nvPr/>
        </p:nvPicPr>
        <p:blipFill>
          <a:blip r:embed="rId2"/>
          <a:stretch>
            <a:fillRect/>
          </a:stretch>
        </p:blipFill>
        <p:spPr>
          <a:xfrm>
            <a:off x="6995160" y="2148840"/>
            <a:ext cx="640080" cy="640080"/>
          </a:xfrm>
          <a:prstGeom prst="rect">
            <a:avLst/>
          </a:prstGeom>
        </p:spPr>
      </p:pic>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ACCESS &amp; PARTNERSHIPS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Five ways to obtain data held by others</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From the fastest to start to the most durable. Most mature programmes combine several.</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49A00"/>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8" name="Shape 15"/>
          <p:cNvSpPr/>
          <p:nvPr/>
        </p:nvSpPr>
        <p:spPr>
          <a:xfrm>
            <a:off x="640080" y="1417320"/>
            <a:ext cx="7863840" cy="0"/>
          </a:xfrm>
          <a:prstGeom prst="line">
            <a:avLst/>
          </a:prstGeom>
          <a:noFill/>
          <a:ln w="19050">
            <a:solidFill>
              <a:srgbClr val="D49A00"/>
            </a:solidFill>
            <a:prstDash val="solid"/>
            <a:tailEnd type="triangle"/>
          </a:ln>
        </p:spPr>
      </p:sp>
      <p:sp>
        <p:nvSpPr>
          <p:cNvPr id="19" name="Text 16"/>
          <p:cNvSpPr txBox="1"/>
          <p:nvPr/>
        </p:nvSpPr>
        <p:spPr>
          <a:xfrm>
            <a:off x="457200" y="1188720"/>
            <a:ext cx="18288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faster to start</a:t>
            </a:r>
            <a:endParaRPr lang="en-US" sz="900" dirty="0"/>
          </a:p>
        </p:txBody>
      </p:sp>
      <p:sp>
        <p:nvSpPr>
          <p:cNvPr id="20" name="Text 17"/>
          <p:cNvSpPr txBox="1"/>
          <p:nvPr/>
        </p:nvSpPr>
        <p:spPr>
          <a:xfrm>
            <a:off x="6858000" y="1188720"/>
            <a:ext cx="1828800" cy="182880"/>
          </a:xfrm>
          <a:prstGeom prst="rect">
            <a:avLst/>
          </a:prstGeom>
          <a:noFill/>
          <a:ln/>
        </p:spPr>
        <p:txBody>
          <a:bodyPr wrap="square" lIns="0" tIns="0" rIns="0" bIns="0" rtlCol="0" anchor="t"/>
          <a:lstStyle/>
          <a:p>
            <a:pPr algn="r" indent="0" marL="0">
              <a:buNone/>
            </a:pPr>
            <a:r>
              <a:rPr lang="en-US" sz="900" i="1" dirty="0">
                <a:solidFill>
                  <a:srgbClr val="5E6964"/>
                </a:solidFill>
                <a:latin typeface="Calibri" pitchFamily="34" charset="0"/>
                <a:ea typeface="Calibri" pitchFamily="34" charset="-122"/>
                <a:cs typeface="Calibri" pitchFamily="34" charset="-120"/>
              </a:rPr>
              <a:t>more durable</a:t>
            </a:r>
            <a:endParaRPr lang="en-US" sz="900" dirty="0"/>
          </a:p>
        </p:txBody>
      </p:sp>
      <p:sp>
        <p:nvSpPr>
          <p:cNvPr id="21" name="Shape 18"/>
          <p:cNvSpPr/>
          <p:nvPr/>
        </p:nvSpPr>
        <p:spPr>
          <a:xfrm>
            <a:off x="457200" y="1600200"/>
            <a:ext cx="1554480" cy="2926080"/>
          </a:xfrm>
          <a:prstGeom prst="roundRect">
            <a:avLst>
              <a:gd name="adj" fmla="val 4706"/>
            </a:avLst>
          </a:prstGeom>
          <a:solidFill>
            <a:srgbClr val="F4F7F5"/>
          </a:solidFill>
          <a:ln w="9525">
            <a:solidFill>
              <a:srgbClr val="D5DED9"/>
            </a:solidFill>
            <a:prstDash val="solid"/>
          </a:ln>
        </p:spPr>
      </p:sp>
      <p:sp>
        <p:nvSpPr>
          <p:cNvPr id="22" name="Shape 19"/>
          <p:cNvSpPr/>
          <p:nvPr/>
        </p:nvSpPr>
        <p:spPr>
          <a:xfrm>
            <a:off x="960120" y="1737360"/>
            <a:ext cx="548640" cy="548640"/>
          </a:xfrm>
          <a:prstGeom prst="ellipse">
            <a:avLst/>
          </a:prstGeom>
          <a:solidFill>
            <a:srgbClr val="D49A00">
              <a:alpha val="22000"/>
            </a:srgbClr>
          </a:solidFill>
          <a:ln/>
        </p:spPr>
      </p:sp>
      <p:pic>
        <p:nvPicPr>
          <p:cNvPr id="23" name="Image 0" descr="preencoded.png">    </p:cNvPr>
          <p:cNvPicPr>
            <a:picLocks noChangeAspect="1"/>
          </p:cNvPicPr>
          <p:nvPr/>
        </p:nvPicPr>
        <p:blipFill>
          <a:blip r:embed="rId1"/>
          <a:stretch>
            <a:fillRect/>
          </a:stretch>
        </p:blipFill>
        <p:spPr>
          <a:xfrm>
            <a:off x="1097280" y="1874520"/>
            <a:ext cx="274320" cy="274320"/>
          </a:xfrm>
          <a:prstGeom prst="rect">
            <a:avLst/>
          </a:prstGeom>
        </p:spPr>
      </p:pic>
      <p:sp>
        <p:nvSpPr>
          <p:cNvPr id="24" name="Text 20"/>
          <p:cNvSpPr txBox="1"/>
          <p:nvPr/>
        </p:nvSpPr>
        <p:spPr>
          <a:xfrm>
            <a:off x="530352" y="2359152"/>
            <a:ext cx="1408176" cy="411480"/>
          </a:xfrm>
          <a:prstGeom prst="rect">
            <a:avLst/>
          </a:prstGeom>
          <a:noFill/>
          <a:ln/>
        </p:spPr>
        <p:txBody>
          <a:bodyPr wrap="square" lIns="0" tIns="0" rIns="0" bIns="0" rtlCol="0" anchor="ctr"/>
          <a:lstStyle/>
          <a:p>
            <a:pPr algn="ctr" indent="0" marL="0">
              <a:buNone/>
            </a:pPr>
            <a:r>
              <a:rPr lang="en-US" sz="1250" b="1" dirty="0">
                <a:solidFill>
                  <a:srgbClr val="231F20"/>
                </a:solidFill>
                <a:latin typeface="Calibri" pitchFamily="34" charset="0"/>
                <a:ea typeface="Calibri" pitchFamily="34" charset="-122"/>
                <a:cs typeface="Calibri" pitchFamily="34" charset="-120"/>
              </a:rPr>
              <a:t>Open data</a:t>
            </a:r>
            <a:endParaRPr lang="en-US" sz="1250" dirty="0"/>
          </a:p>
        </p:txBody>
      </p:sp>
      <p:sp>
        <p:nvSpPr>
          <p:cNvPr id="25" name="Text 21"/>
          <p:cNvSpPr txBox="1"/>
          <p:nvPr/>
        </p:nvSpPr>
        <p:spPr>
          <a:xfrm>
            <a:off x="566928" y="2788920"/>
            <a:ext cx="1335024" cy="9601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Published under a licence: satellite archives, Ookla tiles, OpenStreetMap.</a:t>
            </a:r>
            <a:endParaRPr lang="en-US" sz="1000" dirty="0"/>
          </a:p>
        </p:txBody>
      </p:sp>
      <p:pic>
        <p:nvPicPr>
          <p:cNvPr id="26" name="Image 1" descr="preencoded.png">    </p:cNvPr>
          <p:cNvPicPr>
            <a:picLocks noChangeAspect="1"/>
          </p:cNvPicPr>
          <p:nvPr/>
        </p:nvPicPr>
        <p:blipFill>
          <a:blip r:embed="rId2"/>
          <a:stretch>
            <a:fillRect/>
          </a:stretch>
        </p:blipFill>
        <p:spPr>
          <a:xfrm>
            <a:off x="566928" y="3840480"/>
            <a:ext cx="155448" cy="155448"/>
          </a:xfrm>
          <a:prstGeom prst="rect">
            <a:avLst/>
          </a:prstGeom>
        </p:spPr>
      </p:pic>
      <p:sp>
        <p:nvSpPr>
          <p:cNvPr id="27" name="Text 22"/>
          <p:cNvSpPr txBox="1"/>
          <p:nvPr/>
        </p:nvSpPr>
        <p:spPr>
          <a:xfrm>
            <a:off x="777240" y="3803904"/>
            <a:ext cx="1170432" cy="228600"/>
          </a:xfrm>
          <a:prstGeom prst="rect">
            <a:avLst/>
          </a:prstGeom>
          <a:noFill/>
          <a:ln/>
        </p:spPr>
        <p:txBody>
          <a:bodyPr wrap="square" lIns="0" tIns="0" rIns="0" bIns="0" rtlCol="0" anchor="ctr"/>
          <a:lstStyle/>
          <a:p>
            <a:pPr indent="0" marL="0">
              <a:buNone/>
            </a:pPr>
            <a:r>
              <a:rPr lang="en-US" sz="1000" b="1" dirty="0">
                <a:solidFill>
                  <a:srgbClr val="00704A"/>
                </a:solidFill>
                <a:latin typeface="Calibri" pitchFamily="34" charset="0"/>
                <a:ea typeface="Calibri" pitchFamily="34" charset="-122"/>
                <a:cs typeface="Calibri" pitchFamily="34" charset="-120"/>
              </a:rPr>
              <a:t>Immediate</a:t>
            </a:r>
            <a:endParaRPr lang="en-US" sz="1000" dirty="0"/>
          </a:p>
        </p:txBody>
      </p:sp>
      <p:pic>
        <p:nvPicPr>
          <p:cNvPr id="28" name="Image 2" descr="preencoded.png">    </p:cNvPr>
          <p:cNvPicPr>
            <a:picLocks noChangeAspect="1"/>
          </p:cNvPicPr>
          <p:nvPr/>
        </p:nvPicPr>
        <p:blipFill>
          <a:blip r:embed="rId3"/>
          <a:stretch>
            <a:fillRect/>
          </a:stretch>
        </p:blipFill>
        <p:spPr>
          <a:xfrm>
            <a:off x="566928" y="4160520"/>
            <a:ext cx="155448" cy="155448"/>
          </a:xfrm>
          <a:prstGeom prst="rect">
            <a:avLst/>
          </a:prstGeom>
        </p:spPr>
      </p:pic>
      <p:sp>
        <p:nvSpPr>
          <p:cNvPr id="29" name="Text 23"/>
          <p:cNvSpPr txBox="1"/>
          <p:nvPr/>
        </p:nvSpPr>
        <p:spPr>
          <a:xfrm>
            <a:off x="777240" y="4123944"/>
            <a:ext cx="1170432" cy="228600"/>
          </a:xfrm>
          <a:prstGeom prst="rect">
            <a:avLst/>
          </a:prstGeom>
          <a:noFill/>
          <a:ln/>
        </p:spPr>
        <p:txBody>
          <a:bodyPr wrap="square" lIns="0" tIns="0" rIns="0" bIns="0" rtlCol="0" anchor="ctr"/>
          <a:lstStyle/>
          <a:p>
            <a:pPr indent="0" marL="0">
              <a:buNone/>
            </a:pPr>
            <a:r>
              <a:rPr lang="en-US" sz="1000" b="1" dirty="0">
                <a:solidFill>
                  <a:srgbClr val="B83B2E"/>
                </a:solidFill>
                <a:latin typeface="Calibri" pitchFamily="34" charset="0"/>
                <a:ea typeface="Calibri" pitchFamily="34" charset="-122"/>
                <a:cs typeface="Calibri" pitchFamily="34" charset="-120"/>
              </a:rPr>
              <a:t>Licence limits</a:t>
            </a:r>
            <a:endParaRPr lang="en-US" sz="1000" dirty="0"/>
          </a:p>
        </p:txBody>
      </p:sp>
      <p:sp>
        <p:nvSpPr>
          <p:cNvPr id="30" name="Shape 24"/>
          <p:cNvSpPr/>
          <p:nvPr/>
        </p:nvSpPr>
        <p:spPr>
          <a:xfrm>
            <a:off x="2139696" y="1600200"/>
            <a:ext cx="1554480" cy="2926080"/>
          </a:xfrm>
          <a:prstGeom prst="roundRect">
            <a:avLst>
              <a:gd name="adj" fmla="val 4706"/>
            </a:avLst>
          </a:prstGeom>
          <a:solidFill>
            <a:srgbClr val="F4F7F5"/>
          </a:solidFill>
          <a:ln w="9525">
            <a:solidFill>
              <a:srgbClr val="D5DED9"/>
            </a:solidFill>
            <a:prstDash val="solid"/>
          </a:ln>
        </p:spPr>
      </p:sp>
      <p:sp>
        <p:nvSpPr>
          <p:cNvPr id="31" name="Shape 25"/>
          <p:cNvSpPr/>
          <p:nvPr/>
        </p:nvSpPr>
        <p:spPr>
          <a:xfrm>
            <a:off x="2642616" y="1737360"/>
            <a:ext cx="548640" cy="548640"/>
          </a:xfrm>
          <a:prstGeom prst="ellipse">
            <a:avLst/>
          </a:prstGeom>
          <a:solidFill>
            <a:srgbClr val="D49A00">
              <a:alpha val="22000"/>
            </a:srgbClr>
          </a:solidFill>
          <a:ln/>
        </p:spPr>
      </p:sp>
      <p:pic>
        <p:nvPicPr>
          <p:cNvPr id="32" name="Image 3" descr="preencoded.png">    </p:cNvPr>
          <p:cNvPicPr>
            <a:picLocks noChangeAspect="1"/>
          </p:cNvPicPr>
          <p:nvPr/>
        </p:nvPicPr>
        <p:blipFill>
          <a:blip r:embed="rId4"/>
          <a:stretch>
            <a:fillRect/>
          </a:stretch>
        </p:blipFill>
        <p:spPr>
          <a:xfrm>
            <a:off x="2779776" y="1874520"/>
            <a:ext cx="274320" cy="274320"/>
          </a:xfrm>
          <a:prstGeom prst="rect">
            <a:avLst/>
          </a:prstGeom>
        </p:spPr>
      </p:pic>
      <p:sp>
        <p:nvSpPr>
          <p:cNvPr id="33" name="Text 26"/>
          <p:cNvSpPr txBox="1"/>
          <p:nvPr/>
        </p:nvSpPr>
        <p:spPr>
          <a:xfrm>
            <a:off x="2212848" y="2359152"/>
            <a:ext cx="1408176" cy="411480"/>
          </a:xfrm>
          <a:prstGeom prst="rect">
            <a:avLst/>
          </a:prstGeom>
          <a:noFill/>
          <a:ln/>
        </p:spPr>
        <p:txBody>
          <a:bodyPr wrap="square" lIns="0" tIns="0" rIns="0" bIns="0" rtlCol="0" anchor="ctr"/>
          <a:lstStyle/>
          <a:p>
            <a:pPr algn="ctr" indent="0" marL="0">
              <a:buNone/>
            </a:pPr>
            <a:r>
              <a:rPr lang="en-US" sz="1250" b="1" dirty="0">
                <a:solidFill>
                  <a:srgbClr val="231F20"/>
                </a:solidFill>
                <a:latin typeface="Calibri" pitchFamily="34" charset="0"/>
                <a:ea typeface="Calibri" pitchFamily="34" charset="-122"/>
                <a:cs typeface="Calibri" pitchFamily="34" charset="-120"/>
              </a:rPr>
              <a:t>Purchase</a:t>
            </a:r>
            <a:endParaRPr lang="en-US" sz="1250" dirty="0"/>
          </a:p>
        </p:txBody>
      </p:sp>
      <p:sp>
        <p:nvSpPr>
          <p:cNvPr id="34" name="Text 27"/>
          <p:cNvSpPr txBox="1"/>
          <p:nvPr/>
        </p:nvSpPr>
        <p:spPr>
          <a:xfrm>
            <a:off x="2249424" y="2788920"/>
            <a:ext cx="1335024" cy="9601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Licensed from a vendor or aggregator for a defined use.</a:t>
            </a:r>
            <a:endParaRPr lang="en-US" sz="1000" dirty="0"/>
          </a:p>
        </p:txBody>
      </p:sp>
      <p:pic>
        <p:nvPicPr>
          <p:cNvPr id="35" name="Image 4" descr="preencoded.png">    </p:cNvPr>
          <p:cNvPicPr>
            <a:picLocks noChangeAspect="1"/>
          </p:cNvPicPr>
          <p:nvPr/>
        </p:nvPicPr>
        <p:blipFill>
          <a:blip r:embed="rId5"/>
          <a:stretch>
            <a:fillRect/>
          </a:stretch>
        </p:blipFill>
        <p:spPr>
          <a:xfrm>
            <a:off x="2249424" y="3840480"/>
            <a:ext cx="155448" cy="155448"/>
          </a:xfrm>
          <a:prstGeom prst="rect">
            <a:avLst/>
          </a:prstGeom>
        </p:spPr>
      </p:pic>
      <p:sp>
        <p:nvSpPr>
          <p:cNvPr id="36" name="Text 28"/>
          <p:cNvSpPr txBox="1"/>
          <p:nvPr/>
        </p:nvSpPr>
        <p:spPr>
          <a:xfrm>
            <a:off x="2459736" y="3803904"/>
            <a:ext cx="1170432" cy="228600"/>
          </a:xfrm>
          <a:prstGeom prst="rect">
            <a:avLst/>
          </a:prstGeom>
          <a:noFill/>
          <a:ln/>
        </p:spPr>
        <p:txBody>
          <a:bodyPr wrap="square" lIns="0" tIns="0" rIns="0" bIns="0" rtlCol="0" anchor="ctr"/>
          <a:lstStyle/>
          <a:p>
            <a:pPr indent="0" marL="0">
              <a:buNone/>
            </a:pPr>
            <a:r>
              <a:rPr lang="en-US" sz="1000" b="1" dirty="0">
                <a:solidFill>
                  <a:srgbClr val="00704A"/>
                </a:solidFill>
                <a:latin typeface="Calibri" pitchFamily="34" charset="0"/>
                <a:ea typeface="Calibri" pitchFamily="34" charset="-122"/>
                <a:cs typeface="Calibri" pitchFamily="34" charset="-120"/>
              </a:rPr>
              <a:t>Fast, clean</a:t>
            </a:r>
            <a:endParaRPr lang="en-US" sz="1000" dirty="0"/>
          </a:p>
        </p:txBody>
      </p:sp>
      <p:pic>
        <p:nvPicPr>
          <p:cNvPr id="37" name="Image 5" descr="preencoded.png">    </p:cNvPr>
          <p:cNvPicPr>
            <a:picLocks noChangeAspect="1"/>
          </p:cNvPicPr>
          <p:nvPr/>
        </p:nvPicPr>
        <p:blipFill>
          <a:blip r:embed="rId6"/>
          <a:stretch>
            <a:fillRect/>
          </a:stretch>
        </p:blipFill>
        <p:spPr>
          <a:xfrm>
            <a:off x="2249424" y="4160520"/>
            <a:ext cx="155448" cy="155448"/>
          </a:xfrm>
          <a:prstGeom prst="rect">
            <a:avLst/>
          </a:prstGeom>
        </p:spPr>
      </p:pic>
      <p:sp>
        <p:nvSpPr>
          <p:cNvPr id="38" name="Text 29"/>
          <p:cNvSpPr txBox="1"/>
          <p:nvPr/>
        </p:nvSpPr>
        <p:spPr>
          <a:xfrm>
            <a:off x="2459736" y="4123944"/>
            <a:ext cx="1170432" cy="228600"/>
          </a:xfrm>
          <a:prstGeom prst="rect">
            <a:avLst/>
          </a:prstGeom>
          <a:noFill/>
          <a:ln/>
        </p:spPr>
        <p:txBody>
          <a:bodyPr wrap="square" lIns="0" tIns="0" rIns="0" bIns="0" rtlCol="0" anchor="ctr"/>
          <a:lstStyle/>
          <a:p>
            <a:pPr indent="0" marL="0">
              <a:buNone/>
            </a:pPr>
            <a:r>
              <a:rPr lang="en-US" sz="1000" b="1" dirty="0">
                <a:solidFill>
                  <a:srgbClr val="B83B2E"/>
                </a:solidFill>
                <a:latin typeface="Calibri" pitchFamily="34" charset="0"/>
                <a:ea typeface="Calibri" pitchFamily="34" charset="-122"/>
                <a:cs typeface="Calibri" pitchFamily="34" charset="-120"/>
              </a:rPr>
              <a:t>Cost, lock-in</a:t>
            </a:r>
            <a:endParaRPr lang="en-US" sz="1000" dirty="0"/>
          </a:p>
        </p:txBody>
      </p:sp>
      <p:sp>
        <p:nvSpPr>
          <p:cNvPr id="39" name="Shape 30"/>
          <p:cNvSpPr/>
          <p:nvPr/>
        </p:nvSpPr>
        <p:spPr>
          <a:xfrm>
            <a:off x="3822192" y="1600200"/>
            <a:ext cx="1554480" cy="2926080"/>
          </a:xfrm>
          <a:prstGeom prst="roundRect">
            <a:avLst>
              <a:gd name="adj" fmla="val 4706"/>
            </a:avLst>
          </a:prstGeom>
          <a:solidFill>
            <a:srgbClr val="E8F5EF"/>
          </a:solidFill>
          <a:ln w="15875">
            <a:solidFill>
              <a:srgbClr val="D49A00"/>
            </a:solidFill>
            <a:prstDash val="solid"/>
          </a:ln>
        </p:spPr>
      </p:sp>
      <p:sp>
        <p:nvSpPr>
          <p:cNvPr id="40" name="Shape 31"/>
          <p:cNvSpPr/>
          <p:nvPr/>
        </p:nvSpPr>
        <p:spPr>
          <a:xfrm>
            <a:off x="4325112" y="1737360"/>
            <a:ext cx="548640" cy="548640"/>
          </a:xfrm>
          <a:prstGeom prst="ellipse">
            <a:avLst/>
          </a:prstGeom>
          <a:solidFill>
            <a:srgbClr val="D49A00">
              <a:alpha val="22000"/>
            </a:srgbClr>
          </a:solidFill>
          <a:ln/>
        </p:spPr>
      </p:sp>
      <p:pic>
        <p:nvPicPr>
          <p:cNvPr id="41" name="Image 6" descr="preencoded.png">    </p:cNvPr>
          <p:cNvPicPr>
            <a:picLocks noChangeAspect="1"/>
          </p:cNvPicPr>
          <p:nvPr/>
        </p:nvPicPr>
        <p:blipFill>
          <a:blip r:embed="rId7"/>
          <a:stretch>
            <a:fillRect/>
          </a:stretch>
        </p:blipFill>
        <p:spPr>
          <a:xfrm>
            <a:off x="4462272" y="1874520"/>
            <a:ext cx="274320" cy="274320"/>
          </a:xfrm>
          <a:prstGeom prst="rect">
            <a:avLst/>
          </a:prstGeom>
        </p:spPr>
      </p:pic>
      <p:sp>
        <p:nvSpPr>
          <p:cNvPr id="42" name="Text 32"/>
          <p:cNvSpPr txBox="1"/>
          <p:nvPr/>
        </p:nvSpPr>
        <p:spPr>
          <a:xfrm>
            <a:off x="3895344" y="2359152"/>
            <a:ext cx="1408176" cy="411480"/>
          </a:xfrm>
          <a:prstGeom prst="rect">
            <a:avLst/>
          </a:prstGeom>
          <a:noFill/>
          <a:ln/>
        </p:spPr>
        <p:txBody>
          <a:bodyPr wrap="square" lIns="0" tIns="0" rIns="0" bIns="0" rtlCol="0" anchor="ctr"/>
          <a:lstStyle/>
          <a:p>
            <a:pPr algn="ctr" indent="0" marL="0">
              <a:buNone/>
            </a:pPr>
            <a:r>
              <a:rPr lang="en-US" sz="1250" b="1" dirty="0">
                <a:solidFill>
                  <a:srgbClr val="231F20"/>
                </a:solidFill>
                <a:latin typeface="Calibri" pitchFamily="34" charset="0"/>
                <a:ea typeface="Calibri" pitchFamily="34" charset="-122"/>
                <a:cs typeface="Calibri" pitchFamily="34" charset="-120"/>
              </a:rPr>
              <a:t>Bilateral agreement</a:t>
            </a:r>
            <a:endParaRPr lang="en-US" sz="1250" dirty="0"/>
          </a:p>
        </p:txBody>
      </p:sp>
      <p:sp>
        <p:nvSpPr>
          <p:cNvPr id="43" name="Text 33"/>
          <p:cNvSpPr txBox="1"/>
          <p:nvPr/>
        </p:nvSpPr>
        <p:spPr>
          <a:xfrm>
            <a:off x="3931920" y="2788920"/>
            <a:ext cx="1335024" cy="9601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MoU with one firm: scope, outputs, safeguards, mutual benefit.</a:t>
            </a:r>
            <a:endParaRPr lang="en-US" sz="1000" dirty="0"/>
          </a:p>
        </p:txBody>
      </p:sp>
      <p:pic>
        <p:nvPicPr>
          <p:cNvPr id="44" name="Image 7" descr="preencoded.png">    </p:cNvPr>
          <p:cNvPicPr>
            <a:picLocks noChangeAspect="1"/>
          </p:cNvPicPr>
          <p:nvPr/>
        </p:nvPicPr>
        <p:blipFill>
          <a:blip r:embed="rId8"/>
          <a:stretch>
            <a:fillRect/>
          </a:stretch>
        </p:blipFill>
        <p:spPr>
          <a:xfrm>
            <a:off x="3931920" y="3840480"/>
            <a:ext cx="155448" cy="155448"/>
          </a:xfrm>
          <a:prstGeom prst="rect">
            <a:avLst/>
          </a:prstGeom>
        </p:spPr>
      </p:pic>
      <p:sp>
        <p:nvSpPr>
          <p:cNvPr id="45" name="Text 34"/>
          <p:cNvSpPr txBox="1"/>
          <p:nvPr/>
        </p:nvSpPr>
        <p:spPr>
          <a:xfrm>
            <a:off x="4142232" y="3803904"/>
            <a:ext cx="1170432" cy="228600"/>
          </a:xfrm>
          <a:prstGeom prst="rect">
            <a:avLst/>
          </a:prstGeom>
          <a:noFill/>
          <a:ln/>
        </p:spPr>
        <p:txBody>
          <a:bodyPr wrap="square" lIns="0" tIns="0" rIns="0" bIns="0" rtlCol="0" anchor="ctr"/>
          <a:lstStyle/>
          <a:p>
            <a:pPr indent="0" marL="0">
              <a:buNone/>
            </a:pPr>
            <a:r>
              <a:rPr lang="en-US" sz="1000" b="1" dirty="0">
                <a:solidFill>
                  <a:srgbClr val="00704A"/>
                </a:solidFill>
                <a:latin typeface="Calibri" pitchFamily="34" charset="0"/>
                <a:ea typeface="Calibri" pitchFamily="34" charset="-122"/>
                <a:cs typeface="Calibri" pitchFamily="34" charset="-120"/>
              </a:rPr>
              <a:t>Tailored</a:t>
            </a:r>
            <a:endParaRPr lang="en-US" sz="1000" dirty="0"/>
          </a:p>
        </p:txBody>
      </p:sp>
      <p:pic>
        <p:nvPicPr>
          <p:cNvPr id="46" name="Image 8" descr="preencoded.png">    </p:cNvPr>
          <p:cNvPicPr>
            <a:picLocks noChangeAspect="1"/>
          </p:cNvPicPr>
          <p:nvPr/>
        </p:nvPicPr>
        <p:blipFill>
          <a:blip r:embed="rId9"/>
          <a:stretch>
            <a:fillRect/>
          </a:stretch>
        </p:blipFill>
        <p:spPr>
          <a:xfrm>
            <a:off x="3931920" y="4160520"/>
            <a:ext cx="155448" cy="155448"/>
          </a:xfrm>
          <a:prstGeom prst="rect">
            <a:avLst/>
          </a:prstGeom>
        </p:spPr>
      </p:pic>
      <p:sp>
        <p:nvSpPr>
          <p:cNvPr id="47" name="Text 35"/>
          <p:cNvSpPr txBox="1"/>
          <p:nvPr/>
        </p:nvSpPr>
        <p:spPr>
          <a:xfrm>
            <a:off x="4142232" y="4123944"/>
            <a:ext cx="1170432" cy="228600"/>
          </a:xfrm>
          <a:prstGeom prst="rect">
            <a:avLst/>
          </a:prstGeom>
          <a:noFill/>
          <a:ln/>
        </p:spPr>
        <p:txBody>
          <a:bodyPr wrap="square" lIns="0" tIns="0" rIns="0" bIns="0" rtlCol="0" anchor="ctr"/>
          <a:lstStyle/>
          <a:p>
            <a:pPr indent="0" marL="0">
              <a:buNone/>
            </a:pPr>
            <a:r>
              <a:rPr lang="en-US" sz="1000" b="1" dirty="0">
                <a:solidFill>
                  <a:srgbClr val="B83B2E"/>
                </a:solidFill>
                <a:latin typeface="Calibri" pitchFamily="34" charset="0"/>
                <a:ea typeface="Calibri" pitchFamily="34" charset="-122"/>
                <a:cs typeface="Calibri" pitchFamily="34" charset="-120"/>
              </a:rPr>
              <a:t>Slow to negotiate</a:t>
            </a:r>
            <a:endParaRPr lang="en-US" sz="1000" dirty="0"/>
          </a:p>
        </p:txBody>
      </p:sp>
      <p:sp>
        <p:nvSpPr>
          <p:cNvPr id="48" name="Shape 36"/>
          <p:cNvSpPr/>
          <p:nvPr/>
        </p:nvSpPr>
        <p:spPr>
          <a:xfrm>
            <a:off x="5504688" y="1600200"/>
            <a:ext cx="1554480" cy="2926080"/>
          </a:xfrm>
          <a:prstGeom prst="roundRect">
            <a:avLst>
              <a:gd name="adj" fmla="val 4706"/>
            </a:avLst>
          </a:prstGeom>
          <a:solidFill>
            <a:srgbClr val="F4F7F5"/>
          </a:solidFill>
          <a:ln w="9525">
            <a:solidFill>
              <a:srgbClr val="D5DED9"/>
            </a:solidFill>
            <a:prstDash val="solid"/>
          </a:ln>
        </p:spPr>
      </p:sp>
      <p:sp>
        <p:nvSpPr>
          <p:cNvPr id="49" name="Shape 37"/>
          <p:cNvSpPr/>
          <p:nvPr/>
        </p:nvSpPr>
        <p:spPr>
          <a:xfrm>
            <a:off x="6007608" y="1737360"/>
            <a:ext cx="548640" cy="548640"/>
          </a:xfrm>
          <a:prstGeom prst="ellipse">
            <a:avLst/>
          </a:prstGeom>
          <a:solidFill>
            <a:srgbClr val="D49A00">
              <a:alpha val="22000"/>
            </a:srgbClr>
          </a:solidFill>
          <a:ln/>
        </p:spPr>
      </p:sp>
      <p:pic>
        <p:nvPicPr>
          <p:cNvPr id="50" name="Image 9" descr="preencoded.png">    </p:cNvPr>
          <p:cNvPicPr>
            <a:picLocks noChangeAspect="1"/>
          </p:cNvPicPr>
          <p:nvPr/>
        </p:nvPicPr>
        <p:blipFill>
          <a:blip r:embed="rId10"/>
          <a:stretch>
            <a:fillRect/>
          </a:stretch>
        </p:blipFill>
        <p:spPr>
          <a:xfrm>
            <a:off x="6144768" y="1874520"/>
            <a:ext cx="274320" cy="274320"/>
          </a:xfrm>
          <a:prstGeom prst="rect">
            <a:avLst/>
          </a:prstGeom>
        </p:spPr>
      </p:pic>
      <p:sp>
        <p:nvSpPr>
          <p:cNvPr id="51" name="Text 38"/>
          <p:cNvSpPr txBox="1"/>
          <p:nvPr/>
        </p:nvSpPr>
        <p:spPr>
          <a:xfrm>
            <a:off x="5577840" y="2359152"/>
            <a:ext cx="1408176" cy="411480"/>
          </a:xfrm>
          <a:prstGeom prst="rect">
            <a:avLst/>
          </a:prstGeom>
          <a:noFill/>
          <a:ln/>
        </p:spPr>
        <p:txBody>
          <a:bodyPr wrap="square" lIns="0" tIns="0" rIns="0" bIns="0" rtlCol="0" anchor="ctr"/>
          <a:lstStyle/>
          <a:p>
            <a:pPr algn="ctr" indent="0" marL="0">
              <a:buNone/>
            </a:pPr>
            <a:r>
              <a:rPr lang="en-US" sz="1250" b="1" dirty="0">
                <a:solidFill>
                  <a:srgbClr val="231F20"/>
                </a:solidFill>
                <a:latin typeface="Calibri" pitchFamily="34" charset="0"/>
                <a:ea typeface="Calibri" pitchFamily="34" charset="-122"/>
                <a:cs typeface="Calibri" pitchFamily="34" charset="-120"/>
              </a:rPr>
              <a:t>Data collaborative</a:t>
            </a:r>
            <a:endParaRPr lang="en-US" sz="1250" dirty="0"/>
          </a:p>
        </p:txBody>
      </p:sp>
      <p:sp>
        <p:nvSpPr>
          <p:cNvPr id="52" name="Text 39"/>
          <p:cNvSpPr txBox="1"/>
          <p:nvPr/>
        </p:nvSpPr>
        <p:spPr>
          <a:xfrm>
            <a:off x="5614416" y="2788920"/>
            <a:ext cx="1335024" cy="9601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Several holders pool data for a public purpose via a trusted third party.</a:t>
            </a:r>
            <a:endParaRPr lang="en-US" sz="1000" dirty="0"/>
          </a:p>
        </p:txBody>
      </p:sp>
      <p:pic>
        <p:nvPicPr>
          <p:cNvPr id="53" name="Image 10" descr="preencoded.png">    </p:cNvPr>
          <p:cNvPicPr>
            <a:picLocks noChangeAspect="1"/>
          </p:cNvPicPr>
          <p:nvPr/>
        </p:nvPicPr>
        <p:blipFill>
          <a:blip r:embed="rId11"/>
          <a:stretch>
            <a:fillRect/>
          </a:stretch>
        </p:blipFill>
        <p:spPr>
          <a:xfrm>
            <a:off x="5614416" y="3840480"/>
            <a:ext cx="155448" cy="155448"/>
          </a:xfrm>
          <a:prstGeom prst="rect">
            <a:avLst/>
          </a:prstGeom>
        </p:spPr>
      </p:pic>
      <p:sp>
        <p:nvSpPr>
          <p:cNvPr id="54" name="Text 40"/>
          <p:cNvSpPr txBox="1"/>
          <p:nvPr/>
        </p:nvSpPr>
        <p:spPr>
          <a:xfrm>
            <a:off x="5824728" y="3803904"/>
            <a:ext cx="1170432" cy="228600"/>
          </a:xfrm>
          <a:prstGeom prst="rect">
            <a:avLst/>
          </a:prstGeom>
          <a:noFill/>
          <a:ln/>
        </p:spPr>
        <p:txBody>
          <a:bodyPr wrap="square" lIns="0" tIns="0" rIns="0" bIns="0" rtlCol="0" anchor="ctr"/>
          <a:lstStyle/>
          <a:p>
            <a:pPr indent="0" marL="0">
              <a:buNone/>
            </a:pPr>
            <a:r>
              <a:rPr lang="en-US" sz="1000" b="1" dirty="0">
                <a:solidFill>
                  <a:srgbClr val="00704A"/>
                </a:solidFill>
                <a:latin typeface="Calibri" pitchFamily="34" charset="0"/>
                <a:ea typeface="Calibri" pitchFamily="34" charset="-122"/>
                <a:cs typeface="Calibri" pitchFamily="34" charset="-120"/>
              </a:rPr>
              <a:t>Scale, neutrality</a:t>
            </a:r>
            <a:endParaRPr lang="en-US" sz="1000" dirty="0"/>
          </a:p>
        </p:txBody>
      </p:sp>
      <p:pic>
        <p:nvPicPr>
          <p:cNvPr id="55" name="Image 11" descr="preencoded.png">    </p:cNvPr>
          <p:cNvPicPr>
            <a:picLocks noChangeAspect="1"/>
          </p:cNvPicPr>
          <p:nvPr/>
        </p:nvPicPr>
        <p:blipFill>
          <a:blip r:embed="rId12"/>
          <a:stretch>
            <a:fillRect/>
          </a:stretch>
        </p:blipFill>
        <p:spPr>
          <a:xfrm>
            <a:off x="5614416" y="4160520"/>
            <a:ext cx="155448" cy="155448"/>
          </a:xfrm>
          <a:prstGeom prst="rect">
            <a:avLst/>
          </a:prstGeom>
        </p:spPr>
      </p:pic>
      <p:sp>
        <p:nvSpPr>
          <p:cNvPr id="56" name="Text 41"/>
          <p:cNvSpPr txBox="1"/>
          <p:nvPr/>
        </p:nvSpPr>
        <p:spPr>
          <a:xfrm>
            <a:off x="5824728" y="4123944"/>
            <a:ext cx="1170432" cy="228600"/>
          </a:xfrm>
          <a:prstGeom prst="rect">
            <a:avLst/>
          </a:prstGeom>
          <a:noFill/>
          <a:ln/>
        </p:spPr>
        <p:txBody>
          <a:bodyPr wrap="square" lIns="0" tIns="0" rIns="0" bIns="0" rtlCol="0" anchor="ctr"/>
          <a:lstStyle/>
          <a:p>
            <a:pPr indent="0" marL="0">
              <a:buNone/>
            </a:pPr>
            <a:r>
              <a:rPr lang="en-US" sz="1000" b="1" dirty="0">
                <a:solidFill>
                  <a:srgbClr val="B83B2E"/>
                </a:solidFill>
                <a:latin typeface="Calibri" pitchFamily="34" charset="0"/>
                <a:ea typeface="Calibri" pitchFamily="34" charset="-122"/>
                <a:cs typeface="Calibri" pitchFamily="34" charset="-120"/>
              </a:rPr>
              <a:t>Governance load</a:t>
            </a:r>
            <a:endParaRPr lang="en-US" sz="1000" dirty="0"/>
          </a:p>
        </p:txBody>
      </p:sp>
      <p:sp>
        <p:nvSpPr>
          <p:cNvPr id="57" name="Shape 42"/>
          <p:cNvSpPr/>
          <p:nvPr/>
        </p:nvSpPr>
        <p:spPr>
          <a:xfrm>
            <a:off x="7187184" y="1600200"/>
            <a:ext cx="1554480" cy="2926080"/>
          </a:xfrm>
          <a:prstGeom prst="roundRect">
            <a:avLst>
              <a:gd name="adj" fmla="val 4706"/>
            </a:avLst>
          </a:prstGeom>
          <a:solidFill>
            <a:srgbClr val="F4F7F5"/>
          </a:solidFill>
          <a:ln w="9525">
            <a:solidFill>
              <a:srgbClr val="D5DED9"/>
            </a:solidFill>
            <a:prstDash val="solid"/>
          </a:ln>
        </p:spPr>
      </p:sp>
      <p:sp>
        <p:nvSpPr>
          <p:cNvPr id="58" name="Shape 43"/>
          <p:cNvSpPr/>
          <p:nvPr/>
        </p:nvSpPr>
        <p:spPr>
          <a:xfrm>
            <a:off x="7690104" y="1737360"/>
            <a:ext cx="548640" cy="548640"/>
          </a:xfrm>
          <a:prstGeom prst="ellipse">
            <a:avLst/>
          </a:prstGeom>
          <a:solidFill>
            <a:srgbClr val="D49A00">
              <a:alpha val="22000"/>
            </a:srgbClr>
          </a:solidFill>
          <a:ln/>
        </p:spPr>
      </p:sp>
      <p:pic>
        <p:nvPicPr>
          <p:cNvPr id="59" name="Image 12" descr="preencoded.png">    </p:cNvPr>
          <p:cNvPicPr>
            <a:picLocks noChangeAspect="1"/>
          </p:cNvPicPr>
          <p:nvPr/>
        </p:nvPicPr>
        <p:blipFill>
          <a:blip r:embed="rId13"/>
          <a:stretch>
            <a:fillRect/>
          </a:stretch>
        </p:blipFill>
        <p:spPr>
          <a:xfrm>
            <a:off x="7827264" y="1874520"/>
            <a:ext cx="274320" cy="274320"/>
          </a:xfrm>
          <a:prstGeom prst="rect">
            <a:avLst/>
          </a:prstGeom>
        </p:spPr>
      </p:pic>
      <p:sp>
        <p:nvSpPr>
          <p:cNvPr id="60" name="Text 44"/>
          <p:cNvSpPr txBox="1"/>
          <p:nvPr/>
        </p:nvSpPr>
        <p:spPr>
          <a:xfrm>
            <a:off x="7260336" y="2359152"/>
            <a:ext cx="1408176" cy="411480"/>
          </a:xfrm>
          <a:prstGeom prst="rect">
            <a:avLst/>
          </a:prstGeom>
          <a:noFill/>
          <a:ln/>
        </p:spPr>
        <p:txBody>
          <a:bodyPr wrap="square" lIns="0" tIns="0" rIns="0" bIns="0" rtlCol="0" anchor="ctr"/>
          <a:lstStyle/>
          <a:p>
            <a:pPr algn="ctr" indent="0" marL="0">
              <a:buNone/>
            </a:pPr>
            <a:r>
              <a:rPr lang="en-US" sz="1250" b="1" dirty="0">
                <a:solidFill>
                  <a:srgbClr val="231F20"/>
                </a:solidFill>
                <a:latin typeface="Calibri" pitchFamily="34" charset="0"/>
                <a:ea typeface="Calibri" pitchFamily="34" charset="-122"/>
                <a:cs typeface="Calibri" pitchFamily="34" charset="-120"/>
              </a:rPr>
              <a:t>Legal mandate</a:t>
            </a:r>
            <a:endParaRPr lang="en-US" sz="1250" dirty="0"/>
          </a:p>
        </p:txBody>
      </p:sp>
      <p:sp>
        <p:nvSpPr>
          <p:cNvPr id="61" name="Text 45"/>
          <p:cNvSpPr txBox="1"/>
          <p:nvPr/>
        </p:nvSpPr>
        <p:spPr>
          <a:xfrm>
            <a:off x="7296912" y="2788920"/>
            <a:ext cx="1335024" cy="9601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The statistics act obliges holders to supply data for official statistics.</a:t>
            </a:r>
            <a:endParaRPr lang="en-US" sz="1000" dirty="0"/>
          </a:p>
        </p:txBody>
      </p:sp>
      <p:pic>
        <p:nvPicPr>
          <p:cNvPr id="62" name="Image 13" descr="preencoded.png">    </p:cNvPr>
          <p:cNvPicPr>
            <a:picLocks noChangeAspect="1"/>
          </p:cNvPicPr>
          <p:nvPr/>
        </p:nvPicPr>
        <p:blipFill>
          <a:blip r:embed="rId14"/>
          <a:stretch>
            <a:fillRect/>
          </a:stretch>
        </p:blipFill>
        <p:spPr>
          <a:xfrm>
            <a:off x="7296912" y="3840480"/>
            <a:ext cx="155448" cy="155448"/>
          </a:xfrm>
          <a:prstGeom prst="rect">
            <a:avLst/>
          </a:prstGeom>
        </p:spPr>
      </p:pic>
      <p:sp>
        <p:nvSpPr>
          <p:cNvPr id="63" name="Text 46"/>
          <p:cNvSpPr txBox="1"/>
          <p:nvPr/>
        </p:nvSpPr>
        <p:spPr>
          <a:xfrm>
            <a:off x="7507224" y="3803904"/>
            <a:ext cx="1170432" cy="228600"/>
          </a:xfrm>
          <a:prstGeom prst="rect">
            <a:avLst/>
          </a:prstGeom>
          <a:noFill/>
          <a:ln/>
        </p:spPr>
        <p:txBody>
          <a:bodyPr wrap="square" lIns="0" tIns="0" rIns="0" bIns="0" rtlCol="0" anchor="ctr"/>
          <a:lstStyle/>
          <a:p>
            <a:pPr indent="0" marL="0">
              <a:buNone/>
            </a:pPr>
            <a:r>
              <a:rPr lang="en-US" sz="1000" b="1" dirty="0">
                <a:solidFill>
                  <a:srgbClr val="00704A"/>
                </a:solidFill>
                <a:latin typeface="Calibri" pitchFamily="34" charset="0"/>
                <a:ea typeface="Calibri" pitchFamily="34" charset="-122"/>
                <a:cs typeface="Calibri" pitchFamily="34" charset="-120"/>
              </a:rPr>
              <a:t>Durable</a:t>
            </a:r>
            <a:endParaRPr lang="en-US" sz="1000" dirty="0"/>
          </a:p>
        </p:txBody>
      </p:sp>
      <p:pic>
        <p:nvPicPr>
          <p:cNvPr id="64" name="Image 14" descr="preencoded.png">    </p:cNvPr>
          <p:cNvPicPr>
            <a:picLocks noChangeAspect="1"/>
          </p:cNvPicPr>
          <p:nvPr/>
        </p:nvPicPr>
        <p:blipFill>
          <a:blip r:embed="rId15"/>
          <a:stretch>
            <a:fillRect/>
          </a:stretch>
        </p:blipFill>
        <p:spPr>
          <a:xfrm>
            <a:off x="7296912" y="4160520"/>
            <a:ext cx="155448" cy="155448"/>
          </a:xfrm>
          <a:prstGeom prst="rect">
            <a:avLst/>
          </a:prstGeom>
        </p:spPr>
      </p:pic>
      <p:sp>
        <p:nvSpPr>
          <p:cNvPr id="65" name="Text 47"/>
          <p:cNvSpPr txBox="1"/>
          <p:nvPr/>
        </p:nvSpPr>
        <p:spPr>
          <a:xfrm>
            <a:off x="7507224" y="4123944"/>
            <a:ext cx="1170432" cy="228600"/>
          </a:xfrm>
          <a:prstGeom prst="rect">
            <a:avLst/>
          </a:prstGeom>
          <a:noFill/>
          <a:ln/>
        </p:spPr>
        <p:txBody>
          <a:bodyPr wrap="square" lIns="0" tIns="0" rIns="0" bIns="0" rtlCol="0" anchor="ctr"/>
          <a:lstStyle/>
          <a:p>
            <a:pPr indent="0" marL="0">
              <a:buNone/>
            </a:pPr>
            <a:r>
              <a:rPr lang="en-US" sz="1000" b="1" dirty="0">
                <a:solidFill>
                  <a:srgbClr val="B83B2E"/>
                </a:solidFill>
                <a:latin typeface="Calibri" pitchFamily="34" charset="0"/>
                <a:ea typeface="Calibri" pitchFamily="34" charset="-122"/>
                <a:cs typeface="Calibri" pitchFamily="34" charset="-120"/>
              </a:rPr>
              <a:t>Slow, political</a:t>
            </a:r>
            <a:endParaRPr lang="en-US" sz="10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ACCESS &amp; PARTNERSHIPS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How the data moves matters as much as who owns it</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Four technical access modes, from most to least exposure of individual records.</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49A00"/>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8" name="Shape 15"/>
          <p:cNvSpPr/>
          <p:nvPr/>
        </p:nvSpPr>
        <p:spPr>
          <a:xfrm>
            <a:off x="457200" y="1325880"/>
            <a:ext cx="5577840" cy="694944"/>
          </a:xfrm>
          <a:prstGeom prst="roundRect">
            <a:avLst>
              <a:gd name="adj" fmla="val 10526"/>
            </a:avLst>
          </a:prstGeom>
          <a:solidFill>
            <a:srgbClr val="F4F7F5"/>
          </a:solidFill>
          <a:ln w="9525">
            <a:solidFill>
              <a:srgbClr val="D5DED9"/>
            </a:solidFill>
            <a:prstDash val="solid"/>
          </a:ln>
        </p:spPr>
      </p:sp>
      <p:sp>
        <p:nvSpPr>
          <p:cNvPr id="19" name="Shape 16"/>
          <p:cNvSpPr/>
          <p:nvPr/>
        </p:nvSpPr>
        <p:spPr>
          <a:xfrm>
            <a:off x="566928" y="1444752"/>
            <a:ext cx="457200" cy="457200"/>
          </a:xfrm>
          <a:prstGeom prst="ellipse">
            <a:avLst/>
          </a:prstGeom>
          <a:solidFill>
            <a:srgbClr val="D49A00">
              <a:alpha val="22000"/>
            </a:srgbClr>
          </a:solidFill>
          <a:ln/>
        </p:spPr>
      </p:sp>
      <p:pic>
        <p:nvPicPr>
          <p:cNvPr id="20" name="Image 0" descr="preencoded.png">    </p:cNvPr>
          <p:cNvPicPr>
            <a:picLocks noChangeAspect="1"/>
          </p:cNvPicPr>
          <p:nvPr/>
        </p:nvPicPr>
        <p:blipFill>
          <a:blip r:embed="rId1"/>
          <a:stretch>
            <a:fillRect/>
          </a:stretch>
        </p:blipFill>
        <p:spPr>
          <a:xfrm>
            <a:off x="681228" y="1559052"/>
            <a:ext cx="228600" cy="228600"/>
          </a:xfrm>
          <a:prstGeom prst="rect">
            <a:avLst/>
          </a:prstGeom>
        </p:spPr>
      </p:pic>
      <p:sp>
        <p:nvSpPr>
          <p:cNvPr id="21" name="Text 17"/>
          <p:cNvSpPr txBox="1"/>
          <p:nvPr/>
        </p:nvSpPr>
        <p:spPr>
          <a:xfrm>
            <a:off x="1143000" y="1399032"/>
            <a:ext cx="2011680" cy="27432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Raw microdata transfer</a:t>
            </a:r>
            <a:endParaRPr lang="en-US" sz="1250" dirty="0"/>
          </a:p>
        </p:txBody>
      </p:sp>
      <p:sp>
        <p:nvSpPr>
          <p:cNvPr id="22" name="Text 18"/>
          <p:cNvSpPr txBox="1"/>
          <p:nvPr/>
        </p:nvSpPr>
        <p:spPr>
          <a:xfrm>
            <a:off x="1143000" y="1673352"/>
            <a:ext cx="2011680" cy="310896"/>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Records copied to the NSO</a:t>
            </a:r>
            <a:endParaRPr lang="en-US" sz="950" dirty="0"/>
          </a:p>
        </p:txBody>
      </p:sp>
      <p:sp>
        <p:nvSpPr>
          <p:cNvPr id="23" name="Text 19"/>
          <p:cNvSpPr txBox="1"/>
          <p:nvPr/>
        </p:nvSpPr>
        <p:spPr>
          <a:xfrm>
            <a:off x="3246120" y="1380744"/>
            <a:ext cx="2697480" cy="58521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Maximum flexibility; highest disclosure risk; rarely accepted by providers.</a:t>
            </a:r>
            <a:endParaRPr lang="en-US" sz="1050" dirty="0"/>
          </a:p>
        </p:txBody>
      </p:sp>
      <p:sp>
        <p:nvSpPr>
          <p:cNvPr id="24" name="Shape 20"/>
          <p:cNvSpPr/>
          <p:nvPr/>
        </p:nvSpPr>
        <p:spPr>
          <a:xfrm>
            <a:off x="457200" y="2130552"/>
            <a:ext cx="5577840" cy="694944"/>
          </a:xfrm>
          <a:prstGeom prst="roundRect">
            <a:avLst>
              <a:gd name="adj" fmla="val 10526"/>
            </a:avLst>
          </a:prstGeom>
          <a:solidFill>
            <a:srgbClr val="F4F7F5"/>
          </a:solidFill>
          <a:ln w="9525">
            <a:solidFill>
              <a:srgbClr val="D5DED9"/>
            </a:solidFill>
            <a:prstDash val="solid"/>
          </a:ln>
        </p:spPr>
      </p:sp>
      <p:sp>
        <p:nvSpPr>
          <p:cNvPr id="25" name="Shape 21"/>
          <p:cNvSpPr/>
          <p:nvPr/>
        </p:nvSpPr>
        <p:spPr>
          <a:xfrm>
            <a:off x="566928" y="2249424"/>
            <a:ext cx="457200" cy="457200"/>
          </a:xfrm>
          <a:prstGeom prst="ellipse">
            <a:avLst/>
          </a:prstGeom>
          <a:solidFill>
            <a:srgbClr val="D49A00">
              <a:alpha val="22000"/>
            </a:srgbClr>
          </a:solidFill>
          <a:ln/>
        </p:spPr>
      </p:sp>
      <p:pic>
        <p:nvPicPr>
          <p:cNvPr id="26" name="Image 1" descr="preencoded.png">    </p:cNvPr>
          <p:cNvPicPr>
            <a:picLocks noChangeAspect="1"/>
          </p:cNvPicPr>
          <p:nvPr/>
        </p:nvPicPr>
        <p:blipFill>
          <a:blip r:embed="rId2"/>
          <a:stretch>
            <a:fillRect/>
          </a:stretch>
        </p:blipFill>
        <p:spPr>
          <a:xfrm>
            <a:off x="681228" y="2363724"/>
            <a:ext cx="228600" cy="228600"/>
          </a:xfrm>
          <a:prstGeom prst="rect">
            <a:avLst/>
          </a:prstGeom>
        </p:spPr>
      </p:pic>
      <p:sp>
        <p:nvSpPr>
          <p:cNvPr id="27" name="Text 22"/>
          <p:cNvSpPr txBox="1"/>
          <p:nvPr/>
        </p:nvSpPr>
        <p:spPr>
          <a:xfrm>
            <a:off x="1143000" y="2203704"/>
            <a:ext cx="2011680" cy="27432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Pre-aggregated indicators</a:t>
            </a:r>
            <a:endParaRPr lang="en-US" sz="1250" dirty="0"/>
          </a:p>
        </p:txBody>
      </p:sp>
      <p:sp>
        <p:nvSpPr>
          <p:cNvPr id="28" name="Text 23"/>
          <p:cNvSpPr txBox="1"/>
          <p:nvPr/>
        </p:nvSpPr>
        <p:spPr>
          <a:xfrm>
            <a:off x="1143000" y="2478024"/>
            <a:ext cx="2011680" cy="310896"/>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Provider computes agreed tables</a:t>
            </a:r>
            <a:endParaRPr lang="en-US" sz="950" dirty="0"/>
          </a:p>
        </p:txBody>
      </p:sp>
      <p:sp>
        <p:nvSpPr>
          <p:cNvPr id="29" name="Text 24"/>
          <p:cNvSpPr txBox="1"/>
          <p:nvPr/>
        </p:nvSpPr>
        <p:spPr>
          <a:xfrm>
            <a:off x="3246120" y="2185416"/>
            <a:ext cx="2697480" cy="58521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Simple and safe; method becomes a black box and hard to change.</a:t>
            </a:r>
            <a:endParaRPr lang="en-US" sz="1050" dirty="0"/>
          </a:p>
        </p:txBody>
      </p:sp>
      <p:sp>
        <p:nvSpPr>
          <p:cNvPr id="30" name="Shape 25"/>
          <p:cNvSpPr/>
          <p:nvPr/>
        </p:nvSpPr>
        <p:spPr>
          <a:xfrm>
            <a:off x="457200" y="2935224"/>
            <a:ext cx="5577840" cy="694944"/>
          </a:xfrm>
          <a:prstGeom prst="roundRect">
            <a:avLst>
              <a:gd name="adj" fmla="val 10526"/>
            </a:avLst>
          </a:prstGeom>
          <a:solidFill>
            <a:srgbClr val="E8F5EF"/>
          </a:solidFill>
          <a:ln w="15875">
            <a:solidFill>
              <a:srgbClr val="D49A00"/>
            </a:solidFill>
            <a:prstDash val="solid"/>
          </a:ln>
        </p:spPr>
      </p:sp>
      <p:sp>
        <p:nvSpPr>
          <p:cNvPr id="31" name="Shape 26"/>
          <p:cNvSpPr/>
          <p:nvPr/>
        </p:nvSpPr>
        <p:spPr>
          <a:xfrm>
            <a:off x="566928" y="3054096"/>
            <a:ext cx="457200" cy="457200"/>
          </a:xfrm>
          <a:prstGeom prst="ellipse">
            <a:avLst/>
          </a:prstGeom>
          <a:solidFill>
            <a:srgbClr val="D49A00">
              <a:alpha val="22000"/>
            </a:srgbClr>
          </a:solidFill>
          <a:ln/>
        </p:spPr>
      </p:sp>
      <p:pic>
        <p:nvPicPr>
          <p:cNvPr id="32" name="Image 2" descr="preencoded.png">    </p:cNvPr>
          <p:cNvPicPr>
            <a:picLocks noChangeAspect="1"/>
          </p:cNvPicPr>
          <p:nvPr/>
        </p:nvPicPr>
        <p:blipFill>
          <a:blip r:embed="rId3"/>
          <a:stretch>
            <a:fillRect/>
          </a:stretch>
        </p:blipFill>
        <p:spPr>
          <a:xfrm>
            <a:off x="681228" y="3168396"/>
            <a:ext cx="228600" cy="228600"/>
          </a:xfrm>
          <a:prstGeom prst="rect">
            <a:avLst/>
          </a:prstGeom>
        </p:spPr>
      </p:pic>
      <p:sp>
        <p:nvSpPr>
          <p:cNvPr id="33" name="Text 27"/>
          <p:cNvSpPr txBox="1"/>
          <p:nvPr/>
        </p:nvSpPr>
        <p:spPr>
          <a:xfrm>
            <a:off x="1143000" y="3008376"/>
            <a:ext cx="2011680" cy="27432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Code-to-data</a:t>
            </a:r>
            <a:endParaRPr lang="en-US" sz="1250" dirty="0"/>
          </a:p>
        </p:txBody>
      </p:sp>
      <p:sp>
        <p:nvSpPr>
          <p:cNvPr id="34" name="Text 28"/>
          <p:cNvSpPr txBox="1"/>
          <p:nvPr/>
        </p:nvSpPr>
        <p:spPr>
          <a:xfrm>
            <a:off x="1143000" y="3282696"/>
            <a:ext cx="2011680" cy="310896"/>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NSO code runs behind the provider's firewall</a:t>
            </a:r>
            <a:endParaRPr lang="en-US" sz="950" dirty="0"/>
          </a:p>
        </p:txBody>
      </p:sp>
      <p:sp>
        <p:nvSpPr>
          <p:cNvPr id="35" name="Text 29"/>
          <p:cNvSpPr txBox="1"/>
          <p:nvPr/>
        </p:nvSpPr>
        <p:spPr>
          <a:xfrm>
            <a:off x="3246120" y="2990088"/>
            <a:ext cx="2697480" cy="58521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Only vetted aggregates leave. Reference model for telecom data.</a:t>
            </a:r>
            <a:endParaRPr lang="en-US" sz="1050" dirty="0"/>
          </a:p>
        </p:txBody>
      </p:sp>
      <p:sp>
        <p:nvSpPr>
          <p:cNvPr id="36" name="Shape 30"/>
          <p:cNvSpPr/>
          <p:nvPr/>
        </p:nvSpPr>
        <p:spPr>
          <a:xfrm>
            <a:off x="457200" y="3739896"/>
            <a:ext cx="5577840" cy="694944"/>
          </a:xfrm>
          <a:prstGeom prst="roundRect">
            <a:avLst>
              <a:gd name="adj" fmla="val 10526"/>
            </a:avLst>
          </a:prstGeom>
          <a:solidFill>
            <a:srgbClr val="F4F7F5"/>
          </a:solidFill>
          <a:ln w="9525">
            <a:solidFill>
              <a:srgbClr val="D5DED9"/>
            </a:solidFill>
            <a:prstDash val="solid"/>
          </a:ln>
        </p:spPr>
      </p:sp>
      <p:sp>
        <p:nvSpPr>
          <p:cNvPr id="37" name="Shape 31"/>
          <p:cNvSpPr/>
          <p:nvPr/>
        </p:nvSpPr>
        <p:spPr>
          <a:xfrm>
            <a:off x="566928" y="3858768"/>
            <a:ext cx="457200" cy="457200"/>
          </a:xfrm>
          <a:prstGeom prst="ellipse">
            <a:avLst/>
          </a:prstGeom>
          <a:solidFill>
            <a:srgbClr val="D49A00">
              <a:alpha val="22000"/>
            </a:srgbClr>
          </a:solidFill>
          <a:ln/>
        </p:spPr>
      </p:sp>
      <p:pic>
        <p:nvPicPr>
          <p:cNvPr id="38" name="Image 3" descr="preencoded.png">    </p:cNvPr>
          <p:cNvPicPr>
            <a:picLocks noChangeAspect="1"/>
          </p:cNvPicPr>
          <p:nvPr/>
        </p:nvPicPr>
        <p:blipFill>
          <a:blip r:embed="rId4"/>
          <a:stretch>
            <a:fillRect/>
          </a:stretch>
        </p:blipFill>
        <p:spPr>
          <a:xfrm>
            <a:off x="681228" y="3973068"/>
            <a:ext cx="228600" cy="228600"/>
          </a:xfrm>
          <a:prstGeom prst="rect">
            <a:avLst/>
          </a:prstGeom>
        </p:spPr>
      </p:pic>
      <p:sp>
        <p:nvSpPr>
          <p:cNvPr id="39" name="Text 32"/>
          <p:cNvSpPr txBox="1"/>
          <p:nvPr/>
        </p:nvSpPr>
        <p:spPr>
          <a:xfrm>
            <a:off x="1143000" y="3813048"/>
            <a:ext cx="2011680" cy="27432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Privacy-enhancing tech</a:t>
            </a:r>
            <a:endParaRPr lang="en-US" sz="1250" dirty="0"/>
          </a:p>
        </p:txBody>
      </p:sp>
      <p:sp>
        <p:nvSpPr>
          <p:cNvPr id="40" name="Text 33"/>
          <p:cNvSpPr txBox="1"/>
          <p:nvPr/>
        </p:nvSpPr>
        <p:spPr>
          <a:xfrm>
            <a:off x="1143000" y="4087368"/>
            <a:ext cx="2011680" cy="310896"/>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Enclaves, differential privacy, federated analysis</a:t>
            </a:r>
            <a:endParaRPr lang="en-US" sz="950" dirty="0"/>
          </a:p>
        </p:txBody>
      </p:sp>
      <p:sp>
        <p:nvSpPr>
          <p:cNvPr id="41" name="Text 34"/>
          <p:cNvSpPr txBox="1"/>
          <p:nvPr/>
        </p:nvSpPr>
        <p:spPr>
          <a:xfrm>
            <a:off x="3246120" y="3794760"/>
            <a:ext cx="2697480" cy="58521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Strong protection; needs advanced skills and infrastructure.</a:t>
            </a:r>
            <a:endParaRPr lang="en-US" sz="1050" dirty="0"/>
          </a:p>
        </p:txBody>
      </p:sp>
      <p:sp>
        <p:nvSpPr>
          <p:cNvPr id="42" name="Text 35"/>
          <p:cNvSpPr txBox="1"/>
          <p:nvPr/>
        </p:nvSpPr>
        <p:spPr>
          <a:xfrm>
            <a:off x="6263640" y="1325880"/>
            <a:ext cx="1280160" cy="411480"/>
          </a:xfrm>
          <a:prstGeom prst="rect">
            <a:avLst/>
          </a:prstGeom>
          <a:noFill/>
          <a:ln/>
        </p:spPr>
        <p:txBody>
          <a:bodyPr wrap="square" lIns="0" tIns="0" rIns="0" bIns="0" rtlCol="0" anchor="t"/>
          <a:lstStyle/>
          <a:p>
            <a:pPr indent="0" marL="0">
              <a:buNone/>
            </a:pPr>
            <a:r>
              <a:rPr lang="en-US" sz="900" b="1" spc="100" kern="0" dirty="0">
                <a:solidFill>
                  <a:srgbClr val="5E6964"/>
                </a:solidFill>
                <a:latin typeface="Calibri" pitchFamily="34" charset="0"/>
                <a:ea typeface="Calibri" pitchFamily="34" charset="-122"/>
                <a:cs typeface="Calibri" pitchFamily="34" charset="-120"/>
              </a:rPr>
              <a:t>EXPOSURE OF</a:t>
            </a:r>
            <a:endParaRPr lang="en-US" sz="900" dirty="0"/>
          </a:p>
          <a:p>
            <a:pPr indent="0" marL="0">
              <a:buNone/>
            </a:pPr>
            <a:r>
              <a:rPr lang="en-US" sz="900" b="1" spc="100" kern="0" dirty="0">
                <a:solidFill>
                  <a:srgbClr val="5E6964"/>
                </a:solidFill>
                <a:latin typeface="Calibri" pitchFamily="34" charset="0"/>
                <a:ea typeface="Calibri" pitchFamily="34" charset="-122"/>
                <a:cs typeface="Calibri" pitchFamily="34" charset="-120"/>
              </a:rPr>
              <a:t>INDIVIDUAL RECORDS</a:t>
            </a:r>
            <a:endParaRPr lang="en-US" sz="900" dirty="0"/>
          </a:p>
        </p:txBody>
      </p:sp>
      <p:sp>
        <p:nvSpPr>
          <p:cNvPr id="43" name="Shape 36"/>
          <p:cNvSpPr/>
          <p:nvPr/>
        </p:nvSpPr>
        <p:spPr>
          <a:xfrm>
            <a:off x="6355080" y="1810512"/>
            <a:ext cx="201168" cy="640080"/>
          </a:xfrm>
          <a:prstGeom prst="rect">
            <a:avLst/>
          </a:prstGeom>
          <a:solidFill>
            <a:srgbClr val="B83B2E"/>
          </a:solidFill>
          <a:ln/>
        </p:spPr>
      </p:sp>
      <p:sp>
        <p:nvSpPr>
          <p:cNvPr id="44" name="Shape 37"/>
          <p:cNvSpPr/>
          <p:nvPr/>
        </p:nvSpPr>
        <p:spPr>
          <a:xfrm>
            <a:off x="6355080" y="2450592"/>
            <a:ext cx="201168" cy="640080"/>
          </a:xfrm>
          <a:prstGeom prst="rect">
            <a:avLst/>
          </a:prstGeom>
          <a:solidFill>
            <a:srgbClr val="C4621D"/>
          </a:solidFill>
          <a:ln/>
        </p:spPr>
      </p:sp>
      <p:sp>
        <p:nvSpPr>
          <p:cNvPr id="45" name="Shape 38"/>
          <p:cNvSpPr/>
          <p:nvPr/>
        </p:nvSpPr>
        <p:spPr>
          <a:xfrm>
            <a:off x="6355080" y="3090672"/>
            <a:ext cx="201168" cy="640080"/>
          </a:xfrm>
          <a:prstGeom prst="rect">
            <a:avLst/>
          </a:prstGeom>
          <a:solidFill>
            <a:srgbClr val="D49A00"/>
          </a:solidFill>
          <a:ln/>
        </p:spPr>
      </p:sp>
      <p:sp>
        <p:nvSpPr>
          <p:cNvPr id="46" name="Shape 39"/>
          <p:cNvSpPr/>
          <p:nvPr/>
        </p:nvSpPr>
        <p:spPr>
          <a:xfrm>
            <a:off x="6355080" y="3730752"/>
            <a:ext cx="201168" cy="640080"/>
          </a:xfrm>
          <a:prstGeom prst="rect">
            <a:avLst/>
          </a:prstGeom>
          <a:solidFill>
            <a:srgbClr val="00A86A"/>
          </a:solidFill>
          <a:ln/>
        </p:spPr>
      </p:sp>
      <p:sp>
        <p:nvSpPr>
          <p:cNvPr id="47" name="Text 40"/>
          <p:cNvSpPr txBox="1"/>
          <p:nvPr/>
        </p:nvSpPr>
        <p:spPr>
          <a:xfrm>
            <a:off x="6629400" y="1828800"/>
            <a:ext cx="548640" cy="182880"/>
          </a:xfrm>
          <a:prstGeom prst="rect">
            <a:avLst/>
          </a:prstGeom>
          <a:noFill/>
          <a:ln/>
        </p:spPr>
        <p:txBody>
          <a:bodyPr wrap="square" lIns="0" tIns="0" rIns="0" bIns="0" rtlCol="0" anchor="t"/>
          <a:lstStyle/>
          <a:p>
            <a:pPr indent="0" marL="0">
              <a:buNone/>
            </a:pPr>
            <a:r>
              <a:rPr lang="en-US" sz="900" b="1" dirty="0">
                <a:solidFill>
                  <a:srgbClr val="B83B2E"/>
                </a:solidFill>
                <a:latin typeface="Calibri" pitchFamily="34" charset="0"/>
                <a:ea typeface="Calibri" pitchFamily="34" charset="-122"/>
                <a:cs typeface="Calibri" pitchFamily="34" charset="-120"/>
              </a:rPr>
              <a:t>high</a:t>
            </a:r>
            <a:endParaRPr lang="en-US" sz="900" dirty="0"/>
          </a:p>
        </p:txBody>
      </p:sp>
      <p:sp>
        <p:nvSpPr>
          <p:cNvPr id="48" name="Text 41"/>
          <p:cNvSpPr txBox="1"/>
          <p:nvPr/>
        </p:nvSpPr>
        <p:spPr>
          <a:xfrm>
            <a:off x="6629400" y="4160520"/>
            <a:ext cx="548640" cy="182880"/>
          </a:xfrm>
          <a:prstGeom prst="rect">
            <a:avLst/>
          </a:prstGeom>
          <a:noFill/>
          <a:ln/>
        </p:spPr>
        <p:txBody>
          <a:bodyPr wrap="square" lIns="0" tIns="0" rIns="0" bIns="0" rtlCol="0" anchor="t"/>
          <a:lstStyle/>
          <a:p>
            <a:pPr indent="0" marL="0">
              <a:buNone/>
            </a:pPr>
            <a:r>
              <a:rPr lang="en-US" sz="900" b="1" dirty="0">
                <a:solidFill>
                  <a:srgbClr val="00A86A"/>
                </a:solidFill>
                <a:latin typeface="Calibri" pitchFamily="34" charset="0"/>
                <a:ea typeface="Calibri" pitchFamily="34" charset="-122"/>
                <a:cs typeface="Calibri" pitchFamily="34" charset="-120"/>
              </a:rPr>
              <a:t>low</a:t>
            </a:r>
            <a:endParaRPr lang="en-US" sz="900" dirty="0"/>
          </a:p>
        </p:txBody>
      </p:sp>
      <p:sp>
        <p:nvSpPr>
          <p:cNvPr id="49" name="Shape 42"/>
          <p:cNvSpPr/>
          <p:nvPr/>
        </p:nvSpPr>
        <p:spPr>
          <a:xfrm>
            <a:off x="7223760" y="1810512"/>
            <a:ext cx="1463040" cy="2560320"/>
          </a:xfrm>
          <a:prstGeom prst="roundRect">
            <a:avLst>
              <a:gd name="adj" fmla="val 5000"/>
            </a:avLst>
          </a:prstGeom>
          <a:solidFill>
            <a:srgbClr val="00553A"/>
          </a:solidFill>
          <a:ln/>
        </p:spPr>
      </p:sp>
      <p:sp>
        <p:nvSpPr>
          <p:cNvPr id="50" name="Text 43"/>
          <p:cNvSpPr txBox="1"/>
          <p:nvPr/>
        </p:nvSpPr>
        <p:spPr>
          <a:xfrm>
            <a:off x="7315200" y="1920240"/>
            <a:ext cx="1280160" cy="182880"/>
          </a:xfrm>
          <a:prstGeom prst="rect">
            <a:avLst/>
          </a:prstGeom>
          <a:noFill/>
          <a:ln/>
        </p:spPr>
        <p:txBody>
          <a:bodyPr wrap="square" lIns="0" tIns="0" rIns="0" bIns="0" rtlCol="0" anchor="t"/>
          <a:lstStyle/>
          <a:p>
            <a:pPr indent="0" marL="0">
              <a:buNone/>
            </a:pPr>
            <a:r>
              <a:rPr lang="en-US" sz="900" b="1" spc="100" kern="0" dirty="0">
                <a:solidFill>
                  <a:srgbClr val="F5C242"/>
                </a:solidFill>
                <a:latin typeface="Calibri" pitchFamily="34" charset="0"/>
                <a:ea typeface="Calibri" pitchFamily="34" charset="-122"/>
                <a:cs typeface="Calibri" pitchFamily="34" charset="-120"/>
              </a:rPr>
              <a:t>RULE OF THUMB</a:t>
            </a:r>
            <a:endParaRPr lang="en-US" sz="900" dirty="0"/>
          </a:p>
        </p:txBody>
      </p:sp>
      <p:sp>
        <p:nvSpPr>
          <p:cNvPr id="51" name="Text 44"/>
          <p:cNvSpPr txBox="1"/>
          <p:nvPr/>
        </p:nvSpPr>
        <p:spPr>
          <a:xfrm>
            <a:off x="7315200" y="2194560"/>
            <a:ext cx="1298448" cy="10972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Move the code to the data, not the data to the code.</a:t>
            </a:r>
            <a:endParaRPr lang="en-US" sz="1400" dirty="0"/>
          </a:p>
        </p:txBody>
      </p:sp>
      <p:sp>
        <p:nvSpPr>
          <p:cNvPr id="52" name="Text 45"/>
          <p:cNvSpPr txBox="1"/>
          <p:nvPr/>
        </p:nvSpPr>
        <p:spPr>
          <a:xfrm>
            <a:off x="7315200" y="3337560"/>
            <a:ext cx="1298448" cy="914400"/>
          </a:xfrm>
          <a:prstGeom prst="rect">
            <a:avLst/>
          </a:prstGeom>
          <a:noFill/>
          <a:ln/>
        </p:spPr>
        <p:txBody>
          <a:bodyPr wrap="square" lIns="0" tIns="0" rIns="0" bIns="0" rtlCol="0" anchor="t"/>
          <a:lstStyle/>
          <a:p>
            <a:pPr indent="0" marL="0">
              <a:buNone/>
            </a:pPr>
            <a:r>
              <a:rPr lang="en-US" sz="1000" i="1" dirty="0">
                <a:solidFill>
                  <a:srgbClr val="E6F6EE"/>
                </a:solidFill>
                <a:latin typeface="Calibri" pitchFamily="34" charset="0"/>
                <a:ea typeface="Calibri" pitchFamily="34" charset="-122"/>
                <a:cs typeface="Calibri" pitchFamily="34" charset="-120"/>
              </a:rPr>
              <a:t>Aggregate early, irreversibly, and only what the question needs.</a:t>
            </a:r>
            <a:endParaRPr lang="en-US" sz="10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ACCESS &amp; PARTNERSHIPS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Case study: Ghana's mobile-data partnership</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Ghana Statistical Service · Vodafone Ghana · Flowminder Foundation</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49A00"/>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8" name="Shape 15"/>
          <p:cNvSpPr/>
          <p:nvPr/>
        </p:nvSpPr>
        <p:spPr>
          <a:xfrm>
            <a:off x="685800" y="1481328"/>
            <a:ext cx="0" cy="2834640"/>
          </a:xfrm>
          <a:prstGeom prst="line">
            <a:avLst/>
          </a:prstGeom>
          <a:noFill/>
          <a:ln w="25400">
            <a:solidFill>
              <a:srgbClr val="D49A00"/>
            </a:solidFill>
            <a:prstDash val="solid"/>
          </a:ln>
        </p:spPr>
      </p:sp>
      <p:sp>
        <p:nvSpPr>
          <p:cNvPr id="19" name="Shape 16"/>
          <p:cNvSpPr/>
          <p:nvPr/>
        </p:nvSpPr>
        <p:spPr>
          <a:xfrm>
            <a:off x="585216" y="1417320"/>
            <a:ext cx="201168" cy="201168"/>
          </a:xfrm>
          <a:prstGeom prst="ellipse">
            <a:avLst/>
          </a:prstGeom>
          <a:solidFill>
            <a:srgbClr val="FFFFFF"/>
          </a:solidFill>
          <a:ln w="25400">
            <a:solidFill>
              <a:srgbClr val="D49A00"/>
            </a:solidFill>
            <a:prstDash val="solid"/>
          </a:ln>
        </p:spPr>
      </p:sp>
      <p:sp>
        <p:nvSpPr>
          <p:cNvPr id="20" name="Text 17"/>
          <p:cNvSpPr txBox="1"/>
          <p:nvPr/>
        </p:nvSpPr>
        <p:spPr>
          <a:xfrm>
            <a:off x="914400" y="1371600"/>
            <a:ext cx="1097280" cy="274320"/>
          </a:xfrm>
          <a:prstGeom prst="rect">
            <a:avLst/>
          </a:prstGeom>
          <a:noFill/>
          <a:ln/>
        </p:spPr>
        <p:txBody>
          <a:bodyPr wrap="square" lIns="0" tIns="0" rIns="0" bIns="0" rtlCol="0" anchor="t"/>
          <a:lstStyle/>
          <a:p>
            <a:pPr indent="0" marL="0">
              <a:buNone/>
            </a:pPr>
            <a:r>
              <a:rPr lang="en-US" sz="1400" b="1" dirty="0">
                <a:solidFill>
                  <a:srgbClr val="D49A00"/>
                </a:solidFill>
                <a:latin typeface="Calibri" pitchFamily="34" charset="0"/>
                <a:ea typeface="Calibri" pitchFamily="34" charset="-122"/>
                <a:cs typeface="Calibri" pitchFamily="34" charset="-120"/>
              </a:rPr>
              <a:t>2017</a:t>
            </a:r>
            <a:endParaRPr lang="en-US" sz="1400" dirty="0"/>
          </a:p>
        </p:txBody>
      </p:sp>
      <p:sp>
        <p:nvSpPr>
          <p:cNvPr id="21" name="Text 18"/>
          <p:cNvSpPr txBox="1"/>
          <p:nvPr/>
        </p:nvSpPr>
        <p:spPr>
          <a:xfrm>
            <a:off x="914400" y="1645920"/>
            <a:ext cx="329184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Contacts made at the first UN World Data Forum, Cape Town</a:t>
            </a:r>
            <a:endParaRPr lang="en-US" sz="1050" dirty="0"/>
          </a:p>
        </p:txBody>
      </p:sp>
      <p:sp>
        <p:nvSpPr>
          <p:cNvPr id="22" name="Shape 19"/>
          <p:cNvSpPr/>
          <p:nvPr/>
        </p:nvSpPr>
        <p:spPr>
          <a:xfrm>
            <a:off x="585216" y="2176272"/>
            <a:ext cx="201168" cy="201168"/>
          </a:xfrm>
          <a:prstGeom prst="ellipse">
            <a:avLst/>
          </a:prstGeom>
          <a:solidFill>
            <a:srgbClr val="FFFFFF"/>
          </a:solidFill>
          <a:ln w="25400">
            <a:solidFill>
              <a:srgbClr val="D49A00"/>
            </a:solidFill>
            <a:prstDash val="solid"/>
          </a:ln>
        </p:spPr>
      </p:sp>
      <p:sp>
        <p:nvSpPr>
          <p:cNvPr id="23" name="Text 20"/>
          <p:cNvSpPr txBox="1"/>
          <p:nvPr/>
        </p:nvSpPr>
        <p:spPr>
          <a:xfrm>
            <a:off x="914400" y="2130552"/>
            <a:ext cx="1097280" cy="274320"/>
          </a:xfrm>
          <a:prstGeom prst="rect">
            <a:avLst/>
          </a:prstGeom>
          <a:noFill/>
          <a:ln/>
        </p:spPr>
        <p:txBody>
          <a:bodyPr wrap="square" lIns="0" tIns="0" rIns="0" bIns="0" rtlCol="0" anchor="t"/>
          <a:lstStyle/>
          <a:p>
            <a:pPr indent="0" marL="0">
              <a:buNone/>
            </a:pPr>
            <a:r>
              <a:rPr lang="en-US" sz="1400" b="1" dirty="0">
                <a:solidFill>
                  <a:srgbClr val="D49A00"/>
                </a:solidFill>
                <a:latin typeface="Calibri" pitchFamily="34" charset="0"/>
                <a:ea typeface="Calibri" pitchFamily="34" charset="-122"/>
                <a:cs typeface="Calibri" pitchFamily="34" charset="-120"/>
              </a:rPr>
              <a:t>Dec 2018</a:t>
            </a:r>
            <a:endParaRPr lang="en-US" sz="1400" dirty="0"/>
          </a:p>
        </p:txBody>
      </p:sp>
      <p:sp>
        <p:nvSpPr>
          <p:cNvPr id="24" name="Text 21"/>
          <p:cNvSpPr txBox="1"/>
          <p:nvPr/>
        </p:nvSpPr>
        <p:spPr>
          <a:xfrm>
            <a:off x="914400" y="2404872"/>
            <a:ext cx="329184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Agreement signed; FlowKit pipeline set up behind the operator's firewall</a:t>
            </a:r>
            <a:endParaRPr lang="en-US" sz="1050" dirty="0"/>
          </a:p>
        </p:txBody>
      </p:sp>
      <p:sp>
        <p:nvSpPr>
          <p:cNvPr id="25" name="Shape 22"/>
          <p:cNvSpPr/>
          <p:nvPr/>
        </p:nvSpPr>
        <p:spPr>
          <a:xfrm>
            <a:off x="585216" y="2935224"/>
            <a:ext cx="201168" cy="201168"/>
          </a:xfrm>
          <a:prstGeom prst="ellipse">
            <a:avLst/>
          </a:prstGeom>
          <a:solidFill>
            <a:srgbClr val="FFFFFF"/>
          </a:solidFill>
          <a:ln w="25400">
            <a:solidFill>
              <a:srgbClr val="D49A00"/>
            </a:solidFill>
            <a:prstDash val="solid"/>
          </a:ln>
        </p:spPr>
      </p:sp>
      <p:sp>
        <p:nvSpPr>
          <p:cNvPr id="26" name="Text 23"/>
          <p:cNvSpPr txBox="1"/>
          <p:nvPr/>
        </p:nvSpPr>
        <p:spPr>
          <a:xfrm>
            <a:off x="914400" y="2889504"/>
            <a:ext cx="1097280" cy="274320"/>
          </a:xfrm>
          <a:prstGeom prst="rect">
            <a:avLst/>
          </a:prstGeom>
          <a:noFill/>
          <a:ln/>
        </p:spPr>
        <p:txBody>
          <a:bodyPr wrap="square" lIns="0" tIns="0" rIns="0" bIns="0" rtlCol="0" anchor="t"/>
          <a:lstStyle/>
          <a:p>
            <a:pPr indent="0" marL="0">
              <a:buNone/>
            </a:pPr>
            <a:r>
              <a:rPr lang="en-US" sz="1400" b="1" dirty="0">
                <a:solidFill>
                  <a:srgbClr val="D49A00"/>
                </a:solidFill>
                <a:latin typeface="Calibri" pitchFamily="34" charset="0"/>
                <a:ea typeface="Calibri" pitchFamily="34" charset="-122"/>
                <a:cs typeface="Calibri" pitchFamily="34" charset="-120"/>
              </a:rPr>
              <a:t>Apr 2020</a:t>
            </a:r>
            <a:endParaRPr lang="en-US" sz="1400" dirty="0"/>
          </a:p>
        </p:txBody>
      </p:sp>
      <p:sp>
        <p:nvSpPr>
          <p:cNvPr id="27" name="Text 24"/>
          <p:cNvSpPr txBox="1"/>
          <p:nvPr/>
        </p:nvSpPr>
        <p:spPr>
          <a:xfrm>
            <a:off x="914400" y="3163824"/>
            <a:ext cx="329184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First COVID-19 mobility report, within weeks of the first restrictions</a:t>
            </a:r>
            <a:endParaRPr lang="en-US" sz="1050" dirty="0"/>
          </a:p>
        </p:txBody>
      </p:sp>
      <p:sp>
        <p:nvSpPr>
          <p:cNvPr id="28" name="Shape 25"/>
          <p:cNvSpPr/>
          <p:nvPr/>
        </p:nvSpPr>
        <p:spPr>
          <a:xfrm>
            <a:off x="585216" y="3694176"/>
            <a:ext cx="201168" cy="201168"/>
          </a:xfrm>
          <a:prstGeom prst="ellipse">
            <a:avLst/>
          </a:prstGeom>
          <a:solidFill>
            <a:srgbClr val="FFFFFF"/>
          </a:solidFill>
          <a:ln w="25400">
            <a:solidFill>
              <a:srgbClr val="D49A00"/>
            </a:solidFill>
            <a:prstDash val="solid"/>
          </a:ln>
        </p:spPr>
      </p:sp>
      <p:sp>
        <p:nvSpPr>
          <p:cNvPr id="29" name="Text 26"/>
          <p:cNvSpPr txBox="1"/>
          <p:nvPr/>
        </p:nvSpPr>
        <p:spPr>
          <a:xfrm>
            <a:off x="914400" y="3648456"/>
            <a:ext cx="1097280" cy="274320"/>
          </a:xfrm>
          <a:prstGeom prst="rect">
            <a:avLst/>
          </a:prstGeom>
          <a:noFill/>
          <a:ln/>
        </p:spPr>
        <p:txBody>
          <a:bodyPr wrap="square" lIns="0" tIns="0" rIns="0" bIns="0" rtlCol="0" anchor="t"/>
          <a:lstStyle/>
          <a:p>
            <a:pPr indent="0" marL="0">
              <a:buNone/>
            </a:pPr>
            <a:r>
              <a:rPr lang="en-US" sz="1400" b="1" dirty="0">
                <a:solidFill>
                  <a:srgbClr val="D49A00"/>
                </a:solidFill>
                <a:latin typeface="Calibri" pitchFamily="34" charset="0"/>
                <a:ea typeface="Calibri" pitchFamily="34" charset="-122"/>
                <a:cs typeface="Calibri" pitchFamily="34" charset="-120"/>
              </a:rPr>
              <a:t>Jan 2023</a:t>
            </a:r>
            <a:endParaRPr lang="en-US" sz="1400" dirty="0"/>
          </a:p>
        </p:txBody>
      </p:sp>
      <p:sp>
        <p:nvSpPr>
          <p:cNvPr id="30" name="Text 27"/>
          <p:cNvSpPr txBox="1"/>
          <p:nvPr/>
        </p:nvSpPr>
        <p:spPr>
          <a:xfrm>
            <a:off x="914400" y="3922776"/>
            <a:ext cx="329184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Phase 2 of the Data for Good partnership signed</a:t>
            </a:r>
            <a:endParaRPr lang="en-US" sz="1050" dirty="0"/>
          </a:p>
        </p:txBody>
      </p:sp>
      <p:sp>
        <p:nvSpPr>
          <p:cNvPr id="31" name="Shape 28"/>
          <p:cNvSpPr/>
          <p:nvPr/>
        </p:nvSpPr>
        <p:spPr>
          <a:xfrm>
            <a:off x="4526280" y="1371600"/>
            <a:ext cx="4160520" cy="2011680"/>
          </a:xfrm>
          <a:prstGeom prst="roundRect">
            <a:avLst>
              <a:gd name="adj" fmla="val 3636"/>
            </a:avLst>
          </a:prstGeom>
          <a:solidFill>
            <a:srgbClr val="E8F5EF"/>
          </a:solidFill>
          <a:ln w="15875">
            <a:solidFill>
              <a:srgbClr val="00A86A"/>
            </a:solidFill>
            <a:prstDash val="solid"/>
          </a:ln>
        </p:spPr>
      </p:sp>
      <p:sp>
        <p:nvSpPr>
          <p:cNvPr id="32" name="Text 29"/>
          <p:cNvSpPr txBox="1"/>
          <p:nvPr/>
        </p:nvSpPr>
        <p:spPr>
          <a:xfrm>
            <a:off x="4681728" y="1463040"/>
            <a:ext cx="36576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WHAT MADE IT WORK</a:t>
            </a:r>
            <a:endParaRPr lang="en-US" sz="1000" dirty="0"/>
          </a:p>
        </p:txBody>
      </p:sp>
      <p:pic>
        <p:nvPicPr>
          <p:cNvPr id="33" name="Image 0" descr="preencoded.png">    </p:cNvPr>
          <p:cNvPicPr>
            <a:picLocks noChangeAspect="1"/>
          </p:cNvPicPr>
          <p:nvPr/>
        </p:nvPicPr>
        <p:blipFill>
          <a:blip r:embed="rId1"/>
          <a:stretch>
            <a:fillRect/>
          </a:stretch>
        </p:blipFill>
        <p:spPr>
          <a:xfrm>
            <a:off x="4700016" y="1810512"/>
            <a:ext cx="219456" cy="219456"/>
          </a:xfrm>
          <a:prstGeom prst="rect">
            <a:avLst/>
          </a:prstGeom>
        </p:spPr>
      </p:pic>
      <p:sp>
        <p:nvSpPr>
          <p:cNvPr id="34" name="Text 30"/>
          <p:cNvSpPr txBox="1"/>
          <p:nvPr/>
        </p:nvSpPr>
        <p:spPr>
          <a:xfrm>
            <a:off x="5029200" y="1755648"/>
            <a:ext cx="3566160" cy="34747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Code-to-data: only aggregated, anonymised outputs leave Vodafone.</a:t>
            </a:r>
            <a:endParaRPr lang="en-US" sz="1050" dirty="0"/>
          </a:p>
        </p:txBody>
      </p:sp>
      <p:pic>
        <p:nvPicPr>
          <p:cNvPr id="35" name="Image 1" descr="preencoded.png">    </p:cNvPr>
          <p:cNvPicPr>
            <a:picLocks noChangeAspect="1"/>
          </p:cNvPicPr>
          <p:nvPr/>
        </p:nvPicPr>
        <p:blipFill>
          <a:blip r:embed="rId2"/>
          <a:stretch>
            <a:fillRect/>
          </a:stretch>
        </p:blipFill>
        <p:spPr>
          <a:xfrm>
            <a:off x="4700016" y="2212848"/>
            <a:ext cx="219456" cy="219456"/>
          </a:xfrm>
          <a:prstGeom prst="rect">
            <a:avLst/>
          </a:prstGeom>
        </p:spPr>
      </p:pic>
      <p:sp>
        <p:nvSpPr>
          <p:cNvPr id="36" name="Text 31"/>
          <p:cNvSpPr txBox="1"/>
          <p:nvPr/>
        </p:nvSpPr>
        <p:spPr>
          <a:xfrm>
            <a:off x="5029200" y="2157984"/>
            <a:ext cx="3566160" cy="34747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Steering committee led by the Government Statistician, incl. civil society.</a:t>
            </a:r>
            <a:endParaRPr lang="en-US" sz="1050" dirty="0"/>
          </a:p>
        </p:txBody>
      </p:sp>
      <p:pic>
        <p:nvPicPr>
          <p:cNvPr id="37" name="Image 2" descr="preencoded.png">    </p:cNvPr>
          <p:cNvPicPr>
            <a:picLocks noChangeAspect="1"/>
          </p:cNvPicPr>
          <p:nvPr/>
        </p:nvPicPr>
        <p:blipFill>
          <a:blip r:embed="rId3"/>
          <a:stretch>
            <a:fillRect/>
          </a:stretch>
        </p:blipFill>
        <p:spPr>
          <a:xfrm>
            <a:off x="4700016" y="2615184"/>
            <a:ext cx="219456" cy="219456"/>
          </a:xfrm>
          <a:prstGeom prst="rect">
            <a:avLst/>
          </a:prstGeom>
        </p:spPr>
      </p:pic>
      <p:sp>
        <p:nvSpPr>
          <p:cNvPr id="38" name="Text 32"/>
          <p:cNvSpPr txBox="1"/>
          <p:nvPr/>
        </p:nvSpPr>
        <p:spPr>
          <a:xfrm>
            <a:off x="5029200" y="2560320"/>
            <a:ext cx="3566160" cy="34747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Criteria agreed in advance for any third-party sharing.</a:t>
            </a:r>
            <a:endParaRPr lang="en-US" sz="1050" dirty="0"/>
          </a:p>
        </p:txBody>
      </p:sp>
      <p:pic>
        <p:nvPicPr>
          <p:cNvPr id="39" name="Image 3" descr="preencoded.png">    </p:cNvPr>
          <p:cNvPicPr>
            <a:picLocks noChangeAspect="1"/>
          </p:cNvPicPr>
          <p:nvPr/>
        </p:nvPicPr>
        <p:blipFill>
          <a:blip r:embed="rId4"/>
          <a:stretch>
            <a:fillRect/>
          </a:stretch>
        </p:blipFill>
        <p:spPr>
          <a:xfrm>
            <a:off x="4700016" y="3017520"/>
            <a:ext cx="219456" cy="219456"/>
          </a:xfrm>
          <a:prstGeom prst="rect">
            <a:avLst/>
          </a:prstGeom>
        </p:spPr>
      </p:pic>
      <p:sp>
        <p:nvSpPr>
          <p:cNvPr id="40" name="Text 33"/>
          <p:cNvSpPr txBox="1"/>
          <p:nvPr/>
        </p:nvSpPr>
        <p:spPr>
          <a:xfrm>
            <a:off x="5029200" y="2962656"/>
            <a:ext cx="3566160" cy="34747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Long-term capacity building of GSS data scientists.</a:t>
            </a:r>
            <a:endParaRPr lang="en-US" sz="1050" dirty="0"/>
          </a:p>
        </p:txBody>
      </p:sp>
      <p:sp>
        <p:nvSpPr>
          <p:cNvPr id="41" name="Shape 34"/>
          <p:cNvSpPr/>
          <p:nvPr/>
        </p:nvSpPr>
        <p:spPr>
          <a:xfrm>
            <a:off x="4526280" y="3520440"/>
            <a:ext cx="4160520" cy="960120"/>
          </a:xfrm>
          <a:prstGeom prst="roundRect">
            <a:avLst>
              <a:gd name="adj" fmla="val 5714"/>
            </a:avLst>
          </a:prstGeom>
          <a:solidFill>
            <a:srgbClr val="D49A00">
              <a:alpha val="13000"/>
            </a:srgbClr>
          </a:solidFill>
          <a:ln w="12700">
            <a:solidFill>
              <a:srgbClr val="D49A00"/>
            </a:solidFill>
            <a:prstDash val="solid"/>
          </a:ln>
        </p:spPr>
      </p:sp>
      <p:pic>
        <p:nvPicPr>
          <p:cNvPr id="42" name="Image 4" descr="preencoded.png">    </p:cNvPr>
          <p:cNvPicPr>
            <a:picLocks noChangeAspect="1"/>
          </p:cNvPicPr>
          <p:nvPr/>
        </p:nvPicPr>
        <p:blipFill>
          <a:blip r:embed="rId5"/>
          <a:stretch>
            <a:fillRect/>
          </a:stretch>
        </p:blipFill>
        <p:spPr>
          <a:xfrm>
            <a:off x="4654296" y="3863340"/>
            <a:ext cx="274320" cy="274320"/>
          </a:xfrm>
          <a:prstGeom prst="rect">
            <a:avLst/>
          </a:prstGeom>
        </p:spPr>
      </p:pic>
      <p:sp>
        <p:nvSpPr>
          <p:cNvPr id="43" name="Text 35"/>
          <p:cNvSpPr txBox="1"/>
          <p:nvPr/>
        </p:nvSpPr>
        <p:spPr>
          <a:xfrm>
            <a:off x="5056632" y="3575304"/>
            <a:ext cx="3502152" cy="85039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Build the partnership before the crisis: the pipeline existed before COVID-19, so insights arrived in weeks, not months.</a:t>
            </a:r>
            <a:endParaRPr lang="en-US" sz="1100" dirty="0"/>
          </a:p>
        </p:txBody>
      </p:sp>
      <p:sp>
        <p:nvSpPr>
          <p:cNvPr id="44" name="Text 36"/>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UN Statistics Wiki, Methodological guide on the use of mobile phone data, Appendix 1.5 (Ghana); Flowminder (2020, 2023); SDSN TReNDS / C4DC case study.</a:t>
            </a:r>
            <a:endParaRPr lang="en-US" sz="8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ACCESS &amp; PARTNERSHIPS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Ten clauses every data-sharing agreement needs</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A checklist to bring to the negotiating table — and to the STG17 data-governance reference guide.</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49A00"/>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8" name="Shape 15"/>
          <p:cNvSpPr/>
          <p:nvPr/>
        </p:nvSpPr>
        <p:spPr>
          <a:xfrm>
            <a:off x="457200" y="1325880"/>
            <a:ext cx="4023360" cy="548640"/>
          </a:xfrm>
          <a:prstGeom prst="roundRect">
            <a:avLst>
              <a:gd name="adj" fmla="val 13333"/>
            </a:avLst>
          </a:prstGeom>
          <a:solidFill>
            <a:srgbClr val="F4F7F5"/>
          </a:solidFill>
          <a:ln w="9525">
            <a:solidFill>
              <a:srgbClr val="D5DED9"/>
            </a:solidFill>
            <a:prstDash val="solid"/>
          </a:ln>
        </p:spPr>
      </p:sp>
      <p:sp>
        <p:nvSpPr>
          <p:cNvPr id="19" name="Shape 16"/>
          <p:cNvSpPr/>
          <p:nvPr/>
        </p:nvSpPr>
        <p:spPr>
          <a:xfrm>
            <a:off x="566928" y="1435608"/>
            <a:ext cx="329184" cy="329184"/>
          </a:xfrm>
          <a:prstGeom prst="ellipse">
            <a:avLst/>
          </a:prstGeom>
          <a:solidFill>
            <a:srgbClr val="D49A00"/>
          </a:solidFill>
          <a:ln/>
        </p:spPr>
      </p:sp>
      <p:sp>
        <p:nvSpPr>
          <p:cNvPr id="20" name="Text 17"/>
          <p:cNvSpPr txBox="1"/>
          <p:nvPr/>
        </p:nvSpPr>
        <p:spPr>
          <a:xfrm>
            <a:off x="566928" y="14356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1" name="Text 18"/>
          <p:cNvSpPr txBox="1"/>
          <p:nvPr/>
        </p:nvSpPr>
        <p:spPr>
          <a:xfrm>
            <a:off x="1024128" y="1362456"/>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Purpose</a:t>
            </a:r>
            <a:endParaRPr lang="en-US" sz="1150" dirty="0"/>
          </a:p>
        </p:txBody>
      </p:sp>
      <p:sp>
        <p:nvSpPr>
          <p:cNvPr id="22" name="Text 19"/>
          <p:cNvSpPr txBox="1"/>
          <p:nvPr/>
        </p:nvSpPr>
        <p:spPr>
          <a:xfrm>
            <a:off x="1024128" y="1591056"/>
            <a:ext cx="3383280" cy="24688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Statistical use only, stated precisely; no function creep.</a:t>
            </a:r>
            <a:endParaRPr lang="en-US" sz="1000" dirty="0"/>
          </a:p>
        </p:txBody>
      </p:sp>
      <p:sp>
        <p:nvSpPr>
          <p:cNvPr id="23" name="Shape 20"/>
          <p:cNvSpPr/>
          <p:nvPr/>
        </p:nvSpPr>
        <p:spPr>
          <a:xfrm>
            <a:off x="4663440" y="1325880"/>
            <a:ext cx="4023360" cy="548640"/>
          </a:xfrm>
          <a:prstGeom prst="roundRect">
            <a:avLst>
              <a:gd name="adj" fmla="val 13333"/>
            </a:avLst>
          </a:prstGeom>
          <a:solidFill>
            <a:srgbClr val="F4F7F5"/>
          </a:solidFill>
          <a:ln w="9525">
            <a:solidFill>
              <a:srgbClr val="D5DED9"/>
            </a:solidFill>
            <a:prstDash val="solid"/>
          </a:ln>
        </p:spPr>
      </p:sp>
      <p:sp>
        <p:nvSpPr>
          <p:cNvPr id="24" name="Shape 21"/>
          <p:cNvSpPr/>
          <p:nvPr/>
        </p:nvSpPr>
        <p:spPr>
          <a:xfrm>
            <a:off x="4773168" y="1435608"/>
            <a:ext cx="329184" cy="329184"/>
          </a:xfrm>
          <a:prstGeom prst="ellipse">
            <a:avLst/>
          </a:prstGeom>
          <a:solidFill>
            <a:srgbClr val="D49A00"/>
          </a:solidFill>
          <a:ln/>
        </p:spPr>
      </p:sp>
      <p:sp>
        <p:nvSpPr>
          <p:cNvPr id="25" name="Text 22"/>
          <p:cNvSpPr txBox="1"/>
          <p:nvPr/>
        </p:nvSpPr>
        <p:spPr>
          <a:xfrm>
            <a:off x="4773168" y="14356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Text 23"/>
          <p:cNvSpPr txBox="1"/>
          <p:nvPr/>
        </p:nvSpPr>
        <p:spPr>
          <a:xfrm>
            <a:off x="5230368" y="1362456"/>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Data specification</a:t>
            </a:r>
            <a:endParaRPr lang="en-US" sz="1150" dirty="0"/>
          </a:p>
        </p:txBody>
      </p:sp>
      <p:sp>
        <p:nvSpPr>
          <p:cNvPr id="27" name="Text 24"/>
          <p:cNvSpPr txBox="1"/>
          <p:nvPr/>
        </p:nvSpPr>
        <p:spPr>
          <a:xfrm>
            <a:off x="5230368" y="1591056"/>
            <a:ext cx="3383280" cy="24688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Fields, granularity, frequency, history and format.</a:t>
            </a:r>
            <a:endParaRPr lang="en-US" sz="1000" dirty="0"/>
          </a:p>
        </p:txBody>
      </p:sp>
      <p:sp>
        <p:nvSpPr>
          <p:cNvPr id="28" name="Shape 25"/>
          <p:cNvSpPr/>
          <p:nvPr/>
        </p:nvSpPr>
        <p:spPr>
          <a:xfrm>
            <a:off x="457200" y="1975104"/>
            <a:ext cx="4023360" cy="548640"/>
          </a:xfrm>
          <a:prstGeom prst="roundRect">
            <a:avLst>
              <a:gd name="adj" fmla="val 13333"/>
            </a:avLst>
          </a:prstGeom>
          <a:solidFill>
            <a:srgbClr val="F4F7F5"/>
          </a:solidFill>
          <a:ln w="9525">
            <a:solidFill>
              <a:srgbClr val="D5DED9"/>
            </a:solidFill>
            <a:prstDash val="solid"/>
          </a:ln>
        </p:spPr>
      </p:sp>
      <p:sp>
        <p:nvSpPr>
          <p:cNvPr id="29" name="Shape 26"/>
          <p:cNvSpPr/>
          <p:nvPr/>
        </p:nvSpPr>
        <p:spPr>
          <a:xfrm>
            <a:off x="566928" y="2084832"/>
            <a:ext cx="329184" cy="329184"/>
          </a:xfrm>
          <a:prstGeom prst="ellipse">
            <a:avLst/>
          </a:prstGeom>
          <a:solidFill>
            <a:srgbClr val="D49A00"/>
          </a:solidFill>
          <a:ln/>
        </p:spPr>
      </p:sp>
      <p:sp>
        <p:nvSpPr>
          <p:cNvPr id="30" name="Text 27"/>
          <p:cNvSpPr txBox="1"/>
          <p:nvPr/>
        </p:nvSpPr>
        <p:spPr>
          <a:xfrm>
            <a:off x="566928" y="20848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1" name="Text 28"/>
          <p:cNvSpPr txBox="1"/>
          <p:nvPr/>
        </p:nvSpPr>
        <p:spPr>
          <a:xfrm>
            <a:off x="1024128" y="2011680"/>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Legal basis</a:t>
            </a:r>
            <a:endParaRPr lang="en-US" sz="1150" dirty="0"/>
          </a:p>
        </p:txBody>
      </p:sp>
      <p:sp>
        <p:nvSpPr>
          <p:cNvPr id="32" name="Text 29"/>
          <p:cNvSpPr txBox="1"/>
          <p:nvPr/>
        </p:nvSpPr>
        <p:spPr>
          <a:xfrm>
            <a:off x="1024128" y="2240280"/>
            <a:ext cx="3383280" cy="24688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Statistics act, data-protection law, consent where relevant.</a:t>
            </a:r>
            <a:endParaRPr lang="en-US" sz="1000" dirty="0"/>
          </a:p>
        </p:txBody>
      </p:sp>
      <p:sp>
        <p:nvSpPr>
          <p:cNvPr id="33" name="Shape 30"/>
          <p:cNvSpPr/>
          <p:nvPr/>
        </p:nvSpPr>
        <p:spPr>
          <a:xfrm>
            <a:off x="4663440" y="1975104"/>
            <a:ext cx="4023360" cy="548640"/>
          </a:xfrm>
          <a:prstGeom prst="roundRect">
            <a:avLst>
              <a:gd name="adj" fmla="val 13333"/>
            </a:avLst>
          </a:prstGeom>
          <a:solidFill>
            <a:srgbClr val="F4F7F5"/>
          </a:solidFill>
          <a:ln w="9525">
            <a:solidFill>
              <a:srgbClr val="D5DED9"/>
            </a:solidFill>
            <a:prstDash val="solid"/>
          </a:ln>
        </p:spPr>
      </p:sp>
      <p:sp>
        <p:nvSpPr>
          <p:cNvPr id="34" name="Shape 31"/>
          <p:cNvSpPr/>
          <p:nvPr/>
        </p:nvSpPr>
        <p:spPr>
          <a:xfrm>
            <a:off x="4773168" y="2084832"/>
            <a:ext cx="329184" cy="329184"/>
          </a:xfrm>
          <a:prstGeom prst="ellipse">
            <a:avLst/>
          </a:prstGeom>
          <a:solidFill>
            <a:srgbClr val="D49A00"/>
          </a:solidFill>
          <a:ln/>
        </p:spPr>
      </p:sp>
      <p:sp>
        <p:nvSpPr>
          <p:cNvPr id="35" name="Text 32"/>
          <p:cNvSpPr txBox="1"/>
          <p:nvPr/>
        </p:nvSpPr>
        <p:spPr>
          <a:xfrm>
            <a:off x="4773168" y="20848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6" name="Text 33"/>
          <p:cNvSpPr txBox="1"/>
          <p:nvPr/>
        </p:nvSpPr>
        <p:spPr>
          <a:xfrm>
            <a:off x="5230368" y="2011680"/>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Aggregation &amp; thresholds</a:t>
            </a:r>
            <a:endParaRPr lang="en-US" sz="1150" dirty="0"/>
          </a:p>
        </p:txBody>
      </p:sp>
      <p:sp>
        <p:nvSpPr>
          <p:cNvPr id="37" name="Text 34"/>
          <p:cNvSpPr txBox="1"/>
          <p:nvPr/>
        </p:nvSpPr>
        <p:spPr>
          <a:xfrm>
            <a:off x="5230368" y="2240280"/>
            <a:ext cx="3383280" cy="24688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Minimum cell sizes; what may leave which environment.</a:t>
            </a:r>
            <a:endParaRPr lang="en-US" sz="1000" dirty="0"/>
          </a:p>
        </p:txBody>
      </p:sp>
      <p:sp>
        <p:nvSpPr>
          <p:cNvPr id="38" name="Shape 35"/>
          <p:cNvSpPr/>
          <p:nvPr/>
        </p:nvSpPr>
        <p:spPr>
          <a:xfrm>
            <a:off x="457200" y="2624328"/>
            <a:ext cx="4023360" cy="548640"/>
          </a:xfrm>
          <a:prstGeom prst="roundRect">
            <a:avLst>
              <a:gd name="adj" fmla="val 13333"/>
            </a:avLst>
          </a:prstGeom>
          <a:solidFill>
            <a:srgbClr val="F4F7F5"/>
          </a:solidFill>
          <a:ln w="9525">
            <a:solidFill>
              <a:srgbClr val="D5DED9"/>
            </a:solidFill>
            <a:prstDash val="solid"/>
          </a:ln>
        </p:spPr>
      </p:sp>
      <p:sp>
        <p:nvSpPr>
          <p:cNvPr id="39" name="Shape 36"/>
          <p:cNvSpPr/>
          <p:nvPr/>
        </p:nvSpPr>
        <p:spPr>
          <a:xfrm>
            <a:off x="566928" y="2734056"/>
            <a:ext cx="329184" cy="329184"/>
          </a:xfrm>
          <a:prstGeom prst="ellipse">
            <a:avLst/>
          </a:prstGeom>
          <a:solidFill>
            <a:srgbClr val="D49A00"/>
          </a:solidFill>
          <a:ln/>
        </p:spPr>
      </p:sp>
      <p:sp>
        <p:nvSpPr>
          <p:cNvPr id="40" name="Text 37"/>
          <p:cNvSpPr txBox="1"/>
          <p:nvPr/>
        </p:nvSpPr>
        <p:spPr>
          <a:xfrm>
            <a:off x="566928" y="27340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1" name="Text 38"/>
          <p:cNvSpPr txBox="1"/>
          <p:nvPr/>
        </p:nvSpPr>
        <p:spPr>
          <a:xfrm>
            <a:off x="1024128" y="2660904"/>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Security</a:t>
            </a:r>
            <a:endParaRPr lang="en-US" sz="1150" dirty="0"/>
          </a:p>
        </p:txBody>
      </p:sp>
      <p:sp>
        <p:nvSpPr>
          <p:cNvPr id="42" name="Text 39"/>
          <p:cNvSpPr txBox="1"/>
          <p:nvPr/>
        </p:nvSpPr>
        <p:spPr>
          <a:xfrm>
            <a:off x="1024128" y="2889504"/>
            <a:ext cx="3383280" cy="24688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Storage, access control, audit trail, breach notification.</a:t>
            </a:r>
            <a:endParaRPr lang="en-US" sz="1000" dirty="0"/>
          </a:p>
        </p:txBody>
      </p:sp>
      <p:sp>
        <p:nvSpPr>
          <p:cNvPr id="43" name="Shape 40"/>
          <p:cNvSpPr/>
          <p:nvPr/>
        </p:nvSpPr>
        <p:spPr>
          <a:xfrm>
            <a:off x="4663440" y="2624328"/>
            <a:ext cx="4023360" cy="548640"/>
          </a:xfrm>
          <a:prstGeom prst="roundRect">
            <a:avLst>
              <a:gd name="adj" fmla="val 13333"/>
            </a:avLst>
          </a:prstGeom>
          <a:solidFill>
            <a:srgbClr val="F4F7F5"/>
          </a:solidFill>
          <a:ln w="9525">
            <a:solidFill>
              <a:srgbClr val="D5DED9"/>
            </a:solidFill>
            <a:prstDash val="solid"/>
          </a:ln>
        </p:spPr>
      </p:sp>
      <p:sp>
        <p:nvSpPr>
          <p:cNvPr id="44" name="Shape 41"/>
          <p:cNvSpPr/>
          <p:nvPr/>
        </p:nvSpPr>
        <p:spPr>
          <a:xfrm>
            <a:off x="4773168" y="2734056"/>
            <a:ext cx="329184" cy="329184"/>
          </a:xfrm>
          <a:prstGeom prst="ellipse">
            <a:avLst/>
          </a:prstGeom>
          <a:solidFill>
            <a:srgbClr val="D49A00"/>
          </a:solidFill>
          <a:ln/>
        </p:spPr>
      </p:sp>
      <p:sp>
        <p:nvSpPr>
          <p:cNvPr id="45" name="Text 42"/>
          <p:cNvSpPr txBox="1"/>
          <p:nvPr/>
        </p:nvSpPr>
        <p:spPr>
          <a:xfrm>
            <a:off x="4773168" y="27340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6" name="Text 43"/>
          <p:cNvSpPr txBox="1"/>
          <p:nvPr/>
        </p:nvSpPr>
        <p:spPr>
          <a:xfrm>
            <a:off x="5230368" y="2660904"/>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Roles &amp; costs</a:t>
            </a:r>
            <a:endParaRPr lang="en-US" sz="1150" dirty="0"/>
          </a:p>
        </p:txBody>
      </p:sp>
      <p:sp>
        <p:nvSpPr>
          <p:cNvPr id="47" name="Text 44"/>
          <p:cNvSpPr txBox="1"/>
          <p:nvPr/>
        </p:nvSpPr>
        <p:spPr>
          <a:xfrm>
            <a:off x="5230368" y="2889504"/>
            <a:ext cx="3383280" cy="24688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Who does what; who pays; in-kind contributions.</a:t>
            </a:r>
            <a:endParaRPr lang="en-US" sz="1000" dirty="0"/>
          </a:p>
        </p:txBody>
      </p:sp>
      <p:sp>
        <p:nvSpPr>
          <p:cNvPr id="48" name="Shape 45"/>
          <p:cNvSpPr/>
          <p:nvPr/>
        </p:nvSpPr>
        <p:spPr>
          <a:xfrm>
            <a:off x="457200" y="3273552"/>
            <a:ext cx="4023360" cy="548640"/>
          </a:xfrm>
          <a:prstGeom prst="roundRect">
            <a:avLst>
              <a:gd name="adj" fmla="val 13333"/>
            </a:avLst>
          </a:prstGeom>
          <a:solidFill>
            <a:srgbClr val="E8F5EF"/>
          </a:solidFill>
          <a:ln w="15875">
            <a:solidFill>
              <a:srgbClr val="D49A00"/>
            </a:solidFill>
            <a:prstDash val="solid"/>
          </a:ln>
        </p:spPr>
      </p:sp>
      <p:sp>
        <p:nvSpPr>
          <p:cNvPr id="49" name="Shape 46"/>
          <p:cNvSpPr/>
          <p:nvPr/>
        </p:nvSpPr>
        <p:spPr>
          <a:xfrm>
            <a:off x="566928" y="3383280"/>
            <a:ext cx="329184" cy="329184"/>
          </a:xfrm>
          <a:prstGeom prst="ellipse">
            <a:avLst/>
          </a:prstGeom>
          <a:solidFill>
            <a:srgbClr val="D49A00"/>
          </a:solidFill>
          <a:ln/>
        </p:spPr>
      </p:sp>
      <p:sp>
        <p:nvSpPr>
          <p:cNvPr id="50" name="Text 47"/>
          <p:cNvSpPr txBox="1"/>
          <p:nvPr/>
        </p:nvSpPr>
        <p:spPr>
          <a:xfrm>
            <a:off x="566928" y="3383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1" name="Text 48"/>
          <p:cNvSpPr txBox="1"/>
          <p:nvPr/>
        </p:nvSpPr>
        <p:spPr>
          <a:xfrm>
            <a:off x="1024128" y="3310128"/>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Publication rights</a:t>
            </a:r>
            <a:endParaRPr lang="en-US" sz="1150" dirty="0"/>
          </a:p>
        </p:txBody>
      </p:sp>
      <p:sp>
        <p:nvSpPr>
          <p:cNvPr id="52" name="Text 49"/>
          <p:cNvSpPr txBox="1"/>
          <p:nvPr/>
        </p:nvSpPr>
        <p:spPr>
          <a:xfrm>
            <a:off x="1024128" y="3538728"/>
            <a:ext cx="3383280" cy="24688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Right to publish results and methods; provider review time.</a:t>
            </a:r>
            <a:endParaRPr lang="en-US" sz="1000" dirty="0"/>
          </a:p>
        </p:txBody>
      </p:sp>
      <p:sp>
        <p:nvSpPr>
          <p:cNvPr id="53" name="Shape 50"/>
          <p:cNvSpPr/>
          <p:nvPr/>
        </p:nvSpPr>
        <p:spPr>
          <a:xfrm>
            <a:off x="4663440" y="3273552"/>
            <a:ext cx="4023360" cy="548640"/>
          </a:xfrm>
          <a:prstGeom prst="roundRect">
            <a:avLst>
              <a:gd name="adj" fmla="val 13333"/>
            </a:avLst>
          </a:prstGeom>
          <a:solidFill>
            <a:srgbClr val="F4F7F5"/>
          </a:solidFill>
          <a:ln w="9525">
            <a:solidFill>
              <a:srgbClr val="D5DED9"/>
            </a:solidFill>
            <a:prstDash val="solid"/>
          </a:ln>
        </p:spPr>
      </p:sp>
      <p:sp>
        <p:nvSpPr>
          <p:cNvPr id="54" name="Shape 51"/>
          <p:cNvSpPr/>
          <p:nvPr/>
        </p:nvSpPr>
        <p:spPr>
          <a:xfrm>
            <a:off x="4773168" y="3383280"/>
            <a:ext cx="329184" cy="329184"/>
          </a:xfrm>
          <a:prstGeom prst="ellipse">
            <a:avLst/>
          </a:prstGeom>
          <a:solidFill>
            <a:srgbClr val="D49A00"/>
          </a:solidFill>
          <a:ln/>
        </p:spPr>
      </p:sp>
      <p:sp>
        <p:nvSpPr>
          <p:cNvPr id="55" name="Text 52"/>
          <p:cNvSpPr txBox="1"/>
          <p:nvPr/>
        </p:nvSpPr>
        <p:spPr>
          <a:xfrm>
            <a:off x="4773168" y="3383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6" name="Text 53"/>
          <p:cNvSpPr txBox="1"/>
          <p:nvPr/>
        </p:nvSpPr>
        <p:spPr>
          <a:xfrm>
            <a:off x="5230368" y="3310128"/>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Intellectual property</a:t>
            </a:r>
            <a:endParaRPr lang="en-US" sz="1150" dirty="0"/>
          </a:p>
        </p:txBody>
      </p:sp>
      <p:sp>
        <p:nvSpPr>
          <p:cNvPr id="57" name="Text 54"/>
          <p:cNvSpPr txBox="1"/>
          <p:nvPr/>
        </p:nvSpPr>
        <p:spPr>
          <a:xfrm>
            <a:off x="5230368" y="3538728"/>
            <a:ext cx="3383280" cy="24688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Ownership of raw data, code and derived indicators.</a:t>
            </a:r>
            <a:endParaRPr lang="en-US" sz="1000" dirty="0"/>
          </a:p>
        </p:txBody>
      </p:sp>
      <p:sp>
        <p:nvSpPr>
          <p:cNvPr id="58" name="Shape 55"/>
          <p:cNvSpPr/>
          <p:nvPr/>
        </p:nvSpPr>
        <p:spPr>
          <a:xfrm>
            <a:off x="457200" y="3922776"/>
            <a:ext cx="4023360" cy="548640"/>
          </a:xfrm>
          <a:prstGeom prst="roundRect">
            <a:avLst>
              <a:gd name="adj" fmla="val 13333"/>
            </a:avLst>
          </a:prstGeom>
          <a:solidFill>
            <a:srgbClr val="E8F5EF"/>
          </a:solidFill>
          <a:ln w="15875">
            <a:solidFill>
              <a:srgbClr val="D49A00"/>
            </a:solidFill>
            <a:prstDash val="solid"/>
          </a:ln>
        </p:spPr>
      </p:sp>
      <p:sp>
        <p:nvSpPr>
          <p:cNvPr id="59" name="Shape 56"/>
          <p:cNvSpPr/>
          <p:nvPr/>
        </p:nvSpPr>
        <p:spPr>
          <a:xfrm>
            <a:off x="566928" y="4032504"/>
            <a:ext cx="329184" cy="329184"/>
          </a:xfrm>
          <a:prstGeom prst="ellipse">
            <a:avLst/>
          </a:prstGeom>
          <a:solidFill>
            <a:srgbClr val="D49A00"/>
          </a:solidFill>
          <a:ln/>
        </p:spPr>
      </p:sp>
      <p:sp>
        <p:nvSpPr>
          <p:cNvPr id="60" name="Text 57"/>
          <p:cNvSpPr txBox="1"/>
          <p:nvPr/>
        </p:nvSpPr>
        <p:spPr>
          <a:xfrm>
            <a:off x="566928" y="40325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61" name="Text 58"/>
          <p:cNvSpPr txBox="1"/>
          <p:nvPr/>
        </p:nvSpPr>
        <p:spPr>
          <a:xfrm>
            <a:off x="1024128" y="3959352"/>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Duration &amp; exit</a:t>
            </a:r>
            <a:endParaRPr lang="en-US" sz="1150" dirty="0"/>
          </a:p>
        </p:txBody>
      </p:sp>
      <p:sp>
        <p:nvSpPr>
          <p:cNvPr id="62" name="Text 59"/>
          <p:cNvSpPr txBox="1"/>
          <p:nvPr/>
        </p:nvSpPr>
        <p:spPr>
          <a:xfrm>
            <a:off x="1024128" y="4187952"/>
            <a:ext cx="3383280" cy="24688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Term, renewal, notice period, data deletion, fallback.</a:t>
            </a:r>
            <a:endParaRPr lang="en-US" sz="1000" dirty="0"/>
          </a:p>
        </p:txBody>
      </p:sp>
      <p:sp>
        <p:nvSpPr>
          <p:cNvPr id="63" name="Shape 60"/>
          <p:cNvSpPr/>
          <p:nvPr/>
        </p:nvSpPr>
        <p:spPr>
          <a:xfrm>
            <a:off x="4663440" y="3922776"/>
            <a:ext cx="4023360" cy="548640"/>
          </a:xfrm>
          <a:prstGeom prst="roundRect">
            <a:avLst>
              <a:gd name="adj" fmla="val 13333"/>
            </a:avLst>
          </a:prstGeom>
          <a:solidFill>
            <a:srgbClr val="F4F7F5"/>
          </a:solidFill>
          <a:ln w="9525">
            <a:solidFill>
              <a:srgbClr val="D5DED9"/>
            </a:solidFill>
            <a:prstDash val="solid"/>
          </a:ln>
        </p:spPr>
      </p:sp>
      <p:sp>
        <p:nvSpPr>
          <p:cNvPr id="64" name="Shape 61"/>
          <p:cNvSpPr/>
          <p:nvPr/>
        </p:nvSpPr>
        <p:spPr>
          <a:xfrm>
            <a:off x="4773168" y="4032504"/>
            <a:ext cx="329184" cy="329184"/>
          </a:xfrm>
          <a:prstGeom prst="ellipse">
            <a:avLst/>
          </a:prstGeom>
          <a:solidFill>
            <a:srgbClr val="D49A00"/>
          </a:solidFill>
          <a:ln/>
        </p:spPr>
      </p:sp>
      <p:sp>
        <p:nvSpPr>
          <p:cNvPr id="65" name="Text 62"/>
          <p:cNvSpPr txBox="1"/>
          <p:nvPr/>
        </p:nvSpPr>
        <p:spPr>
          <a:xfrm>
            <a:off x="4773168" y="40325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66" name="Text 63"/>
          <p:cNvSpPr txBox="1"/>
          <p:nvPr/>
        </p:nvSpPr>
        <p:spPr>
          <a:xfrm>
            <a:off x="5230368" y="3959352"/>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Governance</a:t>
            </a:r>
            <a:endParaRPr lang="en-US" sz="1150" dirty="0"/>
          </a:p>
        </p:txBody>
      </p:sp>
      <p:sp>
        <p:nvSpPr>
          <p:cNvPr id="67" name="Text 64"/>
          <p:cNvSpPr txBox="1"/>
          <p:nvPr/>
        </p:nvSpPr>
        <p:spPr>
          <a:xfrm>
            <a:off x="5230368" y="4187952"/>
            <a:ext cx="3383280" cy="246888"/>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Steering committee, dispute resolution, periodic review.</a:t>
            </a:r>
            <a:endParaRPr lang="en-US" sz="10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5 OF 6</a:t>
            </a:r>
            <a:endParaRPr lang="en-US" sz="1100" dirty="0"/>
          </a:p>
        </p:txBody>
      </p:sp>
      <p:sp>
        <p:nvSpPr>
          <p:cNvPr id="4" name="Text 1"/>
          <p:cNvSpPr txBox="1"/>
          <p:nvPr/>
        </p:nvSpPr>
        <p:spPr>
          <a:xfrm>
            <a:off x="502920" y="91440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2"/>
          <p:cNvSpPr txBox="1"/>
          <p:nvPr/>
        </p:nvSpPr>
        <p:spPr>
          <a:xfrm>
            <a:off x="548640" y="233172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Ethics &amp; confidentiality</a:t>
            </a:r>
            <a:endParaRPr lang="en-US" sz="3600" dirty="0"/>
          </a:p>
        </p:txBody>
      </p:sp>
      <p:sp>
        <p:nvSpPr>
          <p:cNvPr id="6" name="Text 3"/>
          <p:cNvSpPr txBox="1"/>
          <p:nvPr/>
        </p:nvSpPr>
        <p:spPr>
          <a:xfrm>
            <a:off x="548640" y="3108960"/>
            <a:ext cx="475488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Technically possible, legally allowed, and publicly acceptable — are all three true?</a:t>
            </a:r>
            <a:endParaRPr lang="en-US" sz="1800" dirty="0"/>
          </a:p>
        </p:txBody>
      </p:sp>
      <p:sp>
        <p:nvSpPr>
          <p:cNvPr id="7" name="Shape 4"/>
          <p:cNvSpPr/>
          <p:nvPr/>
        </p:nvSpPr>
        <p:spPr>
          <a:xfrm>
            <a:off x="566928" y="4343400"/>
            <a:ext cx="100584" cy="100584"/>
          </a:xfrm>
          <a:prstGeom prst="ellipse">
            <a:avLst/>
          </a:prstGeom>
          <a:solidFill>
            <a:srgbClr val="FFFFFF">
              <a:alpha val="35000"/>
            </a:srgbClr>
          </a:solidFill>
          <a:ln/>
        </p:spPr>
      </p:sp>
      <p:sp>
        <p:nvSpPr>
          <p:cNvPr id="8" name="Shape 5"/>
          <p:cNvSpPr/>
          <p:nvPr/>
        </p:nvSpPr>
        <p:spPr>
          <a:xfrm>
            <a:off x="749808" y="4343400"/>
            <a:ext cx="100584" cy="100584"/>
          </a:xfrm>
          <a:prstGeom prst="ellipse">
            <a:avLst/>
          </a:prstGeom>
          <a:solidFill>
            <a:srgbClr val="FFFFFF">
              <a:alpha val="35000"/>
            </a:srgbClr>
          </a:solidFill>
          <a:ln/>
        </p:spPr>
      </p:sp>
      <p:sp>
        <p:nvSpPr>
          <p:cNvPr id="9" name="Shape 6"/>
          <p:cNvSpPr/>
          <p:nvPr/>
        </p:nvSpPr>
        <p:spPr>
          <a:xfrm>
            <a:off x="932688" y="4343400"/>
            <a:ext cx="100584" cy="100584"/>
          </a:xfrm>
          <a:prstGeom prst="ellipse">
            <a:avLst/>
          </a:prstGeom>
          <a:solidFill>
            <a:srgbClr val="FFFFFF">
              <a:alpha val="35000"/>
            </a:srgbClr>
          </a:solidFill>
          <a:ln/>
        </p:spPr>
      </p:sp>
      <p:sp>
        <p:nvSpPr>
          <p:cNvPr id="10" name="Shape 7"/>
          <p:cNvSpPr/>
          <p:nvPr/>
        </p:nvSpPr>
        <p:spPr>
          <a:xfrm>
            <a:off x="1115568" y="4343400"/>
            <a:ext cx="100584" cy="100584"/>
          </a:xfrm>
          <a:prstGeom prst="ellipse">
            <a:avLst/>
          </a:prstGeom>
          <a:solidFill>
            <a:srgbClr val="FFFFFF">
              <a:alpha val="35000"/>
            </a:srgbClr>
          </a:solidFill>
          <a:ln/>
        </p:spPr>
      </p:sp>
      <p:sp>
        <p:nvSpPr>
          <p:cNvPr id="11" name="Shape 8"/>
          <p:cNvSpPr/>
          <p:nvPr/>
        </p:nvSpPr>
        <p:spPr>
          <a:xfrm>
            <a:off x="1298448" y="4343400"/>
            <a:ext cx="100584" cy="100584"/>
          </a:xfrm>
          <a:prstGeom prst="ellipse">
            <a:avLst/>
          </a:prstGeom>
          <a:solidFill>
            <a:srgbClr val="F5C242"/>
          </a:solidFill>
          <a:ln/>
        </p:spPr>
      </p:sp>
      <p:sp>
        <p:nvSpPr>
          <p:cNvPr id="12" name="Shape 9"/>
          <p:cNvSpPr/>
          <p:nvPr/>
        </p:nvSpPr>
        <p:spPr>
          <a:xfrm>
            <a:off x="1481328" y="4343400"/>
            <a:ext cx="100584" cy="100584"/>
          </a:xfrm>
          <a:prstGeom prst="ellipse">
            <a:avLst/>
          </a:prstGeom>
          <a:solidFill>
            <a:srgbClr val="FFFFFF">
              <a:alpha val="35000"/>
            </a:srgbClr>
          </a:solidFill>
          <a:ln/>
        </p:spPr>
      </p:sp>
      <p:sp>
        <p:nvSpPr>
          <p:cNvPr id="13" name="Shape 10"/>
          <p:cNvSpPr/>
          <p:nvPr/>
        </p:nvSpPr>
        <p:spPr>
          <a:xfrm>
            <a:off x="5989320" y="1143000"/>
            <a:ext cx="2651760" cy="2651760"/>
          </a:xfrm>
          <a:prstGeom prst="ellipse">
            <a:avLst/>
          </a:prstGeom>
          <a:solidFill>
            <a:srgbClr val="FFFFFF">
              <a:alpha val="12000"/>
            </a:srgbClr>
          </a:solidFill>
          <a:ln/>
        </p:spPr>
      </p:sp>
      <p:sp>
        <p:nvSpPr>
          <p:cNvPr id="14" name="Shape 11"/>
          <p:cNvSpPr/>
          <p:nvPr/>
        </p:nvSpPr>
        <p:spPr>
          <a:xfrm>
            <a:off x="6355080" y="1508760"/>
            <a:ext cx="1920240" cy="1920240"/>
          </a:xfrm>
          <a:prstGeom prst="ellipse">
            <a:avLst/>
          </a:prstGeom>
          <a:solidFill>
            <a:srgbClr val="FFFFFF">
              <a:alpha val="20000"/>
            </a:srgbClr>
          </a:solidFill>
          <a:ln/>
        </p:spPr>
      </p:sp>
      <p:sp>
        <p:nvSpPr>
          <p:cNvPr id="15" name="Shape 12"/>
          <p:cNvSpPr/>
          <p:nvPr/>
        </p:nvSpPr>
        <p:spPr>
          <a:xfrm>
            <a:off x="6675120" y="1828800"/>
            <a:ext cx="1280160" cy="1280160"/>
          </a:xfrm>
          <a:prstGeom prst="ellipse">
            <a:avLst/>
          </a:prstGeom>
          <a:solidFill>
            <a:srgbClr val="FFFFFF"/>
          </a:solidFill>
          <a:ln/>
        </p:spPr>
      </p:sp>
      <p:pic>
        <p:nvPicPr>
          <p:cNvPr id="16" name="Image 0" descr="preencoded.png">    </p:cNvPr>
          <p:cNvPicPr>
            <a:picLocks noChangeAspect="1"/>
          </p:cNvPicPr>
          <p:nvPr/>
        </p:nvPicPr>
        <p:blipFill>
          <a:blip r:embed="rId2"/>
          <a:stretch>
            <a:fillRect/>
          </a:stretch>
        </p:blipFill>
        <p:spPr>
          <a:xfrm>
            <a:off x="6995160" y="2148840"/>
            <a:ext cx="640080" cy="640080"/>
          </a:xfrm>
          <a:prstGeom prst="rect">
            <a:avLst/>
          </a:prstGeom>
        </p:spPr>
      </p:pic>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ETHICS &amp; CONFIDENTIALITY</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Four layers of rules apply at the same time</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An NSO must check each layer before any record moves.</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C4621D"/>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8" name="Shape 15"/>
          <p:cNvSpPr/>
          <p:nvPr/>
        </p:nvSpPr>
        <p:spPr>
          <a:xfrm>
            <a:off x="457200" y="1325880"/>
            <a:ext cx="8229600" cy="694944"/>
          </a:xfrm>
          <a:prstGeom prst="roundRect">
            <a:avLst>
              <a:gd name="adj" fmla="val 10526"/>
            </a:avLst>
          </a:prstGeom>
          <a:solidFill>
            <a:srgbClr val="C4621D">
              <a:alpha val="12000"/>
            </a:srgbClr>
          </a:solidFill>
          <a:ln w="12700">
            <a:solidFill>
              <a:srgbClr val="C4621D"/>
            </a:solidFill>
            <a:prstDash val="solid"/>
          </a:ln>
        </p:spPr>
      </p:sp>
      <p:sp>
        <p:nvSpPr>
          <p:cNvPr id="19" name="Shape 16"/>
          <p:cNvSpPr/>
          <p:nvPr/>
        </p:nvSpPr>
        <p:spPr>
          <a:xfrm>
            <a:off x="566928" y="1444752"/>
            <a:ext cx="457200" cy="457200"/>
          </a:xfrm>
          <a:prstGeom prst="ellipse">
            <a:avLst/>
          </a:prstGeom>
          <a:solidFill>
            <a:srgbClr val="C4621D">
              <a:alpha val="22000"/>
            </a:srgbClr>
          </a:solidFill>
          <a:ln/>
        </p:spPr>
      </p:sp>
      <p:pic>
        <p:nvPicPr>
          <p:cNvPr id="20" name="Image 0" descr="preencoded.png">    </p:cNvPr>
          <p:cNvPicPr>
            <a:picLocks noChangeAspect="1"/>
          </p:cNvPicPr>
          <p:nvPr/>
        </p:nvPicPr>
        <p:blipFill>
          <a:blip r:embed="rId1"/>
          <a:stretch>
            <a:fillRect/>
          </a:stretch>
        </p:blipFill>
        <p:spPr>
          <a:xfrm>
            <a:off x="681228" y="1559052"/>
            <a:ext cx="228600" cy="228600"/>
          </a:xfrm>
          <a:prstGeom prst="rect">
            <a:avLst/>
          </a:prstGeom>
        </p:spPr>
      </p:pic>
      <p:sp>
        <p:nvSpPr>
          <p:cNvPr id="21" name="Text 17"/>
          <p:cNvSpPr txBox="1"/>
          <p:nvPr/>
        </p:nvSpPr>
        <p:spPr>
          <a:xfrm>
            <a:off x="1143000" y="1399032"/>
            <a:ext cx="1463040" cy="201168"/>
          </a:xfrm>
          <a:prstGeom prst="rect">
            <a:avLst/>
          </a:prstGeom>
          <a:noFill/>
          <a:ln/>
        </p:spPr>
        <p:txBody>
          <a:bodyPr wrap="square" lIns="0" tIns="0" rIns="0" bIns="0" rtlCol="0" anchor="t"/>
          <a:lstStyle/>
          <a:p>
            <a:pPr indent="0" marL="0">
              <a:buNone/>
            </a:pPr>
            <a:r>
              <a:rPr lang="en-US" sz="950" b="1" spc="200" kern="0" dirty="0">
                <a:solidFill>
                  <a:srgbClr val="C4621D"/>
                </a:solidFill>
                <a:latin typeface="Calibri" pitchFamily="34" charset="0"/>
                <a:ea typeface="Calibri" pitchFamily="34" charset="-122"/>
                <a:cs typeface="Calibri" pitchFamily="34" charset="-120"/>
              </a:rPr>
              <a:t>GLOBAL</a:t>
            </a:r>
            <a:endParaRPr lang="en-US" sz="950" dirty="0"/>
          </a:p>
        </p:txBody>
      </p:sp>
      <p:sp>
        <p:nvSpPr>
          <p:cNvPr id="22" name="Text 18"/>
          <p:cNvSpPr txBox="1"/>
          <p:nvPr/>
        </p:nvSpPr>
        <p:spPr>
          <a:xfrm>
            <a:off x="1143000" y="1600200"/>
            <a:ext cx="3063240" cy="38404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UN Fundamental Principles of Official Statistics</a:t>
            </a:r>
            <a:endParaRPr lang="en-US" sz="1100" dirty="0"/>
          </a:p>
        </p:txBody>
      </p:sp>
      <p:sp>
        <p:nvSpPr>
          <p:cNvPr id="23" name="Text 19"/>
          <p:cNvSpPr txBox="1"/>
          <p:nvPr/>
        </p:nvSpPr>
        <p:spPr>
          <a:xfrm>
            <a:off x="4343400" y="1380744"/>
            <a:ext cx="4206240" cy="58521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Principle 5: any source, chosen on quality, timeliness, cost and burden. Principle 6: individual data strictly confidential.</a:t>
            </a:r>
            <a:endParaRPr lang="en-US" sz="1050" dirty="0"/>
          </a:p>
        </p:txBody>
      </p:sp>
      <p:sp>
        <p:nvSpPr>
          <p:cNvPr id="24" name="Shape 20"/>
          <p:cNvSpPr/>
          <p:nvPr/>
        </p:nvSpPr>
        <p:spPr>
          <a:xfrm>
            <a:off x="685800" y="2130552"/>
            <a:ext cx="7772400" cy="694944"/>
          </a:xfrm>
          <a:prstGeom prst="roundRect">
            <a:avLst>
              <a:gd name="adj" fmla="val 10526"/>
            </a:avLst>
          </a:prstGeom>
          <a:solidFill>
            <a:srgbClr val="C4621D">
              <a:alpha val="12000"/>
            </a:srgbClr>
          </a:solidFill>
          <a:ln w="12700">
            <a:solidFill>
              <a:srgbClr val="C4621D"/>
            </a:solidFill>
            <a:prstDash val="solid"/>
          </a:ln>
        </p:spPr>
      </p:sp>
      <p:sp>
        <p:nvSpPr>
          <p:cNvPr id="25" name="Shape 21"/>
          <p:cNvSpPr/>
          <p:nvPr/>
        </p:nvSpPr>
        <p:spPr>
          <a:xfrm>
            <a:off x="795528" y="2249424"/>
            <a:ext cx="457200" cy="457200"/>
          </a:xfrm>
          <a:prstGeom prst="ellipse">
            <a:avLst/>
          </a:prstGeom>
          <a:solidFill>
            <a:srgbClr val="C4621D">
              <a:alpha val="22000"/>
            </a:srgbClr>
          </a:solidFill>
          <a:ln/>
        </p:spPr>
      </p:sp>
      <p:pic>
        <p:nvPicPr>
          <p:cNvPr id="26" name="Image 1" descr="preencoded.png">    </p:cNvPr>
          <p:cNvPicPr>
            <a:picLocks noChangeAspect="1"/>
          </p:cNvPicPr>
          <p:nvPr/>
        </p:nvPicPr>
        <p:blipFill>
          <a:blip r:embed="rId2"/>
          <a:stretch>
            <a:fillRect/>
          </a:stretch>
        </p:blipFill>
        <p:spPr>
          <a:xfrm>
            <a:off x="909828" y="2363724"/>
            <a:ext cx="228600" cy="228600"/>
          </a:xfrm>
          <a:prstGeom prst="rect">
            <a:avLst/>
          </a:prstGeom>
        </p:spPr>
      </p:pic>
      <p:sp>
        <p:nvSpPr>
          <p:cNvPr id="27" name="Text 22"/>
          <p:cNvSpPr txBox="1"/>
          <p:nvPr/>
        </p:nvSpPr>
        <p:spPr>
          <a:xfrm>
            <a:off x="1371600" y="2203704"/>
            <a:ext cx="1463040" cy="201168"/>
          </a:xfrm>
          <a:prstGeom prst="rect">
            <a:avLst/>
          </a:prstGeom>
          <a:noFill/>
          <a:ln/>
        </p:spPr>
        <p:txBody>
          <a:bodyPr wrap="square" lIns="0" tIns="0" rIns="0" bIns="0" rtlCol="0" anchor="t"/>
          <a:lstStyle/>
          <a:p>
            <a:pPr indent="0" marL="0">
              <a:buNone/>
            </a:pPr>
            <a:r>
              <a:rPr lang="en-US" sz="950" b="1" spc="200" kern="0" dirty="0">
                <a:solidFill>
                  <a:srgbClr val="C4621D"/>
                </a:solidFill>
                <a:latin typeface="Calibri" pitchFamily="34" charset="0"/>
                <a:ea typeface="Calibri" pitchFamily="34" charset="-122"/>
                <a:cs typeface="Calibri" pitchFamily="34" charset="-120"/>
              </a:rPr>
              <a:t>CONTINENTAL</a:t>
            </a:r>
            <a:endParaRPr lang="en-US" sz="950" dirty="0"/>
          </a:p>
        </p:txBody>
      </p:sp>
      <p:sp>
        <p:nvSpPr>
          <p:cNvPr id="28" name="Text 23"/>
          <p:cNvSpPr txBox="1"/>
          <p:nvPr/>
        </p:nvSpPr>
        <p:spPr>
          <a:xfrm>
            <a:off x="1371600" y="2404872"/>
            <a:ext cx="2834640" cy="38404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African Charter on Statistics · Malabo Convention</a:t>
            </a:r>
            <a:endParaRPr lang="en-US" sz="1100" dirty="0"/>
          </a:p>
        </p:txBody>
      </p:sp>
      <p:sp>
        <p:nvSpPr>
          <p:cNvPr id="29" name="Text 24"/>
          <p:cNvSpPr txBox="1"/>
          <p:nvPr/>
        </p:nvSpPr>
        <p:spPr>
          <a:xfrm>
            <a:off x="4343400" y="2185416"/>
            <a:ext cx="3977640" cy="58521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Professional independence and confidentiality; AU data-protection treaty in force since 8 June 2023.</a:t>
            </a:r>
            <a:endParaRPr lang="en-US" sz="1050" dirty="0"/>
          </a:p>
        </p:txBody>
      </p:sp>
      <p:sp>
        <p:nvSpPr>
          <p:cNvPr id="30" name="Shape 25"/>
          <p:cNvSpPr/>
          <p:nvPr/>
        </p:nvSpPr>
        <p:spPr>
          <a:xfrm>
            <a:off x="914400" y="2935224"/>
            <a:ext cx="7315200" cy="694944"/>
          </a:xfrm>
          <a:prstGeom prst="roundRect">
            <a:avLst>
              <a:gd name="adj" fmla="val 10526"/>
            </a:avLst>
          </a:prstGeom>
          <a:solidFill>
            <a:srgbClr val="C4621D">
              <a:alpha val="12000"/>
            </a:srgbClr>
          </a:solidFill>
          <a:ln w="12700">
            <a:solidFill>
              <a:srgbClr val="C4621D"/>
            </a:solidFill>
            <a:prstDash val="solid"/>
          </a:ln>
        </p:spPr>
      </p:sp>
      <p:sp>
        <p:nvSpPr>
          <p:cNvPr id="31" name="Shape 26"/>
          <p:cNvSpPr/>
          <p:nvPr/>
        </p:nvSpPr>
        <p:spPr>
          <a:xfrm>
            <a:off x="1024128" y="3054096"/>
            <a:ext cx="457200" cy="457200"/>
          </a:xfrm>
          <a:prstGeom prst="ellipse">
            <a:avLst/>
          </a:prstGeom>
          <a:solidFill>
            <a:srgbClr val="C4621D">
              <a:alpha val="22000"/>
            </a:srgbClr>
          </a:solidFill>
          <a:ln/>
        </p:spPr>
      </p:sp>
      <p:pic>
        <p:nvPicPr>
          <p:cNvPr id="32" name="Image 2" descr="preencoded.png">    </p:cNvPr>
          <p:cNvPicPr>
            <a:picLocks noChangeAspect="1"/>
          </p:cNvPicPr>
          <p:nvPr/>
        </p:nvPicPr>
        <p:blipFill>
          <a:blip r:embed="rId3"/>
          <a:stretch>
            <a:fillRect/>
          </a:stretch>
        </p:blipFill>
        <p:spPr>
          <a:xfrm>
            <a:off x="1138428" y="3168396"/>
            <a:ext cx="228600" cy="228600"/>
          </a:xfrm>
          <a:prstGeom prst="rect">
            <a:avLst/>
          </a:prstGeom>
        </p:spPr>
      </p:pic>
      <p:sp>
        <p:nvSpPr>
          <p:cNvPr id="33" name="Text 27"/>
          <p:cNvSpPr txBox="1"/>
          <p:nvPr/>
        </p:nvSpPr>
        <p:spPr>
          <a:xfrm>
            <a:off x="1600200" y="3008376"/>
            <a:ext cx="1463040" cy="201168"/>
          </a:xfrm>
          <a:prstGeom prst="rect">
            <a:avLst/>
          </a:prstGeom>
          <a:noFill/>
          <a:ln/>
        </p:spPr>
        <p:txBody>
          <a:bodyPr wrap="square" lIns="0" tIns="0" rIns="0" bIns="0" rtlCol="0" anchor="t"/>
          <a:lstStyle/>
          <a:p>
            <a:pPr indent="0" marL="0">
              <a:buNone/>
            </a:pPr>
            <a:r>
              <a:rPr lang="en-US" sz="950" b="1" spc="200" kern="0" dirty="0">
                <a:solidFill>
                  <a:srgbClr val="C4621D"/>
                </a:solidFill>
                <a:latin typeface="Calibri" pitchFamily="34" charset="0"/>
                <a:ea typeface="Calibri" pitchFamily="34" charset="-122"/>
                <a:cs typeface="Calibri" pitchFamily="34" charset="-120"/>
              </a:rPr>
              <a:t>NATIONAL</a:t>
            </a:r>
            <a:endParaRPr lang="en-US" sz="950" dirty="0"/>
          </a:p>
        </p:txBody>
      </p:sp>
      <p:sp>
        <p:nvSpPr>
          <p:cNvPr id="34" name="Text 28"/>
          <p:cNvSpPr txBox="1"/>
          <p:nvPr/>
        </p:nvSpPr>
        <p:spPr>
          <a:xfrm>
            <a:off x="1600200" y="3209544"/>
            <a:ext cx="2606040" cy="38404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Statistics act · Data-protection law</a:t>
            </a:r>
            <a:endParaRPr lang="en-US" sz="1100" dirty="0"/>
          </a:p>
        </p:txBody>
      </p:sp>
      <p:sp>
        <p:nvSpPr>
          <p:cNvPr id="35" name="Text 29"/>
          <p:cNvSpPr txBox="1"/>
          <p:nvPr/>
        </p:nvSpPr>
        <p:spPr>
          <a:xfrm>
            <a:off x="4343400" y="2990088"/>
            <a:ext cx="3749040" cy="58521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Access powers for statistical purposes; lawful basis; supervisory authority; sector rules (telecom, banking).</a:t>
            </a:r>
            <a:endParaRPr lang="en-US" sz="1050" dirty="0"/>
          </a:p>
        </p:txBody>
      </p:sp>
      <p:sp>
        <p:nvSpPr>
          <p:cNvPr id="36" name="Shape 30"/>
          <p:cNvSpPr/>
          <p:nvPr/>
        </p:nvSpPr>
        <p:spPr>
          <a:xfrm>
            <a:off x="1143000" y="3739896"/>
            <a:ext cx="6858000" cy="694944"/>
          </a:xfrm>
          <a:prstGeom prst="roundRect">
            <a:avLst>
              <a:gd name="adj" fmla="val 10526"/>
            </a:avLst>
          </a:prstGeom>
          <a:solidFill>
            <a:srgbClr val="C4621D">
              <a:alpha val="12000"/>
            </a:srgbClr>
          </a:solidFill>
          <a:ln w="12700">
            <a:solidFill>
              <a:srgbClr val="C4621D"/>
            </a:solidFill>
            <a:prstDash val="solid"/>
          </a:ln>
        </p:spPr>
      </p:sp>
      <p:sp>
        <p:nvSpPr>
          <p:cNvPr id="37" name="Shape 31"/>
          <p:cNvSpPr/>
          <p:nvPr/>
        </p:nvSpPr>
        <p:spPr>
          <a:xfrm>
            <a:off x="1252728" y="3858768"/>
            <a:ext cx="457200" cy="457200"/>
          </a:xfrm>
          <a:prstGeom prst="ellipse">
            <a:avLst/>
          </a:prstGeom>
          <a:solidFill>
            <a:srgbClr val="C4621D">
              <a:alpha val="22000"/>
            </a:srgbClr>
          </a:solidFill>
          <a:ln/>
        </p:spPr>
      </p:sp>
      <p:pic>
        <p:nvPicPr>
          <p:cNvPr id="38" name="Image 3" descr="preencoded.png">    </p:cNvPr>
          <p:cNvPicPr>
            <a:picLocks noChangeAspect="1"/>
          </p:cNvPicPr>
          <p:nvPr/>
        </p:nvPicPr>
        <p:blipFill>
          <a:blip r:embed="rId4"/>
          <a:stretch>
            <a:fillRect/>
          </a:stretch>
        </p:blipFill>
        <p:spPr>
          <a:xfrm>
            <a:off x="1367028" y="3973068"/>
            <a:ext cx="228600" cy="228600"/>
          </a:xfrm>
          <a:prstGeom prst="rect">
            <a:avLst/>
          </a:prstGeom>
        </p:spPr>
      </p:pic>
      <p:sp>
        <p:nvSpPr>
          <p:cNvPr id="39" name="Text 32"/>
          <p:cNvSpPr txBox="1"/>
          <p:nvPr/>
        </p:nvSpPr>
        <p:spPr>
          <a:xfrm>
            <a:off x="1828800" y="3813048"/>
            <a:ext cx="1463040" cy="201168"/>
          </a:xfrm>
          <a:prstGeom prst="rect">
            <a:avLst/>
          </a:prstGeom>
          <a:noFill/>
          <a:ln/>
        </p:spPr>
        <p:txBody>
          <a:bodyPr wrap="square" lIns="0" tIns="0" rIns="0" bIns="0" rtlCol="0" anchor="t"/>
          <a:lstStyle/>
          <a:p>
            <a:pPr indent="0" marL="0">
              <a:buNone/>
            </a:pPr>
            <a:r>
              <a:rPr lang="en-US" sz="950" b="1" spc="200" kern="0" dirty="0">
                <a:solidFill>
                  <a:srgbClr val="C4621D"/>
                </a:solidFill>
                <a:latin typeface="Calibri" pitchFamily="34" charset="0"/>
                <a:ea typeface="Calibri" pitchFamily="34" charset="-122"/>
                <a:cs typeface="Calibri" pitchFamily="34" charset="-120"/>
              </a:rPr>
              <a:t>CONTRACTUAL</a:t>
            </a:r>
            <a:endParaRPr lang="en-US" sz="950" dirty="0"/>
          </a:p>
        </p:txBody>
      </p:sp>
      <p:sp>
        <p:nvSpPr>
          <p:cNvPr id="40" name="Text 33"/>
          <p:cNvSpPr txBox="1"/>
          <p:nvPr/>
        </p:nvSpPr>
        <p:spPr>
          <a:xfrm>
            <a:off x="1828800" y="4014216"/>
            <a:ext cx="2377440" cy="38404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Agreements · Terms of service · Licences</a:t>
            </a:r>
            <a:endParaRPr lang="en-US" sz="1100" dirty="0"/>
          </a:p>
        </p:txBody>
      </p:sp>
      <p:sp>
        <p:nvSpPr>
          <p:cNvPr id="41" name="Text 34"/>
          <p:cNvSpPr txBox="1"/>
          <p:nvPr/>
        </p:nvSpPr>
        <p:spPr>
          <a:xfrm>
            <a:off x="4343400" y="3794760"/>
            <a:ext cx="3520440" cy="58521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e.g. Ookla open data under CC BY-NC-SA 4.0: attribution, non-commercial, share-alike.</a:t>
            </a:r>
            <a:endParaRPr lang="en-US" sz="1050" dirty="0"/>
          </a:p>
        </p:txBody>
      </p:sp>
      <p:sp>
        <p:nvSpPr>
          <p:cNvPr id="42" name="Text 35"/>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UNGA A/RES/68/261 (2014); African Charter on Statistics (2009); AU Malabo Convention (2014, in force 2023); Ookla licence.</a:t>
            </a:r>
            <a:endParaRPr lang="en-US" sz="85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ETHICS &amp; CONFIDENTIALITY</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Anonymisation is more fragile than it looks</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D5DED9"/>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C4621D"/>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097280"/>
            <a:ext cx="3291840" cy="3429000"/>
          </a:xfrm>
          <a:prstGeom prst="roundRect">
            <a:avLst>
              <a:gd name="adj" fmla="val 2222"/>
            </a:avLst>
          </a:prstGeom>
          <a:solidFill>
            <a:srgbClr val="00553A"/>
          </a:solidFill>
          <a:ln/>
        </p:spPr>
      </p:sp>
      <p:sp>
        <p:nvSpPr>
          <p:cNvPr id="18" name="Text 15"/>
          <p:cNvSpPr txBox="1"/>
          <p:nvPr/>
        </p:nvSpPr>
        <p:spPr>
          <a:xfrm>
            <a:off x="685800" y="1261872"/>
            <a:ext cx="2834640" cy="201168"/>
          </a:xfrm>
          <a:prstGeom prst="rect">
            <a:avLst/>
          </a:prstGeom>
          <a:noFill/>
          <a:ln/>
        </p:spPr>
        <p:txBody>
          <a:bodyPr wrap="square" lIns="0" tIns="0" rIns="0" bIns="0" rtlCol="0" anchor="t"/>
          <a:lstStyle/>
          <a:p>
            <a:pPr indent="0" marL="0">
              <a:buNone/>
            </a:pPr>
            <a:r>
              <a:rPr lang="en-US" sz="950" b="1" spc="200" kern="0" dirty="0">
                <a:solidFill>
                  <a:srgbClr val="F5C242"/>
                </a:solidFill>
                <a:latin typeface="Calibri" pitchFamily="34" charset="0"/>
                <a:ea typeface="Calibri" pitchFamily="34" charset="-122"/>
                <a:cs typeface="Calibri" pitchFamily="34" charset="-120"/>
              </a:rPr>
              <a:t>UNIQUE IN THE CROWD</a:t>
            </a:r>
            <a:endParaRPr lang="en-US" sz="950" dirty="0"/>
          </a:p>
        </p:txBody>
      </p:sp>
      <p:sp>
        <p:nvSpPr>
          <p:cNvPr id="19" name="Text 16"/>
          <p:cNvSpPr txBox="1"/>
          <p:nvPr/>
        </p:nvSpPr>
        <p:spPr>
          <a:xfrm>
            <a:off x="685800" y="1508760"/>
            <a:ext cx="914400" cy="914400"/>
          </a:xfrm>
          <a:prstGeom prst="rect">
            <a:avLst/>
          </a:prstGeom>
          <a:noFill/>
          <a:ln/>
        </p:spPr>
        <p:txBody>
          <a:bodyPr wrap="square" lIns="0" tIns="0" rIns="0" bIns="0" rtlCol="0" anchor="t"/>
          <a:lstStyle/>
          <a:p>
            <a:pPr indent="0" marL="0">
              <a:buNone/>
            </a:pPr>
            <a:r>
              <a:rPr lang="en-US" sz="6000" b="1" dirty="0">
                <a:solidFill>
                  <a:srgbClr val="F5C242"/>
                </a:solidFill>
                <a:latin typeface="Calibri" pitchFamily="34" charset="0"/>
                <a:ea typeface="Calibri" pitchFamily="34" charset="-122"/>
                <a:cs typeface="Calibri" pitchFamily="34" charset="-120"/>
              </a:rPr>
              <a:t>4</a:t>
            </a:r>
            <a:endParaRPr lang="en-US" sz="6000" dirty="0"/>
          </a:p>
        </p:txBody>
      </p:sp>
      <p:sp>
        <p:nvSpPr>
          <p:cNvPr id="20" name="Text 17"/>
          <p:cNvSpPr txBox="1"/>
          <p:nvPr/>
        </p:nvSpPr>
        <p:spPr>
          <a:xfrm>
            <a:off x="1508760" y="1783080"/>
            <a:ext cx="21031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location–time points</a:t>
            </a:r>
            <a:endParaRPr lang="en-US" sz="1400" dirty="0"/>
          </a:p>
        </p:txBody>
      </p:sp>
      <p:sp>
        <p:nvSpPr>
          <p:cNvPr id="21" name="Text 18"/>
          <p:cNvSpPr txBox="1"/>
          <p:nvPr/>
        </p:nvSpPr>
        <p:spPr>
          <a:xfrm>
            <a:off x="685800" y="2487168"/>
            <a:ext cx="2834640" cy="274320"/>
          </a:xfrm>
          <a:prstGeom prst="rect">
            <a:avLst/>
          </a:prstGeom>
          <a:noFill/>
          <a:ln/>
        </p:spPr>
        <p:txBody>
          <a:bodyPr wrap="square" lIns="0" tIns="0" rIns="0" bIns="0" rtlCol="0" anchor="t"/>
          <a:lstStyle/>
          <a:p>
            <a:pPr indent="0" marL="0">
              <a:buNone/>
            </a:pPr>
            <a:r>
              <a:rPr lang="en-US" sz="1200" dirty="0">
                <a:solidFill>
                  <a:srgbClr val="E6F6EE"/>
                </a:solidFill>
                <a:latin typeface="Calibri" pitchFamily="34" charset="0"/>
                <a:ea typeface="Calibri" pitchFamily="34" charset="-122"/>
                <a:cs typeface="Calibri" pitchFamily="34" charset="-120"/>
              </a:rPr>
              <a:t>were enough to single out</a:t>
            </a:r>
            <a:endParaRPr lang="en-US" sz="1200" dirty="0"/>
          </a:p>
        </p:txBody>
      </p:sp>
      <p:sp>
        <p:nvSpPr>
          <p:cNvPr id="22" name="Text 19"/>
          <p:cNvSpPr txBox="1"/>
          <p:nvPr/>
        </p:nvSpPr>
        <p:spPr>
          <a:xfrm>
            <a:off x="685800" y="2761488"/>
            <a:ext cx="1737360" cy="822960"/>
          </a:xfrm>
          <a:prstGeom prst="rect">
            <a:avLst/>
          </a:prstGeom>
          <a:noFill/>
          <a:ln/>
        </p:spPr>
        <p:txBody>
          <a:bodyPr wrap="square" lIns="0" tIns="0" rIns="0" bIns="0" rtlCol="0" anchor="t"/>
          <a:lstStyle/>
          <a:p>
            <a:pPr indent="0" marL="0">
              <a:buNone/>
            </a:pPr>
            <a:r>
              <a:rPr lang="en-US" sz="5200" b="1" dirty="0">
                <a:solidFill>
                  <a:srgbClr val="FFFFFF"/>
                </a:solidFill>
                <a:latin typeface="Calibri" pitchFamily="34" charset="0"/>
                <a:ea typeface="Calibri" pitchFamily="34" charset="-122"/>
                <a:cs typeface="Calibri" pitchFamily="34" charset="-120"/>
              </a:rPr>
              <a:t>95%</a:t>
            </a:r>
            <a:endParaRPr lang="en-US" sz="5200" dirty="0"/>
          </a:p>
        </p:txBody>
      </p:sp>
      <p:sp>
        <p:nvSpPr>
          <p:cNvPr id="23" name="Text 20"/>
          <p:cNvSpPr txBox="1"/>
          <p:nvPr/>
        </p:nvSpPr>
        <p:spPr>
          <a:xfrm>
            <a:off x="685800" y="3611880"/>
            <a:ext cx="2880360" cy="731520"/>
          </a:xfrm>
          <a:prstGeom prst="rect">
            <a:avLst/>
          </a:prstGeom>
          <a:noFill/>
          <a:ln/>
        </p:spPr>
        <p:txBody>
          <a:bodyPr wrap="square" lIns="0" tIns="0" rIns="0" bIns="0" rtlCol="0" anchor="t"/>
          <a:lstStyle/>
          <a:p>
            <a:pPr indent="0" marL="0">
              <a:buNone/>
            </a:pPr>
            <a:r>
              <a:rPr lang="en-US" sz="1100" i="1" dirty="0">
                <a:solidFill>
                  <a:srgbClr val="E6F6EE"/>
                </a:solidFill>
                <a:latin typeface="Calibri" pitchFamily="34" charset="0"/>
                <a:ea typeface="Calibri" pitchFamily="34" charset="-122"/>
                <a:cs typeface="Calibri" pitchFamily="34" charset="-120"/>
              </a:rPr>
              <a:t>of 1.5 million people in a mobile-phone mobility dataset — with no names in it.</a:t>
            </a:r>
            <a:endParaRPr lang="en-US" sz="1100" dirty="0"/>
          </a:p>
        </p:txBody>
      </p:sp>
      <p:sp>
        <p:nvSpPr>
          <p:cNvPr id="24" name="Shape 21"/>
          <p:cNvSpPr/>
          <p:nvPr/>
        </p:nvSpPr>
        <p:spPr>
          <a:xfrm>
            <a:off x="3931920" y="1097280"/>
            <a:ext cx="4754880" cy="758952"/>
          </a:xfrm>
          <a:prstGeom prst="roundRect">
            <a:avLst>
              <a:gd name="adj" fmla="val 9639"/>
            </a:avLst>
          </a:prstGeom>
          <a:solidFill>
            <a:srgbClr val="F4F7F5"/>
          </a:solidFill>
          <a:ln w="9525">
            <a:solidFill>
              <a:srgbClr val="D5DED9"/>
            </a:solidFill>
            <a:prstDash val="solid"/>
          </a:ln>
        </p:spPr>
      </p:sp>
      <p:sp>
        <p:nvSpPr>
          <p:cNvPr id="25" name="Shape 22"/>
          <p:cNvSpPr/>
          <p:nvPr/>
        </p:nvSpPr>
        <p:spPr>
          <a:xfrm>
            <a:off x="4041648" y="1234440"/>
            <a:ext cx="475488" cy="475488"/>
          </a:xfrm>
          <a:prstGeom prst="ellipse">
            <a:avLst/>
          </a:prstGeom>
          <a:solidFill>
            <a:srgbClr val="C4621D">
              <a:alpha val="22000"/>
            </a:srgbClr>
          </a:solidFill>
          <a:ln/>
        </p:spPr>
      </p:sp>
      <p:pic>
        <p:nvPicPr>
          <p:cNvPr id="26" name="Image 0" descr="preencoded.png">    </p:cNvPr>
          <p:cNvPicPr>
            <a:picLocks noChangeAspect="1"/>
          </p:cNvPicPr>
          <p:nvPr/>
        </p:nvPicPr>
        <p:blipFill>
          <a:blip r:embed="rId1"/>
          <a:stretch>
            <a:fillRect/>
          </a:stretch>
        </p:blipFill>
        <p:spPr>
          <a:xfrm>
            <a:off x="4160520" y="1353312"/>
            <a:ext cx="237744" cy="237744"/>
          </a:xfrm>
          <a:prstGeom prst="rect">
            <a:avLst/>
          </a:prstGeom>
        </p:spPr>
      </p:pic>
      <p:sp>
        <p:nvSpPr>
          <p:cNvPr id="27" name="Text 23"/>
          <p:cNvSpPr txBox="1"/>
          <p:nvPr/>
        </p:nvSpPr>
        <p:spPr>
          <a:xfrm>
            <a:off x="4663440" y="1170432"/>
            <a:ext cx="3931920" cy="256032"/>
          </a:xfrm>
          <a:prstGeom prst="rect">
            <a:avLst/>
          </a:prstGeom>
          <a:noFill/>
          <a:ln/>
        </p:spPr>
        <p:txBody>
          <a:bodyPr wrap="square" lIns="0" tIns="0" rIns="0" bIns="0" rtlCol="0" anchor="t"/>
          <a:lstStyle/>
          <a:p>
            <a:pPr indent="0" marL="0">
              <a:buNone/>
            </a:pPr>
            <a:r>
              <a:rPr lang="en-US" sz="1250" b="1" dirty="0">
                <a:solidFill>
                  <a:srgbClr val="C4621D"/>
                </a:solidFill>
                <a:latin typeface="Calibri" pitchFamily="34" charset="0"/>
                <a:ea typeface="Calibri" pitchFamily="34" charset="-122"/>
                <a:cs typeface="Calibri" pitchFamily="34" charset="-120"/>
              </a:rPr>
              <a:t>Individual re-identification</a:t>
            </a:r>
            <a:endParaRPr lang="en-US" sz="1250" dirty="0"/>
          </a:p>
        </p:txBody>
      </p:sp>
      <p:sp>
        <p:nvSpPr>
          <p:cNvPr id="28" name="Text 24"/>
          <p:cNvSpPr txBox="1"/>
          <p:nvPr/>
        </p:nvSpPr>
        <p:spPr>
          <a:xfrm>
            <a:off x="4663440" y="1426464"/>
            <a:ext cx="393192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Rare combinations of place and time betray a person, even without names or numbers.</a:t>
            </a:r>
            <a:endParaRPr lang="en-US" sz="1050" dirty="0"/>
          </a:p>
        </p:txBody>
      </p:sp>
      <p:sp>
        <p:nvSpPr>
          <p:cNvPr id="29" name="Shape 25"/>
          <p:cNvSpPr/>
          <p:nvPr/>
        </p:nvSpPr>
        <p:spPr>
          <a:xfrm>
            <a:off x="3931920" y="1965960"/>
            <a:ext cx="4754880" cy="758952"/>
          </a:xfrm>
          <a:prstGeom prst="roundRect">
            <a:avLst>
              <a:gd name="adj" fmla="val 9639"/>
            </a:avLst>
          </a:prstGeom>
          <a:solidFill>
            <a:srgbClr val="F4F7F5"/>
          </a:solidFill>
          <a:ln w="9525">
            <a:solidFill>
              <a:srgbClr val="D5DED9"/>
            </a:solidFill>
            <a:prstDash val="solid"/>
          </a:ln>
        </p:spPr>
      </p:sp>
      <p:sp>
        <p:nvSpPr>
          <p:cNvPr id="30" name="Shape 26"/>
          <p:cNvSpPr/>
          <p:nvPr/>
        </p:nvSpPr>
        <p:spPr>
          <a:xfrm>
            <a:off x="4041648" y="2103120"/>
            <a:ext cx="475488" cy="475488"/>
          </a:xfrm>
          <a:prstGeom prst="ellipse">
            <a:avLst/>
          </a:prstGeom>
          <a:solidFill>
            <a:srgbClr val="C4621D">
              <a:alpha val="22000"/>
            </a:srgbClr>
          </a:solidFill>
          <a:ln/>
        </p:spPr>
      </p:sp>
      <p:pic>
        <p:nvPicPr>
          <p:cNvPr id="31" name="Image 1" descr="preencoded.png">    </p:cNvPr>
          <p:cNvPicPr>
            <a:picLocks noChangeAspect="1"/>
          </p:cNvPicPr>
          <p:nvPr/>
        </p:nvPicPr>
        <p:blipFill>
          <a:blip r:embed="rId2"/>
          <a:stretch>
            <a:fillRect/>
          </a:stretch>
        </p:blipFill>
        <p:spPr>
          <a:xfrm>
            <a:off x="4160520" y="2221992"/>
            <a:ext cx="237744" cy="237744"/>
          </a:xfrm>
          <a:prstGeom prst="rect">
            <a:avLst/>
          </a:prstGeom>
        </p:spPr>
      </p:pic>
      <p:sp>
        <p:nvSpPr>
          <p:cNvPr id="32" name="Text 27"/>
          <p:cNvSpPr txBox="1"/>
          <p:nvPr/>
        </p:nvSpPr>
        <p:spPr>
          <a:xfrm>
            <a:off x="4663440" y="2039112"/>
            <a:ext cx="3931920" cy="256032"/>
          </a:xfrm>
          <a:prstGeom prst="rect">
            <a:avLst/>
          </a:prstGeom>
          <a:noFill/>
          <a:ln/>
        </p:spPr>
        <p:txBody>
          <a:bodyPr wrap="square" lIns="0" tIns="0" rIns="0" bIns="0" rtlCol="0" anchor="t"/>
          <a:lstStyle/>
          <a:p>
            <a:pPr indent="0" marL="0">
              <a:buNone/>
            </a:pPr>
            <a:r>
              <a:rPr lang="en-US" sz="1250" b="1" dirty="0">
                <a:solidFill>
                  <a:srgbClr val="C4621D"/>
                </a:solidFill>
                <a:latin typeface="Calibri" pitchFamily="34" charset="0"/>
                <a:ea typeface="Calibri" pitchFamily="34" charset="-122"/>
                <a:cs typeface="Calibri" pitchFamily="34" charset="-120"/>
              </a:rPr>
              <a:t>Group harm</a:t>
            </a:r>
            <a:endParaRPr lang="en-US" sz="1250" dirty="0"/>
          </a:p>
        </p:txBody>
      </p:sp>
      <p:sp>
        <p:nvSpPr>
          <p:cNvPr id="33" name="Text 28"/>
          <p:cNvSpPr txBox="1"/>
          <p:nvPr/>
        </p:nvSpPr>
        <p:spPr>
          <a:xfrm>
            <a:off x="4663440" y="2295144"/>
            <a:ext cx="393192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Aggregates can still expose a community — displaced people, minorities, informal settlements.</a:t>
            </a:r>
            <a:endParaRPr lang="en-US" sz="1050" dirty="0"/>
          </a:p>
        </p:txBody>
      </p:sp>
      <p:sp>
        <p:nvSpPr>
          <p:cNvPr id="34" name="Shape 29"/>
          <p:cNvSpPr/>
          <p:nvPr/>
        </p:nvSpPr>
        <p:spPr>
          <a:xfrm>
            <a:off x="3931920" y="2834640"/>
            <a:ext cx="4754880" cy="758952"/>
          </a:xfrm>
          <a:prstGeom prst="roundRect">
            <a:avLst>
              <a:gd name="adj" fmla="val 9639"/>
            </a:avLst>
          </a:prstGeom>
          <a:solidFill>
            <a:srgbClr val="F4F7F5"/>
          </a:solidFill>
          <a:ln w="9525">
            <a:solidFill>
              <a:srgbClr val="D5DED9"/>
            </a:solidFill>
            <a:prstDash val="solid"/>
          </a:ln>
        </p:spPr>
      </p:sp>
      <p:sp>
        <p:nvSpPr>
          <p:cNvPr id="35" name="Shape 30"/>
          <p:cNvSpPr/>
          <p:nvPr/>
        </p:nvSpPr>
        <p:spPr>
          <a:xfrm>
            <a:off x="4041648" y="2971800"/>
            <a:ext cx="475488" cy="475488"/>
          </a:xfrm>
          <a:prstGeom prst="ellipse">
            <a:avLst/>
          </a:prstGeom>
          <a:solidFill>
            <a:srgbClr val="C4621D">
              <a:alpha val="22000"/>
            </a:srgbClr>
          </a:solidFill>
          <a:ln/>
        </p:spPr>
      </p:sp>
      <p:pic>
        <p:nvPicPr>
          <p:cNvPr id="36" name="Image 2" descr="preencoded.png">    </p:cNvPr>
          <p:cNvPicPr>
            <a:picLocks noChangeAspect="1"/>
          </p:cNvPicPr>
          <p:nvPr/>
        </p:nvPicPr>
        <p:blipFill>
          <a:blip r:embed="rId3"/>
          <a:stretch>
            <a:fillRect/>
          </a:stretch>
        </p:blipFill>
        <p:spPr>
          <a:xfrm>
            <a:off x="4160520" y="3090672"/>
            <a:ext cx="237744" cy="237744"/>
          </a:xfrm>
          <a:prstGeom prst="rect">
            <a:avLst/>
          </a:prstGeom>
        </p:spPr>
      </p:pic>
      <p:sp>
        <p:nvSpPr>
          <p:cNvPr id="37" name="Text 31"/>
          <p:cNvSpPr txBox="1"/>
          <p:nvPr/>
        </p:nvSpPr>
        <p:spPr>
          <a:xfrm>
            <a:off x="4663440" y="2907792"/>
            <a:ext cx="3931920" cy="256032"/>
          </a:xfrm>
          <a:prstGeom prst="rect">
            <a:avLst/>
          </a:prstGeom>
          <a:noFill/>
          <a:ln/>
        </p:spPr>
        <p:txBody>
          <a:bodyPr wrap="square" lIns="0" tIns="0" rIns="0" bIns="0" rtlCol="0" anchor="t"/>
          <a:lstStyle/>
          <a:p>
            <a:pPr indent="0" marL="0">
              <a:buNone/>
            </a:pPr>
            <a:r>
              <a:rPr lang="en-US" sz="1250" b="1" dirty="0">
                <a:solidFill>
                  <a:srgbClr val="C4621D"/>
                </a:solidFill>
                <a:latin typeface="Calibri" pitchFamily="34" charset="0"/>
                <a:ea typeface="Calibri" pitchFamily="34" charset="-122"/>
                <a:cs typeface="Calibri" pitchFamily="34" charset="-120"/>
              </a:rPr>
              <a:t>Function creep</a:t>
            </a:r>
            <a:endParaRPr lang="en-US" sz="1250" dirty="0"/>
          </a:p>
        </p:txBody>
      </p:sp>
      <p:sp>
        <p:nvSpPr>
          <p:cNvPr id="38" name="Text 32"/>
          <p:cNvSpPr txBox="1"/>
          <p:nvPr/>
        </p:nvSpPr>
        <p:spPr>
          <a:xfrm>
            <a:off x="4663440" y="3163824"/>
            <a:ext cx="393192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Data shared for statistics must never feed surveillance, enforcement or commercial targeting.</a:t>
            </a:r>
            <a:endParaRPr lang="en-US" sz="1050" dirty="0"/>
          </a:p>
        </p:txBody>
      </p:sp>
      <p:sp>
        <p:nvSpPr>
          <p:cNvPr id="39" name="Shape 33"/>
          <p:cNvSpPr/>
          <p:nvPr/>
        </p:nvSpPr>
        <p:spPr>
          <a:xfrm>
            <a:off x="3931920" y="3703320"/>
            <a:ext cx="4754880" cy="758952"/>
          </a:xfrm>
          <a:prstGeom prst="roundRect">
            <a:avLst>
              <a:gd name="adj" fmla="val 9639"/>
            </a:avLst>
          </a:prstGeom>
          <a:solidFill>
            <a:srgbClr val="F4F7F5"/>
          </a:solidFill>
          <a:ln w="9525">
            <a:solidFill>
              <a:srgbClr val="D5DED9"/>
            </a:solidFill>
            <a:prstDash val="solid"/>
          </a:ln>
        </p:spPr>
      </p:sp>
      <p:sp>
        <p:nvSpPr>
          <p:cNvPr id="40" name="Shape 34"/>
          <p:cNvSpPr/>
          <p:nvPr/>
        </p:nvSpPr>
        <p:spPr>
          <a:xfrm>
            <a:off x="4041648" y="3840480"/>
            <a:ext cx="475488" cy="475488"/>
          </a:xfrm>
          <a:prstGeom prst="ellipse">
            <a:avLst/>
          </a:prstGeom>
          <a:solidFill>
            <a:srgbClr val="C4621D">
              <a:alpha val="22000"/>
            </a:srgbClr>
          </a:solidFill>
          <a:ln/>
        </p:spPr>
      </p:sp>
      <p:pic>
        <p:nvPicPr>
          <p:cNvPr id="41" name="Image 3" descr="preencoded.png">    </p:cNvPr>
          <p:cNvPicPr>
            <a:picLocks noChangeAspect="1"/>
          </p:cNvPicPr>
          <p:nvPr/>
        </p:nvPicPr>
        <p:blipFill>
          <a:blip r:embed="rId4"/>
          <a:stretch>
            <a:fillRect/>
          </a:stretch>
        </p:blipFill>
        <p:spPr>
          <a:xfrm>
            <a:off x="4160520" y="3959352"/>
            <a:ext cx="237744" cy="237744"/>
          </a:xfrm>
          <a:prstGeom prst="rect">
            <a:avLst/>
          </a:prstGeom>
        </p:spPr>
      </p:pic>
      <p:sp>
        <p:nvSpPr>
          <p:cNvPr id="42" name="Text 35"/>
          <p:cNvSpPr txBox="1"/>
          <p:nvPr/>
        </p:nvSpPr>
        <p:spPr>
          <a:xfrm>
            <a:off x="4663440" y="3776472"/>
            <a:ext cx="3931920" cy="256032"/>
          </a:xfrm>
          <a:prstGeom prst="rect">
            <a:avLst/>
          </a:prstGeom>
          <a:noFill/>
          <a:ln/>
        </p:spPr>
        <p:txBody>
          <a:bodyPr wrap="square" lIns="0" tIns="0" rIns="0" bIns="0" rtlCol="0" anchor="t"/>
          <a:lstStyle/>
          <a:p>
            <a:pPr indent="0" marL="0">
              <a:buNone/>
            </a:pPr>
            <a:r>
              <a:rPr lang="en-US" sz="1250" b="1" dirty="0">
                <a:solidFill>
                  <a:srgbClr val="C4621D"/>
                </a:solidFill>
                <a:latin typeface="Calibri" pitchFamily="34" charset="0"/>
                <a:ea typeface="Calibri" pitchFamily="34" charset="-122"/>
                <a:cs typeface="Calibri" pitchFamily="34" charset="-120"/>
              </a:rPr>
              <a:t>Mosaic effect</a:t>
            </a:r>
            <a:endParaRPr lang="en-US" sz="1250" dirty="0"/>
          </a:p>
        </p:txBody>
      </p:sp>
      <p:sp>
        <p:nvSpPr>
          <p:cNvPr id="43" name="Text 36"/>
          <p:cNvSpPr txBox="1"/>
          <p:nvPr/>
        </p:nvSpPr>
        <p:spPr>
          <a:xfrm>
            <a:off x="4663440" y="4032504"/>
            <a:ext cx="393192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Harmless tables, once combined with other public data, can reveal what each one hid.</a:t>
            </a:r>
            <a:endParaRPr lang="en-US" sz="1050" dirty="0"/>
          </a:p>
        </p:txBody>
      </p:sp>
      <p:sp>
        <p:nvSpPr>
          <p:cNvPr id="44" name="Text 37"/>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de Montjoye, Y.-A., Hidalgo, C., Verleysen, M. &amp; Blondel, V. (2013), "Unique in the Crowd", Scientific Reports 3: 1376.</a:t>
            </a:r>
            <a:endParaRPr lang="en-US" sz="8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ETHICS &amp; CONFIDENTIALITY</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The Five Safes: a practical frame for safe access</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Risk is managed by combining five controls — no single one is sufficient.</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C4621D"/>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8" name="Shape 15"/>
          <p:cNvSpPr/>
          <p:nvPr/>
        </p:nvSpPr>
        <p:spPr>
          <a:xfrm>
            <a:off x="457200" y="1371600"/>
            <a:ext cx="1554480" cy="2514600"/>
          </a:xfrm>
          <a:prstGeom prst="roundRect">
            <a:avLst>
              <a:gd name="adj" fmla="val 4706"/>
            </a:avLst>
          </a:prstGeom>
          <a:solidFill>
            <a:srgbClr val="F4F7F5"/>
          </a:solidFill>
          <a:ln w="9525">
            <a:solidFill>
              <a:srgbClr val="D5DED9"/>
            </a:solidFill>
            <a:prstDash val="solid"/>
          </a:ln>
        </p:spPr>
      </p:sp>
      <p:sp>
        <p:nvSpPr>
          <p:cNvPr id="19" name="Shape 16"/>
          <p:cNvSpPr/>
          <p:nvPr/>
        </p:nvSpPr>
        <p:spPr>
          <a:xfrm>
            <a:off x="914400" y="1481328"/>
            <a:ext cx="640080" cy="640080"/>
          </a:xfrm>
          <a:prstGeom prst="ellipse">
            <a:avLst/>
          </a:prstGeom>
          <a:solidFill>
            <a:srgbClr val="C4621D">
              <a:alpha val="22000"/>
            </a:srgbClr>
          </a:solidFill>
          <a:ln/>
        </p:spPr>
      </p:sp>
      <p:pic>
        <p:nvPicPr>
          <p:cNvPr id="20" name="Image 0" descr="preencoded.png">    </p:cNvPr>
          <p:cNvPicPr>
            <a:picLocks noChangeAspect="1"/>
          </p:cNvPicPr>
          <p:nvPr/>
        </p:nvPicPr>
        <p:blipFill>
          <a:blip r:embed="rId1"/>
          <a:stretch>
            <a:fillRect/>
          </a:stretch>
        </p:blipFill>
        <p:spPr>
          <a:xfrm>
            <a:off x="1074420" y="1641348"/>
            <a:ext cx="320040" cy="320040"/>
          </a:xfrm>
          <a:prstGeom prst="rect">
            <a:avLst/>
          </a:prstGeom>
        </p:spPr>
      </p:pic>
      <p:sp>
        <p:nvSpPr>
          <p:cNvPr id="21" name="Text 17"/>
          <p:cNvSpPr txBox="1"/>
          <p:nvPr/>
        </p:nvSpPr>
        <p:spPr>
          <a:xfrm>
            <a:off x="530352" y="2194560"/>
            <a:ext cx="1408176" cy="274320"/>
          </a:xfrm>
          <a:prstGeom prst="rect">
            <a:avLst/>
          </a:prstGeom>
          <a:noFill/>
          <a:ln/>
        </p:spPr>
        <p:txBody>
          <a:bodyPr wrap="square" lIns="0" tIns="0" rIns="0" bIns="0" rtlCol="0" anchor="t"/>
          <a:lstStyle/>
          <a:p>
            <a:pPr algn="ctr" indent="0" marL="0">
              <a:buNone/>
            </a:pPr>
            <a:r>
              <a:rPr lang="en-US" sz="1300" b="1" dirty="0">
                <a:solidFill>
                  <a:srgbClr val="C4621D"/>
                </a:solidFill>
                <a:latin typeface="Calibri" pitchFamily="34" charset="0"/>
                <a:ea typeface="Calibri" pitchFamily="34" charset="-122"/>
                <a:cs typeface="Calibri" pitchFamily="34" charset="-120"/>
              </a:rPr>
              <a:t>Safe projects</a:t>
            </a:r>
            <a:endParaRPr lang="en-US" sz="1300" dirty="0"/>
          </a:p>
        </p:txBody>
      </p:sp>
      <p:sp>
        <p:nvSpPr>
          <p:cNvPr id="22" name="Text 18"/>
          <p:cNvSpPr txBox="1"/>
          <p:nvPr/>
        </p:nvSpPr>
        <p:spPr>
          <a:xfrm>
            <a:off x="566928" y="2487168"/>
            <a:ext cx="1335024" cy="65836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Is the use appropriate, lawful and in the public interest?</a:t>
            </a:r>
            <a:endParaRPr lang="en-US" sz="1000" dirty="0"/>
          </a:p>
        </p:txBody>
      </p:sp>
      <p:sp>
        <p:nvSpPr>
          <p:cNvPr id="23" name="Shape 19"/>
          <p:cNvSpPr/>
          <p:nvPr/>
        </p:nvSpPr>
        <p:spPr>
          <a:xfrm>
            <a:off x="566928" y="3200400"/>
            <a:ext cx="1335024" cy="0"/>
          </a:xfrm>
          <a:prstGeom prst="line">
            <a:avLst/>
          </a:prstGeom>
          <a:noFill/>
          <a:ln w="9525">
            <a:solidFill>
              <a:srgbClr val="D5DED9"/>
            </a:solidFill>
            <a:prstDash val="solid"/>
          </a:ln>
        </p:spPr>
      </p:sp>
      <p:sp>
        <p:nvSpPr>
          <p:cNvPr id="24" name="Text 20"/>
          <p:cNvSpPr txBox="1"/>
          <p:nvPr/>
        </p:nvSpPr>
        <p:spPr>
          <a:xfrm>
            <a:off x="566928" y="3255264"/>
            <a:ext cx="1097280" cy="164592"/>
          </a:xfrm>
          <a:prstGeom prst="rect">
            <a:avLst/>
          </a:prstGeom>
          <a:noFill/>
          <a:ln/>
        </p:spPr>
        <p:txBody>
          <a:bodyPr wrap="square" lIns="0" tIns="0" rIns="0" bIns="0" rtlCol="0" anchor="t"/>
          <a:lstStyle/>
          <a:p>
            <a:pPr indent="0" marL="0">
              <a:buNone/>
            </a:pPr>
            <a:r>
              <a:rPr lang="en-US" sz="850" b="1" spc="100" kern="0" dirty="0">
                <a:solidFill>
                  <a:srgbClr val="00704A"/>
                </a:solidFill>
                <a:latin typeface="Calibri" pitchFamily="34" charset="0"/>
                <a:ea typeface="Calibri" pitchFamily="34" charset="-122"/>
                <a:cs typeface="Calibri" pitchFamily="34" charset="-120"/>
              </a:rPr>
              <a:t>IN GHANA</a:t>
            </a:r>
            <a:endParaRPr lang="en-US" sz="850" dirty="0"/>
          </a:p>
        </p:txBody>
      </p:sp>
      <p:sp>
        <p:nvSpPr>
          <p:cNvPr id="25" name="Text 21"/>
          <p:cNvSpPr txBox="1"/>
          <p:nvPr/>
        </p:nvSpPr>
        <p:spPr>
          <a:xfrm>
            <a:off x="566928" y="3438144"/>
            <a:ext cx="1335024"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Statistical purpose; steering committee approval</a:t>
            </a:r>
            <a:endParaRPr lang="en-US" sz="950" dirty="0"/>
          </a:p>
        </p:txBody>
      </p:sp>
      <p:sp>
        <p:nvSpPr>
          <p:cNvPr id="26" name="Text 22"/>
          <p:cNvSpPr txBox="1"/>
          <p:nvPr/>
        </p:nvSpPr>
        <p:spPr>
          <a:xfrm>
            <a:off x="2011680" y="1828800"/>
            <a:ext cx="128016" cy="274320"/>
          </a:xfrm>
          <a:prstGeom prst="rect">
            <a:avLst/>
          </a:prstGeom>
          <a:noFill/>
          <a:ln/>
        </p:spPr>
        <p:txBody>
          <a:bodyPr wrap="square" lIns="0" tIns="0" rIns="0" bIns="0" rtlCol="0" anchor="ctr"/>
          <a:lstStyle/>
          <a:p>
            <a:pPr algn="ctr" indent="0" marL="0">
              <a:buNone/>
            </a:pPr>
            <a:r>
              <a:rPr lang="en-US" sz="1600" b="1" dirty="0">
                <a:solidFill>
                  <a:srgbClr val="C4621D"/>
                </a:solidFill>
                <a:latin typeface="Calibri" pitchFamily="34" charset="0"/>
                <a:ea typeface="Calibri" pitchFamily="34" charset="-122"/>
                <a:cs typeface="Calibri" pitchFamily="34" charset="-120"/>
              </a:rPr>
              <a:t>+</a:t>
            </a:r>
            <a:endParaRPr lang="en-US" sz="1600" dirty="0"/>
          </a:p>
        </p:txBody>
      </p:sp>
      <p:sp>
        <p:nvSpPr>
          <p:cNvPr id="27" name="Shape 23"/>
          <p:cNvSpPr/>
          <p:nvPr/>
        </p:nvSpPr>
        <p:spPr>
          <a:xfrm>
            <a:off x="2139696" y="1371600"/>
            <a:ext cx="1554480" cy="2514600"/>
          </a:xfrm>
          <a:prstGeom prst="roundRect">
            <a:avLst>
              <a:gd name="adj" fmla="val 4706"/>
            </a:avLst>
          </a:prstGeom>
          <a:solidFill>
            <a:srgbClr val="F4F7F5"/>
          </a:solidFill>
          <a:ln w="9525">
            <a:solidFill>
              <a:srgbClr val="D5DED9"/>
            </a:solidFill>
            <a:prstDash val="solid"/>
          </a:ln>
        </p:spPr>
      </p:sp>
      <p:sp>
        <p:nvSpPr>
          <p:cNvPr id="28" name="Shape 24"/>
          <p:cNvSpPr/>
          <p:nvPr/>
        </p:nvSpPr>
        <p:spPr>
          <a:xfrm>
            <a:off x="2596896" y="1481328"/>
            <a:ext cx="640080" cy="640080"/>
          </a:xfrm>
          <a:prstGeom prst="ellipse">
            <a:avLst/>
          </a:prstGeom>
          <a:solidFill>
            <a:srgbClr val="C4621D">
              <a:alpha val="22000"/>
            </a:srgbClr>
          </a:solidFill>
          <a:ln/>
        </p:spPr>
      </p:sp>
      <p:pic>
        <p:nvPicPr>
          <p:cNvPr id="29" name="Image 1" descr="preencoded.png">    </p:cNvPr>
          <p:cNvPicPr>
            <a:picLocks noChangeAspect="1"/>
          </p:cNvPicPr>
          <p:nvPr/>
        </p:nvPicPr>
        <p:blipFill>
          <a:blip r:embed="rId2"/>
          <a:stretch>
            <a:fillRect/>
          </a:stretch>
        </p:blipFill>
        <p:spPr>
          <a:xfrm>
            <a:off x="2756916" y="1641348"/>
            <a:ext cx="320040" cy="320040"/>
          </a:xfrm>
          <a:prstGeom prst="rect">
            <a:avLst/>
          </a:prstGeom>
        </p:spPr>
      </p:pic>
      <p:sp>
        <p:nvSpPr>
          <p:cNvPr id="30" name="Text 25"/>
          <p:cNvSpPr txBox="1"/>
          <p:nvPr/>
        </p:nvSpPr>
        <p:spPr>
          <a:xfrm>
            <a:off x="2212848" y="2194560"/>
            <a:ext cx="1408176" cy="274320"/>
          </a:xfrm>
          <a:prstGeom prst="rect">
            <a:avLst/>
          </a:prstGeom>
          <a:noFill/>
          <a:ln/>
        </p:spPr>
        <p:txBody>
          <a:bodyPr wrap="square" lIns="0" tIns="0" rIns="0" bIns="0" rtlCol="0" anchor="t"/>
          <a:lstStyle/>
          <a:p>
            <a:pPr algn="ctr" indent="0" marL="0">
              <a:buNone/>
            </a:pPr>
            <a:r>
              <a:rPr lang="en-US" sz="1300" b="1" dirty="0">
                <a:solidFill>
                  <a:srgbClr val="C4621D"/>
                </a:solidFill>
                <a:latin typeface="Calibri" pitchFamily="34" charset="0"/>
                <a:ea typeface="Calibri" pitchFamily="34" charset="-122"/>
                <a:cs typeface="Calibri" pitchFamily="34" charset="-120"/>
              </a:rPr>
              <a:t>Safe people</a:t>
            </a:r>
            <a:endParaRPr lang="en-US" sz="1300" dirty="0"/>
          </a:p>
        </p:txBody>
      </p:sp>
      <p:sp>
        <p:nvSpPr>
          <p:cNvPr id="31" name="Text 26"/>
          <p:cNvSpPr txBox="1"/>
          <p:nvPr/>
        </p:nvSpPr>
        <p:spPr>
          <a:xfrm>
            <a:off x="2249424" y="2487168"/>
            <a:ext cx="1335024" cy="65836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Are users trained, authorised and bound by confidentiality?</a:t>
            </a:r>
            <a:endParaRPr lang="en-US" sz="1000" dirty="0"/>
          </a:p>
        </p:txBody>
      </p:sp>
      <p:sp>
        <p:nvSpPr>
          <p:cNvPr id="32" name="Shape 27"/>
          <p:cNvSpPr/>
          <p:nvPr/>
        </p:nvSpPr>
        <p:spPr>
          <a:xfrm>
            <a:off x="2249424" y="3200400"/>
            <a:ext cx="1335024" cy="0"/>
          </a:xfrm>
          <a:prstGeom prst="line">
            <a:avLst/>
          </a:prstGeom>
          <a:noFill/>
          <a:ln w="9525">
            <a:solidFill>
              <a:srgbClr val="D5DED9"/>
            </a:solidFill>
            <a:prstDash val="solid"/>
          </a:ln>
        </p:spPr>
      </p:sp>
      <p:sp>
        <p:nvSpPr>
          <p:cNvPr id="33" name="Text 28"/>
          <p:cNvSpPr txBox="1"/>
          <p:nvPr/>
        </p:nvSpPr>
        <p:spPr>
          <a:xfrm>
            <a:off x="2249424" y="3255264"/>
            <a:ext cx="1097280" cy="164592"/>
          </a:xfrm>
          <a:prstGeom prst="rect">
            <a:avLst/>
          </a:prstGeom>
          <a:noFill/>
          <a:ln/>
        </p:spPr>
        <p:txBody>
          <a:bodyPr wrap="square" lIns="0" tIns="0" rIns="0" bIns="0" rtlCol="0" anchor="t"/>
          <a:lstStyle/>
          <a:p>
            <a:pPr indent="0" marL="0">
              <a:buNone/>
            </a:pPr>
            <a:r>
              <a:rPr lang="en-US" sz="850" b="1" spc="100" kern="0" dirty="0">
                <a:solidFill>
                  <a:srgbClr val="00704A"/>
                </a:solidFill>
                <a:latin typeface="Calibri" pitchFamily="34" charset="0"/>
                <a:ea typeface="Calibri" pitchFamily="34" charset="-122"/>
                <a:cs typeface="Calibri" pitchFamily="34" charset="-120"/>
              </a:rPr>
              <a:t>IN GHANA</a:t>
            </a:r>
            <a:endParaRPr lang="en-US" sz="850" dirty="0"/>
          </a:p>
        </p:txBody>
      </p:sp>
      <p:sp>
        <p:nvSpPr>
          <p:cNvPr id="34" name="Text 29"/>
          <p:cNvSpPr txBox="1"/>
          <p:nvPr/>
        </p:nvSpPr>
        <p:spPr>
          <a:xfrm>
            <a:off x="2249424" y="3438144"/>
            <a:ext cx="1335024"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Trained GSS analysts with approved access</a:t>
            </a:r>
            <a:endParaRPr lang="en-US" sz="950" dirty="0"/>
          </a:p>
        </p:txBody>
      </p:sp>
      <p:sp>
        <p:nvSpPr>
          <p:cNvPr id="35" name="Text 30"/>
          <p:cNvSpPr txBox="1"/>
          <p:nvPr/>
        </p:nvSpPr>
        <p:spPr>
          <a:xfrm>
            <a:off x="3694176" y="1828800"/>
            <a:ext cx="128016" cy="274320"/>
          </a:xfrm>
          <a:prstGeom prst="rect">
            <a:avLst/>
          </a:prstGeom>
          <a:noFill/>
          <a:ln/>
        </p:spPr>
        <p:txBody>
          <a:bodyPr wrap="square" lIns="0" tIns="0" rIns="0" bIns="0" rtlCol="0" anchor="ctr"/>
          <a:lstStyle/>
          <a:p>
            <a:pPr algn="ctr" indent="0" marL="0">
              <a:buNone/>
            </a:pPr>
            <a:r>
              <a:rPr lang="en-US" sz="1600" b="1" dirty="0">
                <a:solidFill>
                  <a:srgbClr val="C4621D"/>
                </a:solidFill>
                <a:latin typeface="Calibri" pitchFamily="34" charset="0"/>
                <a:ea typeface="Calibri" pitchFamily="34" charset="-122"/>
                <a:cs typeface="Calibri" pitchFamily="34" charset="-120"/>
              </a:rPr>
              <a:t>+</a:t>
            </a:r>
            <a:endParaRPr lang="en-US" sz="1600" dirty="0"/>
          </a:p>
        </p:txBody>
      </p:sp>
      <p:sp>
        <p:nvSpPr>
          <p:cNvPr id="36" name="Shape 31"/>
          <p:cNvSpPr/>
          <p:nvPr/>
        </p:nvSpPr>
        <p:spPr>
          <a:xfrm>
            <a:off x="3822192" y="1371600"/>
            <a:ext cx="1554480" cy="2514600"/>
          </a:xfrm>
          <a:prstGeom prst="roundRect">
            <a:avLst>
              <a:gd name="adj" fmla="val 4706"/>
            </a:avLst>
          </a:prstGeom>
          <a:solidFill>
            <a:srgbClr val="F4F7F5"/>
          </a:solidFill>
          <a:ln w="9525">
            <a:solidFill>
              <a:srgbClr val="D5DED9"/>
            </a:solidFill>
            <a:prstDash val="solid"/>
          </a:ln>
        </p:spPr>
      </p:sp>
      <p:sp>
        <p:nvSpPr>
          <p:cNvPr id="37" name="Shape 32"/>
          <p:cNvSpPr/>
          <p:nvPr/>
        </p:nvSpPr>
        <p:spPr>
          <a:xfrm>
            <a:off x="4279392" y="1481328"/>
            <a:ext cx="640080" cy="640080"/>
          </a:xfrm>
          <a:prstGeom prst="ellipse">
            <a:avLst/>
          </a:prstGeom>
          <a:solidFill>
            <a:srgbClr val="C4621D">
              <a:alpha val="22000"/>
            </a:srgbClr>
          </a:solidFill>
          <a:ln/>
        </p:spPr>
      </p:sp>
      <p:pic>
        <p:nvPicPr>
          <p:cNvPr id="38" name="Image 2" descr="preencoded.png">    </p:cNvPr>
          <p:cNvPicPr>
            <a:picLocks noChangeAspect="1"/>
          </p:cNvPicPr>
          <p:nvPr/>
        </p:nvPicPr>
        <p:blipFill>
          <a:blip r:embed="rId3"/>
          <a:stretch>
            <a:fillRect/>
          </a:stretch>
        </p:blipFill>
        <p:spPr>
          <a:xfrm>
            <a:off x="4439412" y="1641348"/>
            <a:ext cx="320040" cy="320040"/>
          </a:xfrm>
          <a:prstGeom prst="rect">
            <a:avLst/>
          </a:prstGeom>
        </p:spPr>
      </p:pic>
      <p:sp>
        <p:nvSpPr>
          <p:cNvPr id="39" name="Text 33"/>
          <p:cNvSpPr txBox="1"/>
          <p:nvPr/>
        </p:nvSpPr>
        <p:spPr>
          <a:xfrm>
            <a:off x="3895344" y="2194560"/>
            <a:ext cx="1408176" cy="274320"/>
          </a:xfrm>
          <a:prstGeom prst="rect">
            <a:avLst/>
          </a:prstGeom>
          <a:noFill/>
          <a:ln/>
        </p:spPr>
        <p:txBody>
          <a:bodyPr wrap="square" lIns="0" tIns="0" rIns="0" bIns="0" rtlCol="0" anchor="t"/>
          <a:lstStyle/>
          <a:p>
            <a:pPr algn="ctr" indent="0" marL="0">
              <a:buNone/>
            </a:pPr>
            <a:r>
              <a:rPr lang="en-US" sz="1300" b="1" dirty="0">
                <a:solidFill>
                  <a:srgbClr val="C4621D"/>
                </a:solidFill>
                <a:latin typeface="Calibri" pitchFamily="34" charset="0"/>
                <a:ea typeface="Calibri" pitchFamily="34" charset="-122"/>
                <a:cs typeface="Calibri" pitchFamily="34" charset="-120"/>
              </a:rPr>
              <a:t>Safe settings</a:t>
            </a:r>
            <a:endParaRPr lang="en-US" sz="1300" dirty="0"/>
          </a:p>
        </p:txBody>
      </p:sp>
      <p:sp>
        <p:nvSpPr>
          <p:cNvPr id="40" name="Text 34"/>
          <p:cNvSpPr txBox="1"/>
          <p:nvPr/>
        </p:nvSpPr>
        <p:spPr>
          <a:xfrm>
            <a:off x="3931920" y="2487168"/>
            <a:ext cx="1335024" cy="65836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Does the environment prevent unauthorised use or copying?</a:t>
            </a:r>
            <a:endParaRPr lang="en-US" sz="1000" dirty="0"/>
          </a:p>
        </p:txBody>
      </p:sp>
      <p:sp>
        <p:nvSpPr>
          <p:cNvPr id="41" name="Shape 35"/>
          <p:cNvSpPr/>
          <p:nvPr/>
        </p:nvSpPr>
        <p:spPr>
          <a:xfrm>
            <a:off x="3931920" y="3200400"/>
            <a:ext cx="1335024" cy="0"/>
          </a:xfrm>
          <a:prstGeom prst="line">
            <a:avLst/>
          </a:prstGeom>
          <a:noFill/>
          <a:ln w="9525">
            <a:solidFill>
              <a:srgbClr val="D5DED9"/>
            </a:solidFill>
            <a:prstDash val="solid"/>
          </a:ln>
        </p:spPr>
      </p:sp>
      <p:sp>
        <p:nvSpPr>
          <p:cNvPr id="42" name="Text 36"/>
          <p:cNvSpPr txBox="1"/>
          <p:nvPr/>
        </p:nvSpPr>
        <p:spPr>
          <a:xfrm>
            <a:off x="3931920" y="3255264"/>
            <a:ext cx="1097280" cy="164592"/>
          </a:xfrm>
          <a:prstGeom prst="rect">
            <a:avLst/>
          </a:prstGeom>
          <a:noFill/>
          <a:ln/>
        </p:spPr>
        <p:txBody>
          <a:bodyPr wrap="square" lIns="0" tIns="0" rIns="0" bIns="0" rtlCol="0" anchor="t"/>
          <a:lstStyle/>
          <a:p>
            <a:pPr indent="0" marL="0">
              <a:buNone/>
            </a:pPr>
            <a:r>
              <a:rPr lang="en-US" sz="850" b="1" spc="100" kern="0" dirty="0">
                <a:solidFill>
                  <a:srgbClr val="00704A"/>
                </a:solidFill>
                <a:latin typeface="Calibri" pitchFamily="34" charset="0"/>
                <a:ea typeface="Calibri" pitchFamily="34" charset="-122"/>
                <a:cs typeface="Calibri" pitchFamily="34" charset="-120"/>
              </a:rPr>
              <a:t>IN GHANA</a:t>
            </a:r>
            <a:endParaRPr lang="en-US" sz="850" dirty="0"/>
          </a:p>
        </p:txBody>
      </p:sp>
      <p:sp>
        <p:nvSpPr>
          <p:cNvPr id="43" name="Text 37"/>
          <p:cNvSpPr txBox="1"/>
          <p:nvPr/>
        </p:nvSpPr>
        <p:spPr>
          <a:xfrm>
            <a:off x="3931920" y="3438144"/>
            <a:ext cx="1335024"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Processing behind the operator's firewall</a:t>
            </a:r>
            <a:endParaRPr lang="en-US" sz="950" dirty="0"/>
          </a:p>
        </p:txBody>
      </p:sp>
      <p:sp>
        <p:nvSpPr>
          <p:cNvPr id="44" name="Text 38"/>
          <p:cNvSpPr txBox="1"/>
          <p:nvPr/>
        </p:nvSpPr>
        <p:spPr>
          <a:xfrm>
            <a:off x="5376672" y="1828800"/>
            <a:ext cx="128016" cy="274320"/>
          </a:xfrm>
          <a:prstGeom prst="rect">
            <a:avLst/>
          </a:prstGeom>
          <a:noFill/>
          <a:ln/>
        </p:spPr>
        <p:txBody>
          <a:bodyPr wrap="square" lIns="0" tIns="0" rIns="0" bIns="0" rtlCol="0" anchor="ctr"/>
          <a:lstStyle/>
          <a:p>
            <a:pPr algn="ctr" indent="0" marL="0">
              <a:buNone/>
            </a:pPr>
            <a:r>
              <a:rPr lang="en-US" sz="1600" b="1" dirty="0">
                <a:solidFill>
                  <a:srgbClr val="C4621D"/>
                </a:solidFill>
                <a:latin typeface="Calibri" pitchFamily="34" charset="0"/>
                <a:ea typeface="Calibri" pitchFamily="34" charset="-122"/>
                <a:cs typeface="Calibri" pitchFamily="34" charset="-120"/>
              </a:rPr>
              <a:t>+</a:t>
            </a:r>
            <a:endParaRPr lang="en-US" sz="1600" dirty="0"/>
          </a:p>
        </p:txBody>
      </p:sp>
      <p:sp>
        <p:nvSpPr>
          <p:cNvPr id="45" name="Shape 39"/>
          <p:cNvSpPr/>
          <p:nvPr/>
        </p:nvSpPr>
        <p:spPr>
          <a:xfrm>
            <a:off x="5504688" y="1371600"/>
            <a:ext cx="1554480" cy="2514600"/>
          </a:xfrm>
          <a:prstGeom prst="roundRect">
            <a:avLst>
              <a:gd name="adj" fmla="val 4706"/>
            </a:avLst>
          </a:prstGeom>
          <a:solidFill>
            <a:srgbClr val="F4F7F5"/>
          </a:solidFill>
          <a:ln w="9525">
            <a:solidFill>
              <a:srgbClr val="D5DED9"/>
            </a:solidFill>
            <a:prstDash val="solid"/>
          </a:ln>
        </p:spPr>
      </p:sp>
      <p:sp>
        <p:nvSpPr>
          <p:cNvPr id="46" name="Shape 40"/>
          <p:cNvSpPr/>
          <p:nvPr/>
        </p:nvSpPr>
        <p:spPr>
          <a:xfrm>
            <a:off x="5961888" y="1481328"/>
            <a:ext cx="640080" cy="640080"/>
          </a:xfrm>
          <a:prstGeom prst="ellipse">
            <a:avLst/>
          </a:prstGeom>
          <a:solidFill>
            <a:srgbClr val="C4621D">
              <a:alpha val="22000"/>
            </a:srgbClr>
          </a:solidFill>
          <a:ln/>
        </p:spPr>
      </p:sp>
      <p:pic>
        <p:nvPicPr>
          <p:cNvPr id="47" name="Image 3" descr="preencoded.png">    </p:cNvPr>
          <p:cNvPicPr>
            <a:picLocks noChangeAspect="1"/>
          </p:cNvPicPr>
          <p:nvPr/>
        </p:nvPicPr>
        <p:blipFill>
          <a:blip r:embed="rId4"/>
          <a:stretch>
            <a:fillRect/>
          </a:stretch>
        </p:blipFill>
        <p:spPr>
          <a:xfrm>
            <a:off x="6121908" y="1641348"/>
            <a:ext cx="320040" cy="320040"/>
          </a:xfrm>
          <a:prstGeom prst="rect">
            <a:avLst/>
          </a:prstGeom>
        </p:spPr>
      </p:pic>
      <p:sp>
        <p:nvSpPr>
          <p:cNvPr id="48" name="Text 41"/>
          <p:cNvSpPr txBox="1"/>
          <p:nvPr/>
        </p:nvSpPr>
        <p:spPr>
          <a:xfrm>
            <a:off x="5577840" y="2194560"/>
            <a:ext cx="1408176" cy="274320"/>
          </a:xfrm>
          <a:prstGeom prst="rect">
            <a:avLst/>
          </a:prstGeom>
          <a:noFill/>
          <a:ln/>
        </p:spPr>
        <p:txBody>
          <a:bodyPr wrap="square" lIns="0" tIns="0" rIns="0" bIns="0" rtlCol="0" anchor="t"/>
          <a:lstStyle/>
          <a:p>
            <a:pPr algn="ctr" indent="0" marL="0">
              <a:buNone/>
            </a:pPr>
            <a:r>
              <a:rPr lang="en-US" sz="1300" b="1" dirty="0">
                <a:solidFill>
                  <a:srgbClr val="C4621D"/>
                </a:solidFill>
                <a:latin typeface="Calibri" pitchFamily="34" charset="0"/>
                <a:ea typeface="Calibri" pitchFamily="34" charset="-122"/>
                <a:cs typeface="Calibri" pitchFamily="34" charset="-120"/>
              </a:rPr>
              <a:t>Safe data</a:t>
            </a:r>
            <a:endParaRPr lang="en-US" sz="1300" dirty="0"/>
          </a:p>
        </p:txBody>
      </p:sp>
      <p:sp>
        <p:nvSpPr>
          <p:cNvPr id="49" name="Text 42"/>
          <p:cNvSpPr txBox="1"/>
          <p:nvPr/>
        </p:nvSpPr>
        <p:spPr>
          <a:xfrm>
            <a:off x="5614416" y="2487168"/>
            <a:ext cx="1335024" cy="65836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Has the data been minimised, pseudonymised or aggregated?</a:t>
            </a:r>
            <a:endParaRPr lang="en-US" sz="1000" dirty="0"/>
          </a:p>
        </p:txBody>
      </p:sp>
      <p:sp>
        <p:nvSpPr>
          <p:cNvPr id="50" name="Shape 43"/>
          <p:cNvSpPr/>
          <p:nvPr/>
        </p:nvSpPr>
        <p:spPr>
          <a:xfrm>
            <a:off x="5614416" y="3200400"/>
            <a:ext cx="1335024" cy="0"/>
          </a:xfrm>
          <a:prstGeom prst="line">
            <a:avLst/>
          </a:prstGeom>
          <a:noFill/>
          <a:ln w="9525">
            <a:solidFill>
              <a:srgbClr val="D5DED9"/>
            </a:solidFill>
            <a:prstDash val="solid"/>
          </a:ln>
        </p:spPr>
      </p:sp>
      <p:sp>
        <p:nvSpPr>
          <p:cNvPr id="51" name="Text 44"/>
          <p:cNvSpPr txBox="1"/>
          <p:nvPr/>
        </p:nvSpPr>
        <p:spPr>
          <a:xfrm>
            <a:off x="5614416" y="3255264"/>
            <a:ext cx="1097280" cy="164592"/>
          </a:xfrm>
          <a:prstGeom prst="rect">
            <a:avLst/>
          </a:prstGeom>
          <a:noFill/>
          <a:ln/>
        </p:spPr>
        <p:txBody>
          <a:bodyPr wrap="square" lIns="0" tIns="0" rIns="0" bIns="0" rtlCol="0" anchor="t"/>
          <a:lstStyle/>
          <a:p>
            <a:pPr indent="0" marL="0">
              <a:buNone/>
            </a:pPr>
            <a:r>
              <a:rPr lang="en-US" sz="850" b="1" spc="100" kern="0" dirty="0">
                <a:solidFill>
                  <a:srgbClr val="00704A"/>
                </a:solidFill>
                <a:latin typeface="Calibri" pitchFamily="34" charset="0"/>
                <a:ea typeface="Calibri" pitchFamily="34" charset="-122"/>
                <a:cs typeface="Calibri" pitchFamily="34" charset="-120"/>
              </a:rPr>
              <a:t>IN GHANA</a:t>
            </a:r>
            <a:endParaRPr lang="en-US" sz="850" dirty="0"/>
          </a:p>
        </p:txBody>
      </p:sp>
      <p:sp>
        <p:nvSpPr>
          <p:cNvPr id="52" name="Text 45"/>
          <p:cNvSpPr txBox="1"/>
          <p:nvPr/>
        </p:nvSpPr>
        <p:spPr>
          <a:xfrm>
            <a:off x="5614416" y="3438144"/>
            <a:ext cx="1335024"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Pseudonymised records, never leaving the operator</a:t>
            </a:r>
            <a:endParaRPr lang="en-US" sz="950" dirty="0"/>
          </a:p>
        </p:txBody>
      </p:sp>
      <p:sp>
        <p:nvSpPr>
          <p:cNvPr id="53" name="Text 46"/>
          <p:cNvSpPr txBox="1"/>
          <p:nvPr/>
        </p:nvSpPr>
        <p:spPr>
          <a:xfrm>
            <a:off x="7059168" y="1828800"/>
            <a:ext cx="128016" cy="274320"/>
          </a:xfrm>
          <a:prstGeom prst="rect">
            <a:avLst/>
          </a:prstGeom>
          <a:noFill/>
          <a:ln/>
        </p:spPr>
        <p:txBody>
          <a:bodyPr wrap="square" lIns="0" tIns="0" rIns="0" bIns="0" rtlCol="0" anchor="ctr"/>
          <a:lstStyle/>
          <a:p>
            <a:pPr algn="ctr" indent="0" marL="0">
              <a:buNone/>
            </a:pPr>
            <a:r>
              <a:rPr lang="en-US" sz="1600" b="1" dirty="0">
                <a:solidFill>
                  <a:srgbClr val="C4621D"/>
                </a:solidFill>
                <a:latin typeface="Calibri" pitchFamily="34" charset="0"/>
                <a:ea typeface="Calibri" pitchFamily="34" charset="-122"/>
                <a:cs typeface="Calibri" pitchFamily="34" charset="-120"/>
              </a:rPr>
              <a:t>+</a:t>
            </a:r>
            <a:endParaRPr lang="en-US" sz="1600" dirty="0"/>
          </a:p>
        </p:txBody>
      </p:sp>
      <p:sp>
        <p:nvSpPr>
          <p:cNvPr id="54" name="Shape 47"/>
          <p:cNvSpPr/>
          <p:nvPr/>
        </p:nvSpPr>
        <p:spPr>
          <a:xfrm>
            <a:off x="7187184" y="1371600"/>
            <a:ext cx="1554480" cy="2514600"/>
          </a:xfrm>
          <a:prstGeom prst="roundRect">
            <a:avLst>
              <a:gd name="adj" fmla="val 4706"/>
            </a:avLst>
          </a:prstGeom>
          <a:solidFill>
            <a:srgbClr val="F4F7F5"/>
          </a:solidFill>
          <a:ln w="9525">
            <a:solidFill>
              <a:srgbClr val="D5DED9"/>
            </a:solidFill>
            <a:prstDash val="solid"/>
          </a:ln>
        </p:spPr>
      </p:sp>
      <p:sp>
        <p:nvSpPr>
          <p:cNvPr id="55" name="Shape 48"/>
          <p:cNvSpPr/>
          <p:nvPr/>
        </p:nvSpPr>
        <p:spPr>
          <a:xfrm>
            <a:off x="7644384" y="1481328"/>
            <a:ext cx="640080" cy="640080"/>
          </a:xfrm>
          <a:prstGeom prst="ellipse">
            <a:avLst/>
          </a:prstGeom>
          <a:solidFill>
            <a:srgbClr val="C4621D">
              <a:alpha val="22000"/>
            </a:srgbClr>
          </a:solidFill>
          <a:ln/>
        </p:spPr>
      </p:sp>
      <p:pic>
        <p:nvPicPr>
          <p:cNvPr id="56" name="Image 4" descr="preencoded.png">    </p:cNvPr>
          <p:cNvPicPr>
            <a:picLocks noChangeAspect="1"/>
          </p:cNvPicPr>
          <p:nvPr/>
        </p:nvPicPr>
        <p:blipFill>
          <a:blip r:embed="rId5"/>
          <a:stretch>
            <a:fillRect/>
          </a:stretch>
        </p:blipFill>
        <p:spPr>
          <a:xfrm>
            <a:off x="7804404" y="1641348"/>
            <a:ext cx="320040" cy="320040"/>
          </a:xfrm>
          <a:prstGeom prst="rect">
            <a:avLst/>
          </a:prstGeom>
        </p:spPr>
      </p:pic>
      <p:sp>
        <p:nvSpPr>
          <p:cNvPr id="57" name="Text 49"/>
          <p:cNvSpPr txBox="1"/>
          <p:nvPr/>
        </p:nvSpPr>
        <p:spPr>
          <a:xfrm>
            <a:off x="7260336" y="2194560"/>
            <a:ext cx="1408176" cy="274320"/>
          </a:xfrm>
          <a:prstGeom prst="rect">
            <a:avLst/>
          </a:prstGeom>
          <a:noFill/>
          <a:ln/>
        </p:spPr>
        <p:txBody>
          <a:bodyPr wrap="square" lIns="0" tIns="0" rIns="0" bIns="0" rtlCol="0" anchor="t"/>
          <a:lstStyle/>
          <a:p>
            <a:pPr algn="ctr" indent="0" marL="0">
              <a:buNone/>
            </a:pPr>
            <a:r>
              <a:rPr lang="en-US" sz="1300" b="1" dirty="0">
                <a:solidFill>
                  <a:srgbClr val="C4621D"/>
                </a:solidFill>
                <a:latin typeface="Calibri" pitchFamily="34" charset="0"/>
                <a:ea typeface="Calibri" pitchFamily="34" charset="-122"/>
                <a:cs typeface="Calibri" pitchFamily="34" charset="-120"/>
              </a:rPr>
              <a:t>Safe outputs</a:t>
            </a:r>
            <a:endParaRPr lang="en-US" sz="1300" dirty="0"/>
          </a:p>
        </p:txBody>
      </p:sp>
      <p:sp>
        <p:nvSpPr>
          <p:cNvPr id="58" name="Text 50"/>
          <p:cNvSpPr txBox="1"/>
          <p:nvPr/>
        </p:nvSpPr>
        <p:spPr>
          <a:xfrm>
            <a:off x="7296912" y="2487168"/>
            <a:ext cx="1335024" cy="65836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Are results checked for disclosure before release?</a:t>
            </a:r>
            <a:endParaRPr lang="en-US" sz="1000" dirty="0"/>
          </a:p>
        </p:txBody>
      </p:sp>
      <p:sp>
        <p:nvSpPr>
          <p:cNvPr id="59" name="Shape 51"/>
          <p:cNvSpPr/>
          <p:nvPr/>
        </p:nvSpPr>
        <p:spPr>
          <a:xfrm>
            <a:off x="7296912" y="3200400"/>
            <a:ext cx="1335024" cy="0"/>
          </a:xfrm>
          <a:prstGeom prst="line">
            <a:avLst/>
          </a:prstGeom>
          <a:noFill/>
          <a:ln w="9525">
            <a:solidFill>
              <a:srgbClr val="D5DED9"/>
            </a:solidFill>
            <a:prstDash val="solid"/>
          </a:ln>
        </p:spPr>
      </p:sp>
      <p:sp>
        <p:nvSpPr>
          <p:cNvPr id="60" name="Text 52"/>
          <p:cNvSpPr txBox="1"/>
          <p:nvPr/>
        </p:nvSpPr>
        <p:spPr>
          <a:xfrm>
            <a:off x="7296912" y="3255264"/>
            <a:ext cx="1097280" cy="164592"/>
          </a:xfrm>
          <a:prstGeom prst="rect">
            <a:avLst/>
          </a:prstGeom>
          <a:noFill/>
          <a:ln/>
        </p:spPr>
        <p:txBody>
          <a:bodyPr wrap="square" lIns="0" tIns="0" rIns="0" bIns="0" rtlCol="0" anchor="t"/>
          <a:lstStyle/>
          <a:p>
            <a:pPr indent="0" marL="0">
              <a:buNone/>
            </a:pPr>
            <a:r>
              <a:rPr lang="en-US" sz="850" b="1" spc="100" kern="0" dirty="0">
                <a:solidFill>
                  <a:srgbClr val="00704A"/>
                </a:solidFill>
                <a:latin typeface="Calibri" pitchFamily="34" charset="0"/>
                <a:ea typeface="Calibri" pitchFamily="34" charset="-122"/>
                <a:cs typeface="Calibri" pitchFamily="34" charset="-120"/>
              </a:rPr>
              <a:t>IN GHANA</a:t>
            </a:r>
            <a:endParaRPr lang="en-US" sz="850" dirty="0"/>
          </a:p>
        </p:txBody>
      </p:sp>
      <p:sp>
        <p:nvSpPr>
          <p:cNvPr id="61" name="Text 53"/>
          <p:cNvSpPr txBox="1"/>
          <p:nvPr/>
        </p:nvSpPr>
        <p:spPr>
          <a:xfrm>
            <a:off x="7296912" y="3438144"/>
            <a:ext cx="1335024"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Only aggregated indicators are exported</a:t>
            </a:r>
            <a:endParaRPr lang="en-US" sz="950" dirty="0"/>
          </a:p>
        </p:txBody>
      </p:sp>
      <p:sp>
        <p:nvSpPr>
          <p:cNvPr id="62" name="Shape 54"/>
          <p:cNvSpPr/>
          <p:nvPr/>
        </p:nvSpPr>
        <p:spPr>
          <a:xfrm>
            <a:off x="457200" y="4023360"/>
            <a:ext cx="8229600" cy="512064"/>
          </a:xfrm>
          <a:prstGeom prst="roundRect">
            <a:avLst>
              <a:gd name="adj" fmla="val 10714"/>
            </a:avLst>
          </a:prstGeom>
          <a:solidFill>
            <a:srgbClr val="C4621D">
              <a:alpha val="13000"/>
            </a:srgbClr>
          </a:solidFill>
          <a:ln w="12700">
            <a:solidFill>
              <a:srgbClr val="C4621D"/>
            </a:solidFill>
            <a:prstDash val="solid"/>
          </a:ln>
        </p:spPr>
      </p:sp>
      <p:pic>
        <p:nvPicPr>
          <p:cNvPr id="63" name="Image 5" descr="preencoded.png">    </p:cNvPr>
          <p:cNvPicPr>
            <a:picLocks noChangeAspect="1"/>
          </p:cNvPicPr>
          <p:nvPr/>
        </p:nvPicPr>
        <p:blipFill>
          <a:blip r:embed="rId6"/>
          <a:stretch>
            <a:fillRect/>
          </a:stretch>
        </p:blipFill>
        <p:spPr>
          <a:xfrm>
            <a:off x="585216" y="4142232"/>
            <a:ext cx="274320" cy="274320"/>
          </a:xfrm>
          <a:prstGeom prst="rect">
            <a:avLst/>
          </a:prstGeom>
        </p:spPr>
      </p:pic>
      <p:sp>
        <p:nvSpPr>
          <p:cNvPr id="64" name="Text 55"/>
          <p:cNvSpPr txBox="1"/>
          <p:nvPr/>
        </p:nvSpPr>
        <p:spPr>
          <a:xfrm>
            <a:off x="987552" y="4078224"/>
            <a:ext cx="7571232" cy="402336"/>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Controls compensate each other: a richer dataset may be acceptable only in a safer setting, with trained people and output checking.</a:t>
            </a:r>
            <a:endParaRPr lang="en-US" sz="1100" dirty="0"/>
          </a:p>
        </p:txBody>
      </p:sp>
      <p:sp>
        <p:nvSpPr>
          <p:cNvPr id="65" name="Text 56"/>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Desai, T., Ritchie, F. &amp; Welpton, R. (2016), "Five Safes: designing data access for research", UWE Economics Working Paper 1601.</a:t>
            </a:r>
            <a:endParaRPr lang="en-US" sz="85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ETHICS &amp; CONFIDENTIALITY</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Ethics questions to ask before, during and after</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Short enough to use in every project review; strong enough to stop a bad one.</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C4621D"/>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8" name="Shape 15"/>
          <p:cNvSpPr/>
          <p:nvPr/>
        </p:nvSpPr>
        <p:spPr>
          <a:xfrm>
            <a:off x="457200" y="1325880"/>
            <a:ext cx="2615184" cy="3200400"/>
          </a:xfrm>
          <a:prstGeom prst="roundRect">
            <a:avLst>
              <a:gd name="adj" fmla="val 2797"/>
            </a:avLst>
          </a:prstGeom>
          <a:solidFill>
            <a:srgbClr val="F4F7F5"/>
          </a:solidFill>
          <a:ln w="9525">
            <a:solidFill>
              <a:srgbClr val="D5DED9"/>
            </a:solidFill>
            <a:prstDash val="solid"/>
          </a:ln>
        </p:spPr>
      </p:sp>
      <p:sp>
        <p:nvSpPr>
          <p:cNvPr id="19" name="Shape 16"/>
          <p:cNvSpPr/>
          <p:nvPr/>
        </p:nvSpPr>
        <p:spPr>
          <a:xfrm>
            <a:off x="594360" y="1463040"/>
            <a:ext cx="868680" cy="274320"/>
          </a:xfrm>
          <a:prstGeom prst="roundRect">
            <a:avLst>
              <a:gd name="adj" fmla="val 50000"/>
            </a:avLst>
          </a:prstGeom>
          <a:solidFill>
            <a:srgbClr val="C4621D"/>
          </a:solidFill>
          <a:ln/>
        </p:spPr>
      </p:sp>
      <p:sp>
        <p:nvSpPr>
          <p:cNvPr id="20" name="Text 17"/>
          <p:cNvSpPr txBox="1"/>
          <p:nvPr/>
        </p:nvSpPr>
        <p:spPr>
          <a:xfrm>
            <a:off x="594360" y="1463040"/>
            <a:ext cx="868680" cy="27432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BEFORE</a:t>
            </a:r>
            <a:endParaRPr lang="en-US" sz="1000" dirty="0"/>
          </a:p>
        </p:txBody>
      </p:sp>
      <p:sp>
        <p:nvSpPr>
          <p:cNvPr id="21" name="Text 18"/>
          <p:cNvSpPr txBox="1"/>
          <p:nvPr/>
        </p:nvSpPr>
        <p:spPr>
          <a:xfrm>
            <a:off x="1554480" y="1463040"/>
            <a:ext cx="1463040" cy="274320"/>
          </a:xfrm>
          <a:prstGeom prst="rect">
            <a:avLst/>
          </a:prstGeom>
          <a:noFill/>
          <a:ln/>
        </p:spPr>
        <p:txBody>
          <a:bodyPr wrap="square" lIns="0" tIns="0" rIns="0" bIns="0" rtlCol="0" anchor="ctr"/>
          <a:lstStyle/>
          <a:p>
            <a:pPr indent="0" marL="0">
              <a:buNone/>
            </a:pPr>
            <a:r>
              <a:rPr lang="en-US" sz="1300" b="1" dirty="0">
                <a:solidFill>
                  <a:srgbClr val="C4621D"/>
                </a:solidFill>
                <a:latin typeface="Calibri" pitchFamily="34" charset="0"/>
                <a:ea typeface="Calibri" pitchFamily="34" charset="-122"/>
                <a:cs typeface="Calibri" pitchFamily="34" charset="-120"/>
              </a:rPr>
              <a:t>Design &amp; access</a:t>
            </a:r>
            <a:endParaRPr lang="en-US" sz="1300" dirty="0"/>
          </a:p>
        </p:txBody>
      </p:sp>
      <p:pic>
        <p:nvPicPr>
          <p:cNvPr id="22" name="Image 0" descr="preencoded.png">    </p:cNvPr>
          <p:cNvPicPr>
            <a:picLocks noChangeAspect="1"/>
          </p:cNvPicPr>
          <p:nvPr/>
        </p:nvPicPr>
        <p:blipFill>
          <a:blip r:embed="rId1"/>
          <a:stretch>
            <a:fillRect/>
          </a:stretch>
        </p:blipFill>
        <p:spPr>
          <a:xfrm>
            <a:off x="612648" y="1956816"/>
            <a:ext cx="182880" cy="182880"/>
          </a:xfrm>
          <a:prstGeom prst="rect">
            <a:avLst/>
          </a:prstGeom>
        </p:spPr>
      </p:pic>
      <p:sp>
        <p:nvSpPr>
          <p:cNvPr id="23" name="Text 19"/>
          <p:cNvSpPr txBox="1"/>
          <p:nvPr/>
        </p:nvSpPr>
        <p:spPr>
          <a:xfrm>
            <a:off x="886968" y="1920240"/>
            <a:ext cx="205740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Is there a clear public-interest purpose?</a:t>
            </a:r>
            <a:endParaRPr lang="en-US" sz="1100" dirty="0"/>
          </a:p>
        </p:txBody>
      </p:sp>
      <p:pic>
        <p:nvPicPr>
          <p:cNvPr id="24" name="Image 1" descr="preencoded.png">    </p:cNvPr>
          <p:cNvPicPr>
            <a:picLocks noChangeAspect="1"/>
          </p:cNvPicPr>
          <p:nvPr/>
        </p:nvPicPr>
        <p:blipFill>
          <a:blip r:embed="rId2"/>
          <a:stretch>
            <a:fillRect/>
          </a:stretch>
        </p:blipFill>
        <p:spPr>
          <a:xfrm>
            <a:off x="612648" y="2596896"/>
            <a:ext cx="182880" cy="182880"/>
          </a:xfrm>
          <a:prstGeom prst="rect">
            <a:avLst/>
          </a:prstGeom>
        </p:spPr>
      </p:pic>
      <p:sp>
        <p:nvSpPr>
          <p:cNvPr id="25" name="Text 20"/>
          <p:cNvSpPr txBox="1"/>
          <p:nvPr/>
        </p:nvSpPr>
        <p:spPr>
          <a:xfrm>
            <a:off x="886968" y="2560320"/>
            <a:ext cx="205740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What is the lawful basis, and who approved it?</a:t>
            </a:r>
            <a:endParaRPr lang="en-US" sz="1100" dirty="0"/>
          </a:p>
        </p:txBody>
      </p:sp>
      <p:pic>
        <p:nvPicPr>
          <p:cNvPr id="26" name="Image 2" descr="preencoded.png">    </p:cNvPr>
          <p:cNvPicPr>
            <a:picLocks noChangeAspect="1"/>
          </p:cNvPicPr>
          <p:nvPr/>
        </p:nvPicPr>
        <p:blipFill>
          <a:blip r:embed="rId3"/>
          <a:stretch>
            <a:fillRect/>
          </a:stretch>
        </p:blipFill>
        <p:spPr>
          <a:xfrm>
            <a:off x="612648" y="3236976"/>
            <a:ext cx="182880" cy="182880"/>
          </a:xfrm>
          <a:prstGeom prst="rect">
            <a:avLst/>
          </a:prstGeom>
        </p:spPr>
      </p:pic>
      <p:sp>
        <p:nvSpPr>
          <p:cNvPr id="27" name="Text 21"/>
          <p:cNvSpPr txBox="1"/>
          <p:nvPr/>
        </p:nvSpPr>
        <p:spPr>
          <a:xfrm>
            <a:off x="886968" y="3200400"/>
            <a:ext cx="205740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Would data subjects find this use reasonable?</a:t>
            </a:r>
            <a:endParaRPr lang="en-US" sz="1100" dirty="0"/>
          </a:p>
        </p:txBody>
      </p:sp>
      <p:pic>
        <p:nvPicPr>
          <p:cNvPr id="28" name="Image 3" descr="preencoded.png">    </p:cNvPr>
          <p:cNvPicPr>
            <a:picLocks noChangeAspect="1"/>
          </p:cNvPicPr>
          <p:nvPr/>
        </p:nvPicPr>
        <p:blipFill>
          <a:blip r:embed="rId4"/>
          <a:stretch>
            <a:fillRect/>
          </a:stretch>
        </p:blipFill>
        <p:spPr>
          <a:xfrm>
            <a:off x="612648" y="3877056"/>
            <a:ext cx="182880" cy="182880"/>
          </a:xfrm>
          <a:prstGeom prst="rect">
            <a:avLst/>
          </a:prstGeom>
        </p:spPr>
      </p:pic>
      <p:sp>
        <p:nvSpPr>
          <p:cNvPr id="29" name="Text 22"/>
          <p:cNvSpPr txBox="1"/>
          <p:nvPr/>
        </p:nvSpPr>
        <p:spPr>
          <a:xfrm>
            <a:off x="886968" y="3840480"/>
            <a:ext cx="205740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Is a less intrusive source available?</a:t>
            </a:r>
            <a:endParaRPr lang="en-US" sz="1100" dirty="0"/>
          </a:p>
        </p:txBody>
      </p:sp>
      <p:sp>
        <p:nvSpPr>
          <p:cNvPr id="30" name="Shape 23"/>
          <p:cNvSpPr/>
          <p:nvPr/>
        </p:nvSpPr>
        <p:spPr>
          <a:xfrm>
            <a:off x="3264408" y="1325880"/>
            <a:ext cx="2615184" cy="3200400"/>
          </a:xfrm>
          <a:prstGeom prst="roundRect">
            <a:avLst>
              <a:gd name="adj" fmla="val 2797"/>
            </a:avLst>
          </a:prstGeom>
          <a:solidFill>
            <a:srgbClr val="F4F7F5"/>
          </a:solidFill>
          <a:ln w="9525">
            <a:solidFill>
              <a:srgbClr val="D5DED9"/>
            </a:solidFill>
            <a:prstDash val="solid"/>
          </a:ln>
        </p:spPr>
      </p:sp>
      <p:sp>
        <p:nvSpPr>
          <p:cNvPr id="31" name="Shape 24"/>
          <p:cNvSpPr/>
          <p:nvPr/>
        </p:nvSpPr>
        <p:spPr>
          <a:xfrm>
            <a:off x="3401568" y="1463040"/>
            <a:ext cx="868680" cy="274320"/>
          </a:xfrm>
          <a:prstGeom prst="roundRect">
            <a:avLst>
              <a:gd name="adj" fmla="val 50000"/>
            </a:avLst>
          </a:prstGeom>
          <a:solidFill>
            <a:srgbClr val="C4621D"/>
          </a:solidFill>
          <a:ln/>
        </p:spPr>
      </p:sp>
      <p:sp>
        <p:nvSpPr>
          <p:cNvPr id="32" name="Text 25"/>
          <p:cNvSpPr txBox="1"/>
          <p:nvPr/>
        </p:nvSpPr>
        <p:spPr>
          <a:xfrm>
            <a:off x="3401568" y="1463040"/>
            <a:ext cx="868680" cy="27432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DURING</a:t>
            </a:r>
            <a:endParaRPr lang="en-US" sz="1000" dirty="0"/>
          </a:p>
        </p:txBody>
      </p:sp>
      <p:sp>
        <p:nvSpPr>
          <p:cNvPr id="33" name="Text 26"/>
          <p:cNvSpPr txBox="1"/>
          <p:nvPr/>
        </p:nvSpPr>
        <p:spPr>
          <a:xfrm>
            <a:off x="4361688" y="1463040"/>
            <a:ext cx="1463040" cy="274320"/>
          </a:xfrm>
          <a:prstGeom prst="rect">
            <a:avLst/>
          </a:prstGeom>
          <a:noFill/>
          <a:ln/>
        </p:spPr>
        <p:txBody>
          <a:bodyPr wrap="square" lIns="0" tIns="0" rIns="0" bIns="0" rtlCol="0" anchor="ctr"/>
          <a:lstStyle/>
          <a:p>
            <a:pPr indent="0" marL="0">
              <a:buNone/>
            </a:pPr>
            <a:r>
              <a:rPr lang="en-US" sz="1300" b="1" dirty="0">
                <a:solidFill>
                  <a:srgbClr val="C4621D"/>
                </a:solidFill>
                <a:latin typeface="Calibri" pitchFamily="34" charset="0"/>
                <a:ea typeface="Calibri" pitchFamily="34" charset="-122"/>
                <a:cs typeface="Calibri" pitchFamily="34" charset="-120"/>
              </a:rPr>
              <a:t>Processing</a:t>
            </a:r>
            <a:endParaRPr lang="en-US" sz="1300" dirty="0"/>
          </a:p>
        </p:txBody>
      </p:sp>
      <p:pic>
        <p:nvPicPr>
          <p:cNvPr id="34" name="Image 4" descr="preencoded.png">    </p:cNvPr>
          <p:cNvPicPr>
            <a:picLocks noChangeAspect="1"/>
          </p:cNvPicPr>
          <p:nvPr/>
        </p:nvPicPr>
        <p:blipFill>
          <a:blip r:embed="rId5"/>
          <a:stretch>
            <a:fillRect/>
          </a:stretch>
        </p:blipFill>
        <p:spPr>
          <a:xfrm>
            <a:off x="3419856" y="1956816"/>
            <a:ext cx="182880" cy="182880"/>
          </a:xfrm>
          <a:prstGeom prst="rect">
            <a:avLst/>
          </a:prstGeom>
        </p:spPr>
      </p:pic>
      <p:sp>
        <p:nvSpPr>
          <p:cNvPr id="35" name="Text 27"/>
          <p:cNvSpPr txBox="1"/>
          <p:nvPr/>
        </p:nvSpPr>
        <p:spPr>
          <a:xfrm>
            <a:off x="3694176" y="1920240"/>
            <a:ext cx="205740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Is data minimised and aggregated as early as possible?</a:t>
            </a:r>
            <a:endParaRPr lang="en-US" sz="1100" dirty="0"/>
          </a:p>
        </p:txBody>
      </p:sp>
      <p:pic>
        <p:nvPicPr>
          <p:cNvPr id="36" name="Image 5" descr="preencoded.png">    </p:cNvPr>
          <p:cNvPicPr>
            <a:picLocks noChangeAspect="1"/>
          </p:cNvPicPr>
          <p:nvPr/>
        </p:nvPicPr>
        <p:blipFill>
          <a:blip r:embed="rId6"/>
          <a:stretch>
            <a:fillRect/>
          </a:stretch>
        </p:blipFill>
        <p:spPr>
          <a:xfrm>
            <a:off x="3419856" y="2596896"/>
            <a:ext cx="182880" cy="182880"/>
          </a:xfrm>
          <a:prstGeom prst="rect">
            <a:avLst/>
          </a:prstGeom>
        </p:spPr>
      </p:pic>
      <p:sp>
        <p:nvSpPr>
          <p:cNvPr id="37" name="Text 28"/>
          <p:cNvSpPr txBox="1"/>
          <p:nvPr/>
        </p:nvSpPr>
        <p:spPr>
          <a:xfrm>
            <a:off x="3694176" y="2560320"/>
            <a:ext cx="205740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Who can see what, where, and is it logged?</a:t>
            </a:r>
            <a:endParaRPr lang="en-US" sz="1100" dirty="0"/>
          </a:p>
        </p:txBody>
      </p:sp>
      <p:pic>
        <p:nvPicPr>
          <p:cNvPr id="38" name="Image 6" descr="preencoded.png">    </p:cNvPr>
          <p:cNvPicPr>
            <a:picLocks noChangeAspect="1"/>
          </p:cNvPicPr>
          <p:nvPr/>
        </p:nvPicPr>
        <p:blipFill>
          <a:blip r:embed="rId7"/>
          <a:stretch>
            <a:fillRect/>
          </a:stretch>
        </p:blipFill>
        <p:spPr>
          <a:xfrm>
            <a:off x="3419856" y="3236976"/>
            <a:ext cx="182880" cy="182880"/>
          </a:xfrm>
          <a:prstGeom prst="rect">
            <a:avLst/>
          </a:prstGeom>
        </p:spPr>
      </p:pic>
      <p:sp>
        <p:nvSpPr>
          <p:cNvPr id="39" name="Text 29"/>
          <p:cNvSpPr txBox="1"/>
          <p:nvPr/>
        </p:nvSpPr>
        <p:spPr>
          <a:xfrm>
            <a:off x="3694176" y="3200400"/>
            <a:ext cx="205740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Are models documented and reproducible?</a:t>
            </a:r>
            <a:endParaRPr lang="en-US" sz="1100" dirty="0"/>
          </a:p>
        </p:txBody>
      </p:sp>
      <p:pic>
        <p:nvPicPr>
          <p:cNvPr id="40" name="Image 7" descr="preencoded.png">    </p:cNvPr>
          <p:cNvPicPr>
            <a:picLocks noChangeAspect="1"/>
          </p:cNvPicPr>
          <p:nvPr/>
        </p:nvPicPr>
        <p:blipFill>
          <a:blip r:embed="rId8"/>
          <a:stretch>
            <a:fillRect/>
          </a:stretch>
        </p:blipFill>
        <p:spPr>
          <a:xfrm>
            <a:off x="3419856" y="3877056"/>
            <a:ext cx="182880" cy="182880"/>
          </a:xfrm>
          <a:prstGeom prst="rect">
            <a:avLst/>
          </a:prstGeom>
        </p:spPr>
      </p:pic>
      <p:sp>
        <p:nvSpPr>
          <p:cNvPr id="41" name="Text 30"/>
          <p:cNvSpPr txBox="1"/>
          <p:nvPr/>
        </p:nvSpPr>
        <p:spPr>
          <a:xfrm>
            <a:off x="3694176" y="3840480"/>
            <a:ext cx="205740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Are small cells suppressed?</a:t>
            </a:r>
            <a:endParaRPr lang="en-US" sz="1100" dirty="0"/>
          </a:p>
        </p:txBody>
      </p:sp>
      <p:sp>
        <p:nvSpPr>
          <p:cNvPr id="42" name="Shape 31"/>
          <p:cNvSpPr/>
          <p:nvPr/>
        </p:nvSpPr>
        <p:spPr>
          <a:xfrm>
            <a:off x="6071616" y="1325880"/>
            <a:ext cx="2615184" cy="3200400"/>
          </a:xfrm>
          <a:prstGeom prst="roundRect">
            <a:avLst>
              <a:gd name="adj" fmla="val 2797"/>
            </a:avLst>
          </a:prstGeom>
          <a:solidFill>
            <a:srgbClr val="E8F5EF"/>
          </a:solidFill>
          <a:ln w="15875">
            <a:solidFill>
              <a:srgbClr val="C4621D"/>
            </a:solidFill>
            <a:prstDash val="solid"/>
          </a:ln>
        </p:spPr>
      </p:sp>
      <p:sp>
        <p:nvSpPr>
          <p:cNvPr id="43" name="Shape 32"/>
          <p:cNvSpPr/>
          <p:nvPr/>
        </p:nvSpPr>
        <p:spPr>
          <a:xfrm>
            <a:off x="6208776" y="1463040"/>
            <a:ext cx="868680" cy="274320"/>
          </a:xfrm>
          <a:prstGeom prst="roundRect">
            <a:avLst>
              <a:gd name="adj" fmla="val 50000"/>
            </a:avLst>
          </a:prstGeom>
          <a:solidFill>
            <a:srgbClr val="C4621D"/>
          </a:solidFill>
          <a:ln/>
        </p:spPr>
      </p:sp>
      <p:sp>
        <p:nvSpPr>
          <p:cNvPr id="44" name="Text 33"/>
          <p:cNvSpPr txBox="1"/>
          <p:nvPr/>
        </p:nvSpPr>
        <p:spPr>
          <a:xfrm>
            <a:off x="6208776" y="1463040"/>
            <a:ext cx="868680" cy="27432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AFTER</a:t>
            </a:r>
            <a:endParaRPr lang="en-US" sz="1000" dirty="0"/>
          </a:p>
        </p:txBody>
      </p:sp>
      <p:sp>
        <p:nvSpPr>
          <p:cNvPr id="45" name="Text 34"/>
          <p:cNvSpPr txBox="1"/>
          <p:nvPr/>
        </p:nvSpPr>
        <p:spPr>
          <a:xfrm>
            <a:off x="7168896" y="1463040"/>
            <a:ext cx="1463040" cy="274320"/>
          </a:xfrm>
          <a:prstGeom prst="rect">
            <a:avLst/>
          </a:prstGeom>
          <a:noFill/>
          <a:ln/>
        </p:spPr>
        <p:txBody>
          <a:bodyPr wrap="square" lIns="0" tIns="0" rIns="0" bIns="0" rtlCol="0" anchor="ctr"/>
          <a:lstStyle/>
          <a:p>
            <a:pPr indent="0" marL="0">
              <a:buNone/>
            </a:pPr>
            <a:r>
              <a:rPr lang="en-US" sz="1300" b="1" dirty="0">
                <a:solidFill>
                  <a:srgbClr val="C4621D"/>
                </a:solidFill>
                <a:latin typeface="Calibri" pitchFamily="34" charset="0"/>
                <a:ea typeface="Calibri" pitchFamily="34" charset="-122"/>
                <a:cs typeface="Calibri" pitchFamily="34" charset="-120"/>
              </a:rPr>
              <a:t>Publication &amp; use</a:t>
            </a:r>
            <a:endParaRPr lang="en-US" sz="1300" dirty="0"/>
          </a:p>
        </p:txBody>
      </p:sp>
      <p:pic>
        <p:nvPicPr>
          <p:cNvPr id="46" name="Image 8" descr="preencoded.png">    </p:cNvPr>
          <p:cNvPicPr>
            <a:picLocks noChangeAspect="1"/>
          </p:cNvPicPr>
          <p:nvPr/>
        </p:nvPicPr>
        <p:blipFill>
          <a:blip r:embed="rId9"/>
          <a:stretch>
            <a:fillRect/>
          </a:stretch>
        </p:blipFill>
        <p:spPr>
          <a:xfrm>
            <a:off x="6227064" y="1956816"/>
            <a:ext cx="182880" cy="182880"/>
          </a:xfrm>
          <a:prstGeom prst="rect">
            <a:avLst/>
          </a:prstGeom>
        </p:spPr>
      </p:pic>
      <p:sp>
        <p:nvSpPr>
          <p:cNvPr id="47" name="Text 35"/>
          <p:cNvSpPr txBox="1"/>
          <p:nvPr/>
        </p:nvSpPr>
        <p:spPr>
          <a:xfrm>
            <a:off x="6501384" y="1920240"/>
            <a:ext cx="205740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Are limitations published as prominently as results?</a:t>
            </a:r>
            <a:endParaRPr lang="en-US" sz="1100" dirty="0"/>
          </a:p>
        </p:txBody>
      </p:sp>
      <p:pic>
        <p:nvPicPr>
          <p:cNvPr id="48" name="Image 9" descr="preencoded.png">    </p:cNvPr>
          <p:cNvPicPr>
            <a:picLocks noChangeAspect="1"/>
          </p:cNvPicPr>
          <p:nvPr/>
        </p:nvPicPr>
        <p:blipFill>
          <a:blip r:embed="rId10"/>
          <a:stretch>
            <a:fillRect/>
          </a:stretch>
        </p:blipFill>
        <p:spPr>
          <a:xfrm>
            <a:off x="6227064" y="2596896"/>
            <a:ext cx="182880" cy="182880"/>
          </a:xfrm>
          <a:prstGeom prst="rect">
            <a:avLst/>
          </a:prstGeom>
        </p:spPr>
      </p:pic>
      <p:sp>
        <p:nvSpPr>
          <p:cNvPr id="49" name="Text 36"/>
          <p:cNvSpPr txBox="1"/>
          <p:nvPr/>
        </p:nvSpPr>
        <p:spPr>
          <a:xfrm>
            <a:off x="6501384" y="2560320"/>
            <a:ext cx="205740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Could an output harm a group or community?</a:t>
            </a:r>
            <a:endParaRPr lang="en-US" sz="1100" dirty="0"/>
          </a:p>
        </p:txBody>
      </p:sp>
      <p:pic>
        <p:nvPicPr>
          <p:cNvPr id="50" name="Image 10" descr="preencoded.png">    </p:cNvPr>
          <p:cNvPicPr>
            <a:picLocks noChangeAspect="1"/>
          </p:cNvPicPr>
          <p:nvPr/>
        </p:nvPicPr>
        <p:blipFill>
          <a:blip r:embed="rId11"/>
          <a:stretch>
            <a:fillRect/>
          </a:stretch>
        </p:blipFill>
        <p:spPr>
          <a:xfrm>
            <a:off x="6227064" y="3236976"/>
            <a:ext cx="182880" cy="182880"/>
          </a:xfrm>
          <a:prstGeom prst="rect">
            <a:avLst/>
          </a:prstGeom>
        </p:spPr>
      </p:pic>
      <p:sp>
        <p:nvSpPr>
          <p:cNvPr id="51" name="Text 37"/>
          <p:cNvSpPr txBox="1"/>
          <p:nvPr/>
        </p:nvSpPr>
        <p:spPr>
          <a:xfrm>
            <a:off x="6501384" y="3200400"/>
            <a:ext cx="205740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Who becomes invisible in this data?</a:t>
            </a:r>
            <a:endParaRPr lang="en-US" sz="1100" dirty="0"/>
          </a:p>
        </p:txBody>
      </p:sp>
      <p:pic>
        <p:nvPicPr>
          <p:cNvPr id="52" name="Image 11" descr="preencoded.png">    </p:cNvPr>
          <p:cNvPicPr>
            <a:picLocks noChangeAspect="1"/>
          </p:cNvPicPr>
          <p:nvPr/>
        </p:nvPicPr>
        <p:blipFill>
          <a:blip r:embed="rId12"/>
          <a:stretch>
            <a:fillRect/>
          </a:stretch>
        </p:blipFill>
        <p:spPr>
          <a:xfrm>
            <a:off x="6227064" y="3877056"/>
            <a:ext cx="182880" cy="182880"/>
          </a:xfrm>
          <a:prstGeom prst="rect">
            <a:avLst/>
          </a:prstGeom>
        </p:spPr>
      </p:pic>
      <p:sp>
        <p:nvSpPr>
          <p:cNvPr id="53" name="Text 38"/>
          <p:cNvSpPr txBox="1"/>
          <p:nvPr/>
        </p:nvSpPr>
        <p:spPr>
          <a:xfrm>
            <a:off x="6501384" y="3840480"/>
            <a:ext cx="205740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When will raw inputs be deleted?</a:t>
            </a:r>
            <a:endParaRPr lang="en-US" sz="11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6 OF 6</a:t>
            </a:r>
            <a:endParaRPr lang="en-US" sz="1100" dirty="0"/>
          </a:p>
        </p:txBody>
      </p:sp>
      <p:sp>
        <p:nvSpPr>
          <p:cNvPr id="4" name="Text 1"/>
          <p:cNvSpPr txBox="1"/>
          <p:nvPr/>
        </p:nvSpPr>
        <p:spPr>
          <a:xfrm>
            <a:off x="502920" y="91440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5" name="Text 2"/>
          <p:cNvSpPr txBox="1"/>
          <p:nvPr/>
        </p:nvSpPr>
        <p:spPr>
          <a:xfrm>
            <a:off x="548640" y="233172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Laboratory &amp; way forward</a:t>
            </a:r>
            <a:endParaRPr lang="en-US" sz="3600" dirty="0"/>
          </a:p>
        </p:txBody>
      </p:sp>
      <p:sp>
        <p:nvSpPr>
          <p:cNvPr id="6" name="Text 3"/>
          <p:cNvSpPr txBox="1"/>
          <p:nvPr/>
        </p:nvSpPr>
        <p:spPr>
          <a:xfrm>
            <a:off x="548640" y="3108960"/>
            <a:ext cx="475488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Can your team decide, in 30 minutes, whether a source is fit for official use?</a:t>
            </a:r>
            <a:endParaRPr lang="en-US" sz="1800" dirty="0"/>
          </a:p>
        </p:txBody>
      </p:sp>
      <p:sp>
        <p:nvSpPr>
          <p:cNvPr id="7" name="Shape 4"/>
          <p:cNvSpPr/>
          <p:nvPr/>
        </p:nvSpPr>
        <p:spPr>
          <a:xfrm>
            <a:off x="566928" y="4343400"/>
            <a:ext cx="100584" cy="100584"/>
          </a:xfrm>
          <a:prstGeom prst="ellipse">
            <a:avLst/>
          </a:prstGeom>
          <a:solidFill>
            <a:srgbClr val="FFFFFF">
              <a:alpha val="35000"/>
            </a:srgbClr>
          </a:solidFill>
          <a:ln/>
        </p:spPr>
      </p:sp>
      <p:sp>
        <p:nvSpPr>
          <p:cNvPr id="8" name="Shape 5"/>
          <p:cNvSpPr/>
          <p:nvPr/>
        </p:nvSpPr>
        <p:spPr>
          <a:xfrm>
            <a:off x="749808" y="4343400"/>
            <a:ext cx="100584" cy="100584"/>
          </a:xfrm>
          <a:prstGeom prst="ellipse">
            <a:avLst/>
          </a:prstGeom>
          <a:solidFill>
            <a:srgbClr val="FFFFFF">
              <a:alpha val="35000"/>
            </a:srgbClr>
          </a:solidFill>
          <a:ln/>
        </p:spPr>
      </p:sp>
      <p:sp>
        <p:nvSpPr>
          <p:cNvPr id="9" name="Shape 6"/>
          <p:cNvSpPr/>
          <p:nvPr/>
        </p:nvSpPr>
        <p:spPr>
          <a:xfrm>
            <a:off x="932688" y="4343400"/>
            <a:ext cx="100584" cy="100584"/>
          </a:xfrm>
          <a:prstGeom prst="ellipse">
            <a:avLst/>
          </a:prstGeom>
          <a:solidFill>
            <a:srgbClr val="FFFFFF">
              <a:alpha val="35000"/>
            </a:srgbClr>
          </a:solidFill>
          <a:ln/>
        </p:spPr>
      </p:sp>
      <p:sp>
        <p:nvSpPr>
          <p:cNvPr id="10" name="Shape 7"/>
          <p:cNvSpPr/>
          <p:nvPr/>
        </p:nvSpPr>
        <p:spPr>
          <a:xfrm>
            <a:off x="1115568" y="4343400"/>
            <a:ext cx="100584" cy="100584"/>
          </a:xfrm>
          <a:prstGeom prst="ellipse">
            <a:avLst/>
          </a:prstGeom>
          <a:solidFill>
            <a:srgbClr val="FFFFFF">
              <a:alpha val="35000"/>
            </a:srgbClr>
          </a:solidFill>
          <a:ln/>
        </p:spPr>
      </p:sp>
      <p:sp>
        <p:nvSpPr>
          <p:cNvPr id="11" name="Shape 8"/>
          <p:cNvSpPr/>
          <p:nvPr/>
        </p:nvSpPr>
        <p:spPr>
          <a:xfrm>
            <a:off x="1298448" y="4343400"/>
            <a:ext cx="100584" cy="100584"/>
          </a:xfrm>
          <a:prstGeom prst="ellipse">
            <a:avLst/>
          </a:prstGeom>
          <a:solidFill>
            <a:srgbClr val="FFFFFF">
              <a:alpha val="35000"/>
            </a:srgbClr>
          </a:solidFill>
          <a:ln/>
        </p:spPr>
      </p:sp>
      <p:sp>
        <p:nvSpPr>
          <p:cNvPr id="12" name="Shape 9"/>
          <p:cNvSpPr/>
          <p:nvPr/>
        </p:nvSpPr>
        <p:spPr>
          <a:xfrm>
            <a:off x="1481328" y="4343400"/>
            <a:ext cx="100584" cy="100584"/>
          </a:xfrm>
          <a:prstGeom prst="ellipse">
            <a:avLst/>
          </a:prstGeom>
          <a:solidFill>
            <a:srgbClr val="F5C242"/>
          </a:solidFill>
          <a:ln/>
        </p:spPr>
      </p:sp>
      <p:sp>
        <p:nvSpPr>
          <p:cNvPr id="13" name="Shape 10"/>
          <p:cNvSpPr/>
          <p:nvPr/>
        </p:nvSpPr>
        <p:spPr>
          <a:xfrm>
            <a:off x="5989320" y="1143000"/>
            <a:ext cx="2651760" cy="2651760"/>
          </a:xfrm>
          <a:prstGeom prst="ellipse">
            <a:avLst/>
          </a:prstGeom>
          <a:solidFill>
            <a:srgbClr val="FFFFFF">
              <a:alpha val="12000"/>
            </a:srgbClr>
          </a:solidFill>
          <a:ln/>
        </p:spPr>
      </p:sp>
      <p:sp>
        <p:nvSpPr>
          <p:cNvPr id="14" name="Shape 11"/>
          <p:cNvSpPr/>
          <p:nvPr/>
        </p:nvSpPr>
        <p:spPr>
          <a:xfrm>
            <a:off x="6355080" y="1508760"/>
            <a:ext cx="1920240" cy="1920240"/>
          </a:xfrm>
          <a:prstGeom prst="ellipse">
            <a:avLst/>
          </a:prstGeom>
          <a:solidFill>
            <a:srgbClr val="FFFFFF">
              <a:alpha val="20000"/>
            </a:srgbClr>
          </a:solidFill>
          <a:ln/>
        </p:spPr>
      </p:sp>
      <p:sp>
        <p:nvSpPr>
          <p:cNvPr id="15" name="Shape 12"/>
          <p:cNvSpPr/>
          <p:nvPr/>
        </p:nvSpPr>
        <p:spPr>
          <a:xfrm>
            <a:off x="6675120" y="1828800"/>
            <a:ext cx="1280160" cy="1280160"/>
          </a:xfrm>
          <a:prstGeom prst="ellipse">
            <a:avLst/>
          </a:prstGeom>
          <a:solidFill>
            <a:srgbClr val="FFFFFF"/>
          </a:solidFill>
          <a:ln/>
        </p:spPr>
      </p:sp>
      <p:pic>
        <p:nvPicPr>
          <p:cNvPr id="16" name="Image 0" descr="preencoded.png">    </p:cNvPr>
          <p:cNvPicPr>
            <a:picLocks noChangeAspect="1"/>
          </p:cNvPicPr>
          <p:nvPr/>
        </p:nvPicPr>
        <p:blipFill>
          <a:blip r:embed="rId2"/>
          <a:stretch>
            <a:fillRect/>
          </a:stretch>
        </p:blipFill>
        <p:spPr>
          <a:xfrm>
            <a:off x="6995160" y="2148840"/>
            <a:ext cx="640080" cy="640080"/>
          </a:xfrm>
          <a:prstGeom prst="rect">
            <a:avLst/>
          </a:prstGeom>
        </p:spPr>
      </p:pic>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LABORATORY · BRIEF</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Team challenge: is this source fit for purpose?</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30 minutes in teams · 10 minutes report-back · one canvas per team.</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B83B2E"/>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36</a:t>
            </a:r>
            <a:endParaRPr lang="en-US" sz="850" dirty="0"/>
          </a:p>
        </p:txBody>
      </p:sp>
      <p:sp>
        <p:nvSpPr>
          <p:cNvPr id="18" name="Shape 15"/>
          <p:cNvSpPr/>
          <p:nvPr/>
        </p:nvSpPr>
        <p:spPr>
          <a:xfrm>
            <a:off x="457200" y="1371600"/>
            <a:ext cx="2651760" cy="1463040"/>
          </a:xfrm>
          <a:prstGeom prst="roundRect">
            <a:avLst>
              <a:gd name="adj" fmla="val 5000"/>
            </a:avLst>
          </a:prstGeom>
          <a:solidFill>
            <a:srgbClr val="E8F5EF"/>
          </a:solidFill>
          <a:ln w="15875">
            <a:solidFill>
              <a:srgbClr val="B83B2E"/>
            </a:solidFill>
            <a:prstDash val="solid"/>
          </a:ln>
        </p:spPr>
      </p:sp>
      <p:sp>
        <p:nvSpPr>
          <p:cNvPr id="19" name="Shape 16"/>
          <p:cNvSpPr/>
          <p:nvPr/>
        </p:nvSpPr>
        <p:spPr>
          <a:xfrm>
            <a:off x="585216" y="1499616"/>
            <a:ext cx="402336" cy="402336"/>
          </a:xfrm>
          <a:prstGeom prst="ellipse">
            <a:avLst/>
          </a:prstGeom>
          <a:solidFill>
            <a:srgbClr val="B83B2E"/>
          </a:solidFill>
          <a:ln/>
        </p:spPr>
      </p:sp>
      <p:sp>
        <p:nvSpPr>
          <p:cNvPr id="20" name="Text 17"/>
          <p:cNvSpPr txBox="1"/>
          <p:nvPr/>
        </p:nvSpPr>
        <p:spPr>
          <a:xfrm>
            <a:off x="585216" y="149961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21" name="Text 18"/>
          <p:cNvSpPr txBox="1"/>
          <p:nvPr/>
        </p:nvSpPr>
        <p:spPr>
          <a:xfrm>
            <a:off x="1097280" y="1499616"/>
            <a:ext cx="1920240" cy="402336"/>
          </a:xfrm>
          <a:prstGeom prst="rect">
            <a:avLst/>
          </a:prstGeom>
          <a:noFill/>
          <a:ln/>
        </p:spPr>
        <p:txBody>
          <a:bodyPr wrap="square" lIns="0" tIns="0" rIns="0" bIns="0" rtlCol="0" anchor="ctr"/>
          <a:lstStyle/>
          <a:p>
            <a:pPr indent="0" marL="0">
              <a:buNone/>
            </a:pPr>
            <a:r>
              <a:rPr lang="en-US" sz="1250" b="1" dirty="0">
                <a:solidFill>
                  <a:srgbClr val="B83B2E"/>
                </a:solidFill>
                <a:latin typeface="Calibri" pitchFamily="34" charset="0"/>
                <a:ea typeface="Calibri" pitchFamily="34" charset="-122"/>
                <a:cs typeface="Calibri" pitchFamily="34" charset="-120"/>
              </a:rPr>
              <a:t>Digital connectivity by region</a:t>
            </a:r>
            <a:endParaRPr lang="en-US" sz="1250" dirty="0"/>
          </a:p>
        </p:txBody>
      </p:sp>
      <p:sp>
        <p:nvSpPr>
          <p:cNvPr id="22" name="Text 19"/>
          <p:cNvSpPr txBox="1"/>
          <p:nvPr/>
        </p:nvSpPr>
        <p:spPr>
          <a:xfrm>
            <a:off x="585216" y="1965960"/>
            <a:ext cx="2423160" cy="50292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Ministry of ICT wants a quarterly subnational indicator of internet quality.</a:t>
            </a:r>
            <a:endParaRPr lang="en-US" sz="1050" dirty="0"/>
          </a:p>
        </p:txBody>
      </p:sp>
      <p:pic>
        <p:nvPicPr>
          <p:cNvPr id="23" name="Image 0" descr="preencoded.png">    </p:cNvPr>
          <p:cNvPicPr>
            <a:picLocks noChangeAspect="1"/>
          </p:cNvPicPr>
          <p:nvPr/>
        </p:nvPicPr>
        <p:blipFill>
          <a:blip r:embed="rId1"/>
          <a:stretch>
            <a:fillRect/>
          </a:stretch>
        </p:blipFill>
        <p:spPr>
          <a:xfrm>
            <a:off x="585216" y="2532888"/>
            <a:ext cx="164592" cy="164592"/>
          </a:xfrm>
          <a:prstGeom prst="rect">
            <a:avLst/>
          </a:prstGeom>
        </p:spPr>
      </p:pic>
      <p:sp>
        <p:nvSpPr>
          <p:cNvPr id="24" name="Text 20"/>
          <p:cNvSpPr txBox="1"/>
          <p:nvPr/>
        </p:nvSpPr>
        <p:spPr>
          <a:xfrm>
            <a:off x="822960" y="2487168"/>
            <a:ext cx="2194560" cy="256032"/>
          </a:xfrm>
          <a:prstGeom prst="rect">
            <a:avLst/>
          </a:prstGeom>
          <a:noFill/>
          <a:ln/>
        </p:spPr>
        <p:txBody>
          <a:bodyPr wrap="square" lIns="0" tIns="0" rIns="0" bIns="0" rtlCol="0" anchor="ctr"/>
          <a:lstStyle/>
          <a:p>
            <a:pPr indent="0" marL="0">
              <a:buNone/>
            </a:pPr>
            <a:r>
              <a:rPr lang="en-US" sz="1000" b="1" i="1" dirty="0">
                <a:solidFill>
                  <a:srgbClr val="5E6964"/>
                </a:solidFill>
                <a:latin typeface="Calibri" pitchFamily="34" charset="0"/>
                <a:ea typeface="Calibri" pitchFamily="34" charset="-122"/>
                <a:cs typeface="Calibri" pitchFamily="34" charset="-120"/>
              </a:rPr>
              <a:t>Ookla tiles + WorldPop</a:t>
            </a:r>
            <a:endParaRPr lang="en-US" sz="1000" dirty="0"/>
          </a:p>
        </p:txBody>
      </p:sp>
      <p:sp>
        <p:nvSpPr>
          <p:cNvPr id="25" name="Shape 21"/>
          <p:cNvSpPr/>
          <p:nvPr/>
        </p:nvSpPr>
        <p:spPr>
          <a:xfrm>
            <a:off x="3246120" y="1371600"/>
            <a:ext cx="2651760" cy="1463040"/>
          </a:xfrm>
          <a:prstGeom prst="roundRect">
            <a:avLst>
              <a:gd name="adj" fmla="val 5000"/>
            </a:avLst>
          </a:prstGeom>
          <a:solidFill>
            <a:srgbClr val="F4F7F5"/>
          </a:solidFill>
          <a:ln w="9525">
            <a:solidFill>
              <a:srgbClr val="D5DED9"/>
            </a:solidFill>
            <a:prstDash val="solid"/>
          </a:ln>
        </p:spPr>
      </p:sp>
      <p:sp>
        <p:nvSpPr>
          <p:cNvPr id="26" name="Shape 22"/>
          <p:cNvSpPr/>
          <p:nvPr/>
        </p:nvSpPr>
        <p:spPr>
          <a:xfrm>
            <a:off x="3374136" y="1499616"/>
            <a:ext cx="402336" cy="402336"/>
          </a:xfrm>
          <a:prstGeom prst="ellipse">
            <a:avLst/>
          </a:prstGeom>
          <a:solidFill>
            <a:srgbClr val="B83B2E"/>
          </a:solidFill>
          <a:ln/>
        </p:spPr>
      </p:sp>
      <p:sp>
        <p:nvSpPr>
          <p:cNvPr id="27" name="Text 23"/>
          <p:cNvSpPr txBox="1"/>
          <p:nvPr/>
        </p:nvSpPr>
        <p:spPr>
          <a:xfrm>
            <a:off x="3374136" y="149961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28" name="Text 24"/>
          <p:cNvSpPr txBox="1"/>
          <p:nvPr/>
        </p:nvSpPr>
        <p:spPr>
          <a:xfrm>
            <a:off x="3886200" y="1499616"/>
            <a:ext cx="1920240" cy="402336"/>
          </a:xfrm>
          <a:prstGeom prst="rect">
            <a:avLst/>
          </a:prstGeom>
          <a:noFill/>
          <a:ln/>
        </p:spPr>
        <p:txBody>
          <a:bodyPr wrap="square" lIns="0" tIns="0" rIns="0" bIns="0" rtlCol="0" anchor="ctr"/>
          <a:lstStyle/>
          <a:p>
            <a:pPr indent="0" marL="0">
              <a:buNone/>
            </a:pPr>
            <a:r>
              <a:rPr lang="en-US" sz="1250" b="1" dirty="0">
                <a:solidFill>
                  <a:srgbClr val="B83B2E"/>
                </a:solidFill>
                <a:latin typeface="Calibri" pitchFamily="34" charset="0"/>
                <a:ea typeface="Calibri" pitchFamily="34" charset="-122"/>
                <a:cs typeface="Calibri" pitchFamily="34" charset="-120"/>
              </a:rPr>
              <a:t>Local economic activity</a:t>
            </a:r>
            <a:endParaRPr lang="en-US" sz="1250" dirty="0"/>
          </a:p>
        </p:txBody>
      </p:sp>
      <p:sp>
        <p:nvSpPr>
          <p:cNvPr id="29" name="Text 25"/>
          <p:cNvSpPr txBox="1"/>
          <p:nvPr/>
        </p:nvSpPr>
        <p:spPr>
          <a:xfrm>
            <a:off x="3374136" y="1965960"/>
            <a:ext cx="2423160" cy="50292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Planning commission asks for annual district activity estimates between surveys.</a:t>
            </a:r>
            <a:endParaRPr lang="en-US" sz="1050" dirty="0"/>
          </a:p>
        </p:txBody>
      </p:sp>
      <p:pic>
        <p:nvPicPr>
          <p:cNvPr id="30" name="Image 1" descr="preencoded.png">    </p:cNvPr>
          <p:cNvPicPr>
            <a:picLocks noChangeAspect="1"/>
          </p:cNvPicPr>
          <p:nvPr/>
        </p:nvPicPr>
        <p:blipFill>
          <a:blip r:embed="rId2"/>
          <a:stretch>
            <a:fillRect/>
          </a:stretch>
        </p:blipFill>
        <p:spPr>
          <a:xfrm>
            <a:off x="3374136" y="2532888"/>
            <a:ext cx="164592" cy="164592"/>
          </a:xfrm>
          <a:prstGeom prst="rect">
            <a:avLst/>
          </a:prstGeom>
        </p:spPr>
      </p:pic>
      <p:sp>
        <p:nvSpPr>
          <p:cNvPr id="31" name="Text 26"/>
          <p:cNvSpPr txBox="1"/>
          <p:nvPr/>
        </p:nvSpPr>
        <p:spPr>
          <a:xfrm>
            <a:off x="3611880" y="2487168"/>
            <a:ext cx="2194560" cy="256032"/>
          </a:xfrm>
          <a:prstGeom prst="rect">
            <a:avLst/>
          </a:prstGeom>
          <a:noFill/>
          <a:ln/>
        </p:spPr>
        <p:txBody>
          <a:bodyPr wrap="square" lIns="0" tIns="0" rIns="0" bIns="0" rtlCol="0" anchor="ctr"/>
          <a:lstStyle/>
          <a:p>
            <a:pPr indent="0" marL="0">
              <a:buNone/>
            </a:pPr>
            <a:r>
              <a:rPr lang="en-US" sz="1000" b="1" i="1" dirty="0">
                <a:solidFill>
                  <a:srgbClr val="5E6964"/>
                </a:solidFill>
                <a:latin typeface="Calibri" pitchFamily="34" charset="0"/>
                <a:ea typeface="Calibri" pitchFamily="34" charset="-122"/>
                <a:cs typeface="Calibri" pitchFamily="34" charset="-120"/>
              </a:rPr>
              <a:t>VIIRS Black Marble NTL</a:t>
            </a:r>
            <a:endParaRPr lang="en-US" sz="1000" dirty="0"/>
          </a:p>
        </p:txBody>
      </p:sp>
      <p:sp>
        <p:nvSpPr>
          <p:cNvPr id="32" name="Shape 27"/>
          <p:cNvSpPr/>
          <p:nvPr/>
        </p:nvSpPr>
        <p:spPr>
          <a:xfrm>
            <a:off x="457200" y="2971800"/>
            <a:ext cx="2651760" cy="1463040"/>
          </a:xfrm>
          <a:prstGeom prst="roundRect">
            <a:avLst>
              <a:gd name="adj" fmla="val 5000"/>
            </a:avLst>
          </a:prstGeom>
          <a:solidFill>
            <a:srgbClr val="F4F7F5"/>
          </a:solidFill>
          <a:ln w="9525">
            <a:solidFill>
              <a:srgbClr val="D5DED9"/>
            </a:solidFill>
            <a:prstDash val="solid"/>
          </a:ln>
        </p:spPr>
      </p:sp>
      <p:sp>
        <p:nvSpPr>
          <p:cNvPr id="33" name="Shape 28"/>
          <p:cNvSpPr/>
          <p:nvPr/>
        </p:nvSpPr>
        <p:spPr>
          <a:xfrm>
            <a:off x="585216" y="3099816"/>
            <a:ext cx="402336" cy="402336"/>
          </a:xfrm>
          <a:prstGeom prst="ellipse">
            <a:avLst/>
          </a:prstGeom>
          <a:solidFill>
            <a:srgbClr val="B83B2E"/>
          </a:solidFill>
          <a:ln/>
        </p:spPr>
      </p:sp>
      <p:sp>
        <p:nvSpPr>
          <p:cNvPr id="34" name="Text 29"/>
          <p:cNvSpPr txBox="1"/>
          <p:nvPr/>
        </p:nvSpPr>
        <p:spPr>
          <a:xfrm>
            <a:off x="585216" y="309981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35" name="Text 30"/>
          <p:cNvSpPr txBox="1"/>
          <p:nvPr/>
        </p:nvSpPr>
        <p:spPr>
          <a:xfrm>
            <a:off x="1097280" y="3099816"/>
            <a:ext cx="1920240" cy="402336"/>
          </a:xfrm>
          <a:prstGeom prst="rect">
            <a:avLst/>
          </a:prstGeom>
          <a:noFill/>
          <a:ln/>
        </p:spPr>
        <p:txBody>
          <a:bodyPr wrap="square" lIns="0" tIns="0" rIns="0" bIns="0" rtlCol="0" anchor="ctr"/>
          <a:lstStyle/>
          <a:p>
            <a:pPr indent="0" marL="0">
              <a:buNone/>
            </a:pPr>
            <a:r>
              <a:rPr lang="en-US" sz="1250" b="1" dirty="0">
                <a:solidFill>
                  <a:srgbClr val="B83B2E"/>
                </a:solidFill>
                <a:latin typeface="Calibri" pitchFamily="34" charset="0"/>
                <a:ea typeface="Calibri" pitchFamily="34" charset="-122"/>
                <a:cs typeface="Calibri" pitchFamily="34" charset="-120"/>
              </a:rPr>
              <a:t>Food price monitoring</a:t>
            </a:r>
            <a:endParaRPr lang="en-US" sz="1250" dirty="0"/>
          </a:p>
        </p:txBody>
      </p:sp>
      <p:sp>
        <p:nvSpPr>
          <p:cNvPr id="36" name="Text 31"/>
          <p:cNvSpPr txBox="1"/>
          <p:nvPr/>
        </p:nvSpPr>
        <p:spPr>
          <a:xfrm>
            <a:off x="585216" y="3566160"/>
            <a:ext cx="2423160" cy="50292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Early warning unit needs weekly food prices in main markets.</a:t>
            </a:r>
            <a:endParaRPr lang="en-US" sz="1050" dirty="0"/>
          </a:p>
        </p:txBody>
      </p:sp>
      <p:pic>
        <p:nvPicPr>
          <p:cNvPr id="37" name="Image 2" descr="preencoded.png">    </p:cNvPr>
          <p:cNvPicPr>
            <a:picLocks noChangeAspect="1"/>
          </p:cNvPicPr>
          <p:nvPr/>
        </p:nvPicPr>
        <p:blipFill>
          <a:blip r:embed="rId3"/>
          <a:stretch>
            <a:fillRect/>
          </a:stretch>
        </p:blipFill>
        <p:spPr>
          <a:xfrm>
            <a:off x="585216" y="4133088"/>
            <a:ext cx="164592" cy="164592"/>
          </a:xfrm>
          <a:prstGeom prst="rect">
            <a:avLst/>
          </a:prstGeom>
        </p:spPr>
      </p:pic>
      <p:sp>
        <p:nvSpPr>
          <p:cNvPr id="38" name="Text 32"/>
          <p:cNvSpPr txBox="1"/>
          <p:nvPr/>
        </p:nvSpPr>
        <p:spPr>
          <a:xfrm>
            <a:off x="822960" y="4087368"/>
            <a:ext cx="2194560" cy="256032"/>
          </a:xfrm>
          <a:prstGeom prst="rect">
            <a:avLst/>
          </a:prstGeom>
          <a:noFill/>
          <a:ln/>
        </p:spPr>
        <p:txBody>
          <a:bodyPr wrap="square" lIns="0" tIns="0" rIns="0" bIns="0" rtlCol="0" anchor="ctr"/>
          <a:lstStyle/>
          <a:p>
            <a:pPr indent="0" marL="0">
              <a:buNone/>
            </a:pPr>
            <a:r>
              <a:rPr lang="en-US" sz="1000" b="1" i="1" dirty="0">
                <a:solidFill>
                  <a:srgbClr val="5E6964"/>
                </a:solidFill>
                <a:latin typeface="Calibri" pitchFamily="34" charset="0"/>
                <a:ea typeface="Calibri" pitchFamily="34" charset="-122"/>
                <a:cs typeface="Calibri" pitchFamily="34" charset="-120"/>
              </a:rPr>
              <a:t>Web scraping + trader app</a:t>
            </a:r>
            <a:endParaRPr lang="en-US" sz="1000" dirty="0"/>
          </a:p>
        </p:txBody>
      </p:sp>
      <p:sp>
        <p:nvSpPr>
          <p:cNvPr id="39" name="Shape 33"/>
          <p:cNvSpPr/>
          <p:nvPr/>
        </p:nvSpPr>
        <p:spPr>
          <a:xfrm>
            <a:off x="3246120" y="2971800"/>
            <a:ext cx="2651760" cy="1463040"/>
          </a:xfrm>
          <a:prstGeom prst="roundRect">
            <a:avLst>
              <a:gd name="adj" fmla="val 5000"/>
            </a:avLst>
          </a:prstGeom>
          <a:solidFill>
            <a:srgbClr val="F4F7F5"/>
          </a:solidFill>
          <a:ln w="9525">
            <a:solidFill>
              <a:srgbClr val="D5DED9"/>
            </a:solidFill>
            <a:prstDash val="solid"/>
          </a:ln>
        </p:spPr>
      </p:sp>
      <p:sp>
        <p:nvSpPr>
          <p:cNvPr id="40" name="Shape 34"/>
          <p:cNvSpPr/>
          <p:nvPr/>
        </p:nvSpPr>
        <p:spPr>
          <a:xfrm>
            <a:off x="3374136" y="3099816"/>
            <a:ext cx="402336" cy="402336"/>
          </a:xfrm>
          <a:prstGeom prst="ellipse">
            <a:avLst/>
          </a:prstGeom>
          <a:solidFill>
            <a:srgbClr val="B83B2E"/>
          </a:solidFill>
          <a:ln/>
        </p:spPr>
      </p:sp>
      <p:sp>
        <p:nvSpPr>
          <p:cNvPr id="41" name="Text 35"/>
          <p:cNvSpPr txBox="1"/>
          <p:nvPr/>
        </p:nvSpPr>
        <p:spPr>
          <a:xfrm>
            <a:off x="3374136" y="309981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42" name="Text 36"/>
          <p:cNvSpPr txBox="1"/>
          <p:nvPr/>
        </p:nvSpPr>
        <p:spPr>
          <a:xfrm>
            <a:off x="3886200" y="3099816"/>
            <a:ext cx="1920240" cy="402336"/>
          </a:xfrm>
          <a:prstGeom prst="rect">
            <a:avLst/>
          </a:prstGeom>
          <a:noFill/>
          <a:ln/>
        </p:spPr>
        <p:txBody>
          <a:bodyPr wrap="square" lIns="0" tIns="0" rIns="0" bIns="0" rtlCol="0" anchor="ctr"/>
          <a:lstStyle/>
          <a:p>
            <a:pPr indent="0" marL="0">
              <a:buNone/>
            </a:pPr>
            <a:r>
              <a:rPr lang="en-US" sz="1250" b="1" dirty="0">
                <a:solidFill>
                  <a:srgbClr val="B83B2E"/>
                </a:solidFill>
                <a:latin typeface="Calibri" pitchFamily="34" charset="0"/>
                <a:ea typeface="Calibri" pitchFamily="34" charset="-122"/>
                <a:cs typeface="Calibri" pitchFamily="34" charset="-120"/>
              </a:rPr>
              <a:t>Displacement after floods</a:t>
            </a:r>
            <a:endParaRPr lang="en-US" sz="1250" dirty="0"/>
          </a:p>
        </p:txBody>
      </p:sp>
      <p:sp>
        <p:nvSpPr>
          <p:cNvPr id="43" name="Text 37"/>
          <p:cNvSpPr txBox="1"/>
          <p:nvPr/>
        </p:nvSpPr>
        <p:spPr>
          <a:xfrm>
            <a:off x="3374136" y="3566160"/>
            <a:ext cx="2423160" cy="50292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Disaster agency needs where people moved in the two weeks after a flood.</a:t>
            </a:r>
            <a:endParaRPr lang="en-US" sz="1050" dirty="0"/>
          </a:p>
        </p:txBody>
      </p:sp>
      <p:pic>
        <p:nvPicPr>
          <p:cNvPr id="44" name="Image 3" descr="preencoded.png">    </p:cNvPr>
          <p:cNvPicPr>
            <a:picLocks noChangeAspect="1"/>
          </p:cNvPicPr>
          <p:nvPr/>
        </p:nvPicPr>
        <p:blipFill>
          <a:blip r:embed="rId4"/>
          <a:stretch>
            <a:fillRect/>
          </a:stretch>
        </p:blipFill>
        <p:spPr>
          <a:xfrm>
            <a:off x="3374136" y="4133088"/>
            <a:ext cx="164592" cy="164592"/>
          </a:xfrm>
          <a:prstGeom prst="rect">
            <a:avLst/>
          </a:prstGeom>
        </p:spPr>
      </p:pic>
      <p:sp>
        <p:nvSpPr>
          <p:cNvPr id="45" name="Text 38"/>
          <p:cNvSpPr txBox="1"/>
          <p:nvPr/>
        </p:nvSpPr>
        <p:spPr>
          <a:xfrm>
            <a:off x="3611880" y="4087368"/>
            <a:ext cx="2194560" cy="256032"/>
          </a:xfrm>
          <a:prstGeom prst="rect">
            <a:avLst/>
          </a:prstGeom>
          <a:noFill/>
          <a:ln/>
        </p:spPr>
        <p:txBody>
          <a:bodyPr wrap="square" lIns="0" tIns="0" rIns="0" bIns="0" rtlCol="0" anchor="ctr"/>
          <a:lstStyle/>
          <a:p>
            <a:pPr indent="0" marL="0">
              <a:buNone/>
            </a:pPr>
            <a:r>
              <a:rPr lang="en-US" sz="1000" b="1" i="1" dirty="0">
                <a:solidFill>
                  <a:srgbClr val="5E6964"/>
                </a:solidFill>
                <a:latin typeface="Calibri" pitchFamily="34" charset="0"/>
                <a:ea typeface="Calibri" pitchFamily="34" charset="-122"/>
                <a:cs typeface="Calibri" pitchFamily="34" charset="-120"/>
              </a:rPr>
              <a:t>Operator CDR + satellite</a:t>
            </a:r>
            <a:endParaRPr lang="en-US" sz="1000" dirty="0"/>
          </a:p>
        </p:txBody>
      </p:sp>
      <p:sp>
        <p:nvSpPr>
          <p:cNvPr id="46" name="Shape 39"/>
          <p:cNvSpPr/>
          <p:nvPr/>
        </p:nvSpPr>
        <p:spPr>
          <a:xfrm>
            <a:off x="6172200" y="1371600"/>
            <a:ext cx="2514600" cy="3063240"/>
          </a:xfrm>
          <a:prstGeom prst="roundRect">
            <a:avLst>
              <a:gd name="adj" fmla="val 2909"/>
            </a:avLst>
          </a:prstGeom>
          <a:solidFill>
            <a:srgbClr val="00553A"/>
          </a:solidFill>
          <a:ln/>
        </p:spPr>
      </p:sp>
      <p:sp>
        <p:nvSpPr>
          <p:cNvPr id="47" name="Text 40"/>
          <p:cNvSpPr txBox="1"/>
          <p:nvPr/>
        </p:nvSpPr>
        <p:spPr>
          <a:xfrm>
            <a:off x="6355080" y="1481328"/>
            <a:ext cx="2194560" cy="201168"/>
          </a:xfrm>
          <a:prstGeom prst="rect">
            <a:avLst/>
          </a:prstGeom>
          <a:noFill/>
          <a:ln/>
        </p:spPr>
        <p:txBody>
          <a:bodyPr wrap="square" lIns="0" tIns="0" rIns="0" bIns="0" rtlCol="0" anchor="t"/>
          <a:lstStyle/>
          <a:p>
            <a:pPr indent="0" marL="0">
              <a:buNone/>
            </a:pPr>
            <a:r>
              <a:rPr lang="en-US" sz="950" b="1" spc="200" kern="0" dirty="0">
                <a:solidFill>
                  <a:srgbClr val="F5C242"/>
                </a:solidFill>
                <a:latin typeface="Calibri" pitchFamily="34" charset="0"/>
                <a:ea typeface="Calibri" pitchFamily="34" charset="-122"/>
                <a:cs typeface="Calibri" pitchFamily="34" charset="-120"/>
              </a:rPr>
              <a:t>RUN OF SHOW</a:t>
            </a:r>
            <a:endParaRPr lang="en-US" sz="950" dirty="0"/>
          </a:p>
        </p:txBody>
      </p:sp>
      <p:sp>
        <p:nvSpPr>
          <p:cNvPr id="48" name="Text 41"/>
          <p:cNvSpPr txBox="1"/>
          <p:nvPr/>
        </p:nvSpPr>
        <p:spPr>
          <a:xfrm>
            <a:off x="6355080" y="1783080"/>
            <a:ext cx="548640" cy="411480"/>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5′</a:t>
            </a:r>
            <a:endParaRPr lang="en-US" sz="1800" dirty="0"/>
          </a:p>
        </p:txBody>
      </p:sp>
      <p:sp>
        <p:nvSpPr>
          <p:cNvPr id="49" name="Text 42"/>
          <p:cNvSpPr txBox="1"/>
          <p:nvPr/>
        </p:nvSpPr>
        <p:spPr>
          <a:xfrm>
            <a:off x="6903720" y="1783080"/>
            <a:ext cx="1691640" cy="4572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Pick a scenario, frame the question</a:t>
            </a:r>
            <a:endParaRPr lang="en-US" sz="1050" dirty="0"/>
          </a:p>
        </p:txBody>
      </p:sp>
      <p:sp>
        <p:nvSpPr>
          <p:cNvPr id="50" name="Text 43"/>
          <p:cNvSpPr txBox="1"/>
          <p:nvPr/>
        </p:nvSpPr>
        <p:spPr>
          <a:xfrm>
            <a:off x="6355080" y="2350008"/>
            <a:ext cx="548640" cy="411480"/>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20′</a:t>
            </a:r>
            <a:endParaRPr lang="en-US" sz="1800" dirty="0"/>
          </a:p>
        </p:txBody>
      </p:sp>
      <p:sp>
        <p:nvSpPr>
          <p:cNvPr id="51" name="Text 44"/>
          <p:cNvSpPr txBox="1"/>
          <p:nvPr/>
        </p:nvSpPr>
        <p:spPr>
          <a:xfrm>
            <a:off x="6903720" y="2350008"/>
            <a:ext cx="1691640" cy="4572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Fill the Source Assessment Canvas</a:t>
            </a:r>
            <a:endParaRPr lang="en-US" sz="1050" dirty="0"/>
          </a:p>
        </p:txBody>
      </p:sp>
      <p:sp>
        <p:nvSpPr>
          <p:cNvPr id="52" name="Text 45"/>
          <p:cNvSpPr txBox="1"/>
          <p:nvPr/>
        </p:nvSpPr>
        <p:spPr>
          <a:xfrm>
            <a:off x="6355080" y="2916936"/>
            <a:ext cx="548640" cy="411480"/>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5′</a:t>
            </a:r>
            <a:endParaRPr lang="en-US" sz="1800" dirty="0"/>
          </a:p>
        </p:txBody>
      </p:sp>
      <p:sp>
        <p:nvSpPr>
          <p:cNvPr id="53" name="Text 46"/>
          <p:cNvSpPr txBox="1"/>
          <p:nvPr/>
        </p:nvSpPr>
        <p:spPr>
          <a:xfrm>
            <a:off x="6903720" y="2916936"/>
            <a:ext cx="1691640" cy="4572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Agree a verdict and one key risk</a:t>
            </a:r>
            <a:endParaRPr lang="en-US" sz="1050" dirty="0"/>
          </a:p>
        </p:txBody>
      </p:sp>
      <p:sp>
        <p:nvSpPr>
          <p:cNvPr id="54" name="Text 47"/>
          <p:cNvSpPr txBox="1"/>
          <p:nvPr/>
        </p:nvSpPr>
        <p:spPr>
          <a:xfrm>
            <a:off x="6355080" y="3483864"/>
            <a:ext cx="548640" cy="411480"/>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10′</a:t>
            </a:r>
            <a:endParaRPr lang="en-US" sz="1800" dirty="0"/>
          </a:p>
        </p:txBody>
      </p:sp>
      <p:sp>
        <p:nvSpPr>
          <p:cNvPr id="55" name="Text 48"/>
          <p:cNvSpPr txBox="1"/>
          <p:nvPr/>
        </p:nvSpPr>
        <p:spPr>
          <a:xfrm>
            <a:off x="6903720" y="3483864"/>
            <a:ext cx="1691640" cy="4572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Plenary: two-minute report per team</a:t>
            </a:r>
            <a:endParaRPr lang="en-US" sz="1050" dirty="0"/>
          </a:p>
        </p:txBody>
      </p:sp>
      <p:sp>
        <p:nvSpPr>
          <p:cNvPr id="56" name="Text 49"/>
          <p:cNvSpPr txBox="1"/>
          <p:nvPr/>
        </p:nvSpPr>
        <p:spPr>
          <a:xfrm>
            <a:off x="6355080" y="4069080"/>
            <a:ext cx="2194560" cy="274320"/>
          </a:xfrm>
          <a:prstGeom prst="rect">
            <a:avLst/>
          </a:prstGeom>
          <a:noFill/>
          <a:ln/>
        </p:spPr>
        <p:txBody>
          <a:bodyPr wrap="square" lIns="0" tIns="0" rIns="0" bIns="0" rtlCol="0" anchor="t"/>
          <a:lstStyle/>
          <a:p>
            <a:pPr indent="0" marL="0">
              <a:buNone/>
            </a:pPr>
            <a:r>
              <a:rPr lang="en-US" sz="950" i="1" dirty="0">
                <a:solidFill>
                  <a:srgbClr val="E6F6EE"/>
                </a:solidFill>
                <a:latin typeface="Calibri" pitchFamily="34" charset="0"/>
                <a:ea typeface="Calibri" pitchFamily="34" charset="-122"/>
                <a:cs typeface="Calibri" pitchFamily="34" charset="-120"/>
              </a:rPr>
              <a:t>Verdict: publish · diagnose only · not fit</a:t>
            </a:r>
            <a:endParaRPr lang="en-US" sz="95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LABORATORY · TOOL</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The Source Assessment Canvas</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Fill boxes 1 to 8 in order. Box 8 must be defensible from boxes 1 to 7.</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B83B2E"/>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37</a:t>
            </a:r>
            <a:endParaRPr lang="en-US" sz="850" dirty="0"/>
          </a:p>
        </p:txBody>
      </p:sp>
      <p:sp>
        <p:nvSpPr>
          <p:cNvPr id="18" name="Shape 15"/>
          <p:cNvSpPr/>
          <p:nvPr/>
        </p:nvSpPr>
        <p:spPr>
          <a:xfrm>
            <a:off x="457200" y="1325880"/>
            <a:ext cx="1975104" cy="1508760"/>
          </a:xfrm>
          <a:prstGeom prst="roundRect">
            <a:avLst>
              <a:gd name="adj" fmla="val 4848"/>
            </a:avLst>
          </a:prstGeom>
          <a:solidFill>
            <a:srgbClr val="FFFFFF"/>
          </a:solidFill>
          <a:ln w="9525">
            <a:solidFill>
              <a:srgbClr val="D5DED9"/>
            </a:solidFill>
            <a:prstDash val="solid"/>
          </a:ln>
        </p:spPr>
      </p:sp>
      <p:sp>
        <p:nvSpPr>
          <p:cNvPr id="19" name="Shape 16"/>
          <p:cNvSpPr/>
          <p:nvPr/>
        </p:nvSpPr>
        <p:spPr>
          <a:xfrm>
            <a:off x="548640" y="1417320"/>
            <a:ext cx="274320" cy="274320"/>
          </a:xfrm>
          <a:prstGeom prst="ellipse">
            <a:avLst/>
          </a:prstGeom>
          <a:solidFill>
            <a:srgbClr val="00704A"/>
          </a:solidFill>
          <a:ln/>
        </p:spPr>
      </p:sp>
      <p:sp>
        <p:nvSpPr>
          <p:cNvPr id="20" name="Text 17"/>
          <p:cNvSpPr txBox="1"/>
          <p:nvPr/>
        </p:nvSpPr>
        <p:spPr>
          <a:xfrm>
            <a:off x="548640"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txBox="1"/>
          <p:nvPr/>
        </p:nvSpPr>
        <p:spPr>
          <a:xfrm>
            <a:off x="896112" y="1399032"/>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Policy question</a:t>
            </a:r>
            <a:endParaRPr lang="en-US" sz="1150" dirty="0"/>
          </a:p>
        </p:txBody>
      </p:sp>
      <p:sp>
        <p:nvSpPr>
          <p:cNvPr id="22" name="Text 19"/>
          <p:cNvSpPr txBox="1"/>
          <p:nvPr/>
        </p:nvSpPr>
        <p:spPr>
          <a:xfrm>
            <a:off x="566928" y="1764792"/>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Who needs what, when, at which level?</a:t>
            </a:r>
            <a:endParaRPr lang="en-US" sz="950" dirty="0"/>
          </a:p>
        </p:txBody>
      </p:sp>
      <p:pic>
        <p:nvPicPr>
          <p:cNvPr id="23" name="Image 0" descr="preencoded.png">    </p:cNvPr>
          <p:cNvPicPr>
            <a:picLocks noChangeAspect="1"/>
          </p:cNvPicPr>
          <p:nvPr/>
        </p:nvPicPr>
        <p:blipFill>
          <a:blip r:embed="rId1"/>
          <a:stretch>
            <a:fillRect/>
          </a:stretch>
        </p:blipFill>
        <p:spPr>
          <a:xfrm>
            <a:off x="1874520" y="2286000"/>
            <a:ext cx="411480" cy="411480"/>
          </a:xfrm>
          <a:prstGeom prst="rect">
            <a:avLst/>
          </a:prstGeom>
        </p:spPr>
      </p:pic>
      <p:sp>
        <p:nvSpPr>
          <p:cNvPr id="24" name="Shape 20"/>
          <p:cNvSpPr/>
          <p:nvPr/>
        </p:nvSpPr>
        <p:spPr>
          <a:xfrm>
            <a:off x="566928" y="2350008"/>
            <a:ext cx="1188720" cy="0"/>
          </a:xfrm>
          <a:prstGeom prst="line">
            <a:avLst/>
          </a:prstGeom>
          <a:noFill/>
          <a:ln w="9525">
            <a:solidFill>
              <a:srgbClr val="D5DED9"/>
            </a:solidFill>
            <a:prstDash val="dash"/>
          </a:ln>
        </p:spPr>
      </p:sp>
      <p:sp>
        <p:nvSpPr>
          <p:cNvPr id="25" name="Shape 21"/>
          <p:cNvSpPr/>
          <p:nvPr/>
        </p:nvSpPr>
        <p:spPr>
          <a:xfrm>
            <a:off x="566928" y="2551176"/>
            <a:ext cx="1188720" cy="0"/>
          </a:xfrm>
          <a:prstGeom prst="line">
            <a:avLst/>
          </a:prstGeom>
          <a:noFill/>
          <a:ln w="9525">
            <a:solidFill>
              <a:srgbClr val="D5DED9"/>
            </a:solidFill>
            <a:prstDash val="dash"/>
          </a:ln>
        </p:spPr>
      </p:sp>
      <p:sp>
        <p:nvSpPr>
          <p:cNvPr id="26" name="Shape 22"/>
          <p:cNvSpPr/>
          <p:nvPr/>
        </p:nvSpPr>
        <p:spPr>
          <a:xfrm>
            <a:off x="2542032" y="1325880"/>
            <a:ext cx="1975104" cy="1508760"/>
          </a:xfrm>
          <a:prstGeom prst="roundRect">
            <a:avLst>
              <a:gd name="adj" fmla="val 4848"/>
            </a:avLst>
          </a:prstGeom>
          <a:solidFill>
            <a:srgbClr val="FFFFFF"/>
          </a:solidFill>
          <a:ln w="9525">
            <a:solidFill>
              <a:srgbClr val="D5DED9"/>
            </a:solidFill>
            <a:prstDash val="solid"/>
          </a:ln>
        </p:spPr>
      </p:sp>
      <p:sp>
        <p:nvSpPr>
          <p:cNvPr id="27" name="Shape 23"/>
          <p:cNvSpPr/>
          <p:nvPr/>
        </p:nvSpPr>
        <p:spPr>
          <a:xfrm>
            <a:off x="2633472" y="1417320"/>
            <a:ext cx="274320" cy="274320"/>
          </a:xfrm>
          <a:prstGeom prst="ellipse">
            <a:avLst/>
          </a:prstGeom>
          <a:solidFill>
            <a:srgbClr val="00704A"/>
          </a:solidFill>
          <a:ln/>
        </p:spPr>
      </p:sp>
      <p:sp>
        <p:nvSpPr>
          <p:cNvPr id="28" name="Text 24"/>
          <p:cNvSpPr txBox="1"/>
          <p:nvPr/>
        </p:nvSpPr>
        <p:spPr>
          <a:xfrm>
            <a:off x="2633472"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9" name="Text 25"/>
          <p:cNvSpPr txBox="1"/>
          <p:nvPr/>
        </p:nvSpPr>
        <p:spPr>
          <a:xfrm>
            <a:off x="2980944" y="1399032"/>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Target concept</a:t>
            </a:r>
            <a:endParaRPr lang="en-US" sz="1150" dirty="0"/>
          </a:p>
        </p:txBody>
      </p:sp>
      <p:sp>
        <p:nvSpPr>
          <p:cNvPr id="30" name="Text 26"/>
          <p:cNvSpPr txBox="1"/>
          <p:nvPr/>
        </p:nvSpPr>
        <p:spPr>
          <a:xfrm>
            <a:off x="2651760" y="1764792"/>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What exactly should be measured?</a:t>
            </a:r>
            <a:endParaRPr lang="en-US" sz="950" dirty="0"/>
          </a:p>
        </p:txBody>
      </p:sp>
      <p:pic>
        <p:nvPicPr>
          <p:cNvPr id="31" name="Image 1" descr="preencoded.png">    </p:cNvPr>
          <p:cNvPicPr>
            <a:picLocks noChangeAspect="1"/>
          </p:cNvPicPr>
          <p:nvPr/>
        </p:nvPicPr>
        <p:blipFill>
          <a:blip r:embed="rId2"/>
          <a:stretch>
            <a:fillRect/>
          </a:stretch>
        </p:blipFill>
        <p:spPr>
          <a:xfrm>
            <a:off x="3959352" y="2286000"/>
            <a:ext cx="411480" cy="411480"/>
          </a:xfrm>
          <a:prstGeom prst="rect">
            <a:avLst/>
          </a:prstGeom>
        </p:spPr>
      </p:pic>
      <p:sp>
        <p:nvSpPr>
          <p:cNvPr id="32" name="Shape 27"/>
          <p:cNvSpPr/>
          <p:nvPr/>
        </p:nvSpPr>
        <p:spPr>
          <a:xfrm>
            <a:off x="2651760" y="2350008"/>
            <a:ext cx="1188720" cy="0"/>
          </a:xfrm>
          <a:prstGeom prst="line">
            <a:avLst/>
          </a:prstGeom>
          <a:noFill/>
          <a:ln w="9525">
            <a:solidFill>
              <a:srgbClr val="D5DED9"/>
            </a:solidFill>
            <a:prstDash val="dash"/>
          </a:ln>
        </p:spPr>
      </p:sp>
      <p:sp>
        <p:nvSpPr>
          <p:cNvPr id="33" name="Shape 28"/>
          <p:cNvSpPr/>
          <p:nvPr/>
        </p:nvSpPr>
        <p:spPr>
          <a:xfrm>
            <a:off x="2651760" y="2551176"/>
            <a:ext cx="1188720" cy="0"/>
          </a:xfrm>
          <a:prstGeom prst="line">
            <a:avLst/>
          </a:prstGeom>
          <a:noFill/>
          <a:ln w="9525">
            <a:solidFill>
              <a:srgbClr val="D5DED9"/>
            </a:solidFill>
            <a:prstDash val="dash"/>
          </a:ln>
        </p:spPr>
      </p:sp>
      <p:sp>
        <p:nvSpPr>
          <p:cNvPr id="34" name="Shape 29"/>
          <p:cNvSpPr/>
          <p:nvPr/>
        </p:nvSpPr>
        <p:spPr>
          <a:xfrm>
            <a:off x="4626864" y="1325880"/>
            <a:ext cx="1975104" cy="1508760"/>
          </a:xfrm>
          <a:prstGeom prst="roundRect">
            <a:avLst>
              <a:gd name="adj" fmla="val 4848"/>
            </a:avLst>
          </a:prstGeom>
          <a:solidFill>
            <a:srgbClr val="FFFFFF"/>
          </a:solidFill>
          <a:ln w="9525">
            <a:solidFill>
              <a:srgbClr val="D5DED9"/>
            </a:solidFill>
            <a:prstDash val="solid"/>
          </a:ln>
        </p:spPr>
      </p:sp>
      <p:sp>
        <p:nvSpPr>
          <p:cNvPr id="35" name="Shape 30"/>
          <p:cNvSpPr/>
          <p:nvPr/>
        </p:nvSpPr>
        <p:spPr>
          <a:xfrm>
            <a:off x="4718304" y="1417320"/>
            <a:ext cx="274320" cy="274320"/>
          </a:xfrm>
          <a:prstGeom prst="ellipse">
            <a:avLst/>
          </a:prstGeom>
          <a:solidFill>
            <a:srgbClr val="00704A"/>
          </a:solidFill>
          <a:ln/>
        </p:spPr>
      </p:sp>
      <p:sp>
        <p:nvSpPr>
          <p:cNvPr id="36" name="Text 31"/>
          <p:cNvSpPr txBox="1"/>
          <p:nvPr/>
        </p:nvSpPr>
        <p:spPr>
          <a:xfrm>
            <a:off x="4718304"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7" name="Text 32"/>
          <p:cNvSpPr txBox="1"/>
          <p:nvPr/>
        </p:nvSpPr>
        <p:spPr>
          <a:xfrm>
            <a:off x="5065776" y="1399032"/>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Proxy &amp; source</a:t>
            </a:r>
            <a:endParaRPr lang="en-US" sz="1150" dirty="0"/>
          </a:p>
        </p:txBody>
      </p:sp>
      <p:sp>
        <p:nvSpPr>
          <p:cNvPr id="38" name="Text 33"/>
          <p:cNvSpPr txBox="1"/>
          <p:nvPr/>
        </p:nvSpPr>
        <p:spPr>
          <a:xfrm>
            <a:off x="4736592" y="1764792"/>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What is observed, by whom, how often?</a:t>
            </a:r>
            <a:endParaRPr lang="en-US" sz="950" dirty="0"/>
          </a:p>
        </p:txBody>
      </p:sp>
      <p:pic>
        <p:nvPicPr>
          <p:cNvPr id="39" name="Image 2" descr="preencoded.png">    </p:cNvPr>
          <p:cNvPicPr>
            <a:picLocks noChangeAspect="1"/>
          </p:cNvPicPr>
          <p:nvPr/>
        </p:nvPicPr>
        <p:blipFill>
          <a:blip r:embed="rId3"/>
          <a:stretch>
            <a:fillRect/>
          </a:stretch>
        </p:blipFill>
        <p:spPr>
          <a:xfrm>
            <a:off x="6044184" y="2286000"/>
            <a:ext cx="411480" cy="411480"/>
          </a:xfrm>
          <a:prstGeom prst="rect">
            <a:avLst/>
          </a:prstGeom>
        </p:spPr>
      </p:pic>
      <p:sp>
        <p:nvSpPr>
          <p:cNvPr id="40" name="Shape 34"/>
          <p:cNvSpPr/>
          <p:nvPr/>
        </p:nvSpPr>
        <p:spPr>
          <a:xfrm>
            <a:off x="4736592" y="2350008"/>
            <a:ext cx="1188720" cy="0"/>
          </a:xfrm>
          <a:prstGeom prst="line">
            <a:avLst/>
          </a:prstGeom>
          <a:noFill/>
          <a:ln w="9525">
            <a:solidFill>
              <a:srgbClr val="D5DED9"/>
            </a:solidFill>
            <a:prstDash val="dash"/>
          </a:ln>
        </p:spPr>
      </p:sp>
      <p:sp>
        <p:nvSpPr>
          <p:cNvPr id="41" name="Shape 35"/>
          <p:cNvSpPr/>
          <p:nvPr/>
        </p:nvSpPr>
        <p:spPr>
          <a:xfrm>
            <a:off x="4736592" y="2551176"/>
            <a:ext cx="1188720" cy="0"/>
          </a:xfrm>
          <a:prstGeom prst="line">
            <a:avLst/>
          </a:prstGeom>
          <a:noFill/>
          <a:ln w="9525">
            <a:solidFill>
              <a:srgbClr val="D5DED9"/>
            </a:solidFill>
            <a:prstDash val="dash"/>
          </a:ln>
        </p:spPr>
      </p:sp>
      <p:sp>
        <p:nvSpPr>
          <p:cNvPr id="42" name="Shape 36"/>
          <p:cNvSpPr/>
          <p:nvPr/>
        </p:nvSpPr>
        <p:spPr>
          <a:xfrm>
            <a:off x="6711696" y="1325880"/>
            <a:ext cx="1975104" cy="1508760"/>
          </a:xfrm>
          <a:prstGeom prst="roundRect">
            <a:avLst>
              <a:gd name="adj" fmla="val 4848"/>
            </a:avLst>
          </a:prstGeom>
          <a:solidFill>
            <a:srgbClr val="FFFFFF"/>
          </a:solidFill>
          <a:ln w="9525">
            <a:solidFill>
              <a:srgbClr val="D5DED9"/>
            </a:solidFill>
            <a:prstDash val="solid"/>
          </a:ln>
        </p:spPr>
      </p:sp>
      <p:sp>
        <p:nvSpPr>
          <p:cNvPr id="43" name="Shape 37"/>
          <p:cNvSpPr/>
          <p:nvPr/>
        </p:nvSpPr>
        <p:spPr>
          <a:xfrm>
            <a:off x="6803136" y="1417320"/>
            <a:ext cx="274320" cy="274320"/>
          </a:xfrm>
          <a:prstGeom prst="ellipse">
            <a:avLst/>
          </a:prstGeom>
          <a:solidFill>
            <a:srgbClr val="00704A"/>
          </a:solidFill>
          <a:ln/>
        </p:spPr>
      </p:sp>
      <p:sp>
        <p:nvSpPr>
          <p:cNvPr id="44" name="Text 38"/>
          <p:cNvSpPr txBox="1"/>
          <p:nvPr/>
        </p:nvSpPr>
        <p:spPr>
          <a:xfrm>
            <a:off x="6803136"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5" name="Text 39"/>
          <p:cNvSpPr txBox="1"/>
          <p:nvPr/>
        </p:nvSpPr>
        <p:spPr>
          <a:xfrm>
            <a:off x="7150608" y="1399032"/>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Who is missing?</a:t>
            </a:r>
            <a:endParaRPr lang="en-US" sz="1150" dirty="0"/>
          </a:p>
        </p:txBody>
      </p:sp>
      <p:sp>
        <p:nvSpPr>
          <p:cNvPr id="46" name="Text 40"/>
          <p:cNvSpPr txBox="1"/>
          <p:nvPr/>
        </p:nvSpPr>
        <p:spPr>
          <a:xfrm>
            <a:off x="6821424" y="1764792"/>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Coverage gaps and self-selection</a:t>
            </a:r>
            <a:endParaRPr lang="en-US" sz="950" dirty="0"/>
          </a:p>
        </p:txBody>
      </p:sp>
      <p:pic>
        <p:nvPicPr>
          <p:cNvPr id="47" name="Image 3" descr="preencoded.png">    </p:cNvPr>
          <p:cNvPicPr>
            <a:picLocks noChangeAspect="1"/>
          </p:cNvPicPr>
          <p:nvPr/>
        </p:nvPicPr>
        <p:blipFill>
          <a:blip r:embed="rId4"/>
          <a:stretch>
            <a:fillRect/>
          </a:stretch>
        </p:blipFill>
        <p:spPr>
          <a:xfrm>
            <a:off x="8129016" y="2286000"/>
            <a:ext cx="411480" cy="411480"/>
          </a:xfrm>
          <a:prstGeom prst="rect">
            <a:avLst/>
          </a:prstGeom>
        </p:spPr>
      </p:pic>
      <p:sp>
        <p:nvSpPr>
          <p:cNvPr id="48" name="Shape 41"/>
          <p:cNvSpPr/>
          <p:nvPr/>
        </p:nvSpPr>
        <p:spPr>
          <a:xfrm>
            <a:off x="6821424" y="2350008"/>
            <a:ext cx="1188720" cy="0"/>
          </a:xfrm>
          <a:prstGeom prst="line">
            <a:avLst/>
          </a:prstGeom>
          <a:noFill/>
          <a:ln w="9525">
            <a:solidFill>
              <a:srgbClr val="D5DED9"/>
            </a:solidFill>
            <a:prstDash val="dash"/>
          </a:ln>
        </p:spPr>
      </p:sp>
      <p:sp>
        <p:nvSpPr>
          <p:cNvPr id="49" name="Shape 42"/>
          <p:cNvSpPr/>
          <p:nvPr/>
        </p:nvSpPr>
        <p:spPr>
          <a:xfrm>
            <a:off x="6821424" y="2551176"/>
            <a:ext cx="1188720" cy="0"/>
          </a:xfrm>
          <a:prstGeom prst="line">
            <a:avLst/>
          </a:prstGeom>
          <a:noFill/>
          <a:ln w="9525">
            <a:solidFill>
              <a:srgbClr val="D5DED9"/>
            </a:solidFill>
            <a:prstDash val="dash"/>
          </a:ln>
        </p:spPr>
      </p:sp>
      <p:sp>
        <p:nvSpPr>
          <p:cNvPr id="50" name="Shape 43"/>
          <p:cNvSpPr/>
          <p:nvPr/>
        </p:nvSpPr>
        <p:spPr>
          <a:xfrm>
            <a:off x="457200" y="2944368"/>
            <a:ext cx="1975104" cy="1508760"/>
          </a:xfrm>
          <a:prstGeom prst="roundRect">
            <a:avLst>
              <a:gd name="adj" fmla="val 4848"/>
            </a:avLst>
          </a:prstGeom>
          <a:solidFill>
            <a:srgbClr val="FFFFFF"/>
          </a:solidFill>
          <a:ln w="9525">
            <a:solidFill>
              <a:srgbClr val="D5DED9"/>
            </a:solidFill>
            <a:prstDash val="solid"/>
          </a:ln>
        </p:spPr>
      </p:sp>
      <p:sp>
        <p:nvSpPr>
          <p:cNvPr id="51" name="Shape 44"/>
          <p:cNvSpPr/>
          <p:nvPr/>
        </p:nvSpPr>
        <p:spPr>
          <a:xfrm>
            <a:off x="548640" y="3035808"/>
            <a:ext cx="274320" cy="274320"/>
          </a:xfrm>
          <a:prstGeom prst="ellipse">
            <a:avLst/>
          </a:prstGeom>
          <a:solidFill>
            <a:srgbClr val="00704A"/>
          </a:solidFill>
          <a:ln/>
        </p:spPr>
      </p:sp>
      <p:sp>
        <p:nvSpPr>
          <p:cNvPr id="52" name="Text 45"/>
          <p:cNvSpPr txBox="1"/>
          <p:nvPr/>
        </p:nvSpPr>
        <p:spPr>
          <a:xfrm>
            <a:off x="548640"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3" name="Text 46"/>
          <p:cNvSpPr txBox="1"/>
          <p:nvPr/>
        </p:nvSpPr>
        <p:spPr>
          <a:xfrm>
            <a:off x="896112" y="3017520"/>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Access model</a:t>
            </a:r>
            <a:endParaRPr lang="en-US" sz="1150" dirty="0"/>
          </a:p>
        </p:txBody>
      </p:sp>
      <p:sp>
        <p:nvSpPr>
          <p:cNvPr id="54" name="Text 47"/>
          <p:cNvSpPr txBox="1"/>
          <p:nvPr/>
        </p:nvSpPr>
        <p:spPr>
          <a:xfrm>
            <a:off x="566928" y="3383280"/>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Open, purchase, agreement, collaborative, law</a:t>
            </a:r>
            <a:endParaRPr lang="en-US" sz="950" dirty="0"/>
          </a:p>
        </p:txBody>
      </p:sp>
      <p:pic>
        <p:nvPicPr>
          <p:cNvPr id="55" name="Image 4" descr="preencoded.png">    </p:cNvPr>
          <p:cNvPicPr>
            <a:picLocks noChangeAspect="1"/>
          </p:cNvPicPr>
          <p:nvPr/>
        </p:nvPicPr>
        <p:blipFill>
          <a:blip r:embed="rId5"/>
          <a:stretch>
            <a:fillRect/>
          </a:stretch>
        </p:blipFill>
        <p:spPr>
          <a:xfrm>
            <a:off x="1874520" y="3904488"/>
            <a:ext cx="411480" cy="411480"/>
          </a:xfrm>
          <a:prstGeom prst="rect">
            <a:avLst/>
          </a:prstGeom>
        </p:spPr>
      </p:pic>
      <p:sp>
        <p:nvSpPr>
          <p:cNvPr id="56" name="Shape 48"/>
          <p:cNvSpPr/>
          <p:nvPr/>
        </p:nvSpPr>
        <p:spPr>
          <a:xfrm>
            <a:off x="566928" y="3968496"/>
            <a:ext cx="1188720" cy="0"/>
          </a:xfrm>
          <a:prstGeom prst="line">
            <a:avLst/>
          </a:prstGeom>
          <a:noFill/>
          <a:ln w="9525">
            <a:solidFill>
              <a:srgbClr val="D5DED9"/>
            </a:solidFill>
            <a:prstDash val="dash"/>
          </a:ln>
        </p:spPr>
      </p:sp>
      <p:sp>
        <p:nvSpPr>
          <p:cNvPr id="57" name="Shape 49"/>
          <p:cNvSpPr/>
          <p:nvPr/>
        </p:nvSpPr>
        <p:spPr>
          <a:xfrm>
            <a:off x="566928" y="4169664"/>
            <a:ext cx="1188720" cy="0"/>
          </a:xfrm>
          <a:prstGeom prst="line">
            <a:avLst/>
          </a:prstGeom>
          <a:noFill/>
          <a:ln w="9525">
            <a:solidFill>
              <a:srgbClr val="D5DED9"/>
            </a:solidFill>
            <a:prstDash val="dash"/>
          </a:ln>
        </p:spPr>
      </p:sp>
      <p:sp>
        <p:nvSpPr>
          <p:cNvPr id="58" name="Shape 50"/>
          <p:cNvSpPr/>
          <p:nvPr/>
        </p:nvSpPr>
        <p:spPr>
          <a:xfrm>
            <a:off x="2542032" y="2944368"/>
            <a:ext cx="1975104" cy="1508760"/>
          </a:xfrm>
          <a:prstGeom prst="roundRect">
            <a:avLst>
              <a:gd name="adj" fmla="val 4848"/>
            </a:avLst>
          </a:prstGeom>
          <a:solidFill>
            <a:srgbClr val="FFFFFF"/>
          </a:solidFill>
          <a:ln w="9525">
            <a:solidFill>
              <a:srgbClr val="D5DED9"/>
            </a:solidFill>
            <a:prstDash val="solid"/>
          </a:ln>
        </p:spPr>
      </p:sp>
      <p:sp>
        <p:nvSpPr>
          <p:cNvPr id="59" name="Shape 51"/>
          <p:cNvSpPr/>
          <p:nvPr/>
        </p:nvSpPr>
        <p:spPr>
          <a:xfrm>
            <a:off x="2633472" y="3035808"/>
            <a:ext cx="274320" cy="274320"/>
          </a:xfrm>
          <a:prstGeom prst="ellipse">
            <a:avLst/>
          </a:prstGeom>
          <a:solidFill>
            <a:srgbClr val="00704A"/>
          </a:solidFill>
          <a:ln/>
        </p:spPr>
      </p:sp>
      <p:sp>
        <p:nvSpPr>
          <p:cNvPr id="60" name="Text 52"/>
          <p:cNvSpPr txBox="1"/>
          <p:nvPr/>
        </p:nvSpPr>
        <p:spPr>
          <a:xfrm>
            <a:off x="2633472"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61" name="Text 53"/>
          <p:cNvSpPr txBox="1"/>
          <p:nvPr/>
        </p:nvSpPr>
        <p:spPr>
          <a:xfrm>
            <a:off x="2980944" y="3017520"/>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Legal &amp; ethical risk</a:t>
            </a:r>
            <a:endParaRPr lang="en-US" sz="1150" dirty="0"/>
          </a:p>
        </p:txBody>
      </p:sp>
      <p:sp>
        <p:nvSpPr>
          <p:cNvPr id="62" name="Text 54"/>
          <p:cNvSpPr txBox="1"/>
          <p:nvPr/>
        </p:nvSpPr>
        <p:spPr>
          <a:xfrm>
            <a:off x="2651760" y="3383280"/>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Lawful basis, re-identification, group harm</a:t>
            </a:r>
            <a:endParaRPr lang="en-US" sz="950" dirty="0"/>
          </a:p>
        </p:txBody>
      </p:sp>
      <p:pic>
        <p:nvPicPr>
          <p:cNvPr id="63" name="Image 5" descr="preencoded.png">    </p:cNvPr>
          <p:cNvPicPr>
            <a:picLocks noChangeAspect="1"/>
          </p:cNvPicPr>
          <p:nvPr/>
        </p:nvPicPr>
        <p:blipFill>
          <a:blip r:embed="rId6"/>
          <a:stretch>
            <a:fillRect/>
          </a:stretch>
        </p:blipFill>
        <p:spPr>
          <a:xfrm>
            <a:off x="3959352" y="3904488"/>
            <a:ext cx="411480" cy="411480"/>
          </a:xfrm>
          <a:prstGeom prst="rect">
            <a:avLst/>
          </a:prstGeom>
        </p:spPr>
      </p:pic>
      <p:sp>
        <p:nvSpPr>
          <p:cNvPr id="64" name="Shape 55"/>
          <p:cNvSpPr/>
          <p:nvPr/>
        </p:nvSpPr>
        <p:spPr>
          <a:xfrm>
            <a:off x="2651760" y="3968496"/>
            <a:ext cx="1188720" cy="0"/>
          </a:xfrm>
          <a:prstGeom prst="line">
            <a:avLst/>
          </a:prstGeom>
          <a:noFill/>
          <a:ln w="9525">
            <a:solidFill>
              <a:srgbClr val="D5DED9"/>
            </a:solidFill>
            <a:prstDash val="dash"/>
          </a:ln>
        </p:spPr>
      </p:sp>
      <p:sp>
        <p:nvSpPr>
          <p:cNvPr id="65" name="Shape 56"/>
          <p:cNvSpPr/>
          <p:nvPr/>
        </p:nvSpPr>
        <p:spPr>
          <a:xfrm>
            <a:off x="2651760" y="4169664"/>
            <a:ext cx="1188720" cy="0"/>
          </a:xfrm>
          <a:prstGeom prst="line">
            <a:avLst/>
          </a:prstGeom>
          <a:noFill/>
          <a:ln w="9525">
            <a:solidFill>
              <a:srgbClr val="D5DED9"/>
            </a:solidFill>
            <a:prstDash val="dash"/>
          </a:ln>
        </p:spPr>
      </p:sp>
      <p:sp>
        <p:nvSpPr>
          <p:cNvPr id="66" name="Shape 57"/>
          <p:cNvSpPr/>
          <p:nvPr/>
        </p:nvSpPr>
        <p:spPr>
          <a:xfrm>
            <a:off x="4626864" y="2944368"/>
            <a:ext cx="1975104" cy="1508760"/>
          </a:xfrm>
          <a:prstGeom prst="roundRect">
            <a:avLst>
              <a:gd name="adj" fmla="val 4848"/>
            </a:avLst>
          </a:prstGeom>
          <a:solidFill>
            <a:srgbClr val="FFFFFF"/>
          </a:solidFill>
          <a:ln w="9525">
            <a:solidFill>
              <a:srgbClr val="D5DED9"/>
            </a:solidFill>
            <a:prstDash val="solid"/>
          </a:ln>
        </p:spPr>
      </p:sp>
      <p:sp>
        <p:nvSpPr>
          <p:cNvPr id="67" name="Shape 58"/>
          <p:cNvSpPr/>
          <p:nvPr/>
        </p:nvSpPr>
        <p:spPr>
          <a:xfrm>
            <a:off x="4718304" y="3035808"/>
            <a:ext cx="274320" cy="274320"/>
          </a:xfrm>
          <a:prstGeom prst="ellipse">
            <a:avLst/>
          </a:prstGeom>
          <a:solidFill>
            <a:srgbClr val="00704A"/>
          </a:solidFill>
          <a:ln/>
        </p:spPr>
      </p:sp>
      <p:sp>
        <p:nvSpPr>
          <p:cNvPr id="68" name="Text 59"/>
          <p:cNvSpPr txBox="1"/>
          <p:nvPr/>
        </p:nvSpPr>
        <p:spPr>
          <a:xfrm>
            <a:off x="4718304"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69" name="Text 60"/>
          <p:cNvSpPr txBox="1"/>
          <p:nvPr/>
        </p:nvSpPr>
        <p:spPr>
          <a:xfrm>
            <a:off x="5065776" y="3017520"/>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Validation</a:t>
            </a:r>
            <a:endParaRPr lang="en-US" sz="1150" dirty="0"/>
          </a:p>
        </p:txBody>
      </p:sp>
      <p:sp>
        <p:nvSpPr>
          <p:cNvPr id="70" name="Text 61"/>
          <p:cNvSpPr txBox="1"/>
          <p:nvPr/>
        </p:nvSpPr>
        <p:spPr>
          <a:xfrm>
            <a:off x="4736592" y="3383280"/>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Gold standard to compare against</a:t>
            </a:r>
            <a:endParaRPr lang="en-US" sz="950" dirty="0"/>
          </a:p>
        </p:txBody>
      </p:sp>
      <p:pic>
        <p:nvPicPr>
          <p:cNvPr id="71" name="Image 6" descr="preencoded.png">    </p:cNvPr>
          <p:cNvPicPr>
            <a:picLocks noChangeAspect="1"/>
          </p:cNvPicPr>
          <p:nvPr/>
        </p:nvPicPr>
        <p:blipFill>
          <a:blip r:embed="rId7"/>
          <a:stretch>
            <a:fillRect/>
          </a:stretch>
        </p:blipFill>
        <p:spPr>
          <a:xfrm>
            <a:off x="6044184" y="3904488"/>
            <a:ext cx="411480" cy="411480"/>
          </a:xfrm>
          <a:prstGeom prst="rect">
            <a:avLst/>
          </a:prstGeom>
        </p:spPr>
      </p:pic>
      <p:sp>
        <p:nvSpPr>
          <p:cNvPr id="72" name="Shape 62"/>
          <p:cNvSpPr/>
          <p:nvPr/>
        </p:nvSpPr>
        <p:spPr>
          <a:xfrm>
            <a:off x="4736592" y="3968496"/>
            <a:ext cx="1188720" cy="0"/>
          </a:xfrm>
          <a:prstGeom prst="line">
            <a:avLst/>
          </a:prstGeom>
          <a:noFill/>
          <a:ln w="9525">
            <a:solidFill>
              <a:srgbClr val="D5DED9"/>
            </a:solidFill>
            <a:prstDash val="dash"/>
          </a:ln>
        </p:spPr>
      </p:sp>
      <p:sp>
        <p:nvSpPr>
          <p:cNvPr id="73" name="Shape 63"/>
          <p:cNvSpPr/>
          <p:nvPr/>
        </p:nvSpPr>
        <p:spPr>
          <a:xfrm>
            <a:off x="4736592" y="4169664"/>
            <a:ext cx="1188720" cy="0"/>
          </a:xfrm>
          <a:prstGeom prst="line">
            <a:avLst/>
          </a:prstGeom>
          <a:noFill/>
          <a:ln w="9525">
            <a:solidFill>
              <a:srgbClr val="D5DED9"/>
            </a:solidFill>
            <a:prstDash val="dash"/>
          </a:ln>
        </p:spPr>
      </p:sp>
      <p:sp>
        <p:nvSpPr>
          <p:cNvPr id="74" name="Shape 64"/>
          <p:cNvSpPr/>
          <p:nvPr/>
        </p:nvSpPr>
        <p:spPr>
          <a:xfrm>
            <a:off x="6711696" y="2944368"/>
            <a:ext cx="1975104" cy="1508760"/>
          </a:xfrm>
          <a:prstGeom prst="roundRect">
            <a:avLst>
              <a:gd name="adj" fmla="val 4848"/>
            </a:avLst>
          </a:prstGeom>
          <a:solidFill>
            <a:srgbClr val="E8F5EF"/>
          </a:solidFill>
          <a:ln w="15875">
            <a:solidFill>
              <a:srgbClr val="B83B2E"/>
            </a:solidFill>
            <a:prstDash val="solid"/>
          </a:ln>
        </p:spPr>
      </p:sp>
      <p:sp>
        <p:nvSpPr>
          <p:cNvPr id="75" name="Shape 65"/>
          <p:cNvSpPr/>
          <p:nvPr/>
        </p:nvSpPr>
        <p:spPr>
          <a:xfrm>
            <a:off x="6803136" y="3035808"/>
            <a:ext cx="274320" cy="274320"/>
          </a:xfrm>
          <a:prstGeom prst="ellipse">
            <a:avLst/>
          </a:prstGeom>
          <a:solidFill>
            <a:srgbClr val="B83B2E"/>
          </a:solidFill>
          <a:ln/>
        </p:spPr>
      </p:sp>
      <p:sp>
        <p:nvSpPr>
          <p:cNvPr id="76" name="Text 66"/>
          <p:cNvSpPr txBox="1"/>
          <p:nvPr/>
        </p:nvSpPr>
        <p:spPr>
          <a:xfrm>
            <a:off x="6803136"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77" name="Text 67"/>
          <p:cNvSpPr txBox="1"/>
          <p:nvPr/>
        </p:nvSpPr>
        <p:spPr>
          <a:xfrm>
            <a:off x="7150608" y="3017520"/>
            <a:ext cx="1481328" cy="310896"/>
          </a:xfrm>
          <a:prstGeom prst="rect">
            <a:avLst/>
          </a:prstGeom>
          <a:noFill/>
          <a:ln/>
        </p:spPr>
        <p:txBody>
          <a:bodyPr wrap="square" lIns="0" tIns="0" rIns="0" bIns="0" rtlCol="0" anchor="ctr"/>
          <a:lstStyle/>
          <a:p>
            <a:pPr indent="0" marL="0">
              <a:buNone/>
            </a:pPr>
            <a:r>
              <a:rPr lang="en-US" sz="1150" b="1" dirty="0">
                <a:solidFill>
                  <a:srgbClr val="B83B2E"/>
                </a:solidFill>
                <a:latin typeface="Calibri" pitchFamily="34" charset="0"/>
                <a:ea typeface="Calibri" pitchFamily="34" charset="-122"/>
                <a:cs typeface="Calibri" pitchFamily="34" charset="-120"/>
              </a:rPr>
              <a:t>Verdict</a:t>
            </a:r>
            <a:endParaRPr lang="en-US" sz="1150" dirty="0"/>
          </a:p>
        </p:txBody>
      </p:sp>
      <p:sp>
        <p:nvSpPr>
          <p:cNvPr id="78" name="Text 68"/>
          <p:cNvSpPr txBox="1"/>
          <p:nvPr/>
        </p:nvSpPr>
        <p:spPr>
          <a:xfrm>
            <a:off x="6821424" y="3383280"/>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Publish · diagnose only · not fit — why?</a:t>
            </a:r>
            <a:endParaRPr lang="en-US" sz="950" dirty="0"/>
          </a:p>
        </p:txBody>
      </p:sp>
      <p:pic>
        <p:nvPicPr>
          <p:cNvPr id="79" name="Image 7" descr="preencoded.png">    </p:cNvPr>
          <p:cNvPicPr>
            <a:picLocks noChangeAspect="1"/>
          </p:cNvPicPr>
          <p:nvPr/>
        </p:nvPicPr>
        <p:blipFill>
          <a:blip r:embed="rId8"/>
          <a:stretch>
            <a:fillRect/>
          </a:stretch>
        </p:blipFill>
        <p:spPr>
          <a:xfrm>
            <a:off x="8129016" y="3904488"/>
            <a:ext cx="411480" cy="411480"/>
          </a:xfrm>
          <a:prstGeom prst="rect">
            <a:avLst/>
          </a:prstGeom>
        </p:spPr>
      </p:pic>
      <p:sp>
        <p:nvSpPr>
          <p:cNvPr id="80" name="Shape 69"/>
          <p:cNvSpPr/>
          <p:nvPr/>
        </p:nvSpPr>
        <p:spPr>
          <a:xfrm>
            <a:off x="6821424" y="3968496"/>
            <a:ext cx="1188720" cy="0"/>
          </a:xfrm>
          <a:prstGeom prst="line">
            <a:avLst/>
          </a:prstGeom>
          <a:noFill/>
          <a:ln w="9525">
            <a:solidFill>
              <a:srgbClr val="D5DED9"/>
            </a:solidFill>
            <a:prstDash val="dash"/>
          </a:ln>
        </p:spPr>
      </p:sp>
      <p:sp>
        <p:nvSpPr>
          <p:cNvPr id="81" name="Shape 70"/>
          <p:cNvSpPr/>
          <p:nvPr/>
        </p:nvSpPr>
        <p:spPr>
          <a:xfrm>
            <a:off x="6821424" y="4169664"/>
            <a:ext cx="1188720" cy="0"/>
          </a:xfrm>
          <a:prstGeom prst="line">
            <a:avLst/>
          </a:prstGeom>
          <a:noFill/>
          <a:ln w="9525">
            <a:solidFill>
              <a:srgbClr val="D5DED9"/>
            </a:solidFill>
            <a:prstDash val="dash"/>
          </a:ln>
        </p:spPr>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LABORATORY · WORKED EXAMPLE</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Worked example: scenario A — connectivity by region</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An illustrative filled canvas, to be refined in the Ookla laboratory after the break.</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B83B2E"/>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38</a:t>
            </a:r>
            <a:endParaRPr lang="en-US" sz="850" dirty="0"/>
          </a:p>
        </p:txBody>
      </p:sp>
      <p:sp>
        <p:nvSpPr>
          <p:cNvPr id="18" name="Shape 15"/>
          <p:cNvSpPr/>
          <p:nvPr/>
        </p:nvSpPr>
        <p:spPr>
          <a:xfrm>
            <a:off x="457200" y="1325880"/>
            <a:ext cx="1975104" cy="1508760"/>
          </a:xfrm>
          <a:prstGeom prst="roundRect">
            <a:avLst>
              <a:gd name="adj" fmla="val 4848"/>
            </a:avLst>
          </a:prstGeom>
          <a:solidFill>
            <a:srgbClr val="FFFFFF"/>
          </a:solidFill>
          <a:ln w="9525">
            <a:solidFill>
              <a:srgbClr val="D5DED9"/>
            </a:solidFill>
            <a:prstDash val="solid"/>
          </a:ln>
        </p:spPr>
      </p:sp>
      <p:sp>
        <p:nvSpPr>
          <p:cNvPr id="19" name="Shape 16"/>
          <p:cNvSpPr/>
          <p:nvPr/>
        </p:nvSpPr>
        <p:spPr>
          <a:xfrm>
            <a:off x="548640" y="1417320"/>
            <a:ext cx="274320" cy="274320"/>
          </a:xfrm>
          <a:prstGeom prst="ellipse">
            <a:avLst/>
          </a:prstGeom>
          <a:solidFill>
            <a:srgbClr val="00704A"/>
          </a:solidFill>
          <a:ln/>
        </p:spPr>
      </p:sp>
      <p:sp>
        <p:nvSpPr>
          <p:cNvPr id="20" name="Text 17"/>
          <p:cNvSpPr txBox="1"/>
          <p:nvPr/>
        </p:nvSpPr>
        <p:spPr>
          <a:xfrm>
            <a:off x="548640"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txBox="1"/>
          <p:nvPr/>
        </p:nvSpPr>
        <p:spPr>
          <a:xfrm>
            <a:off x="896112" y="1399032"/>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Policy question</a:t>
            </a:r>
            <a:endParaRPr lang="en-US" sz="1150" dirty="0"/>
          </a:p>
        </p:txBody>
      </p:sp>
      <p:sp>
        <p:nvSpPr>
          <p:cNvPr id="22" name="Text 19"/>
          <p:cNvSpPr txBox="1"/>
          <p:nvPr/>
        </p:nvSpPr>
        <p:spPr>
          <a:xfrm>
            <a:off x="566928" y="1783080"/>
            <a:ext cx="1773936" cy="100584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Ministry of ICT: quarterly internet quality by region, to target investment.</a:t>
            </a:r>
            <a:endParaRPr lang="en-US" sz="1050" dirty="0"/>
          </a:p>
        </p:txBody>
      </p:sp>
      <p:sp>
        <p:nvSpPr>
          <p:cNvPr id="23" name="Shape 20"/>
          <p:cNvSpPr/>
          <p:nvPr/>
        </p:nvSpPr>
        <p:spPr>
          <a:xfrm>
            <a:off x="2542032" y="1325880"/>
            <a:ext cx="1975104" cy="1508760"/>
          </a:xfrm>
          <a:prstGeom prst="roundRect">
            <a:avLst>
              <a:gd name="adj" fmla="val 4848"/>
            </a:avLst>
          </a:prstGeom>
          <a:solidFill>
            <a:srgbClr val="FFFFFF"/>
          </a:solidFill>
          <a:ln w="9525">
            <a:solidFill>
              <a:srgbClr val="D5DED9"/>
            </a:solidFill>
            <a:prstDash val="solid"/>
          </a:ln>
        </p:spPr>
      </p:sp>
      <p:sp>
        <p:nvSpPr>
          <p:cNvPr id="24" name="Shape 21"/>
          <p:cNvSpPr/>
          <p:nvPr/>
        </p:nvSpPr>
        <p:spPr>
          <a:xfrm>
            <a:off x="2633472" y="1417320"/>
            <a:ext cx="274320" cy="274320"/>
          </a:xfrm>
          <a:prstGeom prst="ellipse">
            <a:avLst/>
          </a:prstGeom>
          <a:solidFill>
            <a:srgbClr val="00704A"/>
          </a:solidFill>
          <a:ln/>
        </p:spPr>
      </p:sp>
      <p:sp>
        <p:nvSpPr>
          <p:cNvPr id="25" name="Text 22"/>
          <p:cNvSpPr txBox="1"/>
          <p:nvPr/>
        </p:nvSpPr>
        <p:spPr>
          <a:xfrm>
            <a:off x="2633472"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6" name="Text 23"/>
          <p:cNvSpPr txBox="1"/>
          <p:nvPr/>
        </p:nvSpPr>
        <p:spPr>
          <a:xfrm>
            <a:off x="2980944" y="1399032"/>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Target concept</a:t>
            </a:r>
            <a:endParaRPr lang="en-US" sz="1150" dirty="0"/>
          </a:p>
        </p:txBody>
      </p:sp>
      <p:sp>
        <p:nvSpPr>
          <p:cNvPr id="27" name="Text 24"/>
          <p:cNvSpPr txBox="1"/>
          <p:nvPr/>
        </p:nvSpPr>
        <p:spPr>
          <a:xfrm>
            <a:off x="2651760" y="1783080"/>
            <a:ext cx="1773936" cy="100584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Quality of mobile internet experienced by the population of each region.</a:t>
            </a:r>
            <a:endParaRPr lang="en-US" sz="1050" dirty="0"/>
          </a:p>
        </p:txBody>
      </p:sp>
      <p:sp>
        <p:nvSpPr>
          <p:cNvPr id="28" name="Shape 25"/>
          <p:cNvSpPr/>
          <p:nvPr/>
        </p:nvSpPr>
        <p:spPr>
          <a:xfrm>
            <a:off x="4626864" y="1325880"/>
            <a:ext cx="1975104" cy="1508760"/>
          </a:xfrm>
          <a:prstGeom prst="roundRect">
            <a:avLst>
              <a:gd name="adj" fmla="val 4848"/>
            </a:avLst>
          </a:prstGeom>
          <a:solidFill>
            <a:srgbClr val="FFFFFF"/>
          </a:solidFill>
          <a:ln w="9525">
            <a:solidFill>
              <a:srgbClr val="D5DED9"/>
            </a:solidFill>
            <a:prstDash val="solid"/>
          </a:ln>
        </p:spPr>
      </p:sp>
      <p:sp>
        <p:nvSpPr>
          <p:cNvPr id="29" name="Shape 26"/>
          <p:cNvSpPr/>
          <p:nvPr/>
        </p:nvSpPr>
        <p:spPr>
          <a:xfrm>
            <a:off x="4718304" y="1417320"/>
            <a:ext cx="274320" cy="274320"/>
          </a:xfrm>
          <a:prstGeom prst="ellipse">
            <a:avLst/>
          </a:prstGeom>
          <a:solidFill>
            <a:srgbClr val="00704A"/>
          </a:solidFill>
          <a:ln/>
        </p:spPr>
      </p:sp>
      <p:sp>
        <p:nvSpPr>
          <p:cNvPr id="30" name="Text 27"/>
          <p:cNvSpPr txBox="1"/>
          <p:nvPr/>
        </p:nvSpPr>
        <p:spPr>
          <a:xfrm>
            <a:off x="4718304"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1" name="Text 28"/>
          <p:cNvSpPr txBox="1"/>
          <p:nvPr/>
        </p:nvSpPr>
        <p:spPr>
          <a:xfrm>
            <a:off x="5065776" y="1399032"/>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Proxy &amp; source</a:t>
            </a:r>
            <a:endParaRPr lang="en-US" sz="1150" dirty="0"/>
          </a:p>
        </p:txBody>
      </p:sp>
      <p:sp>
        <p:nvSpPr>
          <p:cNvPr id="32" name="Text 29"/>
          <p:cNvSpPr txBox="1"/>
          <p:nvPr/>
        </p:nvSpPr>
        <p:spPr>
          <a:xfrm>
            <a:off x="4736592" y="1783080"/>
            <a:ext cx="1773936" cy="100584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Ookla tile averages (speed, latency, tests, devices), quarterly, ~611 m.</a:t>
            </a:r>
            <a:endParaRPr lang="en-US" sz="1050" dirty="0"/>
          </a:p>
        </p:txBody>
      </p:sp>
      <p:sp>
        <p:nvSpPr>
          <p:cNvPr id="33" name="Shape 30"/>
          <p:cNvSpPr/>
          <p:nvPr/>
        </p:nvSpPr>
        <p:spPr>
          <a:xfrm>
            <a:off x="6711696" y="1325880"/>
            <a:ext cx="1975104" cy="1508760"/>
          </a:xfrm>
          <a:prstGeom prst="roundRect">
            <a:avLst>
              <a:gd name="adj" fmla="val 4848"/>
            </a:avLst>
          </a:prstGeom>
          <a:solidFill>
            <a:srgbClr val="FFFFFF"/>
          </a:solidFill>
          <a:ln w="9525">
            <a:solidFill>
              <a:srgbClr val="D5DED9"/>
            </a:solidFill>
            <a:prstDash val="solid"/>
          </a:ln>
        </p:spPr>
      </p:sp>
      <p:sp>
        <p:nvSpPr>
          <p:cNvPr id="34" name="Shape 31"/>
          <p:cNvSpPr/>
          <p:nvPr/>
        </p:nvSpPr>
        <p:spPr>
          <a:xfrm>
            <a:off x="6803136" y="1417320"/>
            <a:ext cx="274320" cy="274320"/>
          </a:xfrm>
          <a:prstGeom prst="ellipse">
            <a:avLst/>
          </a:prstGeom>
          <a:solidFill>
            <a:srgbClr val="00704A"/>
          </a:solidFill>
          <a:ln/>
        </p:spPr>
      </p:sp>
      <p:sp>
        <p:nvSpPr>
          <p:cNvPr id="35" name="Text 32"/>
          <p:cNvSpPr txBox="1"/>
          <p:nvPr/>
        </p:nvSpPr>
        <p:spPr>
          <a:xfrm>
            <a:off x="6803136"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6" name="Text 33"/>
          <p:cNvSpPr txBox="1"/>
          <p:nvPr/>
        </p:nvSpPr>
        <p:spPr>
          <a:xfrm>
            <a:off x="7150608" y="1399032"/>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Who is missing?</a:t>
            </a:r>
            <a:endParaRPr lang="en-US" sz="1150" dirty="0"/>
          </a:p>
        </p:txBody>
      </p:sp>
      <p:sp>
        <p:nvSpPr>
          <p:cNvPr id="37" name="Text 34"/>
          <p:cNvSpPr txBox="1"/>
          <p:nvPr/>
        </p:nvSpPr>
        <p:spPr>
          <a:xfrm>
            <a:off x="6821424" y="1783080"/>
            <a:ext cx="1773936" cy="100584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Rural and non-smartphone users; tiles with no tests; testers who test when slow.</a:t>
            </a:r>
            <a:endParaRPr lang="en-US" sz="1050" dirty="0"/>
          </a:p>
        </p:txBody>
      </p:sp>
      <p:sp>
        <p:nvSpPr>
          <p:cNvPr id="38" name="Shape 35"/>
          <p:cNvSpPr/>
          <p:nvPr/>
        </p:nvSpPr>
        <p:spPr>
          <a:xfrm>
            <a:off x="457200" y="2944368"/>
            <a:ext cx="1975104" cy="1508760"/>
          </a:xfrm>
          <a:prstGeom prst="roundRect">
            <a:avLst>
              <a:gd name="adj" fmla="val 4848"/>
            </a:avLst>
          </a:prstGeom>
          <a:solidFill>
            <a:srgbClr val="FFFFFF"/>
          </a:solidFill>
          <a:ln w="9525">
            <a:solidFill>
              <a:srgbClr val="D5DED9"/>
            </a:solidFill>
            <a:prstDash val="solid"/>
          </a:ln>
        </p:spPr>
      </p:sp>
      <p:sp>
        <p:nvSpPr>
          <p:cNvPr id="39" name="Shape 36"/>
          <p:cNvSpPr/>
          <p:nvPr/>
        </p:nvSpPr>
        <p:spPr>
          <a:xfrm>
            <a:off x="548640" y="3035808"/>
            <a:ext cx="274320" cy="274320"/>
          </a:xfrm>
          <a:prstGeom prst="ellipse">
            <a:avLst/>
          </a:prstGeom>
          <a:solidFill>
            <a:srgbClr val="00704A"/>
          </a:solidFill>
          <a:ln/>
        </p:spPr>
      </p:sp>
      <p:sp>
        <p:nvSpPr>
          <p:cNvPr id="40" name="Text 37"/>
          <p:cNvSpPr txBox="1"/>
          <p:nvPr/>
        </p:nvSpPr>
        <p:spPr>
          <a:xfrm>
            <a:off x="548640"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1" name="Text 38"/>
          <p:cNvSpPr txBox="1"/>
          <p:nvPr/>
        </p:nvSpPr>
        <p:spPr>
          <a:xfrm>
            <a:off x="896112" y="3017520"/>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Access model</a:t>
            </a:r>
            <a:endParaRPr lang="en-US" sz="1150" dirty="0"/>
          </a:p>
        </p:txBody>
      </p:sp>
      <p:sp>
        <p:nvSpPr>
          <p:cNvPr id="42" name="Text 39"/>
          <p:cNvSpPr txBox="1"/>
          <p:nvPr/>
        </p:nvSpPr>
        <p:spPr>
          <a:xfrm>
            <a:off x="566928" y="3401568"/>
            <a:ext cx="1773936" cy="100584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Open data (CC BY-NC-SA 4.0) — no negotiation; licence terms respected.</a:t>
            </a:r>
            <a:endParaRPr lang="en-US" sz="1050" dirty="0"/>
          </a:p>
        </p:txBody>
      </p:sp>
      <p:sp>
        <p:nvSpPr>
          <p:cNvPr id="43" name="Shape 40"/>
          <p:cNvSpPr/>
          <p:nvPr/>
        </p:nvSpPr>
        <p:spPr>
          <a:xfrm>
            <a:off x="2542032" y="2944368"/>
            <a:ext cx="1975104" cy="1508760"/>
          </a:xfrm>
          <a:prstGeom prst="roundRect">
            <a:avLst>
              <a:gd name="adj" fmla="val 4848"/>
            </a:avLst>
          </a:prstGeom>
          <a:solidFill>
            <a:srgbClr val="FFFFFF"/>
          </a:solidFill>
          <a:ln w="9525">
            <a:solidFill>
              <a:srgbClr val="D5DED9"/>
            </a:solidFill>
            <a:prstDash val="solid"/>
          </a:ln>
        </p:spPr>
      </p:sp>
      <p:sp>
        <p:nvSpPr>
          <p:cNvPr id="44" name="Shape 41"/>
          <p:cNvSpPr/>
          <p:nvPr/>
        </p:nvSpPr>
        <p:spPr>
          <a:xfrm>
            <a:off x="2633472" y="3035808"/>
            <a:ext cx="274320" cy="274320"/>
          </a:xfrm>
          <a:prstGeom prst="ellipse">
            <a:avLst/>
          </a:prstGeom>
          <a:solidFill>
            <a:srgbClr val="00704A"/>
          </a:solidFill>
          <a:ln/>
        </p:spPr>
      </p:sp>
      <p:sp>
        <p:nvSpPr>
          <p:cNvPr id="45" name="Text 42"/>
          <p:cNvSpPr txBox="1"/>
          <p:nvPr/>
        </p:nvSpPr>
        <p:spPr>
          <a:xfrm>
            <a:off x="2633472"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6" name="Text 43"/>
          <p:cNvSpPr txBox="1"/>
          <p:nvPr/>
        </p:nvSpPr>
        <p:spPr>
          <a:xfrm>
            <a:off x="2980944" y="3017520"/>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Legal &amp; ethical risk</a:t>
            </a:r>
            <a:endParaRPr lang="en-US" sz="1150" dirty="0"/>
          </a:p>
        </p:txBody>
      </p:sp>
      <p:sp>
        <p:nvSpPr>
          <p:cNvPr id="47" name="Text 44"/>
          <p:cNvSpPr txBox="1"/>
          <p:nvPr/>
        </p:nvSpPr>
        <p:spPr>
          <a:xfrm>
            <a:off x="2651760" y="3401568"/>
            <a:ext cx="1773936" cy="100584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Low: aggregated tiles, no personal data. Attribute Ookla; share-alike outputs.</a:t>
            </a:r>
            <a:endParaRPr lang="en-US" sz="1050" dirty="0"/>
          </a:p>
        </p:txBody>
      </p:sp>
      <p:sp>
        <p:nvSpPr>
          <p:cNvPr id="48" name="Shape 45"/>
          <p:cNvSpPr/>
          <p:nvPr/>
        </p:nvSpPr>
        <p:spPr>
          <a:xfrm>
            <a:off x="4626864" y="2944368"/>
            <a:ext cx="1975104" cy="1508760"/>
          </a:xfrm>
          <a:prstGeom prst="roundRect">
            <a:avLst>
              <a:gd name="adj" fmla="val 4848"/>
            </a:avLst>
          </a:prstGeom>
          <a:solidFill>
            <a:srgbClr val="FFFFFF"/>
          </a:solidFill>
          <a:ln w="9525">
            <a:solidFill>
              <a:srgbClr val="D5DED9"/>
            </a:solidFill>
            <a:prstDash val="solid"/>
          </a:ln>
        </p:spPr>
      </p:sp>
      <p:sp>
        <p:nvSpPr>
          <p:cNvPr id="49" name="Shape 46"/>
          <p:cNvSpPr/>
          <p:nvPr/>
        </p:nvSpPr>
        <p:spPr>
          <a:xfrm>
            <a:off x="4718304" y="3035808"/>
            <a:ext cx="274320" cy="274320"/>
          </a:xfrm>
          <a:prstGeom prst="ellipse">
            <a:avLst/>
          </a:prstGeom>
          <a:solidFill>
            <a:srgbClr val="00704A"/>
          </a:solidFill>
          <a:ln/>
        </p:spPr>
      </p:sp>
      <p:sp>
        <p:nvSpPr>
          <p:cNvPr id="50" name="Text 47"/>
          <p:cNvSpPr txBox="1"/>
          <p:nvPr/>
        </p:nvSpPr>
        <p:spPr>
          <a:xfrm>
            <a:off x="4718304"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51" name="Text 48"/>
          <p:cNvSpPr txBox="1"/>
          <p:nvPr/>
        </p:nvSpPr>
        <p:spPr>
          <a:xfrm>
            <a:off x="5065776" y="3017520"/>
            <a:ext cx="1481328" cy="310896"/>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Validation</a:t>
            </a:r>
            <a:endParaRPr lang="en-US" sz="1150" dirty="0"/>
          </a:p>
        </p:txBody>
      </p:sp>
      <p:sp>
        <p:nvSpPr>
          <p:cNvPr id="52" name="Text 49"/>
          <p:cNvSpPr txBox="1"/>
          <p:nvPr/>
        </p:nvSpPr>
        <p:spPr>
          <a:xfrm>
            <a:off x="4736592" y="3401568"/>
            <a:ext cx="1773936" cy="100584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Census/survey ICT questions; regulator coverage maps; operator KPIs.</a:t>
            </a:r>
            <a:endParaRPr lang="en-US" sz="1050" dirty="0"/>
          </a:p>
        </p:txBody>
      </p:sp>
      <p:sp>
        <p:nvSpPr>
          <p:cNvPr id="53" name="Shape 50"/>
          <p:cNvSpPr/>
          <p:nvPr/>
        </p:nvSpPr>
        <p:spPr>
          <a:xfrm>
            <a:off x="6711696" y="2944368"/>
            <a:ext cx="1975104" cy="1508760"/>
          </a:xfrm>
          <a:prstGeom prst="roundRect">
            <a:avLst>
              <a:gd name="adj" fmla="val 4848"/>
            </a:avLst>
          </a:prstGeom>
          <a:solidFill>
            <a:srgbClr val="E8F5EF"/>
          </a:solidFill>
          <a:ln w="15875">
            <a:solidFill>
              <a:srgbClr val="B83B2E"/>
            </a:solidFill>
            <a:prstDash val="solid"/>
          </a:ln>
        </p:spPr>
      </p:sp>
      <p:sp>
        <p:nvSpPr>
          <p:cNvPr id="54" name="Shape 51"/>
          <p:cNvSpPr/>
          <p:nvPr/>
        </p:nvSpPr>
        <p:spPr>
          <a:xfrm>
            <a:off x="6803136" y="3035808"/>
            <a:ext cx="274320" cy="274320"/>
          </a:xfrm>
          <a:prstGeom prst="ellipse">
            <a:avLst/>
          </a:prstGeom>
          <a:solidFill>
            <a:srgbClr val="B83B2E"/>
          </a:solidFill>
          <a:ln/>
        </p:spPr>
      </p:sp>
      <p:sp>
        <p:nvSpPr>
          <p:cNvPr id="55" name="Text 52"/>
          <p:cNvSpPr txBox="1"/>
          <p:nvPr/>
        </p:nvSpPr>
        <p:spPr>
          <a:xfrm>
            <a:off x="6803136"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56" name="Text 53"/>
          <p:cNvSpPr txBox="1"/>
          <p:nvPr/>
        </p:nvSpPr>
        <p:spPr>
          <a:xfrm>
            <a:off x="7150608" y="3017520"/>
            <a:ext cx="1481328" cy="310896"/>
          </a:xfrm>
          <a:prstGeom prst="rect">
            <a:avLst/>
          </a:prstGeom>
          <a:noFill/>
          <a:ln/>
        </p:spPr>
        <p:txBody>
          <a:bodyPr wrap="square" lIns="0" tIns="0" rIns="0" bIns="0" rtlCol="0" anchor="ctr"/>
          <a:lstStyle/>
          <a:p>
            <a:pPr indent="0" marL="0">
              <a:buNone/>
            </a:pPr>
            <a:r>
              <a:rPr lang="en-US" sz="1150" b="1" dirty="0">
                <a:solidFill>
                  <a:srgbClr val="B83B2E"/>
                </a:solidFill>
                <a:latin typeface="Calibri" pitchFamily="34" charset="0"/>
                <a:ea typeface="Calibri" pitchFamily="34" charset="-122"/>
                <a:cs typeface="Calibri" pitchFamily="34" charset="-120"/>
              </a:rPr>
              <a:t>Verdict</a:t>
            </a:r>
            <a:endParaRPr lang="en-US" sz="1150" dirty="0"/>
          </a:p>
        </p:txBody>
      </p:sp>
      <p:sp>
        <p:nvSpPr>
          <p:cNvPr id="57" name="Text 54"/>
          <p:cNvSpPr txBox="1"/>
          <p:nvPr/>
        </p:nvSpPr>
        <p:spPr>
          <a:xfrm>
            <a:off x="6821424" y="3401568"/>
            <a:ext cx="1773936" cy="100584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Publish as experimental, WorldPop-weighted, with limits stated; focus on change and ranking.</a:t>
            </a:r>
            <a:endParaRPr lang="en-US" sz="105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WAY FORWARD</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Integration, not replacement</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The question is never "new source or survey?", but "what does each do best, and how do we combine them?"</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B83B2E"/>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39</a:t>
            </a:r>
            <a:endParaRPr lang="en-US" sz="850" dirty="0"/>
          </a:p>
        </p:txBody>
      </p:sp>
      <p:sp>
        <p:nvSpPr>
          <p:cNvPr id="18" name="Shape 15"/>
          <p:cNvSpPr/>
          <p:nvPr/>
        </p:nvSpPr>
        <p:spPr>
          <a:xfrm>
            <a:off x="457200" y="1417320"/>
            <a:ext cx="1965960" cy="2514600"/>
          </a:xfrm>
          <a:prstGeom prst="roundRect">
            <a:avLst>
              <a:gd name="adj" fmla="val 3721"/>
            </a:avLst>
          </a:prstGeom>
          <a:solidFill>
            <a:srgbClr val="E8F5EF"/>
          </a:solidFill>
          <a:ln w="15875">
            <a:solidFill>
              <a:srgbClr val="00A86A"/>
            </a:solidFill>
            <a:prstDash val="solid"/>
          </a:ln>
        </p:spPr>
      </p:sp>
      <p:sp>
        <p:nvSpPr>
          <p:cNvPr id="19" name="Text 16"/>
          <p:cNvSpPr txBox="1"/>
          <p:nvPr/>
        </p:nvSpPr>
        <p:spPr>
          <a:xfrm>
            <a:off x="594360" y="1481328"/>
            <a:ext cx="731520" cy="640080"/>
          </a:xfrm>
          <a:prstGeom prst="rect">
            <a:avLst/>
          </a:prstGeom>
          <a:noFill/>
          <a:ln/>
        </p:spPr>
        <p:txBody>
          <a:bodyPr wrap="square" lIns="0" tIns="0" rIns="0" bIns="0" rtlCol="0" anchor="t"/>
          <a:lstStyle/>
          <a:p>
            <a:pPr indent="0" marL="0">
              <a:buNone/>
            </a:pPr>
            <a:r>
              <a:rPr lang="en-US" sz="3600" b="1" dirty="0">
                <a:solidFill>
                  <a:srgbClr val="F5C242"/>
                </a:solidFill>
                <a:latin typeface="Calibri" pitchFamily="34" charset="0"/>
                <a:ea typeface="Calibri" pitchFamily="34" charset="-122"/>
                <a:cs typeface="Calibri" pitchFamily="34" charset="-120"/>
              </a:rPr>
              <a:t>A</a:t>
            </a:r>
            <a:endParaRPr lang="en-US" sz="3600" dirty="0"/>
          </a:p>
        </p:txBody>
      </p:sp>
      <p:sp>
        <p:nvSpPr>
          <p:cNvPr id="20" name="Text 17"/>
          <p:cNvSpPr txBox="1"/>
          <p:nvPr/>
        </p:nvSpPr>
        <p:spPr>
          <a:xfrm>
            <a:off x="594360" y="2121408"/>
            <a:ext cx="1737360" cy="45720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Auxiliary variable</a:t>
            </a:r>
            <a:endParaRPr lang="en-US" sz="1300" dirty="0"/>
          </a:p>
        </p:txBody>
      </p:sp>
      <p:sp>
        <p:nvSpPr>
          <p:cNvPr id="21" name="Text 18"/>
          <p:cNvSpPr txBox="1"/>
          <p:nvPr/>
        </p:nvSpPr>
        <p:spPr>
          <a:xfrm>
            <a:off x="594360" y="2606040"/>
            <a:ext cx="1719072" cy="8686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The new source is a covariate in a model built on survey data — small-area estimation, poverty mapping.</a:t>
            </a:r>
            <a:endParaRPr lang="en-US" sz="1050" dirty="0"/>
          </a:p>
        </p:txBody>
      </p:sp>
      <p:sp>
        <p:nvSpPr>
          <p:cNvPr id="22" name="Shape 19"/>
          <p:cNvSpPr/>
          <p:nvPr/>
        </p:nvSpPr>
        <p:spPr>
          <a:xfrm>
            <a:off x="594360" y="3547872"/>
            <a:ext cx="1691640" cy="237744"/>
          </a:xfrm>
          <a:prstGeom prst="roundRect">
            <a:avLst>
              <a:gd name="adj" fmla="val 50000"/>
            </a:avLst>
          </a:prstGeom>
          <a:solidFill>
            <a:srgbClr val="00A86A">
              <a:alpha val="15000"/>
            </a:srgbClr>
          </a:solidFill>
          <a:ln w="9525">
            <a:solidFill>
              <a:srgbClr val="00A86A"/>
            </a:solidFill>
            <a:prstDash val="solid"/>
          </a:ln>
        </p:spPr>
      </p:sp>
      <p:sp>
        <p:nvSpPr>
          <p:cNvPr id="23" name="Text 20"/>
          <p:cNvSpPr txBox="1"/>
          <p:nvPr/>
        </p:nvSpPr>
        <p:spPr>
          <a:xfrm>
            <a:off x="594360" y="3547872"/>
            <a:ext cx="169164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NTL + DHS clusters</a:t>
            </a:r>
            <a:endParaRPr lang="en-US" sz="950" dirty="0"/>
          </a:p>
        </p:txBody>
      </p:sp>
      <p:sp>
        <p:nvSpPr>
          <p:cNvPr id="24" name="Shape 21"/>
          <p:cNvSpPr/>
          <p:nvPr/>
        </p:nvSpPr>
        <p:spPr>
          <a:xfrm>
            <a:off x="2560320" y="1417320"/>
            <a:ext cx="1965960" cy="2514600"/>
          </a:xfrm>
          <a:prstGeom prst="roundRect">
            <a:avLst>
              <a:gd name="adj" fmla="val 3721"/>
            </a:avLst>
          </a:prstGeom>
          <a:solidFill>
            <a:srgbClr val="F4F7F5"/>
          </a:solidFill>
          <a:ln w="9525">
            <a:solidFill>
              <a:srgbClr val="D5DED9"/>
            </a:solidFill>
            <a:prstDash val="solid"/>
          </a:ln>
        </p:spPr>
      </p:sp>
      <p:sp>
        <p:nvSpPr>
          <p:cNvPr id="25" name="Text 22"/>
          <p:cNvSpPr txBox="1"/>
          <p:nvPr/>
        </p:nvSpPr>
        <p:spPr>
          <a:xfrm>
            <a:off x="2697480" y="1481328"/>
            <a:ext cx="731520" cy="640080"/>
          </a:xfrm>
          <a:prstGeom prst="rect">
            <a:avLst/>
          </a:prstGeom>
          <a:noFill/>
          <a:ln/>
        </p:spPr>
        <p:txBody>
          <a:bodyPr wrap="square" lIns="0" tIns="0" rIns="0" bIns="0" rtlCol="0" anchor="t"/>
          <a:lstStyle/>
          <a:p>
            <a:pPr indent="0" marL="0">
              <a:buNone/>
            </a:pPr>
            <a:r>
              <a:rPr lang="en-US" sz="3600" b="1" dirty="0">
                <a:solidFill>
                  <a:srgbClr val="F5C242"/>
                </a:solidFill>
                <a:latin typeface="Calibri" pitchFamily="34" charset="0"/>
                <a:ea typeface="Calibri" pitchFamily="34" charset="-122"/>
                <a:cs typeface="Calibri" pitchFamily="34" charset="-120"/>
              </a:rPr>
              <a:t>B</a:t>
            </a:r>
            <a:endParaRPr lang="en-US" sz="3600" dirty="0"/>
          </a:p>
        </p:txBody>
      </p:sp>
      <p:sp>
        <p:nvSpPr>
          <p:cNvPr id="26" name="Text 23"/>
          <p:cNvSpPr txBox="1"/>
          <p:nvPr/>
        </p:nvSpPr>
        <p:spPr>
          <a:xfrm>
            <a:off x="2697480" y="2121408"/>
            <a:ext cx="1737360" cy="45720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Calibration &amp; benchmarking</a:t>
            </a:r>
            <a:endParaRPr lang="en-US" sz="1300" dirty="0"/>
          </a:p>
        </p:txBody>
      </p:sp>
      <p:sp>
        <p:nvSpPr>
          <p:cNvPr id="27" name="Text 24"/>
          <p:cNvSpPr txBox="1"/>
          <p:nvPr/>
        </p:nvSpPr>
        <p:spPr>
          <a:xfrm>
            <a:off x="2697480" y="2606040"/>
            <a:ext cx="1719072" cy="8686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The high-frequency source gives the shape of the series; the official statistic anchors the level.</a:t>
            </a:r>
            <a:endParaRPr lang="en-US" sz="1050" dirty="0"/>
          </a:p>
        </p:txBody>
      </p:sp>
      <p:sp>
        <p:nvSpPr>
          <p:cNvPr id="28" name="Shape 25"/>
          <p:cNvSpPr/>
          <p:nvPr/>
        </p:nvSpPr>
        <p:spPr>
          <a:xfrm>
            <a:off x="2697480" y="3547872"/>
            <a:ext cx="1691640" cy="237744"/>
          </a:xfrm>
          <a:prstGeom prst="roundRect">
            <a:avLst>
              <a:gd name="adj" fmla="val 50000"/>
            </a:avLst>
          </a:prstGeom>
          <a:solidFill>
            <a:srgbClr val="00A86A">
              <a:alpha val="15000"/>
            </a:srgbClr>
          </a:solidFill>
          <a:ln w="9525">
            <a:solidFill>
              <a:srgbClr val="00A86A"/>
            </a:solidFill>
            <a:prstDash val="solid"/>
          </a:ln>
        </p:spPr>
      </p:sp>
      <p:sp>
        <p:nvSpPr>
          <p:cNvPr id="29" name="Text 26"/>
          <p:cNvSpPr txBox="1"/>
          <p:nvPr/>
        </p:nvSpPr>
        <p:spPr>
          <a:xfrm>
            <a:off x="2697480" y="3547872"/>
            <a:ext cx="169164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Card spending + retail survey</a:t>
            </a:r>
            <a:endParaRPr lang="en-US" sz="950" dirty="0"/>
          </a:p>
        </p:txBody>
      </p:sp>
      <p:sp>
        <p:nvSpPr>
          <p:cNvPr id="30" name="Shape 27"/>
          <p:cNvSpPr/>
          <p:nvPr/>
        </p:nvSpPr>
        <p:spPr>
          <a:xfrm>
            <a:off x="4663440" y="1417320"/>
            <a:ext cx="1965960" cy="2514600"/>
          </a:xfrm>
          <a:prstGeom prst="roundRect">
            <a:avLst>
              <a:gd name="adj" fmla="val 3721"/>
            </a:avLst>
          </a:prstGeom>
          <a:solidFill>
            <a:srgbClr val="F4F7F5"/>
          </a:solidFill>
          <a:ln w="9525">
            <a:solidFill>
              <a:srgbClr val="D5DED9"/>
            </a:solidFill>
            <a:prstDash val="solid"/>
          </a:ln>
        </p:spPr>
      </p:sp>
      <p:sp>
        <p:nvSpPr>
          <p:cNvPr id="31" name="Text 28"/>
          <p:cNvSpPr txBox="1"/>
          <p:nvPr/>
        </p:nvSpPr>
        <p:spPr>
          <a:xfrm>
            <a:off x="4800600" y="1481328"/>
            <a:ext cx="731520" cy="640080"/>
          </a:xfrm>
          <a:prstGeom prst="rect">
            <a:avLst/>
          </a:prstGeom>
          <a:noFill/>
          <a:ln/>
        </p:spPr>
        <p:txBody>
          <a:bodyPr wrap="square" lIns="0" tIns="0" rIns="0" bIns="0" rtlCol="0" anchor="t"/>
          <a:lstStyle/>
          <a:p>
            <a:pPr indent="0" marL="0">
              <a:buNone/>
            </a:pPr>
            <a:r>
              <a:rPr lang="en-US" sz="3600" b="1" dirty="0">
                <a:solidFill>
                  <a:srgbClr val="F5C242"/>
                </a:solidFill>
                <a:latin typeface="Calibri" pitchFamily="34" charset="0"/>
                <a:ea typeface="Calibri" pitchFamily="34" charset="-122"/>
                <a:cs typeface="Calibri" pitchFamily="34" charset="-120"/>
              </a:rPr>
              <a:t>C</a:t>
            </a:r>
            <a:endParaRPr lang="en-US" sz="3600" dirty="0"/>
          </a:p>
        </p:txBody>
      </p:sp>
      <p:sp>
        <p:nvSpPr>
          <p:cNvPr id="32" name="Text 29"/>
          <p:cNvSpPr txBox="1"/>
          <p:nvPr/>
        </p:nvSpPr>
        <p:spPr>
          <a:xfrm>
            <a:off x="4800600" y="2121408"/>
            <a:ext cx="1737360" cy="45720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Nowcasting bridge</a:t>
            </a:r>
            <a:endParaRPr lang="en-US" sz="1300" dirty="0"/>
          </a:p>
        </p:txBody>
      </p:sp>
      <p:sp>
        <p:nvSpPr>
          <p:cNvPr id="33" name="Text 30"/>
          <p:cNvSpPr txBox="1"/>
          <p:nvPr/>
        </p:nvSpPr>
        <p:spPr>
          <a:xfrm>
            <a:off x="4800600" y="2606040"/>
            <a:ext cx="1719072" cy="8686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The new source estimates the present; the traditional statistic confirms and revises later.</a:t>
            </a:r>
            <a:endParaRPr lang="en-US" sz="1050" dirty="0"/>
          </a:p>
        </p:txBody>
      </p:sp>
      <p:sp>
        <p:nvSpPr>
          <p:cNvPr id="34" name="Shape 31"/>
          <p:cNvSpPr/>
          <p:nvPr/>
        </p:nvSpPr>
        <p:spPr>
          <a:xfrm>
            <a:off x="4800600" y="3547872"/>
            <a:ext cx="1691640" cy="237744"/>
          </a:xfrm>
          <a:prstGeom prst="roundRect">
            <a:avLst>
              <a:gd name="adj" fmla="val 50000"/>
            </a:avLst>
          </a:prstGeom>
          <a:solidFill>
            <a:srgbClr val="00A86A">
              <a:alpha val="15000"/>
            </a:srgbClr>
          </a:solidFill>
          <a:ln w="9525">
            <a:solidFill>
              <a:srgbClr val="00A86A"/>
            </a:solidFill>
            <a:prstDash val="solid"/>
          </a:ln>
        </p:spPr>
      </p:sp>
      <p:sp>
        <p:nvSpPr>
          <p:cNvPr id="35" name="Text 32"/>
          <p:cNvSpPr txBox="1"/>
          <p:nvPr/>
        </p:nvSpPr>
        <p:spPr>
          <a:xfrm>
            <a:off x="4800600" y="3547872"/>
            <a:ext cx="169164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Electricity load + quarterly GDP</a:t>
            </a:r>
            <a:endParaRPr lang="en-US" sz="950" dirty="0"/>
          </a:p>
        </p:txBody>
      </p:sp>
      <p:sp>
        <p:nvSpPr>
          <p:cNvPr id="36" name="Shape 33"/>
          <p:cNvSpPr/>
          <p:nvPr/>
        </p:nvSpPr>
        <p:spPr>
          <a:xfrm>
            <a:off x="6766560" y="1417320"/>
            <a:ext cx="1965960" cy="2514600"/>
          </a:xfrm>
          <a:prstGeom prst="roundRect">
            <a:avLst>
              <a:gd name="adj" fmla="val 3721"/>
            </a:avLst>
          </a:prstGeom>
          <a:solidFill>
            <a:srgbClr val="F4F7F5"/>
          </a:solidFill>
          <a:ln w="9525">
            <a:solidFill>
              <a:srgbClr val="D5DED9"/>
            </a:solidFill>
            <a:prstDash val="solid"/>
          </a:ln>
        </p:spPr>
      </p:sp>
      <p:sp>
        <p:nvSpPr>
          <p:cNvPr id="37" name="Text 34"/>
          <p:cNvSpPr txBox="1"/>
          <p:nvPr/>
        </p:nvSpPr>
        <p:spPr>
          <a:xfrm>
            <a:off x="6903720" y="1481328"/>
            <a:ext cx="731520" cy="640080"/>
          </a:xfrm>
          <a:prstGeom prst="rect">
            <a:avLst/>
          </a:prstGeom>
          <a:noFill/>
          <a:ln/>
        </p:spPr>
        <p:txBody>
          <a:bodyPr wrap="square" lIns="0" tIns="0" rIns="0" bIns="0" rtlCol="0" anchor="t"/>
          <a:lstStyle/>
          <a:p>
            <a:pPr indent="0" marL="0">
              <a:buNone/>
            </a:pPr>
            <a:r>
              <a:rPr lang="en-US" sz="3600" b="1" dirty="0">
                <a:solidFill>
                  <a:srgbClr val="F5C242"/>
                </a:solidFill>
                <a:latin typeface="Calibri" pitchFamily="34" charset="0"/>
                <a:ea typeface="Calibri" pitchFamily="34" charset="-122"/>
                <a:cs typeface="Calibri" pitchFamily="34" charset="-120"/>
              </a:rPr>
              <a:t>D</a:t>
            </a:r>
            <a:endParaRPr lang="en-US" sz="3600" dirty="0"/>
          </a:p>
        </p:txBody>
      </p:sp>
      <p:sp>
        <p:nvSpPr>
          <p:cNvPr id="38" name="Text 35"/>
          <p:cNvSpPr txBox="1"/>
          <p:nvPr/>
        </p:nvSpPr>
        <p:spPr>
          <a:xfrm>
            <a:off x="6903720" y="2121408"/>
            <a:ext cx="1737360" cy="45720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Direct substitution</a:t>
            </a:r>
            <a:endParaRPr lang="en-US" sz="1300" dirty="0"/>
          </a:p>
        </p:txBody>
      </p:sp>
      <p:sp>
        <p:nvSpPr>
          <p:cNvPr id="39" name="Text 36"/>
          <p:cNvSpPr txBox="1"/>
          <p:nvPr/>
        </p:nvSpPr>
        <p:spPr>
          <a:xfrm>
            <a:off x="6903720" y="2606040"/>
            <a:ext cx="1719072" cy="8686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Where quality is demonstrated, the new source replaces part of the field collection.</a:t>
            </a:r>
            <a:endParaRPr lang="en-US" sz="1050" dirty="0"/>
          </a:p>
        </p:txBody>
      </p:sp>
      <p:sp>
        <p:nvSpPr>
          <p:cNvPr id="40" name="Shape 37"/>
          <p:cNvSpPr/>
          <p:nvPr/>
        </p:nvSpPr>
        <p:spPr>
          <a:xfrm>
            <a:off x="6903720" y="3547872"/>
            <a:ext cx="1691640" cy="237744"/>
          </a:xfrm>
          <a:prstGeom prst="roundRect">
            <a:avLst>
              <a:gd name="adj" fmla="val 50000"/>
            </a:avLst>
          </a:prstGeom>
          <a:solidFill>
            <a:srgbClr val="00A86A">
              <a:alpha val="15000"/>
            </a:srgbClr>
          </a:solidFill>
          <a:ln w="9525">
            <a:solidFill>
              <a:srgbClr val="00A86A"/>
            </a:solidFill>
            <a:prstDash val="solid"/>
          </a:ln>
        </p:spPr>
      </p:sp>
      <p:sp>
        <p:nvSpPr>
          <p:cNvPr id="41" name="Text 38"/>
          <p:cNvSpPr txBox="1"/>
          <p:nvPr/>
        </p:nvSpPr>
        <p:spPr>
          <a:xfrm>
            <a:off x="6903720" y="3547872"/>
            <a:ext cx="169164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Scanner data in the CPI</a:t>
            </a:r>
            <a:endParaRPr lang="en-US" sz="950" dirty="0"/>
          </a:p>
        </p:txBody>
      </p:sp>
      <p:sp>
        <p:nvSpPr>
          <p:cNvPr id="42" name="Shape 39"/>
          <p:cNvSpPr/>
          <p:nvPr/>
        </p:nvSpPr>
        <p:spPr>
          <a:xfrm>
            <a:off x="548640" y="4087368"/>
            <a:ext cx="8046720" cy="0"/>
          </a:xfrm>
          <a:prstGeom prst="line">
            <a:avLst/>
          </a:prstGeom>
          <a:noFill/>
          <a:ln w="12700">
            <a:solidFill>
              <a:srgbClr val="D5DED9"/>
            </a:solidFill>
            <a:prstDash val="solid"/>
            <a:tailEnd type="triangle"/>
          </a:ln>
        </p:spPr>
      </p:sp>
      <p:sp>
        <p:nvSpPr>
          <p:cNvPr id="43" name="Text 40"/>
          <p:cNvSpPr txBox="1"/>
          <p:nvPr/>
        </p:nvSpPr>
        <p:spPr>
          <a:xfrm>
            <a:off x="4846320" y="3913632"/>
            <a:ext cx="3840480" cy="164592"/>
          </a:xfrm>
          <a:prstGeom prst="rect">
            <a:avLst/>
          </a:prstGeom>
          <a:noFill/>
          <a:ln/>
        </p:spPr>
        <p:txBody>
          <a:bodyPr wrap="square" lIns="0" tIns="0" rIns="0" bIns="0" rtlCol="0" anchor="t"/>
          <a:lstStyle/>
          <a:p>
            <a:pPr algn="r" indent="0" marL="0">
              <a:buNone/>
            </a:pPr>
            <a:r>
              <a:rPr lang="en-US" sz="850" i="1" dirty="0">
                <a:solidFill>
                  <a:srgbClr val="5E6964"/>
                </a:solidFill>
                <a:latin typeface="Calibri" pitchFamily="34" charset="0"/>
                <a:ea typeface="Calibri" pitchFamily="34" charset="-122"/>
                <a:cs typeface="Calibri" pitchFamily="34" charset="-120"/>
              </a:rPr>
              <a:t>increasing quality evidence and supply security required →</a:t>
            </a:r>
            <a:endParaRPr lang="en-US" sz="850" dirty="0"/>
          </a:p>
        </p:txBody>
      </p:sp>
      <p:sp>
        <p:nvSpPr>
          <p:cNvPr id="44" name="Shape 41"/>
          <p:cNvSpPr/>
          <p:nvPr/>
        </p:nvSpPr>
        <p:spPr>
          <a:xfrm>
            <a:off x="457200" y="4160520"/>
            <a:ext cx="8229600" cy="384048"/>
          </a:xfrm>
          <a:prstGeom prst="roundRect">
            <a:avLst>
              <a:gd name="adj" fmla="val 14286"/>
            </a:avLst>
          </a:prstGeom>
          <a:solidFill>
            <a:srgbClr val="D49A00">
              <a:alpha val="13000"/>
            </a:srgbClr>
          </a:solidFill>
          <a:ln w="12700">
            <a:solidFill>
              <a:srgbClr val="D49A00"/>
            </a:solidFill>
            <a:prstDash val="solid"/>
          </a:ln>
        </p:spPr>
      </p:sp>
      <p:pic>
        <p:nvPicPr>
          <p:cNvPr id="45" name="Image 0" descr="preencoded.png">    </p:cNvPr>
          <p:cNvPicPr>
            <a:picLocks noChangeAspect="1"/>
          </p:cNvPicPr>
          <p:nvPr/>
        </p:nvPicPr>
        <p:blipFill>
          <a:blip r:embed="rId1"/>
          <a:stretch>
            <a:fillRect/>
          </a:stretch>
        </p:blipFill>
        <p:spPr>
          <a:xfrm>
            <a:off x="585216" y="4215384"/>
            <a:ext cx="274320" cy="274320"/>
          </a:xfrm>
          <a:prstGeom prst="rect">
            <a:avLst/>
          </a:prstGeom>
        </p:spPr>
      </p:pic>
      <p:sp>
        <p:nvSpPr>
          <p:cNvPr id="46" name="Text 42"/>
          <p:cNvSpPr txBox="1"/>
          <p:nvPr/>
        </p:nvSpPr>
        <p:spPr>
          <a:xfrm>
            <a:off x="987552" y="4215384"/>
            <a:ext cx="7571232" cy="27432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Rule of thumb: the traditional source anchors the truth; the non-traditional source adds speed and detail.</a:t>
            </a:r>
            <a:endParaRPr lang="en-US" sz="1100"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WAY FORWARD</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From pilot to production</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D5DED9"/>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40</a:t>
            </a:r>
            <a:endParaRPr lang="en-US" sz="850" dirty="0"/>
          </a:p>
        </p:txBody>
      </p:sp>
      <p:sp>
        <p:nvSpPr>
          <p:cNvPr id="17" name="Text 14"/>
          <p:cNvSpPr txBox="1"/>
          <p:nvPr/>
        </p:nvSpPr>
        <p:spPr>
          <a:xfrm>
            <a:off x="457200" y="1051560"/>
            <a:ext cx="4572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FIVE-STAGE MATURITY PATH</a:t>
            </a:r>
            <a:endParaRPr lang="en-US" sz="1000" dirty="0"/>
          </a:p>
        </p:txBody>
      </p:sp>
      <p:sp>
        <p:nvSpPr>
          <p:cNvPr id="18" name="Shape 15"/>
          <p:cNvSpPr/>
          <p:nvPr/>
        </p:nvSpPr>
        <p:spPr>
          <a:xfrm>
            <a:off x="457200" y="2130552"/>
            <a:ext cx="1536192" cy="822960"/>
          </a:xfrm>
          <a:prstGeom prst="roundRect">
            <a:avLst>
              <a:gd name="adj" fmla="val 6667"/>
            </a:avLst>
          </a:prstGeom>
          <a:solidFill>
            <a:srgbClr val="9ED9C0"/>
          </a:solidFill>
          <a:ln/>
        </p:spPr>
      </p:sp>
      <p:sp>
        <p:nvSpPr>
          <p:cNvPr id="19" name="Text 16"/>
          <p:cNvSpPr txBox="1"/>
          <p:nvPr/>
        </p:nvSpPr>
        <p:spPr>
          <a:xfrm>
            <a:off x="548640" y="2185416"/>
            <a:ext cx="365760" cy="320040"/>
          </a:xfrm>
          <a:prstGeom prst="rect">
            <a:avLst/>
          </a:prstGeom>
          <a:noFill/>
          <a:ln/>
        </p:spPr>
        <p:txBody>
          <a:bodyPr wrap="square" lIns="0" tIns="0" rIns="0" bIns="0" rtlCol="0" anchor="t"/>
          <a:lstStyle/>
          <a:p>
            <a:pPr indent="0" marL="0">
              <a:buNone/>
            </a:pPr>
            <a:r>
              <a:rPr lang="en-US" sz="1800" b="1" dirty="0">
                <a:solidFill>
                  <a:srgbClr val="00553A"/>
                </a:solidFill>
                <a:latin typeface="Calibri" pitchFamily="34" charset="0"/>
                <a:ea typeface="Calibri" pitchFamily="34" charset="-122"/>
                <a:cs typeface="Calibri" pitchFamily="34" charset="-120"/>
              </a:rPr>
              <a:t>1</a:t>
            </a:r>
            <a:endParaRPr lang="en-US" sz="1800" dirty="0"/>
          </a:p>
        </p:txBody>
      </p:sp>
      <p:sp>
        <p:nvSpPr>
          <p:cNvPr id="20" name="Text 17"/>
          <p:cNvSpPr txBox="1"/>
          <p:nvPr/>
        </p:nvSpPr>
        <p:spPr>
          <a:xfrm>
            <a:off x="548640" y="2980944"/>
            <a:ext cx="146304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Explore</a:t>
            </a:r>
            <a:endParaRPr lang="en-US" sz="1200" dirty="0"/>
          </a:p>
        </p:txBody>
      </p:sp>
      <p:sp>
        <p:nvSpPr>
          <p:cNvPr id="21" name="Text 18"/>
          <p:cNvSpPr txBox="1"/>
          <p:nvPr/>
        </p:nvSpPr>
        <p:spPr>
          <a:xfrm>
            <a:off x="548640" y="3218688"/>
            <a:ext cx="1417320" cy="38404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Inventory sources; small, low-risk trials</a:t>
            </a:r>
            <a:endParaRPr lang="en-US" sz="950" dirty="0"/>
          </a:p>
        </p:txBody>
      </p:sp>
      <p:sp>
        <p:nvSpPr>
          <p:cNvPr id="22" name="Shape 19"/>
          <p:cNvSpPr/>
          <p:nvPr/>
        </p:nvSpPr>
        <p:spPr>
          <a:xfrm>
            <a:off x="2121408" y="1929384"/>
            <a:ext cx="1536192" cy="1024128"/>
          </a:xfrm>
          <a:prstGeom prst="roundRect">
            <a:avLst>
              <a:gd name="adj" fmla="val 5357"/>
            </a:avLst>
          </a:prstGeom>
          <a:solidFill>
            <a:srgbClr val="57BD92"/>
          </a:solidFill>
          <a:ln/>
        </p:spPr>
      </p:sp>
      <p:sp>
        <p:nvSpPr>
          <p:cNvPr id="23" name="Text 20"/>
          <p:cNvSpPr txBox="1"/>
          <p:nvPr/>
        </p:nvSpPr>
        <p:spPr>
          <a:xfrm>
            <a:off x="2212848" y="1984248"/>
            <a:ext cx="36576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1"/>
          <p:cNvSpPr txBox="1"/>
          <p:nvPr/>
        </p:nvSpPr>
        <p:spPr>
          <a:xfrm>
            <a:off x="2212848" y="2980944"/>
            <a:ext cx="146304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Prove</a:t>
            </a:r>
            <a:endParaRPr lang="en-US" sz="1200" dirty="0"/>
          </a:p>
        </p:txBody>
      </p:sp>
      <p:sp>
        <p:nvSpPr>
          <p:cNvPr id="25" name="Text 22"/>
          <p:cNvSpPr txBox="1"/>
          <p:nvPr/>
        </p:nvSpPr>
        <p:spPr>
          <a:xfrm>
            <a:off x="2212848" y="3218688"/>
            <a:ext cx="1417320" cy="38404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One use case, honest validation</a:t>
            </a:r>
            <a:endParaRPr lang="en-US" sz="950" dirty="0"/>
          </a:p>
        </p:txBody>
      </p:sp>
      <p:sp>
        <p:nvSpPr>
          <p:cNvPr id="26" name="Shape 23"/>
          <p:cNvSpPr/>
          <p:nvPr/>
        </p:nvSpPr>
        <p:spPr>
          <a:xfrm>
            <a:off x="3785616" y="1728216"/>
            <a:ext cx="1536192" cy="1225296"/>
          </a:xfrm>
          <a:prstGeom prst="roundRect">
            <a:avLst>
              <a:gd name="adj" fmla="val 4478"/>
            </a:avLst>
          </a:prstGeom>
          <a:solidFill>
            <a:srgbClr val="10A06A"/>
          </a:solidFill>
          <a:ln/>
        </p:spPr>
      </p:sp>
      <p:sp>
        <p:nvSpPr>
          <p:cNvPr id="27" name="Text 24"/>
          <p:cNvSpPr txBox="1"/>
          <p:nvPr/>
        </p:nvSpPr>
        <p:spPr>
          <a:xfrm>
            <a:off x="3877056" y="1783080"/>
            <a:ext cx="36576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8" name="Text 25"/>
          <p:cNvSpPr txBox="1"/>
          <p:nvPr/>
        </p:nvSpPr>
        <p:spPr>
          <a:xfrm>
            <a:off x="3877056" y="2980944"/>
            <a:ext cx="146304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Secure</a:t>
            </a:r>
            <a:endParaRPr lang="en-US" sz="1200" dirty="0"/>
          </a:p>
        </p:txBody>
      </p:sp>
      <p:sp>
        <p:nvSpPr>
          <p:cNvPr id="29" name="Text 26"/>
          <p:cNvSpPr txBox="1"/>
          <p:nvPr/>
        </p:nvSpPr>
        <p:spPr>
          <a:xfrm>
            <a:off x="3877056" y="3218688"/>
            <a:ext cx="1417320" cy="38404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Formal access, legal basis, privacy</a:t>
            </a:r>
            <a:endParaRPr lang="en-US" sz="950" dirty="0"/>
          </a:p>
        </p:txBody>
      </p:sp>
      <p:sp>
        <p:nvSpPr>
          <p:cNvPr id="30" name="Shape 27"/>
          <p:cNvSpPr/>
          <p:nvPr/>
        </p:nvSpPr>
        <p:spPr>
          <a:xfrm>
            <a:off x="5449824" y="1527048"/>
            <a:ext cx="1536192" cy="1426464"/>
          </a:xfrm>
          <a:prstGeom prst="roundRect">
            <a:avLst>
              <a:gd name="adj" fmla="val 3846"/>
            </a:avLst>
          </a:prstGeom>
          <a:solidFill>
            <a:srgbClr val="008A5B"/>
          </a:solidFill>
          <a:ln/>
        </p:spPr>
      </p:sp>
      <p:sp>
        <p:nvSpPr>
          <p:cNvPr id="31" name="Text 28"/>
          <p:cNvSpPr txBox="1"/>
          <p:nvPr/>
        </p:nvSpPr>
        <p:spPr>
          <a:xfrm>
            <a:off x="5541264" y="1581912"/>
            <a:ext cx="36576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2" name="Text 29"/>
          <p:cNvSpPr txBox="1"/>
          <p:nvPr/>
        </p:nvSpPr>
        <p:spPr>
          <a:xfrm>
            <a:off x="5541264" y="2980944"/>
            <a:ext cx="146304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Industrialise</a:t>
            </a:r>
            <a:endParaRPr lang="en-US" sz="1200" dirty="0"/>
          </a:p>
        </p:txBody>
      </p:sp>
      <p:sp>
        <p:nvSpPr>
          <p:cNvPr id="33" name="Text 30"/>
          <p:cNvSpPr txBox="1"/>
          <p:nvPr/>
        </p:nvSpPr>
        <p:spPr>
          <a:xfrm>
            <a:off x="5541264" y="3218688"/>
            <a:ext cx="1417320" cy="38404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Automated, documented pipelines</a:t>
            </a:r>
            <a:endParaRPr lang="en-US" sz="950" dirty="0"/>
          </a:p>
        </p:txBody>
      </p:sp>
      <p:sp>
        <p:nvSpPr>
          <p:cNvPr id="34" name="Shape 31"/>
          <p:cNvSpPr/>
          <p:nvPr/>
        </p:nvSpPr>
        <p:spPr>
          <a:xfrm>
            <a:off x="7114032" y="1325880"/>
            <a:ext cx="1536192" cy="1627632"/>
          </a:xfrm>
          <a:prstGeom prst="roundRect">
            <a:avLst>
              <a:gd name="adj" fmla="val 3571"/>
            </a:avLst>
          </a:prstGeom>
          <a:solidFill>
            <a:srgbClr val="00664A"/>
          </a:solidFill>
          <a:ln/>
        </p:spPr>
      </p:sp>
      <p:sp>
        <p:nvSpPr>
          <p:cNvPr id="35" name="Text 32"/>
          <p:cNvSpPr txBox="1"/>
          <p:nvPr/>
        </p:nvSpPr>
        <p:spPr>
          <a:xfrm>
            <a:off x="7205472" y="1380744"/>
            <a:ext cx="36576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6" name="Text 33"/>
          <p:cNvSpPr txBox="1"/>
          <p:nvPr/>
        </p:nvSpPr>
        <p:spPr>
          <a:xfrm>
            <a:off x="7205472" y="2980944"/>
            <a:ext cx="146304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Institutionalise</a:t>
            </a:r>
            <a:endParaRPr lang="en-US" sz="1200" dirty="0"/>
          </a:p>
        </p:txBody>
      </p:sp>
      <p:sp>
        <p:nvSpPr>
          <p:cNvPr id="37" name="Text 34"/>
          <p:cNvSpPr txBox="1"/>
          <p:nvPr/>
        </p:nvSpPr>
        <p:spPr>
          <a:xfrm>
            <a:off x="7205472" y="3218688"/>
            <a:ext cx="1417320" cy="38404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Budget line, official programme</a:t>
            </a:r>
            <a:endParaRPr lang="en-US" sz="950" dirty="0"/>
          </a:p>
        </p:txBody>
      </p:sp>
      <p:sp>
        <p:nvSpPr>
          <p:cNvPr id="38" name="Shape 35"/>
          <p:cNvSpPr/>
          <p:nvPr/>
        </p:nvSpPr>
        <p:spPr>
          <a:xfrm>
            <a:off x="457200" y="3703320"/>
            <a:ext cx="8229600" cy="841248"/>
          </a:xfrm>
          <a:prstGeom prst="roundRect">
            <a:avLst>
              <a:gd name="adj" fmla="val 8696"/>
            </a:avLst>
          </a:prstGeom>
          <a:solidFill>
            <a:srgbClr val="E8F5EF"/>
          </a:solidFill>
          <a:ln w="15875">
            <a:solidFill>
              <a:srgbClr val="00A86A"/>
            </a:solidFill>
            <a:prstDash val="solid"/>
          </a:ln>
        </p:spPr>
      </p:sp>
      <p:sp>
        <p:nvSpPr>
          <p:cNvPr id="39" name="Text 36"/>
          <p:cNvSpPr txBox="1"/>
          <p:nvPr/>
        </p:nvSpPr>
        <p:spPr>
          <a:xfrm>
            <a:off x="594360" y="3767328"/>
            <a:ext cx="5486400" cy="182880"/>
          </a:xfrm>
          <a:prstGeom prst="rect">
            <a:avLst/>
          </a:prstGeom>
          <a:noFill/>
          <a:ln/>
        </p:spPr>
        <p:txBody>
          <a:bodyPr wrap="square" lIns="0" tIns="0" rIns="0" bIns="0" rtlCol="0" anchor="t"/>
          <a:lstStyle/>
          <a:p>
            <a:pPr indent="0" marL="0">
              <a:buNone/>
            </a:pPr>
            <a:r>
              <a:rPr lang="en-US" sz="950" b="1" spc="100" kern="0" dirty="0">
                <a:solidFill>
                  <a:srgbClr val="00704A"/>
                </a:solidFill>
                <a:latin typeface="Calibri" pitchFamily="34" charset="0"/>
                <a:ea typeface="Calibri" pitchFamily="34" charset="-122"/>
                <a:cs typeface="Calibri" pitchFamily="34" charset="-120"/>
              </a:rPr>
              <a:t>THIS WEEK FEEDS THE STG17 ACTION PLAN 2025–2030</a:t>
            </a:r>
            <a:endParaRPr lang="en-US" sz="950" dirty="0"/>
          </a:p>
        </p:txBody>
      </p:sp>
      <p:sp>
        <p:nvSpPr>
          <p:cNvPr id="40" name="Shape 37"/>
          <p:cNvSpPr/>
          <p:nvPr/>
        </p:nvSpPr>
        <p:spPr>
          <a:xfrm>
            <a:off x="594360" y="4087368"/>
            <a:ext cx="640080" cy="237744"/>
          </a:xfrm>
          <a:prstGeom prst="roundRect">
            <a:avLst>
              <a:gd name="adj" fmla="val 50000"/>
            </a:avLst>
          </a:prstGeom>
          <a:solidFill>
            <a:srgbClr val="00704A">
              <a:alpha val="15000"/>
            </a:srgbClr>
          </a:solidFill>
          <a:ln w="9525">
            <a:solidFill>
              <a:srgbClr val="00704A"/>
            </a:solidFill>
            <a:prstDash val="solid"/>
          </a:ln>
        </p:spPr>
      </p:sp>
      <p:sp>
        <p:nvSpPr>
          <p:cNvPr id="41" name="Text 38"/>
          <p:cNvSpPr txBox="1"/>
          <p:nvPr/>
        </p:nvSpPr>
        <p:spPr>
          <a:xfrm>
            <a:off x="594360" y="4087368"/>
            <a:ext cx="640080" cy="237744"/>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2.1.1</a:t>
            </a:r>
            <a:endParaRPr lang="en-US" sz="950" dirty="0"/>
          </a:p>
        </p:txBody>
      </p:sp>
      <p:sp>
        <p:nvSpPr>
          <p:cNvPr id="42" name="Text 39"/>
          <p:cNvSpPr txBox="1"/>
          <p:nvPr/>
        </p:nvSpPr>
        <p:spPr>
          <a:xfrm>
            <a:off x="1307592" y="4023360"/>
            <a:ext cx="192024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Guidelines on new data sources</a:t>
            </a:r>
            <a:endParaRPr lang="en-US" sz="1050" dirty="0"/>
          </a:p>
        </p:txBody>
      </p:sp>
      <p:sp>
        <p:nvSpPr>
          <p:cNvPr id="43" name="Shape 40"/>
          <p:cNvSpPr/>
          <p:nvPr/>
        </p:nvSpPr>
        <p:spPr>
          <a:xfrm>
            <a:off x="3291840" y="4087368"/>
            <a:ext cx="640080" cy="237744"/>
          </a:xfrm>
          <a:prstGeom prst="roundRect">
            <a:avLst>
              <a:gd name="adj" fmla="val 50000"/>
            </a:avLst>
          </a:prstGeom>
          <a:solidFill>
            <a:srgbClr val="00704A">
              <a:alpha val="15000"/>
            </a:srgbClr>
          </a:solidFill>
          <a:ln w="9525">
            <a:solidFill>
              <a:srgbClr val="00704A"/>
            </a:solidFill>
            <a:prstDash val="solid"/>
          </a:ln>
        </p:spPr>
      </p:sp>
      <p:sp>
        <p:nvSpPr>
          <p:cNvPr id="44" name="Text 41"/>
          <p:cNvSpPr txBox="1"/>
          <p:nvPr/>
        </p:nvSpPr>
        <p:spPr>
          <a:xfrm>
            <a:off x="3291840" y="4087368"/>
            <a:ext cx="640080" cy="237744"/>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3.1</a:t>
            </a:r>
            <a:endParaRPr lang="en-US" sz="950" dirty="0"/>
          </a:p>
        </p:txBody>
      </p:sp>
      <p:sp>
        <p:nvSpPr>
          <p:cNvPr id="45" name="Text 42"/>
          <p:cNvSpPr txBox="1"/>
          <p:nvPr/>
        </p:nvSpPr>
        <p:spPr>
          <a:xfrm>
            <a:off x="4005072" y="4023360"/>
            <a:ext cx="192024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Private-sector partnerships</a:t>
            </a:r>
            <a:endParaRPr lang="en-US" sz="1050" dirty="0"/>
          </a:p>
        </p:txBody>
      </p:sp>
      <p:sp>
        <p:nvSpPr>
          <p:cNvPr id="46" name="Shape 43"/>
          <p:cNvSpPr/>
          <p:nvPr/>
        </p:nvSpPr>
        <p:spPr>
          <a:xfrm>
            <a:off x="5989320" y="4087368"/>
            <a:ext cx="640080" cy="237744"/>
          </a:xfrm>
          <a:prstGeom prst="roundRect">
            <a:avLst>
              <a:gd name="adj" fmla="val 50000"/>
            </a:avLst>
          </a:prstGeom>
          <a:solidFill>
            <a:srgbClr val="00704A">
              <a:alpha val="15000"/>
            </a:srgbClr>
          </a:solidFill>
          <a:ln w="9525">
            <a:solidFill>
              <a:srgbClr val="00704A"/>
            </a:solidFill>
            <a:prstDash val="solid"/>
          </a:ln>
        </p:spPr>
      </p:sp>
      <p:sp>
        <p:nvSpPr>
          <p:cNvPr id="47" name="Text 44"/>
          <p:cNvSpPr txBox="1"/>
          <p:nvPr/>
        </p:nvSpPr>
        <p:spPr>
          <a:xfrm>
            <a:off x="5989320" y="4087368"/>
            <a:ext cx="640080" cy="237744"/>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4.3</a:t>
            </a:r>
            <a:endParaRPr lang="en-US" sz="950" dirty="0"/>
          </a:p>
        </p:txBody>
      </p:sp>
      <p:sp>
        <p:nvSpPr>
          <p:cNvPr id="48" name="Text 45"/>
          <p:cNvSpPr txBox="1"/>
          <p:nvPr/>
        </p:nvSpPr>
        <p:spPr>
          <a:xfrm>
            <a:off x="6702552" y="4023360"/>
            <a:ext cx="192024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Data-governance reference guide</a:t>
            </a:r>
            <a:endParaRPr lang="en-US" sz="1050" dirty="0"/>
          </a:p>
        </p:txBody>
      </p:sp>
      <p:sp>
        <p:nvSpPr>
          <p:cNvPr id="49" name="Text 46"/>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STG17 Technical Workshop agenda (2026), table "Workshop output → STG17 Action Plan activity".</a:t>
            </a:r>
            <a:endParaRPr lang="en-US" sz="85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IN CLOSING</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Five ideas to take back to your office</a:t>
            </a:r>
            <a:endParaRPr lang="en-US" sz="24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41</a:t>
            </a:r>
            <a:endParaRPr lang="en-US" sz="850" dirty="0"/>
          </a:p>
        </p:txBody>
      </p:sp>
      <p:sp>
        <p:nvSpPr>
          <p:cNvPr id="11" name="Shape 8"/>
          <p:cNvSpPr/>
          <p:nvPr/>
        </p:nvSpPr>
        <p:spPr>
          <a:xfrm>
            <a:off x="457200" y="1097280"/>
            <a:ext cx="8229600" cy="603504"/>
          </a:xfrm>
          <a:prstGeom prst="roundRect">
            <a:avLst>
              <a:gd name="adj" fmla="val 12121"/>
            </a:avLst>
          </a:prstGeom>
          <a:solidFill>
            <a:srgbClr val="F4F7F5"/>
          </a:solidFill>
          <a:ln w="9525">
            <a:solidFill>
              <a:srgbClr val="D5DED9"/>
            </a:solidFill>
            <a:prstDash val="solid"/>
          </a:ln>
        </p:spPr>
      </p:sp>
      <p:sp>
        <p:nvSpPr>
          <p:cNvPr id="12" name="Shape 9"/>
          <p:cNvSpPr/>
          <p:nvPr/>
        </p:nvSpPr>
        <p:spPr>
          <a:xfrm>
            <a:off x="566928" y="1188720"/>
            <a:ext cx="420624" cy="420624"/>
          </a:xfrm>
          <a:prstGeom prst="ellipse">
            <a:avLst/>
          </a:prstGeom>
          <a:solidFill>
            <a:srgbClr val="00A86A">
              <a:alpha val="22000"/>
            </a:srgbClr>
          </a:solidFill>
          <a:ln/>
        </p:spPr>
      </p:sp>
      <p:pic>
        <p:nvPicPr>
          <p:cNvPr id="13" name="Image 0" descr="preencoded.png">    </p:cNvPr>
          <p:cNvPicPr>
            <a:picLocks noChangeAspect="1"/>
          </p:cNvPicPr>
          <p:nvPr/>
        </p:nvPicPr>
        <p:blipFill>
          <a:blip r:embed="rId1"/>
          <a:stretch>
            <a:fillRect/>
          </a:stretch>
        </p:blipFill>
        <p:spPr>
          <a:xfrm>
            <a:off x="672084" y="1293876"/>
            <a:ext cx="210312" cy="210312"/>
          </a:xfrm>
          <a:prstGeom prst="rect">
            <a:avLst/>
          </a:prstGeom>
        </p:spPr>
      </p:pic>
      <p:sp>
        <p:nvSpPr>
          <p:cNvPr id="14" name="Text 10"/>
          <p:cNvSpPr txBox="1"/>
          <p:nvPr/>
        </p:nvSpPr>
        <p:spPr>
          <a:xfrm>
            <a:off x="1097280" y="1097280"/>
            <a:ext cx="457200" cy="603504"/>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01</a:t>
            </a:r>
            <a:endParaRPr lang="en-US" sz="1800" dirty="0"/>
          </a:p>
        </p:txBody>
      </p:sp>
      <p:sp>
        <p:nvSpPr>
          <p:cNvPr id="15" name="Text 11"/>
          <p:cNvSpPr txBox="1"/>
          <p:nvPr/>
        </p:nvSpPr>
        <p:spPr>
          <a:xfrm>
            <a:off x="1600200" y="1097280"/>
            <a:ext cx="2651760" cy="603504"/>
          </a:xfrm>
          <a:prstGeom prst="rect">
            <a:avLst/>
          </a:prstGeom>
          <a:noFill/>
          <a:ln/>
        </p:spPr>
        <p:txBody>
          <a:bodyPr wrap="square" lIns="0" tIns="0" rIns="0" bIns="0" rtlCol="0" anchor="ctr"/>
          <a:lstStyle/>
          <a:p>
            <a:pPr indent="0" marL="0">
              <a:buNone/>
            </a:pPr>
            <a:r>
              <a:rPr lang="en-US" sz="1400" b="1" dirty="0">
                <a:solidFill>
                  <a:srgbClr val="00A86A"/>
                </a:solidFill>
                <a:latin typeface="Calibri" pitchFamily="34" charset="0"/>
                <a:ea typeface="Calibri" pitchFamily="34" charset="-122"/>
                <a:cs typeface="Calibri" pitchFamily="34" charset="-120"/>
              </a:rPr>
              <a:t>The treasure is real</a:t>
            </a:r>
            <a:endParaRPr lang="en-US" sz="1400" dirty="0"/>
          </a:p>
        </p:txBody>
      </p:sp>
      <p:sp>
        <p:nvSpPr>
          <p:cNvPr id="16" name="Text 12"/>
          <p:cNvSpPr txBox="1"/>
          <p:nvPr/>
        </p:nvSpPr>
        <p:spPr>
          <a:xfrm>
            <a:off x="4297680" y="1097280"/>
            <a:ext cx="4297680" cy="603504"/>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Timeliness, granularity and coverage that designed data cannot deliver alone.</a:t>
            </a:r>
            <a:endParaRPr lang="en-US" sz="1100" dirty="0"/>
          </a:p>
        </p:txBody>
      </p:sp>
      <p:sp>
        <p:nvSpPr>
          <p:cNvPr id="17" name="Shape 13"/>
          <p:cNvSpPr/>
          <p:nvPr/>
        </p:nvSpPr>
        <p:spPr>
          <a:xfrm>
            <a:off x="457200" y="1792224"/>
            <a:ext cx="8229600" cy="603504"/>
          </a:xfrm>
          <a:prstGeom prst="roundRect">
            <a:avLst>
              <a:gd name="adj" fmla="val 12121"/>
            </a:avLst>
          </a:prstGeom>
          <a:solidFill>
            <a:srgbClr val="E8F5EF"/>
          </a:solidFill>
          <a:ln w="15875">
            <a:solidFill>
              <a:srgbClr val="0E7C86"/>
            </a:solidFill>
            <a:prstDash val="solid"/>
          </a:ln>
        </p:spPr>
      </p:sp>
      <p:sp>
        <p:nvSpPr>
          <p:cNvPr id="18" name="Shape 14"/>
          <p:cNvSpPr/>
          <p:nvPr/>
        </p:nvSpPr>
        <p:spPr>
          <a:xfrm>
            <a:off x="566928" y="1883664"/>
            <a:ext cx="420624" cy="420624"/>
          </a:xfrm>
          <a:prstGeom prst="ellipse">
            <a:avLst/>
          </a:prstGeom>
          <a:solidFill>
            <a:srgbClr val="0E7C86">
              <a:alpha val="22000"/>
            </a:srgbClr>
          </a:solidFill>
          <a:ln/>
        </p:spPr>
      </p:sp>
      <p:pic>
        <p:nvPicPr>
          <p:cNvPr id="19" name="Image 1" descr="preencoded.png">    </p:cNvPr>
          <p:cNvPicPr>
            <a:picLocks noChangeAspect="1"/>
          </p:cNvPicPr>
          <p:nvPr/>
        </p:nvPicPr>
        <p:blipFill>
          <a:blip r:embed="rId2"/>
          <a:stretch>
            <a:fillRect/>
          </a:stretch>
        </p:blipFill>
        <p:spPr>
          <a:xfrm>
            <a:off x="672084" y="1988820"/>
            <a:ext cx="210312" cy="210312"/>
          </a:xfrm>
          <a:prstGeom prst="rect">
            <a:avLst/>
          </a:prstGeom>
        </p:spPr>
      </p:pic>
      <p:sp>
        <p:nvSpPr>
          <p:cNvPr id="20" name="Text 15"/>
          <p:cNvSpPr txBox="1"/>
          <p:nvPr/>
        </p:nvSpPr>
        <p:spPr>
          <a:xfrm>
            <a:off x="1097280" y="1792224"/>
            <a:ext cx="457200" cy="603504"/>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02</a:t>
            </a:r>
            <a:endParaRPr lang="en-US" sz="1800" dirty="0"/>
          </a:p>
        </p:txBody>
      </p:sp>
      <p:sp>
        <p:nvSpPr>
          <p:cNvPr id="21" name="Text 16"/>
          <p:cNvSpPr txBox="1"/>
          <p:nvPr/>
        </p:nvSpPr>
        <p:spPr>
          <a:xfrm>
            <a:off x="1600200" y="1792224"/>
            <a:ext cx="2651760" cy="603504"/>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Bias is the central risk</a:t>
            </a:r>
            <a:endParaRPr lang="en-US" sz="1400" dirty="0"/>
          </a:p>
        </p:txBody>
      </p:sp>
      <p:sp>
        <p:nvSpPr>
          <p:cNvPr id="22" name="Text 17"/>
          <p:cNvSpPr txBox="1"/>
          <p:nvPr/>
        </p:nvSpPr>
        <p:spPr>
          <a:xfrm>
            <a:off x="4297680" y="1792224"/>
            <a:ext cx="4297680" cy="603504"/>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Volume is not representativeness. Always ask who is missing, and benchmark.</a:t>
            </a:r>
            <a:endParaRPr lang="en-US" sz="1100" dirty="0"/>
          </a:p>
        </p:txBody>
      </p:sp>
      <p:sp>
        <p:nvSpPr>
          <p:cNvPr id="23" name="Shape 18"/>
          <p:cNvSpPr/>
          <p:nvPr/>
        </p:nvSpPr>
        <p:spPr>
          <a:xfrm>
            <a:off x="457200" y="2487168"/>
            <a:ext cx="8229600" cy="603504"/>
          </a:xfrm>
          <a:prstGeom prst="roundRect">
            <a:avLst>
              <a:gd name="adj" fmla="val 12121"/>
            </a:avLst>
          </a:prstGeom>
          <a:solidFill>
            <a:srgbClr val="F4F7F5"/>
          </a:solidFill>
          <a:ln w="9525">
            <a:solidFill>
              <a:srgbClr val="D5DED9"/>
            </a:solidFill>
            <a:prstDash val="solid"/>
          </a:ln>
        </p:spPr>
      </p:sp>
      <p:sp>
        <p:nvSpPr>
          <p:cNvPr id="24" name="Shape 19"/>
          <p:cNvSpPr/>
          <p:nvPr/>
        </p:nvSpPr>
        <p:spPr>
          <a:xfrm>
            <a:off x="566928" y="2578608"/>
            <a:ext cx="420624" cy="420624"/>
          </a:xfrm>
          <a:prstGeom prst="ellipse">
            <a:avLst/>
          </a:prstGeom>
          <a:solidFill>
            <a:srgbClr val="D49A00">
              <a:alpha val="22000"/>
            </a:srgbClr>
          </a:solidFill>
          <a:ln/>
        </p:spPr>
      </p:sp>
      <p:pic>
        <p:nvPicPr>
          <p:cNvPr id="25" name="Image 2" descr="preencoded.png">    </p:cNvPr>
          <p:cNvPicPr>
            <a:picLocks noChangeAspect="1"/>
          </p:cNvPicPr>
          <p:nvPr/>
        </p:nvPicPr>
        <p:blipFill>
          <a:blip r:embed="rId3"/>
          <a:stretch>
            <a:fillRect/>
          </a:stretch>
        </p:blipFill>
        <p:spPr>
          <a:xfrm>
            <a:off x="672084" y="2683764"/>
            <a:ext cx="210312" cy="210312"/>
          </a:xfrm>
          <a:prstGeom prst="rect">
            <a:avLst/>
          </a:prstGeom>
        </p:spPr>
      </p:pic>
      <p:sp>
        <p:nvSpPr>
          <p:cNvPr id="26" name="Text 20"/>
          <p:cNvSpPr txBox="1"/>
          <p:nvPr/>
        </p:nvSpPr>
        <p:spPr>
          <a:xfrm>
            <a:off x="1097280" y="2487168"/>
            <a:ext cx="457200" cy="603504"/>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03</a:t>
            </a:r>
            <a:endParaRPr lang="en-US" sz="1800" dirty="0"/>
          </a:p>
        </p:txBody>
      </p:sp>
      <p:sp>
        <p:nvSpPr>
          <p:cNvPr id="27" name="Text 21"/>
          <p:cNvSpPr txBox="1"/>
          <p:nvPr/>
        </p:nvSpPr>
        <p:spPr>
          <a:xfrm>
            <a:off x="1600200" y="2487168"/>
            <a:ext cx="2651760" cy="603504"/>
          </a:xfrm>
          <a:prstGeom prst="rect">
            <a:avLst/>
          </a:prstGeom>
          <a:noFill/>
          <a:ln/>
        </p:spPr>
        <p:txBody>
          <a:bodyPr wrap="square" lIns="0" tIns="0" rIns="0" bIns="0" rtlCol="0" anchor="ctr"/>
          <a:lstStyle/>
          <a:p>
            <a:pPr indent="0" marL="0">
              <a:buNone/>
            </a:pPr>
            <a:r>
              <a:rPr lang="en-US" sz="1400" b="1" dirty="0">
                <a:solidFill>
                  <a:srgbClr val="D49A00"/>
                </a:solidFill>
                <a:latin typeface="Calibri" pitchFamily="34" charset="0"/>
                <a:ea typeface="Calibri" pitchFamily="34" charset="-122"/>
                <a:cs typeface="Calibri" pitchFamily="34" charset="-120"/>
              </a:rPr>
              <a:t>Access is a relationship</a:t>
            </a:r>
            <a:endParaRPr lang="en-US" sz="1400" dirty="0"/>
          </a:p>
        </p:txBody>
      </p:sp>
      <p:sp>
        <p:nvSpPr>
          <p:cNvPr id="28" name="Text 22"/>
          <p:cNvSpPr txBox="1"/>
          <p:nvPr/>
        </p:nvSpPr>
        <p:spPr>
          <a:xfrm>
            <a:off x="4297680" y="2487168"/>
            <a:ext cx="4297680" cy="603504"/>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Build partnerships before crises; move code to data; plan the exit.</a:t>
            </a:r>
            <a:endParaRPr lang="en-US" sz="1100" dirty="0"/>
          </a:p>
        </p:txBody>
      </p:sp>
      <p:sp>
        <p:nvSpPr>
          <p:cNvPr id="29" name="Shape 23"/>
          <p:cNvSpPr/>
          <p:nvPr/>
        </p:nvSpPr>
        <p:spPr>
          <a:xfrm>
            <a:off x="457200" y="3182112"/>
            <a:ext cx="8229600" cy="603504"/>
          </a:xfrm>
          <a:prstGeom prst="roundRect">
            <a:avLst>
              <a:gd name="adj" fmla="val 12121"/>
            </a:avLst>
          </a:prstGeom>
          <a:solidFill>
            <a:srgbClr val="F4F7F5"/>
          </a:solidFill>
          <a:ln w="9525">
            <a:solidFill>
              <a:srgbClr val="D5DED9"/>
            </a:solidFill>
            <a:prstDash val="solid"/>
          </a:ln>
        </p:spPr>
      </p:sp>
      <p:sp>
        <p:nvSpPr>
          <p:cNvPr id="30" name="Shape 24"/>
          <p:cNvSpPr/>
          <p:nvPr/>
        </p:nvSpPr>
        <p:spPr>
          <a:xfrm>
            <a:off x="566928" y="3273552"/>
            <a:ext cx="420624" cy="420624"/>
          </a:xfrm>
          <a:prstGeom prst="ellipse">
            <a:avLst/>
          </a:prstGeom>
          <a:solidFill>
            <a:srgbClr val="C4621D">
              <a:alpha val="22000"/>
            </a:srgbClr>
          </a:solidFill>
          <a:ln/>
        </p:spPr>
      </p:sp>
      <p:pic>
        <p:nvPicPr>
          <p:cNvPr id="31" name="Image 3" descr="preencoded.png">    </p:cNvPr>
          <p:cNvPicPr>
            <a:picLocks noChangeAspect="1"/>
          </p:cNvPicPr>
          <p:nvPr/>
        </p:nvPicPr>
        <p:blipFill>
          <a:blip r:embed="rId4"/>
          <a:stretch>
            <a:fillRect/>
          </a:stretch>
        </p:blipFill>
        <p:spPr>
          <a:xfrm>
            <a:off x="672084" y="3378708"/>
            <a:ext cx="210312" cy="210312"/>
          </a:xfrm>
          <a:prstGeom prst="rect">
            <a:avLst/>
          </a:prstGeom>
        </p:spPr>
      </p:pic>
      <p:sp>
        <p:nvSpPr>
          <p:cNvPr id="32" name="Text 25"/>
          <p:cNvSpPr txBox="1"/>
          <p:nvPr/>
        </p:nvSpPr>
        <p:spPr>
          <a:xfrm>
            <a:off x="1097280" y="3182112"/>
            <a:ext cx="457200" cy="603504"/>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04</a:t>
            </a:r>
            <a:endParaRPr lang="en-US" sz="1800" dirty="0"/>
          </a:p>
        </p:txBody>
      </p:sp>
      <p:sp>
        <p:nvSpPr>
          <p:cNvPr id="33" name="Text 26"/>
          <p:cNvSpPr txBox="1"/>
          <p:nvPr/>
        </p:nvSpPr>
        <p:spPr>
          <a:xfrm>
            <a:off x="1600200" y="3182112"/>
            <a:ext cx="2651760" cy="603504"/>
          </a:xfrm>
          <a:prstGeom prst="rect">
            <a:avLst/>
          </a:prstGeom>
          <a:noFill/>
          <a:ln/>
        </p:spPr>
        <p:txBody>
          <a:bodyPr wrap="square" lIns="0" tIns="0" rIns="0" bIns="0" rtlCol="0" anchor="ctr"/>
          <a:lstStyle/>
          <a:p>
            <a:pPr indent="0" marL="0">
              <a:buNone/>
            </a:pPr>
            <a:r>
              <a:rPr lang="en-US" sz="1400" b="1" dirty="0">
                <a:solidFill>
                  <a:srgbClr val="C4621D"/>
                </a:solidFill>
                <a:latin typeface="Calibri" pitchFamily="34" charset="0"/>
                <a:ea typeface="Calibri" pitchFamily="34" charset="-122"/>
                <a:cs typeface="Calibri" pitchFamily="34" charset="-120"/>
              </a:rPr>
              <a:t>Trust is the infrastructure</a:t>
            </a:r>
            <a:endParaRPr lang="en-US" sz="1400" dirty="0"/>
          </a:p>
        </p:txBody>
      </p:sp>
      <p:sp>
        <p:nvSpPr>
          <p:cNvPr id="34" name="Text 27"/>
          <p:cNvSpPr txBox="1"/>
          <p:nvPr/>
        </p:nvSpPr>
        <p:spPr>
          <a:xfrm>
            <a:off x="4297680" y="3182112"/>
            <a:ext cx="4297680" cy="603504"/>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Law, ethics and transparency are what make innovation last.</a:t>
            </a:r>
            <a:endParaRPr lang="en-US" sz="1100" dirty="0"/>
          </a:p>
        </p:txBody>
      </p:sp>
      <p:sp>
        <p:nvSpPr>
          <p:cNvPr id="35" name="Shape 28"/>
          <p:cNvSpPr/>
          <p:nvPr/>
        </p:nvSpPr>
        <p:spPr>
          <a:xfrm>
            <a:off x="457200" y="3877056"/>
            <a:ext cx="8229600" cy="603504"/>
          </a:xfrm>
          <a:prstGeom prst="roundRect">
            <a:avLst>
              <a:gd name="adj" fmla="val 12121"/>
            </a:avLst>
          </a:prstGeom>
          <a:solidFill>
            <a:srgbClr val="F4F7F5"/>
          </a:solidFill>
          <a:ln w="9525">
            <a:solidFill>
              <a:srgbClr val="D5DED9"/>
            </a:solidFill>
            <a:prstDash val="solid"/>
          </a:ln>
        </p:spPr>
      </p:sp>
      <p:sp>
        <p:nvSpPr>
          <p:cNvPr id="36" name="Shape 29"/>
          <p:cNvSpPr/>
          <p:nvPr/>
        </p:nvSpPr>
        <p:spPr>
          <a:xfrm>
            <a:off x="566928" y="3968496"/>
            <a:ext cx="420624" cy="420624"/>
          </a:xfrm>
          <a:prstGeom prst="ellipse">
            <a:avLst/>
          </a:prstGeom>
          <a:solidFill>
            <a:srgbClr val="00704A">
              <a:alpha val="22000"/>
            </a:srgbClr>
          </a:solidFill>
          <a:ln/>
        </p:spPr>
      </p:sp>
      <p:pic>
        <p:nvPicPr>
          <p:cNvPr id="37" name="Image 4" descr="preencoded.png">    </p:cNvPr>
          <p:cNvPicPr>
            <a:picLocks noChangeAspect="1"/>
          </p:cNvPicPr>
          <p:nvPr/>
        </p:nvPicPr>
        <p:blipFill>
          <a:blip r:embed="rId5"/>
          <a:stretch>
            <a:fillRect/>
          </a:stretch>
        </p:blipFill>
        <p:spPr>
          <a:xfrm>
            <a:off x="672084" y="4073652"/>
            <a:ext cx="210312" cy="210312"/>
          </a:xfrm>
          <a:prstGeom prst="rect">
            <a:avLst/>
          </a:prstGeom>
        </p:spPr>
      </p:pic>
      <p:sp>
        <p:nvSpPr>
          <p:cNvPr id="38" name="Text 30"/>
          <p:cNvSpPr txBox="1"/>
          <p:nvPr/>
        </p:nvSpPr>
        <p:spPr>
          <a:xfrm>
            <a:off x="1097280" y="3877056"/>
            <a:ext cx="457200" cy="603504"/>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05</a:t>
            </a:r>
            <a:endParaRPr lang="en-US" sz="1800" dirty="0"/>
          </a:p>
        </p:txBody>
      </p:sp>
      <p:sp>
        <p:nvSpPr>
          <p:cNvPr id="39" name="Text 31"/>
          <p:cNvSpPr txBox="1"/>
          <p:nvPr/>
        </p:nvSpPr>
        <p:spPr>
          <a:xfrm>
            <a:off x="1600200" y="3877056"/>
            <a:ext cx="2651760" cy="603504"/>
          </a:xfrm>
          <a:prstGeom prst="rect">
            <a:avLst/>
          </a:prstGeom>
          <a:noFill/>
          <a:ln/>
        </p:spPr>
        <p:txBody>
          <a:bodyPr wrap="square" lIns="0" tIns="0" rIns="0" bIns="0" rtlCol="0" anchor="ctr"/>
          <a:lstStyle/>
          <a:p>
            <a:pPr indent="0" marL="0">
              <a:buNone/>
            </a:pPr>
            <a:r>
              <a:rPr lang="en-US" sz="1400" b="1" dirty="0">
                <a:solidFill>
                  <a:srgbClr val="00704A"/>
                </a:solidFill>
                <a:latin typeface="Calibri" pitchFamily="34" charset="0"/>
                <a:ea typeface="Calibri" pitchFamily="34" charset="-122"/>
                <a:cs typeface="Calibri" pitchFamily="34" charset="-120"/>
              </a:rPr>
              <a:t>Combine, do not replace</a:t>
            </a:r>
            <a:endParaRPr lang="en-US" sz="1400" dirty="0"/>
          </a:p>
        </p:txBody>
      </p:sp>
      <p:sp>
        <p:nvSpPr>
          <p:cNvPr id="40" name="Text 32"/>
          <p:cNvSpPr txBox="1"/>
          <p:nvPr/>
        </p:nvSpPr>
        <p:spPr>
          <a:xfrm>
            <a:off x="4297680" y="3877056"/>
            <a:ext cx="4297680" cy="603504"/>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New sources add speed and detail; official sources anchor the truth.</a:t>
            </a:r>
            <a:endParaRPr lang="en-US" sz="1100" dirty="0"/>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REFERENCE</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Glossary of essential terms</a:t>
            </a:r>
            <a:endParaRPr lang="en-US" sz="24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42</a:t>
            </a:r>
            <a:endParaRPr lang="en-US" sz="850" dirty="0"/>
          </a:p>
        </p:txBody>
      </p:sp>
      <p:sp>
        <p:nvSpPr>
          <p:cNvPr id="11" name="Shape 8"/>
          <p:cNvSpPr/>
          <p:nvPr/>
        </p:nvSpPr>
        <p:spPr>
          <a:xfrm>
            <a:off x="457200" y="1097280"/>
            <a:ext cx="4023360" cy="603504"/>
          </a:xfrm>
          <a:prstGeom prst="roundRect">
            <a:avLst>
              <a:gd name="adj" fmla="val 12121"/>
            </a:avLst>
          </a:prstGeom>
          <a:solidFill>
            <a:srgbClr val="F4F7F5"/>
          </a:solidFill>
          <a:ln w="9525">
            <a:solidFill>
              <a:srgbClr val="D5DED9"/>
            </a:solidFill>
            <a:prstDash val="solid"/>
          </a:ln>
        </p:spPr>
      </p:sp>
      <p:sp>
        <p:nvSpPr>
          <p:cNvPr id="12" name="Text 9"/>
          <p:cNvSpPr txBox="1"/>
          <p:nvPr/>
        </p:nvSpPr>
        <p:spPr>
          <a:xfrm>
            <a:off x="594360" y="1143000"/>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Non-traditional data</a:t>
            </a:r>
            <a:endParaRPr lang="en-US" sz="1150" dirty="0"/>
          </a:p>
        </p:txBody>
      </p:sp>
      <p:sp>
        <p:nvSpPr>
          <p:cNvPr id="13" name="Text 10"/>
          <p:cNvSpPr txBox="1"/>
          <p:nvPr/>
        </p:nvSpPr>
        <p:spPr>
          <a:xfrm>
            <a:off x="594360" y="1371600"/>
            <a:ext cx="3749040" cy="31089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Data generated for a non-statistical purpose and repurposed as evidence.</a:t>
            </a:r>
            <a:endParaRPr lang="en-US" sz="1000" dirty="0"/>
          </a:p>
        </p:txBody>
      </p:sp>
      <p:sp>
        <p:nvSpPr>
          <p:cNvPr id="14" name="Shape 11"/>
          <p:cNvSpPr/>
          <p:nvPr/>
        </p:nvSpPr>
        <p:spPr>
          <a:xfrm>
            <a:off x="4663440" y="1097280"/>
            <a:ext cx="4023360" cy="603504"/>
          </a:xfrm>
          <a:prstGeom prst="roundRect">
            <a:avLst>
              <a:gd name="adj" fmla="val 12121"/>
            </a:avLst>
          </a:prstGeom>
          <a:solidFill>
            <a:srgbClr val="F4F7F5"/>
          </a:solidFill>
          <a:ln w="9525">
            <a:solidFill>
              <a:srgbClr val="D5DED9"/>
            </a:solidFill>
            <a:prstDash val="solid"/>
          </a:ln>
        </p:spPr>
      </p:sp>
      <p:sp>
        <p:nvSpPr>
          <p:cNvPr id="15" name="Text 12"/>
          <p:cNvSpPr txBox="1"/>
          <p:nvPr/>
        </p:nvSpPr>
        <p:spPr>
          <a:xfrm>
            <a:off x="4800600" y="1143000"/>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Proxy</a:t>
            </a:r>
            <a:endParaRPr lang="en-US" sz="1150" dirty="0"/>
          </a:p>
        </p:txBody>
      </p:sp>
      <p:sp>
        <p:nvSpPr>
          <p:cNvPr id="16" name="Text 13"/>
          <p:cNvSpPr txBox="1"/>
          <p:nvPr/>
        </p:nvSpPr>
        <p:spPr>
          <a:xfrm>
            <a:off x="4800600" y="1371600"/>
            <a:ext cx="3749040" cy="31089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An observable variable standing in for a concept that cannot be measured directly.</a:t>
            </a:r>
            <a:endParaRPr lang="en-US" sz="1000" dirty="0"/>
          </a:p>
        </p:txBody>
      </p:sp>
      <p:sp>
        <p:nvSpPr>
          <p:cNvPr id="17" name="Shape 14"/>
          <p:cNvSpPr/>
          <p:nvPr/>
        </p:nvSpPr>
        <p:spPr>
          <a:xfrm>
            <a:off x="457200" y="1792224"/>
            <a:ext cx="4023360" cy="603504"/>
          </a:xfrm>
          <a:prstGeom prst="roundRect">
            <a:avLst>
              <a:gd name="adj" fmla="val 12121"/>
            </a:avLst>
          </a:prstGeom>
          <a:solidFill>
            <a:srgbClr val="F4F7F5"/>
          </a:solidFill>
          <a:ln w="9525">
            <a:solidFill>
              <a:srgbClr val="D5DED9"/>
            </a:solidFill>
            <a:prstDash val="solid"/>
          </a:ln>
        </p:spPr>
      </p:sp>
      <p:sp>
        <p:nvSpPr>
          <p:cNvPr id="18" name="Text 15"/>
          <p:cNvSpPr txBox="1"/>
          <p:nvPr/>
        </p:nvSpPr>
        <p:spPr>
          <a:xfrm>
            <a:off x="594360" y="1837944"/>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Coverage bias</a:t>
            </a:r>
            <a:endParaRPr lang="en-US" sz="1150" dirty="0"/>
          </a:p>
        </p:txBody>
      </p:sp>
      <p:sp>
        <p:nvSpPr>
          <p:cNvPr id="19" name="Text 16"/>
          <p:cNvSpPr txBox="1"/>
          <p:nvPr/>
        </p:nvSpPr>
        <p:spPr>
          <a:xfrm>
            <a:off x="594360" y="2066544"/>
            <a:ext cx="3749040" cy="31089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Error arising when the units in the data differ systematically from the target population.</a:t>
            </a:r>
            <a:endParaRPr lang="en-US" sz="1000" dirty="0"/>
          </a:p>
        </p:txBody>
      </p:sp>
      <p:sp>
        <p:nvSpPr>
          <p:cNvPr id="20" name="Shape 17"/>
          <p:cNvSpPr/>
          <p:nvPr/>
        </p:nvSpPr>
        <p:spPr>
          <a:xfrm>
            <a:off x="4663440" y="1792224"/>
            <a:ext cx="4023360" cy="603504"/>
          </a:xfrm>
          <a:prstGeom prst="roundRect">
            <a:avLst>
              <a:gd name="adj" fmla="val 12121"/>
            </a:avLst>
          </a:prstGeom>
          <a:solidFill>
            <a:srgbClr val="F4F7F5"/>
          </a:solidFill>
          <a:ln w="9525">
            <a:solidFill>
              <a:srgbClr val="D5DED9"/>
            </a:solidFill>
            <a:prstDash val="solid"/>
          </a:ln>
        </p:spPr>
      </p:sp>
      <p:sp>
        <p:nvSpPr>
          <p:cNvPr id="21" name="Text 18"/>
          <p:cNvSpPr txBox="1"/>
          <p:nvPr/>
        </p:nvSpPr>
        <p:spPr>
          <a:xfrm>
            <a:off x="4800600" y="1837944"/>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Data defect correlation (ρ)</a:t>
            </a:r>
            <a:endParaRPr lang="en-US" sz="1150" dirty="0"/>
          </a:p>
        </p:txBody>
      </p:sp>
      <p:sp>
        <p:nvSpPr>
          <p:cNvPr id="22" name="Text 19"/>
          <p:cNvSpPr txBox="1"/>
          <p:nvPr/>
        </p:nvSpPr>
        <p:spPr>
          <a:xfrm>
            <a:off x="4800600" y="2066544"/>
            <a:ext cx="3749040" cy="31089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Correlation between being recorded and the value measured; zero under random sampling.</a:t>
            </a:r>
            <a:endParaRPr lang="en-US" sz="1000" dirty="0"/>
          </a:p>
        </p:txBody>
      </p:sp>
      <p:sp>
        <p:nvSpPr>
          <p:cNvPr id="23" name="Shape 20"/>
          <p:cNvSpPr/>
          <p:nvPr/>
        </p:nvSpPr>
        <p:spPr>
          <a:xfrm>
            <a:off x="457200" y="2487168"/>
            <a:ext cx="4023360" cy="603504"/>
          </a:xfrm>
          <a:prstGeom prst="roundRect">
            <a:avLst>
              <a:gd name="adj" fmla="val 12121"/>
            </a:avLst>
          </a:prstGeom>
          <a:solidFill>
            <a:srgbClr val="F4F7F5"/>
          </a:solidFill>
          <a:ln w="9525">
            <a:solidFill>
              <a:srgbClr val="D5DED9"/>
            </a:solidFill>
            <a:prstDash val="solid"/>
          </a:ln>
        </p:spPr>
      </p:sp>
      <p:sp>
        <p:nvSpPr>
          <p:cNvPr id="24" name="Text 21"/>
          <p:cNvSpPr txBox="1"/>
          <p:nvPr/>
        </p:nvSpPr>
        <p:spPr>
          <a:xfrm>
            <a:off x="594360" y="2532888"/>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Calibration</a:t>
            </a:r>
            <a:endParaRPr lang="en-US" sz="1150" dirty="0"/>
          </a:p>
        </p:txBody>
      </p:sp>
      <p:sp>
        <p:nvSpPr>
          <p:cNvPr id="25" name="Text 22"/>
          <p:cNvSpPr txBox="1"/>
          <p:nvPr/>
        </p:nvSpPr>
        <p:spPr>
          <a:xfrm>
            <a:off x="594360" y="2761488"/>
            <a:ext cx="3749040" cy="31089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Adjusting weights so that estimates reproduce known totals from a trusted source.</a:t>
            </a:r>
            <a:endParaRPr lang="en-US" sz="1000" dirty="0"/>
          </a:p>
        </p:txBody>
      </p:sp>
      <p:sp>
        <p:nvSpPr>
          <p:cNvPr id="26" name="Shape 23"/>
          <p:cNvSpPr/>
          <p:nvPr/>
        </p:nvSpPr>
        <p:spPr>
          <a:xfrm>
            <a:off x="4663440" y="2487168"/>
            <a:ext cx="4023360" cy="603504"/>
          </a:xfrm>
          <a:prstGeom prst="roundRect">
            <a:avLst>
              <a:gd name="adj" fmla="val 12121"/>
            </a:avLst>
          </a:prstGeom>
          <a:solidFill>
            <a:srgbClr val="F4F7F5"/>
          </a:solidFill>
          <a:ln w="9525">
            <a:solidFill>
              <a:srgbClr val="D5DED9"/>
            </a:solidFill>
            <a:prstDash val="solid"/>
          </a:ln>
        </p:spPr>
      </p:sp>
      <p:sp>
        <p:nvSpPr>
          <p:cNvPr id="27" name="Text 24"/>
          <p:cNvSpPr txBox="1"/>
          <p:nvPr/>
        </p:nvSpPr>
        <p:spPr>
          <a:xfrm>
            <a:off x="4800600" y="2532888"/>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Small-area estimation</a:t>
            </a:r>
            <a:endParaRPr lang="en-US" sz="1150" dirty="0"/>
          </a:p>
        </p:txBody>
      </p:sp>
      <p:sp>
        <p:nvSpPr>
          <p:cNvPr id="28" name="Text 25"/>
          <p:cNvSpPr txBox="1"/>
          <p:nvPr/>
        </p:nvSpPr>
        <p:spPr>
          <a:xfrm>
            <a:off x="4800600" y="2761488"/>
            <a:ext cx="3749040" cy="31089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Model-based estimates for fine geography, combining survey and auxiliary data.</a:t>
            </a:r>
            <a:endParaRPr lang="en-US" sz="1000" dirty="0"/>
          </a:p>
        </p:txBody>
      </p:sp>
      <p:sp>
        <p:nvSpPr>
          <p:cNvPr id="29" name="Shape 26"/>
          <p:cNvSpPr/>
          <p:nvPr/>
        </p:nvSpPr>
        <p:spPr>
          <a:xfrm>
            <a:off x="457200" y="3182112"/>
            <a:ext cx="4023360" cy="603504"/>
          </a:xfrm>
          <a:prstGeom prst="roundRect">
            <a:avLst>
              <a:gd name="adj" fmla="val 12121"/>
            </a:avLst>
          </a:prstGeom>
          <a:solidFill>
            <a:srgbClr val="F4F7F5"/>
          </a:solidFill>
          <a:ln w="9525">
            <a:solidFill>
              <a:srgbClr val="D5DED9"/>
            </a:solidFill>
            <a:prstDash val="solid"/>
          </a:ln>
        </p:spPr>
      </p:sp>
      <p:sp>
        <p:nvSpPr>
          <p:cNvPr id="30" name="Text 27"/>
          <p:cNvSpPr txBox="1"/>
          <p:nvPr/>
        </p:nvSpPr>
        <p:spPr>
          <a:xfrm>
            <a:off x="594360" y="3227832"/>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Call detail record (CDR)</a:t>
            </a:r>
            <a:endParaRPr lang="en-US" sz="1150" dirty="0"/>
          </a:p>
        </p:txBody>
      </p:sp>
      <p:sp>
        <p:nvSpPr>
          <p:cNvPr id="31" name="Text 28"/>
          <p:cNvSpPr txBox="1"/>
          <p:nvPr/>
        </p:nvSpPr>
        <p:spPr>
          <a:xfrm>
            <a:off x="594360" y="3456432"/>
            <a:ext cx="3749040" cy="31089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An operator log of a phone event: antenna, time, duration.</a:t>
            </a:r>
            <a:endParaRPr lang="en-US" sz="1000" dirty="0"/>
          </a:p>
        </p:txBody>
      </p:sp>
      <p:sp>
        <p:nvSpPr>
          <p:cNvPr id="32" name="Shape 29"/>
          <p:cNvSpPr/>
          <p:nvPr/>
        </p:nvSpPr>
        <p:spPr>
          <a:xfrm>
            <a:off x="4663440" y="3182112"/>
            <a:ext cx="4023360" cy="603504"/>
          </a:xfrm>
          <a:prstGeom prst="roundRect">
            <a:avLst>
              <a:gd name="adj" fmla="val 12121"/>
            </a:avLst>
          </a:prstGeom>
          <a:solidFill>
            <a:srgbClr val="F4F7F5"/>
          </a:solidFill>
          <a:ln w="9525">
            <a:solidFill>
              <a:srgbClr val="D5DED9"/>
            </a:solidFill>
            <a:prstDash val="solid"/>
          </a:ln>
        </p:spPr>
      </p:sp>
      <p:sp>
        <p:nvSpPr>
          <p:cNvPr id="33" name="Text 30"/>
          <p:cNvSpPr txBox="1"/>
          <p:nvPr/>
        </p:nvSpPr>
        <p:spPr>
          <a:xfrm>
            <a:off x="4800600" y="3227832"/>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Quadkey</a:t>
            </a:r>
            <a:endParaRPr lang="en-US" sz="1150" dirty="0"/>
          </a:p>
        </p:txBody>
      </p:sp>
      <p:sp>
        <p:nvSpPr>
          <p:cNvPr id="34" name="Text 31"/>
          <p:cNvSpPr txBox="1"/>
          <p:nvPr/>
        </p:nvSpPr>
        <p:spPr>
          <a:xfrm>
            <a:off x="4800600" y="3456432"/>
            <a:ext cx="3749040" cy="31089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 string identifying a web-Mercator map tile; used as the Ookla tile ID.</a:t>
            </a:r>
            <a:endParaRPr lang="en-US" sz="1000" dirty="0"/>
          </a:p>
        </p:txBody>
      </p:sp>
      <p:sp>
        <p:nvSpPr>
          <p:cNvPr id="35" name="Shape 32"/>
          <p:cNvSpPr/>
          <p:nvPr/>
        </p:nvSpPr>
        <p:spPr>
          <a:xfrm>
            <a:off x="457200" y="3877056"/>
            <a:ext cx="4023360" cy="603504"/>
          </a:xfrm>
          <a:prstGeom prst="roundRect">
            <a:avLst>
              <a:gd name="adj" fmla="val 12121"/>
            </a:avLst>
          </a:prstGeom>
          <a:solidFill>
            <a:srgbClr val="F4F7F5"/>
          </a:solidFill>
          <a:ln w="9525">
            <a:solidFill>
              <a:srgbClr val="D5DED9"/>
            </a:solidFill>
            <a:prstDash val="solid"/>
          </a:ln>
        </p:spPr>
      </p:sp>
      <p:sp>
        <p:nvSpPr>
          <p:cNvPr id="36" name="Text 33"/>
          <p:cNvSpPr txBox="1"/>
          <p:nvPr/>
        </p:nvSpPr>
        <p:spPr>
          <a:xfrm>
            <a:off x="594360" y="3922776"/>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Code-to-data</a:t>
            </a:r>
            <a:endParaRPr lang="en-US" sz="1150" dirty="0"/>
          </a:p>
        </p:txBody>
      </p:sp>
      <p:sp>
        <p:nvSpPr>
          <p:cNvPr id="37" name="Text 34"/>
          <p:cNvSpPr txBox="1"/>
          <p:nvPr/>
        </p:nvSpPr>
        <p:spPr>
          <a:xfrm>
            <a:off x="594360" y="4151376"/>
            <a:ext cx="3749040" cy="31089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Access mode where the analyst's code runs in the provider's environment.</a:t>
            </a:r>
            <a:endParaRPr lang="en-US" sz="1000" dirty="0"/>
          </a:p>
        </p:txBody>
      </p:sp>
      <p:sp>
        <p:nvSpPr>
          <p:cNvPr id="38" name="Shape 35"/>
          <p:cNvSpPr/>
          <p:nvPr/>
        </p:nvSpPr>
        <p:spPr>
          <a:xfrm>
            <a:off x="4663440" y="3877056"/>
            <a:ext cx="4023360" cy="603504"/>
          </a:xfrm>
          <a:prstGeom prst="roundRect">
            <a:avLst>
              <a:gd name="adj" fmla="val 12121"/>
            </a:avLst>
          </a:prstGeom>
          <a:solidFill>
            <a:srgbClr val="F4F7F5"/>
          </a:solidFill>
          <a:ln w="9525">
            <a:solidFill>
              <a:srgbClr val="D5DED9"/>
            </a:solidFill>
            <a:prstDash val="solid"/>
          </a:ln>
        </p:spPr>
      </p:sp>
      <p:sp>
        <p:nvSpPr>
          <p:cNvPr id="39" name="Text 36"/>
          <p:cNvSpPr txBox="1"/>
          <p:nvPr/>
        </p:nvSpPr>
        <p:spPr>
          <a:xfrm>
            <a:off x="4800600" y="3922776"/>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Five Safes</a:t>
            </a:r>
            <a:endParaRPr lang="en-US" sz="1150" dirty="0"/>
          </a:p>
        </p:txBody>
      </p:sp>
      <p:sp>
        <p:nvSpPr>
          <p:cNvPr id="40" name="Text 37"/>
          <p:cNvSpPr txBox="1"/>
          <p:nvPr/>
        </p:nvSpPr>
        <p:spPr>
          <a:xfrm>
            <a:off x="4800600" y="4151376"/>
            <a:ext cx="3749040" cy="31089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Projects, people, settings, data and outputs — a frame for safe data access.</a:t>
            </a:r>
            <a:endParaRPr lang="en-US" sz="1000" dirty="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REFERENCE</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Sources and further reading</a:t>
            </a:r>
            <a:endParaRPr lang="en-US" sz="24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Non-Traditional Data Sources · The Hidden Treasure · STG17 Workshop</a:t>
            </a:r>
            <a:endParaRPr lang="en-US" sz="85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43</a:t>
            </a:r>
            <a:endParaRPr lang="en-US" sz="850" dirty="0"/>
          </a:p>
        </p:txBody>
      </p:sp>
      <p:sp>
        <p:nvSpPr>
          <p:cNvPr id="11" name="Shape 8"/>
          <p:cNvSpPr/>
          <p:nvPr/>
        </p:nvSpPr>
        <p:spPr>
          <a:xfrm>
            <a:off x="457200" y="1097280"/>
            <a:ext cx="4023360" cy="3474720"/>
          </a:xfrm>
          <a:prstGeom prst="roundRect">
            <a:avLst>
              <a:gd name="adj" fmla="val 2105"/>
            </a:avLst>
          </a:prstGeom>
          <a:solidFill>
            <a:srgbClr val="F4F7F5"/>
          </a:solidFill>
          <a:ln w="9525">
            <a:solidFill>
              <a:srgbClr val="D5DED9"/>
            </a:solidFill>
            <a:prstDash val="solid"/>
          </a:ln>
        </p:spPr>
      </p:sp>
      <p:sp>
        <p:nvSpPr>
          <p:cNvPr id="12" name="Shape 9"/>
          <p:cNvSpPr/>
          <p:nvPr/>
        </p:nvSpPr>
        <p:spPr>
          <a:xfrm>
            <a:off x="4663440" y="1097280"/>
            <a:ext cx="4023360" cy="3474720"/>
          </a:xfrm>
          <a:prstGeom prst="roundRect">
            <a:avLst>
              <a:gd name="adj" fmla="val 2105"/>
            </a:avLst>
          </a:prstGeom>
          <a:solidFill>
            <a:srgbClr val="F4F7F5"/>
          </a:solidFill>
          <a:ln w="9525">
            <a:solidFill>
              <a:srgbClr val="D5DED9"/>
            </a:solidFill>
            <a:prstDash val="solid"/>
          </a:ln>
        </p:spPr>
      </p:sp>
      <p:sp>
        <p:nvSpPr>
          <p:cNvPr id="13" name="Text 10"/>
          <p:cNvSpPr txBox="1"/>
          <p:nvPr/>
        </p:nvSpPr>
        <p:spPr>
          <a:xfrm>
            <a:off x="566928" y="1188720"/>
            <a:ext cx="3794760" cy="329184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AfDB, AU STATAFRIC &amp; NISR (2026). STG17 Technical Workshop — Emerging Issues, Emerging Practice. Agenda, v. 01/09/2026.</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Blumenstock, J., Cadamuro, G. &amp; On, R. (2015). Predicting poverty and wealth from mobile phone metadata. Science 350(6264).</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Cavallo, A. &amp; Rigobon, R. (2016). The Billion Prices Project. Journal of Economic Perspectives 30(2).</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Collaborative on Citizen Data (2025). The Copenhagen Framework on Citizen Data, v1.0. UN Statistical Commission, 56th session.</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de Montjoye, Y.-A. et al. (2013). Unique in the Crowd: the privacy bounds of human mobility. Scientific Reports 3: 1376.</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Desai, T., Ritchie, F. &amp; Welpton, R. (2016). Five Safes: designing data access for research. UWE Working Paper 1601.</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GSMA Intelligence (2026). The Mobile Economy Africa 2026.</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ITU (2025). Facts and Figures 2025; State of Digital Development in Africa 2025.</a:t>
            </a:r>
            <a:endParaRPr lang="en-US" sz="1000" dirty="0"/>
          </a:p>
        </p:txBody>
      </p:sp>
      <p:sp>
        <p:nvSpPr>
          <p:cNvPr id="14" name="Text 11"/>
          <p:cNvSpPr txBox="1"/>
          <p:nvPr/>
        </p:nvSpPr>
        <p:spPr>
          <a:xfrm>
            <a:off x="4773168" y="1188720"/>
            <a:ext cx="3794760" cy="329184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Jean, N. et al. (2016). Combining satellite imagery and machine learning to predict poverty. Science 353(6301).</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Meng, X.-L. (2018). Statistical paradises and paradoxes in big data (I). Annals of Applied Statistics 12(2): 685–726.</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Ookla. Speedtest Global Fixed and Mobile Network Performance Maps. github.com/teamookla/ookla-open-data.</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Román, M.O. et al. (2018). NASA's Black Marble nighttime lights product suite. Remote Sensing of Environment 210.</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UN General Assembly (2014). Fundamental Principles of Official Statistics, A/RES/68/261.</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UN Statistics Division. Methodological guide on the use of mobile phone data, Appendix 1.5 (Ghana). UN Statistics Wiki.</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UNECE (2013). Classification of Types of Big Data; UNECE (2014). A Suggested Framework for the Quality of Big Data.</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African Union (2009). African Charter on Statistics; AU (2014). Convention on Cyber Security and Personal Data Protection.</a:t>
            </a:r>
            <a:endParaRPr lang="en-US" sz="1000" dirty="0"/>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4864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DISCUSSION</a:t>
            </a:r>
            <a:endParaRPr lang="en-US" sz="1100" dirty="0"/>
          </a:p>
        </p:txBody>
      </p:sp>
      <p:sp>
        <p:nvSpPr>
          <p:cNvPr id="4" name="Text 1"/>
          <p:cNvSpPr txBox="1"/>
          <p:nvPr/>
        </p:nvSpPr>
        <p:spPr>
          <a:xfrm>
            <a:off x="548640" y="868680"/>
            <a:ext cx="5029200" cy="82296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5" name="Text 2"/>
          <p:cNvSpPr txBox="1"/>
          <p:nvPr/>
        </p:nvSpPr>
        <p:spPr>
          <a:xfrm>
            <a:off x="548640" y="1737360"/>
            <a:ext cx="4754880" cy="68580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The treasure was never the data. It is the decisions the data makes possible — safely.</a:t>
            </a:r>
            <a:endParaRPr lang="en-US" sz="1800" dirty="0"/>
          </a:p>
        </p:txBody>
      </p:sp>
      <p:sp>
        <p:nvSpPr>
          <p:cNvPr id="6" name="Shape 3"/>
          <p:cNvSpPr/>
          <p:nvPr/>
        </p:nvSpPr>
        <p:spPr>
          <a:xfrm>
            <a:off x="548640" y="2606040"/>
            <a:ext cx="5486400" cy="457200"/>
          </a:xfrm>
          <a:prstGeom prst="roundRect">
            <a:avLst>
              <a:gd name="adj" fmla="val 16000"/>
            </a:avLst>
          </a:prstGeom>
          <a:solidFill>
            <a:srgbClr val="FFFFFF">
              <a:alpha val="15000"/>
            </a:srgbClr>
          </a:solidFill>
          <a:ln w="9525">
            <a:solidFill>
              <a:srgbClr val="FFFFFF">
                <a:alpha val="50000"/>
              </a:srgbClr>
            </a:solidFill>
            <a:prstDash val="solid"/>
          </a:ln>
        </p:spPr>
      </p:sp>
      <p:sp>
        <p:nvSpPr>
          <p:cNvPr id="7" name="Text 4"/>
          <p:cNvSpPr txBox="1"/>
          <p:nvPr/>
        </p:nvSpPr>
        <p:spPr>
          <a:xfrm>
            <a:off x="658368" y="2606040"/>
            <a:ext cx="457200" cy="457200"/>
          </a:xfrm>
          <a:prstGeom prst="rect">
            <a:avLst/>
          </a:prstGeom>
          <a:noFill/>
          <a:ln/>
        </p:spPr>
        <p:txBody>
          <a:bodyPr wrap="square" lIns="0" tIns="0" rIns="0" bIns="0" rtlCol="0" anchor="ctr"/>
          <a:lstStyle/>
          <a:p>
            <a:pPr indent="0" marL="0">
              <a:buNone/>
            </a:pPr>
            <a:r>
              <a:rPr lang="en-US" sz="1400" b="1" dirty="0">
                <a:solidFill>
                  <a:srgbClr val="F5C242"/>
                </a:solidFill>
                <a:latin typeface="Calibri" pitchFamily="34" charset="0"/>
                <a:ea typeface="Calibri" pitchFamily="34" charset="-122"/>
                <a:cs typeface="Calibri" pitchFamily="34" charset="-120"/>
              </a:rPr>
              <a:t>Q1</a:t>
            </a:r>
            <a:endParaRPr lang="en-US" sz="1400" dirty="0"/>
          </a:p>
        </p:txBody>
      </p:sp>
      <p:sp>
        <p:nvSpPr>
          <p:cNvPr id="8" name="Text 5"/>
          <p:cNvSpPr txBox="1"/>
          <p:nvPr/>
        </p:nvSpPr>
        <p:spPr>
          <a:xfrm>
            <a:off x="1143000" y="2606040"/>
            <a:ext cx="480060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Which non-traditional source is your office closest to using in official statistics?</a:t>
            </a:r>
            <a:endParaRPr lang="en-US" sz="1200" dirty="0"/>
          </a:p>
        </p:txBody>
      </p:sp>
      <p:sp>
        <p:nvSpPr>
          <p:cNvPr id="9" name="Shape 6"/>
          <p:cNvSpPr/>
          <p:nvPr/>
        </p:nvSpPr>
        <p:spPr>
          <a:xfrm>
            <a:off x="548640" y="3172968"/>
            <a:ext cx="5486400" cy="457200"/>
          </a:xfrm>
          <a:prstGeom prst="roundRect">
            <a:avLst>
              <a:gd name="adj" fmla="val 16000"/>
            </a:avLst>
          </a:prstGeom>
          <a:solidFill>
            <a:srgbClr val="FFFFFF">
              <a:alpha val="15000"/>
            </a:srgbClr>
          </a:solidFill>
          <a:ln w="9525">
            <a:solidFill>
              <a:srgbClr val="FFFFFF">
                <a:alpha val="50000"/>
              </a:srgbClr>
            </a:solidFill>
            <a:prstDash val="solid"/>
          </a:ln>
        </p:spPr>
      </p:sp>
      <p:sp>
        <p:nvSpPr>
          <p:cNvPr id="10" name="Text 7"/>
          <p:cNvSpPr txBox="1"/>
          <p:nvPr/>
        </p:nvSpPr>
        <p:spPr>
          <a:xfrm>
            <a:off x="658368" y="3172968"/>
            <a:ext cx="457200" cy="457200"/>
          </a:xfrm>
          <a:prstGeom prst="rect">
            <a:avLst/>
          </a:prstGeom>
          <a:noFill/>
          <a:ln/>
        </p:spPr>
        <p:txBody>
          <a:bodyPr wrap="square" lIns="0" tIns="0" rIns="0" bIns="0" rtlCol="0" anchor="ctr"/>
          <a:lstStyle/>
          <a:p>
            <a:pPr indent="0" marL="0">
              <a:buNone/>
            </a:pPr>
            <a:r>
              <a:rPr lang="en-US" sz="1400" b="1" dirty="0">
                <a:solidFill>
                  <a:srgbClr val="F5C242"/>
                </a:solidFill>
                <a:latin typeface="Calibri" pitchFamily="34" charset="0"/>
                <a:ea typeface="Calibri" pitchFamily="34" charset="-122"/>
                <a:cs typeface="Calibri" pitchFamily="34" charset="-120"/>
              </a:rPr>
              <a:t>Q2</a:t>
            </a:r>
            <a:endParaRPr lang="en-US" sz="1400" dirty="0"/>
          </a:p>
        </p:txBody>
      </p:sp>
      <p:sp>
        <p:nvSpPr>
          <p:cNvPr id="11" name="Text 8"/>
          <p:cNvSpPr txBox="1"/>
          <p:nvPr/>
        </p:nvSpPr>
        <p:spPr>
          <a:xfrm>
            <a:off x="1143000" y="3172968"/>
            <a:ext cx="480060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What is the single biggest obstacle: access, skills, law, or trust?</a:t>
            </a:r>
            <a:endParaRPr lang="en-US" sz="1200" dirty="0"/>
          </a:p>
        </p:txBody>
      </p:sp>
      <p:sp>
        <p:nvSpPr>
          <p:cNvPr id="12" name="Shape 9"/>
          <p:cNvSpPr/>
          <p:nvPr/>
        </p:nvSpPr>
        <p:spPr>
          <a:xfrm>
            <a:off x="548640" y="3739896"/>
            <a:ext cx="5486400" cy="457200"/>
          </a:xfrm>
          <a:prstGeom prst="roundRect">
            <a:avLst>
              <a:gd name="adj" fmla="val 16000"/>
            </a:avLst>
          </a:prstGeom>
          <a:solidFill>
            <a:srgbClr val="FFFFFF">
              <a:alpha val="15000"/>
            </a:srgbClr>
          </a:solidFill>
          <a:ln w="9525">
            <a:solidFill>
              <a:srgbClr val="FFFFFF">
                <a:alpha val="50000"/>
              </a:srgbClr>
            </a:solidFill>
            <a:prstDash val="solid"/>
          </a:ln>
        </p:spPr>
      </p:sp>
      <p:sp>
        <p:nvSpPr>
          <p:cNvPr id="13" name="Text 10"/>
          <p:cNvSpPr txBox="1"/>
          <p:nvPr/>
        </p:nvSpPr>
        <p:spPr>
          <a:xfrm>
            <a:off x="658368" y="3739896"/>
            <a:ext cx="457200" cy="457200"/>
          </a:xfrm>
          <a:prstGeom prst="rect">
            <a:avLst/>
          </a:prstGeom>
          <a:noFill/>
          <a:ln/>
        </p:spPr>
        <p:txBody>
          <a:bodyPr wrap="square" lIns="0" tIns="0" rIns="0" bIns="0" rtlCol="0" anchor="ctr"/>
          <a:lstStyle/>
          <a:p>
            <a:pPr indent="0" marL="0">
              <a:buNone/>
            </a:pPr>
            <a:r>
              <a:rPr lang="en-US" sz="1400" b="1" dirty="0">
                <a:solidFill>
                  <a:srgbClr val="F5C242"/>
                </a:solidFill>
                <a:latin typeface="Calibri" pitchFamily="34" charset="0"/>
                <a:ea typeface="Calibri" pitchFamily="34" charset="-122"/>
                <a:cs typeface="Calibri" pitchFamily="34" charset="-120"/>
              </a:rPr>
              <a:t>Q3</a:t>
            </a:r>
            <a:endParaRPr lang="en-US" sz="1400" dirty="0"/>
          </a:p>
        </p:txBody>
      </p:sp>
      <p:sp>
        <p:nvSpPr>
          <p:cNvPr id="14" name="Text 11"/>
          <p:cNvSpPr txBox="1"/>
          <p:nvPr/>
        </p:nvSpPr>
        <p:spPr>
          <a:xfrm>
            <a:off x="1143000" y="3739896"/>
            <a:ext cx="480060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Which partnership could STG17 help your country replicate?</a:t>
            </a:r>
            <a:endParaRPr lang="en-US" sz="1200" dirty="0"/>
          </a:p>
        </p:txBody>
      </p:sp>
      <p:sp>
        <p:nvSpPr>
          <p:cNvPr id="15" name="Text 12"/>
          <p:cNvSpPr txBox="1"/>
          <p:nvPr/>
        </p:nvSpPr>
        <p:spPr>
          <a:xfrm>
            <a:off x="548640" y="4389120"/>
            <a:ext cx="5943600" cy="274320"/>
          </a:xfrm>
          <a:prstGeom prst="rect">
            <a:avLst/>
          </a:prstGeom>
          <a:noFill/>
          <a:ln/>
        </p:spPr>
        <p:txBody>
          <a:bodyPr wrap="square" lIns="0" tIns="0" rIns="0" bIns="0" rtlCol="0" anchor="t"/>
          <a:lstStyle/>
          <a:p>
            <a:pPr indent="0" marL="0">
              <a:buNone/>
            </a:pPr>
            <a:r>
              <a:rPr lang="en-US" sz="1200" b="1" dirty="0">
                <a:solidFill>
                  <a:srgbClr val="F5C242"/>
                </a:solidFill>
                <a:latin typeface="Calibri" pitchFamily="34" charset="0"/>
                <a:ea typeface="Calibri" pitchFamily="34" charset="-122"/>
                <a:cs typeface="Calibri" pitchFamily="34" charset="-120"/>
              </a:rPr>
              <a:t>Next: 10:45 · Hands-on — Ookla Speedtest open data and WorldPop</a:t>
            </a:r>
            <a:endParaRPr lang="en-US" sz="1200" dirty="0"/>
          </a:p>
        </p:txBody>
      </p:sp>
      <p:sp>
        <p:nvSpPr>
          <p:cNvPr id="16" name="Shape 13"/>
          <p:cNvSpPr/>
          <p:nvPr/>
        </p:nvSpPr>
        <p:spPr>
          <a:xfrm>
            <a:off x="6400800" y="1280160"/>
            <a:ext cx="2194560" cy="2194560"/>
          </a:xfrm>
          <a:prstGeom prst="ellipse">
            <a:avLst/>
          </a:prstGeom>
          <a:solidFill>
            <a:srgbClr val="FFFFFF">
              <a:alpha val="12000"/>
            </a:srgbClr>
          </a:solidFill>
          <a:ln/>
        </p:spPr>
      </p:sp>
      <p:sp>
        <p:nvSpPr>
          <p:cNvPr id="17" name="Shape 14"/>
          <p:cNvSpPr/>
          <p:nvPr/>
        </p:nvSpPr>
        <p:spPr>
          <a:xfrm>
            <a:off x="6812280" y="1691640"/>
            <a:ext cx="1371600" cy="1371600"/>
          </a:xfrm>
          <a:prstGeom prst="ellipse">
            <a:avLst/>
          </a:prstGeom>
          <a:solidFill>
            <a:srgbClr val="FFFFFF"/>
          </a:solidFill>
          <a:ln/>
        </p:spPr>
      </p:sp>
      <p:pic>
        <p:nvPicPr>
          <p:cNvPr id="18" name="Image 0" descr="preencoded.png">    </p:cNvPr>
          <p:cNvPicPr>
            <a:picLocks noChangeAspect="1"/>
          </p:cNvPicPr>
          <p:nvPr/>
        </p:nvPicPr>
        <p:blipFill>
          <a:blip r:embed="rId2"/>
          <a:stretch>
            <a:fillRect/>
          </a:stretch>
        </p:blipFill>
        <p:spPr>
          <a:xfrm>
            <a:off x="7178040" y="2057400"/>
            <a:ext cx="640080" cy="64008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Non-Traditional Data Sources: The Hidden Treasure</dc:title>
  <dc:subject>PptxGenJS Presentation</dc:subject>
  <dc:creator>STG17 Technical Workshop — AfDB · AU STATAFRIC · NISR</dc:creator>
  <cp:lastModifiedBy>STG17 Technical Workshop — AfDB · AU STATAFRIC · NISR</cp:lastModifiedBy>
  <cp:revision>1</cp:revision>
  <dcterms:created xsi:type="dcterms:W3CDTF">2026-09-16T13:35:26Z</dcterms:created>
  <dcterms:modified xsi:type="dcterms:W3CDTF">2026-09-16T13:35:26Z</dcterms:modified>
</cp:coreProperties>
</file>