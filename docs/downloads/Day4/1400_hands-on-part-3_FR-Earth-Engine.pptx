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guide accompagne le participant du compte Google jusqu'à la première image VIIRS chargée dans le notebook NTL_Africa_STG17. Il suit l'ordre exact dans lequel les écrans apparaissent. Les captures annotées sont réelles ; les écrans que nous n'avons pas capturés sont signalés comme schémas indicatifs, parce que l'interface de Google change régulièrement.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messages. Un : c'est gratuit pour la formation et la recherche, sans carte bancaire. Deux : depuis le 13 novembre 2024, un projet Google Cloud est obligatoire, même pour l'usage gratuit — c'est un conteneur administratif, pas un service payant. Trois : compter environ un quart d'heure ; c'est une estimation d'atelier, pas un chiffre Google. L'encadré ocre est la nuance à ne pas escamoter : une administration qui utiliserait Earth Engine pour produire un indicateur officiel en routine est orientée par Google vers l'offre commerciale. Apprendre la méthode cette semaine est gratuit ; industrialiser la production est une autre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carte du parcours. Chaque étape a une adresse précise, indiquée sous le pavé. Insistez sur l'étape 1 : le compte. La quasi-totalité des blocages en salle viennent d'un participant qui crée son projet avec un compte et autorise Colab avec un autre. Les étapes 2 et 3 se font en une seule visite sur la page d'enregistrement. L'étape 4 est une vérification. L'étape 5 se passe dans le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partie : trois écrans. Le choix du compte, la création du projet, et la déclaration d'usage non commercial avec le palier de quota.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compte est la première source d'erreur en salle. Beaucoup de participants ont plusieurs comptes Google ouverts dans le même navigateur : personnel, institutionnel, scolaire. Le notebook s'authentifie avec le compte choisi dans la fenêtre d'autorisation ; si ce n'est pas celui qui possède le projet, l'initialisation échoue avec un refus de permission. Conseil pratique : travaillez dans une fenêtre de navigation où un seul compte est connecté.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page d'enregistrement est l'entrée recommandée par Google : elle enchaîne automatiquement la création du projet, l'activation de l'API Earth Engine et l'enregistrement de l'usage. Point important : l'identifiant du projet est proposé à partir du nom mais se fixe à la création et ne se modifie plus ensuite. Choisissez-le avec soin. Google suggère la forme ee-votrenom ; pour l'atelier, un identifiant qui dit ce que fait le projet, comme ntl-stg17, sera plus lisible dans six mois. Attention : Google n'accepte pas le trait de soulignement, ni dans le nom ni dans l'identifiant ; utilisez un tiret. Le schéma à droite est indicatif.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questionnaire n'est pas une formalité : depuis le 26 septembre 2025, tout projet non commercial doit l'avoir rempli, faute de quoi l'accès est suspendu. Il est aussi à refaire périodiquement. Les exemples viennent directement de la page de Google. Le cas qui concerne nos instituts est en bas à droite : une administration utilisant Earth Engine à des fins opérationnelles est renvoyée vers l'offre commerciale. Pour cette semaine, l'usage est la formation ; répondez-le tel quel.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Depuis 2026, chaque projet non commercial a un palier de quota, qui fixe un plafond mensuel de calcul exprimé en EECU-heures. Le palier Community est celui par défaut, et il ne demande aucun compte de facturation. Pour le notebook — un pays, deux années annuelles, quatre années mensuelles — c'est largement suffisant. Le palier Contributor exige d'associer un compte de facturation ; Google précise qu'Earth Engine ne sera pas facturé tant que le projet reste non commercial, mais d'autres services Cloud activés sur le projet pourraient l'être. D'où la règle : n'activez aucune autre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partie : on regarde ce que la console montre, on récupère l'identifiant, on vérifie l'enregistrement et l'API.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réelle d'un projet d'atelier. Un : l'identifiant, lisible dans l'adresse après project=. C'est exactement la chaîne que le notebook demande. Deux : le sélecteur en haut à gauche affiche le nom du projet, pas son identifiant ; ne recopiez pas « AI Horizon ». Trois : le menu Configuration, où l'on vérifie l'enregistrement, le questionnaire et le palier. Quatre : le bandeau d'essai gratuit à 300 dollars concerne la facturation Google Cloud générale ; il n'a rien à voir avec Earth Engine. Ne cliquez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l'erreur la plus fréquente à l'invite du notebook. Le nom est une étiquette d'affichage : vous pouvez l'avoir mis avec des majuscules et des espaces, et vous pouvez le changer. L'identifiant est unique sur tout Google Cloud, en minuscules avec chiffres et tirets, et définitif. Earth Engine n'accepte que l'identifiant. Trois endroits pour le retrouver : l'adresse de la console, la fenêtre du sélecteur de projet qui affiche les deux colonnes, et le menu de profil du Code Editor Earth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vérifications avant de passer au notebook. À gauche, le menu Configuration de la console Earth Engine : il doit indiquer un projet enregistré pour un usage non commercial, avec le questionnaire rempli et un palier choisi. Si l'enregistrement n'est pas terminé, l'adresse code.earthengine.google.com/register suivie de votre identifiant reprend le parcours là où il s'est arrêté. À droite, l'API : si le notebook affiche « Earth Engine API has not been used in project … or it is disabled », c'est soit que l'API n'est pas activée, soit que l'identifiant saisi n'est pas le bon.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partie : l'invite du notebook, la fenêtre d'autorisation, le test des trente secondes, et les jeux de données disponibles.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réelle. Un : le notebook annonce qu'il va chercher l'année 2015 chez le fournisseur gee ; l'acquisition réelle commence. Deux : le cadre de saisie. Cliquez dedans, tapez l'identifiant, appuyez sur Entrée. Pas de guillemets, pas d'espace avant ou après. Trois, en rouge : ce participant a un problème qui n'a rien à voir avec Earth Engine mais qui peut lui coûter son travail. Colab ne sauvegarde plus le fichier, parce qu'il est ouvert dans un autre onglet. Avant d'aller plus loin : fermer les autres onglets, puis Fichier, Enregistrer une copie dans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l'identifiant, le notebook tente de se connecter. Dans Colab, la bibliothèque Earth Engine utilise automatiquement le mode d'authentification propre à Colab : une fenêtre demande de partager vos identifiants Google avec l'environnement du notebook. Choisissez le même compte que dans la console. Une fois autorisé, le notebook affiche « Earth Engine initialisé » et continue seul. Les identifiants sont réutilisés ensuite ; pour changer de compte, on force une nouvelle authentification avec ee.Authenticate(force=True). Si rien ne s'ouvre, c'est presque toujours un bloqueur de fenêtres pop-up.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Conseil d'animation : faites exécuter ces six lignes dans une cellule vide avant de lancer tout le notebook. Si elles échouent, le notebook échouera aussi, et la cause est dans le projet, pas dans le code. Si elles passent, vous obtenez un nombre d'images annuelles et une date : le projet, l'API, les droits et l'authentification sont tous en ordre. Remplacez évidemment l'identifiant par le vôtre.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tableau relie chaque collection du catalogue à ce que le notebook en fait. L'annuelle V2.2 alimente les années de référence et de fin ; d'après le catalogue elle couvre 2012 à 2024. La mensuelle corrigée de la lumière parasite alimente le scénario F ; elle court de janvier 2014 à mars 2025, ce qui veut dire que 2025 est incomplète : gardez MONTHLY_YEARS jusqu'à 2024. Ces bornes évoluent à chaque mise à jour du catalogue ; vérifiez-les avant de fixer vos années. Toutes ces données NOAA sont dans le domaine public, sans restriction d'usage.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projeter pendant que les participants terminent. Huit cases. Quand elles sont toutes cochées, le notebook peut être lancé en entier : il demandera l'identifiant, ouvrira la fenêtre d'autorisation, puis travaillera seul jusqu'au tableau de bord.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les informations de ce guide proviennent de la documentation officielle de Google Earth Engine, consultée en septembre 2026. Les politiques d'accès changent régulièrement : vérifiez-les avant chaque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Une fois le projet prêt, le reste du parcours est automatique : le notebook demande l'identifiant une seule fois par session, puis enchaîne acquisition, sept scénarios, tableau de bord et, si vous le souhaitez, publication sur GitHub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1.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1188720"/>
            <a:ext cx="7315200" cy="274320"/>
          </a:xfrm>
          <a:prstGeom prst="rect">
            <a:avLst/>
          </a:prstGeom>
          <a:noFill/>
          <a:ln/>
        </p:spPr>
        <p:txBody>
          <a:bodyPr wrap="square" lIns="0" tIns="0" rIns="0" bIns="0" rtlCol="0" anchor="ctr"/>
          <a:lstStyle/>
          <a:p>
            <a:pPr indent="0" marL="0">
              <a:buNone/>
            </a:pPr>
            <a:r>
              <a:rPr lang="en-US" sz="1100" b="1" spc="300" kern="0" dirty="0">
                <a:solidFill>
                  <a:srgbClr val="F5C242"/>
                </a:solidFill>
                <a:latin typeface="Calibri" pitchFamily="34" charset="0"/>
                <a:ea typeface="Calibri" pitchFamily="34" charset="-122"/>
                <a:cs typeface="Calibri" pitchFamily="34" charset="-120"/>
              </a:rPr>
              <a:t>STG17 · JOUR 4 · AFRICA AFTER DARK</a:t>
            </a:r>
            <a:endParaRPr lang="en-US" sz="1100" dirty="0"/>
          </a:p>
        </p:txBody>
      </p:sp>
      <p:sp>
        <p:nvSpPr>
          <p:cNvPr id="3" name="Text 1"/>
          <p:cNvSpPr txBox="1"/>
          <p:nvPr/>
        </p:nvSpPr>
        <p:spPr>
          <a:xfrm>
            <a:off x="548640" y="1554480"/>
            <a:ext cx="6949440" cy="137160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Préparer un projet Google Earth Engine</a:t>
            </a:r>
            <a:endParaRPr lang="en-US" sz="4000" dirty="0"/>
          </a:p>
        </p:txBody>
      </p:sp>
      <p:sp>
        <p:nvSpPr>
          <p:cNvPr id="4" name="Text 2"/>
          <p:cNvSpPr txBox="1"/>
          <p:nvPr/>
        </p:nvSpPr>
        <p:spPr>
          <a:xfrm>
            <a:off x="548640" y="3017520"/>
            <a:ext cx="6400800" cy="822960"/>
          </a:xfrm>
          <a:prstGeom prst="rect">
            <a:avLst/>
          </a:prstGeom>
          <a:noFill/>
          <a:ln/>
        </p:spPr>
        <p:txBody>
          <a:bodyPr wrap="square" lIns="0" tIns="0" rIns="0" bIns="0" rtlCol="0" anchor="t"/>
          <a:lstStyle/>
          <a:p>
            <a:pPr indent="0" marL="0">
              <a:buNone/>
            </a:pPr>
            <a:r>
              <a:rPr lang="en-US" sz="1700" i="1" dirty="0">
                <a:solidFill>
                  <a:srgbClr val="E6F6EE"/>
                </a:solidFill>
                <a:latin typeface="Calibri" pitchFamily="34" charset="0"/>
                <a:ea typeface="Calibri" pitchFamily="34" charset="-122"/>
                <a:cs typeface="Calibri" pitchFamily="34" charset="-120"/>
              </a:rPr>
              <a:t>Pour accéder aux lumières nocturnes VIIRS depuis le notebook NTL — pas à pas, avec captures d'écran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00 · AVANT DE COMMENCER</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Trois choses à savoir avant de cliquer</a:t>
            </a:r>
            <a:endParaRPr lang="en-US" sz="2500" dirty="0"/>
          </a:p>
        </p:txBody>
      </p:sp>
      <p:sp>
        <p:nvSpPr>
          <p:cNvPr id="8" name="Shape 6"/>
          <p:cNvSpPr/>
          <p:nvPr/>
        </p:nvSpPr>
        <p:spPr>
          <a:xfrm>
            <a:off x="8156448" y="301752"/>
            <a:ext cx="100584" cy="100584"/>
          </a:xfrm>
          <a:prstGeom prst="ellipse">
            <a:avLst/>
          </a:prstGeom>
          <a:solidFill>
            <a:srgbClr val="00A86A"/>
          </a:solidFill>
          <a:ln w="12700">
            <a:solidFill>
              <a:srgbClr val="00A86A"/>
            </a:solidFill>
            <a:prstDash val="solid"/>
          </a:ln>
        </p:spPr>
      </p:sp>
      <p:sp>
        <p:nvSpPr>
          <p:cNvPr id="9" name="Shape 7"/>
          <p:cNvSpPr/>
          <p:nvPr/>
        </p:nvSpPr>
        <p:spPr>
          <a:xfrm>
            <a:off x="8339328" y="301752"/>
            <a:ext cx="100584" cy="100584"/>
          </a:xfrm>
          <a:prstGeom prst="ellipse">
            <a:avLst/>
          </a:prstGeom>
          <a:solidFill>
            <a:srgbClr val="D5DED9"/>
          </a:solidFill>
          <a:ln w="12700">
            <a:solidFill>
              <a:srgbClr val="D5DED9"/>
            </a:solidFill>
            <a:prstDash val="solid"/>
          </a:ln>
        </p:spPr>
      </p:sp>
      <p:sp>
        <p:nvSpPr>
          <p:cNvPr id="10" name="Shape 8"/>
          <p:cNvSpPr/>
          <p:nvPr/>
        </p:nvSpPr>
        <p:spPr>
          <a:xfrm>
            <a:off x="8522208" y="301752"/>
            <a:ext cx="100584" cy="100584"/>
          </a:xfrm>
          <a:prstGeom prst="ellipse">
            <a:avLst/>
          </a:prstGeom>
          <a:solidFill>
            <a:srgbClr val="D5DED9"/>
          </a:solidFill>
          <a:ln w="12700">
            <a:solidFill>
              <a:srgbClr val="D5DED9"/>
            </a:solidFill>
            <a:prstDash val="solid"/>
          </a:ln>
        </p:spPr>
      </p:sp>
      <p:sp>
        <p:nvSpPr>
          <p:cNvPr id="11" name="Shape 9"/>
          <p:cNvSpPr/>
          <p:nvPr/>
        </p:nvSpPr>
        <p:spPr>
          <a:xfrm>
            <a:off x="8705088" y="301752"/>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Préparer un projet Earth Engine · STG17 · Jour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a:t>
            </a:r>
            <a:endParaRPr lang="en-US" sz="850" dirty="0"/>
          </a:p>
        </p:txBody>
      </p:sp>
      <p:sp>
        <p:nvSpPr>
          <p:cNvPr id="15" name="Shape 12"/>
          <p:cNvSpPr/>
          <p:nvPr/>
        </p:nvSpPr>
        <p:spPr>
          <a:xfrm>
            <a:off x="457200" y="1325880"/>
            <a:ext cx="2560320" cy="2148840"/>
          </a:xfrm>
          <a:prstGeom prst="roundRect">
            <a:avLst>
              <a:gd name="adj" fmla="val 3404"/>
            </a:avLst>
          </a:prstGeom>
          <a:solidFill>
            <a:srgbClr val="F4F7F5"/>
          </a:solidFill>
          <a:ln w="9525">
            <a:solidFill>
              <a:srgbClr val="D5DED9"/>
            </a:solidFill>
            <a:prstDash val="solid"/>
          </a:ln>
        </p:spPr>
      </p:sp>
      <p:sp>
        <p:nvSpPr>
          <p:cNvPr id="16" name="Shape 13"/>
          <p:cNvSpPr/>
          <p:nvPr/>
        </p:nvSpPr>
        <p:spPr>
          <a:xfrm>
            <a:off x="658368" y="1508760"/>
            <a:ext cx="502920" cy="502920"/>
          </a:xfrm>
          <a:prstGeom prst="ellipse">
            <a:avLst/>
          </a:prstGeom>
          <a:solidFill>
            <a:srgbClr val="00A86A">
              <a:alpha val="20000"/>
            </a:srgbClr>
          </a:solidFill>
          <a:ln w="12700">
            <a:solidFill>
              <a:srgbClr val="00A86A">
                <a:alpha val="0"/>
              </a:srgbClr>
            </a:solidFill>
            <a:prstDash val="solid"/>
          </a:ln>
        </p:spPr>
      </p:sp>
      <p:pic>
        <p:nvPicPr>
          <p:cNvPr id="17" name="Image 0" descr="preencoded.png">    </p:cNvPr>
          <p:cNvPicPr>
            <a:picLocks noChangeAspect="1"/>
          </p:cNvPicPr>
          <p:nvPr/>
        </p:nvPicPr>
        <p:blipFill>
          <a:blip r:embed="rId1"/>
          <a:stretch>
            <a:fillRect/>
          </a:stretch>
        </p:blipFill>
        <p:spPr>
          <a:xfrm>
            <a:off x="769010" y="1619402"/>
            <a:ext cx="281635" cy="281635"/>
          </a:xfrm>
          <a:prstGeom prst="rect">
            <a:avLst/>
          </a:prstGeom>
        </p:spPr>
      </p:pic>
      <p:sp>
        <p:nvSpPr>
          <p:cNvPr id="18" name="Text 14"/>
          <p:cNvSpPr txBox="1"/>
          <p:nvPr/>
        </p:nvSpPr>
        <p:spPr>
          <a:xfrm>
            <a:off x="658368" y="2103120"/>
            <a:ext cx="2194560" cy="548640"/>
          </a:xfrm>
          <a:prstGeom prst="rect">
            <a:avLst/>
          </a:prstGeom>
          <a:noFill/>
          <a:ln/>
        </p:spPr>
        <p:txBody>
          <a:bodyPr wrap="square" lIns="0" tIns="0" rIns="0" bIns="0" rtlCol="0" anchor="ctr"/>
          <a:lstStyle/>
          <a:p>
            <a:pPr indent="0" marL="0">
              <a:buNone/>
            </a:pPr>
            <a:r>
              <a:rPr lang="en-US" sz="3400" b="1" dirty="0">
                <a:solidFill>
                  <a:srgbClr val="00A86A"/>
                </a:solidFill>
                <a:latin typeface="Calibri" pitchFamily="34" charset="0"/>
                <a:ea typeface="Calibri" pitchFamily="34" charset="-122"/>
                <a:cs typeface="Calibri" pitchFamily="34" charset="-120"/>
              </a:rPr>
              <a:t>0 $</a:t>
            </a:r>
            <a:endParaRPr lang="en-US" sz="3400" dirty="0"/>
          </a:p>
        </p:txBody>
      </p:sp>
      <p:sp>
        <p:nvSpPr>
          <p:cNvPr id="19" name="Text 15"/>
          <p:cNvSpPr txBox="1"/>
          <p:nvPr/>
        </p:nvSpPr>
        <p:spPr>
          <a:xfrm>
            <a:off x="658368" y="2670048"/>
            <a:ext cx="2194560" cy="731520"/>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Gratuit pour la recherche, l'enseignement et la formation. Aucun compte de facturation à créer.</a:t>
            </a:r>
            <a:endParaRPr lang="en-US" sz="1150" dirty="0"/>
          </a:p>
        </p:txBody>
      </p:sp>
      <p:sp>
        <p:nvSpPr>
          <p:cNvPr id="20" name="Shape 16"/>
          <p:cNvSpPr/>
          <p:nvPr/>
        </p:nvSpPr>
        <p:spPr>
          <a:xfrm>
            <a:off x="3246120" y="1325880"/>
            <a:ext cx="2560320" cy="2148840"/>
          </a:xfrm>
          <a:prstGeom prst="roundRect">
            <a:avLst>
              <a:gd name="adj" fmla="val 3404"/>
            </a:avLst>
          </a:prstGeom>
          <a:solidFill>
            <a:srgbClr val="F4F7F5"/>
          </a:solidFill>
          <a:ln w="9525">
            <a:solidFill>
              <a:srgbClr val="D5DED9"/>
            </a:solidFill>
            <a:prstDash val="solid"/>
          </a:ln>
        </p:spPr>
      </p:sp>
      <p:sp>
        <p:nvSpPr>
          <p:cNvPr id="21" name="Shape 17"/>
          <p:cNvSpPr/>
          <p:nvPr/>
        </p:nvSpPr>
        <p:spPr>
          <a:xfrm>
            <a:off x="3447288" y="1508760"/>
            <a:ext cx="502920" cy="502920"/>
          </a:xfrm>
          <a:prstGeom prst="ellipse">
            <a:avLst/>
          </a:prstGeom>
          <a:solidFill>
            <a:srgbClr val="00704A">
              <a:alpha val="20000"/>
            </a:srgbClr>
          </a:solidFill>
          <a:ln w="12700">
            <a:solidFill>
              <a:srgbClr val="00704A">
                <a:alpha val="0"/>
              </a:srgbClr>
            </a:solidFill>
            <a:prstDash val="solid"/>
          </a:ln>
        </p:spPr>
      </p:sp>
      <p:pic>
        <p:nvPicPr>
          <p:cNvPr id="22" name="Image 1" descr="preencoded.png">    </p:cNvPr>
          <p:cNvPicPr>
            <a:picLocks noChangeAspect="1"/>
          </p:cNvPicPr>
          <p:nvPr/>
        </p:nvPicPr>
        <p:blipFill>
          <a:blip r:embed="rId2"/>
          <a:stretch>
            <a:fillRect/>
          </a:stretch>
        </p:blipFill>
        <p:spPr>
          <a:xfrm>
            <a:off x="3557930" y="1619402"/>
            <a:ext cx="281635" cy="281635"/>
          </a:xfrm>
          <a:prstGeom prst="rect">
            <a:avLst/>
          </a:prstGeom>
        </p:spPr>
      </p:pic>
      <p:sp>
        <p:nvSpPr>
          <p:cNvPr id="23" name="Text 18"/>
          <p:cNvSpPr txBox="1"/>
          <p:nvPr/>
        </p:nvSpPr>
        <p:spPr>
          <a:xfrm>
            <a:off x="3447288" y="2103120"/>
            <a:ext cx="2194560" cy="548640"/>
          </a:xfrm>
          <a:prstGeom prst="rect">
            <a:avLst/>
          </a:prstGeom>
          <a:noFill/>
          <a:ln/>
        </p:spPr>
        <p:txBody>
          <a:bodyPr wrap="square" lIns="0" tIns="0" rIns="0" bIns="0" rtlCol="0" anchor="ctr"/>
          <a:lstStyle/>
          <a:p>
            <a:pPr indent="0" marL="0">
              <a:buNone/>
            </a:pPr>
            <a:r>
              <a:rPr lang="en-US" sz="3400" b="1" dirty="0">
                <a:solidFill>
                  <a:srgbClr val="00704A"/>
                </a:solidFill>
                <a:latin typeface="Calibri" pitchFamily="34" charset="0"/>
                <a:ea typeface="Calibri" pitchFamily="34" charset="-122"/>
                <a:cs typeface="Calibri" pitchFamily="34" charset="-120"/>
              </a:rPr>
              <a:t>1 projet</a:t>
            </a:r>
            <a:endParaRPr lang="en-US" sz="3400" dirty="0"/>
          </a:p>
        </p:txBody>
      </p:sp>
      <p:sp>
        <p:nvSpPr>
          <p:cNvPr id="24" name="Text 19"/>
          <p:cNvSpPr txBox="1"/>
          <p:nvPr/>
        </p:nvSpPr>
        <p:spPr>
          <a:xfrm>
            <a:off x="3447288" y="2670048"/>
            <a:ext cx="2194560" cy="731520"/>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Obligatoire depuis le 13 novembre 2024 : tout appel Earth Engine passe par un projet Google Cloud.</a:t>
            </a:r>
            <a:endParaRPr lang="en-US" sz="1150" dirty="0"/>
          </a:p>
        </p:txBody>
      </p:sp>
      <p:sp>
        <p:nvSpPr>
          <p:cNvPr id="25" name="Shape 20"/>
          <p:cNvSpPr/>
          <p:nvPr/>
        </p:nvSpPr>
        <p:spPr>
          <a:xfrm>
            <a:off x="6035040" y="1325880"/>
            <a:ext cx="2560320" cy="2148840"/>
          </a:xfrm>
          <a:prstGeom prst="roundRect">
            <a:avLst>
              <a:gd name="adj" fmla="val 3404"/>
            </a:avLst>
          </a:prstGeom>
          <a:solidFill>
            <a:srgbClr val="F4F7F5"/>
          </a:solidFill>
          <a:ln w="9525">
            <a:solidFill>
              <a:srgbClr val="D5DED9"/>
            </a:solidFill>
            <a:prstDash val="solid"/>
          </a:ln>
        </p:spPr>
      </p:sp>
      <p:sp>
        <p:nvSpPr>
          <p:cNvPr id="26" name="Shape 21"/>
          <p:cNvSpPr/>
          <p:nvPr/>
        </p:nvSpPr>
        <p:spPr>
          <a:xfrm>
            <a:off x="6236208" y="1508760"/>
            <a:ext cx="502920" cy="502920"/>
          </a:xfrm>
          <a:prstGeom prst="ellipse">
            <a:avLst/>
          </a:prstGeom>
          <a:solidFill>
            <a:srgbClr val="0E7C86">
              <a:alpha val="20000"/>
            </a:srgbClr>
          </a:solidFill>
          <a:ln w="12700">
            <a:solidFill>
              <a:srgbClr val="0E7C86">
                <a:alpha val="0"/>
              </a:srgbClr>
            </a:solidFill>
            <a:prstDash val="solid"/>
          </a:ln>
        </p:spPr>
      </p:sp>
      <p:pic>
        <p:nvPicPr>
          <p:cNvPr id="27" name="Image 2" descr="preencoded.png">    </p:cNvPr>
          <p:cNvPicPr>
            <a:picLocks noChangeAspect="1"/>
          </p:cNvPicPr>
          <p:nvPr/>
        </p:nvPicPr>
        <p:blipFill>
          <a:blip r:embed="rId3"/>
          <a:stretch>
            <a:fillRect/>
          </a:stretch>
        </p:blipFill>
        <p:spPr>
          <a:xfrm>
            <a:off x="6346850" y="1619402"/>
            <a:ext cx="281635" cy="281635"/>
          </a:xfrm>
          <a:prstGeom prst="rect">
            <a:avLst/>
          </a:prstGeom>
        </p:spPr>
      </p:pic>
      <p:sp>
        <p:nvSpPr>
          <p:cNvPr id="28" name="Text 22"/>
          <p:cNvSpPr txBox="1"/>
          <p:nvPr/>
        </p:nvSpPr>
        <p:spPr>
          <a:xfrm>
            <a:off x="6236208" y="2103120"/>
            <a:ext cx="2194560" cy="548640"/>
          </a:xfrm>
          <a:prstGeom prst="rect">
            <a:avLst/>
          </a:prstGeom>
          <a:noFill/>
          <a:ln/>
        </p:spPr>
        <p:txBody>
          <a:bodyPr wrap="square" lIns="0" tIns="0" rIns="0" bIns="0" rtlCol="0" anchor="ctr"/>
          <a:lstStyle/>
          <a:p>
            <a:pPr indent="0" marL="0">
              <a:buNone/>
            </a:pPr>
            <a:r>
              <a:rPr lang="en-US" sz="3400" b="1" dirty="0">
                <a:solidFill>
                  <a:srgbClr val="0E7C86"/>
                </a:solidFill>
                <a:latin typeface="Calibri" pitchFamily="34" charset="0"/>
                <a:ea typeface="Calibri" pitchFamily="34" charset="-122"/>
                <a:cs typeface="Calibri" pitchFamily="34" charset="-120"/>
              </a:rPr>
              <a:t>≈ 15 min</a:t>
            </a:r>
            <a:endParaRPr lang="en-US" sz="3400" dirty="0"/>
          </a:p>
        </p:txBody>
      </p:sp>
      <p:sp>
        <p:nvSpPr>
          <p:cNvPr id="29" name="Text 23"/>
          <p:cNvSpPr txBox="1"/>
          <p:nvPr/>
        </p:nvSpPr>
        <p:spPr>
          <a:xfrm>
            <a:off x="6236208" y="2670048"/>
            <a:ext cx="2194560" cy="731520"/>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De la création du projet à la première image VIIRS dans le notebook (estimation d'atelier).</a:t>
            </a:r>
            <a:endParaRPr lang="en-US" sz="1150" dirty="0"/>
          </a:p>
        </p:txBody>
      </p:sp>
      <p:sp>
        <p:nvSpPr>
          <p:cNvPr id="30" name="Shape 24"/>
          <p:cNvSpPr/>
          <p:nvPr/>
        </p:nvSpPr>
        <p:spPr>
          <a:xfrm>
            <a:off x="457200" y="3703320"/>
            <a:ext cx="8138160" cy="713232"/>
          </a:xfrm>
          <a:prstGeom prst="roundRect">
            <a:avLst>
              <a:gd name="adj" fmla="val 7692"/>
            </a:avLst>
          </a:prstGeom>
          <a:solidFill>
            <a:srgbClr val="D49A00">
              <a:alpha val="13000"/>
            </a:srgbClr>
          </a:solidFill>
          <a:ln w="12700">
            <a:solidFill>
              <a:srgbClr val="D49A00"/>
            </a:solidFill>
            <a:prstDash val="solid"/>
          </a:ln>
        </p:spPr>
      </p:sp>
      <p:pic>
        <p:nvPicPr>
          <p:cNvPr id="31" name="Image 3" descr="preencoded.png">    </p:cNvPr>
          <p:cNvPicPr>
            <a:picLocks noChangeAspect="1"/>
          </p:cNvPicPr>
          <p:nvPr/>
        </p:nvPicPr>
        <p:blipFill>
          <a:blip r:embed="rId4"/>
          <a:stretch>
            <a:fillRect/>
          </a:stretch>
        </p:blipFill>
        <p:spPr>
          <a:xfrm>
            <a:off x="594360" y="3922776"/>
            <a:ext cx="274320" cy="274320"/>
          </a:xfrm>
          <a:prstGeom prst="rect">
            <a:avLst/>
          </a:prstGeom>
        </p:spPr>
      </p:pic>
      <p:sp>
        <p:nvSpPr>
          <p:cNvPr id="32" name="Text 25"/>
          <p:cNvSpPr txBox="1"/>
          <p:nvPr/>
        </p:nvSpPr>
        <p:spPr>
          <a:xfrm>
            <a:off x="1005840" y="3749040"/>
            <a:ext cx="7452360" cy="621792"/>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Usage opérationnel : </a:t>
            </a:r>
            <a:pPr indent="0" marL="0">
              <a:buNone/>
            </a:pPr>
            <a:r>
              <a:rPr lang="en-US" sz="1100" dirty="0">
                <a:solidFill>
                  <a:srgbClr val="231F20"/>
                </a:solidFill>
                <a:latin typeface="Calibri" pitchFamily="34" charset="0"/>
                <a:ea typeface="Calibri" pitchFamily="34" charset="-122"/>
                <a:cs typeface="Calibri" pitchFamily="34" charset="-120"/>
              </a:rPr>
              <a:t>Google classe la formation et la recherche comme non commerciales, mais oriente vers l'offre payante toute administration utilisant Earth Engine à des fins opérationnelles. Former les équipes cette semaine : gratuit. Produire l'indicateur officiel chaque mois : à clarifier avec Google.</a:t>
            </a:r>
            <a:endParaRPr lang="en-US" sz="1100" dirty="0"/>
          </a:p>
        </p:txBody>
      </p:sp>
      <p:sp>
        <p:nvSpPr>
          <p:cNvPr id="33" name="Text 26"/>
          <p:cNvSpPr txBox="1"/>
          <p:nvPr/>
        </p:nvSpPr>
        <p:spPr>
          <a:xfrm>
            <a:off x="457200" y="4590288"/>
            <a:ext cx="78638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 Google Earth Engine — Transition to Cloud projects ; Noncommercial use (earthengine.google.com/noncommercial).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00 · AVANT DE COMMENCER</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Cinq étapes, dans cet ordre</a:t>
            </a:r>
            <a:endParaRPr lang="en-US" sz="2500" dirty="0"/>
          </a:p>
        </p:txBody>
      </p:sp>
      <p:sp>
        <p:nvSpPr>
          <p:cNvPr id="8" name="Shape 6"/>
          <p:cNvSpPr/>
          <p:nvPr/>
        </p:nvSpPr>
        <p:spPr>
          <a:xfrm>
            <a:off x="8156448" y="301752"/>
            <a:ext cx="100584" cy="100584"/>
          </a:xfrm>
          <a:prstGeom prst="ellipse">
            <a:avLst/>
          </a:prstGeom>
          <a:solidFill>
            <a:srgbClr val="00A86A"/>
          </a:solidFill>
          <a:ln w="12700">
            <a:solidFill>
              <a:srgbClr val="00A86A"/>
            </a:solidFill>
            <a:prstDash val="solid"/>
          </a:ln>
        </p:spPr>
      </p:sp>
      <p:sp>
        <p:nvSpPr>
          <p:cNvPr id="9" name="Shape 7"/>
          <p:cNvSpPr/>
          <p:nvPr/>
        </p:nvSpPr>
        <p:spPr>
          <a:xfrm>
            <a:off x="8339328" y="301752"/>
            <a:ext cx="100584" cy="100584"/>
          </a:xfrm>
          <a:prstGeom prst="ellipse">
            <a:avLst/>
          </a:prstGeom>
          <a:solidFill>
            <a:srgbClr val="D5DED9"/>
          </a:solidFill>
          <a:ln w="12700">
            <a:solidFill>
              <a:srgbClr val="D5DED9"/>
            </a:solidFill>
            <a:prstDash val="solid"/>
          </a:ln>
        </p:spPr>
      </p:sp>
      <p:sp>
        <p:nvSpPr>
          <p:cNvPr id="10" name="Shape 8"/>
          <p:cNvSpPr/>
          <p:nvPr/>
        </p:nvSpPr>
        <p:spPr>
          <a:xfrm>
            <a:off x="8522208" y="301752"/>
            <a:ext cx="100584" cy="100584"/>
          </a:xfrm>
          <a:prstGeom prst="ellipse">
            <a:avLst/>
          </a:prstGeom>
          <a:solidFill>
            <a:srgbClr val="D5DED9"/>
          </a:solidFill>
          <a:ln w="12700">
            <a:solidFill>
              <a:srgbClr val="D5DED9"/>
            </a:solidFill>
            <a:prstDash val="solid"/>
          </a:ln>
        </p:spPr>
      </p:sp>
      <p:sp>
        <p:nvSpPr>
          <p:cNvPr id="11" name="Shape 9"/>
          <p:cNvSpPr/>
          <p:nvPr/>
        </p:nvSpPr>
        <p:spPr>
          <a:xfrm>
            <a:off x="8705088" y="301752"/>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Préparer un projet Earth Engine · STG17 · Jour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a:t>
            </a:r>
            <a:endParaRPr lang="en-US" sz="850" dirty="0"/>
          </a:p>
        </p:txBody>
      </p:sp>
      <p:sp>
        <p:nvSpPr>
          <p:cNvPr id="15" name="Shape 12"/>
          <p:cNvSpPr/>
          <p:nvPr/>
        </p:nvSpPr>
        <p:spPr>
          <a:xfrm>
            <a:off x="850392" y="1417320"/>
            <a:ext cx="731520" cy="731520"/>
          </a:xfrm>
          <a:prstGeom prst="ellipse">
            <a:avLst/>
          </a:prstGeom>
          <a:solidFill>
            <a:srgbClr val="00A86A"/>
          </a:solidFill>
          <a:ln w="12700">
            <a:solidFill>
              <a:srgbClr val="00A86A"/>
            </a:solidFill>
            <a:prstDash val="solid"/>
          </a:ln>
        </p:spPr>
      </p:sp>
      <p:pic>
        <p:nvPicPr>
          <p:cNvPr id="16" name="Image 0" descr="preencoded.png">    </p:cNvPr>
          <p:cNvPicPr>
            <a:picLocks noChangeAspect="1"/>
          </p:cNvPicPr>
          <p:nvPr/>
        </p:nvPicPr>
        <p:blipFill>
          <a:blip r:embed="rId1"/>
          <a:stretch>
            <a:fillRect/>
          </a:stretch>
        </p:blipFill>
        <p:spPr>
          <a:xfrm>
            <a:off x="1033272" y="1600200"/>
            <a:ext cx="365760" cy="365760"/>
          </a:xfrm>
          <a:prstGeom prst="rect">
            <a:avLst/>
          </a:prstGeom>
        </p:spPr>
      </p:pic>
      <p:sp>
        <p:nvSpPr>
          <p:cNvPr id="17" name="Shape 13"/>
          <p:cNvSpPr/>
          <p:nvPr/>
        </p:nvSpPr>
        <p:spPr>
          <a:xfrm>
            <a:off x="1444752" y="1325880"/>
            <a:ext cx="274320" cy="274320"/>
          </a:xfrm>
          <a:prstGeom prst="ellipse">
            <a:avLst/>
          </a:prstGeom>
          <a:solidFill>
            <a:srgbClr val="F5C242"/>
          </a:solidFill>
          <a:ln w="19050">
            <a:solidFill>
              <a:srgbClr val="FFFFFF"/>
            </a:solidFill>
            <a:prstDash val="solid"/>
          </a:ln>
        </p:spPr>
      </p:sp>
      <p:sp>
        <p:nvSpPr>
          <p:cNvPr id="18" name="Text 14"/>
          <p:cNvSpPr txBox="1"/>
          <p:nvPr/>
        </p:nvSpPr>
        <p:spPr>
          <a:xfrm>
            <a:off x="1444752" y="1325880"/>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1</a:t>
            </a:r>
            <a:endParaRPr lang="en-US" sz="1080" dirty="0"/>
          </a:p>
        </p:txBody>
      </p:sp>
      <p:sp>
        <p:nvSpPr>
          <p:cNvPr id="19" name="Text 15"/>
          <p:cNvSpPr txBox="1"/>
          <p:nvPr/>
        </p:nvSpPr>
        <p:spPr>
          <a:xfrm>
            <a:off x="457200" y="2286000"/>
            <a:ext cx="1517904" cy="292608"/>
          </a:xfrm>
          <a:prstGeom prst="rect">
            <a:avLst/>
          </a:prstGeom>
          <a:noFill/>
          <a:ln/>
        </p:spPr>
        <p:txBody>
          <a:bodyPr wrap="square" lIns="0" tIns="0" rIns="0" bIns="0" rtlCol="0" anchor="ctr"/>
          <a:lstStyle/>
          <a:p>
            <a:pPr algn="ctr" indent="0" marL="0">
              <a:buNone/>
            </a:pPr>
            <a:r>
              <a:rPr lang="en-US" sz="1400" b="1" dirty="0">
                <a:solidFill>
                  <a:srgbClr val="231F20"/>
                </a:solidFill>
                <a:latin typeface="Calibri" pitchFamily="34" charset="0"/>
                <a:ea typeface="Calibri" pitchFamily="34" charset="-122"/>
                <a:cs typeface="Calibri" pitchFamily="34" charset="-120"/>
              </a:rPr>
              <a:t>Compte Google</a:t>
            </a:r>
            <a:endParaRPr lang="en-US" sz="1400" dirty="0"/>
          </a:p>
        </p:txBody>
      </p:sp>
      <p:sp>
        <p:nvSpPr>
          <p:cNvPr id="20" name="Text 16"/>
          <p:cNvSpPr txBox="1"/>
          <p:nvPr/>
        </p:nvSpPr>
        <p:spPr>
          <a:xfrm>
            <a:off x="457200" y="2560320"/>
            <a:ext cx="1517904" cy="274320"/>
          </a:xfrm>
          <a:prstGeom prst="rect">
            <a:avLst/>
          </a:prstGeom>
          <a:noFill/>
          <a:ln/>
        </p:spPr>
        <p:txBody>
          <a:bodyPr wrap="square" lIns="0" tIns="0" rIns="0" bIns="0" rtlCol="0" anchor="ctr"/>
          <a:lstStyle/>
          <a:p>
            <a:pPr algn="ctr" indent="0" marL="0">
              <a:buNone/>
            </a:pPr>
            <a:r>
              <a:rPr lang="en-US" sz="1100" dirty="0">
                <a:solidFill>
                  <a:srgbClr val="5E6964"/>
                </a:solidFill>
                <a:latin typeface="Calibri" pitchFamily="34" charset="0"/>
                <a:ea typeface="Calibri" pitchFamily="34" charset="-122"/>
                <a:cs typeface="Calibri" pitchFamily="34" charset="-120"/>
              </a:rPr>
              <a:t>le même partout</a:t>
            </a:r>
            <a:endParaRPr lang="en-US" sz="1100" dirty="0"/>
          </a:p>
        </p:txBody>
      </p:sp>
      <p:sp>
        <p:nvSpPr>
          <p:cNvPr id="21" name="Shape 17"/>
          <p:cNvSpPr/>
          <p:nvPr/>
        </p:nvSpPr>
        <p:spPr>
          <a:xfrm>
            <a:off x="475488" y="3017520"/>
            <a:ext cx="1481328" cy="566928"/>
          </a:xfrm>
          <a:prstGeom prst="roundRect">
            <a:avLst>
              <a:gd name="adj" fmla="val 12903"/>
            </a:avLst>
          </a:prstGeom>
          <a:solidFill>
            <a:srgbClr val="E8F5EF"/>
          </a:solidFill>
          <a:ln w="12700">
            <a:solidFill>
              <a:srgbClr val="00A86A"/>
            </a:solidFill>
            <a:prstDash val="solid"/>
          </a:ln>
        </p:spPr>
      </p:sp>
      <p:sp>
        <p:nvSpPr>
          <p:cNvPr id="22" name="Text 18"/>
          <p:cNvSpPr txBox="1"/>
          <p:nvPr/>
        </p:nvSpPr>
        <p:spPr>
          <a:xfrm>
            <a:off x="530352" y="3017520"/>
            <a:ext cx="1371600" cy="566928"/>
          </a:xfrm>
          <a:prstGeom prst="rect">
            <a:avLst/>
          </a:prstGeom>
          <a:noFill/>
          <a:ln/>
        </p:spPr>
        <p:txBody>
          <a:bodyPr wrap="square" lIns="0" tIns="0" rIns="0" bIns="0" rtlCol="0" anchor="ctr"/>
          <a:lstStyle/>
          <a:p>
            <a:pPr algn="ctr" indent="0" marL="0">
              <a:buNone/>
            </a:pPr>
            <a:r>
              <a:rPr lang="en-US" sz="750" dirty="0">
                <a:solidFill>
                  <a:srgbClr val="231F20"/>
                </a:solidFill>
                <a:latin typeface="Courier New" pitchFamily="34" charset="0"/>
                <a:ea typeface="Courier New" pitchFamily="34" charset="-122"/>
                <a:cs typeface="Courier New" pitchFamily="34" charset="-120"/>
              </a:rPr>
              <a:t>accounts.google.com</a:t>
            </a:r>
            <a:endParaRPr lang="en-US" sz="750" dirty="0"/>
          </a:p>
        </p:txBody>
      </p:sp>
      <p:sp>
        <p:nvSpPr>
          <p:cNvPr id="23" name="Shape 19"/>
          <p:cNvSpPr/>
          <p:nvPr/>
        </p:nvSpPr>
        <p:spPr>
          <a:xfrm>
            <a:off x="1682496" y="1783080"/>
            <a:ext cx="530352" cy="0"/>
          </a:xfrm>
          <a:prstGeom prst="line">
            <a:avLst/>
          </a:prstGeom>
          <a:noFill/>
          <a:ln w="15875">
            <a:solidFill>
              <a:srgbClr val="5E6964"/>
            </a:solidFill>
            <a:prstDash val="solid"/>
            <a:tailEnd type="triangle"/>
          </a:ln>
        </p:spPr>
      </p:sp>
      <p:sp>
        <p:nvSpPr>
          <p:cNvPr id="24" name="Shape 20"/>
          <p:cNvSpPr/>
          <p:nvPr/>
        </p:nvSpPr>
        <p:spPr>
          <a:xfrm>
            <a:off x="2496312" y="1417320"/>
            <a:ext cx="731520" cy="731520"/>
          </a:xfrm>
          <a:prstGeom prst="ellipse">
            <a:avLst/>
          </a:prstGeom>
          <a:solidFill>
            <a:srgbClr val="00704A"/>
          </a:solidFill>
          <a:ln w="12700">
            <a:solidFill>
              <a:srgbClr val="00704A"/>
            </a:solidFill>
            <a:prstDash val="solid"/>
          </a:ln>
        </p:spPr>
      </p:sp>
      <p:pic>
        <p:nvPicPr>
          <p:cNvPr id="25" name="Image 1" descr="preencoded.png">    </p:cNvPr>
          <p:cNvPicPr>
            <a:picLocks noChangeAspect="1"/>
          </p:cNvPicPr>
          <p:nvPr/>
        </p:nvPicPr>
        <p:blipFill>
          <a:blip r:embed="rId2"/>
          <a:stretch>
            <a:fillRect/>
          </a:stretch>
        </p:blipFill>
        <p:spPr>
          <a:xfrm>
            <a:off x="2679192" y="1600200"/>
            <a:ext cx="365760" cy="365760"/>
          </a:xfrm>
          <a:prstGeom prst="rect">
            <a:avLst/>
          </a:prstGeom>
        </p:spPr>
      </p:pic>
      <p:sp>
        <p:nvSpPr>
          <p:cNvPr id="26" name="Shape 21"/>
          <p:cNvSpPr/>
          <p:nvPr/>
        </p:nvSpPr>
        <p:spPr>
          <a:xfrm>
            <a:off x="3090672" y="1325880"/>
            <a:ext cx="274320" cy="274320"/>
          </a:xfrm>
          <a:prstGeom prst="ellipse">
            <a:avLst/>
          </a:prstGeom>
          <a:solidFill>
            <a:srgbClr val="F5C242"/>
          </a:solidFill>
          <a:ln w="19050">
            <a:solidFill>
              <a:srgbClr val="FFFFFF"/>
            </a:solidFill>
            <a:prstDash val="solid"/>
          </a:ln>
        </p:spPr>
      </p:sp>
      <p:sp>
        <p:nvSpPr>
          <p:cNvPr id="27" name="Text 22"/>
          <p:cNvSpPr txBox="1"/>
          <p:nvPr/>
        </p:nvSpPr>
        <p:spPr>
          <a:xfrm>
            <a:off x="3090672" y="1325880"/>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2</a:t>
            </a:r>
            <a:endParaRPr lang="en-US" sz="1080" dirty="0"/>
          </a:p>
        </p:txBody>
      </p:sp>
      <p:sp>
        <p:nvSpPr>
          <p:cNvPr id="28" name="Text 23"/>
          <p:cNvSpPr txBox="1"/>
          <p:nvPr/>
        </p:nvSpPr>
        <p:spPr>
          <a:xfrm>
            <a:off x="2103120" y="2286000"/>
            <a:ext cx="1517904" cy="292608"/>
          </a:xfrm>
          <a:prstGeom prst="rect">
            <a:avLst/>
          </a:prstGeom>
          <a:noFill/>
          <a:ln/>
        </p:spPr>
        <p:txBody>
          <a:bodyPr wrap="square" lIns="0" tIns="0" rIns="0" bIns="0" rtlCol="0" anchor="ctr"/>
          <a:lstStyle/>
          <a:p>
            <a:pPr algn="ctr" indent="0" marL="0">
              <a:buNone/>
            </a:pPr>
            <a:r>
              <a:rPr lang="en-US" sz="1400" b="1" dirty="0">
                <a:solidFill>
                  <a:srgbClr val="231F20"/>
                </a:solidFill>
                <a:latin typeface="Calibri" pitchFamily="34" charset="0"/>
                <a:ea typeface="Calibri" pitchFamily="34" charset="-122"/>
                <a:cs typeface="Calibri" pitchFamily="34" charset="-120"/>
              </a:rPr>
              <a:t>Créer le projet</a:t>
            </a:r>
            <a:endParaRPr lang="en-US" sz="1400" dirty="0"/>
          </a:p>
        </p:txBody>
      </p:sp>
      <p:sp>
        <p:nvSpPr>
          <p:cNvPr id="29" name="Text 24"/>
          <p:cNvSpPr txBox="1"/>
          <p:nvPr/>
        </p:nvSpPr>
        <p:spPr>
          <a:xfrm>
            <a:off x="2103120" y="2560320"/>
            <a:ext cx="1517904" cy="274320"/>
          </a:xfrm>
          <a:prstGeom prst="rect">
            <a:avLst/>
          </a:prstGeom>
          <a:noFill/>
          <a:ln/>
        </p:spPr>
        <p:txBody>
          <a:bodyPr wrap="square" lIns="0" tIns="0" rIns="0" bIns="0" rtlCol="0" anchor="ctr"/>
          <a:lstStyle/>
          <a:p>
            <a:pPr algn="ctr" indent="0" marL="0">
              <a:buNone/>
            </a:pPr>
            <a:r>
              <a:rPr lang="en-US" sz="1100" dirty="0">
                <a:solidFill>
                  <a:srgbClr val="5E6964"/>
                </a:solidFill>
                <a:latin typeface="Calibri" pitchFamily="34" charset="0"/>
                <a:ea typeface="Calibri" pitchFamily="34" charset="-122"/>
                <a:cs typeface="Calibri" pitchFamily="34" charset="-120"/>
              </a:rPr>
              <a:t>page d'enregistrement</a:t>
            </a:r>
            <a:endParaRPr lang="en-US" sz="1100" dirty="0"/>
          </a:p>
        </p:txBody>
      </p:sp>
      <p:sp>
        <p:nvSpPr>
          <p:cNvPr id="30" name="Shape 25"/>
          <p:cNvSpPr/>
          <p:nvPr/>
        </p:nvSpPr>
        <p:spPr>
          <a:xfrm>
            <a:off x="2121408" y="3017520"/>
            <a:ext cx="1481328" cy="566928"/>
          </a:xfrm>
          <a:prstGeom prst="roundRect">
            <a:avLst>
              <a:gd name="adj" fmla="val 12903"/>
            </a:avLst>
          </a:prstGeom>
          <a:solidFill>
            <a:srgbClr val="E8F5EF"/>
          </a:solidFill>
          <a:ln w="12700">
            <a:solidFill>
              <a:srgbClr val="00704A"/>
            </a:solidFill>
            <a:prstDash val="solid"/>
          </a:ln>
        </p:spPr>
      </p:sp>
      <p:sp>
        <p:nvSpPr>
          <p:cNvPr id="31" name="Text 26"/>
          <p:cNvSpPr txBox="1"/>
          <p:nvPr/>
        </p:nvSpPr>
        <p:spPr>
          <a:xfrm>
            <a:off x="2176272" y="3017520"/>
            <a:ext cx="1371600" cy="566928"/>
          </a:xfrm>
          <a:prstGeom prst="rect">
            <a:avLst/>
          </a:prstGeom>
          <a:noFill/>
          <a:ln/>
        </p:spPr>
        <p:txBody>
          <a:bodyPr wrap="square" lIns="0" tIns="0" rIns="0" bIns="0" rtlCol="0" anchor="ctr"/>
          <a:lstStyle/>
          <a:p>
            <a:pPr algn="ctr" indent="0" marL="0">
              <a:buNone/>
            </a:pPr>
            <a:r>
              <a:rPr lang="en-US" sz="750" dirty="0">
                <a:solidFill>
                  <a:srgbClr val="231F20"/>
                </a:solidFill>
                <a:latin typeface="Courier New" pitchFamily="34" charset="0"/>
                <a:ea typeface="Courier New" pitchFamily="34" charset="-122"/>
                <a:cs typeface="Courier New" pitchFamily="34" charset="-120"/>
              </a:rPr>
              <a:t>console.cloud.google.com/earth-engine</a:t>
            </a:r>
            <a:endParaRPr lang="en-US" sz="750" dirty="0"/>
          </a:p>
        </p:txBody>
      </p:sp>
      <p:sp>
        <p:nvSpPr>
          <p:cNvPr id="32" name="Shape 27"/>
          <p:cNvSpPr/>
          <p:nvPr/>
        </p:nvSpPr>
        <p:spPr>
          <a:xfrm>
            <a:off x="3328416" y="1783080"/>
            <a:ext cx="530352" cy="0"/>
          </a:xfrm>
          <a:prstGeom prst="line">
            <a:avLst/>
          </a:prstGeom>
          <a:noFill/>
          <a:ln w="15875">
            <a:solidFill>
              <a:srgbClr val="5E6964"/>
            </a:solidFill>
            <a:prstDash val="solid"/>
            <a:tailEnd type="triangle"/>
          </a:ln>
        </p:spPr>
      </p:sp>
      <p:sp>
        <p:nvSpPr>
          <p:cNvPr id="33" name="Shape 28"/>
          <p:cNvSpPr/>
          <p:nvPr/>
        </p:nvSpPr>
        <p:spPr>
          <a:xfrm>
            <a:off x="4142232" y="1417320"/>
            <a:ext cx="731520" cy="731520"/>
          </a:xfrm>
          <a:prstGeom prst="ellipse">
            <a:avLst/>
          </a:prstGeom>
          <a:solidFill>
            <a:srgbClr val="0E7C86"/>
          </a:solidFill>
          <a:ln w="12700">
            <a:solidFill>
              <a:srgbClr val="0E7C86"/>
            </a:solidFill>
            <a:prstDash val="solid"/>
          </a:ln>
        </p:spPr>
      </p:sp>
      <p:pic>
        <p:nvPicPr>
          <p:cNvPr id="34" name="Image 2" descr="preencoded.png">    </p:cNvPr>
          <p:cNvPicPr>
            <a:picLocks noChangeAspect="1"/>
          </p:cNvPicPr>
          <p:nvPr/>
        </p:nvPicPr>
        <p:blipFill>
          <a:blip r:embed="rId3"/>
          <a:stretch>
            <a:fillRect/>
          </a:stretch>
        </p:blipFill>
        <p:spPr>
          <a:xfrm>
            <a:off x="4325112" y="1600200"/>
            <a:ext cx="365760" cy="365760"/>
          </a:xfrm>
          <a:prstGeom prst="rect">
            <a:avLst/>
          </a:prstGeom>
        </p:spPr>
      </p:pic>
      <p:sp>
        <p:nvSpPr>
          <p:cNvPr id="35" name="Shape 29"/>
          <p:cNvSpPr/>
          <p:nvPr/>
        </p:nvSpPr>
        <p:spPr>
          <a:xfrm>
            <a:off x="4736592" y="1325880"/>
            <a:ext cx="274320" cy="274320"/>
          </a:xfrm>
          <a:prstGeom prst="ellipse">
            <a:avLst/>
          </a:prstGeom>
          <a:solidFill>
            <a:srgbClr val="F5C242"/>
          </a:solidFill>
          <a:ln w="19050">
            <a:solidFill>
              <a:srgbClr val="FFFFFF"/>
            </a:solidFill>
            <a:prstDash val="solid"/>
          </a:ln>
        </p:spPr>
      </p:sp>
      <p:sp>
        <p:nvSpPr>
          <p:cNvPr id="36" name="Text 30"/>
          <p:cNvSpPr txBox="1"/>
          <p:nvPr/>
        </p:nvSpPr>
        <p:spPr>
          <a:xfrm>
            <a:off x="4736592" y="1325880"/>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3</a:t>
            </a:r>
            <a:endParaRPr lang="en-US" sz="1080" dirty="0"/>
          </a:p>
        </p:txBody>
      </p:sp>
      <p:sp>
        <p:nvSpPr>
          <p:cNvPr id="37" name="Text 31"/>
          <p:cNvSpPr txBox="1"/>
          <p:nvPr/>
        </p:nvSpPr>
        <p:spPr>
          <a:xfrm>
            <a:off x="3749040" y="2286000"/>
            <a:ext cx="1517904" cy="292608"/>
          </a:xfrm>
          <a:prstGeom prst="rect">
            <a:avLst/>
          </a:prstGeom>
          <a:noFill/>
          <a:ln/>
        </p:spPr>
        <p:txBody>
          <a:bodyPr wrap="square" lIns="0" tIns="0" rIns="0" bIns="0" rtlCol="0" anchor="ctr"/>
          <a:lstStyle/>
          <a:p>
            <a:pPr algn="ctr" indent="0" marL="0">
              <a:buNone/>
            </a:pPr>
            <a:r>
              <a:rPr lang="en-US" sz="1400" b="1" dirty="0">
                <a:solidFill>
                  <a:srgbClr val="231F20"/>
                </a:solidFill>
                <a:latin typeface="Calibri" pitchFamily="34" charset="0"/>
                <a:ea typeface="Calibri" pitchFamily="34" charset="-122"/>
                <a:cs typeface="Calibri" pitchFamily="34" charset="-120"/>
              </a:rPr>
              <a:t>Déclarer l'usage</a:t>
            </a:r>
            <a:endParaRPr lang="en-US" sz="1400" dirty="0"/>
          </a:p>
        </p:txBody>
      </p:sp>
      <p:sp>
        <p:nvSpPr>
          <p:cNvPr id="38" name="Text 32"/>
          <p:cNvSpPr txBox="1"/>
          <p:nvPr/>
        </p:nvSpPr>
        <p:spPr>
          <a:xfrm>
            <a:off x="3749040" y="2560320"/>
            <a:ext cx="1517904" cy="274320"/>
          </a:xfrm>
          <a:prstGeom prst="rect">
            <a:avLst/>
          </a:prstGeom>
          <a:noFill/>
          <a:ln/>
        </p:spPr>
        <p:txBody>
          <a:bodyPr wrap="square" lIns="0" tIns="0" rIns="0" bIns="0" rtlCol="0" anchor="ctr"/>
          <a:lstStyle/>
          <a:p>
            <a:pPr algn="ctr" indent="0" marL="0">
              <a:buNone/>
            </a:pPr>
            <a:r>
              <a:rPr lang="en-US" sz="1100" dirty="0">
                <a:solidFill>
                  <a:srgbClr val="5E6964"/>
                </a:solidFill>
                <a:latin typeface="Calibri" pitchFamily="34" charset="0"/>
                <a:ea typeface="Calibri" pitchFamily="34" charset="-122"/>
                <a:cs typeface="Calibri" pitchFamily="34" charset="-120"/>
              </a:rPr>
              <a:t>non commercial + palier</a:t>
            </a:r>
            <a:endParaRPr lang="en-US" sz="1100" dirty="0"/>
          </a:p>
        </p:txBody>
      </p:sp>
      <p:sp>
        <p:nvSpPr>
          <p:cNvPr id="39" name="Shape 33"/>
          <p:cNvSpPr/>
          <p:nvPr/>
        </p:nvSpPr>
        <p:spPr>
          <a:xfrm>
            <a:off x="3767328" y="3017520"/>
            <a:ext cx="1481328" cy="566928"/>
          </a:xfrm>
          <a:prstGeom prst="roundRect">
            <a:avLst>
              <a:gd name="adj" fmla="val 12903"/>
            </a:avLst>
          </a:prstGeom>
          <a:solidFill>
            <a:srgbClr val="E8F5EF"/>
          </a:solidFill>
          <a:ln w="12700">
            <a:solidFill>
              <a:srgbClr val="0E7C86"/>
            </a:solidFill>
            <a:prstDash val="solid"/>
          </a:ln>
        </p:spPr>
      </p:sp>
      <p:sp>
        <p:nvSpPr>
          <p:cNvPr id="40" name="Text 34"/>
          <p:cNvSpPr txBox="1"/>
          <p:nvPr/>
        </p:nvSpPr>
        <p:spPr>
          <a:xfrm>
            <a:off x="3822192" y="3017520"/>
            <a:ext cx="1371600" cy="566928"/>
          </a:xfrm>
          <a:prstGeom prst="rect">
            <a:avLst/>
          </a:prstGeom>
          <a:noFill/>
          <a:ln/>
        </p:spPr>
        <p:txBody>
          <a:bodyPr wrap="square" lIns="0" tIns="0" rIns="0" bIns="0" rtlCol="0" anchor="ctr"/>
          <a:lstStyle/>
          <a:p>
            <a:pPr algn="ctr" indent="0" marL="0">
              <a:buNone/>
            </a:pPr>
            <a:r>
              <a:rPr lang="en-US" sz="750" dirty="0">
                <a:solidFill>
                  <a:srgbClr val="231F20"/>
                </a:solidFill>
                <a:latin typeface="Courier New" pitchFamily="34" charset="0"/>
                <a:ea typeface="Courier New" pitchFamily="34" charset="-122"/>
                <a:cs typeface="Courier New" pitchFamily="34" charset="-120"/>
              </a:rPr>
              <a:t>…/earth-engine/configuration</a:t>
            </a:r>
            <a:endParaRPr lang="en-US" sz="750" dirty="0"/>
          </a:p>
        </p:txBody>
      </p:sp>
      <p:sp>
        <p:nvSpPr>
          <p:cNvPr id="41" name="Shape 35"/>
          <p:cNvSpPr/>
          <p:nvPr/>
        </p:nvSpPr>
        <p:spPr>
          <a:xfrm>
            <a:off x="4974336" y="1783080"/>
            <a:ext cx="530352" cy="0"/>
          </a:xfrm>
          <a:prstGeom prst="line">
            <a:avLst/>
          </a:prstGeom>
          <a:noFill/>
          <a:ln w="15875">
            <a:solidFill>
              <a:srgbClr val="5E6964"/>
            </a:solidFill>
            <a:prstDash val="solid"/>
            <a:tailEnd type="triangle"/>
          </a:ln>
        </p:spPr>
      </p:sp>
      <p:sp>
        <p:nvSpPr>
          <p:cNvPr id="42" name="Shape 36"/>
          <p:cNvSpPr/>
          <p:nvPr/>
        </p:nvSpPr>
        <p:spPr>
          <a:xfrm>
            <a:off x="5788152" y="1417320"/>
            <a:ext cx="731520" cy="731520"/>
          </a:xfrm>
          <a:prstGeom prst="ellipse">
            <a:avLst/>
          </a:prstGeom>
          <a:solidFill>
            <a:srgbClr val="D49A00"/>
          </a:solidFill>
          <a:ln w="12700">
            <a:solidFill>
              <a:srgbClr val="D49A00"/>
            </a:solidFill>
            <a:prstDash val="solid"/>
          </a:ln>
        </p:spPr>
      </p:sp>
      <p:pic>
        <p:nvPicPr>
          <p:cNvPr id="43" name="Image 3" descr="preencoded.png">    </p:cNvPr>
          <p:cNvPicPr>
            <a:picLocks noChangeAspect="1"/>
          </p:cNvPicPr>
          <p:nvPr/>
        </p:nvPicPr>
        <p:blipFill>
          <a:blip r:embed="rId4"/>
          <a:stretch>
            <a:fillRect/>
          </a:stretch>
        </p:blipFill>
        <p:spPr>
          <a:xfrm>
            <a:off x="5971032" y="1600200"/>
            <a:ext cx="365760" cy="365760"/>
          </a:xfrm>
          <a:prstGeom prst="rect">
            <a:avLst/>
          </a:prstGeom>
        </p:spPr>
      </p:pic>
      <p:sp>
        <p:nvSpPr>
          <p:cNvPr id="44" name="Shape 37"/>
          <p:cNvSpPr/>
          <p:nvPr/>
        </p:nvSpPr>
        <p:spPr>
          <a:xfrm>
            <a:off x="6382512" y="1325880"/>
            <a:ext cx="274320" cy="274320"/>
          </a:xfrm>
          <a:prstGeom prst="ellipse">
            <a:avLst/>
          </a:prstGeom>
          <a:solidFill>
            <a:srgbClr val="F5C242"/>
          </a:solidFill>
          <a:ln w="19050">
            <a:solidFill>
              <a:srgbClr val="FFFFFF"/>
            </a:solidFill>
            <a:prstDash val="solid"/>
          </a:ln>
        </p:spPr>
      </p:sp>
      <p:sp>
        <p:nvSpPr>
          <p:cNvPr id="45" name="Text 38"/>
          <p:cNvSpPr txBox="1"/>
          <p:nvPr/>
        </p:nvSpPr>
        <p:spPr>
          <a:xfrm>
            <a:off x="6382512" y="1325880"/>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4</a:t>
            </a:r>
            <a:endParaRPr lang="en-US" sz="1080" dirty="0"/>
          </a:p>
        </p:txBody>
      </p:sp>
      <p:sp>
        <p:nvSpPr>
          <p:cNvPr id="46" name="Text 39"/>
          <p:cNvSpPr txBox="1"/>
          <p:nvPr/>
        </p:nvSpPr>
        <p:spPr>
          <a:xfrm>
            <a:off x="5394960" y="2286000"/>
            <a:ext cx="1517904" cy="292608"/>
          </a:xfrm>
          <a:prstGeom prst="rect">
            <a:avLst/>
          </a:prstGeom>
          <a:noFill/>
          <a:ln/>
        </p:spPr>
        <p:txBody>
          <a:bodyPr wrap="square" lIns="0" tIns="0" rIns="0" bIns="0" rtlCol="0" anchor="ctr"/>
          <a:lstStyle/>
          <a:p>
            <a:pPr algn="ctr" indent="0" marL="0">
              <a:buNone/>
            </a:pPr>
            <a:r>
              <a:rPr lang="en-US" sz="1400" b="1" dirty="0">
                <a:solidFill>
                  <a:srgbClr val="231F20"/>
                </a:solidFill>
                <a:latin typeface="Calibri" pitchFamily="34" charset="0"/>
                <a:ea typeface="Calibri" pitchFamily="34" charset="-122"/>
                <a:cs typeface="Calibri" pitchFamily="34" charset="-120"/>
              </a:rPr>
              <a:t>Vérifier</a:t>
            </a:r>
            <a:endParaRPr lang="en-US" sz="1400" dirty="0"/>
          </a:p>
        </p:txBody>
      </p:sp>
      <p:sp>
        <p:nvSpPr>
          <p:cNvPr id="47" name="Text 40"/>
          <p:cNvSpPr txBox="1"/>
          <p:nvPr/>
        </p:nvSpPr>
        <p:spPr>
          <a:xfrm>
            <a:off x="5394960" y="2560320"/>
            <a:ext cx="1517904" cy="274320"/>
          </a:xfrm>
          <a:prstGeom prst="rect">
            <a:avLst/>
          </a:prstGeom>
          <a:noFill/>
          <a:ln/>
        </p:spPr>
        <p:txBody>
          <a:bodyPr wrap="square" lIns="0" tIns="0" rIns="0" bIns="0" rtlCol="0" anchor="ctr"/>
          <a:lstStyle/>
          <a:p>
            <a:pPr algn="ctr" indent="0" marL="0">
              <a:buNone/>
            </a:pPr>
            <a:r>
              <a:rPr lang="en-US" sz="1100" dirty="0">
                <a:solidFill>
                  <a:srgbClr val="5E6964"/>
                </a:solidFill>
                <a:latin typeface="Calibri" pitchFamily="34" charset="0"/>
                <a:ea typeface="Calibri" pitchFamily="34" charset="-122"/>
                <a:cs typeface="Calibri" pitchFamily="34" charset="-120"/>
              </a:rPr>
              <a:t>ID, API, configuration</a:t>
            </a:r>
            <a:endParaRPr lang="en-US" sz="1100" dirty="0"/>
          </a:p>
        </p:txBody>
      </p:sp>
      <p:sp>
        <p:nvSpPr>
          <p:cNvPr id="48" name="Shape 41"/>
          <p:cNvSpPr/>
          <p:nvPr/>
        </p:nvSpPr>
        <p:spPr>
          <a:xfrm>
            <a:off x="5413248" y="3017520"/>
            <a:ext cx="1481328" cy="566928"/>
          </a:xfrm>
          <a:prstGeom prst="roundRect">
            <a:avLst>
              <a:gd name="adj" fmla="val 12903"/>
            </a:avLst>
          </a:prstGeom>
          <a:solidFill>
            <a:srgbClr val="E8F5EF"/>
          </a:solidFill>
          <a:ln w="12700">
            <a:solidFill>
              <a:srgbClr val="D49A00"/>
            </a:solidFill>
            <a:prstDash val="solid"/>
          </a:ln>
        </p:spPr>
      </p:sp>
      <p:sp>
        <p:nvSpPr>
          <p:cNvPr id="49" name="Text 42"/>
          <p:cNvSpPr txBox="1"/>
          <p:nvPr/>
        </p:nvSpPr>
        <p:spPr>
          <a:xfrm>
            <a:off x="5468112" y="3017520"/>
            <a:ext cx="1371600" cy="566928"/>
          </a:xfrm>
          <a:prstGeom prst="rect">
            <a:avLst/>
          </a:prstGeom>
          <a:noFill/>
          <a:ln/>
        </p:spPr>
        <p:txBody>
          <a:bodyPr wrap="square" lIns="0" tIns="0" rIns="0" bIns="0" rtlCol="0" anchor="ctr"/>
          <a:lstStyle/>
          <a:p>
            <a:pPr algn="ctr" indent="0" marL="0">
              <a:buNone/>
            </a:pPr>
            <a:r>
              <a:rPr lang="en-US" sz="750" dirty="0">
                <a:solidFill>
                  <a:srgbClr val="231F20"/>
                </a:solidFill>
                <a:latin typeface="Courier New" pitchFamily="34" charset="0"/>
                <a:ea typeface="Courier New" pitchFamily="34" charset="-122"/>
                <a:cs typeface="Courier New" pitchFamily="34" charset="-120"/>
              </a:rPr>
              <a:t>…/apis/library/earthengine…</a:t>
            </a:r>
            <a:endParaRPr lang="en-US" sz="750" dirty="0"/>
          </a:p>
        </p:txBody>
      </p:sp>
      <p:sp>
        <p:nvSpPr>
          <p:cNvPr id="50" name="Shape 43"/>
          <p:cNvSpPr/>
          <p:nvPr/>
        </p:nvSpPr>
        <p:spPr>
          <a:xfrm>
            <a:off x="6620256" y="1783080"/>
            <a:ext cx="530352" cy="0"/>
          </a:xfrm>
          <a:prstGeom prst="line">
            <a:avLst/>
          </a:prstGeom>
          <a:noFill/>
          <a:ln w="15875">
            <a:solidFill>
              <a:srgbClr val="5E6964"/>
            </a:solidFill>
            <a:prstDash val="solid"/>
            <a:tailEnd type="triangle"/>
          </a:ln>
        </p:spPr>
      </p:sp>
      <p:sp>
        <p:nvSpPr>
          <p:cNvPr id="51" name="Shape 44"/>
          <p:cNvSpPr/>
          <p:nvPr/>
        </p:nvSpPr>
        <p:spPr>
          <a:xfrm>
            <a:off x="7434072" y="1417320"/>
            <a:ext cx="731520" cy="731520"/>
          </a:xfrm>
          <a:prstGeom prst="ellipse">
            <a:avLst/>
          </a:prstGeom>
          <a:solidFill>
            <a:srgbClr val="C4621D"/>
          </a:solidFill>
          <a:ln w="12700">
            <a:solidFill>
              <a:srgbClr val="C4621D"/>
            </a:solidFill>
            <a:prstDash val="solid"/>
          </a:ln>
        </p:spPr>
      </p:sp>
      <p:pic>
        <p:nvPicPr>
          <p:cNvPr id="52" name="Image 4" descr="preencoded.png">    </p:cNvPr>
          <p:cNvPicPr>
            <a:picLocks noChangeAspect="1"/>
          </p:cNvPicPr>
          <p:nvPr/>
        </p:nvPicPr>
        <p:blipFill>
          <a:blip r:embed="rId5"/>
          <a:stretch>
            <a:fillRect/>
          </a:stretch>
        </p:blipFill>
        <p:spPr>
          <a:xfrm>
            <a:off x="7616952" y="1600200"/>
            <a:ext cx="365760" cy="365760"/>
          </a:xfrm>
          <a:prstGeom prst="rect">
            <a:avLst/>
          </a:prstGeom>
        </p:spPr>
      </p:pic>
      <p:sp>
        <p:nvSpPr>
          <p:cNvPr id="53" name="Shape 45"/>
          <p:cNvSpPr/>
          <p:nvPr/>
        </p:nvSpPr>
        <p:spPr>
          <a:xfrm>
            <a:off x="8028432" y="1325880"/>
            <a:ext cx="274320" cy="274320"/>
          </a:xfrm>
          <a:prstGeom prst="ellipse">
            <a:avLst/>
          </a:prstGeom>
          <a:solidFill>
            <a:srgbClr val="F5C242"/>
          </a:solidFill>
          <a:ln w="19050">
            <a:solidFill>
              <a:srgbClr val="FFFFFF"/>
            </a:solidFill>
            <a:prstDash val="solid"/>
          </a:ln>
        </p:spPr>
      </p:sp>
      <p:sp>
        <p:nvSpPr>
          <p:cNvPr id="54" name="Text 46"/>
          <p:cNvSpPr txBox="1"/>
          <p:nvPr/>
        </p:nvSpPr>
        <p:spPr>
          <a:xfrm>
            <a:off x="8028432" y="1325880"/>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5</a:t>
            </a:r>
            <a:endParaRPr lang="en-US" sz="1080" dirty="0"/>
          </a:p>
        </p:txBody>
      </p:sp>
      <p:sp>
        <p:nvSpPr>
          <p:cNvPr id="55" name="Text 47"/>
          <p:cNvSpPr txBox="1"/>
          <p:nvPr/>
        </p:nvSpPr>
        <p:spPr>
          <a:xfrm>
            <a:off x="7040880" y="2286000"/>
            <a:ext cx="1517904" cy="292608"/>
          </a:xfrm>
          <a:prstGeom prst="rect">
            <a:avLst/>
          </a:prstGeom>
          <a:noFill/>
          <a:ln/>
        </p:spPr>
        <p:txBody>
          <a:bodyPr wrap="square" lIns="0" tIns="0" rIns="0" bIns="0" rtlCol="0" anchor="ctr"/>
          <a:lstStyle/>
          <a:p>
            <a:pPr algn="ctr" indent="0" marL="0">
              <a:buNone/>
            </a:pPr>
            <a:r>
              <a:rPr lang="en-US" sz="1400" b="1" dirty="0">
                <a:solidFill>
                  <a:srgbClr val="231F20"/>
                </a:solidFill>
                <a:latin typeface="Calibri" pitchFamily="34" charset="0"/>
                <a:ea typeface="Calibri" pitchFamily="34" charset="-122"/>
                <a:cs typeface="Calibri" pitchFamily="34" charset="-120"/>
              </a:rPr>
              <a:t>Connecter</a:t>
            </a:r>
            <a:endParaRPr lang="en-US" sz="1400" dirty="0"/>
          </a:p>
        </p:txBody>
      </p:sp>
      <p:sp>
        <p:nvSpPr>
          <p:cNvPr id="56" name="Text 48"/>
          <p:cNvSpPr txBox="1"/>
          <p:nvPr/>
        </p:nvSpPr>
        <p:spPr>
          <a:xfrm>
            <a:off x="7040880" y="2560320"/>
            <a:ext cx="1517904" cy="274320"/>
          </a:xfrm>
          <a:prstGeom prst="rect">
            <a:avLst/>
          </a:prstGeom>
          <a:noFill/>
          <a:ln/>
        </p:spPr>
        <p:txBody>
          <a:bodyPr wrap="square" lIns="0" tIns="0" rIns="0" bIns="0" rtlCol="0" anchor="ctr"/>
          <a:lstStyle/>
          <a:p>
            <a:pPr algn="ctr" indent="0" marL="0">
              <a:buNone/>
            </a:pPr>
            <a:r>
              <a:rPr lang="en-US" sz="1100" dirty="0">
                <a:solidFill>
                  <a:srgbClr val="5E6964"/>
                </a:solidFill>
                <a:latin typeface="Calibri" pitchFamily="34" charset="0"/>
                <a:ea typeface="Calibri" pitchFamily="34" charset="-122"/>
                <a:cs typeface="Calibri" pitchFamily="34" charset="-120"/>
              </a:rPr>
              <a:t>le notebook</a:t>
            </a:r>
            <a:endParaRPr lang="en-US" sz="1100" dirty="0"/>
          </a:p>
        </p:txBody>
      </p:sp>
      <p:sp>
        <p:nvSpPr>
          <p:cNvPr id="57" name="Shape 49"/>
          <p:cNvSpPr/>
          <p:nvPr/>
        </p:nvSpPr>
        <p:spPr>
          <a:xfrm>
            <a:off x="7059168" y="3017520"/>
            <a:ext cx="1481328" cy="566928"/>
          </a:xfrm>
          <a:prstGeom prst="roundRect">
            <a:avLst>
              <a:gd name="adj" fmla="val 12903"/>
            </a:avLst>
          </a:prstGeom>
          <a:solidFill>
            <a:srgbClr val="E8F5EF"/>
          </a:solidFill>
          <a:ln w="12700">
            <a:solidFill>
              <a:srgbClr val="C4621D"/>
            </a:solidFill>
            <a:prstDash val="solid"/>
          </a:ln>
        </p:spPr>
      </p:sp>
      <p:sp>
        <p:nvSpPr>
          <p:cNvPr id="58" name="Text 50"/>
          <p:cNvSpPr txBox="1"/>
          <p:nvPr/>
        </p:nvSpPr>
        <p:spPr>
          <a:xfrm>
            <a:off x="7114032" y="3017520"/>
            <a:ext cx="1371600" cy="566928"/>
          </a:xfrm>
          <a:prstGeom prst="rect">
            <a:avLst/>
          </a:prstGeom>
          <a:noFill/>
          <a:ln/>
        </p:spPr>
        <p:txBody>
          <a:bodyPr wrap="square" lIns="0" tIns="0" rIns="0" bIns="0" rtlCol="0" anchor="ctr"/>
          <a:lstStyle/>
          <a:p>
            <a:pPr algn="ctr" indent="0" marL="0">
              <a:buNone/>
            </a:pPr>
            <a:r>
              <a:rPr lang="en-US" sz="750" dirty="0">
                <a:solidFill>
                  <a:srgbClr val="231F20"/>
                </a:solidFill>
                <a:latin typeface="Courier New" pitchFamily="34" charset="0"/>
                <a:ea typeface="Courier New" pitchFamily="34" charset="-122"/>
                <a:cs typeface="Courier New" pitchFamily="34" charset="-120"/>
              </a:rPr>
              <a:t>Colab · Kaggle · Jupyter</a:t>
            </a:r>
            <a:endParaRPr lang="en-US" sz="750" dirty="0"/>
          </a:p>
        </p:txBody>
      </p:sp>
      <p:sp>
        <p:nvSpPr>
          <p:cNvPr id="59" name="Text 51"/>
          <p:cNvSpPr txBox="1"/>
          <p:nvPr/>
        </p:nvSpPr>
        <p:spPr>
          <a:xfrm>
            <a:off x="457200" y="3840480"/>
            <a:ext cx="8138160" cy="502920"/>
          </a:xfrm>
          <a:prstGeom prst="rect">
            <a:avLst/>
          </a:prstGeom>
          <a:noFill/>
          <a:ln/>
        </p:spPr>
        <p:txBody>
          <a:bodyPr wrap="square" lIns="0" tIns="0" rIns="0" bIns="0" rtlCol="0" anchor="ctr"/>
          <a:lstStyle/>
          <a:p>
            <a:pPr indent="0" marL="0">
              <a:buNone/>
            </a:pPr>
            <a:r>
              <a:rPr lang="en-US" sz="1200" b="1" dirty="0">
                <a:solidFill>
                  <a:srgbClr val="00704A"/>
                </a:solidFill>
                <a:latin typeface="Calibri" pitchFamily="34" charset="0"/>
                <a:ea typeface="Calibri" pitchFamily="34" charset="-122"/>
                <a:cs typeface="Calibri" pitchFamily="34" charset="-120"/>
              </a:rPr>
              <a:t>Étapes 2 et 3 : </a:t>
            </a:r>
            <a:pPr indent="0" marL="0">
              <a:buNone/>
            </a:pPr>
            <a:r>
              <a:rPr lang="en-US" sz="1200" dirty="0">
                <a:solidFill>
                  <a:srgbClr val="231F20"/>
                </a:solidFill>
                <a:latin typeface="Calibri" pitchFamily="34" charset="0"/>
                <a:ea typeface="Calibri" pitchFamily="34" charset="-122"/>
                <a:cs typeface="Calibri" pitchFamily="34" charset="-120"/>
              </a:rPr>
              <a:t>une seule visite sur la page d'enregistrement suffit — elle crée le projet, active l'API Earth Engine et enregistre l'usage en un seul parcours.</a:t>
            </a:r>
            <a:endParaRPr lang="en-US" sz="1200" dirty="0"/>
          </a:p>
        </p:txBody>
      </p:sp>
      <p:sp>
        <p:nvSpPr>
          <p:cNvPr id="60" name="Text 52"/>
          <p:cNvSpPr txBox="1"/>
          <p:nvPr/>
        </p:nvSpPr>
        <p:spPr>
          <a:xfrm>
            <a:off x="457200" y="4590288"/>
            <a:ext cx="78638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 Google Earth Engine — Earth Engine access (developers.google.com/earth-engine/guides/access).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914400"/>
            <a:ext cx="2743200" cy="1097280"/>
          </a:xfrm>
          <a:prstGeom prst="rect">
            <a:avLst/>
          </a:prstGeom>
          <a:noFill/>
          <a:ln/>
        </p:spPr>
        <p:txBody>
          <a:bodyPr wrap="square" lIns="0" tIns="0" rIns="0" bIns="0" rtlCol="0" anchor="ctr"/>
          <a:lstStyle/>
          <a:p>
            <a:pPr indent="0" marL="0">
              <a:buNone/>
            </a:pPr>
            <a:r>
              <a:rPr lang="en-US" sz="8000" b="1" dirty="0">
                <a:solidFill>
                  <a:srgbClr val="F5C242"/>
                </a:solidFill>
                <a:latin typeface="Calibri" pitchFamily="34" charset="0"/>
                <a:ea typeface="Calibri" pitchFamily="34" charset="-122"/>
                <a:cs typeface="Calibri" pitchFamily="34" charset="-120"/>
              </a:rPr>
              <a:t>01</a:t>
            </a:r>
            <a:endParaRPr lang="en-US" sz="8000" dirty="0"/>
          </a:p>
        </p:txBody>
      </p:sp>
      <p:sp>
        <p:nvSpPr>
          <p:cNvPr id="3" name="Text 1"/>
          <p:cNvSpPr txBox="1"/>
          <p:nvPr/>
        </p:nvSpPr>
        <p:spPr>
          <a:xfrm>
            <a:off x="548640" y="2057400"/>
            <a:ext cx="5486400" cy="274320"/>
          </a:xfrm>
          <a:prstGeom prst="rect">
            <a:avLst/>
          </a:prstGeom>
          <a:noFill/>
          <a:ln/>
        </p:spPr>
        <p:txBody>
          <a:bodyPr wrap="square" lIns="0" tIns="0" rIns="0" bIns="0" rtlCol="0" anchor="ctr"/>
          <a:lstStyle/>
          <a:p>
            <a:pPr indent="0" marL="0">
              <a:buNone/>
            </a:pPr>
            <a:r>
              <a:rPr lang="en-US" sz="1100" b="1" spc="300" kern="0" dirty="0">
                <a:solidFill>
                  <a:srgbClr val="F5C242"/>
                </a:solidFill>
                <a:latin typeface="Calibri" pitchFamily="34" charset="0"/>
                <a:ea typeface="Calibri" pitchFamily="34" charset="-122"/>
                <a:cs typeface="Calibri" pitchFamily="34" charset="-120"/>
              </a:rPr>
              <a:t>CRÉER ET ENREGISTRER</a:t>
            </a:r>
            <a:endParaRPr lang="en-US" sz="1100" dirty="0"/>
          </a:p>
        </p:txBody>
      </p:sp>
      <p:sp>
        <p:nvSpPr>
          <p:cNvPr id="4" name="Text 2"/>
          <p:cNvSpPr txBox="1"/>
          <p:nvPr/>
        </p:nvSpPr>
        <p:spPr>
          <a:xfrm>
            <a:off x="548640" y="2377440"/>
            <a:ext cx="5669280" cy="73152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Créer et enregistrer le projet</a:t>
            </a:r>
            <a:endParaRPr lang="en-US" sz="3200" dirty="0"/>
          </a:p>
        </p:txBody>
      </p:sp>
      <p:sp>
        <p:nvSpPr>
          <p:cNvPr id="5" name="Text 3"/>
          <p:cNvSpPr txBox="1"/>
          <p:nvPr/>
        </p:nvSpPr>
        <p:spPr>
          <a:xfrm>
            <a:off x="548640" y="3154680"/>
            <a:ext cx="5669280" cy="54864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Quel compte utiliser, et où tout commence ?</a:t>
            </a:r>
            <a:endParaRPr lang="en-US" sz="1600" dirty="0"/>
          </a:p>
        </p:txBody>
      </p:sp>
      <p:sp>
        <p:nvSpPr>
          <p:cNvPr id="6" name="Shape 4"/>
          <p:cNvSpPr/>
          <p:nvPr/>
        </p:nvSpPr>
        <p:spPr>
          <a:xfrm>
            <a:off x="6492240" y="1417320"/>
            <a:ext cx="2011680" cy="2011680"/>
          </a:xfrm>
          <a:prstGeom prst="ellipse">
            <a:avLst/>
          </a:prstGeom>
          <a:solidFill>
            <a:srgbClr val="FFFFFF">
              <a:alpha val="10000"/>
            </a:srgbClr>
          </a:solidFill>
          <a:ln w="19050">
            <a:solidFill>
              <a:srgbClr val="FFFFFF">
                <a:alpha val="45000"/>
              </a:srgbClr>
            </a:solidFill>
            <a:prstDash val="solid"/>
          </a:ln>
        </p:spPr>
      </p:sp>
      <p:sp>
        <p:nvSpPr>
          <p:cNvPr id="7" name="Shape 5"/>
          <p:cNvSpPr/>
          <p:nvPr/>
        </p:nvSpPr>
        <p:spPr>
          <a:xfrm>
            <a:off x="6812280" y="1737360"/>
            <a:ext cx="1371600" cy="1371600"/>
          </a:xfrm>
          <a:prstGeom prst="ellipse">
            <a:avLst/>
          </a:prstGeom>
          <a:solidFill>
            <a:srgbClr val="FFFFFF">
              <a:alpha val="0"/>
            </a:srgbClr>
          </a:solidFill>
          <a:ln w="19050">
            <a:solidFill>
              <a:srgbClr val="FFFFFF">
                <a:alpha val="60000"/>
              </a:srgbClr>
            </a:solidFill>
            <a:prstDash val="solid"/>
          </a:ln>
        </p:spPr>
      </p:sp>
      <p:pic>
        <p:nvPicPr>
          <p:cNvPr id="8" name="Image 0" descr="preencoded.png">    </p:cNvPr>
          <p:cNvPicPr>
            <a:picLocks noChangeAspect="1"/>
          </p:cNvPicPr>
          <p:nvPr/>
        </p:nvPicPr>
        <p:blipFill>
          <a:blip r:embed="rId2"/>
          <a:stretch>
            <a:fillRect/>
          </a:stretch>
        </p:blipFill>
        <p:spPr>
          <a:xfrm>
            <a:off x="7178040" y="2103120"/>
            <a:ext cx="640080" cy="640080"/>
          </a:xfrm>
          <a:prstGeom prst="rect">
            <a:avLst/>
          </a:prstGeom>
        </p:spPr>
      </p:pic>
      <p:sp>
        <p:nvSpPr>
          <p:cNvPr id="9" name="Shape 6"/>
          <p:cNvSpPr/>
          <p:nvPr/>
        </p:nvSpPr>
        <p:spPr>
          <a:xfrm>
            <a:off x="566928" y="406908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804672" y="4069080"/>
            <a:ext cx="118872" cy="118872"/>
          </a:xfrm>
          <a:prstGeom prst="ellipse">
            <a:avLst/>
          </a:prstGeom>
          <a:solidFill>
            <a:srgbClr val="F5C242"/>
          </a:solidFill>
          <a:ln w="12700">
            <a:solidFill>
              <a:srgbClr val="FFFFFF">
                <a:alpha val="0"/>
              </a:srgbClr>
            </a:solidFill>
            <a:prstDash val="solid"/>
          </a:ln>
        </p:spPr>
      </p:sp>
      <p:sp>
        <p:nvSpPr>
          <p:cNvPr id="11" name="Shape 8"/>
          <p:cNvSpPr/>
          <p:nvPr/>
        </p:nvSpPr>
        <p:spPr>
          <a:xfrm>
            <a:off x="1042416" y="4069080"/>
            <a:ext cx="118872" cy="118872"/>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280160" y="4069080"/>
            <a:ext cx="118872" cy="118872"/>
          </a:xfrm>
          <a:prstGeom prst="ellipse">
            <a:avLst/>
          </a:prstGeom>
          <a:solidFill>
            <a:srgbClr val="FFFFFF">
              <a:alpha val="40000"/>
            </a:srgbClr>
          </a:solidFill>
          <a:ln w="12700">
            <a:solidFill>
              <a:srgbClr val="FFFFFF">
                <a:alpha val="0"/>
              </a:srgbClr>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CRÉER ET ENREGISTRER</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Étape 1 · Choisir le bon compte Google — et s'y tenir</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00704A"/>
          </a:solidFill>
          <a:ln w="12700">
            <a:solidFill>
              <a:srgbClr val="00704A"/>
            </a:solidFill>
            <a:prstDash val="solid"/>
          </a:ln>
        </p:spPr>
      </p:sp>
      <p:sp>
        <p:nvSpPr>
          <p:cNvPr id="10" name="Shape 8"/>
          <p:cNvSpPr/>
          <p:nvPr/>
        </p:nvSpPr>
        <p:spPr>
          <a:xfrm>
            <a:off x="8522208" y="301752"/>
            <a:ext cx="100584" cy="100584"/>
          </a:xfrm>
          <a:prstGeom prst="ellipse">
            <a:avLst/>
          </a:prstGeom>
          <a:solidFill>
            <a:srgbClr val="D5DED9"/>
          </a:solidFill>
          <a:ln w="12700">
            <a:solidFill>
              <a:srgbClr val="D5DED9"/>
            </a:solidFill>
            <a:prstDash val="solid"/>
          </a:ln>
        </p:spPr>
      </p:sp>
      <p:sp>
        <p:nvSpPr>
          <p:cNvPr id="11" name="Shape 9"/>
          <p:cNvSpPr/>
          <p:nvPr/>
        </p:nvSpPr>
        <p:spPr>
          <a:xfrm>
            <a:off x="8705088" y="301752"/>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Préparer un projet Earth Engine · STG17 · Jour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5</a:t>
            </a:r>
            <a:endParaRPr lang="en-US" sz="850" dirty="0"/>
          </a:p>
        </p:txBody>
      </p:sp>
      <p:sp>
        <p:nvSpPr>
          <p:cNvPr id="15" name="Shape 12"/>
          <p:cNvSpPr/>
          <p:nvPr/>
        </p:nvSpPr>
        <p:spPr>
          <a:xfrm>
            <a:off x="457200" y="1371600"/>
            <a:ext cx="8138160" cy="868680"/>
          </a:xfrm>
          <a:prstGeom prst="roundRect">
            <a:avLst>
              <a:gd name="adj" fmla="val 8421"/>
            </a:avLst>
          </a:prstGeom>
          <a:solidFill>
            <a:srgbClr val="F4F7F5"/>
          </a:solidFill>
          <a:ln w="9525">
            <a:solidFill>
              <a:srgbClr val="D5DED9"/>
            </a:solidFill>
            <a:prstDash val="solid"/>
          </a:ln>
        </p:spPr>
      </p:sp>
      <p:sp>
        <p:nvSpPr>
          <p:cNvPr id="16" name="Shape 13"/>
          <p:cNvSpPr/>
          <p:nvPr/>
        </p:nvSpPr>
        <p:spPr>
          <a:xfrm>
            <a:off x="658368" y="1536192"/>
            <a:ext cx="548640" cy="548640"/>
          </a:xfrm>
          <a:prstGeom prst="ellipse">
            <a:avLst/>
          </a:prstGeom>
          <a:solidFill>
            <a:srgbClr val="00A86A">
              <a:alpha val="20000"/>
            </a:srgbClr>
          </a:solidFill>
          <a:ln w="12700">
            <a:solidFill>
              <a:srgbClr val="00A86A">
                <a:alpha val="0"/>
              </a:srgbClr>
            </a:solidFill>
            <a:prstDash val="solid"/>
          </a:ln>
        </p:spPr>
      </p:sp>
      <p:pic>
        <p:nvPicPr>
          <p:cNvPr id="17" name="Image 0" descr="preencoded.png">    </p:cNvPr>
          <p:cNvPicPr>
            <a:picLocks noChangeAspect="1"/>
          </p:cNvPicPr>
          <p:nvPr/>
        </p:nvPicPr>
        <p:blipFill>
          <a:blip r:embed="rId1"/>
          <a:stretch>
            <a:fillRect/>
          </a:stretch>
        </p:blipFill>
        <p:spPr>
          <a:xfrm>
            <a:off x="779069" y="1656893"/>
            <a:ext cx="307238" cy="307238"/>
          </a:xfrm>
          <a:prstGeom prst="rect">
            <a:avLst/>
          </a:prstGeom>
        </p:spPr>
      </p:pic>
      <p:sp>
        <p:nvSpPr>
          <p:cNvPr id="18" name="Text 14"/>
          <p:cNvSpPr txBox="1"/>
          <p:nvPr/>
        </p:nvSpPr>
        <p:spPr>
          <a:xfrm>
            <a:off x="1417320" y="1499616"/>
            <a:ext cx="7040880" cy="292608"/>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Un compte par personne</a:t>
            </a:r>
            <a:endParaRPr lang="en-US" sz="1500" dirty="0"/>
          </a:p>
        </p:txBody>
      </p:sp>
      <p:sp>
        <p:nvSpPr>
          <p:cNvPr id="19" name="Text 15"/>
          <p:cNvSpPr txBox="1"/>
          <p:nvPr/>
        </p:nvSpPr>
        <p:spPr>
          <a:xfrm>
            <a:off x="1417320" y="1792224"/>
            <a:ext cx="7040880" cy="384048"/>
          </a:xfrm>
          <a:prstGeom prst="rect">
            <a:avLst/>
          </a:prstGeom>
          <a:noFill/>
          <a:ln/>
        </p:spPr>
        <p:txBody>
          <a:bodyPr wrap="square" lIns="0" tIns="0" rIns="0" bIns="0" rtlCol="0" anchor="t"/>
          <a:lstStyle/>
          <a:p>
            <a:pPr indent="0" marL="0">
              <a:buNone/>
            </a:pPr>
            <a:r>
              <a:rPr lang="en-US" sz="1200" dirty="0">
                <a:solidFill>
                  <a:srgbClr val="5E6964"/>
                </a:solidFill>
                <a:latin typeface="Calibri" pitchFamily="34" charset="0"/>
                <a:ea typeface="Calibri" pitchFamily="34" charset="-122"/>
                <a:cs typeface="Calibri" pitchFamily="34" charset="-120"/>
              </a:rPr>
              <a:t>Chaque participant qui exécute du code Earth Engine a besoin de sa propre identité Google (Gmail ou Workspace).</a:t>
            </a:r>
            <a:endParaRPr lang="en-US" sz="1200" dirty="0"/>
          </a:p>
        </p:txBody>
      </p:sp>
      <p:sp>
        <p:nvSpPr>
          <p:cNvPr id="20" name="Shape 16"/>
          <p:cNvSpPr/>
          <p:nvPr/>
        </p:nvSpPr>
        <p:spPr>
          <a:xfrm>
            <a:off x="457200" y="2423160"/>
            <a:ext cx="8138160" cy="868680"/>
          </a:xfrm>
          <a:prstGeom prst="roundRect">
            <a:avLst>
              <a:gd name="adj" fmla="val 8421"/>
            </a:avLst>
          </a:prstGeom>
          <a:solidFill>
            <a:srgbClr val="F4F7F5"/>
          </a:solidFill>
          <a:ln w="9525">
            <a:solidFill>
              <a:srgbClr val="D5DED9"/>
            </a:solidFill>
            <a:prstDash val="solid"/>
          </a:ln>
        </p:spPr>
      </p:sp>
      <p:sp>
        <p:nvSpPr>
          <p:cNvPr id="21" name="Shape 17"/>
          <p:cNvSpPr/>
          <p:nvPr/>
        </p:nvSpPr>
        <p:spPr>
          <a:xfrm>
            <a:off x="658368" y="2587752"/>
            <a:ext cx="548640" cy="548640"/>
          </a:xfrm>
          <a:prstGeom prst="ellipse">
            <a:avLst/>
          </a:prstGeom>
          <a:solidFill>
            <a:srgbClr val="D49A00">
              <a:alpha val="20000"/>
            </a:srgbClr>
          </a:solidFill>
          <a:ln w="12700">
            <a:solidFill>
              <a:srgbClr val="D49A00">
                <a:alpha val="0"/>
              </a:srgbClr>
            </a:solidFill>
            <a:prstDash val="solid"/>
          </a:ln>
        </p:spPr>
      </p:sp>
      <p:pic>
        <p:nvPicPr>
          <p:cNvPr id="22" name="Image 1" descr="preencoded.png">    </p:cNvPr>
          <p:cNvPicPr>
            <a:picLocks noChangeAspect="1"/>
          </p:cNvPicPr>
          <p:nvPr/>
        </p:nvPicPr>
        <p:blipFill>
          <a:blip r:embed="rId2"/>
          <a:stretch>
            <a:fillRect/>
          </a:stretch>
        </p:blipFill>
        <p:spPr>
          <a:xfrm>
            <a:off x="779069" y="2708453"/>
            <a:ext cx="307238" cy="307238"/>
          </a:xfrm>
          <a:prstGeom prst="rect">
            <a:avLst/>
          </a:prstGeom>
        </p:spPr>
      </p:pic>
      <p:sp>
        <p:nvSpPr>
          <p:cNvPr id="23" name="Text 18"/>
          <p:cNvSpPr txBox="1"/>
          <p:nvPr/>
        </p:nvSpPr>
        <p:spPr>
          <a:xfrm>
            <a:off x="1417320" y="2551176"/>
            <a:ext cx="7040880" cy="292608"/>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Le même compte partout</a:t>
            </a:r>
            <a:endParaRPr lang="en-US" sz="1500" dirty="0"/>
          </a:p>
        </p:txBody>
      </p:sp>
      <p:sp>
        <p:nvSpPr>
          <p:cNvPr id="24" name="Text 19"/>
          <p:cNvSpPr txBox="1"/>
          <p:nvPr/>
        </p:nvSpPr>
        <p:spPr>
          <a:xfrm>
            <a:off x="1417320" y="2843784"/>
            <a:ext cx="7040880" cy="384048"/>
          </a:xfrm>
          <a:prstGeom prst="rect">
            <a:avLst/>
          </a:prstGeom>
          <a:noFill/>
          <a:ln/>
        </p:spPr>
        <p:txBody>
          <a:bodyPr wrap="square" lIns="0" tIns="0" rIns="0" bIns="0" rtlCol="0" anchor="t"/>
          <a:lstStyle/>
          <a:p>
            <a:pPr indent="0" marL="0">
              <a:buNone/>
            </a:pPr>
            <a:r>
              <a:rPr lang="en-US" sz="1200" dirty="0">
                <a:solidFill>
                  <a:srgbClr val="5E6964"/>
                </a:solidFill>
                <a:latin typeface="Calibri" pitchFamily="34" charset="0"/>
                <a:ea typeface="Calibri" pitchFamily="34" charset="-122"/>
                <a:cs typeface="Calibri" pitchFamily="34" charset="-120"/>
              </a:rPr>
              <a:t>Console Cloud, Colab et fenêtre d'autorisation : un seul et même compte. C'est la première cause d'échec en salle.</a:t>
            </a:r>
            <a:endParaRPr lang="en-US" sz="1200" dirty="0"/>
          </a:p>
        </p:txBody>
      </p:sp>
      <p:sp>
        <p:nvSpPr>
          <p:cNvPr id="25" name="Shape 20"/>
          <p:cNvSpPr/>
          <p:nvPr/>
        </p:nvSpPr>
        <p:spPr>
          <a:xfrm>
            <a:off x="457200" y="3474720"/>
            <a:ext cx="8138160" cy="868680"/>
          </a:xfrm>
          <a:prstGeom prst="roundRect">
            <a:avLst>
              <a:gd name="adj" fmla="val 8421"/>
            </a:avLst>
          </a:prstGeom>
          <a:solidFill>
            <a:srgbClr val="F4F7F5"/>
          </a:solidFill>
          <a:ln w="9525">
            <a:solidFill>
              <a:srgbClr val="D5DED9"/>
            </a:solidFill>
            <a:prstDash val="solid"/>
          </a:ln>
        </p:spPr>
      </p:sp>
      <p:sp>
        <p:nvSpPr>
          <p:cNvPr id="26" name="Shape 21"/>
          <p:cNvSpPr/>
          <p:nvPr/>
        </p:nvSpPr>
        <p:spPr>
          <a:xfrm>
            <a:off x="658368" y="3639312"/>
            <a:ext cx="548640" cy="548640"/>
          </a:xfrm>
          <a:prstGeom prst="ellipse">
            <a:avLst/>
          </a:prstGeom>
          <a:solidFill>
            <a:srgbClr val="00704A">
              <a:alpha val="20000"/>
            </a:srgbClr>
          </a:solidFill>
          <a:ln w="12700">
            <a:solidFill>
              <a:srgbClr val="00704A">
                <a:alpha val="0"/>
              </a:srgbClr>
            </a:solidFill>
            <a:prstDash val="solid"/>
          </a:ln>
        </p:spPr>
      </p:sp>
      <p:pic>
        <p:nvPicPr>
          <p:cNvPr id="27" name="Image 2" descr="preencoded.png">    </p:cNvPr>
          <p:cNvPicPr>
            <a:picLocks noChangeAspect="1"/>
          </p:cNvPicPr>
          <p:nvPr/>
        </p:nvPicPr>
        <p:blipFill>
          <a:blip r:embed="rId3"/>
          <a:stretch>
            <a:fillRect/>
          </a:stretch>
        </p:blipFill>
        <p:spPr>
          <a:xfrm>
            <a:off x="779069" y="3760013"/>
            <a:ext cx="307238" cy="307238"/>
          </a:xfrm>
          <a:prstGeom prst="rect">
            <a:avLst/>
          </a:prstGeom>
        </p:spPr>
      </p:pic>
      <p:sp>
        <p:nvSpPr>
          <p:cNvPr id="28" name="Text 22"/>
          <p:cNvSpPr txBox="1"/>
          <p:nvPr/>
        </p:nvSpPr>
        <p:spPr>
          <a:xfrm>
            <a:off x="1417320" y="3602736"/>
            <a:ext cx="7040880" cy="292608"/>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Compte institutionnel ?</a:t>
            </a:r>
            <a:endParaRPr lang="en-US" sz="1500" dirty="0"/>
          </a:p>
        </p:txBody>
      </p:sp>
      <p:sp>
        <p:nvSpPr>
          <p:cNvPr id="29" name="Text 23"/>
          <p:cNvSpPr txBox="1"/>
          <p:nvPr/>
        </p:nvSpPr>
        <p:spPr>
          <a:xfrm>
            <a:off x="1417320" y="3895344"/>
            <a:ext cx="7040880" cy="384048"/>
          </a:xfrm>
          <a:prstGeom prst="rect">
            <a:avLst/>
          </a:prstGeom>
          <a:noFill/>
          <a:ln/>
        </p:spPr>
        <p:txBody>
          <a:bodyPr wrap="square" lIns="0" tIns="0" rIns="0" bIns="0" rtlCol="0" anchor="t"/>
          <a:lstStyle/>
          <a:p>
            <a:pPr indent="0" marL="0">
              <a:buNone/>
            </a:pPr>
            <a:r>
              <a:rPr lang="en-US" sz="1200" dirty="0">
                <a:solidFill>
                  <a:srgbClr val="5E6964"/>
                </a:solidFill>
                <a:latin typeface="Calibri" pitchFamily="34" charset="0"/>
                <a:ea typeface="Calibri" pitchFamily="34" charset="-122"/>
                <a:cs typeface="Calibri" pitchFamily="34" charset="-120"/>
              </a:rPr>
              <a:t>Certaines organisations interdisent de créer des projets Cloud. Demandez alors à l'informatique de créer le projet et de vous y ajouter.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CRÉER ET ENREGISTRER</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Étape 2 · Créer le projet depuis la page d'enregistrement</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00704A"/>
          </a:solidFill>
          <a:ln w="12700">
            <a:solidFill>
              <a:srgbClr val="00704A"/>
            </a:solidFill>
            <a:prstDash val="solid"/>
          </a:ln>
        </p:spPr>
      </p:sp>
      <p:sp>
        <p:nvSpPr>
          <p:cNvPr id="10" name="Shape 8"/>
          <p:cNvSpPr/>
          <p:nvPr/>
        </p:nvSpPr>
        <p:spPr>
          <a:xfrm>
            <a:off x="8522208" y="301752"/>
            <a:ext cx="100584" cy="100584"/>
          </a:xfrm>
          <a:prstGeom prst="ellipse">
            <a:avLst/>
          </a:prstGeom>
          <a:solidFill>
            <a:srgbClr val="D5DED9"/>
          </a:solidFill>
          <a:ln w="12700">
            <a:solidFill>
              <a:srgbClr val="D5DED9"/>
            </a:solidFill>
            <a:prstDash val="solid"/>
          </a:ln>
        </p:spPr>
      </p:sp>
      <p:sp>
        <p:nvSpPr>
          <p:cNvPr id="11" name="Shape 9"/>
          <p:cNvSpPr/>
          <p:nvPr/>
        </p:nvSpPr>
        <p:spPr>
          <a:xfrm>
            <a:off x="8705088" y="301752"/>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Préparer un projet Earth Engine · STG17 · Jour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5" name="Shape 12"/>
          <p:cNvSpPr/>
          <p:nvPr/>
        </p:nvSpPr>
        <p:spPr>
          <a:xfrm>
            <a:off x="457200" y="1316736"/>
            <a:ext cx="310896" cy="310896"/>
          </a:xfrm>
          <a:prstGeom prst="ellipse">
            <a:avLst/>
          </a:prstGeom>
          <a:solidFill>
            <a:srgbClr val="00704A"/>
          </a:solidFill>
          <a:ln w="19050">
            <a:solidFill>
              <a:srgbClr val="FFFFFF"/>
            </a:solidFill>
            <a:prstDash val="solid"/>
          </a:ln>
        </p:spPr>
      </p:sp>
      <p:sp>
        <p:nvSpPr>
          <p:cNvPr id="16" name="Text 13"/>
          <p:cNvSpPr txBox="1"/>
          <p:nvPr/>
        </p:nvSpPr>
        <p:spPr>
          <a:xfrm>
            <a:off x="457200" y="1316736"/>
            <a:ext cx="310896" cy="310896"/>
          </a:xfrm>
          <a:prstGeom prst="rect">
            <a:avLst/>
          </a:prstGeom>
          <a:noFill/>
          <a:ln/>
        </p:spPr>
        <p:txBody>
          <a:bodyPr wrap="square" lIns="0" tIns="0" rIns="0" bIns="0" rtlCol="0" anchor="ctr"/>
          <a:lstStyle/>
          <a:p>
            <a:pPr algn="ctr" indent="0" marL="0">
              <a:buNone/>
            </a:pPr>
            <a:r>
              <a:rPr lang="en-US" sz="1224" b="1" dirty="0">
                <a:solidFill>
                  <a:srgbClr val="FFFFFF"/>
                </a:solidFill>
                <a:latin typeface="Calibri" pitchFamily="34" charset="0"/>
                <a:ea typeface="Calibri" pitchFamily="34" charset="-122"/>
                <a:cs typeface="Calibri" pitchFamily="34" charset="-120"/>
              </a:rPr>
              <a:t>1</a:t>
            </a:r>
            <a:endParaRPr lang="en-US" sz="1224" dirty="0"/>
          </a:p>
        </p:txBody>
      </p:sp>
      <p:sp>
        <p:nvSpPr>
          <p:cNvPr id="17" name="Text 14"/>
          <p:cNvSpPr txBox="1"/>
          <p:nvPr/>
        </p:nvSpPr>
        <p:spPr>
          <a:xfrm>
            <a:off x="914400" y="1298448"/>
            <a:ext cx="3108960" cy="256032"/>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Ouvrir la page</a:t>
            </a:r>
            <a:endParaRPr lang="en-US" sz="1350" dirty="0"/>
          </a:p>
        </p:txBody>
      </p:sp>
      <p:sp>
        <p:nvSpPr>
          <p:cNvPr id="18" name="Text 15"/>
          <p:cNvSpPr txBox="1"/>
          <p:nvPr/>
        </p:nvSpPr>
        <p:spPr>
          <a:xfrm>
            <a:off x="914400" y="1554480"/>
            <a:ext cx="3108960" cy="4572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console.cloud.google.com/earth-engine — connecté avec le bon compte.</a:t>
            </a:r>
            <a:endParaRPr lang="en-US" sz="1050" dirty="0"/>
          </a:p>
        </p:txBody>
      </p:sp>
      <p:sp>
        <p:nvSpPr>
          <p:cNvPr id="19" name="Shape 16"/>
          <p:cNvSpPr/>
          <p:nvPr/>
        </p:nvSpPr>
        <p:spPr>
          <a:xfrm>
            <a:off x="457200" y="2084832"/>
            <a:ext cx="310896" cy="310896"/>
          </a:xfrm>
          <a:prstGeom prst="ellipse">
            <a:avLst/>
          </a:prstGeom>
          <a:solidFill>
            <a:srgbClr val="00704A"/>
          </a:solidFill>
          <a:ln w="19050">
            <a:solidFill>
              <a:srgbClr val="FFFFFF"/>
            </a:solidFill>
            <a:prstDash val="solid"/>
          </a:ln>
        </p:spPr>
      </p:sp>
      <p:sp>
        <p:nvSpPr>
          <p:cNvPr id="20" name="Text 17"/>
          <p:cNvSpPr txBox="1"/>
          <p:nvPr/>
        </p:nvSpPr>
        <p:spPr>
          <a:xfrm>
            <a:off x="457200" y="2084832"/>
            <a:ext cx="310896" cy="310896"/>
          </a:xfrm>
          <a:prstGeom prst="rect">
            <a:avLst/>
          </a:prstGeom>
          <a:noFill/>
          <a:ln/>
        </p:spPr>
        <p:txBody>
          <a:bodyPr wrap="square" lIns="0" tIns="0" rIns="0" bIns="0" rtlCol="0" anchor="ctr"/>
          <a:lstStyle/>
          <a:p>
            <a:pPr algn="ctr" indent="0" marL="0">
              <a:buNone/>
            </a:pPr>
            <a:r>
              <a:rPr lang="en-US" sz="1224" b="1" dirty="0">
                <a:solidFill>
                  <a:srgbClr val="FFFFFF"/>
                </a:solidFill>
                <a:latin typeface="Calibri" pitchFamily="34" charset="0"/>
                <a:ea typeface="Calibri" pitchFamily="34" charset="-122"/>
                <a:cs typeface="Calibri" pitchFamily="34" charset="-120"/>
              </a:rPr>
              <a:t>2</a:t>
            </a:r>
            <a:endParaRPr lang="en-US" sz="1224" dirty="0"/>
          </a:p>
        </p:txBody>
      </p:sp>
      <p:sp>
        <p:nvSpPr>
          <p:cNvPr id="21" name="Text 18"/>
          <p:cNvSpPr txBox="1"/>
          <p:nvPr/>
        </p:nvSpPr>
        <p:spPr>
          <a:xfrm>
            <a:off x="914400" y="2066544"/>
            <a:ext cx="3108960" cy="256032"/>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Créer ou choisir</a:t>
            </a:r>
            <a:endParaRPr lang="en-US" sz="1350" dirty="0"/>
          </a:p>
        </p:txBody>
      </p:sp>
      <p:sp>
        <p:nvSpPr>
          <p:cNvPr id="22" name="Text 19"/>
          <p:cNvSpPr txBox="1"/>
          <p:nvPr/>
        </p:nvSpPr>
        <p:spPr>
          <a:xfrm>
            <a:off x="914400" y="2322576"/>
            <a:ext cx="3108960" cy="4572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 Créer un projet », ou rattacher un projet existant.</a:t>
            </a:r>
            <a:endParaRPr lang="en-US" sz="1050" dirty="0"/>
          </a:p>
        </p:txBody>
      </p:sp>
      <p:sp>
        <p:nvSpPr>
          <p:cNvPr id="23" name="Shape 20"/>
          <p:cNvSpPr/>
          <p:nvPr/>
        </p:nvSpPr>
        <p:spPr>
          <a:xfrm>
            <a:off x="457200" y="2852928"/>
            <a:ext cx="310896" cy="310896"/>
          </a:xfrm>
          <a:prstGeom prst="ellipse">
            <a:avLst/>
          </a:prstGeom>
          <a:solidFill>
            <a:srgbClr val="00704A"/>
          </a:solidFill>
          <a:ln w="19050">
            <a:solidFill>
              <a:srgbClr val="FFFFFF"/>
            </a:solidFill>
            <a:prstDash val="solid"/>
          </a:ln>
        </p:spPr>
      </p:sp>
      <p:sp>
        <p:nvSpPr>
          <p:cNvPr id="24" name="Text 21"/>
          <p:cNvSpPr txBox="1"/>
          <p:nvPr/>
        </p:nvSpPr>
        <p:spPr>
          <a:xfrm>
            <a:off x="457200" y="2852928"/>
            <a:ext cx="310896" cy="310896"/>
          </a:xfrm>
          <a:prstGeom prst="rect">
            <a:avLst/>
          </a:prstGeom>
          <a:noFill/>
          <a:ln/>
        </p:spPr>
        <p:txBody>
          <a:bodyPr wrap="square" lIns="0" tIns="0" rIns="0" bIns="0" rtlCol="0" anchor="ctr"/>
          <a:lstStyle/>
          <a:p>
            <a:pPr algn="ctr" indent="0" marL="0">
              <a:buNone/>
            </a:pPr>
            <a:r>
              <a:rPr lang="en-US" sz="1224" b="1" dirty="0">
                <a:solidFill>
                  <a:srgbClr val="FFFFFF"/>
                </a:solidFill>
                <a:latin typeface="Calibri" pitchFamily="34" charset="0"/>
                <a:ea typeface="Calibri" pitchFamily="34" charset="-122"/>
                <a:cs typeface="Calibri" pitchFamily="34" charset="-120"/>
              </a:rPr>
              <a:t>3</a:t>
            </a:r>
            <a:endParaRPr lang="en-US" sz="1224" dirty="0"/>
          </a:p>
        </p:txBody>
      </p:sp>
      <p:sp>
        <p:nvSpPr>
          <p:cNvPr id="25" name="Text 22"/>
          <p:cNvSpPr txBox="1"/>
          <p:nvPr/>
        </p:nvSpPr>
        <p:spPr>
          <a:xfrm>
            <a:off x="914400" y="2834640"/>
            <a:ext cx="3108960" cy="256032"/>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Nommer</a:t>
            </a:r>
            <a:endParaRPr lang="en-US" sz="1350" dirty="0"/>
          </a:p>
        </p:txBody>
      </p:sp>
      <p:sp>
        <p:nvSpPr>
          <p:cNvPr id="26" name="Text 23"/>
          <p:cNvSpPr txBox="1"/>
          <p:nvPr/>
        </p:nvSpPr>
        <p:spPr>
          <a:xfrm>
            <a:off x="914400" y="3090672"/>
            <a:ext cx="3108960" cy="4572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Nom libre ; Google en déduit un identifiant unique et définitif. Ex. ntl-stg17 (suffixe ajouté s'il est pris).</a:t>
            </a:r>
            <a:endParaRPr lang="en-US" sz="1050" dirty="0"/>
          </a:p>
        </p:txBody>
      </p:sp>
      <p:sp>
        <p:nvSpPr>
          <p:cNvPr id="27" name="Shape 24"/>
          <p:cNvSpPr/>
          <p:nvPr/>
        </p:nvSpPr>
        <p:spPr>
          <a:xfrm>
            <a:off x="457200" y="3621024"/>
            <a:ext cx="310896" cy="310896"/>
          </a:xfrm>
          <a:prstGeom prst="ellipse">
            <a:avLst/>
          </a:prstGeom>
          <a:solidFill>
            <a:srgbClr val="00704A"/>
          </a:solidFill>
          <a:ln w="19050">
            <a:solidFill>
              <a:srgbClr val="FFFFFF"/>
            </a:solidFill>
            <a:prstDash val="solid"/>
          </a:ln>
        </p:spPr>
      </p:sp>
      <p:sp>
        <p:nvSpPr>
          <p:cNvPr id="28" name="Text 25"/>
          <p:cNvSpPr txBox="1"/>
          <p:nvPr/>
        </p:nvSpPr>
        <p:spPr>
          <a:xfrm>
            <a:off x="457200" y="3621024"/>
            <a:ext cx="310896" cy="310896"/>
          </a:xfrm>
          <a:prstGeom prst="rect">
            <a:avLst/>
          </a:prstGeom>
          <a:noFill/>
          <a:ln/>
        </p:spPr>
        <p:txBody>
          <a:bodyPr wrap="square" lIns="0" tIns="0" rIns="0" bIns="0" rtlCol="0" anchor="ctr"/>
          <a:lstStyle/>
          <a:p>
            <a:pPr algn="ctr" indent="0" marL="0">
              <a:buNone/>
            </a:pPr>
            <a:r>
              <a:rPr lang="en-US" sz="1224" b="1" dirty="0">
                <a:solidFill>
                  <a:srgbClr val="FFFFFF"/>
                </a:solidFill>
                <a:latin typeface="Calibri" pitchFamily="34" charset="0"/>
                <a:ea typeface="Calibri" pitchFamily="34" charset="-122"/>
                <a:cs typeface="Calibri" pitchFamily="34" charset="-120"/>
              </a:rPr>
              <a:t>4</a:t>
            </a:r>
            <a:endParaRPr lang="en-US" sz="1224" dirty="0"/>
          </a:p>
        </p:txBody>
      </p:sp>
      <p:sp>
        <p:nvSpPr>
          <p:cNvPr id="29" name="Text 26"/>
          <p:cNvSpPr txBox="1"/>
          <p:nvPr/>
        </p:nvSpPr>
        <p:spPr>
          <a:xfrm>
            <a:off x="914400" y="3602736"/>
            <a:ext cx="3108960" cy="256032"/>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Valider</a:t>
            </a:r>
            <a:endParaRPr lang="en-US" sz="1350" dirty="0"/>
          </a:p>
        </p:txBody>
      </p:sp>
      <p:sp>
        <p:nvSpPr>
          <p:cNvPr id="30" name="Text 27"/>
          <p:cNvSpPr txBox="1"/>
          <p:nvPr/>
        </p:nvSpPr>
        <p:spPr>
          <a:xfrm>
            <a:off x="914400" y="3858768"/>
            <a:ext cx="3108960" cy="4572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Le parcours active l'API Earth Engine et passe à la déclaration d'usage.</a:t>
            </a:r>
            <a:endParaRPr lang="en-US" sz="1050" dirty="0"/>
          </a:p>
        </p:txBody>
      </p:sp>
      <p:sp>
        <p:nvSpPr>
          <p:cNvPr id="31" name="Shape 28"/>
          <p:cNvSpPr/>
          <p:nvPr/>
        </p:nvSpPr>
        <p:spPr>
          <a:xfrm>
            <a:off x="4343400" y="1325880"/>
            <a:ext cx="4297680" cy="3063240"/>
          </a:xfrm>
          <a:prstGeom prst="roundRect">
            <a:avLst>
              <a:gd name="adj" fmla="val 2388"/>
            </a:avLst>
          </a:prstGeom>
          <a:solidFill>
            <a:srgbClr val="FFFFFF"/>
          </a:solidFill>
          <a:ln w="12700">
            <a:solidFill>
              <a:srgbClr val="D5DED9"/>
            </a:solidFill>
            <a:prstDash val="solid"/>
          </a:ln>
          <a:effectLst>
            <a:outerShdw sx="100000" sy="100000" kx="0" ky="0" algn="bl" rotWithShape="0" blurRad="76200" dist="25400" dir="5400000">
              <a:srgbClr val="000000">
                <a:alpha val="12000"/>
              </a:srgbClr>
            </a:outerShdw>
          </a:effectLst>
        </p:spPr>
      </p:sp>
      <p:sp>
        <p:nvSpPr>
          <p:cNvPr id="32" name="Shape 29"/>
          <p:cNvSpPr/>
          <p:nvPr/>
        </p:nvSpPr>
        <p:spPr>
          <a:xfrm>
            <a:off x="4361688" y="1344168"/>
            <a:ext cx="4261104" cy="329184"/>
          </a:xfrm>
          <a:prstGeom prst="rect">
            <a:avLst/>
          </a:prstGeom>
          <a:solidFill>
            <a:srgbClr val="F4F7F5"/>
          </a:solidFill>
          <a:ln w="12700">
            <a:solidFill>
              <a:srgbClr val="F4F7F5"/>
            </a:solidFill>
            <a:prstDash val="solid"/>
          </a:ln>
        </p:spPr>
      </p:sp>
      <p:sp>
        <p:nvSpPr>
          <p:cNvPr id="33" name="Shape 30"/>
          <p:cNvSpPr/>
          <p:nvPr/>
        </p:nvSpPr>
        <p:spPr>
          <a:xfrm>
            <a:off x="4471416" y="1453896"/>
            <a:ext cx="82296" cy="82296"/>
          </a:xfrm>
          <a:prstGeom prst="ellipse">
            <a:avLst/>
          </a:prstGeom>
          <a:solidFill>
            <a:srgbClr val="D5DED9"/>
          </a:solidFill>
          <a:ln w="12700">
            <a:solidFill>
              <a:srgbClr val="D5DED9"/>
            </a:solidFill>
            <a:prstDash val="solid"/>
          </a:ln>
        </p:spPr>
      </p:sp>
      <p:sp>
        <p:nvSpPr>
          <p:cNvPr id="34" name="Shape 31"/>
          <p:cNvSpPr/>
          <p:nvPr/>
        </p:nvSpPr>
        <p:spPr>
          <a:xfrm>
            <a:off x="4617720" y="1453896"/>
            <a:ext cx="82296" cy="82296"/>
          </a:xfrm>
          <a:prstGeom prst="ellipse">
            <a:avLst/>
          </a:prstGeom>
          <a:solidFill>
            <a:srgbClr val="D5DED9"/>
          </a:solidFill>
          <a:ln w="12700">
            <a:solidFill>
              <a:srgbClr val="D5DED9"/>
            </a:solidFill>
            <a:prstDash val="solid"/>
          </a:ln>
        </p:spPr>
      </p:sp>
      <p:sp>
        <p:nvSpPr>
          <p:cNvPr id="35" name="Shape 32"/>
          <p:cNvSpPr/>
          <p:nvPr/>
        </p:nvSpPr>
        <p:spPr>
          <a:xfrm>
            <a:off x="4764024" y="1453896"/>
            <a:ext cx="82296" cy="82296"/>
          </a:xfrm>
          <a:prstGeom prst="ellipse">
            <a:avLst/>
          </a:prstGeom>
          <a:solidFill>
            <a:srgbClr val="D5DED9"/>
          </a:solidFill>
          <a:ln w="12700">
            <a:solidFill>
              <a:srgbClr val="D5DED9"/>
            </a:solidFill>
            <a:prstDash val="solid"/>
          </a:ln>
        </p:spPr>
      </p:sp>
      <p:sp>
        <p:nvSpPr>
          <p:cNvPr id="36" name="Shape 33"/>
          <p:cNvSpPr/>
          <p:nvPr/>
        </p:nvSpPr>
        <p:spPr>
          <a:xfrm>
            <a:off x="4983480" y="1399032"/>
            <a:ext cx="3520440" cy="201168"/>
          </a:xfrm>
          <a:prstGeom prst="roundRect">
            <a:avLst>
              <a:gd name="adj" fmla="val 50000"/>
            </a:avLst>
          </a:prstGeom>
          <a:solidFill>
            <a:srgbClr val="FFFFFF"/>
          </a:solidFill>
          <a:ln w="6350">
            <a:solidFill>
              <a:srgbClr val="D5DED9"/>
            </a:solidFill>
            <a:prstDash val="solid"/>
          </a:ln>
        </p:spPr>
      </p:sp>
      <p:sp>
        <p:nvSpPr>
          <p:cNvPr id="37" name="Text 34"/>
          <p:cNvSpPr txBox="1"/>
          <p:nvPr/>
        </p:nvSpPr>
        <p:spPr>
          <a:xfrm>
            <a:off x="5093208" y="1399032"/>
            <a:ext cx="3383280" cy="201168"/>
          </a:xfrm>
          <a:prstGeom prst="rect">
            <a:avLst/>
          </a:prstGeom>
          <a:noFill/>
          <a:ln/>
        </p:spPr>
        <p:txBody>
          <a:bodyPr wrap="square" lIns="0" tIns="0" rIns="0" bIns="0" rtlCol="0" anchor="ctr"/>
          <a:lstStyle/>
          <a:p>
            <a:pPr indent="0" marL="0">
              <a:buNone/>
            </a:pPr>
            <a:r>
              <a:rPr lang="en-US" sz="800" dirty="0">
                <a:solidFill>
                  <a:srgbClr val="5E6964"/>
                </a:solidFill>
                <a:latin typeface="Courier New" pitchFamily="34" charset="0"/>
                <a:ea typeface="Courier New" pitchFamily="34" charset="-122"/>
                <a:cs typeface="Courier New" pitchFamily="34" charset="-120"/>
              </a:rPr>
              <a:t>console.cloud.google.com/earth-engine</a:t>
            </a:r>
            <a:endParaRPr lang="en-US" sz="800" dirty="0"/>
          </a:p>
        </p:txBody>
      </p:sp>
      <p:sp>
        <p:nvSpPr>
          <p:cNvPr id="38" name="Text 35"/>
          <p:cNvSpPr txBox="1"/>
          <p:nvPr/>
        </p:nvSpPr>
        <p:spPr>
          <a:xfrm>
            <a:off x="4617720" y="1828800"/>
            <a:ext cx="3749040" cy="27432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Enregistrer un projet pour Earth Engine</a:t>
            </a:r>
            <a:endParaRPr lang="en-US" sz="1300" dirty="0"/>
          </a:p>
        </p:txBody>
      </p:sp>
      <p:sp>
        <p:nvSpPr>
          <p:cNvPr id="39" name="Text 36"/>
          <p:cNvSpPr txBox="1"/>
          <p:nvPr/>
        </p:nvSpPr>
        <p:spPr>
          <a:xfrm>
            <a:off x="4617720" y="2167128"/>
            <a:ext cx="3749040" cy="237744"/>
          </a:xfrm>
          <a:prstGeom prst="rect">
            <a:avLst/>
          </a:prstGeom>
          <a:noFill/>
          <a:ln/>
        </p:spPr>
        <p:txBody>
          <a:bodyPr wrap="square" lIns="0" tIns="0" rIns="0" bIns="0" rtlCol="0" anchor="ctr"/>
          <a:lstStyle/>
          <a:p>
            <a:pPr indent="0" marL="0">
              <a:buNone/>
            </a:pPr>
            <a:r>
              <a:rPr lang="en-US" sz="1000" dirty="0">
                <a:solidFill>
                  <a:srgbClr val="00A86A"/>
                </a:solidFill>
                <a:latin typeface="Calibri" pitchFamily="34" charset="0"/>
                <a:ea typeface="Calibri" pitchFamily="34" charset="-122"/>
                <a:cs typeface="Calibri" pitchFamily="34" charset="-120"/>
              </a:rPr>
              <a:t>◉ </a:t>
            </a:r>
            <a:pPr indent="0" marL="0">
              <a:buNone/>
            </a:pPr>
            <a:r>
              <a:rPr lang="en-US" sz="1000" b="1" dirty="0">
                <a:solidFill>
                  <a:srgbClr val="231F20"/>
                </a:solidFill>
                <a:latin typeface="Calibri" pitchFamily="34" charset="0"/>
                <a:ea typeface="Calibri" pitchFamily="34" charset="-122"/>
                <a:cs typeface="Calibri" pitchFamily="34" charset="-120"/>
              </a:rPr>
              <a:t>Créer un projet   </a:t>
            </a:r>
            <a:pPr indent="0" marL="0">
              <a:buNone/>
            </a:pPr>
            <a:r>
              <a:rPr lang="en-US" sz="1000" dirty="0">
                <a:solidFill>
                  <a:srgbClr val="5E6964"/>
                </a:solidFill>
                <a:latin typeface="Calibri" pitchFamily="34" charset="0"/>
                <a:ea typeface="Calibri" pitchFamily="34" charset="-122"/>
                <a:cs typeface="Calibri" pitchFamily="34" charset="-120"/>
              </a:rPr>
              <a:t>○ </a:t>
            </a:r>
            <a:pPr indent="0" marL="0">
              <a:buNone/>
            </a:pPr>
            <a:r>
              <a:rPr lang="en-US" sz="1000" dirty="0">
                <a:solidFill>
                  <a:srgbClr val="5E6964"/>
                </a:solidFill>
                <a:latin typeface="Calibri" pitchFamily="34" charset="0"/>
                <a:ea typeface="Calibri" pitchFamily="34" charset="-122"/>
                <a:cs typeface="Calibri" pitchFamily="34" charset="-120"/>
              </a:rPr>
              <a:t>Utiliser un projet existant</a:t>
            </a:r>
            <a:endParaRPr lang="en-US" sz="1000" dirty="0"/>
          </a:p>
        </p:txBody>
      </p:sp>
      <p:sp>
        <p:nvSpPr>
          <p:cNvPr id="40" name="Text 37"/>
          <p:cNvSpPr txBox="1"/>
          <p:nvPr/>
        </p:nvSpPr>
        <p:spPr>
          <a:xfrm>
            <a:off x="4617720" y="2468880"/>
            <a:ext cx="3749040" cy="182880"/>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Nom du projet</a:t>
            </a:r>
            <a:endParaRPr lang="en-US" sz="900" dirty="0"/>
          </a:p>
        </p:txBody>
      </p:sp>
      <p:sp>
        <p:nvSpPr>
          <p:cNvPr id="41" name="Shape 38"/>
          <p:cNvSpPr/>
          <p:nvPr/>
        </p:nvSpPr>
        <p:spPr>
          <a:xfrm>
            <a:off x="4617720" y="2670048"/>
            <a:ext cx="3749040" cy="292608"/>
          </a:xfrm>
          <a:prstGeom prst="roundRect">
            <a:avLst>
              <a:gd name="adj" fmla="val 15625"/>
            </a:avLst>
          </a:prstGeom>
          <a:solidFill>
            <a:srgbClr val="FFFFFF"/>
          </a:solidFill>
          <a:ln w="9525">
            <a:solidFill>
              <a:srgbClr val="D5DED9"/>
            </a:solidFill>
            <a:prstDash val="solid"/>
          </a:ln>
        </p:spPr>
      </p:sp>
      <p:sp>
        <p:nvSpPr>
          <p:cNvPr id="42" name="Text 39"/>
          <p:cNvSpPr txBox="1"/>
          <p:nvPr/>
        </p:nvSpPr>
        <p:spPr>
          <a:xfrm>
            <a:off x="4727448" y="2670048"/>
            <a:ext cx="3566160" cy="292608"/>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NTL-STG17</a:t>
            </a:r>
            <a:endParaRPr lang="en-US" sz="1000" dirty="0"/>
          </a:p>
        </p:txBody>
      </p:sp>
      <p:sp>
        <p:nvSpPr>
          <p:cNvPr id="43" name="Text 40"/>
          <p:cNvSpPr txBox="1"/>
          <p:nvPr/>
        </p:nvSpPr>
        <p:spPr>
          <a:xfrm>
            <a:off x="4617720" y="3063240"/>
            <a:ext cx="3749040" cy="182880"/>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Identifiant du projet — définitif</a:t>
            </a:r>
            <a:endParaRPr lang="en-US" sz="900" dirty="0"/>
          </a:p>
        </p:txBody>
      </p:sp>
      <p:sp>
        <p:nvSpPr>
          <p:cNvPr id="44" name="Shape 41"/>
          <p:cNvSpPr/>
          <p:nvPr/>
        </p:nvSpPr>
        <p:spPr>
          <a:xfrm>
            <a:off x="4617720" y="3264408"/>
            <a:ext cx="3749040" cy="292608"/>
          </a:xfrm>
          <a:prstGeom prst="roundRect">
            <a:avLst>
              <a:gd name="adj" fmla="val 15625"/>
            </a:avLst>
          </a:prstGeom>
          <a:solidFill>
            <a:srgbClr val="E8F5EF"/>
          </a:solidFill>
          <a:ln w="19050">
            <a:solidFill>
              <a:srgbClr val="00A86A"/>
            </a:solidFill>
            <a:prstDash val="solid"/>
          </a:ln>
        </p:spPr>
      </p:sp>
      <p:sp>
        <p:nvSpPr>
          <p:cNvPr id="45" name="Text 42"/>
          <p:cNvSpPr txBox="1"/>
          <p:nvPr/>
        </p:nvSpPr>
        <p:spPr>
          <a:xfrm>
            <a:off x="4727448" y="3264408"/>
            <a:ext cx="3566160" cy="292608"/>
          </a:xfrm>
          <a:prstGeom prst="rect">
            <a:avLst/>
          </a:prstGeom>
          <a:noFill/>
          <a:ln/>
        </p:spPr>
        <p:txBody>
          <a:bodyPr wrap="square" lIns="0" tIns="0" rIns="0" bIns="0" rtlCol="0" anchor="ctr"/>
          <a:lstStyle/>
          <a:p>
            <a:pPr indent="0" marL="0">
              <a:buNone/>
            </a:pPr>
            <a:r>
              <a:rPr lang="en-US" sz="1000" dirty="0">
                <a:solidFill>
                  <a:srgbClr val="231F20"/>
                </a:solidFill>
                <a:latin typeface="Courier New" pitchFamily="34" charset="0"/>
                <a:ea typeface="Courier New" pitchFamily="34" charset="-122"/>
                <a:cs typeface="Courier New" pitchFamily="34" charset="-120"/>
              </a:rPr>
              <a:t>ntl-stg17</a:t>
            </a:r>
            <a:endParaRPr lang="en-US" sz="1000" dirty="0"/>
          </a:p>
        </p:txBody>
      </p:sp>
      <p:sp>
        <p:nvSpPr>
          <p:cNvPr id="46" name="Shape 43"/>
          <p:cNvSpPr/>
          <p:nvPr/>
        </p:nvSpPr>
        <p:spPr>
          <a:xfrm>
            <a:off x="7269480" y="3794760"/>
            <a:ext cx="1097280" cy="329184"/>
          </a:xfrm>
          <a:prstGeom prst="roundRect">
            <a:avLst>
              <a:gd name="adj" fmla="val 16667"/>
            </a:avLst>
          </a:prstGeom>
          <a:solidFill>
            <a:srgbClr val="00704A"/>
          </a:solidFill>
          <a:ln w="12700">
            <a:solidFill>
              <a:srgbClr val="00704A"/>
            </a:solidFill>
            <a:prstDash val="solid"/>
          </a:ln>
        </p:spPr>
      </p:sp>
      <p:sp>
        <p:nvSpPr>
          <p:cNvPr id="47" name="Text 44"/>
          <p:cNvSpPr txBox="1"/>
          <p:nvPr/>
        </p:nvSpPr>
        <p:spPr>
          <a:xfrm>
            <a:off x="7269480" y="3794760"/>
            <a:ext cx="109728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Continuer</a:t>
            </a:r>
            <a:endParaRPr lang="en-US" sz="1100" dirty="0"/>
          </a:p>
        </p:txBody>
      </p:sp>
      <p:sp>
        <p:nvSpPr>
          <p:cNvPr id="48" name="Shape 45"/>
          <p:cNvSpPr/>
          <p:nvPr/>
        </p:nvSpPr>
        <p:spPr>
          <a:xfrm>
            <a:off x="4343400" y="4480560"/>
            <a:ext cx="2651760" cy="237744"/>
          </a:xfrm>
          <a:prstGeom prst="roundRect">
            <a:avLst>
              <a:gd name="adj" fmla="val 50000"/>
            </a:avLst>
          </a:prstGeom>
          <a:solidFill>
            <a:srgbClr val="E8F5EF"/>
          </a:solidFill>
          <a:ln w="9525">
            <a:solidFill>
              <a:srgbClr val="0E7C86"/>
            </a:solidFill>
            <a:prstDash val="solid"/>
          </a:ln>
        </p:spPr>
      </p:sp>
      <p:sp>
        <p:nvSpPr>
          <p:cNvPr id="49" name="Text 46"/>
          <p:cNvSpPr txBox="1"/>
          <p:nvPr/>
        </p:nvSpPr>
        <p:spPr>
          <a:xfrm>
            <a:off x="4343400" y="4480560"/>
            <a:ext cx="2651760" cy="237744"/>
          </a:xfrm>
          <a:prstGeom prst="rect">
            <a:avLst/>
          </a:prstGeom>
          <a:noFill/>
          <a:ln/>
        </p:spPr>
        <p:txBody>
          <a:bodyPr wrap="square" lIns="0" tIns="0" rIns="0" bIns="0" rtlCol="0" anchor="ctr"/>
          <a:lstStyle/>
          <a:p>
            <a:pPr algn="ctr" indent="0" marL="0">
              <a:buNone/>
            </a:pPr>
            <a:r>
              <a:rPr lang="en-US" sz="800" b="1" dirty="0">
                <a:solidFill>
                  <a:srgbClr val="0E7C86"/>
                </a:solidFill>
                <a:latin typeface="Calibri" pitchFamily="34" charset="0"/>
                <a:ea typeface="Calibri" pitchFamily="34" charset="-122"/>
                <a:cs typeface="Calibri" pitchFamily="34" charset="-120"/>
              </a:rPr>
              <a:t>SCHÉMA INDICATIF — l'écran réel peut différer</a:t>
            </a:r>
            <a:endParaRPr lang="en-US" sz="800" dirty="0"/>
          </a:p>
        </p:txBody>
      </p:sp>
      <p:sp>
        <p:nvSpPr>
          <p:cNvPr id="50" name="Text 47"/>
          <p:cNvSpPr txBox="1"/>
          <p:nvPr/>
        </p:nvSpPr>
        <p:spPr>
          <a:xfrm>
            <a:off x="457200" y="4590288"/>
            <a:ext cx="37490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 Google Earth Engine — Earth Engine access, « Create a project ».</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CRÉER ET ENREGISTRER</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Étape 3 · Déclarer un usage non commercial</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00704A"/>
          </a:solidFill>
          <a:ln w="12700">
            <a:solidFill>
              <a:srgbClr val="00704A"/>
            </a:solidFill>
            <a:prstDash val="solid"/>
          </a:ln>
        </p:spPr>
      </p:sp>
      <p:sp>
        <p:nvSpPr>
          <p:cNvPr id="10" name="Shape 8"/>
          <p:cNvSpPr/>
          <p:nvPr/>
        </p:nvSpPr>
        <p:spPr>
          <a:xfrm>
            <a:off x="8522208" y="301752"/>
            <a:ext cx="100584" cy="100584"/>
          </a:xfrm>
          <a:prstGeom prst="ellipse">
            <a:avLst/>
          </a:prstGeom>
          <a:solidFill>
            <a:srgbClr val="D5DED9"/>
          </a:solidFill>
          <a:ln w="12700">
            <a:solidFill>
              <a:srgbClr val="D5DED9"/>
            </a:solidFill>
            <a:prstDash val="solid"/>
          </a:ln>
        </p:spPr>
      </p:sp>
      <p:sp>
        <p:nvSpPr>
          <p:cNvPr id="11" name="Shape 9"/>
          <p:cNvSpPr/>
          <p:nvPr/>
        </p:nvSpPr>
        <p:spPr>
          <a:xfrm>
            <a:off x="8705088" y="301752"/>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Préparer un projet Earth Engine · STG17 · Jour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7</a:t>
            </a:r>
            <a:endParaRPr lang="en-US" sz="850" dirty="0"/>
          </a:p>
        </p:txBody>
      </p:sp>
      <p:sp>
        <p:nvSpPr>
          <p:cNvPr id="15" name="Text 12"/>
          <p:cNvSpPr txBox="1"/>
          <p:nvPr/>
        </p:nvSpPr>
        <p:spPr>
          <a:xfrm>
            <a:off x="457200" y="1234440"/>
            <a:ext cx="8138160" cy="457200"/>
          </a:xfrm>
          <a:prstGeom prst="rect">
            <a:avLst/>
          </a:prstGeom>
          <a:noFill/>
          <a:ln/>
        </p:spPr>
        <p:txBody>
          <a:bodyPr wrap="square" lIns="0" tIns="0" rIns="0" bIns="0" rtlCol="0" anchor="t"/>
          <a:lstStyle/>
          <a:p>
            <a:pPr indent="0" marL="0">
              <a:buNone/>
            </a:pPr>
            <a:r>
              <a:rPr lang="en-US" sz="1200" dirty="0">
                <a:solidFill>
                  <a:srgbClr val="231F20"/>
                </a:solidFill>
                <a:latin typeface="Calibri" pitchFamily="34" charset="0"/>
                <a:ea typeface="Calibri" pitchFamily="34" charset="-122"/>
                <a:cs typeface="Calibri" pitchFamily="34" charset="-120"/>
              </a:rPr>
              <a:t>Le questionnaire, obligatoire depuis le 26 septembre 2025, confirme l'éligibilité du projet à l'accès gratuit. Il est à revalider périodiquement.</a:t>
            </a:r>
            <a:endParaRPr lang="en-US" sz="1200" dirty="0"/>
          </a:p>
        </p:txBody>
      </p:sp>
      <p:sp>
        <p:nvSpPr>
          <p:cNvPr id="16" name="Shape 13"/>
          <p:cNvSpPr/>
          <p:nvPr/>
        </p:nvSpPr>
        <p:spPr>
          <a:xfrm>
            <a:off x="457200" y="1783080"/>
            <a:ext cx="3931920" cy="1920240"/>
          </a:xfrm>
          <a:prstGeom prst="roundRect">
            <a:avLst>
              <a:gd name="adj" fmla="val 3810"/>
            </a:avLst>
          </a:prstGeom>
          <a:solidFill>
            <a:srgbClr val="E8F5EF"/>
          </a:solidFill>
          <a:ln w="15875">
            <a:solidFill>
              <a:srgbClr val="00A86A"/>
            </a:solidFill>
            <a:prstDash val="solid"/>
          </a:ln>
        </p:spPr>
      </p:sp>
      <p:sp>
        <p:nvSpPr>
          <p:cNvPr id="17" name="Text 14"/>
          <p:cNvSpPr txBox="1"/>
          <p:nvPr/>
        </p:nvSpPr>
        <p:spPr>
          <a:xfrm>
            <a:off x="640080" y="1874520"/>
            <a:ext cx="3566160" cy="292608"/>
          </a:xfrm>
          <a:prstGeom prst="rect">
            <a:avLst/>
          </a:prstGeom>
          <a:noFill/>
          <a:ln/>
        </p:spPr>
        <p:txBody>
          <a:bodyPr wrap="square" lIns="0" tIns="0" rIns="0" bIns="0" rtlCol="0" anchor="ctr"/>
          <a:lstStyle/>
          <a:p>
            <a:pPr indent="0" marL="0">
              <a:buNone/>
            </a:pPr>
            <a:r>
              <a:rPr lang="en-US" sz="1400" b="1" dirty="0">
                <a:solidFill>
                  <a:srgbClr val="00A86A"/>
                </a:solidFill>
                <a:latin typeface="Calibri" pitchFamily="34" charset="0"/>
                <a:ea typeface="Calibri" pitchFamily="34" charset="-122"/>
                <a:cs typeface="Calibri" pitchFamily="34" charset="-120"/>
              </a:rPr>
              <a:t>Non commercial — gratuit</a:t>
            </a:r>
            <a:endParaRPr lang="en-US" sz="1400" dirty="0"/>
          </a:p>
        </p:txBody>
      </p:sp>
      <p:sp>
        <p:nvSpPr>
          <p:cNvPr id="18" name="Text 15"/>
          <p:cNvSpPr txBox="1"/>
          <p:nvPr/>
        </p:nvSpPr>
        <p:spPr>
          <a:xfrm>
            <a:off x="640080" y="2212848"/>
            <a:ext cx="3566160" cy="1444752"/>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Un atelier de formation comme STG17</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La recherche et l'enseignement universitaires</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Une organisation à but non lucratif, pour des activités non commerciales</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Une thèse de doctorat sur les ressources naturelles</a:t>
            </a:r>
            <a:endParaRPr lang="en-US" sz="1100" dirty="0"/>
          </a:p>
        </p:txBody>
      </p:sp>
      <p:sp>
        <p:nvSpPr>
          <p:cNvPr id="19" name="Shape 16"/>
          <p:cNvSpPr/>
          <p:nvPr/>
        </p:nvSpPr>
        <p:spPr>
          <a:xfrm>
            <a:off x="4663440" y="1783080"/>
            <a:ext cx="3931920" cy="1920240"/>
          </a:xfrm>
          <a:prstGeom prst="roundRect">
            <a:avLst>
              <a:gd name="adj" fmla="val 3810"/>
            </a:avLst>
          </a:prstGeom>
          <a:solidFill>
            <a:srgbClr val="F4F7F5"/>
          </a:solidFill>
          <a:ln w="15875">
            <a:solidFill>
              <a:srgbClr val="B83B2E"/>
            </a:solidFill>
            <a:prstDash val="solid"/>
          </a:ln>
        </p:spPr>
      </p:sp>
      <p:sp>
        <p:nvSpPr>
          <p:cNvPr id="20" name="Text 17"/>
          <p:cNvSpPr txBox="1"/>
          <p:nvPr/>
        </p:nvSpPr>
        <p:spPr>
          <a:xfrm>
            <a:off x="4846320" y="1874520"/>
            <a:ext cx="3566160" cy="292608"/>
          </a:xfrm>
          <a:prstGeom prst="rect">
            <a:avLst/>
          </a:prstGeom>
          <a:noFill/>
          <a:ln/>
        </p:spPr>
        <p:txBody>
          <a:bodyPr wrap="square" lIns="0" tIns="0" rIns="0" bIns="0" rtlCol="0" anchor="ctr"/>
          <a:lstStyle/>
          <a:p>
            <a:pPr indent="0" marL="0">
              <a:buNone/>
            </a:pPr>
            <a:r>
              <a:rPr lang="en-US" sz="1400" b="1" dirty="0">
                <a:solidFill>
                  <a:srgbClr val="B83B2E"/>
                </a:solidFill>
                <a:latin typeface="Calibri" pitchFamily="34" charset="0"/>
                <a:ea typeface="Calibri" pitchFamily="34" charset="-122"/>
                <a:cs typeface="Calibri" pitchFamily="34" charset="-120"/>
              </a:rPr>
              <a:t>Commercial — payant</a:t>
            </a:r>
            <a:endParaRPr lang="en-US" sz="1400" dirty="0"/>
          </a:p>
        </p:txBody>
      </p:sp>
      <p:sp>
        <p:nvSpPr>
          <p:cNvPr id="21" name="Text 18"/>
          <p:cNvSpPr txBox="1"/>
          <p:nvPr/>
        </p:nvSpPr>
        <p:spPr>
          <a:xfrm>
            <a:off x="4846320" y="2212848"/>
            <a:ext cx="3566160" cy="1444752"/>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Vendre un service construit sur Earth Engine</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Une R&amp;D interne destinée à un produit commercial</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Des livres blancs promotionnels pour un produit</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Une administration utilisant Earth Engine à des fins opérationnelles</a:t>
            </a:r>
            <a:endParaRPr lang="en-US" sz="1100" dirty="0"/>
          </a:p>
        </p:txBody>
      </p:sp>
      <p:sp>
        <p:nvSpPr>
          <p:cNvPr id="22" name="Shape 19"/>
          <p:cNvSpPr/>
          <p:nvPr/>
        </p:nvSpPr>
        <p:spPr>
          <a:xfrm>
            <a:off x="457200" y="3867912"/>
            <a:ext cx="8138160" cy="566928"/>
          </a:xfrm>
          <a:prstGeom prst="roundRect">
            <a:avLst>
              <a:gd name="adj" fmla="val 9677"/>
            </a:avLst>
          </a:prstGeom>
          <a:solidFill>
            <a:srgbClr val="D49A00">
              <a:alpha val="13000"/>
            </a:srgbClr>
          </a:solidFill>
          <a:ln w="12700">
            <a:solidFill>
              <a:srgbClr val="D49A00"/>
            </a:solidFill>
            <a:prstDash val="solid"/>
          </a:ln>
        </p:spPr>
      </p:sp>
      <p:pic>
        <p:nvPicPr>
          <p:cNvPr id="23" name="Image 0" descr="preencoded.png">    </p:cNvPr>
          <p:cNvPicPr>
            <a:picLocks noChangeAspect="1"/>
          </p:cNvPicPr>
          <p:nvPr/>
        </p:nvPicPr>
        <p:blipFill>
          <a:blip r:embed="rId1"/>
          <a:stretch>
            <a:fillRect/>
          </a:stretch>
        </p:blipFill>
        <p:spPr>
          <a:xfrm>
            <a:off x="594360" y="4014216"/>
            <a:ext cx="274320" cy="274320"/>
          </a:xfrm>
          <a:prstGeom prst="rect">
            <a:avLst/>
          </a:prstGeom>
        </p:spPr>
      </p:pic>
      <p:sp>
        <p:nvSpPr>
          <p:cNvPr id="24" name="Text 20"/>
          <p:cNvSpPr txBox="1"/>
          <p:nvPr/>
        </p:nvSpPr>
        <p:spPr>
          <a:xfrm>
            <a:off x="1005840" y="3913632"/>
            <a:ext cx="7452360" cy="47548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Répondre : </a:t>
            </a:r>
            <a:pPr indent="0" marL="0">
              <a:buNone/>
            </a:pPr>
            <a:r>
              <a:rPr lang="en-US" sz="1100" dirty="0">
                <a:solidFill>
                  <a:srgbClr val="231F20"/>
                </a:solidFill>
                <a:latin typeface="Calibri" pitchFamily="34" charset="0"/>
                <a:ea typeface="Calibri" pitchFamily="34" charset="-122"/>
                <a:cs typeface="Calibri" pitchFamily="34" charset="-120"/>
              </a:rPr>
              <a:t>pour cet atelier, l'usage déclaré est la formation. Répondez honnêtement : un projet requalifié commercial perd l'accès gratuit.</a:t>
            </a:r>
            <a:endParaRPr lang="en-US" sz="1100" dirty="0"/>
          </a:p>
        </p:txBody>
      </p:sp>
      <p:sp>
        <p:nvSpPr>
          <p:cNvPr id="25" name="Text 21"/>
          <p:cNvSpPr txBox="1"/>
          <p:nvPr/>
        </p:nvSpPr>
        <p:spPr>
          <a:xfrm>
            <a:off x="457200" y="4590288"/>
            <a:ext cx="78638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 earthengine.google.com/noncommercial ; Earth Engine access, « Configuring noncommercial access ».</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CRÉER ET ENREGISTRER</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Étape 3 (suite) · Choisir un palier de quota</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00704A"/>
          </a:solidFill>
          <a:ln w="12700">
            <a:solidFill>
              <a:srgbClr val="00704A"/>
            </a:solidFill>
            <a:prstDash val="solid"/>
          </a:ln>
        </p:spPr>
      </p:sp>
      <p:sp>
        <p:nvSpPr>
          <p:cNvPr id="10" name="Shape 8"/>
          <p:cNvSpPr/>
          <p:nvPr/>
        </p:nvSpPr>
        <p:spPr>
          <a:xfrm>
            <a:off x="8522208" y="301752"/>
            <a:ext cx="100584" cy="100584"/>
          </a:xfrm>
          <a:prstGeom prst="ellipse">
            <a:avLst/>
          </a:prstGeom>
          <a:solidFill>
            <a:srgbClr val="D5DED9"/>
          </a:solidFill>
          <a:ln w="12700">
            <a:solidFill>
              <a:srgbClr val="D5DED9"/>
            </a:solidFill>
            <a:prstDash val="solid"/>
          </a:ln>
        </p:spPr>
      </p:sp>
      <p:sp>
        <p:nvSpPr>
          <p:cNvPr id="11" name="Shape 9"/>
          <p:cNvSpPr/>
          <p:nvPr/>
        </p:nvSpPr>
        <p:spPr>
          <a:xfrm>
            <a:off x="8705088" y="301752"/>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Préparer un projet Earth Engine · STG17 · Jour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8</a:t>
            </a:r>
            <a:endParaRPr lang="en-US" sz="850" dirty="0"/>
          </a:p>
        </p:txBody>
      </p:sp>
      <p:sp>
        <p:nvSpPr>
          <p:cNvPr id="15" name="Shape 12"/>
          <p:cNvSpPr/>
          <p:nvPr/>
        </p:nvSpPr>
        <p:spPr>
          <a:xfrm>
            <a:off x="457200" y="1325880"/>
            <a:ext cx="2560320" cy="2103120"/>
          </a:xfrm>
          <a:prstGeom prst="roundRect">
            <a:avLst>
              <a:gd name="adj" fmla="val 3478"/>
            </a:avLst>
          </a:prstGeom>
          <a:solidFill>
            <a:srgbClr val="E8F5EF"/>
          </a:solidFill>
          <a:ln w="19050">
            <a:solidFill>
              <a:srgbClr val="00A86A"/>
            </a:solidFill>
            <a:prstDash val="solid"/>
          </a:ln>
        </p:spPr>
      </p:sp>
      <p:sp>
        <p:nvSpPr>
          <p:cNvPr id="16" name="Shape 13"/>
          <p:cNvSpPr/>
          <p:nvPr/>
        </p:nvSpPr>
        <p:spPr>
          <a:xfrm>
            <a:off x="640080" y="1481328"/>
            <a:ext cx="1143000" cy="237744"/>
          </a:xfrm>
          <a:prstGeom prst="roundRect">
            <a:avLst>
              <a:gd name="adj" fmla="val 50000"/>
            </a:avLst>
          </a:prstGeom>
          <a:solidFill>
            <a:srgbClr val="00A86A"/>
          </a:solidFill>
          <a:ln w="12700">
            <a:solidFill>
              <a:srgbClr val="00A86A"/>
            </a:solidFill>
            <a:prstDash val="solid"/>
          </a:ln>
        </p:spPr>
      </p:sp>
      <p:sp>
        <p:nvSpPr>
          <p:cNvPr id="17" name="Text 14"/>
          <p:cNvSpPr txBox="1"/>
          <p:nvPr/>
        </p:nvSpPr>
        <p:spPr>
          <a:xfrm>
            <a:off x="640080" y="1481328"/>
            <a:ext cx="114300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RECOMMANDÉ</a:t>
            </a:r>
            <a:endParaRPr lang="en-US" sz="850" dirty="0"/>
          </a:p>
        </p:txBody>
      </p:sp>
      <p:sp>
        <p:nvSpPr>
          <p:cNvPr id="18" name="Text 15"/>
          <p:cNvSpPr txBox="1"/>
          <p:nvPr/>
        </p:nvSpPr>
        <p:spPr>
          <a:xfrm>
            <a:off x="640080" y="1828800"/>
            <a:ext cx="2194560" cy="384048"/>
          </a:xfrm>
          <a:prstGeom prst="rect">
            <a:avLst/>
          </a:prstGeom>
          <a:noFill/>
          <a:ln/>
        </p:spPr>
        <p:txBody>
          <a:bodyPr wrap="square" lIns="0" tIns="0" rIns="0" bIns="0" rtlCol="0" anchor="ctr"/>
          <a:lstStyle/>
          <a:p>
            <a:pPr indent="0" marL="0">
              <a:buNone/>
            </a:pPr>
            <a:r>
              <a:rPr lang="en-US" sz="2200" b="1" dirty="0">
                <a:solidFill>
                  <a:srgbClr val="00A86A"/>
                </a:solidFill>
                <a:latin typeface="Calibri" pitchFamily="34" charset="0"/>
                <a:ea typeface="Calibri" pitchFamily="34" charset="-122"/>
                <a:cs typeface="Calibri" pitchFamily="34" charset="-120"/>
              </a:rPr>
              <a:t>Community</a:t>
            </a:r>
            <a:endParaRPr lang="en-US" sz="2200" dirty="0"/>
          </a:p>
        </p:txBody>
      </p:sp>
      <p:sp>
        <p:nvSpPr>
          <p:cNvPr id="19" name="Text 16"/>
          <p:cNvSpPr txBox="1"/>
          <p:nvPr/>
        </p:nvSpPr>
        <p:spPr>
          <a:xfrm>
            <a:off x="640080" y="2212848"/>
            <a:ext cx="2194560" cy="237744"/>
          </a:xfrm>
          <a:prstGeom prst="rect">
            <a:avLst/>
          </a:prstGeom>
          <a:noFill/>
          <a:ln/>
        </p:spPr>
        <p:txBody>
          <a:bodyPr wrap="square" lIns="0" tIns="0" rIns="0" bIns="0" rtlCol="0" anchor="ctr"/>
          <a:lstStyle/>
          <a:p>
            <a:pPr indent="0" marL="0">
              <a:buNone/>
            </a:pPr>
            <a:r>
              <a:rPr lang="en-US" sz="1100" i="1" dirty="0">
                <a:solidFill>
                  <a:srgbClr val="5E6964"/>
                </a:solidFill>
                <a:latin typeface="Calibri" pitchFamily="34" charset="0"/>
                <a:ea typeface="Calibri" pitchFamily="34" charset="-122"/>
                <a:cs typeface="Calibri" pitchFamily="34" charset="-120"/>
              </a:rPr>
              <a:t>Palier par défaut</a:t>
            </a:r>
            <a:endParaRPr lang="en-US" sz="1100" dirty="0"/>
          </a:p>
        </p:txBody>
      </p:sp>
      <p:sp>
        <p:nvSpPr>
          <p:cNvPr id="20" name="Text 17"/>
          <p:cNvSpPr txBox="1"/>
          <p:nvPr/>
        </p:nvSpPr>
        <p:spPr>
          <a:xfrm>
            <a:off x="640080" y="2523744"/>
            <a:ext cx="2194560" cy="82296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Aucun compte de facturation. Suffisant pour ce notebook.</a:t>
            </a:r>
            <a:endParaRPr lang="en-US" sz="1100" dirty="0"/>
          </a:p>
        </p:txBody>
      </p:sp>
      <p:sp>
        <p:nvSpPr>
          <p:cNvPr id="21" name="Shape 18"/>
          <p:cNvSpPr/>
          <p:nvPr/>
        </p:nvSpPr>
        <p:spPr>
          <a:xfrm>
            <a:off x="3246120" y="1325880"/>
            <a:ext cx="2560320" cy="2103120"/>
          </a:xfrm>
          <a:prstGeom prst="roundRect">
            <a:avLst>
              <a:gd name="adj" fmla="val 3478"/>
            </a:avLst>
          </a:prstGeom>
          <a:solidFill>
            <a:srgbClr val="F4F7F5"/>
          </a:solidFill>
          <a:ln w="9525">
            <a:solidFill>
              <a:srgbClr val="D5DED9"/>
            </a:solidFill>
            <a:prstDash val="solid"/>
          </a:ln>
        </p:spPr>
      </p:sp>
      <p:sp>
        <p:nvSpPr>
          <p:cNvPr id="22" name="Text 19"/>
          <p:cNvSpPr txBox="1"/>
          <p:nvPr/>
        </p:nvSpPr>
        <p:spPr>
          <a:xfrm>
            <a:off x="3429000" y="1828800"/>
            <a:ext cx="2194560" cy="38404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Contributor</a:t>
            </a:r>
            <a:endParaRPr lang="en-US" sz="2200" dirty="0"/>
          </a:p>
        </p:txBody>
      </p:sp>
      <p:sp>
        <p:nvSpPr>
          <p:cNvPr id="23" name="Text 20"/>
          <p:cNvSpPr txBox="1"/>
          <p:nvPr/>
        </p:nvSpPr>
        <p:spPr>
          <a:xfrm>
            <a:off x="3429000" y="2212848"/>
            <a:ext cx="2194560" cy="237744"/>
          </a:xfrm>
          <a:prstGeom prst="rect">
            <a:avLst/>
          </a:prstGeom>
          <a:noFill/>
          <a:ln/>
        </p:spPr>
        <p:txBody>
          <a:bodyPr wrap="square" lIns="0" tIns="0" rIns="0" bIns="0" rtlCol="0" anchor="ctr"/>
          <a:lstStyle/>
          <a:p>
            <a:pPr indent="0" marL="0">
              <a:buNone/>
            </a:pPr>
            <a:r>
              <a:rPr lang="en-US" sz="1100" i="1" dirty="0">
                <a:solidFill>
                  <a:srgbClr val="5E6964"/>
                </a:solidFill>
                <a:latin typeface="Calibri" pitchFamily="34" charset="0"/>
                <a:ea typeface="Calibri" pitchFamily="34" charset="-122"/>
                <a:cs typeface="Calibri" pitchFamily="34" charset="-120"/>
              </a:rPr>
              <a:t>Quota plus élevé</a:t>
            </a:r>
            <a:endParaRPr lang="en-US" sz="1100" dirty="0"/>
          </a:p>
        </p:txBody>
      </p:sp>
      <p:sp>
        <p:nvSpPr>
          <p:cNvPr id="24" name="Text 21"/>
          <p:cNvSpPr txBox="1"/>
          <p:nvPr/>
        </p:nvSpPr>
        <p:spPr>
          <a:xfrm>
            <a:off x="3429000" y="2523744"/>
            <a:ext cx="2194560" cy="82296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Exige un compte de facturation associé — non débité pour Earth Engine en usage non commercial.</a:t>
            </a:r>
            <a:endParaRPr lang="en-US" sz="1100" dirty="0"/>
          </a:p>
        </p:txBody>
      </p:sp>
      <p:sp>
        <p:nvSpPr>
          <p:cNvPr id="25" name="Shape 22"/>
          <p:cNvSpPr/>
          <p:nvPr/>
        </p:nvSpPr>
        <p:spPr>
          <a:xfrm>
            <a:off x="6035040" y="1325880"/>
            <a:ext cx="2560320" cy="2103120"/>
          </a:xfrm>
          <a:prstGeom prst="roundRect">
            <a:avLst>
              <a:gd name="adj" fmla="val 3478"/>
            </a:avLst>
          </a:prstGeom>
          <a:solidFill>
            <a:srgbClr val="F4F7F5"/>
          </a:solidFill>
          <a:ln w="9525">
            <a:solidFill>
              <a:srgbClr val="D5DED9"/>
            </a:solidFill>
            <a:prstDash val="solid"/>
          </a:ln>
        </p:spPr>
      </p:sp>
      <p:sp>
        <p:nvSpPr>
          <p:cNvPr id="26" name="Text 23"/>
          <p:cNvSpPr txBox="1"/>
          <p:nvPr/>
        </p:nvSpPr>
        <p:spPr>
          <a:xfrm>
            <a:off x="6217920" y="1828800"/>
            <a:ext cx="2194560" cy="38404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Partner</a:t>
            </a:r>
            <a:endParaRPr lang="en-US" sz="2200" dirty="0"/>
          </a:p>
        </p:txBody>
      </p:sp>
      <p:sp>
        <p:nvSpPr>
          <p:cNvPr id="27" name="Text 24"/>
          <p:cNvSpPr txBox="1"/>
          <p:nvPr/>
        </p:nvSpPr>
        <p:spPr>
          <a:xfrm>
            <a:off x="6217920" y="2212848"/>
            <a:ext cx="2194560" cy="237744"/>
          </a:xfrm>
          <a:prstGeom prst="rect">
            <a:avLst/>
          </a:prstGeom>
          <a:noFill/>
          <a:ln/>
        </p:spPr>
        <p:txBody>
          <a:bodyPr wrap="square" lIns="0" tIns="0" rIns="0" bIns="0" rtlCol="0" anchor="ctr"/>
          <a:lstStyle/>
          <a:p>
            <a:pPr indent="0" marL="0">
              <a:buNone/>
            </a:pPr>
            <a:r>
              <a:rPr lang="en-US" sz="1100" i="1" dirty="0">
                <a:solidFill>
                  <a:srgbClr val="5E6964"/>
                </a:solidFill>
                <a:latin typeface="Calibri" pitchFamily="34" charset="0"/>
                <a:ea typeface="Calibri" pitchFamily="34" charset="-122"/>
                <a:cs typeface="Calibri" pitchFamily="34" charset="-120"/>
              </a:rPr>
              <a:t>Quota le plus élevé</a:t>
            </a:r>
            <a:endParaRPr lang="en-US" sz="1100" dirty="0"/>
          </a:p>
        </p:txBody>
      </p:sp>
      <p:sp>
        <p:nvSpPr>
          <p:cNvPr id="28" name="Text 25"/>
          <p:cNvSpPr txBox="1"/>
          <p:nvPr/>
        </p:nvSpPr>
        <p:spPr>
          <a:xfrm>
            <a:off x="6217920" y="2523744"/>
            <a:ext cx="2194560" cy="82296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Critères d'éligibilité propres, pour les partenaires de Google.</a:t>
            </a:r>
            <a:endParaRPr lang="en-US" sz="1100" dirty="0"/>
          </a:p>
        </p:txBody>
      </p:sp>
      <p:sp>
        <p:nvSpPr>
          <p:cNvPr id="29" name="Shape 26"/>
          <p:cNvSpPr/>
          <p:nvPr/>
        </p:nvSpPr>
        <p:spPr>
          <a:xfrm>
            <a:off x="457200" y="3639312"/>
            <a:ext cx="8138160" cy="731520"/>
          </a:xfrm>
          <a:prstGeom prst="roundRect">
            <a:avLst>
              <a:gd name="adj" fmla="val 7500"/>
            </a:avLst>
          </a:prstGeom>
          <a:solidFill>
            <a:srgbClr val="D49A00">
              <a:alpha val="13000"/>
            </a:srgbClr>
          </a:solidFill>
          <a:ln w="12700">
            <a:solidFill>
              <a:srgbClr val="D49A00"/>
            </a:solidFill>
            <a:prstDash val="solid"/>
          </a:ln>
        </p:spPr>
      </p:sp>
      <p:pic>
        <p:nvPicPr>
          <p:cNvPr id="30" name="Image 0" descr="preencoded.png">    </p:cNvPr>
          <p:cNvPicPr>
            <a:picLocks noChangeAspect="1"/>
          </p:cNvPicPr>
          <p:nvPr/>
        </p:nvPicPr>
        <p:blipFill>
          <a:blip r:embed="rId1"/>
          <a:stretch>
            <a:fillRect/>
          </a:stretch>
        </p:blipFill>
        <p:spPr>
          <a:xfrm>
            <a:off x="594360" y="3867912"/>
            <a:ext cx="274320" cy="274320"/>
          </a:xfrm>
          <a:prstGeom prst="rect">
            <a:avLst/>
          </a:prstGeom>
        </p:spPr>
      </p:pic>
      <p:sp>
        <p:nvSpPr>
          <p:cNvPr id="31" name="Text 27"/>
          <p:cNvSpPr txBox="1"/>
          <p:nvPr/>
        </p:nvSpPr>
        <p:spPr>
          <a:xfrm>
            <a:off x="1005840" y="3685032"/>
            <a:ext cx="7452360" cy="640080"/>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Attention : </a:t>
            </a:r>
            <a:pPr indent="0" marL="0">
              <a:buNone/>
            </a:pPr>
            <a:r>
              <a:rPr lang="en-US" sz="1100" dirty="0">
                <a:solidFill>
                  <a:srgbClr val="231F20"/>
                </a:solidFill>
                <a:latin typeface="Calibri" pitchFamily="34" charset="0"/>
                <a:ea typeface="Calibri" pitchFamily="34" charset="-122"/>
                <a:cs typeface="Calibri" pitchFamily="34" charset="-120"/>
              </a:rPr>
              <a:t>si vous associez un compte de facturation (palier Contributor), n'activez aucune autre API Google Cloud sur ce projet : Earth Engine reste gratuit, mais les autres services peuvent être facturés. Le palier se change à tout moment dans Configuration.</a:t>
            </a:r>
            <a:endParaRPr lang="en-US" sz="1100" dirty="0"/>
          </a:p>
        </p:txBody>
      </p:sp>
      <p:sp>
        <p:nvSpPr>
          <p:cNvPr id="32" name="Text 28"/>
          <p:cNvSpPr txBox="1"/>
          <p:nvPr/>
        </p:nvSpPr>
        <p:spPr>
          <a:xfrm>
            <a:off x="457200" y="4590288"/>
            <a:ext cx="78638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 Google Earth Engine — Noncommercial tiers (developers.google.com/earth-engine/guides/noncommercial_tiers).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914400"/>
            <a:ext cx="2743200" cy="1097280"/>
          </a:xfrm>
          <a:prstGeom prst="rect">
            <a:avLst/>
          </a:prstGeom>
          <a:noFill/>
          <a:ln/>
        </p:spPr>
        <p:txBody>
          <a:bodyPr wrap="square" lIns="0" tIns="0" rIns="0" bIns="0" rtlCol="0" anchor="ctr"/>
          <a:lstStyle/>
          <a:p>
            <a:pPr indent="0" marL="0">
              <a:buNone/>
            </a:pPr>
            <a:r>
              <a:rPr lang="en-US" sz="8000" b="1" dirty="0">
                <a:solidFill>
                  <a:srgbClr val="F5C242"/>
                </a:solidFill>
                <a:latin typeface="Calibri" pitchFamily="34" charset="0"/>
                <a:ea typeface="Calibri" pitchFamily="34" charset="-122"/>
                <a:cs typeface="Calibri" pitchFamily="34" charset="-120"/>
              </a:rPr>
              <a:t>02</a:t>
            </a:r>
            <a:endParaRPr lang="en-US" sz="8000" dirty="0"/>
          </a:p>
        </p:txBody>
      </p:sp>
      <p:sp>
        <p:nvSpPr>
          <p:cNvPr id="3" name="Text 1"/>
          <p:cNvSpPr txBox="1"/>
          <p:nvPr/>
        </p:nvSpPr>
        <p:spPr>
          <a:xfrm>
            <a:off x="548640" y="2057400"/>
            <a:ext cx="5486400" cy="274320"/>
          </a:xfrm>
          <a:prstGeom prst="rect">
            <a:avLst/>
          </a:prstGeom>
          <a:noFill/>
          <a:ln/>
        </p:spPr>
        <p:txBody>
          <a:bodyPr wrap="square" lIns="0" tIns="0" rIns="0" bIns="0" rtlCol="0" anchor="ctr"/>
          <a:lstStyle/>
          <a:p>
            <a:pPr indent="0" marL="0">
              <a:buNone/>
            </a:pPr>
            <a:r>
              <a:rPr lang="en-US" sz="1100" b="1" spc="300" kern="0" dirty="0">
                <a:solidFill>
                  <a:srgbClr val="F5C242"/>
                </a:solidFill>
                <a:latin typeface="Calibri" pitchFamily="34" charset="0"/>
                <a:ea typeface="Calibri" pitchFamily="34" charset="-122"/>
                <a:cs typeface="Calibri" pitchFamily="34" charset="-120"/>
              </a:rPr>
              <a:t>VÉRIFIER DANS LA CONSOLE</a:t>
            </a:r>
            <a:endParaRPr lang="en-US" sz="1100" dirty="0"/>
          </a:p>
        </p:txBody>
      </p:sp>
      <p:sp>
        <p:nvSpPr>
          <p:cNvPr id="4" name="Text 2"/>
          <p:cNvSpPr txBox="1"/>
          <p:nvPr/>
        </p:nvSpPr>
        <p:spPr>
          <a:xfrm>
            <a:off x="548640" y="2377440"/>
            <a:ext cx="5669280" cy="73152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Vérifier dans la console</a:t>
            </a:r>
            <a:endParaRPr lang="en-US" sz="3200" dirty="0"/>
          </a:p>
        </p:txBody>
      </p:sp>
      <p:sp>
        <p:nvSpPr>
          <p:cNvPr id="5" name="Text 3"/>
          <p:cNvSpPr txBox="1"/>
          <p:nvPr/>
        </p:nvSpPr>
        <p:spPr>
          <a:xfrm>
            <a:off x="548640" y="3154680"/>
            <a:ext cx="5669280" cy="54864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Votre projet est-il vraiment prêt ?</a:t>
            </a:r>
            <a:endParaRPr lang="en-US" sz="1600" dirty="0"/>
          </a:p>
        </p:txBody>
      </p:sp>
      <p:sp>
        <p:nvSpPr>
          <p:cNvPr id="6" name="Shape 4"/>
          <p:cNvSpPr/>
          <p:nvPr/>
        </p:nvSpPr>
        <p:spPr>
          <a:xfrm>
            <a:off x="6492240" y="1417320"/>
            <a:ext cx="2011680" cy="2011680"/>
          </a:xfrm>
          <a:prstGeom prst="ellipse">
            <a:avLst/>
          </a:prstGeom>
          <a:solidFill>
            <a:srgbClr val="FFFFFF">
              <a:alpha val="10000"/>
            </a:srgbClr>
          </a:solidFill>
          <a:ln w="19050">
            <a:solidFill>
              <a:srgbClr val="FFFFFF">
                <a:alpha val="45000"/>
              </a:srgbClr>
            </a:solidFill>
            <a:prstDash val="solid"/>
          </a:ln>
        </p:spPr>
      </p:sp>
      <p:sp>
        <p:nvSpPr>
          <p:cNvPr id="7" name="Shape 5"/>
          <p:cNvSpPr/>
          <p:nvPr/>
        </p:nvSpPr>
        <p:spPr>
          <a:xfrm>
            <a:off x="6812280" y="1737360"/>
            <a:ext cx="1371600" cy="1371600"/>
          </a:xfrm>
          <a:prstGeom prst="ellipse">
            <a:avLst/>
          </a:prstGeom>
          <a:solidFill>
            <a:srgbClr val="FFFFFF">
              <a:alpha val="0"/>
            </a:srgbClr>
          </a:solidFill>
          <a:ln w="19050">
            <a:solidFill>
              <a:srgbClr val="FFFFFF">
                <a:alpha val="60000"/>
              </a:srgbClr>
            </a:solidFill>
            <a:prstDash val="solid"/>
          </a:ln>
        </p:spPr>
      </p:sp>
      <p:pic>
        <p:nvPicPr>
          <p:cNvPr id="8" name="Image 0" descr="preencoded.png">    </p:cNvPr>
          <p:cNvPicPr>
            <a:picLocks noChangeAspect="1"/>
          </p:cNvPicPr>
          <p:nvPr/>
        </p:nvPicPr>
        <p:blipFill>
          <a:blip r:embed="rId2"/>
          <a:stretch>
            <a:fillRect/>
          </a:stretch>
        </p:blipFill>
        <p:spPr>
          <a:xfrm>
            <a:off x="7178040" y="2103120"/>
            <a:ext cx="640080" cy="640080"/>
          </a:xfrm>
          <a:prstGeom prst="rect">
            <a:avLst/>
          </a:prstGeom>
        </p:spPr>
      </p:pic>
      <p:sp>
        <p:nvSpPr>
          <p:cNvPr id="9" name="Shape 6"/>
          <p:cNvSpPr/>
          <p:nvPr/>
        </p:nvSpPr>
        <p:spPr>
          <a:xfrm>
            <a:off x="566928" y="406908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804672" y="4069080"/>
            <a:ext cx="118872" cy="118872"/>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042416" y="4069080"/>
            <a:ext cx="118872" cy="118872"/>
          </a:xfrm>
          <a:prstGeom prst="ellipse">
            <a:avLst/>
          </a:prstGeom>
          <a:solidFill>
            <a:srgbClr val="F5C242"/>
          </a:solidFill>
          <a:ln w="12700">
            <a:solidFill>
              <a:srgbClr val="FFFFFF">
                <a:alpha val="0"/>
              </a:srgbClr>
            </a:solidFill>
            <a:prstDash val="solid"/>
          </a:ln>
        </p:spPr>
      </p:sp>
      <p:sp>
        <p:nvSpPr>
          <p:cNvPr id="12" name="Shape 9"/>
          <p:cNvSpPr/>
          <p:nvPr/>
        </p:nvSpPr>
        <p:spPr>
          <a:xfrm>
            <a:off x="1280160" y="4069080"/>
            <a:ext cx="118872" cy="118872"/>
          </a:xfrm>
          <a:prstGeom prst="ellipse">
            <a:avLst/>
          </a:prstGeom>
          <a:solidFill>
            <a:srgbClr val="FFFFFF">
              <a:alpha val="40000"/>
            </a:srgbClr>
          </a:solidFill>
          <a:ln w="12700">
            <a:solidFill>
              <a:srgbClr val="FFFFFF">
                <a:alpha val="0"/>
              </a:srgbClr>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VÉRIFIER DANS LA CONSOLE</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La console Earth Engine : quatre zones à repérer</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D5DED9"/>
          </a:solidFill>
          <a:ln w="12700">
            <a:solidFill>
              <a:srgbClr val="D5DED9"/>
            </a:solidFill>
            <a:prstDash val="solid"/>
          </a:ln>
        </p:spPr>
      </p:sp>
      <p:sp>
        <p:nvSpPr>
          <p:cNvPr id="10" name="Shape 8"/>
          <p:cNvSpPr/>
          <p:nvPr/>
        </p:nvSpPr>
        <p:spPr>
          <a:xfrm>
            <a:off x="8522208" y="301752"/>
            <a:ext cx="100584" cy="100584"/>
          </a:xfrm>
          <a:prstGeom prst="ellipse">
            <a:avLst/>
          </a:prstGeom>
          <a:solidFill>
            <a:srgbClr val="0E7C86"/>
          </a:solidFill>
          <a:ln w="12700">
            <a:solidFill>
              <a:srgbClr val="0E7C86"/>
            </a:solidFill>
            <a:prstDash val="solid"/>
          </a:ln>
        </p:spPr>
      </p:sp>
      <p:sp>
        <p:nvSpPr>
          <p:cNvPr id="11" name="Shape 9"/>
          <p:cNvSpPr/>
          <p:nvPr/>
        </p:nvSpPr>
        <p:spPr>
          <a:xfrm>
            <a:off x="8705088" y="301752"/>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Préparer un projet Earth Engine · STG17 · Jour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pic>
        <p:nvPicPr>
          <p:cNvPr id="15" name="Image 0" descr="img/console_annot_top.png">    </p:cNvPr>
          <p:cNvPicPr>
            <a:picLocks noChangeAspect="1"/>
          </p:cNvPicPr>
          <p:nvPr/>
        </p:nvPicPr>
        <p:blipFill>
          <a:blip r:embed="rId1"/>
          <a:stretch>
            <a:fillRect/>
          </a:stretch>
        </p:blipFill>
        <p:spPr>
          <a:xfrm>
            <a:off x="457200" y="1207008"/>
            <a:ext cx="8138160" cy="1909370"/>
          </a:xfrm>
          <a:prstGeom prst="rect">
            <a:avLst/>
          </a:prstGeom>
        </p:spPr>
      </p:pic>
      <p:sp>
        <p:nvSpPr>
          <p:cNvPr id="16" name="Shape 12"/>
          <p:cNvSpPr/>
          <p:nvPr/>
        </p:nvSpPr>
        <p:spPr>
          <a:xfrm>
            <a:off x="457200" y="1207008"/>
            <a:ext cx="8138160" cy="1909370"/>
          </a:xfrm>
          <a:prstGeom prst="rect">
            <a:avLst/>
          </a:prstGeom>
          <a:solidFill>
            <a:srgbClr val="FFFFFF">
              <a:alpha val="0"/>
            </a:srgbClr>
          </a:solidFill>
          <a:ln w="9525">
            <a:solidFill>
              <a:srgbClr val="D5DED9"/>
            </a:solidFill>
            <a:prstDash val="solid"/>
          </a:ln>
        </p:spPr>
      </p:sp>
      <p:sp>
        <p:nvSpPr>
          <p:cNvPr id="17" name="Shape 13"/>
          <p:cNvSpPr/>
          <p:nvPr/>
        </p:nvSpPr>
        <p:spPr>
          <a:xfrm>
            <a:off x="457200" y="3291840"/>
            <a:ext cx="292608" cy="292608"/>
          </a:xfrm>
          <a:prstGeom prst="ellipse">
            <a:avLst/>
          </a:prstGeom>
          <a:solidFill>
            <a:srgbClr val="00A86A"/>
          </a:solidFill>
          <a:ln w="19050">
            <a:solidFill>
              <a:srgbClr val="FFFFFF"/>
            </a:solidFill>
            <a:prstDash val="solid"/>
          </a:ln>
        </p:spPr>
      </p:sp>
      <p:sp>
        <p:nvSpPr>
          <p:cNvPr id="18" name="Text 14"/>
          <p:cNvSpPr txBox="1"/>
          <p:nvPr/>
        </p:nvSpPr>
        <p:spPr>
          <a:xfrm>
            <a:off x="457200" y="32918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Calibri" pitchFamily="34" charset="0"/>
                <a:ea typeface="Calibri" pitchFamily="34" charset="-122"/>
                <a:cs typeface="Calibri" pitchFamily="34" charset="-120"/>
              </a:rPr>
              <a:t>1</a:t>
            </a:r>
            <a:endParaRPr lang="en-US" sz="1152" dirty="0"/>
          </a:p>
        </p:txBody>
      </p:sp>
      <p:sp>
        <p:nvSpPr>
          <p:cNvPr id="19" name="Text 15"/>
          <p:cNvSpPr txBox="1"/>
          <p:nvPr/>
        </p:nvSpPr>
        <p:spPr>
          <a:xfrm>
            <a:off x="841248" y="3273552"/>
            <a:ext cx="1600200" cy="329184"/>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L'identifiant du projet</a:t>
            </a:r>
            <a:endParaRPr lang="en-US" sz="1150" dirty="0"/>
          </a:p>
        </p:txBody>
      </p:sp>
      <p:sp>
        <p:nvSpPr>
          <p:cNvPr id="20" name="Text 16"/>
          <p:cNvSpPr txBox="1"/>
          <p:nvPr/>
        </p:nvSpPr>
        <p:spPr>
          <a:xfrm>
            <a:off x="457200" y="3657600"/>
            <a:ext cx="1920240" cy="50292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dans l'adresse, après project= : c'est lui que le notebook demande.</a:t>
            </a:r>
            <a:endParaRPr lang="en-US" sz="1000" dirty="0"/>
          </a:p>
        </p:txBody>
      </p:sp>
      <p:sp>
        <p:nvSpPr>
          <p:cNvPr id="21" name="Shape 17"/>
          <p:cNvSpPr/>
          <p:nvPr/>
        </p:nvSpPr>
        <p:spPr>
          <a:xfrm>
            <a:off x="2514600" y="3291840"/>
            <a:ext cx="292608" cy="292608"/>
          </a:xfrm>
          <a:prstGeom prst="ellipse">
            <a:avLst/>
          </a:prstGeom>
          <a:solidFill>
            <a:srgbClr val="D49A00"/>
          </a:solidFill>
          <a:ln w="19050">
            <a:solidFill>
              <a:srgbClr val="FFFFFF"/>
            </a:solidFill>
            <a:prstDash val="solid"/>
          </a:ln>
        </p:spPr>
      </p:sp>
      <p:sp>
        <p:nvSpPr>
          <p:cNvPr id="22" name="Text 18"/>
          <p:cNvSpPr txBox="1"/>
          <p:nvPr/>
        </p:nvSpPr>
        <p:spPr>
          <a:xfrm>
            <a:off x="2514600" y="32918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Calibri" pitchFamily="34" charset="0"/>
                <a:ea typeface="Calibri" pitchFamily="34" charset="-122"/>
                <a:cs typeface="Calibri" pitchFamily="34" charset="-120"/>
              </a:rPr>
              <a:t>2</a:t>
            </a:r>
            <a:endParaRPr lang="en-US" sz="1152" dirty="0"/>
          </a:p>
        </p:txBody>
      </p:sp>
      <p:sp>
        <p:nvSpPr>
          <p:cNvPr id="23" name="Text 19"/>
          <p:cNvSpPr txBox="1"/>
          <p:nvPr/>
        </p:nvSpPr>
        <p:spPr>
          <a:xfrm>
            <a:off x="2898648" y="3273552"/>
            <a:ext cx="1600200" cy="329184"/>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Le nom du projet</a:t>
            </a:r>
            <a:endParaRPr lang="en-US" sz="1150" dirty="0"/>
          </a:p>
        </p:txBody>
      </p:sp>
      <p:sp>
        <p:nvSpPr>
          <p:cNvPr id="24" name="Text 20"/>
          <p:cNvSpPr txBox="1"/>
          <p:nvPr/>
        </p:nvSpPr>
        <p:spPr>
          <a:xfrm>
            <a:off x="2514600" y="3657600"/>
            <a:ext cx="1920240" cy="50292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 AI Horizon » : une étiquette libre, pas l'identifiant.</a:t>
            </a:r>
            <a:endParaRPr lang="en-US" sz="1000" dirty="0"/>
          </a:p>
        </p:txBody>
      </p:sp>
      <p:sp>
        <p:nvSpPr>
          <p:cNvPr id="25" name="Shape 21"/>
          <p:cNvSpPr/>
          <p:nvPr/>
        </p:nvSpPr>
        <p:spPr>
          <a:xfrm>
            <a:off x="4572000" y="3291840"/>
            <a:ext cx="292608" cy="292608"/>
          </a:xfrm>
          <a:prstGeom prst="ellipse">
            <a:avLst/>
          </a:prstGeom>
          <a:solidFill>
            <a:srgbClr val="00A86A"/>
          </a:solidFill>
          <a:ln w="19050">
            <a:solidFill>
              <a:srgbClr val="FFFFFF"/>
            </a:solidFill>
            <a:prstDash val="solid"/>
          </a:ln>
        </p:spPr>
      </p:sp>
      <p:sp>
        <p:nvSpPr>
          <p:cNvPr id="26" name="Text 22"/>
          <p:cNvSpPr txBox="1"/>
          <p:nvPr/>
        </p:nvSpPr>
        <p:spPr>
          <a:xfrm>
            <a:off x="4572000" y="32918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Calibri" pitchFamily="34" charset="0"/>
                <a:ea typeface="Calibri" pitchFamily="34" charset="-122"/>
                <a:cs typeface="Calibri" pitchFamily="34" charset="-120"/>
              </a:rPr>
              <a:t>3</a:t>
            </a:r>
            <a:endParaRPr lang="en-US" sz="1152" dirty="0"/>
          </a:p>
        </p:txBody>
      </p:sp>
      <p:sp>
        <p:nvSpPr>
          <p:cNvPr id="27" name="Text 23"/>
          <p:cNvSpPr txBox="1"/>
          <p:nvPr/>
        </p:nvSpPr>
        <p:spPr>
          <a:xfrm>
            <a:off x="4956048" y="3273552"/>
            <a:ext cx="1600200" cy="329184"/>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Configuration</a:t>
            </a:r>
            <a:endParaRPr lang="en-US" sz="1150" dirty="0"/>
          </a:p>
        </p:txBody>
      </p:sp>
      <p:sp>
        <p:nvSpPr>
          <p:cNvPr id="28" name="Text 24"/>
          <p:cNvSpPr txBox="1"/>
          <p:nvPr/>
        </p:nvSpPr>
        <p:spPr>
          <a:xfrm>
            <a:off x="4572000" y="3657600"/>
            <a:ext cx="1920240" cy="50292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enregistrement, questionnaire et palier de quota.</a:t>
            </a:r>
            <a:endParaRPr lang="en-US" sz="1000" dirty="0"/>
          </a:p>
        </p:txBody>
      </p:sp>
      <p:sp>
        <p:nvSpPr>
          <p:cNvPr id="29" name="Shape 25"/>
          <p:cNvSpPr/>
          <p:nvPr/>
        </p:nvSpPr>
        <p:spPr>
          <a:xfrm>
            <a:off x="6629400" y="3291840"/>
            <a:ext cx="292608" cy="292608"/>
          </a:xfrm>
          <a:prstGeom prst="ellipse">
            <a:avLst/>
          </a:prstGeom>
          <a:solidFill>
            <a:srgbClr val="B83B2E"/>
          </a:solidFill>
          <a:ln w="19050">
            <a:solidFill>
              <a:srgbClr val="FFFFFF"/>
            </a:solidFill>
            <a:prstDash val="solid"/>
          </a:ln>
        </p:spPr>
      </p:sp>
      <p:sp>
        <p:nvSpPr>
          <p:cNvPr id="30" name="Text 26"/>
          <p:cNvSpPr txBox="1"/>
          <p:nvPr/>
        </p:nvSpPr>
        <p:spPr>
          <a:xfrm>
            <a:off x="6629400" y="32918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Calibri" pitchFamily="34" charset="0"/>
                <a:ea typeface="Calibri" pitchFamily="34" charset="-122"/>
                <a:cs typeface="Calibri" pitchFamily="34" charset="-120"/>
              </a:rPr>
              <a:t>4</a:t>
            </a:r>
            <a:endParaRPr lang="en-US" sz="1152" dirty="0"/>
          </a:p>
        </p:txBody>
      </p:sp>
      <p:sp>
        <p:nvSpPr>
          <p:cNvPr id="31" name="Text 27"/>
          <p:cNvSpPr txBox="1"/>
          <p:nvPr/>
        </p:nvSpPr>
        <p:spPr>
          <a:xfrm>
            <a:off x="7013448" y="3273552"/>
            <a:ext cx="1600200" cy="329184"/>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Essai gratuit 300 $</a:t>
            </a:r>
            <a:endParaRPr lang="en-US" sz="1150" dirty="0"/>
          </a:p>
        </p:txBody>
      </p:sp>
      <p:sp>
        <p:nvSpPr>
          <p:cNvPr id="32" name="Text 28"/>
          <p:cNvSpPr txBox="1"/>
          <p:nvPr/>
        </p:nvSpPr>
        <p:spPr>
          <a:xfrm>
            <a:off x="6629400" y="3657600"/>
            <a:ext cx="1920240" cy="50292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sans rapport avec Earth Engine. Ne pas cliquer.</a:t>
            </a:r>
            <a:endParaRPr lang="en-US" sz="1000" dirty="0"/>
          </a:p>
        </p:txBody>
      </p:sp>
      <p:sp>
        <p:nvSpPr>
          <p:cNvPr id="33" name="Shape 29"/>
          <p:cNvSpPr/>
          <p:nvPr/>
        </p:nvSpPr>
        <p:spPr>
          <a:xfrm>
            <a:off x="457200" y="4187952"/>
            <a:ext cx="8138160" cy="347472"/>
          </a:xfrm>
          <a:prstGeom prst="roundRect">
            <a:avLst>
              <a:gd name="adj" fmla="val 15789"/>
            </a:avLst>
          </a:prstGeom>
          <a:solidFill>
            <a:srgbClr val="E8F5EF"/>
          </a:solidFill>
          <a:ln w="12700">
            <a:solidFill>
              <a:srgbClr val="00A86A"/>
            </a:solidFill>
            <a:prstDash val="solid"/>
          </a:ln>
        </p:spPr>
      </p:sp>
      <p:sp>
        <p:nvSpPr>
          <p:cNvPr id="34" name="Text 30"/>
          <p:cNvSpPr txBox="1"/>
          <p:nvPr/>
        </p:nvSpPr>
        <p:spPr>
          <a:xfrm>
            <a:off x="594360" y="4187952"/>
            <a:ext cx="7955280" cy="347472"/>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Identifiant à saisir dans le notebook :  </a:t>
            </a:r>
            <a:pPr indent="0" marL="0">
              <a:buNone/>
            </a:pPr>
            <a:r>
              <a:rPr lang="en-US" sz="1150" b="1" dirty="0">
                <a:solidFill>
                  <a:srgbClr val="00A86A"/>
                </a:solidFill>
                <a:latin typeface="Courier New" pitchFamily="34" charset="0"/>
                <a:ea typeface="Courier New" pitchFamily="34" charset="-122"/>
                <a:cs typeface="Courier New" pitchFamily="34" charset="-120"/>
              </a:rPr>
              <a:t>ai-horizon-491909</a:t>
            </a:r>
            <a:pPr indent="0" marL="0">
              <a:buNone/>
            </a:pPr>
            <a:r>
              <a:rPr lang="en-US" sz="1150" i="1" dirty="0">
                <a:solidFill>
                  <a:srgbClr val="5E6964"/>
                </a:solidFill>
                <a:latin typeface="Calibri" pitchFamily="34" charset="0"/>
                <a:ea typeface="Calibri" pitchFamily="34" charset="-122"/>
                <a:cs typeface="Calibri" pitchFamily="34" charset="-120"/>
              </a:rPr>
              <a:t>   — propre à ce compte ; chaque participant a le sien.</a:t>
            </a:r>
            <a:endParaRPr lang="en-US" sz="1150" dirty="0"/>
          </a:p>
        </p:txBody>
      </p:sp>
      <p:sp>
        <p:nvSpPr>
          <p:cNvPr id="35" name="Text 31"/>
          <p:cNvSpPr txBox="1"/>
          <p:nvPr/>
        </p:nvSpPr>
        <p:spPr>
          <a:xfrm>
            <a:off x="457200" y="4590288"/>
            <a:ext cx="78638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Capture réelle · console Google Cloud, page d'accueil Earth Engine du projet d'atelier.</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VÉRIFIER DANS LA CONSOLE</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Nom ≠ identifiant : ne pas les confondre</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D5DED9"/>
          </a:solidFill>
          <a:ln w="12700">
            <a:solidFill>
              <a:srgbClr val="D5DED9"/>
            </a:solidFill>
            <a:prstDash val="solid"/>
          </a:ln>
        </p:spPr>
      </p:sp>
      <p:sp>
        <p:nvSpPr>
          <p:cNvPr id="10" name="Shape 8"/>
          <p:cNvSpPr/>
          <p:nvPr/>
        </p:nvSpPr>
        <p:spPr>
          <a:xfrm>
            <a:off x="8522208" y="301752"/>
            <a:ext cx="100584" cy="100584"/>
          </a:xfrm>
          <a:prstGeom prst="ellipse">
            <a:avLst/>
          </a:prstGeom>
          <a:solidFill>
            <a:srgbClr val="0E7C86"/>
          </a:solidFill>
          <a:ln w="12700">
            <a:solidFill>
              <a:srgbClr val="0E7C86"/>
            </a:solidFill>
            <a:prstDash val="solid"/>
          </a:ln>
        </p:spPr>
      </p:sp>
      <p:sp>
        <p:nvSpPr>
          <p:cNvPr id="11" name="Shape 9"/>
          <p:cNvSpPr/>
          <p:nvPr/>
        </p:nvSpPr>
        <p:spPr>
          <a:xfrm>
            <a:off x="8705088" y="301752"/>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Préparer un projet Earth Engine · STG17 · Jour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5" name="Shape 12"/>
          <p:cNvSpPr/>
          <p:nvPr/>
        </p:nvSpPr>
        <p:spPr>
          <a:xfrm>
            <a:off x="457200" y="1280160"/>
            <a:ext cx="3931920" cy="2011680"/>
          </a:xfrm>
          <a:prstGeom prst="roundRect">
            <a:avLst>
              <a:gd name="adj" fmla="val 3636"/>
            </a:avLst>
          </a:prstGeom>
          <a:solidFill>
            <a:srgbClr val="F4F7F5"/>
          </a:solidFill>
          <a:ln w="15875">
            <a:solidFill>
              <a:srgbClr val="D49A00"/>
            </a:solidFill>
            <a:prstDash val="solid"/>
          </a:ln>
        </p:spPr>
      </p:sp>
      <p:sp>
        <p:nvSpPr>
          <p:cNvPr id="16" name="Text 13"/>
          <p:cNvSpPr txBox="1"/>
          <p:nvPr/>
        </p:nvSpPr>
        <p:spPr>
          <a:xfrm>
            <a:off x="640080" y="1389888"/>
            <a:ext cx="3566160" cy="219456"/>
          </a:xfrm>
          <a:prstGeom prst="rect">
            <a:avLst/>
          </a:prstGeom>
          <a:noFill/>
          <a:ln/>
        </p:spPr>
        <p:txBody>
          <a:bodyPr wrap="square" lIns="0" tIns="0" rIns="0" bIns="0" rtlCol="0" anchor="ctr"/>
          <a:lstStyle/>
          <a:p>
            <a:pPr indent="0" marL="0">
              <a:buNone/>
            </a:pPr>
            <a:r>
              <a:rPr lang="en-US" sz="1000" b="1" spc="200" kern="0" dirty="0">
                <a:solidFill>
                  <a:srgbClr val="D49A00"/>
                </a:solidFill>
                <a:latin typeface="Calibri" pitchFamily="34" charset="0"/>
                <a:ea typeface="Calibri" pitchFamily="34" charset="-122"/>
                <a:cs typeface="Calibri" pitchFamily="34" charset="-120"/>
              </a:rPr>
              <a:t>NOM DU PROJET</a:t>
            </a:r>
            <a:endParaRPr lang="en-US" sz="1000" dirty="0"/>
          </a:p>
        </p:txBody>
      </p:sp>
      <p:pic>
        <p:nvPicPr>
          <p:cNvPr id="17" name="Image 0" descr="img/zoom_name.png">    </p:cNvPr>
          <p:cNvPicPr>
            <a:picLocks noChangeAspect="1"/>
          </p:cNvPicPr>
          <p:nvPr/>
        </p:nvPicPr>
        <p:blipFill>
          <a:blip r:embed="rId1"/>
          <a:stretch>
            <a:fillRect/>
          </a:stretch>
        </p:blipFill>
        <p:spPr>
          <a:xfrm>
            <a:off x="640080" y="1691640"/>
            <a:ext cx="3566160" cy="577378"/>
          </a:xfrm>
          <a:prstGeom prst="rect">
            <a:avLst/>
          </a:prstGeom>
        </p:spPr>
      </p:pic>
      <p:sp>
        <p:nvSpPr>
          <p:cNvPr id="18" name="Text 14"/>
          <p:cNvSpPr txBox="1"/>
          <p:nvPr/>
        </p:nvSpPr>
        <p:spPr>
          <a:xfrm>
            <a:off x="640080" y="2395728"/>
            <a:ext cx="3566160" cy="777240"/>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Lisible, modifiable, pas forcément unique. Earth Engine ne l'accepte pas.</a:t>
            </a:r>
            <a:endParaRPr lang="en-US" sz="1150" dirty="0"/>
          </a:p>
        </p:txBody>
      </p:sp>
      <p:sp>
        <p:nvSpPr>
          <p:cNvPr id="19" name="Shape 15"/>
          <p:cNvSpPr/>
          <p:nvPr/>
        </p:nvSpPr>
        <p:spPr>
          <a:xfrm>
            <a:off x="4663440" y="1280160"/>
            <a:ext cx="3931920" cy="2011680"/>
          </a:xfrm>
          <a:prstGeom prst="roundRect">
            <a:avLst>
              <a:gd name="adj" fmla="val 3636"/>
            </a:avLst>
          </a:prstGeom>
          <a:solidFill>
            <a:srgbClr val="E8F5EF"/>
          </a:solidFill>
          <a:ln w="19050">
            <a:solidFill>
              <a:srgbClr val="00A86A"/>
            </a:solidFill>
            <a:prstDash val="solid"/>
          </a:ln>
        </p:spPr>
      </p:sp>
      <p:sp>
        <p:nvSpPr>
          <p:cNvPr id="20" name="Text 16"/>
          <p:cNvSpPr txBox="1"/>
          <p:nvPr/>
        </p:nvSpPr>
        <p:spPr>
          <a:xfrm>
            <a:off x="4846320" y="1389888"/>
            <a:ext cx="3566160" cy="219456"/>
          </a:xfrm>
          <a:prstGeom prst="rect">
            <a:avLst/>
          </a:prstGeom>
          <a:noFill/>
          <a:ln/>
        </p:spPr>
        <p:txBody>
          <a:bodyPr wrap="square" lIns="0" tIns="0" rIns="0" bIns="0" rtlCol="0" anchor="ctr"/>
          <a:lstStyle/>
          <a:p>
            <a:pPr indent="0" marL="0">
              <a:buNone/>
            </a:pPr>
            <a:r>
              <a:rPr lang="en-US" sz="1000" b="1" spc="200" kern="0" dirty="0">
                <a:solidFill>
                  <a:srgbClr val="00A86A"/>
                </a:solidFill>
                <a:latin typeface="Calibri" pitchFamily="34" charset="0"/>
                <a:ea typeface="Calibri" pitchFamily="34" charset="-122"/>
                <a:cs typeface="Calibri" pitchFamily="34" charset="-120"/>
              </a:rPr>
              <a:t>IDENTIFIANT DU PROJET</a:t>
            </a:r>
            <a:endParaRPr lang="en-US" sz="1000" dirty="0"/>
          </a:p>
        </p:txBody>
      </p:sp>
      <p:sp>
        <p:nvSpPr>
          <p:cNvPr id="21" name="Text 17"/>
          <p:cNvSpPr txBox="1"/>
          <p:nvPr/>
        </p:nvSpPr>
        <p:spPr>
          <a:xfrm>
            <a:off x="4846320" y="1719072"/>
            <a:ext cx="3566160" cy="457200"/>
          </a:xfrm>
          <a:prstGeom prst="rect">
            <a:avLst/>
          </a:prstGeom>
          <a:noFill/>
          <a:ln/>
        </p:spPr>
        <p:txBody>
          <a:bodyPr wrap="square" lIns="0" tIns="0" rIns="0" bIns="0" rtlCol="0" anchor="ctr"/>
          <a:lstStyle/>
          <a:p>
            <a:pPr indent="0" marL="0">
              <a:buNone/>
            </a:pPr>
            <a:r>
              <a:rPr lang="en-US" sz="2200" b="1" dirty="0">
                <a:solidFill>
                  <a:srgbClr val="231F20"/>
                </a:solidFill>
                <a:latin typeface="Courier New" pitchFamily="34" charset="0"/>
                <a:ea typeface="Courier New" pitchFamily="34" charset="-122"/>
                <a:cs typeface="Courier New" pitchFamily="34" charset="-120"/>
              </a:rPr>
              <a:t>ai-horizon-491909</a:t>
            </a:r>
            <a:endParaRPr lang="en-US" sz="2200" dirty="0"/>
          </a:p>
        </p:txBody>
      </p:sp>
      <p:sp>
        <p:nvSpPr>
          <p:cNvPr id="22" name="Text 18"/>
          <p:cNvSpPr txBox="1"/>
          <p:nvPr/>
        </p:nvSpPr>
        <p:spPr>
          <a:xfrm>
            <a:off x="4846320" y="2395728"/>
            <a:ext cx="3566160" cy="777240"/>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Minuscules, chiffres, tirets. Unique sur tout Google Cloud. Définitif. C'est lui qu'il faut saisir.</a:t>
            </a:r>
            <a:endParaRPr lang="en-US" sz="1150" dirty="0"/>
          </a:p>
        </p:txBody>
      </p:sp>
      <p:sp>
        <p:nvSpPr>
          <p:cNvPr id="23" name="Text 19"/>
          <p:cNvSpPr txBox="1"/>
          <p:nvPr/>
        </p:nvSpPr>
        <p:spPr>
          <a:xfrm>
            <a:off x="457200" y="3493008"/>
            <a:ext cx="7315200" cy="219456"/>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TROIS FAÇONS DE LE RETROUVER</a:t>
            </a:r>
            <a:endParaRPr lang="en-US" sz="1000" dirty="0"/>
          </a:p>
        </p:txBody>
      </p:sp>
      <p:sp>
        <p:nvSpPr>
          <p:cNvPr id="24" name="Shape 20"/>
          <p:cNvSpPr/>
          <p:nvPr/>
        </p:nvSpPr>
        <p:spPr>
          <a:xfrm>
            <a:off x="457200" y="3785616"/>
            <a:ext cx="274320" cy="274320"/>
          </a:xfrm>
          <a:prstGeom prst="ellipse">
            <a:avLst/>
          </a:prstGeom>
          <a:solidFill>
            <a:srgbClr val="0E7C86"/>
          </a:solidFill>
          <a:ln w="19050">
            <a:solidFill>
              <a:srgbClr val="FFFFFF"/>
            </a:solidFill>
            <a:prstDash val="solid"/>
          </a:ln>
        </p:spPr>
      </p:sp>
      <p:sp>
        <p:nvSpPr>
          <p:cNvPr id="25" name="Text 21"/>
          <p:cNvSpPr txBox="1"/>
          <p:nvPr/>
        </p:nvSpPr>
        <p:spPr>
          <a:xfrm>
            <a:off x="457200" y="3785616"/>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1</a:t>
            </a:r>
            <a:endParaRPr lang="en-US" sz="1080" dirty="0"/>
          </a:p>
        </p:txBody>
      </p:sp>
      <p:sp>
        <p:nvSpPr>
          <p:cNvPr id="26" name="Text 22"/>
          <p:cNvSpPr txBox="1"/>
          <p:nvPr/>
        </p:nvSpPr>
        <p:spPr>
          <a:xfrm>
            <a:off x="822960" y="3749040"/>
            <a:ext cx="2286000" cy="237744"/>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Adresse de la console</a:t>
            </a:r>
            <a:endParaRPr lang="en-US" sz="1200" dirty="0"/>
          </a:p>
        </p:txBody>
      </p:sp>
      <p:sp>
        <p:nvSpPr>
          <p:cNvPr id="27" name="Text 23"/>
          <p:cNvSpPr txBox="1"/>
          <p:nvPr/>
        </p:nvSpPr>
        <p:spPr>
          <a:xfrm>
            <a:off x="822960" y="3986784"/>
            <a:ext cx="2286000" cy="41148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le paramètre project= dans l'URL</a:t>
            </a:r>
            <a:endParaRPr lang="en-US" sz="1000" dirty="0"/>
          </a:p>
        </p:txBody>
      </p:sp>
      <p:sp>
        <p:nvSpPr>
          <p:cNvPr id="28" name="Shape 24"/>
          <p:cNvSpPr/>
          <p:nvPr/>
        </p:nvSpPr>
        <p:spPr>
          <a:xfrm>
            <a:off x="3218688" y="3785616"/>
            <a:ext cx="274320" cy="274320"/>
          </a:xfrm>
          <a:prstGeom prst="ellipse">
            <a:avLst/>
          </a:prstGeom>
          <a:solidFill>
            <a:srgbClr val="0E7C86"/>
          </a:solidFill>
          <a:ln w="19050">
            <a:solidFill>
              <a:srgbClr val="FFFFFF"/>
            </a:solidFill>
            <a:prstDash val="solid"/>
          </a:ln>
        </p:spPr>
      </p:sp>
      <p:sp>
        <p:nvSpPr>
          <p:cNvPr id="29" name="Text 25"/>
          <p:cNvSpPr txBox="1"/>
          <p:nvPr/>
        </p:nvSpPr>
        <p:spPr>
          <a:xfrm>
            <a:off x="3218688" y="3785616"/>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2</a:t>
            </a:r>
            <a:endParaRPr lang="en-US" sz="1080" dirty="0"/>
          </a:p>
        </p:txBody>
      </p:sp>
      <p:sp>
        <p:nvSpPr>
          <p:cNvPr id="30" name="Text 26"/>
          <p:cNvSpPr txBox="1"/>
          <p:nvPr/>
        </p:nvSpPr>
        <p:spPr>
          <a:xfrm>
            <a:off x="3584448" y="3749040"/>
            <a:ext cx="2286000" cy="237744"/>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Sélecteur de projet</a:t>
            </a:r>
            <a:endParaRPr lang="en-US" sz="1200" dirty="0"/>
          </a:p>
        </p:txBody>
      </p:sp>
      <p:sp>
        <p:nvSpPr>
          <p:cNvPr id="31" name="Text 27"/>
          <p:cNvSpPr txBox="1"/>
          <p:nvPr/>
        </p:nvSpPr>
        <p:spPr>
          <a:xfrm>
            <a:off x="3584448" y="3986784"/>
            <a:ext cx="2286000" cy="41148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cliquez sur le nom : la fenêtre affiche nom et ID</a:t>
            </a:r>
            <a:endParaRPr lang="en-US" sz="1000" dirty="0"/>
          </a:p>
        </p:txBody>
      </p:sp>
      <p:sp>
        <p:nvSpPr>
          <p:cNvPr id="32" name="Shape 28"/>
          <p:cNvSpPr/>
          <p:nvPr/>
        </p:nvSpPr>
        <p:spPr>
          <a:xfrm>
            <a:off x="5980176" y="3785616"/>
            <a:ext cx="274320" cy="274320"/>
          </a:xfrm>
          <a:prstGeom prst="ellipse">
            <a:avLst/>
          </a:prstGeom>
          <a:solidFill>
            <a:srgbClr val="0E7C86"/>
          </a:solidFill>
          <a:ln w="19050">
            <a:solidFill>
              <a:srgbClr val="FFFFFF"/>
            </a:solidFill>
            <a:prstDash val="solid"/>
          </a:ln>
        </p:spPr>
      </p:sp>
      <p:sp>
        <p:nvSpPr>
          <p:cNvPr id="33" name="Text 29"/>
          <p:cNvSpPr txBox="1"/>
          <p:nvPr/>
        </p:nvSpPr>
        <p:spPr>
          <a:xfrm>
            <a:off x="5980176" y="3785616"/>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3</a:t>
            </a:r>
            <a:endParaRPr lang="en-US" sz="1080" dirty="0"/>
          </a:p>
        </p:txBody>
      </p:sp>
      <p:sp>
        <p:nvSpPr>
          <p:cNvPr id="34" name="Text 30"/>
          <p:cNvSpPr txBox="1"/>
          <p:nvPr/>
        </p:nvSpPr>
        <p:spPr>
          <a:xfrm>
            <a:off x="6345936" y="3749040"/>
            <a:ext cx="2286000" cy="237744"/>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Code Editor Earth Engine</a:t>
            </a:r>
            <a:endParaRPr lang="en-US" sz="1200" dirty="0"/>
          </a:p>
        </p:txBody>
      </p:sp>
      <p:sp>
        <p:nvSpPr>
          <p:cNvPr id="35" name="Text 31"/>
          <p:cNvSpPr txBox="1"/>
          <p:nvPr/>
        </p:nvSpPr>
        <p:spPr>
          <a:xfrm>
            <a:off x="6345936" y="3986784"/>
            <a:ext cx="2286000" cy="41148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menu du profil, en haut à droite</a:t>
            </a:r>
            <a:endParaRPr lang="en-US" sz="1000" dirty="0"/>
          </a:p>
        </p:txBody>
      </p:sp>
      <p:sp>
        <p:nvSpPr>
          <p:cNvPr id="36" name="Text 32"/>
          <p:cNvSpPr txBox="1"/>
          <p:nvPr/>
        </p:nvSpPr>
        <p:spPr>
          <a:xfrm>
            <a:off x="457200" y="4590288"/>
            <a:ext cx="78638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Capture réelle (sélecteur de projet, console Google Cloud).</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VÉRIFIER DANS LA CONSOLE</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Vérifier l'enregistrement et l'API</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D5DED9"/>
          </a:solidFill>
          <a:ln w="12700">
            <a:solidFill>
              <a:srgbClr val="D5DED9"/>
            </a:solidFill>
            <a:prstDash val="solid"/>
          </a:ln>
        </p:spPr>
      </p:sp>
      <p:sp>
        <p:nvSpPr>
          <p:cNvPr id="10" name="Shape 8"/>
          <p:cNvSpPr/>
          <p:nvPr/>
        </p:nvSpPr>
        <p:spPr>
          <a:xfrm>
            <a:off x="8522208" y="301752"/>
            <a:ext cx="100584" cy="100584"/>
          </a:xfrm>
          <a:prstGeom prst="ellipse">
            <a:avLst/>
          </a:prstGeom>
          <a:solidFill>
            <a:srgbClr val="0E7C86"/>
          </a:solidFill>
          <a:ln w="12700">
            <a:solidFill>
              <a:srgbClr val="0E7C86"/>
            </a:solidFill>
            <a:prstDash val="solid"/>
          </a:ln>
        </p:spPr>
      </p:sp>
      <p:sp>
        <p:nvSpPr>
          <p:cNvPr id="11" name="Shape 9"/>
          <p:cNvSpPr/>
          <p:nvPr/>
        </p:nvSpPr>
        <p:spPr>
          <a:xfrm>
            <a:off x="8705088" y="301752"/>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Préparer un projet Earth Engine · STG17 · Jour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pic>
        <p:nvPicPr>
          <p:cNvPr id="15" name="Image 0" descr="img/zoom_menu.png">    </p:cNvPr>
          <p:cNvPicPr>
            <a:picLocks noChangeAspect="1"/>
          </p:cNvPicPr>
          <p:nvPr/>
        </p:nvPicPr>
        <p:blipFill>
          <a:blip r:embed="rId1"/>
          <a:stretch>
            <a:fillRect/>
          </a:stretch>
        </p:blipFill>
        <p:spPr>
          <a:xfrm>
            <a:off x="457200" y="1298448"/>
            <a:ext cx="2651760" cy="1205345"/>
          </a:xfrm>
          <a:prstGeom prst="rect">
            <a:avLst/>
          </a:prstGeom>
        </p:spPr>
      </p:pic>
      <p:sp>
        <p:nvSpPr>
          <p:cNvPr id="16" name="Shape 12"/>
          <p:cNvSpPr/>
          <p:nvPr/>
        </p:nvSpPr>
        <p:spPr>
          <a:xfrm>
            <a:off x="457200" y="1298448"/>
            <a:ext cx="2651760" cy="1205345"/>
          </a:xfrm>
          <a:prstGeom prst="rect">
            <a:avLst/>
          </a:prstGeom>
          <a:solidFill>
            <a:srgbClr val="FFFFFF">
              <a:alpha val="0"/>
            </a:srgbClr>
          </a:solidFill>
          <a:ln w="9525">
            <a:solidFill>
              <a:srgbClr val="D5DED9"/>
            </a:solidFill>
            <a:prstDash val="solid"/>
          </a:ln>
        </p:spPr>
      </p:sp>
      <p:sp>
        <p:nvSpPr>
          <p:cNvPr id="17" name="Text 13"/>
          <p:cNvSpPr txBox="1"/>
          <p:nvPr/>
        </p:nvSpPr>
        <p:spPr>
          <a:xfrm>
            <a:off x="457200" y="2560320"/>
            <a:ext cx="265176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Capture réelle · menu Earth Engine.</a:t>
            </a:r>
            <a:endParaRPr lang="en-US" sz="900" dirty="0"/>
          </a:p>
        </p:txBody>
      </p:sp>
      <p:sp>
        <p:nvSpPr>
          <p:cNvPr id="18" name="Text 14"/>
          <p:cNvSpPr txBox="1"/>
          <p:nvPr/>
        </p:nvSpPr>
        <p:spPr>
          <a:xfrm>
            <a:off x="457200" y="2852928"/>
            <a:ext cx="2926080" cy="219456"/>
          </a:xfrm>
          <a:prstGeom prst="rect">
            <a:avLst/>
          </a:prstGeom>
          <a:noFill/>
          <a:ln/>
        </p:spPr>
        <p:txBody>
          <a:bodyPr wrap="square" lIns="0" tIns="0" rIns="0" bIns="0" rtlCol="0" anchor="ctr"/>
          <a:lstStyle/>
          <a:p>
            <a:pPr indent="0" marL="0">
              <a:buNone/>
            </a:pPr>
            <a:r>
              <a:rPr lang="en-US" sz="900" b="1" spc="150" kern="0" dirty="0">
                <a:solidFill>
                  <a:srgbClr val="00704A"/>
                </a:solidFill>
                <a:latin typeface="Calibri" pitchFamily="34" charset="0"/>
                <a:ea typeface="Calibri" pitchFamily="34" charset="-122"/>
                <a:cs typeface="Calibri" pitchFamily="34" charset="-120"/>
              </a:rPr>
              <a:t>DANS « CONFIGURATION », VOUS DEVEZ VOIR</a:t>
            </a:r>
            <a:endParaRPr lang="en-US" sz="900" dirty="0"/>
          </a:p>
        </p:txBody>
      </p:sp>
      <p:pic>
        <p:nvPicPr>
          <p:cNvPr id="19" name="Image 1" descr="preencoded.png">    </p:cNvPr>
          <p:cNvPicPr>
            <a:picLocks noChangeAspect="1"/>
          </p:cNvPicPr>
          <p:nvPr/>
        </p:nvPicPr>
        <p:blipFill>
          <a:blip r:embed="rId2"/>
          <a:stretch>
            <a:fillRect/>
          </a:stretch>
        </p:blipFill>
        <p:spPr>
          <a:xfrm>
            <a:off x="457200" y="3154680"/>
            <a:ext cx="219456" cy="219456"/>
          </a:xfrm>
          <a:prstGeom prst="rect">
            <a:avLst/>
          </a:prstGeom>
        </p:spPr>
      </p:pic>
      <p:sp>
        <p:nvSpPr>
          <p:cNvPr id="20" name="Text 15"/>
          <p:cNvSpPr txBox="1"/>
          <p:nvPr/>
        </p:nvSpPr>
        <p:spPr>
          <a:xfrm>
            <a:off x="777240" y="3136392"/>
            <a:ext cx="2651760" cy="256032"/>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Projet enregistré — usage non commercial</a:t>
            </a:r>
            <a:endParaRPr lang="en-US" sz="1100" dirty="0"/>
          </a:p>
        </p:txBody>
      </p:sp>
      <p:pic>
        <p:nvPicPr>
          <p:cNvPr id="21" name="Image 2" descr="preencoded.png">    </p:cNvPr>
          <p:cNvPicPr>
            <a:picLocks noChangeAspect="1"/>
          </p:cNvPicPr>
          <p:nvPr/>
        </p:nvPicPr>
        <p:blipFill>
          <a:blip r:embed="rId3"/>
          <a:stretch>
            <a:fillRect/>
          </a:stretch>
        </p:blipFill>
        <p:spPr>
          <a:xfrm>
            <a:off x="457200" y="3483864"/>
            <a:ext cx="219456" cy="219456"/>
          </a:xfrm>
          <a:prstGeom prst="rect">
            <a:avLst/>
          </a:prstGeom>
        </p:spPr>
      </p:pic>
      <p:sp>
        <p:nvSpPr>
          <p:cNvPr id="22" name="Text 16"/>
          <p:cNvSpPr txBox="1"/>
          <p:nvPr/>
        </p:nvSpPr>
        <p:spPr>
          <a:xfrm>
            <a:off x="777240" y="3465576"/>
            <a:ext cx="2651760" cy="256032"/>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Questionnaire d'éligibilité complété</a:t>
            </a:r>
            <a:endParaRPr lang="en-US" sz="1100" dirty="0"/>
          </a:p>
        </p:txBody>
      </p:sp>
      <p:pic>
        <p:nvPicPr>
          <p:cNvPr id="23" name="Image 3" descr="preencoded.png">    </p:cNvPr>
          <p:cNvPicPr>
            <a:picLocks noChangeAspect="1"/>
          </p:cNvPicPr>
          <p:nvPr/>
        </p:nvPicPr>
        <p:blipFill>
          <a:blip r:embed="rId4"/>
          <a:stretch>
            <a:fillRect/>
          </a:stretch>
        </p:blipFill>
        <p:spPr>
          <a:xfrm>
            <a:off x="457200" y="3813048"/>
            <a:ext cx="219456" cy="219456"/>
          </a:xfrm>
          <a:prstGeom prst="rect">
            <a:avLst/>
          </a:prstGeom>
        </p:spPr>
      </p:pic>
      <p:sp>
        <p:nvSpPr>
          <p:cNvPr id="24" name="Text 17"/>
          <p:cNvSpPr txBox="1"/>
          <p:nvPr/>
        </p:nvSpPr>
        <p:spPr>
          <a:xfrm>
            <a:off x="777240" y="3794760"/>
            <a:ext cx="2651760" cy="256032"/>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Palier de quota sélectionné</a:t>
            </a:r>
            <a:endParaRPr lang="en-US" sz="1100" dirty="0"/>
          </a:p>
        </p:txBody>
      </p:sp>
      <p:sp>
        <p:nvSpPr>
          <p:cNvPr id="25" name="Shape 18"/>
          <p:cNvSpPr/>
          <p:nvPr/>
        </p:nvSpPr>
        <p:spPr>
          <a:xfrm>
            <a:off x="3657600" y="1298448"/>
            <a:ext cx="4937760" cy="1417320"/>
          </a:xfrm>
          <a:prstGeom prst="roundRect">
            <a:avLst>
              <a:gd name="adj" fmla="val 5161"/>
            </a:avLst>
          </a:prstGeom>
          <a:solidFill>
            <a:srgbClr val="F4F7F5"/>
          </a:solidFill>
          <a:ln w="9525">
            <a:solidFill>
              <a:srgbClr val="D5DED9"/>
            </a:solidFill>
            <a:prstDash val="solid"/>
          </a:ln>
        </p:spPr>
      </p:sp>
      <p:sp>
        <p:nvSpPr>
          <p:cNvPr id="26" name="Shape 19"/>
          <p:cNvSpPr/>
          <p:nvPr/>
        </p:nvSpPr>
        <p:spPr>
          <a:xfrm>
            <a:off x="3822192" y="1444752"/>
            <a:ext cx="457200" cy="457200"/>
          </a:xfrm>
          <a:prstGeom prst="ellipse">
            <a:avLst/>
          </a:prstGeom>
          <a:solidFill>
            <a:srgbClr val="0E7C86">
              <a:alpha val="20000"/>
            </a:srgbClr>
          </a:solidFill>
          <a:ln w="12700">
            <a:solidFill>
              <a:srgbClr val="0E7C86">
                <a:alpha val="0"/>
              </a:srgbClr>
            </a:solidFill>
            <a:prstDash val="solid"/>
          </a:ln>
        </p:spPr>
      </p:sp>
      <p:pic>
        <p:nvPicPr>
          <p:cNvPr id="27" name="Image 4" descr="preencoded.png">    </p:cNvPr>
          <p:cNvPicPr>
            <a:picLocks noChangeAspect="1"/>
          </p:cNvPicPr>
          <p:nvPr/>
        </p:nvPicPr>
        <p:blipFill>
          <a:blip r:embed="rId5"/>
          <a:stretch>
            <a:fillRect/>
          </a:stretch>
        </p:blipFill>
        <p:spPr>
          <a:xfrm>
            <a:off x="3922776" y="1545336"/>
            <a:ext cx="256032" cy="256032"/>
          </a:xfrm>
          <a:prstGeom prst="rect">
            <a:avLst/>
          </a:prstGeom>
        </p:spPr>
      </p:pic>
      <p:sp>
        <p:nvSpPr>
          <p:cNvPr id="28" name="Text 20"/>
          <p:cNvSpPr txBox="1"/>
          <p:nvPr/>
        </p:nvSpPr>
        <p:spPr>
          <a:xfrm>
            <a:off x="4434840" y="1417320"/>
            <a:ext cx="4023360" cy="274320"/>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Enregistrement incomplet ?</a:t>
            </a:r>
            <a:endParaRPr lang="en-US" sz="1350" dirty="0"/>
          </a:p>
        </p:txBody>
      </p:sp>
      <p:sp>
        <p:nvSpPr>
          <p:cNvPr id="29" name="Text 21"/>
          <p:cNvSpPr txBox="1"/>
          <p:nvPr/>
        </p:nvSpPr>
        <p:spPr>
          <a:xfrm>
            <a:off x="4434840" y="1700784"/>
            <a:ext cx="402336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Reprenez le parcours à cette adresse, en remplaçant par votre identifiant :</a:t>
            </a:r>
            <a:endParaRPr lang="en-US" sz="1050" dirty="0"/>
          </a:p>
        </p:txBody>
      </p:sp>
      <p:sp>
        <p:nvSpPr>
          <p:cNvPr id="30" name="Text 22"/>
          <p:cNvSpPr txBox="1"/>
          <p:nvPr/>
        </p:nvSpPr>
        <p:spPr>
          <a:xfrm>
            <a:off x="3840480" y="2194560"/>
            <a:ext cx="4663440" cy="329184"/>
          </a:xfrm>
          <a:prstGeom prst="rect">
            <a:avLst/>
          </a:prstGeom>
          <a:noFill/>
          <a:ln/>
        </p:spPr>
        <p:txBody>
          <a:bodyPr wrap="square" lIns="0" tIns="0" rIns="0" bIns="0" rtlCol="0" anchor="ctr"/>
          <a:lstStyle/>
          <a:p>
            <a:pPr indent="0" marL="0">
              <a:buNone/>
            </a:pPr>
            <a:r>
              <a:rPr lang="en-US" sz="1000" b="1" dirty="0">
                <a:solidFill>
                  <a:srgbClr val="00704A"/>
                </a:solidFill>
                <a:latin typeface="Courier New" pitchFamily="34" charset="0"/>
                <a:ea typeface="Courier New" pitchFamily="34" charset="-122"/>
                <a:cs typeface="Courier New" pitchFamily="34" charset="-120"/>
              </a:rPr>
              <a:t>code.earthengine.google.com/register?project=VOTRE-ID</a:t>
            </a:r>
            <a:endParaRPr lang="en-US" sz="1000" dirty="0"/>
          </a:p>
        </p:txBody>
      </p:sp>
      <p:sp>
        <p:nvSpPr>
          <p:cNvPr id="31" name="Shape 23"/>
          <p:cNvSpPr/>
          <p:nvPr/>
        </p:nvSpPr>
        <p:spPr>
          <a:xfrm>
            <a:off x="3657600" y="2852928"/>
            <a:ext cx="4937760" cy="1600200"/>
          </a:xfrm>
          <a:prstGeom prst="roundRect">
            <a:avLst>
              <a:gd name="adj" fmla="val 4571"/>
            </a:avLst>
          </a:prstGeom>
          <a:solidFill>
            <a:srgbClr val="F4F7F5"/>
          </a:solidFill>
          <a:ln w="9525">
            <a:solidFill>
              <a:srgbClr val="D5DED9"/>
            </a:solidFill>
            <a:prstDash val="solid"/>
          </a:ln>
        </p:spPr>
      </p:sp>
      <p:sp>
        <p:nvSpPr>
          <p:cNvPr id="32" name="Shape 24"/>
          <p:cNvSpPr/>
          <p:nvPr/>
        </p:nvSpPr>
        <p:spPr>
          <a:xfrm>
            <a:off x="3822192" y="2999232"/>
            <a:ext cx="457200" cy="457200"/>
          </a:xfrm>
          <a:prstGeom prst="ellipse">
            <a:avLst/>
          </a:prstGeom>
          <a:solidFill>
            <a:srgbClr val="D49A00">
              <a:alpha val="20000"/>
            </a:srgbClr>
          </a:solidFill>
          <a:ln w="12700">
            <a:solidFill>
              <a:srgbClr val="D49A00">
                <a:alpha val="0"/>
              </a:srgbClr>
            </a:solidFill>
            <a:prstDash val="solid"/>
          </a:ln>
        </p:spPr>
      </p:sp>
      <p:pic>
        <p:nvPicPr>
          <p:cNvPr id="33" name="Image 5" descr="preencoded.png">    </p:cNvPr>
          <p:cNvPicPr>
            <a:picLocks noChangeAspect="1"/>
          </p:cNvPicPr>
          <p:nvPr/>
        </p:nvPicPr>
        <p:blipFill>
          <a:blip r:embed="rId6"/>
          <a:stretch>
            <a:fillRect/>
          </a:stretch>
        </p:blipFill>
        <p:spPr>
          <a:xfrm>
            <a:off x="3922776" y="3099816"/>
            <a:ext cx="256032" cy="256032"/>
          </a:xfrm>
          <a:prstGeom prst="rect">
            <a:avLst/>
          </a:prstGeom>
        </p:spPr>
      </p:pic>
      <p:sp>
        <p:nvSpPr>
          <p:cNvPr id="34" name="Text 25"/>
          <p:cNvSpPr txBox="1"/>
          <p:nvPr/>
        </p:nvSpPr>
        <p:spPr>
          <a:xfrm>
            <a:off x="4434840" y="2971800"/>
            <a:ext cx="4023360" cy="274320"/>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L'API Earth Engine est-elle activée ?</a:t>
            </a:r>
            <a:endParaRPr lang="en-US" sz="1350" dirty="0"/>
          </a:p>
        </p:txBody>
      </p:sp>
      <p:sp>
        <p:nvSpPr>
          <p:cNvPr id="35" name="Text 26"/>
          <p:cNvSpPr txBox="1"/>
          <p:nvPr/>
        </p:nvSpPr>
        <p:spPr>
          <a:xfrm>
            <a:off x="4434840" y="3255264"/>
            <a:ext cx="4023360" cy="65836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Normalement oui si vous êtes passé par la page d'enregistrement. Sinon, ouvrez cette page, vérifiez le projet sélectionné en haut, puis cliquez sur « Activer » :</a:t>
            </a:r>
            <a:endParaRPr lang="en-US" sz="1050" dirty="0"/>
          </a:p>
        </p:txBody>
      </p:sp>
      <p:sp>
        <p:nvSpPr>
          <p:cNvPr id="36" name="Text 27"/>
          <p:cNvSpPr txBox="1"/>
          <p:nvPr/>
        </p:nvSpPr>
        <p:spPr>
          <a:xfrm>
            <a:off x="3840480" y="3986784"/>
            <a:ext cx="4663440" cy="329184"/>
          </a:xfrm>
          <a:prstGeom prst="rect">
            <a:avLst/>
          </a:prstGeom>
          <a:noFill/>
          <a:ln/>
        </p:spPr>
        <p:txBody>
          <a:bodyPr wrap="square" lIns="0" tIns="0" rIns="0" bIns="0" rtlCol="0" anchor="ctr"/>
          <a:lstStyle/>
          <a:p>
            <a:pPr indent="0" marL="0">
              <a:buNone/>
            </a:pPr>
            <a:r>
              <a:rPr lang="en-US" sz="900" b="1" dirty="0">
                <a:solidFill>
                  <a:srgbClr val="00704A"/>
                </a:solidFill>
                <a:latin typeface="Courier New" pitchFamily="34" charset="0"/>
                <a:ea typeface="Courier New" pitchFamily="34" charset="-122"/>
                <a:cs typeface="Courier New" pitchFamily="34" charset="-120"/>
              </a:rPr>
              <a:t>console.cloud.google.com/apis/library/earthengine.googleapis.com</a:t>
            </a:r>
            <a:endParaRPr lang="en-US" sz="900" dirty="0"/>
          </a:p>
        </p:txBody>
      </p:sp>
      <p:sp>
        <p:nvSpPr>
          <p:cNvPr id="37" name="Text 28"/>
          <p:cNvSpPr txBox="1"/>
          <p:nvPr/>
        </p:nvSpPr>
        <p:spPr>
          <a:xfrm>
            <a:off x="457200" y="4590288"/>
            <a:ext cx="78638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 Earth Engine access ; Authentication and Initialization, section Troubleshooting.</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914400"/>
            <a:ext cx="2743200" cy="1097280"/>
          </a:xfrm>
          <a:prstGeom prst="rect">
            <a:avLst/>
          </a:prstGeom>
          <a:noFill/>
          <a:ln/>
        </p:spPr>
        <p:txBody>
          <a:bodyPr wrap="square" lIns="0" tIns="0" rIns="0" bIns="0" rtlCol="0" anchor="ctr"/>
          <a:lstStyle/>
          <a:p>
            <a:pPr indent="0" marL="0">
              <a:buNone/>
            </a:pPr>
            <a:r>
              <a:rPr lang="en-US" sz="8000" b="1" dirty="0">
                <a:solidFill>
                  <a:srgbClr val="F5C242"/>
                </a:solidFill>
                <a:latin typeface="Calibri" pitchFamily="34" charset="0"/>
                <a:ea typeface="Calibri" pitchFamily="34" charset="-122"/>
                <a:cs typeface="Calibri" pitchFamily="34" charset="-120"/>
              </a:rPr>
              <a:t>03</a:t>
            </a:r>
            <a:endParaRPr lang="en-US" sz="8000" dirty="0"/>
          </a:p>
        </p:txBody>
      </p:sp>
      <p:sp>
        <p:nvSpPr>
          <p:cNvPr id="3" name="Text 1"/>
          <p:cNvSpPr txBox="1"/>
          <p:nvPr/>
        </p:nvSpPr>
        <p:spPr>
          <a:xfrm>
            <a:off x="548640" y="2057400"/>
            <a:ext cx="5486400" cy="274320"/>
          </a:xfrm>
          <a:prstGeom prst="rect">
            <a:avLst/>
          </a:prstGeom>
          <a:noFill/>
          <a:ln/>
        </p:spPr>
        <p:txBody>
          <a:bodyPr wrap="square" lIns="0" tIns="0" rIns="0" bIns="0" rtlCol="0" anchor="ctr"/>
          <a:lstStyle/>
          <a:p>
            <a:pPr indent="0" marL="0">
              <a:buNone/>
            </a:pPr>
            <a:r>
              <a:rPr lang="en-US" sz="1100" b="1" spc="300" kern="0" dirty="0">
                <a:solidFill>
                  <a:srgbClr val="F5C242"/>
                </a:solidFill>
                <a:latin typeface="Calibri" pitchFamily="34" charset="0"/>
                <a:ea typeface="Calibri" pitchFamily="34" charset="-122"/>
                <a:cs typeface="Calibri" pitchFamily="34" charset="-120"/>
              </a:rPr>
              <a:t>CONNECTER LE NOTEBOOK</a:t>
            </a:r>
            <a:endParaRPr lang="en-US" sz="1100" dirty="0"/>
          </a:p>
        </p:txBody>
      </p:sp>
      <p:sp>
        <p:nvSpPr>
          <p:cNvPr id="4" name="Text 2"/>
          <p:cNvSpPr txBox="1"/>
          <p:nvPr/>
        </p:nvSpPr>
        <p:spPr>
          <a:xfrm>
            <a:off x="548640" y="2377440"/>
            <a:ext cx="5669280" cy="73152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Connecter le notebook</a:t>
            </a:r>
            <a:endParaRPr lang="en-US" sz="3200" dirty="0"/>
          </a:p>
        </p:txBody>
      </p:sp>
      <p:sp>
        <p:nvSpPr>
          <p:cNvPr id="5" name="Text 3"/>
          <p:cNvSpPr txBox="1"/>
          <p:nvPr/>
        </p:nvSpPr>
        <p:spPr>
          <a:xfrm>
            <a:off x="548640" y="3154680"/>
            <a:ext cx="5669280" cy="54864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Dernier kilomètre : de l'identifiant à la première image</a:t>
            </a:r>
            <a:endParaRPr lang="en-US" sz="1600" dirty="0"/>
          </a:p>
        </p:txBody>
      </p:sp>
      <p:sp>
        <p:nvSpPr>
          <p:cNvPr id="6" name="Shape 4"/>
          <p:cNvSpPr/>
          <p:nvPr/>
        </p:nvSpPr>
        <p:spPr>
          <a:xfrm>
            <a:off x="6492240" y="1417320"/>
            <a:ext cx="2011680" cy="2011680"/>
          </a:xfrm>
          <a:prstGeom prst="ellipse">
            <a:avLst/>
          </a:prstGeom>
          <a:solidFill>
            <a:srgbClr val="FFFFFF">
              <a:alpha val="10000"/>
            </a:srgbClr>
          </a:solidFill>
          <a:ln w="19050">
            <a:solidFill>
              <a:srgbClr val="FFFFFF">
                <a:alpha val="45000"/>
              </a:srgbClr>
            </a:solidFill>
            <a:prstDash val="solid"/>
          </a:ln>
        </p:spPr>
      </p:sp>
      <p:sp>
        <p:nvSpPr>
          <p:cNvPr id="7" name="Shape 5"/>
          <p:cNvSpPr/>
          <p:nvPr/>
        </p:nvSpPr>
        <p:spPr>
          <a:xfrm>
            <a:off x="6812280" y="1737360"/>
            <a:ext cx="1371600" cy="1371600"/>
          </a:xfrm>
          <a:prstGeom prst="ellipse">
            <a:avLst/>
          </a:prstGeom>
          <a:solidFill>
            <a:srgbClr val="FFFFFF">
              <a:alpha val="0"/>
            </a:srgbClr>
          </a:solidFill>
          <a:ln w="19050">
            <a:solidFill>
              <a:srgbClr val="FFFFFF">
                <a:alpha val="60000"/>
              </a:srgbClr>
            </a:solidFill>
            <a:prstDash val="solid"/>
          </a:ln>
        </p:spPr>
      </p:sp>
      <p:pic>
        <p:nvPicPr>
          <p:cNvPr id="8" name="Image 0" descr="preencoded.png">    </p:cNvPr>
          <p:cNvPicPr>
            <a:picLocks noChangeAspect="1"/>
          </p:cNvPicPr>
          <p:nvPr/>
        </p:nvPicPr>
        <p:blipFill>
          <a:blip r:embed="rId2"/>
          <a:stretch>
            <a:fillRect/>
          </a:stretch>
        </p:blipFill>
        <p:spPr>
          <a:xfrm>
            <a:off x="7178040" y="2103120"/>
            <a:ext cx="640080" cy="640080"/>
          </a:xfrm>
          <a:prstGeom prst="rect">
            <a:avLst/>
          </a:prstGeom>
        </p:spPr>
      </p:pic>
      <p:sp>
        <p:nvSpPr>
          <p:cNvPr id="9" name="Shape 6"/>
          <p:cNvSpPr/>
          <p:nvPr/>
        </p:nvSpPr>
        <p:spPr>
          <a:xfrm>
            <a:off x="566928" y="406908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804672" y="4069080"/>
            <a:ext cx="118872" cy="118872"/>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042416" y="4069080"/>
            <a:ext cx="118872" cy="118872"/>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280160" y="4069080"/>
            <a:ext cx="118872" cy="118872"/>
          </a:xfrm>
          <a:prstGeom prst="ellipse">
            <a:avLst/>
          </a:prstGeom>
          <a:solidFill>
            <a:srgbClr val="F5C242"/>
          </a:solidFill>
          <a:ln w="12700">
            <a:solidFill>
              <a:srgbClr val="FFFFFF">
                <a:alpha val="0"/>
              </a:srgbClr>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CONNECTER LE NOTEBOOK</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Répondre à l'invite du notebook dans Colab</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D5DED9"/>
          </a:solidFill>
          <a:ln w="12700">
            <a:solidFill>
              <a:srgbClr val="D5DED9"/>
            </a:solidFill>
            <a:prstDash val="solid"/>
          </a:ln>
        </p:spPr>
      </p:sp>
      <p:sp>
        <p:nvSpPr>
          <p:cNvPr id="10" name="Shape 8"/>
          <p:cNvSpPr/>
          <p:nvPr/>
        </p:nvSpPr>
        <p:spPr>
          <a:xfrm>
            <a:off x="8522208" y="301752"/>
            <a:ext cx="100584" cy="100584"/>
          </a:xfrm>
          <a:prstGeom prst="ellipse">
            <a:avLst/>
          </a:prstGeom>
          <a:solidFill>
            <a:srgbClr val="D5DED9"/>
          </a:solidFill>
          <a:ln w="12700">
            <a:solidFill>
              <a:srgbClr val="D5DED9"/>
            </a:solidFill>
            <a:prstDash val="solid"/>
          </a:ln>
        </p:spPr>
      </p:sp>
      <p:sp>
        <p:nvSpPr>
          <p:cNvPr id="11" name="Shape 9"/>
          <p:cNvSpPr/>
          <p:nvPr/>
        </p:nvSpPr>
        <p:spPr>
          <a:xfrm>
            <a:off x="8705088" y="301752"/>
            <a:ext cx="100584" cy="100584"/>
          </a:xfrm>
          <a:prstGeom prst="ellipse">
            <a:avLst/>
          </a:prstGeom>
          <a:solidFill>
            <a:srgbClr val="D49A00"/>
          </a:solidFill>
          <a:ln w="12700">
            <a:solidFill>
              <a:srgbClr val="D49A00"/>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Préparer un projet Earth Engine · STG17 · Jour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pic>
        <p:nvPicPr>
          <p:cNvPr id="15" name="Image 0" descr="img/colab_annot_crop.png">    </p:cNvPr>
          <p:cNvPicPr>
            <a:picLocks noChangeAspect="1"/>
          </p:cNvPicPr>
          <p:nvPr/>
        </p:nvPicPr>
        <p:blipFill>
          <a:blip r:embed="rId1"/>
          <a:stretch>
            <a:fillRect/>
          </a:stretch>
        </p:blipFill>
        <p:spPr>
          <a:xfrm>
            <a:off x="457200" y="1261872"/>
            <a:ext cx="5257800" cy="2439619"/>
          </a:xfrm>
          <a:prstGeom prst="rect">
            <a:avLst/>
          </a:prstGeom>
        </p:spPr>
      </p:pic>
      <p:sp>
        <p:nvSpPr>
          <p:cNvPr id="16" name="Shape 12"/>
          <p:cNvSpPr/>
          <p:nvPr/>
        </p:nvSpPr>
        <p:spPr>
          <a:xfrm>
            <a:off x="457200" y="1261872"/>
            <a:ext cx="5257800" cy="2439619"/>
          </a:xfrm>
          <a:prstGeom prst="rect">
            <a:avLst/>
          </a:prstGeom>
          <a:solidFill>
            <a:srgbClr val="FFFFFF">
              <a:alpha val="0"/>
            </a:srgbClr>
          </a:solidFill>
          <a:ln w="9525">
            <a:solidFill>
              <a:srgbClr val="D5DED9"/>
            </a:solidFill>
            <a:prstDash val="solid"/>
          </a:ln>
        </p:spPr>
      </p:sp>
      <p:sp>
        <p:nvSpPr>
          <p:cNvPr id="17" name="Shape 13"/>
          <p:cNvSpPr/>
          <p:nvPr/>
        </p:nvSpPr>
        <p:spPr>
          <a:xfrm>
            <a:off x="5943600" y="1280160"/>
            <a:ext cx="292608" cy="292608"/>
          </a:xfrm>
          <a:prstGeom prst="ellipse">
            <a:avLst/>
          </a:prstGeom>
          <a:solidFill>
            <a:srgbClr val="00A86A"/>
          </a:solidFill>
          <a:ln w="19050">
            <a:solidFill>
              <a:srgbClr val="FFFFFF"/>
            </a:solidFill>
            <a:prstDash val="solid"/>
          </a:ln>
        </p:spPr>
      </p:sp>
      <p:sp>
        <p:nvSpPr>
          <p:cNvPr id="18" name="Text 14"/>
          <p:cNvSpPr txBox="1"/>
          <p:nvPr/>
        </p:nvSpPr>
        <p:spPr>
          <a:xfrm>
            <a:off x="5943600" y="128016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Calibri" pitchFamily="34" charset="0"/>
                <a:ea typeface="Calibri" pitchFamily="34" charset="-122"/>
                <a:cs typeface="Calibri" pitchFamily="34" charset="-120"/>
              </a:rPr>
              <a:t>1</a:t>
            </a:r>
            <a:endParaRPr lang="en-US" sz="1152" dirty="0"/>
          </a:p>
        </p:txBody>
      </p:sp>
      <p:sp>
        <p:nvSpPr>
          <p:cNvPr id="19" name="Text 15"/>
          <p:cNvSpPr txBox="1"/>
          <p:nvPr/>
        </p:nvSpPr>
        <p:spPr>
          <a:xfrm>
            <a:off x="6327648" y="1261872"/>
            <a:ext cx="2331720" cy="256032"/>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Le fournisseur « gee »</a:t>
            </a:r>
            <a:endParaRPr lang="en-US" sz="1250" dirty="0"/>
          </a:p>
        </p:txBody>
      </p:sp>
      <p:sp>
        <p:nvSpPr>
          <p:cNvPr id="20" name="Text 16"/>
          <p:cNvSpPr txBox="1"/>
          <p:nvPr/>
        </p:nvSpPr>
        <p:spPr>
          <a:xfrm>
            <a:off x="6327648" y="1517904"/>
            <a:ext cx="2331720" cy="6858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le notebook commence l'acquisition réelle de l'année 2015.</a:t>
            </a:r>
            <a:endParaRPr lang="en-US" sz="1000" dirty="0"/>
          </a:p>
        </p:txBody>
      </p:sp>
      <p:sp>
        <p:nvSpPr>
          <p:cNvPr id="21" name="Shape 17"/>
          <p:cNvSpPr/>
          <p:nvPr/>
        </p:nvSpPr>
        <p:spPr>
          <a:xfrm>
            <a:off x="5943600" y="2267712"/>
            <a:ext cx="292608" cy="292608"/>
          </a:xfrm>
          <a:prstGeom prst="ellipse">
            <a:avLst/>
          </a:prstGeom>
          <a:solidFill>
            <a:srgbClr val="00A86A"/>
          </a:solidFill>
          <a:ln w="19050">
            <a:solidFill>
              <a:srgbClr val="FFFFFF"/>
            </a:solidFill>
            <a:prstDash val="solid"/>
          </a:ln>
        </p:spPr>
      </p:sp>
      <p:sp>
        <p:nvSpPr>
          <p:cNvPr id="22" name="Text 18"/>
          <p:cNvSpPr txBox="1"/>
          <p:nvPr/>
        </p:nvSpPr>
        <p:spPr>
          <a:xfrm>
            <a:off x="5943600" y="226771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Calibri" pitchFamily="34" charset="0"/>
                <a:ea typeface="Calibri" pitchFamily="34" charset="-122"/>
                <a:cs typeface="Calibri" pitchFamily="34" charset="-120"/>
              </a:rPr>
              <a:t>2</a:t>
            </a:r>
            <a:endParaRPr lang="en-US" sz="1152" dirty="0"/>
          </a:p>
        </p:txBody>
      </p:sp>
      <p:sp>
        <p:nvSpPr>
          <p:cNvPr id="23" name="Text 19"/>
          <p:cNvSpPr txBox="1"/>
          <p:nvPr/>
        </p:nvSpPr>
        <p:spPr>
          <a:xfrm>
            <a:off x="6327648" y="2249424"/>
            <a:ext cx="2331720" cy="256032"/>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Le cadre de saisie</a:t>
            </a:r>
            <a:endParaRPr lang="en-US" sz="1250" dirty="0"/>
          </a:p>
        </p:txBody>
      </p:sp>
      <p:sp>
        <p:nvSpPr>
          <p:cNvPr id="24" name="Text 20"/>
          <p:cNvSpPr txBox="1"/>
          <p:nvPr/>
        </p:nvSpPr>
        <p:spPr>
          <a:xfrm>
            <a:off x="6327648" y="2505456"/>
            <a:ext cx="2331720" cy="6858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tapez l'identifiant — sans guillemets ni espaces — puis Entrée.</a:t>
            </a:r>
            <a:endParaRPr lang="en-US" sz="1000" dirty="0"/>
          </a:p>
        </p:txBody>
      </p:sp>
      <p:sp>
        <p:nvSpPr>
          <p:cNvPr id="25" name="Shape 21"/>
          <p:cNvSpPr/>
          <p:nvPr/>
        </p:nvSpPr>
        <p:spPr>
          <a:xfrm>
            <a:off x="5943600" y="3255264"/>
            <a:ext cx="292608" cy="292608"/>
          </a:xfrm>
          <a:prstGeom prst="ellipse">
            <a:avLst/>
          </a:prstGeom>
          <a:solidFill>
            <a:srgbClr val="B83B2E"/>
          </a:solidFill>
          <a:ln w="19050">
            <a:solidFill>
              <a:srgbClr val="FFFFFF"/>
            </a:solidFill>
            <a:prstDash val="solid"/>
          </a:ln>
        </p:spPr>
      </p:sp>
      <p:sp>
        <p:nvSpPr>
          <p:cNvPr id="26" name="Text 22"/>
          <p:cNvSpPr txBox="1"/>
          <p:nvPr/>
        </p:nvSpPr>
        <p:spPr>
          <a:xfrm>
            <a:off x="5943600" y="325526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Calibri" pitchFamily="34" charset="0"/>
                <a:ea typeface="Calibri" pitchFamily="34" charset="-122"/>
                <a:cs typeface="Calibri" pitchFamily="34" charset="-120"/>
              </a:rPr>
              <a:t>3</a:t>
            </a:r>
            <a:endParaRPr lang="en-US" sz="1152" dirty="0"/>
          </a:p>
        </p:txBody>
      </p:sp>
      <p:sp>
        <p:nvSpPr>
          <p:cNvPr id="27" name="Text 23"/>
          <p:cNvSpPr txBox="1"/>
          <p:nvPr/>
        </p:nvSpPr>
        <p:spPr>
          <a:xfrm>
            <a:off x="6327648" y="3236976"/>
            <a:ext cx="2331720" cy="256032"/>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Échec d'enregistrement</a:t>
            </a:r>
            <a:endParaRPr lang="en-US" sz="1250" dirty="0"/>
          </a:p>
        </p:txBody>
      </p:sp>
      <p:sp>
        <p:nvSpPr>
          <p:cNvPr id="28" name="Text 24"/>
          <p:cNvSpPr txBox="1"/>
          <p:nvPr/>
        </p:nvSpPr>
        <p:spPr>
          <a:xfrm>
            <a:off x="6327648" y="3493008"/>
            <a:ext cx="2331720" cy="6858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le fichier n'est plus sauvegardé. Fermez les autres onglets, puis Fichier ▸ Enregistrer une copie dans Drive.</a:t>
            </a:r>
            <a:endParaRPr lang="en-US" sz="1000" dirty="0"/>
          </a:p>
        </p:txBody>
      </p:sp>
      <p:sp>
        <p:nvSpPr>
          <p:cNvPr id="29" name="Shape 25"/>
          <p:cNvSpPr/>
          <p:nvPr/>
        </p:nvSpPr>
        <p:spPr>
          <a:xfrm>
            <a:off x="5943600" y="4224528"/>
            <a:ext cx="2697480" cy="310896"/>
          </a:xfrm>
          <a:prstGeom prst="roundRect">
            <a:avLst>
              <a:gd name="adj" fmla="val 17647"/>
            </a:avLst>
          </a:prstGeom>
          <a:solidFill>
            <a:srgbClr val="E8F5EF"/>
          </a:solidFill>
          <a:ln w="12700">
            <a:solidFill>
              <a:srgbClr val="00A86A"/>
            </a:solidFill>
            <a:prstDash val="solid"/>
          </a:ln>
        </p:spPr>
      </p:sp>
      <p:sp>
        <p:nvSpPr>
          <p:cNvPr id="30" name="Text 26"/>
          <p:cNvSpPr txBox="1"/>
          <p:nvPr/>
        </p:nvSpPr>
        <p:spPr>
          <a:xfrm>
            <a:off x="6035040" y="4224528"/>
            <a:ext cx="2560320" cy="310896"/>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Saisir : </a:t>
            </a:r>
            <a:pPr indent="0" marL="0">
              <a:buNone/>
            </a:pPr>
            <a:r>
              <a:rPr lang="en-US" sz="1050" b="1" dirty="0">
                <a:solidFill>
                  <a:srgbClr val="00A86A"/>
                </a:solidFill>
                <a:latin typeface="Courier New" pitchFamily="34" charset="0"/>
                <a:ea typeface="Courier New" pitchFamily="34" charset="-122"/>
                <a:cs typeface="Courier New" pitchFamily="34" charset="-120"/>
              </a:rPr>
              <a:t>ai-horizon-491909 ↵</a:t>
            </a:r>
            <a:endParaRPr lang="en-US" sz="1050" dirty="0"/>
          </a:p>
        </p:txBody>
      </p:sp>
      <p:sp>
        <p:nvSpPr>
          <p:cNvPr id="31" name="Text 27"/>
          <p:cNvSpPr txBox="1"/>
          <p:nvPr/>
        </p:nvSpPr>
        <p:spPr>
          <a:xfrm>
            <a:off x="457200" y="3886200"/>
            <a:ext cx="1828800" cy="182880"/>
          </a:xfrm>
          <a:prstGeom prst="rect">
            <a:avLst/>
          </a:prstGeom>
          <a:noFill/>
          <a:ln/>
        </p:spPr>
        <p:txBody>
          <a:bodyPr wrap="square" lIns="0" tIns="0" rIns="0" bIns="0" rtlCol="0" anchor="ctr"/>
          <a:lstStyle/>
          <a:p>
            <a:pPr indent="0" marL="0">
              <a:buNone/>
            </a:pPr>
            <a:r>
              <a:rPr lang="en-US" sz="850" b="1" spc="200" kern="0" dirty="0">
                <a:solidFill>
                  <a:srgbClr val="00704A"/>
                </a:solidFill>
                <a:latin typeface="Calibri" pitchFamily="34" charset="0"/>
                <a:ea typeface="Calibri" pitchFamily="34" charset="-122"/>
                <a:cs typeface="Calibri" pitchFamily="34" charset="-120"/>
              </a:rPr>
              <a:t>AGRANDI</a:t>
            </a:r>
            <a:endParaRPr lang="en-US" sz="850" dirty="0"/>
          </a:p>
        </p:txBody>
      </p:sp>
      <p:pic>
        <p:nvPicPr>
          <p:cNvPr id="32" name="Image 1" descr="img/zoom_prompt.png">    </p:cNvPr>
          <p:cNvPicPr>
            <a:picLocks noChangeAspect="1"/>
          </p:cNvPicPr>
          <p:nvPr/>
        </p:nvPicPr>
        <p:blipFill>
          <a:blip r:embed="rId2"/>
          <a:stretch>
            <a:fillRect/>
          </a:stretch>
        </p:blipFill>
        <p:spPr>
          <a:xfrm>
            <a:off x="457200" y="4087368"/>
            <a:ext cx="5257800" cy="371764"/>
          </a:xfrm>
          <a:prstGeom prst="rect">
            <a:avLst/>
          </a:prstGeom>
        </p:spPr>
      </p:pic>
      <p:sp>
        <p:nvSpPr>
          <p:cNvPr id="33" name="Text 28"/>
          <p:cNvSpPr txBox="1"/>
          <p:nvPr/>
        </p:nvSpPr>
        <p:spPr>
          <a:xfrm>
            <a:off x="457200" y="4590288"/>
            <a:ext cx="525780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Capture réelle · Google Colab, cellule 4.2 du notebook NTL_Africa_STG17 (recadrée).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CONNECTER LE NOTEBOOK</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Autoriser l'accès : ce qui s'affiche ensuite</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D5DED9"/>
          </a:solidFill>
          <a:ln w="12700">
            <a:solidFill>
              <a:srgbClr val="D5DED9"/>
            </a:solidFill>
            <a:prstDash val="solid"/>
          </a:ln>
        </p:spPr>
      </p:sp>
      <p:sp>
        <p:nvSpPr>
          <p:cNvPr id="10" name="Shape 8"/>
          <p:cNvSpPr/>
          <p:nvPr/>
        </p:nvSpPr>
        <p:spPr>
          <a:xfrm>
            <a:off x="8522208" y="301752"/>
            <a:ext cx="100584" cy="100584"/>
          </a:xfrm>
          <a:prstGeom prst="ellipse">
            <a:avLst/>
          </a:prstGeom>
          <a:solidFill>
            <a:srgbClr val="D5DED9"/>
          </a:solidFill>
          <a:ln w="12700">
            <a:solidFill>
              <a:srgbClr val="D5DED9"/>
            </a:solidFill>
            <a:prstDash val="solid"/>
          </a:ln>
        </p:spPr>
      </p:sp>
      <p:sp>
        <p:nvSpPr>
          <p:cNvPr id="11" name="Shape 9"/>
          <p:cNvSpPr/>
          <p:nvPr/>
        </p:nvSpPr>
        <p:spPr>
          <a:xfrm>
            <a:off x="8705088" y="301752"/>
            <a:ext cx="100584" cy="100584"/>
          </a:xfrm>
          <a:prstGeom prst="ellipse">
            <a:avLst/>
          </a:prstGeom>
          <a:solidFill>
            <a:srgbClr val="D49A00"/>
          </a:solidFill>
          <a:ln w="12700">
            <a:solidFill>
              <a:srgbClr val="D49A00"/>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Préparer un projet Earth Engine · STG17 · Jour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5" name="Shape 12"/>
          <p:cNvSpPr/>
          <p:nvPr/>
        </p:nvSpPr>
        <p:spPr>
          <a:xfrm>
            <a:off x="457200" y="1325880"/>
            <a:ext cx="1874520" cy="1737360"/>
          </a:xfrm>
          <a:prstGeom prst="roundRect">
            <a:avLst>
              <a:gd name="adj" fmla="val 4211"/>
            </a:avLst>
          </a:prstGeom>
          <a:solidFill>
            <a:srgbClr val="F4F7F5"/>
          </a:solidFill>
          <a:ln w="15875">
            <a:solidFill>
              <a:srgbClr val="0E7C86"/>
            </a:solidFill>
            <a:prstDash val="solid"/>
          </a:ln>
        </p:spPr>
      </p:sp>
      <p:sp>
        <p:nvSpPr>
          <p:cNvPr id="16" name="Shape 13"/>
          <p:cNvSpPr/>
          <p:nvPr/>
        </p:nvSpPr>
        <p:spPr>
          <a:xfrm>
            <a:off x="621792" y="1463040"/>
            <a:ext cx="329184" cy="329184"/>
          </a:xfrm>
          <a:prstGeom prst="ellipse">
            <a:avLst/>
          </a:prstGeom>
          <a:solidFill>
            <a:srgbClr val="0E7C86"/>
          </a:solidFill>
          <a:ln w="19050">
            <a:solidFill>
              <a:srgbClr val="FFFFFF"/>
            </a:solidFill>
            <a:prstDash val="solid"/>
          </a:ln>
        </p:spPr>
      </p:sp>
      <p:sp>
        <p:nvSpPr>
          <p:cNvPr id="17" name="Text 14"/>
          <p:cNvSpPr txBox="1"/>
          <p:nvPr/>
        </p:nvSpPr>
        <p:spPr>
          <a:xfrm>
            <a:off x="621792" y="1463040"/>
            <a:ext cx="329184" cy="329184"/>
          </a:xfrm>
          <a:prstGeom prst="rect">
            <a:avLst/>
          </a:prstGeom>
          <a:noFill/>
          <a:ln/>
        </p:spPr>
        <p:txBody>
          <a:bodyPr wrap="square" lIns="0" tIns="0" rIns="0" bIns="0" rtlCol="0" anchor="ctr"/>
          <a:lstStyle/>
          <a:p>
            <a:pPr algn="ctr" indent="0" marL="0">
              <a:buNone/>
            </a:pPr>
            <a:r>
              <a:rPr lang="en-US" sz="1296" b="1" dirty="0">
                <a:solidFill>
                  <a:srgbClr val="FFFFFF"/>
                </a:solidFill>
                <a:latin typeface="Calibri" pitchFamily="34" charset="0"/>
                <a:ea typeface="Calibri" pitchFamily="34" charset="-122"/>
                <a:cs typeface="Calibri" pitchFamily="34" charset="-120"/>
              </a:rPr>
              <a:t>1</a:t>
            </a:r>
            <a:endParaRPr lang="en-US" sz="1296" dirty="0"/>
          </a:p>
        </p:txBody>
      </p:sp>
      <p:sp>
        <p:nvSpPr>
          <p:cNvPr id="18" name="Text 15"/>
          <p:cNvSpPr txBox="1"/>
          <p:nvPr/>
        </p:nvSpPr>
        <p:spPr>
          <a:xfrm>
            <a:off x="621792" y="1901952"/>
            <a:ext cx="1600200" cy="45720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Fenêtre d'autorisation</a:t>
            </a:r>
            <a:endParaRPr lang="en-US" sz="1300" dirty="0"/>
          </a:p>
        </p:txBody>
      </p:sp>
      <p:sp>
        <p:nvSpPr>
          <p:cNvPr id="19" name="Text 16"/>
          <p:cNvSpPr txBox="1"/>
          <p:nvPr/>
        </p:nvSpPr>
        <p:spPr>
          <a:xfrm>
            <a:off x="621792" y="2377440"/>
            <a:ext cx="1600200" cy="6400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Colab demande à accéder à vos identifiants Google.</a:t>
            </a:r>
            <a:endParaRPr lang="en-US" sz="1050" dirty="0"/>
          </a:p>
        </p:txBody>
      </p:sp>
      <p:sp>
        <p:nvSpPr>
          <p:cNvPr id="20" name="Shape 17"/>
          <p:cNvSpPr/>
          <p:nvPr/>
        </p:nvSpPr>
        <p:spPr>
          <a:xfrm>
            <a:off x="2350008" y="2194560"/>
            <a:ext cx="173736" cy="0"/>
          </a:xfrm>
          <a:prstGeom prst="line">
            <a:avLst/>
          </a:prstGeom>
          <a:noFill/>
          <a:ln w="15875">
            <a:solidFill>
              <a:srgbClr val="5E6964"/>
            </a:solidFill>
            <a:prstDash val="solid"/>
            <a:tailEnd type="triangle"/>
          </a:ln>
        </p:spPr>
      </p:sp>
      <p:sp>
        <p:nvSpPr>
          <p:cNvPr id="21" name="Shape 18"/>
          <p:cNvSpPr/>
          <p:nvPr/>
        </p:nvSpPr>
        <p:spPr>
          <a:xfrm>
            <a:off x="2542032" y="1325880"/>
            <a:ext cx="1874520" cy="1737360"/>
          </a:xfrm>
          <a:prstGeom prst="roundRect">
            <a:avLst>
              <a:gd name="adj" fmla="val 4211"/>
            </a:avLst>
          </a:prstGeom>
          <a:solidFill>
            <a:srgbClr val="F4F7F5"/>
          </a:solidFill>
          <a:ln w="15875">
            <a:solidFill>
              <a:srgbClr val="D49A00"/>
            </a:solidFill>
            <a:prstDash val="solid"/>
          </a:ln>
        </p:spPr>
      </p:sp>
      <p:sp>
        <p:nvSpPr>
          <p:cNvPr id="22" name="Shape 19"/>
          <p:cNvSpPr/>
          <p:nvPr/>
        </p:nvSpPr>
        <p:spPr>
          <a:xfrm>
            <a:off x="2706624" y="1463040"/>
            <a:ext cx="329184" cy="329184"/>
          </a:xfrm>
          <a:prstGeom prst="ellipse">
            <a:avLst/>
          </a:prstGeom>
          <a:solidFill>
            <a:srgbClr val="D49A00"/>
          </a:solidFill>
          <a:ln w="19050">
            <a:solidFill>
              <a:srgbClr val="FFFFFF"/>
            </a:solidFill>
            <a:prstDash val="solid"/>
          </a:ln>
        </p:spPr>
      </p:sp>
      <p:sp>
        <p:nvSpPr>
          <p:cNvPr id="23" name="Text 20"/>
          <p:cNvSpPr txBox="1"/>
          <p:nvPr/>
        </p:nvSpPr>
        <p:spPr>
          <a:xfrm>
            <a:off x="2706624" y="1463040"/>
            <a:ext cx="329184" cy="329184"/>
          </a:xfrm>
          <a:prstGeom prst="rect">
            <a:avLst/>
          </a:prstGeom>
          <a:noFill/>
          <a:ln/>
        </p:spPr>
        <p:txBody>
          <a:bodyPr wrap="square" lIns="0" tIns="0" rIns="0" bIns="0" rtlCol="0" anchor="ctr"/>
          <a:lstStyle/>
          <a:p>
            <a:pPr algn="ctr" indent="0" marL="0">
              <a:buNone/>
            </a:pPr>
            <a:r>
              <a:rPr lang="en-US" sz="1296" b="1" dirty="0">
                <a:solidFill>
                  <a:srgbClr val="FFFFFF"/>
                </a:solidFill>
                <a:latin typeface="Calibri" pitchFamily="34" charset="0"/>
                <a:ea typeface="Calibri" pitchFamily="34" charset="-122"/>
                <a:cs typeface="Calibri" pitchFamily="34" charset="-120"/>
              </a:rPr>
              <a:t>2</a:t>
            </a:r>
            <a:endParaRPr lang="en-US" sz="1296" dirty="0"/>
          </a:p>
        </p:txBody>
      </p:sp>
      <p:sp>
        <p:nvSpPr>
          <p:cNvPr id="24" name="Text 21"/>
          <p:cNvSpPr txBox="1"/>
          <p:nvPr/>
        </p:nvSpPr>
        <p:spPr>
          <a:xfrm>
            <a:off x="2706624" y="1901952"/>
            <a:ext cx="1600200" cy="45720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Choisir le compte</a:t>
            </a:r>
            <a:endParaRPr lang="en-US" sz="1300" dirty="0"/>
          </a:p>
        </p:txBody>
      </p:sp>
      <p:sp>
        <p:nvSpPr>
          <p:cNvPr id="25" name="Text 22"/>
          <p:cNvSpPr txBox="1"/>
          <p:nvPr/>
        </p:nvSpPr>
        <p:spPr>
          <a:xfrm>
            <a:off x="2706624" y="2377440"/>
            <a:ext cx="1600200" cy="6400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Le même que celui qui possède le projet.</a:t>
            </a:r>
            <a:endParaRPr lang="en-US" sz="1050" dirty="0"/>
          </a:p>
        </p:txBody>
      </p:sp>
      <p:sp>
        <p:nvSpPr>
          <p:cNvPr id="26" name="Shape 23"/>
          <p:cNvSpPr/>
          <p:nvPr/>
        </p:nvSpPr>
        <p:spPr>
          <a:xfrm>
            <a:off x="4434840" y="2194560"/>
            <a:ext cx="173736" cy="0"/>
          </a:xfrm>
          <a:prstGeom prst="line">
            <a:avLst/>
          </a:prstGeom>
          <a:noFill/>
          <a:ln w="15875">
            <a:solidFill>
              <a:srgbClr val="5E6964"/>
            </a:solidFill>
            <a:prstDash val="solid"/>
            <a:tailEnd type="triangle"/>
          </a:ln>
        </p:spPr>
      </p:sp>
      <p:sp>
        <p:nvSpPr>
          <p:cNvPr id="27" name="Shape 24"/>
          <p:cNvSpPr/>
          <p:nvPr/>
        </p:nvSpPr>
        <p:spPr>
          <a:xfrm>
            <a:off x="4626864" y="1325880"/>
            <a:ext cx="1874520" cy="1737360"/>
          </a:xfrm>
          <a:prstGeom prst="roundRect">
            <a:avLst>
              <a:gd name="adj" fmla="val 4211"/>
            </a:avLst>
          </a:prstGeom>
          <a:solidFill>
            <a:srgbClr val="F4F7F5"/>
          </a:solidFill>
          <a:ln w="15875">
            <a:solidFill>
              <a:srgbClr val="00704A"/>
            </a:solidFill>
            <a:prstDash val="solid"/>
          </a:ln>
        </p:spPr>
      </p:sp>
      <p:sp>
        <p:nvSpPr>
          <p:cNvPr id="28" name="Shape 25"/>
          <p:cNvSpPr/>
          <p:nvPr/>
        </p:nvSpPr>
        <p:spPr>
          <a:xfrm>
            <a:off x="4791456" y="1463040"/>
            <a:ext cx="329184" cy="329184"/>
          </a:xfrm>
          <a:prstGeom prst="ellipse">
            <a:avLst/>
          </a:prstGeom>
          <a:solidFill>
            <a:srgbClr val="00704A"/>
          </a:solidFill>
          <a:ln w="19050">
            <a:solidFill>
              <a:srgbClr val="FFFFFF"/>
            </a:solidFill>
            <a:prstDash val="solid"/>
          </a:ln>
        </p:spPr>
      </p:sp>
      <p:sp>
        <p:nvSpPr>
          <p:cNvPr id="29" name="Text 26"/>
          <p:cNvSpPr txBox="1"/>
          <p:nvPr/>
        </p:nvSpPr>
        <p:spPr>
          <a:xfrm>
            <a:off x="4791456" y="1463040"/>
            <a:ext cx="329184" cy="329184"/>
          </a:xfrm>
          <a:prstGeom prst="rect">
            <a:avLst/>
          </a:prstGeom>
          <a:noFill/>
          <a:ln/>
        </p:spPr>
        <p:txBody>
          <a:bodyPr wrap="square" lIns="0" tIns="0" rIns="0" bIns="0" rtlCol="0" anchor="ctr"/>
          <a:lstStyle/>
          <a:p>
            <a:pPr algn="ctr" indent="0" marL="0">
              <a:buNone/>
            </a:pPr>
            <a:r>
              <a:rPr lang="en-US" sz="1296" b="1" dirty="0">
                <a:solidFill>
                  <a:srgbClr val="FFFFFF"/>
                </a:solidFill>
                <a:latin typeface="Calibri" pitchFamily="34" charset="0"/>
                <a:ea typeface="Calibri" pitchFamily="34" charset="-122"/>
                <a:cs typeface="Calibri" pitchFamily="34" charset="-120"/>
              </a:rPr>
              <a:t>3</a:t>
            </a:r>
            <a:endParaRPr lang="en-US" sz="1296" dirty="0"/>
          </a:p>
        </p:txBody>
      </p:sp>
      <p:sp>
        <p:nvSpPr>
          <p:cNvPr id="30" name="Text 27"/>
          <p:cNvSpPr txBox="1"/>
          <p:nvPr/>
        </p:nvSpPr>
        <p:spPr>
          <a:xfrm>
            <a:off x="4791456" y="1901952"/>
            <a:ext cx="1600200" cy="45720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Accepter</a:t>
            </a:r>
            <a:endParaRPr lang="en-US" sz="1300" dirty="0"/>
          </a:p>
        </p:txBody>
      </p:sp>
      <p:sp>
        <p:nvSpPr>
          <p:cNvPr id="31" name="Text 28"/>
          <p:cNvSpPr txBox="1"/>
          <p:nvPr/>
        </p:nvSpPr>
        <p:spPr>
          <a:xfrm>
            <a:off x="4791456" y="2377440"/>
            <a:ext cx="1600200" cy="6400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Confirmer les autorisations demandées.</a:t>
            </a:r>
            <a:endParaRPr lang="en-US" sz="1050" dirty="0"/>
          </a:p>
        </p:txBody>
      </p:sp>
      <p:sp>
        <p:nvSpPr>
          <p:cNvPr id="32" name="Shape 29"/>
          <p:cNvSpPr/>
          <p:nvPr/>
        </p:nvSpPr>
        <p:spPr>
          <a:xfrm>
            <a:off x="6519672" y="2194560"/>
            <a:ext cx="173736" cy="0"/>
          </a:xfrm>
          <a:prstGeom prst="line">
            <a:avLst/>
          </a:prstGeom>
          <a:noFill/>
          <a:ln w="15875">
            <a:solidFill>
              <a:srgbClr val="5E6964"/>
            </a:solidFill>
            <a:prstDash val="solid"/>
            <a:tailEnd type="triangle"/>
          </a:ln>
        </p:spPr>
      </p:sp>
      <p:sp>
        <p:nvSpPr>
          <p:cNvPr id="33" name="Shape 30"/>
          <p:cNvSpPr/>
          <p:nvPr/>
        </p:nvSpPr>
        <p:spPr>
          <a:xfrm>
            <a:off x="6711696" y="1325880"/>
            <a:ext cx="1874520" cy="1737360"/>
          </a:xfrm>
          <a:prstGeom prst="roundRect">
            <a:avLst>
              <a:gd name="adj" fmla="val 4211"/>
            </a:avLst>
          </a:prstGeom>
          <a:solidFill>
            <a:srgbClr val="E8F5EF"/>
          </a:solidFill>
          <a:ln w="15875">
            <a:solidFill>
              <a:srgbClr val="00A86A"/>
            </a:solidFill>
            <a:prstDash val="solid"/>
          </a:ln>
        </p:spPr>
      </p:sp>
      <p:sp>
        <p:nvSpPr>
          <p:cNvPr id="34" name="Shape 31"/>
          <p:cNvSpPr/>
          <p:nvPr/>
        </p:nvSpPr>
        <p:spPr>
          <a:xfrm>
            <a:off x="6876288" y="1463040"/>
            <a:ext cx="329184" cy="329184"/>
          </a:xfrm>
          <a:prstGeom prst="ellipse">
            <a:avLst/>
          </a:prstGeom>
          <a:solidFill>
            <a:srgbClr val="00A86A"/>
          </a:solidFill>
          <a:ln w="19050">
            <a:solidFill>
              <a:srgbClr val="FFFFFF"/>
            </a:solidFill>
            <a:prstDash val="solid"/>
          </a:ln>
        </p:spPr>
      </p:sp>
      <p:sp>
        <p:nvSpPr>
          <p:cNvPr id="35" name="Text 32"/>
          <p:cNvSpPr txBox="1"/>
          <p:nvPr/>
        </p:nvSpPr>
        <p:spPr>
          <a:xfrm>
            <a:off x="6876288" y="1463040"/>
            <a:ext cx="329184" cy="329184"/>
          </a:xfrm>
          <a:prstGeom prst="rect">
            <a:avLst/>
          </a:prstGeom>
          <a:noFill/>
          <a:ln/>
        </p:spPr>
        <p:txBody>
          <a:bodyPr wrap="square" lIns="0" tIns="0" rIns="0" bIns="0" rtlCol="0" anchor="ctr"/>
          <a:lstStyle/>
          <a:p>
            <a:pPr algn="ctr" indent="0" marL="0">
              <a:buNone/>
            </a:pPr>
            <a:r>
              <a:rPr lang="en-US" sz="1296" b="1" dirty="0">
                <a:solidFill>
                  <a:srgbClr val="FFFFFF"/>
                </a:solidFill>
                <a:latin typeface="Calibri" pitchFamily="34" charset="0"/>
                <a:ea typeface="Calibri" pitchFamily="34" charset="-122"/>
                <a:cs typeface="Calibri" pitchFamily="34" charset="-120"/>
              </a:rPr>
              <a:t>4</a:t>
            </a:r>
            <a:endParaRPr lang="en-US" sz="1296" dirty="0"/>
          </a:p>
        </p:txBody>
      </p:sp>
      <p:sp>
        <p:nvSpPr>
          <p:cNvPr id="36" name="Text 33"/>
          <p:cNvSpPr txBox="1"/>
          <p:nvPr/>
        </p:nvSpPr>
        <p:spPr>
          <a:xfrm>
            <a:off x="6876288" y="1901952"/>
            <a:ext cx="1600200" cy="45720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Retour au notebook</a:t>
            </a:r>
            <a:endParaRPr lang="en-US" sz="1300" dirty="0"/>
          </a:p>
        </p:txBody>
      </p:sp>
      <p:sp>
        <p:nvSpPr>
          <p:cNvPr id="37" name="Text 34"/>
          <p:cNvSpPr txBox="1"/>
          <p:nvPr/>
        </p:nvSpPr>
        <p:spPr>
          <a:xfrm>
            <a:off x="6876288" y="2377440"/>
            <a:ext cx="1600200" cy="6400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 Earth Engine initialisé », puis l'acquisition continue.</a:t>
            </a:r>
            <a:endParaRPr lang="en-US" sz="1050" dirty="0"/>
          </a:p>
        </p:txBody>
      </p:sp>
      <p:sp>
        <p:nvSpPr>
          <p:cNvPr id="38" name="Shape 35"/>
          <p:cNvSpPr/>
          <p:nvPr/>
        </p:nvSpPr>
        <p:spPr>
          <a:xfrm>
            <a:off x="457200" y="3246120"/>
            <a:ext cx="3977640" cy="1188720"/>
          </a:xfrm>
          <a:prstGeom prst="roundRect">
            <a:avLst>
              <a:gd name="adj" fmla="val 6154"/>
            </a:avLst>
          </a:prstGeom>
          <a:solidFill>
            <a:srgbClr val="1E2A25"/>
          </a:solidFill>
          <a:ln w="9525">
            <a:solidFill>
              <a:srgbClr val="1E2A25"/>
            </a:solidFill>
            <a:prstDash val="solid"/>
          </a:ln>
        </p:spPr>
      </p:sp>
      <p:sp>
        <p:nvSpPr>
          <p:cNvPr id="39" name="Text 36"/>
          <p:cNvSpPr txBox="1"/>
          <p:nvPr/>
        </p:nvSpPr>
        <p:spPr>
          <a:xfrm>
            <a:off x="621792" y="3310128"/>
            <a:ext cx="3749040" cy="1060704"/>
          </a:xfrm>
          <a:prstGeom prst="rect">
            <a:avLst/>
          </a:prstGeom>
          <a:noFill/>
          <a:ln/>
        </p:spPr>
        <p:txBody>
          <a:bodyPr wrap="square" lIns="0" tIns="0" rIns="0" bIns="0" rtlCol="0" anchor="ctr"/>
          <a:lstStyle/>
          <a:p>
            <a:pPr indent="0" marL="0">
              <a:buNone/>
            </a:pPr>
            <a:r>
              <a:rPr lang="en-US" sz="950" dirty="0">
                <a:solidFill>
                  <a:srgbClr val="D5DED9"/>
                </a:solidFill>
                <a:latin typeface="Courier New" pitchFamily="34" charset="0"/>
                <a:ea typeface="Courier New" pitchFamily="34" charset="-122"/>
                <a:cs typeface="Courier New" pitchFamily="34" charset="-120"/>
              </a:rPr>
              <a:t>▶ NTL 2015 : fournisseur = gee</a:t>
            </a:r>
            <a:endParaRPr lang="en-US" sz="950" dirty="0"/>
          </a:p>
          <a:p>
            <a:pPr indent="0" marL="0">
              <a:buNone/>
            </a:pPr>
            <a:r>
              <a:rPr lang="en-US" sz="950" dirty="0">
                <a:solidFill>
                  <a:srgbClr val="D5DED9"/>
                </a:solidFill>
                <a:latin typeface="Courier New" pitchFamily="34" charset="0"/>
                <a:ea typeface="Courier New" pitchFamily="34" charset="-122"/>
                <a:cs typeface="Courier New" pitchFamily="34" charset="-120"/>
              </a:rPr>
              <a:t>Identifiant … : ai-horizon-491909</a:t>
            </a:r>
            <a:endParaRPr lang="en-US" sz="950" dirty="0"/>
          </a:p>
          <a:p>
            <a:pPr indent="0" marL="0">
              <a:buNone/>
            </a:pPr>
            <a:r>
              <a:rPr lang="en-US" sz="950" dirty="0">
                <a:solidFill>
                  <a:srgbClr val="F5C242"/>
                </a:solidFill>
                <a:latin typeface="Courier New" pitchFamily="34" charset="0"/>
                <a:ea typeface="Courier New" pitchFamily="34" charset="-122"/>
                <a:cs typeface="Courier New" pitchFamily="34" charset="-120"/>
              </a:rPr>
              <a:t>! Authentification Earth Engine requise…</a:t>
            </a:r>
            <a:endParaRPr lang="en-US" sz="950" dirty="0"/>
          </a:p>
          <a:p>
            <a:pPr indent="0" marL="0">
              <a:buNone/>
            </a:pPr>
            <a:r>
              <a:rPr lang="en-US" sz="950" dirty="0">
                <a:solidFill>
                  <a:srgbClr val="5CE6A8"/>
                </a:solidFill>
                <a:latin typeface="Courier New" pitchFamily="34" charset="0"/>
                <a:ea typeface="Courier New" pitchFamily="34" charset="-122"/>
                <a:cs typeface="Courier New" pitchFamily="34" charset="-120"/>
              </a:rPr>
              <a:t>✓ Earth Engine initialisé</a:t>
            </a:r>
            <a:endParaRPr lang="en-US" sz="950" dirty="0"/>
          </a:p>
        </p:txBody>
      </p:sp>
      <p:sp>
        <p:nvSpPr>
          <p:cNvPr id="40" name="Text 37"/>
          <p:cNvSpPr txBox="1"/>
          <p:nvPr/>
        </p:nvSpPr>
        <p:spPr>
          <a:xfrm>
            <a:off x="4663440" y="3246120"/>
            <a:ext cx="3931920" cy="237744"/>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Rien ne s'ouvre ?</a:t>
            </a:r>
            <a:endParaRPr lang="en-US" sz="1200" dirty="0"/>
          </a:p>
        </p:txBody>
      </p:sp>
      <p:sp>
        <p:nvSpPr>
          <p:cNvPr id="41" name="Text 38"/>
          <p:cNvSpPr txBox="1"/>
          <p:nvPr/>
        </p:nvSpPr>
        <p:spPr>
          <a:xfrm>
            <a:off x="4663440" y="3483864"/>
            <a:ext cx="3931920" cy="34747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Autorisez les fenêtres pop-up pour colab.research.google.com, puis relancez la cellule.</a:t>
            </a:r>
            <a:endParaRPr lang="en-US" sz="1050" dirty="0"/>
          </a:p>
        </p:txBody>
      </p:sp>
      <p:sp>
        <p:nvSpPr>
          <p:cNvPr id="42" name="Text 39"/>
          <p:cNvSpPr txBox="1"/>
          <p:nvPr/>
        </p:nvSpPr>
        <p:spPr>
          <a:xfrm>
            <a:off x="4663440" y="3858768"/>
            <a:ext cx="3931920" cy="237744"/>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Mauvais compte choisi ?</a:t>
            </a:r>
            <a:endParaRPr lang="en-US" sz="1200" dirty="0"/>
          </a:p>
        </p:txBody>
      </p:sp>
      <p:sp>
        <p:nvSpPr>
          <p:cNvPr id="43" name="Text 40"/>
          <p:cNvSpPr txBox="1"/>
          <p:nvPr/>
        </p:nvSpPr>
        <p:spPr>
          <a:xfrm>
            <a:off x="4663440" y="4096512"/>
            <a:ext cx="3931920" cy="34747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Exécutez ee.Authenticate(force=True) puis relancez la cellule.</a:t>
            </a:r>
            <a:endParaRPr lang="en-US" sz="1050" dirty="0"/>
          </a:p>
        </p:txBody>
      </p:sp>
      <p:sp>
        <p:nvSpPr>
          <p:cNvPr id="44" name="Text 41"/>
          <p:cNvSpPr txBox="1"/>
          <p:nvPr/>
        </p:nvSpPr>
        <p:spPr>
          <a:xfrm>
            <a:off x="457200" y="4590288"/>
            <a:ext cx="78638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Sortie attendue dans le notebook (reconstituée). Source : Authentication and Initialization, mode « colab ».</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CONNECTER LE NOTEBOOK</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Le test des 30 secondes, avant « Tout exécuter »</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D5DED9"/>
          </a:solidFill>
          <a:ln w="12700">
            <a:solidFill>
              <a:srgbClr val="D5DED9"/>
            </a:solidFill>
            <a:prstDash val="solid"/>
          </a:ln>
        </p:spPr>
      </p:sp>
      <p:sp>
        <p:nvSpPr>
          <p:cNvPr id="10" name="Shape 8"/>
          <p:cNvSpPr/>
          <p:nvPr/>
        </p:nvSpPr>
        <p:spPr>
          <a:xfrm>
            <a:off x="8522208" y="301752"/>
            <a:ext cx="100584" cy="100584"/>
          </a:xfrm>
          <a:prstGeom prst="ellipse">
            <a:avLst/>
          </a:prstGeom>
          <a:solidFill>
            <a:srgbClr val="D5DED9"/>
          </a:solidFill>
          <a:ln w="12700">
            <a:solidFill>
              <a:srgbClr val="D5DED9"/>
            </a:solidFill>
            <a:prstDash val="solid"/>
          </a:ln>
        </p:spPr>
      </p:sp>
      <p:sp>
        <p:nvSpPr>
          <p:cNvPr id="11" name="Shape 9"/>
          <p:cNvSpPr/>
          <p:nvPr/>
        </p:nvSpPr>
        <p:spPr>
          <a:xfrm>
            <a:off x="8705088" y="301752"/>
            <a:ext cx="100584" cy="100584"/>
          </a:xfrm>
          <a:prstGeom prst="ellipse">
            <a:avLst/>
          </a:prstGeom>
          <a:solidFill>
            <a:srgbClr val="D49A00"/>
          </a:solidFill>
          <a:ln w="12700">
            <a:solidFill>
              <a:srgbClr val="D49A00"/>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Préparer un projet Earth Engine · STG17 · Jour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5" name="Shape 12"/>
          <p:cNvSpPr/>
          <p:nvPr/>
        </p:nvSpPr>
        <p:spPr>
          <a:xfrm>
            <a:off x="457200" y="1298448"/>
            <a:ext cx="5120640" cy="2651760"/>
          </a:xfrm>
          <a:prstGeom prst="roundRect">
            <a:avLst>
              <a:gd name="adj" fmla="val 2759"/>
            </a:avLst>
          </a:prstGeom>
          <a:solidFill>
            <a:srgbClr val="1E2A25"/>
          </a:solidFill>
          <a:ln w="9525">
            <a:solidFill>
              <a:srgbClr val="1E2A25"/>
            </a:solidFill>
            <a:prstDash val="solid"/>
          </a:ln>
        </p:spPr>
      </p:sp>
      <p:sp>
        <p:nvSpPr>
          <p:cNvPr id="16" name="Text 13"/>
          <p:cNvSpPr txBox="1"/>
          <p:nvPr/>
        </p:nvSpPr>
        <p:spPr>
          <a:xfrm>
            <a:off x="658368" y="1417320"/>
            <a:ext cx="4800600" cy="2423160"/>
          </a:xfrm>
          <a:prstGeom prst="rect">
            <a:avLst/>
          </a:prstGeom>
          <a:noFill/>
          <a:ln/>
        </p:spPr>
        <p:txBody>
          <a:bodyPr wrap="square" lIns="0" tIns="0" rIns="0" bIns="0" rtlCol="0" anchor="t"/>
          <a:lstStyle/>
          <a:p>
            <a:pPr indent="0" marL="0">
              <a:lnSpc>
                <a:spcPct val="125000"/>
              </a:lnSpc>
              <a:buNone/>
            </a:pPr>
            <a:r>
              <a:rPr lang="en-US" sz="1000" dirty="0">
                <a:solidFill>
                  <a:srgbClr val="C586C0"/>
                </a:solidFill>
                <a:latin typeface="Courier New" pitchFamily="34" charset="0"/>
                <a:ea typeface="Courier New" pitchFamily="34" charset="-122"/>
                <a:cs typeface="Courier New" pitchFamily="34" charset="-120"/>
              </a:rPr>
              <a:t>import </a:t>
            </a:r>
            <a:pPr indent="0" marL="0">
              <a:lnSpc>
                <a:spcPct val="125000"/>
              </a:lnSpc>
              <a:buNone/>
            </a:pPr>
            <a:r>
              <a:rPr lang="en-US" sz="1000" dirty="0">
                <a:solidFill>
                  <a:srgbClr val="D5DED9"/>
                </a:solidFill>
                <a:latin typeface="Courier New" pitchFamily="34" charset="0"/>
                <a:ea typeface="Courier New" pitchFamily="34" charset="-122"/>
                <a:cs typeface="Courier New" pitchFamily="34" charset="-120"/>
              </a:rPr>
              <a:t>ee</a:t>
            </a:r>
            <a:endParaRPr lang="en-US" sz="1000" dirty="0"/>
          </a:p>
          <a:p>
            <a:pPr indent="0" marL="0">
              <a:lnSpc>
                <a:spcPct val="125000"/>
              </a:lnSpc>
              <a:buNone/>
            </a:pPr>
            <a:r>
              <a:rPr lang="en-US" sz="1000" dirty="0">
                <a:solidFill>
                  <a:srgbClr val="D5DED9"/>
                </a:solidFill>
                <a:latin typeface="Courier New" pitchFamily="34" charset="0"/>
                <a:ea typeface="Courier New" pitchFamily="34" charset="-122"/>
                <a:cs typeface="Courier New" pitchFamily="34" charset="-120"/>
              </a:rPr>
              <a:t>ee.Authenticate()</a:t>
            </a:r>
            <a:endParaRPr lang="en-US" sz="1000" dirty="0"/>
          </a:p>
          <a:p>
            <a:pPr indent="0" marL="0">
              <a:lnSpc>
                <a:spcPct val="125000"/>
              </a:lnSpc>
              <a:buNone/>
            </a:pPr>
            <a:r>
              <a:rPr lang="en-US" sz="1000" dirty="0">
                <a:solidFill>
                  <a:srgbClr val="D5DED9"/>
                </a:solidFill>
                <a:latin typeface="Courier New" pitchFamily="34" charset="0"/>
                <a:ea typeface="Courier New" pitchFamily="34" charset="-122"/>
                <a:cs typeface="Courier New" pitchFamily="34" charset="-120"/>
              </a:rPr>
              <a:t>ee.Initialize(project=</a:t>
            </a:r>
            <a:pPr indent="0" marL="0">
              <a:lnSpc>
                <a:spcPct val="125000"/>
              </a:lnSpc>
              <a:buNone/>
            </a:pPr>
            <a:r>
              <a:rPr lang="en-US" sz="1000" dirty="0">
                <a:solidFill>
                  <a:srgbClr val="F5C242"/>
                </a:solidFill>
                <a:latin typeface="Courier New" pitchFamily="34" charset="0"/>
                <a:ea typeface="Courier New" pitchFamily="34" charset="-122"/>
                <a:cs typeface="Courier New" pitchFamily="34" charset="-120"/>
              </a:rPr>
              <a:t>"ai-horizon-491909"</a:t>
            </a:r>
            <a:pPr indent="0" marL="0">
              <a:lnSpc>
                <a:spcPct val="125000"/>
              </a:lnSpc>
              <a:buNone/>
            </a:pPr>
            <a:r>
              <a:rPr lang="en-US" sz="1000" dirty="0">
                <a:solidFill>
                  <a:srgbClr val="D5DED9"/>
                </a:solidFill>
                <a:latin typeface="Courier New" pitchFamily="34" charset="0"/>
                <a:ea typeface="Courier New" pitchFamily="34" charset="-122"/>
                <a:cs typeface="Courier New" pitchFamily="34" charset="-120"/>
              </a:rPr>
              <a:t>)</a:t>
            </a:r>
            <a:endParaRPr lang="en-US" sz="1000" dirty="0"/>
          </a:p>
          <a:p>
            <a:pPr indent="0" marL="0">
              <a:lnSpc>
                <a:spcPct val="125000"/>
              </a:lnSpc>
              <a:buNone/>
            </a:pPr>
            <a:endParaRPr lang="en-US" sz="1000" dirty="0"/>
          </a:p>
          <a:p>
            <a:pPr indent="0" marL="0">
              <a:lnSpc>
                <a:spcPct val="125000"/>
              </a:lnSpc>
              <a:buNone/>
            </a:pPr>
            <a:r>
              <a:rPr lang="en-US" sz="1000" dirty="0">
                <a:solidFill>
                  <a:srgbClr val="D5DED9"/>
                </a:solidFill>
                <a:latin typeface="Courier New" pitchFamily="34" charset="0"/>
                <a:ea typeface="Courier New" pitchFamily="34" charset="-122"/>
                <a:cs typeface="Courier New" pitchFamily="34" charset="-120"/>
              </a:rPr>
              <a:t>viirs = ee.ImageCollection(</a:t>
            </a:r>
            <a:pPr indent="0" marL="0">
              <a:lnSpc>
                <a:spcPct val="125000"/>
              </a:lnSpc>
              <a:buNone/>
            </a:pPr>
            <a:r>
              <a:rPr lang="en-US" sz="1000" dirty="0">
                <a:solidFill>
                  <a:srgbClr val="F5C242"/>
                </a:solidFill>
                <a:latin typeface="Courier New" pitchFamily="34" charset="0"/>
                <a:ea typeface="Courier New" pitchFamily="34" charset="-122"/>
                <a:cs typeface="Courier New" pitchFamily="34" charset="-120"/>
              </a:rPr>
              <a:t>"NOAA/VIIRS/DNB/ANNUAL_V22"</a:t>
            </a:r>
            <a:pPr indent="0" marL="0">
              <a:lnSpc>
                <a:spcPct val="125000"/>
              </a:lnSpc>
              <a:buNone/>
            </a:pPr>
            <a:r>
              <a:rPr lang="en-US" sz="1000" dirty="0">
                <a:solidFill>
                  <a:srgbClr val="D5DED9"/>
                </a:solidFill>
                <a:latin typeface="Courier New" pitchFamily="34" charset="0"/>
                <a:ea typeface="Courier New" pitchFamily="34" charset="-122"/>
                <a:cs typeface="Courier New" pitchFamily="34" charset="-120"/>
              </a:rPr>
              <a:t>)</a:t>
            </a:r>
            <a:endParaRPr lang="en-US" sz="1000" dirty="0"/>
          </a:p>
          <a:p>
            <a:pPr indent="0" marL="0">
              <a:lnSpc>
                <a:spcPct val="125000"/>
              </a:lnSpc>
              <a:buNone/>
            </a:pPr>
            <a:r>
              <a:rPr lang="en-US" sz="1000" dirty="0">
                <a:solidFill>
                  <a:srgbClr val="D5DED9"/>
                </a:solidFill>
                <a:latin typeface="Courier New" pitchFamily="34" charset="0"/>
                <a:ea typeface="Courier New" pitchFamily="34" charset="-122"/>
                <a:cs typeface="Courier New" pitchFamily="34" charset="-120"/>
              </a:rPr>
              <a:t>print(viirs.size().getInfo())</a:t>
            </a:r>
            <a:endParaRPr lang="en-US" sz="1000" dirty="0"/>
          </a:p>
          <a:p>
            <a:pPr indent="0" marL="0">
              <a:lnSpc>
                <a:spcPct val="125000"/>
              </a:lnSpc>
              <a:buNone/>
            </a:pPr>
            <a:r>
              <a:rPr lang="en-US" sz="1000" dirty="0">
                <a:solidFill>
                  <a:srgbClr val="D5DED9"/>
                </a:solidFill>
                <a:latin typeface="Courier New" pitchFamily="34" charset="0"/>
                <a:ea typeface="Courier New" pitchFamily="34" charset="-122"/>
                <a:cs typeface="Courier New" pitchFamily="34" charset="-120"/>
              </a:rPr>
              <a:t>print(viirs.first().date().format(</a:t>
            </a:r>
            <a:pPr indent="0" marL="0">
              <a:lnSpc>
                <a:spcPct val="125000"/>
              </a:lnSpc>
              <a:buNone/>
            </a:pPr>
            <a:r>
              <a:rPr lang="en-US" sz="1000" dirty="0">
                <a:solidFill>
                  <a:srgbClr val="F5C242"/>
                </a:solidFill>
                <a:latin typeface="Courier New" pitchFamily="34" charset="0"/>
                <a:ea typeface="Courier New" pitchFamily="34" charset="-122"/>
                <a:cs typeface="Courier New" pitchFamily="34" charset="-120"/>
              </a:rPr>
              <a:t>"YYYY-MM-dd"</a:t>
            </a:r>
            <a:pPr indent="0" marL="0">
              <a:lnSpc>
                <a:spcPct val="125000"/>
              </a:lnSpc>
              <a:buNone/>
            </a:pPr>
            <a:r>
              <a:rPr lang="en-US" sz="1000" dirty="0">
                <a:solidFill>
                  <a:srgbClr val="D5DED9"/>
                </a:solidFill>
                <a:latin typeface="Courier New" pitchFamily="34" charset="0"/>
                <a:ea typeface="Courier New" pitchFamily="34" charset="-122"/>
                <a:cs typeface="Courier New" pitchFamily="34" charset="-120"/>
              </a:rPr>
              <a:t>).getInfo())</a:t>
            </a:r>
            <a:endParaRPr lang="en-US" sz="1000" dirty="0"/>
          </a:p>
        </p:txBody>
      </p:sp>
      <p:sp>
        <p:nvSpPr>
          <p:cNvPr id="17" name="Shape 14"/>
          <p:cNvSpPr/>
          <p:nvPr/>
        </p:nvSpPr>
        <p:spPr>
          <a:xfrm>
            <a:off x="5806440" y="1298448"/>
            <a:ext cx="2788920" cy="1261872"/>
          </a:xfrm>
          <a:prstGeom prst="roundRect">
            <a:avLst>
              <a:gd name="adj" fmla="val 5797"/>
            </a:avLst>
          </a:prstGeom>
          <a:solidFill>
            <a:srgbClr val="E8F5EF"/>
          </a:solidFill>
          <a:ln w="15875">
            <a:solidFill>
              <a:srgbClr val="00A86A"/>
            </a:solidFill>
            <a:prstDash val="solid"/>
          </a:ln>
        </p:spPr>
      </p:sp>
      <p:pic>
        <p:nvPicPr>
          <p:cNvPr id="18" name="Image 0" descr="preencoded.png">    </p:cNvPr>
          <p:cNvPicPr>
            <a:picLocks noChangeAspect="1"/>
          </p:cNvPicPr>
          <p:nvPr/>
        </p:nvPicPr>
        <p:blipFill>
          <a:blip r:embed="rId1"/>
          <a:stretch>
            <a:fillRect/>
          </a:stretch>
        </p:blipFill>
        <p:spPr>
          <a:xfrm>
            <a:off x="5961888" y="1426464"/>
            <a:ext cx="274320" cy="274320"/>
          </a:xfrm>
          <a:prstGeom prst="rect">
            <a:avLst/>
          </a:prstGeom>
        </p:spPr>
      </p:pic>
      <p:sp>
        <p:nvSpPr>
          <p:cNvPr id="19" name="Text 15"/>
          <p:cNvSpPr txBox="1"/>
          <p:nvPr/>
        </p:nvSpPr>
        <p:spPr>
          <a:xfrm>
            <a:off x="6327648" y="1417320"/>
            <a:ext cx="2103120" cy="292608"/>
          </a:xfrm>
          <a:prstGeom prst="rect">
            <a:avLst/>
          </a:prstGeom>
          <a:noFill/>
          <a:ln/>
        </p:spPr>
        <p:txBody>
          <a:bodyPr wrap="square" lIns="0" tIns="0" rIns="0" bIns="0" rtlCol="0" anchor="ctr"/>
          <a:lstStyle/>
          <a:p>
            <a:pPr indent="0" marL="0">
              <a:buNone/>
            </a:pPr>
            <a:r>
              <a:rPr lang="en-US" sz="1400" b="1" dirty="0">
                <a:solidFill>
                  <a:srgbClr val="00A86A"/>
                </a:solidFill>
                <a:latin typeface="Calibri" pitchFamily="34" charset="0"/>
                <a:ea typeface="Calibri" pitchFamily="34" charset="-122"/>
                <a:cs typeface="Calibri" pitchFamily="34" charset="-120"/>
              </a:rPr>
              <a:t>Ça passe</a:t>
            </a:r>
            <a:endParaRPr lang="en-US" sz="1400" dirty="0"/>
          </a:p>
        </p:txBody>
      </p:sp>
      <p:sp>
        <p:nvSpPr>
          <p:cNvPr id="20" name="Text 16"/>
          <p:cNvSpPr txBox="1"/>
          <p:nvPr/>
        </p:nvSpPr>
        <p:spPr>
          <a:xfrm>
            <a:off x="5961888" y="1755648"/>
            <a:ext cx="2514600" cy="749808"/>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Un entier positif, puis une date. Projet, API, droits et authentification sont en ordre.</a:t>
            </a:r>
            <a:endParaRPr lang="en-US" sz="1050" dirty="0"/>
          </a:p>
        </p:txBody>
      </p:sp>
      <p:sp>
        <p:nvSpPr>
          <p:cNvPr id="21" name="Shape 17"/>
          <p:cNvSpPr/>
          <p:nvPr/>
        </p:nvSpPr>
        <p:spPr>
          <a:xfrm>
            <a:off x="5806440" y="2688336"/>
            <a:ext cx="2788920" cy="1261872"/>
          </a:xfrm>
          <a:prstGeom prst="roundRect">
            <a:avLst>
              <a:gd name="adj" fmla="val 5797"/>
            </a:avLst>
          </a:prstGeom>
          <a:solidFill>
            <a:srgbClr val="F4F7F5"/>
          </a:solidFill>
          <a:ln w="15875">
            <a:solidFill>
              <a:srgbClr val="C4621D"/>
            </a:solidFill>
            <a:prstDash val="solid"/>
          </a:ln>
        </p:spPr>
      </p:sp>
      <p:pic>
        <p:nvPicPr>
          <p:cNvPr id="22" name="Image 1" descr="preencoded.png">    </p:cNvPr>
          <p:cNvPicPr>
            <a:picLocks noChangeAspect="1"/>
          </p:cNvPicPr>
          <p:nvPr/>
        </p:nvPicPr>
        <p:blipFill>
          <a:blip r:embed="rId2"/>
          <a:stretch>
            <a:fillRect/>
          </a:stretch>
        </p:blipFill>
        <p:spPr>
          <a:xfrm>
            <a:off x="5961888" y="2816352"/>
            <a:ext cx="274320" cy="274320"/>
          </a:xfrm>
          <a:prstGeom prst="rect">
            <a:avLst/>
          </a:prstGeom>
        </p:spPr>
      </p:pic>
      <p:sp>
        <p:nvSpPr>
          <p:cNvPr id="23" name="Text 18"/>
          <p:cNvSpPr txBox="1"/>
          <p:nvPr/>
        </p:nvSpPr>
        <p:spPr>
          <a:xfrm>
            <a:off x="6327648" y="2807208"/>
            <a:ext cx="2103120" cy="292608"/>
          </a:xfrm>
          <a:prstGeom prst="rect">
            <a:avLst/>
          </a:prstGeom>
          <a:noFill/>
          <a:ln/>
        </p:spPr>
        <p:txBody>
          <a:bodyPr wrap="square" lIns="0" tIns="0" rIns="0" bIns="0" rtlCol="0" anchor="ctr"/>
          <a:lstStyle/>
          <a:p>
            <a:pPr indent="0" marL="0">
              <a:buNone/>
            </a:pPr>
            <a:r>
              <a:rPr lang="en-US" sz="1400" b="1" dirty="0">
                <a:solidFill>
                  <a:srgbClr val="C4621D"/>
                </a:solidFill>
                <a:latin typeface="Calibri" pitchFamily="34" charset="0"/>
                <a:ea typeface="Calibri" pitchFamily="34" charset="-122"/>
                <a:cs typeface="Calibri" pitchFamily="34" charset="-120"/>
              </a:rPr>
              <a:t>Ça échoue</a:t>
            </a:r>
            <a:endParaRPr lang="en-US" sz="1400" dirty="0"/>
          </a:p>
        </p:txBody>
      </p:sp>
      <p:sp>
        <p:nvSpPr>
          <p:cNvPr id="24" name="Text 19"/>
          <p:cNvSpPr txBox="1"/>
          <p:nvPr/>
        </p:nvSpPr>
        <p:spPr>
          <a:xfrm>
            <a:off x="5961888" y="3145536"/>
            <a:ext cx="2514600" cy="749808"/>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Le message d'erreur désigne la cause. Revérifiez le compte, l'identifiant, l'enregistrement et l'API.</a:t>
            </a:r>
            <a:endParaRPr lang="en-US" sz="1050" dirty="0"/>
          </a:p>
        </p:txBody>
      </p:sp>
      <p:sp>
        <p:nvSpPr>
          <p:cNvPr id="25" name="Text 20"/>
          <p:cNvSpPr txBox="1"/>
          <p:nvPr/>
        </p:nvSpPr>
        <p:spPr>
          <a:xfrm>
            <a:off x="457200" y="4069080"/>
            <a:ext cx="8138160" cy="274320"/>
          </a:xfrm>
          <a:prstGeom prst="rect">
            <a:avLst/>
          </a:prstGeom>
          <a:noFill/>
          <a:ln/>
        </p:spPr>
        <p:txBody>
          <a:bodyPr wrap="square" lIns="0" tIns="0" rIns="0" bIns="0" rtlCol="0" anchor="ctr"/>
          <a:lstStyle/>
          <a:p>
            <a:pPr indent="0" marL="0">
              <a:buNone/>
            </a:pPr>
            <a:r>
              <a:rPr lang="en-US" sz="1100" i="1" dirty="0">
                <a:solidFill>
                  <a:srgbClr val="5E6964"/>
                </a:solidFill>
                <a:latin typeface="Calibri" pitchFamily="34" charset="0"/>
                <a:ea typeface="Calibri" pitchFamily="34" charset="-122"/>
                <a:cs typeface="Calibri" pitchFamily="34" charset="-120"/>
              </a:rPr>
              <a:t>Remplacez ai-horizon-491909 par votre propre identifiant.</a:t>
            </a:r>
            <a:endParaRPr lang="en-US" sz="1100" dirty="0"/>
          </a:p>
        </p:txBody>
      </p:sp>
      <p:sp>
        <p:nvSpPr>
          <p:cNvPr id="26" name="Text 21"/>
          <p:cNvSpPr txBox="1"/>
          <p:nvPr/>
        </p:nvSpPr>
        <p:spPr>
          <a:xfrm>
            <a:off x="457200" y="4590288"/>
            <a:ext cx="78638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Code d'appel standard : ee.Authenticate() puis ee.Initialize(project=…) — Authentication and Initialization.</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CONNECTER LE NOTEBOOK</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Les lumières nocturnes disponibles dans Earth Engine</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D5DED9"/>
          </a:solidFill>
          <a:ln w="12700">
            <a:solidFill>
              <a:srgbClr val="D5DED9"/>
            </a:solidFill>
            <a:prstDash val="solid"/>
          </a:ln>
        </p:spPr>
      </p:sp>
      <p:sp>
        <p:nvSpPr>
          <p:cNvPr id="10" name="Shape 8"/>
          <p:cNvSpPr/>
          <p:nvPr/>
        </p:nvSpPr>
        <p:spPr>
          <a:xfrm>
            <a:off x="8522208" y="301752"/>
            <a:ext cx="100584" cy="100584"/>
          </a:xfrm>
          <a:prstGeom prst="ellipse">
            <a:avLst/>
          </a:prstGeom>
          <a:solidFill>
            <a:srgbClr val="D5DED9"/>
          </a:solidFill>
          <a:ln w="12700">
            <a:solidFill>
              <a:srgbClr val="D5DED9"/>
            </a:solidFill>
            <a:prstDash val="solid"/>
          </a:ln>
        </p:spPr>
      </p:sp>
      <p:sp>
        <p:nvSpPr>
          <p:cNvPr id="11" name="Shape 9"/>
          <p:cNvSpPr/>
          <p:nvPr/>
        </p:nvSpPr>
        <p:spPr>
          <a:xfrm>
            <a:off x="8705088" y="301752"/>
            <a:ext cx="100584" cy="100584"/>
          </a:xfrm>
          <a:prstGeom prst="ellipse">
            <a:avLst/>
          </a:prstGeom>
          <a:solidFill>
            <a:srgbClr val="D49A00"/>
          </a:solidFill>
          <a:ln w="12700">
            <a:solidFill>
              <a:srgbClr val="D49A00"/>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Préparer un projet Earth Engine · STG17 · Jour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138160" cy="914400"/>
        </p:xfrm>
        <a:graphic>
          <a:graphicData uri="http://schemas.openxmlformats.org/drawingml/2006/table">
            <a:tbl>
              <a:tblPr/>
              <a:tblGrid>
                <a:gridCol w="2834640"/>
                <a:gridCol w="1783080"/>
                <a:gridCol w="1417320"/>
                <a:gridCol w="2103120"/>
              </a:tblGrid>
              <a:tr h="42062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Collection Earth Engine</a:t>
                      </a:r>
                      <a:endParaRPr lang="en-US" sz="105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00704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Pas de temps</a:t>
                      </a:r>
                      <a:endParaRPr lang="en-US" sz="105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00704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Période</a:t>
                      </a:r>
                      <a:endParaRPr lang="en-US" sz="105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00704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Usage dans le notebook</a:t>
                      </a:r>
                      <a:endParaRPr lang="en-US" sz="105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00704A"/>
                    </a:solidFill>
                  </a:tcPr>
                </a:tc>
              </a:tr>
              <a:tr h="420624">
                <a:tc>
                  <a:txBody>
                    <a:bodyPr/>
                    <a:lstStyle/>
                    <a:p>
                      <a:pPr indent="0" marL="0">
                        <a:buNone/>
                      </a:pPr>
                      <a:r>
                        <a:rPr lang="en-US" sz="850" b="1" dirty="0">
                          <a:solidFill>
                            <a:srgbClr val="231F20"/>
                          </a:solidFill>
                          <a:latin typeface="Courier New" pitchFamily="34" charset="0"/>
                          <a:ea typeface="Courier New" pitchFamily="34" charset="-122"/>
                          <a:cs typeface="Courier New" pitchFamily="34" charset="-120"/>
                        </a:rPr>
                        <a:t>NOAA/VIIRS/DNB/ANNUAL_V22</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000" dirty="0">
                          <a:solidFill>
                            <a:srgbClr val="231F20"/>
                          </a:solidFill>
                          <a:latin typeface="Calibri" pitchFamily="34" charset="0"/>
                          <a:ea typeface="Calibri" pitchFamily="34" charset="-122"/>
                          <a:cs typeface="Calibri" pitchFamily="34" charset="-120"/>
                        </a:rPr>
                        <a:t>Annuel</a:t>
                      </a:r>
                      <a:endParaRPr lang="en-US" sz="100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000" dirty="0">
                          <a:solidFill>
                            <a:srgbClr val="231F20"/>
                          </a:solidFill>
                          <a:latin typeface="Calibri" pitchFamily="34" charset="0"/>
                          <a:ea typeface="Calibri" pitchFamily="34" charset="-122"/>
                          <a:cs typeface="Calibri" pitchFamily="34" charset="-120"/>
                        </a:rPr>
                        <a:t>2012 → 2024</a:t>
                      </a:r>
                      <a:endParaRPr lang="en-US" sz="100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000" dirty="0">
                          <a:solidFill>
                            <a:srgbClr val="231F20"/>
                          </a:solidFill>
                          <a:latin typeface="Calibri" pitchFamily="34" charset="0"/>
                          <a:ea typeface="Calibri" pitchFamily="34" charset="-122"/>
                          <a:cs typeface="Calibri" pitchFamily="34" charset="-120"/>
                        </a:rPr>
                        <a:t>CONFIG["YEARS"] — scénarios A à E et G</a:t>
                      </a:r>
                      <a:endParaRPr lang="en-US" sz="100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420624">
                <a:tc>
                  <a:txBody>
                    <a:bodyPr/>
                    <a:lstStyle/>
                    <a:p>
                      <a:pPr indent="0" marL="0">
                        <a:buNone/>
                      </a:pPr>
                      <a:r>
                        <a:rPr lang="en-US" sz="850" b="1" dirty="0">
                          <a:solidFill>
                            <a:srgbClr val="231F20"/>
                          </a:solidFill>
                          <a:latin typeface="Courier New" pitchFamily="34" charset="0"/>
                          <a:ea typeface="Courier New" pitchFamily="34" charset="-122"/>
                          <a:cs typeface="Courier New" pitchFamily="34" charset="-120"/>
                        </a:rPr>
                        <a:t>NOAA/VIIRS/DNB/MONTHLY_V1/VCMSLCFG</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000" dirty="0">
                          <a:solidFill>
                            <a:srgbClr val="231F20"/>
                          </a:solidFill>
                          <a:latin typeface="Calibri" pitchFamily="34" charset="0"/>
                          <a:ea typeface="Calibri" pitchFamily="34" charset="-122"/>
                          <a:cs typeface="Calibri" pitchFamily="34" charset="-120"/>
                        </a:rPr>
                        <a:t>Mensuel, corrigé de la lumière parasite</a:t>
                      </a:r>
                      <a:endParaRPr lang="en-US" sz="100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000" dirty="0">
                          <a:solidFill>
                            <a:srgbClr val="231F20"/>
                          </a:solidFill>
                          <a:latin typeface="Calibri" pitchFamily="34" charset="0"/>
                          <a:ea typeface="Calibri" pitchFamily="34" charset="-122"/>
                          <a:cs typeface="Calibri" pitchFamily="34" charset="-120"/>
                        </a:rPr>
                        <a:t>janv. 2014 → mars 2025</a:t>
                      </a:r>
                      <a:endParaRPr lang="en-US" sz="100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000" dirty="0">
                          <a:solidFill>
                            <a:srgbClr val="231F20"/>
                          </a:solidFill>
                          <a:latin typeface="Calibri" pitchFamily="34" charset="0"/>
                          <a:ea typeface="Calibri" pitchFamily="34" charset="-122"/>
                          <a:cs typeface="Calibri" pitchFamily="34" charset="-120"/>
                        </a:rPr>
                        <a:t>CONFIG["MONTHLY_YEARS"] — scénario F</a:t>
                      </a:r>
                      <a:endParaRPr lang="en-US" sz="100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420624">
                <a:tc>
                  <a:txBody>
                    <a:bodyPr/>
                    <a:lstStyle/>
                    <a:p>
                      <a:pPr indent="0" marL="0">
                        <a:buNone/>
                      </a:pPr>
                      <a:r>
                        <a:rPr lang="en-US" sz="850" b="1" dirty="0">
                          <a:solidFill>
                            <a:srgbClr val="231F20"/>
                          </a:solidFill>
                          <a:latin typeface="Courier New" pitchFamily="34" charset="0"/>
                          <a:ea typeface="Courier New" pitchFamily="34" charset="-122"/>
                          <a:cs typeface="Courier New" pitchFamily="34" charset="-120"/>
                        </a:rPr>
                        <a:t>NOAA/VIIRS/DNB/MONTHLY_V1/VCMCFG</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000" dirty="0">
                          <a:solidFill>
                            <a:srgbClr val="231F20"/>
                          </a:solidFill>
                          <a:latin typeface="Calibri" pitchFamily="34" charset="0"/>
                          <a:ea typeface="Calibri" pitchFamily="34" charset="-122"/>
                          <a:cs typeface="Calibri" pitchFamily="34" charset="-120"/>
                        </a:rPr>
                        <a:t>Mensuel</a:t>
                      </a:r>
                      <a:endParaRPr lang="en-US" sz="100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000" dirty="0">
                          <a:solidFill>
                            <a:srgbClr val="231F20"/>
                          </a:solidFill>
                          <a:latin typeface="Calibri" pitchFamily="34" charset="0"/>
                          <a:ea typeface="Calibri" pitchFamily="34" charset="-122"/>
                          <a:cs typeface="Calibri" pitchFamily="34" charset="-120"/>
                        </a:rPr>
                        <a:t>avr. 2012 → mars 2025</a:t>
                      </a:r>
                      <a:endParaRPr lang="en-US" sz="100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000" dirty="0">
                          <a:solidFill>
                            <a:srgbClr val="231F20"/>
                          </a:solidFill>
                          <a:latin typeface="Calibri" pitchFamily="34" charset="0"/>
                          <a:ea typeface="Calibri" pitchFamily="34" charset="-122"/>
                          <a:cs typeface="Calibri" pitchFamily="34" charset="-120"/>
                        </a:rPr>
                        <a:t>Alternative, non utilisée par défaut</a:t>
                      </a:r>
                      <a:endParaRPr lang="en-US" sz="100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420624">
                <a:tc>
                  <a:txBody>
                    <a:bodyPr/>
                    <a:lstStyle/>
                    <a:p>
                      <a:pPr indent="0" marL="0">
                        <a:buNone/>
                      </a:pPr>
                      <a:r>
                        <a:rPr lang="en-US" sz="850" b="1" dirty="0">
                          <a:solidFill>
                            <a:srgbClr val="231F20"/>
                          </a:solidFill>
                          <a:latin typeface="Courier New" pitchFamily="34" charset="0"/>
                          <a:ea typeface="Courier New" pitchFamily="34" charset="-122"/>
                          <a:cs typeface="Courier New" pitchFamily="34" charset="-120"/>
                        </a:rPr>
                        <a:t>NASA/VIIRS/002/VNP46A2</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000" dirty="0">
                          <a:solidFill>
                            <a:srgbClr val="231F20"/>
                          </a:solidFill>
                          <a:latin typeface="Calibri" pitchFamily="34" charset="0"/>
                          <a:ea typeface="Calibri" pitchFamily="34" charset="-122"/>
                          <a:cs typeface="Calibri" pitchFamily="34" charset="-120"/>
                        </a:rPr>
                        <a:t>Journalier (Black Marble, corrigé BRDF)</a:t>
                      </a:r>
                      <a:endParaRPr lang="en-US" sz="100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000" dirty="0">
                          <a:solidFill>
                            <a:srgbClr val="231F20"/>
                          </a:solidFill>
                          <a:latin typeface="Calibri" pitchFamily="34" charset="0"/>
                          <a:ea typeface="Calibri" pitchFamily="34" charset="-122"/>
                          <a:cs typeface="Calibri" pitchFamily="34" charset="-120"/>
                        </a:rPr>
                        <a:t>voir le catalogue</a:t>
                      </a:r>
                      <a:endParaRPr lang="en-US" sz="100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000" dirty="0">
                          <a:solidFill>
                            <a:srgbClr val="231F20"/>
                          </a:solidFill>
                          <a:latin typeface="Calibri" pitchFamily="34" charset="0"/>
                          <a:ea typeface="Calibri" pitchFamily="34" charset="-122"/>
                          <a:cs typeface="Calibri" pitchFamily="34" charset="-120"/>
                        </a:rPr>
                        <a:t>Non utilisée — pour aller plus loin</a:t>
                      </a:r>
                      <a:endParaRPr lang="en-US" sz="100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bl>
          </a:graphicData>
        </a:graphic>
      </p:graphicFrame>
      <p:sp>
        <p:nvSpPr>
          <p:cNvPr id="16" name="Shape 12"/>
          <p:cNvSpPr/>
          <p:nvPr/>
        </p:nvSpPr>
        <p:spPr>
          <a:xfrm>
            <a:off x="457200" y="3584448"/>
            <a:ext cx="8138160" cy="566928"/>
          </a:xfrm>
          <a:prstGeom prst="roundRect">
            <a:avLst>
              <a:gd name="adj" fmla="val 9677"/>
            </a:avLst>
          </a:prstGeom>
          <a:solidFill>
            <a:srgbClr val="D49A00">
              <a:alpha val="13000"/>
            </a:srgbClr>
          </a:solidFill>
          <a:ln w="12700">
            <a:solidFill>
              <a:srgbClr val="D49A00"/>
            </a:solidFill>
            <a:prstDash val="solid"/>
          </a:ln>
        </p:spPr>
      </p:sp>
      <p:pic>
        <p:nvPicPr>
          <p:cNvPr id="17" name="Image 0" descr="preencoded.png">    </p:cNvPr>
          <p:cNvPicPr>
            <a:picLocks noChangeAspect="1"/>
          </p:cNvPicPr>
          <p:nvPr/>
        </p:nvPicPr>
        <p:blipFill>
          <a:blip r:embed="rId1"/>
          <a:stretch>
            <a:fillRect/>
          </a:stretch>
        </p:blipFill>
        <p:spPr>
          <a:xfrm>
            <a:off x="594360" y="3730752"/>
            <a:ext cx="274320" cy="274320"/>
          </a:xfrm>
          <a:prstGeom prst="rect">
            <a:avLst/>
          </a:prstGeom>
        </p:spPr>
      </p:pic>
      <p:sp>
        <p:nvSpPr>
          <p:cNvPr id="18" name="Text 13"/>
          <p:cNvSpPr txBox="1"/>
          <p:nvPr/>
        </p:nvSpPr>
        <p:spPr>
          <a:xfrm>
            <a:off x="1005840" y="3630168"/>
            <a:ext cx="7452360" cy="47548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Conséquence pratique : </a:t>
            </a:r>
            <a:pPr indent="0" marL="0">
              <a:buNone/>
            </a:pPr>
            <a:r>
              <a:rPr lang="en-US" sz="1100" dirty="0">
                <a:solidFill>
                  <a:srgbClr val="231F20"/>
                </a:solidFill>
                <a:latin typeface="Calibri" pitchFamily="34" charset="0"/>
                <a:ea typeface="Calibri" pitchFamily="34" charset="-122"/>
                <a:cs typeface="Calibri" pitchFamily="34" charset="-120"/>
              </a:rPr>
              <a:t>la série mensuelle s'arrête en mars 2025 dans le catalogue : gardez MONTHLY_YEARS jusqu'à 2024 pour des années complètes. Vérifiez les bornes avant chaque exécution.</a:t>
            </a:r>
            <a:endParaRPr lang="en-US" sz="1100" dirty="0"/>
          </a:p>
        </p:txBody>
      </p:sp>
      <p:sp>
        <p:nvSpPr>
          <p:cNvPr id="19" name="Text 14"/>
          <p:cNvSpPr txBox="1"/>
          <p:nvPr/>
        </p:nvSpPr>
        <p:spPr>
          <a:xfrm>
            <a:off x="457200" y="4224528"/>
            <a:ext cx="8138160" cy="274320"/>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Résolution : 463,83 m pour les produits NOAA/EOG · Données du domaine public, sans restriction d'usage (Colorado School of Mines).</a:t>
            </a:r>
            <a:endParaRPr lang="en-US" sz="1000" dirty="0"/>
          </a:p>
        </p:txBody>
      </p:sp>
      <p:sp>
        <p:nvSpPr>
          <p:cNvPr id="20" name="Text 15"/>
          <p:cNvSpPr txBox="1"/>
          <p:nvPr/>
        </p:nvSpPr>
        <p:spPr>
          <a:xfrm>
            <a:off x="457200" y="4590288"/>
            <a:ext cx="78638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 Earth Engine Data Catalog — fiches NOAA_VIIRS_DNB_ANNUAL_V22, MONTHLY_V1/VCMSLCFG, MONTHLY_V1/VCMCFG ; release notes (VNP46A2).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RÉCAPITULATIF</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La liste de contrôle, avant « Tout exécuter »</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D5DED9"/>
          </a:solidFill>
          <a:ln w="12700">
            <a:solidFill>
              <a:srgbClr val="D5DED9"/>
            </a:solidFill>
            <a:prstDash val="solid"/>
          </a:ln>
        </p:spPr>
      </p:sp>
      <p:sp>
        <p:nvSpPr>
          <p:cNvPr id="10" name="Shape 8"/>
          <p:cNvSpPr/>
          <p:nvPr/>
        </p:nvSpPr>
        <p:spPr>
          <a:xfrm>
            <a:off x="8522208" y="301752"/>
            <a:ext cx="100584" cy="100584"/>
          </a:xfrm>
          <a:prstGeom prst="ellipse">
            <a:avLst/>
          </a:prstGeom>
          <a:solidFill>
            <a:srgbClr val="D5DED9"/>
          </a:solidFill>
          <a:ln w="12700">
            <a:solidFill>
              <a:srgbClr val="D5DED9"/>
            </a:solidFill>
            <a:prstDash val="solid"/>
          </a:ln>
        </p:spPr>
      </p:sp>
      <p:sp>
        <p:nvSpPr>
          <p:cNvPr id="11" name="Shape 9"/>
          <p:cNvSpPr/>
          <p:nvPr/>
        </p:nvSpPr>
        <p:spPr>
          <a:xfrm>
            <a:off x="8705088" y="301752"/>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Préparer un projet Earth Engine · STG17 · Jour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5" name="Shape 12"/>
          <p:cNvSpPr/>
          <p:nvPr/>
        </p:nvSpPr>
        <p:spPr>
          <a:xfrm>
            <a:off x="457200" y="1325880"/>
            <a:ext cx="3977640" cy="566928"/>
          </a:xfrm>
          <a:prstGeom prst="roundRect">
            <a:avLst>
              <a:gd name="adj" fmla="val 12903"/>
            </a:avLst>
          </a:prstGeom>
          <a:solidFill>
            <a:srgbClr val="F4F7F5"/>
          </a:solidFill>
          <a:ln w="9525">
            <a:solidFill>
              <a:srgbClr val="D5DED9"/>
            </a:solidFill>
            <a:prstDash val="solid"/>
          </a:ln>
        </p:spPr>
      </p:sp>
      <p:pic>
        <p:nvPicPr>
          <p:cNvPr id="16" name="Image 0" descr="preencoded.png">    </p:cNvPr>
          <p:cNvPicPr>
            <a:picLocks noChangeAspect="1"/>
          </p:cNvPicPr>
          <p:nvPr/>
        </p:nvPicPr>
        <p:blipFill>
          <a:blip r:embed="rId1"/>
          <a:stretch>
            <a:fillRect/>
          </a:stretch>
        </p:blipFill>
        <p:spPr>
          <a:xfrm>
            <a:off x="640080" y="1481328"/>
            <a:ext cx="256032" cy="256032"/>
          </a:xfrm>
          <a:prstGeom prst="rect">
            <a:avLst/>
          </a:prstGeom>
        </p:spPr>
      </p:pic>
      <p:sp>
        <p:nvSpPr>
          <p:cNvPr id="17" name="Text 13"/>
          <p:cNvSpPr txBox="1"/>
          <p:nvPr/>
        </p:nvSpPr>
        <p:spPr>
          <a:xfrm>
            <a:off x="1051560" y="1325880"/>
            <a:ext cx="3291840" cy="566928"/>
          </a:xfrm>
          <a:prstGeom prst="rect">
            <a:avLst/>
          </a:prstGeom>
          <a:noFill/>
          <a:ln/>
        </p:spPr>
        <p:txBody>
          <a:bodyPr wrap="square" lIns="0" tIns="0" rIns="0" bIns="0" rtlCol="0" anchor="ctr"/>
          <a:lstStyle/>
          <a:p>
            <a:pPr indent="0" marL="0">
              <a:buNone/>
            </a:pPr>
            <a:r>
              <a:rPr lang="en-US" sz="1300" dirty="0">
                <a:solidFill>
                  <a:srgbClr val="231F20"/>
                </a:solidFill>
                <a:latin typeface="Calibri" pitchFamily="34" charset="0"/>
                <a:ea typeface="Calibri" pitchFamily="34" charset="-122"/>
                <a:cs typeface="Calibri" pitchFamily="34" charset="-120"/>
              </a:rPr>
              <a:t>Un seul compte Google, le même partout</a:t>
            </a:r>
            <a:endParaRPr lang="en-US" sz="1300" dirty="0"/>
          </a:p>
        </p:txBody>
      </p:sp>
      <p:sp>
        <p:nvSpPr>
          <p:cNvPr id="18" name="Shape 14"/>
          <p:cNvSpPr/>
          <p:nvPr/>
        </p:nvSpPr>
        <p:spPr>
          <a:xfrm>
            <a:off x="4617720" y="1325880"/>
            <a:ext cx="3977640" cy="566928"/>
          </a:xfrm>
          <a:prstGeom prst="roundRect">
            <a:avLst>
              <a:gd name="adj" fmla="val 12903"/>
            </a:avLst>
          </a:prstGeom>
          <a:solidFill>
            <a:srgbClr val="F4F7F5"/>
          </a:solidFill>
          <a:ln w="9525">
            <a:solidFill>
              <a:srgbClr val="D5DED9"/>
            </a:solidFill>
            <a:prstDash val="solid"/>
          </a:ln>
        </p:spPr>
      </p:sp>
      <p:pic>
        <p:nvPicPr>
          <p:cNvPr id="19" name="Image 1" descr="preencoded.png">    </p:cNvPr>
          <p:cNvPicPr>
            <a:picLocks noChangeAspect="1"/>
          </p:cNvPicPr>
          <p:nvPr/>
        </p:nvPicPr>
        <p:blipFill>
          <a:blip r:embed="rId2"/>
          <a:stretch>
            <a:fillRect/>
          </a:stretch>
        </p:blipFill>
        <p:spPr>
          <a:xfrm>
            <a:off x="4800600" y="1481328"/>
            <a:ext cx="256032" cy="256032"/>
          </a:xfrm>
          <a:prstGeom prst="rect">
            <a:avLst/>
          </a:prstGeom>
        </p:spPr>
      </p:pic>
      <p:sp>
        <p:nvSpPr>
          <p:cNvPr id="20" name="Text 15"/>
          <p:cNvSpPr txBox="1"/>
          <p:nvPr/>
        </p:nvSpPr>
        <p:spPr>
          <a:xfrm>
            <a:off x="5212080" y="1325880"/>
            <a:ext cx="3291840" cy="566928"/>
          </a:xfrm>
          <a:prstGeom prst="rect">
            <a:avLst/>
          </a:prstGeom>
          <a:noFill/>
          <a:ln/>
        </p:spPr>
        <p:txBody>
          <a:bodyPr wrap="square" lIns="0" tIns="0" rIns="0" bIns="0" rtlCol="0" anchor="ctr"/>
          <a:lstStyle/>
          <a:p>
            <a:pPr indent="0" marL="0">
              <a:buNone/>
            </a:pPr>
            <a:r>
              <a:rPr lang="en-US" sz="1300" dirty="0">
                <a:solidFill>
                  <a:srgbClr val="231F20"/>
                </a:solidFill>
                <a:latin typeface="Calibri" pitchFamily="34" charset="0"/>
                <a:ea typeface="Calibri" pitchFamily="34" charset="-122"/>
                <a:cs typeface="Calibri" pitchFamily="34" charset="-120"/>
              </a:rPr>
              <a:t>Projet créé depuis la page d'enregistrement</a:t>
            </a:r>
            <a:endParaRPr lang="en-US" sz="1300" dirty="0"/>
          </a:p>
        </p:txBody>
      </p:sp>
      <p:sp>
        <p:nvSpPr>
          <p:cNvPr id="21" name="Shape 16"/>
          <p:cNvSpPr/>
          <p:nvPr/>
        </p:nvSpPr>
        <p:spPr>
          <a:xfrm>
            <a:off x="457200" y="2057400"/>
            <a:ext cx="3977640" cy="566928"/>
          </a:xfrm>
          <a:prstGeom prst="roundRect">
            <a:avLst>
              <a:gd name="adj" fmla="val 12903"/>
            </a:avLst>
          </a:prstGeom>
          <a:solidFill>
            <a:srgbClr val="F4F7F5"/>
          </a:solidFill>
          <a:ln w="9525">
            <a:solidFill>
              <a:srgbClr val="D5DED9"/>
            </a:solidFill>
            <a:prstDash val="solid"/>
          </a:ln>
        </p:spPr>
      </p:sp>
      <p:pic>
        <p:nvPicPr>
          <p:cNvPr id="22" name="Image 2" descr="preencoded.png">    </p:cNvPr>
          <p:cNvPicPr>
            <a:picLocks noChangeAspect="1"/>
          </p:cNvPicPr>
          <p:nvPr/>
        </p:nvPicPr>
        <p:blipFill>
          <a:blip r:embed="rId3"/>
          <a:stretch>
            <a:fillRect/>
          </a:stretch>
        </p:blipFill>
        <p:spPr>
          <a:xfrm>
            <a:off x="640080" y="2212848"/>
            <a:ext cx="256032" cy="256032"/>
          </a:xfrm>
          <a:prstGeom prst="rect">
            <a:avLst/>
          </a:prstGeom>
        </p:spPr>
      </p:pic>
      <p:sp>
        <p:nvSpPr>
          <p:cNvPr id="23" name="Text 17"/>
          <p:cNvSpPr txBox="1"/>
          <p:nvPr/>
        </p:nvSpPr>
        <p:spPr>
          <a:xfrm>
            <a:off x="1051560" y="2057400"/>
            <a:ext cx="3291840" cy="566928"/>
          </a:xfrm>
          <a:prstGeom prst="rect">
            <a:avLst/>
          </a:prstGeom>
          <a:noFill/>
          <a:ln/>
        </p:spPr>
        <p:txBody>
          <a:bodyPr wrap="square" lIns="0" tIns="0" rIns="0" bIns="0" rtlCol="0" anchor="ctr"/>
          <a:lstStyle/>
          <a:p>
            <a:pPr indent="0" marL="0">
              <a:buNone/>
            </a:pPr>
            <a:r>
              <a:rPr lang="en-US" sz="1300" dirty="0">
                <a:solidFill>
                  <a:srgbClr val="231F20"/>
                </a:solidFill>
                <a:latin typeface="Calibri" pitchFamily="34" charset="0"/>
                <a:ea typeface="Calibri" pitchFamily="34" charset="-122"/>
                <a:cs typeface="Calibri" pitchFamily="34" charset="-120"/>
              </a:rPr>
              <a:t>Questionnaire non commercial complété</a:t>
            </a:r>
            <a:endParaRPr lang="en-US" sz="1300" dirty="0"/>
          </a:p>
        </p:txBody>
      </p:sp>
      <p:sp>
        <p:nvSpPr>
          <p:cNvPr id="24" name="Shape 18"/>
          <p:cNvSpPr/>
          <p:nvPr/>
        </p:nvSpPr>
        <p:spPr>
          <a:xfrm>
            <a:off x="4617720" y="2057400"/>
            <a:ext cx="3977640" cy="566928"/>
          </a:xfrm>
          <a:prstGeom prst="roundRect">
            <a:avLst>
              <a:gd name="adj" fmla="val 12903"/>
            </a:avLst>
          </a:prstGeom>
          <a:solidFill>
            <a:srgbClr val="F4F7F5"/>
          </a:solidFill>
          <a:ln w="9525">
            <a:solidFill>
              <a:srgbClr val="D5DED9"/>
            </a:solidFill>
            <a:prstDash val="solid"/>
          </a:ln>
        </p:spPr>
      </p:sp>
      <p:pic>
        <p:nvPicPr>
          <p:cNvPr id="25" name="Image 3" descr="preencoded.png">    </p:cNvPr>
          <p:cNvPicPr>
            <a:picLocks noChangeAspect="1"/>
          </p:cNvPicPr>
          <p:nvPr/>
        </p:nvPicPr>
        <p:blipFill>
          <a:blip r:embed="rId4"/>
          <a:stretch>
            <a:fillRect/>
          </a:stretch>
        </p:blipFill>
        <p:spPr>
          <a:xfrm>
            <a:off x="4800600" y="2212848"/>
            <a:ext cx="256032" cy="256032"/>
          </a:xfrm>
          <a:prstGeom prst="rect">
            <a:avLst/>
          </a:prstGeom>
        </p:spPr>
      </p:pic>
      <p:sp>
        <p:nvSpPr>
          <p:cNvPr id="26" name="Text 19"/>
          <p:cNvSpPr txBox="1"/>
          <p:nvPr/>
        </p:nvSpPr>
        <p:spPr>
          <a:xfrm>
            <a:off x="5212080" y="2057400"/>
            <a:ext cx="3291840" cy="566928"/>
          </a:xfrm>
          <a:prstGeom prst="rect">
            <a:avLst/>
          </a:prstGeom>
          <a:noFill/>
          <a:ln/>
        </p:spPr>
        <p:txBody>
          <a:bodyPr wrap="square" lIns="0" tIns="0" rIns="0" bIns="0" rtlCol="0" anchor="ctr"/>
          <a:lstStyle/>
          <a:p>
            <a:pPr indent="0" marL="0">
              <a:buNone/>
            </a:pPr>
            <a:r>
              <a:rPr lang="en-US" sz="1300" dirty="0">
                <a:solidFill>
                  <a:srgbClr val="231F20"/>
                </a:solidFill>
                <a:latin typeface="Calibri" pitchFamily="34" charset="0"/>
                <a:ea typeface="Calibri" pitchFamily="34" charset="-122"/>
                <a:cs typeface="Calibri" pitchFamily="34" charset="-120"/>
              </a:rPr>
              <a:t>Palier de quota choisi — Community suffit</a:t>
            </a:r>
            <a:endParaRPr lang="en-US" sz="1300" dirty="0"/>
          </a:p>
        </p:txBody>
      </p:sp>
      <p:sp>
        <p:nvSpPr>
          <p:cNvPr id="27" name="Shape 20"/>
          <p:cNvSpPr/>
          <p:nvPr/>
        </p:nvSpPr>
        <p:spPr>
          <a:xfrm>
            <a:off x="457200" y="2788920"/>
            <a:ext cx="3977640" cy="566928"/>
          </a:xfrm>
          <a:prstGeom prst="roundRect">
            <a:avLst>
              <a:gd name="adj" fmla="val 12903"/>
            </a:avLst>
          </a:prstGeom>
          <a:solidFill>
            <a:srgbClr val="F4F7F5"/>
          </a:solidFill>
          <a:ln w="9525">
            <a:solidFill>
              <a:srgbClr val="D5DED9"/>
            </a:solidFill>
            <a:prstDash val="solid"/>
          </a:ln>
        </p:spPr>
      </p:sp>
      <p:pic>
        <p:nvPicPr>
          <p:cNvPr id="28" name="Image 4" descr="preencoded.png">    </p:cNvPr>
          <p:cNvPicPr>
            <a:picLocks noChangeAspect="1"/>
          </p:cNvPicPr>
          <p:nvPr/>
        </p:nvPicPr>
        <p:blipFill>
          <a:blip r:embed="rId5"/>
          <a:stretch>
            <a:fillRect/>
          </a:stretch>
        </p:blipFill>
        <p:spPr>
          <a:xfrm>
            <a:off x="640080" y="2944368"/>
            <a:ext cx="256032" cy="256032"/>
          </a:xfrm>
          <a:prstGeom prst="rect">
            <a:avLst/>
          </a:prstGeom>
        </p:spPr>
      </p:pic>
      <p:sp>
        <p:nvSpPr>
          <p:cNvPr id="29" name="Text 21"/>
          <p:cNvSpPr txBox="1"/>
          <p:nvPr/>
        </p:nvSpPr>
        <p:spPr>
          <a:xfrm>
            <a:off x="1051560" y="2788920"/>
            <a:ext cx="3291840" cy="566928"/>
          </a:xfrm>
          <a:prstGeom prst="rect">
            <a:avLst/>
          </a:prstGeom>
          <a:noFill/>
          <a:ln/>
        </p:spPr>
        <p:txBody>
          <a:bodyPr wrap="square" lIns="0" tIns="0" rIns="0" bIns="0" rtlCol="0" anchor="ctr"/>
          <a:lstStyle/>
          <a:p>
            <a:pPr indent="0" marL="0">
              <a:buNone/>
            </a:pPr>
            <a:r>
              <a:rPr lang="en-US" sz="1300" dirty="0">
                <a:solidFill>
                  <a:srgbClr val="231F20"/>
                </a:solidFill>
                <a:latin typeface="Calibri" pitchFamily="34" charset="0"/>
                <a:ea typeface="Calibri" pitchFamily="34" charset="-122"/>
                <a:cs typeface="Calibri" pitchFamily="34" charset="-120"/>
              </a:rPr>
              <a:t>API Earth Engine activée</a:t>
            </a:r>
            <a:endParaRPr lang="en-US" sz="1300" dirty="0"/>
          </a:p>
        </p:txBody>
      </p:sp>
      <p:sp>
        <p:nvSpPr>
          <p:cNvPr id="30" name="Shape 22"/>
          <p:cNvSpPr/>
          <p:nvPr/>
        </p:nvSpPr>
        <p:spPr>
          <a:xfrm>
            <a:off x="4617720" y="2788920"/>
            <a:ext cx="3977640" cy="566928"/>
          </a:xfrm>
          <a:prstGeom prst="roundRect">
            <a:avLst>
              <a:gd name="adj" fmla="val 12903"/>
            </a:avLst>
          </a:prstGeom>
          <a:solidFill>
            <a:srgbClr val="F4F7F5"/>
          </a:solidFill>
          <a:ln w="9525">
            <a:solidFill>
              <a:srgbClr val="D5DED9"/>
            </a:solidFill>
            <a:prstDash val="solid"/>
          </a:ln>
        </p:spPr>
      </p:sp>
      <p:pic>
        <p:nvPicPr>
          <p:cNvPr id="31" name="Image 5" descr="preencoded.png">    </p:cNvPr>
          <p:cNvPicPr>
            <a:picLocks noChangeAspect="1"/>
          </p:cNvPicPr>
          <p:nvPr/>
        </p:nvPicPr>
        <p:blipFill>
          <a:blip r:embed="rId6"/>
          <a:stretch>
            <a:fillRect/>
          </a:stretch>
        </p:blipFill>
        <p:spPr>
          <a:xfrm>
            <a:off x="4800600" y="2944368"/>
            <a:ext cx="256032" cy="256032"/>
          </a:xfrm>
          <a:prstGeom prst="rect">
            <a:avLst/>
          </a:prstGeom>
        </p:spPr>
      </p:pic>
      <p:sp>
        <p:nvSpPr>
          <p:cNvPr id="32" name="Text 23"/>
          <p:cNvSpPr txBox="1"/>
          <p:nvPr/>
        </p:nvSpPr>
        <p:spPr>
          <a:xfrm>
            <a:off x="5212080" y="2788920"/>
            <a:ext cx="3291840" cy="566928"/>
          </a:xfrm>
          <a:prstGeom prst="rect">
            <a:avLst/>
          </a:prstGeom>
          <a:noFill/>
          <a:ln/>
        </p:spPr>
        <p:txBody>
          <a:bodyPr wrap="square" lIns="0" tIns="0" rIns="0" bIns="0" rtlCol="0" anchor="ctr"/>
          <a:lstStyle/>
          <a:p>
            <a:pPr indent="0" marL="0">
              <a:buNone/>
            </a:pPr>
            <a:r>
              <a:rPr lang="en-US" sz="1300" dirty="0">
                <a:solidFill>
                  <a:srgbClr val="231F20"/>
                </a:solidFill>
                <a:latin typeface="Calibri" pitchFamily="34" charset="0"/>
                <a:ea typeface="Calibri" pitchFamily="34" charset="-122"/>
                <a:cs typeface="Calibri" pitchFamily="34" charset="-120"/>
              </a:rPr>
              <a:t>Identifiant noté — pas le nom</a:t>
            </a:r>
            <a:endParaRPr lang="en-US" sz="1300" dirty="0"/>
          </a:p>
        </p:txBody>
      </p:sp>
      <p:sp>
        <p:nvSpPr>
          <p:cNvPr id="33" name="Shape 24"/>
          <p:cNvSpPr/>
          <p:nvPr/>
        </p:nvSpPr>
        <p:spPr>
          <a:xfrm>
            <a:off x="457200" y="3520440"/>
            <a:ext cx="3977640" cy="566928"/>
          </a:xfrm>
          <a:prstGeom prst="roundRect">
            <a:avLst>
              <a:gd name="adj" fmla="val 12903"/>
            </a:avLst>
          </a:prstGeom>
          <a:solidFill>
            <a:srgbClr val="F4F7F5"/>
          </a:solidFill>
          <a:ln w="9525">
            <a:solidFill>
              <a:srgbClr val="D5DED9"/>
            </a:solidFill>
            <a:prstDash val="solid"/>
          </a:ln>
        </p:spPr>
      </p:sp>
      <p:pic>
        <p:nvPicPr>
          <p:cNvPr id="34" name="Image 6" descr="preencoded.png">    </p:cNvPr>
          <p:cNvPicPr>
            <a:picLocks noChangeAspect="1"/>
          </p:cNvPicPr>
          <p:nvPr/>
        </p:nvPicPr>
        <p:blipFill>
          <a:blip r:embed="rId7"/>
          <a:stretch>
            <a:fillRect/>
          </a:stretch>
        </p:blipFill>
        <p:spPr>
          <a:xfrm>
            <a:off x="640080" y="3675888"/>
            <a:ext cx="256032" cy="256032"/>
          </a:xfrm>
          <a:prstGeom prst="rect">
            <a:avLst/>
          </a:prstGeom>
        </p:spPr>
      </p:pic>
      <p:sp>
        <p:nvSpPr>
          <p:cNvPr id="35" name="Text 25"/>
          <p:cNvSpPr txBox="1"/>
          <p:nvPr/>
        </p:nvSpPr>
        <p:spPr>
          <a:xfrm>
            <a:off x="1051560" y="3520440"/>
            <a:ext cx="3291840" cy="566928"/>
          </a:xfrm>
          <a:prstGeom prst="rect">
            <a:avLst/>
          </a:prstGeom>
          <a:noFill/>
          <a:ln/>
        </p:spPr>
        <p:txBody>
          <a:bodyPr wrap="square" lIns="0" tIns="0" rIns="0" bIns="0" rtlCol="0" anchor="ctr"/>
          <a:lstStyle/>
          <a:p>
            <a:pPr indent="0" marL="0">
              <a:buNone/>
            </a:pPr>
            <a:r>
              <a:rPr lang="en-US" sz="1300" dirty="0">
                <a:solidFill>
                  <a:srgbClr val="231F20"/>
                </a:solidFill>
                <a:latin typeface="Calibri" pitchFamily="34" charset="0"/>
                <a:ea typeface="Calibri" pitchFamily="34" charset="-122"/>
                <a:cs typeface="Calibri" pitchFamily="34" charset="-120"/>
              </a:rPr>
              <a:t>Test des 30 secondes réussi</a:t>
            </a:r>
            <a:endParaRPr lang="en-US" sz="1300" dirty="0"/>
          </a:p>
        </p:txBody>
      </p:sp>
      <p:sp>
        <p:nvSpPr>
          <p:cNvPr id="36" name="Shape 26"/>
          <p:cNvSpPr/>
          <p:nvPr/>
        </p:nvSpPr>
        <p:spPr>
          <a:xfrm>
            <a:off x="4617720" y="3520440"/>
            <a:ext cx="3977640" cy="566928"/>
          </a:xfrm>
          <a:prstGeom prst="roundRect">
            <a:avLst>
              <a:gd name="adj" fmla="val 12903"/>
            </a:avLst>
          </a:prstGeom>
          <a:solidFill>
            <a:srgbClr val="F4F7F5"/>
          </a:solidFill>
          <a:ln w="9525">
            <a:solidFill>
              <a:srgbClr val="D5DED9"/>
            </a:solidFill>
            <a:prstDash val="solid"/>
          </a:ln>
        </p:spPr>
      </p:sp>
      <p:pic>
        <p:nvPicPr>
          <p:cNvPr id="37" name="Image 7" descr="preencoded.png">    </p:cNvPr>
          <p:cNvPicPr>
            <a:picLocks noChangeAspect="1"/>
          </p:cNvPicPr>
          <p:nvPr/>
        </p:nvPicPr>
        <p:blipFill>
          <a:blip r:embed="rId8"/>
          <a:stretch>
            <a:fillRect/>
          </a:stretch>
        </p:blipFill>
        <p:spPr>
          <a:xfrm>
            <a:off x="4800600" y="3675888"/>
            <a:ext cx="256032" cy="256032"/>
          </a:xfrm>
          <a:prstGeom prst="rect">
            <a:avLst/>
          </a:prstGeom>
        </p:spPr>
      </p:pic>
      <p:sp>
        <p:nvSpPr>
          <p:cNvPr id="38" name="Text 27"/>
          <p:cNvSpPr txBox="1"/>
          <p:nvPr/>
        </p:nvSpPr>
        <p:spPr>
          <a:xfrm>
            <a:off x="5212080" y="3520440"/>
            <a:ext cx="3291840" cy="566928"/>
          </a:xfrm>
          <a:prstGeom prst="rect">
            <a:avLst/>
          </a:prstGeom>
          <a:noFill/>
          <a:ln/>
        </p:spPr>
        <p:txBody>
          <a:bodyPr wrap="square" lIns="0" tIns="0" rIns="0" bIns="0" rtlCol="0" anchor="ctr"/>
          <a:lstStyle/>
          <a:p>
            <a:pPr indent="0" marL="0">
              <a:buNone/>
            </a:pPr>
            <a:r>
              <a:rPr lang="en-US" sz="1300" dirty="0">
                <a:solidFill>
                  <a:srgbClr val="231F20"/>
                </a:solidFill>
                <a:latin typeface="Calibri" pitchFamily="34" charset="0"/>
                <a:ea typeface="Calibri" pitchFamily="34" charset="-122"/>
                <a:cs typeface="Calibri" pitchFamily="34" charset="-120"/>
              </a:rPr>
              <a:t>Notebook sauvegardé dans Drive</a:t>
            </a:r>
            <a:endParaRPr lang="en-US" sz="1300" dirty="0"/>
          </a:p>
        </p:txBody>
      </p:sp>
      <p:sp>
        <p:nvSpPr>
          <p:cNvPr id="39" name="Text 28"/>
          <p:cNvSpPr txBox="1"/>
          <p:nvPr/>
        </p:nvSpPr>
        <p:spPr>
          <a:xfrm>
            <a:off x="457200" y="4590288"/>
            <a:ext cx="78638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À cocher dans l'ordre : chaque case suppose les précédentes.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RÉFÉRENCES</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Sources</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D5DED9"/>
          </a:solidFill>
          <a:ln w="12700">
            <a:solidFill>
              <a:srgbClr val="D5DED9"/>
            </a:solidFill>
            <a:prstDash val="solid"/>
          </a:ln>
        </p:spPr>
      </p:sp>
      <p:sp>
        <p:nvSpPr>
          <p:cNvPr id="10" name="Shape 8"/>
          <p:cNvSpPr/>
          <p:nvPr/>
        </p:nvSpPr>
        <p:spPr>
          <a:xfrm>
            <a:off x="8522208" y="301752"/>
            <a:ext cx="100584" cy="100584"/>
          </a:xfrm>
          <a:prstGeom prst="ellipse">
            <a:avLst/>
          </a:prstGeom>
          <a:solidFill>
            <a:srgbClr val="D5DED9"/>
          </a:solidFill>
          <a:ln w="12700">
            <a:solidFill>
              <a:srgbClr val="D5DED9"/>
            </a:solidFill>
            <a:prstDash val="solid"/>
          </a:ln>
        </p:spPr>
      </p:sp>
      <p:sp>
        <p:nvSpPr>
          <p:cNvPr id="11" name="Shape 9"/>
          <p:cNvSpPr/>
          <p:nvPr/>
        </p:nvSpPr>
        <p:spPr>
          <a:xfrm>
            <a:off x="8705088" y="301752"/>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Préparer un projet Earth Engine · STG17 · Jour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19</a:t>
            </a:r>
            <a:endParaRPr lang="en-US" sz="850" dirty="0"/>
          </a:p>
        </p:txBody>
      </p:sp>
      <p:sp>
        <p:nvSpPr>
          <p:cNvPr id="15" name="Text 12"/>
          <p:cNvSpPr txBox="1"/>
          <p:nvPr/>
        </p:nvSpPr>
        <p:spPr>
          <a:xfrm>
            <a:off x="457200" y="1298448"/>
            <a:ext cx="3291840" cy="36576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Earth Engine access</a:t>
            </a:r>
            <a:endParaRPr lang="en-US" sz="1150" dirty="0"/>
          </a:p>
        </p:txBody>
      </p:sp>
      <p:sp>
        <p:nvSpPr>
          <p:cNvPr id="16" name="Text 13"/>
          <p:cNvSpPr txBox="1"/>
          <p:nvPr/>
        </p:nvSpPr>
        <p:spPr>
          <a:xfrm>
            <a:off x="3840480" y="1298448"/>
            <a:ext cx="4846320" cy="365760"/>
          </a:xfrm>
          <a:prstGeom prst="rect">
            <a:avLst/>
          </a:prstGeom>
          <a:noFill/>
          <a:ln/>
        </p:spPr>
        <p:txBody>
          <a:bodyPr wrap="square" lIns="0" tIns="0" rIns="0" bIns="0" rtlCol="0" anchor="ctr"/>
          <a:lstStyle/>
          <a:p>
            <a:pPr indent="0" marL="0">
              <a:buNone/>
            </a:pPr>
            <a:r>
              <a:rPr lang="en-US" sz="850" dirty="0">
                <a:solidFill>
                  <a:srgbClr val="00704A"/>
                </a:solidFill>
                <a:latin typeface="Courier New" pitchFamily="34" charset="0"/>
                <a:ea typeface="Courier New" pitchFamily="34" charset="-122"/>
                <a:cs typeface="Courier New" pitchFamily="34" charset="-120"/>
              </a:rPr>
              <a:t>developers.google.com/earth-engine/guides/access</a:t>
            </a:r>
            <a:endParaRPr lang="en-US" sz="850" dirty="0"/>
          </a:p>
        </p:txBody>
      </p:sp>
      <p:sp>
        <p:nvSpPr>
          <p:cNvPr id="17" name="Text 14"/>
          <p:cNvSpPr txBox="1"/>
          <p:nvPr/>
        </p:nvSpPr>
        <p:spPr>
          <a:xfrm>
            <a:off x="457200" y="1700784"/>
            <a:ext cx="3291840" cy="36576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Authentication and Initialization</a:t>
            </a:r>
            <a:endParaRPr lang="en-US" sz="1150" dirty="0"/>
          </a:p>
        </p:txBody>
      </p:sp>
      <p:sp>
        <p:nvSpPr>
          <p:cNvPr id="18" name="Text 15"/>
          <p:cNvSpPr txBox="1"/>
          <p:nvPr/>
        </p:nvSpPr>
        <p:spPr>
          <a:xfrm>
            <a:off x="3840480" y="1700784"/>
            <a:ext cx="4846320" cy="365760"/>
          </a:xfrm>
          <a:prstGeom prst="rect">
            <a:avLst/>
          </a:prstGeom>
          <a:noFill/>
          <a:ln/>
        </p:spPr>
        <p:txBody>
          <a:bodyPr wrap="square" lIns="0" tIns="0" rIns="0" bIns="0" rtlCol="0" anchor="ctr"/>
          <a:lstStyle/>
          <a:p>
            <a:pPr indent="0" marL="0">
              <a:buNone/>
            </a:pPr>
            <a:r>
              <a:rPr lang="en-US" sz="850" dirty="0">
                <a:solidFill>
                  <a:srgbClr val="00704A"/>
                </a:solidFill>
                <a:latin typeface="Courier New" pitchFamily="34" charset="0"/>
                <a:ea typeface="Courier New" pitchFamily="34" charset="-122"/>
                <a:cs typeface="Courier New" pitchFamily="34" charset="-120"/>
              </a:rPr>
              <a:t>developers.google.com/earth-engine/guides/auth</a:t>
            </a:r>
            <a:endParaRPr lang="en-US" sz="850" dirty="0"/>
          </a:p>
        </p:txBody>
      </p:sp>
      <p:sp>
        <p:nvSpPr>
          <p:cNvPr id="19" name="Text 16"/>
          <p:cNvSpPr txBox="1"/>
          <p:nvPr/>
        </p:nvSpPr>
        <p:spPr>
          <a:xfrm>
            <a:off x="457200" y="2103120"/>
            <a:ext cx="3291840" cy="36576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Control access to resources (rôles IAM)</a:t>
            </a:r>
            <a:endParaRPr lang="en-US" sz="1150" dirty="0"/>
          </a:p>
        </p:txBody>
      </p:sp>
      <p:sp>
        <p:nvSpPr>
          <p:cNvPr id="20" name="Text 17"/>
          <p:cNvSpPr txBox="1"/>
          <p:nvPr/>
        </p:nvSpPr>
        <p:spPr>
          <a:xfrm>
            <a:off x="3840480" y="2103120"/>
            <a:ext cx="4846320" cy="365760"/>
          </a:xfrm>
          <a:prstGeom prst="rect">
            <a:avLst/>
          </a:prstGeom>
          <a:noFill/>
          <a:ln/>
        </p:spPr>
        <p:txBody>
          <a:bodyPr wrap="square" lIns="0" tIns="0" rIns="0" bIns="0" rtlCol="0" anchor="ctr"/>
          <a:lstStyle/>
          <a:p>
            <a:pPr indent="0" marL="0">
              <a:buNone/>
            </a:pPr>
            <a:r>
              <a:rPr lang="en-US" sz="850" dirty="0">
                <a:solidFill>
                  <a:srgbClr val="00704A"/>
                </a:solidFill>
                <a:latin typeface="Courier New" pitchFamily="34" charset="0"/>
                <a:ea typeface="Courier New" pitchFamily="34" charset="-122"/>
                <a:cs typeface="Courier New" pitchFamily="34" charset="-120"/>
              </a:rPr>
              <a:t>developers.google.com/earth-engine/guides/access_control</a:t>
            </a:r>
            <a:endParaRPr lang="en-US" sz="850" dirty="0"/>
          </a:p>
        </p:txBody>
      </p:sp>
      <p:sp>
        <p:nvSpPr>
          <p:cNvPr id="21" name="Text 18"/>
          <p:cNvSpPr txBox="1"/>
          <p:nvPr/>
        </p:nvSpPr>
        <p:spPr>
          <a:xfrm>
            <a:off x="457200" y="2505456"/>
            <a:ext cx="3291840" cy="36576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Noncommercial tiers</a:t>
            </a:r>
            <a:endParaRPr lang="en-US" sz="1150" dirty="0"/>
          </a:p>
        </p:txBody>
      </p:sp>
      <p:sp>
        <p:nvSpPr>
          <p:cNvPr id="22" name="Text 19"/>
          <p:cNvSpPr txBox="1"/>
          <p:nvPr/>
        </p:nvSpPr>
        <p:spPr>
          <a:xfrm>
            <a:off x="3840480" y="2505456"/>
            <a:ext cx="4846320" cy="365760"/>
          </a:xfrm>
          <a:prstGeom prst="rect">
            <a:avLst/>
          </a:prstGeom>
          <a:noFill/>
          <a:ln/>
        </p:spPr>
        <p:txBody>
          <a:bodyPr wrap="square" lIns="0" tIns="0" rIns="0" bIns="0" rtlCol="0" anchor="ctr"/>
          <a:lstStyle/>
          <a:p>
            <a:pPr indent="0" marL="0">
              <a:buNone/>
            </a:pPr>
            <a:r>
              <a:rPr lang="en-US" sz="850" dirty="0">
                <a:solidFill>
                  <a:srgbClr val="00704A"/>
                </a:solidFill>
                <a:latin typeface="Courier New" pitchFamily="34" charset="0"/>
                <a:ea typeface="Courier New" pitchFamily="34" charset="-122"/>
                <a:cs typeface="Courier New" pitchFamily="34" charset="-120"/>
              </a:rPr>
              <a:t>developers.google.com/earth-engine/guides/noncommercial_tiers</a:t>
            </a:r>
            <a:endParaRPr lang="en-US" sz="850" dirty="0"/>
          </a:p>
        </p:txBody>
      </p:sp>
      <p:sp>
        <p:nvSpPr>
          <p:cNvPr id="23" name="Text 20"/>
          <p:cNvSpPr txBox="1"/>
          <p:nvPr/>
        </p:nvSpPr>
        <p:spPr>
          <a:xfrm>
            <a:off x="457200" y="2907792"/>
            <a:ext cx="3291840" cy="36576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Transition to Cloud projects</a:t>
            </a:r>
            <a:endParaRPr lang="en-US" sz="1150" dirty="0"/>
          </a:p>
        </p:txBody>
      </p:sp>
      <p:sp>
        <p:nvSpPr>
          <p:cNvPr id="24" name="Text 21"/>
          <p:cNvSpPr txBox="1"/>
          <p:nvPr/>
        </p:nvSpPr>
        <p:spPr>
          <a:xfrm>
            <a:off x="3840480" y="2907792"/>
            <a:ext cx="4846320" cy="365760"/>
          </a:xfrm>
          <a:prstGeom prst="rect">
            <a:avLst/>
          </a:prstGeom>
          <a:noFill/>
          <a:ln/>
        </p:spPr>
        <p:txBody>
          <a:bodyPr wrap="square" lIns="0" tIns="0" rIns="0" bIns="0" rtlCol="0" anchor="ctr"/>
          <a:lstStyle/>
          <a:p>
            <a:pPr indent="0" marL="0">
              <a:buNone/>
            </a:pPr>
            <a:r>
              <a:rPr lang="en-US" sz="850" dirty="0">
                <a:solidFill>
                  <a:srgbClr val="00704A"/>
                </a:solidFill>
                <a:latin typeface="Courier New" pitchFamily="34" charset="0"/>
                <a:ea typeface="Courier New" pitchFamily="34" charset="-122"/>
                <a:cs typeface="Courier New" pitchFamily="34" charset="-120"/>
              </a:rPr>
              <a:t>developers.google.com/earth-engine/guides/transition_to_cloud_projects</a:t>
            </a:r>
            <a:endParaRPr lang="en-US" sz="850" dirty="0"/>
          </a:p>
        </p:txBody>
      </p:sp>
      <p:sp>
        <p:nvSpPr>
          <p:cNvPr id="25" name="Text 22"/>
          <p:cNvSpPr txBox="1"/>
          <p:nvPr/>
        </p:nvSpPr>
        <p:spPr>
          <a:xfrm>
            <a:off x="457200" y="3310128"/>
            <a:ext cx="3291840" cy="36576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Noncommercial use — éligibilité</a:t>
            </a:r>
            <a:endParaRPr lang="en-US" sz="1150" dirty="0"/>
          </a:p>
        </p:txBody>
      </p:sp>
      <p:sp>
        <p:nvSpPr>
          <p:cNvPr id="26" name="Text 23"/>
          <p:cNvSpPr txBox="1"/>
          <p:nvPr/>
        </p:nvSpPr>
        <p:spPr>
          <a:xfrm>
            <a:off x="3840480" y="3310128"/>
            <a:ext cx="4846320" cy="365760"/>
          </a:xfrm>
          <a:prstGeom prst="rect">
            <a:avLst/>
          </a:prstGeom>
          <a:noFill/>
          <a:ln/>
        </p:spPr>
        <p:txBody>
          <a:bodyPr wrap="square" lIns="0" tIns="0" rIns="0" bIns="0" rtlCol="0" anchor="ctr"/>
          <a:lstStyle/>
          <a:p>
            <a:pPr indent="0" marL="0">
              <a:buNone/>
            </a:pPr>
            <a:r>
              <a:rPr lang="en-US" sz="850" dirty="0">
                <a:solidFill>
                  <a:srgbClr val="00704A"/>
                </a:solidFill>
                <a:latin typeface="Courier New" pitchFamily="34" charset="0"/>
                <a:ea typeface="Courier New" pitchFamily="34" charset="-122"/>
                <a:cs typeface="Courier New" pitchFamily="34" charset="-120"/>
              </a:rPr>
              <a:t>earthengine.google.com/noncommercial</a:t>
            </a:r>
            <a:endParaRPr lang="en-US" sz="850" dirty="0"/>
          </a:p>
        </p:txBody>
      </p:sp>
      <p:sp>
        <p:nvSpPr>
          <p:cNvPr id="27" name="Text 24"/>
          <p:cNvSpPr txBox="1"/>
          <p:nvPr/>
        </p:nvSpPr>
        <p:spPr>
          <a:xfrm>
            <a:off x="457200" y="3712464"/>
            <a:ext cx="3291840" cy="36576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Catalogue : VIIRS DNB Annual V2.2</a:t>
            </a:r>
            <a:endParaRPr lang="en-US" sz="1150" dirty="0"/>
          </a:p>
        </p:txBody>
      </p:sp>
      <p:sp>
        <p:nvSpPr>
          <p:cNvPr id="28" name="Text 25"/>
          <p:cNvSpPr txBox="1"/>
          <p:nvPr/>
        </p:nvSpPr>
        <p:spPr>
          <a:xfrm>
            <a:off x="3840480" y="3712464"/>
            <a:ext cx="4846320" cy="365760"/>
          </a:xfrm>
          <a:prstGeom prst="rect">
            <a:avLst/>
          </a:prstGeom>
          <a:noFill/>
          <a:ln/>
        </p:spPr>
        <p:txBody>
          <a:bodyPr wrap="square" lIns="0" tIns="0" rIns="0" bIns="0" rtlCol="0" anchor="ctr"/>
          <a:lstStyle/>
          <a:p>
            <a:pPr indent="0" marL="0">
              <a:buNone/>
            </a:pPr>
            <a:r>
              <a:rPr lang="en-US" sz="850" dirty="0">
                <a:solidFill>
                  <a:srgbClr val="00704A"/>
                </a:solidFill>
                <a:latin typeface="Courier New" pitchFamily="34" charset="0"/>
                <a:ea typeface="Courier New" pitchFamily="34" charset="-122"/>
                <a:cs typeface="Courier New" pitchFamily="34" charset="-120"/>
              </a:rPr>
              <a:t>developers.google.com/earth-engine/datasets/catalog/NOAA_VIIRS_DNB_ANNUAL_V22</a:t>
            </a:r>
            <a:endParaRPr lang="en-US" sz="850" dirty="0"/>
          </a:p>
        </p:txBody>
      </p:sp>
      <p:sp>
        <p:nvSpPr>
          <p:cNvPr id="29" name="Text 26"/>
          <p:cNvSpPr txBox="1"/>
          <p:nvPr/>
        </p:nvSpPr>
        <p:spPr>
          <a:xfrm>
            <a:off x="457200" y="4114800"/>
            <a:ext cx="3291840" cy="36576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Catalogue : VIIRS DNB Monthly VCMSLCFG</a:t>
            </a:r>
            <a:endParaRPr lang="en-US" sz="1150" dirty="0"/>
          </a:p>
        </p:txBody>
      </p:sp>
      <p:sp>
        <p:nvSpPr>
          <p:cNvPr id="30" name="Text 27"/>
          <p:cNvSpPr txBox="1"/>
          <p:nvPr/>
        </p:nvSpPr>
        <p:spPr>
          <a:xfrm>
            <a:off x="3840480" y="4114800"/>
            <a:ext cx="4846320" cy="365760"/>
          </a:xfrm>
          <a:prstGeom prst="rect">
            <a:avLst/>
          </a:prstGeom>
          <a:noFill/>
          <a:ln/>
        </p:spPr>
        <p:txBody>
          <a:bodyPr wrap="square" lIns="0" tIns="0" rIns="0" bIns="0" rtlCol="0" anchor="ctr"/>
          <a:lstStyle/>
          <a:p>
            <a:pPr indent="0" marL="0">
              <a:buNone/>
            </a:pPr>
            <a:r>
              <a:rPr lang="en-US" sz="850" dirty="0">
                <a:solidFill>
                  <a:srgbClr val="00704A"/>
                </a:solidFill>
                <a:latin typeface="Courier New" pitchFamily="34" charset="0"/>
                <a:ea typeface="Courier New" pitchFamily="34" charset="-122"/>
                <a:cs typeface="Courier New" pitchFamily="34" charset="-120"/>
              </a:rPr>
              <a:t>developers.google.com/earth-engine/datasets/catalog/NOAA_VIIRS_DNB_MONTHLY_V1_VCMSLCFG</a:t>
            </a:r>
            <a:endParaRPr lang="en-US" sz="850" dirty="0"/>
          </a:p>
        </p:txBody>
      </p:sp>
      <p:sp>
        <p:nvSpPr>
          <p:cNvPr id="31" name="Text 28"/>
          <p:cNvSpPr txBox="1"/>
          <p:nvPr/>
        </p:nvSpPr>
        <p:spPr>
          <a:xfrm>
            <a:off x="457200" y="4590288"/>
            <a:ext cx="78638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Documentation consultée en septembre 2026. Les captures proviennent d'un projet d'atelier réel ; les schémas sont indicatifs.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1188720"/>
            <a:ext cx="7315200" cy="274320"/>
          </a:xfrm>
          <a:prstGeom prst="rect">
            <a:avLst/>
          </a:prstGeom>
          <a:noFill/>
          <a:ln/>
        </p:spPr>
        <p:txBody>
          <a:bodyPr wrap="square" lIns="0" tIns="0" rIns="0" bIns="0" rtlCol="0" anchor="ctr"/>
          <a:lstStyle/>
          <a:p>
            <a:pPr indent="0" marL="0">
              <a:buNone/>
            </a:pPr>
            <a:r>
              <a:rPr lang="en-US" sz="1100" b="1" spc="300" kern="0" dirty="0">
                <a:solidFill>
                  <a:srgbClr val="F5C242"/>
                </a:solidFill>
                <a:latin typeface="Calibri" pitchFamily="34" charset="0"/>
                <a:ea typeface="Calibri" pitchFamily="34" charset="-122"/>
                <a:cs typeface="Calibri" pitchFamily="34" charset="-120"/>
              </a:rPr>
              <a:t>PRÊT À LANCER</a:t>
            </a:r>
            <a:endParaRPr lang="en-US" sz="1100" dirty="0"/>
          </a:p>
        </p:txBody>
      </p:sp>
      <p:sp>
        <p:nvSpPr>
          <p:cNvPr id="3" name="Text 1"/>
          <p:cNvSpPr txBox="1"/>
          <p:nvPr/>
        </p:nvSpPr>
        <p:spPr>
          <a:xfrm>
            <a:off x="548640" y="1554480"/>
            <a:ext cx="6949440" cy="137160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Votre projet est prêt. Place aux lumières.</a:t>
            </a:r>
            <a:endParaRPr lang="en-US" sz="4000" dirty="0"/>
          </a:p>
        </p:txBody>
      </p:sp>
      <p:sp>
        <p:nvSpPr>
          <p:cNvPr id="4" name="Text 2"/>
          <p:cNvSpPr txBox="1"/>
          <p:nvPr/>
        </p:nvSpPr>
        <p:spPr>
          <a:xfrm>
            <a:off x="548640" y="3017520"/>
            <a:ext cx="6400800" cy="822960"/>
          </a:xfrm>
          <a:prstGeom prst="rect">
            <a:avLst/>
          </a:prstGeom>
          <a:noFill/>
          <a:ln/>
        </p:spPr>
        <p:txBody>
          <a:bodyPr wrap="square" lIns="0" tIns="0" rIns="0" bIns="0" rtlCol="0" anchor="t"/>
          <a:lstStyle/>
          <a:p>
            <a:pPr indent="0" marL="0">
              <a:buNone/>
            </a:pPr>
            <a:r>
              <a:rPr lang="en-US" sz="1700" i="1" dirty="0">
                <a:solidFill>
                  <a:srgbClr val="E6F6EE"/>
                </a:solidFill>
                <a:latin typeface="Calibri" pitchFamily="34" charset="0"/>
                <a:ea typeface="Calibri" pitchFamily="34" charset="-122"/>
                <a:cs typeface="Calibri" pitchFamily="34" charset="-120"/>
              </a:rPr>
              <a:t>Tapez l'identifiant, appuyez sur Entrée, autorisez l'accès — puis laissez le notebook travailler jusqu'au tableau de bord.</a:t>
            </a:r>
            <a:endParaRPr lang="en-US" sz="1700" dirty="0"/>
          </a:p>
        </p:txBody>
      </p:sp>
      <p:pic>
        <p:nvPicPr>
          <p:cNvPr id="6" name="Image 0" descr="preencoded.png">    </p:cNvPr>
          <p:cNvPicPr>
            <a:picLocks noChangeAspect="1"/>
          </p:cNvPicPr>
          <p:nvPr/>
        </p:nvPicPr>
        <p:blipFill>
          <a:blip r:embed="rId2"/>
          <a:stretch>
            <a:fillRect/>
          </a:stretch>
        </p:blipFill>
        <p:spPr>
          <a:xfrm>
            <a:off x="7635240" y="3566160"/>
            <a:ext cx="640080" cy="640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Préparer un projet Google Earth Engine pour les lumières nocturnes</dc:title>
  <dc:subject>PptxGenJS Presentation</dc:subject>
  <dc:creator>Atelier STG17</dc:creator>
  <cp:lastModifiedBy>Atelier STG17</cp:lastModifiedBy>
  <cp:revision>1</cp:revision>
  <dcterms:created xsi:type="dcterms:W3CDTF">2026-09-21T10:25:17Z</dcterms:created>
  <dcterms:modified xsi:type="dcterms:W3CDTF">2026-09-21T10:25:17Z</dcterms:modified>
</cp:coreProperties>
</file>