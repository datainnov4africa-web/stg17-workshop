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2.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31F20"/>
                </a:solidFill>
                <a:latin typeface="Calibri"/>
              </a:defRPr>
            </a:pPr>
            <a:r>
              <a:rPr sz="1100" b="0" i="0" u="none" strike="noStrike">
                <a:solidFill>
                  <a:srgbClr val="231F20"/>
                </a:solidFill>
                <a:latin typeface="Calibri"/>
              </a:rPr>
              <a:t>Réponse du capteur à la luminosité (schéma)</a:t>
            </a:r>
          </a:p>
        </c:rich>
      </c:tx>
      <c:layout/>
      <c:overlay val="0"/>
    </c:title>
    <c:autoTitleDeleted val="0"/>
    <c:plotArea>
      <c:layout/>
      <c:lineChart>
        <c:varyColors val="0"/>
        <c:ser>
          <c:idx val="0"/>
          <c:order val="0"/>
          <c:tx>
            <c:strRef>
              <c:f>Sheet1!$B$1</c:f>
              <c:strCache>
                <c:ptCount val="1"/>
                <c:pt idx="0">
                  <c:v>DMSP-OLS (6 bits)</c:v>
                </c:pt>
              </c:strCache>
            </c:strRef>
          </c:tx>
          <c:spPr>
            <a:solidFill>
              <a:srgbClr val="A9B5B0"/>
            </a:solidFill>
            <a:ln w="31750" cap="flat">
              <a:solidFill>
                <a:srgbClr val="A9B5B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9B5B0"/>
              </a:solidFill>
              <a:ln w="9525" cap="flat">
                <a:solidFill>
                  <a:srgbClr val="A9B5B0"/>
                </a:solidFill>
                <a:prstDash val="solid"/>
                <a:round/>
              </a:ln>
              <a:effectLst/>
            </c:spPr>
          </c:marker>
          <c:cat>
            <c:multiLvlStrRef>
              <c:f>Sheet1!$A$2:$A$15</c:f>
              <c:multiLvlStrCache>
                <c:ptCount val="14"/>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lvl>
              </c:multiLvlStrCache>
            </c:multiLvlStrRef>
          </c:cat>
          <c:val>
            <c:numRef>
              <c:f>Sheet1!$B$2:$B$15</c:f>
              <c:numCache>
                <c:formatCode>General</c:formatCode>
                <c:ptCount val="14"/>
                <c:pt idx="0">
                  <c:v>18</c:v>
                </c:pt>
                <c:pt idx="1">
                  <c:v>36</c:v>
                </c:pt>
                <c:pt idx="2">
                  <c:v>55</c:v>
                </c:pt>
                <c:pt idx="3">
                  <c:v>73</c:v>
                </c:pt>
                <c:pt idx="4">
                  <c:v>91</c:v>
                </c:pt>
                <c:pt idx="5">
                  <c:v>100</c:v>
                </c:pt>
                <c:pt idx="6">
                  <c:v>100</c:v>
                </c:pt>
                <c:pt idx="7">
                  <c:v>100</c:v>
                </c:pt>
                <c:pt idx="8">
                  <c:v>100</c:v>
                </c:pt>
                <c:pt idx="9">
                  <c:v>100</c:v>
                </c:pt>
                <c:pt idx="10">
                  <c:v>100</c:v>
                </c:pt>
                <c:pt idx="11">
                  <c:v>100</c:v>
                </c:pt>
                <c:pt idx="12">
                  <c:v>100</c:v>
                </c:pt>
                <c:pt idx="13">
                  <c:v>100</c:v>
                </c:pt>
              </c:numCache>
            </c:numRef>
          </c:val>
          <c:smooth val="0"/>
        </c:ser>
        <c:ser>
          <c:idx val="1"/>
          <c:order val="1"/>
          <c:tx>
            <c:strRef>
              <c:f>Sheet1!$C$1</c:f>
              <c:strCache>
                <c:ptCount val="1"/>
                <c:pt idx="0">
                  <c:v>VIIRS DNB (14 bits)</c:v>
                </c:pt>
              </c:strCache>
            </c:strRef>
          </c:tx>
          <c:spPr>
            <a:solidFill>
              <a:srgbClr val="00A86A"/>
            </a:solidFill>
            <a:ln w="31750" cap="flat">
              <a:solidFill>
                <a:srgbClr val="00A86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0A86A"/>
              </a:solidFill>
              <a:ln w="9525" cap="flat">
                <a:solidFill>
                  <a:srgbClr val="00A86A"/>
                </a:solidFill>
                <a:prstDash val="solid"/>
                <a:round/>
              </a:ln>
              <a:effectLst/>
            </c:spPr>
          </c:marker>
          <c:cat>
            <c:multiLvlStrRef>
              <c:f>Sheet1!$A$2:$A$15</c:f>
              <c:multiLvlStrCache>
                <c:ptCount val="14"/>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lvl>
              </c:multiLvlStrCache>
            </c:multiLvlStrRef>
          </c:cat>
          <c:val>
            <c:numRef>
              <c:f>Sheet1!$C$2:$C$15</c:f>
              <c:numCache>
                <c:formatCode>General</c:formatCode>
                <c:ptCount val="14"/>
                <c:pt idx="0">
                  <c:v>7</c:v>
                </c:pt>
                <c:pt idx="1">
                  <c:v>14</c:v>
                </c:pt>
                <c:pt idx="2">
                  <c:v>21</c:v>
                </c:pt>
                <c:pt idx="3">
                  <c:v>29</c:v>
                </c:pt>
                <c:pt idx="4">
                  <c:v>36</c:v>
                </c:pt>
                <c:pt idx="5">
                  <c:v>43</c:v>
                </c:pt>
                <c:pt idx="6">
                  <c:v>50</c:v>
                </c:pt>
                <c:pt idx="7">
                  <c:v>57</c:v>
                </c:pt>
                <c:pt idx="8">
                  <c:v>64</c:v>
                </c:pt>
                <c:pt idx="9">
                  <c:v>71</c:v>
                </c:pt>
                <c:pt idx="10">
                  <c:v>79</c:v>
                </c:pt>
                <c:pt idx="11">
                  <c:v>86</c:v>
                </c:pt>
                <c:pt idx="12">
                  <c:v>93</c:v>
                </c:pt>
                <c:pt idx="13">
                  <c:v>100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E6964"/>
                    </a:solidFill>
                    <a:latin typeface="Arial"/>
                  </a:defRPr>
                </a:pPr>
                <a:r>
                  <a:rPr sz="900" b="0" i="0" u="none" strike="noStrike">
                    <a:solidFill>
                      <a:srgbClr val="5E6964"/>
                    </a:solidFill>
                    <a:latin typeface="Arial"/>
                  </a:rPr>
                  <a:t>Luminosité de surface (relative)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E6964"/>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1E7E4"/>
              </a:solidFill>
              <a:prstDash val="solid"/>
              <a:round/>
            </a:ln>
          </c:spPr>
        </c:majorGridlines>
        <c:title>
          <c:tx>
            <c:rich>
              <a:bodyPr/>
              <a:lstStyle/>
              <a:p>
                <a:pPr>
                  <a:defRPr sz="900" b="0" i="0" u="none" strike="noStrike">
                    <a:solidFill>
                      <a:srgbClr val="5E6964"/>
                    </a:solidFill>
                    <a:latin typeface="Arial"/>
                  </a:defRPr>
                </a:pPr>
                <a:r>
                  <a:rPr sz="900" b="0" i="0" u="none" strike="noStrike">
                    <a:solidFill>
                      <a:srgbClr val="5E6964"/>
                    </a:solidFill>
                    <a:latin typeface="Arial"/>
                  </a:rPr>
                  <a:t>Valeur enregistrée (% du max.)</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E696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E696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231F20"/>
                </a:solidFill>
                <a:latin typeface="Calibri"/>
              </a:defRPr>
            </a:pPr>
            <a:r>
              <a:rPr sz="1050" b="0" i="0" u="none" strike="noStrike">
                <a:solidFill>
                  <a:srgbClr val="231F20"/>
                </a:solidFill>
                <a:latin typeface="Calibri"/>
              </a:rPr>
              <a:t>Afrique subsaharienne rurale sans électricité (millions)</a:t>
            </a:r>
          </a:p>
        </c:rich>
      </c:tx>
      <c:layout/>
      <c:overlay val="0"/>
    </c:title>
    <c:autoTitleDeleted val="0"/>
    <c:plotArea>
      <c:layout/>
      <c:barChart>
        <c:barDir val="col"/>
        <c:grouping val="clustered"/>
        <c:varyColors val="0"/>
        <c:ser>
          <c:idx val="0"/>
          <c:order val="0"/>
          <c:tx>
            <c:strRef>
              <c:f>Sheet1!$B$1</c:f>
              <c:strCache>
                <c:ptCount val="1"/>
                <c:pt idx="0">
                  <c:v>Population rurale sans électricité (millions)</c:v>
                </c:pt>
              </c:strCache>
            </c:strRef>
          </c:tx>
          <c:spPr>
            <a:solidFill>
              <a:srgbClr val="A9B5B0"/>
            </a:solidFill>
            <a:effectLst/>
          </c:spPr>
          <c:invertIfNegative val="0"/>
          <c:dLbls>
            <c:numFmt formatCode="#,##0" sourceLinked="0"/>
            <c:txPr>
              <a:bodyPr/>
              <a:lstStyle/>
              <a:p>
                <a:pPr>
                  <a:defRPr b="1" i="0" strike="noStrike" sz="1100" u="none">
                    <a:solidFill>
                      <a:srgbClr val="231F20"/>
                    </a:solidFill>
                    <a:latin typeface="Arial"/>
                  </a:defRPr>
                </a:pPr>
              </a:p>
            </c:txPr>
            <c:showLegendKey val="0"/>
            <c:showVal val="1"/>
            <c:showCatName val="0"/>
            <c:showSerName val="0"/>
            <c:showPercent val="0"/>
            <c:showBubbleSize val="0"/>
            <c:showLeaderLines val="0"/>
          </c:dLbls>
          <c:dPt>
            <c:idx val="0"/>
            <c:invertIfNegative val="0"/>
            <c:bubble3D val="0"/>
            <c:spPr>
              <a:solidFill>
                <a:srgbClr val="A9B5B0"/>
              </a:solidFill>
              <a:effectLst/>
            </c:spPr>
          </c:dPt>
          <c:dPt>
            <c:idx val="1"/>
            <c:invertIfNegative val="0"/>
            <c:bubble3D val="0"/>
            <c:spPr>
              <a:solidFill>
                <a:srgbClr val="B83B2E"/>
              </a:solidFill>
              <a:effectLst/>
            </c:spPr>
          </c:dPt>
          <c:cat>
            <c:multiLvlStrRef>
              <c:f>Sheet1!$A$2:$A$3</c:f>
              <c:multiLvlStrCache>
                <c:ptCount val="2"/>
                <c:lvl>
                  <c:pt idx="0">
                    <c:v>2010</c:v>
                  </c:pt>
                  <c:pt idx="1">
                    <c:v>2024</c:v>
                  </c:pt>
                </c:lvl>
              </c:multiLvlStrCache>
            </c:multiLvlStrRef>
          </c:cat>
          <c:val>
            <c:numRef>
              <c:f>Sheet1!$B$2:$B$3</c:f>
              <c:numCache>
                <c:formatCode>General</c:formatCode>
                <c:ptCount val="2"/>
                <c:pt idx="0">
                  <c:v>376</c:v>
                </c:pt>
                <c:pt idx="1">
                  <c:v>447</c:v>
                </c:pt>
              </c:numCache>
            </c:numRef>
          </c:val>
        </c:ser>
        <c:dLbls>
          <c:numFmt formatCode="#,##0" sourceLinked="0"/>
          <c:txPr>
            <a:bodyPr/>
            <a:lstStyle/>
            <a:p>
              <a:pPr>
                <a:defRPr b="1" i="0" strike="noStrike" sz="1100" u="none">
                  <a:solidFill>
                    <a:srgbClr val="231F20"/>
                  </a:solidFill>
                  <a:latin typeface="Arial"/>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964"/>
                </a:solidFill>
                <a:latin typeface="Arial"/>
              </a:defRPr>
            </a:pPr>
            <a:endParaRPr lang="en-US"/>
          </a:p>
        </c:txPr>
        <c:crossAx val="2094734552"/>
        <c:crosses val="autoZero"/>
        <c:auto val="1"/>
        <c:lblAlgn val="ctr"/>
        <c:noMultiLvlLbl val="1"/>
      </c:catAx>
      <c:valAx>
        <c:axId val="2094734552"/>
        <c:scaling>
          <c:orientation val="minMax"/>
          <c:max val="52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[09h00 · 30 secondes] Bienvenue au Jour 4. Cadrer la journée : il ne s’agit pas d’une galerie de belles images de l’Afrique la nuit, mais d’une séance sur un instrument de mesure qu’un INS peut utiliser, tester et diffuser. L’exposé est volontairement court — 30 minutes — car le reste de la journée se passe dans les données. Question d’ouverture à la salle : « Si vous ne pouviez prendre qu’une seule photo de votre pays pour juger de sa situation, que photographieriez-vous ? » La réponse de ce domaine : photographiez-le la nuit. Note : les diapositives signalées RÉFÉRENCE dans ces notes servent aux laboratoires ; les parcourir rapidement en 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Ancrer la séance dans le contexte institutionnel. Le STG17 est le Groupe technique spécialisé de la SHaSA II chargé des questions émergentes. Lors de la première réunion annuelle à Kigali (10–12 septembre 2025), les pays ont posé le même diagnostic : l’expérience des données satellitaires et alternatives existe sur le continent, mais elle est inégalement documentée et rarement partagée sous une forme réutilisable. La journée vise à y remédier pour une source de données. Souligner que ce qui est produit aujourd’hui ne reste pas dans la salle : cela alimente le Plan d’action 2025–2030 — lignes directrices méthodologiques, manuels de référence et présentations pays du Jour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Montrer toute la journée avant l’exposé. Chaque laboratoire produit un résultat concret, et la chaîne aboutit à un dépôt GitHub public et à du matériel pour vendredi. Souligner la logique : nous NOMMONS les artefacts dans cet exposé, vous les TRAQUEZ à 10h45, vous CALCULEZ à 14h00 et vous JUGEZ l’aptitude à l’emploi à 15h45. La déclaration de limites n’est pas accessoire : c’est un livrable.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Donner la carte avant le territoire. Chaque section répond à une question. La section 5 (Limites) n’est pas un appendice : c’est là que se trouve l’essentiel du contenu intellectuel du domaine, et elle guide le laboratoire de ce matin. Lire à voix haute les trois objectifs d’apprentissage.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 ~5 min] Transition. On part de l’idée physique, on définit précisément l’objet, puis on montre la chaîne d’hypothèses dont dépend toute étude.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C’est le pivot conceptuel de l’exposé. Presque tout ce que l’on fait après le coucher du soleil nécessite de la lumière, et une partie s’échappe vers le haut. Ce seul fait fournit une mesure dotée de quatre propriétés qu’aucun recensement, enquête ou registre ne réunit à la fois : cohérente à l’échelle mondiale, continue dans l’espace, politiquement neutre et librement accessible. Le mot « trahit » est délibéré : nous observons de la lumière perdue, pas l’activité elle-même — semer dès maintenant le doute méthodique. Pour un INS, la comparaison clé porte sur la fréquence et la finesse : un recensement environ tous les dix ans, des enquêtes tous les quelques ans, des lumières chaque nuit pour chaque demi-kilomètre.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Lire une fois la définition de travail, puis s’attarder sur la colonne de droite. L’erreur la plus fréquente consiste à traiter le composite comme une photo et à raisonner visuellement plutôt que radiométriquement. La deuxième consiste à passer de la radiance à la population ou au revenu sans justifier le lien. Les unités comptent : nanowatts par centimètre carré par stéradian — vous les retrouverez dans les fichiers HDF à 09h30.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Parcourir la chaîne dans un sens, puis dans l’autre. Le sens inverse est l’exercice de diagnostic : face à un pixel sombre dans votre pays, énumérez tous les maillons qui pourraient l’expliquer. Le panneau du bas donne des exemples africains : les délestages rompent le maillon 1 ; les lanternes solaires de faible puissance peuvent ne pas émettre assez de lumière vers le haut pour franchir le seuil de détection ; les nuages de la saison des pluies et la poussière ou la fumée des feux de brousse en saison sèche atténuent le maillon 4. Les participants doivent pouvoir formuler au moins cinq explications distinctes de l’obscurité. C’est exactement le raisonnement attendu au laboratoire de validation cet après-midi.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 ~4 min] Le choix du capteur détermine les questions auxquelles on peut répondre. Garder un rythme soutenu.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L’ironie historique mérite d’être dite : le DMSP a été conçu pour voir les nuages au clair de lune à des fins de prévision météorologique militaire. Les lumières des villes étaient du bruit ; il a fallu deux décennies pour qu’on en fasse le signal. Message clé sur la continuité : VIIRS vole désormais sur trois satellites (Suomi NPP, NOAA-20, NOAA-21) ; un INS qui investit aujourd’hui dans les méthodes NTL investit dans un flux de données durable. Les produits Black Marble existent pour Suomi NPP (VNP46) et NOAA-20 (VJ146).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Point pédagogique : le DMSP offre un long historique mais des valeurs grossières, saturées et non étalonnées ; VIIRS offre la précision, mais seulement depuis 2012. Toute série longue pour votre pays nécessite les deux, donc une étape explicite d’harmonisation — c’est l’artefact de « discontinuité des capteurs » que nous verrons plus loin. Mentionner que la nouvelle génération (SDGSAT-1, Luojia, commerciaux) ajoute la couleur, dimension absente des deux capteurs historiques.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L’analogie la plus claire : imaginez un thermomètre qui n’affiche que « 40 °C ou plus ». On peut encore étudier les lieux froids, mais toute question sur la chaleur devient une question sur votre modèle plutôt que sur vos données. C’est la situation du DMSP pour les centres de Lagos, du Caire ou de Johannesburg. VIIRS a été conçu autour de cette limite : sa bande jour/nuit couvre environ sept ordres de grandeur grâce à trois étages de gain. Le graphique est schématique — pas des données ajustées. Pour l’Afrique, l’autre extrémité de la plage compte autant : la plupart des localités rurales sont proches du seuil de détection ; la sensibilité nous importe donc davantage que la saturation.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 ~7 min] La section la plus proche des laboratoires. Les diapositives 15 et 17 sont celles auxquelles les participants reviendront pendant la journée.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Insister sur l’étape 1 pour notre continent. Le filtrage des nuages explique pourquoi le bassin du Congo et la côte ouest-africaine ont bien moins d’observations exploitables que le Sahara ou le Kalahari — un biais géographique systématique dans toute comparaison entre pays. Question : moins d’observations biaise-t-il le résultat, ou élargit-il seulement l’intervalle d’incertitude ? Au laboratoire de 09h30, vous verrez chaque étape sous forme de couche dans le fichier : indicateur de masque nuageux, irradiance lunaire, indicateur de neige et Mandatory_Quality_Flag, où 0 signifie haute qualité. L’image est un produit statistique, pas un instantané — deux produits pour le même mois peuvent légitimement différer.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en direct — diapositive de RÉFÉRENCE pour le labo de 09h30] Quatre produits. A1 est la radiance brute au sommet de l’atmosphère : ne pas l’utiliser pour des statistiques sans effectuer soi-même les corrections. A2 est le produit quotidien corrigé — la base de tout le reste. A3 et A4 sont les composites mensuels et annuels construits à partir des données quotidiennes. Tous partagent une grille de 15 secondes d’arc (environ 500 m à l’équateur), des tuiles de 10°×10°, le format HDF-EOS5 et une série débutant en janvier 2012. Pièges pratiques : la couche de radiance est stockée en entiers non signés avec un facteur d’échelle de 0,1 et une valeur de remplissage de 65535 — oubliez l’un ou l’autre et vos chiffres sont faux d’un facteur dix ou contaminés. Les jumeaux NOAA-20 portent le préfixe VJ146. Les composites VNL de l’Earth Observation Group (Colorado School of Mines) et Google Earth Engine sont les deux principales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Cette diapositive évite la classe d’erreurs la plus embarrassante : annoncer un boom économique dans une région pétrolière alors que c’est le torchage qui a changé, ou un essor d’activité au milieu du lac Victoria qui n’est qu’une flottille de pêche. Une seule de ces six sources est généralement le signal recherché par un INS. Toujours regarder la carte avant de faire confiance au chiffre — c’est précisément l’objet du laboratoire Explorer.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Faire l’exemple jouet en direct — c’est le moyen le plus rapide de rendre les trois indicateurs concrets. Un district de 4×4 pixels, radiance en nW·cm⁻²·sr⁻¹. La somme des lumières additionne tout : 30,1. La surface éclairée compte les pixels au-dessus du seuil : avec 0,5, on obtient 8 pixels. La radiance moyenne des pixels éclairés vaut 28,6 / 8 = 3,6. Relevez maintenant le seuil à 1,0 : la surface éclairée passe de 8 à 6 pixels — une variation de 25 % produite par un choix, pas par la réalité. C’est pourquoi le seuil doit être déclaré et testé. La somme des lumières est sensible au bruit de fond, puisque chaque pixel faible y contribue. La radiance moyenne distingue un district qui s’illumine d’un district qui s’étend. Une quatrième famille — concentration ou Gini de la lumière — sert d’indicateur d’inégalité spatiale.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Prendre le temps — c’est la diapositive que les participants réutiliseront. La question est typique de ce qu’un ministère peut demander à un INS. L’étape 3 compte en milieu rural africain : si l’on fait la moyenne sur tout un district, quelques villages nouvellement éclairés disparaissent dans le fond sombre ; il faut donc utiliser les emprises des localités. L’étape 4 — le groupe témoin de villages comparables hors programme — transforme une description en preuve, pour un coût quasi nul. L’étape 6 est la plus négligée dans les travaux publiés : essayez de mettre en défaut votre résultat avant que quelqu’un d’autre ne le fasse.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 ~6 min] Pour chaque application, se demander : que faudrait-il vrai sur les comportements d’éclairage pour que l’inférence tienne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Une carte des usages, organisée selon les ODD sur lesquels un INS rend déjà compte. Le mot clé est « appuyer » : les lumières nocturnes complètent les statistiques officielles — désagrégation, estimation en temps réel, vérification — sans jamais remplacer l’enquête ou le recensement. Inviter chacun à choisir la ligne la plus pertinente pour son institut : c’est la question à emporter dans l’analyse de cet après-midi.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La version honnête : les lumières nocturnes sont un piètre substitut à de bons comptes nationaux, mais un excellent complément à des comptes fragiles ou agrégés. Henderson, Storeygard et Weil (2012) ont montré que les lumières contiennent une vraie information sur la croissance. Bruederle et Hodler (2018) ont relié les lumières à des indicateurs de développement des ménages issus des enquêtes EDS, à l’échelle locale en Afrique. Martinez (2022) a utilisé les lumières comme référence indépendante pour la croissance du PIB déclarée — rappel que les NTL sont aussi un outil de crédibilité pour la statistique officielle. L’élasticité des lumières à la production n’est ni égale à un ni stable : agriculture et mines produisent beaucoup de valeur pour peu de lumière, ce qui concerne la plupart des économies africaines. Les lumières sont les plus utiles là où les statistiques sont les plus grossières : infranational, haute fréquence, informel.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Le rapport Tracking SDG 7 publié le 24 juin 2026 chiffre le déficit mondial d’accès à 655 millions de personnes en 2024, dont plus de 560 millions en Afrique subsaharienne. Le déficit rural de la région est passé de 376 millions en 2010 à 447 millions en 2024 — la croissance démographique a dépassé les raccordements. Mission 300, portée par le Groupe de la Banque mondiale et la Banque africaine de développement, vise à raccorder 300 millions d’Africains d’ici 2030 ; des programmes de cette ampleur exigent un suivi indépendant et spatialement fin. Le point surprenant : la fiabilité. Les statistiques officielles comptent un ménage comme raccordé qu’il ait du courant quatre heures ou vingt-quatre heures par jour. Les observations VIIRS nocturnes permettent de faire la différence. Le jeu de données HREA (Université du Michigan et Banque mondiale) estime déjà la probabilité d’électrification de chaque localité à partir des données VIIRS quotidiennes.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L’Afrique s’urbanise rapidement et les registres cadastraux suivent rarement. Le diagnostic étalement/densification est l’idée la plus transposable : il exige deux indicateurs, pas un seul — c’est précisément pourquoi la somme des lumières ne suffit pas pour l’analyse urbaine. Les deux villes illustratives ont la même lumière totale mais des implications totalement différentes pour les transports, les services et les émissions. Toujours associer les lumières à des grilles de population et de bâti : un pixel lumineux n’est pas une personne, une autoroute éclairée et vide le prouve.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L’application la plus chargée sur le plan éthique. Le Soudan est le cas africain : après le début des combats à Khartoum le 15 avril 2023, l’Earth Observation Group a constaté qu’en mai 2023 les lumières de la capitale étaient tombées au niveau du bruit, et l’UNOSAT a publié en juin 2023 une évaluation des coupures d’électricité fondée sur l’imagerie nocturne. La Syrie (Li et Li, 2014) et Porto Rico après l’ouragan Maria (produits quotidiens Black Marble) sont les études de référence. Les lumières nocturnes sont utilisées dans les rapports humanitaires et de droits humains : les erreurs ont des conséquences. Exiger la triangulation avec des informations de terrain et une déclaration honnête de l’incertitude. Pour un INS, l’intérêt est de disposer rapidement d’éléments de situation quand la collecte sur le terrain est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 ~4 min] Cette section est la feuille de route du laboratoire Explorer de 10h45. Nommer chaque artefact ; les participants les retrouveront dans leurs propres rasters.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Ces six artefacts portent exactement les noms du programme pour la partie pratique 2. Pour chacun : à quoi il ressemble et comment le repérer vite. Le débordement lumineux (blooming) est le plus sous-estimé : la surface éclairée est presque toujours surestimée, et le biais est proportionnellement plus fort pour les petites villes que pour les grandes — ce qui fausse précisément les comparaisons rural–urbain dont dépend le travail de développement. La discontinuité des capteurs est le piège classique des séries longues : ne jamais raccorder directement les valeurs brutes DMSP et VIIRS ; il en va de même pour les changements de version de produit. Demander à chaque équipe de tenir un journal des artefacts : lesquels sont présents dans votre pays, où, et quel traitement vous avez appliqué.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Quatre angles morts particulièrement importants en Afrique. Hors réseau : des millions de ménages s’éclairent avec des lanternes solaires ou de petits kits qui émettent trop peu vers le haut pour être détectés — ils sont « électrifiés » au sens de l’ODD 7 mais peuvent paraître sombres. Horaire : un seul passage vers 01h30 manque les marchés du soir et l’activité d’avant minuit. Couleur : la bande jour/nuit répond approximativement entre 500 et 900 nm et voit à peine le bleu des LED blanches ; une ville qui passe aux LED peut paraître plus sombre depuis l’orbite tout en devenant plus lumineuse pour l’œil. Les données citoyennes au sol montrent un ciel qui s’éclaircit bien plus vite (9,6 % par an, 2011–2022) que la surface éclairée vue par satellite (2,2 % par an, 2012–2016). Nuages : de longues saisons des pluies laissent peu d’observations valides. Le panneau de droite est la preuve africaine la plus forte du biais urbain : une étude de 2025 sur le Soudan montre qu’au Darfour occidental et méridional, seules les localités proches des chefs-lieux de district avaient assez de lumière de référence pour être suivies.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 ~4 min] La passerelle vers les laboratoires. Les diapositives 29 à 32 sont des références pour le reste de la journée.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La chaîne de la journée en une image. Chaque étape a une source de données ou un outil, et un résultat concret qui alimente l’étape suivante. Les bibliothèques Python citées sont des exemples d’options libres courantes, pas des obligations. Insister sur la reproductibilité : chaque étape se termine par un fichier déposé sur GitHub, afin qu’un autre pays — ou votre propre institut l’an prochain — puisse la relancer.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RÉFÉRENCE] Le réflexe de se tourner vers les données quotidiennes est presque toujours une erreur en début de projet. Les composites annuels répondent à la plupart des questions statistiques pour une fraction de l’effort de traitement, et leurs défaillances sont visibles plutôt que silencieuses. Ne passer au mensuel ou au quotidien que si vous pouvez préciser la résolution temporelle dont votre question a besoin — par exemple dater le début d’un conflit ou mesurer la fiabilité de l’approvisionnement.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RÉFÉRENCE pour 15h45] Un guide de décision proposé, à adapter au cadre d’assurance qualité de votre institut. Trois questions. D’abord, fixer la barre AVANT de regarder le résultat : quelle corrélation et quelle stabilité exigeriez-vous ? Ensuite, les artefacts ont-ils été identifiés et traités ? Enfin — le piège propre à cette semaine — votre référence est-elle indépendante ? Les modèles de population WorldPop utilisent les lumières nocturnes parmi leurs covariables : corréler les NTL avec WorldPop revient en partie à corréler les NTL avec elles-mêmes. Privilégier le recensement ou les enquêtes comme référence. Le résultat est l’une de trois décisions, et la déclaration de limites de droite fait partie du livrable quelle que soit la décision.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 RÉFÉRENCE] Garder cette liste ouverte pendant les laboratoires. Le point 7 en est le cœur pratique : les travaux les plus crédibles identifient les effets à partir des évolutions d’une même unité dans le temps plutôt que des niveaux en coupe transversale, car les problèmes d’étalonnage s’annulent en grande partie. La règle d’or servira de test pour les présentations de vendredi.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utiliser lors de la synthèse du labo Explorer ou à 15h45 si le temps manque] La question 1 mobilise la chaîne d’inférence : déplacements, délestages, passage aux LED, variation du torchage, changement de contour ou de version de produit sont autant de pistes. La question 2 n’a pas de réponse unique ; les meilleures défenses évoquent le seuil de détection et la fiabilité. La question 3 est celle que les participants affronteront cet après-midi — il n’existe pas de réponse nette à partir des seules données satellitaires, et c’est tout l’enjeu.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Terminer sur la dernière phrase. Extraire le signal est désormais une routine largement automatisée ; la discipline consiste à savoir ce que ce signal est en droit de signifier. Passer ensuite la main au laboratoire Collecter de 09h30.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RÉFÉRENCE — à distribuer plutôt qu’à lire. Les deux termes les plus source de confusion : composite (souvent pris pour une photo) et nombre numérique (souvent pris pour une grandeur physique).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Laisser cette diapositive à l’écran pendant les questions. Pour une première expérience de cinq minutes, orienter vers l’application web Radiance Light Trends ou les tutoriels Open Nighttime Lights de la Banque mondiale avant toute chaîne de traitement lourde.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22-1.png"/><Relationship Id="rId3" Type="http://schemas.openxmlformats.org/officeDocument/2006/relationships/image" Target="../media/image-22-2.png"/><Relationship Id="rId4" Type="http://schemas.openxmlformats.org/officeDocument/2006/relationships/image" Target="../media/image-22-3.png"/><Relationship Id="rId5" Type="http://schemas.openxmlformats.org/officeDocument/2006/relationships/image" Target="../media/image-22-4.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image" Target="../media/image-35-8.png"/><Relationship Id="rId9" Type="http://schemas.openxmlformats.org/officeDocument/2006/relationships/image" Target="../media/image-35-9.png"/><Relationship Id="rId10" Type="http://schemas.openxmlformats.org/officeDocument/2006/relationships/image" Target="../media/image-35-10.png"/><Relationship Id="rId11" Type="http://schemas.openxmlformats.org/officeDocument/2006/relationships/slideLayout" Target="../slideLayouts/slideLayout1.xml"/><Relationship Id="rId1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slideLayout" Target="../slideLayouts/slideLayout1.xml"/><Relationship Id="rId7"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40080"/>
            <a:ext cx="68580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ATELIER TECHNIQUE STG17  ·  JOUR 4  ·  L’AFRIQUE LA NUIT</a:t>
            </a:r>
            <a:endParaRPr lang="en-US" sz="1050" dirty="0"/>
          </a:p>
        </p:txBody>
      </p:sp>
      <p:sp>
        <p:nvSpPr>
          <p:cNvPr id="4" name="Text 2"/>
          <p:cNvSpPr txBox="1"/>
          <p:nvPr/>
        </p:nvSpPr>
        <p:spPr>
          <a:xfrm>
            <a:off x="548640" y="1051560"/>
            <a:ext cx="6035040" cy="77724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Lumières nocturnes</a:t>
            </a:r>
            <a:endParaRPr lang="en-US" sz="4600" dirty="0"/>
          </a:p>
        </p:txBody>
      </p:sp>
      <p:sp>
        <p:nvSpPr>
          <p:cNvPr id="5" name="Text 3"/>
          <p:cNvSpPr txBox="1"/>
          <p:nvPr/>
        </p:nvSpPr>
        <p:spPr>
          <a:xfrm>
            <a:off x="548640" y="1874520"/>
            <a:ext cx="5669280" cy="68580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Ce que nous dit l’obscurité — lire le développement de l’Afrique depuis l’espace</a:t>
            </a:r>
            <a:endParaRPr lang="en-US" sz="1800" dirty="0"/>
          </a:p>
        </p:txBody>
      </p:sp>
      <p:sp>
        <p:nvSpPr>
          <p:cNvPr id="6" name="Text 4"/>
          <p:cNvSpPr txBox="1"/>
          <p:nvPr/>
        </p:nvSpPr>
        <p:spPr>
          <a:xfrm>
            <a:off x="548640" y="2697480"/>
            <a:ext cx="5394960" cy="5486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Concepts, instruments, artefacts et démarche des quatre laboratoires du jour : de la radiance brute à un indicateur infranational validé.</a:t>
            </a:r>
            <a:endParaRPr lang="en-US" sz="1250" dirty="0"/>
          </a:p>
        </p:txBody>
      </p:sp>
      <p:sp>
        <p:nvSpPr>
          <p:cNvPr id="7" name="Shape 5"/>
          <p:cNvSpPr/>
          <p:nvPr/>
        </p:nvSpPr>
        <p:spPr>
          <a:xfrm>
            <a:off x="548640" y="3520440"/>
            <a:ext cx="5120640" cy="0"/>
          </a:xfrm>
          <a:prstGeom prst="line">
            <a:avLst/>
          </a:prstGeom>
          <a:noFill/>
          <a:ln w="9525">
            <a:solidFill>
              <a:srgbClr val="FFFFFF">
                <a:alpha val="40000"/>
              </a:srgbClr>
            </a:solidFill>
            <a:prstDash val="solid"/>
          </a:ln>
        </p:spPr>
      </p:sp>
      <p:sp>
        <p:nvSpPr>
          <p:cNvPr id="8" name="Text 6"/>
          <p:cNvSpPr txBox="1"/>
          <p:nvPr/>
        </p:nvSpPr>
        <p:spPr>
          <a:xfrm>
            <a:off x="548640" y="3657600"/>
            <a:ext cx="6035040" cy="22860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Banque africaine de développement  ·  Union africaine (STATAFRIC)  ·  NISR Rwanda</a:t>
            </a:r>
            <a:endParaRPr lang="en-US" sz="1050" dirty="0"/>
          </a:p>
        </p:txBody>
      </p:sp>
      <p:sp>
        <p:nvSpPr>
          <p:cNvPr id="9" name="Text 7"/>
          <p:cNvSpPr txBox="1"/>
          <p:nvPr/>
        </p:nvSpPr>
        <p:spPr>
          <a:xfrm>
            <a:off x="548640" y="3931920"/>
            <a:ext cx="6035040" cy="228600"/>
          </a:xfrm>
          <a:prstGeom prst="rect">
            <a:avLst/>
          </a:prstGeom>
          <a:noFill/>
          <a:ln/>
        </p:spPr>
        <p:txBody>
          <a:bodyPr wrap="square" lIns="0" tIns="0" rIns="0" bIns="0" rtlCol="0" anchor="t"/>
          <a:lstStyle/>
          <a:p>
            <a:pPr indent="0" marL="0">
              <a:buNone/>
            </a:pPr>
            <a:r>
              <a:rPr lang="en-US" sz="1050" b="1" dirty="0">
                <a:solidFill>
                  <a:srgbClr val="F5C242"/>
                </a:solidFill>
                <a:latin typeface="Calibri" pitchFamily="34" charset="0"/>
                <a:ea typeface="Calibri" pitchFamily="34" charset="-122"/>
                <a:cs typeface="Calibri" pitchFamily="34" charset="-120"/>
              </a:rPr>
              <a:t>Exposé d’ouverture  ·  09h00 – 09h30  ·  Groupe technique spécialisé sur les questions émergentes (SHaSA II)</a:t>
            </a:r>
            <a:endParaRPr lang="en-US" sz="1050" dirty="0"/>
          </a:p>
        </p:txBody>
      </p:sp>
      <p:sp>
        <p:nvSpPr>
          <p:cNvPr id="10" name="Shape 8"/>
          <p:cNvSpPr/>
          <p:nvPr/>
        </p:nvSpPr>
        <p:spPr>
          <a:xfrm>
            <a:off x="6126480" y="960120"/>
            <a:ext cx="2377440" cy="2377440"/>
          </a:xfrm>
          <a:prstGeom prst="ellipse">
            <a:avLst/>
          </a:prstGeom>
          <a:solidFill>
            <a:srgbClr val="FFFFFF">
              <a:alpha val="10000"/>
            </a:srgbClr>
          </a:solidFill>
          <a:ln w="9525">
            <a:solidFill>
              <a:srgbClr val="FFFFFF">
                <a:alpha val="30000"/>
              </a:srgbClr>
            </a:solidFill>
            <a:prstDash val="solid"/>
          </a:ln>
        </p:spPr>
      </p:sp>
      <p:sp>
        <p:nvSpPr>
          <p:cNvPr id="11" name="Shape 9"/>
          <p:cNvSpPr/>
          <p:nvPr/>
        </p:nvSpPr>
        <p:spPr>
          <a:xfrm>
            <a:off x="6423660" y="1257300"/>
            <a:ext cx="1783080" cy="1783080"/>
          </a:xfrm>
          <a:prstGeom prst="ellipse">
            <a:avLst/>
          </a:prstGeom>
          <a:solidFill>
            <a:srgbClr val="FFFFFF">
              <a:alpha val="13000"/>
            </a:srgbClr>
          </a:solidFill>
          <a:ln w="9525">
            <a:solidFill>
              <a:srgbClr val="FFFFFF">
                <a:alpha val="30000"/>
              </a:srgbClr>
            </a:solidFill>
            <a:prstDash val="solid"/>
          </a:ln>
        </p:spPr>
      </p:sp>
      <p:sp>
        <p:nvSpPr>
          <p:cNvPr id="12" name="Shape 10"/>
          <p:cNvSpPr/>
          <p:nvPr/>
        </p:nvSpPr>
        <p:spPr>
          <a:xfrm>
            <a:off x="6720840" y="1554480"/>
            <a:ext cx="1188720" cy="1188720"/>
          </a:xfrm>
          <a:prstGeom prst="ellipse">
            <a:avLst/>
          </a:prstGeom>
          <a:solidFill>
            <a:srgbClr val="FFFFFF">
              <a:alpha val="16000"/>
            </a:srgbClr>
          </a:solidFill>
          <a:ln w="9525">
            <a:solidFill>
              <a:srgbClr val="FFFFFF">
                <a:alpha val="30000"/>
              </a:srgbClr>
            </a:solidFill>
            <a:prstDash val="solid"/>
          </a:ln>
        </p:spPr>
      </p:sp>
      <p:sp>
        <p:nvSpPr>
          <p:cNvPr id="13" name="Shape 11"/>
          <p:cNvSpPr/>
          <p:nvPr/>
        </p:nvSpPr>
        <p:spPr>
          <a:xfrm>
            <a:off x="6903720" y="1737360"/>
            <a:ext cx="822960" cy="822960"/>
          </a:xfrm>
          <a:prstGeom prst="ellipse">
            <a:avLst/>
          </a:prstGeom>
          <a:solidFill>
            <a:srgbClr val="FFFFFF"/>
          </a:solidFill>
          <a:ln w="12700">
            <a:solidFill>
              <a:srgbClr val="FFFFFF"/>
            </a:solidFill>
            <a:prstDash val="solid"/>
          </a:ln>
        </p:spPr>
      </p:sp>
      <p:pic>
        <p:nvPicPr>
          <p:cNvPr id="14" name="Image 0" descr="preencoded.png">    </p:cNvPr>
          <p:cNvPicPr>
            <a:picLocks noChangeAspect="1"/>
          </p:cNvPicPr>
          <p:nvPr/>
        </p:nvPicPr>
        <p:blipFill>
          <a:blip r:embed="rId2"/>
          <a:stretch>
            <a:fillRect/>
          </a:stretch>
        </p:blipFill>
        <p:spPr>
          <a:xfrm>
            <a:off x="7095744" y="1929384"/>
            <a:ext cx="438912" cy="438912"/>
          </a:xfrm>
          <a:prstGeom prst="rect">
            <a:avLst/>
          </a:prstGeom>
        </p:spPr>
      </p:pic>
      <p:pic>
        <p:nvPicPr>
          <p:cNvPr id="15" name="Image 1" descr="preencoded.png">    </p:cNvPr>
          <p:cNvPicPr>
            <a:picLocks noChangeAspect="1"/>
          </p:cNvPicPr>
          <p:nvPr/>
        </p:nvPicPr>
        <p:blipFill>
          <a:blip r:embed="rId3"/>
          <a:stretch>
            <a:fillRect/>
          </a:stretch>
        </p:blipFill>
        <p:spPr>
          <a:xfrm>
            <a:off x="8001000" y="2834640"/>
            <a:ext cx="384048" cy="384048"/>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INTRODUCTION · CONTEXTE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Pourquoi les lumières nocturnes au STG17 ?</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02</a:t>
            </a:r>
            <a:endParaRPr lang="en-US" sz="850" dirty="0"/>
          </a:p>
        </p:txBody>
      </p:sp>
      <p:sp>
        <p:nvSpPr>
          <p:cNvPr id="17" name="Text 14"/>
          <p:cNvSpPr txBox="1"/>
          <p:nvPr/>
        </p:nvSpPr>
        <p:spPr>
          <a:xfrm>
            <a:off x="457200" y="1325880"/>
            <a:ext cx="3931920" cy="274320"/>
          </a:xfrm>
          <a:prstGeom prst="rect">
            <a:avLst/>
          </a:prstGeom>
          <a:noFill/>
          <a:ln/>
        </p:spPr>
        <p:txBody>
          <a:bodyPr wrap="square" lIns="0" tIns="0" rIns="0" bIns="0" rtlCol="0" anchor="t"/>
          <a:lstStyle/>
          <a:p>
            <a:pPr indent="0" marL="0">
              <a:buNone/>
            </a:pPr>
            <a:r>
              <a:rPr lang="en-US" sz="1400" b="1" dirty="0">
                <a:solidFill>
                  <a:srgbClr val="00704A"/>
                </a:solidFill>
                <a:latin typeface="Calibri" pitchFamily="34" charset="0"/>
                <a:ea typeface="Calibri" pitchFamily="34" charset="-122"/>
                <a:cs typeface="Calibri" pitchFamily="34" charset="-120"/>
              </a:rPr>
              <a:t>Un mandat continental</a:t>
            </a:r>
            <a:endParaRPr lang="en-US" sz="1400" dirty="0"/>
          </a:p>
        </p:txBody>
      </p:sp>
      <p:sp>
        <p:nvSpPr>
          <p:cNvPr id="18" name="Text 15"/>
          <p:cNvSpPr txBox="1"/>
          <p:nvPr/>
        </p:nvSpPr>
        <p:spPr>
          <a:xfrm>
            <a:off x="457200" y="1645920"/>
            <a:ext cx="3931920" cy="1463040"/>
          </a:xfrm>
          <a:prstGeom prst="rect">
            <a:avLst/>
          </a:prstGeom>
          <a:noFill/>
          <a:ln/>
        </p:spPr>
        <p:txBody>
          <a:bodyPr wrap="square" lIns="0" tIns="0" rIns="0" bIns="0" rtlCol="0" anchor="t"/>
          <a:lstStyle/>
          <a:p>
            <a:pPr indent="0" marL="0">
              <a:spcAft>
                <a:spcPts val="600"/>
              </a:spcAft>
              <a:buNone/>
            </a:pPr>
            <a:r>
              <a:rPr lang="en-US" sz="1100" dirty="0">
                <a:solidFill>
                  <a:srgbClr val="231F20"/>
                </a:solidFill>
                <a:latin typeface="Calibri" pitchFamily="34" charset="0"/>
                <a:ea typeface="Calibri" pitchFamily="34" charset="-122"/>
                <a:cs typeface="Calibri" pitchFamily="34" charset="-120"/>
              </a:rPr>
              <a:t>La SHaSA II, adoptée par le Conseil exécutif de l’UA en janvier 2018, est la stratégie continentale pour la statistique. Le STG17 est son Groupe technique spécialisé sur les questions émergentes — big data, données ouvertes et, de plus en plus, IA.</a:t>
            </a:r>
            <a:endParaRPr lang="en-US" sz="1100" dirty="0"/>
          </a:p>
          <a:p>
            <a:pPr indent="0" marL="0">
              <a:buNone/>
            </a:pPr>
            <a:r>
              <a:rPr lang="en-US" sz="1100" dirty="0">
                <a:solidFill>
                  <a:srgbClr val="231F20"/>
                </a:solidFill>
                <a:latin typeface="Calibri" pitchFamily="34" charset="0"/>
                <a:ea typeface="Calibri" pitchFamily="34" charset="-122"/>
                <a:cs typeface="Calibri" pitchFamily="34" charset="-120"/>
              </a:rPr>
              <a:t>Cet atelier met en œuvre le Lot de travail 4 du Plan d’action STG17 2025–2030 : activité 4.2, formation par projet aux technologies émergentes.</a:t>
            </a:r>
            <a:endParaRPr lang="en-US" sz="1100" dirty="0"/>
          </a:p>
        </p:txBody>
      </p:sp>
      <p:sp>
        <p:nvSpPr>
          <p:cNvPr id="19" name="Shape 16"/>
          <p:cNvSpPr/>
          <p:nvPr/>
        </p:nvSpPr>
        <p:spPr>
          <a:xfrm>
            <a:off x="457200" y="3154680"/>
            <a:ext cx="3931920" cy="1325880"/>
          </a:xfrm>
          <a:prstGeom prst="roundRect">
            <a:avLst>
              <a:gd name="adj" fmla="val 5517"/>
            </a:avLst>
          </a:prstGeom>
          <a:solidFill>
            <a:srgbClr val="D49A00">
              <a:alpha val="13000"/>
            </a:srgbClr>
          </a:solidFill>
          <a:ln w="12700">
            <a:solidFill>
              <a:srgbClr val="D49A00"/>
            </a:solidFill>
            <a:prstDash val="solid"/>
          </a:ln>
        </p:spPr>
      </p:sp>
      <p:sp>
        <p:nvSpPr>
          <p:cNvPr id="20" name="Shape 17"/>
          <p:cNvSpPr/>
          <p:nvPr/>
        </p:nvSpPr>
        <p:spPr>
          <a:xfrm>
            <a:off x="594360" y="3291840"/>
            <a:ext cx="384048" cy="384048"/>
          </a:xfrm>
          <a:prstGeom prst="ellipse">
            <a:avLst/>
          </a:prstGeom>
          <a:solidFill>
            <a:srgbClr val="D49A00">
              <a:alpha val="22000"/>
            </a:srgbClr>
          </a:solidFill>
          <a:ln w="12700">
            <a:solidFill>
              <a:srgbClr val="D49A00">
                <a:alpha val="0"/>
              </a:srgbClr>
            </a:solidFill>
            <a:prstDash val="solid"/>
          </a:ln>
        </p:spPr>
      </p:sp>
      <p:pic>
        <p:nvPicPr>
          <p:cNvPr id="21" name="Image 0" descr="preencoded.png">    </p:cNvPr>
          <p:cNvPicPr>
            <a:picLocks noChangeAspect="1"/>
          </p:cNvPicPr>
          <p:nvPr/>
        </p:nvPicPr>
        <p:blipFill>
          <a:blip r:embed="rId1"/>
          <a:stretch>
            <a:fillRect/>
          </a:stretch>
        </p:blipFill>
        <p:spPr>
          <a:xfrm>
            <a:off x="694212" y="3391692"/>
            <a:ext cx="184343" cy="184343"/>
          </a:xfrm>
          <a:prstGeom prst="rect">
            <a:avLst/>
          </a:prstGeom>
        </p:spPr>
      </p:pic>
      <p:sp>
        <p:nvSpPr>
          <p:cNvPr id="22" name="Text 18"/>
          <p:cNvSpPr txBox="1"/>
          <p:nvPr/>
        </p:nvSpPr>
        <p:spPr>
          <a:xfrm>
            <a:off x="1097280" y="3291840"/>
            <a:ext cx="320040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Ce que les pays ont dit à Kigali (sept. 2025)</a:t>
            </a:r>
            <a:endParaRPr lang="en-US" sz="1200" dirty="0"/>
          </a:p>
        </p:txBody>
      </p:sp>
      <p:sp>
        <p:nvSpPr>
          <p:cNvPr id="23" name="Text 19"/>
          <p:cNvSpPr txBox="1"/>
          <p:nvPr/>
        </p:nvSpPr>
        <p:spPr>
          <a:xfrm>
            <a:off x="1097280" y="3547872"/>
            <a:ext cx="3200400" cy="86868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L’expérience des données satellitaires et alternatives existe en Afrique, mais elle est inégalement documentée et rarement partagée sous une forme réutilisable. Qualité et éthique doivent rester en vue.</a:t>
            </a:r>
            <a:endParaRPr lang="en-US" sz="1000" dirty="0"/>
          </a:p>
        </p:txBody>
      </p:sp>
      <p:sp>
        <p:nvSpPr>
          <p:cNvPr id="24" name="Text 20"/>
          <p:cNvSpPr txBox="1"/>
          <p:nvPr/>
        </p:nvSpPr>
        <p:spPr>
          <a:xfrm>
            <a:off x="4754880" y="1325880"/>
            <a:ext cx="3931920" cy="274320"/>
          </a:xfrm>
          <a:prstGeom prst="rect">
            <a:avLst/>
          </a:prstGeom>
          <a:noFill/>
          <a:ln/>
        </p:spPr>
        <p:txBody>
          <a:bodyPr wrap="square" lIns="0" tIns="0" rIns="0" bIns="0" rtlCol="0" anchor="t"/>
          <a:lstStyle/>
          <a:p>
            <a:pPr indent="0" marL="0">
              <a:buNone/>
            </a:pPr>
            <a:r>
              <a:rPr lang="en-US" sz="1400" b="1" dirty="0">
                <a:solidFill>
                  <a:srgbClr val="00704A"/>
                </a:solidFill>
                <a:latin typeface="Calibri" pitchFamily="34" charset="0"/>
                <a:ea typeface="Calibri" pitchFamily="34" charset="-122"/>
                <a:cs typeface="Calibri" pitchFamily="34" charset="-120"/>
              </a:rPr>
              <a:t>Ce que le travail du jour alimente</a:t>
            </a:r>
            <a:endParaRPr lang="en-US" sz="1400" dirty="0"/>
          </a:p>
        </p:txBody>
      </p:sp>
      <p:sp>
        <p:nvSpPr>
          <p:cNvPr id="25" name="Shape 21"/>
          <p:cNvSpPr/>
          <p:nvPr/>
        </p:nvSpPr>
        <p:spPr>
          <a:xfrm>
            <a:off x="4754880" y="1691640"/>
            <a:ext cx="1783080" cy="777240"/>
          </a:xfrm>
          <a:prstGeom prst="roundRect">
            <a:avLst>
              <a:gd name="adj" fmla="val 9412"/>
            </a:avLst>
          </a:prstGeom>
          <a:solidFill>
            <a:srgbClr val="F4F7F5"/>
          </a:solidFill>
          <a:ln w="9525">
            <a:solidFill>
              <a:srgbClr val="D5DED9"/>
            </a:solidFill>
            <a:prstDash val="solid"/>
          </a:ln>
        </p:spPr>
      </p:sp>
      <p:sp>
        <p:nvSpPr>
          <p:cNvPr id="26" name="Shape 22"/>
          <p:cNvSpPr/>
          <p:nvPr/>
        </p:nvSpPr>
        <p:spPr>
          <a:xfrm>
            <a:off x="4846320" y="1874520"/>
            <a:ext cx="384048" cy="384048"/>
          </a:xfrm>
          <a:prstGeom prst="ellipse">
            <a:avLst/>
          </a:prstGeom>
          <a:solidFill>
            <a:srgbClr val="00A86A">
              <a:alpha val="22000"/>
            </a:srgbClr>
          </a:solidFill>
          <a:ln w="12700">
            <a:solidFill>
              <a:srgbClr val="00A86A">
                <a:alpha val="0"/>
              </a:srgbClr>
            </a:solidFill>
            <a:prstDash val="solid"/>
          </a:ln>
        </p:spPr>
      </p:sp>
      <p:pic>
        <p:nvPicPr>
          <p:cNvPr id="27" name="Image 1" descr="preencoded.png">    </p:cNvPr>
          <p:cNvPicPr>
            <a:picLocks noChangeAspect="1"/>
          </p:cNvPicPr>
          <p:nvPr/>
        </p:nvPicPr>
        <p:blipFill>
          <a:blip r:embed="rId2"/>
          <a:stretch>
            <a:fillRect/>
          </a:stretch>
        </p:blipFill>
        <p:spPr>
          <a:xfrm>
            <a:off x="4946172" y="1974372"/>
            <a:ext cx="184343" cy="184343"/>
          </a:xfrm>
          <a:prstGeom prst="rect">
            <a:avLst/>
          </a:prstGeom>
        </p:spPr>
      </p:pic>
      <p:sp>
        <p:nvSpPr>
          <p:cNvPr id="28" name="Text 23"/>
          <p:cNvSpPr txBox="1"/>
          <p:nvPr/>
        </p:nvSpPr>
        <p:spPr>
          <a:xfrm>
            <a:off x="5303520" y="1746504"/>
            <a:ext cx="1207008" cy="67665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Notebooks, cartes et note technique NTL sur GitHub</a:t>
            </a:r>
            <a:endParaRPr lang="en-US" sz="900" dirty="0"/>
          </a:p>
        </p:txBody>
      </p:sp>
      <p:sp>
        <p:nvSpPr>
          <p:cNvPr id="29" name="Shape 24"/>
          <p:cNvSpPr/>
          <p:nvPr/>
        </p:nvSpPr>
        <p:spPr>
          <a:xfrm>
            <a:off x="6565392" y="2080260"/>
            <a:ext cx="274320" cy="91"/>
          </a:xfrm>
          <a:prstGeom prst="line">
            <a:avLst/>
          </a:prstGeom>
          <a:noFill/>
          <a:ln w="15875">
            <a:solidFill>
              <a:srgbClr val="5E6964"/>
            </a:solidFill>
            <a:prstDash val="solid"/>
            <a:tailEnd type="triangle"/>
          </a:ln>
        </p:spPr>
      </p:sp>
      <p:sp>
        <p:nvSpPr>
          <p:cNvPr id="30" name="Shape 25"/>
          <p:cNvSpPr/>
          <p:nvPr/>
        </p:nvSpPr>
        <p:spPr>
          <a:xfrm>
            <a:off x="6876288" y="1691640"/>
            <a:ext cx="1810512" cy="777240"/>
          </a:xfrm>
          <a:prstGeom prst="roundRect">
            <a:avLst>
              <a:gd name="adj" fmla="val 9412"/>
            </a:avLst>
          </a:prstGeom>
          <a:solidFill>
            <a:srgbClr val="E8F5EF"/>
          </a:solidFill>
          <a:ln w="15875">
            <a:solidFill>
              <a:srgbClr val="00A86A"/>
            </a:solidFill>
            <a:prstDash val="solid"/>
          </a:ln>
        </p:spPr>
      </p:sp>
      <p:sp>
        <p:nvSpPr>
          <p:cNvPr id="31" name="Text 26"/>
          <p:cNvSpPr txBox="1"/>
          <p:nvPr/>
        </p:nvSpPr>
        <p:spPr>
          <a:xfrm>
            <a:off x="6967728" y="1764792"/>
            <a:ext cx="1645920" cy="201168"/>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2.1.1</a:t>
            </a:r>
            <a:endParaRPr lang="en-US" sz="1100" dirty="0"/>
          </a:p>
        </p:txBody>
      </p:sp>
      <p:sp>
        <p:nvSpPr>
          <p:cNvPr id="32" name="Text 27"/>
          <p:cNvSpPr txBox="1"/>
          <p:nvPr/>
        </p:nvSpPr>
        <p:spPr>
          <a:xfrm>
            <a:off x="6967728" y="1984248"/>
            <a:ext cx="1645920" cy="438912"/>
          </a:xfrm>
          <a:prstGeom prst="rect">
            <a:avLst/>
          </a:prstGeom>
          <a:noFill/>
          <a:ln/>
        </p:spPr>
        <p:txBody>
          <a:bodyPr wrap="square" lIns="0" tIns="0" rIns="0" bIns="0" rtlCol="0" anchor="t"/>
          <a:lstStyle/>
          <a:p>
            <a:pPr indent="0" marL="0">
              <a:buNone/>
            </a:pPr>
            <a:r>
              <a:rPr lang="en-US" sz="900" dirty="0">
                <a:solidFill>
                  <a:srgbClr val="231F20"/>
                </a:solidFill>
                <a:latin typeface="Calibri" pitchFamily="34" charset="0"/>
                <a:ea typeface="Calibri" pitchFamily="34" charset="-122"/>
                <a:cs typeface="Calibri" pitchFamily="34" charset="-120"/>
              </a:rPr>
              <a:t>Lignes directrices sur les nouvelles sources de données</a:t>
            </a:r>
            <a:endParaRPr lang="en-US" sz="900" dirty="0"/>
          </a:p>
        </p:txBody>
      </p:sp>
      <p:sp>
        <p:nvSpPr>
          <p:cNvPr id="33" name="Shape 28"/>
          <p:cNvSpPr/>
          <p:nvPr/>
        </p:nvSpPr>
        <p:spPr>
          <a:xfrm>
            <a:off x="4754880" y="2624328"/>
            <a:ext cx="1783080" cy="777240"/>
          </a:xfrm>
          <a:prstGeom prst="roundRect">
            <a:avLst>
              <a:gd name="adj" fmla="val 9412"/>
            </a:avLst>
          </a:prstGeom>
          <a:solidFill>
            <a:srgbClr val="F4F7F5"/>
          </a:solidFill>
          <a:ln w="9525">
            <a:solidFill>
              <a:srgbClr val="D5DED9"/>
            </a:solidFill>
            <a:prstDash val="solid"/>
          </a:ln>
        </p:spPr>
      </p:sp>
      <p:sp>
        <p:nvSpPr>
          <p:cNvPr id="34" name="Shape 29"/>
          <p:cNvSpPr/>
          <p:nvPr/>
        </p:nvSpPr>
        <p:spPr>
          <a:xfrm>
            <a:off x="4846320" y="2807208"/>
            <a:ext cx="384048" cy="384048"/>
          </a:xfrm>
          <a:prstGeom prst="ellipse">
            <a:avLst/>
          </a:prstGeom>
          <a:solidFill>
            <a:srgbClr val="00A86A">
              <a:alpha val="22000"/>
            </a:srgbClr>
          </a:solidFill>
          <a:ln w="12700">
            <a:solidFill>
              <a:srgbClr val="00A86A">
                <a:alpha val="0"/>
              </a:srgbClr>
            </a:solidFill>
            <a:prstDash val="solid"/>
          </a:ln>
        </p:spPr>
      </p:sp>
      <p:pic>
        <p:nvPicPr>
          <p:cNvPr id="35" name="Image 2" descr="preencoded.png">    </p:cNvPr>
          <p:cNvPicPr>
            <a:picLocks noChangeAspect="1"/>
          </p:cNvPicPr>
          <p:nvPr/>
        </p:nvPicPr>
        <p:blipFill>
          <a:blip r:embed="rId3"/>
          <a:stretch>
            <a:fillRect/>
          </a:stretch>
        </p:blipFill>
        <p:spPr>
          <a:xfrm>
            <a:off x="4946172" y="2907060"/>
            <a:ext cx="184343" cy="184343"/>
          </a:xfrm>
          <a:prstGeom prst="rect">
            <a:avLst/>
          </a:prstGeom>
        </p:spPr>
      </p:pic>
      <p:sp>
        <p:nvSpPr>
          <p:cNvPr id="36" name="Text 30"/>
          <p:cNvSpPr txBox="1"/>
          <p:nvPr/>
        </p:nvSpPr>
        <p:spPr>
          <a:xfrm>
            <a:off x="5303520" y="2679192"/>
            <a:ext cx="1207008" cy="67665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Étapes validées et déclaration de limites</a:t>
            </a:r>
            <a:endParaRPr lang="en-US" sz="900" dirty="0"/>
          </a:p>
        </p:txBody>
      </p:sp>
      <p:sp>
        <p:nvSpPr>
          <p:cNvPr id="37" name="Shape 31"/>
          <p:cNvSpPr/>
          <p:nvPr/>
        </p:nvSpPr>
        <p:spPr>
          <a:xfrm>
            <a:off x="6565392" y="3012948"/>
            <a:ext cx="274320" cy="91"/>
          </a:xfrm>
          <a:prstGeom prst="line">
            <a:avLst/>
          </a:prstGeom>
          <a:noFill/>
          <a:ln w="15875">
            <a:solidFill>
              <a:srgbClr val="5E6964"/>
            </a:solidFill>
            <a:prstDash val="solid"/>
            <a:tailEnd type="triangle"/>
          </a:ln>
        </p:spPr>
      </p:sp>
      <p:sp>
        <p:nvSpPr>
          <p:cNvPr id="38" name="Shape 32"/>
          <p:cNvSpPr/>
          <p:nvPr/>
        </p:nvSpPr>
        <p:spPr>
          <a:xfrm>
            <a:off x="6876288" y="2624328"/>
            <a:ext cx="1810512" cy="777240"/>
          </a:xfrm>
          <a:prstGeom prst="roundRect">
            <a:avLst>
              <a:gd name="adj" fmla="val 9412"/>
            </a:avLst>
          </a:prstGeom>
          <a:solidFill>
            <a:srgbClr val="E8F5EF"/>
          </a:solidFill>
          <a:ln w="15875">
            <a:solidFill>
              <a:srgbClr val="00A86A"/>
            </a:solidFill>
            <a:prstDash val="solid"/>
          </a:ln>
        </p:spPr>
      </p:sp>
      <p:sp>
        <p:nvSpPr>
          <p:cNvPr id="39" name="Text 33"/>
          <p:cNvSpPr txBox="1"/>
          <p:nvPr/>
        </p:nvSpPr>
        <p:spPr>
          <a:xfrm>
            <a:off x="6967728" y="2697480"/>
            <a:ext cx="1645920" cy="201168"/>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4.2.1</a:t>
            </a:r>
            <a:endParaRPr lang="en-US" sz="1100" dirty="0"/>
          </a:p>
        </p:txBody>
      </p:sp>
      <p:sp>
        <p:nvSpPr>
          <p:cNvPr id="40" name="Text 34"/>
          <p:cNvSpPr txBox="1"/>
          <p:nvPr/>
        </p:nvSpPr>
        <p:spPr>
          <a:xfrm>
            <a:off x="6967728" y="2916936"/>
            <a:ext cx="1645920" cy="438912"/>
          </a:xfrm>
          <a:prstGeom prst="rect">
            <a:avLst/>
          </a:prstGeom>
          <a:noFill/>
          <a:ln/>
        </p:spPr>
        <p:txBody>
          <a:bodyPr wrap="square" lIns="0" tIns="0" rIns="0" bIns="0" rtlCol="0" anchor="t"/>
          <a:lstStyle/>
          <a:p>
            <a:pPr indent="0" marL="0">
              <a:buNone/>
            </a:pPr>
            <a:r>
              <a:rPr lang="en-US" sz="900" dirty="0">
                <a:solidFill>
                  <a:srgbClr val="231F20"/>
                </a:solidFill>
                <a:latin typeface="Calibri" pitchFamily="34" charset="0"/>
                <a:ea typeface="Calibri" pitchFamily="34" charset="-122"/>
                <a:cs typeface="Calibri" pitchFamily="34" charset="-120"/>
              </a:rPr>
              <a:t>Manuels de référence sur les compétences clés</a:t>
            </a:r>
            <a:endParaRPr lang="en-US" sz="900" dirty="0"/>
          </a:p>
        </p:txBody>
      </p:sp>
      <p:sp>
        <p:nvSpPr>
          <p:cNvPr id="41" name="Shape 35"/>
          <p:cNvSpPr/>
          <p:nvPr/>
        </p:nvSpPr>
        <p:spPr>
          <a:xfrm>
            <a:off x="4754880" y="3557016"/>
            <a:ext cx="1783080" cy="777240"/>
          </a:xfrm>
          <a:prstGeom prst="roundRect">
            <a:avLst>
              <a:gd name="adj" fmla="val 9412"/>
            </a:avLst>
          </a:prstGeom>
          <a:solidFill>
            <a:srgbClr val="F4F7F5"/>
          </a:solidFill>
          <a:ln w="9525">
            <a:solidFill>
              <a:srgbClr val="D5DED9"/>
            </a:solidFill>
            <a:prstDash val="solid"/>
          </a:ln>
        </p:spPr>
      </p:sp>
      <p:sp>
        <p:nvSpPr>
          <p:cNvPr id="42" name="Shape 36"/>
          <p:cNvSpPr/>
          <p:nvPr/>
        </p:nvSpPr>
        <p:spPr>
          <a:xfrm>
            <a:off x="4846320" y="3739896"/>
            <a:ext cx="384048" cy="384048"/>
          </a:xfrm>
          <a:prstGeom prst="ellipse">
            <a:avLst/>
          </a:prstGeom>
          <a:solidFill>
            <a:srgbClr val="00A86A">
              <a:alpha val="22000"/>
            </a:srgbClr>
          </a:solidFill>
          <a:ln w="12700">
            <a:solidFill>
              <a:srgbClr val="00A86A">
                <a:alpha val="0"/>
              </a:srgbClr>
            </a:solidFill>
            <a:prstDash val="solid"/>
          </a:ln>
        </p:spPr>
      </p:sp>
      <p:pic>
        <p:nvPicPr>
          <p:cNvPr id="43" name="Image 3" descr="preencoded.png">    </p:cNvPr>
          <p:cNvPicPr>
            <a:picLocks noChangeAspect="1"/>
          </p:cNvPicPr>
          <p:nvPr/>
        </p:nvPicPr>
        <p:blipFill>
          <a:blip r:embed="rId4"/>
          <a:stretch>
            <a:fillRect/>
          </a:stretch>
        </p:blipFill>
        <p:spPr>
          <a:xfrm>
            <a:off x="4946172" y="3839748"/>
            <a:ext cx="184343" cy="184343"/>
          </a:xfrm>
          <a:prstGeom prst="rect">
            <a:avLst/>
          </a:prstGeom>
        </p:spPr>
      </p:pic>
      <p:sp>
        <p:nvSpPr>
          <p:cNvPr id="44" name="Text 37"/>
          <p:cNvSpPr txBox="1"/>
          <p:nvPr/>
        </p:nvSpPr>
        <p:spPr>
          <a:xfrm>
            <a:off x="5303520" y="3611880"/>
            <a:ext cx="1207008" cy="67665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Analyse NTL pays présentée au Jour 5</a:t>
            </a:r>
            <a:endParaRPr lang="en-US" sz="900" dirty="0"/>
          </a:p>
        </p:txBody>
      </p:sp>
      <p:sp>
        <p:nvSpPr>
          <p:cNvPr id="45" name="Shape 38"/>
          <p:cNvSpPr/>
          <p:nvPr/>
        </p:nvSpPr>
        <p:spPr>
          <a:xfrm>
            <a:off x="6565392" y="3945636"/>
            <a:ext cx="274320" cy="91"/>
          </a:xfrm>
          <a:prstGeom prst="line">
            <a:avLst/>
          </a:prstGeom>
          <a:noFill/>
          <a:ln w="15875">
            <a:solidFill>
              <a:srgbClr val="5E6964"/>
            </a:solidFill>
            <a:prstDash val="solid"/>
            <a:tailEnd type="triangle"/>
          </a:ln>
        </p:spPr>
      </p:sp>
      <p:sp>
        <p:nvSpPr>
          <p:cNvPr id="46" name="Shape 39"/>
          <p:cNvSpPr/>
          <p:nvPr/>
        </p:nvSpPr>
        <p:spPr>
          <a:xfrm>
            <a:off x="6876288" y="3557016"/>
            <a:ext cx="1810512" cy="777240"/>
          </a:xfrm>
          <a:prstGeom prst="roundRect">
            <a:avLst>
              <a:gd name="adj" fmla="val 9412"/>
            </a:avLst>
          </a:prstGeom>
          <a:solidFill>
            <a:srgbClr val="E8F5EF"/>
          </a:solidFill>
          <a:ln w="15875">
            <a:solidFill>
              <a:srgbClr val="00A86A"/>
            </a:solidFill>
            <a:prstDash val="solid"/>
          </a:ln>
        </p:spPr>
      </p:sp>
      <p:sp>
        <p:nvSpPr>
          <p:cNvPr id="47" name="Text 40"/>
          <p:cNvSpPr txBox="1"/>
          <p:nvPr/>
        </p:nvSpPr>
        <p:spPr>
          <a:xfrm>
            <a:off x="6967728" y="3630168"/>
            <a:ext cx="1645920" cy="201168"/>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3.1.1 · 3.1.2</a:t>
            </a:r>
            <a:endParaRPr lang="en-US" sz="1100" dirty="0"/>
          </a:p>
        </p:txBody>
      </p:sp>
      <p:sp>
        <p:nvSpPr>
          <p:cNvPr id="48" name="Text 41"/>
          <p:cNvSpPr txBox="1"/>
          <p:nvPr/>
        </p:nvSpPr>
        <p:spPr>
          <a:xfrm>
            <a:off x="6967728" y="3849624"/>
            <a:ext cx="1645920" cy="438912"/>
          </a:xfrm>
          <a:prstGeom prst="rect">
            <a:avLst/>
          </a:prstGeom>
          <a:noFill/>
          <a:ln/>
        </p:spPr>
        <p:txBody>
          <a:bodyPr wrap="square" lIns="0" tIns="0" rIns="0" bIns="0" rtlCol="0" anchor="t"/>
          <a:lstStyle/>
          <a:p>
            <a:pPr indent="0" marL="0">
              <a:buNone/>
            </a:pPr>
            <a:r>
              <a:rPr lang="en-US" sz="900" dirty="0">
                <a:solidFill>
                  <a:srgbClr val="231F20"/>
                </a:solidFill>
                <a:latin typeface="Calibri" pitchFamily="34" charset="0"/>
                <a:ea typeface="Calibri" pitchFamily="34" charset="-122"/>
                <a:cs typeface="Calibri" pitchFamily="34" charset="-120"/>
              </a:rPr>
              <a:t>Projets pilotés par des champions ; mutualisation</a:t>
            </a:r>
            <a:endParaRPr lang="en-US" sz="900" dirty="0"/>
          </a:p>
        </p:txBody>
      </p:sp>
      <p:sp>
        <p:nvSpPr>
          <p:cNvPr id="49" name="Text 42"/>
          <p:cNvSpPr txBox="1"/>
          <p:nvPr/>
        </p:nvSpPr>
        <p:spPr>
          <a:xfrm>
            <a:off x="457200" y="4617720"/>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Source : note conceptuelle et programme de l’atelier STG17 (V01092026) ; Plan d’action STG17 2025–2030.</a:t>
            </a:r>
            <a:endParaRPr lang="en-US" sz="9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INTRODUCTION · AUJOURD’HUI</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Du pixel brut à un indicateur public</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03</a:t>
            </a:r>
            <a:endParaRPr lang="en-US" sz="850" dirty="0"/>
          </a:p>
        </p:txBody>
      </p:sp>
      <p:sp>
        <p:nvSpPr>
          <p:cNvPr id="17" name="Shape 14"/>
          <p:cNvSpPr/>
          <p:nvPr/>
        </p:nvSpPr>
        <p:spPr>
          <a:xfrm>
            <a:off x="914400" y="1874520"/>
            <a:ext cx="6949440" cy="0"/>
          </a:xfrm>
          <a:prstGeom prst="line">
            <a:avLst/>
          </a:prstGeom>
          <a:noFill/>
          <a:ln w="25400">
            <a:solidFill>
              <a:srgbClr val="D5DED9"/>
            </a:solidFill>
            <a:prstDash val="solid"/>
          </a:ln>
        </p:spPr>
      </p:sp>
      <p:sp>
        <p:nvSpPr>
          <p:cNvPr id="18" name="Text 15"/>
          <p:cNvSpPr txBox="1"/>
          <p:nvPr/>
        </p:nvSpPr>
        <p:spPr>
          <a:xfrm>
            <a:off x="457200" y="1280160"/>
            <a:ext cx="914400" cy="228600"/>
          </a:xfrm>
          <a:prstGeom prst="rect">
            <a:avLst/>
          </a:prstGeom>
          <a:noFill/>
          <a:ln/>
        </p:spPr>
        <p:txBody>
          <a:bodyPr wrap="square" lIns="0" tIns="0" rIns="0" bIns="0" rtlCol="0" anchor="t"/>
          <a:lstStyle/>
          <a:p>
            <a:pPr algn="ctr" indent="0" marL="0">
              <a:buNone/>
            </a:pPr>
            <a:r>
              <a:rPr lang="en-US" sz="1200" b="1" dirty="0">
                <a:solidFill>
                  <a:srgbClr val="00A86A"/>
                </a:solidFill>
                <a:latin typeface="Calibri" pitchFamily="34" charset="0"/>
                <a:ea typeface="Calibri" pitchFamily="34" charset="-122"/>
                <a:cs typeface="Calibri" pitchFamily="34" charset="-120"/>
              </a:rPr>
              <a:t>09h00</a:t>
            </a:r>
            <a:endParaRPr lang="en-US" sz="1200" dirty="0"/>
          </a:p>
        </p:txBody>
      </p:sp>
      <p:sp>
        <p:nvSpPr>
          <p:cNvPr id="19" name="Shape 16"/>
          <p:cNvSpPr/>
          <p:nvPr/>
        </p:nvSpPr>
        <p:spPr>
          <a:xfrm>
            <a:off x="658368" y="1618488"/>
            <a:ext cx="512064" cy="512064"/>
          </a:xfrm>
          <a:prstGeom prst="ellipse">
            <a:avLst/>
          </a:prstGeom>
          <a:solidFill>
            <a:srgbClr val="FFFFFF"/>
          </a:solidFill>
          <a:ln w="12700">
            <a:solidFill>
              <a:srgbClr val="FFFFFF"/>
            </a:solidFill>
            <a:prstDash val="solid"/>
          </a:ln>
        </p:spPr>
      </p:sp>
      <p:sp>
        <p:nvSpPr>
          <p:cNvPr id="20" name="Shape 17"/>
          <p:cNvSpPr/>
          <p:nvPr/>
        </p:nvSpPr>
        <p:spPr>
          <a:xfrm>
            <a:off x="658368" y="1618488"/>
            <a:ext cx="512064" cy="512064"/>
          </a:xfrm>
          <a:prstGeom prst="ellipse">
            <a:avLst/>
          </a:prstGeom>
          <a:solidFill>
            <a:srgbClr val="00A86A">
              <a:alpha val="22000"/>
            </a:srgbClr>
          </a:solidFill>
          <a:ln w="12700">
            <a:solidFill>
              <a:srgbClr val="00A86A">
                <a:alpha val="0"/>
              </a:srgbClr>
            </a:solidFill>
            <a:prstDash val="solid"/>
          </a:ln>
        </p:spPr>
      </p:sp>
      <p:pic>
        <p:nvPicPr>
          <p:cNvPr id="21" name="Image 0" descr="preencoded.png">    </p:cNvPr>
          <p:cNvPicPr>
            <a:picLocks noChangeAspect="1"/>
          </p:cNvPicPr>
          <p:nvPr/>
        </p:nvPicPr>
        <p:blipFill>
          <a:blip r:embed="rId1"/>
          <a:stretch>
            <a:fillRect/>
          </a:stretch>
        </p:blipFill>
        <p:spPr>
          <a:xfrm>
            <a:off x="791505" y="1751625"/>
            <a:ext cx="245791" cy="245791"/>
          </a:xfrm>
          <a:prstGeom prst="rect">
            <a:avLst/>
          </a:prstGeom>
        </p:spPr>
      </p:pic>
      <p:sp>
        <p:nvSpPr>
          <p:cNvPr id="22" name="Text 18"/>
          <p:cNvSpPr txBox="1"/>
          <p:nvPr/>
        </p:nvSpPr>
        <p:spPr>
          <a:xfrm>
            <a:off x="320040" y="2240280"/>
            <a:ext cx="1188720" cy="274320"/>
          </a:xfrm>
          <a:prstGeom prst="rect">
            <a:avLst/>
          </a:prstGeom>
          <a:noFill/>
          <a:ln/>
        </p:spPr>
        <p:txBody>
          <a:bodyPr wrap="square" lIns="0" tIns="0" rIns="0" bIns="0" rtlCol="0" anchor="t"/>
          <a:lstStyle/>
          <a:p>
            <a:pPr algn="ctr" indent="0" marL="0">
              <a:buNone/>
            </a:pPr>
            <a:r>
              <a:rPr lang="en-US" sz="1400" b="1" dirty="0">
                <a:solidFill>
                  <a:srgbClr val="231F20"/>
                </a:solidFill>
                <a:latin typeface="Calibri" pitchFamily="34" charset="0"/>
                <a:ea typeface="Calibri" pitchFamily="34" charset="-122"/>
                <a:cs typeface="Calibri" pitchFamily="34" charset="-120"/>
              </a:rPr>
              <a:t>Exposé</a:t>
            </a:r>
            <a:endParaRPr lang="en-US" sz="1400" dirty="0"/>
          </a:p>
        </p:txBody>
      </p:sp>
      <p:sp>
        <p:nvSpPr>
          <p:cNvPr id="23" name="Text 19"/>
          <p:cNvSpPr txBox="1"/>
          <p:nvPr/>
        </p:nvSpPr>
        <p:spPr>
          <a:xfrm>
            <a:off x="320040" y="2542032"/>
            <a:ext cx="1188720" cy="868680"/>
          </a:xfrm>
          <a:prstGeom prst="rect">
            <a:avLst/>
          </a:prstGeom>
          <a:noFill/>
          <a:ln/>
        </p:spPr>
        <p:txBody>
          <a:bodyPr wrap="square" lIns="0" tIns="0" rIns="0" bIns="0" rtlCol="0" anchor="t"/>
          <a:lstStyle/>
          <a:p>
            <a:pPr algn="ctr" indent="0" marL="0">
              <a:buNone/>
            </a:pPr>
            <a:r>
              <a:rPr lang="en-US" sz="900" dirty="0">
                <a:solidFill>
                  <a:srgbClr val="5E6964"/>
                </a:solidFill>
                <a:latin typeface="Calibri" pitchFamily="34" charset="0"/>
                <a:ea typeface="Calibri" pitchFamily="34" charset="-122"/>
                <a:cs typeface="Calibri" pitchFamily="34" charset="-120"/>
              </a:rPr>
              <a:t>Concepts et utilité</a:t>
            </a:r>
            <a:endParaRPr lang="en-US" sz="900" dirty="0"/>
          </a:p>
        </p:txBody>
      </p:sp>
      <p:sp>
        <p:nvSpPr>
          <p:cNvPr id="24" name="Shape 20"/>
          <p:cNvSpPr/>
          <p:nvPr/>
        </p:nvSpPr>
        <p:spPr>
          <a:xfrm>
            <a:off x="320040" y="3456432"/>
            <a:ext cx="1188720" cy="274320"/>
          </a:xfrm>
          <a:prstGeom prst="roundRect">
            <a:avLst>
              <a:gd name="adj" fmla="val 50000"/>
            </a:avLst>
          </a:prstGeom>
          <a:solidFill>
            <a:srgbClr val="00A86A">
              <a:alpha val="15000"/>
            </a:srgbClr>
          </a:solidFill>
          <a:ln w="9525">
            <a:solidFill>
              <a:srgbClr val="00A86A"/>
            </a:solidFill>
            <a:prstDash val="solid"/>
          </a:ln>
        </p:spPr>
      </p:sp>
      <p:sp>
        <p:nvSpPr>
          <p:cNvPr id="25" name="Text 21"/>
          <p:cNvSpPr txBox="1"/>
          <p:nvPr/>
        </p:nvSpPr>
        <p:spPr>
          <a:xfrm>
            <a:off x="320040" y="3456432"/>
            <a:ext cx="1188720" cy="274320"/>
          </a:xfrm>
          <a:prstGeom prst="rect">
            <a:avLst/>
          </a:prstGeom>
          <a:noFill/>
          <a:ln/>
        </p:spPr>
        <p:txBody>
          <a:bodyPr wrap="square" lIns="0" tIns="0" rIns="0" bIns="0" rtlCol="0" anchor="ctr"/>
          <a:lstStyle/>
          <a:p>
            <a:pPr algn="ctr" indent="0" marL="0">
              <a:buNone/>
            </a:pPr>
            <a:r>
              <a:rPr lang="en-US" sz="800" b="1" dirty="0">
                <a:solidFill>
                  <a:srgbClr val="00A86A"/>
                </a:solidFill>
                <a:latin typeface="Calibri" pitchFamily="34" charset="0"/>
                <a:ea typeface="Calibri" pitchFamily="34" charset="-122"/>
                <a:cs typeface="Calibri" pitchFamily="34" charset="-120"/>
              </a:rPr>
              <a:t>Vocabulaire commun</a:t>
            </a:r>
            <a:endParaRPr lang="en-US" sz="800" dirty="0"/>
          </a:p>
        </p:txBody>
      </p:sp>
      <p:sp>
        <p:nvSpPr>
          <p:cNvPr id="26" name="Text 22"/>
          <p:cNvSpPr txBox="1"/>
          <p:nvPr/>
        </p:nvSpPr>
        <p:spPr>
          <a:xfrm>
            <a:off x="1847088" y="1280160"/>
            <a:ext cx="914400" cy="228600"/>
          </a:xfrm>
          <a:prstGeom prst="rect">
            <a:avLst/>
          </a:prstGeom>
          <a:noFill/>
          <a:ln/>
        </p:spPr>
        <p:txBody>
          <a:bodyPr wrap="square" lIns="0" tIns="0" rIns="0" bIns="0" rtlCol="0" anchor="t"/>
          <a:lstStyle/>
          <a:p>
            <a:pPr algn="ctr" indent="0" marL="0">
              <a:buNone/>
            </a:pPr>
            <a:r>
              <a:rPr lang="en-US" sz="1200" b="1" dirty="0">
                <a:solidFill>
                  <a:srgbClr val="00704A"/>
                </a:solidFill>
                <a:latin typeface="Calibri" pitchFamily="34" charset="0"/>
                <a:ea typeface="Calibri" pitchFamily="34" charset="-122"/>
                <a:cs typeface="Calibri" pitchFamily="34" charset="-120"/>
              </a:rPr>
              <a:t>09h30</a:t>
            </a:r>
            <a:endParaRPr lang="en-US" sz="1200" dirty="0"/>
          </a:p>
        </p:txBody>
      </p:sp>
      <p:sp>
        <p:nvSpPr>
          <p:cNvPr id="27" name="Shape 23"/>
          <p:cNvSpPr/>
          <p:nvPr/>
        </p:nvSpPr>
        <p:spPr>
          <a:xfrm>
            <a:off x="2048256" y="1618488"/>
            <a:ext cx="512064" cy="512064"/>
          </a:xfrm>
          <a:prstGeom prst="ellipse">
            <a:avLst/>
          </a:prstGeom>
          <a:solidFill>
            <a:srgbClr val="FFFFFF"/>
          </a:solidFill>
          <a:ln w="12700">
            <a:solidFill>
              <a:srgbClr val="FFFFFF"/>
            </a:solidFill>
            <a:prstDash val="solid"/>
          </a:ln>
        </p:spPr>
      </p:sp>
      <p:sp>
        <p:nvSpPr>
          <p:cNvPr id="28" name="Shape 24"/>
          <p:cNvSpPr/>
          <p:nvPr/>
        </p:nvSpPr>
        <p:spPr>
          <a:xfrm>
            <a:off x="2048256" y="1618488"/>
            <a:ext cx="512064" cy="512064"/>
          </a:xfrm>
          <a:prstGeom prst="ellipse">
            <a:avLst/>
          </a:prstGeom>
          <a:solidFill>
            <a:srgbClr val="00704A">
              <a:alpha val="22000"/>
            </a:srgbClr>
          </a:solidFill>
          <a:ln w="12700">
            <a:solidFill>
              <a:srgbClr val="00704A">
                <a:alpha val="0"/>
              </a:srgbClr>
            </a:solidFill>
            <a:prstDash val="solid"/>
          </a:ln>
        </p:spPr>
      </p:sp>
      <p:pic>
        <p:nvPicPr>
          <p:cNvPr id="29" name="Image 1" descr="preencoded.png">    </p:cNvPr>
          <p:cNvPicPr>
            <a:picLocks noChangeAspect="1"/>
          </p:cNvPicPr>
          <p:nvPr/>
        </p:nvPicPr>
        <p:blipFill>
          <a:blip r:embed="rId2"/>
          <a:stretch>
            <a:fillRect/>
          </a:stretch>
        </p:blipFill>
        <p:spPr>
          <a:xfrm>
            <a:off x="2181393" y="1751625"/>
            <a:ext cx="245791" cy="245791"/>
          </a:xfrm>
          <a:prstGeom prst="rect">
            <a:avLst/>
          </a:prstGeom>
        </p:spPr>
      </p:pic>
      <p:sp>
        <p:nvSpPr>
          <p:cNvPr id="30" name="Text 25"/>
          <p:cNvSpPr txBox="1"/>
          <p:nvPr/>
        </p:nvSpPr>
        <p:spPr>
          <a:xfrm>
            <a:off x="1709928" y="2240280"/>
            <a:ext cx="1188720" cy="274320"/>
          </a:xfrm>
          <a:prstGeom prst="rect">
            <a:avLst/>
          </a:prstGeom>
          <a:noFill/>
          <a:ln/>
        </p:spPr>
        <p:txBody>
          <a:bodyPr wrap="square" lIns="0" tIns="0" rIns="0" bIns="0" rtlCol="0" anchor="t"/>
          <a:lstStyle/>
          <a:p>
            <a:pPr algn="ctr" indent="0" marL="0">
              <a:buNone/>
            </a:pPr>
            <a:r>
              <a:rPr lang="en-US" sz="1400" b="1" dirty="0">
                <a:solidFill>
                  <a:srgbClr val="231F20"/>
                </a:solidFill>
                <a:latin typeface="Calibri" pitchFamily="34" charset="0"/>
                <a:ea typeface="Calibri" pitchFamily="34" charset="-122"/>
                <a:cs typeface="Calibri" pitchFamily="34" charset="-120"/>
              </a:rPr>
              <a:t>Collecter</a:t>
            </a:r>
            <a:endParaRPr lang="en-US" sz="1400" dirty="0"/>
          </a:p>
        </p:txBody>
      </p:sp>
      <p:sp>
        <p:nvSpPr>
          <p:cNvPr id="31" name="Text 26"/>
          <p:cNvSpPr txBox="1"/>
          <p:nvPr/>
        </p:nvSpPr>
        <p:spPr>
          <a:xfrm>
            <a:off x="1709928" y="2542032"/>
            <a:ext cx="1188720" cy="868680"/>
          </a:xfrm>
          <a:prstGeom prst="rect">
            <a:avLst/>
          </a:prstGeom>
          <a:noFill/>
          <a:ln/>
        </p:spPr>
        <p:txBody>
          <a:bodyPr wrap="square" lIns="0" tIns="0" rIns="0" bIns="0" rtlCol="0" anchor="t"/>
          <a:lstStyle/>
          <a:p>
            <a:pPr algn="ctr" indent="0" marL="0">
              <a:buNone/>
            </a:pPr>
            <a:r>
              <a:rPr lang="en-US" sz="900" dirty="0">
                <a:solidFill>
                  <a:srgbClr val="5E6964"/>
                </a:solidFill>
                <a:latin typeface="Calibri" pitchFamily="34" charset="0"/>
                <a:ea typeface="Calibri" pitchFamily="34" charset="-122"/>
                <a:cs typeface="Calibri" pitchFamily="34" charset="-120"/>
              </a:rPr>
              <a:t>Accès aux rasters, bandes, indicateurs qualité ; découpage national</a:t>
            </a:r>
            <a:endParaRPr lang="en-US" sz="900" dirty="0"/>
          </a:p>
        </p:txBody>
      </p:sp>
      <p:sp>
        <p:nvSpPr>
          <p:cNvPr id="32" name="Shape 27"/>
          <p:cNvSpPr/>
          <p:nvPr/>
        </p:nvSpPr>
        <p:spPr>
          <a:xfrm>
            <a:off x="1709928" y="3456432"/>
            <a:ext cx="1188720" cy="274320"/>
          </a:xfrm>
          <a:prstGeom prst="roundRect">
            <a:avLst>
              <a:gd name="adj" fmla="val 50000"/>
            </a:avLst>
          </a:prstGeom>
          <a:solidFill>
            <a:srgbClr val="00704A">
              <a:alpha val="15000"/>
            </a:srgbClr>
          </a:solidFill>
          <a:ln w="9525">
            <a:solidFill>
              <a:srgbClr val="00704A"/>
            </a:solidFill>
            <a:prstDash val="solid"/>
          </a:ln>
        </p:spPr>
      </p:sp>
      <p:sp>
        <p:nvSpPr>
          <p:cNvPr id="33" name="Text 28"/>
          <p:cNvSpPr txBox="1"/>
          <p:nvPr/>
        </p:nvSpPr>
        <p:spPr>
          <a:xfrm>
            <a:off x="1709928" y="3456432"/>
            <a:ext cx="1188720" cy="274320"/>
          </a:xfrm>
          <a:prstGeom prst="rect">
            <a:avLst/>
          </a:prstGeom>
          <a:noFill/>
          <a:ln/>
        </p:spPr>
        <p:txBody>
          <a:bodyPr wrap="square" lIns="0" tIns="0" rIns="0" bIns="0" rtlCol="0" anchor="ctr"/>
          <a:lstStyle/>
          <a:p>
            <a:pPr algn="ctr" indent="0" marL="0">
              <a:buNone/>
            </a:pPr>
            <a:r>
              <a:rPr lang="en-US" sz="800" b="1" dirty="0">
                <a:solidFill>
                  <a:srgbClr val="00704A"/>
                </a:solidFill>
                <a:latin typeface="Calibri" pitchFamily="34" charset="0"/>
                <a:ea typeface="Calibri" pitchFamily="34" charset="-122"/>
                <a:cs typeface="Calibri" pitchFamily="34" charset="-120"/>
              </a:rPr>
              <a:t>Extrait national</a:t>
            </a:r>
            <a:endParaRPr lang="en-US" sz="800" dirty="0"/>
          </a:p>
        </p:txBody>
      </p:sp>
      <p:sp>
        <p:nvSpPr>
          <p:cNvPr id="34" name="Text 29"/>
          <p:cNvSpPr txBox="1"/>
          <p:nvPr/>
        </p:nvSpPr>
        <p:spPr>
          <a:xfrm>
            <a:off x="3236976" y="1280160"/>
            <a:ext cx="914400" cy="228600"/>
          </a:xfrm>
          <a:prstGeom prst="rect">
            <a:avLst/>
          </a:prstGeom>
          <a:noFill/>
          <a:ln/>
        </p:spPr>
        <p:txBody>
          <a:bodyPr wrap="square" lIns="0" tIns="0" rIns="0" bIns="0" rtlCol="0" anchor="t"/>
          <a:lstStyle/>
          <a:p>
            <a:pPr algn="ctr" indent="0" marL="0">
              <a:buNone/>
            </a:pPr>
            <a:r>
              <a:rPr lang="en-US" sz="1200" b="1" dirty="0">
                <a:solidFill>
                  <a:srgbClr val="0E7C86"/>
                </a:solidFill>
                <a:latin typeface="Calibri" pitchFamily="34" charset="0"/>
                <a:ea typeface="Calibri" pitchFamily="34" charset="-122"/>
                <a:cs typeface="Calibri" pitchFamily="34" charset="-120"/>
              </a:rPr>
              <a:t>10h45</a:t>
            </a:r>
            <a:endParaRPr lang="en-US" sz="1200" dirty="0"/>
          </a:p>
        </p:txBody>
      </p:sp>
      <p:sp>
        <p:nvSpPr>
          <p:cNvPr id="35" name="Shape 30"/>
          <p:cNvSpPr/>
          <p:nvPr/>
        </p:nvSpPr>
        <p:spPr>
          <a:xfrm>
            <a:off x="3438144" y="1618488"/>
            <a:ext cx="512064" cy="512064"/>
          </a:xfrm>
          <a:prstGeom prst="ellipse">
            <a:avLst/>
          </a:prstGeom>
          <a:solidFill>
            <a:srgbClr val="FFFFFF"/>
          </a:solidFill>
          <a:ln w="12700">
            <a:solidFill>
              <a:srgbClr val="FFFFFF"/>
            </a:solidFill>
            <a:prstDash val="solid"/>
          </a:ln>
        </p:spPr>
      </p:sp>
      <p:sp>
        <p:nvSpPr>
          <p:cNvPr id="36" name="Shape 31"/>
          <p:cNvSpPr/>
          <p:nvPr/>
        </p:nvSpPr>
        <p:spPr>
          <a:xfrm>
            <a:off x="3438144" y="1618488"/>
            <a:ext cx="512064" cy="512064"/>
          </a:xfrm>
          <a:prstGeom prst="ellipse">
            <a:avLst/>
          </a:prstGeom>
          <a:solidFill>
            <a:srgbClr val="0E7C86">
              <a:alpha val="22000"/>
            </a:srgbClr>
          </a:solidFill>
          <a:ln w="12700">
            <a:solidFill>
              <a:srgbClr val="0E7C86">
                <a:alpha val="0"/>
              </a:srgbClr>
            </a:solidFill>
            <a:prstDash val="solid"/>
          </a:ln>
        </p:spPr>
      </p:sp>
      <p:pic>
        <p:nvPicPr>
          <p:cNvPr id="37" name="Image 2" descr="preencoded.png">    </p:cNvPr>
          <p:cNvPicPr>
            <a:picLocks noChangeAspect="1"/>
          </p:cNvPicPr>
          <p:nvPr/>
        </p:nvPicPr>
        <p:blipFill>
          <a:blip r:embed="rId3"/>
          <a:stretch>
            <a:fillRect/>
          </a:stretch>
        </p:blipFill>
        <p:spPr>
          <a:xfrm>
            <a:off x="3571281" y="1751625"/>
            <a:ext cx="245791" cy="245791"/>
          </a:xfrm>
          <a:prstGeom prst="rect">
            <a:avLst/>
          </a:prstGeom>
        </p:spPr>
      </p:pic>
      <p:sp>
        <p:nvSpPr>
          <p:cNvPr id="38" name="Text 32"/>
          <p:cNvSpPr txBox="1"/>
          <p:nvPr/>
        </p:nvSpPr>
        <p:spPr>
          <a:xfrm>
            <a:off x="3099816" y="2240280"/>
            <a:ext cx="1188720" cy="274320"/>
          </a:xfrm>
          <a:prstGeom prst="rect">
            <a:avLst/>
          </a:prstGeom>
          <a:noFill/>
          <a:ln/>
        </p:spPr>
        <p:txBody>
          <a:bodyPr wrap="square" lIns="0" tIns="0" rIns="0" bIns="0" rtlCol="0" anchor="t"/>
          <a:lstStyle/>
          <a:p>
            <a:pPr algn="ctr" indent="0" marL="0">
              <a:buNone/>
            </a:pPr>
            <a:r>
              <a:rPr lang="en-US" sz="1400" b="1" dirty="0">
                <a:solidFill>
                  <a:srgbClr val="231F20"/>
                </a:solidFill>
                <a:latin typeface="Calibri" pitchFamily="34" charset="0"/>
                <a:ea typeface="Calibri" pitchFamily="34" charset="-122"/>
                <a:cs typeface="Calibri" pitchFamily="34" charset="-120"/>
              </a:rPr>
              <a:t>Explorer</a:t>
            </a:r>
            <a:endParaRPr lang="en-US" sz="1400" dirty="0"/>
          </a:p>
        </p:txBody>
      </p:sp>
      <p:sp>
        <p:nvSpPr>
          <p:cNvPr id="39" name="Text 33"/>
          <p:cNvSpPr txBox="1"/>
          <p:nvPr/>
        </p:nvSpPr>
        <p:spPr>
          <a:xfrm>
            <a:off x="3099816" y="2542032"/>
            <a:ext cx="1188720" cy="868680"/>
          </a:xfrm>
          <a:prstGeom prst="rect">
            <a:avLst/>
          </a:prstGeom>
          <a:noFill/>
          <a:ln/>
        </p:spPr>
        <p:txBody>
          <a:bodyPr wrap="square" lIns="0" tIns="0" rIns="0" bIns="0" rtlCol="0" anchor="t"/>
          <a:lstStyle/>
          <a:p>
            <a:pPr algn="ctr" indent="0" marL="0">
              <a:buNone/>
            </a:pPr>
            <a:r>
              <a:rPr lang="en-US" sz="900" dirty="0">
                <a:solidFill>
                  <a:srgbClr val="5E6964"/>
                </a:solidFill>
                <a:latin typeface="Calibri" pitchFamily="34" charset="0"/>
                <a:ea typeface="Calibri" pitchFamily="34" charset="-122"/>
                <a:cs typeface="Calibri" pitchFamily="34" charset="-120"/>
              </a:rPr>
              <a:t>Distributions, masques, variations mensuelles ; traque des artefacts</a:t>
            </a:r>
            <a:endParaRPr lang="en-US" sz="900" dirty="0"/>
          </a:p>
        </p:txBody>
      </p:sp>
      <p:sp>
        <p:nvSpPr>
          <p:cNvPr id="40" name="Shape 34"/>
          <p:cNvSpPr/>
          <p:nvPr/>
        </p:nvSpPr>
        <p:spPr>
          <a:xfrm>
            <a:off x="3099816" y="3456432"/>
            <a:ext cx="1188720" cy="274320"/>
          </a:xfrm>
          <a:prstGeom prst="roundRect">
            <a:avLst>
              <a:gd name="adj" fmla="val 50000"/>
            </a:avLst>
          </a:prstGeom>
          <a:solidFill>
            <a:srgbClr val="0E7C86">
              <a:alpha val="15000"/>
            </a:srgbClr>
          </a:solidFill>
          <a:ln w="9525">
            <a:solidFill>
              <a:srgbClr val="0E7C86"/>
            </a:solidFill>
            <a:prstDash val="solid"/>
          </a:ln>
        </p:spPr>
      </p:sp>
      <p:sp>
        <p:nvSpPr>
          <p:cNvPr id="41" name="Text 35"/>
          <p:cNvSpPr txBox="1"/>
          <p:nvPr/>
        </p:nvSpPr>
        <p:spPr>
          <a:xfrm>
            <a:off x="3099816" y="3456432"/>
            <a:ext cx="1188720" cy="274320"/>
          </a:xfrm>
          <a:prstGeom prst="rect">
            <a:avLst/>
          </a:prstGeom>
          <a:noFill/>
          <a:ln/>
        </p:spPr>
        <p:txBody>
          <a:bodyPr wrap="square" lIns="0" tIns="0" rIns="0" bIns="0" rtlCol="0" anchor="ctr"/>
          <a:lstStyle/>
          <a:p>
            <a:pPr algn="ctr" indent="0" marL="0">
              <a:buNone/>
            </a:pPr>
            <a:r>
              <a:rPr lang="en-US" sz="800" b="1" dirty="0">
                <a:solidFill>
                  <a:srgbClr val="0E7C86"/>
                </a:solidFill>
                <a:latin typeface="Calibri" pitchFamily="34" charset="0"/>
                <a:ea typeface="Calibri" pitchFamily="34" charset="-122"/>
                <a:cs typeface="Calibri" pitchFamily="34" charset="-120"/>
              </a:rPr>
              <a:t>Journal des artefacts</a:t>
            </a:r>
            <a:endParaRPr lang="en-US" sz="800" dirty="0"/>
          </a:p>
        </p:txBody>
      </p:sp>
      <p:sp>
        <p:nvSpPr>
          <p:cNvPr id="42" name="Text 36"/>
          <p:cNvSpPr txBox="1"/>
          <p:nvPr/>
        </p:nvSpPr>
        <p:spPr>
          <a:xfrm>
            <a:off x="4626864" y="1280160"/>
            <a:ext cx="914400" cy="228600"/>
          </a:xfrm>
          <a:prstGeom prst="rect">
            <a:avLst/>
          </a:prstGeom>
          <a:noFill/>
          <a:ln/>
        </p:spPr>
        <p:txBody>
          <a:bodyPr wrap="square" lIns="0" tIns="0" rIns="0" bIns="0" rtlCol="0" anchor="t"/>
          <a:lstStyle/>
          <a:p>
            <a:pPr algn="ctr" indent="0" marL="0">
              <a:buNone/>
            </a:pPr>
            <a:r>
              <a:rPr lang="en-US" sz="1200" b="1" dirty="0">
                <a:solidFill>
                  <a:srgbClr val="D49A00"/>
                </a:solidFill>
                <a:latin typeface="Calibri" pitchFamily="34" charset="0"/>
                <a:ea typeface="Calibri" pitchFamily="34" charset="-122"/>
                <a:cs typeface="Calibri" pitchFamily="34" charset="-120"/>
              </a:rPr>
              <a:t>14h00</a:t>
            </a:r>
            <a:endParaRPr lang="en-US" sz="1200" dirty="0"/>
          </a:p>
        </p:txBody>
      </p:sp>
      <p:sp>
        <p:nvSpPr>
          <p:cNvPr id="43" name="Shape 37"/>
          <p:cNvSpPr/>
          <p:nvPr/>
        </p:nvSpPr>
        <p:spPr>
          <a:xfrm>
            <a:off x="4828032" y="1618488"/>
            <a:ext cx="512064" cy="512064"/>
          </a:xfrm>
          <a:prstGeom prst="ellipse">
            <a:avLst/>
          </a:prstGeom>
          <a:solidFill>
            <a:srgbClr val="FFFFFF"/>
          </a:solidFill>
          <a:ln w="12700">
            <a:solidFill>
              <a:srgbClr val="FFFFFF"/>
            </a:solidFill>
            <a:prstDash val="solid"/>
          </a:ln>
        </p:spPr>
      </p:sp>
      <p:sp>
        <p:nvSpPr>
          <p:cNvPr id="44" name="Shape 38"/>
          <p:cNvSpPr/>
          <p:nvPr/>
        </p:nvSpPr>
        <p:spPr>
          <a:xfrm>
            <a:off x="4828032" y="1618488"/>
            <a:ext cx="512064" cy="512064"/>
          </a:xfrm>
          <a:prstGeom prst="ellipse">
            <a:avLst/>
          </a:prstGeom>
          <a:solidFill>
            <a:srgbClr val="D49A00">
              <a:alpha val="22000"/>
            </a:srgbClr>
          </a:solidFill>
          <a:ln w="12700">
            <a:solidFill>
              <a:srgbClr val="D49A00">
                <a:alpha val="0"/>
              </a:srgbClr>
            </a:solidFill>
            <a:prstDash val="solid"/>
          </a:ln>
        </p:spPr>
      </p:sp>
      <p:pic>
        <p:nvPicPr>
          <p:cNvPr id="45" name="Image 3" descr="preencoded.png">    </p:cNvPr>
          <p:cNvPicPr>
            <a:picLocks noChangeAspect="1"/>
          </p:cNvPicPr>
          <p:nvPr/>
        </p:nvPicPr>
        <p:blipFill>
          <a:blip r:embed="rId4"/>
          <a:stretch>
            <a:fillRect/>
          </a:stretch>
        </p:blipFill>
        <p:spPr>
          <a:xfrm>
            <a:off x="4961169" y="1751625"/>
            <a:ext cx="245791" cy="245791"/>
          </a:xfrm>
          <a:prstGeom prst="rect">
            <a:avLst/>
          </a:prstGeom>
        </p:spPr>
      </p:pic>
      <p:sp>
        <p:nvSpPr>
          <p:cNvPr id="46" name="Text 39"/>
          <p:cNvSpPr txBox="1"/>
          <p:nvPr/>
        </p:nvSpPr>
        <p:spPr>
          <a:xfrm>
            <a:off x="4489704" y="2240280"/>
            <a:ext cx="1188720" cy="274320"/>
          </a:xfrm>
          <a:prstGeom prst="rect">
            <a:avLst/>
          </a:prstGeom>
          <a:noFill/>
          <a:ln/>
        </p:spPr>
        <p:txBody>
          <a:bodyPr wrap="square" lIns="0" tIns="0" rIns="0" bIns="0" rtlCol="0" anchor="t"/>
          <a:lstStyle/>
          <a:p>
            <a:pPr algn="ctr" indent="0" marL="0">
              <a:buNone/>
            </a:pPr>
            <a:r>
              <a:rPr lang="en-US" sz="1400" b="1" dirty="0">
                <a:solidFill>
                  <a:srgbClr val="231F20"/>
                </a:solidFill>
                <a:latin typeface="Calibri" pitchFamily="34" charset="0"/>
                <a:ea typeface="Calibri" pitchFamily="34" charset="-122"/>
                <a:cs typeface="Calibri" pitchFamily="34" charset="-120"/>
              </a:rPr>
              <a:t>Analyser</a:t>
            </a:r>
            <a:endParaRPr lang="en-US" sz="1400" dirty="0"/>
          </a:p>
        </p:txBody>
      </p:sp>
      <p:sp>
        <p:nvSpPr>
          <p:cNvPr id="47" name="Text 40"/>
          <p:cNvSpPr txBox="1"/>
          <p:nvPr/>
        </p:nvSpPr>
        <p:spPr>
          <a:xfrm>
            <a:off x="4489704" y="2542032"/>
            <a:ext cx="1188720" cy="868680"/>
          </a:xfrm>
          <a:prstGeom prst="rect">
            <a:avLst/>
          </a:prstGeom>
          <a:noFill/>
          <a:ln/>
        </p:spPr>
        <p:txBody>
          <a:bodyPr wrap="square" lIns="0" tIns="0" rIns="0" bIns="0" rtlCol="0" anchor="t"/>
          <a:lstStyle/>
          <a:p>
            <a:pPr algn="ctr" indent="0" marL="0">
              <a:buNone/>
            </a:pPr>
            <a:r>
              <a:rPr lang="en-US" sz="900" dirty="0">
                <a:solidFill>
                  <a:srgbClr val="5E6964"/>
                </a:solidFill>
                <a:latin typeface="Calibri" pitchFamily="34" charset="0"/>
                <a:ea typeface="Calibri" pitchFamily="34" charset="-122"/>
                <a:cs typeface="Calibri" pitchFamily="34" charset="-120"/>
              </a:rPr>
              <a:t>Statistiques zonales, séries temporelles, détection des changements</a:t>
            </a:r>
            <a:endParaRPr lang="en-US" sz="900" dirty="0"/>
          </a:p>
        </p:txBody>
      </p:sp>
      <p:sp>
        <p:nvSpPr>
          <p:cNvPr id="48" name="Shape 41"/>
          <p:cNvSpPr/>
          <p:nvPr/>
        </p:nvSpPr>
        <p:spPr>
          <a:xfrm>
            <a:off x="4489704" y="3456432"/>
            <a:ext cx="1188720" cy="274320"/>
          </a:xfrm>
          <a:prstGeom prst="roundRect">
            <a:avLst>
              <a:gd name="adj" fmla="val 50000"/>
            </a:avLst>
          </a:prstGeom>
          <a:solidFill>
            <a:srgbClr val="D49A00">
              <a:alpha val="15000"/>
            </a:srgbClr>
          </a:solidFill>
          <a:ln w="9525">
            <a:solidFill>
              <a:srgbClr val="D49A00"/>
            </a:solidFill>
            <a:prstDash val="solid"/>
          </a:ln>
        </p:spPr>
      </p:sp>
      <p:sp>
        <p:nvSpPr>
          <p:cNvPr id="49" name="Text 42"/>
          <p:cNvSpPr txBox="1"/>
          <p:nvPr/>
        </p:nvSpPr>
        <p:spPr>
          <a:xfrm>
            <a:off x="4489704" y="3456432"/>
            <a:ext cx="1188720" cy="274320"/>
          </a:xfrm>
          <a:prstGeom prst="rect">
            <a:avLst/>
          </a:prstGeom>
          <a:noFill/>
          <a:ln/>
        </p:spPr>
        <p:txBody>
          <a:bodyPr wrap="square" lIns="0" tIns="0" rIns="0" bIns="0" rtlCol="0" anchor="ctr"/>
          <a:lstStyle/>
          <a:p>
            <a:pPr algn="ctr" indent="0" marL="0">
              <a:buNone/>
            </a:pPr>
            <a:r>
              <a:rPr lang="en-US" sz="800" b="1" dirty="0">
                <a:solidFill>
                  <a:srgbClr val="D49A00"/>
                </a:solidFill>
                <a:latin typeface="Calibri" pitchFamily="34" charset="0"/>
                <a:ea typeface="Calibri" pitchFamily="34" charset="-122"/>
                <a:cs typeface="Calibri" pitchFamily="34" charset="-120"/>
              </a:rPr>
              <a:t>Tableaux et cartes</a:t>
            </a:r>
            <a:endParaRPr lang="en-US" sz="800" dirty="0"/>
          </a:p>
        </p:txBody>
      </p:sp>
      <p:sp>
        <p:nvSpPr>
          <p:cNvPr id="50" name="Text 43"/>
          <p:cNvSpPr txBox="1"/>
          <p:nvPr/>
        </p:nvSpPr>
        <p:spPr>
          <a:xfrm>
            <a:off x="6016752" y="1280160"/>
            <a:ext cx="914400" cy="228600"/>
          </a:xfrm>
          <a:prstGeom prst="rect">
            <a:avLst/>
          </a:prstGeom>
          <a:noFill/>
          <a:ln/>
        </p:spPr>
        <p:txBody>
          <a:bodyPr wrap="square" lIns="0" tIns="0" rIns="0" bIns="0" rtlCol="0" anchor="t"/>
          <a:lstStyle/>
          <a:p>
            <a:pPr algn="ctr" indent="0" marL="0">
              <a:buNone/>
            </a:pPr>
            <a:r>
              <a:rPr lang="en-US" sz="1200" b="1" dirty="0">
                <a:solidFill>
                  <a:srgbClr val="C4621D"/>
                </a:solidFill>
                <a:latin typeface="Calibri" pitchFamily="34" charset="0"/>
                <a:ea typeface="Calibri" pitchFamily="34" charset="-122"/>
                <a:cs typeface="Calibri" pitchFamily="34" charset="-120"/>
              </a:rPr>
              <a:t>15h45</a:t>
            </a:r>
            <a:endParaRPr lang="en-US" sz="1200" dirty="0"/>
          </a:p>
        </p:txBody>
      </p:sp>
      <p:sp>
        <p:nvSpPr>
          <p:cNvPr id="51" name="Shape 44"/>
          <p:cNvSpPr/>
          <p:nvPr/>
        </p:nvSpPr>
        <p:spPr>
          <a:xfrm>
            <a:off x="6217920" y="1618488"/>
            <a:ext cx="512064" cy="512064"/>
          </a:xfrm>
          <a:prstGeom prst="ellipse">
            <a:avLst/>
          </a:prstGeom>
          <a:solidFill>
            <a:srgbClr val="FFFFFF"/>
          </a:solidFill>
          <a:ln w="12700">
            <a:solidFill>
              <a:srgbClr val="FFFFFF"/>
            </a:solidFill>
            <a:prstDash val="solid"/>
          </a:ln>
        </p:spPr>
      </p:sp>
      <p:sp>
        <p:nvSpPr>
          <p:cNvPr id="52" name="Shape 45"/>
          <p:cNvSpPr/>
          <p:nvPr/>
        </p:nvSpPr>
        <p:spPr>
          <a:xfrm>
            <a:off x="6217920" y="1618488"/>
            <a:ext cx="512064" cy="512064"/>
          </a:xfrm>
          <a:prstGeom prst="ellipse">
            <a:avLst/>
          </a:prstGeom>
          <a:solidFill>
            <a:srgbClr val="C4621D">
              <a:alpha val="22000"/>
            </a:srgbClr>
          </a:solidFill>
          <a:ln w="12700">
            <a:solidFill>
              <a:srgbClr val="C4621D">
                <a:alpha val="0"/>
              </a:srgbClr>
            </a:solidFill>
            <a:prstDash val="solid"/>
          </a:ln>
        </p:spPr>
      </p:sp>
      <p:pic>
        <p:nvPicPr>
          <p:cNvPr id="53" name="Image 4" descr="preencoded.png">    </p:cNvPr>
          <p:cNvPicPr>
            <a:picLocks noChangeAspect="1"/>
          </p:cNvPicPr>
          <p:nvPr/>
        </p:nvPicPr>
        <p:blipFill>
          <a:blip r:embed="rId5"/>
          <a:stretch>
            <a:fillRect/>
          </a:stretch>
        </p:blipFill>
        <p:spPr>
          <a:xfrm>
            <a:off x="6351057" y="1751625"/>
            <a:ext cx="245791" cy="245791"/>
          </a:xfrm>
          <a:prstGeom prst="rect">
            <a:avLst/>
          </a:prstGeom>
        </p:spPr>
      </p:pic>
      <p:sp>
        <p:nvSpPr>
          <p:cNvPr id="54" name="Text 46"/>
          <p:cNvSpPr txBox="1"/>
          <p:nvPr/>
        </p:nvSpPr>
        <p:spPr>
          <a:xfrm>
            <a:off x="5879592" y="2240280"/>
            <a:ext cx="1188720" cy="274320"/>
          </a:xfrm>
          <a:prstGeom prst="rect">
            <a:avLst/>
          </a:prstGeom>
          <a:noFill/>
          <a:ln/>
        </p:spPr>
        <p:txBody>
          <a:bodyPr wrap="square" lIns="0" tIns="0" rIns="0" bIns="0" rtlCol="0" anchor="t"/>
          <a:lstStyle/>
          <a:p>
            <a:pPr algn="ctr" indent="0" marL="0">
              <a:buNone/>
            </a:pPr>
            <a:r>
              <a:rPr lang="en-US" sz="1400" b="1" dirty="0">
                <a:solidFill>
                  <a:srgbClr val="231F20"/>
                </a:solidFill>
                <a:latin typeface="Calibri" pitchFamily="34" charset="0"/>
                <a:ea typeface="Calibri" pitchFamily="34" charset="-122"/>
                <a:cs typeface="Calibri" pitchFamily="34" charset="-120"/>
              </a:rPr>
              <a:t>Valider</a:t>
            </a:r>
            <a:endParaRPr lang="en-US" sz="1400" dirty="0"/>
          </a:p>
        </p:txBody>
      </p:sp>
      <p:sp>
        <p:nvSpPr>
          <p:cNvPr id="55" name="Text 47"/>
          <p:cNvSpPr txBox="1"/>
          <p:nvPr/>
        </p:nvSpPr>
        <p:spPr>
          <a:xfrm>
            <a:off x="5879592" y="2542032"/>
            <a:ext cx="1188720" cy="868680"/>
          </a:xfrm>
          <a:prstGeom prst="rect">
            <a:avLst/>
          </a:prstGeom>
          <a:noFill/>
          <a:ln/>
        </p:spPr>
        <p:txBody>
          <a:bodyPr wrap="square" lIns="0" tIns="0" rIns="0" bIns="0" rtlCol="0" anchor="t"/>
          <a:lstStyle/>
          <a:p>
            <a:pPr algn="ctr" indent="0" marL="0">
              <a:buNone/>
            </a:pPr>
            <a:r>
              <a:rPr lang="en-US" sz="900" dirty="0">
                <a:solidFill>
                  <a:srgbClr val="5E6964"/>
                </a:solidFill>
                <a:latin typeface="Calibri" pitchFamily="34" charset="0"/>
                <a:ea typeface="Calibri" pitchFamily="34" charset="-122"/>
                <a:cs typeface="Calibri" pitchFamily="34" charset="-120"/>
              </a:rPr>
              <a:t>Corréler avec les données officielles ; juger l’aptitude à l’emploi</a:t>
            </a:r>
            <a:endParaRPr lang="en-US" sz="900" dirty="0"/>
          </a:p>
        </p:txBody>
      </p:sp>
      <p:sp>
        <p:nvSpPr>
          <p:cNvPr id="56" name="Shape 48"/>
          <p:cNvSpPr/>
          <p:nvPr/>
        </p:nvSpPr>
        <p:spPr>
          <a:xfrm>
            <a:off x="5879592" y="3456432"/>
            <a:ext cx="1188720" cy="274320"/>
          </a:xfrm>
          <a:prstGeom prst="roundRect">
            <a:avLst>
              <a:gd name="adj" fmla="val 50000"/>
            </a:avLst>
          </a:prstGeom>
          <a:solidFill>
            <a:srgbClr val="C4621D">
              <a:alpha val="15000"/>
            </a:srgbClr>
          </a:solidFill>
          <a:ln w="9525">
            <a:solidFill>
              <a:srgbClr val="C4621D"/>
            </a:solidFill>
            <a:prstDash val="solid"/>
          </a:ln>
        </p:spPr>
      </p:sp>
      <p:sp>
        <p:nvSpPr>
          <p:cNvPr id="57" name="Text 49"/>
          <p:cNvSpPr txBox="1"/>
          <p:nvPr/>
        </p:nvSpPr>
        <p:spPr>
          <a:xfrm>
            <a:off x="5879592" y="3456432"/>
            <a:ext cx="1188720" cy="274320"/>
          </a:xfrm>
          <a:prstGeom prst="rect">
            <a:avLst/>
          </a:prstGeom>
          <a:noFill/>
          <a:ln/>
        </p:spPr>
        <p:txBody>
          <a:bodyPr wrap="square" lIns="0" tIns="0" rIns="0" bIns="0" rtlCol="0" anchor="ctr"/>
          <a:lstStyle/>
          <a:p>
            <a:pPr algn="ctr" indent="0" marL="0">
              <a:buNone/>
            </a:pPr>
            <a:r>
              <a:rPr lang="en-US" sz="800" b="1" dirty="0">
                <a:solidFill>
                  <a:srgbClr val="C4621D"/>
                </a:solidFill>
                <a:latin typeface="Calibri" pitchFamily="34" charset="0"/>
                <a:ea typeface="Calibri" pitchFamily="34" charset="-122"/>
                <a:cs typeface="Calibri" pitchFamily="34" charset="-120"/>
              </a:rPr>
              <a:t>Preuves + décision</a:t>
            </a:r>
            <a:endParaRPr lang="en-US" sz="800" dirty="0"/>
          </a:p>
        </p:txBody>
      </p:sp>
      <p:sp>
        <p:nvSpPr>
          <p:cNvPr id="58" name="Text 50"/>
          <p:cNvSpPr txBox="1"/>
          <p:nvPr/>
        </p:nvSpPr>
        <p:spPr>
          <a:xfrm>
            <a:off x="7406640" y="1280160"/>
            <a:ext cx="914400" cy="228600"/>
          </a:xfrm>
          <a:prstGeom prst="rect">
            <a:avLst/>
          </a:prstGeom>
          <a:noFill/>
          <a:ln/>
        </p:spPr>
        <p:txBody>
          <a:bodyPr wrap="square" lIns="0" tIns="0" rIns="0" bIns="0" rtlCol="0" anchor="t"/>
          <a:lstStyle/>
          <a:p>
            <a:pPr algn="ctr" indent="0" marL="0">
              <a:buNone/>
            </a:pPr>
            <a:r>
              <a:rPr lang="en-US" sz="1200" b="1" dirty="0">
                <a:solidFill>
                  <a:srgbClr val="B83B2E"/>
                </a:solidFill>
                <a:latin typeface="Calibri" pitchFamily="34" charset="0"/>
                <a:ea typeface="Calibri" pitchFamily="34" charset="-122"/>
                <a:cs typeface="Calibri" pitchFamily="34" charset="-120"/>
              </a:rPr>
              <a:t>16h30</a:t>
            </a:r>
            <a:endParaRPr lang="en-US" sz="1200" dirty="0"/>
          </a:p>
        </p:txBody>
      </p:sp>
      <p:sp>
        <p:nvSpPr>
          <p:cNvPr id="59" name="Shape 51"/>
          <p:cNvSpPr/>
          <p:nvPr/>
        </p:nvSpPr>
        <p:spPr>
          <a:xfrm>
            <a:off x="7607808" y="1618488"/>
            <a:ext cx="512064" cy="512064"/>
          </a:xfrm>
          <a:prstGeom prst="ellipse">
            <a:avLst/>
          </a:prstGeom>
          <a:solidFill>
            <a:srgbClr val="FFFFFF"/>
          </a:solidFill>
          <a:ln w="12700">
            <a:solidFill>
              <a:srgbClr val="FFFFFF"/>
            </a:solidFill>
            <a:prstDash val="solid"/>
          </a:ln>
        </p:spPr>
      </p:sp>
      <p:sp>
        <p:nvSpPr>
          <p:cNvPr id="60" name="Shape 52"/>
          <p:cNvSpPr/>
          <p:nvPr/>
        </p:nvSpPr>
        <p:spPr>
          <a:xfrm>
            <a:off x="7607808" y="1618488"/>
            <a:ext cx="512064" cy="512064"/>
          </a:xfrm>
          <a:prstGeom prst="ellipse">
            <a:avLst/>
          </a:prstGeom>
          <a:solidFill>
            <a:srgbClr val="B83B2E">
              <a:alpha val="22000"/>
            </a:srgbClr>
          </a:solidFill>
          <a:ln w="12700">
            <a:solidFill>
              <a:srgbClr val="B83B2E">
                <a:alpha val="0"/>
              </a:srgbClr>
            </a:solidFill>
            <a:prstDash val="solid"/>
          </a:ln>
        </p:spPr>
      </p:sp>
      <p:pic>
        <p:nvPicPr>
          <p:cNvPr id="61" name="Image 5" descr="preencoded.png">    </p:cNvPr>
          <p:cNvPicPr>
            <a:picLocks noChangeAspect="1"/>
          </p:cNvPicPr>
          <p:nvPr/>
        </p:nvPicPr>
        <p:blipFill>
          <a:blip r:embed="rId6"/>
          <a:stretch>
            <a:fillRect/>
          </a:stretch>
        </p:blipFill>
        <p:spPr>
          <a:xfrm>
            <a:off x="7740945" y="1751625"/>
            <a:ext cx="245791" cy="245791"/>
          </a:xfrm>
          <a:prstGeom prst="rect">
            <a:avLst/>
          </a:prstGeom>
        </p:spPr>
      </p:pic>
      <p:sp>
        <p:nvSpPr>
          <p:cNvPr id="62" name="Text 53"/>
          <p:cNvSpPr txBox="1"/>
          <p:nvPr/>
        </p:nvSpPr>
        <p:spPr>
          <a:xfrm>
            <a:off x="7269480" y="2240280"/>
            <a:ext cx="1188720" cy="274320"/>
          </a:xfrm>
          <a:prstGeom prst="rect">
            <a:avLst/>
          </a:prstGeom>
          <a:noFill/>
          <a:ln/>
        </p:spPr>
        <p:txBody>
          <a:bodyPr wrap="square" lIns="0" tIns="0" rIns="0" bIns="0" rtlCol="0" anchor="t"/>
          <a:lstStyle/>
          <a:p>
            <a:pPr algn="ctr" indent="0" marL="0">
              <a:buNone/>
            </a:pPr>
            <a:r>
              <a:rPr lang="en-US" sz="1400" b="1" dirty="0">
                <a:solidFill>
                  <a:srgbClr val="231F20"/>
                </a:solidFill>
                <a:latin typeface="Calibri" pitchFamily="34" charset="0"/>
                <a:ea typeface="Calibri" pitchFamily="34" charset="-122"/>
                <a:cs typeface="Calibri" pitchFamily="34" charset="-120"/>
              </a:rPr>
              <a:t>Publier</a:t>
            </a:r>
            <a:endParaRPr lang="en-US" sz="1400" dirty="0"/>
          </a:p>
        </p:txBody>
      </p:sp>
      <p:sp>
        <p:nvSpPr>
          <p:cNvPr id="63" name="Text 54"/>
          <p:cNvSpPr txBox="1"/>
          <p:nvPr/>
        </p:nvSpPr>
        <p:spPr>
          <a:xfrm>
            <a:off x="7269480" y="2542032"/>
            <a:ext cx="1188720" cy="868680"/>
          </a:xfrm>
          <a:prstGeom prst="rect">
            <a:avLst/>
          </a:prstGeom>
          <a:noFill/>
          <a:ln/>
        </p:spPr>
        <p:txBody>
          <a:bodyPr wrap="square" lIns="0" tIns="0" rIns="0" bIns="0" rtlCol="0" anchor="t"/>
          <a:lstStyle/>
          <a:p>
            <a:pPr algn="ctr" indent="0" marL="0">
              <a:buNone/>
            </a:pPr>
            <a:r>
              <a:rPr lang="en-US" sz="900" dirty="0">
                <a:solidFill>
                  <a:srgbClr val="5E6964"/>
                </a:solidFill>
                <a:latin typeface="Calibri" pitchFamily="34" charset="0"/>
                <a:ea typeface="Calibri" pitchFamily="34" charset="-122"/>
                <a:cs typeface="Calibri" pitchFamily="34" charset="-120"/>
              </a:rPr>
              <a:t>Déposer notebooks, cartes et limites sur GitHub</a:t>
            </a:r>
            <a:endParaRPr lang="en-US" sz="900" dirty="0"/>
          </a:p>
        </p:txBody>
      </p:sp>
      <p:sp>
        <p:nvSpPr>
          <p:cNvPr id="64" name="Shape 55"/>
          <p:cNvSpPr/>
          <p:nvPr/>
        </p:nvSpPr>
        <p:spPr>
          <a:xfrm>
            <a:off x="7269480" y="3456432"/>
            <a:ext cx="1188720" cy="274320"/>
          </a:xfrm>
          <a:prstGeom prst="roundRect">
            <a:avLst>
              <a:gd name="adj" fmla="val 50000"/>
            </a:avLst>
          </a:prstGeom>
          <a:solidFill>
            <a:srgbClr val="B83B2E">
              <a:alpha val="15000"/>
            </a:srgbClr>
          </a:solidFill>
          <a:ln w="9525">
            <a:solidFill>
              <a:srgbClr val="B83B2E"/>
            </a:solidFill>
            <a:prstDash val="solid"/>
          </a:ln>
        </p:spPr>
      </p:sp>
      <p:sp>
        <p:nvSpPr>
          <p:cNvPr id="65" name="Text 56"/>
          <p:cNvSpPr txBox="1"/>
          <p:nvPr/>
        </p:nvSpPr>
        <p:spPr>
          <a:xfrm>
            <a:off x="7269480" y="3456432"/>
            <a:ext cx="1188720" cy="274320"/>
          </a:xfrm>
          <a:prstGeom prst="rect">
            <a:avLst/>
          </a:prstGeom>
          <a:noFill/>
          <a:ln/>
        </p:spPr>
        <p:txBody>
          <a:bodyPr wrap="square" lIns="0" tIns="0" rIns="0" bIns="0" rtlCol="0" anchor="ctr"/>
          <a:lstStyle/>
          <a:p>
            <a:pPr algn="ctr" indent="0" marL="0">
              <a:buNone/>
            </a:pPr>
            <a:r>
              <a:rPr lang="en-US" sz="800" b="1" dirty="0">
                <a:solidFill>
                  <a:srgbClr val="B83B2E"/>
                </a:solidFill>
                <a:latin typeface="Calibri" pitchFamily="34" charset="0"/>
                <a:ea typeface="Calibri" pitchFamily="34" charset="-122"/>
                <a:cs typeface="Calibri" pitchFamily="34" charset="-120"/>
              </a:rPr>
              <a:t>Présentation Jour 5</a:t>
            </a:r>
            <a:endParaRPr lang="en-US" sz="800" dirty="0"/>
          </a:p>
        </p:txBody>
      </p:sp>
      <p:sp>
        <p:nvSpPr>
          <p:cNvPr id="66" name="Shape 57"/>
          <p:cNvSpPr/>
          <p:nvPr/>
        </p:nvSpPr>
        <p:spPr>
          <a:xfrm>
            <a:off x="457200" y="3931920"/>
            <a:ext cx="8229600" cy="594360"/>
          </a:xfrm>
          <a:prstGeom prst="roundRect">
            <a:avLst>
              <a:gd name="adj" fmla="val 12308"/>
            </a:avLst>
          </a:prstGeom>
          <a:solidFill>
            <a:srgbClr val="E8F5EF"/>
          </a:solidFill>
          <a:ln w="15875">
            <a:solidFill>
              <a:srgbClr val="00A86A"/>
            </a:solidFill>
            <a:prstDash val="solid"/>
          </a:ln>
        </p:spPr>
      </p:sp>
      <p:sp>
        <p:nvSpPr>
          <p:cNvPr id="67" name="Shape 58"/>
          <p:cNvSpPr/>
          <p:nvPr/>
        </p:nvSpPr>
        <p:spPr>
          <a:xfrm>
            <a:off x="566928" y="4032504"/>
            <a:ext cx="384048" cy="384048"/>
          </a:xfrm>
          <a:prstGeom prst="ellipse">
            <a:avLst/>
          </a:prstGeom>
          <a:solidFill>
            <a:srgbClr val="00704A">
              <a:alpha val="22000"/>
            </a:srgbClr>
          </a:solidFill>
          <a:ln w="12700">
            <a:solidFill>
              <a:srgbClr val="00704A">
                <a:alpha val="0"/>
              </a:srgbClr>
            </a:solidFill>
            <a:prstDash val="solid"/>
          </a:ln>
        </p:spPr>
      </p:sp>
      <p:pic>
        <p:nvPicPr>
          <p:cNvPr id="68" name="Image 6" descr="preencoded.png">    </p:cNvPr>
          <p:cNvPicPr>
            <a:picLocks noChangeAspect="1"/>
          </p:cNvPicPr>
          <p:nvPr/>
        </p:nvPicPr>
        <p:blipFill>
          <a:blip r:embed="rId7"/>
          <a:stretch>
            <a:fillRect/>
          </a:stretch>
        </p:blipFill>
        <p:spPr>
          <a:xfrm>
            <a:off x="666780" y="4132356"/>
            <a:ext cx="184343" cy="184343"/>
          </a:xfrm>
          <a:prstGeom prst="rect">
            <a:avLst/>
          </a:prstGeom>
        </p:spPr>
      </p:pic>
      <p:sp>
        <p:nvSpPr>
          <p:cNvPr id="69" name="Text 59"/>
          <p:cNvSpPr txBox="1"/>
          <p:nvPr/>
        </p:nvSpPr>
        <p:spPr>
          <a:xfrm>
            <a:off x="1051560" y="3959352"/>
            <a:ext cx="7543800" cy="539496"/>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Logique de l’exposé : </a:t>
            </a:r>
            <a:pPr indent="0" marL="0">
              <a:buNone/>
            </a:pPr>
            <a:r>
              <a:rPr lang="en-US" sz="1050" dirty="0">
                <a:solidFill>
                  <a:srgbClr val="231F20"/>
                </a:solidFill>
                <a:latin typeface="Calibri" pitchFamily="34" charset="0"/>
                <a:ea typeface="Calibri" pitchFamily="34" charset="-122"/>
                <a:cs typeface="Calibri" pitchFamily="34" charset="-120"/>
              </a:rPr>
              <a:t>chaque artefact cité en section 5 est un artefact que vous chercherez dans les données de votre pays à 10h45. La déclaration de limites rédigée à 15h45 fait partie du livrable, ce n’est pas une clause de style.</a:t>
            </a:r>
            <a:endParaRPr lang="en-US" sz="105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INTRODUCTION · FEUILLE DE ROUTE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Six questions, trente minutes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04</a:t>
            </a:r>
            <a:endParaRPr lang="en-US" sz="850" dirty="0"/>
          </a:p>
        </p:txBody>
      </p:sp>
      <p:sp>
        <p:nvSpPr>
          <p:cNvPr id="17" name="Shape 14"/>
          <p:cNvSpPr/>
          <p:nvPr/>
        </p:nvSpPr>
        <p:spPr>
          <a:xfrm>
            <a:off x="457200" y="1325880"/>
            <a:ext cx="2651760" cy="932688"/>
          </a:xfrm>
          <a:prstGeom prst="roundRect">
            <a:avLst>
              <a:gd name="adj" fmla="val 7843"/>
            </a:avLst>
          </a:prstGeom>
          <a:solidFill>
            <a:srgbClr val="F4F7F5"/>
          </a:solidFill>
          <a:ln w="9525">
            <a:solidFill>
              <a:srgbClr val="D5DED9"/>
            </a:solidFill>
            <a:prstDash val="solid"/>
          </a:ln>
        </p:spPr>
      </p:sp>
      <p:sp>
        <p:nvSpPr>
          <p:cNvPr id="18" name="Text 15"/>
          <p:cNvSpPr txBox="1"/>
          <p:nvPr/>
        </p:nvSpPr>
        <p:spPr>
          <a:xfrm>
            <a:off x="594360" y="1399032"/>
            <a:ext cx="548640" cy="411480"/>
          </a:xfrm>
          <a:prstGeom prst="rect">
            <a:avLst/>
          </a:prstGeom>
          <a:noFill/>
          <a:ln/>
        </p:spPr>
        <p:txBody>
          <a:bodyPr wrap="square" lIns="0" tIns="0" rIns="0" bIns="0" rtlCol="0" anchor="t"/>
          <a:lstStyle/>
          <a:p>
            <a:pPr indent="0" marL="0">
              <a:buNone/>
            </a:pPr>
            <a:r>
              <a:rPr lang="en-US" sz="2600" b="1" dirty="0">
                <a:solidFill>
                  <a:srgbClr val="00A86A"/>
                </a:solidFill>
                <a:latin typeface="Calibri" pitchFamily="34" charset="0"/>
                <a:ea typeface="Calibri" pitchFamily="34" charset="-122"/>
                <a:cs typeface="Calibri" pitchFamily="34" charset="-120"/>
              </a:rPr>
              <a:t>01</a:t>
            </a:r>
            <a:endParaRPr lang="en-US" sz="2600" dirty="0"/>
          </a:p>
        </p:txBody>
      </p:sp>
      <p:sp>
        <p:nvSpPr>
          <p:cNvPr id="19" name="Shape 16"/>
          <p:cNvSpPr/>
          <p:nvPr/>
        </p:nvSpPr>
        <p:spPr>
          <a:xfrm>
            <a:off x="640080" y="1856232"/>
            <a:ext cx="310896" cy="310896"/>
          </a:xfrm>
          <a:prstGeom prst="ellipse">
            <a:avLst/>
          </a:prstGeom>
          <a:solidFill>
            <a:srgbClr val="00A86A">
              <a:alpha val="22000"/>
            </a:srgbClr>
          </a:solidFill>
          <a:ln w="12700">
            <a:solidFill>
              <a:srgbClr val="00A86A">
                <a:alpha val="0"/>
              </a:srgbClr>
            </a:solidFill>
            <a:prstDash val="solid"/>
          </a:ln>
        </p:spPr>
      </p:sp>
      <p:pic>
        <p:nvPicPr>
          <p:cNvPr id="20" name="Image 0" descr="preencoded.png">    </p:cNvPr>
          <p:cNvPicPr>
            <a:picLocks noChangeAspect="1"/>
          </p:cNvPicPr>
          <p:nvPr/>
        </p:nvPicPr>
        <p:blipFill>
          <a:blip r:embed="rId1"/>
          <a:stretch>
            <a:fillRect/>
          </a:stretch>
        </p:blipFill>
        <p:spPr>
          <a:xfrm>
            <a:off x="720913" y="1937065"/>
            <a:ext cx="149230" cy="149230"/>
          </a:xfrm>
          <a:prstGeom prst="rect">
            <a:avLst/>
          </a:prstGeom>
        </p:spPr>
      </p:pic>
      <p:sp>
        <p:nvSpPr>
          <p:cNvPr id="21" name="Text 17"/>
          <p:cNvSpPr txBox="1"/>
          <p:nvPr/>
        </p:nvSpPr>
        <p:spPr>
          <a:xfrm>
            <a:off x="1188720" y="1417320"/>
            <a:ext cx="18288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Fondements</a:t>
            </a:r>
            <a:endParaRPr lang="en-US" sz="1300" dirty="0"/>
          </a:p>
        </p:txBody>
      </p:sp>
      <p:sp>
        <p:nvSpPr>
          <p:cNvPr id="22" name="Text 18"/>
          <p:cNvSpPr txBox="1"/>
          <p:nvPr/>
        </p:nvSpPr>
        <p:spPr>
          <a:xfrm>
            <a:off x="1188720" y="1709928"/>
            <a:ext cx="1828800" cy="5029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Pourquoi une photo de l’obscurité nous apprendrait-elle quelque chose ?</a:t>
            </a:r>
            <a:endParaRPr lang="en-US" sz="950" dirty="0"/>
          </a:p>
        </p:txBody>
      </p:sp>
      <p:sp>
        <p:nvSpPr>
          <p:cNvPr id="23" name="Shape 19"/>
          <p:cNvSpPr/>
          <p:nvPr/>
        </p:nvSpPr>
        <p:spPr>
          <a:xfrm>
            <a:off x="3246120" y="1325880"/>
            <a:ext cx="2651760" cy="932688"/>
          </a:xfrm>
          <a:prstGeom prst="roundRect">
            <a:avLst>
              <a:gd name="adj" fmla="val 7843"/>
            </a:avLst>
          </a:prstGeom>
          <a:solidFill>
            <a:srgbClr val="F4F7F5"/>
          </a:solidFill>
          <a:ln w="9525">
            <a:solidFill>
              <a:srgbClr val="D5DED9"/>
            </a:solidFill>
            <a:prstDash val="solid"/>
          </a:ln>
        </p:spPr>
      </p:sp>
      <p:sp>
        <p:nvSpPr>
          <p:cNvPr id="24" name="Text 20"/>
          <p:cNvSpPr txBox="1"/>
          <p:nvPr/>
        </p:nvSpPr>
        <p:spPr>
          <a:xfrm>
            <a:off x="3383280" y="1399032"/>
            <a:ext cx="548640" cy="411480"/>
          </a:xfrm>
          <a:prstGeom prst="rect">
            <a:avLst/>
          </a:prstGeom>
          <a:noFill/>
          <a:ln/>
        </p:spPr>
        <p:txBody>
          <a:bodyPr wrap="square" lIns="0" tIns="0" rIns="0" bIns="0" rtlCol="0" anchor="t"/>
          <a:lstStyle/>
          <a:p>
            <a:pPr indent="0" marL="0">
              <a:buNone/>
            </a:pPr>
            <a:r>
              <a:rPr lang="en-US" sz="2600" b="1" dirty="0">
                <a:solidFill>
                  <a:srgbClr val="00704A"/>
                </a:solidFill>
                <a:latin typeface="Calibri" pitchFamily="34" charset="0"/>
                <a:ea typeface="Calibri" pitchFamily="34" charset="-122"/>
                <a:cs typeface="Calibri" pitchFamily="34" charset="-120"/>
              </a:rPr>
              <a:t>02</a:t>
            </a:r>
            <a:endParaRPr lang="en-US" sz="2600" dirty="0"/>
          </a:p>
        </p:txBody>
      </p:sp>
      <p:sp>
        <p:nvSpPr>
          <p:cNvPr id="25" name="Shape 21"/>
          <p:cNvSpPr/>
          <p:nvPr/>
        </p:nvSpPr>
        <p:spPr>
          <a:xfrm>
            <a:off x="3429000" y="1856232"/>
            <a:ext cx="310896" cy="310896"/>
          </a:xfrm>
          <a:prstGeom prst="ellipse">
            <a:avLst/>
          </a:prstGeom>
          <a:solidFill>
            <a:srgbClr val="00704A">
              <a:alpha val="22000"/>
            </a:srgbClr>
          </a:solidFill>
          <a:ln w="12700">
            <a:solidFill>
              <a:srgbClr val="00704A">
                <a:alpha val="0"/>
              </a:srgbClr>
            </a:solidFill>
            <a:prstDash val="solid"/>
          </a:ln>
        </p:spPr>
      </p:sp>
      <p:pic>
        <p:nvPicPr>
          <p:cNvPr id="26" name="Image 1" descr="preencoded.png">    </p:cNvPr>
          <p:cNvPicPr>
            <a:picLocks noChangeAspect="1"/>
          </p:cNvPicPr>
          <p:nvPr/>
        </p:nvPicPr>
        <p:blipFill>
          <a:blip r:embed="rId2"/>
          <a:stretch>
            <a:fillRect/>
          </a:stretch>
        </p:blipFill>
        <p:spPr>
          <a:xfrm>
            <a:off x="3509833" y="1937065"/>
            <a:ext cx="149230" cy="149230"/>
          </a:xfrm>
          <a:prstGeom prst="rect">
            <a:avLst/>
          </a:prstGeom>
        </p:spPr>
      </p:pic>
      <p:sp>
        <p:nvSpPr>
          <p:cNvPr id="27" name="Text 22"/>
          <p:cNvSpPr txBox="1"/>
          <p:nvPr/>
        </p:nvSpPr>
        <p:spPr>
          <a:xfrm>
            <a:off x="3977640" y="1417320"/>
            <a:ext cx="18288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Les instruments</a:t>
            </a:r>
            <a:endParaRPr lang="en-US" sz="1300" dirty="0"/>
          </a:p>
        </p:txBody>
      </p:sp>
      <p:sp>
        <p:nvSpPr>
          <p:cNvPr id="28" name="Text 23"/>
          <p:cNvSpPr txBox="1"/>
          <p:nvPr/>
        </p:nvSpPr>
        <p:spPr>
          <a:xfrm>
            <a:off x="3977640" y="1709928"/>
            <a:ext cx="1828800" cy="5029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Qu’est-ce qui mesure, et avec quelle résolution ?</a:t>
            </a:r>
            <a:endParaRPr lang="en-US" sz="950" dirty="0"/>
          </a:p>
        </p:txBody>
      </p:sp>
      <p:sp>
        <p:nvSpPr>
          <p:cNvPr id="29" name="Shape 24"/>
          <p:cNvSpPr/>
          <p:nvPr/>
        </p:nvSpPr>
        <p:spPr>
          <a:xfrm>
            <a:off x="6035040" y="1325880"/>
            <a:ext cx="2651760" cy="932688"/>
          </a:xfrm>
          <a:prstGeom prst="roundRect">
            <a:avLst>
              <a:gd name="adj" fmla="val 7843"/>
            </a:avLst>
          </a:prstGeom>
          <a:solidFill>
            <a:srgbClr val="F4F7F5"/>
          </a:solidFill>
          <a:ln w="9525">
            <a:solidFill>
              <a:srgbClr val="D5DED9"/>
            </a:solidFill>
            <a:prstDash val="solid"/>
          </a:ln>
        </p:spPr>
      </p:sp>
      <p:sp>
        <p:nvSpPr>
          <p:cNvPr id="30" name="Text 25"/>
          <p:cNvSpPr txBox="1"/>
          <p:nvPr/>
        </p:nvSpPr>
        <p:spPr>
          <a:xfrm>
            <a:off x="6172200" y="1399032"/>
            <a:ext cx="548640" cy="411480"/>
          </a:xfrm>
          <a:prstGeom prst="rect">
            <a:avLst/>
          </a:prstGeom>
          <a:noFill/>
          <a:ln/>
        </p:spPr>
        <p:txBody>
          <a:bodyPr wrap="square" lIns="0" tIns="0" rIns="0" bIns="0" rtlCol="0" anchor="t"/>
          <a:lstStyle/>
          <a:p>
            <a:pPr indent="0" marL="0">
              <a:buNone/>
            </a:pPr>
            <a:r>
              <a:rPr lang="en-US" sz="2600" b="1" dirty="0">
                <a:solidFill>
                  <a:srgbClr val="0E7C86"/>
                </a:solidFill>
                <a:latin typeface="Calibri" pitchFamily="34" charset="0"/>
                <a:ea typeface="Calibri" pitchFamily="34" charset="-122"/>
                <a:cs typeface="Calibri" pitchFamily="34" charset="-120"/>
              </a:rPr>
              <a:t>03</a:t>
            </a:r>
            <a:endParaRPr lang="en-US" sz="2600" dirty="0"/>
          </a:p>
        </p:txBody>
      </p:sp>
      <p:sp>
        <p:nvSpPr>
          <p:cNvPr id="31" name="Shape 26"/>
          <p:cNvSpPr/>
          <p:nvPr/>
        </p:nvSpPr>
        <p:spPr>
          <a:xfrm>
            <a:off x="6217920" y="1856232"/>
            <a:ext cx="310896" cy="310896"/>
          </a:xfrm>
          <a:prstGeom prst="ellipse">
            <a:avLst/>
          </a:prstGeom>
          <a:solidFill>
            <a:srgbClr val="0E7C86">
              <a:alpha val="22000"/>
            </a:srgbClr>
          </a:solidFill>
          <a:ln w="12700">
            <a:solidFill>
              <a:srgbClr val="0E7C86">
                <a:alpha val="0"/>
              </a:srgbClr>
            </a:solidFill>
            <a:prstDash val="solid"/>
          </a:ln>
        </p:spPr>
      </p:sp>
      <p:pic>
        <p:nvPicPr>
          <p:cNvPr id="32" name="Image 2" descr="preencoded.png">    </p:cNvPr>
          <p:cNvPicPr>
            <a:picLocks noChangeAspect="1"/>
          </p:cNvPicPr>
          <p:nvPr/>
        </p:nvPicPr>
        <p:blipFill>
          <a:blip r:embed="rId3"/>
          <a:stretch>
            <a:fillRect/>
          </a:stretch>
        </p:blipFill>
        <p:spPr>
          <a:xfrm>
            <a:off x="6298753" y="1937065"/>
            <a:ext cx="149230" cy="149230"/>
          </a:xfrm>
          <a:prstGeom prst="rect">
            <a:avLst/>
          </a:prstGeom>
        </p:spPr>
      </p:pic>
      <p:sp>
        <p:nvSpPr>
          <p:cNvPr id="33" name="Text 27"/>
          <p:cNvSpPr txBox="1"/>
          <p:nvPr/>
        </p:nvSpPr>
        <p:spPr>
          <a:xfrm>
            <a:off x="6766560" y="1417320"/>
            <a:ext cx="18288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Des photons aux données</a:t>
            </a:r>
            <a:endParaRPr lang="en-US" sz="1300" dirty="0"/>
          </a:p>
        </p:txBody>
      </p:sp>
      <p:sp>
        <p:nvSpPr>
          <p:cNvPr id="34" name="Text 28"/>
          <p:cNvSpPr txBox="1"/>
          <p:nvPr/>
        </p:nvSpPr>
        <p:spPr>
          <a:xfrm>
            <a:off x="6766560" y="1709928"/>
            <a:ext cx="1828800" cy="5029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Comment des nuits d’observation deviennent-elles un chiffre ?</a:t>
            </a:r>
            <a:endParaRPr lang="en-US" sz="950" dirty="0"/>
          </a:p>
        </p:txBody>
      </p:sp>
      <p:sp>
        <p:nvSpPr>
          <p:cNvPr id="35" name="Shape 29"/>
          <p:cNvSpPr/>
          <p:nvPr/>
        </p:nvSpPr>
        <p:spPr>
          <a:xfrm>
            <a:off x="457200" y="2395728"/>
            <a:ext cx="2651760" cy="932688"/>
          </a:xfrm>
          <a:prstGeom prst="roundRect">
            <a:avLst>
              <a:gd name="adj" fmla="val 7843"/>
            </a:avLst>
          </a:prstGeom>
          <a:solidFill>
            <a:srgbClr val="F4F7F5"/>
          </a:solidFill>
          <a:ln w="9525">
            <a:solidFill>
              <a:srgbClr val="D5DED9"/>
            </a:solidFill>
            <a:prstDash val="solid"/>
          </a:ln>
        </p:spPr>
      </p:sp>
      <p:sp>
        <p:nvSpPr>
          <p:cNvPr id="36" name="Text 30"/>
          <p:cNvSpPr txBox="1"/>
          <p:nvPr/>
        </p:nvSpPr>
        <p:spPr>
          <a:xfrm>
            <a:off x="594360" y="2468880"/>
            <a:ext cx="548640" cy="411480"/>
          </a:xfrm>
          <a:prstGeom prst="rect">
            <a:avLst/>
          </a:prstGeom>
          <a:noFill/>
          <a:ln/>
        </p:spPr>
        <p:txBody>
          <a:bodyPr wrap="square" lIns="0" tIns="0" rIns="0" bIns="0" rtlCol="0" anchor="t"/>
          <a:lstStyle/>
          <a:p>
            <a:pPr indent="0" marL="0">
              <a:buNone/>
            </a:pPr>
            <a:r>
              <a:rPr lang="en-US" sz="2600" b="1" dirty="0">
                <a:solidFill>
                  <a:srgbClr val="D49A00"/>
                </a:solidFill>
                <a:latin typeface="Calibri" pitchFamily="34" charset="0"/>
                <a:ea typeface="Calibri" pitchFamily="34" charset="-122"/>
                <a:cs typeface="Calibri" pitchFamily="34" charset="-120"/>
              </a:rPr>
              <a:t>04</a:t>
            </a:r>
            <a:endParaRPr lang="en-US" sz="2600" dirty="0"/>
          </a:p>
        </p:txBody>
      </p:sp>
      <p:sp>
        <p:nvSpPr>
          <p:cNvPr id="37" name="Shape 31"/>
          <p:cNvSpPr/>
          <p:nvPr/>
        </p:nvSpPr>
        <p:spPr>
          <a:xfrm>
            <a:off x="640080" y="2926080"/>
            <a:ext cx="310896" cy="310896"/>
          </a:xfrm>
          <a:prstGeom prst="ellipse">
            <a:avLst/>
          </a:prstGeom>
          <a:solidFill>
            <a:srgbClr val="D49A00">
              <a:alpha val="22000"/>
            </a:srgbClr>
          </a:solidFill>
          <a:ln w="12700">
            <a:solidFill>
              <a:srgbClr val="D49A00">
                <a:alpha val="0"/>
              </a:srgbClr>
            </a:solidFill>
            <a:prstDash val="solid"/>
          </a:ln>
        </p:spPr>
      </p:sp>
      <p:pic>
        <p:nvPicPr>
          <p:cNvPr id="38" name="Image 3" descr="preencoded.png">    </p:cNvPr>
          <p:cNvPicPr>
            <a:picLocks noChangeAspect="1"/>
          </p:cNvPicPr>
          <p:nvPr/>
        </p:nvPicPr>
        <p:blipFill>
          <a:blip r:embed="rId4"/>
          <a:stretch>
            <a:fillRect/>
          </a:stretch>
        </p:blipFill>
        <p:spPr>
          <a:xfrm>
            <a:off x="720913" y="3006913"/>
            <a:ext cx="149230" cy="149230"/>
          </a:xfrm>
          <a:prstGeom prst="rect">
            <a:avLst/>
          </a:prstGeom>
        </p:spPr>
      </p:pic>
      <p:sp>
        <p:nvSpPr>
          <p:cNvPr id="39" name="Text 32"/>
          <p:cNvSpPr txBox="1"/>
          <p:nvPr/>
        </p:nvSpPr>
        <p:spPr>
          <a:xfrm>
            <a:off x="1188720" y="2487168"/>
            <a:ext cx="18288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Applications</a:t>
            </a:r>
            <a:endParaRPr lang="en-US" sz="1300" dirty="0"/>
          </a:p>
        </p:txBody>
      </p:sp>
      <p:sp>
        <p:nvSpPr>
          <p:cNvPr id="40" name="Text 33"/>
          <p:cNvSpPr txBox="1"/>
          <p:nvPr/>
        </p:nvSpPr>
        <p:spPr>
          <a:xfrm>
            <a:off x="1188720" y="2779776"/>
            <a:ext cx="1828800" cy="5029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À quelles questions statistiques les lumières répondent-elles ?</a:t>
            </a:r>
            <a:endParaRPr lang="en-US" sz="950" dirty="0"/>
          </a:p>
        </p:txBody>
      </p:sp>
      <p:sp>
        <p:nvSpPr>
          <p:cNvPr id="41" name="Shape 34"/>
          <p:cNvSpPr/>
          <p:nvPr/>
        </p:nvSpPr>
        <p:spPr>
          <a:xfrm>
            <a:off x="3246120" y="2395728"/>
            <a:ext cx="2651760" cy="932688"/>
          </a:xfrm>
          <a:prstGeom prst="roundRect">
            <a:avLst>
              <a:gd name="adj" fmla="val 7843"/>
            </a:avLst>
          </a:prstGeom>
          <a:solidFill>
            <a:srgbClr val="F4F7F5"/>
          </a:solidFill>
          <a:ln w="9525">
            <a:solidFill>
              <a:srgbClr val="D5DED9"/>
            </a:solidFill>
            <a:prstDash val="solid"/>
          </a:ln>
        </p:spPr>
      </p:sp>
      <p:sp>
        <p:nvSpPr>
          <p:cNvPr id="42" name="Text 35"/>
          <p:cNvSpPr txBox="1"/>
          <p:nvPr/>
        </p:nvSpPr>
        <p:spPr>
          <a:xfrm>
            <a:off x="3383280" y="2468880"/>
            <a:ext cx="548640" cy="411480"/>
          </a:xfrm>
          <a:prstGeom prst="rect">
            <a:avLst/>
          </a:prstGeom>
          <a:noFill/>
          <a:ln/>
        </p:spPr>
        <p:txBody>
          <a:bodyPr wrap="square" lIns="0" tIns="0" rIns="0" bIns="0" rtlCol="0" anchor="t"/>
          <a:lstStyle/>
          <a:p>
            <a:pPr indent="0" marL="0">
              <a:buNone/>
            </a:pPr>
            <a:r>
              <a:rPr lang="en-US" sz="2600" b="1" dirty="0">
                <a:solidFill>
                  <a:srgbClr val="C4621D"/>
                </a:solidFill>
                <a:latin typeface="Calibri" pitchFamily="34" charset="0"/>
                <a:ea typeface="Calibri" pitchFamily="34" charset="-122"/>
                <a:cs typeface="Calibri" pitchFamily="34" charset="-120"/>
              </a:rPr>
              <a:t>05</a:t>
            </a:r>
            <a:endParaRPr lang="en-US" sz="2600" dirty="0"/>
          </a:p>
        </p:txBody>
      </p:sp>
      <p:sp>
        <p:nvSpPr>
          <p:cNvPr id="43" name="Shape 36"/>
          <p:cNvSpPr/>
          <p:nvPr/>
        </p:nvSpPr>
        <p:spPr>
          <a:xfrm>
            <a:off x="3429000" y="2926080"/>
            <a:ext cx="310896" cy="310896"/>
          </a:xfrm>
          <a:prstGeom prst="ellipse">
            <a:avLst/>
          </a:prstGeom>
          <a:solidFill>
            <a:srgbClr val="C4621D">
              <a:alpha val="22000"/>
            </a:srgbClr>
          </a:solidFill>
          <a:ln w="12700">
            <a:solidFill>
              <a:srgbClr val="C4621D">
                <a:alpha val="0"/>
              </a:srgbClr>
            </a:solidFill>
            <a:prstDash val="solid"/>
          </a:ln>
        </p:spPr>
      </p:sp>
      <p:pic>
        <p:nvPicPr>
          <p:cNvPr id="44" name="Image 4" descr="preencoded.png">    </p:cNvPr>
          <p:cNvPicPr>
            <a:picLocks noChangeAspect="1"/>
          </p:cNvPicPr>
          <p:nvPr/>
        </p:nvPicPr>
        <p:blipFill>
          <a:blip r:embed="rId5"/>
          <a:stretch>
            <a:fillRect/>
          </a:stretch>
        </p:blipFill>
        <p:spPr>
          <a:xfrm>
            <a:off x="3509833" y="3006913"/>
            <a:ext cx="149230" cy="149230"/>
          </a:xfrm>
          <a:prstGeom prst="rect">
            <a:avLst/>
          </a:prstGeom>
        </p:spPr>
      </p:pic>
      <p:sp>
        <p:nvSpPr>
          <p:cNvPr id="45" name="Text 37"/>
          <p:cNvSpPr txBox="1"/>
          <p:nvPr/>
        </p:nvSpPr>
        <p:spPr>
          <a:xfrm>
            <a:off x="3977640" y="2487168"/>
            <a:ext cx="18288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Limites</a:t>
            </a:r>
            <a:endParaRPr lang="en-US" sz="1300" dirty="0"/>
          </a:p>
        </p:txBody>
      </p:sp>
      <p:sp>
        <p:nvSpPr>
          <p:cNvPr id="46" name="Text 38"/>
          <p:cNvSpPr txBox="1"/>
          <p:nvPr/>
        </p:nvSpPr>
        <p:spPr>
          <a:xfrm>
            <a:off x="3977640" y="2779776"/>
            <a:ext cx="1828800" cy="5029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Où l’inférence se rompt-elle, et comment le savoir ?</a:t>
            </a:r>
            <a:endParaRPr lang="en-US" sz="950" dirty="0"/>
          </a:p>
        </p:txBody>
      </p:sp>
      <p:sp>
        <p:nvSpPr>
          <p:cNvPr id="47" name="Shape 39"/>
          <p:cNvSpPr/>
          <p:nvPr/>
        </p:nvSpPr>
        <p:spPr>
          <a:xfrm>
            <a:off x="6035040" y="2395728"/>
            <a:ext cx="2651760" cy="932688"/>
          </a:xfrm>
          <a:prstGeom prst="roundRect">
            <a:avLst>
              <a:gd name="adj" fmla="val 7843"/>
            </a:avLst>
          </a:prstGeom>
          <a:solidFill>
            <a:srgbClr val="F4F7F5"/>
          </a:solidFill>
          <a:ln w="9525">
            <a:solidFill>
              <a:srgbClr val="D5DED9"/>
            </a:solidFill>
            <a:prstDash val="solid"/>
          </a:ln>
        </p:spPr>
      </p:sp>
      <p:sp>
        <p:nvSpPr>
          <p:cNvPr id="48" name="Text 40"/>
          <p:cNvSpPr txBox="1"/>
          <p:nvPr/>
        </p:nvSpPr>
        <p:spPr>
          <a:xfrm>
            <a:off x="6172200" y="2468880"/>
            <a:ext cx="548640" cy="411480"/>
          </a:xfrm>
          <a:prstGeom prst="rect">
            <a:avLst/>
          </a:prstGeom>
          <a:noFill/>
          <a:ln/>
        </p:spPr>
        <p:txBody>
          <a:bodyPr wrap="square" lIns="0" tIns="0" rIns="0" bIns="0" rtlCol="0" anchor="t"/>
          <a:lstStyle/>
          <a:p>
            <a:pPr indent="0" marL="0">
              <a:buNone/>
            </a:pPr>
            <a:r>
              <a:rPr lang="en-US" sz="2600" b="1" dirty="0">
                <a:solidFill>
                  <a:srgbClr val="B83B2E"/>
                </a:solidFill>
                <a:latin typeface="Calibri" pitchFamily="34" charset="0"/>
                <a:ea typeface="Calibri" pitchFamily="34" charset="-122"/>
                <a:cs typeface="Calibri" pitchFamily="34" charset="-120"/>
              </a:rPr>
              <a:t>06</a:t>
            </a:r>
            <a:endParaRPr lang="en-US" sz="2600" dirty="0"/>
          </a:p>
        </p:txBody>
      </p:sp>
      <p:sp>
        <p:nvSpPr>
          <p:cNvPr id="49" name="Shape 41"/>
          <p:cNvSpPr/>
          <p:nvPr/>
        </p:nvSpPr>
        <p:spPr>
          <a:xfrm>
            <a:off x="6217920" y="2926080"/>
            <a:ext cx="310896" cy="310896"/>
          </a:xfrm>
          <a:prstGeom prst="ellipse">
            <a:avLst/>
          </a:prstGeom>
          <a:solidFill>
            <a:srgbClr val="B83B2E">
              <a:alpha val="22000"/>
            </a:srgbClr>
          </a:solidFill>
          <a:ln w="12700">
            <a:solidFill>
              <a:srgbClr val="B83B2E">
                <a:alpha val="0"/>
              </a:srgbClr>
            </a:solidFill>
            <a:prstDash val="solid"/>
          </a:ln>
        </p:spPr>
      </p:sp>
      <p:pic>
        <p:nvPicPr>
          <p:cNvPr id="50" name="Image 5" descr="preencoded.png">    </p:cNvPr>
          <p:cNvPicPr>
            <a:picLocks noChangeAspect="1"/>
          </p:cNvPicPr>
          <p:nvPr/>
        </p:nvPicPr>
        <p:blipFill>
          <a:blip r:embed="rId6"/>
          <a:stretch>
            <a:fillRect/>
          </a:stretch>
        </p:blipFill>
        <p:spPr>
          <a:xfrm>
            <a:off x="6298753" y="3006913"/>
            <a:ext cx="149230" cy="149230"/>
          </a:xfrm>
          <a:prstGeom prst="rect">
            <a:avLst/>
          </a:prstGeom>
        </p:spPr>
      </p:pic>
      <p:sp>
        <p:nvSpPr>
          <p:cNvPr id="51" name="Text 42"/>
          <p:cNvSpPr txBox="1"/>
          <p:nvPr/>
        </p:nvSpPr>
        <p:spPr>
          <a:xfrm>
            <a:off x="6766560" y="2487168"/>
            <a:ext cx="18288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De l’exposé au labo</a:t>
            </a:r>
            <a:endParaRPr lang="en-US" sz="1300" dirty="0"/>
          </a:p>
        </p:txBody>
      </p:sp>
      <p:sp>
        <p:nvSpPr>
          <p:cNvPr id="52" name="Text 43"/>
          <p:cNvSpPr txBox="1"/>
          <p:nvPr/>
        </p:nvSpPr>
        <p:spPr>
          <a:xfrm>
            <a:off x="6766560" y="2779776"/>
            <a:ext cx="1828800" cy="5029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Comment bien faire, dès 09h30 ?</a:t>
            </a:r>
            <a:endParaRPr lang="en-US" sz="950" dirty="0"/>
          </a:p>
        </p:txBody>
      </p:sp>
      <p:sp>
        <p:nvSpPr>
          <p:cNvPr id="53" name="Text 44"/>
          <p:cNvSpPr txBox="1"/>
          <p:nvPr/>
        </p:nvSpPr>
        <p:spPr>
          <a:xfrm>
            <a:off x="457200" y="3520440"/>
            <a:ext cx="54864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À LA FIN DE CET EXPOSÉ, VOUS SAUREZ</a:t>
            </a:r>
            <a:endParaRPr lang="en-US" sz="1050" dirty="0"/>
          </a:p>
        </p:txBody>
      </p:sp>
      <p:sp>
        <p:nvSpPr>
          <p:cNvPr id="54" name="Shape 45"/>
          <p:cNvSpPr/>
          <p:nvPr/>
        </p:nvSpPr>
        <p:spPr>
          <a:xfrm>
            <a:off x="457200" y="3794760"/>
            <a:ext cx="2651760" cy="731520"/>
          </a:xfrm>
          <a:prstGeom prst="roundRect">
            <a:avLst>
              <a:gd name="adj" fmla="val 10000"/>
            </a:avLst>
          </a:prstGeom>
          <a:solidFill>
            <a:srgbClr val="E8F5EF"/>
          </a:solidFill>
          <a:ln w="15875">
            <a:solidFill>
              <a:srgbClr val="00A86A"/>
            </a:solidFill>
            <a:prstDash val="solid"/>
          </a:ln>
        </p:spPr>
      </p:sp>
      <p:sp>
        <p:nvSpPr>
          <p:cNvPr id="55" name="Shape 46"/>
          <p:cNvSpPr/>
          <p:nvPr/>
        </p:nvSpPr>
        <p:spPr>
          <a:xfrm>
            <a:off x="548640" y="3968496"/>
            <a:ext cx="365760" cy="365760"/>
          </a:xfrm>
          <a:prstGeom prst="ellipse">
            <a:avLst/>
          </a:prstGeom>
          <a:solidFill>
            <a:srgbClr val="00A86A">
              <a:alpha val="22000"/>
            </a:srgbClr>
          </a:solidFill>
          <a:ln w="12700">
            <a:solidFill>
              <a:srgbClr val="00A86A">
                <a:alpha val="0"/>
              </a:srgbClr>
            </a:solidFill>
            <a:prstDash val="solid"/>
          </a:ln>
        </p:spPr>
      </p:sp>
      <p:pic>
        <p:nvPicPr>
          <p:cNvPr id="56" name="Image 6" descr="preencoded.png">    </p:cNvPr>
          <p:cNvPicPr>
            <a:picLocks noChangeAspect="1"/>
          </p:cNvPicPr>
          <p:nvPr/>
        </p:nvPicPr>
        <p:blipFill>
          <a:blip r:embed="rId7"/>
          <a:stretch>
            <a:fillRect/>
          </a:stretch>
        </p:blipFill>
        <p:spPr>
          <a:xfrm>
            <a:off x="643738" y="4063594"/>
            <a:ext cx="175565" cy="175565"/>
          </a:xfrm>
          <a:prstGeom prst="rect">
            <a:avLst/>
          </a:prstGeom>
        </p:spPr>
      </p:pic>
      <p:sp>
        <p:nvSpPr>
          <p:cNvPr id="57" name="Text 47"/>
          <p:cNvSpPr txBox="1"/>
          <p:nvPr/>
        </p:nvSpPr>
        <p:spPr>
          <a:xfrm>
            <a:off x="1005840" y="3822192"/>
            <a:ext cx="2029968" cy="67665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Expliquer ce que mesure un pixel de lumières nocturnes — et ce qu’il ne mesure pas</a:t>
            </a:r>
            <a:endParaRPr lang="en-US" sz="1000" dirty="0"/>
          </a:p>
        </p:txBody>
      </p:sp>
      <p:sp>
        <p:nvSpPr>
          <p:cNvPr id="58" name="Shape 48"/>
          <p:cNvSpPr/>
          <p:nvPr/>
        </p:nvSpPr>
        <p:spPr>
          <a:xfrm>
            <a:off x="3246120" y="3794760"/>
            <a:ext cx="2651760" cy="731520"/>
          </a:xfrm>
          <a:prstGeom prst="roundRect">
            <a:avLst>
              <a:gd name="adj" fmla="val 10000"/>
            </a:avLst>
          </a:prstGeom>
          <a:solidFill>
            <a:srgbClr val="E8F5EF"/>
          </a:solidFill>
          <a:ln w="15875">
            <a:solidFill>
              <a:srgbClr val="00A86A"/>
            </a:solidFill>
            <a:prstDash val="solid"/>
          </a:ln>
        </p:spPr>
      </p:sp>
      <p:sp>
        <p:nvSpPr>
          <p:cNvPr id="59" name="Shape 49"/>
          <p:cNvSpPr/>
          <p:nvPr/>
        </p:nvSpPr>
        <p:spPr>
          <a:xfrm>
            <a:off x="3337560" y="3968496"/>
            <a:ext cx="365760" cy="365760"/>
          </a:xfrm>
          <a:prstGeom prst="ellipse">
            <a:avLst/>
          </a:prstGeom>
          <a:solidFill>
            <a:srgbClr val="00A86A">
              <a:alpha val="22000"/>
            </a:srgbClr>
          </a:solidFill>
          <a:ln w="12700">
            <a:solidFill>
              <a:srgbClr val="00A86A">
                <a:alpha val="0"/>
              </a:srgbClr>
            </a:solidFill>
            <a:prstDash val="solid"/>
          </a:ln>
        </p:spPr>
      </p:sp>
      <p:pic>
        <p:nvPicPr>
          <p:cNvPr id="60" name="Image 7" descr="preencoded.png">    </p:cNvPr>
          <p:cNvPicPr>
            <a:picLocks noChangeAspect="1"/>
          </p:cNvPicPr>
          <p:nvPr/>
        </p:nvPicPr>
        <p:blipFill>
          <a:blip r:embed="rId8"/>
          <a:stretch>
            <a:fillRect/>
          </a:stretch>
        </p:blipFill>
        <p:spPr>
          <a:xfrm>
            <a:off x="3432658" y="4063594"/>
            <a:ext cx="175565" cy="175565"/>
          </a:xfrm>
          <a:prstGeom prst="rect">
            <a:avLst/>
          </a:prstGeom>
        </p:spPr>
      </p:pic>
      <p:sp>
        <p:nvSpPr>
          <p:cNvPr id="61" name="Text 50"/>
          <p:cNvSpPr txBox="1"/>
          <p:nvPr/>
        </p:nvSpPr>
        <p:spPr>
          <a:xfrm>
            <a:off x="3794760" y="3822192"/>
            <a:ext cx="2029968" cy="67665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Choisir un produit (quotidien, mensuel, annuel) adapté à une question statistique</a:t>
            </a:r>
            <a:endParaRPr lang="en-US" sz="1000" dirty="0"/>
          </a:p>
        </p:txBody>
      </p:sp>
      <p:sp>
        <p:nvSpPr>
          <p:cNvPr id="62" name="Shape 51"/>
          <p:cNvSpPr/>
          <p:nvPr/>
        </p:nvSpPr>
        <p:spPr>
          <a:xfrm>
            <a:off x="6035040" y="3794760"/>
            <a:ext cx="2651760" cy="731520"/>
          </a:xfrm>
          <a:prstGeom prst="roundRect">
            <a:avLst>
              <a:gd name="adj" fmla="val 10000"/>
            </a:avLst>
          </a:prstGeom>
          <a:solidFill>
            <a:srgbClr val="E8F5EF"/>
          </a:solidFill>
          <a:ln w="15875">
            <a:solidFill>
              <a:srgbClr val="00A86A"/>
            </a:solidFill>
            <a:prstDash val="solid"/>
          </a:ln>
        </p:spPr>
      </p:sp>
      <p:sp>
        <p:nvSpPr>
          <p:cNvPr id="63" name="Shape 52"/>
          <p:cNvSpPr/>
          <p:nvPr/>
        </p:nvSpPr>
        <p:spPr>
          <a:xfrm>
            <a:off x="6126480" y="3968496"/>
            <a:ext cx="365760" cy="365760"/>
          </a:xfrm>
          <a:prstGeom prst="ellipse">
            <a:avLst/>
          </a:prstGeom>
          <a:solidFill>
            <a:srgbClr val="00A86A">
              <a:alpha val="22000"/>
            </a:srgbClr>
          </a:solidFill>
          <a:ln w="12700">
            <a:solidFill>
              <a:srgbClr val="00A86A">
                <a:alpha val="0"/>
              </a:srgbClr>
            </a:solidFill>
            <a:prstDash val="solid"/>
          </a:ln>
        </p:spPr>
      </p:sp>
      <p:pic>
        <p:nvPicPr>
          <p:cNvPr id="64" name="Image 8" descr="preencoded.png">    </p:cNvPr>
          <p:cNvPicPr>
            <a:picLocks noChangeAspect="1"/>
          </p:cNvPicPr>
          <p:nvPr/>
        </p:nvPicPr>
        <p:blipFill>
          <a:blip r:embed="rId9"/>
          <a:stretch>
            <a:fillRect/>
          </a:stretch>
        </p:blipFill>
        <p:spPr>
          <a:xfrm>
            <a:off x="6221578" y="4063594"/>
            <a:ext cx="175565" cy="175565"/>
          </a:xfrm>
          <a:prstGeom prst="rect">
            <a:avLst/>
          </a:prstGeom>
        </p:spPr>
      </p:pic>
      <p:sp>
        <p:nvSpPr>
          <p:cNvPr id="65" name="Text 53"/>
          <p:cNvSpPr txBox="1"/>
          <p:nvPr/>
        </p:nvSpPr>
        <p:spPr>
          <a:xfrm>
            <a:off x="6583680" y="3822192"/>
            <a:ext cx="2029968" cy="67665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Reconnaître les six artefacts à traquer dans vos propres données ce matin</a:t>
            </a:r>
            <a:endParaRPr lang="en-US" sz="10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1</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01</a:t>
            </a:r>
            <a:endParaRPr lang="en-US" sz="9600" dirty="0"/>
          </a:p>
        </p:txBody>
      </p:sp>
      <p:sp>
        <p:nvSpPr>
          <p:cNvPr id="5" name="Text 3"/>
          <p:cNvSpPr txBox="1"/>
          <p:nvPr/>
        </p:nvSpPr>
        <p:spPr>
          <a:xfrm>
            <a:off x="548640" y="2240280"/>
            <a:ext cx="5486400" cy="6858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Fondements</a:t>
            </a:r>
            <a:endParaRPr lang="en-US" sz="3600" dirty="0"/>
          </a:p>
        </p:txBody>
      </p:sp>
      <p:sp>
        <p:nvSpPr>
          <p:cNvPr id="6" name="Text 4"/>
          <p:cNvSpPr txBox="1"/>
          <p:nvPr/>
        </p:nvSpPr>
        <p:spPr>
          <a:xfrm>
            <a:off x="548640" y="2971800"/>
            <a:ext cx="5120640" cy="59436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Pourquoi une photo de l’obscurité nous apprendrait-elle quelque chose ?</a:t>
            </a:r>
            <a:endParaRPr lang="en-US" sz="1800" dirty="0"/>
          </a:p>
        </p:txBody>
      </p:sp>
      <p:sp>
        <p:nvSpPr>
          <p:cNvPr id="7" name="Text 5"/>
          <p:cNvSpPr txBox="1"/>
          <p:nvPr/>
        </p:nvSpPr>
        <p:spPr>
          <a:xfrm>
            <a:off x="548640" y="3703320"/>
            <a:ext cx="530352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L’idée centrale  ·  Définitions  ·  La chaîne d’inférence</a:t>
            </a:r>
            <a:endParaRPr lang="en-US" sz="1200" dirty="0"/>
          </a:p>
        </p:txBody>
      </p:sp>
      <p:sp>
        <p:nvSpPr>
          <p:cNvPr id="8" name="Shape 6"/>
          <p:cNvSpPr/>
          <p:nvPr/>
        </p:nvSpPr>
        <p:spPr>
          <a:xfrm>
            <a:off x="548640" y="4343400"/>
            <a:ext cx="118872" cy="118872"/>
          </a:xfrm>
          <a:prstGeom prst="ellipse">
            <a:avLst/>
          </a:prstGeom>
          <a:solidFill>
            <a:srgbClr val="F5C242"/>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r>
          <p:cNvPicPr>
            <a:picLocks noChangeAspect="1"/>
          </p:cNvPicPr>
          <p:nvPr/>
        </p:nvPicPr>
        <p:blipFill>
          <a:blip r:embed="rId2"/>
          <a:stretch>
            <a:fillRect/>
          </a:stretch>
        </p:blipFill>
        <p:spPr>
          <a:xfrm>
            <a:off x="6848856" y="2276856"/>
            <a:ext cx="475488" cy="475488"/>
          </a:xfrm>
          <a:prstGeom prst="rect">
            <a:avLst/>
          </a:prstGeom>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FONDEMENTS · L’IDÉE CENTRALE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La lumière trahit l’activité humaine</a:t>
            </a:r>
            <a:endParaRPr lang="en-US" sz="2800" dirty="0"/>
          </a:p>
        </p:txBody>
      </p:sp>
      <p:sp>
        <p:nvSpPr>
          <p:cNvPr id="8" name="Shape 6"/>
          <p:cNvSpPr/>
          <p:nvPr/>
        </p:nvSpPr>
        <p:spPr>
          <a:xfrm>
            <a:off x="7635240" y="301752"/>
            <a:ext cx="109728" cy="109728"/>
          </a:xfrm>
          <a:prstGeom prst="ellipse">
            <a:avLst/>
          </a:prstGeom>
          <a:solidFill>
            <a:srgbClr val="00A86A"/>
          </a:solidFill>
          <a:ln w="12700">
            <a:solidFill>
              <a:srgbClr val="00A86A"/>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06</a:t>
            </a:r>
            <a:endParaRPr lang="en-US" sz="850" dirty="0"/>
          </a:p>
        </p:txBody>
      </p:sp>
      <p:sp>
        <p:nvSpPr>
          <p:cNvPr id="17" name="Text 14"/>
          <p:cNvSpPr txBox="1"/>
          <p:nvPr/>
        </p:nvSpPr>
        <p:spPr>
          <a:xfrm>
            <a:off x="457200" y="1325880"/>
            <a:ext cx="4754880" cy="713232"/>
          </a:xfrm>
          <a:prstGeom prst="rect">
            <a:avLst/>
          </a:prstGeom>
          <a:noFill/>
          <a:ln/>
        </p:spPr>
        <p:txBody>
          <a:bodyPr wrap="square" lIns="0" tIns="0" rIns="0" bIns="0" rtlCol="0" anchor="t"/>
          <a:lstStyle/>
          <a:p>
            <a:pPr indent="0" marL="0">
              <a:buNone/>
            </a:pPr>
            <a:r>
              <a:rPr lang="en-US" sz="1450" i="1" dirty="0">
                <a:solidFill>
                  <a:srgbClr val="00704A"/>
                </a:solidFill>
                <a:latin typeface="Calibri" pitchFamily="34" charset="0"/>
                <a:ea typeface="Calibri" pitchFamily="34" charset="-122"/>
                <a:cs typeface="Calibri" pitchFamily="34" charset="-120"/>
              </a:rPr>
              <a:t>Presque tout ce que l’on fait après le coucher du soleil exige de la lumière — et une partie s’échappe vers le haut, dans le champ de vision d’un satellite.</a:t>
            </a:r>
            <a:endParaRPr lang="en-US" sz="1450" dirty="0"/>
          </a:p>
        </p:txBody>
      </p:sp>
      <p:sp>
        <p:nvSpPr>
          <p:cNvPr id="18" name="Text 15"/>
          <p:cNvSpPr txBox="1"/>
          <p:nvPr/>
        </p:nvSpPr>
        <p:spPr>
          <a:xfrm>
            <a:off x="457200" y="2084832"/>
            <a:ext cx="4754880" cy="59436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Ce fait physique transforme la face nocturne de la planète en une observation de la présence humaine qu’aucun recensement, enquête ou registre n’égale sur ces quatre propriétés à la fois :</a:t>
            </a:r>
            <a:endParaRPr lang="en-US" sz="1050" dirty="0"/>
          </a:p>
        </p:txBody>
      </p:sp>
      <p:sp>
        <p:nvSpPr>
          <p:cNvPr id="19" name="Shape 16"/>
          <p:cNvSpPr/>
          <p:nvPr/>
        </p:nvSpPr>
        <p:spPr>
          <a:xfrm>
            <a:off x="457200" y="2743200"/>
            <a:ext cx="2286000" cy="548640"/>
          </a:xfrm>
          <a:prstGeom prst="roundRect">
            <a:avLst>
              <a:gd name="adj" fmla="val 13333"/>
            </a:avLst>
          </a:prstGeom>
          <a:solidFill>
            <a:srgbClr val="F4F7F5"/>
          </a:solidFill>
          <a:ln w="9525">
            <a:solidFill>
              <a:srgbClr val="D5DED9"/>
            </a:solidFill>
            <a:prstDash val="solid"/>
          </a:ln>
        </p:spPr>
      </p:sp>
      <p:sp>
        <p:nvSpPr>
          <p:cNvPr id="20" name="Shape 17"/>
          <p:cNvSpPr/>
          <p:nvPr/>
        </p:nvSpPr>
        <p:spPr>
          <a:xfrm>
            <a:off x="548640" y="2834640"/>
            <a:ext cx="365760" cy="365760"/>
          </a:xfrm>
          <a:prstGeom prst="ellipse">
            <a:avLst/>
          </a:prstGeom>
          <a:solidFill>
            <a:srgbClr val="00A86A">
              <a:alpha val="22000"/>
            </a:srgbClr>
          </a:solidFill>
          <a:ln w="12700">
            <a:solidFill>
              <a:srgbClr val="00A86A">
                <a:alpha val="0"/>
              </a:srgbClr>
            </a:solidFill>
            <a:prstDash val="solid"/>
          </a:ln>
        </p:spPr>
      </p:sp>
      <p:pic>
        <p:nvPicPr>
          <p:cNvPr id="21" name="Image 0" descr="preencoded.png">    </p:cNvPr>
          <p:cNvPicPr>
            <a:picLocks noChangeAspect="1"/>
          </p:cNvPicPr>
          <p:nvPr/>
        </p:nvPicPr>
        <p:blipFill>
          <a:blip r:embed="rId1"/>
          <a:stretch>
            <a:fillRect/>
          </a:stretch>
        </p:blipFill>
        <p:spPr>
          <a:xfrm>
            <a:off x="643738" y="2929738"/>
            <a:ext cx="175565" cy="175565"/>
          </a:xfrm>
          <a:prstGeom prst="rect">
            <a:avLst/>
          </a:prstGeom>
        </p:spPr>
      </p:pic>
      <p:sp>
        <p:nvSpPr>
          <p:cNvPr id="22" name="Text 18"/>
          <p:cNvSpPr txBox="1"/>
          <p:nvPr/>
        </p:nvSpPr>
        <p:spPr>
          <a:xfrm>
            <a:off x="1005840" y="2807208"/>
            <a:ext cx="169164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Cohérente partout</a:t>
            </a:r>
            <a:endParaRPr lang="en-US" sz="1100" dirty="0"/>
          </a:p>
        </p:txBody>
      </p:sp>
      <p:sp>
        <p:nvSpPr>
          <p:cNvPr id="23" name="Text 19"/>
          <p:cNvSpPr txBox="1"/>
          <p:nvPr/>
        </p:nvSpPr>
        <p:spPr>
          <a:xfrm>
            <a:off x="1005840" y="3035808"/>
            <a:ext cx="1691640" cy="20116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Même méthode dans tous les pays</a:t>
            </a:r>
            <a:endParaRPr lang="en-US" sz="900" dirty="0"/>
          </a:p>
        </p:txBody>
      </p:sp>
      <p:sp>
        <p:nvSpPr>
          <p:cNvPr id="24" name="Shape 20"/>
          <p:cNvSpPr/>
          <p:nvPr/>
        </p:nvSpPr>
        <p:spPr>
          <a:xfrm>
            <a:off x="2880360" y="2743200"/>
            <a:ext cx="2286000" cy="548640"/>
          </a:xfrm>
          <a:prstGeom prst="roundRect">
            <a:avLst>
              <a:gd name="adj" fmla="val 13333"/>
            </a:avLst>
          </a:prstGeom>
          <a:solidFill>
            <a:srgbClr val="F4F7F5"/>
          </a:solidFill>
          <a:ln w="9525">
            <a:solidFill>
              <a:srgbClr val="D5DED9"/>
            </a:solidFill>
            <a:prstDash val="solid"/>
          </a:ln>
        </p:spPr>
      </p:sp>
      <p:sp>
        <p:nvSpPr>
          <p:cNvPr id="25" name="Shape 21"/>
          <p:cNvSpPr/>
          <p:nvPr/>
        </p:nvSpPr>
        <p:spPr>
          <a:xfrm>
            <a:off x="2971800" y="2834640"/>
            <a:ext cx="365760" cy="365760"/>
          </a:xfrm>
          <a:prstGeom prst="ellipse">
            <a:avLst/>
          </a:prstGeom>
          <a:solidFill>
            <a:srgbClr val="00A86A">
              <a:alpha val="22000"/>
            </a:srgbClr>
          </a:solidFill>
          <a:ln w="12700">
            <a:solidFill>
              <a:srgbClr val="00A86A">
                <a:alpha val="0"/>
              </a:srgbClr>
            </a:solidFill>
            <a:prstDash val="solid"/>
          </a:ln>
        </p:spPr>
      </p:sp>
      <p:pic>
        <p:nvPicPr>
          <p:cNvPr id="26" name="Image 1" descr="preencoded.png">    </p:cNvPr>
          <p:cNvPicPr>
            <a:picLocks noChangeAspect="1"/>
          </p:cNvPicPr>
          <p:nvPr/>
        </p:nvPicPr>
        <p:blipFill>
          <a:blip r:embed="rId2"/>
          <a:stretch>
            <a:fillRect/>
          </a:stretch>
        </p:blipFill>
        <p:spPr>
          <a:xfrm>
            <a:off x="3066898" y="2929738"/>
            <a:ext cx="175565" cy="175565"/>
          </a:xfrm>
          <a:prstGeom prst="rect">
            <a:avLst/>
          </a:prstGeom>
        </p:spPr>
      </p:pic>
      <p:sp>
        <p:nvSpPr>
          <p:cNvPr id="27" name="Text 22"/>
          <p:cNvSpPr txBox="1"/>
          <p:nvPr/>
        </p:nvSpPr>
        <p:spPr>
          <a:xfrm>
            <a:off x="3429000" y="2807208"/>
            <a:ext cx="169164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Continue dans l’espace</a:t>
            </a:r>
            <a:endParaRPr lang="en-US" sz="1100" dirty="0"/>
          </a:p>
        </p:txBody>
      </p:sp>
      <p:sp>
        <p:nvSpPr>
          <p:cNvPr id="28" name="Text 23"/>
          <p:cNvSpPr txBox="1"/>
          <p:nvPr/>
        </p:nvSpPr>
        <p:spPr>
          <a:xfrm>
            <a:off x="3429000" y="3035808"/>
            <a:ext cx="1691640" cy="20116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Chaque maille d’environ 500 m</a:t>
            </a:r>
            <a:endParaRPr lang="en-US" sz="900" dirty="0"/>
          </a:p>
        </p:txBody>
      </p:sp>
      <p:sp>
        <p:nvSpPr>
          <p:cNvPr id="29" name="Shape 24"/>
          <p:cNvSpPr/>
          <p:nvPr/>
        </p:nvSpPr>
        <p:spPr>
          <a:xfrm>
            <a:off x="457200" y="3401568"/>
            <a:ext cx="2286000" cy="548640"/>
          </a:xfrm>
          <a:prstGeom prst="roundRect">
            <a:avLst>
              <a:gd name="adj" fmla="val 13333"/>
            </a:avLst>
          </a:prstGeom>
          <a:solidFill>
            <a:srgbClr val="F4F7F5"/>
          </a:solidFill>
          <a:ln w="9525">
            <a:solidFill>
              <a:srgbClr val="D5DED9"/>
            </a:solidFill>
            <a:prstDash val="solid"/>
          </a:ln>
        </p:spPr>
      </p:sp>
      <p:sp>
        <p:nvSpPr>
          <p:cNvPr id="30" name="Shape 25"/>
          <p:cNvSpPr/>
          <p:nvPr/>
        </p:nvSpPr>
        <p:spPr>
          <a:xfrm>
            <a:off x="548640" y="3493008"/>
            <a:ext cx="365760" cy="365760"/>
          </a:xfrm>
          <a:prstGeom prst="ellipse">
            <a:avLst/>
          </a:prstGeom>
          <a:solidFill>
            <a:srgbClr val="00A86A">
              <a:alpha val="22000"/>
            </a:srgbClr>
          </a:solidFill>
          <a:ln w="12700">
            <a:solidFill>
              <a:srgbClr val="00A86A">
                <a:alpha val="0"/>
              </a:srgbClr>
            </a:solidFill>
            <a:prstDash val="solid"/>
          </a:ln>
        </p:spPr>
      </p:sp>
      <p:pic>
        <p:nvPicPr>
          <p:cNvPr id="31" name="Image 2" descr="preencoded.png">    </p:cNvPr>
          <p:cNvPicPr>
            <a:picLocks noChangeAspect="1"/>
          </p:cNvPicPr>
          <p:nvPr/>
        </p:nvPicPr>
        <p:blipFill>
          <a:blip r:embed="rId3"/>
          <a:stretch>
            <a:fillRect/>
          </a:stretch>
        </p:blipFill>
        <p:spPr>
          <a:xfrm>
            <a:off x="643738" y="3588106"/>
            <a:ext cx="175565" cy="175565"/>
          </a:xfrm>
          <a:prstGeom prst="rect">
            <a:avLst/>
          </a:prstGeom>
        </p:spPr>
      </p:pic>
      <p:sp>
        <p:nvSpPr>
          <p:cNvPr id="32" name="Text 26"/>
          <p:cNvSpPr txBox="1"/>
          <p:nvPr/>
        </p:nvSpPr>
        <p:spPr>
          <a:xfrm>
            <a:off x="1005840" y="3465576"/>
            <a:ext cx="169164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Politiquement neutre</a:t>
            </a:r>
            <a:endParaRPr lang="en-US" sz="1100" dirty="0"/>
          </a:p>
        </p:txBody>
      </p:sp>
      <p:sp>
        <p:nvSpPr>
          <p:cNvPr id="33" name="Text 27"/>
          <p:cNvSpPr txBox="1"/>
          <p:nvPr/>
        </p:nvSpPr>
        <p:spPr>
          <a:xfrm>
            <a:off x="1005840" y="3694176"/>
            <a:ext cx="1691640" cy="20116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Indépendante des déclarations</a:t>
            </a:r>
            <a:endParaRPr lang="en-US" sz="900" dirty="0"/>
          </a:p>
        </p:txBody>
      </p:sp>
      <p:sp>
        <p:nvSpPr>
          <p:cNvPr id="34" name="Shape 28"/>
          <p:cNvSpPr/>
          <p:nvPr/>
        </p:nvSpPr>
        <p:spPr>
          <a:xfrm>
            <a:off x="2880360" y="3401568"/>
            <a:ext cx="2286000" cy="548640"/>
          </a:xfrm>
          <a:prstGeom prst="roundRect">
            <a:avLst>
              <a:gd name="adj" fmla="val 13333"/>
            </a:avLst>
          </a:prstGeom>
          <a:solidFill>
            <a:srgbClr val="F4F7F5"/>
          </a:solidFill>
          <a:ln w="9525">
            <a:solidFill>
              <a:srgbClr val="D5DED9"/>
            </a:solidFill>
            <a:prstDash val="solid"/>
          </a:ln>
        </p:spPr>
      </p:sp>
      <p:sp>
        <p:nvSpPr>
          <p:cNvPr id="35" name="Shape 29"/>
          <p:cNvSpPr/>
          <p:nvPr/>
        </p:nvSpPr>
        <p:spPr>
          <a:xfrm>
            <a:off x="2971800" y="3493008"/>
            <a:ext cx="365760" cy="365760"/>
          </a:xfrm>
          <a:prstGeom prst="ellipse">
            <a:avLst/>
          </a:prstGeom>
          <a:solidFill>
            <a:srgbClr val="00A86A">
              <a:alpha val="22000"/>
            </a:srgbClr>
          </a:solidFill>
          <a:ln w="12700">
            <a:solidFill>
              <a:srgbClr val="00A86A">
                <a:alpha val="0"/>
              </a:srgbClr>
            </a:solidFill>
            <a:prstDash val="solid"/>
          </a:ln>
        </p:spPr>
      </p:sp>
      <p:pic>
        <p:nvPicPr>
          <p:cNvPr id="36" name="Image 3" descr="preencoded.png">    </p:cNvPr>
          <p:cNvPicPr>
            <a:picLocks noChangeAspect="1"/>
          </p:cNvPicPr>
          <p:nvPr/>
        </p:nvPicPr>
        <p:blipFill>
          <a:blip r:embed="rId4"/>
          <a:stretch>
            <a:fillRect/>
          </a:stretch>
        </p:blipFill>
        <p:spPr>
          <a:xfrm>
            <a:off x="3066898" y="3588106"/>
            <a:ext cx="175565" cy="175565"/>
          </a:xfrm>
          <a:prstGeom prst="rect">
            <a:avLst/>
          </a:prstGeom>
        </p:spPr>
      </p:pic>
      <p:sp>
        <p:nvSpPr>
          <p:cNvPr id="37" name="Text 30"/>
          <p:cNvSpPr txBox="1"/>
          <p:nvPr/>
        </p:nvSpPr>
        <p:spPr>
          <a:xfrm>
            <a:off x="3429000" y="3465576"/>
            <a:ext cx="169164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Librement accessible</a:t>
            </a:r>
            <a:endParaRPr lang="en-US" sz="1100" dirty="0"/>
          </a:p>
        </p:txBody>
      </p:sp>
      <p:sp>
        <p:nvSpPr>
          <p:cNvPr id="38" name="Text 31"/>
          <p:cNvSpPr txBox="1"/>
          <p:nvPr/>
        </p:nvSpPr>
        <p:spPr>
          <a:xfrm>
            <a:off x="3429000" y="3694176"/>
            <a:ext cx="1691640" cy="20116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Produits ouverts NASA / EOG</a:t>
            </a:r>
            <a:endParaRPr lang="en-US" sz="900" dirty="0"/>
          </a:p>
        </p:txBody>
      </p:sp>
      <p:sp>
        <p:nvSpPr>
          <p:cNvPr id="39" name="Shape 32"/>
          <p:cNvSpPr/>
          <p:nvPr/>
        </p:nvSpPr>
        <p:spPr>
          <a:xfrm>
            <a:off x="5486400" y="1325880"/>
            <a:ext cx="3200400" cy="713232"/>
          </a:xfrm>
          <a:prstGeom prst="roundRect">
            <a:avLst>
              <a:gd name="adj" fmla="val 10256"/>
            </a:avLst>
          </a:prstGeom>
          <a:solidFill>
            <a:srgbClr val="F4F7F5"/>
          </a:solidFill>
          <a:ln w="9525">
            <a:solidFill>
              <a:srgbClr val="D5DED9"/>
            </a:solidFill>
            <a:prstDash val="solid"/>
          </a:ln>
        </p:spPr>
      </p:sp>
      <p:sp>
        <p:nvSpPr>
          <p:cNvPr id="40" name="Text 33"/>
          <p:cNvSpPr txBox="1"/>
          <p:nvPr/>
        </p:nvSpPr>
        <p:spPr>
          <a:xfrm>
            <a:off x="5596128" y="1399032"/>
            <a:ext cx="1371600" cy="566928"/>
          </a:xfrm>
          <a:prstGeom prst="rect">
            <a:avLst/>
          </a:prstGeom>
          <a:noFill/>
          <a:ln/>
        </p:spPr>
        <p:txBody>
          <a:bodyPr wrap="square" lIns="0" tIns="0" rIns="0" bIns="0" rtlCol="0" anchor="ctr"/>
          <a:lstStyle/>
          <a:p>
            <a:pPr indent="0" marL="0">
              <a:buNone/>
            </a:pPr>
            <a:r>
              <a:rPr lang="en-US" sz="3000" b="1" dirty="0">
                <a:solidFill>
                  <a:srgbClr val="00A86A"/>
                </a:solidFill>
                <a:latin typeface="Calibri" pitchFamily="34" charset="0"/>
                <a:ea typeface="Calibri" pitchFamily="34" charset="-122"/>
                <a:cs typeface="Calibri" pitchFamily="34" charset="-120"/>
              </a:rPr>
              <a:t>1992</a:t>
            </a:r>
            <a:endParaRPr lang="en-US" sz="3000" dirty="0"/>
          </a:p>
        </p:txBody>
      </p:sp>
      <p:sp>
        <p:nvSpPr>
          <p:cNvPr id="41" name="Text 34"/>
          <p:cNvSpPr txBox="1"/>
          <p:nvPr/>
        </p:nvSpPr>
        <p:spPr>
          <a:xfrm>
            <a:off x="6967728" y="1380744"/>
            <a:ext cx="1664208" cy="603504"/>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Début de l’archive numérique continue DMSP — trois décennies d’historique</a:t>
            </a:r>
            <a:endParaRPr lang="en-US" sz="900" dirty="0"/>
          </a:p>
        </p:txBody>
      </p:sp>
      <p:sp>
        <p:nvSpPr>
          <p:cNvPr id="42" name="Shape 35"/>
          <p:cNvSpPr/>
          <p:nvPr/>
        </p:nvSpPr>
        <p:spPr>
          <a:xfrm>
            <a:off x="5486400" y="2148840"/>
            <a:ext cx="3200400" cy="713232"/>
          </a:xfrm>
          <a:prstGeom prst="roundRect">
            <a:avLst>
              <a:gd name="adj" fmla="val 10256"/>
            </a:avLst>
          </a:prstGeom>
          <a:solidFill>
            <a:srgbClr val="F4F7F5"/>
          </a:solidFill>
          <a:ln w="9525">
            <a:solidFill>
              <a:srgbClr val="D5DED9"/>
            </a:solidFill>
            <a:prstDash val="solid"/>
          </a:ln>
        </p:spPr>
      </p:sp>
      <p:sp>
        <p:nvSpPr>
          <p:cNvPr id="43" name="Text 36"/>
          <p:cNvSpPr txBox="1"/>
          <p:nvPr/>
        </p:nvSpPr>
        <p:spPr>
          <a:xfrm>
            <a:off x="5596128" y="2221992"/>
            <a:ext cx="1371600" cy="566928"/>
          </a:xfrm>
          <a:prstGeom prst="rect">
            <a:avLst/>
          </a:prstGeom>
          <a:noFill/>
          <a:ln/>
        </p:spPr>
        <p:txBody>
          <a:bodyPr wrap="square" lIns="0" tIns="0" rIns="0" bIns="0" rtlCol="0" anchor="ctr"/>
          <a:lstStyle/>
          <a:p>
            <a:pPr indent="0" marL="0">
              <a:buNone/>
            </a:pPr>
            <a:r>
              <a:rPr lang="en-US" sz="3000" b="1" dirty="0">
                <a:solidFill>
                  <a:srgbClr val="00704A"/>
                </a:solidFill>
                <a:latin typeface="Calibri" pitchFamily="34" charset="0"/>
                <a:ea typeface="Calibri" pitchFamily="34" charset="-122"/>
                <a:cs typeface="Calibri" pitchFamily="34" charset="-120"/>
              </a:rPr>
              <a:t>742 m</a:t>
            </a:r>
            <a:endParaRPr lang="en-US" sz="3000" dirty="0"/>
          </a:p>
        </p:txBody>
      </p:sp>
      <p:sp>
        <p:nvSpPr>
          <p:cNvPr id="44" name="Text 37"/>
          <p:cNvSpPr txBox="1"/>
          <p:nvPr/>
        </p:nvSpPr>
        <p:spPr>
          <a:xfrm>
            <a:off x="6967728" y="2203704"/>
            <a:ext cx="1664208" cy="603504"/>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Pixel de la bande jour/nuit VIIRS, quasi constant sur toute la fauchée</a:t>
            </a:r>
            <a:endParaRPr lang="en-US" sz="900" dirty="0"/>
          </a:p>
        </p:txBody>
      </p:sp>
      <p:sp>
        <p:nvSpPr>
          <p:cNvPr id="45" name="Shape 38"/>
          <p:cNvSpPr/>
          <p:nvPr/>
        </p:nvSpPr>
        <p:spPr>
          <a:xfrm>
            <a:off x="5486400" y="2971800"/>
            <a:ext cx="3200400" cy="713232"/>
          </a:xfrm>
          <a:prstGeom prst="roundRect">
            <a:avLst>
              <a:gd name="adj" fmla="val 10256"/>
            </a:avLst>
          </a:prstGeom>
          <a:solidFill>
            <a:srgbClr val="F4F7F5"/>
          </a:solidFill>
          <a:ln w="9525">
            <a:solidFill>
              <a:srgbClr val="D5DED9"/>
            </a:solidFill>
            <a:prstDash val="solid"/>
          </a:ln>
        </p:spPr>
      </p:sp>
      <p:sp>
        <p:nvSpPr>
          <p:cNvPr id="46" name="Text 39"/>
          <p:cNvSpPr txBox="1"/>
          <p:nvPr/>
        </p:nvSpPr>
        <p:spPr>
          <a:xfrm>
            <a:off x="5596128" y="3044952"/>
            <a:ext cx="1371600" cy="566928"/>
          </a:xfrm>
          <a:prstGeom prst="rect">
            <a:avLst/>
          </a:prstGeom>
          <a:noFill/>
          <a:ln/>
        </p:spPr>
        <p:txBody>
          <a:bodyPr wrap="square" lIns="0" tIns="0" rIns="0" bIns="0" rtlCol="0" anchor="ctr"/>
          <a:lstStyle/>
          <a:p>
            <a:pPr indent="0" marL="0">
              <a:buNone/>
            </a:pPr>
            <a:r>
              <a:rPr lang="en-US" sz="1900" b="1" dirty="0">
                <a:solidFill>
                  <a:srgbClr val="0E7C86"/>
                </a:solidFill>
                <a:latin typeface="Calibri" pitchFamily="34" charset="0"/>
                <a:ea typeface="Calibri" pitchFamily="34" charset="-122"/>
                <a:cs typeface="Calibri" pitchFamily="34" charset="-120"/>
              </a:rPr>
              <a:t>Chaque nuit</a:t>
            </a:r>
            <a:endParaRPr lang="en-US" sz="1900" dirty="0"/>
          </a:p>
        </p:txBody>
      </p:sp>
      <p:sp>
        <p:nvSpPr>
          <p:cNvPr id="47" name="Text 40"/>
          <p:cNvSpPr txBox="1"/>
          <p:nvPr/>
        </p:nvSpPr>
        <p:spPr>
          <a:xfrm>
            <a:off x="6967728" y="3026664"/>
            <a:ext cx="1664208" cy="603504"/>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Passage VIIRS mondial vers 01h30 heure locale, depuis 2012</a:t>
            </a:r>
            <a:endParaRPr lang="en-US" sz="900" dirty="0"/>
          </a:p>
        </p:txBody>
      </p:sp>
      <p:sp>
        <p:nvSpPr>
          <p:cNvPr id="48" name="Shape 41"/>
          <p:cNvSpPr/>
          <p:nvPr/>
        </p:nvSpPr>
        <p:spPr>
          <a:xfrm>
            <a:off x="5486400" y="3822192"/>
            <a:ext cx="3200400" cy="713232"/>
          </a:xfrm>
          <a:prstGeom prst="roundRect">
            <a:avLst>
              <a:gd name="adj" fmla="val 10256"/>
            </a:avLst>
          </a:prstGeom>
          <a:solidFill>
            <a:srgbClr val="E8F5EF"/>
          </a:solidFill>
          <a:ln w="15875">
            <a:solidFill>
              <a:srgbClr val="00A86A"/>
            </a:solidFill>
            <a:prstDash val="solid"/>
          </a:ln>
        </p:spPr>
      </p:sp>
      <p:sp>
        <p:nvSpPr>
          <p:cNvPr id="49" name="Text 42"/>
          <p:cNvSpPr txBox="1"/>
          <p:nvPr/>
        </p:nvSpPr>
        <p:spPr>
          <a:xfrm>
            <a:off x="5596128" y="3849624"/>
            <a:ext cx="3017520" cy="658368"/>
          </a:xfrm>
          <a:prstGeom prst="rect">
            <a:avLst/>
          </a:prstGeom>
          <a:noFill/>
          <a:ln/>
        </p:spPr>
        <p:txBody>
          <a:bodyPr wrap="square" lIns="0" tIns="0" rIns="0" bIns="0" rtlCol="0" anchor="ctr"/>
          <a:lstStyle/>
          <a:p>
            <a:pPr indent="0" marL="0">
              <a:buNone/>
            </a:pPr>
            <a:r>
              <a:rPr lang="en-US" sz="1000" b="1" dirty="0">
                <a:solidFill>
                  <a:srgbClr val="00704A"/>
                </a:solidFill>
                <a:latin typeface="Calibri" pitchFamily="34" charset="0"/>
                <a:ea typeface="Calibri" pitchFamily="34" charset="-122"/>
                <a:cs typeface="Calibri" pitchFamily="34" charset="-120"/>
              </a:rPr>
              <a:t>Pour un INS : </a:t>
            </a:r>
            <a:pPr indent="0" marL="0">
              <a:buNone/>
            </a:pPr>
            <a:r>
              <a:rPr lang="en-US" sz="1000" dirty="0">
                <a:solidFill>
                  <a:srgbClr val="231F20"/>
                </a:solidFill>
                <a:latin typeface="Calibri" pitchFamily="34" charset="0"/>
                <a:ea typeface="Calibri" pitchFamily="34" charset="-122"/>
                <a:cs typeface="Calibri" pitchFamily="34" charset="-120"/>
              </a:rPr>
              <a:t>un recensement environ tous les dix ans, des enquêtes tous les quelques ans — les lumières arrivent chaque nuit, pour chaque district.</a:t>
            </a:r>
            <a:endParaRPr lang="en-US" sz="10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FONDEMENTS · DÉFINITIONS</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Ce que sont les NTL — et ne sont pas</a:t>
            </a:r>
            <a:endParaRPr lang="en-US" sz="2800" dirty="0"/>
          </a:p>
        </p:txBody>
      </p:sp>
      <p:sp>
        <p:nvSpPr>
          <p:cNvPr id="8" name="Shape 6"/>
          <p:cNvSpPr/>
          <p:nvPr/>
        </p:nvSpPr>
        <p:spPr>
          <a:xfrm>
            <a:off x="7635240" y="301752"/>
            <a:ext cx="109728" cy="109728"/>
          </a:xfrm>
          <a:prstGeom prst="ellipse">
            <a:avLst/>
          </a:prstGeom>
          <a:solidFill>
            <a:srgbClr val="00A86A"/>
          </a:solidFill>
          <a:ln w="12700">
            <a:solidFill>
              <a:srgbClr val="00A86A"/>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07</a:t>
            </a:r>
            <a:endParaRPr lang="en-US" sz="850" dirty="0"/>
          </a:p>
        </p:txBody>
      </p:sp>
      <p:sp>
        <p:nvSpPr>
          <p:cNvPr id="17" name="Shape 14"/>
          <p:cNvSpPr/>
          <p:nvPr/>
        </p:nvSpPr>
        <p:spPr>
          <a:xfrm>
            <a:off x="457200" y="1325880"/>
            <a:ext cx="8229600" cy="868680"/>
          </a:xfrm>
          <a:prstGeom prst="roundRect">
            <a:avLst>
              <a:gd name="adj" fmla="val 8421"/>
            </a:avLst>
          </a:prstGeom>
          <a:solidFill>
            <a:srgbClr val="E8F5EF"/>
          </a:solidFill>
          <a:ln w="15875">
            <a:solidFill>
              <a:srgbClr val="00A86A"/>
            </a:solidFill>
            <a:prstDash val="solid"/>
          </a:ln>
        </p:spPr>
      </p:sp>
      <p:sp>
        <p:nvSpPr>
          <p:cNvPr id="18" name="Shape 15"/>
          <p:cNvSpPr/>
          <p:nvPr/>
        </p:nvSpPr>
        <p:spPr>
          <a:xfrm>
            <a:off x="594360" y="1536192"/>
            <a:ext cx="457200" cy="45720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r>
          <p:cNvPicPr>
            <a:picLocks noChangeAspect="1"/>
          </p:cNvPicPr>
          <p:nvPr/>
        </p:nvPicPr>
        <p:blipFill>
          <a:blip r:embed="rId1"/>
          <a:stretch>
            <a:fillRect/>
          </a:stretch>
        </p:blipFill>
        <p:spPr>
          <a:xfrm>
            <a:off x="713232" y="1655064"/>
            <a:ext cx="219456" cy="219456"/>
          </a:xfrm>
          <a:prstGeom prst="rect">
            <a:avLst/>
          </a:prstGeom>
        </p:spPr>
      </p:pic>
      <p:sp>
        <p:nvSpPr>
          <p:cNvPr id="20" name="Text 16"/>
          <p:cNvSpPr txBox="1"/>
          <p:nvPr/>
        </p:nvSpPr>
        <p:spPr>
          <a:xfrm>
            <a:off x="1188720" y="1417320"/>
            <a:ext cx="3657600" cy="182880"/>
          </a:xfrm>
          <a:prstGeom prst="rect">
            <a:avLst/>
          </a:prstGeom>
          <a:noFill/>
          <a:ln/>
        </p:spPr>
        <p:txBody>
          <a:bodyPr wrap="square" lIns="0" tIns="0" rIns="0" bIns="0" rtlCol="0" anchor="t"/>
          <a:lstStyle/>
          <a:p>
            <a:pPr indent="0" marL="0">
              <a:buNone/>
            </a:pPr>
            <a:r>
              <a:rPr lang="en-US" sz="950" b="1" spc="300" kern="0" dirty="0">
                <a:solidFill>
                  <a:srgbClr val="00704A"/>
                </a:solidFill>
                <a:latin typeface="Calibri" pitchFamily="34" charset="0"/>
                <a:ea typeface="Calibri" pitchFamily="34" charset="-122"/>
                <a:cs typeface="Calibri" pitchFamily="34" charset="-120"/>
              </a:rPr>
              <a:t>DÉFINITION DE TRAVAIL</a:t>
            </a:r>
            <a:endParaRPr lang="en-US" sz="950" dirty="0"/>
          </a:p>
        </p:txBody>
      </p:sp>
      <p:sp>
        <p:nvSpPr>
          <p:cNvPr id="21" name="Text 17"/>
          <p:cNvSpPr txBox="1"/>
          <p:nvPr/>
        </p:nvSpPr>
        <p:spPr>
          <a:xfrm>
            <a:off x="1188720" y="1645920"/>
            <a:ext cx="7360920" cy="512064"/>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Les lumières nocturnes (NTL) sont des mesures de la radiance visible et proche infrarouge émise vers le haut par la surface terrestre, enregistrées par un capteur satellitaire pendant la nuit locale, en l’absence de lumière solaire directe.</a:t>
            </a:r>
            <a:endParaRPr lang="en-US" sz="1150" dirty="0"/>
          </a:p>
        </p:txBody>
      </p:sp>
      <p:sp>
        <p:nvSpPr>
          <p:cNvPr id="22" name="Text 18"/>
          <p:cNvSpPr txBox="1"/>
          <p:nvPr/>
        </p:nvSpPr>
        <p:spPr>
          <a:xfrm>
            <a:off x="457200" y="2331720"/>
            <a:ext cx="4023360" cy="274320"/>
          </a:xfrm>
          <a:prstGeom prst="rect">
            <a:avLst/>
          </a:prstGeom>
          <a:noFill/>
          <a:ln/>
        </p:spPr>
        <p:txBody>
          <a:bodyPr wrap="square" lIns="0" tIns="0" rIns="0" bIns="0" rtlCol="0" anchor="t"/>
          <a:lstStyle/>
          <a:p>
            <a:pPr indent="0" marL="0">
              <a:buNone/>
            </a:pPr>
            <a:r>
              <a:rPr lang="en-US" sz="1400" b="1" dirty="0">
                <a:solidFill>
                  <a:srgbClr val="00A86A"/>
                </a:solidFill>
                <a:latin typeface="Calibri" pitchFamily="34" charset="0"/>
                <a:ea typeface="Calibri" pitchFamily="34" charset="-122"/>
                <a:cs typeface="Calibri" pitchFamily="34" charset="-120"/>
              </a:rPr>
              <a:t>Ce que c’est</a:t>
            </a:r>
            <a:endParaRPr lang="en-US" sz="1400" dirty="0"/>
          </a:p>
        </p:txBody>
      </p:sp>
      <p:sp>
        <p:nvSpPr>
          <p:cNvPr id="23" name="Shape 19"/>
          <p:cNvSpPr/>
          <p:nvPr/>
        </p:nvSpPr>
        <p:spPr>
          <a:xfrm>
            <a:off x="457200" y="2670048"/>
            <a:ext cx="4023360" cy="548640"/>
          </a:xfrm>
          <a:prstGeom prst="roundRect">
            <a:avLst>
              <a:gd name="adj" fmla="val 13333"/>
            </a:avLst>
          </a:prstGeom>
          <a:solidFill>
            <a:srgbClr val="F4F7F5"/>
          </a:solidFill>
          <a:ln w="9525">
            <a:solidFill>
              <a:srgbClr val="D5DED9"/>
            </a:solidFill>
            <a:prstDash val="solid"/>
          </a:ln>
        </p:spPr>
      </p:sp>
      <p:sp>
        <p:nvSpPr>
          <p:cNvPr id="24" name="Shape 20"/>
          <p:cNvSpPr/>
          <p:nvPr/>
        </p:nvSpPr>
        <p:spPr>
          <a:xfrm>
            <a:off x="548640" y="2779776"/>
            <a:ext cx="329184" cy="329184"/>
          </a:xfrm>
          <a:prstGeom prst="ellipse">
            <a:avLst/>
          </a:prstGeom>
          <a:solidFill>
            <a:srgbClr val="00A86A">
              <a:alpha val="22000"/>
            </a:srgbClr>
          </a:solidFill>
          <a:ln w="12700">
            <a:solidFill>
              <a:srgbClr val="00A86A">
                <a:alpha val="0"/>
              </a:srgbClr>
            </a:solidFill>
            <a:prstDash val="solid"/>
          </a:ln>
        </p:spPr>
      </p:sp>
      <p:pic>
        <p:nvPicPr>
          <p:cNvPr id="25" name="Image 1" descr="preencoded.png">    </p:cNvPr>
          <p:cNvPicPr>
            <a:picLocks noChangeAspect="1"/>
          </p:cNvPicPr>
          <p:nvPr/>
        </p:nvPicPr>
        <p:blipFill>
          <a:blip r:embed="rId2"/>
          <a:stretch>
            <a:fillRect/>
          </a:stretch>
        </p:blipFill>
        <p:spPr>
          <a:xfrm>
            <a:off x="634228" y="2865364"/>
            <a:ext cx="158008" cy="158008"/>
          </a:xfrm>
          <a:prstGeom prst="rect">
            <a:avLst/>
          </a:prstGeom>
        </p:spPr>
      </p:pic>
      <p:sp>
        <p:nvSpPr>
          <p:cNvPr id="26" name="Text 21"/>
          <p:cNvSpPr txBox="1"/>
          <p:nvPr/>
        </p:nvSpPr>
        <p:spPr>
          <a:xfrm>
            <a:off x="987552" y="2724912"/>
            <a:ext cx="34290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Une mesure physique</a:t>
            </a:r>
            <a:endParaRPr lang="en-US" sz="1050" dirty="0"/>
          </a:p>
        </p:txBody>
      </p:sp>
      <p:sp>
        <p:nvSpPr>
          <p:cNvPr id="27" name="Text 22"/>
          <p:cNvSpPr txBox="1"/>
          <p:nvPr/>
        </p:nvSpPr>
        <p:spPr>
          <a:xfrm>
            <a:off x="987552" y="2935224"/>
            <a:ext cx="3456432" cy="256032"/>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Radiance en nW·cm⁻²·sr⁻¹ pour les capteurs étalonnés (VIIRS).</a:t>
            </a:r>
            <a:endParaRPr lang="en-US" sz="900" dirty="0"/>
          </a:p>
        </p:txBody>
      </p:sp>
      <p:sp>
        <p:nvSpPr>
          <p:cNvPr id="28" name="Shape 23"/>
          <p:cNvSpPr/>
          <p:nvPr/>
        </p:nvSpPr>
        <p:spPr>
          <a:xfrm>
            <a:off x="457200" y="3310128"/>
            <a:ext cx="4023360" cy="548640"/>
          </a:xfrm>
          <a:prstGeom prst="roundRect">
            <a:avLst>
              <a:gd name="adj" fmla="val 13333"/>
            </a:avLst>
          </a:prstGeom>
          <a:solidFill>
            <a:srgbClr val="F4F7F5"/>
          </a:solidFill>
          <a:ln w="9525">
            <a:solidFill>
              <a:srgbClr val="D5DED9"/>
            </a:solidFill>
            <a:prstDash val="solid"/>
          </a:ln>
        </p:spPr>
      </p:sp>
      <p:sp>
        <p:nvSpPr>
          <p:cNvPr id="29" name="Shape 24"/>
          <p:cNvSpPr/>
          <p:nvPr/>
        </p:nvSpPr>
        <p:spPr>
          <a:xfrm>
            <a:off x="548640" y="3419856"/>
            <a:ext cx="329184" cy="329184"/>
          </a:xfrm>
          <a:prstGeom prst="ellipse">
            <a:avLst/>
          </a:prstGeom>
          <a:solidFill>
            <a:srgbClr val="00A86A">
              <a:alpha val="22000"/>
            </a:srgbClr>
          </a:solidFill>
          <a:ln w="12700">
            <a:solidFill>
              <a:srgbClr val="00A86A">
                <a:alpha val="0"/>
              </a:srgbClr>
            </a:solidFill>
            <a:prstDash val="solid"/>
          </a:ln>
        </p:spPr>
      </p:sp>
      <p:pic>
        <p:nvPicPr>
          <p:cNvPr id="30" name="Image 2" descr="preencoded.png">    </p:cNvPr>
          <p:cNvPicPr>
            <a:picLocks noChangeAspect="1"/>
          </p:cNvPicPr>
          <p:nvPr/>
        </p:nvPicPr>
        <p:blipFill>
          <a:blip r:embed="rId3"/>
          <a:stretch>
            <a:fillRect/>
          </a:stretch>
        </p:blipFill>
        <p:spPr>
          <a:xfrm>
            <a:off x="634228" y="3505444"/>
            <a:ext cx="158008" cy="158008"/>
          </a:xfrm>
          <a:prstGeom prst="rect">
            <a:avLst/>
          </a:prstGeom>
        </p:spPr>
      </p:pic>
      <p:sp>
        <p:nvSpPr>
          <p:cNvPr id="31" name="Text 25"/>
          <p:cNvSpPr txBox="1"/>
          <p:nvPr/>
        </p:nvSpPr>
        <p:spPr>
          <a:xfrm>
            <a:off x="987552" y="3364992"/>
            <a:ext cx="34290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Une grille cohérente</a:t>
            </a:r>
            <a:endParaRPr lang="en-US" sz="1050" dirty="0"/>
          </a:p>
        </p:txBody>
      </p:sp>
      <p:sp>
        <p:nvSpPr>
          <p:cNvPr id="32" name="Text 26"/>
          <p:cNvSpPr txBox="1"/>
          <p:nvPr/>
        </p:nvSpPr>
        <p:spPr>
          <a:xfrm>
            <a:off x="987552" y="3575304"/>
            <a:ext cx="3456432" cy="256032"/>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Même méthode dans tous les pays — au Rwanda comme au Nigeria.</a:t>
            </a:r>
            <a:endParaRPr lang="en-US" sz="900" dirty="0"/>
          </a:p>
        </p:txBody>
      </p:sp>
      <p:sp>
        <p:nvSpPr>
          <p:cNvPr id="33" name="Shape 27"/>
          <p:cNvSpPr/>
          <p:nvPr/>
        </p:nvSpPr>
        <p:spPr>
          <a:xfrm>
            <a:off x="457200" y="3950208"/>
            <a:ext cx="4023360" cy="548640"/>
          </a:xfrm>
          <a:prstGeom prst="roundRect">
            <a:avLst>
              <a:gd name="adj" fmla="val 13333"/>
            </a:avLst>
          </a:prstGeom>
          <a:solidFill>
            <a:srgbClr val="F4F7F5"/>
          </a:solidFill>
          <a:ln w="9525">
            <a:solidFill>
              <a:srgbClr val="D5DED9"/>
            </a:solidFill>
            <a:prstDash val="solid"/>
          </a:ln>
        </p:spPr>
      </p:sp>
      <p:sp>
        <p:nvSpPr>
          <p:cNvPr id="34" name="Shape 28"/>
          <p:cNvSpPr/>
          <p:nvPr/>
        </p:nvSpPr>
        <p:spPr>
          <a:xfrm>
            <a:off x="548640" y="4059936"/>
            <a:ext cx="329184" cy="329184"/>
          </a:xfrm>
          <a:prstGeom prst="ellipse">
            <a:avLst/>
          </a:prstGeom>
          <a:solidFill>
            <a:srgbClr val="00A86A">
              <a:alpha val="22000"/>
            </a:srgbClr>
          </a:solidFill>
          <a:ln w="12700">
            <a:solidFill>
              <a:srgbClr val="00A86A">
                <a:alpha val="0"/>
              </a:srgbClr>
            </a:solidFill>
            <a:prstDash val="solid"/>
          </a:ln>
        </p:spPr>
      </p:sp>
      <p:pic>
        <p:nvPicPr>
          <p:cNvPr id="35" name="Image 3" descr="preencoded.png">    </p:cNvPr>
          <p:cNvPicPr>
            <a:picLocks noChangeAspect="1"/>
          </p:cNvPicPr>
          <p:nvPr/>
        </p:nvPicPr>
        <p:blipFill>
          <a:blip r:embed="rId4"/>
          <a:stretch>
            <a:fillRect/>
          </a:stretch>
        </p:blipFill>
        <p:spPr>
          <a:xfrm>
            <a:off x="634228" y="4145524"/>
            <a:ext cx="158008" cy="158008"/>
          </a:xfrm>
          <a:prstGeom prst="rect">
            <a:avLst/>
          </a:prstGeom>
        </p:spPr>
      </p:pic>
      <p:sp>
        <p:nvSpPr>
          <p:cNvPr id="36" name="Text 29"/>
          <p:cNvSpPr txBox="1"/>
          <p:nvPr/>
        </p:nvSpPr>
        <p:spPr>
          <a:xfrm>
            <a:off x="987552" y="4005072"/>
            <a:ext cx="34290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Un enregistrement quasi temps réel</a:t>
            </a:r>
            <a:endParaRPr lang="en-US" sz="1050" dirty="0"/>
          </a:p>
        </p:txBody>
      </p:sp>
      <p:sp>
        <p:nvSpPr>
          <p:cNvPr id="37" name="Text 30"/>
          <p:cNvSpPr txBox="1"/>
          <p:nvPr/>
        </p:nvSpPr>
        <p:spPr>
          <a:xfrm>
            <a:off x="987552" y="4215384"/>
            <a:ext cx="3456432" cy="256032"/>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Quotidien depuis 2012 ; composites mensuels et annuels gratuits.</a:t>
            </a:r>
            <a:endParaRPr lang="en-US" sz="900" dirty="0"/>
          </a:p>
        </p:txBody>
      </p:sp>
      <p:sp>
        <p:nvSpPr>
          <p:cNvPr id="38" name="Text 31"/>
          <p:cNvSpPr txBox="1"/>
          <p:nvPr/>
        </p:nvSpPr>
        <p:spPr>
          <a:xfrm>
            <a:off x="4663440" y="2331720"/>
            <a:ext cx="4023360" cy="274320"/>
          </a:xfrm>
          <a:prstGeom prst="rect">
            <a:avLst/>
          </a:prstGeom>
          <a:noFill/>
          <a:ln/>
        </p:spPr>
        <p:txBody>
          <a:bodyPr wrap="square" lIns="0" tIns="0" rIns="0" bIns="0" rtlCol="0" anchor="t"/>
          <a:lstStyle/>
          <a:p>
            <a:pPr indent="0" marL="0">
              <a:buNone/>
            </a:pPr>
            <a:r>
              <a:rPr lang="en-US" sz="1400" b="1" dirty="0">
                <a:solidFill>
                  <a:srgbClr val="B83B2E"/>
                </a:solidFill>
                <a:latin typeface="Calibri" pitchFamily="34" charset="0"/>
                <a:ea typeface="Calibri" pitchFamily="34" charset="-122"/>
                <a:cs typeface="Calibri" pitchFamily="34" charset="-120"/>
              </a:rPr>
              <a:t>Ce que ce n’est pas</a:t>
            </a:r>
            <a:endParaRPr lang="en-US" sz="1400" dirty="0"/>
          </a:p>
        </p:txBody>
      </p:sp>
      <p:sp>
        <p:nvSpPr>
          <p:cNvPr id="39" name="Shape 32"/>
          <p:cNvSpPr/>
          <p:nvPr/>
        </p:nvSpPr>
        <p:spPr>
          <a:xfrm>
            <a:off x="4663440" y="2670048"/>
            <a:ext cx="4023360" cy="548640"/>
          </a:xfrm>
          <a:prstGeom prst="roundRect">
            <a:avLst>
              <a:gd name="adj" fmla="val 13333"/>
            </a:avLst>
          </a:prstGeom>
          <a:solidFill>
            <a:srgbClr val="F4F7F5"/>
          </a:solidFill>
          <a:ln w="9525">
            <a:solidFill>
              <a:srgbClr val="D5DED9"/>
            </a:solidFill>
            <a:prstDash val="solid"/>
          </a:ln>
        </p:spPr>
      </p:sp>
      <p:sp>
        <p:nvSpPr>
          <p:cNvPr id="40" name="Shape 33"/>
          <p:cNvSpPr/>
          <p:nvPr/>
        </p:nvSpPr>
        <p:spPr>
          <a:xfrm>
            <a:off x="4754880" y="2779776"/>
            <a:ext cx="329184" cy="329184"/>
          </a:xfrm>
          <a:prstGeom prst="ellipse">
            <a:avLst/>
          </a:prstGeom>
          <a:solidFill>
            <a:srgbClr val="B83B2E">
              <a:alpha val="22000"/>
            </a:srgbClr>
          </a:solidFill>
          <a:ln w="12700">
            <a:solidFill>
              <a:srgbClr val="B83B2E">
                <a:alpha val="0"/>
              </a:srgbClr>
            </a:solidFill>
            <a:prstDash val="solid"/>
          </a:ln>
        </p:spPr>
      </p:sp>
      <p:pic>
        <p:nvPicPr>
          <p:cNvPr id="41" name="Image 4" descr="preencoded.png">    </p:cNvPr>
          <p:cNvPicPr>
            <a:picLocks noChangeAspect="1"/>
          </p:cNvPicPr>
          <p:nvPr/>
        </p:nvPicPr>
        <p:blipFill>
          <a:blip r:embed="rId5"/>
          <a:stretch>
            <a:fillRect/>
          </a:stretch>
        </p:blipFill>
        <p:spPr>
          <a:xfrm>
            <a:off x="4840468" y="2865364"/>
            <a:ext cx="158008" cy="158008"/>
          </a:xfrm>
          <a:prstGeom prst="rect">
            <a:avLst/>
          </a:prstGeom>
        </p:spPr>
      </p:pic>
      <p:sp>
        <p:nvSpPr>
          <p:cNvPr id="42" name="Text 34"/>
          <p:cNvSpPr txBox="1"/>
          <p:nvPr/>
        </p:nvSpPr>
        <p:spPr>
          <a:xfrm>
            <a:off x="5193792" y="2724912"/>
            <a:ext cx="34290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Une photographie</a:t>
            </a:r>
            <a:endParaRPr lang="en-US" sz="1050" dirty="0"/>
          </a:p>
        </p:txBody>
      </p:sp>
      <p:sp>
        <p:nvSpPr>
          <p:cNvPr id="43" name="Text 35"/>
          <p:cNvSpPr txBox="1"/>
          <p:nvPr/>
        </p:nvSpPr>
        <p:spPr>
          <a:xfrm>
            <a:off x="5193792" y="2935224"/>
            <a:ext cx="3456432" cy="256032"/>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La « Terre la nuit » est un composite statistique de nombreuses nuits sans nuages.</a:t>
            </a:r>
            <a:endParaRPr lang="en-US" sz="900" dirty="0"/>
          </a:p>
        </p:txBody>
      </p:sp>
      <p:sp>
        <p:nvSpPr>
          <p:cNvPr id="44" name="Shape 36"/>
          <p:cNvSpPr/>
          <p:nvPr/>
        </p:nvSpPr>
        <p:spPr>
          <a:xfrm>
            <a:off x="4663440" y="3310128"/>
            <a:ext cx="4023360" cy="548640"/>
          </a:xfrm>
          <a:prstGeom prst="roundRect">
            <a:avLst>
              <a:gd name="adj" fmla="val 13333"/>
            </a:avLst>
          </a:prstGeom>
          <a:solidFill>
            <a:srgbClr val="F4F7F5"/>
          </a:solidFill>
          <a:ln w="9525">
            <a:solidFill>
              <a:srgbClr val="D5DED9"/>
            </a:solidFill>
            <a:prstDash val="solid"/>
          </a:ln>
        </p:spPr>
      </p:sp>
      <p:sp>
        <p:nvSpPr>
          <p:cNvPr id="45" name="Shape 37"/>
          <p:cNvSpPr/>
          <p:nvPr/>
        </p:nvSpPr>
        <p:spPr>
          <a:xfrm>
            <a:off x="4754880" y="3419856"/>
            <a:ext cx="329184" cy="329184"/>
          </a:xfrm>
          <a:prstGeom prst="ellipse">
            <a:avLst/>
          </a:prstGeom>
          <a:solidFill>
            <a:srgbClr val="B83B2E">
              <a:alpha val="22000"/>
            </a:srgbClr>
          </a:solidFill>
          <a:ln w="12700">
            <a:solidFill>
              <a:srgbClr val="B83B2E">
                <a:alpha val="0"/>
              </a:srgbClr>
            </a:solidFill>
            <a:prstDash val="solid"/>
          </a:ln>
        </p:spPr>
      </p:sp>
      <p:pic>
        <p:nvPicPr>
          <p:cNvPr id="46" name="Image 5" descr="preencoded.png">    </p:cNvPr>
          <p:cNvPicPr>
            <a:picLocks noChangeAspect="1"/>
          </p:cNvPicPr>
          <p:nvPr/>
        </p:nvPicPr>
        <p:blipFill>
          <a:blip r:embed="rId6"/>
          <a:stretch>
            <a:fillRect/>
          </a:stretch>
        </p:blipFill>
        <p:spPr>
          <a:xfrm>
            <a:off x="4840468" y="3505444"/>
            <a:ext cx="158008" cy="158008"/>
          </a:xfrm>
          <a:prstGeom prst="rect">
            <a:avLst/>
          </a:prstGeom>
        </p:spPr>
      </p:pic>
      <p:sp>
        <p:nvSpPr>
          <p:cNvPr id="47" name="Text 38"/>
          <p:cNvSpPr txBox="1"/>
          <p:nvPr/>
        </p:nvSpPr>
        <p:spPr>
          <a:xfrm>
            <a:off x="5193792" y="3364992"/>
            <a:ext cx="34290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Une mesure directe de population ou de revenu</a:t>
            </a:r>
            <a:endParaRPr lang="en-US" sz="1050" dirty="0"/>
          </a:p>
        </p:txBody>
      </p:sp>
      <p:sp>
        <p:nvSpPr>
          <p:cNvPr id="48" name="Text 39"/>
          <p:cNvSpPr txBox="1"/>
          <p:nvPr/>
        </p:nvSpPr>
        <p:spPr>
          <a:xfrm>
            <a:off x="5193792" y="3575304"/>
            <a:ext cx="3456432" cy="256032"/>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Ce sont des inférences — chacune doit être justifiée.</a:t>
            </a:r>
            <a:endParaRPr lang="en-US" sz="900" dirty="0"/>
          </a:p>
        </p:txBody>
      </p:sp>
      <p:sp>
        <p:nvSpPr>
          <p:cNvPr id="49" name="Shape 40"/>
          <p:cNvSpPr/>
          <p:nvPr/>
        </p:nvSpPr>
        <p:spPr>
          <a:xfrm>
            <a:off x="4663440" y="3950208"/>
            <a:ext cx="4023360" cy="548640"/>
          </a:xfrm>
          <a:prstGeom prst="roundRect">
            <a:avLst>
              <a:gd name="adj" fmla="val 13333"/>
            </a:avLst>
          </a:prstGeom>
          <a:solidFill>
            <a:srgbClr val="F4F7F5"/>
          </a:solidFill>
          <a:ln w="9525">
            <a:solidFill>
              <a:srgbClr val="D5DED9"/>
            </a:solidFill>
            <a:prstDash val="solid"/>
          </a:ln>
        </p:spPr>
      </p:sp>
      <p:sp>
        <p:nvSpPr>
          <p:cNvPr id="50" name="Shape 41"/>
          <p:cNvSpPr/>
          <p:nvPr/>
        </p:nvSpPr>
        <p:spPr>
          <a:xfrm>
            <a:off x="4754880" y="4059936"/>
            <a:ext cx="329184" cy="329184"/>
          </a:xfrm>
          <a:prstGeom prst="ellipse">
            <a:avLst/>
          </a:prstGeom>
          <a:solidFill>
            <a:srgbClr val="B83B2E">
              <a:alpha val="22000"/>
            </a:srgbClr>
          </a:solidFill>
          <a:ln w="12700">
            <a:solidFill>
              <a:srgbClr val="B83B2E">
                <a:alpha val="0"/>
              </a:srgbClr>
            </a:solidFill>
            <a:prstDash val="solid"/>
          </a:ln>
        </p:spPr>
      </p:sp>
      <p:pic>
        <p:nvPicPr>
          <p:cNvPr id="51" name="Image 6" descr="preencoded.png">    </p:cNvPr>
          <p:cNvPicPr>
            <a:picLocks noChangeAspect="1"/>
          </p:cNvPicPr>
          <p:nvPr/>
        </p:nvPicPr>
        <p:blipFill>
          <a:blip r:embed="rId7"/>
          <a:stretch>
            <a:fillRect/>
          </a:stretch>
        </p:blipFill>
        <p:spPr>
          <a:xfrm>
            <a:off x="4840468" y="4145524"/>
            <a:ext cx="158008" cy="158008"/>
          </a:xfrm>
          <a:prstGeom prst="rect">
            <a:avLst/>
          </a:prstGeom>
        </p:spPr>
      </p:pic>
      <p:sp>
        <p:nvSpPr>
          <p:cNvPr id="52" name="Text 42"/>
          <p:cNvSpPr txBox="1"/>
          <p:nvPr/>
        </p:nvSpPr>
        <p:spPr>
          <a:xfrm>
            <a:off x="5193792" y="4005072"/>
            <a:ext cx="34290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Un relevé complet de l’éclairage</a:t>
            </a:r>
            <a:endParaRPr lang="en-US" sz="1050" dirty="0"/>
          </a:p>
        </p:txBody>
      </p:sp>
      <p:sp>
        <p:nvSpPr>
          <p:cNvPr id="53" name="Text 43"/>
          <p:cNvSpPr txBox="1"/>
          <p:nvPr/>
        </p:nvSpPr>
        <p:spPr>
          <a:xfrm>
            <a:off x="5193792" y="4215384"/>
            <a:ext cx="3456432" cy="256032"/>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La lumière intérieure, occultée ou latérale n’atteint pas le capteur.</a:t>
            </a:r>
            <a:endParaRPr lang="en-US" sz="9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FONDEMENTS · LA CHAÎNE D’INFÉRENCE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De l’électricité au pixel : cinq maillons</a:t>
            </a:r>
            <a:endParaRPr lang="en-US" sz="2800" dirty="0"/>
          </a:p>
        </p:txBody>
      </p:sp>
      <p:sp>
        <p:nvSpPr>
          <p:cNvPr id="8" name="Shape 6"/>
          <p:cNvSpPr/>
          <p:nvPr/>
        </p:nvSpPr>
        <p:spPr>
          <a:xfrm>
            <a:off x="7635240" y="301752"/>
            <a:ext cx="109728" cy="109728"/>
          </a:xfrm>
          <a:prstGeom prst="ellipse">
            <a:avLst/>
          </a:prstGeom>
          <a:solidFill>
            <a:srgbClr val="00A86A"/>
          </a:solidFill>
          <a:ln w="12700">
            <a:solidFill>
              <a:srgbClr val="00A86A"/>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08</a:t>
            </a:r>
            <a:endParaRPr lang="en-US" sz="850" dirty="0"/>
          </a:p>
        </p:txBody>
      </p:sp>
      <p:sp>
        <p:nvSpPr>
          <p:cNvPr id="17" name="Shape 14"/>
          <p:cNvSpPr/>
          <p:nvPr/>
        </p:nvSpPr>
        <p:spPr>
          <a:xfrm>
            <a:off x="457200" y="1325880"/>
            <a:ext cx="1481328" cy="1828800"/>
          </a:xfrm>
          <a:prstGeom prst="roundRect">
            <a:avLst>
              <a:gd name="adj" fmla="val 4938"/>
            </a:avLst>
          </a:prstGeom>
          <a:solidFill>
            <a:srgbClr val="FFFFFF"/>
          </a:solidFill>
          <a:ln w="9525">
            <a:solidFill>
              <a:srgbClr val="00A86A"/>
            </a:solidFill>
            <a:prstDash val="solid"/>
          </a:ln>
        </p:spPr>
      </p:sp>
      <p:sp>
        <p:nvSpPr>
          <p:cNvPr id="18" name="Shape 15"/>
          <p:cNvSpPr/>
          <p:nvPr/>
        </p:nvSpPr>
        <p:spPr>
          <a:xfrm>
            <a:off x="566928" y="1435608"/>
            <a:ext cx="292608" cy="292608"/>
          </a:xfrm>
          <a:prstGeom prst="ellipse">
            <a:avLst/>
          </a:prstGeom>
          <a:solidFill>
            <a:srgbClr val="00704A"/>
          </a:solidFill>
          <a:ln w="12700">
            <a:solidFill>
              <a:srgbClr val="00704A"/>
            </a:solidFill>
            <a:prstDash val="solid"/>
          </a:ln>
        </p:spPr>
      </p:sp>
      <p:sp>
        <p:nvSpPr>
          <p:cNvPr id="19" name="Text 16"/>
          <p:cNvSpPr txBox="1"/>
          <p:nvPr/>
        </p:nvSpPr>
        <p:spPr>
          <a:xfrm>
            <a:off x="566928" y="14356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Shape 17"/>
          <p:cNvSpPr/>
          <p:nvPr/>
        </p:nvSpPr>
        <p:spPr>
          <a:xfrm>
            <a:off x="1481328" y="1417320"/>
            <a:ext cx="347472" cy="347472"/>
          </a:xfrm>
          <a:prstGeom prst="ellipse">
            <a:avLst/>
          </a:prstGeom>
          <a:solidFill>
            <a:srgbClr val="00A86A">
              <a:alpha val="22000"/>
            </a:srgbClr>
          </a:solidFill>
          <a:ln w="12700">
            <a:solidFill>
              <a:srgbClr val="00A86A">
                <a:alpha val="0"/>
              </a:srgbClr>
            </a:solidFill>
            <a:prstDash val="solid"/>
          </a:ln>
        </p:spPr>
      </p:sp>
      <p:pic>
        <p:nvPicPr>
          <p:cNvPr id="21" name="Image 0" descr="preencoded.png">    </p:cNvPr>
          <p:cNvPicPr>
            <a:picLocks noChangeAspect="1"/>
          </p:cNvPicPr>
          <p:nvPr/>
        </p:nvPicPr>
        <p:blipFill>
          <a:blip r:embed="rId1"/>
          <a:stretch>
            <a:fillRect/>
          </a:stretch>
        </p:blipFill>
        <p:spPr>
          <a:xfrm>
            <a:off x="1571671" y="1507663"/>
            <a:ext cx="166787" cy="166787"/>
          </a:xfrm>
          <a:prstGeom prst="rect">
            <a:avLst/>
          </a:prstGeom>
        </p:spPr>
      </p:pic>
      <p:sp>
        <p:nvSpPr>
          <p:cNvPr id="22" name="Text 18"/>
          <p:cNvSpPr txBox="1"/>
          <p:nvPr/>
        </p:nvSpPr>
        <p:spPr>
          <a:xfrm>
            <a:off x="566928" y="1828800"/>
            <a:ext cx="1261872" cy="41148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Énergie et infrastructure</a:t>
            </a:r>
            <a:endParaRPr lang="en-US" sz="1150" dirty="0"/>
          </a:p>
        </p:txBody>
      </p:sp>
      <p:sp>
        <p:nvSpPr>
          <p:cNvPr id="23" name="Text 19"/>
          <p:cNvSpPr txBox="1"/>
          <p:nvPr/>
        </p:nvSpPr>
        <p:spPr>
          <a:xfrm>
            <a:off x="566928" y="2258568"/>
            <a:ext cx="1280160" cy="84124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Un réseau, un groupe électrogène ou du carburant existe et fonctionne.</a:t>
            </a:r>
            <a:endParaRPr lang="en-US" sz="900" dirty="0"/>
          </a:p>
        </p:txBody>
      </p:sp>
      <p:sp>
        <p:nvSpPr>
          <p:cNvPr id="24" name="Shape 20"/>
          <p:cNvSpPr/>
          <p:nvPr/>
        </p:nvSpPr>
        <p:spPr>
          <a:xfrm>
            <a:off x="1956816" y="2240280"/>
            <a:ext cx="164592" cy="91"/>
          </a:xfrm>
          <a:prstGeom prst="line">
            <a:avLst/>
          </a:prstGeom>
          <a:noFill/>
          <a:ln w="15875">
            <a:solidFill>
              <a:srgbClr val="5E6964"/>
            </a:solidFill>
            <a:prstDash val="solid"/>
            <a:tailEnd type="triangle"/>
          </a:ln>
        </p:spPr>
      </p:sp>
      <p:sp>
        <p:nvSpPr>
          <p:cNvPr id="25" name="Shape 21"/>
          <p:cNvSpPr/>
          <p:nvPr/>
        </p:nvSpPr>
        <p:spPr>
          <a:xfrm>
            <a:off x="2139696" y="1325880"/>
            <a:ext cx="1481328" cy="1828800"/>
          </a:xfrm>
          <a:prstGeom prst="roundRect">
            <a:avLst>
              <a:gd name="adj" fmla="val 4938"/>
            </a:avLst>
          </a:prstGeom>
          <a:solidFill>
            <a:srgbClr val="FFFFFF"/>
          </a:solidFill>
          <a:ln w="9525">
            <a:solidFill>
              <a:srgbClr val="00704A"/>
            </a:solidFill>
            <a:prstDash val="solid"/>
          </a:ln>
        </p:spPr>
      </p:sp>
      <p:sp>
        <p:nvSpPr>
          <p:cNvPr id="26" name="Shape 22"/>
          <p:cNvSpPr/>
          <p:nvPr/>
        </p:nvSpPr>
        <p:spPr>
          <a:xfrm>
            <a:off x="2249424" y="1435608"/>
            <a:ext cx="292608" cy="292608"/>
          </a:xfrm>
          <a:prstGeom prst="ellipse">
            <a:avLst/>
          </a:prstGeom>
          <a:solidFill>
            <a:srgbClr val="00704A"/>
          </a:solidFill>
          <a:ln w="12700">
            <a:solidFill>
              <a:srgbClr val="00704A"/>
            </a:solidFill>
            <a:prstDash val="solid"/>
          </a:ln>
        </p:spPr>
      </p:sp>
      <p:sp>
        <p:nvSpPr>
          <p:cNvPr id="27" name="Text 23"/>
          <p:cNvSpPr txBox="1"/>
          <p:nvPr/>
        </p:nvSpPr>
        <p:spPr>
          <a:xfrm>
            <a:off x="2249424" y="14356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Shape 24"/>
          <p:cNvSpPr/>
          <p:nvPr/>
        </p:nvSpPr>
        <p:spPr>
          <a:xfrm>
            <a:off x="3163824" y="1417320"/>
            <a:ext cx="347472" cy="347472"/>
          </a:xfrm>
          <a:prstGeom prst="ellipse">
            <a:avLst/>
          </a:prstGeom>
          <a:solidFill>
            <a:srgbClr val="00A86A">
              <a:alpha val="22000"/>
            </a:srgbClr>
          </a:solidFill>
          <a:ln w="12700">
            <a:solidFill>
              <a:srgbClr val="00A86A">
                <a:alpha val="0"/>
              </a:srgbClr>
            </a:solidFill>
            <a:prstDash val="solid"/>
          </a:ln>
        </p:spPr>
      </p:sp>
      <p:pic>
        <p:nvPicPr>
          <p:cNvPr id="29" name="Image 1" descr="preencoded.png">    </p:cNvPr>
          <p:cNvPicPr>
            <a:picLocks noChangeAspect="1"/>
          </p:cNvPicPr>
          <p:nvPr/>
        </p:nvPicPr>
        <p:blipFill>
          <a:blip r:embed="rId2"/>
          <a:stretch>
            <a:fillRect/>
          </a:stretch>
        </p:blipFill>
        <p:spPr>
          <a:xfrm>
            <a:off x="3254167" y="1507663"/>
            <a:ext cx="166787" cy="166787"/>
          </a:xfrm>
          <a:prstGeom prst="rect">
            <a:avLst/>
          </a:prstGeom>
        </p:spPr>
      </p:pic>
      <p:sp>
        <p:nvSpPr>
          <p:cNvPr id="30" name="Text 25"/>
          <p:cNvSpPr txBox="1"/>
          <p:nvPr/>
        </p:nvSpPr>
        <p:spPr>
          <a:xfrm>
            <a:off x="2249424" y="1828800"/>
            <a:ext cx="1261872" cy="41148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Activité après la nuit tombée</a:t>
            </a:r>
            <a:endParaRPr lang="en-US" sz="1150" dirty="0"/>
          </a:p>
        </p:txBody>
      </p:sp>
      <p:sp>
        <p:nvSpPr>
          <p:cNvPr id="31" name="Text 26"/>
          <p:cNvSpPr txBox="1"/>
          <p:nvPr/>
        </p:nvSpPr>
        <p:spPr>
          <a:xfrm>
            <a:off x="2249424" y="2258568"/>
            <a:ext cx="1280160" cy="84124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L’énergie sert à éclairer : rues, maisons, marchés, industrie.</a:t>
            </a:r>
            <a:endParaRPr lang="en-US" sz="900" dirty="0"/>
          </a:p>
        </p:txBody>
      </p:sp>
      <p:sp>
        <p:nvSpPr>
          <p:cNvPr id="32" name="Shape 27"/>
          <p:cNvSpPr/>
          <p:nvPr/>
        </p:nvSpPr>
        <p:spPr>
          <a:xfrm>
            <a:off x="3639312" y="2240280"/>
            <a:ext cx="164592" cy="91"/>
          </a:xfrm>
          <a:prstGeom prst="line">
            <a:avLst/>
          </a:prstGeom>
          <a:noFill/>
          <a:ln w="15875">
            <a:solidFill>
              <a:srgbClr val="5E6964"/>
            </a:solidFill>
            <a:prstDash val="solid"/>
            <a:tailEnd type="triangle"/>
          </a:ln>
        </p:spPr>
      </p:sp>
      <p:sp>
        <p:nvSpPr>
          <p:cNvPr id="33" name="Shape 28"/>
          <p:cNvSpPr/>
          <p:nvPr/>
        </p:nvSpPr>
        <p:spPr>
          <a:xfrm>
            <a:off x="3822192" y="1325880"/>
            <a:ext cx="1481328" cy="1828800"/>
          </a:xfrm>
          <a:prstGeom prst="roundRect">
            <a:avLst>
              <a:gd name="adj" fmla="val 4938"/>
            </a:avLst>
          </a:prstGeom>
          <a:solidFill>
            <a:srgbClr val="FFFFFF"/>
          </a:solidFill>
          <a:ln w="9525">
            <a:solidFill>
              <a:srgbClr val="0E7C86"/>
            </a:solidFill>
            <a:prstDash val="solid"/>
          </a:ln>
        </p:spPr>
      </p:sp>
      <p:sp>
        <p:nvSpPr>
          <p:cNvPr id="34" name="Shape 29"/>
          <p:cNvSpPr/>
          <p:nvPr/>
        </p:nvSpPr>
        <p:spPr>
          <a:xfrm>
            <a:off x="3931920" y="1435608"/>
            <a:ext cx="292608" cy="292608"/>
          </a:xfrm>
          <a:prstGeom prst="ellipse">
            <a:avLst/>
          </a:prstGeom>
          <a:solidFill>
            <a:srgbClr val="00704A"/>
          </a:solidFill>
          <a:ln w="12700">
            <a:solidFill>
              <a:srgbClr val="00704A"/>
            </a:solidFill>
            <a:prstDash val="solid"/>
          </a:ln>
        </p:spPr>
      </p:sp>
      <p:sp>
        <p:nvSpPr>
          <p:cNvPr id="35" name="Text 30"/>
          <p:cNvSpPr txBox="1"/>
          <p:nvPr/>
        </p:nvSpPr>
        <p:spPr>
          <a:xfrm>
            <a:off x="3931920" y="14356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6" name="Shape 31"/>
          <p:cNvSpPr/>
          <p:nvPr/>
        </p:nvSpPr>
        <p:spPr>
          <a:xfrm>
            <a:off x="4846320" y="1417320"/>
            <a:ext cx="347472" cy="347472"/>
          </a:xfrm>
          <a:prstGeom prst="ellipse">
            <a:avLst/>
          </a:prstGeom>
          <a:solidFill>
            <a:srgbClr val="00A86A">
              <a:alpha val="22000"/>
            </a:srgbClr>
          </a:solidFill>
          <a:ln w="12700">
            <a:solidFill>
              <a:srgbClr val="00A86A">
                <a:alpha val="0"/>
              </a:srgbClr>
            </a:solidFill>
            <a:prstDash val="solid"/>
          </a:ln>
        </p:spPr>
      </p:sp>
      <p:pic>
        <p:nvPicPr>
          <p:cNvPr id="37" name="Image 2" descr="preencoded.png">    </p:cNvPr>
          <p:cNvPicPr>
            <a:picLocks noChangeAspect="1"/>
          </p:cNvPicPr>
          <p:nvPr/>
        </p:nvPicPr>
        <p:blipFill>
          <a:blip r:embed="rId3"/>
          <a:stretch>
            <a:fillRect/>
          </a:stretch>
        </p:blipFill>
        <p:spPr>
          <a:xfrm>
            <a:off x="4936663" y="1507663"/>
            <a:ext cx="166787" cy="166787"/>
          </a:xfrm>
          <a:prstGeom prst="rect">
            <a:avLst/>
          </a:prstGeom>
        </p:spPr>
      </p:pic>
      <p:sp>
        <p:nvSpPr>
          <p:cNvPr id="38" name="Text 32"/>
          <p:cNvSpPr txBox="1"/>
          <p:nvPr/>
        </p:nvSpPr>
        <p:spPr>
          <a:xfrm>
            <a:off x="3931920" y="1828800"/>
            <a:ext cx="1261872" cy="41148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Émission vers le haut</a:t>
            </a:r>
            <a:endParaRPr lang="en-US" sz="1150" dirty="0"/>
          </a:p>
        </p:txBody>
      </p:sp>
      <p:sp>
        <p:nvSpPr>
          <p:cNvPr id="39" name="Text 33"/>
          <p:cNvSpPr txBox="1"/>
          <p:nvPr/>
        </p:nvSpPr>
        <p:spPr>
          <a:xfrm>
            <a:off x="3931920" y="2258568"/>
            <a:ext cx="1280160" cy="84124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Une partie de la lumière s’échappe vers le ciel au lieu d’être occultée.</a:t>
            </a:r>
            <a:endParaRPr lang="en-US" sz="900" dirty="0"/>
          </a:p>
        </p:txBody>
      </p:sp>
      <p:sp>
        <p:nvSpPr>
          <p:cNvPr id="40" name="Shape 34"/>
          <p:cNvSpPr/>
          <p:nvPr/>
        </p:nvSpPr>
        <p:spPr>
          <a:xfrm>
            <a:off x="5321808" y="2240280"/>
            <a:ext cx="164592" cy="91"/>
          </a:xfrm>
          <a:prstGeom prst="line">
            <a:avLst/>
          </a:prstGeom>
          <a:noFill/>
          <a:ln w="15875">
            <a:solidFill>
              <a:srgbClr val="5E6964"/>
            </a:solidFill>
            <a:prstDash val="solid"/>
            <a:tailEnd type="triangle"/>
          </a:ln>
        </p:spPr>
      </p:sp>
      <p:sp>
        <p:nvSpPr>
          <p:cNvPr id="41" name="Shape 35"/>
          <p:cNvSpPr/>
          <p:nvPr/>
        </p:nvSpPr>
        <p:spPr>
          <a:xfrm>
            <a:off x="5504688" y="1325880"/>
            <a:ext cx="1481328" cy="1828800"/>
          </a:xfrm>
          <a:prstGeom prst="roundRect">
            <a:avLst>
              <a:gd name="adj" fmla="val 4938"/>
            </a:avLst>
          </a:prstGeom>
          <a:solidFill>
            <a:srgbClr val="FFFFFF"/>
          </a:solidFill>
          <a:ln w="9525">
            <a:solidFill>
              <a:srgbClr val="0E7C86"/>
            </a:solidFill>
            <a:prstDash val="solid"/>
          </a:ln>
        </p:spPr>
      </p:sp>
      <p:sp>
        <p:nvSpPr>
          <p:cNvPr id="42" name="Shape 36"/>
          <p:cNvSpPr/>
          <p:nvPr/>
        </p:nvSpPr>
        <p:spPr>
          <a:xfrm>
            <a:off x="5614416" y="1435608"/>
            <a:ext cx="292608" cy="292608"/>
          </a:xfrm>
          <a:prstGeom prst="ellipse">
            <a:avLst/>
          </a:prstGeom>
          <a:solidFill>
            <a:srgbClr val="00704A"/>
          </a:solidFill>
          <a:ln w="12700">
            <a:solidFill>
              <a:srgbClr val="00704A"/>
            </a:solidFill>
            <a:prstDash val="solid"/>
          </a:ln>
        </p:spPr>
      </p:sp>
      <p:sp>
        <p:nvSpPr>
          <p:cNvPr id="43" name="Text 37"/>
          <p:cNvSpPr txBox="1"/>
          <p:nvPr/>
        </p:nvSpPr>
        <p:spPr>
          <a:xfrm>
            <a:off x="5614416" y="14356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4" name="Shape 38"/>
          <p:cNvSpPr/>
          <p:nvPr/>
        </p:nvSpPr>
        <p:spPr>
          <a:xfrm>
            <a:off x="6528816" y="1417320"/>
            <a:ext cx="347472" cy="347472"/>
          </a:xfrm>
          <a:prstGeom prst="ellipse">
            <a:avLst/>
          </a:prstGeom>
          <a:solidFill>
            <a:srgbClr val="00A86A">
              <a:alpha val="22000"/>
            </a:srgbClr>
          </a:solidFill>
          <a:ln w="12700">
            <a:solidFill>
              <a:srgbClr val="00A86A">
                <a:alpha val="0"/>
              </a:srgbClr>
            </a:solidFill>
            <a:prstDash val="solid"/>
          </a:ln>
        </p:spPr>
      </p:sp>
      <p:pic>
        <p:nvPicPr>
          <p:cNvPr id="45" name="Image 3" descr="preencoded.png">    </p:cNvPr>
          <p:cNvPicPr>
            <a:picLocks noChangeAspect="1"/>
          </p:cNvPicPr>
          <p:nvPr/>
        </p:nvPicPr>
        <p:blipFill>
          <a:blip r:embed="rId4"/>
          <a:stretch>
            <a:fillRect/>
          </a:stretch>
        </p:blipFill>
        <p:spPr>
          <a:xfrm>
            <a:off x="6619159" y="1507663"/>
            <a:ext cx="166787" cy="166787"/>
          </a:xfrm>
          <a:prstGeom prst="rect">
            <a:avLst/>
          </a:prstGeom>
        </p:spPr>
      </p:pic>
      <p:sp>
        <p:nvSpPr>
          <p:cNvPr id="46" name="Text 39"/>
          <p:cNvSpPr txBox="1"/>
          <p:nvPr/>
        </p:nvSpPr>
        <p:spPr>
          <a:xfrm>
            <a:off x="5614416" y="1828800"/>
            <a:ext cx="1261872" cy="41148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Transfert atmosphérique</a:t>
            </a:r>
            <a:endParaRPr lang="en-US" sz="1150" dirty="0"/>
          </a:p>
        </p:txBody>
      </p:sp>
      <p:sp>
        <p:nvSpPr>
          <p:cNvPr id="47" name="Text 40"/>
          <p:cNvSpPr txBox="1"/>
          <p:nvPr/>
        </p:nvSpPr>
        <p:spPr>
          <a:xfrm>
            <a:off x="5614416" y="2258568"/>
            <a:ext cx="1280160" cy="84124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Les photons traversent l’atmosphère, atténués par aérosols, vapeur et nuages.</a:t>
            </a:r>
            <a:endParaRPr lang="en-US" sz="900" dirty="0"/>
          </a:p>
        </p:txBody>
      </p:sp>
      <p:sp>
        <p:nvSpPr>
          <p:cNvPr id="48" name="Shape 41"/>
          <p:cNvSpPr/>
          <p:nvPr/>
        </p:nvSpPr>
        <p:spPr>
          <a:xfrm>
            <a:off x="7004304" y="2240280"/>
            <a:ext cx="164592" cy="91"/>
          </a:xfrm>
          <a:prstGeom prst="line">
            <a:avLst/>
          </a:prstGeom>
          <a:noFill/>
          <a:ln w="15875">
            <a:solidFill>
              <a:srgbClr val="5E6964"/>
            </a:solidFill>
            <a:prstDash val="solid"/>
            <a:tailEnd type="triangle"/>
          </a:ln>
        </p:spPr>
      </p:sp>
      <p:sp>
        <p:nvSpPr>
          <p:cNvPr id="49" name="Shape 42"/>
          <p:cNvSpPr/>
          <p:nvPr/>
        </p:nvSpPr>
        <p:spPr>
          <a:xfrm>
            <a:off x="7187184" y="1325880"/>
            <a:ext cx="1481328" cy="1828800"/>
          </a:xfrm>
          <a:prstGeom prst="roundRect">
            <a:avLst>
              <a:gd name="adj" fmla="val 4938"/>
            </a:avLst>
          </a:prstGeom>
          <a:solidFill>
            <a:srgbClr val="FFFFFF"/>
          </a:solidFill>
          <a:ln w="9525">
            <a:solidFill>
              <a:srgbClr val="00704A"/>
            </a:solidFill>
            <a:prstDash val="solid"/>
          </a:ln>
        </p:spPr>
      </p:sp>
      <p:sp>
        <p:nvSpPr>
          <p:cNvPr id="50" name="Shape 43"/>
          <p:cNvSpPr/>
          <p:nvPr/>
        </p:nvSpPr>
        <p:spPr>
          <a:xfrm>
            <a:off x="7296912" y="1435608"/>
            <a:ext cx="292608" cy="292608"/>
          </a:xfrm>
          <a:prstGeom prst="ellipse">
            <a:avLst/>
          </a:prstGeom>
          <a:solidFill>
            <a:srgbClr val="00704A"/>
          </a:solidFill>
          <a:ln w="12700">
            <a:solidFill>
              <a:srgbClr val="00704A"/>
            </a:solidFill>
            <a:prstDash val="solid"/>
          </a:ln>
        </p:spPr>
      </p:sp>
      <p:sp>
        <p:nvSpPr>
          <p:cNvPr id="51" name="Text 44"/>
          <p:cNvSpPr txBox="1"/>
          <p:nvPr/>
        </p:nvSpPr>
        <p:spPr>
          <a:xfrm>
            <a:off x="7296912" y="14356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2" name="Shape 45"/>
          <p:cNvSpPr/>
          <p:nvPr/>
        </p:nvSpPr>
        <p:spPr>
          <a:xfrm>
            <a:off x="8211312" y="1417320"/>
            <a:ext cx="347472" cy="347472"/>
          </a:xfrm>
          <a:prstGeom prst="ellipse">
            <a:avLst/>
          </a:prstGeom>
          <a:solidFill>
            <a:srgbClr val="00A86A">
              <a:alpha val="22000"/>
            </a:srgbClr>
          </a:solidFill>
          <a:ln w="12700">
            <a:solidFill>
              <a:srgbClr val="00A86A">
                <a:alpha val="0"/>
              </a:srgbClr>
            </a:solidFill>
            <a:prstDash val="solid"/>
          </a:ln>
        </p:spPr>
      </p:sp>
      <p:pic>
        <p:nvPicPr>
          <p:cNvPr id="53" name="Image 4" descr="preencoded.png">    </p:cNvPr>
          <p:cNvPicPr>
            <a:picLocks noChangeAspect="1"/>
          </p:cNvPicPr>
          <p:nvPr/>
        </p:nvPicPr>
        <p:blipFill>
          <a:blip r:embed="rId5"/>
          <a:stretch>
            <a:fillRect/>
          </a:stretch>
        </p:blipFill>
        <p:spPr>
          <a:xfrm>
            <a:off x="8301655" y="1507663"/>
            <a:ext cx="166787" cy="166787"/>
          </a:xfrm>
          <a:prstGeom prst="rect">
            <a:avLst/>
          </a:prstGeom>
        </p:spPr>
      </p:pic>
      <p:sp>
        <p:nvSpPr>
          <p:cNvPr id="54" name="Text 46"/>
          <p:cNvSpPr txBox="1"/>
          <p:nvPr/>
        </p:nvSpPr>
        <p:spPr>
          <a:xfrm>
            <a:off x="7296912" y="1828800"/>
            <a:ext cx="1261872" cy="41148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Réponse du capteur</a:t>
            </a:r>
            <a:endParaRPr lang="en-US" sz="1150" dirty="0"/>
          </a:p>
        </p:txBody>
      </p:sp>
      <p:sp>
        <p:nvSpPr>
          <p:cNvPr id="55" name="Text 47"/>
          <p:cNvSpPr txBox="1"/>
          <p:nvPr/>
        </p:nvSpPr>
        <p:spPr>
          <a:xfrm>
            <a:off x="7296912" y="2258568"/>
            <a:ext cx="1280160" cy="84124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Le détecteur les intègre sur sa bande en une valeur de radiance.</a:t>
            </a:r>
            <a:endParaRPr lang="en-US" sz="900" dirty="0"/>
          </a:p>
        </p:txBody>
      </p:sp>
      <p:sp>
        <p:nvSpPr>
          <p:cNvPr id="56" name="Shape 48"/>
          <p:cNvSpPr/>
          <p:nvPr/>
        </p:nvSpPr>
        <p:spPr>
          <a:xfrm>
            <a:off x="457200" y="3291840"/>
            <a:ext cx="8229600" cy="1234440"/>
          </a:xfrm>
          <a:prstGeom prst="roundRect">
            <a:avLst>
              <a:gd name="adj" fmla="val 5926"/>
            </a:avLst>
          </a:prstGeom>
          <a:solidFill>
            <a:srgbClr val="D49A00">
              <a:alpha val="13000"/>
            </a:srgbClr>
          </a:solidFill>
          <a:ln w="12700">
            <a:solidFill>
              <a:srgbClr val="D49A00"/>
            </a:solidFill>
            <a:prstDash val="solid"/>
          </a:ln>
        </p:spPr>
      </p:sp>
      <p:sp>
        <p:nvSpPr>
          <p:cNvPr id="57" name="Shape 49"/>
          <p:cNvSpPr/>
          <p:nvPr/>
        </p:nvSpPr>
        <p:spPr>
          <a:xfrm>
            <a:off x="594360" y="3401568"/>
            <a:ext cx="384048" cy="384048"/>
          </a:xfrm>
          <a:prstGeom prst="ellipse">
            <a:avLst/>
          </a:prstGeom>
          <a:solidFill>
            <a:srgbClr val="D49A00">
              <a:alpha val="22000"/>
            </a:srgbClr>
          </a:solidFill>
          <a:ln w="12700">
            <a:solidFill>
              <a:srgbClr val="D49A00">
                <a:alpha val="0"/>
              </a:srgbClr>
            </a:solidFill>
            <a:prstDash val="solid"/>
          </a:ln>
        </p:spPr>
      </p:sp>
      <p:pic>
        <p:nvPicPr>
          <p:cNvPr id="58" name="Image 5" descr="preencoded.png">    </p:cNvPr>
          <p:cNvPicPr>
            <a:picLocks noChangeAspect="1"/>
          </p:cNvPicPr>
          <p:nvPr/>
        </p:nvPicPr>
        <p:blipFill>
          <a:blip r:embed="rId6"/>
          <a:stretch>
            <a:fillRect/>
          </a:stretch>
        </p:blipFill>
        <p:spPr>
          <a:xfrm>
            <a:off x="694212" y="3501420"/>
            <a:ext cx="184343" cy="184343"/>
          </a:xfrm>
          <a:prstGeom prst="rect">
            <a:avLst/>
          </a:prstGeom>
        </p:spPr>
      </p:pic>
      <p:sp>
        <p:nvSpPr>
          <p:cNvPr id="59" name="Text 50"/>
          <p:cNvSpPr txBox="1"/>
          <p:nvPr/>
        </p:nvSpPr>
        <p:spPr>
          <a:xfrm>
            <a:off x="1097280" y="3401568"/>
            <a:ext cx="7406640" cy="256032"/>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Où la chaîne se rompt en contexte africain — un pixel sombre peut signifier…</a:t>
            </a:r>
            <a:endParaRPr lang="en-US" sz="1250" dirty="0"/>
          </a:p>
        </p:txBody>
      </p:sp>
      <p:sp>
        <p:nvSpPr>
          <p:cNvPr id="60" name="Shape 51"/>
          <p:cNvSpPr/>
          <p:nvPr/>
        </p:nvSpPr>
        <p:spPr>
          <a:xfrm>
            <a:off x="1097280" y="3739896"/>
            <a:ext cx="822960" cy="219456"/>
          </a:xfrm>
          <a:prstGeom prst="roundRect">
            <a:avLst>
              <a:gd name="adj" fmla="val 50000"/>
            </a:avLst>
          </a:prstGeom>
          <a:solidFill>
            <a:srgbClr val="D49A00">
              <a:alpha val="15000"/>
            </a:srgbClr>
          </a:solidFill>
          <a:ln w="9525">
            <a:solidFill>
              <a:srgbClr val="D49A00"/>
            </a:solidFill>
            <a:prstDash val="solid"/>
          </a:ln>
        </p:spPr>
      </p:sp>
      <p:sp>
        <p:nvSpPr>
          <p:cNvPr id="61" name="Text 52"/>
          <p:cNvSpPr txBox="1"/>
          <p:nvPr/>
        </p:nvSpPr>
        <p:spPr>
          <a:xfrm>
            <a:off x="1097280" y="3739896"/>
            <a:ext cx="822960" cy="219456"/>
          </a:xfrm>
          <a:prstGeom prst="rect">
            <a:avLst/>
          </a:prstGeom>
          <a:noFill/>
          <a:ln/>
        </p:spPr>
        <p:txBody>
          <a:bodyPr wrap="square" lIns="0" tIns="0" rIns="0" bIns="0" rtlCol="0" anchor="ctr"/>
          <a:lstStyle/>
          <a:p>
            <a:pPr algn="ctr" indent="0" marL="0">
              <a:buNone/>
            </a:pPr>
            <a:r>
              <a:rPr lang="en-US" sz="800" b="1" dirty="0">
                <a:solidFill>
                  <a:srgbClr val="D49A00"/>
                </a:solidFill>
                <a:latin typeface="Calibri" pitchFamily="34" charset="0"/>
                <a:ea typeface="Calibri" pitchFamily="34" charset="-122"/>
                <a:cs typeface="Calibri" pitchFamily="34" charset="-120"/>
              </a:rPr>
              <a:t>Maillon 1</a:t>
            </a:r>
            <a:endParaRPr lang="en-US" sz="800" dirty="0"/>
          </a:p>
        </p:txBody>
      </p:sp>
      <p:sp>
        <p:nvSpPr>
          <p:cNvPr id="62" name="Text 53"/>
          <p:cNvSpPr txBox="1"/>
          <p:nvPr/>
        </p:nvSpPr>
        <p:spPr>
          <a:xfrm>
            <a:off x="1993392" y="3721608"/>
            <a:ext cx="2788920" cy="292608"/>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Délestage ou pénurie de carburant — les gens sont là, pas le courant</a:t>
            </a:r>
            <a:endParaRPr lang="en-US" sz="950" dirty="0"/>
          </a:p>
        </p:txBody>
      </p:sp>
      <p:sp>
        <p:nvSpPr>
          <p:cNvPr id="63" name="Shape 54"/>
          <p:cNvSpPr/>
          <p:nvPr/>
        </p:nvSpPr>
        <p:spPr>
          <a:xfrm>
            <a:off x="4846320" y="3739896"/>
            <a:ext cx="822960" cy="219456"/>
          </a:xfrm>
          <a:prstGeom prst="roundRect">
            <a:avLst>
              <a:gd name="adj" fmla="val 50000"/>
            </a:avLst>
          </a:prstGeom>
          <a:solidFill>
            <a:srgbClr val="D49A00">
              <a:alpha val="15000"/>
            </a:srgbClr>
          </a:solidFill>
          <a:ln w="9525">
            <a:solidFill>
              <a:srgbClr val="D49A00"/>
            </a:solidFill>
            <a:prstDash val="solid"/>
          </a:ln>
        </p:spPr>
      </p:sp>
      <p:sp>
        <p:nvSpPr>
          <p:cNvPr id="64" name="Text 55"/>
          <p:cNvSpPr txBox="1"/>
          <p:nvPr/>
        </p:nvSpPr>
        <p:spPr>
          <a:xfrm>
            <a:off x="4846320" y="3739896"/>
            <a:ext cx="822960" cy="219456"/>
          </a:xfrm>
          <a:prstGeom prst="rect">
            <a:avLst/>
          </a:prstGeom>
          <a:noFill/>
          <a:ln/>
        </p:spPr>
        <p:txBody>
          <a:bodyPr wrap="square" lIns="0" tIns="0" rIns="0" bIns="0" rtlCol="0" anchor="ctr"/>
          <a:lstStyle/>
          <a:p>
            <a:pPr algn="ctr" indent="0" marL="0">
              <a:buNone/>
            </a:pPr>
            <a:r>
              <a:rPr lang="en-US" sz="800" b="1" dirty="0">
                <a:solidFill>
                  <a:srgbClr val="D49A00"/>
                </a:solidFill>
                <a:latin typeface="Calibri" pitchFamily="34" charset="0"/>
                <a:ea typeface="Calibri" pitchFamily="34" charset="-122"/>
                <a:cs typeface="Calibri" pitchFamily="34" charset="-120"/>
              </a:rPr>
              <a:t>Maillon 2–3</a:t>
            </a:r>
            <a:endParaRPr lang="en-US" sz="800" dirty="0"/>
          </a:p>
        </p:txBody>
      </p:sp>
      <p:sp>
        <p:nvSpPr>
          <p:cNvPr id="65" name="Text 56"/>
          <p:cNvSpPr txBox="1"/>
          <p:nvPr/>
        </p:nvSpPr>
        <p:spPr>
          <a:xfrm>
            <a:off x="5742432" y="3721608"/>
            <a:ext cx="2788920" cy="292608"/>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Lanternes et petits kits solaires trop faibles pour être détectés</a:t>
            </a:r>
            <a:endParaRPr lang="en-US" sz="950" dirty="0"/>
          </a:p>
        </p:txBody>
      </p:sp>
      <p:sp>
        <p:nvSpPr>
          <p:cNvPr id="66" name="Shape 57"/>
          <p:cNvSpPr/>
          <p:nvPr/>
        </p:nvSpPr>
        <p:spPr>
          <a:xfrm>
            <a:off x="1097280" y="4105656"/>
            <a:ext cx="822960" cy="219456"/>
          </a:xfrm>
          <a:prstGeom prst="roundRect">
            <a:avLst>
              <a:gd name="adj" fmla="val 50000"/>
            </a:avLst>
          </a:prstGeom>
          <a:solidFill>
            <a:srgbClr val="D49A00">
              <a:alpha val="15000"/>
            </a:srgbClr>
          </a:solidFill>
          <a:ln w="9525">
            <a:solidFill>
              <a:srgbClr val="D49A00"/>
            </a:solidFill>
            <a:prstDash val="solid"/>
          </a:ln>
        </p:spPr>
      </p:sp>
      <p:sp>
        <p:nvSpPr>
          <p:cNvPr id="67" name="Text 58"/>
          <p:cNvSpPr txBox="1"/>
          <p:nvPr/>
        </p:nvSpPr>
        <p:spPr>
          <a:xfrm>
            <a:off x="1097280" y="4105656"/>
            <a:ext cx="822960" cy="219456"/>
          </a:xfrm>
          <a:prstGeom prst="rect">
            <a:avLst/>
          </a:prstGeom>
          <a:noFill/>
          <a:ln/>
        </p:spPr>
        <p:txBody>
          <a:bodyPr wrap="square" lIns="0" tIns="0" rIns="0" bIns="0" rtlCol="0" anchor="ctr"/>
          <a:lstStyle/>
          <a:p>
            <a:pPr algn="ctr" indent="0" marL="0">
              <a:buNone/>
            </a:pPr>
            <a:r>
              <a:rPr lang="en-US" sz="800" b="1" dirty="0">
                <a:solidFill>
                  <a:srgbClr val="D49A00"/>
                </a:solidFill>
                <a:latin typeface="Calibri" pitchFamily="34" charset="0"/>
                <a:ea typeface="Calibri" pitchFamily="34" charset="-122"/>
                <a:cs typeface="Calibri" pitchFamily="34" charset="-120"/>
              </a:rPr>
              <a:t>Maillon 4</a:t>
            </a:r>
            <a:endParaRPr lang="en-US" sz="800" dirty="0"/>
          </a:p>
        </p:txBody>
      </p:sp>
      <p:sp>
        <p:nvSpPr>
          <p:cNvPr id="68" name="Text 59"/>
          <p:cNvSpPr txBox="1"/>
          <p:nvPr/>
        </p:nvSpPr>
        <p:spPr>
          <a:xfrm>
            <a:off x="1993392" y="4087368"/>
            <a:ext cx="2788920" cy="292608"/>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Nuages de saison des pluies, harmattan, fumées de feux de brousse</a:t>
            </a:r>
            <a:endParaRPr lang="en-US" sz="950" dirty="0"/>
          </a:p>
        </p:txBody>
      </p:sp>
      <p:sp>
        <p:nvSpPr>
          <p:cNvPr id="69" name="Shape 60"/>
          <p:cNvSpPr/>
          <p:nvPr/>
        </p:nvSpPr>
        <p:spPr>
          <a:xfrm>
            <a:off x="4846320" y="4105656"/>
            <a:ext cx="822960" cy="219456"/>
          </a:xfrm>
          <a:prstGeom prst="roundRect">
            <a:avLst>
              <a:gd name="adj" fmla="val 50000"/>
            </a:avLst>
          </a:prstGeom>
          <a:solidFill>
            <a:srgbClr val="D49A00">
              <a:alpha val="15000"/>
            </a:srgbClr>
          </a:solidFill>
          <a:ln w="9525">
            <a:solidFill>
              <a:srgbClr val="D49A00"/>
            </a:solidFill>
            <a:prstDash val="solid"/>
          </a:ln>
        </p:spPr>
      </p:sp>
      <p:sp>
        <p:nvSpPr>
          <p:cNvPr id="70" name="Text 61"/>
          <p:cNvSpPr txBox="1"/>
          <p:nvPr/>
        </p:nvSpPr>
        <p:spPr>
          <a:xfrm>
            <a:off x="4846320" y="4105656"/>
            <a:ext cx="822960" cy="219456"/>
          </a:xfrm>
          <a:prstGeom prst="rect">
            <a:avLst/>
          </a:prstGeom>
          <a:noFill/>
          <a:ln/>
        </p:spPr>
        <p:txBody>
          <a:bodyPr wrap="square" lIns="0" tIns="0" rIns="0" bIns="0" rtlCol="0" anchor="ctr"/>
          <a:lstStyle/>
          <a:p>
            <a:pPr algn="ctr" indent="0" marL="0">
              <a:buNone/>
            </a:pPr>
            <a:r>
              <a:rPr lang="en-US" sz="800" b="1" dirty="0">
                <a:solidFill>
                  <a:srgbClr val="D49A00"/>
                </a:solidFill>
                <a:latin typeface="Calibri" pitchFamily="34" charset="0"/>
                <a:ea typeface="Calibri" pitchFamily="34" charset="-122"/>
                <a:cs typeface="Calibri" pitchFamily="34" charset="-120"/>
              </a:rPr>
              <a:t>Maillon 5</a:t>
            </a:r>
            <a:endParaRPr lang="en-US" sz="800" dirty="0"/>
          </a:p>
        </p:txBody>
      </p:sp>
      <p:sp>
        <p:nvSpPr>
          <p:cNvPr id="71" name="Text 62"/>
          <p:cNvSpPr txBox="1"/>
          <p:nvPr/>
        </p:nvSpPr>
        <p:spPr>
          <a:xfrm>
            <a:off x="5742432" y="4087368"/>
            <a:ext cx="2788920" cy="292608"/>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Éclairage rural sous le seuil de détection du capteur</a:t>
            </a:r>
            <a:endParaRPr lang="en-US" sz="95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2</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02</a:t>
            </a:r>
            <a:endParaRPr lang="en-US" sz="9600" dirty="0"/>
          </a:p>
        </p:txBody>
      </p:sp>
      <p:sp>
        <p:nvSpPr>
          <p:cNvPr id="5" name="Text 3"/>
          <p:cNvSpPr txBox="1"/>
          <p:nvPr/>
        </p:nvSpPr>
        <p:spPr>
          <a:xfrm>
            <a:off x="548640" y="2240280"/>
            <a:ext cx="5486400" cy="6858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Les instruments</a:t>
            </a:r>
            <a:endParaRPr lang="en-US" sz="3600" dirty="0"/>
          </a:p>
        </p:txBody>
      </p:sp>
      <p:sp>
        <p:nvSpPr>
          <p:cNvPr id="6" name="Text 4"/>
          <p:cNvSpPr txBox="1"/>
          <p:nvPr/>
        </p:nvSpPr>
        <p:spPr>
          <a:xfrm>
            <a:off x="548640" y="2971800"/>
            <a:ext cx="5120640" cy="59436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Qu’est-ce qui mesure exactement, et avec quelle résolution ?</a:t>
            </a:r>
            <a:endParaRPr lang="en-US" sz="1800" dirty="0"/>
          </a:p>
        </p:txBody>
      </p:sp>
      <p:sp>
        <p:nvSpPr>
          <p:cNvPr id="7" name="Text 5"/>
          <p:cNvSpPr txBox="1"/>
          <p:nvPr/>
        </p:nvSpPr>
        <p:spPr>
          <a:xfrm>
            <a:off x="548640" y="3703320"/>
            <a:ext cx="530352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Historique  ·  DMSP ou VIIRS  ·  Saturation et dynamique</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5C242"/>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r>
          <p:cNvPicPr>
            <a:picLocks noChangeAspect="1"/>
          </p:cNvPicPr>
          <p:nvPr/>
        </p:nvPicPr>
        <p:blipFill>
          <a:blip r:embed="rId2"/>
          <a:stretch>
            <a:fillRect/>
          </a:stretch>
        </p:blipFill>
        <p:spPr>
          <a:xfrm>
            <a:off x="6848856" y="2276856"/>
            <a:ext cx="475488" cy="475488"/>
          </a:xfrm>
          <a:prstGeom prst="rect">
            <a:avLst/>
          </a:prstGeom>
        </p:spPr>
      </p:pic>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LES INSTRUMENTS · HISTORIQUE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Cinquante ans à observer l’obscurité</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00704A"/>
          </a:solidFill>
          <a:ln w="12700">
            <a:solidFill>
              <a:srgbClr val="00704A"/>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7" name="Shape 14"/>
          <p:cNvSpPr/>
          <p:nvPr/>
        </p:nvSpPr>
        <p:spPr>
          <a:xfrm>
            <a:off x="457200" y="2788920"/>
            <a:ext cx="8229600" cy="0"/>
          </a:xfrm>
          <a:prstGeom prst="line">
            <a:avLst/>
          </a:prstGeom>
          <a:noFill/>
          <a:ln w="25400">
            <a:solidFill>
              <a:srgbClr val="D5DED9"/>
            </a:solidFill>
            <a:prstDash val="solid"/>
          </a:ln>
        </p:spPr>
      </p:sp>
      <p:sp>
        <p:nvSpPr>
          <p:cNvPr id="18" name="Shape 15"/>
          <p:cNvSpPr/>
          <p:nvPr/>
        </p:nvSpPr>
        <p:spPr>
          <a:xfrm>
            <a:off x="1014984" y="2706624"/>
            <a:ext cx="164592" cy="164592"/>
          </a:xfrm>
          <a:prstGeom prst="ellipse">
            <a:avLst/>
          </a:prstGeom>
          <a:solidFill>
            <a:srgbClr val="5E6964"/>
          </a:solidFill>
          <a:ln w="19050">
            <a:solidFill>
              <a:srgbClr val="FFFFFF"/>
            </a:solidFill>
            <a:prstDash val="solid"/>
          </a:ln>
        </p:spPr>
      </p:sp>
      <p:sp>
        <p:nvSpPr>
          <p:cNvPr id="19" name="Shape 16"/>
          <p:cNvSpPr/>
          <p:nvPr/>
        </p:nvSpPr>
        <p:spPr>
          <a:xfrm>
            <a:off x="1097280" y="2423160"/>
            <a:ext cx="0" cy="283464"/>
          </a:xfrm>
          <a:prstGeom prst="line">
            <a:avLst/>
          </a:prstGeom>
          <a:noFill/>
          <a:ln w="9525">
            <a:solidFill>
              <a:srgbClr val="D5DED9"/>
            </a:solidFill>
            <a:prstDash val="solid"/>
          </a:ln>
        </p:spPr>
      </p:sp>
      <p:sp>
        <p:nvSpPr>
          <p:cNvPr id="20" name="Text 17"/>
          <p:cNvSpPr txBox="1"/>
          <p:nvPr/>
        </p:nvSpPr>
        <p:spPr>
          <a:xfrm>
            <a:off x="502920" y="2130552"/>
            <a:ext cx="1188720" cy="274320"/>
          </a:xfrm>
          <a:prstGeom prst="rect">
            <a:avLst/>
          </a:prstGeom>
          <a:noFill/>
          <a:ln/>
        </p:spPr>
        <p:txBody>
          <a:bodyPr wrap="square" lIns="0" tIns="0" rIns="0" bIns="0" rtlCol="0" anchor="ctr"/>
          <a:lstStyle/>
          <a:p>
            <a:pPr algn="ctr" indent="0" marL="0">
              <a:buNone/>
            </a:pPr>
            <a:r>
              <a:rPr lang="en-US" sz="1200" b="1" dirty="0">
                <a:solidFill>
                  <a:srgbClr val="5E6964"/>
                </a:solidFill>
                <a:latin typeface="Calibri" pitchFamily="34" charset="0"/>
                <a:ea typeface="Calibri" pitchFamily="34" charset="-122"/>
                <a:cs typeface="Calibri" pitchFamily="34" charset="-120"/>
              </a:rPr>
              <a:t>Années 1970</a:t>
            </a:r>
            <a:endParaRPr lang="en-US" sz="1200" dirty="0"/>
          </a:p>
        </p:txBody>
      </p:sp>
      <p:sp>
        <p:nvSpPr>
          <p:cNvPr id="21" name="Text 18"/>
          <p:cNvSpPr txBox="1"/>
          <p:nvPr/>
        </p:nvSpPr>
        <p:spPr>
          <a:xfrm>
            <a:off x="457200" y="1280160"/>
            <a:ext cx="1280160" cy="822960"/>
          </a:xfrm>
          <a:prstGeom prst="rect">
            <a:avLst/>
          </a:prstGeom>
          <a:noFill/>
          <a:ln/>
        </p:spPr>
        <p:txBody>
          <a:bodyPr wrap="square" lIns="0" tIns="0" rIns="0" bIns="0" rtlCol="0" anchor="b"/>
          <a:lstStyle/>
          <a:p>
            <a:pPr algn="ctr" indent="0" marL="0">
              <a:buNone/>
            </a:pPr>
            <a:r>
              <a:rPr lang="en-US" sz="850" dirty="0">
                <a:solidFill>
                  <a:srgbClr val="231F20"/>
                </a:solidFill>
                <a:latin typeface="Calibri" pitchFamily="34" charset="0"/>
                <a:ea typeface="Calibri" pitchFamily="34" charset="-122"/>
                <a:cs typeface="Calibri" pitchFamily="34" charset="-120"/>
              </a:rPr>
              <a:t>Imagerie nocturne DMSP-OLS (film). Lumières urbaines repérées lors de la détection des nuages.</a:t>
            </a:r>
            <a:endParaRPr lang="en-US" sz="850" dirty="0"/>
          </a:p>
        </p:txBody>
      </p:sp>
      <p:sp>
        <p:nvSpPr>
          <p:cNvPr id="22" name="Shape 19"/>
          <p:cNvSpPr/>
          <p:nvPr/>
        </p:nvSpPr>
        <p:spPr>
          <a:xfrm>
            <a:off x="2020824" y="2706624"/>
            <a:ext cx="164592" cy="164592"/>
          </a:xfrm>
          <a:prstGeom prst="ellipse">
            <a:avLst/>
          </a:prstGeom>
          <a:solidFill>
            <a:srgbClr val="00704A"/>
          </a:solidFill>
          <a:ln w="19050">
            <a:solidFill>
              <a:srgbClr val="FFFFFF"/>
            </a:solidFill>
            <a:prstDash val="solid"/>
          </a:ln>
        </p:spPr>
      </p:sp>
      <p:sp>
        <p:nvSpPr>
          <p:cNvPr id="23" name="Shape 20"/>
          <p:cNvSpPr/>
          <p:nvPr/>
        </p:nvSpPr>
        <p:spPr>
          <a:xfrm>
            <a:off x="2103120" y="2871216"/>
            <a:ext cx="0" cy="283464"/>
          </a:xfrm>
          <a:prstGeom prst="line">
            <a:avLst/>
          </a:prstGeom>
          <a:noFill/>
          <a:ln w="9525">
            <a:solidFill>
              <a:srgbClr val="D5DED9"/>
            </a:solidFill>
            <a:prstDash val="solid"/>
          </a:ln>
        </p:spPr>
      </p:sp>
      <p:sp>
        <p:nvSpPr>
          <p:cNvPr id="24" name="Text 21"/>
          <p:cNvSpPr txBox="1"/>
          <p:nvPr/>
        </p:nvSpPr>
        <p:spPr>
          <a:xfrm>
            <a:off x="1508760" y="3172968"/>
            <a:ext cx="1188720" cy="274320"/>
          </a:xfrm>
          <a:prstGeom prst="rect">
            <a:avLst/>
          </a:prstGeom>
          <a:noFill/>
          <a:ln/>
        </p:spPr>
        <p:txBody>
          <a:bodyPr wrap="square" lIns="0" tIns="0" rIns="0" bIns="0" rtlCol="0" anchor="ctr"/>
          <a:lstStyle/>
          <a:p>
            <a:pPr algn="ctr" indent="0" marL="0">
              <a:buNone/>
            </a:pPr>
            <a:r>
              <a:rPr lang="en-US" sz="1500" b="1" dirty="0">
                <a:solidFill>
                  <a:srgbClr val="00704A"/>
                </a:solidFill>
                <a:latin typeface="Calibri" pitchFamily="34" charset="0"/>
                <a:ea typeface="Calibri" pitchFamily="34" charset="-122"/>
                <a:cs typeface="Calibri" pitchFamily="34" charset="-120"/>
              </a:rPr>
              <a:t>1992</a:t>
            </a:r>
            <a:endParaRPr lang="en-US" sz="1500" dirty="0"/>
          </a:p>
        </p:txBody>
      </p:sp>
      <p:sp>
        <p:nvSpPr>
          <p:cNvPr id="25" name="Text 22"/>
          <p:cNvSpPr txBox="1"/>
          <p:nvPr/>
        </p:nvSpPr>
        <p:spPr>
          <a:xfrm>
            <a:off x="1463040" y="3474720"/>
            <a:ext cx="1280160" cy="822960"/>
          </a:xfrm>
          <a:prstGeom prst="rect">
            <a:avLst/>
          </a:prstGeom>
          <a:noFill/>
          <a:ln/>
        </p:spPr>
        <p:txBody>
          <a:bodyPr wrap="square" lIns="0" tIns="0" rIns="0" bIns="0" rtlCol="0" anchor="t"/>
          <a:lstStyle/>
          <a:p>
            <a:pPr algn="ctr" indent="0" marL="0">
              <a:buNone/>
            </a:pPr>
            <a:r>
              <a:rPr lang="en-US" sz="850" dirty="0">
                <a:solidFill>
                  <a:srgbClr val="231F20"/>
                </a:solidFill>
                <a:latin typeface="Calibri" pitchFamily="34" charset="0"/>
                <a:ea typeface="Calibri" pitchFamily="34" charset="-122"/>
                <a:cs typeface="Calibri" pitchFamily="34" charset="-120"/>
              </a:rPr>
              <a:t>Début de l’archive numérique DMSP → série annuelle « lumières stables » jusqu’en 2013.</a:t>
            </a:r>
            <a:endParaRPr lang="en-US" sz="850" dirty="0"/>
          </a:p>
        </p:txBody>
      </p:sp>
      <p:sp>
        <p:nvSpPr>
          <p:cNvPr id="26" name="Shape 23"/>
          <p:cNvSpPr/>
          <p:nvPr/>
        </p:nvSpPr>
        <p:spPr>
          <a:xfrm>
            <a:off x="3026664" y="2706624"/>
            <a:ext cx="164592" cy="164592"/>
          </a:xfrm>
          <a:prstGeom prst="ellipse">
            <a:avLst/>
          </a:prstGeom>
          <a:solidFill>
            <a:srgbClr val="00A86A"/>
          </a:solidFill>
          <a:ln w="19050">
            <a:solidFill>
              <a:srgbClr val="FFFFFF"/>
            </a:solidFill>
            <a:prstDash val="solid"/>
          </a:ln>
        </p:spPr>
      </p:sp>
      <p:sp>
        <p:nvSpPr>
          <p:cNvPr id="27" name="Shape 24"/>
          <p:cNvSpPr/>
          <p:nvPr/>
        </p:nvSpPr>
        <p:spPr>
          <a:xfrm>
            <a:off x="3108960" y="2423160"/>
            <a:ext cx="0" cy="283464"/>
          </a:xfrm>
          <a:prstGeom prst="line">
            <a:avLst/>
          </a:prstGeom>
          <a:noFill/>
          <a:ln w="9525">
            <a:solidFill>
              <a:srgbClr val="D5DED9"/>
            </a:solidFill>
            <a:prstDash val="solid"/>
          </a:ln>
        </p:spPr>
      </p:sp>
      <p:sp>
        <p:nvSpPr>
          <p:cNvPr id="28" name="Text 25"/>
          <p:cNvSpPr txBox="1"/>
          <p:nvPr/>
        </p:nvSpPr>
        <p:spPr>
          <a:xfrm>
            <a:off x="2514600" y="2130552"/>
            <a:ext cx="1188720" cy="274320"/>
          </a:xfrm>
          <a:prstGeom prst="rect">
            <a:avLst/>
          </a:prstGeom>
          <a:noFill/>
          <a:ln/>
        </p:spPr>
        <p:txBody>
          <a:bodyPr wrap="square" lIns="0" tIns="0" rIns="0" bIns="0" rtlCol="0" anchor="ctr"/>
          <a:lstStyle/>
          <a:p>
            <a:pPr algn="ctr" indent="0" marL="0">
              <a:buNone/>
            </a:pPr>
            <a:r>
              <a:rPr lang="en-US" sz="1500" b="1" dirty="0">
                <a:solidFill>
                  <a:srgbClr val="00A86A"/>
                </a:solidFill>
                <a:latin typeface="Calibri" pitchFamily="34" charset="0"/>
                <a:ea typeface="Calibri" pitchFamily="34" charset="-122"/>
                <a:cs typeface="Calibri" pitchFamily="34" charset="-120"/>
              </a:rPr>
              <a:t>2011</a:t>
            </a:r>
            <a:endParaRPr lang="en-US" sz="1500" dirty="0"/>
          </a:p>
        </p:txBody>
      </p:sp>
      <p:sp>
        <p:nvSpPr>
          <p:cNvPr id="29" name="Text 26"/>
          <p:cNvSpPr txBox="1"/>
          <p:nvPr/>
        </p:nvSpPr>
        <p:spPr>
          <a:xfrm>
            <a:off x="2468880" y="1280160"/>
            <a:ext cx="1280160" cy="822960"/>
          </a:xfrm>
          <a:prstGeom prst="rect">
            <a:avLst/>
          </a:prstGeom>
          <a:noFill/>
          <a:ln/>
        </p:spPr>
        <p:txBody>
          <a:bodyPr wrap="square" lIns="0" tIns="0" rIns="0" bIns="0" rtlCol="0" anchor="b"/>
          <a:lstStyle/>
          <a:p>
            <a:pPr algn="ctr" indent="0" marL="0">
              <a:buNone/>
            </a:pPr>
            <a:r>
              <a:rPr lang="en-US" sz="850" dirty="0">
                <a:solidFill>
                  <a:srgbClr val="231F20"/>
                </a:solidFill>
                <a:latin typeface="Calibri" pitchFamily="34" charset="0"/>
                <a:ea typeface="Calibri" pitchFamily="34" charset="-122"/>
                <a:cs typeface="Calibri" pitchFamily="34" charset="-120"/>
              </a:rPr>
              <a:t>Lancement de Suomi NPP avec VIIRS : premier capteur étalonné pour la radiance nocturne.</a:t>
            </a:r>
            <a:endParaRPr lang="en-US" sz="850" dirty="0"/>
          </a:p>
        </p:txBody>
      </p:sp>
      <p:sp>
        <p:nvSpPr>
          <p:cNvPr id="30" name="Shape 27"/>
          <p:cNvSpPr/>
          <p:nvPr/>
        </p:nvSpPr>
        <p:spPr>
          <a:xfrm>
            <a:off x="4032504" y="2706624"/>
            <a:ext cx="164592" cy="164592"/>
          </a:xfrm>
          <a:prstGeom prst="ellipse">
            <a:avLst/>
          </a:prstGeom>
          <a:solidFill>
            <a:srgbClr val="00A86A"/>
          </a:solidFill>
          <a:ln w="19050">
            <a:solidFill>
              <a:srgbClr val="FFFFFF"/>
            </a:solidFill>
            <a:prstDash val="solid"/>
          </a:ln>
        </p:spPr>
      </p:sp>
      <p:sp>
        <p:nvSpPr>
          <p:cNvPr id="31" name="Shape 28"/>
          <p:cNvSpPr/>
          <p:nvPr/>
        </p:nvSpPr>
        <p:spPr>
          <a:xfrm>
            <a:off x="4114800" y="2871216"/>
            <a:ext cx="0" cy="283464"/>
          </a:xfrm>
          <a:prstGeom prst="line">
            <a:avLst/>
          </a:prstGeom>
          <a:noFill/>
          <a:ln w="9525">
            <a:solidFill>
              <a:srgbClr val="D5DED9"/>
            </a:solidFill>
            <a:prstDash val="solid"/>
          </a:ln>
        </p:spPr>
      </p:sp>
      <p:sp>
        <p:nvSpPr>
          <p:cNvPr id="32" name="Text 29"/>
          <p:cNvSpPr txBox="1"/>
          <p:nvPr/>
        </p:nvSpPr>
        <p:spPr>
          <a:xfrm>
            <a:off x="3520440" y="3172968"/>
            <a:ext cx="1188720" cy="274320"/>
          </a:xfrm>
          <a:prstGeom prst="rect">
            <a:avLst/>
          </a:prstGeom>
          <a:noFill/>
          <a:ln/>
        </p:spPr>
        <p:txBody>
          <a:bodyPr wrap="square" lIns="0" tIns="0" rIns="0" bIns="0" rtlCol="0" anchor="ctr"/>
          <a:lstStyle/>
          <a:p>
            <a:pPr algn="ctr" indent="0" marL="0">
              <a:buNone/>
            </a:pPr>
            <a:r>
              <a:rPr lang="en-US" sz="1500" b="1" dirty="0">
                <a:solidFill>
                  <a:srgbClr val="00A86A"/>
                </a:solidFill>
                <a:latin typeface="Calibri" pitchFamily="34" charset="0"/>
                <a:ea typeface="Calibri" pitchFamily="34" charset="-122"/>
                <a:cs typeface="Calibri" pitchFamily="34" charset="-120"/>
              </a:rPr>
              <a:t>2012</a:t>
            </a:r>
            <a:endParaRPr lang="en-US" sz="1500" dirty="0"/>
          </a:p>
        </p:txBody>
      </p:sp>
      <p:sp>
        <p:nvSpPr>
          <p:cNvPr id="33" name="Text 30"/>
          <p:cNvSpPr txBox="1"/>
          <p:nvPr/>
        </p:nvSpPr>
        <p:spPr>
          <a:xfrm>
            <a:off x="3474720" y="3474720"/>
            <a:ext cx="1280160" cy="822960"/>
          </a:xfrm>
          <a:prstGeom prst="rect">
            <a:avLst/>
          </a:prstGeom>
          <a:noFill/>
          <a:ln/>
        </p:spPr>
        <p:txBody>
          <a:bodyPr wrap="square" lIns="0" tIns="0" rIns="0" bIns="0" rtlCol="0" anchor="t"/>
          <a:lstStyle/>
          <a:p>
            <a:pPr algn="ctr" indent="0" marL="0">
              <a:buNone/>
            </a:pPr>
            <a:r>
              <a:rPr lang="en-US" sz="850" dirty="0">
                <a:solidFill>
                  <a:srgbClr val="231F20"/>
                </a:solidFill>
                <a:latin typeface="Calibri" pitchFamily="34" charset="0"/>
                <a:ea typeface="Calibri" pitchFamily="34" charset="-122"/>
                <a:cs typeface="Calibri" pitchFamily="34" charset="-120"/>
              </a:rPr>
              <a:t>Composites mensuels VIIRS sans nuages ; début de la série NASA Black Marble.</a:t>
            </a:r>
            <a:endParaRPr lang="en-US" sz="850" dirty="0"/>
          </a:p>
        </p:txBody>
      </p:sp>
      <p:sp>
        <p:nvSpPr>
          <p:cNvPr id="34" name="Shape 31"/>
          <p:cNvSpPr/>
          <p:nvPr/>
        </p:nvSpPr>
        <p:spPr>
          <a:xfrm>
            <a:off x="5038344" y="2706624"/>
            <a:ext cx="164592" cy="164592"/>
          </a:xfrm>
          <a:prstGeom prst="ellipse">
            <a:avLst/>
          </a:prstGeom>
          <a:solidFill>
            <a:srgbClr val="0E7C86"/>
          </a:solidFill>
          <a:ln w="19050">
            <a:solidFill>
              <a:srgbClr val="FFFFFF"/>
            </a:solidFill>
            <a:prstDash val="solid"/>
          </a:ln>
        </p:spPr>
      </p:sp>
      <p:sp>
        <p:nvSpPr>
          <p:cNvPr id="35" name="Shape 32"/>
          <p:cNvSpPr/>
          <p:nvPr/>
        </p:nvSpPr>
        <p:spPr>
          <a:xfrm>
            <a:off x="5120640" y="2423160"/>
            <a:ext cx="0" cy="283464"/>
          </a:xfrm>
          <a:prstGeom prst="line">
            <a:avLst/>
          </a:prstGeom>
          <a:noFill/>
          <a:ln w="9525">
            <a:solidFill>
              <a:srgbClr val="D5DED9"/>
            </a:solidFill>
            <a:prstDash val="solid"/>
          </a:ln>
        </p:spPr>
      </p:sp>
      <p:sp>
        <p:nvSpPr>
          <p:cNvPr id="36" name="Text 33"/>
          <p:cNvSpPr txBox="1"/>
          <p:nvPr/>
        </p:nvSpPr>
        <p:spPr>
          <a:xfrm>
            <a:off x="4526280" y="2130552"/>
            <a:ext cx="1188720" cy="274320"/>
          </a:xfrm>
          <a:prstGeom prst="rect">
            <a:avLst/>
          </a:prstGeom>
          <a:noFill/>
          <a:ln/>
        </p:spPr>
        <p:txBody>
          <a:bodyPr wrap="square" lIns="0" tIns="0" rIns="0" bIns="0" rtlCol="0" anchor="ctr"/>
          <a:lstStyle/>
          <a:p>
            <a:pPr algn="ctr" indent="0" marL="0">
              <a:buNone/>
            </a:pPr>
            <a:r>
              <a:rPr lang="en-US" sz="1500" b="1" dirty="0">
                <a:solidFill>
                  <a:srgbClr val="0E7C86"/>
                </a:solidFill>
                <a:latin typeface="Calibri" pitchFamily="34" charset="0"/>
                <a:ea typeface="Calibri" pitchFamily="34" charset="-122"/>
                <a:cs typeface="Calibri" pitchFamily="34" charset="-120"/>
              </a:rPr>
              <a:t>2017</a:t>
            </a:r>
            <a:endParaRPr lang="en-US" sz="1500" dirty="0"/>
          </a:p>
        </p:txBody>
      </p:sp>
      <p:sp>
        <p:nvSpPr>
          <p:cNvPr id="37" name="Text 34"/>
          <p:cNvSpPr txBox="1"/>
          <p:nvPr/>
        </p:nvSpPr>
        <p:spPr>
          <a:xfrm>
            <a:off x="4480560" y="1280160"/>
            <a:ext cx="1280160" cy="822960"/>
          </a:xfrm>
          <a:prstGeom prst="rect">
            <a:avLst/>
          </a:prstGeom>
          <a:noFill/>
          <a:ln/>
        </p:spPr>
        <p:txBody>
          <a:bodyPr wrap="square" lIns="0" tIns="0" rIns="0" bIns="0" rtlCol="0" anchor="b"/>
          <a:lstStyle/>
          <a:p>
            <a:pPr algn="ctr" indent="0" marL="0">
              <a:buNone/>
            </a:pPr>
            <a:r>
              <a:rPr lang="en-US" sz="850" dirty="0">
                <a:solidFill>
                  <a:srgbClr val="231F20"/>
                </a:solidFill>
                <a:latin typeface="Calibri" pitchFamily="34" charset="0"/>
                <a:ea typeface="Calibri" pitchFamily="34" charset="-122"/>
                <a:cs typeface="Calibri" pitchFamily="34" charset="-120"/>
              </a:rPr>
              <a:t>Lancement de NOAA-20 avec un 2ᵉ VIIRS ; produits Black Marble jumeaux dès 2018.</a:t>
            </a:r>
            <a:endParaRPr lang="en-US" sz="850" dirty="0"/>
          </a:p>
        </p:txBody>
      </p:sp>
      <p:sp>
        <p:nvSpPr>
          <p:cNvPr id="38" name="Shape 35"/>
          <p:cNvSpPr/>
          <p:nvPr/>
        </p:nvSpPr>
        <p:spPr>
          <a:xfrm>
            <a:off x="6044184" y="2706624"/>
            <a:ext cx="164592" cy="164592"/>
          </a:xfrm>
          <a:prstGeom prst="ellipse">
            <a:avLst/>
          </a:prstGeom>
          <a:solidFill>
            <a:srgbClr val="D49A00"/>
          </a:solidFill>
          <a:ln w="19050">
            <a:solidFill>
              <a:srgbClr val="FFFFFF"/>
            </a:solidFill>
            <a:prstDash val="solid"/>
          </a:ln>
        </p:spPr>
      </p:sp>
      <p:sp>
        <p:nvSpPr>
          <p:cNvPr id="39" name="Shape 36"/>
          <p:cNvSpPr/>
          <p:nvPr/>
        </p:nvSpPr>
        <p:spPr>
          <a:xfrm>
            <a:off x="6126480" y="2871216"/>
            <a:ext cx="0" cy="283464"/>
          </a:xfrm>
          <a:prstGeom prst="line">
            <a:avLst/>
          </a:prstGeom>
          <a:noFill/>
          <a:ln w="9525">
            <a:solidFill>
              <a:srgbClr val="D5DED9"/>
            </a:solidFill>
            <a:prstDash val="solid"/>
          </a:ln>
        </p:spPr>
      </p:sp>
      <p:sp>
        <p:nvSpPr>
          <p:cNvPr id="40" name="Text 37"/>
          <p:cNvSpPr txBox="1"/>
          <p:nvPr/>
        </p:nvSpPr>
        <p:spPr>
          <a:xfrm>
            <a:off x="5532120" y="3172968"/>
            <a:ext cx="1188720" cy="274320"/>
          </a:xfrm>
          <a:prstGeom prst="rect">
            <a:avLst/>
          </a:prstGeom>
          <a:noFill/>
          <a:ln/>
        </p:spPr>
        <p:txBody>
          <a:bodyPr wrap="square" lIns="0" tIns="0" rIns="0" bIns="0" rtlCol="0" anchor="ctr"/>
          <a:lstStyle/>
          <a:p>
            <a:pPr algn="ctr" indent="0" marL="0">
              <a:buNone/>
            </a:pPr>
            <a:r>
              <a:rPr lang="en-US" sz="1500" b="1" dirty="0">
                <a:solidFill>
                  <a:srgbClr val="D49A00"/>
                </a:solidFill>
                <a:latin typeface="Calibri" pitchFamily="34" charset="0"/>
                <a:ea typeface="Calibri" pitchFamily="34" charset="-122"/>
                <a:cs typeface="Calibri" pitchFamily="34" charset="-120"/>
              </a:rPr>
              <a:t>2018</a:t>
            </a:r>
            <a:endParaRPr lang="en-US" sz="1500" dirty="0"/>
          </a:p>
        </p:txBody>
      </p:sp>
      <p:sp>
        <p:nvSpPr>
          <p:cNvPr id="41" name="Text 38"/>
          <p:cNvSpPr txBox="1"/>
          <p:nvPr/>
        </p:nvSpPr>
        <p:spPr>
          <a:xfrm>
            <a:off x="5486400" y="3474720"/>
            <a:ext cx="1280160" cy="822960"/>
          </a:xfrm>
          <a:prstGeom prst="rect">
            <a:avLst/>
          </a:prstGeom>
          <a:noFill/>
          <a:ln/>
        </p:spPr>
        <p:txBody>
          <a:bodyPr wrap="square" lIns="0" tIns="0" rIns="0" bIns="0" rtlCol="0" anchor="t"/>
          <a:lstStyle/>
          <a:p>
            <a:pPr algn="ctr" indent="0" marL="0">
              <a:buNone/>
            </a:pPr>
            <a:r>
              <a:rPr lang="en-US" sz="850" dirty="0">
                <a:solidFill>
                  <a:srgbClr val="231F20"/>
                </a:solidFill>
                <a:latin typeface="Calibri" pitchFamily="34" charset="0"/>
                <a:ea typeface="Calibri" pitchFamily="34" charset="-122"/>
                <a:cs typeface="Calibri" pitchFamily="34" charset="-120"/>
              </a:rPr>
              <a:t>Luojia-1-01 démontre l’imagerie nocturne à ≈ 130 m depuis un petit satellite.</a:t>
            </a:r>
            <a:endParaRPr lang="en-US" sz="850" dirty="0"/>
          </a:p>
        </p:txBody>
      </p:sp>
      <p:sp>
        <p:nvSpPr>
          <p:cNvPr id="42" name="Shape 39"/>
          <p:cNvSpPr/>
          <p:nvPr/>
        </p:nvSpPr>
        <p:spPr>
          <a:xfrm>
            <a:off x="7050024" y="2706624"/>
            <a:ext cx="164592" cy="164592"/>
          </a:xfrm>
          <a:prstGeom prst="ellipse">
            <a:avLst/>
          </a:prstGeom>
          <a:solidFill>
            <a:srgbClr val="D49A00"/>
          </a:solidFill>
          <a:ln w="19050">
            <a:solidFill>
              <a:srgbClr val="FFFFFF"/>
            </a:solidFill>
            <a:prstDash val="solid"/>
          </a:ln>
        </p:spPr>
      </p:sp>
      <p:sp>
        <p:nvSpPr>
          <p:cNvPr id="43" name="Shape 40"/>
          <p:cNvSpPr/>
          <p:nvPr/>
        </p:nvSpPr>
        <p:spPr>
          <a:xfrm>
            <a:off x="7132320" y="2423160"/>
            <a:ext cx="0" cy="283464"/>
          </a:xfrm>
          <a:prstGeom prst="line">
            <a:avLst/>
          </a:prstGeom>
          <a:noFill/>
          <a:ln w="9525">
            <a:solidFill>
              <a:srgbClr val="D5DED9"/>
            </a:solidFill>
            <a:prstDash val="solid"/>
          </a:ln>
        </p:spPr>
      </p:sp>
      <p:sp>
        <p:nvSpPr>
          <p:cNvPr id="44" name="Text 41"/>
          <p:cNvSpPr txBox="1"/>
          <p:nvPr/>
        </p:nvSpPr>
        <p:spPr>
          <a:xfrm>
            <a:off x="6537960" y="2130552"/>
            <a:ext cx="1188720" cy="274320"/>
          </a:xfrm>
          <a:prstGeom prst="rect">
            <a:avLst/>
          </a:prstGeom>
          <a:noFill/>
          <a:ln/>
        </p:spPr>
        <p:txBody>
          <a:bodyPr wrap="square" lIns="0" tIns="0" rIns="0" bIns="0" rtlCol="0" anchor="ctr"/>
          <a:lstStyle/>
          <a:p>
            <a:pPr algn="ctr" indent="0" marL="0">
              <a:buNone/>
            </a:pPr>
            <a:r>
              <a:rPr lang="en-US" sz="1500" b="1" dirty="0">
                <a:solidFill>
                  <a:srgbClr val="D49A00"/>
                </a:solidFill>
                <a:latin typeface="Calibri" pitchFamily="34" charset="0"/>
                <a:ea typeface="Calibri" pitchFamily="34" charset="-122"/>
                <a:cs typeface="Calibri" pitchFamily="34" charset="-120"/>
              </a:rPr>
              <a:t>2021</a:t>
            </a:r>
            <a:endParaRPr lang="en-US" sz="1500" dirty="0"/>
          </a:p>
        </p:txBody>
      </p:sp>
      <p:sp>
        <p:nvSpPr>
          <p:cNvPr id="45" name="Text 42"/>
          <p:cNvSpPr txBox="1"/>
          <p:nvPr/>
        </p:nvSpPr>
        <p:spPr>
          <a:xfrm>
            <a:off x="6492240" y="1280160"/>
            <a:ext cx="1280160" cy="822960"/>
          </a:xfrm>
          <a:prstGeom prst="rect">
            <a:avLst/>
          </a:prstGeom>
          <a:noFill/>
          <a:ln/>
        </p:spPr>
        <p:txBody>
          <a:bodyPr wrap="square" lIns="0" tIns="0" rIns="0" bIns="0" rtlCol="0" anchor="b"/>
          <a:lstStyle/>
          <a:p>
            <a:pPr algn="ctr" indent="0" marL="0">
              <a:buNone/>
            </a:pPr>
            <a:r>
              <a:rPr lang="en-US" sz="850" dirty="0">
                <a:solidFill>
                  <a:srgbClr val="231F20"/>
                </a:solidFill>
                <a:latin typeface="Calibri" pitchFamily="34" charset="0"/>
                <a:ea typeface="Calibri" pitchFamily="34" charset="-122"/>
                <a:cs typeface="Calibri" pitchFamily="34" charset="-120"/>
              </a:rPr>
              <a:t>SDGSAT-1, imageur Glimmer : imagerie nocturne couleur à 10–40 m.</a:t>
            </a:r>
            <a:endParaRPr lang="en-US" sz="850" dirty="0"/>
          </a:p>
        </p:txBody>
      </p:sp>
      <p:sp>
        <p:nvSpPr>
          <p:cNvPr id="46" name="Shape 43"/>
          <p:cNvSpPr/>
          <p:nvPr/>
        </p:nvSpPr>
        <p:spPr>
          <a:xfrm>
            <a:off x="8055864" y="2706624"/>
            <a:ext cx="164592" cy="164592"/>
          </a:xfrm>
          <a:prstGeom prst="ellipse">
            <a:avLst/>
          </a:prstGeom>
          <a:solidFill>
            <a:srgbClr val="0E7C86"/>
          </a:solidFill>
          <a:ln w="19050">
            <a:solidFill>
              <a:srgbClr val="FFFFFF"/>
            </a:solidFill>
            <a:prstDash val="solid"/>
          </a:ln>
        </p:spPr>
      </p:sp>
      <p:sp>
        <p:nvSpPr>
          <p:cNvPr id="47" name="Shape 44"/>
          <p:cNvSpPr/>
          <p:nvPr/>
        </p:nvSpPr>
        <p:spPr>
          <a:xfrm>
            <a:off x="8138160" y="2871216"/>
            <a:ext cx="0" cy="283464"/>
          </a:xfrm>
          <a:prstGeom prst="line">
            <a:avLst/>
          </a:prstGeom>
          <a:noFill/>
          <a:ln w="9525">
            <a:solidFill>
              <a:srgbClr val="D5DED9"/>
            </a:solidFill>
            <a:prstDash val="solid"/>
          </a:ln>
        </p:spPr>
      </p:sp>
      <p:sp>
        <p:nvSpPr>
          <p:cNvPr id="48" name="Text 45"/>
          <p:cNvSpPr txBox="1"/>
          <p:nvPr/>
        </p:nvSpPr>
        <p:spPr>
          <a:xfrm>
            <a:off x="7543800" y="3172968"/>
            <a:ext cx="1188720" cy="274320"/>
          </a:xfrm>
          <a:prstGeom prst="rect">
            <a:avLst/>
          </a:prstGeom>
          <a:noFill/>
          <a:ln/>
        </p:spPr>
        <p:txBody>
          <a:bodyPr wrap="square" lIns="0" tIns="0" rIns="0" bIns="0" rtlCol="0" anchor="ctr"/>
          <a:lstStyle/>
          <a:p>
            <a:pPr algn="ctr" indent="0" marL="0">
              <a:buNone/>
            </a:pPr>
            <a:r>
              <a:rPr lang="en-US" sz="1500" b="1" dirty="0">
                <a:solidFill>
                  <a:srgbClr val="0E7C86"/>
                </a:solidFill>
                <a:latin typeface="Calibri" pitchFamily="34" charset="0"/>
                <a:ea typeface="Calibri" pitchFamily="34" charset="-122"/>
                <a:cs typeface="Calibri" pitchFamily="34" charset="-120"/>
              </a:rPr>
              <a:t>2022</a:t>
            </a:r>
            <a:endParaRPr lang="en-US" sz="1500" dirty="0"/>
          </a:p>
        </p:txBody>
      </p:sp>
      <p:sp>
        <p:nvSpPr>
          <p:cNvPr id="49" name="Text 46"/>
          <p:cNvSpPr txBox="1"/>
          <p:nvPr/>
        </p:nvSpPr>
        <p:spPr>
          <a:xfrm>
            <a:off x="7498080" y="3474720"/>
            <a:ext cx="1280160" cy="822960"/>
          </a:xfrm>
          <a:prstGeom prst="rect">
            <a:avLst/>
          </a:prstGeom>
          <a:noFill/>
          <a:ln/>
        </p:spPr>
        <p:txBody>
          <a:bodyPr wrap="square" lIns="0" tIns="0" rIns="0" bIns="0" rtlCol="0" anchor="t"/>
          <a:lstStyle/>
          <a:p>
            <a:pPr algn="ctr" indent="0" marL="0">
              <a:buNone/>
            </a:pPr>
            <a:r>
              <a:rPr lang="en-US" sz="850" dirty="0">
                <a:solidFill>
                  <a:srgbClr val="231F20"/>
                </a:solidFill>
                <a:latin typeface="Calibri" pitchFamily="34" charset="0"/>
                <a:ea typeface="Calibri" pitchFamily="34" charset="-122"/>
                <a:cs typeface="Calibri" pitchFamily="34" charset="-120"/>
              </a:rPr>
              <a:t>Lancement de NOAA-21 : un 3ᵉ VIIRS prolonge la série vers les années 2030.</a:t>
            </a:r>
            <a:endParaRPr lang="en-US" sz="850" dirty="0"/>
          </a:p>
        </p:txBody>
      </p:sp>
      <p:sp>
        <p:nvSpPr>
          <p:cNvPr id="50" name="Shape 47"/>
          <p:cNvSpPr/>
          <p:nvPr/>
        </p:nvSpPr>
        <p:spPr>
          <a:xfrm>
            <a:off x="457200" y="4160520"/>
            <a:ext cx="8229600" cy="411480"/>
          </a:xfrm>
          <a:prstGeom prst="roundRect">
            <a:avLst>
              <a:gd name="adj" fmla="val 17778"/>
            </a:avLst>
          </a:prstGeom>
          <a:solidFill>
            <a:srgbClr val="E8F5EF"/>
          </a:solidFill>
          <a:ln w="15875">
            <a:solidFill>
              <a:srgbClr val="00A86A"/>
            </a:solidFill>
            <a:prstDash val="solid"/>
          </a:ln>
        </p:spPr>
      </p:sp>
      <p:sp>
        <p:nvSpPr>
          <p:cNvPr id="51" name="Text 48"/>
          <p:cNvSpPr txBox="1"/>
          <p:nvPr/>
        </p:nvSpPr>
        <p:spPr>
          <a:xfrm>
            <a:off x="594360" y="4178808"/>
            <a:ext cx="7955280" cy="374904"/>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L’ironie : </a:t>
            </a:r>
            <a:pPr indent="0" marL="0">
              <a:buNone/>
            </a:pPr>
            <a:r>
              <a:rPr lang="en-US" sz="1050" dirty="0">
                <a:solidFill>
                  <a:srgbClr val="231F20"/>
                </a:solidFill>
                <a:latin typeface="Calibri" pitchFamily="34" charset="0"/>
                <a:ea typeface="Calibri" pitchFamily="34" charset="-122"/>
                <a:cs typeface="Calibri" pitchFamily="34" charset="-120"/>
              </a:rPr>
              <a:t>le premier instrument devait voir les nuages au clair de lune. Les lumières urbaines étaient du bruit — il a fallu vingt ans pour en faire le signal.</a:t>
            </a:r>
            <a:endParaRPr lang="en-US" sz="10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LES INSTRUMENTS · COMPARAISON DES CAPTEURS</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Deux capteurs, deux sciences différentes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00704A"/>
          </a:solidFill>
          <a:ln w="12700">
            <a:solidFill>
              <a:srgbClr val="00704A"/>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7" name="Shape 14"/>
          <p:cNvSpPr/>
          <p:nvPr/>
        </p:nvSpPr>
        <p:spPr>
          <a:xfrm>
            <a:off x="2148840" y="1325880"/>
            <a:ext cx="3154680" cy="457200"/>
          </a:xfrm>
          <a:prstGeom prst="roundRect">
            <a:avLst>
              <a:gd name="adj" fmla="val 16000"/>
            </a:avLst>
          </a:prstGeom>
          <a:solidFill>
            <a:srgbClr val="5E6964"/>
          </a:solidFill>
          <a:ln w="9525">
            <a:solidFill>
              <a:srgbClr val="5E6964"/>
            </a:solidFill>
            <a:prstDash val="solid"/>
          </a:ln>
        </p:spPr>
      </p:sp>
      <p:sp>
        <p:nvSpPr>
          <p:cNvPr id="18" name="Shape 15"/>
          <p:cNvSpPr/>
          <p:nvPr/>
        </p:nvSpPr>
        <p:spPr>
          <a:xfrm>
            <a:off x="5440680" y="1325880"/>
            <a:ext cx="3246120" cy="457200"/>
          </a:xfrm>
          <a:prstGeom prst="roundRect">
            <a:avLst>
              <a:gd name="adj" fmla="val 16000"/>
            </a:avLst>
          </a:prstGeom>
          <a:solidFill>
            <a:srgbClr val="00704A"/>
          </a:solidFill>
          <a:ln w="9525">
            <a:solidFill>
              <a:srgbClr val="00704A"/>
            </a:solidFill>
            <a:prstDash val="solid"/>
          </a:ln>
        </p:spPr>
      </p:sp>
      <p:sp>
        <p:nvSpPr>
          <p:cNvPr id="19" name="Text 16"/>
          <p:cNvSpPr txBox="1"/>
          <p:nvPr/>
        </p:nvSpPr>
        <p:spPr>
          <a:xfrm>
            <a:off x="2148840" y="1325880"/>
            <a:ext cx="31546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DMSP-OLS  ·  historique</a:t>
            </a:r>
            <a:endParaRPr lang="en-US" sz="1300" dirty="0"/>
          </a:p>
        </p:txBody>
      </p:sp>
      <p:sp>
        <p:nvSpPr>
          <p:cNvPr id="20" name="Text 17"/>
          <p:cNvSpPr txBox="1"/>
          <p:nvPr/>
        </p:nvSpPr>
        <p:spPr>
          <a:xfrm>
            <a:off x="5440680" y="1325880"/>
            <a:ext cx="32461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Bande jour/nuit VIIRS  ·  moderne</a:t>
            </a:r>
            <a:endParaRPr lang="en-US" sz="1300" dirty="0"/>
          </a:p>
        </p:txBody>
      </p:sp>
      <p:sp>
        <p:nvSpPr>
          <p:cNvPr id="21" name="Text 18"/>
          <p:cNvSpPr txBox="1"/>
          <p:nvPr/>
        </p:nvSpPr>
        <p:spPr>
          <a:xfrm>
            <a:off x="457200" y="1847088"/>
            <a:ext cx="1600200" cy="31089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Période</a:t>
            </a:r>
            <a:endParaRPr lang="en-US" sz="1100" dirty="0"/>
          </a:p>
        </p:txBody>
      </p:sp>
      <p:sp>
        <p:nvSpPr>
          <p:cNvPr id="22" name="Shape 19"/>
          <p:cNvSpPr/>
          <p:nvPr/>
        </p:nvSpPr>
        <p:spPr>
          <a:xfrm>
            <a:off x="2148840" y="1847088"/>
            <a:ext cx="3154680" cy="310896"/>
          </a:xfrm>
          <a:prstGeom prst="roundRect">
            <a:avLst>
              <a:gd name="adj" fmla="val 14706"/>
            </a:avLst>
          </a:prstGeom>
          <a:solidFill>
            <a:srgbClr val="F4F7F5"/>
          </a:solidFill>
          <a:ln w="9525">
            <a:solidFill>
              <a:srgbClr val="D5DED9"/>
            </a:solidFill>
            <a:prstDash val="solid"/>
          </a:ln>
        </p:spPr>
      </p:sp>
      <p:sp>
        <p:nvSpPr>
          <p:cNvPr id="23" name="Shape 20"/>
          <p:cNvSpPr/>
          <p:nvPr/>
        </p:nvSpPr>
        <p:spPr>
          <a:xfrm>
            <a:off x="5440680" y="1847088"/>
            <a:ext cx="3246120" cy="310896"/>
          </a:xfrm>
          <a:prstGeom prst="roundRect">
            <a:avLst>
              <a:gd name="adj" fmla="val 14706"/>
            </a:avLst>
          </a:prstGeom>
          <a:solidFill>
            <a:srgbClr val="E8F5EF"/>
          </a:solidFill>
          <a:ln w="15875">
            <a:solidFill>
              <a:srgbClr val="00A86A"/>
            </a:solidFill>
            <a:prstDash val="solid"/>
          </a:ln>
        </p:spPr>
      </p:sp>
      <p:sp>
        <p:nvSpPr>
          <p:cNvPr id="24" name="Text 21"/>
          <p:cNvSpPr txBox="1"/>
          <p:nvPr/>
        </p:nvSpPr>
        <p:spPr>
          <a:xfrm>
            <a:off x="2240280" y="1847088"/>
            <a:ext cx="3017520" cy="31089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1992 – 2013 (archive)</a:t>
            </a:r>
            <a:endParaRPr lang="en-US" sz="900" dirty="0"/>
          </a:p>
        </p:txBody>
      </p:sp>
      <p:sp>
        <p:nvSpPr>
          <p:cNvPr id="25" name="Text 22"/>
          <p:cNvSpPr txBox="1"/>
          <p:nvPr/>
        </p:nvSpPr>
        <p:spPr>
          <a:xfrm>
            <a:off x="5532120" y="1847088"/>
            <a:ext cx="3108960" cy="31089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2012 – aujourd’hui (référence)</a:t>
            </a:r>
            <a:endParaRPr lang="en-US" sz="900" dirty="0"/>
          </a:p>
        </p:txBody>
      </p:sp>
      <p:sp>
        <p:nvSpPr>
          <p:cNvPr id="26" name="Text 23"/>
          <p:cNvSpPr txBox="1"/>
          <p:nvPr/>
        </p:nvSpPr>
        <p:spPr>
          <a:xfrm>
            <a:off x="457200" y="2212848"/>
            <a:ext cx="1600200" cy="31089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Radiométrie</a:t>
            </a:r>
            <a:endParaRPr lang="en-US" sz="1100" dirty="0"/>
          </a:p>
        </p:txBody>
      </p:sp>
      <p:sp>
        <p:nvSpPr>
          <p:cNvPr id="27" name="Shape 24"/>
          <p:cNvSpPr/>
          <p:nvPr/>
        </p:nvSpPr>
        <p:spPr>
          <a:xfrm>
            <a:off x="2148840" y="2212848"/>
            <a:ext cx="3154680" cy="310896"/>
          </a:xfrm>
          <a:prstGeom prst="roundRect">
            <a:avLst>
              <a:gd name="adj" fmla="val 14706"/>
            </a:avLst>
          </a:prstGeom>
          <a:solidFill>
            <a:srgbClr val="F4F7F5"/>
          </a:solidFill>
          <a:ln w="9525">
            <a:solidFill>
              <a:srgbClr val="D5DED9"/>
            </a:solidFill>
            <a:prstDash val="solid"/>
          </a:ln>
        </p:spPr>
      </p:sp>
      <p:sp>
        <p:nvSpPr>
          <p:cNvPr id="28" name="Shape 25"/>
          <p:cNvSpPr/>
          <p:nvPr/>
        </p:nvSpPr>
        <p:spPr>
          <a:xfrm>
            <a:off x="5440680" y="2212848"/>
            <a:ext cx="3246120" cy="310896"/>
          </a:xfrm>
          <a:prstGeom prst="roundRect">
            <a:avLst>
              <a:gd name="adj" fmla="val 14706"/>
            </a:avLst>
          </a:prstGeom>
          <a:solidFill>
            <a:srgbClr val="E8F5EF"/>
          </a:solidFill>
          <a:ln w="15875">
            <a:solidFill>
              <a:srgbClr val="00A86A"/>
            </a:solidFill>
            <a:prstDash val="solid"/>
          </a:ln>
        </p:spPr>
      </p:sp>
      <p:sp>
        <p:nvSpPr>
          <p:cNvPr id="29" name="Text 26"/>
          <p:cNvSpPr txBox="1"/>
          <p:nvPr/>
        </p:nvSpPr>
        <p:spPr>
          <a:xfrm>
            <a:off x="2240280" y="2212848"/>
            <a:ext cx="3017520" cy="31089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Nombres numériques 6 bits (0–63), sans étalonnage à bord</a:t>
            </a:r>
            <a:endParaRPr lang="en-US" sz="900" dirty="0"/>
          </a:p>
        </p:txBody>
      </p:sp>
      <p:sp>
        <p:nvSpPr>
          <p:cNvPr id="30" name="Text 27"/>
          <p:cNvSpPr txBox="1"/>
          <p:nvPr/>
        </p:nvSpPr>
        <p:spPr>
          <a:xfrm>
            <a:off x="5532120" y="2212848"/>
            <a:ext cx="3108960" cy="31089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14 bits, radiance étalonnée en nW·cm⁻²·sr⁻¹</a:t>
            </a:r>
            <a:endParaRPr lang="en-US" sz="900" dirty="0"/>
          </a:p>
        </p:txBody>
      </p:sp>
      <p:sp>
        <p:nvSpPr>
          <p:cNvPr id="31" name="Text 28"/>
          <p:cNvSpPr txBox="1"/>
          <p:nvPr/>
        </p:nvSpPr>
        <p:spPr>
          <a:xfrm>
            <a:off x="457200" y="2578608"/>
            <a:ext cx="1600200" cy="31089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Résolution</a:t>
            </a:r>
            <a:endParaRPr lang="en-US" sz="1100" dirty="0"/>
          </a:p>
        </p:txBody>
      </p:sp>
      <p:sp>
        <p:nvSpPr>
          <p:cNvPr id="32" name="Shape 29"/>
          <p:cNvSpPr/>
          <p:nvPr/>
        </p:nvSpPr>
        <p:spPr>
          <a:xfrm>
            <a:off x="2148840" y="2578608"/>
            <a:ext cx="3154680" cy="310896"/>
          </a:xfrm>
          <a:prstGeom prst="roundRect">
            <a:avLst>
              <a:gd name="adj" fmla="val 14706"/>
            </a:avLst>
          </a:prstGeom>
          <a:solidFill>
            <a:srgbClr val="F4F7F5"/>
          </a:solidFill>
          <a:ln w="9525">
            <a:solidFill>
              <a:srgbClr val="D5DED9"/>
            </a:solidFill>
            <a:prstDash val="solid"/>
          </a:ln>
        </p:spPr>
      </p:sp>
      <p:sp>
        <p:nvSpPr>
          <p:cNvPr id="33" name="Shape 30"/>
          <p:cNvSpPr/>
          <p:nvPr/>
        </p:nvSpPr>
        <p:spPr>
          <a:xfrm>
            <a:off x="5440680" y="2578608"/>
            <a:ext cx="3246120" cy="310896"/>
          </a:xfrm>
          <a:prstGeom prst="roundRect">
            <a:avLst>
              <a:gd name="adj" fmla="val 14706"/>
            </a:avLst>
          </a:prstGeom>
          <a:solidFill>
            <a:srgbClr val="E8F5EF"/>
          </a:solidFill>
          <a:ln w="15875">
            <a:solidFill>
              <a:srgbClr val="00A86A"/>
            </a:solidFill>
            <a:prstDash val="solid"/>
          </a:ln>
        </p:spPr>
      </p:sp>
      <p:sp>
        <p:nvSpPr>
          <p:cNvPr id="34" name="Text 31"/>
          <p:cNvSpPr txBox="1"/>
          <p:nvPr/>
        </p:nvSpPr>
        <p:spPr>
          <a:xfrm>
            <a:off x="2240280" y="2578608"/>
            <a:ext cx="3017520" cy="31089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 2,7 km, grille à 30 secondes d’arc (≈ 1 km)</a:t>
            </a:r>
            <a:endParaRPr lang="en-US" sz="900" dirty="0"/>
          </a:p>
        </p:txBody>
      </p:sp>
      <p:sp>
        <p:nvSpPr>
          <p:cNvPr id="35" name="Text 32"/>
          <p:cNvSpPr txBox="1"/>
          <p:nvPr/>
        </p:nvSpPr>
        <p:spPr>
          <a:xfrm>
            <a:off x="5532120" y="2578608"/>
            <a:ext cx="3108960" cy="31089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742 m, quasi constante sur la fauchée</a:t>
            </a:r>
            <a:endParaRPr lang="en-US" sz="900" dirty="0"/>
          </a:p>
        </p:txBody>
      </p:sp>
      <p:sp>
        <p:nvSpPr>
          <p:cNvPr id="36" name="Text 33"/>
          <p:cNvSpPr txBox="1"/>
          <p:nvPr/>
        </p:nvSpPr>
        <p:spPr>
          <a:xfrm>
            <a:off x="457200" y="2944368"/>
            <a:ext cx="1600200" cy="31089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Saturation</a:t>
            </a:r>
            <a:endParaRPr lang="en-US" sz="1100" dirty="0"/>
          </a:p>
        </p:txBody>
      </p:sp>
      <p:sp>
        <p:nvSpPr>
          <p:cNvPr id="37" name="Shape 34"/>
          <p:cNvSpPr/>
          <p:nvPr/>
        </p:nvSpPr>
        <p:spPr>
          <a:xfrm>
            <a:off x="2148840" y="2944368"/>
            <a:ext cx="3154680" cy="310896"/>
          </a:xfrm>
          <a:prstGeom prst="roundRect">
            <a:avLst>
              <a:gd name="adj" fmla="val 14706"/>
            </a:avLst>
          </a:prstGeom>
          <a:solidFill>
            <a:srgbClr val="F4F7F5"/>
          </a:solidFill>
          <a:ln w="9525">
            <a:solidFill>
              <a:srgbClr val="D5DED9"/>
            </a:solidFill>
            <a:prstDash val="solid"/>
          </a:ln>
        </p:spPr>
      </p:sp>
      <p:sp>
        <p:nvSpPr>
          <p:cNvPr id="38" name="Shape 35"/>
          <p:cNvSpPr/>
          <p:nvPr/>
        </p:nvSpPr>
        <p:spPr>
          <a:xfrm>
            <a:off x="5440680" y="2944368"/>
            <a:ext cx="3246120" cy="310896"/>
          </a:xfrm>
          <a:prstGeom prst="roundRect">
            <a:avLst>
              <a:gd name="adj" fmla="val 14706"/>
            </a:avLst>
          </a:prstGeom>
          <a:solidFill>
            <a:srgbClr val="E8F5EF"/>
          </a:solidFill>
          <a:ln w="15875">
            <a:solidFill>
              <a:srgbClr val="00A86A"/>
            </a:solidFill>
            <a:prstDash val="solid"/>
          </a:ln>
        </p:spPr>
      </p:sp>
      <p:sp>
        <p:nvSpPr>
          <p:cNvPr id="39" name="Text 36"/>
          <p:cNvSpPr txBox="1"/>
          <p:nvPr/>
        </p:nvSpPr>
        <p:spPr>
          <a:xfrm>
            <a:off x="2240280" y="2944368"/>
            <a:ext cx="3017520" cy="31089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Les centres-villes plafonnent à 63</a:t>
            </a:r>
            <a:endParaRPr lang="en-US" sz="900" dirty="0"/>
          </a:p>
        </p:txBody>
      </p:sp>
      <p:sp>
        <p:nvSpPr>
          <p:cNvPr id="40" name="Text 37"/>
          <p:cNvSpPr txBox="1"/>
          <p:nvPr/>
        </p:nvSpPr>
        <p:spPr>
          <a:xfrm>
            <a:off x="5532120" y="2944368"/>
            <a:ext cx="3108960" cy="31089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Grande dynamique, trois étages de gain</a:t>
            </a:r>
            <a:endParaRPr lang="en-US" sz="900" dirty="0"/>
          </a:p>
        </p:txBody>
      </p:sp>
      <p:sp>
        <p:nvSpPr>
          <p:cNvPr id="41" name="Text 38"/>
          <p:cNvSpPr txBox="1"/>
          <p:nvPr/>
        </p:nvSpPr>
        <p:spPr>
          <a:xfrm>
            <a:off x="457200" y="3310128"/>
            <a:ext cx="1600200" cy="31089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Sensibilité</a:t>
            </a:r>
            <a:endParaRPr lang="en-US" sz="1100" dirty="0"/>
          </a:p>
        </p:txBody>
      </p:sp>
      <p:sp>
        <p:nvSpPr>
          <p:cNvPr id="42" name="Shape 39"/>
          <p:cNvSpPr/>
          <p:nvPr/>
        </p:nvSpPr>
        <p:spPr>
          <a:xfrm>
            <a:off x="2148840" y="3310128"/>
            <a:ext cx="3154680" cy="310896"/>
          </a:xfrm>
          <a:prstGeom prst="roundRect">
            <a:avLst>
              <a:gd name="adj" fmla="val 14706"/>
            </a:avLst>
          </a:prstGeom>
          <a:solidFill>
            <a:srgbClr val="F4F7F5"/>
          </a:solidFill>
          <a:ln w="9525">
            <a:solidFill>
              <a:srgbClr val="D5DED9"/>
            </a:solidFill>
            <a:prstDash val="solid"/>
          </a:ln>
        </p:spPr>
      </p:sp>
      <p:sp>
        <p:nvSpPr>
          <p:cNvPr id="43" name="Shape 40"/>
          <p:cNvSpPr/>
          <p:nvPr/>
        </p:nvSpPr>
        <p:spPr>
          <a:xfrm>
            <a:off x="5440680" y="3310128"/>
            <a:ext cx="3246120" cy="310896"/>
          </a:xfrm>
          <a:prstGeom prst="roundRect">
            <a:avLst>
              <a:gd name="adj" fmla="val 14706"/>
            </a:avLst>
          </a:prstGeom>
          <a:solidFill>
            <a:srgbClr val="E8F5EF"/>
          </a:solidFill>
          <a:ln w="15875">
            <a:solidFill>
              <a:srgbClr val="00A86A"/>
            </a:solidFill>
            <a:prstDash val="solid"/>
          </a:ln>
        </p:spPr>
      </p:sp>
      <p:sp>
        <p:nvSpPr>
          <p:cNvPr id="44" name="Text 41"/>
          <p:cNvSpPr txBox="1"/>
          <p:nvPr/>
        </p:nvSpPr>
        <p:spPr>
          <a:xfrm>
            <a:off x="2240280" y="3310128"/>
            <a:ext cx="3017520" cy="31089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Manque l’éclairage rural faible</a:t>
            </a:r>
            <a:endParaRPr lang="en-US" sz="900" dirty="0"/>
          </a:p>
        </p:txBody>
      </p:sp>
      <p:sp>
        <p:nvSpPr>
          <p:cNvPr id="45" name="Text 42"/>
          <p:cNvSpPr txBox="1"/>
          <p:nvPr/>
        </p:nvSpPr>
        <p:spPr>
          <a:xfrm>
            <a:off x="5532120" y="3310128"/>
            <a:ext cx="3108960" cy="31089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Détecte une lumière bien plus faible</a:t>
            </a:r>
            <a:endParaRPr lang="en-US" sz="900" dirty="0"/>
          </a:p>
        </p:txBody>
      </p:sp>
      <p:sp>
        <p:nvSpPr>
          <p:cNvPr id="46" name="Text 43"/>
          <p:cNvSpPr txBox="1"/>
          <p:nvPr/>
        </p:nvSpPr>
        <p:spPr>
          <a:xfrm>
            <a:off x="457200" y="3675888"/>
            <a:ext cx="1600200" cy="31089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Produits</a:t>
            </a:r>
            <a:endParaRPr lang="en-US" sz="1100" dirty="0"/>
          </a:p>
        </p:txBody>
      </p:sp>
      <p:sp>
        <p:nvSpPr>
          <p:cNvPr id="47" name="Shape 44"/>
          <p:cNvSpPr/>
          <p:nvPr/>
        </p:nvSpPr>
        <p:spPr>
          <a:xfrm>
            <a:off x="2148840" y="3675888"/>
            <a:ext cx="3154680" cy="310896"/>
          </a:xfrm>
          <a:prstGeom prst="roundRect">
            <a:avLst>
              <a:gd name="adj" fmla="val 14706"/>
            </a:avLst>
          </a:prstGeom>
          <a:solidFill>
            <a:srgbClr val="F4F7F5"/>
          </a:solidFill>
          <a:ln w="9525">
            <a:solidFill>
              <a:srgbClr val="D5DED9"/>
            </a:solidFill>
            <a:prstDash val="solid"/>
          </a:ln>
        </p:spPr>
      </p:sp>
      <p:sp>
        <p:nvSpPr>
          <p:cNvPr id="48" name="Shape 45"/>
          <p:cNvSpPr/>
          <p:nvPr/>
        </p:nvSpPr>
        <p:spPr>
          <a:xfrm>
            <a:off x="5440680" y="3675888"/>
            <a:ext cx="3246120" cy="310896"/>
          </a:xfrm>
          <a:prstGeom prst="roundRect">
            <a:avLst>
              <a:gd name="adj" fmla="val 14706"/>
            </a:avLst>
          </a:prstGeom>
          <a:solidFill>
            <a:srgbClr val="E8F5EF"/>
          </a:solidFill>
          <a:ln w="15875">
            <a:solidFill>
              <a:srgbClr val="00A86A"/>
            </a:solidFill>
            <a:prstDash val="solid"/>
          </a:ln>
        </p:spPr>
      </p:sp>
      <p:sp>
        <p:nvSpPr>
          <p:cNvPr id="49" name="Text 46"/>
          <p:cNvSpPr txBox="1"/>
          <p:nvPr/>
        </p:nvSpPr>
        <p:spPr>
          <a:xfrm>
            <a:off x="2240280" y="3675888"/>
            <a:ext cx="3017520" cy="31089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Composites annuels uniquement</a:t>
            </a:r>
            <a:endParaRPr lang="en-US" sz="900" dirty="0"/>
          </a:p>
        </p:txBody>
      </p:sp>
      <p:sp>
        <p:nvSpPr>
          <p:cNvPr id="50" name="Text 47"/>
          <p:cNvSpPr txBox="1"/>
          <p:nvPr/>
        </p:nvSpPr>
        <p:spPr>
          <a:xfrm>
            <a:off x="5532120" y="3675888"/>
            <a:ext cx="3108960" cy="31089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Quotidiens, mensuels, annuels — licence ouverte</a:t>
            </a:r>
            <a:endParaRPr lang="en-US" sz="900" dirty="0"/>
          </a:p>
        </p:txBody>
      </p:sp>
      <p:sp>
        <p:nvSpPr>
          <p:cNvPr id="51" name="Shape 48"/>
          <p:cNvSpPr/>
          <p:nvPr/>
        </p:nvSpPr>
        <p:spPr>
          <a:xfrm>
            <a:off x="457200" y="4114800"/>
            <a:ext cx="8229600" cy="457200"/>
          </a:xfrm>
          <a:prstGeom prst="roundRect">
            <a:avLst>
              <a:gd name="adj" fmla="val 16000"/>
            </a:avLst>
          </a:prstGeom>
          <a:solidFill>
            <a:srgbClr val="F4F7F5"/>
          </a:solidFill>
          <a:ln w="9525">
            <a:solidFill>
              <a:srgbClr val="D5DED9"/>
            </a:solidFill>
            <a:prstDash val="solid"/>
          </a:ln>
        </p:spPr>
      </p:sp>
      <p:sp>
        <p:nvSpPr>
          <p:cNvPr id="52" name="Shape 49"/>
          <p:cNvSpPr/>
          <p:nvPr/>
        </p:nvSpPr>
        <p:spPr>
          <a:xfrm>
            <a:off x="548640" y="4169664"/>
            <a:ext cx="347472" cy="347472"/>
          </a:xfrm>
          <a:prstGeom prst="ellipse">
            <a:avLst/>
          </a:prstGeom>
          <a:solidFill>
            <a:srgbClr val="D49A00">
              <a:alpha val="22000"/>
            </a:srgbClr>
          </a:solidFill>
          <a:ln w="12700">
            <a:solidFill>
              <a:srgbClr val="D49A00">
                <a:alpha val="0"/>
              </a:srgbClr>
            </a:solidFill>
            <a:prstDash val="solid"/>
          </a:ln>
        </p:spPr>
      </p:sp>
      <p:pic>
        <p:nvPicPr>
          <p:cNvPr id="53" name="Image 0" descr="preencoded.png">    </p:cNvPr>
          <p:cNvPicPr>
            <a:picLocks noChangeAspect="1"/>
          </p:cNvPicPr>
          <p:nvPr/>
        </p:nvPicPr>
        <p:blipFill>
          <a:blip r:embed="rId1"/>
          <a:stretch>
            <a:fillRect/>
          </a:stretch>
        </p:blipFill>
        <p:spPr>
          <a:xfrm>
            <a:off x="638983" y="4260007"/>
            <a:ext cx="166787" cy="166787"/>
          </a:xfrm>
          <a:prstGeom prst="rect">
            <a:avLst/>
          </a:prstGeom>
        </p:spPr>
      </p:pic>
      <p:sp>
        <p:nvSpPr>
          <p:cNvPr id="54" name="Text 50"/>
          <p:cNvSpPr txBox="1"/>
          <p:nvPr/>
        </p:nvSpPr>
        <p:spPr>
          <a:xfrm>
            <a:off x="1005840" y="4133088"/>
            <a:ext cx="7589520" cy="420624"/>
          </a:xfrm>
          <a:prstGeom prst="rect">
            <a:avLst/>
          </a:prstGeom>
          <a:noFill/>
          <a:ln/>
        </p:spPr>
        <p:txBody>
          <a:bodyPr wrap="square" lIns="0" tIns="0" rIns="0" bIns="0" rtlCol="0" anchor="ctr"/>
          <a:lstStyle/>
          <a:p>
            <a:pPr indent="0" marL="0">
              <a:buNone/>
            </a:pPr>
            <a:r>
              <a:rPr lang="en-US" sz="950" b="1" dirty="0">
                <a:solidFill>
                  <a:srgbClr val="D49A00"/>
                </a:solidFill>
                <a:latin typeface="Calibri" pitchFamily="34" charset="0"/>
                <a:ea typeface="Calibri" pitchFamily="34" charset="-122"/>
                <a:cs typeface="Calibri" pitchFamily="34" charset="-120"/>
              </a:rPr>
              <a:t>Nouvelle génération : </a:t>
            </a:r>
            <a:pPr indent="0" marL="0">
              <a:buNone/>
            </a:pPr>
            <a:r>
              <a:rPr lang="en-US" sz="950" dirty="0">
                <a:solidFill>
                  <a:srgbClr val="231F20"/>
                </a:solidFill>
                <a:latin typeface="Calibri" pitchFamily="34" charset="0"/>
                <a:ea typeface="Calibri" pitchFamily="34" charset="-122"/>
                <a:cs typeface="Calibri" pitchFamily="34" charset="-120"/>
              </a:rPr>
              <a:t>Luojia-1-01 (≈ 130 m), SDGSAT-1 Glimmer (10 m panchromatique, 40 m couleur) et les constellations commerciales distinguent les rues et les types de lampes par leur couleur.</a:t>
            </a:r>
            <a:endParaRPr lang="en-US" sz="9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LES INSTRUMENTS · DYNAMIQUE DE MESURE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Le plus lumineux, le moins informatif</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00704A"/>
          </a:solidFill>
          <a:ln w="12700">
            <a:solidFill>
              <a:srgbClr val="00704A"/>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7" name="Shape 14"/>
          <p:cNvSpPr/>
          <p:nvPr/>
        </p:nvSpPr>
        <p:spPr>
          <a:xfrm>
            <a:off x="457200" y="1371600"/>
            <a:ext cx="384048" cy="384048"/>
          </a:xfrm>
          <a:prstGeom prst="ellipse">
            <a:avLst/>
          </a:prstGeom>
          <a:solidFill>
            <a:srgbClr val="00704A">
              <a:alpha val="22000"/>
            </a:srgbClr>
          </a:solidFill>
          <a:ln w="12700">
            <a:solidFill>
              <a:srgbClr val="00704A">
                <a:alpha val="0"/>
              </a:srgbClr>
            </a:solidFill>
            <a:prstDash val="solid"/>
          </a:ln>
        </p:spPr>
      </p:sp>
      <p:pic>
        <p:nvPicPr>
          <p:cNvPr id="18" name="Image 0" descr="preencoded.png">    </p:cNvPr>
          <p:cNvPicPr>
            <a:picLocks noChangeAspect="1"/>
          </p:cNvPicPr>
          <p:nvPr/>
        </p:nvPicPr>
        <p:blipFill>
          <a:blip r:embed="rId1"/>
          <a:stretch>
            <a:fillRect/>
          </a:stretch>
        </p:blipFill>
        <p:spPr>
          <a:xfrm>
            <a:off x="557052" y="1471452"/>
            <a:ext cx="184343" cy="184343"/>
          </a:xfrm>
          <a:prstGeom prst="rect">
            <a:avLst/>
          </a:prstGeom>
        </p:spPr>
      </p:pic>
      <p:sp>
        <p:nvSpPr>
          <p:cNvPr id="19" name="Text 15"/>
          <p:cNvSpPr txBox="1"/>
          <p:nvPr/>
        </p:nvSpPr>
        <p:spPr>
          <a:xfrm>
            <a:off x="960120" y="1316736"/>
            <a:ext cx="3291840" cy="54864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Au-delà d’une certaine luminosité, le DMSP renvoie 63 : banlieue et centre-ville deviennent identiques.</a:t>
            </a:r>
            <a:endParaRPr lang="en-US" sz="1000" dirty="0"/>
          </a:p>
        </p:txBody>
      </p:sp>
      <p:sp>
        <p:nvSpPr>
          <p:cNvPr id="20" name="Shape 16"/>
          <p:cNvSpPr/>
          <p:nvPr/>
        </p:nvSpPr>
        <p:spPr>
          <a:xfrm>
            <a:off x="457200" y="2029968"/>
            <a:ext cx="384048" cy="384048"/>
          </a:xfrm>
          <a:prstGeom prst="ellipse">
            <a:avLst/>
          </a:prstGeom>
          <a:solidFill>
            <a:srgbClr val="00704A">
              <a:alpha val="22000"/>
            </a:srgbClr>
          </a:solidFill>
          <a:ln w="12700">
            <a:solidFill>
              <a:srgbClr val="00704A">
                <a:alpha val="0"/>
              </a:srgbClr>
            </a:solidFill>
            <a:prstDash val="solid"/>
          </a:ln>
        </p:spPr>
      </p:sp>
      <p:pic>
        <p:nvPicPr>
          <p:cNvPr id="21" name="Image 1" descr="preencoded.png">    </p:cNvPr>
          <p:cNvPicPr>
            <a:picLocks noChangeAspect="1"/>
          </p:cNvPicPr>
          <p:nvPr/>
        </p:nvPicPr>
        <p:blipFill>
          <a:blip r:embed="rId2"/>
          <a:stretch>
            <a:fillRect/>
          </a:stretch>
        </p:blipFill>
        <p:spPr>
          <a:xfrm>
            <a:off x="557052" y="2129820"/>
            <a:ext cx="184343" cy="184343"/>
          </a:xfrm>
          <a:prstGeom prst="rect">
            <a:avLst/>
          </a:prstGeom>
        </p:spPr>
      </p:pic>
      <p:sp>
        <p:nvSpPr>
          <p:cNvPr id="22" name="Text 17"/>
          <p:cNvSpPr txBox="1"/>
          <p:nvPr/>
        </p:nvSpPr>
        <p:spPr>
          <a:xfrm>
            <a:off x="960120" y="1975104"/>
            <a:ext cx="3291840" cy="54864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VIIRS couvre environ sept ordres de grandeur, avec trois étages de gain commutables.</a:t>
            </a:r>
            <a:endParaRPr lang="en-US" sz="1000" dirty="0"/>
          </a:p>
        </p:txBody>
      </p:sp>
      <p:sp>
        <p:nvSpPr>
          <p:cNvPr id="23" name="Shape 18"/>
          <p:cNvSpPr/>
          <p:nvPr/>
        </p:nvSpPr>
        <p:spPr>
          <a:xfrm>
            <a:off x="457200" y="2688336"/>
            <a:ext cx="384048" cy="384048"/>
          </a:xfrm>
          <a:prstGeom prst="ellipse">
            <a:avLst/>
          </a:prstGeom>
          <a:solidFill>
            <a:srgbClr val="00704A">
              <a:alpha val="22000"/>
            </a:srgbClr>
          </a:solidFill>
          <a:ln w="12700">
            <a:solidFill>
              <a:srgbClr val="00704A">
                <a:alpha val="0"/>
              </a:srgbClr>
            </a:solidFill>
            <a:prstDash val="solid"/>
          </a:ln>
        </p:spPr>
      </p:sp>
      <p:pic>
        <p:nvPicPr>
          <p:cNvPr id="24" name="Image 2" descr="preencoded.png">    </p:cNvPr>
          <p:cNvPicPr>
            <a:picLocks noChangeAspect="1"/>
          </p:cNvPicPr>
          <p:nvPr/>
        </p:nvPicPr>
        <p:blipFill>
          <a:blip r:embed="rId3"/>
          <a:stretch>
            <a:fillRect/>
          </a:stretch>
        </p:blipFill>
        <p:spPr>
          <a:xfrm>
            <a:off x="557052" y="2788188"/>
            <a:ext cx="184343" cy="184343"/>
          </a:xfrm>
          <a:prstGeom prst="rect">
            <a:avLst/>
          </a:prstGeom>
        </p:spPr>
      </p:pic>
      <p:sp>
        <p:nvSpPr>
          <p:cNvPr id="25" name="Text 19"/>
          <p:cNvSpPr txBox="1"/>
          <p:nvPr/>
        </p:nvSpPr>
        <p:spPr>
          <a:xfrm>
            <a:off x="960120" y="2633472"/>
            <a:ext cx="3291840" cy="54864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Son faible bruit de fond rend visible un seul bateau de pêche éclairé sur un lac ou un océan sombre.</a:t>
            </a:r>
            <a:endParaRPr lang="en-US" sz="1000" dirty="0"/>
          </a:p>
        </p:txBody>
      </p:sp>
      <p:sp>
        <p:nvSpPr>
          <p:cNvPr id="26" name="Shape 20"/>
          <p:cNvSpPr/>
          <p:nvPr/>
        </p:nvSpPr>
        <p:spPr>
          <a:xfrm>
            <a:off x="457200" y="3429000"/>
            <a:ext cx="3749040" cy="1097280"/>
          </a:xfrm>
          <a:prstGeom prst="roundRect">
            <a:avLst>
              <a:gd name="adj" fmla="val 6667"/>
            </a:avLst>
          </a:prstGeom>
          <a:solidFill>
            <a:srgbClr val="D49A00">
              <a:alpha val="13000"/>
            </a:srgbClr>
          </a:solidFill>
          <a:ln w="12700">
            <a:solidFill>
              <a:srgbClr val="D49A00"/>
            </a:solidFill>
            <a:prstDash val="solid"/>
          </a:ln>
        </p:spPr>
      </p:sp>
      <p:sp>
        <p:nvSpPr>
          <p:cNvPr id="27" name="Shape 21"/>
          <p:cNvSpPr/>
          <p:nvPr/>
        </p:nvSpPr>
        <p:spPr>
          <a:xfrm>
            <a:off x="566928" y="3538728"/>
            <a:ext cx="384048" cy="384048"/>
          </a:xfrm>
          <a:prstGeom prst="ellipse">
            <a:avLst/>
          </a:prstGeom>
          <a:solidFill>
            <a:srgbClr val="D49A00">
              <a:alpha val="22000"/>
            </a:srgbClr>
          </a:solidFill>
          <a:ln w="12700">
            <a:solidFill>
              <a:srgbClr val="D49A00">
                <a:alpha val="0"/>
              </a:srgbClr>
            </a:solidFill>
            <a:prstDash val="solid"/>
          </a:ln>
        </p:spPr>
      </p:sp>
      <p:pic>
        <p:nvPicPr>
          <p:cNvPr id="28" name="Image 3" descr="preencoded.png">    </p:cNvPr>
          <p:cNvPicPr>
            <a:picLocks noChangeAspect="1"/>
          </p:cNvPicPr>
          <p:nvPr/>
        </p:nvPicPr>
        <p:blipFill>
          <a:blip r:embed="rId4"/>
          <a:stretch>
            <a:fillRect/>
          </a:stretch>
        </p:blipFill>
        <p:spPr>
          <a:xfrm>
            <a:off x="666780" y="3638580"/>
            <a:ext cx="184343" cy="184343"/>
          </a:xfrm>
          <a:prstGeom prst="rect">
            <a:avLst/>
          </a:prstGeom>
        </p:spPr>
      </p:pic>
      <p:sp>
        <p:nvSpPr>
          <p:cNvPr id="29" name="Text 22"/>
          <p:cNvSpPr txBox="1"/>
          <p:nvPr/>
        </p:nvSpPr>
        <p:spPr>
          <a:xfrm>
            <a:off x="1051560" y="3538728"/>
            <a:ext cx="3017520" cy="237744"/>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À lire avant toute régression</a:t>
            </a:r>
            <a:endParaRPr lang="en-US" sz="1200" dirty="0"/>
          </a:p>
        </p:txBody>
      </p:sp>
      <p:sp>
        <p:nvSpPr>
          <p:cNvPr id="30" name="Text 23"/>
          <p:cNvSpPr txBox="1"/>
          <p:nvPr/>
        </p:nvSpPr>
        <p:spPr>
          <a:xfrm>
            <a:off x="1051560" y="3785616"/>
            <a:ext cx="3090672" cy="713232"/>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La saturation est un plafond, pas un bruit qu’on moyenne. L’information n’a jamais été enregistrée — la corriger revient à modéliser ce que le capteur n’a pas vu.</a:t>
            </a:r>
            <a:endParaRPr lang="en-US" sz="950" dirty="0"/>
          </a:p>
        </p:txBody>
      </p:sp>
      <p:graphicFrame>
        <p:nvGraphicFramePr>
          <p:cNvPr id="31" name="Chart 0" descr=""/>
          <p:cNvGraphicFramePr/>
          <p:nvPr/>
        </p:nvGraphicFramePr>
        <p:xfrm>
          <a:off x="4480560" y="1325880"/>
          <a:ext cx="4206240" cy="3063240"/>
        </p:xfrm>
        <a:graphic xmlns:a="http://schemas.openxmlformats.org/drawingml/2006/main">
          <a:graphicData uri="http://schemas.openxmlformats.org/drawingml/2006/chart">
            <c:chart xmlns:c="http://schemas.openxmlformats.org/drawingml/2006/chart" r:id="rId5"/>
          </a:graphicData>
        </a:graphic>
      </p:graphicFrame>
      <p:sp>
        <p:nvSpPr>
          <p:cNvPr id="32" name="Text 24"/>
          <p:cNvSpPr txBox="1"/>
          <p:nvPr/>
        </p:nvSpPr>
        <p:spPr>
          <a:xfrm>
            <a:off x="4480560" y="4434840"/>
            <a:ext cx="420624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Illustration schématique — données non ajustées. Plage VIIRS d’après Elvidge et al. (2017).</a:t>
            </a:r>
            <a:endParaRPr lang="en-US"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3</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03</a:t>
            </a:r>
            <a:endParaRPr lang="en-US" sz="9600" dirty="0"/>
          </a:p>
        </p:txBody>
      </p:sp>
      <p:sp>
        <p:nvSpPr>
          <p:cNvPr id="5" name="Text 3"/>
          <p:cNvSpPr txBox="1"/>
          <p:nvPr/>
        </p:nvSpPr>
        <p:spPr>
          <a:xfrm>
            <a:off x="548640" y="2240280"/>
            <a:ext cx="5486400" cy="6858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Des photons aux données</a:t>
            </a:r>
            <a:endParaRPr lang="en-US" sz="3600" dirty="0"/>
          </a:p>
        </p:txBody>
      </p:sp>
      <p:sp>
        <p:nvSpPr>
          <p:cNvPr id="6" name="Text 4"/>
          <p:cNvSpPr txBox="1"/>
          <p:nvPr/>
        </p:nvSpPr>
        <p:spPr>
          <a:xfrm>
            <a:off x="548640" y="2971800"/>
            <a:ext cx="5120640" cy="59436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Comment une nuit d’observations devient-elle un chiffre publiable ?</a:t>
            </a:r>
            <a:endParaRPr lang="en-US" sz="1800" dirty="0"/>
          </a:p>
        </p:txBody>
      </p:sp>
      <p:sp>
        <p:nvSpPr>
          <p:cNvPr id="7" name="Text 5"/>
          <p:cNvSpPr txBox="1"/>
          <p:nvPr/>
        </p:nvSpPr>
        <p:spPr>
          <a:xfrm>
            <a:off x="548640" y="3703320"/>
            <a:ext cx="530352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Traitement  ·  Produits  ·  Ce qui brille  ·  Indicateurs  ·  Exemple</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5C242"/>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r>
          <p:cNvPicPr>
            <a:picLocks noChangeAspect="1"/>
          </p:cNvPicPr>
          <p:nvPr/>
        </p:nvPicPr>
        <p:blipFill>
          <a:blip r:embed="rId2"/>
          <a:stretch>
            <a:fillRect/>
          </a:stretch>
        </p:blipFill>
        <p:spPr>
          <a:xfrm>
            <a:off x="6848856" y="2276856"/>
            <a:ext cx="475488" cy="475488"/>
          </a:xfrm>
          <a:prstGeom prst="rect">
            <a:avLst/>
          </a:prstGeom>
        </p:spPr>
      </p:pic>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DES PHOTONS AUX DONNÉES · MÉTHODE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Comment on fabrique une image nocturne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sp>
        <p:nvSpPr>
          <p:cNvPr id="17" name="Shape 14"/>
          <p:cNvSpPr/>
          <p:nvPr/>
        </p:nvSpPr>
        <p:spPr>
          <a:xfrm>
            <a:off x="457200" y="1325880"/>
            <a:ext cx="1481328" cy="1920240"/>
          </a:xfrm>
          <a:prstGeom prst="roundRect">
            <a:avLst>
              <a:gd name="adj" fmla="val 4938"/>
            </a:avLst>
          </a:prstGeom>
          <a:solidFill>
            <a:srgbClr val="F4F7F5"/>
          </a:solidFill>
          <a:ln w="9525">
            <a:solidFill>
              <a:srgbClr val="D5DED9"/>
            </a:solidFill>
            <a:prstDash val="solid"/>
          </a:ln>
        </p:spPr>
      </p:sp>
      <p:sp>
        <p:nvSpPr>
          <p:cNvPr id="18" name="Shape 15"/>
          <p:cNvSpPr/>
          <p:nvPr/>
        </p:nvSpPr>
        <p:spPr>
          <a:xfrm>
            <a:off x="923544" y="1444752"/>
            <a:ext cx="548640" cy="548640"/>
          </a:xfrm>
          <a:prstGeom prst="ellipse">
            <a:avLst/>
          </a:prstGeom>
          <a:solidFill>
            <a:srgbClr val="0E7C86">
              <a:alpha val="22000"/>
            </a:srgbClr>
          </a:solidFill>
          <a:ln w="12700">
            <a:solidFill>
              <a:srgbClr val="0E7C86">
                <a:alpha val="0"/>
              </a:srgbClr>
            </a:solidFill>
            <a:prstDash val="solid"/>
          </a:ln>
        </p:spPr>
      </p:sp>
      <p:pic>
        <p:nvPicPr>
          <p:cNvPr id="19" name="Image 0" descr="preencoded.png">    </p:cNvPr>
          <p:cNvPicPr>
            <a:picLocks noChangeAspect="1"/>
          </p:cNvPicPr>
          <p:nvPr/>
        </p:nvPicPr>
        <p:blipFill>
          <a:blip r:embed="rId1"/>
          <a:stretch>
            <a:fillRect/>
          </a:stretch>
        </p:blipFill>
        <p:spPr>
          <a:xfrm>
            <a:off x="1066190" y="1587398"/>
            <a:ext cx="263347" cy="263347"/>
          </a:xfrm>
          <a:prstGeom prst="rect">
            <a:avLst/>
          </a:prstGeom>
        </p:spPr>
      </p:pic>
      <p:sp>
        <p:nvSpPr>
          <p:cNvPr id="20" name="Shape 16"/>
          <p:cNvSpPr/>
          <p:nvPr/>
        </p:nvSpPr>
        <p:spPr>
          <a:xfrm>
            <a:off x="548640" y="1417320"/>
            <a:ext cx="256032" cy="256032"/>
          </a:xfrm>
          <a:prstGeom prst="ellipse">
            <a:avLst/>
          </a:prstGeom>
          <a:solidFill>
            <a:srgbClr val="0E7C86"/>
          </a:solidFill>
          <a:ln w="12700">
            <a:solidFill>
              <a:srgbClr val="0E7C86"/>
            </a:solidFill>
            <a:prstDash val="solid"/>
          </a:ln>
        </p:spPr>
      </p:sp>
      <p:sp>
        <p:nvSpPr>
          <p:cNvPr id="21" name="Text 17"/>
          <p:cNvSpPr txBox="1"/>
          <p:nvPr/>
        </p:nvSpPr>
        <p:spPr>
          <a:xfrm>
            <a:off x="548640" y="141732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2" name="Text 18"/>
          <p:cNvSpPr txBox="1"/>
          <p:nvPr/>
        </p:nvSpPr>
        <p:spPr>
          <a:xfrm>
            <a:off x="530352" y="2066544"/>
            <a:ext cx="1335024" cy="256032"/>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Filtrer les nuages</a:t>
            </a:r>
            <a:endParaRPr lang="en-US" sz="1100" dirty="0"/>
          </a:p>
        </p:txBody>
      </p:sp>
      <p:sp>
        <p:nvSpPr>
          <p:cNvPr id="23" name="Text 19"/>
          <p:cNvSpPr txBox="1"/>
          <p:nvPr/>
        </p:nvSpPr>
        <p:spPr>
          <a:xfrm>
            <a:off x="548640" y="2359152"/>
            <a:ext cx="1298448" cy="85953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Seules les nuits sans nuages entrent dans un composite. Sous les tropiques humides, la plupart peuvent être écartées.</a:t>
            </a:r>
            <a:endParaRPr lang="en-US" sz="900" dirty="0"/>
          </a:p>
        </p:txBody>
      </p:sp>
      <p:sp>
        <p:nvSpPr>
          <p:cNvPr id="24" name="Shape 20"/>
          <p:cNvSpPr/>
          <p:nvPr/>
        </p:nvSpPr>
        <p:spPr>
          <a:xfrm>
            <a:off x="1956816" y="2286000"/>
            <a:ext cx="164592" cy="91"/>
          </a:xfrm>
          <a:prstGeom prst="line">
            <a:avLst/>
          </a:prstGeom>
          <a:noFill/>
          <a:ln w="15875">
            <a:solidFill>
              <a:srgbClr val="5E6964"/>
            </a:solidFill>
            <a:prstDash val="solid"/>
            <a:tailEnd type="triangle"/>
          </a:ln>
        </p:spPr>
      </p:sp>
      <p:sp>
        <p:nvSpPr>
          <p:cNvPr id="25" name="Shape 21"/>
          <p:cNvSpPr/>
          <p:nvPr/>
        </p:nvSpPr>
        <p:spPr>
          <a:xfrm>
            <a:off x="2139696" y="1325880"/>
            <a:ext cx="1481328" cy="1920240"/>
          </a:xfrm>
          <a:prstGeom prst="roundRect">
            <a:avLst>
              <a:gd name="adj" fmla="val 4938"/>
            </a:avLst>
          </a:prstGeom>
          <a:solidFill>
            <a:srgbClr val="F4F7F5"/>
          </a:solidFill>
          <a:ln w="9525">
            <a:solidFill>
              <a:srgbClr val="D5DED9"/>
            </a:solidFill>
            <a:prstDash val="solid"/>
          </a:ln>
        </p:spPr>
      </p:sp>
      <p:sp>
        <p:nvSpPr>
          <p:cNvPr id="26" name="Shape 22"/>
          <p:cNvSpPr/>
          <p:nvPr/>
        </p:nvSpPr>
        <p:spPr>
          <a:xfrm>
            <a:off x="2606040" y="1444752"/>
            <a:ext cx="548640" cy="548640"/>
          </a:xfrm>
          <a:prstGeom prst="ellipse">
            <a:avLst/>
          </a:prstGeom>
          <a:solidFill>
            <a:srgbClr val="0E7C86">
              <a:alpha val="22000"/>
            </a:srgbClr>
          </a:solidFill>
          <a:ln w="12700">
            <a:solidFill>
              <a:srgbClr val="0E7C86">
                <a:alpha val="0"/>
              </a:srgbClr>
            </a:solidFill>
            <a:prstDash val="solid"/>
          </a:ln>
        </p:spPr>
      </p:sp>
      <p:pic>
        <p:nvPicPr>
          <p:cNvPr id="27" name="Image 1" descr="preencoded.png">    </p:cNvPr>
          <p:cNvPicPr>
            <a:picLocks noChangeAspect="1"/>
          </p:cNvPicPr>
          <p:nvPr/>
        </p:nvPicPr>
        <p:blipFill>
          <a:blip r:embed="rId2"/>
          <a:stretch>
            <a:fillRect/>
          </a:stretch>
        </p:blipFill>
        <p:spPr>
          <a:xfrm>
            <a:off x="2748686" y="1587398"/>
            <a:ext cx="263347" cy="263347"/>
          </a:xfrm>
          <a:prstGeom prst="rect">
            <a:avLst/>
          </a:prstGeom>
        </p:spPr>
      </p:pic>
      <p:sp>
        <p:nvSpPr>
          <p:cNvPr id="28" name="Shape 23"/>
          <p:cNvSpPr/>
          <p:nvPr/>
        </p:nvSpPr>
        <p:spPr>
          <a:xfrm>
            <a:off x="2231136" y="1417320"/>
            <a:ext cx="256032" cy="256032"/>
          </a:xfrm>
          <a:prstGeom prst="ellipse">
            <a:avLst/>
          </a:prstGeom>
          <a:solidFill>
            <a:srgbClr val="0E7C86"/>
          </a:solidFill>
          <a:ln w="12700">
            <a:solidFill>
              <a:srgbClr val="0E7C86"/>
            </a:solidFill>
            <a:prstDash val="solid"/>
          </a:ln>
        </p:spPr>
      </p:sp>
      <p:sp>
        <p:nvSpPr>
          <p:cNvPr id="29" name="Text 24"/>
          <p:cNvSpPr txBox="1"/>
          <p:nvPr/>
        </p:nvSpPr>
        <p:spPr>
          <a:xfrm>
            <a:off x="2231136" y="141732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0" name="Text 25"/>
          <p:cNvSpPr txBox="1"/>
          <p:nvPr/>
        </p:nvSpPr>
        <p:spPr>
          <a:xfrm>
            <a:off x="2212848" y="2066544"/>
            <a:ext cx="1335024" cy="256032"/>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Retirer le soleil</a:t>
            </a:r>
            <a:endParaRPr lang="en-US" sz="1100" dirty="0"/>
          </a:p>
        </p:txBody>
      </p:sp>
      <p:sp>
        <p:nvSpPr>
          <p:cNvPr id="31" name="Text 26"/>
          <p:cNvSpPr txBox="1"/>
          <p:nvPr/>
        </p:nvSpPr>
        <p:spPr>
          <a:xfrm>
            <a:off x="2231136" y="2359152"/>
            <a:ext cx="1298448" cy="85953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Crépuscule, reflets et lumière parasite de l’instrument sont corrigés ou exclus.</a:t>
            </a:r>
            <a:endParaRPr lang="en-US" sz="900" dirty="0"/>
          </a:p>
        </p:txBody>
      </p:sp>
      <p:sp>
        <p:nvSpPr>
          <p:cNvPr id="32" name="Shape 27"/>
          <p:cNvSpPr/>
          <p:nvPr/>
        </p:nvSpPr>
        <p:spPr>
          <a:xfrm>
            <a:off x="3639312" y="2286000"/>
            <a:ext cx="164592" cy="91"/>
          </a:xfrm>
          <a:prstGeom prst="line">
            <a:avLst/>
          </a:prstGeom>
          <a:noFill/>
          <a:ln w="15875">
            <a:solidFill>
              <a:srgbClr val="5E6964"/>
            </a:solidFill>
            <a:prstDash val="solid"/>
            <a:tailEnd type="triangle"/>
          </a:ln>
        </p:spPr>
      </p:sp>
      <p:sp>
        <p:nvSpPr>
          <p:cNvPr id="33" name="Shape 28"/>
          <p:cNvSpPr/>
          <p:nvPr/>
        </p:nvSpPr>
        <p:spPr>
          <a:xfrm>
            <a:off x="3822192" y="1325880"/>
            <a:ext cx="1481328" cy="1920240"/>
          </a:xfrm>
          <a:prstGeom prst="roundRect">
            <a:avLst>
              <a:gd name="adj" fmla="val 4938"/>
            </a:avLst>
          </a:prstGeom>
          <a:solidFill>
            <a:srgbClr val="F4F7F5"/>
          </a:solidFill>
          <a:ln w="9525">
            <a:solidFill>
              <a:srgbClr val="D5DED9"/>
            </a:solidFill>
            <a:prstDash val="solid"/>
          </a:ln>
        </p:spPr>
      </p:sp>
      <p:sp>
        <p:nvSpPr>
          <p:cNvPr id="34" name="Shape 29"/>
          <p:cNvSpPr/>
          <p:nvPr/>
        </p:nvSpPr>
        <p:spPr>
          <a:xfrm>
            <a:off x="4288536" y="1444752"/>
            <a:ext cx="548640" cy="548640"/>
          </a:xfrm>
          <a:prstGeom prst="ellipse">
            <a:avLst/>
          </a:prstGeom>
          <a:solidFill>
            <a:srgbClr val="0E7C86">
              <a:alpha val="22000"/>
            </a:srgbClr>
          </a:solidFill>
          <a:ln w="12700">
            <a:solidFill>
              <a:srgbClr val="0E7C86">
                <a:alpha val="0"/>
              </a:srgbClr>
            </a:solidFill>
            <a:prstDash val="solid"/>
          </a:ln>
        </p:spPr>
      </p:sp>
      <p:pic>
        <p:nvPicPr>
          <p:cNvPr id="35" name="Image 2" descr="preencoded.png">    </p:cNvPr>
          <p:cNvPicPr>
            <a:picLocks noChangeAspect="1"/>
          </p:cNvPicPr>
          <p:nvPr/>
        </p:nvPicPr>
        <p:blipFill>
          <a:blip r:embed="rId3"/>
          <a:stretch>
            <a:fillRect/>
          </a:stretch>
        </p:blipFill>
        <p:spPr>
          <a:xfrm>
            <a:off x="4431182" y="1587398"/>
            <a:ext cx="263347" cy="263347"/>
          </a:xfrm>
          <a:prstGeom prst="rect">
            <a:avLst/>
          </a:prstGeom>
        </p:spPr>
      </p:pic>
      <p:sp>
        <p:nvSpPr>
          <p:cNvPr id="36" name="Shape 30"/>
          <p:cNvSpPr/>
          <p:nvPr/>
        </p:nvSpPr>
        <p:spPr>
          <a:xfrm>
            <a:off x="3913632" y="1417320"/>
            <a:ext cx="256032" cy="256032"/>
          </a:xfrm>
          <a:prstGeom prst="ellipse">
            <a:avLst/>
          </a:prstGeom>
          <a:solidFill>
            <a:srgbClr val="0E7C86"/>
          </a:solidFill>
          <a:ln w="12700">
            <a:solidFill>
              <a:srgbClr val="0E7C86"/>
            </a:solidFill>
            <a:prstDash val="solid"/>
          </a:ln>
        </p:spPr>
      </p:sp>
      <p:sp>
        <p:nvSpPr>
          <p:cNvPr id="37" name="Text 31"/>
          <p:cNvSpPr txBox="1"/>
          <p:nvPr/>
        </p:nvSpPr>
        <p:spPr>
          <a:xfrm>
            <a:off x="3913632" y="141732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8" name="Text 32"/>
          <p:cNvSpPr txBox="1"/>
          <p:nvPr/>
        </p:nvSpPr>
        <p:spPr>
          <a:xfrm>
            <a:off x="3895344" y="2066544"/>
            <a:ext cx="1335024" cy="256032"/>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Corriger la Lune</a:t>
            </a:r>
            <a:endParaRPr lang="en-US" sz="1100" dirty="0"/>
          </a:p>
        </p:txBody>
      </p:sp>
      <p:sp>
        <p:nvSpPr>
          <p:cNvPr id="39" name="Text 33"/>
          <p:cNvSpPr txBox="1"/>
          <p:nvPr/>
        </p:nvSpPr>
        <p:spPr>
          <a:xfrm>
            <a:off x="3913632" y="2359152"/>
            <a:ext cx="1298448" cy="85953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Le clair de lune réfléchi par le sol imite la lumière émise ; il est modélisé et retiré.</a:t>
            </a:r>
            <a:endParaRPr lang="en-US" sz="900" dirty="0"/>
          </a:p>
        </p:txBody>
      </p:sp>
      <p:sp>
        <p:nvSpPr>
          <p:cNvPr id="40" name="Shape 34"/>
          <p:cNvSpPr/>
          <p:nvPr/>
        </p:nvSpPr>
        <p:spPr>
          <a:xfrm>
            <a:off x="5321808" y="2286000"/>
            <a:ext cx="164592" cy="91"/>
          </a:xfrm>
          <a:prstGeom prst="line">
            <a:avLst/>
          </a:prstGeom>
          <a:noFill/>
          <a:ln w="15875">
            <a:solidFill>
              <a:srgbClr val="5E6964"/>
            </a:solidFill>
            <a:prstDash val="solid"/>
            <a:tailEnd type="triangle"/>
          </a:ln>
        </p:spPr>
      </p:sp>
      <p:sp>
        <p:nvSpPr>
          <p:cNvPr id="41" name="Shape 35"/>
          <p:cNvSpPr/>
          <p:nvPr/>
        </p:nvSpPr>
        <p:spPr>
          <a:xfrm>
            <a:off x="5504688" y="1325880"/>
            <a:ext cx="1481328" cy="1920240"/>
          </a:xfrm>
          <a:prstGeom prst="roundRect">
            <a:avLst>
              <a:gd name="adj" fmla="val 4938"/>
            </a:avLst>
          </a:prstGeom>
          <a:solidFill>
            <a:srgbClr val="F4F7F5"/>
          </a:solidFill>
          <a:ln w="9525">
            <a:solidFill>
              <a:srgbClr val="D5DED9"/>
            </a:solidFill>
            <a:prstDash val="solid"/>
          </a:ln>
        </p:spPr>
      </p:sp>
      <p:sp>
        <p:nvSpPr>
          <p:cNvPr id="42" name="Shape 36"/>
          <p:cNvSpPr/>
          <p:nvPr/>
        </p:nvSpPr>
        <p:spPr>
          <a:xfrm>
            <a:off x="5971032" y="1444752"/>
            <a:ext cx="548640" cy="548640"/>
          </a:xfrm>
          <a:prstGeom prst="ellipse">
            <a:avLst/>
          </a:prstGeom>
          <a:solidFill>
            <a:srgbClr val="0E7C86">
              <a:alpha val="22000"/>
            </a:srgbClr>
          </a:solidFill>
          <a:ln w="12700">
            <a:solidFill>
              <a:srgbClr val="0E7C86">
                <a:alpha val="0"/>
              </a:srgbClr>
            </a:solidFill>
            <a:prstDash val="solid"/>
          </a:ln>
        </p:spPr>
      </p:sp>
      <p:pic>
        <p:nvPicPr>
          <p:cNvPr id="43" name="Image 3" descr="preencoded.png">    </p:cNvPr>
          <p:cNvPicPr>
            <a:picLocks noChangeAspect="1"/>
          </p:cNvPicPr>
          <p:nvPr/>
        </p:nvPicPr>
        <p:blipFill>
          <a:blip r:embed="rId4"/>
          <a:stretch>
            <a:fillRect/>
          </a:stretch>
        </p:blipFill>
        <p:spPr>
          <a:xfrm>
            <a:off x="6113678" y="1587398"/>
            <a:ext cx="263347" cy="263347"/>
          </a:xfrm>
          <a:prstGeom prst="rect">
            <a:avLst/>
          </a:prstGeom>
        </p:spPr>
      </p:pic>
      <p:sp>
        <p:nvSpPr>
          <p:cNvPr id="44" name="Shape 37"/>
          <p:cNvSpPr/>
          <p:nvPr/>
        </p:nvSpPr>
        <p:spPr>
          <a:xfrm>
            <a:off x="5596128" y="1417320"/>
            <a:ext cx="256032" cy="256032"/>
          </a:xfrm>
          <a:prstGeom prst="ellipse">
            <a:avLst/>
          </a:prstGeom>
          <a:solidFill>
            <a:srgbClr val="0E7C86"/>
          </a:solidFill>
          <a:ln w="12700">
            <a:solidFill>
              <a:srgbClr val="0E7C86"/>
            </a:solidFill>
            <a:prstDash val="solid"/>
          </a:ln>
        </p:spPr>
      </p:sp>
      <p:sp>
        <p:nvSpPr>
          <p:cNvPr id="45" name="Text 38"/>
          <p:cNvSpPr txBox="1"/>
          <p:nvPr/>
        </p:nvSpPr>
        <p:spPr>
          <a:xfrm>
            <a:off x="5596128" y="141732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6" name="Text 39"/>
          <p:cNvSpPr txBox="1"/>
          <p:nvPr/>
        </p:nvSpPr>
        <p:spPr>
          <a:xfrm>
            <a:off x="5577840" y="2066544"/>
            <a:ext cx="1335024" cy="256032"/>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Écarter l’éphémère</a:t>
            </a:r>
            <a:endParaRPr lang="en-US" sz="1100" dirty="0"/>
          </a:p>
        </p:txBody>
      </p:sp>
      <p:sp>
        <p:nvSpPr>
          <p:cNvPr id="47" name="Text 40"/>
          <p:cNvSpPr txBox="1"/>
          <p:nvPr/>
        </p:nvSpPr>
        <p:spPr>
          <a:xfrm>
            <a:off x="5596128" y="2359152"/>
            <a:ext cx="1298448" cy="85953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Feux, éclairs, aurores et bateaux sont repérés par leur instabilité.</a:t>
            </a:r>
            <a:endParaRPr lang="en-US" sz="900" dirty="0"/>
          </a:p>
        </p:txBody>
      </p:sp>
      <p:sp>
        <p:nvSpPr>
          <p:cNvPr id="48" name="Shape 41"/>
          <p:cNvSpPr/>
          <p:nvPr/>
        </p:nvSpPr>
        <p:spPr>
          <a:xfrm>
            <a:off x="7004304" y="2286000"/>
            <a:ext cx="164592" cy="91"/>
          </a:xfrm>
          <a:prstGeom prst="line">
            <a:avLst/>
          </a:prstGeom>
          <a:noFill/>
          <a:ln w="15875">
            <a:solidFill>
              <a:srgbClr val="5E6964"/>
            </a:solidFill>
            <a:prstDash val="solid"/>
            <a:tailEnd type="triangle"/>
          </a:ln>
        </p:spPr>
      </p:sp>
      <p:sp>
        <p:nvSpPr>
          <p:cNvPr id="49" name="Shape 42"/>
          <p:cNvSpPr/>
          <p:nvPr/>
        </p:nvSpPr>
        <p:spPr>
          <a:xfrm>
            <a:off x="7187184" y="1325880"/>
            <a:ext cx="1481328" cy="1920240"/>
          </a:xfrm>
          <a:prstGeom prst="roundRect">
            <a:avLst>
              <a:gd name="adj" fmla="val 4938"/>
            </a:avLst>
          </a:prstGeom>
          <a:solidFill>
            <a:srgbClr val="F4F7F5"/>
          </a:solidFill>
          <a:ln w="9525">
            <a:solidFill>
              <a:srgbClr val="D5DED9"/>
            </a:solidFill>
            <a:prstDash val="solid"/>
          </a:ln>
        </p:spPr>
      </p:sp>
      <p:sp>
        <p:nvSpPr>
          <p:cNvPr id="50" name="Shape 43"/>
          <p:cNvSpPr/>
          <p:nvPr/>
        </p:nvSpPr>
        <p:spPr>
          <a:xfrm>
            <a:off x="7653528" y="1444752"/>
            <a:ext cx="548640" cy="548640"/>
          </a:xfrm>
          <a:prstGeom prst="ellipse">
            <a:avLst/>
          </a:prstGeom>
          <a:solidFill>
            <a:srgbClr val="0E7C86">
              <a:alpha val="22000"/>
            </a:srgbClr>
          </a:solidFill>
          <a:ln w="12700">
            <a:solidFill>
              <a:srgbClr val="0E7C86">
                <a:alpha val="0"/>
              </a:srgbClr>
            </a:solidFill>
            <a:prstDash val="solid"/>
          </a:ln>
        </p:spPr>
      </p:sp>
      <p:pic>
        <p:nvPicPr>
          <p:cNvPr id="51" name="Image 4" descr="preencoded.png">    </p:cNvPr>
          <p:cNvPicPr>
            <a:picLocks noChangeAspect="1"/>
          </p:cNvPicPr>
          <p:nvPr/>
        </p:nvPicPr>
        <p:blipFill>
          <a:blip r:embed="rId5"/>
          <a:stretch>
            <a:fillRect/>
          </a:stretch>
        </p:blipFill>
        <p:spPr>
          <a:xfrm>
            <a:off x="7796174" y="1587398"/>
            <a:ext cx="263347" cy="263347"/>
          </a:xfrm>
          <a:prstGeom prst="rect">
            <a:avLst/>
          </a:prstGeom>
        </p:spPr>
      </p:pic>
      <p:sp>
        <p:nvSpPr>
          <p:cNvPr id="52" name="Shape 44"/>
          <p:cNvSpPr/>
          <p:nvPr/>
        </p:nvSpPr>
        <p:spPr>
          <a:xfrm>
            <a:off x="7278624" y="1417320"/>
            <a:ext cx="256032" cy="256032"/>
          </a:xfrm>
          <a:prstGeom prst="ellipse">
            <a:avLst/>
          </a:prstGeom>
          <a:solidFill>
            <a:srgbClr val="0E7C86"/>
          </a:solidFill>
          <a:ln w="12700">
            <a:solidFill>
              <a:srgbClr val="0E7C86"/>
            </a:solidFill>
            <a:prstDash val="solid"/>
          </a:ln>
        </p:spPr>
      </p:sp>
      <p:sp>
        <p:nvSpPr>
          <p:cNvPr id="53" name="Text 45"/>
          <p:cNvSpPr txBox="1"/>
          <p:nvPr/>
        </p:nvSpPr>
        <p:spPr>
          <a:xfrm>
            <a:off x="7278624" y="141732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54" name="Text 46"/>
          <p:cNvSpPr txBox="1"/>
          <p:nvPr/>
        </p:nvSpPr>
        <p:spPr>
          <a:xfrm>
            <a:off x="7260336" y="2066544"/>
            <a:ext cx="1335024" cy="256032"/>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Composer, mosaïquer</a:t>
            </a:r>
            <a:endParaRPr lang="en-US" sz="1100" dirty="0"/>
          </a:p>
        </p:txBody>
      </p:sp>
      <p:sp>
        <p:nvSpPr>
          <p:cNvPr id="55" name="Text 47"/>
          <p:cNvSpPr txBox="1"/>
          <p:nvPr/>
        </p:nvSpPr>
        <p:spPr>
          <a:xfrm>
            <a:off x="7278624" y="2359152"/>
            <a:ext cx="1298448" cy="85953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Les nuits retenues sont moyennées en une grille mensuelle ou annuelle, en tuiles.</a:t>
            </a:r>
            <a:endParaRPr lang="en-US" sz="900" dirty="0"/>
          </a:p>
        </p:txBody>
      </p:sp>
      <p:sp>
        <p:nvSpPr>
          <p:cNvPr id="56" name="Shape 48"/>
          <p:cNvSpPr/>
          <p:nvPr/>
        </p:nvSpPr>
        <p:spPr>
          <a:xfrm>
            <a:off x="457200" y="3401568"/>
            <a:ext cx="4937760" cy="1143000"/>
          </a:xfrm>
          <a:prstGeom prst="roundRect">
            <a:avLst>
              <a:gd name="adj" fmla="val 6400"/>
            </a:avLst>
          </a:prstGeom>
          <a:solidFill>
            <a:srgbClr val="E8F5EF"/>
          </a:solidFill>
          <a:ln w="15875">
            <a:solidFill>
              <a:srgbClr val="0E7C86"/>
            </a:solidFill>
            <a:prstDash val="solid"/>
          </a:ln>
        </p:spPr>
      </p:sp>
      <p:sp>
        <p:nvSpPr>
          <p:cNvPr id="57" name="Shape 49"/>
          <p:cNvSpPr/>
          <p:nvPr/>
        </p:nvSpPr>
        <p:spPr>
          <a:xfrm>
            <a:off x="566928" y="3511296"/>
            <a:ext cx="384048" cy="384048"/>
          </a:xfrm>
          <a:prstGeom prst="ellipse">
            <a:avLst/>
          </a:prstGeom>
          <a:solidFill>
            <a:srgbClr val="0E7C86">
              <a:alpha val="22000"/>
            </a:srgbClr>
          </a:solidFill>
          <a:ln w="12700">
            <a:solidFill>
              <a:srgbClr val="0E7C86">
                <a:alpha val="0"/>
              </a:srgbClr>
            </a:solidFill>
            <a:prstDash val="solid"/>
          </a:ln>
        </p:spPr>
      </p:sp>
      <p:pic>
        <p:nvPicPr>
          <p:cNvPr id="58" name="Image 5" descr="preencoded.png">    </p:cNvPr>
          <p:cNvPicPr>
            <a:picLocks noChangeAspect="1"/>
          </p:cNvPicPr>
          <p:nvPr/>
        </p:nvPicPr>
        <p:blipFill>
          <a:blip r:embed="rId6"/>
          <a:stretch>
            <a:fillRect/>
          </a:stretch>
        </p:blipFill>
        <p:spPr>
          <a:xfrm>
            <a:off x="666780" y="3611148"/>
            <a:ext cx="184343" cy="184343"/>
          </a:xfrm>
          <a:prstGeom prst="rect">
            <a:avLst/>
          </a:prstGeom>
        </p:spPr>
      </p:pic>
      <p:sp>
        <p:nvSpPr>
          <p:cNvPr id="59" name="Text 50"/>
          <p:cNvSpPr txBox="1"/>
          <p:nvPr/>
        </p:nvSpPr>
        <p:spPr>
          <a:xfrm>
            <a:off x="1051560" y="3511296"/>
            <a:ext cx="4251960" cy="237744"/>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Vous verrez ces étapes comme des couches à 09h30</a:t>
            </a:r>
            <a:endParaRPr lang="en-US" sz="1200" dirty="0"/>
          </a:p>
        </p:txBody>
      </p:sp>
      <p:sp>
        <p:nvSpPr>
          <p:cNvPr id="60" name="Text 51"/>
          <p:cNvSpPr txBox="1"/>
          <p:nvPr/>
        </p:nvSpPr>
        <p:spPr>
          <a:xfrm>
            <a:off x="1051560" y="3767328"/>
            <a:ext cx="4251960" cy="7315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VNP46A2 contient la radiance corrigée et ses preuves : masque nuageux, irradiance lunaire, indicateur de neige et Mandatory_Quality_Flag (0 = haute qualité ; 1–5 = médiocre, dont aurores et reflets).</a:t>
            </a:r>
            <a:endParaRPr lang="en-US" sz="950" dirty="0"/>
          </a:p>
        </p:txBody>
      </p:sp>
      <p:sp>
        <p:nvSpPr>
          <p:cNvPr id="61" name="Shape 52"/>
          <p:cNvSpPr/>
          <p:nvPr/>
        </p:nvSpPr>
        <p:spPr>
          <a:xfrm>
            <a:off x="5577840" y="3401568"/>
            <a:ext cx="3108960" cy="1143000"/>
          </a:xfrm>
          <a:prstGeom prst="roundRect">
            <a:avLst>
              <a:gd name="adj" fmla="val 6400"/>
            </a:avLst>
          </a:prstGeom>
          <a:solidFill>
            <a:srgbClr val="D49A00">
              <a:alpha val="13000"/>
            </a:srgbClr>
          </a:solidFill>
          <a:ln w="12700">
            <a:solidFill>
              <a:srgbClr val="D49A00"/>
            </a:solidFill>
            <a:prstDash val="solid"/>
          </a:ln>
        </p:spPr>
      </p:sp>
      <p:sp>
        <p:nvSpPr>
          <p:cNvPr id="62" name="Shape 53"/>
          <p:cNvSpPr/>
          <p:nvPr/>
        </p:nvSpPr>
        <p:spPr>
          <a:xfrm>
            <a:off x="5687568" y="3511296"/>
            <a:ext cx="365760" cy="365760"/>
          </a:xfrm>
          <a:prstGeom prst="ellipse">
            <a:avLst/>
          </a:prstGeom>
          <a:solidFill>
            <a:srgbClr val="D49A00">
              <a:alpha val="22000"/>
            </a:srgbClr>
          </a:solidFill>
          <a:ln w="12700">
            <a:solidFill>
              <a:srgbClr val="D49A00">
                <a:alpha val="0"/>
              </a:srgbClr>
            </a:solidFill>
            <a:prstDash val="solid"/>
          </a:ln>
        </p:spPr>
      </p:sp>
      <p:pic>
        <p:nvPicPr>
          <p:cNvPr id="63" name="Image 6" descr="preencoded.png">    </p:cNvPr>
          <p:cNvPicPr>
            <a:picLocks noChangeAspect="1"/>
          </p:cNvPicPr>
          <p:nvPr/>
        </p:nvPicPr>
        <p:blipFill>
          <a:blip r:embed="rId7"/>
          <a:stretch>
            <a:fillRect/>
          </a:stretch>
        </p:blipFill>
        <p:spPr>
          <a:xfrm>
            <a:off x="5782666" y="3606394"/>
            <a:ext cx="175565" cy="175565"/>
          </a:xfrm>
          <a:prstGeom prst="rect">
            <a:avLst/>
          </a:prstGeom>
        </p:spPr>
      </p:pic>
      <p:sp>
        <p:nvSpPr>
          <p:cNvPr id="64" name="Text 54"/>
          <p:cNvSpPr txBox="1"/>
          <p:nvPr/>
        </p:nvSpPr>
        <p:spPr>
          <a:xfrm>
            <a:off x="6144768" y="3511296"/>
            <a:ext cx="2487168" cy="237744"/>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Un produit, pas un instantané</a:t>
            </a:r>
            <a:endParaRPr lang="en-US" sz="1200" dirty="0"/>
          </a:p>
        </p:txBody>
      </p:sp>
      <p:sp>
        <p:nvSpPr>
          <p:cNvPr id="65" name="Text 55"/>
          <p:cNvSpPr txBox="1"/>
          <p:nvPr/>
        </p:nvSpPr>
        <p:spPr>
          <a:xfrm>
            <a:off x="6144768" y="3767328"/>
            <a:ext cx="2468880" cy="7315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Deux produits pour le même mois peuvent légitimement différer. Notez toujours le produit et sa version.</a:t>
            </a:r>
            <a:endParaRPr lang="en-US" sz="950" dirty="0"/>
          </a:p>
        </p:txBody>
      </p:sp>
      <p:sp>
        <p:nvSpPr>
          <p:cNvPr id="66" name="Text 56"/>
          <p:cNvSpPr txBox="1"/>
          <p:nvPr/>
        </p:nvSpPr>
        <p:spPr>
          <a:xfrm>
            <a:off x="457200" y="4617720"/>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Sources : Román et al. (2018) ; NASA LAADS DAAC, page produit VNP46A2 v2.</a:t>
            </a:r>
            <a:endParaRPr lang="en-US" sz="9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DES PHOTONS AUX DONNÉES · PRODUITS · LABO DE 09H30</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La famille de produits NASA Black Marble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7" name="Text 14"/>
          <p:cNvSpPr txBox="1"/>
          <p:nvPr/>
        </p:nvSpPr>
        <p:spPr>
          <a:xfrm>
            <a:off x="457200" y="2103120"/>
            <a:ext cx="1097280" cy="45720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Contenu</a:t>
            </a:r>
            <a:endParaRPr lang="en-US" sz="1050" dirty="0"/>
          </a:p>
        </p:txBody>
      </p:sp>
      <p:sp>
        <p:nvSpPr>
          <p:cNvPr id="18" name="Text 15"/>
          <p:cNvSpPr txBox="1"/>
          <p:nvPr/>
        </p:nvSpPr>
        <p:spPr>
          <a:xfrm>
            <a:off x="457200" y="2633472"/>
            <a:ext cx="1097280" cy="45720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Corrections</a:t>
            </a:r>
            <a:endParaRPr lang="en-US" sz="1050" dirty="0"/>
          </a:p>
        </p:txBody>
      </p:sp>
      <p:sp>
        <p:nvSpPr>
          <p:cNvPr id="19" name="Text 16"/>
          <p:cNvSpPr txBox="1"/>
          <p:nvPr/>
        </p:nvSpPr>
        <p:spPr>
          <a:xfrm>
            <a:off x="457200" y="3163824"/>
            <a:ext cx="1097280" cy="45720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Usage type</a:t>
            </a:r>
            <a:endParaRPr lang="en-US" sz="1050" dirty="0"/>
          </a:p>
        </p:txBody>
      </p:sp>
      <p:sp>
        <p:nvSpPr>
          <p:cNvPr id="20" name="Shape 17"/>
          <p:cNvSpPr/>
          <p:nvPr/>
        </p:nvSpPr>
        <p:spPr>
          <a:xfrm>
            <a:off x="1600200" y="1325880"/>
            <a:ext cx="1645920" cy="685800"/>
          </a:xfrm>
          <a:prstGeom prst="roundRect">
            <a:avLst>
              <a:gd name="adj" fmla="val 10667"/>
            </a:avLst>
          </a:prstGeom>
          <a:solidFill>
            <a:srgbClr val="5E6964"/>
          </a:solidFill>
          <a:ln w="9525">
            <a:solidFill>
              <a:srgbClr val="5E6964"/>
            </a:solidFill>
            <a:prstDash val="solid"/>
          </a:ln>
        </p:spPr>
      </p:sp>
      <p:sp>
        <p:nvSpPr>
          <p:cNvPr id="21" name="Text 18"/>
          <p:cNvSpPr txBox="1"/>
          <p:nvPr/>
        </p:nvSpPr>
        <p:spPr>
          <a:xfrm>
            <a:off x="1600200" y="1371600"/>
            <a:ext cx="164592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VNP46A1</a:t>
            </a:r>
            <a:endParaRPr lang="en-US" sz="1600" dirty="0"/>
          </a:p>
        </p:txBody>
      </p:sp>
      <p:sp>
        <p:nvSpPr>
          <p:cNvPr id="22" name="Text 19"/>
          <p:cNvSpPr txBox="1"/>
          <p:nvPr/>
        </p:nvSpPr>
        <p:spPr>
          <a:xfrm>
            <a:off x="1600200" y="1691640"/>
            <a:ext cx="1645920" cy="228600"/>
          </a:xfrm>
          <a:prstGeom prst="rect">
            <a:avLst/>
          </a:prstGeom>
          <a:noFill/>
          <a:ln/>
        </p:spPr>
        <p:txBody>
          <a:bodyPr wrap="square" lIns="0" tIns="0" rIns="0" bIns="0" rtlCol="0" anchor="t"/>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QUOTIDIEN</a:t>
            </a:r>
            <a:endParaRPr lang="en-US" sz="900" dirty="0"/>
          </a:p>
        </p:txBody>
      </p:sp>
      <p:sp>
        <p:nvSpPr>
          <p:cNvPr id="23" name="Shape 20"/>
          <p:cNvSpPr/>
          <p:nvPr/>
        </p:nvSpPr>
        <p:spPr>
          <a:xfrm>
            <a:off x="1600200" y="2103120"/>
            <a:ext cx="1645920" cy="457200"/>
          </a:xfrm>
          <a:prstGeom prst="roundRect">
            <a:avLst>
              <a:gd name="adj" fmla="val 10000"/>
            </a:avLst>
          </a:prstGeom>
          <a:solidFill>
            <a:srgbClr val="F4F7F5"/>
          </a:solidFill>
          <a:ln w="9525">
            <a:solidFill>
              <a:srgbClr val="D5DED9"/>
            </a:solidFill>
            <a:prstDash val="solid"/>
          </a:ln>
        </p:spPr>
      </p:sp>
      <p:sp>
        <p:nvSpPr>
          <p:cNvPr id="24" name="Text 21"/>
          <p:cNvSpPr txBox="1"/>
          <p:nvPr/>
        </p:nvSpPr>
        <p:spPr>
          <a:xfrm>
            <a:off x="1655064" y="2103120"/>
            <a:ext cx="1536192" cy="457200"/>
          </a:xfrm>
          <a:prstGeom prst="rect">
            <a:avLst/>
          </a:prstGeom>
          <a:noFill/>
          <a:ln/>
        </p:spPr>
        <p:txBody>
          <a:bodyPr wrap="square" lIns="0" tIns="0" rIns="0" bIns="0" rtlCol="0" anchor="ctr"/>
          <a:lstStyle/>
          <a:p>
            <a:pPr algn="ctr" indent="0" marL="0">
              <a:buNone/>
            </a:pPr>
            <a:r>
              <a:rPr lang="en-US" sz="850" dirty="0">
                <a:solidFill>
                  <a:srgbClr val="231F20"/>
                </a:solidFill>
                <a:latin typeface="Calibri" pitchFamily="34" charset="0"/>
                <a:ea typeface="Calibri" pitchFamily="34" charset="-122"/>
                <a:cs typeface="Calibri" pitchFamily="34" charset="-120"/>
              </a:rPr>
              <a:t>Radiance au capteur (sommet de l’atmosphère)</a:t>
            </a:r>
            <a:endParaRPr lang="en-US" sz="850" dirty="0"/>
          </a:p>
        </p:txBody>
      </p:sp>
      <p:sp>
        <p:nvSpPr>
          <p:cNvPr id="25" name="Shape 22"/>
          <p:cNvSpPr/>
          <p:nvPr/>
        </p:nvSpPr>
        <p:spPr>
          <a:xfrm>
            <a:off x="1600200" y="2633472"/>
            <a:ext cx="1645920" cy="457200"/>
          </a:xfrm>
          <a:prstGeom prst="roundRect">
            <a:avLst>
              <a:gd name="adj" fmla="val 10000"/>
            </a:avLst>
          </a:prstGeom>
          <a:solidFill>
            <a:srgbClr val="F4F7F5"/>
          </a:solidFill>
          <a:ln w="9525">
            <a:solidFill>
              <a:srgbClr val="D5DED9"/>
            </a:solidFill>
            <a:prstDash val="solid"/>
          </a:ln>
        </p:spPr>
      </p:sp>
      <p:sp>
        <p:nvSpPr>
          <p:cNvPr id="26" name="Text 23"/>
          <p:cNvSpPr txBox="1"/>
          <p:nvPr/>
        </p:nvSpPr>
        <p:spPr>
          <a:xfrm>
            <a:off x="1655064" y="2633472"/>
            <a:ext cx="1536192" cy="457200"/>
          </a:xfrm>
          <a:prstGeom prst="rect">
            <a:avLst/>
          </a:prstGeom>
          <a:noFill/>
          <a:ln/>
        </p:spPr>
        <p:txBody>
          <a:bodyPr wrap="square" lIns="0" tIns="0" rIns="0" bIns="0" rtlCol="0" anchor="ctr"/>
          <a:lstStyle/>
          <a:p>
            <a:pPr algn="ctr" indent="0" marL="0">
              <a:buNone/>
            </a:pPr>
            <a:r>
              <a:rPr lang="en-US" sz="850" dirty="0">
                <a:solidFill>
                  <a:srgbClr val="231F20"/>
                </a:solidFill>
                <a:latin typeface="Calibri" pitchFamily="34" charset="0"/>
                <a:ea typeface="Calibri" pitchFamily="34" charset="-122"/>
                <a:cs typeface="Calibri" pitchFamily="34" charset="-120"/>
              </a:rPr>
              <a:t>Non corrigé — entrées et géométrie</a:t>
            </a:r>
            <a:endParaRPr lang="en-US" sz="850" dirty="0"/>
          </a:p>
        </p:txBody>
      </p:sp>
      <p:sp>
        <p:nvSpPr>
          <p:cNvPr id="27" name="Shape 24"/>
          <p:cNvSpPr/>
          <p:nvPr/>
        </p:nvSpPr>
        <p:spPr>
          <a:xfrm>
            <a:off x="1600200" y="3163824"/>
            <a:ext cx="1645920" cy="457200"/>
          </a:xfrm>
          <a:prstGeom prst="roundRect">
            <a:avLst>
              <a:gd name="adj" fmla="val 10000"/>
            </a:avLst>
          </a:prstGeom>
          <a:solidFill>
            <a:srgbClr val="F4F7F5"/>
          </a:solidFill>
          <a:ln w="9525">
            <a:solidFill>
              <a:srgbClr val="D5DED9"/>
            </a:solidFill>
            <a:prstDash val="solid"/>
          </a:ln>
        </p:spPr>
      </p:sp>
      <p:sp>
        <p:nvSpPr>
          <p:cNvPr id="28" name="Text 25"/>
          <p:cNvSpPr txBox="1"/>
          <p:nvPr/>
        </p:nvSpPr>
        <p:spPr>
          <a:xfrm>
            <a:off x="1655064" y="3163824"/>
            <a:ext cx="1536192" cy="457200"/>
          </a:xfrm>
          <a:prstGeom prst="rect">
            <a:avLst/>
          </a:prstGeom>
          <a:noFill/>
          <a:ln/>
        </p:spPr>
        <p:txBody>
          <a:bodyPr wrap="square" lIns="0" tIns="0" rIns="0" bIns="0" rtlCol="0" anchor="ctr"/>
          <a:lstStyle/>
          <a:p>
            <a:pPr algn="ctr" indent="0" marL="0">
              <a:buNone/>
            </a:pPr>
            <a:r>
              <a:rPr lang="en-US" sz="850" dirty="0">
                <a:solidFill>
                  <a:srgbClr val="231F20"/>
                </a:solidFill>
                <a:latin typeface="Calibri" pitchFamily="34" charset="0"/>
                <a:ea typeface="Calibri" pitchFamily="34" charset="-122"/>
                <a:cs typeface="Calibri" pitchFamily="34" charset="-120"/>
              </a:rPr>
              <a:t>Utilisateurs avancés</a:t>
            </a:r>
            <a:endParaRPr lang="en-US" sz="850" dirty="0"/>
          </a:p>
        </p:txBody>
      </p:sp>
      <p:sp>
        <p:nvSpPr>
          <p:cNvPr id="29" name="Shape 26"/>
          <p:cNvSpPr/>
          <p:nvPr/>
        </p:nvSpPr>
        <p:spPr>
          <a:xfrm>
            <a:off x="3383280" y="1325880"/>
            <a:ext cx="1645920" cy="685800"/>
          </a:xfrm>
          <a:prstGeom prst="roundRect">
            <a:avLst>
              <a:gd name="adj" fmla="val 10667"/>
            </a:avLst>
          </a:prstGeom>
          <a:solidFill>
            <a:srgbClr val="00A86A"/>
          </a:solidFill>
          <a:ln w="9525">
            <a:solidFill>
              <a:srgbClr val="00A86A"/>
            </a:solidFill>
            <a:prstDash val="solid"/>
          </a:ln>
        </p:spPr>
      </p:sp>
      <p:sp>
        <p:nvSpPr>
          <p:cNvPr id="30" name="Text 27"/>
          <p:cNvSpPr txBox="1"/>
          <p:nvPr/>
        </p:nvSpPr>
        <p:spPr>
          <a:xfrm>
            <a:off x="3383280" y="1371600"/>
            <a:ext cx="164592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VNP46A2</a:t>
            </a:r>
            <a:endParaRPr lang="en-US" sz="1600" dirty="0"/>
          </a:p>
        </p:txBody>
      </p:sp>
      <p:sp>
        <p:nvSpPr>
          <p:cNvPr id="31" name="Text 28"/>
          <p:cNvSpPr txBox="1"/>
          <p:nvPr/>
        </p:nvSpPr>
        <p:spPr>
          <a:xfrm>
            <a:off x="3383280" y="1691640"/>
            <a:ext cx="1645920" cy="228600"/>
          </a:xfrm>
          <a:prstGeom prst="rect">
            <a:avLst/>
          </a:prstGeom>
          <a:noFill/>
          <a:ln/>
        </p:spPr>
        <p:txBody>
          <a:bodyPr wrap="square" lIns="0" tIns="0" rIns="0" bIns="0" rtlCol="0" anchor="t"/>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QUOTIDIEN</a:t>
            </a:r>
            <a:endParaRPr lang="en-US" sz="900" dirty="0"/>
          </a:p>
        </p:txBody>
      </p:sp>
      <p:sp>
        <p:nvSpPr>
          <p:cNvPr id="32" name="Shape 29"/>
          <p:cNvSpPr/>
          <p:nvPr/>
        </p:nvSpPr>
        <p:spPr>
          <a:xfrm>
            <a:off x="3383280" y="2103120"/>
            <a:ext cx="1645920" cy="457200"/>
          </a:xfrm>
          <a:prstGeom prst="roundRect">
            <a:avLst>
              <a:gd name="adj" fmla="val 10000"/>
            </a:avLst>
          </a:prstGeom>
          <a:solidFill>
            <a:srgbClr val="E8F5EF"/>
          </a:solidFill>
          <a:ln w="15875">
            <a:solidFill>
              <a:srgbClr val="00A86A"/>
            </a:solidFill>
            <a:prstDash val="solid"/>
          </a:ln>
        </p:spPr>
      </p:sp>
      <p:sp>
        <p:nvSpPr>
          <p:cNvPr id="33" name="Text 30"/>
          <p:cNvSpPr txBox="1"/>
          <p:nvPr/>
        </p:nvSpPr>
        <p:spPr>
          <a:xfrm>
            <a:off x="3438144" y="2103120"/>
            <a:ext cx="1536192" cy="457200"/>
          </a:xfrm>
          <a:prstGeom prst="rect">
            <a:avLst/>
          </a:prstGeom>
          <a:noFill/>
          <a:ln/>
        </p:spPr>
        <p:txBody>
          <a:bodyPr wrap="square" lIns="0" tIns="0" rIns="0" bIns="0" rtlCol="0" anchor="ctr"/>
          <a:lstStyle/>
          <a:p>
            <a:pPr algn="ctr" indent="0" marL="0">
              <a:buNone/>
            </a:pPr>
            <a:r>
              <a:rPr lang="en-US" sz="850" dirty="0">
                <a:solidFill>
                  <a:srgbClr val="231F20"/>
                </a:solidFill>
                <a:latin typeface="Calibri" pitchFamily="34" charset="0"/>
                <a:ea typeface="Calibri" pitchFamily="34" charset="-122"/>
                <a:cs typeface="Calibri" pitchFamily="34" charset="-120"/>
              </a:rPr>
              <a:t>NTL corrigée de la Lune, lacunes comblées</a:t>
            </a:r>
            <a:endParaRPr lang="en-US" sz="850" dirty="0"/>
          </a:p>
        </p:txBody>
      </p:sp>
      <p:sp>
        <p:nvSpPr>
          <p:cNvPr id="34" name="Shape 31"/>
          <p:cNvSpPr/>
          <p:nvPr/>
        </p:nvSpPr>
        <p:spPr>
          <a:xfrm>
            <a:off x="3383280" y="2633472"/>
            <a:ext cx="1645920" cy="457200"/>
          </a:xfrm>
          <a:prstGeom prst="roundRect">
            <a:avLst>
              <a:gd name="adj" fmla="val 10000"/>
            </a:avLst>
          </a:prstGeom>
          <a:solidFill>
            <a:srgbClr val="E8F5EF"/>
          </a:solidFill>
          <a:ln w="15875">
            <a:solidFill>
              <a:srgbClr val="00A86A"/>
            </a:solidFill>
            <a:prstDash val="solid"/>
          </a:ln>
        </p:spPr>
      </p:sp>
      <p:sp>
        <p:nvSpPr>
          <p:cNvPr id="35" name="Text 32"/>
          <p:cNvSpPr txBox="1"/>
          <p:nvPr/>
        </p:nvSpPr>
        <p:spPr>
          <a:xfrm>
            <a:off x="3438144" y="2633472"/>
            <a:ext cx="1536192" cy="457200"/>
          </a:xfrm>
          <a:prstGeom prst="rect">
            <a:avLst/>
          </a:prstGeom>
          <a:noFill/>
          <a:ln/>
        </p:spPr>
        <p:txBody>
          <a:bodyPr wrap="square" lIns="0" tIns="0" rIns="0" bIns="0" rtlCol="0" anchor="ctr"/>
          <a:lstStyle/>
          <a:p>
            <a:pPr algn="ctr" indent="0" marL="0">
              <a:buNone/>
            </a:pPr>
            <a:r>
              <a:rPr lang="en-US" sz="850" dirty="0">
                <a:solidFill>
                  <a:srgbClr val="231F20"/>
                </a:solidFill>
                <a:latin typeface="Calibri" pitchFamily="34" charset="0"/>
                <a:ea typeface="Calibri" pitchFamily="34" charset="-122"/>
                <a:cs typeface="Calibri" pitchFamily="34" charset="-120"/>
              </a:rPr>
              <a:t>Nuages, Lune, atmosphère, relief, lumière parasite</a:t>
            </a:r>
            <a:endParaRPr lang="en-US" sz="850" dirty="0"/>
          </a:p>
        </p:txBody>
      </p:sp>
      <p:sp>
        <p:nvSpPr>
          <p:cNvPr id="36" name="Shape 33"/>
          <p:cNvSpPr/>
          <p:nvPr/>
        </p:nvSpPr>
        <p:spPr>
          <a:xfrm>
            <a:off x="3383280" y="3163824"/>
            <a:ext cx="1645920" cy="457200"/>
          </a:xfrm>
          <a:prstGeom prst="roundRect">
            <a:avLst>
              <a:gd name="adj" fmla="val 10000"/>
            </a:avLst>
          </a:prstGeom>
          <a:solidFill>
            <a:srgbClr val="E8F5EF"/>
          </a:solidFill>
          <a:ln w="15875">
            <a:solidFill>
              <a:srgbClr val="00A86A"/>
            </a:solidFill>
            <a:prstDash val="solid"/>
          </a:ln>
        </p:spPr>
      </p:sp>
      <p:sp>
        <p:nvSpPr>
          <p:cNvPr id="37" name="Text 34"/>
          <p:cNvSpPr txBox="1"/>
          <p:nvPr/>
        </p:nvSpPr>
        <p:spPr>
          <a:xfrm>
            <a:off x="3438144" y="3163824"/>
            <a:ext cx="1536192" cy="457200"/>
          </a:xfrm>
          <a:prstGeom prst="rect">
            <a:avLst/>
          </a:prstGeom>
          <a:noFill/>
          <a:ln/>
        </p:spPr>
        <p:txBody>
          <a:bodyPr wrap="square" lIns="0" tIns="0" rIns="0" bIns="0" rtlCol="0" anchor="ctr"/>
          <a:lstStyle/>
          <a:p>
            <a:pPr algn="ctr" indent="0" marL="0">
              <a:buNone/>
            </a:pPr>
            <a:r>
              <a:rPr lang="en-US" sz="850" dirty="0">
                <a:solidFill>
                  <a:srgbClr val="231F20"/>
                </a:solidFill>
                <a:latin typeface="Calibri" pitchFamily="34" charset="0"/>
                <a:ea typeface="Calibri" pitchFamily="34" charset="-122"/>
                <a:cs typeface="Calibri" pitchFamily="34" charset="-120"/>
              </a:rPr>
              <a:t>Coupures, fiabilité, événements</a:t>
            </a:r>
            <a:endParaRPr lang="en-US" sz="850" dirty="0"/>
          </a:p>
        </p:txBody>
      </p:sp>
      <p:sp>
        <p:nvSpPr>
          <p:cNvPr id="38" name="Shape 35"/>
          <p:cNvSpPr/>
          <p:nvPr/>
        </p:nvSpPr>
        <p:spPr>
          <a:xfrm>
            <a:off x="5166360" y="1325880"/>
            <a:ext cx="1645920" cy="685800"/>
          </a:xfrm>
          <a:prstGeom prst="roundRect">
            <a:avLst>
              <a:gd name="adj" fmla="val 10667"/>
            </a:avLst>
          </a:prstGeom>
          <a:solidFill>
            <a:srgbClr val="00704A"/>
          </a:solidFill>
          <a:ln w="9525">
            <a:solidFill>
              <a:srgbClr val="00704A"/>
            </a:solidFill>
            <a:prstDash val="solid"/>
          </a:ln>
        </p:spPr>
      </p:sp>
      <p:sp>
        <p:nvSpPr>
          <p:cNvPr id="39" name="Text 36"/>
          <p:cNvSpPr txBox="1"/>
          <p:nvPr/>
        </p:nvSpPr>
        <p:spPr>
          <a:xfrm>
            <a:off x="5166360" y="1371600"/>
            <a:ext cx="164592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VNP46A3</a:t>
            </a:r>
            <a:endParaRPr lang="en-US" sz="1600" dirty="0"/>
          </a:p>
        </p:txBody>
      </p:sp>
      <p:sp>
        <p:nvSpPr>
          <p:cNvPr id="40" name="Text 37"/>
          <p:cNvSpPr txBox="1"/>
          <p:nvPr/>
        </p:nvSpPr>
        <p:spPr>
          <a:xfrm>
            <a:off x="5166360" y="1691640"/>
            <a:ext cx="1645920" cy="228600"/>
          </a:xfrm>
          <a:prstGeom prst="rect">
            <a:avLst/>
          </a:prstGeom>
          <a:noFill/>
          <a:ln/>
        </p:spPr>
        <p:txBody>
          <a:bodyPr wrap="square" lIns="0" tIns="0" rIns="0" bIns="0" rtlCol="0" anchor="t"/>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MENSUEL</a:t>
            </a:r>
            <a:endParaRPr lang="en-US" sz="900" dirty="0"/>
          </a:p>
        </p:txBody>
      </p:sp>
      <p:sp>
        <p:nvSpPr>
          <p:cNvPr id="41" name="Shape 38"/>
          <p:cNvSpPr/>
          <p:nvPr/>
        </p:nvSpPr>
        <p:spPr>
          <a:xfrm>
            <a:off x="5166360" y="2103120"/>
            <a:ext cx="1645920" cy="457200"/>
          </a:xfrm>
          <a:prstGeom prst="roundRect">
            <a:avLst>
              <a:gd name="adj" fmla="val 10000"/>
            </a:avLst>
          </a:prstGeom>
          <a:solidFill>
            <a:srgbClr val="F4F7F5"/>
          </a:solidFill>
          <a:ln w="9525">
            <a:solidFill>
              <a:srgbClr val="D5DED9"/>
            </a:solidFill>
            <a:prstDash val="solid"/>
          </a:ln>
        </p:spPr>
      </p:sp>
      <p:sp>
        <p:nvSpPr>
          <p:cNvPr id="42" name="Text 39"/>
          <p:cNvSpPr txBox="1"/>
          <p:nvPr/>
        </p:nvSpPr>
        <p:spPr>
          <a:xfrm>
            <a:off x="5221224" y="2103120"/>
            <a:ext cx="1536192" cy="457200"/>
          </a:xfrm>
          <a:prstGeom prst="rect">
            <a:avLst/>
          </a:prstGeom>
          <a:noFill/>
          <a:ln/>
        </p:spPr>
        <p:txBody>
          <a:bodyPr wrap="square" lIns="0" tIns="0" rIns="0" bIns="0" rtlCol="0" anchor="ctr"/>
          <a:lstStyle/>
          <a:p>
            <a:pPr algn="ctr" indent="0" marL="0">
              <a:buNone/>
            </a:pPr>
            <a:r>
              <a:rPr lang="en-US" sz="850" dirty="0">
                <a:solidFill>
                  <a:srgbClr val="231F20"/>
                </a:solidFill>
                <a:latin typeface="Calibri" pitchFamily="34" charset="0"/>
                <a:ea typeface="Calibri" pitchFamily="34" charset="-122"/>
                <a:cs typeface="Calibri" pitchFamily="34" charset="-120"/>
              </a:rPr>
              <a:t>Composite des NTL quotidiennes corrigées</a:t>
            </a:r>
            <a:endParaRPr lang="en-US" sz="850" dirty="0"/>
          </a:p>
        </p:txBody>
      </p:sp>
      <p:sp>
        <p:nvSpPr>
          <p:cNvPr id="43" name="Shape 40"/>
          <p:cNvSpPr/>
          <p:nvPr/>
        </p:nvSpPr>
        <p:spPr>
          <a:xfrm>
            <a:off x="5166360" y="2633472"/>
            <a:ext cx="1645920" cy="457200"/>
          </a:xfrm>
          <a:prstGeom prst="roundRect">
            <a:avLst>
              <a:gd name="adj" fmla="val 10000"/>
            </a:avLst>
          </a:prstGeom>
          <a:solidFill>
            <a:srgbClr val="F4F7F5"/>
          </a:solidFill>
          <a:ln w="9525">
            <a:solidFill>
              <a:srgbClr val="D5DED9"/>
            </a:solidFill>
            <a:prstDash val="solid"/>
          </a:ln>
        </p:spPr>
      </p:sp>
      <p:sp>
        <p:nvSpPr>
          <p:cNvPr id="44" name="Text 41"/>
          <p:cNvSpPr txBox="1"/>
          <p:nvPr/>
        </p:nvSpPr>
        <p:spPr>
          <a:xfrm>
            <a:off x="5221224" y="2633472"/>
            <a:ext cx="1536192" cy="457200"/>
          </a:xfrm>
          <a:prstGeom prst="rect">
            <a:avLst/>
          </a:prstGeom>
          <a:noFill/>
          <a:ln/>
        </p:spPr>
        <p:txBody>
          <a:bodyPr wrap="square" lIns="0" tIns="0" rIns="0" bIns="0" rtlCol="0" anchor="ctr"/>
          <a:lstStyle/>
          <a:p>
            <a:pPr algn="ctr" indent="0" marL="0">
              <a:buNone/>
            </a:pPr>
            <a:r>
              <a:rPr lang="en-US" sz="850" dirty="0">
                <a:solidFill>
                  <a:srgbClr val="231F20"/>
                </a:solidFill>
                <a:latin typeface="Calibri" pitchFamily="34" charset="0"/>
                <a:ea typeface="Calibri" pitchFamily="34" charset="-122"/>
                <a:cs typeface="Calibri" pitchFamily="34" charset="-120"/>
              </a:rPr>
              <a:t>Comme A2 + nombre d’observations et qualité</a:t>
            </a:r>
            <a:endParaRPr lang="en-US" sz="850" dirty="0"/>
          </a:p>
        </p:txBody>
      </p:sp>
      <p:sp>
        <p:nvSpPr>
          <p:cNvPr id="45" name="Shape 42"/>
          <p:cNvSpPr/>
          <p:nvPr/>
        </p:nvSpPr>
        <p:spPr>
          <a:xfrm>
            <a:off x="5166360" y="3163824"/>
            <a:ext cx="1645920" cy="457200"/>
          </a:xfrm>
          <a:prstGeom prst="roundRect">
            <a:avLst>
              <a:gd name="adj" fmla="val 10000"/>
            </a:avLst>
          </a:prstGeom>
          <a:solidFill>
            <a:srgbClr val="F4F7F5"/>
          </a:solidFill>
          <a:ln w="9525">
            <a:solidFill>
              <a:srgbClr val="D5DED9"/>
            </a:solidFill>
            <a:prstDash val="solid"/>
          </a:ln>
        </p:spPr>
      </p:sp>
      <p:sp>
        <p:nvSpPr>
          <p:cNvPr id="46" name="Text 43"/>
          <p:cNvSpPr txBox="1"/>
          <p:nvPr/>
        </p:nvSpPr>
        <p:spPr>
          <a:xfrm>
            <a:off x="5221224" y="3163824"/>
            <a:ext cx="1536192" cy="457200"/>
          </a:xfrm>
          <a:prstGeom prst="rect">
            <a:avLst/>
          </a:prstGeom>
          <a:noFill/>
          <a:ln/>
        </p:spPr>
        <p:txBody>
          <a:bodyPr wrap="square" lIns="0" tIns="0" rIns="0" bIns="0" rtlCol="0" anchor="ctr"/>
          <a:lstStyle/>
          <a:p>
            <a:pPr algn="ctr" indent="0" marL="0">
              <a:buNone/>
            </a:pPr>
            <a:r>
              <a:rPr lang="en-US" sz="850" dirty="0">
                <a:solidFill>
                  <a:srgbClr val="231F20"/>
                </a:solidFill>
                <a:latin typeface="Calibri" pitchFamily="34" charset="0"/>
                <a:ea typeface="Calibri" pitchFamily="34" charset="-122"/>
                <a:cs typeface="Calibri" pitchFamily="34" charset="-120"/>
              </a:rPr>
              <a:t>Évaluation de programmes, saisonnalité</a:t>
            </a:r>
            <a:endParaRPr lang="en-US" sz="850" dirty="0"/>
          </a:p>
        </p:txBody>
      </p:sp>
      <p:sp>
        <p:nvSpPr>
          <p:cNvPr id="47" name="Shape 44"/>
          <p:cNvSpPr/>
          <p:nvPr/>
        </p:nvSpPr>
        <p:spPr>
          <a:xfrm>
            <a:off x="6949440" y="1325880"/>
            <a:ext cx="1645920" cy="685800"/>
          </a:xfrm>
          <a:prstGeom prst="roundRect">
            <a:avLst>
              <a:gd name="adj" fmla="val 10667"/>
            </a:avLst>
          </a:prstGeom>
          <a:solidFill>
            <a:srgbClr val="00553A"/>
          </a:solidFill>
          <a:ln w="9525">
            <a:solidFill>
              <a:srgbClr val="00553A"/>
            </a:solidFill>
            <a:prstDash val="solid"/>
          </a:ln>
        </p:spPr>
      </p:sp>
      <p:sp>
        <p:nvSpPr>
          <p:cNvPr id="48" name="Text 45"/>
          <p:cNvSpPr txBox="1"/>
          <p:nvPr/>
        </p:nvSpPr>
        <p:spPr>
          <a:xfrm>
            <a:off x="6949440" y="1371600"/>
            <a:ext cx="164592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VNP46A4</a:t>
            </a:r>
            <a:endParaRPr lang="en-US" sz="1600" dirty="0"/>
          </a:p>
        </p:txBody>
      </p:sp>
      <p:sp>
        <p:nvSpPr>
          <p:cNvPr id="49" name="Text 46"/>
          <p:cNvSpPr txBox="1"/>
          <p:nvPr/>
        </p:nvSpPr>
        <p:spPr>
          <a:xfrm>
            <a:off x="6949440" y="1691640"/>
            <a:ext cx="1645920" cy="228600"/>
          </a:xfrm>
          <a:prstGeom prst="rect">
            <a:avLst/>
          </a:prstGeom>
          <a:noFill/>
          <a:ln/>
        </p:spPr>
        <p:txBody>
          <a:bodyPr wrap="square" lIns="0" tIns="0" rIns="0" bIns="0" rtlCol="0" anchor="t"/>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ANNUEL</a:t>
            </a:r>
            <a:endParaRPr lang="en-US" sz="900" dirty="0"/>
          </a:p>
        </p:txBody>
      </p:sp>
      <p:sp>
        <p:nvSpPr>
          <p:cNvPr id="50" name="Shape 47"/>
          <p:cNvSpPr/>
          <p:nvPr/>
        </p:nvSpPr>
        <p:spPr>
          <a:xfrm>
            <a:off x="6949440" y="2103120"/>
            <a:ext cx="1645920" cy="457200"/>
          </a:xfrm>
          <a:prstGeom prst="roundRect">
            <a:avLst>
              <a:gd name="adj" fmla="val 10000"/>
            </a:avLst>
          </a:prstGeom>
          <a:solidFill>
            <a:srgbClr val="F4F7F5"/>
          </a:solidFill>
          <a:ln w="9525">
            <a:solidFill>
              <a:srgbClr val="D5DED9"/>
            </a:solidFill>
            <a:prstDash val="solid"/>
          </a:ln>
        </p:spPr>
      </p:sp>
      <p:sp>
        <p:nvSpPr>
          <p:cNvPr id="51" name="Text 48"/>
          <p:cNvSpPr txBox="1"/>
          <p:nvPr/>
        </p:nvSpPr>
        <p:spPr>
          <a:xfrm>
            <a:off x="7004304" y="2103120"/>
            <a:ext cx="1536192" cy="457200"/>
          </a:xfrm>
          <a:prstGeom prst="rect">
            <a:avLst/>
          </a:prstGeom>
          <a:noFill/>
          <a:ln/>
        </p:spPr>
        <p:txBody>
          <a:bodyPr wrap="square" lIns="0" tIns="0" rIns="0" bIns="0" rtlCol="0" anchor="ctr"/>
          <a:lstStyle/>
          <a:p>
            <a:pPr algn="ctr" indent="0" marL="0">
              <a:buNone/>
            </a:pPr>
            <a:r>
              <a:rPr lang="en-US" sz="850" dirty="0">
                <a:solidFill>
                  <a:srgbClr val="231F20"/>
                </a:solidFill>
                <a:latin typeface="Calibri" pitchFamily="34" charset="0"/>
                <a:ea typeface="Calibri" pitchFamily="34" charset="-122"/>
                <a:cs typeface="Calibri" pitchFamily="34" charset="-120"/>
              </a:rPr>
              <a:t>Composite des NTL quotidiennes corrigées</a:t>
            </a:r>
            <a:endParaRPr lang="en-US" sz="850" dirty="0"/>
          </a:p>
        </p:txBody>
      </p:sp>
      <p:sp>
        <p:nvSpPr>
          <p:cNvPr id="52" name="Shape 49"/>
          <p:cNvSpPr/>
          <p:nvPr/>
        </p:nvSpPr>
        <p:spPr>
          <a:xfrm>
            <a:off x="6949440" y="2633472"/>
            <a:ext cx="1645920" cy="457200"/>
          </a:xfrm>
          <a:prstGeom prst="roundRect">
            <a:avLst>
              <a:gd name="adj" fmla="val 10000"/>
            </a:avLst>
          </a:prstGeom>
          <a:solidFill>
            <a:srgbClr val="F4F7F5"/>
          </a:solidFill>
          <a:ln w="9525">
            <a:solidFill>
              <a:srgbClr val="D5DED9"/>
            </a:solidFill>
            <a:prstDash val="solid"/>
          </a:ln>
        </p:spPr>
      </p:sp>
      <p:sp>
        <p:nvSpPr>
          <p:cNvPr id="53" name="Text 50"/>
          <p:cNvSpPr txBox="1"/>
          <p:nvPr/>
        </p:nvSpPr>
        <p:spPr>
          <a:xfrm>
            <a:off x="7004304" y="2633472"/>
            <a:ext cx="1536192" cy="457200"/>
          </a:xfrm>
          <a:prstGeom prst="rect">
            <a:avLst/>
          </a:prstGeom>
          <a:noFill/>
          <a:ln/>
        </p:spPr>
        <p:txBody>
          <a:bodyPr wrap="square" lIns="0" tIns="0" rIns="0" bIns="0" rtlCol="0" anchor="ctr"/>
          <a:lstStyle/>
          <a:p>
            <a:pPr algn="ctr" indent="0" marL="0">
              <a:buNone/>
            </a:pPr>
            <a:r>
              <a:rPr lang="en-US" sz="850" dirty="0">
                <a:solidFill>
                  <a:srgbClr val="231F20"/>
                </a:solidFill>
                <a:latin typeface="Calibri" pitchFamily="34" charset="0"/>
                <a:ea typeface="Calibri" pitchFamily="34" charset="-122"/>
                <a:cs typeface="Calibri" pitchFamily="34" charset="-120"/>
              </a:rPr>
              <a:t>Comme A2 + nombre d’observations et qualité</a:t>
            </a:r>
            <a:endParaRPr lang="en-US" sz="850" dirty="0"/>
          </a:p>
        </p:txBody>
      </p:sp>
      <p:sp>
        <p:nvSpPr>
          <p:cNvPr id="54" name="Shape 51"/>
          <p:cNvSpPr/>
          <p:nvPr/>
        </p:nvSpPr>
        <p:spPr>
          <a:xfrm>
            <a:off x="6949440" y="3163824"/>
            <a:ext cx="1645920" cy="457200"/>
          </a:xfrm>
          <a:prstGeom prst="roundRect">
            <a:avLst>
              <a:gd name="adj" fmla="val 10000"/>
            </a:avLst>
          </a:prstGeom>
          <a:solidFill>
            <a:srgbClr val="F4F7F5"/>
          </a:solidFill>
          <a:ln w="9525">
            <a:solidFill>
              <a:srgbClr val="D5DED9"/>
            </a:solidFill>
            <a:prstDash val="solid"/>
          </a:ln>
        </p:spPr>
      </p:sp>
      <p:sp>
        <p:nvSpPr>
          <p:cNvPr id="55" name="Text 52"/>
          <p:cNvSpPr txBox="1"/>
          <p:nvPr/>
        </p:nvSpPr>
        <p:spPr>
          <a:xfrm>
            <a:off x="7004304" y="3163824"/>
            <a:ext cx="1536192" cy="457200"/>
          </a:xfrm>
          <a:prstGeom prst="rect">
            <a:avLst/>
          </a:prstGeom>
          <a:noFill/>
          <a:ln/>
        </p:spPr>
        <p:txBody>
          <a:bodyPr wrap="square" lIns="0" tIns="0" rIns="0" bIns="0" rtlCol="0" anchor="ctr"/>
          <a:lstStyle/>
          <a:p>
            <a:pPr algn="ctr" indent="0" marL="0">
              <a:buNone/>
            </a:pPr>
            <a:r>
              <a:rPr lang="en-US" sz="850" dirty="0">
                <a:solidFill>
                  <a:srgbClr val="231F20"/>
                </a:solidFill>
                <a:latin typeface="Calibri" pitchFamily="34" charset="0"/>
                <a:ea typeface="Calibri" pitchFamily="34" charset="-122"/>
                <a:cs typeface="Calibri" pitchFamily="34" charset="-120"/>
              </a:rPr>
              <a:t>Tendances longues, panels infranationaux</a:t>
            </a:r>
            <a:endParaRPr lang="en-US" sz="850" dirty="0"/>
          </a:p>
        </p:txBody>
      </p:sp>
      <p:sp>
        <p:nvSpPr>
          <p:cNvPr id="56" name="Shape 53"/>
          <p:cNvSpPr/>
          <p:nvPr/>
        </p:nvSpPr>
        <p:spPr>
          <a:xfrm>
            <a:off x="457200" y="3749040"/>
            <a:ext cx="8229600" cy="804672"/>
          </a:xfrm>
          <a:prstGeom prst="roundRect">
            <a:avLst>
              <a:gd name="adj" fmla="val 9091"/>
            </a:avLst>
          </a:prstGeom>
          <a:solidFill>
            <a:srgbClr val="F4F7F5"/>
          </a:solidFill>
          <a:ln w="9525">
            <a:solidFill>
              <a:srgbClr val="D5DED9"/>
            </a:solidFill>
            <a:prstDash val="solid"/>
          </a:ln>
        </p:spPr>
      </p:sp>
      <p:sp>
        <p:nvSpPr>
          <p:cNvPr id="57" name="Shape 54"/>
          <p:cNvSpPr/>
          <p:nvPr/>
        </p:nvSpPr>
        <p:spPr>
          <a:xfrm>
            <a:off x="566928" y="3931920"/>
            <a:ext cx="402336" cy="402336"/>
          </a:xfrm>
          <a:prstGeom prst="ellipse">
            <a:avLst/>
          </a:prstGeom>
          <a:solidFill>
            <a:srgbClr val="0E7C86">
              <a:alpha val="22000"/>
            </a:srgbClr>
          </a:solidFill>
          <a:ln w="12700">
            <a:solidFill>
              <a:srgbClr val="0E7C86">
                <a:alpha val="0"/>
              </a:srgbClr>
            </a:solidFill>
            <a:prstDash val="solid"/>
          </a:ln>
        </p:spPr>
      </p:sp>
      <p:pic>
        <p:nvPicPr>
          <p:cNvPr id="58" name="Image 0" descr="preencoded.png">    </p:cNvPr>
          <p:cNvPicPr>
            <a:picLocks noChangeAspect="1"/>
          </p:cNvPicPr>
          <p:nvPr/>
        </p:nvPicPr>
        <p:blipFill>
          <a:blip r:embed="rId1"/>
          <a:stretch>
            <a:fillRect/>
          </a:stretch>
        </p:blipFill>
        <p:spPr>
          <a:xfrm>
            <a:off x="671535" y="4036527"/>
            <a:ext cx="193121" cy="193121"/>
          </a:xfrm>
          <a:prstGeom prst="rect">
            <a:avLst/>
          </a:prstGeom>
        </p:spPr>
      </p:pic>
      <p:sp>
        <p:nvSpPr>
          <p:cNvPr id="59" name="Text 55"/>
          <p:cNvSpPr txBox="1"/>
          <p:nvPr/>
        </p:nvSpPr>
        <p:spPr>
          <a:xfrm>
            <a:off x="1097280" y="3776472"/>
            <a:ext cx="7498080" cy="749808"/>
          </a:xfrm>
          <a:prstGeom prst="rect">
            <a:avLst/>
          </a:prstGeom>
          <a:noFill/>
          <a:ln/>
        </p:spPr>
        <p:txBody>
          <a:bodyPr wrap="square" lIns="0" tIns="0" rIns="0" bIns="0" rtlCol="0" anchor="ctr"/>
          <a:lstStyle/>
          <a:p>
            <a:pPr indent="0" marL="0">
              <a:buNone/>
            </a:pPr>
            <a:r>
              <a:rPr lang="en-US" sz="950" b="1" dirty="0">
                <a:solidFill>
                  <a:srgbClr val="0E7C86"/>
                </a:solidFill>
                <a:latin typeface="Calibri" pitchFamily="34" charset="0"/>
                <a:ea typeface="Calibri" pitchFamily="34" charset="-122"/>
                <a:cs typeface="Calibri" pitchFamily="34" charset="-120"/>
              </a:rPr>
              <a:t>Commun à tous : </a:t>
            </a:r>
            <a:pPr indent="0" marL="0">
              <a:buNone/>
            </a:pPr>
            <a:r>
              <a:rPr lang="en-US" sz="950" dirty="0">
                <a:solidFill>
                  <a:srgbClr val="231F20"/>
                </a:solidFill>
                <a:latin typeface="Calibri" pitchFamily="34" charset="0"/>
                <a:ea typeface="Calibri" pitchFamily="34" charset="-122"/>
                <a:cs typeface="Calibri" pitchFamily="34" charset="-120"/>
              </a:rPr>
              <a:t>grille de 15 secondes d’arc (≈ 500 m à l’équateur) · tuiles 10°×10° · HDF-EOS5 · depuis janvier 2012 · jumeaux NOAA-20 nommés VJ146*.</a:t>
            </a:r>
            <a:endParaRPr lang="en-US" sz="950" dirty="0"/>
          </a:p>
          <a:p>
            <a:pPr indent="0" marL="0">
              <a:buNone/>
            </a:pPr>
            <a:r>
              <a:rPr lang="en-US" sz="950" b="1" dirty="0">
                <a:solidFill>
                  <a:srgbClr val="B83B2E"/>
                </a:solidFill>
                <a:latin typeface="Calibri" pitchFamily="34" charset="0"/>
                <a:ea typeface="Calibri" pitchFamily="34" charset="-122"/>
                <a:cs typeface="Calibri" pitchFamily="34" charset="-120"/>
              </a:rPr>
              <a:t>Piège : </a:t>
            </a:r>
            <a:pPr indent="0" marL="0">
              <a:buNone/>
            </a:pPr>
            <a:r>
              <a:rPr lang="en-US" sz="950" dirty="0">
                <a:solidFill>
                  <a:srgbClr val="231F20"/>
                </a:solidFill>
                <a:latin typeface="Calibri" pitchFamily="34" charset="0"/>
                <a:ea typeface="Calibri" pitchFamily="34" charset="-122"/>
                <a:cs typeface="Calibri" pitchFamily="34" charset="-120"/>
              </a:rPr>
              <a:t>radiance stockée en entiers — multiplier par le facteur 0,1 et masquer la valeur 65535. </a:t>
            </a:r>
            <a:pPr indent="0" marL="0">
              <a:buNone/>
            </a:pPr>
            <a:r>
              <a:rPr lang="en-US" sz="950" b="1" dirty="0">
                <a:solidFill>
                  <a:srgbClr val="0E7C86"/>
                </a:solidFill>
                <a:latin typeface="Calibri" pitchFamily="34" charset="0"/>
                <a:ea typeface="Calibri" pitchFamily="34" charset="-122"/>
                <a:cs typeface="Calibri" pitchFamily="34" charset="-120"/>
              </a:rPr>
              <a:t>Alternatives : </a:t>
            </a:r>
            <a:pPr indent="0" marL="0">
              <a:buNone/>
            </a:pPr>
            <a:r>
              <a:rPr lang="en-US" sz="950" dirty="0">
                <a:solidFill>
                  <a:srgbClr val="231F20"/>
                </a:solidFill>
                <a:latin typeface="Calibri" pitchFamily="34" charset="0"/>
                <a:ea typeface="Calibri" pitchFamily="34" charset="-122"/>
                <a:cs typeface="Calibri" pitchFamily="34" charset="-120"/>
              </a:rPr>
              <a:t>composites EOG VNL ; catalogue Google Earth Engine.</a:t>
            </a:r>
            <a:endParaRPr lang="en-US" sz="9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DES PHOTONS AUX DONNÉES · INTERPRÉTATION</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Ce qui brille vraiment sur l’Afrique la nuit</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7" name="Shape 14"/>
          <p:cNvSpPr/>
          <p:nvPr/>
        </p:nvSpPr>
        <p:spPr>
          <a:xfrm>
            <a:off x="457200" y="1325880"/>
            <a:ext cx="2651760" cy="1280160"/>
          </a:xfrm>
          <a:prstGeom prst="roundRect">
            <a:avLst>
              <a:gd name="adj" fmla="val 5714"/>
            </a:avLst>
          </a:prstGeom>
          <a:solidFill>
            <a:srgbClr val="E8F5EF"/>
          </a:solidFill>
          <a:ln w="15875">
            <a:solidFill>
              <a:srgbClr val="00A86A"/>
            </a:solidFill>
            <a:prstDash val="solid"/>
          </a:ln>
        </p:spPr>
      </p:sp>
      <p:sp>
        <p:nvSpPr>
          <p:cNvPr id="18" name="Shape 15"/>
          <p:cNvSpPr/>
          <p:nvPr/>
        </p:nvSpPr>
        <p:spPr>
          <a:xfrm>
            <a:off x="566928" y="1435608"/>
            <a:ext cx="438912" cy="438912"/>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r>
          <p:cNvPicPr>
            <a:picLocks noChangeAspect="1"/>
          </p:cNvPicPr>
          <p:nvPr/>
        </p:nvPicPr>
        <p:blipFill>
          <a:blip r:embed="rId1"/>
          <a:stretch>
            <a:fillRect/>
          </a:stretch>
        </p:blipFill>
        <p:spPr>
          <a:xfrm>
            <a:off x="681045" y="1549725"/>
            <a:ext cx="210678" cy="210678"/>
          </a:xfrm>
          <a:prstGeom prst="rect">
            <a:avLst/>
          </a:prstGeom>
        </p:spPr>
      </p:pic>
      <p:sp>
        <p:nvSpPr>
          <p:cNvPr id="20" name="Text 16"/>
          <p:cNvSpPr txBox="1"/>
          <p:nvPr/>
        </p:nvSpPr>
        <p:spPr>
          <a:xfrm>
            <a:off x="1097280" y="1435608"/>
            <a:ext cx="1188720" cy="47548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Villes et localités</a:t>
            </a:r>
            <a:endParaRPr lang="en-US" sz="1100" dirty="0"/>
          </a:p>
        </p:txBody>
      </p:sp>
      <p:sp>
        <p:nvSpPr>
          <p:cNvPr id="21" name="Shape 17"/>
          <p:cNvSpPr/>
          <p:nvPr/>
        </p:nvSpPr>
        <p:spPr>
          <a:xfrm>
            <a:off x="2340864" y="1563624"/>
            <a:ext cx="676656" cy="219456"/>
          </a:xfrm>
          <a:prstGeom prst="roundRect">
            <a:avLst>
              <a:gd name="adj" fmla="val 50000"/>
            </a:avLst>
          </a:prstGeom>
          <a:solidFill>
            <a:srgbClr val="00A86A">
              <a:alpha val="15000"/>
            </a:srgbClr>
          </a:solidFill>
          <a:ln w="9525">
            <a:solidFill>
              <a:srgbClr val="00A86A"/>
            </a:solidFill>
            <a:prstDash val="solid"/>
          </a:ln>
        </p:spPr>
      </p:sp>
      <p:sp>
        <p:nvSpPr>
          <p:cNvPr id="22" name="Text 18"/>
          <p:cNvSpPr txBox="1"/>
          <p:nvPr/>
        </p:nvSpPr>
        <p:spPr>
          <a:xfrm>
            <a:off x="2340864" y="1563624"/>
            <a:ext cx="676656" cy="219456"/>
          </a:xfrm>
          <a:prstGeom prst="rect">
            <a:avLst/>
          </a:prstGeom>
          <a:noFill/>
          <a:ln/>
        </p:spPr>
        <p:txBody>
          <a:bodyPr wrap="square" lIns="0" tIns="0" rIns="0" bIns="0" rtlCol="0" anchor="ctr"/>
          <a:lstStyle/>
          <a:p>
            <a:pPr algn="ctr" indent="0" marL="0">
              <a:buNone/>
            </a:pPr>
            <a:r>
              <a:rPr lang="en-US" sz="750" b="1" dirty="0">
                <a:solidFill>
                  <a:srgbClr val="00A86A"/>
                </a:solidFill>
                <a:latin typeface="Calibri" pitchFamily="34" charset="0"/>
                <a:ea typeface="Calibri" pitchFamily="34" charset="-122"/>
                <a:cs typeface="Calibri" pitchFamily="34" charset="-120"/>
              </a:rPr>
              <a:t>SIGNAL</a:t>
            </a:r>
            <a:endParaRPr lang="en-US" sz="750" dirty="0"/>
          </a:p>
        </p:txBody>
      </p:sp>
      <p:sp>
        <p:nvSpPr>
          <p:cNvPr id="23" name="Text 19"/>
          <p:cNvSpPr txBox="1"/>
          <p:nvPr/>
        </p:nvSpPr>
        <p:spPr>
          <a:xfrm>
            <a:off x="585216" y="1965960"/>
            <a:ext cx="2395728" cy="603504"/>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Rues, bâtiments, marchés, véhicules. La composante dominante et la plus étudiée du signal.</a:t>
            </a:r>
            <a:endParaRPr lang="en-US" sz="900" dirty="0"/>
          </a:p>
        </p:txBody>
      </p:sp>
      <p:sp>
        <p:nvSpPr>
          <p:cNvPr id="24" name="Shape 20"/>
          <p:cNvSpPr/>
          <p:nvPr/>
        </p:nvSpPr>
        <p:spPr>
          <a:xfrm>
            <a:off x="3246120" y="1325880"/>
            <a:ext cx="2651760" cy="1280160"/>
          </a:xfrm>
          <a:prstGeom prst="roundRect">
            <a:avLst>
              <a:gd name="adj" fmla="val 5714"/>
            </a:avLst>
          </a:prstGeom>
          <a:solidFill>
            <a:srgbClr val="E8F5EF"/>
          </a:solidFill>
          <a:ln w="15875">
            <a:solidFill>
              <a:srgbClr val="00A86A"/>
            </a:solidFill>
            <a:prstDash val="solid"/>
          </a:ln>
        </p:spPr>
      </p:sp>
      <p:sp>
        <p:nvSpPr>
          <p:cNvPr id="25" name="Shape 21"/>
          <p:cNvSpPr/>
          <p:nvPr/>
        </p:nvSpPr>
        <p:spPr>
          <a:xfrm>
            <a:off x="3355848" y="1435608"/>
            <a:ext cx="438912" cy="438912"/>
          </a:xfrm>
          <a:prstGeom prst="ellipse">
            <a:avLst/>
          </a:prstGeom>
          <a:solidFill>
            <a:srgbClr val="00A86A">
              <a:alpha val="22000"/>
            </a:srgbClr>
          </a:solidFill>
          <a:ln w="12700">
            <a:solidFill>
              <a:srgbClr val="00A86A">
                <a:alpha val="0"/>
              </a:srgbClr>
            </a:solidFill>
            <a:prstDash val="solid"/>
          </a:ln>
        </p:spPr>
      </p:sp>
      <p:pic>
        <p:nvPicPr>
          <p:cNvPr id="26" name="Image 1" descr="preencoded.png">    </p:cNvPr>
          <p:cNvPicPr>
            <a:picLocks noChangeAspect="1"/>
          </p:cNvPicPr>
          <p:nvPr/>
        </p:nvPicPr>
        <p:blipFill>
          <a:blip r:embed="rId2"/>
          <a:stretch>
            <a:fillRect/>
          </a:stretch>
        </p:blipFill>
        <p:spPr>
          <a:xfrm>
            <a:off x="3469965" y="1549725"/>
            <a:ext cx="210678" cy="210678"/>
          </a:xfrm>
          <a:prstGeom prst="rect">
            <a:avLst/>
          </a:prstGeom>
        </p:spPr>
      </p:pic>
      <p:sp>
        <p:nvSpPr>
          <p:cNvPr id="27" name="Text 22"/>
          <p:cNvSpPr txBox="1"/>
          <p:nvPr/>
        </p:nvSpPr>
        <p:spPr>
          <a:xfrm>
            <a:off x="3886200" y="1435608"/>
            <a:ext cx="1188720" cy="47548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Corridors, ports et mines</a:t>
            </a:r>
            <a:endParaRPr lang="en-US" sz="1100" dirty="0"/>
          </a:p>
        </p:txBody>
      </p:sp>
      <p:sp>
        <p:nvSpPr>
          <p:cNvPr id="28" name="Shape 23"/>
          <p:cNvSpPr/>
          <p:nvPr/>
        </p:nvSpPr>
        <p:spPr>
          <a:xfrm>
            <a:off x="5129784" y="1563624"/>
            <a:ext cx="676656" cy="219456"/>
          </a:xfrm>
          <a:prstGeom prst="roundRect">
            <a:avLst>
              <a:gd name="adj" fmla="val 50000"/>
            </a:avLst>
          </a:prstGeom>
          <a:solidFill>
            <a:srgbClr val="00A86A">
              <a:alpha val="15000"/>
            </a:srgbClr>
          </a:solidFill>
          <a:ln w="9525">
            <a:solidFill>
              <a:srgbClr val="00A86A"/>
            </a:solidFill>
            <a:prstDash val="solid"/>
          </a:ln>
        </p:spPr>
      </p:sp>
      <p:sp>
        <p:nvSpPr>
          <p:cNvPr id="29" name="Text 24"/>
          <p:cNvSpPr txBox="1"/>
          <p:nvPr/>
        </p:nvSpPr>
        <p:spPr>
          <a:xfrm>
            <a:off x="5129784" y="1563624"/>
            <a:ext cx="676656" cy="219456"/>
          </a:xfrm>
          <a:prstGeom prst="rect">
            <a:avLst/>
          </a:prstGeom>
          <a:noFill/>
          <a:ln/>
        </p:spPr>
        <p:txBody>
          <a:bodyPr wrap="square" lIns="0" tIns="0" rIns="0" bIns="0" rtlCol="0" anchor="ctr"/>
          <a:lstStyle/>
          <a:p>
            <a:pPr algn="ctr" indent="0" marL="0">
              <a:buNone/>
            </a:pPr>
            <a:r>
              <a:rPr lang="en-US" sz="750" b="1" dirty="0">
                <a:solidFill>
                  <a:srgbClr val="00A86A"/>
                </a:solidFill>
                <a:latin typeface="Calibri" pitchFamily="34" charset="0"/>
                <a:ea typeface="Calibri" pitchFamily="34" charset="-122"/>
                <a:cs typeface="Calibri" pitchFamily="34" charset="-120"/>
              </a:rPr>
              <a:t>SIGNAL</a:t>
            </a:r>
            <a:endParaRPr lang="en-US" sz="750" dirty="0"/>
          </a:p>
        </p:txBody>
      </p:sp>
      <p:sp>
        <p:nvSpPr>
          <p:cNvPr id="30" name="Text 25"/>
          <p:cNvSpPr txBox="1"/>
          <p:nvPr/>
        </p:nvSpPr>
        <p:spPr>
          <a:xfrm>
            <a:off x="3374136" y="1965960"/>
            <a:ext cx="2395728" cy="603504"/>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Routes, ports, aéroports, sites miniers et industriels : le réseau entre les points lumineux.</a:t>
            </a:r>
            <a:endParaRPr lang="en-US" sz="900" dirty="0"/>
          </a:p>
        </p:txBody>
      </p:sp>
      <p:sp>
        <p:nvSpPr>
          <p:cNvPr id="31" name="Shape 26"/>
          <p:cNvSpPr/>
          <p:nvPr/>
        </p:nvSpPr>
        <p:spPr>
          <a:xfrm>
            <a:off x="6035040" y="1325880"/>
            <a:ext cx="2651760" cy="1280160"/>
          </a:xfrm>
          <a:prstGeom prst="roundRect">
            <a:avLst>
              <a:gd name="adj" fmla="val 5714"/>
            </a:avLst>
          </a:prstGeom>
          <a:solidFill>
            <a:srgbClr val="F4F7F5"/>
          </a:solidFill>
          <a:ln w="9525">
            <a:solidFill>
              <a:srgbClr val="D5DED9"/>
            </a:solidFill>
            <a:prstDash val="solid"/>
          </a:ln>
        </p:spPr>
      </p:sp>
      <p:sp>
        <p:nvSpPr>
          <p:cNvPr id="32" name="Shape 27"/>
          <p:cNvSpPr/>
          <p:nvPr/>
        </p:nvSpPr>
        <p:spPr>
          <a:xfrm>
            <a:off x="6144768" y="1435608"/>
            <a:ext cx="438912" cy="438912"/>
          </a:xfrm>
          <a:prstGeom prst="ellipse">
            <a:avLst/>
          </a:prstGeom>
          <a:solidFill>
            <a:srgbClr val="B83B2E">
              <a:alpha val="22000"/>
            </a:srgbClr>
          </a:solidFill>
          <a:ln w="12700">
            <a:solidFill>
              <a:srgbClr val="B83B2E">
                <a:alpha val="0"/>
              </a:srgbClr>
            </a:solidFill>
            <a:prstDash val="solid"/>
          </a:ln>
        </p:spPr>
      </p:sp>
      <p:pic>
        <p:nvPicPr>
          <p:cNvPr id="33" name="Image 2" descr="preencoded.png">    </p:cNvPr>
          <p:cNvPicPr>
            <a:picLocks noChangeAspect="1"/>
          </p:cNvPicPr>
          <p:nvPr/>
        </p:nvPicPr>
        <p:blipFill>
          <a:blip r:embed="rId3"/>
          <a:stretch>
            <a:fillRect/>
          </a:stretch>
        </p:blipFill>
        <p:spPr>
          <a:xfrm>
            <a:off x="6258885" y="1549725"/>
            <a:ext cx="210678" cy="210678"/>
          </a:xfrm>
          <a:prstGeom prst="rect">
            <a:avLst/>
          </a:prstGeom>
        </p:spPr>
      </p:pic>
      <p:sp>
        <p:nvSpPr>
          <p:cNvPr id="34" name="Text 28"/>
          <p:cNvSpPr txBox="1"/>
          <p:nvPr/>
        </p:nvSpPr>
        <p:spPr>
          <a:xfrm>
            <a:off x="6675120" y="1435608"/>
            <a:ext cx="1188720" cy="47548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Torchères</a:t>
            </a:r>
            <a:endParaRPr lang="en-US" sz="1100" dirty="0"/>
          </a:p>
        </p:txBody>
      </p:sp>
      <p:sp>
        <p:nvSpPr>
          <p:cNvPr id="35" name="Shape 29"/>
          <p:cNvSpPr/>
          <p:nvPr/>
        </p:nvSpPr>
        <p:spPr>
          <a:xfrm>
            <a:off x="7918704" y="1563624"/>
            <a:ext cx="676656" cy="219456"/>
          </a:xfrm>
          <a:prstGeom prst="roundRect">
            <a:avLst>
              <a:gd name="adj" fmla="val 50000"/>
            </a:avLst>
          </a:prstGeom>
          <a:solidFill>
            <a:srgbClr val="B83B2E">
              <a:alpha val="15000"/>
            </a:srgbClr>
          </a:solidFill>
          <a:ln w="9525">
            <a:solidFill>
              <a:srgbClr val="B83B2E"/>
            </a:solidFill>
            <a:prstDash val="solid"/>
          </a:ln>
        </p:spPr>
      </p:sp>
      <p:sp>
        <p:nvSpPr>
          <p:cNvPr id="36" name="Text 30"/>
          <p:cNvSpPr txBox="1"/>
          <p:nvPr/>
        </p:nvSpPr>
        <p:spPr>
          <a:xfrm>
            <a:off x="7918704" y="1563624"/>
            <a:ext cx="676656" cy="219456"/>
          </a:xfrm>
          <a:prstGeom prst="rect">
            <a:avLst/>
          </a:prstGeom>
          <a:noFill/>
          <a:ln/>
        </p:spPr>
        <p:txBody>
          <a:bodyPr wrap="square" lIns="0" tIns="0" rIns="0" bIns="0" rtlCol="0" anchor="ctr"/>
          <a:lstStyle/>
          <a:p>
            <a:pPr algn="ctr" indent="0" marL="0">
              <a:buNone/>
            </a:pPr>
            <a:r>
              <a:rPr lang="en-US" sz="750" b="1" dirty="0">
                <a:solidFill>
                  <a:srgbClr val="B83B2E"/>
                </a:solidFill>
                <a:latin typeface="Calibri" pitchFamily="34" charset="0"/>
                <a:ea typeface="Calibri" pitchFamily="34" charset="-122"/>
                <a:cs typeface="Calibri" pitchFamily="34" charset="-120"/>
              </a:rPr>
              <a:t>MASQUER</a:t>
            </a:r>
            <a:endParaRPr lang="en-US" sz="750" dirty="0"/>
          </a:p>
        </p:txBody>
      </p:sp>
      <p:sp>
        <p:nvSpPr>
          <p:cNvPr id="37" name="Text 31"/>
          <p:cNvSpPr txBox="1"/>
          <p:nvPr/>
        </p:nvSpPr>
        <p:spPr>
          <a:xfrm>
            <a:off x="6163056" y="1965960"/>
            <a:ext cx="2395728" cy="603504"/>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Points isolés très brillants dans les zones pétrolières et gazières — delta du Niger, Algérie, Libye. À masquer.</a:t>
            </a:r>
            <a:endParaRPr lang="en-US" sz="900" dirty="0"/>
          </a:p>
        </p:txBody>
      </p:sp>
      <p:sp>
        <p:nvSpPr>
          <p:cNvPr id="38" name="Shape 32"/>
          <p:cNvSpPr/>
          <p:nvPr/>
        </p:nvSpPr>
        <p:spPr>
          <a:xfrm>
            <a:off x="457200" y="2743200"/>
            <a:ext cx="2651760" cy="1280160"/>
          </a:xfrm>
          <a:prstGeom prst="roundRect">
            <a:avLst>
              <a:gd name="adj" fmla="val 5714"/>
            </a:avLst>
          </a:prstGeom>
          <a:solidFill>
            <a:srgbClr val="F4F7F5"/>
          </a:solidFill>
          <a:ln w="9525">
            <a:solidFill>
              <a:srgbClr val="D5DED9"/>
            </a:solidFill>
            <a:prstDash val="solid"/>
          </a:ln>
        </p:spPr>
      </p:sp>
      <p:sp>
        <p:nvSpPr>
          <p:cNvPr id="39" name="Shape 33"/>
          <p:cNvSpPr/>
          <p:nvPr/>
        </p:nvSpPr>
        <p:spPr>
          <a:xfrm>
            <a:off x="566928" y="2852928"/>
            <a:ext cx="438912" cy="438912"/>
          </a:xfrm>
          <a:prstGeom prst="ellipse">
            <a:avLst/>
          </a:prstGeom>
          <a:solidFill>
            <a:srgbClr val="D49A00">
              <a:alpha val="22000"/>
            </a:srgbClr>
          </a:solidFill>
          <a:ln w="12700">
            <a:solidFill>
              <a:srgbClr val="D49A00">
                <a:alpha val="0"/>
              </a:srgbClr>
            </a:solidFill>
            <a:prstDash val="solid"/>
          </a:ln>
        </p:spPr>
      </p:sp>
      <p:pic>
        <p:nvPicPr>
          <p:cNvPr id="40" name="Image 3" descr="preencoded.png">    </p:cNvPr>
          <p:cNvPicPr>
            <a:picLocks noChangeAspect="1"/>
          </p:cNvPicPr>
          <p:nvPr/>
        </p:nvPicPr>
        <p:blipFill>
          <a:blip r:embed="rId4"/>
          <a:stretch>
            <a:fillRect/>
          </a:stretch>
        </p:blipFill>
        <p:spPr>
          <a:xfrm>
            <a:off x="681045" y="2967045"/>
            <a:ext cx="210678" cy="210678"/>
          </a:xfrm>
          <a:prstGeom prst="rect">
            <a:avLst/>
          </a:prstGeom>
        </p:spPr>
      </p:pic>
      <p:sp>
        <p:nvSpPr>
          <p:cNvPr id="41" name="Text 34"/>
          <p:cNvSpPr txBox="1"/>
          <p:nvPr/>
        </p:nvSpPr>
        <p:spPr>
          <a:xfrm>
            <a:off x="1097280" y="2852928"/>
            <a:ext cx="1188720" cy="47548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Pêche au lamparo</a:t>
            </a:r>
            <a:endParaRPr lang="en-US" sz="1100" dirty="0"/>
          </a:p>
        </p:txBody>
      </p:sp>
      <p:sp>
        <p:nvSpPr>
          <p:cNvPr id="42" name="Shape 35"/>
          <p:cNvSpPr/>
          <p:nvPr/>
        </p:nvSpPr>
        <p:spPr>
          <a:xfrm>
            <a:off x="2340864" y="2980944"/>
            <a:ext cx="676656" cy="219456"/>
          </a:xfrm>
          <a:prstGeom prst="roundRect">
            <a:avLst>
              <a:gd name="adj" fmla="val 50000"/>
            </a:avLst>
          </a:prstGeom>
          <a:solidFill>
            <a:srgbClr val="D49A00">
              <a:alpha val="15000"/>
            </a:srgbClr>
          </a:solidFill>
          <a:ln w="9525">
            <a:solidFill>
              <a:srgbClr val="D49A00"/>
            </a:solidFill>
            <a:prstDash val="solid"/>
          </a:ln>
        </p:spPr>
      </p:sp>
      <p:sp>
        <p:nvSpPr>
          <p:cNvPr id="43" name="Text 36"/>
          <p:cNvSpPr txBox="1"/>
          <p:nvPr/>
        </p:nvSpPr>
        <p:spPr>
          <a:xfrm>
            <a:off x="2340864" y="2980944"/>
            <a:ext cx="676656" cy="219456"/>
          </a:xfrm>
          <a:prstGeom prst="rect">
            <a:avLst/>
          </a:prstGeom>
          <a:noFill/>
          <a:ln/>
        </p:spPr>
        <p:txBody>
          <a:bodyPr wrap="square" lIns="0" tIns="0" rIns="0" bIns="0" rtlCol="0" anchor="ctr"/>
          <a:lstStyle/>
          <a:p>
            <a:pPr algn="ctr" indent="0" marL="0">
              <a:buNone/>
            </a:pPr>
            <a:r>
              <a:rPr lang="en-US" sz="750" b="1" dirty="0">
                <a:solidFill>
                  <a:srgbClr val="D49A00"/>
                </a:solidFill>
                <a:latin typeface="Calibri" pitchFamily="34" charset="0"/>
                <a:ea typeface="Calibri" pitchFamily="34" charset="-122"/>
                <a:cs typeface="Calibri" pitchFamily="34" charset="-120"/>
              </a:rPr>
              <a:t>CONTEXTE</a:t>
            </a:r>
            <a:endParaRPr lang="en-US" sz="750" dirty="0"/>
          </a:p>
        </p:txBody>
      </p:sp>
      <p:sp>
        <p:nvSpPr>
          <p:cNvPr id="44" name="Text 37"/>
          <p:cNvSpPr txBox="1"/>
          <p:nvPr/>
        </p:nvSpPr>
        <p:spPr>
          <a:xfrm>
            <a:off x="585216" y="3383280"/>
            <a:ext cx="2395728" cy="603504"/>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Pêche à la lumière sur les lacs Victoria et Tanganyika ; flottilles en mer.</a:t>
            </a:r>
            <a:endParaRPr lang="en-US" sz="900" dirty="0"/>
          </a:p>
        </p:txBody>
      </p:sp>
      <p:sp>
        <p:nvSpPr>
          <p:cNvPr id="45" name="Shape 38"/>
          <p:cNvSpPr/>
          <p:nvPr/>
        </p:nvSpPr>
        <p:spPr>
          <a:xfrm>
            <a:off x="3246120" y="2743200"/>
            <a:ext cx="2651760" cy="1280160"/>
          </a:xfrm>
          <a:prstGeom prst="roundRect">
            <a:avLst>
              <a:gd name="adj" fmla="val 5714"/>
            </a:avLst>
          </a:prstGeom>
          <a:solidFill>
            <a:srgbClr val="F4F7F5"/>
          </a:solidFill>
          <a:ln w="9525">
            <a:solidFill>
              <a:srgbClr val="D5DED9"/>
            </a:solidFill>
            <a:prstDash val="solid"/>
          </a:ln>
        </p:spPr>
      </p:sp>
      <p:sp>
        <p:nvSpPr>
          <p:cNvPr id="46" name="Shape 39"/>
          <p:cNvSpPr/>
          <p:nvPr/>
        </p:nvSpPr>
        <p:spPr>
          <a:xfrm>
            <a:off x="3355848" y="2852928"/>
            <a:ext cx="438912" cy="438912"/>
          </a:xfrm>
          <a:prstGeom prst="ellipse">
            <a:avLst/>
          </a:prstGeom>
          <a:solidFill>
            <a:srgbClr val="B83B2E">
              <a:alpha val="22000"/>
            </a:srgbClr>
          </a:solidFill>
          <a:ln w="12700">
            <a:solidFill>
              <a:srgbClr val="B83B2E">
                <a:alpha val="0"/>
              </a:srgbClr>
            </a:solidFill>
            <a:prstDash val="solid"/>
          </a:ln>
        </p:spPr>
      </p:sp>
      <p:pic>
        <p:nvPicPr>
          <p:cNvPr id="47" name="Image 4" descr="preencoded.png">    </p:cNvPr>
          <p:cNvPicPr>
            <a:picLocks noChangeAspect="1"/>
          </p:cNvPicPr>
          <p:nvPr/>
        </p:nvPicPr>
        <p:blipFill>
          <a:blip r:embed="rId5"/>
          <a:stretch>
            <a:fillRect/>
          </a:stretch>
        </p:blipFill>
        <p:spPr>
          <a:xfrm>
            <a:off x="3469965" y="2967045"/>
            <a:ext cx="210678" cy="210678"/>
          </a:xfrm>
          <a:prstGeom prst="rect">
            <a:avLst/>
          </a:prstGeom>
        </p:spPr>
      </p:pic>
      <p:sp>
        <p:nvSpPr>
          <p:cNvPr id="48" name="Text 40"/>
          <p:cNvSpPr txBox="1"/>
          <p:nvPr/>
        </p:nvSpPr>
        <p:spPr>
          <a:xfrm>
            <a:off x="3886200" y="2852928"/>
            <a:ext cx="1188720" cy="47548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Feux</a:t>
            </a:r>
            <a:endParaRPr lang="en-US" sz="1100" dirty="0"/>
          </a:p>
        </p:txBody>
      </p:sp>
      <p:sp>
        <p:nvSpPr>
          <p:cNvPr id="49" name="Shape 41"/>
          <p:cNvSpPr/>
          <p:nvPr/>
        </p:nvSpPr>
        <p:spPr>
          <a:xfrm>
            <a:off x="5129784" y="2980944"/>
            <a:ext cx="676656" cy="219456"/>
          </a:xfrm>
          <a:prstGeom prst="roundRect">
            <a:avLst>
              <a:gd name="adj" fmla="val 50000"/>
            </a:avLst>
          </a:prstGeom>
          <a:solidFill>
            <a:srgbClr val="B83B2E">
              <a:alpha val="15000"/>
            </a:srgbClr>
          </a:solidFill>
          <a:ln w="9525">
            <a:solidFill>
              <a:srgbClr val="B83B2E"/>
            </a:solidFill>
            <a:prstDash val="solid"/>
          </a:ln>
        </p:spPr>
      </p:sp>
      <p:sp>
        <p:nvSpPr>
          <p:cNvPr id="50" name="Text 42"/>
          <p:cNvSpPr txBox="1"/>
          <p:nvPr/>
        </p:nvSpPr>
        <p:spPr>
          <a:xfrm>
            <a:off x="5129784" y="2980944"/>
            <a:ext cx="676656" cy="219456"/>
          </a:xfrm>
          <a:prstGeom prst="rect">
            <a:avLst/>
          </a:prstGeom>
          <a:noFill/>
          <a:ln/>
        </p:spPr>
        <p:txBody>
          <a:bodyPr wrap="square" lIns="0" tIns="0" rIns="0" bIns="0" rtlCol="0" anchor="ctr"/>
          <a:lstStyle/>
          <a:p>
            <a:pPr algn="ctr" indent="0" marL="0">
              <a:buNone/>
            </a:pPr>
            <a:r>
              <a:rPr lang="en-US" sz="750" b="1" dirty="0">
                <a:solidFill>
                  <a:srgbClr val="B83B2E"/>
                </a:solidFill>
                <a:latin typeface="Calibri" pitchFamily="34" charset="0"/>
                <a:ea typeface="Calibri" pitchFamily="34" charset="-122"/>
                <a:cs typeface="Calibri" pitchFamily="34" charset="-120"/>
              </a:rPr>
              <a:t>MASQUER</a:t>
            </a:r>
            <a:endParaRPr lang="en-US" sz="750" dirty="0"/>
          </a:p>
        </p:txBody>
      </p:sp>
      <p:sp>
        <p:nvSpPr>
          <p:cNvPr id="51" name="Text 43"/>
          <p:cNvSpPr txBox="1"/>
          <p:nvPr/>
        </p:nvSpPr>
        <p:spPr>
          <a:xfrm>
            <a:off x="3374136" y="3383280"/>
            <a:ext cx="2395728" cy="603504"/>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Feux de brousse et brûlis agricoles : intenses, brefs et très saisonniers.</a:t>
            </a:r>
            <a:endParaRPr lang="en-US" sz="900" dirty="0"/>
          </a:p>
        </p:txBody>
      </p:sp>
      <p:sp>
        <p:nvSpPr>
          <p:cNvPr id="52" name="Shape 44"/>
          <p:cNvSpPr/>
          <p:nvPr/>
        </p:nvSpPr>
        <p:spPr>
          <a:xfrm>
            <a:off x="6035040" y="2743200"/>
            <a:ext cx="2651760" cy="1280160"/>
          </a:xfrm>
          <a:prstGeom prst="roundRect">
            <a:avLst>
              <a:gd name="adj" fmla="val 5714"/>
            </a:avLst>
          </a:prstGeom>
          <a:solidFill>
            <a:srgbClr val="F4F7F5"/>
          </a:solidFill>
          <a:ln w="9525">
            <a:solidFill>
              <a:srgbClr val="D5DED9"/>
            </a:solidFill>
            <a:prstDash val="solid"/>
          </a:ln>
        </p:spPr>
      </p:sp>
      <p:sp>
        <p:nvSpPr>
          <p:cNvPr id="53" name="Shape 45"/>
          <p:cNvSpPr/>
          <p:nvPr/>
        </p:nvSpPr>
        <p:spPr>
          <a:xfrm>
            <a:off x="6144768" y="2852928"/>
            <a:ext cx="438912" cy="438912"/>
          </a:xfrm>
          <a:prstGeom prst="ellipse">
            <a:avLst/>
          </a:prstGeom>
          <a:solidFill>
            <a:srgbClr val="B83B2E">
              <a:alpha val="22000"/>
            </a:srgbClr>
          </a:solidFill>
          <a:ln w="12700">
            <a:solidFill>
              <a:srgbClr val="B83B2E">
                <a:alpha val="0"/>
              </a:srgbClr>
            </a:solidFill>
            <a:prstDash val="solid"/>
          </a:ln>
        </p:spPr>
      </p:sp>
      <p:pic>
        <p:nvPicPr>
          <p:cNvPr id="54" name="Image 5" descr="preencoded.png">    </p:cNvPr>
          <p:cNvPicPr>
            <a:picLocks noChangeAspect="1"/>
          </p:cNvPicPr>
          <p:nvPr/>
        </p:nvPicPr>
        <p:blipFill>
          <a:blip r:embed="rId6"/>
          <a:stretch>
            <a:fillRect/>
          </a:stretch>
        </p:blipFill>
        <p:spPr>
          <a:xfrm>
            <a:off x="6258885" y="2967045"/>
            <a:ext cx="210678" cy="210678"/>
          </a:xfrm>
          <a:prstGeom prst="rect">
            <a:avLst/>
          </a:prstGeom>
        </p:spPr>
      </p:pic>
      <p:sp>
        <p:nvSpPr>
          <p:cNvPr id="55" name="Text 46"/>
          <p:cNvSpPr txBox="1"/>
          <p:nvPr/>
        </p:nvSpPr>
        <p:spPr>
          <a:xfrm>
            <a:off x="6675120" y="2852928"/>
            <a:ext cx="1188720" cy="47548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Lumière naturelle ou réfléchie</a:t>
            </a:r>
            <a:endParaRPr lang="en-US" sz="1100" dirty="0"/>
          </a:p>
        </p:txBody>
      </p:sp>
      <p:sp>
        <p:nvSpPr>
          <p:cNvPr id="56" name="Shape 47"/>
          <p:cNvSpPr/>
          <p:nvPr/>
        </p:nvSpPr>
        <p:spPr>
          <a:xfrm>
            <a:off x="7918704" y="2980944"/>
            <a:ext cx="676656" cy="219456"/>
          </a:xfrm>
          <a:prstGeom prst="roundRect">
            <a:avLst>
              <a:gd name="adj" fmla="val 50000"/>
            </a:avLst>
          </a:prstGeom>
          <a:solidFill>
            <a:srgbClr val="B83B2E">
              <a:alpha val="15000"/>
            </a:srgbClr>
          </a:solidFill>
          <a:ln w="9525">
            <a:solidFill>
              <a:srgbClr val="B83B2E"/>
            </a:solidFill>
            <a:prstDash val="solid"/>
          </a:ln>
        </p:spPr>
      </p:sp>
      <p:sp>
        <p:nvSpPr>
          <p:cNvPr id="57" name="Text 48"/>
          <p:cNvSpPr txBox="1"/>
          <p:nvPr/>
        </p:nvSpPr>
        <p:spPr>
          <a:xfrm>
            <a:off x="7918704" y="2980944"/>
            <a:ext cx="676656" cy="219456"/>
          </a:xfrm>
          <a:prstGeom prst="rect">
            <a:avLst/>
          </a:prstGeom>
          <a:noFill/>
          <a:ln/>
        </p:spPr>
        <p:txBody>
          <a:bodyPr wrap="square" lIns="0" tIns="0" rIns="0" bIns="0" rtlCol="0" anchor="ctr"/>
          <a:lstStyle/>
          <a:p>
            <a:pPr algn="ctr" indent="0" marL="0">
              <a:buNone/>
            </a:pPr>
            <a:r>
              <a:rPr lang="en-US" sz="750" b="1" dirty="0">
                <a:solidFill>
                  <a:srgbClr val="B83B2E"/>
                </a:solidFill>
                <a:latin typeface="Calibri" pitchFamily="34" charset="0"/>
                <a:ea typeface="Calibri" pitchFamily="34" charset="-122"/>
                <a:cs typeface="Calibri" pitchFamily="34" charset="-120"/>
              </a:rPr>
              <a:t>RETIRER</a:t>
            </a:r>
            <a:endParaRPr lang="en-US" sz="750" dirty="0"/>
          </a:p>
        </p:txBody>
      </p:sp>
      <p:sp>
        <p:nvSpPr>
          <p:cNvPr id="58" name="Text 49"/>
          <p:cNvSpPr txBox="1"/>
          <p:nvPr/>
        </p:nvSpPr>
        <p:spPr>
          <a:xfrm>
            <a:off x="6163056" y="3383280"/>
            <a:ext cx="2395728" cy="603504"/>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Clair de lune sur le sable clair ou les salines, luminescence nocturne. Aucun signal humain.</a:t>
            </a:r>
            <a:endParaRPr lang="en-US" sz="900" dirty="0"/>
          </a:p>
        </p:txBody>
      </p:sp>
      <p:sp>
        <p:nvSpPr>
          <p:cNvPr id="59" name="Text 50"/>
          <p:cNvSpPr txBox="1"/>
          <p:nvPr/>
        </p:nvSpPr>
        <p:spPr>
          <a:xfrm>
            <a:off x="457200" y="4224528"/>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Les torchères sont répertoriées séparément par le produit VIIRS Nightfire (Earth Observation Group).</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DES PHOTONS AUX DONNÉES · INDICATEURS · LABO DE 14H00</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Transformer une image en chiffre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7" name="Text 14"/>
          <p:cNvSpPr txBox="1"/>
          <p:nvPr/>
        </p:nvSpPr>
        <p:spPr>
          <a:xfrm>
            <a:off x="457200" y="1298448"/>
            <a:ext cx="2560320" cy="228600"/>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District fictif · radiance par pixel</a:t>
            </a:r>
            <a:endParaRPr lang="en-US" sz="1100" dirty="0"/>
          </a:p>
        </p:txBody>
      </p:sp>
      <p:sp>
        <p:nvSpPr>
          <p:cNvPr id="18" name="Shape 15"/>
          <p:cNvSpPr/>
          <p:nvPr/>
        </p:nvSpPr>
        <p:spPr>
          <a:xfrm>
            <a:off x="548640" y="1600200"/>
            <a:ext cx="566928" cy="566928"/>
          </a:xfrm>
          <a:prstGeom prst="rect">
            <a:avLst/>
          </a:prstGeom>
          <a:solidFill>
            <a:srgbClr val="F4F7F5"/>
          </a:solidFill>
          <a:ln w="19050">
            <a:solidFill>
              <a:srgbClr val="FFFFFF"/>
            </a:solidFill>
            <a:prstDash val="solid"/>
          </a:ln>
        </p:spPr>
      </p:sp>
      <p:sp>
        <p:nvSpPr>
          <p:cNvPr id="19" name="Text 16"/>
          <p:cNvSpPr txBox="1"/>
          <p:nvPr/>
        </p:nvSpPr>
        <p:spPr>
          <a:xfrm>
            <a:off x="548640" y="1600200"/>
            <a:ext cx="566928" cy="566928"/>
          </a:xfrm>
          <a:prstGeom prst="rect">
            <a:avLst/>
          </a:prstGeom>
          <a:noFill/>
          <a:ln/>
        </p:spPr>
        <p:txBody>
          <a:bodyPr wrap="square" lIns="0" tIns="0" rIns="0" bIns="0" rtlCol="0" anchor="ctr"/>
          <a:lstStyle/>
          <a:p>
            <a:pPr algn="ctr" indent="0" marL="0">
              <a:buNone/>
            </a:pPr>
            <a:r>
              <a:rPr lang="en-US" sz="1100" dirty="0">
                <a:solidFill>
                  <a:srgbClr val="231F20"/>
                </a:solidFill>
                <a:latin typeface="Calibri" pitchFamily="34" charset="0"/>
                <a:ea typeface="Calibri" pitchFamily="34" charset="-122"/>
                <a:cs typeface="Calibri" pitchFamily="34" charset="-120"/>
              </a:rPr>
              <a:t>0,1</a:t>
            </a:r>
            <a:endParaRPr lang="en-US" sz="1100" dirty="0"/>
          </a:p>
        </p:txBody>
      </p:sp>
      <p:sp>
        <p:nvSpPr>
          <p:cNvPr id="20" name="Shape 17"/>
          <p:cNvSpPr/>
          <p:nvPr/>
        </p:nvSpPr>
        <p:spPr>
          <a:xfrm>
            <a:off x="1115568" y="1600200"/>
            <a:ext cx="566928" cy="566928"/>
          </a:xfrm>
          <a:prstGeom prst="rect">
            <a:avLst/>
          </a:prstGeom>
          <a:solidFill>
            <a:srgbClr val="F4F7F5"/>
          </a:solidFill>
          <a:ln w="19050">
            <a:solidFill>
              <a:srgbClr val="FFFFFF"/>
            </a:solidFill>
            <a:prstDash val="solid"/>
          </a:ln>
        </p:spPr>
      </p:sp>
      <p:sp>
        <p:nvSpPr>
          <p:cNvPr id="21" name="Text 18"/>
          <p:cNvSpPr txBox="1"/>
          <p:nvPr/>
        </p:nvSpPr>
        <p:spPr>
          <a:xfrm>
            <a:off x="1115568" y="1600200"/>
            <a:ext cx="566928" cy="566928"/>
          </a:xfrm>
          <a:prstGeom prst="rect">
            <a:avLst/>
          </a:prstGeom>
          <a:noFill/>
          <a:ln/>
        </p:spPr>
        <p:txBody>
          <a:bodyPr wrap="square" lIns="0" tIns="0" rIns="0" bIns="0" rtlCol="0" anchor="ctr"/>
          <a:lstStyle/>
          <a:p>
            <a:pPr algn="ctr" indent="0" marL="0">
              <a:buNone/>
            </a:pPr>
            <a:r>
              <a:rPr lang="en-US" sz="1100" dirty="0">
                <a:solidFill>
                  <a:srgbClr val="231F20"/>
                </a:solidFill>
                <a:latin typeface="Calibri" pitchFamily="34" charset="0"/>
                <a:ea typeface="Calibri" pitchFamily="34" charset="-122"/>
                <a:cs typeface="Calibri" pitchFamily="34" charset="-120"/>
              </a:rPr>
              <a:t>0,3</a:t>
            </a:r>
            <a:endParaRPr lang="en-US" sz="1100" dirty="0"/>
          </a:p>
        </p:txBody>
      </p:sp>
      <p:sp>
        <p:nvSpPr>
          <p:cNvPr id="22" name="Shape 19"/>
          <p:cNvSpPr/>
          <p:nvPr/>
        </p:nvSpPr>
        <p:spPr>
          <a:xfrm>
            <a:off x="1682496" y="1600200"/>
            <a:ext cx="566928" cy="566928"/>
          </a:xfrm>
          <a:prstGeom prst="rect">
            <a:avLst/>
          </a:prstGeom>
          <a:solidFill>
            <a:srgbClr val="F4F7F5"/>
          </a:solidFill>
          <a:ln w="19050">
            <a:solidFill>
              <a:srgbClr val="FFFFFF"/>
            </a:solidFill>
            <a:prstDash val="solid"/>
          </a:ln>
        </p:spPr>
      </p:sp>
      <p:sp>
        <p:nvSpPr>
          <p:cNvPr id="23" name="Text 20"/>
          <p:cNvSpPr txBox="1"/>
          <p:nvPr/>
        </p:nvSpPr>
        <p:spPr>
          <a:xfrm>
            <a:off x="1682496" y="1600200"/>
            <a:ext cx="566928" cy="566928"/>
          </a:xfrm>
          <a:prstGeom prst="rect">
            <a:avLst/>
          </a:prstGeom>
          <a:noFill/>
          <a:ln/>
        </p:spPr>
        <p:txBody>
          <a:bodyPr wrap="square" lIns="0" tIns="0" rIns="0" bIns="0" rtlCol="0" anchor="ctr"/>
          <a:lstStyle/>
          <a:p>
            <a:pPr algn="ctr" indent="0" marL="0">
              <a:buNone/>
            </a:pPr>
            <a:r>
              <a:rPr lang="en-US" sz="1100" dirty="0">
                <a:solidFill>
                  <a:srgbClr val="231F20"/>
                </a:solidFill>
                <a:latin typeface="Calibri" pitchFamily="34" charset="0"/>
                <a:ea typeface="Calibri" pitchFamily="34" charset="-122"/>
                <a:cs typeface="Calibri" pitchFamily="34" charset="-120"/>
              </a:rPr>
              <a:t>0,2</a:t>
            </a:r>
            <a:endParaRPr lang="en-US" sz="1100" dirty="0"/>
          </a:p>
        </p:txBody>
      </p:sp>
      <p:sp>
        <p:nvSpPr>
          <p:cNvPr id="24" name="Shape 21"/>
          <p:cNvSpPr/>
          <p:nvPr/>
        </p:nvSpPr>
        <p:spPr>
          <a:xfrm>
            <a:off x="2249424" y="1600200"/>
            <a:ext cx="566928" cy="566928"/>
          </a:xfrm>
          <a:prstGeom prst="rect">
            <a:avLst/>
          </a:prstGeom>
          <a:solidFill>
            <a:srgbClr val="F4F7F5"/>
          </a:solidFill>
          <a:ln w="19050">
            <a:solidFill>
              <a:srgbClr val="FFFFFF"/>
            </a:solidFill>
            <a:prstDash val="solid"/>
          </a:ln>
        </p:spPr>
      </p:sp>
      <p:sp>
        <p:nvSpPr>
          <p:cNvPr id="25" name="Text 22"/>
          <p:cNvSpPr txBox="1"/>
          <p:nvPr/>
        </p:nvSpPr>
        <p:spPr>
          <a:xfrm>
            <a:off x="2249424" y="1600200"/>
            <a:ext cx="566928" cy="566928"/>
          </a:xfrm>
          <a:prstGeom prst="rect">
            <a:avLst/>
          </a:prstGeom>
          <a:noFill/>
          <a:ln/>
        </p:spPr>
        <p:txBody>
          <a:bodyPr wrap="square" lIns="0" tIns="0" rIns="0" bIns="0" rtlCol="0" anchor="ctr"/>
          <a:lstStyle/>
          <a:p>
            <a:pPr algn="ctr" indent="0" marL="0">
              <a:buNone/>
            </a:pPr>
            <a:r>
              <a:rPr lang="en-US" sz="1100" dirty="0">
                <a:solidFill>
                  <a:srgbClr val="231F20"/>
                </a:solidFill>
                <a:latin typeface="Calibri" pitchFamily="34" charset="0"/>
                <a:ea typeface="Calibri" pitchFamily="34" charset="-122"/>
                <a:cs typeface="Calibri" pitchFamily="34" charset="-120"/>
              </a:rPr>
              <a:t>0,0</a:t>
            </a:r>
            <a:endParaRPr lang="en-US" sz="1100" dirty="0"/>
          </a:p>
        </p:txBody>
      </p:sp>
      <p:sp>
        <p:nvSpPr>
          <p:cNvPr id="26" name="Shape 23"/>
          <p:cNvSpPr/>
          <p:nvPr/>
        </p:nvSpPr>
        <p:spPr>
          <a:xfrm>
            <a:off x="548640" y="2167128"/>
            <a:ext cx="566928" cy="566928"/>
          </a:xfrm>
          <a:prstGeom prst="rect">
            <a:avLst/>
          </a:prstGeom>
          <a:solidFill>
            <a:srgbClr val="F4F7F5"/>
          </a:solidFill>
          <a:ln w="19050">
            <a:solidFill>
              <a:srgbClr val="FFFFFF"/>
            </a:solidFill>
            <a:prstDash val="solid"/>
          </a:ln>
        </p:spPr>
      </p:sp>
      <p:sp>
        <p:nvSpPr>
          <p:cNvPr id="27" name="Text 24"/>
          <p:cNvSpPr txBox="1"/>
          <p:nvPr/>
        </p:nvSpPr>
        <p:spPr>
          <a:xfrm>
            <a:off x="548640" y="2167128"/>
            <a:ext cx="566928" cy="566928"/>
          </a:xfrm>
          <a:prstGeom prst="rect">
            <a:avLst/>
          </a:prstGeom>
          <a:noFill/>
          <a:ln/>
        </p:spPr>
        <p:txBody>
          <a:bodyPr wrap="square" lIns="0" tIns="0" rIns="0" bIns="0" rtlCol="0" anchor="ctr"/>
          <a:lstStyle/>
          <a:p>
            <a:pPr algn="ctr" indent="0" marL="0">
              <a:buNone/>
            </a:pPr>
            <a:r>
              <a:rPr lang="en-US" sz="1100" dirty="0">
                <a:solidFill>
                  <a:srgbClr val="231F20"/>
                </a:solidFill>
                <a:latin typeface="Calibri" pitchFamily="34" charset="0"/>
                <a:ea typeface="Calibri" pitchFamily="34" charset="-122"/>
                <a:cs typeface="Calibri" pitchFamily="34" charset="-120"/>
              </a:rPr>
              <a:t>0,4</a:t>
            </a:r>
            <a:endParaRPr lang="en-US" sz="1100" dirty="0"/>
          </a:p>
        </p:txBody>
      </p:sp>
      <p:sp>
        <p:nvSpPr>
          <p:cNvPr id="28" name="Shape 25"/>
          <p:cNvSpPr/>
          <p:nvPr/>
        </p:nvSpPr>
        <p:spPr>
          <a:xfrm>
            <a:off x="1115568" y="2167128"/>
            <a:ext cx="566928" cy="566928"/>
          </a:xfrm>
          <a:prstGeom prst="rect">
            <a:avLst/>
          </a:prstGeom>
          <a:solidFill>
            <a:srgbClr val="10A06A"/>
          </a:solidFill>
          <a:ln w="19050">
            <a:solidFill>
              <a:srgbClr val="FFFFFF"/>
            </a:solidFill>
            <a:prstDash val="solid"/>
          </a:ln>
        </p:spPr>
      </p:sp>
      <p:sp>
        <p:nvSpPr>
          <p:cNvPr id="29" name="Text 26"/>
          <p:cNvSpPr txBox="1"/>
          <p:nvPr/>
        </p:nvSpPr>
        <p:spPr>
          <a:xfrm>
            <a:off x="1115568" y="2167128"/>
            <a:ext cx="566928"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2,5</a:t>
            </a:r>
            <a:endParaRPr lang="en-US" sz="1100" dirty="0"/>
          </a:p>
        </p:txBody>
      </p:sp>
      <p:sp>
        <p:nvSpPr>
          <p:cNvPr id="30" name="Shape 27"/>
          <p:cNvSpPr/>
          <p:nvPr/>
        </p:nvSpPr>
        <p:spPr>
          <a:xfrm>
            <a:off x="1682496" y="2167128"/>
            <a:ext cx="566928" cy="566928"/>
          </a:xfrm>
          <a:prstGeom prst="rect">
            <a:avLst/>
          </a:prstGeom>
          <a:solidFill>
            <a:srgbClr val="00664A"/>
          </a:solidFill>
          <a:ln w="19050">
            <a:solidFill>
              <a:srgbClr val="FFFFFF"/>
            </a:solidFill>
            <a:prstDash val="solid"/>
          </a:ln>
        </p:spPr>
      </p:sp>
      <p:sp>
        <p:nvSpPr>
          <p:cNvPr id="31" name="Text 28"/>
          <p:cNvSpPr txBox="1"/>
          <p:nvPr/>
        </p:nvSpPr>
        <p:spPr>
          <a:xfrm>
            <a:off x="1682496" y="2167128"/>
            <a:ext cx="566928"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6,0</a:t>
            </a:r>
            <a:endParaRPr lang="en-US" sz="1100" dirty="0"/>
          </a:p>
        </p:txBody>
      </p:sp>
      <p:sp>
        <p:nvSpPr>
          <p:cNvPr id="32" name="Shape 29"/>
          <p:cNvSpPr/>
          <p:nvPr/>
        </p:nvSpPr>
        <p:spPr>
          <a:xfrm>
            <a:off x="2249424" y="2167128"/>
            <a:ext cx="566928" cy="566928"/>
          </a:xfrm>
          <a:prstGeom prst="rect">
            <a:avLst/>
          </a:prstGeom>
          <a:solidFill>
            <a:srgbClr val="7BCBA9"/>
          </a:solidFill>
          <a:ln w="19050">
            <a:solidFill>
              <a:srgbClr val="FFFFFF"/>
            </a:solidFill>
            <a:prstDash val="solid"/>
          </a:ln>
        </p:spPr>
      </p:sp>
      <p:sp>
        <p:nvSpPr>
          <p:cNvPr id="33" name="Text 30"/>
          <p:cNvSpPr txBox="1"/>
          <p:nvPr/>
        </p:nvSpPr>
        <p:spPr>
          <a:xfrm>
            <a:off x="2249424" y="2167128"/>
            <a:ext cx="566928" cy="566928"/>
          </a:xfrm>
          <a:prstGeom prst="rect">
            <a:avLst/>
          </a:prstGeom>
          <a:noFill/>
          <a:ln/>
        </p:spPr>
        <p:txBody>
          <a:bodyPr wrap="square" lIns="0" tIns="0" rIns="0" bIns="0" rtlCol="0" anchor="ctr"/>
          <a:lstStyle/>
          <a:p>
            <a:pPr algn="ctr" indent="0" marL="0">
              <a:buNone/>
            </a:pPr>
            <a:r>
              <a:rPr lang="en-US" sz="1100" b="1" dirty="0">
                <a:solidFill>
                  <a:srgbClr val="231F20"/>
                </a:solidFill>
                <a:latin typeface="Calibri" pitchFamily="34" charset="0"/>
                <a:ea typeface="Calibri" pitchFamily="34" charset="-122"/>
                <a:cs typeface="Calibri" pitchFamily="34" charset="-120"/>
              </a:rPr>
              <a:t>0,6</a:t>
            </a:r>
            <a:endParaRPr lang="en-US" sz="1100" dirty="0"/>
          </a:p>
        </p:txBody>
      </p:sp>
      <p:sp>
        <p:nvSpPr>
          <p:cNvPr id="34" name="Shape 31"/>
          <p:cNvSpPr/>
          <p:nvPr/>
        </p:nvSpPr>
        <p:spPr>
          <a:xfrm>
            <a:off x="548640" y="2734056"/>
            <a:ext cx="566928" cy="566928"/>
          </a:xfrm>
          <a:prstGeom prst="rect">
            <a:avLst/>
          </a:prstGeom>
          <a:solidFill>
            <a:srgbClr val="F4F7F5"/>
          </a:solidFill>
          <a:ln w="19050">
            <a:solidFill>
              <a:srgbClr val="FFFFFF"/>
            </a:solidFill>
            <a:prstDash val="solid"/>
          </a:ln>
        </p:spPr>
      </p:sp>
      <p:sp>
        <p:nvSpPr>
          <p:cNvPr id="35" name="Text 32"/>
          <p:cNvSpPr txBox="1"/>
          <p:nvPr/>
        </p:nvSpPr>
        <p:spPr>
          <a:xfrm>
            <a:off x="548640" y="2734056"/>
            <a:ext cx="566928" cy="566928"/>
          </a:xfrm>
          <a:prstGeom prst="rect">
            <a:avLst/>
          </a:prstGeom>
          <a:noFill/>
          <a:ln/>
        </p:spPr>
        <p:txBody>
          <a:bodyPr wrap="square" lIns="0" tIns="0" rIns="0" bIns="0" rtlCol="0" anchor="ctr"/>
          <a:lstStyle/>
          <a:p>
            <a:pPr algn="ctr" indent="0" marL="0">
              <a:buNone/>
            </a:pPr>
            <a:r>
              <a:rPr lang="en-US" sz="1100" dirty="0">
                <a:solidFill>
                  <a:srgbClr val="231F20"/>
                </a:solidFill>
                <a:latin typeface="Calibri" pitchFamily="34" charset="0"/>
                <a:ea typeface="Calibri" pitchFamily="34" charset="-122"/>
                <a:cs typeface="Calibri" pitchFamily="34" charset="-120"/>
              </a:rPr>
              <a:t>0,2</a:t>
            </a:r>
            <a:endParaRPr lang="en-US" sz="1100" dirty="0"/>
          </a:p>
        </p:txBody>
      </p:sp>
      <p:sp>
        <p:nvSpPr>
          <p:cNvPr id="36" name="Shape 33"/>
          <p:cNvSpPr/>
          <p:nvPr/>
        </p:nvSpPr>
        <p:spPr>
          <a:xfrm>
            <a:off x="1115568" y="2734056"/>
            <a:ext cx="566928" cy="566928"/>
          </a:xfrm>
          <a:prstGeom prst="rect">
            <a:avLst/>
          </a:prstGeom>
          <a:solidFill>
            <a:srgbClr val="10A06A"/>
          </a:solidFill>
          <a:ln w="19050">
            <a:solidFill>
              <a:srgbClr val="FFFFFF"/>
            </a:solidFill>
            <a:prstDash val="solid"/>
          </a:ln>
        </p:spPr>
      </p:sp>
      <p:sp>
        <p:nvSpPr>
          <p:cNvPr id="37" name="Text 34"/>
          <p:cNvSpPr txBox="1"/>
          <p:nvPr/>
        </p:nvSpPr>
        <p:spPr>
          <a:xfrm>
            <a:off x="1115568" y="2734056"/>
            <a:ext cx="566928"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4,0</a:t>
            </a:r>
            <a:endParaRPr lang="en-US" sz="1100" dirty="0"/>
          </a:p>
        </p:txBody>
      </p:sp>
      <p:sp>
        <p:nvSpPr>
          <p:cNvPr id="38" name="Shape 35"/>
          <p:cNvSpPr/>
          <p:nvPr/>
        </p:nvSpPr>
        <p:spPr>
          <a:xfrm>
            <a:off x="1682496" y="2734056"/>
            <a:ext cx="566928" cy="566928"/>
          </a:xfrm>
          <a:prstGeom prst="rect">
            <a:avLst/>
          </a:prstGeom>
          <a:solidFill>
            <a:srgbClr val="00664A"/>
          </a:solidFill>
          <a:ln w="19050">
            <a:solidFill>
              <a:srgbClr val="FFFFFF"/>
            </a:solidFill>
            <a:prstDash val="solid"/>
          </a:ln>
        </p:spPr>
      </p:sp>
      <p:sp>
        <p:nvSpPr>
          <p:cNvPr id="39" name="Text 36"/>
          <p:cNvSpPr txBox="1"/>
          <p:nvPr/>
        </p:nvSpPr>
        <p:spPr>
          <a:xfrm>
            <a:off x="1682496" y="2734056"/>
            <a:ext cx="566928"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12,0</a:t>
            </a:r>
            <a:endParaRPr lang="en-US" sz="1100" dirty="0"/>
          </a:p>
        </p:txBody>
      </p:sp>
      <p:sp>
        <p:nvSpPr>
          <p:cNvPr id="40" name="Shape 37"/>
          <p:cNvSpPr/>
          <p:nvPr/>
        </p:nvSpPr>
        <p:spPr>
          <a:xfrm>
            <a:off x="2249424" y="2734056"/>
            <a:ext cx="566928" cy="566928"/>
          </a:xfrm>
          <a:prstGeom prst="rect">
            <a:avLst/>
          </a:prstGeom>
          <a:solidFill>
            <a:srgbClr val="7BCBA9"/>
          </a:solidFill>
          <a:ln w="19050">
            <a:solidFill>
              <a:srgbClr val="FFFFFF"/>
            </a:solidFill>
            <a:prstDash val="solid"/>
          </a:ln>
        </p:spPr>
      </p:sp>
      <p:sp>
        <p:nvSpPr>
          <p:cNvPr id="41" name="Text 38"/>
          <p:cNvSpPr txBox="1"/>
          <p:nvPr/>
        </p:nvSpPr>
        <p:spPr>
          <a:xfrm>
            <a:off x="2249424" y="2734056"/>
            <a:ext cx="566928" cy="566928"/>
          </a:xfrm>
          <a:prstGeom prst="rect">
            <a:avLst/>
          </a:prstGeom>
          <a:noFill/>
          <a:ln/>
        </p:spPr>
        <p:txBody>
          <a:bodyPr wrap="square" lIns="0" tIns="0" rIns="0" bIns="0" rtlCol="0" anchor="ctr"/>
          <a:lstStyle/>
          <a:p>
            <a:pPr algn="ctr" indent="0" marL="0">
              <a:buNone/>
            </a:pPr>
            <a:r>
              <a:rPr lang="en-US" sz="1100" b="1" dirty="0">
                <a:solidFill>
                  <a:srgbClr val="231F20"/>
                </a:solidFill>
                <a:latin typeface="Calibri" pitchFamily="34" charset="0"/>
                <a:ea typeface="Calibri" pitchFamily="34" charset="-122"/>
                <a:cs typeface="Calibri" pitchFamily="34" charset="-120"/>
              </a:rPr>
              <a:t>1,5</a:t>
            </a:r>
            <a:endParaRPr lang="en-US" sz="1100" dirty="0"/>
          </a:p>
        </p:txBody>
      </p:sp>
      <p:sp>
        <p:nvSpPr>
          <p:cNvPr id="42" name="Shape 39"/>
          <p:cNvSpPr/>
          <p:nvPr/>
        </p:nvSpPr>
        <p:spPr>
          <a:xfrm>
            <a:off x="548640" y="3300984"/>
            <a:ext cx="566928" cy="566928"/>
          </a:xfrm>
          <a:prstGeom prst="rect">
            <a:avLst/>
          </a:prstGeom>
          <a:solidFill>
            <a:srgbClr val="F4F7F5"/>
          </a:solidFill>
          <a:ln w="19050">
            <a:solidFill>
              <a:srgbClr val="FFFFFF"/>
            </a:solidFill>
            <a:prstDash val="solid"/>
          </a:ln>
        </p:spPr>
      </p:sp>
      <p:sp>
        <p:nvSpPr>
          <p:cNvPr id="43" name="Text 40"/>
          <p:cNvSpPr txBox="1"/>
          <p:nvPr/>
        </p:nvSpPr>
        <p:spPr>
          <a:xfrm>
            <a:off x="548640" y="3300984"/>
            <a:ext cx="566928" cy="566928"/>
          </a:xfrm>
          <a:prstGeom prst="rect">
            <a:avLst/>
          </a:prstGeom>
          <a:noFill/>
          <a:ln/>
        </p:spPr>
        <p:txBody>
          <a:bodyPr wrap="square" lIns="0" tIns="0" rIns="0" bIns="0" rtlCol="0" anchor="ctr"/>
          <a:lstStyle/>
          <a:p>
            <a:pPr algn="ctr" indent="0" marL="0">
              <a:buNone/>
            </a:pPr>
            <a:r>
              <a:rPr lang="en-US" sz="1100" dirty="0">
                <a:solidFill>
                  <a:srgbClr val="231F20"/>
                </a:solidFill>
                <a:latin typeface="Calibri" pitchFamily="34" charset="0"/>
                <a:ea typeface="Calibri" pitchFamily="34" charset="-122"/>
                <a:cs typeface="Calibri" pitchFamily="34" charset="-120"/>
              </a:rPr>
              <a:t>0,0</a:t>
            </a:r>
            <a:endParaRPr lang="en-US" sz="1100" dirty="0"/>
          </a:p>
        </p:txBody>
      </p:sp>
      <p:sp>
        <p:nvSpPr>
          <p:cNvPr id="44" name="Shape 41"/>
          <p:cNvSpPr/>
          <p:nvPr/>
        </p:nvSpPr>
        <p:spPr>
          <a:xfrm>
            <a:off x="1115568" y="3300984"/>
            <a:ext cx="566928" cy="566928"/>
          </a:xfrm>
          <a:prstGeom prst="rect">
            <a:avLst/>
          </a:prstGeom>
          <a:solidFill>
            <a:srgbClr val="7BCBA9"/>
          </a:solidFill>
          <a:ln w="19050">
            <a:solidFill>
              <a:srgbClr val="FFFFFF"/>
            </a:solidFill>
            <a:prstDash val="solid"/>
          </a:ln>
        </p:spPr>
      </p:sp>
      <p:sp>
        <p:nvSpPr>
          <p:cNvPr id="45" name="Text 42"/>
          <p:cNvSpPr txBox="1"/>
          <p:nvPr/>
        </p:nvSpPr>
        <p:spPr>
          <a:xfrm>
            <a:off x="1115568" y="3300984"/>
            <a:ext cx="566928" cy="566928"/>
          </a:xfrm>
          <a:prstGeom prst="rect">
            <a:avLst/>
          </a:prstGeom>
          <a:noFill/>
          <a:ln/>
        </p:spPr>
        <p:txBody>
          <a:bodyPr wrap="square" lIns="0" tIns="0" rIns="0" bIns="0" rtlCol="0" anchor="ctr"/>
          <a:lstStyle/>
          <a:p>
            <a:pPr algn="ctr" indent="0" marL="0">
              <a:buNone/>
            </a:pPr>
            <a:r>
              <a:rPr lang="en-US" sz="1100" b="1" dirty="0">
                <a:solidFill>
                  <a:srgbClr val="231F20"/>
                </a:solidFill>
                <a:latin typeface="Calibri" pitchFamily="34" charset="0"/>
                <a:ea typeface="Calibri" pitchFamily="34" charset="-122"/>
                <a:cs typeface="Calibri" pitchFamily="34" charset="-120"/>
              </a:rPr>
              <a:t>0,8</a:t>
            </a:r>
            <a:endParaRPr lang="en-US" sz="1100" dirty="0"/>
          </a:p>
        </p:txBody>
      </p:sp>
      <p:sp>
        <p:nvSpPr>
          <p:cNvPr id="46" name="Shape 43"/>
          <p:cNvSpPr/>
          <p:nvPr/>
        </p:nvSpPr>
        <p:spPr>
          <a:xfrm>
            <a:off x="1682496" y="3300984"/>
            <a:ext cx="566928" cy="566928"/>
          </a:xfrm>
          <a:prstGeom prst="rect">
            <a:avLst/>
          </a:prstGeom>
          <a:solidFill>
            <a:srgbClr val="7BCBA9"/>
          </a:solidFill>
          <a:ln w="19050">
            <a:solidFill>
              <a:srgbClr val="FFFFFF"/>
            </a:solidFill>
            <a:prstDash val="solid"/>
          </a:ln>
        </p:spPr>
      </p:sp>
      <p:sp>
        <p:nvSpPr>
          <p:cNvPr id="47" name="Text 44"/>
          <p:cNvSpPr txBox="1"/>
          <p:nvPr/>
        </p:nvSpPr>
        <p:spPr>
          <a:xfrm>
            <a:off x="1682496" y="3300984"/>
            <a:ext cx="566928" cy="566928"/>
          </a:xfrm>
          <a:prstGeom prst="rect">
            <a:avLst/>
          </a:prstGeom>
          <a:noFill/>
          <a:ln/>
        </p:spPr>
        <p:txBody>
          <a:bodyPr wrap="square" lIns="0" tIns="0" rIns="0" bIns="0" rtlCol="0" anchor="ctr"/>
          <a:lstStyle/>
          <a:p>
            <a:pPr algn="ctr" indent="0" marL="0">
              <a:buNone/>
            </a:pPr>
            <a:r>
              <a:rPr lang="en-US" sz="1100" b="1" dirty="0">
                <a:solidFill>
                  <a:srgbClr val="231F20"/>
                </a:solidFill>
                <a:latin typeface="Calibri" pitchFamily="34" charset="0"/>
                <a:ea typeface="Calibri" pitchFamily="34" charset="-122"/>
                <a:cs typeface="Calibri" pitchFamily="34" charset="-120"/>
              </a:rPr>
              <a:t>1,2</a:t>
            </a:r>
            <a:endParaRPr lang="en-US" sz="1100" dirty="0"/>
          </a:p>
        </p:txBody>
      </p:sp>
      <p:sp>
        <p:nvSpPr>
          <p:cNvPr id="48" name="Shape 45"/>
          <p:cNvSpPr/>
          <p:nvPr/>
        </p:nvSpPr>
        <p:spPr>
          <a:xfrm>
            <a:off x="2249424" y="3300984"/>
            <a:ext cx="566928" cy="566928"/>
          </a:xfrm>
          <a:prstGeom prst="rect">
            <a:avLst/>
          </a:prstGeom>
          <a:solidFill>
            <a:srgbClr val="F4F7F5"/>
          </a:solidFill>
          <a:ln w="19050">
            <a:solidFill>
              <a:srgbClr val="FFFFFF"/>
            </a:solidFill>
            <a:prstDash val="solid"/>
          </a:ln>
        </p:spPr>
      </p:sp>
      <p:sp>
        <p:nvSpPr>
          <p:cNvPr id="49" name="Text 46"/>
          <p:cNvSpPr txBox="1"/>
          <p:nvPr/>
        </p:nvSpPr>
        <p:spPr>
          <a:xfrm>
            <a:off x="2249424" y="3300984"/>
            <a:ext cx="566928" cy="566928"/>
          </a:xfrm>
          <a:prstGeom prst="rect">
            <a:avLst/>
          </a:prstGeom>
          <a:noFill/>
          <a:ln/>
        </p:spPr>
        <p:txBody>
          <a:bodyPr wrap="square" lIns="0" tIns="0" rIns="0" bIns="0" rtlCol="0" anchor="ctr"/>
          <a:lstStyle/>
          <a:p>
            <a:pPr algn="ctr" indent="0" marL="0">
              <a:buNone/>
            </a:pPr>
            <a:r>
              <a:rPr lang="en-US" sz="1100" dirty="0">
                <a:solidFill>
                  <a:srgbClr val="231F20"/>
                </a:solidFill>
                <a:latin typeface="Calibri" pitchFamily="34" charset="0"/>
                <a:ea typeface="Calibri" pitchFamily="34" charset="-122"/>
                <a:cs typeface="Calibri" pitchFamily="34" charset="-120"/>
              </a:rPr>
              <a:t>0,3</a:t>
            </a:r>
            <a:endParaRPr lang="en-US" sz="1100" dirty="0"/>
          </a:p>
        </p:txBody>
      </p:sp>
      <p:sp>
        <p:nvSpPr>
          <p:cNvPr id="50" name="Text 47"/>
          <p:cNvSpPr txBox="1"/>
          <p:nvPr/>
        </p:nvSpPr>
        <p:spPr>
          <a:xfrm>
            <a:off x="457200" y="3931920"/>
            <a:ext cx="2606040" cy="201168"/>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En couleur = au-dessus du seuil de 0,5 nW·cm⁻²·sr⁻¹</a:t>
            </a:r>
            <a:endParaRPr lang="en-US" sz="850" dirty="0"/>
          </a:p>
        </p:txBody>
      </p:sp>
      <p:sp>
        <p:nvSpPr>
          <p:cNvPr id="51" name="Shape 48"/>
          <p:cNvSpPr/>
          <p:nvPr/>
        </p:nvSpPr>
        <p:spPr>
          <a:xfrm>
            <a:off x="3154680" y="1325880"/>
            <a:ext cx="5532120" cy="749808"/>
          </a:xfrm>
          <a:prstGeom prst="roundRect">
            <a:avLst>
              <a:gd name="adj" fmla="val 9756"/>
            </a:avLst>
          </a:prstGeom>
          <a:solidFill>
            <a:srgbClr val="F4F7F5"/>
          </a:solidFill>
          <a:ln w="9525">
            <a:solidFill>
              <a:srgbClr val="D5DED9"/>
            </a:solidFill>
            <a:prstDash val="solid"/>
          </a:ln>
        </p:spPr>
      </p:sp>
      <p:sp>
        <p:nvSpPr>
          <p:cNvPr id="52" name="Text 49"/>
          <p:cNvSpPr txBox="1"/>
          <p:nvPr/>
        </p:nvSpPr>
        <p:spPr>
          <a:xfrm>
            <a:off x="3246120" y="1399032"/>
            <a:ext cx="1051560" cy="603504"/>
          </a:xfrm>
          <a:prstGeom prst="rect">
            <a:avLst/>
          </a:prstGeom>
          <a:noFill/>
          <a:ln/>
        </p:spPr>
        <p:txBody>
          <a:bodyPr wrap="square" lIns="0" tIns="0" rIns="0" bIns="0" rtlCol="0" anchor="ctr"/>
          <a:lstStyle/>
          <a:p>
            <a:pPr algn="ctr" indent="0" marL="0">
              <a:buNone/>
            </a:pPr>
            <a:r>
              <a:rPr lang="en-US" sz="2800" b="1" dirty="0">
                <a:solidFill>
                  <a:srgbClr val="00A86A"/>
                </a:solidFill>
                <a:latin typeface="Calibri" pitchFamily="34" charset="0"/>
                <a:ea typeface="Calibri" pitchFamily="34" charset="-122"/>
                <a:cs typeface="Calibri" pitchFamily="34" charset="-120"/>
              </a:rPr>
              <a:t>30,1</a:t>
            </a:r>
            <a:endParaRPr lang="en-US" sz="2800" dirty="0"/>
          </a:p>
        </p:txBody>
      </p:sp>
      <p:sp>
        <p:nvSpPr>
          <p:cNvPr id="53" name="Text 50"/>
          <p:cNvSpPr txBox="1"/>
          <p:nvPr/>
        </p:nvSpPr>
        <p:spPr>
          <a:xfrm>
            <a:off x="4389120" y="1399032"/>
            <a:ext cx="4206240" cy="228600"/>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Somme des lumières (SOL)</a:t>
            </a:r>
            <a:endParaRPr lang="en-US" sz="1250" dirty="0"/>
          </a:p>
        </p:txBody>
      </p:sp>
      <p:sp>
        <p:nvSpPr>
          <p:cNvPr id="54" name="Text 51"/>
          <p:cNvSpPr txBox="1"/>
          <p:nvPr/>
        </p:nvSpPr>
        <p:spPr>
          <a:xfrm>
            <a:off x="4389120" y="1636776"/>
            <a:ext cx="4206240" cy="411480"/>
          </a:xfrm>
          <a:prstGeom prst="rect">
            <a:avLst/>
          </a:prstGeom>
          <a:noFill/>
          <a:ln/>
        </p:spPr>
        <p:txBody>
          <a:bodyPr wrap="square" lIns="0" tIns="0" rIns="0" bIns="0" rtlCol="0" anchor="t"/>
          <a:lstStyle/>
          <a:p>
            <a:pPr indent="0" marL="0">
              <a:buNone/>
            </a:pPr>
            <a:r>
              <a:rPr lang="en-US" sz="950" b="1" dirty="0">
                <a:solidFill>
                  <a:srgbClr val="231F20"/>
                </a:solidFill>
                <a:latin typeface="Calibri" pitchFamily="34" charset="0"/>
                <a:ea typeface="Calibri" pitchFamily="34" charset="-122"/>
                <a:cs typeface="Calibri" pitchFamily="34" charset="-120"/>
              </a:rPr>
              <a:t>Radiance totale dans un contour. </a:t>
            </a:r>
            <a:pPr indent="0" marL="0">
              <a:buNone/>
            </a:pPr>
            <a:r>
              <a:rPr lang="en-US" sz="950" dirty="0">
                <a:solidFill>
                  <a:srgbClr val="5E6964"/>
                </a:solidFill>
                <a:latin typeface="Calibri" pitchFamily="34" charset="0"/>
                <a:ea typeface="Calibri" pitchFamily="34" charset="-122"/>
                <a:cs typeface="Calibri" pitchFamily="34" charset="-120"/>
              </a:rPr>
              <a:t>Indicateur phare de la littérature économique ; le plus sensible au bruit de fond.</a:t>
            </a:r>
            <a:endParaRPr lang="en-US" sz="950" dirty="0"/>
          </a:p>
        </p:txBody>
      </p:sp>
      <p:sp>
        <p:nvSpPr>
          <p:cNvPr id="55" name="Shape 52"/>
          <p:cNvSpPr/>
          <p:nvPr/>
        </p:nvSpPr>
        <p:spPr>
          <a:xfrm>
            <a:off x="3154680" y="2194560"/>
            <a:ext cx="5532120" cy="749808"/>
          </a:xfrm>
          <a:prstGeom prst="roundRect">
            <a:avLst>
              <a:gd name="adj" fmla="val 9756"/>
            </a:avLst>
          </a:prstGeom>
          <a:solidFill>
            <a:srgbClr val="F4F7F5"/>
          </a:solidFill>
          <a:ln w="9525">
            <a:solidFill>
              <a:srgbClr val="D5DED9"/>
            </a:solidFill>
            <a:prstDash val="solid"/>
          </a:ln>
        </p:spPr>
      </p:sp>
      <p:sp>
        <p:nvSpPr>
          <p:cNvPr id="56" name="Text 53"/>
          <p:cNvSpPr txBox="1"/>
          <p:nvPr/>
        </p:nvSpPr>
        <p:spPr>
          <a:xfrm>
            <a:off x="3246120" y="2267712"/>
            <a:ext cx="1051560" cy="603504"/>
          </a:xfrm>
          <a:prstGeom prst="rect">
            <a:avLst/>
          </a:prstGeom>
          <a:noFill/>
          <a:ln/>
        </p:spPr>
        <p:txBody>
          <a:bodyPr wrap="square" lIns="0" tIns="0" rIns="0" bIns="0" rtlCol="0" anchor="ctr"/>
          <a:lstStyle/>
          <a:p>
            <a:pPr algn="ctr" indent="0" marL="0">
              <a:buNone/>
            </a:pPr>
            <a:r>
              <a:rPr lang="en-US" sz="2800" b="1" dirty="0">
                <a:solidFill>
                  <a:srgbClr val="00704A"/>
                </a:solidFill>
                <a:latin typeface="Calibri" pitchFamily="34" charset="0"/>
                <a:ea typeface="Calibri" pitchFamily="34" charset="-122"/>
                <a:cs typeface="Calibri" pitchFamily="34" charset="-120"/>
              </a:rPr>
              <a:t>8 px</a:t>
            </a:r>
            <a:endParaRPr lang="en-US" sz="2800" dirty="0"/>
          </a:p>
        </p:txBody>
      </p:sp>
      <p:sp>
        <p:nvSpPr>
          <p:cNvPr id="57" name="Text 54"/>
          <p:cNvSpPr txBox="1"/>
          <p:nvPr/>
        </p:nvSpPr>
        <p:spPr>
          <a:xfrm>
            <a:off x="4389120" y="2267712"/>
            <a:ext cx="4206240" cy="228600"/>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Surface éclairée</a:t>
            </a:r>
            <a:endParaRPr lang="en-US" sz="1250" dirty="0"/>
          </a:p>
        </p:txBody>
      </p:sp>
      <p:sp>
        <p:nvSpPr>
          <p:cNvPr id="58" name="Text 55"/>
          <p:cNvSpPr txBox="1"/>
          <p:nvPr/>
        </p:nvSpPr>
        <p:spPr>
          <a:xfrm>
            <a:off x="4389120" y="2505456"/>
            <a:ext cx="4206240" cy="411480"/>
          </a:xfrm>
          <a:prstGeom prst="rect">
            <a:avLst/>
          </a:prstGeom>
          <a:noFill/>
          <a:ln/>
        </p:spPr>
        <p:txBody>
          <a:bodyPr wrap="square" lIns="0" tIns="0" rIns="0" bIns="0" rtlCol="0" anchor="t"/>
          <a:lstStyle/>
          <a:p>
            <a:pPr indent="0" marL="0">
              <a:buNone/>
            </a:pPr>
            <a:r>
              <a:rPr lang="en-US" sz="950" b="1" dirty="0">
                <a:solidFill>
                  <a:srgbClr val="231F20"/>
                </a:solidFill>
                <a:latin typeface="Calibri" pitchFamily="34" charset="0"/>
                <a:ea typeface="Calibri" pitchFamily="34" charset="-122"/>
                <a:cs typeface="Calibri" pitchFamily="34" charset="-120"/>
              </a:rPr>
              <a:t>Pixels au-dessus d’un seuil choisi. </a:t>
            </a:r>
            <a:pPr indent="0" marL="0">
              <a:buNone/>
            </a:pPr>
            <a:r>
              <a:rPr lang="en-US" sz="950" dirty="0">
                <a:solidFill>
                  <a:srgbClr val="5E6964"/>
                </a:solidFill>
                <a:latin typeface="Calibri" pitchFamily="34" charset="0"/>
                <a:ea typeface="Calibri" pitchFamily="34" charset="-122"/>
                <a:cs typeface="Calibri" pitchFamily="34" charset="-120"/>
              </a:rPr>
              <a:t>Intuitive — mais le seuil est un choix de l’analyste.</a:t>
            </a:r>
            <a:endParaRPr lang="en-US" sz="950" dirty="0"/>
          </a:p>
        </p:txBody>
      </p:sp>
      <p:sp>
        <p:nvSpPr>
          <p:cNvPr id="59" name="Shape 56"/>
          <p:cNvSpPr/>
          <p:nvPr/>
        </p:nvSpPr>
        <p:spPr>
          <a:xfrm>
            <a:off x="3154680" y="3063240"/>
            <a:ext cx="5532120" cy="749808"/>
          </a:xfrm>
          <a:prstGeom prst="roundRect">
            <a:avLst>
              <a:gd name="adj" fmla="val 9756"/>
            </a:avLst>
          </a:prstGeom>
          <a:solidFill>
            <a:srgbClr val="F4F7F5"/>
          </a:solidFill>
          <a:ln w="9525">
            <a:solidFill>
              <a:srgbClr val="D5DED9"/>
            </a:solidFill>
            <a:prstDash val="solid"/>
          </a:ln>
        </p:spPr>
      </p:sp>
      <p:sp>
        <p:nvSpPr>
          <p:cNvPr id="60" name="Text 57"/>
          <p:cNvSpPr txBox="1"/>
          <p:nvPr/>
        </p:nvSpPr>
        <p:spPr>
          <a:xfrm>
            <a:off x="3246120" y="3136392"/>
            <a:ext cx="1051560" cy="603504"/>
          </a:xfrm>
          <a:prstGeom prst="rect">
            <a:avLst/>
          </a:prstGeom>
          <a:noFill/>
          <a:ln/>
        </p:spPr>
        <p:txBody>
          <a:bodyPr wrap="square" lIns="0" tIns="0" rIns="0" bIns="0" rtlCol="0" anchor="ctr"/>
          <a:lstStyle/>
          <a:p>
            <a:pPr algn="ctr" indent="0" marL="0">
              <a:buNone/>
            </a:pPr>
            <a:r>
              <a:rPr lang="en-US" sz="2800" b="1" dirty="0">
                <a:solidFill>
                  <a:srgbClr val="0E7C86"/>
                </a:solidFill>
                <a:latin typeface="Calibri" pitchFamily="34" charset="0"/>
                <a:ea typeface="Calibri" pitchFamily="34" charset="-122"/>
                <a:cs typeface="Calibri" pitchFamily="34" charset="-120"/>
              </a:rPr>
              <a:t>3,6</a:t>
            </a:r>
            <a:endParaRPr lang="en-US" sz="2800" dirty="0"/>
          </a:p>
        </p:txBody>
      </p:sp>
      <p:sp>
        <p:nvSpPr>
          <p:cNvPr id="61" name="Text 58"/>
          <p:cNvSpPr txBox="1"/>
          <p:nvPr/>
        </p:nvSpPr>
        <p:spPr>
          <a:xfrm>
            <a:off x="4389120" y="3136392"/>
            <a:ext cx="4206240" cy="228600"/>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Radiance moyenne (éclairée)</a:t>
            </a:r>
            <a:endParaRPr lang="en-US" sz="1250" dirty="0"/>
          </a:p>
        </p:txBody>
      </p:sp>
      <p:sp>
        <p:nvSpPr>
          <p:cNvPr id="62" name="Text 59"/>
          <p:cNvSpPr txBox="1"/>
          <p:nvPr/>
        </p:nvSpPr>
        <p:spPr>
          <a:xfrm>
            <a:off x="4389120" y="3374136"/>
            <a:ext cx="4206240" cy="411480"/>
          </a:xfrm>
          <a:prstGeom prst="rect">
            <a:avLst/>
          </a:prstGeom>
          <a:noFill/>
          <a:ln/>
        </p:spPr>
        <p:txBody>
          <a:bodyPr wrap="square" lIns="0" tIns="0" rIns="0" bIns="0" rtlCol="0" anchor="t"/>
          <a:lstStyle/>
          <a:p>
            <a:pPr indent="0" marL="0">
              <a:buNone/>
            </a:pPr>
            <a:r>
              <a:rPr lang="en-US" sz="950" b="1" dirty="0">
                <a:solidFill>
                  <a:srgbClr val="231F20"/>
                </a:solidFill>
                <a:latin typeface="Calibri" pitchFamily="34" charset="0"/>
                <a:ea typeface="Calibri" pitchFamily="34" charset="-122"/>
                <a:cs typeface="Calibri" pitchFamily="34" charset="-120"/>
              </a:rPr>
              <a:t>Intensité indépendante de l’étendue. </a:t>
            </a:r>
            <a:pPr indent="0" marL="0">
              <a:buNone/>
            </a:pPr>
            <a:r>
              <a:rPr lang="en-US" sz="950" dirty="0">
                <a:solidFill>
                  <a:srgbClr val="5E6964"/>
                </a:solidFill>
                <a:latin typeface="Calibri" pitchFamily="34" charset="0"/>
                <a:ea typeface="Calibri" pitchFamily="34" charset="-122"/>
                <a:cs typeface="Calibri" pitchFamily="34" charset="-120"/>
              </a:rPr>
              <a:t>Distingue un district qui s’illumine d’un district qui s’étend.</a:t>
            </a:r>
            <a:endParaRPr lang="en-US" sz="950" dirty="0"/>
          </a:p>
        </p:txBody>
      </p:sp>
      <p:sp>
        <p:nvSpPr>
          <p:cNvPr id="63" name="Shape 60"/>
          <p:cNvSpPr/>
          <p:nvPr/>
        </p:nvSpPr>
        <p:spPr>
          <a:xfrm>
            <a:off x="3154680" y="3977640"/>
            <a:ext cx="5532120" cy="594360"/>
          </a:xfrm>
          <a:prstGeom prst="roundRect">
            <a:avLst>
              <a:gd name="adj" fmla="val 12308"/>
            </a:avLst>
          </a:prstGeom>
          <a:solidFill>
            <a:srgbClr val="D49A00">
              <a:alpha val="13000"/>
            </a:srgbClr>
          </a:solidFill>
          <a:ln w="12700">
            <a:solidFill>
              <a:srgbClr val="D49A00"/>
            </a:solidFill>
            <a:prstDash val="solid"/>
          </a:ln>
        </p:spPr>
      </p:sp>
      <p:sp>
        <p:nvSpPr>
          <p:cNvPr id="64" name="Shape 61"/>
          <p:cNvSpPr/>
          <p:nvPr/>
        </p:nvSpPr>
        <p:spPr>
          <a:xfrm>
            <a:off x="3246120" y="4078224"/>
            <a:ext cx="365760" cy="365760"/>
          </a:xfrm>
          <a:prstGeom prst="ellipse">
            <a:avLst/>
          </a:prstGeom>
          <a:solidFill>
            <a:srgbClr val="D49A00">
              <a:alpha val="22000"/>
            </a:srgbClr>
          </a:solidFill>
          <a:ln w="12700">
            <a:solidFill>
              <a:srgbClr val="D49A00">
                <a:alpha val="0"/>
              </a:srgbClr>
            </a:solidFill>
            <a:prstDash val="solid"/>
          </a:ln>
        </p:spPr>
      </p:sp>
      <p:pic>
        <p:nvPicPr>
          <p:cNvPr id="65" name="Image 0" descr="preencoded.png">    </p:cNvPr>
          <p:cNvPicPr>
            <a:picLocks noChangeAspect="1"/>
          </p:cNvPicPr>
          <p:nvPr/>
        </p:nvPicPr>
        <p:blipFill>
          <a:blip r:embed="rId1"/>
          <a:stretch>
            <a:fillRect/>
          </a:stretch>
        </p:blipFill>
        <p:spPr>
          <a:xfrm>
            <a:off x="3341218" y="4173322"/>
            <a:ext cx="175565" cy="175565"/>
          </a:xfrm>
          <a:prstGeom prst="rect">
            <a:avLst/>
          </a:prstGeom>
        </p:spPr>
      </p:pic>
      <p:sp>
        <p:nvSpPr>
          <p:cNvPr id="66" name="Text 62"/>
          <p:cNvSpPr txBox="1"/>
          <p:nvPr/>
        </p:nvSpPr>
        <p:spPr>
          <a:xfrm>
            <a:off x="3703320" y="3995928"/>
            <a:ext cx="4919472" cy="557784"/>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Seuil relevé à 1,0 → la surface éclairée passe de 8 à 6 pixels (−25 %). </a:t>
            </a:r>
            <a:pPr indent="0" marL="0">
              <a:buNone/>
            </a:pPr>
            <a:r>
              <a:rPr lang="en-US" sz="950" dirty="0">
                <a:solidFill>
                  <a:srgbClr val="231F20"/>
                </a:solidFill>
                <a:latin typeface="Calibri" pitchFamily="34" charset="0"/>
                <a:ea typeface="Calibri" pitchFamily="34" charset="-122"/>
                <a:cs typeface="Calibri" pitchFamily="34" charset="-120"/>
              </a:rPr>
              <a:t>Toujours déclarer produit, version, contour, seuil et masques — et tester le seuil.</a:t>
            </a:r>
            <a:endParaRPr lang="en-US" sz="950" dirty="0"/>
          </a:p>
        </p:txBody>
      </p:sp>
      <p:sp>
        <p:nvSpPr>
          <p:cNvPr id="67" name="Text 63"/>
          <p:cNvSpPr txBox="1"/>
          <p:nvPr/>
        </p:nvSpPr>
        <p:spPr>
          <a:xfrm>
            <a:off x="457200" y="4617720"/>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Valeurs illustratives. La concentration de la lumière (Gini de la radiance) forme une 4ᵉ famille, utilisée pour l’inégalité spatiale.</a:t>
            </a:r>
            <a:endParaRPr lang="en-US" sz="9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DES PHOTONS AUX DONNÉES · EXEMPLE COMMENTÉ</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Une question, de bout en bout</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7" name="Shape 14"/>
          <p:cNvSpPr/>
          <p:nvPr/>
        </p:nvSpPr>
        <p:spPr>
          <a:xfrm>
            <a:off x="457200" y="1298448"/>
            <a:ext cx="8229600" cy="457200"/>
          </a:xfrm>
          <a:prstGeom prst="roundRect">
            <a:avLst>
              <a:gd name="adj" fmla="val 16000"/>
            </a:avLst>
          </a:prstGeom>
          <a:solidFill>
            <a:srgbClr val="E8F5EF"/>
          </a:solidFill>
          <a:ln w="15875">
            <a:solidFill>
              <a:srgbClr val="00A86A"/>
            </a:solidFill>
            <a:prstDash val="solid"/>
          </a:ln>
        </p:spPr>
      </p:sp>
      <p:sp>
        <p:nvSpPr>
          <p:cNvPr id="18" name="Shape 15"/>
          <p:cNvSpPr/>
          <p:nvPr/>
        </p:nvSpPr>
        <p:spPr>
          <a:xfrm>
            <a:off x="548640" y="1344168"/>
            <a:ext cx="365760" cy="36576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r>
          <p:cNvPicPr>
            <a:picLocks noChangeAspect="1"/>
          </p:cNvPicPr>
          <p:nvPr/>
        </p:nvPicPr>
        <p:blipFill>
          <a:blip r:embed="rId1"/>
          <a:stretch>
            <a:fillRect/>
          </a:stretch>
        </p:blipFill>
        <p:spPr>
          <a:xfrm>
            <a:off x="643738" y="1439266"/>
            <a:ext cx="175565" cy="175565"/>
          </a:xfrm>
          <a:prstGeom prst="rect">
            <a:avLst/>
          </a:prstGeom>
        </p:spPr>
      </p:pic>
      <p:sp>
        <p:nvSpPr>
          <p:cNvPr id="20" name="Text 16"/>
          <p:cNvSpPr txBox="1"/>
          <p:nvPr/>
        </p:nvSpPr>
        <p:spPr>
          <a:xfrm>
            <a:off x="1005840" y="1298448"/>
            <a:ext cx="7589520" cy="457200"/>
          </a:xfrm>
          <a:prstGeom prst="rect">
            <a:avLst/>
          </a:prstGeom>
          <a:noFill/>
          <a:ln/>
        </p:spPr>
        <p:txBody>
          <a:bodyPr wrap="square" lIns="0" tIns="0" rIns="0" bIns="0" rtlCol="0" anchor="ctr"/>
          <a:lstStyle/>
          <a:p>
            <a:pPr indent="0" marL="0">
              <a:buNone/>
            </a:pPr>
            <a:r>
              <a:rPr lang="en-US" sz="1300" b="1" i="1" dirty="0">
                <a:solidFill>
                  <a:srgbClr val="00704A"/>
                </a:solidFill>
                <a:latin typeface="Calibri" pitchFamily="34" charset="0"/>
                <a:ea typeface="Calibri" pitchFamily="34" charset="-122"/>
                <a:cs typeface="Calibri" pitchFamily="34" charset="-120"/>
              </a:rPr>
              <a:t>Le programme de mini-réseaux de 2023 a-t-il réellement apporté la lumière aux villages ciblés ?</a:t>
            </a:r>
            <a:endParaRPr lang="en-US" sz="1300" dirty="0"/>
          </a:p>
        </p:txBody>
      </p:sp>
      <p:sp>
        <p:nvSpPr>
          <p:cNvPr id="21" name="Shape 17"/>
          <p:cNvSpPr/>
          <p:nvPr/>
        </p:nvSpPr>
        <p:spPr>
          <a:xfrm>
            <a:off x="457200" y="1892808"/>
            <a:ext cx="2651760" cy="1207008"/>
          </a:xfrm>
          <a:prstGeom prst="roundRect">
            <a:avLst>
              <a:gd name="adj" fmla="val 6061"/>
            </a:avLst>
          </a:prstGeom>
          <a:solidFill>
            <a:srgbClr val="F4F7F5"/>
          </a:solidFill>
          <a:ln w="9525">
            <a:solidFill>
              <a:srgbClr val="D5DED9"/>
            </a:solidFill>
            <a:prstDash val="solid"/>
          </a:ln>
        </p:spPr>
      </p:sp>
      <p:sp>
        <p:nvSpPr>
          <p:cNvPr id="22" name="Shape 18"/>
          <p:cNvSpPr/>
          <p:nvPr/>
        </p:nvSpPr>
        <p:spPr>
          <a:xfrm>
            <a:off x="566928" y="2002536"/>
            <a:ext cx="329184" cy="329184"/>
          </a:xfrm>
          <a:prstGeom prst="ellipse">
            <a:avLst/>
          </a:prstGeom>
          <a:solidFill>
            <a:srgbClr val="0E7C86"/>
          </a:solidFill>
          <a:ln w="12700">
            <a:solidFill>
              <a:srgbClr val="0E7C86"/>
            </a:solidFill>
            <a:prstDash val="solid"/>
          </a:ln>
        </p:spPr>
      </p:sp>
      <p:sp>
        <p:nvSpPr>
          <p:cNvPr id="23" name="Text 19"/>
          <p:cNvSpPr txBox="1"/>
          <p:nvPr/>
        </p:nvSpPr>
        <p:spPr>
          <a:xfrm>
            <a:off x="566928" y="20025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4" name="Text 20"/>
          <p:cNvSpPr txBox="1"/>
          <p:nvPr/>
        </p:nvSpPr>
        <p:spPr>
          <a:xfrm>
            <a:off x="987552" y="2002536"/>
            <a:ext cx="2029968" cy="329184"/>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Traduire la question en lumière</a:t>
            </a:r>
            <a:endParaRPr lang="en-US" sz="1150" dirty="0"/>
          </a:p>
        </p:txBody>
      </p:sp>
      <p:sp>
        <p:nvSpPr>
          <p:cNvPr id="25" name="Text 21"/>
          <p:cNvSpPr txBox="1"/>
          <p:nvPr/>
        </p:nvSpPr>
        <p:spPr>
          <a:xfrm>
            <a:off x="585216" y="2386584"/>
            <a:ext cx="2414016" cy="6858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Les villages électrifiés devraient compter plus de nuits au-dessus de leur radiance de fond après la mise en service.</a:t>
            </a:r>
            <a:endParaRPr lang="en-US" sz="900" dirty="0"/>
          </a:p>
        </p:txBody>
      </p:sp>
      <p:sp>
        <p:nvSpPr>
          <p:cNvPr id="26" name="Shape 22"/>
          <p:cNvSpPr/>
          <p:nvPr/>
        </p:nvSpPr>
        <p:spPr>
          <a:xfrm>
            <a:off x="3246120" y="1892808"/>
            <a:ext cx="2651760" cy="1207008"/>
          </a:xfrm>
          <a:prstGeom prst="roundRect">
            <a:avLst>
              <a:gd name="adj" fmla="val 6061"/>
            </a:avLst>
          </a:prstGeom>
          <a:solidFill>
            <a:srgbClr val="F4F7F5"/>
          </a:solidFill>
          <a:ln w="9525">
            <a:solidFill>
              <a:srgbClr val="D5DED9"/>
            </a:solidFill>
            <a:prstDash val="solid"/>
          </a:ln>
        </p:spPr>
      </p:sp>
      <p:sp>
        <p:nvSpPr>
          <p:cNvPr id="27" name="Shape 23"/>
          <p:cNvSpPr/>
          <p:nvPr/>
        </p:nvSpPr>
        <p:spPr>
          <a:xfrm>
            <a:off x="3355848" y="2002536"/>
            <a:ext cx="329184" cy="329184"/>
          </a:xfrm>
          <a:prstGeom prst="ellipse">
            <a:avLst/>
          </a:prstGeom>
          <a:solidFill>
            <a:srgbClr val="0E7C86"/>
          </a:solidFill>
          <a:ln w="12700">
            <a:solidFill>
              <a:srgbClr val="0E7C86"/>
            </a:solidFill>
            <a:prstDash val="solid"/>
          </a:ln>
        </p:spPr>
      </p:sp>
      <p:sp>
        <p:nvSpPr>
          <p:cNvPr id="28" name="Text 24"/>
          <p:cNvSpPr txBox="1"/>
          <p:nvPr/>
        </p:nvSpPr>
        <p:spPr>
          <a:xfrm>
            <a:off x="3355848" y="20025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9" name="Text 25"/>
          <p:cNvSpPr txBox="1"/>
          <p:nvPr/>
        </p:nvSpPr>
        <p:spPr>
          <a:xfrm>
            <a:off x="3776472" y="2002536"/>
            <a:ext cx="2029968" cy="329184"/>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Choisir le produit</a:t>
            </a:r>
            <a:endParaRPr lang="en-US" sz="1150" dirty="0"/>
          </a:p>
        </p:txBody>
      </p:sp>
      <p:sp>
        <p:nvSpPr>
          <p:cNvPr id="30" name="Text 26"/>
          <p:cNvSpPr txBox="1"/>
          <p:nvPr/>
        </p:nvSpPr>
        <p:spPr>
          <a:xfrm>
            <a:off x="3374136" y="2386584"/>
            <a:ext cx="2414016" cy="6858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VNP46A3 mensuel pour dater le changement ; VNP46A2 quotidien pour la fiabilité. Noter la version.</a:t>
            </a:r>
            <a:endParaRPr lang="en-US" sz="900" dirty="0"/>
          </a:p>
        </p:txBody>
      </p:sp>
      <p:sp>
        <p:nvSpPr>
          <p:cNvPr id="31" name="Shape 27"/>
          <p:cNvSpPr/>
          <p:nvPr/>
        </p:nvSpPr>
        <p:spPr>
          <a:xfrm>
            <a:off x="6035040" y="1892808"/>
            <a:ext cx="2651760" cy="1207008"/>
          </a:xfrm>
          <a:prstGeom prst="roundRect">
            <a:avLst>
              <a:gd name="adj" fmla="val 6061"/>
            </a:avLst>
          </a:prstGeom>
          <a:solidFill>
            <a:srgbClr val="F4F7F5"/>
          </a:solidFill>
          <a:ln w="9525">
            <a:solidFill>
              <a:srgbClr val="D5DED9"/>
            </a:solidFill>
            <a:prstDash val="solid"/>
          </a:ln>
        </p:spPr>
      </p:sp>
      <p:sp>
        <p:nvSpPr>
          <p:cNvPr id="32" name="Shape 28"/>
          <p:cNvSpPr/>
          <p:nvPr/>
        </p:nvSpPr>
        <p:spPr>
          <a:xfrm>
            <a:off x="6144768" y="2002536"/>
            <a:ext cx="329184" cy="329184"/>
          </a:xfrm>
          <a:prstGeom prst="ellipse">
            <a:avLst/>
          </a:prstGeom>
          <a:solidFill>
            <a:srgbClr val="0E7C86"/>
          </a:solidFill>
          <a:ln w="12700">
            <a:solidFill>
              <a:srgbClr val="0E7C86"/>
            </a:solidFill>
            <a:prstDash val="solid"/>
          </a:ln>
        </p:spPr>
      </p:sp>
      <p:sp>
        <p:nvSpPr>
          <p:cNvPr id="33" name="Text 29"/>
          <p:cNvSpPr txBox="1"/>
          <p:nvPr/>
        </p:nvSpPr>
        <p:spPr>
          <a:xfrm>
            <a:off x="6144768" y="20025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Text 30"/>
          <p:cNvSpPr txBox="1"/>
          <p:nvPr/>
        </p:nvSpPr>
        <p:spPr>
          <a:xfrm>
            <a:off x="6565392" y="2002536"/>
            <a:ext cx="2029968" cy="329184"/>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Définir les unités</a:t>
            </a:r>
            <a:endParaRPr lang="en-US" sz="1150" dirty="0"/>
          </a:p>
        </p:txBody>
      </p:sp>
      <p:sp>
        <p:nvSpPr>
          <p:cNvPr id="35" name="Text 31"/>
          <p:cNvSpPr txBox="1"/>
          <p:nvPr/>
        </p:nvSpPr>
        <p:spPr>
          <a:xfrm>
            <a:off x="6163056" y="2386584"/>
            <a:ext cx="2414016" cy="6858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Emprises des localités plus une petite zone tampon — pas des districts entiers, où quelques villages éclairés disparaissent.</a:t>
            </a:r>
            <a:endParaRPr lang="en-US" sz="900" dirty="0"/>
          </a:p>
        </p:txBody>
      </p:sp>
      <p:sp>
        <p:nvSpPr>
          <p:cNvPr id="36" name="Shape 32"/>
          <p:cNvSpPr/>
          <p:nvPr/>
        </p:nvSpPr>
        <p:spPr>
          <a:xfrm>
            <a:off x="457200" y="3236976"/>
            <a:ext cx="2651760" cy="1207008"/>
          </a:xfrm>
          <a:prstGeom prst="roundRect">
            <a:avLst>
              <a:gd name="adj" fmla="val 6061"/>
            </a:avLst>
          </a:prstGeom>
          <a:solidFill>
            <a:srgbClr val="F4F7F5"/>
          </a:solidFill>
          <a:ln w="9525">
            <a:solidFill>
              <a:srgbClr val="D5DED9"/>
            </a:solidFill>
            <a:prstDash val="solid"/>
          </a:ln>
        </p:spPr>
      </p:sp>
      <p:sp>
        <p:nvSpPr>
          <p:cNvPr id="37" name="Shape 33"/>
          <p:cNvSpPr/>
          <p:nvPr/>
        </p:nvSpPr>
        <p:spPr>
          <a:xfrm>
            <a:off x="566928" y="3346704"/>
            <a:ext cx="329184" cy="329184"/>
          </a:xfrm>
          <a:prstGeom prst="ellipse">
            <a:avLst/>
          </a:prstGeom>
          <a:solidFill>
            <a:srgbClr val="0E7C86"/>
          </a:solidFill>
          <a:ln w="12700">
            <a:solidFill>
              <a:srgbClr val="0E7C86"/>
            </a:solidFill>
            <a:prstDash val="solid"/>
          </a:ln>
        </p:spPr>
      </p:sp>
      <p:sp>
        <p:nvSpPr>
          <p:cNvPr id="38" name="Text 34"/>
          <p:cNvSpPr txBox="1"/>
          <p:nvPr/>
        </p:nvSpPr>
        <p:spPr>
          <a:xfrm>
            <a:off x="566928" y="33467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9" name="Text 35"/>
          <p:cNvSpPr txBox="1"/>
          <p:nvPr/>
        </p:nvSpPr>
        <p:spPr>
          <a:xfrm>
            <a:off x="987552" y="3346704"/>
            <a:ext cx="2029968" cy="329184"/>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Indicateur et témoin</a:t>
            </a:r>
            <a:endParaRPr lang="en-US" sz="1150" dirty="0"/>
          </a:p>
        </p:txBody>
      </p:sp>
      <p:sp>
        <p:nvSpPr>
          <p:cNvPr id="40" name="Text 36"/>
          <p:cNvSpPr txBox="1"/>
          <p:nvPr/>
        </p:nvSpPr>
        <p:spPr>
          <a:xfrm>
            <a:off x="585216" y="3730752"/>
            <a:ext cx="2414016" cy="6858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Radiance moyenne et part de nuits éclairées ; témoins = villages similaires hors programme.</a:t>
            </a:r>
            <a:endParaRPr lang="en-US" sz="900" dirty="0"/>
          </a:p>
        </p:txBody>
      </p:sp>
      <p:sp>
        <p:nvSpPr>
          <p:cNvPr id="41" name="Shape 37"/>
          <p:cNvSpPr/>
          <p:nvPr/>
        </p:nvSpPr>
        <p:spPr>
          <a:xfrm>
            <a:off x="3246120" y="3236976"/>
            <a:ext cx="2651760" cy="1207008"/>
          </a:xfrm>
          <a:prstGeom prst="roundRect">
            <a:avLst>
              <a:gd name="adj" fmla="val 6061"/>
            </a:avLst>
          </a:prstGeom>
          <a:solidFill>
            <a:srgbClr val="F4F7F5"/>
          </a:solidFill>
          <a:ln w="9525">
            <a:solidFill>
              <a:srgbClr val="D5DED9"/>
            </a:solidFill>
            <a:prstDash val="solid"/>
          </a:ln>
        </p:spPr>
      </p:sp>
      <p:sp>
        <p:nvSpPr>
          <p:cNvPr id="42" name="Shape 38"/>
          <p:cNvSpPr/>
          <p:nvPr/>
        </p:nvSpPr>
        <p:spPr>
          <a:xfrm>
            <a:off x="3355848" y="3346704"/>
            <a:ext cx="329184" cy="329184"/>
          </a:xfrm>
          <a:prstGeom prst="ellipse">
            <a:avLst/>
          </a:prstGeom>
          <a:solidFill>
            <a:srgbClr val="0E7C86"/>
          </a:solidFill>
          <a:ln w="12700">
            <a:solidFill>
              <a:srgbClr val="0E7C86"/>
            </a:solidFill>
            <a:prstDash val="solid"/>
          </a:ln>
        </p:spPr>
      </p:sp>
      <p:sp>
        <p:nvSpPr>
          <p:cNvPr id="43" name="Text 39"/>
          <p:cNvSpPr txBox="1"/>
          <p:nvPr/>
        </p:nvSpPr>
        <p:spPr>
          <a:xfrm>
            <a:off x="3355848" y="33467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4" name="Text 40"/>
          <p:cNvSpPr txBox="1"/>
          <p:nvPr/>
        </p:nvSpPr>
        <p:spPr>
          <a:xfrm>
            <a:off x="3776472" y="3346704"/>
            <a:ext cx="2029968" cy="329184"/>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Lire la différence</a:t>
            </a:r>
            <a:endParaRPr lang="en-US" sz="1150" dirty="0"/>
          </a:p>
        </p:txBody>
      </p:sp>
      <p:sp>
        <p:nvSpPr>
          <p:cNvPr id="45" name="Text 41"/>
          <p:cNvSpPr txBox="1"/>
          <p:nvPr/>
        </p:nvSpPr>
        <p:spPr>
          <a:xfrm>
            <a:off x="3374136" y="3730752"/>
            <a:ext cx="2414016" cy="6858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Une rupture chez les villages du programme, absente chez les témoins, est une preuve ; une hausse commune est régionale.</a:t>
            </a:r>
            <a:endParaRPr lang="en-US" sz="900" dirty="0"/>
          </a:p>
        </p:txBody>
      </p:sp>
      <p:sp>
        <p:nvSpPr>
          <p:cNvPr id="46" name="Shape 42"/>
          <p:cNvSpPr/>
          <p:nvPr/>
        </p:nvSpPr>
        <p:spPr>
          <a:xfrm>
            <a:off x="6035040" y="3236976"/>
            <a:ext cx="2651760" cy="1207008"/>
          </a:xfrm>
          <a:prstGeom prst="roundRect">
            <a:avLst>
              <a:gd name="adj" fmla="val 6061"/>
            </a:avLst>
          </a:prstGeom>
          <a:solidFill>
            <a:srgbClr val="F4F7F5"/>
          </a:solidFill>
          <a:ln w="9525">
            <a:solidFill>
              <a:srgbClr val="D5DED9"/>
            </a:solidFill>
            <a:prstDash val="solid"/>
          </a:ln>
        </p:spPr>
      </p:sp>
      <p:sp>
        <p:nvSpPr>
          <p:cNvPr id="47" name="Shape 43"/>
          <p:cNvSpPr/>
          <p:nvPr/>
        </p:nvSpPr>
        <p:spPr>
          <a:xfrm>
            <a:off x="6144768" y="3346704"/>
            <a:ext cx="329184" cy="329184"/>
          </a:xfrm>
          <a:prstGeom prst="ellipse">
            <a:avLst/>
          </a:prstGeom>
          <a:solidFill>
            <a:srgbClr val="D49A00"/>
          </a:solidFill>
          <a:ln w="12700">
            <a:solidFill>
              <a:srgbClr val="D49A00"/>
            </a:solidFill>
            <a:prstDash val="solid"/>
          </a:ln>
        </p:spPr>
      </p:sp>
      <p:sp>
        <p:nvSpPr>
          <p:cNvPr id="48" name="Text 44"/>
          <p:cNvSpPr txBox="1"/>
          <p:nvPr/>
        </p:nvSpPr>
        <p:spPr>
          <a:xfrm>
            <a:off x="6144768" y="33467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9" name="Text 45"/>
          <p:cNvSpPr txBox="1"/>
          <p:nvPr/>
        </p:nvSpPr>
        <p:spPr>
          <a:xfrm>
            <a:off x="6565392" y="3346704"/>
            <a:ext cx="2029968" cy="329184"/>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Tenter de la réfuter</a:t>
            </a:r>
            <a:endParaRPr lang="en-US" sz="1150" dirty="0"/>
          </a:p>
        </p:txBody>
      </p:sp>
      <p:sp>
        <p:nvSpPr>
          <p:cNvPr id="50" name="Text 46"/>
          <p:cNvSpPr txBox="1"/>
          <p:nvPr/>
        </p:nvSpPr>
        <p:spPr>
          <a:xfrm>
            <a:off x="6163056" y="3730752"/>
            <a:ext cx="2414016" cy="6858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Vérifier feux, torchères, Lune et saison ; comparer aux raccordements du distributeur ou au suivi du programme.</a:t>
            </a:r>
            <a:endParaRPr lang="en-US" sz="9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4</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04</a:t>
            </a:r>
            <a:endParaRPr lang="en-US" sz="9600" dirty="0"/>
          </a:p>
        </p:txBody>
      </p:sp>
      <p:sp>
        <p:nvSpPr>
          <p:cNvPr id="5" name="Text 3"/>
          <p:cNvSpPr txBox="1"/>
          <p:nvPr/>
        </p:nvSpPr>
        <p:spPr>
          <a:xfrm>
            <a:off x="548640" y="2240280"/>
            <a:ext cx="5486400" cy="6858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Applications</a:t>
            </a:r>
            <a:endParaRPr lang="en-US" sz="3600" dirty="0"/>
          </a:p>
        </p:txBody>
      </p:sp>
      <p:sp>
        <p:nvSpPr>
          <p:cNvPr id="6" name="Text 4"/>
          <p:cNvSpPr txBox="1"/>
          <p:nvPr/>
        </p:nvSpPr>
        <p:spPr>
          <a:xfrm>
            <a:off x="548640" y="2971800"/>
            <a:ext cx="5120640" cy="59436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À quelles questions statistiques ces données répondent-elles vraiment ?</a:t>
            </a:r>
            <a:endParaRPr lang="en-US" sz="1800" dirty="0"/>
          </a:p>
        </p:txBody>
      </p:sp>
      <p:sp>
        <p:nvSpPr>
          <p:cNvPr id="7" name="Text 5"/>
          <p:cNvSpPr txBox="1"/>
          <p:nvPr/>
        </p:nvSpPr>
        <p:spPr>
          <a:xfrm>
            <a:off x="548640" y="3703320"/>
            <a:ext cx="530352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ODD  ·  Économie  ·  Accès à l’énergie  ·  Urbanisation  ·  Crises</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5C242"/>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r>
          <p:cNvPicPr>
            <a:picLocks noChangeAspect="1"/>
          </p:cNvPicPr>
          <p:nvPr/>
        </p:nvPicPr>
        <p:blipFill>
          <a:blip r:embed="rId2"/>
          <a:stretch>
            <a:fillRect/>
          </a:stretch>
        </p:blipFill>
        <p:spPr>
          <a:xfrm>
            <a:off x="6848856" y="2276856"/>
            <a:ext cx="475488" cy="475488"/>
          </a:xfrm>
          <a:prstGeom prst="rect">
            <a:avLst/>
          </a:prstGeom>
        </p:spPr>
      </p:pic>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APPLICATIONS · VUE D’ENSEMBLE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Où les lumières appuient le suivi des ODD</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7" name="Shape 14"/>
          <p:cNvSpPr/>
          <p:nvPr/>
        </p:nvSpPr>
        <p:spPr>
          <a:xfrm>
            <a:off x="457200" y="1325880"/>
            <a:ext cx="2651760" cy="1143000"/>
          </a:xfrm>
          <a:prstGeom prst="roundRect">
            <a:avLst>
              <a:gd name="adj" fmla="val 6400"/>
            </a:avLst>
          </a:prstGeom>
          <a:solidFill>
            <a:srgbClr val="F4F7F5"/>
          </a:solidFill>
          <a:ln w="9525">
            <a:solidFill>
              <a:srgbClr val="D5DED9"/>
            </a:solidFill>
            <a:prstDash val="solid"/>
          </a:ln>
        </p:spPr>
      </p:sp>
      <p:sp>
        <p:nvSpPr>
          <p:cNvPr id="18" name="Shape 15"/>
          <p:cNvSpPr/>
          <p:nvPr/>
        </p:nvSpPr>
        <p:spPr>
          <a:xfrm>
            <a:off x="566928" y="1453896"/>
            <a:ext cx="457200" cy="45720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r>
          <p:cNvPicPr>
            <a:picLocks noChangeAspect="1"/>
          </p:cNvPicPr>
          <p:nvPr/>
        </p:nvPicPr>
        <p:blipFill>
          <a:blip r:embed="rId1"/>
          <a:stretch>
            <a:fillRect/>
          </a:stretch>
        </p:blipFill>
        <p:spPr>
          <a:xfrm>
            <a:off x="685800" y="1572768"/>
            <a:ext cx="219456" cy="219456"/>
          </a:xfrm>
          <a:prstGeom prst="rect">
            <a:avLst/>
          </a:prstGeom>
        </p:spPr>
      </p:pic>
      <p:sp>
        <p:nvSpPr>
          <p:cNvPr id="20" name="Shape 16"/>
          <p:cNvSpPr/>
          <p:nvPr/>
        </p:nvSpPr>
        <p:spPr>
          <a:xfrm>
            <a:off x="1143000" y="1453896"/>
            <a:ext cx="685800" cy="219456"/>
          </a:xfrm>
          <a:prstGeom prst="roundRect">
            <a:avLst>
              <a:gd name="adj" fmla="val 50000"/>
            </a:avLst>
          </a:prstGeom>
          <a:solidFill>
            <a:srgbClr val="00A86A">
              <a:alpha val="15000"/>
            </a:srgbClr>
          </a:solidFill>
          <a:ln w="9525">
            <a:solidFill>
              <a:srgbClr val="00A86A"/>
            </a:solidFill>
            <a:prstDash val="solid"/>
          </a:ln>
        </p:spPr>
      </p:sp>
      <p:sp>
        <p:nvSpPr>
          <p:cNvPr id="21" name="Text 17"/>
          <p:cNvSpPr txBox="1"/>
          <p:nvPr/>
        </p:nvSpPr>
        <p:spPr>
          <a:xfrm>
            <a:off x="1143000" y="1453896"/>
            <a:ext cx="685800" cy="219456"/>
          </a:xfrm>
          <a:prstGeom prst="rect">
            <a:avLst/>
          </a:prstGeom>
          <a:noFill/>
          <a:ln/>
        </p:spPr>
        <p:txBody>
          <a:bodyPr wrap="square" lIns="0" tIns="0" rIns="0" bIns="0" rtlCol="0" anchor="ctr"/>
          <a:lstStyle/>
          <a:p>
            <a:pPr algn="ctr" indent="0" marL="0">
              <a:buNone/>
            </a:pPr>
            <a:r>
              <a:rPr lang="en-US" sz="850" b="1" dirty="0">
                <a:solidFill>
                  <a:srgbClr val="00A86A"/>
                </a:solidFill>
                <a:latin typeface="Calibri" pitchFamily="34" charset="0"/>
                <a:ea typeface="Calibri" pitchFamily="34" charset="-122"/>
                <a:cs typeface="Calibri" pitchFamily="34" charset="-120"/>
              </a:rPr>
              <a:t>ODD 1</a:t>
            </a:r>
            <a:endParaRPr lang="en-US" sz="850" dirty="0"/>
          </a:p>
        </p:txBody>
      </p:sp>
      <p:sp>
        <p:nvSpPr>
          <p:cNvPr id="22" name="Text 18"/>
          <p:cNvSpPr txBox="1"/>
          <p:nvPr/>
        </p:nvSpPr>
        <p:spPr>
          <a:xfrm>
            <a:off x="1143000" y="1709928"/>
            <a:ext cx="1901952" cy="256032"/>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Cartographie de la pauvreté</a:t>
            </a:r>
            <a:endParaRPr lang="en-US" sz="1150" dirty="0"/>
          </a:p>
        </p:txBody>
      </p:sp>
      <p:sp>
        <p:nvSpPr>
          <p:cNvPr id="23" name="Text 19"/>
          <p:cNvSpPr txBox="1"/>
          <p:nvPr/>
        </p:nvSpPr>
        <p:spPr>
          <a:xfrm>
            <a:off x="585216" y="2020824"/>
            <a:ext cx="2395728" cy="4114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Estimations sur petits domaines combinant lumières et enquêtes</a:t>
            </a:r>
            <a:endParaRPr lang="en-US" sz="900" dirty="0"/>
          </a:p>
        </p:txBody>
      </p:sp>
      <p:sp>
        <p:nvSpPr>
          <p:cNvPr id="24" name="Shape 20"/>
          <p:cNvSpPr/>
          <p:nvPr/>
        </p:nvSpPr>
        <p:spPr>
          <a:xfrm>
            <a:off x="3246120" y="1325880"/>
            <a:ext cx="2651760" cy="1143000"/>
          </a:xfrm>
          <a:prstGeom prst="roundRect">
            <a:avLst>
              <a:gd name="adj" fmla="val 6400"/>
            </a:avLst>
          </a:prstGeom>
          <a:solidFill>
            <a:srgbClr val="F4F7F5"/>
          </a:solidFill>
          <a:ln w="9525">
            <a:solidFill>
              <a:srgbClr val="D5DED9"/>
            </a:solidFill>
            <a:prstDash val="solid"/>
          </a:ln>
        </p:spPr>
      </p:sp>
      <p:sp>
        <p:nvSpPr>
          <p:cNvPr id="25" name="Shape 21"/>
          <p:cNvSpPr/>
          <p:nvPr/>
        </p:nvSpPr>
        <p:spPr>
          <a:xfrm>
            <a:off x="3355848" y="1453896"/>
            <a:ext cx="457200" cy="457200"/>
          </a:xfrm>
          <a:prstGeom prst="ellipse">
            <a:avLst/>
          </a:prstGeom>
          <a:solidFill>
            <a:srgbClr val="00704A">
              <a:alpha val="22000"/>
            </a:srgbClr>
          </a:solidFill>
          <a:ln w="12700">
            <a:solidFill>
              <a:srgbClr val="00704A">
                <a:alpha val="0"/>
              </a:srgbClr>
            </a:solidFill>
            <a:prstDash val="solid"/>
          </a:ln>
        </p:spPr>
      </p:sp>
      <p:pic>
        <p:nvPicPr>
          <p:cNvPr id="26" name="Image 1" descr="preencoded.png">    </p:cNvPr>
          <p:cNvPicPr>
            <a:picLocks noChangeAspect="1"/>
          </p:cNvPicPr>
          <p:nvPr/>
        </p:nvPicPr>
        <p:blipFill>
          <a:blip r:embed="rId2"/>
          <a:stretch>
            <a:fillRect/>
          </a:stretch>
        </p:blipFill>
        <p:spPr>
          <a:xfrm>
            <a:off x="3474720" y="1572768"/>
            <a:ext cx="219456" cy="219456"/>
          </a:xfrm>
          <a:prstGeom prst="rect">
            <a:avLst/>
          </a:prstGeom>
        </p:spPr>
      </p:pic>
      <p:sp>
        <p:nvSpPr>
          <p:cNvPr id="27" name="Shape 22"/>
          <p:cNvSpPr/>
          <p:nvPr/>
        </p:nvSpPr>
        <p:spPr>
          <a:xfrm>
            <a:off x="3931920" y="1453896"/>
            <a:ext cx="685800" cy="219456"/>
          </a:xfrm>
          <a:prstGeom prst="roundRect">
            <a:avLst>
              <a:gd name="adj" fmla="val 50000"/>
            </a:avLst>
          </a:prstGeom>
          <a:solidFill>
            <a:srgbClr val="00704A">
              <a:alpha val="15000"/>
            </a:srgbClr>
          </a:solidFill>
          <a:ln w="9525">
            <a:solidFill>
              <a:srgbClr val="00704A"/>
            </a:solidFill>
            <a:prstDash val="solid"/>
          </a:ln>
        </p:spPr>
      </p:sp>
      <p:sp>
        <p:nvSpPr>
          <p:cNvPr id="28" name="Text 23"/>
          <p:cNvSpPr txBox="1"/>
          <p:nvPr/>
        </p:nvSpPr>
        <p:spPr>
          <a:xfrm>
            <a:off x="3931920" y="1453896"/>
            <a:ext cx="685800" cy="219456"/>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ODD 7</a:t>
            </a:r>
            <a:endParaRPr lang="en-US" sz="850" dirty="0"/>
          </a:p>
        </p:txBody>
      </p:sp>
      <p:sp>
        <p:nvSpPr>
          <p:cNvPr id="29" name="Text 24"/>
          <p:cNvSpPr txBox="1"/>
          <p:nvPr/>
        </p:nvSpPr>
        <p:spPr>
          <a:xfrm>
            <a:off x="3931920" y="1709928"/>
            <a:ext cx="1901952" cy="256032"/>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Accès et fiabilité électriques</a:t>
            </a:r>
            <a:endParaRPr lang="en-US" sz="1150" dirty="0"/>
          </a:p>
        </p:txBody>
      </p:sp>
      <p:sp>
        <p:nvSpPr>
          <p:cNvPr id="30" name="Text 25"/>
          <p:cNvSpPr txBox="1"/>
          <p:nvPr/>
        </p:nvSpPr>
        <p:spPr>
          <a:xfrm>
            <a:off x="3374136" y="2020824"/>
            <a:ext cx="2395728" cy="4114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Localiser les localités non desservies ; suivre la fréquence d’éclairage</a:t>
            </a:r>
            <a:endParaRPr lang="en-US" sz="900" dirty="0"/>
          </a:p>
        </p:txBody>
      </p:sp>
      <p:sp>
        <p:nvSpPr>
          <p:cNvPr id="31" name="Shape 26"/>
          <p:cNvSpPr/>
          <p:nvPr/>
        </p:nvSpPr>
        <p:spPr>
          <a:xfrm>
            <a:off x="6035040" y="1325880"/>
            <a:ext cx="2651760" cy="1143000"/>
          </a:xfrm>
          <a:prstGeom prst="roundRect">
            <a:avLst>
              <a:gd name="adj" fmla="val 6400"/>
            </a:avLst>
          </a:prstGeom>
          <a:solidFill>
            <a:srgbClr val="F4F7F5"/>
          </a:solidFill>
          <a:ln w="9525">
            <a:solidFill>
              <a:srgbClr val="D5DED9"/>
            </a:solidFill>
            <a:prstDash val="solid"/>
          </a:ln>
        </p:spPr>
      </p:sp>
      <p:sp>
        <p:nvSpPr>
          <p:cNvPr id="32" name="Shape 27"/>
          <p:cNvSpPr/>
          <p:nvPr/>
        </p:nvSpPr>
        <p:spPr>
          <a:xfrm>
            <a:off x="6144768" y="1453896"/>
            <a:ext cx="457200" cy="457200"/>
          </a:xfrm>
          <a:prstGeom prst="ellipse">
            <a:avLst/>
          </a:prstGeom>
          <a:solidFill>
            <a:srgbClr val="0E7C86">
              <a:alpha val="22000"/>
            </a:srgbClr>
          </a:solidFill>
          <a:ln w="12700">
            <a:solidFill>
              <a:srgbClr val="0E7C86">
                <a:alpha val="0"/>
              </a:srgbClr>
            </a:solidFill>
            <a:prstDash val="solid"/>
          </a:ln>
        </p:spPr>
      </p:sp>
      <p:pic>
        <p:nvPicPr>
          <p:cNvPr id="33" name="Image 2" descr="preencoded.png">    </p:cNvPr>
          <p:cNvPicPr>
            <a:picLocks noChangeAspect="1"/>
          </p:cNvPicPr>
          <p:nvPr/>
        </p:nvPicPr>
        <p:blipFill>
          <a:blip r:embed="rId3"/>
          <a:stretch>
            <a:fillRect/>
          </a:stretch>
        </p:blipFill>
        <p:spPr>
          <a:xfrm>
            <a:off x="6263640" y="1572768"/>
            <a:ext cx="219456" cy="219456"/>
          </a:xfrm>
          <a:prstGeom prst="rect">
            <a:avLst/>
          </a:prstGeom>
        </p:spPr>
      </p:pic>
      <p:sp>
        <p:nvSpPr>
          <p:cNvPr id="34" name="Shape 28"/>
          <p:cNvSpPr/>
          <p:nvPr/>
        </p:nvSpPr>
        <p:spPr>
          <a:xfrm>
            <a:off x="6720840" y="1453896"/>
            <a:ext cx="685800" cy="219456"/>
          </a:xfrm>
          <a:prstGeom prst="roundRect">
            <a:avLst>
              <a:gd name="adj" fmla="val 50000"/>
            </a:avLst>
          </a:prstGeom>
          <a:solidFill>
            <a:srgbClr val="0E7C86">
              <a:alpha val="15000"/>
            </a:srgbClr>
          </a:solidFill>
          <a:ln w="9525">
            <a:solidFill>
              <a:srgbClr val="0E7C86"/>
            </a:solidFill>
            <a:prstDash val="solid"/>
          </a:ln>
        </p:spPr>
      </p:sp>
      <p:sp>
        <p:nvSpPr>
          <p:cNvPr id="35" name="Text 29"/>
          <p:cNvSpPr txBox="1"/>
          <p:nvPr/>
        </p:nvSpPr>
        <p:spPr>
          <a:xfrm>
            <a:off x="6720840" y="1453896"/>
            <a:ext cx="685800" cy="219456"/>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ODD 8</a:t>
            </a:r>
            <a:endParaRPr lang="en-US" sz="850" dirty="0"/>
          </a:p>
        </p:txBody>
      </p:sp>
      <p:sp>
        <p:nvSpPr>
          <p:cNvPr id="36" name="Text 30"/>
          <p:cNvSpPr txBox="1"/>
          <p:nvPr/>
        </p:nvSpPr>
        <p:spPr>
          <a:xfrm>
            <a:off x="6720840" y="1709928"/>
            <a:ext cx="1901952" cy="256032"/>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Activité économique</a:t>
            </a:r>
            <a:endParaRPr lang="en-US" sz="1150" dirty="0"/>
          </a:p>
        </p:txBody>
      </p:sp>
      <p:sp>
        <p:nvSpPr>
          <p:cNvPr id="37" name="Text 31"/>
          <p:cNvSpPr txBox="1"/>
          <p:nvPr/>
        </p:nvSpPr>
        <p:spPr>
          <a:xfrm>
            <a:off x="6163056" y="2020824"/>
            <a:ext cx="2395728" cy="4114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Ventilation infranationale du PIB ; signaux d’activité à court terme</a:t>
            </a:r>
            <a:endParaRPr lang="en-US" sz="900" dirty="0"/>
          </a:p>
        </p:txBody>
      </p:sp>
      <p:sp>
        <p:nvSpPr>
          <p:cNvPr id="38" name="Shape 32"/>
          <p:cNvSpPr/>
          <p:nvPr/>
        </p:nvSpPr>
        <p:spPr>
          <a:xfrm>
            <a:off x="457200" y="2606040"/>
            <a:ext cx="2651760" cy="1143000"/>
          </a:xfrm>
          <a:prstGeom prst="roundRect">
            <a:avLst>
              <a:gd name="adj" fmla="val 6400"/>
            </a:avLst>
          </a:prstGeom>
          <a:solidFill>
            <a:srgbClr val="F4F7F5"/>
          </a:solidFill>
          <a:ln w="9525">
            <a:solidFill>
              <a:srgbClr val="D5DED9"/>
            </a:solidFill>
            <a:prstDash val="solid"/>
          </a:ln>
        </p:spPr>
      </p:sp>
      <p:sp>
        <p:nvSpPr>
          <p:cNvPr id="39" name="Shape 33"/>
          <p:cNvSpPr/>
          <p:nvPr/>
        </p:nvSpPr>
        <p:spPr>
          <a:xfrm>
            <a:off x="566928" y="2734056"/>
            <a:ext cx="457200" cy="457200"/>
          </a:xfrm>
          <a:prstGeom prst="ellipse">
            <a:avLst/>
          </a:prstGeom>
          <a:solidFill>
            <a:srgbClr val="D49A00">
              <a:alpha val="22000"/>
            </a:srgbClr>
          </a:solidFill>
          <a:ln w="12700">
            <a:solidFill>
              <a:srgbClr val="D49A00">
                <a:alpha val="0"/>
              </a:srgbClr>
            </a:solidFill>
            <a:prstDash val="solid"/>
          </a:ln>
        </p:spPr>
      </p:sp>
      <p:pic>
        <p:nvPicPr>
          <p:cNvPr id="40" name="Image 3" descr="preencoded.png">    </p:cNvPr>
          <p:cNvPicPr>
            <a:picLocks noChangeAspect="1"/>
          </p:cNvPicPr>
          <p:nvPr/>
        </p:nvPicPr>
        <p:blipFill>
          <a:blip r:embed="rId4"/>
          <a:stretch>
            <a:fillRect/>
          </a:stretch>
        </p:blipFill>
        <p:spPr>
          <a:xfrm>
            <a:off x="685800" y="2852928"/>
            <a:ext cx="219456" cy="219456"/>
          </a:xfrm>
          <a:prstGeom prst="rect">
            <a:avLst/>
          </a:prstGeom>
        </p:spPr>
      </p:pic>
      <p:sp>
        <p:nvSpPr>
          <p:cNvPr id="41" name="Shape 34"/>
          <p:cNvSpPr/>
          <p:nvPr/>
        </p:nvSpPr>
        <p:spPr>
          <a:xfrm>
            <a:off x="1143000" y="2734056"/>
            <a:ext cx="685800" cy="219456"/>
          </a:xfrm>
          <a:prstGeom prst="roundRect">
            <a:avLst>
              <a:gd name="adj" fmla="val 50000"/>
            </a:avLst>
          </a:prstGeom>
          <a:solidFill>
            <a:srgbClr val="D49A00">
              <a:alpha val="15000"/>
            </a:srgbClr>
          </a:solidFill>
          <a:ln w="9525">
            <a:solidFill>
              <a:srgbClr val="D49A00"/>
            </a:solidFill>
            <a:prstDash val="solid"/>
          </a:ln>
        </p:spPr>
      </p:sp>
      <p:sp>
        <p:nvSpPr>
          <p:cNvPr id="42" name="Text 35"/>
          <p:cNvSpPr txBox="1"/>
          <p:nvPr/>
        </p:nvSpPr>
        <p:spPr>
          <a:xfrm>
            <a:off x="1143000" y="2734056"/>
            <a:ext cx="685800" cy="219456"/>
          </a:xfrm>
          <a:prstGeom prst="rect">
            <a:avLst/>
          </a:prstGeom>
          <a:noFill/>
          <a:ln/>
        </p:spPr>
        <p:txBody>
          <a:bodyPr wrap="square" lIns="0" tIns="0" rIns="0" bIns="0" rtlCol="0" anchor="ctr"/>
          <a:lstStyle/>
          <a:p>
            <a:pPr algn="ctr" indent="0" marL="0">
              <a:buNone/>
            </a:pPr>
            <a:r>
              <a:rPr lang="en-US" sz="850" b="1" dirty="0">
                <a:solidFill>
                  <a:srgbClr val="D49A00"/>
                </a:solidFill>
                <a:latin typeface="Calibri" pitchFamily="34" charset="0"/>
                <a:ea typeface="Calibri" pitchFamily="34" charset="-122"/>
                <a:cs typeface="Calibri" pitchFamily="34" charset="-120"/>
              </a:rPr>
              <a:t>ODD 9</a:t>
            </a:r>
            <a:endParaRPr lang="en-US" sz="850" dirty="0"/>
          </a:p>
        </p:txBody>
      </p:sp>
      <p:sp>
        <p:nvSpPr>
          <p:cNvPr id="43" name="Text 36"/>
          <p:cNvSpPr txBox="1"/>
          <p:nvPr/>
        </p:nvSpPr>
        <p:spPr>
          <a:xfrm>
            <a:off x="1143000" y="2990088"/>
            <a:ext cx="1901952" cy="256032"/>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Infrastructures</a:t>
            </a:r>
            <a:endParaRPr lang="en-US" sz="1150" dirty="0"/>
          </a:p>
        </p:txBody>
      </p:sp>
      <p:sp>
        <p:nvSpPr>
          <p:cNvPr id="44" name="Text 37"/>
          <p:cNvSpPr txBox="1"/>
          <p:nvPr/>
        </p:nvSpPr>
        <p:spPr>
          <a:xfrm>
            <a:off x="585216" y="3300984"/>
            <a:ext cx="2395728" cy="4114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Corridors, ports, zones industrielles et zones économiques spéciales</a:t>
            </a:r>
            <a:endParaRPr lang="en-US" sz="900" dirty="0"/>
          </a:p>
        </p:txBody>
      </p:sp>
      <p:sp>
        <p:nvSpPr>
          <p:cNvPr id="45" name="Shape 38"/>
          <p:cNvSpPr/>
          <p:nvPr/>
        </p:nvSpPr>
        <p:spPr>
          <a:xfrm>
            <a:off x="3246120" y="2606040"/>
            <a:ext cx="2651760" cy="1143000"/>
          </a:xfrm>
          <a:prstGeom prst="roundRect">
            <a:avLst>
              <a:gd name="adj" fmla="val 6400"/>
            </a:avLst>
          </a:prstGeom>
          <a:solidFill>
            <a:srgbClr val="F4F7F5"/>
          </a:solidFill>
          <a:ln w="9525">
            <a:solidFill>
              <a:srgbClr val="D5DED9"/>
            </a:solidFill>
            <a:prstDash val="solid"/>
          </a:ln>
        </p:spPr>
      </p:sp>
      <p:sp>
        <p:nvSpPr>
          <p:cNvPr id="46" name="Shape 39"/>
          <p:cNvSpPr/>
          <p:nvPr/>
        </p:nvSpPr>
        <p:spPr>
          <a:xfrm>
            <a:off x="3355848" y="2734056"/>
            <a:ext cx="457200" cy="457200"/>
          </a:xfrm>
          <a:prstGeom prst="ellipse">
            <a:avLst/>
          </a:prstGeom>
          <a:solidFill>
            <a:srgbClr val="C4621D">
              <a:alpha val="22000"/>
            </a:srgbClr>
          </a:solidFill>
          <a:ln w="12700">
            <a:solidFill>
              <a:srgbClr val="C4621D">
                <a:alpha val="0"/>
              </a:srgbClr>
            </a:solidFill>
            <a:prstDash val="solid"/>
          </a:ln>
        </p:spPr>
      </p:sp>
      <p:pic>
        <p:nvPicPr>
          <p:cNvPr id="47" name="Image 4" descr="preencoded.png">    </p:cNvPr>
          <p:cNvPicPr>
            <a:picLocks noChangeAspect="1"/>
          </p:cNvPicPr>
          <p:nvPr/>
        </p:nvPicPr>
        <p:blipFill>
          <a:blip r:embed="rId5"/>
          <a:stretch>
            <a:fillRect/>
          </a:stretch>
        </p:blipFill>
        <p:spPr>
          <a:xfrm>
            <a:off x="3474720" y="2852928"/>
            <a:ext cx="219456" cy="219456"/>
          </a:xfrm>
          <a:prstGeom prst="rect">
            <a:avLst/>
          </a:prstGeom>
        </p:spPr>
      </p:pic>
      <p:sp>
        <p:nvSpPr>
          <p:cNvPr id="48" name="Shape 40"/>
          <p:cNvSpPr/>
          <p:nvPr/>
        </p:nvSpPr>
        <p:spPr>
          <a:xfrm>
            <a:off x="3931920" y="2734056"/>
            <a:ext cx="685800" cy="219456"/>
          </a:xfrm>
          <a:prstGeom prst="roundRect">
            <a:avLst>
              <a:gd name="adj" fmla="val 50000"/>
            </a:avLst>
          </a:prstGeom>
          <a:solidFill>
            <a:srgbClr val="C4621D">
              <a:alpha val="15000"/>
            </a:srgbClr>
          </a:solidFill>
          <a:ln w="9525">
            <a:solidFill>
              <a:srgbClr val="C4621D"/>
            </a:solidFill>
            <a:prstDash val="solid"/>
          </a:ln>
        </p:spPr>
      </p:sp>
      <p:sp>
        <p:nvSpPr>
          <p:cNvPr id="49" name="Text 41"/>
          <p:cNvSpPr txBox="1"/>
          <p:nvPr/>
        </p:nvSpPr>
        <p:spPr>
          <a:xfrm>
            <a:off x="3931920" y="2734056"/>
            <a:ext cx="685800" cy="219456"/>
          </a:xfrm>
          <a:prstGeom prst="rect">
            <a:avLst/>
          </a:prstGeom>
          <a:noFill/>
          <a:ln/>
        </p:spPr>
        <p:txBody>
          <a:bodyPr wrap="square" lIns="0" tIns="0" rIns="0" bIns="0" rtlCol="0" anchor="ctr"/>
          <a:lstStyle/>
          <a:p>
            <a:pPr algn="ctr" indent="0" marL="0">
              <a:buNone/>
            </a:pPr>
            <a:r>
              <a:rPr lang="en-US" sz="850" b="1" dirty="0">
                <a:solidFill>
                  <a:srgbClr val="C4621D"/>
                </a:solidFill>
                <a:latin typeface="Calibri" pitchFamily="34" charset="0"/>
                <a:ea typeface="Calibri" pitchFamily="34" charset="-122"/>
                <a:cs typeface="Calibri" pitchFamily="34" charset="-120"/>
              </a:rPr>
              <a:t>ODD 11</a:t>
            </a:r>
            <a:endParaRPr lang="en-US" sz="850" dirty="0"/>
          </a:p>
        </p:txBody>
      </p:sp>
      <p:sp>
        <p:nvSpPr>
          <p:cNvPr id="50" name="Text 42"/>
          <p:cNvSpPr txBox="1"/>
          <p:nvPr/>
        </p:nvSpPr>
        <p:spPr>
          <a:xfrm>
            <a:off x="3931920" y="2990088"/>
            <a:ext cx="1901952" cy="256032"/>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Urbanisation</a:t>
            </a:r>
            <a:endParaRPr lang="en-US" sz="1150" dirty="0"/>
          </a:p>
        </p:txBody>
      </p:sp>
      <p:sp>
        <p:nvSpPr>
          <p:cNvPr id="51" name="Text 43"/>
          <p:cNvSpPr txBox="1"/>
          <p:nvPr/>
        </p:nvSpPr>
        <p:spPr>
          <a:xfrm>
            <a:off x="3374136" y="3300984"/>
            <a:ext cx="2395728" cy="4114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Emprise urbaine, étalement ou densification, villes nouvelles</a:t>
            </a:r>
            <a:endParaRPr lang="en-US" sz="900" dirty="0"/>
          </a:p>
        </p:txBody>
      </p:sp>
      <p:sp>
        <p:nvSpPr>
          <p:cNvPr id="52" name="Shape 44"/>
          <p:cNvSpPr/>
          <p:nvPr/>
        </p:nvSpPr>
        <p:spPr>
          <a:xfrm>
            <a:off x="6035040" y="2606040"/>
            <a:ext cx="2651760" cy="1143000"/>
          </a:xfrm>
          <a:prstGeom prst="roundRect">
            <a:avLst>
              <a:gd name="adj" fmla="val 6400"/>
            </a:avLst>
          </a:prstGeom>
          <a:solidFill>
            <a:srgbClr val="F4F7F5"/>
          </a:solidFill>
          <a:ln w="9525">
            <a:solidFill>
              <a:srgbClr val="D5DED9"/>
            </a:solidFill>
            <a:prstDash val="solid"/>
          </a:ln>
        </p:spPr>
      </p:sp>
      <p:sp>
        <p:nvSpPr>
          <p:cNvPr id="53" name="Shape 45"/>
          <p:cNvSpPr/>
          <p:nvPr/>
        </p:nvSpPr>
        <p:spPr>
          <a:xfrm>
            <a:off x="6144768" y="2734056"/>
            <a:ext cx="457200" cy="457200"/>
          </a:xfrm>
          <a:prstGeom prst="ellipse">
            <a:avLst/>
          </a:prstGeom>
          <a:solidFill>
            <a:srgbClr val="B83B2E">
              <a:alpha val="22000"/>
            </a:srgbClr>
          </a:solidFill>
          <a:ln w="12700">
            <a:solidFill>
              <a:srgbClr val="B83B2E">
                <a:alpha val="0"/>
              </a:srgbClr>
            </a:solidFill>
            <a:prstDash val="solid"/>
          </a:ln>
        </p:spPr>
      </p:sp>
      <p:pic>
        <p:nvPicPr>
          <p:cNvPr id="54" name="Image 5" descr="preencoded.png">    </p:cNvPr>
          <p:cNvPicPr>
            <a:picLocks noChangeAspect="1"/>
          </p:cNvPicPr>
          <p:nvPr/>
        </p:nvPicPr>
        <p:blipFill>
          <a:blip r:embed="rId6"/>
          <a:stretch>
            <a:fillRect/>
          </a:stretch>
        </p:blipFill>
        <p:spPr>
          <a:xfrm>
            <a:off x="6263640" y="2852928"/>
            <a:ext cx="219456" cy="219456"/>
          </a:xfrm>
          <a:prstGeom prst="rect">
            <a:avLst/>
          </a:prstGeom>
        </p:spPr>
      </p:pic>
      <p:sp>
        <p:nvSpPr>
          <p:cNvPr id="55" name="Shape 46"/>
          <p:cNvSpPr/>
          <p:nvPr/>
        </p:nvSpPr>
        <p:spPr>
          <a:xfrm>
            <a:off x="6720840" y="2734056"/>
            <a:ext cx="1371600" cy="219456"/>
          </a:xfrm>
          <a:prstGeom prst="roundRect">
            <a:avLst>
              <a:gd name="adj" fmla="val 50000"/>
            </a:avLst>
          </a:prstGeom>
          <a:solidFill>
            <a:srgbClr val="B83B2E">
              <a:alpha val="15000"/>
            </a:srgbClr>
          </a:solidFill>
          <a:ln w="9525">
            <a:solidFill>
              <a:srgbClr val="B83B2E"/>
            </a:solidFill>
            <a:prstDash val="solid"/>
          </a:ln>
        </p:spPr>
      </p:sp>
      <p:sp>
        <p:nvSpPr>
          <p:cNvPr id="56" name="Text 47"/>
          <p:cNvSpPr txBox="1"/>
          <p:nvPr/>
        </p:nvSpPr>
        <p:spPr>
          <a:xfrm>
            <a:off x="6720840" y="2734056"/>
            <a:ext cx="1371600" cy="219456"/>
          </a:xfrm>
          <a:prstGeom prst="rect">
            <a:avLst/>
          </a:prstGeom>
          <a:noFill/>
          <a:ln/>
        </p:spPr>
        <p:txBody>
          <a:bodyPr wrap="square" lIns="0" tIns="0" rIns="0" bIns="0" rtlCol="0" anchor="ctr"/>
          <a:lstStyle/>
          <a:p>
            <a:pPr algn="ctr" indent="0" marL="0">
              <a:buNone/>
            </a:pPr>
            <a:r>
              <a:rPr lang="en-US" sz="850" b="1" dirty="0">
                <a:solidFill>
                  <a:srgbClr val="B83B2E"/>
                </a:solidFill>
                <a:latin typeface="Calibri" pitchFamily="34" charset="0"/>
                <a:ea typeface="Calibri" pitchFamily="34" charset="-122"/>
                <a:cs typeface="Calibri" pitchFamily="34" charset="-120"/>
              </a:rPr>
              <a:t>ODD 16 · humanitaire</a:t>
            </a:r>
            <a:endParaRPr lang="en-US" sz="850" dirty="0"/>
          </a:p>
        </p:txBody>
      </p:sp>
      <p:sp>
        <p:nvSpPr>
          <p:cNvPr id="57" name="Text 48"/>
          <p:cNvSpPr txBox="1"/>
          <p:nvPr/>
        </p:nvSpPr>
        <p:spPr>
          <a:xfrm>
            <a:off x="6720840" y="2990088"/>
            <a:ext cx="1901952" cy="256032"/>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Conflits et catastrophes</a:t>
            </a:r>
            <a:endParaRPr lang="en-US" sz="1150" dirty="0"/>
          </a:p>
        </p:txBody>
      </p:sp>
      <p:sp>
        <p:nvSpPr>
          <p:cNvPr id="58" name="Text 49"/>
          <p:cNvSpPr txBox="1"/>
          <p:nvPr/>
        </p:nvSpPr>
        <p:spPr>
          <a:xfrm>
            <a:off x="6163056" y="3300984"/>
            <a:ext cx="2395728" cy="4114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Coupures, signaux de déplacement, suivi du relèvement</a:t>
            </a:r>
            <a:endParaRPr lang="en-US" sz="900" dirty="0"/>
          </a:p>
        </p:txBody>
      </p:sp>
      <p:sp>
        <p:nvSpPr>
          <p:cNvPr id="59" name="Shape 50"/>
          <p:cNvSpPr/>
          <p:nvPr/>
        </p:nvSpPr>
        <p:spPr>
          <a:xfrm>
            <a:off x="457200" y="3931920"/>
            <a:ext cx="8229600" cy="566928"/>
          </a:xfrm>
          <a:prstGeom prst="roundRect">
            <a:avLst>
              <a:gd name="adj" fmla="val 12903"/>
            </a:avLst>
          </a:prstGeom>
          <a:solidFill>
            <a:srgbClr val="E8F5EF"/>
          </a:solidFill>
          <a:ln w="15875">
            <a:solidFill>
              <a:srgbClr val="00A86A"/>
            </a:solidFill>
            <a:prstDash val="solid"/>
          </a:ln>
        </p:spPr>
      </p:sp>
      <p:sp>
        <p:nvSpPr>
          <p:cNvPr id="60" name="Shape 51"/>
          <p:cNvSpPr/>
          <p:nvPr/>
        </p:nvSpPr>
        <p:spPr>
          <a:xfrm>
            <a:off x="566928" y="4023360"/>
            <a:ext cx="384048" cy="384048"/>
          </a:xfrm>
          <a:prstGeom prst="ellipse">
            <a:avLst/>
          </a:prstGeom>
          <a:solidFill>
            <a:srgbClr val="00A86A">
              <a:alpha val="22000"/>
            </a:srgbClr>
          </a:solidFill>
          <a:ln w="12700">
            <a:solidFill>
              <a:srgbClr val="00A86A">
                <a:alpha val="0"/>
              </a:srgbClr>
            </a:solidFill>
            <a:prstDash val="solid"/>
          </a:ln>
        </p:spPr>
      </p:sp>
      <p:pic>
        <p:nvPicPr>
          <p:cNvPr id="61" name="Image 6" descr="preencoded.png">    </p:cNvPr>
          <p:cNvPicPr>
            <a:picLocks noChangeAspect="1"/>
          </p:cNvPicPr>
          <p:nvPr/>
        </p:nvPicPr>
        <p:blipFill>
          <a:blip r:embed="rId7"/>
          <a:stretch>
            <a:fillRect/>
          </a:stretch>
        </p:blipFill>
        <p:spPr>
          <a:xfrm>
            <a:off x="666780" y="4123212"/>
            <a:ext cx="184343" cy="184343"/>
          </a:xfrm>
          <a:prstGeom prst="rect">
            <a:avLst/>
          </a:prstGeom>
        </p:spPr>
      </p:pic>
      <p:sp>
        <p:nvSpPr>
          <p:cNvPr id="62" name="Text 52"/>
          <p:cNvSpPr txBox="1"/>
          <p:nvPr/>
        </p:nvSpPr>
        <p:spPr>
          <a:xfrm>
            <a:off x="1051560" y="3959352"/>
            <a:ext cx="7543800" cy="512064"/>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Un complément, pas un substitut. </a:t>
            </a:r>
            <a:pPr indent="0" marL="0">
              <a:buNone/>
            </a:pPr>
            <a:r>
              <a:rPr lang="en-US" sz="1050" dirty="0">
                <a:solidFill>
                  <a:srgbClr val="231F20"/>
                </a:solidFill>
                <a:latin typeface="Calibri" pitchFamily="34" charset="0"/>
                <a:ea typeface="Calibri" pitchFamily="34" charset="-122"/>
                <a:cs typeface="Calibri" pitchFamily="34" charset="-120"/>
              </a:rPr>
              <a:t>Les lumières apportent finesse spatiale, fréquence et vérification indépendante aux statistiques officielles — elles ne remplacent ni le recensement ni l’enquête.</a:t>
            </a:r>
            <a:endParaRPr lang="en-US" sz="105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APPLICATIONS · APPLICATION 01</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Mesurer l’économie depuis l’orbite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7" name="Text 14"/>
          <p:cNvSpPr txBox="1"/>
          <p:nvPr/>
        </p:nvSpPr>
        <p:spPr>
          <a:xfrm>
            <a:off x="457200" y="1298448"/>
            <a:ext cx="4114800" cy="256032"/>
          </a:xfrm>
          <a:prstGeom prst="rect">
            <a:avLst/>
          </a:prstGeom>
          <a:noFill/>
          <a:ln/>
        </p:spPr>
        <p:txBody>
          <a:bodyPr wrap="square" lIns="0" tIns="0" rIns="0" bIns="0" rtlCol="0" anchor="t"/>
          <a:lstStyle/>
          <a:p>
            <a:pPr indent="0" marL="0">
              <a:buNone/>
            </a:pPr>
            <a:r>
              <a:rPr lang="en-US" sz="1350" b="1" dirty="0">
                <a:solidFill>
                  <a:srgbClr val="00704A"/>
                </a:solidFill>
                <a:latin typeface="Calibri" pitchFamily="34" charset="0"/>
                <a:ea typeface="Calibri" pitchFamily="34" charset="-122"/>
                <a:cs typeface="Calibri" pitchFamily="34" charset="-120"/>
              </a:rPr>
              <a:t>Ce que montrent les travaux</a:t>
            </a:r>
            <a:endParaRPr lang="en-US" sz="1350" dirty="0"/>
          </a:p>
        </p:txBody>
      </p:sp>
      <p:sp>
        <p:nvSpPr>
          <p:cNvPr id="18" name="Shape 15"/>
          <p:cNvSpPr/>
          <p:nvPr/>
        </p:nvSpPr>
        <p:spPr>
          <a:xfrm>
            <a:off x="457200" y="1627632"/>
            <a:ext cx="4206240" cy="868680"/>
          </a:xfrm>
          <a:prstGeom prst="roundRect">
            <a:avLst>
              <a:gd name="adj" fmla="val 8421"/>
            </a:avLst>
          </a:prstGeom>
          <a:solidFill>
            <a:srgbClr val="F4F7F5"/>
          </a:solidFill>
          <a:ln w="9525">
            <a:solidFill>
              <a:srgbClr val="D5DED9"/>
            </a:solidFill>
            <a:prstDash val="solid"/>
          </a:ln>
        </p:spPr>
      </p:sp>
      <p:sp>
        <p:nvSpPr>
          <p:cNvPr id="19" name="Shape 16"/>
          <p:cNvSpPr/>
          <p:nvPr/>
        </p:nvSpPr>
        <p:spPr>
          <a:xfrm>
            <a:off x="566928" y="1828800"/>
            <a:ext cx="457200" cy="457200"/>
          </a:xfrm>
          <a:prstGeom prst="ellipse">
            <a:avLst/>
          </a:prstGeom>
          <a:solidFill>
            <a:srgbClr val="D49A00">
              <a:alpha val="22000"/>
            </a:srgbClr>
          </a:solidFill>
          <a:ln w="12700">
            <a:solidFill>
              <a:srgbClr val="D49A00">
                <a:alpha val="0"/>
              </a:srgbClr>
            </a:solidFill>
            <a:prstDash val="solid"/>
          </a:ln>
        </p:spPr>
      </p:sp>
      <p:pic>
        <p:nvPicPr>
          <p:cNvPr id="20" name="Image 0" descr="preencoded.png">    </p:cNvPr>
          <p:cNvPicPr>
            <a:picLocks noChangeAspect="1"/>
          </p:cNvPicPr>
          <p:nvPr/>
        </p:nvPicPr>
        <p:blipFill>
          <a:blip r:embed="rId1"/>
          <a:stretch>
            <a:fillRect/>
          </a:stretch>
        </p:blipFill>
        <p:spPr>
          <a:xfrm>
            <a:off x="685800" y="1947672"/>
            <a:ext cx="219456" cy="219456"/>
          </a:xfrm>
          <a:prstGeom prst="rect">
            <a:avLst/>
          </a:prstGeom>
        </p:spPr>
      </p:pic>
      <p:sp>
        <p:nvSpPr>
          <p:cNvPr id="21" name="Text 17"/>
          <p:cNvSpPr txBox="1"/>
          <p:nvPr/>
        </p:nvSpPr>
        <p:spPr>
          <a:xfrm>
            <a:off x="1143000" y="1700784"/>
            <a:ext cx="342900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Henderson, Storeygard et Weil (2012)</a:t>
            </a:r>
            <a:endParaRPr lang="en-US" sz="1100" dirty="0"/>
          </a:p>
        </p:txBody>
      </p:sp>
      <p:sp>
        <p:nvSpPr>
          <p:cNvPr id="22" name="Text 18"/>
          <p:cNvSpPr txBox="1"/>
          <p:nvPr/>
        </p:nvSpPr>
        <p:spPr>
          <a:xfrm>
            <a:off x="1143000" y="1938528"/>
            <a:ext cx="3456432" cy="530352"/>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Les lumières contiennent une vraie information sur la croissance et peuvent améliorer le PIB là où les comptes sont fragiles.</a:t>
            </a:r>
            <a:endParaRPr lang="en-US" sz="900" dirty="0"/>
          </a:p>
        </p:txBody>
      </p:sp>
      <p:sp>
        <p:nvSpPr>
          <p:cNvPr id="23" name="Shape 19"/>
          <p:cNvSpPr/>
          <p:nvPr/>
        </p:nvSpPr>
        <p:spPr>
          <a:xfrm>
            <a:off x="457200" y="2606040"/>
            <a:ext cx="4206240" cy="868680"/>
          </a:xfrm>
          <a:prstGeom prst="roundRect">
            <a:avLst>
              <a:gd name="adj" fmla="val 8421"/>
            </a:avLst>
          </a:prstGeom>
          <a:solidFill>
            <a:srgbClr val="F4F7F5"/>
          </a:solidFill>
          <a:ln w="9525">
            <a:solidFill>
              <a:srgbClr val="D5DED9"/>
            </a:solidFill>
            <a:prstDash val="solid"/>
          </a:ln>
        </p:spPr>
      </p:sp>
      <p:sp>
        <p:nvSpPr>
          <p:cNvPr id="24" name="Shape 20"/>
          <p:cNvSpPr/>
          <p:nvPr/>
        </p:nvSpPr>
        <p:spPr>
          <a:xfrm>
            <a:off x="566928" y="2807208"/>
            <a:ext cx="457200" cy="457200"/>
          </a:xfrm>
          <a:prstGeom prst="ellipse">
            <a:avLst/>
          </a:prstGeom>
          <a:solidFill>
            <a:srgbClr val="D49A00">
              <a:alpha val="22000"/>
            </a:srgbClr>
          </a:solidFill>
          <a:ln w="12700">
            <a:solidFill>
              <a:srgbClr val="D49A00">
                <a:alpha val="0"/>
              </a:srgbClr>
            </a:solidFill>
            <a:prstDash val="solid"/>
          </a:ln>
        </p:spPr>
      </p:sp>
      <p:pic>
        <p:nvPicPr>
          <p:cNvPr id="25" name="Image 1" descr="preencoded.png">    </p:cNvPr>
          <p:cNvPicPr>
            <a:picLocks noChangeAspect="1"/>
          </p:cNvPicPr>
          <p:nvPr/>
        </p:nvPicPr>
        <p:blipFill>
          <a:blip r:embed="rId2"/>
          <a:stretch>
            <a:fillRect/>
          </a:stretch>
        </p:blipFill>
        <p:spPr>
          <a:xfrm>
            <a:off x="685800" y="2926080"/>
            <a:ext cx="219456" cy="219456"/>
          </a:xfrm>
          <a:prstGeom prst="rect">
            <a:avLst/>
          </a:prstGeom>
        </p:spPr>
      </p:pic>
      <p:sp>
        <p:nvSpPr>
          <p:cNvPr id="26" name="Text 21"/>
          <p:cNvSpPr txBox="1"/>
          <p:nvPr/>
        </p:nvSpPr>
        <p:spPr>
          <a:xfrm>
            <a:off x="1143000" y="2679192"/>
            <a:ext cx="342900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Bruederle et Hodler (2018)</a:t>
            </a:r>
            <a:endParaRPr lang="en-US" sz="1100" dirty="0"/>
          </a:p>
        </p:txBody>
      </p:sp>
      <p:sp>
        <p:nvSpPr>
          <p:cNvPr id="27" name="Text 22"/>
          <p:cNvSpPr txBox="1"/>
          <p:nvPr/>
        </p:nvSpPr>
        <p:spPr>
          <a:xfrm>
            <a:off x="1143000" y="2916936"/>
            <a:ext cx="3456432" cy="530352"/>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Les lumières reflètent richesse, éducation et santé des ménages à l’échelle locale, d’après les grappes des EDS en Afrique.</a:t>
            </a:r>
            <a:endParaRPr lang="en-US" sz="900" dirty="0"/>
          </a:p>
        </p:txBody>
      </p:sp>
      <p:sp>
        <p:nvSpPr>
          <p:cNvPr id="28" name="Shape 23"/>
          <p:cNvSpPr/>
          <p:nvPr/>
        </p:nvSpPr>
        <p:spPr>
          <a:xfrm>
            <a:off x="457200" y="3584448"/>
            <a:ext cx="4206240" cy="868680"/>
          </a:xfrm>
          <a:prstGeom prst="roundRect">
            <a:avLst>
              <a:gd name="adj" fmla="val 8421"/>
            </a:avLst>
          </a:prstGeom>
          <a:solidFill>
            <a:srgbClr val="F4F7F5"/>
          </a:solidFill>
          <a:ln w="9525">
            <a:solidFill>
              <a:srgbClr val="D5DED9"/>
            </a:solidFill>
            <a:prstDash val="solid"/>
          </a:ln>
        </p:spPr>
      </p:sp>
      <p:sp>
        <p:nvSpPr>
          <p:cNvPr id="29" name="Shape 24"/>
          <p:cNvSpPr/>
          <p:nvPr/>
        </p:nvSpPr>
        <p:spPr>
          <a:xfrm>
            <a:off x="566928" y="3785616"/>
            <a:ext cx="457200" cy="457200"/>
          </a:xfrm>
          <a:prstGeom prst="ellipse">
            <a:avLst/>
          </a:prstGeom>
          <a:solidFill>
            <a:srgbClr val="D49A00">
              <a:alpha val="22000"/>
            </a:srgbClr>
          </a:solidFill>
          <a:ln w="12700">
            <a:solidFill>
              <a:srgbClr val="D49A00">
                <a:alpha val="0"/>
              </a:srgbClr>
            </a:solidFill>
            <a:prstDash val="solid"/>
          </a:ln>
        </p:spPr>
      </p:sp>
      <p:pic>
        <p:nvPicPr>
          <p:cNvPr id="30" name="Image 2" descr="preencoded.png">    </p:cNvPr>
          <p:cNvPicPr>
            <a:picLocks noChangeAspect="1"/>
          </p:cNvPicPr>
          <p:nvPr/>
        </p:nvPicPr>
        <p:blipFill>
          <a:blip r:embed="rId3"/>
          <a:stretch>
            <a:fillRect/>
          </a:stretch>
        </p:blipFill>
        <p:spPr>
          <a:xfrm>
            <a:off x="685800" y="3904488"/>
            <a:ext cx="219456" cy="219456"/>
          </a:xfrm>
          <a:prstGeom prst="rect">
            <a:avLst/>
          </a:prstGeom>
        </p:spPr>
      </p:pic>
      <p:sp>
        <p:nvSpPr>
          <p:cNvPr id="31" name="Text 25"/>
          <p:cNvSpPr txBox="1"/>
          <p:nvPr/>
        </p:nvSpPr>
        <p:spPr>
          <a:xfrm>
            <a:off x="1143000" y="3657600"/>
            <a:ext cx="342900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Martinez (2022)</a:t>
            </a:r>
            <a:endParaRPr lang="en-US" sz="1100" dirty="0"/>
          </a:p>
        </p:txBody>
      </p:sp>
      <p:sp>
        <p:nvSpPr>
          <p:cNvPr id="32" name="Text 26"/>
          <p:cNvSpPr txBox="1"/>
          <p:nvPr/>
        </p:nvSpPr>
        <p:spPr>
          <a:xfrm>
            <a:off x="1143000" y="3895344"/>
            <a:ext cx="3456432" cy="530352"/>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Les lumières servent de référence indépendante pour tester la crédibilité de la croissance du PIB déclarée.</a:t>
            </a:r>
            <a:endParaRPr lang="en-US" sz="900" dirty="0"/>
          </a:p>
        </p:txBody>
      </p:sp>
      <p:sp>
        <p:nvSpPr>
          <p:cNvPr id="33" name="Text 27"/>
          <p:cNvSpPr txBox="1"/>
          <p:nvPr/>
        </p:nvSpPr>
        <p:spPr>
          <a:xfrm>
            <a:off x="4892040" y="1298448"/>
            <a:ext cx="3840480" cy="256032"/>
          </a:xfrm>
          <a:prstGeom prst="rect">
            <a:avLst/>
          </a:prstGeom>
          <a:noFill/>
          <a:ln/>
        </p:spPr>
        <p:txBody>
          <a:bodyPr wrap="square" lIns="0" tIns="0" rIns="0" bIns="0" rtlCol="0" anchor="t"/>
          <a:lstStyle/>
          <a:p>
            <a:pPr indent="0" marL="0">
              <a:buNone/>
            </a:pPr>
            <a:r>
              <a:rPr lang="en-US" sz="1350" b="1" dirty="0">
                <a:solidFill>
                  <a:srgbClr val="00704A"/>
                </a:solidFill>
                <a:latin typeface="Calibri" pitchFamily="34" charset="0"/>
                <a:ea typeface="Calibri" pitchFamily="34" charset="-122"/>
                <a:cs typeface="Calibri" pitchFamily="34" charset="-120"/>
              </a:rPr>
              <a:t>Pourquoi le lien lumière–production varie</a:t>
            </a:r>
            <a:endParaRPr lang="en-US" sz="1350" dirty="0"/>
          </a:p>
        </p:txBody>
      </p:sp>
      <p:sp>
        <p:nvSpPr>
          <p:cNvPr id="34" name="Shape 28"/>
          <p:cNvSpPr/>
          <p:nvPr/>
        </p:nvSpPr>
        <p:spPr>
          <a:xfrm>
            <a:off x="4892040" y="1627632"/>
            <a:ext cx="3794760" cy="1847088"/>
          </a:xfrm>
          <a:prstGeom prst="roundRect">
            <a:avLst>
              <a:gd name="adj" fmla="val 3960"/>
            </a:avLst>
          </a:prstGeom>
          <a:solidFill>
            <a:srgbClr val="F4F7F5"/>
          </a:solidFill>
          <a:ln w="9525">
            <a:solidFill>
              <a:srgbClr val="D5DED9"/>
            </a:solidFill>
            <a:prstDash val="solid"/>
          </a:ln>
        </p:spPr>
      </p:sp>
      <p:sp>
        <p:nvSpPr>
          <p:cNvPr id="35" name="Shape 29"/>
          <p:cNvSpPr/>
          <p:nvPr/>
        </p:nvSpPr>
        <p:spPr>
          <a:xfrm>
            <a:off x="5001768" y="1737360"/>
            <a:ext cx="329184" cy="329184"/>
          </a:xfrm>
          <a:prstGeom prst="ellipse">
            <a:avLst/>
          </a:prstGeom>
          <a:solidFill>
            <a:srgbClr val="C4621D">
              <a:alpha val="22000"/>
            </a:srgbClr>
          </a:solidFill>
          <a:ln w="12700">
            <a:solidFill>
              <a:srgbClr val="C4621D">
                <a:alpha val="0"/>
              </a:srgbClr>
            </a:solidFill>
            <a:prstDash val="solid"/>
          </a:ln>
        </p:spPr>
      </p:sp>
      <p:pic>
        <p:nvPicPr>
          <p:cNvPr id="36" name="Image 3" descr="preencoded.png">    </p:cNvPr>
          <p:cNvPicPr>
            <a:picLocks noChangeAspect="1"/>
          </p:cNvPicPr>
          <p:nvPr/>
        </p:nvPicPr>
        <p:blipFill>
          <a:blip r:embed="rId4"/>
          <a:stretch>
            <a:fillRect/>
          </a:stretch>
        </p:blipFill>
        <p:spPr>
          <a:xfrm>
            <a:off x="5087356" y="1822948"/>
            <a:ext cx="158008" cy="158008"/>
          </a:xfrm>
          <a:prstGeom prst="rect">
            <a:avLst/>
          </a:prstGeom>
        </p:spPr>
      </p:pic>
      <p:sp>
        <p:nvSpPr>
          <p:cNvPr id="37" name="Text 30"/>
          <p:cNvSpPr txBox="1"/>
          <p:nvPr/>
        </p:nvSpPr>
        <p:spPr>
          <a:xfrm>
            <a:off x="5440680" y="1700784"/>
            <a:ext cx="3182112"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Structure sectorielle : agriculture et mines créent de la valeur avec peu de lumière</a:t>
            </a:r>
            <a:endParaRPr lang="en-US" sz="950" dirty="0"/>
          </a:p>
        </p:txBody>
      </p:sp>
      <p:sp>
        <p:nvSpPr>
          <p:cNvPr id="38" name="Shape 31"/>
          <p:cNvSpPr/>
          <p:nvPr/>
        </p:nvSpPr>
        <p:spPr>
          <a:xfrm>
            <a:off x="5001768" y="2167128"/>
            <a:ext cx="329184" cy="329184"/>
          </a:xfrm>
          <a:prstGeom prst="ellipse">
            <a:avLst/>
          </a:prstGeom>
          <a:solidFill>
            <a:srgbClr val="C4621D">
              <a:alpha val="22000"/>
            </a:srgbClr>
          </a:solidFill>
          <a:ln w="12700">
            <a:solidFill>
              <a:srgbClr val="C4621D">
                <a:alpha val="0"/>
              </a:srgbClr>
            </a:solidFill>
            <a:prstDash val="solid"/>
          </a:ln>
        </p:spPr>
      </p:sp>
      <p:pic>
        <p:nvPicPr>
          <p:cNvPr id="39" name="Image 4" descr="preencoded.png">    </p:cNvPr>
          <p:cNvPicPr>
            <a:picLocks noChangeAspect="1"/>
          </p:cNvPicPr>
          <p:nvPr/>
        </p:nvPicPr>
        <p:blipFill>
          <a:blip r:embed="rId5"/>
          <a:stretch>
            <a:fillRect/>
          </a:stretch>
        </p:blipFill>
        <p:spPr>
          <a:xfrm>
            <a:off x="5087356" y="2252716"/>
            <a:ext cx="158008" cy="158008"/>
          </a:xfrm>
          <a:prstGeom prst="rect">
            <a:avLst/>
          </a:prstGeom>
        </p:spPr>
      </p:pic>
      <p:sp>
        <p:nvSpPr>
          <p:cNvPr id="40" name="Text 32"/>
          <p:cNvSpPr txBox="1"/>
          <p:nvPr/>
        </p:nvSpPr>
        <p:spPr>
          <a:xfrm>
            <a:off x="5440680" y="2130552"/>
            <a:ext cx="3182112"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Niveau de revenu : les centres lumineux saturent ou plafonnent</a:t>
            </a:r>
            <a:endParaRPr lang="en-US" sz="950" dirty="0"/>
          </a:p>
        </p:txBody>
      </p:sp>
      <p:sp>
        <p:nvSpPr>
          <p:cNvPr id="41" name="Shape 33"/>
          <p:cNvSpPr/>
          <p:nvPr/>
        </p:nvSpPr>
        <p:spPr>
          <a:xfrm>
            <a:off x="5001768" y="2596896"/>
            <a:ext cx="329184" cy="329184"/>
          </a:xfrm>
          <a:prstGeom prst="ellipse">
            <a:avLst/>
          </a:prstGeom>
          <a:solidFill>
            <a:srgbClr val="C4621D">
              <a:alpha val="22000"/>
            </a:srgbClr>
          </a:solidFill>
          <a:ln w="12700">
            <a:solidFill>
              <a:srgbClr val="C4621D">
                <a:alpha val="0"/>
              </a:srgbClr>
            </a:solidFill>
            <a:prstDash val="solid"/>
          </a:ln>
        </p:spPr>
      </p:sp>
      <p:pic>
        <p:nvPicPr>
          <p:cNvPr id="42" name="Image 5" descr="preencoded.png">    </p:cNvPr>
          <p:cNvPicPr>
            <a:picLocks noChangeAspect="1"/>
          </p:cNvPicPr>
          <p:nvPr/>
        </p:nvPicPr>
        <p:blipFill>
          <a:blip r:embed="rId6"/>
          <a:stretch>
            <a:fillRect/>
          </a:stretch>
        </p:blipFill>
        <p:spPr>
          <a:xfrm>
            <a:off x="5087356" y="2682484"/>
            <a:ext cx="158008" cy="158008"/>
          </a:xfrm>
          <a:prstGeom prst="rect">
            <a:avLst/>
          </a:prstGeom>
        </p:spPr>
      </p:pic>
      <p:sp>
        <p:nvSpPr>
          <p:cNvPr id="43" name="Text 34"/>
          <p:cNvSpPr txBox="1"/>
          <p:nvPr/>
        </p:nvSpPr>
        <p:spPr>
          <a:xfrm>
            <a:off x="5440680" y="2560320"/>
            <a:ext cx="3182112"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Technologie : le passage aux LED change la lumière par watt</a:t>
            </a:r>
            <a:endParaRPr lang="en-US" sz="950" dirty="0"/>
          </a:p>
        </p:txBody>
      </p:sp>
      <p:sp>
        <p:nvSpPr>
          <p:cNvPr id="44" name="Shape 35"/>
          <p:cNvSpPr/>
          <p:nvPr/>
        </p:nvSpPr>
        <p:spPr>
          <a:xfrm>
            <a:off x="5001768" y="3026664"/>
            <a:ext cx="329184" cy="329184"/>
          </a:xfrm>
          <a:prstGeom prst="ellipse">
            <a:avLst/>
          </a:prstGeom>
          <a:solidFill>
            <a:srgbClr val="C4621D">
              <a:alpha val="22000"/>
            </a:srgbClr>
          </a:solidFill>
          <a:ln w="12700">
            <a:solidFill>
              <a:srgbClr val="C4621D">
                <a:alpha val="0"/>
              </a:srgbClr>
            </a:solidFill>
            <a:prstDash val="solid"/>
          </a:ln>
        </p:spPr>
      </p:sp>
      <p:pic>
        <p:nvPicPr>
          <p:cNvPr id="45" name="Image 6" descr="preencoded.png">    </p:cNvPr>
          <p:cNvPicPr>
            <a:picLocks noChangeAspect="1"/>
          </p:cNvPicPr>
          <p:nvPr/>
        </p:nvPicPr>
        <p:blipFill>
          <a:blip r:embed="rId7"/>
          <a:stretch>
            <a:fillRect/>
          </a:stretch>
        </p:blipFill>
        <p:spPr>
          <a:xfrm>
            <a:off x="5087356" y="3112252"/>
            <a:ext cx="158008" cy="158008"/>
          </a:xfrm>
          <a:prstGeom prst="rect">
            <a:avLst/>
          </a:prstGeom>
        </p:spPr>
      </p:pic>
      <p:sp>
        <p:nvSpPr>
          <p:cNvPr id="46" name="Text 36"/>
          <p:cNvSpPr txBox="1"/>
          <p:nvPr/>
        </p:nvSpPr>
        <p:spPr>
          <a:xfrm>
            <a:off x="5440680" y="2990088"/>
            <a:ext cx="3182112" cy="40233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Approvisionnement : les délestages éteignent les lumières, pas la production</a:t>
            </a:r>
            <a:endParaRPr lang="en-US" sz="950" dirty="0"/>
          </a:p>
        </p:txBody>
      </p:sp>
      <p:sp>
        <p:nvSpPr>
          <p:cNvPr id="47" name="Shape 37"/>
          <p:cNvSpPr/>
          <p:nvPr/>
        </p:nvSpPr>
        <p:spPr>
          <a:xfrm>
            <a:off x="4892040" y="3584448"/>
            <a:ext cx="3794760" cy="868680"/>
          </a:xfrm>
          <a:prstGeom prst="roundRect">
            <a:avLst>
              <a:gd name="adj" fmla="val 8421"/>
            </a:avLst>
          </a:prstGeom>
          <a:solidFill>
            <a:srgbClr val="E8F5EF"/>
          </a:solidFill>
          <a:ln w="15875">
            <a:solidFill>
              <a:srgbClr val="D49A00"/>
            </a:solidFill>
            <a:prstDash val="solid"/>
          </a:ln>
        </p:spPr>
      </p:sp>
      <p:sp>
        <p:nvSpPr>
          <p:cNvPr id="48" name="Text 38"/>
          <p:cNvSpPr txBox="1"/>
          <p:nvPr/>
        </p:nvSpPr>
        <p:spPr>
          <a:xfrm>
            <a:off x="5029200" y="3657600"/>
            <a:ext cx="3566160" cy="182880"/>
          </a:xfrm>
          <a:prstGeom prst="rect">
            <a:avLst/>
          </a:prstGeom>
          <a:noFill/>
          <a:ln/>
        </p:spPr>
        <p:txBody>
          <a:bodyPr wrap="square" lIns="0" tIns="0" rIns="0" bIns="0" rtlCol="0" anchor="t"/>
          <a:lstStyle/>
          <a:p>
            <a:pPr indent="0" marL="0">
              <a:buNone/>
            </a:pPr>
            <a:r>
              <a:rPr lang="en-US" sz="900" b="1" spc="200" kern="0" dirty="0">
                <a:solidFill>
                  <a:srgbClr val="D49A00"/>
                </a:solidFill>
                <a:latin typeface="Calibri" pitchFamily="34" charset="0"/>
                <a:ea typeface="Calibri" pitchFamily="34" charset="-122"/>
                <a:cs typeface="Calibri" pitchFamily="34" charset="-120"/>
              </a:rPr>
              <a:t>LÀ OÙ LES LUMIÈRES SONT LES PLUS UTILES</a:t>
            </a:r>
            <a:endParaRPr lang="en-US" sz="900" dirty="0"/>
          </a:p>
        </p:txBody>
      </p:sp>
      <p:sp>
        <p:nvSpPr>
          <p:cNvPr id="49" name="Shape 39"/>
          <p:cNvSpPr/>
          <p:nvPr/>
        </p:nvSpPr>
        <p:spPr>
          <a:xfrm>
            <a:off x="5001768" y="3977640"/>
            <a:ext cx="1143000" cy="274320"/>
          </a:xfrm>
          <a:prstGeom prst="roundRect">
            <a:avLst>
              <a:gd name="adj" fmla="val 50000"/>
            </a:avLst>
          </a:prstGeom>
          <a:solidFill>
            <a:srgbClr val="00704A">
              <a:alpha val="15000"/>
            </a:srgbClr>
          </a:solidFill>
          <a:ln w="9525">
            <a:solidFill>
              <a:srgbClr val="00704A"/>
            </a:solidFill>
            <a:prstDash val="solid"/>
          </a:ln>
        </p:spPr>
      </p:sp>
      <p:sp>
        <p:nvSpPr>
          <p:cNvPr id="50" name="Text 40"/>
          <p:cNvSpPr txBox="1"/>
          <p:nvPr/>
        </p:nvSpPr>
        <p:spPr>
          <a:xfrm>
            <a:off x="5001768" y="3977640"/>
            <a:ext cx="1143000" cy="274320"/>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Infranational</a:t>
            </a:r>
            <a:endParaRPr lang="en-US" sz="850" dirty="0"/>
          </a:p>
        </p:txBody>
      </p:sp>
      <p:sp>
        <p:nvSpPr>
          <p:cNvPr id="51" name="Shape 41"/>
          <p:cNvSpPr/>
          <p:nvPr/>
        </p:nvSpPr>
        <p:spPr>
          <a:xfrm>
            <a:off x="6217920" y="3977640"/>
            <a:ext cx="1143000" cy="274320"/>
          </a:xfrm>
          <a:prstGeom prst="roundRect">
            <a:avLst>
              <a:gd name="adj" fmla="val 50000"/>
            </a:avLst>
          </a:prstGeom>
          <a:solidFill>
            <a:srgbClr val="00704A">
              <a:alpha val="15000"/>
            </a:srgbClr>
          </a:solidFill>
          <a:ln w="9525">
            <a:solidFill>
              <a:srgbClr val="00704A"/>
            </a:solidFill>
            <a:prstDash val="solid"/>
          </a:ln>
        </p:spPr>
      </p:sp>
      <p:sp>
        <p:nvSpPr>
          <p:cNvPr id="52" name="Text 42"/>
          <p:cNvSpPr txBox="1"/>
          <p:nvPr/>
        </p:nvSpPr>
        <p:spPr>
          <a:xfrm>
            <a:off x="6217920" y="3977640"/>
            <a:ext cx="1143000" cy="274320"/>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Haute fréquence</a:t>
            </a:r>
            <a:endParaRPr lang="en-US" sz="850" dirty="0"/>
          </a:p>
        </p:txBody>
      </p:sp>
      <p:sp>
        <p:nvSpPr>
          <p:cNvPr id="53" name="Shape 43"/>
          <p:cNvSpPr/>
          <p:nvPr/>
        </p:nvSpPr>
        <p:spPr>
          <a:xfrm>
            <a:off x="7434072" y="3977640"/>
            <a:ext cx="1143000" cy="274320"/>
          </a:xfrm>
          <a:prstGeom prst="roundRect">
            <a:avLst>
              <a:gd name="adj" fmla="val 50000"/>
            </a:avLst>
          </a:prstGeom>
          <a:solidFill>
            <a:srgbClr val="00704A">
              <a:alpha val="15000"/>
            </a:srgbClr>
          </a:solidFill>
          <a:ln w="9525">
            <a:solidFill>
              <a:srgbClr val="00704A"/>
            </a:solidFill>
            <a:prstDash val="solid"/>
          </a:ln>
        </p:spPr>
      </p:sp>
      <p:sp>
        <p:nvSpPr>
          <p:cNvPr id="54" name="Text 44"/>
          <p:cNvSpPr txBox="1"/>
          <p:nvPr/>
        </p:nvSpPr>
        <p:spPr>
          <a:xfrm>
            <a:off x="7434072" y="3977640"/>
            <a:ext cx="1143000" cy="274320"/>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Économie informelle</a:t>
            </a:r>
            <a:endParaRPr lang="en-US" sz="850" dirty="0"/>
          </a:p>
        </p:txBody>
      </p:sp>
      <p:sp>
        <p:nvSpPr>
          <p:cNvPr id="55" name="Text 45"/>
          <p:cNvSpPr txBox="1"/>
          <p:nvPr/>
        </p:nvSpPr>
        <p:spPr>
          <a:xfrm>
            <a:off x="457200" y="4617720"/>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Sources : Henderson et al. (2012) AER 102(2) ; Bruederle et Hodler (2018) PLOS ONE 13(9) ; Martinez (2022) JPE 130(10).</a:t>
            </a:r>
            <a:endParaRPr lang="en-US" sz="9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APPLICATIONS · APPLICATION 02</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Accès à l’énergie et ODD 7 : le grand défi africain</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7" name="Shape 14"/>
          <p:cNvSpPr/>
          <p:nvPr/>
        </p:nvSpPr>
        <p:spPr>
          <a:xfrm>
            <a:off x="457200" y="1325880"/>
            <a:ext cx="1874520" cy="960120"/>
          </a:xfrm>
          <a:prstGeom prst="roundRect">
            <a:avLst>
              <a:gd name="adj" fmla="val 7619"/>
            </a:avLst>
          </a:prstGeom>
          <a:solidFill>
            <a:srgbClr val="E8F5EF"/>
          </a:solidFill>
          <a:ln w="15875">
            <a:solidFill>
              <a:srgbClr val="00A86A"/>
            </a:solidFill>
            <a:prstDash val="solid"/>
          </a:ln>
        </p:spPr>
      </p:sp>
      <p:sp>
        <p:nvSpPr>
          <p:cNvPr id="18" name="Text 15"/>
          <p:cNvSpPr txBox="1"/>
          <p:nvPr/>
        </p:nvSpPr>
        <p:spPr>
          <a:xfrm>
            <a:off x="502920" y="1344168"/>
            <a:ext cx="1783080" cy="502920"/>
          </a:xfrm>
          <a:prstGeom prst="rect">
            <a:avLst/>
          </a:prstGeom>
          <a:noFill/>
          <a:ln/>
        </p:spPr>
        <p:txBody>
          <a:bodyPr wrap="square" lIns="0" tIns="0" rIns="0" bIns="0" rtlCol="0" anchor="ctr"/>
          <a:lstStyle/>
          <a:p>
            <a:pPr algn="ctr" indent="0" marL="0">
              <a:buNone/>
            </a:pPr>
            <a:r>
              <a:rPr lang="en-US" sz="3200" b="1" dirty="0">
                <a:solidFill>
                  <a:srgbClr val="00704A"/>
                </a:solidFill>
                <a:latin typeface="Calibri" pitchFamily="34" charset="0"/>
                <a:ea typeface="Calibri" pitchFamily="34" charset="-122"/>
                <a:cs typeface="Calibri" pitchFamily="34" charset="-120"/>
              </a:rPr>
              <a:t>655 M</a:t>
            </a:r>
            <a:endParaRPr lang="en-US" sz="3200" dirty="0"/>
          </a:p>
        </p:txBody>
      </p:sp>
      <p:sp>
        <p:nvSpPr>
          <p:cNvPr id="19" name="Text 16"/>
          <p:cNvSpPr txBox="1"/>
          <p:nvPr/>
        </p:nvSpPr>
        <p:spPr>
          <a:xfrm>
            <a:off x="548640" y="1847088"/>
            <a:ext cx="1691640" cy="411480"/>
          </a:xfrm>
          <a:prstGeom prst="rect">
            <a:avLst/>
          </a:prstGeom>
          <a:noFill/>
          <a:ln/>
        </p:spPr>
        <p:txBody>
          <a:bodyPr wrap="square" lIns="0" tIns="0" rIns="0" bIns="0" rtlCol="0" anchor="t"/>
          <a:lstStyle/>
          <a:p>
            <a:pPr algn="ctr" indent="0" marL="0">
              <a:buNone/>
            </a:pPr>
            <a:r>
              <a:rPr lang="en-US" sz="900" dirty="0">
                <a:solidFill>
                  <a:srgbClr val="5E6964"/>
                </a:solidFill>
                <a:latin typeface="Calibri" pitchFamily="34" charset="0"/>
                <a:ea typeface="Calibri" pitchFamily="34" charset="-122"/>
                <a:cs typeface="Calibri" pitchFamily="34" charset="-120"/>
              </a:rPr>
              <a:t>personnes sans électricité dans le monde (2024)</a:t>
            </a:r>
            <a:endParaRPr lang="en-US" sz="900" dirty="0"/>
          </a:p>
        </p:txBody>
      </p:sp>
      <p:sp>
        <p:nvSpPr>
          <p:cNvPr id="20" name="Shape 17"/>
          <p:cNvSpPr/>
          <p:nvPr/>
        </p:nvSpPr>
        <p:spPr>
          <a:xfrm>
            <a:off x="2468880" y="1325880"/>
            <a:ext cx="1874520" cy="960120"/>
          </a:xfrm>
          <a:prstGeom prst="roundRect">
            <a:avLst>
              <a:gd name="adj" fmla="val 7619"/>
            </a:avLst>
          </a:prstGeom>
          <a:solidFill>
            <a:srgbClr val="E8F5EF"/>
          </a:solidFill>
          <a:ln w="15875">
            <a:solidFill>
              <a:srgbClr val="B83B2E"/>
            </a:solidFill>
            <a:prstDash val="solid"/>
          </a:ln>
        </p:spPr>
      </p:sp>
      <p:sp>
        <p:nvSpPr>
          <p:cNvPr id="21" name="Text 18"/>
          <p:cNvSpPr txBox="1"/>
          <p:nvPr/>
        </p:nvSpPr>
        <p:spPr>
          <a:xfrm>
            <a:off x="2514600" y="1344168"/>
            <a:ext cx="1783080" cy="502920"/>
          </a:xfrm>
          <a:prstGeom prst="rect">
            <a:avLst/>
          </a:prstGeom>
          <a:noFill/>
          <a:ln/>
        </p:spPr>
        <p:txBody>
          <a:bodyPr wrap="square" lIns="0" tIns="0" rIns="0" bIns="0" rtlCol="0" anchor="ctr"/>
          <a:lstStyle/>
          <a:p>
            <a:pPr algn="ctr" indent="0" marL="0">
              <a:buNone/>
            </a:pPr>
            <a:r>
              <a:rPr lang="en-US" sz="3200" b="1" dirty="0">
                <a:solidFill>
                  <a:srgbClr val="B83B2E"/>
                </a:solidFill>
                <a:latin typeface="Calibri" pitchFamily="34" charset="0"/>
                <a:ea typeface="Calibri" pitchFamily="34" charset="-122"/>
                <a:cs typeface="Calibri" pitchFamily="34" charset="-120"/>
              </a:rPr>
              <a:t>&gt; 560 M</a:t>
            </a:r>
            <a:endParaRPr lang="en-US" sz="3200" dirty="0"/>
          </a:p>
        </p:txBody>
      </p:sp>
      <p:sp>
        <p:nvSpPr>
          <p:cNvPr id="22" name="Text 19"/>
          <p:cNvSpPr txBox="1"/>
          <p:nvPr/>
        </p:nvSpPr>
        <p:spPr>
          <a:xfrm>
            <a:off x="2560320" y="1847088"/>
            <a:ext cx="1691640" cy="411480"/>
          </a:xfrm>
          <a:prstGeom prst="rect">
            <a:avLst/>
          </a:prstGeom>
          <a:noFill/>
          <a:ln/>
        </p:spPr>
        <p:txBody>
          <a:bodyPr wrap="square" lIns="0" tIns="0" rIns="0" bIns="0" rtlCol="0" anchor="t"/>
          <a:lstStyle/>
          <a:p>
            <a:pPr algn="ctr" indent="0" marL="0">
              <a:buNone/>
            </a:pPr>
            <a:r>
              <a:rPr lang="en-US" sz="900" dirty="0">
                <a:solidFill>
                  <a:srgbClr val="5E6964"/>
                </a:solidFill>
                <a:latin typeface="Calibri" pitchFamily="34" charset="0"/>
                <a:ea typeface="Calibri" pitchFamily="34" charset="-122"/>
                <a:cs typeface="Calibri" pitchFamily="34" charset="-120"/>
              </a:rPr>
              <a:t>d’entre elles en Afrique subsaharienne</a:t>
            </a:r>
            <a:endParaRPr lang="en-US" sz="900" dirty="0"/>
          </a:p>
        </p:txBody>
      </p:sp>
      <p:graphicFrame>
        <p:nvGraphicFramePr>
          <p:cNvPr id="23" name="Chart 0" descr=""/>
          <p:cNvGraphicFramePr/>
          <p:nvPr/>
        </p:nvGraphicFramePr>
        <p:xfrm>
          <a:off x="457200" y="2377440"/>
          <a:ext cx="3886200" cy="2011680"/>
        </p:xfrm>
        <a:graphic xmlns:a="http://schemas.openxmlformats.org/drawingml/2006/main">
          <a:graphicData uri="http://schemas.openxmlformats.org/drawingml/2006/chart">
            <c:chart xmlns:c="http://schemas.openxmlformats.org/drawingml/2006/chart" r:id="rId1"/>
          </a:graphicData>
        </a:graphic>
      </p:graphicFrame>
      <p:sp>
        <p:nvSpPr>
          <p:cNvPr id="24" name="Shape 20"/>
          <p:cNvSpPr/>
          <p:nvPr/>
        </p:nvSpPr>
        <p:spPr>
          <a:xfrm>
            <a:off x="4572000" y="1325880"/>
            <a:ext cx="4114800" cy="585216"/>
          </a:xfrm>
          <a:prstGeom prst="roundRect">
            <a:avLst>
              <a:gd name="adj" fmla="val 12500"/>
            </a:avLst>
          </a:prstGeom>
          <a:solidFill>
            <a:srgbClr val="F4F7F5"/>
          </a:solidFill>
          <a:ln w="9525">
            <a:solidFill>
              <a:srgbClr val="D5DED9"/>
            </a:solidFill>
            <a:prstDash val="solid"/>
          </a:ln>
        </p:spPr>
      </p:sp>
      <p:sp>
        <p:nvSpPr>
          <p:cNvPr id="25" name="Shape 21"/>
          <p:cNvSpPr/>
          <p:nvPr/>
        </p:nvSpPr>
        <p:spPr>
          <a:xfrm>
            <a:off x="4663440" y="1426464"/>
            <a:ext cx="384048" cy="384048"/>
          </a:xfrm>
          <a:prstGeom prst="ellipse">
            <a:avLst/>
          </a:prstGeom>
          <a:solidFill>
            <a:srgbClr val="D49A00">
              <a:alpha val="22000"/>
            </a:srgbClr>
          </a:solidFill>
          <a:ln w="12700">
            <a:solidFill>
              <a:srgbClr val="D49A00">
                <a:alpha val="0"/>
              </a:srgbClr>
            </a:solidFill>
            <a:prstDash val="solid"/>
          </a:ln>
        </p:spPr>
      </p:sp>
      <p:pic>
        <p:nvPicPr>
          <p:cNvPr id="26" name="Image 0" descr="preencoded.png">    </p:cNvPr>
          <p:cNvPicPr>
            <a:picLocks noChangeAspect="1"/>
          </p:cNvPicPr>
          <p:nvPr/>
        </p:nvPicPr>
        <p:blipFill>
          <a:blip r:embed="rId2"/>
          <a:stretch>
            <a:fillRect/>
          </a:stretch>
        </p:blipFill>
        <p:spPr>
          <a:xfrm>
            <a:off x="4763292" y="1526316"/>
            <a:ext cx="184343" cy="184343"/>
          </a:xfrm>
          <a:prstGeom prst="rect">
            <a:avLst/>
          </a:prstGeom>
        </p:spPr>
      </p:pic>
      <p:sp>
        <p:nvSpPr>
          <p:cNvPr id="27" name="Text 22"/>
          <p:cNvSpPr txBox="1"/>
          <p:nvPr/>
        </p:nvSpPr>
        <p:spPr>
          <a:xfrm>
            <a:off x="5138928" y="1362456"/>
            <a:ext cx="347472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Localiser les non-desservis</a:t>
            </a:r>
            <a:endParaRPr lang="en-US" sz="1050" dirty="0"/>
          </a:p>
        </p:txBody>
      </p:sp>
      <p:sp>
        <p:nvSpPr>
          <p:cNvPr id="28" name="Text 23"/>
          <p:cNvSpPr txBox="1"/>
          <p:nvPr/>
        </p:nvSpPr>
        <p:spPr>
          <a:xfrm>
            <a:off x="5138928" y="1563624"/>
            <a:ext cx="3493008" cy="329184"/>
          </a:xfrm>
          <a:prstGeom prst="rect">
            <a:avLst/>
          </a:prstGeom>
          <a:noFill/>
          <a:ln/>
        </p:spPr>
        <p:txBody>
          <a:bodyPr wrap="square" lIns="0" tIns="0" rIns="0" bIns="0" rtlCol="0" anchor="t"/>
          <a:lstStyle/>
          <a:p>
            <a:pPr indent="0" marL="0">
              <a:buNone/>
            </a:pPr>
            <a:r>
              <a:rPr lang="en-US" sz="850" dirty="0">
                <a:solidFill>
                  <a:srgbClr val="5E6964"/>
                </a:solidFill>
                <a:latin typeface="Calibri" pitchFamily="34" charset="0"/>
                <a:ea typeface="Calibri" pitchFamily="34" charset="-122"/>
                <a:cs typeface="Calibri" pitchFamily="34" charset="-120"/>
              </a:rPr>
              <a:t>Localités visibles de jour mais sombres la nuit : communautés probablement non électrifiées.</a:t>
            </a:r>
            <a:endParaRPr lang="en-US" sz="850" dirty="0"/>
          </a:p>
        </p:txBody>
      </p:sp>
      <p:sp>
        <p:nvSpPr>
          <p:cNvPr id="29" name="Shape 24"/>
          <p:cNvSpPr/>
          <p:nvPr/>
        </p:nvSpPr>
        <p:spPr>
          <a:xfrm>
            <a:off x="4572000" y="1993392"/>
            <a:ext cx="4114800" cy="585216"/>
          </a:xfrm>
          <a:prstGeom prst="roundRect">
            <a:avLst>
              <a:gd name="adj" fmla="val 12500"/>
            </a:avLst>
          </a:prstGeom>
          <a:solidFill>
            <a:srgbClr val="F4F7F5"/>
          </a:solidFill>
          <a:ln w="9525">
            <a:solidFill>
              <a:srgbClr val="D5DED9"/>
            </a:solidFill>
            <a:prstDash val="solid"/>
          </a:ln>
        </p:spPr>
      </p:sp>
      <p:sp>
        <p:nvSpPr>
          <p:cNvPr id="30" name="Shape 25"/>
          <p:cNvSpPr/>
          <p:nvPr/>
        </p:nvSpPr>
        <p:spPr>
          <a:xfrm>
            <a:off x="4663440" y="2093976"/>
            <a:ext cx="384048" cy="384048"/>
          </a:xfrm>
          <a:prstGeom prst="ellipse">
            <a:avLst/>
          </a:prstGeom>
          <a:solidFill>
            <a:srgbClr val="D49A00">
              <a:alpha val="22000"/>
            </a:srgbClr>
          </a:solidFill>
          <a:ln w="12700">
            <a:solidFill>
              <a:srgbClr val="D49A00">
                <a:alpha val="0"/>
              </a:srgbClr>
            </a:solidFill>
            <a:prstDash val="solid"/>
          </a:ln>
        </p:spPr>
      </p:sp>
      <p:pic>
        <p:nvPicPr>
          <p:cNvPr id="31" name="Image 1" descr="preencoded.png">    </p:cNvPr>
          <p:cNvPicPr>
            <a:picLocks noChangeAspect="1"/>
          </p:cNvPicPr>
          <p:nvPr/>
        </p:nvPicPr>
        <p:blipFill>
          <a:blip r:embed="rId3"/>
          <a:stretch>
            <a:fillRect/>
          </a:stretch>
        </p:blipFill>
        <p:spPr>
          <a:xfrm>
            <a:off x="4763292" y="2193828"/>
            <a:ext cx="184343" cy="184343"/>
          </a:xfrm>
          <a:prstGeom prst="rect">
            <a:avLst/>
          </a:prstGeom>
        </p:spPr>
      </p:pic>
      <p:sp>
        <p:nvSpPr>
          <p:cNvPr id="32" name="Text 26"/>
          <p:cNvSpPr txBox="1"/>
          <p:nvPr/>
        </p:nvSpPr>
        <p:spPr>
          <a:xfrm>
            <a:off x="5138928" y="2029968"/>
            <a:ext cx="347472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Vérifier les programmes</a:t>
            </a:r>
            <a:endParaRPr lang="en-US" sz="1050" dirty="0"/>
          </a:p>
        </p:txBody>
      </p:sp>
      <p:sp>
        <p:nvSpPr>
          <p:cNvPr id="33" name="Text 27"/>
          <p:cNvSpPr txBox="1"/>
          <p:nvPr/>
        </p:nvSpPr>
        <p:spPr>
          <a:xfrm>
            <a:off x="5138928" y="2231136"/>
            <a:ext cx="3493008" cy="329184"/>
          </a:xfrm>
          <a:prstGeom prst="rect">
            <a:avLst/>
          </a:prstGeom>
          <a:noFill/>
          <a:ln/>
        </p:spPr>
        <p:txBody>
          <a:bodyPr wrap="square" lIns="0" tIns="0" rIns="0" bIns="0" rtlCol="0" anchor="t"/>
          <a:lstStyle/>
          <a:p>
            <a:pPr indent="0" marL="0">
              <a:buNone/>
            </a:pPr>
            <a:r>
              <a:rPr lang="en-US" sz="850" dirty="0">
                <a:solidFill>
                  <a:srgbClr val="5E6964"/>
                </a:solidFill>
                <a:latin typeface="Calibri" pitchFamily="34" charset="0"/>
                <a:ea typeface="Calibri" pitchFamily="34" charset="-122"/>
                <a:cs typeface="Calibri" pitchFamily="34" charset="-120"/>
              </a:rPr>
              <a:t>Une extension de réseau qui ne produit aucune lumière n’a, en pratique, rien livré.</a:t>
            </a:r>
            <a:endParaRPr lang="en-US" sz="850" dirty="0"/>
          </a:p>
        </p:txBody>
      </p:sp>
      <p:sp>
        <p:nvSpPr>
          <p:cNvPr id="34" name="Shape 28"/>
          <p:cNvSpPr/>
          <p:nvPr/>
        </p:nvSpPr>
        <p:spPr>
          <a:xfrm>
            <a:off x="4572000" y="2660904"/>
            <a:ext cx="4114800" cy="585216"/>
          </a:xfrm>
          <a:prstGeom prst="roundRect">
            <a:avLst>
              <a:gd name="adj" fmla="val 12500"/>
            </a:avLst>
          </a:prstGeom>
          <a:solidFill>
            <a:srgbClr val="F4F7F5"/>
          </a:solidFill>
          <a:ln w="9525">
            <a:solidFill>
              <a:srgbClr val="D5DED9"/>
            </a:solidFill>
            <a:prstDash val="solid"/>
          </a:ln>
        </p:spPr>
      </p:sp>
      <p:sp>
        <p:nvSpPr>
          <p:cNvPr id="35" name="Shape 29"/>
          <p:cNvSpPr/>
          <p:nvPr/>
        </p:nvSpPr>
        <p:spPr>
          <a:xfrm>
            <a:off x="4663440" y="2761488"/>
            <a:ext cx="384048" cy="384048"/>
          </a:xfrm>
          <a:prstGeom prst="ellipse">
            <a:avLst/>
          </a:prstGeom>
          <a:solidFill>
            <a:srgbClr val="D49A00">
              <a:alpha val="22000"/>
            </a:srgbClr>
          </a:solidFill>
          <a:ln w="12700">
            <a:solidFill>
              <a:srgbClr val="D49A00">
                <a:alpha val="0"/>
              </a:srgbClr>
            </a:solidFill>
            <a:prstDash val="solid"/>
          </a:ln>
        </p:spPr>
      </p:sp>
      <p:pic>
        <p:nvPicPr>
          <p:cNvPr id="36" name="Image 2" descr="preencoded.png">    </p:cNvPr>
          <p:cNvPicPr>
            <a:picLocks noChangeAspect="1"/>
          </p:cNvPicPr>
          <p:nvPr/>
        </p:nvPicPr>
        <p:blipFill>
          <a:blip r:embed="rId4"/>
          <a:stretch>
            <a:fillRect/>
          </a:stretch>
        </p:blipFill>
        <p:spPr>
          <a:xfrm>
            <a:off x="4763292" y="2861340"/>
            <a:ext cx="184343" cy="184343"/>
          </a:xfrm>
          <a:prstGeom prst="rect">
            <a:avLst/>
          </a:prstGeom>
        </p:spPr>
      </p:pic>
      <p:sp>
        <p:nvSpPr>
          <p:cNvPr id="37" name="Text 30"/>
          <p:cNvSpPr txBox="1"/>
          <p:nvPr/>
        </p:nvSpPr>
        <p:spPr>
          <a:xfrm>
            <a:off x="5138928" y="2697480"/>
            <a:ext cx="347472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Mesurer la fiabilité</a:t>
            </a:r>
            <a:endParaRPr lang="en-US" sz="1050" dirty="0"/>
          </a:p>
        </p:txBody>
      </p:sp>
      <p:sp>
        <p:nvSpPr>
          <p:cNvPr id="38" name="Text 31"/>
          <p:cNvSpPr txBox="1"/>
          <p:nvPr/>
        </p:nvSpPr>
        <p:spPr>
          <a:xfrm>
            <a:off x="5138928" y="2898648"/>
            <a:ext cx="3493008" cy="329184"/>
          </a:xfrm>
          <a:prstGeom prst="rect">
            <a:avLst/>
          </a:prstGeom>
          <a:noFill/>
          <a:ln/>
        </p:spPr>
        <p:txBody>
          <a:bodyPr wrap="square" lIns="0" tIns="0" rIns="0" bIns="0" rtlCol="0" anchor="t"/>
          <a:lstStyle/>
          <a:p>
            <a:pPr indent="0" marL="0">
              <a:buNone/>
            </a:pPr>
            <a:r>
              <a:rPr lang="en-US" sz="850" dirty="0">
                <a:solidFill>
                  <a:srgbClr val="5E6964"/>
                </a:solidFill>
                <a:latin typeface="Calibri" pitchFamily="34" charset="0"/>
                <a:ea typeface="Calibri" pitchFamily="34" charset="-122"/>
                <a:cs typeface="Calibri" pitchFamily="34" charset="-120"/>
              </a:rPr>
              <a:t>Les données quotidiennes montrent la fréquence d’éclairage — les délestages qu’un « raccordé » masque.</a:t>
            </a:r>
            <a:endParaRPr lang="en-US" sz="850" dirty="0"/>
          </a:p>
        </p:txBody>
      </p:sp>
      <p:sp>
        <p:nvSpPr>
          <p:cNvPr id="39" name="Shape 32"/>
          <p:cNvSpPr/>
          <p:nvPr/>
        </p:nvSpPr>
        <p:spPr>
          <a:xfrm>
            <a:off x="4572000" y="3328416"/>
            <a:ext cx="4114800" cy="585216"/>
          </a:xfrm>
          <a:prstGeom prst="roundRect">
            <a:avLst>
              <a:gd name="adj" fmla="val 12500"/>
            </a:avLst>
          </a:prstGeom>
          <a:solidFill>
            <a:srgbClr val="F4F7F5"/>
          </a:solidFill>
          <a:ln w="9525">
            <a:solidFill>
              <a:srgbClr val="D5DED9"/>
            </a:solidFill>
            <a:prstDash val="solid"/>
          </a:ln>
        </p:spPr>
      </p:sp>
      <p:sp>
        <p:nvSpPr>
          <p:cNvPr id="40" name="Shape 33"/>
          <p:cNvSpPr/>
          <p:nvPr/>
        </p:nvSpPr>
        <p:spPr>
          <a:xfrm>
            <a:off x="4663440" y="3429000"/>
            <a:ext cx="384048" cy="384048"/>
          </a:xfrm>
          <a:prstGeom prst="ellipse">
            <a:avLst/>
          </a:prstGeom>
          <a:solidFill>
            <a:srgbClr val="D49A00">
              <a:alpha val="22000"/>
            </a:srgbClr>
          </a:solidFill>
          <a:ln w="12700">
            <a:solidFill>
              <a:srgbClr val="D49A00">
                <a:alpha val="0"/>
              </a:srgbClr>
            </a:solidFill>
            <a:prstDash val="solid"/>
          </a:ln>
        </p:spPr>
      </p:sp>
      <p:pic>
        <p:nvPicPr>
          <p:cNvPr id="41" name="Image 3" descr="preencoded.png">    </p:cNvPr>
          <p:cNvPicPr>
            <a:picLocks noChangeAspect="1"/>
          </p:cNvPicPr>
          <p:nvPr/>
        </p:nvPicPr>
        <p:blipFill>
          <a:blip r:embed="rId5"/>
          <a:stretch>
            <a:fillRect/>
          </a:stretch>
        </p:blipFill>
        <p:spPr>
          <a:xfrm>
            <a:off x="4763292" y="3528852"/>
            <a:ext cx="184343" cy="184343"/>
          </a:xfrm>
          <a:prstGeom prst="rect">
            <a:avLst/>
          </a:prstGeom>
        </p:spPr>
      </p:pic>
      <p:sp>
        <p:nvSpPr>
          <p:cNvPr id="42" name="Text 34"/>
          <p:cNvSpPr txBox="1"/>
          <p:nvPr/>
        </p:nvSpPr>
        <p:spPr>
          <a:xfrm>
            <a:off x="5138928" y="3364992"/>
            <a:ext cx="347472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Planifier le dernier kilomètre</a:t>
            </a:r>
            <a:endParaRPr lang="en-US" sz="1050" dirty="0"/>
          </a:p>
        </p:txBody>
      </p:sp>
      <p:sp>
        <p:nvSpPr>
          <p:cNvPr id="43" name="Text 35"/>
          <p:cNvSpPr txBox="1"/>
          <p:nvPr/>
        </p:nvSpPr>
        <p:spPr>
          <a:xfrm>
            <a:off x="5138928" y="3566160"/>
            <a:ext cx="3493008" cy="329184"/>
          </a:xfrm>
          <a:prstGeom prst="rect">
            <a:avLst/>
          </a:prstGeom>
          <a:noFill/>
          <a:ln/>
        </p:spPr>
        <p:txBody>
          <a:bodyPr wrap="square" lIns="0" tIns="0" rIns="0" bIns="0" rtlCol="0" anchor="t"/>
          <a:lstStyle/>
          <a:p>
            <a:pPr indent="0" marL="0">
              <a:buNone/>
            </a:pPr>
            <a:r>
              <a:rPr lang="en-US" sz="850" dirty="0">
                <a:solidFill>
                  <a:srgbClr val="5E6964"/>
                </a:solidFill>
                <a:latin typeface="Calibri" pitchFamily="34" charset="0"/>
                <a:ea typeface="Calibri" pitchFamily="34" charset="-122"/>
                <a:cs typeface="Calibri" pitchFamily="34" charset="-120"/>
              </a:rPr>
              <a:t>La distance aux corridors éclairés oriente le choix : réseau, mini-réseau ou solaire autonome.</a:t>
            </a:r>
            <a:endParaRPr lang="en-US" sz="850" dirty="0"/>
          </a:p>
        </p:txBody>
      </p:sp>
      <p:sp>
        <p:nvSpPr>
          <p:cNvPr id="44" name="Shape 36"/>
          <p:cNvSpPr/>
          <p:nvPr/>
        </p:nvSpPr>
        <p:spPr>
          <a:xfrm>
            <a:off x="4572000" y="4014216"/>
            <a:ext cx="4114800" cy="457200"/>
          </a:xfrm>
          <a:prstGeom prst="roundRect">
            <a:avLst>
              <a:gd name="adj" fmla="val 16000"/>
            </a:avLst>
          </a:prstGeom>
          <a:solidFill>
            <a:srgbClr val="E8F5EF"/>
          </a:solidFill>
          <a:ln w="15875">
            <a:solidFill>
              <a:srgbClr val="00A86A"/>
            </a:solidFill>
            <a:prstDash val="solid"/>
          </a:ln>
        </p:spPr>
      </p:sp>
      <p:sp>
        <p:nvSpPr>
          <p:cNvPr id="45" name="Text 37"/>
          <p:cNvSpPr txBox="1"/>
          <p:nvPr/>
        </p:nvSpPr>
        <p:spPr>
          <a:xfrm>
            <a:off x="4681728" y="4023360"/>
            <a:ext cx="3931920" cy="438912"/>
          </a:xfrm>
          <a:prstGeom prst="rect">
            <a:avLst/>
          </a:prstGeom>
          <a:noFill/>
          <a:ln/>
        </p:spPr>
        <p:txBody>
          <a:bodyPr wrap="square" lIns="0" tIns="0" rIns="0" bIns="0" rtlCol="0" anchor="ctr"/>
          <a:lstStyle/>
          <a:p>
            <a:pPr indent="0" marL="0">
              <a:buNone/>
            </a:pPr>
            <a:r>
              <a:rPr lang="en-US" sz="900" b="1" dirty="0">
                <a:solidFill>
                  <a:srgbClr val="00704A"/>
                </a:solidFill>
                <a:latin typeface="Calibri" pitchFamily="34" charset="0"/>
                <a:ea typeface="Calibri" pitchFamily="34" charset="-122"/>
                <a:cs typeface="Calibri" pitchFamily="34" charset="-120"/>
              </a:rPr>
              <a:t>Mission 300 </a:t>
            </a:r>
            <a:pPr indent="0" marL="0">
              <a:buNone/>
            </a:pPr>
            <a:r>
              <a:rPr lang="en-US" sz="900" dirty="0">
                <a:solidFill>
                  <a:srgbClr val="231F20"/>
                </a:solidFill>
                <a:latin typeface="Calibri" pitchFamily="34" charset="0"/>
                <a:ea typeface="Calibri" pitchFamily="34" charset="-122"/>
                <a:cs typeface="Calibri" pitchFamily="34" charset="-120"/>
              </a:rPr>
              <a:t>(Groupe Banque mondiale et BAD) : 300 M de personnes raccordées d’ici 2030 — un suivi à cette échelle exige des preuves spatiales.</a:t>
            </a:r>
            <a:endParaRPr lang="en-US" sz="900" dirty="0"/>
          </a:p>
        </p:txBody>
      </p:sp>
      <p:sp>
        <p:nvSpPr>
          <p:cNvPr id="46" name="Text 38"/>
          <p:cNvSpPr txBox="1"/>
          <p:nvPr/>
        </p:nvSpPr>
        <p:spPr>
          <a:xfrm>
            <a:off x="457200" y="4590288"/>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Sources : Tracking SDG 7 (AIE, IRENA, ONU-DAES, Banque mondiale, OMS), 24 juin 2026 ; HREA (Univ. du Michigan).</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APPLICATIONS · APPLICATION 03</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L’urbanisation et la forme des villes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7" name="Shape 14"/>
          <p:cNvSpPr/>
          <p:nvPr/>
        </p:nvSpPr>
        <p:spPr>
          <a:xfrm>
            <a:off x="457200" y="1325880"/>
            <a:ext cx="2194560" cy="2743200"/>
          </a:xfrm>
          <a:prstGeom prst="roundRect">
            <a:avLst>
              <a:gd name="adj" fmla="val 3333"/>
            </a:avLst>
          </a:prstGeom>
          <a:solidFill>
            <a:srgbClr val="F4F7F5"/>
          </a:solidFill>
          <a:ln w="9525">
            <a:solidFill>
              <a:srgbClr val="D5DED9"/>
            </a:solidFill>
            <a:prstDash val="solid"/>
          </a:ln>
        </p:spPr>
      </p:sp>
      <p:sp>
        <p:nvSpPr>
          <p:cNvPr id="18" name="Text 15"/>
          <p:cNvSpPr txBox="1"/>
          <p:nvPr/>
        </p:nvSpPr>
        <p:spPr>
          <a:xfrm>
            <a:off x="457200" y="1389888"/>
            <a:ext cx="2194560" cy="274320"/>
          </a:xfrm>
          <a:prstGeom prst="rect">
            <a:avLst/>
          </a:prstGeom>
          <a:noFill/>
          <a:ln/>
        </p:spPr>
        <p:txBody>
          <a:bodyPr wrap="square" lIns="0" tIns="0" rIns="0" bIns="0" rtlCol="0" anchor="t"/>
          <a:lstStyle/>
          <a:p>
            <a:pPr algn="ctr" indent="0" marL="0">
              <a:buNone/>
            </a:pPr>
            <a:r>
              <a:rPr lang="en-US" sz="1400" b="1" dirty="0">
                <a:solidFill>
                  <a:srgbClr val="0E7C86"/>
                </a:solidFill>
                <a:latin typeface="Calibri" pitchFamily="34" charset="0"/>
                <a:ea typeface="Calibri" pitchFamily="34" charset="-122"/>
                <a:cs typeface="Calibri" pitchFamily="34" charset="-120"/>
              </a:rPr>
              <a:t>Étalement</a:t>
            </a:r>
            <a:endParaRPr lang="en-US" sz="1400" dirty="0"/>
          </a:p>
        </p:txBody>
      </p:sp>
      <p:sp>
        <p:nvSpPr>
          <p:cNvPr id="19" name="Text 16"/>
          <p:cNvSpPr txBox="1"/>
          <p:nvPr/>
        </p:nvSpPr>
        <p:spPr>
          <a:xfrm>
            <a:off x="548640" y="1664208"/>
            <a:ext cx="2011680" cy="36576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L’emprise s’étend vers l’extérieur à faible intensité</a:t>
            </a:r>
            <a:endParaRPr lang="en-US" sz="950" dirty="0"/>
          </a:p>
        </p:txBody>
      </p:sp>
      <p:sp>
        <p:nvSpPr>
          <p:cNvPr id="20" name="Shape 17"/>
          <p:cNvSpPr/>
          <p:nvPr/>
        </p:nvSpPr>
        <p:spPr>
          <a:xfrm>
            <a:off x="502920" y="2123237"/>
            <a:ext cx="2103120" cy="1514246"/>
          </a:xfrm>
          <a:prstGeom prst="ellipse">
            <a:avLst/>
          </a:prstGeom>
          <a:solidFill>
            <a:srgbClr val="0E7C86">
              <a:alpha val="8000"/>
            </a:srgbClr>
          </a:solidFill>
          <a:ln w="9525">
            <a:solidFill>
              <a:srgbClr val="0E7C86">
                <a:alpha val="70000"/>
              </a:srgbClr>
            </a:solidFill>
            <a:prstDash val="solid"/>
          </a:ln>
        </p:spPr>
      </p:sp>
      <p:sp>
        <p:nvSpPr>
          <p:cNvPr id="21" name="Shape 18"/>
          <p:cNvSpPr/>
          <p:nvPr/>
        </p:nvSpPr>
        <p:spPr>
          <a:xfrm>
            <a:off x="777240" y="2320747"/>
            <a:ext cx="1554480" cy="1119226"/>
          </a:xfrm>
          <a:prstGeom prst="ellipse">
            <a:avLst/>
          </a:prstGeom>
          <a:solidFill>
            <a:srgbClr val="0E7C86">
              <a:alpha val="15000"/>
            </a:srgbClr>
          </a:solidFill>
          <a:ln w="9525">
            <a:solidFill>
              <a:srgbClr val="0E7C86">
                <a:alpha val="70000"/>
              </a:srgbClr>
            </a:solidFill>
            <a:prstDash val="solid"/>
          </a:ln>
        </p:spPr>
      </p:sp>
      <p:sp>
        <p:nvSpPr>
          <p:cNvPr id="22" name="Shape 19"/>
          <p:cNvSpPr/>
          <p:nvPr/>
        </p:nvSpPr>
        <p:spPr>
          <a:xfrm>
            <a:off x="1143000" y="2584094"/>
            <a:ext cx="822960" cy="592531"/>
          </a:xfrm>
          <a:prstGeom prst="ellipse">
            <a:avLst/>
          </a:prstGeom>
          <a:solidFill>
            <a:srgbClr val="0E7C86">
              <a:alpha val="55000"/>
            </a:srgbClr>
          </a:solidFill>
          <a:ln w="9525">
            <a:solidFill>
              <a:srgbClr val="0E7C86">
                <a:alpha val="70000"/>
              </a:srgbClr>
            </a:solidFill>
            <a:prstDash val="solid"/>
          </a:ln>
        </p:spPr>
      </p:sp>
      <p:sp>
        <p:nvSpPr>
          <p:cNvPr id="23" name="Shape 20"/>
          <p:cNvSpPr/>
          <p:nvPr/>
        </p:nvSpPr>
        <p:spPr>
          <a:xfrm>
            <a:off x="566928" y="3675888"/>
            <a:ext cx="1975104" cy="274320"/>
          </a:xfrm>
          <a:prstGeom prst="roundRect">
            <a:avLst>
              <a:gd name="adj" fmla="val 50000"/>
            </a:avLst>
          </a:prstGeom>
          <a:solidFill>
            <a:srgbClr val="0E7C86">
              <a:alpha val="15000"/>
            </a:srgbClr>
          </a:solidFill>
          <a:ln w="9525">
            <a:solidFill>
              <a:srgbClr val="0E7C86"/>
            </a:solidFill>
            <a:prstDash val="solid"/>
          </a:ln>
        </p:spPr>
      </p:sp>
      <p:sp>
        <p:nvSpPr>
          <p:cNvPr id="24" name="Text 21"/>
          <p:cNvSpPr txBox="1"/>
          <p:nvPr/>
        </p:nvSpPr>
        <p:spPr>
          <a:xfrm>
            <a:off x="566928" y="3675888"/>
            <a:ext cx="1975104" cy="274320"/>
          </a:xfrm>
          <a:prstGeom prst="rect">
            <a:avLst/>
          </a:prstGeom>
          <a:noFill/>
          <a:ln/>
        </p:spPr>
        <p:txBody>
          <a:bodyPr wrap="square" lIns="0" tIns="0" rIns="0" bIns="0" rtlCol="0" anchor="ctr"/>
          <a:lstStyle/>
          <a:p>
            <a:pPr algn="ctr" indent="0" marL="0">
              <a:buNone/>
            </a:pPr>
            <a:r>
              <a:rPr lang="en-US" sz="900" b="1" dirty="0">
                <a:solidFill>
                  <a:srgbClr val="0E7C86"/>
                </a:solidFill>
                <a:latin typeface="Calibri" pitchFamily="34" charset="0"/>
                <a:ea typeface="Calibri" pitchFamily="34" charset="-122"/>
                <a:cs typeface="Calibri" pitchFamily="34" charset="-120"/>
              </a:rPr>
              <a:t>Surface +40 %  ·  Radiance +6 %</a:t>
            </a:r>
            <a:endParaRPr lang="en-US" sz="900" dirty="0"/>
          </a:p>
        </p:txBody>
      </p:sp>
      <p:sp>
        <p:nvSpPr>
          <p:cNvPr id="25" name="Shape 22"/>
          <p:cNvSpPr/>
          <p:nvPr/>
        </p:nvSpPr>
        <p:spPr>
          <a:xfrm>
            <a:off x="2788920" y="1325880"/>
            <a:ext cx="2194560" cy="2743200"/>
          </a:xfrm>
          <a:prstGeom prst="roundRect">
            <a:avLst>
              <a:gd name="adj" fmla="val 3333"/>
            </a:avLst>
          </a:prstGeom>
          <a:solidFill>
            <a:srgbClr val="F4F7F5"/>
          </a:solidFill>
          <a:ln w="9525">
            <a:solidFill>
              <a:srgbClr val="D5DED9"/>
            </a:solidFill>
            <a:prstDash val="solid"/>
          </a:ln>
        </p:spPr>
      </p:sp>
      <p:sp>
        <p:nvSpPr>
          <p:cNvPr id="26" name="Text 23"/>
          <p:cNvSpPr txBox="1"/>
          <p:nvPr/>
        </p:nvSpPr>
        <p:spPr>
          <a:xfrm>
            <a:off x="2788920" y="1389888"/>
            <a:ext cx="2194560" cy="274320"/>
          </a:xfrm>
          <a:prstGeom prst="rect">
            <a:avLst/>
          </a:prstGeom>
          <a:noFill/>
          <a:ln/>
        </p:spPr>
        <p:txBody>
          <a:bodyPr wrap="square" lIns="0" tIns="0" rIns="0" bIns="0" rtlCol="0" anchor="t"/>
          <a:lstStyle/>
          <a:p>
            <a:pPr algn="ctr" indent="0" marL="0">
              <a:buNone/>
            </a:pPr>
            <a:r>
              <a:rPr lang="en-US" sz="1400" b="1" dirty="0">
                <a:solidFill>
                  <a:srgbClr val="00704A"/>
                </a:solidFill>
                <a:latin typeface="Calibri" pitchFamily="34" charset="0"/>
                <a:ea typeface="Calibri" pitchFamily="34" charset="-122"/>
                <a:cs typeface="Calibri" pitchFamily="34" charset="-120"/>
              </a:rPr>
              <a:t>Densification</a:t>
            </a:r>
            <a:endParaRPr lang="en-US" sz="1400" dirty="0"/>
          </a:p>
        </p:txBody>
      </p:sp>
      <p:sp>
        <p:nvSpPr>
          <p:cNvPr id="27" name="Text 24"/>
          <p:cNvSpPr txBox="1"/>
          <p:nvPr/>
        </p:nvSpPr>
        <p:spPr>
          <a:xfrm>
            <a:off x="2880360" y="1664208"/>
            <a:ext cx="2011680" cy="36576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La même emprise s’intensifie</a:t>
            </a:r>
            <a:endParaRPr lang="en-US" sz="950" dirty="0"/>
          </a:p>
        </p:txBody>
      </p:sp>
      <p:sp>
        <p:nvSpPr>
          <p:cNvPr id="28" name="Shape 25"/>
          <p:cNvSpPr/>
          <p:nvPr/>
        </p:nvSpPr>
        <p:spPr>
          <a:xfrm>
            <a:off x="3223260" y="2403043"/>
            <a:ext cx="1325880" cy="954634"/>
          </a:xfrm>
          <a:prstGeom prst="ellipse">
            <a:avLst/>
          </a:prstGeom>
          <a:solidFill>
            <a:srgbClr val="00704A">
              <a:alpha val="20000"/>
            </a:srgbClr>
          </a:solidFill>
          <a:ln w="9525">
            <a:solidFill>
              <a:srgbClr val="00704A">
                <a:alpha val="70000"/>
              </a:srgbClr>
            </a:solidFill>
            <a:prstDash val="solid"/>
          </a:ln>
        </p:spPr>
      </p:sp>
      <p:sp>
        <p:nvSpPr>
          <p:cNvPr id="29" name="Shape 26"/>
          <p:cNvSpPr/>
          <p:nvPr/>
        </p:nvSpPr>
        <p:spPr>
          <a:xfrm>
            <a:off x="3429000" y="2551176"/>
            <a:ext cx="914400" cy="658368"/>
          </a:xfrm>
          <a:prstGeom prst="ellipse">
            <a:avLst/>
          </a:prstGeom>
          <a:solidFill>
            <a:srgbClr val="00704A">
              <a:alpha val="60000"/>
            </a:srgbClr>
          </a:solidFill>
          <a:ln w="9525">
            <a:solidFill>
              <a:srgbClr val="00704A">
                <a:alpha val="70000"/>
              </a:srgbClr>
            </a:solidFill>
            <a:prstDash val="solid"/>
          </a:ln>
        </p:spPr>
      </p:sp>
      <p:sp>
        <p:nvSpPr>
          <p:cNvPr id="30" name="Shape 27"/>
          <p:cNvSpPr/>
          <p:nvPr/>
        </p:nvSpPr>
        <p:spPr>
          <a:xfrm>
            <a:off x="3634740" y="2699309"/>
            <a:ext cx="502920" cy="362102"/>
          </a:xfrm>
          <a:prstGeom prst="ellipse">
            <a:avLst/>
          </a:prstGeom>
          <a:solidFill>
            <a:srgbClr val="00704A"/>
          </a:solidFill>
          <a:ln w="9525">
            <a:solidFill>
              <a:srgbClr val="00704A">
                <a:alpha val="70000"/>
              </a:srgbClr>
            </a:solidFill>
            <a:prstDash val="solid"/>
          </a:ln>
        </p:spPr>
      </p:sp>
      <p:sp>
        <p:nvSpPr>
          <p:cNvPr id="31" name="Shape 28"/>
          <p:cNvSpPr/>
          <p:nvPr/>
        </p:nvSpPr>
        <p:spPr>
          <a:xfrm>
            <a:off x="2898648" y="3675888"/>
            <a:ext cx="1975104" cy="274320"/>
          </a:xfrm>
          <a:prstGeom prst="roundRect">
            <a:avLst>
              <a:gd name="adj" fmla="val 50000"/>
            </a:avLst>
          </a:prstGeom>
          <a:solidFill>
            <a:srgbClr val="00704A">
              <a:alpha val="15000"/>
            </a:srgbClr>
          </a:solidFill>
          <a:ln w="9525">
            <a:solidFill>
              <a:srgbClr val="00704A"/>
            </a:solidFill>
            <a:prstDash val="solid"/>
          </a:ln>
        </p:spPr>
      </p:sp>
      <p:sp>
        <p:nvSpPr>
          <p:cNvPr id="32" name="Text 29"/>
          <p:cNvSpPr txBox="1"/>
          <p:nvPr/>
        </p:nvSpPr>
        <p:spPr>
          <a:xfrm>
            <a:off x="2898648" y="3675888"/>
            <a:ext cx="1975104" cy="274320"/>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Surface +6 %  ·  Radiance +40 %</a:t>
            </a:r>
            <a:endParaRPr lang="en-US" sz="900" dirty="0"/>
          </a:p>
        </p:txBody>
      </p:sp>
      <p:sp>
        <p:nvSpPr>
          <p:cNvPr id="33" name="Text 30"/>
          <p:cNvSpPr txBox="1"/>
          <p:nvPr/>
        </p:nvSpPr>
        <p:spPr>
          <a:xfrm>
            <a:off x="457200" y="4160520"/>
            <a:ext cx="4526280" cy="228600"/>
          </a:xfrm>
          <a:prstGeom prst="rect">
            <a:avLst/>
          </a:prstGeom>
          <a:noFill/>
          <a:ln/>
        </p:spPr>
        <p:txBody>
          <a:bodyPr wrap="square" lIns="0" tIns="0" rIns="0" bIns="0" rtlCol="0" anchor="t"/>
          <a:lstStyle/>
          <a:p>
            <a:pPr algn="ctr" indent="0" marL="0">
              <a:buNone/>
            </a:pPr>
            <a:r>
              <a:rPr lang="en-US" sz="1000" i="1" dirty="0">
                <a:solidFill>
                  <a:srgbClr val="5E6964"/>
                </a:solidFill>
                <a:latin typeface="Calibri" pitchFamily="34" charset="0"/>
                <a:ea typeface="Calibri" pitchFamily="34" charset="-122"/>
                <a:cs typeface="Calibri" pitchFamily="34" charset="-120"/>
              </a:rPr>
              <a:t>Même somme des lumières — deux villes très différentes (illustratif).</a:t>
            </a:r>
            <a:endParaRPr lang="en-US" sz="1000" dirty="0"/>
          </a:p>
        </p:txBody>
      </p:sp>
      <p:sp>
        <p:nvSpPr>
          <p:cNvPr id="34" name="Shape 31"/>
          <p:cNvSpPr/>
          <p:nvPr/>
        </p:nvSpPr>
        <p:spPr>
          <a:xfrm>
            <a:off x="5257800" y="1371600"/>
            <a:ext cx="420624" cy="420624"/>
          </a:xfrm>
          <a:prstGeom prst="ellipse">
            <a:avLst/>
          </a:prstGeom>
          <a:solidFill>
            <a:srgbClr val="D49A00">
              <a:alpha val="22000"/>
            </a:srgbClr>
          </a:solidFill>
          <a:ln w="12700">
            <a:solidFill>
              <a:srgbClr val="D49A00">
                <a:alpha val="0"/>
              </a:srgbClr>
            </a:solidFill>
            <a:prstDash val="solid"/>
          </a:ln>
        </p:spPr>
      </p:sp>
      <p:pic>
        <p:nvPicPr>
          <p:cNvPr id="35" name="Image 0" descr="preencoded.png">    </p:cNvPr>
          <p:cNvPicPr>
            <a:picLocks noChangeAspect="1"/>
          </p:cNvPicPr>
          <p:nvPr/>
        </p:nvPicPr>
        <p:blipFill>
          <a:blip r:embed="rId1"/>
          <a:stretch>
            <a:fillRect/>
          </a:stretch>
        </p:blipFill>
        <p:spPr>
          <a:xfrm>
            <a:off x="5367162" y="1480962"/>
            <a:ext cx="201900" cy="201900"/>
          </a:xfrm>
          <a:prstGeom prst="rect">
            <a:avLst/>
          </a:prstGeom>
        </p:spPr>
      </p:pic>
      <p:sp>
        <p:nvSpPr>
          <p:cNvPr id="36" name="Text 32"/>
          <p:cNvSpPr txBox="1"/>
          <p:nvPr/>
        </p:nvSpPr>
        <p:spPr>
          <a:xfrm>
            <a:off x="5806440" y="1325880"/>
            <a:ext cx="2880360" cy="237744"/>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Cartographier là où les registres manquent</a:t>
            </a:r>
            <a:endParaRPr lang="en-US" sz="1050" dirty="0"/>
          </a:p>
        </p:txBody>
      </p:sp>
      <p:sp>
        <p:nvSpPr>
          <p:cNvPr id="37" name="Text 33"/>
          <p:cNvSpPr txBox="1"/>
          <p:nvPr/>
        </p:nvSpPr>
        <p:spPr>
          <a:xfrm>
            <a:off x="5806440" y="1572768"/>
            <a:ext cx="288036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Les lumières révèlent l’emprise bâtie là où cadastre et cartes récentes font défaut.</a:t>
            </a:r>
            <a:endParaRPr lang="en-US" sz="900" dirty="0"/>
          </a:p>
        </p:txBody>
      </p:sp>
      <p:sp>
        <p:nvSpPr>
          <p:cNvPr id="38" name="Shape 34"/>
          <p:cNvSpPr/>
          <p:nvPr/>
        </p:nvSpPr>
        <p:spPr>
          <a:xfrm>
            <a:off x="5257800" y="2130552"/>
            <a:ext cx="420624" cy="420624"/>
          </a:xfrm>
          <a:prstGeom prst="ellipse">
            <a:avLst/>
          </a:prstGeom>
          <a:solidFill>
            <a:srgbClr val="D49A00">
              <a:alpha val="22000"/>
            </a:srgbClr>
          </a:solidFill>
          <a:ln w="12700">
            <a:solidFill>
              <a:srgbClr val="D49A00">
                <a:alpha val="0"/>
              </a:srgbClr>
            </a:solidFill>
            <a:prstDash val="solid"/>
          </a:ln>
        </p:spPr>
      </p:sp>
      <p:pic>
        <p:nvPicPr>
          <p:cNvPr id="39" name="Image 1" descr="preencoded.png">    </p:cNvPr>
          <p:cNvPicPr>
            <a:picLocks noChangeAspect="1"/>
          </p:cNvPicPr>
          <p:nvPr/>
        </p:nvPicPr>
        <p:blipFill>
          <a:blip r:embed="rId2"/>
          <a:stretch>
            <a:fillRect/>
          </a:stretch>
        </p:blipFill>
        <p:spPr>
          <a:xfrm>
            <a:off x="5367162" y="2239914"/>
            <a:ext cx="201900" cy="201900"/>
          </a:xfrm>
          <a:prstGeom prst="rect">
            <a:avLst/>
          </a:prstGeom>
        </p:spPr>
      </p:pic>
      <p:sp>
        <p:nvSpPr>
          <p:cNvPr id="40" name="Text 35"/>
          <p:cNvSpPr txBox="1"/>
          <p:nvPr/>
        </p:nvSpPr>
        <p:spPr>
          <a:xfrm>
            <a:off x="5806440" y="2084832"/>
            <a:ext cx="2880360" cy="237744"/>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Distinguer étalement et densification</a:t>
            </a:r>
            <a:endParaRPr lang="en-US" sz="1050" dirty="0"/>
          </a:p>
        </p:txBody>
      </p:sp>
      <p:sp>
        <p:nvSpPr>
          <p:cNvPr id="41" name="Text 36"/>
          <p:cNvSpPr txBox="1"/>
          <p:nvPr/>
        </p:nvSpPr>
        <p:spPr>
          <a:xfrm>
            <a:off x="5806440" y="2331720"/>
            <a:ext cx="288036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Comparer la croissance de la surface éclairée et celle de la radiance — enjeu pour transports et services.</a:t>
            </a:r>
            <a:endParaRPr lang="en-US" sz="900" dirty="0"/>
          </a:p>
        </p:txBody>
      </p:sp>
      <p:sp>
        <p:nvSpPr>
          <p:cNvPr id="42" name="Shape 37"/>
          <p:cNvSpPr/>
          <p:nvPr/>
        </p:nvSpPr>
        <p:spPr>
          <a:xfrm>
            <a:off x="5257800" y="2889504"/>
            <a:ext cx="420624" cy="420624"/>
          </a:xfrm>
          <a:prstGeom prst="ellipse">
            <a:avLst/>
          </a:prstGeom>
          <a:solidFill>
            <a:srgbClr val="D49A00">
              <a:alpha val="22000"/>
            </a:srgbClr>
          </a:solidFill>
          <a:ln w="12700">
            <a:solidFill>
              <a:srgbClr val="D49A00">
                <a:alpha val="0"/>
              </a:srgbClr>
            </a:solidFill>
            <a:prstDash val="solid"/>
          </a:ln>
        </p:spPr>
      </p:sp>
      <p:pic>
        <p:nvPicPr>
          <p:cNvPr id="43" name="Image 2" descr="preencoded.png">    </p:cNvPr>
          <p:cNvPicPr>
            <a:picLocks noChangeAspect="1"/>
          </p:cNvPicPr>
          <p:nvPr/>
        </p:nvPicPr>
        <p:blipFill>
          <a:blip r:embed="rId3"/>
          <a:stretch>
            <a:fillRect/>
          </a:stretch>
        </p:blipFill>
        <p:spPr>
          <a:xfrm>
            <a:off x="5367162" y="2998866"/>
            <a:ext cx="201900" cy="201900"/>
          </a:xfrm>
          <a:prstGeom prst="rect">
            <a:avLst/>
          </a:prstGeom>
        </p:spPr>
      </p:pic>
      <p:sp>
        <p:nvSpPr>
          <p:cNvPr id="44" name="Text 38"/>
          <p:cNvSpPr txBox="1"/>
          <p:nvPr/>
        </p:nvSpPr>
        <p:spPr>
          <a:xfrm>
            <a:off x="5806440" y="2843784"/>
            <a:ext cx="2880360" cy="237744"/>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Repérer tôt les villes nouvelles</a:t>
            </a:r>
            <a:endParaRPr lang="en-US" sz="1050" dirty="0"/>
          </a:p>
        </p:txBody>
      </p:sp>
      <p:sp>
        <p:nvSpPr>
          <p:cNvPr id="45" name="Text 39"/>
          <p:cNvSpPr txBox="1"/>
          <p:nvPr/>
        </p:nvSpPr>
        <p:spPr>
          <a:xfrm>
            <a:off x="5806440" y="3090672"/>
            <a:ext cx="288036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Villes minières, zones économiques et sites de déplacés apparaissent avant la géographie officielle.</a:t>
            </a:r>
            <a:endParaRPr lang="en-US" sz="900" dirty="0"/>
          </a:p>
        </p:txBody>
      </p:sp>
      <p:sp>
        <p:nvSpPr>
          <p:cNvPr id="46" name="Shape 40"/>
          <p:cNvSpPr/>
          <p:nvPr/>
        </p:nvSpPr>
        <p:spPr>
          <a:xfrm>
            <a:off x="5257800" y="3648456"/>
            <a:ext cx="420624" cy="420624"/>
          </a:xfrm>
          <a:prstGeom prst="ellipse">
            <a:avLst/>
          </a:prstGeom>
          <a:solidFill>
            <a:srgbClr val="D49A00">
              <a:alpha val="22000"/>
            </a:srgbClr>
          </a:solidFill>
          <a:ln w="12700">
            <a:solidFill>
              <a:srgbClr val="D49A00">
                <a:alpha val="0"/>
              </a:srgbClr>
            </a:solidFill>
            <a:prstDash val="solid"/>
          </a:ln>
        </p:spPr>
      </p:sp>
      <p:pic>
        <p:nvPicPr>
          <p:cNvPr id="47" name="Image 3" descr="preencoded.png">    </p:cNvPr>
          <p:cNvPicPr>
            <a:picLocks noChangeAspect="1"/>
          </p:cNvPicPr>
          <p:nvPr/>
        </p:nvPicPr>
        <p:blipFill>
          <a:blip r:embed="rId4"/>
          <a:stretch>
            <a:fillRect/>
          </a:stretch>
        </p:blipFill>
        <p:spPr>
          <a:xfrm>
            <a:off x="5367162" y="3757818"/>
            <a:ext cx="201900" cy="201900"/>
          </a:xfrm>
          <a:prstGeom prst="rect">
            <a:avLst/>
          </a:prstGeom>
        </p:spPr>
      </p:pic>
      <p:sp>
        <p:nvSpPr>
          <p:cNvPr id="48" name="Text 41"/>
          <p:cNvSpPr txBox="1"/>
          <p:nvPr/>
        </p:nvSpPr>
        <p:spPr>
          <a:xfrm>
            <a:off x="5806440" y="3602736"/>
            <a:ext cx="2880360" cy="237744"/>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Associer des grilles de population</a:t>
            </a:r>
            <a:endParaRPr lang="en-US" sz="1050" dirty="0"/>
          </a:p>
        </p:txBody>
      </p:sp>
      <p:sp>
        <p:nvSpPr>
          <p:cNvPr id="49" name="Text 42"/>
          <p:cNvSpPr txBox="1"/>
          <p:nvPr/>
        </p:nvSpPr>
        <p:spPr>
          <a:xfrm>
            <a:off x="5806440" y="3849624"/>
            <a:ext cx="288036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WorldPop ou GHSL — un pixel lumineux n’est pas une personne.</a:t>
            </a:r>
            <a:endParaRPr lang="en-US" sz="9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APPLICATIONS · APPLICATION 04</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Conflits et catastrophes : la nuit tombe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sp>
        <p:nvSpPr>
          <p:cNvPr id="17" name="Shape 14"/>
          <p:cNvSpPr/>
          <p:nvPr/>
        </p:nvSpPr>
        <p:spPr>
          <a:xfrm>
            <a:off x="457200" y="1325880"/>
            <a:ext cx="2651760" cy="1874520"/>
          </a:xfrm>
          <a:prstGeom prst="roundRect">
            <a:avLst>
              <a:gd name="adj" fmla="val 3902"/>
            </a:avLst>
          </a:prstGeom>
          <a:solidFill>
            <a:srgbClr val="E8F5EF"/>
          </a:solidFill>
          <a:ln w="15875">
            <a:solidFill>
              <a:srgbClr val="B83B2E"/>
            </a:solidFill>
            <a:prstDash val="solid"/>
          </a:ln>
        </p:spPr>
      </p:sp>
      <p:sp>
        <p:nvSpPr>
          <p:cNvPr id="18" name="Shape 15"/>
          <p:cNvSpPr/>
          <p:nvPr/>
        </p:nvSpPr>
        <p:spPr>
          <a:xfrm>
            <a:off x="585216" y="1444752"/>
            <a:ext cx="457200" cy="457200"/>
          </a:xfrm>
          <a:prstGeom prst="ellipse">
            <a:avLst/>
          </a:prstGeom>
          <a:solidFill>
            <a:srgbClr val="B83B2E">
              <a:alpha val="22000"/>
            </a:srgbClr>
          </a:solidFill>
          <a:ln w="12700">
            <a:solidFill>
              <a:srgbClr val="B83B2E">
                <a:alpha val="0"/>
              </a:srgbClr>
            </a:solidFill>
            <a:prstDash val="solid"/>
          </a:ln>
        </p:spPr>
      </p:sp>
      <p:pic>
        <p:nvPicPr>
          <p:cNvPr id="19" name="Image 0" descr="preencoded.png">    </p:cNvPr>
          <p:cNvPicPr>
            <a:picLocks noChangeAspect="1"/>
          </p:cNvPicPr>
          <p:nvPr/>
        </p:nvPicPr>
        <p:blipFill>
          <a:blip r:embed="rId1"/>
          <a:stretch>
            <a:fillRect/>
          </a:stretch>
        </p:blipFill>
        <p:spPr>
          <a:xfrm>
            <a:off x="704088" y="1563624"/>
            <a:ext cx="219456" cy="219456"/>
          </a:xfrm>
          <a:prstGeom prst="rect">
            <a:avLst/>
          </a:prstGeom>
        </p:spPr>
      </p:pic>
      <p:sp>
        <p:nvSpPr>
          <p:cNvPr id="20" name="Text 16"/>
          <p:cNvSpPr txBox="1"/>
          <p:nvPr/>
        </p:nvSpPr>
        <p:spPr>
          <a:xfrm>
            <a:off x="1143000" y="1444752"/>
            <a:ext cx="1874520" cy="45720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Conflit · Soudan, 2023</a:t>
            </a:r>
            <a:endParaRPr lang="en-US" sz="1150" dirty="0"/>
          </a:p>
        </p:txBody>
      </p:sp>
      <p:sp>
        <p:nvSpPr>
          <p:cNvPr id="21" name="Text 17"/>
          <p:cNvSpPr txBox="1"/>
          <p:nvPr/>
        </p:nvSpPr>
        <p:spPr>
          <a:xfrm>
            <a:off x="594360" y="1993392"/>
            <a:ext cx="2377440" cy="1170432"/>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Après le début des combats à Khartoum en avril 2023, les lumières de la capitale sont tombées au niveau du bruit dès mai (EOG). L’UNOSAT a cartographié les coupures en juin 2023.</a:t>
            </a:r>
            <a:endParaRPr lang="en-US" sz="950" dirty="0"/>
          </a:p>
        </p:txBody>
      </p:sp>
      <p:sp>
        <p:nvSpPr>
          <p:cNvPr id="22" name="Shape 18"/>
          <p:cNvSpPr/>
          <p:nvPr/>
        </p:nvSpPr>
        <p:spPr>
          <a:xfrm>
            <a:off x="3246120" y="1325880"/>
            <a:ext cx="2651760" cy="1874520"/>
          </a:xfrm>
          <a:prstGeom prst="roundRect">
            <a:avLst>
              <a:gd name="adj" fmla="val 3902"/>
            </a:avLst>
          </a:prstGeom>
          <a:solidFill>
            <a:srgbClr val="F4F7F5"/>
          </a:solidFill>
          <a:ln w="9525">
            <a:solidFill>
              <a:srgbClr val="D5DED9"/>
            </a:solidFill>
            <a:prstDash val="solid"/>
          </a:ln>
        </p:spPr>
      </p:sp>
      <p:sp>
        <p:nvSpPr>
          <p:cNvPr id="23" name="Shape 19"/>
          <p:cNvSpPr/>
          <p:nvPr/>
        </p:nvSpPr>
        <p:spPr>
          <a:xfrm>
            <a:off x="3374136" y="1444752"/>
            <a:ext cx="457200" cy="457200"/>
          </a:xfrm>
          <a:prstGeom prst="ellipse">
            <a:avLst/>
          </a:prstGeom>
          <a:solidFill>
            <a:srgbClr val="C4621D">
              <a:alpha val="22000"/>
            </a:srgbClr>
          </a:solidFill>
          <a:ln w="12700">
            <a:solidFill>
              <a:srgbClr val="C4621D">
                <a:alpha val="0"/>
              </a:srgbClr>
            </a:solidFill>
            <a:prstDash val="solid"/>
          </a:ln>
        </p:spPr>
      </p:sp>
      <p:pic>
        <p:nvPicPr>
          <p:cNvPr id="24" name="Image 1" descr="preencoded.png">    </p:cNvPr>
          <p:cNvPicPr>
            <a:picLocks noChangeAspect="1"/>
          </p:cNvPicPr>
          <p:nvPr/>
        </p:nvPicPr>
        <p:blipFill>
          <a:blip r:embed="rId2"/>
          <a:stretch>
            <a:fillRect/>
          </a:stretch>
        </p:blipFill>
        <p:spPr>
          <a:xfrm>
            <a:off x="3493008" y="1563624"/>
            <a:ext cx="219456" cy="219456"/>
          </a:xfrm>
          <a:prstGeom prst="rect">
            <a:avLst/>
          </a:prstGeom>
        </p:spPr>
      </p:pic>
      <p:sp>
        <p:nvSpPr>
          <p:cNvPr id="25" name="Text 20"/>
          <p:cNvSpPr txBox="1"/>
          <p:nvPr/>
        </p:nvSpPr>
        <p:spPr>
          <a:xfrm>
            <a:off x="3931920" y="1444752"/>
            <a:ext cx="1874520" cy="45720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Conflit · Syrie, 2011–2014</a:t>
            </a:r>
            <a:endParaRPr lang="en-US" sz="1150" dirty="0"/>
          </a:p>
        </p:txBody>
      </p:sp>
      <p:sp>
        <p:nvSpPr>
          <p:cNvPr id="26" name="Text 21"/>
          <p:cNvSpPr txBox="1"/>
          <p:nvPr/>
        </p:nvSpPr>
        <p:spPr>
          <a:xfrm>
            <a:off x="3383280" y="1993392"/>
            <a:ext cx="2377440" cy="1170432"/>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Li et Li (2014) ont mesuré une perte de plus de 70 % de la lumière nocturne au niveau national, suivant les déplacements province par province.</a:t>
            </a:r>
            <a:endParaRPr lang="en-US" sz="950" dirty="0"/>
          </a:p>
        </p:txBody>
      </p:sp>
      <p:sp>
        <p:nvSpPr>
          <p:cNvPr id="27" name="Shape 22"/>
          <p:cNvSpPr/>
          <p:nvPr/>
        </p:nvSpPr>
        <p:spPr>
          <a:xfrm>
            <a:off x="6035040" y="1325880"/>
            <a:ext cx="2651760" cy="1874520"/>
          </a:xfrm>
          <a:prstGeom prst="roundRect">
            <a:avLst>
              <a:gd name="adj" fmla="val 3902"/>
            </a:avLst>
          </a:prstGeom>
          <a:solidFill>
            <a:srgbClr val="F4F7F5"/>
          </a:solidFill>
          <a:ln w="9525">
            <a:solidFill>
              <a:srgbClr val="D5DED9"/>
            </a:solidFill>
            <a:prstDash val="solid"/>
          </a:ln>
        </p:spPr>
      </p:sp>
      <p:sp>
        <p:nvSpPr>
          <p:cNvPr id="28" name="Shape 23"/>
          <p:cNvSpPr/>
          <p:nvPr/>
        </p:nvSpPr>
        <p:spPr>
          <a:xfrm>
            <a:off x="6163056" y="1444752"/>
            <a:ext cx="457200" cy="457200"/>
          </a:xfrm>
          <a:prstGeom prst="ellipse">
            <a:avLst/>
          </a:prstGeom>
          <a:solidFill>
            <a:srgbClr val="0E7C86">
              <a:alpha val="22000"/>
            </a:srgbClr>
          </a:solidFill>
          <a:ln w="12700">
            <a:solidFill>
              <a:srgbClr val="0E7C86">
                <a:alpha val="0"/>
              </a:srgbClr>
            </a:solidFill>
            <a:prstDash val="solid"/>
          </a:ln>
        </p:spPr>
      </p:sp>
      <p:pic>
        <p:nvPicPr>
          <p:cNvPr id="29" name="Image 2" descr="preencoded.png">    </p:cNvPr>
          <p:cNvPicPr>
            <a:picLocks noChangeAspect="1"/>
          </p:cNvPicPr>
          <p:nvPr/>
        </p:nvPicPr>
        <p:blipFill>
          <a:blip r:embed="rId3"/>
          <a:stretch>
            <a:fillRect/>
          </a:stretch>
        </p:blipFill>
        <p:spPr>
          <a:xfrm>
            <a:off x="6281928" y="1563624"/>
            <a:ext cx="219456" cy="219456"/>
          </a:xfrm>
          <a:prstGeom prst="rect">
            <a:avLst/>
          </a:prstGeom>
        </p:spPr>
      </p:pic>
      <p:sp>
        <p:nvSpPr>
          <p:cNvPr id="30" name="Text 24"/>
          <p:cNvSpPr txBox="1"/>
          <p:nvPr/>
        </p:nvSpPr>
        <p:spPr>
          <a:xfrm>
            <a:off x="6720840" y="1444752"/>
            <a:ext cx="1874520" cy="45720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Catastrophe · Porto Rico, 2017</a:t>
            </a:r>
            <a:endParaRPr lang="en-US" sz="1150" dirty="0"/>
          </a:p>
        </p:txBody>
      </p:sp>
      <p:sp>
        <p:nvSpPr>
          <p:cNvPr id="31" name="Text 25"/>
          <p:cNvSpPr txBox="1"/>
          <p:nvPr/>
        </p:nvSpPr>
        <p:spPr>
          <a:xfrm>
            <a:off x="6172200" y="1993392"/>
            <a:ext cx="2377440" cy="1170432"/>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Après l’ouragan Maria, les données quotidiennes Black Marble ont cartographié la coupure et suivi le rétablissement quartier par quartier.</a:t>
            </a:r>
            <a:endParaRPr lang="en-US" sz="950" dirty="0"/>
          </a:p>
        </p:txBody>
      </p:sp>
      <p:sp>
        <p:nvSpPr>
          <p:cNvPr id="32" name="Shape 26"/>
          <p:cNvSpPr/>
          <p:nvPr/>
        </p:nvSpPr>
        <p:spPr>
          <a:xfrm>
            <a:off x="457200" y="3337560"/>
            <a:ext cx="8229600" cy="1097280"/>
          </a:xfrm>
          <a:prstGeom prst="roundRect">
            <a:avLst>
              <a:gd name="adj" fmla="val 6667"/>
            </a:avLst>
          </a:prstGeom>
          <a:solidFill>
            <a:srgbClr val="B83B2E">
              <a:alpha val="13000"/>
            </a:srgbClr>
          </a:solidFill>
          <a:ln w="12700">
            <a:solidFill>
              <a:srgbClr val="B83B2E"/>
            </a:solidFill>
            <a:prstDash val="solid"/>
          </a:ln>
        </p:spPr>
      </p:sp>
      <p:sp>
        <p:nvSpPr>
          <p:cNvPr id="33" name="Shape 27"/>
          <p:cNvSpPr/>
          <p:nvPr/>
        </p:nvSpPr>
        <p:spPr>
          <a:xfrm>
            <a:off x="594360" y="3474720"/>
            <a:ext cx="420624" cy="420624"/>
          </a:xfrm>
          <a:prstGeom prst="ellipse">
            <a:avLst/>
          </a:prstGeom>
          <a:solidFill>
            <a:srgbClr val="B83B2E">
              <a:alpha val="22000"/>
            </a:srgbClr>
          </a:solidFill>
          <a:ln w="12700">
            <a:solidFill>
              <a:srgbClr val="B83B2E">
                <a:alpha val="0"/>
              </a:srgbClr>
            </a:solidFill>
            <a:prstDash val="solid"/>
          </a:ln>
        </p:spPr>
      </p:sp>
      <p:pic>
        <p:nvPicPr>
          <p:cNvPr id="34" name="Image 3" descr="preencoded.png">    </p:cNvPr>
          <p:cNvPicPr>
            <a:picLocks noChangeAspect="1"/>
          </p:cNvPicPr>
          <p:nvPr/>
        </p:nvPicPr>
        <p:blipFill>
          <a:blip r:embed="rId4"/>
          <a:stretch>
            <a:fillRect/>
          </a:stretch>
        </p:blipFill>
        <p:spPr>
          <a:xfrm>
            <a:off x="703722" y="3584082"/>
            <a:ext cx="201900" cy="201900"/>
          </a:xfrm>
          <a:prstGeom prst="rect">
            <a:avLst/>
          </a:prstGeom>
        </p:spPr>
      </p:pic>
      <p:sp>
        <p:nvSpPr>
          <p:cNvPr id="35" name="Text 28"/>
          <p:cNvSpPr txBox="1"/>
          <p:nvPr/>
        </p:nvSpPr>
        <p:spPr>
          <a:xfrm>
            <a:off x="1143000" y="3456432"/>
            <a:ext cx="7452360" cy="256032"/>
          </a:xfrm>
          <a:prstGeom prst="rect">
            <a:avLst/>
          </a:prstGeom>
          <a:noFill/>
          <a:ln/>
        </p:spPr>
        <p:txBody>
          <a:bodyPr wrap="square" lIns="0" tIns="0" rIns="0" bIns="0" rtlCol="0" anchor="t"/>
          <a:lstStyle/>
          <a:p>
            <a:pPr indent="0" marL="0">
              <a:buNone/>
            </a:pPr>
            <a:r>
              <a:rPr lang="en-US" sz="1250" b="1" dirty="0">
                <a:solidFill>
                  <a:srgbClr val="B83B2E"/>
                </a:solidFill>
                <a:latin typeface="Calibri" pitchFamily="34" charset="0"/>
                <a:ea typeface="Calibri" pitchFamily="34" charset="-122"/>
                <a:cs typeface="Calibri" pitchFamily="34" charset="-120"/>
              </a:rPr>
              <a:t>Règle d’interprétation : absence de lumière ne veut pas dire absence de population</a:t>
            </a:r>
            <a:endParaRPr lang="en-US" sz="1250" dirty="0"/>
          </a:p>
        </p:txBody>
      </p:sp>
      <p:sp>
        <p:nvSpPr>
          <p:cNvPr id="36" name="Text 29"/>
          <p:cNvSpPr txBox="1"/>
          <p:nvPr/>
        </p:nvSpPr>
        <p:spPr>
          <a:xfrm>
            <a:off x="1143000" y="3730752"/>
            <a:ext cx="7452360" cy="676656"/>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L’obscurité peut traduire un déplacement, une destruction, une pénurie de carburant, un couvre-feu, une panne de réseau — ou la décision d’éteindre l’éclairage public. Le satellite ne dit pas lequel. La corroboration sur le terrain est indispensable et l’incertitude doit être déclarée.</a:t>
            </a:r>
            <a:endParaRPr lang="en-US" sz="1000" dirty="0"/>
          </a:p>
        </p:txBody>
      </p:sp>
      <p:sp>
        <p:nvSpPr>
          <p:cNvPr id="37" name="Text 30"/>
          <p:cNvSpPr txBox="1"/>
          <p:nvPr/>
        </p:nvSpPr>
        <p:spPr>
          <a:xfrm>
            <a:off x="457200" y="4553712"/>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Sources : Payne Institute / EOG (sept. 2024) ; UNOSAT (juin 2023) ; Li et Li (2014) IJRS 35(18) ; Román et al. (2019) sur Porto Rico.</a:t>
            </a:r>
            <a:endParaRPr lang="en-US" sz="9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5</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05</a:t>
            </a:r>
            <a:endParaRPr lang="en-US" sz="9600" dirty="0"/>
          </a:p>
        </p:txBody>
      </p:sp>
      <p:sp>
        <p:nvSpPr>
          <p:cNvPr id="5" name="Text 3"/>
          <p:cNvSpPr txBox="1"/>
          <p:nvPr/>
        </p:nvSpPr>
        <p:spPr>
          <a:xfrm>
            <a:off x="548640" y="2240280"/>
            <a:ext cx="5486400" cy="6858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Limites</a:t>
            </a:r>
            <a:endParaRPr lang="en-US" sz="3600" dirty="0"/>
          </a:p>
        </p:txBody>
      </p:sp>
      <p:sp>
        <p:nvSpPr>
          <p:cNvPr id="6" name="Text 4"/>
          <p:cNvSpPr txBox="1"/>
          <p:nvPr/>
        </p:nvSpPr>
        <p:spPr>
          <a:xfrm>
            <a:off x="548640" y="2971800"/>
            <a:ext cx="5120640" cy="59436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Où l’inférence se rompt-elle — et comment le savoir ?</a:t>
            </a:r>
            <a:endParaRPr lang="en-US" sz="1800" dirty="0"/>
          </a:p>
        </p:txBody>
      </p:sp>
      <p:sp>
        <p:nvSpPr>
          <p:cNvPr id="7" name="Text 5"/>
          <p:cNvSpPr txBox="1"/>
          <p:nvPr/>
        </p:nvSpPr>
        <p:spPr>
          <a:xfrm>
            <a:off x="548640" y="3703320"/>
            <a:ext cx="530352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Six artefacts à traquer  ·  Ce que le satellite ne voit pas</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5C242"/>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r>
          <p:cNvPicPr>
            <a:picLocks noChangeAspect="1"/>
          </p:cNvPicPr>
          <p:nvPr/>
        </p:nvPicPr>
        <p:blipFill>
          <a:blip r:embed="rId2"/>
          <a:stretch>
            <a:fillRect/>
          </a:stretch>
        </p:blipFill>
        <p:spPr>
          <a:xfrm>
            <a:off x="6848856" y="2276856"/>
            <a:ext cx="475488" cy="475488"/>
          </a:xfrm>
          <a:prstGeom prst="rect">
            <a:avLst/>
          </a:prstGeom>
        </p:spPr>
      </p:pic>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LIMITES · VOTRE MISSION DE 10H45</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Six artefacts à traquer ce matin</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C4621D"/>
          </a:solidFill>
          <a:ln w="12700">
            <a:solidFill>
              <a:srgbClr val="C4621D"/>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sp>
        <p:nvSpPr>
          <p:cNvPr id="17" name="Shape 14"/>
          <p:cNvSpPr/>
          <p:nvPr/>
        </p:nvSpPr>
        <p:spPr>
          <a:xfrm>
            <a:off x="457200" y="1325880"/>
            <a:ext cx="2651760" cy="1508760"/>
          </a:xfrm>
          <a:prstGeom prst="roundRect">
            <a:avLst>
              <a:gd name="adj" fmla="val 4848"/>
            </a:avLst>
          </a:prstGeom>
          <a:solidFill>
            <a:srgbClr val="F4F7F5"/>
          </a:solidFill>
          <a:ln w="9525">
            <a:solidFill>
              <a:srgbClr val="D5DED9"/>
            </a:solidFill>
            <a:prstDash val="solid"/>
          </a:ln>
        </p:spPr>
      </p:sp>
      <p:sp>
        <p:nvSpPr>
          <p:cNvPr id="18" name="Shape 15"/>
          <p:cNvSpPr/>
          <p:nvPr/>
        </p:nvSpPr>
        <p:spPr>
          <a:xfrm>
            <a:off x="566928" y="1435608"/>
            <a:ext cx="402336" cy="402336"/>
          </a:xfrm>
          <a:prstGeom prst="ellipse">
            <a:avLst/>
          </a:prstGeom>
          <a:solidFill>
            <a:srgbClr val="C4621D">
              <a:alpha val="22000"/>
            </a:srgbClr>
          </a:solidFill>
          <a:ln w="12700">
            <a:solidFill>
              <a:srgbClr val="C4621D">
                <a:alpha val="0"/>
              </a:srgbClr>
            </a:solidFill>
            <a:prstDash val="solid"/>
          </a:ln>
        </p:spPr>
      </p:sp>
      <p:pic>
        <p:nvPicPr>
          <p:cNvPr id="19" name="Image 0" descr="preencoded.png">    </p:cNvPr>
          <p:cNvPicPr>
            <a:picLocks noChangeAspect="1"/>
          </p:cNvPicPr>
          <p:nvPr/>
        </p:nvPicPr>
        <p:blipFill>
          <a:blip r:embed="rId1"/>
          <a:stretch>
            <a:fillRect/>
          </a:stretch>
        </p:blipFill>
        <p:spPr>
          <a:xfrm>
            <a:off x="671535" y="1540215"/>
            <a:ext cx="193121" cy="193121"/>
          </a:xfrm>
          <a:prstGeom prst="rect">
            <a:avLst/>
          </a:prstGeom>
        </p:spPr>
      </p:pic>
      <p:sp>
        <p:nvSpPr>
          <p:cNvPr id="20" name="Text 16"/>
          <p:cNvSpPr txBox="1"/>
          <p:nvPr/>
        </p:nvSpPr>
        <p:spPr>
          <a:xfrm>
            <a:off x="1060704" y="1417320"/>
            <a:ext cx="1975104" cy="438912"/>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Débordement lumineux (blooming)</a:t>
            </a:r>
            <a:endParaRPr lang="en-US" sz="1150" dirty="0"/>
          </a:p>
        </p:txBody>
      </p:sp>
      <p:sp>
        <p:nvSpPr>
          <p:cNvPr id="21" name="Text 17"/>
          <p:cNvSpPr txBox="1"/>
          <p:nvPr/>
        </p:nvSpPr>
        <p:spPr>
          <a:xfrm>
            <a:off x="585216" y="1892808"/>
            <a:ext cx="2395728" cy="420624"/>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La lumière déborde des localités ; surface éclairée gonflée, surtout pour les petites villes.</a:t>
            </a:r>
            <a:endParaRPr lang="en-US" sz="900" dirty="0"/>
          </a:p>
        </p:txBody>
      </p:sp>
      <p:sp>
        <p:nvSpPr>
          <p:cNvPr id="22" name="Shape 18"/>
          <p:cNvSpPr/>
          <p:nvPr/>
        </p:nvSpPr>
        <p:spPr>
          <a:xfrm>
            <a:off x="548640" y="2331720"/>
            <a:ext cx="2468880" cy="448056"/>
          </a:xfrm>
          <a:prstGeom prst="roundRect">
            <a:avLst>
              <a:gd name="adj" fmla="val 10204"/>
            </a:avLst>
          </a:prstGeom>
          <a:solidFill>
            <a:srgbClr val="E8F5EF"/>
          </a:solidFill>
          <a:ln w="12700">
            <a:solidFill>
              <a:srgbClr val="E8F5EF"/>
            </a:solidFill>
            <a:prstDash val="solid"/>
          </a:ln>
        </p:spPr>
      </p:sp>
      <p:sp>
        <p:nvSpPr>
          <p:cNvPr id="23" name="Text 19"/>
          <p:cNvSpPr txBox="1"/>
          <p:nvPr/>
        </p:nvSpPr>
        <p:spPr>
          <a:xfrm>
            <a:off x="603504" y="2340864"/>
            <a:ext cx="2359152" cy="429768"/>
          </a:xfrm>
          <a:prstGeom prst="rect">
            <a:avLst/>
          </a:prstGeom>
          <a:noFill/>
          <a:ln/>
        </p:spPr>
        <p:txBody>
          <a:bodyPr wrap="square" lIns="0" tIns="0" rIns="0" bIns="0" rtlCol="0" anchor="ctr"/>
          <a:lstStyle/>
          <a:p>
            <a:pPr indent="0" marL="0">
              <a:buNone/>
            </a:pPr>
            <a:r>
              <a:rPr lang="en-US" sz="850" b="1" dirty="0">
                <a:solidFill>
                  <a:srgbClr val="00704A"/>
                </a:solidFill>
                <a:latin typeface="Calibri" pitchFamily="34" charset="0"/>
                <a:ea typeface="Calibri" pitchFamily="34" charset="-122"/>
                <a:cs typeface="Calibri" pitchFamily="34" charset="-120"/>
              </a:rPr>
              <a:t>Repérage : </a:t>
            </a:r>
            <a:pPr indent="0" marL="0">
              <a:buNone/>
            </a:pPr>
            <a:r>
              <a:rPr lang="en-US" sz="850" dirty="0">
                <a:solidFill>
                  <a:srgbClr val="231F20"/>
                </a:solidFill>
                <a:latin typeface="Calibri" pitchFamily="34" charset="0"/>
                <a:ea typeface="Calibri" pitchFamily="34" charset="-122"/>
                <a:cs typeface="Calibri" pitchFamily="34" charset="-120"/>
              </a:rPr>
              <a:t>Comparer l’emprise éclairée à une couche de bâti ; profil en bord de ville.</a:t>
            </a:r>
            <a:endParaRPr lang="en-US" sz="850" dirty="0"/>
          </a:p>
        </p:txBody>
      </p:sp>
      <p:sp>
        <p:nvSpPr>
          <p:cNvPr id="24" name="Shape 20"/>
          <p:cNvSpPr/>
          <p:nvPr/>
        </p:nvSpPr>
        <p:spPr>
          <a:xfrm>
            <a:off x="3246120" y="1325880"/>
            <a:ext cx="2651760" cy="1508760"/>
          </a:xfrm>
          <a:prstGeom prst="roundRect">
            <a:avLst>
              <a:gd name="adj" fmla="val 4848"/>
            </a:avLst>
          </a:prstGeom>
          <a:solidFill>
            <a:srgbClr val="F4F7F5"/>
          </a:solidFill>
          <a:ln w="9525">
            <a:solidFill>
              <a:srgbClr val="D5DED9"/>
            </a:solidFill>
            <a:prstDash val="solid"/>
          </a:ln>
        </p:spPr>
      </p:sp>
      <p:sp>
        <p:nvSpPr>
          <p:cNvPr id="25" name="Shape 21"/>
          <p:cNvSpPr/>
          <p:nvPr/>
        </p:nvSpPr>
        <p:spPr>
          <a:xfrm>
            <a:off x="3355848" y="1435608"/>
            <a:ext cx="402336" cy="402336"/>
          </a:xfrm>
          <a:prstGeom prst="ellipse">
            <a:avLst/>
          </a:prstGeom>
          <a:solidFill>
            <a:srgbClr val="C4621D">
              <a:alpha val="22000"/>
            </a:srgbClr>
          </a:solidFill>
          <a:ln w="12700">
            <a:solidFill>
              <a:srgbClr val="C4621D">
                <a:alpha val="0"/>
              </a:srgbClr>
            </a:solidFill>
            <a:prstDash val="solid"/>
          </a:ln>
        </p:spPr>
      </p:sp>
      <p:pic>
        <p:nvPicPr>
          <p:cNvPr id="26" name="Image 1" descr="preencoded.png">    </p:cNvPr>
          <p:cNvPicPr>
            <a:picLocks noChangeAspect="1"/>
          </p:cNvPicPr>
          <p:nvPr/>
        </p:nvPicPr>
        <p:blipFill>
          <a:blip r:embed="rId2"/>
          <a:stretch>
            <a:fillRect/>
          </a:stretch>
        </p:blipFill>
        <p:spPr>
          <a:xfrm>
            <a:off x="3460455" y="1540215"/>
            <a:ext cx="193121" cy="193121"/>
          </a:xfrm>
          <a:prstGeom prst="rect">
            <a:avLst/>
          </a:prstGeom>
        </p:spPr>
      </p:pic>
      <p:sp>
        <p:nvSpPr>
          <p:cNvPr id="27" name="Text 22"/>
          <p:cNvSpPr txBox="1"/>
          <p:nvPr/>
        </p:nvSpPr>
        <p:spPr>
          <a:xfrm>
            <a:off x="3849624" y="1417320"/>
            <a:ext cx="1975104" cy="438912"/>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Saturation</a:t>
            </a:r>
            <a:endParaRPr lang="en-US" sz="1150" dirty="0"/>
          </a:p>
        </p:txBody>
      </p:sp>
      <p:sp>
        <p:nvSpPr>
          <p:cNvPr id="28" name="Text 23"/>
          <p:cNvSpPr txBox="1"/>
          <p:nvPr/>
        </p:nvSpPr>
        <p:spPr>
          <a:xfrm>
            <a:off x="3374136" y="1892808"/>
            <a:ext cx="2395728" cy="420624"/>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Centres-villes « plafonnés » dans le DMSP (valeur 63) ; aucune variation au cœur de l’activité.</a:t>
            </a:r>
            <a:endParaRPr lang="en-US" sz="900" dirty="0"/>
          </a:p>
        </p:txBody>
      </p:sp>
      <p:sp>
        <p:nvSpPr>
          <p:cNvPr id="29" name="Shape 24"/>
          <p:cNvSpPr/>
          <p:nvPr/>
        </p:nvSpPr>
        <p:spPr>
          <a:xfrm>
            <a:off x="3337560" y="2331720"/>
            <a:ext cx="2468880" cy="448056"/>
          </a:xfrm>
          <a:prstGeom prst="roundRect">
            <a:avLst>
              <a:gd name="adj" fmla="val 10204"/>
            </a:avLst>
          </a:prstGeom>
          <a:solidFill>
            <a:srgbClr val="E8F5EF"/>
          </a:solidFill>
          <a:ln w="12700">
            <a:solidFill>
              <a:srgbClr val="E8F5EF"/>
            </a:solidFill>
            <a:prstDash val="solid"/>
          </a:ln>
        </p:spPr>
      </p:sp>
      <p:sp>
        <p:nvSpPr>
          <p:cNvPr id="30" name="Text 25"/>
          <p:cNvSpPr txBox="1"/>
          <p:nvPr/>
        </p:nvSpPr>
        <p:spPr>
          <a:xfrm>
            <a:off x="3392424" y="2340864"/>
            <a:ext cx="2359152" cy="429768"/>
          </a:xfrm>
          <a:prstGeom prst="rect">
            <a:avLst/>
          </a:prstGeom>
          <a:noFill/>
          <a:ln/>
        </p:spPr>
        <p:txBody>
          <a:bodyPr wrap="square" lIns="0" tIns="0" rIns="0" bIns="0" rtlCol="0" anchor="ctr"/>
          <a:lstStyle/>
          <a:p>
            <a:pPr indent="0" marL="0">
              <a:buNone/>
            </a:pPr>
            <a:r>
              <a:rPr lang="en-US" sz="850" b="1" dirty="0">
                <a:solidFill>
                  <a:srgbClr val="00704A"/>
                </a:solidFill>
                <a:latin typeface="Calibri" pitchFamily="34" charset="0"/>
                <a:ea typeface="Calibri" pitchFamily="34" charset="-122"/>
                <a:cs typeface="Calibri" pitchFamily="34" charset="-120"/>
              </a:rPr>
              <a:t>Repérage : </a:t>
            </a:r>
            <a:pPr indent="0" marL="0">
              <a:buNone/>
            </a:pPr>
            <a:r>
              <a:rPr lang="en-US" sz="850" dirty="0">
                <a:solidFill>
                  <a:srgbClr val="231F20"/>
                </a:solidFill>
                <a:latin typeface="Calibri" pitchFamily="34" charset="0"/>
                <a:ea typeface="Calibri" pitchFamily="34" charset="-122"/>
                <a:cs typeface="Calibri" pitchFamily="34" charset="-120"/>
              </a:rPr>
              <a:t>Pic de l’histogramme à la valeur maximale dans toute série DMSP.</a:t>
            </a:r>
            <a:endParaRPr lang="en-US" sz="850" dirty="0"/>
          </a:p>
        </p:txBody>
      </p:sp>
      <p:sp>
        <p:nvSpPr>
          <p:cNvPr id="31" name="Shape 26"/>
          <p:cNvSpPr/>
          <p:nvPr/>
        </p:nvSpPr>
        <p:spPr>
          <a:xfrm>
            <a:off x="6035040" y="1325880"/>
            <a:ext cx="2651760" cy="1508760"/>
          </a:xfrm>
          <a:prstGeom prst="roundRect">
            <a:avLst>
              <a:gd name="adj" fmla="val 4848"/>
            </a:avLst>
          </a:prstGeom>
          <a:solidFill>
            <a:srgbClr val="F4F7F5"/>
          </a:solidFill>
          <a:ln w="9525">
            <a:solidFill>
              <a:srgbClr val="D5DED9"/>
            </a:solidFill>
            <a:prstDash val="solid"/>
          </a:ln>
        </p:spPr>
      </p:sp>
      <p:sp>
        <p:nvSpPr>
          <p:cNvPr id="32" name="Shape 27"/>
          <p:cNvSpPr/>
          <p:nvPr/>
        </p:nvSpPr>
        <p:spPr>
          <a:xfrm>
            <a:off x="6144768" y="1435608"/>
            <a:ext cx="402336" cy="402336"/>
          </a:xfrm>
          <a:prstGeom prst="ellipse">
            <a:avLst/>
          </a:prstGeom>
          <a:solidFill>
            <a:srgbClr val="C4621D">
              <a:alpha val="22000"/>
            </a:srgbClr>
          </a:solidFill>
          <a:ln w="12700">
            <a:solidFill>
              <a:srgbClr val="C4621D">
                <a:alpha val="0"/>
              </a:srgbClr>
            </a:solidFill>
            <a:prstDash val="solid"/>
          </a:ln>
        </p:spPr>
      </p:sp>
      <p:pic>
        <p:nvPicPr>
          <p:cNvPr id="33" name="Image 2" descr="preencoded.png">    </p:cNvPr>
          <p:cNvPicPr>
            <a:picLocks noChangeAspect="1"/>
          </p:cNvPicPr>
          <p:nvPr/>
        </p:nvPicPr>
        <p:blipFill>
          <a:blip r:embed="rId3"/>
          <a:stretch>
            <a:fillRect/>
          </a:stretch>
        </p:blipFill>
        <p:spPr>
          <a:xfrm>
            <a:off x="6249375" y="1540215"/>
            <a:ext cx="193121" cy="193121"/>
          </a:xfrm>
          <a:prstGeom prst="rect">
            <a:avLst/>
          </a:prstGeom>
        </p:spPr>
      </p:pic>
      <p:sp>
        <p:nvSpPr>
          <p:cNvPr id="34" name="Text 28"/>
          <p:cNvSpPr txBox="1"/>
          <p:nvPr/>
        </p:nvSpPr>
        <p:spPr>
          <a:xfrm>
            <a:off x="6638544" y="1417320"/>
            <a:ext cx="1975104" cy="438912"/>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Torchères</a:t>
            </a:r>
            <a:endParaRPr lang="en-US" sz="1150" dirty="0"/>
          </a:p>
        </p:txBody>
      </p:sp>
      <p:sp>
        <p:nvSpPr>
          <p:cNvPr id="35" name="Text 29"/>
          <p:cNvSpPr txBox="1"/>
          <p:nvPr/>
        </p:nvSpPr>
        <p:spPr>
          <a:xfrm>
            <a:off x="6163056" y="1892808"/>
            <a:ext cx="2395728" cy="420624"/>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Points isolés extrêmement brillants dans les zones pétrolières et gazières.</a:t>
            </a:r>
            <a:endParaRPr lang="en-US" sz="900" dirty="0"/>
          </a:p>
        </p:txBody>
      </p:sp>
      <p:sp>
        <p:nvSpPr>
          <p:cNvPr id="36" name="Shape 30"/>
          <p:cNvSpPr/>
          <p:nvPr/>
        </p:nvSpPr>
        <p:spPr>
          <a:xfrm>
            <a:off x="6126480" y="2331720"/>
            <a:ext cx="2468880" cy="448056"/>
          </a:xfrm>
          <a:prstGeom prst="roundRect">
            <a:avLst>
              <a:gd name="adj" fmla="val 10204"/>
            </a:avLst>
          </a:prstGeom>
          <a:solidFill>
            <a:srgbClr val="E8F5EF"/>
          </a:solidFill>
          <a:ln w="12700">
            <a:solidFill>
              <a:srgbClr val="E8F5EF"/>
            </a:solidFill>
            <a:prstDash val="solid"/>
          </a:ln>
        </p:spPr>
      </p:sp>
      <p:sp>
        <p:nvSpPr>
          <p:cNvPr id="37" name="Text 31"/>
          <p:cNvSpPr txBox="1"/>
          <p:nvPr/>
        </p:nvSpPr>
        <p:spPr>
          <a:xfrm>
            <a:off x="6181344" y="2340864"/>
            <a:ext cx="2359152" cy="429768"/>
          </a:xfrm>
          <a:prstGeom prst="rect">
            <a:avLst/>
          </a:prstGeom>
          <a:noFill/>
          <a:ln/>
        </p:spPr>
        <p:txBody>
          <a:bodyPr wrap="square" lIns="0" tIns="0" rIns="0" bIns="0" rtlCol="0" anchor="ctr"/>
          <a:lstStyle/>
          <a:p>
            <a:pPr indent="0" marL="0">
              <a:buNone/>
            </a:pPr>
            <a:r>
              <a:rPr lang="en-US" sz="850" b="1" dirty="0">
                <a:solidFill>
                  <a:srgbClr val="00704A"/>
                </a:solidFill>
                <a:latin typeface="Calibri" pitchFamily="34" charset="0"/>
                <a:ea typeface="Calibri" pitchFamily="34" charset="-122"/>
                <a:cs typeface="Calibri" pitchFamily="34" charset="-120"/>
              </a:rPr>
              <a:t>Repérage : </a:t>
            </a:r>
            <a:pPr indent="0" marL="0">
              <a:buNone/>
            </a:pPr>
            <a:r>
              <a:rPr lang="en-US" sz="850" dirty="0">
                <a:solidFill>
                  <a:srgbClr val="231F20"/>
                </a:solidFill>
                <a:latin typeface="Calibri" pitchFamily="34" charset="0"/>
                <a:ea typeface="Calibri" pitchFamily="34" charset="-122"/>
                <a:cs typeface="Calibri" pitchFamily="34" charset="-120"/>
              </a:rPr>
              <a:t>Superposer les sites VIIRS Nightfire ; masquer avant de sommer.</a:t>
            </a:r>
            <a:endParaRPr lang="en-US" sz="850" dirty="0"/>
          </a:p>
        </p:txBody>
      </p:sp>
      <p:sp>
        <p:nvSpPr>
          <p:cNvPr id="38" name="Shape 32"/>
          <p:cNvSpPr/>
          <p:nvPr/>
        </p:nvSpPr>
        <p:spPr>
          <a:xfrm>
            <a:off x="457200" y="2971800"/>
            <a:ext cx="2651760" cy="1508760"/>
          </a:xfrm>
          <a:prstGeom prst="roundRect">
            <a:avLst>
              <a:gd name="adj" fmla="val 4848"/>
            </a:avLst>
          </a:prstGeom>
          <a:solidFill>
            <a:srgbClr val="F4F7F5"/>
          </a:solidFill>
          <a:ln w="9525">
            <a:solidFill>
              <a:srgbClr val="D5DED9"/>
            </a:solidFill>
            <a:prstDash val="solid"/>
          </a:ln>
        </p:spPr>
      </p:sp>
      <p:sp>
        <p:nvSpPr>
          <p:cNvPr id="39" name="Shape 33"/>
          <p:cNvSpPr/>
          <p:nvPr/>
        </p:nvSpPr>
        <p:spPr>
          <a:xfrm>
            <a:off x="566928" y="3081528"/>
            <a:ext cx="402336" cy="402336"/>
          </a:xfrm>
          <a:prstGeom prst="ellipse">
            <a:avLst/>
          </a:prstGeom>
          <a:solidFill>
            <a:srgbClr val="C4621D">
              <a:alpha val="22000"/>
            </a:srgbClr>
          </a:solidFill>
          <a:ln w="12700">
            <a:solidFill>
              <a:srgbClr val="C4621D">
                <a:alpha val="0"/>
              </a:srgbClr>
            </a:solidFill>
            <a:prstDash val="solid"/>
          </a:ln>
        </p:spPr>
      </p:sp>
      <p:pic>
        <p:nvPicPr>
          <p:cNvPr id="40" name="Image 3" descr="preencoded.png">    </p:cNvPr>
          <p:cNvPicPr>
            <a:picLocks noChangeAspect="1"/>
          </p:cNvPicPr>
          <p:nvPr/>
        </p:nvPicPr>
        <p:blipFill>
          <a:blip r:embed="rId4"/>
          <a:stretch>
            <a:fillRect/>
          </a:stretch>
        </p:blipFill>
        <p:spPr>
          <a:xfrm>
            <a:off x="671535" y="3186135"/>
            <a:ext cx="193121" cy="193121"/>
          </a:xfrm>
          <a:prstGeom prst="rect">
            <a:avLst/>
          </a:prstGeom>
        </p:spPr>
      </p:pic>
      <p:sp>
        <p:nvSpPr>
          <p:cNvPr id="41" name="Text 34"/>
          <p:cNvSpPr txBox="1"/>
          <p:nvPr/>
        </p:nvSpPr>
        <p:spPr>
          <a:xfrm>
            <a:off x="1060704" y="3063240"/>
            <a:ext cx="1975104" cy="438912"/>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Saisonnalité</a:t>
            </a:r>
            <a:endParaRPr lang="en-US" sz="1150" dirty="0"/>
          </a:p>
        </p:txBody>
      </p:sp>
      <p:sp>
        <p:nvSpPr>
          <p:cNvPr id="42" name="Text 35"/>
          <p:cNvSpPr txBox="1"/>
          <p:nvPr/>
        </p:nvSpPr>
        <p:spPr>
          <a:xfrm>
            <a:off x="585216" y="3538728"/>
            <a:ext cx="2395728" cy="420624"/>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Cycle annuel régulier dû aux nuages, à la végétation, aux feux, aux fêtes.</a:t>
            </a:r>
            <a:endParaRPr lang="en-US" sz="900" dirty="0"/>
          </a:p>
        </p:txBody>
      </p:sp>
      <p:sp>
        <p:nvSpPr>
          <p:cNvPr id="43" name="Shape 36"/>
          <p:cNvSpPr/>
          <p:nvPr/>
        </p:nvSpPr>
        <p:spPr>
          <a:xfrm>
            <a:off x="548640" y="3977640"/>
            <a:ext cx="2468880" cy="448056"/>
          </a:xfrm>
          <a:prstGeom prst="roundRect">
            <a:avLst>
              <a:gd name="adj" fmla="val 10204"/>
            </a:avLst>
          </a:prstGeom>
          <a:solidFill>
            <a:srgbClr val="E8F5EF"/>
          </a:solidFill>
          <a:ln w="12700">
            <a:solidFill>
              <a:srgbClr val="E8F5EF"/>
            </a:solidFill>
            <a:prstDash val="solid"/>
          </a:ln>
        </p:spPr>
      </p:sp>
      <p:sp>
        <p:nvSpPr>
          <p:cNvPr id="44" name="Text 37"/>
          <p:cNvSpPr txBox="1"/>
          <p:nvPr/>
        </p:nvSpPr>
        <p:spPr>
          <a:xfrm>
            <a:off x="603504" y="3986784"/>
            <a:ext cx="2359152" cy="429768"/>
          </a:xfrm>
          <a:prstGeom prst="rect">
            <a:avLst/>
          </a:prstGeom>
          <a:noFill/>
          <a:ln/>
        </p:spPr>
        <p:txBody>
          <a:bodyPr wrap="square" lIns="0" tIns="0" rIns="0" bIns="0" rtlCol="0" anchor="ctr"/>
          <a:lstStyle/>
          <a:p>
            <a:pPr indent="0" marL="0">
              <a:buNone/>
            </a:pPr>
            <a:r>
              <a:rPr lang="en-US" sz="850" b="1" dirty="0">
                <a:solidFill>
                  <a:srgbClr val="00704A"/>
                </a:solidFill>
                <a:latin typeface="Calibri" pitchFamily="34" charset="0"/>
                <a:ea typeface="Calibri" pitchFamily="34" charset="-122"/>
                <a:cs typeface="Calibri" pitchFamily="34" charset="-120"/>
              </a:rPr>
              <a:t>Repérage : </a:t>
            </a:r>
            <a:pPr indent="0" marL="0">
              <a:buNone/>
            </a:pPr>
            <a:r>
              <a:rPr lang="en-US" sz="850" dirty="0">
                <a:solidFill>
                  <a:srgbClr val="231F20"/>
                </a:solidFill>
                <a:latin typeface="Calibri" pitchFamily="34" charset="0"/>
                <a:ea typeface="Calibri" pitchFamily="34" charset="-122"/>
                <a:cs typeface="Calibri" pitchFamily="34" charset="-120"/>
              </a:rPr>
              <a:t>Tracer la série mensuelle ; vérifier la couche du nombre d’observations.</a:t>
            </a:r>
            <a:endParaRPr lang="en-US" sz="850" dirty="0"/>
          </a:p>
        </p:txBody>
      </p:sp>
      <p:sp>
        <p:nvSpPr>
          <p:cNvPr id="45" name="Shape 38"/>
          <p:cNvSpPr/>
          <p:nvPr/>
        </p:nvSpPr>
        <p:spPr>
          <a:xfrm>
            <a:off x="3246120" y="2971800"/>
            <a:ext cx="2651760" cy="1508760"/>
          </a:xfrm>
          <a:prstGeom prst="roundRect">
            <a:avLst>
              <a:gd name="adj" fmla="val 4848"/>
            </a:avLst>
          </a:prstGeom>
          <a:solidFill>
            <a:srgbClr val="F4F7F5"/>
          </a:solidFill>
          <a:ln w="9525">
            <a:solidFill>
              <a:srgbClr val="D5DED9"/>
            </a:solidFill>
            <a:prstDash val="solid"/>
          </a:ln>
        </p:spPr>
      </p:sp>
      <p:sp>
        <p:nvSpPr>
          <p:cNvPr id="46" name="Shape 39"/>
          <p:cNvSpPr/>
          <p:nvPr/>
        </p:nvSpPr>
        <p:spPr>
          <a:xfrm>
            <a:off x="3355848" y="3081528"/>
            <a:ext cx="402336" cy="402336"/>
          </a:xfrm>
          <a:prstGeom prst="ellipse">
            <a:avLst/>
          </a:prstGeom>
          <a:solidFill>
            <a:srgbClr val="C4621D">
              <a:alpha val="22000"/>
            </a:srgbClr>
          </a:solidFill>
          <a:ln w="12700">
            <a:solidFill>
              <a:srgbClr val="C4621D">
                <a:alpha val="0"/>
              </a:srgbClr>
            </a:solidFill>
            <a:prstDash val="solid"/>
          </a:ln>
        </p:spPr>
      </p:sp>
      <p:pic>
        <p:nvPicPr>
          <p:cNvPr id="47" name="Image 4" descr="preencoded.png">    </p:cNvPr>
          <p:cNvPicPr>
            <a:picLocks noChangeAspect="1"/>
          </p:cNvPicPr>
          <p:nvPr/>
        </p:nvPicPr>
        <p:blipFill>
          <a:blip r:embed="rId5"/>
          <a:stretch>
            <a:fillRect/>
          </a:stretch>
        </p:blipFill>
        <p:spPr>
          <a:xfrm>
            <a:off x="3460455" y="3186135"/>
            <a:ext cx="193121" cy="193121"/>
          </a:xfrm>
          <a:prstGeom prst="rect">
            <a:avLst/>
          </a:prstGeom>
        </p:spPr>
      </p:pic>
      <p:sp>
        <p:nvSpPr>
          <p:cNvPr id="48" name="Text 40"/>
          <p:cNvSpPr txBox="1"/>
          <p:nvPr/>
        </p:nvSpPr>
        <p:spPr>
          <a:xfrm>
            <a:off x="3849624" y="3063240"/>
            <a:ext cx="1975104" cy="438912"/>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Discontinuité des capteurs</a:t>
            </a:r>
            <a:endParaRPr lang="en-US" sz="1150" dirty="0"/>
          </a:p>
        </p:txBody>
      </p:sp>
      <p:sp>
        <p:nvSpPr>
          <p:cNvPr id="49" name="Text 41"/>
          <p:cNvSpPr txBox="1"/>
          <p:nvPr/>
        </p:nvSpPr>
        <p:spPr>
          <a:xfrm>
            <a:off x="3374136" y="3538728"/>
            <a:ext cx="2395728" cy="420624"/>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Ruptures DMSP→VIIRS (2012–13), changement de satellite ou de version.</a:t>
            </a:r>
            <a:endParaRPr lang="en-US" sz="900" dirty="0"/>
          </a:p>
        </p:txBody>
      </p:sp>
      <p:sp>
        <p:nvSpPr>
          <p:cNvPr id="50" name="Shape 42"/>
          <p:cNvSpPr/>
          <p:nvPr/>
        </p:nvSpPr>
        <p:spPr>
          <a:xfrm>
            <a:off x="3337560" y="3977640"/>
            <a:ext cx="2468880" cy="448056"/>
          </a:xfrm>
          <a:prstGeom prst="roundRect">
            <a:avLst>
              <a:gd name="adj" fmla="val 10204"/>
            </a:avLst>
          </a:prstGeom>
          <a:solidFill>
            <a:srgbClr val="E8F5EF"/>
          </a:solidFill>
          <a:ln w="12700">
            <a:solidFill>
              <a:srgbClr val="E8F5EF"/>
            </a:solidFill>
            <a:prstDash val="solid"/>
          </a:ln>
        </p:spPr>
      </p:sp>
      <p:sp>
        <p:nvSpPr>
          <p:cNvPr id="51" name="Text 43"/>
          <p:cNvSpPr txBox="1"/>
          <p:nvPr/>
        </p:nvSpPr>
        <p:spPr>
          <a:xfrm>
            <a:off x="3392424" y="3986784"/>
            <a:ext cx="2359152" cy="429768"/>
          </a:xfrm>
          <a:prstGeom prst="rect">
            <a:avLst/>
          </a:prstGeom>
          <a:noFill/>
          <a:ln/>
        </p:spPr>
        <p:txBody>
          <a:bodyPr wrap="square" lIns="0" tIns="0" rIns="0" bIns="0" rtlCol="0" anchor="ctr"/>
          <a:lstStyle/>
          <a:p>
            <a:pPr indent="0" marL="0">
              <a:buNone/>
            </a:pPr>
            <a:r>
              <a:rPr lang="en-US" sz="850" b="1" dirty="0">
                <a:solidFill>
                  <a:srgbClr val="00704A"/>
                </a:solidFill>
                <a:latin typeface="Calibri" pitchFamily="34" charset="0"/>
                <a:ea typeface="Calibri" pitchFamily="34" charset="-122"/>
                <a:cs typeface="Calibri" pitchFamily="34" charset="-120"/>
              </a:rPr>
              <a:t>Repérage : </a:t>
            </a:r>
            <a:pPr indent="0" marL="0">
              <a:buNone/>
            </a:pPr>
            <a:r>
              <a:rPr lang="en-US" sz="850" dirty="0">
                <a:solidFill>
                  <a:srgbClr val="231F20"/>
                </a:solidFill>
                <a:latin typeface="Calibri" pitchFamily="34" charset="0"/>
                <a:ea typeface="Calibri" pitchFamily="34" charset="-122"/>
                <a:cs typeface="Calibri" pitchFamily="34" charset="-120"/>
              </a:rPr>
              <a:t>Ne jamais raccorder des séries brutes ; vérifier les versions ; harmoniser de façon documentée.</a:t>
            </a:r>
            <a:endParaRPr lang="en-US" sz="850" dirty="0"/>
          </a:p>
        </p:txBody>
      </p:sp>
      <p:sp>
        <p:nvSpPr>
          <p:cNvPr id="52" name="Shape 44"/>
          <p:cNvSpPr/>
          <p:nvPr/>
        </p:nvSpPr>
        <p:spPr>
          <a:xfrm>
            <a:off x="6035040" y="2971800"/>
            <a:ext cx="2651760" cy="1508760"/>
          </a:xfrm>
          <a:prstGeom prst="roundRect">
            <a:avLst>
              <a:gd name="adj" fmla="val 4848"/>
            </a:avLst>
          </a:prstGeom>
          <a:solidFill>
            <a:srgbClr val="F4F7F5"/>
          </a:solidFill>
          <a:ln w="9525">
            <a:solidFill>
              <a:srgbClr val="D5DED9"/>
            </a:solidFill>
            <a:prstDash val="solid"/>
          </a:ln>
        </p:spPr>
      </p:sp>
      <p:sp>
        <p:nvSpPr>
          <p:cNvPr id="53" name="Shape 45"/>
          <p:cNvSpPr/>
          <p:nvPr/>
        </p:nvSpPr>
        <p:spPr>
          <a:xfrm>
            <a:off x="6144768" y="3081528"/>
            <a:ext cx="402336" cy="402336"/>
          </a:xfrm>
          <a:prstGeom prst="ellipse">
            <a:avLst/>
          </a:prstGeom>
          <a:solidFill>
            <a:srgbClr val="C4621D">
              <a:alpha val="22000"/>
            </a:srgbClr>
          </a:solidFill>
          <a:ln w="12700">
            <a:solidFill>
              <a:srgbClr val="C4621D">
                <a:alpha val="0"/>
              </a:srgbClr>
            </a:solidFill>
            <a:prstDash val="solid"/>
          </a:ln>
        </p:spPr>
      </p:sp>
      <p:pic>
        <p:nvPicPr>
          <p:cNvPr id="54" name="Image 5" descr="preencoded.png">    </p:cNvPr>
          <p:cNvPicPr>
            <a:picLocks noChangeAspect="1"/>
          </p:cNvPicPr>
          <p:nvPr/>
        </p:nvPicPr>
        <p:blipFill>
          <a:blip r:embed="rId6"/>
          <a:stretch>
            <a:fillRect/>
          </a:stretch>
        </p:blipFill>
        <p:spPr>
          <a:xfrm>
            <a:off x="6249375" y="3186135"/>
            <a:ext cx="193121" cy="193121"/>
          </a:xfrm>
          <a:prstGeom prst="rect">
            <a:avLst/>
          </a:prstGeom>
        </p:spPr>
      </p:pic>
      <p:sp>
        <p:nvSpPr>
          <p:cNvPr id="55" name="Text 46"/>
          <p:cNvSpPr txBox="1"/>
          <p:nvPr/>
        </p:nvSpPr>
        <p:spPr>
          <a:xfrm>
            <a:off x="6638544" y="3063240"/>
            <a:ext cx="1975104" cy="438912"/>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Bruit rural de faible intensité</a:t>
            </a:r>
            <a:endParaRPr lang="en-US" sz="1150" dirty="0"/>
          </a:p>
        </p:txBody>
      </p:sp>
      <p:sp>
        <p:nvSpPr>
          <p:cNvPr id="56" name="Text 47"/>
          <p:cNvSpPr txBox="1"/>
          <p:nvPr/>
        </p:nvSpPr>
        <p:spPr>
          <a:xfrm>
            <a:off x="6163056" y="3538728"/>
            <a:ext cx="2395728" cy="420624"/>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Valeurs faibles près du seuil de détection, qui fluctuent d’un mois à l’autre.</a:t>
            </a:r>
            <a:endParaRPr lang="en-US" sz="900" dirty="0"/>
          </a:p>
        </p:txBody>
      </p:sp>
      <p:sp>
        <p:nvSpPr>
          <p:cNvPr id="57" name="Shape 48"/>
          <p:cNvSpPr/>
          <p:nvPr/>
        </p:nvSpPr>
        <p:spPr>
          <a:xfrm>
            <a:off x="6126480" y="3977640"/>
            <a:ext cx="2468880" cy="448056"/>
          </a:xfrm>
          <a:prstGeom prst="roundRect">
            <a:avLst>
              <a:gd name="adj" fmla="val 10204"/>
            </a:avLst>
          </a:prstGeom>
          <a:solidFill>
            <a:srgbClr val="E8F5EF"/>
          </a:solidFill>
          <a:ln w="12700">
            <a:solidFill>
              <a:srgbClr val="E8F5EF"/>
            </a:solidFill>
            <a:prstDash val="solid"/>
          </a:ln>
        </p:spPr>
      </p:sp>
      <p:sp>
        <p:nvSpPr>
          <p:cNvPr id="58" name="Text 49"/>
          <p:cNvSpPr txBox="1"/>
          <p:nvPr/>
        </p:nvSpPr>
        <p:spPr>
          <a:xfrm>
            <a:off x="6181344" y="3986784"/>
            <a:ext cx="2359152" cy="429768"/>
          </a:xfrm>
          <a:prstGeom prst="rect">
            <a:avLst/>
          </a:prstGeom>
          <a:noFill/>
          <a:ln/>
        </p:spPr>
        <p:txBody>
          <a:bodyPr wrap="square" lIns="0" tIns="0" rIns="0" bIns="0" rtlCol="0" anchor="ctr"/>
          <a:lstStyle/>
          <a:p>
            <a:pPr indent="0" marL="0">
              <a:buNone/>
            </a:pPr>
            <a:r>
              <a:rPr lang="en-US" sz="850" b="1" dirty="0">
                <a:solidFill>
                  <a:srgbClr val="00704A"/>
                </a:solidFill>
                <a:latin typeface="Calibri" pitchFamily="34" charset="0"/>
                <a:ea typeface="Calibri" pitchFamily="34" charset="-122"/>
                <a:cs typeface="Calibri" pitchFamily="34" charset="-120"/>
              </a:rPr>
              <a:t>Repérage : </a:t>
            </a:r>
            <a:pPr indent="0" marL="0">
              <a:buNone/>
            </a:pPr>
            <a:r>
              <a:rPr lang="en-US" sz="850" dirty="0">
                <a:solidFill>
                  <a:srgbClr val="231F20"/>
                </a:solidFill>
                <a:latin typeface="Calibri" pitchFamily="34" charset="0"/>
                <a:ea typeface="Calibri" pitchFamily="34" charset="-122"/>
                <a:cs typeface="Calibri" pitchFamily="34" charset="-120"/>
              </a:rPr>
              <a:t>Comparer avec des pixels inhabités voisins ; tester plusieurs seuils.</a:t>
            </a:r>
            <a:endParaRPr lang="en-US" sz="850" dirty="0"/>
          </a:p>
        </p:txBody>
      </p:sp>
      <p:sp>
        <p:nvSpPr>
          <p:cNvPr id="59" name="Text 50"/>
          <p:cNvSpPr txBox="1"/>
          <p:nvPr/>
        </p:nvSpPr>
        <p:spPr>
          <a:xfrm>
            <a:off x="457200" y="4645152"/>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Des séries harmonisées DMSP–VIIRS existent (p. ex. Li et al., 2020, Scientific Data) — à utiliser avec leurs hypothèses documentées.</a:t>
            </a:r>
            <a:endParaRPr lang="en-US" sz="9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LIMITES · LES ANGLES MORTS</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Ce que le satellite ne voit pas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C4621D"/>
          </a:solidFill>
          <a:ln w="12700">
            <a:solidFill>
              <a:srgbClr val="C4621D"/>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7" name="Shape 14"/>
          <p:cNvSpPr/>
          <p:nvPr/>
        </p:nvSpPr>
        <p:spPr>
          <a:xfrm>
            <a:off x="457200" y="1325880"/>
            <a:ext cx="2560320" cy="1353312"/>
          </a:xfrm>
          <a:prstGeom prst="roundRect">
            <a:avLst>
              <a:gd name="adj" fmla="val 5405"/>
            </a:avLst>
          </a:prstGeom>
          <a:solidFill>
            <a:srgbClr val="F4F7F5"/>
          </a:solidFill>
          <a:ln w="9525">
            <a:solidFill>
              <a:srgbClr val="D5DED9"/>
            </a:solidFill>
            <a:prstDash val="solid"/>
          </a:ln>
        </p:spPr>
      </p:sp>
      <p:sp>
        <p:nvSpPr>
          <p:cNvPr id="18" name="Shape 15"/>
          <p:cNvSpPr/>
          <p:nvPr/>
        </p:nvSpPr>
        <p:spPr>
          <a:xfrm>
            <a:off x="566928" y="1435608"/>
            <a:ext cx="420624" cy="420624"/>
          </a:xfrm>
          <a:prstGeom prst="ellipse">
            <a:avLst/>
          </a:prstGeom>
          <a:solidFill>
            <a:srgbClr val="C4621D">
              <a:alpha val="22000"/>
            </a:srgbClr>
          </a:solidFill>
          <a:ln w="12700">
            <a:solidFill>
              <a:srgbClr val="C4621D">
                <a:alpha val="0"/>
              </a:srgbClr>
            </a:solidFill>
            <a:prstDash val="solid"/>
          </a:ln>
        </p:spPr>
      </p:sp>
      <p:pic>
        <p:nvPicPr>
          <p:cNvPr id="19" name="Image 0" descr="preencoded.png">    </p:cNvPr>
          <p:cNvPicPr>
            <a:picLocks noChangeAspect="1"/>
          </p:cNvPicPr>
          <p:nvPr/>
        </p:nvPicPr>
        <p:blipFill>
          <a:blip r:embed="rId1"/>
          <a:stretch>
            <a:fillRect/>
          </a:stretch>
        </p:blipFill>
        <p:spPr>
          <a:xfrm>
            <a:off x="676290" y="1544970"/>
            <a:ext cx="201900" cy="201900"/>
          </a:xfrm>
          <a:prstGeom prst="rect">
            <a:avLst/>
          </a:prstGeom>
        </p:spPr>
      </p:pic>
      <p:sp>
        <p:nvSpPr>
          <p:cNvPr id="20" name="Text 16"/>
          <p:cNvSpPr txBox="1"/>
          <p:nvPr/>
        </p:nvSpPr>
        <p:spPr>
          <a:xfrm>
            <a:off x="1078992" y="1435608"/>
            <a:ext cx="1847088" cy="420624"/>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Éclairage hors réseau</a:t>
            </a:r>
            <a:endParaRPr lang="en-US" sz="1150" dirty="0"/>
          </a:p>
        </p:txBody>
      </p:sp>
      <p:sp>
        <p:nvSpPr>
          <p:cNvPr id="21" name="Text 17"/>
          <p:cNvSpPr txBox="1"/>
          <p:nvPr/>
        </p:nvSpPr>
        <p:spPr>
          <a:xfrm>
            <a:off x="585216" y="1929384"/>
            <a:ext cx="2304288" cy="713232"/>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Lanternes et petits kits solaires peuvent rester sous le seuil de détection — électrifiés, mais sombres vus d’en haut.</a:t>
            </a:r>
            <a:endParaRPr lang="en-US" sz="900" dirty="0"/>
          </a:p>
        </p:txBody>
      </p:sp>
      <p:sp>
        <p:nvSpPr>
          <p:cNvPr id="22" name="Shape 18"/>
          <p:cNvSpPr/>
          <p:nvPr/>
        </p:nvSpPr>
        <p:spPr>
          <a:xfrm>
            <a:off x="3154680" y="1325880"/>
            <a:ext cx="2560320" cy="1353312"/>
          </a:xfrm>
          <a:prstGeom prst="roundRect">
            <a:avLst>
              <a:gd name="adj" fmla="val 5405"/>
            </a:avLst>
          </a:prstGeom>
          <a:solidFill>
            <a:srgbClr val="F4F7F5"/>
          </a:solidFill>
          <a:ln w="9525">
            <a:solidFill>
              <a:srgbClr val="D5DED9"/>
            </a:solidFill>
            <a:prstDash val="solid"/>
          </a:ln>
        </p:spPr>
      </p:sp>
      <p:sp>
        <p:nvSpPr>
          <p:cNvPr id="23" name="Shape 19"/>
          <p:cNvSpPr/>
          <p:nvPr/>
        </p:nvSpPr>
        <p:spPr>
          <a:xfrm>
            <a:off x="3264408" y="1435608"/>
            <a:ext cx="420624" cy="420624"/>
          </a:xfrm>
          <a:prstGeom prst="ellipse">
            <a:avLst/>
          </a:prstGeom>
          <a:solidFill>
            <a:srgbClr val="C4621D">
              <a:alpha val="22000"/>
            </a:srgbClr>
          </a:solidFill>
          <a:ln w="12700">
            <a:solidFill>
              <a:srgbClr val="C4621D">
                <a:alpha val="0"/>
              </a:srgbClr>
            </a:solidFill>
            <a:prstDash val="solid"/>
          </a:ln>
        </p:spPr>
      </p:sp>
      <p:pic>
        <p:nvPicPr>
          <p:cNvPr id="24" name="Image 1" descr="preencoded.png">    </p:cNvPr>
          <p:cNvPicPr>
            <a:picLocks noChangeAspect="1"/>
          </p:cNvPicPr>
          <p:nvPr/>
        </p:nvPicPr>
        <p:blipFill>
          <a:blip r:embed="rId2"/>
          <a:stretch>
            <a:fillRect/>
          </a:stretch>
        </p:blipFill>
        <p:spPr>
          <a:xfrm>
            <a:off x="3373770" y="1544970"/>
            <a:ext cx="201900" cy="201900"/>
          </a:xfrm>
          <a:prstGeom prst="rect">
            <a:avLst/>
          </a:prstGeom>
        </p:spPr>
      </p:pic>
      <p:sp>
        <p:nvSpPr>
          <p:cNvPr id="25" name="Text 20"/>
          <p:cNvSpPr txBox="1"/>
          <p:nvPr/>
        </p:nvSpPr>
        <p:spPr>
          <a:xfrm>
            <a:off x="3776472" y="1435608"/>
            <a:ext cx="1847088" cy="420624"/>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Un seul instant par nuit</a:t>
            </a:r>
            <a:endParaRPr lang="en-US" sz="1150" dirty="0"/>
          </a:p>
        </p:txBody>
      </p:sp>
      <p:sp>
        <p:nvSpPr>
          <p:cNvPr id="26" name="Text 21"/>
          <p:cNvSpPr txBox="1"/>
          <p:nvPr/>
        </p:nvSpPr>
        <p:spPr>
          <a:xfrm>
            <a:off x="3282696" y="1929384"/>
            <a:ext cx="2304288" cy="713232"/>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Un passage vers 01h30 manque les marchés du soir, les équipes matinales et l’activité diurne.</a:t>
            </a:r>
            <a:endParaRPr lang="en-US" sz="900" dirty="0"/>
          </a:p>
        </p:txBody>
      </p:sp>
      <p:sp>
        <p:nvSpPr>
          <p:cNvPr id="27" name="Shape 22"/>
          <p:cNvSpPr/>
          <p:nvPr/>
        </p:nvSpPr>
        <p:spPr>
          <a:xfrm>
            <a:off x="457200" y="2807208"/>
            <a:ext cx="2560320" cy="1353312"/>
          </a:xfrm>
          <a:prstGeom prst="roundRect">
            <a:avLst>
              <a:gd name="adj" fmla="val 5405"/>
            </a:avLst>
          </a:prstGeom>
          <a:solidFill>
            <a:srgbClr val="F4F7F5"/>
          </a:solidFill>
          <a:ln w="9525">
            <a:solidFill>
              <a:srgbClr val="D5DED9"/>
            </a:solidFill>
            <a:prstDash val="solid"/>
          </a:ln>
        </p:spPr>
      </p:sp>
      <p:sp>
        <p:nvSpPr>
          <p:cNvPr id="28" name="Shape 23"/>
          <p:cNvSpPr/>
          <p:nvPr/>
        </p:nvSpPr>
        <p:spPr>
          <a:xfrm>
            <a:off x="566928" y="2916936"/>
            <a:ext cx="420624" cy="420624"/>
          </a:xfrm>
          <a:prstGeom prst="ellipse">
            <a:avLst/>
          </a:prstGeom>
          <a:solidFill>
            <a:srgbClr val="C4621D">
              <a:alpha val="22000"/>
            </a:srgbClr>
          </a:solidFill>
          <a:ln w="12700">
            <a:solidFill>
              <a:srgbClr val="C4621D">
                <a:alpha val="0"/>
              </a:srgbClr>
            </a:solidFill>
            <a:prstDash val="solid"/>
          </a:ln>
        </p:spPr>
      </p:sp>
      <p:pic>
        <p:nvPicPr>
          <p:cNvPr id="29" name="Image 2" descr="preencoded.png">    </p:cNvPr>
          <p:cNvPicPr>
            <a:picLocks noChangeAspect="1"/>
          </p:cNvPicPr>
          <p:nvPr/>
        </p:nvPicPr>
        <p:blipFill>
          <a:blip r:embed="rId3"/>
          <a:stretch>
            <a:fillRect/>
          </a:stretch>
        </p:blipFill>
        <p:spPr>
          <a:xfrm>
            <a:off x="676290" y="3026298"/>
            <a:ext cx="201900" cy="201900"/>
          </a:xfrm>
          <a:prstGeom prst="rect">
            <a:avLst/>
          </a:prstGeom>
        </p:spPr>
      </p:pic>
      <p:sp>
        <p:nvSpPr>
          <p:cNvPr id="30" name="Text 24"/>
          <p:cNvSpPr txBox="1"/>
          <p:nvPr/>
        </p:nvSpPr>
        <p:spPr>
          <a:xfrm>
            <a:off x="1078992" y="2916936"/>
            <a:ext cx="1847088" cy="420624"/>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Ni bleu, ni couleur</a:t>
            </a:r>
            <a:endParaRPr lang="en-US" sz="1150" dirty="0"/>
          </a:p>
        </p:txBody>
      </p:sp>
      <p:sp>
        <p:nvSpPr>
          <p:cNvPr id="31" name="Text 25"/>
          <p:cNvSpPr txBox="1"/>
          <p:nvPr/>
        </p:nvSpPr>
        <p:spPr>
          <a:xfrm>
            <a:off x="585216" y="3410712"/>
            <a:ext cx="2304288" cy="713232"/>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La bande jour/nuit (≈ 500–900 nm) voit à peine le bleu des LED : un passage aux LED peut sembler plus sombre.</a:t>
            </a:r>
            <a:endParaRPr lang="en-US" sz="900" dirty="0"/>
          </a:p>
        </p:txBody>
      </p:sp>
      <p:sp>
        <p:nvSpPr>
          <p:cNvPr id="32" name="Shape 26"/>
          <p:cNvSpPr/>
          <p:nvPr/>
        </p:nvSpPr>
        <p:spPr>
          <a:xfrm>
            <a:off x="3154680" y="2807208"/>
            <a:ext cx="2560320" cy="1353312"/>
          </a:xfrm>
          <a:prstGeom prst="roundRect">
            <a:avLst>
              <a:gd name="adj" fmla="val 5405"/>
            </a:avLst>
          </a:prstGeom>
          <a:solidFill>
            <a:srgbClr val="F4F7F5"/>
          </a:solidFill>
          <a:ln w="9525">
            <a:solidFill>
              <a:srgbClr val="D5DED9"/>
            </a:solidFill>
            <a:prstDash val="solid"/>
          </a:ln>
        </p:spPr>
      </p:sp>
      <p:sp>
        <p:nvSpPr>
          <p:cNvPr id="33" name="Shape 27"/>
          <p:cNvSpPr/>
          <p:nvPr/>
        </p:nvSpPr>
        <p:spPr>
          <a:xfrm>
            <a:off x="3264408" y="2916936"/>
            <a:ext cx="420624" cy="420624"/>
          </a:xfrm>
          <a:prstGeom prst="ellipse">
            <a:avLst/>
          </a:prstGeom>
          <a:solidFill>
            <a:srgbClr val="C4621D">
              <a:alpha val="22000"/>
            </a:srgbClr>
          </a:solidFill>
          <a:ln w="12700">
            <a:solidFill>
              <a:srgbClr val="C4621D">
                <a:alpha val="0"/>
              </a:srgbClr>
            </a:solidFill>
            <a:prstDash val="solid"/>
          </a:ln>
        </p:spPr>
      </p:sp>
      <p:pic>
        <p:nvPicPr>
          <p:cNvPr id="34" name="Image 3" descr="preencoded.png">    </p:cNvPr>
          <p:cNvPicPr>
            <a:picLocks noChangeAspect="1"/>
          </p:cNvPicPr>
          <p:nvPr/>
        </p:nvPicPr>
        <p:blipFill>
          <a:blip r:embed="rId4"/>
          <a:stretch>
            <a:fillRect/>
          </a:stretch>
        </p:blipFill>
        <p:spPr>
          <a:xfrm>
            <a:off x="3373770" y="3026298"/>
            <a:ext cx="201900" cy="201900"/>
          </a:xfrm>
          <a:prstGeom prst="rect">
            <a:avLst/>
          </a:prstGeom>
        </p:spPr>
      </p:pic>
      <p:sp>
        <p:nvSpPr>
          <p:cNvPr id="35" name="Text 28"/>
          <p:cNvSpPr txBox="1"/>
          <p:nvPr/>
        </p:nvSpPr>
        <p:spPr>
          <a:xfrm>
            <a:off x="3776472" y="2916936"/>
            <a:ext cx="1847088" cy="420624"/>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Nuages persistants</a:t>
            </a:r>
            <a:endParaRPr lang="en-US" sz="1150" dirty="0"/>
          </a:p>
        </p:txBody>
      </p:sp>
      <p:sp>
        <p:nvSpPr>
          <p:cNvPr id="36" name="Text 29"/>
          <p:cNvSpPr txBox="1"/>
          <p:nvPr/>
        </p:nvSpPr>
        <p:spPr>
          <a:xfrm>
            <a:off x="3282696" y="3410712"/>
            <a:ext cx="2304288" cy="713232"/>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Les longues saisons des pluies laissent peu de nuits valides ; une valeur mensuelle peut reposer sur quelques observations.</a:t>
            </a:r>
            <a:endParaRPr lang="en-US" sz="900" dirty="0"/>
          </a:p>
        </p:txBody>
      </p:sp>
      <p:sp>
        <p:nvSpPr>
          <p:cNvPr id="37" name="Shape 30"/>
          <p:cNvSpPr/>
          <p:nvPr/>
        </p:nvSpPr>
        <p:spPr>
          <a:xfrm>
            <a:off x="5897880" y="1325880"/>
            <a:ext cx="2788920" cy="2834640"/>
          </a:xfrm>
          <a:prstGeom prst="roundRect">
            <a:avLst>
              <a:gd name="adj" fmla="val 2623"/>
            </a:avLst>
          </a:prstGeom>
          <a:solidFill>
            <a:srgbClr val="E8F5EF"/>
          </a:solidFill>
          <a:ln w="15875">
            <a:solidFill>
              <a:srgbClr val="C4621D"/>
            </a:solidFill>
            <a:prstDash val="solid"/>
          </a:ln>
        </p:spPr>
      </p:sp>
      <p:sp>
        <p:nvSpPr>
          <p:cNvPr id="38" name="Text 31"/>
          <p:cNvSpPr txBox="1"/>
          <p:nvPr/>
        </p:nvSpPr>
        <p:spPr>
          <a:xfrm>
            <a:off x="6035040" y="1435608"/>
            <a:ext cx="2560320" cy="182880"/>
          </a:xfrm>
          <a:prstGeom prst="rect">
            <a:avLst/>
          </a:prstGeom>
          <a:noFill/>
          <a:ln/>
        </p:spPr>
        <p:txBody>
          <a:bodyPr wrap="square" lIns="0" tIns="0" rIns="0" bIns="0" rtlCol="0" anchor="t"/>
          <a:lstStyle/>
          <a:p>
            <a:pPr indent="0" marL="0">
              <a:buNone/>
            </a:pPr>
            <a:r>
              <a:rPr lang="en-US" sz="950" b="1" spc="200" kern="0" dirty="0">
                <a:solidFill>
                  <a:srgbClr val="C4621D"/>
                </a:solidFill>
                <a:latin typeface="Calibri" pitchFamily="34" charset="0"/>
                <a:ea typeface="Calibri" pitchFamily="34" charset="-122"/>
                <a:cs typeface="Calibri" pitchFamily="34" charset="-120"/>
              </a:rPr>
              <a:t>PREUVE · BIAIS URBAIN</a:t>
            </a:r>
            <a:endParaRPr lang="en-US" sz="950" dirty="0"/>
          </a:p>
        </p:txBody>
      </p:sp>
      <p:sp>
        <p:nvSpPr>
          <p:cNvPr id="39" name="Text 32"/>
          <p:cNvSpPr txBox="1"/>
          <p:nvPr/>
        </p:nvSpPr>
        <p:spPr>
          <a:xfrm>
            <a:off x="6035040" y="1664208"/>
            <a:ext cx="2560320" cy="256032"/>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Soudan : qui peut-on suivre ?</a:t>
            </a:r>
            <a:endParaRPr lang="en-US" sz="1250" dirty="0"/>
          </a:p>
        </p:txBody>
      </p:sp>
      <p:sp>
        <p:nvSpPr>
          <p:cNvPr id="40" name="Text 33"/>
          <p:cNvSpPr txBox="1"/>
          <p:nvPr/>
        </p:nvSpPr>
        <p:spPr>
          <a:xfrm>
            <a:off x="6035040" y="1947672"/>
            <a:ext cx="2560320" cy="114300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Avant la guerre de 2023, les localités proches de Khartoum étaient bien plus souvent suivables par NTL. Au Darfour occidental et méridional, seules celles proches des chefs-lieux de district avaient assez de lumière de référence.</a:t>
            </a:r>
            <a:endParaRPr lang="en-US" sz="950" dirty="0"/>
          </a:p>
        </p:txBody>
      </p:sp>
      <p:sp>
        <p:nvSpPr>
          <p:cNvPr id="41" name="Shape 34"/>
          <p:cNvSpPr/>
          <p:nvPr/>
        </p:nvSpPr>
        <p:spPr>
          <a:xfrm>
            <a:off x="6035040" y="3154680"/>
            <a:ext cx="2514600" cy="0"/>
          </a:xfrm>
          <a:prstGeom prst="line">
            <a:avLst/>
          </a:prstGeom>
          <a:noFill/>
          <a:ln w="9525">
            <a:solidFill>
              <a:srgbClr val="D5DED9"/>
            </a:solidFill>
            <a:prstDash val="solid"/>
          </a:ln>
        </p:spPr>
      </p:sp>
      <p:sp>
        <p:nvSpPr>
          <p:cNvPr id="42" name="Text 35"/>
          <p:cNvSpPr txBox="1"/>
          <p:nvPr/>
        </p:nvSpPr>
        <p:spPr>
          <a:xfrm>
            <a:off x="6035040" y="3246120"/>
            <a:ext cx="1188720" cy="384048"/>
          </a:xfrm>
          <a:prstGeom prst="rect">
            <a:avLst/>
          </a:prstGeom>
          <a:noFill/>
          <a:ln/>
        </p:spPr>
        <p:txBody>
          <a:bodyPr wrap="square" lIns="0" tIns="0" rIns="0" bIns="0" rtlCol="0" anchor="ctr"/>
          <a:lstStyle/>
          <a:p>
            <a:pPr indent="0" marL="0">
              <a:buNone/>
            </a:pPr>
            <a:r>
              <a:rPr lang="en-US" sz="1900" b="1" dirty="0">
                <a:solidFill>
                  <a:srgbClr val="C4621D"/>
                </a:solidFill>
                <a:latin typeface="Calibri" pitchFamily="34" charset="0"/>
                <a:ea typeface="Calibri" pitchFamily="34" charset="-122"/>
                <a:cs typeface="Calibri" pitchFamily="34" charset="-120"/>
              </a:rPr>
              <a:t>9,6 %/an</a:t>
            </a:r>
            <a:endParaRPr lang="en-US" sz="1900" dirty="0"/>
          </a:p>
        </p:txBody>
      </p:sp>
      <p:sp>
        <p:nvSpPr>
          <p:cNvPr id="43" name="Text 36"/>
          <p:cNvSpPr txBox="1"/>
          <p:nvPr/>
        </p:nvSpPr>
        <p:spPr>
          <a:xfrm>
            <a:off x="7223760" y="3246120"/>
            <a:ext cx="1371600" cy="384048"/>
          </a:xfrm>
          <a:prstGeom prst="rect">
            <a:avLst/>
          </a:prstGeom>
          <a:noFill/>
          <a:ln/>
        </p:spPr>
        <p:txBody>
          <a:bodyPr wrap="square" lIns="0" tIns="0" rIns="0" bIns="0" rtlCol="0" anchor="ctr"/>
          <a:lstStyle/>
          <a:p>
            <a:pPr indent="0" marL="0">
              <a:buNone/>
            </a:pPr>
            <a:r>
              <a:rPr lang="en-US" sz="850" dirty="0">
                <a:solidFill>
                  <a:srgbClr val="5E6964"/>
                </a:solidFill>
                <a:latin typeface="Calibri" pitchFamily="34" charset="0"/>
                <a:ea typeface="Calibri" pitchFamily="34" charset="-122"/>
                <a:cs typeface="Calibri" pitchFamily="34" charset="-120"/>
              </a:rPr>
              <a:t>éclaircissement du ciel vu du sol (2011–22)</a:t>
            </a:r>
            <a:endParaRPr lang="en-US" sz="850" dirty="0"/>
          </a:p>
        </p:txBody>
      </p:sp>
      <p:sp>
        <p:nvSpPr>
          <p:cNvPr id="44" name="Text 37"/>
          <p:cNvSpPr txBox="1"/>
          <p:nvPr/>
        </p:nvSpPr>
        <p:spPr>
          <a:xfrm>
            <a:off x="6035040" y="3675888"/>
            <a:ext cx="1188720" cy="384048"/>
          </a:xfrm>
          <a:prstGeom prst="rect">
            <a:avLst/>
          </a:prstGeom>
          <a:noFill/>
          <a:ln/>
        </p:spPr>
        <p:txBody>
          <a:bodyPr wrap="square" lIns="0" tIns="0" rIns="0" bIns="0" rtlCol="0" anchor="ctr"/>
          <a:lstStyle/>
          <a:p>
            <a:pPr indent="0" marL="0">
              <a:buNone/>
            </a:pPr>
            <a:r>
              <a:rPr lang="en-US" sz="1900" b="1" dirty="0">
                <a:solidFill>
                  <a:srgbClr val="00704A"/>
                </a:solidFill>
                <a:latin typeface="Calibri" pitchFamily="34" charset="0"/>
                <a:ea typeface="Calibri" pitchFamily="34" charset="-122"/>
                <a:cs typeface="Calibri" pitchFamily="34" charset="-120"/>
              </a:rPr>
              <a:t>2,2 %/an</a:t>
            </a:r>
            <a:endParaRPr lang="en-US" sz="1900" dirty="0"/>
          </a:p>
        </p:txBody>
      </p:sp>
      <p:sp>
        <p:nvSpPr>
          <p:cNvPr id="45" name="Text 38"/>
          <p:cNvSpPr txBox="1"/>
          <p:nvPr/>
        </p:nvSpPr>
        <p:spPr>
          <a:xfrm>
            <a:off x="7223760" y="3675888"/>
            <a:ext cx="1371600" cy="384048"/>
          </a:xfrm>
          <a:prstGeom prst="rect">
            <a:avLst/>
          </a:prstGeom>
          <a:noFill/>
          <a:ln/>
        </p:spPr>
        <p:txBody>
          <a:bodyPr wrap="square" lIns="0" tIns="0" rIns="0" bIns="0" rtlCol="0" anchor="ctr"/>
          <a:lstStyle/>
          <a:p>
            <a:pPr indent="0" marL="0">
              <a:buNone/>
            </a:pPr>
            <a:r>
              <a:rPr lang="en-US" sz="850" dirty="0">
                <a:solidFill>
                  <a:srgbClr val="5E6964"/>
                </a:solidFill>
                <a:latin typeface="Calibri" pitchFamily="34" charset="0"/>
                <a:ea typeface="Calibri" pitchFamily="34" charset="-122"/>
                <a:cs typeface="Calibri" pitchFamily="34" charset="-120"/>
              </a:rPr>
              <a:t>hausse de la surface éclairée vue de l’espace (2012–16)</a:t>
            </a:r>
            <a:endParaRPr lang="en-US" sz="850" dirty="0"/>
          </a:p>
        </p:txBody>
      </p:sp>
      <p:sp>
        <p:nvSpPr>
          <p:cNvPr id="46" name="Text 39"/>
          <p:cNvSpPr txBox="1"/>
          <p:nvPr/>
        </p:nvSpPr>
        <p:spPr>
          <a:xfrm>
            <a:off x="457200" y="4407408"/>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Sources : Humanities &amp; Social Sciences Communications (2025), « The rural limits of conflict monitoring using nighttime lights » ; Kyba et al. (2017, 2023).</a:t>
            </a:r>
            <a:endParaRPr lang="en-US" sz="9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6</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06</a:t>
            </a:r>
            <a:endParaRPr lang="en-US" sz="9600" dirty="0"/>
          </a:p>
        </p:txBody>
      </p:sp>
      <p:sp>
        <p:nvSpPr>
          <p:cNvPr id="5" name="Text 3"/>
          <p:cNvSpPr txBox="1"/>
          <p:nvPr/>
        </p:nvSpPr>
        <p:spPr>
          <a:xfrm>
            <a:off x="548640" y="2240280"/>
            <a:ext cx="5486400" cy="6858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De l’exposé au labo</a:t>
            </a:r>
            <a:endParaRPr lang="en-US" sz="3600" dirty="0"/>
          </a:p>
        </p:txBody>
      </p:sp>
      <p:sp>
        <p:nvSpPr>
          <p:cNvPr id="6" name="Text 4"/>
          <p:cNvSpPr txBox="1"/>
          <p:nvPr/>
        </p:nvSpPr>
        <p:spPr>
          <a:xfrm>
            <a:off x="548640" y="2971800"/>
            <a:ext cx="5120640" cy="59436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Comment bien faire — dès 09h30 ?</a:t>
            </a:r>
            <a:endParaRPr lang="en-US" sz="1800" dirty="0"/>
          </a:p>
        </p:txBody>
      </p:sp>
      <p:sp>
        <p:nvSpPr>
          <p:cNvPr id="7" name="Text 5"/>
          <p:cNvSpPr txBox="1"/>
          <p:nvPr/>
        </p:nvSpPr>
        <p:spPr>
          <a:xfrm>
            <a:off x="548640" y="3703320"/>
            <a:ext cx="530352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Démarche  ·  Choix du produit  ·  Validation  ·  Liste de contrôle  ·  Débat</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5C242"/>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r>
          <p:cNvPicPr>
            <a:picLocks noChangeAspect="1"/>
          </p:cNvPicPr>
          <p:nvPr/>
        </p:nvPicPr>
        <p:blipFill>
          <a:blip r:embed="rId2"/>
          <a:stretch>
            <a:fillRect/>
          </a:stretch>
        </p:blipFill>
        <p:spPr>
          <a:xfrm>
            <a:off x="6848856" y="2276856"/>
            <a:ext cx="475488" cy="475488"/>
          </a:xfrm>
          <a:prstGeom prst="rect">
            <a:avLst/>
          </a:prstGeom>
        </p:spPr>
      </p:pic>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DE L’EXPOSÉ AU LABO · LA DÉMARCHE DU JOUR</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Cinq étapes, une chaîne reproductible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29</a:t>
            </a:r>
            <a:endParaRPr lang="en-US" sz="850" dirty="0"/>
          </a:p>
        </p:txBody>
      </p:sp>
      <p:sp>
        <p:nvSpPr>
          <p:cNvPr id="17" name="Shape 14"/>
          <p:cNvSpPr/>
          <p:nvPr/>
        </p:nvSpPr>
        <p:spPr>
          <a:xfrm>
            <a:off x="457200" y="1325880"/>
            <a:ext cx="1481328" cy="658368"/>
          </a:xfrm>
          <a:prstGeom prst="roundRect">
            <a:avLst>
              <a:gd name="adj" fmla="val 11111"/>
            </a:avLst>
          </a:prstGeom>
          <a:solidFill>
            <a:srgbClr val="00704A"/>
          </a:solidFill>
          <a:ln w="9525">
            <a:solidFill>
              <a:srgbClr val="00704A"/>
            </a:solidFill>
            <a:prstDash val="solid"/>
          </a:ln>
        </p:spPr>
      </p:sp>
      <p:pic>
        <p:nvPicPr>
          <p:cNvPr id="18" name="Image 0" descr="preencoded.png">    </p:cNvPr>
          <p:cNvPicPr>
            <a:picLocks noChangeAspect="1"/>
          </p:cNvPicPr>
          <p:nvPr/>
        </p:nvPicPr>
        <p:blipFill>
          <a:blip r:embed="rId1"/>
          <a:stretch>
            <a:fillRect/>
          </a:stretch>
        </p:blipFill>
        <p:spPr>
          <a:xfrm>
            <a:off x="566928" y="1463040"/>
            <a:ext cx="384048" cy="384048"/>
          </a:xfrm>
          <a:prstGeom prst="rect">
            <a:avLst/>
          </a:prstGeom>
        </p:spPr>
      </p:pic>
      <p:sp>
        <p:nvSpPr>
          <p:cNvPr id="19" name="Text 15"/>
          <p:cNvSpPr txBox="1"/>
          <p:nvPr/>
        </p:nvSpPr>
        <p:spPr>
          <a:xfrm>
            <a:off x="1005840" y="1371600"/>
            <a:ext cx="9144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Collecter</a:t>
            </a:r>
            <a:endParaRPr lang="en-US" sz="1300" dirty="0"/>
          </a:p>
        </p:txBody>
      </p:sp>
      <p:sp>
        <p:nvSpPr>
          <p:cNvPr id="20" name="Text 16"/>
          <p:cNvSpPr txBox="1"/>
          <p:nvPr/>
        </p:nvSpPr>
        <p:spPr>
          <a:xfrm>
            <a:off x="1005840" y="1673352"/>
            <a:ext cx="868680" cy="22860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09h30</a:t>
            </a:r>
            <a:endParaRPr lang="en-US" sz="1000" dirty="0"/>
          </a:p>
        </p:txBody>
      </p:sp>
      <p:sp>
        <p:nvSpPr>
          <p:cNvPr id="21" name="Shape 17"/>
          <p:cNvSpPr/>
          <p:nvPr/>
        </p:nvSpPr>
        <p:spPr>
          <a:xfrm>
            <a:off x="457200" y="2103120"/>
            <a:ext cx="1481328" cy="1417320"/>
          </a:xfrm>
          <a:prstGeom prst="roundRect">
            <a:avLst>
              <a:gd name="adj" fmla="val 5161"/>
            </a:avLst>
          </a:prstGeom>
          <a:solidFill>
            <a:srgbClr val="F4F7F5"/>
          </a:solidFill>
          <a:ln w="9525">
            <a:solidFill>
              <a:srgbClr val="D5DED9"/>
            </a:solidFill>
            <a:prstDash val="solid"/>
          </a:ln>
        </p:spPr>
      </p:sp>
      <p:sp>
        <p:nvSpPr>
          <p:cNvPr id="22" name="Text 18"/>
          <p:cNvSpPr txBox="1"/>
          <p:nvPr/>
        </p:nvSpPr>
        <p:spPr>
          <a:xfrm>
            <a:off x="512064"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NASA Earthdata / LAADS DAAC</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EOG VNL · Google Earth Engine</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Bandes et indicateurs qualité</a:t>
            </a:r>
            <a:endParaRPr lang="en-US" sz="900" dirty="0"/>
          </a:p>
        </p:txBody>
      </p:sp>
      <p:sp>
        <p:nvSpPr>
          <p:cNvPr id="23" name="Shape 19"/>
          <p:cNvSpPr/>
          <p:nvPr/>
        </p:nvSpPr>
        <p:spPr>
          <a:xfrm>
            <a:off x="1197864" y="3547872"/>
            <a:ext cx="91" cy="201168"/>
          </a:xfrm>
          <a:prstGeom prst="line">
            <a:avLst/>
          </a:prstGeom>
          <a:noFill/>
          <a:ln w="15875">
            <a:solidFill>
              <a:srgbClr val="00704A"/>
            </a:solidFill>
            <a:prstDash val="solid"/>
            <a:tailEnd type="triangle"/>
          </a:ln>
        </p:spPr>
      </p:sp>
      <p:sp>
        <p:nvSpPr>
          <p:cNvPr id="24" name="Shape 20"/>
          <p:cNvSpPr/>
          <p:nvPr/>
        </p:nvSpPr>
        <p:spPr>
          <a:xfrm>
            <a:off x="457200" y="3776472"/>
            <a:ext cx="1481328" cy="310896"/>
          </a:xfrm>
          <a:prstGeom prst="roundRect">
            <a:avLst>
              <a:gd name="adj" fmla="val 50000"/>
            </a:avLst>
          </a:prstGeom>
          <a:solidFill>
            <a:srgbClr val="00704A">
              <a:alpha val="15000"/>
            </a:srgbClr>
          </a:solidFill>
          <a:ln w="9525">
            <a:solidFill>
              <a:srgbClr val="00704A"/>
            </a:solidFill>
            <a:prstDash val="solid"/>
          </a:ln>
        </p:spPr>
      </p:sp>
      <p:sp>
        <p:nvSpPr>
          <p:cNvPr id="25" name="Text 21"/>
          <p:cNvSpPr txBox="1"/>
          <p:nvPr/>
        </p:nvSpPr>
        <p:spPr>
          <a:xfrm>
            <a:off x="457200" y="3776472"/>
            <a:ext cx="1481328" cy="310896"/>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Extrait national</a:t>
            </a:r>
            <a:endParaRPr lang="en-US" sz="850" dirty="0"/>
          </a:p>
        </p:txBody>
      </p:sp>
      <p:sp>
        <p:nvSpPr>
          <p:cNvPr id="26" name="Shape 22"/>
          <p:cNvSpPr/>
          <p:nvPr/>
        </p:nvSpPr>
        <p:spPr>
          <a:xfrm>
            <a:off x="1956816" y="1655064"/>
            <a:ext cx="164592" cy="91"/>
          </a:xfrm>
          <a:prstGeom prst="line">
            <a:avLst/>
          </a:prstGeom>
          <a:noFill/>
          <a:ln w="15875">
            <a:solidFill>
              <a:srgbClr val="5E6964"/>
            </a:solidFill>
            <a:prstDash val="solid"/>
            <a:tailEnd type="triangle"/>
          </a:ln>
        </p:spPr>
      </p:sp>
      <p:sp>
        <p:nvSpPr>
          <p:cNvPr id="27" name="Shape 23"/>
          <p:cNvSpPr/>
          <p:nvPr/>
        </p:nvSpPr>
        <p:spPr>
          <a:xfrm>
            <a:off x="2139696" y="1325880"/>
            <a:ext cx="1481328" cy="658368"/>
          </a:xfrm>
          <a:prstGeom prst="roundRect">
            <a:avLst>
              <a:gd name="adj" fmla="val 11111"/>
            </a:avLst>
          </a:prstGeom>
          <a:solidFill>
            <a:srgbClr val="0E7C86"/>
          </a:solidFill>
          <a:ln w="9525">
            <a:solidFill>
              <a:srgbClr val="0E7C86"/>
            </a:solidFill>
            <a:prstDash val="solid"/>
          </a:ln>
        </p:spPr>
      </p:sp>
      <p:pic>
        <p:nvPicPr>
          <p:cNvPr id="28" name="Image 1" descr="preencoded.png">    </p:cNvPr>
          <p:cNvPicPr>
            <a:picLocks noChangeAspect="1"/>
          </p:cNvPicPr>
          <p:nvPr/>
        </p:nvPicPr>
        <p:blipFill>
          <a:blip r:embed="rId2"/>
          <a:stretch>
            <a:fillRect/>
          </a:stretch>
        </p:blipFill>
        <p:spPr>
          <a:xfrm>
            <a:off x="2249424" y="1463040"/>
            <a:ext cx="384048" cy="384048"/>
          </a:xfrm>
          <a:prstGeom prst="rect">
            <a:avLst/>
          </a:prstGeom>
        </p:spPr>
      </p:pic>
      <p:sp>
        <p:nvSpPr>
          <p:cNvPr id="29" name="Text 24"/>
          <p:cNvSpPr txBox="1"/>
          <p:nvPr/>
        </p:nvSpPr>
        <p:spPr>
          <a:xfrm>
            <a:off x="2688336" y="1371600"/>
            <a:ext cx="9144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Explorer</a:t>
            </a:r>
            <a:endParaRPr lang="en-US" sz="1300" dirty="0"/>
          </a:p>
        </p:txBody>
      </p:sp>
      <p:sp>
        <p:nvSpPr>
          <p:cNvPr id="30" name="Text 25"/>
          <p:cNvSpPr txBox="1"/>
          <p:nvPr/>
        </p:nvSpPr>
        <p:spPr>
          <a:xfrm>
            <a:off x="2688336" y="1673352"/>
            <a:ext cx="868680" cy="22860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10h45</a:t>
            </a:r>
            <a:endParaRPr lang="en-US" sz="1000" dirty="0"/>
          </a:p>
        </p:txBody>
      </p:sp>
      <p:sp>
        <p:nvSpPr>
          <p:cNvPr id="31" name="Shape 26"/>
          <p:cNvSpPr/>
          <p:nvPr/>
        </p:nvSpPr>
        <p:spPr>
          <a:xfrm>
            <a:off x="2139696" y="2103120"/>
            <a:ext cx="1481328" cy="1417320"/>
          </a:xfrm>
          <a:prstGeom prst="roundRect">
            <a:avLst>
              <a:gd name="adj" fmla="val 5161"/>
            </a:avLst>
          </a:prstGeom>
          <a:solidFill>
            <a:srgbClr val="F4F7F5"/>
          </a:solidFill>
          <a:ln w="9525">
            <a:solidFill>
              <a:srgbClr val="D5DED9"/>
            </a:solidFill>
            <a:prstDash val="solid"/>
          </a:ln>
        </p:spPr>
      </p:sp>
      <p:sp>
        <p:nvSpPr>
          <p:cNvPr id="32" name="Text 27"/>
          <p:cNvSpPr txBox="1"/>
          <p:nvPr/>
        </p:nvSpPr>
        <p:spPr>
          <a:xfrm>
            <a:off x="2194560"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Histogrammes et cartes</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Masques nuages et qualité</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Variations mensuelles</a:t>
            </a:r>
            <a:endParaRPr lang="en-US" sz="900" dirty="0"/>
          </a:p>
        </p:txBody>
      </p:sp>
      <p:sp>
        <p:nvSpPr>
          <p:cNvPr id="33" name="Shape 28"/>
          <p:cNvSpPr/>
          <p:nvPr/>
        </p:nvSpPr>
        <p:spPr>
          <a:xfrm>
            <a:off x="2880360" y="3547872"/>
            <a:ext cx="91" cy="201168"/>
          </a:xfrm>
          <a:prstGeom prst="line">
            <a:avLst/>
          </a:prstGeom>
          <a:noFill/>
          <a:ln w="15875">
            <a:solidFill>
              <a:srgbClr val="0E7C86"/>
            </a:solidFill>
            <a:prstDash val="solid"/>
            <a:tailEnd type="triangle"/>
          </a:ln>
        </p:spPr>
      </p:sp>
      <p:sp>
        <p:nvSpPr>
          <p:cNvPr id="34" name="Shape 29"/>
          <p:cNvSpPr/>
          <p:nvPr/>
        </p:nvSpPr>
        <p:spPr>
          <a:xfrm>
            <a:off x="2139696" y="3776472"/>
            <a:ext cx="1481328" cy="310896"/>
          </a:xfrm>
          <a:prstGeom prst="roundRect">
            <a:avLst>
              <a:gd name="adj" fmla="val 50000"/>
            </a:avLst>
          </a:prstGeom>
          <a:solidFill>
            <a:srgbClr val="0E7C86">
              <a:alpha val="15000"/>
            </a:srgbClr>
          </a:solidFill>
          <a:ln w="9525">
            <a:solidFill>
              <a:srgbClr val="0E7C86"/>
            </a:solidFill>
            <a:prstDash val="solid"/>
          </a:ln>
        </p:spPr>
      </p:sp>
      <p:sp>
        <p:nvSpPr>
          <p:cNvPr id="35" name="Text 30"/>
          <p:cNvSpPr txBox="1"/>
          <p:nvPr/>
        </p:nvSpPr>
        <p:spPr>
          <a:xfrm>
            <a:off x="2139696" y="3776472"/>
            <a:ext cx="1481328" cy="310896"/>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Journal des artefacts</a:t>
            </a:r>
            <a:endParaRPr lang="en-US" sz="850" dirty="0"/>
          </a:p>
        </p:txBody>
      </p:sp>
      <p:sp>
        <p:nvSpPr>
          <p:cNvPr id="36" name="Shape 31"/>
          <p:cNvSpPr/>
          <p:nvPr/>
        </p:nvSpPr>
        <p:spPr>
          <a:xfrm>
            <a:off x="3639312" y="1655064"/>
            <a:ext cx="164592" cy="91"/>
          </a:xfrm>
          <a:prstGeom prst="line">
            <a:avLst/>
          </a:prstGeom>
          <a:noFill/>
          <a:ln w="15875">
            <a:solidFill>
              <a:srgbClr val="5E6964"/>
            </a:solidFill>
            <a:prstDash val="solid"/>
            <a:tailEnd type="triangle"/>
          </a:ln>
        </p:spPr>
      </p:sp>
      <p:sp>
        <p:nvSpPr>
          <p:cNvPr id="37" name="Shape 32"/>
          <p:cNvSpPr/>
          <p:nvPr/>
        </p:nvSpPr>
        <p:spPr>
          <a:xfrm>
            <a:off x="3822192" y="1325880"/>
            <a:ext cx="1481328" cy="658368"/>
          </a:xfrm>
          <a:prstGeom prst="roundRect">
            <a:avLst>
              <a:gd name="adj" fmla="val 11111"/>
            </a:avLst>
          </a:prstGeom>
          <a:solidFill>
            <a:srgbClr val="D49A00"/>
          </a:solidFill>
          <a:ln w="9525">
            <a:solidFill>
              <a:srgbClr val="D49A00"/>
            </a:solidFill>
            <a:prstDash val="solid"/>
          </a:ln>
        </p:spPr>
      </p:sp>
      <p:pic>
        <p:nvPicPr>
          <p:cNvPr id="38" name="Image 2" descr="preencoded.png">    </p:cNvPr>
          <p:cNvPicPr>
            <a:picLocks noChangeAspect="1"/>
          </p:cNvPicPr>
          <p:nvPr/>
        </p:nvPicPr>
        <p:blipFill>
          <a:blip r:embed="rId3"/>
          <a:stretch>
            <a:fillRect/>
          </a:stretch>
        </p:blipFill>
        <p:spPr>
          <a:xfrm>
            <a:off x="3931920" y="1463040"/>
            <a:ext cx="384048" cy="384048"/>
          </a:xfrm>
          <a:prstGeom prst="rect">
            <a:avLst/>
          </a:prstGeom>
        </p:spPr>
      </p:pic>
      <p:sp>
        <p:nvSpPr>
          <p:cNvPr id="39" name="Text 33"/>
          <p:cNvSpPr txBox="1"/>
          <p:nvPr/>
        </p:nvSpPr>
        <p:spPr>
          <a:xfrm>
            <a:off x="4370832" y="1371600"/>
            <a:ext cx="9144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Analyser</a:t>
            </a:r>
            <a:endParaRPr lang="en-US" sz="1300" dirty="0"/>
          </a:p>
        </p:txBody>
      </p:sp>
      <p:sp>
        <p:nvSpPr>
          <p:cNvPr id="40" name="Text 34"/>
          <p:cNvSpPr txBox="1"/>
          <p:nvPr/>
        </p:nvSpPr>
        <p:spPr>
          <a:xfrm>
            <a:off x="4370832" y="1673352"/>
            <a:ext cx="868680" cy="22860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14h00</a:t>
            </a:r>
            <a:endParaRPr lang="en-US" sz="1000" dirty="0"/>
          </a:p>
        </p:txBody>
      </p:sp>
      <p:sp>
        <p:nvSpPr>
          <p:cNvPr id="41" name="Shape 35"/>
          <p:cNvSpPr/>
          <p:nvPr/>
        </p:nvSpPr>
        <p:spPr>
          <a:xfrm>
            <a:off x="3822192" y="2103120"/>
            <a:ext cx="1481328" cy="1417320"/>
          </a:xfrm>
          <a:prstGeom prst="roundRect">
            <a:avLst>
              <a:gd name="adj" fmla="val 5161"/>
            </a:avLst>
          </a:prstGeom>
          <a:solidFill>
            <a:srgbClr val="F4F7F5"/>
          </a:solidFill>
          <a:ln w="9525">
            <a:solidFill>
              <a:srgbClr val="D5DED9"/>
            </a:solidFill>
            <a:prstDash val="solid"/>
          </a:ln>
        </p:spPr>
      </p:sp>
      <p:sp>
        <p:nvSpPr>
          <p:cNvPr id="42" name="Text 36"/>
          <p:cNvSpPr txBox="1"/>
          <p:nvPr/>
        </p:nvSpPr>
        <p:spPr>
          <a:xfrm>
            <a:off x="3877056"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Stat. zonales par niveau admin.</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Séries annuelles et mensuelles</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Détection des changements</a:t>
            </a:r>
            <a:endParaRPr lang="en-US" sz="900" dirty="0"/>
          </a:p>
        </p:txBody>
      </p:sp>
      <p:sp>
        <p:nvSpPr>
          <p:cNvPr id="43" name="Shape 37"/>
          <p:cNvSpPr/>
          <p:nvPr/>
        </p:nvSpPr>
        <p:spPr>
          <a:xfrm>
            <a:off x="4562856" y="3547872"/>
            <a:ext cx="91" cy="201168"/>
          </a:xfrm>
          <a:prstGeom prst="line">
            <a:avLst/>
          </a:prstGeom>
          <a:noFill/>
          <a:ln w="15875">
            <a:solidFill>
              <a:srgbClr val="D49A00"/>
            </a:solidFill>
            <a:prstDash val="solid"/>
            <a:tailEnd type="triangle"/>
          </a:ln>
        </p:spPr>
      </p:sp>
      <p:sp>
        <p:nvSpPr>
          <p:cNvPr id="44" name="Shape 38"/>
          <p:cNvSpPr/>
          <p:nvPr/>
        </p:nvSpPr>
        <p:spPr>
          <a:xfrm>
            <a:off x="3822192" y="3776472"/>
            <a:ext cx="1481328" cy="310896"/>
          </a:xfrm>
          <a:prstGeom prst="roundRect">
            <a:avLst>
              <a:gd name="adj" fmla="val 50000"/>
            </a:avLst>
          </a:prstGeom>
          <a:solidFill>
            <a:srgbClr val="D49A00">
              <a:alpha val="15000"/>
            </a:srgbClr>
          </a:solidFill>
          <a:ln w="9525">
            <a:solidFill>
              <a:srgbClr val="D49A00"/>
            </a:solidFill>
            <a:prstDash val="solid"/>
          </a:ln>
        </p:spPr>
      </p:sp>
      <p:sp>
        <p:nvSpPr>
          <p:cNvPr id="45" name="Text 39"/>
          <p:cNvSpPr txBox="1"/>
          <p:nvPr/>
        </p:nvSpPr>
        <p:spPr>
          <a:xfrm>
            <a:off x="3822192" y="3776472"/>
            <a:ext cx="1481328" cy="310896"/>
          </a:xfrm>
          <a:prstGeom prst="rect">
            <a:avLst/>
          </a:prstGeom>
          <a:noFill/>
          <a:ln/>
        </p:spPr>
        <p:txBody>
          <a:bodyPr wrap="square" lIns="0" tIns="0" rIns="0" bIns="0" rtlCol="0" anchor="ctr"/>
          <a:lstStyle/>
          <a:p>
            <a:pPr algn="ctr" indent="0" marL="0">
              <a:buNone/>
            </a:pPr>
            <a:r>
              <a:rPr lang="en-US" sz="850" b="1" dirty="0">
                <a:solidFill>
                  <a:srgbClr val="D49A00"/>
                </a:solidFill>
                <a:latin typeface="Calibri" pitchFamily="34" charset="0"/>
                <a:ea typeface="Calibri" pitchFamily="34" charset="-122"/>
                <a:cs typeface="Calibri" pitchFamily="34" charset="-120"/>
              </a:rPr>
              <a:t>Tableaux et cartes</a:t>
            </a:r>
            <a:endParaRPr lang="en-US" sz="850" dirty="0"/>
          </a:p>
        </p:txBody>
      </p:sp>
      <p:sp>
        <p:nvSpPr>
          <p:cNvPr id="46" name="Shape 40"/>
          <p:cNvSpPr/>
          <p:nvPr/>
        </p:nvSpPr>
        <p:spPr>
          <a:xfrm>
            <a:off x="5321808" y="1655064"/>
            <a:ext cx="164592" cy="91"/>
          </a:xfrm>
          <a:prstGeom prst="line">
            <a:avLst/>
          </a:prstGeom>
          <a:noFill/>
          <a:ln w="15875">
            <a:solidFill>
              <a:srgbClr val="5E6964"/>
            </a:solidFill>
            <a:prstDash val="solid"/>
            <a:tailEnd type="triangle"/>
          </a:ln>
        </p:spPr>
      </p:sp>
      <p:sp>
        <p:nvSpPr>
          <p:cNvPr id="47" name="Shape 41"/>
          <p:cNvSpPr/>
          <p:nvPr/>
        </p:nvSpPr>
        <p:spPr>
          <a:xfrm>
            <a:off x="5504688" y="1325880"/>
            <a:ext cx="1481328" cy="658368"/>
          </a:xfrm>
          <a:prstGeom prst="roundRect">
            <a:avLst>
              <a:gd name="adj" fmla="val 11111"/>
            </a:avLst>
          </a:prstGeom>
          <a:solidFill>
            <a:srgbClr val="C4621D"/>
          </a:solidFill>
          <a:ln w="9525">
            <a:solidFill>
              <a:srgbClr val="C4621D"/>
            </a:solidFill>
            <a:prstDash val="solid"/>
          </a:ln>
        </p:spPr>
      </p:sp>
      <p:pic>
        <p:nvPicPr>
          <p:cNvPr id="48" name="Image 3" descr="preencoded.png">    </p:cNvPr>
          <p:cNvPicPr>
            <a:picLocks noChangeAspect="1"/>
          </p:cNvPicPr>
          <p:nvPr/>
        </p:nvPicPr>
        <p:blipFill>
          <a:blip r:embed="rId4"/>
          <a:stretch>
            <a:fillRect/>
          </a:stretch>
        </p:blipFill>
        <p:spPr>
          <a:xfrm>
            <a:off x="5614416" y="1463040"/>
            <a:ext cx="384048" cy="384048"/>
          </a:xfrm>
          <a:prstGeom prst="rect">
            <a:avLst/>
          </a:prstGeom>
        </p:spPr>
      </p:pic>
      <p:sp>
        <p:nvSpPr>
          <p:cNvPr id="49" name="Text 42"/>
          <p:cNvSpPr txBox="1"/>
          <p:nvPr/>
        </p:nvSpPr>
        <p:spPr>
          <a:xfrm>
            <a:off x="6053328" y="1371600"/>
            <a:ext cx="9144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Valider</a:t>
            </a:r>
            <a:endParaRPr lang="en-US" sz="1300" dirty="0"/>
          </a:p>
        </p:txBody>
      </p:sp>
      <p:sp>
        <p:nvSpPr>
          <p:cNvPr id="50" name="Text 43"/>
          <p:cNvSpPr txBox="1"/>
          <p:nvPr/>
        </p:nvSpPr>
        <p:spPr>
          <a:xfrm>
            <a:off x="6053328" y="1673352"/>
            <a:ext cx="868680" cy="22860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15h45</a:t>
            </a:r>
            <a:endParaRPr lang="en-US" sz="1000" dirty="0"/>
          </a:p>
        </p:txBody>
      </p:sp>
      <p:sp>
        <p:nvSpPr>
          <p:cNvPr id="51" name="Shape 44"/>
          <p:cNvSpPr/>
          <p:nvPr/>
        </p:nvSpPr>
        <p:spPr>
          <a:xfrm>
            <a:off x="5504688" y="2103120"/>
            <a:ext cx="1481328" cy="1417320"/>
          </a:xfrm>
          <a:prstGeom prst="roundRect">
            <a:avLst>
              <a:gd name="adj" fmla="val 5161"/>
            </a:avLst>
          </a:prstGeom>
          <a:solidFill>
            <a:srgbClr val="F4F7F5"/>
          </a:solidFill>
          <a:ln w="9525">
            <a:solidFill>
              <a:srgbClr val="D5DED9"/>
            </a:solidFill>
            <a:prstDash val="solid"/>
          </a:ln>
        </p:spPr>
      </p:sp>
      <p:sp>
        <p:nvSpPr>
          <p:cNvPr id="52" name="Text 45"/>
          <p:cNvSpPr txBox="1"/>
          <p:nvPr/>
        </p:nvSpPr>
        <p:spPr>
          <a:xfrm>
            <a:off x="5559552"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Données infranationales officielles</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Population, électrification</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Décision d’aptitude</a:t>
            </a:r>
            <a:endParaRPr lang="en-US" sz="900" dirty="0"/>
          </a:p>
        </p:txBody>
      </p:sp>
      <p:sp>
        <p:nvSpPr>
          <p:cNvPr id="53" name="Shape 46"/>
          <p:cNvSpPr/>
          <p:nvPr/>
        </p:nvSpPr>
        <p:spPr>
          <a:xfrm>
            <a:off x="6245352" y="3547872"/>
            <a:ext cx="91" cy="201168"/>
          </a:xfrm>
          <a:prstGeom prst="line">
            <a:avLst/>
          </a:prstGeom>
          <a:noFill/>
          <a:ln w="15875">
            <a:solidFill>
              <a:srgbClr val="C4621D"/>
            </a:solidFill>
            <a:prstDash val="solid"/>
            <a:tailEnd type="triangle"/>
          </a:ln>
        </p:spPr>
      </p:sp>
      <p:sp>
        <p:nvSpPr>
          <p:cNvPr id="54" name="Shape 47"/>
          <p:cNvSpPr/>
          <p:nvPr/>
        </p:nvSpPr>
        <p:spPr>
          <a:xfrm>
            <a:off x="5504688" y="3776472"/>
            <a:ext cx="1481328" cy="310896"/>
          </a:xfrm>
          <a:prstGeom prst="roundRect">
            <a:avLst>
              <a:gd name="adj" fmla="val 50000"/>
            </a:avLst>
          </a:prstGeom>
          <a:solidFill>
            <a:srgbClr val="C4621D">
              <a:alpha val="15000"/>
            </a:srgbClr>
          </a:solidFill>
          <a:ln w="9525">
            <a:solidFill>
              <a:srgbClr val="C4621D"/>
            </a:solidFill>
            <a:prstDash val="solid"/>
          </a:ln>
        </p:spPr>
      </p:sp>
      <p:sp>
        <p:nvSpPr>
          <p:cNvPr id="55" name="Text 48"/>
          <p:cNvSpPr txBox="1"/>
          <p:nvPr/>
        </p:nvSpPr>
        <p:spPr>
          <a:xfrm>
            <a:off x="5504688" y="3776472"/>
            <a:ext cx="1481328" cy="310896"/>
          </a:xfrm>
          <a:prstGeom prst="rect">
            <a:avLst/>
          </a:prstGeom>
          <a:noFill/>
          <a:ln/>
        </p:spPr>
        <p:txBody>
          <a:bodyPr wrap="square" lIns="0" tIns="0" rIns="0" bIns="0" rtlCol="0" anchor="ctr"/>
          <a:lstStyle/>
          <a:p>
            <a:pPr algn="ctr" indent="0" marL="0">
              <a:buNone/>
            </a:pPr>
            <a:r>
              <a:rPr lang="en-US" sz="850" b="1" dirty="0">
                <a:solidFill>
                  <a:srgbClr val="C4621D"/>
                </a:solidFill>
                <a:latin typeface="Calibri" pitchFamily="34" charset="0"/>
                <a:ea typeface="Calibri" pitchFamily="34" charset="-122"/>
                <a:cs typeface="Calibri" pitchFamily="34" charset="-120"/>
              </a:rPr>
              <a:t>Preuves + décision</a:t>
            </a:r>
            <a:endParaRPr lang="en-US" sz="850" dirty="0"/>
          </a:p>
        </p:txBody>
      </p:sp>
      <p:sp>
        <p:nvSpPr>
          <p:cNvPr id="56" name="Shape 49"/>
          <p:cNvSpPr/>
          <p:nvPr/>
        </p:nvSpPr>
        <p:spPr>
          <a:xfrm>
            <a:off x="7004304" y="1655064"/>
            <a:ext cx="164592" cy="91"/>
          </a:xfrm>
          <a:prstGeom prst="line">
            <a:avLst/>
          </a:prstGeom>
          <a:noFill/>
          <a:ln w="15875">
            <a:solidFill>
              <a:srgbClr val="5E6964"/>
            </a:solidFill>
            <a:prstDash val="solid"/>
            <a:tailEnd type="triangle"/>
          </a:ln>
        </p:spPr>
      </p:sp>
      <p:sp>
        <p:nvSpPr>
          <p:cNvPr id="57" name="Shape 50"/>
          <p:cNvSpPr/>
          <p:nvPr/>
        </p:nvSpPr>
        <p:spPr>
          <a:xfrm>
            <a:off x="7187184" y="1325880"/>
            <a:ext cx="1481328" cy="658368"/>
          </a:xfrm>
          <a:prstGeom prst="roundRect">
            <a:avLst>
              <a:gd name="adj" fmla="val 11111"/>
            </a:avLst>
          </a:prstGeom>
          <a:solidFill>
            <a:srgbClr val="B83B2E"/>
          </a:solidFill>
          <a:ln w="9525">
            <a:solidFill>
              <a:srgbClr val="B83B2E"/>
            </a:solidFill>
            <a:prstDash val="solid"/>
          </a:ln>
        </p:spPr>
      </p:sp>
      <p:pic>
        <p:nvPicPr>
          <p:cNvPr id="58" name="Image 4" descr="preencoded.png">    </p:cNvPr>
          <p:cNvPicPr>
            <a:picLocks noChangeAspect="1"/>
          </p:cNvPicPr>
          <p:nvPr/>
        </p:nvPicPr>
        <p:blipFill>
          <a:blip r:embed="rId5"/>
          <a:stretch>
            <a:fillRect/>
          </a:stretch>
        </p:blipFill>
        <p:spPr>
          <a:xfrm>
            <a:off x="7296912" y="1463040"/>
            <a:ext cx="384048" cy="384048"/>
          </a:xfrm>
          <a:prstGeom prst="rect">
            <a:avLst/>
          </a:prstGeom>
        </p:spPr>
      </p:pic>
      <p:sp>
        <p:nvSpPr>
          <p:cNvPr id="59" name="Text 51"/>
          <p:cNvSpPr txBox="1"/>
          <p:nvPr/>
        </p:nvSpPr>
        <p:spPr>
          <a:xfrm>
            <a:off x="7735824" y="1371600"/>
            <a:ext cx="9144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Publier</a:t>
            </a:r>
            <a:endParaRPr lang="en-US" sz="1300" dirty="0"/>
          </a:p>
        </p:txBody>
      </p:sp>
      <p:sp>
        <p:nvSpPr>
          <p:cNvPr id="60" name="Text 52"/>
          <p:cNvSpPr txBox="1"/>
          <p:nvPr/>
        </p:nvSpPr>
        <p:spPr>
          <a:xfrm>
            <a:off x="7735824" y="1673352"/>
            <a:ext cx="868680" cy="22860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16h30</a:t>
            </a:r>
            <a:endParaRPr lang="en-US" sz="1000" dirty="0"/>
          </a:p>
        </p:txBody>
      </p:sp>
      <p:sp>
        <p:nvSpPr>
          <p:cNvPr id="61" name="Shape 53"/>
          <p:cNvSpPr/>
          <p:nvPr/>
        </p:nvSpPr>
        <p:spPr>
          <a:xfrm>
            <a:off x="7187184" y="2103120"/>
            <a:ext cx="1481328" cy="1417320"/>
          </a:xfrm>
          <a:prstGeom prst="roundRect">
            <a:avLst>
              <a:gd name="adj" fmla="val 5161"/>
            </a:avLst>
          </a:prstGeom>
          <a:solidFill>
            <a:srgbClr val="F4F7F5"/>
          </a:solidFill>
          <a:ln w="9525">
            <a:solidFill>
              <a:srgbClr val="D5DED9"/>
            </a:solidFill>
            <a:prstDash val="solid"/>
          </a:ln>
        </p:spPr>
      </p:sp>
      <p:sp>
        <p:nvSpPr>
          <p:cNvPr id="62" name="Text 54"/>
          <p:cNvSpPr txBox="1"/>
          <p:nvPr/>
        </p:nvSpPr>
        <p:spPr>
          <a:xfrm>
            <a:off x="7242048"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Notebooks et cartes</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Déclaration de limites</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README : méthode, sources, licence</a:t>
            </a:r>
            <a:endParaRPr lang="en-US" sz="900" dirty="0"/>
          </a:p>
        </p:txBody>
      </p:sp>
      <p:sp>
        <p:nvSpPr>
          <p:cNvPr id="63" name="Shape 55"/>
          <p:cNvSpPr/>
          <p:nvPr/>
        </p:nvSpPr>
        <p:spPr>
          <a:xfrm>
            <a:off x="7927848" y="3547872"/>
            <a:ext cx="91" cy="201168"/>
          </a:xfrm>
          <a:prstGeom prst="line">
            <a:avLst/>
          </a:prstGeom>
          <a:noFill/>
          <a:ln w="15875">
            <a:solidFill>
              <a:srgbClr val="B83B2E"/>
            </a:solidFill>
            <a:prstDash val="solid"/>
            <a:tailEnd type="triangle"/>
          </a:ln>
        </p:spPr>
      </p:sp>
      <p:sp>
        <p:nvSpPr>
          <p:cNvPr id="64" name="Shape 56"/>
          <p:cNvSpPr/>
          <p:nvPr/>
        </p:nvSpPr>
        <p:spPr>
          <a:xfrm>
            <a:off x="7187184" y="3776472"/>
            <a:ext cx="1481328" cy="310896"/>
          </a:xfrm>
          <a:prstGeom prst="roundRect">
            <a:avLst>
              <a:gd name="adj" fmla="val 50000"/>
            </a:avLst>
          </a:prstGeom>
          <a:solidFill>
            <a:srgbClr val="B83B2E">
              <a:alpha val="15000"/>
            </a:srgbClr>
          </a:solidFill>
          <a:ln w="9525">
            <a:solidFill>
              <a:srgbClr val="B83B2E"/>
            </a:solidFill>
            <a:prstDash val="solid"/>
          </a:ln>
        </p:spPr>
      </p:sp>
      <p:sp>
        <p:nvSpPr>
          <p:cNvPr id="65" name="Text 57"/>
          <p:cNvSpPr txBox="1"/>
          <p:nvPr/>
        </p:nvSpPr>
        <p:spPr>
          <a:xfrm>
            <a:off x="7187184" y="3776472"/>
            <a:ext cx="1481328" cy="310896"/>
          </a:xfrm>
          <a:prstGeom prst="rect">
            <a:avLst/>
          </a:prstGeom>
          <a:noFill/>
          <a:ln/>
        </p:spPr>
        <p:txBody>
          <a:bodyPr wrap="square" lIns="0" tIns="0" rIns="0" bIns="0" rtlCol="0" anchor="ctr"/>
          <a:lstStyle/>
          <a:p>
            <a:pPr algn="ctr" indent="0" marL="0">
              <a:buNone/>
            </a:pPr>
            <a:r>
              <a:rPr lang="en-US" sz="850" b="1" dirty="0">
                <a:solidFill>
                  <a:srgbClr val="B83B2E"/>
                </a:solidFill>
                <a:latin typeface="Calibri" pitchFamily="34" charset="0"/>
                <a:ea typeface="Calibri" pitchFamily="34" charset="-122"/>
                <a:cs typeface="Calibri" pitchFamily="34" charset="-120"/>
              </a:rPr>
              <a:t>Dépôt public</a:t>
            </a:r>
            <a:endParaRPr lang="en-US" sz="850" dirty="0"/>
          </a:p>
        </p:txBody>
      </p:sp>
      <p:sp>
        <p:nvSpPr>
          <p:cNvPr id="66" name="Text 58"/>
          <p:cNvSpPr txBox="1"/>
          <p:nvPr/>
        </p:nvSpPr>
        <p:spPr>
          <a:xfrm>
            <a:off x="457200" y="4297680"/>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Exemple d’outils libres : rasterio / xarray (lecture), geopandas (contours), rasterstats ou exactextract (statistiques zonales), matplotlib (cartes).</a:t>
            </a:r>
            <a:endParaRPr lang="en-US" sz="9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DE L’EXPOSÉ AU LABO · CHOISIR UN PRODUIT</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Quelle fréquence pour quelle question ?</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7" name="Shape 14"/>
          <p:cNvSpPr/>
          <p:nvPr/>
        </p:nvSpPr>
        <p:spPr>
          <a:xfrm>
            <a:off x="457200" y="1325880"/>
            <a:ext cx="2651760" cy="2743200"/>
          </a:xfrm>
          <a:prstGeom prst="roundRect">
            <a:avLst>
              <a:gd name="adj" fmla="val 2759"/>
            </a:avLst>
          </a:prstGeom>
          <a:solidFill>
            <a:srgbClr val="E8F5EF"/>
          </a:solidFill>
          <a:ln w="15875">
            <a:solidFill>
              <a:srgbClr val="00553A"/>
            </a:solidFill>
            <a:prstDash val="solid"/>
          </a:ln>
        </p:spPr>
      </p:sp>
      <p:sp>
        <p:nvSpPr>
          <p:cNvPr id="18" name="Shape 15"/>
          <p:cNvSpPr/>
          <p:nvPr/>
        </p:nvSpPr>
        <p:spPr>
          <a:xfrm>
            <a:off x="566928" y="1417320"/>
            <a:ext cx="457200" cy="457200"/>
          </a:xfrm>
          <a:prstGeom prst="ellipse">
            <a:avLst/>
          </a:prstGeom>
          <a:solidFill>
            <a:srgbClr val="00553A">
              <a:alpha val="22000"/>
            </a:srgbClr>
          </a:solidFill>
          <a:ln w="12700">
            <a:solidFill>
              <a:srgbClr val="00553A">
                <a:alpha val="0"/>
              </a:srgbClr>
            </a:solidFill>
            <a:prstDash val="solid"/>
          </a:ln>
        </p:spPr>
      </p:sp>
      <p:pic>
        <p:nvPicPr>
          <p:cNvPr id="19" name="Image 0" descr="preencoded.png">    </p:cNvPr>
          <p:cNvPicPr>
            <a:picLocks noChangeAspect="1"/>
          </p:cNvPicPr>
          <p:nvPr/>
        </p:nvPicPr>
        <p:blipFill>
          <a:blip r:embed="rId1"/>
          <a:stretch>
            <a:fillRect/>
          </a:stretch>
        </p:blipFill>
        <p:spPr>
          <a:xfrm>
            <a:off x="685800" y="1536192"/>
            <a:ext cx="219456" cy="219456"/>
          </a:xfrm>
          <a:prstGeom prst="rect">
            <a:avLst/>
          </a:prstGeom>
        </p:spPr>
      </p:pic>
      <p:sp>
        <p:nvSpPr>
          <p:cNvPr id="20" name="Text 16"/>
          <p:cNvSpPr txBox="1"/>
          <p:nvPr/>
        </p:nvSpPr>
        <p:spPr>
          <a:xfrm>
            <a:off x="1115568" y="1417320"/>
            <a:ext cx="1828800" cy="256032"/>
          </a:xfrm>
          <a:prstGeom prst="rect">
            <a:avLst/>
          </a:prstGeom>
          <a:noFill/>
          <a:ln/>
        </p:spPr>
        <p:txBody>
          <a:bodyPr wrap="square" lIns="0" tIns="0" rIns="0" bIns="0" rtlCol="0" anchor="t"/>
          <a:lstStyle/>
          <a:p>
            <a:pPr indent="0" marL="0">
              <a:buNone/>
            </a:pPr>
            <a:r>
              <a:rPr lang="en-US" sz="1500" b="1" dirty="0">
                <a:solidFill>
                  <a:srgbClr val="00553A"/>
                </a:solidFill>
                <a:latin typeface="Calibri" pitchFamily="34" charset="0"/>
                <a:ea typeface="Calibri" pitchFamily="34" charset="-122"/>
                <a:cs typeface="Calibri" pitchFamily="34" charset="-120"/>
              </a:rPr>
              <a:t>Annuel</a:t>
            </a:r>
            <a:endParaRPr lang="en-US" sz="1500" dirty="0"/>
          </a:p>
        </p:txBody>
      </p:sp>
      <p:sp>
        <p:nvSpPr>
          <p:cNvPr id="21" name="Text 17"/>
          <p:cNvSpPr txBox="1"/>
          <p:nvPr/>
        </p:nvSpPr>
        <p:spPr>
          <a:xfrm>
            <a:off x="1115568" y="1673352"/>
            <a:ext cx="1920240" cy="20116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VNP46A4 · EOG VNL annuel</a:t>
            </a:r>
            <a:endParaRPr lang="en-US" sz="900" dirty="0"/>
          </a:p>
        </p:txBody>
      </p:sp>
      <p:sp>
        <p:nvSpPr>
          <p:cNvPr id="22" name="Text 18"/>
          <p:cNvSpPr txBox="1"/>
          <p:nvPr/>
        </p:nvSpPr>
        <p:spPr>
          <a:xfrm>
            <a:off x="585216" y="2011680"/>
            <a:ext cx="2423160" cy="164592"/>
          </a:xfrm>
          <a:prstGeom prst="rect">
            <a:avLst/>
          </a:prstGeom>
          <a:noFill/>
          <a:ln/>
        </p:spPr>
        <p:txBody>
          <a:bodyPr wrap="square" lIns="0" tIns="0" rIns="0" bIns="0" rtlCol="0" anchor="t"/>
          <a:lstStyle/>
          <a:p>
            <a:pPr indent="0" marL="0">
              <a:buNone/>
            </a:pPr>
            <a:r>
              <a:rPr lang="en-US" sz="800" b="1" spc="200" kern="0" dirty="0">
                <a:solidFill>
                  <a:srgbClr val="00A86A"/>
                </a:solidFill>
                <a:latin typeface="Calibri" pitchFamily="34" charset="0"/>
                <a:ea typeface="Calibri" pitchFamily="34" charset="-122"/>
                <a:cs typeface="Calibri" pitchFamily="34" charset="-120"/>
              </a:rPr>
              <a:t>ATOUT</a:t>
            </a:r>
            <a:endParaRPr lang="en-US" sz="800" dirty="0"/>
          </a:p>
        </p:txBody>
      </p:sp>
      <p:sp>
        <p:nvSpPr>
          <p:cNvPr id="23" name="Text 19"/>
          <p:cNvSpPr txBox="1"/>
          <p:nvPr/>
        </p:nvSpPr>
        <p:spPr>
          <a:xfrm>
            <a:off x="585216" y="2194560"/>
            <a:ext cx="2395728" cy="475488"/>
          </a:xfrm>
          <a:prstGeom prst="rect">
            <a:avLst/>
          </a:prstGeom>
          <a:noFill/>
          <a:ln/>
        </p:spPr>
        <p:txBody>
          <a:bodyPr wrap="square" lIns="0" tIns="0" rIns="0" bIns="0" rtlCol="0" anchor="t"/>
          <a:lstStyle/>
          <a:p>
            <a:pPr indent="0" marL="0">
              <a:buNone/>
            </a:pPr>
            <a:r>
              <a:rPr lang="en-US" sz="900" dirty="0">
                <a:solidFill>
                  <a:srgbClr val="231F20"/>
                </a:solidFill>
                <a:latin typeface="Calibri" pitchFamily="34" charset="0"/>
                <a:ea typeface="Calibri" pitchFamily="34" charset="-122"/>
                <a:cs typeface="Calibri" pitchFamily="34" charset="-120"/>
              </a:rPr>
              <a:t>Série la plus propre ; bruit et lumières éphémères largement filtrés.</a:t>
            </a:r>
            <a:endParaRPr lang="en-US" sz="900" dirty="0"/>
          </a:p>
        </p:txBody>
      </p:sp>
      <p:sp>
        <p:nvSpPr>
          <p:cNvPr id="24" name="Text 20"/>
          <p:cNvSpPr txBox="1"/>
          <p:nvPr/>
        </p:nvSpPr>
        <p:spPr>
          <a:xfrm>
            <a:off x="585216" y="2688336"/>
            <a:ext cx="2423160" cy="164592"/>
          </a:xfrm>
          <a:prstGeom prst="rect">
            <a:avLst/>
          </a:prstGeom>
          <a:noFill/>
          <a:ln/>
        </p:spPr>
        <p:txBody>
          <a:bodyPr wrap="square" lIns="0" tIns="0" rIns="0" bIns="0" rtlCol="0" anchor="t"/>
          <a:lstStyle/>
          <a:p>
            <a:pPr indent="0" marL="0">
              <a:buNone/>
            </a:pPr>
            <a:r>
              <a:rPr lang="en-US" sz="800" b="1" spc="200" kern="0" dirty="0">
                <a:solidFill>
                  <a:srgbClr val="D49A00"/>
                </a:solidFill>
                <a:latin typeface="Calibri" pitchFamily="34" charset="0"/>
                <a:ea typeface="Calibri" pitchFamily="34" charset="-122"/>
                <a:cs typeface="Calibri" pitchFamily="34" charset="-120"/>
              </a:rPr>
              <a:t>POINT DE VIGILANCE</a:t>
            </a:r>
            <a:endParaRPr lang="en-US" sz="800" dirty="0"/>
          </a:p>
        </p:txBody>
      </p:sp>
      <p:sp>
        <p:nvSpPr>
          <p:cNvPr id="25" name="Text 21"/>
          <p:cNvSpPr txBox="1"/>
          <p:nvPr/>
        </p:nvSpPr>
        <p:spPr>
          <a:xfrm>
            <a:off x="585216" y="2871216"/>
            <a:ext cx="2395728" cy="475488"/>
          </a:xfrm>
          <a:prstGeom prst="rect">
            <a:avLst/>
          </a:prstGeom>
          <a:noFill/>
          <a:ln/>
        </p:spPr>
        <p:txBody>
          <a:bodyPr wrap="square" lIns="0" tIns="0" rIns="0" bIns="0" rtlCol="0" anchor="t"/>
          <a:lstStyle/>
          <a:p>
            <a:pPr indent="0" marL="0">
              <a:buNone/>
            </a:pPr>
            <a:r>
              <a:rPr lang="en-US" sz="900" dirty="0">
                <a:solidFill>
                  <a:srgbClr val="231F20"/>
                </a:solidFill>
                <a:latin typeface="Calibri" pitchFamily="34" charset="0"/>
                <a:ea typeface="Calibri" pitchFamily="34" charset="-122"/>
                <a:cs typeface="Calibri" pitchFamily="34" charset="-120"/>
              </a:rPr>
              <a:t>Impossible de dater un changement à l’intérieur de l’année.</a:t>
            </a:r>
            <a:endParaRPr lang="en-US" sz="900" dirty="0"/>
          </a:p>
        </p:txBody>
      </p:sp>
      <p:sp>
        <p:nvSpPr>
          <p:cNvPr id="26" name="Text 22"/>
          <p:cNvSpPr txBox="1"/>
          <p:nvPr/>
        </p:nvSpPr>
        <p:spPr>
          <a:xfrm>
            <a:off x="585216" y="3364992"/>
            <a:ext cx="2423160" cy="164592"/>
          </a:xfrm>
          <a:prstGeom prst="rect">
            <a:avLst/>
          </a:prstGeom>
          <a:noFill/>
          <a:ln/>
        </p:spPr>
        <p:txBody>
          <a:bodyPr wrap="square" lIns="0" tIns="0" rIns="0" bIns="0" rtlCol="0" anchor="t"/>
          <a:lstStyle/>
          <a:p>
            <a:pPr indent="0" marL="0">
              <a:buNone/>
            </a:pPr>
            <a:r>
              <a:rPr lang="en-US" sz="800" b="1" spc="200" kern="0" dirty="0">
                <a:solidFill>
                  <a:srgbClr val="00704A"/>
                </a:solidFill>
                <a:latin typeface="Calibri" pitchFamily="34" charset="0"/>
                <a:ea typeface="Calibri" pitchFamily="34" charset="-122"/>
                <a:cs typeface="Calibri" pitchFamily="34" charset="-120"/>
              </a:rPr>
              <a:t>USAGE TYPE POUR UN INS</a:t>
            </a:r>
            <a:endParaRPr lang="en-US" sz="800" dirty="0"/>
          </a:p>
        </p:txBody>
      </p:sp>
      <p:sp>
        <p:nvSpPr>
          <p:cNvPr id="27" name="Text 23"/>
          <p:cNvSpPr txBox="1"/>
          <p:nvPr/>
        </p:nvSpPr>
        <p:spPr>
          <a:xfrm>
            <a:off x="585216" y="3547872"/>
            <a:ext cx="2395728" cy="475488"/>
          </a:xfrm>
          <a:prstGeom prst="rect">
            <a:avLst/>
          </a:prstGeom>
          <a:noFill/>
          <a:ln/>
        </p:spPr>
        <p:txBody>
          <a:bodyPr wrap="square" lIns="0" tIns="0" rIns="0" bIns="0" rtlCol="0" anchor="t"/>
          <a:lstStyle/>
          <a:p>
            <a:pPr indent="0" marL="0">
              <a:buNone/>
            </a:pPr>
            <a:r>
              <a:rPr lang="en-US" sz="900" dirty="0">
                <a:solidFill>
                  <a:srgbClr val="231F20"/>
                </a:solidFill>
                <a:latin typeface="Calibri" pitchFamily="34" charset="0"/>
                <a:ea typeface="Calibri" pitchFamily="34" charset="-122"/>
                <a:cs typeface="Calibri" pitchFamily="34" charset="-120"/>
              </a:rPr>
              <a:t>Panels infranationaux, tendances longues, expansion urbaine, cartes de pauvreté.</a:t>
            </a:r>
            <a:endParaRPr lang="en-US" sz="900" dirty="0"/>
          </a:p>
        </p:txBody>
      </p:sp>
      <p:sp>
        <p:nvSpPr>
          <p:cNvPr id="28" name="Shape 24"/>
          <p:cNvSpPr/>
          <p:nvPr/>
        </p:nvSpPr>
        <p:spPr>
          <a:xfrm>
            <a:off x="3246120" y="1325880"/>
            <a:ext cx="2651760" cy="2743200"/>
          </a:xfrm>
          <a:prstGeom prst="roundRect">
            <a:avLst>
              <a:gd name="adj" fmla="val 2759"/>
            </a:avLst>
          </a:prstGeom>
          <a:solidFill>
            <a:srgbClr val="F4F7F5"/>
          </a:solidFill>
          <a:ln w="9525">
            <a:solidFill>
              <a:srgbClr val="D5DED9"/>
            </a:solidFill>
            <a:prstDash val="solid"/>
          </a:ln>
        </p:spPr>
      </p:sp>
      <p:sp>
        <p:nvSpPr>
          <p:cNvPr id="29" name="Shape 25"/>
          <p:cNvSpPr/>
          <p:nvPr/>
        </p:nvSpPr>
        <p:spPr>
          <a:xfrm>
            <a:off x="3355848" y="1417320"/>
            <a:ext cx="457200" cy="457200"/>
          </a:xfrm>
          <a:prstGeom prst="ellipse">
            <a:avLst/>
          </a:prstGeom>
          <a:solidFill>
            <a:srgbClr val="00704A">
              <a:alpha val="22000"/>
            </a:srgbClr>
          </a:solidFill>
          <a:ln w="12700">
            <a:solidFill>
              <a:srgbClr val="00704A">
                <a:alpha val="0"/>
              </a:srgbClr>
            </a:solidFill>
            <a:prstDash val="solid"/>
          </a:ln>
        </p:spPr>
      </p:sp>
      <p:pic>
        <p:nvPicPr>
          <p:cNvPr id="30" name="Image 1" descr="preencoded.png">    </p:cNvPr>
          <p:cNvPicPr>
            <a:picLocks noChangeAspect="1"/>
          </p:cNvPicPr>
          <p:nvPr/>
        </p:nvPicPr>
        <p:blipFill>
          <a:blip r:embed="rId2"/>
          <a:stretch>
            <a:fillRect/>
          </a:stretch>
        </p:blipFill>
        <p:spPr>
          <a:xfrm>
            <a:off x="3474720" y="1536192"/>
            <a:ext cx="219456" cy="219456"/>
          </a:xfrm>
          <a:prstGeom prst="rect">
            <a:avLst/>
          </a:prstGeom>
        </p:spPr>
      </p:pic>
      <p:sp>
        <p:nvSpPr>
          <p:cNvPr id="31" name="Text 26"/>
          <p:cNvSpPr txBox="1"/>
          <p:nvPr/>
        </p:nvSpPr>
        <p:spPr>
          <a:xfrm>
            <a:off x="3904488" y="1417320"/>
            <a:ext cx="1828800" cy="256032"/>
          </a:xfrm>
          <a:prstGeom prst="rect">
            <a:avLst/>
          </a:prstGeom>
          <a:noFill/>
          <a:ln/>
        </p:spPr>
        <p:txBody>
          <a:bodyPr wrap="square" lIns="0" tIns="0" rIns="0" bIns="0" rtlCol="0" anchor="t"/>
          <a:lstStyle/>
          <a:p>
            <a:pPr indent="0" marL="0">
              <a:buNone/>
            </a:pPr>
            <a:r>
              <a:rPr lang="en-US" sz="1500" b="1" dirty="0">
                <a:solidFill>
                  <a:srgbClr val="00704A"/>
                </a:solidFill>
                <a:latin typeface="Calibri" pitchFamily="34" charset="0"/>
                <a:ea typeface="Calibri" pitchFamily="34" charset="-122"/>
                <a:cs typeface="Calibri" pitchFamily="34" charset="-120"/>
              </a:rPr>
              <a:t>Mensuel</a:t>
            </a:r>
            <a:endParaRPr lang="en-US" sz="1500" dirty="0"/>
          </a:p>
        </p:txBody>
      </p:sp>
      <p:sp>
        <p:nvSpPr>
          <p:cNvPr id="32" name="Text 27"/>
          <p:cNvSpPr txBox="1"/>
          <p:nvPr/>
        </p:nvSpPr>
        <p:spPr>
          <a:xfrm>
            <a:off x="3904488" y="1673352"/>
            <a:ext cx="1920240" cy="20116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VNP46A3 · EOG VNL mensuel</a:t>
            </a:r>
            <a:endParaRPr lang="en-US" sz="900" dirty="0"/>
          </a:p>
        </p:txBody>
      </p:sp>
      <p:sp>
        <p:nvSpPr>
          <p:cNvPr id="33" name="Text 28"/>
          <p:cNvSpPr txBox="1"/>
          <p:nvPr/>
        </p:nvSpPr>
        <p:spPr>
          <a:xfrm>
            <a:off x="3374136" y="2011680"/>
            <a:ext cx="2423160" cy="164592"/>
          </a:xfrm>
          <a:prstGeom prst="rect">
            <a:avLst/>
          </a:prstGeom>
          <a:noFill/>
          <a:ln/>
        </p:spPr>
        <p:txBody>
          <a:bodyPr wrap="square" lIns="0" tIns="0" rIns="0" bIns="0" rtlCol="0" anchor="t"/>
          <a:lstStyle/>
          <a:p>
            <a:pPr indent="0" marL="0">
              <a:buNone/>
            </a:pPr>
            <a:r>
              <a:rPr lang="en-US" sz="800" b="1" spc="200" kern="0" dirty="0">
                <a:solidFill>
                  <a:srgbClr val="00A86A"/>
                </a:solidFill>
                <a:latin typeface="Calibri" pitchFamily="34" charset="0"/>
                <a:ea typeface="Calibri" pitchFamily="34" charset="-122"/>
                <a:cs typeface="Calibri" pitchFamily="34" charset="-120"/>
              </a:rPr>
              <a:t>ATOUT</a:t>
            </a:r>
            <a:endParaRPr lang="en-US" sz="800" dirty="0"/>
          </a:p>
        </p:txBody>
      </p:sp>
      <p:sp>
        <p:nvSpPr>
          <p:cNvPr id="34" name="Text 29"/>
          <p:cNvSpPr txBox="1"/>
          <p:nvPr/>
        </p:nvSpPr>
        <p:spPr>
          <a:xfrm>
            <a:off x="3374136" y="2194560"/>
            <a:ext cx="2395728" cy="475488"/>
          </a:xfrm>
          <a:prstGeom prst="rect">
            <a:avLst/>
          </a:prstGeom>
          <a:noFill/>
          <a:ln/>
        </p:spPr>
        <p:txBody>
          <a:bodyPr wrap="square" lIns="0" tIns="0" rIns="0" bIns="0" rtlCol="0" anchor="t"/>
          <a:lstStyle/>
          <a:p>
            <a:pPr indent="0" marL="0">
              <a:buNone/>
            </a:pPr>
            <a:r>
              <a:rPr lang="en-US" sz="900" dirty="0">
                <a:solidFill>
                  <a:srgbClr val="231F20"/>
                </a:solidFill>
                <a:latin typeface="Calibri" pitchFamily="34" charset="0"/>
                <a:ea typeface="Calibri" pitchFamily="34" charset="-122"/>
                <a:cs typeface="Calibri" pitchFamily="34" charset="-120"/>
              </a:rPr>
              <a:t>Date un changement à la saison près.</a:t>
            </a:r>
            <a:endParaRPr lang="en-US" sz="900" dirty="0"/>
          </a:p>
        </p:txBody>
      </p:sp>
      <p:sp>
        <p:nvSpPr>
          <p:cNvPr id="35" name="Text 30"/>
          <p:cNvSpPr txBox="1"/>
          <p:nvPr/>
        </p:nvSpPr>
        <p:spPr>
          <a:xfrm>
            <a:off x="3374136" y="2688336"/>
            <a:ext cx="2423160" cy="164592"/>
          </a:xfrm>
          <a:prstGeom prst="rect">
            <a:avLst/>
          </a:prstGeom>
          <a:noFill/>
          <a:ln/>
        </p:spPr>
        <p:txBody>
          <a:bodyPr wrap="square" lIns="0" tIns="0" rIns="0" bIns="0" rtlCol="0" anchor="t"/>
          <a:lstStyle/>
          <a:p>
            <a:pPr indent="0" marL="0">
              <a:buNone/>
            </a:pPr>
            <a:r>
              <a:rPr lang="en-US" sz="800" b="1" spc="200" kern="0" dirty="0">
                <a:solidFill>
                  <a:srgbClr val="D49A00"/>
                </a:solidFill>
                <a:latin typeface="Calibri" pitchFamily="34" charset="0"/>
                <a:ea typeface="Calibri" pitchFamily="34" charset="-122"/>
                <a:cs typeface="Calibri" pitchFamily="34" charset="-120"/>
              </a:rPr>
              <a:t>POINT DE VIGILANCE</a:t>
            </a:r>
            <a:endParaRPr lang="en-US" sz="800" dirty="0"/>
          </a:p>
        </p:txBody>
      </p:sp>
      <p:sp>
        <p:nvSpPr>
          <p:cNvPr id="36" name="Text 31"/>
          <p:cNvSpPr txBox="1"/>
          <p:nvPr/>
        </p:nvSpPr>
        <p:spPr>
          <a:xfrm>
            <a:off x="3374136" y="2871216"/>
            <a:ext cx="2395728" cy="475488"/>
          </a:xfrm>
          <a:prstGeom prst="rect">
            <a:avLst/>
          </a:prstGeom>
          <a:noFill/>
          <a:ln/>
        </p:spPr>
        <p:txBody>
          <a:bodyPr wrap="square" lIns="0" tIns="0" rIns="0" bIns="0" rtlCol="0" anchor="t"/>
          <a:lstStyle/>
          <a:p>
            <a:pPr indent="0" marL="0">
              <a:buNone/>
            </a:pPr>
            <a:r>
              <a:rPr lang="en-US" sz="900" dirty="0">
                <a:solidFill>
                  <a:srgbClr val="231F20"/>
                </a:solidFill>
                <a:latin typeface="Calibri" pitchFamily="34" charset="0"/>
                <a:ea typeface="Calibri" pitchFamily="34" charset="-122"/>
                <a:cs typeface="Calibri" pitchFamily="34" charset="-120"/>
              </a:rPr>
              <a:t>Les mois de pluie peuvent reposer sur très peu de nuits valides.</a:t>
            </a:r>
            <a:endParaRPr lang="en-US" sz="900" dirty="0"/>
          </a:p>
        </p:txBody>
      </p:sp>
      <p:sp>
        <p:nvSpPr>
          <p:cNvPr id="37" name="Text 32"/>
          <p:cNvSpPr txBox="1"/>
          <p:nvPr/>
        </p:nvSpPr>
        <p:spPr>
          <a:xfrm>
            <a:off x="3374136" y="3364992"/>
            <a:ext cx="2423160" cy="164592"/>
          </a:xfrm>
          <a:prstGeom prst="rect">
            <a:avLst/>
          </a:prstGeom>
          <a:noFill/>
          <a:ln/>
        </p:spPr>
        <p:txBody>
          <a:bodyPr wrap="square" lIns="0" tIns="0" rIns="0" bIns="0" rtlCol="0" anchor="t"/>
          <a:lstStyle/>
          <a:p>
            <a:pPr indent="0" marL="0">
              <a:buNone/>
            </a:pPr>
            <a:r>
              <a:rPr lang="en-US" sz="800" b="1" spc="200" kern="0" dirty="0">
                <a:solidFill>
                  <a:srgbClr val="00704A"/>
                </a:solidFill>
                <a:latin typeface="Calibri" pitchFamily="34" charset="0"/>
                <a:ea typeface="Calibri" pitchFamily="34" charset="-122"/>
                <a:cs typeface="Calibri" pitchFamily="34" charset="-120"/>
              </a:rPr>
              <a:t>USAGE TYPE POUR UN INS</a:t>
            </a:r>
            <a:endParaRPr lang="en-US" sz="800" dirty="0"/>
          </a:p>
        </p:txBody>
      </p:sp>
      <p:sp>
        <p:nvSpPr>
          <p:cNvPr id="38" name="Text 33"/>
          <p:cNvSpPr txBox="1"/>
          <p:nvPr/>
        </p:nvSpPr>
        <p:spPr>
          <a:xfrm>
            <a:off x="3374136" y="3547872"/>
            <a:ext cx="2395728" cy="475488"/>
          </a:xfrm>
          <a:prstGeom prst="rect">
            <a:avLst/>
          </a:prstGeom>
          <a:noFill/>
          <a:ln/>
        </p:spPr>
        <p:txBody>
          <a:bodyPr wrap="square" lIns="0" tIns="0" rIns="0" bIns="0" rtlCol="0" anchor="t"/>
          <a:lstStyle/>
          <a:p>
            <a:pPr indent="0" marL="0">
              <a:buNone/>
            </a:pPr>
            <a:r>
              <a:rPr lang="en-US" sz="900" dirty="0">
                <a:solidFill>
                  <a:srgbClr val="231F20"/>
                </a:solidFill>
                <a:latin typeface="Calibri" pitchFamily="34" charset="0"/>
                <a:ea typeface="Calibri" pitchFamily="34" charset="-122"/>
                <a:cs typeface="Calibri" pitchFamily="34" charset="-120"/>
              </a:rPr>
              <a:t>Évaluation de programmes, activité saisonnière, chronologie des conflits et du relèvement.</a:t>
            </a:r>
            <a:endParaRPr lang="en-US" sz="900" dirty="0"/>
          </a:p>
        </p:txBody>
      </p:sp>
      <p:sp>
        <p:nvSpPr>
          <p:cNvPr id="39" name="Shape 34"/>
          <p:cNvSpPr/>
          <p:nvPr/>
        </p:nvSpPr>
        <p:spPr>
          <a:xfrm>
            <a:off x="6035040" y="1325880"/>
            <a:ext cx="2651760" cy="2743200"/>
          </a:xfrm>
          <a:prstGeom prst="roundRect">
            <a:avLst>
              <a:gd name="adj" fmla="val 2759"/>
            </a:avLst>
          </a:prstGeom>
          <a:solidFill>
            <a:srgbClr val="F4F7F5"/>
          </a:solidFill>
          <a:ln w="9525">
            <a:solidFill>
              <a:srgbClr val="D5DED9"/>
            </a:solidFill>
            <a:prstDash val="solid"/>
          </a:ln>
        </p:spPr>
      </p:sp>
      <p:sp>
        <p:nvSpPr>
          <p:cNvPr id="40" name="Shape 35"/>
          <p:cNvSpPr/>
          <p:nvPr/>
        </p:nvSpPr>
        <p:spPr>
          <a:xfrm>
            <a:off x="6144768" y="1417320"/>
            <a:ext cx="457200" cy="457200"/>
          </a:xfrm>
          <a:prstGeom prst="ellipse">
            <a:avLst/>
          </a:prstGeom>
          <a:solidFill>
            <a:srgbClr val="00A86A">
              <a:alpha val="22000"/>
            </a:srgbClr>
          </a:solidFill>
          <a:ln w="12700">
            <a:solidFill>
              <a:srgbClr val="00A86A">
                <a:alpha val="0"/>
              </a:srgbClr>
            </a:solidFill>
            <a:prstDash val="solid"/>
          </a:ln>
        </p:spPr>
      </p:sp>
      <p:pic>
        <p:nvPicPr>
          <p:cNvPr id="41" name="Image 2" descr="preencoded.png">    </p:cNvPr>
          <p:cNvPicPr>
            <a:picLocks noChangeAspect="1"/>
          </p:cNvPicPr>
          <p:nvPr/>
        </p:nvPicPr>
        <p:blipFill>
          <a:blip r:embed="rId3"/>
          <a:stretch>
            <a:fillRect/>
          </a:stretch>
        </p:blipFill>
        <p:spPr>
          <a:xfrm>
            <a:off x="6263640" y="1536192"/>
            <a:ext cx="219456" cy="219456"/>
          </a:xfrm>
          <a:prstGeom prst="rect">
            <a:avLst/>
          </a:prstGeom>
        </p:spPr>
      </p:pic>
      <p:sp>
        <p:nvSpPr>
          <p:cNvPr id="42" name="Text 36"/>
          <p:cNvSpPr txBox="1"/>
          <p:nvPr/>
        </p:nvSpPr>
        <p:spPr>
          <a:xfrm>
            <a:off x="6693408" y="1417320"/>
            <a:ext cx="1828800" cy="256032"/>
          </a:xfrm>
          <a:prstGeom prst="rect">
            <a:avLst/>
          </a:prstGeom>
          <a:noFill/>
          <a:ln/>
        </p:spPr>
        <p:txBody>
          <a:bodyPr wrap="square" lIns="0" tIns="0" rIns="0" bIns="0" rtlCol="0" anchor="t"/>
          <a:lstStyle/>
          <a:p>
            <a:pPr indent="0" marL="0">
              <a:buNone/>
            </a:pPr>
            <a:r>
              <a:rPr lang="en-US" sz="1500" b="1" dirty="0">
                <a:solidFill>
                  <a:srgbClr val="00A86A"/>
                </a:solidFill>
                <a:latin typeface="Calibri" pitchFamily="34" charset="0"/>
                <a:ea typeface="Calibri" pitchFamily="34" charset="-122"/>
                <a:cs typeface="Calibri" pitchFamily="34" charset="-120"/>
              </a:rPr>
              <a:t>Quotidien</a:t>
            </a:r>
            <a:endParaRPr lang="en-US" sz="1500" dirty="0"/>
          </a:p>
        </p:txBody>
      </p:sp>
      <p:sp>
        <p:nvSpPr>
          <p:cNvPr id="43" name="Text 37"/>
          <p:cNvSpPr txBox="1"/>
          <p:nvPr/>
        </p:nvSpPr>
        <p:spPr>
          <a:xfrm>
            <a:off x="6693408" y="1673352"/>
            <a:ext cx="1920240" cy="20116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VNP46A2</a:t>
            </a:r>
            <a:endParaRPr lang="en-US" sz="900" dirty="0"/>
          </a:p>
        </p:txBody>
      </p:sp>
      <p:sp>
        <p:nvSpPr>
          <p:cNvPr id="44" name="Text 38"/>
          <p:cNvSpPr txBox="1"/>
          <p:nvPr/>
        </p:nvSpPr>
        <p:spPr>
          <a:xfrm>
            <a:off x="6163056" y="2011680"/>
            <a:ext cx="2423160" cy="164592"/>
          </a:xfrm>
          <a:prstGeom prst="rect">
            <a:avLst/>
          </a:prstGeom>
          <a:noFill/>
          <a:ln/>
        </p:spPr>
        <p:txBody>
          <a:bodyPr wrap="square" lIns="0" tIns="0" rIns="0" bIns="0" rtlCol="0" anchor="t"/>
          <a:lstStyle/>
          <a:p>
            <a:pPr indent="0" marL="0">
              <a:buNone/>
            </a:pPr>
            <a:r>
              <a:rPr lang="en-US" sz="800" b="1" spc="200" kern="0" dirty="0">
                <a:solidFill>
                  <a:srgbClr val="00A86A"/>
                </a:solidFill>
                <a:latin typeface="Calibri" pitchFamily="34" charset="0"/>
                <a:ea typeface="Calibri" pitchFamily="34" charset="-122"/>
                <a:cs typeface="Calibri" pitchFamily="34" charset="-120"/>
              </a:rPr>
              <a:t>ATOUT</a:t>
            </a:r>
            <a:endParaRPr lang="en-US" sz="800" dirty="0"/>
          </a:p>
        </p:txBody>
      </p:sp>
      <p:sp>
        <p:nvSpPr>
          <p:cNvPr id="45" name="Text 39"/>
          <p:cNvSpPr txBox="1"/>
          <p:nvPr/>
        </p:nvSpPr>
        <p:spPr>
          <a:xfrm>
            <a:off x="6163056" y="2194560"/>
            <a:ext cx="2395728" cy="475488"/>
          </a:xfrm>
          <a:prstGeom prst="rect">
            <a:avLst/>
          </a:prstGeom>
          <a:noFill/>
          <a:ln/>
        </p:spPr>
        <p:txBody>
          <a:bodyPr wrap="square" lIns="0" tIns="0" rIns="0" bIns="0" rtlCol="0" anchor="t"/>
          <a:lstStyle/>
          <a:p>
            <a:pPr indent="0" marL="0">
              <a:buNone/>
            </a:pPr>
            <a:r>
              <a:rPr lang="en-US" sz="900" dirty="0">
                <a:solidFill>
                  <a:srgbClr val="231F20"/>
                </a:solidFill>
                <a:latin typeface="Calibri" pitchFamily="34" charset="0"/>
                <a:ea typeface="Calibri" pitchFamily="34" charset="-122"/>
                <a:cs typeface="Calibri" pitchFamily="34" charset="-120"/>
              </a:rPr>
              <a:t>Chaque nuit, corrigé de la Lune, de l’atmosphère et du relief.</a:t>
            </a:r>
            <a:endParaRPr lang="en-US" sz="900" dirty="0"/>
          </a:p>
        </p:txBody>
      </p:sp>
      <p:sp>
        <p:nvSpPr>
          <p:cNvPr id="46" name="Text 40"/>
          <p:cNvSpPr txBox="1"/>
          <p:nvPr/>
        </p:nvSpPr>
        <p:spPr>
          <a:xfrm>
            <a:off x="6163056" y="2688336"/>
            <a:ext cx="2423160" cy="164592"/>
          </a:xfrm>
          <a:prstGeom prst="rect">
            <a:avLst/>
          </a:prstGeom>
          <a:noFill/>
          <a:ln/>
        </p:spPr>
        <p:txBody>
          <a:bodyPr wrap="square" lIns="0" tIns="0" rIns="0" bIns="0" rtlCol="0" anchor="t"/>
          <a:lstStyle/>
          <a:p>
            <a:pPr indent="0" marL="0">
              <a:buNone/>
            </a:pPr>
            <a:r>
              <a:rPr lang="en-US" sz="800" b="1" spc="200" kern="0" dirty="0">
                <a:solidFill>
                  <a:srgbClr val="D49A00"/>
                </a:solidFill>
                <a:latin typeface="Calibri" pitchFamily="34" charset="0"/>
                <a:ea typeface="Calibri" pitchFamily="34" charset="-122"/>
                <a:cs typeface="Calibri" pitchFamily="34" charset="-120"/>
              </a:rPr>
              <a:t>POINT DE VIGILANCE</a:t>
            </a:r>
            <a:endParaRPr lang="en-US" sz="800" dirty="0"/>
          </a:p>
        </p:txBody>
      </p:sp>
      <p:sp>
        <p:nvSpPr>
          <p:cNvPr id="47" name="Text 41"/>
          <p:cNvSpPr txBox="1"/>
          <p:nvPr/>
        </p:nvSpPr>
        <p:spPr>
          <a:xfrm>
            <a:off x="6163056" y="2871216"/>
            <a:ext cx="2395728" cy="475488"/>
          </a:xfrm>
          <a:prstGeom prst="rect">
            <a:avLst/>
          </a:prstGeom>
          <a:noFill/>
          <a:ln/>
        </p:spPr>
        <p:txBody>
          <a:bodyPr wrap="square" lIns="0" tIns="0" rIns="0" bIns="0" rtlCol="0" anchor="t"/>
          <a:lstStyle/>
          <a:p>
            <a:pPr indent="0" marL="0">
              <a:buNone/>
            </a:pPr>
            <a:r>
              <a:rPr lang="en-US" sz="900" dirty="0">
                <a:solidFill>
                  <a:srgbClr val="231F20"/>
                </a:solidFill>
                <a:latin typeface="Calibri" pitchFamily="34" charset="0"/>
                <a:ea typeface="Calibri" pitchFamily="34" charset="-122"/>
                <a:cs typeface="Calibri" pitchFamily="34" charset="-120"/>
              </a:rPr>
              <a:t>Gros volumes ; une nuit isolée est bruitée — agréger d’abord.</a:t>
            </a:r>
            <a:endParaRPr lang="en-US" sz="900" dirty="0"/>
          </a:p>
        </p:txBody>
      </p:sp>
      <p:sp>
        <p:nvSpPr>
          <p:cNvPr id="48" name="Text 42"/>
          <p:cNvSpPr txBox="1"/>
          <p:nvPr/>
        </p:nvSpPr>
        <p:spPr>
          <a:xfrm>
            <a:off x="6163056" y="3364992"/>
            <a:ext cx="2423160" cy="164592"/>
          </a:xfrm>
          <a:prstGeom prst="rect">
            <a:avLst/>
          </a:prstGeom>
          <a:noFill/>
          <a:ln/>
        </p:spPr>
        <p:txBody>
          <a:bodyPr wrap="square" lIns="0" tIns="0" rIns="0" bIns="0" rtlCol="0" anchor="t"/>
          <a:lstStyle/>
          <a:p>
            <a:pPr indent="0" marL="0">
              <a:buNone/>
            </a:pPr>
            <a:r>
              <a:rPr lang="en-US" sz="800" b="1" spc="200" kern="0" dirty="0">
                <a:solidFill>
                  <a:srgbClr val="00704A"/>
                </a:solidFill>
                <a:latin typeface="Calibri" pitchFamily="34" charset="0"/>
                <a:ea typeface="Calibri" pitchFamily="34" charset="-122"/>
                <a:cs typeface="Calibri" pitchFamily="34" charset="-120"/>
              </a:rPr>
              <a:t>USAGE TYPE POUR UN INS</a:t>
            </a:r>
            <a:endParaRPr lang="en-US" sz="800" dirty="0"/>
          </a:p>
        </p:txBody>
      </p:sp>
      <p:sp>
        <p:nvSpPr>
          <p:cNvPr id="49" name="Text 43"/>
          <p:cNvSpPr txBox="1"/>
          <p:nvPr/>
        </p:nvSpPr>
        <p:spPr>
          <a:xfrm>
            <a:off x="6163056" y="3547872"/>
            <a:ext cx="2395728" cy="475488"/>
          </a:xfrm>
          <a:prstGeom prst="rect">
            <a:avLst/>
          </a:prstGeom>
          <a:noFill/>
          <a:ln/>
        </p:spPr>
        <p:txBody>
          <a:bodyPr wrap="square" lIns="0" tIns="0" rIns="0" bIns="0" rtlCol="0" anchor="t"/>
          <a:lstStyle/>
          <a:p>
            <a:pPr indent="0" marL="0">
              <a:buNone/>
            </a:pPr>
            <a:r>
              <a:rPr lang="en-US" sz="900" dirty="0">
                <a:solidFill>
                  <a:srgbClr val="231F20"/>
                </a:solidFill>
                <a:latin typeface="Calibri" pitchFamily="34" charset="0"/>
                <a:ea typeface="Calibri" pitchFamily="34" charset="-122"/>
                <a:cs typeface="Calibri" pitchFamily="34" charset="-120"/>
              </a:rPr>
              <a:t>Coupures, réponse aux catastrophes, fiabilité de l’approvisionnement électrique.</a:t>
            </a:r>
            <a:endParaRPr lang="en-US" sz="900" dirty="0"/>
          </a:p>
        </p:txBody>
      </p:sp>
      <p:sp>
        <p:nvSpPr>
          <p:cNvPr id="50" name="Shape 44"/>
          <p:cNvSpPr/>
          <p:nvPr/>
        </p:nvSpPr>
        <p:spPr>
          <a:xfrm>
            <a:off x="457200" y="4178808"/>
            <a:ext cx="8229600" cy="411480"/>
          </a:xfrm>
          <a:prstGeom prst="roundRect">
            <a:avLst>
              <a:gd name="adj" fmla="val 17778"/>
            </a:avLst>
          </a:prstGeom>
          <a:solidFill>
            <a:srgbClr val="E8F5EF"/>
          </a:solidFill>
          <a:ln w="15875">
            <a:solidFill>
              <a:srgbClr val="00A86A"/>
            </a:solidFill>
            <a:prstDash val="solid"/>
          </a:ln>
        </p:spPr>
      </p:sp>
      <p:sp>
        <p:nvSpPr>
          <p:cNvPr id="51" name="Shape 45"/>
          <p:cNvSpPr/>
          <p:nvPr/>
        </p:nvSpPr>
        <p:spPr>
          <a:xfrm>
            <a:off x="530352" y="4206240"/>
            <a:ext cx="347472" cy="347472"/>
          </a:xfrm>
          <a:prstGeom prst="ellipse">
            <a:avLst/>
          </a:prstGeom>
          <a:solidFill>
            <a:srgbClr val="00A86A">
              <a:alpha val="22000"/>
            </a:srgbClr>
          </a:solidFill>
          <a:ln w="12700">
            <a:solidFill>
              <a:srgbClr val="00A86A">
                <a:alpha val="0"/>
              </a:srgbClr>
            </a:solidFill>
            <a:prstDash val="solid"/>
          </a:ln>
        </p:spPr>
      </p:sp>
      <p:pic>
        <p:nvPicPr>
          <p:cNvPr id="52" name="Image 3" descr="preencoded.png">    </p:cNvPr>
          <p:cNvPicPr>
            <a:picLocks noChangeAspect="1"/>
          </p:cNvPicPr>
          <p:nvPr/>
        </p:nvPicPr>
        <p:blipFill>
          <a:blip r:embed="rId4"/>
          <a:stretch>
            <a:fillRect/>
          </a:stretch>
        </p:blipFill>
        <p:spPr>
          <a:xfrm>
            <a:off x="620695" y="4296583"/>
            <a:ext cx="166787" cy="166787"/>
          </a:xfrm>
          <a:prstGeom prst="rect">
            <a:avLst/>
          </a:prstGeom>
        </p:spPr>
      </p:pic>
      <p:sp>
        <p:nvSpPr>
          <p:cNvPr id="53" name="Text 46"/>
          <p:cNvSpPr txBox="1"/>
          <p:nvPr/>
        </p:nvSpPr>
        <p:spPr>
          <a:xfrm>
            <a:off x="960120" y="4178808"/>
            <a:ext cx="7680960" cy="41148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Règle empirique : </a:t>
            </a:r>
            <a:pPr indent="0" marL="0">
              <a:buNone/>
            </a:pPr>
            <a:r>
              <a:rPr lang="en-US" sz="1050" dirty="0">
                <a:solidFill>
                  <a:srgbClr val="231F20"/>
                </a:solidFill>
                <a:latin typeface="Calibri" pitchFamily="34" charset="0"/>
                <a:ea typeface="Calibri" pitchFamily="34" charset="-122"/>
                <a:cs typeface="Calibri" pitchFamily="34" charset="-120"/>
              </a:rPr>
              <a:t>commencer par l’annuel. Plus la fréquence est fine, plus il faut se fier aux corrections et gérer de bruit.</a:t>
            </a:r>
            <a:endParaRPr lang="en-US" sz="105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DE L’EXPOSÉ AU LABO · VALIDATION · LABO DE 15H45</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Diffuser, ou garder comme outil de diagnostic ?</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7" name="Shape 14"/>
          <p:cNvSpPr/>
          <p:nvPr/>
        </p:nvSpPr>
        <p:spPr>
          <a:xfrm>
            <a:off x="457200" y="1325880"/>
            <a:ext cx="3200400" cy="603504"/>
          </a:xfrm>
          <a:prstGeom prst="roundRect">
            <a:avLst>
              <a:gd name="adj" fmla="val 12121"/>
            </a:avLst>
          </a:prstGeom>
          <a:solidFill>
            <a:srgbClr val="FFFFFF"/>
          </a:solidFill>
          <a:ln w="9525">
            <a:solidFill>
              <a:srgbClr val="C4621D"/>
            </a:solidFill>
            <a:prstDash val="solid"/>
          </a:ln>
        </p:spPr>
      </p:sp>
      <p:sp>
        <p:nvSpPr>
          <p:cNvPr id="18" name="Shape 15"/>
          <p:cNvSpPr/>
          <p:nvPr/>
        </p:nvSpPr>
        <p:spPr>
          <a:xfrm>
            <a:off x="548640" y="1463040"/>
            <a:ext cx="329184" cy="329184"/>
          </a:xfrm>
          <a:prstGeom prst="ellipse">
            <a:avLst/>
          </a:prstGeom>
          <a:solidFill>
            <a:srgbClr val="C4621D"/>
          </a:solidFill>
          <a:ln w="12700">
            <a:solidFill>
              <a:srgbClr val="C4621D"/>
            </a:solidFill>
            <a:prstDash val="solid"/>
          </a:ln>
        </p:spPr>
      </p:sp>
      <p:sp>
        <p:nvSpPr>
          <p:cNvPr id="19" name="Text 16"/>
          <p:cNvSpPr txBox="1"/>
          <p:nvPr/>
        </p:nvSpPr>
        <p:spPr>
          <a:xfrm>
            <a:off x="548640" y="146304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Q1</a:t>
            </a:r>
            <a:endParaRPr lang="en-US" sz="1000" dirty="0"/>
          </a:p>
        </p:txBody>
      </p:sp>
      <p:sp>
        <p:nvSpPr>
          <p:cNvPr id="20" name="Text 17"/>
          <p:cNvSpPr txBox="1"/>
          <p:nvPr/>
        </p:nvSpPr>
        <p:spPr>
          <a:xfrm>
            <a:off x="960120" y="1362456"/>
            <a:ext cx="2651760" cy="347472"/>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La relation est-elle forte et stable entre unités et années ?</a:t>
            </a:r>
            <a:endParaRPr lang="en-US" sz="950" dirty="0"/>
          </a:p>
        </p:txBody>
      </p:sp>
      <p:sp>
        <p:nvSpPr>
          <p:cNvPr id="21" name="Text 18"/>
          <p:cNvSpPr txBox="1"/>
          <p:nvPr/>
        </p:nvSpPr>
        <p:spPr>
          <a:xfrm>
            <a:off x="960120" y="1709928"/>
            <a:ext cx="265176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Fixez la barre avant de regarder.</a:t>
            </a:r>
            <a:endParaRPr lang="en-US" sz="850" dirty="0"/>
          </a:p>
        </p:txBody>
      </p:sp>
      <p:sp>
        <p:nvSpPr>
          <p:cNvPr id="22" name="Shape 19"/>
          <p:cNvSpPr/>
          <p:nvPr/>
        </p:nvSpPr>
        <p:spPr>
          <a:xfrm>
            <a:off x="2057400" y="1929384"/>
            <a:ext cx="91" cy="109728"/>
          </a:xfrm>
          <a:prstGeom prst="line">
            <a:avLst/>
          </a:prstGeom>
          <a:noFill/>
          <a:ln w="15875">
            <a:solidFill>
              <a:srgbClr val="5E6964"/>
            </a:solidFill>
            <a:prstDash val="solid"/>
            <a:tailEnd type="triangle"/>
          </a:ln>
        </p:spPr>
      </p:sp>
      <p:sp>
        <p:nvSpPr>
          <p:cNvPr id="23" name="Shape 20"/>
          <p:cNvSpPr/>
          <p:nvPr/>
        </p:nvSpPr>
        <p:spPr>
          <a:xfrm>
            <a:off x="457200" y="2039112"/>
            <a:ext cx="3200400" cy="603504"/>
          </a:xfrm>
          <a:prstGeom prst="roundRect">
            <a:avLst>
              <a:gd name="adj" fmla="val 12121"/>
            </a:avLst>
          </a:prstGeom>
          <a:solidFill>
            <a:srgbClr val="FFFFFF"/>
          </a:solidFill>
          <a:ln w="9525">
            <a:solidFill>
              <a:srgbClr val="C4621D"/>
            </a:solidFill>
            <a:prstDash val="solid"/>
          </a:ln>
        </p:spPr>
      </p:sp>
      <p:sp>
        <p:nvSpPr>
          <p:cNvPr id="24" name="Shape 21"/>
          <p:cNvSpPr/>
          <p:nvPr/>
        </p:nvSpPr>
        <p:spPr>
          <a:xfrm>
            <a:off x="548640" y="2176272"/>
            <a:ext cx="329184" cy="329184"/>
          </a:xfrm>
          <a:prstGeom prst="ellipse">
            <a:avLst/>
          </a:prstGeom>
          <a:solidFill>
            <a:srgbClr val="C4621D"/>
          </a:solidFill>
          <a:ln w="12700">
            <a:solidFill>
              <a:srgbClr val="C4621D"/>
            </a:solidFill>
            <a:prstDash val="solid"/>
          </a:ln>
        </p:spPr>
      </p:sp>
      <p:sp>
        <p:nvSpPr>
          <p:cNvPr id="25" name="Text 22"/>
          <p:cNvSpPr txBox="1"/>
          <p:nvPr/>
        </p:nvSpPr>
        <p:spPr>
          <a:xfrm>
            <a:off x="548640" y="217627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Q2</a:t>
            </a:r>
            <a:endParaRPr lang="en-US" sz="1000" dirty="0"/>
          </a:p>
        </p:txBody>
      </p:sp>
      <p:sp>
        <p:nvSpPr>
          <p:cNvPr id="26" name="Text 23"/>
          <p:cNvSpPr txBox="1"/>
          <p:nvPr/>
        </p:nvSpPr>
        <p:spPr>
          <a:xfrm>
            <a:off x="960120" y="2075688"/>
            <a:ext cx="2651760" cy="347472"/>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Les artefacts sont-ils identifiés et traités ?</a:t>
            </a:r>
            <a:endParaRPr lang="en-US" sz="950" dirty="0"/>
          </a:p>
        </p:txBody>
      </p:sp>
      <p:sp>
        <p:nvSpPr>
          <p:cNvPr id="27" name="Text 24"/>
          <p:cNvSpPr txBox="1"/>
          <p:nvPr/>
        </p:nvSpPr>
        <p:spPr>
          <a:xfrm>
            <a:off x="960120" y="2423160"/>
            <a:ext cx="265176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Torchères, débordement, saisonnalité, bruit.</a:t>
            </a:r>
            <a:endParaRPr lang="en-US" sz="850" dirty="0"/>
          </a:p>
        </p:txBody>
      </p:sp>
      <p:sp>
        <p:nvSpPr>
          <p:cNvPr id="28" name="Shape 25"/>
          <p:cNvSpPr/>
          <p:nvPr/>
        </p:nvSpPr>
        <p:spPr>
          <a:xfrm>
            <a:off x="2057400" y="2642616"/>
            <a:ext cx="91" cy="109728"/>
          </a:xfrm>
          <a:prstGeom prst="line">
            <a:avLst/>
          </a:prstGeom>
          <a:noFill/>
          <a:ln w="15875">
            <a:solidFill>
              <a:srgbClr val="5E6964"/>
            </a:solidFill>
            <a:prstDash val="solid"/>
            <a:tailEnd type="triangle"/>
          </a:ln>
        </p:spPr>
      </p:sp>
      <p:sp>
        <p:nvSpPr>
          <p:cNvPr id="29" name="Shape 26"/>
          <p:cNvSpPr/>
          <p:nvPr/>
        </p:nvSpPr>
        <p:spPr>
          <a:xfrm>
            <a:off x="457200" y="2752344"/>
            <a:ext cx="3200400" cy="603504"/>
          </a:xfrm>
          <a:prstGeom prst="roundRect">
            <a:avLst>
              <a:gd name="adj" fmla="val 12121"/>
            </a:avLst>
          </a:prstGeom>
          <a:solidFill>
            <a:srgbClr val="FFFFFF"/>
          </a:solidFill>
          <a:ln w="9525">
            <a:solidFill>
              <a:srgbClr val="C4621D"/>
            </a:solidFill>
            <a:prstDash val="solid"/>
          </a:ln>
        </p:spPr>
      </p:sp>
      <p:sp>
        <p:nvSpPr>
          <p:cNvPr id="30" name="Shape 27"/>
          <p:cNvSpPr/>
          <p:nvPr/>
        </p:nvSpPr>
        <p:spPr>
          <a:xfrm>
            <a:off x="548640" y="2889504"/>
            <a:ext cx="329184" cy="329184"/>
          </a:xfrm>
          <a:prstGeom prst="ellipse">
            <a:avLst/>
          </a:prstGeom>
          <a:solidFill>
            <a:srgbClr val="C4621D"/>
          </a:solidFill>
          <a:ln w="12700">
            <a:solidFill>
              <a:srgbClr val="C4621D"/>
            </a:solidFill>
            <a:prstDash val="solid"/>
          </a:ln>
        </p:spPr>
      </p:sp>
      <p:sp>
        <p:nvSpPr>
          <p:cNvPr id="31" name="Text 28"/>
          <p:cNvSpPr txBox="1"/>
          <p:nvPr/>
        </p:nvSpPr>
        <p:spPr>
          <a:xfrm>
            <a:off x="548640" y="2889504"/>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Q3</a:t>
            </a:r>
            <a:endParaRPr lang="en-US" sz="1000" dirty="0"/>
          </a:p>
        </p:txBody>
      </p:sp>
      <p:sp>
        <p:nvSpPr>
          <p:cNvPr id="32" name="Text 29"/>
          <p:cNvSpPr txBox="1"/>
          <p:nvPr/>
        </p:nvSpPr>
        <p:spPr>
          <a:xfrm>
            <a:off x="960120" y="2788920"/>
            <a:ext cx="2651760" cy="347472"/>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La référence est-elle indépendante ?</a:t>
            </a:r>
            <a:endParaRPr lang="en-US" sz="950" dirty="0"/>
          </a:p>
        </p:txBody>
      </p:sp>
      <p:sp>
        <p:nvSpPr>
          <p:cNvPr id="33" name="Text 30"/>
          <p:cNvSpPr txBox="1"/>
          <p:nvPr/>
        </p:nvSpPr>
        <p:spPr>
          <a:xfrm>
            <a:off x="960120" y="3136392"/>
            <a:ext cx="265176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WorldPop utilise les NTL en covariable — circularité.</a:t>
            </a:r>
            <a:endParaRPr lang="en-US" sz="850" dirty="0"/>
          </a:p>
        </p:txBody>
      </p:sp>
      <p:sp>
        <p:nvSpPr>
          <p:cNvPr id="34" name="Shape 31"/>
          <p:cNvSpPr/>
          <p:nvPr/>
        </p:nvSpPr>
        <p:spPr>
          <a:xfrm>
            <a:off x="457200" y="3566160"/>
            <a:ext cx="274320" cy="274320"/>
          </a:xfrm>
          <a:prstGeom prst="ellipse">
            <a:avLst/>
          </a:prstGeom>
          <a:solidFill>
            <a:srgbClr val="00A86A">
              <a:alpha val="22000"/>
            </a:srgbClr>
          </a:solidFill>
          <a:ln w="12700">
            <a:solidFill>
              <a:srgbClr val="00A86A">
                <a:alpha val="0"/>
              </a:srgbClr>
            </a:solidFill>
            <a:prstDash val="solid"/>
          </a:ln>
        </p:spPr>
      </p:sp>
      <p:pic>
        <p:nvPicPr>
          <p:cNvPr id="35" name="Image 0" descr="preencoded.png">    </p:cNvPr>
          <p:cNvPicPr>
            <a:picLocks noChangeAspect="1"/>
          </p:cNvPicPr>
          <p:nvPr/>
        </p:nvPicPr>
        <p:blipFill>
          <a:blip r:embed="rId1"/>
          <a:stretch>
            <a:fillRect/>
          </a:stretch>
        </p:blipFill>
        <p:spPr>
          <a:xfrm>
            <a:off x="528523" y="3637483"/>
            <a:ext cx="131674" cy="131674"/>
          </a:xfrm>
          <a:prstGeom prst="rect">
            <a:avLst/>
          </a:prstGeom>
        </p:spPr>
      </p:pic>
      <p:sp>
        <p:nvSpPr>
          <p:cNvPr id="36" name="Text 32"/>
          <p:cNvSpPr txBox="1"/>
          <p:nvPr/>
        </p:nvSpPr>
        <p:spPr>
          <a:xfrm>
            <a:off x="804672" y="3566160"/>
            <a:ext cx="3063240" cy="292608"/>
          </a:xfrm>
          <a:prstGeom prst="rect">
            <a:avLst/>
          </a:prstGeom>
          <a:noFill/>
          <a:ln/>
        </p:spPr>
        <p:txBody>
          <a:bodyPr wrap="square" lIns="0" tIns="0" rIns="0" bIns="0" rtlCol="0" anchor="ctr"/>
          <a:lstStyle/>
          <a:p>
            <a:pPr indent="0" marL="0">
              <a:buNone/>
            </a:pPr>
            <a:r>
              <a:rPr lang="en-US" sz="900" b="1" dirty="0">
                <a:solidFill>
                  <a:srgbClr val="00A86A"/>
                </a:solidFill>
                <a:latin typeface="Calibri" pitchFamily="34" charset="0"/>
                <a:ea typeface="Calibri" pitchFamily="34" charset="-122"/>
                <a:cs typeface="Calibri" pitchFamily="34" charset="-120"/>
              </a:rPr>
              <a:t>Oui aux trois → </a:t>
            </a:r>
            <a:pPr indent="0" marL="0">
              <a:buNone/>
            </a:pPr>
            <a:r>
              <a:rPr lang="en-US" sz="900" dirty="0">
                <a:solidFill>
                  <a:srgbClr val="231F20"/>
                </a:solidFill>
                <a:latin typeface="Calibri" pitchFamily="34" charset="0"/>
                <a:ea typeface="Calibri" pitchFamily="34" charset="-122"/>
                <a:cs typeface="Calibri" pitchFamily="34" charset="-120"/>
              </a:rPr>
              <a:t>Statistique expérimentale — diffuser avec ses limites</a:t>
            </a:r>
            <a:endParaRPr lang="en-US" sz="900" dirty="0"/>
          </a:p>
        </p:txBody>
      </p:sp>
      <p:sp>
        <p:nvSpPr>
          <p:cNvPr id="37" name="Shape 33"/>
          <p:cNvSpPr/>
          <p:nvPr/>
        </p:nvSpPr>
        <p:spPr>
          <a:xfrm>
            <a:off x="457200" y="3904488"/>
            <a:ext cx="274320" cy="274320"/>
          </a:xfrm>
          <a:prstGeom prst="ellipse">
            <a:avLst/>
          </a:prstGeom>
          <a:solidFill>
            <a:srgbClr val="D49A00">
              <a:alpha val="22000"/>
            </a:srgbClr>
          </a:solidFill>
          <a:ln w="12700">
            <a:solidFill>
              <a:srgbClr val="D49A00">
                <a:alpha val="0"/>
              </a:srgbClr>
            </a:solidFill>
            <a:prstDash val="solid"/>
          </a:ln>
        </p:spPr>
      </p:sp>
      <p:pic>
        <p:nvPicPr>
          <p:cNvPr id="38" name="Image 1" descr="preencoded.png">    </p:cNvPr>
          <p:cNvPicPr>
            <a:picLocks noChangeAspect="1"/>
          </p:cNvPicPr>
          <p:nvPr/>
        </p:nvPicPr>
        <p:blipFill>
          <a:blip r:embed="rId2"/>
          <a:stretch>
            <a:fillRect/>
          </a:stretch>
        </p:blipFill>
        <p:spPr>
          <a:xfrm>
            <a:off x="528523" y="3975811"/>
            <a:ext cx="131674" cy="131674"/>
          </a:xfrm>
          <a:prstGeom prst="rect">
            <a:avLst/>
          </a:prstGeom>
        </p:spPr>
      </p:pic>
      <p:sp>
        <p:nvSpPr>
          <p:cNvPr id="39" name="Text 34"/>
          <p:cNvSpPr txBox="1"/>
          <p:nvPr/>
        </p:nvSpPr>
        <p:spPr>
          <a:xfrm>
            <a:off x="804672" y="3904488"/>
            <a:ext cx="3063240" cy="292608"/>
          </a:xfrm>
          <a:prstGeom prst="rect">
            <a:avLst/>
          </a:prstGeom>
          <a:noFill/>
          <a:ln/>
        </p:spPr>
        <p:txBody>
          <a:bodyPr wrap="square" lIns="0" tIns="0" rIns="0" bIns="0" rtlCol="0" anchor="ctr"/>
          <a:lstStyle/>
          <a:p>
            <a:pPr indent="0" marL="0">
              <a:buNone/>
            </a:pPr>
            <a:r>
              <a:rPr lang="en-US" sz="900" b="1" dirty="0">
                <a:solidFill>
                  <a:srgbClr val="D49A00"/>
                </a:solidFill>
                <a:latin typeface="Calibri" pitchFamily="34" charset="0"/>
                <a:ea typeface="Calibri" pitchFamily="34" charset="-122"/>
                <a:cs typeface="Calibri" pitchFamily="34" charset="-120"/>
              </a:rPr>
              <a:t>En partie → </a:t>
            </a:r>
            <a:pPr indent="0" marL="0">
              <a:buNone/>
            </a:pPr>
            <a:r>
              <a:rPr lang="en-US" sz="900" dirty="0">
                <a:solidFill>
                  <a:srgbClr val="231F20"/>
                </a:solidFill>
                <a:latin typeface="Calibri" pitchFamily="34" charset="0"/>
                <a:ea typeface="Calibri" pitchFamily="34" charset="-122"/>
                <a:cs typeface="Calibri" pitchFamily="34" charset="-120"/>
              </a:rPr>
              <a:t>Outil de diagnostic — usage interne uniquement</a:t>
            </a:r>
            <a:endParaRPr lang="en-US" sz="900" dirty="0"/>
          </a:p>
        </p:txBody>
      </p:sp>
      <p:sp>
        <p:nvSpPr>
          <p:cNvPr id="40" name="Shape 35"/>
          <p:cNvSpPr/>
          <p:nvPr/>
        </p:nvSpPr>
        <p:spPr>
          <a:xfrm>
            <a:off x="457200" y="4242816"/>
            <a:ext cx="274320" cy="274320"/>
          </a:xfrm>
          <a:prstGeom prst="ellipse">
            <a:avLst/>
          </a:prstGeom>
          <a:solidFill>
            <a:srgbClr val="B83B2E">
              <a:alpha val="22000"/>
            </a:srgbClr>
          </a:solidFill>
          <a:ln w="12700">
            <a:solidFill>
              <a:srgbClr val="B83B2E">
                <a:alpha val="0"/>
              </a:srgbClr>
            </a:solidFill>
            <a:prstDash val="solid"/>
          </a:ln>
        </p:spPr>
      </p:sp>
      <p:pic>
        <p:nvPicPr>
          <p:cNvPr id="41" name="Image 2" descr="preencoded.png">    </p:cNvPr>
          <p:cNvPicPr>
            <a:picLocks noChangeAspect="1"/>
          </p:cNvPicPr>
          <p:nvPr/>
        </p:nvPicPr>
        <p:blipFill>
          <a:blip r:embed="rId3"/>
          <a:stretch>
            <a:fillRect/>
          </a:stretch>
        </p:blipFill>
        <p:spPr>
          <a:xfrm>
            <a:off x="528523" y="4314139"/>
            <a:ext cx="131674" cy="131674"/>
          </a:xfrm>
          <a:prstGeom prst="rect">
            <a:avLst/>
          </a:prstGeom>
        </p:spPr>
      </p:pic>
      <p:sp>
        <p:nvSpPr>
          <p:cNvPr id="42" name="Text 36"/>
          <p:cNvSpPr txBox="1"/>
          <p:nvPr/>
        </p:nvSpPr>
        <p:spPr>
          <a:xfrm>
            <a:off x="804672" y="4242816"/>
            <a:ext cx="3063240" cy="292608"/>
          </a:xfrm>
          <a:prstGeom prst="rect">
            <a:avLst/>
          </a:prstGeom>
          <a:noFill/>
          <a:ln/>
        </p:spPr>
        <p:txBody>
          <a:bodyPr wrap="square" lIns="0" tIns="0" rIns="0" bIns="0" rtlCol="0" anchor="ctr"/>
          <a:lstStyle/>
          <a:p>
            <a:pPr indent="0" marL="0">
              <a:buNone/>
            </a:pPr>
            <a:r>
              <a:rPr lang="en-US" sz="900" b="1" dirty="0">
                <a:solidFill>
                  <a:srgbClr val="B83B2E"/>
                </a:solidFill>
                <a:latin typeface="Calibri" pitchFamily="34" charset="0"/>
                <a:ea typeface="Calibri" pitchFamily="34" charset="-122"/>
                <a:cs typeface="Calibri" pitchFamily="34" charset="-120"/>
              </a:rPr>
              <a:t>Non → </a:t>
            </a:r>
            <a:pPr indent="0" marL="0">
              <a:buNone/>
            </a:pPr>
            <a:r>
              <a:rPr lang="en-US" sz="900" dirty="0">
                <a:solidFill>
                  <a:srgbClr val="231F20"/>
                </a:solidFill>
                <a:latin typeface="Calibri" pitchFamily="34" charset="0"/>
                <a:ea typeface="Calibri" pitchFamily="34" charset="-122"/>
                <a:cs typeface="Calibri" pitchFamily="34" charset="-120"/>
              </a:rPr>
              <a:t>Inadapté — documenter pourquoi</a:t>
            </a:r>
            <a:endParaRPr lang="en-US" sz="900" dirty="0"/>
          </a:p>
        </p:txBody>
      </p:sp>
      <p:sp>
        <p:nvSpPr>
          <p:cNvPr id="43" name="Shape 37"/>
          <p:cNvSpPr/>
          <p:nvPr/>
        </p:nvSpPr>
        <p:spPr>
          <a:xfrm>
            <a:off x="3931920" y="1325880"/>
            <a:ext cx="4754880" cy="3200400"/>
          </a:xfrm>
          <a:prstGeom prst="roundRect">
            <a:avLst>
              <a:gd name="adj" fmla="val 2286"/>
            </a:avLst>
          </a:prstGeom>
          <a:solidFill>
            <a:srgbClr val="E8F5EF"/>
          </a:solidFill>
          <a:ln w="15875">
            <a:solidFill>
              <a:srgbClr val="00A86A"/>
            </a:solidFill>
            <a:prstDash val="solid"/>
          </a:ln>
        </p:spPr>
      </p:sp>
      <p:sp>
        <p:nvSpPr>
          <p:cNvPr id="44" name="Shape 38"/>
          <p:cNvSpPr/>
          <p:nvPr/>
        </p:nvSpPr>
        <p:spPr>
          <a:xfrm>
            <a:off x="4041648" y="1426464"/>
            <a:ext cx="420624" cy="420624"/>
          </a:xfrm>
          <a:prstGeom prst="ellipse">
            <a:avLst/>
          </a:prstGeom>
          <a:solidFill>
            <a:srgbClr val="00A86A">
              <a:alpha val="22000"/>
            </a:srgbClr>
          </a:solidFill>
          <a:ln w="12700">
            <a:solidFill>
              <a:srgbClr val="00A86A">
                <a:alpha val="0"/>
              </a:srgbClr>
            </a:solidFill>
            <a:prstDash val="solid"/>
          </a:ln>
        </p:spPr>
      </p:sp>
      <p:pic>
        <p:nvPicPr>
          <p:cNvPr id="45" name="Image 3" descr="preencoded.png">    </p:cNvPr>
          <p:cNvPicPr>
            <a:picLocks noChangeAspect="1"/>
          </p:cNvPicPr>
          <p:nvPr/>
        </p:nvPicPr>
        <p:blipFill>
          <a:blip r:embed="rId4"/>
          <a:stretch>
            <a:fillRect/>
          </a:stretch>
        </p:blipFill>
        <p:spPr>
          <a:xfrm>
            <a:off x="4151010" y="1535826"/>
            <a:ext cx="201900" cy="201900"/>
          </a:xfrm>
          <a:prstGeom prst="rect">
            <a:avLst/>
          </a:prstGeom>
        </p:spPr>
      </p:pic>
      <p:sp>
        <p:nvSpPr>
          <p:cNvPr id="46" name="Text 39"/>
          <p:cNvSpPr txBox="1"/>
          <p:nvPr/>
        </p:nvSpPr>
        <p:spPr>
          <a:xfrm>
            <a:off x="4572000" y="1426464"/>
            <a:ext cx="4023360" cy="274320"/>
          </a:xfrm>
          <a:prstGeom prst="rect">
            <a:avLst/>
          </a:prstGeom>
          <a:noFill/>
          <a:ln/>
        </p:spPr>
        <p:txBody>
          <a:bodyPr wrap="square" lIns="0" tIns="0" rIns="0" bIns="0" rtlCol="0" anchor="t"/>
          <a:lstStyle/>
          <a:p>
            <a:pPr indent="0" marL="0">
              <a:buNone/>
            </a:pPr>
            <a:r>
              <a:rPr lang="en-US" sz="1350" b="1" dirty="0">
                <a:solidFill>
                  <a:srgbClr val="00704A"/>
                </a:solidFill>
                <a:latin typeface="Calibri" pitchFamily="34" charset="0"/>
                <a:ea typeface="Calibri" pitchFamily="34" charset="-122"/>
                <a:cs typeface="Calibri" pitchFamily="34" charset="-120"/>
              </a:rPr>
              <a:t>Déclaration de limites — modèle</a:t>
            </a:r>
            <a:endParaRPr lang="en-US" sz="1350" dirty="0"/>
          </a:p>
        </p:txBody>
      </p:sp>
      <p:sp>
        <p:nvSpPr>
          <p:cNvPr id="47" name="Text 40"/>
          <p:cNvSpPr txBox="1"/>
          <p:nvPr/>
        </p:nvSpPr>
        <p:spPr>
          <a:xfrm>
            <a:off x="4572000" y="1700784"/>
            <a:ext cx="402336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Fait partie du livrable, déposée sur GitHub</a:t>
            </a:r>
            <a:endParaRPr lang="en-US" sz="900" dirty="0"/>
          </a:p>
        </p:txBody>
      </p:sp>
      <p:sp>
        <p:nvSpPr>
          <p:cNvPr id="48" name="Shape 41"/>
          <p:cNvSpPr/>
          <p:nvPr/>
        </p:nvSpPr>
        <p:spPr>
          <a:xfrm>
            <a:off x="4069080" y="2011680"/>
            <a:ext cx="4480560" cy="338328"/>
          </a:xfrm>
          <a:prstGeom prst="roundRect">
            <a:avLst>
              <a:gd name="adj" fmla="val 13514"/>
            </a:avLst>
          </a:prstGeom>
          <a:solidFill>
            <a:srgbClr val="FFFFFF"/>
          </a:solidFill>
          <a:ln w="6350">
            <a:solidFill>
              <a:srgbClr val="D5DED9"/>
            </a:solidFill>
            <a:prstDash val="solid"/>
          </a:ln>
        </p:spPr>
      </p:sp>
      <p:sp>
        <p:nvSpPr>
          <p:cNvPr id="49" name="Text 42"/>
          <p:cNvSpPr txBox="1"/>
          <p:nvPr/>
        </p:nvSpPr>
        <p:spPr>
          <a:xfrm>
            <a:off x="4160520" y="2011680"/>
            <a:ext cx="1371600" cy="338328"/>
          </a:xfrm>
          <a:prstGeom prst="rect">
            <a:avLst/>
          </a:prstGeom>
          <a:noFill/>
          <a:ln/>
        </p:spPr>
        <p:txBody>
          <a:bodyPr wrap="square" lIns="0" tIns="0" rIns="0" bIns="0" rtlCol="0" anchor="ctr"/>
          <a:lstStyle/>
          <a:p>
            <a:pPr indent="0" marL="0">
              <a:buNone/>
            </a:pPr>
            <a:r>
              <a:rPr lang="en-US" sz="900" b="1" dirty="0">
                <a:solidFill>
                  <a:srgbClr val="00704A"/>
                </a:solidFill>
                <a:latin typeface="Calibri" pitchFamily="34" charset="0"/>
                <a:ea typeface="Calibri" pitchFamily="34" charset="-122"/>
                <a:cs typeface="Calibri" pitchFamily="34" charset="-120"/>
              </a:rPr>
              <a:t>Données</a:t>
            </a:r>
            <a:endParaRPr lang="en-US" sz="900" dirty="0"/>
          </a:p>
        </p:txBody>
      </p:sp>
      <p:sp>
        <p:nvSpPr>
          <p:cNvPr id="50" name="Text 43"/>
          <p:cNvSpPr txBox="1"/>
          <p:nvPr/>
        </p:nvSpPr>
        <p:spPr>
          <a:xfrm>
            <a:off x="5532120" y="2011680"/>
            <a:ext cx="2971800" cy="338328"/>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Produit, version de collection, période, fréquence</a:t>
            </a:r>
            <a:endParaRPr lang="en-US" sz="900" dirty="0"/>
          </a:p>
        </p:txBody>
      </p:sp>
      <p:sp>
        <p:nvSpPr>
          <p:cNvPr id="51" name="Shape 44"/>
          <p:cNvSpPr/>
          <p:nvPr/>
        </p:nvSpPr>
        <p:spPr>
          <a:xfrm>
            <a:off x="4069080" y="2414016"/>
            <a:ext cx="4480560" cy="338328"/>
          </a:xfrm>
          <a:prstGeom prst="roundRect">
            <a:avLst>
              <a:gd name="adj" fmla="val 13514"/>
            </a:avLst>
          </a:prstGeom>
          <a:solidFill>
            <a:srgbClr val="FFFFFF"/>
          </a:solidFill>
          <a:ln w="6350">
            <a:solidFill>
              <a:srgbClr val="D5DED9"/>
            </a:solidFill>
            <a:prstDash val="solid"/>
          </a:ln>
        </p:spPr>
      </p:sp>
      <p:sp>
        <p:nvSpPr>
          <p:cNvPr id="52" name="Text 45"/>
          <p:cNvSpPr txBox="1"/>
          <p:nvPr/>
        </p:nvSpPr>
        <p:spPr>
          <a:xfrm>
            <a:off x="4160520" y="2414016"/>
            <a:ext cx="1371600" cy="338328"/>
          </a:xfrm>
          <a:prstGeom prst="rect">
            <a:avLst/>
          </a:prstGeom>
          <a:noFill/>
          <a:ln/>
        </p:spPr>
        <p:txBody>
          <a:bodyPr wrap="square" lIns="0" tIns="0" rIns="0" bIns="0" rtlCol="0" anchor="ctr"/>
          <a:lstStyle/>
          <a:p>
            <a:pPr indent="0" marL="0">
              <a:buNone/>
            </a:pPr>
            <a:r>
              <a:rPr lang="en-US" sz="900" b="1" dirty="0">
                <a:solidFill>
                  <a:srgbClr val="00704A"/>
                </a:solidFill>
                <a:latin typeface="Calibri" pitchFamily="34" charset="0"/>
                <a:ea typeface="Calibri" pitchFamily="34" charset="-122"/>
                <a:cs typeface="Calibri" pitchFamily="34" charset="-120"/>
              </a:rPr>
              <a:t>Choix</a:t>
            </a:r>
            <a:endParaRPr lang="en-US" sz="900" dirty="0"/>
          </a:p>
        </p:txBody>
      </p:sp>
      <p:sp>
        <p:nvSpPr>
          <p:cNvPr id="53" name="Text 46"/>
          <p:cNvSpPr txBox="1"/>
          <p:nvPr/>
        </p:nvSpPr>
        <p:spPr>
          <a:xfrm>
            <a:off x="5532120" y="2414016"/>
            <a:ext cx="2971800" cy="338328"/>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Contours, seuil de radiance, masques appliqués</a:t>
            </a:r>
            <a:endParaRPr lang="en-US" sz="900" dirty="0"/>
          </a:p>
        </p:txBody>
      </p:sp>
      <p:sp>
        <p:nvSpPr>
          <p:cNvPr id="54" name="Shape 47"/>
          <p:cNvSpPr/>
          <p:nvPr/>
        </p:nvSpPr>
        <p:spPr>
          <a:xfrm>
            <a:off x="4069080" y="2816352"/>
            <a:ext cx="4480560" cy="338328"/>
          </a:xfrm>
          <a:prstGeom prst="roundRect">
            <a:avLst>
              <a:gd name="adj" fmla="val 13514"/>
            </a:avLst>
          </a:prstGeom>
          <a:solidFill>
            <a:srgbClr val="FFFFFF"/>
          </a:solidFill>
          <a:ln w="6350">
            <a:solidFill>
              <a:srgbClr val="D5DED9"/>
            </a:solidFill>
            <a:prstDash val="solid"/>
          </a:ln>
        </p:spPr>
      </p:sp>
      <p:sp>
        <p:nvSpPr>
          <p:cNvPr id="55" name="Text 48"/>
          <p:cNvSpPr txBox="1"/>
          <p:nvPr/>
        </p:nvSpPr>
        <p:spPr>
          <a:xfrm>
            <a:off x="4160520" y="2816352"/>
            <a:ext cx="1371600" cy="338328"/>
          </a:xfrm>
          <a:prstGeom prst="rect">
            <a:avLst/>
          </a:prstGeom>
          <a:noFill/>
          <a:ln/>
        </p:spPr>
        <p:txBody>
          <a:bodyPr wrap="square" lIns="0" tIns="0" rIns="0" bIns="0" rtlCol="0" anchor="ctr"/>
          <a:lstStyle/>
          <a:p>
            <a:pPr indent="0" marL="0">
              <a:buNone/>
            </a:pPr>
            <a:r>
              <a:rPr lang="en-US" sz="900" b="1" dirty="0">
                <a:solidFill>
                  <a:srgbClr val="00704A"/>
                </a:solidFill>
                <a:latin typeface="Calibri" pitchFamily="34" charset="0"/>
                <a:ea typeface="Calibri" pitchFamily="34" charset="-122"/>
                <a:cs typeface="Calibri" pitchFamily="34" charset="-120"/>
              </a:rPr>
              <a:t>Artefacts</a:t>
            </a:r>
            <a:endParaRPr lang="en-US" sz="900" dirty="0"/>
          </a:p>
        </p:txBody>
      </p:sp>
      <p:sp>
        <p:nvSpPr>
          <p:cNvPr id="56" name="Text 49"/>
          <p:cNvSpPr txBox="1"/>
          <p:nvPr/>
        </p:nvSpPr>
        <p:spPr>
          <a:xfrm>
            <a:off x="5532120" y="2816352"/>
            <a:ext cx="2971800" cy="338328"/>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Lesquels des six ont été trouvés, où, quel traitement</a:t>
            </a:r>
            <a:endParaRPr lang="en-US" sz="900" dirty="0"/>
          </a:p>
        </p:txBody>
      </p:sp>
      <p:sp>
        <p:nvSpPr>
          <p:cNvPr id="57" name="Shape 50"/>
          <p:cNvSpPr/>
          <p:nvPr/>
        </p:nvSpPr>
        <p:spPr>
          <a:xfrm>
            <a:off x="4069080" y="3218688"/>
            <a:ext cx="4480560" cy="338328"/>
          </a:xfrm>
          <a:prstGeom prst="roundRect">
            <a:avLst>
              <a:gd name="adj" fmla="val 13514"/>
            </a:avLst>
          </a:prstGeom>
          <a:solidFill>
            <a:srgbClr val="FFFFFF"/>
          </a:solidFill>
          <a:ln w="6350">
            <a:solidFill>
              <a:srgbClr val="D5DED9"/>
            </a:solidFill>
            <a:prstDash val="solid"/>
          </a:ln>
        </p:spPr>
      </p:sp>
      <p:sp>
        <p:nvSpPr>
          <p:cNvPr id="58" name="Text 51"/>
          <p:cNvSpPr txBox="1"/>
          <p:nvPr/>
        </p:nvSpPr>
        <p:spPr>
          <a:xfrm>
            <a:off x="4160520" y="3218688"/>
            <a:ext cx="1371600" cy="338328"/>
          </a:xfrm>
          <a:prstGeom prst="rect">
            <a:avLst/>
          </a:prstGeom>
          <a:noFill/>
          <a:ln/>
        </p:spPr>
        <p:txBody>
          <a:bodyPr wrap="square" lIns="0" tIns="0" rIns="0" bIns="0" rtlCol="0" anchor="ctr"/>
          <a:lstStyle/>
          <a:p>
            <a:pPr indent="0" marL="0">
              <a:buNone/>
            </a:pPr>
            <a:r>
              <a:rPr lang="en-US" sz="900" b="1" dirty="0">
                <a:solidFill>
                  <a:srgbClr val="00704A"/>
                </a:solidFill>
                <a:latin typeface="Calibri" pitchFamily="34" charset="0"/>
                <a:ea typeface="Calibri" pitchFamily="34" charset="-122"/>
                <a:cs typeface="Calibri" pitchFamily="34" charset="-120"/>
              </a:rPr>
              <a:t>Validation</a:t>
            </a:r>
            <a:endParaRPr lang="en-US" sz="900" dirty="0"/>
          </a:p>
        </p:txBody>
      </p:sp>
      <p:sp>
        <p:nvSpPr>
          <p:cNvPr id="59" name="Text 52"/>
          <p:cNvSpPr txBox="1"/>
          <p:nvPr/>
        </p:nvSpPr>
        <p:spPr>
          <a:xfrm>
            <a:off x="5532120" y="3218688"/>
            <a:ext cx="2971800" cy="338328"/>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Référence, année, nombre d’unités, force de la relation</a:t>
            </a:r>
            <a:endParaRPr lang="en-US" sz="900" dirty="0"/>
          </a:p>
        </p:txBody>
      </p:sp>
      <p:sp>
        <p:nvSpPr>
          <p:cNvPr id="60" name="Shape 53"/>
          <p:cNvSpPr/>
          <p:nvPr/>
        </p:nvSpPr>
        <p:spPr>
          <a:xfrm>
            <a:off x="4069080" y="3621024"/>
            <a:ext cx="4480560" cy="338328"/>
          </a:xfrm>
          <a:prstGeom prst="roundRect">
            <a:avLst>
              <a:gd name="adj" fmla="val 13514"/>
            </a:avLst>
          </a:prstGeom>
          <a:solidFill>
            <a:srgbClr val="FFFFFF"/>
          </a:solidFill>
          <a:ln w="6350">
            <a:solidFill>
              <a:srgbClr val="D5DED9"/>
            </a:solidFill>
            <a:prstDash val="solid"/>
          </a:ln>
        </p:spPr>
      </p:sp>
      <p:sp>
        <p:nvSpPr>
          <p:cNvPr id="61" name="Text 54"/>
          <p:cNvSpPr txBox="1"/>
          <p:nvPr/>
        </p:nvSpPr>
        <p:spPr>
          <a:xfrm>
            <a:off x="4160520" y="3621024"/>
            <a:ext cx="1371600" cy="338328"/>
          </a:xfrm>
          <a:prstGeom prst="rect">
            <a:avLst/>
          </a:prstGeom>
          <a:noFill/>
          <a:ln/>
        </p:spPr>
        <p:txBody>
          <a:bodyPr wrap="square" lIns="0" tIns="0" rIns="0" bIns="0" rtlCol="0" anchor="ctr"/>
          <a:lstStyle/>
          <a:p>
            <a:pPr indent="0" marL="0">
              <a:buNone/>
            </a:pPr>
            <a:r>
              <a:rPr lang="en-US" sz="900" b="1" dirty="0">
                <a:solidFill>
                  <a:srgbClr val="00704A"/>
                </a:solidFill>
                <a:latin typeface="Calibri" pitchFamily="34" charset="0"/>
                <a:ea typeface="Calibri" pitchFamily="34" charset="-122"/>
                <a:cs typeface="Calibri" pitchFamily="34" charset="-120"/>
              </a:rPr>
              <a:t>Décision</a:t>
            </a:r>
            <a:endParaRPr lang="en-US" sz="900" dirty="0"/>
          </a:p>
        </p:txBody>
      </p:sp>
      <p:sp>
        <p:nvSpPr>
          <p:cNvPr id="62" name="Text 55"/>
          <p:cNvSpPr txBox="1"/>
          <p:nvPr/>
        </p:nvSpPr>
        <p:spPr>
          <a:xfrm>
            <a:off x="5532120" y="3621024"/>
            <a:ext cx="2971800" cy="338328"/>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Expérimentale, diagnostic ou inadaptée — et pourquoi</a:t>
            </a:r>
            <a:endParaRPr lang="en-US" sz="900" dirty="0"/>
          </a:p>
        </p:txBody>
      </p:sp>
      <p:sp>
        <p:nvSpPr>
          <p:cNvPr id="63" name="Shape 56"/>
          <p:cNvSpPr/>
          <p:nvPr/>
        </p:nvSpPr>
        <p:spPr>
          <a:xfrm>
            <a:off x="4069080" y="4023360"/>
            <a:ext cx="4480560" cy="338328"/>
          </a:xfrm>
          <a:prstGeom prst="roundRect">
            <a:avLst>
              <a:gd name="adj" fmla="val 13514"/>
            </a:avLst>
          </a:prstGeom>
          <a:solidFill>
            <a:srgbClr val="FFFFFF"/>
          </a:solidFill>
          <a:ln w="6350">
            <a:solidFill>
              <a:srgbClr val="D5DED9"/>
            </a:solidFill>
            <a:prstDash val="solid"/>
          </a:ln>
        </p:spPr>
      </p:sp>
      <p:sp>
        <p:nvSpPr>
          <p:cNvPr id="64" name="Text 57"/>
          <p:cNvSpPr txBox="1"/>
          <p:nvPr/>
        </p:nvSpPr>
        <p:spPr>
          <a:xfrm>
            <a:off x="4160520" y="4023360"/>
            <a:ext cx="1371600" cy="338328"/>
          </a:xfrm>
          <a:prstGeom prst="rect">
            <a:avLst/>
          </a:prstGeom>
          <a:noFill/>
          <a:ln/>
        </p:spPr>
        <p:txBody>
          <a:bodyPr wrap="square" lIns="0" tIns="0" rIns="0" bIns="0" rtlCol="0" anchor="ctr"/>
          <a:lstStyle/>
          <a:p>
            <a:pPr indent="0" marL="0">
              <a:buNone/>
            </a:pPr>
            <a:r>
              <a:rPr lang="en-US" sz="900" b="1" dirty="0">
                <a:solidFill>
                  <a:srgbClr val="B83B2E"/>
                </a:solidFill>
                <a:latin typeface="Calibri" pitchFamily="34" charset="0"/>
                <a:ea typeface="Calibri" pitchFamily="34" charset="-122"/>
                <a:cs typeface="Calibri" pitchFamily="34" charset="-120"/>
              </a:rPr>
              <a:t>À ne pas utiliser pour</a:t>
            </a:r>
            <a:endParaRPr lang="en-US" sz="900" dirty="0"/>
          </a:p>
        </p:txBody>
      </p:sp>
      <p:sp>
        <p:nvSpPr>
          <p:cNvPr id="65" name="Text 58"/>
          <p:cNvSpPr txBox="1"/>
          <p:nvPr/>
        </p:nvSpPr>
        <p:spPr>
          <a:xfrm>
            <a:off x="5532120" y="4023360"/>
            <a:ext cx="2971800" cy="338328"/>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p. ex. revenu des ménages, effectifs des petites localités</a:t>
            </a:r>
            <a:endParaRPr lang="en-US" sz="900" dirty="0"/>
          </a:p>
        </p:txBody>
      </p:sp>
      <p:sp>
        <p:nvSpPr>
          <p:cNvPr id="66" name="Text 59"/>
          <p:cNvSpPr txBox="1"/>
          <p:nvPr/>
        </p:nvSpPr>
        <p:spPr>
          <a:xfrm>
            <a:off x="457200" y="4617720"/>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Guide indicatif — à adapter à votre cadre national d’assurance qualité. Circularité : voir Falchetta et al. (2019), Scientific Data.</a:t>
            </a:r>
            <a:endParaRPr lang="en-US" sz="9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DE L’EXPOSÉ AU LABO · BONNES PRATIQUES</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Liste de contrôle pour une analyse solide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sp>
        <p:nvSpPr>
          <p:cNvPr id="17" name="Shape 14"/>
          <p:cNvSpPr/>
          <p:nvPr/>
        </p:nvSpPr>
        <p:spPr>
          <a:xfrm>
            <a:off x="457200" y="1325880"/>
            <a:ext cx="2606040" cy="566928"/>
          </a:xfrm>
          <a:prstGeom prst="roundRect">
            <a:avLst>
              <a:gd name="adj" fmla="val 12903"/>
            </a:avLst>
          </a:prstGeom>
          <a:solidFill>
            <a:srgbClr val="F4F7F5"/>
          </a:solidFill>
          <a:ln w="9525">
            <a:solidFill>
              <a:srgbClr val="D5DED9"/>
            </a:solidFill>
            <a:prstDash val="solid"/>
          </a:ln>
        </p:spPr>
      </p:sp>
      <p:sp>
        <p:nvSpPr>
          <p:cNvPr id="18" name="Shape 15"/>
          <p:cNvSpPr/>
          <p:nvPr/>
        </p:nvSpPr>
        <p:spPr>
          <a:xfrm>
            <a:off x="548640" y="1463040"/>
            <a:ext cx="292608" cy="292608"/>
          </a:xfrm>
          <a:prstGeom prst="ellipse">
            <a:avLst/>
          </a:prstGeom>
          <a:solidFill>
            <a:srgbClr val="B83B2E"/>
          </a:solidFill>
          <a:ln w="12700">
            <a:solidFill>
              <a:srgbClr val="B83B2E"/>
            </a:solidFill>
            <a:prstDash val="solid"/>
          </a:ln>
        </p:spPr>
      </p:sp>
      <p:sp>
        <p:nvSpPr>
          <p:cNvPr id="19" name="Text 16"/>
          <p:cNvSpPr txBox="1"/>
          <p:nvPr/>
        </p:nvSpPr>
        <p:spPr>
          <a:xfrm>
            <a:off x="54864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32688" y="1371600"/>
            <a:ext cx="2057400" cy="219456"/>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Nommer produit et version</a:t>
            </a:r>
            <a:endParaRPr lang="en-US" sz="1050" dirty="0"/>
          </a:p>
        </p:txBody>
      </p:sp>
      <p:sp>
        <p:nvSpPr>
          <p:cNvPr id="21" name="Text 18"/>
          <p:cNvSpPr txBox="1"/>
          <p:nvPr/>
        </p:nvSpPr>
        <p:spPr>
          <a:xfrm>
            <a:off x="932688" y="1581912"/>
            <a:ext cx="2075688" cy="292608"/>
          </a:xfrm>
          <a:prstGeom prst="rect">
            <a:avLst/>
          </a:prstGeom>
          <a:noFill/>
          <a:ln/>
        </p:spPr>
        <p:txBody>
          <a:bodyPr wrap="square" lIns="0" tIns="0" rIns="0" bIns="0" rtlCol="0" anchor="t"/>
          <a:lstStyle/>
          <a:p>
            <a:pPr indent="0" marL="0">
              <a:buNone/>
            </a:pPr>
            <a:r>
              <a:rPr lang="en-US" sz="850" dirty="0">
                <a:solidFill>
                  <a:srgbClr val="5E6964"/>
                </a:solidFill>
                <a:latin typeface="Calibri" pitchFamily="34" charset="0"/>
                <a:ea typeface="Calibri" pitchFamily="34" charset="-122"/>
                <a:cs typeface="Calibri" pitchFamily="34" charset="-120"/>
              </a:rPr>
              <a:t>VNP46A4 v2, VNL V2.x — ils ne sont pas interchangeables.</a:t>
            </a:r>
            <a:endParaRPr lang="en-US" sz="850" dirty="0"/>
          </a:p>
        </p:txBody>
      </p:sp>
      <p:sp>
        <p:nvSpPr>
          <p:cNvPr id="22" name="Shape 19"/>
          <p:cNvSpPr/>
          <p:nvPr/>
        </p:nvSpPr>
        <p:spPr>
          <a:xfrm>
            <a:off x="3200400" y="1325880"/>
            <a:ext cx="2606040" cy="566928"/>
          </a:xfrm>
          <a:prstGeom prst="roundRect">
            <a:avLst>
              <a:gd name="adj" fmla="val 12903"/>
            </a:avLst>
          </a:prstGeom>
          <a:solidFill>
            <a:srgbClr val="F4F7F5"/>
          </a:solidFill>
          <a:ln w="9525">
            <a:solidFill>
              <a:srgbClr val="D5DED9"/>
            </a:solidFill>
            <a:prstDash val="solid"/>
          </a:ln>
        </p:spPr>
      </p:sp>
      <p:sp>
        <p:nvSpPr>
          <p:cNvPr id="23" name="Shape 20"/>
          <p:cNvSpPr/>
          <p:nvPr/>
        </p:nvSpPr>
        <p:spPr>
          <a:xfrm>
            <a:off x="3291840" y="1463040"/>
            <a:ext cx="292608" cy="292608"/>
          </a:xfrm>
          <a:prstGeom prst="ellipse">
            <a:avLst/>
          </a:prstGeom>
          <a:solidFill>
            <a:srgbClr val="C4621D"/>
          </a:solidFill>
          <a:ln w="12700">
            <a:solidFill>
              <a:srgbClr val="C4621D"/>
            </a:solidFill>
            <a:prstDash val="solid"/>
          </a:ln>
        </p:spPr>
      </p:sp>
      <p:sp>
        <p:nvSpPr>
          <p:cNvPr id="24" name="Text 21"/>
          <p:cNvSpPr txBox="1"/>
          <p:nvPr/>
        </p:nvSpPr>
        <p:spPr>
          <a:xfrm>
            <a:off x="329184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5" name="Text 22"/>
          <p:cNvSpPr txBox="1"/>
          <p:nvPr/>
        </p:nvSpPr>
        <p:spPr>
          <a:xfrm>
            <a:off x="3675888" y="1371600"/>
            <a:ext cx="2057400" cy="219456"/>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Ne pas raccorder naïvement</a:t>
            </a:r>
            <a:endParaRPr lang="en-US" sz="1050" dirty="0"/>
          </a:p>
        </p:txBody>
      </p:sp>
      <p:sp>
        <p:nvSpPr>
          <p:cNvPr id="26" name="Text 23"/>
          <p:cNvSpPr txBox="1"/>
          <p:nvPr/>
        </p:nvSpPr>
        <p:spPr>
          <a:xfrm>
            <a:off x="3675888" y="1581912"/>
            <a:ext cx="2075688" cy="292608"/>
          </a:xfrm>
          <a:prstGeom prst="rect">
            <a:avLst/>
          </a:prstGeom>
          <a:noFill/>
          <a:ln/>
        </p:spPr>
        <p:txBody>
          <a:bodyPr wrap="square" lIns="0" tIns="0" rIns="0" bIns="0" rtlCol="0" anchor="t"/>
          <a:lstStyle/>
          <a:p>
            <a:pPr indent="0" marL="0">
              <a:buNone/>
            </a:pPr>
            <a:r>
              <a:rPr lang="en-US" sz="850" dirty="0">
                <a:solidFill>
                  <a:srgbClr val="5E6964"/>
                </a:solidFill>
                <a:latin typeface="Calibri" pitchFamily="34" charset="0"/>
                <a:ea typeface="Calibri" pitchFamily="34" charset="-122"/>
                <a:cs typeface="Calibri" pitchFamily="34" charset="-120"/>
              </a:rPr>
              <a:t>Toute série DMSP–VIIRS exige une harmonisation documentée.</a:t>
            </a:r>
            <a:endParaRPr lang="en-US" sz="850" dirty="0"/>
          </a:p>
        </p:txBody>
      </p:sp>
      <p:sp>
        <p:nvSpPr>
          <p:cNvPr id="27" name="Shape 24"/>
          <p:cNvSpPr/>
          <p:nvPr/>
        </p:nvSpPr>
        <p:spPr>
          <a:xfrm>
            <a:off x="457200" y="1984248"/>
            <a:ext cx="2606040" cy="566928"/>
          </a:xfrm>
          <a:prstGeom prst="roundRect">
            <a:avLst>
              <a:gd name="adj" fmla="val 12903"/>
            </a:avLst>
          </a:prstGeom>
          <a:solidFill>
            <a:srgbClr val="F4F7F5"/>
          </a:solidFill>
          <a:ln w="9525">
            <a:solidFill>
              <a:srgbClr val="D5DED9"/>
            </a:solidFill>
            <a:prstDash val="solid"/>
          </a:ln>
        </p:spPr>
      </p:sp>
      <p:sp>
        <p:nvSpPr>
          <p:cNvPr id="28" name="Shape 25"/>
          <p:cNvSpPr/>
          <p:nvPr/>
        </p:nvSpPr>
        <p:spPr>
          <a:xfrm>
            <a:off x="548640" y="2121408"/>
            <a:ext cx="292608" cy="292608"/>
          </a:xfrm>
          <a:prstGeom prst="ellipse">
            <a:avLst/>
          </a:prstGeom>
          <a:solidFill>
            <a:srgbClr val="B83B2E"/>
          </a:solidFill>
          <a:ln w="12700">
            <a:solidFill>
              <a:srgbClr val="B83B2E"/>
            </a:solidFill>
            <a:prstDash val="solid"/>
          </a:ln>
        </p:spPr>
      </p:sp>
      <p:sp>
        <p:nvSpPr>
          <p:cNvPr id="29" name="Text 26"/>
          <p:cNvSpPr txBox="1"/>
          <p:nvPr/>
        </p:nvSpPr>
        <p:spPr>
          <a:xfrm>
            <a:off x="548640" y="21214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0" name="Text 27"/>
          <p:cNvSpPr txBox="1"/>
          <p:nvPr/>
        </p:nvSpPr>
        <p:spPr>
          <a:xfrm>
            <a:off x="932688" y="2029968"/>
            <a:ext cx="2057400" cy="219456"/>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Déclarer et tester le seuil</a:t>
            </a:r>
            <a:endParaRPr lang="en-US" sz="1050" dirty="0"/>
          </a:p>
        </p:txBody>
      </p:sp>
      <p:sp>
        <p:nvSpPr>
          <p:cNvPr id="31" name="Text 28"/>
          <p:cNvSpPr txBox="1"/>
          <p:nvPr/>
        </p:nvSpPr>
        <p:spPr>
          <a:xfrm>
            <a:off x="932688" y="2240280"/>
            <a:ext cx="2075688" cy="292608"/>
          </a:xfrm>
          <a:prstGeom prst="rect">
            <a:avLst/>
          </a:prstGeom>
          <a:noFill/>
          <a:ln/>
        </p:spPr>
        <p:txBody>
          <a:bodyPr wrap="square" lIns="0" tIns="0" rIns="0" bIns="0" rtlCol="0" anchor="t"/>
          <a:lstStyle/>
          <a:p>
            <a:pPr indent="0" marL="0">
              <a:buNone/>
            </a:pPr>
            <a:r>
              <a:rPr lang="en-US" sz="850" dirty="0">
                <a:solidFill>
                  <a:srgbClr val="5E6964"/>
                </a:solidFill>
                <a:latin typeface="Calibri" pitchFamily="34" charset="0"/>
                <a:ea typeface="Calibri" pitchFamily="34" charset="-122"/>
                <a:cs typeface="Calibri" pitchFamily="34" charset="-120"/>
              </a:rPr>
              <a:t>Montrer que le résultat résiste à une plage raisonnable.</a:t>
            </a:r>
            <a:endParaRPr lang="en-US" sz="850" dirty="0"/>
          </a:p>
        </p:txBody>
      </p:sp>
      <p:sp>
        <p:nvSpPr>
          <p:cNvPr id="32" name="Shape 29"/>
          <p:cNvSpPr/>
          <p:nvPr/>
        </p:nvSpPr>
        <p:spPr>
          <a:xfrm>
            <a:off x="3200400" y="1984248"/>
            <a:ext cx="2606040" cy="566928"/>
          </a:xfrm>
          <a:prstGeom prst="roundRect">
            <a:avLst>
              <a:gd name="adj" fmla="val 12903"/>
            </a:avLst>
          </a:prstGeom>
          <a:solidFill>
            <a:srgbClr val="F4F7F5"/>
          </a:solidFill>
          <a:ln w="9525">
            <a:solidFill>
              <a:srgbClr val="D5DED9"/>
            </a:solidFill>
            <a:prstDash val="solid"/>
          </a:ln>
        </p:spPr>
      </p:sp>
      <p:sp>
        <p:nvSpPr>
          <p:cNvPr id="33" name="Shape 30"/>
          <p:cNvSpPr/>
          <p:nvPr/>
        </p:nvSpPr>
        <p:spPr>
          <a:xfrm>
            <a:off x="3291840" y="2121408"/>
            <a:ext cx="292608" cy="292608"/>
          </a:xfrm>
          <a:prstGeom prst="ellipse">
            <a:avLst/>
          </a:prstGeom>
          <a:solidFill>
            <a:srgbClr val="C4621D"/>
          </a:solidFill>
          <a:ln w="12700">
            <a:solidFill>
              <a:srgbClr val="C4621D"/>
            </a:solidFill>
            <a:prstDash val="solid"/>
          </a:ln>
        </p:spPr>
      </p:sp>
      <p:sp>
        <p:nvSpPr>
          <p:cNvPr id="34" name="Text 31"/>
          <p:cNvSpPr txBox="1"/>
          <p:nvPr/>
        </p:nvSpPr>
        <p:spPr>
          <a:xfrm>
            <a:off x="3291840" y="21214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5" name="Text 32"/>
          <p:cNvSpPr txBox="1"/>
          <p:nvPr/>
        </p:nvSpPr>
        <p:spPr>
          <a:xfrm>
            <a:off x="3675888" y="2029968"/>
            <a:ext cx="2057400" cy="219456"/>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Masquer ce qu’on n’étudie pas</a:t>
            </a:r>
            <a:endParaRPr lang="en-US" sz="1050" dirty="0"/>
          </a:p>
        </p:txBody>
      </p:sp>
      <p:sp>
        <p:nvSpPr>
          <p:cNvPr id="36" name="Text 33"/>
          <p:cNvSpPr txBox="1"/>
          <p:nvPr/>
        </p:nvSpPr>
        <p:spPr>
          <a:xfrm>
            <a:off x="3675888" y="2240280"/>
            <a:ext cx="2075688" cy="292608"/>
          </a:xfrm>
          <a:prstGeom prst="rect">
            <a:avLst/>
          </a:prstGeom>
          <a:noFill/>
          <a:ln/>
        </p:spPr>
        <p:txBody>
          <a:bodyPr wrap="square" lIns="0" tIns="0" rIns="0" bIns="0" rtlCol="0" anchor="t"/>
          <a:lstStyle/>
          <a:p>
            <a:pPr indent="0" marL="0">
              <a:buNone/>
            </a:pPr>
            <a:r>
              <a:rPr lang="en-US" sz="850" dirty="0">
                <a:solidFill>
                  <a:srgbClr val="5E6964"/>
                </a:solidFill>
                <a:latin typeface="Calibri" pitchFamily="34" charset="0"/>
                <a:ea typeface="Calibri" pitchFamily="34" charset="-122"/>
                <a:cs typeface="Calibri" pitchFamily="34" charset="-120"/>
              </a:rPr>
              <a:t>Bruit de fond, torchères, pêche au lamparo, feux.</a:t>
            </a:r>
            <a:endParaRPr lang="en-US" sz="850" dirty="0"/>
          </a:p>
        </p:txBody>
      </p:sp>
      <p:sp>
        <p:nvSpPr>
          <p:cNvPr id="37" name="Shape 34"/>
          <p:cNvSpPr/>
          <p:nvPr/>
        </p:nvSpPr>
        <p:spPr>
          <a:xfrm>
            <a:off x="457200" y="2642616"/>
            <a:ext cx="2606040" cy="566928"/>
          </a:xfrm>
          <a:prstGeom prst="roundRect">
            <a:avLst>
              <a:gd name="adj" fmla="val 12903"/>
            </a:avLst>
          </a:prstGeom>
          <a:solidFill>
            <a:srgbClr val="F4F7F5"/>
          </a:solidFill>
          <a:ln w="9525">
            <a:solidFill>
              <a:srgbClr val="D5DED9"/>
            </a:solidFill>
            <a:prstDash val="solid"/>
          </a:ln>
        </p:spPr>
      </p:sp>
      <p:sp>
        <p:nvSpPr>
          <p:cNvPr id="38" name="Shape 35"/>
          <p:cNvSpPr/>
          <p:nvPr/>
        </p:nvSpPr>
        <p:spPr>
          <a:xfrm>
            <a:off x="548640" y="2779776"/>
            <a:ext cx="292608" cy="292608"/>
          </a:xfrm>
          <a:prstGeom prst="ellipse">
            <a:avLst/>
          </a:prstGeom>
          <a:solidFill>
            <a:srgbClr val="B83B2E"/>
          </a:solidFill>
          <a:ln w="12700">
            <a:solidFill>
              <a:srgbClr val="B83B2E"/>
            </a:solidFill>
            <a:prstDash val="solid"/>
          </a:ln>
        </p:spPr>
      </p:sp>
      <p:sp>
        <p:nvSpPr>
          <p:cNvPr id="39" name="Text 36"/>
          <p:cNvSpPr txBox="1"/>
          <p:nvPr/>
        </p:nvSpPr>
        <p:spPr>
          <a:xfrm>
            <a:off x="548640" y="277977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0" name="Text 37"/>
          <p:cNvSpPr txBox="1"/>
          <p:nvPr/>
        </p:nvSpPr>
        <p:spPr>
          <a:xfrm>
            <a:off x="932688" y="2688336"/>
            <a:ext cx="2057400" cy="219456"/>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Normaliser à dessein</a:t>
            </a:r>
            <a:endParaRPr lang="en-US" sz="1050" dirty="0"/>
          </a:p>
        </p:txBody>
      </p:sp>
      <p:sp>
        <p:nvSpPr>
          <p:cNvPr id="41" name="Text 38"/>
          <p:cNvSpPr txBox="1"/>
          <p:nvPr/>
        </p:nvSpPr>
        <p:spPr>
          <a:xfrm>
            <a:off x="932688" y="2898648"/>
            <a:ext cx="2075688" cy="292608"/>
          </a:xfrm>
          <a:prstGeom prst="rect">
            <a:avLst/>
          </a:prstGeom>
          <a:noFill/>
          <a:ln/>
        </p:spPr>
        <p:txBody>
          <a:bodyPr wrap="square" lIns="0" tIns="0" rIns="0" bIns="0" rtlCol="0" anchor="t"/>
          <a:lstStyle/>
          <a:p>
            <a:pPr indent="0" marL="0">
              <a:buNone/>
            </a:pPr>
            <a:r>
              <a:rPr lang="en-US" sz="850" dirty="0">
                <a:solidFill>
                  <a:srgbClr val="5E6964"/>
                </a:solidFill>
                <a:latin typeface="Calibri" pitchFamily="34" charset="0"/>
                <a:ea typeface="Calibri" pitchFamily="34" charset="-122"/>
                <a:cs typeface="Calibri" pitchFamily="34" charset="-120"/>
              </a:rPr>
              <a:t>Par habitant, par km², ou non — l’annoncer et le justifier.</a:t>
            </a:r>
            <a:endParaRPr lang="en-US" sz="850" dirty="0"/>
          </a:p>
        </p:txBody>
      </p:sp>
      <p:sp>
        <p:nvSpPr>
          <p:cNvPr id="42" name="Shape 39"/>
          <p:cNvSpPr/>
          <p:nvPr/>
        </p:nvSpPr>
        <p:spPr>
          <a:xfrm>
            <a:off x="3200400" y="2642616"/>
            <a:ext cx="2606040" cy="566928"/>
          </a:xfrm>
          <a:prstGeom prst="roundRect">
            <a:avLst>
              <a:gd name="adj" fmla="val 12903"/>
            </a:avLst>
          </a:prstGeom>
          <a:solidFill>
            <a:srgbClr val="F4F7F5"/>
          </a:solidFill>
          <a:ln w="9525">
            <a:solidFill>
              <a:srgbClr val="D5DED9"/>
            </a:solidFill>
            <a:prstDash val="solid"/>
          </a:ln>
        </p:spPr>
      </p:sp>
      <p:sp>
        <p:nvSpPr>
          <p:cNvPr id="43" name="Shape 40"/>
          <p:cNvSpPr/>
          <p:nvPr/>
        </p:nvSpPr>
        <p:spPr>
          <a:xfrm>
            <a:off x="3291840" y="2779776"/>
            <a:ext cx="292608" cy="292608"/>
          </a:xfrm>
          <a:prstGeom prst="ellipse">
            <a:avLst/>
          </a:prstGeom>
          <a:solidFill>
            <a:srgbClr val="C4621D"/>
          </a:solidFill>
          <a:ln w="12700">
            <a:solidFill>
              <a:srgbClr val="C4621D"/>
            </a:solidFill>
            <a:prstDash val="solid"/>
          </a:ln>
        </p:spPr>
      </p:sp>
      <p:sp>
        <p:nvSpPr>
          <p:cNvPr id="44" name="Text 41"/>
          <p:cNvSpPr txBox="1"/>
          <p:nvPr/>
        </p:nvSpPr>
        <p:spPr>
          <a:xfrm>
            <a:off x="3291840" y="277977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5" name="Text 42"/>
          <p:cNvSpPr txBox="1"/>
          <p:nvPr/>
        </p:nvSpPr>
        <p:spPr>
          <a:xfrm>
            <a:off x="3675888" y="2688336"/>
            <a:ext cx="2057400" cy="219456"/>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Valider sur le terrain</a:t>
            </a:r>
            <a:endParaRPr lang="en-US" sz="1050" dirty="0"/>
          </a:p>
        </p:txBody>
      </p:sp>
      <p:sp>
        <p:nvSpPr>
          <p:cNvPr id="46" name="Text 43"/>
          <p:cNvSpPr txBox="1"/>
          <p:nvPr/>
        </p:nvSpPr>
        <p:spPr>
          <a:xfrm>
            <a:off x="3675888" y="2898648"/>
            <a:ext cx="2075688" cy="292608"/>
          </a:xfrm>
          <a:prstGeom prst="rect">
            <a:avLst/>
          </a:prstGeom>
          <a:noFill/>
          <a:ln/>
        </p:spPr>
        <p:txBody>
          <a:bodyPr wrap="square" lIns="0" tIns="0" rIns="0" bIns="0" rtlCol="0" anchor="t"/>
          <a:lstStyle/>
          <a:p>
            <a:pPr indent="0" marL="0">
              <a:buNone/>
            </a:pPr>
            <a:r>
              <a:rPr lang="en-US" sz="850" dirty="0">
                <a:solidFill>
                  <a:srgbClr val="5E6964"/>
                </a:solidFill>
                <a:latin typeface="Calibri" pitchFamily="34" charset="0"/>
                <a:ea typeface="Calibri" pitchFamily="34" charset="-122"/>
                <a:cs typeface="Calibri" pitchFamily="34" charset="-120"/>
              </a:rPr>
              <a:t>Recensement, enquêtes, données du distributeur — sources indépendantes.</a:t>
            </a:r>
            <a:endParaRPr lang="en-US" sz="850" dirty="0"/>
          </a:p>
        </p:txBody>
      </p:sp>
      <p:sp>
        <p:nvSpPr>
          <p:cNvPr id="47" name="Shape 44"/>
          <p:cNvSpPr/>
          <p:nvPr/>
        </p:nvSpPr>
        <p:spPr>
          <a:xfrm>
            <a:off x="457200" y="3300984"/>
            <a:ext cx="2606040" cy="566928"/>
          </a:xfrm>
          <a:prstGeom prst="roundRect">
            <a:avLst>
              <a:gd name="adj" fmla="val 12903"/>
            </a:avLst>
          </a:prstGeom>
          <a:solidFill>
            <a:srgbClr val="F4F7F5"/>
          </a:solidFill>
          <a:ln w="9525">
            <a:solidFill>
              <a:srgbClr val="D5DED9"/>
            </a:solidFill>
            <a:prstDash val="solid"/>
          </a:ln>
        </p:spPr>
      </p:sp>
      <p:sp>
        <p:nvSpPr>
          <p:cNvPr id="48" name="Shape 45"/>
          <p:cNvSpPr/>
          <p:nvPr/>
        </p:nvSpPr>
        <p:spPr>
          <a:xfrm>
            <a:off x="548640" y="3438144"/>
            <a:ext cx="292608" cy="292608"/>
          </a:xfrm>
          <a:prstGeom prst="ellipse">
            <a:avLst/>
          </a:prstGeom>
          <a:solidFill>
            <a:srgbClr val="B83B2E"/>
          </a:solidFill>
          <a:ln w="12700">
            <a:solidFill>
              <a:srgbClr val="B83B2E"/>
            </a:solidFill>
            <a:prstDash val="solid"/>
          </a:ln>
        </p:spPr>
      </p:sp>
      <p:sp>
        <p:nvSpPr>
          <p:cNvPr id="49" name="Text 46"/>
          <p:cNvSpPr txBox="1"/>
          <p:nvPr/>
        </p:nvSpPr>
        <p:spPr>
          <a:xfrm>
            <a:off x="548640" y="343814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32688" y="3346704"/>
            <a:ext cx="2057400" cy="219456"/>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Préférer les évolutions</a:t>
            </a:r>
            <a:endParaRPr lang="en-US" sz="1050" dirty="0"/>
          </a:p>
        </p:txBody>
      </p:sp>
      <p:sp>
        <p:nvSpPr>
          <p:cNvPr id="51" name="Text 48"/>
          <p:cNvSpPr txBox="1"/>
          <p:nvPr/>
        </p:nvSpPr>
        <p:spPr>
          <a:xfrm>
            <a:off x="932688" y="3557016"/>
            <a:ext cx="2075688" cy="292608"/>
          </a:xfrm>
          <a:prstGeom prst="rect">
            <a:avLst/>
          </a:prstGeom>
          <a:noFill/>
          <a:ln/>
        </p:spPr>
        <p:txBody>
          <a:bodyPr wrap="square" lIns="0" tIns="0" rIns="0" bIns="0" rtlCol="0" anchor="t"/>
          <a:lstStyle/>
          <a:p>
            <a:pPr indent="0" marL="0">
              <a:buNone/>
            </a:pPr>
            <a:r>
              <a:rPr lang="en-US" sz="850" dirty="0">
                <a:solidFill>
                  <a:srgbClr val="5E6964"/>
                </a:solidFill>
                <a:latin typeface="Calibri" pitchFamily="34" charset="0"/>
                <a:ea typeface="Calibri" pitchFamily="34" charset="-122"/>
                <a:cs typeface="Calibri" pitchFamily="34" charset="-120"/>
              </a:rPr>
              <a:t>Les différences annulent une grande part des erreurs d’étalonnage.</a:t>
            </a:r>
            <a:endParaRPr lang="en-US" sz="850" dirty="0"/>
          </a:p>
        </p:txBody>
      </p:sp>
      <p:sp>
        <p:nvSpPr>
          <p:cNvPr id="52" name="Shape 49"/>
          <p:cNvSpPr/>
          <p:nvPr/>
        </p:nvSpPr>
        <p:spPr>
          <a:xfrm>
            <a:off x="3200400" y="3300984"/>
            <a:ext cx="2606040" cy="566928"/>
          </a:xfrm>
          <a:prstGeom prst="roundRect">
            <a:avLst>
              <a:gd name="adj" fmla="val 12903"/>
            </a:avLst>
          </a:prstGeom>
          <a:solidFill>
            <a:srgbClr val="F4F7F5"/>
          </a:solidFill>
          <a:ln w="9525">
            <a:solidFill>
              <a:srgbClr val="D5DED9"/>
            </a:solidFill>
            <a:prstDash val="solid"/>
          </a:ln>
        </p:spPr>
      </p:sp>
      <p:sp>
        <p:nvSpPr>
          <p:cNvPr id="53" name="Shape 50"/>
          <p:cNvSpPr/>
          <p:nvPr/>
        </p:nvSpPr>
        <p:spPr>
          <a:xfrm>
            <a:off x="3291840" y="3438144"/>
            <a:ext cx="292608" cy="292608"/>
          </a:xfrm>
          <a:prstGeom prst="ellipse">
            <a:avLst/>
          </a:prstGeom>
          <a:solidFill>
            <a:srgbClr val="C4621D"/>
          </a:solidFill>
          <a:ln w="12700">
            <a:solidFill>
              <a:srgbClr val="C4621D"/>
            </a:solidFill>
            <a:prstDash val="solid"/>
          </a:ln>
        </p:spPr>
      </p:sp>
      <p:sp>
        <p:nvSpPr>
          <p:cNvPr id="54" name="Text 51"/>
          <p:cNvSpPr txBox="1"/>
          <p:nvPr/>
        </p:nvSpPr>
        <p:spPr>
          <a:xfrm>
            <a:off x="3291840" y="343814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5" name="Text 52"/>
          <p:cNvSpPr txBox="1"/>
          <p:nvPr/>
        </p:nvSpPr>
        <p:spPr>
          <a:xfrm>
            <a:off x="3675888" y="3346704"/>
            <a:ext cx="2057400" cy="219456"/>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Publier code et limites</a:t>
            </a:r>
            <a:endParaRPr lang="en-US" sz="1050" dirty="0"/>
          </a:p>
        </p:txBody>
      </p:sp>
      <p:sp>
        <p:nvSpPr>
          <p:cNvPr id="56" name="Text 53"/>
          <p:cNvSpPr txBox="1"/>
          <p:nvPr/>
        </p:nvSpPr>
        <p:spPr>
          <a:xfrm>
            <a:off x="3675888" y="3557016"/>
            <a:ext cx="2075688" cy="292608"/>
          </a:xfrm>
          <a:prstGeom prst="rect">
            <a:avLst/>
          </a:prstGeom>
          <a:noFill/>
          <a:ln/>
        </p:spPr>
        <p:txBody>
          <a:bodyPr wrap="square" lIns="0" tIns="0" rIns="0" bIns="0" rtlCol="0" anchor="t"/>
          <a:lstStyle/>
          <a:p>
            <a:pPr indent="0" marL="0">
              <a:buNone/>
            </a:pPr>
            <a:r>
              <a:rPr lang="en-US" sz="850" dirty="0">
                <a:solidFill>
                  <a:srgbClr val="5E6964"/>
                </a:solidFill>
                <a:latin typeface="Calibri" pitchFamily="34" charset="0"/>
                <a:ea typeface="Calibri" pitchFamily="34" charset="-122"/>
                <a:cs typeface="Calibri" pitchFamily="34" charset="-120"/>
              </a:rPr>
              <a:t>README avec méthode, sources, licence et réserves.</a:t>
            </a:r>
            <a:endParaRPr lang="en-US" sz="850" dirty="0"/>
          </a:p>
        </p:txBody>
      </p:sp>
      <p:sp>
        <p:nvSpPr>
          <p:cNvPr id="57" name="Shape 54"/>
          <p:cNvSpPr/>
          <p:nvPr/>
        </p:nvSpPr>
        <p:spPr>
          <a:xfrm>
            <a:off x="5943600" y="1325880"/>
            <a:ext cx="2743200" cy="2542032"/>
          </a:xfrm>
          <a:prstGeom prst="roundRect">
            <a:avLst>
              <a:gd name="adj" fmla="val 2878"/>
            </a:avLst>
          </a:prstGeom>
          <a:solidFill>
            <a:srgbClr val="00553A"/>
          </a:solidFill>
          <a:ln w="12700">
            <a:solidFill>
              <a:srgbClr val="00553A"/>
            </a:solidFill>
            <a:prstDash val="solid"/>
          </a:ln>
        </p:spPr>
      </p:sp>
      <p:pic>
        <p:nvPicPr>
          <p:cNvPr id="58" name="Image 0" descr="preencoded.png">    </p:cNvPr>
          <p:cNvPicPr>
            <a:picLocks noChangeAspect="1"/>
          </p:cNvPicPr>
          <p:nvPr/>
        </p:nvPicPr>
        <p:blipFill>
          <a:blip r:embed="rId1"/>
          <a:stretch>
            <a:fillRect/>
          </a:stretch>
        </p:blipFill>
        <p:spPr>
          <a:xfrm>
            <a:off x="6080760" y="1463040"/>
            <a:ext cx="365760" cy="365760"/>
          </a:xfrm>
          <a:prstGeom prst="rect">
            <a:avLst/>
          </a:prstGeom>
        </p:spPr>
      </p:pic>
      <p:sp>
        <p:nvSpPr>
          <p:cNvPr id="59" name="Text 55"/>
          <p:cNvSpPr txBox="1"/>
          <p:nvPr/>
        </p:nvSpPr>
        <p:spPr>
          <a:xfrm>
            <a:off x="6537960" y="1536192"/>
            <a:ext cx="2011680" cy="228600"/>
          </a:xfrm>
          <a:prstGeom prst="rect">
            <a:avLst/>
          </a:prstGeom>
          <a:noFill/>
          <a:ln/>
        </p:spPr>
        <p:txBody>
          <a:bodyPr wrap="square" lIns="0" tIns="0" rIns="0" bIns="0" rtlCol="0" anchor="t"/>
          <a:lstStyle/>
          <a:p>
            <a:pPr indent="0" marL="0">
              <a:buNone/>
            </a:pPr>
            <a:r>
              <a:rPr lang="en-US" sz="1000" b="1" spc="200" kern="0" dirty="0">
                <a:solidFill>
                  <a:srgbClr val="F5C242"/>
                </a:solidFill>
                <a:latin typeface="Calibri" pitchFamily="34" charset="0"/>
                <a:ea typeface="Calibri" pitchFamily="34" charset="-122"/>
                <a:cs typeface="Calibri" pitchFamily="34" charset="-120"/>
              </a:rPr>
              <a:t>LA RÈGLE D’OR</a:t>
            </a:r>
            <a:endParaRPr lang="en-US" sz="1000" dirty="0"/>
          </a:p>
        </p:txBody>
      </p:sp>
      <p:sp>
        <p:nvSpPr>
          <p:cNvPr id="60" name="Text 56"/>
          <p:cNvSpPr txBox="1"/>
          <p:nvPr/>
        </p:nvSpPr>
        <p:spPr>
          <a:xfrm>
            <a:off x="6080760" y="1938528"/>
            <a:ext cx="2487168" cy="105156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Énoncez en une phrase ce qui doit être vrai sur les comportements d’éclairage pour que votre conclusion tienne.</a:t>
            </a:r>
            <a:endParaRPr lang="en-US" sz="1250" dirty="0"/>
          </a:p>
        </p:txBody>
      </p:sp>
      <p:sp>
        <p:nvSpPr>
          <p:cNvPr id="61" name="Text 57"/>
          <p:cNvSpPr txBox="1"/>
          <p:nvPr/>
        </p:nvSpPr>
        <p:spPr>
          <a:xfrm>
            <a:off x="6080760" y="3017520"/>
            <a:ext cx="2468880" cy="731520"/>
          </a:xfrm>
          <a:prstGeom prst="rect">
            <a:avLst/>
          </a:prstGeom>
          <a:noFill/>
          <a:ln/>
        </p:spPr>
        <p:txBody>
          <a:bodyPr wrap="square" lIns="0" tIns="0" rIns="0" bIns="0" rtlCol="0" anchor="t"/>
          <a:lstStyle/>
          <a:p>
            <a:pPr indent="0" marL="0">
              <a:buNone/>
            </a:pPr>
            <a:r>
              <a:rPr lang="en-US" sz="1050" i="1" dirty="0">
                <a:solidFill>
                  <a:srgbClr val="E6F6EE"/>
                </a:solidFill>
                <a:latin typeface="Calibri" pitchFamily="34" charset="0"/>
                <a:ea typeface="Calibri" pitchFamily="34" charset="-122"/>
                <a:cs typeface="Calibri" pitchFamily="34" charset="-120"/>
              </a:rPr>
              <a:t>Si vous ne pouvez pas écrire cette phrase, vous n’avez pas encore de résultat.</a:t>
            </a:r>
            <a:endParaRPr lang="en-US" sz="1050" dirty="0"/>
          </a:p>
        </p:txBody>
      </p:sp>
      <p:sp>
        <p:nvSpPr>
          <p:cNvPr id="62" name="Shape 58"/>
          <p:cNvSpPr/>
          <p:nvPr/>
        </p:nvSpPr>
        <p:spPr>
          <a:xfrm>
            <a:off x="457200" y="4023360"/>
            <a:ext cx="8229600" cy="502920"/>
          </a:xfrm>
          <a:prstGeom prst="roundRect">
            <a:avLst>
              <a:gd name="adj" fmla="val 14545"/>
            </a:avLst>
          </a:prstGeom>
          <a:solidFill>
            <a:srgbClr val="E8F5EF"/>
          </a:solidFill>
          <a:ln w="15875">
            <a:solidFill>
              <a:srgbClr val="00A86A"/>
            </a:solidFill>
            <a:prstDash val="solid"/>
          </a:ln>
        </p:spPr>
      </p:sp>
      <p:sp>
        <p:nvSpPr>
          <p:cNvPr id="63" name="Shape 59"/>
          <p:cNvSpPr/>
          <p:nvPr/>
        </p:nvSpPr>
        <p:spPr>
          <a:xfrm>
            <a:off x="548640" y="4078224"/>
            <a:ext cx="384048" cy="384048"/>
          </a:xfrm>
          <a:prstGeom prst="ellipse">
            <a:avLst/>
          </a:prstGeom>
          <a:solidFill>
            <a:srgbClr val="00A86A">
              <a:alpha val="22000"/>
            </a:srgbClr>
          </a:solidFill>
          <a:ln w="12700">
            <a:solidFill>
              <a:srgbClr val="00A86A">
                <a:alpha val="0"/>
              </a:srgbClr>
            </a:solidFill>
            <a:prstDash val="solid"/>
          </a:ln>
        </p:spPr>
      </p:sp>
      <p:pic>
        <p:nvPicPr>
          <p:cNvPr id="64" name="Image 1" descr="preencoded.png">    </p:cNvPr>
          <p:cNvPicPr>
            <a:picLocks noChangeAspect="1"/>
          </p:cNvPicPr>
          <p:nvPr/>
        </p:nvPicPr>
        <p:blipFill>
          <a:blip r:embed="rId2"/>
          <a:stretch>
            <a:fillRect/>
          </a:stretch>
        </p:blipFill>
        <p:spPr>
          <a:xfrm>
            <a:off x="648492" y="4178076"/>
            <a:ext cx="184343" cy="184343"/>
          </a:xfrm>
          <a:prstGeom prst="rect">
            <a:avLst/>
          </a:prstGeom>
        </p:spPr>
      </p:pic>
      <p:sp>
        <p:nvSpPr>
          <p:cNvPr id="65" name="Text 60"/>
          <p:cNvSpPr txBox="1"/>
          <p:nvPr/>
        </p:nvSpPr>
        <p:spPr>
          <a:xfrm>
            <a:off x="1024128" y="4023360"/>
            <a:ext cx="7589520" cy="502920"/>
          </a:xfrm>
          <a:prstGeom prst="rect">
            <a:avLst/>
          </a:prstGeom>
          <a:noFill/>
          <a:ln/>
        </p:spPr>
        <p:txBody>
          <a:bodyPr wrap="square" lIns="0" tIns="0" rIns="0" bIns="0" rtlCol="0" anchor="ctr"/>
          <a:lstStyle/>
          <a:p>
            <a:pPr indent="0" marL="0">
              <a:buNone/>
            </a:pPr>
            <a:r>
              <a:rPr lang="en-US" sz="1000" b="1" dirty="0">
                <a:solidFill>
                  <a:srgbClr val="00704A"/>
                </a:solidFill>
                <a:latin typeface="Calibri" pitchFamily="34" charset="0"/>
                <a:ea typeface="Calibri" pitchFamily="34" charset="-122"/>
                <a:cs typeface="Calibri" pitchFamily="34" charset="-120"/>
              </a:rPr>
              <a:t>Partagez : </a:t>
            </a:r>
            <a:pPr indent="0" marL="0">
              <a:buNone/>
            </a:pPr>
            <a:r>
              <a:rPr lang="en-US" sz="1000" dirty="0">
                <a:solidFill>
                  <a:srgbClr val="231F20"/>
                </a:solidFill>
                <a:latin typeface="Calibri" pitchFamily="34" charset="0"/>
                <a:ea typeface="Calibri" pitchFamily="34" charset="-122"/>
                <a:cs typeface="Calibri" pitchFamily="34" charset="-120"/>
              </a:rPr>
              <a:t>un dépôt documenté et réutilisable est la contribution de votre institut aux lignes directrices méthodologiques du STG17 sur les nouvelles sources.</a:t>
            </a:r>
            <a:endParaRPr lang="en-US" sz="100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DE L’EXPOSÉ AU LABO · À VOUS</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Trois questions qui méritent débat</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33</a:t>
            </a:r>
            <a:endParaRPr lang="en-US" sz="850" dirty="0"/>
          </a:p>
        </p:txBody>
      </p:sp>
      <p:sp>
        <p:nvSpPr>
          <p:cNvPr id="17" name="Shape 14"/>
          <p:cNvSpPr/>
          <p:nvPr/>
        </p:nvSpPr>
        <p:spPr>
          <a:xfrm>
            <a:off x="457200" y="1325880"/>
            <a:ext cx="2651760" cy="2514600"/>
          </a:xfrm>
          <a:prstGeom prst="roundRect">
            <a:avLst>
              <a:gd name="adj" fmla="val 2909"/>
            </a:avLst>
          </a:prstGeom>
          <a:solidFill>
            <a:srgbClr val="F4F7F5"/>
          </a:solidFill>
          <a:ln w="9525">
            <a:solidFill>
              <a:srgbClr val="D5DED9"/>
            </a:solidFill>
            <a:prstDash val="solid"/>
          </a:ln>
        </p:spPr>
      </p:sp>
      <p:sp>
        <p:nvSpPr>
          <p:cNvPr id="18" name="Text 15"/>
          <p:cNvSpPr txBox="1"/>
          <p:nvPr/>
        </p:nvSpPr>
        <p:spPr>
          <a:xfrm>
            <a:off x="594360" y="1371600"/>
            <a:ext cx="731520" cy="685800"/>
          </a:xfrm>
          <a:prstGeom prst="rect">
            <a:avLst/>
          </a:prstGeom>
          <a:noFill/>
          <a:ln/>
        </p:spPr>
        <p:txBody>
          <a:bodyPr wrap="square" lIns="0" tIns="0" rIns="0" bIns="0" rtlCol="0" anchor="t"/>
          <a:lstStyle/>
          <a:p>
            <a:pPr indent="0" marL="0">
              <a:buNone/>
            </a:pPr>
            <a:r>
              <a:rPr lang="en-US" sz="4400" b="1" dirty="0">
                <a:solidFill>
                  <a:srgbClr val="D49A00"/>
                </a:solidFill>
                <a:latin typeface="Calibri" pitchFamily="34" charset="0"/>
                <a:ea typeface="Calibri" pitchFamily="34" charset="-122"/>
                <a:cs typeface="Calibri" pitchFamily="34" charset="-120"/>
              </a:rPr>
              <a:t>1</a:t>
            </a:r>
            <a:endParaRPr lang="en-US" sz="4400" dirty="0"/>
          </a:p>
        </p:txBody>
      </p:sp>
      <p:sp>
        <p:nvSpPr>
          <p:cNvPr id="19" name="Shape 16"/>
          <p:cNvSpPr/>
          <p:nvPr/>
        </p:nvSpPr>
        <p:spPr>
          <a:xfrm>
            <a:off x="2514600" y="1463040"/>
            <a:ext cx="457200" cy="457200"/>
          </a:xfrm>
          <a:prstGeom prst="ellipse">
            <a:avLst/>
          </a:prstGeom>
          <a:solidFill>
            <a:srgbClr val="D49A00">
              <a:alpha val="22000"/>
            </a:srgbClr>
          </a:solidFill>
          <a:ln w="12700">
            <a:solidFill>
              <a:srgbClr val="D49A00">
                <a:alpha val="0"/>
              </a:srgbClr>
            </a:solidFill>
            <a:prstDash val="solid"/>
          </a:ln>
        </p:spPr>
      </p:sp>
      <p:pic>
        <p:nvPicPr>
          <p:cNvPr id="20" name="Image 0" descr="preencoded.png">    </p:cNvPr>
          <p:cNvPicPr>
            <a:picLocks noChangeAspect="1"/>
          </p:cNvPicPr>
          <p:nvPr/>
        </p:nvPicPr>
        <p:blipFill>
          <a:blip r:embed="rId1"/>
          <a:stretch>
            <a:fillRect/>
          </a:stretch>
        </p:blipFill>
        <p:spPr>
          <a:xfrm>
            <a:off x="2633472" y="1581912"/>
            <a:ext cx="219456" cy="219456"/>
          </a:xfrm>
          <a:prstGeom prst="rect">
            <a:avLst/>
          </a:prstGeom>
        </p:spPr>
      </p:pic>
      <p:sp>
        <p:nvSpPr>
          <p:cNvPr id="21" name="Text 17"/>
          <p:cNvSpPr txBox="1"/>
          <p:nvPr/>
        </p:nvSpPr>
        <p:spPr>
          <a:xfrm>
            <a:off x="594360" y="2084832"/>
            <a:ext cx="2377440" cy="292608"/>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La région contradictoire</a:t>
            </a:r>
            <a:endParaRPr lang="en-US" sz="1350" dirty="0"/>
          </a:p>
        </p:txBody>
      </p:sp>
      <p:sp>
        <p:nvSpPr>
          <p:cNvPr id="22" name="Text 18"/>
          <p:cNvSpPr txBox="1"/>
          <p:nvPr/>
        </p:nvSpPr>
        <p:spPr>
          <a:xfrm>
            <a:off x="594360" y="2432304"/>
            <a:ext cx="2377440" cy="137160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La somme des lumières d’une région baisse de 12 % en un an alors que son PIB estimé progresse de 3 %. Proposez quatre explications compatibles avec ces deux faits — puis l’observation qui les départagerait le mieux.</a:t>
            </a:r>
            <a:endParaRPr lang="en-US" sz="950" dirty="0"/>
          </a:p>
        </p:txBody>
      </p:sp>
      <p:sp>
        <p:nvSpPr>
          <p:cNvPr id="23" name="Shape 19"/>
          <p:cNvSpPr/>
          <p:nvPr/>
        </p:nvSpPr>
        <p:spPr>
          <a:xfrm>
            <a:off x="3246120" y="1325880"/>
            <a:ext cx="2651760" cy="2514600"/>
          </a:xfrm>
          <a:prstGeom prst="roundRect">
            <a:avLst>
              <a:gd name="adj" fmla="val 2909"/>
            </a:avLst>
          </a:prstGeom>
          <a:solidFill>
            <a:srgbClr val="F4F7F5"/>
          </a:solidFill>
          <a:ln w="9525">
            <a:solidFill>
              <a:srgbClr val="D5DED9"/>
            </a:solidFill>
            <a:prstDash val="solid"/>
          </a:ln>
        </p:spPr>
      </p:sp>
      <p:sp>
        <p:nvSpPr>
          <p:cNvPr id="24" name="Text 20"/>
          <p:cNvSpPr txBox="1"/>
          <p:nvPr/>
        </p:nvSpPr>
        <p:spPr>
          <a:xfrm>
            <a:off x="3383280" y="1371600"/>
            <a:ext cx="731520" cy="685800"/>
          </a:xfrm>
          <a:prstGeom prst="rect">
            <a:avLst/>
          </a:prstGeom>
          <a:noFill/>
          <a:ln/>
        </p:spPr>
        <p:txBody>
          <a:bodyPr wrap="square" lIns="0" tIns="0" rIns="0" bIns="0" rtlCol="0" anchor="t"/>
          <a:lstStyle/>
          <a:p>
            <a:pPr indent="0" marL="0">
              <a:buNone/>
            </a:pPr>
            <a:r>
              <a:rPr lang="en-US" sz="4400" b="1" dirty="0">
                <a:solidFill>
                  <a:srgbClr val="C4621D"/>
                </a:solidFill>
                <a:latin typeface="Calibri" pitchFamily="34" charset="0"/>
                <a:ea typeface="Calibri" pitchFamily="34" charset="-122"/>
                <a:cs typeface="Calibri" pitchFamily="34" charset="-120"/>
              </a:rPr>
              <a:t>2</a:t>
            </a:r>
            <a:endParaRPr lang="en-US" sz="4400" dirty="0"/>
          </a:p>
        </p:txBody>
      </p:sp>
      <p:sp>
        <p:nvSpPr>
          <p:cNvPr id="25" name="Shape 21"/>
          <p:cNvSpPr/>
          <p:nvPr/>
        </p:nvSpPr>
        <p:spPr>
          <a:xfrm>
            <a:off x="5303520" y="1463040"/>
            <a:ext cx="457200" cy="457200"/>
          </a:xfrm>
          <a:prstGeom prst="ellipse">
            <a:avLst/>
          </a:prstGeom>
          <a:solidFill>
            <a:srgbClr val="C4621D">
              <a:alpha val="22000"/>
            </a:srgbClr>
          </a:solidFill>
          <a:ln w="12700">
            <a:solidFill>
              <a:srgbClr val="C4621D">
                <a:alpha val="0"/>
              </a:srgbClr>
            </a:solidFill>
            <a:prstDash val="solid"/>
          </a:ln>
        </p:spPr>
      </p:sp>
      <p:pic>
        <p:nvPicPr>
          <p:cNvPr id="26" name="Image 1" descr="preencoded.png">    </p:cNvPr>
          <p:cNvPicPr>
            <a:picLocks noChangeAspect="1"/>
          </p:cNvPicPr>
          <p:nvPr/>
        </p:nvPicPr>
        <p:blipFill>
          <a:blip r:embed="rId2"/>
          <a:stretch>
            <a:fillRect/>
          </a:stretch>
        </p:blipFill>
        <p:spPr>
          <a:xfrm>
            <a:off x="5422392" y="1581912"/>
            <a:ext cx="219456" cy="219456"/>
          </a:xfrm>
          <a:prstGeom prst="rect">
            <a:avLst/>
          </a:prstGeom>
        </p:spPr>
      </p:pic>
      <p:sp>
        <p:nvSpPr>
          <p:cNvPr id="27" name="Text 22"/>
          <p:cNvSpPr txBox="1"/>
          <p:nvPr/>
        </p:nvSpPr>
        <p:spPr>
          <a:xfrm>
            <a:off x="3383280" y="2084832"/>
            <a:ext cx="2377440" cy="292608"/>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Un seul indicateur</a:t>
            </a:r>
            <a:endParaRPr lang="en-US" sz="1350" dirty="0"/>
          </a:p>
        </p:txBody>
      </p:sp>
      <p:sp>
        <p:nvSpPr>
          <p:cNvPr id="28" name="Text 23"/>
          <p:cNvSpPr txBox="1"/>
          <p:nvPr/>
        </p:nvSpPr>
        <p:spPr>
          <a:xfrm>
            <a:off x="3383280" y="2432304"/>
            <a:ext cx="2377440" cy="137160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Vous devez suivre un programme d’électrification rurale de cinq ans avec un seul indicateur : surface éclairée, somme des lumières ou part des nuits éclairées. Choisissez — et défendez ce choix face aux deux autres.</a:t>
            </a:r>
            <a:endParaRPr lang="en-US" sz="950" dirty="0"/>
          </a:p>
        </p:txBody>
      </p:sp>
      <p:sp>
        <p:nvSpPr>
          <p:cNvPr id="29" name="Shape 24"/>
          <p:cNvSpPr/>
          <p:nvPr/>
        </p:nvSpPr>
        <p:spPr>
          <a:xfrm>
            <a:off x="6035040" y="1325880"/>
            <a:ext cx="2651760" cy="2514600"/>
          </a:xfrm>
          <a:prstGeom prst="roundRect">
            <a:avLst>
              <a:gd name="adj" fmla="val 2909"/>
            </a:avLst>
          </a:prstGeom>
          <a:solidFill>
            <a:srgbClr val="E8F5EF"/>
          </a:solidFill>
          <a:ln w="15875">
            <a:solidFill>
              <a:srgbClr val="B83B2E"/>
            </a:solidFill>
            <a:prstDash val="solid"/>
          </a:ln>
        </p:spPr>
      </p:sp>
      <p:sp>
        <p:nvSpPr>
          <p:cNvPr id="30" name="Text 25"/>
          <p:cNvSpPr txBox="1"/>
          <p:nvPr/>
        </p:nvSpPr>
        <p:spPr>
          <a:xfrm>
            <a:off x="6172200" y="1371600"/>
            <a:ext cx="731520" cy="685800"/>
          </a:xfrm>
          <a:prstGeom prst="rect">
            <a:avLst/>
          </a:prstGeom>
          <a:noFill/>
          <a:ln/>
        </p:spPr>
        <p:txBody>
          <a:bodyPr wrap="square" lIns="0" tIns="0" rIns="0" bIns="0" rtlCol="0" anchor="t"/>
          <a:lstStyle/>
          <a:p>
            <a:pPr indent="0" marL="0">
              <a:buNone/>
            </a:pPr>
            <a:r>
              <a:rPr lang="en-US" sz="4400" b="1" dirty="0">
                <a:solidFill>
                  <a:srgbClr val="B83B2E"/>
                </a:solidFill>
                <a:latin typeface="Calibri" pitchFamily="34" charset="0"/>
                <a:ea typeface="Calibri" pitchFamily="34" charset="-122"/>
                <a:cs typeface="Calibri" pitchFamily="34" charset="-120"/>
              </a:rPr>
              <a:t>3</a:t>
            </a:r>
            <a:endParaRPr lang="en-US" sz="4400" dirty="0"/>
          </a:p>
        </p:txBody>
      </p:sp>
      <p:sp>
        <p:nvSpPr>
          <p:cNvPr id="31" name="Shape 26"/>
          <p:cNvSpPr/>
          <p:nvPr/>
        </p:nvSpPr>
        <p:spPr>
          <a:xfrm>
            <a:off x="8092440" y="1463040"/>
            <a:ext cx="457200" cy="457200"/>
          </a:xfrm>
          <a:prstGeom prst="ellipse">
            <a:avLst/>
          </a:prstGeom>
          <a:solidFill>
            <a:srgbClr val="B83B2E">
              <a:alpha val="22000"/>
            </a:srgbClr>
          </a:solidFill>
          <a:ln w="12700">
            <a:solidFill>
              <a:srgbClr val="B83B2E">
                <a:alpha val="0"/>
              </a:srgbClr>
            </a:solidFill>
            <a:prstDash val="solid"/>
          </a:ln>
        </p:spPr>
      </p:sp>
      <p:pic>
        <p:nvPicPr>
          <p:cNvPr id="32" name="Image 2" descr="preencoded.png">    </p:cNvPr>
          <p:cNvPicPr>
            <a:picLocks noChangeAspect="1"/>
          </p:cNvPicPr>
          <p:nvPr/>
        </p:nvPicPr>
        <p:blipFill>
          <a:blip r:embed="rId3"/>
          <a:stretch>
            <a:fillRect/>
          </a:stretch>
        </p:blipFill>
        <p:spPr>
          <a:xfrm>
            <a:off x="8211312" y="1581912"/>
            <a:ext cx="219456" cy="219456"/>
          </a:xfrm>
          <a:prstGeom prst="rect">
            <a:avLst/>
          </a:prstGeom>
        </p:spPr>
      </p:pic>
      <p:sp>
        <p:nvSpPr>
          <p:cNvPr id="33" name="Text 27"/>
          <p:cNvSpPr txBox="1"/>
          <p:nvPr/>
        </p:nvSpPr>
        <p:spPr>
          <a:xfrm>
            <a:off x="6172200" y="2084832"/>
            <a:ext cx="2377440" cy="292608"/>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Diffuser ou non ?</a:t>
            </a:r>
            <a:endParaRPr lang="en-US" sz="1350" dirty="0"/>
          </a:p>
        </p:txBody>
      </p:sp>
      <p:sp>
        <p:nvSpPr>
          <p:cNvPr id="34" name="Text 28"/>
          <p:cNvSpPr txBox="1"/>
          <p:nvPr/>
        </p:nvSpPr>
        <p:spPr>
          <a:xfrm>
            <a:off x="6172200" y="2432304"/>
            <a:ext cx="2377440" cy="137160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La relation NTL–électrification est forte dans la région capitale mais faible ailleurs. Que diffusez-vous, pour quelles zones, et qu’écrivez-vous dans votre déclaration de limites ?</a:t>
            </a:r>
            <a:endParaRPr lang="en-US" sz="950" dirty="0"/>
          </a:p>
        </p:txBody>
      </p:sp>
      <p:sp>
        <p:nvSpPr>
          <p:cNvPr id="35" name="Shape 29"/>
          <p:cNvSpPr/>
          <p:nvPr/>
        </p:nvSpPr>
        <p:spPr>
          <a:xfrm>
            <a:off x="457200" y="3977640"/>
            <a:ext cx="8229600" cy="548640"/>
          </a:xfrm>
          <a:prstGeom prst="roundRect">
            <a:avLst>
              <a:gd name="adj" fmla="val 13333"/>
            </a:avLst>
          </a:prstGeom>
          <a:solidFill>
            <a:srgbClr val="E8F5EF"/>
          </a:solidFill>
          <a:ln w="15875">
            <a:solidFill>
              <a:srgbClr val="00A86A"/>
            </a:solidFill>
            <a:prstDash val="solid"/>
          </a:ln>
        </p:spPr>
      </p:sp>
      <p:sp>
        <p:nvSpPr>
          <p:cNvPr id="36" name="Shape 30"/>
          <p:cNvSpPr/>
          <p:nvPr/>
        </p:nvSpPr>
        <p:spPr>
          <a:xfrm>
            <a:off x="548640" y="4059936"/>
            <a:ext cx="384048" cy="384048"/>
          </a:xfrm>
          <a:prstGeom prst="ellipse">
            <a:avLst/>
          </a:prstGeom>
          <a:solidFill>
            <a:srgbClr val="00A86A">
              <a:alpha val="22000"/>
            </a:srgbClr>
          </a:solidFill>
          <a:ln w="12700">
            <a:solidFill>
              <a:srgbClr val="00A86A">
                <a:alpha val="0"/>
              </a:srgbClr>
            </a:solidFill>
            <a:prstDash val="solid"/>
          </a:ln>
        </p:spPr>
      </p:sp>
      <p:pic>
        <p:nvPicPr>
          <p:cNvPr id="37" name="Image 3" descr="preencoded.png">    </p:cNvPr>
          <p:cNvPicPr>
            <a:picLocks noChangeAspect="1"/>
          </p:cNvPicPr>
          <p:nvPr/>
        </p:nvPicPr>
        <p:blipFill>
          <a:blip r:embed="rId4"/>
          <a:stretch>
            <a:fillRect/>
          </a:stretch>
        </p:blipFill>
        <p:spPr>
          <a:xfrm>
            <a:off x="648492" y="4159788"/>
            <a:ext cx="184343" cy="184343"/>
          </a:xfrm>
          <a:prstGeom prst="rect">
            <a:avLst/>
          </a:prstGeom>
        </p:spPr>
      </p:pic>
      <p:sp>
        <p:nvSpPr>
          <p:cNvPr id="38" name="Text 31"/>
          <p:cNvSpPr txBox="1"/>
          <p:nvPr/>
        </p:nvSpPr>
        <p:spPr>
          <a:xfrm>
            <a:off x="1024128" y="3995928"/>
            <a:ext cx="7589520" cy="512064"/>
          </a:xfrm>
          <a:prstGeom prst="rect">
            <a:avLst/>
          </a:prstGeom>
          <a:noFill/>
          <a:ln/>
        </p:spPr>
        <p:txBody>
          <a:bodyPr wrap="square" lIns="0" tIns="0" rIns="0" bIns="0" rtlCol="0" anchor="ctr"/>
          <a:lstStyle/>
          <a:p>
            <a:pPr indent="0" marL="0">
              <a:buNone/>
            </a:pPr>
            <a:r>
              <a:rPr lang="en-US" sz="1000" b="1" dirty="0">
                <a:solidFill>
                  <a:srgbClr val="00704A"/>
                </a:solidFill>
                <a:latin typeface="Calibri" pitchFamily="34" charset="0"/>
                <a:ea typeface="Calibri" pitchFamily="34" charset="-122"/>
                <a:cs typeface="Calibri" pitchFamily="34" charset="-120"/>
              </a:rPr>
              <a:t>Format : </a:t>
            </a:r>
            <a:pPr indent="0" marL="0">
              <a:buNone/>
            </a:pPr>
            <a:r>
              <a:rPr lang="en-US" sz="1000" dirty="0">
                <a:solidFill>
                  <a:srgbClr val="231F20"/>
                </a:solidFill>
                <a:latin typeface="Calibri" pitchFamily="34" charset="0"/>
                <a:ea typeface="Calibri" pitchFamily="34" charset="-122"/>
                <a:cs typeface="Calibri" pitchFamily="34" charset="-120"/>
              </a:rPr>
              <a:t>5 minutes en équipes pays, une question par équipe, un rapporteur. La question 3 vous attend à 15h45 — gardez votre réponse pour la déclaration de limites.</a:t>
            </a:r>
            <a:endParaRPr lang="en-US" sz="100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411480"/>
            <a:ext cx="36576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EN CONCLUSION</a:t>
            </a:r>
            <a:endParaRPr lang="en-US" sz="1050" dirty="0"/>
          </a:p>
        </p:txBody>
      </p:sp>
      <p:sp>
        <p:nvSpPr>
          <p:cNvPr id="4" name="Text 2"/>
          <p:cNvSpPr txBox="1"/>
          <p:nvPr/>
        </p:nvSpPr>
        <p:spPr>
          <a:xfrm>
            <a:off x="548640" y="658368"/>
            <a:ext cx="7315200" cy="54864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Cinq idées à emporter au labo</a:t>
            </a:r>
            <a:endParaRPr lang="en-US" sz="3200" dirty="0"/>
          </a:p>
        </p:txBody>
      </p:sp>
      <p:sp>
        <p:nvSpPr>
          <p:cNvPr id="5" name="Shape 3"/>
          <p:cNvSpPr/>
          <p:nvPr/>
        </p:nvSpPr>
        <p:spPr>
          <a:xfrm>
            <a:off x="548640" y="1408176"/>
            <a:ext cx="384048" cy="384048"/>
          </a:xfrm>
          <a:prstGeom prst="ellipse">
            <a:avLst/>
          </a:prstGeom>
          <a:solidFill>
            <a:srgbClr val="F5C242"/>
          </a:solidFill>
          <a:ln w="12700">
            <a:solidFill>
              <a:srgbClr val="F5C242"/>
            </a:solidFill>
            <a:prstDash val="solid"/>
          </a:ln>
        </p:spPr>
      </p:sp>
      <p:sp>
        <p:nvSpPr>
          <p:cNvPr id="6" name="Text 4"/>
          <p:cNvSpPr txBox="1"/>
          <p:nvPr/>
        </p:nvSpPr>
        <p:spPr>
          <a:xfrm>
            <a:off x="548640" y="1408176"/>
            <a:ext cx="384048" cy="384048"/>
          </a:xfrm>
          <a:prstGeom prst="rect">
            <a:avLst/>
          </a:prstGeom>
          <a:noFill/>
          <a:ln/>
        </p:spPr>
        <p:txBody>
          <a:bodyPr wrap="square" lIns="0" tIns="0" rIns="0" bIns="0" rtlCol="0" anchor="ctr"/>
          <a:lstStyle/>
          <a:p>
            <a:pPr algn="ctr" indent="0" marL="0">
              <a:buNone/>
            </a:pPr>
            <a:r>
              <a:rPr lang="en-US" sz="1400" b="1" dirty="0">
                <a:solidFill>
                  <a:srgbClr val="00553A"/>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097280" y="1353312"/>
            <a:ext cx="5852160" cy="493776"/>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Les lumières nocturnes sont un indicateur indirect, jamais la grandeur d’intérêt — nommez l’hypothèse qui les relie à votre question.</a:t>
            </a:r>
            <a:endParaRPr lang="en-US" sz="1200" dirty="0"/>
          </a:p>
        </p:txBody>
      </p:sp>
      <p:sp>
        <p:nvSpPr>
          <p:cNvPr id="8" name="Shape 6"/>
          <p:cNvSpPr/>
          <p:nvPr/>
        </p:nvSpPr>
        <p:spPr>
          <a:xfrm>
            <a:off x="548640" y="1956816"/>
            <a:ext cx="384048" cy="384048"/>
          </a:xfrm>
          <a:prstGeom prst="ellipse">
            <a:avLst/>
          </a:prstGeom>
          <a:solidFill>
            <a:srgbClr val="F5C242"/>
          </a:solidFill>
          <a:ln w="12700">
            <a:solidFill>
              <a:srgbClr val="F5C242"/>
            </a:solidFill>
            <a:prstDash val="solid"/>
          </a:ln>
        </p:spPr>
      </p:sp>
      <p:sp>
        <p:nvSpPr>
          <p:cNvPr id="9" name="Text 7"/>
          <p:cNvSpPr txBox="1"/>
          <p:nvPr/>
        </p:nvSpPr>
        <p:spPr>
          <a:xfrm>
            <a:off x="548640" y="1956816"/>
            <a:ext cx="384048" cy="384048"/>
          </a:xfrm>
          <a:prstGeom prst="rect">
            <a:avLst/>
          </a:prstGeom>
          <a:noFill/>
          <a:ln/>
        </p:spPr>
        <p:txBody>
          <a:bodyPr wrap="square" lIns="0" tIns="0" rIns="0" bIns="0" rtlCol="0" anchor="ctr"/>
          <a:lstStyle/>
          <a:p>
            <a:pPr algn="ctr" indent="0" marL="0">
              <a:buNone/>
            </a:pPr>
            <a:r>
              <a:rPr lang="en-US" sz="1400" b="1" dirty="0">
                <a:solidFill>
                  <a:srgbClr val="00553A"/>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097280" y="1901952"/>
            <a:ext cx="5852160" cy="493776"/>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L’instrument définit la science : le DMSP sature, VIIRS est étalonné, et aucun des deux ne voit le bleu.</a:t>
            </a:r>
            <a:endParaRPr lang="en-US" sz="1200" dirty="0"/>
          </a:p>
        </p:txBody>
      </p:sp>
      <p:sp>
        <p:nvSpPr>
          <p:cNvPr id="11" name="Shape 9"/>
          <p:cNvSpPr/>
          <p:nvPr/>
        </p:nvSpPr>
        <p:spPr>
          <a:xfrm>
            <a:off x="548640" y="2505456"/>
            <a:ext cx="384048" cy="384048"/>
          </a:xfrm>
          <a:prstGeom prst="ellipse">
            <a:avLst/>
          </a:prstGeom>
          <a:solidFill>
            <a:srgbClr val="F5C242"/>
          </a:solidFill>
          <a:ln w="12700">
            <a:solidFill>
              <a:srgbClr val="F5C242"/>
            </a:solidFill>
            <a:prstDash val="solid"/>
          </a:ln>
        </p:spPr>
      </p:sp>
      <p:sp>
        <p:nvSpPr>
          <p:cNvPr id="12" name="Text 10"/>
          <p:cNvSpPr txBox="1"/>
          <p:nvPr/>
        </p:nvSpPr>
        <p:spPr>
          <a:xfrm>
            <a:off x="548640" y="2505456"/>
            <a:ext cx="384048" cy="384048"/>
          </a:xfrm>
          <a:prstGeom prst="rect">
            <a:avLst/>
          </a:prstGeom>
          <a:noFill/>
          <a:ln/>
        </p:spPr>
        <p:txBody>
          <a:bodyPr wrap="square" lIns="0" tIns="0" rIns="0" bIns="0" rtlCol="0" anchor="ctr"/>
          <a:lstStyle/>
          <a:p>
            <a:pPr algn="ctr" indent="0" marL="0">
              <a:buNone/>
            </a:pPr>
            <a:r>
              <a:rPr lang="en-US" sz="1400" b="1" dirty="0">
                <a:solidFill>
                  <a:srgbClr val="00553A"/>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097280" y="2450592"/>
            <a:ext cx="5852160" cy="493776"/>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Les données valent le plus là où la statistique officielle est la plus mince : infranational, haute fréquence, crises, informel.</a:t>
            </a:r>
            <a:endParaRPr lang="en-US" sz="1200" dirty="0"/>
          </a:p>
        </p:txBody>
      </p:sp>
      <p:sp>
        <p:nvSpPr>
          <p:cNvPr id="14" name="Shape 12"/>
          <p:cNvSpPr/>
          <p:nvPr/>
        </p:nvSpPr>
        <p:spPr>
          <a:xfrm>
            <a:off x="548640" y="3054096"/>
            <a:ext cx="384048" cy="384048"/>
          </a:xfrm>
          <a:prstGeom prst="ellipse">
            <a:avLst/>
          </a:prstGeom>
          <a:solidFill>
            <a:srgbClr val="F5C242"/>
          </a:solidFill>
          <a:ln w="12700">
            <a:solidFill>
              <a:srgbClr val="F5C242"/>
            </a:solidFill>
            <a:prstDash val="solid"/>
          </a:ln>
        </p:spPr>
      </p:sp>
      <p:sp>
        <p:nvSpPr>
          <p:cNvPr id="15" name="Text 13"/>
          <p:cNvSpPr txBox="1"/>
          <p:nvPr/>
        </p:nvSpPr>
        <p:spPr>
          <a:xfrm>
            <a:off x="548640" y="3054096"/>
            <a:ext cx="384048" cy="384048"/>
          </a:xfrm>
          <a:prstGeom prst="rect">
            <a:avLst/>
          </a:prstGeom>
          <a:noFill/>
          <a:ln/>
        </p:spPr>
        <p:txBody>
          <a:bodyPr wrap="square" lIns="0" tIns="0" rIns="0" bIns="0" rtlCol="0" anchor="ctr"/>
          <a:lstStyle/>
          <a:p>
            <a:pPr algn="ctr" indent="0" marL="0">
              <a:buNone/>
            </a:pPr>
            <a:r>
              <a:rPr lang="en-US" sz="1400" b="1" dirty="0">
                <a:solidFill>
                  <a:srgbClr val="00553A"/>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1097280" y="2999232"/>
            <a:ext cx="5852160" cy="493776"/>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L’obscurité n’est pas le vide — éclairage hors réseau, nuages et délestages se ressemblent vus d’en haut.</a:t>
            </a:r>
            <a:endParaRPr lang="en-US" sz="1200" dirty="0"/>
          </a:p>
        </p:txBody>
      </p:sp>
      <p:sp>
        <p:nvSpPr>
          <p:cNvPr id="17" name="Shape 15"/>
          <p:cNvSpPr/>
          <p:nvPr/>
        </p:nvSpPr>
        <p:spPr>
          <a:xfrm>
            <a:off x="548640" y="3602736"/>
            <a:ext cx="384048" cy="384048"/>
          </a:xfrm>
          <a:prstGeom prst="ellipse">
            <a:avLst/>
          </a:prstGeom>
          <a:solidFill>
            <a:srgbClr val="F5C242"/>
          </a:solidFill>
          <a:ln w="12700">
            <a:solidFill>
              <a:srgbClr val="F5C242"/>
            </a:solidFill>
            <a:prstDash val="solid"/>
          </a:ln>
        </p:spPr>
      </p:sp>
      <p:sp>
        <p:nvSpPr>
          <p:cNvPr id="18" name="Text 16"/>
          <p:cNvSpPr txBox="1"/>
          <p:nvPr/>
        </p:nvSpPr>
        <p:spPr>
          <a:xfrm>
            <a:off x="548640" y="3602736"/>
            <a:ext cx="384048" cy="384048"/>
          </a:xfrm>
          <a:prstGeom prst="rect">
            <a:avLst/>
          </a:prstGeom>
          <a:noFill/>
          <a:ln/>
        </p:spPr>
        <p:txBody>
          <a:bodyPr wrap="square" lIns="0" tIns="0" rIns="0" bIns="0" rtlCol="0" anchor="ctr"/>
          <a:lstStyle/>
          <a:p>
            <a:pPr algn="ctr" indent="0" marL="0">
              <a:buNone/>
            </a:pPr>
            <a:r>
              <a:rPr lang="en-US" sz="1400" b="1" dirty="0">
                <a:solidFill>
                  <a:srgbClr val="00553A"/>
                </a:solidFill>
                <a:latin typeface="Calibri" pitchFamily="34" charset="0"/>
                <a:ea typeface="Calibri" pitchFamily="34" charset="-122"/>
                <a:cs typeface="Calibri" pitchFamily="34" charset="-120"/>
              </a:rPr>
              <a:t>5</a:t>
            </a:r>
            <a:endParaRPr lang="en-US" sz="1400" dirty="0"/>
          </a:p>
        </p:txBody>
      </p:sp>
      <p:sp>
        <p:nvSpPr>
          <p:cNvPr id="19" name="Text 17"/>
          <p:cNvSpPr txBox="1"/>
          <p:nvPr/>
        </p:nvSpPr>
        <p:spPr>
          <a:xfrm>
            <a:off x="1097280" y="3547872"/>
            <a:ext cx="5852160" cy="493776"/>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Validez avec des sources indépendantes, et publiez vos limites avec vos résultats.</a:t>
            </a:r>
            <a:endParaRPr lang="en-US" sz="1200" dirty="0"/>
          </a:p>
        </p:txBody>
      </p:sp>
      <p:sp>
        <p:nvSpPr>
          <p:cNvPr id="20" name="Text 18"/>
          <p:cNvSpPr txBox="1"/>
          <p:nvPr/>
        </p:nvSpPr>
        <p:spPr>
          <a:xfrm>
            <a:off x="548640" y="4224528"/>
            <a:ext cx="6949440" cy="457200"/>
          </a:xfrm>
          <a:prstGeom prst="rect">
            <a:avLst/>
          </a:prstGeom>
          <a:noFill/>
          <a:ln/>
        </p:spPr>
        <p:txBody>
          <a:bodyPr wrap="square" lIns="0" tIns="0" rIns="0" bIns="0" rtlCol="0" anchor="t"/>
          <a:lstStyle/>
          <a:p>
            <a:pPr indent="0" marL="0">
              <a:buNone/>
            </a:pPr>
            <a:r>
              <a:rPr lang="en-US" sz="1500" i="1" dirty="0">
                <a:solidFill>
                  <a:srgbClr val="F5C242"/>
                </a:solidFill>
                <a:latin typeface="Calibri" pitchFamily="34" charset="0"/>
                <a:ea typeface="Calibri" pitchFamily="34" charset="-122"/>
                <a:cs typeface="Calibri" pitchFamily="34" charset="-120"/>
              </a:rPr>
              <a:t>L’obscurité nous en dit beaucoup. Elle ne dit pas tout — et elle ne parle jamais d’elle-même.</a:t>
            </a:r>
            <a:endParaRPr lang="en-US" sz="1500" dirty="0"/>
          </a:p>
        </p:txBody>
      </p:sp>
      <p:sp>
        <p:nvSpPr>
          <p:cNvPr id="21" name="Shape 19"/>
          <p:cNvSpPr/>
          <p:nvPr/>
        </p:nvSpPr>
        <p:spPr>
          <a:xfrm>
            <a:off x="6995160" y="1325880"/>
            <a:ext cx="1737360" cy="1737360"/>
          </a:xfrm>
          <a:prstGeom prst="ellipse">
            <a:avLst/>
          </a:prstGeom>
          <a:solidFill>
            <a:srgbClr val="FFFFFF">
              <a:alpha val="10000"/>
            </a:srgbClr>
          </a:solidFill>
          <a:ln w="9525">
            <a:solidFill>
              <a:srgbClr val="FFFFFF">
                <a:alpha val="30000"/>
              </a:srgbClr>
            </a:solidFill>
            <a:prstDash val="solid"/>
          </a:ln>
        </p:spPr>
      </p:sp>
      <p:sp>
        <p:nvSpPr>
          <p:cNvPr id="22" name="Shape 20"/>
          <p:cNvSpPr/>
          <p:nvPr/>
        </p:nvSpPr>
        <p:spPr>
          <a:xfrm>
            <a:off x="7269480" y="1600200"/>
            <a:ext cx="1188720" cy="1188720"/>
          </a:xfrm>
          <a:prstGeom prst="ellipse">
            <a:avLst/>
          </a:prstGeom>
          <a:solidFill>
            <a:srgbClr val="FFFFFF">
              <a:alpha val="13000"/>
            </a:srgbClr>
          </a:solidFill>
          <a:ln w="9525">
            <a:solidFill>
              <a:srgbClr val="FFFFFF">
                <a:alpha val="30000"/>
              </a:srgbClr>
            </a:solidFill>
            <a:prstDash val="solid"/>
          </a:ln>
        </p:spPr>
      </p:sp>
      <p:sp>
        <p:nvSpPr>
          <p:cNvPr id="23" name="Shape 21"/>
          <p:cNvSpPr/>
          <p:nvPr/>
        </p:nvSpPr>
        <p:spPr>
          <a:xfrm>
            <a:off x="7498080" y="1828800"/>
            <a:ext cx="731520" cy="731520"/>
          </a:xfrm>
          <a:prstGeom prst="ellipse">
            <a:avLst/>
          </a:prstGeom>
          <a:solidFill>
            <a:srgbClr val="FFFFFF"/>
          </a:solidFill>
          <a:ln w="12700">
            <a:solidFill>
              <a:srgbClr val="FFFFFF"/>
            </a:solidFill>
            <a:prstDash val="solid"/>
          </a:ln>
        </p:spPr>
      </p:sp>
      <p:pic>
        <p:nvPicPr>
          <p:cNvPr id="24" name="Image 0" descr="preencoded.png">    </p:cNvPr>
          <p:cNvPicPr>
            <a:picLocks noChangeAspect="1"/>
          </p:cNvPicPr>
          <p:nvPr/>
        </p:nvPicPr>
        <p:blipFill>
          <a:blip r:embed="rId2"/>
          <a:stretch>
            <a:fillRect/>
          </a:stretch>
        </p:blipFill>
        <p:spPr>
          <a:xfrm>
            <a:off x="7662672" y="1993392"/>
            <a:ext cx="402336" cy="402336"/>
          </a:xfrm>
          <a:prstGeom prst="rect">
            <a:avLst/>
          </a:prstGeom>
        </p:spPr>
      </p:pic>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ANNEXE · GLOSSAIRE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Le vocabulaire de la journée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35</a:t>
            </a:r>
            <a:endParaRPr lang="en-US" sz="850" dirty="0"/>
          </a:p>
        </p:txBody>
      </p:sp>
      <p:sp>
        <p:nvSpPr>
          <p:cNvPr id="17" name="Shape 14"/>
          <p:cNvSpPr/>
          <p:nvPr/>
        </p:nvSpPr>
        <p:spPr>
          <a:xfrm>
            <a:off x="457200" y="1325880"/>
            <a:ext cx="4023360" cy="548640"/>
          </a:xfrm>
          <a:prstGeom prst="roundRect">
            <a:avLst>
              <a:gd name="adj" fmla="val 13333"/>
            </a:avLst>
          </a:prstGeom>
          <a:solidFill>
            <a:srgbClr val="F4F7F5"/>
          </a:solidFill>
          <a:ln w="9525">
            <a:solidFill>
              <a:srgbClr val="D5DED9"/>
            </a:solidFill>
            <a:prstDash val="solid"/>
          </a:ln>
        </p:spPr>
      </p:sp>
      <p:sp>
        <p:nvSpPr>
          <p:cNvPr id="18" name="Shape 15"/>
          <p:cNvSpPr/>
          <p:nvPr/>
        </p:nvSpPr>
        <p:spPr>
          <a:xfrm>
            <a:off x="548640" y="1444752"/>
            <a:ext cx="310896" cy="310896"/>
          </a:xfrm>
          <a:prstGeom prst="ellipse">
            <a:avLst/>
          </a:prstGeom>
          <a:solidFill>
            <a:srgbClr val="00704A">
              <a:alpha val="22000"/>
            </a:srgbClr>
          </a:solidFill>
          <a:ln w="12700">
            <a:solidFill>
              <a:srgbClr val="00704A">
                <a:alpha val="0"/>
              </a:srgbClr>
            </a:solidFill>
            <a:prstDash val="solid"/>
          </a:ln>
        </p:spPr>
      </p:sp>
      <p:pic>
        <p:nvPicPr>
          <p:cNvPr id="19" name="Image 0" descr="preencoded.png">    </p:cNvPr>
          <p:cNvPicPr>
            <a:picLocks noChangeAspect="1"/>
          </p:cNvPicPr>
          <p:nvPr/>
        </p:nvPicPr>
        <p:blipFill>
          <a:blip r:embed="rId1"/>
          <a:stretch>
            <a:fillRect/>
          </a:stretch>
        </p:blipFill>
        <p:spPr>
          <a:xfrm>
            <a:off x="629473" y="1525585"/>
            <a:ext cx="149230" cy="149230"/>
          </a:xfrm>
          <a:prstGeom prst="rect">
            <a:avLst/>
          </a:prstGeom>
        </p:spPr>
      </p:pic>
      <p:sp>
        <p:nvSpPr>
          <p:cNvPr id="20" name="Text 16"/>
          <p:cNvSpPr txBox="1"/>
          <p:nvPr/>
        </p:nvSpPr>
        <p:spPr>
          <a:xfrm>
            <a:off x="960120" y="1362456"/>
            <a:ext cx="3429000" cy="201168"/>
          </a:xfrm>
          <a:prstGeom prst="rect">
            <a:avLst/>
          </a:prstGeom>
          <a:noFill/>
          <a:ln/>
        </p:spPr>
        <p:txBody>
          <a:bodyPr wrap="square" lIns="0" tIns="0" rIns="0" bIns="0" rtlCol="0" anchor="t"/>
          <a:lstStyle/>
          <a:p>
            <a:pPr indent="0" marL="0">
              <a:buNone/>
            </a:pPr>
            <a:r>
              <a:rPr lang="en-US" sz="1050" b="1" dirty="0">
                <a:solidFill>
                  <a:srgbClr val="00704A"/>
                </a:solidFill>
                <a:latin typeface="Calibri" pitchFamily="34" charset="0"/>
                <a:ea typeface="Calibri" pitchFamily="34" charset="-122"/>
                <a:cs typeface="Calibri" pitchFamily="34" charset="-120"/>
              </a:rPr>
              <a:t>Radiance</a:t>
            </a:r>
            <a:endParaRPr lang="en-US" sz="1050" dirty="0"/>
          </a:p>
        </p:txBody>
      </p:sp>
      <p:sp>
        <p:nvSpPr>
          <p:cNvPr id="21" name="Text 17"/>
          <p:cNvSpPr txBox="1"/>
          <p:nvPr/>
        </p:nvSpPr>
        <p:spPr>
          <a:xfrm>
            <a:off x="960120" y="1563624"/>
            <a:ext cx="3474720" cy="292608"/>
          </a:xfrm>
          <a:prstGeom prst="rect">
            <a:avLst/>
          </a:prstGeom>
          <a:noFill/>
          <a:ln/>
        </p:spPr>
        <p:txBody>
          <a:bodyPr wrap="square" lIns="0" tIns="0" rIns="0" bIns="0" rtlCol="0" anchor="t"/>
          <a:lstStyle/>
          <a:p>
            <a:pPr indent="0" marL="0">
              <a:buNone/>
            </a:pPr>
            <a:r>
              <a:rPr lang="en-US" sz="850" dirty="0">
                <a:solidFill>
                  <a:srgbClr val="231F20"/>
                </a:solidFill>
                <a:latin typeface="Calibri" pitchFamily="34" charset="0"/>
                <a:ea typeface="Calibri" pitchFamily="34" charset="-122"/>
                <a:cs typeface="Calibri" pitchFamily="34" charset="-120"/>
              </a:rPr>
              <a:t>Énergie quittant une surface par unité d’aire et d’angle solide ; en nW·cm⁻²·sr⁻¹ pour les NTL.</a:t>
            </a:r>
            <a:endParaRPr lang="en-US" sz="850" dirty="0"/>
          </a:p>
        </p:txBody>
      </p:sp>
      <p:sp>
        <p:nvSpPr>
          <p:cNvPr id="22" name="Shape 18"/>
          <p:cNvSpPr/>
          <p:nvPr/>
        </p:nvSpPr>
        <p:spPr>
          <a:xfrm>
            <a:off x="4663440" y="1325880"/>
            <a:ext cx="4023360" cy="548640"/>
          </a:xfrm>
          <a:prstGeom prst="roundRect">
            <a:avLst>
              <a:gd name="adj" fmla="val 13333"/>
            </a:avLst>
          </a:prstGeom>
          <a:solidFill>
            <a:srgbClr val="F4F7F5"/>
          </a:solidFill>
          <a:ln w="9525">
            <a:solidFill>
              <a:srgbClr val="D5DED9"/>
            </a:solidFill>
            <a:prstDash val="solid"/>
          </a:ln>
        </p:spPr>
      </p:sp>
      <p:sp>
        <p:nvSpPr>
          <p:cNvPr id="23" name="Shape 19"/>
          <p:cNvSpPr/>
          <p:nvPr/>
        </p:nvSpPr>
        <p:spPr>
          <a:xfrm>
            <a:off x="4754880" y="1444752"/>
            <a:ext cx="310896" cy="310896"/>
          </a:xfrm>
          <a:prstGeom prst="ellipse">
            <a:avLst/>
          </a:prstGeom>
          <a:solidFill>
            <a:srgbClr val="00704A">
              <a:alpha val="22000"/>
            </a:srgbClr>
          </a:solidFill>
          <a:ln w="12700">
            <a:solidFill>
              <a:srgbClr val="00704A">
                <a:alpha val="0"/>
              </a:srgbClr>
            </a:solidFill>
            <a:prstDash val="solid"/>
          </a:ln>
        </p:spPr>
      </p:sp>
      <p:pic>
        <p:nvPicPr>
          <p:cNvPr id="24" name="Image 1" descr="preencoded.png">    </p:cNvPr>
          <p:cNvPicPr>
            <a:picLocks noChangeAspect="1"/>
          </p:cNvPicPr>
          <p:nvPr/>
        </p:nvPicPr>
        <p:blipFill>
          <a:blip r:embed="rId2"/>
          <a:stretch>
            <a:fillRect/>
          </a:stretch>
        </p:blipFill>
        <p:spPr>
          <a:xfrm>
            <a:off x="4835713" y="1525585"/>
            <a:ext cx="149230" cy="149230"/>
          </a:xfrm>
          <a:prstGeom prst="rect">
            <a:avLst/>
          </a:prstGeom>
        </p:spPr>
      </p:pic>
      <p:sp>
        <p:nvSpPr>
          <p:cNvPr id="25" name="Text 20"/>
          <p:cNvSpPr txBox="1"/>
          <p:nvPr/>
        </p:nvSpPr>
        <p:spPr>
          <a:xfrm>
            <a:off x="5166360" y="1362456"/>
            <a:ext cx="3429000" cy="201168"/>
          </a:xfrm>
          <a:prstGeom prst="rect">
            <a:avLst/>
          </a:prstGeom>
          <a:noFill/>
          <a:ln/>
        </p:spPr>
        <p:txBody>
          <a:bodyPr wrap="square" lIns="0" tIns="0" rIns="0" bIns="0" rtlCol="0" anchor="t"/>
          <a:lstStyle/>
          <a:p>
            <a:pPr indent="0" marL="0">
              <a:buNone/>
            </a:pPr>
            <a:r>
              <a:rPr lang="en-US" sz="1050" b="1" dirty="0">
                <a:solidFill>
                  <a:srgbClr val="00704A"/>
                </a:solidFill>
                <a:latin typeface="Calibri" pitchFamily="34" charset="0"/>
                <a:ea typeface="Calibri" pitchFamily="34" charset="-122"/>
                <a:cs typeface="Calibri" pitchFamily="34" charset="-120"/>
              </a:rPr>
              <a:t>Nombre numérique (DN)</a:t>
            </a:r>
            <a:endParaRPr lang="en-US" sz="1050" dirty="0"/>
          </a:p>
        </p:txBody>
      </p:sp>
      <p:sp>
        <p:nvSpPr>
          <p:cNvPr id="26" name="Text 21"/>
          <p:cNvSpPr txBox="1"/>
          <p:nvPr/>
        </p:nvSpPr>
        <p:spPr>
          <a:xfrm>
            <a:off x="5166360" y="1563624"/>
            <a:ext cx="3474720" cy="292608"/>
          </a:xfrm>
          <a:prstGeom prst="rect">
            <a:avLst/>
          </a:prstGeom>
          <a:noFill/>
          <a:ln/>
        </p:spPr>
        <p:txBody>
          <a:bodyPr wrap="square" lIns="0" tIns="0" rIns="0" bIns="0" rtlCol="0" anchor="t"/>
          <a:lstStyle/>
          <a:p>
            <a:pPr indent="0" marL="0">
              <a:buNone/>
            </a:pPr>
            <a:r>
              <a:rPr lang="en-US" sz="850" dirty="0">
                <a:solidFill>
                  <a:srgbClr val="231F20"/>
                </a:solidFill>
                <a:latin typeface="Calibri" pitchFamily="34" charset="0"/>
                <a:ea typeface="Calibri" pitchFamily="34" charset="-122"/>
                <a:cs typeface="Calibri" pitchFamily="34" charset="-120"/>
              </a:rPr>
              <a:t>Comptage brut du capteur, sans unité physique ; le DMSP va de 0 à 63.</a:t>
            </a:r>
            <a:endParaRPr lang="en-US" sz="850" dirty="0"/>
          </a:p>
        </p:txBody>
      </p:sp>
      <p:sp>
        <p:nvSpPr>
          <p:cNvPr id="27" name="Shape 22"/>
          <p:cNvSpPr/>
          <p:nvPr/>
        </p:nvSpPr>
        <p:spPr>
          <a:xfrm>
            <a:off x="457200" y="1965960"/>
            <a:ext cx="4023360" cy="548640"/>
          </a:xfrm>
          <a:prstGeom prst="roundRect">
            <a:avLst>
              <a:gd name="adj" fmla="val 13333"/>
            </a:avLst>
          </a:prstGeom>
          <a:solidFill>
            <a:srgbClr val="F4F7F5"/>
          </a:solidFill>
          <a:ln w="9525">
            <a:solidFill>
              <a:srgbClr val="D5DED9"/>
            </a:solidFill>
            <a:prstDash val="solid"/>
          </a:ln>
        </p:spPr>
      </p:sp>
      <p:sp>
        <p:nvSpPr>
          <p:cNvPr id="28" name="Shape 23"/>
          <p:cNvSpPr/>
          <p:nvPr/>
        </p:nvSpPr>
        <p:spPr>
          <a:xfrm>
            <a:off x="548640" y="2084832"/>
            <a:ext cx="310896" cy="310896"/>
          </a:xfrm>
          <a:prstGeom prst="ellipse">
            <a:avLst/>
          </a:prstGeom>
          <a:solidFill>
            <a:srgbClr val="00704A">
              <a:alpha val="22000"/>
            </a:srgbClr>
          </a:solidFill>
          <a:ln w="12700">
            <a:solidFill>
              <a:srgbClr val="00704A">
                <a:alpha val="0"/>
              </a:srgbClr>
            </a:solidFill>
            <a:prstDash val="solid"/>
          </a:ln>
        </p:spPr>
      </p:sp>
      <p:pic>
        <p:nvPicPr>
          <p:cNvPr id="29" name="Image 2" descr="preencoded.png">    </p:cNvPr>
          <p:cNvPicPr>
            <a:picLocks noChangeAspect="1"/>
          </p:cNvPicPr>
          <p:nvPr/>
        </p:nvPicPr>
        <p:blipFill>
          <a:blip r:embed="rId3"/>
          <a:stretch>
            <a:fillRect/>
          </a:stretch>
        </p:blipFill>
        <p:spPr>
          <a:xfrm>
            <a:off x="629473" y="2165665"/>
            <a:ext cx="149230" cy="149230"/>
          </a:xfrm>
          <a:prstGeom prst="rect">
            <a:avLst/>
          </a:prstGeom>
        </p:spPr>
      </p:pic>
      <p:sp>
        <p:nvSpPr>
          <p:cNvPr id="30" name="Text 24"/>
          <p:cNvSpPr txBox="1"/>
          <p:nvPr/>
        </p:nvSpPr>
        <p:spPr>
          <a:xfrm>
            <a:off x="960120" y="2002536"/>
            <a:ext cx="3429000" cy="201168"/>
          </a:xfrm>
          <a:prstGeom prst="rect">
            <a:avLst/>
          </a:prstGeom>
          <a:noFill/>
          <a:ln/>
        </p:spPr>
        <p:txBody>
          <a:bodyPr wrap="square" lIns="0" tIns="0" rIns="0" bIns="0" rtlCol="0" anchor="t"/>
          <a:lstStyle/>
          <a:p>
            <a:pPr indent="0" marL="0">
              <a:buNone/>
            </a:pPr>
            <a:r>
              <a:rPr lang="en-US" sz="1050" b="1" dirty="0">
                <a:solidFill>
                  <a:srgbClr val="00704A"/>
                </a:solidFill>
                <a:latin typeface="Calibri" pitchFamily="34" charset="0"/>
                <a:ea typeface="Calibri" pitchFamily="34" charset="-122"/>
                <a:cs typeface="Calibri" pitchFamily="34" charset="-120"/>
              </a:rPr>
              <a:t>Composite</a:t>
            </a:r>
            <a:endParaRPr lang="en-US" sz="1050" dirty="0"/>
          </a:p>
        </p:txBody>
      </p:sp>
      <p:sp>
        <p:nvSpPr>
          <p:cNvPr id="31" name="Text 25"/>
          <p:cNvSpPr txBox="1"/>
          <p:nvPr/>
        </p:nvSpPr>
        <p:spPr>
          <a:xfrm>
            <a:off x="960120" y="2203704"/>
            <a:ext cx="3474720" cy="292608"/>
          </a:xfrm>
          <a:prstGeom prst="rect">
            <a:avLst/>
          </a:prstGeom>
          <a:noFill/>
          <a:ln/>
        </p:spPr>
        <p:txBody>
          <a:bodyPr wrap="square" lIns="0" tIns="0" rIns="0" bIns="0" rtlCol="0" anchor="t"/>
          <a:lstStyle/>
          <a:p>
            <a:pPr indent="0" marL="0">
              <a:buNone/>
            </a:pPr>
            <a:r>
              <a:rPr lang="en-US" sz="850" dirty="0">
                <a:solidFill>
                  <a:srgbClr val="231F20"/>
                </a:solidFill>
                <a:latin typeface="Calibri" pitchFamily="34" charset="0"/>
                <a:ea typeface="Calibri" pitchFamily="34" charset="-122"/>
                <a:cs typeface="Calibri" pitchFamily="34" charset="-120"/>
              </a:rPr>
              <a:t>Grille assemblée à partir de nombreuses nuits sans nuages — pas la photo d’une nuit.</a:t>
            </a:r>
            <a:endParaRPr lang="en-US" sz="850" dirty="0"/>
          </a:p>
        </p:txBody>
      </p:sp>
      <p:sp>
        <p:nvSpPr>
          <p:cNvPr id="32" name="Shape 26"/>
          <p:cNvSpPr/>
          <p:nvPr/>
        </p:nvSpPr>
        <p:spPr>
          <a:xfrm>
            <a:off x="4663440" y="1965960"/>
            <a:ext cx="4023360" cy="548640"/>
          </a:xfrm>
          <a:prstGeom prst="roundRect">
            <a:avLst>
              <a:gd name="adj" fmla="val 13333"/>
            </a:avLst>
          </a:prstGeom>
          <a:solidFill>
            <a:srgbClr val="F4F7F5"/>
          </a:solidFill>
          <a:ln w="9525">
            <a:solidFill>
              <a:srgbClr val="D5DED9"/>
            </a:solidFill>
            <a:prstDash val="solid"/>
          </a:ln>
        </p:spPr>
      </p:sp>
      <p:sp>
        <p:nvSpPr>
          <p:cNvPr id="33" name="Shape 27"/>
          <p:cNvSpPr/>
          <p:nvPr/>
        </p:nvSpPr>
        <p:spPr>
          <a:xfrm>
            <a:off x="4754880" y="2084832"/>
            <a:ext cx="310896" cy="310896"/>
          </a:xfrm>
          <a:prstGeom prst="ellipse">
            <a:avLst/>
          </a:prstGeom>
          <a:solidFill>
            <a:srgbClr val="00704A">
              <a:alpha val="22000"/>
            </a:srgbClr>
          </a:solidFill>
          <a:ln w="12700">
            <a:solidFill>
              <a:srgbClr val="00704A">
                <a:alpha val="0"/>
              </a:srgbClr>
            </a:solidFill>
            <a:prstDash val="solid"/>
          </a:ln>
        </p:spPr>
      </p:sp>
      <p:pic>
        <p:nvPicPr>
          <p:cNvPr id="34" name="Image 3" descr="preencoded.png">    </p:cNvPr>
          <p:cNvPicPr>
            <a:picLocks noChangeAspect="1"/>
          </p:cNvPicPr>
          <p:nvPr/>
        </p:nvPicPr>
        <p:blipFill>
          <a:blip r:embed="rId4"/>
          <a:stretch>
            <a:fillRect/>
          </a:stretch>
        </p:blipFill>
        <p:spPr>
          <a:xfrm>
            <a:off x="4835713" y="2165665"/>
            <a:ext cx="149230" cy="149230"/>
          </a:xfrm>
          <a:prstGeom prst="rect">
            <a:avLst/>
          </a:prstGeom>
        </p:spPr>
      </p:pic>
      <p:sp>
        <p:nvSpPr>
          <p:cNvPr id="35" name="Text 28"/>
          <p:cNvSpPr txBox="1"/>
          <p:nvPr/>
        </p:nvSpPr>
        <p:spPr>
          <a:xfrm>
            <a:off x="5166360" y="2002536"/>
            <a:ext cx="3429000" cy="201168"/>
          </a:xfrm>
          <a:prstGeom prst="rect">
            <a:avLst/>
          </a:prstGeom>
          <a:noFill/>
          <a:ln/>
        </p:spPr>
        <p:txBody>
          <a:bodyPr wrap="square" lIns="0" tIns="0" rIns="0" bIns="0" rtlCol="0" anchor="t"/>
          <a:lstStyle/>
          <a:p>
            <a:pPr indent="0" marL="0">
              <a:buNone/>
            </a:pPr>
            <a:r>
              <a:rPr lang="en-US" sz="1050" b="1" dirty="0">
                <a:solidFill>
                  <a:srgbClr val="00704A"/>
                </a:solidFill>
                <a:latin typeface="Calibri" pitchFamily="34" charset="0"/>
                <a:ea typeface="Calibri" pitchFamily="34" charset="-122"/>
                <a:cs typeface="Calibri" pitchFamily="34" charset="-120"/>
              </a:rPr>
              <a:t>Lumières stables</a:t>
            </a:r>
            <a:endParaRPr lang="en-US" sz="1050" dirty="0"/>
          </a:p>
        </p:txBody>
      </p:sp>
      <p:sp>
        <p:nvSpPr>
          <p:cNvPr id="36" name="Text 29"/>
          <p:cNvSpPr txBox="1"/>
          <p:nvPr/>
        </p:nvSpPr>
        <p:spPr>
          <a:xfrm>
            <a:off x="5166360" y="2203704"/>
            <a:ext cx="3474720" cy="292608"/>
          </a:xfrm>
          <a:prstGeom prst="rect">
            <a:avLst/>
          </a:prstGeom>
          <a:noFill/>
          <a:ln/>
        </p:spPr>
        <p:txBody>
          <a:bodyPr wrap="square" lIns="0" tIns="0" rIns="0" bIns="0" rtlCol="0" anchor="t"/>
          <a:lstStyle/>
          <a:p>
            <a:pPr indent="0" marL="0">
              <a:buNone/>
            </a:pPr>
            <a:r>
              <a:rPr lang="en-US" sz="850" dirty="0">
                <a:solidFill>
                  <a:srgbClr val="231F20"/>
                </a:solidFill>
                <a:latin typeface="Calibri" pitchFamily="34" charset="0"/>
                <a:ea typeface="Calibri" pitchFamily="34" charset="-122"/>
                <a:cs typeface="Calibri" pitchFamily="34" charset="-120"/>
              </a:rPr>
              <a:t>Produit dont feux, aurores et autres sources instables ont été retirés.</a:t>
            </a:r>
            <a:endParaRPr lang="en-US" sz="850" dirty="0"/>
          </a:p>
        </p:txBody>
      </p:sp>
      <p:sp>
        <p:nvSpPr>
          <p:cNvPr id="37" name="Shape 30"/>
          <p:cNvSpPr/>
          <p:nvPr/>
        </p:nvSpPr>
        <p:spPr>
          <a:xfrm>
            <a:off x="457200" y="2606040"/>
            <a:ext cx="4023360" cy="548640"/>
          </a:xfrm>
          <a:prstGeom prst="roundRect">
            <a:avLst>
              <a:gd name="adj" fmla="val 13333"/>
            </a:avLst>
          </a:prstGeom>
          <a:solidFill>
            <a:srgbClr val="F4F7F5"/>
          </a:solidFill>
          <a:ln w="9525">
            <a:solidFill>
              <a:srgbClr val="D5DED9"/>
            </a:solidFill>
            <a:prstDash val="solid"/>
          </a:ln>
        </p:spPr>
      </p:sp>
      <p:sp>
        <p:nvSpPr>
          <p:cNvPr id="38" name="Shape 31"/>
          <p:cNvSpPr/>
          <p:nvPr/>
        </p:nvSpPr>
        <p:spPr>
          <a:xfrm>
            <a:off x="548640" y="2724912"/>
            <a:ext cx="310896" cy="310896"/>
          </a:xfrm>
          <a:prstGeom prst="ellipse">
            <a:avLst/>
          </a:prstGeom>
          <a:solidFill>
            <a:srgbClr val="00704A">
              <a:alpha val="22000"/>
            </a:srgbClr>
          </a:solidFill>
          <a:ln w="12700">
            <a:solidFill>
              <a:srgbClr val="00704A">
                <a:alpha val="0"/>
              </a:srgbClr>
            </a:solidFill>
            <a:prstDash val="solid"/>
          </a:ln>
        </p:spPr>
      </p:sp>
      <p:pic>
        <p:nvPicPr>
          <p:cNvPr id="39" name="Image 4" descr="preencoded.png">    </p:cNvPr>
          <p:cNvPicPr>
            <a:picLocks noChangeAspect="1"/>
          </p:cNvPicPr>
          <p:nvPr/>
        </p:nvPicPr>
        <p:blipFill>
          <a:blip r:embed="rId5"/>
          <a:stretch>
            <a:fillRect/>
          </a:stretch>
        </p:blipFill>
        <p:spPr>
          <a:xfrm>
            <a:off x="629473" y="2805745"/>
            <a:ext cx="149230" cy="149230"/>
          </a:xfrm>
          <a:prstGeom prst="rect">
            <a:avLst/>
          </a:prstGeom>
        </p:spPr>
      </p:pic>
      <p:sp>
        <p:nvSpPr>
          <p:cNvPr id="40" name="Text 32"/>
          <p:cNvSpPr txBox="1"/>
          <p:nvPr/>
        </p:nvSpPr>
        <p:spPr>
          <a:xfrm>
            <a:off x="960120" y="2642616"/>
            <a:ext cx="3429000" cy="201168"/>
          </a:xfrm>
          <a:prstGeom prst="rect">
            <a:avLst/>
          </a:prstGeom>
          <a:noFill/>
          <a:ln/>
        </p:spPr>
        <p:txBody>
          <a:bodyPr wrap="square" lIns="0" tIns="0" rIns="0" bIns="0" rtlCol="0" anchor="t"/>
          <a:lstStyle/>
          <a:p>
            <a:pPr indent="0" marL="0">
              <a:buNone/>
            </a:pPr>
            <a:r>
              <a:rPr lang="en-US" sz="1050" b="1" dirty="0">
                <a:solidFill>
                  <a:srgbClr val="00704A"/>
                </a:solidFill>
                <a:latin typeface="Calibri" pitchFamily="34" charset="0"/>
                <a:ea typeface="Calibri" pitchFamily="34" charset="-122"/>
                <a:cs typeface="Calibri" pitchFamily="34" charset="-120"/>
              </a:rPr>
              <a:t>Somme des lumières (SOL)</a:t>
            </a:r>
            <a:endParaRPr lang="en-US" sz="1050" dirty="0"/>
          </a:p>
        </p:txBody>
      </p:sp>
      <p:sp>
        <p:nvSpPr>
          <p:cNvPr id="41" name="Text 33"/>
          <p:cNvSpPr txBox="1"/>
          <p:nvPr/>
        </p:nvSpPr>
        <p:spPr>
          <a:xfrm>
            <a:off x="960120" y="2843784"/>
            <a:ext cx="3474720" cy="292608"/>
          </a:xfrm>
          <a:prstGeom prst="rect">
            <a:avLst/>
          </a:prstGeom>
          <a:noFill/>
          <a:ln/>
        </p:spPr>
        <p:txBody>
          <a:bodyPr wrap="square" lIns="0" tIns="0" rIns="0" bIns="0" rtlCol="0" anchor="t"/>
          <a:lstStyle/>
          <a:p>
            <a:pPr indent="0" marL="0">
              <a:buNone/>
            </a:pPr>
            <a:r>
              <a:rPr lang="en-US" sz="850" dirty="0">
                <a:solidFill>
                  <a:srgbClr val="231F20"/>
                </a:solidFill>
                <a:latin typeface="Calibri" pitchFamily="34" charset="0"/>
                <a:ea typeface="Calibri" pitchFamily="34" charset="-122"/>
                <a:cs typeface="Calibri" pitchFamily="34" charset="-120"/>
              </a:rPr>
              <a:t>Radiance totale de tous les pixels à l’intérieur d’un contour.</a:t>
            </a:r>
            <a:endParaRPr lang="en-US" sz="850" dirty="0"/>
          </a:p>
        </p:txBody>
      </p:sp>
      <p:sp>
        <p:nvSpPr>
          <p:cNvPr id="42" name="Shape 34"/>
          <p:cNvSpPr/>
          <p:nvPr/>
        </p:nvSpPr>
        <p:spPr>
          <a:xfrm>
            <a:off x="4663440" y="2606040"/>
            <a:ext cx="4023360" cy="548640"/>
          </a:xfrm>
          <a:prstGeom prst="roundRect">
            <a:avLst>
              <a:gd name="adj" fmla="val 13333"/>
            </a:avLst>
          </a:prstGeom>
          <a:solidFill>
            <a:srgbClr val="F4F7F5"/>
          </a:solidFill>
          <a:ln w="9525">
            <a:solidFill>
              <a:srgbClr val="D5DED9"/>
            </a:solidFill>
            <a:prstDash val="solid"/>
          </a:ln>
        </p:spPr>
      </p:sp>
      <p:sp>
        <p:nvSpPr>
          <p:cNvPr id="43" name="Shape 35"/>
          <p:cNvSpPr/>
          <p:nvPr/>
        </p:nvSpPr>
        <p:spPr>
          <a:xfrm>
            <a:off x="4754880" y="2724912"/>
            <a:ext cx="310896" cy="310896"/>
          </a:xfrm>
          <a:prstGeom prst="ellipse">
            <a:avLst/>
          </a:prstGeom>
          <a:solidFill>
            <a:srgbClr val="00704A">
              <a:alpha val="22000"/>
            </a:srgbClr>
          </a:solidFill>
          <a:ln w="12700">
            <a:solidFill>
              <a:srgbClr val="00704A">
                <a:alpha val="0"/>
              </a:srgbClr>
            </a:solidFill>
            <a:prstDash val="solid"/>
          </a:ln>
        </p:spPr>
      </p:sp>
      <p:pic>
        <p:nvPicPr>
          <p:cNvPr id="44" name="Image 5" descr="preencoded.png">    </p:cNvPr>
          <p:cNvPicPr>
            <a:picLocks noChangeAspect="1"/>
          </p:cNvPicPr>
          <p:nvPr/>
        </p:nvPicPr>
        <p:blipFill>
          <a:blip r:embed="rId6"/>
          <a:stretch>
            <a:fillRect/>
          </a:stretch>
        </p:blipFill>
        <p:spPr>
          <a:xfrm>
            <a:off x="4835713" y="2805745"/>
            <a:ext cx="149230" cy="149230"/>
          </a:xfrm>
          <a:prstGeom prst="rect">
            <a:avLst/>
          </a:prstGeom>
        </p:spPr>
      </p:pic>
      <p:sp>
        <p:nvSpPr>
          <p:cNvPr id="45" name="Text 36"/>
          <p:cNvSpPr txBox="1"/>
          <p:nvPr/>
        </p:nvSpPr>
        <p:spPr>
          <a:xfrm>
            <a:off x="5166360" y="2642616"/>
            <a:ext cx="3429000" cy="201168"/>
          </a:xfrm>
          <a:prstGeom prst="rect">
            <a:avLst/>
          </a:prstGeom>
          <a:noFill/>
          <a:ln/>
        </p:spPr>
        <p:txBody>
          <a:bodyPr wrap="square" lIns="0" tIns="0" rIns="0" bIns="0" rtlCol="0" anchor="t"/>
          <a:lstStyle/>
          <a:p>
            <a:pPr indent="0" marL="0">
              <a:buNone/>
            </a:pPr>
            <a:r>
              <a:rPr lang="en-US" sz="1050" b="1" dirty="0">
                <a:solidFill>
                  <a:srgbClr val="00704A"/>
                </a:solidFill>
                <a:latin typeface="Calibri" pitchFamily="34" charset="0"/>
                <a:ea typeface="Calibri" pitchFamily="34" charset="-122"/>
                <a:cs typeface="Calibri" pitchFamily="34" charset="-120"/>
              </a:rPr>
              <a:t>Débordement (blooming)</a:t>
            </a:r>
            <a:endParaRPr lang="en-US" sz="1050" dirty="0"/>
          </a:p>
        </p:txBody>
      </p:sp>
      <p:sp>
        <p:nvSpPr>
          <p:cNvPr id="46" name="Text 37"/>
          <p:cNvSpPr txBox="1"/>
          <p:nvPr/>
        </p:nvSpPr>
        <p:spPr>
          <a:xfrm>
            <a:off x="5166360" y="2843784"/>
            <a:ext cx="3474720" cy="292608"/>
          </a:xfrm>
          <a:prstGeom prst="rect">
            <a:avLst/>
          </a:prstGeom>
          <a:noFill/>
          <a:ln/>
        </p:spPr>
        <p:txBody>
          <a:bodyPr wrap="square" lIns="0" tIns="0" rIns="0" bIns="0" rtlCol="0" anchor="t"/>
          <a:lstStyle/>
          <a:p>
            <a:pPr indent="0" marL="0">
              <a:buNone/>
            </a:pPr>
            <a:r>
              <a:rPr lang="en-US" sz="850" dirty="0">
                <a:solidFill>
                  <a:srgbClr val="231F20"/>
                </a:solidFill>
                <a:latin typeface="Calibri" pitchFamily="34" charset="0"/>
                <a:ea typeface="Calibri" pitchFamily="34" charset="-122"/>
                <a:cs typeface="Calibri" pitchFamily="34" charset="-120"/>
              </a:rPr>
              <a:t>Extension apparente de la lumière au-delà de sa source (diffusion, géolocalisation).</a:t>
            </a:r>
            <a:endParaRPr lang="en-US" sz="850" dirty="0"/>
          </a:p>
        </p:txBody>
      </p:sp>
      <p:sp>
        <p:nvSpPr>
          <p:cNvPr id="47" name="Shape 38"/>
          <p:cNvSpPr/>
          <p:nvPr/>
        </p:nvSpPr>
        <p:spPr>
          <a:xfrm>
            <a:off x="457200" y="3246120"/>
            <a:ext cx="4023360" cy="548640"/>
          </a:xfrm>
          <a:prstGeom prst="roundRect">
            <a:avLst>
              <a:gd name="adj" fmla="val 13333"/>
            </a:avLst>
          </a:prstGeom>
          <a:solidFill>
            <a:srgbClr val="F4F7F5"/>
          </a:solidFill>
          <a:ln w="9525">
            <a:solidFill>
              <a:srgbClr val="D5DED9"/>
            </a:solidFill>
            <a:prstDash val="solid"/>
          </a:ln>
        </p:spPr>
      </p:sp>
      <p:sp>
        <p:nvSpPr>
          <p:cNvPr id="48" name="Shape 39"/>
          <p:cNvSpPr/>
          <p:nvPr/>
        </p:nvSpPr>
        <p:spPr>
          <a:xfrm>
            <a:off x="548640" y="3364992"/>
            <a:ext cx="310896" cy="310896"/>
          </a:xfrm>
          <a:prstGeom prst="ellipse">
            <a:avLst/>
          </a:prstGeom>
          <a:solidFill>
            <a:srgbClr val="00704A">
              <a:alpha val="22000"/>
            </a:srgbClr>
          </a:solidFill>
          <a:ln w="12700">
            <a:solidFill>
              <a:srgbClr val="00704A">
                <a:alpha val="0"/>
              </a:srgbClr>
            </a:solidFill>
            <a:prstDash val="solid"/>
          </a:ln>
        </p:spPr>
      </p:sp>
      <p:pic>
        <p:nvPicPr>
          <p:cNvPr id="49" name="Image 6" descr="preencoded.png">    </p:cNvPr>
          <p:cNvPicPr>
            <a:picLocks noChangeAspect="1"/>
          </p:cNvPicPr>
          <p:nvPr/>
        </p:nvPicPr>
        <p:blipFill>
          <a:blip r:embed="rId7"/>
          <a:stretch>
            <a:fillRect/>
          </a:stretch>
        </p:blipFill>
        <p:spPr>
          <a:xfrm>
            <a:off x="629473" y="3445825"/>
            <a:ext cx="149230" cy="149230"/>
          </a:xfrm>
          <a:prstGeom prst="rect">
            <a:avLst/>
          </a:prstGeom>
        </p:spPr>
      </p:pic>
      <p:sp>
        <p:nvSpPr>
          <p:cNvPr id="50" name="Text 40"/>
          <p:cNvSpPr txBox="1"/>
          <p:nvPr/>
        </p:nvSpPr>
        <p:spPr>
          <a:xfrm>
            <a:off x="960120" y="3282696"/>
            <a:ext cx="3429000" cy="201168"/>
          </a:xfrm>
          <a:prstGeom prst="rect">
            <a:avLst/>
          </a:prstGeom>
          <a:noFill/>
          <a:ln/>
        </p:spPr>
        <p:txBody>
          <a:bodyPr wrap="square" lIns="0" tIns="0" rIns="0" bIns="0" rtlCol="0" anchor="t"/>
          <a:lstStyle/>
          <a:p>
            <a:pPr indent="0" marL="0">
              <a:buNone/>
            </a:pPr>
            <a:r>
              <a:rPr lang="en-US" sz="1050" b="1" dirty="0">
                <a:solidFill>
                  <a:srgbClr val="00704A"/>
                </a:solidFill>
                <a:latin typeface="Calibri" pitchFamily="34" charset="0"/>
                <a:ea typeface="Calibri" pitchFamily="34" charset="-122"/>
                <a:cs typeface="Calibri" pitchFamily="34" charset="-120"/>
              </a:rPr>
              <a:t>Correction BRDF</a:t>
            </a:r>
            <a:endParaRPr lang="en-US" sz="1050" dirty="0"/>
          </a:p>
        </p:txBody>
      </p:sp>
      <p:sp>
        <p:nvSpPr>
          <p:cNvPr id="51" name="Text 41"/>
          <p:cNvSpPr txBox="1"/>
          <p:nvPr/>
        </p:nvSpPr>
        <p:spPr>
          <a:xfrm>
            <a:off x="960120" y="3483864"/>
            <a:ext cx="3474720" cy="292608"/>
          </a:xfrm>
          <a:prstGeom prst="rect">
            <a:avLst/>
          </a:prstGeom>
          <a:noFill/>
          <a:ln/>
        </p:spPr>
        <p:txBody>
          <a:bodyPr wrap="square" lIns="0" tIns="0" rIns="0" bIns="0" rtlCol="0" anchor="t"/>
          <a:lstStyle/>
          <a:p>
            <a:pPr indent="0" marL="0">
              <a:buNone/>
            </a:pPr>
            <a:r>
              <a:rPr lang="en-US" sz="850" dirty="0">
                <a:solidFill>
                  <a:srgbClr val="231F20"/>
                </a:solidFill>
                <a:latin typeface="Calibri" pitchFamily="34" charset="0"/>
                <a:ea typeface="Calibri" pitchFamily="34" charset="-122"/>
                <a:cs typeface="Calibri" pitchFamily="34" charset="-120"/>
              </a:rPr>
              <a:t>Ajustement selon la variation de la lumière (lunaire) réfléchie avec les angles de visée et d’éclairement.</a:t>
            </a:r>
            <a:endParaRPr lang="en-US" sz="850" dirty="0"/>
          </a:p>
        </p:txBody>
      </p:sp>
      <p:sp>
        <p:nvSpPr>
          <p:cNvPr id="52" name="Shape 42"/>
          <p:cNvSpPr/>
          <p:nvPr/>
        </p:nvSpPr>
        <p:spPr>
          <a:xfrm>
            <a:off x="4663440" y="3246120"/>
            <a:ext cx="4023360" cy="548640"/>
          </a:xfrm>
          <a:prstGeom prst="roundRect">
            <a:avLst>
              <a:gd name="adj" fmla="val 13333"/>
            </a:avLst>
          </a:prstGeom>
          <a:solidFill>
            <a:srgbClr val="F4F7F5"/>
          </a:solidFill>
          <a:ln w="9525">
            <a:solidFill>
              <a:srgbClr val="D5DED9"/>
            </a:solidFill>
            <a:prstDash val="solid"/>
          </a:ln>
        </p:spPr>
      </p:sp>
      <p:sp>
        <p:nvSpPr>
          <p:cNvPr id="53" name="Shape 43"/>
          <p:cNvSpPr/>
          <p:nvPr/>
        </p:nvSpPr>
        <p:spPr>
          <a:xfrm>
            <a:off x="4754880" y="3364992"/>
            <a:ext cx="310896" cy="310896"/>
          </a:xfrm>
          <a:prstGeom prst="ellipse">
            <a:avLst/>
          </a:prstGeom>
          <a:solidFill>
            <a:srgbClr val="00704A">
              <a:alpha val="22000"/>
            </a:srgbClr>
          </a:solidFill>
          <a:ln w="12700">
            <a:solidFill>
              <a:srgbClr val="00704A">
                <a:alpha val="0"/>
              </a:srgbClr>
            </a:solidFill>
            <a:prstDash val="solid"/>
          </a:ln>
        </p:spPr>
      </p:sp>
      <p:pic>
        <p:nvPicPr>
          <p:cNvPr id="54" name="Image 7" descr="preencoded.png">    </p:cNvPr>
          <p:cNvPicPr>
            <a:picLocks noChangeAspect="1"/>
          </p:cNvPicPr>
          <p:nvPr/>
        </p:nvPicPr>
        <p:blipFill>
          <a:blip r:embed="rId8"/>
          <a:stretch>
            <a:fillRect/>
          </a:stretch>
        </p:blipFill>
        <p:spPr>
          <a:xfrm>
            <a:off x="4835713" y="3445825"/>
            <a:ext cx="149230" cy="149230"/>
          </a:xfrm>
          <a:prstGeom prst="rect">
            <a:avLst/>
          </a:prstGeom>
        </p:spPr>
      </p:pic>
      <p:sp>
        <p:nvSpPr>
          <p:cNvPr id="55" name="Text 44"/>
          <p:cNvSpPr txBox="1"/>
          <p:nvPr/>
        </p:nvSpPr>
        <p:spPr>
          <a:xfrm>
            <a:off x="5166360" y="3282696"/>
            <a:ext cx="3429000" cy="201168"/>
          </a:xfrm>
          <a:prstGeom prst="rect">
            <a:avLst/>
          </a:prstGeom>
          <a:noFill/>
          <a:ln/>
        </p:spPr>
        <p:txBody>
          <a:bodyPr wrap="square" lIns="0" tIns="0" rIns="0" bIns="0" rtlCol="0" anchor="t"/>
          <a:lstStyle/>
          <a:p>
            <a:pPr indent="0" marL="0">
              <a:buNone/>
            </a:pPr>
            <a:r>
              <a:rPr lang="en-US" sz="1050" b="1" dirty="0">
                <a:solidFill>
                  <a:srgbClr val="00704A"/>
                </a:solidFill>
                <a:latin typeface="Calibri" pitchFamily="34" charset="0"/>
                <a:ea typeface="Calibri" pitchFamily="34" charset="-122"/>
                <a:cs typeface="Calibri" pitchFamily="34" charset="-120"/>
              </a:rPr>
              <a:t>Statistiques zonales</a:t>
            </a:r>
            <a:endParaRPr lang="en-US" sz="1050" dirty="0"/>
          </a:p>
        </p:txBody>
      </p:sp>
      <p:sp>
        <p:nvSpPr>
          <p:cNvPr id="56" name="Text 45"/>
          <p:cNvSpPr txBox="1"/>
          <p:nvPr/>
        </p:nvSpPr>
        <p:spPr>
          <a:xfrm>
            <a:off x="5166360" y="3483864"/>
            <a:ext cx="3474720" cy="292608"/>
          </a:xfrm>
          <a:prstGeom prst="rect">
            <a:avLst/>
          </a:prstGeom>
          <a:noFill/>
          <a:ln/>
        </p:spPr>
        <p:txBody>
          <a:bodyPr wrap="square" lIns="0" tIns="0" rIns="0" bIns="0" rtlCol="0" anchor="t"/>
          <a:lstStyle/>
          <a:p>
            <a:pPr indent="0" marL="0">
              <a:buNone/>
            </a:pPr>
            <a:r>
              <a:rPr lang="en-US" sz="850" dirty="0">
                <a:solidFill>
                  <a:srgbClr val="231F20"/>
                </a:solidFill>
                <a:latin typeface="Calibri" pitchFamily="34" charset="0"/>
                <a:ea typeface="Calibri" pitchFamily="34" charset="-122"/>
                <a:cs typeface="Calibri" pitchFamily="34" charset="-120"/>
              </a:rPr>
              <a:t>Synthèse des valeurs d’un raster (somme, moyenne, effectif) dans chaque polygone.</a:t>
            </a:r>
            <a:endParaRPr lang="en-US" sz="850" dirty="0"/>
          </a:p>
        </p:txBody>
      </p:sp>
      <p:sp>
        <p:nvSpPr>
          <p:cNvPr id="57" name="Shape 46"/>
          <p:cNvSpPr/>
          <p:nvPr/>
        </p:nvSpPr>
        <p:spPr>
          <a:xfrm>
            <a:off x="457200" y="3886200"/>
            <a:ext cx="4023360" cy="548640"/>
          </a:xfrm>
          <a:prstGeom prst="roundRect">
            <a:avLst>
              <a:gd name="adj" fmla="val 13333"/>
            </a:avLst>
          </a:prstGeom>
          <a:solidFill>
            <a:srgbClr val="F4F7F5"/>
          </a:solidFill>
          <a:ln w="9525">
            <a:solidFill>
              <a:srgbClr val="D5DED9"/>
            </a:solidFill>
            <a:prstDash val="solid"/>
          </a:ln>
        </p:spPr>
      </p:sp>
      <p:sp>
        <p:nvSpPr>
          <p:cNvPr id="58" name="Shape 47"/>
          <p:cNvSpPr/>
          <p:nvPr/>
        </p:nvSpPr>
        <p:spPr>
          <a:xfrm>
            <a:off x="548640" y="4005072"/>
            <a:ext cx="310896" cy="310896"/>
          </a:xfrm>
          <a:prstGeom prst="ellipse">
            <a:avLst/>
          </a:prstGeom>
          <a:solidFill>
            <a:srgbClr val="00704A">
              <a:alpha val="22000"/>
            </a:srgbClr>
          </a:solidFill>
          <a:ln w="12700">
            <a:solidFill>
              <a:srgbClr val="00704A">
                <a:alpha val="0"/>
              </a:srgbClr>
            </a:solidFill>
            <a:prstDash val="solid"/>
          </a:ln>
        </p:spPr>
      </p:sp>
      <p:pic>
        <p:nvPicPr>
          <p:cNvPr id="59" name="Image 8" descr="preencoded.png">    </p:cNvPr>
          <p:cNvPicPr>
            <a:picLocks noChangeAspect="1"/>
          </p:cNvPicPr>
          <p:nvPr/>
        </p:nvPicPr>
        <p:blipFill>
          <a:blip r:embed="rId9"/>
          <a:stretch>
            <a:fillRect/>
          </a:stretch>
        </p:blipFill>
        <p:spPr>
          <a:xfrm>
            <a:off x="629473" y="4085905"/>
            <a:ext cx="149230" cy="149230"/>
          </a:xfrm>
          <a:prstGeom prst="rect">
            <a:avLst/>
          </a:prstGeom>
        </p:spPr>
      </p:pic>
      <p:sp>
        <p:nvSpPr>
          <p:cNvPr id="60" name="Text 48"/>
          <p:cNvSpPr txBox="1"/>
          <p:nvPr/>
        </p:nvSpPr>
        <p:spPr>
          <a:xfrm>
            <a:off x="960120" y="3922776"/>
            <a:ext cx="3429000" cy="201168"/>
          </a:xfrm>
          <a:prstGeom prst="rect">
            <a:avLst/>
          </a:prstGeom>
          <a:noFill/>
          <a:ln/>
        </p:spPr>
        <p:txBody>
          <a:bodyPr wrap="square" lIns="0" tIns="0" rIns="0" bIns="0" rtlCol="0" anchor="t"/>
          <a:lstStyle/>
          <a:p>
            <a:pPr indent="0" marL="0">
              <a:buNone/>
            </a:pPr>
            <a:r>
              <a:rPr lang="en-US" sz="1050" b="1" dirty="0">
                <a:solidFill>
                  <a:srgbClr val="00704A"/>
                </a:solidFill>
                <a:latin typeface="Calibri" pitchFamily="34" charset="0"/>
                <a:ea typeface="Calibri" pitchFamily="34" charset="-122"/>
                <a:cs typeface="Calibri" pitchFamily="34" charset="-120"/>
              </a:rPr>
              <a:t>Nadir</a:t>
            </a:r>
            <a:endParaRPr lang="en-US" sz="1050" dirty="0"/>
          </a:p>
        </p:txBody>
      </p:sp>
      <p:sp>
        <p:nvSpPr>
          <p:cNvPr id="61" name="Text 49"/>
          <p:cNvSpPr txBox="1"/>
          <p:nvPr/>
        </p:nvSpPr>
        <p:spPr>
          <a:xfrm>
            <a:off x="960120" y="4123944"/>
            <a:ext cx="3474720" cy="292608"/>
          </a:xfrm>
          <a:prstGeom prst="rect">
            <a:avLst/>
          </a:prstGeom>
          <a:noFill/>
          <a:ln/>
        </p:spPr>
        <p:txBody>
          <a:bodyPr wrap="square" lIns="0" tIns="0" rIns="0" bIns="0" rtlCol="0" anchor="t"/>
          <a:lstStyle/>
          <a:p>
            <a:pPr indent="0" marL="0">
              <a:buNone/>
            </a:pPr>
            <a:r>
              <a:rPr lang="en-US" sz="850" dirty="0">
                <a:solidFill>
                  <a:srgbClr val="231F20"/>
                </a:solidFill>
                <a:latin typeface="Calibri" pitchFamily="34" charset="0"/>
                <a:ea typeface="Calibri" pitchFamily="34" charset="-122"/>
                <a:cs typeface="Calibri" pitchFamily="34" charset="-120"/>
              </a:rPr>
              <a:t>Point situé à la verticale du satellite, où l’empreinte du pixel est la plus petite.</a:t>
            </a:r>
            <a:endParaRPr lang="en-US" sz="850" dirty="0"/>
          </a:p>
        </p:txBody>
      </p:sp>
      <p:sp>
        <p:nvSpPr>
          <p:cNvPr id="62" name="Shape 50"/>
          <p:cNvSpPr/>
          <p:nvPr/>
        </p:nvSpPr>
        <p:spPr>
          <a:xfrm>
            <a:off x="4663440" y="3886200"/>
            <a:ext cx="4023360" cy="548640"/>
          </a:xfrm>
          <a:prstGeom prst="roundRect">
            <a:avLst>
              <a:gd name="adj" fmla="val 13333"/>
            </a:avLst>
          </a:prstGeom>
          <a:solidFill>
            <a:srgbClr val="F4F7F5"/>
          </a:solidFill>
          <a:ln w="9525">
            <a:solidFill>
              <a:srgbClr val="D5DED9"/>
            </a:solidFill>
            <a:prstDash val="solid"/>
          </a:ln>
        </p:spPr>
      </p:sp>
      <p:sp>
        <p:nvSpPr>
          <p:cNvPr id="63" name="Shape 51"/>
          <p:cNvSpPr/>
          <p:nvPr/>
        </p:nvSpPr>
        <p:spPr>
          <a:xfrm>
            <a:off x="4754880" y="4005072"/>
            <a:ext cx="310896" cy="310896"/>
          </a:xfrm>
          <a:prstGeom prst="ellipse">
            <a:avLst/>
          </a:prstGeom>
          <a:solidFill>
            <a:srgbClr val="00704A">
              <a:alpha val="22000"/>
            </a:srgbClr>
          </a:solidFill>
          <a:ln w="12700">
            <a:solidFill>
              <a:srgbClr val="00704A">
                <a:alpha val="0"/>
              </a:srgbClr>
            </a:solidFill>
            <a:prstDash val="solid"/>
          </a:ln>
        </p:spPr>
      </p:sp>
      <p:pic>
        <p:nvPicPr>
          <p:cNvPr id="64" name="Image 9" descr="preencoded.png">    </p:cNvPr>
          <p:cNvPicPr>
            <a:picLocks noChangeAspect="1"/>
          </p:cNvPicPr>
          <p:nvPr/>
        </p:nvPicPr>
        <p:blipFill>
          <a:blip r:embed="rId10"/>
          <a:stretch>
            <a:fillRect/>
          </a:stretch>
        </p:blipFill>
        <p:spPr>
          <a:xfrm>
            <a:off x="4835713" y="4085905"/>
            <a:ext cx="149230" cy="149230"/>
          </a:xfrm>
          <a:prstGeom prst="rect">
            <a:avLst/>
          </a:prstGeom>
        </p:spPr>
      </p:pic>
      <p:sp>
        <p:nvSpPr>
          <p:cNvPr id="65" name="Text 52"/>
          <p:cNvSpPr txBox="1"/>
          <p:nvPr/>
        </p:nvSpPr>
        <p:spPr>
          <a:xfrm>
            <a:off x="5166360" y="3922776"/>
            <a:ext cx="3429000" cy="201168"/>
          </a:xfrm>
          <a:prstGeom prst="rect">
            <a:avLst/>
          </a:prstGeom>
          <a:noFill/>
          <a:ln/>
        </p:spPr>
        <p:txBody>
          <a:bodyPr wrap="square" lIns="0" tIns="0" rIns="0" bIns="0" rtlCol="0" anchor="t"/>
          <a:lstStyle/>
          <a:p>
            <a:pPr indent="0" marL="0">
              <a:buNone/>
            </a:pPr>
            <a:r>
              <a:rPr lang="en-US" sz="1050" b="1" dirty="0">
                <a:solidFill>
                  <a:srgbClr val="00704A"/>
                </a:solidFill>
                <a:latin typeface="Calibri" pitchFamily="34" charset="0"/>
                <a:ea typeface="Calibri" pitchFamily="34" charset="-122"/>
                <a:cs typeface="Calibri" pitchFamily="34" charset="-120"/>
              </a:rPr>
              <a:t>Halo lumineux (skyglow)</a:t>
            </a:r>
            <a:endParaRPr lang="en-US" sz="1050" dirty="0"/>
          </a:p>
        </p:txBody>
      </p:sp>
      <p:sp>
        <p:nvSpPr>
          <p:cNvPr id="66" name="Text 53"/>
          <p:cNvSpPr txBox="1"/>
          <p:nvPr/>
        </p:nvSpPr>
        <p:spPr>
          <a:xfrm>
            <a:off x="5166360" y="4123944"/>
            <a:ext cx="3474720" cy="292608"/>
          </a:xfrm>
          <a:prstGeom prst="rect">
            <a:avLst/>
          </a:prstGeom>
          <a:noFill/>
          <a:ln/>
        </p:spPr>
        <p:txBody>
          <a:bodyPr wrap="square" lIns="0" tIns="0" rIns="0" bIns="0" rtlCol="0" anchor="t"/>
          <a:lstStyle/>
          <a:p>
            <a:pPr indent="0" marL="0">
              <a:buNone/>
            </a:pPr>
            <a:r>
              <a:rPr lang="en-US" sz="850" dirty="0">
                <a:solidFill>
                  <a:srgbClr val="231F20"/>
                </a:solidFill>
                <a:latin typeface="Calibri" pitchFamily="34" charset="0"/>
                <a:ea typeface="Calibri" pitchFamily="34" charset="-122"/>
                <a:cs typeface="Calibri" pitchFamily="34" charset="-120"/>
              </a:rPr>
              <a:t>Éclaircissement diffus du ciel nocturne par la lumière artificielle diffusée dans l’atmosphère.</a:t>
            </a:r>
            <a:endParaRPr lang="en-US" sz="85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ANNEXE · SOURCES</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Références et sources de données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Lumières nocturnes  ·  Atelier technique STG17  ·  Jour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36</a:t>
            </a:r>
            <a:endParaRPr lang="en-US" sz="850" dirty="0"/>
          </a:p>
        </p:txBody>
      </p:sp>
      <p:sp>
        <p:nvSpPr>
          <p:cNvPr id="17" name="Text 14"/>
          <p:cNvSpPr txBox="1"/>
          <p:nvPr/>
        </p:nvSpPr>
        <p:spPr>
          <a:xfrm>
            <a:off x="457200" y="1298448"/>
            <a:ext cx="5440680" cy="3291840"/>
          </a:xfrm>
          <a:prstGeom prst="rect">
            <a:avLst/>
          </a:prstGeom>
          <a:noFill/>
          <a:ln/>
        </p:spPr>
        <p:txBody>
          <a:bodyPr wrap="square" lIns="0" tIns="0" rIns="0" bIns="0" rtlCol="0" anchor="t"/>
          <a:lstStyle/>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Bruederle, A. et Hodler, R. (2018). Nighttime lights as a proxy for human development at the local level. PLOS ONE, 13(9).</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Elvidge, C. D. et al. (2017). VIIRS night-time lights. International Journal of Remote Sensing, 38(21).</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Falchetta, G. et al. (2019). A high-resolution gridded dataset to assess electrification in sub-Saharan Africa. Scientific Data, 6.</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Henderson, J. V., Storeygard, A. et Weil, D. N. (2012). Measuring economic growth from outer space. American Economic Review, 102(2).</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Kyba, C. et al. (2017). Artificially lit surface of Earth at night increasing in radiance and extent. Science Advances, 3(11).</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Kyba, C. et al. (2023). Citizen scientists report global rapid reductions in the visibility of stars. Science, 379.</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Li, X. et Li, D. (2014). Can night-time light images play a role in evaluating the Syrian crisis? IJRS, 35(18).</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Li, X. et al. (2020). A harmonized global nighttime light dataset 1992–2018. Scientific Data, 7.</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Martinez, L. R. (2022). How much should we trust the dictator’s GDP growth estimates? Journal of Political Economy, 130(10).</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Román, M. O. et al. (2019). Satellite-based assessment of electricity restoration efforts in Puerto Rico after Hurricane Maria. PLOS ONE, 14(6).</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Román, M. O. et al. (2018). NASA’s Black Marble nighttime lights product suite. Remote Sensing of Environment, 210.</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The rural limits of conflict monitoring using nighttime lights (2025). Humanities and Social Sciences Communications.</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AIE, IRENA, ONU-DAES, Banque mondiale, OMS (2026). Tracking SDG 7 : The Energy Progress Report.</a:t>
            </a:r>
            <a:endParaRPr lang="en-US" sz="850" dirty="0"/>
          </a:p>
        </p:txBody>
      </p:sp>
      <p:sp>
        <p:nvSpPr>
          <p:cNvPr id="18" name="Shape 15"/>
          <p:cNvSpPr/>
          <p:nvPr/>
        </p:nvSpPr>
        <p:spPr>
          <a:xfrm>
            <a:off x="6080760" y="1325880"/>
            <a:ext cx="2606040" cy="3246120"/>
          </a:xfrm>
          <a:prstGeom prst="roundRect">
            <a:avLst>
              <a:gd name="adj" fmla="val 2807"/>
            </a:avLst>
          </a:prstGeom>
          <a:solidFill>
            <a:srgbClr val="E8F5EF"/>
          </a:solidFill>
          <a:ln w="15875">
            <a:solidFill>
              <a:srgbClr val="00A86A"/>
            </a:solidFill>
            <a:prstDash val="solid"/>
          </a:ln>
        </p:spPr>
      </p:sp>
      <p:sp>
        <p:nvSpPr>
          <p:cNvPr id="19" name="Text 16"/>
          <p:cNvSpPr txBox="1"/>
          <p:nvPr/>
        </p:nvSpPr>
        <p:spPr>
          <a:xfrm>
            <a:off x="6217920" y="1417320"/>
            <a:ext cx="2286000" cy="182880"/>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DONNÉES ET OUTILS</a:t>
            </a:r>
            <a:endParaRPr lang="en-US" sz="1000" dirty="0"/>
          </a:p>
        </p:txBody>
      </p:sp>
      <p:sp>
        <p:nvSpPr>
          <p:cNvPr id="20" name="Shape 17"/>
          <p:cNvSpPr/>
          <p:nvPr/>
        </p:nvSpPr>
        <p:spPr>
          <a:xfrm>
            <a:off x="6217920" y="1719072"/>
            <a:ext cx="365760" cy="365760"/>
          </a:xfrm>
          <a:prstGeom prst="ellipse">
            <a:avLst/>
          </a:prstGeom>
          <a:solidFill>
            <a:srgbClr val="00A86A">
              <a:alpha val="22000"/>
            </a:srgbClr>
          </a:solidFill>
          <a:ln w="12700">
            <a:solidFill>
              <a:srgbClr val="00A86A">
                <a:alpha val="0"/>
              </a:srgbClr>
            </a:solidFill>
            <a:prstDash val="solid"/>
          </a:ln>
        </p:spPr>
      </p:sp>
      <p:pic>
        <p:nvPicPr>
          <p:cNvPr id="21" name="Image 0" descr="preencoded.png">    </p:cNvPr>
          <p:cNvPicPr>
            <a:picLocks noChangeAspect="1"/>
          </p:cNvPicPr>
          <p:nvPr/>
        </p:nvPicPr>
        <p:blipFill>
          <a:blip r:embed="rId1"/>
          <a:stretch>
            <a:fillRect/>
          </a:stretch>
        </p:blipFill>
        <p:spPr>
          <a:xfrm>
            <a:off x="6313018" y="1814170"/>
            <a:ext cx="175565" cy="175565"/>
          </a:xfrm>
          <a:prstGeom prst="rect">
            <a:avLst/>
          </a:prstGeom>
        </p:spPr>
      </p:pic>
      <p:sp>
        <p:nvSpPr>
          <p:cNvPr id="22" name="Text 18"/>
          <p:cNvSpPr txBox="1"/>
          <p:nvPr/>
        </p:nvSpPr>
        <p:spPr>
          <a:xfrm>
            <a:off x="6675120" y="1682496"/>
            <a:ext cx="1965960" cy="237744"/>
          </a:xfrm>
          <a:prstGeom prst="rect">
            <a:avLst/>
          </a:prstGeom>
          <a:noFill/>
          <a:ln/>
        </p:spPr>
        <p:txBody>
          <a:bodyPr wrap="square" lIns="0" tIns="0" rIns="0" bIns="0" rtlCol="0" anchor="t"/>
          <a:lstStyle/>
          <a:p>
            <a:pPr indent="0" marL="0">
              <a:buNone/>
            </a:pPr>
            <a:r>
              <a:rPr lang="en-US" sz="950" b="1" dirty="0">
                <a:solidFill>
                  <a:srgbClr val="231F20"/>
                </a:solidFill>
                <a:latin typeface="Calibri" pitchFamily="34" charset="0"/>
                <a:ea typeface="Calibri" pitchFamily="34" charset="-122"/>
                <a:cs typeface="Calibri" pitchFamily="34" charset="-120"/>
              </a:rPr>
              <a:t>NASA Black Marble</a:t>
            </a:r>
            <a:endParaRPr lang="en-US" sz="950" dirty="0"/>
          </a:p>
        </p:txBody>
      </p:sp>
      <p:sp>
        <p:nvSpPr>
          <p:cNvPr id="23" name="Text 19"/>
          <p:cNvSpPr txBox="1"/>
          <p:nvPr/>
        </p:nvSpPr>
        <p:spPr>
          <a:xfrm>
            <a:off x="6675120" y="1920240"/>
            <a:ext cx="1965960" cy="201168"/>
          </a:xfrm>
          <a:prstGeom prst="rect">
            <a:avLst/>
          </a:prstGeom>
          <a:noFill/>
          <a:ln/>
        </p:spPr>
        <p:txBody>
          <a:bodyPr wrap="square" lIns="0" tIns="0" rIns="0" bIns="0" rtlCol="0" anchor="t"/>
          <a:lstStyle/>
          <a:p>
            <a:pPr indent="0" marL="0">
              <a:buNone/>
            </a:pPr>
            <a:r>
              <a:rPr lang="en-US" sz="850" dirty="0">
                <a:solidFill>
                  <a:srgbClr val="5E6964"/>
                </a:solidFill>
                <a:latin typeface="Calibri" pitchFamily="34" charset="0"/>
                <a:ea typeface="Calibri" pitchFamily="34" charset="-122"/>
                <a:cs typeface="Calibri" pitchFamily="34" charset="-120"/>
              </a:rPr>
              <a:t>LAADS DAAC · Earthdata</a:t>
            </a:r>
            <a:endParaRPr lang="en-US" sz="850" dirty="0"/>
          </a:p>
        </p:txBody>
      </p:sp>
      <p:sp>
        <p:nvSpPr>
          <p:cNvPr id="24" name="Shape 20"/>
          <p:cNvSpPr/>
          <p:nvPr/>
        </p:nvSpPr>
        <p:spPr>
          <a:xfrm>
            <a:off x="6217920" y="2267712"/>
            <a:ext cx="365760" cy="365760"/>
          </a:xfrm>
          <a:prstGeom prst="ellipse">
            <a:avLst/>
          </a:prstGeom>
          <a:solidFill>
            <a:srgbClr val="00A86A">
              <a:alpha val="22000"/>
            </a:srgbClr>
          </a:solidFill>
          <a:ln w="12700">
            <a:solidFill>
              <a:srgbClr val="00A86A">
                <a:alpha val="0"/>
              </a:srgbClr>
            </a:solidFill>
            <a:prstDash val="solid"/>
          </a:ln>
        </p:spPr>
      </p:sp>
      <p:pic>
        <p:nvPicPr>
          <p:cNvPr id="25" name="Image 1" descr="preencoded.png">    </p:cNvPr>
          <p:cNvPicPr>
            <a:picLocks noChangeAspect="1"/>
          </p:cNvPicPr>
          <p:nvPr/>
        </p:nvPicPr>
        <p:blipFill>
          <a:blip r:embed="rId2"/>
          <a:stretch>
            <a:fillRect/>
          </a:stretch>
        </p:blipFill>
        <p:spPr>
          <a:xfrm>
            <a:off x="6313018" y="2362810"/>
            <a:ext cx="175565" cy="175565"/>
          </a:xfrm>
          <a:prstGeom prst="rect">
            <a:avLst/>
          </a:prstGeom>
        </p:spPr>
      </p:pic>
      <p:sp>
        <p:nvSpPr>
          <p:cNvPr id="26" name="Text 21"/>
          <p:cNvSpPr txBox="1"/>
          <p:nvPr/>
        </p:nvSpPr>
        <p:spPr>
          <a:xfrm>
            <a:off x="6675120" y="2231136"/>
            <a:ext cx="1965960" cy="237744"/>
          </a:xfrm>
          <a:prstGeom prst="rect">
            <a:avLst/>
          </a:prstGeom>
          <a:noFill/>
          <a:ln/>
        </p:spPr>
        <p:txBody>
          <a:bodyPr wrap="square" lIns="0" tIns="0" rIns="0" bIns="0" rtlCol="0" anchor="t"/>
          <a:lstStyle/>
          <a:p>
            <a:pPr indent="0" marL="0">
              <a:buNone/>
            </a:pPr>
            <a:r>
              <a:rPr lang="en-US" sz="950" b="1" dirty="0">
                <a:solidFill>
                  <a:srgbClr val="231F20"/>
                </a:solidFill>
                <a:latin typeface="Calibri" pitchFamily="34" charset="0"/>
                <a:ea typeface="Calibri" pitchFamily="34" charset="-122"/>
                <a:cs typeface="Calibri" pitchFamily="34" charset="-120"/>
              </a:rPr>
              <a:t>Earth Observation Group</a:t>
            </a:r>
            <a:endParaRPr lang="en-US" sz="950" dirty="0"/>
          </a:p>
        </p:txBody>
      </p:sp>
      <p:sp>
        <p:nvSpPr>
          <p:cNvPr id="27" name="Text 22"/>
          <p:cNvSpPr txBox="1"/>
          <p:nvPr/>
        </p:nvSpPr>
        <p:spPr>
          <a:xfrm>
            <a:off x="6675120" y="2468880"/>
            <a:ext cx="1965960" cy="201168"/>
          </a:xfrm>
          <a:prstGeom prst="rect">
            <a:avLst/>
          </a:prstGeom>
          <a:noFill/>
          <a:ln/>
        </p:spPr>
        <p:txBody>
          <a:bodyPr wrap="square" lIns="0" tIns="0" rIns="0" bIns="0" rtlCol="0" anchor="t"/>
          <a:lstStyle/>
          <a:p>
            <a:pPr indent="0" marL="0">
              <a:buNone/>
            </a:pPr>
            <a:r>
              <a:rPr lang="en-US" sz="850" dirty="0">
                <a:solidFill>
                  <a:srgbClr val="5E6964"/>
                </a:solidFill>
                <a:latin typeface="Calibri" pitchFamily="34" charset="0"/>
                <a:ea typeface="Calibri" pitchFamily="34" charset="-122"/>
                <a:cs typeface="Calibri" pitchFamily="34" charset="-120"/>
              </a:rPr>
              <a:t>Composites VNL, Nightfire</a:t>
            </a:r>
            <a:endParaRPr lang="en-US" sz="850" dirty="0"/>
          </a:p>
        </p:txBody>
      </p:sp>
      <p:sp>
        <p:nvSpPr>
          <p:cNvPr id="28" name="Shape 23"/>
          <p:cNvSpPr/>
          <p:nvPr/>
        </p:nvSpPr>
        <p:spPr>
          <a:xfrm>
            <a:off x="6217920" y="2816352"/>
            <a:ext cx="365760" cy="365760"/>
          </a:xfrm>
          <a:prstGeom prst="ellipse">
            <a:avLst/>
          </a:prstGeom>
          <a:solidFill>
            <a:srgbClr val="00A86A">
              <a:alpha val="22000"/>
            </a:srgbClr>
          </a:solidFill>
          <a:ln w="12700">
            <a:solidFill>
              <a:srgbClr val="00A86A">
                <a:alpha val="0"/>
              </a:srgbClr>
            </a:solidFill>
            <a:prstDash val="solid"/>
          </a:ln>
        </p:spPr>
      </p:sp>
      <p:pic>
        <p:nvPicPr>
          <p:cNvPr id="29" name="Image 2" descr="preencoded.png">    </p:cNvPr>
          <p:cNvPicPr>
            <a:picLocks noChangeAspect="1"/>
          </p:cNvPicPr>
          <p:nvPr/>
        </p:nvPicPr>
        <p:blipFill>
          <a:blip r:embed="rId3"/>
          <a:stretch>
            <a:fillRect/>
          </a:stretch>
        </p:blipFill>
        <p:spPr>
          <a:xfrm>
            <a:off x="6313018" y="2911450"/>
            <a:ext cx="175565" cy="175565"/>
          </a:xfrm>
          <a:prstGeom prst="rect">
            <a:avLst/>
          </a:prstGeom>
        </p:spPr>
      </p:pic>
      <p:sp>
        <p:nvSpPr>
          <p:cNvPr id="30" name="Text 24"/>
          <p:cNvSpPr txBox="1"/>
          <p:nvPr/>
        </p:nvSpPr>
        <p:spPr>
          <a:xfrm>
            <a:off x="6675120" y="2779776"/>
            <a:ext cx="1965960" cy="237744"/>
          </a:xfrm>
          <a:prstGeom prst="rect">
            <a:avLst/>
          </a:prstGeom>
          <a:noFill/>
          <a:ln/>
        </p:spPr>
        <p:txBody>
          <a:bodyPr wrap="square" lIns="0" tIns="0" rIns="0" bIns="0" rtlCol="0" anchor="t"/>
          <a:lstStyle/>
          <a:p>
            <a:pPr indent="0" marL="0">
              <a:buNone/>
            </a:pPr>
            <a:r>
              <a:rPr lang="en-US" sz="950" b="1" dirty="0">
                <a:solidFill>
                  <a:srgbClr val="231F20"/>
                </a:solidFill>
                <a:latin typeface="Calibri" pitchFamily="34" charset="0"/>
                <a:ea typeface="Calibri" pitchFamily="34" charset="-122"/>
                <a:cs typeface="Calibri" pitchFamily="34" charset="-120"/>
              </a:rPr>
              <a:t>Google Earth Engine</a:t>
            </a:r>
            <a:endParaRPr lang="en-US" sz="950" dirty="0"/>
          </a:p>
        </p:txBody>
      </p:sp>
      <p:sp>
        <p:nvSpPr>
          <p:cNvPr id="31" name="Text 25"/>
          <p:cNvSpPr txBox="1"/>
          <p:nvPr/>
        </p:nvSpPr>
        <p:spPr>
          <a:xfrm>
            <a:off x="6675120" y="3017520"/>
            <a:ext cx="1965960" cy="201168"/>
          </a:xfrm>
          <a:prstGeom prst="rect">
            <a:avLst/>
          </a:prstGeom>
          <a:noFill/>
          <a:ln/>
        </p:spPr>
        <p:txBody>
          <a:bodyPr wrap="square" lIns="0" tIns="0" rIns="0" bIns="0" rtlCol="0" anchor="t"/>
          <a:lstStyle/>
          <a:p>
            <a:pPr indent="0" marL="0">
              <a:buNone/>
            </a:pPr>
            <a:r>
              <a:rPr lang="en-US" sz="850" dirty="0">
                <a:solidFill>
                  <a:srgbClr val="5E6964"/>
                </a:solidFill>
                <a:latin typeface="Calibri" pitchFamily="34" charset="0"/>
                <a:ea typeface="Calibri" pitchFamily="34" charset="-122"/>
                <a:cs typeface="Calibri" pitchFamily="34" charset="-120"/>
              </a:rPr>
              <a:t>Archive hébergée prête à l’analyse</a:t>
            </a:r>
            <a:endParaRPr lang="en-US" sz="850" dirty="0"/>
          </a:p>
        </p:txBody>
      </p:sp>
      <p:sp>
        <p:nvSpPr>
          <p:cNvPr id="32" name="Shape 26"/>
          <p:cNvSpPr/>
          <p:nvPr/>
        </p:nvSpPr>
        <p:spPr>
          <a:xfrm>
            <a:off x="6217920" y="3364992"/>
            <a:ext cx="365760" cy="365760"/>
          </a:xfrm>
          <a:prstGeom prst="ellipse">
            <a:avLst/>
          </a:prstGeom>
          <a:solidFill>
            <a:srgbClr val="00A86A">
              <a:alpha val="22000"/>
            </a:srgbClr>
          </a:solidFill>
          <a:ln w="12700">
            <a:solidFill>
              <a:srgbClr val="00A86A">
                <a:alpha val="0"/>
              </a:srgbClr>
            </a:solidFill>
            <a:prstDash val="solid"/>
          </a:ln>
        </p:spPr>
      </p:sp>
      <p:pic>
        <p:nvPicPr>
          <p:cNvPr id="33" name="Image 3" descr="preencoded.png">    </p:cNvPr>
          <p:cNvPicPr>
            <a:picLocks noChangeAspect="1"/>
          </p:cNvPicPr>
          <p:nvPr/>
        </p:nvPicPr>
        <p:blipFill>
          <a:blip r:embed="rId4"/>
          <a:stretch>
            <a:fillRect/>
          </a:stretch>
        </p:blipFill>
        <p:spPr>
          <a:xfrm>
            <a:off x="6313018" y="3460090"/>
            <a:ext cx="175565" cy="175565"/>
          </a:xfrm>
          <a:prstGeom prst="rect">
            <a:avLst/>
          </a:prstGeom>
        </p:spPr>
      </p:pic>
      <p:sp>
        <p:nvSpPr>
          <p:cNvPr id="34" name="Text 27"/>
          <p:cNvSpPr txBox="1"/>
          <p:nvPr/>
        </p:nvSpPr>
        <p:spPr>
          <a:xfrm>
            <a:off x="6675120" y="3328416"/>
            <a:ext cx="1965960" cy="237744"/>
          </a:xfrm>
          <a:prstGeom prst="rect">
            <a:avLst/>
          </a:prstGeom>
          <a:noFill/>
          <a:ln/>
        </p:spPr>
        <p:txBody>
          <a:bodyPr wrap="square" lIns="0" tIns="0" rIns="0" bIns="0" rtlCol="0" anchor="t"/>
          <a:lstStyle/>
          <a:p>
            <a:pPr indent="0" marL="0">
              <a:buNone/>
            </a:pPr>
            <a:r>
              <a:rPr lang="en-US" sz="950" b="1" dirty="0">
                <a:solidFill>
                  <a:srgbClr val="231F20"/>
                </a:solidFill>
                <a:latin typeface="Calibri" pitchFamily="34" charset="0"/>
                <a:ea typeface="Calibri" pitchFamily="34" charset="-122"/>
                <a:cs typeface="Calibri" pitchFamily="34" charset="-120"/>
              </a:rPr>
              <a:t>HREA</a:t>
            </a:r>
            <a:endParaRPr lang="en-US" sz="950" dirty="0"/>
          </a:p>
        </p:txBody>
      </p:sp>
      <p:sp>
        <p:nvSpPr>
          <p:cNvPr id="35" name="Text 28"/>
          <p:cNvSpPr txBox="1"/>
          <p:nvPr/>
        </p:nvSpPr>
        <p:spPr>
          <a:xfrm>
            <a:off x="6675120" y="3566160"/>
            <a:ext cx="1965960" cy="201168"/>
          </a:xfrm>
          <a:prstGeom prst="rect">
            <a:avLst/>
          </a:prstGeom>
          <a:noFill/>
          <a:ln/>
        </p:spPr>
        <p:txBody>
          <a:bodyPr wrap="square" lIns="0" tIns="0" rIns="0" bIns="0" rtlCol="0" anchor="t"/>
          <a:lstStyle/>
          <a:p>
            <a:pPr indent="0" marL="0">
              <a:buNone/>
            </a:pPr>
            <a:r>
              <a:rPr lang="en-US" sz="850" dirty="0">
                <a:solidFill>
                  <a:srgbClr val="5E6964"/>
                </a:solidFill>
                <a:latin typeface="Calibri" pitchFamily="34" charset="0"/>
                <a:ea typeface="Calibri" pitchFamily="34" charset="-122"/>
                <a:cs typeface="Calibri" pitchFamily="34" charset="-120"/>
              </a:rPr>
              <a:t>Accès à l’électricité par localité</a:t>
            </a:r>
            <a:endParaRPr lang="en-US" sz="850" dirty="0"/>
          </a:p>
        </p:txBody>
      </p:sp>
      <p:sp>
        <p:nvSpPr>
          <p:cNvPr id="36" name="Shape 29"/>
          <p:cNvSpPr/>
          <p:nvPr/>
        </p:nvSpPr>
        <p:spPr>
          <a:xfrm>
            <a:off x="6217920" y="3913632"/>
            <a:ext cx="365760" cy="365760"/>
          </a:xfrm>
          <a:prstGeom prst="ellipse">
            <a:avLst/>
          </a:prstGeom>
          <a:solidFill>
            <a:srgbClr val="00A86A">
              <a:alpha val="22000"/>
            </a:srgbClr>
          </a:solidFill>
          <a:ln w="12700">
            <a:solidFill>
              <a:srgbClr val="00A86A">
                <a:alpha val="0"/>
              </a:srgbClr>
            </a:solidFill>
            <a:prstDash val="solid"/>
          </a:ln>
        </p:spPr>
      </p:sp>
      <p:pic>
        <p:nvPicPr>
          <p:cNvPr id="37" name="Image 4" descr="preencoded.png">    </p:cNvPr>
          <p:cNvPicPr>
            <a:picLocks noChangeAspect="1"/>
          </p:cNvPicPr>
          <p:nvPr/>
        </p:nvPicPr>
        <p:blipFill>
          <a:blip r:embed="rId5"/>
          <a:stretch>
            <a:fillRect/>
          </a:stretch>
        </p:blipFill>
        <p:spPr>
          <a:xfrm>
            <a:off x="6313018" y="4008730"/>
            <a:ext cx="175565" cy="175565"/>
          </a:xfrm>
          <a:prstGeom prst="rect">
            <a:avLst/>
          </a:prstGeom>
        </p:spPr>
      </p:pic>
      <p:sp>
        <p:nvSpPr>
          <p:cNvPr id="38" name="Text 30"/>
          <p:cNvSpPr txBox="1"/>
          <p:nvPr/>
        </p:nvSpPr>
        <p:spPr>
          <a:xfrm>
            <a:off x="6675120" y="3877056"/>
            <a:ext cx="1965960" cy="237744"/>
          </a:xfrm>
          <a:prstGeom prst="rect">
            <a:avLst/>
          </a:prstGeom>
          <a:noFill/>
          <a:ln/>
        </p:spPr>
        <p:txBody>
          <a:bodyPr wrap="square" lIns="0" tIns="0" rIns="0" bIns="0" rtlCol="0" anchor="t"/>
          <a:lstStyle/>
          <a:p>
            <a:pPr indent="0" marL="0">
              <a:buNone/>
            </a:pPr>
            <a:r>
              <a:rPr lang="en-US" sz="950" b="1" dirty="0">
                <a:solidFill>
                  <a:srgbClr val="231F20"/>
                </a:solidFill>
                <a:latin typeface="Calibri" pitchFamily="34" charset="0"/>
                <a:ea typeface="Calibri" pitchFamily="34" charset="-122"/>
                <a:cs typeface="Calibri" pitchFamily="34" charset="-120"/>
              </a:rPr>
              <a:t>Open Nighttime Lights</a:t>
            </a:r>
            <a:endParaRPr lang="en-US" sz="950" dirty="0"/>
          </a:p>
        </p:txBody>
      </p:sp>
      <p:sp>
        <p:nvSpPr>
          <p:cNvPr id="39" name="Text 31"/>
          <p:cNvSpPr txBox="1"/>
          <p:nvPr/>
        </p:nvSpPr>
        <p:spPr>
          <a:xfrm>
            <a:off x="6675120" y="4114800"/>
            <a:ext cx="1965960" cy="201168"/>
          </a:xfrm>
          <a:prstGeom prst="rect">
            <a:avLst/>
          </a:prstGeom>
          <a:noFill/>
          <a:ln/>
        </p:spPr>
        <p:txBody>
          <a:bodyPr wrap="square" lIns="0" tIns="0" rIns="0" bIns="0" rtlCol="0" anchor="t"/>
          <a:lstStyle/>
          <a:p>
            <a:pPr indent="0" marL="0">
              <a:buNone/>
            </a:pPr>
            <a:r>
              <a:rPr lang="en-US" sz="850" dirty="0">
                <a:solidFill>
                  <a:srgbClr val="5E6964"/>
                </a:solidFill>
                <a:latin typeface="Calibri" pitchFamily="34" charset="0"/>
                <a:ea typeface="Calibri" pitchFamily="34" charset="-122"/>
                <a:cs typeface="Calibri" pitchFamily="34" charset="-120"/>
              </a:rPr>
              <a:t>Tutoriels Banque mondiale</a:t>
            </a:r>
            <a:endParaRPr lang="en-US" sz="85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Lumières nocturnes : ce que nous dit l’obscurité — Atelier STG17, Jour 4</dc:title>
  <dc:subject>PptxGenJS Presentation</dc:subject>
  <dc:creator>Atelier technique STG17</dc:creator>
  <cp:lastModifiedBy>Atelier technique STG17</cp:lastModifiedBy>
  <cp:revision>1</cp:revision>
  <dcterms:created xsi:type="dcterms:W3CDTF">2026-09-16T15:29:04Z</dcterms:created>
  <dcterms:modified xsi:type="dcterms:W3CDTF">2026-09-16T15:29:04Z</dcterms:modified>
</cp:coreProperties>
</file>