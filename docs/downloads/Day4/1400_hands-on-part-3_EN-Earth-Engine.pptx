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takes participants from their Google account to the first VIIRS image loaded in the NTL_Africa_STG17 notebook. It follows the exact order in which the screens appear. The annotated screenshots are real; screens we did not capture are marked as schematics, because Google's interface changes regularly. The screenshots were taken with a French-language interface: menu names may read differently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One: it is free for training and research, with no credit card. Two: since 13 November 2024, a Google Cloud project is mandatory, even for free use — it is an administrative container, not a paid service. Three: allow about fifteen minutes; that is a workshop estimate, not a Google figure. The ochre box is the nuance not to skip: a government agency using Earth Engine to produce an official indicator routinely is steered by Google towards the commercial offer. Learning the method this week is free; industrialising production is a different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map. Each step has a precise address, shown under its block. Stress step 1: the account. Almost every blockage in the room comes from a participant who creates the project with one account and authorises Colab with another. Steps 2 and 3 happen in a single visit to the registration page. Step 4 is a check. Step 5 happens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three screens. Choosing the account, creating the project, and declaring noncommercial use with the quota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account is the first source of errors in the room. Many participants have several Google accounts open in the same browser: personal, institutional, school. The notebook authenticates with the account chosen in the authorisation window; if it is not the one that owns the project, initialisation fails with a permission error. Practical tip: work in a browser window where only one account is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registration page is Google's recommended entry point: it automatically chains project creation, Earth Engine API activation and use registration. Important: the project ID is suggested from the name but is fixed at creation and cannot be changed afterwards. Choose it carefully. Google suggests the form ee-yourname; for the workshop, an ID that says what the project does, such as ntl-stg17, will be easier to read in six months. Note: Google does not accept underscores, neither in the name nor in the ID; use a hyphen. The schematic on the right is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questionnaire is not a formality: since 26 September 2025, every noncommercial project must have completed it, or access is suspended. It must also be renewed periodically. The examples come straight from Google's page. The case that concerns our institutes is bottom right: a government agency using Earth Engine for operational purposes is referred to the commercial offer. This week, the use is training; answer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2026, every noncommercial project has a quota tier that sets a monthly compute ceiling in EECU-hours. Community is the default tier and needs no billing account. For the notebook — one country, a handful of annual images, four years of monthly data — it is more than enough. The Contributor tier requires attaching a billing account; Google states that Earth Engine will not be charged while the project stays noncommercial, but other Cloud services enabled on the project could be. Hence the rule: do not enable any other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we look at what the console shows, retrieve the ID, and check the registration and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of a workshop project, with a French-language interface. One: the ID, readable in the address after project=. It is exactly the string the notebook asks for. Two: the selector at top left shows the project name, not its ID; do not copy “AI Horizon”. Three: the Configuration menu, where you check registration, questionnaire and tier. Four: the 300-dollar free-trial banner concerns general Google Cloud billing; it has nothing to do with Earth Engine. Do not click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mistake at the notebook prompt. The name is a display label: it may contain capitals and spaces, and it can be changed. The ID is unique across all of Google Cloud, lowercase with digits and hyphens, and permanent. Earth Engine only accepts the ID. Three places to find it: the console address, the project selector window which shows both columns, and the profile menu of the Earth Engine Code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before moving to the notebook. On the left, the Configuration menu of the Earth Engine console: it should show a project registered for noncommercial use, with the questionnaire completed and a tier chosen. If registration is unfinished, the address code.earthengine.google.com/register followed by your ID resumes the flow where it stopped. On the right, the API: if the notebook shows “Earth Engine API has not been used in project … or it is disabled”, either the API is not enabled or the ID entered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notebook prompt, the authorisation window, the thirty-second test, and the available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French interface. One: the notebook announces it will fetch 2015 from the gee provider; real acquisition starts. Two: the input box. Click in it, type the ID, press Enter. No quotes, no space before or after. Three, in red: this participant has a problem unrelated to Earth Engine that could cost them their work. Colab no longer saves the file because it is open in another tab. Before going further: close the other tabs, then File, Save a copy in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ID, the notebook tries to connect. In Colab, the Earth Engine library automatically uses Colab's own authentication mode: a window asks you to share your Google credentials with the notebook environment. Choose the same account as in the console. Once authorised, the notebook displays “Earth Engine initialisé” (initialised) and carries on by itself. Credentials are reused afterwards; to switch accounts, force a new authentication with ee.Authenticate(force=True). If nothing opens, it is almost always a pop-up blocker.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tip: have participants run these six lines in an empty cell before launching the whole notebook. If they fail, the notebook will fail too, and the cause lies in the project, not in the code. If they pass, you get a number of annual images and a date: project, API, permissions and authentication are all in order. Replace the ID with your own, of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links each catalogue collection to what the notebook does with it. The annual V2.2 feeds the baseline and endline years; according to the catalogue it covers 2012 to 2024. The stray-light-corrected monthly series feeds scenario F; it runs from January 2014 to March 2025, which means 2025 is incomplete: keep MONTHLY_YEARS up to 2024. These bounds change with every catalogue update; check them before setting your years. All these NOAA data are in the public domain, with no restriction 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project while participants finish. Eight boxes. When they are all ticked, the notebook can be run in full: it will ask for the ID, open the authorisation window, then work on its own through to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information in this guide comes from the official Google Earth Engine documentation, consulted in September 2026. Access policies change regularly: check them before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Once the project is ready, the rest is automatic: the notebook asks for the ID once per session, then chains acquisition, seven scenarios, the dashboard and, if you wish, publication on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STG17 · DAY 4 · AFRICA AFTER DARK</a:t>
            </a:r>
            <a:endParaRPr lang="en-US" sz="1100" dirty="0"/>
          </a:p>
        </p:txBody>
      </p:sp>
      <p:sp>
        <p:nvSpPr>
          <p:cNvPr id="3" name="Text 1"/>
          <p:cNvSpPr txBox="1"/>
          <p:nvPr/>
        </p:nvSpPr>
        <p:spPr>
          <a:xfrm>
            <a:off x="548640" y="1554480"/>
            <a:ext cx="694944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Setting up a Google Earth Engine project</a:t>
            </a:r>
            <a:endParaRPr lang="en-US" sz="4000" dirty="0"/>
          </a:p>
        </p:txBody>
      </p:sp>
      <p:sp>
        <p:nvSpPr>
          <p:cNvPr id="4" name="Text 2"/>
          <p:cNvSpPr txBox="1"/>
          <p:nvPr/>
        </p:nvSpPr>
        <p:spPr>
          <a:xfrm>
            <a:off x="548640" y="3017520"/>
            <a:ext cx="6400800" cy="82296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To access VIIRS night-time lights from the NTL notebook — step by step, with screenshots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00 · BEFORE YOU START</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Three things to know before you click</a:t>
            </a:r>
            <a:endParaRPr lang="en-US" sz="2500" dirty="0"/>
          </a:p>
        </p:txBody>
      </p:sp>
      <p:sp>
        <p:nvSpPr>
          <p:cNvPr id="8" name="Shape 6"/>
          <p:cNvSpPr/>
          <p:nvPr/>
        </p:nvSpPr>
        <p:spPr>
          <a:xfrm>
            <a:off x="8156448" y="301752"/>
            <a:ext cx="100584" cy="100584"/>
          </a:xfrm>
          <a:prstGeom prst="ellipse">
            <a:avLst/>
          </a:prstGeom>
          <a:solidFill>
            <a:srgbClr val="00A86A"/>
          </a:solidFill>
          <a:ln w="12700">
            <a:solidFill>
              <a:srgbClr val="00A86A"/>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5" name="Shape 12"/>
          <p:cNvSpPr/>
          <p:nvPr/>
        </p:nvSpPr>
        <p:spPr>
          <a:xfrm>
            <a:off x="457200" y="1325880"/>
            <a:ext cx="256032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658368" y="1508760"/>
            <a:ext cx="502920" cy="502920"/>
          </a:xfrm>
          <a:prstGeom prst="ellipse">
            <a:avLst/>
          </a:prstGeom>
          <a:solidFill>
            <a:srgbClr val="00A86A">
              <a:alpha val="20000"/>
            </a:srgbClr>
          </a:solidFill>
          <a:ln w="12700">
            <a:solidFill>
              <a:srgbClr val="00A86A">
                <a:alpha val="0"/>
              </a:srgbClr>
            </a:solidFill>
            <a:prstDash val="solid"/>
          </a:ln>
        </p:spPr>
      </p:sp>
      <p:pic>
        <p:nvPicPr>
          <p:cNvPr id="17" name="Image 0" descr="preencoded.png">    </p:cNvPr>
          <p:cNvPicPr>
            <a:picLocks noChangeAspect="1"/>
          </p:cNvPicPr>
          <p:nvPr/>
        </p:nvPicPr>
        <p:blipFill>
          <a:blip r:embed="rId1"/>
          <a:stretch>
            <a:fillRect/>
          </a:stretch>
        </p:blipFill>
        <p:spPr>
          <a:xfrm>
            <a:off x="769010" y="1619402"/>
            <a:ext cx="281635" cy="281635"/>
          </a:xfrm>
          <a:prstGeom prst="rect">
            <a:avLst/>
          </a:prstGeom>
        </p:spPr>
      </p:pic>
      <p:sp>
        <p:nvSpPr>
          <p:cNvPr id="18" name="Text 14"/>
          <p:cNvSpPr txBox="1"/>
          <p:nvPr/>
        </p:nvSpPr>
        <p:spPr>
          <a:xfrm>
            <a:off x="658368" y="2103120"/>
            <a:ext cx="2194560" cy="548640"/>
          </a:xfrm>
          <a:prstGeom prst="rect">
            <a:avLst/>
          </a:prstGeom>
          <a:noFill/>
          <a:ln/>
        </p:spPr>
        <p:txBody>
          <a:bodyPr wrap="square" lIns="0" tIns="0" rIns="0" bIns="0" rtlCol="0" anchor="ctr"/>
          <a:lstStyle/>
          <a:p>
            <a:pPr indent="0" marL="0">
              <a:buNone/>
            </a:pPr>
            <a:r>
              <a:rPr lang="en-US" sz="3400" b="1" dirty="0">
                <a:solidFill>
                  <a:srgbClr val="00A86A"/>
                </a:solidFill>
                <a:latin typeface="Calibri" pitchFamily="34" charset="0"/>
                <a:ea typeface="Calibri" pitchFamily="34" charset="-122"/>
                <a:cs typeface="Calibri" pitchFamily="34" charset="-120"/>
              </a:rPr>
              <a:t>0 $</a:t>
            </a:r>
            <a:endParaRPr lang="en-US" sz="3400" dirty="0"/>
          </a:p>
        </p:txBody>
      </p:sp>
      <p:sp>
        <p:nvSpPr>
          <p:cNvPr id="19" name="Text 15"/>
          <p:cNvSpPr txBox="1"/>
          <p:nvPr/>
        </p:nvSpPr>
        <p:spPr>
          <a:xfrm>
            <a:off x="658368" y="2670048"/>
            <a:ext cx="2194560" cy="7315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Free for research, teaching and training. No billing account to create.</a:t>
            </a:r>
            <a:endParaRPr lang="en-US" sz="1150" dirty="0"/>
          </a:p>
        </p:txBody>
      </p:sp>
      <p:sp>
        <p:nvSpPr>
          <p:cNvPr id="20" name="Shape 16"/>
          <p:cNvSpPr/>
          <p:nvPr/>
        </p:nvSpPr>
        <p:spPr>
          <a:xfrm>
            <a:off x="3246120" y="1325880"/>
            <a:ext cx="2560320" cy="2148840"/>
          </a:xfrm>
          <a:prstGeom prst="roundRect">
            <a:avLst>
              <a:gd name="adj" fmla="val 3404"/>
            </a:avLst>
          </a:prstGeom>
          <a:solidFill>
            <a:srgbClr val="F4F7F5"/>
          </a:solidFill>
          <a:ln w="9525">
            <a:solidFill>
              <a:srgbClr val="D5DED9"/>
            </a:solidFill>
            <a:prstDash val="solid"/>
          </a:ln>
        </p:spPr>
      </p:sp>
      <p:sp>
        <p:nvSpPr>
          <p:cNvPr id="21" name="Shape 17"/>
          <p:cNvSpPr/>
          <p:nvPr/>
        </p:nvSpPr>
        <p:spPr>
          <a:xfrm>
            <a:off x="3447288" y="1508760"/>
            <a:ext cx="502920" cy="502920"/>
          </a:xfrm>
          <a:prstGeom prst="ellipse">
            <a:avLst/>
          </a:prstGeom>
          <a:solidFill>
            <a:srgbClr val="00704A">
              <a:alpha val="20000"/>
            </a:srgbClr>
          </a:solidFill>
          <a:ln w="12700">
            <a:solidFill>
              <a:srgbClr val="00704A">
                <a:alpha val="0"/>
              </a:srgbClr>
            </a:solidFill>
            <a:prstDash val="solid"/>
          </a:ln>
        </p:spPr>
      </p:sp>
      <p:pic>
        <p:nvPicPr>
          <p:cNvPr id="22" name="Image 1" descr="preencoded.png">    </p:cNvPr>
          <p:cNvPicPr>
            <a:picLocks noChangeAspect="1"/>
          </p:cNvPicPr>
          <p:nvPr/>
        </p:nvPicPr>
        <p:blipFill>
          <a:blip r:embed="rId2"/>
          <a:stretch>
            <a:fillRect/>
          </a:stretch>
        </p:blipFill>
        <p:spPr>
          <a:xfrm>
            <a:off x="3557930" y="1619402"/>
            <a:ext cx="281635" cy="281635"/>
          </a:xfrm>
          <a:prstGeom prst="rect">
            <a:avLst/>
          </a:prstGeom>
        </p:spPr>
      </p:pic>
      <p:sp>
        <p:nvSpPr>
          <p:cNvPr id="23" name="Text 18"/>
          <p:cNvSpPr txBox="1"/>
          <p:nvPr/>
        </p:nvSpPr>
        <p:spPr>
          <a:xfrm>
            <a:off x="3447288" y="2103120"/>
            <a:ext cx="2194560" cy="548640"/>
          </a:xfrm>
          <a:prstGeom prst="rect">
            <a:avLst/>
          </a:prstGeom>
          <a:noFill/>
          <a:ln/>
        </p:spPr>
        <p:txBody>
          <a:bodyPr wrap="square" lIns="0" tIns="0" rIns="0" bIns="0" rtlCol="0" anchor="ctr"/>
          <a:lstStyle/>
          <a:p>
            <a:pPr indent="0" marL="0">
              <a:buNone/>
            </a:pPr>
            <a:r>
              <a:rPr lang="en-US" sz="3400" b="1" dirty="0">
                <a:solidFill>
                  <a:srgbClr val="00704A"/>
                </a:solidFill>
                <a:latin typeface="Calibri" pitchFamily="34" charset="0"/>
                <a:ea typeface="Calibri" pitchFamily="34" charset="-122"/>
                <a:cs typeface="Calibri" pitchFamily="34" charset="-120"/>
              </a:rPr>
              <a:t>1 project</a:t>
            </a:r>
            <a:endParaRPr lang="en-US" sz="3400" dirty="0"/>
          </a:p>
        </p:txBody>
      </p:sp>
      <p:sp>
        <p:nvSpPr>
          <p:cNvPr id="24" name="Text 19"/>
          <p:cNvSpPr txBox="1"/>
          <p:nvPr/>
        </p:nvSpPr>
        <p:spPr>
          <a:xfrm>
            <a:off x="3447288" y="2670048"/>
            <a:ext cx="2194560" cy="7315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Mandatory since 13 November 2024: every Earth Engine call goes through a Google Cloud project.</a:t>
            </a:r>
            <a:endParaRPr lang="en-US" sz="1150" dirty="0"/>
          </a:p>
        </p:txBody>
      </p:sp>
      <p:sp>
        <p:nvSpPr>
          <p:cNvPr id="25" name="Shape 20"/>
          <p:cNvSpPr/>
          <p:nvPr/>
        </p:nvSpPr>
        <p:spPr>
          <a:xfrm>
            <a:off x="6035040" y="1325880"/>
            <a:ext cx="2560320" cy="2148840"/>
          </a:xfrm>
          <a:prstGeom prst="roundRect">
            <a:avLst>
              <a:gd name="adj" fmla="val 3404"/>
            </a:avLst>
          </a:prstGeom>
          <a:solidFill>
            <a:srgbClr val="F4F7F5"/>
          </a:solidFill>
          <a:ln w="9525">
            <a:solidFill>
              <a:srgbClr val="D5DED9"/>
            </a:solidFill>
            <a:prstDash val="solid"/>
          </a:ln>
        </p:spPr>
      </p:sp>
      <p:sp>
        <p:nvSpPr>
          <p:cNvPr id="26" name="Shape 21"/>
          <p:cNvSpPr/>
          <p:nvPr/>
        </p:nvSpPr>
        <p:spPr>
          <a:xfrm>
            <a:off x="6236208" y="1508760"/>
            <a:ext cx="502920" cy="502920"/>
          </a:xfrm>
          <a:prstGeom prst="ellipse">
            <a:avLst/>
          </a:prstGeom>
          <a:solidFill>
            <a:srgbClr val="0E7C86">
              <a:alpha val="20000"/>
            </a:srgbClr>
          </a:solidFill>
          <a:ln w="12700">
            <a:solidFill>
              <a:srgbClr val="0E7C86">
                <a:alpha val="0"/>
              </a:srgbClr>
            </a:solidFill>
            <a:prstDash val="solid"/>
          </a:ln>
        </p:spPr>
      </p:sp>
      <p:pic>
        <p:nvPicPr>
          <p:cNvPr id="27" name="Image 2" descr="preencoded.png">    </p:cNvPr>
          <p:cNvPicPr>
            <a:picLocks noChangeAspect="1"/>
          </p:cNvPicPr>
          <p:nvPr/>
        </p:nvPicPr>
        <p:blipFill>
          <a:blip r:embed="rId3"/>
          <a:stretch>
            <a:fillRect/>
          </a:stretch>
        </p:blipFill>
        <p:spPr>
          <a:xfrm>
            <a:off x="6346850" y="1619402"/>
            <a:ext cx="281635" cy="281635"/>
          </a:xfrm>
          <a:prstGeom prst="rect">
            <a:avLst/>
          </a:prstGeom>
        </p:spPr>
      </p:pic>
      <p:sp>
        <p:nvSpPr>
          <p:cNvPr id="28" name="Text 22"/>
          <p:cNvSpPr txBox="1"/>
          <p:nvPr/>
        </p:nvSpPr>
        <p:spPr>
          <a:xfrm>
            <a:off x="6236208" y="2103120"/>
            <a:ext cx="2194560" cy="548640"/>
          </a:xfrm>
          <a:prstGeom prst="rect">
            <a:avLst/>
          </a:prstGeom>
          <a:noFill/>
          <a:ln/>
        </p:spPr>
        <p:txBody>
          <a:bodyPr wrap="square" lIns="0" tIns="0" rIns="0" bIns="0" rtlCol="0" anchor="ctr"/>
          <a:lstStyle/>
          <a:p>
            <a:pPr indent="0" marL="0">
              <a:buNone/>
            </a:pPr>
            <a:r>
              <a:rPr lang="en-US" sz="3400" b="1" dirty="0">
                <a:solidFill>
                  <a:srgbClr val="0E7C86"/>
                </a:solidFill>
                <a:latin typeface="Calibri" pitchFamily="34" charset="0"/>
                <a:ea typeface="Calibri" pitchFamily="34" charset="-122"/>
                <a:cs typeface="Calibri" pitchFamily="34" charset="-120"/>
              </a:rPr>
              <a:t>≈ 15 min</a:t>
            </a:r>
            <a:endParaRPr lang="en-US" sz="3400" dirty="0"/>
          </a:p>
        </p:txBody>
      </p:sp>
      <p:sp>
        <p:nvSpPr>
          <p:cNvPr id="29" name="Text 23"/>
          <p:cNvSpPr txBox="1"/>
          <p:nvPr/>
        </p:nvSpPr>
        <p:spPr>
          <a:xfrm>
            <a:off x="6236208" y="2670048"/>
            <a:ext cx="2194560" cy="73152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From project creation to the first VIIRS image in the notebook (workshop estimate).</a:t>
            </a:r>
            <a:endParaRPr lang="en-US" sz="1150" dirty="0"/>
          </a:p>
        </p:txBody>
      </p:sp>
      <p:sp>
        <p:nvSpPr>
          <p:cNvPr id="30" name="Shape 24"/>
          <p:cNvSpPr/>
          <p:nvPr/>
        </p:nvSpPr>
        <p:spPr>
          <a:xfrm>
            <a:off x="457200" y="3703320"/>
            <a:ext cx="8138160" cy="713232"/>
          </a:xfrm>
          <a:prstGeom prst="roundRect">
            <a:avLst>
              <a:gd name="adj" fmla="val 7692"/>
            </a:avLst>
          </a:prstGeom>
          <a:solidFill>
            <a:srgbClr val="D49A00">
              <a:alpha val="13000"/>
            </a:srgbClr>
          </a:solidFill>
          <a:ln w="12700">
            <a:solidFill>
              <a:srgbClr val="D49A00"/>
            </a:solidFill>
            <a:prstDash val="solid"/>
          </a:ln>
        </p:spPr>
      </p:sp>
      <p:pic>
        <p:nvPicPr>
          <p:cNvPr id="31" name="Image 3" descr="preencoded.png">    </p:cNvPr>
          <p:cNvPicPr>
            <a:picLocks noChangeAspect="1"/>
          </p:cNvPicPr>
          <p:nvPr/>
        </p:nvPicPr>
        <p:blipFill>
          <a:blip r:embed="rId4"/>
          <a:stretch>
            <a:fillRect/>
          </a:stretch>
        </p:blipFill>
        <p:spPr>
          <a:xfrm>
            <a:off x="594360" y="3922776"/>
            <a:ext cx="274320" cy="274320"/>
          </a:xfrm>
          <a:prstGeom prst="rect">
            <a:avLst/>
          </a:prstGeom>
        </p:spPr>
      </p:pic>
      <p:sp>
        <p:nvSpPr>
          <p:cNvPr id="32" name="Text 25"/>
          <p:cNvSpPr txBox="1"/>
          <p:nvPr/>
        </p:nvSpPr>
        <p:spPr>
          <a:xfrm>
            <a:off x="1005840" y="3749040"/>
            <a:ext cx="7452360" cy="62179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Operational use: </a:t>
            </a:r>
            <a:pPr indent="0" marL="0">
              <a:buNone/>
            </a:pPr>
            <a:r>
              <a:rPr lang="en-US" sz="1100" dirty="0">
                <a:solidFill>
                  <a:srgbClr val="231F20"/>
                </a:solidFill>
                <a:latin typeface="Calibri" pitchFamily="34" charset="0"/>
                <a:ea typeface="Calibri" pitchFamily="34" charset="-122"/>
                <a:cs typeface="Calibri" pitchFamily="34" charset="-120"/>
              </a:rPr>
              <a:t>Google classes training and research as noncommercial, but steers any government agency using Earth Engine for operational purposes to the paid offer. Training staff this week: free. Producing the official indicator every month: to be clarified with Google.</a:t>
            </a:r>
            <a:endParaRPr lang="en-US" sz="1100" dirty="0"/>
          </a:p>
        </p:txBody>
      </p:sp>
      <p:sp>
        <p:nvSpPr>
          <p:cNvPr id="33" name="Text 26"/>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Google Earth Engine — Transition to Cloud projects; Noncommercial use (earthengine.google.com/noncommercial).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00 · BEFORE YOU START</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Five steps, in this order</a:t>
            </a:r>
            <a:endParaRPr lang="en-US" sz="2500" dirty="0"/>
          </a:p>
        </p:txBody>
      </p:sp>
      <p:sp>
        <p:nvSpPr>
          <p:cNvPr id="8" name="Shape 6"/>
          <p:cNvSpPr/>
          <p:nvPr/>
        </p:nvSpPr>
        <p:spPr>
          <a:xfrm>
            <a:off x="8156448" y="301752"/>
            <a:ext cx="100584" cy="100584"/>
          </a:xfrm>
          <a:prstGeom prst="ellipse">
            <a:avLst/>
          </a:prstGeom>
          <a:solidFill>
            <a:srgbClr val="00A86A"/>
          </a:solidFill>
          <a:ln w="12700">
            <a:solidFill>
              <a:srgbClr val="00A86A"/>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5" name="Shape 12"/>
          <p:cNvSpPr/>
          <p:nvPr/>
        </p:nvSpPr>
        <p:spPr>
          <a:xfrm>
            <a:off x="850392" y="1417320"/>
            <a:ext cx="731520" cy="731520"/>
          </a:xfrm>
          <a:prstGeom prst="ellipse">
            <a:avLst/>
          </a:prstGeom>
          <a:solidFill>
            <a:srgbClr val="00A86A"/>
          </a:solidFill>
          <a:ln w="12700">
            <a:solidFill>
              <a:srgbClr val="00A86A"/>
            </a:solidFill>
            <a:prstDash val="solid"/>
          </a:ln>
        </p:spPr>
      </p:sp>
      <p:pic>
        <p:nvPicPr>
          <p:cNvPr id="16" name="Image 0" descr="preencoded.png">    </p:cNvPr>
          <p:cNvPicPr>
            <a:picLocks noChangeAspect="1"/>
          </p:cNvPicPr>
          <p:nvPr/>
        </p:nvPicPr>
        <p:blipFill>
          <a:blip r:embed="rId1"/>
          <a:stretch>
            <a:fillRect/>
          </a:stretch>
        </p:blipFill>
        <p:spPr>
          <a:xfrm>
            <a:off x="1033272" y="1600200"/>
            <a:ext cx="365760" cy="365760"/>
          </a:xfrm>
          <a:prstGeom prst="rect">
            <a:avLst/>
          </a:prstGeom>
        </p:spPr>
      </p:pic>
      <p:sp>
        <p:nvSpPr>
          <p:cNvPr id="17" name="Shape 13"/>
          <p:cNvSpPr/>
          <p:nvPr/>
        </p:nvSpPr>
        <p:spPr>
          <a:xfrm>
            <a:off x="1444752" y="1325880"/>
            <a:ext cx="274320" cy="274320"/>
          </a:xfrm>
          <a:prstGeom prst="ellipse">
            <a:avLst/>
          </a:prstGeom>
          <a:solidFill>
            <a:srgbClr val="F5C242"/>
          </a:solidFill>
          <a:ln w="19050">
            <a:solidFill>
              <a:srgbClr val="FFFFFF"/>
            </a:solidFill>
            <a:prstDash val="solid"/>
          </a:ln>
        </p:spPr>
      </p:sp>
      <p:sp>
        <p:nvSpPr>
          <p:cNvPr id="18" name="Text 14"/>
          <p:cNvSpPr txBox="1"/>
          <p:nvPr/>
        </p:nvSpPr>
        <p:spPr>
          <a:xfrm>
            <a:off x="144475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a:t>
            </a:r>
            <a:endParaRPr lang="en-US" sz="1080" dirty="0"/>
          </a:p>
        </p:txBody>
      </p:sp>
      <p:sp>
        <p:nvSpPr>
          <p:cNvPr id="19" name="Text 15"/>
          <p:cNvSpPr txBox="1"/>
          <p:nvPr/>
        </p:nvSpPr>
        <p:spPr>
          <a:xfrm>
            <a:off x="45720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Google account</a:t>
            </a:r>
            <a:endParaRPr lang="en-US" sz="1400" dirty="0"/>
          </a:p>
        </p:txBody>
      </p:sp>
      <p:sp>
        <p:nvSpPr>
          <p:cNvPr id="20" name="Text 16"/>
          <p:cNvSpPr txBox="1"/>
          <p:nvPr/>
        </p:nvSpPr>
        <p:spPr>
          <a:xfrm>
            <a:off x="45720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the same everywhere</a:t>
            </a:r>
            <a:endParaRPr lang="en-US" sz="1100" dirty="0"/>
          </a:p>
        </p:txBody>
      </p:sp>
      <p:sp>
        <p:nvSpPr>
          <p:cNvPr id="21" name="Shape 17"/>
          <p:cNvSpPr/>
          <p:nvPr/>
        </p:nvSpPr>
        <p:spPr>
          <a:xfrm>
            <a:off x="475488" y="3017520"/>
            <a:ext cx="1481328" cy="566928"/>
          </a:xfrm>
          <a:prstGeom prst="roundRect">
            <a:avLst>
              <a:gd name="adj" fmla="val 12903"/>
            </a:avLst>
          </a:prstGeom>
          <a:solidFill>
            <a:srgbClr val="E8F5EF"/>
          </a:solidFill>
          <a:ln w="12700">
            <a:solidFill>
              <a:srgbClr val="00A86A"/>
            </a:solidFill>
            <a:prstDash val="solid"/>
          </a:ln>
        </p:spPr>
      </p:sp>
      <p:sp>
        <p:nvSpPr>
          <p:cNvPr id="22" name="Text 18"/>
          <p:cNvSpPr txBox="1"/>
          <p:nvPr/>
        </p:nvSpPr>
        <p:spPr>
          <a:xfrm>
            <a:off x="53035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accounts.google.com</a:t>
            </a:r>
            <a:endParaRPr lang="en-US" sz="750" dirty="0"/>
          </a:p>
        </p:txBody>
      </p:sp>
      <p:sp>
        <p:nvSpPr>
          <p:cNvPr id="23" name="Shape 19"/>
          <p:cNvSpPr/>
          <p:nvPr/>
        </p:nvSpPr>
        <p:spPr>
          <a:xfrm>
            <a:off x="1682496" y="1783080"/>
            <a:ext cx="530352" cy="0"/>
          </a:xfrm>
          <a:prstGeom prst="line">
            <a:avLst/>
          </a:prstGeom>
          <a:noFill/>
          <a:ln w="15875">
            <a:solidFill>
              <a:srgbClr val="5E6964"/>
            </a:solidFill>
            <a:prstDash val="solid"/>
            <a:tailEnd type="triangle"/>
          </a:ln>
        </p:spPr>
      </p:sp>
      <p:sp>
        <p:nvSpPr>
          <p:cNvPr id="24" name="Shape 20"/>
          <p:cNvSpPr/>
          <p:nvPr/>
        </p:nvSpPr>
        <p:spPr>
          <a:xfrm>
            <a:off x="2496312" y="1417320"/>
            <a:ext cx="731520" cy="731520"/>
          </a:xfrm>
          <a:prstGeom prst="ellipse">
            <a:avLst/>
          </a:prstGeom>
          <a:solidFill>
            <a:srgbClr val="00704A"/>
          </a:solidFill>
          <a:ln w="12700">
            <a:solidFill>
              <a:srgbClr val="00704A"/>
            </a:solidFill>
            <a:prstDash val="solid"/>
          </a:ln>
        </p:spPr>
      </p:sp>
      <p:pic>
        <p:nvPicPr>
          <p:cNvPr id="25" name="Image 1" descr="preencoded.png">    </p:cNvPr>
          <p:cNvPicPr>
            <a:picLocks noChangeAspect="1"/>
          </p:cNvPicPr>
          <p:nvPr/>
        </p:nvPicPr>
        <p:blipFill>
          <a:blip r:embed="rId2"/>
          <a:stretch>
            <a:fillRect/>
          </a:stretch>
        </p:blipFill>
        <p:spPr>
          <a:xfrm>
            <a:off x="2679192" y="1600200"/>
            <a:ext cx="365760" cy="365760"/>
          </a:xfrm>
          <a:prstGeom prst="rect">
            <a:avLst/>
          </a:prstGeom>
        </p:spPr>
      </p:pic>
      <p:sp>
        <p:nvSpPr>
          <p:cNvPr id="26" name="Shape 21"/>
          <p:cNvSpPr/>
          <p:nvPr/>
        </p:nvSpPr>
        <p:spPr>
          <a:xfrm>
            <a:off x="3090672" y="1325880"/>
            <a:ext cx="274320" cy="274320"/>
          </a:xfrm>
          <a:prstGeom prst="ellipse">
            <a:avLst/>
          </a:prstGeom>
          <a:solidFill>
            <a:srgbClr val="F5C242"/>
          </a:solidFill>
          <a:ln w="19050">
            <a:solidFill>
              <a:srgbClr val="FFFFFF"/>
            </a:solidFill>
            <a:prstDash val="solid"/>
          </a:ln>
        </p:spPr>
      </p:sp>
      <p:sp>
        <p:nvSpPr>
          <p:cNvPr id="27" name="Text 22"/>
          <p:cNvSpPr txBox="1"/>
          <p:nvPr/>
        </p:nvSpPr>
        <p:spPr>
          <a:xfrm>
            <a:off x="309067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2</a:t>
            </a:r>
            <a:endParaRPr lang="en-US" sz="1080" dirty="0"/>
          </a:p>
        </p:txBody>
      </p:sp>
      <p:sp>
        <p:nvSpPr>
          <p:cNvPr id="28" name="Text 23"/>
          <p:cNvSpPr txBox="1"/>
          <p:nvPr/>
        </p:nvSpPr>
        <p:spPr>
          <a:xfrm>
            <a:off x="210312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Create the project</a:t>
            </a:r>
            <a:endParaRPr lang="en-US" sz="1400" dirty="0"/>
          </a:p>
        </p:txBody>
      </p:sp>
      <p:sp>
        <p:nvSpPr>
          <p:cNvPr id="29" name="Text 24"/>
          <p:cNvSpPr txBox="1"/>
          <p:nvPr/>
        </p:nvSpPr>
        <p:spPr>
          <a:xfrm>
            <a:off x="210312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registration page</a:t>
            </a:r>
            <a:endParaRPr lang="en-US" sz="1100" dirty="0"/>
          </a:p>
        </p:txBody>
      </p:sp>
      <p:sp>
        <p:nvSpPr>
          <p:cNvPr id="30" name="Shape 25"/>
          <p:cNvSpPr/>
          <p:nvPr/>
        </p:nvSpPr>
        <p:spPr>
          <a:xfrm>
            <a:off x="2121408" y="3017520"/>
            <a:ext cx="1481328" cy="566928"/>
          </a:xfrm>
          <a:prstGeom prst="roundRect">
            <a:avLst>
              <a:gd name="adj" fmla="val 12903"/>
            </a:avLst>
          </a:prstGeom>
          <a:solidFill>
            <a:srgbClr val="E8F5EF"/>
          </a:solidFill>
          <a:ln w="12700">
            <a:solidFill>
              <a:srgbClr val="00704A"/>
            </a:solidFill>
            <a:prstDash val="solid"/>
          </a:ln>
        </p:spPr>
      </p:sp>
      <p:sp>
        <p:nvSpPr>
          <p:cNvPr id="31" name="Text 26"/>
          <p:cNvSpPr txBox="1"/>
          <p:nvPr/>
        </p:nvSpPr>
        <p:spPr>
          <a:xfrm>
            <a:off x="217627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console.cloud.google.com/earth-engine</a:t>
            </a:r>
            <a:endParaRPr lang="en-US" sz="750" dirty="0"/>
          </a:p>
        </p:txBody>
      </p:sp>
      <p:sp>
        <p:nvSpPr>
          <p:cNvPr id="32" name="Shape 27"/>
          <p:cNvSpPr/>
          <p:nvPr/>
        </p:nvSpPr>
        <p:spPr>
          <a:xfrm>
            <a:off x="3328416" y="1783080"/>
            <a:ext cx="530352" cy="0"/>
          </a:xfrm>
          <a:prstGeom prst="line">
            <a:avLst/>
          </a:prstGeom>
          <a:noFill/>
          <a:ln w="15875">
            <a:solidFill>
              <a:srgbClr val="5E6964"/>
            </a:solidFill>
            <a:prstDash val="solid"/>
            <a:tailEnd type="triangle"/>
          </a:ln>
        </p:spPr>
      </p:sp>
      <p:sp>
        <p:nvSpPr>
          <p:cNvPr id="33" name="Shape 28"/>
          <p:cNvSpPr/>
          <p:nvPr/>
        </p:nvSpPr>
        <p:spPr>
          <a:xfrm>
            <a:off x="4142232" y="1417320"/>
            <a:ext cx="731520" cy="731520"/>
          </a:xfrm>
          <a:prstGeom prst="ellipse">
            <a:avLst/>
          </a:prstGeom>
          <a:solidFill>
            <a:srgbClr val="0E7C86"/>
          </a:solidFill>
          <a:ln w="12700">
            <a:solidFill>
              <a:srgbClr val="0E7C86"/>
            </a:solidFill>
            <a:prstDash val="solid"/>
          </a:ln>
        </p:spPr>
      </p:sp>
      <p:pic>
        <p:nvPicPr>
          <p:cNvPr id="34" name="Image 2" descr="preencoded.png">    </p:cNvPr>
          <p:cNvPicPr>
            <a:picLocks noChangeAspect="1"/>
          </p:cNvPicPr>
          <p:nvPr/>
        </p:nvPicPr>
        <p:blipFill>
          <a:blip r:embed="rId3"/>
          <a:stretch>
            <a:fillRect/>
          </a:stretch>
        </p:blipFill>
        <p:spPr>
          <a:xfrm>
            <a:off x="4325112" y="1600200"/>
            <a:ext cx="365760" cy="365760"/>
          </a:xfrm>
          <a:prstGeom prst="rect">
            <a:avLst/>
          </a:prstGeom>
        </p:spPr>
      </p:pic>
      <p:sp>
        <p:nvSpPr>
          <p:cNvPr id="35" name="Shape 29"/>
          <p:cNvSpPr/>
          <p:nvPr/>
        </p:nvSpPr>
        <p:spPr>
          <a:xfrm>
            <a:off x="4736592" y="1325880"/>
            <a:ext cx="274320" cy="274320"/>
          </a:xfrm>
          <a:prstGeom prst="ellipse">
            <a:avLst/>
          </a:prstGeom>
          <a:solidFill>
            <a:srgbClr val="F5C242"/>
          </a:solidFill>
          <a:ln w="19050">
            <a:solidFill>
              <a:srgbClr val="FFFFFF"/>
            </a:solidFill>
            <a:prstDash val="solid"/>
          </a:ln>
        </p:spPr>
      </p:sp>
      <p:sp>
        <p:nvSpPr>
          <p:cNvPr id="36" name="Text 30"/>
          <p:cNvSpPr txBox="1"/>
          <p:nvPr/>
        </p:nvSpPr>
        <p:spPr>
          <a:xfrm>
            <a:off x="473659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3</a:t>
            </a:r>
            <a:endParaRPr lang="en-US" sz="1080" dirty="0"/>
          </a:p>
        </p:txBody>
      </p:sp>
      <p:sp>
        <p:nvSpPr>
          <p:cNvPr id="37" name="Text 31"/>
          <p:cNvSpPr txBox="1"/>
          <p:nvPr/>
        </p:nvSpPr>
        <p:spPr>
          <a:xfrm>
            <a:off x="374904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Declare the use</a:t>
            </a:r>
            <a:endParaRPr lang="en-US" sz="1400" dirty="0"/>
          </a:p>
        </p:txBody>
      </p:sp>
      <p:sp>
        <p:nvSpPr>
          <p:cNvPr id="38" name="Text 32"/>
          <p:cNvSpPr txBox="1"/>
          <p:nvPr/>
        </p:nvSpPr>
        <p:spPr>
          <a:xfrm>
            <a:off x="374904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noncommercial + tier</a:t>
            </a:r>
            <a:endParaRPr lang="en-US" sz="1100" dirty="0"/>
          </a:p>
        </p:txBody>
      </p:sp>
      <p:sp>
        <p:nvSpPr>
          <p:cNvPr id="39" name="Shape 33"/>
          <p:cNvSpPr/>
          <p:nvPr/>
        </p:nvSpPr>
        <p:spPr>
          <a:xfrm>
            <a:off x="3767328" y="3017520"/>
            <a:ext cx="1481328" cy="566928"/>
          </a:xfrm>
          <a:prstGeom prst="roundRect">
            <a:avLst>
              <a:gd name="adj" fmla="val 12903"/>
            </a:avLst>
          </a:prstGeom>
          <a:solidFill>
            <a:srgbClr val="E8F5EF"/>
          </a:solidFill>
          <a:ln w="12700">
            <a:solidFill>
              <a:srgbClr val="0E7C86"/>
            </a:solidFill>
            <a:prstDash val="solid"/>
          </a:ln>
        </p:spPr>
      </p:sp>
      <p:sp>
        <p:nvSpPr>
          <p:cNvPr id="40" name="Text 34"/>
          <p:cNvSpPr txBox="1"/>
          <p:nvPr/>
        </p:nvSpPr>
        <p:spPr>
          <a:xfrm>
            <a:off x="382219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…/earth-engine/configuration</a:t>
            </a:r>
            <a:endParaRPr lang="en-US" sz="750" dirty="0"/>
          </a:p>
        </p:txBody>
      </p:sp>
      <p:sp>
        <p:nvSpPr>
          <p:cNvPr id="41" name="Shape 35"/>
          <p:cNvSpPr/>
          <p:nvPr/>
        </p:nvSpPr>
        <p:spPr>
          <a:xfrm>
            <a:off x="4974336" y="1783080"/>
            <a:ext cx="530352" cy="0"/>
          </a:xfrm>
          <a:prstGeom prst="line">
            <a:avLst/>
          </a:prstGeom>
          <a:noFill/>
          <a:ln w="15875">
            <a:solidFill>
              <a:srgbClr val="5E6964"/>
            </a:solidFill>
            <a:prstDash val="solid"/>
            <a:tailEnd type="triangle"/>
          </a:ln>
        </p:spPr>
      </p:sp>
      <p:sp>
        <p:nvSpPr>
          <p:cNvPr id="42" name="Shape 36"/>
          <p:cNvSpPr/>
          <p:nvPr/>
        </p:nvSpPr>
        <p:spPr>
          <a:xfrm>
            <a:off x="5788152" y="1417320"/>
            <a:ext cx="731520" cy="731520"/>
          </a:xfrm>
          <a:prstGeom prst="ellipse">
            <a:avLst/>
          </a:prstGeom>
          <a:solidFill>
            <a:srgbClr val="D49A00"/>
          </a:solidFill>
          <a:ln w="12700">
            <a:solidFill>
              <a:srgbClr val="D49A00"/>
            </a:solidFill>
            <a:prstDash val="solid"/>
          </a:ln>
        </p:spPr>
      </p:sp>
      <p:pic>
        <p:nvPicPr>
          <p:cNvPr id="43" name="Image 3" descr="preencoded.png">    </p:cNvPr>
          <p:cNvPicPr>
            <a:picLocks noChangeAspect="1"/>
          </p:cNvPicPr>
          <p:nvPr/>
        </p:nvPicPr>
        <p:blipFill>
          <a:blip r:embed="rId4"/>
          <a:stretch>
            <a:fillRect/>
          </a:stretch>
        </p:blipFill>
        <p:spPr>
          <a:xfrm>
            <a:off x="5971032" y="1600200"/>
            <a:ext cx="365760" cy="365760"/>
          </a:xfrm>
          <a:prstGeom prst="rect">
            <a:avLst/>
          </a:prstGeom>
        </p:spPr>
      </p:pic>
      <p:sp>
        <p:nvSpPr>
          <p:cNvPr id="44" name="Shape 37"/>
          <p:cNvSpPr/>
          <p:nvPr/>
        </p:nvSpPr>
        <p:spPr>
          <a:xfrm>
            <a:off x="6382512" y="1325880"/>
            <a:ext cx="274320" cy="274320"/>
          </a:xfrm>
          <a:prstGeom prst="ellipse">
            <a:avLst/>
          </a:prstGeom>
          <a:solidFill>
            <a:srgbClr val="F5C242"/>
          </a:solidFill>
          <a:ln w="19050">
            <a:solidFill>
              <a:srgbClr val="FFFFFF"/>
            </a:solidFill>
            <a:prstDash val="solid"/>
          </a:ln>
        </p:spPr>
      </p:sp>
      <p:sp>
        <p:nvSpPr>
          <p:cNvPr id="45" name="Text 38"/>
          <p:cNvSpPr txBox="1"/>
          <p:nvPr/>
        </p:nvSpPr>
        <p:spPr>
          <a:xfrm>
            <a:off x="638251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4</a:t>
            </a:r>
            <a:endParaRPr lang="en-US" sz="1080" dirty="0"/>
          </a:p>
        </p:txBody>
      </p:sp>
      <p:sp>
        <p:nvSpPr>
          <p:cNvPr id="46" name="Text 39"/>
          <p:cNvSpPr txBox="1"/>
          <p:nvPr/>
        </p:nvSpPr>
        <p:spPr>
          <a:xfrm>
            <a:off x="539496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Check</a:t>
            </a:r>
            <a:endParaRPr lang="en-US" sz="1400" dirty="0"/>
          </a:p>
        </p:txBody>
      </p:sp>
      <p:sp>
        <p:nvSpPr>
          <p:cNvPr id="47" name="Text 40"/>
          <p:cNvSpPr txBox="1"/>
          <p:nvPr/>
        </p:nvSpPr>
        <p:spPr>
          <a:xfrm>
            <a:off x="539496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ID, API, configuration</a:t>
            </a:r>
            <a:endParaRPr lang="en-US" sz="1100" dirty="0"/>
          </a:p>
        </p:txBody>
      </p:sp>
      <p:sp>
        <p:nvSpPr>
          <p:cNvPr id="48" name="Shape 41"/>
          <p:cNvSpPr/>
          <p:nvPr/>
        </p:nvSpPr>
        <p:spPr>
          <a:xfrm>
            <a:off x="5413248" y="3017520"/>
            <a:ext cx="1481328" cy="566928"/>
          </a:xfrm>
          <a:prstGeom prst="roundRect">
            <a:avLst>
              <a:gd name="adj" fmla="val 12903"/>
            </a:avLst>
          </a:prstGeom>
          <a:solidFill>
            <a:srgbClr val="E8F5EF"/>
          </a:solidFill>
          <a:ln w="12700">
            <a:solidFill>
              <a:srgbClr val="D49A00"/>
            </a:solidFill>
            <a:prstDash val="solid"/>
          </a:ln>
        </p:spPr>
      </p:sp>
      <p:sp>
        <p:nvSpPr>
          <p:cNvPr id="49" name="Text 42"/>
          <p:cNvSpPr txBox="1"/>
          <p:nvPr/>
        </p:nvSpPr>
        <p:spPr>
          <a:xfrm>
            <a:off x="546811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…/apis/library/earthengine…</a:t>
            </a:r>
            <a:endParaRPr lang="en-US" sz="750" dirty="0"/>
          </a:p>
        </p:txBody>
      </p:sp>
      <p:sp>
        <p:nvSpPr>
          <p:cNvPr id="50" name="Shape 43"/>
          <p:cNvSpPr/>
          <p:nvPr/>
        </p:nvSpPr>
        <p:spPr>
          <a:xfrm>
            <a:off x="6620256" y="1783080"/>
            <a:ext cx="530352" cy="0"/>
          </a:xfrm>
          <a:prstGeom prst="line">
            <a:avLst/>
          </a:prstGeom>
          <a:noFill/>
          <a:ln w="15875">
            <a:solidFill>
              <a:srgbClr val="5E6964"/>
            </a:solidFill>
            <a:prstDash val="solid"/>
            <a:tailEnd type="triangle"/>
          </a:ln>
        </p:spPr>
      </p:sp>
      <p:sp>
        <p:nvSpPr>
          <p:cNvPr id="51" name="Shape 44"/>
          <p:cNvSpPr/>
          <p:nvPr/>
        </p:nvSpPr>
        <p:spPr>
          <a:xfrm>
            <a:off x="7434072" y="1417320"/>
            <a:ext cx="731520" cy="731520"/>
          </a:xfrm>
          <a:prstGeom prst="ellipse">
            <a:avLst/>
          </a:prstGeom>
          <a:solidFill>
            <a:srgbClr val="C4621D"/>
          </a:solidFill>
          <a:ln w="12700">
            <a:solidFill>
              <a:srgbClr val="C4621D"/>
            </a:solidFill>
            <a:prstDash val="solid"/>
          </a:ln>
        </p:spPr>
      </p:sp>
      <p:pic>
        <p:nvPicPr>
          <p:cNvPr id="52" name="Image 4" descr="preencoded.png">    </p:cNvPr>
          <p:cNvPicPr>
            <a:picLocks noChangeAspect="1"/>
          </p:cNvPicPr>
          <p:nvPr/>
        </p:nvPicPr>
        <p:blipFill>
          <a:blip r:embed="rId5"/>
          <a:stretch>
            <a:fillRect/>
          </a:stretch>
        </p:blipFill>
        <p:spPr>
          <a:xfrm>
            <a:off x="7616952" y="1600200"/>
            <a:ext cx="365760" cy="365760"/>
          </a:xfrm>
          <a:prstGeom prst="rect">
            <a:avLst/>
          </a:prstGeom>
        </p:spPr>
      </p:pic>
      <p:sp>
        <p:nvSpPr>
          <p:cNvPr id="53" name="Shape 45"/>
          <p:cNvSpPr/>
          <p:nvPr/>
        </p:nvSpPr>
        <p:spPr>
          <a:xfrm>
            <a:off x="8028432" y="1325880"/>
            <a:ext cx="274320" cy="274320"/>
          </a:xfrm>
          <a:prstGeom prst="ellipse">
            <a:avLst/>
          </a:prstGeom>
          <a:solidFill>
            <a:srgbClr val="F5C242"/>
          </a:solidFill>
          <a:ln w="19050">
            <a:solidFill>
              <a:srgbClr val="FFFFFF"/>
            </a:solidFill>
            <a:prstDash val="solid"/>
          </a:ln>
        </p:spPr>
      </p:sp>
      <p:sp>
        <p:nvSpPr>
          <p:cNvPr id="54" name="Text 46"/>
          <p:cNvSpPr txBox="1"/>
          <p:nvPr/>
        </p:nvSpPr>
        <p:spPr>
          <a:xfrm>
            <a:off x="8028432" y="13258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5</a:t>
            </a:r>
            <a:endParaRPr lang="en-US" sz="1080" dirty="0"/>
          </a:p>
        </p:txBody>
      </p:sp>
      <p:sp>
        <p:nvSpPr>
          <p:cNvPr id="55" name="Text 47"/>
          <p:cNvSpPr txBox="1"/>
          <p:nvPr/>
        </p:nvSpPr>
        <p:spPr>
          <a:xfrm>
            <a:off x="7040880" y="2286000"/>
            <a:ext cx="1517904" cy="292608"/>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Connect</a:t>
            </a:r>
            <a:endParaRPr lang="en-US" sz="1400" dirty="0"/>
          </a:p>
        </p:txBody>
      </p:sp>
      <p:sp>
        <p:nvSpPr>
          <p:cNvPr id="56" name="Text 48"/>
          <p:cNvSpPr txBox="1"/>
          <p:nvPr/>
        </p:nvSpPr>
        <p:spPr>
          <a:xfrm>
            <a:off x="7040880" y="2560320"/>
            <a:ext cx="1517904" cy="274320"/>
          </a:xfrm>
          <a:prstGeom prst="rect">
            <a:avLst/>
          </a:prstGeom>
          <a:noFill/>
          <a:ln/>
        </p:spPr>
        <p:txBody>
          <a:bodyPr wrap="square" lIns="0" tIns="0" rIns="0" bIns="0" rtlCol="0" anchor="ctr"/>
          <a:lstStyle/>
          <a:p>
            <a:pPr algn="ctr" indent="0" marL="0">
              <a:buNone/>
            </a:pPr>
            <a:r>
              <a:rPr lang="en-US" sz="1100" dirty="0">
                <a:solidFill>
                  <a:srgbClr val="5E6964"/>
                </a:solidFill>
                <a:latin typeface="Calibri" pitchFamily="34" charset="0"/>
                <a:ea typeface="Calibri" pitchFamily="34" charset="-122"/>
                <a:cs typeface="Calibri" pitchFamily="34" charset="-120"/>
              </a:rPr>
              <a:t>the notebook</a:t>
            </a:r>
            <a:endParaRPr lang="en-US" sz="1100" dirty="0"/>
          </a:p>
        </p:txBody>
      </p:sp>
      <p:sp>
        <p:nvSpPr>
          <p:cNvPr id="57" name="Shape 49"/>
          <p:cNvSpPr/>
          <p:nvPr/>
        </p:nvSpPr>
        <p:spPr>
          <a:xfrm>
            <a:off x="7059168" y="3017520"/>
            <a:ext cx="1481328" cy="566928"/>
          </a:xfrm>
          <a:prstGeom prst="roundRect">
            <a:avLst>
              <a:gd name="adj" fmla="val 12903"/>
            </a:avLst>
          </a:prstGeom>
          <a:solidFill>
            <a:srgbClr val="E8F5EF"/>
          </a:solidFill>
          <a:ln w="12700">
            <a:solidFill>
              <a:srgbClr val="C4621D"/>
            </a:solidFill>
            <a:prstDash val="solid"/>
          </a:ln>
        </p:spPr>
      </p:sp>
      <p:sp>
        <p:nvSpPr>
          <p:cNvPr id="58" name="Text 50"/>
          <p:cNvSpPr txBox="1"/>
          <p:nvPr/>
        </p:nvSpPr>
        <p:spPr>
          <a:xfrm>
            <a:off x="7114032" y="3017520"/>
            <a:ext cx="1371600" cy="566928"/>
          </a:xfrm>
          <a:prstGeom prst="rect">
            <a:avLst/>
          </a:prstGeom>
          <a:noFill/>
          <a:ln/>
        </p:spPr>
        <p:txBody>
          <a:bodyPr wrap="square" lIns="0" tIns="0" rIns="0" bIns="0" rtlCol="0" anchor="ctr"/>
          <a:lstStyle/>
          <a:p>
            <a:pPr algn="ctr" indent="0" marL="0">
              <a:buNone/>
            </a:pPr>
            <a:r>
              <a:rPr lang="en-US" sz="750" dirty="0">
                <a:solidFill>
                  <a:srgbClr val="231F20"/>
                </a:solidFill>
                <a:latin typeface="Courier New" pitchFamily="34" charset="0"/>
                <a:ea typeface="Courier New" pitchFamily="34" charset="-122"/>
                <a:cs typeface="Courier New" pitchFamily="34" charset="-120"/>
              </a:rPr>
              <a:t>Colab · Kaggle · Jupyter</a:t>
            </a:r>
            <a:endParaRPr lang="en-US" sz="750" dirty="0"/>
          </a:p>
        </p:txBody>
      </p:sp>
      <p:sp>
        <p:nvSpPr>
          <p:cNvPr id="59" name="Text 51"/>
          <p:cNvSpPr txBox="1"/>
          <p:nvPr/>
        </p:nvSpPr>
        <p:spPr>
          <a:xfrm>
            <a:off x="457200" y="3840480"/>
            <a:ext cx="8138160" cy="50292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Steps 2 and 3: </a:t>
            </a:r>
            <a:pPr indent="0" marL="0">
              <a:buNone/>
            </a:pPr>
            <a:r>
              <a:rPr lang="en-US" sz="1200" dirty="0">
                <a:solidFill>
                  <a:srgbClr val="231F20"/>
                </a:solidFill>
                <a:latin typeface="Calibri" pitchFamily="34" charset="0"/>
                <a:ea typeface="Calibri" pitchFamily="34" charset="-122"/>
                <a:cs typeface="Calibri" pitchFamily="34" charset="-120"/>
              </a:rPr>
              <a:t>a single visit to the registration page is enough — it creates the project, enables the Earth Engine API and registers the use in one flow.</a:t>
            </a:r>
            <a:endParaRPr lang="en-US" sz="1200" dirty="0"/>
          </a:p>
        </p:txBody>
      </p:sp>
      <p:sp>
        <p:nvSpPr>
          <p:cNvPr id="60" name="Text 52"/>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Google Earth Engine — Earth Engine access (developers.google.com/earth-engine/guides/access).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14400"/>
            <a:ext cx="2743200" cy="1097280"/>
          </a:xfrm>
          <a:prstGeom prst="rect">
            <a:avLst/>
          </a:prstGeom>
          <a:noFill/>
          <a:ln/>
        </p:spPr>
        <p:txBody>
          <a:bodyPr wrap="square" lIns="0" tIns="0" rIns="0" bIns="0" rtlCol="0" anchor="ctr"/>
          <a:lstStyle/>
          <a:p>
            <a:pPr indent="0" marL="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3" name="Text 1"/>
          <p:cNvSpPr txBox="1"/>
          <p:nvPr/>
        </p:nvSpPr>
        <p:spPr>
          <a:xfrm>
            <a:off x="548640" y="2057400"/>
            <a:ext cx="54864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CREATE AND REGISTER</a:t>
            </a:r>
            <a:endParaRPr lang="en-US" sz="1100" dirty="0"/>
          </a:p>
        </p:txBody>
      </p:sp>
      <p:sp>
        <p:nvSpPr>
          <p:cNvPr id="4" name="Text 2"/>
          <p:cNvSpPr txBox="1"/>
          <p:nvPr/>
        </p:nvSpPr>
        <p:spPr>
          <a:xfrm>
            <a:off x="548640" y="2377440"/>
            <a:ext cx="5669280" cy="7315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Create and register the project</a:t>
            </a:r>
            <a:endParaRPr lang="en-US" sz="3200" dirty="0"/>
          </a:p>
        </p:txBody>
      </p:sp>
      <p:sp>
        <p:nvSpPr>
          <p:cNvPr id="5" name="Text 3"/>
          <p:cNvSpPr txBox="1"/>
          <p:nvPr/>
        </p:nvSpPr>
        <p:spPr>
          <a:xfrm>
            <a:off x="548640" y="3154680"/>
            <a:ext cx="5669280" cy="5486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Which account to use, and where it all starts</a:t>
            </a:r>
            <a:endParaRPr lang="en-US" sz="1600" dirty="0"/>
          </a:p>
        </p:txBody>
      </p:sp>
      <p:sp>
        <p:nvSpPr>
          <p:cNvPr id="6" name="Shape 4"/>
          <p:cNvSpPr/>
          <p:nvPr/>
        </p:nvSpPr>
        <p:spPr>
          <a:xfrm>
            <a:off x="6492240" y="1417320"/>
            <a:ext cx="2011680" cy="2011680"/>
          </a:xfrm>
          <a:prstGeom prst="ellipse">
            <a:avLst/>
          </a:prstGeom>
          <a:solidFill>
            <a:srgbClr val="FFFFFF">
              <a:alpha val="10000"/>
            </a:srgbClr>
          </a:solidFill>
          <a:ln w="19050">
            <a:solidFill>
              <a:srgbClr val="FFFFFF">
                <a:alpha val="45000"/>
              </a:srgbClr>
            </a:solidFill>
            <a:prstDash val="solid"/>
          </a:ln>
        </p:spPr>
      </p:sp>
      <p:sp>
        <p:nvSpPr>
          <p:cNvPr id="7" name="Shape 5"/>
          <p:cNvSpPr/>
          <p:nvPr/>
        </p:nvSpPr>
        <p:spPr>
          <a:xfrm>
            <a:off x="6812280" y="1737360"/>
            <a:ext cx="1371600" cy="1371600"/>
          </a:xfrm>
          <a:prstGeom prst="ellipse">
            <a:avLst/>
          </a:prstGeom>
          <a:solidFill>
            <a:srgbClr val="FFFFFF">
              <a:alpha val="0"/>
            </a:srgbClr>
          </a:solidFill>
          <a:ln w="19050">
            <a:solidFill>
              <a:srgbClr val="FFFFFF">
                <a:alpha val="60000"/>
              </a:srgbClr>
            </a:solidFill>
            <a:prstDash val="solid"/>
          </a:ln>
        </p:spPr>
      </p:sp>
      <p:pic>
        <p:nvPicPr>
          <p:cNvPr id="8" name="Image 0" descr="preencoded.png">    </p:cNvPr>
          <p:cNvPicPr>
            <a:picLocks noChangeAspect="1"/>
          </p:cNvPicPr>
          <p:nvPr/>
        </p:nvPicPr>
        <p:blipFill>
          <a:blip r:embed="rId2"/>
          <a:stretch>
            <a:fillRect/>
          </a:stretch>
        </p:blipFill>
        <p:spPr>
          <a:xfrm>
            <a:off x="7178040" y="2103120"/>
            <a:ext cx="640080" cy="640080"/>
          </a:xfrm>
          <a:prstGeom prst="rect">
            <a:avLst/>
          </a:prstGeom>
        </p:spPr>
      </p:pic>
      <p:sp>
        <p:nvSpPr>
          <p:cNvPr id="9" name="Shape 6"/>
          <p:cNvSpPr/>
          <p:nvPr/>
        </p:nvSpPr>
        <p:spPr>
          <a:xfrm>
            <a:off x="566928" y="406908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804672" y="4069080"/>
            <a:ext cx="118872" cy="118872"/>
          </a:xfrm>
          <a:prstGeom prst="ellipse">
            <a:avLst/>
          </a:prstGeom>
          <a:solidFill>
            <a:srgbClr val="F5C242"/>
          </a:solidFill>
          <a:ln w="12700">
            <a:solidFill>
              <a:srgbClr val="FFFFFF">
                <a:alpha val="0"/>
              </a:srgbClr>
            </a:solidFill>
            <a:prstDash val="solid"/>
          </a:ln>
        </p:spPr>
      </p:sp>
      <p:sp>
        <p:nvSpPr>
          <p:cNvPr id="11" name="Shape 8"/>
          <p:cNvSpPr/>
          <p:nvPr/>
        </p:nvSpPr>
        <p:spPr>
          <a:xfrm>
            <a:off x="1042416" y="406908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80160" y="406908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CREATE AND REGISTER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Step 1 · One Google account, used everywhere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5" name="Shape 12"/>
          <p:cNvSpPr/>
          <p:nvPr/>
        </p:nvSpPr>
        <p:spPr>
          <a:xfrm>
            <a:off x="457200" y="1371600"/>
            <a:ext cx="8138160" cy="868680"/>
          </a:xfrm>
          <a:prstGeom prst="roundRect">
            <a:avLst>
              <a:gd name="adj" fmla="val 8421"/>
            </a:avLst>
          </a:prstGeom>
          <a:solidFill>
            <a:srgbClr val="F4F7F5"/>
          </a:solidFill>
          <a:ln w="9525">
            <a:solidFill>
              <a:srgbClr val="D5DED9"/>
            </a:solidFill>
            <a:prstDash val="solid"/>
          </a:ln>
        </p:spPr>
      </p:sp>
      <p:sp>
        <p:nvSpPr>
          <p:cNvPr id="16" name="Shape 13"/>
          <p:cNvSpPr/>
          <p:nvPr/>
        </p:nvSpPr>
        <p:spPr>
          <a:xfrm>
            <a:off x="658368" y="1536192"/>
            <a:ext cx="548640" cy="548640"/>
          </a:xfrm>
          <a:prstGeom prst="ellipse">
            <a:avLst/>
          </a:prstGeom>
          <a:solidFill>
            <a:srgbClr val="00A86A">
              <a:alpha val="20000"/>
            </a:srgbClr>
          </a:solidFill>
          <a:ln w="12700">
            <a:solidFill>
              <a:srgbClr val="00A86A">
                <a:alpha val="0"/>
              </a:srgbClr>
            </a:solidFill>
            <a:prstDash val="solid"/>
          </a:ln>
        </p:spPr>
      </p:sp>
      <p:pic>
        <p:nvPicPr>
          <p:cNvPr id="17" name="Image 0" descr="preencoded.png">    </p:cNvPr>
          <p:cNvPicPr>
            <a:picLocks noChangeAspect="1"/>
          </p:cNvPicPr>
          <p:nvPr/>
        </p:nvPicPr>
        <p:blipFill>
          <a:blip r:embed="rId1"/>
          <a:stretch>
            <a:fillRect/>
          </a:stretch>
        </p:blipFill>
        <p:spPr>
          <a:xfrm>
            <a:off x="779069" y="1656893"/>
            <a:ext cx="307238" cy="307238"/>
          </a:xfrm>
          <a:prstGeom prst="rect">
            <a:avLst/>
          </a:prstGeom>
        </p:spPr>
      </p:pic>
      <p:sp>
        <p:nvSpPr>
          <p:cNvPr id="18" name="Text 14"/>
          <p:cNvSpPr txBox="1"/>
          <p:nvPr/>
        </p:nvSpPr>
        <p:spPr>
          <a:xfrm>
            <a:off x="1417320" y="1499616"/>
            <a:ext cx="7040880" cy="292608"/>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One account per person</a:t>
            </a:r>
            <a:endParaRPr lang="en-US" sz="1500" dirty="0"/>
          </a:p>
        </p:txBody>
      </p:sp>
      <p:sp>
        <p:nvSpPr>
          <p:cNvPr id="19" name="Text 15"/>
          <p:cNvSpPr txBox="1"/>
          <p:nvPr/>
        </p:nvSpPr>
        <p:spPr>
          <a:xfrm>
            <a:off x="1417320" y="1792224"/>
            <a:ext cx="7040880" cy="384048"/>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Every participant who runs Earth Engine code needs their own Google identity (Gmail or Workspace).</a:t>
            </a:r>
            <a:endParaRPr lang="en-US" sz="1200" dirty="0"/>
          </a:p>
        </p:txBody>
      </p:sp>
      <p:sp>
        <p:nvSpPr>
          <p:cNvPr id="20" name="Shape 16"/>
          <p:cNvSpPr/>
          <p:nvPr/>
        </p:nvSpPr>
        <p:spPr>
          <a:xfrm>
            <a:off x="457200" y="2423160"/>
            <a:ext cx="8138160" cy="868680"/>
          </a:xfrm>
          <a:prstGeom prst="roundRect">
            <a:avLst>
              <a:gd name="adj" fmla="val 8421"/>
            </a:avLst>
          </a:prstGeom>
          <a:solidFill>
            <a:srgbClr val="F4F7F5"/>
          </a:solidFill>
          <a:ln w="9525">
            <a:solidFill>
              <a:srgbClr val="D5DED9"/>
            </a:solidFill>
            <a:prstDash val="solid"/>
          </a:ln>
        </p:spPr>
      </p:sp>
      <p:sp>
        <p:nvSpPr>
          <p:cNvPr id="21" name="Shape 17"/>
          <p:cNvSpPr/>
          <p:nvPr/>
        </p:nvSpPr>
        <p:spPr>
          <a:xfrm>
            <a:off x="658368" y="2587752"/>
            <a:ext cx="548640" cy="548640"/>
          </a:xfrm>
          <a:prstGeom prst="ellipse">
            <a:avLst/>
          </a:prstGeom>
          <a:solidFill>
            <a:srgbClr val="D49A00">
              <a:alpha val="20000"/>
            </a:srgbClr>
          </a:solidFill>
          <a:ln w="12700">
            <a:solidFill>
              <a:srgbClr val="D49A00">
                <a:alpha val="0"/>
              </a:srgbClr>
            </a:solidFill>
            <a:prstDash val="solid"/>
          </a:ln>
        </p:spPr>
      </p:sp>
      <p:pic>
        <p:nvPicPr>
          <p:cNvPr id="22" name="Image 1" descr="preencoded.png">    </p:cNvPr>
          <p:cNvPicPr>
            <a:picLocks noChangeAspect="1"/>
          </p:cNvPicPr>
          <p:nvPr/>
        </p:nvPicPr>
        <p:blipFill>
          <a:blip r:embed="rId2"/>
          <a:stretch>
            <a:fillRect/>
          </a:stretch>
        </p:blipFill>
        <p:spPr>
          <a:xfrm>
            <a:off x="779069" y="2708453"/>
            <a:ext cx="307238" cy="307238"/>
          </a:xfrm>
          <a:prstGeom prst="rect">
            <a:avLst/>
          </a:prstGeom>
        </p:spPr>
      </p:pic>
      <p:sp>
        <p:nvSpPr>
          <p:cNvPr id="23" name="Text 18"/>
          <p:cNvSpPr txBox="1"/>
          <p:nvPr/>
        </p:nvSpPr>
        <p:spPr>
          <a:xfrm>
            <a:off x="1417320" y="2551176"/>
            <a:ext cx="7040880" cy="292608"/>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The same account everywhere</a:t>
            </a:r>
            <a:endParaRPr lang="en-US" sz="1500" dirty="0"/>
          </a:p>
        </p:txBody>
      </p:sp>
      <p:sp>
        <p:nvSpPr>
          <p:cNvPr id="24" name="Text 19"/>
          <p:cNvSpPr txBox="1"/>
          <p:nvPr/>
        </p:nvSpPr>
        <p:spPr>
          <a:xfrm>
            <a:off x="1417320" y="2843784"/>
            <a:ext cx="7040880" cy="384048"/>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Cloud Console, Colab and the authorisation window: one and the same account. It is the number-one cause of failure in the room.</a:t>
            </a:r>
            <a:endParaRPr lang="en-US" sz="1200" dirty="0"/>
          </a:p>
        </p:txBody>
      </p:sp>
      <p:sp>
        <p:nvSpPr>
          <p:cNvPr id="25" name="Shape 20"/>
          <p:cNvSpPr/>
          <p:nvPr/>
        </p:nvSpPr>
        <p:spPr>
          <a:xfrm>
            <a:off x="457200" y="3474720"/>
            <a:ext cx="8138160" cy="868680"/>
          </a:xfrm>
          <a:prstGeom prst="roundRect">
            <a:avLst>
              <a:gd name="adj" fmla="val 8421"/>
            </a:avLst>
          </a:prstGeom>
          <a:solidFill>
            <a:srgbClr val="F4F7F5"/>
          </a:solidFill>
          <a:ln w="9525">
            <a:solidFill>
              <a:srgbClr val="D5DED9"/>
            </a:solidFill>
            <a:prstDash val="solid"/>
          </a:ln>
        </p:spPr>
      </p:sp>
      <p:sp>
        <p:nvSpPr>
          <p:cNvPr id="26" name="Shape 21"/>
          <p:cNvSpPr/>
          <p:nvPr/>
        </p:nvSpPr>
        <p:spPr>
          <a:xfrm>
            <a:off x="658368" y="3639312"/>
            <a:ext cx="548640" cy="548640"/>
          </a:xfrm>
          <a:prstGeom prst="ellipse">
            <a:avLst/>
          </a:prstGeom>
          <a:solidFill>
            <a:srgbClr val="00704A">
              <a:alpha val="20000"/>
            </a:srgbClr>
          </a:solidFill>
          <a:ln w="12700">
            <a:solidFill>
              <a:srgbClr val="00704A">
                <a:alpha val="0"/>
              </a:srgbClr>
            </a:solidFill>
            <a:prstDash val="solid"/>
          </a:ln>
        </p:spPr>
      </p:sp>
      <p:pic>
        <p:nvPicPr>
          <p:cNvPr id="27" name="Image 2" descr="preencoded.png">    </p:cNvPr>
          <p:cNvPicPr>
            <a:picLocks noChangeAspect="1"/>
          </p:cNvPicPr>
          <p:nvPr/>
        </p:nvPicPr>
        <p:blipFill>
          <a:blip r:embed="rId3"/>
          <a:stretch>
            <a:fillRect/>
          </a:stretch>
        </p:blipFill>
        <p:spPr>
          <a:xfrm>
            <a:off x="779069" y="3760013"/>
            <a:ext cx="307238" cy="307238"/>
          </a:xfrm>
          <a:prstGeom prst="rect">
            <a:avLst/>
          </a:prstGeom>
        </p:spPr>
      </p:pic>
      <p:sp>
        <p:nvSpPr>
          <p:cNvPr id="28" name="Text 22"/>
          <p:cNvSpPr txBox="1"/>
          <p:nvPr/>
        </p:nvSpPr>
        <p:spPr>
          <a:xfrm>
            <a:off x="1417320" y="3602736"/>
            <a:ext cx="7040880" cy="292608"/>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Institutional account?</a:t>
            </a:r>
            <a:endParaRPr lang="en-US" sz="1500" dirty="0"/>
          </a:p>
        </p:txBody>
      </p:sp>
      <p:sp>
        <p:nvSpPr>
          <p:cNvPr id="29" name="Text 23"/>
          <p:cNvSpPr txBox="1"/>
          <p:nvPr/>
        </p:nvSpPr>
        <p:spPr>
          <a:xfrm>
            <a:off x="1417320" y="3895344"/>
            <a:ext cx="7040880" cy="384048"/>
          </a:xfrm>
          <a:prstGeom prst="rect">
            <a:avLst/>
          </a:prstGeom>
          <a:noFill/>
          <a:ln/>
        </p:spPr>
        <p:txBody>
          <a:bodyPr wrap="square" lIns="0" tIns="0" rIns="0" bIns="0" rtlCol="0" anchor="t"/>
          <a:lstStyle/>
          <a:p>
            <a:pPr indent="0" marL="0">
              <a:buNone/>
            </a:pPr>
            <a:r>
              <a:rPr lang="en-US" sz="1200" dirty="0">
                <a:solidFill>
                  <a:srgbClr val="5E6964"/>
                </a:solidFill>
                <a:latin typeface="Calibri" pitchFamily="34" charset="0"/>
                <a:ea typeface="Calibri" pitchFamily="34" charset="-122"/>
                <a:cs typeface="Calibri" pitchFamily="34" charset="-120"/>
              </a:rPr>
              <a:t>Some organisations forbid creating Cloud projects. In that case, ask IT to create the project and add you to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CREATE AND REGISTER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Step 2 · Create the project from the registration page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5" name="Shape 12"/>
          <p:cNvSpPr/>
          <p:nvPr/>
        </p:nvSpPr>
        <p:spPr>
          <a:xfrm>
            <a:off x="457200" y="1316736"/>
            <a:ext cx="310896" cy="310896"/>
          </a:xfrm>
          <a:prstGeom prst="ellipse">
            <a:avLst/>
          </a:prstGeom>
          <a:solidFill>
            <a:srgbClr val="00704A"/>
          </a:solidFill>
          <a:ln w="19050">
            <a:solidFill>
              <a:srgbClr val="FFFFFF"/>
            </a:solidFill>
            <a:prstDash val="solid"/>
          </a:ln>
        </p:spPr>
      </p:sp>
      <p:sp>
        <p:nvSpPr>
          <p:cNvPr id="16" name="Text 13"/>
          <p:cNvSpPr txBox="1"/>
          <p:nvPr/>
        </p:nvSpPr>
        <p:spPr>
          <a:xfrm>
            <a:off x="457200" y="1316736"/>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1</a:t>
            </a:r>
            <a:endParaRPr lang="en-US" sz="1224" dirty="0"/>
          </a:p>
        </p:txBody>
      </p:sp>
      <p:sp>
        <p:nvSpPr>
          <p:cNvPr id="17" name="Text 14"/>
          <p:cNvSpPr txBox="1"/>
          <p:nvPr/>
        </p:nvSpPr>
        <p:spPr>
          <a:xfrm>
            <a:off x="914400" y="1298448"/>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Open the page</a:t>
            </a:r>
            <a:endParaRPr lang="en-US" sz="1350" dirty="0"/>
          </a:p>
        </p:txBody>
      </p:sp>
      <p:sp>
        <p:nvSpPr>
          <p:cNvPr id="18" name="Text 15"/>
          <p:cNvSpPr txBox="1"/>
          <p:nvPr/>
        </p:nvSpPr>
        <p:spPr>
          <a:xfrm>
            <a:off x="914400" y="1554480"/>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console.cloud.google.com/earth-engine — signed in with the right account.</a:t>
            </a:r>
            <a:endParaRPr lang="en-US" sz="1050" dirty="0"/>
          </a:p>
        </p:txBody>
      </p:sp>
      <p:sp>
        <p:nvSpPr>
          <p:cNvPr id="19" name="Shape 16"/>
          <p:cNvSpPr/>
          <p:nvPr/>
        </p:nvSpPr>
        <p:spPr>
          <a:xfrm>
            <a:off x="457200" y="2084832"/>
            <a:ext cx="310896" cy="310896"/>
          </a:xfrm>
          <a:prstGeom prst="ellipse">
            <a:avLst/>
          </a:prstGeom>
          <a:solidFill>
            <a:srgbClr val="00704A"/>
          </a:solidFill>
          <a:ln w="19050">
            <a:solidFill>
              <a:srgbClr val="FFFFFF"/>
            </a:solidFill>
            <a:prstDash val="solid"/>
          </a:ln>
        </p:spPr>
      </p:sp>
      <p:sp>
        <p:nvSpPr>
          <p:cNvPr id="20" name="Text 17"/>
          <p:cNvSpPr txBox="1"/>
          <p:nvPr/>
        </p:nvSpPr>
        <p:spPr>
          <a:xfrm>
            <a:off x="457200" y="2084832"/>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2</a:t>
            </a:r>
            <a:endParaRPr lang="en-US" sz="1224" dirty="0"/>
          </a:p>
        </p:txBody>
      </p:sp>
      <p:sp>
        <p:nvSpPr>
          <p:cNvPr id="21" name="Text 18"/>
          <p:cNvSpPr txBox="1"/>
          <p:nvPr/>
        </p:nvSpPr>
        <p:spPr>
          <a:xfrm>
            <a:off x="914400" y="2066544"/>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Create or choose</a:t>
            </a:r>
            <a:endParaRPr lang="en-US" sz="1350" dirty="0"/>
          </a:p>
        </p:txBody>
      </p:sp>
      <p:sp>
        <p:nvSpPr>
          <p:cNvPr id="22" name="Text 19"/>
          <p:cNvSpPr txBox="1"/>
          <p:nvPr/>
        </p:nvSpPr>
        <p:spPr>
          <a:xfrm>
            <a:off x="914400" y="2322576"/>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“Create a project”, or attach an existing one.</a:t>
            </a:r>
            <a:endParaRPr lang="en-US" sz="1050" dirty="0"/>
          </a:p>
        </p:txBody>
      </p:sp>
      <p:sp>
        <p:nvSpPr>
          <p:cNvPr id="23" name="Shape 20"/>
          <p:cNvSpPr/>
          <p:nvPr/>
        </p:nvSpPr>
        <p:spPr>
          <a:xfrm>
            <a:off x="457200" y="2852928"/>
            <a:ext cx="310896" cy="310896"/>
          </a:xfrm>
          <a:prstGeom prst="ellipse">
            <a:avLst/>
          </a:prstGeom>
          <a:solidFill>
            <a:srgbClr val="00704A"/>
          </a:solidFill>
          <a:ln w="19050">
            <a:solidFill>
              <a:srgbClr val="FFFFFF"/>
            </a:solidFill>
            <a:prstDash val="solid"/>
          </a:ln>
        </p:spPr>
      </p:sp>
      <p:sp>
        <p:nvSpPr>
          <p:cNvPr id="24" name="Text 21"/>
          <p:cNvSpPr txBox="1"/>
          <p:nvPr/>
        </p:nvSpPr>
        <p:spPr>
          <a:xfrm>
            <a:off x="457200" y="2852928"/>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3</a:t>
            </a:r>
            <a:endParaRPr lang="en-US" sz="1224" dirty="0"/>
          </a:p>
        </p:txBody>
      </p:sp>
      <p:sp>
        <p:nvSpPr>
          <p:cNvPr id="25" name="Text 22"/>
          <p:cNvSpPr txBox="1"/>
          <p:nvPr/>
        </p:nvSpPr>
        <p:spPr>
          <a:xfrm>
            <a:off x="914400" y="2834640"/>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Name it</a:t>
            </a:r>
            <a:endParaRPr lang="en-US" sz="1350" dirty="0"/>
          </a:p>
        </p:txBody>
      </p:sp>
      <p:sp>
        <p:nvSpPr>
          <p:cNvPr id="26" name="Text 23"/>
          <p:cNvSpPr txBox="1"/>
          <p:nvPr/>
        </p:nvSpPr>
        <p:spPr>
          <a:xfrm>
            <a:off x="914400" y="3090672"/>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Free-form name; Google derives a unique, permanent ID. E.g. ntl-stg17 (a suffix is added if taken).</a:t>
            </a:r>
            <a:endParaRPr lang="en-US" sz="1050" dirty="0"/>
          </a:p>
        </p:txBody>
      </p:sp>
      <p:sp>
        <p:nvSpPr>
          <p:cNvPr id="27" name="Shape 24"/>
          <p:cNvSpPr/>
          <p:nvPr/>
        </p:nvSpPr>
        <p:spPr>
          <a:xfrm>
            <a:off x="457200" y="3621024"/>
            <a:ext cx="310896" cy="310896"/>
          </a:xfrm>
          <a:prstGeom prst="ellipse">
            <a:avLst/>
          </a:prstGeom>
          <a:solidFill>
            <a:srgbClr val="00704A"/>
          </a:solidFill>
          <a:ln w="19050">
            <a:solidFill>
              <a:srgbClr val="FFFFFF"/>
            </a:solidFill>
            <a:prstDash val="solid"/>
          </a:ln>
        </p:spPr>
      </p:sp>
      <p:sp>
        <p:nvSpPr>
          <p:cNvPr id="28" name="Text 25"/>
          <p:cNvSpPr txBox="1"/>
          <p:nvPr/>
        </p:nvSpPr>
        <p:spPr>
          <a:xfrm>
            <a:off x="457200" y="3621024"/>
            <a:ext cx="310896" cy="310896"/>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4</a:t>
            </a:r>
            <a:endParaRPr lang="en-US" sz="1224" dirty="0"/>
          </a:p>
        </p:txBody>
      </p:sp>
      <p:sp>
        <p:nvSpPr>
          <p:cNvPr id="29" name="Text 26"/>
          <p:cNvSpPr txBox="1"/>
          <p:nvPr/>
        </p:nvSpPr>
        <p:spPr>
          <a:xfrm>
            <a:off x="914400" y="3602736"/>
            <a:ext cx="3108960" cy="256032"/>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Confirm</a:t>
            </a:r>
            <a:endParaRPr lang="en-US" sz="1350" dirty="0"/>
          </a:p>
        </p:txBody>
      </p:sp>
      <p:sp>
        <p:nvSpPr>
          <p:cNvPr id="30" name="Text 27"/>
          <p:cNvSpPr txBox="1"/>
          <p:nvPr/>
        </p:nvSpPr>
        <p:spPr>
          <a:xfrm>
            <a:off x="914400" y="3858768"/>
            <a:ext cx="310896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flow enables the Earth Engine API and moves on to the use declaration.</a:t>
            </a:r>
            <a:endParaRPr lang="en-US" sz="1050" dirty="0"/>
          </a:p>
        </p:txBody>
      </p:sp>
      <p:sp>
        <p:nvSpPr>
          <p:cNvPr id="31" name="Shape 28"/>
          <p:cNvSpPr/>
          <p:nvPr/>
        </p:nvSpPr>
        <p:spPr>
          <a:xfrm>
            <a:off x="4343400" y="1325880"/>
            <a:ext cx="4297680" cy="3063240"/>
          </a:xfrm>
          <a:prstGeom prst="roundRect">
            <a:avLst>
              <a:gd name="adj" fmla="val 2388"/>
            </a:avLst>
          </a:prstGeom>
          <a:solidFill>
            <a:srgbClr val="FFFFFF"/>
          </a:solidFill>
          <a:ln w="12700">
            <a:solidFill>
              <a:srgbClr val="D5DED9"/>
            </a:solidFill>
            <a:prstDash val="solid"/>
          </a:ln>
          <a:effectLst>
            <a:outerShdw sx="100000" sy="100000" kx="0" ky="0" algn="bl" rotWithShape="0" blurRad="76200" dist="25400" dir="5400000">
              <a:srgbClr val="000000">
                <a:alpha val="12000"/>
              </a:srgbClr>
            </a:outerShdw>
          </a:effectLst>
        </p:spPr>
      </p:sp>
      <p:sp>
        <p:nvSpPr>
          <p:cNvPr id="32" name="Shape 29"/>
          <p:cNvSpPr/>
          <p:nvPr/>
        </p:nvSpPr>
        <p:spPr>
          <a:xfrm>
            <a:off x="4361688" y="1344168"/>
            <a:ext cx="4261104" cy="329184"/>
          </a:xfrm>
          <a:prstGeom prst="rect">
            <a:avLst/>
          </a:prstGeom>
          <a:solidFill>
            <a:srgbClr val="F4F7F5"/>
          </a:solidFill>
          <a:ln w="12700">
            <a:solidFill>
              <a:srgbClr val="F4F7F5"/>
            </a:solidFill>
            <a:prstDash val="solid"/>
          </a:ln>
        </p:spPr>
      </p:sp>
      <p:sp>
        <p:nvSpPr>
          <p:cNvPr id="33" name="Shape 30"/>
          <p:cNvSpPr/>
          <p:nvPr/>
        </p:nvSpPr>
        <p:spPr>
          <a:xfrm>
            <a:off x="4471416" y="1453896"/>
            <a:ext cx="82296" cy="82296"/>
          </a:xfrm>
          <a:prstGeom prst="ellipse">
            <a:avLst/>
          </a:prstGeom>
          <a:solidFill>
            <a:srgbClr val="D5DED9"/>
          </a:solidFill>
          <a:ln w="12700">
            <a:solidFill>
              <a:srgbClr val="D5DED9"/>
            </a:solidFill>
            <a:prstDash val="solid"/>
          </a:ln>
        </p:spPr>
      </p:sp>
      <p:sp>
        <p:nvSpPr>
          <p:cNvPr id="34" name="Shape 31"/>
          <p:cNvSpPr/>
          <p:nvPr/>
        </p:nvSpPr>
        <p:spPr>
          <a:xfrm>
            <a:off x="4617720" y="1453896"/>
            <a:ext cx="82296" cy="82296"/>
          </a:xfrm>
          <a:prstGeom prst="ellipse">
            <a:avLst/>
          </a:prstGeom>
          <a:solidFill>
            <a:srgbClr val="D5DED9"/>
          </a:solidFill>
          <a:ln w="12700">
            <a:solidFill>
              <a:srgbClr val="D5DED9"/>
            </a:solidFill>
            <a:prstDash val="solid"/>
          </a:ln>
        </p:spPr>
      </p:sp>
      <p:sp>
        <p:nvSpPr>
          <p:cNvPr id="35" name="Shape 32"/>
          <p:cNvSpPr/>
          <p:nvPr/>
        </p:nvSpPr>
        <p:spPr>
          <a:xfrm>
            <a:off x="4764024" y="1453896"/>
            <a:ext cx="82296" cy="82296"/>
          </a:xfrm>
          <a:prstGeom prst="ellipse">
            <a:avLst/>
          </a:prstGeom>
          <a:solidFill>
            <a:srgbClr val="D5DED9"/>
          </a:solidFill>
          <a:ln w="12700">
            <a:solidFill>
              <a:srgbClr val="D5DED9"/>
            </a:solidFill>
            <a:prstDash val="solid"/>
          </a:ln>
        </p:spPr>
      </p:sp>
      <p:sp>
        <p:nvSpPr>
          <p:cNvPr id="36" name="Shape 33"/>
          <p:cNvSpPr/>
          <p:nvPr/>
        </p:nvSpPr>
        <p:spPr>
          <a:xfrm>
            <a:off x="4983480" y="1399032"/>
            <a:ext cx="3520440" cy="201168"/>
          </a:xfrm>
          <a:prstGeom prst="roundRect">
            <a:avLst>
              <a:gd name="adj" fmla="val 50000"/>
            </a:avLst>
          </a:prstGeom>
          <a:solidFill>
            <a:srgbClr val="FFFFFF"/>
          </a:solidFill>
          <a:ln w="6350">
            <a:solidFill>
              <a:srgbClr val="D5DED9"/>
            </a:solidFill>
            <a:prstDash val="solid"/>
          </a:ln>
        </p:spPr>
      </p:sp>
      <p:sp>
        <p:nvSpPr>
          <p:cNvPr id="37" name="Text 34"/>
          <p:cNvSpPr txBox="1"/>
          <p:nvPr/>
        </p:nvSpPr>
        <p:spPr>
          <a:xfrm>
            <a:off x="5093208" y="1399032"/>
            <a:ext cx="3383280" cy="201168"/>
          </a:xfrm>
          <a:prstGeom prst="rect">
            <a:avLst/>
          </a:prstGeom>
          <a:noFill/>
          <a:ln/>
        </p:spPr>
        <p:txBody>
          <a:bodyPr wrap="square" lIns="0" tIns="0" rIns="0" bIns="0" rtlCol="0" anchor="ctr"/>
          <a:lstStyle/>
          <a:p>
            <a:pPr indent="0" marL="0">
              <a:buNone/>
            </a:pPr>
            <a:r>
              <a:rPr lang="en-US" sz="800" dirty="0">
                <a:solidFill>
                  <a:srgbClr val="5E6964"/>
                </a:solidFill>
                <a:latin typeface="Courier New" pitchFamily="34" charset="0"/>
                <a:ea typeface="Courier New" pitchFamily="34" charset="-122"/>
                <a:cs typeface="Courier New" pitchFamily="34" charset="-120"/>
              </a:rPr>
              <a:t>console.cloud.google.com/earth-engine</a:t>
            </a:r>
            <a:endParaRPr lang="en-US" sz="800" dirty="0"/>
          </a:p>
        </p:txBody>
      </p:sp>
      <p:sp>
        <p:nvSpPr>
          <p:cNvPr id="38" name="Text 35"/>
          <p:cNvSpPr txBox="1"/>
          <p:nvPr/>
        </p:nvSpPr>
        <p:spPr>
          <a:xfrm>
            <a:off x="4617720" y="1828800"/>
            <a:ext cx="3749040" cy="27432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Register a project for Earth Engine</a:t>
            </a:r>
            <a:endParaRPr lang="en-US" sz="1300" dirty="0"/>
          </a:p>
        </p:txBody>
      </p:sp>
      <p:sp>
        <p:nvSpPr>
          <p:cNvPr id="39" name="Text 36"/>
          <p:cNvSpPr txBox="1"/>
          <p:nvPr/>
        </p:nvSpPr>
        <p:spPr>
          <a:xfrm>
            <a:off x="4617720" y="2167128"/>
            <a:ext cx="3749040" cy="237744"/>
          </a:xfrm>
          <a:prstGeom prst="rect">
            <a:avLst/>
          </a:prstGeom>
          <a:noFill/>
          <a:ln/>
        </p:spPr>
        <p:txBody>
          <a:bodyPr wrap="square" lIns="0" tIns="0" rIns="0" bIns="0" rtlCol="0" anchor="ctr"/>
          <a:lstStyle/>
          <a:p>
            <a:pPr indent="0" marL="0">
              <a:buNone/>
            </a:pPr>
            <a:r>
              <a:rPr lang="en-US" sz="1000" dirty="0">
                <a:solidFill>
                  <a:srgbClr val="00A86A"/>
                </a:solidFill>
                <a:latin typeface="Calibri" pitchFamily="34" charset="0"/>
                <a:ea typeface="Calibri" pitchFamily="34" charset="-122"/>
                <a:cs typeface="Calibri" pitchFamily="34" charset="-120"/>
              </a:rPr>
              <a:t>◉ </a:t>
            </a:r>
            <a:pPr indent="0" marL="0">
              <a:buNone/>
            </a:pPr>
            <a:r>
              <a:rPr lang="en-US" sz="1000" b="1" dirty="0">
                <a:solidFill>
                  <a:srgbClr val="231F20"/>
                </a:solidFill>
                <a:latin typeface="Calibri" pitchFamily="34" charset="0"/>
                <a:ea typeface="Calibri" pitchFamily="34" charset="-122"/>
                <a:cs typeface="Calibri" pitchFamily="34" charset="-120"/>
              </a:rPr>
              <a:t>Create a project   </a:t>
            </a:r>
            <a:pPr indent="0" marL="0">
              <a:buNone/>
            </a:pPr>
            <a:r>
              <a:rPr lang="en-US" sz="1000" dirty="0">
                <a:solidFill>
                  <a:srgbClr val="5E6964"/>
                </a:solidFill>
                <a:latin typeface="Calibri" pitchFamily="34" charset="0"/>
                <a:ea typeface="Calibri" pitchFamily="34" charset="-122"/>
                <a:cs typeface="Calibri" pitchFamily="34" charset="-120"/>
              </a:rPr>
              <a:t>○ </a:t>
            </a:r>
            <a:pPr indent="0" marL="0">
              <a:buNone/>
            </a:pPr>
            <a:r>
              <a:rPr lang="en-US" sz="1000" dirty="0">
                <a:solidFill>
                  <a:srgbClr val="5E6964"/>
                </a:solidFill>
                <a:latin typeface="Calibri" pitchFamily="34" charset="0"/>
                <a:ea typeface="Calibri" pitchFamily="34" charset="-122"/>
                <a:cs typeface="Calibri" pitchFamily="34" charset="-120"/>
              </a:rPr>
              <a:t>Use an existing project</a:t>
            </a:r>
            <a:endParaRPr lang="en-US" sz="1000" dirty="0"/>
          </a:p>
        </p:txBody>
      </p:sp>
      <p:sp>
        <p:nvSpPr>
          <p:cNvPr id="40" name="Text 37"/>
          <p:cNvSpPr txBox="1"/>
          <p:nvPr/>
        </p:nvSpPr>
        <p:spPr>
          <a:xfrm>
            <a:off x="4617720" y="2468880"/>
            <a:ext cx="3749040" cy="182880"/>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Project name</a:t>
            </a:r>
            <a:endParaRPr lang="en-US" sz="900" dirty="0"/>
          </a:p>
        </p:txBody>
      </p:sp>
      <p:sp>
        <p:nvSpPr>
          <p:cNvPr id="41" name="Shape 38"/>
          <p:cNvSpPr/>
          <p:nvPr/>
        </p:nvSpPr>
        <p:spPr>
          <a:xfrm>
            <a:off x="4617720" y="2670048"/>
            <a:ext cx="3749040" cy="292608"/>
          </a:xfrm>
          <a:prstGeom prst="roundRect">
            <a:avLst>
              <a:gd name="adj" fmla="val 15625"/>
            </a:avLst>
          </a:prstGeom>
          <a:solidFill>
            <a:srgbClr val="FFFFFF"/>
          </a:solidFill>
          <a:ln w="9525">
            <a:solidFill>
              <a:srgbClr val="D5DED9"/>
            </a:solidFill>
            <a:prstDash val="solid"/>
          </a:ln>
        </p:spPr>
      </p:sp>
      <p:sp>
        <p:nvSpPr>
          <p:cNvPr id="42" name="Text 39"/>
          <p:cNvSpPr txBox="1"/>
          <p:nvPr/>
        </p:nvSpPr>
        <p:spPr>
          <a:xfrm>
            <a:off x="4727448" y="2670048"/>
            <a:ext cx="3566160" cy="29260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NTL-STG17</a:t>
            </a:r>
            <a:endParaRPr lang="en-US" sz="1000" dirty="0"/>
          </a:p>
        </p:txBody>
      </p:sp>
      <p:sp>
        <p:nvSpPr>
          <p:cNvPr id="43" name="Text 40"/>
          <p:cNvSpPr txBox="1"/>
          <p:nvPr/>
        </p:nvSpPr>
        <p:spPr>
          <a:xfrm>
            <a:off x="4617720" y="3063240"/>
            <a:ext cx="3749040" cy="182880"/>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Project ID — permanent</a:t>
            </a:r>
            <a:endParaRPr lang="en-US" sz="900" dirty="0"/>
          </a:p>
        </p:txBody>
      </p:sp>
      <p:sp>
        <p:nvSpPr>
          <p:cNvPr id="44" name="Shape 41"/>
          <p:cNvSpPr/>
          <p:nvPr/>
        </p:nvSpPr>
        <p:spPr>
          <a:xfrm>
            <a:off x="4617720" y="3264408"/>
            <a:ext cx="3749040" cy="292608"/>
          </a:xfrm>
          <a:prstGeom prst="roundRect">
            <a:avLst>
              <a:gd name="adj" fmla="val 15625"/>
            </a:avLst>
          </a:prstGeom>
          <a:solidFill>
            <a:srgbClr val="E8F5EF"/>
          </a:solidFill>
          <a:ln w="19050">
            <a:solidFill>
              <a:srgbClr val="00A86A"/>
            </a:solidFill>
            <a:prstDash val="solid"/>
          </a:ln>
        </p:spPr>
      </p:sp>
      <p:sp>
        <p:nvSpPr>
          <p:cNvPr id="45" name="Text 42"/>
          <p:cNvSpPr txBox="1"/>
          <p:nvPr/>
        </p:nvSpPr>
        <p:spPr>
          <a:xfrm>
            <a:off x="4727448" y="3264408"/>
            <a:ext cx="3566160" cy="292608"/>
          </a:xfrm>
          <a:prstGeom prst="rect">
            <a:avLst/>
          </a:prstGeom>
          <a:noFill/>
          <a:ln/>
        </p:spPr>
        <p:txBody>
          <a:bodyPr wrap="square" lIns="0" tIns="0" rIns="0" bIns="0" rtlCol="0" anchor="ctr"/>
          <a:lstStyle/>
          <a:p>
            <a:pPr indent="0" marL="0">
              <a:buNone/>
            </a:pPr>
            <a:r>
              <a:rPr lang="en-US" sz="1000" dirty="0">
                <a:solidFill>
                  <a:srgbClr val="231F20"/>
                </a:solidFill>
                <a:latin typeface="Courier New" pitchFamily="34" charset="0"/>
                <a:ea typeface="Courier New" pitchFamily="34" charset="-122"/>
                <a:cs typeface="Courier New" pitchFamily="34" charset="-120"/>
              </a:rPr>
              <a:t>ntl-stg17</a:t>
            </a:r>
            <a:endParaRPr lang="en-US" sz="1000" dirty="0"/>
          </a:p>
        </p:txBody>
      </p:sp>
      <p:sp>
        <p:nvSpPr>
          <p:cNvPr id="46" name="Shape 43"/>
          <p:cNvSpPr/>
          <p:nvPr/>
        </p:nvSpPr>
        <p:spPr>
          <a:xfrm>
            <a:off x="7269480" y="3794760"/>
            <a:ext cx="1097280" cy="329184"/>
          </a:xfrm>
          <a:prstGeom prst="roundRect">
            <a:avLst>
              <a:gd name="adj" fmla="val 16667"/>
            </a:avLst>
          </a:prstGeom>
          <a:solidFill>
            <a:srgbClr val="00704A"/>
          </a:solidFill>
          <a:ln w="12700">
            <a:solidFill>
              <a:srgbClr val="00704A"/>
            </a:solidFill>
            <a:prstDash val="solid"/>
          </a:ln>
        </p:spPr>
      </p:sp>
      <p:sp>
        <p:nvSpPr>
          <p:cNvPr id="47" name="Text 44"/>
          <p:cNvSpPr txBox="1"/>
          <p:nvPr/>
        </p:nvSpPr>
        <p:spPr>
          <a:xfrm>
            <a:off x="7269480" y="3794760"/>
            <a:ext cx="10972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Continue</a:t>
            </a:r>
            <a:endParaRPr lang="en-US" sz="1100" dirty="0"/>
          </a:p>
        </p:txBody>
      </p:sp>
      <p:sp>
        <p:nvSpPr>
          <p:cNvPr id="48" name="Shape 45"/>
          <p:cNvSpPr/>
          <p:nvPr/>
        </p:nvSpPr>
        <p:spPr>
          <a:xfrm>
            <a:off x="4343400" y="4480560"/>
            <a:ext cx="2651760" cy="237744"/>
          </a:xfrm>
          <a:prstGeom prst="roundRect">
            <a:avLst>
              <a:gd name="adj" fmla="val 50000"/>
            </a:avLst>
          </a:prstGeom>
          <a:solidFill>
            <a:srgbClr val="E8F5EF"/>
          </a:solidFill>
          <a:ln w="9525">
            <a:solidFill>
              <a:srgbClr val="0E7C86"/>
            </a:solidFill>
            <a:prstDash val="solid"/>
          </a:ln>
        </p:spPr>
      </p:sp>
      <p:sp>
        <p:nvSpPr>
          <p:cNvPr id="49" name="Text 46"/>
          <p:cNvSpPr txBox="1"/>
          <p:nvPr/>
        </p:nvSpPr>
        <p:spPr>
          <a:xfrm>
            <a:off x="4343400" y="4480560"/>
            <a:ext cx="2651760" cy="237744"/>
          </a:xfrm>
          <a:prstGeom prst="rect">
            <a:avLst/>
          </a:prstGeom>
          <a:noFill/>
          <a:ln/>
        </p:spPr>
        <p:txBody>
          <a:bodyPr wrap="square" lIns="0" tIns="0" rIns="0" bIns="0" rtlCol="0" anchor="ctr"/>
          <a:lstStyle/>
          <a:p>
            <a:pPr algn="ctr" indent="0" marL="0">
              <a:buNone/>
            </a:pPr>
            <a:r>
              <a:rPr lang="en-US" sz="800" b="1" dirty="0">
                <a:solidFill>
                  <a:srgbClr val="0E7C86"/>
                </a:solidFill>
                <a:latin typeface="Calibri" pitchFamily="34" charset="0"/>
                <a:ea typeface="Calibri" pitchFamily="34" charset="-122"/>
                <a:cs typeface="Calibri" pitchFamily="34" charset="-120"/>
              </a:rPr>
              <a:t>SCHEMATIC — the real screen may differ</a:t>
            </a:r>
            <a:endParaRPr lang="en-US" sz="800" dirty="0"/>
          </a:p>
        </p:txBody>
      </p:sp>
      <p:sp>
        <p:nvSpPr>
          <p:cNvPr id="50" name="Text 47"/>
          <p:cNvSpPr txBox="1"/>
          <p:nvPr/>
        </p:nvSpPr>
        <p:spPr>
          <a:xfrm>
            <a:off x="457200" y="4590288"/>
            <a:ext cx="37490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Google Earth Engine — Earth Engine access, “Create a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CREATE AND REGISTER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Step 3 · Declare noncommercial use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5" name="Text 12"/>
          <p:cNvSpPr txBox="1"/>
          <p:nvPr/>
        </p:nvSpPr>
        <p:spPr>
          <a:xfrm>
            <a:off x="457200" y="1234440"/>
            <a:ext cx="8138160" cy="457200"/>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The questionnaire, mandatory since 26 September 2025, confirms the project's eligibility for free access. It must be revalidated periodically.</a:t>
            </a:r>
            <a:endParaRPr lang="en-US" sz="1200" dirty="0"/>
          </a:p>
        </p:txBody>
      </p:sp>
      <p:sp>
        <p:nvSpPr>
          <p:cNvPr id="16" name="Shape 13"/>
          <p:cNvSpPr/>
          <p:nvPr/>
        </p:nvSpPr>
        <p:spPr>
          <a:xfrm>
            <a:off x="457200" y="1783080"/>
            <a:ext cx="3931920" cy="1920240"/>
          </a:xfrm>
          <a:prstGeom prst="roundRect">
            <a:avLst>
              <a:gd name="adj" fmla="val 3810"/>
            </a:avLst>
          </a:prstGeom>
          <a:solidFill>
            <a:srgbClr val="E8F5EF"/>
          </a:solidFill>
          <a:ln w="15875">
            <a:solidFill>
              <a:srgbClr val="00A86A"/>
            </a:solidFill>
            <a:prstDash val="solid"/>
          </a:ln>
        </p:spPr>
      </p:sp>
      <p:sp>
        <p:nvSpPr>
          <p:cNvPr id="17" name="Text 14"/>
          <p:cNvSpPr txBox="1"/>
          <p:nvPr/>
        </p:nvSpPr>
        <p:spPr>
          <a:xfrm>
            <a:off x="640080" y="1874520"/>
            <a:ext cx="3566160" cy="292608"/>
          </a:xfrm>
          <a:prstGeom prst="rect">
            <a:avLst/>
          </a:prstGeom>
          <a:noFill/>
          <a:ln/>
        </p:spPr>
        <p:txBody>
          <a:bodyPr wrap="square" lIns="0" tIns="0" rIns="0" bIns="0" rtlCol="0" anchor="ctr"/>
          <a:lstStyle/>
          <a:p>
            <a:pPr indent="0" marL="0">
              <a:buNone/>
            </a:pPr>
            <a:r>
              <a:rPr lang="en-US" sz="1400" b="1" dirty="0">
                <a:solidFill>
                  <a:srgbClr val="00A86A"/>
                </a:solidFill>
                <a:latin typeface="Calibri" pitchFamily="34" charset="0"/>
                <a:ea typeface="Calibri" pitchFamily="34" charset="-122"/>
                <a:cs typeface="Calibri" pitchFamily="34" charset="-120"/>
              </a:rPr>
              <a:t>Noncommercial — free</a:t>
            </a:r>
            <a:endParaRPr lang="en-US" sz="1400" dirty="0"/>
          </a:p>
        </p:txBody>
      </p:sp>
      <p:sp>
        <p:nvSpPr>
          <p:cNvPr id="18" name="Text 15"/>
          <p:cNvSpPr txBox="1"/>
          <p:nvPr/>
        </p:nvSpPr>
        <p:spPr>
          <a:xfrm>
            <a:off x="640080" y="2212848"/>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 training workshop such as STG17</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University research and teaching</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 nonprofit organisation, for noncommercial activities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 PhD thesis on natural resources</a:t>
            </a:r>
            <a:endParaRPr lang="en-US" sz="1100" dirty="0"/>
          </a:p>
        </p:txBody>
      </p:sp>
      <p:sp>
        <p:nvSpPr>
          <p:cNvPr id="19" name="Shape 16"/>
          <p:cNvSpPr/>
          <p:nvPr/>
        </p:nvSpPr>
        <p:spPr>
          <a:xfrm>
            <a:off x="4663440" y="1783080"/>
            <a:ext cx="3931920" cy="1920240"/>
          </a:xfrm>
          <a:prstGeom prst="roundRect">
            <a:avLst>
              <a:gd name="adj" fmla="val 3810"/>
            </a:avLst>
          </a:prstGeom>
          <a:solidFill>
            <a:srgbClr val="F4F7F5"/>
          </a:solidFill>
          <a:ln w="15875">
            <a:solidFill>
              <a:srgbClr val="B83B2E"/>
            </a:solidFill>
            <a:prstDash val="solid"/>
          </a:ln>
        </p:spPr>
      </p:sp>
      <p:sp>
        <p:nvSpPr>
          <p:cNvPr id="20" name="Text 17"/>
          <p:cNvSpPr txBox="1"/>
          <p:nvPr/>
        </p:nvSpPr>
        <p:spPr>
          <a:xfrm>
            <a:off x="4846320" y="1874520"/>
            <a:ext cx="3566160" cy="292608"/>
          </a:xfrm>
          <a:prstGeom prst="rect">
            <a:avLst/>
          </a:prstGeom>
          <a:noFill/>
          <a:ln/>
        </p:spPr>
        <p:txBody>
          <a:bodyPr wrap="square" lIns="0" tIns="0" rIns="0" bIns="0" rtlCol="0" anchor="ctr"/>
          <a:lstStyle/>
          <a:p>
            <a:pPr indent="0" marL="0">
              <a:buNone/>
            </a:pPr>
            <a:r>
              <a:rPr lang="en-US" sz="1400" b="1" dirty="0">
                <a:solidFill>
                  <a:srgbClr val="B83B2E"/>
                </a:solidFill>
                <a:latin typeface="Calibri" pitchFamily="34" charset="0"/>
                <a:ea typeface="Calibri" pitchFamily="34" charset="-122"/>
                <a:cs typeface="Calibri" pitchFamily="34" charset="-120"/>
              </a:rPr>
              <a:t>Commercial — paid</a:t>
            </a:r>
            <a:endParaRPr lang="en-US" sz="1400" dirty="0"/>
          </a:p>
        </p:txBody>
      </p:sp>
      <p:sp>
        <p:nvSpPr>
          <p:cNvPr id="21" name="Text 18"/>
          <p:cNvSpPr txBox="1"/>
          <p:nvPr/>
        </p:nvSpPr>
        <p:spPr>
          <a:xfrm>
            <a:off x="4846320" y="2212848"/>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Selling a service built on Earth Engine</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Internal R&amp;D for a commercial product</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Promotional white papers for a product</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 government agency using Earth Engine for operational purposes</a:t>
            </a:r>
            <a:endParaRPr lang="en-US" sz="1100" dirty="0"/>
          </a:p>
        </p:txBody>
      </p:sp>
      <p:sp>
        <p:nvSpPr>
          <p:cNvPr id="22" name="Shape 19"/>
          <p:cNvSpPr/>
          <p:nvPr/>
        </p:nvSpPr>
        <p:spPr>
          <a:xfrm>
            <a:off x="457200" y="3867912"/>
            <a:ext cx="8138160" cy="566928"/>
          </a:xfrm>
          <a:prstGeom prst="roundRect">
            <a:avLst>
              <a:gd name="adj" fmla="val 9677"/>
            </a:avLst>
          </a:prstGeom>
          <a:solidFill>
            <a:srgbClr val="D49A00">
              <a:alpha val="13000"/>
            </a:srgbClr>
          </a:solidFill>
          <a:ln w="12700">
            <a:solidFill>
              <a:srgbClr val="D49A00"/>
            </a:solidFill>
            <a:prstDash val="solid"/>
          </a:ln>
        </p:spPr>
      </p:sp>
      <p:pic>
        <p:nvPicPr>
          <p:cNvPr id="23" name="Image 0" descr="preencoded.png">    </p:cNvPr>
          <p:cNvPicPr>
            <a:picLocks noChangeAspect="1"/>
          </p:cNvPicPr>
          <p:nvPr/>
        </p:nvPicPr>
        <p:blipFill>
          <a:blip r:embed="rId1"/>
          <a:stretch>
            <a:fillRect/>
          </a:stretch>
        </p:blipFill>
        <p:spPr>
          <a:xfrm>
            <a:off x="594360" y="4014216"/>
            <a:ext cx="274320" cy="274320"/>
          </a:xfrm>
          <a:prstGeom prst="rect">
            <a:avLst/>
          </a:prstGeom>
        </p:spPr>
      </p:pic>
      <p:sp>
        <p:nvSpPr>
          <p:cNvPr id="24" name="Text 20"/>
          <p:cNvSpPr txBox="1"/>
          <p:nvPr/>
        </p:nvSpPr>
        <p:spPr>
          <a:xfrm>
            <a:off x="1005840" y="3913632"/>
            <a:ext cx="74523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How to answer: </a:t>
            </a:r>
            <a:pPr indent="0" marL="0">
              <a:buNone/>
            </a:pPr>
            <a:r>
              <a:rPr lang="en-US" sz="1100" dirty="0">
                <a:solidFill>
                  <a:srgbClr val="231F20"/>
                </a:solidFill>
                <a:latin typeface="Calibri" pitchFamily="34" charset="0"/>
                <a:ea typeface="Calibri" pitchFamily="34" charset="-122"/>
                <a:cs typeface="Calibri" pitchFamily="34" charset="-120"/>
              </a:rPr>
              <a:t>for this workshop, the declared use is training. Answer honestly: a project reclassified as commercial loses free access.</a:t>
            </a:r>
            <a:endParaRPr lang="en-US" sz="1100" dirty="0"/>
          </a:p>
        </p:txBody>
      </p:sp>
      <p:sp>
        <p:nvSpPr>
          <p:cNvPr id="25" name="Text 2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earthengine.google.com/noncommercial; Earth Engine access, “Configuring noncommercial access”.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CREATE AND REGISTER</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Step 3 (continued) · Choose a quota tier</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00704A"/>
          </a:solidFill>
          <a:ln w="12700">
            <a:solidFill>
              <a:srgbClr val="00704A"/>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5" name="Shape 12"/>
          <p:cNvSpPr/>
          <p:nvPr/>
        </p:nvSpPr>
        <p:spPr>
          <a:xfrm>
            <a:off x="457200" y="1325880"/>
            <a:ext cx="2560320" cy="2103120"/>
          </a:xfrm>
          <a:prstGeom prst="roundRect">
            <a:avLst>
              <a:gd name="adj" fmla="val 3478"/>
            </a:avLst>
          </a:prstGeom>
          <a:solidFill>
            <a:srgbClr val="E8F5EF"/>
          </a:solidFill>
          <a:ln w="19050">
            <a:solidFill>
              <a:srgbClr val="00A86A"/>
            </a:solidFill>
            <a:prstDash val="solid"/>
          </a:ln>
        </p:spPr>
      </p:sp>
      <p:sp>
        <p:nvSpPr>
          <p:cNvPr id="16" name="Shape 13"/>
          <p:cNvSpPr/>
          <p:nvPr/>
        </p:nvSpPr>
        <p:spPr>
          <a:xfrm>
            <a:off x="640080" y="1481328"/>
            <a:ext cx="1143000" cy="237744"/>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640080" y="1481328"/>
            <a:ext cx="114300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RECOMMENDED</a:t>
            </a:r>
            <a:endParaRPr lang="en-US" sz="850" dirty="0"/>
          </a:p>
        </p:txBody>
      </p:sp>
      <p:sp>
        <p:nvSpPr>
          <p:cNvPr id="18" name="Text 15"/>
          <p:cNvSpPr txBox="1"/>
          <p:nvPr/>
        </p:nvSpPr>
        <p:spPr>
          <a:xfrm>
            <a:off x="640080" y="1828800"/>
            <a:ext cx="2194560" cy="384048"/>
          </a:xfrm>
          <a:prstGeom prst="rect">
            <a:avLst/>
          </a:prstGeom>
          <a:noFill/>
          <a:ln/>
        </p:spPr>
        <p:txBody>
          <a:bodyPr wrap="square" lIns="0" tIns="0" rIns="0" bIns="0" rtlCol="0" anchor="ctr"/>
          <a:lstStyle/>
          <a:p>
            <a:pPr indent="0" marL="0">
              <a:buNone/>
            </a:pPr>
            <a:r>
              <a:rPr lang="en-US" sz="2200" b="1" dirty="0">
                <a:solidFill>
                  <a:srgbClr val="00A86A"/>
                </a:solidFill>
                <a:latin typeface="Calibri" pitchFamily="34" charset="0"/>
                <a:ea typeface="Calibri" pitchFamily="34" charset="-122"/>
                <a:cs typeface="Calibri" pitchFamily="34" charset="-120"/>
              </a:rPr>
              <a:t>Community</a:t>
            </a:r>
            <a:endParaRPr lang="en-US" sz="2200" dirty="0"/>
          </a:p>
        </p:txBody>
      </p:sp>
      <p:sp>
        <p:nvSpPr>
          <p:cNvPr id="19" name="Text 16"/>
          <p:cNvSpPr txBox="1"/>
          <p:nvPr/>
        </p:nvSpPr>
        <p:spPr>
          <a:xfrm>
            <a:off x="640080" y="2212848"/>
            <a:ext cx="2194560" cy="237744"/>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Default tier</a:t>
            </a:r>
            <a:endParaRPr lang="en-US" sz="1100" dirty="0"/>
          </a:p>
        </p:txBody>
      </p:sp>
      <p:sp>
        <p:nvSpPr>
          <p:cNvPr id="20" name="Text 17"/>
          <p:cNvSpPr txBox="1"/>
          <p:nvPr/>
        </p:nvSpPr>
        <p:spPr>
          <a:xfrm>
            <a:off x="640080" y="2523744"/>
            <a:ext cx="2194560" cy="82296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No billing account. Enough for this notebook.</a:t>
            </a:r>
            <a:endParaRPr lang="en-US" sz="1100" dirty="0"/>
          </a:p>
        </p:txBody>
      </p:sp>
      <p:sp>
        <p:nvSpPr>
          <p:cNvPr id="21" name="Shape 18"/>
          <p:cNvSpPr/>
          <p:nvPr/>
        </p:nvSpPr>
        <p:spPr>
          <a:xfrm>
            <a:off x="3246120" y="1325880"/>
            <a:ext cx="2560320" cy="2103120"/>
          </a:xfrm>
          <a:prstGeom prst="roundRect">
            <a:avLst>
              <a:gd name="adj" fmla="val 3478"/>
            </a:avLst>
          </a:prstGeom>
          <a:solidFill>
            <a:srgbClr val="F4F7F5"/>
          </a:solidFill>
          <a:ln w="9525">
            <a:solidFill>
              <a:srgbClr val="D5DED9"/>
            </a:solidFill>
            <a:prstDash val="solid"/>
          </a:ln>
        </p:spPr>
      </p:sp>
      <p:sp>
        <p:nvSpPr>
          <p:cNvPr id="22" name="Text 19"/>
          <p:cNvSpPr txBox="1"/>
          <p:nvPr/>
        </p:nvSpPr>
        <p:spPr>
          <a:xfrm>
            <a:off x="3429000" y="1828800"/>
            <a:ext cx="2194560" cy="38404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Contributor</a:t>
            </a:r>
            <a:endParaRPr lang="en-US" sz="2200" dirty="0"/>
          </a:p>
        </p:txBody>
      </p:sp>
      <p:sp>
        <p:nvSpPr>
          <p:cNvPr id="23" name="Text 20"/>
          <p:cNvSpPr txBox="1"/>
          <p:nvPr/>
        </p:nvSpPr>
        <p:spPr>
          <a:xfrm>
            <a:off x="3429000" y="2212848"/>
            <a:ext cx="2194560" cy="237744"/>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Higher quota</a:t>
            </a:r>
            <a:endParaRPr lang="en-US" sz="1100" dirty="0"/>
          </a:p>
        </p:txBody>
      </p:sp>
      <p:sp>
        <p:nvSpPr>
          <p:cNvPr id="24" name="Text 21"/>
          <p:cNvSpPr txBox="1"/>
          <p:nvPr/>
        </p:nvSpPr>
        <p:spPr>
          <a:xfrm>
            <a:off x="3429000" y="2523744"/>
            <a:ext cx="2194560" cy="82296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Requires an attached billing account — not charged for Earth Engine under noncommercial use.</a:t>
            </a:r>
            <a:endParaRPr lang="en-US" sz="1100" dirty="0"/>
          </a:p>
        </p:txBody>
      </p:sp>
      <p:sp>
        <p:nvSpPr>
          <p:cNvPr id="25" name="Shape 22"/>
          <p:cNvSpPr/>
          <p:nvPr/>
        </p:nvSpPr>
        <p:spPr>
          <a:xfrm>
            <a:off x="6035040" y="1325880"/>
            <a:ext cx="2560320" cy="2103120"/>
          </a:xfrm>
          <a:prstGeom prst="roundRect">
            <a:avLst>
              <a:gd name="adj" fmla="val 3478"/>
            </a:avLst>
          </a:prstGeom>
          <a:solidFill>
            <a:srgbClr val="F4F7F5"/>
          </a:solidFill>
          <a:ln w="9525">
            <a:solidFill>
              <a:srgbClr val="D5DED9"/>
            </a:solidFill>
            <a:prstDash val="solid"/>
          </a:ln>
        </p:spPr>
      </p:sp>
      <p:sp>
        <p:nvSpPr>
          <p:cNvPr id="26" name="Text 23"/>
          <p:cNvSpPr txBox="1"/>
          <p:nvPr/>
        </p:nvSpPr>
        <p:spPr>
          <a:xfrm>
            <a:off x="6217920" y="1828800"/>
            <a:ext cx="2194560" cy="38404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Partner</a:t>
            </a:r>
            <a:endParaRPr lang="en-US" sz="2200" dirty="0"/>
          </a:p>
        </p:txBody>
      </p:sp>
      <p:sp>
        <p:nvSpPr>
          <p:cNvPr id="27" name="Text 24"/>
          <p:cNvSpPr txBox="1"/>
          <p:nvPr/>
        </p:nvSpPr>
        <p:spPr>
          <a:xfrm>
            <a:off x="6217920" y="2212848"/>
            <a:ext cx="2194560" cy="237744"/>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Highest quota</a:t>
            </a:r>
            <a:endParaRPr lang="en-US" sz="1100" dirty="0"/>
          </a:p>
        </p:txBody>
      </p:sp>
      <p:sp>
        <p:nvSpPr>
          <p:cNvPr id="28" name="Text 25"/>
          <p:cNvSpPr txBox="1"/>
          <p:nvPr/>
        </p:nvSpPr>
        <p:spPr>
          <a:xfrm>
            <a:off x="6217920" y="2523744"/>
            <a:ext cx="2194560" cy="82296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Its own eligibility criteria, for Google's partners.</a:t>
            </a:r>
            <a:endParaRPr lang="en-US" sz="1100" dirty="0"/>
          </a:p>
        </p:txBody>
      </p:sp>
      <p:sp>
        <p:nvSpPr>
          <p:cNvPr id="29" name="Shape 26"/>
          <p:cNvSpPr/>
          <p:nvPr/>
        </p:nvSpPr>
        <p:spPr>
          <a:xfrm>
            <a:off x="457200" y="3639312"/>
            <a:ext cx="8138160" cy="731520"/>
          </a:xfrm>
          <a:prstGeom prst="roundRect">
            <a:avLst>
              <a:gd name="adj" fmla="val 7500"/>
            </a:avLst>
          </a:prstGeom>
          <a:solidFill>
            <a:srgbClr val="D49A00">
              <a:alpha val="13000"/>
            </a:srgbClr>
          </a:solidFill>
          <a:ln w="12700">
            <a:solidFill>
              <a:srgbClr val="D49A00"/>
            </a:solidFill>
            <a:prstDash val="solid"/>
          </a:ln>
        </p:spPr>
      </p:sp>
      <p:pic>
        <p:nvPicPr>
          <p:cNvPr id="30" name="Image 0" descr="preencoded.png">    </p:cNvPr>
          <p:cNvPicPr>
            <a:picLocks noChangeAspect="1"/>
          </p:cNvPicPr>
          <p:nvPr/>
        </p:nvPicPr>
        <p:blipFill>
          <a:blip r:embed="rId1"/>
          <a:stretch>
            <a:fillRect/>
          </a:stretch>
        </p:blipFill>
        <p:spPr>
          <a:xfrm>
            <a:off x="594360" y="3867912"/>
            <a:ext cx="274320" cy="274320"/>
          </a:xfrm>
          <a:prstGeom prst="rect">
            <a:avLst/>
          </a:prstGeom>
        </p:spPr>
      </p:pic>
      <p:sp>
        <p:nvSpPr>
          <p:cNvPr id="31" name="Text 27"/>
          <p:cNvSpPr txBox="1"/>
          <p:nvPr/>
        </p:nvSpPr>
        <p:spPr>
          <a:xfrm>
            <a:off x="1005840" y="3685032"/>
            <a:ext cx="7452360" cy="640080"/>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Caution: </a:t>
            </a:r>
            <a:pPr indent="0" marL="0">
              <a:buNone/>
            </a:pPr>
            <a:r>
              <a:rPr lang="en-US" sz="1100" dirty="0">
                <a:solidFill>
                  <a:srgbClr val="231F20"/>
                </a:solidFill>
                <a:latin typeface="Calibri" pitchFamily="34" charset="0"/>
                <a:ea typeface="Calibri" pitchFamily="34" charset="-122"/>
                <a:cs typeface="Calibri" pitchFamily="34" charset="-120"/>
              </a:rPr>
              <a:t>if you attach a billing account (Contributor tier), do not enable any other Google Cloud API on this project: Earth Engine stays free, but other services can be charged. The tier can be changed at any time under Configuration.</a:t>
            </a:r>
            <a:endParaRPr lang="en-US" sz="1100" dirty="0"/>
          </a:p>
        </p:txBody>
      </p:sp>
      <p:sp>
        <p:nvSpPr>
          <p:cNvPr id="32"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Google Earth Engine — Noncommercial tiers (developers.google.com/earth-engine/guides/noncommercial_tiers).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14400"/>
            <a:ext cx="2743200" cy="1097280"/>
          </a:xfrm>
          <a:prstGeom prst="rect">
            <a:avLst/>
          </a:prstGeom>
          <a:noFill/>
          <a:ln/>
        </p:spPr>
        <p:txBody>
          <a:bodyPr wrap="square" lIns="0" tIns="0" rIns="0" bIns="0" rtlCol="0" anchor="ctr"/>
          <a:lstStyle/>
          <a:p>
            <a:pPr indent="0" marL="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3" name="Text 1"/>
          <p:cNvSpPr txBox="1"/>
          <p:nvPr/>
        </p:nvSpPr>
        <p:spPr>
          <a:xfrm>
            <a:off x="548640" y="2057400"/>
            <a:ext cx="54864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CHECK IN THE CONSOLE</a:t>
            </a:r>
            <a:endParaRPr lang="en-US" sz="1100" dirty="0"/>
          </a:p>
        </p:txBody>
      </p:sp>
      <p:sp>
        <p:nvSpPr>
          <p:cNvPr id="4" name="Text 2"/>
          <p:cNvSpPr txBox="1"/>
          <p:nvPr/>
        </p:nvSpPr>
        <p:spPr>
          <a:xfrm>
            <a:off x="548640" y="2377440"/>
            <a:ext cx="5669280" cy="7315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Check in the console</a:t>
            </a:r>
            <a:endParaRPr lang="en-US" sz="3200" dirty="0"/>
          </a:p>
        </p:txBody>
      </p:sp>
      <p:sp>
        <p:nvSpPr>
          <p:cNvPr id="5" name="Text 3"/>
          <p:cNvSpPr txBox="1"/>
          <p:nvPr/>
        </p:nvSpPr>
        <p:spPr>
          <a:xfrm>
            <a:off x="548640" y="3154680"/>
            <a:ext cx="5669280" cy="5486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Is your project really ready?</a:t>
            </a:r>
            <a:endParaRPr lang="en-US" sz="1600" dirty="0"/>
          </a:p>
        </p:txBody>
      </p:sp>
      <p:sp>
        <p:nvSpPr>
          <p:cNvPr id="6" name="Shape 4"/>
          <p:cNvSpPr/>
          <p:nvPr/>
        </p:nvSpPr>
        <p:spPr>
          <a:xfrm>
            <a:off x="6492240" y="1417320"/>
            <a:ext cx="2011680" cy="2011680"/>
          </a:xfrm>
          <a:prstGeom prst="ellipse">
            <a:avLst/>
          </a:prstGeom>
          <a:solidFill>
            <a:srgbClr val="FFFFFF">
              <a:alpha val="10000"/>
            </a:srgbClr>
          </a:solidFill>
          <a:ln w="19050">
            <a:solidFill>
              <a:srgbClr val="FFFFFF">
                <a:alpha val="45000"/>
              </a:srgbClr>
            </a:solidFill>
            <a:prstDash val="solid"/>
          </a:ln>
        </p:spPr>
      </p:sp>
      <p:sp>
        <p:nvSpPr>
          <p:cNvPr id="7" name="Shape 5"/>
          <p:cNvSpPr/>
          <p:nvPr/>
        </p:nvSpPr>
        <p:spPr>
          <a:xfrm>
            <a:off x="6812280" y="1737360"/>
            <a:ext cx="1371600" cy="1371600"/>
          </a:xfrm>
          <a:prstGeom prst="ellipse">
            <a:avLst/>
          </a:prstGeom>
          <a:solidFill>
            <a:srgbClr val="FFFFFF">
              <a:alpha val="0"/>
            </a:srgbClr>
          </a:solidFill>
          <a:ln w="19050">
            <a:solidFill>
              <a:srgbClr val="FFFFFF">
                <a:alpha val="60000"/>
              </a:srgbClr>
            </a:solidFill>
            <a:prstDash val="solid"/>
          </a:ln>
        </p:spPr>
      </p:sp>
      <p:pic>
        <p:nvPicPr>
          <p:cNvPr id="8" name="Image 0" descr="preencoded.png">    </p:cNvPr>
          <p:cNvPicPr>
            <a:picLocks noChangeAspect="1"/>
          </p:cNvPicPr>
          <p:nvPr/>
        </p:nvPicPr>
        <p:blipFill>
          <a:blip r:embed="rId2"/>
          <a:stretch>
            <a:fillRect/>
          </a:stretch>
        </p:blipFill>
        <p:spPr>
          <a:xfrm>
            <a:off x="7178040" y="2103120"/>
            <a:ext cx="640080" cy="640080"/>
          </a:xfrm>
          <a:prstGeom prst="rect">
            <a:avLst/>
          </a:prstGeom>
        </p:spPr>
      </p:pic>
      <p:sp>
        <p:nvSpPr>
          <p:cNvPr id="9" name="Shape 6"/>
          <p:cNvSpPr/>
          <p:nvPr/>
        </p:nvSpPr>
        <p:spPr>
          <a:xfrm>
            <a:off x="566928" y="406908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804672" y="406908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42416" y="4069080"/>
            <a:ext cx="118872" cy="118872"/>
          </a:xfrm>
          <a:prstGeom prst="ellipse">
            <a:avLst/>
          </a:prstGeom>
          <a:solidFill>
            <a:srgbClr val="F5C242"/>
          </a:solidFill>
          <a:ln w="12700">
            <a:solidFill>
              <a:srgbClr val="FFFFFF">
                <a:alpha val="0"/>
              </a:srgbClr>
            </a:solidFill>
            <a:prstDash val="solid"/>
          </a:ln>
        </p:spPr>
      </p:sp>
      <p:sp>
        <p:nvSpPr>
          <p:cNvPr id="12" name="Shape 9"/>
          <p:cNvSpPr/>
          <p:nvPr/>
        </p:nvSpPr>
        <p:spPr>
          <a:xfrm>
            <a:off x="1280160" y="406908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CHECK IN THE CONSOLE</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The Earth Engine console: four areas to spot</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0E7C86"/>
          </a:solidFill>
          <a:ln w="12700">
            <a:solidFill>
              <a:srgbClr val="0E7C86"/>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pic>
        <p:nvPicPr>
          <p:cNvPr id="15" name="Image 0" descr="img/console_annot_top.png">    </p:cNvPr>
          <p:cNvPicPr>
            <a:picLocks noChangeAspect="1"/>
          </p:cNvPicPr>
          <p:nvPr/>
        </p:nvPicPr>
        <p:blipFill>
          <a:blip r:embed="rId1"/>
          <a:stretch>
            <a:fillRect/>
          </a:stretch>
        </p:blipFill>
        <p:spPr>
          <a:xfrm>
            <a:off x="457200" y="1207008"/>
            <a:ext cx="8138160" cy="1909370"/>
          </a:xfrm>
          <a:prstGeom prst="rect">
            <a:avLst/>
          </a:prstGeom>
        </p:spPr>
      </p:pic>
      <p:sp>
        <p:nvSpPr>
          <p:cNvPr id="16" name="Shape 12"/>
          <p:cNvSpPr/>
          <p:nvPr/>
        </p:nvSpPr>
        <p:spPr>
          <a:xfrm>
            <a:off x="457200" y="1207008"/>
            <a:ext cx="8138160" cy="1909370"/>
          </a:xfrm>
          <a:prstGeom prst="rect">
            <a:avLst/>
          </a:prstGeom>
          <a:solidFill>
            <a:srgbClr val="FFFFFF">
              <a:alpha val="0"/>
            </a:srgbClr>
          </a:solidFill>
          <a:ln w="9525">
            <a:solidFill>
              <a:srgbClr val="D5DED9"/>
            </a:solidFill>
            <a:prstDash val="solid"/>
          </a:ln>
        </p:spPr>
      </p:sp>
      <p:sp>
        <p:nvSpPr>
          <p:cNvPr id="17" name="Shape 13"/>
          <p:cNvSpPr/>
          <p:nvPr/>
        </p:nvSpPr>
        <p:spPr>
          <a:xfrm>
            <a:off x="457200" y="3291840"/>
            <a:ext cx="292608" cy="292608"/>
          </a:xfrm>
          <a:prstGeom prst="ellipse">
            <a:avLst/>
          </a:prstGeom>
          <a:solidFill>
            <a:srgbClr val="00A86A"/>
          </a:solidFill>
          <a:ln w="19050">
            <a:solidFill>
              <a:srgbClr val="FFFFFF"/>
            </a:solidFill>
            <a:prstDash val="solid"/>
          </a:ln>
        </p:spPr>
      </p:sp>
      <p:sp>
        <p:nvSpPr>
          <p:cNvPr id="18" name="Text 14"/>
          <p:cNvSpPr txBox="1"/>
          <p:nvPr/>
        </p:nvSpPr>
        <p:spPr>
          <a:xfrm>
            <a:off x="4572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1</a:t>
            </a:r>
            <a:endParaRPr lang="en-US" sz="1152" dirty="0"/>
          </a:p>
        </p:txBody>
      </p:sp>
      <p:sp>
        <p:nvSpPr>
          <p:cNvPr id="19" name="Text 15"/>
          <p:cNvSpPr txBox="1"/>
          <p:nvPr/>
        </p:nvSpPr>
        <p:spPr>
          <a:xfrm>
            <a:off x="8412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The project ID</a:t>
            </a:r>
            <a:endParaRPr lang="en-US" sz="1150" dirty="0"/>
          </a:p>
        </p:txBody>
      </p:sp>
      <p:sp>
        <p:nvSpPr>
          <p:cNvPr id="20" name="Text 16"/>
          <p:cNvSpPr txBox="1"/>
          <p:nvPr/>
        </p:nvSpPr>
        <p:spPr>
          <a:xfrm>
            <a:off x="4572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in the address, after project=: this is what the notebook asks for.</a:t>
            </a:r>
            <a:endParaRPr lang="en-US" sz="1000" dirty="0"/>
          </a:p>
        </p:txBody>
      </p:sp>
      <p:sp>
        <p:nvSpPr>
          <p:cNvPr id="21" name="Shape 17"/>
          <p:cNvSpPr/>
          <p:nvPr/>
        </p:nvSpPr>
        <p:spPr>
          <a:xfrm>
            <a:off x="2514600" y="3291840"/>
            <a:ext cx="292608" cy="292608"/>
          </a:xfrm>
          <a:prstGeom prst="ellipse">
            <a:avLst/>
          </a:prstGeom>
          <a:solidFill>
            <a:srgbClr val="D49A00"/>
          </a:solidFill>
          <a:ln w="19050">
            <a:solidFill>
              <a:srgbClr val="FFFFFF"/>
            </a:solidFill>
            <a:prstDash val="solid"/>
          </a:ln>
        </p:spPr>
      </p:sp>
      <p:sp>
        <p:nvSpPr>
          <p:cNvPr id="22" name="Text 18"/>
          <p:cNvSpPr txBox="1"/>
          <p:nvPr/>
        </p:nvSpPr>
        <p:spPr>
          <a:xfrm>
            <a:off x="25146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2</a:t>
            </a:r>
            <a:endParaRPr lang="en-US" sz="1152" dirty="0"/>
          </a:p>
        </p:txBody>
      </p:sp>
      <p:sp>
        <p:nvSpPr>
          <p:cNvPr id="23" name="Text 19"/>
          <p:cNvSpPr txBox="1"/>
          <p:nvPr/>
        </p:nvSpPr>
        <p:spPr>
          <a:xfrm>
            <a:off x="28986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The project name</a:t>
            </a:r>
            <a:endParaRPr lang="en-US" sz="1150" dirty="0"/>
          </a:p>
        </p:txBody>
      </p:sp>
      <p:sp>
        <p:nvSpPr>
          <p:cNvPr id="24" name="Text 20"/>
          <p:cNvSpPr txBox="1"/>
          <p:nvPr/>
        </p:nvSpPr>
        <p:spPr>
          <a:xfrm>
            <a:off x="25146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“AI Horizon”: a free label, not the ID.</a:t>
            </a:r>
            <a:endParaRPr lang="en-US" sz="1000" dirty="0"/>
          </a:p>
        </p:txBody>
      </p:sp>
      <p:sp>
        <p:nvSpPr>
          <p:cNvPr id="25" name="Shape 21"/>
          <p:cNvSpPr/>
          <p:nvPr/>
        </p:nvSpPr>
        <p:spPr>
          <a:xfrm>
            <a:off x="4572000" y="3291840"/>
            <a:ext cx="292608" cy="292608"/>
          </a:xfrm>
          <a:prstGeom prst="ellipse">
            <a:avLst/>
          </a:prstGeom>
          <a:solidFill>
            <a:srgbClr val="00A86A"/>
          </a:solidFill>
          <a:ln w="19050">
            <a:solidFill>
              <a:srgbClr val="FFFFFF"/>
            </a:solidFill>
            <a:prstDash val="solid"/>
          </a:ln>
        </p:spPr>
      </p:sp>
      <p:sp>
        <p:nvSpPr>
          <p:cNvPr id="26" name="Text 22"/>
          <p:cNvSpPr txBox="1"/>
          <p:nvPr/>
        </p:nvSpPr>
        <p:spPr>
          <a:xfrm>
            <a:off x="45720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3</a:t>
            </a:r>
            <a:endParaRPr lang="en-US" sz="1152" dirty="0"/>
          </a:p>
        </p:txBody>
      </p:sp>
      <p:sp>
        <p:nvSpPr>
          <p:cNvPr id="27" name="Text 23"/>
          <p:cNvSpPr txBox="1"/>
          <p:nvPr/>
        </p:nvSpPr>
        <p:spPr>
          <a:xfrm>
            <a:off x="49560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Configuration</a:t>
            </a:r>
            <a:endParaRPr lang="en-US" sz="1150" dirty="0"/>
          </a:p>
        </p:txBody>
      </p:sp>
      <p:sp>
        <p:nvSpPr>
          <p:cNvPr id="28" name="Text 24"/>
          <p:cNvSpPr txBox="1"/>
          <p:nvPr/>
        </p:nvSpPr>
        <p:spPr>
          <a:xfrm>
            <a:off x="45720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registration, questionnaire and quota tier.</a:t>
            </a:r>
            <a:endParaRPr lang="en-US" sz="1000" dirty="0"/>
          </a:p>
        </p:txBody>
      </p:sp>
      <p:sp>
        <p:nvSpPr>
          <p:cNvPr id="29" name="Shape 25"/>
          <p:cNvSpPr/>
          <p:nvPr/>
        </p:nvSpPr>
        <p:spPr>
          <a:xfrm>
            <a:off x="6629400" y="3291840"/>
            <a:ext cx="292608" cy="292608"/>
          </a:xfrm>
          <a:prstGeom prst="ellipse">
            <a:avLst/>
          </a:prstGeom>
          <a:solidFill>
            <a:srgbClr val="B83B2E"/>
          </a:solidFill>
          <a:ln w="19050">
            <a:solidFill>
              <a:srgbClr val="FFFFFF"/>
            </a:solidFill>
            <a:prstDash val="solid"/>
          </a:ln>
        </p:spPr>
      </p:sp>
      <p:sp>
        <p:nvSpPr>
          <p:cNvPr id="30" name="Text 26"/>
          <p:cNvSpPr txBox="1"/>
          <p:nvPr/>
        </p:nvSpPr>
        <p:spPr>
          <a:xfrm>
            <a:off x="6629400" y="329184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4</a:t>
            </a:r>
            <a:endParaRPr lang="en-US" sz="1152" dirty="0"/>
          </a:p>
        </p:txBody>
      </p:sp>
      <p:sp>
        <p:nvSpPr>
          <p:cNvPr id="31" name="Text 27"/>
          <p:cNvSpPr txBox="1"/>
          <p:nvPr/>
        </p:nvSpPr>
        <p:spPr>
          <a:xfrm>
            <a:off x="7013448" y="3273552"/>
            <a:ext cx="1600200" cy="32918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$300 free trial</a:t>
            </a:r>
            <a:endParaRPr lang="en-US" sz="1150" dirty="0"/>
          </a:p>
        </p:txBody>
      </p:sp>
      <p:sp>
        <p:nvSpPr>
          <p:cNvPr id="32" name="Text 28"/>
          <p:cNvSpPr txBox="1"/>
          <p:nvPr/>
        </p:nvSpPr>
        <p:spPr>
          <a:xfrm>
            <a:off x="6629400" y="3657600"/>
            <a:ext cx="192024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unrelated to Earth Engine. Do not click.</a:t>
            </a:r>
            <a:endParaRPr lang="en-US" sz="1000" dirty="0"/>
          </a:p>
        </p:txBody>
      </p:sp>
      <p:sp>
        <p:nvSpPr>
          <p:cNvPr id="33" name="Shape 29"/>
          <p:cNvSpPr/>
          <p:nvPr/>
        </p:nvSpPr>
        <p:spPr>
          <a:xfrm>
            <a:off x="457200" y="4187952"/>
            <a:ext cx="8138160" cy="347472"/>
          </a:xfrm>
          <a:prstGeom prst="roundRect">
            <a:avLst>
              <a:gd name="adj" fmla="val 15789"/>
            </a:avLst>
          </a:prstGeom>
          <a:solidFill>
            <a:srgbClr val="E8F5EF"/>
          </a:solidFill>
          <a:ln w="12700">
            <a:solidFill>
              <a:srgbClr val="00A86A"/>
            </a:solidFill>
            <a:prstDash val="solid"/>
          </a:ln>
        </p:spPr>
      </p:sp>
      <p:sp>
        <p:nvSpPr>
          <p:cNvPr id="34" name="Text 30"/>
          <p:cNvSpPr txBox="1"/>
          <p:nvPr/>
        </p:nvSpPr>
        <p:spPr>
          <a:xfrm>
            <a:off x="594360" y="4187952"/>
            <a:ext cx="7955280" cy="347472"/>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ID to enter in the notebook:  </a:t>
            </a:r>
            <a:pPr indent="0" marL="0">
              <a:buNone/>
            </a:pPr>
            <a:r>
              <a:rPr lang="en-US" sz="1150" b="1" dirty="0">
                <a:solidFill>
                  <a:srgbClr val="00A86A"/>
                </a:solidFill>
                <a:latin typeface="Courier New" pitchFamily="34" charset="0"/>
                <a:ea typeface="Courier New" pitchFamily="34" charset="-122"/>
                <a:cs typeface="Courier New" pitchFamily="34" charset="-120"/>
              </a:rPr>
              <a:t>ai-horizon-491909</a:t>
            </a:r>
            <a:pPr indent="0" marL="0">
              <a:buNone/>
            </a:pPr>
            <a:r>
              <a:rPr lang="en-US" sz="1150" i="1" dirty="0">
                <a:solidFill>
                  <a:srgbClr val="5E6964"/>
                </a:solidFill>
                <a:latin typeface="Calibri" pitchFamily="34" charset="0"/>
                <a:ea typeface="Calibri" pitchFamily="34" charset="-122"/>
                <a:cs typeface="Calibri" pitchFamily="34" charset="-120"/>
              </a:rPr>
              <a:t>   — specific to this account; each participant has their own.</a:t>
            </a:r>
            <a:endParaRPr lang="en-US" sz="1150" dirty="0"/>
          </a:p>
        </p:txBody>
      </p:sp>
      <p:sp>
        <p:nvSpPr>
          <p:cNvPr id="35" name="Text 3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Real screenshot · Google Cloud console, Earth Engine home page of the workshop project (French interface).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CHECK IN THE CONSOLE</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Name ≠ ID: do not mix them up</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0E7C86"/>
          </a:solidFill>
          <a:ln w="12700">
            <a:solidFill>
              <a:srgbClr val="0E7C86"/>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5" name="Shape 12"/>
          <p:cNvSpPr/>
          <p:nvPr/>
        </p:nvSpPr>
        <p:spPr>
          <a:xfrm>
            <a:off x="457200" y="1280160"/>
            <a:ext cx="3931920" cy="2011680"/>
          </a:xfrm>
          <a:prstGeom prst="roundRect">
            <a:avLst>
              <a:gd name="adj" fmla="val 3636"/>
            </a:avLst>
          </a:prstGeom>
          <a:solidFill>
            <a:srgbClr val="F4F7F5"/>
          </a:solidFill>
          <a:ln w="15875">
            <a:solidFill>
              <a:srgbClr val="D49A00"/>
            </a:solidFill>
            <a:prstDash val="solid"/>
          </a:ln>
        </p:spPr>
      </p:sp>
      <p:sp>
        <p:nvSpPr>
          <p:cNvPr id="16" name="Text 13"/>
          <p:cNvSpPr txBox="1"/>
          <p:nvPr/>
        </p:nvSpPr>
        <p:spPr>
          <a:xfrm>
            <a:off x="640080" y="1389888"/>
            <a:ext cx="3566160" cy="219456"/>
          </a:xfrm>
          <a:prstGeom prst="rect">
            <a:avLst/>
          </a:prstGeom>
          <a:noFill/>
          <a:ln/>
        </p:spPr>
        <p:txBody>
          <a:bodyPr wrap="square" lIns="0" tIns="0" rIns="0" bIns="0" rtlCol="0" anchor="ctr"/>
          <a:lstStyle/>
          <a:p>
            <a:pPr indent="0" marL="0">
              <a:buNone/>
            </a:pPr>
            <a:r>
              <a:rPr lang="en-US" sz="1000" b="1" spc="200" kern="0" dirty="0">
                <a:solidFill>
                  <a:srgbClr val="D49A00"/>
                </a:solidFill>
                <a:latin typeface="Calibri" pitchFamily="34" charset="0"/>
                <a:ea typeface="Calibri" pitchFamily="34" charset="-122"/>
                <a:cs typeface="Calibri" pitchFamily="34" charset="-120"/>
              </a:rPr>
              <a:t>PROJECT NAME</a:t>
            </a:r>
            <a:endParaRPr lang="en-US" sz="1000" dirty="0"/>
          </a:p>
        </p:txBody>
      </p:sp>
      <p:pic>
        <p:nvPicPr>
          <p:cNvPr id="17" name="Image 0" descr="img/zoom_name.png">    </p:cNvPr>
          <p:cNvPicPr>
            <a:picLocks noChangeAspect="1"/>
          </p:cNvPicPr>
          <p:nvPr/>
        </p:nvPicPr>
        <p:blipFill>
          <a:blip r:embed="rId1"/>
          <a:stretch>
            <a:fillRect/>
          </a:stretch>
        </p:blipFill>
        <p:spPr>
          <a:xfrm>
            <a:off x="640080" y="1691640"/>
            <a:ext cx="3566160" cy="577378"/>
          </a:xfrm>
          <a:prstGeom prst="rect">
            <a:avLst/>
          </a:prstGeom>
        </p:spPr>
      </p:pic>
      <p:sp>
        <p:nvSpPr>
          <p:cNvPr id="18" name="Text 14"/>
          <p:cNvSpPr txBox="1"/>
          <p:nvPr/>
        </p:nvSpPr>
        <p:spPr>
          <a:xfrm>
            <a:off x="640080" y="2395728"/>
            <a:ext cx="3566160" cy="77724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Readable, editable, not necessarily unique. Earth Engine does not accept it.</a:t>
            </a:r>
            <a:endParaRPr lang="en-US" sz="1150" dirty="0"/>
          </a:p>
        </p:txBody>
      </p:sp>
      <p:sp>
        <p:nvSpPr>
          <p:cNvPr id="19" name="Shape 15"/>
          <p:cNvSpPr/>
          <p:nvPr/>
        </p:nvSpPr>
        <p:spPr>
          <a:xfrm>
            <a:off x="4663440" y="1280160"/>
            <a:ext cx="3931920" cy="2011680"/>
          </a:xfrm>
          <a:prstGeom prst="roundRect">
            <a:avLst>
              <a:gd name="adj" fmla="val 3636"/>
            </a:avLst>
          </a:prstGeom>
          <a:solidFill>
            <a:srgbClr val="E8F5EF"/>
          </a:solidFill>
          <a:ln w="19050">
            <a:solidFill>
              <a:srgbClr val="00A86A"/>
            </a:solidFill>
            <a:prstDash val="solid"/>
          </a:ln>
        </p:spPr>
      </p:sp>
      <p:sp>
        <p:nvSpPr>
          <p:cNvPr id="20" name="Text 16"/>
          <p:cNvSpPr txBox="1"/>
          <p:nvPr/>
        </p:nvSpPr>
        <p:spPr>
          <a:xfrm>
            <a:off x="4846320" y="1389888"/>
            <a:ext cx="3566160" cy="219456"/>
          </a:xfrm>
          <a:prstGeom prst="rect">
            <a:avLst/>
          </a:prstGeom>
          <a:noFill/>
          <a:ln/>
        </p:spPr>
        <p:txBody>
          <a:bodyPr wrap="square" lIns="0" tIns="0" rIns="0" bIns="0" rtlCol="0" anchor="ctr"/>
          <a:lstStyle/>
          <a:p>
            <a:pPr indent="0" marL="0">
              <a:buNone/>
            </a:pPr>
            <a:r>
              <a:rPr lang="en-US" sz="1000" b="1" spc="200" kern="0" dirty="0">
                <a:solidFill>
                  <a:srgbClr val="00A86A"/>
                </a:solidFill>
                <a:latin typeface="Calibri" pitchFamily="34" charset="0"/>
                <a:ea typeface="Calibri" pitchFamily="34" charset="-122"/>
                <a:cs typeface="Calibri" pitchFamily="34" charset="-120"/>
              </a:rPr>
              <a:t>PROJECT ID</a:t>
            </a:r>
            <a:endParaRPr lang="en-US" sz="1000" dirty="0"/>
          </a:p>
        </p:txBody>
      </p:sp>
      <p:sp>
        <p:nvSpPr>
          <p:cNvPr id="21" name="Text 17"/>
          <p:cNvSpPr txBox="1"/>
          <p:nvPr/>
        </p:nvSpPr>
        <p:spPr>
          <a:xfrm>
            <a:off x="4846320" y="1719072"/>
            <a:ext cx="3566160" cy="457200"/>
          </a:xfrm>
          <a:prstGeom prst="rect">
            <a:avLst/>
          </a:prstGeom>
          <a:noFill/>
          <a:ln/>
        </p:spPr>
        <p:txBody>
          <a:bodyPr wrap="square" lIns="0" tIns="0" rIns="0" bIns="0" rtlCol="0" anchor="ctr"/>
          <a:lstStyle/>
          <a:p>
            <a:pPr indent="0" marL="0">
              <a:buNone/>
            </a:pPr>
            <a:r>
              <a:rPr lang="en-US" sz="2200" b="1" dirty="0">
                <a:solidFill>
                  <a:srgbClr val="231F20"/>
                </a:solidFill>
                <a:latin typeface="Courier New" pitchFamily="34" charset="0"/>
                <a:ea typeface="Courier New" pitchFamily="34" charset="-122"/>
                <a:cs typeface="Courier New" pitchFamily="34" charset="-120"/>
              </a:rPr>
              <a:t>ai-horizon-491909</a:t>
            </a:r>
            <a:endParaRPr lang="en-US" sz="2200" dirty="0"/>
          </a:p>
        </p:txBody>
      </p:sp>
      <p:sp>
        <p:nvSpPr>
          <p:cNvPr id="22" name="Text 18"/>
          <p:cNvSpPr txBox="1"/>
          <p:nvPr/>
        </p:nvSpPr>
        <p:spPr>
          <a:xfrm>
            <a:off x="4846320" y="2395728"/>
            <a:ext cx="3566160" cy="77724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Lowercase, digits, hyphens. Unique across Google Cloud. Permanent. This is what you type.</a:t>
            </a:r>
            <a:endParaRPr lang="en-US" sz="1150" dirty="0"/>
          </a:p>
        </p:txBody>
      </p:sp>
      <p:sp>
        <p:nvSpPr>
          <p:cNvPr id="23" name="Text 19"/>
          <p:cNvSpPr txBox="1"/>
          <p:nvPr/>
        </p:nvSpPr>
        <p:spPr>
          <a:xfrm>
            <a:off x="457200" y="3493008"/>
            <a:ext cx="7315200" cy="219456"/>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THREE WAYS TO FIND IT</a:t>
            </a:r>
            <a:endParaRPr lang="en-US" sz="1000" dirty="0"/>
          </a:p>
        </p:txBody>
      </p:sp>
      <p:sp>
        <p:nvSpPr>
          <p:cNvPr id="24" name="Shape 20"/>
          <p:cNvSpPr/>
          <p:nvPr/>
        </p:nvSpPr>
        <p:spPr>
          <a:xfrm>
            <a:off x="457200" y="3785616"/>
            <a:ext cx="274320" cy="274320"/>
          </a:xfrm>
          <a:prstGeom prst="ellipse">
            <a:avLst/>
          </a:prstGeom>
          <a:solidFill>
            <a:srgbClr val="0E7C86"/>
          </a:solidFill>
          <a:ln w="19050">
            <a:solidFill>
              <a:srgbClr val="FFFFFF"/>
            </a:solidFill>
            <a:prstDash val="solid"/>
          </a:ln>
        </p:spPr>
      </p:sp>
      <p:sp>
        <p:nvSpPr>
          <p:cNvPr id="25" name="Text 21"/>
          <p:cNvSpPr txBox="1"/>
          <p:nvPr/>
        </p:nvSpPr>
        <p:spPr>
          <a:xfrm>
            <a:off x="457200" y="378561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a:t>
            </a:r>
            <a:endParaRPr lang="en-US" sz="1080" dirty="0"/>
          </a:p>
        </p:txBody>
      </p:sp>
      <p:sp>
        <p:nvSpPr>
          <p:cNvPr id="26" name="Text 22"/>
          <p:cNvSpPr txBox="1"/>
          <p:nvPr/>
        </p:nvSpPr>
        <p:spPr>
          <a:xfrm>
            <a:off x="822960" y="3749040"/>
            <a:ext cx="228600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Console address</a:t>
            </a:r>
            <a:endParaRPr lang="en-US" sz="1200" dirty="0"/>
          </a:p>
        </p:txBody>
      </p:sp>
      <p:sp>
        <p:nvSpPr>
          <p:cNvPr id="27" name="Text 23"/>
          <p:cNvSpPr txBox="1"/>
          <p:nvPr/>
        </p:nvSpPr>
        <p:spPr>
          <a:xfrm>
            <a:off x="822960" y="3986784"/>
            <a:ext cx="2286000" cy="4114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the project= parameter in the URL</a:t>
            </a:r>
            <a:endParaRPr lang="en-US" sz="1000" dirty="0"/>
          </a:p>
        </p:txBody>
      </p:sp>
      <p:sp>
        <p:nvSpPr>
          <p:cNvPr id="28" name="Shape 24"/>
          <p:cNvSpPr/>
          <p:nvPr/>
        </p:nvSpPr>
        <p:spPr>
          <a:xfrm>
            <a:off x="3218688" y="3785616"/>
            <a:ext cx="274320" cy="274320"/>
          </a:xfrm>
          <a:prstGeom prst="ellipse">
            <a:avLst/>
          </a:prstGeom>
          <a:solidFill>
            <a:srgbClr val="0E7C86"/>
          </a:solidFill>
          <a:ln w="19050">
            <a:solidFill>
              <a:srgbClr val="FFFFFF"/>
            </a:solidFill>
            <a:prstDash val="solid"/>
          </a:ln>
        </p:spPr>
      </p:sp>
      <p:sp>
        <p:nvSpPr>
          <p:cNvPr id="29" name="Text 25"/>
          <p:cNvSpPr txBox="1"/>
          <p:nvPr/>
        </p:nvSpPr>
        <p:spPr>
          <a:xfrm>
            <a:off x="3218688" y="378561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2</a:t>
            </a:r>
            <a:endParaRPr lang="en-US" sz="1080" dirty="0"/>
          </a:p>
        </p:txBody>
      </p:sp>
      <p:sp>
        <p:nvSpPr>
          <p:cNvPr id="30" name="Text 26"/>
          <p:cNvSpPr txBox="1"/>
          <p:nvPr/>
        </p:nvSpPr>
        <p:spPr>
          <a:xfrm>
            <a:off x="3584448" y="3749040"/>
            <a:ext cx="228600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Project selector</a:t>
            </a:r>
            <a:endParaRPr lang="en-US" sz="1200" dirty="0"/>
          </a:p>
        </p:txBody>
      </p:sp>
      <p:sp>
        <p:nvSpPr>
          <p:cNvPr id="31" name="Text 27"/>
          <p:cNvSpPr txBox="1"/>
          <p:nvPr/>
        </p:nvSpPr>
        <p:spPr>
          <a:xfrm>
            <a:off x="3584448" y="3986784"/>
            <a:ext cx="2286000" cy="4114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click the name: the window shows name and ID</a:t>
            </a:r>
            <a:endParaRPr lang="en-US" sz="1000" dirty="0"/>
          </a:p>
        </p:txBody>
      </p:sp>
      <p:sp>
        <p:nvSpPr>
          <p:cNvPr id="32" name="Shape 28"/>
          <p:cNvSpPr/>
          <p:nvPr/>
        </p:nvSpPr>
        <p:spPr>
          <a:xfrm>
            <a:off x="5980176" y="3785616"/>
            <a:ext cx="274320" cy="274320"/>
          </a:xfrm>
          <a:prstGeom prst="ellipse">
            <a:avLst/>
          </a:prstGeom>
          <a:solidFill>
            <a:srgbClr val="0E7C86"/>
          </a:solidFill>
          <a:ln w="19050">
            <a:solidFill>
              <a:srgbClr val="FFFFFF"/>
            </a:solidFill>
            <a:prstDash val="solid"/>
          </a:ln>
        </p:spPr>
      </p:sp>
      <p:sp>
        <p:nvSpPr>
          <p:cNvPr id="33" name="Text 29"/>
          <p:cNvSpPr txBox="1"/>
          <p:nvPr/>
        </p:nvSpPr>
        <p:spPr>
          <a:xfrm>
            <a:off x="5980176" y="378561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3</a:t>
            </a:r>
            <a:endParaRPr lang="en-US" sz="1080" dirty="0"/>
          </a:p>
        </p:txBody>
      </p:sp>
      <p:sp>
        <p:nvSpPr>
          <p:cNvPr id="34" name="Text 30"/>
          <p:cNvSpPr txBox="1"/>
          <p:nvPr/>
        </p:nvSpPr>
        <p:spPr>
          <a:xfrm>
            <a:off x="6345936" y="3749040"/>
            <a:ext cx="228600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Code Editor Earth Engine</a:t>
            </a:r>
            <a:endParaRPr lang="en-US" sz="1200" dirty="0"/>
          </a:p>
        </p:txBody>
      </p:sp>
      <p:sp>
        <p:nvSpPr>
          <p:cNvPr id="35" name="Text 31"/>
          <p:cNvSpPr txBox="1"/>
          <p:nvPr/>
        </p:nvSpPr>
        <p:spPr>
          <a:xfrm>
            <a:off x="6345936" y="3986784"/>
            <a:ext cx="2286000" cy="41148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profile menu, top right</a:t>
            </a:r>
            <a:endParaRPr lang="en-US" sz="1000" dirty="0"/>
          </a:p>
        </p:txBody>
      </p:sp>
      <p:sp>
        <p:nvSpPr>
          <p:cNvPr id="36" name="Text 32"/>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Real screenshot (project selector, Google Cloud console).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CHECK IN THE CONSOLE</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Check the registration and the API</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0E7C86"/>
          </a:solidFill>
          <a:ln w="12700">
            <a:solidFill>
              <a:srgbClr val="0E7C86"/>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pic>
        <p:nvPicPr>
          <p:cNvPr id="15" name="Image 0" descr="img/zoom_menu.png">    </p:cNvPr>
          <p:cNvPicPr>
            <a:picLocks noChangeAspect="1"/>
          </p:cNvPicPr>
          <p:nvPr/>
        </p:nvPicPr>
        <p:blipFill>
          <a:blip r:embed="rId1"/>
          <a:stretch>
            <a:fillRect/>
          </a:stretch>
        </p:blipFill>
        <p:spPr>
          <a:xfrm>
            <a:off x="457200" y="1298448"/>
            <a:ext cx="2651760" cy="1205345"/>
          </a:xfrm>
          <a:prstGeom prst="rect">
            <a:avLst/>
          </a:prstGeom>
        </p:spPr>
      </p:pic>
      <p:sp>
        <p:nvSpPr>
          <p:cNvPr id="16" name="Shape 12"/>
          <p:cNvSpPr/>
          <p:nvPr/>
        </p:nvSpPr>
        <p:spPr>
          <a:xfrm>
            <a:off x="457200" y="1298448"/>
            <a:ext cx="2651760" cy="1205345"/>
          </a:xfrm>
          <a:prstGeom prst="rect">
            <a:avLst/>
          </a:prstGeom>
          <a:solidFill>
            <a:srgbClr val="FFFFFF">
              <a:alpha val="0"/>
            </a:srgbClr>
          </a:solidFill>
          <a:ln w="9525">
            <a:solidFill>
              <a:srgbClr val="D5DED9"/>
            </a:solidFill>
            <a:prstDash val="solid"/>
          </a:ln>
        </p:spPr>
      </p:sp>
      <p:sp>
        <p:nvSpPr>
          <p:cNvPr id="17" name="Text 13"/>
          <p:cNvSpPr txBox="1"/>
          <p:nvPr/>
        </p:nvSpPr>
        <p:spPr>
          <a:xfrm>
            <a:off x="457200" y="2560320"/>
            <a:ext cx="265176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Real screenshot · Earth Engine menu.</a:t>
            </a:r>
            <a:endParaRPr lang="en-US" sz="900" dirty="0"/>
          </a:p>
        </p:txBody>
      </p:sp>
      <p:sp>
        <p:nvSpPr>
          <p:cNvPr id="18" name="Text 14"/>
          <p:cNvSpPr txBox="1"/>
          <p:nvPr/>
        </p:nvSpPr>
        <p:spPr>
          <a:xfrm>
            <a:off x="457200" y="2852928"/>
            <a:ext cx="2926080" cy="219456"/>
          </a:xfrm>
          <a:prstGeom prst="rect">
            <a:avLst/>
          </a:prstGeom>
          <a:noFill/>
          <a:ln/>
        </p:spPr>
        <p:txBody>
          <a:bodyPr wrap="square" lIns="0" tIns="0" rIns="0" bIns="0" rtlCol="0" anchor="ctr"/>
          <a:lstStyle/>
          <a:p>
            <a:pPr indent="0" marL="0">
              <a:buNone/>
            </a:pPr>
            <a:r>
              <a:rPr lang="en-US" sz="900" b="1" spc="150" kern="0" dirty="0">
                <a:solidFill>
                  <a:srgbClr val="00704A"/>
                </a:solidFill>
                <a:latin typeface="Calibri" pitchFamily="34" charset="0"/>
                <a:ea typeface="Calibri" pitchFamily="34" charset="-122"/>
                <a:cs typeface="Calibri" pitchFamily="34" charset="-120"/>
              </a:rPr>
              <a:t>UNDER “CONFIGURATION”, YOU SHOULD SEE</a:t>
            </a:r>
            <a:endParaRPr lang="en-US" sz="900" dirty="0"/>
          </a:p>
        </p:txBody>
      </p:sp>
      <p:pic>
        <p:nvPicPr>
          <p:cNvPr id="19" name="Image 1" descr="preencoded.png">    </p:cNvPr>
          <p:cNvPicPr>
            <a:picLocks noChangeAspect="1"/>
          </p:cNvPicPr>
          <p:nvPr/>
        </p:nvPicPr>
        <p:blipFill>
          <a:blip r:embed="rId2"/>
          <a:stretch>
            <a:fillRect/>
          </a:stretch>
        </p:blipFill>
        <p:spPr>
          <a:xfrm>
            <a:off x="457200" y="3154680"/>
            <a:ext cx="219456" cy="219456"/>
          </a:xfrm>
          <a:prstGeom prst="rect">
            <a:avLst/>
          </a:prstGeom>
        </p:spPr>
      </p:pic>
      <p:sp>
        <p:nvSpPr>
          <p:cNvPr id="20" name="Text 15"/>
          <p:cNvSpPr txBox="1"/>
          <p:nvPr/>
        </p:nvSpPr>
        <p:spPr>
          <a:xfrm>
            <a:off x="777240" y="3136392"/>
            <a:ext cx="265176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Project registered — noncommercial use</a:t>
            </a:r>
            <a:endParaRPr lang="en-US" sz="1100" dirty="0"/>
          </a:p>
        </p:txBody>
      </p:sp>
      <p:pic>
        <p:nvPicPr>
          <p:cNvPr id="21" name="Image 2" descr="preencoded.png">    </p:cNvPr>
          <p:cNvPicPr>
            <a:picLocks noChangeAspect="1"/>
          </p:cNvPicPr>
          <p:nvPr/>
        </p:nvPicPr>
        <p:blipFill>
          <a:blip r:embed="rId3"/>
          <a:stretch>
            <a:fillRect/>
          </a:stretch>
        </p:blipFill>
        <p:spPr>
          <a:xfrm>
            <a:off x="457200" y="3483864"/>
            <a:ext cx="219456" cy="219456"/>
          </a:xfrm>
          <a:prstGeom prst="rect">
            <a:avLst/>
          </a:prstGeom>
        </p:spPr>
      </p:pic>
      <p:sp>
        <p:nvSpPr>
          <p:cNvPr id="22" name="Text 16"/>
          <p:cNvSpPr txBox="1"/>
          <p:nvPr/>
        </p:nvSpPr>
        <p:spPr>
          <a:xfrm>
            <a:off x="777240" y="3465576"/>
            <a:ext cx="265176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Eligibility questionnaire completed</a:t>
            </a:r>
            <a:endParaRPr lang="en-US" sz="1100" dirty="0"/>
          </a:p>
        </p:txBody>
      </p:sp>
      <p:pic>
        <p:nvPicPr>
          <p:cNvPr id="23" name="Image 3" descr="preencoded.png">    </p:cNvPr>
          <p:cNvPicPr>
            <a:picLocks noChangeAspect="1"/>
          </p:cNvPicPr>
          <p:nvPr/>
        </p:nvPicPr>
        <p:blipFill>
          <a:blip r:embed="rId4"/>
          <a:stretch>
            <a:fillRect/>
          </a:stretch>
        </p:blipFill>
        <p:spPr>
          <a:xfrm>
            <a:off x="457200" y="3813048"/>
            <a:ext cx="219456" cy="219456"/>
          </a:xfrm>
          <a:prstGeom prst="rect">
            <a:avLst/>
          </a:prstGeom>
        </p:spPr>
      </p:pic>
      <p:sp>
        <p:nvSpPr>
          <p:cNvPr id="24" name="Text 17"/>
          <p:cNvSpPr txBox="1"/>
          <p:nvPr/>
        </p:nvSpPr>
        <p:spPr>
          <a:xfrm>
            <a:off x="777240" y="3794760"/>
            <a:ext cx="2651760" cy="25603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Quota tier selected</a:t>
            </a:r>
            <a:endParaRPr lang="en-US" sz="1100" dirty="0"/>
          </a:p>
        </p:txBody>
      </p:sp>
      <p:sp>
        <p:nvSpPr>
          <p:cNvPr id="25" name="Shape 18"/>
          <p:cNvSpPr/>
          <p:nvPr/>
        </p:nvSpPr>
        <p:spPr>
          <a:xfrm>
            <a:off x="3657600" y="1298448"/>
            <a:ext cx="4937760" cy="1417320"/>
          </a:xfrm>
          <a:prstGeom prst="roundRect">
            <a:avLst>
              <a:gd name="adj" fmla="val 5161"/>
            </a:avLst>
          </a:prstGeom>
          <a:solidFill>
            <a:srgbClr val="F4F7F5"/>
          </a:solidFill>
          <a:ln w="9525">
            <a:solidFill>
              <a:srgbClr val="D5DED9"/>
            </a:solidFill>
            <a:prstDash val="solid"/>
          </a:ln>
        </p:spPr>
      </p:sp>
      <p:sp>
        <p:nvSpPr>
          <p:cNvPr id="26" name="Shape 19"/>
          <p:cNvSpPr/>
          <p:nvPr/>
        </p:nvSpPr>
        <p:spPr>
          <a:xfrm>
            <a:off x="3822192" y="1444752"/>
            <a:ext cx="457200" cy="457200"/>
          </a:xfrm>
          <a:prstGeom prst="ellipse">
            <a:avLst/>
          </a:prstGeom>
          <a:solidFill>
            <a:srgbClr val="0E7C86">
              <a:alpha val="20000"/>
            </a:srgbClr>
          </a:solidFill>
          <a:ln w="12700">
            <a:solidFill>
              <a:srgbClr val="0E7C86">
                <a:alpha val="0"/>
              </a:srgbClr>
            </a:solidFill>
            <a:prstDash val="solid"/>
          </a:ln>
        </p:spPr>
      </p:sp>
      <p:pic>
        <p:nvPicPr>
          <p:cNvPr id="27" name="Image 4" descr="preencoded.png">    </p:cNvPr>
          <p:cNvPicPr>
            <a:picLocks noChangeAspect="1"/>
          </p:cNvPicPr>
          <p:nvPr/>
        </p:nvPicPr>
        <p:blipFill>
          <a:blip r:embed="rId5"/>
          <a:stretch>
            <a:fillRect/>
          </a:stretch>
        </p:blipFill>
        <p:spPr>
          <a:xfrm>
            <a:off x="3922776" y="1545336"/>
            <a:ext cx="256032" cy="256032"/>
          </a:xfrm>
          <a:prstGeom prst="rect">
            <a:avLst/>
          </a:prstGeom>
        </p:spPr>
      </p:pic>
      <p:sp>
        <p:nvSpPr>
          <p:cNvPr id="28" name="Text 20"/>
          <p:cNvSpPr txBox="1"/>
          <p:nvPr/>
        </p:nvSpPr>
        <p:spPr>
          <a:xfrm>
            <a:off x="4434840" y="1417320"/>
            <a:ext cx="4023360" cy="27432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Registration incomplete?</a:t>
            </a:r>
            <a:endParaRPr lang="en-US" sz="1350" dirty="0"/>
          </a:p>
        </p:txBody>
      </p:sp>
      <p:sp>
        <p:nvSpPr>
          <p:cNvPr id="29" name="Text 21"/>
          <p:cNvSpPr txBox="1"/>
          <p:nvPr/>
        </p:nvSpPr>
        <p:spPr>
          <a:xfrm>
            <a:off x="4434840" y="1700784"/>
            <a:ext cx="402336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Resume the flow at this address, replacing with your ID:</a:t>
            </a:r>
            <a:endParaRPr lang="en-US" sz="1050" dirty="0"/>
          </a:p>
        </p:txBody>
      </p:sp>
      <p:sp>
        <p:nvSpPr>
          <p:cNvPr id="30" name="Text 22"/>
          <p:cNvSpPr txBox="1"/>
          <p:nvPr/>
        </p:nvSpPr>
        <p:spPr>
          <a:xfrm>
            <a:off x="3840480" y="2194560"/>
            <a:ext cx="4663440" cy="329184"/>
          </a:xfrm>
          <a:prstGeom prst="rect">
            <a:avLst/>
          </a:prstGeom>
          <a:noFill/>
          <a:ln/>
        </p:spPr>
        <p:txBody>
          <a:bodyPr wrap="square" lIns="0" tIns="0" rIns="0" bIns="0" rtlCol="0" anchor="ctr"/>
          <a:lstStyle/>
          <a:p>
            <a:pPr indent="0" marL="0">
              <a:buNone/>
            </a:pPr>
            <a:r>
              <a:rPr lang="en-US" sz="1000" b="1" dirty="0">
                <a:solidFill>
                  <a:srgbClr val="00704A"/>
                </a:solidFill>
                <a:latin typeface="Courier New" pitchFamily="34" charset="0"/>
                <a:ea typeface="Courier New" pitchFamily="34" charset="-122"/>
                <a:cs typeface="Courier New" pitchFamily="34" charset="-120"/>
              </a:rPr>
              <a:t>code.earthengine.google.com/register?project=YOUR-ID</a:t>
            </a:r>
            <a:endParaRPr lang="en-US" sz="1000" dirty="0"/>
          </a:p>
        </p:txBody>
      </p:sp>
      <p:sp>
        <p:nvSpPr>
          <p:cNvPr id="31" name="Shape 23"/>
          <p:cNvSpPr/>
          <p:nvPr/>
        </p:nvSpPr>
        <p:spPr>
          <a:xfrm>
            <a:off x="3657600" y="2852928"/>
            <a:ext cx="4937760" cy="1600200"/>
          </a:xfrm>
          <a:prstGeom prst="roundRect">
            <a:avLst>
              <a:gd name="adj" fmla="val 4571"/>
            </a:avLst>
          </a:prstGeom>
          <a:solidFill>
            <a:srgbClr val="F4F7F5"/>
          </a:solidFill>
          <a:ln w="9525">
            <a:solidFill>
              <a:srgbClr val="D5DED9"/>
            </a:solidFill>
            <a:prstDash val="solid"/>
          </a:ln>
        </p:spPr>
      </p:sp>
      <p:sp>
        <p:nvSpPr>
          <p:cNvPr id="32" name="Shape 24"/>
          <p:cNvSpPr/>
          <p:nvPr/>
        </p:nvSpPr>
        <p:spPr>
          <a:xfrm>
            <a:off x="3822192" y="2999232"/>
            <a:ext cx="457200" cy="457200"/>
          </a:xfrm>
          <a:prstGeom prst="ellipse">
            <a:avLst/>
          </a:prstGeom>
          <a:solidFill>
            <a:srgbClr val="D49A00">
              <a:alpha val="20000"/>
            </a:srgbClr>
          </a:solidFill>
          <a:ln w="12700">
            <a:solidFill>
              <a:srgbClr val="D49A00">
                <a:alpha val="0"/>
              </a:srgbClr>
            </a:solidFill>
            <a:prstDash val="solid"/>
          </a:ln>
        </p:spPr>
      </p:sp>
      <p:pic>
        <p:nvPicPr>
          <p:cNvPr id="33" name="Image 5" descr="preencoded.png">    </p:cNvPr>
          <p:cNvPicPr>
            <a:picLocks noChangeAspect="1"/>
          </p:cNvPicPr>
          <p:nvPr/>
        </p:nvPicPr>
        <p:blipFill>
          <a:blip r:embed="rId6"/>
          <a:stretch>
            <a:fillRect/>
          </a:stretch>
        </p:blipFill>
        <p:spPr>
          <a:xfrm>
            <a:off x="3922776" y="3099816"/>
            <a:ext cx="256032" cy="256032"/>
          </a:xfrm>
          <a:prstGeom prst="rect">
            <a:avLst/>
          </a:prstGeom>
        </p:spPr>
      </p:pic>
      <p:sp>
        <p:nvSpPr>
          <p:cNvPr id="34" name="Text 25"/>
          <p:cNvSpPr txBox="1"/>
          <p:nvPr/>
        </p:nvSpPr>
        <p:spPr>
          <a:xfrm>
            <a:off x="4434840" y="2971800"/>
            <a:ext cx="4023360" cy="27432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Is the Earth Engine API enabled?</a:t>
            </a:r>
            <a:endParaRPr lang="en-US" sz="1350" dirty="0"/>
          </a:p>
        </p:txBody>
      </p:sp>
      <p:sp>
        <p:nvSpPr>
          <p:cNvPr id="35" name="Text 26"/>
          <p:cNvSpPr txBox="1"/>
          <p:nvPr/>
        </p:nvSpPr>
        <p:spPr>
          <a:xfrm>
            <a:off x="4434840" y="3255264"/>
            <a:ext cx="402336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Normally yes if you went through the registration page. Otherwise, open this page, check the project selected at the top, then click “Enable”:</a:t>
            </a:r>
            <a:endParaRPr lang="en-US" sz="1050" dirty="0"/>
          </a:p>
        </p:txBody>
      </p:sp>
      <p:sp>
        <p:nvSpPr>
          <p:cNvPr id="36" name="Text 27"/>
          <p:cNvSpPr txBox="1"/>
          <p:nvPr/>
        </p:nvSpPr>
        <p:spPr>
          <a:xfrm>
            <a:off x="3840480" y="3986784"/>
            <a:ext cx="4663440" cy="329184"/>
          </a:xfrm>
          <a:prstGeom prst="rect">
            <a:avLst/>
          </a:prstGeom>
          <a:noFill/>
          <a:ln/>
        </p:spPr>
        <p:txBody>
          <a:bodyPr wrap="square" lIns="0" tIns="0" rIns="0" bIns="0" rtlCol="0" anchor="ctr"/>
          <a:lstStyle/>
          <a:p>
            <a:pPr indent="0" marL="0">
              <a:buNone/>
            </a:pPr>
            <a:r>
              <a:rPr lang="en-US" sz="900" b="1" dirty="0">
                <a:solidFill>
                  <a:srgbClr val="00704A"/>
                </a:solidFill>
                <a:latin typeface="Courier New" pitchFamily="34" charset="0"/>
                <a:ea typeface="Courier New" pitchFamily="34" charset="-122"/>
                <a:cs typeface="Courier New" pitchFamily="34" charset="-120"/>
              </a:rPr>
              <a:t>console.cloud.google.com/apis/library/earthengine.googleapis.com</a:t>
            </a:r>
            <a:endParaRPr lang="en-US" sz="900" dirty="0"/>
          </a:p>
        </p:txBody>
      </p:sp>
      <p:sp>
        <p:nvSpPr>
          <p:cNvPr id="37"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Earth Engine access; Authentication and Initialization, Troubleshooting section.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14400"/>
            <a:ext cx="2743200" cy="1097280"/>
          </a:xfrm>
          <a:prstGeom prst="rect">
            <a:avLst/>
          </a:prstGeom>
          <a:noFill/>
          <a:ln/>
        </p:spPr>
        <p:txBody>
          <a:bodyPr wrap="square" lIns="0" tIns="0" rIns="0" bIns="0" rtlCol="0" anchor="ctr"/>
          <a:lstStyle/>
          <a:p>
            <a:pPr indent="0" marL="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3" name="Text 1"/>
          <p:cNvSpPr txBox="1"/>
          <p:nvPr/>
        </p:nvSpPr>
        <p:spPr>
          <a:xfrm>
            <a:off x="548640" y="2057400"/>
            <a:ext cx="54864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CONNECT THE NOTEBOOK</a:t>
            </a:r>
            <a:endParaRPr lang="en-US" sz="1100" dirty="0"/>
          </a:p>
        </p:txBody>
      </p:sp>
      <p:sp>
        <p:nvSpPr>
          <p:cNvPr id="4" name="Text 2"/>
          <p:cNvSpPr txBox="1"/>
          <p:nvPr/>
        </p:nvSpPr>
        <p:spPr>
          <a:xfrm>
            <a:off x="548640" y="2377440"/>
            <a:ext cx="5669280" cy="7315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Connect the notebook</a:t>
            </a:r>
            <a:endParaRPr lang="en-US" sz="3200" dirty="0"/>
          </a:p>
        </p:txBody>
      </p:sp>
      <p:sp>
        <p:nvSpPr>
          <p:cNvPr id="5" name="Text 3"/>
          <p:cNvSpPr txBox="1"/>
          <p:nvPr/>
        </p:nvSpPr>
        <p:spPr>
          <a:xfrm>
            <a:off x="548640" y="3154680"/>
            <a:ext cx="5669280" cy="5486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The last mile: from the ID to the first image</a:t>
            </a:r>
            <a:endParaRPr lang="en-US" sz="1600" dirty="0"/>
          </a:p>
        </p:txBody>
      </p:sp>
      <p:sp>
        <p:nvSpPr>
          <p:cNvPr id="6" name="Shape 4"/>
          <p:cNvSpPr/>
          <p:nvPr/>
        </p:nvSpPr>
        <p:spPr>
          <a:xfrm>
            <a:off x="6492240" y="1417320"/>
            <a:ext cx="2011680" cy="2011680"/>
          </a:xfrm>
          <a:prstGeom prst="ellipse">
            <a:avLst/>
          </a:prstGeom>
          <a:solidFill>
            <a:srgbClr val="FFFFFF">
              <a:alpha val="10000"/>
            </a:srgbClr>
          </a:solidFill>
          <a:ln w="19050">
            <a:solidFill>
              <a:srgbClr val="FFFFFF">
                <a:alpha val="45000"/>
              </a:srgbClr>
            </a:solidFill>
            <a:prstDash val="solid"/>
          </a:ln>
        </p:spPr>
      </p:sp>
      <p:sp>
        <p:nvSpPr>
          <p:cNvPr id="7" name="Shape 5"/>
          <p:cNvSpPr/>
          <p:nvPr/>
        </p:nvSpPr>
        <p:spPr>
          <a:xfrm>
            <a:off x="6812280" y="1737360"/>
            <a:ext cx="1371600" cy="1371600"/>
          </a:xfrm>
          <a:prstGeom prst="ellipse">
            <a:avLst/>
          </a:prstGeom>
          <a:solidFill>
            <a:srgbClr val="FFFFFF">
              <a:alpha val="0"/>
            </a:srgbClr>
          </a:solidFill>
          <a:ln w="19050">
            <a:solidFill>
              <a:srgbClr val="FFFFFF">
                <a:alpha val="60000"/>
              </a:srgbClr>
            </a:solidFill>
            <a:prstDash val="solid"/>
          </a:ln>
        </p:spPr>
      </p:sp>
      <p:pic>
        <p:nvPicPr>
          <p:cNvPr id="8" name="Image 0" descr="preencoded.png">    </p:cNvPr>
          <p:cNvPicPr>
            <a:picLocks noChangeAspect="1"/>
          </p:cNvPicPr>
          <p:nvPr/>
        </p:nvPicPr>
        <p:blipFill>
          <a:blip r:embed="rId2"/>
          <a:stretch>
            <a:fillRect/>
          </a:stretch>
        </p:blipFill>
        <p:spPr>
          <a:xfrm>
            <a:off x="7178040" y="2103120"/>
            <a:ext cx="640080" cy="640080"/>
          </a:xfrm>
          <a:prstGeom prst="rect">
            <a:avLst/>
          </a:prstGeom>
        </p:spPr>
      </p:pic>
      <p:sp>
        <p:nvSpPr>
          <p:cNvPr id="9" name="Shape 6"/>
          <p:cNvSpPr/>
          <p:nvPr/>
        </p:nvSpPr>
        <p:spPr>
          <a:xfrm>
            <a:off x="566928" y="406908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804672" y="406908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42416" y="406908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80160" y="4069080"/>
            <a:ext cx="118872" cy="118872"/>
          </a:xfrm>
          <a:prstGeom prst="ellipse">
            <a:avLst/>
          </a:prstGeom>
          <a:solidFill>
            <a:srgbClr val="F5C242"/>
          </a:solidFill>
          <a:ln w="12700">
            <a:solidFill>
              <a:srgbClr val="FFFFFF">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 THE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Answering the notebook prompt in Colab</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pic>
        <p:nvPicPr>
          <p:cNvPr id="15" name="Image 0" descr="img/colab_annot_crop.png">    </p:cNvPr>
          <p:cNvPicPr>
            <a:picLocks noChangeAspect="1"/>
          </p:cNvPicPr>
          <p:nvPr/>
        </p:nvPicPr>
        <p:blipFill>
          <a:blip r:embed="rId1"/>
          <a:stretch>
            <a:fillRect/>
          </a:stretch>
        </p:blipFill>
        <p:spPr>
          <a:xfrm>
            <a:off x="457200" y="1261872"/>
            <a:ext cx="5257800" cy="2439619"/>
          </a:xfrm>
          <a:prstGeom prst="rect">
            <a:avLst/>
          </a:prstGeom>
        </p:spPr>
      </p:pic>
      <p:sp>
        <p:nvSpPr>
          <p:cNvPr id="16" name="Shape 12"/>
          <p:cNvSpPr/>
          <p:nvPr/>
        </p:nvSpPr>
        <p:spPr>
          <a:xfrm>
            <a:off x="457200" y="1261872"/>
            <a:ext cx="5257800" cy="2439619"/>
          </a:xfrm>
          <a:prstGeom prst="rect">
            <a:avLst/>
          </a:prstGeom>
          <a:solidFill>
            <a:srgbClr val="FFFFFF">
              <a:alpha val="0"/>
            </a:srgbClr>
          </a:solidFill>
          <a:ln w="9525">
            <a:solidFill>
              <a:srgbClr val="D5DED9"/>
            </a:solidFill>
            <a:prstDash val="solid"/>
          </a:ln>
        </p:spPr>
      </p:sp>
      <p:sp>
        <p:nvSpPr>
          <p:cNvPr id="17" name="Shape 13"/>
          <p:cNvSpPr/>
          <p:nvPr/>
        </p:nvSpPr>
        <p:spPr>
          <a:xfrm>
            <a:off x="5943600" y="1280160"/>
            <a:ext cx="292608" cy="292608"/>
          </a:xfrm>
          <a:prstGeom prst="ellipse">
            <a:avLst/>
          </a:prstGeom>
          <a:solidFill>
            <a:srgbClr val="00A86A"/>
          </a:solidFill>
          <a:ln w="19050">
            <a:solidFill>
              <a:srgbClr val="FFFFFF"/>
            </a:solidFill>
            <a:prstDash val="solid"/>
          </a:ln>
        </p:spPr>
      </p:sp>
      <p:sp>
        <p:nvSpPr>
          <p:cNvPr id="18" name="Text 14"/>
          <p:cNvSpPr txBox="1"/>
          <p:nvPr/>
        </p:nvSpPr>
        <p:spPr>
          <a:xfrm>
            <a:off x="5943600" y="1280160"/>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1</a:t>
            </a:r>
            <a:endParaRPr lang="en-US" sz="1152" dirty="0"/>
          </a:p>
        </p:txBody>
      </p:sp>
      <p:sp>
        <p:nvSpPr>
          <p:cNvPr id="19" name="Text 15"/>
          <p:cNvSpPr txBox="1"/>
          <p:nvPr/>
        </p:nvSpPr>
        <p:spPr>
          <a:xfrm>
            <a:off x="6327648" y="1261872"/>
            <a:ext cx="2331720" cy="256032"/>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The “gee” provider</a:t>
            </a:r>
            <a:endParaRPr lang="en-US" sz="1250" dirty="0"/>
          </a:p>
        </p:txBody>
      </p:sp>
      <p:sp>
        <p:nvSpPr>
          <p:cNvPr id="20" name="Text 16"/>
          <p:cNvSpPr txBox="1"/>
          <p:nvPr/>
        </p:nvSpPr>
        <p:spPr>
          <a:xfrm>
            <a:off x="6327648" y="1517904"/>
            <a:ext cx="2331720" cy="6858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the notebook starts the real acquisition of 2015.</a:t>
            </a:r>
            <a:endParaRPr lang="en-US" sz="1000" dirty="0"/>
          </a:p>
        </p:txBody>
      </p:sp>
      <p:sp>
        <p:nvSpPr>
          <p:cNvPr id="21" name="Shape 17"/>
          <p:cNvSpPr/>
          <p:nvPr/>
        </p:nvSpPr>
        <p:spPr>
          <a:xfrm>
            <a:off x="5943600" y="2267712"/>
            <a:ext cx="292608" cy="292608"/>
          </a:xfrm>
          <a:prstGeom prst="ellipse">
            <a:avLst/>
          </a:prstGeom>
          <a:solidFill>
            <a:srgbClr val="00A86A"/>
          </a:solidFill>
          <a:ln w="19050">
            <a:solidFill>
              <a:srgbClr val="FFFFFF"/>
            </a:solidFill>
            <a:prstDash val="solid"/>
          </a:ln>
        </p:spPr>
      </p:sp>
      <p:sp>
        <p:nvSpPr>
          <p:cNvPr id="22" name="Text 18"/>
          <p:cNvSpPr txBox="1"/>
          <p:nvPr/>
        </p:nvSpPr>
        <p:spPr>
          <a:xfrm>
            <a:off x="5943600" y="2267712"/>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2</a:t>
            </a:r>
            <a:endParaRPr lang="en-US" sz="1152" dirty="0"/>
          </a:p>
        </p:txBody>
      </p:sp>
      <p:sp>
        <p:nvSpPr>
          <p:cNvPr id="23" name="Text 19"/>
          <p:cNvSpPr txBox="1"/>
          <p:nvPr/>
        </p:nvSpPr>
        <p:spPr>
          <a:xfrm>
            <a:off x="6327648" y="2249424"/>
            <a:ext cx="2331720" cy="256032"/>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The input box</a:t>
            </a:r>
            <a:endParaRPr lang="en-US" sz="1250" dirty="0"/>
          </a:p>
        </p:txBody>
      </p:sp>
      <p:sp>
        <p:nvSpPr>
          <p:cNvPr id="24" name="Text 20"/>
          <p:cNvSpPr txBox="1"/>
          <p:nvPr/>
        </p:nvSpPr>
        <p:spPr>
          <a:xfrm>
            <a:off x="6327648" y="2505456"/>
            <a:ext cx="2331720" cy="6858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type the ID — no quotes or spaces — then Enter.</a:t>
            </a:r>
            <a:endParaRPr lang="en-US" sz="1000" dirty="0"/>
          </a:p>
        </p:txBody>
      </p:sp>
      <p:sp>
        <p:nvSpPr>
          <p:cNvPr id="25" name="Shape 21"/>
          <p:cNvSpPr/>
          <p:nvPr/>
        </p:nvSpPr>
        <p:spPr>
          <a:xfrm>
            <a:off x="5943600" y="3255264"/>
            <a:ext cx="292608" cy="292608"/>
          </a:xfrm>
          <a:prstGeom prst="ellipse">
            <a:avLst/>
          </a:prstGeom>
          <a:solidFill>
            <a:srgbClr val="B83B2E"/>
          </a:solidFill>
          <a:ln w="19050">
            <a:solidFill>
              <a:srgbClr val="FFFFFF"/>
            </a:solidFill>
            <a:prstDash val="solid"/>
          </a:ln>
        </p:spPr>
      </p:sp>
      <p:sp>
        <p:nvSpPr>
          <p:cNvPr id="26" name="Text 22"/>
          <p:cNvSpPr txBox="1"/>
          <p:nvPr/>
        </p:nvSpPr>
        <p:spPr>
          <a:xfrm>
            <a:off x="5943600" y="3255264"/>
            <a:ext cx="292608" cy="292608"/>
          </a:xfrm>
          <a:prstGeom prst="rect">
            <a:avLst/>
          </a:prstGeom>
          <a:noFill/>
          <a:ln/>
        </p:spPr>
        <p:txBody>
          <a:bodyPr wrap="square" lIns="0" tIns="0" rIns="0" bIns="0" rtlCol="0" anchor="ctr"/>
          <a:lstStyle/>
          <a:p>
            <a:pPr algn="ctr" indent="0" marL="0">
              <a:buNone/>
            </a:pPr>
            <a:r>
              <a:rPr lang="en-US" sz="1152" b="1" dirty="0">
                <a:solidFill>
                  <a:srgbClr val="FFFFFF"/>
                </a:solidFill>
                <a:latin typeface="Calibri" pitchFamily="34" charset="0"/>
                <a:ea typeface="Calibri" pitchFamily="34" charset="-122"/>
                <a:cs typeface="Calibri" pitchFamily="34" charset="-120"/>
              </a:rPr>
              <a:t>3</a:t>
            </a:r>
            <a:endParaRPr lang="en-US" sz="1152" dirty="0"/>
          </a:p>
        </p:txBody>
      </p:sp>
      <p:sp>
        <p:nvSpPr>
          <p:cNvPr id="27" name="Text 23"/>
          <p:cNvSpPr txBox="1"/>
          <p:nvPr/>
        </p:nvSpPr>
        <p:spPr>
          <a:xfrm>
            <a:off x="6327648" y="3236976"/>
            <a:ext cx="2331720" cy="256032"/>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Save failure</a:t>
            </a:r>
            <a:endParaRPr lang="en-US" sz="1250" dirty="0"/>
          </a:p>
        </p:txBody>
      </p:sp>
      <p:sp>
        <p:nvSpPr>
          <p:cNvPr id="28" name="Text 24"/>
          <p:cNvSpPr txBox="1"/>
          <p:nvPr/>
        </p:nvSpPr>
        <p:spPr>
          <a:xfrm>
            <a:off x="6327648" y="3493008"/>
            <a:ext cx="2331720" cy="6858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the file is no longer saved. Close the other tabs, then File ▸ Save a copy in Drive.</a:t>
            </a:r>
            <a:endParaRPr lang="en-US" sz="1000" dirty="0"/>
          </a:p>
        </p:txBody>
      </p:sp>
      <p:sp>
        <p:nvSpPr>
          <p:cNvPr id="29" name="Shape 25"/>
          <p:cNvSpPr/>
          <p:nvPr/>
        </p:nvSpPr>
        <p:spPr>
          <a:xfrm>
            <a:off x="5943600" y="4224528"/>
            <a:ext cx="2697480" cy="310896"/>
          </a:xfrm>
          <a:prstGeom prst="roundRect">
            <a:avLst>
              <a:gd name="adj" fmla="val 17647"/>
            </a:avLst>
          </a:prstGeom>
          <a:solidFill>
            <a:srgbClr val="E8F5EF"/>
          </a:solidFill>
          <a:ln w="12700">
            <a:solidFill>
              <a:srgbClr val="00A86A"/>
            </a:solidFill>
            <a:prstDash val="solid"/>
          </a:ln>
        </p:spPr>
      </p:sp>
      <p:sp>
        <p:nvSpPr>
          <p:cNvPr id="30" name="Text 26"/>
          <p:cNvSpPr txBox="1"/>
          <p:nvPr/>
        </p:nvSpPr>
        <p:spPr>
          <a:xfrm>
            <a:off x="6035040" y="4224528"/>
            <a:ext cx="2560320" cy="310896"/>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Type: </a:t>
            </a:r>
            <a:pPr indent="0" marL="0">
              <a:buNone/>
            </a:pPr>
            <a:r>
              <a:rPr lang="en-US" sz="1050" b="1" dirty="0">
                <a:solidFill>
                  <a:srgbClr val="00A86A"/>
                </a:solidFill>
                <a:latin typeface="Courier New" pitchFamily="34" charset="0"/>
                <a:ea typeface="Courier New" pitchFamily="34" charset="-122"/>
                <a:cs typeface="Courier New" pitchFamily="34" charset="-120"/>
              </a:rPr>
              <a:t>ai-horizon-491909 ↵</a:t>
            </a:r>
            <a:endParaRPr lang="en-US" sz="1050" dirty="0"/>
          </a:p>
        </p:txBody>
      </p:sp>
      <p:sp>
        <p:nvSpPr>
          <p:cNvPr id="31" name="Text 27"/>
          <p:cNvSpPr txBox="1"/>
          <p:nvPr/>
        </p:nvSpPr>
        <p:spPr>
          <a:xfrm>
            <a:off x="457200" y="3886200"/>
            <a:ext cx="1828800" cy="182880"/>
          </a:xfrm>
          <a:prstGeom prst="rect">
            <a:avLst/>
          </a:prstGeom>
          <a:noFill/>
          <a:ln/>
        </p:spPr>
        <p:txBody>
          <a:bodyPr wrap="square" lIns="0" tIns="0" rIns="0" bIns="0" rtlCol="0" anchor="ctr"/>
          <a:lstStyle/>
          <a:p>
            <a:pPr indent="0" marL="0">
              <a:buNone/>
            </a:pPr>
            <a:r>
              <a:rPr lang="en-US" sz="850" b="1" spc="200" kern="0" dirty="0">
                <a:solidFill>
                  <a:srgbClr val="00704A"/>
                </a:solidFill>
                <a:latin typeface="Calibri" pitchFamily="34" charset="0"/>
                <a:ea typeface="Calibri" pitchFamily="34" charset="-122"/>
                <a:cs typeface="Calibri" pitchFamily="34" charset="-120"/>
              </a:rPr>
              <a:t>ZOOMED IN</a:t>
            </a:r>
            <a:endParaRPr lang="en-US" sz="850" dirty="0"/>
          </a:p>
        </p:txBody>
      </p:sp>
      <p:pic>
        <p:nvPicPr>
          <p:cNvPr id="32" name="Image 1" descr="img/zoom_prompt.png">    </p:cNvPr>
          <p:cNvPicPr>
            <a:picLocks noChangeAspect="1"/>
          </p:cNvPicPr>
          <p:nvPr/>
        </p:nvPicPr>
        <p:blipFill>
          <a:blip r:embed="rId2"/>
          <a:stretch>
            <a:fillRect/>
          </a:stretch>
        </p:blipFill>
        <p:spPr>
          <a:xfrm>
            <a:off x="457200" y="4087368"/>
            <a:ext cx="5257800" cy="371764"/>
          </a:xfrm>
          <a:prstGeom prst="rect">
            <a:avLst/>
          </a:prstGeom>
        </p:spPr>
      </p:pic>
      <p:sp>
        <p:nvSpPr>
          <p:cNvPr id="33" name="Text 28"/>
          <p:cNvSpPr txBox="1"/>
          <p:nvPr/>
        </p:nvSpPr>
        <p:spPr>
          <a:xfrm>
            <a:off x="457200" y="4590288"/>
            <a:ext cx="525780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Real screenshot · Google Colab, cell 4.2 of the NTL_Africa_STG17 notebook (cropped, French interface).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 THE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Authorising access: what appears next</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5" name="Shape 12"/>
          <p:cNvSpPr/>
          <p:nvPr/>
        </p:nvSpPr>
        <p:spPr>
          <a:xfrm>
            <a:off x="457200" y="1325880"/>
            <a:ext cx="1874520" cy="1737360"/>
          </a:xfrm>
          <a:prstGeom prst="roundRect">
            <a:avLst>
              <a:gd name="adj" fmla="val 4211"/>
            </a:avLst>
          </a:prstGeom>
          <a:solidFill>
            <a:srgbClr val="F4F7F5"/>
          </a:solidFill>
          <a:ln w="15875">
            <a:solidFill>
              <a:srgbClr val="0E7C86"/>
            </a:solidFill>
            <a:prstDash val="solid"/>
          </a:ln>
        </p:spPr>
      </p:sp>
      <p:sp>
        <p:nvSpPr>
          <p:cNvPr id="16" name="Shape 13"/>
          <p:cNvSpPr/>
          <p:nvPr/>
        </p:nvSpPr>
        <p:spPr>
          <a:xfrm>
            <a:off x="621792" y="1463040"/>
            <a:ext cx="329184" cy="329184"/>
          </a:xfrm>
          <a:prstGeom prst="ellipse">
            <a:avLst/>
          </a:prstGeom>
          <a:solidFill>
            <a:srgbClr val="0E7C86"/>
          </a:solidFill>
          <a:ln w="19050">
            <a:solidFill>
              <a:srgbClr val="FFFFFF"/>
            </a:solidFill>
            <a:prstDash val="solid"/>
          </a:ln>
        </p:spPr>
      </p:sp>
      <p:sp>
        <p:nvSpPr>
          <p:cNvPr id="17" name="Text 14"/>
          <p:cNvSpPr txBox="1"/>
          <p:nvPr/>
        </p:nvSpPr>
        <p:spPr>
          <a:xfrm>
            <a:off x="621792"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1</a:t>
            </a:r>
            <a:endParaRPr lang="en-US" sz="1296" dirty="0"/>
          </a:p>
        </p:txBody>
      </p:sp>
      <p:sp>
        <p:nvSpPr>
          <p:cNvPr id="18" name="Text 15"/>
          <p:cNvSpPr txBox="1"/>
          <p:nvPr/>
        </p:nvSpPr>
        <p:spPr>
          <a:xfrm>
            <a:off x="621792"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Authorisation window</a:t>
            </a:r>
            <a:endParaRPr lang="en-US" sz="1300" dirty="0"/>
          </a:p>
        </p:txBody>
      </p:sp>
      <p:sp>
        <p:nvSpPr>
          <p:cNvPr id="19" name="Text 16"/>
          <p:cNvSpPr txBox="1"/>
          <p:nvPr/>
        </p:nvSpPr>
        <p:spPr>
          <a:xfrm>
            <a:off x="621792"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Colab asks to access your Google credentials.</a:t>
            </a:r>
            <a:endParaRPr lang="en-US" sz="1050" dirty="0"/>
          </a:p>
        </p:txBody>
      </p:sp>
      <p:sp>
        <p:nvSpPr>
          <p:cNvPr id="20" name="Shape 17"/>
          <p:cNvSpPr/>
          <p:nvPr/>
        </p:nvSpPr>
        <p:spPr>
          <a:xfrm>
            <a:off x="2350008" y="2194560"/>
            <a:ext cx="173736" cy="0"/>
          </a:xfrm>
          <a:prstGeom prst="line">
            <a:avLst/>
          </a:prstGeom>
          <a:noFill/>
          <a:ln w="15875">
            <a:solidFill>
              <a:srgbClr val="5E6964"/>
            </a:solidFill>
            <a:prstDash val="solid"/>
            <a:tailEnd type="triangle"/>
          </a:ln>
        </p:spPr>
      </p:sp>
      <p:sp>
        <p:nvSpPr>
          <p:cNvPr id="21" name="Shape 18"/>
          <p:cNvSpPr/>
          <p:nvPr/>
        </p:nvSpPr>
        <p:spPr>
          <a:xfrm>
            <a:off x="2542032" y="1325880"/>
            <a:ext cx="1874520" cy="1737360"/>
          </a:xfrm>
          <a:prstGeom prst="roundRect">
            <a:avLst>
              <a:gd name="adj" fmla="val 4211"/>
            </a:avLst>
          </a:prstGeom>
          <a:solidFill>
            <a:srgbClr val="F4F7F5"/>
          </a:solidFill>
          <a:ln w="15875">
            <a:solidFill>
              <a:srgbClr val="D49A00"/>
            </a:solidFill>
            <a:prstDash val="solid"/>
          </a:ln>
        </p:spPr>
      </p:sp>
      <p:sp>
        <p:nvSpPr>
          <p:cNvPr id="22" name="Shape 19"/>
          <p:cNvSpPr/>
          <p:nvPr/>
        </p:nvSpPr>
        <p:spPr>
          <a:xfrm>
            <a:off x="2706624" y="1463040"/>
            <a:ext cx="329184" cy="329184"/>
          </a:xfrm>
          <a:prstGeom prst="ellipse">
            <a:avLst/>
          </a:prstGeom>
          <a:solidFill>
            <a:srgbClr val="D49A00"/>
          </a:solidFill>
          <a:ln w="19050">
            <a:solidFill>
              <a:srgbClr val="FFFFFF"/>
            </a:solidFill>
            <a:prstDash val="solid"/>
          </a:ln>
        </p:spPr>
      </p:sp>
      <p:sp>
        <p:nvSpPr>
          <p:cNvPr id="23" name="Text 20"/>
          <p:cNvSpPr txBox="1"/>
          <p:nvPr/>
        </p:nvSpPr>
        <p:spPr>
          <a:xfrm>
            <a:off x="2706624"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2</a:t>
            </a:r>
            <a:endParaRPr lang="en-US" sz="1296" dirty="0"/>
          </a:p>
        </p:txBody>
      </p:sp>
      <p:sp>
        <p:nvSpPr>
          <p:cNvPr id="24" name="Text 21"/>
          <p:cNvSpPr txBox="1"/>
          <p:nvPr/>
        </p:nvSpPr>
        <p:spPr>
          <a:xfrm>
            <a:off x="2706624"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Choose the account</a:t>
            </a:r>
            <a:endParaRPr lang="en-US" sz="1300" dirty="0"/>
          </a:p>
        </p:txBody>
      </p:sp>
      <p:sp>
        <p:nvSpPr>
          <p:cNvPr id="25" name="Text 22"/>
          <p:cNvSpPr txBox="1"/>
          <p:nvPr/>
        </p:nvSpPr>
        <p:spPr>
          <a:xfrm>
            <a:off x="2706624"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same one that owns the project.</a:t>
            </a:r>
            <a:endParaRPr lang="en-US" sz="1050" dirty="0"/>
          </a:p>
        </p:txBody>
      </p:sp>
      <p:sp>
        <p:nvSpPr>
          <p:cNvPr id="26" name="Shape 23"/>
          <p:cNvSpPr/>
          <p:nvPr/>
        </p:nvSpPr>
        <p:spPr>
          <a:xfrm>
            <a:off x="4434840" y="2194560"/>
            <a:ext cx="173736" cy="0"/>
          </a:xfrm>
          <a:prstGeom prst="line">
            <a:avLst/>
          </a:prstGeom>
          <a:noFill/>
          <a:ln w="15875">
            <a:solidFill>
              <a:srgbClr val="5E6964"/>
            </a:solidFill>
            <a:prstDash val="solid"/>
            <a:tailEnd type="triangle"/>
          </a:ln>
        </p:spPr>
      </p:sp>
      <p:sp>
        <p:nvSpPr>
          <p:cNvPr id="27" name="Shape 24"/>
          <p:cNvSpPr/>
          <p:nvPr/>
        </p:nvSpPr>
        <p:spPr>
          <a:xfrm>
            <a:off x="4626864" y="1325880"/>
            <a:ext cx="1874520" cy="1737360"/>
          </a:xfrm>
          <a:prstGeom prst="roundRect">
            <a:avLst>
              <a:gd name="adj" fmla="val 4211"/>
            </a:avLst>
          </a:prstGeom>
          <a:solidFill>
            <a:srgbClr val="F4F7F5"/>
          </a:solidFill>
          <a:ln w="15875">
            <a:solidFill>
              <a:srgbClr val="00704A"/>
            </a:solidFill>
            <a:prstDash val="solid"/>
          </a:ln>
        </p:spPr>
      </p:sp>
      <p:sp>
        <p:nvSpPr>
          <p:cNvPr id="28" name="Shape 25"/>
          <p:cNvSpPr/>
          <p:nvPr/>
        </p:nvSpPr>
        <p:spPr>
          <a:xfrm>
            <a:off x="4791456" y="1463040"/>
            <a:ext cx="329184" cy="329184"/>
          </a:xfrm>
          <a:prstGeom prst="ellipse">
            <a:avLst/>
          </a:prstGeom>
          <a:solidFill>
            <a:srgbClr val="00704A"/>
          </a:solidFill>
          <a:ln w="19050">
            <a:solidFill>
              <a:srgbClr val="FFFFFF"/>
            </a:solidFill>
            <a:prstDash val="solid"/>
          </a:ln>
        </p:spPr>
      </p:sp>
      <p:sp>
        <p:nvSpPr>
          <p:cNvPr id="29" name="Text 26"/>
          <p:cNvSpPr txBox="1"/>
          <p:nvPr/>
        </p:nvSpPr>
        <p:spPr>
          <a:xfrm>
            <a:off x="4791456"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3</a:t>
            </a:r>
            <a:endParaRPr lang="en-US" sz="1296" dirty="0"/>
          </a:p>
        </p:txBody>
      </p:sp>
      <p:sp>
        <p:nvSpPr>
          <p:cNvPr id="30" name="Text 27"/>
          <p:cNvSpPr txBox="1"/>
          <p:nvPr/>
        </p:nvSpPr>
        <p:spPr>
          <a:xfrm>
            <a:off x="4791456"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Accept</a:t>
            </a:r>
            <a:endParaRPr lang="en-US" sz="1300" dirty="0"/>
          </a:p>
        </p:txBody>
      </p:sp>
      <p:sp>
        <p:nvSpPr>
          <p:cNvPr id="31" name="Text 28"/>
          <p:cNvSpPr txBox="1"/>
          <p:nvPr/>
        </p:nvSpPr>
        <p:spPr>
          <a:xfrm>
            <a:off x="4791456"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Confirm the requested permissions.</a:t>
            </a:r>
            <a:endParaRPr lang="en-US" sz="1050" dirty="0"/>
          </a:p>
        </p:txBody>
      </p:sp>
      <p:sp>
        <p:nvSpPr>
          <p:cNvPr id="32" name="Shape 29"/>
          <p:cNvSpPr/>
          <p:nvPr/>
        </p:nvSpPr>
        <p:spPr>
          <a:xfrm>
            <a:off x="6519672" y="2194560"/>
            <a:ext cx="173736" cy="0"/>
          </a:xfrm>
          <a:prstGeom prst="line">
            <a:avLst/>
          </a:prstGeom>
          <a:noFill/>
          <a:ln w="15875">
            <a:solidFill>
              <a:srgbClr val="5E6964"/>
            </a:solidFill>
            <a:prstDash val="solid"/>
            <a:tailEnd type="triangle"/>
          </a:ln>
        </p:spPr>
      </p:sp>
      <p:sp>
        <p:nvSpPr>
          <p:cNvPr id="33" name="Shape 30"/>
          <p:cNvSpPr/>
          <p:nvPr/>
        </p:nvSpPr>
        <p:spPr>
          <a:xfrm>
            <a:off x="6711696" y="1325880"/>
            <a:ext cx="1874520" cy="1737360"/>
          </a:xfrm>
          <a:prstGeom prst="roundRect">
            <a:avLst>
              <a:gd name="adj" fmla="val 4211"/>
            </a:avLst>
          </a:prstGeom>
          <a:solidFill>
            <a:srgbClr val="E8F5EF"/>
          </a:solidFill>
          <a:ln w="15875">
            <a:solidFill>
              <a:srgbClr val="00A86A"/>
            </a:solidFill>
            <a:prstDash val="solid"/>
          </a:ln>
        </p:spPr>
      </p:sp>
      <p:sp>
        <p:nvSpPr>
          <p:cNvPr id="34" name="Shape 31"/>
          <p:cNvSpPr/>
          <p:nvPr/>
        </p:nvSpPr>
        <p:spPr>
          <a:xfrm>
            <a:off x="6876288" y="1463040"/>
            <a:ext cx="329184" cy="329184"/>
          </a:xfrm>
          <a:prstGeom prst="ellipse">
            <a:avLst/>
          </a:prstGeom>
          <a:solidFill>
            <a:srgbClr val="00A86A"/>
          </a:solidFill>
          <a:ln w="19050">
            <a:solidFill>
              <a:srgbClr val="FFFFFF"/>
            </a:solidFill>
            <a:prstDash val="solid"/>
          </a:ln>
        </p:spPr>
      </p:sp>
      <p:sp>
        <p:nvSpPr>
          <p:cNvPr id="35" name="Text 32"/>
          <p:cNvSpPr txBox="1"/>
          <p:nvPr/>
        </p:nvSpPr>
        <p:spPr>
          <a:xfrm>
            <a:off x="6876288" y="1463040"/>
            <a:ext cx="329184" cy="329184"/>
          </a:xfrm>
          <a:prstGeom prst="rect">
            <a:avLst/>
          </a:prstGeom>
          <a:noFill/>
          <a:ln/>
        </p:spPr>
        <p:txBody>
          <a:bodyPr wrap="square" lIns="0" tIns="0" rIns="0" bIns="0" rtlCol="0" anchor="ctr"/>
          <a:lstStyle/>
          <a:p>
            <a:pPr algn="ctr" indent="0" marL="0">
              <a:buNone/>
            </a:pPr>
            <a:r>
              <a:rPr lang="en-US" sz="1296" b="1" dirty="0">
                <a:solidFill>
                  <a:srgbClr val="FFFFFF"/>
                </a:solidFill>
                <a:latin typeface="Calibri" pitchFamily="34" charset="0"/>
                <a:ea typeface="Calibri" pitchFamily="34" charset="-122"/>
                <a:cs typeface="Calibri" pitchFamily="34" charset="-120"/>
              </a:rPr>
              <a:t>4</a:t>
            </a:r>
            <a:endParaRPr lang="en-US" sz="1296" dirty="0"/>
          </a:p>
        </p:txBody>
      </p:sp>
      <p:sp>
        <p:nvSpPr>
          <p:cNvPr id="36" name="Text 33"/>
          <p:cNvSpPr txBox="1"/>
          <p:nvPr/>
        </p:nvSpPr>
        <p:spPr>
          <a:xfrm>
            <a:off x="6876288" y="1901952"/>
            <a:ext cx="1600200" cy="45720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Back to the notebook</a:t>
            </a:r>
            <a:endParaRPr lang="en-US" sz="1300" dirty="0"/>
          </a:p>
        </p:txBody>
      </p:sp>
      <p:sp>
        <p:nvSpPr>
          <p:cNvPr id="37" name="Text 34"/>
          <p:cNvSpPr txBox="1"/>
          <p:nvPr/>
        </p:nvSpPr>
        <p:spPr>
          <a:xfrm>
            <a:off x="6876288" y="2377440"/>
            <a:ext cx="160020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“Earth Engine initialisé”, then acquisition continues.</a:t>
            </a:r>
            <a:endParaRPr lang="en-US" sz="1050" dirty="0"/>
          </a:p>
        </p:txBody>
      </p:sp>
      <p:sp>
        <p:nvSpPr>
          <p:cNvPr id="38" name="Shape 35"/>
          <p:cNvSpPr/>
          <p:nvPr/>
        </p:nvSpPr>
        <p:spPr>
          <a:xfrm>
            <a:off x="457200" y="3246120"/>
            <a:ext cx="3977640" cy="1188720"/>
          </a:xfrm>
          <a:prstGeom prst="roundRect">
            <a:avLst>
              <a:gd name="adj" fmla="val 6154"/>
            </a:avLst>
          </a:prstGeom>
          <a:solidFill>
            <a:srgbClr val="1E2A25"/>
          </a:solidFill>
          <a:ln w="9525">
            <a:solidFill>
              <a:srgbClr val="1E2A25"/>
            </a:solidFill>
            <a:prstDash val="solid"/>
          </a:ln>
        </p:spPr>
      </p:sp>
      <p:sp>
        <p:nvSpPr>
          <p:cNvPr id="39" name="Text 36"/>
          <p:cNvSpPr txBox="1"/>
          <p:nvPr/>
        </p:nvSpPr>
        <p:spPr>
          <a:xfrm>
            <a:off x="621792" y="3310128"/>
            <a:ext cx="3749040" cy="1060704"/>
          </a:xfrm>
          <a:prstGeom prst="rect">
            <a:avLst/>
          </a:prstGeom>
          <a:noFill/>
          <a:ln/>
        </p:spPr>
        <p:txBody>
          <a:bodyPr wrap="square" lIns="0" tIns="0" rIns="0" bIns="0" rtlCol="0" anchor="ctr"/>
          <a:lstStyle/>
          <a:p>
            <a:pPr indent="0" marL="0">
              <a:buNone/>
            </a:pPr>
            <a:r>
              <a:rPr lang="en-US" sz="950" dirty="0">
                <a:solidFill>
                  <a:srgbClr val="D5DED9"/>
                </a:solidFill>
                <a:latin typeface="Courier New" pitchFamily="34" charset="0"/>
                <a:ea typeface="Courier New" pitchFamily="34" charset="-122"/>
                <a:cs typeface="Courier New" pitchFamily="34" charset="-120"/>
              </a:rPr>
              <a:t>▶ NTL 2015 : fournisseur = gee</a:t>
            </a:r>
            <a:endParaRPr lang="en-US" sz="950" dirty="0"/>
          </a:p>
          <a:p>
            <a:pPr indent="0" marL="0">
              <a:buNone/>
            </a:pPr>
            <a:r>
              <a:rPr lang="en-US" sz="950" dirty="0">
                <a:solidFill>
                  <a:srgbClr val="D5DED9"/>
                </a:solidFill>
                <a:latin typeface="Courier New" pitchFamily="34" charset="0"/>
                <a:ea typeface="Courier New" pitchFamily="34" charset="-122"/>
                <a:cs typeface="Courier New" pitchFamily="34" charset="-120"/>
              </a:rPr>
              <a:t>Identifiant … : ai-horizon-491909</a:t>
            </a:r>
            <a:endParaRPr lang="en-US" sz="950" dirty="0"/>
          </a:p>
          <a:p>
            <a:pPr indent="0" marL="0">
              <a:buNone/>
            </a:pPr>
            <a:r>
              <a:rPr lang="en-US" sz="950" dirty="0">
                <a:solidFill>
                  <a:srgbClr val="F5C242"/>
                </a:solidFill>
                <a:latin typeface="Courier New" pitchFamily="34" charset="0"/>
                <a:ea typeface="Courier New" pitchFamily="34" charset="-122"/>
                <a:cs typeface="Courier New" pitchFamily="34" charset="-120"/>
              </a:rPr>
              <a:t>! Authentification Earth Engine requise…</a:t>
            </a:r>
            <a:endParaRPr lang="en-US" sz="950" dirty="0"/>
          </a:p>
          <a:p>
            <a:pPr indent="0" marL="0">
              <a:buNone/>
            </a:pPr>
            <a:r>
              <a:rPr lang="en-US" sz="950" dirty="0">
                <a:solidFill>
                  <a:srgbClr val="5CE6A8"/>
                </a:solidFill>
                <a:latin typeface="Courier New" pitchFamily="34" charset="0"/>
                <a:ea typeface="Courier New" pitchFamily="34" charset="-122"/>
                <a:cs typeface="Courier New" pitchFamily="34" charset="-120"/>
              </a:rPr>
              <a:t>✓ Earth Engine initialisé</a:t>
            </a:r>
            <a:endParaRPr lang="en-US" sz="950" dirty="0"/>
          </a:p>
        </p:txBody>
      </p:sp>
      <p:sp>
        <p:nvSpPr>
          <p:cNvPr id="40" name="Text 37"/>
          <p:cNvSpPr txBox="1"/>
          <p:nvPr/>
        </p:nvSpPr>
        <p:spPr>
          <a:xfrm>
            <a:off x="4663440" y="3246120"/>
            <a:ext cx="393192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Nothing opens?</a:t>
            </a:r>
            <a:endParaRPr lang="en-US" sz="1200" dirty="0"/>
          </a:p>
        </p:txBody>
      </p:sp>
      <p:sp>
        <p:nvSpPr>
          <p:cNvPr id="41" name="Text 38"/>
          <p:cNvSpPr txBox="1"/>
          <p:nvPr/>
        </p:nvSpPr>
        <p:spPr>
          <a:xfrm>
            <a:off x="4663440" y="3483864"/>
            <a:ext cx="3931920" cy="34747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Allow pop-ups for colab.research.google.com, then rerun the cell.</a:t>
            </a:r>
            <a:endParaRPr lang="en-US" sz="1050" dirty="0"/>
          </a:p>
        </p:txBody>
      </p:sp>
      <p:sp>
        <p:nvSpPr>
          <p:cNvPr id="42" name="Text 39"/>
          <p:cNvSpPr txBox="1"/>
          <p:nvPr/>
        </p:nvSpPr>
        <p:spPr>
          <a:xfrm>
            <a:off x="4663440" y="3858768"/>
            <a:ext cx="3931920" cy="23774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Wrong account chosen?</a:t>
            </a:r>
            <a:endParaRPr lang="en-US" sz="1200" dirty="0"/>
          </a:p>
        </p:txBody>
      </p:sp>
      <p:sp>
        <p:nvSpPr>
          <p:cNvPr id="43" name="Text 40"/>
          <p:cNvSpPr txBox="1"/>
          <p:nvPr/>
        </p:nvSpPr>
        <p:spPr>
          <a:xfrm>
            <a:off x="4663440" y="4096512"/>
            <a:ext cx="3931920" cy="34747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Run ee.Authenticate(force=True), then rerun the cell.</a:t>
            </a:r>
            <a:endParaRPr lang="en-US" sz="1050" dirty="0"/>
          </a:p>
        </p:txBody>
      </p:sp>
      <p:sp>
        <p:nvSpPr>
          <p:cNvPr id="44" name="Text 4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Expected notebook output (reconstructed; the notebook prints in French). Source: Authentication and Initialization, “colab” mode.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 THE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The 30-second test, before “Run all”</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5" name="Shape 12"/>
          <p:cNvSpPr/>
          <p:nvPr/>
        </p:nvSpPr>
        <p:spPr>
          <a:xfrm>
            <a:off x="457200" y="1298448"/>
            <a:ext cx="5120640" cy="2651760"/>
          </a:xfrm>
          <a:prstGeom prst="roundRect">
            <a:avLst>
              <a:gd name="adj" fmla="val 2759"/>
            </a:avLst>
          </a:prstGeom>
          <a:solidFill>
            <a:srgbClr val="1E2A25"/>
          </a:solidFill>
          <a:ln w="9525">
            <a:solidFill>
              <a:srgbClr val="1E2A25"/>
            </a:solidFill>
            <a:prstDash val="solid"/>
          </a:ln>
        </p:spPr>
      </p:sp>
      <p:sp>
        <p:nvSpPr>
          <p:cNvPr id="16" name="Text 13"/>
          <p:cNvSpPr txBox="1"/>
          <p:nvPr/>
        </p:nvSpPr>
        <p:spPr>
          <a:xfrm>
            <a:off x="658368" y="1417320"/>
            <a:ext cx="4800600" cy="2423160"/>
          </a:xfrm>
          <a:prstGeom prst="rect">
            <a:avLst/>
          </a:prstGeom>
          <a:noFill/>
          <a:ln/>
        </p:spPr>
        <p:txBody>
          <a:bodyPr wrap="square" lIns="0" tIns="0" rIns="0" bIns="0" rtlCol="0" anchor="t"/>
          <a:lstStyle/>
          <a:p>
            <a:pPr indent="0" marL="0">
              <a:lnSpc>
                <a:spcPct val="125000"/>
              </a:lnSpc>
              <a:buNone/>
            </a:pPr>
            <a:r>
              <a:rPr lang="en-US" sz="1000" dirty="0">
                <a:solidFill>
                  <a:srgbClr val="C586C0"/>
                </a:solidFill>
                <a:latin typeface="Courier New" pitchFamily="34" charset="0"/>
                <a:ea typeface="Courier New" pitchFamily="34" charset="-122"/>
                <a:cs typeface="Courier New" pitchFamily="34" charset="-120"/>
              </a:rPr>
              <a:t>import </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ee</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ee.Authenticate()</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ee.Initialize(project=</a:t>
            </a:r>
            <a:pPr indent="0" marL="0">
              <a:lnSpc>
                <a:spcPct val="125000"/>
              </a:lnSpc>
              <a:buNone/>
            </a:pPr>
            <a:r>
              <a:rPr lang="en-US" sz="1000" dirty="0">
                <a:solidFill>
                  <a:srgbClr val="F5C242"/>
                </a:solidFill>
                <a:latin typeface="Courier New" pitchFamily="34" charset="0"/>
                <a:ea typeface="Courier New" pitchFamily="34" charset="-122"/>
                <a:cs typeface="Courier New" pitchFamily="34" charset="-120"/>
              </a:rPr>
              <a:t>"ai-horizon-491909"</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viirs = ee.ImageCollection(</a:t>
            </a:r>
            <a:pPr indent="0" marL="0">
              <a:lnSpc>
                <a:spcPct val="125000"/>
              </a:lnSpc>
              <a:buNone/>
            </a:pPr>
            <a:r>
              <a:rPr lang="en-US" sz="1000" dirty="0">
                <a:solidFill>
                  <a:srgbClr val="F5C242"/>
                </a:solidFill>
                <a:latin typeface="Courier New" pitchFamily="34" charset="0"/>
                <a:ea typeface="Courier New" pitchFamily="34" charset="-122"/>
                <a:cs typeface="Courier New" pitchFamily="34" charset="-120"/>
              </a:rPr>
              <a:t>"NOAA/VIIRS/DNB/ANNUAL_V22"</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print(viirs.size().getInfo())</a:t>
            </a:r>
            <a:endParaRPr lang="en-US" sz="1000" dirty="0"/>
          </a:p>
          <a:p>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print(viirs.first().date().format(</a:t>
            </a:r>
            <a:pPr indent="0" marL="0">
              <a:lnSpc>
                <a:spcPct val="125000"/>
              </a:lnSpc>
              <a:buNone/>
            </a:pPr>
            <a:r>
              <a:rPr lang="en-US" sz="1000" dirty="0">
                <a:solidFill>
                  <a:srgbClr val="F5C242"/>
                </a:solidFill>
                <a:latin typeface="Courier New" pitchFamily="34" charset="0"/>
                <a:ea typeface="Courier New" pitchFamily="34" charset="-122"/>
                <a:cs typeface="Courier New" pitchFamily="34" charset="-120"/>
              </a:rPr>
              <a:t>"YYYY-MM-dd"</a:t>
            </a:r>
            <a:pPr indent="0" marL="0">
              <a:lnSpc>
                <a:spcPct val="125000"/>
              </a:lnSpc>
              <a:buNone/>
            </a:pPr>
            <a:r>
              <a:rPr lang="en-US" sz="1000" dirty="0">
                <a:solidFill>
                  <a:srgbClr val="D5DED9"/>
                </a:solidFill>
                <a:latin typeface="Courier New" pitchFamily="34" charset="0"/>
                <a:ea typeface="Courier New" pitchFamily="34" charset="-122"/>
                <a:cs typeface="Courier New" pitchFamily="34" charset="-120"/>
              </a:rPr>
              <a:t>).getInfo())</a:t>
            </a:r>
            <a:endParaRPr lang="en-US" sz="1000" dirty="0"/>
          </a:p>
        </p:txBody>
      </p:sp>
      <p:sp>
        <p:nvSpPr>
          <p:cNvPr id="17" name="Shape 14"/>
          <p:cNvSpPr/>
          <p:nvPr/>
        </p:nvSpPr>
        <p:spPr>
          <a:xfrm>
            <a:off x="5806440" y="1298448"/>
            <a:ext cx="2788920" cy="1261872"/>
          </a:xfrm>
          <a:prstGeom prst="roundRect">
            <a:avLst>
              <a:gd name="adj" fmla="val 5797"/>
            </a:avLst>
          </a:prstGeom>
          <a:solidFill>
            <a:srgbClr val="E8F5EF"/>
          </a:solidFill>
          <a:ln w="15875">
            <a:solidFill>
              <a:srgbClr val="00A86A"/>
            </a:solidFill>
            <a:prstDash val="solid"/>
          </a:ln>
        </p:spPr>
      </p:sp>
      <p:pic>
        <p:nvPicPr>
          <p:cNvPr id="18" name="Image 0" descr="preencoded.png">    </p:cNvPr>
          <p:cNvPicPr>
            <a:picLocks noChangeAspect="1"/>
          </p:cNvPicPr>
          <p:nvPr/>
        </p:nvPicPr>
        <p:blipFill>
          <a:blip r:embed="rId1"/>
          <a:stretch>
            <a:fillRect/>
          </a:stretch>
        </p:blipFill>
        <p:spPr>
          <a:xfrm>
            <a:off x="5961888" y="1426464"/>
            <a:ext cx="274320" cy="274320"/>
          </a:xfrm>
          <a:prstGeom prst="rect">
            <a:avLst/>
          </a:prstGeom>
        </p:spPr>
      </p:pic>
      <p:sp>
        <p:nvSpPr>
          <p:cNvPr id="19" name="Text 15"/>
          <p:cNvSpPr txBox="1"/>
          <p:nvPr/>
        </p:nvSpPr>
        <p:spPr>
          <a:xfrm>
            <a:off x="6327648" y="1417320"/>
            <a:ext cx="2103120" cy="292608"/>
          </a:xfrm>
          <a:prstGeom prst="rect">
            <a:avLst/>
          </a:prstGeom>
          <a:noFill/>
          <a:ln/>
        </p:spPr>
        <p:txBody>
          <a:bodyPr wrap="square" lIns="0" tIns="0" rIns="0" bIns="0" rtlCol="0" anchor="ctr"/>
          <a:lstStyle/>
          <a:p>
            <a:pPr indent="0" marL="0">
              <a:buNone/>
            </a:pPr>
            <a:r>
              <a:rPr lang="en-US" sz="1400" b="1" dirty="0">
                <a:solidFill>
                  <a:srgbClr val="00A86A"/>
                </a:solidFill>
                <a:latin typeface="Calibri" pitchFamily="34" charset="0"/>
                <a:ea typeface="Calibri" pitchFamily="34" charset="-122"/>
                <a:cs typeface="Calibri" pitchFamily="34" charset="-120"/>
              </a:rPr>
              <a:t>It works</a:t>
            </a:r>
            <a:endParaRPr lang="en-US" sz="1400" dirty="0"/>
          </a:p>
        </p:txBody>
      </p:sp>
      <p:sp>
        <p:nvSpPr>
          <p:cNvPr id="20" name="Text 16"/>
          <p:cNvSpPr txBox="1"/>
          <p:nvPr/>
        </p:nvSpPr>
        <p:spPr>
          <a:xfrm>
            <a:off x="5961888" y="1755648"/>
            <a:ext cx="2514600" cy="74980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 positive integer, then a date. Project, API, permissions and authentication are in order.</a:t>
            </a:r>
            <a:endParaRPr lang="en-US" sz="1050" dirty="0"/>
          </a:p>
        </p:txBody>
      </p:sp>
      <p:sp>
        <p:nvSpPr>
          <p:cNvPr id="21" name="Shape 17"/>
          <p:cNvSpPr/>
          <p:nvPr/>
        </p:nvSpPr>
        <p:spPr>
          <a:xfrm>
            <a:off x="5806440" y="2688336"/>
            <a:ext cx="2788920" cy="1261872"/>
          </a:xfrm>
          <a:prstGeom prst="roundRect">
            <a:avLst>
              <a:gd name="adj" fmla="val 5797"/>
            </a:avLst>
          </a:prstGeom>
          <a:solidFill>
            <a:srgbClr val="F4F7F5"/>
          </a:solidFill>
          <a:ln w="15875">
            <a:solidFill>
              <a:srgbClr val="C4621D"/>
            </a:solidFill>
            <a:prstDash val="solid"/>
          </a:ln>
        </p:spPr>
      </p:sp>
      <p:pic>
        <p:nvPicPr>
          <p:cNvPr id="22" name="Image 1" descr="preencoded.png">    </p:cNvPr>
          <p:cNvPicPr>
            <a:picLocks noChangeAspect="1"/>
          </p:cNvPicPr>
          <p:nvPr/>
        </p:nvPicPr>
        <p:blipFill>
          <a:blip r:embed="rId2"/>
          <a:stretch>
            <a:fillRect/>
          </a:stretch>
        </p:blipFill>
        <p:spPr>
          <a:xfrm>
            <a:off x="5961888" y="2816352"/>
            <a:ext cx="274320" cy="274320"/>
          </a:xfrm>
          <a:prstGeom prst="rect">
            <a:avLst/>
          </a:prstGeom>
        </p:spPr>
      </p:pic>
      <p:sp>
        <p:nvSpPr>
          <p:cNvPr id="23" name="Text 18"/>
          <p:cNvSpPr txBox="1"/>
          <p:nvPr/>
        </p:nvSpPr>
        <p:spPr>
          <a:xfrm>
            <a:off x="6327648" y="2807208"/>
            <a:ext cx="2103120" cy="292608"/>
          </a:xfrm>
          <a:prstGeom prst="rect">
            <a:avLst/>
          </a:prstGeom>
          <a:noFill/>
          <a:ln/>
        </p:spPr>
        <p:txBody>
          <a:bodyPr wrap="square" lIns="0" tIns="0" rIns="0" bIns="0" rtlCol="0" anchor="ctr"/>
          <a:lstStyle/>
          <a:p>
            <a:pPr indent="0" marL="0">
              <a:buNone/>
            </a:pPr>
            <a:r>
              <a:rPr lang="en-US" sz="1400" b="1" dirty="0">
                <a:solidFill>
                  <a:srgbClr val="C4621D"/>
                </a:solidFill>
                <a:latin typeface="Calibri" pitchFamily="34" charset="0"/>
                <a:ea typeface="Calibri" pitchFamily="34" charset="-122"/>
                <a:cs typeface="Calibri" pitchFamily="34" charset="-120"/>
              </a:rPr>
              <a:t>It fails</a:t>
            </a:r>
            <a:endParaRPr lang="en-US" sz="1400" dirty="0"/>
          </a:p>
        </p:txBody>
      </p:sp>
      <p:sp>
        <p:nvSpPr>
          <p:cNvPr id="24" name="Text 19"/>
          <p:cNvSpPr txBox="1"/>
          <p:nvPr/>
        </p:nvSpPr>
        <p:spPr>
          <a:xfrm>
            <a:off x="5961888" y="3145536"/>
            <a:ext cx="2514600" cy="74980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The error message points to the cause. Recheck the account, the ID, the registration and the API.</a:t>
            </a:r>
            <a:endParaRPr lang="en-US" sz="1050" dirty="0"/>
          </a:p>
        </p:txBody>
      </p:sp>
      <p:sp>
        <p:nvSpPr>
          <p:cNvPr id="25" name="Text 20"/>
          <p:cNvSpPr txBox="1"/>
          <p:nvPr/>
        </p:nvSpPr>
        <p:spPr>
          <a:xfrm>
            <a:off x="457200" y="4069080"/>
            <a:ext cx="8138160" cy="274320"/>
          </a:xfrm>
          <a:prstGeom prst="rect">
            <a:avLst/>
          </a:prstGeom>
          <a:noFill/>
          <a:ln/>
        </p:spPr>
        <p:txBody>
          <a:bodyPr wrap="square" lIns="0" tIns="0" rIns="0" bIns="0" rtlCol="0" anchor="ctr"/>
          <a:lstStyle/>
          <a:p>
            <a:pPr indent="0" marL="0">
              <a:buNone/>
            </a:pPr>
            <a:r>
              <a:rPr lang="en-US" sz="1100" i="1" dirty="0">
                <a:solidFill>
                  <a:srgbClr val="5E6964"/>
                </a:solidFill>
                <a:latin typeface="Calibri" pitchFamily="34" charset="0"/>
                <a:ea typeface="Calibri" pitchFamily="34" charset="-122"/>
                <a:cs typeface="Calibri" pitchFamily="34" charset="-120"/>
              </a:rPr>
              <a:t>Replace ai-horizon-491909 with your own project ID.</a:t>
            </a:r>
            <a:endParaRPr lang="en-US" sz="1100" dirty="0"/>
          </a:p>
        </p:txBody>
      </p:sp>
      <p:sp>
        <p:nvSpPr>
          <p:cNvPr id="26" name="Text 21"/>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Standard calling code: ee.Authenticate() then ee.Initialize(project=…) — Authentication and Initialization.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CONNECT THE NOTEBOOK</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Night-time lights available in Earth Engine</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49A00"/>
          </a:solidFill>
          <a:ln w="12700">
            <a:solidFill>
              <a:srgbClr val="D49A00"/>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138160" cy="914400"/>
        </p:xfrm>
        <a:graphic>
          <a:graphicData uri="http://schemas.openxmlformats.org/drawingml/2006/table">
            <a:tbl>
              <a:tblPr/>
              <a:tblGrid>
                <a:gridCol w="2834640"/>
                <a:gridCol w="1783080"/>
                <a:gridCol w="1417320"/>
                <a:gridCol w="2103120"/>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Earth Engine collection</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 step</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Period</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 in the notebook</a:t>
                      </a:r>
                      <a:endParaRPr lang="en-US" sz="105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704A"/>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NOAA/VIIRS/DNB/ANNUAL_V22</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Annual</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2012 → 2024</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CONFIG["YEARS"] — scenarios A to E and G</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NOAA/VIIRS/DNB/MONTHLY_V1/VCMSLCFG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Monthly, stray-light corrected</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Jan 2014 → Mar 2025</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CONFIG["MONTHLY_YEARS"] — scenario F</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NOAA/VIIRS/DNB/MONTHLY_V1/VCMCFG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Monthly</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Apr 2012 → Mar 2025</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Alternative, not used by default</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420624">
                <a:tc>
                  <a:txBody>
                    <a:bodyPr/>
                    <a:lstStyle/>
                    <a:p>
                      <a:pPr indent="0" marL="0">
                        <a:buNone/>
                      </a:pPr>
                      <a:r>
                        <a:rPr lang="en-US" sz="850" b="1" dirty="0">
                          <a:solidFill>
                            <a:srgbClr val="231F20"/>
                          </a:solidFill>
                          <a:latin typeface="Courier New" pitchFamily="34" charset="0"/>
                          <a:ea typeface="Courier New" pitchFamily="34" charset="-122"/>
                          <a:cs typeface="Courier New" pitchFamily="34" charset="-120"/>
                        </a:rPr>
                        <a:t>NASA/VIIRS/002/VNP46A2</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Daily (Black Marble, BRDF-corrected)</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see the catalogue</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00" dirty="0">
                          <a:solidFill>
                            <a:srgbClr val="231F20"/>
                          </a:solidFill>
                          <a:latin typeface="Calibri" pitchFamily="34" charset="0"/>
                          <a:ea typeface="Calibri" pitchFamily="34" charset="-122"/>
                          <a:cs typeface="Calibri" pitchFamily="34" charset="-120"/>
                        </a:rPr>
                        <a:t>Not used — for going further</a:t>
                      </a:r>
                      <a:endParaRPr lang="en-US" sz="1000" dirty="0">
                        <a:latin typeface="Calibri" charset="0"/>
                        <a:ea typeface="Calibri" charset="0"/>
                        <a:cs typeface="Calibri" charset="0"/>
                      </a:endParaRPr>
                    </a:p>
                  </a:txBody>
                  <a:tcPr marL="54864" marR="54864" marT="54864" marB="54864"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bl>
          </a:graphicData>
        </a:graphic>
      </p:graphicFrame>
      <p:sp>
        <p:nvSpPr>
          <p:cNvPr id="16" name="Shape 12"/>
          <p:cNvSpPr/>
          <p:nvPr/>
        </p:nvSpPr>
        <p:spPr>
          <a:xfrm>
            <a:off x="457200" y="3584448"/>
            <a:ext cx="8138160" cy="566928"/>
          </a:xfrm>
          <a:prstGeom prst="roundRect">
            <a:avLst>
              <a:gd name="adj" fmla="val 9677"/>
            </a:avLst>
          </a:prstGeom>
          <a:solidFill>
            <a:srgbClr val="D49A00">
              <a:alpha val="13000"/>
            </a:srgbClr>
          </a:solidFill>
          <a:ln w="12700">
            <a:solidFill>
              <a:srgbClr val="D49A00"/>
            </a:solidFill>
            <a:prstDash val="solid"/>
          </a:ln>
        </p:spPr>
      </p:sp>
      <p:pic>
        <p:nvPicPr>
          <p:cNvPr id="17" name="Image 0" descr="preencoded.png">    </p:cNvPr>
          <p:cNvPicPr>
            <a:picLocks noChangeAspect="1"/>
          </p:cNvPicPr>
          <p:nvPr/>
        </p:nvPicPr>
        <p:blipFill>
          <a:blip r:embed="rId1"/>
          <a:stretch>
            <a:fillRect/>
          </a:stretch>
        </p:blipFill>
        <p:spPr>
          <a:xfrm>
            <a:off x="594360" y="3730752"/>
            <a:ext cx="274320" cy="274320"/>
          </a:xfrm>
          <a:prstGeom prst="rect">
            <a:avLst/>
          </a:prstGeom>
        </p:spPr>
      </p:pic>
      <p:sp>
        <p:nvSpPr>
          <p:cNvPr id="18" name="Text 13"/>
          <p:cNvSpPr txBox="1"/>
          <p:nvPr/>
        </p:nvSpPr>
        <p:spPr>
          <a:xfrm>
            <a:off x="1005840" y="3630168"/>
            <a:ext cx="74523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Practical consequence: </a:t>
            </a:r>
            <a:pPr indent="0" marL="0">
              <a:buNone/>
            </a:pPr>
            <a:r>
              <a:rPr lang="en-US" sz="1100" dirty="0">
                <a:solidFill>
                  <a:srgbClr val="231F20"/>
                </a:solidFill>
                <a:latin typeface="Calibri" pitchFamily="34" charset="0"/>
                <a:ea typeface="Calibri" pitchFamily="34" charset="-122"/>
                <a:cs typeface="Calibri" pitchFamily="34" charset="-120"/>
              </a:rPr>
              <a:t>the monthly series stops in March 2025 in the catalogue: keep MONTHLY_YEARS up to 2024 for complete years. Check the bounds before every run.</a:t>
            </a:r>
            <a:endParaRPr lang="en-US" sz="1100" dirty="0"/>
          </a:p>
        </p:txBody>
      </p:sp>
      <p:sp>
        <p:nvSpPr>
          <p:cNvPr id="19" name="Text 14"/>
          <p:cNvSpPr txBox="1"/>
          <p:nvPr/>
        </p:nvSpPr>
        <p:spPr>
          <a:xfrm>
            <a:off x="457200" y="4224528"/>
            <a:ext cx="8138160" cy="27432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Resolution: 463.83 m for the NOAA/EOG products · Public-domain data, no restriction on use (Colorado School of Mines).</a:t>
            </a:r>
            <a:endParaRPr lang="en-US" sz="1000" dirty="0"/>
          </a:p>
        </p:txBody>
      </p:sp>
      <p:sp>
        <p:nvSpPr>
          <p:cNvPr id="20" name="Text 15"/>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Earth Engine Data Catalog — pages NOAA_VIIRS_DNB_ANNUAL_V22, MONTHLY_V1/VCMSLCFG, MONTHLY_V1/VCMCFG; release notes (VNP46A2).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RECAP</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The checklist, before “Run all”</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5" name="Shape 12"/>
          <p:cNvSpPr/>
          <p:nvPr/>
        </p:nvSpPr>
        <p:spPr>
          <a:xfrm>
            <a:off x="457200" y="1325880"/>
            <a:ext cx="3977640" cy="566928"/>
          </a:xfrm>
          <a:prstGeom prst="roundRect">
            <a:avLst>
              <a:gd name="adj" fmla="val 12903"/>
            </a:avLst>
          </a:prstGeom>
          <a:solidFill>
            <a:srgbClr val="F4F7F5"/>
          </a:solidFill>
          <a:ln w="9525">
            <a:solidFill>
              <a:srgbClr val="D5DED9"/>
            </a:solidFill>
            <a:prstDash val="solid"/>
          </a:ln>
        </p:spPr>
      </p:sp>
      <p:pic>
        <p:nvPicPr>
          <p:cNvPr id="16" name="Image 0" descr="preencoded.png">    </p:cNvPr>
          <p:cNvPicPr>
            <a:picLocks noChangeAspect="1"/>
          </p:cNvPicPr>
          <p:nvPr/>
        </p:nvPicPr>
        <p:blipFill>
          <a:blip r:embed="rId1"/>
          <a:stretch>
            <a:fillRect/>
          </a:stretch>
        </p:blipFill>
        <p:spPr>
          <a:xfrm>
            <a:off x="640080" y="1481328"/>
            <a:ext cx="256032" cy="256032"/>
          </a:xfrm>
          <a:prstGeom prst="rect">
            <a:avLst/>
          </a:prstGeom>
        </p:spPr>
      </p:pic>
      <p:sp>
        <p:nvSpPr>
          <p:cNvPr id="17" name="Text 13"/>
          <p:cNvSpPr txBox="1"/>
          <p:nvPr/>
        </p:nvSpPr>
        <p:spPr>
          <a:xfrm>
            <a:off x="1051560" y="132588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One Google account, the same everywhere</a:t>
            </a:r>
            <a:endParaRPr lang="en-US" sz="1300" dirty="0"/>
          </a:p>
        </p:txBody>
      </p:sp>
      <p:sp>
        <p:nvSpPr>
          <p:cNvPr id="18" name="Shape 14"/>
          <p:cNvSpPr/>
          <p:nvPr/>
        </p:nvSpPr>
        <p:spPr>
          <a:xfrm>
            <a:off x="4617720" y="1325880"/>
            <a:ext cx="3977640" cy="566928"/>
          </a:xfrm>
          <a:prstGeom prst="roundRect">
            <a:avLst>
              <a:gd name="adj" fmla="val 12903"/>
            </a:avLst>
          </a:prstGeom>
          <a:solidFill>
            <a:srgbClr val="F4F7F5"/>
          </a:solidFill>
          <a:ln w="9525">
            <a:solidFill>
              <a:srgbClr val="D5DED9"/>
            </a:solidFill>
            <a:prstDash val="solid"/>
          </a:ln>
        </p:spPr>
      </p:sp>
      <p:pic>
        <p:nvPicPr>
          <p:cNvPr id="19" name="Image 1" descr="preencoded.png">    </p:cNvPr>
          <p:cNvPicPr>
            <a:picLocks noChangeAspect="1"/>
          </p:cNvPicPr>
          <p:nvPr/>
        </p:nvPicPr>
        <p:blipFill>
          <a:blip r:embed="rId2"/>
          <a:stretch>
            <a:fillRect/>
          </a:stretch>
        </p:blipFill>
        <p:spPr>
          <a:xfrm>
            <a:off x="4800600" y="1481328"/>
            <a:ext cx="256032" cy="256032"/>
          </a:xfrm>
          <a:prstGeom prst="rect">
            <a:avLst/>
          </a:prstGeom>
        </p:spPr>
      </p:pic>
      <p:sp>
        <p:nvSpPr>
          <p:cNvPr id="20" name="Text 15"/>
          <p:cNvSpPr txBox="1"/>
          <p:nvPr/>
        </p:nvSpPr>
        <p:spPr>
          <a:xfrm>
            <a:off x="5212080" y="132588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Project created from the registration page</a:t>
            </a:r>
            <a:endParaRPr lang="en-US" sz="1300" dirty="0"/>
          </a:p>
        </p:txBody>
      </p:sp>
      <p:sp>
        <p:nvSpPr>
          <p:cNvPr id="21" name="Shape 16"/>
          <p:cNvSpPr/>
          <p:nvPr/>
        </p:nvSpPr>
        <p:spPr>
          <a:xfrm>
            <a:off x="457200" y="2057400"/>
            <a:ext cx="3977640" cy="566928"/>
          </a:xfrm>
          <a:prstGeom prst="roundRect">
            <a:avLst>
              <a:gd name="adj" fmla="val 12903"/>
            </a:avLst>
          </a:prstGeom>
          <a:solidFill>
            <a:srgbClr val="F4F7F5"/>
          </a:solidFill>
          <a:ln w="9525">
            <a:solidFill>
              <a:srgbClr val="D5DED9"/>
            </a:solidFill>
            <a:prstDash val="solid"/>
          </a:ln>
        </p:spPr>
      </p:sp>
      <p:pic>
        <p:nvPicPr>
          <p:cNvPr id="22" name="Image 2" descr="preencoded.png">    </p:cNvPr>
          <p:cNvPicPr>
            <a:picLocks noChangeAspect="1"/>
          </p:cNvPicPr>
          <p:nvPr/>
        </p:nvPicPr>
        <p:blipFill>
          <a:blip r:embed="rId3"/>
          <a:stretch>
            <a:fillRect/>
          </a:stretch>
        </p:blipFill>
        <p:spPr>
          <a:xfrm>
            <a:off x="640080" y="2212848"/>
            <a:ext cx="256032" cy="256032"/>
          </a:xfrm>
          <a:prstGeom prst="rect">
            <a:avLst/>
          </a:prstGeom>
        </p:spPr>
      </p:pic>
      <p:sp>
        <p:nvSpPr>
          <p:cNvPr id="23" name="Text 17"/>
          <p:cNvSpPr txBox="1"/>
          <p:nvPr/>
        </p:nvSpPr>
        <p:spPr>
          <a:xfrm>
            <a:off x="1051560" y="205740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Noncommercial questionnaire completed</a:t>
            </a:r>
            <a:endParaRPr lang="en-US" sz="1300" dirty="0"/>
          </a:p>
        </p:txBody>
      </p:sp>
      <p:sp>
        <p:nvSpPr>
          <p:cNvPr id="24" name="Shape 18"/>
          <p:cNvSpPr/>
          <p:nvPr/>
        </p:nvSpPr>
        <p:spPr>
          <a:xfrm>
            <a:off x="4617720" y="2057400"/>
            <a:ext cx="3977640" cy="566928"/>
          </a:xfrm>
          <a:prstGeom prst="roundRect">
            <a:avLst>
              <a:gd name="adj" fmla="val 12903"/>
            </a:avLst>
          </a:prstGeom>
          <a:solidFill>
            <a:srgbClr val="F4F7F5"/>
          </a:solidFill>
          <a:ln w="9525">
            <a:solidFill>
              <a:srgbClr val="D5DED9"/>
            </a:solidFill>
            <a:prstDash val="solid"/>
          </a:ln>
        </p:spPr>
      </p:sp>
      <p:pic>
        <p:nvPicPr>
          <p:cNvPr id="25" name="Image 3" descr="preencoded.png">    </p:cNvPr>
          <p:cNvPicPr>
            <a:picLocks noChangeAspect="1"/>
          </p:cNvPicPr>
          <p:nvPr/>
        </p:nvPicPr>
        <p:blipFill>
          <a:blip r:embed="rId4"/>
          <a:stretch>
            <a:fillRect/>
          </a:stretch>
        </p:blipFill>
        <p:spPr>
          <a:xfrm>
            <a:off x="4800600" y="2212848"/>
            <a:ext cx="256032" cy="256032"/>
          </a:xfrm>
          <a:prstGeom prst="rect">
            <a:avLst/>
          </a:prstGeom>
        </p:spPr>
      </p:pic>
      <p:sp>
        <p:nvSpPr>
          <p:cNvPr id="26" name="Text 19"/>
          <p:cNvSpPr txBox="1"/>
          <p:nvPr/>
        </p:nvSpPr>
        <p:spPr>
          <a:xfrm>
            <a:off x="5212080" y="205740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Quota tier chosen — Community is enough</a:t>
            </a:r>
            <a:endParaRPr lang="en-US" sz="1300" dirty="0"/>
          </a:p>
        </p:txBody>
      </p:sp>
      <p:sp>
        <p:nvSpPr>
          <p:cNvPr id="27" name="Shape 20"/>
          <p:cNvSpPr/>
          <p:nvPr/>
        </p:nvSpPr>
        <p:spPr>
          <a:xfrm>
            <a:off x="457200" y="2788920"/>
            <a:ext cx="3977640" cy="566928"/>
          </a:xfrm>
          <a:prstGeom prst="roundRect">
            <a:avLst>
              <a:gd name="adj" fmla="val 12903"/>
            </a:avLst>
          </a:prstGeom>
          <a:solidFill>
            <a:srgbClr val="F4F7F5"/>
          </a:solidFill>
          <a:ln w="9525">
            <a:solidFill>
              <a:srgbClr val="D5DED9"/>
            </a:solidFill>
            <a:prstDash val="solid"/>
          </a:ln>
        </p:spPr>
      </p:sp>
      <p:pic>
        <p:nvPicPr>
          <p:cNvPr id="28" name="Image 4" descr="preencoded.png">    </p:cNvPr>
          <p:cNvPicPr>
            <a:picLocks noChangeAspect="1"/>
          </p:cNvPicPr>
          <p:nvPr/>
        </p:nvPicPr>
        <p:blipFill>
          <a:blip r:embed="rId5"/>
          <a:stretch>
            <a:fillRect/>
          </a:stretch>
        </p:blipFill>
        <p:spPr>
          <a:xfrm>
            <a:off x="640080" y="2944368"/>
            <a:ext cx="256032" cy="256032"/>
          </a:xfrm>
          <a:prstGeom prst="rect">
            <a:avLst/>
          </a:prstGeom>
        </p:spPr>
      </p:pic>
      <p:sp>
        <p:nvSpPr>
          <p:cNvPr id="29" name="Text 21"/>
          <p:cNvSpPr txBox="1"/>
          <p:nvPr/>
        </p:nvSpPr>
        <p:spPr>
          <a:xfrm>
            <a:off x="1051560" y="278892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Earth Engine API enabled</a:t>
            </a:r>
            <a:endParaRPr lang="en-US" sz="1300" dirty="0"/>
          </a:p>
        </p:txBody>
      </p:sp>
      <p:sp>
        <p:nvSpPr>
          <p:cNvPr id="30" name="Shape 22"/>
          <p:cNvSpPr/>
          <p:nvPr/>
        </p:nvSpPr>
        <p:spPr>
          <a:xfrm>
            <a:off x="4617720" y="2788920"/>
            <a:ext cx="3977640" cy="566928"/>
          </a:xfrm>
          <a:prstGeom prst="roundRect">
            <a:avLst>
              <a:gd name="adj" fmla="val 12903"/>
            </a:avLst>
          </a:prstGeom>
          <a:solidFill>
            <a:srgbClr val="F4F7F5"/>
          </a:solidFill>
          <a:ln w="9525">
            <a:solidFill>
              <a:srgbClr val="D5DED9"/>
            </a:solidFill>
            <a:prstDash val="solid"/>
          </a:ln>
        </p:spPr>
      </p:sp>
      <p:pic>
        <p:nvPicPr>
          <p:cNvPr id="31" name="Image 5" descr="preencoded.png">    </p:cNvPr>
          <p:cNvPicPr>
            <a:picLocks noChangeAspect="1"/>
          </p:cNvPicPr>
          <p:nvPr/>
        </p:nvPicPr>
        <p:blipFill>
          <a:blip r:embed="rId6"/>
          <a:stretch>
            <a:fillRect/>
          </a:stretch>
        </p:blipFill>
        <p:spPr>
          <a:xfrm>
            <a:off x="4800600" y="2944368"/>
            <a:ext cx="256032" cy="256032"/>
          </a:xfrm>
          <a:prstGeom prst="rect">
            <a:avLst/>
          </a:prstGeom>
        </p:spPr>
      </p:pic>
      <p:sp>
        <p:nvSpPr>
          <p:cNvPr id="32" name="Text 23"/>
          <p:cNvSpPr txBox="1"/>
          <p:nvPr/>
        </p:nvSpPr>
        <p:spPr>
          <a:xfrm>
            <a:off x="5212080" y="278892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ID noted down — not the name</a:t>
            </a:r>
            <a:endParaRPr lang="en-US" sz="1300" dirty="0"/>
          </a:p>
        </p:txBody>
      </p:sp>
      <p:sp>
        <p:nvSpPr>
          <p:cNvPr id="33" name="Shape 24"/>
          <p:cNvSpPr/>
          <p:nvPr/>
        </p:nvSpPr>
        <p:spPr>
          <a:xfrm>
            <a:off x="457200" y="3520440"/>
            <a:ext cx="3977640" cy="566928"/>
          </a:xfrm>
          <a:prstGeom prst="roundRect">
            <a:avLst>
              <a:gd name="adj" fmla="val 12903"/>
            </a:avLst>
          </a:prstGeom>
          <a:solidFill>
            <a:srgbClr val="F4F7F5"/>
          </a:solidFill>
          <a:ln w="9525">
            <a:solidFill>
              <a:srgbClr val="D5DED9"/>
            </a:solidFill>
            <a:prstDash val="solid"/>
          </a:ln>
        </p:spPr>
      </p:sp>
      <p:pic>
        <p:nvPicPr>
          <p:cNvPr id="34" name="Image 6" descr="preencoded.png">    </p:cNvPr>
          <p:cNvPicPr>
            <a:picLocks noChangeAspect="1"/>
          </p:cNvPicPr>
          <p:nvPr/>
        </p:nvPicPr>
        <p:blipFill>
          <a:blip r:embed="rId7"/>
          <a:stretch>
            <a:fillRect/>
          </a:stretch>
        </p:blipFill>
        <p:spPr>
          <a:xfrm>
            <a:off x="640080" y="3675888"/>
            <a:ext cx="256032" cy="256032"/>
          </a:xfrm>
          <a:prstGeom prst="rect">
            <a:avLst/>
          </a:prstGeom>
        </p:spPr>
      </p:pic>
      <p:sp>
        <p:nvSpPr>
          <p:cNvPr id="35" name="Text 25"/>
          <p:cNvSpPr txBox="1"/>
          <p:nvPr/>
        </p:nvSpPr>
        <p:spPr>
          <a:xfrm>
            <a:off x="1051560" y="352044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30-second test passed</a:t>
            </a:r>
            <a:endParaRPr lang="en-US" sz="1300" dirty="0"/>
          </a:p>
        </p:txBody>
      </p:sp>
      <p:sp>
        <p:nvSpPr>
          <p:cNvPr id="36" name="Shape 26"/>
          <p:cNvSpPr/>
          <p:nvPr/>
        </p:nvSpPr>
        <p:spPr>
          <a:xfrm>
            <a:off x="4617720" y="3520440"/>
            <a:ext cx="3977640" cy="566928"/>
          </a:xfrm>
          <a:prstGeom prst="roundRect">
            <a:avLst>
              <a:gd name="adj" fmla="val 12903"/>
            </a:avLst>
          </a:prstGeom>
          <a:solidFill>
            <a:srgbClr val="F4F7F5"/>
          </a:solidFill>
          <a:ln w="9525">
            <a:solidFill>
              <a:srgbClr val="D5DED9"/>
            </a:solidFill>
            <a:prstDash val="solid"/>
          </a:ln>
        </p:spPr>
      </p:sp>
      <p:pic>
        <p:nvPicPr>
          <p:cNvPr id="37" name="Image 7" descr="preencoded.png">    </p:cNvPr>
          <p:cNvPicPr>
            <a:picLocks noChangeAspect="1"/>
          </p:cNvPicPr>
          <p:nvPr/>
        </p:nvPicPr>
        <p:blipFill>
          <a:blip r:embed="rId8"/>
          <a:stretch>
            <a:fillRect/>
          </a:stretch>
        </p:blipFill>
        <p:spPr>
          <a:xfrm>
            <a:off x="4800600" y="3675888"/>
            <a:ext cx="256032" cy="256032"/>
          </a:xfrm>
          <a:prstGeom prst="rect">
            <a:avLst/>
          </a:prstGeom>
        </p:spPr>
      </p:pic>
      <p:sp>
        <p:nvSpPr>
          <p:cNvPr id="38" name="Text 27"/>
          <p:cNvSpPr txBox="1"/>
          <p:nvPr/>
        </p:nvSpPr>
        <p:spPr>
          <a:xfrm>
            <a:off x="5212080" y="3520440"/>
            <a:ext cx="3291840" cy="566928"/>
          </a:xfrm>
          <a:prstGeom prst="rect">
            <a:avLst/>
          </a:prstGeom>
          <a:noFill/>
          <a:ln/>
        </p:spPr>
        <p:txBody>
          <a:bodyPr wrap="square" lIns="0" tIns="0" rIns="0" bIns="0" rtlCol="0" anchor="ctr"/>
          <a:lstStyle/>
          <a:p>
            <a:pPr indent="0" marL="0">
              <a:buNone/>
            </a:pPr>
            <a:r>
              <a:rPr lang="en-US" sz="1300" dirty="0">
                <a:solidFill>
                  <a:srgbClr val="231F20"/>
                </a:solidFill>
                <a:latin typeface="Calibri" pitchFamily="34" charset="0"/>
                <a:ea typeface="Calibri" pitchFamily="34" charset="-122"/>
                <a:cs typeface="Calibri" pitchFamily="34" charset="-120"/>
              </a:rPr>
              <a:t>Notebook saved in Drive</a:t>
            </a:r>
            <a:endParaRPr lang="en-US" sz="1300" dirty="0"/>
          </a:p>
        </p:txBody>
      </p:sp>
      <p:sp>
        <p:nvSpPr>
          <p:cNvPr id="39"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Tick in order: each box assumes the previous ones.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Shape 2"/>
          <p:cNvSpPr/>
          <p:nvPr/>
        </p:nvSpPr>
        <p:spPr>
          <a:xfrm>
            <a:off x="7818120" y="3977640"/>
            <a:ext cx="2103120" cy="2103120"/>
          </a:xfrm>
          <a:prstGeom prst="ellipse">
            <a:avLst/>
          </a:prstGeom>
          <a:solidFill>
            <a:srgbClr val="FFFFFF">
              <a:alpha val="0"/>
            </a:srgbClr>
          </a:solidFill>
          <a:ln w="15875">
            <a:solidFill>
              <a:srgbClr val="00A86A">
                <a:alpha val="12000"/>
              </a:srgbClr>
            </a:solidFill>
            <a:prstDash val="solid"/>
          </a:ln>
        </p:spPr>
      </p:sp>
      <p:sp>
        <p:nvSpPr>
          <p:cNvPr id="5" name="Shape 3"/>
          <p:cNvSpPr/>
          <p:nvPr/>
        </p:nvSpPr>
        <p:spPr>
          <a:xfrm>
            <a:off x="8183880" y="4343400"/>
            <a:ext cx="1371600" cy="1371600"/>
          </a:xfrm>
          <a:prstGeom prst="ellipse">
            <a:avLst/>
          </a:prstGeom>
          <a:solidFill>
            <a:srgbClr val="FFFFFF">
              <a:alpha val="0"/>
            </a:srgbClr>
          </a:solidFill>
          <a:ln w="15875">
            <a:solidFill>
              <a:srgbClr val="00A86A">
                <a:alpha val="12000"/>
              </a:srgbClr>
            </a:solidFill>
            <a:prstDash val="solid"/>
          </a:ln>
        </p:spPr>
      </p:sp>
      <p:sp>
        <p:nvSpPr>
          <p:cNvPr id="6" name="Text 4"/>
          <p:cNvSpPr txBox="1"/>
          <p:nvPr/>
        </p:nvSpPr>
        <p:spPr>
          <a:xfrm>
            <a:off x="457200" y="237744"/>
            <a:ext cx="6583680" cy="237744"/>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REFERENCES</a:t>
            </a:r>
            <a:endParaRPr lang="en-US" sz="1050" dirty="0"/>
          </a:p>
        </p:txBody>
      </p:sp>
      <p:sp>
        <p:nvSpPr>
          <p:cNvPr id="7" name="Text 5"/>
          <p:cNvSpPr txBox="1"/>
          <p:nvPr/>
        </p:nvSpPr>
        <p:spPr>
          <a:xfrm>
            <a:off x="457200" y="475488"/>
            <a:ext cx="7498080" cy="640080"/>
          </a:xfrm>
          <a:prstGeom prst="rect">
            <a:avLst/>
          </a:prstGeom>
          <a:noFill/>
          <a:ln/>
        </p:spPr>
        <p:txBody>
          <a:bodyPr wrap="square" lIns="0" tIns="0" rIns="0" bIns="0" rtlCol="0" anchor="t"/>
          <a:lstStyle/>
          <a:p>
            <a:pPr indent="0" marL="0">
              <a:buNone/>
            </a:pPr>
            <a:r>
              <a:rPr lang="en-US" sz="2500" b="1" dirty="0">
                <a:solidFill>
                  <a:srgbClr val="231F20"/>
                </a:solidFill>
                <a:latin typeface="Calibri" pitchFamily="34" charset="0"/>
                <a:ea typeface="Calibri" pitchFamily="34" charset="-122"/>
                <a:cs typeface="Calibri" pitchFamily="34" charset="-120"/>
              </a:rPr>
              <a:t>Sources</a:t>
            </a:r>
            <a:endParaRPr lang="en-US" sz="2500" dirty="0"/>
          </a:p>
        </p:txBody>
      </p:sp>
      <p:sp>
        <p:nvSpPr>
          <p:cNvPr id="8" name="Shape 6"/>
          <p:cNvSpPr/>
          <p:nvPr/>
        </p:nvSpPr>
        <p:spPr>
          <a:xfrm>
            <a:off x="8156448" y="301752"/>
            <a:ext cx="100584" cy="100584"/>
          </a:xfrm>
          <a:prstGeom prst="ellipse">
            <a:avLst/>
          </a:prstGeom>
          <a:solidFill>
            <a:srgbClr val="D5DED9"/>
          </a:solidFill>
          <a:ln w="12700">
            <a:solidFill>
              <a:srgbClr val="D5DED9"/>
            </a:solidFill>
            <a:prstDash val="solid"/>
          </a:ln>
        </p:spPr>
      </p:sp>
      <p:sp>
        <p:nvSpPr>
          <p:cNvPr id="9" name="Shape 7"/>
          <p:cNvSpPr/>
          <p:nvPr/>
        </p:nvSpPr>
        <p:spPr>
          <a:xfrm>
            <a:off x="8339328" y="301752"/>
            <a:ext cx="100584" cy="100584"/>
          </a:xfrm>
          <a:prstGeom prst="ellipse">
            <a:avLst/>
          </a:prstGeom>
          <a:solidFill>
            <a:srgbClr val="D5DED9"/>
          </a:solidFill>
          <a:ln w="12700">
            <a:solidFill>
              <a:srgbClr val="D5DED9"/>
            </a:solidFill>
            <a:prstDash val="solid"/>
          </a:ln>
        </p:spPr>
      </p:sp>
      <p:sp>
        <p:nvSpPr>
          <p:cNvPr id="10" name="Shape 8"/>
          <p:cNvSpPr/>
          <p:nvPr/>
        </p:nvSpPr>
        <p:spPr>
          <a:xfrm>
            <a:off x="8522208" y="301752"/>
            <a:ext cx="100584" cy="100584"/>
          </a:xfrm>
          <a:prstGeom prst="ellipse">
            <a:avLst/>
          </a:prstGeom>
          <a:solidFill>
            <a:srgbClr val="D5DED9"/>
          </a:solidFill>
          <a:ln w="12700">
            <a:solidFill>
              <a:srgbClr val="D5DED9"/>
            </a:solidFill>
            <a:prstDash val="solid"/>
          </a:ln>
        </p:spPr>
      </p:sp>
      <p:sp>
        <p:nvSpPr>
          <p:cNvPr id="11" name="Shape 9"/>
          <p:cNvSpPr/>
          <p:nvPr/>
        </p:nvSpPr>
        <p:spPr>
          <a:xfrm>
            <a:off x="8705088" y="301752"/>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9436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Setting up an Earth Engine project · STG17 · Day 4</a:t>
            </a:r>
            <a:endParaRPr lang="en-US" sz="850" dirty="0"/>
          </a:p>
        </p:txBody>
      </p:sp>
      <p:sp>
        <p:nvSpPr>
          <p:cNvPr id="13" name="Text 11"/>
          <p:cNvSpPr txBox="1"/>
          <p:nvPr/>
        </p:nvSpPr>
        <p:spPr>
          <a:xfrm>
            <a:off x="8229600" y="4828032"/>
            <a:ext cx="4572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5" name="Text 12"/>
          <p:cNvSpPr txBox="1"/>
          <p:nvPr/>
        </p:nvSpPr>
        <p:spPr>
          <a:xfrm>
            <a:off x="457200" y="1298448"/>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Earth Engine access</a:t>
            </a:r>
            <a:endParaRPr lang="en-US" sz="1150" dirty="0"/>
          </a:p>
        </p:txBody>
      </p:sp>
      <p:sp>
        <p:nvSpPr>
          <p:cNvPr id="16" name="Text 13"/>
          <p:cNvSpPr txBox="1"/>
          <p:nvPr/>
        </p:nvSpPr>
        <p:spPr>
          <a:xfrm>
            <a:off x="3840480" y="1298448"/>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developers.google.com/earth-engine/guides/access</a:t>
            </a:r>
            <a:endParaRPr lang="en-US" sz="850" dirty="0"/>
          </a:p>
        </p:txBody>
      </p:sp>
      <p:sp>
        <p:nvSpPr>
          <p:cNvPr id="17" name="Text 14"/>
          <p:cNvSpPr txBox="1"/>
          <p:nvPr/>
        </p:nvSpPr>
        <p:spPr>
          <a:xfrm>
            <a:off x="457200" y="1700784"/>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Authentication and Initialization</a:t>
            </a:r>
            <a:endParaRPr lang="en-US" sz="1150" dirty="0"/>
          </a:p>
        </p:txBody>
      </p:sp>
      <p:sp>
        <p:nvSpPr>
          <p:cNvPr id="18" name="Text 15"/>
          <p:cNvSpPr txBox="1"/>
          <p:nvPr/>
        </p:nvSpPr>
        <p:spPr>
          <a:xfrm>
            <a:off x="3840480" y="1700784"/>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developers.google.com/earth-engine/guides/auth</a:t>
            </a:r>
            <a:endParaRPr lang="en-US" sz="850" dirty="0"/>
          </a:p>
        </p:txBody>
      </p:sp>
      <p:sp>
        <p:nvSpPr>
          <p:cNvPr id="19" name="Text 16"/>
          <p:cNvSpPr txBox="1"/>
          <p:nvPr/>
        </p:nvSpPr>
        <p:spPr>
          <a:xfrm>
            <a:off x="457200" y="2103120"/>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Control access to resources (IAM roles)</a:t>
            </a:r>
            <a:endParaRPr lang="en-US" sz="1150" dirty="0"/>
          </a:p>
        </p:txBody>
      </p:sp>
      <p:sp>
        <p:nvSpPr>
          <p:cNvPr id="20" name="Text 17"/>
          <p:cNvSpPr txBox="1"/>
          <p:nvPr/>
        </p:nvSpPr>
        <p:spPr>
          <a:xfrm>
            <a:off x="3840480" y="2103120"/>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developers.google.com/earth-engine/guides/access_control</a:t>
            </a:r>
            <a:endParaRPr lang="en-US" sz="850" dirty="0"/>
          </a:p>
        </p:txBody>
      </p:sp>
      <p:sp>
        <p:nvSpPr>
          <p:cNvPr id="21" name="Text 18"/>
          <p:cNvSpPr txBox="1"/>
          <p:nvPr/>
        </p:nvSpPr>
        <p:spPr>
          <a:xfrm>
            <a:off x="457200" y="2505456"/>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Noncommercial tiers</a:t>
            </a:r>
            <a:endParaRPr lang="en-US" sz="1150" dirty="0"/>
          </a:p>
        </p:txBody>
      </p:sp>
      <p:sp>
        <p:nvSpPr>
          <p:cNvPr id="22" name="Text 19"/>
          <p:cNvSpPr txBox="1"/>
          <p:nvPr/>
        </p:nvSpPr>
        <p:spPr>
          <a:xfrm>
            <a:off x="3840480" y="2505456"/>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developers.google.com/earth-engine/guides/noncommercial_tiers</a:t>
            </a:r>
            <a:endParaRPr lang="en-US" sz="850" dirty="0"/>
          </a:p>
        </p:txBody>
      </p:sp>
      <p:sp>
        <p:nvSpPr>
          <p:cNvPr id="23" name="Text 20"/>
          <p:cNvSpPr txBox="1"/>
          <p:nvPr/>
        </p:nvSpPr>
        <p:spPr>
          <a:xfrm>
            <a:off x="457200" y="2907792"/>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Transition to Cloud projects</a:t>
            </a:r>
            <a:endParaRPr lang="en-US" sz="1150" dirty="0"/>
          </a:p>
        </p:txBody>
      </p:sp>
      <p:sp>
        <p:nvSpPr>
          <p:cNvPr id="24" name="Text 21"/>
          <p:cNvSpPr txBox="1"/>
          <p:nvPr/>
        </p:nvSpPr>
        <p:spPr>
          <a:xfrm>
            <a:off x="3840480" y="2907792"/>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developers.google.com/earth-engine/guides/transition_to_cloud_projects</a:t>
            </a:r>
            <a:endParaRPr lang="en-US" sz="850" dirty="0"/>
          </a:p>
        </p:txBody>
      </p:sp>
      <p:sp>
        <p:nvSpPr>
          <p:cNvPr id="25" name="Text 22"/>
          <p:cNvSpPr txBox="1"/>
          <p:nvPr/>
        </p:nvSpPr>
        <p:spPr>
          <a:xfrm>
            <a:off x="457200" y="3310128"/>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Noncommercial use — eligibility</a:t>
            </a:r>
            <a:endParaRPr lang="en-US" sz="1150" dirty="0"/>
          </a:p>
        </p:txBody>
      </p:sp>
      <p:sp>
        <p:nvSpPr>
          <p:cNvPr id="26" name="Text 23"/>
          <p:cNvSpPr txBox="1"/>
          <p:nvPr/>
        </p:nvSpPr>
        <p:spPr>
          <a:xfrm>
            <a:off x="3840480" y="3310128"/>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earthengine.google.com/noncommercial</a:t>
            </a:r>
            <a:endParaRPr lang="en-US" sz="850" dirty="0"/>
          </a:p>
        </p:txBody>
      </p:sp>
      <p:sp>
        <p:nvSpPr>
          <p:cNvPr id="27" name="Text 24"/>
          <p:cNvSpPr txBox="1"/>
          <p:nvPr/>
        </p:nvSpPr>
        <p:spPr>
          <a:xfrm>
            <a:off x="457200" y="3712464"/>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Catalogue: VIIRS DNB Annual V2.2</a:t>
            </a:r>
            <a:endParaRPr lang="en-US" sz="1150" dirty="0"/>
          </a:p>
        </p:txBody>
      </p:sp>
      <p:sp>
        <p:nvSpPr>
          <p:cNvPr id="28" name="Text 25"/>
          <p:cNvSpPr txBox="1"/>
          <p:nvPr/>
        </p:nvSpPr>
        <p:spPr>
          <a:xfrm>
            <a:off x="3840480" y="3712464"/>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developers.google.com/earth-engine/datasets/catalog/NOAA_VIIRS_DNB_ANNUAL_V22</a:t>
            </a:r>
            <a:endParaRPr lang="en-US" sz="850" dirty="0"/>
          </a:p>
        </p:txBody>
      </p:sp>
      <p:sp>
        <p:nvSpPr>
          <p:cNvPr id="29" name="Text 26"/>
          <p:cNvSpPr txBox="1"/>
          <p:nvPr/>
        </p:nvSpPr>
        <p:spPr>
          <a:xfrm>
            <a:off x="457200" y="4114800"/>
            <a:ext cx="3291840" cy="36576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Catalogue: VIIRS DNB Monthly VCMSLCFG</a:t>
            </a:r>
            <a:endParaRPr lang="en-US" sz="1150" dirty="0"/>
          </a:p>
        </p:txBody>
      </p:sp>
      <p:sp>
        <p:nvSpPr>
          <p:cNvPr id="30" name="Text 27"/>
          <p:cNvSpPr txBox="1"/>
          <p:nvPr/>
        </p:nvSpPr>
        <p:spPr>
          <a:xfrm>
            <a:off x="3840480" y="4114800"/>
            <a:ext cx="4846320" cy="365760"/>
          </a:xfrm>
          <a:prstGeom prst="rect">
            <a:avLst/>
          </a:prstGeom>
          <a:noFill/>
          <a:ln/>
        </p:spPr>
        <p:txBody>
          <a:bodyPr wrap="square" lIns="0" tIns="0" rIns="0" bIns="0" rtlCol="0" anchor="ctr"/>
          <a:lstStyle/>
          <a:p>
            <a:pPr indent="0" marL="0">
              <a:buNone/>
            </a:pPr>
            <a:r>
              <a:rPr lang="en-US" sz="850" dirty="0">
                <a:solidFill>
                  <a:srgbClr val="00704A"/>
                </a:solidFill>
                <a:latin typeface="Courier New" pitchFamily="34" charset="0"/>
                <a:ea typeface="Courier New" pitchFamily="34" charset="-122"/>
                <a:cs typeface="Courier New" pitchFamily="34" charset="-120"/>
              </a:rPr>
              <a:t>developers.google.com/earth-engine/datasets/catalog/NOAA_VIIRS_DNB_MONTHLY_V1_VCMSLCFG</a:t>
            </a:r>
            <a:endParaRPr lang="en-US" sz="850" dirty="0"/>
          </a:p>
        </p:txBody>
      </p:sp>
      <p:sp>
        <p:nvSpPr>
          <p:cNvPr id="31" name="Text 28"/>
          <p:cNvSpPr txBox="1"/>
          <p:nvPr/>
        </p:nvSpPr>
        <p:spPr>
          <a:xfrm>
            <a:off x="457200" y="4590288"/>
            <a:ext cx="7863840" cy="18288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Documentation consulted in September 2026. Screenshots come from a real workshop project (French interface); schematics are indicative.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100" b="1" spc="300" kern="0" dirty="0">
                <a:solidFill>
                  <a:srgbClr val="F5C242"/>
                </a:solidFill>
                <a:latin typeface="Calibri" pitchFamily="34" charset="0"/>
                <a:ea typeface="Calibri" pitchFamily="34" charset="-122"/>
                <a:cs typeface="Calibri" pitchFamily="34" charset="-120"/>
              </a:rPr>
              <a:t>READY TO LAUNCH</a:t>
            </a:r>
            <a:endParaRPr lang="en-US" sz="1100" dirty="0"/>
          </a:p>
        </p:txBody>
      </p:sp>
      <p:sp>
        <p:nvSpPr>
          <p:cNvPr id="3" name="Text 1"/>
          <p:cNvSpPr txBox="1"/>
          <p:nvPr/>
        </p:nvSpPr>
        <p:spPr>
          <a:xfrm>
            <a:off x="548640" y="1554480"/>
            <a:ext cx="694944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Your project is ready. Lights on.</a:t>
            </a:r>
            <a:endParaRPr lang="en-US" sz="4000" dirty="0"/>
          </a:p>
        </p:txBody>
      </p:sp>
      <p:sp>
        <p:nvSpPr>
          <p:cNvPr id="4" name="Text 2"/>
          <p:cNvSpPr txBox="1"/>
          <p:nvPr/>
        </p:nvSpPr>
        <p:spPr>
          <a:xfrm>
            <a:off x="548640" y="3017520"/>
            <a:ext cx="6400800" cy="822960"/>
          </a:xfrm>
          <a:prstGeom prst="rect">
            <a:avLst/>
          </a:prstGeom>
          <a:noFill/>
          <a:ln/>
        </p:spPr>
        <p:txBody>
          <a:bodyPr wrap="square" lIns="0" tIns="0" rIns="0" bIns="0" rtlCol="0" anchor="t"/>
          <a:lstStyle/>
          <a:p>
            <a:pPr indent="0" marL="0">
              <a:buNone/>
            </a:pPr>
            <a:r>
              <a:rPr lang="en-US" sz="1700" i="1" dirty="0">
                <a:solidFill>
                  <a:srgbClr val="E6F6EE"/>
                </a:solidFill>
                <a:latin typeface="Calibri" pitchFamily="34" charset="0"/>
                <a:ea typeface="Calibri" pitchFamily="34" charset="-122"/>
                <a:cs typeface="Calibri" pitchFamily="34" charset="-120"/>
              </a:rPr>
              <a:t>Type the ID, press Enter, authorise access — then let the notebook work through to the dashboard.</a:t>
            </a:r>
            <a:endParaRPr lang="en-US" sz="1700" dirty="0"/>
          </a:p>
        </p:txBody>
      </p:sp>
      <p:pic>
        <p:nvPicPr>
          <p:cNvPr id="6" name="Image 0" descr="preencoded.png">    </p:cNvPr>
          <p:cNvPicPr>
            <a:picLocks noChangeAspect="1"/>
          </p:cNvPicPr>
          <p:nvPr/>
        </p:nvPicPr>
        <p:blipFill>
          <a:blip r:embed="rId2"/>
          <a:stretch>
            <a:fillRect/>
          </a:stretch>
        </p:blipFill>
        <p:spPr>
          <a:xfrm>
            <a:off x="7635240" y="3566160"/>
            <a:ext cx="640080" cy="640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Setting up a Google Earth Engine project for night-time lights</dc:title>
  <dc:subject>PptxGenJS Presentation</dc:subject>
  <dc:creator>STG17 workshop</dc:creator>
  <cp:lastModifiedBy>STG17 workshop</cp:lastModifiedBy>
  <cp:revision>1</cp:revision>
  <dcterms:created xsi:type="dcterms:W3CDTF">2026-09-21T19:08:20Z</dcterms:created>
  <dcterms:modified xsi:type="dcterms:W3CDTF">2026-09-21T19:08:20Z</dcterms:modified>
</cp:coreProperties>
</file>