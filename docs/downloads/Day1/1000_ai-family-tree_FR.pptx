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231F20"/>
                </a:solidFill>
                <a:latin typeface="Calibri"/>
              </a:defRPr>
            </a:pPr>
            <a:r>
              <a:rPr sz="1000" b="0" i="0" u="none" strike="noStrike">
                <a:solidFill>
                  <a:srgbClr val="231F20"/>
                </a:solidFill>
                <a:latin typeface="Calibri"/>
              </a:rPr>
              <a:t>Probabilité du jeton suivant (%) — exemple illustratif</a:t>
            </a:r>
          </a:p>
        </c:rich>
      </c:tx>
      <c:layout/>
      <c:overlay val="0"/>
    </c:title>
    <c:autoTitleDeleted val="0"/>
    <c:plotArea>
      <c:layout/>
      <c:barChart>
        <c:barDir val="bar"/>
        <c:grouping val="clustered"/>
        <c:varyColors val="0"/>
        <c:ser>
          <c:idx val="0"/>
          <c:order val="0"/>
          <c:tx>
            <c:strRef>
              <c:f>Sheet1!$B$1</c:f>
              <c:strCache>
                <c:ptCount val="1"/>
                <c:pt idx="0">
                  <c:v>Probabilité</c:v>
                </c:pt>
              </c:strCache>
            </c:strRef>
          </c:tx>
          <c:spPr>
            <a:solidFill>
              <a:srgbClr val="00A86A"/>
            </a:solidFill>
            <a:effectLst/>
          </c:spPr>
          <c:invertIfNegative val="0"/>
          <c:dLbls>
            <c:numFmt formatCode="0&quot;%&quot;" sourceLinked="0"/>
            <c:txPr>
              <a:bodyPr/>
              <a:lstStyle/>
              <a:p>
                <a:pPr>
                  <a:defRPr b="0" i="0" strike="noStrike" sz="900" u="none">
                    <a:solidFill>
                      <a:srgbClr val="231F20"/>
                    </a:solidFill>
                    <a:latin typeface="Arial"/>
                  </a:defRPr>
                </a:pPr>
              </a:p>
            </c:txPr>
            <c:showLegendKey val="0"/>
            <c:showVal val="1"/>
            <c:showCatName val="0"/>
            <c:showSerName val="0"/>
            <c:showPercent val="0"/>
            <c:showBubbleSize val="0"/>
            <c:showLeaderLines val="0"/>
          </c:dLbls>
          <c:dPt>
            <c:idx val="0"/>
            <c:invertIfNegative val="0"/>
            <c:bubble3D val="0"/>
            <c:spPr>
              <a:solidFill>
                <a:srgbClr val="00A86A"/>
              </a:solidFill>
              <a:effectLst/>
            </c:spPr>
          </c:dPt>
          <c:dPt>
            <c:idx val="1"/>
            <c:invertIfNegative val="0"/>
            <c:bubble3D val="0"/>
            <c:spPr>
              <a:solidFill>
                <a:srgbClr val="9ED9C0"/>
              </a:solidFill>
              <a:effectLst/>
            </c:spPr>
          </c:dPt>
          <c:dPt>
            <c:idx val="2"/>
            <c:invertIfNegative val="0"/>
            <c:bubble3D val="0"/>
            <c:spPr>
              <a:solidFill>
                <a:srgbClr val="9ED9C0"/>
              </a:solidFill>
              <a:effectLst/>
            </c:spPr>
          </c:dPt>
          <c:dPt>
            <c:idx val="3"/>
            <c:invertIfNegative val="0"/>
            <c:bubble3D val="0"/>
            <c:spPr>
              <a:solidFill>
                <a:srgbClr val="9ED9C0"/>
              </a:solidFill>
              <a:effectLst/>
            </c:spPr>
          </c:dPt>
          <c:dPt>
            <c:idx val="4"/>
            <c:invertIfNegative val="0"/>
            <c:bubble3D val="0"/>
            <c:spPr>
              <a:solidFill>
                <a:srgbClr val="9ED9C0"/>
              </a:solidFill>
              <a:effectLst/>
            </c:spPr>
          </c:dPt>
          <c:cat>
            <c:multiLvlStrRef>
              <c:f>Sheet1!$A$2:$A$6</c:f>
              <c:multiLvlStrCache>
                <c:ptCount val="5"/>
                <c:lvl>
                  <c:pt idx="0">
                    <c:v>Tunis</c:v>
                  </c:pt>
                  <c:pt idx="1">
                    <c:v>la</c:v>
                  </c:pt>
                  <c:pt idx="2">
                    <c:v>située</c:v>
                  </c:pt>
                  <c:pt idx="3">
                    <c:v>une</c:v>
                  </c:pt>
                  <c:pt idx="4">
                    <c:v>Carthage</c:v>
                  </c:pt>
                </c:lvl>
              </c:multiLvlStrCache>
            </c:multiLvlStrRef>
          </c:cat>
          <c:val>
            <c:numRef>
              <c:f>Sheet1!$B$2:$B$6</c:f>
              <c:numCache>
                <c:formatCode>General</c:formatCode>
                <c:ptCount val="5"/>
                <c:pt idx="0">
                  <c:v>92</c:v>
                </c:pt>
                <c:pt idx="1">
                  <c:v>3</c:v>
                </c:pt>
                <c:pt idx="2">
                  <c:v>2</c:v>
                </c:pt>
                <c:pt idx="3">
                  <c:v>1</c:v>
                </c:pt>
                <c:pt idx="4">
                  <c:v>1</c:v>
                </c:pt>
              </c:numCache>
            </c:numRef>
          </c:val>
        </c:ser>
        <c:dLbls>
          <c:numFmt formatCode="0&quot;%&quot;" sourceLinked="0"/>
          <c:txPr>
            <a:bodyPr/>
            <a:lstStyle/>
            <a:p>
              <a:pPr>
                <a:defRPr b="0" i="0" strike="noStrike" sz="900" u="none">
                  <a:solidFill>
                    <a:srgbClr val="231F2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231F20"/>
                </a:solidFill>
                <a:latin typeface="Calibri"/>
              </a:defRPr>
            </a:pPr>
            <a:r>
              <a:rPr sz="1000" b="0" i="0" u="none" strike="noStrike">
                <a:solidFill>
                  <a:srgbClr val="231F20"/>
                </a:solidFill>
                <a:latin typeface="Calibri"/>
              </a:rPr>
              <a:t>Courbe en J de la productivité (schéma conceptuel)</a:t>
            </a:r>
          </a:p>
        </c:rich>
      </c:tx>
      <c:layout/>
      <c:overlay val="0"/>
    </c:title>
    <c:autoTitleDeleted val="0"/>
    <c:plotArea>
      <c:layout/>
      <c:lineChart>
        <c:varyColors val="0"/>
        <c:ser>
          <c:idx val="0"/>
          <c:order val="0"/>
          <c:tx>
            <c:strRef>
              <c:f>Sheet1!$B$1</c:f>
              <c:strCache>
                <c:ptCount val="1"/>
                <c:pt idx="0">
                  <c:v>Productivité</c:v>
                </c:pt>
              </c:strCache>
            </c:strRef>
          </c:tx>
          <c:spPr>
            <a:solidFill>
              <a:srgbClr val="00A86A"/>
            </a:solidFill>
            <a:ln w="38100" cap="flat">
              <a:solidFill>
                <a:srgbClr val="00A8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A86A"/>
              </a:solidFill>
              <a:ln w="9525" cap="flat">
                <a:solidFill>
                  <a:srgbClr val="00A86A"/>
                </a:solidFill>
                <a:prstDash val="solid"/>
                <a:round/>
              </a:ln>
              <a:effectLst/>
            </c:spPr>
          </c:marker>
          <c:cat>
            <c:multiLvlStrRef>
              <c:f>Sheet1!$A$2:$A$8</c:f>
              <c:multiLvlStrCache>
                <c:ptCount val="7"/>
                <c:lvl>
                  <c:pt idx="0">
                    <c:v>An 0</c:v>
                  </c:pt>
                  <c:pt idx="1">
                    <c:v>An 1</c:v>
                  </c:pt>
                  <c:pt idx="2">
                    <c:v>An 2</c:v>
                  </c:pt>
                  <c:pt idx="3">
                    <c:v>An 3</c:v>
                  </c:pt>
                  <c:pt idx="4">
                    <c:v>An 4</c:v>
                  </c:pt>
                  <c:pt idx="5">
                    <c:v>An 5</c:v>
                  </c:pt>
                  <c:pt idx="6">
                    <c:v>An 6</c:v>
                  </c:pt>
                </c:lvl>
              </c:multiLvlStrCache>
            </c:multiLvlStrRef>
          </c:cat>
          <c:val>
            <c:numRef>
              <c:f>Sheet1!$B$2:$B$8</c:f>
              <c:numCache>
                <c:formatCode>General</c:formatCode>
                <c:ptCount val="7"/>
                <c:pt idx="0">
                  <c:v>0</c:v>
                </c:pt>
                <c:pt idx="1">
                  <c:v>-0.6</c:v>
                </c:pt>
                <c:pt idx="2">
                  <c:v>-1</c:v>
                </c:pt>
                <c:pt idx="3">
                  <c:v>-0.5</c:v>
                </c:pt>
                <c:pt idx="4">
                  <c:v>0.7</c:v>
                </c:pt>
                <c:pt idx="5">
                  <c:v>2</c:v>
                </c:pt>
                <c:pt idx="6">
                  <c:v>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sur l'objet, pas sur soi. Annoncer ce que la session livre : à 10h15, chacun saura lire n'importe quelle proposition de fournisseur et dire quelle couche du système elle touche réellement. Dix mots, trois couches, un horizon (l'AGI) et une règle. Cette demi-heure fixe le vocabulaire utilisé pour le reste de la semaine.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trois objectifs comme une progression : nommer, situer, évaluer. Insister sur la question de diagnostic en bas : c'est l'outil que les participants utiliseront pendant toute la semaine, en atelier comme face aux fournisseurs. Préciser que l'on ajoute un concept souvent absent des formations techniques mais omniprésent dans les médias :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tient en trente minutes. Chaque section garde sa couleur sur les intercalaires et dans les points de progression en haut à droite, pour que la salle sache toujours où elle en est. Les sections 04 et 06 sont les plus longues : ce sont celles qui changent les décisions d'achat.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rapide. Poser la question à la salle et laisser deux ou trois réponses avant de passer.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qui utilise une méthode de type Fellegi–Holt dans son système d'apurement : la plupart des mains se lèvent. L'idée ne porte que s'ils le disent eux-mêmes. La décision automatisée en statistique publique a cinquante ans et n'est pas controversée. Parcourir la frise rapidement : l'IA est un champ de 70 ans ; les GML n'en sont que la branche la plus récente. Ce qui est nouveau, c'est le nombre d'endroits où l'on peut désormais intervenir.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laisser la salle s'installer dans une seule colonne. La gauche est ce qui les rend compétents pour juger ; la droite explique pourquoi leurs réflexes d'achat et de validation ne se transposeront pas. Bresnahan et Trajtenberg donnent le nom économique de la colonne de droite : technologie à usage général. Terminer sur le piège : c'est exactement ce que la suite de la session va démonter.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la section : on va poser les définitions emboîtées, puis situer l'AGI, le mot le plus utilisé et le moins défini du domaine.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minutes. Lire le schéma de l'extérieur vers l'intérieur : un GML est un transformeur, un transformeur est de l'apprentissage profond, qui est de l'apprentissage automatique, qui est de l'IA. Pour chaque anneau, donner l'exemple de statistique officielle à droite. Conséquence pratique : un cahier des charges qui demande « de l'IA » n'a rien dit ; il faut nommer l'anneau. Garder la taxonomie supervisé / non supervisé / renforcement pour l'annexe si la question vient.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Nouveau concept de la session. L'AGI (intelligence artificielle générale) désigne un système hypothétique capable d'égaler l'humain sur la plupart des tâches cognitives, y compris celles pour lesquelles il n'a pas été préparé. Trois messages. Un : ce n'est pas une technologie que l'on peut acheter, c'est un horizon de recherche. Deux : les systèmes actuels sont polyvalents mais inégaux — excellents sur certaines tâches, fragiles sur des tâches voisines ; les chercheurs parlent de frontière dentelée. Trois : le terme n'a pas de définition partagée, ce qui en fait un mot de marketing idéal. D'où la question à poser en bas de la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que selon la définition choisie, la ligne d'arrivée change : largeur des tâches, valeur économique ou capacité d'apprentissage. C'est pourquoi deux dirigeants peuvent affirmer l'un que l'AGI est proche, l'autre qu'elle est lointaine, sans se contredire vraiment. Le chiffre 2047 est une prévision issue d'une enquête, pas un fait : le dire explicitement, et souligner la dispersion des réponses. Conclusion pratique : un INS planifie sur ce qui est mesurable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que cette section contient la phrase la plus importante de la semaine : la fluidité ne prouve pas l'exactitude.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pont pour une salle de statisticiens : un modèle est une fonction qui transforme une entrée en sortie grâce à des paramètres estimés sur des données. Ils le font tous les jours avec une régression. Un GML suit exactement la même logique — entraînement puis inférence — avec des centaines de milliards de paramètres au lieu de deux, et sans interprétation possible de chacun. Insister sur la distinction du bas : quand quelqu'un dit « le modèle a répondu », il parle souvent d'une application qui combine un modèle, des instructions cachées et des outils. Ce sont trois choses différentes à évaluer.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les quatre-vingt-dix secondes entières : cette diapositive évite les pires erreurs de la semaine. Suivre la flèche : le texte est découpé en jetons (des morceaux de mots), le modèle calcule une probabilité pour chaque jeton possible, on en choisit un, on l'ajoute, et on recommence. Répondre, traduire, résumer, programmer : c'est toujours cette seule opération. L'instinct sera qu'un modèle qui écrit bien sait forcément des choses ; dire plutôt qu'il a appris la forme d'un texte informé. Les probabilités du graphique sont illustratives.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les deux colonnes en parallèle. Les points forts sont réels et utiles dès aujourd'hui dans un INS, à condition qu'un humain relise. Les limites ne sont pas des défauts de jeunesse que la prochaine version corrigera : elles découlent du mécanisme vu à la diapositive précédente. L'hallucination est le nom consacré pour une sortie fluide mais fausse. La section suivante montre comment chaque limite se traite : la date de coupure et l'absence de source par le RAG, la variabilité par des requêtes contrôlées et l'évaluation.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la gauche puis la droite. À gauche, le modèle : on l'achète ou on le télécharge, et le seul moyen de le changer est de le réentraîner. À droite, l'échafaudage : le contexte (ce qu'on lui donne à lire), la boucle d'agent (ce qu'on l'autorise à faire) et MCP (les câbles vers vos systèmes). Tout cela est de l'architecture logicielle classique, que votre équipe informatique sait gouverner. Cette diapositive annonce les sections 04 et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la section la plus longue : quatre endroits où intervenir, du moins coûteux au plus coûteux.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minutes : c'est le schéma qu'ils devraient photographier. Parcourir de gauche à droite en donnant le prix de chaque déplacement en effort plutôt qu'en monnaie : une requête, des minutes ; le RAG, un projet ; l'affinage, un projet plus un jeu d'entraînement à maintenir ; le pré-entraînement, hors de portée. « Traçable » signifie : peut-on relier la réponse à une source ? Puis énoncer la règle.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requête est le levier le moins coûteux et le plus sous-estimé. Lire l'exemple de haut en bas : rôle, tâche, contexte, format, contraintes. La dernière ligne est la plus importante pour un statisticien : elle interdit au modèle d'aller chercher des chiffres ailleurs que dans le tableau fourni. Rappeler qu'une bonne requête ne rend pas le modèle plus savant : elle réduit l'espace des réponses possibles et les rend vérifiables.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RAG en deux temps. Préparation, une seule fois : on découpe les documents, un modèle de plongement transforme chaque passage en coordonnées, on les stocke. À chaque question : on transforme la question en coordonnées, on cherche les passages les plus proches, on les place dans le contexte, et le GML rédige en citant ces passages. Analogie pour la salle : une mesure de similarité dans un espace de grande dimension, comme en appariement d'enregistrements. Le découpage est le point où échouent la plupart des projets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confusion la plus coûteuse du domaine, et la raison pour laquelle le laboratoire de 10h30 porte sur le RAG. Entraînez un modèle sur mille de vos publications : il apprendra votre voix maison, vos conventions de tableaux, vos formulations prudentes ; il n'apprendra pas de façon fiable les chiffres, et ne pourra pas dire d'où vient un chiffre. Les faits se dissolvent dans les poids, le style y survit. Les deux se combinent — affiner pour le style d'une publication, retrouver pour ses chiffres — mais c'est un sujet pour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que l'on passe de ce que le modèle dit à ce qu'on l'autorise à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 « peut » est toute la diapositive : l'autorisation, c'est vous qui l'accordez, en configuration, et c'est le seul contrôle de sécurité à cette couche. Suivre la boucle : le modèle observe, propose une action, votre logiciel l'exécute (en orange, c'est là que se trouve le contrôle), le modèle lit le résultat et recommence. À droite, montrer que « agent » recouvre un continuum : plus on descend, plus l'autonomie et le risque augmentent. L'atelier de 15h00 leur fera construire un agent, puis le casser.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qui désamorce la peur. On imagine un agent avec un terminal sur le serveur de production ; la réalité est une requête structurée — un nom d'outil et des arguments — que votre propre code peut refuser. En bas, MCP : une norme de prise. Chaque source de données devient un « serveur » qu'une application compatible peut brancher sans adaptateur sur mesure, ce qui réduit la dépendance à un fournisseur. Mais un protocole n'a aucune opinion sur le fait qu'une base doive être atteignable : cette décision relève de votre politique de contrôle de la divulgation. Vérifier la version de la spécification le jour de la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Dernière section : on convertit le vocabulaire en décisions.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qui répond directement au titre de la session. La lire ligne par ligne, en commençant par la colonne de droite : ce sont les limites qui protègent. Pour chaque ligne, demander à la salle un exemple dans son propre institut. Noter que l'AGI figure en tête précisément parce qu'elle ne peut rien faire d'opérationnel aujourd'hui : c'est un argument de discussion, pas un outil.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de réflexe. Lire la phrase commerciale en haut de chaque carte et laisser la salle proposer la question avant de la montrer. La dernière carte renvoie à la souveraineté : l'hébergement physique ne suffit pas si le fournisseur relève d'une juridiction étrangère (par exemple le CLOUD Act américain). La souveraineté est contractuelle, pas seulement géographique.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Ready » s'emploie à deux niveaux. D'abord les données : le Département du Commerce des États-Unis a publié en janvier 2025 une guidance organisée en cinq domaines — documentation, formats, diffusion, licences, qualité — pour que les systèmes d'IA générative citent correctement les données officielles. Le comité méthodologique fédéral américain (FCSM) ajoute que le format ne suffit pas : il faut transmettre le sens et la qualité de chaque variable. Ensuite l'institution : gouvernance, compétences, infrastructure, évaluation. Lien avec la session : un INS AI Ready est celui dont les API et métadonnées peuvent alimenter un RAG ou un serveur MCP. Le FMI (StatGPT) montre la logique : le modèle génère une requête vers l'API officielle au lieu de générer le chiffre. Être AI Ready ne signifie pas utiliser l'IA : c'est faire en sorte que, lorsque d'autres l'utilisent, ce soient vos chiffres qui ressortent.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récapitulation que l'on emporte. Ne pas lire les cartes : faire tourner le diagnostic sur un exemple réel. Lire une phrase de brochure commerciale et demander à la salle de la placer dans une colonne. Si elle est implaçable, c'était du marketing. Ce test en trois colonnes s'applique à toute proposition qui arrivera sur leur bureau cette année.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chiffre mesure l'exposition, pas le remplacement : le dire avant qu'on le lise de travers. La courbe en J est un schéma conceptuel, pas une série observée : la productivité d'une technologie à usage général baisse pendant que l'organisation se réorganise, puis monte. Prévoir le creux et ne pas promettre la montée au ministre la première année. La carte du milieu est celle qui change les comportements : demander qui soupçonne un collègue d'avoir collé un projet de publication dans un agent conversationnel public le mois dernier.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Ralentir : c'est la règle unique de la session. Ne pas l'adoucir par des exceptions. Anticiper l'objection — « mais l'agent est plus exact que notre procédure actuelle » — et répondre que la contrainte déterminante n'est pas l'exactitude mais la reproductibilité. Relier à la stratégie continentale de l'Union africaine sur l'IA (Accra, juillet 2024, mise en œuvre 2025–2030) : elle engage les États à bâtir la capacité d'évaluer, de dimensionner et de refuser un système. Refuser de décider est aussi une décision : elle confie le choix au fournisseur.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remercier, ne pas résumer. Finir sur la consigne : apporter au laboratoire une vraie question de leur institut. Les ateliers se passent mal quand les participants arrivent avec une question d'exercice, et bien quand ils arrivent avec une question que leur directeur leur a réellement posée. À 15h00, ils ajouteront la troisième colonne et lui donneront des outils.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Diapositives de réserve, à utiliser uniquement si les questions les appellent.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Glossaire de référence pour un public bilingue. Signaler que le sigle GML (grand modèle de langage) correspond à LLM en anglais, et que la documentation technique des ateliers sera souvent en anglais.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utiliser si quelqu'un demande le rapport entre apprentissage automatique et leur métier. Breiman était des leurs et s'adressait à des statisticiens. L'apprentissage automatique n'a pas remplacé la statistique : il a fait un autre arbitrage, cédant l'interprétation pour acheter de l'exactitude prédictive.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utiliser si la question de la taxonomie vient. Ancrer chaque famille dans ce que les participants possèdent déjà. Dire franchement que l'apprentissage par renforcement a très peu d'usages directs en statistique officielle, même s'il sert à entraîner les GML à suivre des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utiliser si quelqu'un demande s'il faut entraîner son propre modèle. La réponse retire une décision au lieu d'en ajouter une. Distinguer explicitement pré-entraînement et affinage : on les confond constamment, et seul le premier est hors de portée.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complètes. Les références ajoutées dans cette version concernent la notion de modèle (Box), AI Ready (Commerce, FCSM, FMI), l'AGI (Legg &amp; Hutter, Chollet, Morris et al., Grace et al., Blili-Hamelin et al.) et la gouvernance actuelle du MCP. Vérifier la version de la spécification MCP le jour 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complètes. Les références ajoutées dans cette version concernent la notion de modèle (Box), AI Ready (Commerce, FCSM, FMI), l'AGI (Legg &amp; Hutter, Chollet, Morris et al., Grace et al., Blili-Hamelin et al.) et la gouvernance actuelle du MCP. Vérifier la version de la spécification MCP le jour 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complètes. Les références ajoutées dans cette version concernent la notion de modèle (Box), AI Ready (Commerce, FCSM, FMI), l'AGI (Legg &amp; Hutter, Chollet, Morris et al., Grace et al., Blili-Hamelin et al.) et la gouvernance actuelle du MCP. Vérifier la version de la spécification MCP le jour 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slideLayout" Target="../slideLayouts/slideLayout1.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slideLayout" Target="../slideLayouts/slideLayout1.xml"/><Relationship Id="rId1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slideLayout" Target="../slideLayouts/slideLayout1.xml"/><Relationship Id="rId1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9-1.png"/><Relationship Id="rId3" Type="http://schemas.openxmlformats.org/officeDocument/2006/relationships/image" Target="../media/image-29-2.png"/><Relationship Id="rId4" Type="http://schemas.openxmlformats.org/officeDocument/2006/relationships/image" Target="../media/image-29-3.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60120"/>
            <a:ext cx="64008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ATELIER TECHNIQUE STG17  ·  JOUR 1  ·  09H45–10H15</a:t>
            </a:r>
            <a:endParaRPr lang="en-US" sz="1050" dirty="0"/>
          </a:p>
        </p:txBody>
      </p:sp>
      <p:sp>
        <p:nvSpPr>
          <p:cNvPr id="3" name="Text 1"/>
          <p:cNvSpPr txBox="1"/>
          <p:nvPr/>
        </p:nvSpPr>
        <p:spPr>
          <a:xfrm>
            <a:off x="548640" y="1234440"/>
            <a:ext cx="7315200" cy="86868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L'arbre généalogique de l'IA</a:t>
            </a:r>
            <a:endParaRPr lang="en-US" sz="4600" dirty="0"/>
          </a:p>
        </p:txBody>
      </p:sp>
      <p:sp>
        <p:nvSpPr>
          <p:cNvPr id="4" name="Text 2"/>
          <p:cNvSpPr txBox="1"/>
          <p:nvPr/>
        </p:nvSpPr>
        <p:spPr>
          <a:xfrm>
            <a:off x="548640" y="2148840"/>
            <a:ext cx="6035040" cy="68580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les concepts s'articulent — de l'IA à l'AGI, des grands modèles de langage aux agents et au MCP</a:t>
            </a:r>
            <a:endParaRPr lang="en-US" sz="1800" dirty="0"/>
          </a:p>
        </p:txBody>
      </p:sp>
      <p:sp>
        <p:nvSpPr>
          <p:cNvPr id="5" name="Shape 3"/>
          <p:cNvSpPr/>
          <p:nvPr/>
        </p:nvSpPr>
        <p:spPr>
          <a:xfrm>
            <a:off x="548640" y="3063240"/>
            <a:ext cx="676656"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6" name="Text 4"/>
          <p:cNvSpPr txBox="1"/>
          <p:nvPr/>
        </p:nvSpPr>
        <p:spPr>
          <a:xfrm>
            <a:off x="548640" y="3063240"/>
            <a:ext cx="67665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Modèle</a:t>
            </a:r>
            <a:endParaRPr lang="en-US" sz="1050" dirty="0"/>
          </a:p>
        </p:txBody>
      </p:sp>
      <p:sp>
        <p:nvSpPr>
          <p:cNvPr id="7" name="Shape 5"/>
          <p:cNvSpPr/>
          <p:nvPr/>
        </p:nvSpPr>
        <p:spPr>
          <a:xfrm>
            <a:off x="1335024" y="3063240"/>
            <a:ext cx="384048"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8" name="Text 6"/>
          <p:cNvSpPr txBox="1"/>
          <p:nvPr/>
        </p:nvSpPr>
        <p:spPr>
          <a:xfrm>
            <a:off x="1335024" y="3063240"/>
            <a:ext cx="38404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IA</a:t>
            </a:r>
            <a:endParaRPr lang="en-US" sz="1050" dirty="0"/>
          </a:p>
        </p:txBody>
      </p:sp>
      <p:sp>
        <p:nvSpPr>
          <p:cNvPr id="9" name="Shape 7"/>
          <p:cNvSpPr/>
          <p:nvPr/>
        </p:nvSpPr>
        <p:spPr>
          <a:xfrm>
            <a:off x="1828800" y="3063240"/>
            <a:ext cx="45720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0" name="Text 8"/>
          <p:cNvSpPr txBox="1"/>
          <p:nvPr/>
        </p:nvSpPr>
        <p:spPr>
          <a:xfrm>
            <a:off x="1828800" y="3063240"/>
            <a:ext cx="4572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AGI</a:t>
            </a:r>
            <a:endParaRPr lang="en-US" sz="1050" dirty="0"/>
          </a:p>
        </p:txBody>
      </p:sp>
      <p:sp>
        <p:nvSpPr>
          <p:cNvPr id="11" name="Shape 9"/>
          <p:cNvSpPr/>
          <p:nvPr/>
        </p:nvSpPr>
        <p:spPr>
          <a:xfrm>
            <a:off x="2395728" y="3063240"/>
            <a:ext cx="45720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2" name="Text 10"/>
          <p:cNvSpPr txBox="1"/>
          <p:nvPr/>
        </p:nvSpPr>
        <p:spPr>
          <a:xfrm>
            <a:off x="2395728" y="3063240"/>
            <a:ext cx="4572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GML</a:t>
            </a:r>
            <a:endParaRPr lang="en-US" sz="1050" dirty="0"/>
          </a:p>
        </p:txBody>
      </p:sp>
      <p:sp>
        <p:nvSpPr>
          <p:cNvPr id="13" name="Shape 11"/>
          <p:cNvSpPr/>
          <p:nvPr/>
        </p:nvSpPr>
        <p:spPr>
          <a:xfrm>
            <a:off x="2962656" y="3063240"/>
            <a:ext cx="749808"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4" name="Text 12"/>
          <p:cNvSpPr txBox="1"/>
          <p:nvPr/>
        </p:nvSpPr>
        <p:spPr>
          <a:xfrm>
            <a:off x="2962656" y="3063240"/>
            <a:ext cx="74980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Requête</a:t>
            </a:r>
            <a:endParaRPr lang="en-US" sz="1050" dirty="0"/>
          </a:p>
        </p:txBody>
      </p:sp>
      <p:sp>
        <p:nvSpPr>
          <p:cNvPr id="15" name="Shape 13"/>
          <p:cNvSpPr/>
          <p:nvPr/>
        </p:nvSpPr>
        <p:spPr>
          <a:xfrm>
            <a:off x="3822192" y="3063240"/>
            <a:ext cx="45720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6" name="Text 14"/>
          <p:cNvSpPr txBox="1"/>
          <p:nvPr/>
        </p:nvSpPr>
        <p:spPr>
          <a:xfrm>
            <a:off x="3822192" y="3063240"/>
            <a:ext cx="4572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RAG</a:t>
            </a:r>
            <a:endParaRPr lang="en-US" sz="1050" dirty="0"/>
          </a:p>
        </p:txBody>
      </p:sp>
      <p:sp>
        <p:nvSpPr>
          <p:cNvPr id="17" name="Shape 15"/>
          <p:cNvSpPr/>
          <p:nvPr/>
        </p:nvSpPr>
        <p:spPr>
          <a:xfrm>
            <a:off x="4389120" y="3063240"/>
            <a:ext cx="82296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8" name="Text 16"/>
          <p:cNvSpPr txBox="1"/>
          <p:nvPr/>
        </p:nvSpPr>
        <p:spPr>
          <a:xfrm>
            <a:off x="4389120" y="3063240"/>
            <a:ext cx="8229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Affinage</a:t>
            </a:r>
            <a:endParaRPr lang="en-US" sz="1050" dirty="0"/>
          </a:p>
        </p:txBody>
      </p:sp>
      <p:sp>
        <p:nvSpPr>
          <p:cNvPr id="19" name="Shape 17"/>
          <p:cNvSpPr/>
          <p:nvPr/>
        </p:nvSpPr>
        <p:spPr>
          <a:xfrm>
            <a:off x="5321808" y="3063240"/>
            <a:ext cx="676656"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20" name="Text 18"/>
          <p:cNvSpPr txBox="1"/>
          <p:nvPr/>
        </p:nvSpPr>
        <p:spPr>
          <a:xfrm>
            <a:off x="5321808" y="3063240"/>
            <a:ext cx="67665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Agents</a:t>
            </a:r>
            <a:endParaRPr lang="en-US" sz="1050" dirty="0"/>
          </a:p>
        </p:txBody>
      </p:sp>
      <p:sp>
        <p:nvSpPr>
          <p:cNvPr id="21" name="Shape 19"/>
          <p:cNvSpPr/>
          <p:nvPr/>
        </p:nvSpPr>
        <p:spPr>
          <a:xfrm>
            <a:off x="6108192" y="3063240"/>
            <a:ext cx="45720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22" name="Text 20"/>
          <p:cNvSpPr txBox="1"/>
          <p:nvPr/>
        </p:nvSpPr>
        <p:spPr>
          <a:xfrm>
            <a:off x="6108192" y="3063240"/>
            <a:ext cx="4572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MCP</a:t>
            </a:r>
            <a:endParaRPr lang="en-US" sz="1050" dirty="0"/>
          </a:p>
        </p:txBody>
      </p:sp>
      <p:sp>
        <p:nvSpPr>
          <p:cNvPr id="23" name="Shape 21"/>
          <p:cNvSpPr/>
          <p:nvPr/>
        </p:nvSpPr>
        <p:spPr>
          <a:xfrm>
            <a:off x="6675120" y="3063240"/>
            <a:ext cx="82296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24" name="Text 22"/>
          <p:cNvSpPr txBox="1"/>
          <p:nvPr/>
        </p:nvSpPr>
        <p:spPr>
          <a:xfrm>
            <a:off x="6675120" y="3063240"/>
            <a:ext cx="8229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Ready</a:t>
            </a:r>
            <a:endParaRPr lang="en-US" sz="1050" dirty="0"/>
          </a:p>
        </p:txBody>
      </p:sp>
      <p:sp>
        <p:nvSpPr>
          <p:cNvPr id="25" name="Text 23"/>
          <p:cNvSpPr txBox="1"/>
          <p:nvPr/>
        </p:nvSpPr>
        <p:spPr>
          <a:xfrm>
            <a:off x="548640" y="4206240"/>
            <a:ext cx="640080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Banque africaine de développement  ·  STATAFRIC (Union africaine)</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INTRODUCTION  ·  OBJECTIFS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Trente minutes pour parler la même langue toute la semaine</a:t>
            </a:r>
            <a:endParaRPr lang="en-US" sz="24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0" name="Shape 8"/>
          <p:cNvSpPr/>
          <p:nvPr/>
        </p:nvSpPr>
        <p:spPr>
          <a:xfrm>
            <a:off x="457200" y="1371600"/>
            <a:ext cx="2606040" cy="2148840"/>
          </a:xfrm>
          <a:prstGeom prst="roundRect">
            <a:avLst>
              <a:gd name="adj" fmla="val 3404"/>
            </a:avLst>
          </a:prstGeom>
          <a:solidFill>
            <a:srgbClr val="F4F7F5"/>
          </a:solidFill>
          <a:ln w="9525">
            <a:solidFill>
              <a:srgbClr val="D5DED9"/>
            </a:solidFill>
            <a:prstDash val="solid"/>
          </a:ln>
        </p:spPr>
      </p:sp>
      <p:sp>
        <p:nvSpPr>
          <p:cNvPr id="11" name="Shape 9"/>
          <p:cNvSpPr/>
          <p:nvPr/>
        </p:nvSpPr>
        <p:spPr>
          <a:xfrm>
            <a:off x="685800" y="1572768"/>
            <a:ext cx="566928" cy="566928"/>
          </a:xfrm>
          <a:prstGeom prst="ellipse">
            <a:avLst/>
          </a:prstGeom>
          <a:solidFill>
            <a:srgbClr val="00A86A">
              <a:alpha val="22000"/>
            </a:srgbClr>
          </a:solidFill>
          <a:ln/>
        </p:spPr>
      </p:sp>
      <p:pic>
        <p:nvPicPr>
          <p:cNvPr id="12" name="Image 0" descr="preencoded.png">    </p:cNvPr>
          <p:cNvPicPr>
            <a:picLocks noChangeAspect="1"/>
          </p:cNvPicPr>
          <p:nvPr/>
        </p:nvPicPr>
        <p:blipFill>
          <a:blip r:embed="rId1"/>
          <a:stretch>
            <a:fillRect/>
          </a:stretch>
        </p:blipFill>
        <p:spPr>
          <a:xfrm>
            <a:off x="821863" y="1708831"/>
            <a:ext cx="294803" cy="294803"/>
          </a:xfrm>
          <a:prstGeom prst="rect">
            <a:avLst/>
          </a:prstGeom>
        </p:spPr>
      </p:pic>
      <p:sp>
        <p:nvSpPr>
          <p:cNvPr id="13" name="Text 10"/>
          <p:cNvSpPr txBox="1"/>
          <p:nvPr/>
        </p:nvSpPr>
        <p:spPr>
          <a:xfrm>
            <a:off x="685800" y="2286000"/>
            <a:ext cx="2194560" cy="320040"/>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1. Nommer</a:t>
            </a:r>
            <a:endParaRPr lang="en-US" sz="1500" dirty="0"/>
          </a:p>
        </p:txBody>
      </p:sp>
      <p:sp>
        <p:nvSpPr>
          <p:cNvPr id="14" name="Text 11"/>
          <p:cNvSpPr txBox="1"/>
          <p:nvPr/>
        </p:nvSpPr>
        <p:spPr>
          <a:xfrm>
            <a:off x="685800" y="2633472"/>
            <a:ext cx="2194560" cy="777240"/>
          </a:xfrm>
          <a:prstGeom prst="rect">
            <a:avLst/>
          </a:prstGeom>
          <a:noFill/>
          <a:ln/>
        </p:spPr>
        <p:txBody>
          <a:bodyPr wrap="square" lIns="0" tIns="0" rIns="0" bIns="0" rtlCol="0" anchor="t"/>
          <a:lstStyle/>
          <a:p>
            <a:pPr indent="0" marL="0">
              <a:buNone/>
            </a:pPr>
            <a:r>
              <a:rPr lang="en-US" sz="1200" dirty="0">
                <a:solidFill>
                  <a:srgbClr val="5E6964"/>
                </a:solidFill>
                <a:latin typeface="Calibri" pitchFamily="34" charset="0"/>
                <a:ea typeface="Calibri" pitchFamily="34" charset="-122"/>
                <a:cs typeface="Calibri" pitchFamily="34" charset="-120"/>
              </a:rPr>
              <a:t>Définir dix concepts : modèle, IA, AGI, GML, requête, RAG, affinage, agent, MCP et AI Ready.</a:t>
            </a:r>
            <a:endParaRPr lang="en-US" sz="1200" dirty="0"/>
          </a:p>
        </p:txBody>
      </p:sp>
      <p:sp>
        <p:nvSpPr>
          <p:cNvPr id="15" name="Shape 12"/>
          <p:cNvSpPr/>
          <p:nvPr/>
        </p:nvSpPr>
        <p:spPr>
          <a:xfrm>
            <a:off x="3268980" y="1371600"/>
            <a:ext cx="2606040" cy="2148840"/>
          </a:xfrm>
          <a:prstGeom prst="roundRect">
            <a:avLst>
              <a:gd name="adj" fmla="val 3404"/>
            </a:avLst>
          </a:prstGeom>
          <a:solidFill>
            <a:srgbClr val="F4F7F5"/>
          </a:solidFill>
          <a:ln w="9525">
            <a:solidFill>
              <a:srgbClr val="D5DED9"/>
            </a:solidFill>
            <a:prstDash val="solid"/>
          </a:ln>
        </p:spPr>
      </p:sp>
      <p:sp>
        <p:nvSpPr>
          <p:cNvPr id="16" name="Shape 13"/>
          <p:cNvSpPr/>
          <p:nvPr/>
        </p:nvSpPr>
        <p:spPr>
          <a:xfrm>
            <a:off x="3497580" y="1572768"/>
            <a:ext cx="566928" cy="566928"/>
          </a:xfrm>
          <a:prstGeom prst="ellipse">
            <a:avLst/>
          </a:prstGeom>
          <a:solidFill>
            <a:srgbClr val="0E7C86">
              <a:alpha val="22000"/>
            </a:srgbClr>
          </a:solidFill>
          <a:ln/>
        </p:spPr>
      </p:sp>
      <p:pic>
        <p:nvPicPr>
          <p:cNvPr id="17" name="Image 1" descr="preencoded.png">    </p:cNvPr>
          <p:cNvPicPr>
            <a:picLocks noChangeAspect="1"/>
          </p:cNvPicPr>
          <p:nvPr/>
        </p:nvPicPr>
        <p:blipFill>
          <a:blip r:embed="rId2"/>
          <a:stretch>
            <a:fillRect/>
          </a:stretch>
        </p:blipFill>
        <p:spPr>
          <a:xfrm>
            <a:off x="3633643" y="1708831"/>
            <a:ext cx="294803" cy="294803"/>
          </a:xfrm>
          <a:prstGeom prst="rect">
            <a:avLst/>
          </a:prstGeom>
        </p:spPr>
      </p:pic>
      <p:sp>
        <p:nvSpPr>
          <p:cNvPr id="18" name="Text 14"/>
          <p:cNvSpPr txBox="1"/>
          <p:nvPr/>
        </p:nvSpPr>
        <p:spPr>
          <a:xfrm>
            <a:off x="3497580" y="2286000"/>
            <a:ext cx="2194560" cy="320040"/>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2. Situer</a:t>
            </a:r>
            <a:endParaRPr lang="en-US" sz="1500" dirty="0"/>
          </a:p>
        </p:txBody>
      </p:sp>
      <p:sp>
        <p:nvSpPr>
          <p:cNvPr id="19" name="Text 15"/>
          <p:cNvSpPr txBox="1"/>
          <p:nvPr/>
        </p:nvSpPr>
        <p:spPr>
          <a:xfrm>
            <a:off x="3497580" y="2633472"/>
            <a:ext cx="2194560" cy="777240"/>
          </a:xfrm>
          <a:prstGeom prst="rect">
            <a:avLst/>
          </a:prstGeom>
          <a:noFill/>
          <a:ln/>
        </p:spPr>
        <p:txBody>
          <a:bodyPr wrap="square" lIns="0" tIns="0" rIns="0" bIns="0" rtlCol="0" anchor="t"/>
          <a:lstStyle/>
          <a:p>
            <a:pPr indent="0" marL="0">
              <a:buNone/>
            </a:pPr>
            <a:r>
              <a:rPr lang="en-US" sz="1200" dirty="0">
                <a:solidFill>
                  <a:srgbClr val="5E6964"/>
                </a:solidFill>
                <a:latin typeface="Calibri" pitchFamily="34" charset="0"/>
                <a:ea typeface="Calibri" pitchFamily="34" charset="-122"/>
                <a:cs typeface="Calibri" pitchFamily="34" charset="-120"/>
              </a:rPr>
              <a:t>Placer chaque concept dans l'une des trois couches : les poids du modèle, son contexte, ou l'action.</a:t>
            </a:r>
            <a:endParaRPr lang="en-US" sz="1200" dirty="0"/>
          </a:p>
        </p:txBody>
      </p:sp>
      <p:sp>
        <p:nvSpPr>
          <p:cNvPr id="20" name="Shape 16"/>
          <p:cNvSpPr/>
          <p:nvPr/>
        </p:nvSpPr>
        <p:spPr>
          <a:xfrm>
            <a:off x="6080760" y="1371600"/>
            <a:ext cx="2606040" cy="2148840"/>
          </a:xfrm>
          <a:prstGeom prst="roundRect">
            <a:avLst>
              <a:gd name="adj" fmla="val 3404"/>
            </a:avLst>
          </a:prstGeom>
          <a:solidFill>
            <a:srgbClr val="F4F7F5"/>
          </a:solidFill>
          <a:ln w="9525">
            <a:solidFill>
              <a:srgbClr val="D5DED9"/>
            </a:solidFill>
            <a:prstDash val="solid"/>
          </a:ln>
        </p:spPr>
      </p:sp>
      <p:sp>
        <p:nvSpPr>
          <p:cNvPr id="21" name="Shape 17"/>
          <p:cNvSpPr/>
          <p:nvPr/>
        </p:nvSpPr>
        <p:spPr>
          <a:xfrm>
            <a:off x="6309360" y="1572768"/>
            <a:ext cx="566928" cy="566928"/>
          </a:xfrm>
          <a:prstGeom prst="ellipse">
            <a:avLst/>
          </a:prstGeom>
          <a:solidFill>
            <a:srgbClr val="D49A00">
              <a:alpha val="22000"/>
            </a:srgbClr>
          </a:solidFill>
          <a:ln/>
        </p:spPr>
      </p:sp>
      <p:pic>
        <p:nvPicPr>
          <p:cNvPr id="22" name="Image 2" descr="preencoded.png">    </p:cNvPr>
          <p:cNvPicPr>
            <a:picLocks noChangeAspect="1"/>
          </p:cNvPicPr>
          <p:nvPr/>
        </p:nvPicPr>
        <p:blipFill>
          <a:blip r:embed="rId3"/>
          <a:stretch>
            <a:fillRect/>
          </a:stretch>
        </p:blipFill>
        <p:spPr>
          <a:xfrm>
            <a:off x="6445423" y="1708831"/>
            <a:ext cx="294803" cy="294803"/>
          </a:xfrm>
          <a:prstGeom prst="rect">
            <a:avLst/>
          </a:prstGeom>
        </p:spPr>
      </p:pic>
      <p:sp>
        <p:nvSpPr>
          <p:cNvPr id="23" name="Text 18"/>
          <p:cNvSpPr txBox="1"/>
          <p:nvPr/>
        </p:nvSpPr>
        <p:spPr>
          <a:xfrm>
            <a:off x="6309360" y="2286000"/>
            <a:ext cx="2194560" cy="320040"/>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3. Évaluer</a:t>
            </a:r>
            <a:endParaRPr lang="en-US" sz="1500" dirty="0"/>
          </a:p>
        </p:txBody>
      </p:sp>
      <p:sp>
        <p:nvSpPr>
          <p:cNvPr id="24" name="Text 19"/>
          <p:cNvSpPr txBox="1"/>
          <p:nvPr/>
        </p:nvSpPr>
        <p:spPr>
          <a:xfrm>
            <a:off x="6309360" y="2633472"/>
            <a:ext cx="2194560" cy="777240"/>
          </a:xfrm>
          <a:prstGeom prst="rect">
            <a:avLst/>
          </a:prstGeom>
          <a:noFill/>
          <a:ln/>
        </p:spPr>
        <p:txBody>
          <a:bodyPr wrap="square" lIns="0" tIns="0" rIns="0" bIns="0" rtlCol="0" anchor="t"/>
          <a:lstStyle/>
          <a:p>
            <a:pPr indent="0" marL="0">
              <a:buNone/>
            </a:pPr>
            <a:r>
              <a:rPr lang="en-US" sz="1200" dirty="0">
                <a:solidFill>
                  <a:srgbClr val="5E6964"/>
                </a:solidFill>
                <a:latin typeface="Calibri" pitchFamily="34" charset="0"/>
                <a:ea typeface="Calibri" pitchFamily="34" charset="-122"/>
                <a:cs typeface="Calibri" pitchFamily="34" charset="-120"/>
              </a:rPr>
              <a:t>Dire ce que chacun peut — et ne peut pas — faire pour la production de statistiques officielles.</a:t>
            </a:r>
            <a:endParaRPr lang="en-US" sz="1200" dirty="0"/>
          </a:p>
        </p:txBody>
      </p:sp>
      <p:sp>
        <p:nvSpPr>
          <p:cNvPr id="25" name="Shape 20"/>
          <p:cNvSpPr/>
          <p:nvPr/>
        </p:nvSpPr>
        <p:spPr>
          <a:xfrm>
            <a:off x="457200" y="3730752"/>
            <a:ext cx="8229600" cy="777240"/>
          </a:xfrm>
          <a:prstGeom prst="roundRect">
            <a:avLst>
              <a:gd name="adj" fmla="val 9412"/>
            </a:avLst>
          </a:prstGeom>
          <a:solidFill>
            <a:srgbClr val="E8F5EF"/>
          </a:solidFill>
          <a:ln w="15875">
            <a:solidFill>
              <a:srgbClr val="00A86A"/>
            </a:solidFill>
            <a:prstDash val="solid"/>
          </a:ln>
        </p:spPr>
      </p:sp>
      <p:sp>
        <p:nvSpPr>
          <p:cNvPr id="26" name="Shape 21"/>
          <p:cNvSpPr/>
          <p:nvPr/>
        </p:nvSpPr>
        <p:spPr>
          <a:xfrm>
            <a:off x="658368" y="3867912"/>
            <a:ext cx="502920" cy="502920"/>
          </a:xfrm>
          <a:prstGeom prst="ellipse">
            <a:avLst/>
          </a:prstGeom>
          <a:solidFill>
            <a:srgbClr val="00A86A">
              <a:alpha val="22000"/>
            </a:srgbClr>
          </a:solidFill>
          <a:ln/>
        </p:spPr>
      </p:sp>
      <p:pic>
        <p:nvPicPr>
          <p:cNvPr id="27" name="Image 3" descr="preencoded.png">    </p:cNvPr>
          <p:cNvPicPr>
            <a:picLocks noChangeAspect="1"/>
          </p:cNvPicPr>
          <p:nvPr/>
        </p:nvPicPr>
        <p:blipFill>
          <a:blip r:embed="rId4"/>
          <a:stretch>
            <a:fillRect/>
          </a:stretch>
        </p:blipFill>
        <p:spPr>
          <a:xfrm>
            <a:off x="779069" y="3988613"/>
            <a:ext cx="261518" cy="261518"/>
          </a:xfrm>
          <a:prstGeom prst="rect">
            <a:avLst/>
          </a:prstGeom>
        </p:spPr>
      </p:pic>
      <p:sp>
        <p:nvSpPr>
          <p:cNvPr id="28" name="Text 22"/>
          <p:cNvSpPr txBox="1"/>
          <p:nvPr/>
        </p:nvSpPr>
        <p:spPr>
          <a:xfrm>
            <a:off x="1325880" y="3813048"/>
            <a:ext cx="7223760" cy="621792"/>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La question de diagnostic à emporter</a:t>
            </a:r>
            <a:endParaRPr lang="en-US" sz="1100" dirty="0"/>
          </a:p>
          <a:p>
            <a:pPr indent="0" marL="0">
              <a:buNone/>
            </a:pPr>
            <a:r>
              <a:rPr lang="en-US" sz="1200" dirty="0">
                <a:solidFill>
                  <a:srgbClr val="231F20"/>
                </a:solidFill>
                <a:latin typeface="Calibri" pitchFamily="34" charset="0"/>
                <a:ea typeface="Calibri" pitchFamily="34" charset="-122"/>
                <a:cs typeface="Calibri" pitchFamily="34" charset="-120"/>
              </a:rPr>
              <a:t>Face à toute proposition : quelle couche cela touche-t-il — les poids, le contexte, ou la sortie devenue action ?</a:t>
            </a:r>
            <a:endParaRPr lang="en-US" sz="11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INTRODUCTION  ·  PROGRAMME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Six étapes, un fil conducteur</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0" name="Shape 8"/>
          <p:cNvSpPr/>
          <p:nvPr/>
        </p:nvSpPr>
        <p:spPr>
          <a:xfrm>
            <a:off x="457200" y="1371600"/>
            <a:ext cx="2606040" cy="1417320"/>
          </a:xfrm>
          <a:prstGeom prst="roundRect">
            <a:avLst>
              <a:gd name="adj" fmla="val 5161"/>
            </a:avLst>
          </a:prstGeom>
          <a:solidFill>
            <a:srgbClr val="F4F7F5"/>
          </a:solidFill>
          <a:ln w="9525">
            <a:solidFill>
              <a:srgbClr val="D5DED9"/>
            </a:solidFill>
            <a:prstDash val="solid"/>
          </a:ln>
        </p:spPr>
      </p:sp>
      <p:sp>
        <p:nvSpPr>
          <p:cNvPr id="11" name="Text 9"/>
          <p:cNvSpPr txBox="1"/>
          <p:nvPr/>
        </p:nvSpPr>
        <p:spPr>
          <a:xfrm>
            <a:off x="640080" y="1508760"/>
            <a:ext cx="914400" cy="502920"/>
          </a:xfrm>
          <a:prstGeom prst="rect">
            <a:avLst/>
          </a:prstGeom>
          <a:noFill/>
          <a:ln/>
        </p:spPr>
        <p:txBody>
          <a:bodyPr wrap="square" lIns="0" tIns="0" rIns="0" bIns="0" rtlCol="0" anchor="t"/>
          <a:lstStyle/>
          <a:p>
            <a:pPr indent="0" marL="0">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12" name="Text 10"/>
          <p:cNvSpPr txBox="1"/>
          <p:nvPr/>
        </p:nvSpPr>
        <p:spPr>
          <a:xfrm>
            <a:off x="640080" y="2029968"/>
            <a:ext cx="2286000" cy="27432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Pourquoi un vocabulaire commun</a:t>
            </a:r>
            <a:endParaRPr lang="en-US" sz="1250" dirty="0"/>
          </a:p>
        </p:txBody>
      </p:sp>
      <p:sp>
        <p:nvSpPr>
          <p:cNvPr id="13" name="Text 11"/>
          <p:cNvSpPr txBox="1"/>
          <p:nvPr/>
        </p:nvSpPr>
        <p:spPr>
          <a:xfrm>
            <a:off x="640080" y="2313432"/>
            <a:ext cx="2286000" cy="36576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Ce qui est vraiment nouveau depuis 1976</a:t>
            </a:r>
            <a:endParaRPr lang="en-US" sz="1000" dirty="0"/>
          </a:p>
        </p:txBody>
      </p:sp>
      <p:sp>
        <p:nvSpPr>
          <p:cNvPr id="14" name="Shape 12"/>
          <p:cNvSpPr/>
          <p:nvPr/>
        </p:nvSpPr>
        <p:spPr>
          <a:xfrm>
            <a:off x="2286000" y="1600200"/>
            <a:ext cx="594360" cy="219456"/>
          </a:xfrm>
          <a:prstGeom prst="roundRect">
            <a:avLst>
              <a:gd name="adj" fmla="val 50000"/>
            </a:avLst>
          </a:prstGeom>
          <a:solidFill>
            <a:srgbClr val="00A86A">
              <a:alpha val="15000"/>
            </a:srgbClr>
          </a:solidFill>
          <a:ln w="9525">
            <a:solidFill>
              <a:srgbClr val="00A86A"/>
            </a:solidFill>
            <a:prstDash val="solid"/>
          </a:ln>
        </p:spPr>
      </p:sp>
      <p:sp>
        <p:nvSpPr>
          <p:cNvPr id="15" name="Text 13"/>
          <p:cNvSpPr txBox="1"/>
          <p:nvPr/>
        </p:nvSpPr>
        <p:spPr>
          <a:xfrm>
            <a:off x="2286000" y="1600200"/>
            <a:ext cx="594360" cy="219456"/>
          </a:xfrm>
          <a:prstGeom prst="rect">
            <a:avLst/>
          </a:prstGeom>
          <a:noFill/>
          <a:ln/>
        </p:spPr>
        <p:txBody>
          <a:bodyPr wrap="square" lIns="0" tIns="0" rIns="0" bIns="0" rtlCol="0" anchor="ctr"/>
          <a:lstStyle/>
          <a:p>
            <a:pPr algn="ctr" indent="0" marL="0">
              <a:buNone/>
            </a:pPr>
            <a:r>
              <a:rPr lang="en-US" sz="900" b="1" dirty="0">
                <a:solidFill>
                  <a:srgbClr val="00A86A"/>
                </a:solidFill>
                <a:latin typeface="Calibri" pitchFamily="34" charset="0"/>
                <a:ea typeface="Calibri" pitchFamily="34" charset="-122"/>
                <a:cs typeface="Calibri" pitchFamily="34" charset="-120"/>
              </a:rPr>
              <a:t>2 min</a:t>
            </a:r>
            <a:endParaRPr lang="en-US" sz="900" dirty="0"/>
          </a:p>
        </p:txBody>
      </p:sp>
      <p:sp>
        <p:nvSpPr>
          <p:cNvPr id="16" name="Shape 14"/>
          <p:cNvSpPr/>
          <p:nvPr/>
        </p:nvSpPr>
        <p:spPr>
          <a:xfrm>
            <a:off x="3246120" y="1371600"/>
            <a:ext cx="2606040" cy="1417320"/>
          </a:xfrm>
          <a:prstGeom prst="roundRect">
            <a:avLst>
              <a:gd name="adj" fmla="val 5161"/>
            </a:avLst>
          </a:prstGeom>
          <a:solidFill>
            <a:srgbClr val="F4F7F5"/>
          </a:solidFill>
          <a:ln w="9525">
            <a:solidFill>
              <a:srgbClr val="D5DED9"/>
            </a:solidFill>
            <a:prstDash val="solid"/>
          </a:ln>
        </p:spPr>
      </p:sp>
      <p:sp>
        <p:nvSpPr>
          <p:cNvPr id="17" name="Text 15"/>
          <p:cNvSpPr txBox="1"/>
          <p:nvPr/>
        </p:nvSpPr>
        <p:spPr>
          <a:xfrm>
            <a:off x="3429000" y="1508760"/>
            <a:ext cx="914400" cy="502920"/>
          </a:xfrm>
          <a:prstGeom prst="rect">
            <a:avLst/>
          </a:prstGeom>
          <a:noFill/>
          <a:ln/>
        </p:spPr>
        <p:txBody>
          <a:bodyPr wrap="square" lIns="0" tIns="0" rIns="0" bIns="0" rtlCol="0" anchor="t"/>
          <a:lstStyle/>
          <a:p>
            <a:pPr indent="0" marL="0">
              <a:buNone/>
            </a:pPr>
            <a:r>
              <a:rPr lang="en-US" sz="3200" b="1" dirty="0">
                <a:solidFill>
                  <a:srgbClr val="00704A"/>
                </a:solidFill>
                <a:latin typeface="Calibri" pitchFamily="34" charset="0"/>
                <a:ea typeface="Calibri" pitchFamily="34" charset="-122"/>
                <a:cs typeface="Calibri" pitchFamily="34" charset="-120"/>
              </a:rPr>
              <a:t>02</a:t>
            </a:r>
            <a:endParaRPr lang="en-US" sz="3200" dirty="0"/>
          </a:p>
        </p:txBody>
      </p:sp>
      <p:sp>
        <p:nvSpPr>
          <p:cNvPr id="18" name="Text 16"/>
          <p:cNvSpPr txBox="1"/>
          <p:nvPr/>
        </p:nvSpPr>
        <p:spPr>
          <a:xfrm>
            <a:off x="3429000" y="2029968"/>
            <a:ext cx="2286000" cy="27432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L'arbre : de l'IA à l'AGI</a:t>
            </a:r>
            <a:endParaRPr lang="en-US" sz="1250" dirty="0"/>
          </a:p>
        </p:txBody>
      </p:sp>
      <p:sp>
        <p:nvSpPr>
          <p:cNvPr id="19" name="Text 17"/>
          <p:cNvSpPr txBox="1"/>
          <p:nvPr/>
        </p:nvSpPr>
        <p:spPr>
          <a:xfrm>
            <a:off x="3429000" y="2313432"/>
            <a:ext cx="2286000" cy="36576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Qui contient quoi, et où se situe l'AGI</a:t>
            </a:r>
            <a:endParaRPr lang="en-US" sz="1000" dirty="0"/>
          </a:p>
        </p:txBody>
      </p:sp>
      <p:sp>
        <p:nvSpPr>
          <p:cNvPr id="20" name="Shape 18"/>
          <p:cNvSpPr/>
          <p:nvPr/>
        </p:nvSpPr>
        <p:spPr>
          <a:xfrm>
            <a:off x="5074920" y="1600200"/>
            <a:ext cx="594360" cy="219456"/>
          </a:xfrm>
          <a:prstGeom prst="roundRect">
            <a:avLst>
              <a:gd name="adj" fmla="val 50000"/>
            </a:avLst>
          </a:prstGeom>
          <a:solidFill>
            <a:srgbClr val="00704A">
              <a:alpha val="15000"/>
            </a:srgbClr>
          </a:solidFill>
          <a:ln w="9525">
            <a:solidFill>
              <a:srgbClr val="00704A"/>
            </a:solidFill>
            <a:prstDash val="solid"/>
          </a:ln>
        </p:spPr>
      </p:sp>
      <p:sp>
        <p:nvSpPr>
          <p:cNvPr id="21" name="Text 19"/>
          <p:cNvSpPr txBox="1"/>
          <p:nvPr/>
        </p:nvSpPr>
        <p:spPr>
          <a:xfrm>
            <a:off x="5074920" y="1600200"/>
            <a:ext cx="594360" cy="219456"/>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6 min</a:t>
            </a:r>
            <a:endParaRPr lang="en-US" sz="900" dirty="0"/>
          </a:p>
        </p:txBody>
      </p:sp>
      <p:sp>
        <p:nvSpPr>
          <p:cNvPr id="22" name="Shape 20"/>
          <p:cNvSpPr/>
          <p:nvPr/>
        </p:nvSpPr>
        <p:spPr>
          <a:xfrm>
            <a:off x="6035040" y="1371600"/>
            <a:ext cx="2606040" cy="1417320"/>
          </a:xfrm>
          <a:prstGeom prst="roundRect">
            <a:avLst>
              <a:gd name="adj" fmla="val 5161"/>
            </a:avLst>
          </a:prstGeom>
          <a:solidFill>
            <a:srgbClr val="F4F7F5"/>
          </a:solidFill>
          <a:ln w="9525">
            <a:solidFill>
              <a:srgbClr val="D5DED9"/>
            </a:solidFill>
            <a:prstDash val="solid"/>
          </a:ln>
        </p:spPr>
      </p:sp>
      <p:sp>
        <p:nvSpPr>
          <p:cNvPr id="23" name="Text 21"/>
          <p:cNvSpPr txBox="1"/>
          <p:nvPr/>
        </p:nvSpPr>
        <p:spPr>
          <a:xfrm>
            <a:off x="6217920" y="1508760"/>
            <a:ext cx="914400" cy="502920"/>
          </a:xfrm>
          <a:prstGeom prst="rect">
            <a:avLst/>
          </a:prstGeom>
          <a:noFill/>
          <a:ln/>
        </p:spPr>
        <p:txBody>
          <a:bodyPr wrap="square" lIns="0" tIns="0" rIns="0" bIns="0" rtlCol="0" anchor="t"/>
          <a:lstStyle/>
          <a:p>
            <a:pPr indent="0" marL="0">
              <a:buNone/>
            </a:pPr>
            <a:r>
              <a:rPr lang="en-US" sz="3200" b="1" dirty="0">
                <a:solidFill>
                  <a:srgbClr val="0E7C86"/>
                </a:solidFill>
                <a:latin typeface="Calibri" pitchFamily="34" charset="0"/>
                <a:ea typeface="Calibri" pitchFamily="34" charset="-122"/>
                <a:cs typeface="Calibri" pitchFamily="34" charset="-120"/>
              </a:rPr>
              <a:t>03</a:t>
            </a:r>
            <a:endParaRPr lang="en-US" sz="3200" dirty="0"/>
          </a:p>
        </p:txBody>
      </p:sp>
      <p:sp>
        <p:nvSpPr>
          <p:cNvPr id="24" name="Text 22"/>
          <p:cNvSpPr txBox="1"/>
          <p:nvPr/>
        </p:nvSpPr>
        <p:spPr>
          <a:xfrm>
            <a:off x="6217920" y="2029968"/>
            <a:ext cx="2286000" cy="27432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Le modèle : ce qu'est un GML</a:t>
            </a:r>
            <a:endParaRPr lang="en-US" sz="1250" dirty="0"/>
          </a:p>
        </p:txBody>
      </p:sp>
      <p:sp>
        <p:nvSpPr>
          <p:cNvPr id="25" name="Text 23"/>
          <p:cNvSpPr txBox="1"/>
          <p:nvPr/>
        </p:nvSpPr>
        <p:spPr>
          <a:xfrm>
            <a:off x="6217920" y="2313432"/>
            <a:ext cx="2286000" cy="36576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Qu'est-ce qu'un modèle, et ses limites</a:t>
            </a:r>
            <a:endParaRPr lang="en-US" sz="1000" dirty="0"/>
          </a:p>
        </p:txBody>
      </p:sp>
      <p:sp>
        <p:nvSpPr>
          <p:cNvPr id="26" name="Shape 24"/>
          <p:cNvSpPr/>
          <p:nvPr/>
        </p:nvSpPr>
        <p:spPr>
          <a:xfrm>
            <a:off x="7863840" y="1600200"/>
            <a:ext cx="594360" cy="219456"/>
          </a:xfrm>
          <a:prstGeom prst="roundRect">
            <a:avLst>
              <a:gd name="adj" fmla="val 50000"/>
            </a:avLst>
          </a:prstGeom>
          <a:solidFill>
            <a:srgbClr val="0E7C86">
              <a:alpha val="15000"/>
            </a:srgbClr>
          </a:solidFill>
          <a:ln w="9525">
            <a:solidFill>
              <a:srgbClr val="0E7C86"/>
            </a:solidFill>
            <a:prstDash val="solid"/>
          </a:ln>
        </p:spPr>
      </p:sp>
      <p:sp>
        <p:nvSpPr>
          <p:cNvPr id="27" name="Text 25"/>
          <p:cNvSpPr txBox="1"/>
          <p:nvPr/>
        </p:nvSpPr>
        <p:spPr>
          <a:xfrm>
            <a:off x="7863840" y="1600200"/>
            <a:ext cx="594360" cy="219456"/>
          </a:xfrm>
          <a:prstGeom prst="rect">
            <a:avLst/>
          </a:prstGeom>
          <a:noFill/>
          <a:ln/>
        </p:spPr>
        <p:txBody>
          <a:bodyPr wrap="square" lIns="0" tIns="0" rIns="0" bIns="0" rtlCol="0" anchor="ctr"/>
          <a:lstStyle/>
          <a:p>
            <a:pPr algn="ctr" indent="0" marL="0">
              <a:buNone/>
            </a:pPr>
            <a:r>
              <a:rPr lang="en-US" sz="900" b="1" dirty="0">
                <a:solidFill>
                  <a:srgbClr val="0E7C86"/>
                </a:solidFill>
                <a:latin typeface="Calibri" pitchFamily="34" charset="0"/>
                <a:ea typeface="Calibri" pitchFamily="34" charset="-122"/>
                <a:cs typeface="Calibri" pitchFamily="34" charset="-120"/>
              </a:rPr>
              <a:t>6 min</a:t>
            </a:r>
            <a:endParaRPr lang="en-US" sz="900" dirty="0"/>
          </a:p>
        </p:txBody>
      </p:sp>
      <p:sp>
        <p:nvSpPr>
          <p:cNvPr id="28" name="Shape 26"/>
          <p:cNvSpPr/>
          <p:nvPr/>
        </p:nvSpPr>
        <p:spPr>
          <a:xfrm>
            <a:off x="457200" y="2971800"/>
            <a:ext cx="2606040" cy="1417320"/>
          </a:xfrm>
          <a:prstGeom prst="roundRect">
            <a:avLst>
              <a:gd name="adj" fmla="val 5161"/>
            </a:avLst>
          </a:prstGeom>
          <a:solidFill>
            <a:srgbClr val="F4F7F5"/>
          </a:solidFill>
          <a:ln w="9525">
            <a:solidFill>
              <a:srgbClr val="D5DED9"/>
            </a:solidFill>
            <a:prstDash val="solid"/>
          </a:ln>
        </p:spPr>
      </p:sp>
      <p:sp>
        <p:nvSpPr>
          <p:cNvPr id="29" name="Text 27"/>
          <p:cNvSpPr txBox="1"/>
          <p:nvPr/>
        </p:nvSpPr>
        <p:spPr>
          <a:xfrm>
            <a:off x="640080" y="3108960"/>
            <a:ext cx="914400" cy="502920"/>
          </a:xfrm>
          <a:prstGeom prst="rect">
            <a:avLst/>
          </a:prstGeom>
          <a:noFill/>
          <a:ln/>
        </p:spPr>
        <p:txBody>
          <a:bodyPr wrap="square" lIns="0" tIns="0" rIns="0" bIns="0" rtlCol="0" anchor="t"/>
          <a:lstStyle/>
          <a:p>
            <a:pPr indent="0" marL="0">
              <a:buNone/>
            </a:pPr>
            <a:r>
              <a:rPr lang="en-US" sz="3200" b="1" dirty="0">
                <a:solidFill>
                  <a:srgbClr val="D49A00"/>
                </a:solidFill>
                <a:latin typeface="Calibri" pitchFamily="34" charset="0"/>
                <a:ea typeface="Calibri" pitchFamily="34" charset="-122"/>
                <a:cs typeface="Calibri" pitchFamily="34" charset="-120"/>
              </a:rPr>
              <a:t>04</a:t>
            </a:r>
            <a:endParaRPr lang="en-US" sz="3200" dirty="0"/>
          </a:p>
        </p:txBody>
      </p:sp>
      <p:sp>
        <p:nvSpPr>
          <p:cNvPr id="30" name="Text 28"/>
          <p:cNvSpPr txBox="1"/>
          <p:nvPr/>
        </p:nvSpPr>
        <p:spPr>
          <a:xfrm>
            <a:off x="640080" y="3630168"/>
            <a:ext cx="2286000" cy="27432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Piloter : requête, RAG, affinage</a:t>
            </a:r>
            <a:endParaRPr lang="en-US" sz="1250" dirty="0"/>
          </a:p>
        </p:txBody>
      </p:sp>
      <p:sp>
        <p:nvSpPr>
          <p:cNvPr id="31" name="Text 29"/>
          <p:cNvSpPr txBox="1"/>
          <p:nvPr/>
        </p:nvSpPr>
        <p:spPr>
          <a:xfrm>
            <a:off x="640080" y="3913632"/>
            <a:ext cx="2286000" cy="36576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Quatre endroits où intervenir</a:t>
            </a:r>
            <a:endParaRPr lang="en-US" sz="1000" dirty="0"/>
          </a:p>
        </p:txBody>
      </p:sp>
      <p:sp>
        <p:nvSpPr>
          <p:cNvPr id="32" name="Shape 30"/>
          <p:cNvSpPr/>
          <p:nvPr/>
        </p:nvSpPr>
        <p:spPr>
          <a:xfrm>
            <a:off x="2286000" y="3200400"/>
            <a:ext cx="594360" cy="219456"/>
          </a:xfrm>
          <a:prstGeom prst="roundRect">
            <a:avLst>
              <a:gd name="adj" fmla="val 50000"/>
            </a:avLst>
          </a:prstGeom>
          <a:solidFill>
            <a:srgbClr val="D49A00">
              <a:alpha val="15000"/>
            </a:srgbClr>
          </a:solidFill>
          <a:ln w="9525">
            <a:solidFill>
              <a:srgbClr val="D49A00"/>
            </a:solidFill>
            <a:prstDash val="solid"/>
          </a:ln>
        </p:spPr>
      </p:sp>
      <p:sp>
        <p:nvSpPr>
          <p:cNvPr id="33" name="Text 31"/>
          <p:cNvSpPr txBox="1"/>
          <p:nvPr/>
        </p:nvSpPr>
        <p:spPr>
          <a:xfrm>
            <a:off x="2286000" y="3200400"/>
            <a:ext cx="594360" cy="219456"/>
          </a:xfrm>
          <a:prstGeom prst="rect">
            <a:avLst/>
          </a:prstGeom>
          <a:noFill/>
          <a:ln/>
        </p:spPr>
        <p:txBody>
          <a:bodyPr wrap="square" lIns="0" tIns="0" rIns="0" bIns="0" rtlCol="0" anchor="ctr"/>
          <a:lstStyle/>
          <a:p>
            <a:pPr algn="ctr" indent="0" marL="0">
              <a:buNone/>
            </a:pPr>
            <a:r>
              <a:rPr lang="en-US" sz="900" b="1" dirty="0">
                <a:solidFill>
                  <a:srgbClr val="D49A00"/>
                </a:solidFill>
                <a:latin typeface="Calibri" pitchFamily="34" charset="0"/>
                <a:ea typeface="Calibri" pitchFamily="34" charset="-122"/>
                <a:cs typeface="Calibri" pitchFamily="34" charset="-120"/>
              </a:rPr>
              <a:t>6 min</a:t>
            </a:r>
            <a:endParaRPr lang="en-US" sz="900" dirty="0"/>
          </a:p>
        </p:txBody>
      </p:sp>
      <p:sp>
        <p:nvSpPr>
          <p:cNvPr id="34" name="Shape 32"/>
          <p:cNvSpPr/>
          <p:nvPr/>
        </p:nvSpPr>
        <p:spPr>
          <a:xfrm>
            <a:off x="3246120" y="2971800"/>
            <a:ext cx="2606040" cy="1417320"/>
          </a:xfrm>
          <a:prstGeom prst="roundRect">
            <a:avLst>
              <a:gd name="adj" fmla="val 5161"/>
            </a:avLst>
          </a:prstGeom>
          <a:solidFill>
            <a:srgbClr val="F4F7F5"/>
          </a:solidFill>
          <a:ln w="9525">
            <a:solidFill>
              <a:srgbClr val="D5DED9"/>
            </a:solidFill>
            <a:prstDash val="solid"/>
          </a:ln>
        </p:spPr>
      </p:sp>
      <p:sp>
        <p:nvSpPr>
          <p:cNvPr id="35" name="Text 33"/>
          <p:cNvSpPr txBox="1"/>
          <p:nvPr/>
        </p:nvSpPr>
        <p:spPr>
          <a:xfrm>
            <a:off x="3429000" y="3108960"/>
            <a:ext cx="914400" cy="502920"/>
          </a:xfrm>
          <a:prstGeom prst="rect">
            <a:avLst/>
          </a:prstGeom>
          <a:noFill/>
          <a:ln/>
        </p:spPr>
        <p:txBody>
          <a:bodyPr wrap="square" lIns="0" tIns="0" rIns="0" bIns="0" rtlCol="0" anchor="t"/>
          <a:lstStyle/>
          <a:p>
            <a:pPr indent="0" marL="0">
              <a:buNone/>
            </a:pPr>
            <a:r>
              <a:rPr lang="en-US" sz="3200" b="1" dirty="0">
                <a:solidFill>
                  <a:srgbClr val="C4621D"/>
                </a:solidFill>
                <a:latin typeface="Calibri" pitchFamily="34" charset="0"/>
                <a:ea typeface="Calibri" pitchFamily="34" charset="-122"/>
                <a:cs typeface="Calibri" pitchFamily="34" charset="-120"/>
              </a:rPr>
              <a:t>05</a:t>
            </a:r>
            <a:endParaRPr lang="en-US" sz="3200" dirty="0"/>
          </a:p>
        </p:txBody>
      </p:sp>
      <p:sp>
        <p:nvSpPr>
          <p:cNvPr id="36" name="Text 34"/>
          <p:cNvSpPr txBox="1"/>
          <p:nvPr/>
        </p:nvSpPr>
        <p:spPr>
          <a:xfrm>
            <a:off x="3429000" y="3630168"/>
            <a:ext cx="2286000" cy="27432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Agir : agents, outils, MCP</a:t>
            </a:r>
            <a:endParaRPr lang="en-US" sz="1250" dirty="0"/>
          </a:p>
        </p:txBody>
      </p:sp>
      <p:sp>
        <p:nvSpPr>
          <p:cNvPr id="37" name="Text 35"/>
          <p:cNvSpPr txBox="1"/>
          <p:nvPr/>
        </p:nvSpPr>
        <p:spPr>
          <a:xfrm>
            <a:off x="3429000" y="3913632"/>
            <a:ext cx="2286000" cy="36576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Quand la sortie devient une action</a:t>
            </a:r>
            <a:endParaRPr lang="en-US" sz="1000" dirty="0"/>
          </a:p>
        </p:txBody>
      </p:sp>
      <p:sp>
        <p:nvSpPr>
          <p:cNvPr id="38" name="Shape 36"/>
          <p:cNvSpPr/>
          <p:nvPr/>
        </p:nvSpPr>
        <p:spPr>
          <a:xfrm>
            <a:off x="5074920" y="3200400"/>
            <a:ext cx="594360" cy="219456"/>
          </a:xfrm>
          <a:prstGeom prst="roundRect">
            <a:avLst>
              <a:gd name="adj" fmla="val 50000"/>
            </a:avLst>
          </a:prstGeom>
          <a:solidFill>
            <a:srgbClr val="C4621D">
              <a:alpha val="15000"/>
            </a:srgbClr>
          </a:solidFill>
          <a:ln w="9525">
            <a:solidFill>
              <a:srgbClr val="C4621D"/>
            </a:solidFill>
            <a:prstDash val="solid"/>
          </a:ln>
        </p:spPr>
      </p:sp>
      <p:sp>
        <p:nvSpPr>
          <p:cNvPr id="39" name="Text 37"/>
          <p:cNvSpPr txBox="1"/>
          <p:nvPr/>
        </p:nvSpPr>
        <p:spPr>
          <a:xfrm>
            <a:off x="5074920" y="3200400"/>
            <a:ext cx="594360" cy="219456"/>
          </a:xfrm>
          <a:prstGeom prst="rect">
            <a:avLst/>
          </a:prstGeom>
          <a:noFill/>
          <a:ln/>
        </p:spPr>
        <p:txBody>
          <a:bodyPr wrap="square" lIns="0" tIns="0" rIns="0" bIns="0" rtlCol="0" anchor="ctr"/>
          <a:lstStyle/>
          <a:p>
            <a:pPr algn="ctr" indent="0" marL="0">
              <a:buNone/>
            </a:pPr>
            <a:r>
              <a:rPr lang="en-US" sz="900" b="1" dirty="0">
                <a:solidFill>
                  <a:srgbClr val="C4621D"/>
                </a:solidFill>
                <a:latin typeface="Calibri" pitchFamily="34" charset="0"/>
                <a:ea typeface="Calibri" pitchFamily="34" charset="-122"/>
                <a:cs typeface="Calibri" pitchFamily="34" charset="-120"/>
              </a:rPr>
              <a:t>5 min</a:t>
            </a:r>
            <a:endParaRPr lang="en-US" sz="900" dirty="0"/>
          </a:p>
        </p:txBody>
      </p:sp>
      <p:sp>
        <p:nvSpPr>
          <p:cNvPr id="40" name="Shape 38"/>
          <p:cNvSpPr/>
          <p:nvPr/>
        </p:nvSpPr>
        <p:spPr>
          <a:xfrm>
            <a:off x="6035040" y="2971800"/>
            <a:ext cx="2606040" cy="1417320"/>
          </a:xfrm>
          <a:prstGeom prst="roundRect">
            <a:avLst>
              <a:gd name="adj" fmla="val 5161"/>
            </a:avLst>
          </a:prstGeom>
          <a:solidFill>
            <a:srgbClr val="F4F7F5"/>
          </a:solidFill>
          <a:ln w="9525">
            <a:solidFill>
              <a:srgbClr val="D5DED9"/>
            </a:solidFill>
            <a:prstDash val="solid"/>
          </a:ln>
        </p:spPr>
      </p:sp>
      <p:sp>
        <p:nvSpPr>
          <p:cNvPr id="41" name="Text 39"/>
          <p:cNvSpPr txBox="1"/>
          <p:nvPr/>
        </p:nvSpPr>
        <p:spPr>
          <a:xfrm>
            <a:off x="6217920" y="3108960"/>
            <a:ext cx="914400" cy="502920"/>
          </a:xfrm>
          <a:prstGeom prst="rect">
            <a:avLst/>
          </a:prstGeom>
          <a:noFill/>
          <a:ln/>
        </p:spPr>
        <p:txBody>
          <a:bodyPr wrap="square" lIns="0" tIns="0" rIns="0" bIns="0" rtlCol="0" anchor="t"/>
          <a:lstStyle/>
          <a:p>
            <a:pPr indent="0" marL="0">
              <a:buNone/>
            </a:pPr>
            <a:r>
              <a:rPr lang="en-US" sz="3200" b="1" dirty="0">
                <a:solidFill>
                  <a:srgbClr val="B83B2E"/>
                </a:solidFill>
                <a:latin typeface="Calibri" pitchFamily="34" charset="0"/>
                <a:ea typeface="Calibri" pitchFamily="34" charset="-122"/>
                <a:cs typeface="Calibri" pitchFamily="34" charset="-120"/>
              </a:rPr>
              <a:t>06</a:t>
            </a:r>
            <a:endParaRPr lang="en-US" sz="3200" dirty="0"/>
          </a:p>
        </p:txBody>
      </p:sp>
      <p:sp>
        <p:nvSpPr>
          <p:cNvPr id="42" name="Text 40"/>
          <p:cNvSpPr txBox="1"/>
          <p:nvPr/>
        </p:nvSpPr>
        <p:spPr>
          <a:xfrm>
            <a:off x="6217920" y="3630168"/>
            <a:ext cx="2286000" cy="27432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Pour la statistique officielle</a:t>
            </a:r>
            <a:endParaRPr lang="en-US" sz="1250" dirty="0"/>
          </a:p>
        </p:txBody>
      </p:sp>
      <p:sp>
        <p:nvSpPr>
          <p:cNvPr id="43" name="Text 41"/>
          <p:cNvSpPr txBox="1"/>
          <p:nvPr/>
        </p:nvSpPr>
        <p:spPr>
          <a:xfrm>
            <a:off x="6217920" y="3913632"/>
            <a:ext cx="2286000" cy="36576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AI Ready, peut / ne peut pas, ligne rouge</a:t>
            </a:r>
            <a:endParaRPr lang="en-US" sz="1000" dirty="0"/>
          </a:p>
        </p:txBody>
      </p:sp>
      <p:sp>
        <p:nvSpPr>
          <p:cNvPr id="44" name="Shape 42"/>
          <p:cNvSpPr/>
          <p:nvPr/>
        </p:nvSpPr>
        <p:spPr>
          <a:xfrm>
            <a:off x="7863840" y="3200400"/>
            <a:ext cx="594360" cy="219456"/>
          </a:xfrm>
          <a:prstGeom prst="roundRect">
            <a:avLst>
              <a:gd name="adj" fmla="val 50000"/>
            </a:avLst>
          </a:prstGeom>
          <a:solidFill>
            <a:srgbClr val="B83B2E">
              <a:alpha val="15000"/>
            </a:srgbClr>
          </a:solidFill>
          <a:ln w="9525">
            <a:solidFill>
              <a:srgbClr val="B83B2E"/>
            </a:solidFill>
            <a:prstDash val="solid"/>
          </a:ln>
        </p:spPr>
      </p:sp>
      <p:sp>
        <p:nvSpPr>
          <p:cNvPr id="45" name="Text 43"/>
          <p:cNvSpPr txBox="1"/>
          <p:nvPr/>
        </p:nvSpPr>
        <p:spPr>
          <a:xfrm>
            <a:off x="7863840" y="3200400"/>
            <a:ext cx="594360" cy="219456"/>
          </a:xfrm>
          <a:prstGeom prst="rect">
            <a:avLst/>
          </a:prstGeom>
          <a:noFill/>
          <a:ln/>
        </p:spPr>
        <p:txBody>
          <a:bodyPr wrap="square" lIns="0" tIns="0" rIns="0" bIns="0" rtlCol="0" anchor="ctr"/>
          <a:lstStyle/>
          <a:p>
            <a:pPr algn="ctr" indent="0" marL="0">
              <a:buNone/>
            </a:pPr>
            <a:r>
              <a:rPr lang="en-US" sz="900" b="1" dirty="0">
                <a:solidFill>
                  <a:srgbClr val="B83B2E"/>
                </a:solidFill>
                <a:latin typeface="Calibri" pitchFamily="34" charset="0"/>
                <a:ea typeface="Calibri" pitchFamily="34" charset="-122"/>
                <a:cs typeface="Calibri" pitchFamily="34" charset="-120"/>
              </a:rPr>
              <a:t>5 min</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01</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Pourquoi un vocabulaire commun</a:t>
            </a:r>
            <a:endParaRPr lang="en-US" sz="26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Si les machines décident depuis 1976, qu'est-ce qui est vraiment nouveau ?</a:t>
            </a:r>
            <a:endParaRPr lang="en-US" sz="1600" dirty="0"/>
          </a:p>
        </p:txBody>
      </p:sp>
      <p:sp>
        <p:nvSpPr>
          <p:cNvPr id="6" name="Shape 4"/>
          <p:cNvSpPr/>
          <p:nvPr/>
        </p:nvSpPr>
        <p:spPr>
          <a:xfrm>
            <a:off x="548640" y="4160520"/>
            <a:ext cx="100584" cy="100584"/>
          </a:xfrm>
          <a:prstGeom prst="ellipse">
            <a:avLst/>
          </a:prstGeom>
          <a:solidFill>
            <a:srgbClr val="F5C242"/>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r>
          <p:cNvPicPr>
            <a:picLocks noChangeAspect="1"/>
          </p:cNvPicPr>
          <p:nvPr/>
        </p:nvPicPr>
        <p:blipFill>
          <a:blip r:embed="rId2"/>
          <a:stretch>
            <a:fillRect/>
          </a:stretch>
        </p:blipFill>
        <p:spPr>
          <a:xfrm>
            <a:off x="6675120" y="2286000"/>
            <a:ext cx="548640" cy="548640"/>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01  ·  POURQUOI UN VOCABULAIRE COMMUN</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Décider par machine n'est pas neuf : votre métier le fait depuis 1976</a:t>
            </a:r>
            <a:endParaRPr lang="en-US" sz="2200" dirty="0"/>
          </a:p>
        </p:txBody>
      </p:sp>
      <p:sp>
        <p:nvSpPr>
          <p:cNvPr id="8" name="Shape 6"/>
          <p:cNvSpPr/>
          <p:nvPr/>
        </p:nvSpPr>
        <p:spPr>
          <a:xfrm>
            <a:off x="7635240" y="329184"/>
            <a:ext cx="100584" cy="100584"/>
          </a:xfrm>
          <a:prstGeom prst="ellipse">
            <a:avLst/>
          </a:prstGeom>
          <a:solidFill>
            <a:srgbClr val="00A86A"/>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6" name="Shape 14"/>
          <p:cNvSpPr/>
          <p:nvPr/>
        </p:nvSpPr>
        <p:spPr>
          <a:xfrm>
            <a:off x="548640" y="2487168"/>
            <a:ext cx="8046720" cy="0"/>
          </a:xfrm>
          <a:prstGeom prst="line">
            <a:avLst/>
          </a:prstGeom>
          <a:noFill/>
          <a:ln w="25400">
            <a:solidFill>
              <a:srgbClr val="D5DED9"/>
            </a:solidFill>
            <a:prstDash val="solid"/>
          </a:ln>
        </p:spPr>
      </p:sp>
      <p:sp>
        <p:nvSpPr>
          <p:cNvPr id="17" name="Shape 15"/>
          <p:cNvSpPr/>
          <p:nvPr/>
        </p:nvSpPr>
        <p:spPr>
          <a:xfrm>
            <a:off x="1060704" y="2404872"/>
            <a:ext cx="164592" cy="164592"/>
          </a:xfrm>
          <a:prstGeom prst="ellipse">
            <a:avLst/>
          </a:prstGeom>
          <a:solidFill>
            <a:srgbClr val="FFFFFF"/>
          </a:solidFill>
          <a:ln w="25400">
            <a:solidFill>
              <a:srgbClr val="00A86A"/>
            </a:solidFill>
            <a:prstDash val="solid"/>
          </a:ln>
        </p:spPr>
      </p:sp>
      <p:sp>
        <p:nvSpPr>
          <p:cNvPr id="18" name="Text 16"/>
          <p:cNvSpPr txBox="1"/>
          <p:nvPr/>
        </p:nvSpPr>
        <p:spPr>
          <a:xfrm>
            <a:off x="484632" y="1389888"/>
            <a:ext cx="1316736" cy="960120"/>
          </a:xfrm>
          <a:prstGeom prst="rect">
            <a:avLst/>
          </a:prstGeom>
          <a:noFill/>
          <a:ln/>
        </p:spPr>
        <p:txBody>
          <a:bodyPr wrap="square" lIns="0" tIns="0" rIns="0" bIns="0" rtlCol="0" anchor="b"/>
          <a:lstStyle/>
          <a:p>
            <a:pPr algn="ctr" indent="0" marL="0">
              <a:buNone/>
            </a:pPr>
            <a:r>
              <a:rPr lang="en-US" sz="1500" b="1" dirty="0">
                <a:solidFill>
                  <a:srgbClr val="00A86A"/>
                </a:solidFill>
                <a:latin typeface="Calibri" pitchFamily="34" charset="0"/>
                <a:ea typeface="Calibri" pitchFamily="34" charset="-122"/>
                <a:cs typeface="Calibri" pitchFamily="34" charset="-120"/>
              </a:rPr>
              <a:t>1950</a:t>
            </a:r>
            <a:endParaRPr lang="en-US" sz="1100" dirty="0"/>
          </a:p>
          <a:p>
            <a:pPr algn="ctr" indent="0" marL="0">
              <a:buNone/>
            </a:pPr>
            <a:r>
              <a:rPr lang="en-US" sz="1050" b="1" dirty="0">
                <a:solidFill>
                  <a:srgbClr val="231F20"/>
                </a:solidFill>
                <a:latin typeface="Calibri" pitchFamily="34" charset="0"/>
                <a:ea typeface="Calibri" pitchFamily="34" charset="-122"/>
                <a:cs typeface="Calibri" pitchFamily="34" charset="-120"/>
              </a:rPr>
              <a:t>Test de Turing</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Une machine peut-elle penser ?</a:t>
            </a:r>
            <a:endParaRPr lang="en-US" sz="1100" dirty="0"/>
          </a:p>
        </p:txBody>
      </p:sp>
      <p:sp>
        <p:nvSpPr>
          <p:cNvPr id="19" name="Shape 17"/>
          <p:cNvSpPr/>
          <p:nvPr/>
        </p:nvSpPr>
        <p:spPr>
          <a:xfrm>
            <a:off x="2040418" y="2404872"/>
            <a:ext cx="164592" cy="164592"/>
          </a:xfrm>
          <a:prstGeom prst="ellipse">
            <a:avLst/>
          </a:prstGeom>
          <a:solidFill>
            <a:srgbClr val="FFFFFF"/>
          </a:solidFill>
          <a:ln w="25400">
            <a:solidFill>
              <a:srgbClr val="00A86A"/>
            </a:solidFill>
            <a:prstDash val="solid"/>
          </a:ln>
        </p:spPr>
      </p:sp>
      <p:sp>
        <p:nvSpPr>
          <p:cNvPr id="20" name="Text 18"/>
          <p:cNvSpPr txBox="1"/>
          <p:nvPr/>
        </p:nvSpPr>
        <p:spPr>
          <a:xfrm>
            <a:off x="1464346" y="2670048"/>
            <a:ext cx="1316736" cy="960120"/>
          </a:xfrm>
          <a:prstGeom prst="rect">
            <a:avLst/>
          </a:prstGeom>
          <a:noFill/>
          <a:ln/>
        </p:spPr>
        <p:txBody>
          <a:bodyPr wrap="square" lIns="0" tIns="0" rIns="0" bIns="0" rtlCol="0" anchor="t"/>
          <a:lstStyle/>
          <a:p>
            <a:pPr algn="ctr" indent="0" marL="0">
              <a:buNone/>
            </a:pPr>
            <a:r>
              <a:rPr lang="en-US" sz="1500" b="1" dirty="0">
                <a:solidFill>
                  <a:srgbClr val="00A86A"/>
                </a:solidFill>
                <a:latin typeface="Calibri" pitchFamily="34" charset="0"/>
                <a:ea typeface="Calibri" pitchFamily="34" charset="-122"/>
                <a:cs typeface="Calibri" pitchFamily="34" charset="-120"/>
              </a:rPr>
              <a:t>1956</a:t>
            </a:r>
            <a:endParaRPr lang="en-US" sz="1100" dirty="0"/>
          </a:p>
          <a:p>
            <a:pPr algn="ctr" indent="0" marL="0">
              <a:buNone/>
            </a:pPr>
            <a:r>
              <a:rPr lang="en-US" sz="1050" b="1" dirty="0">
                <a:solidFill>
                  <a:srgbClr val="231F20"/>
                </a:solidFill>
                <a:latin typeface="Calibri" pitchFamily="34" charset="0"/>
                <a:ea typeface="Calibri" pitchFamily="34" charset="-122"/>
                <a:cs typeface="Calibri" pitchFamily="34" charset="-120"/>
              </a:rPr>
              <a:t>Dartmouth</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Le terme « intelligence artificielle » est forgé</a:t>
            </a:r>
            <a:endParaRPr lang="en-US" sz="1100" dirty="0"/>
          </a:p>
        </p:txBody>
      </p:sp>
      <p:sp>
        <p:nvSpPr>
          <p:cNvPr id="21" name="Shape 19"/>
          <p:cNvSpPr/>
          <p:nvPr/>
        </p:nvSpPr>
        <p:spPr>
          <a:xfrm>
            <a:off x="3020133" y="2404872"/>
            <a:ext cx="164592" cy="164592"/>
          </a:xfrm>
          <a:prstGeom prst="ellipse">
            <a:avLst/>
          </a:prstGeom>
          <a:solidFill>
            <a:srgbClr val="F5C242"/>
          </a:solidFill>
          <a:ln w="25400">
            <a:solidFill>
              <a:srgbClr val="D49A00"/>
            </a:solidFill>
            <a:prstDash val="solid"/>
          </a:ln>
        </p:spPr>
      </p:sp>
      <p:sp>
        <p:nvSpPr>
          <p:cNvPr id="22" name="Text 20"/>
          <p:cNvSpPr txBox="1"/>
          <p:nvPr/>
        </p:nvSpPr>
        <p:spPr>
          <a:xfrm>
            <a:off x="2444061" y="1389888"/>
            <a:ext cx="1316736" cy="960120"/>
          </a:xfrm>
          <a:prstGeom prst="rect">
            <a:avLst/>
          </a:prstGeom>
          <a:noFill/>
          <a:ln/>
        </p:spPr>
        <p:txBody>
          <a:bodyPr wrap="square" lIns="0" tIns="0" rIns="0" bIns="0" rtlCol="0" anchor="b"/>
          <a:lstStyle/>
          <a:p>
            <a:pPr algn="ctr" indent="0" marL="0">
              <a:buNone/>
            </a:pPr>
            <a:r>
              <a:rPr lang="en-US" sz="1500" b="1" dirty="0">
                <a:solidFill>
                  <a:srgbClr val="D49A00"/>
                </a:solidFill>
                <a:latin typeface="Calibri" pitchFamily="34" charset="0"/>
                <a:ea typeface="Calibri" pitchFamily="34" charset="-122"/>
                <a:cs typeface="Calibri" pitchFamily="34" charset="-120"/>
              </a:rPr>
              <a:t>1976</a:t>
            </a:r>
            <a:endParaRPr lang="en-US" sz="1100" dirty="0"/>
          </a:p>
          <a:p>
            <a:pPr algn="ctr" indent="0" marL="0">
              <a:buNone/>
            </a:pPr>
            <a:r>
              <a:rPr lang="en-US" sz="1050" b="1" dirty="0">
                <a:solidFill>
                  <a:srgbClr val="231F20"/>
                </a:solidFill>
                <a:latin typeface="Calibri" pitchFamily="34" charset="0"/>
                <a:ea typeface="Calibri" pitchFamily="34" charset="-122"/>
                <a:cs typeface="Calibri" pitchFamily="34" charset="-120"/>
              </a:rPr>
              <a:t>Fellegi–Holt</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Apurement et imputation automatiques</a:t>
            </a:r>
            <a:endParaRPr lang="en-US" sz="1100" dirty="0"/>
          </a:p>
        </p:txBody>
      </p:sp>
      <p:sp>
        <p:nvSpPr>
          <p:cNvPr id="23" name="Shape 21"/>
          <p:cNvSpPr/>
          <p:nvPr/>
        </p:nvSpPr>
        <p:spPr>
          <a:xfrm>
            <a:off x="3999847" y="2404872"/>
            <a:ext cx="164592" cy="164592"/>
          </a:xfrm>
          <a:prstGeom prst="ellipse">
            <a:avLst/>
          </a:prstGeom>
          <a:solidFill>
            <a:srgbClr val="FFFFFF"/>
          </a:solidFill>
          <a:ln w="25400">
            <a:solidFill>
              <a:srgbClr val="00A86A"/>
            </a:solidFill>
            <a:prstDash val="solid"/>
          </a:ln>
        </p:spPr>
      </p:sp>
      <p:sp>
        <p:nvSpPr>
          <p:cNvPr id="24" name="Text 22"/>
          <p:cNvSpPr txBox="1"/>
          <p:nvPr/>
        </p:nvSpPr>
        <p:spPr>
          <a:xfrm>
            <a:off x="3423775" y="2670048"/>
            <a:ext cx="1316736" cy="960120"/>
          </a:xfrm>
          <a:prstGeom prst="rect">
            <a:avLst/>
          </a:prstGeom>
          <a:noFill/>
          <a:ln/>
        </p:spPr>
        <p:txBody>
          <a:bodyPr wrap="square" lIns="0" tIns="0" rIns="0" bIns="0" rtlCol="0" anchor="t"/>
          <a:lstStyle/>
          <a:p>
            <a:pPr algn="ctr" indent="0" marL="0">
              <a:buNone/>
            </a:pPr>
            <a:r>
              <a:rPr lang="en-US" sz="1500" b="1" dirty="0">
                <a:solidFill>
                  <a:srgbClr val="00A86A"/>
                </a:solidFill>
                <a:latin typeface="Calibri" pitchFamily="34" charset="0"/>
                <a:ea typeface="Calibri" pitchFamily="34" charset="-122"/>
                <a:cs typeface="Calibri" pitchFamily="34" charset="-120"/>
              </a:rPr>
              <a:t>1986</a:t>
            </a:r>
            <a:endParaRPr lang="en-US" sz="1100" dirty="0"/>
          </a:p>
          <a:p>
            <a:pPr algn="ctr" indent="0" marL="0">
              <a:buNone/>
            </a:pPr>
            <a:r>
              <a:rPr lang="en-US" sz="1050" b="1" dirty="0">
                <a:solidFill>
                  <a:srgbClr val="231F20"/>
                </a:solidFill>
                <a:latin typeface="Calibri" pitchFamily="34" charset="0"/>
                <a:ea typeface="Calibri" pitchFamily="34" charset="-122"/>
                <a:cs typeface="Calibri" pitchFamily="34" charset="-120"/>
              </a:rPr>
              <a:t>Rétropropagation</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Les réseaux de neurones apprennent</a:t>
            </a:r>
            <a:endParaRPr lang="en-US" sz="1100" dirty="0"/>
          </a:p>
        </p:txBody>
      </p:sp>
      <p:sp>
        <p:nvSpPr>
          <p:cNvPr id="25" name="Shape 23"/>
          <p:cNvSpPr/>
          <p:nvPr/>
        </p:nvSpPr>
        <p:spPr>
          <a:xfrm>
            <a:off x="4979561" y="2404872"/>
            <a:ext cx="164592" cy="164592"/>
          </a:xfrm>
          <a:prstGeom prst="ellipse">
            <a:avLst/>
          </a:prstGeom>
          <a:solidFill>
            <a:srgbClr val="FFFFFF"/>
          </a:solidFill>
          <a:ln w="25400">
            <a:solidFill>
              <a:srgbClr val="00A86A"/>
            </a:solidFill>
            <a:prstDash val="solid"/>
          </a:ln>
        </p:spPr>
      </p:sp>
      <p:sp>
        <p:nvSpPr>
          <p:cNvPr id="26" name="Text 24"/>
          <p:cNvSpPr txBox="1"/>
          <p:nvPr/>
        </p:nvSpPr>
        <p:spPr>
          <a:xfrm>
            <a:off x="4403489" y="1389888"/>
            <a:ext cx="1316736" cy="960120"/>
          </a:xfrm>
          <a:prstGeom prst="rect">
            <a:avLst/>
          </a:prstGeom>
          <a:noFill/>
          <a:ln/>
        </p:spPr>
        <p:txBody>
          <a:bodyPr wrap="square" lIns="0" tIns="0" rIns="0" bIns="0" rtlCol="0" anchor="b"/>
          <a:lstStyle/>
          <a:p>
            <a:pPr algn="ctr" indent="0" marL="0">
              <a:buNone/>
            </a:pPr>
            <a:r>
              <a:rPr lang="en-US" sz="1500" b="1" dirty="0">
                <a:solidFill>
                  <a:srgbClr val="00A86A"/>
                </a:solidFill>
                <a:latin typeface="Calibri" pitchFamily="34" charset="0"/>
                <a:ea typeface="Calibri" pitchFamily="34" charset="-122"/>
                <a:cs typeface="Calibri" pitchFamily="34" charset="-120"/>
              </a:rPr>
              <a:t>2012</a:t>
            </a:r>
            <a:endParaRPr lang="en-US" sz="1100" dirty="0"/>
          </a:p>
          <a:p>
            <a:pPr algn="ctr" indent="0" marL="0">
              <a:buNone/>
            </a:pPr>
            <a:r>
              <a:rPr lang="en-US" sz="1050" b="1" dirty="0">
                <a:solidFill>
                  <a:srgbClr val="231F20"/>
                </a:solidFill>
                <a:latin typeface="Calibri" pitchFamily="34" charset="0"/>
                <a:ea typeface="Calibri" pitchFamily="34" charset="-122"/>
                <a:cs typeface="Calibri" pitchFamily="34" charset="-120"/>
              </a:rPr>
              <a:t>AlexNet</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Essor de l'apprentissage profond</a:t>
            </a:r>
            <a:endParaRPr lang="en-US" sz="1100" dirty="0"/>
          </a:p>
        </p:txBody>
      </p:sp>
      <p:sp>
        <p:nvSpPr>
          <p:cNvPr id="27" name="Shape 25"/>
          <p:cNvSpPr/>
          <p:nvPr/>
        </p:nvSpPr>
        <p:spPr>
          <a:xfrm>
            <a:off x="5959275" y="2404872"/>
            <a:ext cx="164592" cy="164592"/>
          </a:xfrm>
          <a:prstGeom prst="ellipse">
            <a:avLst/>
          </a:prstGeom>
          <a:solidFill>
            <a:srgbClr val="FFFFFF"/>
          </a:solidFill>
          <a:ln w="25400">
            <a:solidFill>
              <a:srgbClr val="00A86A"/>
            </a:solidFill>
            <a:prstDash val="solid"/>
          </a:ln>
        </p:spPr>
      </p:sp>
      <p:sp>
        <p:nvSpPr>
          <p:cNvPr id="28" name="Text 26"/>
          <p:cNvSpPr txBox="1"/>
          <p:nvPr/>
        </p:nvSpPr>
        <p:spPr>
          <a:xfrm>
            <a:off x="5383203" y="2670048"/>
            <a:ext cx="1316736" cy="960120"/>
          </a:xfrm>
          <a:prstGeom prst="rect">
            <a:avLst/>
          </a:prstGeom>
          <a:noFill/>
          <a:ln/>
        </p:spPr>
        <p:txBody>
          <a:bodyPr wrap="square" lIns="0" tIns="0" rIns="0" bIns="0" rtlCol="0" anchor="t"/>
          <a:lstStyle/>
          <a:p>
            <a:pPr algn="ctr" indent="0" marL="0">
              <a:buNone/>
            </a:pPr>
            <a:r>
              <a:rPr lang="en-US" sz="1500" b="1" dirty="0">
                <a:solidFill>
                  <a:srgbClr val="00A86A"/>
                </a:solidFill>
                <a:latin typeface="Calibri" pitchFamily="34" charset="0"/>
                <a:ea typeface="Calibri" pitchFamily="34" charset="-122"/>
                <a:cs typeface="Calibri" pitchFamily="34" charset="-120"/>
              </a:rPr>
              <a:t>2017</a:t>
            </a:r>
            <a:endParaRPr lang="en-US" sz="1100" dirty="0"/>
          </a:p>
          <a:p>
            <a:pPr algn="ctr" indent="0" marL="0">
              <a:buNone/>
            </a:pPr>
            <a:r>
              <a:rPr lang="en-US" sz="1050" b="1" dirty="0">
                <a:solidFill>
                  <a:srgbClr val="231F20"/>
                </a:solidFill>
                <a:latin typeface="Calibri" pitchFamily="34" charset="0"/>
                <a:ea typeface="Calibri" pitchFamily="34" charset="-122"/>
                <a:cs typeface="Calibri" pitchFamily="34" charset="-120"/>
              </a:rPr>
              <a:t>Transformeur</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L'architecture des GML actuels</a:t>
            </a:r>
            <a:endParaRPr lang="en-US" sz="1100" dirty="0"/>
          </a:p>
        </p:txBody>
      </p:sp>
      <p:sp>
        <p:nvSpPr>
          <p:cNvPr id="29" name="Shape 27"/>
          <p:cNvSpPr/>
          <p:nvPr/>
        </p:nvSpPr>
        <p:spPr>
          <a:xfrm>
            <a:off x="6938990" y="2404872"/>
            <a:ext cx="164592" cy="164592"/>
          </a:xfrm>
          <a:prstGeom prst="ellipse">
            <a:avLst/>
          </a:prstGeom>
          <a:solidFill>
            <a:srgbClr val="FFFFFF"/>
          </a:solidFill>
          <a:ln w="25400">
            <a:solidFill>
              <a:srgbClr val="00A86A"/>
            </a:solidFill>
            <a:prstDash val="solid"/>
          </a:ln>
        </p:spPr>
      </p:sp>
      <p:sp>
        <p:nvSpPr>
          <p:cNvPr id="30" name="Text 28"/>
          <p:cNvSpPr txBox="1"/>
          <p:nvPr/>
        </p:nvSpPr>
        <p:spPr>
          <a:xfrm>
            <a:off x="6362918" y="1389888"/>
            <a:ext cx="1316736" cy="960120"/>
          </a:xfrm>
          <a:prstGeom prst="rect">
            <a:avLst/>
          </a:prstGeom>
          <a:noFill/>
          <a:ln/>
        </p:spPr>
        <p:txBody>
          <a:bodyPr wrap="square" lIns="0" tIns="0" rIns="0" bIns="0" rtlCol="0" anchor="b"/>
          <a:lstStyle/>
          <a:p>
            <a:pPr algn="ctr" indent="0" marL="0">
              <a:buNone/>
            </a:pPr>
            <a:r>
              <a:rPr lang="en-US" sz="1500" b="1" dirty="0">
                <a:solidFill>
                  <a:srgbClr val="00A86A"/>
                </a:solidFill>
                <a:latin typeface="Calibri" pitchFamily="34" charset="0"/>
                <a:ea typeface="Calibri" pitchFamily="34" charset="-122"/>
                <a:cs typeface="Calibri" pitchFamily="34" charset="-120"/>
              </a:rPr>
              <a:t>2022</a:t>
            </a:r>
            <a:endParaRPr lang="en-US" sz="1100" dirty="0"/>
          </a:p>
          <a:p>
            <a:pPr algn="ctr" indent="0" marL="0">
              <a:buNone/>
            </a:pPr>
            <a:r>
              <a:rPr lang="en-US" sz="1050" b="1" dirty="0">
                <a:solidFill>
                  <a:srgbClr val="231F20"/>
                </a:solidFill>
                <a:latin typeface="Calibri" pitchFamily="34" charset="0"/>
                <a:ea typeface="Calibri" pitchFamily="34" charset="-122"/>
                <a:cs typeface="Calibri" pitchFamily="34" charset="-120"/>
              </a:rPr>
              <a:t>ChatGPT</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Les GML touchent le grand public</a:t>
            </a:r>
            <a:endParaRPr lang="en-US" sz="1100" dirty="0"/>
          </a:p>
        </p:txBody>
      </p:sp>
      <p:sp>
        <p:nvSpPr>
          <p:cNvPr id="31" name="Shape 29"/>
          <p:cNvSpPr/>
          <p:nvPr/>
        </p:nvSpPr>
        <p:spPr>
          <a:xfrm>
            <a:off x="7918704" y="2404872"/>
            <a:ext cx="164592" cy="164592"/>
          </a:xfrm>
          <a:prstGeom prst="ellipse">
            <a:avLst/>
          </a:prstGeom>
          <a:solidFill>
            <a:srgbClr val="FFFFFF"/>
          </a:solidFill>
          <a:ln w="25400">
            <a:solidFill>
              <a:srgbClr val="00A86A"/>
            </a:solidFill>
            <a:prstDash val="solid"/>
          </a:ln>
        </p:spPr>
      </p:sp>
      <p:sp>
        <p:nvSpPr>
          <p:cNvPr id="32" name="Text 30"/>
          <p:cNvSpPr txBox="1"/>
          <p:nvPr/>
        </p:nvSpPr>
        <p:spPr>
          <a:xfrm>
            <a:off x="7342632" y="2670048"/>
            <a:ext cx="1316736" cy="960120"/>
          </a:xfrm>
          <a:prstGeom prst="rect">
            <a:avLst/>
          </a:prstGeom>
          <a:noFill/>
          <a:ln/>
        </p:spPr>
        <p:txBody>
          <a:bodyPr wrap="square" lIns="0" tIns="0" rIns="0" bIns="0" rtlCol="0" anchor="t"/>
          <a:lstStyle/>
          <a:p>
            <a:pPr algn="ctr" indent="0" marL="0">
              <a:buNone/>
            </a:pPr>
            <a:r>
              <a:rPr lang="en-US" sz="1500" b="1" dirty="0">
                <a:solidFill>
                  <a:srgbClr val="00A86A"/>
                </a:solidFill>
                <a:latin typeface="Calibri" pitchFamily="34" charset="0"/>
                <a:ea typeface="Calibri" pitchFamily="34" charset="-122"/>
                <a:cs typeface="Calibri" pitchFamily="34" charset="-120"/>
              </a:rPr>
              <a:t>2024–25</a:t>
            </a:r>
            <a:endParaRPr lang="en-US" sz="1100" dirty="0"/>
          </a:p>
          <a:p>
            <a:pPr algn="ctr" indent="0" marL="0">
              <a:buNone/>
            </a:pPr>
            <a:r>
              <a:rPr lang="en-US" sz="1050" b="1" dirty="0">
                <a:solidFill>
                  <a:srgbClr val="231F20"/>
                </a:solidFill>
                <a:latin typeface="Calibri" pitchFamily="34" charset="0"/>
                <a:ea typeface="Calibri" pitchFamily="34" charset="-122"/>
                <a:cs typeface="Calibri" pitchFamily="34" charset="-120"/>
              </a:rPr>
              <a:t>Agents et MCP</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Les modèles se branchent aux outils</a:t>
            </a:r>
            <a:endParaRPr lang="en-US" sz="1100" dirty="0"/>
          </a:p>
        </p:txBody>
      </p:sp>
      <p:sp>
        <p:nvSpPr>
          <p:cNvPr id="33" name="Shape 31"/>
          <p:cNvSpPr/>
          <p:nvPr/>
        </p:nvSpPr>
        <p:spPr>
          <a:xfrm>
            <a:off x="457200" y="3730752"/>
            <a:ext cx="8229600" cy="804672"/>
          </a:xfrm>
          <a:prstGeom prst="roundRect">
            <a:avLst>
              <a:gd name="adj" fmla="val 9091"/>
            </a:avLst>
          </a:prstGeom>
          <a:solidFill>
            <a:srgbClr val="FBF3DE"/>
          </a:solidFill>
          <a:ln w="15875">
            <a:solidFill>
              <a:srgbClr val="D49A00"/>
            </a:solidFill>
            <a:prstDash val="solid"/>
          </a:ln>
        </p:spPr>
      </p:sp>
      <p:sp>
        <p:nvSpPr>
          <p:cNvPr id="34" name="Shape 32"/>
          <p:cNvSpPr/>
          <p:nvPr/>
        </p:nvSpPr>
        <p:spPr>
          <a:xfrm>
            <a:off x="640080" y="3877056"/>
            <a:ext cx="502920" cy="502920"/>
          </a:xfrm>
          <a:prstGeom prst="ellipse">
            <a:avLst/>
          </a:prstGeom>
          <a:solidFill>
            <a:srgbClr val="D49A00">
              <a:alpha val="22000"/>
            </a:srgbClr>
          </a:solidFill>
          <a:ln/>
        </p:spPr>
      </p:sp>
      <p:pic>
        <p:nvPicPr>
          <p:cNvPr id="35" name="Image 0" descr="preencoded.png">    </p:cNvPr>
          <p:cNvPicPr>
            <a:picLocks noChangeAspect="1"/>
          </p:cNvPicPr>
          <p:nvPr/>
        </p:nvPicPr>
        <p:blipFill>
          <a:blip r:embed="rId1"/>
          <a:stretch>
            <a:fillRect/>
          </a:stretch>
        </p:blipFill>
        <p:spPr>
          <a:xfrm>
            <a:off x="760781" y="3997757"/>
            <a:ext cx="261518" cy="261518"/>
          </a:xfrm>
          <a:prstGeom prst="rect">
            <a:avLst/>
          </a:prstGeom>
        </p:spPr>
      </p:pic>
      <p:sp>
        <p:nvSpPr>
          <p:cNvPr id="36" name="Text 33"/>
          <p:cNvSpPr txBox="1"/>
          <p:nvPr/>
        </p:nvSpPr>
        <p:spPr>
          <a:xfrm>
            <a:off x="1298448" y="3785616"/>
            <a:ext cx="7269480" cy="694944"/>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Fellegi et Holt (1976) </a:t>
            </a:r>
            <a:pPr indent="0" marL="0">
              <a:buNone/>
            </a:pPr>
            <a:r>
              <a:rPr lang="en-US" sz="1100" dirty="0">
                <a:solidFill>
                  <a:srgbClr val="231F20"/>
                </a:solidFill>
                <a:latin typeface="Calibri" pitchFamily="34" charset="0"/>
                <a:ea typeface="Calibri" pitchFamily="34" charset="-122"/>
                <a:cs typeface="Calibri" pitchFamily="34" charset="-120"/>
              </a:rPr>
              <a:t>décrivaient déjà un système qui repère les réponses incohérentes, choisit quoi corriger et calcule les valeurs de remplacement. </a:t>
            </a:r>
            <a:pPr indent="0" marL="0">
              <a:buNone/>
            </a:pPr>
            <a:r>
              <a:rPr lang="en-US" sz="1100" b="1" dirty="0">
                <a:solidFill>
                  <a:srgbClr val="00704A"/>
                </a:solidFill>
                <a:latin typeface="Calibri" pitchFamily="34" charset="0"/>
                <a:ea typeface="Calibri" pitchFamily="34" charset="-122"/>
                <a:cs typeface="Calibri" pitchFamily="34" charset="-120"/>
              </a:rPr>
              <a:t>Ce qui est neuf n'est pas qu'une machine décide : c'est qu'un seul système généralise à mille tâches, dirigé en langue ordinaire.</a:t>
            </a:r>
            <a:endParaRPr lang="en-US" sz="1100" dirty="0"/>
          </a:p>
        </p:txBody>
      </p:sp>
      <p:sp>
        <p:nvSpPr>
          <p:cNvPr id="37" name="Text 34"/>
          <p:cNvSpPr txBox="1"/>
          <p:nvPr/>
        </p:nvSpPr>
        <p:spPr>
          <a:xfrm>
            <a:off x="457200" y="4590288"/>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Fellegi, I. P. &amp; Holt, D. (1976), JASA 71(353) · Rumelhart, Hinton &amp; Williams (1986), Nature 323 · Vaswani et al. (2017), NeurIPS 30.</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01  ·  POURQUOI UN VOCABULAIRE COMMUN</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Ce qui a rompu, et ce qui n'a pas rompu</a:t>
            </a:r>
            <a:endParaRPr lang="en-US" sz="2800" dirty="0"/>
          </a:p>
        </p:txBody>
      </p:sp>
      <p:sp>
        <p:nvSpPr>
          <p:cNvPr id="8" name="Shape 6"/>
          <p:cNvSpPr/>
          <p:nvPr/>
        </p:nvSpPr>
        <p:spPr>
          <a:xfrm>
            <a:off x="7635240" y="329184"/>
            <a:ext cx="100584" cy="100584"/>
          </a:xfrm>
          <a:prstGeom prst="ellipse">
            <a:avLst/>
          </a:prstGeom>
          <a:solidFill>
            <a:srgbClr val="00A86A"/>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6" name="Shape 14"/>
          <p:cNvSpPr/>
          <p:nvPr/>
        </p:nvSpPr>
        <p:spPr>
          <a:xfrm>
            <a:off x="457200" y="1371600"/>
            <a:ext cx="3977640" cy="2487168"/>
          </a:xfrm>
          <a:prstGeom prst="roundRect">
            <a:avLst>
              <a:gd name="adj" fmla="val 2941"/>
            </a:avLst>
          </a:prstGeom>
          <a:solidFill>
            <a:srgbClr val="F4F7F5"/>
          </a:solidFill>
          <a:ln w="9525">
            <a:solidFill>
              <a:srgbClr val="D5DED9"/>
            </a:solidFill>
            <a:prstDash val="solid"/>
          </a:ln>
        </p:spPr>
      </p:sp>
      <p:sp>
        <p:nvSpPr>
          <p:cNvPr id="17" name="Shape 15"/>
          <p:cNvSpPr/>
          <p:nvPr/>
        </p:nvSpPr>
        <p:spPr>
          <a:xfrm>
            <a:off x="658368" y="1499616"/>
            <a:ext cx="420624" cy="420624"/>
          </a:xfrm>
          <a:prstGeom prst="ellipse">
            <a:avLst/>
          </a:prstGeom>
          <a:solidFill>
            <a:srgbClr val="00704A">
              <a:alpha val="22000"/>
            </a:srgbClr>
          </a:solidFill>
          <a:ln/>
        </p:spPr>
      </p:sp>
      <p:pic>
        <p:nvPicPr>
          <p:cNvPr id="18" name="Image 0" descr="preencoded.png">    </p:cNvPr>
          <p:cNvPicPr>
            <a:picLocks noChangeAspect="1"/>
          </p:cNvPicPr>
          <p:nvPr/>
        </p:nvPicPr>
        <p:blipFill>
          <a:blip r:embed="rId1"/>
          <a:stretch>
            <a:fillRect/>
          </a:stretch>
        </p:blipFill>
        <p:spPr>
          <a:xfrm>
            <a:off x="759318" y="1600566"/>
            <a:ext cx="218724" cy="218724"/>
          </a:xfrm>
          <a:prstGeom prst="rect">
            <a:avLst/>
          </a:prstGeom>
        </p:spPr>
      </p:pic>
      <p:sp>
        <p:nvSpPr>
          <p:cNvPr id="19" name="Text 16"/>
          <p:cNvSpPr txBox="1"/>
          <p:nvPr/>
        </p:nvSpPr>
        <p:spPr>
          <a:xfrm>
            <a:off x="1207008" y="1499616"/>
            <a:ext cx="3017520" cy="420624"/>
          </a:xfrm>
          <a:prstGeom prst="rect">
            <a:avLst/>
          </a:prstGeom>
          <a:noFill/>
          <a:ln/>
        </p:spPr>
        <p:txBody>
          <a:bodyPr wrap="square" lIns="0" tIns="0" rIns="0" bIns="0" rtlCol="0" anchor="ctr"/>
          <a:lstStyle/>
          <a:p>
            <a:pPr indent="0" marL="0">
              <a:buNone/>
            </a:pPr>
            <a:r>
              <a:rPr lang="en-US" sz="1500" b="1" dirty="0">
                <a:solidFill>
                  <a:srgbClr val="00704A"/>
                </a:solidFill>
                <a:latin typeface="Calibri" pitchFamily="34" charset="0"/>
                <a:ea typeface="Calibri" pitchFamily="34" charset="-122"/>
                <a:cs typeface="Calibri" pitchFamily="34" charset="-120"/>
              </a:rPr>
              <a:t>Ce qui demeure</a:t>
            </a:r>
            <a:endParaRPr lang="en-US" sz="1500" dirty="0"/>
          </a:p>
        </p:txBody>
      </p:sp>
      <p:sp>
        <p:nvSpPr>
          <p:cNvPr id="20" name="Text 17"/>
          <p:cNvSpPr txBox="1"/>
          <p:nvPr/>
        </p:nvSpPr>
        <p:spPr>
          <a:xfrm>
            <a:off x="685800" y="2057400"/>
            <a:ext cx="3566160" cy="420624"/>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Décider par machine</a:t>
            </a:r>
            <a:endParaRPr lang="en-US" sz="1100" dirty="0"/>
          </a:p>
          <a:p>
            <a:pPr indent="0" marL="0">
              <a:buNone/>
            </a:pPr>
            <a:r>
              <a:rPr lang="en-US" sz="950" dirty="0">
                <a:solidFill>
                  <a:srgbClr val="5E6964"/>
                </a:solidFill>
                <a:latin typeface="Calibri" pitchFamily="34" charset="0"/>
                <a:ea typeface="Calibri" pitchFamily="34" charset="-122"/>
                <a:cs typeface="Calibri" pitchFamily="34" charset="-120"/>
              </a:rPr>
              <a:t>chez vous depuis 1976</a:t>
            </a:r>
            <a:endParaRPr lang="en-US" sz="1100" dirty="0"/>
          </a:p>
        </p:txBody>
      </p:sp>
      <p:sp>
        <p:nvSpPr>
          <p:cNvPr id="21" name="Text 18"/>
          <p:cNvSpPr txBox="1"/>
          <p:nvPr/>
        </p:nvSpPr>
        <p:spPr>
          <a:xfrm>
            <a:off x="685800" y="2505456"/>
            <a:ext cx="3566160" cy="420624"/>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Ajuster une fonction aux données</a:t>
            </a:r>
            <a:endParaRPr lang="en-US" sz="1100" dirty="0"/>
          </a:p>
          <a:p>
            <a:pPr indent="0" marL="0">
              <a:buNone/>
            </a:pPr>
            <a:r>
              <a:rPr lang="en-US" sz="950" dirty="0">
                <a:solidFill>
                  <a:srgbClr val="5E6964"/>
                </a:solidFill>
                <a:latin typeface="Calibri" pitchFamily="34" charset="0"/>
                <a:ea typeface="Calibri" pitchFamily="34" charset="-122"/>
                <a:cs typeface="Calibri" pitchFamily="34" charset="-120"/>
              </a:rPr>
              <a:t>le cœur de votre discipline</a:t>
            </a:r>
            <a:endParaRPr lang="en-US" sz="1100" dirty="0"/>
          </a:p>
        </p:txBody>
      </p:sp>
      <p:sp>
        <p:nvSpPr>
          <p:cNvPr id="22" name="Text 19"/>
          <p:cNvSpPr txBox="1"/>
          <p:nvPr/>
        </p:nvSpPr>
        <p:spPr>
          <a:xfrm>
            <a:off x="685800" y="2953512"/>
            <a:ext cx="3566160" cy="420624"/>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Le devoir de reproduire</a:t>
            </a:r>
            <a:endParaRPr lang="en-US" sz="1100" dirty="0"/>
          </a:p>
          <a:p>
            <a:pPr indent="0" marL="0">
              <a:buNone/>
            </a:pPr>
            <a:r>
              <a:rPr lang="en-US" sz="950" dirty="0">
                <a:solidFill>
                  <a:srgbClr val="5E6964"/>
                </a:solidFill>
                <a:latin typeface="Calibri" pitchFamily="34" charset="0"/>
                <a:ea typeface="Calibri" pitchFamily="34" charset="-122"/>
                <a:cs typeface="Calibri" pitchFamily="34" charset="-120"/>
              </a:rPr>
              <a:t>qu'aucune de ces technologies ne modifie</a:t>
            </a:r>
            <a:endParaRPr lang="en-US" sz="1100" dirty="0"/>
          </a:p>
        </p:txBody>
      </p:sp>
      <p:sp>
        <p:nvSpPr>
          <p:cNvPr id="23" name="Text 20"/>
          <p:cNvSpPr txBox="1"/>
          <p:nvPr/>
        </p:nvSpPr>
        <p:spPr>
          <a:xfrm>
            <a:off x="685800" y="3401568"/>
            <a:ext cx="3566160" cy="420624"/>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Le besoin d'évaluer</a:t>
            </a:r>
            <a:endParaRPr lang="en-US" sz="1100" dirty="0"/>
          </a:p>
          <a:p>
            <a:pPr indent="0" marL="0">
              <a:buNone/>
            </a:pPr>
            <a:r>
              <a:rPr lang="en-US" sz="950" dirty="0">
                <a:solidFill>
                  <a:srgbClr val="5E6964"/>
                </a:solidFill>
                <a:latin typeface="Calibri" pitchFamily="34" charset="0"/>
                <a:ea typeface="Calibri" pitchFamily="34" charset="-122"/>
                <a:cs typeface="Calibri" pitchFamily="34" charset="-120"/>
              </a:rPr>
              <a:t>plus difficile, jamais optionnel</a:t>
            </a:r>
            <a:endParaRPr lang="en-US" sz="1100" dirty="0"/>
          </a:p>
        </p:txBody>
      </p:sp>
      <p:sp>
        <p:nvSpPr>
          <p:cNvPr id="24" name="Shape 21"/>
          <p:cNvSpPr/>
          <p:nvPr/>
        </p:nvSpPr>
        <p:spPr>
          <a:xfrm>
            <a:off x="4709160" y="1371600"/>
            <a:ext cx="3977640" cy="2487168"/>
          </a:xfrm>
          <a:prstGeom prst="roundRect">
            <a:avLst>
              <a:gd name="adj" fmla="val 2941"/>
            </a:avLst>
          </a:prstGeom>
          <a:solidFill>
            <a:srgbClr val="E8F5EF"/>
          </a:solidFill>
          <a:ln w="15875">
            <a:solidFill>
              <a:srgbClr val="00A86A"/>
            </a:solidFill>
            <a:prstDash val="solid"/>
          </a:ln>
        </p:spPr>
      </p:sp>
      <p:sp>
        <p:nvSpPr>
          <p:cNvPr id="25" name="Shape 22"/>
          <p:cNvSpPr/>
          <p:nvPr/>
        </p:nvSpPr>
        <p:spPr>
          <a:xfrm>
            <a:off x="4910328" y="1499616"/>
            <a:ext cx="420624" cy="420624"/>
          </a:xfrm>
          <a:prstGeom prst="ellipse">
            <a:avLst/>
          </a:prstGeom>
          <a:solidFill>
            <a:srgbClr val="00A86A">
              <a:alpha val="22000"/>
            </a:srgbClr>
          </a:solidFill>
          <a:ln/>
        </p:spPr>
      </p:sp>
      <p:pic>
        <p:nvPicPr>
          <p:cNvPr id="26" name="Image 1" descr="preencoded.png">    </p:cNvPr>
          <p:cNvPicPr>
            <a:picLocks noChangeAspect="1"/>
          </p:cNvPicPr>
          <p:nvPr/>
        </p:nvPicPr>
        <p:blipFill>
          <a:blip r:embed="rId2"/>
          <a:stretch>
            <a:fillRect/>
          </a:stretch>
        </p:blipFill>
        <p:spPr>
          <a:xfrm>
            <a:off x="5011278" y="1600566"/>
            <a:ext cx="218724" cy="218724"/>
          </a:xfrm>
          <a:prstGeom prst="rect">
            <a:avLst/>
          </a:prstGeom>
        </p:spPr>
      </p:pic>
      <p:sp>
        <p:nvSpPr>
          <p:cNvPr id="27" name="Text 23"/>
          <p:cNvSpPr txBox="1"/>
          <p:nvPr/>
        </p:nvSpPr>
        <p:spPr>
          <a:xfrm>
            <a:off x="5458968" y="1499616"/>
            <a:ext cx="3017520" cy="420624"/>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Ce qui a rompu</a:t>
            </a:r>
            <a:endParaRPr lang="en-US" sz="1500" dirty="0"/>
          </a:p>
        </p:txBody>
      </p:sp>
      <p:sp>
        <p:nvSpPr>
          <p:cNvPr id="28" name="Text 24"/>
          <p:cNvSpPr txBox="1"/>
          <p:nvPr/>
        </p:nvSpPr>
        <p:spPr>
          <a:xfrm>
            <a:off x="4937760" y="2057400"/>
            <a:ext cx="3566160" cy="420624"/>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Un système, mille tâches</a:t>
            </a:r>
            <a:endParaRPr lang="en-US" sz="1100" dirty="0"/>
          </a:p>
          <a:p>
            <a:pPr indent="0" marL="0">
              <a:buNone/>
            </a:pPr>
            <a:r>
              <a:rPr lang="en-US" sz="950" dirty="0">
                <a:solidFill>
                  <a:srgbClr val="5E6964"/>
                </a:solidFill>
                <a:latin typeface="Calibri" pitchFamily="34" charset="0"/>
                <a:ea typeface="Calibri" pitchFamily="34" charset="-122"/>
                <a:cs typeface="Calibri" pitchFamily="34" charset="-120"/>
              </a:rPr>
              <a:t>y compris des tâches imprévues</a:t>
            </a:r>
            <a:endParaRPr lang="en-US" sz="1100" dirty="0"/>
          </a:p>
        </p:txBody>
      </p:sp>
      <p:sp>
        <p:nvSpPr>
          <p:cNvPr id="29" name="Text 25"/>
          <p:cNvSpPr txBox="1"/>
          <p:nvPr/>
        </p:nvSpPr>
        <p:spPr>
          <a:xfrm>
            <a:off x="4937760" y="2505456"/>
            <a:ext cx="3566160" cy="420624"/>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L'interface</a:t>
            </a:r>
            <a:endParaRPr lang="en-US" sz="1100" dirty="0"/>
          </a:p>
          <a:p>
            <a:pPr indent="0" marL="0">
              <a:buNone/>
            </a:pPr>
            <a:r>
              <a:rPr lang="en-US" sz="950" dirty="0">
                <a:solidFill>
                  <a:srgbClr val="5E6964"/>
                </a:solidFill>
                <a:latin typeface="Calibri" pitchFamily="34" charset="0"/>
                <a:ea typeface="Calibri" pitchFamily="34" charset="-122"/>
                <a:cs typeface="Calibri" pitchFamily="34" charset="-120"/>
              </a:rPr>
              <a:t>la langue ordinaire, non le code</a:t>
            </a:r>
            <a:endParaRPr lang="en-US" sz="1100" dirty="0"/>
          </a:p>
        </p:txBody>
      </p:sp>
      <p:sp>
        <p:nvSpPr>
          <p:cNvPr id="30" name="Text 26"/>
          <p:cNvSpPr txBox="1"/>
          <p:nvPr/>
        </p:nvSpPr>
        <p:spPr>
          <a:xfrm>
            <a:off x="4937760" y="2953512"/>
            <a:ext cx="3566160" cy="420624"/>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Qui peut le diriger</a:t>
            </a:r>
            <a:endParaRPr lang="en-US" sz="1100" dirty="0"/>
          </a:p>
          <a:p>
            <a:pPr indent="0" marL="0">
              <a:buNone/>
            </a:pPr>
            <a:r>
              <a:rPr lang="en-US" sz="950" dirty="0">
                <a:solidFill>
                  <a:srgbClr val="5E6964"/>
                </a:solidFill>
                <a:latin typeface="Calibri" pitchFamily="34" charset="0"/>
                <a:ea typeface="Calibri" pitchFamily="34" charset="-122"/>
                <a:cs typeface="Calibri" pitchFamily="34" charset="-120"/>
              </a:rPr>
              <a:t>sans programmeur intermédiaire</a:t>
            </a:r>
            <a:endParaRPr lang="en-US" sz="1100" dirty="0"/>
          </a:p>
        </p:txBody>
      </p:sp>
      <p:sp>
        <p:nvSpPr>
          <p:cNvPr id="31" name="Text 27"/>
          <p:cNvSpPr txBox="1"/>
          <p:nvPr/>
        </p:nvSpPr>
        <p:spPr>
          <a:xfrm>
            <a:off x="4937760" y="3401568"/>
            <a:ext cx="3566160" cy="420624"/>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Le coût d'un essai</a:t>
            </a:r>
            <a:endParaRPr lang="en-US" sz="1100" dirty="0"/>
          </a:p>
          <a:p>
            <a:pPr indent="0" marL="0">
              <a:buNone/>
            </a:pPr>
            <a:r>
              <a:rPr lang="en-US" sz="950" dirty="0">
                <a:solidFill>
                  <a:srgbClr val="5E6964"/>
                </a:solidFill>
                <a:latin typeface="Calibri" pitchFamily="34" charset="0"/>
                <a:ea typeface="Calibri" pitchFamily="34" charset="-122"/>
                <a:cs typeface="Calibri" pitchFamily="34" charset="-120"/>
              </a:rPr>
              <a:t>quasi nul, donc tout le monde essaie</a:t>
            </a:r>
            <a:endParaRPr lang="en-US" sz="1100" dirty="0"/>
          </a:p>
        </p:txBody>
      </p:sp>
      <p:sp>
        <p:nvSpPr>
          <p:cNvPr id="32" name="Shape 28"/>
          <p:cNvSpPr/>
          <p:nvPr/>
        </p:nvSpPr>
        <p:spPr>
          <a:xfrm>
            <a:off x="457200" y="3986784"/>
            <a:ext cx="8229600" cy="548640"/>
          </a:xfrm>
          <a:prstGeom prst="roundRect">
            <a:avLst>
              <a:gd name="adj" fmla="val 13333"/>
            </a:avLst>
          </a:prstGeom>
          <a:solidFill>
            <a:srgbClr val="FBF3DE"/>
          </a:solidFill>
          <a:ln w="15875">
            <a:solidFill>
              <a:srgbClr val="D49A00"/>
            </a:solidFill>
            <a:prstDash val="solid"/>
          </a:ln>
        </p:spPr>
      </p:sp>
      <p:sp>
        <p:nvSpPr>
          <p:cNvPr id="33" name="Shape 29"/>
          <p:cNvSpPr/>
          <p:nvPr/>
        </p:nvSpPr>
        <p:spPr>
          <a:xfrm>
            <a:off x="603504" y="4059936"/>
            <a:ext cx="402336" cy="402336"/>
          </a:xfrm>
          <a:prstGeom prst="ellipse">
            <a:avLst/>
          </a:prstGeom>
          <a:solidFill>
            <a:srgbClr val="D49A00">
              <a:alpha val="22000"/>
            </a:srgbClr>
          </a:solidFill>
          <a:ln/>
        </p:spPr>
      </p:sp>
      <p:pic>
        <p:nvPicPr>
          <p:cNvPr id="34" name="Image 2" descr="preencoded.png">    </p:cNvPr>
          <p:cNvPicPr>
            <a:picLocks noChangeAspect="1"/>
          </p:cNvPicPr>
          <p:nvPr/>
        </p:nvPicPr>
        <p:blipFill>
          <a:blip r:embed="rId3"/>
          <a:stretch>
            <a:fillRect/>
          </a:stretch>
        </p:blipFill>
        <p:spPr>
          <a:xfrm>
            <a:off x="700065" y="4156497"/>
            <a:ext cx="209215" cy="209215"/>
          </a:xfrm>
          <a:prstGeom prst="rect">
            <a:avLst/>
          </a:prstGeom>
        </p:spPr>
      </p:pic>
      <p:sp>
        <p:nvSpPr>
          <p:cNvPr id="35" name="Text 30"/>
          <p:cNvSpPr txBox="1"/>
          <p:nvPr/>
        </p:nvSpPr>
        <p:spPr>
          <a:xfrm>
            <a:off x="1143000" y="4023360"/>
            <a:ext cx="7406640" cy="475488"/>
          </a:xfrm>
          <a:prstGeom prst="rect">
            <a:avLst/>
          </a:prstGeom>
          <a:noFill/>
          <a:ln/>
        </p:spPr>
        <p:txBody>
          <a:bodyPr wrap="square" lIns="0" tIns="0" rIns="0" bIns="0" rtlCol="0" anchor="ctr"/>
          <a:lstStyle/>
          <a:p>
            <a:pPr indent="0" marL="0">
              <a:buNone/>
            </a:pPr>
            <a:r>
              <a:rPr lang="en-US" sz="1200" b="1" dirty="0">
                <a:solidFill>
                  <a:srgbClr val="D49A00"/>
                </a:solidFill>
                <a:latin typeface="Calibri" pitchFamily="34" charset="0"/>
                <a:ea typeface="Calibri" pitchFamily="34" charset="-122"/>
                <a:cs typeface="Calibri" pitchFamily="34" charset="-120"/>
              </a:rPr>
              <a:t>Le piège : </a:t>
            </a:r>
            <a:pPr indent="0" marL="0">
              <a:buNone/>
            </a:pPr>
            <a:r>
              <a:rPr lang="en-US" sz="1200" dirty="0">
                <a:solidFill>
                  <a:srgbClr val="231F20"/>
                </a:solidFill>
                <a:latin typeface="Calibri" pitchFamily="34" charset="0"/>
                <a:ea typeface="Calibri" pitchFamily="34" charset="-122"/>
                <a:cs typeface="Calibri" pitchFamily="34" charset="-120"/>
              </a:rPr>
              <a:t>GML, RAG, affinage, agent, MCP sont vendus comme des produits rivaux. Ce sont les couches d'une même machine.</a:t>
            </a:r>
            <a:endParaRPr lang="en-US" sz="1200" dirty="0"/>
          </a:p>
        </p:txBody>
      </p:sp>
      <p:sp>
        <p:nvSpPr>
          <p:cNvPr id="36" name="Text 31"/>
          <p:cNvSpPr txBox="1"/>
          <p:nvPr/>
        </p:nvSpPr>
        <p:spPr>
          <a:xfrm>
            <a:off x="457200" y="4590288"/>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Cadre : Bresnahan &amp; Trajtenberg (1995), technologies à usage général · Exposition : Eloundou et al. (2024), Science 384.</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02</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L'arbre : de l'IA à l'AGI</a:t>
            </a:r>
            <a:endParaRPr lang="en-US" sz="32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Un GML est-il de l'IA ? Et l'AGI existe-t-elle déjà ?</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5C242"/>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r>
          <p:cNvPicPr>
            <a:picLocks noChangeAspect="1"/>
          </p:cNvPicPr>
          <p:nvPr/>
        </p:nvPicPr>
        <p:blipFill>
          <a:blip r:embed="rId2"/>
          <a:stretch>
            <a:fillRect/>
          </a:stretch>
        </p:blipFill>
        <p:spPr>
          <a:xfrm>
            <a:off x="6675120" y="2286000"/>
            <a:ext cx="548640" cy="548640"/>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02  ·  L'ARBRE : DE L'IA À L'AGI</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Chaque concept est contenu dans le précédent</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00704A"/>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6" name="Shape 14"/>
          <p:cNvSpPr/>
          <p:nvPr/>
        </p:nvSpPr>
        <p:spPr>
          <a:xfrm>
            <a:off x="457200" y="1371600"/>
            <a:ext cx="4023360" cy="3154680"/>
          </a:xfrm>
          <a:prstGeom prst="roundRect">
            <a:avLst>
              <a:gd name="adj" fmla="val 2319"/>
            </a:avLst>
          </a:prstGeom>
          <a:solidFill>
            <a:srgbClr val="9ED9C0">
              <a:alpha val="30000"/>
            </a:srgbClr>
          </a:solidFill>
          <a:ln w="9525">
            <a:solidFill>
              <a:srgbClr val="00704A"/>
            </a:solidFill>
            <a:prstDash val="solid"/>
          </a:ln>
        </p:spPr>
      </p:sp>
      <p:sp>
        <p:nvSpPr>
          <p:cNvPr id="17" name="Text 15"/>
          <p:cNvSpPr txBox="1"/>
          <p:nvPr/>
        </p:nvSpPr>
        <p:spPr>
          <a:xfrm>
            <a:off x="585216" y="1463040"/>
            <a:ext cx="3749040" cy="219456"/>
          </a:xfrm>
          <a:prstGeom prst="rect">
            <a:avLst/>
          </a:prstGeom>
          <a:noFill/>
          <a:ln/>
        </p:spPr>
        <p:txBody>
          <a:bodyPr wrap="square" lIns="0" tIns="0" rIns="0" bIns="0" rtlCol="0" anchor="t"/>
          <a:lstStyle/>
          <a:p>
            <a:pPr indent="0" marL="0">
              <a:buNone/>
            </a:pPr>
            <a:r>
              <a:rPr lang="en-US" sz="950" b="1" spc="100" kern="0" dirty="0">
                <a:solidFill>
                  <a:srgbClr val="00553A"/>
                </a:solidFill>
                <a:latin typeface="Calibri" pitchFamily="34" charset="0"/>
                <a:ea typeface="Calibri" pitchFamily="34" charset="-122"/>
                <a:cs typeface="Calibri" pitchFamily="34" charset="-120"/>
              </a:rPr>
              <a:t>INTELLIGENCE ARTIFICIELLE</a:t>
            </a:r>
            <a:endParaRPr lang="en-US" sz="950" dirty="0"/>
          </a:p>
        </p:txBody>
      </p:sp>
      <p:sp>
        <p:nvSpPr>
          <p:cNvPr id="18" name="Shape 16"/>
          <p:cNvSpPr/>
          <p:nvPr/>
        </p:nvSpPr>
        <p:spPr>
          <a:xfrm>
            <a:off x="658368" y="1755648"/>
            <a:ext cx="3621024" cy="2633472"/>
          </a:xfrm>
          <a:prstGeom prst="roundRect">
            <a:avLst>
              <a:gd name="adj" fmla="val 2778"/>
            </a:avLst>
          </a:prstGeom>
          <a:solidFill>
            <a:srgbClr val="7BCBA9">
              <a:alpha val="30000"/>
            </a:srgbClr>
          </a:solidFill>
          <a:ln w="9525">
            <a:solidFill>
              <a:srgbClr val="00704A"/>
            </a:solidFill>
            <a:prstDash val="solid"/>
          </a:ln>
        </p:spPr>
      </p:sp>
      <p:sp>
        <p:nvSpPr>
          <p:cNvPr id="19" name="Text 17"/>
          <p:cNvSpPr txBox="1"/>
          <p:nvPr/>
        </p:nvSpPr>
        <p:spPr>
          <a:xfrm>
            <a:off x="786384" y="1847088"/>
            <a:ext cx="3346704" cy="219456"/>
          </a:xfrm>
          <a:prstGeom prst="rect">
            <a:avLst/>
          </a:prstGeom>
          <a:noFill/>
          <a:ln/>
        </p:spPr>
        <p:txBody>
          <a:bodyPr wrap="square" lIns="0" tIns="0" rIns="0" bIns="0" rtlCol="0" anchor="t"/>
          <a:lstStyle/>
          <a:p>
            <a:pPr indent="0" marL="0">
              <a:buNone/>
            </a:pPr>
            <a:r>
              <a:rPr lang="en-US" sz="950" b="1" spc="100" kern="0" dirty="0">
                <a:solidFill>
                  <a:srgbClr val="00553A"/>
                </a:solidFill>
                <a:latin typeface="Calibri" pitchFamily="34" charset="0"/>
                <a:ea typeface="Calibri" pitchFamily="34" charset="-122"/>
                <a:cs typeface="Calibri" pitchFamily="34" charset="-120"/>
              </a:rPr>
              <a:t>APPRENTISSAGE AUTOMATIQUE</a:t>
            </a:r>
            <a:endParaRPr lang="en-US" sz="950" dirty="0"/>
          </a:p>
        </p:txBody>
      </p:sp>
      <p:sp>
        <p:nvSpPr>
          <p:cNvPr id="20" name="Shape 18"/>
          <p:cNvSpPr/>
          <p:nvPr/>
        </p:nvSpPr>
        <p:spPr>
          <a:xfrm>
            <a:off x="859536" y="2139696"/>
            <a:ext cx="3218688" cy="2112264"/>
          </a:xfrm>
          <a:prstGeom prst="roundRect">
            <a:avLst>
              <a:gd name="adj" fmla="val 3463"/>
            </a:avLst>
          </a:prstGeom>
          <a:solidFill>
            <a:srgbClr val="57BD92">
              <a:alpha val="30000"/>
            </a:srgbClr>
          </a:solidFill>
          <a:ln w="9525">
            <a:solidFill>
              <a:srgbClr val="00704A"/>
            </a:solidFill>
            <a:prstDash val="solid"/>
          </a:ln>
        </p:spPr>
      </p:sp>
      <p:sp>
        <p:nvSpPr>
          <p:cNvPr id="21" name="Text 19"/>
          <p:cNvSpPr txBox="1"/>
          <p:nvPr/>
        </p:nvSpPr>
        <p:spPr>
          <a:xfrm>
            <a:off x="987552" y="2231136"/>
            <a:ext cx="2944368" cy="219456"/>
          </a:xfrm>
          <a:prstGeom prst="rect">
            <a:avLst/>
          </a:prstGeom>
          <a:noFill/>
          <a:ln/>
        </p:spPr>
        <p:txBody>
          <a:bodyPr wrap="square" lIns="0" tIns="0" rIns="0" bIns="0" rtlCol="0" anchor="t"/>
          <a:lstStyle/>
          <a:p>
            <a:pPr indent="0" marL="0">
              <a:buNone/>
            </a:pPr>
            <a:r>
              <a:rPr lang="en-US" sz="950" b="1" spc="100" kern="0" dirty="0">
                <a:solidFill>
                  <a:srgbClr val="00553A"/>
                </a:solidFill>
                <a:latin typeface="Calibri" pitchFamily="34" charset="0"/>
                <a:ea typeface="Calibri" pitchFamily="34" charset="-122"/>
                <a:cs typeface="Calibri" pitchFamily="34" charset="-120"/>
              </a:rPr>
              <a:t>APPRENTISSAGE PROFOND</a:t>
            </a:r>
            <a:endParaRPr lang="en-US" sz="950" dirty="0"/>
          </a:p>
        </p:txBody>
      </p:sp>
      <p:sp>
        <p:nvSpPr>
          <p:cNvPr id="22" name="Shape 20"/>
          <p:cNvSpPr/>
          <p:nvPr/>
        </p:nvSpPr>
        <p:spPr>
          <a:xfrm>
            <a:off x="1060704" y="2523744"/>
            <a:ext cx="2816352" cy="1591056"/>
          </a:xfrm>
          <a:prstGeom prst="roundRect">
            <a:avLst>
              <a:gd name="adj" fmla="val 4598"/>
            </a:avLst>
          </a:prstGeom>
          <a:solidFill>
            <a:srgbClr val="33AF7C">
              <a:alpha val="30000"/>
            </a:srgbClr>
          </a:solidFill>
          <a:ln w="9525">
            <a:solidFill>
              <a:srgbClr val="00704A"/>
            </a:solidFill>
            <a:prstDash val="solid"/>
          </a:ln>
        </p:spPr>
      </p:sp>
      <p:sp>
        <p:nvSpPr>
          <p:cNvPr id="23" name="Text 21"/>
          <p:cNvSpPr txBox="1"/>
          <p:nvPr/>
        </p:nvSpPr>
        <p:spPr>
          <a:xfrm>
            <a:off x="1188720" y="2615184"/>
            <a:ext cx="2542032" cy="219456"/>
          </a:xfrm>
          <a:prstGeom prst="rect">
            <a:avLst/>
          </a:prstGeom>
          <a:noFill/>
          <a:ln/>
        </p:spPr>
        <p:txBody>
          <a:bodyPr wrap="square" lIns="0" tIns="0" rIns="0" bIns="0" rtlCol="0" anchor="t"/>
          <a:lstStyle/>
          <a:p>
            <a:pPr indent="0" marL="0">
              <a:buNone/>
            </a:pPr>
            <a:r>
              <a:rPr lang="en-US" sz="950" b="1" spc="100" kern="0" dirty="0">
                <a:solidFill>
                  <a:srgbClr val="00553A"/>
                </a:solidFill>
                <a:latin typeface="Calibri" pitchFamily="34" charset="0"/>
                <a:ea typeface="Calibri" pitchFamily="34" charset="-122"/>
                <a:cs typeface="Calibri" pitchFamily="34" charset="-120"/>
              </a:rPr>
              <a:t>TRANSFORMEUR</a:t>
            </a:r>
            <a:endParaRPr lang="en-US" sz="950" dirty="0"/>
          </a:p>
        </p:txBody>
      </p:sp>
      <p:sp>
        <p:nvSpPr>
          <p:cNvPr id="24" name="Shape 22"/>
          <p:cNvSpPr/>
          <p:nvPr/>
        </p:nvSpPr>
        <p:spPr>
          <a:xfrm>
            <a:off x="1261872" y="2907792"/>
            <a:ext cx="2414016" cy="1005840"/>
          </a:xfrm>
          <a:prstGeom prst="roundRect">
            <a:avLst>
              <a:gd name="adj" fmla="val 7273"/>
            </a:avLst>
          </a:prstGeom>
          <a:solidFill>
            <a:srgbClr val="00553A"/>
          </a:solidFill>
          <a:ln/>
        </p:spPr>
      </p:sp>
      <p:sp>
        <p:nvSpPr>
          <p:cNvPr id="25" name="Text 23"/>
          <p:cNvSpPr txBox="1"/>
          <p:nvPr/>
        </p:nvSpPr>
        <p:spPr>
          <a:xfrm>
            <a:off x="1261872" y="2907792"/>
            <a:ext cx="2414016"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GML</a:t>
            </a:r>
            <a:endParaRPr lang="en-US" sz="1100" dirty="0"/>
          </a:p>
          <a:p>
            <a:pPr algn="ctr" indent="0" marL="0">
              <a:buNone/>
            </a:pPr>
            <a:r>
              <a:rPr lang="en-US" sz="1000" dirty="0">
                <a:solidFill>
                  <a:srgbClr val="E6F6EE"/>
                </a:solidFill>
                <a:latin typeface="Calibri" pitchFamily="34" charset="0"/>
                <a:ea typeface="Calibri" pitchFamily="34" charset="-122"/>
                <a:cs typeface="Calibri" pitchFamily="34" charset="-120"/>
              </a:rPr>
              <a:t>grand modèle de langage (LLM)</a:t>
            </a:r>
            <a:endParaRPr lang="en-US" sz="1100" dirty="0"/>
          </a:p>
        </p:txBody>
      </p:sp>
      <p:sp>
        <p:nvSpPr>
          <p:cNvPr id="26" name="Shape 24"/>
          <p:cNvSpPr/>
          <p:nvPr/>
        </p:nvSpPr>
        <p:spPr>
          <a:xfrm>
            <a:off x="4709160" y="1417320"/>
            <a:ext cx="146304" cy="146304"/>
          </a:xfrm>
          <a:prstGeom prst="ellipse">
            <a:avLst/>
          </a:prstGeom>
          <a:solidFill>
            <a:srgbClr val="9ED9C0"/>
          </a:solidFill>
          <a:ln w="6350">
            <a:solidFill>
              <a:srgbClr val="00704A"/>
            </a:solidFill>
            <a:prstDash val="solid"/>
          </a:ln>
        </p:spPr>
      </p:sp>
      <p:sp>
        <p:nvSpPr>
          <p:cNvPr id="27" name="Text 25"/>
          <p:cNvSpPr txBox="1"/>
          <p:nvPr/>
        </p:nvSpPr>
        <p:spPr>
          <a:xfrm>
            <a:off x="4983480" y="1371600"/>
            <a:ext cx="3703320" cy="60350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IA</a:t>
            </a:r>
            <a:endParaRPr lang="en-US" sz="1100" dirty="0"/>
          </a:p>
          <a:p>
            <a:pPr indent="0" marL="0">
              <a:buNone/>
            </a:pPr>
            <a:r>
              <a:rPr lang="en-US" sz="950" dirty="0">
                <a:solidFill>
                  <a:srgbClr val="231F20"/>
                </a:solidFill>
                <a:latin typeface="Calibri" pitchFamily="34" charset="0"/>
                <a:ea typeface="Calibri" pitchFamily="34" charset="-122"/>
                <a:cs typeface="Calibri" pitchFamily="34" charset="-120"/>
              </a:rPr>
              <a:t>Une machine accomplit une tâche jugée « intelligente », même par règles.</a:t>
            </a:r>
            <a:endParaRPr lang="en-US" sz="1100" dirty="0"/>
          </a:p>
          <a:p>
            <a:pPr indent="0" marL="0">
              <a:buNone/>
            </a:pPr>
            <a:r>
              <a:rPr lang="en-US" sz="900" i="1" dirty="0">
                <a:solidFill>
                  <a:srgbClr val="00704A"/>
                </a:solidFill>
                <a:latin typeface="Calibri" pitchFamily="34" charset="0"/>
                <a:ea typeface="Calibri" pitchFamily="34" charset="-122"/>
                <a:cs typeface="Calibri" pitchFamily="34" charset="-120"/>
              </a:rPr>
              <a:t>Ex. : Les règles d'apurement Fellegi–Holt</a:t>
            </a:r>
            <a:endParaRPr lang="en-US" sz="1100" dirty="0"/>
          </a:p>
        </p:txBody>
      </p:sp>
      <p:sp>
        <p:nvSpPr>
          <p:cNvPr id="28" name="Shape 26"/>
          <p:cNvSpPr/>
          <p:nvPr/>
        </p:nvSpPr>
        <p:spPr>
          <a:xfrm>
            <a:off x="4709160" y="2048256"/>
            <a:ext cx="146304" cy="146304"/>
          </a:xfrm>
          <a:prstGeom prst="ellipse">
            <a:avLst/>
          </a:prstGeom>
          <a:solidFill>
            <a:srgbClr val="7BCBA9"/>
          </a:solidFill>
          <a:ln w="6350">
            <a:solidFill>
              <a:srgbClr val="00704A"/>
            </a:solidFill>
            <a:prstDash val="solid"/>
          </a:ln>
        </p:spPr>
      </p:sp>
      <p:sp>
        <p:nvSpPr>
          <p:cNvPr id="29" name="Text 27"/>
          <p:cNvSpPr txBox="1"/>
          <p:nvPr/>
        </p:nvSpPr>
        <p:spPr>
          <a:xfrm>
            <a:off x="4983480" y="2002536"/>
            <a:ext cx="3703320" cy="60350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Apprentissage automatique</a:t>
            </a:r>
            <a:endParaRPr lang="en-US" sz="1100" dirty="0"/>
          </a:p>
          <a:p>
            <a:pPr indent="0" marL="0">
              <a:buNone/>
            </a:pPr>
            <a:r>
              <a:rPr lang="en-US" sz="950" dirty="0">
                <a:solidFill>
                  <a:srgbClr val="231F20"/>
                </a:solidFill>
                <a:latin typeface="Calibri" pitchFamily="34" charset="0"/>
                <a:ea typeface="Calibri" pitchFamily="34" charset="-122"/>
                <a:cs typeface="Calibri" pitchFamily="34" charset="-120"/>
              </a:rPr>
              <a:t>Des règles apprises à partir d'exemples plutôt qu'écrites à la main.</a:t>
            </a:r>
            <a:endParaRPr lang="en-US" sz="1100" dirty="0"/>
          </a:p>
          <a:p>
            <a:pPr indent="0" marL="0">
              <a:buNone/>
            </a:pPr>
            <a:r>
              <a:rPr lang="en-US" sz="900" i="1" dirty="0">
                <a:solidFill>
                  <a:srgbClr val="00704A"/>
                </a:solidFill>
                <a:latin typeface="Calibri" pitchFamily="34" charset="0"/>
                <a:ea typeface="Calibri" pitchFamily="34" charset="-122"/>
                <a:cs typeface="Calibri" pitchFamily="34" charset="-120"/>
              </a:rPr>
              <a:t>Ex. : Codage automatique des professions</a:t>
            </a:r>
            <a:endParaRPr lang="en-US" sz="1100" dirty="0"/>
          </a:p>
        </p:txBody>
      </p:sp>
      <p:sp>
        <p:nvSpPr>
          <p:cNvPr id="30" name="Shape 28"/>
          <p:cNvSpPr/>
          <p:nvPr/>
        </p:nvSpPr>
        <p:spPr>
          <a:xfrm>
            <a:off x="4709160" y="2679192"/>
            <a:ext cx="146304" cy="146304"/>
          </a:xfrm>
          <a:prstGeom prst="ellipse">
            <a:avLst/>
          </a:prstGeom>
          <a:solidFill>
            <a:srgbClr val="57BD92"/>
          </a:solidFill>
          <a:ln w="6350">
            <a:solidFill>
              <a:srgbClr val="00704A"/>
            </a:solidFill>
            <a:prstDash val="solid"/>
          </a:ln>
        </p:spPr>
      </p:sp>
      <p:sp>
        <p:nvSpPr>
          <p:cNvPr id="31" name="Text 29"/>
          <p:cNvSpPr txBox="1"/>
          <p:nvPr/>
        </p:nvSpPr>
        <p:spPr>
          <a:xfrm>
            <a:off x="4983480" y="2633472"/>
            <a:ext cx="3703320" cy="60350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Apprentissage profond</a:t>
            </a:r>
            <a:endParaRPr lang="en-US" sz="1100" dirty="0"/>
          </a:p>
          <a:p>
            <a:pPr indent="0" marL="0">
              <a:buNone/>
            </a:pPr>
            <a:r>
              <a:rPr lang="en-US" sz="950" dirty="0">
                <a:solidFill>
                  <a:srgbClr val="231F20"/>
                </a:solidFill>
                <a:latin typeface="Calibri" pitchFamily="34" charset="0"/>
                <a:ea typeface="Calibri" pitchFamily="34" charset="-122"/>
                <a:cs typeface="Calibri" pitchFamily="34" charset="-120"/>
              </a:rPr>
              <a:t>Apprentissage par réseaux de neurones à nombreuses couches.</a:t>
            </a:r>
            <a:endParaRPr lang="en-US" sz="1100" dirty="0"/>
          </a:p>
          <a:p>
            <a:pPr indent="0" marL="0">
              <a:buNone/>
            </a:pPr>
            <a:r>
              <a:rPr lang="en-US" sz="900" i="1" dirty="0">
                <a:solidFill>
                  <a:srgbClr val="00704A"/>
                </a:solidFill>
                <a:latin typeface="Calibri" pitchFamily="34" charset="0"/>
                <a:ea typeface="Calibri" pitchFamily="34" charset="-122"/>
                <a:cs typeface="Calibri" pitchFamily="34" charset="-120"/>
              </a:rPr>
              <a:t>Ex. : Détection du bâti sur images satellites</a:t>
            </a:r>
            <a:endParaRPr lang="en-US" sz="1100" dirty="0"/>
          </a:p>
        </p:txBody>
      </p:sp>
      <p:sp>
        <p:nvSpPr>
          <p:cNvPr id="32" name="Shape 30"/>
          <p:cNvSpPr/>
          <p:nvPr/>
        </p:nvSpPr>
        <p:spPr>
          <a:xfrm>
            <a:off x="4709160" y="3310128"/>
            <a:ext cx="146304" cy="146304"/>
          </a:xfrm>
          <a:prstGeom prst="ellipse">
            <a:avLst/>
          </a:prstGeom>
          <a:solidFill>
            <a:srgbClr val="33AF7C"/>
          </a:solidFill>
          <a:ln w="6350">
            <a:solidFill>
              <a:srgbClr val="00704A"/>
            </a:solidFill>
            <a:prstDash val="solid"/>
          </a:ln>
        </p:spPr>
      </p:sp>
      <p:sp>
        <p:nvSpPr>
          <p:cNvPr id="33" name="Text 31"/>
          <p:cNvSpPr txBox="1"/>
          <p:nvPr/>
        </p:nvSpPr>
        <p:spPr>
          <a:xfrm>
            <a:off x="4983480" y="3264408"/>
            <a:ext cx="3703320" cy="60350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Transformeur</a:t>
            </a:r>
            <a:endParaRPr lang="en-US" sz="1100" dirty="0"/>
          </a:p>
          <a:p>
            <a:pPr indent="0" marL="0">
              <a:buNone/>
            </a:pPr>
            <a:r>
              <a:rPr lang="en-US" sz="950" dirty="0">
                <a:solidFill>
                  <a:srgbClr val="231F20"/>
                </a:solidFill>
                <a:latin typeface="Calibri" pitchFamily="34" charset="0"/>
                <a:ea typeface="Calibri" pitchFamily="34" charset="-122"/>
                <a:cs typeface="Calibri" pitchFamily="34" charset="-120"/>
              </a:rPr>
              <a:t>Architecture fondée sur l'« attention » (2017), qui lit un texte en parallèle.</a:t>
            </a:r>
            <a:endParaRPr lang="en-US" sz="1100" dirty="0"/>
          </a:p>
          <a:p>
            <a:pPr indent="0" marL="0">
              <a:buNone/>
            </a:pPr>
            <a:r>
              <a:rPr lang="en-US" sz="900" i="1" dirty="0">
                <a:solidFill>
                  <a:srgbClr val="00704A"/>
                </a:solidFill>
                <a:latin typeface="Calibri" pitchFamily="34" charset="0"/>
                <a:ea typeface="Calibri" pitchFamily="34" charset="-122"/>
                <a:cs typeface="Calibri" pitchFamily="34" charset="-120"/>
              </a:rPr>
              <a:t>Ex. : Traduction automatique FR ↔ EN</a:t>
            </a:r>
            <a:endParaRPr lang="en-US" sz="1100" dirty="0"/>
          </a:p>
        </p:txBody>
      </p:sp>
      <p:sp>
        <p:nvSpPr>
          <p:cNvPr id="34" name="Shape 32"/>
          <p:cNvSpPr/>
          <p:nvPr/>
        </p:nvSpPr>
        <p:spPr>
          <a:xfrm>
            <a:off x="4709160" y="3941064"/>
            <a:ext cx="146304" cy="146304"/>
          </a:xfrm>
          <a:prstGeom prst="ellipse">
            <a:avLst/>
          </a:prstGeom>
          <a:solidFill>
            <a:srgbClr val="00553A"/>
          </a:solidFill>
          <a:ln w="6350">
            <a:solidFill>
              <a:srgbClr val="00704A"/>
            </a:solidFill>
            <a:prstDash val="solid"/>
          </a:ln>
        </p:spPr>
      </p:sp>
      <p:sp>
        <p:nvSpPr>
          <p:cNvPr id="35" name="Text 33"/>
          <p:cNvSpPr txBox="1"/>
          <p:nvPr/>
        </p:nvSpPr>
        <p:spPr>
          <a:xfrm>
            <a:off x="4983480" y="3895344"/>
            <a:ext cx="3703320" cy="60350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GML</a:t>
            </a:r>
            <a:endParaRPr lang="en-US" sz="1100" dirty="0"/>
          </a:p>
          <a:p>
            <a:pPr indent="0" marL="0">
              <a:buNone/>
            </a:pPr>
            <a:r>
              <a:rPr lang="en-US" sz="950" dirty="0">
                <a:solidFill>
                  <a:srgbClr val="231F20"/>
                </a:solidFill>
                <a:latin typeface="Calibri" pitchFamily="34" charset="0"/>
                <a:ea typeface="Calibri" pitchFamily="34" charset="-122"/>
                <a:cs typeface="Calibri" pitchFamily="34" charset="-120"/>
              </a:rPr>
              <a:t>Transformeur géant entraîné à prédire le mot suivant.</a:t>
            </a:r>
            <a:endParaRPr lang="en-US" sz="1100" dirty="0"/>
          </a:p>
          <a:p>
            <a:pPr indent="0" marL="0">
              <a:buNone/>
            </a:pPr>
            <a:r>
              <a:rPr lang="en-US" sz="900" i="1" dirty="0">
                <a:solidFill>
                  <a:srgbClr val="00704A"/>
                </a:solidFill>
                <a:latin typeface="Calibri" pitchFamily="34" charset="0"/>
                <a:ea typeface="Calibri" pitchFamily="34" charset="-122"/>
                <a:cs typeface="Calibri" pitchFamily="34" charset="-120"/>
              </a:rPr>
              <a:t>Ex. : Premier jet d'un commentaire de publication</a:t>
            </a:r>
            <a:endParaRPr lang="en-US" sz="1100" dirty="0"/>
          </a:p>
        </p:txBody>
      </p:sp>
      <p:sp>
        <p:nvSpPr>
          <p:cNvPr id="36" name="Text 34"/>
          <p:cNvSpPr txBox="1"/>
          <p:nvPr/>
        </p:nvSpPr>
        <p:spPr>
          <a:xfrm>
            <a:off x="457200" y="4590288"/>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Un appel d'offres qui dit « intelligence artificielle » n'a rien spécifié : cet anneau contient aussi un système à règles de 1976.</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02  ·  L'ARBRE : DE L'IA À L'AGI</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L'AGI : un horizon débattu, pas un produit disponible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00704A"/>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6" name="Shape 14"/>
          <p:cNvSpPr/>
          <p:nvPr/>
        </p:nvSpPr>
        <p:spPr>
          <a:xfrm>
            <a:off x="457200" y="1691640"/>
            <a:ext cx="2788920" cy="475488"/>
          </a:xfrm>
          <a:prstGeom prst="homePlate">
            <a:avLst/>
          </a:prstGeom>
          <a:solidFill>
            <a:srgbClr val="57BD92"/>
          </a:solidFill>
          <a:ln/>
        </p:spPr>
      </p:sp>
      <p:sp>
        <p:nvSpPr>
          <p:cNvPr id="17" name="Text 15"/>
          <p:cNvSpPr txBox="1"/>
          <p:nvPr/>
        </p:nvSpPr>
        <p:spPr>
          <a:xfrm>
            <a:off x="685800" y="1691640"/>
            <a:ext cx="237744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IA spécialisée </a:t>
            </a:r>
            <a:pPr algn="ctr" indent="0" marL="0">
              <a:buNone/>
            </a:pPr>
            <a:r>
              <a:rPr lang="en-US" sz="1300" dirty="0">
                <a:solidFill>
                  <a:srgbClr val="FFFFFF"/>
                </a:solidFill>
                <a:latin typeface="Calibri" pitchFamily="34" charset="0"/>
                <a:ea typeface="Calibri" pitchFamily="34" charset="-122"/>
                <a:cs typeface="Calibri" pitchFamily="34" charset="-120"/>
              </a:rPr>
              <a:t>(ANI)</a:t>
            </a:r>
            <a:endParaRPr lang="en-US" sz="1300" dirty="0"/>
          </a:p>
        </p:txBody>
      </p:sp>
      <p:sp>
        <p:nvSpPr>
          <p:cNvPr id="18" name="Shape 16"/>
          <p:cNvSpPr/>
          <p:nvPr/>
        </p:nvSpPr>
        <p:spPr>
          <a:xfrm>
            <a:off x="502920" y="2286000"/>
            <a:ext cx="2606040" cy="1417320"/>
          </a:xfrm>
          <a:prstGeom prst="roundRect">
            <a:avLst>
              <a:gd name="adj" fmla="val 5161"/>
            </a:avLst>
          </a:prstGeom>
          <a:solidFill>
            <a:srgbClr val="F4F7F5"/>
          </a:solidFill>
          <a:ln w="9525">
            <a:solidFill>
              <a:srgbClr val="D5DED9"/>
            </a:solidFill>
            <a:prstDash val="solid"/>
          </a:ln>
        </p:spPr>
      </p:sp>
      <p:sp>
        <p:nvSpPr>
          <p:cNvPr id="19" name="Shape 17"/>
          <p:cNvSpPr/>
          <p:nvPr/>
        </p:nvSpPr>
        <p:spPr>
          <a:xfrm>
            <a:off x="658368" y="2414016"/>
            <a:ext cx="1188720" cy="219456"/>
          </a:xfrm>
          <a:prstGeom prst="roundRect">
            <a:avLst>
              <a:gd name="adj" fmla="val 50000"/>
            </a:avLst>
          </a:prstGeom>
          <a:solidFill>
            <a:srgbClr val="00A86A">
              <a:alpha val="15000"/>
            </a:srgbClr>
          </a:solidFill>
          <a:ln w="9525">
            <a:solidFill>
              <a:srgbClr val="00A86A"/>
            </a:solidFill>
            <a:prstDash val="solid"/>
          </a:ln>
        </p:spPr>
      </p:sp>
      <p:sp>
        <p:nvSpPr>
          <p:cNvPr id="20" name="Text 18"/>
          <p:cNvSpPr txBox="1"/>
          <p:nvPr/>
        </p:nvSpPr>
        <p:spPr>
          <a:xfrm>
            <a:off x="658368" y="2414016"/>
            <a:ext cx="1188720" cy="219456"/>
          </a:xfrm>
          <a:prstGeom prst="rect">
            <a:avLst/>
          </a:prstGeom>
          <a:noFill/>
          <a:ln/>
        </p:spPr>
        <p:txBody>
          <a:bodyPr wrap="square" lIns="0" tIns="0" rIns="0" bIns="0" rtlCol="0" anchor="ctr"/>
          <a:lstStyle/>
          <a:p>
            <a:pPr algn="ctr" indent="0" marL="0">
              <a:buNone/>
            </a:pPr>
            <a:r>
              <a:rPr lang="en-US" sz="900" b="1" dirty="0">
                <a:solidFill>
                  <a:srgbClr val="00A86A"/>
                </a:solidFill>
                <a:latin typeface="Calibri" pitchFamily="34" charset="0"/>
                <a:ea typeface="Calibri" pitchFamily="34" charset="-122"/>
                <a:cs typeface="Calibri" pitchFamily="34" charset="-120"/>
              </a:rPr>
              <a:t>EXISTE</a:t>
            </a:r>
            <a:endParaRPr lang="en-US" sz="900" dirty="0"/>
          </a:p>
        </p:txBody>
      </p:sp>
      <p:sp>
        <p:nvSpPr>
          <p:cNvPr id="21" name="Text 19"/>
          <p:cNvSpPr txBox="1"/>
          <p:nvPr/>
        </p:nvSpPr>
        <p:spPr>
          <a:xfrm>
            <a:off x="658368" y="2724912"/>
            <a:ext cx="2304288" cy="9144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Excelle sur une tâche ou une famille de tâches. Les GML y restent : généraux dans la forme, inégaux dans la fiabilité.</a:t>
            </a:r>
            <a:endParaRPr lang="en-US" sz="1050" dirty="0"/>
          </a:p>
        </p:txBody>
      </p:sp>
      <p:sp>
        <p:nvSpPr>
          <p:cNvPr id="22" name="Shape 20"/>
          <p:cNvSpPr/>
          <p:nvPr/>
        </p:nvSpPr>
        <p:spPr>
          <a:xfrm>
            <a:off x="3200400" y="1691640"/>
            <a:ext cx="2788920" cy="475488"/>
          </a:xfrm>
          <a:prstGeom prst="chevron">
            <a:avLst/>
          </a:prstGeom>
          <a:solidFill>
            <a:srgbClr val="00704A"/>
          </a:solidFill>
          <a:ln/>
        </p:spPr>
      </p:sp>
      <p:sp>
        <p:nvSpPr>
          <p:cNvPr id="23" name="Text 21"/>
          <p:cNvSpPr txBox="1"/>
          <p:nvPr/>
        </p:nvSpPr>
        <p:spPr>
          <a:xfrm>
            <a:off x="3429000" y="1691640"/>
            <a:ext cx="237744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IA générale </a:t>
            </a:r>
            <a:pPr algn="ctr" indent="0" marL="0">
              <a:buNone/>
            </a:pPr>
            <a:r>
              <a:rPr lang="en-US" sz="1300" dirty="0">
                <a:solidFill>
                  <a:srgbClr val="FFFFFF"/>
                </a:solidFill>
                <a:latin typeface="Calibri" pitchFamily="34" charset="0"/>
                <a:ea typeface="Calibri" pitchFamily="34" charset="-122"/>
                <a:cs typeface="Calibri" pitchFamily="34" charset="-120"/>
              </a:rPr>
              <a:t>(AGI)</a:t>
            </a:r>
            <a:endParaRPr lang="en-US" sz="1300" dirty="0"/>
          </a:p>
        </p:txBody>
      </p:sp>
      <p:sp>
        <p:nvSpPr>
          <p:cNvPr id="24" name="Shape 22"/>
          <p:cNvSpPr/>
          <p:nvPr/>
        </p:nvSpPr>
        <p:spPr>
          <a:xfrm>
            <a:off x="3246120" y="2286000"/>
            <a:ext cx="2606040" cy="1417320"/>
          </a:xfrm>
          <a:prstGeom prst="roundRect">
            <a:avLst>
              <a:gd name="adj" fmla="val 5161"/>
            </a:avLst>
          </a:prstGeom>
          <a:solidFill>
            <a:srgbClr val="E8F5EF"/>
          </a:solidFill>
          <a:ln w="15875">
            <a:solidFill>
              <a:srgbClr val="00704A"/>
            </a:solidFill>
            <a:prstDash val="solid"/>
          </a:ln>
        </p:spPr>
      </p:sp>
      <p:sp>
        <p:nvSpPr>
          <p:cNvPr id="25" name="Shape 23"/>
          <p:cNvSpPr/>
          <p:nvPr/>
        </p:nvSpPr>
        <p:spPr>
          <a:xfrm>
            <a:off x="3401568" y="2414016"/>
            <a:ext cx="1188720" cy="219456"/>
          </a:xfrm>
          <a:prstGeom prst="roundRect">
            <a:avLst>
              <a:gd name="adj" fmla="val 50000"/>
            </a:avLst>
          </a:prstGeom>
          <a:solidFill>
            <a:srgbClr val="D49A00">
              <a:alpha val="15000"/>
            </a:srgbClr>
          </a:solidFill>
          <a:ln w="9525">
            <a:solidFill>
              <a:srgbClr val="D49A00"/>
            </a:solidFill>
            <a:prstDash val="solid"/>
          </a:ln>
        </p:spPr>
      </p:sp>
      <p:sp>
        <p:nvSpPr>
          <p:cNvPr id="26" name="Text 24"/>
          <p:cNvSpPr txBox="1"/>
          <p:nvPr/>
        </p:nvSpPr>
        <p:spPr>
          <a:xfrm>
            <a:off x="3401568" y="2414016"/>
            <a:ext cx="1188720" cy="219456"/>
          </a:xfrm>
          <a:prstGeom prst="rect">
            <a:avLst/>
          </a:prstGeom>
          <a:noFill/>
          <a:ln/>
        </p:spPr>
        <p:txBody>
          <a:bodyPr wrap="square" lIns="0" tIns="0" rIns="0" bIns="0" rtlCol="0" anchor="ctr"/>
          <a:lstStyle/>
          <a:p>
            <a:pPr algn="ctr" indent="0" marL="0">
              <a:buNone/>
            </a:pPr>
            <a:r>
              <a:rPr lang="en-US" sz="900" b="1" dirty="0">
                <a:solidFill>
                  <a:srgbClr val="D49A00"/>
                </a:solidFill>
                <a:latin typeface="Calibri" pitchFamily="34" charset="0"/>
                <a:ea typeface="Calibri" pitchFamily="34" charset="-122"/>
                <a:cs typeface="Calibri" pitchFamily="34" charset="-120"/>
              </a:rPr>
              <a:t>HYPOTHÉTIQUE</a:t>
            </a:r>
            <a:endParaRPr lang="en-US" sz="900" dirty="0"/>
          </a:p>
        </p:txBody>
      </p:sp>
      <p:sp>
        <p:nvSpPr>
          <p:cNvPr id="27" name="Text 25"/>
          <p:cNvSpPr txBox="1"/>
          <p:nvPr/>
        </p:nvSpPr>
        <p:spPr>
          <a:xfrm>
            <a:off x="3401568" y="2724912"/>
            <a:ext cx="2304288" cy="9144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Système hypothétique égalant l'humain sur la plupart des tâches cognitives, y compris nouvelles. Aucune définition consensuelle.</a:t>
            </a:r>
            <a:endParaRPr lang="en-US" sz="1050" dirty="0"/>
          </a:p>
        </p:txBody>
      </p:sp>
      <p:sp>
        <p:nvSpPr>
          <p:cNvPr id="28" name="Shape 26"/>
          <p:cNvSpPr/>
          <p:nvPr/>
        </p:nvSpPr>
        <p:spPr>
          <a:xfrm>
            <a:off x="5943600" y="1691640"/>
            <a:ext cx="2788920" cy="475488"/>
          </a:xfrm>
          <a:prstGeom prst="chevron">
            <a:avLst/>
          </a:prstGeom>
          <a:solidFill>
            <a:srgbClr val="00553A"/>
          </a:solidFill>
          <a:ln/>
        </p:spPr>
      </p:sp>
      <p:sp>
        <p:nvSpPr>
          <p:cNvPr id="29" name="Text 27"/>
          <p:cNvSpPr txBox="1"/>
          <p:nvPr/>
        </p:nvSpPr>
        <p:spPr>
          <a:xfrm>
            <a:off x="6172200" y="1691640"/>
            <a:ext cx="237744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Superintelligence </a:t>
            </a:r>
            <a:pPr algn="ctr" indent="0" marL="0">
              <a:buNone/>
            </a:pPr>
            <a:r>
              <a:rPr lang="en-US" sz="1300" dirty="0">
                <a:solidFill>
                  <a:srgbClr val="FFFFFF"/>
                </a:solidFill>
                <a:latin typeface="Calibri" pitchFamily="34" charset="0"/>
                <a:ea typeface="Calibri" pitchFamily="34" charset="-122"/>
                <a:cs typeface="Calibri" pitchFamily="34" charset="-120"/>
              </a:rPr>
              <a:t>(ASI)</a:t>
            </a:r>
            <a:endParaRPr lang="en-US" sz="1300" dirty="0"/>
          </a:p>
        </p:txBody>
      </p:sp>
      <p:sp>
        <p:nvSpPr>
          <p:cNvPr id="30" name="Shape 28"/>
          <p:cNvSpPr/>
          <p:nvPr/>
        </p:nvSpPr>
        <p:spPr>
          <a:xfrm>
            <a:off x="5989320" y="2286000"/>
            <a:ext cx="2606040" cy="1417320"/>
          </a:xfrm>
          <a:prstGeom prst="roundRect">
            <a:avLst>
              <a:gd name="adj" fmla="val 5161"/>
            </a:avLst>
          </a:prstGeom>
          <a:solidFill>
            <a:srgbClr val="F4F7F5"/>
          </a:solidFill>
          <a:ln w="9525">
            <a:solidFill>
              <a:srgbClr val="D5DED9"/>
            </a:solidFill>
            <a:prstDash val="solid"/>
          </a:ln>
        </p:spPr>
      </p:sp>
      <p:sp>
        <p:nvSpPr>
          <p:cNvPr id="31" name="Shape 29"/>
          <p:cNvSpPr/>
          <p:nvPr/>
        </p:nvSpPr>
        <p:spPr>
          <a:xfrm>
            <a:off x="6144768" y="2414016"/>
            <a:ext cx="1188720" cy="219456"/>
          </a:xfrm>
          <a:prstGeom prst="roundRect">
            <a:avLst>
              <a:gd name="adj" fmla="val 50000"/>
            </a:avLst>
          </a:prstGeom>
          <a:solidFill>
            <a:srgbClr val="B83B2E">
              <a:alpha val="15000"/>
            </a:srgbClr>
          </a:solidFill>
          <a:ln w="9525">
            <a:solidFill>
              <a:srgbClr val="B83B2E"/>
            </a:solidFill>
            <a:prstDash val="solid"/>
          </a:ln>
        </p:spPr>
      </p:sp>
      <p:sp>
        <p:nvSpPr>
          <p:cNvPr id="32" name="Text 30"/>
          <p:cNvSpPr txBox="1"/>
          <p:nvPr/>
        </p:nvSpPr>
        <p:spPr>
          <a:xfrm>
            <a:off x="6144768" y="2414016"/>
            <a:ext cx="1188720" cy="219456"/>
          </a:xfrm>
          <a:prstGeom prst="rect">
            <a:avLst/>
          </a:prstGeom>
          <a:noFill/>
          <a:ln/>
        </p:spPr>
        <p:txBody>
          <a:bodyPr wrap="square" lIns="0" tIns="0" rIns="0" bIns="0" rtlCol="0" anchor="ctr"/>
          <a:lstStyle/>
          <a:p>
            <a:pPr algn="ctr" indent="0" marL="0">
              <a:buNone/>
            </a:pPr>
            <a:r>
              <a:rPr lang="en-US" sz="900" b="1" dirty="0">
                <a:solidFill>
                  <a:srgbClr val="B83B2E"/>
                </a:solidFill>
                <a:latin typeface="Calibri" pitchFamily="34" charset="0"/>
                <a:ea typeface="Calibri" pitchFamily="34" charset="-122"/>
                <a:cs typeface="Calibri" pitchFamily="34" charset="-120"/>
              </a:rPr>
              <a:t>SPÉCULATIVE</a:t>
            </a:r>
            <a:endParaRPr lang="en-US" sz="900" dirty="0"/>
          </a:p>
        </p:txBody>
      </p:sp>
      <p:sp>
        <p:nvSpPr>
          <p:cNvPr id="33" name="Text 31"/>
          <p:cNvSpPr txBox="1"/>
          <p:nvPr/>
        </p:nvSpPr>
        <p:spPr>
          <a:xfrm>
            <a:off x="6144768" y="2724912"/>
            <a:ext cx="2304288" cy="9144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Système hypothétique dépassant largement les meilleurs humains dans presque tous les domaines.</a:t>
            </a:r>
            <a:endParaRPr lang="en-US" sz="1050" dirty="0"/>
          </a:p>
        </p:txBody>
      </p:sp>
      <p:sp>
        <p:nvSpPr>
          <p:cNvPr id="34" name="Shape 32"/>
          <p:cNvSpPr/>
          <p:nvPr/>
        </p:nvSpPr>
        <p:spPr>
          <a:xfrm rot="10800000">
            <a:off x="2487168" y="1517904"/>
            <a:ext cx="182880" cy="137160"/>
          </a:xfrm>
          <a:prstGeom prst="triangle">
            <a:avLst/>
          </a:prstGeom>
          <a:solidFill>
            <a:srgbClr val="F5C242"/>
          </a:solidFill>
          <a:ln/>
        </p:spPr>
      </p:sp>
      <p:sp>
        <p:nvSpPr>
          <p:cNvPr id="35" name="Text 33"/>
          <p:cNvSpPr txBox="1"/>
          <p:nvPr/>
        </p:nvSpPr>
        <p:spPr>
          <a:xfrm>
            <a:off x="2743200" y="1371600"/>
            <a:ext cx="4754880" cy="274320"/>
          </a:xfrm>
          <a:prstGeom prst="rect">
            <a:avLst/>
          </a:prstGeom>
          <a:noFill/>
          <a:ln/>
        </p:spPr>
        <p:txBody>
          <a:bodyPr wrap="square" lIns="0" tIns="0" rIns="0" bIns="0" rtlCol="0" anchor="ctr"/>
          <a:lstStyle/>
          <a:p>
            <a:pPr indent="0" marL="0">
              <a:buNone/>
            </a:pPr>
            <a:r>
              <a:rPr lang="en-US" sz="1000" b="1" i="1" dirty="0">
                <a:solidFill>
                  <a:srgbClr val="D49A00"/>
                </a:solidFill>
                <a:latin typeface="Calibri" pitchFamily="34" charset="0"/>
                <a:ea typeface="Calibri" pitchFamily="34" charset="-122"/>
                <a:cs typeface="Calibri" pitchFamily="34" charset="-120"/>
              </a:rPr>
              <a:t>Aujourd'hui : systèmes polyvalents mais « à frontière dentelée »</a:t>
            </a:r>
            <a:endParaRPr lang="en-US" sz="1000" dirty="0"/>
          </a:p>
        </p:txBody>
      </p:sp>
      <p:sp>
        <p:nvSpPr>
          <p:cNvPr id="36" name="Shape 34"/>
          <p:cNvSpPr/>
          <p:nvPr/>
        </p:nvSpPr>
        <p:spPr>
          <a:xfrm>
            <a:off x="457200" y="3822192"/>
            <a:ext cx="8229600" cy="713232"/>
          </a:xfrm>
          <a:prstGeom prst="roundRect">
            <a:avLst>
              <a:gd name="adj" fmla="val 10256"/>
            </a:avLst>
          </a:prstGeom>
          <a:solidFill>
            <a:srgbClr val="FBF3DE"/>
          </a:solidFill>
          <a:ln w="15875">
            <a:solidFill>
              <a:srgbClr val="D49A00"/>
            </a:solidFill>
            <a:prstDash val="solid"/>
          </a:ln>
        </p:spPr>
      </p:sp>
      <p:sp>
        <p:nvSpPr>
          <p:cNvPr id="37" name="Shape 35"/>
          <p:cNvSpPr/>
          <p:nvPr/>
        </p:nvSpPr>
        <p:spPr>
          <a:xfrm>
            <a:off x="621792" y="3931920"/>
            <a:ext cx="475488" cy="475488"/>
          </a:xfrm>
          <a:prstGeom prst="ellipse">
            <a:avLst/>
          </a:prstGeom>
          <a:solidFill>
            <a:srgbClr val="D49A00">
              <a:alpha val="22000"/>
            </a:srgbClr>
          </a:solidFill>
          <a:ln/>
        </p:spPr>
      </p:sp>
      <p:pic>
        <p:nvPicPr>
          <p:cNvPr id="38" name="Image 0" descr="preencoded.png">    </p:cNvPr>
          <p:cNvPicPr>
            <a:picLocks noChangeAspect="1"/>
          </p:cNvPicPr>
          <p:nvPr/>
        </p:nvPicPr>
        <p:blipFill>
          <a:blip r:embed="rId1"/>
          <a:stretch>
            <a:fillRect/>
          </a:stretch>
        </p:blipFill>
        <p:spPr>
          <a:xfrm>
            <a:off x="735909" y="4046037"/>
            <a:ext cx="247254" cy="247254"/>
          </a:xfrm>
          <a:prstGeom prst="rect">
            <a:avLst/>
          </a:prstGeom>
        </p:spPr>
      </p:pic>
      <p:sp>
        <p:nvSpPr>
          <p:cNvPr id="39" name="Text 36"/>
          <p:cNvSpPr txBox="1"/>
          <p:nvPr/>
        </p:nvSpPr>
        <p:spPr>
          <a:xfrm>
            <a:off x="1234440" y="3858768"/>
            <a:ext cx="7315200" cy="640080"/>
          </a:xfrm>
          <a:prstGeom prst="rect">
            <a:avLst/>
          </a:prstGeom>
          <a:noFill/>
          <a:ln/>
        </p:spPr>
        <p:txBody>
          <a:bodyPr wrap="square" lIns="0" tIns="0" rIns="0" bIns="0" rtlCol="0" anchor="ctr"/>
          <a:lstStyle/>
          <a:p>
            <a:pPr indent="0" marL="0">
              <a:buNone/>
            </a:pPr>
            <a:r>
              <a:rPr lang="en-US" sz="1150" b="1" dirty="0">
                <a:solidFill>
                  <a:srgbClr val="D49A00"/>
                </a:solidFill>
                <a:latin typeface="Calibri" pitchFamily="34" charset="0"/>
                <a:ea typeface="Calibri" pitchFamily="34" charset="-122"/>
                <a:cs typeface="Calibri" pitchFamily="34" charset="-120"/>
              </a:rPr>
              <a:t>Discipline de vocabulaire : </a:t>
            </a:r>
            <a:pPr indent="0" marL="0">
              <a:buNone/>
            </a:pPr>
            <a:r>
              <a:rPr lang="en-US" sz="1150" dirty="0">
                <a:solidFill>
                  <a:srgbClr val="231F20"/>
                </a:solidFill>
                <a:latin typeface="Calibri" pitchFamily="34" charset="0"/>
                <a:ea typeface="Calibri" pitchFamily="34" charset="-122"/>
                <a:cs typeface="Calibri" pitchFamily="34" charset="-120"/>
              </a:rPr>
              <a:t>« IA générative » n'est pas « AGI ». Si une offre promet « de l'AGI » ou « presque de l'AGI », demandez : quelle capacité mesurée, sur quelle tâche, aujourd'hui ?</a:t>
            </a:r>
            <a:endParaRPr lang="en-US" sz="1150" dirty="0"/>
          </a:p>
        </p:txBody>
      </p:sp>
      <p:sp>
        <p:nvSpPr>
          <p:cNvPr id="40" name="Text 37"/>
          <p:cNvSpPr txBox="1"/>
          <p:nvPr/>
        </p:nvSpPr>
        <p:spPr>
          <a:xfrm>
            <a:off x="457200" y="4590288"/>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Morris et al. (2024), « Levels of AGI », ICML · Blili-Hamelin et al. (2025), « Stop treating AGI as the north-star goal », arXiv:2502.03689.</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02  ·  L'ARBRE : DE L'IA À L'AGI</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Trois définitions de l'AGI, trois lignes d'arrivée différentes</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00704A"/>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6" name="Shape 14"/>
          <p:cNvSpPr/>
          <p:nvPr/>
        </p:nvSpPr>
        <p:spPr>
          <a:xfrm>
            <a:off x="457200" y="1371600"/>
            <a:ext cx="2606040" cy="2011680"/>
          </a:xfrm>
          <a:prstGeom prst="roundRect">
            <a:avLst>
              <a:gd name="adj" fmla="val 3636"/>
            </a:avLst>
          </a:prstGeom>
          <a:solidFill>
            <a:srgbClr val="F4F7F5"/>
          </a:solidFill>
          <a:ln w="9525">
            <a:solidFill>
              <a:srgbClr val="D5DED9"/>
            </a:solidFill>
            <a:prstDash val="solid"/>
          </a:ln>
        </p:spPr>
      </p:sp>
      <p:sp>
        <p:nvSpPr>
          <p:cNvPr id="17" name="Shape 15"/>
          <p:cNvSpPr/>
          <p:nvPr/>
        </p:nvSpPr>
        <p:spPr>
          <a:xfrm>
            <a:off x="658368" y="1508760"/>
            <a:ext cx="457200" cy="457200"/>
          </a:xfrm>
          <a:prstGeom prst="ellipse">
            <a:avLst/>
          </a:prstGeom>
          <a:solidFill>
            <a:srgbClr val="00A86A">
              <a:alpha val="22000"/>
            </a:srgbClr>
          </a:solidFill>
          <a:ln/>
        </p:spPr>
      </p:sp>
      <p:pic>
        <p:nvPicPr>
          <p:cNvPr id="18" name="Image 0" descr="preencoded.png">    </p:cNvPr>
          <p:cNvPicPr>
            <a:picLocks noChangeAspect="1"/>
          </p:cNvPicPr>
          <p:nvPr/>
        </p:nvPicPr>
        <p:blipFill>
          <a:blip r:embed="rId1"/>
          <a:stretch>
            <a:fillRect/>
          </a:stretch>
        </p:blipFill>
        <p:spPr>
          <a:xfrm>
            <a:off x="768096" y="1618488"/>
            <a:ext cx="237744" cy="237744"/>
          </a:xfrm>
          <a:prstGeom prst="rect">
            <a:avLst/>
          </a:prstGeom>
        </p:spPr>
      </p:pic>
      <p:sp>
        <p:nvSpPr>
          <p:cNvPr id="19" name="Text 16"/>
          <p:cNvSpPr txBox="1"/>
          <p:nvPr/>
        </p:nvSpPr>
        <p:spPr>
          <a:xfrm>
            <a:off x="1234440" y="1508760"/>
            <a:ext cx="1737360" cy="457200"/>
          </a:xfrm>
          <a:prstGeom prst="rect">
            <a:avLst/>
          </a:prstGeom>
          <a:noFill/>
          <a:ln/>
        </p:spPr>
        <p:txBody>
          <a:bodyPr wrap="square" lIns="0" tIns="0" rIns="0" bIns="0" rtlCol="0" anchor="ctr"/>
          <a:lstStyle/>
          <a:p>
            <a:pPr indent="0" marL="0">
              <a:buNone/>
            </a:pPr>
            <a:r>
              <a:rPr lang="en-US" sz="1350" b="1" dirty="0">
                <a:solidFill>
                  <a:srgbClr val="00A86A"/>
                </a:solidFill>
                <a:latin typeface="Calibri" pitchFamily="34" charset="0"/>
                <a:ea typeface="Calibri" pitchFamily="34" charset="-122"/>
                <a:cs typeface="Calibri" pitchFamily="34" charset="-120"/>
              </a:rPr>
              <a:t>Par la largeur</a:t>
            </a:r>
            <a:endParaRPr lang="en-US" sz="1350" dirty="0"/>
          </a:p>
        </p:txBody>
      </p:sp>
      <p:sp>
        <p:nvSpPr>
          <p:cNvPr id="20" name="Text 17"/>
          <p:cNvSpPr txBox="1"/>
          <p:nvPr/>
        </p:nvSpPr>
        <p:spPr>
          <a:xfrm>
            <a:off x="658368" y="2084832"/>
            <a:ext cx="2240280" cy="86868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Égaler au moins un adulte compétent sur un large éventail de tâches cognitives, avec des niveaux gradués.</a:t>
            </a:r>
            <a:endParaRPr lang="en-US" sz="1100" dirty="0"/>
          </a:p>
        </p:txBody>
      </p:sp>
      <p:sp>
        <p:nvSpPr>
          <p:cNvPr id="21" name="Text 18"/>
          <p:cNvSpPr txBox="1"/>
          <p:nvPr/>
        </p:nvSpPr>
        <p:spPr>
          <a:xfrm>
            <a:off x="658368" y="3017520"/>
            <a:ext cx="2240280" cy="22860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Morris et al. (2024), Google DeepMind</a:t>
            </a:r>
            <a:endParaRPr lang="en-US" sz="900" dirty="0"/>
          </a:p>
        </p:txBody>
      </p:sp>
      <p:sp>
        <p:nvSpPr>
          <p:cNvPr id="22" name="Shape 19"/>
          <p:cNvSpPr/>
          <p:nvPr/>
        </p:nvSpPr>
        <p:spPr>
          <a:xfrm>
            <a:off x="3268980" y="1371600"/>
            <a:ext cx="2606040" cy="2011680"/>
          </a:xfrm>
          <a:prstGeom prst="roundRect">
            <a:avLst>
              <a:gd name="adj" fmla="val 3636"/>
            </a:avLst>
          </a:prstGeom>
          <a:solidFill>
            <a:srgbClr val="F4F7F5"/>
          </a:solidFill>
          <a:ln w="9525">
            <a:solidFill>
              <a:srgbClr val="D5DED9"/>
            </a:solidFill>
            <a:prstDash val="solid"/>
          </a:ln>
        </p:spPr>
      </p:sp>
      <p:sp>
        <p:nvSpPr>
          <p:cNvPr id="23" name="Shape 20"/>
          <p:cNvSpPr/>
          <p:nvPr/>
        </p:nvSpPr>
        <p:spPr>
          <a:xfrm>
            <a:off x="3470148" y="1508760"/>
            <a:ext cx="457200" cy="457200"/>
          </a:xfrm>
          <a:prstGeom prst="ellipse">
            <a:avLst/>
          </a:prstGeom>
          <a:solidFill>
            <a:srgbClr val="0E7C86">
              <a:alpha val="22000"/>
            </a:srgbClr>
          </a:solidFill>
          <a:ln/>
        </p:spPr>
      </p:sp>
      <p:pic>
        <p:nvPicPr>
          <p:cNvPr id="24" name="Image 1" descr="preencoded.png">    </p:cNvPr>
          <p:cNvPicPr>
            <a:picLocks noChangeAspect="1"/>
          </p:cNvPicPr>
          <p:nvPr/>
        </p:nvPicPr>
        <p:blipFill>
          <a:blip r:embed="rId2"/>
          <a:stretch>
            <a:fillRect/>
          </a:stretch>
        </p:blipFill>
        <p:spPr>
          <a:xfrm>
            <a:off x="3579876" y="1618488"/>
            <a:ext cx="237744" cy="237744"/>
          </a:xfrm>
          <a:prstGeom prst="rect">
            <a:avLst/>
          </a:prstGeom>
        </p:spPr>
      </p:pic>
      <p:sp>
        <p:nvSpPr>
          <p:cNvPr id="25" name="Text 21"/>
          <p:cNvSpPr txBox="1"/>
          <p:nvPr/>
        </p:nvSpPr>
        <p:spPr>
          <a:xfrm>
            <a:off x="4046220" y="1508760"/>
            <a:ext cx="1737360" cy="457200"/>
          </a:xfrm>
          <a:prstGeom prst="rect">
            <a:avLst/>
          </a:prstGeom>
          <a:noFill/>
          <a:ln/>
        </p:spPr>
        <p:txBody>
          <a:bodyPr wrap="square" lIns="0" tIns="0" rIns="0" bIns="0" rtlCol="0" anchor="ctr"/>
          <a:lstStyle/>
          <a:p>
            <a:pPr indent="0" marL="0">
              <a:buNone/>
            </a:pPr>
            <a:r>
              <a:rPr lang="en-US" sz="1350" b="1" dirty="0">
                <a:solidFill>
                  <a:srgbClr val="0E7C86"/>
                </a:solidFill>
                <a:latin typeface="Calibri" pitchFamily="34" charset="0"/>
                <a:ea typeface="Calibri" pitchFamily="34" charset="-122"/>
                <a:cs typeface="Calibri" pitchFamily="34" charset="-120"/>
              </a:rPr>
              <a:t>Par la valeur économique</a:t>
            </a:r>
            <a:endParaRPr lang="en-US" sz="1350" dirty="0"/>
          </a:p>
        </p:txBody>
      </p:sp>
      <p:sp>
        <p:nvSpPr>
          <p:cNvPr id="26" name="Text 22"/>
          <p:cNvSpPr txBox="1"/>
          <p:nvPr/>
        </p:nvSpPr>
        <p:spPr>
          <a:xfrm>
            <a:off x="3470148" y="2084832"/>
            <a:ext cx="2240280" cy="86868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Des systèmes très autonomes qui surpassent les humains dans la plupart des travaux économiquement utiles.</a:t>
            </a:r>
            <a:endParaRPr lang="en-US" sz="1100" dirty="0"/>
          </a:p>
        </p:txBody>
      </p:sp>
      <p:sp>
        <p:nvSpPr>
          <p:cNvPr id="27" name="Text 23"/>
          <p:cNvSpPr txBox="1"/>
          <p:nvPr/>
        </p:nvSpPr>
        <p:spPr>
          <a:xfrm>
            <a:off x="3470148" y="3017520"/>
            <a:ext cx="2240280" cy="22860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Charte d'OpenAI (2018)</a:t>
            </a:r>
            <a:endParaRPr lang="en-US" sz="900" dirty="0"/>
          </a:p>
        </p:txBody>
      </p:sp>
      <p:sp>
        <p:nvSpPr>
          <p:cNvPr id="28" name="Shape 24"/>
          <p:cNvSpPr/>
          <p:nvPr/>
        </p:nvSpPr>
        <p:spPr>
          <a:xfrm>
            <a:off x="6080760" y="1371600"/>
            <a:ext cx="2606040" cy="2011680"/>
          </a:xfrm>
          <a:prstGeom prst="roundRect">
            <a:avLst>
              <a:gd name="adj" fmla="val 3636"/>
            </a:avLst>
          </a:prstGeom>
          <a:solidFill>
            <a:srgbClr val="F4F7F5"/>
          </a:solidFill>
          <a:ln w="9525">
            <a:solidFill>
              <a:srgbClr val="D5DED9"/>
            </a:solidFill>
            <a:prstDash val="solid"/>
          </a:ln>
        </p:spPr>
      </p:sp>
      <p:sp>
        <p:nvSpPr>
          <p:cNvPr id="29" name="Shape 25"/>
          <p:cNvSpPr/>
          <p:nvPr/>
        </p:nvSpPr>
        <p:spPr>
          <a:xfrm>
            <a:off x="6281928" y="1508760"/>
            <a:ext cx="457200" cy="457200"/>
          </a:xfrm>
          <a:prstGeom prst="ellipse">
            <a:avLst/>
          </a:prstGeom>
          <a:solidFill>
            <a:srgbClr val="C4621D">
              <a:alpha val="22000"/>
            </a:srgbClr>
          </a:solidFill>
          <a:ln/>
        </p:spPr>
      </p:sp>
      <p:pic>
        <p:nvPicPr>
          <p:cNvPr id="30" name="Image 2" descr="preencoded.png">    </p:cNvPr>
          <p:cNvPicPr>
            <a:picLocks noChangeAspect="1"/>
          </p:cNvPicPr>
          <p:nvPr/>
        </p:nvPicPr>
        <p:blipFill>
          <a:blip r:embed="rId3"/>
          <a:stretch>
            <a:fillRect/>
          </a:stretch>
        </p:blipFill>
        <p:spPr>
          <a:xfrm>
            <a:off x="6391656" y="1618488"/>
            <a:ext cx="237744" cy="237744"/>
          </a:xfrm>
          <a:prstGeom prst="rect">
            <a:avLst/>
          </a:prstGeom>
        </p:spPr>
      </p:pic>
      <p:sp>
        <p:nvSpPr>
          <p:cNvPr id="31" name="Text 26"/>
          <p:cNvSpPr txBox="1"/>
          <p:nvPr/>
        </p:nvSpPr>
        <p:spPr>
          <a:xfrm>
            <a:off x="6858000" y="1508760"/>
            <a:ext cx="1737360" cy="457200"/>
          </a:xfrm>
          <a:prstGeom prst="rect">
            <a:avLst/>
          </a:prstGeom>
          <a:noFill/>
          <a:ln/>
        </p:spPr>
        <p:txBody>
          <a:bodyPr wrap="square" lIns="0" tIns="0" rIns="0" bIns="0" rtlCol="0" anchor="ctr"/>
          <a:lstStyle/>
          <a:p>
            <a:pPr indent="0" marL="0">
              <a:buNone/>
            </a:pPr>
            <a:r>
              <a:rPr lang="en-US" sz="1350" b="1" dirty="0">
                <a:solidFill>
                  <a:srgbClr val="C4621D"/>
                </a:solidFill>
                <a:latin typeface="Calibri" pitchFamily="34" charset="0"/>
                <a:ea typeface="Calibri" pitchFamily="34" charset="-122"/>
                <a:cs typeface="Calibri" pitchFamily="34" charset="-120"/>
              </a:rPr>
              <a:t>Par l'apprentissage</a:t>
            </a:r>
            <a:endParaRPr lang="en-US" sz="1350" dirty="0"/>
          </a:p>
        </p:txBody>
      </p:sp>
      <p:sp>
        <p:nvSpPr>
          <p:cNvPr id="32" name="Text 27"/>
          <p:cNvSpPr txBox="1"/>
          <p:nvPr/>
        </p:nvSpPr>
        <p:spPr>
          <a:xfrm>
            <a:off x="6281928" y="2084832"/>
            <a:ext cx="2240280" cy="86868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Acquérir une compétence réellement nouvelle aussi efficacement qu'un humain, à partir de peu d'exemples.</a:t>
            </a:r>
            <a:endParaRPr lang="en-US" sz="1100" dirty="0"/>
          </a:p>
        </p:txBody>
      </p:sp>
      <p:sp>
        <p:nvSpPr>
          <p:cNvPr id="33" name="Text 28"/>
          <p:cNvSpPr txBox="1"/>
          <p:nvPr/>
        </p:nvSpPr>
        <p:spPr>
          <a:xfrm>
            <a:off x="6281928" y="3017520"/>
            <a:ext cx="2240280" cy="22860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Chollet (2019), test ARC</a:t>
            </a:r>
            <a:endParaRPr lang="en-US" sz="900" dirty="0"/>
          </a:p>
        </p:txBody>
      </p:sp>
      <p:sp>
        <p:nvSpPr>
          <p:cNvPr id="34" name="Shape 29"/>
          <p:cNvSpPr/>
          <p:nvPr/>
        </p:nvSpPr>
        <p:spPr>
          <a:xfrm>
            <a:off x="457200" y="3547872"/>
            <a:ext cx="3977640" cy="987552"/>
          </a:xfrm>
          <a:prstGeom prst="roundRect">
            <a:avLst>
              <a:gd name="adj" fmla="val 7407"/>
            </a:avLst>
          </a:prstGeom>
          <a:solidFill>
            <a:srgbClr val="F4F7F5"/>
          </a:solidFill>
          <a:ln w="9525">
            <a:solidFill>
              <a:srgbClr val="D5DED9"/>
            </a:solidFill>
            <a:prstDash val="solid"/>
          </a:ln>
        </p:spPr>
      </p:sp>
      <p:sp>
        <p:nvSpPr>
          <p:cNvPr id="35" name="Text 30"/>
          <p:cNvSpPr txBox="1"/>
          <p:nvPr/>
        </p:nvSpPr>
        <p:spPr>
          <a:xfrm>
            <a:off x="640080" y="3611880"/>
            <a:ext cx="1371600" cy="566928"/>
          </a:xfrm>
          <a:prstGeom prst="rect">
            <a:avLst/>
          </a:prstGeom>
          <a:noFill/>
          <a:ln/>
        </p:spPr>
        <p:txBody>
          <a:bodyPr wrap="square" lIns="0" tIns="0" rIns="0" bIns="0" rtlCol="0" anchor="ctr"/>
          <a:lstStyle/>
          <a:p>
            <a:pPr indent="0" marL="0">
              <a:buNone/>
            </a:pPr>
            <a:r>
              <a:rPr lang="en-US" sz="3600" b="1" dirty="0">
                <a:solidFill>
                  <a:srgbClr val="D49A00"/>
                </a:solidFill>
                <a:latin typeface="Calibri" pitchFamily="34" charset="0"/>
                <a:ea typeface="Calibri" pitchFamily="34" charset="-122"/>
                <a:cs typeface="Calibri" pitchFamily="34" charset="-120"/>
              </a:rPr>
              <a:t>2047</a:t>
            </a:r>
            <a:endParaRPr lang="en-US" sz="3600" dirty="0"/>
          </a:p>
        </p:txBody>
      </p:sp>
      <p:sp>
        <p:nvSpPr>
          <p:cNvPr id="36" name="Shape 31"/>
          <p:cNvSpPr/>
          <p:nvPr/>
        </p:nvSpPr>
        <p:spPr>
          <a:xfrm>
            <a:off x="658368" y="4206240"/>
            <a:ext cx="960120" cy="201168"/>
          </a:xfrm>
          <a:prstGeom prst="roundRect">
            <a:avLst>
              <a:gd name="adj" fmla="val 54545"/>
            </a:avLst>
          </a:prstGeom>
          <a:solidFill>
            <a:srgbClr val="D49A00">
              <a:alpha val="15000"/>
            </a:srgbClr>
          </a:solidFill>
          <a:ln w="9525">
            <a:solidFill>
              <a:srgbClr val="D49A00"/>
            </a:solidFill>
            <a:prstDash val="solid"/>
          </a:ln>
        </p:spPr>
      </p:sp>
      <p:sp>
        <p:nvSpPr>
          <p:cNvPr id="37" name="Text 32"/>
          <p:cNvSpPr txBox="1"/>
          <p:nvPr/>
        </p:nvSpPr>
        <p:spPr>
          <a:xfrm>
            <a:off x="658368" y="4206240"/>
            <a:ext cx="960120" cy="201168"/>
          </a:xfrm>
          <a:prstGeom prst="rect">
            <a:avLst/>
          </a:prstGeom>
          <a:noFill/>
          <a:ln/>
        </p:spPr>
        <p:txBody>
          <a:bodyPr wrap="square" lIns="0" tIns="0" rIns="0" bIns="0" rtlCol="0" anchor="ctr"/>
          <a:lstStyle/>
          <a:p>
            <a:pPr algn="ctr" indent="0" marL="0">
              <a:buNone/>
            </a:pPr>
            <a:r>
              <a:rPr lang="en-US" sz="850" b="1" dirty="0">
                <a:solidFill>
                  <a:srgbClr val="D49A00"/>
                </a:solidFill>
                <a:latin typeface="Calibri" pitchFamily="34" charset="0"/>
                <a:ea typeface="Calibri" pitchFamily="34" charset="-122"/>
                <a:cs typeface="Calibri" pitchFamily="34" charset="-120"/>
              </a:rPr>
              <a:t>PRÉVISION</a:t>
            </a:r>
            <a:endParaRPr lang="en-US" sz="850" dirty="0"/>
          </a:p>
        </p:txBody>
      </p:sp>
      <p:sp>
        <p:nvSpPr>
          <p:cNvPr id="38" name="Text 33"/>
          <p:cNvSpPr txBox="1"/>
          <p:nvPr/>
        </p:nvSpPr>
        <p:spPr>
          <a:xfrm>
            <a:off x="2011680" y="3639312"/>
            <a:ext cx="2286000" cy="8229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année médiane à laquelle 2 778 chercheurs en IA estiment à 50 % la probabilité de machines « de niveau humain » sur toutes les tâches.</a:t>
            </a:r>
            <a:endParaRPr lang="en-US" sz="950" dirty="0"/>
          </a:p>
        </p:txBody>
      </p:sp>
      <p:sp>
        <p:nvSpPr>
          <p:cNvPr id="39" name="Shape 34"/>
          <p:cNvSpPr/>
          <p:nvPr/>
        </p:nvSpPr>
        <p:spPr>
          <a:xfrm>
            <a:off x="4709160" y="3547872"/>
            <a:ext cx="3977640" cy="987552"/>
          </a:xfrm>
          <a:prstGeom prst="roundRect">
            <a:avLst>
              <a:gd name="adj" fmla="val 7407"/>
            </a:avLst>
          </a:prstGeom>
          <a:solidFill>
            <a:srgbClr val="E8F5EF"/>
          </a:solidFill>
          <a:ln w="15875">
            <a:solidFill>
              <a:srgbClr val="00A86A"/>
            </a:solidFill>
            <a:prstDash val="solid"/>
          </a:ln>
        </p:spPr>
      </p:sp>
      <p:sp>
        <p:nvSpPr>
          <p:cNvPr id="40" name="Shape 35"/>
          <p:cNvSpPr/>
          <p:nvPr/>
        </p:nvSpPr>
        <p:spPr>
          <a:xfrm>
            <a:off x="4864608" y="3749040"/>
            <a:ext cx="502920" cy="502920"/>
          </a:xfrm>
          <a:prstGeom prst="ellipse">
            <a:avLst/>
          </a:prstGeom>
          <a:solidFill>
            <a:srgbClr val="00A86A">
              <a:alpha val="22000"/>
            </a:srgbClr>
          </a:solidFill>
          <a:ln/>
        </p:spPr>
      </p:sp>
      <p:pic>
        <p:nvPicPr>
          <p:cNvPr id="41" name="Image 3" descr="preencoded.png">    </p:cNvPr>
          <p:cNvPicPr>
            <a:picLocks noChangeAspect="1"/>
          </p:cNvPicPr>
          <p:nvPr/>
        </p:nvPicPr>
        <p:blipFill>
          <a:blip r:embed="rId4"/>
          <a:stretch>
            <a:fillRect/>
          </a:stretch>
        </p:blipFill>
        <p:spPr>
          <a:xfrm>
            <a:off x="4985309" y="3869741"/>
            <a:ext cx="261518" cy="261518"/>
          </a:xfrm>
          <a:prstGeom prst="rect">
            <a:avLst/>
          </a:prstGeom>
        </p:spPr>
      </p:pic>
      <p:sp>
        <p:nvSpPr>
          <p:cNvPr id="42" name="Text 36"/>
          <p:cNvSpPr txBox="1"/>
          <p:nvPr/>
        </p:nvSpPr>
        <p:spPr>
          <a:xfrm>
            <a:off x="5486400" y="3611880"/>
            <a:ext cx="3063240" cy="86868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Pour un institut de statistique</a:t>
            </a:r>
            <a:endParaRPr lang="en-US" sz="1050" dirty="0"/>
          </a:p>
          <a:p>
            <a:pPr indent="0" marL="0">
              <a:buNone/>
            </a:pPr>
            <a:r>
              <a:rPr lang="en-US" sz="1050" dirty="0">
                <a:solidFill>
                  <a:srgbClr val="231F20"/>
                </a:solidFill>
                <a:latin typeface="Calibri" pitchFamily="34" charset="0"/>
                <a:ea typeface="Calibri" pitchFamily="34" charset="-122"/>
                <a:cs typeface="Calibri" pitchFamily="34" charset="-120"/>
              </a:rPr>
              <a:t>Planifiez sur des capacités mesurées aujourd'hui. L'AGI n'est ni une couche à acheter, ni un système à configurer ou auditer.</a:t>
            </a:r>
            <a:endParaRPr lang="en-US" sz="1050" dirty="0"/>
          </a:p>
        </p:txBody>
      </p:sp>
      <p:sp>
        <p:nvSpPr>
          <p:cNvPr id="43" name="Text 37"/>
          <p:cNvSpPr txBox="1"/>
          <p:nvPr/>
        </p:nvSpPr>
        <p:spPr>
          <a:xfrm>
            <a:off x="457200" y="4590288"/>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Grace et al. (2024), « Thousands of AI Authors on the Future of AI », arXiv:2401.02843 — les estimations individuelles divergent fortement.</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03</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Le modèle : ce qu'est un GML</a:t>
            </a:r>
            <a:endParaRPr lang="en-US" sz="32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Si un modèle écrit bien, sait-il vraiment des choses ?</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5C242"/>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r>
          <p:cNvPicPr>
            <a:picLocks noChangeAspect="1"/>
          </p:cNvPicPr>
          <p:nvPr/>
        </p:nvPicPr>
        <p:blipFill>
          <a:blip r:embed="rId2"/>
          <a:stretch>
            <a:fillRect/>
          </a:stretch>
        </p:blipFill>
        <p:spPr>
          <a:xfrm>
            <a:off x="6675120" y="2286000"/>
            <a:ext cx="548640" cy="548640"/>
          </a:xfrm>
          <a:prstGeom prst="rect">
            <a:avLst/>
          </a:prstGeom>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03  ·  LE MODÈLE : CE QU'EST UN GML</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Qu'est-ce qu'un modèle ? Une fonction à paramètres estimés</a:t>
            </a:r>
            <a:endParaRPr lang="en-US" sz="22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6" name="Shape 14"/>
          <p:cNvSpPr/>
          <p:nvPr/>
        </p:nvSpPr>
        <p:spPr>
          <a:xfrm>
            <a:off x="457200" y="1371600"/>
            <a:ext cx="2011680" cy="658368"/>
          </a:xfrm>
          <a:prstGeom prst="roundRect">
            <a:avLst>
              <a:gd name="adj" fmla="val 11111"/>
            </a:avLst>
          </a:prstGeom>
          <a:solidFill>
            <a:srgbClr val="E8F5EF"/>
          </a:solidFill>
          <a:ln w="15875">
            <a:solidFill>
              <a:srgbClr val="0E7C86"/>
            </a:solidFill>
            <a:prstDash val="solid"/>
          </a:ln>
        </p:spPr>
      </p:sp>
      <p:sp>
        <p:nvSpPr>
          <p:cNvPr id="17" name="Text 15"/>
          <p:cNvSpPr txBox="1"/>
          <p:nvPr/>
        </p:nvSpPr>
        <p:spPr>
          <a:xfrm>
            <a:off x="530352" y="1371600"/>
            <a:ext cx="1865376" cy="658368"/>
          </a:xfrm>
          <a:prstGeom prst="rect">
            <a:avLst/>
          </a:prstGeom>
          <a:noFill/>
          <a:ln/>
        </p:spPr>
        <p:txBody>
          <a:bodyPr wrap="square" lIns="0" tIns="0" rIns="0" bIns="0" rtlCol="0" anchor="ctr"/>
          <a:lstStyle/>
          <a:p>
            <a:pPr algn="ctr" indent="0" marL="0">
              <a:buNone/>
            </a:pPr>
            <a:r>
              <a:rPr lang="en-US" sz="1300" b="1" dirty="0">
                <a:solidFill>
                  <a:srgbClr val="231F20"/>
                </a:solidFill>
                <a:latin typeface="Calibri" pitchFamily="34" charset="0"/>
                <a:ea typeface="Calibri" pitchFamily="34" charset="-122"/>
                <a:cs typeface="Calibri" pitchFamily="34" charset="-120"/>
              </a:rPr>
              <a:t>Entrée</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des variables, un texte, une image</a:t>
            </a:r>
            <a:endParaRPr lang="en-US" sz="1100" dirty="0"/>
          </a:p>
        </p:txBody>
      </p:sp>
      <p:sp>
        <p:nvSpPr>
          <p:cNvPr id="18" name="Shape 16"/>
          <p:cNvSpPr/>
          <p:nvPr/>
        </p:nvSpPr>
        <p:spPr>
          <a:xfrm>
            <a:off x="2514600" y="1700784"/>
            <a:ext cx="365760" cy="91"/>
          </a:xfrm>
          <a:prstGeom prst="line">
            <a:avLst/>
          </a:prstGeom>
          <a:noFill/>
          <a:ln w="15875">
            <a:solidFill>
              <a:srgbClr val="5E6964"/>
            </a:solidFill>
            <a:prstDash val="solid"/>
            <a:tailEnd type="triangle"/>
          </a:ln>
        </p:spPr>
      </p:sp>
      <p:sp>
        <p:nvSpPr>
          <p:cNvPr id="19" name="Shape 17"/>
          <p:cNvSpPr/>
          <p:nvPr/>
        </p:nvSpPr>
        <p:spPr>
          <a:xfrm>
            <a:off x="2926080" y="1371600"/>
            <a:ext cx="3291840" cy="658368"/>
          </a:xfrm>
          <a:prstGeom prst="roundRect">
            <a:avLst>
              <a:gd name="adj" fmla="val 11111"/>
            </a:avLst>
          </a:prstGeom>
          <a:solidFill>
            <a:srgbClr val="00553A"/>
          </a:solidFill>
          <a:ln w="15875">
            <a:solidFill>
              <a:srgbClr val="00553A"/>
            </a:solidFill>
            <a:prstDash val="solid"/>
          </a:ln>
        </p:spPr>
      </p:sp>
      <p:sp>
        <p:nvSpPr>
          <p:cNvPr id="20" name="Text 18"/>
          <p:cNvSpPr txBox="1"/>
          <p:nvPr/>
        </p:nvSpPr>
        <p:spPr>
          <a:xfrm>
            <a:off x="2999232" y="1371600"/>
            <a:ext cx="3145536"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Modèle  f(x ; θ)</a:t>
            </a:r>
            <a:endParaRPr lang="en-US" sz="1100" dirty="0"/>
          </a:p>
          <a:p>
            <a:pPr algn="ctr" indent="0" marL="0">
              <a:buNone/>
            </a:pPr>
            <a:r>
              <a:rPr lang="en-US" sz="900" dirty="0">
                <a:solidFill>
                  <a:srgbClr val="E6F6EE"/>
                </a:solidFill>
                <a:latin typeface="Calibri" pitchFamily="34" charset="0"/>
                <a:ea typeface="Calibri" pitchFamily="34" charset="-122"/>
                <a:cs typeface="Calibri" pitchFamily="34" charset="-120"/>
              </a:rPr>
              <a:t>une règle de calcul + ses paramètres θ (les « poids »)</a:t>
            </a:r>
            <a:endParaRPr lang="en-US" sz="1100" dirty="0"/>
          </a:p>
        </p:txBody>
      </p:sp>
      <p:sp>
        <p:nvSpPr>
          <p:cNvPr id="21" name="Shape 19"/>
          <p:cNvSpPr/>
          <p:nvPr/>
        </p:nvSpPr>
        <p:spPr>
          <a:xfrm>
            <a:off x="6263640" y="1700784"/>
            <a:ext cx="365760" cy="91"/>
          </a:xfrm>
          <a:prstGeom prst="line">
            <a:avLst/>
          </a:prstGeom>
          <a:noFill/>
          <a:ln w="15875">
            <a:solidFill>
              <a:srgbClr val="5E6964"/>
            </a:solidFill>
            <a:prstDash val="solid"/>
            <a:tailEnd type="triangle"/>
          </a:ln>
        </p:spPr>
      </p:sp>
      <p:sp>
        <p:nvSpPr>
          <p:cNvPr id="22" name="Shape 20"/>
          <p:cNvSpPr/>
          <p:nvPr/>
        </p:nvSpPr>
        <p:spPr>
          <a:xfrm>
            <a:off x="6675120" y="1371600"/>
            <a:ext cx="2011680" cy="658368"/>
          </a:xfrm>
          <a:prstGeom prst="roundRect">
            <a:avLst>
              <a:gd name="adj" fmla="val 11111"/>
            </a:avLst>
          </a:prstGeom>
          <a:solidFill>
            <a:srgbClr val="E8F5EF"/>
          </a:solidFill>
          <a:ln w="15875">
            <a:solidFill>
              <a:srgbClr val="0E7C86"/>
            </a:solidFill>
            <a:prstDash val="solid"/>
          </a:ln>
        </p:spPr>
      </p:sp>
      <p:sp>
        <p:nvSpPr>
          <p:cNvPr id="23" name="Text 21"/>
          <p:cNvSpPr txBox="1"/>
          <p:nvPr/>
        </p:nvSpPr>
        <p:spPr>
          <a:xfrm>
            <a:off x="6748272" y="1371600"/>
            <a:ext cx="1865376" cy="658368"/>
          </a:xfrm>
          <a:prstGeom prst="rect">
            <a:avLst/>
          </a:prstGeom>
          <a:noFill/>
          <a:ln/>
        </p:spPr>
        <p:txBody>
          <a:bodyPr wrap="square" lIns="0" tIns="0" rIns="0" bIns="0" rtlCol="0" anchor="ctr"/>
          <a:lstStyle/>
          <a:p>
            <a:pPr algn="ctr" indent="0" marL="0">
              <a:buNone/>
            </a:pPr>
            <a:r>
              <a:rPr lang="en-US" sz="1300" b="1" dirty="0">
                <a:solidFill>
                  <a:srgbClr val="231F20"/>
                </a:solidFill>
                <a:latin typeface="Calibri" pitchFamily="34" charset="0"/>
                <a:ea typeface="Calibri" pitchFamily="34" charset="-122"/>
                <a:cs typeface="Calibri" pitchFamily="34" charset="-120"/>
              </a:rPr>
              <a:t>Sortie</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une estimation, une classe, un mot</a:t>
            </a:r>
            <a:endParaRPr lang="en-US" sz="1100" dirty="0"/>
          </a:p>
        </p:txBody>
      </p:sp>
      <p:sp>
        <p:nvSpPr>
          <p:cNvPr id="24" name="Shape 22"/>
          <p:cNvSpPr/>
          <p:nvPr/>
        </p:nvSpPr>
        <p:spPr>
          <a:xfrm>
            <a:off x="457200" y="2157984"/>
            <a:ext cx="4023360" cy="420624"/>
          </a:xfrm>
          <a:prstGeom prst="roundRect">
            <a:avLst>
              <a:gd name="adj" fmla="val 17391"/>
            </a:avLst>
          </a:prstGeom>
          <a:solidFill>
            <a:srgbClr val="FBF3DE"/>
          </a:solidFill>
          <a:ln w="15875">
            <a:solidFill>
              <a:srgbClr val="D49A00"/>
            </a:solidFill>
            <a:prstDash val="solid"/>
          </a:ln>
        </p:spPr>
      </p:sp>
      <p:sp>
        <p:nvSpPr>
          <p:cNvPr id="25" name="Text 23"/>
          <p:cNvSpPr txBox="1"/>
          <p:nvPr/>
        </p:nvSpPr>
        <p:spPr>
          <a:xfrm>
            <a:off x="594360" y="2157984"/>
            <a:ext cx="3794760" cy="420624"/>
          </a:xfrm>
          <a:prstGeom prst="rect">
            <a:avLst/>
          </a:prstGeom>
          <a:noFill/>
          <a:ln/>
        </p:spPr>
        <p:txBody>
          <a:bodyPr wrap="square" lIns="0" tIns="0" rIns="0" bIns="0" rtlCol="0" anchor="ctr"/>
          <a:lstStyle/>
          <a:p>
            <a:pPr indent="0" marL="0">
              <a:buNone/>
            </a:pPr>
            <a:r>
              <a:rPr lang="en-US" sz="1050" b="1" dirty="0">
                <a:solidFill>
                  <a:srgbClr val="D49A00"/>
                </a:solidFill>
                <a:latin typeface="Calibri" pitchFamily="34" charset="0"/>
                <a:ea typeface="Calibri" pitchFamily="34" charset="-122"/>
                <a:cs typeface="Calibri" pitchFamily="34" charset="-120"/>
              </a:rPr>
              <a:t>Entraînement : </a:t>
            </a:r>
            <a:pPr indent="0" marL="0">
              <a:buNone/>
            </a:pPr>
            <a:r>
              <a:rPr lang="en-US" sz="1050" dirty="0">
                <a:solidFill>
                  <a:srgbClr val="231F20"/>
                </a:solidFill>
                <a:latin typeface="Calibri" pitchFamily="34" charset="0"/>
                <a:ea typeface="Calibri" pitchFamily="34" charset="-122"/>
                <a:cs typeface="Calibri" pitchFamily="34" charset="-120"/>
              </a:rPr>
              <a:t>estimer θ à partir de données — une fois, coûteux</a:t>
            </a:r>
            <a:endParaRPr lang="en-US" sz="1050" dirty="0"/>
          </a:p>
        </p:txBody>
      </p:sp>
      <p:sp>
        <p:nvSpPr>
          <p:cNvPr id="26" name="Shape 24"/>
          <p:cNvSpPr/>
          <p:nvPr/>
        </p:nvSpPr>
        <p:spPr>
          <a:xfrm>
            <a:off x="4663440" y="2157984"/>
            <a:ext cx="4023360" cy="420624"/>
          </a:xfrm>
          <a:prstGeom prst="roundRect">
            <a:avLst>
              <a:gd name="adj" fmla="val 17391"/>
            </a:avLst>
          </a:prstGeom>
          <a:solidFill>
            <a:srgbClr val="E8F5EF"/>
          </a:solidFill>
          <a:ln w="15875">
            <a:solidFill>
              <a:srgbClr val="00A86A"/>
            </a:solidFill>
            <a:prstDash val="solid"/>
          </a:ln>
        </p:spPr>
      </p:sp>
      <p:sp>
        <p:nvSpPr>
          <p:cNvPr id="27" name="Text 25"/>
          <p:cNvSpPr txBox="1"/>
          <p:nvPr/>
        </p:nvSpPr>
        <p:spPr>
          <a:xfrm>
            <a:off x="4800600" y="2157984"/>
            <a:ext cx="3794760" cy="420624"/>
          </a:xfrm>
          <a:prstGeom prst="rect">
            <a:avLst/>
          </a:prstGeom>
          <a:noFill/>
          <a:ln/>
        </p:spPr>
        <p:txBody>
          <a:bodyPr wrap="square" lIns="0" tIns="0" rIns="0" bIns="0" rtlCol="0" anchor="ctr"/>
          <a:lstStyle/>
          <a:p>
            <a:pPr indent="0" marL="0">
              <a:buNone/>
            </a:pPr>
            <a:r>
              <a:rPr lang="en-US" sz="1050" b="1" dirty="0">
                <a:solidFill>
                  <a:srgbClr val="00A86A"/>
                </a:solidFill>
                <a:latin typeface="Calibri" pitchFamily="34" charset="0"/>
                <a:ea typeface="Calibri" pitchFamily="34" charset="-122"/>
                <a:cs typeface="Calibri" pitchFamily="34" charset="-120"/>
              </a:rPr>
              <a:t>Inférence : </a:t>
            </a:r>
            <a:pPr indent="0" marL="0">
              <a:buNone/>
            </a:pPr>
            <a:r>
              <a:rPr lang="en-US" sz="1050" dirty="0">
                <a:solidFill>
                  <a:srgbClr val="231F20"/>
                </a:solidFill>
                <a:latin typeface="Calibri" pitchFamily="34" charset="0"/>
                <a:ea typeface="Calibri" pitchFamily="34" charset="-122"/>
                <a:cs typeface="Calibri" pitchFamily="34" charset="-120"/>
              </a:rPr>
              <a:t>appliquer f à une nouvelle entrée — à chaque usage</a:t>
            </a:r>
            <a:endParaRPr lang="en-US" sz="1050" dirty="0"/>
          </a:p>
        </p:txBody>
      </p:sp>
      <p:sp>
        <p:nvSpPr>
          <p:cNvPr id="28" name="Shape 26"/>
          <p:cNvSpPr/>
          <p:nvPr/>
        </p:nvSpPr>
        <p:spPr>
          <a:xfrm>
            <a:off x="457200" y="2706624"/>
            <a:ext cx="8229600" cy="1389888"/>
          </a:xfrm>
          <a:prstGeom prst="roundRect">
            <a:avLst>
              <a:gd name="adj" fmla="val 5263"/>
            </a:avLst>
          </a:prstGeom>
          <a:solidFill>
            <a:srgbClr val="FFFFFF"/>
          </a:solidFill>
          <a:ln w="9525">
            <a:solidFill>
              <a:srgbClr val="D5DED9"/>
            </a:solidFill>
            <a:prstDash val="solid"/>
          </a:ln>
        </p:spPr>
      </p:sp>
      <p:sp>
        <p:nvSpPr>
          <p:cNvPr id="29" name="Text 27"/>
          <p:cNvSpPr txBox="1"/>
          <p:nvPr/>
        </p:nvSpPr>
        <p:spPr>
          <a:xfrm>
            <a:off x="2194560" y="2743200"/>
            <a:ext cx="3108960" cy="256032"/>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Régression linéaire (familière)</a:t>
            </a:r>
            <a:endParaRPr lang="en-US" sz="1100" dirty="0"/>
          </a:p>
        </p:txBody>
      </p:sp>
      <p:sp>
        <p:nvSpPr>
          <p:cNvPr id="30" name="Text 28"/>
          <p:cNvSpPr txBox="1"/>
          <p:nvPr/>
        </p:nvSpPr>
        <p:spPr>
          <a:xfrm>
            <a:off x="5486400" y="2743200"/>
            <a:ext cx="3108960" cy="256032"/>
          </a:xfrm>
          <a:prstGeom prst="rect">
            <a:avLst/>
          </a:prstGeom>
          <a:noFill/>
          <a:ln/>
        </p:spPr>
        <p:txBody>
          <a:bodyPr wrap="square" lIns="0" tIns="0" rIns="0" bIns="0" rtlCol="0" anchor="ctr"/>
          <a:lstStyle/>
          <a:p>
            <a:pPr indent="0" marL="0">
              <a:buNone/>
            </a:pPr>
            <a:r>
              <a:rPr lang="en-US" sz="1100" b="1" dirty="0">
                <a:solidFill>
                  <a:srgbClr val="00553A"/>
                </a:solidFill>
                <a:latin typeface="Calibri" pitchFamily="34" charset="0"/>
                <a:ea typeface="Calibri" pitchFamily="34" charset="-122"/>
                <a:cs typeface="Calibri" pitchFamily="34" charset="-120"/>
              </a:rPr>
              <a:t>Grand modèle de langage</a:t>
            </a:r>
            <a:endParaRPr lang="en-US" sz="1100" dirty="0"/>
          </a:p>
        </p:txBody>
      </p:sp>
      <p:sp>
        <p:nvSpPr>
          <p:cNvPr id="31" name="Shape 29"/>
          <p:cNvSpPr/>
          <p:nvPr/>
        </p:nvSpPr>
        <p:spPr>
          <a:xfrm>
            <a:off x="502920" y="3017520"/>
            <a:ext cx="8138160" cy="256032"/>
          </a:xfrm>
          <a:prstGeom prst="rect">
            <a:avLst/>
          </a:prstGeom>
          <a:solidFill>
            <a:srgbClr val="F4F7F5"/>
          </a:solidFill>
          <a:ln/>
        </p:spPr>
      </p:sp>
      <p:sp>
        <p:nvSpPr>
          <p:cNvPr id="32" name="Text 30"/>
          <p:cNvSpPr txBox="1"/>
          <p:nvPr/>
        </p:nvSpPr>
        <p:spPr>
          <a:xfrm>
            <a:off x="594360" y="3017520"/>
            <a:ext cx="1463040" cy="256032"/>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Paramètres</a:t>
            </a:r>
            <a:endParaRPr lang="en-US" sz="1000" dirty="0"/>
          </a:p>
        </p:txBody>
      </p:sp>
      <p:sp>
        <p:nvSpPr>
          <p:cNvPr id="33" name="Text 31"/>
          <p:cNvSpPr txBox="1"/>
          <p:nvPr/>
        </p:nvSpPr>
        <p:spPr>
          <a:xfrm>
            <a:off x="2194560" y="3017520"/>
            <a:ext cx="3108960" cy="25603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2  (β₀, β₁)</a:t>
            </a:r>
            <a:endParaRPr lang="en-US" sz="1050" dirty="0"/>
          </a:p>
        </p:txBody>
      </p:sp>
      <p:sp>
        <p:nvSpPr>
          <p:cNvPr id="34" name="Text 32"/>
          <p:cNvSpPr txBox="1"/>
          <p:nvPr/>
        </p:nvSpPr>
        <p:spPr>
          <a:xfrm>
            <a:off x="5486400" y="3017520"/>
            <a:ext cx="3108960" cy="25603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des centaines de milliards de poids</a:t>
            </a:r>
            <a:endParaRPr lang="en-US" sz="1050" dirty="0"/>
          </a:p>
        </p:txBody>
      </p:sp>
      <p:sp>
        <p:nvSpPr>
          <p:cNvPr id="35" name="Text 33"/>
          <p:cNvSpPr txBox="1"/>
          <p:nvPr/>
        </p:nvSpPr>
        <p:spPr>
          <a:xfrm>
            <a:off x="594360" y="3282696"/>
            <a:ext cx="1463040" cy="256032"/>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Estimés par</a:t>
            </a:r>
            <a:endParaRPr lang="en-US" sz="1000" dirty="0"/>
          </a:p>
        </p:txBody>
      </p:sp>
      <p:sp>
        <p:nvSpPr>
          <p:cNvPr id="36" name="Text 34"/>
          <p:cNvSpPr txBox="1"/>
          <p:nvPr/>
        </p:nvSpPr>
        <p:spPr>
          <a:xfrm>
            <a:off x="2194560" y="3282696"/>
            <a:ext cx="3108960" cy="25603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moindres carrés</a:t>
            </a:r>
            <a:endParaRPr lang="en-US" sz="1050" dirty="0"/>
          </a:p>
        </p:txBody>
      </p:sp>
      <p:sp>
        <p:nvSpPr>
          <p:cNvPr id="37" name="Text 35"/>
          <p:cNvSpPr txBox="1"/>
          <p:nvPr/>
        </p:nvSpPr>
        <p:spPr>
          <a:xfrm>
            <a:off x="5486400" y="3282696"/>
            <a:ext cx="3108960" cy="25603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descente de gradient sur du texte</a:t>
            </a:r>
            <a:endParaRPr lang="en-US" sz="1050" dirty="0"/>
          </a:p>
        </p:txBody>
      </p:sp>
      <p:sp>
        <p:nvSpPr>
          <p:cNvPr id="38" name="Shape 36"/>
          <p:cNvSpPr/>
          <p:nvPr/>
        </p:nvSpPr>
        <p:spPr>
          <a:xfrm>
            <a:off x="502920" y="3547872"/>
            <a:ext cx="8138160" cy="256032"/>
          </a:xfrm>
          <a:prstGeom prst="rect">
            <a:avLst/>
          </a:prstGeom>
          <a:solidFill>
            <a:srgbClr val="F4F7F5"/>
          </a:solidFill>
          <a:ln/>
        </p:spPr>
      </p:sp>
      <p:sp>
        <p:nvSpPr>
          <p:cNvPr id="39" name="Text 37"/>
          <p:cNvSpPr txBox="1"/>
          <p:nvPr/>
        </p:nvSpPr>
        <p:spPr>
          <a:xfrm>
            <a:off x="594360" y="3547872"/>
            <a:ext cx="1463040" cy="256032"/>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Entrée → sortie</a:t>
            </a:r>
            <a:endParaRPr lang="en-US" sz="1000" dirty="0"/>
          </a:p>
        </p:txBody>
      </p:sp>
      <p:sp>
        <p:nvSpPr>
          <p:cNvPr id="40" name="Text 38"/>
          <p:cNvSpPr txBox="1"/>
          <p:nvPr/>
        </p:nvSpPr>
        <p:spPr>
          <a:xfrm>
            <a:off x="2194560" y="3547872"/>
            <a:ext cx="3108960" cy="25603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variables → un nombre</a:t>
            </a:r>
            <a:endParaRPr lang="en-US" sz="1050" dirty="0"/>
          </a:p>
        </p:txBody>
      </p:sp>
      <p:sp>
        <p:nvSpPr>
          <p:cNvPr id="41" name="Text 39"/>
          <p:cNvSpPr txBox="1"/>
          <p:nvPr/>
        </p:nvSpPr>
        <p:spPr>
          <a:xfrm>
            <a:off x="5486400" y="3547872"/>
            <a:ext cx="3108960" cy="25603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jetons → probabilité du jeton suivant</a:t>
            </a:r>
            <a:endParaRPr lang="en-US" sz="1050" dirty="0"/>
          </a:p>
        </p:txBody>
      </p:sp>
      <p:sp>
        <p:nvSpPr>
          <p:cNvPr id="42" name="Text 40"/>
          <p:cNvSpPr txBox="1"/>
          <p:nvPr/>
        </p:nvSpPr>
        <p:spPr>
          <a:xfrm>
            <a:off x="594360" y="3813048"/>
            <a:ext cx="1463040" cy="256032"/>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Interprétable ?</a:t>
            </a:r>
            <a:endParaRPr lang="en-US" sz="1000" dirty="0"/>
          </a:p>
        </p:txBody>
      </p:sp>
      <p:sp>
        <p:nvSpPr>
          <p:cNvPr id="43" name="Text 41"/>
          <p:cNvSpPr txBox="1"/>
          <p:nvPr/>
        </p:nvSpPr>
        <p:spPr>
          <a:xfrm>
            <a:off x="2194560" y="3813048"/>
            <a:ext cx="3108960" cy="25603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oui, chaque coefficient a un sens</a:t>
            </a:r>
            <a:endParaRPr lang="en-US" sz="1050" dirty="0"/>
          </a:p>
        </p:txBody>
      </p:sp>
      <p:sp>
        <p:nvSpPr>
          <p:cNvPr id="44" name="Text 42"/>
          <p:cNvSpPr txBox="1"/>
          <p:nvPr/>
        </p:nvSpPr>
        <p:spPr>
          <a:xfrm>
            <a:off x="5486400" y="3813048"/>
            <a:ext cx="3108960" cy="25603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non, en pratique</a:t>
            </a:r>
            <a:endParaRPr lang="en-US" sz="1050" dirty="0"/>
          </a:p>
        </p:txBody>
      </p:sp>
      <p:sp>
        <p:nvSpPr>
          <p:cNvPr id="45" name="Shape 43"/>
          <p:cNvSpPr/>
          <p:nvPr/>
        </p:nvSpPr>
        <p:spPr>
          <a:xfrm>
            <a:off x="457200" y="4169664"/>
            <a:ext cx="8229600" cy="402336"/>
          </a:xfrm>
          <a:prstGeom prst="roundRect">
            <a:avLst>
              <a:gd name="adj" fmla="val 18182"/>
            </a:avLst>
          </a:prstGeom>
          <a:solidFill>
            <a:srgbClr val="E8F5EF"/>
          </a:solidFill>
          <a:ln w="15875">
            <a:solidFill>
              <a:srgbClr val="00A86A"/>
            </a:solidFill>
            <a:prstDash val="solid"/>
          </a:ln>
        </p:spPr>
      </p:sp>
      <p:sp>
        <p:nvSpPr>
          <p:cNvPr id="46" name="Text 44"/>
          <p:cNvSpPr txBox="1"/>
          <p:nvPr/>
        </p:nvSpPr>
        <p:spPr>
          <a:xfrm>
            <a:off x="640080" y="4169664"/>
            <a:ext cx="7955280" cy="402336"/>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Un modèle n'est pas une application. </a:t>
            </a:r>
            <a:pPr indent="0" marL="0">
              <a:buNone/>
            </a:pPr>
            <a:r>
              <a:rPr lang="en-US" sz="1000" dirty="0">
                <a:solidFill>
                  <a:srgbClr val="231F20"/>
                </a:solidFill>
                <a:latin typeface="Calibri" pitchFamily="34" charset="0"/>
                <a:ea typeface="Calibri" pitchFamily="34" charset="-122"/>
                <a:cs typeface="Calibri" pitchFamily="34" charset="-120"/>
              </a:rPr>
              <a:t>L'assistant que vous utilisez enveloppe un modèle dans un échafaudage : interface, instructions, outils.</a:t>
            </a:r>
            <a:endParaRPr lang="en-US" sz="1000" dirty="0"/>
          </a:p>
        </p:txBody>
      </p:sp>
      <p:sp>
        <p:nvSpPr>
          <p:cNvPr id="47" name="Text 45"/>
          <p:cNvSpPr txBox="1"/>
          <p:nvPr/>
        </p:nvSpPr>
        <p:spPr>
          <a:xfrm>
            <a:off x="457200" y="4608576"/>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G. E. P. Box (1979) : « tous les modèles sont faux, mais certains sont utiles » — y compris les GML.</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03  ·  LE MODÈLE : CE QU'EST UN GML</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Un GML prédit le jeton suivant — c'est tout le mécanisme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6" name="Shape 14"/>
          <p:cNvSpPr/>
          <p:nvPr/>
        </p:nvSpPr>
        <p:spPr>
          <a:xfrm>
            <a:off x="475488" y="1389888"/>
            <a:ext cx="1426464" cy="502920"/>
          </a:xfrm>
          <a:prstGeom prst="roundRect">
            <a:avLst>
              <a:gd name="adj" fmla="val 14545"/>
            </a:avLst>
          </a:prstGeom>
          <a:solidFill>
            <a:srgbClr val="E8F5EF"/>
          </a:solidFill>
          <a:ln w="15875">
            <a:solidFill>
              <a:srgbClr val="0E7C86"/>
            </a:solidFill>
            <a:prstDash val="solid"/>
          </a:ln>
        </p:spPr>
      </p:sp>
      <p:sp>
        <p:nvSpPr>
          <p:cNvPr id="17" name="Text 15"/>
          <p:cNvSpPr txBox="1"/>
          <p:nvPr/>
        </p:nvSpPr>
        <p:spPr>
          <a:xfrm>
            <a:off x="475488" y="1389888"/>
            <a:ext cx="1426464" cy="502920"/>
          </a:xfrm>
          <a:prstGeom prst="rect">
            <a:avLst/>
          </a:prstGeom>
          <a:noFill/>
          <a:ln/>
        </p:spPr>
        <p:txBody>
          <a:bodyPr wrap="square" lIns="0" tIns="0" rIns="0" bIns="0" rtlCol="0" anchor="ctr"/>
          <a:lstStyle/>
          <a:p>
            <a:pPr algn="ctr" indent="0" marL="0">
              <a:buNone/>
            </a:pPr>
            <a:r>
              <a:rPr lang="en-US" sz="1300" b="1" dirty="0">
                <a:solidFill>
                  <a:srgbClr val="231F20"/>
                </a:solidFill>
                <a:latin typeface="Calibri" pitchFamily="34" charset="0"/>
                <a:ea typeface="Calibri" pitchFamily="34" charset="-122"/>
                <a:cs typeface="Calibri" pitchFamily="34" charset="-120"/>
              </a:rPr>
              <a:t>Texte</a:t>
            </a:r>
            <a:endParaRPr lang="en-US" sz="1300" dirty="0"/>
          </a:p>
        </p:txBody>
      </p:sp>
      <p:sp>
        <p:nvSpPr>
          <p:cNvPr id="18" name="Text 16"/>
          <p:cNvSpPr txBox="1"/>
          <p:nvPr/>
        </p:nvSpPr>
        <p:spPr>
          <a:xfrm>
            <a:off x="429768" y="1938528"/>
            <a:ext cx="1517904" cy="384048"/>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 La capitale de la Tunisie est »</a:t>
            </a:r>
            <a:endParaRPr lang="en-US" sz="900" dirty="0"/>
          </a:p>
        </p:txBody>
      </p:sp>
      <p:sp>
        <p:nvSpPr>
          <p:cNvPr id="19" name="Shape 17"/>
          <p:cNvSpPr/>
          <p:nvPr/>
        </p:nvSpPr>
        <p:spPr>
          <a:xfrm>
            <a:off x="1929384" y="1641348"/>
            <a:ext cx="219456" cy="91"/>
          </a:xfrm>
          <a:prstGeom prst="line">
            <a:avLst/>
          </a:prstGeom>
          <a:noFill/>
          <a:ln w="15875">
            <a:solidFill>
              <a:srgbClr val="5E6964"/>
            </a:solidFill>
            <a:prstDash val="solid"/>
            <a:tailEnd type="triangle"/>
          </a:ln>
        </p:spPr>
      </p:sp>
      <p:sp>
        <p:nvSpPr>
          <p:cNvPr id="20" name="Shape 18"/>
          <p:cNvSpPr/>
          <p:nvPr/>
        </p:nvSpPr>
        <p:spPr>
          <a:xfrm>
            <a:off x="2176272" y="1389888"/>
            <a:ext cx="1426464" cy="502920"/>
          </a:xfrm>
          <a:prstGeom prst="roundRect">
            <a:avLst>
              <a:gd name="adj" fmla="val 14545"/>
            </a:avLst>
          </a:prstGeom>
          <a:solidFill>
            <a:srgbClr val="E8F5EF"/>
          </a:solidFill>
          <a:ln w="15875">
            <a:solidFill>
              <a:srgbClr val="0E7C86"/>
            </a:solidFill>
            <a:prstDash val="solid"/>
          </a:ln>
        </p:spPr>
      </p:sp>
      <p:sp>
        <p:nvSpPr>
          <p:cNvPr id="21" name="Text 19"/>
          <p:cNvSpPr txBox="1"/>
          <p:nvPr/>
        </p:nvSpPr>
        <p:spPr>
          <a:xfrm>
            <a:off x="2176272" y="1389888"/>
            <a:ext cx="1426464" cy="502920"/>
          </a:xfrm>
          <a:prstGeom prst="rect">
            <a:avLst/>
          </a:prstGeom>
          <a:noFill/>
          <a:ln/>
        </p:spPr>
        <p:txBody>
          <a:bodyPr wrap="square" lIns="0" tIns="0" rIns="0" bIns="0" rtlCol="0" anchor="ctr"/>
          <a:lstStyle/>
          <a:p>
            <a:pPr algn="ctr" indent="0" marL="0">
              <a:buNone/>
            </a:pPr>
            <a:r>
              <a:rPr lang="en-US" sz="1300" b="1" dirty="0">
                <a:solidFill>
                  <a:srgbClr val="231F20"/>
                </a:solidFill>
                <a:latin typeface="Calibri" pitchFamily="34" charset="0"/>
                <a:ea typeface="Calibri" pitchFamily="34" charset="-122"/>
                <a:cs typeface="Calibri" pitchFamily="34" charset="-120"/>
              </a:rPr>
              <a:t>Jetons</a:t>
            </a:r>
            <a:endParaRPr lang="en-US" sz="1300" dirty="0"/>
          </a:p>
        </p:txBody>
      </p:sp>
      <p:sp>
        <p:nvSpPr>
          <p:cNvPr id="22" name="Text 20"/>
          <p:cNvSpPr txBox="1"/>
          <p:nvPr/>
        </p:nvSpPr>
        <p:spPr>
          <a:xfrm>
            <a:off x="2130552" y="1938528"/>
            <a:ext cx="1517904" cy="384048"/>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La · capitale · de · la · Tunisie · est</a:t>
            </a:r>
            <a:endParaRPr lang="en-US" sz="900" dirty="0"/>
          </a:p>
        </p:txBody>
      </p:sp>
      <p:sp>
        <p:nvSpPr>
          <p:cNvPr id="23" name="Shape 21"/>
          <p:cNvSpPr/>
          <p:nvPr/>
        </p:nvSpPr>
        <p:spPr>
          <a:xfrm>
            <a:off x="3630168" y="1641348"/>
            <a:ext cx="219456" cy="91"/>
          </a:xfrm>
          <a:prstGeom prst="line">
            <a:avLst/>
          </a:prstGeom>
          <a:noFill/>
          <a:ln w="15875">
            <a:solidFill>
              <a:srgbClr val="5E6964"/>
            </a:solidFill>
            <a:prstDash val="solid"/>
            <a:tailEnd type="triangle"/>
          </a:ln>
        </p:spPr>
      </p:sp>
      <p:sp>
        <p:nvSpPr>
          <p:cNvPr id="24" name="Shape 22"/>
          <p:cNvSpPr/>
          <p:nvPr/>
        </p:nvSpPr>
        <p:spPr>
          <a:xfrm>
            <a:off x="3877056" y="1389888"/>
            <a:ext cx="1426464" cy="502920"/>
          </a:xfrm>
          <a:prstGeom prst="roundRect">
            <a:avLst>
              <a:gd name="adj" fmla="val 14545"/>
            </a:avLst>
          </a:prstGeom>
          <a:solidFill>
            <a:srgbClr val="00553A"/>
          </a:solidFill>
          <a:ln w="15875">
            <a:solidFill>
              <a:srgbClr val="00553A"/>
            </a:solidFill>
            <a:prstDash val="solid"/>
          </a:ln>
        </p:spPr>
      </p:sp>
      <p:sp>
        <p:nvSpPr>
          <p:cNvPr id="25" name="Text 23"/>
          <p:cNvSpPr txBox="1"/>
          <p:nvPr/>
        </p:nvSpPr>
        <p:spPr>
          <a:xfrm>
            <a:off x="3877056" y="1389888"/>
            <a:ext cx="142646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Modèle</a:t>
            </a:r>
            <a:endParaRPr lang="en-US" sz="1300" dirty="0"/>
          </a:p>
        </p:txBody>
      </p:sp>
      <p:sp>
        <p:nvSpPr>
          <p:cNvPr id="26" name="Text 24"/>
          <p:cNvSpPr txBox="1"/>
          <p:nvPr/>
        </p:nvSpPr>
        <p:spPr>
          <a:xfrm>
            <a:off x="3831336" y="1938528"/>
            <a:ext cx="1517904" cy="384048"/>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des milliards de poids figés</a:t>
            </a:r>
            <a:endParaRPr lang="en-US" sz="900" dirty="0"/>
          </a:p>
        </p:txBody>
      </p:sp>
      <p:sp>
        <p:nvSpPr>
          <p:cNvPr id="27" name="Shape 25"/>
          <p:cNvSpPr/>
          <p:nvPr/>
        </p:nvSpPr>
        <p:spPr>
          <a:xfrm>
            <a:off x="5330952" y="1641348"/>
            <a:ext cx="219456" cy="91"/>
          </a:xfrm>
          <a:prstGeom prst="line">
            <a:avLst/>
          </a:prstGeom>
          <a:noFill/>
          <a:ln w="15875">
            <a:solidFill>
              <a:srgbClr val="5E6964"/>
            </a:solidFill>
            <a:prstDash val="solid"/>
            <a:tailEnd type="triangle"/>
          </a:ln>
        </p:spPr>
      </p:sp>
      <p:sp>
        <p:nvSpPr>
          <p:cNvPr id="28" name="Shape 26"/>
          <p:cNvSpPr/>
          <p:nvPr/>
        </p:nvSpPr>
        <p:spPr>
          <a:xfrm>
            <a:off x="5577840" y="1389888"/>
            <a:ext cx="1426464" cy="502920"/>
          </a:xfrm>
          <a:prstGeom prst="roundRect">
            <a:avLst>
              <a:gd name="adj" fmla="val 14545"/>
            </a:avLst>
          </a:prstGeom>
          <a:solidFill>
            <a:srgbClr val="E8F5EF"/>
          </a:solidFill>
          <a:ln w="15875">
            <a:solidFill>
              <a:srgbClr val="0E7C86"/>
            </a:solidFill>
            <a:prstDash val="solid"/>
          </a:ln>
        </p:spPr>
      </p:sp>
      <p:sp>
        <p:nvSpPr>
          <p:cNvPr id="29" name="Text 27"/>
          <p:cNvSpPr txBox="1"/>
          <p:nvPr/>
        </p:nvSpPr>
        <p:spPr>
          <a:xfrm>
            <a:off x="5577840" y="1389888"/>
            <a:ext cx="1426464" cy="502920"/>
          </a:xfrm>
          <a:prstGeom prst="rect">
            <a:avLst/>
          </a:prstGeom>
          <a:noFill/>
          <a:ln/>
        </p:spPr>
        <p:txBody>
          <a:bodyPr wrap="square" lIns="0" tIns="0" rIns="0" bIns="0" rtlCol="0" anchor="ctr"/>
          <a:lstStyle/>
          <a:p>
            <a:pPr algn="ctr" indent="0" marL="0">
              <a:buNone/>
            </a:pPr>
            <a:r>
              <a:rPr lang="en-US" sz="1300" b="1" dirty="0">
                <a:solidFill>
                  <a:srgbClr val="231F20"/>
                </a:solidFill>
                <a:latin typeface="Calibri" pitchFamily="34" charset="0"/>
                <a:ea typeface="Calibri" pitchFamily="34" charset="-122"/>
                <a:cs typeface="Calibri" pitchFamily="34" charset="-120"/>
              </a:rPr>
              <a:t>Probabilités</a:t>
            </a:r>
            <a:endParaRPr lang="en-US" sz="1300" dirty="0"/>
          </a:p>
        </p:txBody>
      </p:sp>
      <p:sp>
        <p:nvSpPr>
          <p:cNvPr id="30" name="Text 28"/>
          <p:cNvSpPr txBox="1"/>
          <p:nvPr/>
        </p:nvSpPr>
        <p:spPr>
          <a:xfrm>
            <a:off x="5532120" y="1938528"/>
            <a:ext cx="1517904" cy="384048"/>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Tunis 92 % · la 3 % · …</a:t>
            </a:r>
            <a:endParaRPr lang="en-US" sz="900" dirty="0"/>
          </a:p>
        </p:txBody>
      </p:sp>
      <p:sp>
        <p:nvSpPr>
          <p:cNvPr id="31" name="Shape 29"/>
          <p:cNvSpPr/>
          <p:nvPr/>
        </p:nvSpPr>
        <p:spPr>
          <a:xfrm>
            <a:off x="7031736" y="1641348"/>
            <a:ext cx="219456" cy="91"/>
          </a:xfrm>
          <a:prstGeom prst="line">
            <a:avLst/>
          </a:prstGeom>
          <a:noFill/>
          <a:ln w="15875">
            <a:solidFill>
              <a:srgbClr val="5E6964"/>
            </a:solidFill>
            <a:prstDash val="solid"/>
            <a:tailEnd type="triangle"/>
          </a:ln>
        </p:spPr>
      </p:sp>
      <p:sp>
        <p:nvSpPr>
          <p:cNvPr id="32" name="Shape 30"/>
          <p:cNvSpPr/>
          <p:nvPr/>
        </p:nvSpPr>
        <p:spPr>
          <a:xfrm>
            <a:off x="7278624" y="1389888"/>
            <a:ext cx="1426464" cy="502920"/>
          </a:xfrm>
          <a:prstGeom prst="roundRect">
            <a:avLst>
              <a:gd name="adj" fmla="val 14545"/>
            </a:avLst>
          </a:prstGeom>
          <a:solidFill>
            <a:srgbClr val="E8F5EF"/>
          </a:solidFill>
          <a:ln w="15875">
            <a:solidFill>
              <a:srgbClr val="0E7C86"/>
            </a:solidFill>
            <a:prstDash val="solid"/>
          </a:ln>
        </p:spPr>
      </p:sp>
      <p:sp>
        <p:nvSpPr>
          <p:cNvPr id="33" name="Text 31"/>
          <p:cNvSpPr txBox="1"/>
          <p:nvPr/>
        </p:nvSpPr>
        <p:spPr>
          <a:xfrm>
            <a:off x="7278624" y="1389888"/>
            <a:ext cx="1426464" cy="502920"/>
          </a:xfrm>
          <a:prstGeom prst="rect">
            <a:avLst/>
          </a:prstGeom>
          <a:noFill/>
          <a:ln/>
        </p:spPr>
        <p:txBody>
          <a:bodyPr wrap="square" lIns="0" tIns="0" rIns="0" bIns="0" rtlCol="0" anchor="ctr"/>
          <a:lstStyle/>
          <a:p>
            <a:pPr algn="ctr" indent="0" marL="0">
              <a:buNone/>
            </a:pPr>
            <a:r>
              <a:rPr lang="en-US" sz="1300" b="1" dirty="0">
                <a:solidFill>
                  <a:srgbClr val="231F20"/>
                </a:solidFill>
                <a:latin typeface="Calibri" pitchFamily="34" charset="0"/>
                <a:ea typeface="Calibri" pitchFamily="34" charset="-122"/>
                <a:cs typeface="Calibri" pitchFamily="34" charset="-120"/>
              </a:rPr>
              <a:t>Jeton choisi</a:t>
            </a:r>
            <a:endParaRPr lang="en-US" sz="1300" dirty="0"/>
          </a:p>
        </p:txBody>
      </p:sp>
      <p:sp>
        <p:nvSpPr>
          <p:cNvPr id="34" name="Text 32"/>
          <p:cNvSpPr txBox="1"/>
          <p:nvPr/>
        </p:nvSpPr>
        <p:spPr>
          <a:xfrm>
            <a:off x="7232904" y="1938528"/>
            <a:ext cx="1517904" cy="384048"/>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 Tunis »</a:t>
            </a:r>
            <a:endParaRPr lang="en-US" sz="900" dirty="0"/>
          </a:p>
        </p:txBody>
      </p:sp>
      <p:sp>
        <p:nvSpPr>
          <p:cNvPr id="35" name="Shape 33"/>
          <p:cNvSpPr/>
          <p:nvPr/>
        </p:nvSpPr>
        <p:spPr>
          <a:xfrm>
            <a:off x="7991856" y="2304288"/>
            <a:ext cx="91" cy="146304"/>
          </a:xfrm>
          <a:prstGeom prst="line">
            <a:avLst/>
          </a:prstGeom>
          <a:noFill/>
          <a:ln w="12700">
            <a:solidFill>
              <a:srgbClr val="0E7C86"/>
            </a:solidFill>
            <a:prstDash val="solid"/>
          </a:ln>
        </p:spPr>
      </p:sp>
      <p:sp>
        <p:nvSpPr>
          <p:cNvPr id="36" name="Shape 34"/>
          <p:cNvSpPr/>
          <p:nvPr/>
        </p:nvSpPr>
        <p:spPr>
          <a:xfrm flipH="1">
            <a:off x="1188720" y="2450592"/>
            <a:ext cx="6803136" cy="91"/>
          </a:xfrm>
          <a:prstGeom prst="line">
            <a:avLst/>
          </a:prstGeom>
          <a:noFill/>
          <a:ln w="12700">
            <a:solidFill>
              <a:srgbClr val="0E7C86"/>
            </a:solidFill>
            <a:prstDash val="solid"/>
          </a:ln>
        </p:spPr>
      </p:sp>
      <p:sp>
        <p:nvSpPr>
          <p:cNvPr id="37" name="Shape 35"/>
          <p:cNvSpPr/>
          <p:nvPr/>
        </p:nvSpPr>
        <p:spPr>
          <a:xfrm flipV="1">
            <a:off x="1188720" y="2331720"/>
            <a:ext cx="91" cy="118872"/>
          </a:xfrm>
          <a:prstGeom prst="line">
            <a:avLst/>
          </a:prstGeom>
          <a:noFill/>
          <a:ln w="12700">
            <a:solidFill>
              <a:srgbClr val="0E7C86"/>
            </a:solidFill>
            <a:prstDash val="solid"/>
            <a:tailEnd type="triangle"/>
          </a:ln>
        </p:spPr>
      </p:sp>
      <p:sp>
        <p:nvSpPr>
          <p:cNvPr id="38" name="Shape 36"/>
          <p:cNvSpPr/>
          <p:nvPr/>
        </p:nvSpPr>
        <p:spPr>
          <a:xfrm>
            <a:off x="2926080" y="2340864"/>
            <a:ext cx="3291840" cy="219456"/>
          </a:xfrm>
          <a:prstGeom prst="rect">
            <a:avLst/>
          </a:prstGeom>
          <a:solidFill>
            <a:srgbClr val="FFFFFF"/>
          </a:solidFill>
          <a:ln/>
        </p:spPr>
      </p:sp>
      <p:sp>
        <p:nvSpPr>
          <p:cNvPr id="39" name="Text 37"/>
          <p:cNvSpPr txBox="1"/>
          <p:nvPr/>
        </p:nvSpPr>
        <p:spPr>
          <a:xfrm>
            <a:off x="2926080" y="2340864"/>
            <a:ext cx="3291840" cy="219456"/>
          </a:xfrm>
          <a:prstGeom prst="rect">
            <a:avLst/>
          </a:prstGeom>
          <a:noFill/>
          <a:ln/>
        </p:spPr>
        <p:txBody>
          <a:bodyPr wrap="square" lIns="0" tIns="0" rIns="0" bIns="0" rtlCol="0" anchor="ctr"/>
          <a:lstStyle/>
          <a:p>
            <a:pPr algn="ctr" indent="0" marL="0">
              <a:buNone/>
            </a:pPr>
            <a:r>
              <a:rPr lang="en-US" sz="950" b="1" i="1" dirty="0">
                <a:solidFill>
                  <a:srgbClr val="0E7C86"/>
                </a:solidFill>
                <a:latin typeface="Calibri" pitchFamily="34" charset="0"/>
                <a:ea typeface="Calibri" pitchFamily="34" charset="-122"/>
                <a:cs typeface="Calibri" pitchFamily="34" charset="-120"/>
              </a:rPr>
              <a:t>on ajoute le jeton au texte… et on recommence</a:t>
            </a:r>
            <a:endParaRPr lang="en-US" sz="950" dirty="0"/>
          </a:p>
        </p:txBody>
      </p:sp>
      <p:graphicFrame>
        <p:nvGraphicFramePr>
          <p:cNvPr id="40" name="Chart 0" descr=""/>
          <p:cNvGraphicFramePr/>
          <p:nvPr/>
        </p:nvGraphicFramePr>
        <p:xfrm>
          <a:off x="457200" y="2743200"/>
          <a:ext cx="4206240" cy="1810512"/>
        </p:xfrm>
        <a:graphic xmlns:a="http://schemas.openxmlformats.org/drawingml/2006/main">
          <a:graphicData uri="http://schemas.openxmlformats.org/drawingml/2006/chart">
            <c:chart xmlns:c="http://schemas.openxmlformats.org/drawingml/2006/chart" r:id="rId1"/>
          </a:graphicData>
        </a:graphic>
      </p:graphicFrame>
      <p:sp>
        <p:nvSpPr>
          <p:cNvPr id="41" name="Shape 38"/>
          <p:cNvSpPr/>
          <p:nvPr/>
        </p:nvSpPr>
        <p:spPr>
          <a:xfrm>
            <a:off x="4937760" y="2834640"/>
            <a:ext cx="3749040" cy="1700784"/>
          </a:xfrm>
          <a:prstGeom prst="roundRect">
            <a:avLst>
              <a:gd name="adj" fmla="val 4301"/>
            </a:avLst>
          </a:prstGeom>
          <a:solidFill>
            <a:srgbClr val="FBF3DE"/>
          </a:solidFill>
          <a:ln w="15875">
            <a:solidFill>
              <a:srgbClr val="D49A00"/>
            </a:solidFill>
            <a:prstDash val="solid"/>
          </a:ln>
        </p:spPr>
      </p:sp>
      <p:sp>
        <p:nvSpPr>
          <p:cNvPr id="42" name="Shape 39"/>
          <p:cNvSpPr/>
          <p:nvPr/>
        </p:nvSpPr>
        <p:spPr>
          <a:xfrm>
            <a:off x="5102352" y="2980944"/>
            <a:ext cx="457200" cy="457200"/>
          </a:xfrm>
          <a:prstGeom prst="ellipse">
            <a:avLst/>
          </a:prstGeom>
          <a:solidFill>
            <a:srgbClr val="D49A00">
              <a:alpha val="22000"/>
            </a:srgbClr>
          </a:solidFill>
          <a:ln/>
        </p:spPr>
      </p:sp>
      <p:pic>
        <p:nvPicPr>
          <p:cNvPr id="43" name="Image 0" descr="preencoded.png">    </p:cNvPr>
          <p:cNvPicPr>
            <a:picLocks noChangeAspect="1"/>
          </p:cNvPicPr>
          <p:nvPr/>
        </p:nvPicPr>
        <p:blipFill>
          <a:blip r:embed="rId2"/>
          <a:stretch>
            <a:fillRect/>
          </a:stretch>
        </p:blipFill>
        <p:spPr>
          <a:xfrm>
            <a:off x="5212080" y="3090672"/>
            <a:ext cx="237744" cy="237744"/>
          </a:xfrm>
          <a:prstGeom prst="rect">
            <a:avLst/>
          </a:prstGeom>
        </p:spPr>
      </p:pic>
      <p:sp>
        <p:nvSpPr>
          <p:cNvPr id="44" name="Text 40"/>
          <p:cNvSpPr txBox="1"/>
          <p:nvPr/>
        </p:nvSpPr>
        <p:spPr>
          <a:xfrm>
            <a:off x="5669280" y="2980944"/>
            <a:ext cx="2834640" cy="457200"/>
          </a:xfrm>
          <a:prstGeom prst="rect">
            <a:avLst/>
          </a:prstGeom>
          <a:noFill/>
          <a:ln/>
        </p:spPr>
        <p:txBody>
          <a:bodyPr wrap="square" lIns="0" tIns="0" rIns="0" bIns="0" rtlCol="0" anchor="ctr"/>
          <a:lstStyle/>
          <a:p>
            <a:pPr indent="0" marL="0">
              <a:buNone/>
            </a:pPr>
            <a:r>
              <a:rPr lang="en-US" sz="1500" b="1" dirty="0">
                <a:solidFill>
                  <a:srgbClr val="D49A00"/>
                </a:solidFill>
                <a:latin typeface="Calibri" pitchFamily="34" charset="0"/>
                <a:ea typeface="Calibri" pitchFamily="34" charset="-122"/>
                <a:cs typeface="Calibri" pitchFamily="34" charset="-120"/>
              </a:rPr>
              <a:t>Fluidité ≠ exactitude</a:t>
            </a:r>
            <a:endParaRPr lang="en-US" sz="1500" dirty="0"/>
          </a:p>
        </p:txBody>
      </p:sp>
      <p:sp>
        <p:nvSpPr>
          <p:cNvPr id="45" name="Text 41"/>
          <p:cNvSpPr txBox="1"/>
          <p:nvPr/>
        </p:nvSpPr>
        <p:spPr>
          <a:xfrm>
            <a:off x="5120640" y="3520440"/>
            <a:ext cx="3429000" cy="91440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Il n'y a dans le modèle ni base de faits, ni notion de vérité. Un chiffre juste et un chiffre faux sortent du même calcul et sont indiscernables à la lecture.</a:t>
            </a:r>
            <a:endParaRPr lang="en-US" sz="11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03  ·  LE MODÈLE : CE QU'EST UN GML</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Ce qu'un GML sait faire — et ce qu'il ne peut pas garantir</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6" name="Shape 14"/>
          <p:cNvSpPr/>
          <p:nvPr/>
        </p:nvSpPr>
        <p:spPr>
          <a:xfrm>
            <a:off x="457200" y="1371600"/>
            <a:ext cx="3977640" cy="3163824"/>
          </a:xfrm>
          <a:prstGeom prst="roundRect">
            <a:avLst>
              <a:gd name="adj" fmla="val 2312"/>
            </a:avLst>
          </a:prstGeom>
          <a:solidFill>
            <a:srgbClr val="E8F5EF"/>
          </a:solidFill>
          <a:ln w="15875">
            <a:solidFill>
              <a:srgbClr val="00A86A"/>
            </a:solidFill>
            <a:prstDash val="solid"/>
          </a:ln>
        </p:spPr>
      </p:sp>
      <p:sp>
        <p:nvSpPr>
          <p:cNvPr id="17" name="Shape 15"/>
          <p:cNvSpPr/>
          <p:nvPr/>
        </p:nvSpPr>
        <p:spPr>
          <a:xfrm>
            <a:off x="658368" y="1481328"/>
            <a:ext cx="402336" cy="402336"/>
          </a:xfrm>
          <a:prstGeom prst="ellipse">
            <a:avLst/>
          </a:prstGeom>
          <a:solidFill>
            <a:srgbClr val="00A86A">
              <a:alpha val="22000"/>
            </a:srgbClr>
          </a:solidFill>
          <a:ln/>
        </p:spPr>
      </p:sp>
      <p:pic>
        <p:nvPicPr>
          <p:cNvPr id="18" name="Image 0" descr="preencoded.png">    </p:cNvPr>
          <p:cNvPicPr>
            <a:picLocks noChangeAspect="1"/>
          </p:cNvPicPr>
          <p:nvPr/>
        </p:nvPicPr>
        <p:blipFill>
          <a:blip r:embed="rId1"/>
          <a:stretch>
            <a:fillRect/>
          </a:stretch>
        </p:blipFill>
        <p:spPr>
          <a:xfrm>
            <a:off x="754929" y="1577889"/>
            <a:ext cx="209215" cy="209215"/>
          </a:xfrm>
          <a:prstGeom prst="rect">
            <a:avLst/>
          </a:prstGeom>
        </p:spPr>
      </p:pic>
      <p:sp>
        <p:nvSpPr>
          <p:cNvPr id="19" name="Text 16"/>
          <p:cNvSpPr txBox="1"/>
          <p:nvPr/>
        </p:nvSpPr>
        <p:spPr>
          <a:xfrm>
            <a:off x="1170432" y="1481328"/>
            <a:ext cx="3017520" cy="402336"/>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Points forts</a:t>
            </a:r>
            <a:endParaRPr lang="en-US" sz="1500" dirty="0"/>
          </a:p>
        </p:txBody>
      </p:sp>
      <p:sp>
        <p:nvSpPr>
          <p:cNvPr id="20" name="Shape 17"/>
          <p:cNvSpPr/>
          <p:nvPr/>
        </p:nvSpPr>
        <p:spPr>
          <a:xfrm>
            <a:off x="694944" y="2048256"/>
            <a:ext cx="329184" cy="329184"/>
          </a:xfrm>
          <a:prstGeom prst="ellipse">
            <a:avLst/>
          </a:prstGeom>
          <a:solidFill>
            <a:srgbClr val="00A86A">
              <a:alpha val="22000"/>
            </a:srgbClr>
          </a:solidFill>
          <a:ln/>
        </p:spPr>
      </p:sp>
      <p:pic>
        <p:nvPicPr>
          <p:cNvPr id="21" name="Image 1" descr="preencoded.png">    </p:cNvPr>
          <p:cNvPicPr>
            <a:picLocks noChangeAspect="1"/>
          </p:cNvPicPr>
          <p:nvPr/>
        </p:nvPicPr>
        <p:blipFill>
          <a:blip r:embed="rId2"/>
          <a:stretch>
            <a:fillRect/>
          </a:stretch>
        </p:blipFill>
        <p:spPr>
          <a:xfrm>
            <a:off x="773948" y="2127260"/>
            <a:ext cx="171176" cy="171176"/>
          </a:xfrm>
          <a:prstGeom prst="rect">
            <a:avLst/>
          </a:prstGeom>
        </p:spPr>
      </p:pic>
      <p:sp>
        <p:nvSpPr>
          <p:cNvPr id="22" name="Text 18"/>
          <p:cNvSpPr txBox="1"/>
          <p:nvPr/>
        </p:nvSpPr>
        <p:spPr>
          <a:xfrm>
            <a:off x="1170432" y="2011680"/>
            <a:ext cx="3108960" cy="4572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Rédiger</a:t>
            </a:r>
            <a:endParaRPr lang="en-US" sz="1100" dirty="0"/>
          </a:p>
          <a:p>
            <a:pPr indent="0" marL="0">
              <a:buNone/>
            </a:pPr>
            <a:r>
              <a:rPr lang="en-US" sz="1050" dirty="0">
                <a:solidFill>
                  <a:srgbClr val="5E6964"/>
                </a:solidFill>
                <a:latin typeface="Calibri" pitchFamily="34" charset="0"/>
                <a:ea typeface="Calibri" pitchFamily="34" charset="-122"/>
                <a:cs typeface="Calibri" pitchFamily="34" charset="-120"/>
              </a:rPr>
              <a:t>un premier jet de commentaire ou de note</a:t>
            </a:r>
            <a:endParaRPr lang="en-US" sz="1100" dirty="0"/>
          </a:p>
        </p:txBody>
      </p:sp>
      <p:sp>
        <p:nvSpPr>
          <p:cNvPr id="23" name="Shape 19"/>
          <p:cNvSpPr/>
          <p:nvPr/>
        </p:nvSpPr>
        <p:spPr>
          <a:xfrm>
            <a:off x="694944" y="2542032"/>
            <a:ext cx="329184" cy="329184"/>
          </a:xfrm>
          <a:prstGeom prst="ellipse">
            <a:avLst/>
          </a:prstGeom>
          <a:solidFill>
            <a:srgbClr val="00A86A">
              <a:alpha val="22000"/>
            </a:srgbClr>
          </a:solidFill>
          <a:ln/>
        </p:spPr>
      </p:sp>
      <p:pic>
        <p:nvPicPr>
          <p:cNvPr id="24" name="Image 2" descr="preencoded.png">    </p:cNvPr>
          <p:cNvPicPr>
            <a:picLocks noChangeAspect="1"/>
          </p:cNvPicPr>
          <p:nvPr/>
        </p:nvPicPr>
        <p:blipFill>
          <a:blip r:embed="rId3"/>
          <a:stretch>
            <a:fillRect/>
          </a:stretch>
        </p:blipFill>
        <p:spPr>
          <a:xfrm>
            <a:off x="773948" y="2621036"/>
            <a:ext cx="171176" cy="171176"/>
          </a:xfrm>
          <a:prstGeom prst="rect">
            <a:avLst/>
          </a:prstGeom>
        </p:spPr>
      </p:pic>
      <p:sp>
        <p:nvSpPr>
          <p:cNvPr id="25" name="Text 20"/>
          <p:cNvSpPr txBox="1"/>
          <p:nvPr/>
        </p:nvSpPr>
        <p:spPr>
          <a:xfrm>
            <a:off x="1170432" y="2505456"/>
            <a:ext cx="3108960" cy="4572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Traduire</a:t>
            </a:r>
            <a:endParaRPr lang="en-US" sz="1100" dirty="0"/>
          </a:p>
          <a:p>
            <a:pPr indent="0" marL="0">
              <a:buNone/>
            </a:pPr>
            <a:r>
              <a:rPr lang="en-US" sz="1050" dirty="0">
                <a:solidFill>
                  <a:srgbClr val="5E6964"/>
                </a:solidFill>
                <a:latin typeface="Calibri" pitchFamily="34" charset="0"/>
                <a:ea typeface="Calibri" pitchFamily="34" charset="-122"/>
                <a:cs typeface="Calibri" pitchFamily="34" charset="-120"/>
              </a:rPr>
              <a:t>entre français, anglais, arabe, portugais</a:t>
            </a:r>
            <a:endParaRPr lang="en-US" sz="1100" dirty="0"/>
          </a:p>
        </p:txBody>
      </p:sp>
      <p:sp>
        <p:nvSpPr>
          <p:cNvPr id="26" name="Shape 21"/>
          <p:cNvSpPr/>
          <p:nvPr/>
        </p:nvSpPr>
        <p:spPr>
          <a:xfrm>
            <a:off x="694944" y="3035808"/>
            <a:ext cx="329184" cy="329184"/>
          </a:xfrm>
          <a:prstGeom prst="ellipse">
            <a:avLst/>
          </a:prstGeom>
          <a:solidFill>
            <a:srgbClr val="00A86A">
              <a:alpha val="22000"/>
            </a:srgbClr>
          </a:solidFill>
          <a:ln/>
        </p:spPr>
      </p:sp>
      <p:pic>
        <p:nvPicPr>
          <p:cNvPr id="27" name="Image 3" descr="preencoded.png">    </p:cNvPr>
          <p:cNvPicPr>
            <a:picLocks noChangeAspect="1"/>
          </p:cNvPicPr>
          <p:nvPr/>
        </p:nvPicPr>
        <p:blipFill>
          <a:blip r:embed="rId4"/>
          <a:stretch>
            <a:fillRect/>
          </a:stretch>
        </p:blipFill>
        <p:spPr>
          <a:xfrm>
            <a:off x="773948" y="3114812"/>
            <a:ext cx="171176" cy="171176"/>
          </a:xfrm>
          <a:prstGeom prst="rect">
            <a:avLst/>
          </a:prstGeom>
        </p:spPr>
      </p:pic>
      <p:sp>
        <p:nvSpPr>
          <p:cNvPr id="28" name="Text 22"/>
          <p:cNvSpPr txBox="1"/>
          <p:nvPr/>
        </p:nvSpPr>
        <p:spPr>
          <a:xfrm>
            <a:off x="1170432" y="2999232"/>
            <a:ext cx="3108960" cy="4572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Résumer</a:t>
            </a:r>
            <a:endParaRPr lang="en-US" sz="1100" dirty="0"/>
          </a:p>
          <a:p>
            <a:pPr indent="0" marL="0">
              <a:buNone/>
            </a:pPr>
            <a:r>
              <a:rPr lang="en-US" sz="1050" dirty="0">
                <a:solidFill>
                  <a:srgbClr val="5E6964"/>
                </a:solidFill>
                <a:latin typeface="Calibri" pitchFamily="34" charset="0"/>
                <a:ea typeface="Calibri" pitchFamily="34" charset="-122"/>
                <a:cs typeface="Calibri" pitchFamily="34" charset="-120"/>
              </a:rPr>
              <a:t>un rapport méthodologique de 80 pages</a:t>
            </a:r>
            <a:endParaRPr lang="en-US" sz="1100" dirty="0"/>
          </a:p>
        </p:txBody>
      </p:sp>
      <p:sp>
        <p:nvSpPr>
          <p:cNvPr id="29" name="Shape 23"/>
          <p:cNvSpPr/>
          <p:nvPr/>
        </p:nvSpPr>
        <p:spPr>
          <a:xfrm>
            <a:off x="694944" y="3529584"/>
            <a:ext cx="329184" cy="329184"/>
          </a:xfrm>
          <a:prstGeom prst="ellipse">
            <a:avLst/>
          </a:prstGeom>
          <a:solidFill>
            <a:srgbClr val="00A86A">
              <a:alpha val="22000"/>
            </a:srgbClr>
          </a:solidFill>
          <a:ln/>
        </p:spPr>
      </p:sp>
      <p:pic>
        <p:nvPicPr>
          <p:cNvPr id="30" name="Image 4" descr="preencoded.png">    </p:cNvPr>
          <p:cNvPicPr>
            <a:picLocks noChangeAspect="1"/>
          </p:cNvPicPr>
          <p:nvPr/>
        </p:nvPicPr>
        <p:blipFill>
          <a:blip r:embed="rId5"/>
          <a:stretch>
            <a:fillRect/>
          </a:stretch>
        </p:blipFill>
        <p:spPr>
          <a:xfrm>
            <a:off x="773948" y="3608588"/>
            <a:ext cx="171176" cy="171176"/>
          </a:xfrm>
          <a:prstGeom prst="rect">
            <a:avLst/>
          </a:prstGeom>
        </p:spPr>
      </p:pic>
      <p:sp>
        <p:nvSpPr>
          <p:cNvPr id="31" name="Text 24"/>
          <p:cNvSpPr txBox="1"/>
          <p:nvPr/>
        </p:nvSpPr>
        <p:spPr>
          <a:xfrm>
            <a:off x="1170432" y="3493008"/>
            <a:ext cx="3108960" cy="4572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Classer</a:t>
            </a:r>
            <a:endParaRPr lang="en-US" sz="1100" dirty="0"/>
          </a:p>
          <a:p>
            <a:pPr indent="0" marL="0">
              <a:buNone/>
            </a:pPr>
            <a:r>
              <a:rPr lang="en-US" sz="1050" dirty="0">
                <a:solidFill>
                  <a:srgbClr val="5E6964"/>
                </a:solidFill>
                <a:latin typeface="Calibri" pitchFamily="34" charset="0"/>
                <a:ea typeface="Calibri" pitchFamily="34" charset="-122"/>
                <a:cs typeface="Calibri" pitchFamily="34" charset="-120"/>
              </a:rPr>
              <a:t>du texte libre vers une nomenclature</a:t>
            </a:r>
            <a:endParaRPr lang="en-US" sz="1100" dirty="0"/>
          </a:p>
        </p:txBody>
      </p:sp>
      <p:sp>
        <p:nvSpPr>
          <p:cNvPr id="32" name="Shape 25"/>
          <p:cNvSpPr/>
          <p:nvPr/>
        </p:nvSpPr>
        <p:spPr>
          <a:xfrm>
            <a:off x="694944" y="4023360"/>
            <a:ext cx="329184" cy="329184"/>
          </a:xfrm>
          <a:prstGeom prst="ellipse">
            <a:avLst/>
          </a:prstGeom>
          <a:solidFill>
            <a:srgbClr val="00A86A">
              <a:alpha val="22000"/>
            </a:srgbClr>
          </a:solidFill>
          <a:ln/>
        </p:spPr>
      </p:sp>
      <p:pic>
        <p:nvPicPr>
          <p:cNvPr id="33" name="Image 5" descr="preencoded.png">    </p:cNvPr>
          <p:cNvPicPr>
            <a:picLocks noChangeAspect="1"/>
          </p:cNvPicPr>
          <p:nvPr/>
        </p:nvPicPr>
        <p:blipFill>
          <a:blip r:embed="rId6"/>
          <a:stretch>
            <a:fillRect/>
          </a:stretch>
        </p:blipFill>
        <p:spPr>
          <a:xfrm>
            <a:off x="773948" y="4102364"/>
            <a:ext cx="171176" cy="171176"/>
          </a:xfrm>
          <a:prstGeom prst="rect">
            <a:avLst/>
          </a:prstGeom>
        </p:spPr>
      </p:pic>
      <p:sp>
        <p:nvSpPr>
          <p:cNvPr id="34" name="Text 26"/>
          <p:cNvSpPr txBox="1"/>
          <p:nvPr/>
        </p:nvSpPr>
        <p:spPr>
          <a:xfrm>
            <a:off x="1170432" y="3986784"/>
            <a:ext cx="3108960" cy="4572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Programmer</a:t>
            </a:r>
            <a:endParaRPr lang="en-US" sz="1100" dirty="0"/>
          </a:p>
          <a:p>
            <a:pPr indent="0" marL="0">
              <a:buNone/>
            </a:pPr>
            <a:r>
              <a:rPr lang="en-US" sz="1050" dirty="0">
                <a:solidFill>
                  <a:srgbClr val="5E6964"/>
                </a:solidFill>
                <a:latin typeface="Calibri" pitchFamily="34" charset="0"/>
                <a:ea typeface="Calibri" pitchFamily="34" charset="-122"/>
                <a:cs typeface="Calibri" pitchFamily="34" charset="-120"/>
              </a:rPr>
              <a:t>des scripts R, Python ou SQL à relire</a:t>
            </a:r>
            <a:endParaRPr lang="en-US" sz="1100" dirty="0"/>
          </a:p>
        </p:txBody>
      </p:sp>
      <p:sp>
        <p:nvSpPr>
          <p:cNvPr id="35" name="Shape 27"/>
          <p:cNvSpPr/>
          <p:nvPr/>
        </p:nvSpPr>
        <p:spPr>
          <a:xfrm>
            <a:off x="4709160" y="1371600"/>
            <a:ext cx="3977640" cy="3163824"/>
          </a:xfrm>
          <a:prstGeom prst="roundRect">
            <a:avLst>
              <a:gd name="adj" fmla="val 2312"/>
            </a:avLst>
          </a:prstGeom>
          <a:solidFill>
            <a:srgbClr val="F4F7F5"/>
          </a:solidFill>
          <a:ln w="9525">
            <a:solidFill>
              <a:srgbClr val="D5DED9"/>
            </a:solidFill>
            <a:prstDash val="solid"/>
          </a:ln>
        </p:spPr>
      </p:sp>
      <p:sp>
        <p:nvSpPr>
          <p:cNvPr id="36" name="Shape 28"/>
          <p:cNvSpPr/>
          <p:nvPr/>
        </p:nvSpPr>
        <p:spPr>
          <a:xfrm>
            <a:off x="4910328" y="1481328"/>
            <a:ext cx="402336" cy="402336"/>
          </a:xfrm>
          <a:prstGeom prst="ellipse">
            <a:avLst/>
          </a:prstGeom>
          <a:solidFill>
            <a:srgbClr val="B83B2E">
              <a:alpha val="22000"/>
            </a:srgbClr>
          </a:solidFill>
          <a:ln/>
        </p:spPr>
      </p:sp>
      <p:pic>
        <p:nvPicPr>
          <p:cNvPr id="37" name="Image 6" descr="preencoded.png">    </p:cNvPr>
          <p:cNvPicPr>
            <a:picLocks noChangeAspect="1"/>
          </p:cNvPicPr>
          <p:nvPr/>
        </p:nvPicPr>
        <p:blipFill>
          <a:blip r:embed="rId7"/>
          <a:stretch>
            <a:fillRect/>
          </a:stretch>
        </p:blipFill>
        <p:spPr>
          <a:xfrm>
            <a:off x="5006889" y="1577889"/>
            <a:ext cx="209215" cy="209215"/>
          </a:xfrm>
          <a:prstGeom prst="rect">
            <a:avLst/>
          </a:prstGeom>
        </p:spPr>
      </p:pic>
      <p:sp>
        <p:nvSpPr>
          <p:cNvPr id="38" name="Text 29"/>
          <p:cNvSpPr txBox="1"/>
          <p:nvPr/>
        </p:nvSpPr>
        <p:spPr>
          <a:xfrm>
            <a:off x="5422392" y="1481328"/>
            <a:ext cx="3017520" cy="402336"/>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Limites structurelles</a:t>
            </a:r>
            <a:endParaRPr lang="en-US" sz="1500" dirty="0"/>
          </a:p>
        </p:txBody>
      </p:sp>
      <p:sp>
        <p:nvSpPr>
          <p:cNvPr id="39" name="Shape 30"/>
          <p:cNvSpPr/>
          <p:nvPr/>
        </p:nvSpPr>
        <p:spPr>
          <a:xfrm>
            <a:off x="4946904" y="2048256"/>
            <a:ext cx="329184" cy="329184"/>
          </a:xfrm>
          <a:prstGeom prst="ellipse">
            <a:avLst/>
          </a:prstGeom>
          <a:solidFill>
            <a:srgbClr val="B83B2E">
              <a:alpha val="22000"/>
            </a:srgbClr>
          </a:solidFill>
          <a:ln/>
        </p:spPr>
      </p:sp>
      <p:pic>
        <p:nvPicPr>
          <p:cNvPr id="40" name="Image 7" descr="preencoded.png">    </p:cNvPr>
          <p:cNvPicPr>
            <a:picLocks noChangeAspect="1"/>
          </p:cNvPicPr>
          <p:nvPr/>
        </p:nvPicPr>
        <p:blipFill>
          <a:blip r:embed="rId8"/>
          <a:stretch>
            <a:fillRect/>
          </a:stretch>
        </p:blipFill>
        <p:spPr>
          <a:xfrm>
            <a:off x="5025908" y="2127260"/>
            <a:ext cx="171176" cy="171176"/>
          </a:xfrm>
          <a:prstGeom prst="rect">
            <a:avLst/>
          </a:prstGeom>
        </p:spPr>
      </p:pic>
      <p:sp>
        <p:nvSpPr>
          <p:cNvPr id="41" name="Text 31"/>
          <p:cNvSpPr txBox="1"/>
          <p:nvPr/>
        </p:nvSpPr>
        <p:spPr>
          <a:xfrm>
            <a:off x="5422392" y="2011680"/>
            <a:ext cx="3108960" cy="4572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Hallucination</a:t>
            </a:r>
            <a:endParaRPr lang="en-US" sz="1100" dirty="0"/>
          </a:p>
          <a:p>
            <a:pPr indent="0" marL="0">
              <a:buNone/>
            </a:pPr>
            <a:r>
              <a:rPr lang="en-US" sz="1050" dirty="0">
                <a:solidFill>
                  <a:srgbClr val="5E6964"/>
                </a:solidFill>
                <a:latin typeface="Calibri" pitchFamily="34" charset="0"/>
                <a:ea typeface="Calibri" pitchFamily="34" charset="-122"/>
                <a:cs typeface="Calibri" pitchFamily="34" charset="-120"/>
              </a:rPr>
              <a:t>invente un chiffre ou une référence plausible</a:t>
            </a:r>
            <a:endParaRPr lang="en-US" sz="1100" dirty="0"/>
          </a:p>
        </p:txBody>
      </p:sp>
      <p:sp>
        <p:nvSpPr>
          <p:cNvPr id="42" name="Shape 32"/>
          <p:cNvSpPr/>
          <p:nvPr/>
        </p:nvSpPr>
        <p:spPr>
          <a:xfrm>
            <a:off x="4946904" y="2542032"/>
            <a:ext cx="329184" cy="329184"/>
          </a:xfrm>
          <a:prstGeom prst="ellipse">
            <a:avLst/>
          </a:prstGeom>
          <a:solidFill>
            <a:srgbClr val="B83B2E">
              <a:alpha val="22000"/>
            </a:srgbClr>
          </a:solidFill>
          <a:ln/>
        </p:spPr>
      </p:sp>
      <p:pic>
        <p:nvPicPr>
          <p:cNvPr id="43" name="Image 8" descr="preencoded.png">    </p:cNvPr>
          <p:cNvPicPr>
            <a:picLocks noChangeAspect="1"/>
          </p:cNvPicPr>
          <p:nvPr/>
        </p:nvPicPr>
        <p:blipFill>
          <a:blip r:embed="rId9"/>
          <a:stretch>
            <a:fillRect/>
          </a:stretch>
        </p:blipFill>
        <p:spPr>
          <a:xfrm>
            <a:off x="5025908" y="2621036"/>
            <a:ext cx="171176" cy="171176"/>
          </a:xfrm>
          <a:prstGeom prst="rect">
            <a:avLst/>
          </a:prstGeom>
        </p:spPr>
      </p:pic>
      <p:sp>
        <p:nvSpPr>
          <p:cNvPr id="44" name="Text 33"/>
          <p:cNvSpPr txBox="1"/>
          <p:nvPr/>
        </p:nvSpPr>
        <p:spPr>
          <a:xfrm>
            <a:off x="5422392" y="2505456"/>
            <a:ext cx="3108960" cy="4572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Pas de source</a:t>
            </a:r>
            <a:endParaRPr lang="en-US" sz="1100" dirty="0"/>
          </a:p>
          <a:p>
            <a:pPr indent="0" marL="0">
              <a:buNone/>
            </a:pPr>
            <a:r>
              <a:rPr lang="en-US" sz="1050" dirty="0">
                <a:solidFill>
                  <a:srgbClr val="5E6964"/>
                </a:solidFill>
                <a:latin typeface="Calibri" pitchFamily="34" charset="0"/>
                <a:ea typeface="Calibri" pitchFamily="34" charset="-122"/>
                <a:cs typeface="Calibri" pitchFamily="34" charset="-120"/>
              </a:rPr>
              <a:t>ne peut pas dire d'où vient un fait appris</a:t>
            </a:r>
            <a:endParaRPr lang="en-US" sz="1100" dirty="0"/>
          </a:p>
        </p:txBody>
      </p:sp>
      <p:sp>
        <p:nvSpPr>
          <p:cNvPr id="45" name="Shape 34"/>
          <p:cNvSpPr/>
          <p:nvPr/>
        </p:nvSpPr>
        <p:spPr>
          <a:xfrm>
            <a:off x="4946904" y="3035808"/>
            <a:ext cx="329184" cy="329184"/>
          </a:xfrm>
          <a:prstGeom prst="ellipse">
            <a:avLst/>
          </a:prstGeom>
          <a:solidFill>
            <a:srgbClr val="B83B2E">
              <a:alpha val="22000"/>
            </a:srgbClr>
          </a:solidFill>
          <a:ln/>
        </p:spPr>
      </p:sp>
      <p:pic>
        <p:nvPicPr>
          <p:cNvPr id="46" name="Image 9" descr="preencoded.png">    </p:cNvPr>
          <p:cNvPicPr>
            <a:picLocks noChangeAspect="1"/>
          </p:cNvPicPr>
          <p:nvPr/>
        </p:nvPicPr>
        <p:blipFill>
          <a:blip r:embed="rId10"/>
          <a:stretch>
            <a:fillRect/>
          </a:stretch>
        </p:blipFill>
        <p:spPr>
          <a:xfrm>
            <a:off x="5025908" y="3114812"/>
            <a:ext cx="171176" cy="171176"/>
          </a:xfrm>
          <a:prstGeom prst="rect">
            <a:avLst/>
          </a:prstGeom>
        </p:spPr>
      </p:pic>
      <p:sp>
        <p:nvSpPr>
          <p:cNvPr id="47" name="Text 35"/>
          <p:cNvSpPr txBox="1"/>
          <p:nvPr/>
        </p:nvSpPr>
        <p:spPr>
          <a:xfrm>
            <a:off x="5422392" y="2999232"/>
            <a:ext cx="3108960" cy="4572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Date de coupure</a:t>
            </a:r>
            <a:endParaRPr lang="en-US" sz="1100" dirty="0"/>
          </a:p>
          <a:p>
            <a:pPr indent="0" marL="0">
              <a:buNone/>
            </a:pPr>
            <a:r>
              <a:rPr lang="en-US" sz="1050" dirty="0">
                <a:solidFill>
                  <a:srgbClr val="5E6964"/>
                </a:solidFill>
                <a:latin typeface="Calibri" pitchFamily="34" charset="0"/>
                <a:ea typeface="Calibri" pitchFamily="34" charset="-122"/>
                <a:cs typeface="Calibri" pitchFamily="34" charset="-120"/>
              </a:rPr>
              <a:t>ignore tout ce qui suit son entraînement</a:t>
            </a:r>
            <a:endParaRPr lang="en-US" sz="1100" dirty="0"/>
          </a:p>
        </p:txBody>
      </p:sp>
      <p:sp>
        <p:nvSpPr>
          <p:cNvPr id="48" name="Shape 36"/>
          <p:cNvSpPr/>
          <p:nvPr/>
        </p:nvSpPr>
        <p:spPr>
          <a:xfrm>
            <a:off x="4946904" y="3529584"/>
            <a:ext cx="329184" cy="329184"/>
          </a:xfrm>
          <a:prstGeom prst="ellipse">
            <a:avLst/>
          </a:prstGeom>
          <a:solidFill>
            <a:srgbClr val="B83B2E">
              <a:alpha val="22000"/>
            </a:srgbClr>
          </a:solidFill>
          <a:ln/>
        </p:spPr>
      </p:sp>
      <p:pic>
        <p:nvPicPr>
          <p:cNvPr id="49" name="Image 10" descr="preencoded.png">    </p:cNvPr>
          <p:cNvPicPr>
            <a:picLocks noChangeAspect="1"/>
          </p:cNvPicPr>
          <p:nvPr/>
        </p:nvPicPr>
        <p:blipFill>
          <a:blip r:embed="rId11"/>
          <a:stretch>
            <a:fillRect/>
          </a:stretch>
        </p:blipFill>
        <p:spPr>
          <a:xfrm>
            <a:off x="5025908" y="3608588"/>
            <a:ext cx="171176" cy="171176"/>
          </a:xfrm>
          <a:prstGeom prst="rect">
            <a:avLst/>
          </a:prstGeom>
        </p:spPr>
      </p:pic>
      <p:sp>
        <p:nvSpPr>
          <p:cNvPr id="50" name="Text 37"/>
          <p:cNvSpPr txBox="1"/>
          <p:nvPr/>
        </p:nvSpPr>
        <p:spPr>
          <a:xfrm>
            <a:off x="5422392" y="3493008"/>
            <a:ext cx="3108960" cy="4572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Variabilité</a:t>
            </a:r>
            <a:endParaRPr lang="en-US" sz="1100" dirty="0"/>
          </a:p>
          <a:p>
            <a:pPr indent="0" marL="0">
              <a:buNone/>
            </a:pPr>
            <a:r>
              <a:rPr lang="en-US" sz="1050" dirty="0">
                <a:solidFill>
                  <a:srgbClr val="5E6964"/>
                </a:solidFill>
                <a:latin typeface="Calibri" pitchFamily="34" charset="0"/>
                <a:ea typeface="Calibri" pitchFamily="34" charset="-122"/>
                <a:cs typeface="Calibri" pitchFamily="34" charset="-120"/>
              </a:rPr>
              <a:t>deux exécutions peuvent donner deux réponses</a:t>
            </a:r>
            <a:endParaRPr lang="en-US" sz="1100" dirty="0"/>
          </a:p>
        </p:txBody>
      </p:sp>
      <p:sp>
        <p:nvSpPr>
          <p:cNvPr id="51" name="Shape 38"/>
          <p:cNvSpPr/>
          <p:nvPr/>
        </p:nvSpPr>
        <p:spPr>
          <a:xfrm>
            <a:off x="4946904" y="4023360"/>
            <a:ext cx="329184" cy="329184"/>
          </a:xfrm>
          <a:prstGeom prst="ellipse">
            <a:avLst/>
          </a:prstGeom>
          <a:solidFill>
            <a:srgbClr val="B83B2E">
              <a:alpha val="22000"/>
            </a:srgbClr>
          </a:solidFill>
          <a:ln/>
        </p:spPr>
      </p:sp>
      <p:pic>
        <p:nvPicPr>
          <p:cNvPr id="52" name="Image 11" descr="preencoded.png">    </p:cNvPr>
          <p:cNvPicPr>
            <a:picLocks noChangeAspect="1"/>
          </p:cNvPicPr>
          <p:nvPr/>
        </p:nvPicPr>
        <p:blipFill>
          <a:blip r:embed="rId12"/>
          <a:stretch>
            <a:fillRect/>
          </a:stretch>
        </p:blipFill>
        <p:spPr>
          <a:xfrm>
            <a:off x="5025908" y="4102364"/>
            <a:ext cx="171176" cy="171176"/>
          </a:xfrm>
          <a:prstGeom prst="rect">
            <a:avLst/>
          </a:prstGeom>
        </p:spPr>
      </p:pic>
      <p:sp>
        <p:nvSpPr>
          <p:cNvPr id="53" name="Text 39"/>
          <p:cNvSpPr txBox="1"/>
          <p:nvPr/>
        </p:nvSpPr>
        <p:spPr>
          <a:xfrm>
            <a:off x="5422392" y="3986784"/>
            <a:ext cx="3108960" cy="4572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Fenêtre de contexte</a:t>
            </a:r>
            <a:endParaRPr lang="en-US" sz="1100" dirty="0"/>
          </a:p>
          <a:p>
            <a:pPr indent="0" marL="0">
              <a:buNone/>
            </a:pPr>
            <a:r>
              <a:rPr lang="en-US" sz="1050" dirty="0">
                <a:solidFill>
                  <a:srgbClr val="5E6964"/>
                </a:solidFill>
                <a:latin typeface="Calibri" pitchFamily="34" charset="0"/>
                <a:ea typeface="Calibri" pitchFamily="34" charset="-122"/>
                <a:cs typeface="Calibri" pitchFamily="34" charset="-120"/>
              </a:rPr>
              <a:t>ne lit qu'une quantité limitée de texte</a:t>
            </a:r>
            <a:endParaRPr lang="en-US" sz="11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03  ·  LE MODÈLE : CE QU'EST UN GML</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Le modèle d'un côté, l'échafaudage de l'autre</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6" name="Shape 14"/>
          <p:cNvSpPr/>
          <p:nvPr/>
        </p:nvSpPr>
        <p:spPr>
          <a:xfrm>
            <a:off x="457200" y="1371600"/>
            <a:ext cx="3291840" cy="2468880"/>
          </a:xfrm>
          <a:prstGeom prst="roundRect">
            <a:avLst>
              <a:gd name="adj" fmla="val 2963"/>
            </a:avLst>
          </a:prstGeom>
          <a:solidFill>
            <a:srgbClr val="F4F7F5"/>
          </a:solidFill>
          <a:ln w="9525">
            <a:solidFill>
              <a:srgbClr val="D5DED9"/>
            </a:solidFill>
            <a:prstDash val="solid"/>
          </a:ln>
        </p:spPr>
      </p:sp>
      <p:sp>
        <p:nvSpPr>
          <p:cNvPr id="17" name="Text 15"/>
          <p:cNvSpPr txBox="1"/>
          <p:nvPr/>
        </p:nvSpPr>
        <p:spPr>
          <a:xfrm>
            <a:off x="640080" y="1481328"/>
            <a:ext cx="292608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LE MODÈLE</a:t>
            </a:r>
            <a:endParaRPr lang="en-US" sz="1050" dirty="0"/>
          </a:p>
        </p:txBody>
      </p:sp>
      <p:sp>
        <p:nvSpPr>
          <p:cNvPr id="18" name="Text 16"/>
          <p:cNvSpPr txBox="1"/>
          <p:nvPr/>
        </p:nvSpPr>
        <p:spPr>
          <a:xfrm>
            <a:off x="640080" y="1691640"/>
            <a:ext cx="2926080" cy="201168"/>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ce que vous achetez ou téléchargez</a:t>
            </a:r>
            <a:endParaRPr lang="en-US" sz="1000" dirty="0"/>
          </a:p>
        </p:txBody>
      </p:sp>
      <p:sp>
        <p:nvSpPr>
          <p:cNvPr id="19" name="Shape 17"/>
          <p:cNvSpPr/>
          <p:nvPr/>
        </p:nvSpPr>
        <p:spPr>
          <a:xfrm>
            <a:off x="1188720" y="2057400"/>
            <a:ext cx="1828800" cy="822960"/>
          </a:xfrm>
          <a:prstGeom prst="roundRect">
            <a:avLst>
              <a:gd name="adj" fmla="val 8889"/>
            </a:avLst>
          </a:prstGeom>
          <a:solidFill>
            <a:srgbClr val="00553A"/>
          </a:solidFill>
          <a:ln/>
        </p:spPr>
      </p:sp>
      <p:sp>
        <p:nvSpPr>
          <p:cNvPr id="20" name="Text 18"/>
          <p:cNvSpPr txBox="1"/>
          <p:nvPr/>
        </p:nvSpPr>
        <p:spPr>
          <a:xfrm>
            <a:off x="1188720" y="2057400"/>
            <a:ext cx="182880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GML</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poids figés</a:t>
            </a:r>
            <a:endParaRPr lang="en-US" sz="1100" dirty="0"/>
          </a:p>
        </p:txBody>
      </p:sp>
      <p:sp>
        <p:nvSpPr>
          <p:cNvPr id="21" name="Text 19"/>
          <p:cNvSpPr txBox="1"/>
          <p:nvPr/>
        </p:nvSpPr>
        <p:spPr>
          <a:xfrm>
            <a:off x="640080" y="3017520"/>
            <a:ext cx="2926080" cy="274320"/>
          </a:xfrm>
          <a:prstGeom prst="rect">
            <a:avLst/>
          </a:prstGeom>
          <a:noFill/>
          <a:ln/>
        </p:spPr>
        <p:txBody>
          <a:bodyPr wrap="square" lIns="0" tIns="0" rIns="0" bIns="0" rtlCol="0" anchor="t"/>
          <a:lstStyle/>
          <a:p>
            <a:pPr algn="ctr" indent="0" marL="0">
              <a:buNone/>
            </a:pPr>
            <a:r>
              <a:rPr lang="en-US" sz="1050" dirty="0">
                <a:solidFill>
                  <a:srgbClr val="231F20"/>
                </a:solidFill>
                <a:latin typeface="Calibri" pitchFamily="34" charset="0"/>
                <a:ea typeface="Calibri" pitchFamily="34" charset="-122"/>
                <a:cs typeface="Calibri" pitchFamily="34" charset="-120"/>
              </a:rPr>
              <a:t>Se modifie par : pré-entraînement, affinage</a:t>
            </a:r>
            <a:endParaRPr lang="en-US" sz="1050" dirty="0"/>
          </a:p>
        </p:txBody>
      </p:sp>
      <p:sp>
        <p:nvSpPr>
          <p:cNvPr id="22" name="Shape 20"/>
          <p:cNvSpPr/>
          <p:nvPr/>
        </p:nvSpPr>
        <p:spPr>
          <a:xfrm>
            <a:off x="1188720" y="3401568"/>
            <a:ext cx="1828800" cy="219456"/>
          </a:xfrm>
          <a:prstGeom prst="roundRect">
            <a:avLst>
              <a:gd name="adj" fmla="val 50000"/>
            </a:avLst>
          </a:prstGeom>
          <a:solidFill>
            <a:srgbClr val="B83B2E">
              <a:alpha val="15000"/>
            </a:srgbClr>
          </a:solidFill>
          <a:ln w="9525">
            <a:solidFill>
              <a:srgbClr val="B83B2E"/>
            </a:solidFill>
            <a:prstDash val="solid"/>
          </a:ln>
        </p:spPr>
      </p:sp>
      <p:sp>
        <p:nvSpPr>
          <p:cNvPr id="23" name="Text 21"/>
          <p:cNvSpPr txBox="1"/>
          <p:nvPr/>
        </p:nvSpPr>
        <p:spPr>
          <a:xfrm>
            <a:off x="1188720" y="3401568"/>
            <a:ext cx="1828800" cy="219456"/>
          </a:xfrm>
          <a:prstGeom prst="rect">
            <a:avLst/>
          </a:prstGeom>
          <a:noFill/>
          <a:ln/>
        </p:spPr>
        <p:txBody>
          <a:bodyPr wrap="square" lIns="0" tIns="0" rIns="0" bIns="0" rtlCol="0" anchor="ctr"/>
          <a:lstStyle/>
          <a:p>
            <a:pPr algn="ctr" indent="0" marL="0">
              <a:buNone/>
            </a:pPr>
            <a:r>
              <a:rPr lang="en-US" sz="900" b="1" dirty="0">
                <a:solidFill>
                  <a:srgbClr val="B83B2E"/>
                </a:solidFill>
                <a:latin typeface="Calibri" pitchFamily="34" charset="0"/>
                <a:ea typeface="Calibri" pitchFamily="34" charset="-122"/>
                <a:cs typeface="Calibri" pitchFamily="34" charset="-120"/>
              </a:rPr>
              <a:t>coûteux · permanent</a:t>
            </a:r>
            <a:endParaRPr lang="en-US" sz="900" dirty="0"/>
          </a:p>
        </p:txBody>
      </p:sp>
      <p:sp>
        <p:nvSpPr>
          <p:cNvPr id="24" name="Shape 22"/>
          <p:cNvSpPr/>
          <p:nvPr/>
        </p:nvSpPr>
        <p:spPr>
          <a:xfrm>
            <a:off x="4023360" y="1371600"/>
            <a:ext cx="4663440" cy="2468880"/>
          </a:xfrm>
          <a:prstGeom prst="roundRect">
            <a:avLst>
              <a:gd name="adj" fmla="val 2963"/>
            </a:avLst>
          </a:prstGeom>
          <a:solidFill>
            <a:srgbClr val="E8F5EF"/>
          </a:solidFill>
          <a:ln w="15875">
            <a:solidFill>
              <a:srgbClr val="00A86A"/>
            </a:solidFill>
            <a:prstDash val="solid"/>
          </a:ln>
        </p:spPr>
      </p:sp>
      <p:sp>
        <p:nvSpPr>
          <p:cNvPr id="25" name="Text 23"/>
          <p:cNvSpPr txBox="1"/>
          <p:nvPr/>
        </p:nvSpPr>
        <p:spPr>
          <a:xfrm>
            <a:off x="4206240" y="1481328"/>
            <a:ext cx="22860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L'ÉCHAFAUDAGE</a:t>
            </a:r>
            <a:endParaRPr lang="en-US" sz="1050" dirty="0"/>
          </a:p>
        </p:txBody>
      </p:sp>
      <p:sp>
        <p:nvSpPr>
          <p:cNvPr id="26" name="Text 24"/>
          <p:cNvSpPr txBox="1"/>
          <p:nvPr/>
        </p:nvSpPr>
        <p:spPr>
          <a:xfrm>
            <a:off x="4206240" y="1691640"/>
            <a:ext cx="2377440" cy="201168"/>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ce que vous construisez autour</a:t>
            </a:r>
            <a:endParaRPr lang="en-US" sz="1000" dirty="0"/>
          </a:p>
        </p:txBody>
      </p:sp>
      <p:sp>
        <p:nvSpPr>
          <p:cNvPr id="27" name="Shape 25"/>
          <p:cNvSpPr/>
          <p:nvPr/>
        </p:nvSpPr>
        <p:spPr>
          <a:xfrm>
            <a:off x="6675120" y="1554480"/>
            <a:ext cx="1828800" cy="219456"/>
          </a:xfrm>
          <a:prstGeom prst="roundRect">
            <a:avLst>
              <a:gd name="adj" fmla="val 50000"/>
            </a:avLst>
          </a:prstGeom>
          <a:solidFill>
            <a:srgbClr val="00A86A">
              <a:alpha val="15000"/>
            </a:srgbClr>
          </a:solidFill>
          <a:ln w="9525">
            <a:solidFill>
              <a:srgbClr val="00A86A"/>
            </a:solidFill>
            <a:prstDash val="solid"/>
          </a:ln>
        </p:spPr>
      </p:sp>
      <p:sp>
        <p:nvSpPr>
          <p:cNvPr id="28" name="Text 26"/>
          <p:cNvSpPr txBox="1"/>
          <p:nvPr/>
        </p:nvSpPr>
        <p:spPr>
          <a:xfrm>
            <a:off x="6675120" y="1554480"/>
            <a:ext cx="1828800" cy="219456"/>
          </a:xfrm>
          <a:prstGeom prst="rect">
            <a:avLst/>
          </a:prstGeom>
          <a:noFill/>
          <a:ln/>
        </p:spPr>
        <p:txBody>
          <a:bodyPr wrap="square" lIns="0" tIns="0" rIns="0" bIns="0" rtlCol="0" anchor="ctr"/>
          <a:lstStyle/>
          <a:p>
            <a:pPr algn="ctr" indent="0" marL="0">
              <a:buNone/>
            </a:pPr>
            <a:r>
              <a:rPr lang="en-US" sz="900" b="1" dirty="0">
                <a:solidFill>
                  <a:srgbClr val="00A86A"/>
                </a:solidFill>
                <a:latin typeface="Calibri" pitchFamily="34" charset="0"/>
                <a:ea typeface="Calibri" pitchFamily="34" charset="-122"/>
                <a:cs typeface="Calibri" pitchFamily="34" charset="-120"/>
              </a:rPr>
              <a:t>peu coûteux · réversible</a:t>
            </a:r>
            <a:endParaRPr lang="en-US" sz="900" dirty="0"/>
          </a:p>
        </p:txBody>
      </p:sp>
      <p:sp>
        <p:nvSpPr>
          <p:cNvPr id="29" name="Shape 27"/>
          <p:cNvSpPr/>
          <p:nvPr/>
        </p:nvSpPr>
        <p:spPr>
          <a:xfrm>
            <a:off x="4206240" y="1993392"/>
            <a:ext cx="4297680" cy="1719072"/>
          </a:xfrm>
          <a:prstGeom prst="roundRect">
            <a:avLst>
              <a:gd name="adj" fmla="val 3191"/>
            </a:avLst>
          </a:prstGeom>
          <a:solidFill>
            <a:srgbClr val="FFFFFF">
              <a:alpha val="70000"/>
            </a:srgbClr>
          </a:solidFill>
          <a:ln w="15875">
            <a:solidFill>
              <a:srgbClr val="C4621D"/>
            </a:solidFill>
            <a:prstDash val="solid"/>
          </a:ln>
        </p:spPr>
      </p:sp>
      <p:sp>
        <p:nvSpPr>
          <p:cNvPr id="30" name="Text 28"/>
          <p:cNvSpPr txBox="1"/>
          <p:nvPr/>
        </p:nvSpPr>
        <p:spPr>
          <a:xfrm>
            <a:off x="4315968" y="2039112"/>
            <a:ext cx="4114800" cy="219456"/>
          </a:xfrm>
          <a:prstGeom prst="rect">
            <a:avLst/>
          </a:prstGeom>
          <a:noFill/>
          <a:ln/>
        </p:spPr>
        <p:txBody>
          <a:bodyPr wrap="square" lIns="0" tIns="0" rIns="0" bIns="0" rtlCol="0" anchor="t"/>
          <a:lstStyle/>
          <a:p>
            <a:pPr indent="0" marL="0">
              <a:buNone/>
            </a:pPr>
            <a:r>
              <a:rPr lang="en-US" sz="900" b="1" dirty="0">
                <a:solidFill>
                  <a:srgbClr val="C4621D"/>
                </a:solidFill>
                <a:latin typeface="Calibri" pitchFamily="34" charset="0"/>
                <a:ea typeface="Calibri" pitchFamily="34" charset="-122"/>
                <a:cs typeface="Calibri" pitchFamily="34" charset="-120"/>
              </a:rPr>
              <a:t>MCP · câble normalisé vers vos outils et données</a:t>
            </a:r>
            <a:endParaRPr lang="en-US" sz="900" dirty="0"/>
          </a:p>
        </p:txBody>
      </p:sp>
      <p:sp>
        <p:nvSpPr>
          <p:cNvPr id="31" name="Shape 29"/>
          <p:cNvSpPr/>
          <p:nvPr/>
        </p:nvSpPr>
        <p:spPr>
          <a:xfrm>
            <a:off x="4407408" y="2286000"/>
            <a:ext cx="3895344" cy="1353312"/>
          </a:xfrm>
          <a:prstGeom prst="roundRect">
            <a:avLst>
              <a:gd name="adj" fmla="val 4054"/>
            </a:avLst>
          </a:prstGeom>
          <a:solidFill>
            <a:srgbClr val="FFFFFF">
              <a:alpha val="70000"/>
            </a:srgbClr>
          </a:solidFill>
          <a:ln w="15875">
            <a:solidFill>
              <a:srgbClr val="0E7C86"/>
            </a:solidFill>
            <a:prstDash val="solid"/>
          </a:ln>
        </p:spPr>
      </p:sp>
      <p:sp>
        <p:nvSpPr>
          <p:cNvPr id="32" name="Text 30"/>
          <p:cNvSpPr txBox="1"/>
          <p:nvPr/>
        </p:nvSpPr>
        <p:spPr>
          <a:xfrm>
            <a:off x="4517136" y="2331720"/>
            <a:ext cx="3712464" cy="219456"/>
          </a:xfrm>
          <a:prstGeom prst="rect">
            <a:avLst/>
          </a:prstGeom>
          <a:noFill/>
          <a:ln/>
        </p:spPr>
        <p:txBody>
          <a:bodyPr wrap="square" lIns="0" tIns="0" rIns="0" bIns="0" rtlCol="0" anchor="t"/>
          <a:lstStyle/>
          <a:p>
            <a:pPr indent="0" marL="0">
              <a:buNone/>
            </a:pPr>
            <a:r>
              <a:rPr lang="en-US" sz="900" b="1" dirty="0">
                <a:solidFill>
                  <a:srgbClr val="0E7C86"/>
                </a:solidFill>
                <a:latin typeface="Calibri" pitchFamily="34" charset="0"/>
                <a:ea typeface="Calibri" pitchFamily="34" charset="-122"/>
                <a:cs typeface="Calibri" pitchFamily="34" charset="-120"/>
              </a:rPr>
              <a:t>BOUCLE D'AGENT · la sortie devient action</a:t>
            </a:r>
            <a:endParaRPr lang="en-US" sz="900" dirty="0"/>
          </a:p>
        </p:txBody>
      </p:sp>
      <p:sp>
        <p:nvSpPr>
          <p:cNvPr id="33" name="Shape 31"/>
          <p:cNvSpPr/>
          <p:nvPr/>
        </p:nvSpPr>
        <p:spPr>
          <a:xfrm>
            <a:off x="4608576" y="2578608"/>
            <a:ext cx="3493008" cy="987552"/>
          </a:xfrm>
          <a:prstGeom prst="roundRect">
            <a:avLst>
              <a:gd name="adj" fmla="val 5556"/>
            </a:avLst>
          </a:prstGeom>
          <a:solidFill>
            <a:srgbClr val="FFFFFF">
              <a:alpha val="70000"/>
            </a:srgbClr>
          </a:solidFill>
          <a:ln w="15875">
            <a:solidFill>
              <a:srgbClr val="D49A00"/>
            </a:solidFill>
            <a:prstDash val="solid"/>
          </a:ln>
        </p:spPr>
      </p:sp>
      <p:sp>
        <p:nvSpPr>
          <p:cNvPr id="34" name="Text 32"/>
          <p:cNvSpPr txBox="1"/>
          <p:nvPr/>
        </p:nvSpPr>
        <p:spPr>
          <a:xfrm>
            <a:off x="4718304" y="2624328"/>
            <a:ext cx="3310128" cy="219456"/>
          </a:xfrm>
          <a:prstGeom prst="rect">
            <a:avLst/>
          </a:prstGeom>
          <a:noFill/>
          <a:ln/>
        </p:spPr>
        <p:txBody>
          <a:bodyPr wrap="square" lIns="0" tIns="0" rIns="0" bIns="0" rtlCol="0" anchor="t"/>
          <a:lstStyle/>
          <a:p>
            <a:pPr indent="0" marL="0">
              <a:buNone/>
            </a:pPr>
            <a:r>
              <a:rPr lang="en-US" sz="900" b="1" dirty="0">
                <a:solidFill>
                  <a:srgbClr val="D49A00"/>
                </a:solidFill>
                <a:latin typeface="Calibri" pitchFamily="34" charset="0"/>
                <a:ea typeface="Calibri" pitchFamily="34" charset="-122"/>
                <a:cs typeface="Calibri" pitchFamily="34" charset="-120"/>
              </a:rPr>
              <a:t>CONTEXTE · requête + documents retrouvés</a:t>
            </a:r>
            <a:endParaRPr lang="en-US" sz="900" dirty="0"/>
          </a:p>
        </p:txBody>
      </p:sp>
      <p:sp>
        <p:nvSpPr>
          <p:cNvPr id="35" name="Shape 33"/>
          <p:cNvSpPr/>
          <p:nvPr/>
        </p:nvSpPr>
        <p:spPr>
          <a:xfrm>
            <a:off x="5806440" y="2926080"/>
            <a:ext cx="1097280" cy="457200"/>
          </a:xfrm>
          <a:prstGeom prst="roundRect">
            <a:avLst>
              <a:gd name="adj" fmla="val 12000"/>
            </a:avLst>
          </a:prstGeom>
          <a:solidFill>
            <a:srgbClr val="00553A"/>
          </a:solidFill>
          <a:ln/>
        </p:spPr>
      </p:sp>
      <p:sp>
        <p:nvSpPr>
          <p:cNvPr id="36" name="Text 34"/>
          <p:cNvSpPr txBox="1"/>
          <p:nvPr/>
        </p:nvSpPr>
        <p:spPr>
          <a:xfrm>
            <a:off x="5806440" y="2926080"/>
            <a:ext cx="10972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GML</a:t>
            </a:r>
            <a:endParaRPr lang="en-US" sz="1400" dirty="0"/>
          </a:p>
        </p:txBody>
      </p:sp>
      <p:sp>
        <p:nvSpPr>
          <p:cNvPr id="37" name="Shape 35"/>
          <p:cNvSpPr/>
          <p:nvPr/>
        </p:nvSpPr>
        <p:spPr>
          <a:xfrm>
            <a:off x="457200" y="3986784"/>
            <a:ext cx="8229600" cy="548640"/>
          </a:xfrm>
          <a:prstGeom prst="roundRect">
            <a:avLst>
              <a:gd name="adj" fmla="val 13333"/>
            </a:avLst>
          </a:prstGeom>
          <a:solidFill>
            <a:srgbClr val="FFFFFF"/>
          </a:solidFill>
          <a:ln w="9525">
            <a:solidFill>
              <a:srgbClr val="D5DED9"/>
            </a:solidFill>
            <a:prstDash val="solid"/>
          </a:ln>
        </p:spPr>
      </p:sp>
      <p:sp>
        <p:nvSpPr>
          <p:cNvPr id="38" name="Shape 36"/>
          <p:cNvSpPr/>
          <p:nvPr/>
        </p:nvSpPr>
        <p:spPr>
          <a:xfrm>
            <a:off x="603504" y="4059936"/>
            <a:ext cx="402336" cy="402336"/>
          </a:xfrm>
          <a:prstGeom prst="ellipse">
            <a:avLst/>
          </a:prstGeom>
          <a:solidFill>
            <a:srgbClr val="00704A">
              <a:alpha val="22000"/>
            </a:srgbClr>
          </a:solidFill>
          <a:ln/>
        </p:spPr>
      </p:sp>
      <p:pic>
        <p:nvPicPr>
          <p:cNvPr id="39" name="Image 0" descr="preencoded.png">    </p:cNvPr>
          <p:cNvPicPr>
            <a:picLocks noChangeAspect="1"/>
          </p:cNvPicPr>
          <p:nvPr/>
        </p:nvPicPr>
        <p:blipFill>
          <a:blip r:embed="rId1"/>
          <a:stretch>
            <a:fillRect/>
          </a:stretch>
        </p:blipFill>
        <p:spPr>
          <a:xfrm>
            <a:off x="700065" y="4156497"/>
            <a:ext cx="209215" cy="209215"/>
          </a:xfrm>
          <a:prstGeom prst="rect">
            <a:avLst/>
          </a:prstGeom>
        </p:spPr>
      </p:pic>
      <p:sp>
        <p:nvSpPr>
          <p:cNvPr id="40" name="Text 37"/>
          <p:cNvSpPr txBox="1"/>
          <p:nvPr/>
        </p:nvSpPr>
        <p:spPr>
          <a:xfrm>
            <a:off x="1143000" y="4023360"/>
            <a:ext cx="7406640" cy="475488"/>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Rien de ce qui est à droite ne modifie le modèle. </a:t>
            </a:r>
            <a:pPr indent="0" marL="0">
              <a:buNone/>
            </a:pPr>
            <a:r>
              <a:rPr lang="en-US" sz="1150" dirty="0">
                <a:solidFill>
                  <a:srgbClr val="231F20"/>
                </a:solidFill>
                <a:latin typeface="Calibri" pitchFamily="34" charset="0"/>
                <a:ea typeface="Calibri" pitchFamily="34" charset="-122"/>
                <a:cs typeface="Calibri" pitchFamily="34" charset="-120"/>
              </a:rPr>
              <a:t>L'échafaudage se change un mardi après-midi ; le modèle, non. Ce seul fait explique l'essentiel du coût et du risque.</a:t>
            </a:r>
            <a:endParaRPr lang="en-US" sz="11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04</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Piloter : requête, RAG, affinage</a:t>
            </a:r>
            <a:endParaRPr lang="en-US" sz="26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Où intervenir pour changer ce que le modèle produit ?</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5C242"/>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r>
          <p:cNvPicPr>
            <a:picLocks noChangeAspect="1"/>
          </p:cNvPicPr>
          <p:nvPr/>
        </p:nvPicPr>
        <p:blipFill>
          <a:blip r:embed="rId2"/>
          <a:stretch>
            <a:fillRect/>
          </a:stretch>
        </p:blipFill>
        <p:spPr>
          <a:xfrm>
            <a:off x="6675120" y="2286000"/>
            <a:ext cx="548640" cy="548640"/>
          </a:xfrm>
          <a:prstGeom prst="rect">
            <a:avLst/>
          </a:prstGeom>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04  ·  PILOTER : REQUÊTE, RAG, AFFINAGE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Quatre endroits où changer ce que fait le modèle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6" name="Shape 14"/>
          <p:cNvSpPr/>
          <p:nvPr/>
        </p:nvSpPr>
        <p:spPr>
          <a:xfrm>
            <a:off x="457200" y="1371600"/>
            <a:ext cx="1920240" cy="2395728"/>
          </a:xfrm>
          <a:prstGeom prst="roundRect">
            <a:avLst>
              <a:gd name="adj" fmla="val 3810"/>
            </a:avLst>
          </a:prstGeom>
          <a:solidFill>
            <a:srgbClr val="F4F7F5"/>
          </a:solidFill>
          <a:ln w="9525">
            <a:solidFill>
              <a:srgbClr val="D5DED9"/>
            </a:solidFill>
            <a:prstDash val="solid"/>
          </a:ln>
        </p:spPr>
      </p:sp>
      <p:sp>
        <p:nvSpPr>
          <p:cNvPr id="17" name="Shape 15"/>
          <p:cNvSpPr/>
          <p:nvPr/>
        </p:nvSpPr>
        <p:spPr>
          <a:xfrm>
            <a:off x="621792" y="1481328"/>
            <a:ext cx="438912" cy="438912"/>
          </a:xfrm>
          <a:prstGeom prst="ellipse">
            <a:avLst/>
          </a:prstGeom>
          <a:solidFill>
            <a:srgbClr val="00A86A">
              <a:alpha val="22000"/>
            </a:srgbClr>
          </a:solidFill>
          <a:ln/>
        </p:spPr>
      </p:sp>
      <p:pic>
        <p:nvPicPr>
          <p:cNvPr id="18" name="Image 0" descr="preencoded.png">    </p:cNvPr>
          <p:cNvPicPr>
            <a:picLocks noChangeAspect="1"/>
          </p:cNvPicPr>
          <p:nvPr/>
        </p:nvPicPr>
        <p:blipFill>
          <a:blip r:embed="rId1"/>
          <a:stretch>
            <a:fillRect/>
          </a:stretch>
        </p:blipFill>
        <p:spPr>
          <a:xfrm>
            <a:off x="727131" y="1586667"/>
            <a:ext cx="228234" cy="228234"/>
          </a:xfrm>
          <a:prstGeom prst="rect">
            <a:avLst/>
          </a:prstGeom>
        </p:spPr>
      </p:pic>
      <p:sp>
        <p:nvSpPr>
          <p:cNvPr id="19" name="Text 16"/>
          <p:cNvSpPr txBox="1"/>
          <p:nvPr/>
        </p:nvSpPr>
        <p:spPr>
          <a:xfrm>
            <a:off x="1133856" y="1463040"/>
            <a:ext cx="1188720" cy="512064"/>
          </a:xfrm>
          <a:prstGeom prst="rect">
            <a:avLst/>
          </a:prstGeom>
          <a:noFill/>
          <a:ln/>
        </p:spPr>
        <p:txBody>
          <a:bodyPr wrap="square" lIns="0" tIns="0" rIns="0" bIns="0" rtlCol="0" anchor="ctr"/>
          <a:lstStyle/>
          <a:p>
            <a:pPr indent="0" marL="0">
              <a:buNone/>
            </a:pPr>
            <a:r>
              <a:rPr lang="en-US" sz="1350" b="1" dirty="0">
                <a:solidFill>
                  <a:srgbClr val="00A86A"/>
                </a:solidFill>
                <a:latin typeface="Calibri" pitchFamily="34" charset="0"/>
                <a:ea typeface="Calibri" pitchFamily="34" charset="-122"/>
                <a:cs typeface="Calibri" pitchFamily="34" charset="-120"/>
              </a:rPr>
              <a:t>Requête</a:t>
            </a:r>
            <a:endParaRPr lang="en-US" sz="1100" dirty="0"/>
          </a:p>
          <a:p>
            <a:pPr indent="0" marL="0">
              <a:buNone/>
            </a:pPr>
            <a:r>
              <a:rPr lang="en-US" sz="850" i="1" dirty="0">
                <a:solidFill>
                  <a:srgbClr val="5E6964"/>
                </a:solidFill>
                <a:latin typeface="Calibri" pitchFamily="34" charset="0"/>
                <a:ea typeface="Calibri" pitchFamily="34" charset="-122"/>
                <a:cs typeface="Calibri" pitchFamily="34" charset="-120"/>
              </a:rPr>
              <a:t>prompt</a:t>
            </a:r>
            <a:endParaRPr lang="en-US" sz="1100" dirty="0"/>
          </a:p>
        </p:txBody>
      </p:sp>
      <p:sp>
        <p:nvSpPr>
          <p:cNvPr id="20" name="Text 17"/>
          <p:cNvSpPr txBox="1"/>
          <p:nvPr/>
        </p:nvSpPr>
        <p:spPr>
          <a:xfrm>
            <a:off x="621792" y="2103120"/>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Agit sur</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l'instruction</a:t>
            </a:r>
            <a:endParaRPr lang="en-US" sz="1100" dirty="0"/>
          </a:p>
        </p:txBody>
      </p:sp>
      <p:sp>
        <p:nvSpPr>
          <p:cNvPr id="21" name="Text 18"/>
          <p:cNvSpPr txBox="1"/>
          <p:nvPr/>
        </p:nvSpPr>
        <p:spPr>
          <a:xfrm>
            <a:off x="621792" y="2505456"/>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des minutes</a:t>
            </a:r>
            <a:endParaRPr lang="en-US" sz="1100" dirty="0"/>
          </a:p>
        </p:txBody>
      </p:sp>
      <p:sp>
        <p:nvSpPr>
          <p:cNvPr id="22" name="Text 19"/>
          <p:cNvSpPr txBox="1"/>
          <p:nvPr/>
        </p:nvSpPr>
        <p:spPr>
          <a:xfrm>
            <a:off x="621792" y="2907792"/>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Réversible ?</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oui, immédiat</a:t>
            </a:r>
            <a:endParaRPr lang="en-US" sz="1100" dirty="0"/>
          </a:p>
        </p:txBody>
      </p:sp>
      <p:sp>
        <p:nvSpPr>
          <p:cNvPr id="23" name="Text 20"/>
          <p:cNvSpPr txBox="1"/>
          <p:nvPr/>
        </p:nvSpPr>
        <p:spPr>
          <a:xfrm>
            <a:off x="621792" y="3310128"/>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Traçable ?</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oui</a:t>
            </a:r>
            <a:endParaRPr lang="en-US" sz="1100" dirty="0"/>
          </a:p>
        </p:txBody>
      </p:sp>
      <p:sp>
        <p:nvSpPr>
          <p:cNvPr id="24" name="Shape 21"/>
          <p:cNvSpPr/>
          <p:nvPr/>
        </p:nvSpPr>
        <p:spPr>
          <a:xfrm>
            <a:off x="2560320" y="1371600"/>
            <a:ext cx="1920240" cy="2395728"/>
          </a:xfrm>
          <a:prstGeom prst="roundRect">
            <a:avLst>
              <a:gd name="adj" fmla="val 3810"/>
            </a:avLst>
          </a:prstGeom>
          <a:solidFill>
            <a:srgbClr val="F4F7F5"/>
          </a:solidFill>
          <a:ln w="9525">
            <a:solidFill>
              <a:srgbClr val="D5DED9"/>
            </a:solidFill>
            <a:prstDash val="solid"/>
          </a:ln>
        </p:spPr>
      </p:sp>
      <p:sp>
        <p:nvSpPr>
          <p:cNvPr id="25" name="Shape 22"/>
          <p:cNvSpPr/>
          <p:nvPr/>
        </p:nvSpPr>
        <p:spPr>
          <a:xfrm>
            <a:off x="2724912" y="1481328"/>
            <a:ext cx="438912" cy="438912"/>
          </a:xfrm>
          <a:prstGeom prst="ellipse">
            <a:avLst/>
          </a:prstGeom>
          <a:solidFill>
            <a:srgbClr val="0E7C86">
              <a:alpha val="22000"/>
            </a:srgbClr>
          </a:solidFill>
          <a:ln/>
        </p:spPr>
      </p:sp>
      <p:pic>
        <p:nvPicPr>
          <p:cNvPr id="26" name="Image 1" descr="preencoded.png">    </p:cNvPr>
          <p:cNvPicPr>
            <a:picLocks noChangeAspect="1"/>
          </p:cNvPicPr>
          <p:nvPr/>
        </p:nvPicPr>
        <p:blipFill>
          <a:blip r:embed="rId2"/>
          <a:stretch>
            <a:fillRect/>
          </a:stretch>
        </p:blipFill>
        <p:spPr>
          <a:xfrm>
            <a:off x="2830251" y="1586667"/>
            <a:ext cx="228234" cy="228234"/>
          </a:xfrm>
          <a:prstGeom prst="rect">
            <a:avLst/>
          </a:prstGeom>
        </p:spPr>
      </p:pic>
      <p:sp>
        <p:nvSpPr>
          <p:cNvPr id="27" name="Text 23"/>
          <p:cNvSpPr txBox="1"/>
          <p:nvPr/>
        </p:nvSpPr>
        <p:spPr>
          <a:xfrm>
            <a:off x="3236976" y="1463040"/>
            <a:ext cx="1188720" cy="512064"/>
          </a:xfrm>
          <a:prstGeom prst="rect">
            <a:avLst/>
          </a:prstGeom>
          <a:noFill/>
          <a:ln/>
        </p:spPr>
        <p:txBody>
          <a:bodyPr wrap="square" lIns="0" tIns="0" rIns="0" bIns="0" rtlCol="0" anchor="ctr"/>
          <a:lstStyle/>
          <a:p>
            <a:pPr indent="0" marL="0">
              <a:buNone/>
            </a:pPr>
            <a:r>
              <a:rPr lang="en-US" sz="1350" b="1" dirty="0">
                <a:solidFill>
                  <a:srgbClr val="0E7C86"/>
                </a:solidFill>
                <a:latin typeface="Calibri" pitchFamily="34" charset="0"/>
                <a:ea typeface="Calibri" pitchFamily="34" charset="-122"/>
                <a:cs typeface="Calibri" pitchFamily="34" charset="-120"/>
              </a:rPr>
              <a:t>RAG</a:t>
            </a:r>
            <a:endParaRPr lang="en-US" sz="1100" dirty="0"/>
          </a:p>
          <a:p>
            <a:pPr indent="0" marL="0">
              <a:buNone/>
            </a:pPr>
            <a:r>
              <a:rPr lang="en-US" sz="850" i="1" dirty="0">
                <a:solidFill>
                  <a:srgbClr val="5E6964"/>
                </a:solidFill>
                <a:latin typeface="Calibri" pitchFamily="34" charset="0"/>
                <a:ea typeface="Calibri" pitchFamily="34" charset="-122"/>
                <a:cs typeface="Calibri" pitchFamily="34" charset="-120"/>
              </a:rPr>
              <a:t>génération augmentée par recherche</a:t>
            </a:r>
            <a:endParaRPr lang="en-US" sz="1100" dirty="0"/>
          </a:p>
        </p:txBody>
      </p:sp>
      <p:sp>
        <p:nvSpPr>
          <p:cNvPr id="28" name="Text 24"/>
          <p:cNvSpPr txBox="1"/>
          <p:nvPr/>
        </p:nvSpPr>
        <p:spPr>
          <a:xfrm>
            <a:off x="2724912" y="2103120"/>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Agit sur</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le contexte</a:t>
            </a:r>
            <a:endParaRPr lang="en-US" sz="1100" dirty="0"/>
          </a:p>
        </p:txBody>
      </p:sp>
      <p:sp>
        <p:nvSpPr>
          <p:cNvPr id="29" name="Text 25"/>
          <p:cNvSpPr txBox="1"/>
          <p:nvPr/>
        </p:nvSpPr>
        <p:spPr>
          <a:xfrm>
            <a:off x="2724912" y="2505456"/>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un projet</a:t>
            </a:r>
            <a:endParaRPr lang="en-US" sz="1100" dirty="0"/>
          </a:p>
        </p:txBody>
      </p:sp>
      <p:sp>
        <p:nvSpPr>
          <p:cNvPr id="30" name="Text 26"/>
          <p:cNvSpPr txBox="1"/>
          <p:nvPr/>
        </p:nvSpPr>
        <p:spPr>
          <a:xfrm>
            <a:off x="2724912" y="2907792"/>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Réversible ?</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oui, document par document</a:t>
            </a:r>
            <a:endParaRPr lang="en-US" sz="1100" dirty="0"/>
          </a:p>
        </p:txBody>
      </p:sp>
      <p:sp>
        <p:nvSpPr>
          <p:cNvPr id="31" name="Text 27"/>
          <p:cNvSpPr txBox="1"/>
          <p:nvPr/>
        </p:nvSpPr>
        <p:spPr>
          <a:xfrm>
            <a:off x="2724912" y="3310128"/>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Traçable ?</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oui, sources citées</a:t>
            </a:r>
            <a:endParaRPr lang="en-US" sz="1100" dirty="0"/>
          </a:p>
        </p:txBody>
      </p:sp>
      <p:sp>
        <p:nvSpPr>
          <p:cNvPr id="32" name="Shape 28"/>
          <p:cNvSpPr/>
          <p:nvPr/>
        </p:nvSpPr>
        <p:spPr>
          <a:xfrm>
            <a:off x="4663440" y="1371600"/>
            <a:ext cx="1920240" cy="2395728"/>
          </a:xfrm>
          <a:prstGeom prst="roundRect">
            <a:avLst>
              <a:gd name="adj" fmla="val 3810"/>
            </a:avLst>
          </a:prstGeom>
          <a:solidFill>
            <a:srgbClr val="F4F7F5"/>
          </a:solidFill>
          <a:ln w="9525">
            <a:solidFill>
              <a:srgbClr val="D5DED9"/>
            </a:solidFill>
            <a:prstDash val="solid"/>
          </a:ln>
        </p:spPr>
      </p:sp>
      <p:sp>
        <p:nvSpPr>
          <p:cNvPr id="33" name="Shape 29"/>
          <p:cNvSpPr/>
          <p:nvPr/>
        </p:nvSpPr>
        <p:spPr>
          <a:xfrm>
            <a:off x="4828032" y="1481328"/>
            <a:ext cx="438912" cy="438912"/>
          </a:xfrm>
          <a:prstGeom prst="ellipse">
            <a:avLst/>
          </a:prstGeom>
          <a:solidFill>
            <a:srgbClr val="D49A00">
              <a:alpha val="22000"/>
            </a:srgbClr>
          </a:solidFill>
          <a:ln/>
        </p:spPr>
      </p:sp>
      <p:pic>
        <p:nvPicPr>
          <p:cNvPr id="34" name="Image 2" descr="preencoded.png">    </p:cNvPr>
          <p:cNvPicPr>
            <a:picLocks noChangeAspect="1"/>
          </p:cNvPicPr>
          <p:nvPr/>
        </p:nvPicPr>
        <p:blipFill>
          <a:blip r:embed="rId3"/>
          <a:stretch>
            <a:fillRect/>
          </a:stretch>
        </p:blipFill>
        <p:spPr>
          <a:xfrm>
            <a:off x="4933371" y="1586667"/>
            <a:ext cx="228234" cy="228234"/>
          </a:xfrm>
          <a:prstGeom prst="rect">
            <a:avLst/>
          </a:prstGeom>
        </p:spPr>
      </p:pic>
      <p:sp>
        <p:nvSpPr>
          <p:cNvPr id="35" name="Text 30"/>
          <p:cNvSpPr txBox="1"/>
          <p:nvPr/>
        </p:nvSpPr>
        <p:spPr>
          <a:xfrm>
            <a:off x="5340096" y="1463040"/>
            <a:ext cx="1188720" cy="512064"/>
          </a:xfrm>
          <a:prstGeom prst="rect">
            <a:avLst/>
          </a:prstGeom>
          <a:noFill/>
          <a:ln/>
        </p:spPr>
        <p:txBody>
          <a:bodyPr wrap="square" lIns="0" tIns="0" rIns="0" bIns="0" rtlCol="0" anchor="ctr"/>
          <a:lstStyle/>
          <a:p>
            <a:pPr indent="0" marL="0">
              <a:buNone/>
            </a:pPr>
            <a:r>
              <a:rPr lang="en-US" sz="1350" b="1" dirty="0">
                <a:solidFill>
                  <a:srgbClr val="D49A00"/>
                </a:solidFill>
                <a:latin typeface="Calibri" pitchFamily="34" charset="0"/>
                <a:ea typeface="Calibri" pitchFamily="34" charset="-122"/>
                <a:cs typeface="Calibri" pitchFamily="34" charset="-120"/>
              </a:rPr>
              <a:t>Affinage</a:t>
            </a:r>
            <a:endParaRPr lang="en-US" sz="1100" dirty="0"/>
          </a:p>
          <a:p>
            <a:pPr indent="0" marL="0">
              <a:buNone/>
            </a:pPr>
            <a:r>
              <a:rPr lang="en-US" sz="850" i="1" dirty="0">
                <a:solidFill>
                  <a:srgbClr val="5E6964"/>
                </a:solidFill>
                <a:latin typeface="Calibri" pitchFamily="34" charset="0"/>
                <a:ea typeface="Calibri" pitchFamily="34" charset="-122"/>
                <a:cs typeface="Calibri" pitchFamily="34" charset="-120"/>
              </a:rPr>
              <a:t>fine-tuning</a:t>
            </a:r>
            <a:endParaRPr lang="en-US" sz="1100" dirty="0"/>
          </a:p>
        </p:txBody>
      </p:sp>
      <p:sp>
        <p:nvSpPr>
          <p:cNvPr id="36" name="Text 31"/>
          <p:cNvSpPr txBox="1"/>
          <p:nvPr/>
        </p:nvSpPr>
        <p:spPr>
          <a:xfrm>
            <a:off x="4828032" y="2103120"/>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Agit sur</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les poids</a:t>
            </a:r>
            <a:endParaRPr lang="en-US" sz="1100" dirty="0"/>
          </a:p>
        </p:txBody>
      </p:sp>
      <p:sp>
        <p:nvSpPr>
          <p:cNvPr id="37" name="Text 32"/>
          <p:cNvSpPr txBox="1"/>
          <p:nvPr/>
        </p:nvSpPr>
        <p:spPr>
          <a:xfrm>
            <a:off x="4828032" y="2505456"/>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un projet + un jeu d'exemples</a:t>
            </a:r>
            <a:endParaRPr lang="en-US" sz="1100" dirty="0"/>
          </a:p>
        </p:txBody>
      </p:sp>
      <p:sp>
        <p:nvSpPr>
          <p:cNvPr id="38" name="Text 33"/>
          <p:cNvSpPr txBox="1"/>
          <p:nvPr/>
        </p:nvSpPr>
        <p:spPr>
          <a:xfrm>
            <a:off x="4828032" y="2907792"/>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Réversible ?</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non, il faut réentraîner</a:t>
            </a:r>
            <a:endParaRPr lang="en-US" sz="1100" dirty="0"/>
          </a:p>
        </p:txBody>
      </p:sp>
      <p:sp>
        <p:nvSpPr>
          <p:cNvPr id="39" name="Text 34"/>
          <p:cNvSpPr txBox="1"/>
          <p:nvPr/>
        </p:nvSpPr>
        <p:spPr>
          <a:xfrm>
            <a:off x="4828032" y="3310128"/>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Traçable ?</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non</a:t>
            </a:r>
            <a:endParaRPr lang="en-US" sz="1100" dirty="0"/>
          </a:p>
        </p:txBody>
      </p:sp>
      <p:sp>
        <p:nvSpPr>
          <p:cNvPr id="40" name="Shape 35"/>
          <p:cNvSpPr/>
          <p:nvPr/>
        </p:nvSpPr>
        <p:spPr>
          <a:xfrm>
            <a:off x="6766560" y="1371600"/>
            <a:ext cx="1920240" cy="2395728"/>
          </a:xfrm>
          <a:prstGeom prst="roundRect">
            <a:avLst>
              <a:gd name="adj" fmla="val 3810"/>
            </a:avLst>
          </a:prstGeom>
          <a:solidFill>
            <a:srgbClr val="EEF0EF"/>
          </a:solidFill>
          <a:ln w="9525">
            <a:solidFill>
              <a:srgbClr val="D5DED9"/>
            </a:solidFill>
            <a:prstDash val="solid"/>
          </a:ln>
        </p:spPr>
      </p:sp>
      <p:sp>
        <p:nvSpPr>
          <p:cNvPr id="41" name="Shape 36"/>
          <p:cNvSpPr/>
          <p:nvPr/>
        </p:nvSpPr>
        <p:spPr>
          <a:xfrm>
            <a:off x="6931152" y="1481328"/>
            <a:ext cx="438912" cy="438912"/>
          </a:xfrm>
          <a:prstGeom prst="ellipse">
            <a:avLst/>
          </a:prstGeom>
          <a:solidFill>
            <a:srgbClr val="B83B2E">
              <a:alpha val="22000"/>
            </a:srgbClr>
          </a:solidFill>
          <a:ln/>
        </p:spPr>
      </p:sp>
      <p:pic>
        <p:nvPicPr>
          <p:cNvPr id="42" name="Image 3" descr="preencoded.png">    </p:cNvPr>
          <p:cNvPicPr>
            <a:picLocks noChangeAspect="1"/>
          </p:cNvPicPr>
          <p:nvPr/>
        </p:nvPicPr>
        <p:blipFill>
          <a:blip r:embed="rId4"/>
          <a:stretch>
            <a:fillRect/>
          </a:stretch>
        </p:blipFill>
        <p:spPr>
          <a:xfrm>
            <a:off x="7036491" y="1586667"/>
            <a:ext cx="228234" cy="228234"/>
          </a:xfrm>
          <a:prstGeom prst="rect">
            <a:avLst/>
          </a:prstGeom>
        </p:spPr>
      </p:pic>
      <p:sp>
        <p:nvSpPr>
          <p:cNvPr id="43" name="Text 37"/>
          <p:cNvSpPr txBox="1"/>
          <p:nvPr/>
        </p:nvSpPr>
        <p:spPr>
          <a:xfrm>
            <a:off x="7443216" y="1463040"/>
            <a:ext cx="1188720" cy="512064"/>
          </a:xfrm>
          <a:prstGeom prst="rect">
            <a:avLst/>
          </a:prstGeom>
          <a:noFill/>
          <a:ln/>
        </p:spPr>
        <p:txBody>
          <a:bodyPr wrap="square" lIns="0" tIns="0" rIns="0" bIns="0" rtlCol="0" anchor="ctr"/>
          <a:lstStyle/>
          <a:p>
            <a:pPr indent="0" marL="0">
              <a:buNone/>
            </a:pPr>
            <a:r>
              <a:rPr lang="en-US" sz="1150" b="1" dirty="0">
                <a:solidFill>
                  <a:srgbClr val="B83B2E"/>
                </a:solidFill>
                <a:latin typeface="Calibri" pitchFamily="34" charset="0"/>
                <a:ea typeface="Calibri" pitchFamily="34" charset="-122"/>
                <a:cs typeface="Calibri" pitchFamily="34" charset="-120"/>
              </a:rPr>
              <a:t>Pré-entraînement</a:t>
            </a:r>
            <a:endParaRPr lang="en-US" sz="1100" dirty="0"/>
          </a:p>
          <a:p>
            <a:pPr indent="0" marL="0">
              <a:buNone/>
            </a:pPr>
            <a:r>
              <a:rPr lang="en-US" sz="850" i="1" dirty="0">
                <a:solidFill>
                  <a:srgbClr val="5E6964"/>
                </a:solidFill>
                <a:latin typeface="Calibri" pitchFamily="34" charset="0"/>
                <a:ea typeface="Calibri" pitchFamily="34" charset="-122"/>
                <a:cs typeface="Calibri" pitchFamily="34" charset="-120"/>
              </a:rPr>
              <a:t>pre-training</a:t>
            </a:r>
            <a:endParaRPr lang="en-US" sz="1100" dirty="0"/>
          </a:p>
        </p:txBody>
      </p:sp>
      <p:sp>
        <p:nvSpPr>
          <p:cNvPr id="44" name="Text 38"/>
          <p:cNvSpPr txBox="1"/>
          <p:nvPr/>
        </p:nvSpPr>
        <p:spPr>
          <a:xfrm>
            <a:off x="6931152" y="2103120"/>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Agit sur</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le modèle entier</a:t>
            </a:r>
            <a:endParaRPr lang="en-US" sz="1100" dirty="0"/>
          </a:p>
        </p:txBody>
      </p:sp>
      <p:sp>
        <p:nvSpPr>
          <p:cNvPr id="45" name="Text 39"/>
          <p:cNvSpPr txBox="1"/>
          <p:nvPr/>
        </p:nvSpPr>
        <p:spPr>
          <a:xfrm>
            <a:off x="6931152" y="2505456"/>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hors de portée d'un INS</a:t>
            </a:r>
            <a:endParaRPr lang="en-US" sz="1100" dirty="0"/>
          </a:p>
        </p:txBody>
      </p:sp>
      <p:sp>
        <p:nvSpPr>
          <p:cNvPr id="46" name="Text 40"/>
          <p:cNvSpPr txBox="1"/>
          <p:nvPr/>
        </p:nvSpPr>
        <p:spPr>
          <a:xfrm>
            <a:off x="6931152" y="2907792"/>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Réversible ?</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non</a:t>
            </a:r>
            <a:endParaRPr lang="en-US" sz="1100" dirty="0"/>
          </a:p>
        </p:txBody>
      </p:sp>
      <p:sp>
        <p:nvSpPr>
          <p:cNvPr id="47" name="Text 41"/>
          <p:cNvSpPr txBox="1"/>
          <p:nvPr/>
        </p:nvSpPr>
        <p:spPr>
          <a:xfrm>
            <a:off x="6931152" y="3310128"/>
            <a:ext cx="1645920" cy="384048"/>
          </a:xfrm>
          <a:prstGeom prst="rect">
            <a:avLst/>
          </a:prstGeom>
          <a:noFill/>
          <a:ln/>
        </p:spPr>
        <p:txBody>
          <a:bodyPr wrap="square" lIns="0" tIns="0" rIns="0" bIns="0" rtlCol="0" anchor="t"/>
          <a:lstStyle/>
          <a:p>
            <a:pPr indent="0" marL="0">
              <a:buNone/>
            </a:pPr>
            <a:r>
              <a:rPr lang="en-US" sz="850" b="1" dirty="0">
                <a:solidFill>
                  <a:srgbClr val="5E6964"/>
                </a:solidFill>
                <a:latin typeface="Calibri" pitchFamily="34" charset="0"/>
                <a:ea typeface="Calibri" pitchFamily="34" charset="-122"/>
                <a:cs typeface="Calibri" pitchFamily="34" charset="-120"/>
              </a:rPr>
              <a:t>Traçable ?</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non</a:t>
            </a:r>
            <a:endParaRPr lang="en-US" sz="1100" dirty="0"/>
          </a:p>
        </p:txBody>
      </p:sp>
      <p:sp>
        <p:nvSpPr>
          <p:cNvPr id="48" name="Shape 42"/>
          <p:cNvSpPr/>
          <p:nvPr/>
        </p:nvSpPr>
        <p:spPr>
          <a:xfrm>
            <a:off x="457200" y="3877056"/>
            <a:ext cx="2103120" cy="219456"/>
          </a:xfrm>
          <a:prstGeom prst="rect">
            <a:avLst/>
          </a:prstGeom>
          <a:solidFill>
            <a:srgbClr val="9ED9C0"/>
          </a:solidFill>
          <a:ln/>
        </p:spPr>
      </p:sp>
      <p:sp>
        <p:nvSpPr>
          <p:cNvPr id="49" name="Shape 43"/>
          <p:cNvSpPr/>
          <p:nvPr/>
        </p:nvSpPr>
        <p:spPr>
          <a:xfrm>
            <a:off x="2560320" y="3877056"/>
            <a:ext cx="2103120" cy="219456"/>
          </a:xfrm>
          <a:prstGeom prst="rect">
            <a:avLst/>
          </a:prstGeom>
          <a:solidFill>
            <a:srgbClr val="57BD92"/>
          </a:solidFill>
          <a:ln/>
        </p:spPr>
      </p:sp>
      <p:sp>
        <p:nvSpPr>
          <p:cNvPr id="50" name="Shape 44"/>
          <p:cNvSpPr/>
          <p:nvPr/>
        </p:nvSpPr>
        <p:spPr>
          <a:xfrm>
            <a:off x="4663440" y="3877056"/>
            <a:ext cx="2103120" cy="219456"/>
          </a:xfrm>
          <a:prstGeom prst="rect">
            <a:avLst/>
          </a:prstGeom>
          <a:solidFill>
            <a:srgbClr val="D49A00"/>
          </a:solidFill>
          <a:ln/>
        </p:spPr>
      </p:sp>
      <p:sp>
        <p:nvSpPr>
          <p:cNvPr id="51" name="Shape 45"/>
          <p:cNvSpPr/>
          <p:nvPr/>
        </p:nvSpPr>
        <p:spPr>
          <a:xfrm>
            <a:off x="6766560" y="3877056"/>
            <a:ext cx="1920240" cy="219456"/>
          </a:xfrm>
          <a:prstGeom prst="rightArrow">
            <a:avLst/>
          </a:prstGeom>
          <a:solidFill>
            <a:srgbClr val="B83B2E"/>
          </a:solidFill>
          <a:ln/>
        </p:spPr>
      </p:sp>
      <p:sp>
        <p:nvSpPr>
          <p:cNvPr id="52" name="Text 46"/>
          <p:cNvSpPr txBox="1"/>
          <p:nvPr/>
        </p:nvSpPr>
        <p:spPr>
          <a:xfrm>
            <a:off x="2560320" y="3877056"/>
            <a:ext cx="4023360" cy="219456"/>
          </a:xfrm>
          <a:prstGeom prst="rect">
            <a:avLst/>
          </a:prstGeom>
          <a:noFill/>
          <a:ln/>
        </p:spPr>
        <p:txBody>
          <a:bodyPr wrap="square" lIns="0" tIns="0" rIns="0" bIns="0" rtlCol="0" anchor="ctr"/>
          <a:lstStyle/>
          <a:p>
            <a:pPr algn="ctr" indent="0" marL="0">
              <a:buNone/>
            </a:pPr>
            <a:r>
              <a:rPr lang="en-US" sz="950" b="1" dirty="0">
                <a:solidFill>
                  <a:srgbClr val="231F20"/>
                </a:solidFill>
                <a:latin typeface="Calibri" pitchFamily="34" charset="0"/>
                <a:ea typeface="Calibri" pitchFamily="34" charset="-122"/>
                <a:cs typeface="Calibri" pitchFamily="34" charset="-120"/>
              </a:rPr>
              <a:t>coût et permanence augmentent vers la droite</a:t>
            </a:r>
            <a:endParaRPr lang="en-US" sz="950" dirty="0"/>
          </a:p>
        </p:txBody>
      </p:sp>
      <p:sp>
        <p:nvSpPr>
          <p:cNvPr id="53" name="Shape 47"/>
          <p:cNvSpPr/>
          <p:nvPr/>
        </p:nvSpPr>
        <p:spPr>
          <a:xfrm>
            <a:off x="457200" y="4187952"/>
            <a:ext cx="347472" cy="347472"/>
          </a:xfrm>
          <a:prstGeom prst="ellipse">
            <a:avLst/>
          </a:prstGeom>
          <a:solidFill>
            <a:srgbClr val="00704A">
              <a:alpha val="22000"/>
            </a:srgbClr>
          </a:solidFill>
          <a:ln/>
        </p:spPr>
      </p:sp>
      <p:pic>
        <p:nvPicPr>
          <p:cNvPr id="54" name="Image 4" descr="preencoded.png">    </p:cNvPr>
          <p:cNvPicPr>
            <a:picLocks noChangeAspect="1"/>
          </p:cNvPicPr>
          <p:nvPr/>
        </p:nvPicPr>
        <p:blipFill>
          <a:blip r:embed="rId5"/>
          <a:stretch>
            <a:fillRect/>
          </a:stretch>
        </p:blipFill>
        <p:spPr>
          <a:xfrm>
            <a:off x="540593" y="4271345"/>
            <a:ext cx="180685" cy="180685"/>
          </a:xfrm>
          <a:prstGeom prst="rect">
            <a:avLst/>
          </a:prstGeom>
        </p:spPr>
      </p:pic>
      <p:sp>
        <p:nvSpPr>
          <p:cNvPr id="55" name="Text 48"/>
          <p:cNvSpPr txBox="1"/>
          <p:nvPr/>
        </p:nvSpPr>
        <p:spPr>
          <a:xfrm>
            <a:off x="914400" y="4187952"/>
            <a:ext cx="7772400" cy="347472"/>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Règle : </a:t>
            </a:r>
            <a:pPr indent="0" marL="0">
              <a:buNone/>
            </a:pPr>
            <a:r>
              <a:rPr lang="en-US" sz="1200" dirty="0">
                <a:solidFill>
                  <a:srgbClr val="231F20"/>
                </a:solidFill>
                <a:latin typeface="Calibri" pitchFamily="34" charset="0"/>
                <a:ea typeface="Calibri" pitchFamily="34" charset="-122"/>
                <a:cs typeface="Calibri" pitchFamily="34" charset="-120"/>
              </a:rPr>
              <a:t>ne jamais aller vers la droite avant d'avoir prouvé que la gauche ne suffit pas. Presque tout se règle à gauche.</a:t>
            </a:r>
            <a:endParaRPr lang="en-US" sz="12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04  ·  PILOTER : REQUÊTE, RAG, AFFINAGE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L'ingénierie des requêtes : écrire une consigne vérifiable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6" name="Shape 14"/>
          <p:cNvSpPr/>
          <p:nvPr/>
        </p:nvSpPr>
        <p:spPr>
          <a:xfrm>
            <a:off x="457200" y="1371600"/>
            <a:ext cx="4846320" cy="3163824"/>
          </a:xfrm>
          <a:prstGeom prst="roundRect">
            <a:avLst>
              <a:gd name="adj" fmla="val 2312"/>
            </a:avLst>
          </a:prstGeom>
          <a:solidFill>
            <a:srgbClr val="FFFFFF"/>
          </a:solidFill>
          <a:ln w="9525">
            <a:solidFill>
              <a:srgbClr val="D5DED9"/>
            </a:solidFill>
            <a:prstDash val="solid"/>
          </a:ln>
        </p:spPr>
      </p:sp>
      <p:sp>
        <p:nvSpPr>
          <p:cNvPr id="17" name="Text 15"/>
          <p:cNvSpPr txBox="1"/>
          <p:nvPr/>
        </p:nvSpPr>
        <p:spPr>
          <a:xfrm>
            <a:off x="640080" y="1463040"/>
            <a:ext cx="4114800" cy="201168"/>
          </a:xfrm>
          <a:prstGeom prst="rect">
            <a:avLst/>
          </a:prstGeom>
          <a:noFill/>
          <a:ln/>
        </p:spPr>
        <p:txBody>
          <a:bodyPr wrap="square" lIns="0" tIns="0" rIns="0" bIns="0" rtlCol="0" anchor="t"/>
          <a:lstStyle/>
          <a:p>
            <a:pPr indent="0" marL="0">
              <a:buNone/>
            </a:pPr>
            <a:r>
              <a:rPr lang="en-US" sz="900" b="1" spc="200" kern="0" dirty="0">
                <a:solidFill>
                  <a:srgbClr val="5E6964"/>
                </a:solidFill>
                <a:latin typeface="Calibri" pitchFamily="34" charset="0"/>
                <a:ea typeface="Calibri" pitchFamily="34" charset="-122"/>
                <a:cs typeface="Calibri" pitchFamily="34" charset="-120"/>
              </a:rPr>
              <a:t>EXEMPLE DE REQUÊTE STRUCTURÉE</a:t>
            </a:r>
            <a:endParaRPr lang="en-US" sz="900" dirty="0"/>
          </a:p>
        </p:txBody>
      </p:sp>
      <p:sp>
        <p:nvSpPr>
          <p:cNvPr id="18" name="Shape 16"/>
          <p:cNvSpPr/>
          <p:nvPr/>
        </p:nvSpPr>
        <p:spPr>
          <a:xfrm>
            <a:off x="640080" y="1837944"/>
            <a:ext cx="1097280" cy="237744"/>
          </a:xfrm>
          <a:prstGeom prst="roundRect">
            <a:avLst>
              <a:gd name="adj" fmla="val 46154"/>
            </a:avLst>
          </a:prstGeom>
          <a:solidFill>
            <a:srgbClr val="00A86A">
              <a:alpha val="15000"/>
            </a:srgbClr>
          </a:solidFill>
          <a:ln w="9525">
            <a:solidFill>
              <a:srgbClr val="00A86A"/>
            </a:solidFill>
            <a:prstDash val="solid"/>
          </a:ln>
        </p:spPr>
      </p:sp>
      <p:sp>
        <p:nvSpPr>
          <p:cNvPr id="19" name="Text 17"/>
          <p:cNvSpPr txBox="1"/>
          <p:nvPr/>
        </p:nvSpPr>
        <p:spPr>
          <a:xfrm>
            <a:off x="640080" y="1837944"/>
            <a:ext cx="1097280" cy="237744"/>
          </a:xfrm>
          <a:prstGeom prst="rect">
            <a:avLst/>
          </a:prstGeom>
          <a:noFill/>
          <a:ln/>
        </p:spPr>
        <p:txBody>
          <a:bodyPr wrap="square" lIns="0" tIns="0" rIns="0" bIns="0" rtlCol="0" anchor="ctr"/>
          <a:lstStyle/>
          <a:p>
            <a:pPr algn="ctr" indent="0" marL="0">
              <a:buNone/>
            </a:pPr>
            <a:r>
              <a:rPr lang="en-US" sz="850" b="1" dirty="0">
                <a:solidFill>
                  <a:srgbClr val="00A86A"/>
                </a:solidFill>
                <a:latin typeface="Calibri" pitchFamily="34" charset="0"/>
                <a:ea typeface="Calibri" pitchFamily="34" charset="-122"/>
                <a:cs typeface="Calibri" pitchFamily="34" charset="-120"/>
              </a:rPr>
              <a:t>RÔLE</a:t>
            </a:r>
            <a:endParaRPr lang="en-US" sz="850" dirty="0"/>
          </a:p>
        </p:txBody>
      </p:sp>
      <p:sp>
        <p:nvSpPr>
          <p:cNvPr id="20" name="Text 18"/>
          <p:cNvSpPr txBox="1"/>
          <p:nvPr/>
        </p:nvSpPr>
        <p:spPr>
          <a:xfrm>
            <a:off x="1874520" y="1783080"/>
            <a:ext cx="3291840" cy="502920"/>
          </a:xfrm>
          <a:prstGeom prst="rect">
            <a:avLst/>
          </a:prstGeom>
          <a:noFill/>
          <a:ln/>
        </p:spPr>
        <p:txBody>
          <a:bodyPr wrap="square" lIns="0" tIns="0" rIns="0" bIns="0" rtlCol="0" anchor="ctr"/>
          <a:lstStyle/>
          <a:p>
            <a:pPr indent="0" marL="0">
              <a:buNone/>
            </a:pPr>
            <a:r>
              <a:rPr lang="en-US" sz="950" dirty="0">
                <a:solidFill>
                  <a:srgbClr val="231F20"/>
                </a:solidFill>
                <a:latin typeface="Courier New" pitchFamily="34" charset="0"/>
                <a:ea typeface="Courier New" pitchFamily="34" charset="-122"/>
                <a:cs typeface="Courier New" pitchFamily="34" charset="-120"/>
              </a:rPr>
              <a:t>Tu es rédacteur à l'institut national de la statistique.</a:t>
            </a:r>
            <a:endParaRPr lang="en-US" sz="950" dirty="0"/>
          </a:p>
        </p:txBody>
      </p:sp>
      <p:sp>
        <p:nvSpPr>
          <p:cNvPr id="21" name="Shape 19"/>
          <p:cNvSpPr/>
          <p:nvPr/>
        </p:nvSpPr>
        <p:spPr>
          <a:xfrm>
            <a:off x="640080" y="2386584"/>
            <a:ext cx="1097280" cy="237744"/>
          </a:xfrm>
          <a:prstGeom prst="roundRect">
            <a:avLst>
              <a:gd name="adj" fmla="val 46154"/>
            </a:avLst>
          </a:prstGeom>
          <a:solidFill>
            <a:srgbClr val="00704A">
              <a:alpha val="15000"/>
            </a:srgbClr>
          </a:solidFill>
          <a:ln w="9525">
            <a:solidFill>
              <a:srgbClr val="00704A"/>
            </a:solidFill>
            <a:prstDash val="solid"/>
          </a:ln>
        </p:spPr>
      </p:sp>
      <p:sp>
        <p:nvSpPr>
          <p:cNvPr id="22" name="Text 20"/>
          <p:cNvSpPr txBox="1"/>
          <p:nvPr/>
        </p:nvSpPr>
        <p:spPr>
          <a:xfrm>
            <a:off x="640080" y="2386584"/>
            <a:ext cx="1097280" cy="23774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TÂCHE</a:t>
            </a:r>
            <a:endParaRPr lang="en-US" sz="850" dirty="0"/>
          </a:p>
        </p:txBody>
      </p:sp>
      <p:sp>
        <p:nvSpPr>
          <p:cNvPr id="23" name="Text 21"/>
          <p:cNvSpPr txBox="1"/>
          <p:nvPr/>
        </p:nvSpPr>
        <p:spPr>
          <a:xfrm>
            <a:off x="1874520" y="2331720"/>
            <a:ext cx="3291840" cy="502920"/>
          </a:xfrm>
          <a:prstGeom prst="rect">
            <a:avLst/>
          </a:prstGeom>
          <a:noFill/>
          <a:ln/>
        </p:spPr>
        <p:txBody>
          <a:bodyPr wrap="square" lIns="0" tIns="0" rIns="0" bIns="0" rtlCol="0" anchor="ctr"/>
          <a:lstStyle/>
          <a:p>
            <a:pPr indent="0" marL="0">
              <a:buNone/>
            </a:pPr>
            <a:r>
              <a:rPr lang="en-US" sz="950" dirty="0">
                <a:solidFill>
                  <a:srgbClr val="231F20"/>
                </a:solidFill>
                <a:latin typeface="Courier New" pitchFamily="34" charset="0"/>
                <a:ea typeface="Courier New" pitchFamily="34" charset="-122"/>
                <a:cs typeface="Courier New" pitchFamily="34" charset="-120"/>
              </a:rPr>
              <a:t>Rédige un commentaire de 80 mots sur le tableau fourni.</a:t>
            </a:r>
            <a:endParaRPr lang="en-US" sz="950" dirty="0"/>
          </a:p>
        </p:txBody>
      </p:sp>
      <p:sp>
        <p:nvSpPr>
          <p:cNvPr id="24" name="Shape 22"/>
          <p:cNvSpPr/>
          <p:nvPr/>
        </p:nvSpPr>
        <p:spPr>
          <a:xfrm>
            <a:off x="640080" y="2935224"/>
            <a:ext cx="1097280" cy="237744"/>
          </a:xfrm>
          <a:prstGeom prst="roundRect">
            <a:avLst>
              <a:gd name="adj" fmla="val 46154"/>
            </a:avLst>
          </a:prstGeom>
          <a:solidFill>
            <a:srgbClr val="0E7C86">
              <a:alpha val="15000"/>
            </a:srgbClr>
          </a:solidFill>
          <a:ln w="9525">
            <a:solidFill>
              <a:srgbClr val="0E7C86"/>
            </a:solidFill>
            <a:prstDash val="solid"/>
          </a:ln>
        </p:spPr>
      </p:sp>
      <p:sp>
        <p:nvSpPr>
          <p:cNvPr id="25" name="Text 23"/>
          <p:cNvSpPr txBox="1"/>
          <p:nvPr/>
        </p:nvSpPr>
        <p:spPr>
          <a:xfrm>
            <a:off x="640080" y="2935224"/>
            <a:ext cx="1097280" cy="237744"/>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CONTEXTE</a:t>
            </a:r>
            <a:endParaRPr lang="en-US" sz="850" dirty="0"/>
          </a:p>
        </p:txBody>
      </p:sp>
      <p:sp>
        <p:nvSpPr>
          <p:cNvPr id="26" name="Text 24"/>
          <p:cNvSpPr txBox="1"/>
          <p:nvPr/>
        </p:nvSpPr>
        <p:spPr>
          <a:xfrm>
            <a:off x="1874520" y="2880360"/>
            <a:ext cx="3291840" cy="502920"/>
          </a:xfrm>
          <a:prstGeom prst="rect">
            <a:avLst/>
          </a:prstGeom>
          <a:noFill/>
          <a:ln/>
        </p:spPr>
        <p:txBody>
          <a:bodyPr wrap="square" lIns="0" tIns="0" rIns="0" bIns="0" rtlCol="0" anchor="ctr"/>
          <a:lstStyle/>
          <a:p>
            <a:pPr indent="0" marL="0">
              <a:buNone/>
            </a:pPr>
            <a:r>
              <a:rPr lang="en-US" sz="950" dirty="0">
                <a:solidFill>
                  <a:srgbClr val="231F20"/>
                </a:solidFill>
                <a:latin typeface="Courier New" pitchFamily="34" charset="0"/>
                <a:ea typeface="Courier New" pitchFamily="34" charset="-122"/>
                <a:cs typeface="Courier New" pitchFamily="34" charset="-120"/>
              </a:rPr>
              <a:t>[Tableau IPC de mars 2026 collé ici]</a:t>
            </a:r>
            <a:endParaRPr lang="en-US" sz="950" dirty="0"/>
          </a:p>
        </p:txBody>
      </p:sp>
      <p:sp>
        <p:nvSpPr>
          <p:cNvPr id="27" name="Shape 25"/>
          <p:cNvSpPr/>
          <p:nvPr/>
        </p:nvSpPr>
        <p:spPr>
          <a:xfrm>
            <a:off x="640080" y="3483864"/>
            <a:ext cx="1097280" cy="237744"/>
          </a:xfrm>
          <a:prstGeom prst="roundRect">
            <a:avLst>
              <a:gd name="adj" fmla="val 46154"/>
            </a:avLst>
          </a:prstGeom>
          <a:solidFill>
            <a:srgbClr val="D49A00">
              <a:alpha val="15000"/>
            </a:srgbClr>
          </a:solidFill>
          <a:ln w="9525">
            <a:solidFill>
              <a:srgbClr val="D49A00"/>
            </a:solidFill>
            <a:prstDash val="solid"/>
          </a:ln>
        </p:spPr>
      </p:sp>
      <p:sp>
        <p:nvSpPr>
          <p:cNvPr id="28" name="Text 26"/>
          <p:cNvSpPr txBox="1"/>
          <p:nvPr/>
        </p:nvSpPr>
        <p:spPr>
          <a:xfrm>
            <a:off x="640080" y="3483864"/>
            <a:ext cx="1097280" cy="237744"/>
          </a:xfrm>
          <a:prstGeom prst="rect">
            <a:avLst/>
          </a:prstGeom>
          <a:noFill/>
          <a:ln/>
        </p:spPr>
        <p:txBody>
          <a:bodyPr wrap="square" lIns="0" tIns="0" rIns="0" bIns="0" rtlCol="0" anchor="ctr"/>
          <a:lstStyle/>
          <a:p>
            <a:pPr algn="ctr" indent="0" marL="0">
              <a:buNone/>
            </a:pPr>
            <a:r>
              <a:rPr lang="en-US" sz="850" b="1" dirty="0">
                <a:solidFill>
                  <a:srgbClr val="D49A00"/>
                </a:solidFill>
                <a:latin typeface="Calibri" pitchFamily="34" charset="0"/>
                <a:ea typeface="Calibri" pitchFamily="34" charset="-122"/>
                <a:cs typeface="Calibri" pitchFamily="34" charset="-120"/>
              </a:rPr>
              <a:t>FORMAT</a:t>
            </a:r>
            <a:endParaRPr lang="en-US" sz="850" dirty="0"/>
          </a:p>
        </p:txBody>
      </p:sp>
      <p:sp>
        <p:nvSpPr>
          <p:cNvPr id="29" name="Text 27"/>
          <p:cNvSpPr txBox="1"/>
          <p:nvPr/>
        </p:nvSpPr>
        <p:spPr>
          <a:xfrm>
            <a:off x="1874520" y="3429000"/>
            <a:ext cx="3291840" cy="502920"/>
          </a:xfrm>
          <a:prstGeom prst="rect">
            <a:avLst/>
          </a:prstGeom>
          <a:noFill/>
          <a:ln/>
        </p:spPr>
        <p:txBody>
          <a:bodyPr wrap="square" lIns="0" tIns="0" rIns="0" bIns="0" rtlCol="0" anchor="ctr"/>
          <a:lstStyle/>
          <a:p>
            <a:pPr indent="0" marL="0">
              <a:buNone/>
            </a:pPr>
            <a:r>
              <a:rPr lang="en-US" sz="950" dirty="0">
                <a:solidFill>
                  <a:srgbClr val="231F20"/>
                </a:solidFill>
                <a:latin typeface="Courier New" pitchFamily="34" charset="0"/>
                <a:ea typeface="Courier New" pitchFamily="34" charset="-122"/>
                <a:cs typeface="Courier New" pitchFamily="34" charset="-120"/>
              </a:rPr>
              <a:t>Un paragraphe, ton neutre, taux arrondis à 0,1 point.</a:t>
            </a:r>
            <a:endParaRPr lang="en-US" sz="950" dirty="0"/>
          </a:p>
        </p:txBody>
      </p:sp>
      <p:sp>
        <p:nvSpPr>
          <p:cNvPr id="30" name="Shape 28"/>
          <p:cNvSpPr/>
          <p:nvPr/>
        </p:nvSpPr>
        <p:spPr>
          <a:xfrm>
            <a:off x="640080" y="4032504"/>
            <a:ext cx="1097280" cy="237744"/>
          </a:xfrm>
          <a:prstGeom prst="roundRect">
            <a:avLst>
              <a:gd name="adj" fmla="val 46154"/>
            </a:avLst>
          </a:prstGeom>
          <a:solidFill>
            <a:srgbClr val="C4621D">
              <a:alpha val="15000"/>
            </a:srgbClr>
          </a:solidFill>
          <a:ln w="9525">
            <a:solidFill>
              <a:srgbClr val="C4621D"/>
            </a:solidFill>
            <a:prstDash val="solid"/>
          </a:ln>
        </p:spPr>
      </p:sp>
      <p:sp>
        <p:nvSpPr>
          <p:cNvPr id="31" name="Text 29"/>
          <p:cNvSpPr txBox="1"/>
          <p:nvPr/>
        </p:nvSpPr>
        <p:spPr>
          <a:xfrm>
            <a:off x="640080" y="4032504"/>
            <a:ext cx="1097280" cy="237744"/>
          </a:xfrm>
          <a:prstGeom prst="rect">
            <a:avLst/>
          </a:prstGeom>
          <a:noFill/>
          <a:ln/>
        </p:spPr>
        <p:txBody>
          <a:bodyPr wrap="square" lIns="0" tIns="0" rIns="0" bIns="0" rtlCol="0" anchor="ctr"/>
          <a:lstStyle/>
          <a:p>
            <a:pPr algn="ctr" indent="0" marL="0">
              <a:buNone/>
            </a:pPr>
            <a:r>
              <a:rPr lang="en-US" sz="850" b="1" dirty="0">
                <a:solidFill>
                  <a:srgbClr val="C4621D"/>
                </a:solidFill>
                <a:latin typeface="Calibri" pitchFamily="34" charset="0"/>
                <a:ea typeface="Calibri" pitchFamily="34" charset="-122"/>
                <a:cs typeface="Calibri" pitchFamily="34" charset="-120"/>
              </a:rPr>
              <a:t>CONTRAINTES</a:t>
            </a:r>
            <a:endParaRPr lang="en-US" sz="850" dirty="0"/>
          </a:p>
        </p:txBody>
      </p:sp>
      <p:sp>
        <p:nvSpPr>
          <p:cNvPr id="32" name="Text 30"/>
          <p:cNvSpPr txBox="1"/>
          <p:nvPr/>
        </p:nvSpPr>
        <p:spPr>
          <a:xfrm>
            <a:off x="1874520" y="3977640"/>
            <a:ext cx="3291840" cy="502920"/>
          </a:xfrm>
          <a:prstGeom prst="rect">
            <a:avLst/>
          </a:prstGeom>
          <a:noFill/>
          <a:ln/>
        </p:spPr>
        <p:txBody>
          <a:bodyPr wrap="square" lIns="0" tIns="0" rIns="0" bIns="0" rtlCol="0" anchor="ctr"/>
          <a:lstStyle/>
          <a:p>
            <a:pPr indent="0" marL="0">
              <a:buNone/>
            </a:pPr>
            <a:r>
              <a:rPr lang="en-US" sz="950" dirty="0">
                <a:solidFill>
                  <a:srgbClr val="231F20"/>
                </a:solidFill>
                <a:latin typeface="Courier New" pitchFamily="34" charset="0"/>
                <a:ea typeface="Courier New" pitchFamily="34" charset="-122"/>
                <a:cs typeface="Courier New" pitchFamily="34" charset="-120"/>
              </a:rPr>
              <a:t>N'utilise que les chiffres du tableau. Si une information manque, écris « non disponible ».</a:t>
            </a:r>
            <a:endParaRPr lang="en-US" sz="950" dirty="0"/>
          </a:p>
        </p:txBody>
      </p:sp>
      <p:sp>
        <p:nvSpPr>
          <p:cNvPr id="33" name="Shape 31"/>
          <p:cNvSpPr/>
          <p:nvPr/>
        </p:nvSpPr>
        <p:spPr>
          <a:xfrm>
            <a:off x="5532120" y="1371600"/>
            <a:ext cx="3154680" cy="950976"/>
          </a:xfrm>
          <a:prstGeom prst="roundRect">
            <a:avLst>
              <a:gd name="adj" fmla="val 7692"/>
            </a:avLst>
          </a:prstGeom>
          <a:solidFill>
            <a:srgbClr val="F4F7F5"/>
          </a:solidFill>
          <a:ln w="9525">
            <a:solidFill>
              <a:srgbClr val="D5DED9"/>
            </a:solidFill>
            <a:prstDash val="solid"/>
          </a:ln>
        </p:spPr>
      </p:sp>
      <p:sp>
        <p:nvSpPr>
          <p:cNvPr id="34" name="Shape 32"/>
          <p:cNvSpPr/>
          <p:nvPr/>
        </p:nvSpPr>
        <p:spPr>
          <a:xfrm>
            <a:off x="5687568" y="1508760"/>
            <a:ext cx="384048" cy="384048"/>
          </a:xfrm>
          <a:prstGeom prst="ellipse">
            <a:avLst/>
          </a:prstGeom>
          <a:solidFill>
            <a:srgbClr val="00A86A">
              <a:alpha val="22000"/>
            </a:srgbClr>
          </a:solidFill>
          <a:ln/>
        </p:spPr>
      </p:sp>
      <p:pic>
        <p:nvPicPr>
          <p:cNvPr id="35" name="Image 0" descr="preencoded.png">    </p:cNvPr>
          <p:cNvPicPr>
            <a:picLocks noChangeAspect="1"/>
          </p:cNvPicPr>
          <p:nvPr/>
        </p:nvPicPr>
        <p:blipFill>
          <a:blip r:embed="rId1"/>
          <a:stretch>
            <a:fillRect/>
          </a:stretch>
        </p:blipFill>
        <p:spPr>
          <a:xfrm>
            <a:off x="5779740" y="1600932"/>
            <a:ext cx="199705" cy="199705"/>
          </a:xfrm>
          <a:prstGeom prst="rect">
            <a:avLst/>
          </a:prstGeom>
        </p:spPr>
      </p:pic>
      <p:sp>
        <p:nvSpPr>
          <p:cNvPr id="36" name="Text 33"/>
          <p:cNvSpPr txBox="1"/>
          <p:nvPr/>
        </p:nvSpPr>
        <p:spPr>
          <a:xfrm>
            <a:off x="6199632" y="1463040"/>
            <a:ext cx="2377440" cy="786384"/>
          </a:xfrm>
          <a:prstGeom prst="rect">
            <a:avLst/>
          </a:prstGeom>
          <a:noFill/>
          <a:ln/>
        </p:spPr>
        <p:txBody>
          <a:bodyPr wrap="square" lIns="0" tIns="0" rIns="0" bIns="0" rtlCol="0" anchor="t"/>
          <a:lstStyle/>
          <a:p>
            <a:pPr indent="0" marL="0">
              <a:buNone/>
            </a:pPr>
            <a:r>
              <a:rPr lang="en-US" sz="1200" b="1" dirty="0">
                <a:solidFill>
                  <a:srgbClr val="00A86A"/>
                </a:solidFill>
                <a:latin typeface="Calibri" pitchFamily="34" charset="0"/>
                <a:ea typeface="Calibri" pitchFamily="34" charset="-122"/>
                <a:cs typeface="Calibri" pitchFamily="34" charset="-120"/>
              </a:rPr>
              <a:t>Ce que cela change</a:t>
            </a:r>
            <a:endParaRPr lang="en-US" sz="1100" dirty="0"/>
          </a:p>
          <a:p>
            <a:pPr indent="0" marL="0">
              <a:buNone/>
            </a:pPr>
            <a:r>
              <a:rPr lang="en-US" sz="1100" dirty="0">
                <a:solidFill>
                  <a:srgbClr val="231F20"/>
                </a:solidFill>
                <a:latin typeface="Calibri" pitchFamily="34" charset="0"/>
                <a:ea typeface="Calibri" pitchFamily="34" charset="-122"/>
                <a:cs typeface="Calibri" pitchFamily="34" charset="-120"/>
              </a:rPr>
              <a:t>La forme, le ton, la structure et le périmètre de la réponse.</a:t>
            </a:r>
            <a:endParaRPr lang="en-US" sz="1100" dirty="0"/>
          </a:p>
        </p:txBody>
      </p:sp>
      <p:sp>
        <p:nvSpPr>
          <p:cNvPr id="37" name="Shape 34"/>
          <p:cNvSpPr/>
          <p:nvPr/>
        </p:nvSpPr>
        <p:spPr>
          <a:xfrm>
            <a:off x="5532120" y="2450592"/>
            <a:ext cx="3154680" cy="950976"/>
          </a:xfrm>
          <a:prstGeom prst="roundRect">
            <a:avLst>
              <a:gd name="adj" fmla="val 7692"/>
            </a:avLst>
          </a:prstGeom>
          <a:solidFill>
            <a:srgbClr val="F4F7F5"/>
          </a:solidFill>
          <a:ln w="9525">
            <a:solidFill>
              <a:srgbClr val="D5DED9"/>
            </a:solidFill>
            <a:prstDash val="solid"/>
          </a:ln>
        </p:spPr>
      </p:sp>
      <p:sp>
        <p:nvSpPr>
          <p:cNvPr id="38" name="Shape 35"/>
          <p:cNvSpPr/>
          <p:nvPr/>
        </p:nvSpPr>
        <p:spPr>
          <a:xfrm>
            <a:off x="5687568" y="2587752"/>
            <a:ext cx="384048" cy="384048"/>
          </a:xfrm>
          <a:prstGeom prst="ellipse">
            <a:avLst/>
          </a:prstGeom>
          <a:solidFill>
            <a:srgbClr val="B83B2E">
              <a:alpha val="22000"/>
            </a:srgbClr>
          </a:solidFill>
          <a:ln/>
        </p:spPr>
      </p:sp>
      <p:pic>
        <p:nvPicPr>
          <p:cNvPr id="39" name="Image 1" descr="preencoded.png">    </p:cNvPr>
          <p:cNvPicPr>
            <a:picLocks noChangeAspect="1"/>
          </p:cNvPicPr>
          <p:nvPr/>
        </p:nvPicPr>
        <p:blipFill>
          <a:blip r:embed="rId2"/>
          <a:stretch>
            <a:fillRect/>
          </a:stretch>
        </p:blipFill>
        <p:spPr>
          <a:xfrm>
            <a:off x="5779740" y="2679924"/>
            <a:ext cx="199705" cy="199705"/>
          </a:xfrm>
          <a:prstGeom prst="rect">
            <a:avLst/>
          </a:prstGeom>
        </p:spPr>
      </p:pic>
      <p:sp>
        <p:nvSpPr>
          <p:cNvPr id="40" name="Text 36"/>
          <p:cNvSpPr txBox="1"/>
          <p:nvPr/>
        </p:nvSpPr>
        <p:spPr>
          <a:xfrm>
            <a:off x="6199632" y="2542032"/>
            <a:ext cx="2377440" cy="786384"/>
          </a:xfrm>
          <a:prstGeom prst="rect">
            <a:avLst/>
          </a:prstGeom>
          <a:noFill/>
          <a:ln/>
        </p:spPr>
        <p:txBody>
          <a:bodyPr wrap="square" lIns="0" tIns="0" rIns="0" bIns="0" rtlCol="0" anchor="t"/>
          <a:lstStyle/>
          <a:p>
            <a:pPr indent="0" marL="0">
              <a:buNone/>
            </a:pPr>
            <a:r>
              <a:rPr lang="en-US" sz="1200" b="1" dirty="0">
                <a:solidFill>
                  <a:srgbClr val="B83B2E"/>
                </a:solidFill>
                <a:latin typeface="Calibri" pitchFamily="34" charset="0"/>
                <a:ea typeface="Calibri" pitchFamily="34" charset="-122"/>
                <a:cs typeface="Calibri" pitchFamily="34" charset="-120"/>
              </a:rPr>
              <a:t>Ce que cela ne change pas</a:t>
            </a:r>
            <a:endParaRPr lang="en-US" sz="1100" dirty="0"/>
          </a:p>
          <a:p>
            <a:pPr indent="0" marL="0">
              <a:buNone/>
            </a:pPr>
            <a:r>
              <a:rPr lang="en-US" sz="1100" dirty="0">
                <a:solidFill>
                  <a:srgbClr val="231F20"/>
                </a:solidFill>
                <a:latin typeface="Calibri" pitchFamily="34" charset="0"/>
                <a:ea typeface="Calibri" pitchFamily="34" charset="-122"/>
                <a:cs typeface="Calibri" pitchFamily="34" charset="-120"/>
              </a:rPr>
              <a:t>Les connaissances du modèle et sa capacité à se tromper.</a:t>
            </a:r>
            <a:endParaRPr lang="en-US" sz="1100" dirty="0"/>
          </a:p>
        </p:txBody>
      </p:sp>
      <p:sp>
        <p:nvSpPr>
          <p:cNvPr id="41" name="Shape 37"/>
          <p:cNvSpPr/>
          <p:nvPr/>
        </p:nvSpPr>
        <p:spPr>
          <a:xfrm>
            <a:off x="5532120" y="3529584"/>
            <a:ext cx="3154680" cy="950976"/>
          </a:xfrm>
          <a:prstGeom prst="roundRect">
            <a:avLst>
              <a:gd name="adj" fmla="val 7692"/>
            </a:avLst>
          </a:prstGeom>
          <a:solidFill>
            <a:srgbClr val="E8F5EF"/>
          </a:solidFill>
          <a:ln w="15875">
            <a:solidFill>
              <a:srgbClr val="00A86A"/>
            </a:solidFill>
            <a:prstDash val="solid"/>
          </a:ln>
        </p:spPr>
      </p:sp>
      <p:sp>
        <p:nvSpPr>
          <p:cNvPr id="42" name="Shape 38"/>
          <p:cNvSpPr/>
          <p:nvPr/>
        </p:nvSpPr>
        <p:spPr>
          <a:xfrm>
            <a:off x="5687568" y="3666744"/>
            <a:ext cx="384048" cy="384048"/>
          </a:xfrm>
          <a:prstGeom prst="ellipse">
            <a:avLst/>
          </a:prstGeom>
          <a:solidFill>
            <a:srgbClr val="00704A">
              <a:alpha val="22000"/>
            </a:srgbClr>
          </a:solidFill>
          <a:ln/>
        </p:spPr>
      </p:sp>
      <p:pic>
        <p:nvPicPr>
          <p:cNvPr id="43" name="Image 2" descr="preencoded.png">    </p:cNvPr>
          <p:cNvPicPr>
            <a:picLocks noChangeAspect="1"/>
          </p:cNvPicPr>
          <p:nvPr/>
        </p:nvPicPr>
        <p:blipFill>
          <a:blip r:embed="rId3"/>
          <a:stretch>
            <a:fillRect/>
          </a:stretch>
        </p:blipFill>
        <p:spPr>
          <a:xfrm>
            <a:off x="5779740" y="3758916"/>
            <a:ext cx="199705" cy="199705"/>
          </a:xfrm>
          <a:prstGeom prst="rect">
            <a:avLst/>
          </a:prstGeom>
        </p:spPr>
      </p:pic>
      <p:sp>
        <p:nvSpPr>
          <p:cNvPr id="44" name="Text 39"/>
          <p:cNvSpPr txBox="1"/>
          <p:nvPr/>
        </p:nvSpPr>
        <p:spPr>
          <a:xfrm>
            <a:off x="6199632" y="3621024"/>
            <a:ext cx="2377440" cy="78638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Bonne pratique</a:t>
            </a:r>
            <a:endParaRPr lang="en-US" sz="1100" dirty="0"/>
          </a:p>
          <a:p>
            <a:pPr indent="0" marL="0">
              <a:buNone/>
            </a:pPr>
            <a:r>
              <a:rPr lang="en-US" sz="1100" dirty="0">
                <a:solidFill>
                  <a:srgbClr val="231F20"/>
                </a:solidFill>
                <a:latin typeface="Calibri" pitchFamily="34" charset="0"/>
                <a:ea typeface="Calibri" pitchFamily="34" charset="-122"/>
                <a:cs typeface="Calibri" pitchFamily="34" charset="-120"/>
              </a:rPr>
              <a:t>Traiter les requêtes comme du code : versionnées, testées, documentées.</a:t>
            </a:r>
            <a:endParaRPr lang="en-US" sz="1100" dirty="0"/>
          </a:p>
        </p:txBody>
      </p:sp>
      <p:sp>
        <p:nvSpPr>
          <p:cNvPr id="45" name="Text 40"/>
          <p:cNvSpPr txBox="1"/>
          <p:nvPr/>
        </p:nvSpPr>
        <p:spPr>
          <a:xfrm>
            <a:off x="457200" y="4590288"/>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Wei et al. (2022), « Chain-of-Thought Prompting », NeurIPS 35 — la structure de la requête change la sortie.</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04  ·  PILOTER : REQUÊTE, RAG, AFFINAGE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Le RAG : retrouver d'abord, rédiger ensuite</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6" name="Text 14"/>
          <p:cNvSpPr txBox="1"/>
          <p:nvPr/>
        </p:nvSpPr>
        <p:spPr>
          <a:xfrm>
            <a:off x="457200" y="1325880"/>
            <a:ext cx="3657600" cy="201168"/>
          </a:xfrm>
          <a:prstGeom prst="rect">
            <a:avLst/>
          </a:prstGeom>
          <a:noFill/>
          <a:ln/>
        </p:spPr>
        <p:txBody>
          <a:bodyPr wrap="square" lIns="0" tIns="0" rIns="0" bIns="0" rtlCol="0" anchor="t"/>
          <a:lstStyle/>
          <a:p>
            <a:pPr indent="0" marL="0">
              <a:buNone/>
            </a:pPr>
            <a:r>
              <a:rPr lang="en-US" sz="900" b="1" spc="200" kern="0" dirty="0">
                <a:solidFill>
                  <a:srgbClr val="00704A"/>
                </a:solidFill>
                <a:latin typeface="Calibri" pitchFamily="34" charset="0"/>
                <a:ea typeface="Calibri" pitchFamily="34" charset="-122"/>
                <a:cs typeface="Calibri" pitchFamily="34" charset="-120"/>
              </a:rPr>
              <a:t>PRÉPARATION — UNE FOIS</a:t>
            </a:r>
            <a:endParaRPr lang="en-US" sz="900" dirty="0"/>
          </a:p>
        </p:txBody>
      </p:sp>
      <p:sp>
        <p:nvSpPr>
          <p:cNvPr id="17" name="Shape 15"/>
          <p:cNvSpPr/>
          <p:nvPr/>
        </p:nvSpPr>
        <p:spPr>
          <a:xfrm>
            <a:off x="457200" y="1572768"/>
            <a:ext cx="1645920" cy="566928"/>
          </a:xfrm>
          <a:prstGeom prst="roundRect">
            <a:avLst>
              <a:gd name="adj" fmla="val 12903"/>
            </a:avLst>
          </a:prstGeom>
          <a:solidFill>
            <a:srgbClr val="E8F5EF"/>
          </a:solidFill>
          <a:ln w="15875">
            <a:solidFill>
              <a:srgbClr val="00A86A"/>
            </a:solidFill>
            <a:prstDash val="solid"/>
          </a:ln>
        </p:spPr>
      </p:sp>
      <p:pic>
        <p:nvPicPr>
          <p:cNvPr id="18" name="Image 0" descr="preencoded.png">    </p:cNvPr>
          <p:cNvPicPr>
            <a:picLocks noChangeAspect="1"/>
          </p:cNvPicPr>
          <p:nvPr/>
        </p:nvPicPr>
        <p:blipFill>
          <a:blip r:embed="rId1"/>
          <a:stretch>
            <a:fillRect/>
          </a:stretch>
        </p:blipFill>
        <p:spPr>
          <a:xfrm>
            <a:off x="566928" y="1709928"/>
            <a:ext cx="292608" cy="292608"/>
          </a:xfrm>
          <a:prstGeom prst="rect">
            <a:avLst/>
          </a:prstGeom>
        </p:spPr>
      </p:pic>
      <p:sp>
        <p:nvSpPr>
          <p:cNvPr id="19" name="Text 16"/>
          <p:cNvSpPr txBox="1"/>
          <p:nvPr/>
        </p:nvSpPr>
        <p:spPr>
          <a:xfrm>
            <a:off x="932688" y="1572768"/>
            <a:ext cx="1143000" cy="56692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Documents</a:t>
            </a:r>
            <a:endParaRPr lang="en-US" sz="1100" dirty="0"/>
          </a:p>
          <a:p>
            <a:pPr indent="0" marL="0">
              <a:buNone/>
            </a:pPr>
            <a:r>
              <a:rPr lang="en-US" sz="850" dirty="0">
                <a:solidFill>
                  <a:srgbClr val="5E6964"/>
                </a:solidFill>
                <a:latin typeface="Calibri" pitchFamily="34" charset="0"/>
                <a:ea typeface="Calibri" pitchFamily="34" charset="-122"/>
                <a:cs typeface="Calibri" pitchFamily="34" charset="-120"/>
              </a:rPr>
              <a:t>rapports, métadonnées</a:t>
            </a:r>
            <a:endParaRPr lang="en-US" sz="1100" dirty="0"/>
          </a:p>
        </p:txBody>
      </p:sp>
      <p:sp>
        <p:nvSpPr>
          <p:cNvPr id="20" name="Shape 17"/>
          <p:cNvSpPr/>
          <p:nvPr/>
        </p:nvSpPr>
        <p:spPr>
          <a:xfrm>
            <a:off x="2139696" y="1856232"/>
            <a:ext cx="475488" cy="91"/>
          </a:xfrm>
          <a:prstGeom prst="line">
            <a:avLst/>
          </a:prstGeom>
          <a:noFill/>
          <a:ln w="15875">
            <a:solidFill>
              <a:srgbClr val="5E6964"/>
            </a:solidFill>
            <a:prstDash val="solid"/>
            <a:tailEnd type="triangle"/>
          </a:ln>
        </p:spPr>
      </p:sp>
      <p:sp>
        <p:nvSpPr>
          <p:cNvPr id="21" name="Shape 18"/>
          <p:cNvSpPr/>
          <p:nvPr/>
        </p:nvSpPr>
        <p:spPr>
          <a:xfrm>
            <a:off x="2651760" y="1572768"/>
            <a:ext cx="1645920" cy="566928"/>
          </a:xfrm>
          <a:prstGeom prst="roundRect">
            <a:avLst>
              <a:gd name="adj" fmla="val 12903"/>
            </a:avLst>
          </a:prstGeom>
          <a:solidFill>
            <a:srgbClr val="E8F5EF"/>
          </a:solidFill>
          <a:ln w="15875">
            <a:solidFill>
              <a:srgbClr val="00A86A"/>
            </a:solidFill>
            <a:prstDash val="solid"/>
          </a:ln>
        </p:spPr>
      </p:sp>
      <p:pic>
        <p:nvPicPr>
          <p:cNvPr id="22" name="Image 1" descr="preencoded.png">    </p:cNvPr>
          <p:cNvPicPr>
            <a:picLocks noChangeAspect="1"/>
          </p:cNvPicPr>
          <p:nvPr/>
        </p:nvPicPr>
        <p:blipFill>
          <a:blip r:embed="rId2"/>
          <a:stretch>
            <a:fillRect/>
          </a:stretch>
        </p:blipFill>
        <p:spPr>
          <a:xfrm>
            <a:off x="2761488" y="1709928"/>
            <a:ext cx="292608" cy="292608"/>
          </a:xfrm>
          <a:prstGeom prst="rect">
            <a:avLst/>
          </a:prstGeom>
        </p:spPr>
      </p:pic>
      <p:sp>
        <p:nvSpPr>
          <p:cNvPr id="23" name="Text 19"/>
          <p:cNvSpPr txBox="1"/>
          <p:nvPr/>
        </p:nvSpPr>
        <p:spPr>
          <a:xfrm>
            <a:off x="3127248" y="1572768"/>
            <a:ext cx="1143000" cy="56692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Découpage</a:t>
            </a:r>
            <a:endParaRPr lang="en-US" sz="1100" dirty="0"/>
          </a:p>
          <a:p>
            <a:pPr indent="0" marL="0">
              <a:buNone/>
            </a:pPr>
            <a:r>
              <a:rPr lang="en-US" sz="850" dirty="0">
                <a:solidFill>
                  <a:srgbClr val="5E6964"/>
                </a:solidFill>
                <a:latin typeface="Calibri" pitchFamily="34" charset="0"/>
                <a:ea typeface="Calibri" pitchFamily="34" charset="-122"/>
                <a:cs typeface="Calibri" pitchFamily="34" charset="-120"/>
              </a:rPr>
              <a:t>en passages cohérents</a:t>
            </a:r>
            <a:endParaRPr lang="en-US" sz="1100" dirty="0"/>
          </a:p>
        </p:txBody>
      </p:sp>
      <p:sp>
        <p:nvSpPr>
          <p:cNvPr id="24" name="Shape 20"/>
          <p:cNvSpPr/>
          <p:nvPr/>
        </p:nvSpPr>
        <p:spPr>
          <a:xfrm>
            <a:off x="4334256" y="1856232"/>
            <a:ext cx="475488" cy="91"/>
          </a:xfrm>
          <a:prstGeom prst="line">
            <a:avLst/>
          </a:prstGeom>
          <a:noFill/>
          <a:ln w="15875">
            <a:solidFill>
              <a:srgbClr val="5E6964"/>
            </a:solidFill>
            <a:prstDash val="solid"/>
            <a:tailEnd type="triangle"/>
          </a:ln>
        </p:spPr>
      </p:sp>
      <p:sp>
        <p:nvSpPr>
          <p:cNvPr id="25" name="Shape 21"/>
          <p:cNvSpPr/>
          <p:nvPr/>
        </p:nvSpPr>
        <p:spPr>
          <a:xfrm>
            <a:off x="4846320" y="1572768"/>
            <a:ext cx="1645920" cy="566928"/>
          </a:xfrm>
          <a:prstGeom prst="roundRect">
            <a:avLst>
              <a:gd name="adj" fmla="val 12903"/>
            </a:avLst>
          </a:prstGeom>
          <a:solidFill>
            <a:srgbClr val="E8F5EF"/>
          </a:solidFill>
          <a:ln w="15875">
            <a:solidFill>
              <a:srgbClr val="00A86A"/>
            </a:solidFill>
            <a:prstDash val="solid"/>
          </a:ln>
        </p:spPr>
      </p:sp>
      <p:pic>
        <p:nvPicPr>
          <p:cNvPr id="26" name="Image 2" descr="preencoded.png">    </p:cNvPr>
          <p:cNvPicPr>
            <a:picLocks noChangeAspect="1"/>
          </p:cNvPicPr>
          <p:nvPr/>
        </p:nvPicPr>
        <p:blipFill>
          <a:blip r:embed="rId3"/>
          <a:stretch>
            <a:fillRect/>
          </a:stretch>
        </p:blipFill>
        <p:spPr>
          <a:xfrm>
            <a:off x="4956048" y="1709928"/>
            <a:ext cx="292608" cy="292608"/>
          </a:xfrm>
          <a:prstGeom prst="rect">
            <a:avLst/>
          </a:prstGeom>
        </p:spPr>
      </p:pic>
      <p:sp>
        <p:nvSpPr>
          <p:cNvPr id="27" name="Text 22"/>
          <p:cNvSpPr txBox="1"/>
          <p:nvPr/>
        </p:nvSpPr>
        <p:spPr>
          <a:xfrm>
            <a:off x="5321808" y="1572768"/>
            <a:ext cx="1143000" cy="56692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Plongements</a:t>
            </a:r>
            <a:endParaRPr lang="en-US" sz="1100" dirty="0"/>
          </a:p>
          <a:p>
            <a:pPr indent="0" marL="0">
              <a:buNone/>
            </a:pPr>
            <a:r>
              <a:rPr lang="en-US" sz="850" dirty="0">
                <a:solidFill>
                  <a:srgbClr val="5E6964"/>
                </a:solidFill>
                <a:latin typeface="Calibri" pitchFamily="34" charset="0"/>
                <a:ea typeface="Calibri" pitchFamily="34" charset="-122"/>
                <a:cs typeface="Calibri" pitchFamily="34" charset="-120"/>
              </a:rPr>
              <a:t>passages → coordonnées</a:t>
            </a:r>
            <a:endParaRPr lang="en-US" sz="1100" dirty="0"/>
          </a:p>
        </p:txBody>
      </p:sp>
      <p:sp>
        <p:nvSpPr>
          <p:cNvPr id="28" name="Shape 23"/>
          <p:cNvSpPr/>
          <p:nvPr/>
        </p:nvSpPr>
        <p:spPr>
          <a:xfrm>
            <a:off x="6528816" y="1856232"/>
            <a:ext cx="475488" cy="91"/>
          </a:xfrm>
          <a:prstGeom prst="line">
            <a:avLst/>
          </a:prstGeom>
          <a:noFill/>
          <a:ln w="15875">
            <a:solidFill>
              <a:srgbClr val="5E6964"/>
            </a:solidFill>
            <a:prstDash val="solid"/>
            <a:tailEnd type="triangle"/>
          </a:ln>
        </p:spPr>
      </p:sp>
      <p:sp>
        <p:nvSpPr>
          <p:cNvPr id="29" name="Shape 24"/>
          <p:cNvSpPr/>
          <p:nvPr/>
        </p:nvSpPr>
        <p:spPr>
          <a:xfrm>
            <a:off x="7040880" y="1572768"/>
            <a:ext cx="1645920" cy="566928"/>
          </a:xfrm>
          <a:prstGeom prst="roundRect">
            <a:avLst>
              <a:gd name="adj" fmla="val 12903"/>
            </a:avLst>
          </a:prstGeom>
          <a:solidFill>
            <a:srgbClr val="E8F5EF"/>
          </a:solidFill>
          <a:ln w="15875">
            <a:solidFill>
              <a:srgbClr val="00A86A"/>
            </a:solidFill>
            <a:prstDash val="solid"/>
          </a:ln>
        </p:spPr>
      </p:sp>
      <p:pic>
        <p:nvPicPr>
          <p:cNvPr id="30" name="Image 3" descr="preencoded.png">    </p:cNvPr>
          <p:cNvPicPr>
            <a:picLocks noChangeAspect="1"/>
          </p:cNvPicPr>
          <p:nvPr/>
        </p:nvPicPr>
        <p:blipFill>
          <a:blip r:embed="rId4"/>
          <a:stretch>
            <a:fillRect/>
          </a:stretch>
        </p:blipFill>
        <p:spPr>
          <a:xfrm>
            <a:off x="7150608" y="1709928"/>
            <a:ext cx="292608" cy="292608"/>
          </a:xfrm>
          <a:prstGeom prst="rect">
            <a:avLst/>
          </a:prstGeom>
        </p:spPr>
      </p:pic>
      <p:sp>
        <p:nvSpPr>
          <p:cNvPr id="31" name="Text 25"/>
          <p:cNvSpPr txBox="1"/>
          <p:nvPr/>
        </p:nvSpPr>
        <p:spPr>
          <a:xfrm>
            <a:off x="7516368" y="1572768"/>
            <a:ext cx="1143000" cy="56692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Base vectorielle</a:t>
            </a:r>
            <a:endParaRPr lang="en-US" sz="1100" dirty="0"/>
          </a:p>
          <a:p>
            <a:pPr indent="0" marL="0">
              <a:buNone/>
            </a:pPr>
            <a:r>
              <a:rPr lang="en-US" sz="850" dirty="0">
                <a:solidFill>
                  <a:srgbClr val="5E6964"/>
                </a:solidFill>
                <a:latin typeface="Calibri" pitchFamily="34" charset="0"/>
                <a:ea typeface="Calibri" pitchFamily="34" charset="-122"/>
                <a:cs typeface="Calibri" pitchFamily="34" charset="-120"/>
              </a:rPr>
              <a:t>stocke les coordonnées</a:t>
            </a:r>
            <a:endParaRPr lang="en-US" sz="1100" dirty="0"/>
          </a:p>
        </p:txBody>
      </p:sp>
      <p:sp>
        <p:nvSpPr>
          <p:cNvPr id="32" name="Text 26"/>
          <p:cNvSpPr txBox="1"/>
          <p:nvPr/>
        </p:nvSpPr>
        <p:spPr>
          <a:xfrm>
            <a:off x="457200" y="2670048"/>
            <a:ext cx="2743200" cy="201168"/>
          </a:xfrm>
          <a:prstGeom prst="rect">
            <a:avLst/>
          </a:prstGeom>
          <a:noFill/>
          <a:ln/>
        </p:spPr>
        <p:txBody>
          <a:bodyPr wrap="square" lIns="0" tIns="0" rIns="0" bIns="0" rtlCol="0" anchor="t"/>
          <a:lstStyle/>
          <a:p>
            <a:pPr indent="0" marL="0">
              <a:buNone/>
            </a:pPr>
            <a:r>
              <a:rPr lang="en-US" sz="900" b="1" spc="200" kern="0" dirty="0">
                <a:solidFill>
                  <a:srgbClr val="0E7C86"/>
                </a:solidFill>
                <a:latin typeface="Calibri" pitchFamily="34" charset="0"/>
                <a:ea typeface="Calibri" pitchFamily="34" charset="-122"/>
                <a:cs typeface="Calibri" pitchFamily="34" charset="-120"/>
              </a:rPr>
              <a:t>À CHAQUE QUESTION</a:t>
            </a:r>
            <a:endParaRPr lang="en-US" sz="900" dirty="0"/>
          </a:p>
        </p:txBody>
      </p:sp>
      <p:sp>
        <p:nvSpPr>
          <p:cNvPr id="33" name="Shape 27"/>
          <p:cNvSpPr/>
          <p:nvPr/>
        </p:nvSpPr>
        <p:spPr>
          <a:xfrm>
            <a:off x="457200" y="2926080"/>
            <a:ext cx="1143000" cy="603504"/>
          </a:xfrm>
          <a:prstGeom prst="roundRect">
            <a:avLst>
              <a:gd name="adj" fmla="val 12121"/>
            </a:avLst>
          </a:prstGeom>
          <a:solidFill>
            <a:srgbClr val="FFFFFF"/>
          </a:solidFill>
          <a:ln w="15875">
            <a:solidFill>
              <a:srgbClr val="0E7C86"/>
            </a:solidFill>
            <a:prstDash val="solid"/>
          </a:ln>
        </p:spPr>
      </p:sp>
      <p:sp>
        <p:nvSpPr>
          <p:cNvPr id="34" name="Text 28"/>
          <p:cNvSpPr txBox="1"/>
          <p:nvPr/>
        </p:nvSpPr>
        <p:spPr>
          <a:xfrm>
            <a:off x="502920" y="2926080"/>
            <a:ext cx="1051560" cy="603504"/>
          </a:xfrm>
          <a:prstGeom prst="rect">
            <a:avLst/>
          </a:prstGeom>
          <a:noFill/>
          <a:ln/>
        </p:spPr>
        <p:txBody>
          <a:bodyPr wrap="square" lIns="0" tIns="0" rIns="0" bIns="0" rtlCol="0" anchor="ctr"/>
          <a:lstStyle/>
          <a:p>
            <a:pPr algn="ctr" indent="0" marL="0">
              <a:buNone/>
            </a:pPr>
            <a:r>
              <a:rPr lang="en-US" sz="1000" b="1" dirty="0">
                <a:solidFill>
                  <a:srgbClr val="231F20"/>
                </a:solidFill>
                <a:latin typeface="Calibri" pitchFamily="34" charset="0"/>
                <a:ea typeface="Calibri" pitchFamily="34" charset="-122"/>
                <a:cs typeface="Calibri" pitchFamily="34" charset="-120"/>
              </a:rPr>
              <a:t>Question</a:t>
            </a:r>
            <a:endParaRPr lang="en-US" sz="1100" dirty="0"/>
          </a:p>
          <a:p>
            <a:pPr algn="ctr" indent="0" marL="0">
              <a:buNone/>
            </a:pPr>
            <a:r>
              <a:rPr lang="en-US" sz="850" dirty="0">
                <a:solidFill>
                  <a:srgbClr val="5E6964"/>
                </a:solidFill>
                <a:latin typeface="Calibri" pitchFamily="34" charset="0"/>
                <a:ea typeface="Calibri" pitchFamily="34" charset="-122"/>
                <a:cs typeface="Calibri" pitchFamily="34" charset="-120"/>
              </a:rPr>
              <a:t>de l'utilisateur</a:t>
            </a:r>
            <a:endParaRPr lang="en-US" sz="1100" dirty="0"/>
          </a:p>
        </p:txBody>
      </p:sp>
      <p:sp>
        <p:nvSpPr>
          <p:cNvPr id="35" name="Shape 29"/>
          <p:cNvSpPr/>
          <p:nvPr/>
        </p:nvSpPr>
        <p:spPr>
          <a:xfrm>
            <a:off x="1627632" y="3227832"/>
            <a:ext cx="219456" cy="91"/>
          </a:xfrm>
          <a:prstGeom prst="line">
            <a:avLst/>
          </a:prstGeom>
          <a:noFill/>
          <a:ln w="15875">
            <a:solidFill>
              <a:srgbClr val="5E6964"/>
            </a:solidFill>
            <a:prstDash val="solid"/>
            <a:tailEnd type="triangle"/>
          </a:ln>
        </p:spPr>
      </p:sp>
      <p:sp>
        <p:nvSpPr>
          <p:cNvPr id="36" name="Shape 30"/>
          <p:cNvSpPr/>
          <p:nvPr/>
        </p:nvSpPr>
        <p:spPr>
          <a:xfrm>
            <a:off x="1874520" y="2926080"/>
            <a:ext cx="1143000" cy="603504"/>
          </a:xfrm>
          <a:prstGeom prst="roundRect">
            <a:avLst>
              <a:gd name="adj" fmla="val 12121"/>
            </a:avLst>
          </a:prstGeom>
          <a:solidFill>
            <a:srgbClr val="FFFFFF"/>
          </a:solidFill>
          <a:ln w="15875">
            <a:solidFill>
              <a:srgbClr val="0E7C86"/>
            </a:solidFill>
            <a:prstDash val="solid"/>
          </a:ln>
        </p:spPr>
      </p:sp>
      <p:sp>
        <p:nvSpPr>
          <p:cNvPr id="37" name="Text 31"/>
          <p:cNvSpPr txBox="1"/>
          <p:nvPr/>
        </p:nvSpPr>
        <p:spPr>
          <a:xfrm>
            <a:off x="1920240" y="2926080"/>
            <a:ext cx="1051560" cy="603504"/>
          </a:xfrm>
          <a:prstGeom prst="rect">
            <a:avLst/>
          </a:prstGeom>
          <a:noFill/>
          <a:ln/>
        </p:spPr>
        <p:txBody>
          <a:bodyPr wrap="square" lIns="0" tIns="0" rIns="0" bIns="0" rtlCol="0" anchor="ctr"/>
          <a:lstStyle/>
          <a:p>
            <a:pPr algn="ctr" indent="0" marL="0">
              <a:buNone/>
            </a:pPr>
            <a:r>
              <a:rPr lang="en-US" sz="1000" b="1" dirty="0">
                <a:solidFill>
                  <a:srgbClr val="231F20"/>
                </a:solidFill>
                <a:latin typeface="Calibri" pitchFamily="34" charset="0"/>
                <a:ea typeface="Calibri" pitchFamily="34" charset="-122"/>
                <a:cs typeface="Calibri" pitchFamily="34" charset="-120"/>
              </a:rPr>
              <a:t>Plongement</a:t>
            </a:r>
            <a:endParaRPr lang="en-US" sz="1100" dirty="0"/>
          </a:p>
          <a:p>
            <a:pPr algn="ctr" indent="0" marL="0">
              <a:buNone/>
            </a:pPr>
            <a:r>
              <a:rPr lang="en-US" sz="850" dirty="0">
                <a:solidFill>
                  <a:srgbClr val="5E6964"/>
                </a:solidFill>
                <a:latin typeface="Calibri" pitchFamily="34" charset="0"/>
                <a:ea typeface="Calibri" pitchFamily="34" charset="-122"/>
                <a:cs typeface="Calibri" pitchFamily="34" charset="-120"/>
              </a:rPr>
              <a:t>de la question</a:t>
            </a:r>
            <a:endParaRPr lang="en-US" sz="1100" dirty="0"/>
          </a:p>
        </p:txBody>
      </p:sp>
      <p:sp>
        <p:nvSpPr>
          <p:cNvPr id="38" name="Shape 32"/>
          <p:cNvSpPr/>
          <p:nvPr/>
        </p:nvSpPr>
        <p:spPr>
          <a:xfrm>
            <a:off x="3044952" y="3227832"/>
            <a:ext cx="219456" cy="91"/>
          </a:xfrm>
          <a:prstGeom prst="line">
            <a:avLst/>
          </a:prstGeom>
          <a:noFill/>
          <a:ln w="15875">
            <a:solidFill>
              <a:srgbClr val="5E6964"/>
            </a:solidFill>
            <a:prstDash val="solid"/>
            <a:tailEnd type="triangle"/>
          </a:ln>
        </p:spPr>
      </p:sp>
      <p:sp>
        <p:nvSpPr>
          <p:cNvPr id="39" name="Shape 33"/>
          <p:cNvSpPr/>
          <p:nvPr/>
        </p:nvSpPr>
        <p:spPr>
          <a:xfrm>
            <a:off x="3291840" y="2926080"/>
            <a:ext cx="1143000" cy="603504"/>
          </a:xfrm>
          <a:prstGeom prst="roundRect">
            <a:avLst>
              <a:gd name="adj" fmla="val 12121"/>
            </a:avLst>
          </a:prstGeom>
          <a:solidFill>
            <a:srgbClr val="FFFFFF"/>
          </a:solidFill>
          <a:ln w="15875">
            <a:solidFill>
              <a:srgbClr val="0E7C86"/>
            </a:solidFill>
            <a:prstDash val="solid"/>
          </a:ln>
        </p:spPr>
      </p:sp>
      <p:sp>
        <p:nvSpPr>
          <p:cNvPr id="40" name="Text 34"/>
          <p:cNvSpPr txBox="1"/>
          <p:nvPr/>
        </p:nvSpPr>
        <p:spPr>
          <a:xfrm>
            <a:off x="3337560" y="2926080"/>
            <a:ext cx="1051560" cy="603504"/>
          </a:xfrm>
          <a:prstGeom prst="rect">
            <a:avLst/>
          </a:prstGeom>
          <a:noFill/>
          <a:ln/>
        </p:spPr>
        <p:txBody>
          <a:bodyPr wrap="square" lIns="0" tIns="0" rIns="0" bIns="0" rtlCol="0" anchor="ctr"/>
          <a:lstStyle/>
          <a:p>
            <a:pPr algn="ctr" indent="0" marL="0">
              <a:buNone/>
            </a:pPr>
            <a:r>
              <a:rPr lang="en-US" sz="1000" b="1" dirty="0">
                <a:solidFill>
                  <a:srgbClr val="231F20"/>
                </a:solidFill>
                <a:latin typeface="Calibri" pitchFamily="34" charset="0"/>
                <a:ea typeface="Calibri" pitchFamily="34" charset="-122"/>
                <a:cs typeface="Calibri" pitchFamily="34" charset="-120"/>
              </a:rPr>
              <a:t>Plus proches voisins</a:t>
            </a:r>
            <a:endParaRPr lang="en-US" sz="1100" dirty="0"/>
          </a:p>
          <a:p>
            <a:pPr algn="ctr" indent="0" marL="0">
              <a:buNone/>
            </a:pPr>
            <a:r>
              <a:rPr lang="en-US" sz="850" dirty="0">
                <a:solidFill>
                  <a:srgbClr val="5E6964"/>
                </a:solidFill>
                <a:latin typeface="Calibri" pitchFamily="34" charset="0"/>
                <a:ea typeface="Calibri" pitchFamily="34" charset="-122"/>
                <a:cs typeface="Calibri" pitchFamily="34" charset="-120"/>
              </a:rPr>
              <a:t>passages voisins</a:t>
            </a:r>
            <a:endParaRPr lang="en-US" sz="1100" dirty="0"/>
          </a:p>
        </p:txBody>
      </p:sp>
      <p:sp>
        <p:nvSpPr>
          <p:cNvPr id="41" name="Shape 35"/>
          <p:cNvSpPr/>
          <p:nvPr/>
        </p:nvSpPr>
        <p:spPr>
          <a:xfrm>
            <a:off x="4462272" y="3227832"/>
            <a:ext cx="219456" cy="91"/>
          </a:xfrm>
          <a:prstGeom prst="line">
            <a:avLst/>
          </a:prstGeom>
          <a:noFill/>
          <a:ln w="15875">
            <a:solidFill>
              <a:srgbClr val="5E6964"/>
            </a:solidFill>
            <a:prstDash val="solid"/>
            <a:tailEnd type="triangle"/>
          </a:ln>
        </p:spPr>
      </p:sp>
      <p:sp>
        <p:nvSpPr>
          <p:cNvPr id="42" name="Shape 36"/>
          <p:cNvSpPr/>
          <p:nvPr/>
        </p:nvSpPr>
        <p:spPr>
          <a:xfrm>
            <a:off x="4709160" y="2926080"/>
            <a:ext cx="1143000" cy="603504"/>
          </a:xfrm>
          <a:prstGeom prst="roundRect">
            <a:avLst>
              <a:gd name="adj" fmla="val 12121"/>
            </a:avLst>
          </a:prstGeom>
          <a:solidFill>
            <a:srgbClr val="FFFFFF"/>
          </a:solidFill>
          <a:ln w="15875">
            <a:solidFill>
              <a:srgbClr val="0E7C86"/>
            </a:solidFill>
            <a:prstDash val="solid"/>
          </a:ln>
        </p:spPr>
      </p:sp>
      <p:sp>
        <p:nvSpPr>
          <p:cNvPr id="43" name="Text 37"/>
          <p:cNvSpPr txBox="1"/>
          <p:nvPr/>
        </p:nvSpPr>
        <p:spPr>
          <a:xfrm>
            <a:off x="4754880" y="2926080"/>
            <a:ext cx="1051560" cy="603504"/>
          </a:xfrm>
          <a:prstGeom prst="rect">
            <a:avLst/>
          </a:prstGeom>
          <a:noFill/>
          <a:ln/>
        </p:spPr>
        <p:txBody>
          <a:bodyPr wrap="square" lIns="0" tIns="0" rIns="0" bIns="0" rtlCol="0" anchor="ctr"/>
          <a:lstStyle/>
          <a:p>
            <a:pPr algn="ctr" indent="0" marL="0">
              <a:buNone/>
            </a:pPr>
            <a:r>
              <a:rPr lang="en-US" sz="1000" b="1" dirty="0">
                <a:solidFill>
                  <a:srgbClr val="231F20"/>
                </a:solidFill>
                <a:latin typeface="Calibri" pitchFamily="34" charset="0"/>
                <a:ea typeface="Calibri" pitchFamily="34" charset="-122"/>
                <a:cs typeface="Calibri" pitchFamily="34" charset="-120"/>
              </a:rPr>
              <a:t>Contexte</a:t>
            </a:r>
            <a:endParaRPr lang="en-US" sz="1100" dirty="0"/>
          </a:p>
          <a:p>
            <a:pPr algn="ctr" indent="0" marL="0">
              <a:buNone/>
            </a:pPr>
            <a:r>
              <a:rPr lang="en-US" sz="850" dirty="0">
                <a:solidFill>
                  <a:srgbClr val="5E6964"/>
                </a:solidFill>
                <a:latin typeface="Calibri" pitchFamily="34" charset="0"/>
                <a:ea typeface="Calibri" pitchFamily="34" charset="-122"/>
                <a:cs typeface="Calibri" pitchFamily="34" charset="-120"/>
              </a:rPr>
              <a:t>question + extraits</a:t>
            </a:r>
            <a:endParaRPr lang="en-US" sz="1100" dirty="0"/>
          </a:p>
        </p:txBody>
      </p:sp>
      <p:sp>
        <p:nvSpPr>
          <p:cNvPr id="44" name="Shape 38"/>
          <p:cNvSpPr/>
          <p:nvPr/>
        </p:nvSpPr>
        <p:spPr>
          <a:xfrm>
            <a:off x="5879592" y="3227832"/>
            <a:ext cx="219456" cy="91"/>
          </a:xfrm>
          <a:prstGeom prst="line">
            <a:avLst/>
          </a:prstGeom>
          <a:noFill/>
          <a:ln w="15875">
            <a:solidFill>
              <a:srgbClr val="5E6964"/>
            </a:solidFill>
            <a:prstDash val="solid"/>
            <a:tailEnd type="triangle"/>
          </a:ln>
        </p:spPr>
      </p:sp>
      <p:sp>
        <p:nvSpPr>
          <p:cNvPr id="45" name="Shape 39"/>
          <p:cNvSpPr/>
          <p:nvPr/>
        </p:nvSpPr>
        <p:spPr>
          <a:xfrm>
            <a:off x="6126480" y="2926080"/>
            <a:ext cx="1143000" cy="603504"/>
          </a:xfrm>
          <a:prstGeom prst="roundRect">
            <a:avLst>
              <a:gd name="adj" fmla="val 12121"/>
            </a:avLst>
          </a:prstGeom>
          <a:solidFill>
            <a:srgbClr val="00553A"/>
          </a:solidFill>
          <a:ln w="15875">
            <a:solidFill>
              <a:srgbClr val="00553A"/>
            </a:solidFill>
            <a:prstDash val="solid"/>
          </a:ln>
        </p:spPr>
      </p:sp>
      <p:sp>
        <p:nvSpPr>
          <p:cNvPr id="46" name="Text 40"/>
          <p:cNvSpPr txBox="1"/>
          <p:nvPr/>
        </p:nvSpPr>
        <p:spPr>
          <a:xfrm>
            <a:off x="6172200" y="2926080"/>
            <a:ext cx="105156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GML</a:t>
            </a:r>
            <a:endParaRPr lang="en-US" sz="1100" dirty="0"/>
          </a:p>
          <a:p>
            <a:pPr algn="ctr" indent="0" marL="0">
              <a:buNone/>
            </a:pPr>
            <a:r>
              <a:rPr lang="en-US" sz="850" dirty="0">
                <a:solidFill>
                  <a:srgbClr val="E6F6EE"/>
                </a:solidFill>
                <a:latin typeface="Calibri" pitchFamily="34" charset="0"/>
                <a:ea typeface="Calibri" pitchFamily="34" charset="-122"/>
                <a:cs typeface="Calibri" pitchFamily="34" charset="-120"/>
              </a:rPr>
              <a:t>rédige</a:t>
            </a:r>
            <a:endParaRPr lang="en-US" sz="1100" dirty="0"/>
          </a:p>
        </p:txBody>
      </p:sp>
      <p:sp>
        <p:nvSpPr>
          <p:cNvPr id="47" name="Shape 41"/>
          <p:cNvSpPr/>
          <p:nvPr/>
        </p:nvSpPr>
        <p:spPr>
          <a:xfrm>
            <a:off x="7296912" y="3227832"/>
            <a:ext cx="219456" cy="91"/>
          </a:xfrm>
          <a:prstGeom prst="line">
            <a:avLst/>
          </a:prstGeom>
          <a:noFill/>
          <a:ln w="15875">
            <a:solidFill>
              <a:srgbClr val="5E6964"/>
            </a:solidFill>
            <a:prstDash val="solid"/>
            <a:tailEnd type="triangle"/>
          </a:ln>
        </p:spPr>
      </p:sp>
      <p:sp>
        <p:nvSpPr>
          <p:cNvPr id="48" name="Shape 42"/>
          <p:cNvSpPr/>
          <p:nvPr/>
        </p:nvSpPr>
        <p:spPr>
          <a:xfrm>
            <a:off x="7543800" y="2926080"/>
            <a:ext cx="1143000" cy="603504"/>
          </a:xfrm>
          <a:prstGeom prst="roundRect">
            <a:avLst>
              <a:gd name="adj" fmla="val 12121"/>
            </a:avLst>
          </a:prstGeom>
          <a:solidFill>
            <a:srgbClr val="FFFFFF"/>
          </a:solidFill>
          <a:ln w="15875">
            <a:solidFill>
              <a:srgbClr val="0E7C86"/>
            </a:solidFill>
            <a:prstDash val="solid"/>
          </a:ln>
        </p:spPr>
      </p:sp>
      <p:sp>
        <p:nvSpPr>
          <p:cNvPr id="49" name="Text 43"/>
          <p:cNvSpPr txBox="1"/>
          <p:nvPr/>
        </p:nvSpPr>
        <p:spPr>
          <a:xfrm>
            <a:off x="7589520" y="2926080"/>
            <a:ext cx="1051560" cy="603504"/>
          </a:xfrm>
          <a:prstGeom prst="rect">
            <a:avLst/>
          </a:prstGeom>
          <a:noFill/>
          <a:ln/>
        </p:spPr>
        <p:txBody>
          <a:bodyPr wrap="square" lIns="0" tIns="0" rIns="0" bIns="0" rtlCol="0" anchor="ctr"/>
          <a:lstStyle/>
          <a:p>
            <a:pPr algn="ctr" indent="0" marL="0">
              <a:buNone/>
            </a:pPr>
            <a:r>
              <a:rPr lang="en-US" sz="1000" b="1" dirty="0">
                <a:solidFill>
                  <a:srgbClr val="231F20"/>
                </a:solidFill>
                <a:latin typeface="Calibri" pitchFamily="34" charset="0"/>
                <a:ea typeface="Calibri" pitchFamily="34" charset="-122"/>
                <a:cs typeface="Calibri" pitchFamily="34" charset="-120"/>
              </a:rPr>
              <a:t>Réponse</a:t>
            </a:r>
            <a:endParaRPr lang="en-US" sz="1100" dirty="0"/>
          </a:p>
          <a:p>
            <a:pPr algn="ctr" indent="0" marL="0">
              <a:buNone/>
            </a:pPr>
            <a:r>
              <a:rPr lang="en-US" sz="850" dirty="0">
                <a:solidFill>
                  <a:srgbClr val="5E6964"/>
                </a:solidFill>
                <a:latin typeface="Calibri" pitchFamily="34" charset="0"/>
                <a:ea typeface="Calibri" pitchFamily="34" charset="-122"/>
                <a:cs typeface="Calibri" pitchFamily="34" charset="-120"/>
              </a:rPr>
              <a:t>+ sources citées</a:t>
            </a:r>
            <a:endParaRPr lang="en-US" sz="1100" dirty="0"/>
          </a:p>
        </p:txBody>
      </p:sp>
      <p:sp>
        <p:nvSpPr>
          <p:cNvPr id="50" name="Shape 44"/>
          <p:cNvSpPr/>
          <p:nvPr/>
        </p:nvSpPr>
        <p:spPr>
          <a:xfrm>
            <a:off x="7863840" y="2157984"/>
            <a:ext cx="91" cy="384048"/>
          </a:xfrm>
          <a:prstGeom prst="line">
            <a:avLst/>
          </a:prstGeom>
          <a:noFill/>
          <a:ln w="12700">
            <a:solidFill>
              <a:srgbClr val="0E7C86"/>
            </a:solidFill>
            <a:prstDash val="dash"/>
          </a:ln>
        </p:spPr>
      </p:sp>
      <p:sp>
        <p:nvSpPr>
          <p:cNvPr id="51" name="Shape 45"/>
          <p:cNvSpPr/>
          <p:nvPr/>
        </p:nvSpPr>
        <p:spPr>
          <a:xfrm flipH="1">
            <a:off x="3863340" y="2542032"/>
            <a:ext cx="4000500" cy="91"/>
          </a:xfrm>
          <a:prstGeom prst="line">
            <a:avLst/>
          </a:prstGeom>
          <a:noFill/>
          <a:ln w="12700">
            <a:solidFill>
              <a:srgbClr val="0E7C86"/>
            </a:solidFill>
            <a:prstDash val="dash"/>
          </a:ln>
        </p:spPr>
      </p:sp>
      <p:sp>
        <p:nvSpPr>
          <p:cNvPr id="52" name="Shape 46"/>
          <p:cNvSpPr/>
          <p:nvPr/>
        </p:nvSpPr>
        <p:spPr>
          <a:xfrm>
            <a:off x="3863340" y="2542032"/>
            <a:ext cx="91" cy="365760"/>
          </a:xfrm>
          <a:prstGeom prst="line">
            <a:avLst/>
          </a:prstGeom>
          <a:noFill/>
          <a:ln w="12700">
            <a:solidFill>
              <a:srgbClr val="0E7C86"/>
            </a:solidFill>
            <a:prstDash val="dash"/>
            <a:tailEnd type="triangle"/>
          </a:ln>
        </p:spPr>
      </p:sp>
      <p:sp>
        <p:nvSpPr>
          <p:cNvPr id="53" name="Shape 47"/>
          <p:cNvSpPr/>
          <p:nvPr/>
        </p:nvSpPr>
        <p:spPr>
          <a:xfrm>
            <a:off x="457200" y="3694176"/>
            <a:ext cx="4023360" cy="841248"/>
          </a:xfrm>
          <a:prstGeom prst="roundRect">
            <a:avLst>
              <a:gd name="adj" fmla="val 8696"/>
            </a:avLst>
          </a:prstGeom>
          <a:solidFill>
            <a:srgbClr val="F4F7F5"/>
          </a:solidFill>
          <a:ln w="9525">
            <a:solidFill>
              <a:srgbClr val="D5DED9"/>
            </a:solidFill>
            <a:prstDash val="solid"/>
          </a:ln>
        </p:spPr>
      </p:sp>
      <p:sp>
        <p:nvSpPr>
          <p:cNvPr id="54" name="Shape 48"/>
          <p:cNvSpPr/>
          <p:nvPr/>
        </p:nvSpPr>
        <p:spPr>
          <a:xfrm>
            <a:off x="594360" y="3858768"/>
            <a:ext cx="438912" cy="438912"/>
          </a:xfrm>
          <a:prstGeom prst="ellipse">
            <a:avLst/>
          </a:prstGeom>
          <a:solidFill>
            <a:srgbClr val="0E7C86">
              <a:alpha val="22000"/>
            </a:srgbClr>
          </a:solidFill>
          <a:ln/>
        </p:spPr>
      </p:sp>
      <p:pic>
        <p:nvPicPr>
          <p:cNvPr id="55" name="Image 4" descr="preencoded.png">    </p:cNvPr>
          <p:cNvPicPr>
            <a:picLocks noChangeAspect="1"/>
          </p:cNvPicPr>
          <p:nvPr/>
        </p:nvPicPr>
        <p:blipFill>
          <a:blip r:embed="rId5"/>
          <a:stretch>
            <a:fillRect/>
          </a:stretch>
        </p:blipFill>
        <p:spPr>
          <a:xfrm>
            <a:off x="699699" y="3964107"/>
            <a:ext cx="228234" cy="228234"/>
          </a:xfrm>
          <a:prstGeom prst="rect">
            <a:avLst/>
          </a:prstGeom>
        </p:spPr>
      </p:pic>
      <p:sp>
        <p:nvSpPr>
          <p:cNvPr id="56" name="Text 49"/>
          <p:cNvSpPr txBox="1"/>
          <p:nvPr/>
        </p:nvSpPr>
        <p:spPr>
          <a:xfrm>
            <a:off x="1143000" y="3730752"/>
            <a:ext cx="3246120" cy="768096"/>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Géométrie, pas mot-clé</a:t>
            </a:r>
            <a:endParaRPr lang="en-US" sz="1100" dirty="0"/>
          </a:p>
          <a:p>
            <a:pPr indent="0" marL="0">
              <a:buNone/>
            </a:pPr>
            <a:r>
              <a:rPr lang="en-US" sz="950" dirty="0">
                <a:solidFill>
                  <a:srgbClr val="5E6964"/>
                </a:solidFill>
                <a:latin typeface="Calibri" pitchFamily="34" charset="0"/>
                <a:ea typeface="Calibri" pitchFamily="34" charset="-122"/>
                <a:cs typeface="Calibri" pitchFamily="34" charset="-120"/>
              </a:rPr>
              <a:t>Des passages de même sens deviennent voisins : on retrouve un paragraphe pertinent sans aucun mot commun.</a:t>
            </a:r>
            <a:endParaRPr lang="en-US" sz="1100" dirty="0"/>
          </a:p>
        </p:txBody>
      </p:sp>
      <p:sp>
        <p:nvSpPr>
          <p:cNvPr id="57" name="Shape 50"/>
          <p:cNvSpPr/>
          <p:nvPr/>
        </p:nvSpPr>
        <p:spPr>
          <a:xfrm>
            <a:off x="4663440" y="3694176"/>
            <a:ext cx="4023360" cy="841248"/>
          </a:xfrm>
          <a:prstGeom prst="roundRect">
            <a:avLst>
              <a:gd name="adj" fmla="val 8696"/>
            </a:avLst>
          </a:prstGeom>
          <a:solidFill>
            <a:srgbClr val="FBF3DE"/>
          </a:solidFill>
          <a:ln w="15875">
            <a:solidFill>
              <a:srgbClr val="D49A00"/>
            </a:solidFill>
            <a:prstDash val="solid"/>
          </a:ln>
        </p:spPr>
      </p:sp>
      <p:sp>
        <p:nvSpPr>
          <p:cNvPr id="58" name="Shape 51"/>
          <p:cNvSpPr/>
          <p:nvPr/>
        </p:nvSpPr>
        <p:spPr>
          <a:xfrm>
            <a:off x="4800600" y="3858768"/>
            <a:ext cx="438912" cy="438912"/>
          </a:xfrm>
          <a:prstGeom prst="ellipse">
            <a:avLst/>
          </a:prstGeom>
          <a:solidFill>
            <a:srgbClr val="D49A00">
              <a:alpha val="22000"/>
            </a:srgbClr>
          </a:solidFill>
          <a:ln/>
        </p:spPr>
      </p:sp>
      <p:pic>
        <p:nvPicPr>
          <p:cNvPr id="59" name="Image 5" descr="preencoded.png">    </p:cNvPr>
          <p:cNvPicPr>
            <a:picLocks noChangeAspect="1"/>
          </p:cNvPicPr>
          <p:nvPr/>
        </p:nvPicPr>
        <p:blipFill>
          <a:blip r:embed="rId6"/>
          <a:stretch>
            <a:fillRect/>
          </a:stretch>
        </p:blipFill>
        <p:spPr>
          <a:xfrm>
            <a:off x="4905939" y="3964107"/>
            <a:ext cx="228234" cy="228234"/>
          </a:xfrm>
          <a:prstGeom prst="rect">
            <a:avLst/>
          </a:prstGeom>
        </p:spPr>
      </p:pic>
      <p:sp>
        <p:nvSpPr>
          <p:cNvPr id="60" name="Text 52"/>
          <p:cNvSpPr txBox="1"/>
          <p:nvPr/>
        </p:nvSpPr>
        <p:spPr>
          <a:xfrm>
            <a:off x="5349240" y="3730752"/>
            <a:ext cx="3246120" cy="768096"/>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Le découpage décide</a:t>
            </a:r>
            <a:endParaRPr lang="en-US" sz="1100" dirty="0"/>
          </a:p>
          <a:p>
            <a:pPr indent="0" marL="0">
              <a:buNone/>
            </a:pPr>
            <a:r>
              <a:rPr lang="en-US" sz="950" dirty="0">
                <a:solidFill>
                  <a:srgbClr val="5E6964"/>
                </a:solidFill>
                <a:latin typeface="Calibri" pitchFamily="34" charset="0"/>
                <a:ea typeface="Calibri" pitchFamily="34" charset="-122"/>
                <a:cs typeface="Calibri" pitchFamily="34" charset="-120"/>
              </a:rPr>
              <a:t>Séparez un tableau de son en-tête, et aucun plongement ne vous sauvera. La qualité se joue souvent là.</a:t>
            </a:r>
            <a:endParaRPr lang="en-US" sz="1100" dirty="0"/>
          </a:p>
        </p:txBody>
      </p:sp>
      <p:sp>
        <p:nvSpPr>
          <p:cNvPr id="61" name="Text 53"/>
          <p:cNvSpPr txBox="1"/>
          <p:nvPr/>
        </p:nvSpPr>
        <p:spPr>
          <a:xfrm>
            <a:off x="457200" y="4608576"/>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Lewis et al. (2020), NeurIPS 33 — article fondateur du RAG · Muennighoff et al. (2023), MTEB, EACL.</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04  ·  PILOTER : REQUÊTE, RAG, AFFINAGE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Le RAG change ce que le modèle voit ; l'affinage, sa façon de parler</a:t>
            </a:r>
            <a:endParaRPr lang="en-US" sz="22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6" name="Shape 14"/>
          <p:cNvSpPr/>
          <p:nvPr/>
        </p:nvSpPr>
        <p:spPr>
          <a:xfrm>
            <a:off x="457200" y="1371600"/>
            <a:ext cx="3977640" cy="2240280"/>
          </a:xfrm>
          <a:prstGeom prst="roundRect">
            <a:avLst>
              <a:gd name="adj" fmla="val 3265"/>
            </a:avLst>
          </a:prstGeom>
          <a:solidFill>
            <a:srgbClr val="F4F7F5"/>
          </a:solidFill>
          <a:ln w="9525">
            <a:solidFill>
              <a:srgbClr val="D5DED9"/>
            </a:solidFill>
            <a:prstDash val="solid"/>
          </a:ln>
        </p:spPr>
      </p:sp>
      <p:sp>
        <p:nvSpPr>
          <p:cNvPr id="17" name="Shape 15"/>
          <p:cNvSpPr/>
          <p:nvPr/>
        </p:nvSpPr>
        <p:spPr>
          <a:xfrm>
            <a:off x="640080" y="1481328"/>
            <a:ext cx="420624" cy="420624"/>
          </a:xfrm>
          <a:prstGeom prst="ellipse">
            <a:avLst/>
          </a:prstGeom>
          <a:solidFill>
            <a:srgbClr val="0E7C86">
              <a:alpha val="22000"/>
            </a:srgbClr>
          </a:solidFill>
          <a:ln/>
        </p:spPr>
      </p:sp>
      <p:pic>
        <p:nvPicPr>
          <p:cNvPr id="18" name="Image 0" descr="preencoded.png">    </p:cNvPr>
          <p:cNvPicPr>
            <a:picLocks noChangeAspect="1"/>
          </p:cNvPicPr>
          <p:nvPr/>
        </p:nvPicPr>
        <p:blipFill>
          <a:blip r:embed="rId1"/>
          <a:stretch>
            <a:fillRect/>
          </a:stretch>
        </p:blipFill>
        <p:spPr>
          <a:xfrm>
            <a:off x="741030" y="1582278"/>
            <a:ext cx="218724" cy="218724"/>
          </a:xfrm>
          <a:prstGeom prst="rect">
            <a:avLst/>
          </a:prstGeom>
        </p:spPr>
      </p:pic>
      <p:sp>
        <p:nvSpPr>
          <p:cNvPr id="19" name="Text 16"/>
          <p:cNvSpPr txBox="1"/>
          <p:nvPr/>
        </p:nvSpPr>
        <p:spPr>
          <a:xfrm>
            <a:off x="1188720" y="1481328"/>
            <a:ext cx="2743200" cy="420624"/>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RAG</a:t>
            </a:r>
            <a:endParaRPr lang="en-US" sz="1600" dirty="0"/>
          </a:p>
        </p:txBody>
      </p:sp>
      <p:sp>
        <p:nvSpPr>
          <p:cNvPr id="20" name="Shape 17"/>
          <p:cNvSpPr/>
          <p:nvPr/>
        </p:nvSpPr>
        <p:spPr>
          <a:xfrm>
            <a:off x="640080" y="1993392"/>
            <a:ext cx="3611880" cy="0"/>
          </a:xfrm>
          <a:prstGeom prst="line">
            <a:avLst/>
          </a:prstGeom>
          <a:noFill/>
          <a:ln w="6350">
            <a:solidFill>
              <a:srgbClr val="D5DED9"/>
            </a:solidFill>
            <a:prstDash val="solid"/>
          </a:ln>
        </p:spPr>
      </p:sp>
      <p:sp>
        <p:nvSpPr>
          <p:cNvPr id="21" name="Text 18"/>
          <p:cNvSpPr txBox="1"/>
          <p:nvPr/>
        </p:nvSpPr>
        <p:spPr>
          <a:xfrm>
            <a:off x="640080" y="2029968"/>
            <a:ext cx="960120" cy="329184"/>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Modifie</a:t>
            </a:r>
            <a:endParaRPr lang="en-US" sz="1000" dirty="0"/>
          </a:p>
        </p:txBody>
      </p:sp>
      <p:sp>
        <p:nvSpPr>
          <p:cNvPr id="22" name="Text 19"/>
          <p:cNvSpPr txBox="1"/>
          <p:nvPr/>
        </p:nvSpPr>
        <p:spPr>
          <a:xfrm>
            <a:off x="1600200" y="2029968"/>
            <a:ext cx="269748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le contexte, au moment de la question</a:t>
            </a:r>
            <a:endParaRPr lang="en-US" sz="1050" dirty="0"/>
          </a:p>
        </p:txBody>
      </p:sp>
      <p:sp>
        <p:nvSpPr>
          <p:cNvPr id="23" name="Shape 20"/>
          <p:cNvSpPr/>
          <p:nvPr/>
        </p:nvSpPr>
        <p:spPr>
          <a:xfrm>
            <a:off x="640080" y="2377440"/>
            <a:ext cx="3611880" cy="0"/>
          </a:xfrm>
          <a:prstGeom prst="line">
            <a:avLst/>
          </a:prstGeom>
          <a:noFill/>
          <a:ln w="6350">
            <a:solidFill>
              <a:srgbClr val="D5DED9"/>
            </a:solidFill>
            <a:prstDash val="solid"/>
          </a:ln>
        </p:spPr>
      </p:sp>
      <p:sp>
        <p:nvSpPr>
          <p:cNvPr id="24" name="Text 21"/>
          <p:cNvSpPr txBox="1"/>
          <p:nvPr/>
        </p:nvSpPr>
        <p:spPr>
          <a:xfrm>
            <a:off x="640080" y="2414016"/>
            <a:ext cx="960120" cy="329184"/>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Utile pour</a:t>
            </a:r>
            <a:endParaRPr lang="en-US" sz="1000" dirty="0"/>
          </a:p>
        </p:txBody>
      </p:sp>
      <p:sp>
        <p:nvSpPr>
          <p:cNvPr id="25" name="Text 22"/>
          <p:cNvSpPr txBox="1"/>
          <p:nvPr/>
        </p:nvSpPr>
        <p:spPr>
          <a:xfrm>
            <a:off x="1600200" y="2414016"/>
            <a:ext cx="269748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les faits, les documents, vos données</a:t>
            </a:r>
            <a:endParaRPr lang="en-US" sz="1050" dirty="0"/>
          </a:p>
        </p:txBody>
      </p:sp>
      <p:sp>
        <p:nvSpPr>
          <p:cNvPr id="26" name="Shape 23"/>
          <p:cNvSpPr/>
          <p:nvPr/>
        </p:nvSpPr>
        <p:spPr>
          <a:xfrm>
            <a:off x="640080" y="2761488"/>
            <a:ext cx="3611880" cy="0"/>
          </a:xfrm>
          <a:prstGeom prst="line">
            <a:avLst/>
          </a:prstGeom>
          <a:noFill/>
          <a:ln w="6350">
            <a:solidFill>
              <a:srgbClr val="D5DED9"/>
            </a:solidFill>
            <a:prstDash val="solid"/>
          </a:ln>
        </p:spPr>
      </p:sp>
      <p:sp>
        <p:nvSpPr>
          <p:cNvPr id="27" name="Text 24"/>
          <p:cNvSpPr txBox="1"/>
          <p:nvPr/>
        </p:nvSpPr>
        <p:spPr>
          <a:xfrm>
            <a:off x="640080" y="2798064"/>
            <a:ext cx="960120" cy="329184"/>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Traçable</a:t>
            </a:r>
            <a:endParaRPr lang="en-US" sz="1000" dirty="0"/>
          </a:p>
        </p:txBody>
      </p:sp>
      <p:sp>
        <p:nvSpPr>
          <p:cNvPr id="28" name="Text 25"/>
          <p:cNvSpPr txBox="1"/>
          <p:nvPr/>
        </p:nvSpPr>
        <p:spPr>
          <a:xfrm>
            <a:off x="1600200" y="2798064"/>
            <a:ext cx="269748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oui — la source revient avec la réponse</a:t>
            </a:r>
            <a:endParaRPr lang="en-US" sz="1050" dirty="0"/>
          </a:p>
        </p:txBody>
      </p:sp>
      <p:sp>
        <p:nvSpPr>
          <p:cNvPr id="29" name="Shape 26"/>
          <p:cNvSpPr/>
          <p:nvPr/>
        </p:nvSpPr>
        <p:spPr>
          <a:xfrm>
            <a:off x="640080" y="3145536"/>
            <a:ext cx="3611880" cy="0"/>
          </a:xfrm>
          <a:prstGeom prst="line">
            <a:avLst/>
          </a:prstGeom>
          <a:noFill/>
          <a:ln w="6350">
            <a:solidFill>
              <a:srgbClr val="D5DED9"/>
            </a:solidFill>
            <a:prstDash val="solid"/>
          </a:ln>
        </p:spPr>
      </p:sp>
      <p:sp>
        <p:nvSpPr>
          <p:cNvPr id="30" name="Text 27"/>
          <p:cNvSpPr txBox="1"/>
          <p:nvPr/>
        </p:nvSpPr>
        <p:spPr>
          <a:xfrm>
            <a:off x="640080" y="3182112"/>
            <a:ext cx="960120" cy="329184"/>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Mise à jour</a:t>
            </a:r>
            <a:endParaRPr lang="en-US" sz="1000" dirty="0"/>
          </a:p>
        </p:txBody>
      </p:sp>
      <p:sp>
        <p:nvSpPr>
          <p:cNvPr id="31" name="Text 28"/>
          <p:cNvSpPr txBox="1"/>
          <p:nvPr/>
        </p:nvSpPr>
        <p:spPr>
          <a:xfrm>
            <a:off x="1600200" y="3182112"/>
            <a:ext cx="269748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remplacer un document ; effet immédiat</a:t>
            </a:r>
            <a:endParaRPr lang="en-US" sz="1050" dirty="0"/>
          </a:p>
        </p:txBody>
      </p:sp>
      <p:sp>
        <p:nvSpPr>
          <p:cNvPr id="32" name="Shape 29"/>
          <p:cNvSpPr/>
          <p:nvPr/>
        </p:nvSpPr>
        <p:spPr>
          <a:xfrm>
            <a:off x="4709160" y="1371600"/>
            <a:ext cx="3977640" cy="2240280"/>
          </a:xfrm>
          <a:prstGeom prst="roundRect">
            <a:avLst>
              <a:gd name="adj" fmla="val 3265"/>
            </a:avLst>
          </a:prstGeom>
          <a:solidFill>
            <a:srgbClr val="F4F7F5"/>
          </a:solidFill>
          <a:ln w="9525">
            <a:solidFill>
              <a:srgbClr val="D5DED9"/>
            </a:solidFill>
            <a:prstDash val="solid"/>
          </a:ln>
        </p:spPr>
      </p:sp>
      <p:sp>
        <p:nvSpPr>
          <p:cNvPr id="33" name="Shape 30"/>
          <p:cNvSpPr/>
          <p:nvPr/>
        </p:nvSpPr>
        <p:spPr>
          <a:xfrm>
            <a:off x="4892040" y="1481328"/>
            <a:ext cx="420624" cy="420624"/>
          </a:xfrm>
          <a:prstGeom prst="ellipse">
            <a:avLst/>
          </a:prstGeom>
          <a:solidFill>
            <a:srgbClr val="D49A00">
              <a:alpha val="22000"/>
            </a:srgbClr>
          </a:solidFill>
          <a:ln/>
        </p:spPr>
      </p:sp>
      <p:pic>
        <p:nvPicPr>
          <p:cNvPr id="34" name="Image 1" descr="preencoded.png">    </p:cNvPr>
          <p:cNvPicPr>
            <a:picLocks noChangeAspect="1"/>
          </p:cNvPicPr>
          <p:nvPr/>
        </p:nvPicPr>
        <p:blipFill>
          <a:blip r:embed="rId2"/>
          <a:stretch>
            <a:fillRect/>
          </a:stretch>
        </p:blipFill>
        <p:spPr>
          <a:xfrm>
            <a:off x="4992990" y="1582278"/>
            <a:ext cx="218724" cy="218724"/>
          </a:xfrm>
          <a:prstGeom prst="rect">
            <a:avLst/>
          </a:prstGeom>
        </p:spPr>
      </p:pic>
      <p:sp>
        <p:nvSpPr>
          <p:cNvPr id="35" name="Text 31"/>
          <p:cNvSpPr txBox="1"/>
          <p:nvPr/>
        </p:nvSpPr>
        <p:spPr>
          <a:xfrm>
            <a:off x="5440680" y="1481328"/>
            <a:ext cx="2743200" cy="420624"/>
          </a:xfrm>
          <a:prstGeom prst="rect">
            <a:avLst/>
          </a:prstGeom>
          <a:noFill/>
          <a:ln/>
        </p:spPr>
        <p:txBody>
          <a:bodyPr wrap="square" lIns="0" tIns="0" rIns="0" bIns="0" rtlCol="0" anchor="ctr"/>
          <a:lstStyle/>
          <a:p>
            <a:pPr indent="0" marL="0">
              <a:buNone/>
            </a:pPr>
            <a:r>
              <a:rPr lang="en-US" sz="1600" b="1" dirty="0">
                <a:solidFill>
                  <a:srgbClr val="D49A00"/>
                </a:solidFill>
                <a:latin typeface="Calibri" pitchFamily="34" charset="0"/>
                <a:ea typeface="Calibri" pitchFamily="34" charset="-122"/>
                <a:cs typeface="Calibri" pitchFamily="34" charset="-120"/>
              </a:rPr>
              <a:t>Affinage</a:t>
            </a:r>
            <a:endParaRPr lang="en-US" sz="1600" dirty="0"/>
          </a:p>
        </p:txBody>
      </p:sp>
      <p:sp>
        <p:nvSpPr>
          <p:cNvPr id="36" name="Shape 32"/>
          <p:cNvSpPr/>
          <p:nvPr/>
        </p:nvSpPr>
        <p:spPr>
          <a:xfrm>
            <a:off x="4892040" y="1993392"/>
            <a:ext cx="3611880" cy="0"/>
          </a:xfrm>
          <a:prstGeom prst="line">
            <a:avLst/>
          </a:prstGeom>
          <a:noFill/>
          <a:ln w="6350">
            <a:solidFill>
              <a:srgbClr val="D5DED9"/>
            </a:solidFill>
            <a:prstDash val="solid"/>
          </a:ln>
        </p:spPr>
      </p:sp>
      <p:sp>
        <p:nvSpPr>
          <p:cNvPr id="37" name="Text 33"/>
          <p:cNvSpPr txBox="1"/>
          <p:nvPr/>
        </p:nvSpPr>
        <p:spPr>
          <a:xfrm>
            <a:off x="4892040" y="2029968"/>
            <a:ext cx="960120" cy="329184"/>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Modifie</a:t>
            </a:r>
            <a:endParaRPr lang="en-US" sz="1000" dirty="0"/>
          </a:p>
        </p:txBody>
      </p:sp>
      <p:sp>
        <p:nvSpPr>
          <p:cNvPr id="38" name="Text 34"/>
          <p:cNvSpPr txBox="1"/>
          <p:nvPr/>
        </p:nvSpPr>
        <p:spPr>
          <a:xfrm>
            <a:off x="5852160" y="2029968"/>
            <a:ext cx="269748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les poids, une fois, à l'avance</a:t>
            </a:r>
            <a:endParaRPr lang="en-US" sz="1050" dirty="0"/>
          </a:p>
        </p:txBody>
      </p:sp>
      <p:sp>
        <p:nvSpPr>
          <p:cNvPr id="39" name="Shape 35"/>
          <p:cNvSpPr/>
          <p:nvPr/>
        </p:nvSpPr>
        <p:spPr>
          <a:xfrm>
            <a:off x="4892040" y="2377440"/>
            <a:ext cx="3611880" cy="0"/>
          </a:xfrm>
          <a:prstGeom prst="line">
            <a:avLst/>
          </a:prstGeom>
          <a:noFill/>
          <a:ln w="6350">
            <a:solidFill>
              <a:srgbClr val="D5DED9"/>
            </a:solidFill>
            <a:prstDash val="solid"/>
          </a:ln>
        </p:spPr>
      </p:sp>
      <p:sp>
        <p:nvSpPr>
          <p:cNvPr id="40" name="Text 36"/>
          <p:cNvSpPr txBox="1"/>
          <p:nvPr/>
        </p:nvSpPr>
        <p:spPr>
          <a:xfrm>
            <a:off x="4892040" y="2414016"/>
            <a:ext cx="960120" cy="329184"/>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Utile pour</a:t>
            </a:r>
            <a:endParaRPr lang="en-US" sz="1000" dirty="0"/>
          </a:p>
        </p:txBody>
      </p:sp>
      <p:sp>
        <p:nvSpPr>
          <p:cNvPr id="41" name="Text 37"/>
          <p:cNvSpPr txBox="1"/>
          <p:nvPr/>
        </p:nvSpPr>
        <p:spPr>
          <a:xfrm>
            <a:off x="5852160" y="2414016"/>
            <a:ext cx="269748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le format, le registre, une tâche répétée</a:t>
            </a:r>
            <a:endParaRPr lang="en-US" sz="1050" dirty="0"/>
          </a:p>
        </p:txBody>
      </p:sp>
      <p:sp>
        <p:nvSpPr>
          <p:cNvPr id="42" name="Shape 38"/>
          <p:cNvSpPr/>
          <p:nvPr/>
        </p:nvSpPr>
        <p:spPr>
          <a:xfrm>
            <a:off x="4892040" y="2761488"/>
            <a:ext cx="3611880" cy="0"/>
          </a:xfrm>
          <a:prstGeom prst="line">
            <a:avLst/>
          </a:prstGeom>
          <a:noFill/>
          <a:ln w="6350">
            <a:solidFill>
              <a:srgbClr val="D5DED9"/>
            </a:solidFill>
            <a:prstDash val="solid"/>
          </a:ln>
        </p:spPr>
      </p:sp>
      <p:sp>
        <p:nvSpPr>
          <p:cNvPr id="43" name="Text 39"/>
          <p:cNvSpPr txBox="1"/>
          <p:nvPr/>
        </p:nvSpPr>
        <p:spPr>
          <a:xfrm>
            <a:off x="4892040" y="2798064"/>
            <a:ext cx="960120" cy="329184"/>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Traçable</a:t>
            </a:r>
            <a:endParaRPr lang="en-US" sz="1000" dirty="0"/>
          </a:p>
        </p:txBody>
      </p:sp>
      <p:sp>
        <p:nvSpPr>
          <p:cNvPr id="44" name="Text 40"/>
          <p:cNvSpPr txBox="1"/>
          <p:nvPr/>
        </p:nvSpPr>
        <p:spPr>
          <a:xfrm>
            <a:off x="5852160" y="2798064"/>
            <a:ext cx="269748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non — rien ne renvoie à une source</a:t>
            </a:r>
            <a:endParaRPr lang="en-US" sz="1050" dirty="0"/>
          </a:p>
        </p:txBody>
      </p:sp>
      <p:sp>
        <p:nvSpPr>
          <p:cNvPr id="45" name="Shape 41"/>
          <p:cNvSpPr/>
          <p:nvPr/>
        </p:nvSpPr>
        <p:spPr>
          <a:xfrm>
            <a:off x="4892040" y="3145536"/>
            <a:ext cx="3611880" cy="0"/>
          </a:xfrm>
          <a:prstGeom prst="line">
            <a:avLst/>
          </a:prstGeom>
          <a:noFill/>
          <a:ln w="6350">
            <a:solidFill>
              <a:srgbClr val="D5DED9"/>
            </a:solidFill>
            <a:prstDash val="solid"/>
          </a:ln>
        </p:spPr>
      </p:sp>
      <p:sp>
        <p:nvSpPr>
          <p:cNvPr id="46" name="Text 42"/>
          <p:cNvSpPr txBox="1"/>
          <p:nvPr/>
        </p:nvSpPr>
        <p:spPr>
          <a:xfrm>
            <a:off x="4892040" y="3182112"/>
            <a:ext cx="960120" cy="329184"/>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Mise à jour</a:t>
            </a:r>
            <a:endParaRPr lang="en-US" sz="1000" dirty="0"/>
          </a:p>
        </p:txBody>
      </p:sp>
      <p:sp>
        <p:nvSpPr>
          <p:cNvPr id="47" name="Text 43"/>
          <p:cNvSpPr txBox="1"/>
          <p:nvPr/>
        </p:nvSpPr>
        <p:spPr>
          <a:xfrm>
            <a:off x="5852160" y="3182112"/>
            <a:ext cx="2697480" cy="329184"/>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réentraîner avec un jeu d'exemples à jour</a:t>
            </a:r>
            <a:endParaRPr lang="en-US" sz="1050" dirty="0"/>
          </a:p>
        </p:txBody>
      </p:sp>
      <p:sp>
        <p:nvSpPr>
          <p:cNvPr id="48" name="Text 44"/>
          <p:cNvSpPr txBox="1"/>
          <p:nvPr/>
        </p:nvSpPr>
        <p:spPr>
          <a:xfrm>
            <a:off x="4206240" y="2240280"/>
            <a:ext cx="731520" cy="365760"/>
          </a:xfrm>
          <a:prstGeom prst="rect">
            <a:avLst/>
          </a:prstGeom>
          <a:noFill/>
          <a:ln/>
        </p:spPr>
        <p:txBody>
          <a:bodyPr wrap="square" lIns="0" tIns="0" rIns="0" bIns="0" rtlCol="0" anchor="t"/>
          <a:lstStyle/>
          <a:p>
            <a:pPr algn="ctr" indent="0" marL="0">
              <a:buNone/>
            </a:pPr>
            <a:r>
              <a:rPr lang="en-US" sz="1600" b="1" i="1" dirty="0">
                <a:solidFill>
                  <a:srgbClr val="5E6964"/>
                </a:solidFill>
                <a:latin typeface="Calibri" pitchFamily="34" charset="0"/>
                <a:ea typeface="Calibri" pitchFamily="34" charset="-122"/>
                <a:cs typeface="Calibri" pitchFamily="34" charset="-120"/>
              </a:rPr>
              <a:t>vs</a:t>
            </a:r>
            <a:endParaRPr lang="en-US" sz="1600" dirty="0"/>
          </a:p>
        </p:txBody>
      </p:sp>
      <p:sp>
        <p:nvSpPr>
          <p:cNvPr id="49" name="Shape 45"/>
          <p:cNvSpPr/>
          <p:nvPr/>
        </p:nvSpPr>
        <p:spPr>
          <a:xfrm>
            <a:off x="457200" y="3749040"/>
            <a:ext cx="3977640" cy="786384"/>
          </a:xfrm>
          <a:prstGeom prst="roundRect">
            <a:avLst>
              <a:gd name="adj" fmla="val 9302"/>
            </a:avLst>
          </a:prstGeom>
          <a:solidFill>
            <a:srgbClr val="E8F5EF"/>
          </a:solidFill>
          <a:ln w="15875">
            <a:solidFill>
              <a:srgbClr val="00A86A"/>
            </a:solidFill>
            <a:prstDash val="solid"/>
          </a:ln>
        </p:spPr>
      </p:sp>
      <p:sp>
        <p:nvSpPr>
          <p:cNvPr id="50" name="Shape 46"/>
          <p:cNvSpPr/>
          <p:nvPr/>
        </p:nvSpPr>
        <p:spPr>
          <a:xfrm>
            <a:off x="603504" y="3904488"/>
            <a:ext cx="457200" cy="457200"/>
          </a:xfrm>
          <a:prstGeom prst="ellipse">
            <a:avLst/>
          </a:prstGeom>
          <a:solidFill>
            <a:srgbClr val="00A86A">
              <a:alpha val="22000"/>
            </a:srgbClr>
          </a:solidFill>
          <a:ln/>
        </p:spPr>
      </p:sp>
      <p:pic>
        <p:nvPicPr>
          <p:cNvPr id="51" name="Image 2" descr="preencoded.png">    </p:cNvPr>
          <p:cNvPicPr>
            <a:picLocks noChangeAspect="1"/>
          </p:cNvPicPr>
          <p:nvPr/>
        </p:nvPicPr>
        <p:blipFill>
          <a:blip r:embed="rId3"/>
          <a:stretch>
            <a:fillRect/>
          </a:stretch>
        </p:blipFill>
        <p:spPr>
          <a:xfrm>
            <a:off x="713232" y="4014216"/>
            <a:ext cx="237744" cy="237744"/>
          </a:xfrm>
          <a:prstGeom prst="rect">
            <a:avLst/>
          </a:prstGeom>
        </p:spPr>
      </p:pic>
      <p:sp>
        <p:nvSpPr>
          <p:cNvPr id="52" name="Text 47"/>
          <p:cNvSpPr txBox="1"/>
          <p:nvPr/>
        </p:nvSpPr>
        <p:spPr>
          <a:xfrm>
            <a:off x="1170432" y="3776472"/>
            <a:ext cx="3154680" cy="731520"/>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Règle de pilotage</a:t>
            </a:r>
            <a:endParaRPr lang="en-US" sz="1000" dirty="0"/>
          </a:p>
          <a:p>
            <a:pPr indent="0" marL="0">
              <a:buNone/>
            </a:pPr>
            <a:r>
              <a:rPr lang="en-US" sz="1000" dirty="0">
                <a:solidFill>
                  <a:srgbClr val="231F20"/>
                </a:solidFill>
                <a:latin typeface="Calibri" pitchFamily="34" charset="0"/>
                <a:ea typeface="Calibri" pitchFamily="34" charset="-122"/>
                <a:cs typeface="Calibri" pitchFamily="34" charset="-120"/>
              </a:rPr>
              <a:t>Si le besoin contient « à jour », la réponse est le RAG : les poids sont figés le jour où l'entraînement s'arrête.</a:t>
            </a:r>
            <a:endParaRPr lang="en-US" sz="1000" dirty="0"/>
          </a:p>
        </p:txBody>
      </p:sp>
      <p:sp>
        <p:nvSpPr>
          <p:cNvPr id="53" name="Shape 48"/>
          <p:cNvSpPr/>
          <p:nvPr/>
        </p:nvSpPr>
        <p:spPr>
          <a:xfrm>
            <a:off x="4709160" y="3749040"/>
            <a:ext cx="3977640" cy="786384"/>
          </a:xfrm>
          <a:prstGeom prst="roundRect">
            <a:avLst>
              <a:gd name="adj" fmla="val 9302"/>
            </a:avLst>
          </a:prstGeom>
          <a:solidFill>
            <a:srgbClr val="FBF3DE"/>
          </a:solidFill>
          <a:ln w="15875">
            <a:solidFill>
              <a:srgbClr val="D49A00"/>
            </a:solidFill>
            <a:prstDash val="solid"/>
          </a:ln>
        </p:spPr>
      </p:sp>
      <p:sp>
        <p:nvSpPr>
          <p:cNvPr id="54" name="Shape 49"/>
          <p:cNvSpPr/>
          <p:nvPr/>
        </p:nvSpPr>
        <p:spPr>
          <a:xfrm>
            <a:off x="4855464" y="3904488"/>
            <a:ext cx="457200" cy="457200"/>
          </a:xfrm>
          <a:prstGeom prst="ellipse">
            <a:avLst/>
          </a:prstGeom>
          <a:solidFill>
            <a:srgbClr val="D49A00">
              <a:alpha val="22000"/>
            </a:srgbClr>
          </a:solidFill>
          <a:ln/>
        </p:spPr>
      </p:sp>
      <p:pic>
        <p:nvPicPr>
          <p:cNvPr id="55" name="Image 3" descr="preencoded.png">    </p:cNvPr>
          <p:cNvPicPr>
            <a:picLocks noChangeAspect="1"/>
          </p:cNvPicPr>
          <p:nvPr/>
        </p:nvPicPr>
        <p:blipFill>
          <a:blip r:embed="rId4"/>
          <a:stretch>
            <a:fillRect/>
          </a:stretch>
        </p:blipFill>
        <p:spPr>
          <a:xfrm>
            <a:off x="4965192" y="4014216"/>
            <a:ext cx="237744" cy="237744"/>
          </a:xfrm>
          <a:prstGeom prst="rect">
            <a:avLst/>
          </a:prstGeom>
        </p:spPr>
      </p:pic>
      <p:sp>
        <p:nvSpPr>
          <p:cNvPr id="56" name="Text 50"/>
          <p:cNvSpPr txBox="1"/>
          <p:nvPr/>
        </p:nvSpPr>
        <p:spPr>
          <a:xfrm>
            <a:off x="5422392" y="3776472"/>
            <a:ext cx="3154680" cy="731520"/>
          </a:xfrm>
          <a:prstGeom prst="rect">
            <a:avLst/>
          </a:prstGeom>
          <a:noFill/>
          <a:ln/>
        </p:spPr>
        <p:txBody>
          <a:bodyPr wrap="square" lIns="0" tIns="0" rIns="0" bIns="0" rtlCol="0" anchor="ctr"/>
          <a:lstStyle/>
          <a:p>
            <a:pPr indent="0" marL="0">
              <a:buNone/>
            </a:pPr>
            <a:r>
              <a:rPr lang="en-US" sz="1000" b="1" dirty="0">
                <a:solidFill>
                  <a:srgbClr val="D49A00"/>
                </a:solidFill>
                <a:latin typeface="Calibri" pitchFamily="34" charset="0"/>
                <a:ea typeface="Calibri" pitchFamily="34" charset="-122"/>
                <a:cs typeface="Calibri" pitchFamily="34" charset="-120"/>
              </a:rPr>
              <a:t>L'affinage enseigne le style, pas les faits</a:t>
            </a:r>
            <a:endParaRPr lang="en-US" sz="1000" dirty="0"/>
          </a:p>
          <a:p>
            <a:pPr indent="0" marL="0">
              <a:buNone/>
            </a:pPr>
            <a:r>
              <a:rPr lang="en-US" sz="1000" dirty="0">
                <a:solidFill>
                  <a:srgbClr val="231F20"/>
                </a:solidFill>
                <a:latin typeface="Calibri" pitchFamily="34" charset="0"/>
                <a:ea typeface="Calibri" pitchFamily="34" charset="-122"/>
                <a:cs typeface="Calibri" pitchFamily="34" charset="-120"/>
              </a:rPr>
              <a:t>« Affiné sur vos données » décrit souvent… du RAG. Demandez par écrit si les poids changent.</a:t>
            </a:r>
            <a:endParaRPr lang="en-US" sz="10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05</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Agir : agents, outils et MCP</a:t>
            </a:r>
            <a:endParaRPr lang="en-US" sz="32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À quel moment une réponse devient-elle une action ?</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5C242"/>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r>
          <p:cNvPicPr>
            <a:picLocks noChangeAspect="1"/>
          </p:cNvPicPr>
          <p:nvPr/>
        </p:nvPicPr>
        <p:blipFill>
          <a:blip r:embed="rId2"/>
          <a:stretch>
            <a:fillRect/>
          </a:stretch>
        </p:blipFill>
        <p:spPr>
          <a:xfrm>
            <a:off x="6675120" y="2286000"/>
            <a:ext cx="548640" cy="548640"/>
          </a:xfrm>
          <a:prstGeom prst="rect">
            <a:avLst/>
          </a:prstGeom>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05  ·  AGIR : AGENTS, OUTILS ET MCP</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Un agent est un modèle dont la sortie peut devenir action</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C4621D"/>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6" name="Shape 14"/>
          <p:cNvSpPr/>
          <p:nvPr/>
        </p:nvSpPr>
        <p:spPr>
          <a:xfrm>
            <a:off x="1714500" y="1371600"/>
            <a:ext cx="1417320" cy="530352"/>
          </a:xfrm>
          <a:prstGeom prst="roundRect">
            <a:avLst>
              <a:gd name="adj" fmla="val 13793"/>
            </a:avLst>
          </a:prstGeom>
          <a:solidFill>
            <a:srgbClr val="FFFFFF"/>
          </a:solidFill>
          <a:ln w="15875">
            <a:solidFill>
              <a:srgbClr val="C4621D"/>
            </a:solidFill>
            <a:prstDash val="solid"/>
          </a:ln>
        </p:spPr>
      </p:sp>
      <p:sp>
        <p:nvSpPr>
          <p:cNvPr id="17" name="Text 15"/>
          <p:cNvSpPr txBox="1"/>
          <p:nvPr/>
        </p:nvSpPr>
        <p:spPr>
          <a:xfrm>
            <a:off x="1714500" y="1371600"/>
            <a:ext cx="1417320" cy="530352"/>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Observer</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la tâche, l'état</a:t>
            </a:r>
            <a:endParaRPr lang="en-US" sz="1100" dirty="0"/>
          </a:p>
        </p:txBody>
      </p:sp>
      <p:sp>
        <p:nvSpPr>
          <p:cNvPr id="18" name="Shape 16"/>
          <p:cNvSpPr/>
          <p:nvPr/>
        </p:nvSpPr>
        <p:spPr>
          <a:xfrm>
            <a:off x="2971800" y="2697480"/>
            <a:ext cx="1417320" cy="530352"/>
          </a:xfrm>
          <a:prstGeom prst="roundRect">
            <a:avLst>
              <a:gd name="adj" fmla="val 13793"/>
            </a:avLst>
          </a:prstGeom>
          <a:solidFill>
            <a:srgbClr val="FFFFFF"/>
          </a:solidFill>
          <a:ln w="15875">
            <a:solidFill>
              <a:srgbClr val="C4621D"/>
            </a:solidFill>
            <a:prstDash val="solid"/>
          </a:ln>
        </p:spPr>
      </p:sp>
      <p:sp>
        <p:nvSpPr>
          <p:cNvPr id="19" name="Text 17"/>
          <p:cNvSpPr txBox="1"/>
          <p:nvPr/>
        </p:nvSpPr>
        <p:spPr>
          <a:xfrm>
            <a:off x="2971800" y="2697480"/>
            <a:ext cx="1417320" cy="530352"/>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Proposer</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une action</a:t>
            </a:r>
            <a:endParaRPr lang="en-US" sz="1100" dirty="0"/>
          </a:p>
        </p:txBody>
      </p:sp>
      <p:sp>
        <p:nvSpPr>
          <p:cNvPr id="20" name="Shape 18"/>
          <p:cNvSpPr/>
          <p:nvPr/>
        </p:nvSpPr>
        <p:spPr>
          <a:xfrm>
            <a:off x="1714500" y="3977640"/>
            <a:ext cx="1417320" cy="530352"/>
          </a:xfrm>
          <a:prstGeom prst="roundRect">
            <a:avLst>
              <a:gd name="adj" fmla="val 13793"/>
            </a:avLst>
          </a:prstGeom>
          <a:solidFill>
            <a:srgbClr val="FBF3DE"/>
          </a:solidFill>
          <a:ln w="15875">
            <a:solidFill>
              <a:srgbClr val="D49A00"/>
            </a:solidFill>
            <a:prstDash val="solid"/>
          </a:ln>
        </p:spPr>
      </p:sp>
      <p:sp>
        <p:nvSpPr>
          <p:cNvPr id="21" name="Text 19"/>
          <p:cNvSpPr txBox="1"/>
          <p:nvPr/>
        </p:nvSpPr>
        <p:spPr>
          <a:xfrm>
            <a:off x="1714500" y="3977640"/>
            <a:ext cx="1417320" cy="530352"/>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Exécuter</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par votre logiciel</a:t>
            </a:r>
            <a:endParaRPr lang="en-US" sz="1100" dirty="0"/>
          </a:p>
        </p:txBody>
      </p:sp>
      <p:sp>
        <p:nvSpPr>
          <p:cNvPr id="22" name="Shape 20"/>
          <p:cNvSpPr/>
          <p:nvPr/>
        </p:nvSpPr>
        <p:spPr>
          <a:xfrm>
            <a:off x="457200" y="2697480"/>
            <a:ext cx="1417320" cy="530352"/>
          </a:xfrm>
          <a:prstGeom prst="roundRect">
            <a:avLst>
              <a:gd name="adj" fmla="val 13793"/>
            </a:avLst>
          </a:prstGeom>
          <a:solidFill>
            <a:srgbClr val="FFFFFF"/>
          </a:solidFill>
          <a:ln w="15875">
            <a:solidFill>
              <a:srgbClr val="C4621D"/>
            </a:solidFill>
            <a:prstDash val="solid"/>
          </a:ln>
        </p:spPr>
      </p:sp>
      <p:sp>
        <p:nvSpPr>
          <p:cNvPr id="23" name="Text 21"/>
          <p:cNvSpPr txBox="1"/>
          <p:nvPr/>
        </p:nvSpPr>
        <p:spPr>
          <a:xfrm>
            <a:off x="457200" y="2697480"/>
            <a:ext cx="1417320" cy="530352"/>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Lire</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le résultat</a:t>
            </a:r>
            <a:endParaRPr lang="en-US" sz="1100" dirty="0"/>
          </a:p>
        </p:txBody>
      </p:sp>
      <p:sp>
        <p:nvSpPr>
          <p:cNvPr id="24" name="Shape 22"/>
          <p:cNvSpPr/>
          <p:nvPr/>
        </p:nvSpPr>
        <p:spPr>
          <a:xfrm>
            <a:off x="2011680" y="2551176"/>
            <a:ext cx="822960" cy="822960"/>
          </a:xfrm>
          <a:prstGeom prst="ellipse">
            <a:avLst/>
          </a:prstGeom>
          <a:solidFill>
            <a:srgbClr val="00553A"/>
          </a:solidFill>
          <a:ln/>
        </p:spPr>
      </p:sp>
      <p:sp>
        <p:nvSpPr>
          <p:cNvPr id="25" name="Text 23"/>
          <p:cNvSpPr txBox="1"/>
          <p:nvPr/>
        </p:nvSpPr>
        <p:spPr>
          <a:xfrm>
            <a:off x="2011680" y="2551176"/>
            <a:ext cx="82296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GML</a:t>
            </a:r>
            <a:endParaRPr lang="en-US" sz="1400" dirty="0"/>
          </a:p>
        </p:txBody>
      </p:sp>
      <p:sp>
        <p:nvSpPr>
          <p:cNvPr id="26" name="Shape 24"/>
          <p:cNvSpPr/>
          <p:nvPr/>
        </p:nvSpPr>
        <p:spPr>
          <a:xfrm>
            <a:off x="3154680" y="1636776"/>
            <a:ext cx="502920" cy="1042416"/>
          </a:xfrm>
          <a:prstGeom prst="line">
            <a:avLst/>
          </a:prstGeom>
          <a:noFill/>
          <a:ln w="15875">
            <a:solidFill>
              <a:srgbClr val="C4621D"/>
            </a:solidFill>
            <a:prstDash val="solid"/>
            <a:tailEnd type="triangle"/>
          </a:ln>
        </p:spPr>
      </p:sp>
      <p:sp>
        <p:nvSpPr>
          <p:cNvPr id="27" name="Shape 25"/>
          <p:cNvSpPr/>
          <p:nvPr/>
        </p:nvSpPr>
        <p:spPr>
          <a:xfrm flipH="1">
            <a:off x="3154680" y="3246120"/>
            <a:ext cx="502920" cy="987552"/>
          </a:xfrm>
          <a:prstGeom prst="line">
            <a:avLst/>
          </a:prstGeom>
          <a:noFill/>
          <a:ln w="15875">
            <a:solidFill>
              <a:srgbClr val="C4621D"/>
            </a:solidFill>
            <a:prstDash val="solid"/>
            <a:tailEnd type="triangle"/>
          </a:ln>
        </p:spPr>
      </p:sp>
      <p:sp>
        <p:nvSpPr>
          <p:cNvPr id="28" name="Shape 26"/>
          <p:cNvSpPr/>
          <p:nvPr/>
        </p:nvSpPr>
        <p:spPr>
          <a:xfrm flipH="1" flipV="1">
            <a:off x="1188720" y="3246120"/>
            <a:ext cx="502920" cy="987552"/>
          </a:xfrm>
          <a:prstGeom prst="line">
            <a:avLst/>
          </a:prstGeom>
          <a:noFill/>
          <a:ln w="15875">
            <a:solidFill>
              <a:srgbClr val="C4621D"/>
            </a:solidFill>
            <a:prstDash val="solid"/>
            <a:tailEnd type="triangle"/>
          </a:ln>
        </p:spPr>
      </p:sp>
      <p:sp>
        <p:nvSpPr>
          <p:cNvPr id="29" name="Shape 27"/>
          <p:cNvSpPr/>
          <p:nvPr/>
        </p:nvSpPr>
        <p:spPr>
          <a:xfrm flipV="1">
            <a:off x="1188720" y="1636776"/>
            <a:ext cx="502920" cy="1042416"/>
          </a:xfrm>
          <a:prstGeom prst="line">
            <a:avLst/>
          </a:prstGeom>
          <a:noFill/>
          <a:ln w="15875">
            <a:solidFill>
              <a:srgbClr val="C4621D"/>
            </a:solidFill>
            <a:prstDash val="solid"/>
            <a:tailEnd type="triangle"/>
          </a:ln>
        </p:spPr>
      </p:sp>
      <p:sp>
        <p:nvSpPr>
          <p:cNvPr id="30" name="Text 28"/>
          <p:cNvSpPr txBox="1"/>
          <p:nvPr/>
        </p:nvSpPr>
        <p:spPr>
          <a:xfrm>
            <a:off x="4846320" y="1325880"/>
            <a:ext cx="3840480" cy="201168"/>
          </a:xfrm>
          <a:prstGeom prst="rect">
            <a:avLst/>
          </a:prstGeom>
          <a:noFill/>
          <a:ln/>
        </p:spPr>
        <p:txBody>
          <a:bodyPr wrap="square" lIns="0" tIns="0" rIns="0" bIns="0" rtlCol="0" anchor="t"/>
          <a:lstStyle/>
          <a:p>
            <a:pPr indent="0" marL="0">
              <a:buNone/>
            </a:pPr>
            <a:r>
              <a:rPr lang="en-US" sz="900" b="1" spc="200" kern="0" dirty="0">
                <a:solidFill>
                  <a:srgbClr val="5E6964"/>
                </a:solidFill>
                <a:latin typeface="Calibri" pitchFamily="34" charset="0"/>
                <a:ea typeface="Calibri" pitchFamily="34" charset="-122"/>
                <a:cs typeface="Calibri" pitchFamily="34" charset="-120"/>
              </a:rPr>
              <a:t>DU PLUS SIMPLE AU PLUS AUTONOME</a:t>
            </a:r>
            <a:endParaRPr lang="en-US" sz="900" dirty="0"/>
          </a:p>
        </p:txBody>
      </p:sp>
      <p:sp>
        <p:nvSpPr>
          <p:cNvPr id="31" name="Shape 29"/>
          <p:cNvSpPr/>
          <p:nvPr/>
        </p:nvSpPr>
        <p:spPr>
          <a:xfrm>
            <a:off x="5166360" y="1591056"/>
            <a:ext cx="3520440" cy="475488"/>
          </a:xfrm>
          <a:prstGeom prst="roundRect">
            <a:avLst>
              <a:gd name="adj" fmla="val 11538"/>
            </a:avLst>
          </a:prstGeom>
          <a:solidFill>
            <a:srgbClr val="C4621D">
              <a:alpha val="8000"/>
            </a:srgbClr>
          </a:solidFill>
          <a:ln w="6350">
            <a:solidFill>
              <a:srgbClr val="C4621D"/>
            </a:solidFill>
            <a:prstDash val="solid"/>
          </a:ln>
        </p:spPr>
      </p:sp>
      <p:pic>
        <p:nvPicPr>
          <p:cNvPr id="32" name="Image 0" descr="preencoded.png">    </p:cNvPr>
          <p:cNvPicPr>
            <a:picLocks noChangeAspect="1"/>
          </p:cNvPicPr>
          <p:nvPr/>
        </p:nvPicPr>
        <p:blipFill>
          <a:blip r:embed="rId1"/>
          <a:stretch>
            <a:fillRect/>
          </a:stretch>
        </p:blipFill>
        <p:spPr>
          <a:xfrm>
            <a:off x="5285232" y="1700784"/>
            <a:ext cx="256032" cy="256032"/>
          </a:xfrm>
          <a:prstGeom prst="rect">
            <a:avLst/>
          </a:prstGeom>
        </p:spPr>
      </p:pic>
      <p:sp>
        <p:nvSpPr>
          <p:cNvPr id="33" name="Text 30"/>
          <p:cNvSpPr txBox="1"/>
          <p:nvPr/>
        </p:nvSpPr>
        <p:spPr>
          <a:xfrm>
            <a:off x="5669280" y="1591056"/>
            <a:ext cx="297180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Assistant conversationnel  </a:t>
            </a:r>
            <a:pPr indent="0" marL="0">
              <a:buNone/>
            </a:pPr>
            <a:r>
              <a:rPr lang="en-US" sz="950" dirty="0">
                <a:solidFill>
                  <a:srgbClr val="5E6964"/>
                </a:solidFill>
                <a:latin typeface="Calibri" pitchFamily="34" charset="0"/>
                <a:ea typeface="Calibri" pitchFamily="34" charset="-122"/>
                <a:cs typeface="Calibri" pitchFamily="34" charset="-120"/>
              </a:rPr>
              <a:t>répond ; aucune action</a:t>
            </a:r>
            <a:endParaRPr lang="en-US" sz="1100" dirty="0"/>
          </a:p>
        </p:txBody>
      </p:sp>
      <p:sp>
        <p:nvSpPr>
          <p:cNvPr id="34" name="Shape 31"/>
          <p:cNvSpPr/>
          <p:nvPr/>
        </p:nvSpPr>
        <p:spPr>
          <a:xfrm>
            <a:off x="5166360" y="2139696"/>
            <a:ext cx="3520440" cy="475488"/>
          </a:xfrm>
          <a:prstGeom prst="roundRect">
            <a:avLst>
              <a:gd name="adj" fmla="val 11538"/>
            </a:avLst>
          </a:prstGeom>
          <a:solidFill>
            <a:srgbClr val="C4621D">
              <a:alpha val="15000"/>
            </a:srgbClr>
          </a:solidFill>
          <a:ln w="6350">
            <a:solidFill>
              <a:srgbClr val="C4621D"/>
            </a:solidFill>
            <a:prstDash val="solid"/>
          </a:ln>
        </p:spPr>
      </p:sp>
      <p:pic>
        <p:nvPicPr>
          <p:cNvPr id="35" name="Image 1" descr="preencoded.png">    </p:cNvPr>
          <p:cNvPicPr>
            <a:picLocks noChangeAspect="1"/>
          </p:cNvPicPr>
          <p:nvPr/>
        </p:nvPicPr>
        <p:blipFill>
          <a:blip r:embed="rId2"/>
          <a:stretch>
            <a:fillRect/>
          </a:stretch>
        </p:blipFill>
        <p:spPr>
          <a:xfrm>
            <a:off x="5285232" y="2249424"/>
            <a:ext cx="256032" cy="256032"/>
          </a:xfrm>
          <a:prstGeom prst="rect">
            <a:avLst/>
          </a:prstGeom>
        </p:spPr>
      </p:pic>
      <p:sp>
        <p:nvSpPr>
          <p:cNvPr id="36" name="Text 32"/>
          <p:cNvSpPr txBox="1"/>
          <p:nvPr/>
        </p:nvSpPr>
        <p:spPr>
          <a:xfrm>
            <a:off x="5669280" y="2139696"/>
            <a:ext cx="297180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Assistant avec outils  </a:t>
            </a:r>
            <a:pPr indent="0" marL="0">
              <a:buNone/>
            </a:pPr>
            <a:r>
              <a:rPr lang="en-US" sz="950" dirty="0">
                <a:solidFill>
                  <a:srgbClr val="5E6964"/>
                </a:solidFill>
                <a:latin typeface="Calibri" pitchFamily="34" charset="0"/>
                <a:ea typeface="Calibri" pitchFamily="34" charset="-122"/>
                <a:cs typeface="Calibri" pitchFamily="34" charset="-120"/>
              </a:rPr>
              <a:t>consulte une base, une API</a:t>
            </a:r>
            <a:endParaRPr lang="en-US" sz="1100" dirty="0"/>
          </a:p>
        </p:txBody>
      </p:sp>
      <p:sp>
        <p:nvSpPr>
          <p:cNvPr id="37" name="Shape 33"/>
          <p:cNvSpPr/>
          <p:nvPr/>
        </p:nvSpPr>
        <p:spPr>
          <a:xfrm>
            <a:off x="5166360" y="2688336"/>
            <a:ext cx="3520440" cy="475488"/>
          </a:xfrm>
          <a:prstGeom prst="roundRect">
            <a:avLst>
              <a:gd name="adj" fmla="val 11538"/>
            </a:avLst>
          </a:prstGeom>
          <a:solidFill>
            <a:srgbClr val="C4621D">
              <a:alpha val="25000"/>
            </a:srgbClr>
          </a:solidFill>
          <a:ln w="6350">
            <a:solidFill>
              <a:srgbClr val="C4621D"/>
            </a:solidFill>
            <a:prstDash val="solid"/>
          </a:ln>
        </p:spPr>
      </p:sp>
      <p:pic>
        <p:nvPicPr>
          <p:cNvPr id="38" name="Image 2" descr="preencoded.png">    </p:cNvPr>
          <p:cNvPicPr>
            <a:picLocks noChangeAspect="1"/>
          </p:cNvPicPr>
          <p:nvPr/>
        </p:nvPicPr>
        <p:blipFill>
          <a:blip r:embed="rId3"/>
          <a:stretch>
            <a:fillRect/>
          </a:stretch>
        </p:blipFill>
        <p:spPr>
          <a:xfrm>
            <a:off x="5285232" y="2798064"/>
            <a:ext cx="256032" cy="256032"/>
          </a:xfrm>
          <a:prstGeom prst="rect">
            <a:avLst/>
          </a:prstGeom>
        </p:spPr>
      </p:pic>
      <p:sp>
        <p:nvSpPr>
          <p:cNvPr id="39" name="Text 34"/>
          <p:cNvSpPr txBox="1"/>
          <p:nvPr/>
        </p:nvSpPr>
        <p:spPr>
          <a:xfrm>
            <a:off x="5669280" y="2688336"/>
            <a:ext cx="297180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Flux agentique  </a:t>
            </a:r>
            <a:pPr indent="0" marL="0">
              <a:buNone/>
            </a:pPr>
            <a:r>
              <a:rPr lang="en-US" sz="950" dirty="0">
                <a:solidFill>
                  <a:srgbClr val="5E6964"/>
                </a:solidFill>
                <a:latin typeface="Calibri" pitchFamily="34" charset="0"/>
                <a:ea typeface="Calibri" pitchFamily="34" charset="-122"/>
                <a:cs typeface="Calibri" pitchFamily="34" charset="-120"/>
              </a:rPr>
              <a:t>enchaîne des étapes prévues par vous</a:t>
            </a:r>
            <a:endParaRPr lang="en-US" sz="1100" dirty="0"/>
          </a:p>
        </p:txBody>
      </p:sp>
      <p:sp>
        <p:nvSpPr>
          <p:cNvPr id="40" name="Shape 35"/>
          <p:cNvSpPr/>
          <p:nvPr/>
        </p:nvSpPr>
        <p:spPr>
          <a:xfrm>
            <a:off x="5166360" y="3236976"/>
            <a:ext cx="3520440" cy="475488"/>
          </a:xfrm>
          <a:prstGeom prst="roundRect">
            <a:avLst>
              <a:gd name="adj" fmla="val 11538"/>
            </a:avLst>
          </a:prstGeom>
          <a:solidFill>
            <a:srgbClr val="C4621D">
              <a:alpha val="40000"/>
            </a:srgbClr>
          </a:solidFill>
          <a:ln w="6350">
            <a:solidFill>
              <a:srgbClr val="C4621D"/>
            </a:solidFill>
            <a:prstDash val="solid"/>
          </a:ln>
        </p:spPr>
      </p:sp>
      <p:pic>
        <p:nvPicPr>
          <p:cNvPr id="41" name="Image 3" descr="preencoded.png">    </p:cNvPr>
          <p:cNvPicPr>
            <a:picLocks noChangeAspect="1"/>
          </p:cNvPicPr>
          <p:nvPr/>
        </p:nvPicPr>
        <p:blipFill>
          <a:blip r:embed="rId4"/>
          <a:stretch>
            <a:fillRect/>
          </a:stretch>
        </p:blipFill>
        <p:spPr>
          <a:xfrm>
            <a:off x="5285232" y="3346704"/>
            <a:ext cx="256032" cy="256032"/>
          </a:xfrm>
          <a:prstGeom prst="rect">
            <a:avLst/>
          </a:prstGeom>
        </p:spPr>
      </p:pic>
      <p:sp>
        <p:nvSpPr>
          <p:cNvPr id="42" name="Text 36"/>
          <p:cNvSpPr txBox="1"/>
          <p:nvPr/>
        </p:nvSpPr>
        <p:spPr>
          <a:xfrm>
            <a:off x="5669280" y="3236976"/>
            <a:ext cx="297180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Agent autonome  </a:t>
            </a:r>
            <a:pPr indent="0" marL="0">
              <a:buNone/>
            </a:pPr>
            <a:r>
              <a:rPr lang="en-US" sz="950" dirty="0">
                <a:solidFill>
                  <a:srgbClr val="5E6964"/>
                </a:solidFill>
                <a:latin typeface="Calibri" pitchFamily="34" charset="0"/>
                <a:ea typeface="Calibri" pitchFamily="34" charset="-122"/>
                <a:cs typeface="Calibri" pitchFamily="34" charset="-120"/>
              </a:rPr>
              <a:t>choisit lui-même ses étapes</a:t>
            </a:r>
            <a:endParaRPr lang="en-US" sz="1100" dirty="0"/>
          </a:p>
        </p:txBody>
      </p:sp>
      <p:sp>
        <p:nvSpPr>
          <p:cNvPr id="43" name="Shape 37"/>
          <p:cNvSpPr/>
          <p:nvPr/>
        </p:nvSpPr>
        <p:spPr>
          <a:xfrm rot="10800000">
            <a:off x="4846320" y="1591056"/>
            <a:ext cx="201168" cy="2121408"/>
          </a:xfrm>
          <a:prstGeom prst="upArrow">
            <a:avLst/>
          </a:prstGeom>
          <a:solidFill>
            <a:srgbClr val="C4621D"/>
          </a:solidFill>
          <a:ln/>
        </p:spPr>
      </p:sp>
      <p:sp>
        <p:nvSpPr>
          <p:cNvPr id="44" name="Text 38"/>
          <p:cNvSpPr txBox="1"/>
          <p:nvPr/>
        </p:nvSpPr>
        <p:spPr>
          <a:xfrm>
            <a:off x="5166360" y="3785616"/>
            <a:ext cx="3520440" cy="182880"/>
          </a:xfrm>
          <a:prstGeom prst="rect">
            <a:avLst/>
          </a:prstGeom>
          <a:noFill/>
          <a:ln/>
        </p:spPr>
        <p:txBody>
          <a:bodyPr wrap="square" lIns="0" tIns="0" rIns="0" bIns="0" rtlCol="0" anchor="t"/>
          <a:lstStyle/>
          <a:p>
            <a:pPr indent="0" marL="0">
              <a:buNone/>
            </a:pPr>
            <a:r>
              <a:rPr lang="en-US" sz="900" i="1" dirty="0">
                <a:solidFill>
                  <a:srgbClr val="C4621D"/>
                </a:solidFill>
                <a:latin typeface="Calibri" pitchFamily="34" charset="0"/>
                <a:ea typeface="Calibri" pitchFamily="34" charset="-122"/>
                <a:cs typeface="Calibri" pitchFamily="34" charset="-120"/>
              </a:rPr>
              <a:t>autonomie et risque croissants ↓</a:t>
            </a:r>
            <a:endParaRPr lang="en-US" sz="900" dirty="0"/>
          </a:p>
        </p:txBody>
      </p:sp>
      <p:sp>
        <p:nvSpPr>
          <p:cNvPr id="45" name="Shape 39"/>
          <p:cNvSpPr/>
          <p:nvPr/>
        </p:nvSpPr>
        <p:spPr>
          <a:xfrm>
            <a:off x="4846320" y="4041648"/>
            <a:ext cx="3840480" cy="493776"/>
          </a:xfrm>
          <a:prstGeom prst="roundRect">
            <a:avLst>
              <a:gd name="adj" fmla="val 14815"/>
            </a:avLst>
          </a:prstGeom>
          <a:solidFill>
            <a:srgbClr val="F4F7F5"/>
          </a:solidFill>
          <a:ln w="15875">
            <a:solidFill>
              <a:srgbClr val="C4621D"/>
            </a:solidFill>
            <a:prstDash val="solid"/>
          </a:ln>
        </p:spPr>
      </p:sp>
      <p:sp>
        <p:nvSpPr>
          <p:cNvPr id="46" name="Text 40"/>
          <p:cNvSpPr txBox="1"/>
          <p:nvPr/>
        </p:nvSpPr>
        <p:spPr>
          <a:xfrm>
            <a:off x="4983480" y="4041648"/>
            <a:ext cx="3657600" cy="493776"/>
          </a:xfrm>
          <a:prstGeom prst="rect">
            <a:avLst/>
          </a:prstGeom>
          <a:noFill/>
          <a:ln/>
        </p:spPr>
        <p:txBody>
          <a:bodyPr wrap="square" lIns="0" tIns="0" rIns="0" bIns="0" rtlCol="0" anchor="ctr"/>
          <a:lstStyle/>
          <a:p>
            <a:pPr indent="0" marL="0">
              <a:buNone/>
            </a:pPr>
            <a:r>
              <a:rPr lang="en-US" sz="1100" b="1" dirty="0">
                <a:solidFill>
                  <a:srgbClr val="C4621D"/>
                </a:solidFill>
                <a:latin typeface="Calibri" pitchFamily="34" charset="0"/>
                <a:ea typeface="Calibri" pitchFamily="34" charset="-122"/>
                <a:cs typeface="Calibri" pitchFamily="34" charset="-120"/>
              </a:rPr>
              <a:t>« Agentique » </a:t>
            </a:r>
            <a:pPr indent="0" marL="0">
              <a:buNone/>
            </a:pPr>
            <a:r>
              <a:rPr lang="en-US" sz="1100" dirty="0">
                <a:solidFill>
                  <a:srgbClr val="231F20"/>
                </a:solidFill>
                <a:latin typeface="Calibri" pitchFamily="34" charset="0"/>
                <a:ea typeface="Calibri" pitchFamily="34" charset="-122"/>
                <a:cs typeface="Calibri" pitchFamily="34" charset="-120"/>
              </a:rPr>
              <a:t>nomme une architecture, pas un niveau d'intelligence.</a:t>
            </a:r>
            <a:endParaRPr lang="en-US" sz="1100" dirty="0"/>
          </a:p>
        </p:txBody>
      </p:sp>
      <p:sp>
        <p:nvSpPr>
          <p:cNvPr id="47" name="Text 41"/>
          <p:cNvSpPr txBox="1"/>
          <p:nvPr/>
        </p:nvSpPr>
        <p:spPr>
          <a:xfrm>
            <a:off x="457200" y="4608576"/>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Yao et al. (2023), « ReAct », ICLR — la boucle observer, raisonner, agir.</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05  ·  AGIR : AGENTS, OUTILS ET MCP</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L'appel d'outil est une requête ; MCP, une prise normalisée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C4621D"/>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6" name="Shape 14"/>
          <p:cNvSpPr/>
          <p:nvPr/>
        </p:nvSpPr>
        <p:spPr>
          <a:xfrm>
            <a:off x="457200" y="1417320"/>
            <a:ext cx="1097280" cy="731520"/>
          </a:xfrm>
          <a:prstGeom prst="roundRect">
            <a:avLst>
              <a:gd name="adj" fmla="val 10000"/>
            </a:avLst>
          </a:prstGeom>
          <a:solidFill>
            <a:srgbClr val="00553A"/>
          </a:solidFill>
          <a:ln/>
        </p:spPr>
      </p:sp>
      <p:sp>
        <p:nvSpPr>
          <p:cNvPr id="17" name="Text 15"/>
          <p:cNvSpPr txBox="1"/>
          <p:nvPr/>
        </p:nvSpPr>
        <p:spPr>
          <a:xfrm>
            <a:off x="457200" y="1417320"/>
            <a:ext cx="10972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GML</a:t>
            </a:r>
            <a:endParaRPr lang="en-US" sz="1100" dirty="0"/>
          </a:p>
          <a:p>
            <a:pPr algn="ctr" indent="0" marL="0">
              <a:buNone/>
            </a:pPr>
            <a:r>
              <a:rPr lang="en-US" sz="900" dirty="0">
                <a:solidFill>
                  <a:srgbClr val="FFFFFF"/>
                </a:solidFill>
                <a:latin typeface="Calibri" pitchFamily="34" charset="0"/>
                <a:ea typeface="Calibri" pitchFamily="34" charset="-122"/>
                <a:cs typeface="Calibri" pitchFamily="34" charset="-120"/>
              </a:rPr>
              <a:t>émet</a:t>
            </a:r>
            <a:endParaRPr lang="en-US" sz="1100" dirty="0"/>
          </a:p>
        </p:txBody>
      </p:sp>
      <p:sp>
        <p:nvSpPr>
          <p:cNvPr id="18" name="Shape 16"/>
          <p:cNvSpPr/>
          <p:nvPr/>
        </p:nvSpPr>
        <p:spPr>
          <a:xfrm>
            <a:off x="1600200" y="1783080"/>
            <a:ext cx="274320" cy="91"/>
          </a:xfrm>
          <a:prstGeom prst="line">
            <a:avLst/>
          </a:prstGeom>
          <a:noFill/>
          <a:ln w="15875">
            <a:solidFill>
              <a:srgbClr val="5E6964"/>
            </a:solidFill>
            <a:prstDash val="solid"/>
            <a:tailEnd type="triangle"/>
          </a:ln>
        </p:spPr>
      </p:sp>
      <p:sp>
        <p:nvSpPr>
          <p:cNvPr id="19" name="Shape 17"/>
          <p:cNvSpPr/>
          <p:nvPr/>
        </p:nvSpPr>
        <p:spPr>
          <a:xfrm>
            <a:off x="1920240" y="1417320"/>
            <a:ext cx="2514600" cy="731520"/>
          </a:xfrm>
          <a:prstGeom prst="roundRect">
            <a:avLst>
              <a:gd name="adj" fmla="val 7500"/>
            </a:avLst>
          </a:prstGeom>
          <a:solidFill>
            <a:srgbClr val="F2F2F2"/>
          </a:solidFill>
          <a:ln w="9525">
            <a:solidFill>
              <a:srgbClr val="D5DED9"/>
            </a:solidFill>
            <a:prstDash val="solid"/>
          </a:ln>
        </p:spPr>
      </p:sp>
      <p:sp>
        <p:nvSpPr>
          <p:cNvPr id="20" name="Text 18"/>
          <p:cNvSpPr txBox="1"/>
          <p:nvPr/>
        </p:nvSpPr>
        <p:spPr>
          <a:xfrm>
            <a:off x="2011680" y="1417320"/>
            <a:ext cx="2377440" cy="731520"/>
          </a:xfrm>
          <a:prstGeom prst="rect">
            <a:avLst/>
          </a:prstGeom>
          <a:noFill/>
          <a:ln/>
        </p:spPr>
        <p:txBody>
          <a:bodyPr wrap="square" lIns="0" tIns="0" rIns="0" bIns="0" rtlCol="0" anchor="ctr"/>
          <a:lstStyle/>
          <a:p>
            <a:pPr indent="0" marL="0">
              <a:buNone/>
            </a:pPr>
            <a:r>
              <a:rPr lang="en-US" sz="1000" dirty="0">
                <a:solidFill>
                  <a:srgbClr val="231F20"/>
                </a:solidFill>
                <a:latin typeface="Courier New" pitchFamily="34" charset="0"/>
                <a:ea typeface="Courier New" pitchFamily="34" charset="-122"/>
                <a:cs typeface="Courier New" pitchFamily="34" charset="-120"/>
              </a:rPr>
              <a:t>{ "outil": "lire_tableau",</a:t>
            </a:r>
            <a:endParaRPr lang="en-US" sz="1000" dirty="0"/>
          </a:p>
          <a:p>
            <a:pPr indent="0" marL="0">
              <a:buNone/>
            </a:pPr>
            <a:r>
              <a:rPr lang="en-US" sz="1000" dirty="0">
                <a:solidFill>
                  <a:srgbClr val="231F20"/>
                </a:solidFill>
                <a:latin typeface="Courier New" pitchFamily="34" charset="0"/>
                <a:ea typeface="Courier New" pitchFamily="34" charset="-122"/>
                <a:cs typeface="Courier New" pitchFamily="34" charset="-120"/>
              </a:rPr>
              <a:t>  "region": "Sousse" }</a:t>
            </a:r>
            <a:endParaRPr lang="en-US" sz="1000" dirty="0"/>
          </a:p>
        </p:txBody>
      </p:sp>
      <p:sp>
        <p:nvSpPr>
          <p:cNvPr id="21" name="Shape 19"/>
          <p:cNvSpPr/>
          <p:nvPr/>
        </p:nvSpPr>
        <p:spPr>
          <a:xfrm>
            <a:off x="4480560" y="1783080"/>
            <a:ext cx="274320" cy="91"/>
          </a:xfrm>
          <a:prstGeom prst="line">
            <a:avLst/>
          </a:prstGeom>
          <a:noFill/>
          <a:ln w="15875">
            <a:solidFill>
              <a:srgbClr val="5E6964"/>
            </a:solidFill>
            <a:prstDash val="solid"/>
            <a:tailEnd type="triangle"/>
          </a:ln>
        </p:spPr>
      </p:sp>
      <p:sp>
        <p:nvSpPr>
          <p:cNvPr id="22" name="Shape 20"/>
          <p:cNvSpPr/>
          <p:nvPr/>
        </p:nvSpPr>
        <p:spPr>
          <a:xfrm>
            <a:off x="4800600" y="1417320"/>
            <a:ext cx="2103120" cy="731520"/>
          </a:xfrm>
          <a:prstGeom prst="roundRect">
            <a:avLst>
              <a:gd name="adj" fmla="val 10000"/>
            </a:avLst>
          </a:prstGeom>
          <a:solidFill>
            <a:srgbClr val="FBF3DE"/>
          </a:solidFill>
          <a:ln w="19050">
            <a:solidFill>
              <a:srgbClr val="D49A00"/>
            </a:solidFill>
            <a:prstDash val="solid"/>
          </a:ln>
        </p:spPr>
      </p:sp>
      <p:sp>
        <p:nvSpPr>
          <p:cNvPr id="23" name="Text 21"/>
          <p:cNvSpPr txBox="1"/>
          <p:nvPr/>
        </p:nvSpPr>
        <p:spPr>
          <a:xfrm>
            <a:off x="4846320" y="1417320"/>
            <a:ext cx="2011680" cy="73152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Votre logiciel</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vérifie l'autorisation, exécute ou refuse</a:t>
            </a:r>
            <a:endParaRPr lang="en-US" sz="1100" dirty="0"/>
          </a:p>
        </p:txBody>
      </p:sp>
      <p:sp>
        <p:nvSpPr>
          <p:cNvPr id="24" name="Shape 22"/>
          <p:cNvSpPr/>
          <p:nvPr/>
        </p:nvSpPr>
        <p:spPr>
          <a:xfrm>
            <a:off x="6949440" y="1783080"/>
            <a:ext cx="274320" cy="91"/>
          </a:xfrm>
          <a:prstGeom prst="line">
            <a:avLst/>
          </a:prstGeom>
          <a:noFill/>
          <a:ln w="15875">
            <a:solidFill>
              <a:srgbClr val="5E6964"/>
            </a:solidFill>
            <a:prstDash val="solid"/>
            <a:tailEnd type="triangle"/>
          </a:ln>
        </p:spPr>
      </p:sp>
      <p:sp>
        <p:nvSpPr>
          <p:cNvPr id="25" name="Shape 23"/>
          <p:cNvSpPr/>
          <p:nvPr/>
        </p:nvSpPr>
        <p:spPr>
          <a:xfrm>
            <a:off x="7269480" y="1417320"/>
            <a:ext cx="1417320" cy="731520"/>
          </a:xfrm>
          <a:prstGeom prst="roundRect">
            <a:avLst>
              <a:gd name="adj" fmla="val 10000"/>
            </a:avLst>
          </a:prstGeom>
          <a:solidFill>
            <a:srgbClr val="FFFFFF"/>
          </a:solidFill>
          <a:ln w="15875">
            <a:solidFill>
              <a:srgbClr val="0E7C86"/>
            </a:solidFill>
            <a:prstDash val="solid"/>
          </a:ln>
        </p:spPr>
      </p:sp>
      <p:pic>
        <p:nvPicPr>
          <p:cNvPr id="26" name="Image 0" descr="preencoded.png">    </p:cNvPr>
          <p:cNvPicPr>
            <a:picLocks noChangeAspect="1"/>
          </p:cNvPicPr>
          <p:nvPr/>
        </p:nvPicPr>
        <p:blipFill>
          <a:blip r:embed="rId1"/>
          <a:stretch>
            <a:fillRect/>
          </a:stretch>
        </p:blipFill>
        <p:spPr>
          <a:xfrm>
            <a:off x="7388352" y="1645920"/>
            <a:ext cx="274320" cy="274320"/>
          </a:xfrm>
          <a:prstGeom prst="rect">
            <a:avLst/>
          </a:prstGeom>
        </p:spPr>
      </p:pic>
      <p:sp>
        <p:nvSpPr>
          <p:cNvPr id="27" name="Text 24"/>
          <p:cNvSpPr txBox="1"/>
          <p:nvPr/>
        </p:nvSpPr>
        <p:spPr>
          <a:xfrm>
            <a:off x="7699248" y="1417320"/>
            <a:ext cx="960120" cy="731520"/>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Système</a:t>
            </a:r>
            <a:endParaRPr lang="en-US" sz="1100" dirty="0"/>
          </a:p>
          <a:p>
            <a:pPr indent="0" marL="0">
              <a:buNone/>
            </a:pPr>
            <a:r>
              <a:rPr lang="en-US" sz="900" dirty="0">
                <a:solidFill>
                  <a:srgbClr val="5E6964"/>
                </a:solidFill>
                <a:latin typeface="Calibri" pitchFamily="34" charset="0"/>
                <a:ea typeface="Calibri" pitchFamily="34" charset="-122"/>
                <a:cs typeface="Calibri" pitchFamily="34" charset="-120"/>
              </a:rPr>
              <a:t>base de données</a:t>
            </a:r>
            <a:endParaRPr lang="en-US" sz="1100" dirty="0"/>
          </a:p>
        </p:txBody>
      </p:sp>
      <p:sp>
        <p:nvSpPr>
          <p:cNvPr id="28" name="Shape 25"/>
          <p:cNvSpPr/>
          <p:nvPr/>
        </p:nvSpPr>
        <p:spPr>
          <a:xfrm>
            <a:off x="7973568" y="2194560"/>
            <a:ext cx="91" cy="182880"/>
          </a:xfrm>
          <a:prstGeom prst="line">
            <a:avLst/>
          </a:prstGeom>
          <a:noFill/>
          <a:ln w="12700">
            <a:solidFill>
              <a:srgbClr val="0E7C86"/>
            </a:solidFill>
            <a:prstDash val="solid"/>
          </a:ln>
        </p:spPr>
      </p:sp>
      <p:sp>
        <p:nvSpPr>
          <p:cNvPr id="29" name="Shape 26"/>
          <p:cNvSpPr/>
          <p:nvPr/>
        </p:nvSpPr>
        <p:spPr>
          <a:xfrm flipH="1">
            <a:off x="1005840" y="2377440"/>
            <a:ext cx="6967728" cy="91"/>
          </a:xfrm>
          <a:prstGeom prst="line">
            <a:avLst/>
          </a:prstGeom>
          <a:noFill/>
          <a:ln w="12700">
            <a:solidFill>
              <a:srgbClr val="0E7C86"/>
            </a:solidFill>
            <a:prstDash val="solid"/>
          </a:ln>
        </p:spPr>
      </p:sp>
      <p:sp>
        <p:nvSpPr>
          <p:cNvPr id="30" name="Shape 27"/>
          <p:cNvSpPr/>
          <p:nvPr/>
        </p:nvSpPr>
        <p:spPr>
          <a:xfrm flipV="1">
            <a:off x="1005840" y="2194560"/>
            <a:ext cx="91" cy="182880"/>
          </a:xfrm>
          <a:prstGeom prst="line">
            <a:avLst/>
          </a:prstGeom>
          <a:noFill/>
          <a:ln w="12700">
            <a:solidFill>
              <a:srgbClr val="0E7C86"/>
            </a:solidFill>
            <a:prstDash val="solid"/>
            <a:tailEnd type="triangle"/>
          </a:ln>
        </p:spPr>
      </p:sp>
      <p:sp>
        <p:nvSpPr>
          <p:cNvPr id="31" name="Shape 28"/>
          <p:cNvSpPr/>
          <p:nvPr/>
        </p:nvSpPr>
        <p:spPr>
          <a:xfrm>
            <a:off x="3291840" y="2276856"/>
            <a:ext cx="2377440" cy="201168"/>
          </a:xfrm>
          <a:prstGeom prst="rect">
            <a:avLst/>
          </a:prstGeom>
          <a:solidFill>
            <a:srgbClr val="FFFFFF"/>
          </a:solidFill>
          <a:ln/>
        </p:spPr>
      </p:sp>
      <p:sp>
        <p:nvSpPr>
          <p:cNvPr id="32" name="Text 29"/>
          <p:cNvSpPr txBox="1"/>
          <p:nvPr/>
        </p:nvSpPr>
        <p:spPr>
          <a:xfrm>
            <a:off x="3291840" y="2276856"/>
            <a:ext cx="2377440" cy="201168"/>
          </a:xfrm>
          <a:prstGeom prst="rect">
            <a:avLst/>
          </a:prstGeom>
          <a:noFill/>
          <a:ln/>
        </p:spPr>
        <p:txBody>
          <a:bodyPr wrap="square" lIns="0" tIns="0" rIns="0" bIns="0" rtlCol="0" anchor="ctr"/>
          <a:lstStyle/>
          <a:p>
            <a:pPr algn="ctr" indent="0" marL="0">
              <a:buNone/>
            </a:pPr>
            <a:r>
              <a:rPr lang="en-US" sz="950" b="1" i="1" dirty="0">
                <a:solidFill>
                  <a:srgbClr val="0E7C86"/>
                </a:solidFill>
                <a:latin typeface="Calibri" pitchFamily="34" charset="0"/>
                <a:ea typeface="Calibri" pitchFamily="34" charset="-122"/>
                <a:cs typeface="Calibri" pitchFamily="34" charset="-120"/>
              </a:rPr>
              <a:t>le résultat revient au modèle</a:t>
            </a:r>
            <a:endParaRPr lang="en-US" sz="950" dirty="0"/>
          </a:p>
        </p:txBody>
      </p:sp>
      <p:sp>
        <p:nvSpPr>
          <p:cNvPr id="33" name="Shape 30"/>
          <p:cNvSpPr/>
          <p:nvPr/>
        </p:nvSpPr>
        <p:spPr>
          <a:xfrm>
            <a:off x="457200" y="2670048"/>
            <a:ext cx="4892040" cy="1865376"/>
          </a:xfrm>
          <a:prstGeom prst="roundRect">
            <a:avLst>
              <a:gd name="adj" fmla="val 3922"/>
            </a:avLst>
          </a:prstGeom>
          <a:solidFill>
            <a:srgbClr val="F4F7F5"/>
          </a:solidFill>
          <a:ln w="9525">
            <a:solidFill>
              <a:srgbClr val="D5DED9"/>
            </a:solidFill>
            <a:prstDash val="solid"/>
          </a:ln>
        </p:spPr>
      </p:sp>
      <p:sp>
        <p:nvSpPr>
          <p:cNvPr id="34" name="Text 31"/>
          <p:cNvSpPr txBox="1"/>
          <p:nvPr/>
        </p:nvSpPr>
        <p:spPr>
          <a:xfrm>
            <a:off x="640080" y="2761488"/>
            <a:ext cx="4389120" cy="201168"/>
          </a:xfrm>
          <a:prstGeom prst="rect">
            <a:avLst/>
          </a:prstGeom>
          <a:noFill/>
          <a:ln/>
        </p:spPr>
        <p:txBody>
          <a:bodyPr wrap="square" lIns="0" tIns="0" rIns="0" bIns="0" rtlCol="0" anchor="t"/>
          <a:lstStyle/>
          <a:p>
            <a:pPr indent="0" marL="0">
              <a:buNone/>
            </a:pPr>
            <a:r>
              <a:rPr lang="en-US" sz="950" b="1" spc="200" kern="0" dirty="0">
                <a:solidFill>
                  <a:srgbClr val="C4621D"/>
                </a:solidFill>
                <a:latin typeface="Calibri" pitchFamily="34" charset="0"/>
                <a:ea typeface="Calibri" pitchFamily="34" charset="-122"/>
                <a:cs typeface="Calibri" pitchFamily="34" charset="-120"/>
              </a:rPr>
              <a:t>MCP — MODEL CONTEXT PROTOCOL</a:t>
            </a:r>
            <a:endParaRPr lang="en-US" sz="950" dirty="0"/>
          </a:p>
        </p:txBody>
      </p:sp>
      <p:sp>
        <p:nvSpPr>
          <p:cNvPr id="35" name="Shape 32"/>
          <p:cNvSpPr/>
          <p:nvPr/>
        </p:nvSpPr>
        <p:spPr>
          <a:xfrm>
            <a:off x="685800" y="3291840"/>
            <a:ext cx="1554480" cy="822960"/>
          </a:xfrm>
          <a:prstGeom prst="roundRect">
            <a:avLst>
              <a:gd name="adj" fmla="val 8889"/>
            </a:avLst>
          </a:prstGeom>
          <a:solidFill>
            <a:srgbClr val="FFFFFF"/>
          </a:solidFill>
          <a:ln w="15875">
            <a:solidFill>
              <a:srgbClr val="C4621D"/>
            </a:solidFill>
            <a:prstDash val="solid"/>
          </a:ln>
        </p:spPr>
      </p:sp>
      <p:sp>
        <p:nvSpPr>
          <p:cNvPr id="36" name="Text 33"/>
          <p:cNvSpPr txBox="1"/>
          <p:nvPr/>
        </p:nvSpPr>
        <p:spPr>
          <a:xfrm>
            <a:off x="685800" y="3291840"/>
            <a:ext cx="1554480" cy="822960"/>
          </a:xfrm>
          <a:prstGeom prst="rect">
            <a:avLst/>
          </a:prstGeom>
          <a:noFill/>
          <a:ln/>
        </p:spPr>
        <p:txBody>
          <a:bodyPr wrap="square" lIns="0" tIns="0" rIns="0" bIns="0" rtlCol="0" anchor="ctr"/>
          <a:lstStyle/>
          <a:p>
            <a:pPr algn="ctr" indent="0" marL="0">
              <a:buNone/>
            </a:pPr>
            <a:r>
              <a:rPr lang="en-US" sz="1100" b="1" dirty="0">
                <a:solidFill>
                  <a:srgbClr val="231F20"/>
                </a:solidFill>
                <a:latin typeface="Calibri" pitchFamily="34" charset="0"/>
                <a:ea typeface="Calibri" pitchFamily="34" charset="-122"/>
                <a:cs typeface="Calibri" pitchFamily="34" charset="-120"/>
              </a:rPr>
              <a:t>Application hôte</a:t>
            </a:r>
            <a:endParaRPr lang="en-US" sz="1100" dirty="0"/>
          </a:p>
          <a:p>
            <a:pPr algn="ctr" indent="0" marL="0">
              <a:buNone/>
            </a:pPr>
            <a:r>
              <a:rPr lang="en-US" sz="900" dirty="0">
                <a:solidFill>
                  <a:srgbClr val="5E6964"/>
                </a:solidFill>
                <a:latin typeface="Calibri" pitchFamily="34" charset="0"/>
                <a:ea typeface="Calibri" pitchFamily="34" charset="-122"/>
                <a:cs typeface="Calibri" pitchFamily="34" charset="-120"/>
              </a:rPr>
              <a:t>+ client MCP</a:t>
            </a:r>
            <a:endParaRPr lang="en-US" sz="1100" dirty="0"/>
          </a:p>
        </p:txBody>
      </p:sp>
      <p:sp>
        <p:nvSpPr>
          <p:cNvPr id="37" name="Shape 34"/>
          <p:cNvSpPr/>
          <p:nvPr/>
        </p:nvSpPr>
        <p:spPr>
          <a:xfrm>
            <a:off x="3017520" y="3035808"/>
            <a:ext cx="2148840" cy="384048"/>
          </a:xfrm>
          <a:prstGeom prst="roundRect">
            <a:avLst>
              <a:gd name="adj" fmla="val 14286"/>
            </a:avLst>
          </a:prstGeom>
          <a:solidFill>
            <a:srgbClr val="E8F5EF"/>
          </a:solidFill>
          <a:ln w="9525">
            <a:solidFill>
              <a:srgbClr val="00A86A"/>
            </a:solidFill>
            <a:prstDash val="solid"/>
          </a:ln>
        </p:spPr>
      </p:sp>
      <p:pic>
        <p:nvPicPr>
          <p:cNvPr id="38" name="Image 1" descr="preencoded.png">    </p:cNvPr>
          <p:cNvPicPr>
            <a:picLocks noChangeAspect="1"/>
          </p:cNvPicPr>
          <p:nvPr/>
        </p:nvPicPr>
        <p:blipFill>
          <a:blip r:embed="rId2"/>
          <a:stretch>
            <a:fillRect/>
          </a:stretch>
        </p:blipFill>
        <p:spPr>
          <a:xfrm>
            <a:off x="3108960" y="3127248"/>
            <a:ext cx="201168" cy="201168"/>
          </a:xfrm>
          <a:prstGeom prst="rect">
            <a:avLst/>
          </a:prstGeom>
        </p:spPr>
      </p:pic>
      <p:sp>
        <p:nvSpPr>
          <p:cNvPr id="39" name="Text 35"/>
          <p:cNvSpPr txBox="1"/>
          <p:nvPr/>
        </p:nvSpPr>
        <p:spPr>
          <a:xfrm>
            <a:off x="3383280" y="3035808"/>
            <a:ext cx="1737360" cy="38404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Serveur : base de diffusion</a:t>
            </a:r>
            <a:endParaRPr lang="en-US" sz="950" dirty="0"/>
          </a:p>
        </p:txBody>
      </p:sp>
      <p:sp>
        <p:nvSpPr>
          <p:cNvPr id="40" name="Shape 36"/>
          <p:cNvSpPr/>
          <p:nvPr/>
        </p:nvSpPr>
        <p:spPr>
          <a:xfrm flipV="1">
            <a:off x="2286000" y="3227832"/>
            <a:ext cx="704088" cy="475488"/>
          </a:xfrm>
          <a:prstGeom prst="line">
            <a:avLst/>
          </a:prstGeom>
          <a:noFill/>
          <a:ln w="12700">
            <a:solidFill>
              <a:srgbClr val="5E6964"/>
            </a:solidFill>
            <a:prstDash val="solid"/>
            <a:tailEnd type="triangle"/>
          </a:ln>
        </p:spPr>
      </p:sp>
      <p:sp>
        <p:nvSpPr>
          <p:cNvPr id="41" name="Shape 37"/>
          <p:cNvSpPr/>
          <p:nvPr/>
        </p:nvSpPr>
        <p:spPr>
          <a:xfrm>
            <a:off x="3017520" y="3511296"/>
            <a:ext cx="2148840" cy="384048"/>
          </a:xfrm>
          <a:prstGeom prst="roundRect">
            <a:avLst>
              <a:gd name="adj" fmla="val 14286"/>
            </a:avLst>
          </a:prstGeom>
          <a:solidFill>
            <a:srgbClr val="E8F5EF"/>
          </a:solidFill>
          <a:ln w="9525">
            <a:solidFill>
              <a:srgbClr val="00A86A"/>
            </a:solidFill>
            <a:prstDash val="solid"/>
          </a:ln>
        </p:spPr>
      </p:sp>
      <p:pic>
        <p:nvPicPr>
          <p:cNvPr id="42" name="Image 2" descr="preencoded.png">    </p:cNvPr>
          <p:cNvPicPr>
            <a:picLocks noChangeAspect="1"/>
          </p:cNvPicPr>
          <p:nvPr/>
        </p:nvPicPr>
        <p:blipFill>
          <a:blip r:embed="rId3"/>
          <a:stretch>
            <a:fillRect/>
          </a:stretch>
        </p:blipFill>
        <p:spPr>
          <a:xfrm>
            <a:off x="3108960" y="3602736"/>
            <a:ext cx="201168" cy="201168"/>
          </a:xfrm>
          <a:prstGeom prst="rect">
            <a:avLst/>
          </a:prstGeom>
        </p:spPr>
      </p:pic>
      <p:sp>
        <p:nvSpPr>
          <p:cNvPr id="43" name="Text 38"/>
          <p:cNvSpPr txBox="1"/>
          <p:nvPr/>
        </p:nvSpPr>
        <p:spPr>
          <a:xfrm>
            <a:off x="3383280" y="3511296"/>
            <a:ext cx="1737360" cy="38404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Serveur : dossiers internes</a:t>
            </a:r>
            <a:endParaRPr lang="en-US" sz="950" dirty="0"/>
          </a:p>
        </p:txBody>
      </p:sp>
      <p:sp>
        <p:nvSpPr>
          <p:cNvPr id="44" name="Shape 39"/>
          <p:cNvSpPr/>
          <p:nvPr/>
        </p:nvSpPr>
        <p:spPr>
          <a:xfrm>
            <a:off x="2286000" y="3703320"/>
            <a:ext cx="704088" cy="91"/>
          </a:xfrm>
          <a:prstGeom prst="line">
            <a:avLst/>
          </a:prstGeom>
          <a:noFill/>
          <a:ln w="12700">
            <a:solidFill>
              <a:srgbClr val="5E6964"/>
            </a:solidFill>
            <a:prstDash val="solid"/>
            <a:tailEnd type="triangle"/>
          </a:ln>
        </p:spPr>
      </p:sp>
      <p:sp>
        <p:nvSpPr>
          <p:cNvPr id="45" name="Shape 40"/>
          <p:cNvSpPr/>
          <p:nvPr/>
        </p:nvSpPr>
        <p:spPr>
          <a:xfrm>
            <a:off x="3017520" y="3986784"/>
            <a:ext cx="2148840" cy="384048"/>
          </a:xfrm>
          <a:prstGeom prst="roundRect">
            <a:avLst>
              <a:gd name="adj" fmla="val 14286"/>
            </a:avLst>
          </a:prstGeom>
          <a:solidFill>
            <a:srgbClr val="E8F5EF"/>
          </a:solidFill>
          <a:ln w="9525">
            <a:solidFill>
              <a:srgbClr val="00A86A"/>
            </a:solidFill>
            <a:prstDash val="solid"/>
          </a:ln>
        </p:spPr>
      </p:sp>
      <p:pic>
        <p:nvPicPr>
          <p:cNvPr id="46" name="Image 3" descr="preencoded.png">    </p:cNvPr>
          <p:cNvPicPr>
            <a:picLocks noChangeAspect="1"/>
          </p:cNvPicPr>
          <p:nvPr/>
        </p:nvPicPr>
        <p:blipFill>
          <a:blip r:embed="rId4"/>
          <a:stretch>
            <a:fillRect/>
          </a:stretch>
        </p:blipFill>
        <p:spPr>
          <a:xfrm>
            <a:off x="3108960" y="4078224"/>
            <a:ext cx="201168" cy="201168"/>
          </a:xfrm>
          <a:prstGeom prst="rect">
            <a:avLst/>
          </a:prstGeom>
        </p:spPr>
      </p:pic>
      <p:sp>
        <p:nvSpPr>
          <p:cNvPr id="47" name="Text 41"/>
          <p:cNvSpPr txBox="1"/>
          <p:nvPr/>
        </p:nvSpPr>
        <p:spPr>
          <a:xfrm>
            <a:off x="3383280" y="3986784"/>
            <a:ext cx="1737360" cy="38404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Serveur : API SDMX</a:t>
            </a:r>
            <a:endParaRPr lang="en-US" sz="950" dirty="0"/>
          </a:p>
        </p:txBody>
      </p:sp>
      <p:sp>
        <p:nvSpPr>
          <p:cNvPr id="48" name="Shape 42"/>
          <p:cNvSpPr/>
          <p:nvPr/>
        </p:nvSpPr>
        <p:spPr>
          <a:xfrm>
            <a:off x="2286000" y="3703320"/>
            <a:ext cx="704088" cy="475488"/>
          </a:xfrm>
          <a:prstGeom prst="line">
            <a:avLst/>
          </a:prstGeom>
          <a:noFill/>
          <a:ln w="12700">
            <a:solidFill>
              <a:srgbClr val="5E6964"/>
            </a:solidFill>
            <a:prstDash val="solid"/>
            <a:tailEnd type="triangle"/>
          </a:ln>
        </p:spPr>
      </p:sp>
      <p:sp>
        <p:nvSpPr>
          <p:cNvPr id="49" name="Shape 43"/>
          <p:cNvSpPr/>
          <p:nvPr/>
        </p:nvSpPr>
        <p:spPr>
          <a:xfrm>
            <a:off x="5577840" y="2670048"/>
            <a:ext cx="3108960" cy="1865376"/>
          </a:xfrm>
          <a:prstGeom prst="roundRect">
            <a:avLst>
              <a:gd name="adj" fmla="val 3922"/>
            </a:avLst>
          </a:prstGeom>
          <a:solidFill>
            <a:srgbClr val="E8F5EF"/>
          </a:solidFill>
          <a:ln w="15875">
            <a:solidFill>
              <a:srgbClr val="00A86A"/>
            </a:solidFill>
            <a:prstDash val="solid"/>
          </a:ln>
        </p:spPr>
      </p:sp>
      <p:sp>
        <p:nvSpPr>
          <p:cNvPr id="50" name="Text 44"/>
          <p:cNvSpPr txBox="1"/>
          <p:nvPr/>
        </p:nvSpPr>
        <p:spPr>
          <a:xfrm>
            <a:off x="5742432" y="2761488"/>
            <a:ext cx="2743200" cy="201168"/>
          </a:xfrm>
          <a:prstGeom prst="rect">
            <a:avLst/>
          </a:prstGeom>
          <a:noFill/>
          <a:ln/>
        </p:spPr>
        <p:txBody>
          <a:bodyPr wrap="square" lIns="0" tIns="0" rIns="0" bIns="0" rtlCol="0" anchor="t"/>
          <a:lstStyle/>
          <a:p>
            <a:pPr indent="0" marL="0">
              <a:buNone/>
            </a:pPr>
            <a:r>
              <a:rPr lang="en-US" sz="950" b="1" spc="200" kern="0" dirty="0">
                <a:solidFill>
                  <a:srgbClr val="00704A"/>
                </a:solidFill>
                <a:latin typeface="Calibri" pitchFamily="34" charset="0"/>
                <a:ea typeface="Calibri" pitchFamily="34" charset="-122"/>
                <a:cs typeface="Calibri" pitchFamily="34" charset="-120"/>
              </a:rPr>
              <a:t>MCP EN BREF</a:t>
            </a:r>
            <a:endParaRPr lang="en-US" sz="950" dirty="0"/>
          </a:p>
        </p:txBody>
      </p:sp>
      <p:sp>
        <p:nvSpPr>
          <p:cNvPr id="51" name="Text 45"/>
          <p:cNvSpPr txBox="1"/>
          <p:nvPr/>
        </p:nvSpPr>
        <p:spPr>
          <a:xfrm>
            <a:off x="5742432" y="2999232"/>
            <a:ext cx="2834640" cy="148132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Norme ouverte publiée par Anthropic en novembre 2024.</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Confiée en décembre 2025 à l'Agentic AI Foundation (Linux Foundation).</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Spécification actuelle : version 2026-07-28.</a:t>
            </a:r>
            <a:endParaRPr lang="en-US" sz="1000" dirty="0"/>
          </a:p>
          <a:p>
            <a:pPr marL="342900" indent="-342900">
              <a:spcAft>
                <a:spcPts val="300"/>
              </a:spcAft>
              <a:buSzPct val="100000"/>
              <a:buChar char="•"/>
            </a:pPr>
            <a:r>
              <a:rPr lang="en-US" sz="1000" b="1" dirty="0">
                <a:solidFill>
                  <a:srgbClr val="C4621D"/>
                </a:solidFill>
                <a:latin typeface="Calibri" pitchFamily="34" charset="0"/>
                <a:ea typeface="Calibri" pitchFamily="34" charset="-122"/>
                <a:cs typeface="Calibri" pitchFamily="34" charset="-120"/>
              </a:rPr>
              <a:t>Ne confère ni intelligence, ni autorisation.</a:t>
            </a:r>
            <a:endParaRPr lang="en-US" sz="1000" dirty="0"/>
          </a:p>
        </p:txBody>
      </p:sp>
      <p:sp>
        <p:nvSpPr>
          <p:cNvPr id="52" name="Text 46"/>
          <p:cNvSpPr txBox="1"/>
          <p:nvPr/>
        </p:nvSpPr>
        <p:spPr>
          <a:xfrm>
            <a:off x="457200" y="4608576"/>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Surface d'attaque = la liste des outils exposés. Exposer un outil est un acte de gouvernance · modelcontextprotocol.io (consulté en sept. 2026).</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06</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Pour la statistique officielle</a:t>
            </a:r>
            <a:endParaRPr lang="en-US" sz="26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Qu'est-ce que chaque concept peut — et ne peut pas — faire pour vous ?</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5C242"/>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r>
          <p:cNvPicPr>
            <a:picLocks noChangeAspect="1"/>
          </p:cNvPicPr>
          <p:nvPr/>
        </p:nvPicPr>
        <p:blipFill>
          <a:blip r:embed="rId2"/>
          <a:stretch>
            <a:fillRect/>
          </a:stretch>
        </p:blipFill>
        <p:spPr>
          <a:xfrm>
            <a:off x="6675120" y="2286000"/>
            <a:ext cx="548640" cy="548640"/>
          </a:xfrm>
          <a:prstGeom prst="rect">
            <a:avLst/>
          </a:prstGeom>
        </p:spPr>
      </p:pic>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Ce que chaque concept peut — et ne peut pas — faire pour vous</a:t>
            </a:r>
            <a:endParaRPr lang="en-US" sz="22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6" name="Text 14"/>
          <p:cNvSpPr txBox="1"/>
          <p:nvPr/>
        </p:nvSpPr>
        <p:spPr>
          <a:xfrm>
            <a:off x="548640" y="1325880"/>
            <a:ext cx="1463040" cy="256032"/>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Concept</a:t>
            </a:r>
            <a:endParaRPr lang="en-US" sz="1100" dirty="0"/>
          </a:p>
        </p:txBody>
      </p:sp>
      <p:sp>
        <p:nvSpPr>
          <p:cNvPr id="17" name="Text 15"/>
          <p:cNvSpPr txBox="1"/>
          <p:nvPr/>
        </p:nvSpPr>
        <p:spPr>
          <a:xfrm>
            <a:off x="2103120" y="1325880"/>
            <a:ext cx="3246120" cy="256032"/>
          </a:xfrm>
          <a:prstGeom prst="rect">
            <a:avLst/>
          </a:prstGeom>
          <a:noFill/>
          <a:ln/>
        </p:spPr>
        <p:txBody>
          <a:bodyPr wrap="square" lIns="0" tIns="0" rIns="0" bIns="0" rtlCol="0" anchor="ctr"/>
          <a:lstStyle/>
          <a:p>
            <a:pPr indent="0" marL="0">
              <a:buNone/>
            </a:pPr>
            <a:r>
              <a:rPr lang="en-US" sz="1100" b="1" dirty="0">
                <a:solidFill>
                  <a:srgbClr val="00A86A"/>
                </a:solidFill>
                <a:latin typeface="Calibri" pitchFamily="34" charset="0"/>
                <a:ea typeface="Calibri" pitchFamily="34" charset="-122"/>
                <a:cs typeface="Calibri" pitchFamily="34" charset="-120"/>
              </a:rPr>
              <a:t>Peut vous aider à…</a:t>
            </a:r>
            <a:endParaRPr lang="en-US" sz="1100" dirty="0"/>
          </a:p>
        </p:txBody>
      </p:sp>
      <p:sp>
        <p:nvSpPr>
          <p:cNvPr id="18" name="Text 16"/>
          <p:cNvSpPr txBox="1"/>
          <p:nvPr/>
        </p:nvSpPr>
        <p:spPr>
          <a:xfrm>
            <a:off x="5440680" y="1325880"/>
            <a:ext cx="3337560" cy="256032"/>
          </a:xfrm>
          <a:prstGeom prst="rect">
            <a:avLst/>
          </a:prstGeom>
          <a:noFill/>
          <a:ln/>
        </p:spPr>
        <p:txBody>
          <a:bodyPr wrap="square" lIns="0" tIns="0" rIns="0" bIns="0" rtlCol="0" anchor="ctr"/>
          <a:lstStyle/>
          <a:p>
            <a:pPr indent="0" marL="0">
              <a:buNone/>
            </a:pPr>
            <a:r>
              <a:rPr lang="en-US" sz="1100" b="1" dirty="0">
                <a:solidFill>
                  <a:srgbClr val="B83B2E"/>
                </a:solidFill>
                <a:latin typeface="Calibri" pitchFamily="34" charset="0"/>
                <a:ea typeface="Calibri" pitchFamily="34" charset="-122"/>
                <a:cs typeface="Calibri" pitchFamily="34" charset="-120"/>
              </a:rPr>
              <a:t>Ne peut pas…</a:t>
            </a:r>
            <a:endParaRPr lang="en-US" sz="1100" dirty="0"/>
          </a:p>
        </p:txBody>
      </p:sp>
      <p:sp>
        <p:nvSpPr>
          <p:cNvPr id="19" name="Shape 17"/>
          <p:cNvSpPr/>
          <p:nvPr/>
        </p:nvSpPr>
        <p:spPr>
          <a:xfrm>
            <a:off x="457200" y="1627632"/>
            <a:ext cx="8229600" cy="365760"/>
          </a:xfrm>
          <a:prstGeom prst="roundRect">
            <a:avLst>
              <a:gd name="adj" fmla="val 12500"/>
            </a:avLst>
          </a:prstGeom>
          <a:solidFill>
            <a:srgbClr val="F4F7F5"/>
          </a:solidFill>
          <a:ln w="6350">
            <a:solidFill>
              <a:srgbClr val="D5DED9"/>
            </a:solidFill>
            <a:prstDash val="solid"/>
          </a:ln>
        </p:spPr>
      </p:sp>
      <p:sp>
        <p:nvSpPr>
          <p:cNvPr id="20" name="Shape 18"/>
          <p:cNvSpPr/>
          <p:nvPr/>
        </p:nvSpPr>
        <p:spPr>
          <a:xfrm>
            <a:off x="566928" y="1746504"/>
            <a:ext cx="128016" cy="128016"/>
          </a:xfrm>
          <a:prstGeom prst="ellipse">
            <a:avLst/>
          </a:prstGeom>
          <a:solidFill>
            <a:srgbClr val="5E6964"/>
          </a:solidFill>
          <a:ln/>
        </p:spPr>
      </p:sp>
      <p:sp>
        <p:nvSpPr>
          <p:cNvPr id="21" name="Text 19"/>
          <p:cNvSpPr txBox="1"/>
          <p:nvPr/>
        </p:nvSpPr>
        <p:spPr>
          <a:xfrm>
            <a:off x="777240" y="1627632"/>
            <a:ext cx="118872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AGI</a:t>
            </a:r>
            <a:endParaRPr lang="en-US" sz="1150" dirty="0"/>
          </a:p>
        </p:txBody>
      </p:sp>
      <p:sp>
        <p:nvSpPr>
          <p:cNvPr id="22" name="Text 20"/>
          <p:cNvSpPr txBox="1"/>
          <p:nvPr/>
        </p:nvSpPr>
        <p:spPr>
          <a:xfrm>
            <a:off x="2103120" y="1627632"/>
            <a:ext cx="324612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rien d'opérationnel aujourd'hui : c'est un horizon de recherche</a:t>
            </a:r>
            <a:endParaRPr lang="en-US" sz="1000" dirty="0"/>
          </a:p>
        </p:txBody>
      </p:sp>
      <p:sp>
        <p:nvSpPr>
          <p:cNvPr id="23" name="Text 21"/>
          <p:cNvSpPr txBox="1"/>
          <p:nvPr/>
        </p:nvSpPr>
        <p:spPr>
          <a:xfrm>
            <a:off x="5440680" y="1627632"/>
            <a:ext cx="333756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servir de critère d'achat ou de planification</a:t>
            </a:r>
            <a:endParaRPr lang="en-US" sz="1000" dirty="0"/>
          </a:p>
        </p:txBody>
      </p:sp>
      <p:sp>
        <p:nvSpPr>
          <p:cNvPr id="24" name="Shape 22"/>
          <p:cNvSpPr/>
          <p:nvPr/>
        </p:nvSpPr>
        <p:spPr>
          <a:xfrm>
            <a:off x="457200" y="2043684"/>
            <a:ext cx="8229600" cy="365760"/>
          </a:xfrm>
          <a:prstGeom prst="roundRect">
            <a:avLst>
              <a:gd name="adj" fmla="val 12500"/>
            </a:avLst>
          </a:prstGeom>
          <a:solidFill>
            <a:srgbClr val="FFFFFF"/>
          </a:solidFill>
          <a:ln w="6350">
            <a:solidFill>
              <a:srgbClr val="D5DED9"/>
            </a:solidFill>
            <a:prstDash val="solid"/>
          </a:ln>
        </p:spPr>
      </p:sp>
      <p:sp>
        <p:nvSpPr>
          <p:cNvPr id="25" name="Shape 23"/>
          <p:cNvSpPr/>
          <p:nvPr/>
        </p:nvSpPr>
        <p:spPr>
          <a:xfrm>
            <a:off x="566928" y="2162556"/>
            <a:ext cx="128016" cy="128016"/>
          </a:xfrm>
          <a:prstGeom prst="ellipse">
            <a:avLst/>
          </a:prstGeom>
          <a:solidFill>
            <a:srgbClr val="00704A"/>
          </a:solidFill>
          <a:ln/>
        </p:spPr>
      </p:sp>
      <p:sp>
        <p:nvSpPr>
          <p:cNvPr id="26" name="Text 24"/>
          <p:cNvSpPr txBox="1"/>
          <p:nvPr/>
        </p:nvSpPr>
        <p:spPr>
          <a:xfrm>
            <a:off x="777240" y="2043684"/>
            <a:ext cx="118872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GML</a:t>
            </a:r>
            <a:endParaRPr lang="en-US" sz="1150" dirty="0"/>
          </a:p>
        </p:txBody>
      </p:sp>
      <p:sp>
        <p:nvSpPr>
          <p:cNvPr id="27" name="Text 25"/>
          <p:cNvSpPr txBox="1"/>
          <p:nvPr/>
        </p:nvSpPr>
        <p:spPr>
          <a:xfrm>
            <a:off x="2103120" y="2043684"/>
            <a:ext cx="324612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rédiger, traduire, résumer, proposer du code à relire</a:t>
            </a:r>
            <a:endParaRPr lang="en-US" sz="1000" dirty="0"/>
          </a:p>
        </p:txBody>
      </p:sp>
      <p:sp>
        <p:nvSpPr>
          <p:cNvPr id="28" name="Text 26"/>
          <p:cNvSpPr txBox="1"/>
          <p:nvPr/>
        </p:nvSpPr>
        <p:spPr>
          <a:xfrm>
            <a:off x="5440680" y="2043684"/>
            <a:ext cx="333756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produire un chiffre publiable ou garantir sa source</a:t>
            </a:r>
            <a:endParaRPr lang="en-US" sz="1000" dirty="0"/>
          </a:p>
        </p:txBody>
      </p:sp>
      <p:sp>
        <p:nvSpPr>
          <p:cNvPr id="29" name="Shape 27"/>
          <p:cNvSpPr/>
          <p:nvPr/>
        </p:nvSpPr>
        <p:spPr>
          <a:xfrm>
            <a:off x="457200" y="2459736"/>
            <a:ext cx="8229600" cy="365760"/>
          </a:xfrm>
          <a:prstGeom prst="roundRect">
            <a:avLst>
              <a:gd name="adj" fmla="val 12500"/>
            </a:avLst>
          </a:prstGeom>
          <a:solidFill>
            <a:srgbClr val="F4F7F5"/>
          </a:solidFill>
          <a:ln w="6350">
            <a:solidFill>
              <a:srgbClr val="D5DED9"/>
            </a:solidFill>
            <a:prstDash val="solid"/>
          </a:ln>
        </p:spPr>
      </p:sp>
      <p:sp>
        <p:nvSpPr>
          <p:cNvPr id="30" name="Shape 28"/>
          <p:cNvSpPr/>
          <p:nvPr/>
        </p:nvSpPr>
        <p:spPr>
          <a:xfrm>
            <a:off x="566928" y="2578608"/>
            <a:ext cx="128016" cy="128016"/>
          </a:xfrm>
          <a:prstGeom prst="ellipse">
            <a:avLst/>
          </a:prstGeom>
          <a:solidFill>
            <a:srgbClr val="00A86A"/>
          </a:solidFill>
          <a:ln/>
        </p:spPr>
      </p:sp>
      <p:sp>
        <p:nvSpPr>
          <p:cNvPr id="31" name="Text 29"/>
          <p:cNvSpPr txBox="1"/>
          <p:nvPr/>
        </p:nvSpPr>
        <p:spPr>
          <a:xfrm>
            <a:off x="777240" y="2459736"/>
            <a:ext cx="118872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Requête</a:t>
            </a:r>
            <a:endParaRPr lang="en-US" sz="1150" dirty="0"/>
          </a:p>
        </p:txBody>
      </p:sp>
      <p:sp>
        <p:nvSpPr>
          <p:cNvPr id="32" name="Text 30"/>
          <p:cNvSpPr txBox="1"/>
          <p:nvPr/>
        </p:nvSpPr>
        <p:spPr>
          <a:xfrm>
            <a:off x="2103120" y="2459736"/>
            <a:ext cx="324612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fixer le format, le ton et les limites d'une tâche</a:t>
            </a:r>
            <a:endParaRPr lang="en-US" sz="1000" dirty="0"/>
          </a:p>
        </p:txBody>
      </p:sp>
      <p:sp>
        <p:nvSpPr>
          <p:cNvPr id="33" name="Text 31"/>
          <p:cNvSpPr txBox="1"/>
          <p:nvPr/>
        </p:nvSpPr>
        <p:spPr>
          <a:xfrm>
            <a:off x="5440680" y="2459736"/>
            <a:ext cx="333756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ajouter des connaissances au modèle</a:t>
            </a:r>
            <a:endParaRPr lang="en-US" sz="1000" dirty="0"/>
          </a:p>
        </p:txBody>
      </p:sp>
      <p:sp>
        <p:nvSpPr>
          <p:cNvPr id="34" name="Shape 32"/>
          <p:cNvSpPr/>
          <p:nvPr/>
        </p:nvSpPr>
        <p:spPr>
          <a:xfrm>
            <a:off x="457200" y="2875788"/>
            <a:ext cx="8229600" cy="365760"/>
          </a:xfrm>
          <a:prstGeom prst="roundRect">
            <a:avLst>
              <a:gd name="adj" fmla="val 12500"/>
            </a:avLst>
          </a:prstGeom>
          <a:solidFill>
            <a:srgbClr val="FFFFFF"/>
          </a:solidFill>
          <a:ln w="6350">
            <a:solidFill>
              <a:srgbClr val="D5DED9"/>
            </a:solidFill>
            <a:prstDash val="solid"/>
          </a:ln>
        </p:spPr>
      </p:sp>
      <p:sp>
        <p:nvSpPr>
          <p:cNvPr id="35" name="Shape 33"/>
          <p:cNvSpPr/>
          <p:nvPr/>
        </p:nvSpPr>
        <p:spPr>
          <a:xfrm>
            <a:off x="566928" y="2994660"/>
            <a:ext cx="128016" cy="128016"/>
          </a:xfrm>
          <a:prstGeom prst="ellipse">
            <a:avLst/>
          </a:prstGeom>
          <a:solidFill>
            <a:srgbClr val="0E7C86"/>
          </a:solidFill>
          <a:ln/>
        </p:spPr>
      </p:sp>
      <p:sp>
        <p:nvSpPr>
          <p:cNvPr id="36" name="Text 34"/>
          <p:cNvSpPr txBox="1"/>
          <p:nvPr/>
        </p:nvSpPr>
        <p:spPr>
          <a:xfrm>
            <a:off x="777240" y="2875788"/>
            <a:ext cx="118872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RAG</a:t>
            </a:r>
            <a:endParaRPr lang="en-US" sz="1150" dirty="0"/>
          </a:p>
        </p:txBody>
      </p:sp>
      <p:sp>
        <p:nvSpPr>
          <p:cNvPr id="37" name="Text 35"/>
          <p:cNvSpPr txBox="1"/>
          <p:nvPr/>
        </p:nvSpPr>
        <p:spPr>
          <a:xfrm>
            <a:off x="2103120" y="2875788"/>
            <a:ext cx="324612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répondre à partir de vos rapports, en citant la source</a:t>
            </a:r>
            <a:endParaRPr lang="en-US" sz="1000" dirty="0"/>
          </a:p>
        </p:txBody>
      </p:sp>
      <p:sp>
        <p:nvSpPr>
          <p:cNvPr id="38" name="Text 36"/>
          <p:cNvSpPr txBox="1"/>
          <p:nvPr/>
        </p:nvSpPr>
        <p:spPr>
          <a:xfrm>
            <a:off x="5440680" y="2875788"/>
            <a:ext cx="333756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corriger des documents faux ou mal découpés</a:t>
            </a:r>
            <a:endParaRPr lang="en-US" sz="1000" dirty="0"/>
          </a:p>
        </p:txBody>
      </p:sp>
      <p:sp>
        <p:nvSpPr>
          <p:cNvPr id="39" name="Shape 37"/>
          <p:cNvSpPr/>
          <p:nvPr/>
        </p:nvSpPr>
        <p:spPr>
          <a:xfrm>
            <a:off x="457200" y="3291840"/>
            <a:ext cx="8229600" cy="365760"/>
          </a:xfrm>
          <a:prstGeom prst="roundRect">
            <a:avLst>
              <a:gd name="adj" fmla="val 12500"/>
            </a:avLst>
          </a:prstGeom>
          <a:solidFill>
            <a:srgbClr val="F4F7F5"/>
          </a:solidFill>
          <a:ln w="6350">
            <a:solidFill>
              <a:srgbClr val="D5DED9"/>
            </a:solidFill>
            <a:prstDash val="solid"/>
          </a:ln>
        </p:spPr>
      </p:sp>
      <p:sp>
        <p:nvSpPr>
          <p:cNvPr id="40" name="Shape 38"/>
          <p:cNvSpPr/>
          <p:nvPr/>
        </p:nvSpPr>
        <p:spPr>
          <a:xfrm>
            <a:off x="566928" y="3410712"/>
            <a:ext cx="128016" cy="128016"/>
          </a:xfrm>
          <a:prstGeom prst="ellipse">
            <a:avLst/>
          </a:prstGeom>
          <a:solidFill>
            <a:srgbClr val="D49A00"/>
          </a:solidFill>
          <a:ln/>
        </p:spPr>
      </p:sp>
      <p:sp>
        <p:nvSpPr>
          <p:cNvPr id="41" name="Text 39"/>
          <p:cNvSpPr txBox="1"/>
          <p:nvPr/>
        </p:nvSpPr>
        <p:spPr>
          <a:xfrm>
            <a:off x="777240" y="3291840"/>
            <a:ext cx="118872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Affinage</a:t>
            </a:r>
            <a:endParaRPr lang="en-US" sz="1150" dirty="0"/>
          </a:p>
        </p:txBody>
      </p:sp>
      <p:sp>
        <p:nvSpPr>
          <p:cNvPr id="42" name="Text 40"/>
          <p:cNvSpPr txBox="1"/>
          <p:nvPr/>
        </p:nvSpPr>
        <p:spPr>
          <a:xfrm>
            <a:off x="2103120" y="3291840"/>
            <a:ext cx="324612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apprendre votre style maison et vos conventions</a:t>
            </a:r>
            <a:endParaRPr lang="en-US" sz="1000" dirty="0"/>
          </a:p>
        </p:txBody>
      </p:sp>
      <p:sp>
        <p:nvSpPr>
          <p:cNvPr id="43" name="Text 41"/>
          <p:cNvSpPr txBox="1"/>
          <p:nvPr/>
        </p:nvSpPr>
        <p:spPr>
          <a:xfrm>
            <a:off x="5440680" y="3291840"/>
            <a:ext cx="333756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installer des faits de façon fiable et attribuable</a:t>
            </a:r>
            <a:endParaRPr lang="en-US" sz="1000" dirty="0"/>
          </a:p>
        </p:txBody>
      </p:sp>
      <p:sp>
        <p:nvSpPr>
          <p:cNvPr id="44" name="Shape 42"/>
          <p:cNvSpPr/>
          <p:nvPr/>
        </p:nvSpPr>
        <p:spPr>
          <a:xfrm>
            <a:off x="457200" y="3707892"/>
            <a:ext cx="8229600" cy="365760"/>
          </a:xfrm>
          <a:prstGeom prst="roundRect">
            <a:avLst>
              <a:gd name="adj" fmla="val 12500"/>
            </a:avLst>
          </a:prstGeom>
          <a:solidFill>
            <a:srgbClr val="FFFFFF"/>
          </a:solidFill>
          <a:ln w="6350">
            <a:solidFill>
              <a:srgbClr val="D5DED9"/>
            </a:solidFill>
            <a:prstDash val="solid"/>
          </a:ln>
        </p:spPr>
      </p:sp>
      <p:sp>
        <p:nvSpPr>
          <p:cNvPr id="45" name="Shape 43"/>
          <p:cNvSpPr/>
          <p:nvPr/>
        </p:nvSpPr>
        <p:spPr>
          <a:xfrm>
            <a:off x="566928" y="3826764"/>
            <a:ext cx="128016" cy="128016"/>
          </a:xfrm>
          <a:prstGeom prst="ellipse">
            <a:avLst/>
          </a:prstGeom>
          <a:solidFill>
            <a:srgbClr val="C4621D"/>
          </a:solidFill>
          <a:ln/>
        </p:spPr>
      </p:sp>
      <p:sp>
        <p:nvSpPr>
          <p:cNvPr id="46" name="Text 44"/>
          <p:cNvSpPr txBox="1"/>
          <p:nvPr/>
        </p:nvSpPr>
        <p:spPr>
          <a:xfrm>
            <a:off x="777240" y="3707892"/>
            <a:ext cx="118872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Agent</a:t>
            </a:r>
            <a:endParaRPr lang="en-US" sz="1150" dirty="0"/>
          </a:p>
        </p:txBody>
      </p:sp>
      <p:sp>
        <p:nvSpPr>
          <p:cNvPr id="47" name="Text 45"/>
          <p:cNvSpPr txBox="1"/>
          <p:nvPr/>
        </p:nvSpPr>
        <p:spPr>
          <a:xfrm>
            <a:off x="2103120" y="3707892"/>
            <a:ext cx="324612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enchaîner chercher, interroger, contrôler, rédiger</a:t>
            </a:r>
            <a:endParaRPr lang="en-US" sz="1000" dirty="0"/>
          </a:p>
        </p:txBody>
      </p:sp>
      <p:sp>
        <p:nvSpPr>
          <p:cNvPr id="48" name="Text 46"/>
          <p:cNvSpPr txBox="1"/>
          <p:nvPr/>
        </p:nvSpPr>
        <p:spPr>
          <a:xfrm>
            <a:off x="5440680" y="3707892"/>
            <a:ext cx="333756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décider seul de ce qui est publié</a:t>
            </a:r>
            <a:endParaRPr lang="en-US" sz="1000" dirty="0"/>
          </a:p>
        </p:txBody>
      </p:sp>
      <p:sp>
        <p:nvSpPr>
          <p:cNvPr id="49" name="Shape 47"/>
          <p:cNvSpPr/>
          <p:nvPr/>
        </p:nvSpPr>
        <p:spPr>
          <a:xfrm>
            <a:off x="457200" y="4123944"/>
            <a:ext cx="8229600" cy="365760"/>
          </a:xfrm>
          <a:prstGeom prst="roundRect">
            <a:avLst>
              <a:gd name="adj" fmla="val 12500"/>
            </a:avLst>
          </a:prstGeom>
          <a:solidFill>
            <a:srgbClr val="F4F7F5"/>
          </a:solidFill>
          <a:ln w="6350">
            <a:solidFill>
              <a:srgbClr val="D5DED9"/>
            </a:solidFill>
            <a:prstDash val="solid"/>
          </a:ln>
        </p:spPr>
      </p:sp>
      <p:sp>
        <p:nvSpPr>
          <p:cNvPr id="50" name="Shape 48"/>
          <p:cNvSpPr/>
          <p:nvPr/>
        </p:nvSpPr>
        <p:spPr>
          <a:xfrm>
            <a:off x="566928" y="4242816"/>
            <a:ext cx="128016" cy="128016"/>
          </a:xfrm>
          <a:prstGeom prst="ellipse">
            <a:avLst/>
          </a:prstGeom>
          <a:solidFill>
            <a:srgbClr val="C4621D"/>
          </a:solidFill>
          <a:ln/>
        </p:spPr>
      </p:sp>
      <p:sp>
        <p:nvSpPr>
          <p:cNvPr id="51" name="Text 49"/>
          <p:cNvSpPr txBox="1"/>
          <p:nvPr/>
        </p:nvSpPr>
        <p:spPr>
          <a:xfrm>
            <a:off x="777240" y="4123944"/>
            <a:ext cx="118872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MCP</a:t>
            </a:r>
            <a:endParaRPr lang="en-US" sz="1150" dirty="0"/>
          </a:p>
        </p:txBody>
      </p:sp>
      <p:sp>
        <p:nvSpPr>
          <p:cNvPr id="52" name="Text 50"/>
          <p:cNvSpPr txBox="1"/>
          <p:nvPr/>
        </p:nvSpPr>
        <p:spPr>
          <a:xfrm>
            <a:off x="2103120" y="4123944"/>
            <a:ext cx="324612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brancher un modèle à vos systèmes sans adaptateur</a:t>
            </a:r>
            <a:endParaRPr lang="en-US" sz="1000" dirty="0"/>
          </a:p>
        </p:txBody>
      </p:sp>
      <p:sp>
        <p:nvSpPr>
          <p:cNvPr id="53" name="Text 51"/>
          <p:cNvSpPr txBox="1"/>
          <p:nvPr/>
        </p:nvSpPr>
        <p:spPr>
          <a:xfrm>
            <a:off x="5440680" y="4123944"/>
            <a:ext cx="333756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autoriser, sécuriser ou rendre plus intelligent</a:t>
            </a:r>
            <a:endParaRPr lang="en-US" sz="1000" dirty="0"/>
          </a:p>
        </p:txBody>
      </p:sp>
      <p:sp>
        <p:nvSpPr>
          <p:cNvPr id="54" name="Shape 52"/>
          <p:cNvSpPr/>
          <p:nvPr/>
        </p:nvSpPr>
        <p:spPr>
          <a:xfrm>
            <a:off x="5349240" y="1371600"/>
            <a:ext cx="0" cy="3154680"/>
          </a:xfrm>
          <a:prstGeom prst="line">
            <a:avLst/>
          </a:prstGeom>
          <a:noFill/>
          <a:ln w="9525">
            <a:solidFill>
              <a:srgbClr val="D5DED9"/>
            </a:solidFill>
            <a:prstDash val="dash"/>
          </a:ln>
        </p:spPr>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Discipline de vocabulaire : de la promesse à la question</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6" name="Shape 14"/>
          <p:cNvSpPr/>
          <p:nvPr/>
        </p:nvSpPr>
        <p:spPr>
          <a:xfrm>
            <a:off x="457200" y="1371600"/>
            <a:ext cx="2606040" cy="1463040"/>
          </a:xfrm>
          <a:prstGeom prst="roundRect">
            <a:avLst>
              <a:gd name="adj" fmla="val 5000"/>
            </a:avLst>
          </a:prstGeom>
          <a:solidFill>
            <a:srgbClr val="F4F7F5"/>
          </a:solidFill>
          <a:ln w="9525">
            <a:solidFill>
              <a:srgbClr val="D5DED9"/>
            </a:solidFill>
            <a:prstDash val="solid"/>
          </a:ln>
        </p:spPr>
      </p:sp>
      <p:pic>
        <p:nvPicPr>
          <p:cNvPr id="17" name="Image 0" descr="preencoded.png">    </p:cNvPr>
          <p:cNvPicPr>
            <a:picLocks noChangeAspect="1"/>
          </p:cNvPicPr>
          <p:nvPr/>
        </p:nvPicPr>
        <p:blipFill>
          <a:blip r:embed="rId1"/>
          <a:stretch>
            <a:fillRect/>
          </a:stretch>
        </p:blipFill>
        <p:spPr>
          <a:xfrm>
            <a:off x="621792" y="1517904"/>
            <a:ext cx="219456" cy="219456"/>
          </a:xfrm>
          <a:prstGeom prst="rect">
            <a:avLst/>
          </a:prstGeom>
        </p:spPr>
      </p:pic>
      <p:sp>
        <p:nvSpPr>
          <p:cNvPr id="18" name="Text 15"/>
          <p:cNvSpPr txBox="1"/>
          <p:nvPr/>
        </p:nvSpPr>
        <p:spPr>
          <a:xfrm>
            <a:off x="914400" y="1481328"/>
            <a:ext cx="2011680" cy="548640"/>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 Nous avons affiné le modèle sur vos données. »</a:t>
            </a:r>
            <a:endParaRPr lang="en-US" sz="1050" dirty="0"/>
          </a:p>
        </p:txBody>
      </p:sp>
      <p:sp>
        <p:nvSpPr>
          <p:cNvPr id="19" name="Shape 16"/>
          <p:cNvSpPr/>
          <p:nvPr/>
        </p:nvSpPr>
        <p:spPr>
          <a:xfrm>
            <a:off x="621792" y="2103120"/>
            <a:ext cx="2286000" cy="0"/>
          </a:xfrm>
          <a:prstGeom prst="line">
            <a:avLst/>
          </a:prstGeom>
          <a:noFill/>
          <a:ln w="9525">
            <a:solidFill>
              <a:srgbClr val="D5DED9"/>
            </a:solidFill>
            <a:prstDash val="solid"/>
          </a:ln>
        </p:spPr>
      </p:sp>
      <p:pic>
        <p:nvPicPr>
          <p:cNvPr id="20" name="Image 1" descr="preencoded.png">    </p:cNvPr>
          <p:cNvPicPr>
            <a:picLocks noChangeAspect="1"/>
          </p:cNvPicPr>
          <p:nvPr/>
        </p:nvPicPr>
        <p:blipFill>
          <a:blip r:embed="rId2"/>
          <a:stretch>
            <a:fillRect/>
          </a:stretch>
        </p:blipFill>
        <p:spPr>
          <a:xfrm>
            <a:off x="621792" y="2267712"/>
            <a:ext cx="219456" cy="219456"/>
          </a:xfrm>
          <a:prstGeom prst="rect">
            <a:avLst/>
          </a:prstGeom>
        </p:spPr>
      </p:pic>
      <p:sp>
        <p:nvSpPr>
          <p:cNvPr id="21" name="Text 17"/>
          <p:cNvSpPr txBox="1"/>
          <p:nvPr/>
        </p:nvSpPr>
        <p:spPr>
          <a:xfrm>
            <a:off x="914400" y="2157984"/>
            <a:ext cx="2011680" cy="566928"/>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Les poids changent-ils, ou est-ce du RAG ? Par écrit.</a:t>
            </a:r>
            <a:endParaRPr lang="en-US" sz="1100" dirty="0"/>
          </a:p>
        </p:txBody>
      </p:sp>
      <p:sp>
        <p:nvSpPr>
          <p:cNvPr id="22" name="Shape 18"/>
          <p:cNvSpPr/>
          <p:nvPr/>
        </p:nvSpPr>
        <p:spPr>
          <a:xfrm>
            <a:off x="3246120" y="1371600"/>
            <a:ext cx="2606040" cy="1463040"/>
          </a:xfrm>
          <a:prstGeom prst="roundRect">
            <a:avLst>
              <a:gd name="adj" fmla="val 5000"/>
            </a:avLst>
          </a:prstGeom>
          <a:solidFill>
            <a:srgbClr val="F4F7F5"/>
          </a:solidFill>
          <a:ln w="9525">
            <a:solidFill>
              <a:srgbClr val="D5DED9"/>
            </a:solidFill>
            <a:prstDash val="solid"/>
          </a:ln>
        </p:spPr>
      </p:sp>
      <p:pic>
        <p:nvPicPr>
          <p:cNvPr id="23" name="Image 2" descr="preencoded.png">    </p:cNvPr>
          <p:cNvPicPr>
            <a:picLocks noChangeAspect="1"/>
          </p:cNvPicPr>
          <p:nvPr/>
        </p:nvPicPr>
        <p:blipFill>
          <a:blip r:embed="rId3"/>
          <a:stretch>
            <a:fillRect/>
          </a:stretch>
        </p:blipFill>
        <p:spPr>
          <a:xfrm>
            <a:off x="3410712" y="1517904"/>
            <a:ext cx="219456" cy="219456"/>
          </a:xfrm>
          <a:prstGeom prst="rect">
            <a:avLst/>
          </a:prstGeom>
        </p:spPr>
      </p:pic>
      <p:sp>
        <p:nvSpPr>
          <p:cNvPr id="24" name="Text 19"/>
          <p:cNvSpPr txBox="1"/>
          <p:nvPr/>
        </p:nvSpPr>
        <p:spPr>
          <a:xfrm>
            <a:off x="3703320" y="1481328"/>
            <a:ext cx="2011680" cy="548640"/>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 Notre IA ne se trompe pas. »</a:t>
            </a:r>
            <a:endParaRPr lang="en-US" sz="1050" dirty="0"/>
          </a:p>
        </p:txBody>
      </p:sp>
      <p:sp>
        <p:nvSpPr>
          <p:cNvPr id="25" name="Shape 20"/>
          <p:cNvSpPr/>
          <p:nvPr/>
        </p:nvSpPr>
        <p:spPr>
          <a:xfrm>
            <a:off x="3410712" y="2103120"/>
            <a:ext cx="2286000" cy="0"/>
          </a:xfrm>
          <a:prstGeom prst="line">
            <a:avLst/>
          </a:prstGeom>
          <a:noFill/>
          <a:ln w="9525">
            <a:solidFill>
              <a:srgbClr val="D5DED9"/>
            </a:solidFill>
            <a:prstDash val="solid"/>
          </a:ln>
        </p:spPr>
      </p:sp>
      <p:pic>
        <p:nvPicPr>
          <p:cNvPr id="26" name="Image 3" descr="preencoded.png">    </p:cNvPr>
          <p:cNvPicPr>
            <a:picLocks noChangeAspect="1"/>
          </p:cNvPicPr>
          <p:nvPr/>
        </p:nvPicPr>
        <p:blipFill>
          <a:blip r:embed="rId4"/>
          <a:stretch>
            <a:fillRect/>
          </a:stretch>
        </p:blipFill>
        <p:spPr>
          <a:xfrm>
            <a:off x="3410712" y="2267712"/>
            <a:ext cx="219456" cy="219456"/>
          </a:xfrm>
          <a:prstGeom prst="rect">
            <a:avLst/>
          </a:prstGeom>
        </p:spPr>
      </p:pic>
      <p:sp>
        <p:nvSpPr>
          <p:cNvPr id="27" name="Text 21"/>
          <p:cNvSpPr txBox="1"/>
          <p:nvPr/>
        </p:nvSpPr>
        <p:spPr>
          <a:xfrm>
            <a:off x="3703320" y="2157984"/>
            <a:ext cx="2011680" cy="566928"/>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Quel taux d'erreur, mesuré sur quel jeu de test ?</a:t>
            </a:r>
            <a:endParaRPr lang="en-US" sz="1100" dirty="0"/>
          </a:p>
        </p:txBody>
      </p:sp>
      <p:sp>
        <p:nvSpPr>
          <p:cNvPr id="28" name="Shape 22"/>
          <p:cNvSpPr/>
          <p:nvPr/>
        </p:nvSpPr>
        <p:spPr>
          <a:xfrm>
            <a:off x="6035040" y="1371600"/>
            <a:ext cx="2606040" cy="1463040"/>
          </a:xfrm>
          <a:prstGeom prst="roundRect">
            <a:avLst>
              <a:gd name="adj" fmla="val 5000"/>
            </a:avLst>
          </a:prstGeom>
          <a:solidFill>
            <a:srgbClr val="F4F7F5"/>
          </a:solidFill>
          <a:ln w="9525">
            <a:solidFill>
              <a:srgbClr val="D5DED9"/>
            </a:solidFill>
            <a:prstDash val="solid"/>
          </a:ln>
        </p:spPr>
      </p:sp>
      <p:pic>
        <p:nvPicPr>
          <p:cNvPr id="29" name="Image 4" descr="preencoded.png">    </p:cNvPr>
          <p:cNvPicPr>
            <a:picLocks noChangeAspect="1"/>
          </p:cNvPicPr>
          <p:nvPr/>
        </p:nvPicPr>
        <p:blipFill>
          <a:blip r:embed="rId5"/>
          <a:stretch>
            <a:fillRect/>
          </a:stretch>
        </p:blipFill>
        <p:spPr>
          <a:xfrm>
            <a:off x="6199632" y="1517904"/>
            <a:ext cx="219456" cy="219456"/>
          </a:xfrm>
          <a:prstGeom prst="rect">
            <a:avLst/>
          </a:prstGeom>
        </p:spPr>
      </p:pic>
      <p:sp>
        <p:nvSpPr>
          <p:cNvPr id="30" name="Text 23"/>
          <p:cNvSpPr txBox="1"/>
          <p:nvPr/>
        </p:nvSpPr>
        <p:spPr>
          <a:xfrm>
            <a:off x="6492240" y="1481328"/>
            <a:ext cx="2011680" cy="548640"/>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 Une solution agentique autonome. »</a:t>
            </a:r>
            <a:endParaRPr lang="en-US" sz="1050" dirty="0"/>
          </a:p>
        </p:txBody>
      </p:sp>
      <p:sp>
        <p:nvSpPr>
          <p:cNvPr id="31" name="Shape 24"/>
          <p:cNvSpPr/>
          <p:nvPr/>
        </p:nvSpPr>
        <p:spPr>
          <a:xfrm>
            <a:off x="6199632" y="2103120"/>
            <a:ext cx="2286000" cy="0"/>
          </a:xfrm>
          <a:prstGeom prst="line">
            <a:avLst/>
          </a:prstGeom>
          <a:noFill/>
          <a:ln w="9525">
            <a:solidFill>
              <a:srgbClr val="D5DED9"/>
            </a:solidFill>
            <a:prstDash val="solid"/>
          </a:ln>
        </p:spPr>
      </p:sp>
      <p:pic>
        <p:nvPicPr>
          <p:cNvPr id="32" name="Image 5" descr="preencoded.png">    </p:cNvPr>
          <p:cNvPicPr>
            <a:picLocks noChangeAspect="1"/>
          </p:cNvPicPr>
          <p:nvPr/>
        </p:nvPicPr>
        <p:blipFill>
          <a:blip r:embed="rId6"/>
          <a:stretch>
            <a:fillRect/>
          </a:stretch>
        </p:blipFill>
        <p:spPr>
          <a:xfrm>
            <a:off x="6199632" y="2267712"/>
            <a:ext cx="219456" cy="219456"/>
          </a:xfrm>
          <a:prstGeom prst="rect">
            <a:avLst/>
          </a:prstGeom>
        </p:spPr>
      </p:pic>
      <p:sp>
        <p:nvSpPr>
          <p:cNvPr id="33" name="Text 25"/>
          <p:cNvSpPr txBox="1"/>
          <p:nvPr/>
        </p:nvSpPr>
        <p:spPr>
          <a:xfrm>
            <a:off x="6492240" y="2157984"/>
            <a:ext cx="2011680" cy="566928"/>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Quels outils sont exposés, et qui autorise chaque action ?</a:t>
            </a:r>
            <a:endParaRPr lang="en-US" sz="1100" dirty="0"/>
          </a:p>
        </p:txBody>
      </p:sp>
      <p:sp>
        <p:nvSpPr>
          <p:cNvPr id="34" name="Shape 26"/>
          <p:cNvSpPr/>
          <p:nvPr/>
        </p:nvSpPr>
        <p:spPr>
          <a:xfrm>
            <a:off x="457200" y="2980944"/>
            <a:ext cx="2606040" cy="1463040"/>
          </a:xfrm>
          <a:prstGeom prst="roundRect">
            <a:avLst>
              <a:gd name="adj" fmla="val 5000"/>
            </a:avLst>
          </a:prstGeom>
          <a:solidFill>
            <a:srgbClr val="F4F7F5"/>
          </a:solidFill>
          <a:ln w="9525">
            <a:solidFill>
              <a:srgbClr val="D5DED9"/>
            </a:solidFill>
            <a:prstDash val="solid"/>
          </a:ln>
        </p:spPr>
      </p:sp>
      <p:pic>
        <p:nvPicPr>
          <p:cNvPr id="35" name="Image 6" descr="preencoded.png">    </p:cNvPr>
          <p:cNvPicPr>
            <a:picLocks noChangeAspect="1"/>
          </p:cNvPicPr>
          <p:nvPr/>
        </p:nvPicPr>
        <p:blipFill>
          <a:blip r:embed="rId7"/>
          <a:stretch>
            <a:fillRect/>
          </a:stretch>
        </p:blipFill>
        <p:spPr>
          <a:xfrm>
            <a:off x="621792" y="3127248"/>
            <a:ext cx="219456" cy="219456"/>
          </a:xfrm>
          <a:prstGeom prst="rect">
            <a:avLst/>
          </a:prstGeom>
        </p:spPr>
      </p:pic>
      <p:sp>
        <p:nvSpPr>
          <p:cNvPr id="36" name="Text 27"/>
          <p:cNvSpPr txBox="1"/>
          <p:nvPr/>
        </p:nvSpPr>
        <p:spPr>
          <a:xfrm>
            <a:off x="914400" y="3090672"/>
            <a:ext cx="2011680" cy="548640"/>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 Compatible MCP, donc sécurisé. »</a:t>
            </a:r>
            <a:endParaRPr lang="en-US" sz="1050" dirty="0"/>
          </a:p>
        </p:txBody>
      </p:sp>
      <p:sp>
        <p:nvSpPr>
          <p:cNvPr id="37" name="Shape 28"/>
          <p:cNvSpPr/>
          <p:nvPr/>
        </p:nvSpPr>
        <p:spPr>
          <a:xfrm>
            <a:off x="621792" y="3712464"/>
            <a:ext cx="2286000" cy="0"/>
          </a:xfrm>
          <a:prstGeom prst="line">
            <a:avLst/>
          </a:prstGeom>
          <a:noFill/>
          <a:ln w="9525">
            <a:solidFill>
              <a:srgbClr val="D5DED9"/>
            </a:solidFill>
            <a:prstDash val="solid"/>
          </a:ln>
        </p:spPr>
      </p:sp>
      <p:pic>
        <p:nvPicPr>
          <p:cNvPr id="38" name="Image 7" descr="preencoded.png">    </p:cNvPr>
          <p:cNvPicPr>
            <a:picLocks noChangeAspect="1"/>
          </p:cNvPicPr>
          <p:nvPr/>
        </p:nvPicPr>
        <p:blipFill>
          <a:blip r:embed="rId8"/>
          <a:stretch>
            <a:fillRect/>
          </a:stretch>
        </p:blipFill>
        <p:spPr>
          <a:xfrm>
            <a:off x="621792" y="3877056"/>
            <a:ext cx="219456" cy="219456"/>
          </a:xfrm>
          <a:prstGeom prst="rect">
            <a:avLst/>
          </a:prstGeom>
        </p:spPr>
      </p:pic>
      <p:sp>
        <p:nvSpPr>
          <p:cNvPr id="39" name="Text 29"/>
          <p:cNvSpPr txBox="1"/>
          <p:nvPr/>
        </p:nvSpPr>
        <p:spPr>
          <a:xfrm>
            <a:off x="914400" y="3767328"/>
            <a:ext cx="2011680" cy="566928"/>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Quelle authentification, quels journaux d'audit ?</a:t>
            </a:r>
            <a:endParaRPr lang="en-US" sz="1100" dirty="0"/>
          </a:p>
        </p:txBody>
      </p:sp>
      <p:sp>
        <p:nvSpPr>
          <p:cNvPr id="40" name="Shape 30"/>
          <p:cNvSpPr/>
          <p:nvPr/>
        </p:nvSpPr>
        <p:spPr>
          <a:xfrm>
            <a:off x="3246120" y="2980944"/>
            <a:ext cx="2606040" cy="1463040"/>
          </a:xfrm>
          <a:prstGeom prst="roundRect">
            <a:avLst>
              <a:gd name="adj" fmla="val 5000"/>
            </a:avLst>
          </a:prstGeom>
          <a:solidFill>
            <a:srgbClr val="F4F7F5"/>
          </a:solidFill>
          <a:ln w="9525">
            <a:solidFill>
              <a:srgbClr val="D5DED9"/>
            </a:solidFill>
            <a:prstDash val="solid"/>
          </a:ln>
        </p:spPr>
      </p:sp>
      <p:pic>
        <p:nvPicPr>
          <p:cNvPr id="41" name="Image 8" descr="preencoded.png">    </p:cNvPr>
          <p:cNvPicPr>
            <a:picLocks noChangeAspect="1"/>
          </p:cNvPicPr>
          <p:nvPr/>
        </p:nvPicPr>
        <p:blipFill>
          <a:blip r:embed="rId9"/>
          <a:stretch>
            <a:fillRect/>
          </a:stretch>
        </p:blipFill>
        <p:spPr>
          <a:xfrm>
            <a:off x="3410712" y="3127248"/>
            <a:ext cx="219456" cy="219456"/>
          </a:xfrm>
          <a:prstGeom prst="rect">
            <a:avLst/>
          </a:prstGeom>
        </p:spPr>
      </p:pic>
      <p:sp>
        <p:nvSpPr>
          <p:cNvPr id="42" name="Text 31"/>
          <p:cNvSpPr txBox="1"/>
          <p:nvPr/>
        </p:nvSpPr>
        <p:spPr>
          <a:xfrm>
            <a:off x="3703320" y="3090672"/>
            <a:ext cx="2011680" cy="548640"/>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 Nous sommes proches de l'AGI. »</a:t>
            </a:r>
            <a:endParaRPr lang="en-US" sz="1050" dirty="0"/>
          </a:p>
        </p:txBody>
      </p:sp>
      <p:sp>
        <p:nvSpPr>
          <p:cNvPr id="43" name="Shape 32"/>
          <p:cNvSpPr/>
          <p:nvPr/>
        </p:nvSpPr>
        <p:spPr>
          <a:xfrm>
            <a:off x="3410712" y="3712464"/>
            <a:ext cx="2286000" cy="0"/>
          </a:xfrm>
          <a:prstGeom prst="line">
            <a:avLst/>
          </a:prstGeom>
          <a:noFill/>
          <a:ln w="9525">
            <a:solidFill>
              <a:srgbClr val="D5DED9"/>
            </a:solidFill>
            <a:prstDash val="solid"/>
          </a:ln>
        </p:spPr>
      </p:sp>
      <p:pic>
        <p:nvPicPr>
          <p:cNvPr id="44" name="Image 9" descr="preencoded.png">    </p:cNvPr>
          <p:cNvPicPr>
            <a:picLocks noChangeAspect="1"/>
          </p:cNvPicPr>
          <p:nvPr/>
        </p:nvPicPr>
        <p:blipFill>
          <a:blip r:embed="rId10"/>
          <a:stretch>
            <a:fillRect/>
          </a:stretch>
        </p:blipFill>
        <p:spPr>
          <a:xfrm>
            <a:off x="3410712" y="3877056"/>
            <a:ext cx="219456" cy="219456"/>
          </a:xfrm>
          <a:prstGeom prst="rect">
            <a:avLst/>
          </a:prstGeom>
        </p:spPr>
      </p:pic>
      <p:sp>
        <p:nvSpPr>
          <p:cNvPr id="45" name="Text 33"/>
          <p:cNvSpPr txBox="1"/>
          <p:nvPr/>
        </p:nvSpPr>
        <p:spPr>
          <a:xfrm>
            <a:off x="3703320" y="3767328"/>
            <a:ext cx="2011680" cy="566928"/>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Quelle capacité mesurée, sur quelle tâche, aujourd'hui ?</a:t>
            </a:r>
            <a:endParaRPr lang="en-US" sz="1100" dirty="0"/>
          </a:p>
        </p:txBody>
      </p:sp>
      <p:sp>
        <p:nvSpPr>
          <p:cNvPr id="46" name="Shape 34"/>
          <p:cNvSpPr/>
          <p:nvPr/>
        </p:nvSpPr>
        <p:spPr>
          <a:xfrm>
            <a:off x="6035040" y="2980944"/>
            <a:ext cx="2606040" cy="1463040"/>
          </a:xfrm>
          <a:prstGeom prst="roundRect">
            <a:avLst>
              <a:gd name="adj" fmla="val 5000"/>
            </a:avLst>
          </a:prstGeom>
          <a:solidFill>
            <a:srgbClr val="F4F7F5"/>
          </a:solidFill>
          <a:ln w="9525">
            <a:solidFill>
              <a:srgbClr val="D5DED9"/>
            </a:solidFill>
            <a:prstDash val="solid"/>
          </a:ln>
        </p:spPr>
      </p:sp>
      <p:pic>
        <p:nvPicPr>
          <p:cNvPr id="47" name="Image 10" descr="preencoded.png">    </p:cNvPr>
          <p:cNvPicPr>
            <a:picLocks noChangeAspect="1"/>
          </p:cNvPicPr>
          <p:nvPr/>
        </p:nvPicPr>
        <p:blipFill>
          <a:blip r:embed="rId11"/>
          <a:stretch>
            <a:fillRect/>
          </a:stretch>
        </p:blipFill>
        <p:spPr>
          <a:xfrm>
            <a:off x="6199632" y="3127248"/>
            <a:ext cx="219456" cy="219456"/>
          </a:xfrm>
          <a:prstGeom prst="rect">
            <a:avLst/>
          </a:prstGeom>
        </p:spPr>
      </p:pic>
      <p:sp>
        <p:nvSpPr>
          <p:cNvPr id="48" name="Text 35"/>
          <p:cNvSpPr txBox="1"/>
          <p:nvPr/>
        </p:nvSpPr>
        <p:spPr>
          <a:xfrm>
            <a:off x="6492240" y="3090672"/>
            <a:ext cx="2011680" cy="548640"/>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 Vos données restent chez vous. »</a:t>
            </a:r>
            <a:endParaRPr lang="en-US" sz="1050" dirty="0"/>
          </a:p>
        </p:txBody>
      </p:sp>
      <p:sp>
        <p:nvSpPr>
          <p:cNvPr id="49" name="Shape 36"/>
          <p:cNvSpPr/>
          <p:nvPr/>
        </p:nvSpPr>
        <p:spPr>
          <a:xfrm>
            <a:off x="6199632" y="3712464"/>
            <a:ext cx="2286000" cy="0"/>
          </a:xfrm>
          <a:prstGeom prst="line">
            <a:avLst/>
          </a:prstGeom>
          <a:noFill/>
          <a:ln w="9525">
            <a:solidFill>
              <a:srgbClr val="D5DED9"/>
            </a:solidFill>
            <a:prstDash val="solid"/>
          </a:ln>
        </p:spPr>
      </p:sp>
      <p:pic>
        <p:nvPicPr>
          <p:cNvPr id="50" name="Image 11" descr="preencoded.png">    </p:cNvPr>
          <p:cNvPicPr>
            <a:picLocks noChangeAspect="1"/>
          </p:cNvPicPr>
          <p:nvPr/>
        </p:nvPicPr>
        <p:blipFill>
          <a:blip r:embed="rId12"/>
          <a:stretch>
            <a:fillRect/>
          </a:stretch>
        </p:blipFill>
        <p:spPr>
          <a:xfrm>
            <a:off x="6199632" y="3877056"/>
            <a:ext cx="219456" cy="219456"/>
          </a:xfrm>
          <a:prstGeom prst="rect">
            <a:avLst/>
          </a:prstGeom>
        </p:spPr>
      </p:pic>
      <p:sp>
        <p:nvSpPr>
          <p:cNvPr id="51" name="Text 37"/>
          <p:cNvSpPr txBox="1"/>
          <p:nvPr/>
        </p:nvSpPr>
        <p:spPr>
          <a:xfrm>
            <a:off x="6492240" y="3767328"/>
            <a:ext cx="2011680" cy="566928"/>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Où tourne le calcul, et sous quelle juridiction ?</a:t>
            </a:r>
            <a:endParaRPr lang="en-US" sz="11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 AI Ready » : être lisible et fiable pour les machines</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6" name="Shape 14"/>
          <p:cNvSpPr/>
          <p:nvPr/>
        </p:nvSpPr>
        <p:spPr>
          <a:xfrm>
            <a:off x="457200" y="1325880"/>
            <a:ext cx="8229600" cy="566928"/>
          </a:xfrm>
          <a:prstGeom prst="roundRect">
            <a:avLst>
              <a:gd name="adj" fmla="val 12903"/>
            </a:avLst>
          </a:prstGeom>
          <a:solidFill>
            <a:srgbClr val="E8F5EF"/>
          </a:solidFill>
          <a:ln w="15875">
            <a:solidFill>
              <a:srgbClr val="00A86A"/>
            </a:solidFill>
            <a:prstDash val="solid"/>
          </a:ln>
        </p:spPr>
      </p:sp>
      <p:sp>
        <p:nvSpPr>
          <p:cNvPr id="17" name="Shape 15"/>
          <p:cNvSpPr/>
          <p:nvPr/>
        </p:nvSpPr>
        <p:spPr>
          <a:xfrm>
            <a:off x="585216" y="1399032"/>
            <a:ext cx="420624" cy="420624"/>
          </a:xfrm>
          <a:prstGeom prst="ellipse">
            <a:avLst/>
          </a:prstGeom>
          <a:solidFill>
            <a:srgbClr val="00A86A">
              <a:alpha val="22000"/>
            </a:srgbClr>
          </a:solidFill>
          <a:ln/>
        </p:spPr>
      </p:sp>
      <p:pic>
        <p:nvPicPr>
          <p:cNvPr id="18" name="Image 0" descr="preencoded.png">    </p:cNvPr>
          <p:cNvPicPr>
            <a:picLocks noChangeAspect="1"/>
          </p:cNvPicPr>
          <p:nvPr/>
        </p:nvPicPr>
        <p:blipFill>
          <a:blip r:embed="rId1"/>
          <a:stretch>
            <a:fillRect/>
          </a:stretch>
        </p:blipFill>
        <p:spPr>
          <a:xfrm>
            <a:off x="686166" y="1499982"/>
            <a:ext cx="218724" cy="218724"/>
          </a:xfrm>
          <a:prstGeom prst="rect">
            <a:avLst/>
          </a:prstGeom>
        </p:spPr>
      </p:pic>
      <p:sp>
        <p:nvSpPr>
          <p:cNvPr id="19" name="Text 16"/>
          <p:cNvSpPr txBox="1"/>
          <p:nvPr/>
        </p:nvSpPr>
        <p:spPr>
          <a:xfrm>
            <a:off x="1143000" y="1325880"/>
            <a:ext cx="7406640" cy="566928"/>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AI Ready (prêt pour l'IA) : </a:t>
            </a:r>
            <a:pPr indent="0" marL="0">
              <a:buNone/>
            </a:pPr>
            <a:r>
              <a:rPr lang="en-US" sz="1150" dirty="0">
                <a:solidFill>
                  <a:srgbClr val="231F20"/>
                </a:solidFill>
                <a:latin typeface="Calibri" pitchFamily="34" charset="0"/>
                <a:ea typeface="Calibri" pitchFamily="34" charset="-122"/>
                <a:cs typeface="Calibri" pitchFamily="34" charset="-120"/>
              </a:rPr>
              <a:t>des données structurées, documentées et diffusées pour qu'une machine les trouve, les lise et les interprète correctement — sans en perdre le sens.</a:t>
            </a:r>
            <a:endParaRPr lang="en-US" sz="1150" dirty="0"/>
          </a:p>
        </p:txBody>
      </p:sp>
      <p:sp>
        <p:nvSpPr>
          <p:cNvPr id="20" name="Shape 17"/>
          <p:cNvSpPr/>
          <p:nvPr/>
        </p:nvSpPr>
        <p:spPr>
          <a:xfrm>
            <a:off x="457200" y="2011680"/>
            <a:ext cx="5029200" cy="2011680"/>
          </a:xfrm>
          <a:prstGeom prst="roundRect">
            <a:avLst>
              <a:gd name="adj" fmla="val 3636"/>
            </a:avLst>
          </a:prstGeom>
          <a:solidFill>
            <a:srgbClr val="F4F7F5"/>
          </a:solidFill>
          <a:ln w="9525">
            <a:solidFill>
              <a:srgbClr val="D5DED9"/>
            </a:solidFill>
            <a:prstDash val="solid"/>
          </a:ln>
        </p:spPr>
      </p:sp>
      <p:sp>
        <p:nvSpPr>
          <p:cNvPr id="21" name="Text 18"/>
          <p:cNvSpPr txBox="1"/>
          <p:nvPr/>
        </p:nvSpPr>
        <p:spPr>
          <a:xfrm>
            <a:off x="621792" y="2048256"/>
            <a:ext cx="4754880" cy="237744"/>
          </a:xfrm>
          <a:prstGeom prst="rect">
            <a:avLst/>
          </a:prstGeom>
          <a:noFill/>
          <a:ln/>
        </p:spPr>
        <p:txBody>
          <a:bodyPr wrap="square" lIns="0" tIns="0" rIns="0" bIns="0" rtlCol="0" anchor="ctr"/>
          <a:lstStyle/>
          <a:p>
            <a:pPr indent="0" marL="0">
              <a:buNone/>
            </a:pPr>
            <a:r>
              <a:rPr lang="en-US" sz="1300" b="1" dirty="0">
                <a:solidFill>
                  <a:srgbClr val="00A86A"/>
                </a:solidFill>
                <a:latin typeface="Calibri" pitchFamily="34" charset="0"/>
                <a:ea typeface="Calibri" pitchFamily="34" charset="-122"/>
                <a:cs typeface="Calibri" pitchFamily="34" charset="-120"/>
              </a:rPr>
              <a:t>Des données prêtes pour l'IA</a:t>
            </a:r>
            <a:endParaRPr lang="en-US" sz="1300" dirty="0"/>
          </a:p>
        </p:txBody>
      </p:sp>
      <p:sp>
        <p:nvSpPr>
          <p:cNvPr id="22" name="Text 19"/>
          <p:cNvSpPr txBox="1"/>
          <p:nvPr/>
        </p:nvSpPr>
        <p:spPr>
          <a:xfrm>
            <a:off x="621792" y="2276856"/>
            <a:ext cx="4754880" cy="164592"/>
          </a:xfrm>
          <a:prstGeom prst="rect">
            <a:avLst/>
          </a:prstGeom>
          <a:noFill/>
          <a:ln/>
        </p:spPr>
        <p:txBody>
          <a:bodyPr wrap="square" lIns="0" tIns="0" rIns="0" bIns="0" rtlCol="0" anchor="ctr"/>
          <a:lstStyle/>
          <a:p>
            <a:pPr indent="0" marL="0">
              <a:buNone/>
            </a:pPr>
            <a:r>
              <a:rPr lang="en-US" sz="850" i="1" dirty="0">
                <a:solidFill>
                  <a:srgbClr val="5E6964"/>
                </a:solidFill>
                <a:latin typeface="Calibri" pitchFamily="34" charset="0"/>
                <a:ea typeface="Calibri" pitchFamily="34" charset="-122"/>
                <a:cs typeface="Calibri" pitchFamily="34" charset="-120"/>
              </a:rPr>
              <a:t>cinq domaines de la guidance du Département du Commerce des États-Unis (2025)</a:t>
            </a:r>
            <a:endParaRPr lang="en-US" sz="850" dirty="0"/>
          </a:p>
        </p:txBody>
      </p:sp>
      <p:pic>
        <p:nvPicPr>
          <p:cNvPr id="23" name="Image 1" descr="preencoded.png">    </p:cNvPr>
          <p:cNvPicPr>
            <a:picLocks noChangeAspect="1"/>
          </p:cNvPicPr>
          <p:nvPr/>
        </p:nvPicPr>
        <p:blipFill>
          <a:blip r:embed="rId2"/>
          <a:stretch>
            <a:fillRect/>
          </a:stretch>
        </p:blipFill>
        <p:spPr>
          <a:xfrm>
            <a:off x="640080" y="2542032"/>
            <a:ext cx="182880" cy="182880"/>
          </a:xfrm>
          <a:prstGeom prst="rect">
            <a:avLst/>
          </a:prstGeom>
        </p:spPr>
      </p:pic>
      <p:sp>
        <p:nvSpPr>
          <p:cNvPr id="24" name="Text 20"/>
          <p:cNvSpPr txBox="1"/>
          <p:nvPr/>
        </p:nvSpPr>
        <p:spPr>
          <a:xfrm>
            <a:off x="932688" y="2487168"/>
            <a:ext cx="4480560" cy="27432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Documentation  </a:t>
            </a:r>
            <a:pPr indent="0" marL="0">
              <a:buNone/>
            </a:pPr>
            <a:r>
              <a:rPr lang="en-US" sz="950" dirty="0">
                <a:solidFill>
                  <a:srgbClr val="5E6964"/>
                </a:solidFill>
                <a:latin typeface="Calibri" pitchFamily="34" charset="0"/>
                <a:ea typeface="Calibri" pitchFamily="34" charset="-122"/>
                <a:cs typeface="Calibri" pitchFamily="34" charset="-120"/>
              </a:rPr>
              <a:t>définitions, méthodes, unités, lisibles par l'humain et la machine</a:t>
            </a:r>
            <a:endParaRPr lang="en-US" sz="1100" dirty="0"/>
          </a:p>
        </p:txBody>
      </p:sp>
      <p:pic>
        <p:nvPicPr>
          <p:cNvPr id="25" name="Image 2" descr="preencoded.png">    </p:cNvPr>
          <p:cNvPicPr>
            <a:picLocks noChangeAspect="1"/>
          </p:cNvPicPr>
          <p:nvPr/>
        </p:nvPicPr>
        <p:blipFill>
          <a:blip r:embed="rId3"/>
          <a:stretch>
            <a:fillRect/>
          </a:stretch>
        </p:blipFill>
        <p:spPr>
          <a:xfrm>
            <a:off x="640080" y="2843784"/>
            <a:ext cx="182880" cy="182880"/>
          </a:xfrm>
          <a:prstGeom prst="rect">
            <a:avLst/>
          </a:prstGeom>
        </p:spPr>
      </p:pic>
      <p:sp>
        <p:nvSpPr>
          <p:cNvPr id="26" name="Text 21"/>
          <p:cNvSpPr txBox="1"/>
          <p:nvPr/>
        </p:nvSpPr>
        <p:spPr>
          <a:xfrm>
            <a:off x="932688" y="2788920"/>
            <a:ext cx="4480560" cy="27432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Formats de données et métadonnées  </a:t>
            </a:r>
            <a:pPr indent="0" marL="0">
              <a:buNone/>
            </a:pPr>
            <a:r>
              <a:rPr lang="en-US" sz="950" dirty="0">
                <a:solidFill>
                  <a:srgbClr val="5E6964"/>
                </a:solidFill>
                <a:latin typeface="Calibri" pitchFamily="34" charset="0"/>
                <a:ea typeface="Calibri" pitchFamily="34" charset="-122"/>
                <a:cs typeface="Calibri" pitchFamily="34" charset="-120"/>
              </a:rPr>
              <a:t>structurés et ouverts : SDMX, CSV, JSON</a:t>
            </a:r>
            <a:endParaRPr lang="en-US" sz="1100" dirty="0"/>
          </a:p>
        </p:txBody>
      </p:sp>
      <p:pic>
        <p:nvPicPr>
          <p:cNvPr id="27" name="Image 3" descr="preencoded.png">    </p:cNvPr>
          <p:cNvPicPr>
            <a:picLocks noChangeAspect="1"/>
          </p:cNvPicPr>
          <p:nvPr/>
        </p:nvPicPr>
        <p:blipFill>
          <a:blip r:embed="rId4"/>
          <a:stretch>
            <a:fillRect/>
          </a:stretch>
        </p:blipFill>
        <p:spPr>
          <a:xfrm>
            <a:off x="640080" y="3145536"/>
            <a:ext cx="182880" cy="182880"/>
          </a:xfrm>
          <a:prstGeom prst="rect">
            <a:avLst/>
          </a:prstGeom>
        </p:spPr>
      </p:pic>
      <p:sp>
        <p:nvSpPr>
          <p:cNvPr id="28" name="Text 22"/>
          <p:cNvSpPr txBox="1"/>
          <p:nvPr/>
        </p:nvSpPr>
        <p:spPr>
          <a:xfrm>
            <a:off x="932688" y="3090672"/>
            <a:ext cx="4480560" cy="27432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Stockage et diffusion  </a:t>
            </a:r>
            <a:pPr indent="0" marL="0">
              <a:buNone/>
            </a:pPr>
            <a:r>
              <a:rPr lang="en-US" sz="950" dirty="0">
                <a:solidFill>
                  <a:srgbClr val="5E6964"/>
                </a:solidFill>
                <a:latin typeface="Calibri" pitchFamily="34" charset="0"/>
                <a:ea typeface="Calibri" pitchFamily="34" charset="-122"/>
                <a:cs typeface="Calibri" pitchFamily="34" charset="-120"/>
              </a:rPr>
              <a:t>API stables, identifiants et URL pérennes</a:t>
            </a:r>
            <a:endParaRPr lang="en-US" sz="1100" dirty="0"/>
          </a:p>
        </p:txBody>
      </p:sp>
      <p:pic>
        <p:nvPicPr>
          <p:cNvPr id="29" name="Image 4" descr="preencoded.png">    </p:cNvPr>
          <p:cNvPicPr>
            <a:picLocks noChangeAspect="1"/>
          </p:cNvPicPr>
          <p:nvPr/>
        </p:nvPicPr>
        <p:blipFill>
          <a:blip r:embed="rId5"/>
          <a:stretch>
            <a:fillRect/>
          </a:stretch>
        </p:blipFill>
        <p:spPr>
          <a:xfrm>
            <a:off x="640080" y="3447288"/>
            <a:ext cx="182880" cy="182880"/>
          </a:xfrm>
          <a:prstGeom prst="rect">
            <a:avLst/>
          </a:prstGeom>
        </p:spPr>
      </p:pic>
      <p:sp>
        <p:nvSpPr>
          <p:cNvPr id="30" name="Text 23"/>
          <p:cNvSpPr txBox="1"/>
          <p:nvPr/>
        </p:nvSpPr>
        <p:spPr>
          <a:xfrm>
            <a:off x="932688" y="3392424"/>
            <a:ext cx="4480560" cy="27432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Licences et conditions d'usage  </a:t>
            </a:r>
            <a:pPr indent="0" marL="0">
              <a:buNone/>
            </a:pPr>
            <a:r>
              <a:rPr lang="en-US" sz="950" dirty="0">
                <a:solidFill>
                  <a:srgbClr val="5E6964"/>
                </a:solidFill>
                <a:latin typeface="Calibri" pitchFamily="34" charset="0"/>
                <a:ea typeface="Calibri" pitchFamily="34" charset="-122"/>
                <a:cs typeface="Calibri" pitchFamily="34" charset="-120"/>
              </a:rPr>
              <a:t>explicites et lisibles par machine</a:t>
            </a:r>
            <a:endParaRPr lang="en-US" sz="1100" dirty="0"/>
          </a:p>
        </p:txBody>
      </p:sp>
      <p:pic>
        <p:nvPicPr>
          <p:cNvPr id="31" name="Image 5" descr="preencoded.png">    </p:cNvPr>
          <p:cNvPicPr>
            <a:picLocks noChangeAspect="1"/>
          </p:cNvPicPr>
          <p:nvPr/>
        </p:nvPicPr>
        <p:blipFill>
          <a:blip r:embed="rId6"/>
          <a:stretch>
            <a:fillRect/>
          </a:stretch>
        </p:blipFill>
        <p:spPr>
          <a:xfrm>
            <a:off x="640080" y="3749040"/>
            <a:ext cx="182880" cy="182880"/>
          </a:xfrm>
          <a:prstGeom prst="rect">
            <a:avLst/>
          </a:prstGeom>
        </p:spPr>
      </p:pic>
      <p:sp>
        <p:nvSpPr>
          <p:cNvPr id="32" name="Text 24"/>
          <p:cNvSpPr txBox="1"/>
          <p:nvPr/>
        </p:nvSpPr>
        <p:spPr>
          <a:xfrm>
            <a:off x="932688" y="3694176"/>
            <a:ext cx="4480560" cy="27432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Intégrité et qualité  </a:t>
            </a:r>
            <a:pPr indent="0" marL="0">
              <a:buNone/>
            </a:pPr>
            <a:r>
              <a:rPr lang="en-US" sz="950" dirty="0">
                <a:solidFill>
                  <a:srgbClr val="5E6964"/>
                </a:solidFill>
                <a:latin typeface="Calibri" pitchFamily="34" charset="0"/>
                <a:ea typeface="Calibri" pitchFamily="34" charset="-122"/>
                <a:cs typeface="Calibri" pitchFamily="34" charset="-120"/>
              </a:rPr>
              <a:t>révisions, dates, indicateurs de qualité</a:t>
            </a:r>
            <a:endParaRPr lang="en-US" sz="1100" dirty="0"/>
          </a:p>
        </p:txBody>
      </p:sp>
      <p:sp>
        <p:nvSpPr>
          <p:cNvPr id="33" name="Shape 25"/>
          <p:cNvSpPr/>
          <p:nvPr/>
        </p:nvSpPr>
        <p:spPr>
          <a:xfrm>
            <a:off x="5669280" y="2011680"/>
            <a:ext cx="3017520" cy="2011680"/>
          </a:xfrm>
          <a:prstGeom prst="roundRect">
            <a:avLst>
              <a:gd name="adj" fmla="val 3636"/>
            </a:avLst>
          </a:prstGeom>
          <a:solidFill>
            <a:srgbClr val="F4F7F5"/>
          </a:solidFill>
          <a:ln w="9525">
            <a:solidFill>
              <a:srgbClr val="D5DED9"/>
            </a:solidFill>
            <a:prstDash val="solid"/>
          </a:ln>
        </p:spPr>
      </p:sp>
      <p:sp>
        <p:nvSpPr>
          <p:cNvPr id="34" name="Text 26"/>
          <p:cNvSpPr txBox="1"/>
          <p:nvPr/>
        </p:nvSpPr>
        <p:spPr>
          <a:xfrm>
            <a:off x="5833872" y="2066544"/>
            <a:ext cx="2743200" cy="420624"/>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Une institution prête</a:t>
            </a:r>
            <a:endParaRPr lang="en-US" sz="1100" dirty="0"/>
          </a:p>
          <a:p>
            <a:pPr indent="0" marL="0">
              <a:buNone/>
            </a:pPr>
            <a:r>
              <a:rPr lang="en-US" sz="850" i="1" dirty="0">
                <a:solidFill>
                  <a:srgbClr val="5E6964"/>
                </a:solidFill>
                <a:latin typeface="Calibri" pitchFamily="34" charset="0"/>
                <a:ea typeface="Calibri" pitchFamily="34" charset="-122"/>
                <a:cs typeface="Calibri" pitchFamily="34" charset="-120"/>
              </a:rPr>
              <a:t>l'autre moitié de la préparation</a:t>
            </a:r>
            <a:endParaRPr lang="en-US" sz="1100" dirty="0"/>
          </a:p>
        </p:txBody>
      </p:sp>
      <p:pic>
        <p:nvPicPr>
          <p:cNvPr id="35" name="Image 6" descr="preencoded.png">    </p:cNvPr>
          <p:cNvPicPr>
            <a:picLocks noChangeAspect="1"/>
          </p:cNvPicPr>
          <p:nvPr/>
        </p:nvPicPr>
        <p:blipFill>
          <a:blip r:embed="rId7"/>
          <a:stretch>
            <a:fillRect/>
          </a:stretch>
        </p:blipFill>
        <p:spPr>
          <a:xfrm>
            <a:off x="5852160" y="2633472"/>
            <a:ext cx="182880" cy="182880"/>
          </a:xfrm>
          <a:prstGeom prst="rect">
            <a:avLst/>
          </a:prstGeom>
        </p:spPr>
      </p:pic>
      <p:sp>
        <p:nvSpPr>
          <p:cNvPr id="36" name="Text 27"/>
          <p:cNvSpPr txBox="1"/>
          <p:nvPr/>
        </p:nvSpPr>
        <p:spPr>
          <a:xfrm>
            <a:off x="6144768" y="2560320"/>
            <a:ext cx="2468880" cy="33832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Gouvernance</a:t>
            </a:r>
            <a:endParaRPr lang="en-US" sz="1100" dirty="0"/>
          </a:p>
          <a:p>
            <a:pPr indent="0" marL="0">
              <a:buNone/>
            </a:pPr>
            <a:r>
              <a:rPr lang="en-US" sz="900" dirty="0">
                <a:solidFill>
                  <a:srgbClr val="5E6964"/>
                </a:solidFill>
                <a:latin typeface="Calibri" pitchFamily="34" charset="0"/>
                <a:ea typeface="Calibri" pitchFamily="34" charset="-122"/>
                <a:cs typeface="Calibri" pitchFamily="34" charset="-120"/>
              </a:rPr>
              <a:t>politique d'usage écrite</a:t>
            </a:r>
            <a:endParaRPr lang="en-US" sz="1100" dirty="0"/>
          </a:p>
        </p:txBody>
      </p:sp>
      <p:pic>
        <p:nvPicPr>
          <p:cNvPr id="37" name="Image 7" descr="preencoded.png">    </p:cNvPr>
          <p:cNvPicPr>
            <a:picLocks noChangeAspect="1"/>
          </p:cNvPicPr>
          <p:nvPr/>
        </p:nvPicPr>
        <p:blipFill>
          <a:blip r:embed="rId8"/>
          <a:stretch>
            <a:fillRect/>
          </a:stretch>
        </p:blipFill>
        <p:spPr>
          <a:xfrm>
            <a:off x="5852160" y="2990088"/>
            <a:ext cx="182880" cy="182880"/>
          </a:xfrm>
          <a:prstGeom prst="rect">
            <a:avLst/>
          </a:prstGeom>
        </p:spPr>
      </p:pic>
      <p:sp>
        <p:nvSpPr>
          <p:cNvPr id="38" name="Text 28"/>
          <p:cNvSpPr txBox="1"/>
          <p:nvPr/>
        </p:nvSpPr>
        <p:spPr>
          <a:xfrm>
            <a:off x="6144768" y="2916936"/>
            <a:ext cx="2468880" cy="33832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Compétences</a:t>
            </a:r>
            <a:endParaRPr lang="en-US" sz="1100" dirty="0"/>
          </a:p>
          <a:p>
            <a:pPr indent="0" marL="0">
              <a:buNone/>
            </a:pPr>
            <a:r>
              <a:rPr lang="en-US" sz="900" dirty="0">
                <a:solidFill>
                  <a:srgbClr val="5E6964"/>
                </a:solidFill>
                <a:latin typeface="Calibri" pitchFamily="34" charset="0"/>
                <a:ea typeface="Calibri" pitchFamily="34" charset="-122"/>
                <a:cs typeface="Calibri" pitchFamily="34" charset="-120"/>
              </a:rPr>
              <a:t>évaluer, pas seulement utiliser</a:t>
            </a:r>
            <a:endParaRPr lang="en-US" sz="1100" dirty="0"/>
          </a:p>
        </p:txBody>
      </p:sp>
      <p:pic>
        <p:nvPicPr>
          <p:cNvPr id="39" name="Image 8" descr="preencoded.png">    </p:cNvPr>
          <p:cNvPicPr>
            <a:picLocks noChangeAspect="1"/>
          </p:cNvPicPr>
          <p:nvPr/>
        </p:nvPicPr>
        <p:blipFill>
          <a:blip r:embed="rId9"/>
          <a:stretch>
            <a:fillRect/>
          </a:stretch>
        </p:blipFill>
        <p:spPr>
          <a:xfrm>
            <a:off x="5852160" y="3346704"/>
            <a:ext cx="182880" cy="182880"/>
          </a:xfrm>
          <a:prstGeom prst="rect">
            <a:avLst/>
          </a:prstGeom>
        </p:spPr>
      </p:pic>
      <p:sp>
        <p:nvSpPr>
          <p:cNvPr id="40" name="Text 29"/>
          <p:cNvSpPr txBox="1"/>
          <p:nvPr/>
        </p:nvSpPr>
        <p:spPr>
          <a:xfrm>
            <a:off x="6144768" y="3273552"/>
            <a:ext cx="2468880" cy="33832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Infrastructure</a:t>
            </a:r>
            <a:endParaRPr lang="en-US" sz="1100" dirty="0"/>
          </a:p>
          <a:p>
            <a:pPr indent="0" marL="0">
              <a:buNone/>
            </a:pPr>
            <a:r>
              <a:rPr lang="en-US" sz="900" dirty="0">
                <a:solidFill>
                  <a:srgbClr val="5E6964"/>
                </a:solidFill>
                <a:latin typeface="Calibri" pitchFamily="34" charset="0"/>
                <a:ea typeface="Calibri" pitchFamily="34" charset="-122"/>
                <a:cs typeface="Calibri" pitchFamily="34" charset="-120"/>
              </a:rPr>
              <a:t>calcul, sécurité, souveraineté</a:t>
            </a:r>
            <a:endParaRPr lang="en-US" sz="1100" dirty="0"/>
          </a:p>
        </p:txBody>
      </p:sp>
      <p:pic>
        <p:nvPicPr>
          <p:cNvPr id="41" name="Image 9" descr="preencoded.png">    </p:cNvPr>
          <p:cNvPicPr>
            <a:picLocks noChangeAspect="1"/>
          </p:cNvPicPr>
          <p:nvPr/>
        </p:nvPicPr>
        <p:blipFill>
          <a:blip r:embed="rId10"/>
          <a:stretch>
            <a:fillRect/>
          </a:stretch>
        </p:blipFill>
        <p:spPr>
          <a:xfrm>
            <a:off x="5852160" y="3703320"/>
            <a:ext cx="182880" cy="182880"/>
          </a:xfrm>
          <a:prstGeom prst="rect">
            <a:avLst/>
          </a:prstGeom>
        </p:spPr>
      </p:pic>
      <p:sp>
        <p:nvSpPr>
          <p:cNvPr id="42" name="Text 30"/>
          <p:cNvSpPr txBox="1"/>
          <p:nvPr/>
        </p:nvSpPr>
        <p:spPr>
          <a:xfrm>
            <a:off x="6144768" y="3630168"/>
            <a:ext cx="2468880" cy="33832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Évaluation</a:t>
            </a:r>
            <a:endParaRPr lang="en-US" sz="1100" dirty="0"/>
          </a:p>
          <a:p>
            <a:pPr indent="0" marL="0">
              <a:buNone/>
            </a:pPr>
            <a:r>
              <a:rPr lang="en-US" sz="900" dirty="0">
                <a:solidFill>
                  <a:srgbClr val="5E6964"/>
                </a:solidFill>
                <a:latin typeface="Calibri" pitchFamily="34" charset="0"/>
                <a:ea typeface="Calibri" pitchFamily="34" charset="-122"/>
                <a:cs typeface="Calibri" pitchFamily="34" charset="-120"/>
              </a:rPr>
              <a:t>tests avant toute adoption</a:t>
            </a:r>
            <a:endParaRPr lang="en-US" sz="1100" dirty="0"/>
          </a:p>
        </p:txBody>
      </p:sp>
      <p:sp>
        <p:nvSpPr>
          <p:cNvPr id="43" name="Shape 31"/>
          <p:cNvSpPr/>
          <p:nvPr/>
        </p:nvSpPr>
        <p:spPr>
          <a:xfrm>
            <a:off x="457200" y="4114800"/>
            <a:ext cx="8229600" cy="457200"/>
          </a:xfrm>
          <a:prstGeom prst="roundRect">
            <a:avLst>
              <a:gd name="adj" fmla="val 16000"/>
            </a:avLst>
          </a:prstGeom>
          <a:solidFill>
            <a:srgbClr val="FBF3DE"/>
          </a:solidFill>
          <a:ln w="15875">
            <a:solidFill>
              <a:srgbClr val="D49A00"/>
            </a:solidFill>
            <a:prstDash val="solid"/>
          </a:ln>
        </p:spPr>
      </p:sp>
      <p:pic>
        <p:nvPicPr>
          <p:cNvPr id="44" name="Image 10" descr="preencoded.png">    </p:cNvPr>
          <p:cNvPicPr>
            <a:picLocks noChangeAspect="1"/>
          </p:cNvPicPr>
          <p:nvPr/>
        </p:nvPicPr>
        <p:blipFill>
          <a:blip r:embed="rId11"/>
          <a:stretch>
            <a:fillRect/>
          </a:stretch>
        </p:blipFill>
        <p:spPr>
          <a:xfrm>
            <a:off x="603504" y="4224528"/>
            <a:ext cx="237744" cy="237744"/>
          </a:xfrm>
          <a:prstGeom prst="rect">
            <a:avLst/>
          </a:prstGeom>
        </p:spPr>
      </p:pic>
      <p:sp>
        <p:nvSpPr>
          <p:cNvPr id="45" name="Text 32"/>
          <p:cNvSpPr txBox="1"/>
          <p:nvPr/>
        </p:nvSpPr>
        <p:spPr>
          <a:xfrm>
            <a:off x="960120" y="4114800"/>
            <a:ext cx="7635240" cy="457200"/>
          </a:xfrm>
          <a:prstGeom prst="rect">
            <a:avLst/>
          </a:prstGeom>
          <a:noFill/>
          <a:ln/>
        </p:spPr>
        <p:txBody>
          <a:bodyPr wrap="square" lIns="0" tIns="0" rIns="0" bIns="0" rtlCol="0" anchor="ctr"/>
          <a:lstStyle/>
          <a:p>
            <a:pPr indent="0" marL="0">
              <a:buNone/>
            </a:pPr>
            <a:r>
              <a:rPr lang="en-US" sz="1050" b="1" dirty="0">
                <a:solidFill>
                  <a:srgbClr val="D49A00"/>
                </a:solidFill>
                <a:latin typeface="Calibri" pitchFamily="34" charset="0"/>
                <a:ea typeface="Calibri" pitchFamily="34" charset="-122"/>
                <a:cs typeface="Calibri" pitchFamily="34" charset="-120"/>
              </a:rPr>
              <a:t>Pourquoi c'est urgent : </a:t>
            </a:r>
            <a:pPr indent="0" marL="0">
              <a:buNone/>
            </a:pPr>
            <a:r>
              <a:rPr lang="en-US" sz="1050" dirty="0">
                <a:solidFill>
                  <a:srgbClr val="231F20"/>
                </a:solidFill>
                <a:latin typeface="Calibri" pitchFamily="34" charset="0"/>
                <a:ea typeface="Calibri" pitchFamily="34" charset="-122"/>
                <a:cs typeface="Calibri" pitchFamily="34" charset="-120"/>
              </a:rPr>
              <a:t>les assistants génériques donnent souvent des chiffres officiels plausibles mais faux. Des données AI Ready leur permettent d'interroger vos API (via RAG ou MCP) au lieu d'inventer.</a:t>
            </a:r>
            <a:endParaRPr lang="en-US" sz="1050" dirty="0"/>
          </a:p>
        </p:txBody>
      </p:sp>
      <p:sp>
        <p:nvSpPr>
          <p:cNvPr id="46" name="Text 33"/>
          <p:cNvSpPr txBox="1"/>
          <p:nvPr/>
        </p:nvSpPr>
        <p:spPr>
          <a:xfrm>
            <a:off x="457200" y="4626864"/>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US Department of Commerce (2025), Generative AI and Open Data · FCSM 25-03 (2025), AI-Ready Federal Statistical Data · FMI (2026), StatGPT.</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Trois couches, huit mots : toute la relation</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6" name="Shape 14"/>
          <p:cNvSpPr/>
          <p:nvPr/>
        </p:nvSpPr>
        <p:spPr>
          <a:xfrm>
            <a:off x="457200" y="1371600"/>
            <a:ext cx="2606040" cy="2487168"/>
          </a:xfrm>
          <a:prstGeom prst="roundRect">
            <a:avLst>
              <a:gd name="adj" fmla="val 2941"/>
            </a:avLst>
          </a:prstGeom>
          <a:solidFill>
            <a:srgbClr val="F4F7F5"/>
          </a:solidFill>
          <a:ln w="9525">
            <a:solidFill>
              <a:srgbClr val="D5DED9"/>
            </a:solidFill>
            <a:prstDash val="solid"/>
          </a:ln>
        </p:spPr>
      </p:sp>
      <p:sp>
        <p:nvSpPr>
          <p:cNvPr id="17" name="Shape 15"/>
          <p:cNvSpPr/>
          <p:nvPr/>
        </p:nvSpPr>
        <p:spPr>
          <a:xfrm>
            <a:off x="1463040" y="1517904"/>
            <a:ext cx="594360" cy="594360"/>
          </a:xfrm>
          <a:prstGeom prst="ellipse">
            <a:avLst/>
          </a:prstGeom>
          <a:solidFill>
            <a:srgbClr val="00704A">
              <a:alpha val="22000"/>
            </a:srgbClr>
          </a:solidFill>
          <a:ln/>
        </p:spPr>
      </p:sp>
      <p:pic>
        <p:nvPicPr>
          <p:cNvPr id="18" name="Image 0" descr="preencoded.png">    </p:cNvPr>
          <p:cNvPicPr>
            <a:picLocks noChangeAspect="1"/>
          </p:cNvPicPr>
          <p:nvPr/>
        </p:nvPicPr>
        <p:blipFill>
          <a:blip r:embed="rId1"/>
          <a:stretch>
            <a:fillRect/>
          </a:stretch>
        </p:blipFill>
        <p:spPr>
          <a:xfrm>
            <a:off x="1605686" y="1660550"/>
            <a:ext cx="309067" cy="309067"/>
          </a:xfrm>
          <a:prstGeom prst="rect">
            <a:avLst/>
          </a:prstGeom>
        </p:spPr>
      </p:pic>
      <p:sp>
        <p:nvSpPr>
          <p:cNvPr id="19" name="Text 16"/>
          <p:cNvSpPr txBox="1"/>
          <p:nvPr/>
        </p:nvSpPr>
        <p:spPr>
          <a:xfrm>
            <a:off x="594360" y="2194560"/>
            <a:ext cx="2331720" cy="320040"/>
          </a:xfrm>
          <a:prstGeom prst="rect">
            <a:avLst/>
          </a:prstGeom>
          <a:noFill/>
          <a:ln/>
        </p:spPr>
        <p:txBody>
          <a:bodyPr wrap="square" lIns="0" tIns="0" rIns="0" bIns="0" rtlCol="0" anchor="t"/>
          <a:lstStyle/>
          <a:p>
            <a:pPr algn="ctr" indent="0" marL="0">
              <a:buNone/>
            </a:pPr>
            <a:r>
              <a:rPr lang="en-US" sz="1500" b="1" dirty="0">
                <a:solidFill>
                  <a:srgbClr val="00704A"/>
                </a:solidFill>
                <a:latin typeface="Calibri" pitchFamily="34" charset="0"/>
                <a:ea typeface="Calibri" pitchFamily="34" charset="-122"/>
                <a:cs typeface="Calibri" pitchFamily="34" charset="-120"/>
              </a:rPr>
              <a:t>Dans le modèle</a:t>
            </a:r>
            <a:endParaRPr lang="en-US" sz="1500" dirty="0"/>
          </a:p>
        </p:txBody>
      </p:sp>
      <p:sp>
        <p:nvSpPr>
          <p:cNvPr id="20" name="Text 17"/>
          <p:cNvSpPr txBox="1"/>
          <p:nvPr/>
        </p:nvSpPr>
        <p:spPr>
          <a:xfrm>
            <a:off x="594360" y="2542032"/>
            <a:ext cx="2331720" cy="228600"/>
          </a:xfrm>
          <a:prstGeom prst="rect">
            <a:avLst/>
          </a:prstGeom>
          <a:noFill/>
          <a:ln/>
        </p:spPr>
        <p:txBody>
          <a:bodyPr wrap="square" lIns="0" tIns="0" rIns="0" bIns="0" rtlCol="0" anchor="t"/>
          <a:lstStyle/>
          <a:p>
            <a:pPr algn="ctr" indent="0" marL="0">
              <a:buNone/>
            </a:pPr>
            <a:r>
              <a:rPr lang="en-US" sz="900" b="1" spc="100" kern="0" dirty="0">
                <a:solidFill>
                  <a:srgbClr val="5E6964"/>
                </a:solidFill>
                <a:latin typeface="Calibri" pitchFamily="34" charset="0"/>
                <a:ea typeface="Calibri" pitchFamily="34" charset="-122"/>
                <a:cs typeface="Calibri" pitchFamily="34" charset="-120"/>
              </a:rPr>
              <a:t>PRÉ-ENTRAÎNEMENT · AFFINAGE</a:t>
            </a:r>
            <a:endParaRPr lang="en-US" sz="900" dirty="0"/>
          </a:p>
        </p:txBody>
      </p:sp>
      <p:sp>
        <p:nvSpPr>
          <p:cNvPr id="21" name="Text 18"/>
          <p:cNvSpPr txBox="1"/>
          <p:nvPr/>
        </p:nvSpPr>
        <p:spPr>
          <a:xfrm>
            <a:off x="658368" y="2834640"/>
            <a:ext cx="2212848" cy="96012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Construisent et ajustent les poids. Permanents, coûteux, incapables de citer une source.</a:t>
            </a:r>
            <a:endParaRPr lang="en-US" sz="1150" dirty="0"/>
          </a:p>
        </p:txBody>
      </p:sp>
      <p:sp>
        <p:nvSpPr>
          <p:cNvPr id="22" name="Shape 19"/>
          <p:cNvSpPr/>
          <p:nvPr/>
        </p:nvSpPr>
        <p:spPr>
          <a:xfrm>
            <a:off x="3268980" y="1371600"/>
            <a:ext cx="2606040" cy="2487168"/>
          </a:xfrm>
          <a:prstGeom prst="roundRect">
            <a:avLst>
              <a:gd name="adj" fmla="val 2941"/>
            </a:avLst>
          </a:prstGeom>
          <a:solidFill>
            <a:srgbClr val="E8F5EF"/>
          </a:solidFill>
          <a:ln w="15875">
            <a:solidFill>
              <a:srgbClr val="D49A00"/>
            </a:solidFill>
            <a:prstDash val="solid"/>
          </a:ln>
        </p:spPr>
      </p:sp>
      <p:sp>
        <p:nvSpPr>
          <p:cNvPr id="23" name="Shape 20"/>
          <p:cNvSpPr/>
          <p:nvPr/>
        </p:nvSpPr>
        <p:spPr>
          <a:xfrm>
            <a:off x="4274820" y="1517904"/>
            <a:ext cx="594360" cy="594360"/>
          </a:xfrm>
          <a:prstGeom prst="ellipse">
            <a:avLst/>
          </a:prstGeom>
          <a:solidFill>
            <a:srgbClr val="D49A00">
              <a:alpha val="22000"/>
            </a:srgbClr>
          </a:solidFill>
          <a:ln/>
        </p:spPr>
      </p:sp>
      <p:pic>
        <p:nvPicPr>
          <p:cNvPr id="24" name="Image 1" descr="preencoded.png">    </p:cNvPr>
          <p:cNvPicPr>
            <a:picLocks noChangeAspect="1"/>
          </p:cNvPicPr>
          <p:nvPr/>
        </p:nvPicPr>
        <p:blipFill>
          <a:blip r:embed="rId2"/>
          <a:stretch>
            <a:fillRect/>
          </a:stretch>
        </p:blipFill>
        <p:spPr>
          <a:xfrm>
            <a:off x="4417466" y="1660550"/>
            <a:ext cx="309067" cy="309067"/>
          </a:xfrm>
          <a:prstGeom prst="rect">
            <a:avLst/>
          </a:prstGeom>
        </p:spPr>
      </p:pic>
      <p:sp>
        <p:nvSpPr>
          <p:cNvPr id="25" name="Text 21"/>
          <p:cNvSpPr txBox="1"/>
          <p:nvPr/>
        </p:nvSpPr>
        <p:spPr>
          <a:xfrm>
            <a:off x="3406140" y="2194560"/>
            <a:ext cx="2331720" cy="320040"/>
          </a:xfrm>
          <a:prstGeom prst="rect">
            <a:avLst/>
          </a:prstGeom>
          <a:noFill/>
          <a:ln/>
        </p:spPr>
        <p:txBody>
          <a:bodyPr wrap="square" lIns="0" tIns="0" rIns="0" bIns="0" rtlCol="0" anchor="t"/>
          <a:lstStyle/>
          <a:p>
            <a:pPr algn="ctr" indent="0" marL="0">
              <a:buNone/>
            </a:pPr>
            <a:r>
              <a:rPr lang="en-US" sz="1500" b="1" dirty="0">
                <a:solidFill>
                  <a:srgbClr val="D49A00"/>
                </a:solidFill>
                <a:latin typeface="Calibri" pitchFamily="34" charset="0"/>
                <a:ea typeface="Calibri" pitchFamily="34" charset="-122"/>
                <a:cs typeface="Calibri" pitchFamily="34" charset="-120"/>
              </a:rPr>
              <a:t>Autour du modèle</a:t>
            </a:r>
            <a:endParaRPr lang="en-US" sz="1500" dirty="0"/>
          </a:p>
        </p:txBody>
      </p:sp>
      <p:sp>
        <p:nvSpPr>
          <p:cNvPr id="26" name="Text 22"/>
          <p:cNvSpPr txBox="1"/>
          <p:nvPr/>
        </p:nvSpPr>
        <p:spPr>
          <a:xfrm>
            <a:off x="3406140" y="2542032"/>
            <a:ext cx="2331720" cy="228600"/>
          </a:xfrm>
          <a:prstGeom prst="rect">
            <a:avLst/>
          </a:prstGeom>
          <a:noFill/>
          <a:ln/>
        </p:spPr>
        <p:txBody>
          <a:bodyPr wrap="square" lIns="0" tIns="0" rIns="0" bIns="0" rtlCol="0" anchor="t"/>
          <a:lstStyle/>
          <a:p>
            <a:pPr algn="ctr" indent="0" marL="0">
              <a:buNone/>
            </a:pPr>
            <a:r>
              <a:rPr lang="en-US" sz="900" b="1" spc="100" kern="0" dirty="0">
                <a:solidFill>
                  <a:srgbClr val="5E6964"/>
                </a:solidFill>
                <a:latin typeface="Calibri" pitchFamily="34" charset="0"/>
                <a:ea typeface="Calibri" pitchFamily="34" charset="-122"/>
                <a:cs typeface="Calibri" pitchFamily="34" charset="-120"/>
              </a:rPr>
              <a:t>REQUÊTE · RAG</a:t>
            </a:r>
            <a:endParaRPr lang="en-US" sz="900" dirty="0"/>
          </a:p>
        </p:txBody>
      </p:sp>
      <p:sp>
        <p:nvSpPr>
          <p:cNvPr id="27" name="Text 23"/>
          <p:cNvSpPr txBox="1"/>
          <p:nvPr/>
        </p:nvSpPr>
        <p:spPr>
          <a:xfrm>
            <a:off x="3470148" y="2834640"/>
            <a:ext cx="2212848" cy="96012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Posent l'instruction et remplissent le contexte de documents retrouvés. Peu coûteux, réversibles, traçables.</a:t>
            </a:r>
            <a:endParaRPr lang="en-US" sz="1150" dirty="0"/>
          </a:p>
        </p:txBody>
      </p:sp>
      <p:sp>
        <p:nvSpPr>
          <p:cNvPr id="28" name="Shape 24"/>
          <p:cNvSpPr/>
          <p:nvPr/>
        </p:nvSpPr>
        <p:spPr>
          <a:xfrm>
            <a:off x="6080760" y="1371600"/>
            <a:ext cx="2606040" cy="2487168"/>
          </a:xfrm>
          <a:prstGeom prst="roundRect">
            <a:avLst>
              <a:gd name="adj" fmla="val 2941"/>
            </a:avLst>
          </a:prstGeom>
          <a:solidFill>
            <a:srgbClr val="F4F7F5"/>
          </a:solidFill>
          <a:ln w="9525">
            <a:solidFill>
              <a:srgbClr val="D5DED9"/>
            </a:solidFill>
            <a:prstDash val="solid"/>
          </a:ln>
        </p:spPr>
      </p:sp>
      <p:sp>
        <p:nvSpPr>
          <p:cNvPr id="29" name="Shape 25"/>
          <p:cNvSpPr/>
          <p:nvPr/>
        </p:nvSpPr>
        <p:spPr>
          <a:xfrm>
            <a:off x="7086600" y="1517904"/>
            <a:ext cx="594360" cy="594360"/>
          </a:xfrm>
          <a:prstGeom prst="ellipse">
            <a:avLst/>
          </a:prstGeom>
          <a:solidFill>
            <a:srgbClr val="C4621D">
              <a:alpha val="22000"/>
            </a:srgbClr>
          </a:solidFill>
          <a:ln/>
        </p:spPr>
      </p:sp>
      <p:pic>
        <p:nvPicPr>
          <p:cNvPr id="30" name="Image 2" descr="preencoded.png">    </p:cNvPr>
          <p:cNvPicPr>
            <a:picLocks noChangeAspect="1"/>
          </p:cNvPicPr>
          <p:nvPr/>
        </p:nvPicPr>
        <p:blipFill>
          <a:blip r:embed="rId3"/>
          <a:stretch>
            <a:fillRect/>
          </a:stretch>
        </p:blipFill>
        <p:spPr>
          <a:xfrm>
            <a:off x="7229246" y="1660550"/>
            <a:ext cx="309067" cy="309067"/>
          </a:xfrm>
          <a:prstGeom prst="rect">
            <a:avLst/>
          </a:prstGeom>
        </p:spPr>
      </p:pic>
      <p:sp>
        <p:nvSpPr>
          <p:cNvPr id="31" name="Text 26"/>
          <p:cNvSpPr txBox="1"/>
          <p:nvPr/>
        </p:nvSpPr>
        <p:spPr>
          <a:xfrm>
            <a:off x="6217920" y="2194560"/>
            <a:ext cx="2331720" cy="320040"/>
          </a:xfrm>
          <a:prstGeom prst="rect">
            <a:avLst/>
          </a:prstGeom>
          <a:noFill/>
          <a:ln/>
        </p:spPr>
        <p:txBody>
          <a:bodyPr wrap="square" lIns="0" tIns="0" rIns="0" bIns="0" rtlCol="0" anchor="t"/>
          <a:lstStyle/>
          <a:p>
            <a:pPr algn="ctr" indent="0" marL="0">
              <a:buNone/>
            </a:pPr>
            <a:r>
              <a:rPr lang="en-US" sz="1500" b="1" dirty="0">
                <a:solidFill>
                  <a:srgbClr val="C4621D"/>
                </a:solidFill>
                <a:latin typeface="Calibri" pitchFamily="34" charset="0"/>
                <a:ea typeface="Calibri" pitchFamily="34" charset="-122"/>
                <a:cs typeface="Calibri" pitchFamily="34" charset="-120"/>
              </a:rPr>
              <a:t>Au-delà du modèle</a:t>
            </a:r>
            <a:endParaRPr lang="en-US" sz="1500" dirty="0"/>
          </a:p>
        </p:txBody>
      </p:sp>
      <p:sp>
        <p:nvSpPr>
          <p:cNvPr id="32" name="Text 27"/>
          <p:cNvSpPr txBox="1"/>
          <p:nvPr/>
        </p:nvSpPr>
        <p:spPr>
          <a:xfrm>
            <a:off x="6217920" y="2542032"/>
            <a:ext cx="2331720" cy="228600"/>
          </a:xfrm>
          <a:prstGeom prst="rect">
            <a:avLst/>
          </a:prstGeom>
          <a:noFill/>
          <a:ln/>
        </p:spPr>
        <p:txBody>
          <a:bodyPr wrap="square" lIns="0" tIns="0" rIns="0" bIns="0" rtlCol="0" anchor="t"/>
          <a:lstStyle/>
          <a:p>
            <a:pPr algn="ctr" indent="0" marL="0">
              <a:buNone/>
            </a:pPr>
            <a:r>
              <a:rPr lang="en-US" sz="900" b="1" spc="100" kern="0" dirty="0">
                <a:solidFill>
                  <a:srgbClr val="5E6964"/>
                </a:solidFill>
                <a:latin typeface="Calibri" pitchFamily="34" charset="0"/>
                <a:ea typeface="Calibri" pitchFamily="34" charset="-122"/>
                <a:cs typeface="Calibri" pitchFamily="34" charset="-120"/>
              </a:rPr>
              <a:t>AGENT · AGENTIQUE · MCP</a:t>
            </a:r>
            <a:endParaRPr lang="en-US" sz="900" dirty="0"/>
          </a:p>
        </p:txBody>
      </p:sp>
      <p:sp>
        <p:nvSpPr>
          <p:cNvPr id="33" name="Text 28"/>
          <p:cNvSpPr txBox="1"/>
          <p:nvPr/>
        </p:nvSpPr>
        <p:spPr>
          <a:xfrm>
            <a:off x="6281928" y="2834640"/>
            <a:ext cx="2212848" cy="96012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Laissent la sortie devenir action via des outils normalisés. Aucun ne rend le modèle plus intelligent.</a:t>
            </a:r>
            <a:endParaRPr lang="en-US" sz="1150" dirty="0"/>
          </a:p>
        </p:txBody>
      </p:sp>
      <p:sp>
        <p:nvSpPr>
          <p:cNvPr id="34" name="Shape 29"/>
          <p:cNvSpPr/>
          <p:nvPr/>
        </p:nvSpPr>
        <p:spPr>
          <a:xfrm>
            <a:off x="457200" y="3986784"/>
            <a:ext cx="8229600" cy="548640"/>
          </a:xfrm>
          <a:prstGeom prst="roundRect">
            <a:avLst>
              <a:gd name="adj" fmla="val 13333"/>
            </a:avLst>
          </a:prstGeom>
          <a:solidFill>
            <a:srgbClr val="FFFFFF"/>
          </a:solidFill>
          <a:ln w="9525">
            <a:solidFill>
              <a:srgbClr val="D5DED9"/>
            </a:solidFill>
            <a:prstDash val="solid"/>
          </a:ln>
        </p:spPr>
      </p:sp>
      <p:sp>
        <p:nvSpPr>
          <p:cNvPr id="35" name="Shape 30"/>
          <p:cNvSpPr/>
          <p:nvPr/>
        </p:nvSpPr>
        <p:spPr>
          <a:xfrm>
            <a:off x="603504" y="4059936"/>
            <a:ext cx="402336" cy="402336"/>
          </a:xfrm>
          <a:prstGeom prst="ellipse">
            <a:avLst/>
          </a:prstGeom>
          <a:solidFill>
            <a:srgbClr val="5E6964">
              <a:alpha val="22000"/>
            </a:srgbClr>
          </a:solidFill>
          <a:ln/>
        </p:spPr>
      </p:sp>
      <p:pic>
        <p:nvPicPr>
          <p:cNvPr id="36" name="Image 3" descr="preencoded.png">    </p:cNvPr>
          <p:cNvPicPr>
            <a:picLocks noChangeAspect="1"/>
          </p:cNvPicPr>
          <p:nvPr/>
        </p:nvPicPr>
        <p:blipFill>
          <a:blip r:embed="rId4"/>
          <a:stretch>
            <a:fillRect/>
          </a:stretch>
        </p:blipFill>
        <p:spPr>
          <a:xfrm>
            <a:off x="700065" y="4156497"/>
            <a:ext cx="209215" cy="209215"/>
          </a:xfrm>
          <a:prstGeom prst="rect">
            <a:avLst/>
          </a:prstGeom>
        </p:spPr>
      </p:pic>
      <p:sp>
        <p:nvSpPr>
          <p:cNvPr id="37" name="Text 31"/>
          <p:cNvSpPr txBox="1"/>
          <p:nvPr/>
        </p:nvSpPr>
        <p:spPr>
          <a:xfrm>
            <a:off x="1143000" y="4023360"/>
            <a:ext cx="7406640"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Et l'AGI ? </a:t>
            </a:r>
            <a:pPr indent="0" marL="0">
              <a:buNone/>
            </a:pPr>
            <a:r>
              <a:rPr lang="en-US" sz="1150" dirty="0">
                <a:solidFill>
                  <a:srgbClr val="231F20"/>
                </a:solidFill>
                <a:latin typeface="Calibri" pitchFamily="34" charset="0"/>
                <a:ea typeface="Calibri" pitchFamily="34" charset="-122"/>
                <a:cs typeface="Calibri" pitchFamily="34" charset="-120"/>
              </a:rPr>
              <a:t>Ni une couche ni un produit : un horizon de recherche dont la définition même reste disputée. Elle n'entre pas dans un cahier des charges.</a:t>
            </a:r>
            <a:endParaRPr lang="en-US" sz="11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L'exposition est large, le rendement est lent</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6" name="Shape 14"/>
          <p:cNvSpPr/>
          <p:nvPr/>
        </p:nvSpPr>
        <p:spPr>
          <a:xfrm>
            <a:off x="457200" y="1371600"/>
            <a:ext cx="3383280" cy="1783080"/>
          </a:xfrm>
          <a:prstGeom prst="roundRect">
            <a:avLst>
              <a:gd name="adj" fmla="val 4103"/>
            </a:avLst>
          </a:prstGeom>
          <a:solidFill>
            <a:srgbClr val="E8F5EF"/>
          </a:solidFill>
          <a:ln w="15875">
            <a:solidFill>
              <a:srgbClr val="00A86A"/>
            </a:solidFill>
            <a:prstDash val="solid"/>
          </a:ln>
        </p:spPr>
      </p:sp>
      <p:sp>
        <p:nvSpPr>
          <p:cNvPr id="17" name="Text 15"/>
          <p:cNvSpPr txBox="1"/>
          <p:nvPr/>
        </p:nvSpPr>
        <p:spPr>
          <a:xfrm>
            <a:off x="640080" y="1444752"/>
            <a:ext cx="2926080" cy="685800"/>
          </a:xfrm>
          <a:prstGeom prst="rect">
            <a:avLst/>
          </a:prstGeom>
          <a:noFill/>
          <a:ln/>
        </p:spPr>
        <p:txBody>
          <a:bodyPr wrap="square" lIns="0" tIns="0" rIns="0" bIns="0" rtlCol="0" anchor="ctr"/>
          <a:lstStyle/>
          <a:p>
            <a:pPr indent="0" marL="0">
              <a:buNone/>
            </a:pPr>
            <a:r>
              <a:rPr lang="en-US" sz="4400" b="1" dirty="0">
                <a:solidFill>
                  <a:srgbClr val="00A86A"/>
                </a:solidFill>
                <a:latin typeface="Calibri" pitchFamily="34" charset="0"/>
                <a:ea typeface="Calibri" pitchFamily="34" charset="-122"/>
                <a:cs typeface="Calibri" pitchFamily="34" charset="-120"/>
              </a:rPr>
              <a:t>80 %</a:t>
            </a:r>
            <a:endParaRPr lang="en-US" sz="4400" dirty="0"/>
          </a:p>
        </p:txBody>
      </p:sp>
      <p:sp>
        <p:nvSpPr>
          <p:cNvPr id="18" name="Text 16"/>
          <p:cNvSpPr txBox="1"/>
          <p:nvPr/>
        </p:nvSpPr>
        <p:spPr>
          <a:xfrm>
            <a:off x="640080" y="2148840"/>
            <a:ext cx="3017520" cy="50292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des travailleurs américains ont au moins 10 % de leurs tâches exposées aux GML.</a:t>
            </a:r>
            <a:endParaRPr lang="en-US" sz="1100" dirty="0"/>
          </a:p>
        </p:txBody>
      </p:sp>
      <p:sp>
        <p:nvSpPr>
          <p:cNvPr id="19" name="Text 17"/>
          <p:cNvSpPr txBox="1"/>
          <p:nvPr/>
        </p:nvSpPr>
        <p:spPr>
          <a:xfrm>
            <a:off x="640080" y="2697480"/>
            <a:ext cx="3017520" cy="274320"/>
          </a:xfrm>
          <a:prstGeom prst="rect">
            <a:avLst/>
          </a:prstGeom>
          <a:noFill/>
          <a:ln/>
        </p:spPr>
        <p:txBody>
          <a:bodyPr wrap="square" lIns="0" tIns="0" rIns="0" bIns="0" rtlCol="0" anchor="t"/>
          <a:lstStyle/>
          <a:p>
            <a:pPr indent="0" marL="0">
              <a:buNone/>
            </a:pPr>
            <a:r>
              <a:rPr lang="en-US" sz="1000" b="1" i="1" dirty="0">
                <a:solidFill>
                  <a:srgbClr val="00704A"/>
                </a:solidFill>
                <a:latin typeface="Calibri" pitchFamily="34" charset="0"/>
                <a:ea typeface="Calibri" pitchFamily="34" charset="-122"/>
                <a:cs typeface="Calibri" pitchFamily="34" charset="-120"/>
              </a:rPr>
              <a:t>Exposition ne veut pas dire remplacement.</a:t>
            </a:r>
            <a:endParaRPr lang="en-US" sz="1000" dirty="0"/>
          </a:p>
        </p:txBody>
      </p:sp>
      <p:graphicFrame>
        <p:nvGraphicFramePr>
          <p:cNvPr id="20" name="Chart 0" descr=""/>
          <p:cNvGraphicFramePr/>
          <p:nvPr/>
        </p:nvGraphicFramePr>
        <p:xfrm>
          <a:off x="4069080" y="1325880"/>
          <a:ext cx="4617720" cy="1874520"/>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457200" y="3310128"/>
            <a:ext cx="2606040" cy="1225296"/>
          </a:xfrm>
          <a:prstGeom prst="roundRect">
            <a:avLst>
              <a:gd name="adj" fmla="val 5970"/>
            </a:avLst>
          </a:prstGeom>
          <a:solidFill>
            <a:srgbClr val="F4F7F5"/>
          </a:solidFill>
          <a:ln w="9525">
            <a:solidFill>
              <a:srgbClr val="D5DED9"/>
            </a:solidFill>
            <a:prstDash val="solid"/>
          </a:ln>
        </p:spPr>
      </p:sp>
      <p:sp>
        <p:nvSpPr>
          <p:cNvPr id="22" name="Shape 19"/>
          <p:cNvSpPr/>
          <p:nvPr/>
        </p:nvSpPr>
        <p:spPr>
          <a:xfrm>
            <a:off x="594360" y="3419856"/>
            <a:ext cx="365760" cy="365760"/>
          </a:xfrm>
          <a:prstGeom prst="ellipse">
            <a:avLst/>
          </a:prstGeom>
          <a:solidFill>
            <a:srgbClr val="00A86A">
              <a:alpha val="22000"/>
            </a:srgbClr>
          </a:solidFill>
          <a:ln/>
        </p:spPr>
      </p:sp>
      <p:pic>
        <p:nvPicPr>
          <p:cNvPr id="23" name="Image 0" descr="preencoded.png">    </p:cNvPr>
          <p:cNvPicPr>
            <a:picLocks noChangeAspect="1"/>
          </p:cNvPicPr>
          <p:nvPr/>
        </p:nvPicPr>
        <p:blipFill>
          <a:blip r:embed="rId2"/>
          <a:stretch>
            <a:fillRect/>
          </a:stretch>
        </p:blipFill>
        <p:spPr>
          <a:xfrm>
            <a:off x="682142" y="3507638"/>
            <a:ext cx="190195" cy="190195"/>
          </a:xfrm>
          <a:prstGeom prst="rect">
            <a:avLst/>
          </a:prstGeom>
        </p:spPr>
      </p:pic>
      <p:sp>
        <p:nvSpPr>
          <p:cNvPr id="24" name="Text 20"/>
          <p:cNvSpPr txBox="1"/>
          <p:nvPr/>
        </p:nvSpPr>
        <p:spPr>
          <a:xfrm>
            <a:off x="1051560" y="3419856"/>
            <a:ext cx="1920240" cy="365760"/>
          </a:xfrm>
          <a:prstGeom prst="rect">
            <a:avLst/>
          </a:prstGeom>
          <a:noFill/>
          <a:ln/>
        </p:spPr>
        <p:txBody>
          <a:bodyPr wrap="square" lIns="0" tIns="0" rIns="0" bIns="0" rtlCol="0" anchor="ctr"/>
          <a:lstStyle/>
          <a:p>
            <a:pPr indent="0" marL="0">
              <a:buNone/>
            </a:pPr>
            <a:r>
              <a:rPr lang="en-US" sz="1200" b="1" dirty="0">
                <a:solidFill>
                  <a:srgbClr val="00A86A"/>
                </a:solidFill>
                <a:latin typeface="Calibri" pitchFamily="34" charset="0"/>
                <a:ea typeface="Calibri" pitchFamily="34" charset="-122"/>
                <a:cs typeface="Calibri" pitchFamily="34" charset="-120"/>
              </a:rPr>
              <a:t>Le quotidien</a:t>
            </a:r>
            <a:endParaRPr lang="en-US" sz="1200" dirty="0"/>
          </a:p>
        </p:txBody>
      </p:sp>
      <p:sp>
        <p:nvSpPr>
          <p:cNvPr id="25" name="Text 21"/>
          <p:cNvSpPr txBox="1"/>
          <p:nvPr/>
        </p:nvSpPr>
        <p:spPr>
          <a:xfrm>
            <a:off x="594360" y="3840480"/>
            <a:ext cx="2359152" cy="65836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Un premier jet ne coûte presque rien ; le jugement qui choisit quel jet garder devient rare.</a:t>
            </a:r>
            <a:endParaRPr lang="en-US" sz="950" dirty="0"/>
          </a:p>
        </p:txBody>
      </p:sp>
      <p:sp>
        <p:nvSpPr>
          <p:cNvPr id="26" name="Shape 22"/>
          <p:cNvSpPr/>
          <p:nvPr/>
        </p:nvSpPr>
        <p:spPr>
          <a:xfrm>
            <a:off x="3268980" y="3310128"/>
            <a:ext cx="2606040" cy="1225296"/>
          </a:xfrm>
          <a:prstGeom prst="roundRect">
            <a:avLst>
              <a:gd name="adj" fmla="val 5970"/>
            </a:avLst>
          </a:prstGeom>
          <a:solidFill>
            <a:srgbClr val="F4F7F5"/>
          </a:solidFill>
          <a:ln w="9525">
            <a:solidFill>
              <a:srgbClr val="D5DED9"/>
            </a:solidFill>
            <a:prstDash val="solid"/>
          </a:ln>
        </p:spPr>
      </p:sp>
      <p:sp>
        <p:nvSpPr>
          <p:cNvPr id="27" name="Shape 23"/>
          <p:cNvSpPr/>
          <p:nvPr/>
        </p:nvSpPr>
        <p:spPr>
          <a:xfrm>
            <a:off x="3406140" y="3419856"/>
            <a:ext cx="365760" cy="365760"/>
          </a:xfrm>
          <a:prstGeom prst="ellipse">
            <a:avLst/>
          </a:prstGeom>
          <a:solidFill>
            <a:srgbClr val="D49A00">
              <a:alpha val="22000"/>
            </a:srgbClr>
          </a:solidFill>
          <a:ln/>
        </p:spPr>
      </p:sp>
      <p:pic>
        <p:nvPicPr>
          <p:cNvPr id="28" name="Image 1" descr="preencoded.png">    </p:cNvPr>
          <p:cNvPicPr>
            <a:picLocks noChangeAspect="1"/>
          </p:cNvPicPr>
          <p:nvPr/>
        </p:nvPicPr>
        <p:blipFill>
          <a:blip r:embed="rId3"/>
          <a:stretch>
            <a:fillRect/>
          </a:stretch>
        </p:blipFill>
        <p:spPr>
          <a:xfrm>
            <a:off x="3493922" y="3507638"/>
            <a:ext cx="190195" cy="190195"/>
          </a:xfrm>
          <a:prstGeom prst="rect">
            <a:avLst/>
          </a:prstGeom>
        </p:spPr>
      </p:pic>
      <p:sp>
        <p:nvSpPr>
          <p:cNvPr id="29" name="Text 24"/>
          <p:cNvSpPr txBox="1"/>
          <p:nvPr/>
        </p:nvSpPr>
        <p:spPr>
          <a:xfrm>
            <a:off x="3863340" y="3419856"/>
            <a:ext cx="1920240" cy="365760"/>
          </a:xfrm>
          <a:prstGeom prst="rect">
            <a:avLst/>
          </a:prstGeom>
          <a:noFill/>
          <a:ln/>
        </p:spPr>
        <p:txBody>
          <a:bodyPr wrap="square" lIns="0" tIns="0" rIns="0" bIns="0" rtlCol="0" anchor="ctr"/>
          <a:lstStyle/>
          <a:p>
            <a:pPr indent="0" marL="0">
              <a:buNone/>
            </a:pPr>
            <a:r>
              <a:rPr lang="en-US" sz="1200" b="1" dirty="0">
                <a:solidFill>
                  <a:srgbClr val="D49A00"/>
                </a:solidFill>
                <a:latin typeface="Calibri" pitchFamily="34" charset="0"/>
                <a:ea typeface="Calibri" pitchFamily="34" charset="-122"/>
                <a:cs typeface="Calibri" pitchFamily="34" charset="-120"/>
              </a:rPr>
              <a:t>Votre bureau</a:t>
            </a:r>
            <a:endParaRPr lang="en-US" sz="1200" dirty="0"/>
          </a:p>
        </p:txBody>
      </p:sp>
      <p:sp>
        <p:nvSpPr>
          <p:cNvPr id="30" name="Text 25"/>
          <p:cNvSpPr txBox="1"/>
          <p:nvPr/>
        </p:nvSpPr>
        <p:spPr>
          <a:xfrm>
            <a:off x="3406140" y="3840480"/>
            <a:ext cx="2359152" cy="65836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Vos équipes utilisent déjà ces outils. Une politique du silence est un usage clandestin.</a:t>
            </a:r>
            <a:endParaRPr lang="en-US" sz="950" dirty="0"/>
          </a:p>
        </p:txBody>
      </p:sp>
      <p:sp>
        <p:nvSpPr>
          <p:cNvPr id="31" name="Shape 26"/>
          <p:cNvSpPr/>
          <p:nvPr/>
        </p:nvSpPr>
        <p:spPr>
          <a:xfrm>
            <a:off x="6080760" y="3310128"/>
            <a:ext cx="2606040" cy="1225296"/>
          </a:xfrm>
          <a:prstGeom prst="roundRect">
            <a:avLst>
              <a:gd name="adj" fmla="val 5970"/>
            </a:avLst>
          </a:prstGeom>
          <a:solidFill>
            <a:srgbClr val="F4F7F5"/>
          </a:solidFill>
          <a:ln w="9525">
            <a:solidFill>
              <a:srgbClr val="D5DED9"/>
            </a:solidFill>
            <a:prstDash val="solid"/>
          </a:ln>
        </p:spPr>
      </p:sp>
      <p:sp>
        <p:nvSpPr>
          <p:cNvPr id="32" name="Shape 27"/>
          <p:cNvSpPr/>
          <p:nvPr/>
        </p:nvSpPr>
        <p:spPr>
          <a:xfrm>
            <a:off x="6217920" y="3419856"/>
            <a:ext cx="365760" cy="365760"/>
          </a:xfrm>
          <a:prstGeom prst="ellipse">
            <a:avLst/>
          </a:prstGeom>
          <a:solidFill>
            <a:srgbClr val="0E7C86">
              <a:alpha val="22000"/>
            </a:srgbClr>
          </a:solidFill>
          <a:ln/>
        </p:spPr>
      </p:sp>
      <p:pic>
        <p:nvPicPr>
          <p:cNvPr id="33" name="Image 2" descr="preencoded.png">    </p:cNvPr>
          <p:cNvPicPr>
            <a:picLocks noChangeAspect="1"/>
          </p:cNvPicPr>
          <p:nvPr/>
        </p:nvPicPr>
        <p:blipFill>
          <a:blip r:embed="rId4"/>
          <a:stretch>
            <a:fillRect/>
          </a:stretch>
        </p:blipFill>
        <p:spPr>
          <a:xfrm>
            <a:off x="6305702" y="3507638"/>
            <a:ext cx="190195" cy="190195"/>
          </a:xfrm>
          <a:prstGeom prst="rect">
            <a:avLst/>
          </a:prstGeom>
        </p:spPr>
      </p:pic>
      <p:sp>
        <p:nvSpPr>
          <p:cNvPr id="34" name="Text 28"/>
          <p:cNvSpPr txBox="1"/>
          <p:nvPr/>
        </p:nvSpPr>
        <p:spPr>
          <a:xfrm>
            <a:off x="6675120" y="3419856"/>
            <a:ext cx="1920240" cy="36576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L'apprentissage</a:t>
            </a:r>
            <a:endParaRPr lang="en-US" sz="1200" dirty="0"/>
          </a:p>
        </p:txBody>
      </p:sp>
      <p:sp>
        <p:nvSpPr>
          <p:cNvPr id="35" name="Text 29"/>
          <p:cNvSpPr txBox="1"/>
          <p:nvPr/>
        </p:nvSpPr>
        <p:spPr>
          <a:xfrm>
            <a:off x="6217920" y="3840480"/>
            <a:ext cx="2359152" cy="65836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Les gains sont plus forts chez les débutants : évaluez le procédé, pas seulement le produit.</a:t>
            </a:r>
            <a:endParaRPr lang="en-US" sz="950" dirty="0"/>
          </a:p>
        </p:txBody>
      </p:sp>
      <p:sp>
        <p:nvSpPr>
          <p:cNvPr id="36" name="Text 30"/>
          <p:cNvSpPr txBox="1"/>
          <p:nvPr/>
        </p:nvSpPr>
        <p:spPr>
          <a:xfrm>
            <a:off x="457200" y="4599432"/>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Eloundou et al. (2024), Science 384 · Brynjolfsson, Rock &amp; Syverson (2021), AEJ: Macro 13(1) · Noy &amp; Zhang (2023) ; Bick et al. (2024) ; Brynjolfsson, Li &amp; Raymond (2025).</a:t>
            </a:r>
            <a:endParaRPr lang="en-US" sz="9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06  ·  POUR LA STATISTIQUE OFFICIELLE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La ligne rouge : aucune couche ne produit un chiffre publié</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6" name="Shape 14"/>
          <p:cNvSpPr/>
          <p:nvPr/>
        </p:nvSpPr>
        <p:spPr>
          <a:xfrm>
            <a:off x="457200" y="1371600"/>
            <a:ext cx="3977640" cy="2514600"/>
          </a:xfrm>
          <a:prstGeom prst="roundRect">
            <a:avLst>
              <a:gd name="adj" fmla="val 2909"/>
            </a:avLst>
          </a:prstGeom>
          <a:solidFill>
            <a:srgbClr val="E8F5EF"/>
          </a:solidFill>
          <a:ln w="15875">
            <a:solidFill>
              <a:srgbClr val="00A86A"/>
            </a:solidFill>
            <a:prstDash val="solid"/>
          </a:ln>
        </p:spPr>
      </p:sp>
      <p:sp>
        <p:nvSpPr>
          <p:cNvPr id="17" name="Text 15"/>
          <p:cNvSpPr txBox="1"/>
          <p:nvPr/>
        </p:nvSpPr>
        <p:spPr>
          <a:xfrm>
            <a:off x="658368" y="1481328"/>
            <a:ext cx="3474720" cy="365760"/>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Ce que l'IA peut faire</a:t>
            </a:r>
            <a:endParaRPr lang="en-US" sz="1500" dirty="0"/>
          </a:p>
        </p:txBody>
      </p:sp>
      <p:sp>
        <p:nvSpPr>
          <p:cNvPr id="18" name="Shape 16"/>
          <p:cNvSpPr/>
          <p:nvPr/>
        </p:nvSpPr>
        <p:spPr>
          <a:xfrm>
            <a:off x="685800" y="1984248"/>
            <a:ext cx="292608" cy="292608"/>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56026" y="2054474"/>
            <a:ext cx="152156" cy="152156"/>
          </a:xfrm>
          <a:prstGeom prst="rect">
            <a:avLst/>
          </a:prstGeom>
        </p:spPr>
      </p:pic>
      <p:sp>
        <p:nvSpPr>
          <p:cNvPr id="20" name="Text 17"/>
          <p:cNvSpPr txBox="1"/>
          <p:nvPr/>
        </p:nvSpPr>
        <p:spPr>
          <a:xfrm>
            <a:off x="1097280" y="1984248"/>
            <a:ext cx="3200400" cy="292608"/>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rédiger le commentaire</a:t>
            </a:r>
            <a:endParaRPr lang="en-US" sz="1150" dirty="0"/>
          </a:p>
        </p:txBody>
      </p:sp>
      <p:sp>
        <p:nvSpPr>
          <p:cNvPr id="21" name="Shape 18"/>
          <p:cNvSpPr/>
          <p:nvPr/>
        </p:nvSpPr>
        <p:spPr>
          <a:xfrm>
            <a:off x="685800" y="2441448"/>
            <a:ext cx="292608" cy="292608"/>
          </a:xfrm>
          <a:prstGeom prst="ellipse">
            <a:avLst/>
          </a:prstGeom>
          <a:solidFill>
            <a:srgbClr val="00A86A">
              <a:alpha val="22000"/>
            </a:srgbClr>
          </a:solidFill>
          <a:ln/>
        </p:spPr>
      </p:sp>
      <p:pic>
        <p:nvPicPr>
          <p:cNvPr id="22" name="Image 1" descr="preencoded.png">    </p:cNvPr>
          <p:cNvPicPr>
            <a:picLocks noChangeAspect="1"/>
          </p:cNvPicPr>
          <p:nvPr/>
        </p:nvPicPr>
        <p:blipFill>
          <a:blip r:embed="rId2"/>
          <a:stretch>
            <a:fillRect/>
          </a:stretch>
        </p:blipFill>
        <p:spPr>
          <a:xfrm>
            <a:off x="756026" y="2511674"/>
            <a:ext cx="152156" cy="152156"/>
          </a:xfrm>
          <a:prstGeom prst="rect">
            <a:avLst/>
          </a:prstGeom>
        </p:spPr>
      </p:pic>
      <p:sp>
        <p:nvSpPr>
          <p:cNvPr id="23" name="Text 19"/>
          <p:cNvSpPr txBox="1"/>
          <p:nvPr/>
        </p:nvSpPr>
        <p:spPr>
          <a:xfrm>
            <a:off x="1097280" y="2441448"/>
            <a:ext cx="3200400" cy="292608"/>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retrouver le document de méthode</a:t>
            </a:r>
            <a:endParaRPr lang="en-US" sz="1150" dirty="0"/>
          </a:p>
        </p:txBody>
      </p:sp>
      <p:sp>
        <p:nvSpPr>
          <p:cNvPr id="24" name="Shape 20"/>
          <p:cNvSpPr/>
          <p:nvPr/>
        </p:nvSpPr>
        <p:spPr>
          <a:xfrm>
            <a:off x="685800" y="2898648"/>
            <a:ext cx="292608" cy="292608"/>
          </a:xfrm>
          <a:prstGeom prst="ellipse">
            <a:avLst/>
          </a:prstGeom>
          <a:solidFill>
            <a:srgbClr val="00A86A">
              <a:alpha val="22000"/>
            </a:srgbClr>
          </a:solidFill>
          <a:ln/>
        </p:spPr>
      </p:sp>
      <p:pic>
        <p:nvPicPr>
          <p:cNvPr id="25" name="Image 2" descr="preencoded.png">    </p:cNvPr>
          <p:cNvPicPr>
            <a:picLocks noChangeAspect="1"/>
          </p:cNvPicPr>
          <p:nvPr/>
        </p:nvPicPr>
        <p:blipFill>
          <a:blip r:embed="rId3"/>
          <a:stretch>
            <a:fillRect/>
          </a:stretch>
        </p:blipFill>
        <p:spPr>
          <a:xfrm>
            <a:off x="756026" y="2968874"/>
            <a:ext cx="152156" cy="152156"/>
          </a:xfrm>
          <a:prstGeom prst="rect">
            <a:avLst/>
          </a:prstGeom>
        </p:spPr>
      </p:pic>
      <p:sp>
        <p:nvSpPr>
          <p:cNvPr id="26" name="Text 21"/>
          <p:cNvSpPr txBox="1"/>
          <p:nvPr/>
        </p:nvSpPr>
        <p:spPr>
          <a:xfrm>
            <a:off x="1097280" y="2898648"/>
            <a:ext cx="3200400" cy="292608"/>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proposer un code qu'un agent confirmera</a:t>
            </a:r>
            <a:endParaRPr lang="en-US" sz="1150" dirty="0"/>
          </a:p>
        </p:txBody>
      </p:sp>
      <p:sp>
        <p:nvSpPr>
          <p:cNvPr id="27" name="Shape 22"/>
          <p:cNvSpPr/>
          <p:nvPr/>
        </p:nvSpPr>
        <p:spPr>
          <a:xfrm>
            <a:off x="685800" y="3355848"/>
            <a:ext cx="292608" cy="292608"/>
          </a:xfrm>
          <a:prstGeom prst="ellipse">
            <a:avLst/>
          </a:prstGeom>
          <a:solidFill>
            <a:srgbClr val="00A86A">
              <a:alpha val="22000"/>
            </a:srgbClr>
          </a:solidFill>
          <a:ln/>
        </p:spPr>
      </p:sp>
      <p:pic>
        <p:nvPicPr>
          <p:cNvPr id="28" name="Image 3" descr="preencoded.png">    </p:cNvPr>
          <p:cNvPicPr>
            <a:picLocks noChangeAspect="1"/>
          </p:cNvPicPr>
          <p:nvPr/>
        </p:nvPicPr>
        <p:blipFill>
          <a:blip r:embed="rId4"/>
          <a:stretch>
            <a:fillRect/>
          </a:stretch>
        </p:blipFill>
        <p:spPr>
          <a:xfrm>
            <a:off x="756026" y="3426074"/>
            <a:ext cx="152156" cy="152156"/>
          </a:xfrm>
          <a:prstGeom prst="rect">
            <a:avLst/>
          </a:prstGeom>
        </p:spPr>
      </p:pic>
      <p:sp>
        <p:nvSpPr>
          <p:cNvPr id="29" name="Text 23"/>
          <p:cNvSpPr txBox="1"/>
          <p:nvPr/>
        </p:nvSpPr>
        <p:spPr>
          <a:xfrm>
            <a:off x="1097280" y="3355848"/>
            <a:ext cx="3200400" cy="292608"/>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expliquer une méthode à un collègue</a:t>
            </a:r>
            <a:endParaRPr lang="en-US" sz="1150" dirty="0"/>
          </a:p>
        </p:txBody>
      </p:sp>
      <p:sp>
        <p:nvSpPr>
          <p:cNvPr id="30" name="Shape 24"/>
          <p:cNvSpPr/>
          <p:nvPr/>
        </p:nvSpPr>
        <p:spPr>
          <a:xfrm>
            <a:off x="4709160" y="1371600"/>
            <a:ext cx="3977640" cy="2514600"/>
          </a:xfrm>
          <a:prstGeom prst="roundRect">
            <a:avLst>
              <a:gd name="adj" fmla="val 2909"/>
            </a:avLst>
          </a:prstGeom>
          <a:solidFill>
            <a:srgbClr val="F9ECEA"/>
          </a:solidFill>
          <a:ln w="19050">
            <a:solidFill>
              <a:srgbClr val="B83B2E"/>
            </a:solidFill>
            <a:prstDash val="solid"/>
          </a:ln>
        </p:spPr>
      </p:sp>
      <p:sp>
        <p:nvSpPr>
          <p:cNvPr id="31" name="Shape 25"/>
          <p:cNvSpPr/>
          <p:nvPr/>
        </p:nvSpPr>
        <p:spPr>
          <a:xfrm>
            <a:off x="4910328" y="1481328"/>
            <a:ext cx="502920" cy="502920"/>
          </a:xfrm>
          <a:prstGeom prst="ellipse">
            <a:avLst/>
          </a:prstGeom>
          <a:solidFill>
            <a:srgbClr val="B83B2E">
              <a:alpha val="22000"/>
            </a:srgbClr>
          </a:solidFill>
          <a:ln/>
        </p:spPr>
      </p:sp>
      <p:pic>
        <p:nvPicPr>
          <p:cNvPr id="32" name="Image 4" descr="preencoded.png">    </p:cNvPr>
          <p:cNvPicPr>
            <a:picLocks noChangeAspect="1"/>
          </p:cNvPicPr>
          <p:nvPr/>
        </p:nvPicPr>
        <p:blipFill>
          <a:blip r:embed="rId5"/>
          <a:stretch>
            <a:fillRect/>
          </a:stretch>
        </p:blipFill>
        <p:spPr>
          <a:xfrm>
            <a:off x="5031029" y="1602029"/>
            <a:ext cx="261518" cy="261518"/>
          </a:xfrm>
          <a:prstGeom prst="rect">
            <a:avLst/>
          </a:prstGeom>
        </p:spPr>
      </p:pic>
      <p:sp>
        <p:nvSpPr>
          <p:cNvPr id="33" name="Text 26"/>
          <p:cNvSpPr txBox="1"/>
          <p:nvPr/>
        </p:nvSpPr>
        <p:spPr>
          <a:xfrm>
            <a:off x="5532120" y="1481328"/>
            <a:ext cx="3017520" cy="502920"/>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Ce qui reste à l'estimateur</a:t>
            </a:r>
            <a:endParaRPr lang="en-US" sz="1500" dirty="0"/>
          </a:p>
        </p:txBody>
      </p:sp>
      <p:sp>
        <p:nvSpPr>
          <p:cNvPr id="34" name="Text 27"/>
          <p:cNvSpPr txBox="1"/>
          <p:nvPr/>
        </p:nvSpPr>
        <p:spPr>
          <a:xfrm>
            <a:off x="4910328" y="2121408"/>
            <a:ext cx="3611880" cy="164592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Le chiffre publié provient d'un estimateur que vous pouvez </a:t>
            </a:r>
            <a:pPr indent="0" marL="0">
              <a:buNone/>
            </a:pPr>
            <a:r>
              <a:rPr lang="en-US" sz="1150" b="1" dirty="0">
                <a:solidFill>
                  <a:srgbClr val="231F20"/>
                </a:solidFill>
                <a:latin typeface="Calibri" pitchFamily="34" charset="0"/>
                <a:ea typeface="Calibri" pitchFamily="34" charset="-122"/>
                <a:cs typeface="Calibri" pitchFamily="34" charset="-120"/>
              </a:rPr>
              <a:t>écrire, reproduire et défendre</a:t>
            </a:r>
            <a:pPr indent="0" marL="0">
              <a:buNone/>
            </a:pPr>
            <a:r>
              <a:rPr lang="en-US" sz="1150" dirty="0">
                <a:solidFill>
                  <a:srgbClr val="231F20"/>
                </a:solidFill>
                <a:latin typeface="Calibri" pitchFamily="34" charset="0"/>
                <a:ea typeface="Calibri" pitchFamily="34" charset="-122"/>
                <a:cs typeface="Calibri" pitchFamily="34" charset="-120"/>
              </a:rPr>
              <a:t> devant un utilisateur qui le conteste.</a:t>
            </a:r>
            <a:endParaRPr lang="en-US" sz="1150" dirty="0"/>
          </a:p>
          <a:p>
            <a:pPr indent="0" marL="0">
              <a:buNone/>
            </a:pPr>
            <a:r>
              <a:rPr lang="en-US" sz="600" dirty="0">
                <a:solidFill>
                  <a:srgbClr val="231F20"/>
                </a:solidFill>
                <a:latin typeface="Calibri" pitchFamily="34" charset="0"/>
                <a:ea typeface="Calibri" pitchFamily="34" charset="-122"/>
                <a:cs typeface="Calibri" pitchFamily="34" charset="-120"/>
              </a:rPr>
              <a:t> </a:t>
            </a:r>
            <a:endParaRPr lang="en-US" sz="1150" dirty="0"/>
          </a:p>
          <a:p>
            <a:pPr indent="0" marL="0">
              <a:buNone/>
            </a:pPr>
            <a:r>
              <a:rPr lang="en-US" sz="1150" dirty="0">
                <a:solidFill>
                  <a:srgbClr val="5E6964"/>
                </a:solidFill>
                <a:latin typeface="Calibri" pitchFamily="34" charset="0"/>
                <a:ea typeface="Calibri" pitchFamily="34" charset="-122"/>
                <a:cs typeface="Calibri" pitchFamily="34" charset="-120"/>
              </a:rPr>
              <a:t>Cette obligation est antérieure à ces technologies et n'est pas modifiée par elles — même quand un agent irait plus vite.</a:t>
            </a:r>
            <a:endParaRPr lang="en-US" sz="1150" dirty="0"/>
          </a:p>
        </p:txBody>
      </p:sp>
      <p:pic>
        <p:nvPicPr>
          <p:cNvPr id="35" name="Image 5" descr="preencoded.png">    </p:cNvPr>
          <p:cNvPicPr>
            <a:picLocks noChangeAspect="1"/>
          </p:cNvPicPr>
          <p:nvPr/>
        </p:nvPicPr>
        <p:blipFill>
          <a:blip r:embed="rId6"/>
          <a:stretch>
            <a:fillRect/>
          </a:stretch>
        </p:blipFill>
        <p:spPr>
          <a:xfrm>
            <a:off x="457200" y="4160520"/>
            <a:ext cx="256032" cy="256032"/>
          </a:xfrm>
          <a:prstGeom prst="rect">
            <a:avLst/>
          </a:prstGeom>
        </p:spPr>
      </p:pic>
      <p:sp>
        <p:nvSpPr>
          <p:cNvPr id="36" name="Text 28"/>
          <p:cNvSpPr txBox="1"/>
          <p:nvPr/>
        </p:nvSpPr>
        <p:spPr>
          <a:xfrm>
            <a:off x="868680" y="4041648"/>
            <a:ext cx="7818120" cy="493776"/>
          </a:xfrm>
          <a:prstGeom prst="rect">
            <a:avLst/>
          </a:prstGeom>
          <a:noFill/>
          <a:ln/>
        </p:spPr>
        <p:txBody>
          <a:bodyPr wrap="square" lIns="0" tIns="0" rIns="0" bIns="0" rtlCol="0" anchor="ctr"/>
          <a:lstStyle/>
          <a:p>
            <a:pPr indent="0" marL="0">
              <a:buNone/>
            </a:pPr>
            <a:r>
              <a:rPr lang="en-US" sz="1300" i="1" dirty="0">
                <a:solidFill>
                  <a:srgbClr val="00704A"/>
                </a:solidFill>
                <a:latin typeface="Calibri" pitchFamily="34" charset="0"/>
                <a:ea typeface="Calibri" pitchFamily="34" charset="-122"/>
                <a:cs typeface="Calibri" pitchFamily="34" charset="-120"/>
              </a:rPr>
              <a:t>Une statistique que personne ne peut reconstruire n'est pas une statistique officielle, si proche du vrai soit-elle.</a:t>
            </a:r>
            <a:endParaRPr lang="en-US" sz="1300" dirty="0"/>
          </a:p>
        </p:txBody>
      </p:sp>
      <p:sp>
        <p:nvSpPr>
          <p:cNvPr id="37" name="Text 29"/>
          <p:cNvSpPr txBox="1"/>
          <p:nvPr/>
        </p:nvSpPr>
        <p:spPr>
          <a:xfrm>
            <a:off x="457200" y="4590288"/>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Principes fondamentaux de la statistique officielle des Nations unies, principe 2 — résolution 68/261 de l'Assemblée générale (2014).</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LA SUITE DU JOUR 1</a:t>
            </a:r>
            <a:endParaRPr lang="en-US" sz="1050" dirty="0"/>
          </a:p>
        </p:txBody>
      </p:sp>
      <p:sp>
        <p:nvSpPr>
          <p:cNvPr id="3" name="Text 1"/>
          <p:cNvSpPr txBox="1"/>
          <p:nvPr/>
        </p:nvSpPr>
        <p:spPr>
          <a:xfrm>
            <a:off x="548640" y="960120"/>
            <a:ext cx="8138160" cy="7772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À 10h30, vous construirez la colonne du milieu.</a:t>
            </a:r>
            <a:endParaRPr lang="en-US" sz="3000" dirty="0"/>
          </a:p>
        </p:txBody>
      </p:sp>
      <p:sp>
        <p:nvSpPr>
          <p:cNvPr id="4" name="Text 2"/>
          <p:cNvSpPr txBox="1"/>
          <p:nvPr/>
        </p:nvSpPr>
        <p:spPr>
          <a:xfrm>
            <a:off x="548640" y="1783080"/>
            <a:ext cx="6858000" cy="45720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Le RAG est le seul montage de cette pile qui oblige un modèle à montrer d'où vient sa réponse.</a:t>
            </a:r>
            <a:endParaRPr lang="en-US" sz="1600" dirty="0"/>
          </a:p>
        </p:txBody>
      </p:sp>
      <p:sp>
        <p:nvSpPr>
          <p:cNvPr id="5" name="Shape 3"/>
          <p:cNvSpPr/>
          <p:nvPr/>
        </p:nvSpPr>
        <p:spPr>
          <a:xfrm>
            <a:off x="548640" y="2514600"/>
            <a:ext cx="2514600" cy="1143000"/>
          </a:xfrm>
          <a:prstGeom prst="roundRect">
            <a:avLst>
              <a:gd name="adj" fmla="val 6400"/>
            </a:avLst>
          </a:prstGeom>
          <a:solidFill>
            <a:srgbClr val="FFFFFF">
              <a:alpha val="12000"/>
            </a:srgbClr>
          </a:solidFill>
          <a:ln w="9525">
            <a:solidFill>
              <a:srgbClr val="FFFFFF">
                <a:alpha val="50000"/>
              </a:srgbClr>
            </a:solidFill>
            <a:prstDash val="solid"/>
          </a:ln>
        </p:spPr>
      </p:sp>
      <p:pic>
        <p:nvPicPr>
          <p:cNvPr id="6" name="Image 0" descr="preencoded.png">    </p:cNvPr>
          <p:cNvPicPr>
            <a:picLocks noChangeAspect="1"/>
          </p:cNvPicPr>
          <p:nvPr/>
        </p:nvPicPr>
        <p:blipFill>
          <a:blip r:embed="rId2"/>
          <a:stretch>
            <a:fillRect/>
          </a:stretch>
        </p:blipFill>
        <p:spPr>
          <a:xfrm>
            <a:off x="713232" y="2670048"/>
            <a:ext cx="310896" cy="310896"/>
          </a:xfrm>
          <a:prstGeom prst="rect">
            <a:avLst/>
          </a:prstGeom>
        </p:spPr>
      </p:pic>
      <p:sp>
        <p:nvSpPr>
          <p:cNvPr id="7" name="Text 4"/>
          <p:cNvSpPr txBox="1"/>
          <p:nvPr/>
        </p:nvSpPr>
        <p:spPr>
          <a:xfrm>
            <a:off x="1115568" y="2651760"/>
            <a:ext cx="1737360" cy="347472"/>
          </a:xfrm>
          <a:prstGeom prst="rect">
            <a:avLst/>
          </a:prstGeom>
          <a:noFill/>
          <a:ln/>
        </p:spPr>
        <p:txBody>
          <a:bodyPr wrap="square" lIns="0" tIns="0" rIns="0" bIns="0" rtlCol="0" anchor="ctr"/>
          <a:lstStyle/>
          <a:p>
            <a:pPr indent="0" marL="0">
              <a:buNone/>
            </a:pPr>
            <a:r>
              <a:rPr lang="en-US" sz="2000" b="1" dirty="0">
                <a:solidFill>
                  <a:srgbClr val="F5C242"/>
                </a:solidFill>
                <a:latin typeface="Calibri" pitchFamily="34" charset="0"/>
                <a:ea typeface="Calibri" pitchFamily="34" charset="-122"/>
                <a:cs typeface="Calibri" pitchFamily="34" charset="-120"/>
              </a:rPr>
              <a:t>10h30</a:t>
            </a:r>
            <a:endParaRPr lang="en-US" sz="2000" dirty="0"/>
          </a:p>
        </p:txBody>
      </p:sp>
      <p:sp>
        <p:nvSpPr>
          <p:cNvPr id="8" name="Text 5"/>
          <p:cNvSpPr txBox="1"/>
          <p:nvPr/>
        </p:nvSpPr>
        <p:spPr>
          <a:xfrm>
            <a:off x="713232" y="3063240"/>
            <a:ext cx="2240280" cy="548640"/>
          </a:xfrm>
          <a:prstGeom prst="rect">
            <a:avLst/>
          </a:prstGeom>
          <a:noFill/>
          <a:ln/>
        </p:spPr>
        <p:txBody>
          <a:bodyPr wrap="square" lIns="0" tIns="0" rIns="0" bIns="0" rtlCol="0" anchor="t"/>
          <a:lstStyle/>
          <a:p>
            <a:pPr indent="0" marL="0">
              <a:buNone/>
            </a:pPr>
            <a:r>
              <a:rPr lang="en-US" sz="850" b="1" spc="200" kern="0" dirty="0">
                <a:solidFill>
                  <a:srgbClr val="E6F6EE"/>
                </a:solidFill>
                <a:latin typeface="Calibri" pitchFamily="34" charset="0"/>
                <a:ea typeface="Calibri" pitchFamily="34" charset="-122"/>
                <a:cs typeface="Calibri" pitchFamily="34" charset="-120"/>
              </a:rPr>
              <a:t>ATELIER PRATIQUE</a:t>
            </a:r>
            <a:endParaRPr lang="en-US" sz="1100" dirty="0"/>
          </a:p>
          <a:p>
            <a:pPr indent="0" marL="0">
              <a:buNone/>
            </a:pPr>
            <a:r>
              <a:rPr lang="en-US" sz="1150" b="1" dirty="0">
                <a:solidFill>
                  <a:srgbClr val="FFFFFF"/>
                </a:solidFill>
                <a:latin typeface="Calibri" pitchFamily="34" charset="0"/>
                <a:ea typeface="Calibri" pitchFamily="34" charset="-122"/>
                <a:cs typeface="Calibri" pitchFamily="34" charset="-120"/>
              </a:rPr>
              <a:t>Génération augmentée par recherche (RAG)</a:t>
            </a:r>
            <a:endParaRPr lang="en-US" sz="1100" dirty="0"/>
          </a:p>
        </p:txBody>
      </p:sp>
      <p:sp>
        <p:nvSpPr>
          <p:cNvPr id="9" name="Shape 6"/>
          <p:cNvSpPr/>
          <p:nvPr/>
        </p:nvSpPr>
        <p:spPr>
          <a:xfrm>
            <a:off x="3246120" y="2514600"/>
            <a:ext cx="2514600" cy="1143000"/>
          </a:xfrm>
          <a:prstGeom prst="roundRect">
            <a:avLst>
              <a:gd name="adj" fmla="val 6400"/>
            </a:avLst>
          </a:prstGeom>
          <a:solidFill>
            <a:srgbClr val="FFFFFF">
              <a:alpha val="12000"/>
            </a:srgbClr>
          </a:solidFill>
          <a:ln w="9525">
            <a:solidFill>
              <a:srgbClr val="FFFFFF">
                <a:alpha val="50000"/>
              </a:srgbClr>
            </a:solidFill>
            <a:prstDash val="solid"/>
          </a:ln>
        </p:spPr>
      </p:sp>
      <p:pic>
        <p:nvPicPr>
          <p:cNvPr id="10" name="Image 1" descr="preencoded.png">    </p:cNvPr>
          <p:cNvPicPr>
            <a:picLocks noChangeAspect="1"/>
          </p:cNvPicPr>
          <p:nvPr/>
        </p:nvPicPr>
        <p:blipFill>
          <a:blip r:embed="rId3"/>
          <a:stretch>
            <a:fillRect/>
          </a:stretch>
        </p:blipFill>
        <p:spPr>
          <a:xfrm>
            <a:off x="3410712" y="2670048"/>
            <a:ext cx="310896" cy="310896"/>
          </a:xfrm>
          <a:prstGeom prst="rect">
            <a:avLst/>
          </a:prstGeom>
        </p:spPr>
      </p:pic>
      <p:sp>
        <p:nvSpPr>
          <p:cNvPr id="11" name="Text 7"/>
          <p:cNvSpPr txBox="1"/>
          <p:nvPr/>
        </p:nvSpPr>
        <p:spPr>
          <a:xfrm>
            <a:off x="3813048" y="2651760"/>
            <a:ext cx="1737360" cy="347472"/>
          </a:xfrm>
          <a:prstGeom prst="rect">
            <a:avLst/>
          </a:prstGeom>
          <a:noFill/>
          <a:ln/>
        </p:spPr>
        <p:txBody>
          <a:bodyPr wrap="square" lIns="0" tIns="0" rIns="0" bIns="0" rtlCol="0" anchor="ctr"/>
          <a:lstStyle/>
          <a:p>
            <a:pPr indent="0" marL="0">
              <a:buNone/>
            </a:pPr>
            <a:r>
              <a:rPr lang="en-US" sz="2000" b="1" dirty="0">
                <a:solidFill>
                  <a:srgbClr val="F5C242"/>
                </a:solidFill>
                <a:latin typeface="Calibri" pitchFamily="34" charset="0"/>
                <a:ea typeface="Calibri" pitchFamily="34" charset="-122"/>
                <a:cs typeface="Calibri" pitchFamily="34" charset="-120"/>
              </a:rPr>
              <a:t>13h30</a:t>
            </a:r>
            <a:endParaRPr lang="en-US" sz="2000" dirty="0"/>
          </a:p>
        </p:txBody>
      </p:sp>
      <p:sp>
        <p:nvSpPr>
          <p:cNvPr id="12" name="Text 8"/>
          <p:cNvSpPr txBox="1"/>
          <p:nvPr/>
        </p:nvSpPr>
        <p:spPr>
          <a:xfrm>
            <a:off x="3410712" y="3063240"/>
            <a:ext cx="2240280" cy="548640"/>
          </a:xfrm>
          <a:prstGeom prst="rect">
            <a:avLst/>
          </a:prstGeom>
          <a:noFill/>
          <a:ln/>
        </p:spPr>
        <p:txBody>
          <a:bodyPr wrap="square" lIns="0" tIns="0" rIns="0" bIns="0" rtlCol="0" anchor="t"/>
          <a:lstStyle/>
          <a:p>
            <a:pPr indent="0" marL="0">
              <a:buNone/>
            </a:pPr>
            <a:r>
              <a:rPr lang="en-US" sz="850" b="1" spc="200" kern="0" dirty="0">
                <a:solidFill>
                  <a:srgbClr val="E6F6EE"/>
                </a:solidFill>
                <a:latin typeface="Calibri" pitchFamily="34" charset="0"/>
                <a:ea typeface="Calibri" pitchFamily="34" charset="-122"/>
                <a:cs typeface="Calibri" pitchFamily="34" charset="-120"/>
              </a:rPr>
              <a:t>EXPOSÉ</a:t>
            </a:r>
            <a:endParaRPr lang="en-US" sz="1100" dirty="0"/>
          </a:p>
          <a:p>
            <a:pPr indent="0" marL="0">
              <a:buNone/>
            </a:pPr>
            <a:r>
              <a:rPr lang="en-US" sz="1150" b="1" dirty="0">
                <a:solidFill>
                  <a:srgbClr val="FFFFFF"/>
                </a:solidFill>
                <a:latin typeface="Calibri" pitchFamily="34" charset="0"/>
                <a:ea typeface="Calibri" pitchFamily="34" charset="-122"/>
                <a:cs typeface="Calibri" pitchFamily="34" charset="-120"/>
              </a:rPr>
              <a:t>Infrastructure de l'IA : ce qu'il faut réellement</a:t>
            </a:r>
            <a:endParaRPr lang="en-US" sz="1100" dirty="0"/>
          </a:p>
        </p:txBody>
      </p:sp>
      <p:sp>
        <p:nvSpPr>
          <p:cNvPr id="13" name="Shape 9"/>
          <p:cNvSpPr/>
          <p:nvPr/>
        </p:nvSpPr>
        <p:spPr>
          <a:xfrm>
            <a:off x="5943600" y="2514600"/>
            <a:ext cx="2514600" cy="1143000"/>
          </a:xfrm>
          <a:prstGeom prst="roundRect">
            <a:avLst>
              <a:gd name="adj" fmla="val 6400"/>
            </a:avLst>
          </a:prstGeom>
          <a:solidFill>
            <a:srgbClr val="FFFFFF">
              <a:alpha val="12000"/>
            </a:srgbClr>
          </a:solidFill>
          <a:ln w="9525">
            <a:solidFill>
              <a:srgbClr val="FFFFFF">
                <a:alpha val="50000"/>
              </a:srgbClr>
            </a:solidFill>
            <a:prstDash val="solid"/>
          </a:ln>
        </p:spPr>
      </p:sp>
      <p:pic>
        <p:nvPicPr>
          <p:cNvPr id="14" name="Image 2" descr="preencoded.png">    </p:cNvPr>
          <p:cNvPicPr>
            <a:picLocks noChangeAspect="1"/>
          </p:cNvPicPr>
          <p:nvPr/>
        </p:nvPicPr>
        <p:blipFill>
          <a:blip r:embed="rId4"/>
          <a:stretch>
            <a:fillRect/>
          </a:stretch>
        </p:blipFill>
        <p:spPr>
          <a:xfrm>
            <a:off x="6108192" y="2670048"/>
            <a:ext cx="310896" cy="310896"/>
          </a:xfrm>
          <a:prstGeom prst="rect">
            <a:avLst/>
          </a:prstGeom>
        </p:spPr>
      </p:pic>
      <p:sp>
        <p:nvSpPr>
          <p:cNvPr id="15" name="Text 10"/>
          <p:cNvSpPr txBox="1"/>
          <p:nvPr/>
        </p:nvSpPr>
        <p:spPr>
          <a:xfrm>
            <a:off x="6510528" y="2651760"/>
            <a:ext cx="1737360" cy="347472"/>
          </a:xfrm>
          <a:prstGeom prst="rect">
            <a:avLst/>
          </a:prstGeom>
          <a:noFill/>
          <a:ln/>
        </p:spPr>
        <p:txBody>
          <a:bodyPr wrap="square" lIns="0" tIns="0" rIns="0" bIns="0" rtlCol="0" anchor="ctr"/>
          <a:lstStyle/>
          <a:p>
            <a:pPr indent="0" marL="0">
              <a:buNone/>
            </a:pPr>
            <a:r>
              <a:rPr lang="en-US" sz="2000" b="1" dirty="0">
                <a:solidFill>
                  <a:srgbClr val="F5C242"/>
                </a:solidFill>
                <a:latin typeface="Calibri" pitchFamily="34" charset="0"/>
                <a:ea typeface="Calibri" pitchFamily="34" charset="-122"/>
                <a:cs typeface="Calibri" pitchFamily="34" charset="-120"/>
              </a:rPr>
              <a:t>15h00</a:t>
            </a:r>
            <a:endParaRPr lang="en-US" sz="2000" dirty="0"/>
          </a:p>
        </p:txBody>
      </p:sp>
      <p:sp>
        <p:nvSpPr>
          <p:cNvPr id="16" name="Text 11"/>
          <p:cNvSpPr txBox="1"/>
          <p:nvPr/>
        </p:nvSpPr>
        <p:spPr>
          <a:xfrm>
            <a:off x="6108192" y="3063240"/>
            <a:ext cx="2240280" cy="548640"/>
          </a:xfrm>
          <a:prstGeom prst="rect">
            <a:avLst/>
          </a:prstGeom>
          <a:noFill/>
          <a:ln/>
        </p:spPr>
        <p:txBody>
          <a:bodyPr wrap="square" lIns="0" tIns="0" rIns="0" bIns="0" rtlCol="0" anchor="t"/>
          <a:lstStyle/>
          <a:p>
            <a:pPr indent="0" marL="0">
              <a:buNone/>
            </a:pPr>
            <a:r>
              <a:rPr lang="en-US" sz="850" b="1" spc="200" kern="0" dirty="0">
                <a:solidFill>
                  <a:srgbClr val="E6F6EE"/>
                </a:solidFill>
                <a:latin typeface="Calibri" pitchFamily="34" charset="0"/>
                <a:ea typeface="Calibri" pitchFamily="34" charset="-122"/>
                <a:cs typeface="Calibri" pitchFamily="34" charset="-120"/>
              </a:rPr>
              <a:t>ATELIER PRATIQUE</a:t>
            </a:r>
            <a:endParaRPr lang="en-US" sz="1100" dirty="0"/>
          </a:p>
          <a:p>
            <a:pPr indent="0" marL="0">
              <a:buNone/>
            </a:pPr>
            <a:r>
              <a:rPr lang="en-US" sz="1150" b="1" dirty="0">
                <a:solidFill>
                  <a:srgbClr val="FFFFFF"/>
                </a:solidFill>
                <a:latin typeface="Calibri" pitchFamily="34" charset="0"/>
                <a:ea typeface="Calibri" pitchFamily="34" charset="-122"/>
                <a:cs typeface="Calibri" pitchFamily="34" charset="-120"/>
              </a:rPr>
              <a:t>Construire un agent, puis le casser</a:t>
            </a:r>
            <a:endParaRPr lang="en-US" sz="1100" dirty="0"/>
          </a:p>
        </p:txBody>
      </p:sp>
      <p:pic>
        <p:nvPicPr>
          <p:cNvPr id="17" name="Image 3" descr="preencoded.png">    </p:cNvPr>
          <p:cNvPicPr>
            <a:picLocks noChangeAspect="1"/>
          </p:cNvPicPr>
          <p:nvPr/>
        </p:nvPicPr>
        <p:blipFill>
          <a:blip r:embed="rId5"/>
          <a:stretch>
            <a:fillRect/>
          </a:stretch>
        </p:blipFill>
        <p:spPr>
          <a:xfrm>
            <a:off x="548640" y="3977640"/>
            <a:ext cx="274320" cy="274320"/>
          </a:xfrm>
          <a:prstGeom prst="rect">
            <a:avLst/>
          </a:prstGeom>
        </p:spPr>
      </p:pic>
      <p:sp>
        <p:nvSpPr>
          <p:cNvPr id="18" name="Text 12"/>
          <p:cNvSpPr txBox="1"/>
          <p:nvPr/>
        </p:nvSpPr>
        <p:spPr>
          <a:xfrm>
            <a:off x="960120" y="3931920"/>
            <a:ext cx="7315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À apporter : une vraie question de votre institut à laquelle un document pourrait répondre.</a:t>
            </a:r>
            <a:endParaRPr lang="en-US" sz="13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ANNEXE</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A</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En réserve pour les questions</a:t>
            </a:r>
            <a:endParaRPr lang="en-US" sz="26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Glossaire, deux cultures, familles d'apprentissage, coût du pré-entraînement, sources.</a:t>
            </a:r>
            <a:endParaRPr lang="en-US" sz="1600" dirty="0"/>
          </a:p>
        </p:txBody>
      </p:sp>
      <p:sp>
        <p:nvSpPr>
          <p:cNvPr id="6" name="Shape 4"/>
          <p:cNvSpPr/>
          <p:nvPr/>
        </p:nvSpPr>
        <p:spPr>
          <a:xfrm>
            <a:off x="6400800" y="2011680"/>
            <a:ext cx="1097280" cy="1097280"/>
          </a:xfrm>
          <a:prstGeom prst="ellipse">
            <a:avLst/>
          </a:prstGeom>
          <a:solidFill>
            <a:srgbClr val="FFFFFF"/>
          </a:solidFill>
          <a:ln/>
        </p:spPr>
      </p:sp>
      <p:pic>
        <p:nvPicPr>
          <p:cNvPr id="7" name="Image 0" descr="preencoded.png">    </p:cNvPr>
          <p:cNvPicPr>
            <a:picLocks noChangeAspect="1"/>
          </p:cNvPicPr>
          <p:nvPr/>
        </p:nvPicPr>
        <p:blipFill>
          <a:blip r:embed="rId2"/>
          <a:stretch>
            <a:fillRect/>
          </a:stretch>
        </p:blipFill>
        <p:spPr>
          <a:xfrm>
            <a:off x="6675120" y="2286000"/>
            <a:ext cx="548640" cy="548640"/>
          </a:xfrm>
          <a:prstGeom prst="rect">
            <a:avLst/>
          </a:prstGeom>
        </p:spPr>
      </p:pic>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ANNEXE  ·  GLOSSAIRE FRANÇAIS – ANGLAIS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Glossaire : les mots de la semaine, dans les deux langues</a:t>
            </a:r>
            <a:endParaRPr lang="en-US" sz="24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0" name="Shape 8"/>
          <p:cNvSpPr/>
          <p:nvPr/>
        </p:nvSpPr>
        <p:spPr>
          <a:xfrm>
            <a:off x="457200" y="1325880"/>
            <a:ext cx="4023360" cy="402336"/>
          </a:xfrm>
          <a:prstGeom prst="roundRect">
            <a:avLst>
              <a:gd name="adj" fmla="val 11364"/>
            </a:avLst>
          </a:prstGeom>
          <a:solidFill>
            <a:srgbClr val="F4F7F5"/>
          </a:solidFill>
          <a:ln w="9525">
            <a:solidFill>
              <a:srgbClr val="D5DED9"/>
            </a:solidFill>
            <a:prstDash val="solid"/>
          </a:ln>
        </p:spPr>
      </p:sp>
      <p:sp>
        <p:nvSpPr>
          <p:cNvPr id="11" name="Text 9"/>
          <p:cNvSpPr txBox="1"/>
          <p:nvPr/>
        </p:nvSpPr>
        <p:spPr>
          <a:xfrm>
            <a:off x="566928" y="13258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Modèle</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Model</a:t>
            </a:r>
            <a:endParaRPr lang="en-US" sz="1100" dirty="0"/>
          </a:p>
        </p:txBody>
      </p:sp>
      <p:sp>
        <p:nvSpPr>
          <p:cNvPr id="12" name="Text 10"/>
          <p:cNvSpPr txBox="1"/>
          <p:nvPr/>
        </p:nvSpPr>
        <p:spPr>
          <a:xfrm>
            <a:off x="2029968" y="13258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fonction dont les paramètres sont estimés</a:t>
            </a:r>
            <a:endParaRPr lang="en-US" sz="1000" dirty="0"/>
          </a:p>
        </p:txBody>
      </p:sp>
      <p:sp>
        <p:nvSpPr>
          <p:cNvPr id="13" name="Shape 11"/>
          <p:cNvSpPr/>
          <p:nvPr/>
        </p:nvSpPr>
        <p:spPr>
          <a:xfrm>
            <a:off x="4663440" y="1325880"/>
            <a:ext cx="4023360" cy="402336"/>
          </a:xfrm>
          <a:prstGeom prst="roundRect">
            <a:avLst>
              <a:gd name="adj" fmla="val 11364"/>
            </a:avLst>
          </a:prstGeom>
          <a:solidFill>
            <a:srgbClr val="F4F7F5"/>
          </a:solidFill>
          <a:ln w="9525">
            <a:solidFill>
              <a:srgbClr val="D5DED9"/>
            </a:solidFill>
            <a:prstDash val="solid"/>
          </a:ln>
        </p:spPr>
      </p:sp>
      <p:sp>
        <p:nvSpPr>
          <p:cNvPr id="14" name="Text 12"/>
          <p:cNvSpPr txBox="1"/>
          <p:nvPr/>
        </p:nvSpPr>
        <p:spPr>
          <a:xfrm>
            <a:off x="4773168" y="13258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AI Ready</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AI-ready</a:t>
            </a:r>
            <a:endParaRPr lang="en-US" sz="1100" dirty="0"/>
          </a:p>
        </p:txBody>
      </p:sp>
      <p:sp>
        <p:nvSpPr>
          <p:cNvPr id="15" name="Text 13"/>
          <p:cNvSpPr txBox="1"/>
          <p:nvPr/>
        </p:nvSpPr>
        <p:spPr>
          <a:xfrm>
            <a:off x="6236208" y="13258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données lisibles et fiables pour les machines</a:t>
            </a:r>
            <a:endParaRPr lang="en-US" sz="1000" dirty="0"/>
          </a:p>
        </p:txBody>
      </p:sp>
      <p:sp>
        <p:nvSpPr>
          <p:cNvPr id="16" name="Shape 14"/>
          <p:cNvSpPr/>
          <p:nvPr/>
        </p:nvSpPr>
        <p:spPr>
          <a:xfrm>
            <a:off x="457200" y="1783080"/>
            <a:ext cx="4023360" cy="402336"/>
          </a:xfrm>
          <a:prstGeom prst="roundRect">
            <a:avLst>
              <a:gd name="adj" fmla="val 11364"/>
            </a:avLst>
          </a:prstGeom>
          <a:solidFill>
            <a:srgbClr val="FFFFFF"/>
          </a:solidFill>
          <a:ln w="9525">
            <a:solidFill>
              <a:srgbClr val="D5DED9"/>
            </a:solidFill>
            <a:prstDash val="solid"/>
          </a:ln>
        </p:spPr>
      </p:sp>
      <p:sp>
        <p:nvSpPr>
          <p:cNvPr id="17" name="Text 15"/>
          <p:cNvSpPr txBox="1"/>
          <p:nvPr/>
        </p:nvSpPr>
        <p:spPr>
          <a:xfrm>
            <a:off x="566928" y="17830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IA</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AI</a:t>
            </a:r>
            <a:endParaRPr lang="en-US" sz="1100" dirty="0"/>
          </a:p>
        </p:txBody>
      </p:sp>
      <p:sp>
        <p:nvSpPr>
          <p:cNvPr id="18" name="Text 16"/>
          <p:cNvSpPr txBox="1"/>
          <p:nvPr/>
        </p:nvSpPr>
        <p:spPr>
          <a:xfrm>
            <a:off x="2029968" y="17830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machine accomplissant une tâche jugée intelligente</a:t>
            </a:r>
            <a:endParaRPr lang="en-US" sz="1000" dirty="0"/>
          </a:p>
        </p:txBody>
      </p:sp>
      <p:sp>
        <p:nvSpPr>
          <p:cNvPr id="19" name="Shape 17"/>
          <p:cNvSpPr/>
          <p:nvPr/>
        </p:nvSpPr>
        <p:spPr>
          <a:xfrm>
            <a:off x="4663440" y="1783080"/>
            <a:ext cx="4023360" cy="402336"/>
          </a:xfrm>
          <a:prstGeom prst="roundRect">
            <a:avLst>
              <a:gd name="adj" fmla="val 11364"/>
            </a:avLst>
          </a:prstGeom>
          <a:solidFill>
            <a:srgbClr val="FFFFFF"/>
          </a:solidFill>
          <a:ln w="9525">
            <a:solidFill>
              <a:srgbClr val="D5DED9"/>
            </a:solidFill>
            <a:prstDash val="solid"/>
          </a:ln>
        </p:spPr>
      </p:sp>
      <p:sp>
        <p:nvSpPr>
          <p:cNvPr id="20" name="Text 18"/>
          <p:cNvSpPr txBox="1"/>
          <p:nvPr/>
        </p:nvSpPr>
        <p:spPr>
          <a:xfrm>
            <a:off x="4773168" y="17830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AGI</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AGI</a:t>
            </a:r>
            <a:endParaRPr lang="en-US" sz="1100" dirty="0"/>
          </a:p>
        </p:txBody>
      </p:sp>
      <p:sp>
        <p:nvSpPr>
          <p:cNvPr id="21" name="Text 19"/>
          <p:cNvSpPr txBox="1"/>
          <p:nvPr/>
        </p:nvSpPr>
        <p:spPr>
          <a:xfrm>
            <a:off x="6236208" y="17830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IA hypothétique de niveau humain, tâches variées</a:t>
            </a:r>
            <a:endParaRPr lang="en-US" sz="1000" dirty="0"/>
          </a:p>
        </p:txBody>
      </p:sp>
      <p:sp>
        <p:nvSpPr>
          <p:cNvPr id="22" name="Shape 20"/>
          <p:cNvSpPr/>
          <p:nvPr/>
        </p:nvSpPr>
        <p:spPr>
          <a:xfrm>
            <a:off x="457200" y="2240280"/>
            <a:ext cx="4023360" cy="402336"/>
          </a:xfrm>
          <a:prstGeom prst="roundRect">
            <a:avLst>
              <a:gd name="adj" fmla="val 11364"/>
            </a:avLst>
          </a:prstGeom>
          <a:solidFill>
            <a:srgbClr val="F4F7F5"/>
          </a:solidFill>
          <a:ln w="9525">
            <a:solidFill>
              <a:srgbClr val="D5DED9"/>
            </a:solidFill>
            <a:prstDash val="solid"/>
          </a:ln>
        </p:spPr>
      </p:sp>
      <p:sp>
        <p:nvSpPr>
          <p:cNvPr id="23" name="Text 21"/>
          <p:cNvSpPr txBox="1"/>
          <p:nvPr/>
        </p:nvSpPr>
        <p:spPr>
          <a:xfrm>
            <a:off x="566928" y="22402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GML</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LLM</a:t>
            </a:r>
            <a:endParaRPr lang="en-US" sz="1100" dirty="0"/>
          </a:p>
        </p:txBody>
      </p:sp>
      <p:sp>
        <p:nvSpPr>
          <p:cNvPr id="24" name="Text 22"/>
          <p:cNvSpPr txBox="1"/>
          <p:nvPr/>
        </p:nvSpPr>
        <p:spPr>
          <a:xfrm>
            <a:off x="2029968" y="22402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grand modèle de langage, prédit le jeton suivant</a:t>
            </a:r>
            <a:endParaRPr lang="en-US" sz="1000" dirty="0"/>
          </a:p>
        </p:txBody>
      </p:sp>
      <p:sp>
        <p:nvSpPr>
          <p:cNvPr id="25" name="Shape 23"/>
          <p:cNvSpPr/>
          <p:nvPr/>
        </p:nvSpPr>
        <p:spPr>
          <a:xfrm>
            <a:off x="4663440" y="2240280"/>
            <a:ext cx="4023360" cy="402336"/>
          </a:xfrm>
          <a:prstGeom prst="roundRect">
            <a:avLst>
              <a:gd name="adj" fmla="val 11364"/>
            </a:avLst>
          </a:prstGeom>
          <a:solidFill>
            <a:srgbClr val="F4F7F5"/>
          </a:solidFill>
          <a:ln w="9525">
            <a:solidFill>
              <a:srgbClr val="D5DED9"/>
            </a:solidFill>
            <a:prstDash val="solid"/>
          </a:ln>
        </p:spPr>
      </p:sp>
      <p:sp>
        <p:nvSpPr>
          <p:cNvPr id="26" name="Text 24"/>
          <p:cNvSpPr txBox="1"/>
          <p:nvPr/>
        </p:nvSpPr>
        <p:spPr>
          <a:xfrm>
            <a:off x="4773168" y="22402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Jeton</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Token</a:t>
            </a:r>
            <a:endParaRPr lang="en-US" sz="1100" dirty="0"/>
          </a:p>
        </p:txBody>
      </p:sp>
      <p:sp>
        <p:nvSpPr>
          <p:cNvPr id="27" name="Text 25"/>
          <p:cNvSpPr txBox="1"/>
          <p:nvPr/>
        </p:nvSpPr>
        <p:spPr>
          <a:xfrm>
            <a:off x="6236208" y="22402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morceau de mot traité par le modèle</a:t>
            </a:r>
            <a:endParaRPr lang="en-US" sz="1000" dirty="0"/>
          </a:p>
        </p:txBody>
      </p:sp>
      <p:sp>
        <p:nvSpPr>
          <p:cNvPr id="28" name="Shape 26"/>
          <p:cNvSpPr/>
          <p:nvPr/>
        </p:nvSpPr>
        <p:spPr>
          <a:xfrm>
            <a:off x="457200" y="2697480"/>
            <a:ext cx="4023360" cy="402336"/>
          </a:xfrm>
          <a:prstGeom prst="roundRect">
            <a:avLst>
              <a:gd name="adj" fmla="val 11364"/>
            </a:avLst>
          </a:prstGeom>
          <a:solidFill>
            <a:srgbClr val="FFFFFF"/>
          </a:solidFill>
          <a:ln w="9525">
            <a:solidFill>
              <a:srgbClr val="D5DED9"/>
            </a:solidFill>
            <a:prstDash val="solid"/>
          </a:ln>
        </p:spPr>
      </p:sp>
      <p:sp>
        <p:nvSpPr>
          <p:cNvPr id="29" name="Text 27"/>
          <p:cNvSpPr txBox="1"/>
          <p:nvPr/>
        </p:nvSpPr>
        <p:spPr>
          <a:xfrm>
            <a:off x="566928" y="26974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Requête</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Prompt</a:t>
            </a:r>
            <a:endParaRPr lang="en-US" sz="1100" dirty="0"/>
          </a:p>
        </p:txBody>
      </p:sp>
      <p:sp>
        <p:nvSpPr>
          <p:cNvPr id="30" name="Text 28"/>
          <p:cNvSpPr txBox="1"/>
          <p:nvPr/>
        </p:nvSpPr>
        <p:spPr>
          <a:xfrm>
            <a:off x="2029968" y="26974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instruction donnée au modèle</a:t>
            </a:r>
            <a:endParaRPr lang="en-US" sz="1000" dirty="0"/>
          </a:p>
        </p:txBody>
      </p:sp>
      <p:sp>
        <p:nvSpPr>
          <p:cNvPr id="31" name="Shape 29"/>
          <p:cNvSpPr/>
          <p:nvPr/>
        </p:nvSpPr>
        <p:spPr>
          <a:xfrm>
            <a:off x="4663440" y="2697480"/>
            <a:ext cx="4023360" cy="402336"/>
          </a:xfrm>
          <a:prstGeom prst="roundRect">
            <a:avLst>
              <a:gd name="adj" fmla="val 11364"/>
            </a:avLst>
          </a:prstGeom>
          <a:solidFill>
            <a:srgbClr val="FFFFFF"/>
          </a:solidFill>
          <a:ln w="9525">
            <a:solidFill>
              <a:srgbClr val="D5DED9"/>
            </a:solidFill>
            <a:prstDash val="solid"/>
          </a:ln>
        </p:spPr>
      </p:sp>
      <p:sp>
        <p:nvSpPr>
          <p:cNvPr id="32" name="Text 30"/>
          <p:cNvSpPr txBox="1"/>
          <p:nvPr/>
        </p:nvSpPr>
        <p:spPr>
          <a:xfrm>
            <a:off x="4773168" y="26974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Fenêtre de contexte</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Context window</a:t>
            </a:r>
            <a:endParaRPr lang="en-US" sz="1100" dirty="0"/>
          </a:p>
        </p:txBody>
      </p:sp>
      <p:sp>
        <p:nvSpPr>
          <p:cNvPr id="33" name="Text 31"/>
          <p:cNvSpPr txBox="1"/>
          <p:nvPr/>
        </p:nvSpPr>
        <p:spPr>
          <a:xfrm>
            <a:off x="6236208" y="26974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quantité de texte lisible en une fois</a:t>
            </a:r>
            <a:endParaRPr lang="en-US" sz="1000" dirty="0"/>
          </a:p>
        </p:txBody>
      </p:sp>
      <p:sp>
        <p:nvSpPr>
          <p:cNvPr id="34" name="Shape 32"/>
          <p:cNvSpPr/>
          <p:nvPr/>
        </p:nvSpPr>
        <p:spPr>
          <a:xfrm>
            <a:off x="457200" y="3154680"/>
            <a:ext cx="4023360" cy="402336"/>
          </a:xfrm>
          <a:prstGeom prst="roundRect">
            <a:avLst>
              <a:gd name="adj" fmla="val 11364"/>
            </a:avLst>
          </a:prstGeom>
          <a:solidFill>
            <a:srgbClr val="F4F7F5"/>
          </a:solidFill>
          <a:ln w="9525">
            <a:solidFill>
              <a:srgbClr val="D5DED9"/>
            </a:solidFill>
            <a:prstDash val="solid"/>
          </a:ln>
        </p:spPr>
      </p:sp>
      <p:sp>
        <p:nvSpPr>
          <p:cNvPr id="35" name="Text 33"/>
          <p:cNvSpPr txBox="1"/>
          <p:nvPr/>
        </p:nvSpPr>
        <p:spPr>
          <a:xfrm>
            <a:off x="566928" y="31546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RAG</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Retrieval-augmented gen.</a:t>
            </a:r>
            <a:endParaRPr lang="en-US" sz="1100" dirty="0"/>
          </a:p>
        </p:txBody>
      </p:sp>
      <p:sp>
        <p:nvSpPr>
          <p:cNvPr id="36" name="Text 34"/>
          <p:cNvSpPr txBox="1"/>
          <p:nvPr/>
        </p:nvSpPr>
        <p:spPr>
          <a:xfrm>
            <a:off x="2029968" y="31546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retrouver des documents, puis rédiger</a:t>
            </a:r>
            <a:endParaRPr lang="en-US" sz="1000" dirty="0"/>
          </a:p>
        </p:txBody>
      </p:sp>
      <p:sp>
        <p:nvSpPr>
          <p:cNvPr id="37" name="Shape 35"/>
          <p:cNvSpPr/>
          <p:nvPr/>
        </p:nvSpPr>
        <p:spPr>
          <a:xfrm>
            <a:off x="4663440" y="3154680"/>
            <a:ext cx="4023360" cy="402336"/>
          </a:xfrm>
          <a:prstGeom prst="roundRect">
            <a:avLst>
              <a:gd name="adj" fmla="val 11364"/>
            </a:avLst>
          </a:prstGeom>
          <a:solidFill>
            <a:srgbClr val="F4F7F5"/>
          </a:solidFill>
          <a:ln w="9525">
            <a:solidFill>
              <a:srgbClr val="D5DED9"/>
            </a:solidFill>
            <a:prstDash val="solid"/>
          </a:ln>
        </p:spPr>
      </p:sp>
      <p:sp>
        <p:nvSpPr>
          <p:cNvPr id="38" name="Text 36"/>
          <p:cNvSpPr txBox="1"/>
          <p:nvPr/>
        </p:nvSpPr>
        <p:spPr>
          <a:xfrm>
            <a:off x="4773168" y="31546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Plongement</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Embedding</a:t>
            </a:r>
            <a:endParaRPr lang="en-US" sz="1100" dirty="0"/>
          </a:p>
        </p:txBody>
      </p:sp>
      <p:sp>
        <p:nvSpPr>
          <p:cNvPr id="39" name="Text 37"/>
          <p:cNvSpPr txBox="1"/>
          <p:nvPr/>
        </p:nvSpPr>
        <p:spPr>
          <a:xfrm>
            <a:off x="6236208" y="31546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passage converti en coordonnées</a:t>
            </a:r>
            <a:endParaRPr lang="en-US" sz="1000" dirty="0"/>
          </a:p>
        </p:txBody>
      </p:sp>
      <p:sp>
        <p:nvSpPr>
          <p:cNvPr id="40" name="Shape 38"/>
          <p:cNvSpPr/>
          <p:nvPr/>
        </p:nvSpPr>
        <p:spPr>
          <a:xfrm>
            <a:off x="457200" y="3611880"/>
            <a:ext cx="4023360" cy="402336"/>
          </a:xfrm>
          <a:prstGeom prst="roundRect">
            <a:avLst>
              <a:gd name="adj" fmla="val 11364"/>
            </a:avLst>
          </a:prstGeom>
          <a:solidFill>
            <a:srgbClr val="FFFFFF"/>
          </a:solidFill>
          <a:ln w="9525">
            <a:solidFill>
              <a:srgbClr val="D5DED9"/>
            </a:solidFill>
            <a:prstDash val="solid"/>
          </a:ln>
        </p:spPr>
      </p:sp>
      <p:sp>
        <p:nvSpPr>
          <p:cNvPr id="41" name="Text 39"/>
          <p:cNvSpPr txBox="1"/>
          <p:nvPr/>
        </p:nvSpPr>
        <p:spPr>
          <a:xfrm>
            <a:off x="566928" y="36118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Affinage</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Fine-tuning</a:t>
            </a:r>
            <a:endParaRPr lang="en-US" sz="1100" dirty="0"/>
          </a:p>
        </p:txBody>
      </p:sp>
      <p:sp>
        <p:nvSpPr>
          <p:cNvPr id="42" name="Text 40"/>
          <p:cNvSpPr txBox="1"/>
          <p:nvPr/>
        </p:nvSpPr>
        <p:spPr>
          <a:xfrm>
            <a:off x="2029968" y="36118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réentraînement qui modifie les poids</a:t>
            </a:r>
            <a:endParaRPr lang="en-US" sz="1000" dirty="0"/>
          </a:p>
        </p:txBody>
      </p:sp>
      <p:sp>
        <p:nvSpPr>
          <p:cNvPr id="43" name="Shape 41"/>
          <p:cNvSpPr/>
          <p:nvPr/>
        </p:nvSpPr>
        <p:spPr>
          <a:xfrm>
            <a:off x="4663440" y="3611880"/>
            <a:ext cx="4023360" cy="402336"/>
          </a:xfrm>
          <a:prstGeom prst="roundRect">
            <a:avLst>
              <a:gd name="adj" fmla="val 11364"/>
            </a:avLst>
          </a:prstGeom>
          <a:solidFill>
            <a:srgbClr val="FFFFFF"/>
          </a:solidFill>
          <a:ln w="9525">
            <a:solidFill>
              <a:srgbClr val="D5DED9"/>
            </a:solidFill>
            <a:prstDash val="solid"/>
          </a:ln>
        </p:spPr>
      </p:sp>
      <p:sp>
        <p:nvSpPr>
          <p:cNvPr id="44" name="Text 42"/>
          <p:cNvSpPr txBox="1"/>
          <p:nvPr/>
        </p:nvSpPr>
        <p:spPr>
          <a:xfrm>
            <a:off x="4773168" y="36118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Hallucination</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Hallucination</a:t>
            </a:r>
            <a:endParaRPr lang="en-US" sz="1100" dirty="0"/>
          </a:p>
        </p:txBody>
      </p:sp>
      <p:sp>
        <p:nvSpPr>
          <p:cNvPr id="45" name="Text 43"/>
          <p:cNvSpPr txBox="1"/>
          <p:nvPr/>
        </p:nvSpPr>
        <p:spPr>
          <a:xfrm>
            <a:off x="6236208" y="36118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sortie fluide mais fausse</a:t>
            </a:r>
            <a:endParaRPr lang="en-US" sz="1000" dirty="0"/>
          </a:p>
        </p:txBody>
      </p:sp>
      <p:sp>
        <p:nvSpPr>
          <p:cNvPr id="46" name="Shape 44"/>
          <p:cNvSpPr/>
          <p:nvPr/>
        </p:nvSpPr>
        <p:spPr>
          <a:xfrm>
            <a:off x="457200" y="4069080"/>
            <a:ext cx="4023360" cy="402336"/>
          </a:xfrm>
          <a:prstGeom prst="roundRect">
            <a:avLst>
              <a:gd name="adj" fmla="val 11364"/>
            </a:avLst>
          </a:prstGeom>
          <a:solidFill>
            <a:srgbClr val="F4F7F5"/>
          </a:solidFill>
          <a:ln w="9525">
            <a:solidFill>
              <a:srgbClr val="D5DED9"/>
            </a:solidFill>
            <a:prstDash val="solid"/>
          </a:ln>
        </p:spPr>
      </p:sp>
      <p:sp>
        <p:nvSpPr>
          <p:cNvPr id="47" name="Text 45"/>
          <p:cNvSpPr txBox="1"/>
          <p:nvPr/>
        </p:nvSpPr>
        <p:spPr>
          <a:xfrm>
            <a:off x="566928" y="40690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Agent</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Agent</a:t>
            </a:r>
            <a:endParaRPr lang="en-US" sz="1100" dirty="0"/>
          </a:p>
        </p:txBody>
      </p:sp>
      <p:sp>
        <p:nvSpPr>
          <p:cNvPr id="48" name="Text 46"/>
          <p:cNvSpPr txBox="1"/>
          <p:nvPr/>
        </p:nvSpPr>
        <p:spPr>
          <a:xfrm>
            <a:off x="2029968" y="40690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modèle dont la sortie déclenche des actions</a:t>
            </a:r>
            <a:endParaRPr lang="en-US" sz="1000" dirty="0"/>
          </a:p>
        </p:txBody>
      </p:sp>
      <p:sp>
        <p:nvSpPr>
          <p:cNvPr id="49" name="Shape 47"/>
          <p:cNvSpPr/>
          <p:nvPr/>
        </p:nvSpPr>
        <p:spPr>
          <a:xfrm>
            <a:off x="4663440" y="4069080"/>
            <a:ext cx="4023360" cy="402336"/>
          </a:xfrm>
          <a:prstGeom prst="roundRect">
            <a:avLst>
              <a:gd name="adj" fmla="val 11364"/>
            </a:avLst>
          </a:prstGeom>
          <a:solidFill>
            <a:srgbClr val="F4F7F5"/>
          </a:solidFill>
          <a:ln w="9525">
            <a:solidFill>
              <a:srgbClr val="D5DED9"/>
            </a:solidFill>
            <a:prstDash val="solid"/>
          </a:ln>
        </p:spPr>
      </p:sp>
      <p:sp>
        <p:nvSpPr>
          <p:cNvPr id="50" name="Text 48"/>
          <p:cNvSpPr txBox="1"/>
          <p:nvPr/>
        </p:nvSpPr>
        <p:spPr>
          <a:xfrm>
            <a:off x="4773168" y="4069080"/>
            <a:ext cx="1417320" cy="40233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MCP</a:t>
            </a:r>
            <a:endParaRPr lang="en-US" sz="1100" dirty="0"/>
          </a:p>
          <a:p>
            <a:pPr indent="0" marL="0">
              <a:buNone/>
            </a:pPr>
            <a:r>
              <a:rPr lang="en-US" sz="900" i="1" dirty="0">
                <a:solidFill>
                  <a:srgbClr val="5E6964"/>
                </a:solidFill>
                <a:latin typeface="Calibri" pitchFamily="34" charset="0"/>
                <a:ea typeface="Calibri" pitchFamily="34" charset="-122"/>
                <a:cs typeface="Calibri" pitchFamily="34" charset="-120"/>
              </a:rPr>
              <a:t>Model Context Protocol</a:t>
            </a:r>
            <a:endParaRPr lang="en-US" sz="1100" dirty="0"/>
          </a:p>
        </p:txBody>
      </p:sp>
      <p:sp>
        <p:nvSpPr>
          <p:cNvPr id="51" name="Text 49"/>
          <p:cNvSpPr txBox="1"/>
          <p:nvPr/>
        </p:nvSpPr>
        <p:spPr>
          <a:xfrm>
            <a:off x="6236208" y="4069080"/>
            <a:ext cx="2377440"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norme de connexion aux outils et données</a:t>
            </a:r>
            <a:endParaRPr lang="en-US" sz="10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ANNEXE  ·  STATISTIQUE ET APPRENTISSAGE AUTOMATIQUE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Deux cultures : l'une explique le processus, l'autre prédit le cas</a:t>
            </a:r>
            <a:endParaRPr lang="en-US" sz="22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0" name="Shape 8"/>
          <p:cNvSpPr/>
          <p:nvPr/>
        </p:nvSpPr>
        <p:spPr>
          <a:xfrm>
            <a:off x="457200" y="1371600"/>
            <a:ext cx="3977640" cy="3017520"/>
          </a:xfrm>
          <a:prstGeom prst="roundRect">
            <a:avLst>
              <a:gd name="adj" fmla="val 2424"/>
            </a:avLst>
          </a:prstGeom>
          <a:solidFill>
            <a:srgbClr val="F4F7F5"/>
          </a:solidFill>
          <a:ln w="9525">
            <a:solidFill>
              <a:srgbClr val="D5DED9"/>
            </a:solidFill>
            <a:prstDash val="solid"/>
          </a:ln>
        </p:spPr>
      </p:sp>
      <p:sp>
        <p:nvSpPr>
          <p:cNvPr id="11" name="Shape 9"/>
          <p:cNvSpPr/>
          <p:nvPr/>
        </p:nvSpPr>
        <p:spPr>
          <a:xfrm>
            <a:off x="658368" y="1508760"/>
            <a:ext cx="502920" cy="502920"/>
          </a:xfrm>
          <a:prstGeom prst="ellipse">
            <a:avLst/>
          </a:prstGeom>
          <a:solidFill>
            <a:srgbClr val="00704A">
              <a:alpha val="22000"/>
            </a:srgbClr>
          </a:solidFill>
          <a:ln/>
        </p:spPr>
      </p:sp>
      <p:pic>
        <p:nvPicPr>
          <p:cNvPr id="12" name="Image 0" descr="preencoded.png">    </p:cNvPr>
          <p:cNvPicPr>
            <a:picLocks noChangeAspect="1"/>
          </p:cNvPicPr>
          <p:nvPr/>
        </p:nvPicPr>
        <p:blipFill>
          <a:blip r:embed="rId1"/>
          <a:stretch>
            <a:fillRect/>
          </a:stretch>
        </p:blipFill>
        <p:spPr>
          <a:xfrm>
            <a:off x="779069" y="1629461"/>
            <a:ext cx="261518" cy="261518"/>
          </a:xfrm>
          <a:prstGeom prst="rect">
            <a:avLst/>
          </a:prstGeom>
        </p:spPr>
      </p:pic>
      <p:sp>
        <p:nvSpPr>
          <p:cNvPr id="13" name="Text 10"/>
          <p:cNvSpPr txBox="1"/>
          <p:nvPr/>
        </p:nvSpPr>
        <p:spPr>
          <a:xfrm>
            <a:off x="1298448" y="1508760"/>
            <a:ext cx="2926080" cy="502920"/>
          </a:xfrm>
          <a:prstGeom prst="rect">
            <a:avLst/>
          </a:prstGeom>
          <a:noFill/>
          <a:ln/>
        </p:spPr>
        <p:txBody>
          <a:bodyPr wrap="square" lIns="0" tIns="0" rIns="0" bIns="0" rtlCol="0" anchor="ctr"/>
          <a:lstStyle/>
          <a:p>
            <a:pPr indent="0" marL="0">
              <a:buNone/>
            </a:pPr>
            <a:r>
              <a:rPr lang="en-US" sz="1600" b="1" dirty="0">
                <a:solidFill>
                  <a:srgbClr val="00704A"/>
                </a:solidFill>
                <a:latin typeface="Calibri" pitchFamily="34" charset="0"/>
                <a:ea typeface="Calibri" pitchFamily="34" charset="-122"/>
                <a:cs typeface="Calibri" pitchFamily="34" charset="-120"/>
              </a:rPr>
              <a:t>Modélisation statistique</a:t>
            </a:r>
            <a:endParaRPr lang="en-US" sz="1600" dirty="0"/>
          </a:p>
        </p:txBody>
      </p:sp>
      <p:sp>
        <p:nvSpPr>
          <p:cNvPr id="14" name="Text 11"/>
          <p:cNvSpPr txBox="1"/>
          <p:nvPr/>
        </p:nvSpPr>
        <p:spPr>
          <a:xfrm>
            <a:off x="685800" y="2240280"/>
            <a:ext cx="3566160" cy="475488"/>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But</a:t>
            </a:r>
            <a:endParaRPr lang="en-US" sz="1100" dirty="0"/>
          </a:p>
          <a:p>
            <a:pPr indent="0" marL="0">
              <a:buNone/>
            </a:pPr>
            <a:r>
              <a:rPr lang="en-US" sz="1100" dirty="0">
                <a:solidFill>
                  <a:srgbClr val="5E6964"/>
                </a:solidFill>
                <a:latin typeface="Calibri" pitchFamily="34" charset="0"/>
                <a:ea typeface="Calibri" pitchFamily="34" charset="-122"/>
                <a:cs typeface="Calibri" pitchFamily="34" charset="-120"/>
              </a:rPr>
              <a:t>comprendre la genèse des données</a:t>
            </a:r>
            <a:endParaRPr lang="en-US" sz="1100" dirty="0"/>
          </a:p>
        </p:txBody>
      </p:sp>
      <p:sp>
        <p:nvSpPr>
          <p:cNvPr id="15" name="Text 12"/>
          <p:cNvSpPr txBox="1"/>
          <p:nvPr/>
        </p:nvSpPr>
        <p:spPr>
          <a:xfrm>
            <a:off x="685800" y="2770632"/>
            <a:ext cx="3566160" cy="475488"/>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Validation</a:t>
            </a:r>
            <a:endParaRPr lang="en-US" sz="1100" dirty="0"/>
          </a:p>
          <a:p>
            <a:pPr indent="0" marL="0">
              <a:buNone/>
            </a:pPr>
            <a:r>
              <a:rPr lang="en-US" sz="1100" dirty="0">
                <a:solidFill>
                  <a:srgbClr val="5E6964"/>
                </a:solidFill>
                <a:latin typeface="Calibri" pitchFamily="34" charset="0"/>
                <a:ea typeface="Calibri" pitchFamily="34" charset="-122"/>
                <a:cs typeface="Calibri" pitchFamily="34" charset="-120"/>
              </a:rPr>
              <a:t>ajustement, résidus, hypothèses</a:t>
            </a:r>
            <a:endParaRPr lang="en-US" sz="1100" dirty="0"/>
          </a:p>
        </p:txBody>
      </p:sp>
      <p:sp>
        <p:nvSpPr>
          <p:cNvPr id="16" name="Text 13"/>
          <p:cNvSpPr txBox="1"/>
          <p:nvPr/>
        </p:nvSpPr>
        <p:spPr>
          <a:xfrm>
            <a:off x="685800" y="3300984"/>
            <a:ext cx="3566160" cy="475488"/>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Paramètres</a:t>
            </a:r>
            <a:endParaRPr lang="en-US" sz="1100" dirty="0"/>
          </a:p>
          <a:p>
            <a:pPr indent="0" marL="0">
              <a:buNone/>
            </a:pPr>
            <a:r>
              <a:rPr lang="en-US" sz="1100" dirty="0">
                <a:solidFill>
                  <a:srgbClr val="5E6964"/>
                </a:solidFill>
                <a:latin typeface="Calibri" pitchFamily="34" charset="0"/>
                <a:ea typeface="Calibri" pitchFamily="34" charset="-122"/>
                <a:cs typeface="Calibri" pitchFamily="34" charset="-120"/>
              </a:rPr>
              <a:t>ont un sens défendable</a:t>
            </a:r>
            <a:endParaRPr lang="en-US" sz="1100" dirty="0"/>
          </a:p>
        </p:txBody>
      </p:sp>
      <p:sp>
        <p:nvSpPr>
          <p:cNvPr id="17" name="Text 14"/>
          <p:cNvSpPr txBox="1"/>
          <p:nvPr/>
        </p:nvSpPr>
        <p:spPr>
          <a:xfrm>
            <a:off x="685800" y="3831336"/>
            <a:ext cx="3566160" cy="475488"/>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Échoue si</a:t>
            </a:r>
            <a:endParaRPr lang="en-US" sz="1100" dirty="0"/>
          </a:p>
          <a:p>
            <a:pPr indent="0" marL="0">
              <a:buNone/>
            </a:pPr>
            <a:r>
              <a:rPr lang="en-US" sz="1100" dirty="0">
                <a:solidFill>
                  <a:srgbClr val="5E6964"/>
                </a:solidFill>
                <a:latin typeface="Calibri" pitchFamily="34" charset="0"/>
                <a:ea typeface="Calibri" pitchFamily="34" charset="-122"/>
                <a:cs typeface="Calibri" pitchFamily="34" charset="-120"/>
              </a:rPr>
              <a:t>le modèle supposé est faux</a:t>
            </a:r>
            <a:endParaRPr lang="en-US" sz="1100" dirty="0"/>
          </a:p>
        </p:txBody>
      </p:sp>
      <p:sp>
        <p:nvSpPr>
          <p:cNvPr id="18" name="Shape 15"/>
          <p:cNvSpPr/>
          <p:nvPr/>
        </p:nvSpPr>
        <p:spPr>
          <a:xfrm>
            <a:off x="4709160" y="1371600"/>
            <a:ext cx="3977640" cy="3017520"/>
          </a:xfrm>
          <a:prstGeom prst="roundRect">
            <a:avLst>
              <a:gd name="adj" fmla="val 2424"/>
            </a:avLst>
          </a:prstGeom>
          <a:solidFill>
            <a:srgbClr val="E8F5EF"/>
          </a:solidFill>
          <a:ln w="15875">
            <a:solidFill>
              <a:srgbClr val="00A86A"/>
            </a:solidFill>
            <a:prstDash val="solid"/>
          </a:ln>
        </p:spPr>
      </p:sp>
      <p:sp>
        <p:nvSpPr>
          <p:cNvPr id="19" name="Shape 16"/>
          <p:cNvSpPr/>
          <p:nvPr/>
        </p:nvSpPr>
        <p:spPr>
          <a:xfrm>
            <a:off x="4910328" y="1508760"/>
            <a:ext cx="502920" cy="502920"/>
          </a:xfrm>
          <a:prstGeom prst="ellipse">
            <a:avLst/>
          </a:prstGeom>
          <a:solidFill>
            <a:srgbClr val="00A86A">
              <a:alpha val="22000"/>
            </a:srgbClr>
          </a:solidFill>
          <a:ln/>
        </p:spPr>
      </p:sp>
      <p:pic>
        <p:nvPicPr>
          <p:cNvPr id="20" name="Image 1" descr="preencoded.png">    </p:cNvPr>
          <p:cNvPicPr>
            <a:picLocks noChangeAspect="1"/>
          </p:cNvPicPr>
          <p:nvPr/>
        </p:nvPicPr>
        <p:blipFill>
          <a:blip r:embed="rId2"/>
          <a:stretch>
            <a:fillRect/>
          </a:stretch>
        </p:blipFill>
        <p:spPr>
          <a:xfrm>
            <a:off x="5031029" y="1629461"/>
            <a:ext cx="261518" cy="261518"/>
          </a:xfrm>
          <a:prstGeom prst="rect">
            <a:avLst/>
          </a:prstGeom>
        </p:spPr>
      </p:pic>
      <p:sp>
        <p:nvSpPr>
          <p:cNvPr id="21" name="Text 17"/>
          <p:cNvSpPr txBox="1"/>
          <p:nvPr/>
        </p:nvSpPr>
        <p:spPr>
          <a:xfrm>
            <a:off x="5550408" y="1508760"/>
            <a:ext cx="2926080" cy="502920"/>
          </a:xfrm>
          <a:prstGeom prst="rect">
            <a:avLst/>
          </a:prstGeom>
          <a:noFill/>
          <a:ln/>
        </p:spPr>
        <p:txBody>
          <a:bodyPr wrap="square" lIns="0" tIns="0" rIns="0" bIns="0" rtlCol="0" anchor="ctr"/>
          <a:lstStyle/>
          <a:p>
            <a:pPr indent="0" marL="0">
              <a:buNone/>
            </a:pPr>
            <a:r>
              <a:rPr lang="en-US" sz="1600" b="1" dirty="0">
                <a:solidFill>
                  <a:srgbClr val="00A86A"/>
                </a:solidFill>
                <a:latin typeface="Calibri" pitchFamily="34" charset="0"/>
                <a:ea typeface="Calibri" pitchFamily="34" charset="-122"/>
                <a:cs typeface="Calibri" pitchFamily="34" charset="-120"/>
              </a:rPr>
              <a:t>Modélisation algorithmique</a:t>
            </a:r>
            <a:endParaRPr lang="en-US" sz="1600" dirty="0"/>
          </a:p>
        </p:txBody>
      </p:sp>
      <p:sp>
        <p:nvSpPr>
          <p:cNvPr id="22" name="Text 18"/>
          <p:cNvSpPr txBox="1"/>
          <p:nvPr/>
        </p:nvSpPr>
        <p:spPr>
          <a:xfrm>
            <a:off x="4937760" y="2240280"/>
            <a:ext cx="3566160" cy="475488"/>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But</a:t>
            </a:r>
            <a:endParaRPr lang="en-US" sz="1100" dirty="0"/>
          </a:p>
          <a:p>
            <a:pPr indent="0" marL="0">
              <a:buNone/>
            </a:pPr>
            <a:r>
              <a:rPr lang="en-US" sz="1100" dirty="0">
                <a:solidFill>
                  <a:srgbClr val="5E6964"/>
                </a:solidFill>
                <a:latin typeface="Calibri" pitchFamily="34" charset="0"/>
                <a:ea typeface="Calibri" pitchFamily="34" charset="-122"/>
                <a:cs typeface="Calibri" pitchFamily="34" charset="-120"/>
              </a:rPr>
              <a:t>prédire le cas suivant, inconnu</a:t>
            </a:r>
            <a:endParaRPr lang="en-US" sz="1100" dirty="0"/>
          </a:p>
        </p:txBody>
      </p:sp>
      <p:sp>
        <p:nvSpPr>
          <p:cNvPr id="23" name="Text 19"/>
          <p:cNvSpPr txBox="1"/>
          <p:nvPr/>
        </p:nvSpPr>
        <p:spPr>
          <a:xfrm>
            <a:off x="4937760" y="2770632"/>
            <a:ext cx="3566160" cy="475488"/>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Validation</a:t>
            </a:r>
            <a:endParaRPr lang="en-US" sz="1100" dirty="0"/>
          </a:p>
          <a:p>
            <a:pPr indent="0" marL="0">
              <a:buNone/>
            </a:pPr>
            <a:r>
              <a:rPr lang="en-US" sz="1100" dirty="0">
                <a:solidFill>
                  <a:srgbClr val="5E6964"/>
                </a:solidFill>
                <a:latin typeface="Calibri" pitchFamily="34" charset="0"/>
                <a:ea typeface="Calibri" pitchFamily="34" charset="-122"/>
                <a:cs typeface="Calibri" pitchFamily="34" charset="-120"/>
              </a:rPr>
              <a:t>exactitude hors échantillon</a:t>
            </a:r>
            <a:endParaRPr lang="en-US" sz="1100" dirty="0"/>
          </a:p>
        </p:txBody>
      </p:sp>
      <p:sp>
        <p:nvSpPr>
          <p:cNvPr id="24" name="Text 20"/>
          <p:cNvSpPr txBox="1"/>
          <p:nvPr/>
        </p:nvSpPr>
        <p:spPr>
          <a:xfrm>
            <a:off x="4937760" y="3300984"/>
            <a:ext cx="3566160" cy="475488"/>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Paramètres</a:t>
            </a:r>
            <a:endParaRPr lang="en-US" sz="1100" dirty="0"/>
          </a:p>
          <a:p>
            <a:pPr indent="0" marL="0">
              <a:buNone/>
            </a:pPr>
            <a:r>
              <a:rPr lang="en-US" sz="1100" dirty="0">
                <a:solidFill>
                  <a:srgbClr val="5E6964"/>
                </a:solidFill>
                <a:latin typeface="Calibri" pitchFamily="34" charset="0"/>
                <a:ea typeface="Calibri" pitchFamily="34" charset="-122"/>
                <a:cs typeface="Calibri" pitchFamily="34" charset="-120"/>
              </a:rPr>
              <a:t>sans interprétation directe</a:t>
            </a:r>
            <a:endParaRPr lang="en-US" sz="1100" dirty="0"/>
          </a:p>
        </p:txBody>
      </p:sp>
      <p:sp>
        <p:nvSpPr>
          <p:cNvPr id="25" name="Text 21"/>
          <p:cNvSpPr txBox="1"/>
          <p:nvPr/>
        </p:nvSpPr>
        <p:spPr>
          <a:xfrm>
            <a:off x="4937760" y="3831336"/>
            <a:ext cx="3566160" cy="475488"/>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Échoue si</a:t>
            </a:r>
            <a:endParaRPr lang="en-US" sz="1100" dirty="0"/>
          </a:p>
          <a:p>
            <a:pPr indent="0" marL="0">
              <a:buNone/>
            </a:pPr>
            <a:r>
              <a:rPr lang="en-US" sz="1100" dirty="0">
                <a:solidFill>
                  <a:srgbClr val="5E6964"/>
                </a:solidFill>
                <a:latin typeface="Calibri" pitchFamily="34" charset="0"/>
                <a:ea typeface="Calibri" pitchFamily="34" charset="-122"/>
                <a:cs typeface="Calibri" pitchFamily="34" charset="-120"/>
              </a:rPr>
              <a:t>demain cesse de ressembler à hier</a:t>
            </a:r>
            <a:endParaRPr lang="en-US" sz="1100" dirty="0"/>
          </a:p>
        </p:txBody>
      </p:sp>
      <p:sp>
        <p:nvSpPr>
          <p:cNvPr id="26" name="Text 22"/>
          <p:cNvSpPr txBox="1"/>
          <p:nvPr/>
        </p:nvSpPr>
        <p:spPr>
          <a:xfrm>
            <a:off x="457200" y="4590288"/>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Breiman, L. (2001). Statistical Modeling: The Two Cultures. Statistical Science 16(3), 199–231.</a:t>
            </a:r>
            <a:endParaRPr lang="en-US" sz="9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ANNEXE  ·  FAMILLES D'APPRENTISSAGE</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Supervisé, non supervisé, renforcement : trois questions</a:t>
            </a:r>
            <a:endParaRPr lang="en-US" sz="24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0" name="Shape 8"/>
          <p:cNvSpPr/>
          <p:nvPr/>
        </p:nvSpPr>
        <p:spPr>
          <a:xfrm>
            <a:off x="457200" y="1371600"/>
            <a:ext cx="2606040" cy="2606040"/>
          </a:xfrm>
          <a:prstGeom prst="roundRect">
            <a:avLst>
              <a:gd name="adj" fmla="val 2807"/>
            </a:avLst>
          </a:prstGeom>
          <a:solidFill>
            <a:srgbClr val="F4F7F5"/>
          </a:solidFill>
          <a:ln w="9525">
            <a:solidFill>
              <a:srgbClr val="D5DED9"/>
            </a:solidFill>
            <a:prstDash val="solid"/>
          </a:ln>
        </p:spPr>
      </p:sp>
      <p:sp>
        <p:nvSpPr>
          <p:cNvPr id="11" name="Shape 9"/>
          <p:cNvSpPr/>
          <p:nvPr/>
        </p:nvSpPr>
        <p:spPr>
          <a:xfrm>
            <a:off x="658368" y="1517904"/>
            <a:ext cx="548640" cy="548640"/>
          </a:xfrm>
          <a:prstGeom prst="ellipse">
            <a:avLst/>
          </a:prstGeom>
          <a:solidFill>
            <a:srgbClr val="00A86A">
              <a:alpha val="22000"/>
            </a:srgbClr>
          </a:solidFill>
          <a:ln/>
        </p:spPr>
      </p:sp>
      <p:pic>
        <p:nvPicPr>
          <p:cNvPr id="12" name="Image 0" descr="preencoded.png">    </p:cNvPr>
          <p:cNvPicPr>
            <a:picLocks noChangeAspect="1"/>
          </p:cNvPicPr>
          <p:nvPr/>
        </p:nvPicPr>
        <p:blipFill>
          <a:blip r:embed="rId1"/>
          <a:stretch>
            <a:fillRect/>
          </a:stretch>
        </p:blipFill>
        <p:spPr>
          <a:xfrm>
            <a:off x="790042" y="1649578"/>
            <a:ext cx="285293" cy="285293"/>
          </a:xfrm>
          <a:prstGeom prst="rect">
            <a:avLst/>
          </a:prstGeom>
        </p:spPr>
      </p:pic>
      <p:sp>
        <p:nvSpPr>
          <p:cNvPr id="13" name="Text 10"/>
          <p:cNvSpPr txBox="1"/>
          <p:nvPr/>
        </p:nvSpPr>
        <p:spPr>
          <a:xfrm>
            <a:off x="658368" y="2176272"/>
            <a:ext cx="2240280" cy="347472"/>
          </a:xfrm>
          <a:prstGeom prst="rect">
            <a:avLst/>
          </a:prstGeom>
          <a:noFill/>
          <a:ln/>
        </p:spPr>
        <p:txBody>
          <a:bodyPr wrap="square" lIns="0" tIns="0" rIns="0" bIns="0" rtlCol="0" anchor="t"/>
          <a:lstStyle/>
          <a:p>
            <a:pPr indent="0" marL="0">
              <a:buNone/>
            </a:pPr>
            <a:r>
              <a:rPr lang="en-US" sz="1500" b="1" dirty="0">
                <a:solidFill>
                  <a:srgbClr val="00A86A"/>
                </a:solidFill>
                <a:latin typeface="Calibri" pitchFamily="34" charset="0"/>
                <a:ea typeface="Calibri" pitchFamily="34" charset="-122"/>
                <a:cs typeface="Calibri" pitchFamily="34" charset="-120"/>
              </a:rPr>
              <a:t>Supervisé</a:t>
            </a:r>
            <a:endParaRPr lang="en-US" sz="1500" dirty="0"/>
          </a:p>
        </p:txBody>
      </p:sp>
      <p:sp>
        <p:nvSpPr>
          <p:cNvPr id="14" name="Text 11"/>
          <p:cNvSpPr txBox="1"/>
          <p:nvPr/>
        </p:nvSpPr>
        <p:spPr>
          <a:xfrm>
            <a:off x="658368" y="2542032"/>
            <a:ext cx="2240280" cy="64008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Disposez-vous d'exemples étiquetés de la bonne réponse ?</a:t>
            </a:r>
            <a:endParaRPr lang="en-US" sz="1100" dirty="0"/>
          </a:p>
        </p:txBody>
      </p:sp>
      <p:sp>
        <p:nvSpPr>
          <p:cNvPr id="15" name="Text 12"/>
          <p:cNvSpPr txBox="1"/>
          <p:nvPr/>
        </p:nvSpPr>
        <p:spPr>
          <a:xfrm>
            <a:off x="658368" y="3200400"/>
            <a:ext cx="2240280" cy="68580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Ex. : Recensement avec professions codées à la main : les codes sont les étiquettes.</a:t>
            </a:r>
            <a:endParaRPr lang="en-US" sz="950" dirty="0"/>
          </a:p>
        </p:txBody>
      </p:sp>
      <p:sp>
        <p:nvSpPr>
          <p:cNvPr id="16" name="Shape 13"/>
          <p:cNvSpPr/>
          <p:nvPr/>
        </p:nvSpPr>
        <p:spPr>
          <a:xfrm>
            <a:off x="3268980" y="1371600"/>
            <a:ext cx="2606040" cy="2606040"/>
          </a:xfrm>
          <a:prstGeom prst="roundRect">
            <a:avLst>
              <a:gd name="adj" fmla="val 2807"/>
            </a:avLst>
          </a:prstGeom>
          <a:solidFill>
            <a:srgbClr val="F4F7F5"/>
          </a:solidFill>
          <a:ln w="9525">
            <a:solidFill>
              <a:srgbClr val="D5DED9"/>
            </a:solidFill>
            <a:prstDash val="solid"/>
          </a:ln>
        </p:spPr>
      </p:sp>
      <p:sp>
        <p:nvSpPr>
          <p:cNvPr id="17" name="Shape 14"/>
          <p:cNvSpPr/>
          <p:nvPr/>
        </p:nvSpPr>
        <p:spPr>
          <a:xfrm>
            <a:off x="3470148" y="1517904"/>
            <a:ext cx="548640" cy="548640"/>
          </a:xfrm>
          <a:prstGeom prst="ellipse">
            <a:avLst/>
          </a:prstGeom>
          <a:solidFill>
            <a:srgbClr val="0E7C86">
              <a:alpha val="22000"/>
            </a:srgbClr>
          </a:solidFill>
          <a:ln/>
        </p:spPr>
      </p:sp>
      <p:pic>
        <p:nvPicPr>
          <p:cNvPr id="18" name="Image 1" descr="preencoded.png">    </p:cNvPr>
          <p:cNvPicPr>
            <a:picLocks noChangeAspect="1"/>
          </p:cNvPicPr>
          <p:nvPr/>
        </p:nvPicPr>
        <p:blipFill>
          <a:blip r:embed="rId2"/>
          <a:stretch>
            <a:fillRect/>
          </a:stretch>
        </p:blipFill>
        <p:spPr>
          <a:xfrm>
            <a:off x="3601822" y="1649578"/>
            <a:ext cx="285293" cy="285293"/>
          </a:xfrm>
          <a:prstGeom prst="rect">
            <a:avLst/>
          </a:prstGeom>
        </p:spPr>
      </p:pic>
      <p:sp>
        <p:nvSpPr>
          <p:cNvPr id="19" name="Text 15"/>
          <p:cNvSpPr txBox="1"/>
          <p:nvPr/>
        </p:nvSpPr>
        <p:spPr>
          <a:xfrm>
            <a:off x="3470148" y="2176272"/>
            <a:ext cx="2240280" cy="347472"/>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Non supervisé</a:t>
            </a:r>
            <a:endParaRPr lang="en-US" sz="1500" dirty="0"/>
          </a:p>
        </p:txBody>
      </p:sp>
      <p:sp>
        <p:nvSpPr>
          <p:cNvPr id="20" name="Text 16"/>
          <p:cNvSpPr txBox="1"/>
          <p:nvPr/>
        </p:nvSpPr>
        <p:spPr>
          <a:xfrm>
            <a:off x="3470148" y="2542032"/>
            <a:ext cx="2240280" cy="64008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Seulement des enregistrements bruts, et vous cherchez une structure ?</a:t>
            </a:r>
            <a:endParaRPr lang="en-US" sz="1100" dirty="0"/>
          </a:p>
        </p:txBody>
      </p:sp>
      <p:sp>
        <p:nvSpPr>
          <p:cNvPr id="21" name="Text 17"/>
          <p:cNvSpPr txBox="1"/>
          <p:nvPr/>
        </p:nvSpPr>
        <p:spPr>
          <a:xfrm>
            <a:off x="3470148" y="3200400"/>
            <a:ext cx="2240280" cy="68580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Ex. : Dédoublonnage et regroupement du répertoire d'entreprises.</a:t>
            </a:r>
            <a:endParaRPr lang="en-US" sz="950" dirty="0"/>
          </a:p>
        </p:txBody>
      </p:sp>
      <p:sp>
        <p:nvSpPr>
          <p:cNvPr id="22" name="Shape 18"/>
          <p:cNvSpPr/>
          <p:nvPr/>
        </p:nvSpPr>
        <p:spPr>
          <a:xfrm>
            <a:off x="6080760" y="1371600"/>
            <a:ext cx="2606040" cy="2606040"/>
          </a:xfrm>
          <a:prstGeom prst="roundRect">
            <a:avLst>
              <a:gd name="adj" fmla="val 2807"/>
            </a:avLst>
          </a:prstGeom>
          <a:solidFill>
            <a:srgbClr val="F4F7F5"/>
          </a:solidFill>
          <a:ln w="9525">
            <a:solidFill>
              <a:srgbClr val="D5DED9"/>
            </a:solidFill>
            <a:prstDash val="solid"/>
          </a:ln>
        </p:spPr>
      </p:sp>
      <p:sp>
        <p:nvSpPr>
          <p:cNvPr id="23" name="Shape 19"/>
          <p:cNvSpPr/>
          <p:nvPr/>
        </p:nvSpPr>
        <p:spPr>
          <a:xfrm>
            <a:off x="6281928" y="1517904"/>
            <a:ext cx="548640" cy="548640"/>
          </a:xfrm>
          <a:prstGeom prst="ellipse">
            <a:avLst/>
          </a:prstGeom>
          <a:solidFill>
            <a:srgbClr val="C4621D">
              <a:alpha val="22000"/>
            </a:srgbClr>
          </a:solidFill>
          <a:ln/>
        </p:spPr>
      </p:sp>
      <p:pic>
        <p:nvPicPr>
          <p:cNvPr id="24" name="Image 2" descr="preencoded.png">    </p:cNvPr>
          <p:cNvPicPr>
            <a:picLocks noChangeAspect="1"/>
          </p:cNvPicPr>
          <p:nvPr/>
        </p:nvPicPr>
        <p:blipFill>
          <a:blip r:embed="rId3"/>
          <a:stretch>
            <a:fillRect/>
          </a:stretch>
        </p:blipFill>
        <p:spPr>
          <a:xfrm>
            <a:off x="6413602" y="1649578"/>
            <a:ext cx="285293" cy="285293"/>
          </a:xfrm>
          <a:prstGeom prst="rect">
            <a:avLst/>
          </a:prstGeom>
        </p:spPr>
      </p:pic>
      <p:sp>
        <p:nvSpPr>
          <p:cNvPr id="25" name="Text 20"/>
          <p:cNvSpPr txBox="1"/>
          <p:nvPr/>
        </p:nvSpPr>
        <p:spPr>
          <a:xfrm>
            <a:off x="6281928" y="2176272"/>
            <a:ext cx="2240280" cy="347472"/>
          </a:xfrm>
          <a:prstGeom prst="rect">
            <a:avLst/>
          </a:prstGeom>
          <a:noFill/>
          <a:ln/>
        </p:spPr>
        <p:txBody>
          <a:bodyPr wrap="square" lIns="0" tIns="0" rIns="0" bIns="0" rtlCol="0" anchor="t"/>
          <a:lstStyle/>
          <a:p>
            <a:pPr indent="0" marL="0">
              <a:buNone/>
            </a:pPr>
            <a:r>
              <a:rPr lang="en-US" sz="1500" b="1" dirty="0">
                <a:solidFill>
                  <a:srgbClr val="C4621D"/>
                </a:solidFill>
                <a:latin typeface="Calibri" pitchFamily="34" charset="0"/>
                <a:ea typeface="Calibri" pitchFamily="34" charset="-122"/>
                <a:cs typeface="Calibri" pitchFamily="34" charset="-120"/>
              </a:rPr>
              <a:t>Par renforcement</a:t>
            </a:r>
            <a:endParaRPr lang="en-US" sz="1500" dirty="0"/>
          </a:p>
        </p:txBody>
      </p:sp>
      <p:sp>
        <p:nvSpPr>
          <p:cNvPr id="26" name="Text 21"/>
          <p:cNvSpPr txBox="1"/>
          <p:nvPr/>
        </p:nvSpPr>
        <p:spPr>
          <a:xfrm>
            <a:off x="6281928" y="2542032"/>
            <a:ext cx="2240280" cy="64008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Un système qui agit, et quelque chose qui note ses actions ?</a:t>
            </a:r>
            <a:endParaRPr lang="en-US" sz="1100" dirty="0"/>
          </a:p>
        </p:txBody>
      </p:sp>
      <p:sp>
        <p:nvSpPr>
          <p:cNvPr id="27" name="Text 22"/>
          <p:cNvSpPr txBox="1"/>
          <p:nvPr/>
        </p:nvSpPr>
        <p:spPr>
          <a:xfrm>
            <a:off x="6281928" y="3200400"/>
            <a:ext cx="2240280" cy="68580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Ex. : Presque aucun cas en INS aujourd'hui — la branche la plus survendue.</a:t>
            </a:r>
            <a:endParaRPr lang="en-US" sz="950" dirty="0"/>
          </a:p>
        </p:txBody>
      </p:sp>
      <p:sp>
        <p:nvSpPr>
          <p:cNvPr id="28" name="Shape 23"/>
          <p:cNvSpPr/>
          <p:nvPr/>
        </p:nvSpPr>
        <p:spPr>
          <a:xfrm>
            <a:off x="457200" y="4114800"/>
            <a:ext cx="8229600" cy="420624"/>
          </a:xfrm>
          <a:prstGeom prst="roundRect">
            <a:avLst>
              <a:gd name="adj" fmla="val 17391"/>
            </a:avLst>
          </a:prstGeom>
          <a:solidFill>
            <a:srgbClr val="E8F5EF"/>
          </a:solidFill>
          <a:ln w="15875">
            <a:solidFill>
              <a:srgbClr val="00A86A"/>
            </a:solidFill>
            <a:prstDash val="solid"/>
          </a:ln>
        </p:spPr>
      </p:sp>
      <p:sp>
        <p:nvSpPr>
          <p:cNvPr id="29" name="Text 24"/>
          <p:cNvSpPr txBox="1"/>
          <p:nvPr/>
        </p:nvSpPr>
        <p:spPr>
          <a:xfrm>
            <a:off x="640080" y="4114800"/>
            <a:ext cx="7863840" cy="420624"/>
          </a:xfrm>
          <a:prstGeom prst="rect">
            <a:avLst/>
          </a:prstGeom>
          <a:noFill/>
          <a:ln/>
        </p:spPr>
        <p:txBody>
          <a:bodyPr wrap="square" lIns="0" tIns="0" rIns="0" bIns="0" rtlCol="0" anchor="ctr"/>
          <a:lstStyle/>
          <a:p>
            <a:pPr indent="0" marL="0">
              <a:buNone/>
            </a:pPr>
            <a:r>
              <a:rPr lang="en-US" sz="1150" b="1" dirty="0">
                <a:solidFill>
                  <a:srgbClr val="00704A"/>
                </a:solidFill>
                <a:latin typeface="Calibri" pitchFamily="34" charset="0"/>
                <a:ea typeface="Calibri" pitchFamily="34" charset="-122"/>
                <a:cs typeface="Calibri" pitchFamily="34" charset="-120"/>
              </a:rPr>
              <a:t>Un même algorithme sert dans les trois cas : la question est ce que vous détenez, pas ce que vous achetez.</a:t>
            </a:r>
            <a:endParaRPr lang="en-US" sz="115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ANNEXE  ·  COÛT DU PRÉ-ENTRAÎNEMENT</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Pourquoi un INS ne pré-entraînera pas son propre GML</a:t>
            </a:r>
            <a:endParaRPr lang="en-US" sz="24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0" name="Shape 8"/>
          <p:cNvSpPr/>
          <p:nvPr/>
        </p:nvSpPr>
        <p:spPr>
          <a:xfrm>
            <a:off x="457200" y="1371600"/>
            <a:ext cx="3474720" cy="2834640"/>
          </a:xfrm>
          <a:prstGeom prst="roundRect">
            <a:avLst>
              <a:gd name="adj" fmla="val 2581"/>
            </a:avLst>
          </a:prstGeom>
          <a:solidFill>
            <a:srgbClr val="E8F5EF"/>
          </a:solidFill>
          <a:ln w="15875">
            <a:solidFill>
              <a:srgbClr val="00A86A"/>
            </a:solidFill>
            <a:prstDash val="solid"/>
          </a:ln>
        </p:spPr>
      </p:sp>
      <p:sp>
        <p:nvSpPr>
          <p:cNvPr id="11" name="Text 9"/>
          <p:cNvSpPr txBox="1"/>
          <p:nvPr/>
        </p:nvSpPr>
        <p:spPr>
          <a:xfrm>
            <a:off x="640080" y="1600200"/>
            <a:ext cx="3108960" cy="1005840"/>
          </a:xfrm>
          <a:prstGeom prst="rect">
            <a:avLst/>
          </a:prstGeom>
          <a:noFill/>
          <a:ln/>
        </p:spPr>
        <p:txBody>
          <a:bodyPr wrap="square" lIns="0" tIns="0" rIns="0" bIns="0" rtlCol="0" anchor="ctr"/>
          <a:lstStyle/>
          <a:p>
            <a:pPr algn="ctr" indent="0" marL="0">
              <a:buNone/>
            </a:pPr>
            <a:r>
              <a:rPr lang="en-US" sz="6000" b="1" dirty="0">
                <a:solidFill>
                  <a:srgbClr val="00A86A"/>
                </a:solidFill>
                <a:latin typeface="Calibri" pitchFamily="34" charset="0"/>
                <a:ea typeface="Calibri" pitchFamily="34" charset="-122"/>
                <a:cs typeface="Calibri" pitchFamily="34" charset="-120"/>
              </a:rPr>
              <a:t>20 : 1</a:t>
            </a:r>
            <a:endParaRPr lang="en-US" sz="6000" dirty="0"/>
          </a:p>
        </p:txBody>
      </p:sp>
      <p:sp>
        <p:nvSpPr>
          <p:cNvPr id="12" name="Text 10"/>
          <p:cNvSpPr txBox="1"/>
          <p:nvPr/>
        </p:nvSpPr>
        <p:spPr>
          <a:xfrm>
            <a:off x="731520" y="2697480"/>
            <a:ext cx="2926080" cy="640080"/>
          </a:xfrm>
          <a:prstGeom prst="rect">
            <a:avLst/>
          </a:prstGeom>
          <a:noFill/>
          <a:ln/>
        </p:spPr>
        <p:txBody>
          <a:bodyPr wrap="square" lIns="0" tIns="0" rIns="0" bIns="0" rtlCol="0" anchor="t"/>
          <a:lstStyle/>
          <a:p>
            <a:pPr algn="ctr" indent="0" marL="0">
              <a:buNone/>
            </a:pPr>
            <a:r>
              <a:rPr lang="en-US" sz="1200" dirty="0">
                <a:solidFill>
                  <a:srgbClr val="5E6964"/>
                </a:solidFill>
                <a:latin typeface="Calibri" pitchFamily="34" charset="0"/>
                <a:ea typeface="Calibri" pitchFamily="34" charset="-122"/>
                <a:cs typeface="Calibri" pitchFamily="34" charset="-120"/>
              </a:rPr>
              <a:t>jetons d'entraînement par paramètre pour un modèle optimal en calcul</a:t>
            </a:r>
            <a:endParaRPr lang="en-US" sz="1200" dirty="0"/>
          </a:p>
        </p:txBody>
      </p:sp>
      <p:sp>
        <p:nvSpPr>
          <p:cNvPr id="13" name="Shape 11"/>
          <p:cNvSpPr/>
          <p:nvPr/>
        </p:nvSpPr>
        <p:spPr>
          <a:xfrm>
            <a:off x="4206240" y="1417320"/>
            <a:ext cx="457200" cy="457200"/>
          </a:xfrm>
          <a:prstGeom prst="ellipse">
            <a:avLst/>
          </a:prstGeom>
          <a:solidFill>
            <a:srgbClr val="00704A">
              <a:alpha val="22000"/>
            </a:srgbClr>
          </a:solidFill>
          <a:ln/>
        </p:spPr>
      </p:sp>
      <p:pic>
        <p:nvPicPr>
          <p:cNvPr id="14" name="Image 0" descr="preencoded.png">    </p:cNvPr>
          <p:cNvPicPr>
            <a:picLocks noChangeAspect="1"/>
          </p:cNvPicPr>
          <p:nvPr/>
        </p:nvPicPr>
        <p:blipFill>
          <a:blip r:embed="rId1"/>
          <a:stretch>
            <a:fillRect/>
          </a:stretch>
        </p:blipFill>
        <p:spPr>
          <a:xfrm>
            <a:off x="4315968" y="1527048"/>
            <a:ext cx="237744" cy="237744"/>
          </a:xfrm>
          <a:prstGeom prst="rect">
            <a:avLst/>
          </a:prstGeom>
        </p:spPr>
      </p:pic>
      <p:sp>
        <p:nvSpPr>
          <p:cNvPr id="15" name="Text 12"/>
          <p:cNvSpPr txBox="1"/>
          <p:nvPr/>
        </p:nvSpPr>
        <p:spPr>
          <a:xfrm>
            <a:off x="4800600" y="1371600"/>
            <a:ext cx="3886200" cy="868680"/>
          </a:xfrm>
          <a:prstGeom prst="rect">
            <a:avLst/>
          </a:prstGeom>
          <a:noFill/>
          <a:ln/>
        </p:spPr>
        <p:txBody>
          <a:bodyPr wrap="square" lIns="0" tIns="0" rIns="0" bIns="0" rtlCol="0" anchor="t"/>
          <a:lstStyle/>
          <a:p>
            <a:pPr indent="0" marL="0">
              <a:buNone/>
            </a:pPr>
            <a:r>
              <a:rPr lang="en-US" sz="1250" b="1" dirty="0">
                <a:solidFill>
                  <a:srgbClr val="00704A"/>
                </a:solidFill>
                <a:latin typeface="Calibri" pitchFamily="34" charset="0"/>
                <a:ea typeface="Calibri" pitchFamily="34" charset="-122"/>
                <a:cs typeface="Calibri" pitchFamily="34" charset="-120"/>
              </a:rPr>
              <a:t>Un ordre de grandeur</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À l'échelle des modèles utilisés cette semaine, cela représente un corpus et un budget de calcul qu'aucun INS ne réunira — ni ne devrait réunir.</a:t>
            </a:r>
            <a:endParaRPr lang="en-US" sz="1100" dirty="0"/>
          </a:p>
        </p:txBody>
      </p:sp>
      <p:sp>
        <p:nvSpPr>
          <p:cNvPr id="16" name="Shape 13"/>
          <p:cNvSpPr/>
          <p:nvPr/>
        </p:nvSpPr>
        <p:spPr>
          <a:xfrm>
            <a:off x="4206240" y="2377440"/>
            <a:ext cx="457200" cy="457200"/>
          </a:xfrm>
          <a:prstGeom prst="ellipse">
            <a:avLst/>
          </a:prstGeom>
          <a:solidFill>
            <a:srgbClr val="D49A00">
              <a:alpha val="22000"/>
            </a:srgbClr>
          </a:solidFill>
          <a:ln/>
        </p:spPr>
      </p:sp>
      <p:pic>
        <p:nvPicPr>
          <p:cNvPr id="17" name="Image 1" descr="preencoded.png">    </p:cNvPr>
          <p:cNvPicPr>
            <a:picLocks noChangeAspect="1"/>
          </p:cNvPicPr>
          <p:nvPr/>
        </p:nvPicPr>
        <p:blipFill>
          <a:blip r:embed="rId2"/>
          <a:stretch>
            <a:fillRect/>
          </a:stretch>
        </p:blipFill>
        <p:spPr>
          <a:xfrm>
            <a:off x="4315968" y="2487168"/>
            <a:ext cx="237744" cy="237744"/>
          </a:xfrm>
          <a:prstGeom prst="rect">
            <a:avLst/>
          </a:prstGeom>
        </p:spPr>
      </p:pic>
      <p:sp>
        <p:nvSpPr>
          <p:cNvPr id="18" name="Text 14"/>
          <p:cNvSpPr txBox="1"/>
          <p:nvPr/>
        </p:nvSpPr>
        <p:spPr>
          <a:xfrm>
            <a:off x="4800600" y="2331720"/>
            <a:ext cx="3886200" cy="868680"/>
          </a:xfrm>
          <a:prstGeom prst="rect">
            <a:avLst/>
          </a:prstGeom>
          <a:noFill/>
          <a:ln/>
        </p:spPr>
        <p:txBody>
          <a:bodyPr wrap="square" lIns="0" tIns="0" rIns="0" bIns="0" rtlCol="0" anchor="t"/>
          <a:lstStyle/>
          <a:p>
            <a:pPr indent="0" marL="0">
              <a:buNone/>
            </a:pPr>
            <a:r>
              <a:rPr lang="en-US" sz="1250" b="1" dirty="0">
                <a:solidFill>
                  <a:srgbClr val="D49A00"/>
                </a:solidFill>
                <a:latin typeface="Calibri" pitchFamily="34" charset="0"/>
                <a:ea typeface="Calibri" pitchFamily="34" charset="-122"/>
                <a:cs typeface="Calibri" pitchFamily="34" charset="-120"/>
              </a:rPr>
              <a:t>Ne pas confondre</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Pré-entraînement (hors de portée) et affinage (accessible, par exemple avec LoRA sur une seule carte graphique).</a:t>
            </a:r>
            <a:endParaRPr lang="en-US" sz="1100" dirty="0"/>
          </a:p>
        </p:txBody>
      </p:sp>
      <p:sp>
        <p:nvSpPr>
          <p:cNvPr id="19" name="Shape 15"/>
          <p:cNvSpPr/>
          <p:nvPr/>
        </p:nvSpPr>
        <p:spPr>
          <a:xfrm>
            <a:off x="4206240" y="3337560"/>
            <a:ext cx="457200" cy="457200"/>
          </a:xfrm>
          <a:prstGeom prst="ellipse">
            <a:avLst/>
          </a:prstGeom>
          <a:solidFill>
            <a:srgbClr val="00A86A">
              <a:alpha val="22000"/>
            </a:srgbClr>
          </a:solidFill>
          <a:ln/>
        </p:spPr>
      </p:sp>
      <p:pic>
        <p:nvPicPr>
          <p:cNvPr id="20" name="Image 2" descr="preencoded.png">    </p:cNvPr>
          <p:cNvPicPr>
            <a:picLocks noChangeAspect="1"/>
          </p:cNvPicPr>
          <p:nvPr/>
        </p:nvPicPr>
        <p:blipFill>
          <a:blip r:embed="rId3"/>
          <a:stretch>
            <a:fillRect/>
          </a:stretch>
        </p:blipFill>
        <p:spPr>
          <a:xfrm>
            <a:off x="4315968" y="3447288"/>
            <a:ext cx="237744" cy="237744"/>
          </a:xfrm>
          <a:prstGeom prst="rect">
            <a:avLst/>
          </a:prstGeom>
        </p:spPr>
      </p:pic>
      <p:sp>
        <p:nvSpPr>
          <p:cNvPr id="21" name="Text 16"/>
          <p:cNvSpPr txBox="1"/>
          <p:nvPr/>
        </p:nvSpPr>
        <p:spPr>
          <a:xfrm>
            <a:off x="4800600" y="3291840"/>
            <a:ext cx="3886200" cy="868680"/>
          </a:xfrm>
          <a:prstGeom prst="rect">
            <a:avLst/>
          </a:prstGeom>
          <a:noFill/>
          <a:ln/>
        </p:spPr>
        <p:txBody>
          <a:bodyPr wrap="square" lIns="0" tIns="0" rIns="0" bIns="0" rtlCol="0" anchor="t"/>
          <a:lstStyle/>
          <a:p>
            <a:pPr indent="0" marL="0">
              <a:buNone/>
            </a:pPr>
            <a:r>
              <a:rPr lang="en-US" sz="1250" b="1" dirty="0">
                <a:solidFill>
                  <a:srgbClr val="00A86A"/>
                </a:solidFill>
                <a:latin typeface="Calibri" pitchFamily="34" charset="0"/>
                <a:ea typeface="Calibri" pitchFamily="34" charset="-122"/>
                <a:cs typeface="Calibri" pitchFamily="34" charset="-120"/>
              </a:rPr>
              <a:t>La vraie décision</a:t>
            </a:r>
            <a:endParaRPr lang="en-US" sz="1100" dirty="0"/>
          </a:p>
          <a:p>
            <a:pPr indent="0" marL="0">
              <a:buNone/>
            </a:pPr>
            <a:r>
              <a:rPr lang="en-US" sz="1050" dirty="0">
                <a:solidFill>
                  <a:srgbClr val="231F20"/>
                </a:solidFill>
                <a:latin typeface="Calibri" pitchFamily="34" charset="0"/>
                <a:ea typeface="Calibri" pitchFamily="34" charset="-122"/>
                <a:cs typeface="Calibri" pitchFamily="34" charset="-120"/>
              </a:rPr>
              <a:t>Choisir, évaluer et encadrer un modèle existant — pas en construire un.</a:t>
            </a:r>
            <a:endParaRPr lang="en-US" sz="1100" dirty="0"/>
          </a:p>
        </p:txBody>
      </p:sp>
      <p:sp>
        <p:nvSpPr>
          <p:cNvPr id="22" name="Text 17"/>
          <p:cNvSpPr txBox="1"/>
          <p:nvPr/>
        </p:nvSpPr>
        <p:spPr>
          <a:xfrm>
            <a:off x="457200" y="4590288"/>
            <a:ext cx="813816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Hoffmann et al. (2022), Training Compute-Optimal LLMs, NeurIPS 35 · Hu et al. (2022), LoRA, ICLR · Dettmers et al. (2023), QLoRA, NeurIPS 36.</a:t>
            </a:r>
            <a:endParaRPr lang="en-US" sz="9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SOURCES  ·  1 / 3</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Sources : d'où vient chaque affirmation</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0" name="Shape 8"/>
          <p:cNvSpPr/>
          <p:nvPr/>
        </p:nvSpPr>
        <p:spPr>
          <a:xfrm>
            <a:off x="457200" y="1325880"/>
            <a:ext cx="4023360" cy="3218688"/>
          </a:xfrm>
          <a:prstGeom prst="roundRect">
            <a:avLst>
              <a:gd name="adj" fmla="val 2273"/>
            </a:avLst>
          </a:prstGeom>
          <a:solidFill>
            <a:srgbClr val="F4F7F5"/>
          </a:solidFill>
          <a:ln w="9525">
            <a:solidFill>
              <a:srgbClr val="D5DED9"/>
            </a:solidFill>
            <a:prstDash val="solid"/>
          </a:ln>
        </p:spPr>
      </p:sp>
      <p:pic>
        <p:nvPicPr>
          <p:cNvPr id="11" name="Image 0" descr="preencoded.png">    </p:cNvPr>
          <p:cNvPicPr>
            <a:picLocks noChangeAspect="1"/>
          </p:cNvPicPr>
          <p:nvPr/>
        </p:nvPicPr>
        <p:blipFill>
          <a:blip r:embed="rId1"/>
          <a:stretch>
            <a:fillRect/>
          </a:stretch>
        </p:blipFill>
        <p:spPr>
          <a:xfrm>
            <a:off x="594360" y="1426464"/>
            <a:ext cx="237744" cy="237744"/>
          </a:xfrm>
          <a:prstGeom prst="rect">
            <a:avLst/>
          </a:prstGeom>
        </p:spPr>
      </p:pic>
      <p:sp>
        <p:nvSpPr>
          <p:cNvPr id="12" name="Text 9"/>
          <p:cNvSpPr txBox="1"/>
          <p:nvPr/>
        </p:nvSpPr>
        <p:spPr>
          <a:xfrm>
            <a:off x="914400" y="1399032"/>
            <a:ext cx="3474720" cy="292608"/>
          </a:xfrm>
          <a:prstGeom prst="rect">
            <a:avLst/>
          </a:prstGeom>
          <a:noFill/>
          <a:ln/>
        </p:spPr>
        <p:txBody>
          <a:bodyPr wrap="square" lIns="0" tIns="0" rIns="0" bIns="0" rtlCol="0" anchor="ctr"/>
          <a:lstStyle/>
          <a:p>
            <a:pPr indent="0" marL="0">
              <a:buNone/>
            </a:pPr>
            <a:r>
              <a:rPr lang="en-US" sz="1200" b="1" dirty="0">
                <a:solidFill>
                  <a:srgbClr val="00A86A"/>
                </a:solidFill>
                <a:latin typeface="Calibri" pitchFamily="34" charset="0"/>
                <a:ea typeface="Calibri" pitchFamily="34" charset="-122"/>
                <a:cs typeface="Calibri" pitchFamily="34" charset="-120"/>
              </a:rPr>
              <a:t>Le modèle : architecture et entraînement</a:t>
            </a:r>
            <a:endParaRPr lang="en-US" sz="1200" dirty="0"/>
          </a:p>
        </p:txBody>
      </p:sp>
      <p:sp>
        <p:nvSpPr>
          <p:cNvPr id="13" name="Text 10"/>
          <p:cNvSpPr txBox="1"/>
          <p:nvPr/>
        </p:nvSpPr>
        <p:spPr>
          <a:xfrm>
            <a:off x="59436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Rumelhart, D., Hinton, G. &amp; Williams, R. (1986). Learning representations by back-propagating errors. Nature 323, 533–536.</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Vaswani, A. et al. (2017). Attention Is All You Need. NeurIPS 30.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Hoffmann, J. et al. (2022). Training Compute-Optimal Large Language Models. NeurIPS 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Ouyang, L. et al. (2022). Training Language Models to Follow Instructions with Human Feedback. NeurIPS 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Hu, E. J. et al. (2022). LoRA: Low-Rank Adaptation of LLMs. ICLR 2022.</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Dettmers, T. et al. (2023). QLoRA: Efficient Finetuning of Quantized LLMs. NeurIPS 36.</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Wei, J. et al. (2022). Chain-of-Thought Prompting Elicits Reasoning. NeurIPS 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Wei, J. et al. (2022). Emergent Abilities of LLMs. TMLR.</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Schaeffer, R., Miranda, B. &amp; Koyejo, S. (2023). Are Emergent Abilities of LLMs a Mirage? NeurIPS 36.</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Bender, E. M. et al. (2021). On the Dangers of Stochastic Parrots. FAccT '21, 610–623.</a:t>
            </a:r>
            <a:endParaRPr lang="en-US" sz="900" dirty="0"/>
          </a:p>
        </p:txBody>
      </p:sp>
      <p:sp>
        <p:nvSpPr>
          <p:cNvPr id="14" name="Shape 11"/>
          <p:cNvSpPr/>
          <p:nvPr/>
        </p:nvSpPr>
        <p:spPr>
          <a:xfrm>
            <a:off x="4663440" y="1325880"/>
            <a:ext cx="4023360" cy="3218688"/>
          </a:xfrm>
          <a:prstGeom prst="roundRect">
            <a:avLst>
              <a:gd name="adj" fmla="val 2273"/>
            </a:avLst>
          </a:prstGeom>
          <a:solidFill>
            <a:srgbClr val="F4F7F5"/>
          </a:solidFill>
          <a:ln w="9525">
            <a:solidFill>
              <a:srgbClr val="D5DED9"/>
            </a:solidFill>
            <a:prstDash val="solid"/>
          </a:ln>
        </p:spPr>
      </p:sp>
      <p:pic>
        <p:nvPicPr>
          <p:cNvPr id="15" name="Image 1" descr="preencoded.png">    </p:cNvPr>
          <p:cNvPicPr>
            <a:picLocks noChangeAspect="1"/>
          </p:cNvPicPr>
          <p:nvPr/>
        </p:nvPicPr>
        <p:blipFill>
          <a:blip r:embed="rId2"/>
          <a:stretch>
            <a:fillRect/>
          </a:stretch>
        </p:blipFill>
        <p:spPr>
          <a:xfrm>
            <a:off x="4800600" y="1426464"/>
            <a:ext cx="237744" cy="237744"/>
          </a:xfrm>
          <a:prstGeom prst="rect">
            <a:avLst/>
          </a:prstGeom>
        </p:spPr>
      </p:pic>
      <p:sp>
        <p:nvSpPr>
          <p:cNvPr id="16" name="Text 12"/>
          <p:cNvSpPr txBox="1"/>
          <p:nvPr/>
        </p:nvSpPr>
        <p:spPr>
          <a:xfrm>
            <a:off x="5120640" y="1399032"/>
            <a:ext cx="3474720" cy="292608"/>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AGI : définitions et prévisions</a:t>
            </a:r>
            <a:endParaRPr lang="en-US" sz="1200" dirty="0"/>
          </a:p>
        </p:txBody>
      </p:sp>
      <p:sp>
        <p:nvSpPr>
          <p:cNvPr id="17" name="Text 13"/>
          <p:cNvSpPr txBox="1"/>
          <p:nvPr/>
        </p:nvSpPr>
        <p:spPr>
          <a:xfrm>
            <a:off x="480060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Legg, S. &amp; Hutter, M. (2007). Universal Intelligence: A Definition of Machine Intelligence. Minds and Machines 17(4), 391–444.</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OpenAI (2018). OpenAI Charter. openai.com/charter.</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Chollet, F. (2019). On the Measure of Intelligence. arXiv:1911.01547.</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Morris, M. et al. (2024). Levels of AGI for Operationalizing Progress on the Path to AGI. ICML 2024. arXiv:2311.02462.</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Grace, K. et al. (2024). Thousands of AI Authors on the Future of AI. arXiv:2401.02843.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Blili-Hamelin, B. et al. (2025). Stop treating 'AGI' as the north-star goal of AI research. arXiv:2502.03689.</a:t>
            </a:r>
            <a:endParaRPr lang="en-US" sz="95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SOURCES  ·  2 / 3</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Sources : d'où vient chaque affirmation</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38</a:t>
            </a:r>
            <a:endParaRPr lang="en-US" sz="850" dirty="0"/>
          </a:p>
        </p:txBody>
      </p:sp>
      <p:sp>
        <p:nvSpPr>
          <p:cNvPr id="10" name="Shape 8"/>
          <p:cNvSpPr/>
          <p:nvPr/>
        </p:nvSpPr>
        <p:spPr>
          <a:xfrm>
            <a:off x="457200" y="1325880"/>
            <a:ext cx="4023360" cy="3218688"/>
          </a:xfrm>
          <a:prstGeom prst="roundRect">
            <a:avLst>
              <a:gd name="adj" fmla="val 2273"/>
            </a:avLst>
          </a:prstGeom>
          <a:solidFill>
            <a:srgbClr val="F4F7F5"/>
          </a:solidFill>
          <a:ln w="9525">
            <a:solidFill>
              <a:srgbClr val="D5DED9"/>
            </a:solidFill>
            <a:prstDash val="solid"/>
          </a:ln>
        </p:spPr>
      </p:sp>
      <p:pic>
        <p:nvPicPr>
          <p:cNvPr id="11" name="Image 0" descr="preencoded.png">    </p:cNvPr>
          <p:cNvPicPr>
            <a:picLocks noChangeAspect="1"/>
          </p:cNvPicPr>
          <p:nvPr/>
        </p:nvPicPr>
        <p:blipFill>
          <a:blip r:embed="rId1"/>
          <a:stretch>
            <a:fillRect/>
          </a:stretch>
        </p:blipFill>
        <p:spPr>
          <a:xfrm>
            <a:off x="594360" y="1426464"/>
            <a:ext cx="237744" cy="237744"/>
          </a:xfrm>
          <a:prstGeom prst="rect">
            <a:avLst/>
          </a:prstGeom>
        </p:spPr>
      </p:pic>
      <p:sp>
        <p:nvSpPr>
          <p:cNvPr id="12" name="Text 9"/>
          <p:cNvSpPr txBox="1"/>
          <p:nvPr/>
        </p:nvSpPr>
        <p:spPr>
          <a:xfrm>
            <a:off x="914400" y="1399032"/>
            <a:ext cx="3474720" cy="292608"/>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Contexte, recherche et agents</a:t>
            </a:r>
            <a:endParaRPr lang="en-US" sz="1200" dirty="0"/>
          </a:p>
        </p:txBody>
      </p:sp>
      <p:sp>
        <p:nvSpPr>
          <p:cNvPr id="13" name="Text 10"/>
          <p:cNvSpPr txBox="1"/>
          <p:nvPr/>
        </p:nvSpPr>
        <p:spPr>
          <a:xfrm>
            <a:off x="59436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Lewis, P. et al. (2020). Retrieval-Augmented Generation for Knowledge-Intensive NLP Tasks. NeurIPS 33.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Karpukhin, V. et al. (2020). Dense Passage Retrieval for Open-Domain QA. EMNLP 2020.</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Muennighoff, N. et al. (2023). MTEB: Massive Text Embedding Benchmark. EACL 2023.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Yao, S. et al. (2023). ReAct: Synergizing Reasoning and Acting in LMs. ICLR 2023.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Schick, T. et al. (2023). Toolformer. NeurIPS 36.</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Anthropic (2024). Introducing the Model Context Protocol, 25 novembre 2024.</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Model Context Protocol, spécification 2026-07-28 ; gouvernance : Agentic AI Foundation (Linux Foundation), depuis le 9 décembre 2025. modelcontextprotocol.io</a:t>
            </a:r>
            <a:endParaRPr lang="en-US" sz="950" dirty="0"/>
          </a:p>
        </p:txBody>
      </p:sp>
      <p:sp>
        <p:nvSpPr>
          <p:cNvPr id="14" name="Shape 11"/>
          <p:cNvSpPr/>
          <p:nvPr/>
        </p:nvSpPr>
        <p:spPr>
          <a:xfrm>
            <a:off x="4663440" y="1325880"/>
            <a:ext cx="4023360" cy="3218688"/>
          </a:xfrm>
          <a:prstGeom prst="roundRect">
            <a:avLst>
              <a:gd name="adj" fmla="val 2273"/>
            </a:avLst>
          </a:prstGeom>
          <a:solidFill>
            <a:srgbClr val="F4F7F5"/>
          </a:solidFill>
          <a:ln w="9525">
            <a:solidFill>
              <a:srgbClr val="D5DED9"/>
            </a:solidFill>
            <a:prstDash val="solid"/>
          </a:ln>
        </p:spPr>
      </p:sp>
      <p:pic>
        <p:nvPicPr>
          <p:cNvPr id="15" name="Image 1" descr="preencoded.png">    </p:cNvPr>
          <p:cNvPicPr>
            <a:picLocks noChangeAspect="1"/>
          </p:cNvPicPr>
          <p:nvPr/>
        </p:nvPicPr>
        <p:blipFill>
          <a:blip r:embed="rId2"/>
          <a:stretch>
            <a:fillRect/>
          </a:stretch>
        </p:blipFill>
        <p:spPr>
          <a:xfrm>
            <a:off x="4800600" y="1426464"/>
            <a:ext cx="237744" cy="237744"/>
          </a:xfrm>
          <a:prstGeom prst="rect">
            <a:avLst/>
          </a:prstGeom>
        </p:spPr>
      </p:pic>
      <p:sp>
        <p:nvSpPr>
          <p:cNvPr id="16" name="Text 12"/>
          <p:cNvSpPr txBox="1"/>
          <p:nvPr/>
        </p:nvSpPr>
        <p:spPr>
          <a:xfrm>
            <a:off x="5120640" y="1399032"/>
            <a:ext cx="3474720" cy="292608"/>
          </a:xfrm>
          <a:prstGeom prst="rect">
            <a:avLst/>
          </a:prstGeom>
          <a:noFill/>
          <a:ln/>
        </p:spPr>
        <p:txBody>
          <a:bodyPr wrap="square" lIns="0" tIns="0" rIns="0" bIns="0" rtlCol="0" anchor="ctr"/>
          <a:lstStyle/>
          <a:p>
            <a:pPr indent="0" marL="0">
              <a:buNone/>
            </a:pPr>
            <a:r>
              <a:rPr lang="en-US" sz="1200" b="1" dirty="0">
                <a:solidFill>
                  <a:srgbClr val="D49A00"/>
                </a:solidFill>
                <a:latin typeface="Calibri" pitchFamily="34" charset="0"/>
                <a:ea typeface="Calibri" pitchFamily="34" charset="-122"/>
                <a:cs typeface="Calibri" pitchFamily="34" charset="-120"/>
              </a:rPr>
              <a:t>Statistique officielle : méthodes et normes</a:t>
            </a:r>
            <a:endParaRPr lang="en-US" sz="1200" dirty="0"/>
          </a:p>
        </p:txBody>
      </p:sp>
      <p:sp>
        <p:nvSpPr>
          <p:cNvPr id="17" name="Text 13"/>
          <p:cNvSpPr txBox="1"/>
          <p:nvPr/>
        </p:nvSpPr>
        <p:spPr>
          <a:xfrm>
            <a:off x="480060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Fellegi, I. P. &amp; Holt, D. (1976). A Systematic Approach to Automatic Edit and Imputation. JASA 71(353), 17–35.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Box, G. E. P. (1979). Robustness in the strategy of scientific model building. In Launer &amp; Wilkinson (dir.), Robustness in Statistics. Academic Press.</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Breiman, L. (2001). Statistical Modeling: The Two Cultures. Statistical Science 16(3), 199–231.</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Schierholz, M. &amp; Schonlau, M. (2021). Machine Learning for Occupation Coding. JSSAM 9(5), 1013–1034.</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Sweeney, L. (2002). k-Anonymity: A Model for Protecting Privacy. IJUFKS 10(5), 557–570.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Narayanan, A. &amp; Shmatikov, V. (2008). Robust De-anonymization of Large Sparse Datasets. IEEE S&amp;P.</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Nations unies (2014). Principes fondamentaux de la statistique officielle. Résolution 68/261.</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CEE-ONU (2019). Generic Statistical Business Process Model (GSBPM), v5.1.</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CEE-ONU HLG-MOS (2022). Machine Learning for Official Statistics.</a:t>
            </a:r>
            <a:endParaRPr lang="en-US" sz="90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indent="0" marL="0">
              <a:buNone/>
            </a:pPr>
            <a:r>
              <a:rPr lang="en-US" sz="1050" b="1" spc="150" kern="0" dirty="0">
                <a:solidFill>
                  <a:srgbClr val="00704A"/>
                </a:solidFill>
                <a:latin typeface="Calibri" pitchFamily="34" charset="0"/>
                <a:ea typeface="Calibri" pitchFamily="34" charset="-122"/>
                <a:cs typeface="Calibri" pitchFamily="34" charset="-120"/>
              </a:rPr>
              <a:t>SOURCES  ·  3 / 3</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Sources : d'où vient chaque affirmation</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L'arbre généalogique de l'IA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39</a:t>
            </a:r>
            <a:endParaRPr lang="en-US" sz="850" dirty="0"/>
          </a:p>
        </p:txBody>
      </p:sp>
      <p:sp>
        <p:nvSpPr>
          <p:cNvPr id="10" name="Shape 8"/>
          <p:cNvSpPr/>
          <p:nvPr/>
        </p:nvSpPr>
        <p:spPr>
          <a:xfrm>
            <a:off x="457200" y="1325880"/>
            <a:ext cx="4023360" cy="3218688"/>
          </a:xfrm>
          <a:prstGeom prst="roundRect">
            <a:avLst>
              <a:gd name="adj" fmla="val 2273"/>
            </a:avLst>
          </a:prstGeom>
          <a:solidFill>
            <a:srgbClr val="F4F7F5"/>
          </a:solidFill>
          <a:ln w="9525">
            <a:solidFill>
              <a:srgbClr val="D5DED9"/>
            </a:solidFill>
            <a:prstDash val="solid"/>
          </a:ln>
        </p:spPr>
      </p:sp>
      <p:pic>
        <p:nvPicPr>
          <p:cNvPr id="11" name="Image 0" descr="preencoded.png">    </p:cNvPr>
          <p:cNvPicPr>
            <a:picLocks noChangeAspect="1"/>
          </p:cNvPicPr>
          <p:nvPr/>
        </p:nvPicPr>
        <p:blipFill>
          <a:blip r:embed="rId1"/>
          <a:stretch>
            <a:fillRect/>
          </a:stretch>
        </p:blipFill>
        <p:spPr>
          <a:xfrm>
            <a:off x="594360" y="1426464"/>
            <a:ext cx="237744" cy="237744"/>
          </a:xfrm>
          <a:prstGeom prst="rect">
            <a:avLst/>
          </a:prstGeom>
        </p:spPr>
      </p:pic>
      <p:sp>
        <p:nvSpPr>
          <p:cNvPr id="12" name="Text 9"/>
          <p:cNvSpPr txBox="1"/>
          <p:nvPr/>
        </p:nvSpPr>
        <p:spPr>
          <a:xfrm>
            <a:off x="914400" y="1399032"/>
            <a:ext cx="3474720" cy="292608"/>
          </a:xfrm>
          <a:prstGeom prst="rect">
            <a:avLst/>
          </a:prstGeom>
          <a:noFill/>
          <a:ln/>
        </p:spPr>
        <p:txBody>
          <a:bodyPr wrap="square" lIns="0" tIns="0" rIns="0" bIns="0" rtlCol="0" anchor="ctr"/>
          <a:lstStyle/>
          <a:p>
            <a:pPr indent="0" marL="0">
              <a:buNone/>
            </a:pPr>
            <a:r>
              <a:rPr lang="en-US" sz="1200" b="1" dirty="0">
                <a:solidFill>
                  <a:srgbClr val="C4621D"/>
                </a:solidFill>
                <a:latin typeface="Calibri" pitchFamily="34" charset="0"/>
                <a:ea typeface="Calibri" pitchFamily="34" charset="-122"/>
                <a:cs typeface="Calibri" pitchFamily="34" charset="-120"/>
              </a:rPr>
              <a:t>Travail et économie</a:t>
            </a:r>
            <a:endParaRPr lang="en-US" sz="1200" dirty="0"/>
          </a:p>
        </p:txBody>
      </p:sp>
      <p:sp>
        <p:nvSpPr>
          <p:cNvPr id="13" name="Text 10"/>
          <p:cNvSpPr txBox="1"/>
          <p:nvPr/>
        </p:nvSpPr>
        <p:spPr>
          <a:xfrm>
            <a:off x="59436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Bresnahan, T. F. &amp; Trajtenberg, M. (1995). General Purpose Technologies. Journal of Econometrics 65(1), 83–108.</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Brynjolfsson, E., Rock, D. &amp; Syverson, C. (2021). The Productivity J-Curve. AEJ: Macroeconomics 13(1), 333–372.</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Noy, S. &amp; Zhang, W. (2023). Experimental Evidence on the Productivity Effects of Generative AI. Science 381(6654), 187–192.</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Eloundou, T. et al. (2024). GPTs are GPTs. Science 384(6702), 1306–1308.</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Bick, A., Blandin, A. &amp; Deming, D. J. (2024). The Rapid Adoption of Generative AI. NBER Working Paper.</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Brynjolfsson, E., Li, D. &amp; Raymond, L. R. (2025). Generative AI at Work. QJE 140(2), 889–942.</a:t>
            </a:r>
            <a:endParaRPr lang="en-US" sz="950" dirty="0"/>
          </a:p>
        </p:txBody>
      </p:sp>
      <p:sp>
        <p:nvSpPr>
          <p:cNvPr id="14" name="Shape 11"/>
          <p:cNvSpPr/>
          <p:nvPr/>
        </p:nvSpPr>
        <p:spPr>
          <a:xfrm>
            <a:off x="4663440" y="1325880"/>
            <a:ext cx="4023360" cy="3218688"/>
          </a:xfrm>
          <a:prstGeom prst="roundRect">
            <a:avLst>
              <a:gd name="adj" fmla="val 2273"/>
            </a:avLst>
          </a:prstGeom>
          <a:solidFill>
            <a:srgbClr val="F4F7F5"/>
          </a:solidFill>
          <a:ln w="9525">
            <a:solidFill>
              <a:srgbClr val="D5DED9"/>
            </a:solidFill>
            <a:prstDash val="solid"/>
          </a:ln>
        </p:spPr>
      </p:sp>
      <p:pic>
        <p:nvPicPr>
          <p:cNvPr id="15" name="Image 1" descr="preencoded.png">    </p:cNvPr>
          <p:cNvPicPr>
            <a:picLocks noChangeAspect="1"/>
          </p:cNvPicPr>
          <p:nvPr/>
        </p:nvPicPr>
        <p:blipFill>
          <a:blip r:embed="rId2"/>
          <a:stretch>
            <a:fillRect/>
          </a:stretch>
        </p:blipFill>
        <p:spPr>
          <a:xfrm>
            <a:off x="4800600" y="1426464"/>
            <a:ext cx="237744" cy="237744"/>
          </a:xfrm>
          <a:prstGeom prst="rect">
            <a:avLst/>
          </a:prstGeom>
        </p:spPr>
      </p:pic>
      <p:sp>
        <p:nvSpPr>
          <p:cNvPr id="16" name="Text 12"/>
          <p:cNvSpPr txBox="1"/>
          <p:nvPr/>
        </p:nvSpPr>
        <p:spPr>
          <a:xfrm>
            <a:off x="5120640" y="1399032"/>
            <a:ext cx="3474720" cy="292608"/>
          </a:xfrm>
          <a:prstGeom prst="rect">
            <a:avLst/>
          </a:prstGeom>
          <a:noFill/>
          <a:ln/>
        </p:spPr>
        <p:txBody>
          <a:bodyPr wrap="square" lIns="0" tIns="0" rIns="0" bIns="0" rtlCol="0" anchor="ctr"/>
          <a:lstStyle/>
          <a:p>
            <a:pPr indent="0" marL="0">
              <a:buNone/>
            </a:pPr>
            <a:r>
              <a:rPr lang="en-US" sz="1200" b="1" dirty="0">
                <a:solidFill>
                  <a:srgbClr val="B83B2E"/>
                </a:solidFill>
                <a:latin typeface="Calibri" pitchFamily="34" charset="0"/>
                <a:ea typeface="Calibri" pitchFamily="34" charset="-122"/>
                <a:cs typeface="Calibri" pitchFamily="34" charset="-120"/>
              </a:rPr>
              <a:t>Gouvernance et réglementation</a:t>
            </a:r>
            <a:endParaRPr lang="en-US" sz="1200" dirty="0"/>
          </a:p>
        </p:txBody>
      </p:sp>
      <p:sp>
        <p:nvSpPr>
          <p:cNvPr id="17" name="Text 13"/>
          <p:cNvSpPr txBox="1"/>
          <p:nvPr/>
        </p:nvSpPr>
        <p:spPr>
          <a:xfrm>
            <a:off x="480060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Union africaine (2024). Stratégie continentale sur l'intelligence artificielle. Conseil exécutif, Accra, 18–19 juillet 2024 ; mise en œuvre 2025–2030.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Union africaine (2014). Convention de Malabo sur la cybersécurité et la protection des données personnelles. En vigueur le 8 juin 2023.</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Union européenne (2024). Règlement (UE) 2024/1689 sur l'intelligence artificielle.</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NIST (2023). AI Risk Management Framework (AI RMF 1.0).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ISO/IEC 42001:2023. Systèmes de management de l'intelligence artificielle.</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États-Unis (2018). CLOUD Act, Pub. L. 115-141, Division V.</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US Department of Commerce (2025). Generative AI and Open Data: Guidelines and Best Practices. 16 janvier 2025.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FCSM (2025). AI-Ready Federal Statistical Data: An Extension of Communicating Data Quality. FCSM 25-03.</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FMI (2026). StatGPT: AI for Official Statistics. Fonds monétaire international.</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L'arbre généalogique de l'IA</dc:title>
  <dc:subject>PptxGenJS Presentation</dc:subject>
  <dc:creator>Atelier technique STG17</dc:creator>
  <cp:lastModifiedBy>Atelier technique STG17</cp:lastModifiedBy>
  <cp:revision>1</cp:revision>
  <dcterms:created xsi:type="dcterms:W3CDTF">2026-09-16T10:34:10Z</dcterms:created>
  <dcterms:modified xsi:type="dcterms:W3CDTF">2026-09-16T10:34:10Z</dcterms:modified>
</cp:coreProperties>
</file>