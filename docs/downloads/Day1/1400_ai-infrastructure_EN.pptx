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rts/chart2.xml" ContentType="application/vnd.openxmlformats-officedocument.drawingml.chart+xml"/>
  <Override PartName="/ppt/notesSlides/notesSlide49.xml" ContentType="application/vnd.openxmlformats-officedocument.presentationml.notesSlide+xml"/>
  <Override PartName="/ppt/charts/chart3.xml" ContentType="application/vnd.openxmlformats-officedocument.drawingml.chart+xml"/>
  <Override PartName="/ppt/notesSlides/notesSlide50.xml" ContentType="application/vnd.openxmlformats-officedocument.presentationml.notesSlide+xml"/>
  <Override PartName="/ppt/charts/chart4.xml" ContentType="application/vnd.openxmlformats-officedocument.drawingml.chart+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9" r:id="rId6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7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50" b="0" i="0" u="none" strike="noStrike">
                <a:solidFill>
                  <a:srgbClr val="231F20"/>
                </a:solidFill>
                <a:latin typeface="Calibri"/>
              </a:defRPr>
            </a:pPr>
            <a:r>
              <a:rPr lang="en-US" sz="1050" b="0" i="0" u="none" strike="noStrike">
                <a:solidFill>
                  <a:srgbClr val="231F20"/>
                </a:solidFill>
                <a:latin typeface="Calibri"/>
              </a:rPr>
              <a:t>Memory needed to run a model (GB, incl. ~20% overhead)</a:t>
            </a:r>
          </a:p>
        </c:rich>
      </c:tx>
      <c:overlay val="0"/>
    </c:title>
    <c:autoTitleDeleted val="0"/>
    <c:plotArea>
      <c:layout/>
      <c:barChart>
        <c:barDir val="col"/>
        <c:grouping val="clustered"/>
        <c:varyColors val="0"/>
        <c:ser>
          <c:idx val="0"/>
          <c:order val="0"/>
          <c:tx>
            <c:strRef>
              <c:f>Sheet1!$B$1</c:f>
              <c:strCache>
                <c:ptCount val="1"/>
                <c:pt idx="0">
                  <c:v>16-bit</c:v>
                </c:pt>
              </c:strCache>
            </c:strRef>
          </c:tx>
          <c:spPr>
            <a:solidFill>
              <a:srgbClr val="00553A"/>
            </a:solidFill>
            <a:effectLst/>
          </c:spPr>
          <c:invertIfNegative val="0"/>
          <c:dLbls>
            <c:numFmt formatCode="0" sourceLinked="0"/>
            <c:spPr>
              <a:noFill/>
              <a:ln>
                <a:noFill/>
              </a:ln>
              <a:effectLst/>
            </c:spPr>
            <c:txPr>
              <a:bodyPr/>
              <a:lstStyle/>
              <a:p>
                <a:pPr>
                  <a:defRPr sz="800" b="0"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7B</c:v>
                </c:pt>
                <c:pt idx="1">
                  <c:v>14B</c:v>
                </c:pt>
                <c:pt idx="2">
                  <c:v>32B</c:v>
                </c:pt>
                <c:pt idx="3">
                  <c:v>70B</c:v>
                </c:pt>
              </c:strCache>
            </c:strRef>
          </c:cat>
          <c:val>
            <c:numRef>
              <c:f>Sheet1!$B$2:$B$5</c:f>
              <c:numCache>
                <c:formatCode>General</c:formatCode>
                <c:ptCount val="4"/>
                <c:pt idx="0">
                  <c:v>17</c:v>
                </c:pt>
                <c:pt idx="1">
                  <c:v>34</c:v>
                </c:pt>
                <c:pt idx="2">
                  <c:v>77</c:v>
                </c:pt>
                <c:pt idx="3">
                  <c:v>168</c:v>
                </c:pt>
              </c:numCache>
            </c:numRef>
          </c:val>
          <c:extLst>
            <c:ext xmlns:c16="http://schemas.microsoft.com/office/drawing/2014/chart" uri="{C3380CC4-5D6E-409C-BE32-E72D297353CC}">
              <c16:uniqueId val="{00000000-49A7-419A-9FD0-9F660461F8E0}"/>
            </c:ext>
          </c:extLst>
        </c:ser>
        <c:ser>
          <c:idx val="1"/>
          <c:order val="1"/>
          <c:tx>
            <c:strRef>
              <c:f>Sheet1!$C$1</c:f>
              <c:strCache>
                <c:ptCount val="1"/>
                <c:pt idx="0">
                  <c:v>8-bit</c:v>
                </c:pt>
              </c:strCache>
            </c:strRef>
          </c:tx>
          <c:spPr>
            <a:solidFill>
              <a:srgbClr val="008A5B"/>
            </a:solidFill>
            <a:effectLst/>
          </c:spPr>
          <c:invertIfNegative val="0"/>
          <c:dLbls>
            <c:numFmt formatCode="0" sourceLinked="0"/>
            <c:spPr>
              <a:noFill/>
              <a:ln>
                <a:noFill/>
              </a:ln>
              <a:effectLst/>
            </c:spPr>
            <c:txPr>
              <a:bodyPr/>
              <a:lstStyle/>
              <a:p>
                <a:pPr>
                  <a:defRPr sz="800" b="0"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7B</c:v>
                </c:pt>
                <c:pt idx="1">
                  <c:v>14B</c:v>
                </c:pt>
                <c:pt idx="2">
                  <c:v>32B</c:v>
                </c:pt>
                <c:pt idx="3">
                  <c:v>70B</c:v>
                </c:pt>
              </c:strCache>
            </c:strRef>
          </c:cat>
          <c:val>
            <c:numRef>
              <c:f>Sheet1!$C$2:$C$5</c:f>
              <c:numCache>
                <c:formatCode>General</c:formatCode>
                <c:ptCount val="4"/>
                <c:pt idx="0">
                  <c:v>8</c:v>
                </c:pt>
                <c:pt idx="1">
                  <c:v>17</c:v>
                </c:pt>
                <c:pt idx="2">
                  <c:v>38</c:v>
                </c:pt>
                <c:pt idx="3">
                  <c:v>84</c:v>
                </c:pt>
              </c:numCache>
            </c:numRef>
          </c:val>
          <c:extLst>
            <c:ext xmlns:c16="http://schemas.microsoft.com/office/drawing/2014/chart" uri="{C3380CC4-5D6E-409C-BE32-E72D297353CC}">
              <c16:uniqueId val="{00000001-49A7-419A-9FD0-9F660461F8E0}"/>
            </c:ext>
          </c:extLst>
        </c:ser>
        <c:ser>
          <c:idx val="2"/>
          <c:order val="2"/>
          <c:tx>
            <c:strRef>
              <c:f>Sheet1!$D$1</c:f>
              <c:strCache>
                <c:ptCount val="1"/>
                <c:pt idx="0">
                  <c:v>4-bit</c:v>
                </c:pt>
              </c:strCache>
            </c:strRef>
          </c:tx>
          <c:spPr>
            <a:solidFill>
              <a:srgbClr val="57BD92"/>
            </a:solidFill>
            <a:effectLst/>
          </c:spPr>
          <c:invertIfNegative val="0"/>
          <c:dLbls>
            <c:numFmt formatCode="0" sourceLinked="0"/>
            <c:spPr>
              <a:noFill/>
              <a:ln>
                <a:noFill/>
              </a:ln>
              <a:effectLst/>
            </c:spPr>
            <c:txPr>
              <a:bodyPr/>
              <a:lstStyle/>
              <a:p>
                <a:pPr>
                  <a:defRPr sz="800" b="0"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7B</c:v>
                </c:pt>
                <c:pt idx="1">
                  <c:v>14B</c:v>
                </c:pt>
                <c:pt idx="2">
                  <c:v>32B</c:v>
                </c:pt>
                <c:pt idx="3">
                  <c:v>70B</c:v>
                </c:pt>
              </c:strCache>
            </c:strRef>
          </c:cat>
          <c:val>
            <c:numRef>
              <c:f>Sheet1!$D$2:$D$5</c:f>
              <c:numCache>
                <c:formatCode>General</c:formatCode>
                <c:ptCount val="4"/>
                <c:pt idx="0">
                  <c:v>4</c:v>
                </c:pt>
                <c:pt idx="1">
                  <c:v>8</c:v>
                </c:pt>
                <c:pt idx="2">
                  <c:v>19</c:v>
                </c:pt>
                <c:pt idx="3">
                  <c:v>42</c:v>
                </c:pt>
              </c:numCache>
            </c:numRef>
          </c:val>
          <c:extLst>
            <c:ext xmlns:c16="http://schemas.microsoft.com/office/drawing/2014/chart" uri="{C3380CC4-5D6E-409C-BE32-E72D297353CC}">
              <c16:uniqueId val="{00000002-49A7-419A-9FD0-9F660461F8E0}"/>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90"/>
          <c:min val="0"/>
        </c:scaling>
        <c:delete val="0"/>
        <c:axPos val="l"/>
        <c:majorGridlines>
          <c:spPr>
            <a:ln w="6350" cap="flat">
              <a:solidFill>
                <a:srgbClr val="E1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E696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c:v>
                </c:pt>
              </c:strCache>
            </c:strRef>
          </c:tx>
          <c:spPr>
            <a:solidFill>
              <a:srgbClr val="00664A"/>
            </a:solidFill>
            <a:effectLst/>
          </c:spPr>
          <c:invertIfNegative val="0"/>
          <c:dPt>
            <c:idx val="0"/>
            <c:invertIfNegative val="0"/>
            <c:bubble3D val="0"/>
            <c:extLst>
              <c:ext xmlns:c16="http://schemas.microsoft.com/office/drawing/2014/chart" uri="{C3380CC4-5D6E-409C-BE32-E72D297353CC}">
                <c16:uniqueId val="{00000001-5E7A-4875-81D1-1F9DB8C1565B}"/>
              </c:ext>
            </c:extLst>
          </c:dPt>
          <c:dPt>
            <c:idx val="1"/>
            <c:invertIfNegative val="0"/>
            <c:bubble3D val="0"/>
            <c:spPr>
              <a:solidFill>
                <a:srgbClr val="008A5B"/>
              </a:solidFill>
              <a:effectLst/>
            </c:spPr>
            <c:extLst>
              <c:ext xmlns:c16="http://schemas.microsoft.com/office/drawing/2014/chart" uri="{C3380CC4-5D6E-409C-BE32-E72D297353CC}">
                <c16:uniqueId val="{00000003-5E7A-4875-81D1-1F9DB8C1565B}"/>
              </c:ext>
            </c:extLst>
          </c:dPt>
          <c:dPt>
            <c:idx val="2"/>
            <c:invertIfNegative val="0"/>
            <c:bubble3D val="0"/>
            <c:spPr>
              <a:solidFill>
                <a:srgbClr val="10A06A"/>
              </a:solidFill>
              <a:effectLst/>
            </c:spPr>
            <c:extLst>
              <c:ext xmlns:c16="http://schemas.microsoft.com/office/drawing/2014/chart" uri="{C3380CC4-5D6E-409C-BE32-E72D297353CC}">
                <c16:uniqueId val="{00000005-5E7A-4875-81D1-1F9DB8C1565B}"/>
              </c:ext>
            </c:extLst>
          </c:dPt>
          <c:dPt>
            <c:idx val="3"/>
            <c:invertIfNegative val="0"/>
            <c:bubble3D val="0"/>
            <c:spPr>
              <a:solidFill>
                <a:srgbClr val="33AF7C"/>
              </a:solidFill>
              <a:effectLst/>
            </c:spPr>
            <c:extLst>
              <c:ext xmlns:c16="http://schemas.microsoft.com/office/drawing/2014/chart" uri="{C3380CC4-5D6E-409C-BE32-E72D297353CC}">
                <c16:uniqueId val="{00000007-5E7A-4875-81D1-1F9DB8C1565B}"/>
              </c:ext>
            </c:extLst>
          </c:dPt>
          <c:dPt>
            <c:idx val="4"/>
            <c:invertIfNegative val="0"/>
            <c:bubble3D val="0"/>
            <c:spPr>
              <a:solidFill>
                <a:srgbClr val="57BD92"/>
              </a:solidFill>
              <a:effectLst/>
            </c:spPr>
            <c:extLst>
              <c:ext xmlns:c16="http://schemas.microsoft.com/office/drawing/2014/chart" uri="{C3380CC4-5D6E-409C-BE32-E72D297353CC}">
                <c16:uniqueId val="{00000009-5E7A-4875-81D1-1F9DB8C1565B}"/>
              </c:ext>
            </c:extLst>
          </c:dPt>
          <c:dPt>
            <c:idx val="5"/>
            <c:invertIfNegative val="0"/>
            <c:bubble3D val="0"/>
            <c:spPr>
              <a:solidFill>
                <a:srgbClr val="7BCBA9"/>
              </a:solidFill>
              <a:effectLst/>
            </c:spPr>
            <c:extLst>
              <c:ext xmlns:c16="http://schemas.microsoft.com/office/drawing/2014/chart" uri="{C3380CC4-5D6E-409C-BE32-E72D297353CC}">
                <c16:uniqueId val="{0000000B-5E7A-4875-81D1-1F9DB8C1565B}"/>
              </c:ext>
            </c:extLst>
          </c:dPt>
          <c:dLbls>
            <c:numFmt formatCode="0&quot;%&quot;" sourceLinked="0"/>
            <c:spPr>
              <a:noFill/>
              <a:ln>
                <a:noFill/>
              </a:ln>
              <a:effectLst/>
            </c:spPr>
            <c:txPr>
              <a:bodyPr/>
              <a:lstStyle/>
              <a:p>
                <a:pPr>
                  <a:defRPr sz="1000" b="1"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People</c:v>
                </c:pt>
                <c:pt idx="1">
                  <c:v>Compute &amp; storage</c:v>
                </c:pt>
                <c:pt idx="2">
                  <c:v>Data &amp; labelling</c:v>
                </c:pt>
                <c:pt idx="3">
                  <c:v>Software &amp; licences</c:v>
                </c:pt>
                <c:pt idx="4">
                  <c:v>Governance &amp; assurance</c:v>
                </c:pt>
                <c:pt idx="5">
                  <c:v>Facility</c:v>
                </c:pt>
              </c:strCache>
            </c:strRef>
          </c:cat>
          <c:val>
            <c:numRef>
              <c:f>Sheet1!$B$2:$B$7</c:f>
              <c:numCache>
                <c:formatCode>General</c:formatCode>
                <c:ptCount val="6"/>
                <c:pt idx="0">
                  <c:v>45</c:v>
                </c:pt>
                <c:pt idx="1">
                  <c:v>18</c:v>
                </c:pt>
                <c:pt idx="2">
                  <c:v>12</c:v>
                </c:pt>
                <c:pt idx="3">
                  <c:v>10</c:v>
                </c:pt>
                <c:pt idx="4">
                  <c:v>10</c:v>
                </c:pt>
                <c:pt idx="5">
                  <c:v>5</c:v>
                </c:pt>
              </c:numCache>
            </c:numRef>
          </c:val>
          <c:extLst>
            <c:ext xmlns:c16="http://schemas.microsoft.com/office/drawing/2014/chart" uri="{C3380CC4-5D6E-409C-BE32-E72D297353CC}">
              <c16:uniqueId val="{0000000C-5E7A-4875-81D1-1F9DB8C1565B}"/>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5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Five-year TCO by cost line</a:t>
            </a:r>
          </a:p>
        </c:rich>
      </c:tx>
      <c:overlay val="0"/>
    </c:title>
    <c:autoTitleDeleted val="0"/>
    <c:plotArea>
      <c:layout/>
      <c:barChart>
        <c:barDir val="col"/>
        <c:grouping val="stacked"/>
        <c:varyColors val="0"/>
        <c:ser>
          <c:idx val="0"/>
          <c:order val="0"/>
          <c:tx>
            <c:strRef>
              <c:f>Sheet1!$B$1</c:f>
              <c:strCache>
                <c:ptCount val="1"/>
                <c:pt idx="0">
                  <c:v>People</c:v>
                </c:pt>
              </c:strCache>
            </c:strRef>
          </c:tx>
          <c:spPr>
            <a:solidFill>
              <a:srgbClr val="00664A"/>
            </a:solidFill>
            <a:effectLst/>
          </c:spPr>
          <c:invertIfNegative val="0"/>
          <c:cat>
            <c:strRef>
              <c:f>Sheet1!$A$2:$A$4</c:f>
              <c:strCache>
                <c:ptCount val="3"/>
                <c:pt idx="0">
                  <c:v>A · API-first</c:v>
                </c:pt>
                <c:pt idx="1">
                  <c:v>B · Hybrid</c:v>
                </c:pt>
                <c:pt idx="2">
                  <c:v>C · On-premises</c:v>
                </c:pt>
              </c:strCache>
            </c:strRef>
          </c:cat>
          <c:val>
            <c:numRef>
              <c:f>Sheet1!$B$2:$B$4</c:f>
              <c:numCache>
                <c:formatCode>General</c:formatCode>
                <c:ptCount val="3"/>
                <c:pt idx="0">
                  <c:v>2700</c:v>
                </c:pt>
                <c:pt idx="1">
                  <c:v>3150</c:v>
                </c:pt>
                <c:pt idx="2">
                  <c:v>3600</c:v>
                </c:pt>
              </c:numCache>
            </c:numRef>
          </c:val>
          <c:extLst>
            <c:ext xmlns:c16="http://schemas.microsoft.com/office/drawing/2014/chart" uri="{C3380CC4-5D6E-409C-BE32-E72D297353CC}">
              <c16:uniqueId val="{00000000-7032-403E-9476-7B52FB1A5732}"/>
            </c:ext>
          </c:extLst>
        </c:ser>
        <c:ser>
          <c:idx val="1"/>
          <c:order val="1"/>
          <c:tx>
            <c:strRef>
              <c:f>Sheet1!$C$1</c:f>
              <c:strCache>
                <c:ptCount val="1"/>
                <c:pt idx="0">
                  <c:v>Cloud &amp; API</c:v>
                </c:pt>
              </c:strCache>
            </c:strRef>
          </c:tx>
          <c:spPr>
            <a:solidFill>
              <a:srgbClr val="0E7C86"/>
            </a:solidFill>
            <a:effectLst/>
          </c:spPr>
          <c:invertIfNegative val="0"/>
          <c:cat>
            <c:strRef>
              <c:f>Sheet1!$A$2:$A$4</c:f>
              <c:strCache>
                <c:ptCount val="3"/>
                <c:pt idx="0">
                  <c:v>A · API-first</c:v>
                </c:pt>
                <c:pt idx="1">
                  <c:v>B · Hybrid</c:v>
                </c:pt>
                <c:pt idx="2">
                  <c:v>C · On-premises</c:v>
                </c:pt>
              </c:strCache>
            </c:strRef>
          </c:cat>
          <c:val>
            <c:numRef>
              <c:f>Sheet1!$C$2:$C$4</c:f>
              <c:numCache>
                <c:formatCode>General</c:formatCode>
                <c:ptCount val="3"/>
                <c:pt idx="0">
                  <c:v>450</c:v>
                </c:pt>
                <c:pt idx="1">
                  <c:v>250</c:v>
                </c:pt>
                <c:pt idx="2">
                  <c:v>50</c:v>
                </c:pt>
              </c:numCache>
            </c:numRef>
          </c:val>
          <c:extLst>
            <c:ext xmlns:c16="http://schemas.microsoft.com/office/drawing/2014/chart" uri="{C3380CC4-5D6E-409C-BE32-E72D297353CC}">
              <c16:uniqueId val="{00000001-7032-403E-9476-7B52FB1A5732}"/>
            </c:ext>
          </c:extLst>
        </c:ser>
        <c:ser>
          <c:idx val="2"/>
          <c:order val="2"/>
          <c:tx>
            <c:strRef>
              <c:f>Sheet1!$D$1</c:f>
              <c:strCache>
                <c:ptCount val="1"/>
                <c:pt idx="0">
                  <c:v>Hardware</c:v>
                </c:pt>
              </c:strCache>
            </c:strRef>
          </c:tx>
          <c:spPr>
            <a:solidFill>
              <a:srgbClr val="33AF7C"/>
            </a:solidFill>
            <a:effectLst/>
          </c:spPr>
          <c:invertIfNegative val="0"/>
          <c:cat>
            <c:strRef>
              <c:f>Sheet1!$A$2:$A$4</c:f>
              <c:strCache>
                <c:ptCount val="3"/>
                <c:pt idx="0">
                  <c:v>A · API-first</c:v>
                </c:pt>
                <c:pt idx="1">
                  <c:v>B · Hybrid</c:v>
                </c:pt>
                <c:pt idx="2">
                  <c:v>C · On-premises</c:v>
                </c:pt>
              </c:strCache>
            </c:strRef>
          </c:cat>
          <c:val>
            <c:numRef>
              <c:f>Sheet1!$D$2:$D$4</c:f>
              <c:numCache>
                <c:formatCode>General</c:formatCode>
                <c:ptCount val="3"/>
                <c:pt idx="0">
                  <c:v>0</c:v>
                </c:pt>
                <c:pt idx="1">
                  <c:v>300</c:v>
                </c:pt>
                <c:pt idx="2">
                  <c:v>900</c:v>
                </c:pt>
              </c:numCache>
            </c:numRef>
          </c:val>
          <c:extLst>
            <c:ext xmlns:c16="http://schemas.microsoft.com/office/drawing/2014/chart" uri="{C3380CC4-5D6E-409C-BE32-E72D297353CC}">
              <c16:uniqueId val="{00000002-7032-403E-9476-7B52FB1A5732}"/>
            </c:ext>
          </c:extLst>
        </c:ser>
        <c:ser>
          <c:idx val="3"/>
          <c:order val="3"/>
          <c:tx>
            <c:strRef>
              <c:f>Sheet1!$E$1</c:f>
              <c:strCache>
                <c:ptCount val="1"/>
                <c:pt idx="0">
                  <c:v>Software</c:v>
                </c:pt>
              </c:strCache>
            </c:strRef>
          </c:tx>
          <c:spPr>
            <a:solidFill>
              <a:srgbClr val="9ED9C0"/>
            </a:solidFill>
            <a:effectLst/>
          </c:spPr>
          <c:invertIfNegative val="0"/>
          <c:cat>
            <c:strRef>
              <c:f>Sheet1!$A$2:$A$4</c:f>
              <c:strCache>
                <c:ptCount val="3"/>
                <c:pt idx="0">
                  <c:v>A · API-first</c:v>
                </c:pt>
                <c:pt idx="1">
                  <c:v>B · Hybrid</c:v>
                </c:pt>
                <c:pt idx="2">
                  <c:v>C · On-premises</c:v>
                </c:pt>
              </c:strCache>
            </c:strRef>
          </c:cat>
          <c:val>
            <c:numRef>
              <c:f>Sheet1!$E$2:$E$4</c:f>
              <c:numCache>
                <c:formatCode>General</c:formatCode>
                <c:ptCount val="3"/>
                <c:pt idx="0">
                  <c:v>250</c:v>
                </c:pt>
                <c:pt idx="1">
                  <c:v>300</c:v>
                </c:pt>
                <c:pt idx="2">
                  <c:v>350</c:v>
                </c:pt>
              </c:numCache>
            </c:numRef>
          </c:val>
          <c:extLst>
            <c:ext xmlns:c16="http://schemas.microsoft.com/office/drawing/2014/chart" uri="{C3380CC4-5D6E-409C-BE32-E72D297353CC}">
              <c16:uniqueId val="{00000003-7032-403E-9476-7B52FB1A5732}"/>
            </c:ext>
          </c:extLst>
        </c:ser>
        <c:ser>
          <c:idx val="4"/>
          <c:order val="4"/>
          <c:tx>
            <c:strRef>
              <c:f>Sheet1!$F$1</c:f>
              <c:strCache>
                <c:ptCount val="1"/>
                <c:pt idx="0">
                  <c:v>Facility</c:v>
                </c:pt>
              </c:strCache>
            </c:strRef>
          </c:tx>
          <c:spPr>
            <a:solidFill>
              <a:srgbClr val="D49A00"/>
            </a:solidFill>
            <a:effectLst/>
          </c:spPr>
          <c:invertIfNegative val="0"/>
          <c:cat>
            <c:strRef>
              <c:f>Sheet1!$A$2:$A$4</c:f>
              <c:strCache>
                <c:ptCount val="3"/>
                <c:pt idx="0">
                  <c:v>A · API-first</c:v>
                </c:pt>
                <c:pt idx="1">
                  <c:v>B · Hybrid</c:v>
                </c:pt>
                <c:pt idx="2">
                  <c:v>C · On-premises</c:v>
                </c:pt>
              </c:strCache>
            </c:strRef>
          </c:cat>
          <c:val>
            <c:numRef>
              <c:f>Sheet1!$F$2:$F$4</c:f>
              <c:numCache>
                <c:formatCode>General</c:formatCode>
                <c:ptCount val="3"/>
                <c:pt idx="0">
                  <c:v>0</c:v>
                </c:pt>
                <c:pt idx="1">
                  <c:v>120</c:v>
                </c:pt>
                <c:pt idx="2">
                  <c:v>350</c:v>
                </c:pt>
              </c:numCache>
            </c:numRef>
          </c:val>
          <c:extLst>
            <c:ext xmlns:c16="http://schemas.microsoft.com/office/drawing/2014/chart" uri="{C3380CC4-5D6E-409C-BE32-E72D297353CC}">
              <c16:uniqueId val="{00000004-7032-403E-9476-7B52FB1A5732}"/>
            </c:ext>
          </c:extLst>
        </c:ser>
        <c:ser>
          <c:idx val="5"/>
          <c:order val="5"/>
          <c:tx>
            <c:strRef>
              <c:f>Sheet1!$G$1</c:f>
              <c:strCache>
                <c:ptCount val="1"/>
                <c:pt idx="0">
                  <c:v>Governance</c:v>
                </c:pt>
              </c:strCache>
            </c:strRef>
          </c:tx>
          <c:spPr>
            <a:solidFill>
              <a:srgbClr val="A9B5B0"/>
            </a:solidFill>
            <a:effectLst/>
          </c:spPr>
          <c:invertIfNegative val="0"/>
          <c:cat>
            <c:strRef>
              <c:f>Sheet1!$A$2:$A$4</c:f>
              <c:strCache>
                <c:ptCount val="3"/>
                <c:pt idx="0">
                  <c:v>A · API-first</c:v>
                </c:pt>
                <c:pt idx="1">
                  <c:v>B · Hybrid</c:v>
                </c:pt>
                <c:pt idx="2">
                  <c:v>C · On-premises</c:v>
                </c:pt>
              </c:strCache>
            </c:strRef>
          </c:cat>
          <c:val>
            <c:numRef>
              <c:f>Sheet1!$G$2:$G$4</c:f>
              <c:numCache>
                <c:formatCode>General</c:formatCode>
                <c:ptCount val="3"/>
                <c:pt idx="0">
                  <c:v>200</c:v>
                </c:pt>
                <c:pt idx="1">
                  <c:v>200</c:v>
                </c:pt>
                <c:pt idx="2">
                  <c:v>200</c:v>
                </c:pt>
              </c:numCache>
            </c:numRef>
          </c:val>
          <c:extLst>
            <c:ext xmlns:c16="http://schemas.microsoft.com/office/drawing/2014/chart" uri="{C3380CC4-5D6E-409C-BE32-E72D297353CC}">
              <c16:uniqueId val="{00000005-7032-403E-9476-7B52FB1A5732}"/>
            </c:ext>
          </c:extLst>
        </c:ser>
        <c:dLbls>
          <c:showLegendKey val="0"/>
          <c:showVal val="0"/>
          <c:showCatName val="0"/>
          <c:showSerName val="0"/>
          <c:showPercent val="0"/>
          <c:showBubbleSize val="0"/>
        </c:dLbls>
        <c:gapWidth val="6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1E7E4"/>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5E696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Five-year TCO vs. workload intensity (thousands, illustrative)</a:t>
            </a:r>
          </a:p>
        </c:rich>
      </c:tx>
      <c:overlay val="0"/>
    </c:title>
    <c:autoTitleDeleted val="0"/>
    <c:plotArea>
      <c:layout/>
      <c:lineChart>
        <c:grouping val="standard"/>
        <c:varyColors val="0"/>
        <c:ser>
          <c:idx val="0"/>
          <c:order val="0"/>
          <c:tx>
            <c:strRef>
              <c:f>Sheet1!$B$1</c:f>
              <c:strCache>
                <c:ptCount val="1"/>
                <c:pt idx="0">
                  <c:v>A · API-first</c:v>
                </c:pt>
              </c:strCache>
            </c:strRef>
          </c:tx>
          <c:spPr>
            <a:ln w="31750" cap="flat">
              <a:solidFill>
                <a:srgbClr val="00A86A"/>
              </a:solidFill>
              <a:prstDash val="solid"/>
              <a:round/>
            </a:ln>
            <a:effectLst/>
          </c:spPr>
          <c:marker>
            <c:symbol val="circle"/>
            <c:size val="7"/>
            <c:spPr>
              <a:solidFill>
                <a:srgbClr val="00A86A"/>
              </a:solidFill>
              <a:ln w="9525" cap="flat">
                <a:solidFill>
                  <a:srgbClr val="00A86A"/>
                </a:solidFill>
                <a:prstDash val="solid"/>
                <a:round/>
              </a:ln>
              <a:effectLst/>
            </c:spPr>
          </c:marker>
          <c:cat>
            <c:strRef>
              <c:f>Sheet1!$A$2:$A$6</c:f>
              <c:strCache>
                <c:ptCount val="5"/>
                <c:pt idx="0">
                  <c:v>1× base</c:v>
                </c:pt>
                <c:pt idx="1">
                  <c:v>2×</c:v>
                </c:pt>
                <c:pt idx="2">
                  <c:v>5×</c:v>
                </c:pt>
                <c:pt idx="3">
                  <c:v>10×</c:v>
                </c:pt>
                <c:pt idx="4">
                  <c:v>20×</c:v>
                </c:pt>
              </c:strCache>
            </c:strRef>
          </c:cat>
          <c:val>
            <c:numRef>
              <c:f>Sheet1!$B$2:$B$6</c:f>
              <c:numCache>
                <c:formatCode>General</c:formatCode>
                <c:ptCount val="5"/>
                <c:pt idx="0">
                  <c:v>3600</c:v>
                </c:pt>
                <c:pt idx="1">
                  <c:v>4000</c:v>
                </c:pt>
                <c:pt idx="2">
                  <c:v>5150</c:v>
                </c:pt>
                <c:pt idx="3">
                  <c:v>6950</c:v>
                </c:pt>
                <c:pt idx="4">
                  <c:v>10350</c:v>
                </c:pt>
              </c:numCache>
            </c:numRef>
          </c:val>
          <c:smooth val="0"/>
          <c:extLst>
            <c:ext xmlns:c16="http://schemas.microsoft.com/office/drawing/2014/chart" uri="{C3380CC4-5D6E-409C-BE32-E72D297353CC}">
              <c16:uniqueId val="{00000000-7F15-47BD-AA9A-2F6EE48CD716}"/>
            </c:ext>
          </c:extLst>
        </c:ser>
        <c:ser>
          <c:idx val="1"/>
          <c:order val="1"/>
          <c:tx>
            <c:strRef>
              <c:f>Sheet1!$C$1</c:f>
              <c:strCache>
                <c:ptCount val="1"/>
                <c:pt idx="0">
                  <c:v>B · Hybrid</c:v>
                </c:pt>
              </c:strCache>
            </c:strRef>
          </c:tx>
          <c:spPr>
            <a:ln w="31750" cap="flat">
              <a:solidFill>
                <a:srgbClr val="D49A00"/>
              </a:solidFill>
              <a:prstDash val="solid"/>
              <a:round/>
            </a:ln>
            <a:effectLst/>
          </c:spPr>
          <c:marker>
            <c:symbol val="circle"/>
            <c:size val="7"/>
            <c:spPr>
              <a:solidFill>
                <a:srgbClr val="D49A00"/>
              </a:solidFill>
              <a:ln w="9525" cap="flat">
                <a:solidFill>
                  <a:srgbClr val="D49A00"/>
                </a:solidFill>
                <a:prstDash val="solid"/>
                <a:round/>
              </a:ln>
              <a:effectLst/>
            </c:spPr>
          </c:marker>
          <c:cat>
            <c:strRef>
              <c:f>Sheet1!$A$2:$A$6</c:f>
              <c:strCache>
                <c:ptCount val="5"/>
                <c:pt idx="0">
                  <c:v>1× base</c:v>
                </c:pt>
                <c:pt idx="1">
                  <c:v>2×</c:v>
                </c:pt>
                <c:pt idx="2">
                  <c:v>5×</c:v>
                </c:pt>
                <c:pt idx="3">
                  <c:v>10×</c:v>
                </c:pt>
                <c:pt idx="4">
                  <c:v>20×</c:v>
                </c:pt>
              </c:strCache>
            </c:strRef>
          </c:cat>
          <c:val>
            <c:numRef>
              <c:f>Sheet1!$C$2:$C$6</c:f>
              <c:numCache>
                <c:formatCode>General</c:formatCode>
                <c:ptCount val="5"/>
                <c:pt idx="0">
                  <c:v>4320</c:v>
                </c:pt>
                <c:pt idx="1">
                  <c:v>4500</c:v>
                </c:pt>
                <c:pt idx="2">
                  <c:v>5100</c:v>
                </c:pt>
                <c:pt idx="3">
                  <c:v>5900</c:v>
                </c:pt>
                <c:pt idx="4">
                  <c:v>7500</c:v>
                </c:pt>
              </c:numCache>
            </c:numRef>
          </c:val>
          <c:smooth val="0"/>
          <c:extLst>
            <c:ext xmlns:c16="http://schemas.microsoft.com/office/drawing/2014/chart" uri="{C3380CC4-5D6E-409C-BE32-E72D297353CC}">
              <c16:uniqueId val="{00000001-7F15-47BD-AA9A-2F6EE48CD716}"/>
            </c:ext>
          </c:extLst>
        </c:ser>
        <c:ser>
          <c:idx val="2"/>
          <c:order val="2"/>
          <c:tx>
            <c:strRef>
              <c:f>Sheet1!$D$1</c:f>
              <c:strCache>
                <c:ptCount val="1"/>
                <c:pt idx="0">
                  <c:v>C · On-premises</c:v>
                </c:pt>
              </c:strCache>
            </c:strRef>
          </c:tx>
          <c:spPr>
            <a:ln w="31750" cap="flat">
              <a:solidFill>
                <a:srgbClr val="00553A"/>
              </a:solidFill>
              <a:prstDash val="solid"/>
              <a:round/>
            </a:ln>
            <a:effectLst/>
          </c:spPr>
          <c:marker>
            <c:symbol val="circle"/>
            <c:size val="7"/>
            <c:spPr>
              <a:solidFill>
                <a:srgbClr val="00553A"/>
              </a:solidFill>
              <a:ln w="9525" cap="flat">
                <a:solidFill>
                  <a:srgbClr val="00553A"/>
                </a:solidFill>
                <a:prstDash val="solid"/>
                <a:round/>
              </a:ln>
              <a:effectLst/>
            </c:spPr>
          </c:marker>
          <c:cat>
            <c:strRef>
              <c:f>Sheet1!$A$2:$A$6</c:f>
              <c:strCache>
                <c:ptCount val="5"/>
                <c:pt idx="0">
                  <c:v>1× base</c:v>
                </c:pt>
                <c:pt idx="1">
                  <c:v>2×</c:v>
                </c:pt>
                <c:pt idx="2">
                  <c:v>5×</c:v>
                </c:pt>
                <c:pt idx="3">
                  <c:v>10×</c:v>
                </c:pt>
                <c:pt idx="4">
                  <c:v>20×</c:v>
                </c:pt>
              </c:strCache>
            </c:strRef>
          </c:cat>
          <c:val>
            <c:numRef>
              <c:f>Sheet1!$D$2:$D$6</c:f>
              <c:numCache>
                <c:formatCode>General</c:formatCode>
                <c:ptCount val="5"/>
                <c:pt idx="0">
                  <c:v>5450</c:v>
                </c:pt>
                <c:pt idx="1">
                  <c:v>5500</c:v>
                </c:pt>
                <c:pt idx="2">
                  <c:v>5750</c:v>
                </c:pt>
                <c:pt idx="3">
                  <c:v>6200</c:v>
                </c:pt>
                <c:pt idx="4">
                  <c:v>7000</c:v>
                </c:pt>
              </c:numCache>
            </c:numRef>
          </c:val>
          <c:smooth val="0"/>
          <c:extLst>
            <c:ext xmlns:c16="http://schemas.microsoft.com/office/drawing/2014/chart" uri="{C3380CC4-5D6E-409C-BE32-E72D297353CC}">
              <c16:uniqueId val="{00000002-7F15-47BD-AA9A-2F6EE48CD71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in val="3000"/>
        </c:scaling>
        <c:delete val="0"/>
        <c:axPos val="l"/>
        <c:majorGridlines>
          <c:spPr>
            <a:ln w="6350" cap="flat">
              <a:solidFill>
                <a:srgbClr val="E1E7E4"/>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5E696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6604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this briefing is deliberately not about which model is best. It is about the operating environment a producer of official statistics needs before any model can be trusted with a published figure. The audience is mixed — statisticians, IT and security staff, and management — so we keep the engineering concrete, the statistics explicit, and we always connect back to cost, confidentiality and staffing. Version 2.0 adds plain-language explanations, a worked example and material specific to African statistical offices: power, hosting, the continental legal framework and language coverage.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objective plainly: by the end, everyone in the room should share one vocabulary and one picture of what an AI capability requires, so that decisions about budget, hosting and staffing can be made and defended. The five outcomes on the right are what participants should be able to do afterwards — use them to check understanding at the end of the session.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builds the shared vocabulary and the reference architecture. Sections 2 and 3 cover what has to be built and where it should run. Sections 4 to 6 are the decisions you will be asked to make and defend: who may touch the data, what it costs, and who operates it. Each section keeps its colour throughout the deck — watch the small dots at top right. If time is short, sections 3, 4 and 5 are the ones not to skip.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two minutes here; a mixed audience often uses the same word for different things. The most important distinction is training versus inference: training is occasional and heavy, inference is continuous and light per request. Two more terms come up later: drift, meaning the gradual change in incoming data that makes a model less accurate over time, and egress, meaning data leaving a network or cloud — which is usually what you pay for in the cloud.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budget for AI, we have to be honest about what we are budgeting for. It is not a model. It is a production system with statistical obligations attached. This section sets the frame for everything that follows.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Sculley et al. paper "Hidden Technical Debt in Machine Learning Systems" is worth circulating. Its central figure — reproduced in spirit on the right — shows the ML code as a small box surrounded by much larger boxes for configuration, data collection and verification, serving infrastructure and monitoring. Everything in this deck is about those surrounding boxes. The 6–18 month and 20–40% figures are planning heuristics from public-sector experience, not measurements; replace them with your own once you have history.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tags are deliberate: "Established" marks families with the most production precedent across national statistical offices, "Emerging" marks areas under active piloting, and "Needs sign-off" marks a use case that touches disclosure control directly and therefore needs methodological approval before any pilot. Items 1 to 4 are largely classical machine learning and rarely need large language models — that has major cost consequences. For African offices, item 6 is especially relevant: building footprints from satellite imagery are increasingly used for census cartography and sampling frames.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one record. A respondent writes "teaches children at the village primary school". The text is cleaned, the model proposes ISCO-08 code 2341 (primary school teachers) with a confidence of 0.96, and because that is above the agreed threshold the code is accepted automatically. A vaguer answer such as "works for government" would get a low confidence and go to a human coder. The numbers at the bottom are illustrative only: the share that can be automated depends on your data, the classification and the threshold you set after testing against the gold standard. The key lesson is that nobody is removed from the process — coders move to the difficult cases and to quality control.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pre-empts the most common objection: "a start-up did this in six weeks with two people". So it did — with data it owned, no statistical secrecy obligation, no revisions policy and no requirement to reproduce the output years later. None of these constraints is an excuse for slowness, but they are real design inputs and they cost money.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figures come from recent public sources and should be cited as such. Around 600 million people in sub-Saharan Africa lacked electricity in 2024 (IEA) — and even connected offices face outages. Africa hosts well under one per cent of global data-centre capacity; the Africa Data Centres Association puts it at 0.6% and notes that power has overtaken connectivity as the main constraint. More than 40 African countries now have data protection laws, so the legal picture is maturing but uneven. And fewer than 2% of Africa's roughly 2,000 languages are well supported by large language models (BCG), which matters for open-ended survey answers. The opportunity: most NSO value comes from inference and classical ML, which need far less power than training, and continental frameworks encourage shared, regional solutions.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bottom-up. Layer 1 is what people imagine when they hear "AI infrastructure", and it is typically the smallest cost. Layer 2 is where most offices are genuinely weak. Layer 3 is what data scientists ask for. Layer 5 is what protects the institution. The governance plane on the right spans all five, because a decision taken there — for example that identifiable microdata may not leave the premises — rules out whole architectural options at every layer. Most failed AI initiatives in public administration are attempts to build layer 3 without layers 1 and 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layer that determines whether a promising pilot can ever become a production statistic, and where most of the engineering effort actually goes. We start with the single most useful distinction for sizing hardware: training versus inference.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analogy of a human coder. Training is like the months spent teaching a new coder the classification manual: intensive, occasional, and it needs many worked examples. Inference is the trained coder processing questionnaires every day: each one is quick, but the work never stops and must be reliable. A statistical office typically trains or fine-tunes a model a few times a year and runs inference continuously, so the steady-state hardware should be sized for inference, and heavy training capacity can often be rented or borrowed for a few days.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column is deliberately coarse — it is there to break the assumption that all AI needs the same hardware. A large share of the coding and editing work that delivers measurable value in an NSO runs well on CPUs the office already owns. If someone proposes buying a multi-GPU cluster, ask which row of this table they are in and what their expected sustained utilisation is. GB here means GPU memory, which determines the size of model that fits.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kitchen analogy on the right. A CPU is a small team of expert chefs: very flexible, each able to do complex tasks one after another. A GPU is a brigade of thousands of line cooks: each does one simple task, but all at the same time. Neural networks are mostly the same simple calculation repeated billions of times, which is why GPUs are so much faster for them. Classical machine learning such as gradient boosting still runs well on CPUs. The single most important number on a GPU for a statistical office is its memory (VRAM), because the whole model has to fit in it — the next slide explains how to calculate that. System RAM of at least twice the total GPU memory is a common rule of thumb, not a hard requirement.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formula with one example. A 7-billion-parameter model stored at 16-bit precision needs two bytes per parameter, so 14 GB, plus roughly 20% for the working memory used while answering (the "KV cache" and runtime), giving about 17 GB — it fits on a 24 GB card. The same model compressed to 4 bits needs about 4 GB. Compression, called quantisation, usually costs little accuracy at 8 bits; at 4 bits the loss varies, so always test on your gold standard. The overhead grows with long documents and many simultaneous users, so treat 20% as a minimum. Training is a different league: full fine-tuning with a standard optimiser needs roughly 16 to 20 bytes per parameter for weights, gradients and optimiser states. Parameter-efficient methods such as LoRA and QLoRA bring this down enough to fine-tune mid-sized models on one card.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the classes, not the brands. Entry and inference cards fit in ordinary servers and draw modest power. Workstation-class PCIe cards now carry enough memory to run 70-billion-parameter models in compressed form on a single card, but they lack the high-speed GPU-to-GPU links (such as NVLink) that data-centre GPUs use to work as one large machine. Data-centre GPUs are built for multi-GPU training and very large models, and they bring the power and cooling demands we saw earlier. Desk-side AI systems with large shared memory are a newer, low-power option for prototyping. Cloud-only accelerators can be excellent, but they are only relevant where your classification allows cloud processing. Before buying any of these, check that the software your team uses supports it — NVIDIA's CUDA ecosystem is the most widely supported; AMD's ROCm is improving. Memory figures are from vendor datasheets as of 2026.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tiers are planning archetypes, not product recommendations. Most statistical offices should start at the Starter tier, which can run classical machine learning, text classifiers and small compressed language models for a team. Move to Standard only once a use case has passed its evaluation gate and there is evidence of sustained demand. The Advanced tier is rarely justified for a single statistical office: its power, cooling and staffing demands are substantial, and the same capacity can usually be rented for short training runs or shared through a national or regional facility. Cost ranges are indicative 2026 hardware prices only, excluding facility works, software and staff — obtain current quotes, including local import duties and currency effects.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turns the previous ones into tender language. Two points deserve emphasis for African offices. First, local support: a GPU server with a six-week spare-part lead time is effectively offline for six weeks, so require in-country or regional support and spare-part commitments. Second, export controls: advanced AI accelerators are subject to export-control rules in some supplying countries, and these rules have changed several times in recent years; ask suppliers to confirm licensing and delivery conditions in writing before award. On consumer gaming cards: they are cheap and fast, but lack error-correcting memory and data-centre support, and vendor licensing may restrict their use in data centres. Finally, the "rent before you buy" principle: a few months on rented or shared GPUs gives you real utilisation data, which is the best argument for — or against — a purchase.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3 deserves emphasis with facilities colleagues present. In several offices the AI programme was delayed not by buying the servers but by the electrical and cooling works needed to host them. Establish the kilowatt-per-rack ceiling of your server room before specifying hardware. Point 5 is the most common cause of a cloud bill exceeding forecast.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specific to offices operating with outages or limited bandwidth. The principle is to design so that an interruption costs minutes, not days. Checkpointing means saving a long job's progress regularly so it can resume after a power cut. Offline-first means the office keeps local copies of software packages, container images and model weights, so that installing or rebuilding a system does not depend on a slow international link. Shared capacity — a national government data centre, a university computing centre or a peer arrangement — is often more realistic than every office building its own resilient server room. Mission 300 is relevant context: the World Bank Group and the African Development Bank aim to connect 300 million people in sub-Saharan Africa to electricity by 2030.</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argument to use with a finance director sceptical of AI hype. Every capability here is independently justified by existing statistical production needs — lineage, cataloguing, access control and versioned snapshots are quality-framework obligations. AI simply makes their absence impossible to ignore. That framing turns an AI budget conversation into a modernisation budget conversation, which is easier to win. GSIM is the Generic Statistical Information Model; SDMX is the standard for exchanging statistical data and metadata.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vendor or enthusiastic team asks for hardware, the correct first question is "show me the evaluation set". Without a frozen, documented evaluation set and a measured human baseline, no amount of compute will produce a result the methodology board can accept. Conversely, an office with a good gold standard can evaluate a managed API in a week and know exactly what it is buying. Inter-annotator agreement means how often two trained coders assign the same code to the same answer.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 two passes. First the preparation path at the bottom: documents such as methodology manuals are split into short passages, each passage is turned into a list of numbers (an embedding) that captures its meaning, and these are stored in a vector index. Then the question path at the top: the user's question is also turned into an embedding, the index finds the most similar passages, and the language model writes an answer using only those passages, citing them. The benefit is that you do not need to retrain the model when documents change. The risk, covered again in section 4, is that the index is effectively a copy of the documents, so it must be classified and must filter results by each user's permissions.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highlighted stages distinguish an NSO pipeline from a commercial one. In industry, stage 4 is typically an offline metric and stage 5 a product manager's decision. Here, stage 4 must include the comparison against the human baseline and a breakdown by relevant subpopulations, and stage 5 must involve the same authority that signs off any other methodological change. Create the register entry at stage 5 — it is the artefact auditors will ask for.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slide and put it on the wall. Almost every conflict between an eager analyst and a cautious security officer is really a disagreement about which box a piece of work belongs in. Making the boxes explicit, and naming who approves each promotion, turns an argument about trust into a procedural question. DEV explicitly allows synthetic data — investing in good synthetic versions of your main microdata sets pays for itself in unblocked experimentation.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most surprises IT colleagues and most reassures methodologists. The practical rule we recommend: generative models may propose, rank, extract or draft, but the value that enters the published output should come from a deterministic step — a rule, a lookup, a validated classifier, or a human decision. Where that is not possible, self-hosting an open-weight model with pinned weights is the only way to guarantee that the model you ran this year is the one you can rerun in five years. "Temperature" is the setting that controls how random a generative model's output is.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archetypes, seven decision drivers, and the hybrid pattern most statistical offices converge on once the legal analysis is done. We finish the section with a short exercise.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the urge to pick one archetype for the whole office. A realistic target state runs A for identifiable microdata, B or C for heavier non-sensitive processing and burst capacity, and D for general assistance on public material. The cost of running three is mostly the cost of running one consistent identity, catalogue and audit plane across all three — which is why that plane should be designed first. In many African countries, option B means a national government data centre or government cloud.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as a live scoring exercise: take three candidate use cases, walk the seven rows and write down the conclusion. It takes twenty minutes and often settles a debate that has run for months. The budget-mechanics row is frequently decisive in practice: many offices can obtain investment funding for hardware but not a guaranteed multi-year operating line for cloud consumption — and many rely on donor-funded projects with end dates, which pushes towards options with low recurrent cost.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6 sinks on-premises business cases after approval. Offices fund the hardware and assume the existing infrastructure team will absorb the operation. GPU estates are not ordinary servers: driver and library compatibility, scheduling and fair sharing between teams are specialist work. If you cannot commit the posts, choose archetype B or C instead — an unmanaged cluster is worse than no cluster. In donor-funded programmes, make sure the refresh and staffing costs are owned by the national budget before the project closes.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residency versus jurisdiction: this is a legal question with different answers in different countries, and it keeps evolving. What matters operationally is that your classification policy states a position, reached with legal advice and reviewed periodically. Offices get into trouble when nobody asked the question, not when they answered it conservatively. For African offices, currency risk is an additional trap: cloud bills are usually priced in US dollars, so a local-currency depreciation raises the cost mid-year.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Data-centre capacity on the continent is concentrated: a September 2025 industry study counted 211 operational data centres, 46% of them in South Africa, Kenya, Nigeria and Egypt. Several governments operate national data centres or government clouds that can host statistical workloads under public-sector terms. Hyperscaler regions exist mainly in South Africa, with new ones emerging, for example Oracle's first public cloud region in Kenya. Hosting in another country always needs an explicit legal basis under your statistics act and data protection law. The questions on the right apply to any host, including government ones.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insight is at the bottom. Running three tiers is manageable; running three tiers with three identity systems, three catalogues and three audit trails is not. If you take one architectural decision away from this deck, make it this: build the control plane once, centrally, and require every tier to register with it. That is what lets you answer the auditor's question "who used which model on which data, and when" with a query rather than an investigation.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asymmetry: everything you build is close to your statistical methodology, and everything you adopt is infrastructure. That is the test. When a proposal comes in to build something, ask whether it encodes institutional knowledge that is genuinely yours. If not, you are about to spend scarce staff time on generic engineering. Airflow, Argo and Kubeflow are examples of widely used open-source workflow tools.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practical notes. First, the capability gap that once made proprietary models the only viable option has narrowed considerably for the extraction and classification tasks that dominate official statistics — evaluate on your own gold standard rather than on public leaderboards. For African languages, test both kinds carefully: coverage varies widely. Second, the gateway is what makes this a portfolio rather than a fork in the road: if all model calls go through one internal interface, swapping the model behind a use case is a configuration change, not a re-engineering project.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group exercise. Read each scenario, give the room two minutes, then reveal the suggested answer. Case 1: identifiable census microdata is tier T3 — it stays on-premises with a self-hosted open-weight model, whatever the cost argument. Case 2: a published bulletin is public material, tier T0, so a managed API through the gateway is fine; the human check matters because language quality varies. Case 3: internal manuals are T1: non-public but not microdata — enterprise cloud under contract works, provided retrieval respects each user's permissions. Case 4: public satellite imagery with a short, heavy training need is the textbook case for renting dedicated cloud capacity.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Statistical secrecy is a statutory obligation, and generative AI introduces disclosure pathways that existing controls were never designed for. This section turns that concern into concrete policy and controls.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most time on items 1 and 3. Shadow AI — staff using unapproved public AI tools — is already happening in every organisation of any size. The mitigation is to provide an approved internal alternative quickly, combined with clear rules and technical egress controls. Vector stores are the sleeper risk: teams build them as a technical artefact and nobody classifies them, so a confidential corpus ends up in a database with no row-level security and no retention policy.</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matrix row by row. The global row sets principles; the continental row is where African offices have specific instruments: the African Charter on Statistics, the Strategy for the Harmonisation of Statistics in Africa (SHaSA 2), the Malabo Convention on cyber security and personal data protection, which entered into force on 8 June 2023, the AU Data Policy Framework, and the AU Continental AI Strategy endorsed in July 2024. The EU AI Act is included because many countries use its risk-based structure as a reference, and because it can apply to work involving EU partners. The national row is where the binding detail sits — adapt it to your country. Examples of national data protection laws include Kenya's Data Protection Act 2019, Nigeria's Data Protection Act 2023 and South Africa's POPIA.</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implement one thing from this briefing, implement this table. Draft it with legal, the data protection officer and the head of methodology; have the executive committee approve it; put it on the intranet next to the acceptable-use policy. The four tiers are a starting point — align the labels with the classification scheme your office already uses for information security, so staff do not have to learn a second vocabulary.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gets the centre of the slide because it makes almost every other commitment in this deck achievable. Cost attribution, model portability, audit, redaction and quota enforcement all become configuration rather than bespoke work. It can be assembled from open-source components in a matter of weeks by a competent platform engineer. The mistake is deferring it until several teams have already wired themselves directly to vendor endpoints.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6 is routinely missing and routinely needed. Ask any team proposing a model: what is the fallback if this degrades during a publication window, and when did you last test it? If the answer is "we would go back to manual coding", confirm that the manual capacity still exists — in several offices it was dismantled once automation was introduced, leaving no fallback at all. A model card is a short standard document describing what a model does, how it was trained and tested, and its limits.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GSBPM is the Generic Statistical Business Process Model. The confidence-routing rule is the practical heart of production AI in official statistics — we saw it in the worked example. A model that confidently and correctly codes most responses and refers the rest to human coders is far more valuable, and far easier to approve, than one that codes everything at slightly better than human accuracy with no way to tell which cases are wrong. Design for a calibrated confidence score and an explicit referral threshold from the start.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tabletop exercise rather than a lecture. Ask the room: which of these five could happen here next month, and who would notice first? The honest answer for most offices is scenario one, and that nobody would notice. That realisation usually unlocks funding for the gateway and the sanctioned internal tool.</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money actually goes, how five-year total cost of ownership behaves as volume grows, and how to write a request that survives a finance committee. All figures in this section are an illustrative planning model, not quotations.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8 is the one to defend hardest. A capital project that delivers a model and then ends leaves the office owning a production dependency with no funded owner — a familiar pattern with donor-funded projects. Fifteen to twenty-five per cent of build cost per year is a common planning heuristic for software-intensive systems; calibrate it against your own experience, but never set it to zero.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these proportions are a planning model, not a measurement. Their value is comparative: the deployment debate that consumes most of a committee's attention governs the smaller part of the bill, while the staffing model, which receives far less scrutiny, governs the larger part. Replace the shares with your own salary scales, energy prices and vendor rates.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this chart is to defuse a debate, not to price a procurement. Committees often spend months on the cloud-versus-on-premises question as though it were the whole budget. At baseline volume it moves about a third of the five-year total, and the largest bar segment in every scenario is people. The figures are generic planning units: rebuild the model with local salary scales, national energy prices and current vendor rates before any submission.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chart in the section for a technical audience. Pay-per-use pricing grows roughly in line with volume, while owned capacity is a step with a high floor. Where you sit on the horizontal axis, and how confident you are that you will stay there, determines the answer. Most offices are at one to two times baseline and believe they are at ten — which is how idle GPU estates get purchased.</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Trap six is structural and deserves a direct conversation with finance. Public funding mechanisms — including many development-partner projects — are built around projects with end dates, while AI capabilities are permanent operational dependencies. If project funding is the only instrument available, at minimum secure a written commitment on who holds the run budget from the day the project closes.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FinOps simply means managing cloud and AI spending as an ongoing operational discipline. Control five is worth dwelling on. Teams reach for the most capable model by default because it is the safest choice for them personally. A routing policy that starts with a small model and escalates only on measured need commonly removes a large share of inference spend with no measurable quality loss on classification and extraction tasks. Proving that requires an evaluation harness — another reason to build one early.</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not promising headcount reduction: it is tempting, it is what finance wants to hear, and it is usually both wrong and damaging. In practice, automatic coding redeploys coders to the difficult residual cases and to quality work, and it enables outputs that were previously unaffordable. Promising savings that do not materialise destroys credibility for the next submission and turns the staff whose cooperation you need against the programme. With development partners, the same logic applies: ask for platform and run funding, not only for a pilot.</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capability is a team, not a platform. This section covers who you need, how to attract and keep them on public pay scales, and how to sequence the first twenty-four months.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column is the operative one. Data scientists are visible and relatively easy to attract with interesting data. Data engineers and platform engineers are harder to attract and keep, and they determine whether anything ships. If you can fund only two posts, fund a data engineer and a platform engineer, and grow modelling capability from your existing methodologists. FTE means full-time equivalent.</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one is the most underrated. A methodologist who understands survey error, classification rules and disclosure control, and who then learns applied machine learning, is more valuable here than a specialist who must learn official statistics from scratch. Budget roughly six to twelve months of structured part-time learning on real projects. On partnerships: universities, regional statistical training centres, peer offices and development partners can all provide skills that salary cannot buy.</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management column is the one most often skipped, and it determines whether the other two are useful. A senior team that cannot read an evaluation report will approve projects on the basis of demonstrations — and demonstrations are selected to impress. The most valuable item there is the last one: knowing what evidence should cause a project to stop, and being willing to act on it. Prompt injection means hidden instructions in text that trick a model into doing something unintended.</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self-assessment with the leadership team, and insist on the weakest-element rule. A common pattern is an office with one impressive production model built by one talented person, which therefore believes it is at level 3, when in reality it is at level 1 with a single point of failure. Naming that honestly is usually what justifies investment in the unglamorous platform and governance work. Reassess every year and do not skip a level.</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are the point of this slide. Each is a factual condition that can be verified, not a judgement call. The hardest to hold politically is the phase 1 gate, because there is pressure to declare a demonstration a success and move on. The evaluation against the human baseline is what protects you: if the model cannot beat your own coders on your own frozen test set, no enthusiasm should carry it into production. Phase 1 looks like infrastructure work with nothing to show — fund it anyway.</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one is worth arguing about openly, because it is where methodological rigour can block its own goals. Holding a model to a higher standard than the process it replaces is not caution — it is an unexamined double standard. The answer is not to lower the bar, but to measure the existing manual process properly, which few offices have done, and hold both to the same published standard.</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out. It works well as a one-page self-assessment before a leadership discussion, because the answers are factual rather than aspirational — either the crosswalk is approved or it is not. Item 10 is the one most often answered "no", and it most reliably predicts a capability quietly degrading in year three.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points 4 and 10. Point 4 because it settles the recurring argument about cloud in a way that is defensible to an auditor and to a respondent. Point 10 because the best predictor of whether an office has production AI in three years is not its budget or its technology choice, but whether it built the boring foundations before chasing the visible use case.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statistics quoted on the African-context slides come from the sources listed in the right-hand column; check for updates before reuse, since these figures change quickly. Cost figures in section 5 are an illustrative planning model and are not sourced data.</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11.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10.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3.png"/><Relationship Id="rId9" Type="http://schemas.openxmlformats.org/officeDocument/2006/relationships/image" Target="../media/image47.png"/></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51.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2.png"/><Relationship Id="rId7"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4.png"/><Relationship Id="rId11" Type="http://schemas.openxmlformats.org/officeDocument/2006/relationships/image" Target="../media/image40.png"/><Relationship Id="rId5" Type="http://schemas.openxmlformats.org/officeDocument/2006/relationships/image" Target="../media/image53.png"/><Relationship Id="rId10" Type="http://schemas.openxmlformats.org/officeDocument/2006/relationships/image" Target="../media/image57.png"/><Relationship Id="rId4" Type="http://schemas.openxmlformats.org/officeDocument/2006/relationships/image" Target="../media/image5.png"/><Relationship Id="rId9"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14.png"/><Relationship Id="rId9"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64.png"/><Relationship Id="rId4" Type="http://schemas.openxmlformats.org/officeDocument/2006/relationships/image" Target="../media/image63.png"/></Relationships>
</file>

<file path=ppt/slides/_rels/slide19.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0.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21.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9" Type="http://schemas.openxmlformats.org/officeDocument/2006/relationships/image" Target="../media/image82.png"/></Relationships>
</file>

<file path=ppt/slides/_rels/slide22.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3.png"/><Relationship Id="rId7"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8.png"/><Relationship Id="rId7"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4.png"/><Relationship Id="rId11" Type="http://schemas.openxmlformats.org/officeDocument/2006/relationships/image" Target="../media/image91.png"/><Relationship Id="rId5" Type="http://schemas.openxmlformats.org/officeDocument/2006/relationships/image" Target="../media/image11.png"/><Relationship Id="rId10" Type="http://schemas.openxmlformats.org/officeDocument/2006/relationships/image" Target="../media/image54.png"/><Relationship Id="rId4" Type="http://schemas.openxmlformats.org/officeDocument/2006/relationships/image" Target="../media/image89.png"/><Relationship Id="rId9" Type="http://schemas.openxmlformats.org/officeDocument/2006/relationships/image" Target="../media/image61.png"/></Relationships>
</file>

<file path=ppt/slides/_rels/slide25.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4.png"/><Relationship Id="rId10" Type="http://schemas.openxmlformats.org/officeDocument/2006/relationships/image" Target="../media/image21.png"/><Relationship Id="rId4" Type="http://schemas.openxmlformats.org/officeDocument/2006/relationships/image" Target="../media/image93.png"/><Relationship Id="rId9" Type="http://schemas.openxmlformats.org/officeDocument/2006/relationships/image" Target="../media/image98.png"/></Relationships>
</file>

<file path=ppt/slides/_rels/slide2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2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21.png"/><Relationship Id="rId3" Type="http://schemas.openxmlformats.org/officeDocument/2006/relationships/image" Target="../media/image35.png"/><Relationship Id="rId7" Type="http://schemas.openxmlformats.org/officeDocument/2006/relationships/image" Target="../media/image105.png"/><Relationship Id="rId12" Type="http://schemas.openxmlformats.org/officeDocument/2006/relationships/image" Target="../media/image109.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04.png"/><Relationship Id="rId11" Type="http://schemas.openxmlformats.org/officeDocument/2006/relationships/image" Target="../media/image108.png"/><Relationship Id="rId5" Type="http://schemas.openxmlformats.org/officeDocument/2006/relationships/image" Target="../media/image11.png"/><Relationship Id="rId10" Type="http://schemas.openxmlformats.org/officeDocument/2006/relationships/image" Target="../media/image107.png"/><Relationship Id="rId4" Type="http://schemas.openxmlformats.org/officeDocument/2006/relationships/image" Target="../media/image103.png"/><Relationship Id="rId9" Type="http://schemas.openxmlformats.org/officeDocument/2006/relationships/image" Target="../media/image10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7.png"/><Relationship Id="rId4" Type="http://schemas.openxmlformats.org/officeDocument/2006/relationships/image" Target="../media/image111.png"/></Relationships>
</file>

<file path=ppt/slides/_rels/slide30.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15.png"/><Relationship Id="rId5" Type="http://schemas.openxmlformats.org/officeDocument/2006/relationships/image" Target="../media/image11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s>
</file>

<file path=ppt/slides/_rels/slide3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20.png"/><Relationship Id="rId7" Type="http://schemas.openxmlformats.org/officeDocument/2006/relationships/image" Target="../media/image12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21.png"/><Relationship Id="rId5" Type="http://schemas.openxmlformats.org/officeDocument/2006/relationships/image" Target="../media/image5.png"/><Relationship Id="rId4" Type="http://schemas.openxmlformats.org/officeDocument/2006/relationships/image" Target="../media/image82.png"/><Relationship Id="rId9" Type="http://schemas.openxmlformats.org/officeDocument/2006/relationships/image" Target="../media/image115.png"/></Relationships>
</file>

<file path=ppt/slides/_rels/slide32.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74.png"/><Relationship Id="rId7"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13.png"/><Relationship Id="rId11" Type="http://schemas.openxmlformats.org/officeDocument/2006/relationships/image" Target="../media/image21.png"/><Relationship Id="rId5" Type="http://schemas.openxmlformats.org/officeDocument/2006/relationships/image" Target="../media/image76.png"/><Relationship Id="rId10" Type="http://schemas.openxmlformats.org/officeDocument/2006/relationships/image" Target="../media/image116.png"/><Relationship Id="rId4" Type="http://schemas.openxmlformats.org/officeDocument/2006/relationships/image" Target="../media/image80.png"/><Relationship Id="rId9" Type="http://schemas.openxmlformats.org/officeDocument/2006/relationships/image" Target="../media/image124.png"/></Relationships>
</file>

<file path=ppt/slides/_rels/slide33.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10.png"/><Relationship Id="rId7" Type="http://schemas.openxmlformats.org/officeDocument/2006/relationships/image" Target="../media/image127.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11.png"/></Relationships>
</file>

<file path=ppt/slides/_rels/slide3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12.png"/><Relationship Id="rId7" Type="http://schemas.openxmlformats.org/officeDocument/2006/relationships/image" Target="../media/image130.png"/><Relationship Id="rId12" Type="http://schemas.openxmlformats.org/officeDocument/2006/relationships/image" Target="../media/image133.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00.png"/><Relationship Id="rId11" Type="http://schemas.openxmlformats.org/officeDocument/2006/relationships/image" Target="../media/image96.png"/><Relationship Id="rId5" Type="http://schemas.openxmlformats.org/officeDocument/2006/relationships/image" Target="../media/image129.png"/><Relationship Id="rId10" Type="http://schemas.openxmlformats.org/officeDocument/2006/relationships/image" Target="../media/image132.png"/><Relationship Id="rId4" Type="http://schemas.openxmlformats.org/officeDocument/2006/relationships/image" Target="../media/image101.png"/><Relationship Id="rId9" Type="http://schemas.openxmlformats.org/officeDocument/2006/relationships/image" Target="../media/image131.png"/></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34.png"/></Relationships>
</file>

<file path=ppt/slides/_rels/slide39.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29.png"/><Relationship Id="rId7" Type="http://schemas.openxmlformats.org/officeDocument/2006/relationships/image" Target="../media/image138.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37.png"/><Relationship Id="rId5" Type="http://schemas.openxmlformats.org/officeDocument/2006/relationships/image" Target="../media/image136.png"/><Relationship Id="rId10" Type="http://schemas.openxmlformats.org/officeDocument/2006/relationships/image" Target="../media/image21.png"/><Relationship Id="rId4" Type="http://schemas.openxmlformats.org/officeDocument/2006/relationships/image" Target="../media/image135.png"/><Relationship Id="rId9" Type="http://schemas.openxmlformats.org/officeDocument/2006/relationships/image" Target="../media/image140.png"/></Relationships>
</file>

<file path=ppt/slides/_rels/slide40.xml.rels><?xml version="1.0" encoding="UTF-8" standalone="yes"?>
<Relationships xmlns="http://schemas.openxmlformats.org/package/2006/relationships"><Relationship Id="rId8" Type="http://schemas.openxmlformats.org/officeDocument/2006/relationships/image" Target="../media/image144.png"/><Relationship Id="rId3" Type="http://schemas.openxmlformats.org/officeDocument/2006/relationships/image" Target="../media/image141.png"/><Relationship Id="rId7" Type="http://schemas.openxmlformats.org/officeDocument/2006/relationships/image" Target="../media/image129.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30.png"/><Relationship Id="rId5" Type="http://schemas.openxmlformats.org/officeDocument/2006/relationships/image" Target="../media/image143.png"/><Relationship Id="rId4" Type="http://schemas.openxmlformats.org/officeDocument/2006/relationships/image" Target="../media/image142.png"/><Relationship Id="rId9" Type="http://schemas.openxmlformats.org/officeDocument/2006/relationships/image" Target="../media/image145.png"/></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image" Target="../media/image146.png"/><Relationship Id="rId7" Type="http://schemas.openxmlformats.org/officeDocument/2006/relationships/image" Target="../media/image10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148.png"/><Relationship Id="rId11" Type="http://schemas.openxmlformats.org/officeDocument/2006/relationships/image" Target="../media/image21.png"/><Relationship Id="rId5" Type="http://schemas.openxmlformats.org/officeDocument/2006/relationships/image" Target="../media/image147.png"/><Relationship Id="rId10" Type="http://schemas.openxmlformats.org/officeDocument/2006/relationships/image" Target="../media/image151.png"/><Relationship Id="rId4" Type="http://schemas.openxmlformats.org/officeDocument/2006/relationships/image" Target="../media/image131.png"/><Relationship Id="rId9" Type="http://schemas.openxmlformats.org/officeDocument/2006/relationships/image" Target="../media/image150.png"/></Relationships>
</file>

<file path=ppt/slides/_rels/slide43.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52.png"/><Relationship Id="rId7" Type="http://schemas.openxmlformats.org/officeDocument/2006/relationships/image" Target="../media/image145.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54.png"/><Relationship Id="rId5" Type="http://schemas.openxmlformats.org/officeDocument/2006/relationships/image" Target="../media/image137.png"/><Relationship Id="rId4" Type="http://schemas.openxmlformats.org/officeDocument/2006/relationships/image" Target="../media/image153.png"/></Relationships>
</file>

<file path=ppt/slides/_rels/slide4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00.png"/><Relationship Id="rId5" Type="http://schemas.openxmlformats.org/officeDocument/2006/relationships/image" Target="../media/image99.png"/><Relationship Id="rId10" Type="http://schemas.openxmlformats.org/officeDocument/2006/relationships/image" Target="../media/image21.png"/><Relationship Id="rId4" Type="http://schemas.openxmlformats.org/officeDocument/2006/relationships/image" Target="../media/image66.png"/><Relationship Id="rId9" Type="http://schemas.openxmlformats.org/officeDocument/2006/relationships/image" Target="../media/image32.png"/></Relationships>
</file>

<file path=ppt/slides/_rels/slide4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9.png"/><Relationship Id="rId7" Type="http://schemas.openxmlformats.org/officeDocument/2006/relationships/image" Target="../media/image158.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59.png"/></Relationships>
</file>

<file path=ppt/slides/_rels/slide47.xml.rels><?xml version="1.0" encoding="UTF-8" standalone="yes"?>
<Relationships xmlns="http://schemas.openxmlformats.org/package/2006/relationships"><Relationship Id="rId8" Type="http://schemas.openxmlformats.org/officeDocument/2006/relationships/image" Target="../media/image165.png"/><Relationship Id="rId3" Type="http://schemas.openxmlformats.org/officeDocument/2006/relationships/image" Target="../media/image160.png"/><Relationship Id="rId7" Type="http://schemas.openxmlformats.org/officeDocument/2006/relationships/image" Target="../media/image164.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63.png"/><Relationship Id="rId11" Type="http://schemas.openxmlformats.org/officeDocument/2006/relationships/image" Target="../media/image168.png"/><Relationship Id="rId5" Type="http://schemas.openxmlformats.org/officeDocument/2006/relationships/image" Target="../media/image162.png"/><Relationship Id="rId10" Type="http://schemas.openxmlformats.org/officeDocument/2006/relationships/image" Target="../media/image167.png"/><Relationship Id="rId4" Type="http://schemas.openxmlformats.org/officeDocument/2006/relationships/image" Target="../media/image161.png"/><Relationship Id="rId9" Type="http://schemas.openxmlformats.org/officeDocument/2006/relationships/image" Target="../media/image166.png"/></Relationships>
</file>

<file path=ppt/slides/_rels/slide48.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16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165.png"/><Relationship Id="rId5" Type="http://schemas.openxmlformats.org/officeDocument/2006/relationships/image" Target="../media/image161.png"/><Relationship Id="rId4" Type="http://schemas.openxmlformats.org/officeDocument/2006/relationships/image" Target="../media/image160.png"/></Relationships>
</file>

<file path=ppt/slides/_rels/slide4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image" Target="../media/image169.png"/><Relationship Id="rId7" Type="http://schemas.openxmlformats.org/officeDocument/2006/relationships/image" Target="../media/image165.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162.png"/><Relationship Id="rId5" Type="http://schemas.openxmlformats.org/officeDocument/2006/relationships/image" Target="../media/image171.png"/><Relationship Id="rId10" Type="http://schemas.openxmlformats.org/officeDocument/2006/relationships/image" Target="../media/image168.png"/><Relationship Id="rId4" Type="http://schemas.openxmlformats.org/officeDocument/2006/relationships/image" Target="../media/image170.png"/><Relationship Id="rId9" Type="http://schemas.openxmlformats.org/officeDocument/2006/relationships/image" Target="../media/image172.png"/></Relationships>
</file>

<file path=ppt/slides/_rels/slide52.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174.png"/></Relationships>
</file>

<file path=ppt/slides/_rels/slide53.xml.rels><?xml version="1.0" encoding="UTF-8" standalone="yes"?>
<Relationships xmlns="http://schemas.openxmlformats.org/package/2006/relationships"><Relationship Id="rId3" Type="http://schemas.openxmlformats.org/officeDocument/2006/relationships/image" Target="../media/image175.png"/><Relationship Id="rId7" Type="http://schemas.openxmlformats.org/officeDocument/2006/relationships/image" Target="../media/image168.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176.png"/><Relationship Id="rId4" Type="http://schemas.openxmlformats.org/officeDocument/2006/relationships/image" Target="../media/image66.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55.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77.png"/><Relationship Id="rId7" Type="http://schemas.openxmlformats.org/officeDocument/2006/relationships/image" Target="../media/image179.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178.png"/><Relationship Id="rId11" Type="http://schemas.openxmlformats.org/officeDocument/2006/relationships/image" Target="../media/image183.png"/><Relationship Id="rId5" Type="http://schemas.openxmlformats.org/officeDocument/2006/relationships/image" Target="../media/image136.png"/><Relationship Id="rId10" Type="http://schemas.openxmlformats.org/officeDocument/2006/relationships/image" Target="../media/image182.png"/><Relationship Id="rId4" Type="http://schemas.openxmlformats.org/officeDocument/2006/relationships/image" Target="../media/image156.png"/><Relationship Id="rId9" Type="http://schemas.openxmlformats.org/officeDocument/2006/relationships/image" Target="../media/image181.png"/></Relationships>
</file>

<file path=ppt/slides/_rels/slide56.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image" Target="../media/image68.png"/><Relationship Id="rId7" Type="http://schemas.openxmlformats.org/officeDocument/2006/relationships/image" Target="../media/image186.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185.png"/><Relationship Id="rId5" Type="http://schemas.openxmlformats.org/officeDocument/2006/relationships/image" Target="../media/image184.png"/><Relationship Id="rId10" Type="http://schemas.openxmlformats.org/officeDocument/2006/relationships/image" Target="../media/image91.png"/><Relationship Id="rId4" Type="http://schemas.openxmlformats.org/officeDocument/2006/relationships/image" Target="../media/image34.png"/><Relationship Id="rId9" Type="http://schemas.openxmlformats.org/officeDocument/2006/relationships/image" Target="../media/image187.png"/></Relationships>
</file>

<file path=ppt/slides/_rels/slide57.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141.png"/><Relationship Id="rId7" Type="http://schemas.openxmlformats.org/officeDocument/2006/relationships/image" Target="../media/image188.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99.png"/><Relationship Id="rId5" Type="http://schemas.openxmlformats.org/officeDocument/2006/relationships/image" Target="../media/image63.png"/><Relationship Id="rId4" Type="http://schemas.openxmlformats.org/officeDocument/2006/relationships/image" Target="../media/image34.png"/><Relationship Id="rId9" Type="http://schemas.openxmlformats.org/officeDocument/2006/relationships/image" Target="../media/image189.png"/></Relationships>
</file>

<file path=ppt/slides/_rels/slide58.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183.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190.png"/><Relationship Id="rId5" Type="http://schemas.openxmlformats.org/officeDocument/2006/relationships/image" Target="../media/image99.png"/><Relationship Id="rId4" Type="http://schemas.openxmlformats.org/officeDocument/2006/relationships/image" Target="../media/image66.png"/></Relationships>
</file>

<file path=ppt/slides/_rels/slide60.xml.rels><?xml version="1.0" encoding="UTF-8" standalone="yes"?>
<Relationships xmlns="http://schemas.openxmlformats.org/package/2006/relationships"><Relationship Id="rId8" Type="http://schemas.openxmlformats.org/officeDocument/2006/relationships/image" Target="../media/image194.png"/><Relationship Id="rId3" Type="http://schemas.openxmlformats.org/officeDocument/2006/relationships/image" Target="../media/image179.png"/><Relationship Id="rId7" Type="http://schemas.openxmlformats.org/officeDocument/2006/relationships/image" Target="../media/image193.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192.png"/><Relationship Id="rId11" Type="http://schemas.openxmlformats.org/officeDocument/2006/relationships/image" Target="../media/image183.png"/><Relationship Id="rId5" Type="http://schemas.openxmlformats.org/officeDocument/2006/relationships/image" Target="../media/image124.png"/><Relationship Id="rId10" Type="http://schemas.openxmlformats.org/officeDocument/2006/relationships/image" Target="../media/image196.png"/><Relationship Id="rId4" Type="http://schemas.openxmlformats.org/officeDocument/2006/relationships/image" Target="../media/image191.png"/><Relationship Id="rId9" Type="http://schemas.openxmlformats.org/officeDocument/2006/relationships/image" Target="../media/image195.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126.png"/><Relationship Id="rId4" Type="http://schemas.openxmlformats.org/officeDocument/2006/relationships/image" Target="../media/image19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640080"/>
            <a:ext cx="64008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A BRIEFING FOR STATISTICIANS, IT TEAMS AND MANAGEMENT</a:t>
            </a:r>
            <a:endParaRPr lang="en-US" sz="1050" dirty="0"/>
          </a:p>
        </p:txBody>
      </p:sp>
      <p:sp>
        <p:nvSpPr>
          <p:cNvPr id="4" name="Text 2"/>
          <p:cNvSpPr txBox="1"/>
          <p:nvPr/>
        </p:nvSpPr>
        <p:spPr>
          <a:xfrm>
            <a:off x="548640" y="1005840"/>
            <a:ext cx="6400800" cy="1463040"/>
          </a:xfrm>
          <a:prstGeom prst="rect">
            <a:avLst/>
          </a:prstGeom>
          <a:noFill/>
          <a:ln/>
        </p:spPr>
        <p:txBody>
          <a:bodyPr wrap="square" lIns="0" tIns="0" rIns="0" bIns="0" rtlCol="0" anchor="t"/>
          <a:lstStyle/>
          <a:p>
            <a:pPr marL="0" indent="0">
              <a:buNone/>
            </a:pPr>
            <a:r>
              <a:rPr lang="en-US" sz="4400" b="1" dirty="0">
                <a:solidFill>
                  <a:srgbClr val="FFFFFF"/>
                </a:solidFill>
                <a:latin typeface="Calibri" pitchFamily="34" charset="0"/>
                <a:ea typeface="Calibri" pitchFamily="34" charset="-122"/>
                <a:cs typeface="Calibri" pitchFamily="34" charset="-120"/>
              </a:rPr>
              <a:t>AI Infrastructure for</a:t>
            </a:r>
            <a:endParaRPr lang="en-US" sz="4400" dirty="0"/>
          </a:p>
          <a:p>
            <a:pPr marL="0" indent="0">
              <a:buNone/>
            </a:pPr>
            <a:r>
              <a:rPr lang="en-US" sz="4400" b="1" dirty="0">
                <a:solidFill>
                  <a:srgbClr val="FFFFFF"/>
                </a:solidFill>
                <a:latin typeface="Calibri" pitchFamily="34" charset="0"/>
                <a:ea typeface="Calibri" pitchFamily="34" charset="-122"/>
                <a:cs typeface="Calibri" pitchFamily="34" charset="-120"/>
              </a:rPr>
              <a:t>Statistical Offices</a:t>
            </a:r>
            <a:endParaRPr lang="en-US" sz="4400" dirty="0"/>
          </a:p>
        </p:txBody>
      </p:sp>
      <p:sp>
        <p:nvSpPr>
          <p:cNvPr id="5" name="Text 3"/>
          <p:cNvSpPr txBox="1"/>
          <p:nvPr/>
        </p:nvSpPr>
        <p:spPr>
          <a:xfrm>
            <a:off x="548640" y="2560320"/>
            <a:ext cx="5669280" cy="68580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What it really takes to run AI in a national statistical office — with a focus on the African context</a:t>
            </a:r>
            <a:endParaRPr lang="en-US" sz="1800" dirty="0"/>
          </a:p>
        </p:txBody>
      </p:sp>
      <p:sp>
        <p:nvSpPr>
          <p:cNvPr id="6" name="Shape 4"/>
          <p:cNvSpPr/>
          <p:nvPr/>
        </p:nvSpPr>
        <p:spPr>
          <a:xfrm>
            <a:off x="548640" y="3520440"/>
            <a:ext cx="66294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7" name="Text 5"/>
          <p:cNvSpPr txBox="1"/>
          <p:nvPr/>
        </p:nvSpPr>
        <p:spPr>
          <a:xfrm>
            <a:off x="548640" y="3520440"/>
            <a:ext cx="66294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Compute</a:t>
            </a:r>
            <a:endParaRPr lang="en-US" sz="1000" dirty="0"/>
          </a:p>
        </p:txBody>
      </p:sp>
      <p:sp>
        <p:nvSpPr>
          <p:cNvPr id="8" name="Shape 6"/>
          <p:cNvSpPr/>
          <p:nvPr/>
        </p:nvSpPr>
        <p:spPr>
          <a:xfrm>
            <a:off x="1321308" y="3520440"/>
            <a:ext cx="100584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9" name="Text 7"/>
          <p:cNvSpPr txBox="1"/>
          <p:nvPr/>
        </p:nvSpPr>
        <p:spPr>
          <a:xfrm>
            <a:off x="1321308" y="3520440"/>
            <a:ext cx="100584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Data &amp; MLOps</a:t>
            </a:r>
            <a:endParaRPr lang="en-US" sz="1000" dirty="0"/>
          </a:p>
        </p:txBody>
      </p:sp>
      <p:sp>
        <p:nvSpPr>
          <p:cNvPr id="10" name="Shape 8"/>
          <p:cNvSpPr/>
          <p:nvPr/>
        </p:nvSpPr>
        <p:spPr>
          <a:xfrm>
            <a:off x="2436876" y="3520440"/>
            <a:ext cx="86868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1" name="Text 9"/>
          <p:cNvSpPr txBox="1"/>
          <p:nvPr/>
        </p:nvSpPr>
        <p:spPr>
          <a:xfrm>
            <a:off x="2436876" y="3520440"/>
            <a:ext cx="86868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Deployment</a:t>
            </a:r>
            <a:endParaRPr lang="en-US" sz="1000" dirty="0"/>
          </a:p>
        </p:txBody>
      </p:sp>
      <p:sp>
        <p:nvSpPr>
          <p:cNvPr id="12" name="Shape 10"/>
          <p:cNvSpPr/>
          <p:nvPr/>
        </p:nvSpPr>
        <p:spPr>
          <a:xfrm>
            <a:off x="3415284" y="3520440"/>
            <a:ext cx="86868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3" name="Text 11"/>
          <p:cNvSpPr txBox="1"/>
          <p:nvPr/>
        </p:nvSpPr>
        <p:spPr>
          <a:xfrm>
            <a:off x="3415284" y="3520440"/>
            <a:ext cx="86868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Governance</a:t>
            </a:r>
            <a:endParaRPr lang="en-US" sz="1000" dirty="0"/>
          </a:p>
        </p:txBody>
      </p:sp>
      <p:sp>
        <p:nvSpPr>
          <p:cNvPr id="14" name="Shape 12"/>
          <p:cNvSpPr/>
          <p:nvPr/>
        </p:nvSpPr>
        <p:spPr>
          <a:xfrm>
            <a:off x="4393692" y="3520440"/>
            <a:ext cx="45720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5" name="Text 13"/>
          <p:cNvSpPr txBox="1"/>
          <p:nvPr/>
        </p:nvSpPr>
        <p:spPr>
          <a:xfrm>
            <a:off x="4393692" y="3520440"/>
            <a:ext cx="45720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Cost</a:t>
            </a:r>
            <a:endParaRPr lang="en-US" sz="1000" dirty="0"/>
          </a:p>
        </p:txBody>
      </p:sp>
      <p:sp>
        <p:nvSpPr>
          <p:cNvPr id="16" name="Shape 14"/>
          <p:cNvSpPr/>
          <p:nvPr/>
        </p:nvSpPr>
        <p:spPr>
          <a:xfrm>
            <a:off x="4960620" y="3520440"/>
            <a:ext cx="1280160"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7" name="Text 15"/>
          <p:cNvSpPr txBox="1"/>
          <p:nvPr/>
        </p:nvSpPr>
        <p:spPr>
          <a:xfrm>
            <a:off x="4960620" y="3520440"/>
            <a:ext cx="128016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People &amp; roadmap</a:t>
            </a:r>
            <a:endParaRPr lang="en-US" sz="1000" dirty="0"/>
          </a:p>
        </p:txBody>
      </p:sp>
      <p:sp>
        <p:nvSpPr>
          <p:cNvPr id="19" name="Text 23">
            <a:extLst>
              <a:ext uri="{FF2B5EF4-FFF2-40B4-BE49-F238E27FC236}">
                <a16:creationId xmlns:a16="http://schemas.microsoft.com/office/drawing/2014/main" id="{20A1A34C-78AC-CE5A-B8FF-10D3EEC2F0AB}"/>
              </a:ext>
            </a:extLst>
          </p:cNvPr>
          <p:cNvSpPr txBox="1"/>
          <p:nvPr/>
        </p:nvSpPr>
        <p:spPr>
          <a:xfrm>
            <a:off x="548640" y="4366260"/>
            <a:ext cx="640080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FFFFFF"/>
                </a:solidFill>
                <a:latin typeface="Calibri" pitchFamily="34" charset="0"/>
                <a:ea typeface="Calibri" pitchFamily="34" charset="-122"/>
                <a:cs typeface="Calibri" pitchFamily="34" charset="-120"/>
              </a:rPr>
              <a:t>Data Innovation For Africa (DI4A) - African Development Bank</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00 · ABOUT THIS BRIEFING</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Why this briefing, and what you will learn</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Objective: give a shared, practical basis for deciding how to build AI capability in an NSO</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8" name="Shape 15"/>
          <p:cNvSpPr/>
          <p:nvPr/>
        </p:nvSpPr>
        <p:spPr>
          <a:xfrm>
            <a:off x="457200" y="1371600"/>
            <a:ext cx="3566160" cy="3200400"/>
          </a:xfrm>
          <a:prstGeom prst="roundRect">
            <a:avLst>
              <a:gd name="adj" fmla="val 2286"/>
            </a:avLst>
          </a:prstGeom>
          <a:solidFill>
            <a:srgbClr val="E8F5EF"/>
          </a:solidFill>
          <a:ln w="15875">
            <a:solidFill>
              <a:srgbClr val="00A86A"/>
            </a:solidFill>
            <a:prstDash val="solid"/>
          </a:ln>
        </p:spPr>
      </p:sp>
      <p:sp>
        <p:nvSpPr>
          <p:cNvPr id="19" name="Text 16"/>
          <p:cNvSpPr txBox="1"/>
          <p:nvPr/>
        </p:nvSpPr>
        <p:spPr>
          <a:xfrm>
            <a:off x="640080" y="1508760"/>
            <a:ext cx="32004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THE CORE MESSAGE</a:t>
            </a:r>
            <a:endParaRPr lang="en-US" sz="900" dirty="0"/>
          </a:p>
        </p:txBody>
      </p:sp>
      <p:sp>
        <p:nvSpPr>
          <p:cNvPr id="20" name="Text 17"/>
          <p:cNvSpPr txBox="1"/>
          <p:nvPr/>
        </p:nvSpPr>
        <p:spPr>
          <a:xfrm>
            <a:off x="640080" y="1737360"/>
            <a:ext cx="3200400" cy="10058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An AI capability in a statistical office is a production platform with legal obligations — not a model and not a one-off project.</a:t>
            </a:r>
            <a:endParaRPr lang="en-US" sz="1500" dirty="0"/>
          </a:p>
        </p:txBody>
      </p:sp>
      <p:sp>
        <p:nvSpPr>
          <p:cNvPr id="21" name="Text 18"/>
          <p:cNvSpPr txBox="1"/>
          <p:nvPr/>
        </p:nvSpPr>
        <p:spPr>
          <a:xfrm>
            <a:off x="640080" y="2880360"/>
            <a:ext cx="32004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WHO IT IS FOR</a:t>
            </a:r>
            <a:endParaRPr lang="en-US" sz="900" dirty="0"/>
          </a:p>
        </p:txBody>
      </p:sp>
      <p:sp>
        <p:nvSpPr>
          <p:cNvPr id="22" name="Shape 19"/>
          <p:cNvSpPr/>
          <p:nvPr/>
        </p:nvSpPr>
        <p:spPr>
          <a:xfrm>
            <a:off x="640080" y="3154680"/>
            <a:ext cx="329184" cy="329184"/>
          </a:xfrm>
          <a:prstGeom prst="ellipse">
            <a:avLst/>
          </a:prstGeom>
          <a:solidFill>
            <a:srgbClr val="00A86A">
              <a:alpha val="22000"/>
            </a:srgbClr>
          </a:solidFill>
          <a:ln/>
        </p:spPr>
      </p:sp>
      <p:pic>
        <p:nvPicPr>
          <p:cNvPr id="23" name="Image 0" descr="preencoded.png"/>
          <p:cNvPicPr>
            <a:picLocks noChangeAspect="1"/>
          </p:cNvPicPr>
          <p:nvPr/>
        </p:nvPicPr>
        <p:blipFill>
          <a:blip r:embed="rId3"/>
          <a:stretch>
            <a:fillRect/>
          </a:stretch>
        </p:blipFill>
        <p:spPr>
          <a:xfrm>
            <a:off x="719084" y="3233684"/>
            <a:ext cx="171176" cy="171176"/>
          </a:xfrm>
          <a:prstGeom prst="rect">
            <a:avLst/>
          </a:prstGeom>
        </p:spPr>
      </p:pic>
      <p:sp>
        <p:nvSpPr>
          <p:cNvPr id="24" name="Text 20"/>
          <p:cNvSpPr txBox="1"/>
          <p:nvPr/>
        </p:nvSpPr>
        <p:spPr>
          <a:xfrm>
            <a:off x="1078992" y="3154680"/>
            <a:ext cx="2743200" cy="329184"/>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Statisticians and methodologists</a:t>
            </a:r>
            <a:endParaRPr lang="en-US" sz="1100" dirty="0"/>
          </a:p>
        </p:txBody>
      </p:sp>
      <p:sp>
        <p:nvSpPr>
          <p:cNvPr id="25" name="Shape 21"/>
          <p:cNvSpPr/>
          <p:nvPr/>
        </p:nvSpPr>
        <p:spPr>
          <a:xfrm>
            <a:off x="640080" y="3593592"/>
            <a:ext cx="329184" cy="329184"/>
          </a:xfrm>
          <a:prstGeom prst="ellipse">
            <a:avLst/>
          </a:prstGeom>
          <a:solidFill>
            <a:srgbClr val="0E7C86">
              <a:alpha val="22000"/>
            </a:srgbClr>
          </a:solidFill>
          <a:ln/>
        </p:spPr>
      </p:sp>
      <p:pic>
        <p:nvPicPr>
          <p:cNvPr id="26" name="Image 1" descr="preencoded.png"/>
          <p:cNvPicPr>
            <a:picLocks noChangeAspect="1"/>
          </p:cNvPicPr>
          <p:nvPr/>
        </p:nvPicPr>
        <p:blipFill>
          <a:blip r:embed="rId4"/>
          <a:stretch>
            <a:fillRect/>
          </a:stretch>
        </p:blipFill>
        <p:spPr>
          <a:xfrm>
            <a:off x="719084" y="3672596"/>
            <a:ext cx="171176" cy="171176"/>
          </a:xfrm>
          <a:prstGeom prst="rect">
            <a:avLst/>
          </a:prstGeom>
        </p:spPr>
      </p:pic>
      <p:sp>
        <p:nvSpPr>
          <p:cNvPr id="27" name="Text 22"/>
          <p:cNvSpPr txBox="1"/>
          <p:nvPr/>
        </p:nvSpPr>
        <p:spPr>
          <a:xfrm>
            <a:off x="1078992" y="3593592"/>
            <a:ext cx="2743200" cy="329184"/>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IT, platform and security teams</a:t>
            </a:r>
            <a:endParaRPr lang="en-US" sz="1100" dirty="0"/>
          </a:p>
        </p:txBody>
      </p:sp>
      <p:sp>
        <p:nvSpPr>
          <p:cNvPr id="28" name="Shape 23"/>
          <p:cNvSpPr/>
          <p:nvPr/>
        </p:nvSpPr>
        <p:spPr>
          <a:xfrm>
            <a:off x="640080" y="4032504"/>
            <a:ext cx="329184" cy="329184"/>
          </a:xfrm>
          <a:prstGeom prst="ellipse">
            <a:avLst/>
          </a:prstGeom>
          <a:solidFill>
            <a:srgbClr val="D49A00">
              <a:alpha val="22000"/>
            </a:srgbClr>
          </a:solidFill>
          <a:ln/>
        </p:spPr>
      </p:sp>
      <p:pic>
        <p:nvPicPr>
          <p:cNvPr id="29" name="Image 2" descr="preencoded.png"/>
          <p:cNvPicPr>
            <a:picLocks noChangeAspect="1"/>
          </p:cNvPicPr>
          <p:nvPr/>
        </p:nvPicPr>
        <p:blipFill>
          <a:blip r:embed="rId5"/>
          <a:stretch>
            <a:fillRect/>
          </a:stretch>
        </p:blipFill>
        <p:spPr>
          <a:xfrm>
            <a:off x="719084" y="4111508"/>
            <a:ext cx="171176" cy="171176"/>
          </a:xfrm>
          <a:prstGeom prst="rect">
            <a:avLst/>
          </a:prstGeom>
        </p:spPr>
      </p:pic>
      <p:sp>
        <p:nvSpPr>
          <p:cNvPr id="30" name="Text 24"/>
          <p:cNvSpPr txBox="1"/>
          <p:nvPr/>
        </p:nvSpPr>
        <p:spPr>
          <a:xfrm>
            <a:off x="1078992" y="4032504"/>
            <a:ext cx="2743200" cy="329184"/>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Management and oversight bodies</a:t>
            </a:r>
            <a:endParaRPr lang="en-US" sz="1100" dirty="0"/>
          </a:p>
        </p:txBody>
      </p:sp>
      <p:sp>
        <p:nvSpPr>
          <p:cNvPr id="31" name="Text 25"/>
          <p:cNvSpPr txBox="1"/>
          <p:nvPr/>
        </p:nvSpPr>
        <p:spPr>
          <a:xfrm>
            <a:off x="4297680" y="1371600"/>
            <a:ext cx="438912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BY THE END YOU WILL BE ABLE TO</a:t>
            </a:r>
            <a:endParaRPr lang="en-US" sz="900" dirty="0"/>
          </a:p>
        </p:txBody>
      </p:sp>
      <p:sp>
        <p:nvSpPr>
          <p:cNvPr id="32" name="Shape 26"/>
          <p:cNvSpPr/>
          <p:nvPr/>
        </p:nvSpPr>
        <p:spPr>
          <a:xfrm>
            <a:off x="4297680" y="1645920"/>
            <a:ext cx="402336" cy="402336"/>
          </a:xfrm>
          <a:prstGeom prst="ellipse">
            <a:avLst/>
          </a:prstGeom>
          <a:solidFill>
            <a:srgbClr val="00A86A"/>
          </a:solidFill>
          <a:ln/>
        </p:spPr>
      </p:sp>
      <p:sp>
        <p:nvSpPr>
          <p:cNvPr id="33" name="Text 27"/>
          <p:cNvSpPr txBox="1"/>
          <p:nvPr/>
        </p:nvSpPr>
        <p:spPr>
          <a:xfrm>
            <a:off x="4297680" y="164592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4" name="Text 28"/>
          <p:cNvSpPr txBox="1"/>
          <p:nvPr/>
        </p:nvSpPr>
        <p:spPr>
          <a:xfrm>
            <a:off x="4846320" y="1609344"/>
            <a:ext cx="3840480" cy="475488"/>
          </a:xfrm>
          <a:prstGeom prst="rect">
            <a:avLst/>
          </a:prstGeom>
          <a:noFill/>
          <a:ln/>
        </p:spPr>
        <p:txBody>
          <a:bodyPr wrap="square" lIns="0" tIns="0" rIns="0" bIns="0" rtlCol="0" anchor="ctr"/>
          <a:lstStyle/>
          <a:p>
            <a:pPr marL="0" indent="0">
              <a:buNone/>
            </a:pPr>
            <a:r>
              <a:rPr lang="en-US" sz="1200" b="1" dirty="0">
                <a:solidFill>
                  <a:srgbClr val="00A86A"/>
                </a:solidFill>
                <a:latin typeface="Calibri" pitchFamily="34" charset="0"/>
                <a:ea typeface="Calibri" pitchFamily="34" charset="-122"/>
                <a:cs typeface="Calibri" pitchFamily="34" charset="-120"/>
              </a:rPr>
              <a:t>Explain </a:t>
            </a:r>
            <a:r>
              <a:rPr lang="en-US" sz="1200" dirty="0">
                <a:solidFill>
                  <a:srgbClr val="231F20"/>
                </a:solidFill>
                <a:latin typeface="Calibri" pitchFamily="34" charset="0"/>
                <a:ea typeface="Calibri" pitchFamily="34" charset="-122"/>
                <a:cs typeface="Calibri" pitchFamily="34" charset="-120"/>
              </a:rPr>
              <a:t>the five layers of an AI system and why the model is the smallest part</a:t>
            </a:r>
            <a:endParaRPr lang="en-US" sz="1200" dirty="0"/>
          </a:p>
        </p:txBody>
      </p:sp>
      <p:sp>
        <p:nvSpPr>
          <p:cNvPr id="35" name="Shape 29"/>
          <p:cNvSpPr/>
          <p:nvPr/>
        </p:nvSpPr>
        <p:spPr>
          <a:xfrm>
            <a:off x="4297680" y="2231136"/>
            <a:ext cx="402336" cy="402336"/>
          </a:xfrm>
          <a:prstGeom prst="ellipse">
            <a:avLst/>
          </a:prstGeom>
          <a:solidFill>
            <a:srgbClr val="00704A"/>
          </a:solidFill>
          <a:ln/>
        </p:spPr>
      </p:sp>
      <p:sp>
        <p:nvSpPr>
          <p:cNvPr id="36" name="Text 30"/>
          <p:cNvSpPr txBox="1"/>
          <p:nvPr/>
        </p:nvSpPr>
        <p:spPr>
          <a:xfrm>
            <a:off x="4297680" y="223113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7" name="Text 31"/>
          <p:cNvSpPr txBox="1"/>
          <p:nvPr/>
        </p:nvSpPr>
        <p:spPr>
          <a:xfrm>
            <a:off x="4846320" y="2194560"/>
            <a:ext cx="3840480" cy="475488"/>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Match </a:t>
            </a:r>
            <a:r>
              <a:rPr lang="en-US" sz="1200" dirty="0">
                <a:solidFill>
                  <a:srgbClr val="231F20"/>
                </a:solidFill>
                <a:latin typeface="Calibri" pitchFamily="34" charset="0"/>
                <a:ea typeface="Calibri" pitchFamily="34" charset="-122"/>
                <a:cs typeface="Calibri" pitchFamily="34" charset="-120"/>
              </a:rPr>
              <a:t>hardware, hosting and models to each workload and its data classification</a:t>
            </a:r>
            <a:endParaRPr lang="en-US" sz="1200" dirty="0"/>
          </a:p>
        </p:txBody>
      </p:sp>
      <p:sp>
        <p:nvSpPr>
          <p:cNvPr id="38" name="Shape 32"/>
          <p:cNvSpPr/>
          <p:nvPr/>
        </p:nvSpPr>
        <p:spPr>
          <a:xfrm>
            <a:off x="4297680" y="2816352"/>
            <a:ext cx="402336" cy="402336"/>
          </a:xfrm>
          <a:prstGeom prst="ellipse">
            <a:avLst/>
          </a:prstGeom>
          <a:solidFill>
            <a:srgbClr val="0E7C86"/>
          </a:solidFill>
          <a:ln/>
        </p:spPr>
      </p:sp>
      <p:sp>
        <p:nvSpPr>
          <p:cNvPr id="39" name="Text 33"/>
          <p:cNvSpPr txBox="1"/>
          <p:nvPr/>
        </p:nvSpPr>
        <p:spPr>
          <a:xfrm>
            <a:off x="4297680" y="281635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0" name="Text 34"/>
          <p:cNvSpPr txBox="1"/>
          <p:nvPr/>
        </p:nvSpPr>
        <p:spPr>
          <a:xfrm>
            <a:off x="4846320" y="2779776"/>
            <a:ext cx="3840480" cy="475488"/>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Identify </a:t>
            </a:r>
            <a:r>
              <a:rPr lang="en-US" sz="1200" dirty="0">
                <a:solidFill>
                  <a:srgbClr val="231F20"/>
                </a:solidFill>
                <a:latin typeface="Calibri" pitchFamily="34" charset="0"/>
                <a:ea typeface="Calibri" pitchFamily="34" charset="-122"/>
                <a:cs typeface="Calibri" pitchFamily="34" charset="-120"/>
              </a:rPr>
              <a:t>the new confidentiality risks AI creates and the controls that stop them</a:t>
            </a:r>
            <a:endParaRPr lang="en-US" sz="1200" dirty="0"/>
          </a:p>
        </p:txBody>
      </p:sp>
      <p:sp>
        <p:nvSpPr>
          <p:cNvPr id="41" name="Shape 35"/>
          <p:cNvSpPr/>
          <p:nvPr/>
        </p:nvSpPr>
        <p:spPr>
          <a:xfrm>
            <a:off x="4297680" y="3401568"/>
            <a:ext cx="402336" cy="402336"/>
          </a:xfrm>
          <a:prstGeom prst="ellipse">
            <a:avLst/>
          </a:prstGeom>
          <a:solidFill>
            <a:srgbClr val="D49A00"/>
          </a:solidFill>
          <a:ln/>
        </p:spPr>
      </p:sp>
      <p:sp>
        <p:nvSpPr>
          <p:cNvPr id="42" name="Text 36"/>
          <p:cNvSpPr txBox="1"/>
          <p:nvPr/>
        </p:nvSpPr>
        <p:spPr>
          <a:xfrm>
            <a:off x="4297680" y="34015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3" name="Text 37"/>
          <p:cNvSpPr txBox="1"/>
          <p:nvPr/>
        </p:nvSpPr>
        <p:spPr>
          <a:xfrm>
            <a:off x="4846320" y="3364992"/>
            <a:ext cx="3840480" cy="475488"/>
          </a:xfrm>
          <a:prstGeom prst="rect">
            <a:avLst/>
          </a:prstGeom>
          <a:noFill/>
          <a:ln/>
        </p:spPr>
        <p:txBody>
          <a:bodyPr wrap="square" lIns="0" tIns="0" rIns="0" bIns="0" rtlCol="0" anchor="ctr"/>
          <a:lstStyle/>
          <a:p>
            <a:pPr marL="0" indent="0">
              <a:buNone/>
            </a:pPr>
            <a:r>
              <a:rPr lang="en-US" sz="1200" b="1" dirty="0">
                <a:solidFill>
                  <a:srgbClr val="8A6400"/>
                </a:solidFill>
                <a:latin typeface="Calibri" pitchFamily="34" charset="0"/>
                <a:ea typeface="Calibri" pitchFamily="34" charset="-122"/>
                <a:cs typeface="Calibri" pitchFamily="34" charset="-120"/>
              </a:rPr>
              <a:t>Estimate </a:t>
            </a:r>
            <a:r>
              <a:rPr lang="en-US" sz="1200" dirty="0">
                <a:solidFill>
                  <a:srgbClr val="231F20"/>
                </a:solidFill>
                <a:latin typeface="Calibri" pitchFamily="34" charset="0"/>
                <a:ea typeface="Calibri" pitchFamily="34" charset="-122"/>
                <a:cs typeface="Calibri" pitchFamily="34" charset="-120"/>
              </a:rPr>
              <a:t>the full five-year cost, knowing which decisions really move the total</a:t>
            </a:r>
            <a:endParaRPr lang="en-US" sz="1200" dirty="0"/>
          </a:p>
        </p:txBody>
      </p:sp>
      <p:sp>
        <p:nvSpPr>
          <p:cNvPr id="44" name="Shape 38"/>
          <p:cNvSpPr/>
          <p:nvPr/>
        </p:nvSpPr>
        <p:spPr>
          <a:xfrm>
            <a:off x="4297680" y="3986784"/>
            <a:ext cx="402336" cy="402336"/>
          </a:xfrm>
          <a:prstGeom prst="ellipse">
            <a:avLst/>
          </a:prstGeom>
          <a:solidFill>
            <a:srgbClr val="C4621D"/>
          </a:solidFill>
          <a:ln/>
        </p:spPr>
      </p:sp>
      <p:sp>
        <p:nvSpPr>
          <p:cNvPr id="45" name="Text 39"/>
          <p:cNvSpPr txBox="1"/>
          <p:nvPr/>
        </p:nvSpPr>
        <p:spPr>
          <a:xfrm>
            <a:off x="4297680" y="398678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6" name="Text 40"/>
          <p:cNvSpPr txBox="1"/>
          <p:nvPr/>
        </p:nvSpPr>
        <p:spPr>
          <a:xfrm>
            <a:off x="4846320" y="3950208"/>
            <a:ext cx="3840480" cy="475488"/>
          </a:xfrm>
          <a:prstGeom prst="rect">
            <a:avLst/>
          </a:prstGeom>
          <a:noFill/>
          <a:ln/>
        </p:spPr>
        <p:txBody>
          <a:bodyPr wrap="square" lIns="0" tIns="0" rIns="0" bIns="0" rtlCol="0" anchor="ctr"/>
          <a:lstStyle/>
          <a:p>
            <a:pPr marL="0" indent="0">
              <a:buNone/>
            </a:pPr>
            <a:r>
              <a:rPr lang="en-US" sz="1200" b="1" dirty="0">
                <a:solidFill>
                  <a:srgbClr val="C4621D"/>
                </a:solidFill>
                <a:latin typeface="Calibri" pitchFamily="34" charset="0"/>
                <a:ea typeface="Calibri" pitchFamily="34" charset="-122"/>
                <a:cs typeface="Calibri" pitchFamily="34" charset="-120"/>
              </a:rPr>
              <a:t>Plan </a:t>
            </a:r>
            <a:r>
              <a:rPr lang="en-US" sz="1200" dirty="0">
                <a:solidFill>
                  <a:srgbClr val="231F20"/>
                </a:solidFill>
                <a:latin typeface="Calibri" pitchFamily="34" charset="0"/>
                <a:ea typeface="Calibri" pitchFamily="34" charset="-122"/>
                <a:cs typeface="Calibri" pitchFamily="34" charset="-120"/>
              </a:rPr>
              <a:t>the team, the maturity steps and a gated 24-month roadmap</a:t>
            </a:r>
            <a:endParaRPr lang="en-US"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00 · AGENDA</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Agenda</a:t>
            </a:r>
            <a:endParaRPr lang="en-US" sz="28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8" name="Shape 15"/>
          <p:cNvSpPr/>
          <p:nvPr/>
        </p:nvSpPr>
        <p:spPr>
          <a:xfrm>
            <a:off x="457200" y="1371600"/>
            <a:ext cx="2651760" cy="1536192"/>
          </a:xfrm>
          <a:prstGeom prst="roundRect">
            <a:avLst>
              <a:gd name="adj" fmla="val 4762"/>
            </a:avLst>
          </a:prstGeom>
          <a:solidFill>
            <a:srgbClr val="F4F7F5"/>
          </a:solidFill>
          <a:ln w="9525">
            <a:solidFill>
              <a:srgbClr val="D5DED9"/>
            </a:solidFill>
            <a:prstDash val="solid"/>
          </a:ln>
        </p:spPr>
      </p:sp>
      <p:sp>
        <p:nvSpPr>
          <p:cNvPr id="19" name="Text 16"/>
          <p:cNvSpPr txBox="1"/>
          <p:nvPr/>
        </p:nvSpPr>
        <p:spPr>
          <a:xfrm>
            <a:off x="594360" y="1481328"/>
            <a:ext cx="731520" cy="457200"/>
          </a:xfrm>
          <a:prstGeom prst="rect">
            <a:avLst/>
          </a:prstGeom>
          <a:noFill/>
          <a:ln/>
        </p:spPr>
        <p:txBody>
          <a:bodyPr wrap="square" lIns="0" tIns="0" rIns="0" bIns="0" rtlCol="0" anchor="t"/>
          <a:lstStyle/>
          <a:p>
            <a:pPr marL="0" indent="0">
              <a:buNone/>
            </a:pPr>
            <a:r>
              <a:rPr lang="en-US" sz="3000" b="1" dirty="0">
                <a:solidFill>
                  <a:srgbClr val="00A86A"/>
                </a:solidFill>
                <a:latin typeface="Calibri" pitchFamily="34" charset="0"/>
                <a:ea typeface="Calibri" pitchFamily="34" charset="-122"/>
                <a:cs typeface="Calibri" pitchFamily="34" charset="-120"/>
              </a:rPr>
              <a:t>01</a:t>
            </a:r>
            <a:endParaRPr lang="en-US" sz="3000" dirty="0"/>
          </a:p>
        </p:txBody>
      </p:sp>
      <p:sp>
        <p:nvSpPr>
          <p:cNvPr id="20" name="Shape 17"/>
          <p:cNvSpPr/>
          <p:nvPr/>
        </p:nvSpPr>
        <p:spPr>
          <a:xfrm>
            <a:off x="2578608" y="1508760"/>
            <a:ext cx="384048" cy="384048"/>
          </a:xfrm>
          <a:prstGeom prst="ellipse">
            <a:avLst/>
          </a:prstGeom>
          <a:solidFill>
            <a:srgbClr val="00A86A">
              <a:alpha val="22000"/>
            </a:srgbClr>
          </a:solidFill>
          <a:ln/>
        </p:spPr>
      </p:sp>
      <p:pic>
        <p:nvPicPr>
          <p:cNvPr id="21" name="Image 0" descr="preencoded.png"/>
          <p:cNvPicPr>
            <a:picLocks noChangeAspect="1"/>
          </p:cNvPicPr>
          <p:nvPr/>
        </p:nvPicPr>
        <p:blipFill>
          <a:blip r:embed="rId3"/>
          <a:stretch>
            <a:fillRect/>
          </a:stretch>
        </p:blipFill>
        <p:spPr>
          <a:xfrm>
            <a:off x="2670780" y="1600932"/>
            <a:ext cx="199705" cy="199705"/>
          </a:xfrm>
          <a:prstGeom prst="rect">
            <a:avLst/>
          </a:prstGeom>
        </p:spPr>
      </p:pic>
      <p:sp>
        <p:nvSpPr>
          <p:cNvPr id="22" name="Text 18"/>
          <p:cNvSpPr txBox="1"/>
          <p:nvPr/>
        </p:nvSpPr>
        <p:spPr>
          <a:xfrm>
            <a:off x="594360" y="1975104"/>
            <a:ext cx="237744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Framing &amp; architecture</a:t>
            </a:r>
            <a:endParaRPr lang="en-US" sz="1300" dirty="0"/>
          </a:p>
        </p:txBody>
      </p:sp>
      <p:sp>
        <p:nvSpPr>
          <p:cNvPr id="23" name="Text 19"/>
          <p:cNvSpPr txBox="1"/>
          <p:nvPr/>
        </p:nvSpPr>
        <p:spPr>
          <a:xfrm>
            <a:off x="594360" y="2258568"/>
            <a:ext cx="2377440"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Why the model is the easy part, use cases, the African context and the five-layer stack</a:t>
            </a:r>
            <a:endParaRPr lang="en-US" sz="950" dirty="0"/>
          </a:p>
        </p:txBody>
      </p:sp>
      <p:sp>
        <p:nvSpPr>
          <p:cNvPr id="26" name="Shape 22"/>
          <p:cNvSpPr/>
          <p:nvPr/>
        </p:nvSpPr>
        <p:spPr>
          <a:xfrm>
            <a:off x="3246120" y="1371600"/>
            <a:ext cx="2651760" cy="1536192"/>
          </a:xfrm>
          <a:prstGeom prst="roundRect">
            <a:avLst>
              <a:gd name="adj" fmla="val 4762"/>
            </a:avLst>
          </a:prstGeom>
          <a:solidFill>
            <a:srgbClr val="F4F7F5"/>
          </a:solidFill>
          <a:ln w="9525">
            <a:solidFill>
              <a:srgbClr val="D5DED9"/>
            </a:solidFill>
            <a:prstDash val="solid"/>
          </a:ln>
        </p:spPr>
      </p:sp>
      <p:sp>
        <p:nvSpPr>
          <p:cNvPr id="27" name="Text 23"/>
          <p:cNvSpPr txBox="1"/>
          <p:nvPr/>
        </p:nvSpPr>
        <p:spPr>
          <a:xfrm>
            <a:off x="3383280" y="1481328"/>
            <a:ext cx="731520" cy="457200"/>
          </a:xfrm>
          <a:prstGeom prst="rect">
            <a:avLst/>
          </a:prstGeom>
          <a:noFill/>
          <a:ln/>
        </p:spPr>
        <p:txBody>
          <a:bodyPr wrap="square" lIns="0" tIns="0" rIns="0" bIns="0" rtlCol="0" anchor="t"/>
          <a:lstStyle/>
          <a:p>
            <a:pPr marL="0" indent="0">
              <a:buNone/>
            </a:pPr>
            <a:r>
              <a:rPr lang="en-US" sz="3000" b="1" dirty="0">
                <a:solidFill>
                  <a:srgbClr val="00704A"/>
                </a:solidFill>
                <a:latin typeface="Calibri" pitchFamily="34" charset="0"/>
                <a:ea typeface="Calibri" pitchFamily="34" charset="-122"/>
                <a:cs typeface="Calibri" pitchFamily="34" charset="-120"/>
              </a:rPr>
              <a:t>02</a:t>
            </a:r>
            <a:endParaRPr lang="en-US" sz="3000" dirty="0"/>
          </a:p>
        </p:txBody>
      </p:sp>
      <p:sp>
        <p:nvSpPr>
          <p:cNvPr id="28" name="Shape 24"/>
          <p:cNvSpPr/>
          <p:nvPr/>
        </p:nvSpPr>
        <p:spPr>
          <a:xfrm>
            <a:off x="5367528" y="1508760"/>
            <a:ext cx="384048" cy="384048"/>
          </a:xfrm>
          <a:prstGeom prst="ellipse">
            <a:avLst/>
          </a:prstGeom>
          <a:solidFill>
            <a:srgbClr val="00704A">
              <a:alpha val="22000"/>
            </a:srgbClr>
          </a:solidFill>
          <a:ln/>
        </p:spPr>
      </p:sp>
      <p:pic>
        <p:nvPicPr>
          <p:cNvPr id="29" name="Image 1" descr="preencoded.png"/>
          <p:cNvPicPr>
            <a:picLocks noChangeAspect="1"/>
          </p:cNvPicPr>
          <p:nvPr/>
        </p:nvPicPr>
        <p:blipFill>
          <a:blip r:embed="rId4"/>
          <a:stretch>
            <a:fillRect/>
          </a:stretch>
        </p:blipFill>
        <p:spPr>
          <a:xfrm>
            <a:off x="5459700" y="1600932"/>
            <a:ext cx="199705" cy="199705"/>
          </a:xfrm>
          <a:prstGeom prst="rect">
            <a:avLst/>
          </a:prstGeom>
        </p:spPr>
      </p:pic>
      <p:sp>
        <p:nvSpPr>
          <p:cNvPr id="30" name="Text 25"/>
          <p:cNvSpPr txBox="1"/>
          <p:nvPr/>
        </p:nvSpPr>
        <p:spPr>
          <a:xfrm>
            <a:off x="3383280" y="1975104"/>
            <a:ext cx="237744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Compute, data &amp; MLOps</a:t>
            </a:r>
            <a:endParaRPr lang="en-US" sz="1300" dirty="0"/>
          </a:p>
        </p:txBody>
      </p:sp>
      <p:sp>
        <p:nvSpPr>
          <p:cNvPr id="31" name="Text 26"/>
          <p:cNvSpPr txBox="1"/>
          <p:nvPr/>
        </p:nvSpPr>
        <p:spPr>
          <a:xfrm>
            <a:off x="3383280" y="2258568"/>
            <a:ext cx="2377440"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AI hardware and sizing, power, data platforms, labelled data, retrieval, reproducibility</a:t>
            </a:r>
            <a:endParaRPr lang="en-US" sz="950" dirty="0"/>
          </a:p>
        </p:txBody>
      </p:sp>
      <p:sp>
        <p:nvSpPr>
          <p:cNvPr id="34" name="Shape 29"/>
          <p:cNvSpPr/>
          <p:nvPr/>
        </p:nvSpPr>
        <p:spPr>
          <a:xfrm>
            <a:off x="6035040" y="1371600"/>
            <a:ext cx="2651760" cy="1536192"/>
          </a:xfrm>
          <a:prstGeom prst="roundRect">
            <a:avLst>
              <a:gd name="adj" fmla="val 4762"/>
            </a:avLst>
          </a:prstGeom>
          <a:solidFill>
            <a:srgbClr val="F4F7F5"/>
          </a:solidFill>
          <a:ln w="9525">
            <a:solidFill>
              <a:srgbClr val="D5DED9"/>
            </a:solidFill>
            <a:prstDash val="solid"/>
          </a:ln>
        </p:spPr>
      </p:sp>
      <p:sp>
        <p:nvSpPr>
          <p:cNvPr id="35" name="Text 30"/>
          <p:cNvSpPr txBox="1"/>
          <p:nvPr/>
        </p:nvSpPr>
        <p:spPr>
          <a:xfrm>
            <a:off x="6172200" y="1481328"/>
            <a:ext cx="731520" cy="457200"/>
          </a:xfrm>
          <a:prstGeom prst="rect">
            <a:avLst/>
          </a:prstGeom>
          <a:noFill/>
          <a:ln/>
        </p:spPr>
        <p:txBody>
          <a:bodyPr wrap="square" lIns="0" tIns="0" rIns="0" bIns="0" rtlCol="0" anchor="t"/>
          <a:lstStyle/>
          <a:p>
            <a:pPr marL="0" indent="0">
              <a:buNone/>
            </a:pPr>
            <a:r>
              <a:rPr lang="en-US" sz="3000" b="1" dirty="0">
                <a:solidFill>
                  <a:srgbClr val="0E7C86"/>
                </a:solidFill>
                <a:latin typeface="Calibri" pitchFamily="34" charset="0"/>
                <a:ea typeface="Calibri" pitchFamily="34" charset="-122"/>
                <a:cs typeface="Calibri" pitchFamily="34" charset="-120"/>
              </a:rPr>
              <a:t>03</a:t>
            </a:r>
            <a:endParaRPr lang="en-US" sz="3000" dirty="0"/>
          </a:p>
        </p:txBody>
      </p:sp>
      <p:sp>
        <p:nvSpPr>
          <p:cNvPr id="36" name="Shape 31"/>
          <p:cNvSpPr/>
          <p:nvPr/>
        </p:nvSpPr>
        <p:spPr>
          <a:xfrm>
            <a:off x="8156448" y="1508760"/>
            <a:ext cx="384048" cy="384048"/>
          </a:xfrm>
          <a:prstGeom prst="ellipse">
            <a:avLst/>
          </a:prstGeom>
          <a:solidFill>
            <a:srgbClr val="0E7C86">
              <a:alpha val="22000"/>
            </a:srgbClr>
          </a:solidFill>
          <a:ln/>
        </p:spPr>
      </p:sp>
      <p:pic>
        <p:nvPicPr>
          <p:cNvPr id="37" name="Image 2" descr="preencoded.png"/>
          <p:cNvPicPr>
            <a:picLocks noChangeAspect="1"/>
          </p:cNvPicPr>
          <p:nvPr/>
        </p:nvPicPr>
        <p:blipFill>
          <a:blip r:embed="rId5"/>
          <a:stretch>
            <a:fillRect/>
          </a:stretch>
        </p:blipFill>
        <p:spPr>
          <a:xfrm>
            <a:off x="8248620" y="1600932"/>
            <a:ext cx="199705" cy="199705"/>
          </a:xfrm>
          <a:prstGeom prst="rect">
            <a:avLst/>
          </a:prstGeom>
        </p:spPr>
      </p:pic>
      <p:sp>
        <p:nvSpPr>
          <p:cNvPr id="38" name="Text 32"/>
          <p:cNvSpPr txBox="1"/>
          <p:nvPr/>
        </p:nvSpPr>
        <p:spPr>
          <a:xfrm>
            <a:off x="6172200" y="1975104"/>
            <a:ext cx="237744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Deployment choices</a:t>
            </a:r>
            <a:endParaRPr lang="en-US" sz="1300" dirty="0"/>
          </a:p>
        </p:txBody>
      </p:sp>
      <p:sp>
        <p:nvSpPr>
          <p:cNvPr id="39" name="Text 33"/>
          <p:cNvSpPr txBox="1"/>
          <p:nvPr/>
        </p:nvSpPr>
        <p:spPr>
          <a:xfrm>
            <a:off x="6172200" y="2258568"/>
            <a:ext cx="2377440"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Four hosting archetypes, a decision framework, build vs. buy, open vs. proprietary</a:t>
            </a:r>
            <a:endParaRPr lang="en-US" sz="950" dirty="0"/>
          </a:p>
        </p:txBody>
      </p:sp>
      <p:sp>
        <p:nvSpPr>
          <p:cNvPr id="42" name="Shape 36"/>
          <p:cNvSpPr/>
          <p:nvPr/>
        </p:nvSpPr>
        <p:spPr>
          <a:xfrm>
            <a:off x="457200" y="3044952"/>
            <a:ext cx="2651760" cy="1536192"/>
          </a:xfrm>
          <a:prstGeom prst="roundRect">
            <a:avLst>
              <a:gd name="adj" fmla="val 4762"/>
            </a:avLst>
          </a:prstGeom>
          <a:solidFill>
            <a:srgbClr val="F4F7F5"/>
          </a:solidFill>
          <a:ln w="9525">
            <a:solidFill>
              <a:srgbClr val="D5DED9"/>
            </a:solidFill>
            <a:prstDash val="solid"/>
          </a:ln>
        </p:spPr>
      </p:sp>
      <p:sp>
        <p:nvSpPr>
          <p:cNvPr id="43" name="Text 37"/>
          <p:cNvSpPr txBox="1"/>
          <p:nvPr/>
        </p:nvSpPr>
        <p:spPr>
          <a:xfrm>
            <a:off x="594360" y="3154680"/>
            <a:ext cx="731520" cy="457200"/>
          </a:xfrm>
          <a:prstGeom prst="rect">
            <a:avLst/>
          </a:prstGeom>
          <a:noFill/>
          <a:ln/>
        </p:spPr>
        <p:txBody>
          <a:bodyPr wrap="square" lIns="0" tIns="0" rIns="0" bIns="0" rtlCol="0" anchor="t"/>
          <a:lstStyle/>
          <a:p>
            <a:pPr marL="0" indent="0">
              <a:buNone/>
            </a:pPr>
            <a:r>
              <a:rPr lang="en-US" sz="3000" b="1" dirty="0">
                <a:solidFill>
                  <a:srgbClr val="D49A00"/>
                </a:solidFill>
                <a:latin typeface="Calibri" pitchFamily="34" charset="0"/>
                <a:ea typeface="Calibri" pitchFamily="34" charset="-122"/>
                <a:cs typeface="Calibri" pitchFamily="34" charset="-120"/>
              </a:rPr>
              <a:t>04</a:t>
            </a:r>
            <a:endParaRPr lang="en-US" sz="3000" dirty="0"/>
          </a:p>
        </p:txBody>
      </p:sp>
      <p:sp>
        <p:nvSpPr>
          <p:cNvPr id="44" name="Shape 38"/>
          <p:cNvSpPr/>
          <p:nvPr/>
        </p:nvSpPr>
        <p:spPr>
          <a:xfrm>
            <a:off x="2578608" y="3182112"/>
            <a:ext cx="384048" cy="384048"/>
          </a:xfrm>
          <a:prstGeom prst="ellipse">
            <a:avLst/>
          </a:prstGeom>
          <a:solidFill>
            <a:srgbClr val="D49A00">
              <a:alpha val="22000"/>
            </a:srgbClr>
          </a:solidFill>
          <a:ln/>
        </p:spPr>
      </p:sp>
      <p:pic>
        <p:nvPicPr>
          <p:cNvPr id="45" name="Image 3" descr="preencoded.png"/>
          <p:cNvPicPr>
            <a:picLocks noChangeAspect="1"/>
          </p:cNvPicPr>
          <p:nvPr/>
        </p:nvPicPr>
        <p:blipFill>
          <a:blip r:embed="rId6"/>
          <a:stretch>
            <a:fillRect/>
          </a:stretch>
        </p:blipFill>
        <p:spPr>
          <a:xfrm>
            <a:off x="2670780" y="3274284"/>
            <a:ext cx="199705" cy="199705"/>
          </a:xfrm>
          <a:prstGeom prst="rect">
            <a:avLst/>
          </a:prstGeom>
        </p:spPr>
      </p:pic>
      <p:sp>
        <p:nvSpPr>
          <p:cNvPr id="46" name="Text 39"/>
          <p:cNvSpPr txBox="1"/>
          <p:nvPr/>
        </p:nvSpPr>
        <p:spPr>
          <a:xfrm>
            <a:off x="594360" y="3648456"/>
            <a:ext cx="237744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Governance &amp; confidentiality</a:t>
            </a:r>
            <a:endParaRPr lang="en-US" sz="1300" dirty="0"/>
          </a:p>
        </p:txBody>
      </p:sp>
      <p:sp>
        <p:nvSpPr>
          <p:cNvPr id="47" name="Text 40"/>
          <p:cNvSpPr txBox="1"/>
          <p:nvPr/>
        </p:nvSpPr>
        <p:spPr>
          <a:xfrm>
            <a:off x="594360" y="3931920"/>
            <a:ext cx="2377440"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New disclosure risks, the legal landscape, classification tiers and controls</a:t>
            </a:r>
            <a:endParaRPr lang="en-US" sz="950" dirty="0"/>
          </a:p>
        </p:txBody>
      </p:sp>
      <p:sp>
        <p:nvSpPr>
          <p:cNvPr id="50" name="Shape 43"/>
          <p:cNvSpPr/>
          <p:nvPr/>
        </p:nvSpPr>
        <p:spPr>
          <a:xfrm>
            <a:off x="3246120" y="3044952"/>
            <a:ext cx="2651760" cy="1536192"/>
          </a:xfrm>
          <a:prstGeom prst="roundRect">
            <a:avLst>
              <a:gd name="adj" fmla="val 4762"/>
            </a:avLst>
          </a:prstGeom>
          <a:solidFill>
            <a:srgbClr val="F4F7F5"/>
          </a:solidFill>
          <a:ln w="9525">
            <a:solidFill>
              <a:srgbClr val="D5DED9"/>
            </a:solidFill>
            <a:prstDash val="solid"/>
          </a:ln>
        </p:spPr>
      </p:sp>
      <p:sp>
        <p:nvSpPr>
          <p:cNvPr id="51" name="Text 44"/>
          <p:cNvSpPr txBox="1"/>
          <p:nvPr/>
        </p:nvSpPr>
        <p:spPr>
          <a:xfrm>
            <a:off x="3383280" y="3154680"/>
            <a:ext cx="731520" cy="45720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05</a:t>
            </a:r>
            <a:endParaRPr lang="en-US" sz="3000" dirty="0"/>
          </a:p>
        </p:txBody>
      </p:sp>
      <p:sp>
        <p:nvSpPr>
          <p:cNvPr id="52" name="Shape 45"/>
          <p:cNvSpPr/>
          <p:nvPr/>
        </p:nvSpPr>
        <p:spPr>
          <a:xfrm>
            <a:off x="5367528" y="3182112"/>
            <a:ext cx="384048" cy="384048"/>
          </a:xfrm>
          <a:prstGeom prst="ellipse">
            <a:avLst/>
          </a:prstGeom>
          <a:solidFill>
            <a:srgbClr val="C4621D">
              <a:alpha val="22000"/>
            </a:srgbClr>
          </a:solidFill>
          <a:ln/>
        </p:spPr>
      </p:sp>
      <p:pic>
        <p:nvPicPr>
          <p:cNvPr id="53" name="Image 4" descr="preencoded.png"/>
          <p:cNvPicPr>
            <a:picLocks noChangeAspect="1"/>
          </p:cNvPicPr>
          <p:nvPr/>
        </p:nvPicPr>
        <p:blipFill>
          <a:blip r:embed="rId7"/>
          <a:stretch>
            <a:fillRect/>
          </a:stretch>
        </p:blipFill>
        <p:spPr>
          <a:xfrm>
            <a:off x="5459700" y="3274284"/>
            <a:ext cx="199705" cy="199705"/>
          </a:xfrm>
          <a:prstGeom prst="rect">
            <a:avLst/>
          </a:prstGeom>
        </p:spPr>
      </p:pic>
      <p:sp>
        <p:nvSpPr>
          <p:cNvPr id="54" name="Text 46"/>
          <p:cNvSpPr txBox="1"/>
          <p:nvPr/>
        </p:nvSpPr>
        <p:spPr>
          <a:xfrm>
            <a:off x="3383280" y="3648456"/>
            <a:ext cx="237744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Cost &amp; budgeting</a:t>
            </a:r>
            <a:endParaRPr lang="en-US" sz="1300" dirty="0"/>
          </a:p>
        </p:txBody>
      </p:sp>
      <p:sp>
        <p:nvSpPr>
          <p:cNvPr id="55" name="Text 47"/>
          <p:cNvSpPr txBox="1"/>
          <p:nvPr/>
        </p:nvSpPr>
        <p:spPr>
          <a:xfrm>
            <a:off x="3383280" y="3931920"/>
            <a:ext cx="2377440"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The full cost stack, five-year scenarios, break-even points and the budget case</a:t>
            </a:r>
            <a:endParaRPr lang="en-US" sz="950" dirty="0"/>
          </a:p>
        </p:txBody>
      </p:sp>
      <p:sp>
        <p:nvSpPr>
          <p:cNvPr id="58" name="Shape 50"/>
          <p:cNvSpPr/>
          <p:nvPr/>
        </p:nvSpPr>
        <p:spPr>
          <a:xfrm>
            <a:off x="6035040" y="3044952"/>
            <a:ext cx="2651760" cy="1536192"/>
          </a:xfrm>
          <a:prstGeom prst="roundRect">
            <a:avLst>
              <a:gd name="adj" fmla="val 4762"/>
            </a:avLst>
          </a:prstGeom>
          <a:solidFill>
            <a:srgbClr val="F4F7F5"/>
          </a:solidFill>
          <a:ln w="9525">
            <a:solidFill>
              <a:srgbClr val="D5DED9"/>
            </a:solidFill>
            <a:prstDash val="solid"/>
          </a:ln>
        </p:spPr>
      </p:sp>
      <p:sp>
        <p:nvSpPr>
          <p:cNvPr id="59" name="Text 51"/>
          <p:cNvSpPr txBox="1"/>
          <p:nvPr/>
        </p:nvSpPr>
        <p:spPr>
          <a:xfrm>
            <a:off x="6172200" y="3154680"/>
            <a:ext cx="731520" cy="457200"/>
          </a:xfrm>
          <a:prstGeom prst="rect">
            <a:avLst/>
          </a:prstGeom>
          <a:noFill/>
          <a:ln/>
        </p:spPr>
        <p:txBody>
          <a:bodyPr wrap="square" lIns="0" tIns="0" rIns="0" bIns="0" rtlCol="0" anchor="t"/>
          <a:lstStyle/>
          <a:p>
            <a:pPr marL="0" indent="0">
              <a:buNone/>
            </a:pPr>
            <a:r>
              <a:rPr lang="en-US" sz="3000" b="1" dirty="0">
                <a:solidFill>
                  <a:srgbClr val="B83B2E"/>
                </a:solidFill>
                <a:latin typeface="Calibri" pitchFamily="34" charset="0"/>
                <a:ea typeface="Calibri" pitchFamily="34" charset="-122"/>
                <a:cs typeface="Calibri" pitchFamily="34" charset="-120"/>
              </a:rPr>
              <a:t>06</a:t>
            </a:r>
            <a:endParaRPr lang="en-US" sz="3000" dirty="0"/>
          </a:p>
        </p:txBody>
      </p:sp>
      <p:sp>
        <p:nvSpPr>
          <p:cNvPr id="60" name="Shape 52"/>
          <p:cNvSpPr/>
          <p:nvPr/>
        </p:nvSpPr>
        <p:spPr>
          <a:xfrm>
            <a:off x="8156448" y="3182112"/>
            <a:ext cx="384048" cy="384048"/>
          </a:xfrm>
          <a:prstGeom prst="ellipse">
            <a:avLst/>
          </a:prstGeom>
          <a:solidFill>
            <a:srgbClr val="B83B2E">
              <a:alpha val="22000"/>
            </a:srgbClr>
          </a:solidFill>
          <a:ln/>
        </p:spPr>
      </p:sp>
      <p:pic>
        <p:nvPicPr>
          <p:cNvPr id="61" name="Image 5" descr="preencoded.png"/>
          <p:cNvPicPr>
            <a:picLocks noChangeAspect="1"/>
          </p:cNvPicPr>
          <p:nvPr/>
        </p:nvPicPr>
        <p:blipFill>
          <a:blip r:embed="rId8"/>
          <a:stretch>
            <a:fillRect/>
          </a:stretch>
        </p:blipFill>
        <p:spPr>
          <a:xfrm>
            <a:off x="8248620" y="3274284"/>
            <a:ext cx="199705" cy="199705"/>
          </a:xfrm>
          <a:prstGeom prst="rect">
            <a:avLst/>
          </a:prstGeom>
        </p:spPr>
      </p:pic>
      <p:sp>
        <p:nvSpPr>
          <p:cNvPr id="62" name="Text 53"/>
          <p:cNvSpPr txBox="1"/>
          <p:nvPr/>
        </p:nvSpPr>
        <p:spPr>
          <a:xfrm>
            <a:off x="6172200" y="3648456"/>
            <a:ext cx="237744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People &amp; roadmap</a:t>
            </a:r>
            <a:endParaRPr lang="en-US" sz="1300" dirty="0"/>
          </a:p>
        </p:txBody>
      </p:sp>
      <p:sp>
        <p:nvSpPr>
          <p:cNvPr id="63" name="Text 54"/>
          <p:cNvSpPr txBox="1"/>
          <p:nvPr/>
        </p:nvSpPr>
        <p:spPr>
          <a:xfrm>
            <a:off x="6172200" y="3931920"/>
            <a:ext cx="2377440"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Roles, skills, maturity levels, a 24-month plan and a readiness checklist</a:t>
            </a:r>
            <a:endParaRPr lang="en-US" sz="9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00 · SHARED VOCABULARY</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Ten key concepts in plain language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Keep this page in mind — every later slide uses these words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8" name="Shape 15"/>
          <p:cNvSpPr/>
          <p:nvPr/>
        </p:nvSpPr>
        <p:spPr>
          <a:xfrm>
            <a:off x="457200" y="1371600"/>
            <a:ext cx="1558138" cy="1536192"/>
          </a:xfrm>
          <a:prstGeom prst="roundRect">
            <a:avLst>
              <a:gd name="adj" fmla="val 4762"/>
            </a:avLst>
          </a:prstGeom>
          <a:solidFill>
            <a:srgbClr val="F4F7F5"/>
          </a:solidFill>
          <a:ln w="9525">
            <a:solidFill>
              <a:srgbClr val="D5DED9"/>
            </a:solidFill>
            <a:prstDash val="solid"/>
          </a:ln>
        </p:spPr>
      </p:sp>
      <p:sp>
        <p:nvSpPr>
          <p:cNvPr id="19" name="Shape 16"/>
          <p:cNvSpPr/>
          <p:nvPr/>
        </p:nvSpPr>
        <p:spPr>
          <a:xfrm>
            <a:off x="566928" y="1499616"/>
            <a:ext cx="365760" cy="365760"/>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54710" y="1587398"/>
            <a:ext cx="190195" cy="190195"/>
          </a:xfrm>
          <a:prstGeom prst="rect">
            <a:avLst/>
          </a:prstGeom>
        </p:spPr>
      </p:pic>
      <p:sp>
        <p:nvSpPr>
          <p:cNvPr id="21" name="Text 17"/>
          <p:cNvSpPr txBox="1"/>
          <p:nvPr/>
        </p:nvSpPr>
        <p:spPr>
          <a:xfrm>
            <a:off x="566928" y="1938528"/>
            <a:ext cx="1338682" cy="256032"/>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Model</a:t>
            </a:r>
            <a:endParaRPr lang="en-US" sz="1250" dirty="0"/>
          </a:p>
        </p:txBody>
      </p:sp>
      <p:sp>
        <p:nvSpPr>
          <p:cNvPr id="22" name="Text 18"/>
          <p:cNvSpPr txBox="1"/>
          <p:nvPr/>
        </p:nvSpPr>
        <p:spPr>
          <a:xfrm>
            <a:off x="566928" y="2212848"/>
            <a:ext cx="1338682"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program whose behaviour is learned from examples rather than written as rules.</a:t>
            </a:r>
            <a:endParaRPr lang="en-US" sz="950" dirty="0"/>
          </a:p>
        </p:txBody>
      </p:sp>
      <p:sp>
        <p:nvSpPr>
          <p:cNvPr id="23" name="Shape 19"/>
          <p:cNvSpPr/>
          <p:nvPr/>
        </p:nvSpPr>
        <p:spPr>
          <a:xfrm>
            <a:off x="2125066" y="1371600"/>
            <a:ext cx="1558138" cy="1536192"/>
          </a:xfrm>
          <a:prstGeom prst="roundRect">
            <a:avLst>
              <a:gd name="adj" fmla="val 4762"/>
            </a:avLst>
          </a:prstGeom>
          <a:solidFill>
            <a:srgbClr val="F4F7F5"/>
          </a:solidFill>
          <a:ln w="9525">
            <a:solidFill>
              <a:srgbClr val="D5DED9"/>
            </a:solidFill>
            <a:prstDash val="solid"/>
          </a:ln>
        </p:spPr>
      </p:sp>
      <p:sp>
        <p:nvSpPr>
          <p:cNvPr id="24" name="Shape 20"/>
          <p:cNvSpPr/>
          <p:nvPr/>
        </p:nvSpPr>
        <p:spPr>
          <a:xfrm>
            <a:off x="2234794" y="1499616"/>
            <a:ext cx="365760" cy="365760"/>
          </a:xfrm>
          <a:prstGeom prst="ellipse">
            <a:avLst/>
          </a:prstGeom>
          <a:solidFill>
            <a:srgbClr val="00A86A">
              <a:alpha val="22000"/>
            </a:srgbClr>
          </a:solidFill>
          <a:ln/>
        </p:spPr>
      </p:sp>
      <p:pic>
        <p:nvPicPr>
          <p:cNvPr id="25" name="Image 1" descr="preencoded.png"/>
          <p:cNvPicPr>
            <a:picLocks noChangeAspect="1"/>
          </p:cNvPicPr>
          <p:nvPr/>
        </p:nvPicPr>
        <p:blipFill>
          <a:blip r:embed="rId4"/>
          <a:stretch>
            <a:fillRect/>
          </a:stretch>
        </p:blipFill>
        <p:spPr>
          <a:xfrm>
            <a:off x="2322576" y="1587398"/>
            <a:ext cx="190195" cy="190195"/>
          </a:xfrm>
          <a:prstGeom prst="rect">
            <a:avLst/>
          </a:prstGeom>
        </p:spPr>
      </p:pic>
      <p:sp>
        <p:nvSpPr>
          <p:cNvPr id="26" name="Text 21"/>
          <p:cNvSpPr txBox="1"/>
          <p:nvPr/>
        </p:nvSpPr>
        <p:spPr>
          <a:xfrm>
            <a:off x="2234794" y="1938528"/>
            <a:ext cx="1338682" cy="256032"/>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Training</a:t>
            </a:r>
            <a:endParaRPr lang="en-US" sz="1250" dirty="0"/>
          </a:p>
        </p:txBody>
      </p:sp>
      <p:sp>
        <p:nvSpPr>
          <p:cNvPr id="27" name="Text 22"/>
          <p:cNvSpPr txBox="1"/>
          <p:nvPr/>
        </p:nvSpPr>
        <p:spPr>
          <a:xfrm>
            <a:off x="2234794" y="2212848"/>
            <a:ext cx="1338682"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Showing a model many labelled examples so it learns. Heavy, occasional compute.</a:t>
            </a:r>
            <a:endParaRPr lang="en-US" sz="950" dirty="0"/>
          </a:p>
        </p:txBody>
      </p:sp>
      <p:sp>
        <p:nvSpPr>
          <p:cNvPr id="28" name="Shape 23"/>
          <p:cNvSpPr/>
          <p:nvPr/>
        </p:nvSpPr>
        <p:spPr>
          <a:xfrm>
            <a:off x="3792931" y="1371600"/>
            <a:ext cx="1558138" cy="1536192"/>
          </a:xfrm>
          <a:prstGeom prst="roundRect">
            <a:avLst>
              <a:gd name="adj" fmla="val 4762"/>
            </a:avLst>
          </a:prstGeom>
          <a:solidFill>
            <a:srgbClr val="F4F7F5"/>
          </a:solidFill>
          <a:ln w="9525">
            <a:solidFill>
              <a:srgbClr val="D5DED9"/>
            </a:solidFill>
            <a:prstDash val="solid"/>
          </a:ln>
        </p:spPr>
      </p:sp>
      <p:sp>
        <p:nvSpPr>
          <p:cNvPr id="29" name="Shape 24"/>
          <p:cNvSpPr/>
          <p:nvPr/>
        </p:nvSpPr>
        <p:spPr>
          <a:xfrm>
            <a:off x="3902659" y="1499616"/>
            <a:ext cx="365760" cy="365760"/>
          </a:xfrm>
          <a:prstGeom prst="ellipse">
            <a:avLst/>
          </a:prstGeom>
          <a:solidFill>
            <a:srgbClr val="00A86A">
              <a:alpha val="22000"/>
            </a:srgbClr>
          </a:solidFill>
          <a:ln/>
        </p:spPr>
      </p:sp>
      <p:pic>
        <p:nvPicPr>
          <p:cNvPr id="30" name="Image 2" descr="preencoded.png"/>
          <p:cNvPicPr>
            <a:picLocks noChangeAspect="1"/>
          </p:cNvPicPr>
          <p:nvPr/>
        </p:nvPicPr>
        <p:blipFill>
          <a:blip r:embed="rId5"/>
          <a:stretch>
            <a:fillRect/>
          </a:stretch>
        </p:blipFill>
        <p:spPr>
          <a:xfrm>
            <a:off x="3990442" y="1587398"/>
            <a:ext cx="190195" cy="190195"/>
          </a:xfrm>
          <a:prstGeom prst="rect">
            <a:avLst/>
          </a:prstGeom>
        </p:spPr>
      </p:pic>
      <p:sp>
        <p:nvSpPr>
          <p:cNvPr id="31" name="Text 25"/>
          <p:cNvSpPr txBox="1"/>
          <p:nvPr/>
        </p:nvSpPr>
        <p:spPr>
          <a:xfrm>
            <a:off x="3902659" y="1938528"/>
            <a:ext cx="1338682" cy="256032"/>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Inference</a:t>
            </a:r>
            <a:endParaRPr lang="en-US" sz="1250" dirty="0"/>
          </a:p>
        </p:txBody>
      </p:sp>
      <p:sp>
        <p:nvSpPr>
          <p:cNvPr id="32" name="Text 26"/>
          <p:cNvSpPr txBox="1"/>
          <p:nvPr/>
        </p:nvSpPr>
        <p:spPr>
          <a:xfrm>
            <a:off x="3902659" y="2212848"/>
            <a:ext cx="1338682"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Using a trained model to produce an answer. Light per request, but continuous.</a:t>
            </a:r>
            <a:endParaRPr lang="en-US" sz="950" dirty="0"/>
          </a:p>
        </p:txBody>
      </p:sp>
      <p:sp>
        <p:nvSpPr>
          <p:cNvPr id="33" name="Shape 27"/>
          <p:cNvSpPr/>
          <p:nvPr/>
        </p:nvSpPr>
        <p:spPr>
          <a:xfrm>
            <a:off x="5460797" y="1371600"/>
            <a:ext cx="1558138" cy="1536192"/>
          </a:xfrm>
          <a:prstGeom prst="roundRect">
            <a:avLst>
              <a:gd name="adj" fmla="val 4762"/>
            </a:avLst>
          </a:prstGeom>
          <a:solidFill>
            <a:srgbClr val="F4F7F5"/>
          </a:solidFill>
          <a:ln w="9525">
            <a:solidFill>
              <a:srgbClr val="D5DED9"/>
            </a:solidFill>
            <a:prstDash val="solid"/>
          </a:ln>
        </p:spPr>
      </p:sp>
      <p:sp>
        <p:nvSpPr>
          <p:cNvPr id="34" name="Shape 28"/>
          <p:cNvSpPr/>
          <p:nvPr/>
        </p:nvSpPr>
        <p:spPr>
          <a:xfrm>
            <a:off x="5570525" y="1499616"/>
            <a:ext cx="365760" cy="365760"/>
          </a:xfrm>
          <a:prstGeom prst="ellipse">
            <a:avLst/>
          </a:prstGeom>
          <a:solidFill>
            <a:srgbClr val="00A86A">
              <a:alpha val="22000"/>
            </a:srgbClr>
          </a:solidFill>
          <a:ln/>
        </p:spPr>
      </p:sp>
      <p:pic>
        <p:nvPicPr>
          <p:cNvPr id="35" name="Image 3" descr="preencoded.png"/>
          <p:cNvPicPr>
            <a:picLocks noChangeAspect="1"/>
          </p:cNvPicPr>
          <p:nvPr/>
        </p:nvPicPr>
        <p:blipFill>
          <a:blip r:embed="rId6"/>
          <a:stretch>
            <a:fillRect/>
          </a:stretch>
        </p:blipFill>
        <p:spPr>
          <a:xfrm>
            <a:off x="5658307" y="1587398"/>
            <a:ext cx="190195" cy="190195"/>
          </a:xfrm>
          <a:prstGeom prst="rect">
            <a:avLst/>
          </a:prstGeom>
        </p:spPr>
      </p:pic>
      <p:sp>
        <p:nvSpPr>
          <p:cNvPr id="36" name="Text 29"/>
          <p:cNvSpPr txBox="1"/>
          <p:nvPr/>
        </p:nvSpPr>
        <p:spPr>
          <a:xfrm>
            <a:off x="5570525" y="1938528"/>
            <a:ext cx="1338682" cy="256032"/>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GPU</a:t>
            </a:r>
            <a:endParaRPr lang="en-US" sz="1250" dirty="0"/>
          </a:p>
        </p:txBody>
      </p:sp>
      <p:sp>
        <p:nvSpPr>
          <p:cNvPr id="37" name="Text 30"/>
          <p:cNvSpPr txBox="1"/>
          <p:nvPr/>
        </p:nvSpPr>
        <p:spPr>
          <a:xfrm>
            <a:off x="5570525" y="2212848"/>
            <a:ext cx="1338682"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chip doing many calculations in parallel. Vital for large models, optional for classical ML.</a:t>
            </a:r>
            <a:endParaRPr lang="en-US" sz="950" dirty="0"/>
          </a:p>
        </p:txBody>
      </p:sp>
      <p:sp>
        <p:nvSpPr>
          <p:cNvPr id="38" name="Shape 31"/>
          <p:cNvSpPr/>
          <p:nvPr/>
        </p:nvSpPr>
        <p:spPr>
          <a:xfrm>
            <a:off x="7128662" y="1371600"/>
            <a:ext cx="1558138" cy="1536192"/>
          </a:xfrm>
          <a:prstGeom prst="roundRect">
            <a:avLst>
              <a:gd name="adj" fmla="val 4762"/>
            </a:avLst>
          </a:prstGeom>
          <a:solidFill>
            <a:srgbClr val="F4F7F5"/>
          </a:solidFill>
          <a:ln w="9525">
            <a:solidFill>
              <a:srgbClr val="D5DED9"/>
            </a:solidFill>
            <a:prstDash val="solid"/>
          </a:ln>
        </p:spPr>
      </p:sp>
      <p:sp>
        <p:nvSpPr>
          <p:cNvPr id="39" name="Shape 32"/>
          <p:cNvSpPr/>
          <p:nvPr/>
        </p:nvSpPr>
        <p:spPr>
          <a:xfrm>
            <a:off x="7238390" y="1499616"/>
            <a:ext cx="365760" cy="365760"/>
          </a:xfrm>
          <a:prstGeom prst="ellipse">
            <a:avLst/>
          </a:prstGeom>
          <a:solidFill>
            <a:srgbClr val="00A86A">
              <a:alpha val="22000"/>
            </a:srgbClr>
          </a:solidFill>
          <a:ln/>
        </p:spPr>
      </p:sp>
      <p:pic>
        <p:nvPicPr>
          <p:cNvPr id="40" name="Image 4" descr="preencoded.png"/>
          <p:cNvPicPr>
            <a:picLocks noChangeAspect="1"/>
          </p:cNvPicPr>
          <p:nvPr/>
        </p:nvPicPr>
        <p:blipFill>
          <a:blip r:embed="rId7"/>
          <a:stretch>
            <a:fillRect/>
          </a:stretch>
        </p:blipFill>
        <p:spPr>
          <a:xfrm>
            <a:off x="7326173" y="1587398"/>
            <a:ext cx="190195" cy="190195"/>
          </a:xfrm>
          <a:prstGeom prst="rect">
            <a:avLst/>
          </a:prstGeom>
        </p:spPr>
      </p:pic>
      <p:sp>
        <p:nvSpPr>
          <p:cNvPr id="41" name="Text 33"/>
          <p:cNvSpPr txBox="1"/>
          <p:nvPr/>
        </p:nvSpPr>
        <p:spPr>
          <a:xfrm>
            <a:off x="7238390" y="1938528"/>
            <a:ext cx="1338682" cy="256032"/>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LLM</a:t>
            </a:r>
            <a:endParaRPr lang="en-US" sz="1250" dirty="0"/>
          </a:p>
        </p:txBody>
      </p:sp>
      <p:sp>
        <p:nvSpPr>
          <p:cNvPr id="42" name="Text 34"/>
          <p:cNvSpPr txBox="1"/>
          <p:nvPr/>
        </p:nvSpPr>
        <p:spPr>
          <a:xfrm>
            <a:off x="7238390" y="2212848"/>
            <a:ext cx="1338682"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Large language model: a generative model trained on vast text that drafts, extracts and classifies.</a:t>
            </a:r>
            <a:endParaRPr lang="en-US" sz="950" dirty="0"/>
          </a:p>
        </p:txBody>
      </p:sp>
      <p:sp>
        <p:nvSpPr>
          <p:cNvPr id="43" name="Shape 35"/>
          <p:cNvSpPr/>
          <p:nvPr/>
        </p:nvSpPr>
        <p:spPr>
          <a:xfrm>
            <a:off x="457200" y="3044952"/>
            <a:ext cx="1558138" cy="1536192"/>
          </a:xfrm>
          <a:prstGeom prst="roundRect">
            <a:avLst>
              <a:gd name="adj" fmla="val 4762"/>
            </a:avLst>
          </a:prstGeom>
          <a:solidFill>
            <a:srgbClr val="F4F7F5"/>
          </a:solidFill>
          <a:ln w="9525">
            <a:solidFill>
              <a:srgbClr val="D5DED9"/>
            </a:solidFill>
            <a:prstDash val="solid"/>
          </a:ln>
        </p:spPr>
      </p:sp>
      <p:sp>
        <p:nvSpPr>
          <p:cNvPr id="44" name="Shape 36"/>
          <p:cNvSpPr/>
          <p:nvPr/>
        </p:nvSpPr>
        <p:spPr>
          <a:xfrm>
            <a:off x="566928" y="3172968"/>
            <a:ext cx="365760" cy="365760"/>
          </a:xfrm>
          <a:prstGeom prst="ellipse">
            <a:avLst/>
          </a:prstGeom>
          <a:solidFill>
            <a:srgbClr val="0E7C86">
              <a:alpha val="22000"/>
            </a:srgbClr>
          </a:solidFill>
          <a:ln/>
        </p:spPr>
      </p:sp>
      <p:pic>
        <p:nvPicPr>
          <p:cNvPr id="45" name="Image 5" descr="preencoded.png"/>
          <p:cNvPicPr>
            <a:picLocks noChangeAspect="1"/>
          </p:cNvPicPr>
          <p:nvPr/>
        </p:nvPicPr>
        <p:blipFill>
          <a:blip r:embed="rId8"/>
          <a:stretch>
            <a:fillRect/>
          </a:stretch>
        </p:blipFill>
        <p:spPr>
          <a:xfrm>
            <a:off x="654710" y="3260750"/>
            <a:ext cx="190195" cy="190195"/>
          </a:xfrm>
          <a:prstGeom prst="rect">
            <a:avLst/>
          </a:prstGeom>
        </p:spPr>
      </p:pic>
      <p:sp>
        <p:nvSpPr>
          <p:cNvPr id="46" name="Text 37"/>
          <p:cNvSpPr txBox="1"/>
          <p:nvPr/>
        </p:nvSpPr>
        <p:spPr>
          <a:xfrm>
            <a:off x="566928" y="3611880"/>
            <a:ext cx="1338682" cy="256032"/>
          </a:xfrm>
          <a:prstGeom prst="rect">
            <a:avLst/>
          </a:prstGeom>
          <a:noFill/>
          <a:ln/>
        </p:spPr>
        <p:txBody>
          <a:bodyPr wrap="square" lIns="0" tIns="0" rIns="0" bIns="0" rtlCol="0" anchor="t"/>
          <a:lstStyle/>
          <a:p>
            <a:pPr marL="0" indent="0">
              <a:buNone/>
            </a:pPr>
            <a:r>
              <a:rPr lang="en-US" sz="1250" b="1" dirty="0">
                <a:solidFill>
                  <a:srgbClr val="0E7C86"/>
                </a:solidFill>
                <a:latin typeface="Calibri" pitchFamily="34" charset="0"/>
                <a:ea typeface="Calibri" pitchFamily="34" charset="-122"/>
                <a:cs typeface="Calibri" pitchFamily="34" charset="-120"/>
              </a:rPr>
              <a:t>Open-weight model</a:t>
            </a:r>
            <a:endParaRPr lang="en-US" sz="1250" dirty="0"/>
          </a:p>
        </p:txBody>
      </p:sp>
      <p:sp>
        <p:nvSpPr>
          <p:cNvPr id="47" name="Text 38"/>
          <p:cNvSpPr txBox="1"/>
          <p:nvPr/>
        </p:nvSpPr>
        <p:spPr>
          <a:xfrm>
            <a:off x="566928" y="3886200"/>
            <a:ext cx="1338682"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model whose parameters you can download and run on your own servers.</a:t>
            </a:r>
            <a:endParaRPr lang="en-US" sz="950" dirty="0"/>
          </a:p>
        </p:txBody>
      </p:sp>
      <p:sp>
        <p:nvSpPr>
          <p:cNvPr id="48" name="Shape 39"/>
          <p:cNvSpPr/>
          <p:nvPr/>
        </p:nvSpPr>
        <p:spPr>
          <a:xfrm>
            <a:off x="2125066" y="3044952"/>
            <a:ext cx="1558138" cy="1536192"/>
          </a:xfrm>
          <a:prstGeom prst="roundRect">
            <a:avLst>
              <a:gd name="adj" fmla="val 4762"/>
            </a:avLst>
          </a:prstGeom>
          <a:solidFill>
            <a:srgbClr val="F4F7F5"/>
          </a:solidFill>
          <a:ln w="9525">
            <a:solidFill>
              <a:srgbClr val="D5DED9"/>
            </a:solidFill>
            <a:prstDash val="solid"/>
          </a:ln>
        </p:spPr>
      </p:sp>
      <p:sp>
        <p:nvSpPr>
          <p:cNvPr id="49" name="Shape 40"/>
          <p:cNvSpPr/>
          <p:nvPr/>
        </p:nvSpPr>
        <p:spPr>
          <a:xfrm>
            <a:off x="2234794" y="3172968"/>
            <a:ext cx="365760" cy="365760"/>
          </a:xfrm>
          <a:prstGeom prst="ellipse">
            <a:avLst/>
          </a:prstGeom>
          <a:solidFill>
            <a:srgbClr val="0E7C86">
              <a:alpha val="22000"/>
            </a:srgbClr>
          </a:solidFill>
          <a:ln/>
        </p:spPr>
      </p:sp>
      <p:pic>
        <p:nvPicPr>
          <p:cNvPr id="50" name="Image 6" descr="preencoded.png"/>
          <p:cNvPicPr>
            <a:picLocks noChangeAspect="1"/>
          </p:cNvPicPr>
          <p:nvPr/>
        </p:nvPicPr>
        <p:blipFill>
          <a:blip r:embed="rId9"/>
          <a:stretch>
            <a:fillRect/>
          </a:stretch>
        </p:blipFill>
        <p:spPr>
          <a:xfrm>
            <a:off x="2322576" y="3260750"/>
            <a:ext cx="190195" cy="190195"/>
          </a:xfrm>
          <a:prstGeom prst="rect">
            <a:avLst/>
          </a:prstGeom>
        </p:spPr>
      </p:pic>
      <p:sp>
        <p:nvSpPr>
          <p:cNvPr id="51" name="Text 41"/>
          <p:cNvSpPr txBox="1"/>
          <p:nvPr/>
        </p:nvSpPr>
        <p:spPr>
          <a:xfrm>
            <a:off x="2234794" y="3611880"/>
            <a:ext cx="1338682" cy="256032"/>
          </a:xfrm>
          <a:prstGeom prst="rect">
            <a:avLst/>
          </a:prstGeom>
          <a:noFill/>
          <a:ln/>
        </p:spPr>
        <p:txBody>
          <a:bodyPr wrap="square" lIns="0" tIns="0" rIns="0" bIns="0" rtlCol="0" anchor="t"/>
          <a:lstStyle/>
          <a:p>
            <a:pPr marL="0" indent="0">
              <a:buNone/>
            </a:pPr>
            <a:r>
              <a:rPr lang="en-US" sz="1250" b="1" dirty="0">
                <a:solidFill>
                  <a:srgbClr val="0E7C86"/>
                </a:solidFill>
                <a:latin typeface="Calibri" pitchFamily="34" charset="0"/>
                <a:ea typeface="Calibri" pitchFamily="34" charset="-122"/>
                <a:cs typeface="Calibri" pitchFamily="34" charset="-120"/>
              </a:rPr>
              <a:t>Fine-tuning</a:t>
            </a:r>
            <a:endParaRPr lang="en-US" sz="1250" dirty="0"/>
          </a:p>
        </p:txBody>
      </p:sp>
      <p:sp>
        <p:nvSpPr>
          <p:cNvPr id="52" name="Text 42"/>
          <p:cNvSpPr txBox="1"/>
          <p:nvPr/>
        </p:nvSpPr>
        <p:spPr>
          <a:xfrm>
            <a:off x="2234794" y="3886200"/>
            <a:ext cx="1338682"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Extra training of an existing model on your own data to specialise it.</a:t>
            </a:r>
            <a:endParaRPr lang="en-US" sz="950" dirty="0"/>
          </a:p>
        </p:txBody>
      </p:sp>
      <p:sp>
        <p:nvSpPr>
          <p:cNvPr id="53" name="Shape 43"/>
          <p:cNvSpPr/>
          <p:nvPr/>
        </p:nvSpPr>
        <p:spPr>
          <a:xfrm>
            <a:off x="3792931" y="3044952"/>
            <a:ext cx="1558138" cy="1536192"/>
          </a:xfrm>
          <a:prstGeom prst="roundRect">
            <a:avLst>
              <a:gd name="adj" fmla="val 4762"/>
            </a:avLst>
          </a:prstGeom>
          <a:solidFill>
            <a:srgbClr val="F4F7F5"/>
          </a:solidFill>
          <a:ln w="9525">
            <a:solidFill>
              <a:srgbClr val="D5DED9"/>
            </a:solidFill>
            <a:prstDash val="solid"/>
          </a:ln>
        </p:spPr>
      </p:sp>
      <p:sp>
        <p:nvSpPr>
          <p:cNvPr id="54" name="Shape 44"/>
          <p:cNvSpPr/>
          <p:nvPr/>
        </p:nvSpPr>
        <p:spPr>
          <a:xfrm>
            <a:off x="3902659" y="3172968"/>
            <a:ext cx="365760" cy="365760"/>
          </a:xfrm>
          <a:prstGeom prst="ellipse">
            <a:avLst/>
          </a:prstGeom>
          <a:solidFill>
            <a:srgbClr val="0E7C86">
              <a:alpha val="22000"/>
            </a:srgbClr>
          </a:solidFill>
          <a:ln/>
        </p:spPr>
      </p:sp>
      <p:pic>
        <p:nvPicPr>
          <p:cNvPr id="55" name="Image 7" descr="preencoded.png"/>
          <p:cNvPicPr>
            <a:picLocks noChangeAspect="1"/>
          </p:cNvPicPr>
          <p:nvPr/>
        </p:nvPicPr>
        <p:blipFill>
          <a:blip r:embed="rId10"/>
          <a:stretch>
            <a:fillRect/>
          </a:stretch>
        </p:blipFill>
        <p:spPr>
          <a:xfrm>
            <a:off x="3990442" y="3260750"/>
            <a:ext cx="190195" cy="190195"/>
          </a:xfrm>
          <a:prstGeom prst="rect">
            <a:avLst/>
          </a:prstGeom>
        </p:spPr>
      </p:pic>
      <p:sp>
        <p:nvSpPr>
          <p:cNvPr id="56" name="Text 45"/>
          <p:cNvSpPr txBox="1"/>
          <p:nvPr/>
        </p:nvSpPr>
        <p:spPr>
          <a:xfrm>
            <a:off x="3902659" y="3611880"/>
            <a:ext cx="1338682" cy="256032"/>
          </a:xfrm>
          <a:prstGeom prst="rect">
            <a:avLst/>
          </a:prstGeom>
          <a:noFill/>
          <a:ln/>
        </p:spPr>
        <p:txBody>
          <a:bodyPr wrap="square" lIns="0" tIns="0" rIns="0" bIns="0" rtlCol="0" anchor="t"/>
          <a:lstStyle/>
          <a:p>
            <a:pPr marL="0" indent="0">
              <a:buNone/>
            </a:pPr>
            <a:r>
              <a:rPr lang="en-US" sz="1250" b="1" dirty="0">
                <a:solidFill>
                  <a:srgbClr val="0E7C86"/>
                </a:solidFill>
                <a:latin typeface="Calibri" pitchFamily="34" charset="0"/>
                <a:ea typeface="Calibri" pitchFamily="34" charset="-122"/>
                <a:cs typeface="Calibri" pitchFamily="34" charset="-120"/>
              </a:rPr>
              <a:t>RAG</a:t>
            </a:r>
            <a:endParaRPr lang="en-US" sz="1250" dirty="0"/>
          </a:p>
        </p:txBody>
      </p:sp>
      <p:sp>
        <p:nvSpPr>
          <p:cNvPr id="57" name="Text 46"/>
          <p:cNvSpPr txBox="1"/>
          <p:nvPr/>
        </p:nvSpPr>
        <p:spPr>
          <a:xfrm>
            <a:off x="3902659" y="3886200"/>
            <a:ext cx="1338682"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Retrieval-augmented generation: the model answers using passages found in your documents.</a:t>
            </a:r>
            <a:endParaRPr lang="en-US" sz="950" dirty="0"/>
          </a:p>
        </p:txBody>
      </p:sp>
      <p:sp>
        <p:nvSpPr>
          <p:cNvPr id="58" name="Shape 47"/>
          <p:cNvSpPr/>
          <p:nvPr/>
        </p:nvSpPr>
        <p:spPr>
          <a:xfrm>
            <a:off x="5460797" y="3044952"/>
            <a:ext cx="1558138" cy="1536192"/>
          </a:xfrm>
          <a:prstGeom prst="roundRect">
            <a:avLst>
              <a:gd name="adj" fmla="val 4762"/>
            </a:avLst>
          </a:prstGeom>
          <a:solidFill>
            <a:srgbClr val="F4F7F5"/>
          </a:solidFill>
          <a:ln w="9525">
            <a:solidFill>
              <a:srgbClr val="D5DED9"/>
            </a:solidFill>
            <a:prstDash val="solid"/>
          </a:ln>
        </p:spPr>
      </p:sp>
      <p:sp>
        <p:nvSpPr>
          <p:cNvPr id="59" name="Shape 48"/>
          <p:cNvSpPr/>
          <p:nvPr/>
        </p:nvSpPr>
        <p:spPr>
          <a:xfrm>
            <a:off x="5570525" y="3172968"/>
            <a:ext cx="365760" cy="365760"/>
          </a:xfrm>
          <a:prstGeom prst="ellipse">
            <a:avLst/>
          </a:prstGeom>
          <a:solidFill>
            <a:srgbClr val="0E7C86">
              <a:alpha val="22000"/>
            </a:srgbClr>
          </a:solidFill>
          <a:ln/>
        </p:spPr>
      </p:sp>
      <p:pic>
        <p:nvPicPr>
          <p:cNvPr id="60" name="Image 8" descr="preencoded.png"/>
          <p:cNvPicPr>
            <a:picLocks noChangeAspect="1"/>
          </p:cNvPicPr>
          <p:nvPr/>
        </p:nvPicPr>
        <p:blipFill>
          <a:blip r:embed="rId11"/>
          <a:stretch>
            <a:fillRect/>
          </a:stretch>
        </p:blipFill>
        <p:spPr>
          <a:xfrm>
            <a:off x="5658307" y="3260750"/>
            <a:ext cx="190195" cy="190195"/>
          </a:xfrm>
          <a:prstGeom prst="rect">
            <a:avLst/>
          </a:prstGeom>
        </p:spPr>
      </p:pic>
      <p:sp>
        <p:nvSpPr>
          <p:cNvPr id="61" name="Text 49"/>
          <p:cNvSpPr txBox="1"/>
          <p:nvPr/>
        </p:nvSpPr>
        <p:spPr>
          <a:xfrm>
            <a:off x="5570525" y="3611880"/>
            <a:ext cx="1338682" cy="256032"/>
          </a:xfrm>
          <a:prstGeom prst="rect">
            <a:avLst/>
          </a:prstGeom>
          <a:noFill/>
          <a:ln/>
        </p:spPr>
        <p:txBody>
          <a:bodyPr wrap="square" lIns="0" tIns="0" rIns="0" bIns="0" rtlCol="0" anchor="t"/>
          <a:lstStyle/>
          <a:p>
            <a:pPr marL="0" indent="0">
              <a:buNone/>
            </a:pPr>
            <a:r>
              <a:rPr lang="en-US" sz="1250" b="1" dirty="0">
                <a:solidFill>
                  <a:srgbClr val="0E7C86"/>
                </a:solidFill>
                <a:latin typeface="Calibri" pitchFamily="34" charset="0"/>
                <a:ea typeface="Calibri" pitchFamily="34" charset="-122"/>
                <a:cs typeface="Calibri" pitchFamily="34" charset="-120"/>
              </a:rPr>
              <a:t>MLOps</a:t>
            </a:r>
            <a:endParaRPr lang="en-US" sz="1250" dirty="0"/>
          </a:p>
        </p:txBody>
      </p:sp>
      <p:sp>
        <p:nvSpPr>
          <p:cNvPr id="62" name="Text 50"/>
          <p:cNvSpPr txBox="1"/>
          <p:nvPr/>
        </p:nvSpPr>
        <p:spPr>
          <a:xfrm>
            <a:off x="5570525" y="3886200"/>
            <a:ext cx="1338682"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The practices and tools that take a model from experiment to monitored production.</a:t>
            </a:r>
            <a:endParaRPr lang="en-US" sz="950" dirty="0"/>
          </a:p>
        </p:txBody>
      </p:sp>
      <p:sp>
        <p:nvSpPr>
          <p:cNvPr id="63" name="Shape 51"/>
          <p:cNvSpPr/>
          <p:nvPr/>
        </p:nvSpPr>
        <p:spPr>
          <a:xfrm>
            <a:off x="7128662" y="3044952"/>
            <a:ext cx="1558138" cy="1536192"/>
          </a:xfrm>
          <a:prstGeom prst="roundRect">
            <a:avLst>
              <a:gd name="adj" fmla="val 4762"/>
            </a:avLst>
          </a:prstGeom>
          <a:solidFill>
            <a:srgbClr val="F4F7F5"/>
          </a:solidFill>
          <a:ln w="9525">
            <a:solidFill>
              <a:srgbClr val="D5DED9"/>
            </a:solidFill>
            <a:prstDash val="solid"/>
          </a:ln>
        </p:spPr>
      </p:sp>
      <p:sp>
        <p:nvSpPr>
          <p:cNvPr id="64" name="Shape 52"/>
          <p:cNvSpPr/>
          <p:nvPr/>
        </p:nvSpPr>
        <p:spPr>
          <a:xfrm>
            <a:off x="7238390" y="3172968"/>
            <a:ext cx="365760" cy="365760"/>
          </a:xfrm>
          <a:prstGeom prst="ellipse">
            <a:avLst/>
          </a:prstGeom>
          <a:solidFill>
            <a:srgbClr val="0E7C86">
              <a:alpha val="22000"/>
            </a:srgbClr>
          </a:solidFill>
          <a:ln/>
        </p:spPr>
      </p:sp>
      <p:pic>
        <p:nvPicPr>
          <p:cNvPr id="65" name="Image 9" descr="preencoded.png"/>
          <p:cNvPicPr>
            <a:picLocks noChangeAspect="1"/>
          </p:cNvPicPr>
          <p:nvPr/>
        </p:nvPicPr>
        <p:blipFill>
          <a:blip r:embed="rId12"/>
          <a:stretch>
            <a:fillRect/>
          </a:stretch>
        </p:blipFill>
        <p:spPr>
          <a:xfrm>
            <a:off x="7326173" y="3260750"/>
            <a:ext cx="190195" cy="190195"/>
          </a:xfrm>
          <a:prstGeom prst="rect">
            <a:avLst/>
          </a:prstGeom>
        </p:spPr>
      </p:pic>
      <p:sp>
        <p:nvSpPr>
          <p:cNvPr id="66" name="Text 53"/>
          <p:cNvSpPr txBox="1"/>
          <p:nvPr/>
        </p:nvSpPr>
        <p:spPr>
          <a:xfrm>
            <a:off x="7238390" y="3611880"/>
            <a:ext cx="1338682" cy="256032"/>
          </a:xfrm>
          <a:prstGeom prst="rect">
            <a:avLst/>
          </a:prstGeom>
          <a:noFill/>
          <a:ln/>
        </p:spPr>
        <p:txBody>
          <a:bodyPr wrap="square" lIns="0" tIns="0" rIns="0" bIns="0" rtlCol="0" anchor="t"/>
          <a:lstStyle/>
          <a:p>
            <a:pPr marL="0" indent="0">
              <a:buNone/>
            </a:pPr>
            <a:r>
              <a:rPr lang="en-US" sz="1250" b="1" dirty="0">
                <a:solidFill>
                  <a:srgbClr val="0E7C86"/>
                </a:solidFill>
                <a:latin typeface="Calibri" pitchFamily="34" charset="0"/>
                <a:ea typeface="Calibri" pitchFamily="34" charset="-122"/>
                <a:cs typeface="Calibri" pitchFamily="34" charset="-120"/>
              </a:rPr>
              <a:t>Gold standard</a:t>
            </a:r>
            <a:endParaRPr lang="en-US" sz="1250" dirty="0"/>
          </a:p>
        </p:txBody>
      </p:sp>
      <p:sp>
        <p:nvSpPr>
          <p:cNvPr id="67" name="Text 54"/>
          <p:cNvSpPr txBox="1"/>
          <p:nvPr/>
        </p:nvSpPr>
        <p:spPr>
          <a:xfrm>
            <a:off x="7238390" y="3886200"/>
            <a:ext cx="1338682"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frozen, expertly coded dataset used to measure how well a model performs.</a:t>
            </a:r>
            <a:endParaRPr lang="en-US" sz="9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01</a:t>
            </a:r>
            <a:endParaRPr lang="en-US" sz="1050" dirty="0"/>
          </a:p>
        </p:txBody>
      </p:sp>
      <p:sp>
        <p:nvSpPr>
          <p:cNvPr id="4" name="Text 2"/>
          <p:cNvSpPr txBox="1"/>
          <p:nvPr/>
        </p:nvSpPr>
        <p:spPr>
          <a:xfrm>
            <a:off x="502920" y="73152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01</a:t>
            </a:r>
            <a:endParaRPr lang="en-US" sz="8800" dirty="0"/>
          </a:p>
        </p:txBody>
      </p:sp>
      <p:sp>
        <p:nvSpPr>
          <p:cNvPr id="5" name="Text 3"/>
          <p:cNvSpPr txBox="1"/>
          <p:nvPr/>
        </p:nvSpPr>
        <p:spPr>
          <a:xfrm>
            <a:off x="548640" y="1874520"/>
            <a:ext cx="5303520" cy="54864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Calibri" pitchFamily="34" charset="0"/>
                <a:ea typeface="Calibri" pitchFamily="34" charset="-122"/>
                <a:cs typeface="Calibri" pitchFamily="34" charset="-120"/>
              </a:rPr>
              <a:t>Framing &amp; architecture</a:t>
            </a:r>
            <a:endParaRPr lang="en-US" sz="3200" dirty="0"/>
          </a:p>
        </p:txBody>
      </p:sp>
      <p:sp>
        <p:nvSpPr>
          <p:cNvPr id="6" name="Text 4"/>
          <p:cNvSpPr txBox="1"/>
          <p:nvPr/>
        </p:nvSpPr>
        <p:spPr>
          <a:xfrm>
            <a:off x="548640" y="2514600"/>
            <a:ext cx="4937760" cy="548640"/>
          </a:xfrm>
          <a:prstGeom prst="rect">
            <a:avLst/>
          </a:prstGeom>
          <a:noFill/>
          <a:ln/>
        </p:spPr>
        <p:txBody>
          <a:bodyPr wrap="square" lIns="0" tIns="0" rIns="0" bIns="0" rtlCol="0" anchor="t"/>
          <a:lstStyle/>
          <a:p>
            <a:pPr marL="0" indent="0">
              <a:buNone/>
            </a:pPr>
            <a:r>
              <a:rPr lang="en-US" sz="1500" i="1" dirty="0">
                <a:solidFill>
                  <a:srgbClr val="E6F6EE"/>
                </a:solidFill>
                <a:latin typeface="Calibri" pitchFamily="34" charset="0"/>
                <a:ea typeface="Calibri" pitchFamily="34" charset="-122"/>
                <a:cs typeface="Calibri" pitchFamily="34" charset="-120"/>
              </a:rPr>
              <a:t>Why is the model the easiest part of an AI system?</a:t>
            </a:r>
            <a:endParaRPr lang="en-US" sz="1500" dirty="0"/>
          </a:p>
        </p:txBody>
      </p:sp>
      <p:sp>
        <p:nvSpPr>
          <p:cNvPr id="7" name="Text 5"/>
          <p:cNvSpPr txBox="1"/>
          <p:nvPr/>
        </p:nvSpPr>
        <p:spPr>
          <a:xfrm>
            <a:off x="548640" y="3291840"/>
            <a:ext cx="2743200" cy="182880"/>
          </a:xfrm>
          <a:prstGeom prst="rect">
            <a:avLst/>
          </a:prstGeom>
          <a:noFill/>
          <a:ln/>
        </p:spPr>
        <p:txBody>
          <a:bodyPr wrap="square" lIns="0" tIns="0" rIns="0" bIns="0" rtlCol="0" anchor="t"/>
          <a:lstStyle/>
          <a:p>
            <a:pPr marL="0" indent="0">
              <a:buNone/>
            </a:pPr>
            <a:r>
              <a:rPr lang="en-US" sz="900" b="1" kern="0" spc="200" dirty="0">
                <a:solidFill>
                  <a:srgbClr val="F5C242"/>
                </a:solidFill>
                <a:latin typeface="Calibri" pitchFamily="34" charset="0"/>
                <a:ea typeface="Calibri" pitchFamily="34" charset="-122"/>
                <a:cs typeface="Calibri" pitchFamily="34" charset="-120"/>
              </a:rPr>
              <a:t>IN THIS SECTION</a:t>
            </a:r>
            <a:endParaRPr lang="en-US" sz="900" dirty="0"/>
          </a:p>
        </p:txBody>
      </p:sp>
      <p:sp>
        <p:nvSpPr>
          <p:cNvPr id="8" name="Text 6"/>
          <p:cNvSpPr txBox="1"/>
          <p:nvPr/>
        </p:nvSpPr>
        <p:spPr>
          <a:xfrm>
            <a:off x="54864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The model is the easy part</a:t>
            </a:r>
            <a:endParaRPr lang="en-US" sz="1000" dirty="0"/>
          </a:p>
        </p:txBody>
      </p:sp>
      <p:sp>
        <p:nvSpPr>
          <p:cNvPr id="9" name="Text 7"/>
          <p:cNvSpPr txBox="1"/>
          <p:nvPr/>
        </p:nvSpPr>
        <p:spPr>
          <a:xfrm>
            <a:off x="54864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Where AI earns its place</a:t>
            </a:r>
            <a:endParaRPr lang="en-US" sz="1000" dirty="0"/>
          </a:p>
        </p:txBody>
      </p:sp>
      <p:sp>
        <p:nvSpPr>
          <p:cNvPr id="10" name="Text 8"/>
          <p:cNvSpPr txBox="1"/>
          <p:nvPr/>
        </p:nvSpPr>
        <p:spPr>
          <a:xfrm>
            <a:off x="54864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A worked example</a:t>
            </a:r>
            <a:endParaRPr lang="en-US" sz="1000" dirty="0"/>
          </a:p>
        </p:txBody>
      </p:sp>
      <p:sp>
        <p:nvSpPr>
          <p:cNvPr id="11" name="Text 9"/>
          <p:cNvSpPr txBox="1"/>
          <p:nvPr/>
        </p:nvSpPr>
        <p:spPr>
          <a:xfrm>
            <a:off x="315468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NSO vs. technology company</a:t>
            </a:r>
            <a:endParaRPr lang="en-US" sz="1000" dirty="0"/>
          </a:p>
        </p:txBody>
      </p:sp>
      <p:sp>
        <p:nvSpPr>
          <p:cNvPr id="12" name="Text 10"/>
          <p:cNvSpPr txBox="1"/>
          <p:nvPr/>
        </p:nvSpPr>
        <p:spPr>
          <a:xfrm>
            <a:off x="315468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The African context</a:t>
            </a:r>
            <a:endParaRPr lang="en-US" sz="1000" dirty="0"/>
          </a:p>
        </p:txBody>
      </p:sp>
      <p:sp>
        <p:nvSpPr>
          <p:cNvPr id="13" name="Text 11"/>
          <p:cNvSpPr txBox="1"/>
          <p:nvPr/>
        </p:nvSpPr>
        <p:spPr>
          <a:xfrm>
            <a:off x="315468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The five-layer stack</a:t>
            </a:r>
            <a:endParaRPr lang="en-US" sz="1000" dirty="0"/>
          </a:p>
        </p:txBody>
      </p:sp>
      <p:sp>
        <p:nvSpPr>
          <p:cNvPr id="14" name="Shape 12"/>
          <p:cNvSpPr/>
          <p:nvPr/>
        </p:nvSpPr>
        <p:spPr>
          <a:xfrm>
            <a:off x="5989320" y="960120"/>
            <a:ext cx="2651760" cy="2651760"/>
          </a:xfrm>
          <a:prstGeom prst="ellipse">
            <a:avLst/>
          </a:prstGeom>
          <a:solidFill>
            <a:srgbClr val="FFFFFF">
              <a:alpha val="10000"/>
            </a:srgbClr>
          </a:solidFill>
          <a:ln w="12700">
            <a:solidFill>
              <a:srgbClr val="FFFFFF">
                <a:alpha val="40000"/>
              </a:srgbClr>
            </a:solidFill>
            <a:prstDash val="solid"/>
          </a:ln>
        </p:spPr>
      </p:sp>
      <p:sp>
        <p:nvSpPr>
          <p:cNvPr id="15" name="Shape 13"/>
          <p:cNvSpPr/>
          <p:nvPr/>
        </p:nvSpPr>
        <p:spPr>
          <a:xfrm>
            <a:off x="6355080" y="1325880"/>
            <a:ext cx="1920240" cy="1920240"/>
          </a:xfrm>
          <a:prstGeom prst="ellipse">
            <a:avLst/>
          </a:prstGeom>
          <a:solidFill>
            <a:srgbClr val="FFFFFF">
              <a:alpha val="18000"/>
            </a:srgbClr>
          </a:solidFill>
          <a:ln/>
        </p:spPr>
      </p:sp>
      <p:sp>
        <p:nvSpPr>
          <p:cNvPr id="16" name="Shape 14"/>
          <p:cNvSpPr/>
          <p:nvPr/>
        </p:nvSpPr>
        <p:spPr>
          <a:xfrm>
            <a:off x="6720840" y="1691640"/>
            <a:ext cx="1188720" cy="1188720"/>
          </a:xfrm>
          <a:prstGeom prst="ellipse">
            <a:avLst/>
          </a:prstGeom>
          <a:solidFill>
            <a:srgbClr val="FFFFFF"/>
          </a:solidFill>
          <a:ln/>
        </p:spPr>
      </p:sp>
      <p:pic>
        <p:nvPicPr>
          <p:cNvPr id="17"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8" name="Shape 15"/>
          <p:cNvSpPr/>
          <p:nvPr/>
        </p:nvSpPr>
        <p:spPr>
          <a:xfrm>
            <a:off x="6492240" y="3995928"/>
            <a:ext cx="146304" cy="146304"/>
          </a:xfrm>
          <a:prstGeom prst="ellipse">
            <a:avLst/>
          </a:prstGeom>
          <a:solidFill>
            <a:srgbClr val="F5C242"/>
          </a:solidFill>
          <a:ln/>
        </p:spPr>
      </p:sp>
      <p:sp>
        <p:nvSpPr>
          <p:cNvPr id="19" name="Shape 16"/>
          <p:cNvSpPr/>
          <p:nvPr/>
        </p:nvSpPr>
        <p:spPr>
          <a:xfrm>
            <a:off x="6784848" y="4014216"/>
            <a:ext cx="109728" cy="109728"/>
          </a:xfrm>
          <a:prstGeom prst="ellipse">
            <a:avLst/>
          </a:prstGeom>
          <a:solidFill>
            <a:srgbClr val="FFFFFF">
              <a:alpha val="40000"/>
            </a:srgbClr>
          </a:solidFill>
          <a:ln/>
        </p:spPr>
      </p:sp>
      <p:sp>
        <p:nvSpPr>
          <p:cNvPr id="20" name="Shape 17"/>
          <p:cNvSpPr/>
          <p:nvPr/>
        </p:nvSpPr>
        <p:spPr>
          <a:xfrm>
            <a:off x="7059168" y="4014216"/>
            <a:ext cx="109728" cy="109728"/>
          </a:xfrm>
          <a:prstGeom prst="ellipse">
            <a:avLst/>
          </a:prstGeom>
          <a:solidFill>
            <a:srgbClr val="FFFFFF">
              <a:alpha val="40000"/>
            </a:srgbClr>
          </a:solidFill>
          <a:ln/>
        </p:spPr>
      </p:sp>
      <p:sp>
        <p:nvSpPr>
          <p:cNvPr id="21" name="Shape 18"/>
          <p:cNvSpPr/>
          <p:nvPr/>
        </p:nvSpPr>
        <p:spPr>
          <a:xfrm>
            <a:off x="7333488" y="4014216"/>
            <a:ext cx="109728" cy="109728"/>
          </a:xfrm>
          <a:prstGeom prst="ellipse">
            <a:avLst/>
          </a:prstGeom>
          <a:solidFill>
            <a:srgbClr val="FFFFFF">
              <a:alpha val="40000"/>
            </a:srgbClr>
          </a:solidFill>
          <a:ln/>
        </p:spPr>
      </p:sp>
      <p:sp>
        <p:nvSpPr>
          <p:cNvPr id="22" name="Shape 19"/>
          <p:cNvSpPr/>
          <p:nvPr/>
        </p:nvSpPr>
        <p:spPr>
          <a:xfrm>
            <a:off x="7607808" y="4014216"/>
            <a:ext cx="109728" cy="109728"/>
          </a:xfrm>
          <a:prstGeom prst="ellipse">
            <a:avLst/>
          </a:prstGeom>
          <a:solidFill>
            <a:srgbClr val="FFFFFF">
              <a:alpha val="40000"/>
            </a:srgbClr>
          </a:solidFill>
          <a:ln/>
        </p:spPr>
      </p:sp>
      <p:sp>
        <p:nvSpPr>
          <p:cNvPr id="23" name="Shape 20"/>
          <p:cNvSpPr/>
          <p:nvPr/>
        </p:nvSpPr>
        <p:spPr>
          <a:xfrm>
            <a:off x="7882128" y="4014216"/>
            <a:ext cx="109728" cy="109728"/>
          </a:xfrm>
          <a:prstGeom prst="ellipse">
            <a:avLst/>
          </a:prstGeom>
          <a:solidFill>
            <a:srgbClr val="FFFFFF">
              <a:alpha val="40000"/>
            </a:srgbClr>
          </a:solidFill>
          <a:ln/>
        </p:spPr>
      </p:sp>
      <p:sp>
        <p:nvSpPr>
          <p:cNvPr id="24" name="Text 21"/>
          <p:cNvSpPr txBox="1"/>
          <p:nvPr/>
        </p:nvSpPr>
        <p:spPr>
          <a:xfrm>
            <a:off x="7772400" y="4709160"/>
            <a:ext cx="9144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5</a:t>
            </a:r>
            <a:endParaRPr lang="en-US" sz="8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THE CORE CLAIM</a:t>
            </a:r>
            <a:endParaRPr lang="en-US" sz="1050" dirty="0"/>
          </a:p>
        </p:txBody>
      </p:sp>
      <p:sp>
        <p:nvSpPr>
          <p:cNvPr id="7" name="Shape 5"/>
          <p:cNvSpPr/>
          <p:nvPr/>
        </p:nvSpPr>
        <p:spPr>
          <a:xfrm>
            <a:off x="7658100" y="278892"/>
            <a:ext cx="118872" cy="118872"/>
          </a:xfrm>
          <a:prstGeom prst="ellipse">
            <a:avLst/>
          </a:prstGeom>
          <a:solidFill>
            <a:srgbClr val="00A86A"/>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The model is the easy part</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In a production AI system, the modelling code is a small box surrounded by much larger ones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8" name="Shape 15"/>
          <p:cNvSpPr/>
          <p:nvPr/>
        </p:nvSpPr>
        <p:spPr>
          <a:xfrm>
            <a:off x="457200" y="1371600"/>
            <a:ext cx="2926080" cy="786384"/>
          </a:xfrm>
          <a:prstGeom prst="roundRect">
            <a:avLst>
              <a:gd name="adj" fmla="val 9302"/>
            </a:avLst>
          </a:prstGeom>
          <a:solidFill>
            <a:srgbClr val="F4F7F5"/>
          </a:solidFill>
          <a:ln w="9525">
            <a:solidFill>
              <a:srgbClr val="D5DED9"/>
            </a:solidFill>
            <a:prstDash val="solid"/>
          </a:ln>
        </p:spPr>
      </p:sp>
      <p:sp>
        <p:nvSpPr>
          <p:cNvPr id="19" name="Text 16"/>
          <p:cNvSpPr txBox="1"/>
          <p:nvPr/>
        </p:nvSpPr>
        <p:spPr>
          <a:xfrm>
            <a:off x="594360" y="1444752"/>
            <a:ext cx="1234440" cy="640080"/>
          </a:xfrm>
          <a:prstGeom prst="rect">
            <a:avLst/>
          </a:prstGeom>
          <a:noFill/>
          <a:ln/>
        </p:spPr>
        <p:txBody>
          <a:bodyPr wrap="square" lIns="0" tIns="0" rIns="0" bIns="0" rtlCol="0" anchor="ctr"/>
          <a:lstStyle/>
          <a:p>
            <a:pPr marL="0" indent="0">
              <a:buNone/>
            </a:pPr>
            <a:r>
              <a:rPr lang="en-US" sz="2800" b="1" dirty="0">
                <a:solidFill>
                  <a:srgbClr val="00A86A"/>
                </a:solidFill>
                <a:latin typeface="Calibri" pitchFamily="34" charset="0"/>
                <a:ea typeface="Calibri" pitchFamily="34" charset="-122"/>
                <a:cs typeface="Calibri" pitchFamily="34" charset="-120"/>
              </a:rPr>
              <a:t>~5%</a:t>
            </a:r>
            <a:endParaRPr lang="en-US" sz="2800" dirty="0"/>
          </a:p>
        </p:txBody>
      </p:sp>
      <p:sp>
        <p:nvSpPr>
          <p:cNvPr id="20" name="Text 17"/>
          <p:cNvSpPr txBox="1"/>
          <p:nvPr/>
        </p:nvSpPr>
        <p:spPr>
          <a:xfrm>
            <a:off x="1828800" y="1426464"/>
            <a:ext cx="1463040" cy="676656"/>
          </a:xfrm>
          <a:prstGeom prst="rect">
            <a:avLst/>
          </a:prstGeom>
          <a:noFill/>
          <a:ln/>
        </p:spPr>
        <p:txBody>
          <a:bodyPr wrap="square" lIns="0" tIns="0" rIns="0" bIns="0" rtlCol="0" anchor="ctr"/>
          <a:lstStyle/>
          <a:p>
            <a:pPr marL="0" indent="0">
              <a:buNone/>
            </a:pPr>
            <a:r>
              <a:rPr lang="en-US" sz="850" dirty="0">
                <a:solidFill>
                  <a:srgbClr val="5E6964"/>
                </a:solidFill>
                <a:latin typeface="Calibri" pitchFamily="34" charset="0"/>
                <a:ea typeface="Calibri" pitchFamily="34" charset="-122"/>
                <a:cs typeface="Calibri" pitchFamily="34" charset="-120"/>
              </a:rPr>
              <a:t>of a real-world ML system is model code; the rest is data, serving, configuration and monitoring</a:t>
            </a:r>
            <a:endParaRPr lang="en-US" sz="850" dirty="0"/>
          </a:p>
        </p:txBody>
      </p:sp>
      <p:sp>
        <p:nvSpPr>
          <p:cNvPr id="21" name="Shape 18"/>
          <p:cNvSpPr/>
          <p:nvPr/>
        </p:nvSpPr>
        <p:spPr>
          <a:xfrm>
            <a:off x="457200" y="2267712"/>
            <a:ext cx="2926080" cy="786384"/>
          </a:xfrm>
          <a:prstGeom prst="roundRect">
            <a:avLst>
              <a:gd name="adj" fmla="val 9302"/>
            </a:avLst>
          </a:prstGeom>
          <a:solidFill>
            <a:srgbClr val="F4F7F5"/>
          </a:solidFill>
          <a:ln w="9525">
            <a:solidFill>
              <a:srgbClr val="D5DED9"/>
            </a:solidFill>
            <a:prstDash val="solid"/>
          </a:ln>
        </p:spPr>
      </p:sp>
      <p:sp>
        <p:nvSpPr>
          <p:cNvPr id="22" name="Text 19"/>
          <p:cNvSpPr txBox="1"/>
          <p:nvPr/>
        </p:nvSpPr>
        <p:spPr>
          <a:xfrm>
            <a:off x="594360" y="2340864"/>
            <a:ext cx="1234440" cy="640080"/>
          </a:xfrm>
          <a:prstGeom prst="rect">
            <a:avLst/>
          </a:prstGeom>
          <a:noFill/>
          <a:ln/>
        </p:spPr>
        <p:txBody>
          <a:bodyPr wrap="square" lIns="0" tIns="0" rIns="0" bIns="0" rtlCol="0" anchor="ctr"/>
          <a:lstStyle/>
          <a:p>
            <a:pPr marL="0" indent="0">
              <a:buNone/>
            </a:pPr>
            <a:r>
              <a:rPr lang="en-US" sz="2800" b="1" dirty="0">
                <a:solidFill>
                  <a:srgbClr val="D49A00"/>
                </a:solidFill>
                <a:latin typeface="Calibri" pitchFamily="34" charset="0"/>
                <a:ea typeface="Calibri" pitchFamily="34" charset="-122"/>
                <a:cs typeface="Calibri" pitchFamily="34" charset="-120"/>
              </a:rPr>
              <a:t>6–18</a:t>
            </a:r>
            <a:endParaRPr lang="en-US" sz="2800" dirty="0"/>
          </a:p>
        </p:txBody>
      </p:sp>
      <p:sp>
        <p:nvSpPr>
          <p:cNvPr id="23" name="Text 20"/>
          <p:cNvSpPr txBox="1"/>
          <p:nvPr/>
        </p:nvSpPr>
        <p:spPr>
          <a:xfrm>
            <a:off x="1828800" y="2322576"/>
            <a:ext cx="1463040" cy="676656"/>
          </a:xfrm>
          <a:prstGeom prst="rect">
            <a:avLst/>
          </a:prstGeom>
          <a:noFill/>
          <a:ln/>
        </p:spPr>
        <p:txBody>
          <a:bodyPr wrap="square" lIns="0" tIns="0" rIns="0" bIns="0" rtlCol="0" anchor="ctr"/>
          <a:lstStyle/>
          <a:p>
            <a:pPr marL="0" indent="0">
              <a:buNone/>
            </a:pPr>
            <a:r>
              <a:rPr lang="en-US" sz="850" dirty="0">
                <a:solidFill>
                  <a:srgbClr val="5E6964"/>
                </a:solidFill>
                <a:latin typeface="Calibri" pitchFamily="34" charset="0"/>
                <a:ea typeface="Calibri" pitchFamily="34" charset="-122"/>
                <a:cs typeface="Calibri" pitchFamily="34" charset="-120"/>
              </a:rPr>
              <a:t>months: typical procurement lead time for on-premises GPU hardware in public administration (heuristic)</a:t>
            </a:r>
            <a:endParaRPr lang="en-US" sz="850" dirty="0"/>
          </a:p>
        </p:txBody>
      </p:sp>
      <p:sp>
        <p:nvSpPr>
          <p:cNvPr id="24" name="Shape 21"/>
          <p:cNvSpPr/>
          <p:nvPr/>
        </p:nvSpPr>
        <p:spPr>
          <a:xfrm>
            <a:off x="457200" y="3163824"/>
            <a:ext cx="2926080" cy="786384"/>
          </a:xfrm>
          <a:prstGeom prst="roundRect">
            <a:avLst>
              <a:gd name="adj" fmla="val 9302"/>
            </a:avLst>
          </a:prstGeom>
          <a:solidFill>
            <a:srgbClr val="F4F7F5"/>
          </a:solidFill>
          <a:ln w="9525">
            <a:solidFill>
              <a:srgbClr val="D5DED9"/>
            </a:solidFill>
            <a:prstDash val="solid"/>
          </a:ln>
        </p:spPr>
      </p:sp>
      <p:sp>
        <p:nvSpPr>
          <p:cNvPr id="25" name="Text 22"/>
          <p:cNvSpPr txBox="1"/>
          <p:nvPr/>
        </p:nvSpPr>
        <p:spPr>
          <a:xfrm>
            <a:off x="594360" y="3236976"/>
            <a:ext cx="1234440" cy="640080"/>
          </a:xfrm>
          <a:prstGeom prst="rect">
            <a:avLst/>
          </a:prstGeom>
          <a:noFill/>
          <a:ln/>
        </p:spPr>
        <p:txBody>
          <a:bodyPr wrap="square" lIns="0" tIns="0" rIns="0" bIns="0" rtlCol="0" anchor="ctr"/>
          <a:lstStyle/>
          <a:p>
            <a:pPr marL="0" indent="0">
              <a:buNone/>
            </a:pPr>
            <a:r>
              <a:rPr lang="en-US" sz="2800" b="1" dirty="0">
                <a:solidFill>
                  <a:srgbClr val="0E7C86"/>
                </a:solidFill>
                <a:latin typeface="Calibri" pitchFamily="34" charset="0"/>
                <a:ea typeface="Calibri" pitchFamily="34" charset="-122"/>
                <a:cs typeface="Calibri" pitchFamily="34" charset="-120"/>
              </a:rPr>
              <a:t>20–40%</a:t>
            </a:r>
            <a:endParaRPr lang="en-US" sz="2800" dirty="0"/>
          </a:p>
        </p:txBody>
      </p:sp>
      <p:sp>
        <p:nvSpPr>
          <p:cNvPr id="26" name="Text 23"/>
          <p:cNvSpPr txBox="1"/>
          <p:nvPr/>
        </p:nvSpPr>
        <p:spPr>
          <a:xfrm>
            <a:off x="1828800" y="3218688"/>
            <a:ext cx="1463040" cy="676656"/>
          </a:xfrm>
          <a:prstGeom prst="rect">
            <a:avLst/>
          </a:prstGeom>
          <a:noFill/>
          <a:ln/>
        </p:spPr>
        <p:txBody>
          <a:bodyPr wrap="square" lIns="0" tIns="0" rIns="0" bIns="0" rtlCol="0" anchor="ctr"/>
          <a:lstStyle/>
          <a:p>
            <a:pPr marL="0" indent="0">
              <a:buNone/>
            </a:pPr>
            <a:r>
              <a:rPr lang="en-US" sz="850" dirty="0">
                <a:solidFill>
                  <a:srgbClr val="5E6964"/>
                </a:solidFill>
                <a:latin typeface="Calibri" pitchFamily="34" charset="0"/>
                <a:ea typeface="Calibri" pitchFamily="34" charset="-122"/>
                <a:cs typeface="Calibri" pitchFamily="34" charset="-120"/>
              </a:rPr>
              <a:t>of project effort realistically goes to data preparation, labelling and evaluation (heuristic)</a:t>
            </a:r>
            <a:endParaRPr lang="en-US" sz="850" dirty="0"/>
          </a:p>
        </p:txBody>
      </p:sp>
      <p:sp>
        <p:nvSpPr>
          <p:cNvPr id="27" name="Text 24"/>
          <p:cNvSpPr txBox="1"/>
          <p:nvPr/>
        </p:nvSpPr>
        <p:spPr>
          <a:xfrm>
            <a:off x="3611880" y="1371600"/>
            <a:ext cx="5029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WHAT A PRODUCTION ML SYSTEM CONTAINS</a:t>
            </a:r>
            <a:endParaRPr lang="en-US" sz="900" dirty="0"/>
          </a:p>
        </p:txBody>
      </p:sp>
      <p:sp>
        <p:nvSpPr>
          <p:cNvPr id="28" name="Shape 25"/>
          <p:cNvSpPr/>
          <p:nvPr/>
        </p:nvSpPr>
        <p:spPr>
          <a:xfrm>
            <a:off x="3611880" y="1627632"/>
            <a:ext cx="1630680" cy="731520"/>
          </a:xfrm>
          <a:prstGeom prst="roundRect">
            <a:avLst>
              <a:gd name="adj" fmla="val 10000"/>
            </a:avLst>
          </a:prstGeom>
          <a:solidFill>
            <a:srgbClr val="F4F7F5"/>
          </a:solidFill>
          <a:ln w="9525">
            <a:solidFill>
              <a:srgbClr val="D5DED9"/>
            </a:solidFill>
            <a:prstDash val="solid"/>
          </a:ln>
        </p:spPr>
      </p:sp>
      <p:sp>
        <p:nvSpPr>
          <p:cNvPr id="29" name="Text 26"/>
          <p:cNvSpPr txBox="1"/>
          <p:nvPr/>
        </p:nvSpPr>
        <p:spPr>
          <a:xfrm>
            <a:off x="3703320" y="162763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Data collection</a:t>
            </a:r>
            <a:endParaRPr lang="en-US" sz="1100" dirty="0"/>
          </a:p>
        </p:txBody>
      </p:sp>
      <p:sp>
        <p:nvSpPr>
          <p:cNvPr id="30" name="Shape 27"/>
          <p:cNvSpPr/>
          <p:nvPr/>
        </p:nvSpPr>
        <p:spPr>
          <a:xfrm>
            <a:off x="5334000" y="1627632"/>
            <a:ext cx="1630680" cy="731520"/>
          </a:xfrm>
          <a:prstGeom prst="roundRect">
            <a:avLst>
              <a:gd name="adj" fmla="val 10000"/>
            </a:avLst>
          </a:prstGeom>
          <a:solidFill>
            <a:srgbClr val="F4F7F5"/>
          </a:solidFill>
          <a:ln w="9525">
            <a:solidFill>
              <a:srgbClr val="D5DED9"/>
            </a:solidFill>
            <a:prstDash val="solid"/>
          </a:ln>
        </p:spPr>
      </p:sp>
      <p:sp>
        <p:nvSpPr>
          <p:cNvPr id="31" name="Text 28"/>
          <p:cNvSpPr txBox="1"/>
          <p:nvPr/>
        </p:nvSpPr>
        <p:spPr>
          <a:xfrm>
            <a:off x="5425440" y="162763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Data verification</a:t>
            </a:r>
            <a:endParaRPr lang="en-US" sz="1100" dirty="0"/>
          </a:p>
        </p:txBody>
      </p:sp>
      <p:sp>
        <p:nvSpPr>
          <p:cNvPr id="32" name="Shape 29"/>
          <p:cNvSpPr/>
          <p:nvPr/>
        </p:nvSpPr>
        <p:spPr>
          <a:xfrm>
            <a:off x="7056120" y="1627632"/>
            <a:ext cx="1630680" cy="731520"/>
          </a:xfrm>
          <a:prstGeom prst="roundRect">
            <a:avLst>
              <a:gd name="adj" fmla="val 10000"/>
            </a:avLst>
          </a:prstGeom>
          <a:solidFill>
            <a:srgbClr val="F4F7F5"/>
          </a:solidFill>
          <a:ln w="9525">
            <a:solidFill>
              <a:srgbClr val="D5DED9"/>
            </a:solidFill>
            <a:prstDash val="solid"/>
          </a:ln>
        </p:spPr>
      </p:sp>
      <p:sp>
        <p:nvSpPr>
          <p:cNvPr id="33" name="Text 30"/>
          <p:cNvSpPr txBox="1"/>
          <p:nvPr/>
        </p:nvSpPr>
        <p:spPr>
          <a:xfrm>
            <a:off x="7147560" y="162763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Configuration</a:t>
            </a:r>
            <a:endParaRPr lang="en-US" sz="1100" dirty="0"/>
          </a:p>
        </p:txBody>
      </p:sp>
      <p:sp>
        <p:nvSpPr>
          <p:cNvPr id="34" name="Shape 31"/>
          <p:cNvSpPr/>
          <p:nvPr/>
        </p:nvSpPr>
        <p:spPr>
          <a:xfrm>
            <a:off x="3611880" y="2450592"/>
            <a:ext cx="1630680" cy="731520"/>
          </a:xfrm>
          <a:prstGeom prst="roundRect">
            <a:avLst>
              <a:gd name="adj" fmla="val 10000"/>
            </a:avLst>
          </a:prstGeom>
          <a:solidFill>
            <a:srgbClr val="F4F7F5"/>
          </a:solidFill>
          <a:ln w="9525">
            <a:solidFill>
              <a:srgbClr val="D5DED9"/>
            </a:solidFill>
            <a:prstDash val="solid"/>
          </a:ln>
        </p:spPr>
      </p:sp>
      <p:sp>
        <p:nvSpPr>
          <p:cNvPr id="35" name="Text 32"/>
          <p:cNvSpPr txBox="1"/>
          <p:nvPr/>
        </p:nvSpPr>
        <p:spPr>
          <a:xfrm>
            <a:off x="3703320" y="245059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Feature extraction</a:t>
            </a:r>
            <a:endParaRPr lang="en-US" sz="1100" dirty="0"/>
          </a:p>
        </p:txBody>
      </p:sp>
      <p:sp>
        <p:nvSpPr>
          <p:cNvPr id="36" name="Shape 33"/>
          <p:cNvSpPr/>
          <p:nvPr/>
        </p:nvSpPr>
        <p:spPr>
          <a:xfrm>
            <a:off x="5692140" y="2615184"/>
            <a:ext cx="914400" cy="402336"/>
          </a:xfrm>
          <a:prstGeom prst="roundRect">
            <a:avLst>
              <a:gd name="adj" fmla="val 13636"/>
            </a:avLst>
          </a:prstGeom>
          <a:solidFill>
            <a:srgbClr val="00A86A"/>
          </a:solidFill>
          <a:ln/>
        </p:spPr>
      </p:sp>
      <p:sp>
        <p:nvSpPr>
          <p:cNvPr id="37" name="Text 34"/>
          <p:cNvSpPr txBox="1"/>
          <p:nvPr/>
        </p:nvSpPr>
        <p:spPr>
          <a:xfrm>
            <a:off x="5692140" y="2615184"/>
            <a:ext cx="91440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ML code</a:t>
            </a:r>
            <a:endParaRPr lang="en-US" sz="1100" dirty="0"/>
          </a:p>
        </p:txBody>
      </p:sp>
      <p:sp>
        <p:nvSpPr>
          <p:cNvPr id="38" name="Shape 35"/>
          <p:cNvSpPr/>
          <p:nvPr/>
        </p:nvSpPr>
        <p:spPr>
          <a:xfrm>
            <a:off x="7056120" y="2450592"/>
            <a:ext cx="1630680" cy="731520"/>
          </a:xfrm>
          <a:prstGeom prst="roundRect">
            <a:avLst>
              <a:gd name="adj" fmla="val 10000"/>
            </a:avLst>
          </a:prstGeom>
          <a:solidFill>
            <a:srgbClr val="F4F7F5"/>
          </a:solidFill>
          <a:ln w="9525">
            <a:solidFill>
              <a:srgbClr val="D5DED9"/>
            </a:solidFill>
            <a:prstDash val="solid"/>
          </a:ln>
        </p:spPr>
      </p:sp>
      <p:sp>
        <p:nvSpPr>
          <p:cNvPr id="39" name="Text 36"/>
          <p:cNvSpPr txBox="1"/>
          <p:nvPr/>
        </p:nvSpPr>
        <p:spPr>
          <a:xfrm>
            <a:off x="7147560" y="245059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Serving infrastructure</a:t>
            </a:r>
            <a:endParaRPr lang="en-US" sz="1100" dirty="0"/>
          </a:p>
        </p:txBody>
      </p:sp>
      <p:sp>
        <p:nvSpPr>
          <p:cNvPr id="40" name="Shape 37"/>
          <p:cNvSpPr/>
          <p:nvPr/>
        </p:nvSpPr>
        <p:spPr>
          <a:xfrm>
            <a:off x="3611880" y="3273552"/>
            <a:ext cx="1630680" cy="731520"/>
          </a:xfrm>
          <a:prstGeom prst="roundRect">
            <a:avLst>
              <a:gd name="adj" fmla="val 10000"/>
            </a:avLst>
          </a:prstGeom>
          <a:solidFill>
            <a:srgbClr val="F4F7F5"/>
          </a:solidFill>
          <a:ln w="9525">
            <a:solidFill>
              <a:srgbClr val="D5DED9"/>
            </a:solidFill>
            <a:prstDash val="solid"/>
          </a:ln>
        </p:spPr>
      </p:sp>
      <p:sp>
        <p:nvSpPr>
          <p:cNvPr id="41" name="Text 38"/>
          <p:cNvSpPr txBox="1"/>
          <p:nvPr/>
        </p:nvSpPr>
        <p:spPr>
          <a:xfrm>
            <a:off x="3703320" y="327355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Resource management</a:t>
            </a:r>
            <a:endParaRPr lang="en-US" sz="1100" dirty="0"/>
          </a:p>
        </p:txBody>
      </p:sp>
      <p:sp>
        <p:nvSpPr>
          <p:cNvPr id="42" name="Shape 39"/>
          <p:cNvSpPr/>
          <p:nvPr/>
        </p:nvSpPr>
        <p:spPr>
          <a:xfrm>
            <a:off x="5334000" y="3273552"/>
            <a:ext cx="1630680" cy="731520"/>
          </a:xfrm>
          <a:prstGeom prst="roundRect">
            <a:avLst>
              <a:gd name="adj" fmla="val 10000"/>
            </a:avLst>
          </a:prstGeom>
          <a:solidFill>
            <a:srgbClr val="F4F7F5"/>
          </a:solidFill>
          <a:ln w="9525">
            <a:solidFill>
              <a:srgbClr val="D5DED9"/>
            </a:solidFill>
            <a:prstDash val="solid"/>
          </a:ln>
        </p:spPr>
      </p:sp>
      <p:sp>
        <p:nvSpPr>
          <p:cNvPr id="43" name="Text 40"/>
          <p:cNvSpPr txBox="1"/>
          <p:nvPr/>
        </p:nvSpPr>
        <p:spPr>
          <a:xfrm>
            <a:off x="5425440" y="327355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Analysis &amp; evaluation tools</a:t>
            </a:r>
            <a:endParaRPr lang="en-US" sz="1100" dirty="0"/>
          </a:p>
        </p:txBody>
      </p:sp>
      <p:sp>
        <p:nvSpPr>
          <p:cNvPr id="44" name="Shape 41"/>
          <p:cNvSpPr/>
          <p:nvPr/>
        </p:nvSpPr>
        <p:spPr>
          <a:xfrm>
            <a:off x="7056120" y="3273552"/>
            <a:ext cx="1630680" cy="731520"/>
          </a:xfrm>
          <a:prstGeom prst="roundRect">
            <a:avLst>
              <a:gd name="adj" fmla="val 10000"/>
            </a:avLst>
          </a:prstGeom>
          <a:solidFill>
            <a:srgbClr val="F4F7F5"/>
          </a:solidFill>
          <a:ln w="9525">
            <a:solidFill>
              <a:srgbClr val="D5DED9"/>
            </a:solidFill>
            <a:prstDash val="solid"/>
          </a:ln>
        </p:spPr>
      </p:sp>
      <p:sp>
        <p:nvSpPr>
          <p:cNvPr id="45" name="Text 42"/>
          <p:cNvSpPr txBox="1"/>
          <p:nvPr/>
        </p:nvSpPr>
        <p:spPr>
          <a:xfrm>
            <a:off x="7147560" y="327355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Monitoring</a:t>
            </a:r>
            <a:endParaRPr lang="en-US" sz="1100" dirty="0"/>
          </a:p>
        </p:txBody>
      </p:sp>
      <p:sp>
        <p:nvSpPr>
          <p:cNvPr id="46" name="Shape 43"/>
          <p:cNvSpPr/>
          <p:nvPr/>
        </p:nvSpPr>
        <p:spPr>
          <a:xfrm>
            <a:off x="457200" y="4114800"/>
            <a:ext cx="8229600" cy="475488"/>
          </a:xfrm>
          <a:prstGeom prst="roundRect">
            <a:avLst>
              <a:gd name="adj" fmla="val 11538"/>
            </a:avLst>
          </a:prstGeom>
          <a:solidFill>
            <a:srgbClr val="E8F5EF"/>
          </a:solidFill>
          <a:ln w="15875">
            <a:solidFill>
              <a:srgbClr val="00A86A"/>
            </a:solidFill>
            <a:prstDash val="solid"/>
          </a:ln>
        </p:spPr>
      </p:sp>
      <p:sp>
        <p:nvSpPr>
          <p:cNvPr id="47" name="Shape 44"/>
          <p:cNvSpPr/>
          <p:nvPr/>
        </p:nvSpPr>
        <p:spPr>
          <a:xfrm>
            <a:off x="566928" y="4206240"/>
            <a:ext cx="292608" cy="292608"/>
          </a:xfrm>
          <a:prstGeom prst="ellipse">
            <a:avLst/>
          </a:prstGeom>
          <a:solidFill>
            <a:srgbClr val="00A86A">
              <a:alpha val="22000"/>
            </a:srgbClr>
          </a:solidFill>
          <a:ln/>
        </p:spPr>
      </p:sp>
      <p:pic>
        <p:nvPicPr>
          <p:cNvPr id="48" name="Image 0" descr="preencoded.png"/>
          <p:cNvPicPr>
            <a:picLocks noChangeAspect="1"/>
          </p:cNvPicPr>
          <p:nvPr/>
        </p:nvPicPr>
        <p:blipFill>
          <a:blip r:embed="rId3"/>
          <a:stretch>
            <a:fillRect/>
          </a:stretch>
        </p:blipFill>
        <p:spPr>
          <a:xfrm>
            <a:off x="637154" y="4276466"/>
            <a:ext cx="152156" cy="152156"/>
          </a:xfrm>
          <a:prstGeom prst="rect">
            <a:avLst/>
          </a:prstGeom>
        </p:spPr>
      </p:pic>
      <p:sp>
        <p:nvSpPr>
          <p:cNvPr id="49" name="Text 45"/>
          <p:cNvSpPr txBox="1"/>
          <p:nvPr/>
        </p:nvSpPr>
        <p:spPr>
          <a:xfrm>
            <a:off x="960120" y="4114800"/>
            <a:ext cx="7589520" cy="475488"/>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KEY POINT   </a:t>
            </a:r>
            <a:r>
              <a:rPr lang="en-US" sz="1000" dirty="0">
                <a:solidFill>
                  <a:srgbClr val="231F20"/>
                </a:solidFill>
                <a:latin typeface="Calibri" pitchFamily="34" charset="0"/>
                <a:ea typeface="Calibri" pitchFamily="34" charset="-122"/>
                <a:cs typeface="Calibri" pitchFamily="34" charset="-120"/>
              </a:rPr>
              <a:t>An AI capability is a platform, not a project: it needs recurrent funding, an owner and an operations team — and success is measured against the current manual process, not against perfection.</a:t>
            </a:r>
            <a:endParaRPr lang="en-US" sz="1000" dirty="0"/>
          </a:p>
        </p:txBody>
      </p:sp>
      <p:sp>
        <p:nvSpPr>
          <p:cNvPr id="50" name="Text 46"/>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Source: Sculley et al., "Hidden Technical Debt in Machine Learning Systems", NeurIPS 2015 (diagram adapted). Lead-time and effort ranges are planning heuristics.</a:t>
            </a:r>
            <a:endParaRPr lang="en-US" sz="8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USE CASES</a:t>
            </a:r>
            <a:endParaRPr lang="en-US" sz="1050" dirty="0"/>
          </a:p>
        </p:txBody>
      </p:sp>
      <p:sp>
        <p:nvSpPr>
          <p:cNvPr id="7" name="Shape 5"/>
          <p:cNvSpPr/>
          <p:nvPr/>
        </p:nvSpPr>
        <p:spPr>
          <a:xfrm>
            <a:off x="7658100" y="278892"/>
            <a:ext cx="118872" cy="118872"/>
          </a:xfrm>
          <a:prstGeom prst="ellipse">
            <a:avLst/>
          </a:prstGeom>
          <a:solidFill>
            <a:srgbClr val="00A86A"/>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Where AI earns its place in official statistics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Eight families of use case, ordered roughly by maturity across statistical offices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8" name="Shape 15"/>
          <p:cNvSpPr/>
          <p:nvPr/>
        </p:nvSpPr>
        <p:spPr>
          <a:xfrm>
            <a:off x="457200" y="1371600"/>
            <a:ext cx="1954530" cy="1312164"/>
          </a:xfrm>
          <a:prstGeom prst="roundRect">
            <a:avLst>
              <a:gd name="adj" fmla="val 5575"/>
            </a:avLst>
          </a:prstGeom>
          <a:solidFill>
            <a:srgbClr val="F4F7F5"/>
          </a:solidFill>
          <a:ln w="9525">
            <a:solidFill>
              <a:srgbClr val="D5DED9"/>
            </a:solidFill>
            <a:prstDash val="solid"/>
          </a:ln>
        </p:spPr>
      </p:sp>
      <p:sp>
        <p:nvSpPr>
          <p:cNvPr id="19" name="Shape 16"/>
          <p:cNvSpPr/>
          <p:nvPr/>
        </p:nvSpPr>
        <p:spPr>
          <a:xfrm>
            <a:off x="585216" y="1499616"/>
            <a:ext cx="329184" cy="329184"/>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64220" y="1578620"/>
            <a:ext cx="171176" cy="171176"/>
          </a:xfrm>
          <a:prstGeom prst="rect">
            <a:avLst/>
          </a:prstGeom>
        </p:spPr>
      </p:pic>
      <p:sp>
        <p:nvSpPr>
          <p:cNvPr id="21" name="Text 17"/>
          <p:cNvSpPr txBox="1"/>
          <p:nvPr/>
        </p:nvSpPr>
        <p:spPr>
          <a:xfrm>
            <a:off x="1024128" y="1499616"/>
            <a:ext cx="1277874"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Automatic coding</a:t>
            </a:r>
            <a:endParaRPr lang="en-US" sz="1150" dirty="0"/>
          </a:p>
        </p:txBody>
      </p:sp>
      <p:sp>
        <p:nvSpPr>
          <p:cNvPr id="22" name="Text 18"/>
          <p:cNvSpPr txBox="1"/>
          <p:nvPr/>
        </p:nvSpPr>
        <p:spPr>
          <a:xfrm>
            <a:off x="585216" y="1883664"/>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Free-text answers coded to ISCO, ISIC, COICOP, CPC or ICD classifications.</a:t>
            </a:r>
            <a:endParaRPr lang="en-US" sz="900" dirty="0"/>
          </a:p>
        </p:txBody>
      </p:sp>
      <p:sp>
        <p:nvSpPr>
          <p:cNvPr id="23" name="Shape 19"/>
          <p:cNvSpPr/>
          <p:nvPr/>
        </p:nvSpPr>
        <p:spPr>
          <a:xfrm>
            <a:off x="585216" y="2391156"/>
            <a:ext cx="1005840" cy="201168"/>
          </a:xfrm>
          <a:prstGeom prst="roundRect">
            <a:avLst>
              <a:gd name="adj" fmla="val 50000"/>
            </a:avLst>
          </a:prstGeom>
          <a:solidFill>
            <a:srgbClr val="00704A">
              <a:alpha val="15000"/>
            </a:srgbClr>
          </a:solidFill>
          <a:ln w="9525">
            <a:solidFill>
              <a:srgbClr val="00704A"/>
            </a:solidFill>
            <a:prstDash val="solid"/>
          </a:ln>
        </p:spPr>
      </p:sp>
      <p:sp>
        <p:nvSpPr>
          <p:cNvPr id="24" name="Text 20"/>
          <p:cNvSpPr txBox="1"/>
          <p:nvPr/>
        </p:nvSpPr>
        <p:spPr>
          <a:xfrm>
            <a:off x="585216" y="2391156"/>
            <a:ext cx="1005840" cy="201168"/>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Established</a:t>
            </a:r>
            <a:endParaRPr lang="en-US" sz="850" dirty="0"/>
          </a:p>
        </p:txBody>
      </p:sp>
      <p:sp>
        <p:nvSpPr>
          <p:cNvPr id="25" name="Shape 21"/>
          <p:cNvSpPr/>
          <p:nvPr/>
        </p:nvSpPr>
        <p:spPr>
          <a:xfrm>
            <a:off x="2548890" y="1371600"/>
            <a:ext cx="1954530" cy="1312164"/>
          </a:xfrm>
          <a:prstGeom prst="roundRect">
            <a:avLst>
              <a:gd name="adj" fmla="val 5575"/>
            </a:avLst>
          </a:prstGeom>
          <a:solidFill>
            <a:srgbClr val="F4F7F5"/>
          </a:solidFill>
          <a:ln w="9525">
            <a:solidFill>
              <a:srgbClr val="D5DED9"/>
            </a:solidFill>
            <a:prstDash val="solid"/>
          </a:ln>
        </p:spPr>
      </p:sp>
      <p:sp>
        <p:nvSpPr>
          <p:cNvPr id="26" name="Shape 22"/>
          <p:cNvSpPr/>
          <p:nvPr/>
        </p:nvSpPr>
        <p:spPr>
          <a:xfrm>
            <a:off x="2676906" y="1499616"/>
            <a:ext cx="329184" cy="329184"/>
          </a:xfrm>
          <a:prstGeom prst="ellipse">
            <a:avLst/>
          </a:prstGeom>
          <a:solidFill>
            <a:srgbClr val="00A86A">
              <a:alpha val="22000"/>
            </a:srgbClr>
          </a:solidFill>
          <a:ln/>
        </p:spPr>
      </p:sp>
      <p:pic>
        <p:nvPicPr>
          <p:cNvPr id="27" name="Image 1" descr="preencoded.png"/>
          <p:cNvPicPr>
            <a:picLocks noChangeAspect="1"/>
          </p:cNvPicPr>
          <p:nvPr/>
        </p:nvPicPr>
        <p:blipFill>
          <a:blip r:embed="rId4"/>
          <a:stretch>
            <a:fillRect/>
          </a:stretch>
        </p:blipFill>
        <p:spPr>
          <a:xfrm>
            <a:off x="2755910" y="1578620"/>
            <a:ext cx="171176" cy="171176"/>
          </a:xfrm>
          <a:prstGeom prst="rect">
            <a:avLst/>
          </a:prstGeom>
        </p:spPr>
      </p:pic>
      <p:sp>
        <p:nvSpPr>
          <p:cNvPr id="28" name="Text 23"/>
          <p:cNvSpPr txBox="1"/>
          <p:nvPr/>
        </p:nvSpPr>
        <p:spPr>
          <a:xfrm>
            <a:off x="3115818" y="1499616"/>
            <a:ext cx="1277874"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Web &amp; scanner data</a:t>
            </a:r>
            <a:endParaRPr lang="en-US" sz="1150" dirty="0"/>
          </a:p>
        </p:txBody>
      </p:sp>
      <p:sp>
        <p:nvSpPr>
          <p:cNvPr id="29" name="Text 24"/>
          <p:cNvSpPr txBox="1"/>
          <p:nvPr/>
        </p:nvSpPr>
        <p:spPr>
          <a:xfrm>
            <a:off x="2676906" y="1883664"/>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Online prices for the CPI, product matching to COICOP, online job adverts.</a:t>
            </a:r>
            <a:endParaRPr lang="en-US" sz="900" dirty="0"/>
          </a:p>
        </p:txBody>
      </p:sp>
      <p:sp>
        <p:nvSpPr>
          <p:cNvPr id="30" name="Shape 25"/>
          <p:cNvSpPr/>
          <p:nvPr/>
        </p:nvSpPr>
        <p:spPr>
          <a:xfrm>
            <a:off x="2676906" y="2391156"/>
            <a:ext cx="1005840" cy="201168"/>
          </a:xfrm>
          <a:prstGeom prst="roundRect">
            <a:avLst>
              <a:gd name="adj" fmla="val 50000"/>
            </a:avLst>
          </a:prstGeom>
          <a:solidFill>
            <a:srgbClr val="00704A">
              <a:alpha val="15000"/>
            </a:srgbClr>
          </a:solidFill>
          <a:ln w="9525">
            <a:solidFill>
              <a:srgbClr val="00704A"/>
            </a:solidFill>
            <a:prstDash val="solid"/>
          </a:ln>
        </p:spPr>
      </p:sp>
      <p:sp>
        <p:nvSpPr>
          <p:cNvPr id="31" name="Text 26"/>
          <p:cNvSpPr txBox="1"/>
          <p:nvPr/>
        </p:nvSpPr>
        <p:spPr>
          <a:xfrm>
            <a:off x="2676906" y="2391156"/>
            <a:ext cx="1005840" cy="201168"/>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Established</a:t>
            </a:r>
            <a:endParaRPr lang="en-US" sz="850" dirty="0"/>
          </a:p>
        </p:txBody>
      </p:sp>
      <p:sp>
        <p:nvSpPr>
          <p:cNvPr id="32" name="Shape 27"/>
          <p:cNvSpPr/>
          <p:nvPr/>
        </p:nvSpPr>
        <p:spPr>
          <a:xfrm>
            <a:off x="4640580" y="1371600"/>
            <a:ext cx="1954530" cy="1312164"/>
          </a:xfrm>
          <a:prstGeom prst="roundRect">
            <a:avLst>
              <a:gd name="adj" fmla="val 5575"/>
            </a:avLst>
          </a:prstGeom>
          <a:solidFill>
            <a:srgbClr val="F4F7F5"/>
          </a:solidFill>
          <a:ln w="9525">
            <a:solidFill>
              <a:srgbClr val="D5DED9"/>
            </a:solidFill>
            <a:prstDash val="solid"/>
          </a:ln>
        </p:spPr>
      </p:sp>
      <p:sp>
        <p:nvSpPr>
          <p:cNvPr id="33" name="Shape 28"/>
          <p:cNvSpPr/>
          <p:nvPr/>
        </p:nvSpPr>
        <p:spPr>
          <a:xfrm>
            <a:off x="4768596" y="1499616"/>
            <a:ext cx="329184" cy="329184"/>
          </a:xfrm>
          <a:prstGeom prst="ellipse">
            <a:avLst/>
          </a:prstGeom>
          <a:solidFill>
            <a:srgbClr val="00A86A">
              <a:alpha val="22000"/>
            </a:srgbClr>
          </a:solidFill>
          <a:ln/>
        </p:spPr>
      </p:sp>
      <p:pic>
        <p:nvPicPr>
          <p:cNvPr id="34" name="Image 2" descr="preencoded.png"/>
          <p:cNvPicPr>
            <a:picLocks noChangeAspect="1"/>
          </p:cNvPicPr>
          <p:nvPr/>
        </p:nvPicPr>
        <p:blipFill>
          <a:blip r:embed="rId5"/>
          <a:stretch>
            <a:fillRect/>
          </a:stretch>
        </p:blipFill>
        <p:spPr>
          <a:xfrm>
            <a:off x="4847600" y="1578620"/>
            <a:ext cx="171176" cy="171176"/>
          </a:xfrm>
          <a:prstGeom prst="rect">
            <a:avLst/>
          </a:prstGeom>
        </p:spPr>
      </p:pic>
      <p:sp>
        <p:nvSpPr>
          <p:cNvPr id="35" name="Text 29"/>
          <p:cNvSpPr txBox="1"/>
          <p:nvPr/>
        </p:nvSpPr>
        <p:spPr>
          <a:xfrm>
            <a:off x="5207508" y="1499616"/>
            <a:ext cx="1277874"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Record linkage</a:t>
            </a:r>
            <a:endParaRPr lang="en-US" sz="1150" dirty="0"/>
          </a:p>
        </p:txBody>
      </p:sp>
      <p:sp>
        <p:nvSpPr>
          <p:cNvPr id="36" name="Text 30"/>
          <p:cNvSpPr txBox="1"/>
          <p:nvPr/>
        </p:nvSpPr>
        <p:spPr>
          <a:xfrm>
            <a:off x="4768596" y="1883664"/>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Matching census, business registers and administrative files; deduplication.</a:t>
            </a:r>
            <a:endParaRPr lang="en-US" sz="900" dirty="0"/>
          </a:p>
        </p:txBody>
      </p:sp>
      <p:sp>
        <p:nvSpPr>
          <p:cNvPr id="37" name="Shape 31"/>
          <p:cNvSpPr/>
          <p:nvPr/>
        </p:nvSpPr>
        <p:spPr>
          <a:xfrm>
            <a:off x="4768596" y="2391156"/>
            <a:ext cx="1005840" cy="201168"/>
          </a:xfrm>
          <a:prstGeom prst="roundRect">
            <a:avLst>
              <a:gd name="adj" fmla="val 50000"/>
            </a:avLst>
          </a:prstGeom>
          <a:solidFill>
            <a:srgbClr val="00704A">
              <a:alpha val="15000"/>
            </a:srgbClr>
          </a:solidFill>
          <a:ln w="9525">
            <a:solidFill>
              <a:srgbClr val="00704A"/>
            </a:solidFill>
            <a:prstDash val="solid"/>
          </a:ln>
        </p:spPr>
      </p:sp>
      <p:sp>
        <p:nvSpPr>
          <p:cNvPr id="38" name="Text 32"/>
          <p:cNvSpPr txBox="1"/>
          <p:nvPr/>
        </p:nvSpPr>
        <p:spPr>
          <a:xfrm>
            <a:off x="4768596" y="2391156"/>
            <a:ext cx="1005840" cy="201168"/>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Established</a:t>
            </a:r>
            <a:endParaRPr lang="en-US" sz="850" dirty="0"/>
          </a:p>
        </p:txBody>
      </p:sp>
      <p:sp>
        <p:nvSpPr>
          <p:cNvPr id="39" name="Shape 33"/>
          <p:cNvSpPr/>
          <p:nvPr/>
        </p:nvSpPr>
        <p:spPr>
          <a:xfrm>
            <a:off x="6732270" y="1371600"/>
            <a:ext cx="1954530" cy="1312164"/>
          </a:xfrm>
          <a:prstGeom prst="roundRect">
            <a:avLst>
              <a:gd name="adj" fmla="val 5575"/>
            </a:avLst>
          </a:prstGeom>
          <a:solidFill>
            <a:srgbClr val="F4F7F5"/>
          </a:solidFill>
          <a:ln w="9525">
            <a:solidFill>
              <a:srgbClr val="D5DED9"/>
            </a:solidFill>
            <a:prstDash val="solid"/>
          </a:ln>
        </p:spPr>
      </p:sp>
      <p:sp>
        <p:nvSpPr>
          <p:cNvPr id="40" name="Shape 34"/>
          <p:cNvSpPr/>
          <p:nvPr/>
        </p:nvSpPr>
        <p:spPr>
          <a:xfrm>
            <a:off x="6860286" y="1499616"/>
            <a:ext cx="329184" cy="329184"/>
          </a:xfrm>
          <a:prstGeom prst="ellipse">
            <a:avLst/>
          </a:prstGeom>
          <a:solidFill>
            <a:srgbClr val="00A86A">
              <a:alpha val="22000"/>
            </a:srgbClr>
          </a:solidFill>
          <a:ln/>
        </p:spPr>
      </p:sp>
      <p:pic>
        <p:nvPicPr>
          <p:cNvPr id="41" name="Image 3" descr="preencoded.png"/>
          <p:cNvPicPr>
            <a:picLocks noChangeAspect="1"/>
          </p:cNvPicPr>
          <p:nvPr/>
        </p:nvPicPr>
        <p:blipFill>
          <a:blip r:embed="rId6"/>
          <a:stretch>
            <a:fillRect/>
          </a:stretch>
        </p:blipFill>
        <p:spPr>
          <a:xfrm>
            <a:off x="6939290" y="1578620"/>
            <a:ext cx="171176" cy="171176"/>
          </a:xfrm>
          <a:prstGeom prst="rect">
            <a:avLst/>
          </a:prstGeom>
        </p:spPr>
      </p:pic>
      <p:sp>
        <p:nvSpPr>
          <p:cNvPr id="42" name="Text 35"/>
          <p:cNvSpPr txBox="1"/>
          <p:nvPr/>
        </p:nvSpPr>
        <p:spPr>
          <a:xfrm>
            <a:off x="7299198" y="1499616"/>
            <a:ext cx="1277874"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Editing &amp; imputation</a:t>
            </a:r>
            <a:endParaRPr lang="en-US" sz="1150" dirty="0"/>
          </a:p>
        </p:txBody>
      </p:sp>
      <p:sp>
        <p:nvSpPr>
          <p:cNvPr id="43" name="Text 36"/>
          <p:cNvSpPr txBox="1"/>
          <p:nvPr/>
        </p:nvSpPr>
        <p:spPr>
          <a:xfrm>
            <a:off x="6860286" y="1883664"/>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Selective editing, outlier detection and model-based imputation.</a:t>
            </a:r>
            <a:endParaRPr lang="en-US" sz="900" dirty="0"/>
          </a:p>
        </p:txBody>
      </p:sp>
      <p:sp>
        <p:nvSpPr>
          <p:cNvPr id="44" name="Shape 37"/>
          <p:cNvSpPr/>
          <p:nvPr/>
        </p:nvSpPr>
        <p:spPr>
          <a:xfrm>
            <a:off x="6860286" y="2391156"/>
            <a:ext cx="1005840" cy="201168"/>
          </a:xfrm>
          <a:prstGeom prst="roundRect">
            <a:avLst>
              <a:gd name="adj" fmla="val 50000"/>
            </a:avLst>
          </a:prstGeom>
          <a:solidFill>
            <a:srgbClr val="00704A">
              <a:alpha val="15000"/>
            </a:srgbClr>
          </a:solidFill>
          <a:ln w="9525">
            <a:solidFill>
              <a:srgbClr val="00704A"/>
            </a:solidFill>
            <a:prstDash val="solid"/>
          </a:ln>
        </p:spPr>
      </p:sp>
      <p:sp>
        <p:nvSpPr>
          <p:cNvPr id="45" name="Text 38"/>
          <p:cNvSpPr txBox="1"/>
          <p:nvPr/>
        </p:nvSpPr>
        <p:spPr>
          <a:xfrm>
            <a:off x="6860286" y="2391156"/>
            <a:ext cx="1005840" cy="201168"/>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Established</a:t>
            </a:r>
            <a:endParaRPr lang="en-US" sz="850" dirty="0"/>
          </a:p>
        </p:txBody>
      </p:sp>
      <p:sp>
        <p:nvSpPr>
          <p:cNvPr id="46" name="Shape 39"/>
          <p:cNvSpPr/>
          <p:nvPr/>
        </p:nvSpPr>
        <p:spPr>
          <a:xfrm>
            <a:off x="457200" y="2820924"/>
            <a:ext cx="1954530" cy="1312164"/>
          </a:xfrm>
          <a:prstGeom prst="roundRect">
            <a:avLst>
              <a:gd name="adj" fmla="val 5575"/>
            </a:avLst>
          </a:prstGeom>
          <a:solidFill>
            <a:srgbClr val="F4F7F5"/>
          </a:solidFill>
          <a:ln w="9525">
            <a:solidFill>
              <a:srgbClr val="D5DED9"/>
            </a:solidFill>
            <a:prstDash val="solid"/>
          </a:ln>
        </p:spPr>
      </p:sp>
      <p:sp>
        <p:nvSpPr>
          <p:cNvPr id="47" name="Shape 40"/>
          <p:cNvSpPr/>
          <p:nvPr/>
        </p:nvSpPr>
        <p:spPr>
          <a:xfrm>
            <a:off x="585216" y="2948940"/>
            <a:ext cx="329184" cy="329184"/>
          </a:xfrm>
          <a:prstGeom prst="ellipse">
            <a:avLst/>
          </a:prstGeom>
          <a:solidFill>
            <a:srgbClr val="0E7C86">
              <a:alpha val="22000"/>
            </a:srgbClr>
          </a:solidFill>
          <a:ln/>
        </p:spPr>
      </p:sp>
      <p:pic>
        <p:nvPicPr>
          <p:cNvPr id="48" name="Image 4" descr="preencoded.png"/>
          <p:cNvPicPr>
            <a:picLocks noChangeAspect="1"/>
          </p:cNvPicPr>
          <p:nvPr/>
        </p:nvPicPr>
        <p:blipFill>
          <a:blip r:embed="rId7"/>
          <a:stretch>
            <a:fillRect/>
          </a:stretch>
        </p:blipFill>
        <p:spPr>
          <a:xfrm>
            <a:off x="664220" y="3027944"/>
            <a:ext cx="171176" cy="171176"/>
          </a:xfrm>
          <a:prstGeom prst="rect">
            <a:avLst/>
          </a:prstGeom>
        </p:spPr>
      </p:pic>
      <p:sp>
        <p:nvSpPr>
          <p:cNvPr id="49" name="Text 41"/>
          <p:cNvSpPr txBox="1"/>
          <p:nvPr/>
        </p:nvSpPr>
        <p:spPr>
          <a:xfrm>
            <a:off x="1024128" y="2948940"/>
            <a:ext cx="1277874"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Text &amp; documents</a:t>
            </a:r>
            <a:endParaRPr lang="en-US" sz="1150" dirty="0"/>
          </a:p>
        </p:txBody>
      </p:sp>
      <p:sp>
        <p:nvSpPr>
          <p:cNvPr id="50" name="Text 42"/>
          <p:cNvSpPr txBox="1"/>
          <p:nvPr/>
        </p:nvSpPr>
        <p:spPr>
          <a:xfrm>
            <a:off x="585216" y="3332988"/>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Survey open-ends, register enrichment and metadata generation.</a:t>
            </a:r>
            <a:endParaRPr lang="en-US" sz="900" dirty="0"/>
          </a:p>
        </p:txBody>
      </p:sp>
      <p:sp>
        <p:nvSpPr>
          <p:cNvPr id="51" name="Shape 43"/>
          <p:cNvSpPr/>
          <p:nvPr/>
        </p:nvSpPr>
        <p:spPr>
          <a:xfrm>
            <a:off x="585216" y="3840480"/>
            <a:ext cx="1005840" cy="201168"/>
          </a:xfrm>
          <a:prstGeom prst="roundRect">
            <a:avLst>
              <a:gd name="adj" fmla="val 50000"/>
            </a:avLst>
          </a:prstGeom>
          <a:solidFill>
            <a:srgbClr val="0E7C86">
              <a:alpha val="15000"/>
            </a:srgbClr>
          </a:solidFill>
          <a:ln w="9525">
            <a:solidFill>
              <a:srgbClr val="0E7C86"/>
            </a:solidFill>
            <a:prstDash val="solid"/>
          </a:ln>
        </p:spPr>
      </p:sp>
      <p:sp>
        <p:nvSpPr>
          <p:cNvPr id="52" name="Text 44"/>
          <p:cNvSpPr txBox="1"/>
          <p:nvPr/>
        </p:nvSpPr>
        <p:spPr>
          <a:xfrm>
            <a:off x="585216" y="3840480"/>
            <a:ext cx="1005840" cy="201168"/>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Emerging</a:t>
            </a:r>
            <a:endParaRPr lang="en-US" sz="850" dirty="0"/>
          </a:p>
        </p:txBody>
      </p:sp>
      <p:sp>
        <p:nvSpPr>
          <p:cNvPr id="53" name="Shape 45"/>
          <p:cNvSpPr/>
          <p:nvPr/>
        </p:nvSpPr>
        <p:spPr>
          <a:xfrm>
            <a:off x="2548890" y="2820924"/>
            <a:ext cx="1954530" cy="1312164"/>
          </a:xfrm>
          <a:prstGeom prst="roundRect">
            <a:avLst>
              <a:gd name="adj" fmla="val 5575"/>
            </a:avLst>
          </a:prstGeom>
          <a:solidFill>
            <a:srgbClr val="F4F7F5"/>
          </a:solidFill>
          <a:ln w="9525">
            <a:solidFill>
              <a:srgbClr val="D5DED9"/>
            </a:solidFill>
            <a:prstDash val="solid"/>
          </a:ln>
        </p:spPr>
      </p:sp>
      <p:sp>
        <p:nvSpPr>
          <p:cNvPr id="54" name="Shape 46"/>
          <p:cNvSpPr/>
          <p:nvPr/>
        </p:nvSpPr>
        <p:spPr>
          <a:xfrm>
            <a:off x="2676906" y="2948940"/>
            <a:ext cx="329184" cy="329184"/>
          </a:xfrm>
          <a:prstGeom prst="ellipse">
            <a:avLst/>
          </a:prstGeom>
          <a:solidFill>
            <a:srgbClr val="0E7C86">
              <a:alpha val="22000"/>
            </a:srgbClr>
          </a:solidFill>
          <a:ln/>
        </p:spPr>
      </p:sp>
      <p:pic>
        <p:nvPicPr>
          <p:cNvPr id="55" name="Image 5" descr="preencoded.png"/>
          <p:cNvPicPr>
            <a:picLocks noChangeAspect="1"/>
          </p:cNvPicPr>
          <p:nvPr/>
        </p:nvPicPr>
        <p:blipFill>
          <a:blip r:embed="rId8"/>
          <a:stretch>
            <a:fillRect/>
          </a:stretch>
        </p:blipFill>
        <p:spPr>
          <a:xfrm>
            <a:off x="2755910" y="3027944"/>
            <a:ext cx="171176" cy="171176"/>
          </a:xfrm>
          <a:prstGeom prst="rect">
            <a:avLst/>
          </a:prstGeom>
        </p:spPr>
      </p:pic>
      <p:sp>
        <p:nvSpPr>
          <p:cNvPr id="56" name="Text 47"/>
          <p:cNvSpPr txBox="1"/>
          <p:nvPr/>
        </p:nvSpPr>
        <p:spPr>
          <a:xfrm>
            <a:off x="3115818" y="2948940"/>
            <a:ext cx="1277874"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Imagery &amp; geospatial</a:t>
            </a:r>
            <a:endParaRPr lang="en-US" sz="1150" dirty="0"/>
          </a:p>
        </p:txBody>
      </p:sp>
      <p:sp>
        <p:nvSpPr>
          <p:cNvPr id="57" name="Text 48"/>
          <p:cNvSpPr txBox="1"/>
          <p:nvPr/>
        </p:nvSpPr>
        <p:spPr>
          <a:xfrm>
            <a:off x="2676906" y="3332988"/>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Building footprints for census mapping, land cover, crop area estimation.</a:t>
            </a:r>
            <a:endParaRPr lang="en-US" sz="900" dirty="0"/>
          </a:p>
        </p:txBody>
      </p:sp>
      <p:sp>
        <p:nvSpPr>
          <p:cNvPr id="58" name="Shape 49"/>
          <p:cNvSpPr/>
          <p:nvPr/>
        </p:nvSpPr>
        <p:spPr>
          <a:xfrm>
            <a:off x="2676906" y="3840480"/>
            <a:ext cx="1005840" cy="201168"/>
          </a:xfrm>
          <a:prstGeom prst="roundRect">
            <a:avLst>
              <a:gd name="adj" fmla="val 50000"/>
            </a:avLst>
          </a:prstGeom>
          <a:solidFill>
            <a:srgbClr val="0E7C86">
              <a:alpha val="15000"/>
            </a:srgbClr>
          </a:solidFill>
          <a:ln w="9525">
            <a:solidFill>
              <a:srgbClr val="0E7C86"/>
            </a:solidFill>
            <a:prstDash val="solid"/>
          </a:ln>
        </p:spPr>
      </p:sp>
      <p:sp>
        <p:nvSpPr>
          <p:cNvPr id="59" name="Text 50"/>
          <p:cNvSpPr txBox="1"/>
          <p:nvPr/>
        </p:nvSpPr>
        <p:spPr>
          <a:xfrm>
            <a:off x="2676906" y="3840480"/>
            <a:ext cx="1005840" cy="201168"/>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Emerging</a:t>
            </a:r>
            <a:endParaRPr lang="en-US" sz="850" dirty="0"/>
          </a:p>
        </p:txBody>
      </p:sp>
      <p:sp>
        <p:nvSpPr>
          <p:cNvPr id="60" name="Shape 51"/>
          <p:cNvSpPr/>
          <p:nvPr/>
        </p:nvSpPr>
        <p:spPr>
          <a:xfrm>
            <a:off x="4640580" y="2820924"/>
            <a:ext cx="1954530" cy="1312164"/>
          </a:xfrm>
          <a:prstGeom prst="roundRect">
            <a:avLst>
              <a:gd name="adj" fmla="val 5575"/>
            </a:avLst>
          </a:prstGeom>
          <a:solidFill>
            <a:srgbClr val="F4F7F5"/>
          </a:solidFill>
          <a:ln w="9525">
            <a:solidFill>
              <a:srgbClr val="D5DED9"/>
            </a:solidFill>
            <a:prstDash val="solid"/>
          </a:ln>
        </p:spPr>
      </p:sp>
      <p:sp>
        <p:nvSpPr>
          <p:cNvPr id="61" name="Shape 52"/>
          <p:cNvSpPr/>
          <p:nvPr/>
        </p:nvSpPr>
        <p:spPr>
          <a:xfrm>
            <a:off x="4768596" y="2948940"/>
            <a:ext cx="329184" cy="329184"/>
          </a:xfrm>
          <a:prstGeom prst="ellipse">
            <a:avLst/>
          </a:prstGeom>
          <a:solidFill>
            <a:srgbClr val="0E7C86">
              <a:alpha val="22000"/>
            </a:srgbClr>
          </a:solidFill>
          <a:ln/>
        </p:spPr>
      </p:sp>
      <p:pic>
        <p:nvPicPr>
          <p:cNvPr id="62" name="Image 6" descr="preencoded.png"/>
          <p:cNvPicPr>
            <a:picLocks noChangeAspect="1"/>
          </p:cNvPicPr>
          <p:nvPr/>
        </p:nvPicPr>
        <p:blipFill>
          <a:blip r:embed="rId9"/>
          <a:stretch>
            <a:fillRect/>
          </a:stretch>
        </p:blipFill>
        <p:spPr>
          <a:xfrm>
            <a:off x="4847600" y="3027944"/>
            <a:ext cx="171176" cy="171176"/>
          </a:xfrm>
          <a:prstGeom prst="rect">
            <a:avLst/>
          </a:prstGeom>
        </p:spPr>
      </p:pic>
      <p:sp>
        <p:nvSpPr>
          <p:cNvPr id="63" name="Text 53"/>
          <p:cNvSpPr txBox="1"/>
          <p:nvPr/>
        </p:nvSpPr>
        <p:spPr>
          <a:xfrm>
            <a:off x="5207508" y="2948940"/>
            <a:ext cx="1277874"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Assistive tooling</a:t>
            </a:r>
            <a:endParaRPr lang="en-US" sz="1150" dirty="0"/>
          </a:p>
        </p:txBody>
      </p:sp>
      <p:sp>
        <p:nvSpPr>
          <p:cNvPr id="64" name="Text 54"/>
          <p:cNvSpPr txBox="1"/>
          <p:nvPr/>
        </p:nvSpPr>
        <p:spPr>
          <a:xfrm>
            <a:off x="4768596" y="3332988"/>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Code assistance, drafting, translation and search over methodology.</a:t>
            </a:r>
            <a:endParaRPr lang="en-US" sz="900" dirty="0"/>
          </a:p>
        </p:txBody>
      </p:sp>
      <p:sp>
        <p:nvSpPr>
          <p:cNvPr id="65" name="Shape 55"/>
          <p:cNvSpPr/>
          <p:nvPr/>
        </p:nvSpPr>
        <p:spPr>
          <a:xfrm>
            <a:off x="4768596" y="3840480"/>
            <a:ext cx="1005840" cy="201168"/>
          </a:xfrm>
          <a:prstGeom prst="roundRect">
            <a:avLst>
              <a:gd name="adj" fmla="val 50000"/>
            </a:avLst>
          </a:prstGeom>
          <a:solidFill>
            <a:srgbClr val="0E7C86">
              <a:alpha val="15000"/>
            </a:srgbClr>
          </a:solidFill>
          <a:ln w="9525">
            <a:solidFill>
              <a:srgbClr val="0E7C86"/>
            </a:solidFill>
            <a:prstDash val="solid"/>
          </a:ln>
        </p:spPr>
      </p:sp>
      <p:sp>
        <p:nvSpPr>
          <p:cNvPr id="66" name="Text 56"/>
          <p:cNvSpPr txBox="1"/>
          <p:nvPr/>
        </p:nvSpPr>
        <p:spPr>
          <a:xfrm>
            <a:off x="4768596" y="3840480"/>
            <a:ext cx="1005840" cy="201168"/>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Emerging</a:t>
            </a:r>
            <a:endParaRPr lang="en-US" sz="850" dirty="0"/>
          </a:p>
        </p:txBody>
      </p:sp>
      <p:sp>
        <p:nvSpPr>
          <p:cNvPr id="67" name="Shape 57"/>
          <p:cNvSpPr/>
          <p:nvPr/>
        </p:nvSpPr>
        <p:spPr>
          <a:xfrm>
            <a:off x="6732270" y="2820924"/>
            <a:ext cx="1954530" cy="1312164"/>
          </a:xfrm>
          <a:prstGeom prst="roundRect">
            <a:avLst>
              <a:gd name="adj" fmla="val 5575"/>
            </a:avLst>
          </a:prstGeom>
          <a:solidFill>
            <a:srgbClr val="F4F7F5"/>
          </a:solidFill>
          <a:ln w="9525">
            <a:solidFill>
              <a:srgbClr val="D5DED9"/>
            </a:solidFill>
            <a:prstDash val="solid"/>
          </a:ln>
        </p:spPr>
      </p:sp>
      <p:sp>
        <p:nvSpPr>
          <p:cNvPr id="68" name="Shape 58"/>
          <p:cNvSpPr/>
          <p:nvPr/>
        </p:nvSpPr>
        <p:spPr>
          <a:xfrm>
            <a:off x="6860286" y="2948940"/>
            <a:ext cx="329184" cy="329184"/>
          </a:xfrm>
          <a:prstGeom prst="ellipse">
            <a:avLst/>
          </a:prstGeom>
          <a:solidFill>
            <a:srgbClr val="B83B2E">
              <a:alpha val="22000"/>
            </a:srgbClr>
          </a:solidFill>
          <a:ln/>
        </p:spPr>
      </p:sp>
      <p:pic>
        <p:nvPicPr>
          <p:cNvPr id="69" name="Image 7" descr="preencoded.png"/>
          <p:cNvPicPr>
            <a:picLocks noChangeAspect="1"/>
          </p:cNvPicPr>
          <p:nvPr/>
        </p:nvPicPr>
        <p:blipFill>
          <a:blip r:embed="rId10"/>
          <a:stretch>
            <a:fillRect/>
          </a:stretch>
        </p:blipFill>
        <p:spPr>
          <a:xfrm>
            <a:off x="6939290" y="3027944"/>
            <a:ext cx="171176" cy="171176"/>
          </a:xfrm>
          <a:prstGeom prst="rect">
            <a:avLst/>
          </a:prstGeom>
        </p:spPr>
      </p:pic>
      <p:sp>
        <p:nvSpPr>
          <p:cNvPr id="70" name="Text 59"/>
          <p:cNvSpPr txBox="1"/>
          <p:nvPr/>
        </p:nvSpPr>
        <p:spPr>
          <a:xfrm>
            <a:off x="7299198" y="2948940"/>
            <a:ext cx="1277874"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Confidentiality support</a:t>
            </a:r>
            <a:endParaRPr lang="en-US" sz="1150" dirty="0"/>
          </a:p>
        </p:txBody>
      </p:sp>
      <p:sp>
        <p:nvSpPr>
          <p:cNvPr id="71" name="Text 60"/>
          <p:cNvSpPr txBox="1"/>
          <p:nvPr/>
        </p:nvSpPr>
        <p:spPr>
          <a:xfrm>
            <a:off x="6860286" y="3332988"/>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Disclosure-risk assessment and synthetic data generation.</a:t>
            </a:r>
            <a:endParaRPr lang="en-US" sz="900" dirty="0"/>
          </a:p>
        </p:txBody>
      </p:sp>
      <p:sp>
        <p:nvSpPr>
          <p:cNvPr id="72" name="Shape 61"/>
          <p:cNvSpPr/>
          <p:nvPr/>
        </p:nvSpPr>
        <p:spPr>
          <a:xfrm>
            <a:off x="6860286" y="3840480"/>
            <a:ext cx="1097280" cy="201168"/>
          </a:xfrm>
          <a:prstGeom prst="roundRect">
            <a:avLst>
              <a:gd name="adj" fmla="val 50000"/>
            </a:avLst>
          </a:prstGeom>
          <a:solidFill>
            <a:srgbClr val="B83B2E">
              <a:alpha val="15000"/>
            </a:srgbClr>
          </a:solidFill>
          <a:ln w="9525">
            <a:solidFill>
              <a:srgbClr val="B83B2E"/>
            </a:solidFill>
            <a:prstDash val="solid"/>
          </a:ln>
        </p:spPr>
      </p:sp>
      <p:sp>
        <p:nvSpPr>
          <p:cNvPr id="73" name="Text 62"/>
          <p:cNvSpPr txBox="1"/>
          <p:nvPr/>
        </p:nvSpPr>
        <p:spPr>
          <a:xfrm>
            <a:off x="6860286" y="3840480"/>
            <a:ext cx="1097280" cy="201168"/>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Needs sign-off</a:t>
            </a:r>
            <a:endParaRPr lang="en-US" sz="850" dirty="0"/>
          </a:p>
        </p:txBody>
      </p:sp>
      <p:sp>
        <p:nvSpPr>
          <p:cNvPr id="74" name="Shape 63"/>
          <p:cNvSpPr/>
          <p:nvPr/>
        </p:nvSpPr>
        <p:spPr>
          <a:xfrm>
            <a:off x="457200" y="4224528"/>
            <a:ext cx="8229600" cy="384048"/>
          </a:xfrm>
          <a:prstGeom prst="roundRect">
            <a:avLst>
              <a:gd name="adj" fmla="val 14286"/>
            </a:avLst>
          </a:prstGeom>
          <a:solidFill>
            <a:srgbClr val="E8F5EF"/>
          </a:solidFill>
          <a:ln w="15875">
            <a:solidFill>
              <a:srgbClr val="00A86A"/>
            </a:solidFill>
            <a:prstDash val="solid"/>
          </a:ln>
        </p:spPr>
      </p:sp>
      <p:sp>
        <p:nvSpPr>
          <p:cNvPr id="75" name="Shape 64"/>
          <p:cNvSpPr/>
          <p:nvPr/>
        </p:nvSpPr>
        <p:spPr>
          <a:xfrm>
            <a:off x="566928" y="4270248"/>
            <a:ext cx="292608" cy="292608"/>
          </a:xfrm>
          <a:prstGeom prst="ellipse">
            <a:avLst/>
          </a:prstGeom>
          <a:solidFill>
            <a:srgbClr val="00A86A">
              <a:alpha val="22000"/>
            </a:srgbClr>
          </a:solidFill>
          <a:ln/>
        </p:spPr>
      </p:sp>
      <p:pic>
        <p:nvPicPr>
          <p:cNvPr id="76" name="Image 8" descr="preencoded.png"/>
          <p:cNvPicPr>
            <a:picLocks noChangeAspect="1"/>
          </p:cNvPicPr>
          <p:nvPr/>
        </p:nvPicPr>
        <p:blipFill>
          <a:blip r:embed="rId11"/>
          <a:stretch>
            <a:fillRect/>
          </a:stretch>
        </p:blipFill>
        <p:spPr>
          <a:xfrm>
            <a:off x="637154" y="4340474"/>
            <a:ext cx="152156" cy="152156"/>
          </a:xfrm>
          <a:prstGeom prst="rect">
            <a:avLst/>
          </a:prstGeom>
        </p:spPr>
      </p:pic>
      <p:sp>
        <p:nvSpPr>
          <p:cNvPr id="77" name="Text 65"/>
          <p:cNvSpPr txBox="1"/>
          <p:nvPr/>
        </p:nvSpPr>
        <p:spPr>
          <a:xfrm>
            <a:off x="960120" y="4224528"/>
            <a:ext cx="7589520" cy="384048"/>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KEY POINT   </a:t>
            </a:r>
            <a:r>
              <a:rPr lang="en-US" sz="1000" dirty="0">
                <a:solidFill>
                  <a:srgbClr val="231F20"/>
                </a:solidFill>
                <a:latin typeface="Calibri" pitchFamily="34" charset="0"/>
                <a:ea typeface="Calibri" pitchFamily="34" charset="-122"/>
                <a:cs typeface="Calibri" pitchFamily="34" charset="-120"/>
              </a:rPr>
              <a:t>Start where you already hold years of manually coded answers — usually coding and classification. It can be evaluated honestly on day one.</a:t>
            </a:r>
            <a:endParaRPr lang="en-US" sz="10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WORKED EXAMPLE</a:t>
            </a:r>
            <a:endParaRPr lang="en-US" sz="1050" dirty="0"/>
          </a:p>
        </p:txBody>
      </p:sp>
      <p:sp>
        <p:nvSpPr>
          <p:cNvPr id="7" name="Shape 5"/>
          <p:cNvSpPr/>
          <p:nvPr/>
        </p:nvSpPr>
        <p:spPr>
          <a:xfrm>
            <a:off x="7658100" y="278892"/>
            <a:ext cx="118872" cy="118872"/>
          </a:xfrm>
          <a:prstGeom prst="ellipse">
            <a:avLst/>
          </a:prstGeom>
          <a:solidFill>
            <a:srgbClr val="00A86A"/>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Worked example: coding occupations with AI</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Follow one census answer from questionnaire to published table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8" name="Shape 15"/>
          <p:cNvSpPr/>
          <p:nvPr/>
        </p:nvSpPr>
        <p:spPr>
          <a:xfrm>
            <a:off x="457200" y="1371600"/>
            <a:ext cx="1481328" cy="1691640"/>
          </a:xfrm>
          <a:prstGeom prst="roundRect">
            <a:avLst>
              <a:gd name="adj" fmla="val 4938"/>
            </a:avLst>
          </a:prstGeom>
          <a:solidFill>
            <a:srgbClr val="F4F7F5"/>
          </a:solidFill>
          <a:ln w="9525">
            <a:solidFill>
              <a:srgbClr val="D5DED9"/>
            </a:solidFill>
            <a:prstDash val="solid"/>
          </a:ln>
        </p:spPr>
      </p:sp>
      <p:sp>
        <p:nvSpPr>
          <p:cNvPr id="19" name="Shape 16"/>
          <p:cNvSpPr/>
          <p:nvPr/>
        </p:nvSpPr>
        <p:spPr>
          <a:xfrm>
            <a:off x="566928" y="1481328"/>
            <a:ext cx="347472" cy="347472"/>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50321" y="1564721"/>
            <a:ext cx="180685" cy="180685"/>
          </a:xfrm>
          <a:prstGeom prst="rect">
            <a:avLst/>
          </a:prstGeom>
        </p:spPr>
      </p:pic>
      <p:sp>
        <p:nvSpPr>
          <p:cNvPr id="21" name="Text 17"/>
          <p:cNvSpPr txBox="1"/>
          <p:nvPr/>
        </p:nvSpPr>
        <p:spPr>
          <a:xfrm>
            <a:off x="987552" y="1481328"/>
            <a:ext cx="877824" cy="347472"/>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1  Collect</a:t>
            </a:r>
            <a:endParaRPr lang="en-US" sz="1200" dirty="0"/>
          </a:p>
        </p:txBody>
      </p:sp>
      <p:sp>
        <p:nvSpPr>
          <p:cNvPr id="22" name="Text 18"/>
          <p:cNvSpPr txBox="1"/>
          <p:nvPr/>
        </p:nvSpPr>
        <p:spPr>
          <a:xfrm>
            <a:off x="566928" y="1901952"/>
            <a:ext cx="1261872" cy="228600"/>
          </a:xfrm>
          <a:prstGeom prst="rect">
            <a:avLst/>
          </a:prstGeom>
          <a:noFill/>
          <a:ln/>
        </p:spPr>
        <p:txBody>
          <a:bodyPr wrap="square" lIns="0" tIns="0" rIns="0" bIns="0" rtlCol="0" anchor="t"/>
          <a:lstStyle/>
          <a:p>
            <a:pPr marL="0" indent="0">
              <a:buNone/>
            </a:pPr>
            <a:r>
              <a:rPr lang="en-US" sz="950" b="1" dirty="0">
                <a:solidFill>
                  <a:srgbClr val="00704A"/>
                </a:solidFill>
                <a:latin typeface="Calibri" pitchFamily="34" charset="0"/>
                <a:ea typeface="Calibri" pitchFamily="34" charset="-122"/>
                <a:cs typeface="Calibri" pitchFamily="34" charset="-120"/>
              </a:rPr>
              <a:t>Free-text answer</a:t>
            </a:r>
            <a:endParaRPr lang="en-US" sz="950" dirty="0"/>
          </a:p>
        </p:txBody>
      </p:sp>
      <p:sp>
        <p:nvSpPr>
          <p:cNvPr id="23" name="Shape 19"/>
          <p:cNvSpPr/>
          <p:nvPr/>
        </p:nvSpPr>
        <p:spPr>
          <a:xfrm>
            <a:off x="548640" y="2176272"/>
            <a:ext cx="1298448" cy="786384"/>
          </a:xfrm>
          <a:prstGeom prst="roundRect">
            <a:avLst>
              <a:gd name="adj" fmla="val 4651"/>
            </a:avLst>
          </a:prstGeom>
          <a:solidFill>
            <a:srgbClr val="FFFFFF"/>
          </a:solidFill>
          <a:ln w="6350">
            <a:solidFill>
              <a:srgbClr val="D5DED9"/>
            </a:solidFill>
            <a:prstDash val="solid"/>
          </a:ln>
        </p:spPr>
      </p:sp>
      <p:sp>
        <p:nvSpPr>
          <p:cNvPr id="24" name="Text 20"/>
          <p:cNvSpPr txBox="1"/>
          <p:nvPr/>
        </p:nvSpPr>
        <p:spPr>
          <a:xfrm>
            <a:off x="603504" y="2194560"/>
            <a:ext cx="1188720" cy="749808"/>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"teaches children at the village primary school"</a:t>
            </a:r>
            <a:endParaRPr lang="en-US" sz="850" dirty="0"/>
          </a:p>
        </p:txBody>
      </p:sp>
      <p:sp>
        <p:nvSpPr>
          <p:cNvPr id="25" name="Shape 21"/>
          <p:cNvSpPr/>
          <p:nvPr/>
        </p:nvSpPr>
        <p:spPr>
          <a:xfrm>
            <a:off x="1956816" y="2212848"/>
            <a:ext cx="169164" cy="0"/>
          </a:xfrm>
          <a:prstGeom prst="line">
            <a:avLst/>
          </a:prstGeom>
          <a:noFill/>
          <a:ln w="15875">
            <a:solidFill>
              <a:srgbClr val="5E6964"/>
            </a:solidFill>
            <a:prstDash val="solid"/>
            <a:tailEnd type="triangle"/>
          </a:ln>
        </p:spPr>
      </p:sp>
      <p:sp>
        <p:nvSpPr>
          <p:cNvPr id="26" name="Shape 22"/>
          <p:cNvSpPr/>
          <p:nvPr/>
        </p:nvSpPr>
        <p:spPr>
          <a:xfrm>
            <a:off x="2144268" y="1371600"/>
            <a:ext cx="1481328" cy="1691640"/>
          </a:xfrm>
          <a:prstGeom prst="roundRect">
            <a:avLst>
              <a:gd name="adj" fmla="val 4938"/>
            </a:avLst>
          </a:prstGeom>
          <a:solidFill>
            <a:srgbClr val="F4F7F5"/>
          </a:solidFill>
          <a:ln w="9525">
            <a:solidFill>
              <a:srgbClr val="D5DED9"/>
            </a:solidFill>
            <a:prstDash val="solid"/>
          </a:ln>
        </p:spPr>
      </p:sp>
      <p:sp>
        <p:nvSpPr>
          <p:cNvPr id="27" name="Shape 23"/>
          <p:cNvSpPr/>
          <p:nvPr/>
        </p:nvSpPr>
        <p:spPr>
          <a:xfrm>
            <a:off x="2253996" y="1481328"/>
            <a:ext cx="347472" cy="347472"/>
          </a:xfrm>
          <a:prstGeom prst="ellipse">
            <a:avLst/>
          </a:prstGeom>
          <a:solidFill>
            <a:srgbClr val="00A86A">
              <a:alpha val="22000"/>
            </a:srgbClr>
          </a:solidFill>
          <a:ln/>
        </p:spPr>
      </p:sp>
      <p:pic>
        <p:nvPicPr>
          <p:cNvPr id="28" name="Image 1" descr="preencoded.png"/>
          <p:cNvPicPr>
            <a:picLocks noChangeAspect="1"/>
          </p:cNvPicPr>
          <p:nvPr/>
        </p:nvPicPr>
        <p:blipFill>
          <a:blip r:embed="rId4"/>
          <a:stretch>
            <a:fillRect/>
          </a:stretch>
        </p:blipFill>
        <p:spPr>
          <a:xfrm>
            <a:off x="2337389" y="1564721"/>
            <a:ext cx="180685" cy="180685"/>
          </a:xfrm>
          <a:prstGeom prst="rect">
            <a:avLst/>
          </a:prstGeom>
        </p:spPr>
      </p:pic>
      <p:sp>
        <p:nvSpPr>
          <p:cNvPr id="29" name="Text 24"/>
          <p:cNvSpPr txBox="1"/>
          <p:nvPr/>
        </p:nvSpPr>
        <p:spPr>
          <a:xfrm>
            <a:off x="2674620" y="1481328"/>
            <a:ext cx="877824" cy="347472"/>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2  Clean</a:t>
            </a:r>
            <a:endParaRPr lang="en-US" sz="1200" dirty="0"/>
          </a:p>
        </p:txBody>
      </p:sp>
      <p:sp>
        <p:nvSpPr>
          <p:cNvPr id="30" name="Text 25"/>
          <p:cNvSpPr txBox="1"/>
          <p:nvPr/>
        </p:nvSpPr>
        <p:spPr>
          <a:xfrm>
            <a:off x="2253996" y="1901952"/>
            <a:ext cx="1261872" cy="228600"/>
          </a:xfrm>
          <a:prstGeom prst="rect">
            <a:avLst/>
          </a:prstGeom>
          <a:noFill/>
          <a:ln/>
        </p:spPr>
        <p:txBody>
          <a:bodyPr wrap="square" lIns="0" tIns="0" rIns="0" bIns="0" rtlCol="0" anchor="t"/>
          <a:lstStyle/>
          <a:p>
            <a:pPr marL="0" indent="0">
              <a:buNone/>
            </a:pPr>
            <a:r>
              <a:rPr lang="en-US" sz="950" b="1" dirty="0">
                <a:solidFill>
                  <a:srgbClr val="00704A"/>
                </a:solidFill>
                <a:latin typeface="Calibri" pitchFamily="34" charset="0"/>
                <a:ea typeface="Calibri" pitchFamily="34" charset="-122"/>
                <a:cs typeface="Calibri" pitchFamily="34" charset="-120"/>
              </a:rPr>
              <a:t>Normalise text</a:t>
            </a:r>
            <a:endParaRPr lang="en-US" sz="950" dirty="0"/>
          </a:p>
        </p:txBody>
      </p:sp>
      <p:sp>
        <p:nvSpPr>
          <p:cNvPr id="31" name="Shape 26"/>
          <p:cNvSpPr/>
          <p:nvPr/>
        </p:nvSpPr>
        <p:spPr>
          <a:xfrm>
            <a:off x="2235708" y="2176272"/>
            <a:ext cx="1298448" cy="786384"/>
          </a:xfrm>
          <a:prstGeom prst="roundRect">
            <a:avLst>
              <a:gd name="adj" fmla="val 4651"/>
            </a:avLst>
          </a:prstGeom>
          <a:solidFill>
            <a:srgbClr val="FFFFFF"/>
          </a:solidFill>
          <a:ln w="6350">
            <a:solidFill>
              <a:srgbClr val="D5DED9"/>
            </a:solidFill>
            <a:prstDash val="solid"/>
          </a:ln>
        </p:spPr>
      </p:sp>
      <p:sp>
        <p:nvSpPr>
          <p:cNvPr id="32" name="Text 27"/>
          <p:cNvSpPr txBox="1"/>
          <p:nvPr/>
        </p:nvSpPr>
        <p:spPr>
          <a:xfrm>
            <a:off x="2290572" y="2194560"/>
            <a:ext cx="1188720" cy="749808"/>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lower-case, fix spelling, remove personal details</a:t>
            </a:r>
            <a:endParaRPr lang="en-US" sz="850" dirty="0"/>
          </a:p>
        </p:txBody>
      </p:sp>
      <p:sp>
        <p:nvSpPr>
          <p:cNvPr id="33" name="Shape 28"/>
          <p:cNvSpPr/>
          <p:nvPr/>
        </p:nvSpPr>
        <p:spPr>
          <a:xfrm>
            <a:off x="3643884" y="2212848"/>
            <a:ext cx="169164" cy="0"/>
          </a:xfrm>
          <a:prstGeom prst="line">
            <a:avLst/>
          </a:prstGeom>
          <a:noFill/>
          <a:ln w="15875">
            <a:solidFill>
              <a:srgbClr val="5E6964"/>
            </a:solidFill>
            <a:prstDash val="solid"/>
            <a:tailEnd type="triangle"/>
          </a:ln>
        </p:spPr>
      </p:sp>
      <p:sp>
        <p:nvSpPr>
          <p:cNvPr id="34" name="Shape 29"/>
          <p:cNvSpPr/>
          <p:nvPr/>
        </p:nvSpPr>
        <p:spPr>
          <a:xfrm>
            <a:off x="3831336" y="1371600"/>
            <a:ext cx="1481328" cy="1691640"/>
          </a:xfrm>
          <a:prstGeom prst="roundRect">
            <a:avLst>
              <a:gd name="adj" fmla="val 4938"/>
            </a:avLst>
          </a:prstGeom>
          <a:solidFill>
            <a:srgbClr val="F4F7F5"/>
          </a:solidFill>
          <a:ln w="9525">
            <a:solidFill>
              <a:srgbClr val="D5DED9"/>
            </a:solidFill>
            <a:prstDash val="solid"/>
          </a:ln>
        </p:spPr>
      </p:sp>
      <p:sp>
        <p:nvSpPr>
          <p:cNvPr id="35" name="Shape 30"/>
          <p:cNvSpPr/>
          <p:nvPr/>
        </p:nvSpPr>
        <p:spPr>
          <a:xfrm>
            <a:off x="3941064" y="1481328"/>
            <a:ext cx="347472" cy="347472"/>
          </a:xfrm>
          <a:prstGeom prst="ellipse">
            <a:avLst/>
          </a:prstGeom>
          <a:solidFill>
            <a:srgbClr val="00A86A">
              <a:alpha val="22000"/>
            </a:srgbClr>
          </a:solidFill>
          <a:ln/>
        </p:spPr>
      </p:sp>
      <p:pic>
        <p:nvPicPr>
          <p:cNvPr id="36" name="Image 2" descr="preencoded.png"/>
          <p:cNvPicPr>
            <a:picLocks noChangeAspect="1"/>
          </p:cNvPicPr>
          <p:nvPr/>
        </p:nvPicPr>
        <p:blipFill>
          <a:blip r:embed="rId5"/>
          <a:stretch>
            <a:fillRect/>
          </a:stretch>
        </p:blipFill>
        <p:spPr>
          <a:xfrm>
            <a:off x="4024457" y="1564721"/>
            <a:ext cx="180685" cy="180685"/>
          </a:xfrm>
          <a:prstGeom prst="rect">
            <a:avLst/>
          </a:prstGeom>
        </p:spPr>
      </p:pic>
      <p:sp>
        <p:nvSpPr>
          <p:cNvPr id="37" name="Text 31"/>
          <p:cNvSpPr txBox="1"/>
          <p:nvPr/>
        </p:nvSpPr>
        <p:spPr>
          <a:xfrm>
            <a:off x="4361688" y="1481328"/>
            <a:ext cx="877824" cy="347472"/>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3  Predict</a:t>
            </a:r>
            <a:endParaRPr lang="en-US" sz="1200" dirty="0"/>
          </a:p>
        </p:txBody>
      </p:sp>
      <p:sp>
        <p:nvSpPr>
          <p:cNvPr id="38" name="Text 32"/>
          <p:cNvSpPr txBox="1"/>
          <p:nvPr/>
        </p:nvSpPr>
        <p:spPr>
          <a:xfrm>
            <a:off x="3941064" y="1901952"/>
            <a:ext cx="1261872" cy="228600"/>
          </a:xfrm>
          <a:prstGeom prst="rect">
            <a:avLst/>
          </a:prstGeom>
          <a:noFill/>
          <a:ln/>
        </p:spPr>
        <p:txBody>
          <a:bodyPr wrap="square" lIns="0" tIns="0" rIns="0" bIns="0" rtlCol="0" anchor="t"/>
          <a:lstStyle/>
          <a:p>
            <a:pPr marL="0" indent="0">
              <a:buNone/>
            </a:pPr>
            <a:r>
              <a:rPr lang="en-US" sz="950" b="1" dirty="0">
                <a:solidFill>
                  <a:srgbClr val="00704A"/>
                </a:solidFill>
                <a:latin typeface="Calibri" pitchFamily="34" charset="0"/>
                <a:ea typeface="Calibri" pitchFamily="34" charset="-122"/>
                <a:cs typeface="Calibri" pitchFamily="34" charset="-120"/>
              </a:rPr>
              <a:t>Model proposes a code</a:t>
            </a:r>
            <a:endParaRPr lang="en-US" sz="950" dirty="0"/>
          </a:p>
        </p:txBody>
      </p:sp>
      <p:sp>
        <p:nvSpPr>
          <p:cNvPr id="39" name="Shape 33"/>
          <p:cNvSpPr/>
          <p:nvPr/>
        </p:nvSpPr>
        <p:spPr>
          <a:xfrm>
            <a:off x="3922776" y="2176272"/>
            <a:ext cx="1298448" cy="786384"/>
          </a:xfrm>
          <a:prstGeom prst="roundRect">
            <a:avLst>
              <a:gd name="adj" fmla="val 4651"/>
            </a:avLst>
          </a:prstGeom>
          <a:solidFill>
            <a:srgbClr val="FFFFFF"/>
          </a:solidFill>
          <a:ln w="6350">
            <a:solidFill>
              <a:srgbClr val="D5DED9"/>
            </a:solidFill>
            <a:prstDash val="solid"/>
          </a:ln>
        </p:spPr>
      </p:sp>
      <p:sp>
        <p:nvSpPr>
          <p:cNvPr id="40" name="Text 34"/>
          <p:cNvSpPr txBox="1"/>
          <p:nvPr/>
        </p:nvSpPr>
        <p:spPr>
          <a:xfrm>
            <a:off x="3977640" y="2194560"/>
            <a:ext cx="1188720" cy="749808"/>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ISCO-08 2341</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confidence 0.96</a:t>
            </a:r>
            <a:endParaRPr lang="en-US" sz="850" dirty="0"/>
          </a:p>
        </p:txBody>
      </p:sp>
      <p:sp>
        <p:nvSpPr>
          <p:cNvPr id="41" name="Shape 35"/>
          <p:cNvSpPr/>
          <p:nvPr/>
        </p:nvSpPr>
        <p:spPr>
          <a:xfrm>
            <a:off x="5330952" y="2212848"/>
            <a:ext cx="169164" cy="0"/>
          </a:xfrm>
          <a:prstGeom prst="line">
            <a:avLst/>
          </a:prstGeom>
          <a:noFill/>
          <a:ln w="15875">
            <a:solidFill>
              <a:srgbClr val="5E6964"/>
            </a:solidFill>
            <a:prstDash val="solid"/>
            <a:tailEnd type="triangle"/>
          </a:ln>
        </p:spPr>
      </p:sp>
      <p:sp>
        <p:nvSpPr>
          <p:cNvPr id="42" name="Shape 36"/>
          <p:cNvSpPr/>
          <p:nvPr/>
        </p:nvSpPr>
        <p:spPr>
          <a:xfrm>
            <a:off x="5518404" y="1371600"/>
            <a:ext cx="1481328" cy="1691640"/>
          </a:xfrm>
          <a:prstGeom prst="roundRect">
            <a:avLst>
              <a:gd name="adj" fmla="val 4938"/>
            </a:avLst>
          </a:prstGeom>
          <a:solidFill>
            <a:srgbClr val="E8F5EF"/>
          </a:solidFill>
          <a:ln w="15875">
            <a:solidFill>
              <a:srgbClr val="00A86A"/>
            </a:solidFill>
            <a:prstDash val="solid"/>
          </a:ln>
        </p:spPr>
      </p:sp>
      <p:sp>
        <p:nvSpPr>
          <p:cNvPr id="43" name="Shape 37"/>
          <p:cNvSpPr/>
          <p:nvPr/>
        </p:nvSpPr>
        <p:spPr>
          <a:xfrm>
            <a:off x="5628132" y="1481328"/>
            <a:ext cx="347472" cy="347472"/>
          </a:xfrm>
          <a:prstGeom prst="ellipse">
            <a:avLst/>
          </a:prstGeom>
          <a:solidFill>
            <a:srgbClr val="00A86A">
              <a:alpha val="22000"/>
            </a:srgbClr>
          </a:solidFill>
          <a:ln/>
        </p:spPr>
      </p:sp>
      <p:pic>
        <p:nvPicPr>
          <p:cNvPr id="44" name="Image 3" descr="preencoded.png"/>
          <p:cNvPicPr>
            <a:picLocks noChangeAspect="1"/>
          </p:cNvPicPr>
          <p:nvPr/>
        </p:nvPicPr>
        <p:blipFill>
          <a:blip r:embed="rId6"/>
          <a:stretch>
            <a:fillRect/>
          </a:stretch>
        </p:blipFill>
        <p:spPr>
          <a:xfrm>
            <a:off x="5711525" y="1564721"/>
            <a:ext cx="180685" cy="180685"/>
          </a:xfrm>
          <a:prstGeom prst="rect">
            <a:avLst/>
          </a:prstGeom>
        </p:spPr>
      </p:pic>
      <p:sp>
        <p:nvSpPr>
          <p:cNvPr id="45" name="Text 38"/>
          <p:cNvSpPr txBox="1"/>
          <p:nvPr/>
        </p:nvSpPr>
        <p:spPr>
          <a:xfrm>
            <a:off x="6048756" y="1481328"/>
            <a:ext cx="877824" cy="347472"/>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4  Route</a:t>
            </a:r>
            <a:endParaRPr lang="en-US" sz="1200" dirty="0"/>
          </a:p>
        </p:txBody>
      </p:sp>
      <p:sp>
        <p:nvSpPr>
          <p:cNvPr id="46" name="Text 39"/>
          <p:cNvSpPr txBox="1"/>
          <p:nvPr/>
        </p:nvSpPr>
        <p:spPr>
          <a:xfrm>
            <a:off x="5628132" y="1901952"/>
            <a:ext cx="1261872" cy="228600"/>
          </a:xfrm>
          <a:prstGeom prst="rect">
            <a:avLst/>
          </a:prstGeom>
          <a:noFill/>
          <a:ln/>
        </p:spPr>
        <p:txBody>
          <a:bodyPr wrap="square" lIns="0" tIns="0" rIns="0" bIns="0" rtlCol="0" anchor="t"/>
          <a:lstStyle/>
          <a:p>
            <a:pPr marL="0" indent="0">
              <a:buNone/>
            </a:pPr>
            <a:r>
              <a:rPr lang="en-US" sz="950" b="1" dirty="0">
                <a:solidFill>
                  <a:srgbClr val="00704A"/>
                </a:solidFill>
                <a:latin typeface="Calibri" pitchFamily="34" charset="0"/>
                <a:ea typeface="Calibri" pitchFamily="34" charset="-122"/>
                <a:cs typeface="Calibri" pitchFamily="34" charset="-120"/>
              </a:rPr>
              <a:t>Compare with threshold</a:t>
            </a:r>
            <a:endParaRPr lang="en-US" sz="950" dirty="0"/>
          </a:p>
        </p:txBody>
      </p:sp>
      <p:sp>
        <p:nvSpPr>
          <p:cNvPr id="47" name="Shape 40"/>
          <p:cNvSpPr/>
          <p:nvPr/>
        </p:nvSpPr>
        <p:spPr>
          <a:xfrm>
            <a:off x="5609844" y="2176272"/>
            <a:ext cx="1298448" cy="786384"/>
          </a:xfrm>
          <a:prstGeom prst="roundRect">
            <a:avLst>
              <a:gd name="adj" fmla="val 4651"/>
            </a:avLst>
          </a:prstGeom>
          <a:solidFill>
            <a:srgbClr val="FFFFFF"/>
          </a:solidFill>
          <a:ln w="6350">
            <a:solidFill>
              <a:srgbClr val="D5DED9"/>
            </a:solidFill>
            <a:prstDash val="solid"/>
          </a:ln>
        </p:spPr>
      </p:sp>
      <p:sp>
        <p:nvSpPr>
          <p:cNvPr id="48" name="Text 41"/>
          <p:cNvSpPr txBox="1"/>
          <p:nvPr/>
        </p:nvSpPr>
        <p:spPr>
          <a:xfrm>
            <a:off x="5664708" y="2194560"/>
            <a:ext cx="1188720" cy="749808"/>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 0.90 → accept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&lt; 0.90 → human coder</a:t>
            </a:r>
            <a:endParaRPr lang="en-US" sz="850" dirty="0"/>
          </a:p>
        </p:txBody>
      </p:sp>
      <p:sp>
        <p:nvSpPr>
          <p:cNvPr id="49" name="Shape 42"/>
          <p:cNvSpPr/>
          <p:nvPr/>
        </p:nvSpPr>
        <p:spPr>
          <a:xfrm>
            <a:off x="7018020" y="2212848"/>
            <a:ext cx="169164" cy="0"/>
          </a:xfrm>
          <a:prstGeom prst="line">
            <a:avLst/>
          </a:prstGeom>
          <a:noFill/>
          <a:ln w="15875">
            <a:solidFill>
              <a:srgbClr val="5E6964"/>
            </a:solidFill>
            <a:prstDash val="solid"/>
            <a:tailEnd type="triangle"/>
          </a:ln>
        </p:spPr>
      </p:sp>
      <p:sp>
        <p:nvSpPr>
          <p:cNvPr id="50" name="Shape 43"/>
          <p:cNvSpPr/>
          <p:nvPr/>
        </p:nvSpPr>
        <p:spPr>
          <a:xfrm>
            <a:off x="7205472" y="1371600"/>
            <a:ext cx="1481328" cy="1691640"/>
          </a:xfrm>
          <a:prstGeom prst="roundRect">
            <a:avLst>
              <a:gd name="adj" fmla="val 4938"/>
            </a:avLst>
          </a:prstGeom>
          <a:solidFill>
            <a:srgbClr val="F4F7F5"/>
          </a:solidFill>
          <a:ln w="9525">
            <a:solidFill>
              <a:srgbClr val="D5DED9"/>
            </a:solidFill>
            <a:prstDash val="solid"/>
          </a:ln>
        </p:spPr>
      </p:sp>
      <p:sp>
        <p:nvSpPr>
          <p:cNvPr id="51" name="Shape 44"/>
          <p:cNvSpPr/>
          <p:nvPr/>
        </p:nvSpPr>
        <p:spPr>
          <a:xfrm>
            <a:off x="7315200" y="1481328"/>
            <a:ext cx="347472" cy="347472"/>
          </a:xfrm>
          <a:prstGeom prst="ellipse">
            <a:avLst/>
          </a:prstGeom>
          <a:solidFill>
            <a:srgbClr val="00A86A">
              <a:alpha val="22000"/>
            </a:srgbClr>
          </a:solidFill>
          <a:ln/>
        </p:spPr>
      </p:sp>
      <p:pic>
        <p:nvPicPr>
          <p:cNvPr id="52" name="Image 4" descr="preencoded.png"/>
          <p:cNvPicPr>
            <a:picLocks noChangeAspect="1"/>
          </p:cNvPicPr>
          <p:nvPr/>
        </p:nvPicPr>
        <p:blipFill>
          <a:blip r:embed="rId7"/>
          <a:stretch>
            <a:fillRect/>
          </a:stretch>
        </p:blipFill>
        <p:spPr>
          <a:xfrm>
            <a:off x="7398593" y="1564721"/>
            <a:ext cx="180685" cy="180685"/>
          </a:xfrm>
          <a:prstGeom prst="rect">
            <a:avLst/>
          </a:prstGeom>
        </p:spPr>
      </p:pic>
      <p:sp>
        <p:nvSpPr>
          <p:cNvPr id="53" name="Text 45"/>
          <p:cNvSpPr txBox="1"/>
          <p:nvPr/>
        </p:nvSpPr>
        <p:spPr>
          <a:xfrm>
            <a:off x="7735824" y="1481328"/>
            <a:ext cx="877824" cy="347472"/>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5  Check</a:t>
            </a:r>
            <a:endParaRPr lang="en-US" sz="1200" dirty="0"/>
          </a:p>
        </p:txBody>
      </p:sp>
      <p:sp>
        <p:nvSpPr>
          <p:cNvPr id="54" name="Text 46"/>
          <p:cNvSpPr txBox="1"/>
          <p:nvPr/>
        </p:nvSpPr>
        <p:spPr>
          <a:xfrm>
            <a:off x="7315200" y="1901952"/>
            <a:ext cx="1261872" cy="228600"/>
          </a:xfrm>
          <a:prstGeom prst="rect">
            <a:avLst/>
          </a:prstGeom>
          <a:noFill/>
          <a:ln/>
        </p:spPr>
        <p:txBody>
          <a:bodyPr wrap="square" lIns="0" tIns="0" rIns="0" bIns="0" rtlCol="0" anchor="t"/>
          <a:lstStyle/>
          <a:p>
            <a:pPr marL="0" indent="0">
              <a:buNone/>
            </a:pPr>
            <a:r>
              <a:rPr lang="en-US" sz="950" b="1" dirty="0">
                <a:solidFill>
                  <a:srgbClr val="00704A"/>
                </a:solidFill>
                <a:latin typeface="Calibri" pitchFamily="34" charset="0"/>
                <a:ea typeface="Calibri" pitchFamily="34" charset="-122"/>
                <a:cs typeface="Calibri" pitchFamily="34" charset="-120"/>
              </a:rPr>
              <a:t>Quality sample</a:t>
            </a:r>
            <a:endParaRPr lang="en-US" sz="950" dirty="0"/>
          </a:p>
        </p:txBody>
      </p:sp>
      <p:sp>
        <p:nvSpPr>
          <p:cNvPr id="55" name="Shape 47"/>
          <p:cNvSpPr/>
          <p:nvPr/>
        </p:nvSpPr>
        <p:spPr>
          <a:xfrm>
            <a:off x="7296912" y="2176272"/>
            <a:ext cx="1298448" cy="786384"/>
          </a:xfrm>
          <a:prstGeom prst="roundRect">
            <a:avLst>
              <a:gd name="adj" fmla="val 4651"/>
            </a:avLst>
          </a:prstGeom>
          <a:solidFill>
            <a:srgbClr val="FFFFFF"/>
          </a:solidFill>
          <a:ln w="6350">
            <a:solidFill>
              <a:srgbClr val="D5DED9"/>
            </a:solidFill>
            <a:prstDash val="solid"/>
          </a:ln>
        </p:spPr>
      </p:sp>
      <p:sp>
        <p:nvSpPr>
          <p:cNvPr id="56" name="Text 48"/>
          <p:cNvSpPr txBox="1"/>
          <p:nvPr/>
        </p:nvSpPr>
        <p:spPr>
          <a:xfrm>
            <a:off x="7351776" y="2194560"/>
            <a:ext cx="1188720" cy="749808"/>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Audit a sample, compare with gold standard, publish</a:t>
            </a:r>
            <a:endParaRPr lang="en-US" sz="850" dirty="0"/>
          </a:p>
        </p:txBody>
      </p:sp>
      <p:sp>
        <p:nvSpPr>
          <p:cNvPr id="57" name="Shape 49"/>
          <p:cNvSpPr/>
          <p:nvPr/>
        </p:nvSpPr>
        <p:spPr>
          <a:xfrm>
            <a:off x="457200" y="3218688"/>
            <a:ext cx="4937760" cy="1325880"/>
          </a:xfrm>
          <a:prstGeom prst="roundRect">
            <a:avLst>
              <a:gd name="adj" fmla="val 5517"/>
            </a:avLst>
          </a:prstGeom>
          <a:solidFill>
            <a:srgbClr val="F4F7F5"/>
          </a:solidFill>
          <a:ln w="9525">
            <a:solidFill>
              <a:srgbClr val="D5DED9"/>
            </a:solidFill>
            <a:prstDash val="solid"/>
          </a:ln>
        </p:spPr>
      </p:sp>
      <p:sp>
        <p:nvSpPr>
          <p:cNvPr id="58" name="Text 50"/>
          <p:cNvSpPr txBox="1"/>
          <p:nvPr/>
        </p:nvSpPr>
        <p:spPr>
          <a:xfrm>
            <a:off x="640080" y="3310128"/>
            <a:ext cx="4572000" cy="182880"/>
          </a:xfrm>
          <a:prstGeom prst="rect">
            <a:avLst/>
          </a:prstGeom>
          <a:noFill/>
          <a:ln/>
        </p:spPr>
        <p:txBody>
          <a:bodyPr wrap="square" lIns="0" tIns="0" rIns="0" bIns="0" rtlCol="0" anchor="t"/>
          <a:lstStyle/>
          <a:p>
            <a:pPr marL="0" indent="0">
              <a:buNone/>
            </a:pPr>
            <a:r>
              <a:rPr lang="en-US" sz="900" b="1" kern="0" spc="150" dirty="0">
                <a:solidFill>
                  <a:srgbClr val="00704A"/>
                </a:solidFill>
                <a:latin typeface="Calibri" pitchFamily="34" charset="0"/>
                <a:ea typeface="Calibri" pitchFamily="34" charset="-122"/>
                <a:cs typeface="Calibri" pitchFamily="34" charset="-120"/>
              </a:rPr>
              <a:t>ILLUSTRATIVE: 100,000 CENSUS ANSWERS</a:t>
            </a:r>
            <a:endParaRPr lang="en-US" sz="900" dirty="0"/>
          </a:p>
        </p:txBody>
      </p:sp>
      <p:sp>
        <p:nvSpPr>
          <p:cNvPr id="59" name="Shape 51"/>
          <p:cNvSpPr/>
          <p:nvPr/>
        </p:nvSpPr>
        <p:spPr>
          <a:xfrm>
            <a:off x="640080" y="3611880"/>
            <a:ext cx="3200400" cy="411480"/>
          </a:xfrm>
          <a:prstGeom prst="rect">
            <a:avLst/>
          </a:prstGeom>
          <a:solidFill>
            <a:srgbClr val="00A86A"/>
          </a:solidFill>
          <a:ln/>
        </p:spPr>
      </p:sp>
      <p:sp>
        <p:nvSpPr>
          <p:cNvPr id="60" name="Shape 52"/>
          <p:cNvSpPr/>
          <p:nvPr/>
        </p:nvSpPr>
        <p:spPr>
          <a:xfrm>
            <a:off x="3840480" y="3611880"/>
            <a:ext cx="1371600" cy="411480"/>
          </a:xfrm>
          <a:prstGeom prst="rect">
            <a:avLst/>
          </a:prstGeom>
          <a:solidFill>
            <a:srgbClr val="D49A00"/>
          </a:solidFill>
          <a:ln/>
        </p:spPr>
      </p:sp>
      <p:sp>
        <p:nvSpPr>
          <p:cNvPr id="61" name="Text 53"/>
          <p:cNvSpPr txBox="1"/>
          <p:nvPr/>
        </p:nvSpPr>
        <p:spPr>
          <a:xfrm>
            <a:off x="731520" y="3611880"/>
            <a:ext cx="3017520" cy="4114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70,000 coded automatically</a:t>
            </a:r>
            <a:endParaRPr lang="en-US" sz="1100" dirty="0"/>
          </a:p>
        </p:txBody>
      </p:sp>
      <p:sp>
        <p:nvSpPr>
          <p:cNvPr id="62" name="Text 54"/>
          <p:cNvSpPr txBox="1"/>
          <p:nvPr/>
        </p:nvSpPr>
        <p:spPr>
          <a:xfrm>
            <a:off x="3886200" y="3611880"/>
            <a:ext cx="12801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30,000 to coders</a:t>
            </a:r>
            <a:endParaRPr lang="en-US" sz="1000" dirty="0"/>
          </a:p>
        </p:txBody>
      </p:sp>
      <p:sp>
        <p:nvSpPr>
          <p:cNvPr id="63" name="Text 55"/>
          <p:cNvSpPr txBox="1"/>
          <p:nvPr/>
        </p:nvSpPr>
        <p:spPr>
          <a:xfrm>
            <a:off x="640080" y="4114800"/>
            <a:ext cx="4572000" cy="3200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Coders focus on the hard 30%, plus quality checks on the rest.</a:t>
            </a:r>
            <a:endParaRPr lang="en-US" sz="1000" dirty="0"/>
          </a:p>
        </p:txBody>
      </p:sp>
      <p:sp>
        <p:nvSpPr>
          <p:cNvPr id="64" name="Shape 56"/>
          <p:cNvSpPr/>
          <p:nvPr/>
        </p:nvSpPr>
        <p:spPr>
          <a:xfrm>
            <a:off x="5577840" y="3218688"/>
            <a:ext cx="3108960" cy="1325880"/>
          </a:xfrm>
          <a:prstGeom prst="roundRect">
            <a:avLst>
              <a:gd name="adj" fmla="val 5517"/>
            </a:avLst>
          </a:prstGeom>
          <a:solidFill>
            <a:srgbClr val="E8F5EF"/>
          </a:solidFill>
          <a:ln w="15875">
            <a:solidFill>
              <a:srgbClr val="00A86A"/>
            </a:solidFill>
            <a:prstDash val="solid"/>
          </a:ln>
        </p:spPr>
      </p:sp>
      <p:sp>
        <p:nvSpPr>
          <p:cNvPr id="65" name="Text 57"/>
          <p:cNvSpPr txBox="1"/>
          <p:nvPr/>
        </p:nvSpPr>
        <p:spPr>
          <a:xfrm>
            <a:off x="5760720" y="3310128"/>
            <a:ext cx="2743200" cy="182880"/>
          </a:xfrm>
          <a:prstGeom prst="rect">
            <a:avLst/>
          </a:prstGeom>
          <a:noFill/>
          <a:ln/>
        </p:spPr>
        <p:txBody>
          <a:bodyPr wrap="square" lIns="0" tIns="0" rIns="0" bIns="0" rtlCol="0" anchor="t"/>
          <a:lstStyle/>
          <a:p>
            <a:pPr marL="0" indent="0">
              <a:buNone/>
            </a:pPr>
            <a:r>
              <a:rPr lang="en-US" sz="900" b="1" kern="0" spc="150" dirty="0">
                <a:solidFill>
                  <a:srgbClr val="00704A"/>
                </a:solidFill>
                <a:latin typeface="Calibri" pitchFamily="34" charset="0"/>
                <a:ea typeface="Calibri" pitchFamily="34" charset="-122"/>
                <a:cs typeface="Calibri" pitchFamily="34" charset="-120"/>
              </a:rPr>
              <a:t>THREE LESSONS</a:t>
            </a:r>
            <a:endParaRPr lang="en-US" sz="900" dirty="0"/>
          </a:p>
        </p:txBody>
      </p:sp>
      <p:pic>
        <p:nvPicPr>
          <p:cNvPr id="66" name="Image 5" descr="preencoded.png"/>
          <p:cNvPicPr>
            <a:picLocks noChangeAspect="1"/>
          </p:cNvPicPr>
          <p:nvPr/>
        </p:nvPicPr>
        <p:blipFill>
          <a:blip r:embed="rId8"/>
          <a:stretch>
            <a:fillRect/>
          </a:stretch>
        </p:blipFill>
        <p:spPr>
          <a:xfrm>
            <a:off x="5760720" y="3593592"/>
            <a:ext cx="137160" cy="137160"/>
          </a:xfrm>
          <a:prstGeom prst="rect">
            <a:avLst/>
          </a:prstGeom>
        </p:spPr>
      </p:pic>
      <p:sp>
        <p:nvSpPr>
          <p:cNvPr id="67" name="Text 58"/>
          <p:cNvSpPr txBox="1"/>
          <p:nvPr/>
        </p:nvSpPr>
        <p:spPr>
          <a:xfrm>
            <a:off x="5971032" y="3566160"/>
            <a:ext cx="2578608" cy="310896"/>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The confidence score matters as much as the code</a:t>
            </a:r>
            <a:endParaRPr lang="en-US" sz="1000" dirty="0"/>
          </a:p>
        </p:txBody>
      </p:sp>
      <p:pic>
        <p:nvPicPr>
          <p:cNvPr id="68" name="Image 6" descr="preencoded.png"/>
          <p:cNvPicPr>
            <a:picLocks noChangeAspect="1"/>
          </p:cNvPicPr>
          <p:nvPr/>
        </p:nvPicPr>
        <p:blipFill>
          <a:blip r:embed="rId8"/>
          <a:stretch>
            <a:fillRect/>
          </a:stretch>
        </p:blipFill>
        <p:spPr>
          <a:xfrm>
            <a:off x="5760720" y="3904488"/>
            <a:ext cx="137160" cy="137160"/>
          </a:xfrm>
          <a:prstGeom prst="rect">
            <a:avLst/>
          </a:prstGeom>
        </p:spPr>
      </p:pic>
      <p:sp>
        <p:nvSpPr>
          <p:cNvPr id="69" name="Text 59"/>
          <p:cNvSpPr txBox="1"/>
          <p:nvPr/>
        </p:nvSpPr>
        <p:spPr>
          <a:xfrm>
            <a:off x="5971032" y="3877056"/>
            <a:ext cx="2578608" cy="310896"/>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Set the threshold on a frozen gold standard</a:t>
            </a:r>
            <a:endParaRPr lang="en-US" sz="1000" dirty="0"/>
          </a:p>
        </p:txBody>
      </p:sp>
      <p:pic>
        <p:nvPicPr>
          <p:cNvPr id="70" name="Image 7" descr="preencoded.png"/>
          <p:cNvPicPr>
            <a:picLocks noChangeAspect="1"/>
          </p:cNvPicPr>
          <p:nvPr/>
        </p:nvPicPr>
        <p:blipFill>
          <a:blip r:embed="rId8"/>
          <a:stretch>
            <a:fillRect/>
          </a:stretch>
        </p:blipFill>
        <p:spPr>
          <a:xfrm>
            <a:off x="5760720" y="4215384"/>
            <a:ext cx="137160" cy="137160"/>
          </a:xfrm>
          <a:prstGeom prst="rect">
            <a:avLst/>
          </a:prstGeom>
        </p:spPr>
      </p:pic>
      <p:sp>
        <p:nvSpPr>
          <p:cNvPr id="71" name="Text 60"/>
          <p:cNvSpPr txBox="1"/>
          <p:nvPr/>
        </p:nvSpPr>
        <p:spPr>
          <a:xfrm>
            <a:off x="5971032" y="4187952"/>
            <a:ext cx="2578608" cy="310896"/>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People are redeployed, not removed</a:t>
            </a:r>
            <a:endParaRPr lang="en-US" sz="1000" dirty="0"/>
          </a:p>
        </p:txBody>
      </p:sp>
      <p:sp>
        <p:nvSpPr>
          <p:cNvPr id="72" name="Text 61"/>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Illustrative teaching figures. Real automation shares depend on data quality, the classification and the chosen threshold. ISCO-08 2341 = primary school teachers.</a:t>
            </a:r>
            <a:endParaRPr lang="en-US" sz="8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INSTITUTIONAL CONSTRAINTS</a:t>
            </a:r>
            <a:endParaRPr lang="en-US" sz="1050" dirty="0"/>
          </a:p>
        </p:txBody>
      </p:sp>
      <p:sp>
        <p:nvSpPr>
          <p:cNvPr id="7" name="Shape 5"/>
          <p:cNvSpPr/>
          <p:nvPr/>
        </p:nvSpPr>
        <p:spPr>
          <a:xfrm>
            <a:off x="7658100" y="278892"/>
            <a:ext cx="118872" cy="118872"/>
          </a:xfrm>
          <a:prstGeom prst="ellipse">
            <a:avLst/>
          </a:prstGeom>
          <a:solidFill>
            <a:srgbClr val="00A86A"/>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A statistical office is not a technology company</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The differences are legal and methodological — not cultural</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8" name="Text 15"/>
          <p:cNvSpPr txBox="1"/>
          <p:nvPr/>
        </p:nvSpPr>
        <p:spPr>
          <a:xfrm>
            <a:off x="548640" y="1298448"/>
            <a:ext cx="182880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DIMENSION</a:t>
            </a:r>
            <a:endParaRPr lang="en-US" sz="900" dirty="0"/>
          </a:p>
        </p:txBody>
      </p:sp>
      <p:sp>
        <p:nvSpPr>
          <p:cNvPr id="19" name="Text 16"/>
          <p:cNvSpPr txBox="1"/>
          <p:nvPr/>
        </p:nvSpPr>
        <p:spPr>
          <a:xfrm>
            <a:off x="2560320" y="1298448"/>
            <a:ext cx="24688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TYPICAL TECHNOLOGY COMPANY</a:t>
            </a:r>
            <a:endParaRPr lang="en-US" sz="900" dirty="0"/>
          </a:p>
        </p:txBody>
      </p:sp>
      <p:sp>
        <p:nvSpPr>
          <p:cNvPr id="20" name="Text 17"/>
          <p:cNvSpPr txBox="1"/>
          <p:nvPr/>
        </p:nvSpPr>
        <p:spPr>
          <a:xfrm>
            <a:off x="5212080" y="1298448"/>
            <a:ext cx="33832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NATIONAL STATISTICAL OFFICE</a:t>
            </a:r>
            <a:endParaRPr lang="en-US" sz="900" dirty="0"/>
          </a:p>
        </p:txBody>
      </p:sp>
      <p:sp>
        <p:nvSpPr>
          <p:cNvPr id="21" name="Shape 18"/>
          <p:cNvSpPr/>
          <p:nvPr/>
        </p:nvSpPr>
        <p:spPr>
          <a:xfrm>
            <a:off x="457200" y="1572768"/>
            <a:ext cx="8229600" cy="393192"/>
          </a:xfrm>
          <a:prstGeom prst="roundRect">
            <a:avLst>
              <a:gd name="adj" fmla="val 11628"/>
            </a:avLst>
          </a:prstGeom>
          <a:solidFill>
            <a:srgbClr val="F4F7F5"/>
          </a:solidFill>
          <a:ln w="9525">
            <a:solidFill>
              <a:srgbClr val="D5DED9"/>
            </a:solidFill>
            <a:prstDash val="solid"/>
          </a:ln>
        </p:spPr>
      </p:sp>
      <p:sp>
        <p:nvSpPr>
          <p:cNvPr id="22" name="Shape 19"/>
          <p:cNvSpPr/>
          <p:nvPr/>
        </p:nvSpPr>
        <p:spPr>
          <a:xfrm>
            <a:off x="5120640" y="1572768"/>
            <a:ext cx="3566160" cy="393192"/>
          </a:xfrm>
          <a:prstGeom prst="roundRect">
            <a:avLst>
              <a:gd name="adj" fmla="val 11628"/>
            </a:avLst>
          </a:prstGeom>
          <a:solidFill>
            <a:srgbClr val="E8F5EF"/>
          </a:solidFill>
          <a:ln w="9525">
            <a:solidFill>
              <a:srgbClr val="00A86A"/>
            </a:solidFill>
            <a:prstDash val="solid"/>
          </a:ln>
        </p:spPr>
      </p:sp>
      <p:sp>
        <p:nvSpPr>
          <p:cNvPr id="23" name="Shape 20"/>
          <p:cNvSpPr/>
          <p:nvPr/>
        </p:nvSpPr>
        <p:spPr>
          <a:xfrm>
            <a:off x="548640" y="1632204"/>
            <a:ext cx="274320" cy="274320"/>
          </a:xfrm>
          <a:prstGeom prst="ellipse">
            <a:avLst/>
          </a:prstGeom>
          <a:solidFill>
            <a:srgbClr val="00A86A">
              <a:alpha val="22000"/>
            </a:srgbClr>
          </a:solidFill>
          <a:ln/>
        </p:spPr>
      </p:sp>
      <p:pic>
        <p:nvPicPr>
          <p:cNvPr id="24" name="Image 0" descr="preencoded.png"/>
          <p:cNvPicPr>
            <a:picLocks noChangeAspect="1"/>
          </p:cNvPicPr>
          <p:nvPr/>
        </p:nvPicPr>
        <p:blipFill>
          <a:blip r:embed="rId3"/>
          <a:stretch>
            <a:fillRect/>
          </a:stretch>
        </p:blipFill>
        <p:spPr>
          <a:xfrm>
            <a:off x="614477" y="1698041"/>
            <a:ext cx="142646" cy="142646"/>
          </a:xfrm>
          <a:prstGeom prst="rect">
            <a:avLst/>
          </a:prstGeom>
        </p:spPr>
      </p:pic>
      <p:sp>
        <p:nvSpPr>
          <p:cNvPr id="25" name="Text 21"/>
          <p:cNvSpPr txBox="1"/>
          <p:nvPr/>
        </p:nvSpPr>
        <p:spPr>
          <a:xfrm>
            <a:off x="896112" y="1572768"/>
            <a:ext cx="1508760" cy="393192"/>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Data</a:t>
            </a:r>
            <a:endParaRPr lang="en-US" sz="1000" dirty="0"/>
          </a:p>
        </p:txBody>
      </p:sp>
      <p:sp>
        <p:nvSpPr>
          <p:cNvPr id="26" name="Text 22"/>
          <p:cNvSpPr txBox="1"/>
          <p:nvPr/>
        </p:nvSpPr>
        <p:spPr>
          <a:xfrm>
            <a:off x="2560320" y="1572768"/>
            <a:ext cx="24688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Mostly first-party, consented, replaceable</a:t>
            </a:r>
            <a:endParaRPr lang="en-US" sz="1000" dirty="0"/>
          </a:p>
        </p:txBody>
      </p:sp>
      <p:sp>
        <p:nvSpPr>
          <p:cNvPr id="27" name="Text 23"/>
          <p:cNvSpPr txBox="1"/>
          <p:nvPr/>
        </p:nvSpPr>
        <p:spPr>
          <a:xfrm>
            <a:off x="5212080" y="1572768"/>
            <a:ext cx="33832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Legally mandated collection; confidential microdata under statistical secrecy</a:t>
            </a:r>
            <a:endParaRPr lang="en-US" sz="1000" dirty="0"/>
          </a:p>
        </p:txBody>
      </p:sp>
      <p:sp>
        <p:nvSpPr>
          <p:cNvPr id="28" name="Shape 24"/>
          <p:cNvSpPr/>
          <p:nvPr/>
        </p:nvSpPr>
        <p:spPr>
          <a:xfrm>
            <a:off x="457200" y="2011680"/>
            <a:ext cx="8229600" cy="393192"/>
          </a:xfrm>
          <a:prstGeom prst="roundRect">
            <a:avLst>
              <a:gd name="adj" fmla="val 11628"/>
            </a:avLst>
          </a:prstGeom>
          <a:solidFill>
            <a:srgbClr val="F4F7F5"/>
          </a:solidFill>
          <a:ln w="9525">
            <a:solidFill>
              <a:srgbClr val="D5DED9"/>
            </a:solidFill>
            <a:prstDash val="solid"/>
          </a:ln>
        </p:spPr>
      </p:sp>
      <p:sp>
        <p:nvSpPr>
          <p:cNvPr id="29" name="Shape 25"/>
          <p:cNvSpPr/>
          <p:nvPr/>
        </p:nvSpPr>
        <p:spPr>
          <a:xfrm>
            <a:off x="5120640" y="2011680"/>
            <a:ext cx="3566160" cy="393192"/>
          </a:xfrm>
          <a:prstGeom prst="roundRect">
            <a:avLst>
              <a:gd name="adj" fmla="val 11628"/>
            </a:avLst>
          </a:prstGeom>
          <a:solidFill>
            <a:srgbClr val="E8F5EF"/>
          </a:solidFill>
          <a:ln w="9525">
            <a:solidFill>
              <a:srgbClr val="00A86A"/>
            </a:solidFill>
            <a:prstDash val="solid"/>
          </a:ln>
        </p:spPr>
      </p:sp>
      <p:sp>
        <p:nvSpPr>
          <p:cNvPr id="30" name="Shape 26"/>
          <p:cNvSpPr/>
          <p:nvPr/>
        </p:nvSpPr>
        <p:spPr>
          <a:xfrm>
            <a:off x="548640" y="2071116"/>
            <a:ext cx="274320" cy="274320"/>
          </a:xfrm>
          <a:prstGeom prst="ellipse">
            <a:avLst/>
          </a:prstGeom>
          <a:solidFill>
            <a:srgbClr val="00A86A">
              <a:alpha val="22000"/>
            </a:srgbClr>
          </a:solidFill>
          <a:ln/>
        </p:spPr>
      </p:sp>
      <p:pic>
        <p:nvPicPr>
          <p:cNvPr id="31" name="Image 1" descr="preencoded.png"/>
          <p:cNvPicPr>
            <a:picLocks noChangeAspect="1"/>
          </p:cNvPicPr>
          <p:nvPr/>
        </p:nvPicPr>
        <p:blipFill>
          <a:blip r:embed="rId4"/>
          <a:stretch>
            <a:fillRect/>
          </a:stretch>
        </p:blipFill>
        <p:spPr>
          <a:xfrm>
            <a:off x="614477" y="2136953"/>
            <a:ext cx="142646" cy="142646"/>
          </a:xfrm>
          <a:prstGeom prst="rect">
            <a:avLst/>
          </a:prstGeom>
        </p:spPr>
      </p:pic>
      <p:sp>
        <p:nvSpPr>
          <p:cNvPr id="32" name="Text 27"/>
          <p:cNvSpPr txBox="1"/>
          <p:nvPr/>
        </p:nvSpPr>
        <p:spPr>
          <a:xfrm>
            <a:off x="896112" y="2011680"/>
            <a:ext cx="1508760" cy="393192"/>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Tolerance for error</a:t>
            </a:r>
            <a:endParaRPr lang="en-US" sz="1000" dirty="0"/>
          </a:p>
        </p:txBody>
      </p:sp>
      <p:sp>
        <p:nvSpPr>
          <p:cNvPr id="33" name="Text 28"/>
          <p:cNvSpPr txBox="1"/>
          <p:nvPr/>
        </p:nvSpPr>
        <p:spPr>
          <a:xfrm>
            <a:off x="2560320" y="2011680"/>
            <a:ext cx="24688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Ship, measure, iterate; roll back quietly</a:t>
            </a:r>
            <a:endParaRPr lang="en-US" sz="1000" dirty="0"/>
          </a:p>
        </p:txBody>
      </p:sp>
      <p:sp>
        <p:nvSpPr>
          <p:cNvPr id="34" name="Text 29"/>
          <p:cNvSpPr txBox="1"/>
          <p:nvPr/>
        </p:nvSpPr>
        <p:spPr>
          <a:xfrm>
            <a:off x="5212080" y="2011680"/>
            <a:ext cx="33832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A published figure is a public act; errors trigger revisions and damage trust</a:t>
            </a:r>
            <a:endParaRPr lang="en-US" sz="1000" dirty="0"/>
          </a:p>
        </p:txBody>
      </p:sp>
      <p:sp>
        <p:nvSpPr>
          <p:cNvPr id="35" name="Shape 30"/>
          <p:cNvSpPr/>
          <p:nvPr/>
        </p:nvSpPr>
        <p:spPr>
          <a:xfrm>
            <a:off x="457200" y="2450592"/>
            <a:ext cx="8229600" cy="393192"/>
          </a:xfrm>
          <a:prstGeom prst="roundRect">
            <a:avLst>
              <a:gd name="adj" fmla="val 11628"/>
            </a:avLst>
          </a:prstGeom>
          <a:solidFill>
            <a:srgbClr val="F4F7F5"/>
          </a:solidFill>
          <a:ln w="9525">
            <a:solidFill>
              <a:srgbClr val="D5DED9"/>
            </a:solidFill>
            <a:prstDash val="solid"/>
          </a:ln>
        </p:spPr>
      </p:sp>
      <p:sp>
        <p:nvSpPr>
          <p:cNvPr id="36" name="Shape 31"/>
          <p:cNvSpPr/>
          <p:nvPr/>
        </p:nvSpPr>
        <p:spPr>
          <a:xfrm>
            <a:off x="5120640" y="2450592"/>
            <a:ext cx="3566160" cy="393192"/>
          </a:xfrm>
          <a:prstGeom prst="roundRect">
            <a:avLst>
              <a:gd name="adj" fmla="val 11628"/>
            </a:avLst>
          </a:prstGeom>
          <a:solidFill>
            <a:srgbClr val="E8F5EF"/>
          </a:solidFill>
          <a:ln w="9525">
            <a:solidFill>
              <a:srgbClr val="00A86A"/>
            </a:solidFill>
            <a:prstDash val="solid"/>
          </a:ln>
        </p:spPr>
      </p:sp>
      <p:sp>
        <p:nvSpPr>
          <p:cNvPr id="37" name="Shape 32"/>
          <p:cNvSpPr/>
          <p:nvPr/>
        </p:nvSpPr>
        <p:spPr>
          <a:xfrm>
            <a:off x="548640" y="2510028"/>
            <a:ext cx="274320" cy="274320"/>
          </a:xfrm>
          <a:prstGeom prst="ellipse">
            <a:avLst/>
          </a:prstGeom>
          <a:solidFill>
            <a:srgbClr val="00A86A">
              <a:alpha val="22000"/>
            </a:srgbClr>
          </a:solidFill>
          <a:ln/>
        </p:spPr>
      </p:sp>
      <p:pic>
        <p:nvPicPr>
          <p:cNvPr id="38" name="Image 2" descr="preencoded.png"/>
          <p:cNvPicPr>
            <a:picLocks noChangeAspect="1"/>
          </p:cNvPicPr>
          <p:nvPr/>
        </p:nvPicPr>
        <p:blipFill>
          <a:blip r:embed="rId5"/>
          <a:stretch>
            <a:fillRect/>
          </a:stretch>
        </p:blipFill>
        <p:spPr>
          <a:xfrm>
            <a:off x="614477" y="2575865"/>
            <a:ext cx="142646" cy="142646"/>
          </a:xfrm>
          <a:prstGeom prst="rect">
            <a:avLst/>
          </a:prstGeom>
        </p:spPr>
      </p:pic>
      <p:sp>
        <p:nvSpPr>
          <p:cNvPr id="39" name="Text 33"/>
          <p:cNvSpPr txBox="1"/>
          <p:nvPr/>
        </p:nvSpPr>
        <p:spPr>
          <a:xfrm>
            <a:off x="896112" y="2450592"/>
            <a:ext cx="1508760" cy="393192"/>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Release cadence</a:t>
            </a:r>
            <a:endParaRPr lang="en-US" sz="1000" dirty="0"/>
          </a:p>
        </p:txBody>
      </p:sp>
      <p:sp>
        <p:nvSpPr>
          <p:cNvPr id="40" name="Text 34"/>
          <p:cNvSpPr txBox="1"/>
          <p:nvPr/>
        </p:nvSpPr>
        <p:spPr>
          <a:xfrm>
            <a:off x="2560320" y="2450592"/>
            <a:ext cx="24688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Continuous deployment, weekly</a:t>
            </a:r>
            <a:endParaRPr lang="en-US" sz="1000" dirty="0"/>
          </a:p>
        </p:txBody>
      </p:sp>
      <p:sp>
        <p:nvSpPr>
          <p:cNvPr id="41" name="Text 35"/>
          <p:cNvSpPr txBox="1"/>
          <p:nvPr/>
        </p:nvSpPr>
        <p:spPr>
          <a:xfrm>
            <a:off x="5212080" y="2450592"/>
            <a:ext cx="33832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Release calendar published in advance; formal revisions policy</a:t>
            </a:r>
            <a:endParaRPr lang="en-US" sz="1000" dirty="0"/>
          </a:p>
        </p:txBody>
      </p:sp>
      <p:sp>
        <p:nvSpPr>
          <p:cNvPr id="42" name="Shape 36"/>
          <p:cNvSpPr/>
          <p:nvPr/>
        </p:nvSpPr>
        <p:spPr>
          <a:xfrm>
            <a:off x="457200" y="2889504"/>
            <a:ext cx="8229600" cy="393192"/>
          </a:xfrm>
          <a:prstGeom prst="roundRect">
            <a:avLst>
              <a:gd name="adj" fmla="val 11628"/>
            </a:avLst>
          </a:prstGeom>
          <a:solidFill>
            <a:srgbClr val="F4F7F5"/>
          </a:solidFill>
          <a:ln w="9525">
            <a:solidFill>
              <a:srgbClr val="D5DED9"/>
            </a:solidFill>
            <a:prstDash val="solid"/>
          </a:ln>
        </p:spPr>
      </p:sp>
      <p:sp>
        <p:nvSpPr>
          <p:cNvPr id="43" name="Shape 37"/>
          <p:cNvSpPr/>
          <p:nvPr/>
        </p:nvSpPr>
        <p:spPr>
          <a:xfrm>
            <a:off x="5120640" y="2889504"/>
            <a:ext cx="3566160" cy="393192"/>
          </a:xfrm>
          <a:prstGeom prst="roundRect">
            <a:avLst>
              <a:gd name="adj" fmla="val 11628"/>
            </a:avLst>
          </a:prstGeom>
          <a:solidFill>
            <a:srgbClr val="E8F5EF"/>
          </a:solidFill>
          <a:ln w="9525">
            <a:solidFill>
              <a:srgbClr val="00A86A"/>
            </a:solidFill>
            <a:prstDash val="solid"/>
          </a:ln>
        </p:spPr>
      </p:sp>
      <p:sp>
        <p:nvSpPr>
          <p:cNvPr id="44" name="Shape 38"/>
          <p:cNvSpPr/>
          <p:nvPr/>
        </p:nvSpPr>
        <p:spPr>
          <a:xfrm>
            <a:off x="548640" y="2948940"/>
            <a:ext cx="274320" cy="274320"/>
          </a:xfrm>
          <a:prstGeom prst="ellipse">
            <a:avLst/>
          </a:prstGeom>
          <a:solidFill>
            <a:srgbClr val="00A86A">
              <a:alpha val="22000"/>
            </a:srgbClr>
          </a:solidFill>
          <a:ln/>
        </p:spPr>
      </p:sp>
      <p:pic>
        <p:nvPicPr>
          <p:cNvPr id="45" name="Image 3" descr="preencoded.png"/>
          <p:cNvPicPr>
            <a:picLocks noChangeAspect="1"/>
          </p:cNvPicPr>
          <p:nvPr/>
        </p:nvPicPr>
        <p:blipFill>
          <a:blip r:embed="rId6"/>
          <a:stretch>
            <a:fillRect/>
          </a:stretch>
        </p:blipFill>
        <p:spPr>
          <a:xfrm>
            <a:off x="614477" y="3014777"/>
            <a:ext cx="142646" cy="142646"/>
          </a:xfrm>
          <a:prstGeom prst="rect">
            <a:avLst/>
          </a:prstGeom>
        </p:spPr>
      </p:pic>
      <p:sp>
        <p:nvSpPr>
          <p:cNvPr id="46" name="Text 39"/>
          <p:cNvSpPr txBox="1"/>
          <p:nvPr/>
        </p:nvSpPr>
        <p:spPr>
          <a:xfrm>
            <a:off x="896112" y="2889504"/>
            <a:ext cx="1508760" cy="393192"/>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Reproducibility</a:t>
            </a:r>
            <a:endParaRPr lang="en-US" sz="1000" dirty="0"/>
          </a:p>
        </p:txBody>
      </p:sp>
      <p:sp>
        <p:nvSpPr>
          <p:cNvPr id="47" name="Text 40"/>
          <p:cNvSpPr txBox="1"/>
          <p:nvPr/>
        </p:nvSpPr>
        <p:spPr>
          <a:xfrm>
            <a:off x="2560320" y="2889504"/>
            <a:ext cx="24688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Desirable</a:t>
            </a:r>
            <a:endParaRPr lang="en-US" sz="1000" dirty="0"/>
          </a:p>
        </p:txBody>
      </p:sp>
      <p:sp>
        <p:nvSpPr>
          <p:cNvPr id="48" name="Text 41"/>
          <p:cNvSpPr txBox="1"/>
          <p:nvPr/>
        </p:nvSpPr>
        <p:spPr>
          <a:xfrm>
            <a:off x="5212080" y="2889504"/>
            <a:ext cx="33832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Mandatory — a figure may have to be reproduced years later, on demand</a:t>
            </a:r>
            <a:endParaRPr lang="en-US" sz="1000" dirty="0"/>
          </a:p>
        </p:txBody>
      </p:sp>
      <p:sp>
        <p:nvSpPr>
          <p:cNvPr id="49" name="Shape 42"/>
          <p:cNvSpPr/>
          <p:nvPr/>
        </p:nvSpPr>
        <p:spPr>
          <a:xfrm>
            <a:off x="457200" y="3328416"/>
            <a:ext cx="8229600" cy="393192"/>
          </a:xfrm>
          <a:prstGeom prst="roundRect">
            <a:avLst>
              <a:gd name="adj" fmla="val 11628"/>
            </a:avLst>
          </a:prstGeom>
          <a:solidFill>
            <a:srgbClr val="F4F7F5"/>
          </a:solidFill>
          <a:ln w="9525">
            <a:solidFill>
              <a:srgbClr val="D5DED9"/>
            </a:solidFill>
            <a:prstDash val="solid"/>
          </a:ln>
        </p:spPr>
      </p:sp>
      <p:sp>
        <p:nvSpPr>
          <p:cNvPr id="50" name="Shape 43"/>
          <p:cNvSpPr/>
          <p:nvPr/>
        </p:nvSpPr>
        <p:spPr>
          <a:xfrm>
            <a:off x="5120640" y="3328416"/>
            <a:ext cx="3566160" cy="393192"/>
          </a:xfrm>
          <a:prstGeom prst="roundRect">
            <a:avLst>
              <a:gd name="adj" fmla="val 11628"/>
            </a:avLst>
          </a:prstGeom>
          <a:solidFill>
            <a:srgbClr val="E8F5EF"/>
          </a:solidFill>
          <a:ln w="9525">
            <a:solidFill>
              <a:srgbClr val="00A86A"/>
            </a:solidFill>
            <a:prstDash val="solid"/>
          </a:ln>
        </p:spPr>
      </p:sp>
      <p:sp>
        <p:nvSpPr>
          <p:cNvPr id="51" name="Shape 44"/>
          <p:cNvSpPr/>
          <p:nvPr/>
        </p:nvSpPr>
        <p:spPr>
          <a:xfrm>
            <a:off x="548640" y="3387852"/>
            <a:ext cx="274320" cy="274320"/>
          </a:xfrm>
          <a:prstGeom prst="ellipse">
            <a:avLst/>
          </a:prstGeom>
          <a:solidFill>
            <a:srgbClr val="00A86A">
              <a:alpha val="22000"/>
            </a:srgbClr>
          </a:solidFill>
          <a:ln/>
        </p:spPr>
      </p:sp>
      <p:pic>
        <p:nvPicPr>
          <p:cNvPr id="52" name="Image 4" descr="preencoded.png"/>
          <p:cNvPicPr>
            <a:picLocks noChangeAspect="1"/>
          </p:cNvPicPr>
          <p:nvPr/>
        </p:nvPicPr>
        <p:blipFill>
          <a:blip r:embed="rId7"/>
          <a:stretch>
            <a:fillRect/>
          </a:stretch>
        </p:blipFill>
        <p:spPr>
          <a:xfrm>
            <a:off x="614477" y="3453689"/>
            <a:ext cx="142646" cy="142646"/>
          </a:xfrm>
          <a:prstGeom prst="rect">
            <a:avLst/>
          </a:prstGeom>
        </p:spPr>
      </p:pic>
      <p:sp>
        <p:nvSpPr>
          <p:cNvPr id="53" name="Text 45"/>
          <p:cNvSpPr txBox="1"/>
          <p:nvPr/>
        </p:nvSpPr>
        <p:spPr>
          <a:xfrm>
            <a:off x="896112" y="3328416"/>
            <a:ext cx="1508760" cy="393192"/>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Explainability</a:t>
            </a:r>
            <a:endParaRPr lang="en-US" sz="1000" dirty="0"/>
          </a:p>
        </p:txBody>
      </p:sp>
      <p:sp>
        <p:nvSpPr>
          <p:cNvPr id="54" name="Text 46"/>
          <p:cNvSpPr txBox="1"/>
          <p:nvPr/>
        </p:nvSpPr>
        <p:spPr>
          <a:xfrm>
            <a:off x="2560320" y="3328416"/>
            <a:ext cx="24688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Only where a regulator asks</a:t>
            </a:r>
            <a:endParaRPr lang="en-US" sz="1000" dirty="0"/>
          </a:p>
        </p:txBody>
      </p:sp>
      <p:sp>
        <p:nvSpPr>
          <p:cNvPr id="55" name="Text 47"/>
          <p:cNvSpPr txBox="1"/>
          <p:nvPr/>
        </p:nvSpPr>
        <p:spPr>
          <a:xfrm>
            <a:off x="5212080" y="3328416"/>
            <a:ext cx="33832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Methodological documentation, peer review, international comparability</a:t>
            </a:r>
            <a:endParaRPr lang="en-US" sz="1000" dirty="0"/>
          </a:p>
        </p:txBody>
      </p:sp>
      <p:sp>
        <p:nvSpPr>
          <p:cNvPr id="56" name="Shape 48"/>
          <p:cNvSpPr/>
          <p:nvPr/>
        </p:nvSpPr>
        <p:spPr>
          <a:xfrm>
            <a:off x="457200" y="3767328"/>
            <a:ext cx="8229600" cy="393192"/>
          </a:xfrm>
          <a:prstGeom prst="roundRect">
            <a:avLst>
              <a:gd name="adj" fmla="val 11628"/>
            </a:avLst>
          </a:prstGeom>
          <a:solidFill>
            <a:srgbClr val="F4F7F5"/>
          </a:solidFill>
          <a:ln w="9525">
            <a:solidFill>
              <a:srgbClr val="D5DED9"/>
            </a:solidFill>
            <a:prstDash val="solid"/>
          </a:ln>
        </p:spPr>
      </p:sp>
      <p:sp>
        <p:nvSpPr>
          <p:cNvPr id="57" name="Shape 49"/>
          <p:cNvSpPr/>
          <p:nvPr/>
        </p:nvSpPr>
        <p:spPr>
          <a:xfrm>
            <a:off x="5120640" y="3767328"/>
            <a:ext cx="3566160" cy="393192"/>
          </a:xfrm>
          <a:prstGeom prst="roundRect">
            <a:avLst>
              <a:gd name="adj" fmla="val 11628"/>
            </a:avLst>
          </a:prstGeom>
          <a:solidFill>
            <a:srgbClr val="E8F5EF"/>
          </a:solidFill>
          <a:ln w="9525">
            <a:solidFill>
              <a:srgbClr val="00A86A"/>
            </a:solidFill>
            <a:prstDash val="solid"/>
          </a:ln>
        </p:spPr>
      </p:sp>
      <p:sp>
        <p:nvSpPr>
          <p:cNvPr id="58" name="Shape 50"/>
          <p:cNvSpPr/>
          <p:nvPr/>
        </p:nvSpPr>
        <p:spPr>
          <a:xfrm>
            <a:off x="548640" y="3826764"/>
            <a:ext cx="274320" cy="274320"/>
          </a:xfrm>
          <a:prstGeom prst="ellipse">
            <a:avLst/>
          </a:prstGeom>
          <a:solidFill>
            <a:srgbClr val="00A86A">
              <a:alpha val="22000"/>
            </a:srgbClr>
          </a:solidFill>
          <a:ln/>
        </p:spPr>
      </p:sp>
      <p:pic>
        <p:nvPicPr>
          <p:cNvPr id="59" name="Image 5" descr="preencoded.png"/>
          <p:cNvPicPr>
            <a:picLocks noChangeAspect="1"/>
          </p:cNvPicPr>
          <p:nvPr/>
        </p:nvPicPr>
        <p:blipFill>
          <a:blip r:embed="rId8"/>
          <a:stretch>
            <a:fillRect/>
          </a:stretch>
        </p:blipFill>
        <p:spPr>
          <a:xfrm>
            <a:off x="614477" y="3892601"/>
            <a:ext cx="142646" cy="142646"/>
          </a:xfrm>
          <a:prstGeom prst="rect">
            <a:avLst/>
          </a:prstGeom>
        </p:spPr>
      </p:pic>
      <p:sp>
        <p:nvSpPr>
          <p:cNvPr id="60" name="Text 51"/>
          <p:cNvSpPr txBox="1"/>
          <p:nvPr/>
        </p:nvSpPr>
        <p:spPr>
          <a:xfrm>
            <a:off x="896112" y="3767328"/>
            <a:ext cx="1508760" cy="393192"/>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Talent market</a:t>
            </a:r>
            <a:endParaRPr lang="en-US" sz="1000" dirty="0"/>
          </a:p>
        </p:txBody>
      </p:sp>
      <p:sp>
        <p:nvSpPr>
          <p:cNvPr id="61" name="Text 52"/>
          <p:cNvSpPr txBox="1"/>
          <p:nvPr/>
        </p:nvSpPr>
        <p:spPr>
          <a:xfrm>
            <a:off x="2560320" y="3767328"/>
            <a:ext cx="24688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Competes on salary</a:t>
            </a:r>
            <a:endParaRPr lang="en-US" sz="1000" dirty="0"/>
          </a:p>
        </p:txBody>
      </p:sp>
      <p:sp>
        <p:nvSpPr>
          <p:cNvPr id="62" name="Text 53"/>
          <p:cNvSpPr txBox="1"/>
          <p:nvPr/>
        </p:nvSpPr>
        <p:spPr>
          <a:xfrm>
            <a:off x="5212080" y="3767328"/>
            <a:ext cx="33832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Public pay scales; retention through mission, data access and training</a:t>
            </a:r>
            <a:endParaRPr lang="en-US" sz="1000" dirty="0"/>
          </a:p>
        </p:txBody>
      </p:sp>
      <p:sp>
        <p:nvSpPr>
          <p:cNvPr id="63" name="Shape 54"/>
          <p:cNvSpPr/>
          <p:nvPr/>
        </p:nvSpPr>
        <p:spPr>
          <a:xfrm>
            <a:off x="457200" y="4206240"/>
            <a:ext cx="8229600" cy="393192"/>
          </a:xfrm>
          <a:prstGeom prst="roundRect">
            <a:avLst>
              <a:gd name="adj" fmla="val 11628"/>
            </a:avLst>
          </a:prstGeom>
          <a:solidFill>
            <a:srgbClr val="F4F7F5"/>
          </a:solidFill>
          <a:ln w="9525">
            <a:solidFill>
              <a:srgbClr val="D5DED9"/>
            </a:solidFill>
            <a:prstDash val="solid"/>
          </a:ln>
        </p:spPr>
      </p:sp>
      <p:sp>
        <p:nvSpPr>
          <p:cNvPr id="64" name="Shape 55"/>
          <p:cNvSpPr/>
          <p:nvPr/>
        </p:nvSpPr>
        <p:spPr>
          <a:xfrm>
            <a:off x="5120640" y="4206240"/>
            <a:ext cx="3566160" cy="393192"/>
          </a:xfrm>
          <a:prstGeom prst="roundRect">
            <a:avLst>
              <a:gd name="adj" fmla="val 11628"/>
            </a:avLst>
          </a:prstGeom>
          <a:solidFill>
            <a:srgbClr val="E8F5EF"/>
          </a:solidFill>
          <a:ln w="9525">
            <a:solidFill>
              <a:srgbClr val="00A86A"/>
            </a:solidFill>
            <a:prstDash val="solid"/>
          </a:ln>
        </p:spPr>
      </p:sp>
      <p:sp>
        <p:nvSpPr>
          <p:cNvPr id="65" name="Shape 56"/>
          <p:cNvSpPr/>
          <p:nvPr/>
        </p:nvSpPr>
        <p:spPr>
          <a:xfrm>
            <a:off x="548640" y="4265676"/>
            <a:ext cx="274320" cy="274320"/>
          </a:xfrm>
          <a:prstGeom prst="ellipse">
            <a:avLst/>
          </a:prstGeom>
          <a:solidFill>
            <a:srgbClr val="00A86A">
              <a:alpha val="22000"/>
            </a:srgbClr>
          </a:solidFill>
          <a:ln/>
        </p:spPr>
      </p:sp>
      <p:pic>
        <p:nvPicPr>
          <p:cNvPr id="66" name="Image 6" descr="preencoded.png"/>
          <p:cNvPicPr>
            <a:picLocks noChangeAspect="1"/>
          </p:cNvPicPr>
          <p:nvPr/>
        </p:nvPicPr>
        <p:blipFill>
          <a:blip r:embed="rId9"/>
          <a:stretch>
            <a:fillRect/>
          </a:stretch>
        </p:blipFill>
        <p:spPr>
          <a:xfrm>
            <a:off x="614477" y="4331513"/>
            <a:ext cx="142646" cy="142646"/>
          </a:xfrm>
          <a:prstGeom prst="rect">
            <a:avLst/>
          </a:prstGeom>
        </p:spPr>
      </p:pic>
      <p:sp>
        <p:nvSpPr>
          <p:cNvPr id="67" name="Text 57"/>
          <p:cNvSpPr txBox="1"/>
          <p:nvPr/>
        </p:nvSpPr>
        <p:spPr>
          <a:xfrm>
            <a:off x="896112" y="4206240"/>
            <a:ext cx="1508760" cy="393192"/>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Infrastructure</a:t>
            </a:r>
            <a:endParaRPr lang="en-US" sz="1000" dirty="0"/>
          </a:p>
        </p:txBody>
      </p:sp>
      <p:sp>
        <p:nvSpPr>
          <p:cNvPr id="68" name="Text 58"/>
          <p:cNvSpPr txBox="1"/>
          <p:nvPr/>
        </p:nvSpPr>
        <p:spPr>
          <a:xfrm>
            <a:off x="2560320" y="4206240"/>
            <a:ext cx="24688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Elastic public cloud by default</a:t>
            </a:r>
            <a:endParaRPr lang="en-US" sz="1000" dirty="0"/>
          </a:p>
        </p:txBody>
      </p:sp>
      <p:sp>
        <p:nvSpPr>
          <p:cNvPr id="69" name="Text 59"/>
          <p:cNvSpPr txBox="1"/>
          <p:nvPr/>
        </p:nvSpPr>
        <p:spPr>
          <a:xfrm>
            <a:off x="5212080" y="4206240"/>
            <a:ext cx="3383280" cy="393192"/>
          </a:xfrm>
          <a:prstGeom prst="rect">
            <a:avLst/>
          </a:prstGeom>
          <a:noFill/>
          <a:ln/>
        </p:spPr>
        <p:txBody>
          <a:bodyPr wrap="square" lIns="0" tIns="0" rIns="0" bIns="0" rtlCol="0" anchor="ctr"/>
          <a:lstStyle/>
          <a:p>
            <a:pPr marL="0" indent="0" algn="l">
              <a:buNone/>
            </a:pPr>
            <a:r>
              <a:rPr lang="en-US" sz="1000" dirty="0">
                <a:solidFill>
                  <a:srgbClr val="231F20"/>
                </a:solidFill>
                <a:latin typeface="Calibri" pitchFamily="34" charset="0"/>
                <a:ea typeface="Calibri" pitchFamily="34" charset="-122"/>
                <a:cs typeface="Calibri" pitchFamily="34" charset="-120"/>
              </a:rPr>
              <a:t>Sovereignty, procurement law, classification tiers, unreliable power in places</a:t>
            </a:r>
            <a:endParaRPr lang="en-US" sz="10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THE AFRICAN CONTEXT</a:t>
            </a:r>
            <a:endParaRPr lang="en-US" sz="1050" dirty="0"/>
          </a:p>
        </p:txBody>
      </p:sp>
      <p:sp>
        <p:nvSpPr>
          <p:cNvPr id="7" name="Shape 5"/>
          <p:cNvSpPr/>
          <p:nvPr/>
        </p:nvSpPr>
        <p:spPr>
          <a:xfrm>
            <a:off x="7658100" y="278892"/>
            <a:ext cx="118872" cy="118872"/>
          </a:xfrm>
          <a:prstGeom prst="ellipse">
            <a:avLst/>
          </a:prstGeom>
          <a:solidFill>
            <a:srgbClr val="00A86A"/>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What changes for African statistical offices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Four facts that shape every infrastructure decision on the continent</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8" name="Shape 15"/>
          <p:cNvSpPr/>
          <p:nvPr/>
        </p:nvSpPr>
        <p:spPr>
          <a:xfrm>
            <a:off x="457200" y="1371600"/>
            <a:ext cx="1954530" cy="1463040"/>
          </a:xfrm>
          <a:prstGeom prst="roundRect">
            <a:avLst>
              <a:gd name="adj" fmla="val 5000"/>
            </a:avLst>
          </a:prstGeom>
          <a:solidFill>
            <a:srgbClr val="F4F7F5"/>
          </a:solidFill>
          <a:ln w="9525">
            <a:solidFill>
              <a:srgbClr val="D5DED9"/>
            </a:solidFill>
            <a:prstDash val="solid"/>
          </a:ln>
        </p:spPr>
      </p:sp>
      <p:sp>
        <p:nvSpPr>
          <p:cNvPr id="19" name="Shape 16"/>
          <p:cNvSpPr/>
          <p:nvPr/>
        </p:nvSpPr>
        <p:spPr>
          <a:xfrm>
            <a:off x="1954530" y="1481328"/>
            <a:ext cx="329184" cy="329184"/>
          </a:xfrm>
          <a:prstGeom prst="ellipse">
            <a:avLst/>
          </a:prstGeom>
          <a:solidFill>
            <a:srgbClr val="D49A00">
              <a:alpha val="22000"/>
            </a:srgbClr>
          </a:solidFill>
          <a:ln/>
        </p:spPr>
      </p:sp>
      <p:pic>
        <p:nvPicPr>
          <p:cNvPr id="20" name="Image 0" descr="preencoded.png"/>
          <p:cNvPicPr>
            <a:picLocks noChangeAspect="1"/>
          </p:cNvPicPr>
          <p:nvPr/>
        </p:nvPicPr>
        <p:blipFill>
          <a:blip r:embed="rId3"/>
          <a:stretch>
            <a:fillRect/>
          </a:stretch>
        </p:blipFill>
        <p:spPr>
          <a:xfrm>
            <a:off x="2033534" y="1560332"/>
            <a:ext cx="171176" cy="171176"/>
          </a:xfrm>
          <a:prstGeom prst="rect">
            <a:avLst/>
          </a:prstGeom>
        </p:spPr>
      </p:pic>
      <p:sp>
        <p:nvSpPr>
          <p:cNvPr id="21" name="Text 17"/>
          <p:cNvSpPr txBox="1"/>
          <p:nvPr/>
        </p:nvSpPr>
        <p:spPr>
          <a:xfrm>
            <a:off x="594360" y="1444752"/>
            <a:ext cx="1314450" cy="548640"/>
          </a:xfrm>
          <a:prstGeom prst="rect">
            <a:avLst/>
          </a:prstGeom>
          <a:noFill/>
          <a:ln/>
        </p:spPr>
        <p:txBody>
          <a:bodyPr wrap="square" lIns="0" tIns="0" rIns="0" bIns="0" rtlCol="0" anchor="ctr"/>
          <a:lstStyle/>
          <a:p>
            <a:pPr marL="0" indent="0">
              <a:buNone/>
            </a:pPr>
            <a:r>
              <a:rPr lang="en-US" sz="3200" b="1" dirty="0">
                <a:solidFill>
                  <a:srgbClr val="D49A00"/>
                </a:solidFill>
                <a:latin typeface="Calibri" pitchFamily="34" charset="0"/>
                <a:ea typeface="Calibri" pitchFamily="34" charset="-122"/>
                <a:cs typeface="Calibri" pitchFamily="34" charset="-120"/>
              </a:rPr>
              <a:t>~600 M</a:t>
            </a:r>
            <a:endParaRPr lang="en-US" sz="3200" dirty="0"/>
          </a:p>
        </p:txBody>
      </p:sp>
      <p:sp>
        <p:nvSpPr>
          <p:cNvPr id="22" name="Text 18"/>
          <p:cNvSpPr txBox="1"/>
          <p:nvPr/>
        </p:nvSpPr>
        <p:spPr>
          <a:xfrm>
            <a:off x="594360" y="2029968"/>
            <a:ext cx="1680210" cy="5486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people in sub-Saharan Africa without electricity in 2024 (47% of the population)</a:t>
            </a:r>
            <a:endParaRPr lang="en-US" sz="950" dirty="0"/>
          </a:p>
        </p:txBody>
      </p:sp>
      <p:sp>
        <p:nvSpPr>
          <p:cNvPr id="23" name="Text 19"/>
          <p:cNvSpPr txBox="1"/>
          <p:nvPr/>
        </p:nvSpPr>
        <p:spPr>
          <a:xfrm>
            <a:off x="594360" y="2587752"/>
            <a:ext cx="168021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IEA</a:t>
            </a:r>
            <a:endParaRPr lang="en-US" sz="850" dirty="0"/>
          </a:p>
        </p:txBody>
      </p:sp>
      <p:sp>
        <p:nvSpPr>
          <p:cNvPr id="24" name="Shape 20"/>
          <p:cNvSpPr/>
          <p:nvPr/>
        </p:nvSpPr>
        <p:spPr>
          <a:xfrm>
            <a:off x="2548890" y="1371600"/>
            <a:ext cx="1954530" cy="1463040"/>
          </a:xfrm>
          <a:prstGeom prst="roundRect">
            <a:avLst>
              <a:gd name="adj" fmla="val 5000"/>
            </a:avLst>
          </a:prstGeom>
          <a:solidFill>
            <a:srgbClr val="F4F7F5"/>
          </a:solidFill>
          <a:ln w="9525">
            <a:solidFill>
              <a:srgbClr val="D5DED9"/>
            </a:solidFill>
            <a:prstDash val="solid"/>
          </a:ln>
        </p:spPr>
      </p:sp>
      <p:sp>
        <p:nvSpPr>
          <p:cNvPr id="25" name="Shape 21"/>
          <p:cNvSpPr/>
          <p:nvPr/>
        </p:nvSpPr>
        <p:spPr>
          <a:xfrm>
            <a:off x="4046220" y="1481328"/>
            <a:ext cx="329184" cy="329184"/>
          </a:xfrm>
          <a:prstGeom prst="ellipse">
            <a:avLst/>
          </a:prstGeom>
          <a:solidFill>
            <a:srgbClr val="0E7C86">
              <a:alpha val="22000"/>
            </a:srgbClr>
          </a:solidFill>
          <a:ln/>
        </p:spPr>
      </p:sp>
      <p:pic>
        <p:nvPicPr>
          <p:cNvPr id="26" name="Image 1" descr="preencoded.png"/>
          <p:cNvPicPr>
            <a:picLocks noChangeAspect="1"/>
          </p:cNvPicPr>
          <p:nvPr/>
        </p:nvPicPr>
        <p:blipFill>
          <a:blip r:embed="rId4"/>
          <a:stretch>
            <a:fillRect/>
          </a:stretch>
        </p:blipFill>
        <p:spPr>
          <a:xfrm>
            <a:off x="4125224" y="1560332"/>
            <a:ext cx="171176" cy="171176"/>
          </a:xfrm>
          <a:prstGeom prst="rect">
            <a:avLst/>
          </a:prstGeom>
        </p:spPr>
      </p:pic>
      <p:sp>
        <p:nvSpPr>
          <p:cNvPr id="27" name="Text 22"/>
          <p:cNvSpPr txBox="1"/>
          <p:nvPr/>
        </p:nvSpPr>
        <p:spPr>
          <a:xfrm>
            <a:off x="2686050" y="1444752"/>
            <a:ext cx="1314450" cy="548640"/>
          </a:xfrm>
          <a:prstGeom prst="rect">
            <a:avLst/>
          </a:prstGeom>
          <a:noFill/>
          <a:ln/>
        </p:spPr>
        <p:txBody>
          <a:bodyPr wrap="square" lIns="0" tIns="0" rIns="0" bIns="0" rtlCol="0" anchor="ctr"/>
          <a:lstStyle/>
          <a:p>
            <a:pPr marL="0" indent="0">
              <a:buNone/>
            </a:pPr>
            <a:r>
              <a:rPr lang="en-US" sz="3200" b="1" dirty="0">
                <a:solidFill>
                  <a:srgbClr val="0E7C86"/>
                </a:solidFill>
                <a:latin typeface="Calibri" pitchFamily="34" charset="0"/>
                <a:ea typeface="Calibri" pitchFamily="34" charset="-122"/>
                <a:cs typeface="Calibri" pitchFamily="34" charset="-120"/>
              </a:rPr>
              <a:t>0.6%</a:t>
            </a:r>
            <a:endParaRPr lang="en-US" sz="3200" dirty="0"/>
          </a:p>
        </p:txBody>
      </p:sp>
      <p:sp>
        <p:nvSpPr>
          <p:cNvPr id="28" name="Text 23"/>
          <p:cNvSpPr txBox="1"/>
          <p:nvPr/>
        </p:nvSpPr>
        <p:spPr>
          <a:xfrm>
            <a:off x="2686050" y="2029968"/>
            <a:ext cx="1680210" cy="5486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Africa's share of global data-centre capacity; power is now the main constraint</a:t>
            </a:r>
            <a:endParaRPr lang="en-US" sz="950" dirty="0"/>
          </a:p>
        </p:txBody>
      </p:sp>
      <p:sp>
        <p:nvSpPr>
          <p:cNvPr id="29" name="Text 24"/>
          <p:cNvSpPr txBox="1"/>
          <p:nvPr/>
        </p:nvSpPr>
        <p:spPr>
          <a:xfrm>
            <a:off x="2686050" y="2587752"/>
            <a:ext cx="168021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ADCA 2026</a:t>
            </a:r>
            <a:endParaRPr lang="en-US" sz="850" dirty="0"/>
          </a:p>
        </p:txBody>
      </p:sp>
      <p:sp>
        <p:nvSpPr>
          <p:cNvPr id="30" name="Shape 25"/>
          <p:cNvSpPr/>
          <p:nvPr/>
        </p:nvSpPr>
        <p:spPr>
          <a:xfrm>
            <a:off x="4640580" y="1371600"/>
            <a:ext cx="1954530" cy="1463040"/>
          </a:xfrm>
          <a:prstGeom prst="roundRect">
            <a:avLst>
              <a:gd name="adj" fmla="val 5000"/>
            </a:avLst>
          </a:prstGeom>
          <a:solidFill>
            <a:srgbClr val="F4F7F5"/>
          </a:solidFill>
          <a:ln w="9525">
            <a:solidFill>
              <a:srgbClr val="D5DED9"/>
            </a:solidFill>
            <a:prstDash val="solid"/>
          </a:ln>
        </p:spPr>
      </p:sp>
      <p:sp>
        <p:nvSpPr>
          <p:cNvPr id="31" name="Shape 26"/>
          <p:cNvSpPr/>
          <p:nvPr/>
        </p:nvSpPr>
        <p:spPr>
          <a:xfrm>
            <a:off x="6137910" y="1481328"/>
            <a:ext cx="329184" cy="329184"/>
          </a:xfrm>
          <a:prstGeom prst="ellipse">
            <a:avLst/>
          </a:prstGeom>
          <a:solidFill>
            <a:srgbClr val="00A86A">
              <a:alpha val="22000"/>
            </a:srgbClr>
          </a:solidFill>
          <a:ln/>
        </p:spPr>
      </p:sp>
      <p:pic>
        <p:nvPicPr>
          <p:cNvPr id="32" name="Image 2" descr="preencoded.png"/>
          <p:cNvPicPr>
            <a:picLocks noChangeAspect="1"/>
          </p:cNvPicPr>
          <p:nvPr/>
        </p:nvPicPr>
        <p:blipFill>
          <a:blip r:embed="rId5"/>
          <a:stretch>
            <a:fillRect/>
          </a:stretch>
        </p:blipFill>
        <p:spPr>
          <a:xfrm>
            <a:off x="6216914" y="1560332"/>
            <a:ext cx="171176" cy="171176"/>
          </a:xfrm>
          <a:prstGeom prst="rect">
            <a:avLst/>
          </a:prstGeom>
        </p:spPr>
      </p:pic>
      <p:sp>
        <p:nvSpPr>
          <p:cNvPr id="33" name="Text 27"/>
          <p:cNvSpPr txBox="1"/>
          <p:nvPr/>
        </p:nvSpPr>
        <p:spPr>
          <a:xfrm>
            <a:off x="4777740" y="1444752"/>
            <a:ext cx="1314450" cy="548640"/>
          </a:xfrm>
          <a:prstGeom prst="rect">
            <a:avLst/>
          </a:prstGeom>
          <a:noFill/>
          <a:ln/>
        </p:spPr>
        <p:txBody>
          <a:bodyPr wrap="square" lIns="0" tIns="0" rIns="0" bIns="0" rtlCol="0" anchor="ctr"/>
          <a:lstStyle/>
          <a:p>
            <a:pPr marL="0" indent="0">
              <a:buNone/>
            </a:pPr>
            <a:r>
              <a:rPr lang="en-US" sz="3200" b="1" dirty="0">
                <a:solidFill>
                  <a:srgbClr val="00A86A"/>
                </a:solidFill>
                <a:latin typeface="Calibri" pitchFamily="34" charset="0"/>
                <a:ea typeface="Calibri" pitchFamily="34" charset="-122"/>
                <a:cs typeface="Calibri" pitchFamily="34" charset="-120"/>
              </a:rPr>
              <a:t>40+</a:t>
            </a:r>
            <a:endParaRPr lang="en-US" sz="3200" dirty="0"/>
          </a:p>
        </p:txBody>
      </p:sp>
      <p:sp>
        <p:nvSpPr>
          <p:cNvPr id="34" name="Text 28"/>
          <p:cNvSpPr txBox="1"/>
          <p:nvPr/>
        </p:nvSpPr>
        <p:spPr>
          <a:xfrm>
            <a:off x="4777740" y="2029968"/>
            <a:ext cx="1680210" cy="5486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African countries have enacted data protection laws</a:t>
            </a:r>
            <a:endParaRPr lang="en-US" sz="950" dirty="0"/>
          </a:p>
        </p:txBody>
      </p:sp>
      <p:sp>
        <p:nvSpPr>
          <p:cNvPr id="35" name="Text 29"/>
          <p:cNvSpPr txBox="1"/>
          <p:nvPr/>
        </p:nvSpPr>
        <p:spPr>
          <a:xfrm>
            <a:off x="4777740" y="2587752"/>
            <a:ext cx="168021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ADCA 2026</a:t>
            </a:r>
            <a:endParaRPr lang="en-US" sz="850" dirty="0"/>
          </a:p>
        </p:txBody>
      </p:sp>
      <p:sp>
        <p:nvSpPr>
          <p:cNvPr id="36" name="Shape 30"/>
          <p:cNvSpPr/>
          <p:nvPr/>
        </p:nvSpPr>
        <p:spPr>
          <a:xfrm>
            <a:off x="6732270" y="1371600"/>
            <a:ext cx="1954530" cy="1463040"/>
          </a:xfrm>
          <a:prstGeom prst="roundRect">
            <a:avLst>
              <a:gd name="adj" fmla="val 5000"/>
            </a:avLst>
          </a:prstGeom>
          <a:solidFill>
            <a:srgbClr val="F4F7F5"/>
          </a:solidFill>
          <a:ln w="9525">
            <a:solidFill>
              <a:srgbClr val="D5DED9"/>
            </a:solidFill>
            <a:prstDash val="solid"/>
          </a:ln>
        </p:spPr>
      </p:sp>
      <p:sp>
        <p:nvSpPr>
          <p:cNvPr id="37" name="Shape 31"/>
          <p:cNvSpPr/>
          <p:nvPr/>
        </p:nvSpPr>
        <p:spPr>
          <a:xfrm>
            <a:off x="8229600" y="1481328"/>
            <a:ext cx="329184" cy="329184"/>
          </a:xfrm>
          <a:prstGeom prst="ellipse">
            <a:avLst/>
          </a:prstGeom>
          <a:solidFill>
            <a:srgbClr val="C4621D">
              <a:alpha val="22000"/>
            </a:srgbClr>
          </a:solidFill>
          <a:ln/>
        </p:spPr>
      </p:sp>
      <p:pic>
        <p:nvPicPr>
          <p:cNvPr id="38" name="Image 3" descr="preencoded.png"/>
          <p:cNvPicPr>
            <a:picLocks noChangeAspect="1"/>
          </p:cNvPicPr>
          <p:nvPr/>
        </p:nvPicPr>
        <p:blipFill>
          <a:blip r:embed="rId6"/>
          <a:stretch>
            <a:fillRect/>
          </a:stretch>
        </p:blipFill>
        <p:spPr>
          <a:xfrm>
            <a:off x="8308604" y="1560332"/>
            <a:ext cx="171176" cy="171176"/>
          </a:xfrm>
          <a:prstGeom prst="rect">
            <a:avLst/>
          </a:prstGeom>
        </p:spPr>
      </p:pic>
      <p:sp>
        <p:nvSpPr>
          <p:cNvPr id="39" name="Text 32"/>
          <p:cNvSpPr txBox="1"/>
          <p:nvPr/>
        </p:nvSpPr>
        <p:spPr>
          <a:xfrm>
            <a:off x="6869430" y="1444752"/>
            <a:ext cx="1314450" cy="548640"/>
          </a:xfrm>
          <a:prstGeom prst="rect">
            <a:avLst/>
          </a:prstGeom>
          <a:noFill/>
          <a:ln/>
        </p:spPr>
        <p:txBody>
          <a:bodyPr wrap="square" lIns="0" tIns="0" rIns="0" bIns="0" rtlCol="0" anchor="ctr"/>
          <a:lstStyle/>
          <a:p>
            <a:pPr marL="0" indent="0">
              <a:buNone/>
            </a:pPr>
            <a:r>
              <a:rPr lang="en-US" sz="3200" b="1" dirty="0">
                <a:solidFill>
                  <a:srgbClr val="C4621D"/>
                </a:solidFill>
                <a:latin typeface="Calibri" pitchFamily="34" charset="0"/>
                <a:ea typeface="Calibri" pitchFamily="34" charset="-122"/>
                <a:cs typeface="Calibri" pitchFamily="34" charset="-120"/>
              </a:rPr>
              <a:t>&lt; 2%</a:t>
            </a:r>
            <a:endParaRPr lang="en-US" sz="3200" dirty="0"/>
          </a:p>
        </p:txBody>
      </p:sp>
      <p:sp>
        <p:nvSpPr>
          <p:cNvPr id="40" name="Text 33"/>
          <p:cNvSpPr txBox="1"/>
          <p:nvPr/>
        </p:nvSpPr>
        <p:spPr>
          <a:xfrm>
            <a:off x="6869430" y="2029968"/>
            <a:ext cx="1680210" cy="5486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of Africa's ~2,000 languages are adequately supported by large language models</a:t>
            </a:r>
            <a:endParaRPr lang="en-US" sz="950" dirty="0"/>
          </a:p>
        </p:txBody>
      </p:sp>
      <p:sp>
        <p:nvSpPr>
          <p:cNvPr id="41" name="Text 34"/>
          <p:cNvSpPr txBox="1"/>
          <p:nvPr/>
        </p:nvSpPr>
        <p:spPr>
          <a:xfrm>
            <a:off x="6869430" y="2587752"/>
            <a:ext cx="168021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BCG 2026</a:t>
            </a:r>
            <a:endParaRPr lang="en-US" sz="850" dirty="0"/>
          </a:p>
        </p:txBody>
      </p:sp>
      <p:sp>
        <p:nvSpPr>
          <p:cNvPr id="42" name="Text 35"/>
          <p:cNvSpPr txBox="1"/>
          <p:nvPr/>
        </p:nvSpPr>
        <p:spPr>
          <a:xfrm>
            <a:off x="457200" y="2971800"/>
            <a:ext cx="45720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WHAT IT MEANS IN PRACTICE</a:t>
            </a:r>
            <a:endParaRPr lang="en-US" sz="900" dirty="0"/>
          </a:p>
        </p:txBody>
      </p:sp>
      <p:sp>
        <p:nvSpPr>
          <p:cNvPr id="43" name="Shape 36"/>
          <p:cNvSpPr/>
          <p:nvPr/>
        </p:nvSpPr>
        <p:spPr>
          <a:xfrm>
            <a:off x="457200" y="3200400"/>
            <a:ext cx="1954530" cy="1353312"/>
          </a:xfrm>
          <a:prstGeom prst="roundRect">
            <a:avLst>
              <a:gd name="adj" fmla="val 5405"/>
            </a:avLst>
          </a:prstGeom>
          <a:solidFill>
            <a:srgbClr val="F4F7F5"/>
          </a:solidFill>
          <a:ln w="9525">
            <a:solidFill>
              <a:srgbClr val="D5DED9"/>
            </a:solidFill>
            <a:prstDash val="solid"/>
          </a:ln>
        </p:spPr>
      </p:sp>
      <p:sp>
        <p:nvSpPr>
          <p:cNvPr id="44" name="Shape 37"/>
          <p:cNvSpPr/>
          <p:nvPr/>
        </p:nvSpPr>
        <p:spPr>
          <a:xfrm>
            <a:off x="566928" y="3310128"/>
            <a:ext cx="310896" cy="310896"/>
          </a:xfrm>
          <a:prstGeom prst="ellipse">
            <a:avLst/>
          </a:prstGeom>
          <a:solidFill>
            <a:srgbClr val="00A86A">
              <a:alpha val="22000"/>
            </a:srgbClr>
          </a:solidFill>
          <a:ln/>
        </p:spPr>
      </p:sp>
      <p:pic>
        <p:nvPicPr>
          <p:cNvPr id="45" name="Image 4" descr="preencoded.png"/>
          <p:cNvPicPr>
            <a:picLocks noChangeAspect="1"/>
          </p:cNvPicPr>
          <p:nvPr/>
        </p:nvPicPr>
        <p:blipFill>
          <a:blip r:embed="rId7"/>
          <a:stretch>
            <a:fillRect/>
          </a:stretch>
        </p:blipFill>
        <p:spPr>
          <a:xfrm>
            <a:off x="641543" y="3384743"/>
            <a:ext cx="161666" cy="161666"/>
          </a:xfrm>
          <a:prstGeom prst="rect">
            <a:avLst/>
          </a:prstGeom>
        </p:spPr>
      </p:pic>
      <p:sp>
        <p:nvSpPr>
          <p:cNvPr id="46" name="Text 38"/>
          <p:cNvSpPr txBox="1"/>
          <p:nvPr/>
        </p:nvSpPr>
        <p:spPr>
          <a:xfrm>
            <a:off x="950976" y="3291840"/>
            <a:ext cx="1387602" cy="36576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Power first</a:t>
            </a:r>
            <a:endParaRPr lang="en-US" sz="1050" dirty="0"/>
          </a:p>
        </p:txBody>
      </p:sp>
      <p:sp>
        <p:nvSpPr>
          <p:cNvPr id="47" name="Text 39"/>
          <p:cNvSpPr txBox="1"/>
          <p:nvPr/>
        </p:nvSpPr>
        <p:spPr>
          <a:xfrm>
            <a:off x="566928" y="3712464"/>
            <a:ext cx="1735074" cy="77724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Check kW capacity and backup autonomy before choosing hardware.</a:t>
            </a:r>
            <a:endParaRPr lang="en-US" sz="950" dirty="0"/>
          </a:p>
        </p:txBody>
      </p:sp>
      <p:sp>
        <p:nvSpPr>
          <p:cNvPr id="48" name="Shape 40"/>
          <p:cNvSpPr/>
          <p:nvPr/>
        </p:nvSpPr>
        <p:spPr>
          <a:xfrm>
            <a:off x="2548890" y="3200400"/>
            <a:ext cx="1954530" cy="1353312"/>
          </a:xfrm>
          <a:prstGeom prst="roundRect">
            <a:avLst>
              <a:gd name="adj" fmla="val 5405"/>
            </a:avLst>
          </a:prstGeom>
          <a:solidFill>
            <a:srgbClr val="F4F7F5"/>
          </a:solidFill>
          <a:ln w="9525">
            <a:solidFill>
              <a:srgbClr val="D5DED9"/>
            </a:solidFill>
            <a:prstDash val="solid"/>
          </a:ln>
        </p:spPr>
      </p:sp>
      <p:sp>
        <p:nvSpPr>
          <p:cNvPr id="49" name="Shape 41"/>
          <p:cNvSpPr/>
          <p:nvPr/>
        </p:nvSpPr>
        <p:spPr>
          <a:xfrm>
            <a:off x="2658618" y="3310128"/>
            <a:ext cx="310896" cy="310896"/>
          </a:xfrm>
          <a:prstGeom prst="ellipse">
            <a:avLst/>
          </a:prstGeom>
          <a:solidFill>
            <a:srgbClr val="00A86A">
              <a:alpha val="22000"/>
            </a:srgbClr>
          </a:solidFill>
          <a:ln/>
        </p:spPr>
      </p:sp>
      <p:pic>
        <p:nvPicPr>
          <p:cNvPr id="50" name="Image 5" descr="preencoded.png"/>
          <p:cNvPicPr>
            <a:picLocks noChangeAspect="1"/>
          </p:cNvPicPr>
          <p:nvPr/>
        </p:nvPicPr>
        <p:blipFill>
          <a:blip r:embed="rId8"/>
          <a:stretch>
            <a:fillRect/>
          </a:stretch>
        </p:blipFill>
        <p:spPr>
          <a:xfrm>
            <a:off x="2733233" y="3384743"/>
            <a:ext cx="161666" cy="161666"/>
          </a:xfrm>
          <a:prstGeom prst="rect">
            <a:avLst/>
          </a:prstGeom>
        </p:spPr>
      </p:pic>
      <p:sp>
        <p:nvSpPr>
          <p:cNvPr id="51" name="Text 42"/>
          <p:cNvSpPr txBox="1"/>
          <p:nvPr/>
        </p:nvSpPr>
        <p:spPr>
          <a:xfrm>
            <a:off x="3042666" y="3291840"/>
            <a:ext cx="1387602" cy="36576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Hosting is a sovereignty choice</a:t>
            </a:r>
            <a:endParaRPr lang="en-US" sz="1050" dirty="0"/>
          </a:p>
        </p:txBody>
      </p:sp>
      <p:sp>
        <p:nvSpPr>
          <p:cNvPr id="52" name="Text 43"/>
          <p:cNvSpPr txBox="1"/>
          <p:nvPr/>
        </p:nvSpPr>
        <p:spPr>
          <a:xfrm>
            <a:off x="2658618" y="3712464"/>
            <a:ext cx="1735074" cy="77724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Few in-country options; cross-border hosting needs a legal basis.</a:t>
            </a:r>
            <a:endParaRPr lang="en-US" sz="950" dirty="0"/>
          </a:p>
        </p:txBody>
      </p:sp>
      <p:sp>
        <p:nvSpPr>
          <p:cNvPr id="53" name="Shape 44"/>
          <p:cNvSpPr/>
          <p:nvPr/>
        </p:nvSpPr>
        <p:spPr>
          <a:xfrm>
            <a:off x="4640580" y="3200400"/>
            <a:ext cx="1954530" cy="1353312"/>
          </a:xfrm>
          <a:prstGeom prst="roundRect">
            <a:avLst>
              <a:gd name="adj" fmla="val 5405"/>
            </a:avLst>
          </a:prstGeom>
          <a:solidFill>
            <a:srgbClr val="F4F7F5"/>
          </a:solidFill>
          <a:ln w="9525">
            <a:solidFill>
              <a:srgbClr val="D5DED9"/>
            </a:solidFill>
            <a:prstDash val="solid"/>
          </a:ln>
        </p:spPr>
      </p:sp>
      <p:sp>
        <p:nvSpPr>
          <p:cNvPr id="54" name="Shape 45"/>
          <p:cNvSpPr/>
          <p:nvPr/>
        </p:nvSpPr>
        <p:spPr>
          <a:xfrm>
            <a:off x="4750308" y="3310128"/>
            <a:ext cx="310896" cy="310896"/>
          </a:xfrm>
          <a:prstGeom prst="ellipse">
            <a:avLst/>
          </a:prstGeom>
          <a:solidFill>
            <a:srgbClr val="00A86A">
              <a:alpha val="22000"/>
            </a:srgbClr>
          </a:solidFill>
          <a:ln/>
        </p:spPr>
      </p:sp>
      <p:pic>
        <p:nvPicPr>
          <p:cNvPr id="55" name="Image 6" descr="preencoded.png"/>
          <p:cNvPicPr>
            <a:picLocks noChangeAspect="1"/>
          </p:cNvPicPr>
          <p:nvPr/>
        </p:nvPicPr>
        <p:blipFill>
          <a:blip r:embed="rId9"/>
          <a:stretch>
            <a:fillRect/>
          </a:stretch>
        </p:blipFill>
        <p:spPr>
          <a:xfrm>
            <a:off x="4824923" y="3384743"/>
            <a:ext cx="161666" cy="161666"/>
          </a:xfrm>
          <a:prstGeom prst="rect">
            <a:avLst/>
          </a:prstGeom>
        </p:spPr>
      </p:pic>
      <p:sp>
        <p:nvSpPr>
          <p:cNvPr id="56" name="Text 46"/>
          <p:cNvSpPr txBox="1"/>
          <p:nvPr/>
        </p:nvSpPr>
        <p:spPr>
          <a:xfrm>
            <a:off x="5134356" y="3291840"/>
            <a:ext cx="1387602" cy="36576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An uneven legal map</a:t>
            </a:r>
            <a:endParaRPr lang="en-US" sz="1050" dirty="0"/>
          </a:p>
        </p:txBody>
      </p:sp>
      <p:sp>
        <p:nvSpPr>
          <p:cNvPr id="57" name="Text 47"/>
          <p:cNvSpPr txBox="1"/>
          <p:nvPr/>
        </p:nvSpPr>
        <p:spPr>
          <a:xfrm>
            <a:off x="4750308" y="3712464"/>
            <a:ext cx="1735074" cy="77724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Align with your statistics act, national data law and AU frameworks.</a:t>
            </a:r>
            <a:endParaRPr lang="en-US" sz="950" dirty="0"/>
          </a:p>
        </p:txBody>
      </p:sp>
      <p:sp>
        <p:nvSpPr>
          <p:cNvPr id="58" name="Shape 48"/>
          <p:cNvSpPr/>
          <p:nvPr/>
        </p:nvSpPr>
        <p:spPr>
          <a:xfrm>
            <a:off x="6732270" y="3200400"/>
            <a:ext cx="1954530" cy="1353312"/>
          </a:xfrm>
          <a:prstGeom prst="roundRect">
            <a:avLst>
              <a:gd name="adj" fmla="val 5405"/>
            </a:avLst>
          </a:prstGeom>
          <a:solidFill>
            <a:srgbClr val="E8F5EF"/>
          </a:solidFill>
          <a:ln w="15875">
            <a:solidFill>
              <a:srgbClr val="00A86A"/>
            </a:solidFill>
            <a:prstDash val="solid"/>
          </a:ln>
        </p:spPr>
      </p:sp>
      <p:sp>
        <p:nvSpPr>
          <p:cNvPr id="59" name="Shape 49"/>
          <p:cNvSpPr/>
          <p:nvPr/>
        </p:nvSpPr>
        <p:spPr>
          <a:xfrm>
            <a:off x="6841998" y="3310128"/>
            <a:ext cx="310896" cy="310896"/>
          </a:xfrm>
          <a:prstGeom prst="ellipse">
            <a:avLst/>
          </a:prstGeom>
          <a:solidFill>
            <a:srgbClr val="00A86A">
              <a:alpha val="22000"/>
            </a:srgbClr>
          </a:solidFill>
          <a:ln/>
        </p:spPr>
      </p:sp>
      <p:pic>
        <p:nvPicPr>
          <p:cNvPr id="60" name="Image 7" descr="preencoded.png"/>
          <p:cNvPicPr>
            <a:picLocks noChangeAspect="1"/>
          </p:cNvPicPr>
          <p:nvPr/>
        </p:nvPicPr>
        <p:blipFill>
          <a:blip r:embed="rId10"/>
          <a:stretch>
            <a:fillRect/>
          </a:stretch>
        </p:blipFill>
        <p:spPr>
          <a:xfrm>
            <a:off x="6916613" y="3384743"/>
            <a:ext cx="161666" cy="161666"/>
          </a:xfrm>
          <a:prstGeom prst="rect">
            <a:avLst/>
          </a:prstGeom>
        </p:spPr>
      </p:pic>
      <p:sp>
        <p:nvSpPr>
          <p:cNvPr id="61" name="Text 50"/>
          <p:cNvSpPr txBox="1"/>
          <p:nvPr/>
        </p:nvSpPr>
        <p:spPr>
          <a:xfrm>
            <a:off x="7226046" y="3291840"/>
            <a:ext cx="1387602" cy="36576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The opportunity</a:t>
            </a:r>
            <a:endParaRPr lang="en-US" sz="1050" dirty="0"/>
          </a:p>
        </p:txBody>
      </p:sp>
      <p:sp>
        <p:nvSpPr>
          <p:cNvPr id="62" name="Text 51"/>
          <p:cNvSpPr txBox="1"/>
          <p:nvPr/>
        </p:nvSpPr>
        <p:spPr>
          <a:xfrm>
            <a:off x="6841998" y="3712464"/>
            <a:ext cx="1735074" cy="77724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Most value comes from light inference and classical ML — no giant clusters needed.</a:t>
            </a:r>
            <a:endParaRPr lang="en-US" sz="950" dirty="0"/>
          </a:p>
        </p:txBody>
      </p:sp>
      <p:sp>
        <p:nvSpPr>
          <p:cNvPr id="63" name="Text 52"/>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Sources: IEA (2025); Africa Data Centres Association (ADCA), Data Centres in Africa 2026; BCG, Advancing Africa's AI and Digital Economy (2026).</a:t>
            </a:r>
            <a:endParaRPr lang="en-US" sz="8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REFERENCE ARCHITECTURE</a:t>
            </a:r>
            <a:endParaRPr lang="en-US" sz="1050" dirty="0"/>
          </a:p>
        </p:txBody>
      </p:sp>
      <p:sp>
        <p:nvSpPr>
          <p:cNvPr id="7" name="Shape 5"/>
          <p:cNvSpPr/>
          <p:nvPr/>
        </p:nvSpPr>
        <p:spPr>
          <a:xfrm>
            <a:off x="7658100" y="278892"/>
            <a:ext cx="118872" cy="118872"/>
          </a:xfrm>
          <a:prstGeom prst="ellipse">
            <a:avLst/>
          </a:prstGeom>
          <a:solidFill>
            <a:srgbClr val="00A86A"/>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Five layers, one governance plane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Read it bottom-up: each layer is only as useful as the one beneath it</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8" name="Shape 15"/>
          <p:cNvSpPr/>
          <p:nvPr/>
        </p:nvSpPr>
        <p:spPr>
          <a:xfrm>
            <a:off x="777240" y="1371600"/>
            <a:ext cx="4983480" cy="475488"/>
          </a:xfrm>
          <a:prstGeom prst="roundRect">
            <a:avLst>
              <a:gd name="adj" fmla="val 11538"/>
            </a:avLst>
          </a:prstGeom>
          <a:solidFill>
            <a:srgbClr val="10A06A"/>
          </a:solidFill>
          <a:ln/>
        </p:spPr>
      </p:sp>
      <p:sp>
        <p:nvSpPr>
          <p:cNvPr id="19" name="Text 16"/>
          <p:cNvSpPr txBox="1"/>
          <p:nvPr/>
        </p:nvSpPr>
        <p:spPr>
          <a:xfrm>
            <a:off x="868680" y="1371600"/>
            <a:ext cx="457200" cy="475488"/>
          </a:xfrm>
          <a:prstGeom prst="rect">
            <a:avLst/>
          </a:prstGeom>
          <a:noFill/>
          <a:ln/>
        </p:spPr>
        <p:txBody>
          <a:bodyPr wrap="square" lIns="0" tIns="0" rIns="0" bIns="0" rtlCol="0" anchor="ctr"/>
          <a:lstStyle/>
          <a:p>
            <a:pPr marL="0" indent="0">
              <a:buNone/>
            </a:pPr>
            <a:r>
              <a:rPr lang="en-US" sz="1600" b="1" dirty="0">
                <a:solidFill>
                  <a:srgbClr val="F5C242"/>
                </a:solidFill>
                <a:latin typeface="Calibri" pitchFamily="34" charset="0"/>
                <a:ea typeface="Calibri" pitchFamily="34" charset="-122"/>
                <a:cs typeface="Calibri" pitchFamily="34" charset="-120"/>
              </a:rPr>
              <a:t>L5</a:t>
            </a:r>
            <a:endParaRPr lang="en-US" sz="1600" dirty="0"/>
          </a:p>
        </p:txBody>
      </p:sp>
      <p:sp>
        <p:nvSpPr>
          <p:cNvPr id="20" name="Text 17"/>
          <p:cNvSpPr txBox="1"/>
          <p:nvPr/>
        </p:nvSpPr>
        <p:spPr>
          <a:xfrm>
            <a:off x="1371600" y="1417320"/>
            <a:ext cx="4297680" cy="201168"/>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Use and oversight</a:t>
            </a:r>
            <a:endParaRPr lang="en-US" sz="1200" dirty="0"/>
          </a:p>
        </p:txBody>
      </p:sp>
      <p:sp>
        <p:nvSpPr>
          <p:cNvPr id="21" name="Text 18"/>
          <p:cNvSpPr txBox="1"/>
          <p:nvPr/>
        </p:nvSpPr>
        <p:spPr>
          <a:xfrm>
            <a:off x="1371600" y="1618488"/>
            <a:ext cx="4297680" cy="182880"/>
          </a:xfrm>
          <a:prstGeom prst="rect">
            <a:avLst/>
          </a:prstGeom>
          <a:noFill/>
          <a:ln/>
        </p:spPr>
        <p:txBody>
          <a:bodyPr wrap="square" lIns="0" tIns="0" rIns="0" bIns="0" rtlCol="0" anchor="t"/>
          <a:lstStyle/>
          <a:p>
            <a:pPr marL="0" indent="0">
              <a:buNone/>
            </a:pPr>
            <a:r>
              <a:rPr lang="en-US" sz="900" dirty="0">
                <a:solidFill>
                  <a:srgbClr val="FFFFFF"/>
                </a:solidFill>
                <a:latin typeface="Calibri" pitchFamily="34" charset="0"/>
                <a:ea typeface="Calibri" pitchFamily="34" charset="-122"/>
                <a:cs typeface="Calibri" pitchFamily="34" charset="-120"/>
              </a:rPr>
              <a:t>Human review · methodological sign-off · quality gates · publication</a:t>
            </a:r>
            <a:endParaRPr lang="en-US" sz="900" dirty="0"/>
          </a:p>
        </p:txBody>
      </p:sp>
      <p:sp>
        <p:nvSpPr>
          <p:cNvPr id="22" name="Shape 19"/>
          <p:cNvSpPr/>
          <p:nvPr/>
        </p:nvSpPr>
        <p:spPr>
          <a:xfrm>
            <a:off x="777240" y="1911096"/>
            <a:ext cx="4983480" cy="475488"/>
          </a:xfrm>
          <a:prstGeom prst="roundRect">
            <a:avLst>
              <a:gd name="adj" fmla="val 11538"/>
            </a:avLst>
          </a:prstGeom>
          <a:solidFill>
            <a:srgbClr val="008A5B"/>
          </a:solidFill>
          <a:ln/>
        </p:spPr>
      </p:sp>
      <p:sp>
        <p:nvSpPr>
          <p:cNvPr id="23" name="Text 20"/>
          <p:cNvSpPr txBox="1"/>
          <p:nvPr/>
        </p:nvSpPr>
        <p:spPr>
          <a:xfrm>
            <a:off x="868680" y="1911096"/>
            <a:ext cx="457200" cy="475488"/>
          </a:xfrm>
          <a:prstGeom prst="rect">
            <a:avLst/>
          </a:prstGeom>
          <a:noFill/>
          <a:ln/>
        </p:spPr>
        <p:txBody>
          <a:bodyPr wrap="square" lIns="0" tIns="0" rIns="0" bIns="0" rtlCol="0" anchor="ctr"/>
          <a:lstStyle/>
          <a:p>
            <a:pPr marL="0" indent="0">
              <a:buNone/>
            </a:pPr>
            <a:r>
              <a:rPr lang="en-US" sz="1600" b="1" dirty="0">
                <a:solidFill>
                  <a:srgbClr val="F5C242"/>
                </a:solidFill>
                <a:latin typeface="Calibri" pitchFamily="34" charset="0"/>
                <a:ea typeface="Calibri" pitchFamily="34" charset="-122"/>
                <a:cs typeface="Calibri" pitchFamily="34" charset="-120"/>
              </a:rPr>
              <a:t>L4</a:t>
            </a:r>
            <a:endParaRPr lang="en-US" sz="1600" dirty="0"/>
          </a:p>
        </p:txBody>
      </p:sp>
      <p:sp>
        <p:nvSpPr>
          <p:cNvPr id="24" name="Text 21"/>
          <p:cNvSpPr txBox="1"/>
          <p:nvPr/>
        </p:nvSpPr>
        <p:spPr>
          <a:xfrm>
            <a:off x="1371600" y="1956816"/>
            <a:ext cx="4297680" cy="201168"/>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Applications</a:t>
            </a:r>
            <a:endParaRPr lang="en-US" sz="1200" dirty="0"/>
          </a:p>
        </p:txBody>
      </p:sp>
      <p:sp>
        <p:nvSpPr>
          <p:cNvPr id="25" name="Text 22"/>
          <p:cNvSpPr txBox="1"/>
          <p:nvPr/>
        </p:nvSpPr>
        <p:spPr>
          <a:xfrm>
            <a:off x="1371600" y="2157984"/>
            <a:ext cx="4297680" cy="182880"/>
          </a:xfrm>
          <a:prstGeom prst="rect">
            <a:avLst/>
          </a:prstGeom>
          <a:noFill/>
          <a:ln/>
        </p:spPr>
        <p:txBody>
          <a:bodyPr wrap="square" lIns="0" tIns="0" rIns="0" bIns="0" rtlCol="0" anchor="t"/>
          <a:lstStyle/>
          <a:p>
            <a:pPr marL="0" indent="0">
              <a:buNone/>
            </a:pPr>
            <a:r>
              <a:rPr lang="en-US" sz="900" dirty="0">
                <a:solidFill>
                  <a:srgbClr val="FFFFFF"/>
                </a:solidFill>
                <a:latin typeface="Calibri" pitchFamily="34" charset="0"/>
                <a:ea typeface="Calibri" pitchFamily="34" charset="-122"/>
                <a:cs typeface="Calibri" pitchFamily="34" charset="-120"/>
              </a:rPr>
              <a:t>Batch pipelines · retrieval over internal documents · APIs · analyst tools</a:t>
            </a:r>
            <a:endParaRPr lang="en-US" sz="900" dirty="0"/>
          </a:p>
        </p:txBody>
      </p:sp>
      <p:sp>
        <p:nvSpPr>
          <p:cNvPr id="26" name="Shape 23"/>
          <p:cNvSpPr/>
          <p:nvPr/>
        </p:nvSpPr>
        <p:spPr>
          <a:xfrm>
            <a:off x="777240" y="2450592"/>
            <a:ext cx="4983480" cy="475488"/>
          </a:xfrm>
          <a:prstGeom prst="roundRect">
            <a:avLst>
              <a:gd name="adj" fmla="val 11538"/>
            </a:avLst>
          </a:prstGeom>
          <a:solidFill>
            <a:srgbClr val="00704A"/>
          </a:solidFill>
          <a:ln/>
        </p:spPr>
      </p:sp>
      <p:sp>
        <p:nvSpPr>
          <p:cNvPr id="27" name="Text 24"/>
          <p:cNvSpPr txBox="1"/>
          <p:nvPr/>
        </p:nvSpPr>
        <p:spPr>
          <a:xfrm>
            <a:off x="868680" y="2450592"/>
            <a:ext cx="457200" cy="475488"/>
          </a:xfrm>
          <a:prstGeom prst="rect">
            <a:avLst/>
          </a:prstGeom>
          <a:noFill/>
          <a:ln/>
        </p:spPr>
        <p:txBody>
          <a:bodyPr wrap="square" lIns="0" tIns="0" rIns="0" bIns="0" rtlCol="0" anchor="ctr"/>
          <a:lstStyle/>
          <a:p>
            <a:pPr marL="0" indent="0">
              <a:buNone/>
            </a:pPr>
            <a:r>
              <a:rPr lang="en-US" sz="1600" b="1" dirty="0">
                <a:solidFill>
                  <a:srgbClr val="F5C242"/>
                </a:solidFill>
                <a:latin typeface="Calibri" pitchFamily="34" charset="0"/>
                <a:ea typeface="Calibri" pitchFamily="34" charset="-122"/>
                <a:cs typeface="Calibri" pitchFamily="34" charset="-120"/>
              </a:rPr>
              <a:t>L3</a:t>
            </a:r>
            <a:endParaRPr lang="en-US" sz="1600" dirty="0"/>
          </a:p>
        </p:txBody>
      </p:sp>
      <p:sp>
        <p:nvSpPr>
          <p:cNvPr id="28" name="Text 25"/>
          <p:cNvSpPr txBox="1"/>
          <p:nvPr/>
        </p:nvSpPr>
        <p:spPr>
          <a:xfrm>
            <a:off x="1371600" y="2496312"/>
            <a:ext cx="4297680" cy="201168"/>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Models and MLOps</a:t>
            </a:r>
            <a:endParaRPr lang="en-US" sz="1200" dirty="0"/>
          </a:p>
        </p:txBody>
      </p:sp>
      <p:sp>
        <p:nvSpPr>
          <p:cNvPr id="29" name="Text 26"/>
          <p:cNvSpPr txBox="1"/>
          <p:nvPr/>
        </p:nvSpPr>
        <p:spPr>
          <a:xfrm>
            <a:off x="1371600" y="2697480"/>
            <a:ext cx="4297680" cy="182880"/>
          </a:xfrm>
          <a:prstGeom prst="rect">
            <a:avLst/>
          </a:prstGeom>
          <a:noFill/>
          <a:ln/>
        </p:spPr>
        <p:txBody>
          <a:bodyPr wrap="square" lIns="0" tIns="0" rIns="0" bIns="0" rtlCol="0" anchor="t"/>
          <a:lstStyle/>
          <a:p>
            <a:pPr marL="0" indent="0">
              <a:buNone/>
            </a:pPr>
            <a:r>
              <a:rPr lang="en-US" sz="900" dirty="0">
                <a:solidFill>
                  <a:srgbClr val="FFFFFF"/>
                </a:solidFill>
                <a:latin typeface="Calibri" pitchFamily="34" charset="0"/>
                <a:ea typeface="Calibri" pitchFamily="34" charset="-122"/>
                <a:cs typeface="Calibri" pitchFamily="34" charset="-120"/>
              </a:rPr>
              <a:t>Training · fine-tuning · registry · serving · evaluation · drift monitoring</a:t>
            </a:r>
            <a:endParaRPr lang="en-US" sz="900" dirty="0"/>
          </a:p>
        </p:txBody>
      </p:sp>
      <p:sp>
        <p:nvSpPr>
          <p:cNvPr id="30" name="Shape 27"/>
          <p:cNvSpPr/>
          <p:nvPr/>
        </p:nvSpPr>
        <p:spPr>
          <a:xfrm>
            <a:off x="777240" y="2990088"/>
            <a:ext cx="4983480" cy="475488"/>
          </a:xfrm>
          <a:prstGeom prst="roundRect">
            <a:avLst>
              <a:gd name="adj" fmla="val 11538"/>
            </a:avLst>
          </a:prstGeom>
          <a:solidFill>
            <a:srgbClr val="00664A"/>
          </a:solidFill>
          <a:ln/>
        </p:spPr>
      </p:sp>
      <p:sp>
        <p:nvSpPr>
          <p:cNvPr id="31" name="Text 28"/>
          <p:cNvSpPr txBox="1"/>
          <p:nvPr/>
        </p:nvSpPr>
        <p:spPr>
          <a:xfrm>
            <a:off x="868680" y="2990088"/>
            <a:ext cx="457200" cy="475488"/>
          </a:xfrm>
          <a:prstGeom prst="rect">
            <a:avLst/>
          </a:prstGeom>
          <a:noFill/>
          <a:ln/>
        </p:spPr>
        <p:txBody>
          <a:bodyPr wrap="square" lIns="0" tIns="0" rIns="0" bIns="0" rtlCol="0" anchor="ctr"/>
          <a:lstStyle/>
          <a:p>
            <a:pPr marL="0" indent="0">
              <a:buNone/>
            </a:pPr>
            <a:r>
              <a:rPr lang="en-US" sz="1600" b="1" dirty="0">
                <a:solidFill>
                  <a:srgbClr val="F5C242"/>
                </a:solidFill>
                <a:latin typeface="Calibri" pitchFamily="34" charset="0"/>
                <a:ea typeface="Calibri" pitchFamily="34" charset="-122"/>
                <a:cs typeface="Calibri" pitchFamily="34" charset="-120"/>
              </a:rPr>
              <a:t>L2</a:t>
            </a:r>
            <a:endParaRPr lang="en-US" sz="1600" dirty="0"/>
          </a:p>
        </p:txBody>
      </p:sp>
      <p:sp>
        <p:nvSpPr>
          <p:cNvPr id="32" name="Text 29"/>
          <p:cNvSpPr txBox="1"/>
          <p:nvPr/>
        </p:nvSpPr>
        <p:spPr>
          <a:xfrm>
            <a:off x="1371600" y="3035808"/>
            <a:ext cx="4297680" cy="201168"/>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Data platform</a:t>
            </a:r>
            <a:endParaRPr lang="en-US" sz="1200" dirty="0"/>
          </a:p>
        </p:txBody>
      </p:sp>
      <p:sp>
        <p:nvSpPr>
          <p:cNvPr id="33" name="Text 30"/>
          <p:cNvSpPr txBox="1"/>
          <p:nvPr/>
        </p:nvSpPr>
        <p:spPr>
          <a:xfrm>
            <a:off x="1371600" y="3236976"/>
            <a:ext cx="4297680" cy="182880"/>
          </a:xfrm>
          <a:prstGeom prst="rect">
            <a:avLst/>
          </a:prstGeom>
          <a:noFill/>
          <a:ln/>
        </p:spPr>
        <p:txBody>
          <a:bodyPr wrap="square" lIns="0" tIns="0" rIns="0" bIns="0" rtlCol="0" anchor="t"/>
          <a:lstStyle/>
          <a:p>
            <a:pPr marL="0" indent="0">
              <a:buNone/>
            </a:pPr>
            <a:r>
              <a:rPr lang="en-US" sz="900" dirty="0">
                <a:solidFill>
                  <a:srgbClr val="FFFFFF"/>
                </a:solidFill>
                <a:latin typeface="Calibri" pitchFamily="34" charset="0"/>
                <a:ea typeface="Calibri" pitchFamily="34" charset="-122"/>
                <a:cs typeface="Calibri" pitchFamily="34" charset="-120"/>
              </a:rPr>
              <a:t>Lake / warehouse · catalogue · lineage · access control · labelled data</a:t>
            </a:r>
            <a:endParaRPr lang="en-US" sz="900" dirty="0"/>
          </a:p>
        </p:txBody>
      </p:sp>
      <p:sp>
        <p:nvSpPr>
          <p:cNvPr id="34" name="Shape 31"/>
          <p:cNvSpPr/>
          <p:nvPr/>
        </p:nvSpPr>
        <p:spPr>
          <a:xfrm>
            <a:off x="777240" y="3529584"/>
            <a:ext cx="4983480" cy="475488"/>
          </a:xfrm>
          <a:prstGeom prst="roundRect">
            <a:avLst>
              <a:gd name="adj" fmla="val 11538"/>
            </a:avLst>
          </a:prstGeom>
          <a:solidFill>
            <a:srgbClr val="00553A"/>
          </a:solidFill>
          <a:ln/>
        </p:spPr>
      </p:sp>
      <p:sp>
        <p:nvSpPr>
          <p:cNvPr id="35" name="Text 32"/>
          <p:cNvSpPr txBox="1"/>
          <p:nvPr/>
        </p:nvSpPr>
        <p:spPr>
          <a:xfrm>
            <a:off x="868680" y="3529584"/>
            <a:ext cx="457200" cy="475488"/>
          </a:xfrm>
          <a:prstGeom prst="rect">
            <a:avLst/>
          </a:prstGeom>
          <a:noFill/>
          <a:ln/>
        </p:spPr>
        <p:txBody>
          <a:bodyPr wrap="square" lIns="0" tIns="0" rIns="0" bIns="0" rtlCol="0" anchor="ctr"/>
          <a:lstStyle/>
          <a:p>
            <a:pPr marL="0" indent="0">
              <a:buNone/>
            </a:pPr>
            <a:r>
              <a:rPr lang="en-US" sz="1600" b="1" dirty="0">
                <a:solidFill>
                  <a:srgbClr val="F5C242"/>
                </a:solidFill>
                <a:latin typeface="Calibri" pitchFamily="34" charset="0"/>
                <a:ea typeface="Calibri" pitchFamily="34" charset="-122"/>
                <a:cs typeface="Calibri" pitchFamily="34" charset="-120"/>
              </a:rPr>
              <a:t>L1</a:t>
            </a:r>
            <a:endParaRPr lang="en-US" sz="1600" dirty="0"/>
          </a:p>
        </p:txBody>
      </p:sp>
      <p:sp>
        <p:nvSpPr>
          <p:cNvPr id="36" name="Text 33"/>
          <p:cNvSpPr txBox="1"/>
          <p:nvPr/>
        </p:nvSpPr>
        <p:spPr>
          <a:xfrm>
            <a:off x="1371600" y="3575304"/>
            <a:ext cx="4297680" cy="201168"/>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Compute and infrastructure</a:t>
            </a:r>
            <a:endParaRPr lang="en-US" sz="1200" dirty="0"/>
          </a:p>
        </p:txBody>
      </p:sp>
      <p:sp>
        <p:nvSpPr>
          <p:cNvPr id="37" name="Text 34"/>
          <p:cNvSpPr txBox="1"/>
          <p:nvPr/>
        </p:nvSpPr>
        <p:spPr>
          <a:xfrm>
            <a:off x="1371600" y="3776472"/>
            <a:ext cx="4297680" cy="182880"/>
          </a:xfrm>
          <a:prstGeom prst="rect">
            <a:avLst/>
          </a:prstGeom>
          <a:noFill/>
          <a:ln/>
        </p:spPr>
        <p:txBody>
          <a:bodyPr wrap="square" lIns="0" tIns="0" rIns="0" bIns="0" rtlCol="0" anchor="t"/>
          <a:lstStyle/>
          <a:p>
            <a:pPr marL="0" indent="0">
              <a:buNone/>
            </a:pPr>
            <a:r>
              <a:rPr lang="en-US" sz="900" dirty="0">
                <a:solidFill>
                  <a:srgbClr val="FFFFFF"/>
                </a:solidFill>
                <a:latin typeface="Calibri" pitchFamily="34" charset="0"/>
                <a:ea typeface="Calibri" pitchFamily="34" charset="-122"/>
                <a:cs typeface="Calibri" pitchFamily="34" charset="-120"/>
              </a:rPr>
              <a:t>CPU / GPU · storage · network · power · identity · security</a:t>
            </a:r>
            <a:endParaRPr lang="en-US" sz="900" dirty="0"/>
          </a:p>
        </p:txBody>
      </p:sp>
      <p:sp>
        <p:nvSpPr>
          <p:cNvPr id="38" name="Shape 35"/>
          <p:cNvSpPr/>
          <p:nvPr/>
        </p:nvSpPr>
        <p:spPr>
          <a:xfrm>
            <a:off x="548640" y="1463040"/>
            <a:ext cx="0" cy="2514600"/>
          </a:xfrm>
          <a:prstGeom prst="line">
            <a:avLst/>
          </a:prstGeom>
          <a:noFill/>
          <a:ln w="15875">
            <a:solidFill>
              <a:srgbClr val="5E6964"/>
            </a:solidFill>
            <a:prstDash val="solid"/>
            <a:headEnd type="triangle"/>
          </a:ln>
        </p:spPr>
      </p:sp>
      <p:sp>
        <p:nvSpPr>
          <p:cNvPr id="39" name="Shape 36"/>
          <p:cNvSpPr/>
          <p:nvPr/>
        </p:nvSpPr>
        <p:spPr>
          <a:xfrm>
            <a:off x="5943600" y="1371600"/>
            <a:ext cx="2743200" cy="2633472"/>
          </a:xfrm>
          <a:prstGeom prst="roundRect">
            <a:avLst>
              <a:gd name="adj" fmla="val 2778"/>
            </a:avLst>
          </a:prstGeom>
          <a:solidFill>
            <a:srgbClr val="E8F5EF"/>
          </a:solidFill>
          <a:ln w="15875">
            <a:solidFill>
              <a:srgbClr val="00A86A"/>
            </a:solidFill>
            <a:prstDash val="solid"/>
          </a:ln>
        </p:spPr>
      </p:sp>
      <p:sp>
        <p:nvSpPr>
          <p:cNvPr id="40" name="Text 37"/>
          <p:cNvSpPr txBox="1"/>
          <p:nvPr/>
        </p:nvSpPr>
        <p:spPr>
          <a:xfrm>
            <a:off x="6080760" y="1444752"/>
            <a:ext cx="2468880" cy="182880"/>
          </a:xfrm>
          <a:prstGeom prst="rect">
            <a:avLst/>
          </a:prstGeom>
          <a:noFill/>
          <a:ln/>
        </p:spPr>
        <p:txBody>
          <a:bodyPr wrap="square" lIns="0" tIns="0" rIns="0" bIns="0" rtlCol="0" anchor="t"/>
          <a:lstStyle/>
          <a:p>
            <a:pPr marL="0" indent="0">
              <a:buNone/>
            </a:pPr>
            <a:r>
              <a:rPr lang="en-US" sz="850" b="1" kern="0" spc="200" dirty="0">
                <a:solidFill>
                  <a:srgbClr val="D49A00"/>
                </a:solidFill>
                <a:latin typeface="Calibri" pitchFamily="34" charset="0"/>
                <a:ea typeface="Calibri" pitchFamily="34" charset="-122"/>
                <a:cs typeface="Calibri" pitchFamily="34" charset="-120"/>
              </a:rPr>
              <a:t>CROSS-CUTTING</a:t>
            </a:r>
            <a:endParaRPr lang="en-US" sz="850" dirty="0"/>
          </a:p>
        </p:txBody>
      </p:sp>
      <p:sp>
        <p:nvSpPr>
          <p:cNvPr id="41" name="Text 38"/>
          <p:cNvSpPr txBox="1"/>
          <p:nvPr/>
        </p:nvSpPr>
        <p:spPr>
          <a:xfrm>
            <a:off x="6080760" y="1627632"/>
            <a:ext cx="246888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Governance plane</a:t>
            </a:r>
            <a:endParaRPr lang="en-US" sz="1300" dirty="0"/>
          </a:p>
        </p:txBody>
      </p:sp>
      <p:pic>
        <p:nvPicPr>
          <p:cNvPr id="42" name="Image 0" descr="preencoded.png"/>
          <p:cNvPicPr>
            <a:picLocks noChangeAspect="1"/>
          </p:cNvPicPr>
          <p:nvPr/>
        </p:nvPicPr>
        <p:blipFill>
          <a:blip r:embed="rId3"/>
          <a:stretch>
            <a:fillRect/>
          </a:stretch>
        </p:blipFill>
        <p:spPr>
          <a:xfrm>
            <a:off x="6080760" y="1984248"/>
            <a:ext cx="137160" cy="137160"/>
          </a:xfrm>
          <a:prstGeom prst="rect">
            <a:avLst/>
          </a:prstGeom>
        </p:spPr>
      </p:pic>
      <p:sp>
        <p:nvSpPr>
          <p:cNvPr id="43" name="Text 39"/>
          <p:cNvSpPr txBox="1"/>
          <p:nvPr/>
        </p:nvSpPr>
        <p:spPr>
          <a:xfrm>
            <a:off x="6291072" y="1956816"/>
            <a:ext cx="2304288"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Legal basis &amp; statistical secrecy</a:t>
            </a:r>
            <a:endParaRPr lang="en-US" sz="950" dirty="0"/>
          </a:p>
        </p:txBody>
      </p:sp>
      <p:pic>
        <p:nvPicPr>
          <p:cNvPr id="44" name="Image 1" descr="preencoded.png"/>
          <p:cNvPicPr>
            <a:picLocks noChangeAspect="1"/>
          </p:cNvPicPr>
          <p:nvPr/>
        </p:nvPicPr>
        <p:blipFill>
          <a:blip r:embed="rId3"/>
          <a:stretch>
            <a:fillRect/>
          </a:stretch>
        </p:blipFill>
        <p:spPr>
          <a:xfrm>
            <a:off x="6080760" y="2235708"/>
            <a:ext cx="137160" cy="137160"/>
          </a:xfrm>
          <a:prstGeom prst="rect">
            <a:avLst/>
          </a:prstGeom>
        </p:spPr>
      </p:pic>
      <p:sp>
        <p:nvSpPr>
          <p:cNvPr id="45" name="Text 40"/>
          <p:cNvSpPr txBox="1"/>
          <p:nvPr/>
        </p:nvSpPr>
        <p:spPr>
          <a:xfrm>
            <a:off x="6291072" y="2208276"/>
            <a:ext cx="2304288"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Data classification policy</a:t>
            </a:r>
            <a:endParaRPr lang="en-US" sz="950" dirty="0"/>
          </a:p>
        </p:txBody>
      </p:sp>
      <p:pic>
        <p:nvPicPr>
          <p:cNvPr id="46" name="Image 2" descr="preencoded.png"/>
          <p:cNvPicPr>
            <a:picLocks noChangeAspect="1"/>
          </p:cNvPicPr>
          <p:nvPr/>
        </p:nvPicPr>
        <p:blipFill>
          <a:blip r:embed="rId3"/>
          <a:stretch>
            <a:fillRect/>
          </a:stretch>
        </p:blipFill>
        <p:spPr>
          <a:xfrm>
            <a:off x="6080760" y="2487168"/>
            <a:ext cx="137160" cy="137160"/>
          </a:xfrm>
          <a:prstGeom prst="rect">
            <a:avLst/>
          </a:prstGeom>
        </p:spPr>
      </p:pic>
      <p:sp>
        <p:nvSpPr>
          <p:cNvPr id="47" name="Text 41"/>
          <p:cNvSpPr txBox="1"/>
          <p:nvPr/>
        </p:nvSpPr>
        <p:spPr>
          <a:xfrm>
            <a:off x="6291072" y="2459736"/>
            <a:ext cx="2304288"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Identity &amp; access management</a:t>
            </a:r>
            <a:endParaRPr lang="en-US" sz="950" dirty="0"/>
          </a:p>
        </p:txBody>
      </p:sp>
      <p:pic>
        <p:nvPicPr>
          <p:cNvPr id="48" name="Image 3" descr="preencoded.png"/>
          <p:cNvPicPr>
            <a:picLocks noChangeAspect="1"/>
          </p:cNvPicPr>
          <p:nvPr/>
        </p:nvPicPr>
        <p:blipFill>
          <a:blip r:embed="rId3"/>
          <a:stretch>
            <a:fillRect/>
          </a:stretch>
        </p:blipFill>
        <p:spPr>
          <a:xfrm>
            <a:off x="6080760" y="2738628"/>
            <a:ext cx="137160" cy="137160"/>
          </a:xfrm>
          <a:prstGeom prst="rect">
            <a:avLst/>
          </a:prstGeom>
        </p:spPr>
      </p:pic>
      <p:sp>
        <p:nvSpPr>
          <p:cNvPr id="49" name="Text 42"/>
          <p:cNvSpPr txBox="1"/>
          <p:nvPr/>
        </p:nvSpPr>
        <p:spPr>
          <a:xfrm>
            <a:off x="6291072" y="2711196"/>
            <a:ext cx="2304288"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Model register &amp; approval gates</a:t>
            </a:r>
            <a:endParaRPr lang="en-US" sz="950" dirty="0"/>
          </a:p>
        </p:txBody>
      </p:sp>
      <p:pic>
        <p:nvPicPr>
          <p:cNvPr id="50" name="Image 4" descr="preencoded.png"/>
          <p:cNvPicPr>
            <a:picLocks noChangeAspect="1"/>
          </p:cNvPicPr>
          <p:nvPr/>
        </p:nvPicPr>
        <p:blipFill>
          <a:blip r:embed="rId3"/>
          <a:stretch>
            <a:fillRect/>
          </a:stretch>
        </p:blipFill>
        <p:spPr>
          <a:xfrm>
            <a:off x="6080760" y="2990088"/>
            <a:ext cx="137160" cy="137160"/>
          </a:xfrm>
          <a:prstGeom prst="rect">
            <a:avLst/>
          </a:prstGeom>
        </p:spPr>
      </p:pic>
      <p:sp>
        <p:nvSpPr>
          <p:cNvPr id="51" name="Text 43"/>
          <p:cNvSpPr txBox="1"/>
          <p:nvPr/>
        </p:nvSpPr>
        <p:spPr>
          <a:xfrm>
            <a:off x="6291072" y="2962656"/>
            <a:ext cx="2304288"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Audit logging &amp; traceability</a:t>
            </a:r>
            <a:endParaRPr lang="en-US" sz="950" dirty="0"/>
          </a:p>
        </p:txBody>
      </p:sp>
      <p:pic>
        <p:nvPicPr>
          <p:cNvPr id="52" name="Image 5" descr="preencoded.png"/>
          <p:cNvPicPr>
            <a:picLocks noChangeAspect="1"/>
          </p:cNvPicPr>
          <p:nvPr/>
        </p:nvPicPr>
        <p:blipFill>
          <a:blip r:embed="rId3"/>
          <a:stretch>
            <a:fillRect/>
          </a:stretch>
        </p:blipFill>
        <p:spPr>
          <a:xfrm>
            <a:off x="6080760" y="3241548"/>
            <a:ext cx="137160" cy="137160"/>
          </a:xfrm>
          <a:prstGeom prst="rect">
            <a:avLst/>
          </a:prstGeom>
        </p:spPr>
      </p:pic>
      <p:sp>
        <p:nvSpPr>
          <p:cNvPr id="53" name="Text 44"/>
          <p:cNvSpPr txBox="1"/>
          <p:nvPr/>
        </p:nvSpPr>
        <p:spPr>
          <a:xfrm>
            <a:off x="6291072" y="3214116"/>
            <a:ext cx="2304288"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Cost attribution (FinOps)</a:t>
            </a:r>
            <a:endParaRPr lang="en-US" sz="950" dirty="0"/>
          </a:p>
        </p:txBody>
      </p:sp>
      <p:pic>
        <p:nvPicPr>
          <p:cNvPr id="54" name="Image 6" descr="preencoded.png"/>
          <p:cNvPicPr>
            <a:picLocks noChangeAspect="1"/>
          </p:cNvPicPr>
          <p:nvPr/>
        </p:nvPicPr>
        <p:blipFill>
          <a:blip r:embed="rId3"/>
          <a:stretch>
            <a:fillRect/>
          </a:stretch>
        </p:blipFill>
        <p:spPr>
          <a:xfrm>
            <a:off x="6080760" y="3493008"/>
            <a:ext cx="137160" cy="137160"/>
          </a:xfrm>
          <a:prstGeom prst="rect">
            <a:avLst/>
          </a:prstGeom>
        </p:spPr>
      </p:pic>
      <p:sp>
        <p:nvSpPr>
          <p:cNvPr id="55" name="Text 45"/>
          <p:cNvSpPr txBox="1"/>
          <p:nvPr/>
        </p:nvSpPr>
        <p:spPr>
          <a:xfrm>
            <a:off x="6291072" y="3465576"/>
            <a:ext cx="2304288"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Skills, roles &amp; succession</a:t>
            </a:r>
            <a:endParaRPr lang="en-US" sz="950" dirty="0"/>
          </a:p>
        </p:txBody>
      </p:sp>
      <p:pic>
        <p:nvPicPr>
          <p:cNvPr id="56" name="Image 7" descr="preencoded.png"/>
          <p:cNvPicPr>
            <a:picLocks noChangeAspect="1"/>
          </p:cNvPicPr>
          <p:nvPr/>
        </p:nvPicPr>
        <p:blipFill>
          <a:blip r:embed="rId3"/>
          <a:stretch>
            <a:fillRect/>
          </a:stretch>
        </p:blipFill>
        <p:spPr>
          <a:xfrm>
            <a:off x="6080760" y="3744468"/>
            <a:ext cx="137160" cy="137160"/>
          </a:xfrm>
          <a:prstGeom prst="rect">
            <a:avLst/>
          </a:prstGeom>
        </p:spPr>
      </p:pic>
      <p:sp>
        <p:nvSpPr>
          <p:cNvPr id="57" name="Text 46"/>
          <p:cNvSpPr txBox="1"/>
          <p:nvPr/>
        </p:nvSpPr>
        <p:spPr>
          <a:xfrm>
            <a:off x="6291072" y="3717036"/>
            <a:ext cx="2304288"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Security &amp; incident response</a:t>
            </a:r>
            <a:endParaRPr lang="en-US" sz="950" dirty="0"/>
          </a:p>
        </p:txBody>
      </p:sp>
      <p:sp>
        <p:nvSpPr>
          <p:cNvPr id="58" name="Shape 47"/>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59" name="Shape 48"/>
          <p:cNvSpPr/>
          <p:nvPr/>
        </p:nvSpPr>
        <p:spPr>
          <a:xfrm>
            <a:off x="566928" y="4215384"/>
            <a:ext cx="292608" cy="292608"/>
          </a:xfrm>
          <a:prstGeom prst="ellipse">
            <a:avLst/>
          </a:prstGeom>
          <a:solidFill>
            <a:srgbClr val="00A86A">
              <a:alpha val="22000"/>
            </a:srgbClr>
          </a:solidFill>
          <a:ln/>
        </p:spPr>
      </p:sp>
      <p:pic>
        <p:nvPicPr>
          <p:cNvPr id="60" name="Image 8" descr="preencoded.png"/>
          <p:cNvPicPr>
            <a:picLocks noChangeAspect="1"/>
          </p:cNvPicPr>
          <p:nvPr/>
        </p:nvPicPr>
        <p:blipFill>
          <a:blip r:embed="rId4"/>
          <a:stretch>
            <a:fillRect/>
          </a:stretch>
        </p:blipFill>
        <p:spPr>
          <a:xfrm>
            <a:off x="637154" y="4285610"/>
            <a:ext cx="152156" cy="152156"/>
          </a:xfrm>
          <a:prstGeom prst="rect">
            <a:avLst/>
          </a:prstGeom>
        </p:spPr>
      </p:pic>
      <p:sp>
        <p:nvSpPr>
          <p:cNvPr id="61" name="Text 49"/>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The governance plane is not added at the end. It constrains every layer, and it is where most unbudgeted effort hides.</a:t>
            </a:r>
            <a:endParaRPr lang="en-US" sz="10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02</a:t>
            </a:r>
            <a:endParaRPr lang="en-US" sz="1050" dirty="0"/>
          </a:p>
        </p:txBody>
      </p:sp>
      <p:sp>
        <p:nvSpPr>
          <p:cNvPr id="4" name="Text 2"/>
          <p:cNvSpPr txBox="1"/>
          <p:nvPr/>
        </p:nvSpPr>
        <p:spPr>
          <a:xfrm>
            <a:off x="502920" y="73152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02</a:t>
            </a:r>
            <a:endParaRPr lang="en-US" sz="8800" dirty="0"/>
          </a:p>
        </p:txBody>
      </p:sp>
      <p:sp>
        <p:nvSpPr>
          <p:cNvPr id="5" name="Text 3"/>
          <p:cNvSpPr txBox="1"/>
          <p:nvPr/>
        </p:nvSpPr>
        <p:spPr>
          <a:xfrm>
            <a:off x="548640" y="1874520"/>
            <a:ext cx="5303520" cy="54864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Calibri" pitchFamily="34" charset="0"/>
                <a:ea typeface="Calibri" pitchFamily="34" charset="-122"/>
                <a:cs typeface="Calibri" pitchFamily="34" charset="-120"/>
              </a:rPr>
              <a:t>Compute, data &amp; MLOps</a:t>
            </a:r>
            <a:endParaRPr lang="en-US" sz="3200" dirty="0"/>
          </a:p>
        </p:txBody>
      </p:sp>
      <p:sp>
        <p:nvSpPr>
          <p:cNvPr id="6" name="Text 4"/>
          <p:cNvSpPr txBox="1"/>
          <p:nvPr/>
        </p:nvSpPr>
        <p:spPr>
          <a:xfrm>
            <a:off x="548640" y="2514600"/>
            <a:ext cx="4937760" cy="548640"/>
          </a:xfrm>
          <a:prstGeom prst="rect">
            <a:avLst/>
          </a:prstGeom>
          <a:noFill/>
          <a:ln/>
        </p:spPr>
        <p:txBody>
          <a:bodyPr wrap="square" lIns="0" tIns="0" rIns="0" bIns="0" rtlCol="0" anchor="t"/>
          <a:lstStyle/>
          <a:p>
            <a:pPr marL="0" indent="0">
              <a:buNone/>
            </a:pPr>
            <a:r>
              <a:rPr lang="en-US" sz="1500" i="1" dirty="0">
                <a:solidFill>
                  <a:srgbClr val="E6F6EE"/>
                </a:solidFill>
                <a:latin typeface="Calibri" pitchFamily="34" charset="0"/>
                <a:ea typeface="Calibri" pitchFamily="34" charset="-122"/>
                <a:cs typeface="Calibri" pitchFamily="34" charset="-120"/>
              </a:rPr>
              <a:t>What hardware, data and processes must exist before a model can be trusted?</a:t>
            </a:r>
            <a:endParaRPr lang="en-US" sz="1500" dirty="0"/>
          </a:p>
        </p:txBody>
      </p:sp>
      <p:sp>
        <p:nvSpPr>
          <p:cNvPr id="7" name="Text 5"/>
          <p:cNvSpPr txBox="1"/>
          <p:nvPr/>
        </p:nvSpPr>
        <p:spPr>
          <a:xfrm>
            <a:off x="548640" y="3291840"/>
            <a:ext cx="2743200" cy="182880"/>
          </a:xfrm>
          <a:prstGeom prst="rect">
            <a:avLst/>
          </a:prstGeom>
          <a:noFill/>
          <a:ln/>
        </p:spPr>
        <p:txBody>
          <a:bodyPr wrap="square" lIns="0" tIns="0" rIns="0" bIns="0" rtlCol="0" anchor="t"/>
          <a:lstStyle/>
          <a:p>
            <a:pPr marL="0" indent="0">
              <a:buNone/>
            </a:pPr>
            <a:r>
              <a:rPr lang="en-US" sz="900" b="1" kern="0" spc="200" dirty="0">
                <a:solidFill>
                  <a:srgbClr val="F5C242"/>
                </a:solidFill>
                <a:latin typeface="Calibri" pitchFamily="34" charset="0"/>
                <a:ea typeface="Calibri" pitchFamily="34" charset="-122"/>
                <a:cs typeface="Calibri" pitchFamily="34" charset="-120"/>
              </a:rPr>
              <a:t>IN THIS SECTION</a:t>
            </a:r>
            <a:endParaRPr lang="en-US" sz="900" dirty="0"/>
          </a:p>
        </p:txBody>
      </p:sp>
      <p:sp>
        <p:nvSpPr>
          <p:cNvPr id="8" name="Text 6"/>
          <p:cNvSpPr txBox="1"/>
          <p:nvPr/>
        </p:nvSpPr>
        <p:spPr>
          <a:xfrm>
            <a:off x="54864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Training vs. inference</a:t>
            </a:r>
            <a:endParaRPr lang="en-US" sz="1000" dirty="0"/>
          </a:p>
        </p:txBody>
      </p:sp>
      <p:sp>
        <p:nvSpPr>
          <p:cNvPr id="9" name="Text 7"/>
          <p:cNvSpPr txBox="1"/>
          <p:nvPr/>
        </p:nvSpPr>
        <p:spPr>
          <a:xfrm>
            <a:off x="54864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Matching hardware to workload</a:t>
            </a:r>
            <a:endParaRPr lang="en-US" sz="1000" dirty="0"/>
          </a:p>
        </p:txBody>
      </p:sp>
      <p:sp>
        <p:nvSpPr>
          <p:cNvPr id="10" name="Text 8"/>
          <p:cNvSpPr txBox="1"/>
          <p:nvPr/>
        </p:nvSpPr>
        <p:spPr>
          <a:xfrm>
            <a:off x="54864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AI hardware explained</a:t>
            </a:r>
            <a:endParaRPr lang="en-US" sz="1000" dirty="0"/>
          </a:p>
        </p:txBody>
      </p:sp>
      <p:sp>
        <p:nvSpPr>
          <p:cNvPr id="11" name="Text 9"/>
          <p:cNvSpPr txBox="1"/>
          <p:nvPr/>
        </p:nvSpPr>
        <p:spPr>
          <a:xfrm>
            <a:off x="54864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Power, storage, network</a:t>
            </a:r>
            <a:endParaRPr lang="en-US" sz="1000" dirty="0"/>
          </a:p>
        </p:txBody>
      </p:sp>
      <p:sp>
        <p:nvSpPr>
          <p:cNvPr id="12" name="Text 10"/>
          <p:cNvSpPr txBox="1"/>
          <p:nvPr/>
        </p:nvSpPr>
        <p:spPr>
          <a:xfrm>
            <a:off x="548640" y="4480560"/>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Designing for unreliable power</a:t>
            </a:r>
            <a:endParaRPr lang="en-US" sz="1000" dirty="0"/>
          </a:p>
        </p:txBody>
      </p:sp>
      <p:sp>
        <p:nvSpPr>
          <p:cNvPr id="13" name="Text 11"/>
          <p:cNvSpPr txBox="1"/>
          <p:nvPr/>
        </p:nvSpPr>
        <p:spPr>
          <a:xfrm>
            <a:off x="315468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The data platform</a:t>
            </a:r>
            <a:endParaRPr lang="en-US" sz="1000" dirty="0"/>
          </a:p>
        </p:txBody>
      </p:sp>
      <p:sp>
        <p:nvSpPr>
          <p:cNvPr id="14" name="Text 12"/>
          <p:cNvSpPr txBox="1"/>
          <p:nvPr/>
        </p:nvSpPr>
        <p:spPr>
          <a:xfrm>
            <a:off x="315468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Labelled data</a:t>
            </a:r>
            <a:endParaRPr lang="en-US" sz="1000" dirty="0"/>
          </a:p>
        </p:txBody>
      </p:sp>
      <p:sp>
        <p:nvSpPr>
          <p:cNvPr id="15" name="Text 13"/>
          <p:cNvSpPr txBox="1"/>
          <p:nvPr/>
        </p:nvSpPr>
        <p:spPr>
          <a:xfrm>
            <a:off x="315468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How retrieval (RAG) works</a:t>
            </a:r>
            <a:endParaRPr lang="en-US" sz="1000" dirty="0"/>
          </a:p>
        </p:txBody>
      </p:sp>
      <p:sp>
        <p:nvSpPr>
          <p:cNvPr id="16" name="Text 14"/>
          <p:cNvSpPr txBox="1"/>
          <p:nvPr/>
        </p:nvSpPr>
        <p:spPr>
          <a:xfrm>
            <a:off x="315468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MLOps and environments</a:t>
            </a:r>
            <a:endParaRPr lang="en-US" sz="1000" dirty="0"/>
          </a:p>
        </p:txBody>
      </p:sp>
      <p:sp>
        <p:nvSpPr>
          <p:cNvPr id="17" name="Shape 15"/>
          <p:cNvSpPr/>
          <p:nvPr/>
        </p:nvSpPr>
        <p:spPr>
          <a:xfrm>
            <a:off x="5989320" y="960120"/>
            <a:ext cx="2651760" cy="2651760"/>
          </a:xfrm>
          <a:prstGeom prst="ellipse">
            <a:avLst/>
          </a:prstGeom>
          <a:solidFill>
            <a:srgbClr val="FFFFFF">
              <a:alpha val="10000"/>
            </a:srgbClr>
          </a:solidFill>
          <a:ln w="12700">
            <a:solidFill>
              <a:srgbClr val="FFFFFF">
                <a:alpha val="40000"/>
              </a:srgbClr>
            </a:solidFill>
            <a:prstDash val="solid"/>
          </a:ln>
        </p:spPr>
      </p:sp>
      <p:sp>
        <p:nvSpPr>
          <p:cNvPr id="18" name="Shape 16"/>
          <p:cNvSpPr/>
          <p:nvPr/>
        </p:nvSpPr>
        <p:spPr>
          <a:xfrm>
            <a:off x="6355080" y="1325880"/>
            <a:ext cx="1920240" cy="1920240"/>
          </a:xfrm>
          <a:prstGeom prst="ellipse">
            <a:avLst/>
          </a:prstGeom>
          <a:solidFill>
            <a:srgbClr val="FFFFFF">
              <a:alpha val="18000"/>
            </a:srgbClr>
          </a:solidFill>
          <a:ln/>
        </p:spPr>
      </p:sp>
      <p:sp>
        <p:nvSpPr>
          <p:cNvPr id="19" name="Shape 17"/>
          <p:cNvSpPr/>
          <p:nvPr/>
        </p:nvSpPr>
        <p:spPr>
          <a:xfrm>
            <a:off x="6720840" y="1691640"/>
            <a:ext cx="1188720" cy="1188720"/>
          </a:xfrm>
          <a:prstGeom prst="ellipse">
            <a:avLst/>
          </a:prstGeom>
          <a:solidFill>
            <a:srgbClr val="FFFFFF"/>
          </a:solidFill>
          <a:ln/>
        </p:spPr>
      </p:sp>
      <p:pic>
        <p:nvPicPr>
          <p:cNvPr id="2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21" name="Shape 18"/>
          <p:cNvSpPr/>
          <p:nvPr/>
        </p:nvSpPr>
        <p:spPr>
          <a:xfrm>
            <a:off x="6510528" y="4014216"/>
            <a:ext cx="109728" cy="109728"/>
          </a:xfrm>
          <a:prstGeom prst="ellipse">
            <a:avLst/>
          </a:prstGeom>
          <a:solidFill>
            <a:srgbClr val="FFFFFF">
              <a:alpha val="40000"/>
            </a:srgbClr>
          </a:solidFill>
          <a:ln/>
        </p:spPr>
      </p:sp>
      <p:sp>
        <p:nvSpPr>
          <p:cNvPr id="22" name="Shape 19"/>
          <p:cNvSpPr/>
          <p:nvPr/>
        </p:nvSpPr>
        <p:spPr>
          <a:xfrm>
            <a:off x="6766560" y="3995928"/>
            <a:ext cx="146304" cy="146304"/>
          </a:xfrm>
          <a:prstGeom prst="ellipse">
            <a:avLst/>
          </a:prstGeom>
          <a:solidFill>
            <a:srgbClr val="F5C242"/>
          </a:solidFill>
          <a:ln/>
        </p:spPr>
      </p:sp>
      <p:sp>
        <p:nvSpPr>
          <p:cNvPr id="23" name="Shape 20"/>
          <p:cNvSpPr/>
          <p:nvPr/>
        </p:nvSpPr>
        <p:spPr>
          <a:xfrm>
            <a:off x="7059168" y="4014216"/>
            <a:ext cx="109728" cy="109728"/>
          </a:xfrm>
          <a:prstGeom prst="ellipse">
            <a:avLst/>
          </a:prstGeom>
          <a:solidFill>
            <a:srgbClr val="FFFFFF">
              <a:alpha val="40000"/>
            </a:srgbClr>
          </a:solidFill>
          <a:ln/>
        </p:spPr>
      </p:sp>
      <p:sp>
        <p:nvSpPr>
          <p:cNvPr id="24" name="Shape 21"/>
          <p:cNvSpPr/>
          <p:nvPr/>
        </p:nvSpPr>
        <p:spPr>
          <a:xfrm>
            <a:off x="7333488" y="4014216"/>
            <a:ext cx="109728" cy="109728"/>
          </a:xfrm>
          <a:prstGeom prst="ellipse">
            <a:avLst/>
          </a:prstGeom>
          <a:solidFill>
            <a:srgbClr val="FFFFFF">
              <a:alpha val="40000"/>
            </a:srgbClr>
          </a:solidFill>
          <a:ln/>
        </p:spPr>
      </p:sp>
      <p:sp>
        <p:nvSpPr>
          <p:cNvPr id="25" name="Shape 22"/>
          <p:cNvSpPr/>
          <p:nvPr/>
        </p:nvSpPr>
        <p:spPr>
          <a:xfrm>
            <a:off x="7607808" y="4014216"/>
            <a:ext cx="109728" cy="109728"/>
          </a:xfrm>
          <a:prstGeom prst="ellipse">
            <a:avLst/>
          </a:prstGeom>
          <a:solidFill>
            <a:srgbClr val="FFFFFF">
              <a:alpha val="40000"/>
            </a:srgbClr>
          </a:solidFill>
          <a:ln/>
        </p:spPr>
      </p:sp>
      <p:sp>
        <p:nvSpPr>
          <p:cNvPr id="26" name="Shape 23"/>
          <p:cNvSpPr/>
          <p:nvPr/>
        </p:nvSpPr>
        <p:spPr>
          <a:xfrm>
            <a:off x="7882128" y="4014216"/>
            <a:ext cx="109728" cy="109728"/>
          </a:xfrm>
          <a:prstGeom prst="ellipse">
            <a:avLst/>
          </a:prstGeom>
          <a:solidFill>
            <a:srgbClr val="FFFFFF">
              <a:alpha val="40000"/>
            </a:srgbClr>
          </a:solidFill>
          <a:ln/>
        </p:spPr>
      </p:sp>
      <p:sp>
        <p:nvSpPr>
          <p:cNvPr id="27" name="Text 24"/>
          <p:cNvSpPr txBox="1"/>
          <p:nvPr/>
        </p:nvSpPr>
        <p:spPr>
          <a:xfrm>
            <a:off x="7772400" y="4709160"/>
            <a:ext cx="9144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12</a:t>
            </a:r>
            <a:endParaRPr lang="en-US" sz="8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CORE CONCEPT</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Training vs. inference: two very different loads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Most hardware mistakes come from confusing the two</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8" name="Shape 15"/>
          <p:cNvSpPr/>
          <p:nvPr/>
        </p:nvSpPr>
        <p:spPr>
          <a:xfrm>
            <a:off x="457200" y="1371600"/>
            <a:ext cx="3840480" cy="2697480"/>
          </a:xfrm>
          <a:prstGeom prst="roundRect">
            <a:avLst>
              <a:gd name="adj" fmla="val 2712"/>
            </a:avLst>
          </a:prstGeom>
          <a:solidFill>
            <a:srgbClr val="F4F7F5"/>
          </a:solidFill>
          <a:ln w="9525">
            <a:solidFill>
              <a:srgbClr val="D5DED9"/>
            </a:solidFill>
            <a:prstDash val="solid"/>
          </a:ln>
        </p:spPr>
      </p:sp>
      <p:sp>
        <p:nvSpPr>
          <p:cNvPr id="19" name="Shape 16"/>
          <p:cNvSpPr/>
          <p:nvPr/>
        </p:nvSpPr>
        <p:spPr>
          <a:xfrm>
            <a:off x="594360" y="1481328"/>
            <a:ext cx="457200" cy="457200"/>
          </a:xfrm>
          <a:prstGeom prst="ellipse">
            <a:avLst/>
          </a:prstGeom>
          <a:solidFill>
            <a:srgbClr val="0E7C86">
              <a:alpha val="22000"/>
            </a:srgbClr>
          </a:solidFill>
          <a:ln/>
        </p:spPr>
      </p:sp>
      <p:pic>
        <p:nvPicPr>
          <p:cNvPr id="20" name="Image 0" descr="preencoded.png"/>
          <p:cNvPicPr>
            <a:picLocks noChangeAspect="1"/>
          </p:cNvPicPr>
          <p:nvPr/>
        </p:nvPicPr>
        <p:blipFill>
          <a:blip r:embed="rId3"/>
          <a:stretch>
            <a:fillRect/>
          </a:stretch>
        </p:blipFill>
        <p:spPr>
          <a:xfrm>
            <a:off x="704088" y="1591056"/>
            <a:ext cx="237744" cy="237744"/>
          </a:xfrm>
          <a:prstGeom prst="rect">
            <a:avLst/>
          </a:prstGeom>
        </p:spPr>
      </p:pic>
      <p:sp>
        <p:nvSpPr>
          <p:cNvPr id="21" name="Text 17"/>
          <p:cNvSpPr txBox="1"/>
          <p:nvPr/>
        </p:nvSpPr>
        <p:spPr>
          <a:xfrm>
            <a:off x="1170432" y="1463040"/>
            <a:ext cx="2743200" cy="274320"/>
          </a:xfrm>
          <a:prstGeom prst="rect">
            <a:avLst/>
          </a:prstGeom>
          <a:noFill/>
          <a:ln/>
        </p:spPr>
        <p:txBody>
          <a:bodyPr wrap="square" lIns="0" tIns="0" rIns="0" bIns="0" rtlCol="0" anchor="t"/>
          <a:lstStyle/>
          <a:p>
            <a:pPr marL="0" indent="0">
              <a:buNone/>
            </a:pPr>
            <a:r>
              <a:rPr lang="en-US" sz="1600" b="1" dirty="0">
                <a:solidFill>
                  <a:srgbClr val="0E7C86"/>
                </a:solidFill>
                <a:latin typeface="Calibri" pitchFamily="34" charset="0"/>
                <a:ea typeface="Calibri" pitchFamily="34" charset="-122"/>
                <a:cs typeface="Calibri" pitchFamily="34" charset="-120"/>
              </a:rPr>
              <a:t>Training</a:t>
            </a:r>
            <a:endParaRPr lang="en-US" sz="1600" dirty="0"/>
          </a:p>
        </p:txBody>
      </p:sp>
      <p:sp>
        <p:nvSpPr>
          <p:cNvPr id="22" name="Text 18"/>
          <p:cNvSpPr txBox="1"/>
          <p:nvPr/>
        </p:nvSpPr>
        <p:spPr>
          <a:xfrm>
            <a:off x="1170432" y="1737360"/>
            <a:ext cx="3017520" cy="22860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Like teaching a new coder the classification manual</a:t>
            </a:r>
            <a:endParaRPr lang="en-US" sz="1000" dirty="0"/>
          </a:p>
        </p:txBody>
      </p:sp>
      <p:sp>
        <p:nvSpPr>
          <p:cNvPr id="23" name="Shape 19"/>
          <p:cNvSpPr/>
          <p:nvPr/>
        </p:nvSpPr>
        <p:spPr>
          <a:xfrm>
            <a:off x="594360" y="2103120"/>
            <a:ext cx="3566160" cy="0"/>
          </a:xfrm>
          <a:prstGeom prst="line">
            <a:avLst/>
          </a:prstGeom>
          <a:noFill/>
          <a:ln w="6350">
            <a:solidFill>
              <a:srgbClr val="D5DED9"/>
            </a:solidFill>
            <a:prstDash val="solid"/>
          </a:ln>
        </p:spPr>
      </p:sp>
      <p:sp>
        <p:nvSpPr>
          <p:cNvPr id="24" name="Text 20"/>
          <p:cNvSpPr txBox="1"/>
          <p:nvPr/>
        </p:nvSpPr>
        <p:spPr>
          <a:xfrm>
            <a:off x="594360" y="2139696"/>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How often</a:t>
            </a:r>
            <a:endParaRPr lang="en-US" sz="950" dirty="0"/>
          </a:p>
        </p:txBody>
      </p:sp>
      <p:sp>
        <p:nvSpPr>
          <p:cNvPr id="25" name="Text 21"/>
          <p:cNvSpPr txBox="1"/>
          <p:nvPr/>
        </p:nvSpPr>
        <p:spPr>
          <a:xfrm>
            <a:off x="1737360" y="2139696"/>
            <a:ext cx="2423160" cy="31089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A few times a year</a:t>
            </a:r>
            <a:endParaRPr lang="en-US" sz="1100" dirty="0"/>
          </a:p>
        </p:txBody>
      </p:sp>
      <p:sp>
        <p:nvSpPr>
          <p:cNvPr id="26" name="Shape 22"/>
          <p:cNvSpPr/>
          <p:nvPr/>
        </p:nvSpPr>
        <p:spPr>
          <a:xfrm>
            <a:off x="594360" y="2487168"/>
            <a:ext cx="3566160" cy="0"/>
          </a:xfrm>
          <a:prstGeom prst="line">
            <a:avLst/>
          </a:prstGeom>
          <a:noFill/>
          <a:ln w="6350">
            <a:solidFill>
              <a:srgbClr val="D5DED9"/>
            </a:solidFill>
            <a:prstDash val="solid"/>
          </a:ln>
        </p:spPr>
      </p:sp>
      <p:sp>
        <p:nvSpPr>
          <p:cNvPr id="27" name="Text 23"/>
          <p:cNvSpPr txBox="1"/>
          <p:nvPr/>
        </p:nvSpPr>
        <p:spPr>
          <a:xfrm>
            <a:off x="594360" y="2523744"/>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Compute</a:t>
            </a:r>
            <a:endParaRPr lang="en-US" sz="950" dirty="0"/>
          </a:p>
        </p:txBody>
      </p:sp>
      <p:sp>
        <p:nvSpPr>
          <p:cNvPr id="28" name="Text 24"/>
          <p:cNvSpPr txBox="1"/>
          <p:nvPr/>
        </p:nvSpPr>
        <p:spPr>
          <a:xfrm>
            <a:off x="1737360" y="2523744"/>
            <a:ext cx="2423160" cy="31089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Heavy: GPUs for hours to days</a:t>
            </a:r>
            <a:endParaRPr lang="en-US" sz="1100" dirty="0"/>
          </a:p>
        </p:txBody>
      </p:sp>
      <p:sp>
        <p:nvSpPr>
          <p:cNvPr id="29" name="Shape 25"/>
          <p:cNvSpPr/>
          <p:nvPr/>
        </p:nvSpPr>
        <p:spPr>
          <a:xfrm>
            <a:off x="594360" y="2871216"/>
            <a:ext cx="3566160" cy="0"/>
          </a:xfrm>
          <a:prstGeom prst="line">
            <a:avLst/>
          </a:prstGeom>
          <a:noFill/>
          <a:ln w="6350">
            <a:solidFill>
              <a:srgbClr val="D5DED9"/>
            </a:solidFill>
            <a:prstDash val="solid"/>
          </a:ln>
        </p:spPr>
      </p:sp>
      <p:sp>
        <p:nvSpPr>
          <p:cNvPr id="30" name="Text 26"/>
          <p:cNvSpPr txBox="1"/>
          <p:nvPr/>
        </p:nvSpPr>
        <p:spPr>
          <a:xfrm>
            <a:off x="594360" y="2907792"/>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Data needed</a:t>
            </a:r>
            <a:endParaRPr lang="en-US" sz="950" dirty="0"/>
          </a:p>
        </p:txBody>
      </p:sp>
      <p:sp>
        <p:nvSpPr>
          <p:cNvPr id="31" name="Text 27"/>
          <p:cNvSpPr txBox="1"/>
          <p:nvPr/>
        </p:nvSpPr>
        <p:spPr>
          <a:xfrm>
            <a:off x="1737360" y="2907792"/>
            <a:ext cx="2423160" cy="31089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Thousands of labelled examples</a:t>
            </a:r>
            <a:endParaRPr lang="en-US" sz="1100" dirty="0"/>
          </a:p>
        </p:txBody>
      </p:sp>
      <p:sp>
        <p:nvSpPr>
          <p:cNvPr id="32" name="Shape 28"/>
          <p:cNvSpPr/>
          <p:nvPr/>
        </p:nvSpPr>
        <p:spPr>
          <a:xfrm>
            <a:off x="594360" y="3255264"/>
            <a:ext cx="3566160" cy="0"/>
          </a:xfrm>
          <a:prstGeom prst="line">
            <a:avLst/>
          </a:prstGeom>
          <a:noFill/>
          <a:ln w="6350">
            <a:solidFill>
              <a:srgbClr val="D5DED9"/>
            </a:solidFill>
            <a:prstDash val="solid"/>
          </a:ln>
        </p:spPr>
      </p:sp>
      <p:sp>
        <p:nvSpPr>
          <p:cNvPr id="33" name="Text 29"/>
          <p:cNvSpPr txBox="1"/>
          <p:nvPr/>
        </p:nvSpPr>
        <p:spPr>
          <a:xfrm>
            <a:off x="594360" y="3291840"/>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Main risk</a:t>
            </a:r>
            <a:endParaRPr lang="en-US" sz="950" dirty="0"/>
          </a:p>
        </p:txBody>
      </p:sp>
      <p:sp>
        <p:nvSpPr>
          <p:cNvPr id="34" name="Text 30"/>
          <p:cNvSpPr txBox="1"/>
          <p:nvPr/>
        </p:nvSpPr>
        <p:spPr>
          <a:xfrm>
            <a:off x="1737360" y="3291840"/>
            <a:ext cx="2423160" cy="31089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Buying a cluster that sits idle</a:t>
            </a:r>
            <a:endParaRPr lang="en-US" sz="1100" dirty="0"/>
          </a:p>
        </p:txBody>
      </p:sp>
      <p:sp>
        <p:nvSpPr>
          <p:cNvPr id="35" name="Shape 31"/>
          <p:cNvSpPr/>
          <p:nvPr/>
        </p:nvSpPr>
        <p:spPr>
          <a:xfrm>
            <a:off x="594360" y="3639312"/>
            <a:ext cx="3566160" cy="0"/>
          </a:xfrm>
          <a:prstGeom prst="line">
            <a:avLst/>
          </a:prstGeom>
          <a:noFill/>
          <a:ln w="6350">
            <a:solidFill>
              <a:srgbClr val="D5DED9"/>
            </a:solidFill>
            <a:prstDash val="solid"/>
          </a:ln>
        </p:spPr>
      </p:sp>
      <p:sp>
        <p:nvSpPr>
          <p:cNvPr id="36" name="Text 32"/>
          <p:cNvSpPr txBox="1"/>
          <p:nvPr/>
        </p:nvSpPr>
        <p:spPr>
          <a:xfrm>
            <a:off x="594360" y="3675888"/>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Where to run</a:t>
            </a:r>
            <a:endParaRPr lang="en-US" sz="950" dirty="0"/>
          </a:p>
        </p:txBody>
      </p:sp>
      <p:sp>
        <p:nvSpPr>
          <p:cNvPr id="37" name="Text 33"/>
          <p:cNvSpPr txBox="1"/>
          <p:nvPr/>
        </p:nvSpPr>
        <p:spPr>
          <a:xfrm>
            <a:off x="1737360" y="3675888"/>
            <a:ext cx="2423160" cy="31089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Rent or borrow burst capacity</a:t>
            </a:r>
            <a:endParaRPr lang="en-US" sz="1100" dirty="0"/>
          </a:p>
        </p:txBody>
      </p:sp>
      <p:sp>
        <p:nvSpPr>
          <p:cNvPr id="38" name="Shape 34"/>
          <p:cNvSpPr/>
          <p:nvPr/>
        </p:nvSpPr>
        <p:spPr>
          <a:xfrm>
            <a:off x="4846320" y="1371600"/>
            <a:ext cx="3840480" cy="2697480"/>
          </a:xfrm>
          <a:prstGeom prst="roundRect">
            <a:avLst>
              <a:gd name="adj" fmla="val 2712"/>
            </a:avLst>
          </a:prstGeom>
          <a:solidFill>
            <a:srgbClr val="F4F7F5"/>
          </a:solidFill>
          <a:ln w="9525">
            <a:solidFill>
              <a:srgbClr val="D5DED9"/>
            </a:solidFill>
            <a:prstDash val="solid"/>
          </a:ln>
        </p:spPr>
      </p:sp>
      <p:sp>
        <p:nvSpPr>
          <p:cNvPr id="39" name="Shape 35"/>
          <p:cNvSpPr/>
          <p:nvPr/>
        </p:nvSpPr>
        <p:spPr>
          <a:xfrm>
            <a:off x="4983480" y="1481328"/>
            <a:ext cx="457200" cy="457200"/>
          </a:xfrm>
          <a:prstGeom prst="ellipse">
            <a:avLst/>
          </a:prstGeom>
          <a:solidFill>
            <a:srgbClr val="00A86A">
              <a:alpha val="22000"/>
            </a:srgbClr>
          </a:solidFill>
          <a:ln/>
        </p:spPr>
      </p:sp>
      <p:pic>
        <p:nvPicPr>
          <p:cNvPr id="40" name="Image 1" descr="preencoded.png"/>
          <p:cNvPicPr>
            <a:picLocks noChangeAspect="1"/>
          </p:cNvPicPr>
          <p:nvPr/>
        </p:nvPicPr>
        <p:blipFill>
          <a:blip r:embed="rId4"/>
          <a:stretch>
            <a:fillRect/>
          </a:stretch>
        </p:blipFill>
        <p:spPr>
          <a:xfrm>
            <a:off x="5093208" y="1591056"/>
            <a:ext cx="237744" cy="237744"/>
          </a:xfrm>
          <a:prstGeom prst="rect">
            <a:avLst/>
          </a:prstGeom>
        </p:spPr>
      </p:pic>
      <p:sp>
        <p:nvSpPr>
          <p:cNvPr id="41" name="Text 36"/>
          <p:cNvSpPr txBox="1"/>
          <p:nvPr/>
        </p:nvSpPr>
        <p:spPr>
          <a:xfrm>
            <a:off x="5559552" y="1463040"/>
            <a:ext cx="2743200" cy="274320"/>
          </a:xfrm>
          <a:prstGeom prst="rect">
            <a:avLst/>
          </a:prstGeom>
          <a:noFill/>
          <a:ln/>
        </p:spPr>
        <p:txBody>
          <a:bodyPr wrap="square" lIns="0" tIns="0" rIns="0" bIns="0" rtlCol="0" anchor="t"/>
          <a:lstStyle/>
          <a:p>
            <a:pPr marL="0" indent="0">
              <a:buNone/>
            </a:pPr>
            <a:r>
              <a:rPr lang="en-US" sz="1600" b="1" dirty="0">
                <a:solidFill>
                  <a:srgbClr val="00A86A"/>
                </a:solidFill>
                <a:latin typeface="Calibri" pitchFamily="34" charset="0"/>
                <a:ea typeface="Calibri" pitchFamily="34" charset="-122"/>
                <a:cs typeface="Calibri" pitchFamily="34" charset="-120"/>
              </a:rPr>
              <a:t>Inference</a:t>
            </a:r>
            <a:endParaRPr lang="en-US" sz="1600" dirty="0"/>
          </a:p>
        </p:txBody>
      </p:sp>
      <p:sp>
        <p:nvSpPr>
          <p:cNvPr id="42" name="Text 37"/>
          <p:cNvSpPr txBox="1"/>
          <p:nvPr/>
        </p:nvSpPr>
        <p:spPr>
          <a:xfrm>
            <a:off x="5559552" y="1737360"/>
            <a:ext cx="3017520" cy="22860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Like the trained coder processing forms every day</a:t>
            </a:r>
            <a:endParaRPr lang="en-US" sz="1000" dirty="0"/>
          </a:p>
        </p:txBody>
      </p:sp>
      <p:sp>
        <p:nvSpPr>
          <p:cNvPr id="43" name="Shape 38"/>
          <p:cNvSpPr/>
          <p:nvPr/>
        </p:nvSpPr>
        <p:spPr>
          <a:xfrm>
            <a:off x="4983480" y="2103120"/>
            <a:ext cx="3566160" cy="0"/>
          </a:xfrm>
          <a:prstGeom prst="line">
            <a:avLst/>
          </a:prstGeom>
          <a:noFill/>
          <a:ln w="6350">
            <a:solidFill>
              <a:srgbClr val="D5DED9"/>
            </a:solidFill>
            <a:prstDash val="solid"/>
          </a:ln>
        </p:spPr>
      </p:sp>
      <p:sp>
        <p:nvSpPr>
          <p:cNvPr id="44" name="Text 39"/>
          <p:cNvSpPr txBox="1"/>
          <p:nvPr/>
        </p:nvSpPr>
        <p:spPr>
          <a:xfrm>
            <a:off x="4983480" y="2139696"/>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How often</a:t>
            </a:r>
            <a:endParaRPr lang="en-US" sz="950" dirty="0"/>
          </a:p>
        </p:txBody>
      </p:sp>
      <p:sp>
        <p:nvSpPr>
          <p:cNvPr id="45" name="Text 40"/>
          <p:cNvSpPr txBox="1"/>
          <p:nvPr/>
        </p:nvSpPr>
        <p:spPr>
          <a:xfrm>
            <a:off x="6126480" y="2139696"/>
            <a:ext cx="2423160" cy="31089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Continuously, every day</a:t>
            </a:r>
            <a:endParaRPr lang="en-US" sz="1100" dirty="0"/>
          </a:p>
        </p:txBody>
      </p:sp>
      <p:sp>
        <p:nvSpPr>
          <p:cNvPr id="46" name="Shape 41"/>
          <p:cNvSpPr/>
          <p:nvPr/>
        </p:nvSpPr>
        <p:spPr>
          <a:xfrm>
            <a:off x="4983480" y="2487168"/>
            <a:ext cx="3566160" cy="0"/>
          </a:xfrm>
          <a:prstGeom prst="line">
            <a:avLst/>
          </a:prstGeom>
          <a:noFill/>
          <a:ln w="6350">
            <a:solidFill>
              <a:srgbClr val="D5DED9"/>
            </a:solidFill>
            <a:prstDash val="solid"/>
          </a:ln>
        </p:spPr>
      </p:sp>
      <p:sp>
        <p:nvSpPr>
          <p:cNvPr id="47" name="Text 42"/>
          <p:cNvSpPr txBox="1"/>
          <p:nvPr/>
        </p:nvSpPr>
        <p:spPr>
          <a:xfrm>
            <a:off x="4983480" y="2523744"/>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Compute</a:t>
            </a:r>
            <a:endParaRPr lang="en-US" sz="950" dirty="0"/>
          </a:p>
        </p:txBody>
      </p:sp>
      <p:sp>
        <p:nvSpPr>
          <p:cNvPr id="48" name="Text 43"/>
          <p:cNvSpPr txBox="1"/>
          <p:nvPr/>
        </p:nvSpPr>
        <p:spPr>
          <a:xfrm>
            <a:off x="6126480" y="2523744"/>
            <a:ext cx="2423160" cy="31089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Light per request: CPU or one GPU</a:t>
            </a:r>
            <a:endParaRPr lang="en-US" sz="1100" dirty="0"/>
          </a:p>
        </p:txBody>
      </p:sp>
      <p:sp>
        <p:nvSpPr>
          <p:cNvPr id="49" name="Shape 44"/>
          <p:cNvSpPr/>
          <p:nvPr/>
        </p:nvSpPr>
        <p:spPr>
          <a:xfrm>
            <a:off x="4983480" y="2871216"/>
            <a:ext cx="3566160" cy="0"/>
          </a:xfrm>
          <a:prstGeom prst="line">
            <a:avLst/>
          </a:prstGeom>
          <a:noFill/>
          <a:ln w="6350">
            <a:solidFill>
              <a:srgbClr val="D5DED9"/>
            </a:solidFill>
            <a:prstDash val="solid"/>
          </a:ln>
        </p:spPr>
      </p:sp>
      <p:sp>
        <p:nvSpPr>
          <p:cNvPr id="50" name="Text 45"/>
          <p:cNvSpPr txBox="1"/>
          <p:nvPr/>
        </p:nvSpPr>
        <p:spPr>
          <a:xfrm>
            <a:off x="4983480" y="2907792"/>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Data needed</a:t>
            </a:r>
            <a:endParaRPr lang="en-US" sz="950" dirty="0"/>
          </a:p>
        </p:txBody>
      </p:sp>
      <p:sp>
        <p:nvSpPr>
          <p:cNvPr id="51" name="Text 46"/>
          <p:cNvSpPr txBox="1"/>
          <p:nvPr/>
        </p:nvSpPr>
        <p:spPr>
          <a:xfrm>
            <a:off x="6126480" y="2907792"/>
            <a:ext cx="2423160" cy="31089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The new records to classify</a:t>
            </a:r>
            <a:endParaRPr lang="en-US" sz="1100" dirty="0"/>
          </a:p>
        </p:txBody>
      </p:sp>
      <p:sp>
        <p:nvSpPr>
          <p:cNvPr id="52" name="Shape 47"/>
          <p:cNvSpPr/>
          <p:nvPr/>
        </p:nvSpPr>
        <p:spPr>
          <a:xfrm>
            <a:off x="4983480" y="3255264"/>
            <a:ext cx="3566160" cy="0"/>
          </a:xfrm>
          <a:prstGeom prst="line">
            <a:avLst/>
          </a:prstGeom>
          <a:noFill/>
          <a:ln w="6350">
            <a:solidFill>
              <a:srgbClr val="D5DED9"/>
            </a:solidFill>
            <a:prstDash val="solid"/>
          </a:ln>
        </p:spPr>
      </p:sp>
      <p:sp>
        <p:nvSpPr>
          <p:cNvPr id="53" name="Text 48"/>
          <p:cNvSpPr txBox="1"/>
          <p:nvPr/>
        </p:nvSpPr>
        <p:spPr>
          <a:xfrm>
            <a:off x="4983480" y="3291840"/>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Main risk</a:t>
            </a:r>
            <a:endParaRPr lang="en-US" sz="950" dirty="0"/>
          </a:p>
        </p:txBody>
      </p:sp>
      <p:sp>
        <p:nvSpPr>
          <p:cNvPr id="54" name="Text 49"/>
          <p:cNvSpPr txBox="1"/>
          <p:nvPr/>
        </p:nvSpPr>
        <p:spPr>
          <a:xfrm>
            <a:off x="6126480" y="3291840"/>
            <a:ext cx="2423160" cy="31089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Downtime during a release window</a:t>
            </a:r>
            <a:endParaRPr lang="en-US" sz="1100" dirty="0"/>
          </a:p>
        </p:txBody>
      </p:sp>
      <p:sp>
        <p:nvSpPr>
          <p:cNvPr id="55" name="Shape 50"/>
          <p:cNvSpPr/>
          <p:nvPr/>
        </p:nvSpPr>
        <p:spPr>
          <a:xfrm>
            <a:off x="4983480" y="3639312"/>
            <a:ext cx="3566160" cy="0"/>
          </a:xfrm>
          <a:prstGeom prst="line">
            <a:avLst/>
          </a:prstGeom>
          <a:noFill/>
          <a:ln w="6350">
            <a:solidFill>
              <a:srgbClr val="D5DED9"/>
            </a:solidFill>
            <a:prstDash val="solid"/>
          </a:ln>
        </p:spPr>
      </p:sp>
      <p:sp>
        <p:nvSpPr>
          <p:cNvPr id="56" name="Text 51"/>
          <p:cNvSpPr txBox="1"/>
          <p:nvPr/>
        </p:nvSpPr>
        <p:spPr>
          <a:xfrm>
            <a:off x="4983480" y="3675888"/>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Where to run</a:t>
            </a:r>
            <a:endParaRPr lang="en-US" sz="950" dirty="0"/>
          </a:p>
        </p:txBody>
      </p:sp>
      <p:sp>
        <p:nvSpPr>
          <p:cNvPr id="57" name="Text 52"/>
          <p:cNvSpPr txBox="1"/>
          <p:nvPr/>
        </p:nvSpPr>
        <p:spPr>
          <a:xfrm>
            <a:off x="6126480" y="3675888"/>
            <a:ext cx="2423160" cy="31089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Stable, owned or contracted capacity</a:t>
            </a:r>
            <a:endParaRPr lang="en-US" sz="1100" dirty="0"/>
          </a:p>
        </p:txBody>
      </p:sp>
      <p:sp>
        <p:nvSpPr>
          <p:cNvPr id="58" name="Shape 53"/>
          <p:cNvSpPr/>
          <p:nvPr/>
        </p:nvSpPr>
        <p:spPr>
          <a:xfrm>
            <a:off x="4315968" y="2395728"/>
            <a:ext cx="512064" cy="512064"/>
          </a:xfrm>
          <a:prstGeom prst="ellipse">
            <a:avLst/>
          </a:prstGeom>
          <a:solidFill>
            <a:srgbClr val="FFFFFF"/>
          </a:solidFill>
          <a:ln w="12700">
            <a:solidFill>
              <a:srgbClr val="D5DED9"/>
            </a:solidFill>
            <a:prstDash val="solid"/>
          </a:ln>
        </p:spPr>
      </p:sp>
      <p:pic>
        <p:nvPicPr>
          <p:cNvPr id="59" name="Image 2" descr="preencoded.png"/>
          <p:cNvPicPr>
            <a:picLocks noChangeAspect="1"/>
          </p:cNvPicPr>
          <p:nvPr/>
        </p:nvPicPr>
        <p:blipFill>
          <a:blip r:embed="rId5"/>
          <a:stretch>
            <a:fillRect/>
          </a:stretch>
        </p:blipFill>
        <p:spPr>
          <a:xfrm>
            <a:off x="4443984" y="2523744"/>
            <a:ext cx="256032" cy="256032"/>
          </a:xfrm>
          <a:prstGeom prst="rect">
            <a:avLst/>
          </a:prstGeom>
        </p:spPr>
      </p:pic>
      <p:sp>
        <p:nvSpPr>
          <p:cNvPr id="60" name="Shape 54"/>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61" name="Shape 55"/>
          <p:cNvSpPr/>
          <p:nvPr/>
        </p:nvSpPr>
        <p:spPr>
          <a:xfrm>
            <a:off x="566928" y="4233672"/>
            <a:ext cx="292608" cy="292608"/>
          </a:xfrm>
          <a:prstGeom prst="ellipse">
            <a:avLst/>
          </a:prstGeom>
          <a:solidFill>
            <a:srgbClr val="00A86A">
              <a:alpha val="22000"/>
            </a:srgbClr>
          </a:solidFill>
          <a:ln/>
        </p:spPr>
      </p:sp>
      <p:pic>
        <p:nvPicPr>
          <p:cNvPr id="62" name="Image 3" descr="preencoded.png"/>
          <p:cNvPicPr>
            <a:picLocks noChangeAspect="1"/>
          </p:cNvPicPr>
          <p:nvPr/>
        </p:nvPicPr>
        <p:blipFill>
          <a:blip r:embed="rId6"/>
          <a:stretch>
            <a:fillRect/>
          </a:stretch>
        </p:blipFill>
        <p:spPr>
          <a:xfrm>
            <a:off x="637154" y="4303898"/>
            <a:ext cx="152156" cy="152156"/>
          </a:xfrm>
          <a:prstGeom prst="rect">
            <a:avLst/>
          </a:prstGeom>
        </p:spPr>
      </p:pic>
      <p:sp>
        <p:nvSpPr>
          <p:cNvPr id="63" name="Text 56"/>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Most NSO use cases are inference-heavy and training-light. Size owned hardware for steady inference; rent training capacity when you need it.</a:t>
            </a:r>
            <a:endParaRPr lang="en-US" sz="10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LAYER 1 · COMPUTE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Match the hardware to the workload</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The most expensive mistake: buying training-class hardware for an inference-class problem</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8" name="Text 15"/>
          <p:cNvSpPr txBox="1"/>
          <p:nvPr/>
        </p:nvSpPr>
        <p:spPr>
          <a:xfrm>
            <a:off x="548640" y="1298448"/>
            <a:ext cx="256032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WORKLOAD</a:t>
            </a:r>
            <a:endParaRPr lang="en-US" sz="900" dirty="0"/>
          </a:p>
        </p:txBody>
      </p:sp>
      <p:sp>
        <p:nvSpPr>
          <p:cNvPr id="19" name="Text 16"/>
          <p:cNvSpPr txBox="1"/>
          <p:nvPr/>
        </p:nvSpPr>
        <p:spPr>
          <a:xfrm>
            <a:off x="3291840" y="1298448"/>
            <a:ext cx="150876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TYPICAL HARDWARE</a:t>
            </a:r>
            <a:endParaRPr lang="en-US" sz="900" dirty="0"/>
          </a:p>
        </p:txBody>
      </p:sp>
      <p:sp>
        <p:nvSpPr>
          <p:cNvPr id="20" name="Text 17"/>
          <p:cNvSpPr txBox="1"/>
          <p:nvPr/>
        </p:nvSpPr>
        <p:spPr>
          <a:xfrm>
            <a:off x="4983480" y="1298448"/>
            <a:ext cx="91440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DURATION</a:t>
            </a:r>
            <a:endParaRPr lang="en-US" sz="900" dirty="0"/>
          </a:p>
        </p:txBody>
      </p:sp>
      <p:sp>
        <p:nvSpPr>
          <p:cNvPr id="21" name="Text 18"/>
          <p:cNvSpPr txBox="1"/>
          <p:nvPr/>
        </p:nvSpPr>
        <p:spPr>
          <a:xfrm>
            <a:off x="6080760" y="1298448"/>
            <a:ext cx="96012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FOR AN NSO?</a:t>
            </a:r>
            <a:endParaRPr lang="en-US" sz="900" dirty="0"/>
          </a:p>
        </p:txBody>
      </p:sp>
      <p:sp>
        <p:nvSpPr>
          <p:cNvPr id="22" name="Text 19"/>
          <p:cNvSpPr txBox="1"/>
          <p:nvPr/>
        </p:nvSpPr>
        <p:spPr>
          <a:xfrm>
            <a:off x="7223760" y="1298448"/>
            <a:ext cx="137160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COMMENT</a:t>
            </a:r>
            <a:endParaRPr lang="en-US" sz="900" dirty="0"/>
          </a:p>
        </p:txBody>
      </p:sp>
      <p:sp>
        <p:nvSpPr>
          <p:cNvPr id="23" name="Shape 20"/>
          <p:cNvSpPr/>
          <p:nvPr/>
        </p:nvSpPr>
        <p:spPr>
          <a:xfrm>
            <a:off x="457200" y="1572768"/>
            <a:ext cx="8229600" cy="365760"/>
          </a:xfrm>
          <a:prstGeom prst="roundRect">
            <a:avLst>
              <a:gd name="adj" fmla="val 12500"/>
            </a:avLst>
          </a:prstGeom>
          <a:solidFill>
            <a:srgbClr val="F4F7F5"/>
          </a:solidFill>
          <a:ln w="9525">
            <a:solidFill>
              <a:srgbClr val="D5DED9"/>
            </a:solidFill>
            <a:prstDash val="solid"/>
          </a:ln>
        </p:spPr>
      </p:sp>
      <p:sp>
        <p:nvSpPr>
          <p:cNvPr id="24" name="Text 21"/>
          <p:cNvSpPr txBox="1"/>
          <p:nvPr/>
        </p:nvSpPr>
        <p:spPr>
          <a:xfrm>
            <a:off x="548640" y="1572768"/>
            <a:ext cx="2560320" cy="36576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Classical ML (gradient boosting, linear models)</a:t>
            </a:r>
            <a:endParaRPr lang="en-US" sz="950" dirty="0"/>
          </a:p>
        </p:txBody>
      </p:sp>
      <p:sp>
        <p:nvSpPr>
          <p:cNvPr id="25" name="Text 22"/>
          <p:cNvSpPr txBox="1"/>
          <p:nvPr/>
        </p:nvSpPr>
        <p:spPr>
          <a:xfrm>
            <a:off x="3291840" y="1572768"/>
            <a:ext cx="150876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CPU only, 16–64 cores</a:t>
            </a:r>
            <a:endParaRPr lang="en-US" sz="950" dirty="0"/>
          </a:p>
        </p:txBody>
      </p:sp>
      <p:sp>
        <p:nvSpPr>
          <p:cNvPr id="26" name="Text 23"/>
          <p:cNvSpPr txBox="1"/>
          <p:nvPr/>
        </p:nvSpPr>
        <p:spPr>
          <a:xfrm>
            <a:off x="4983480" y="1572768"/>
            <a:ext cx="91440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Minutes–hours</a:t>
            </a:r>
            <a:endParaRPr lang="en-US" sz="950" dirty="0"/>
          </a:p>
        </p:txBody>
      </p:sp>
      <p:sp>
        <p:nvSpPr>
          <p:cNvPr id="27" name="Shape 24"/>
          <p:cNvSpPr/>
          <p:nvPr/>
        </p:nvSpPr>
        <p:spPr>
          <a:xfrm>
            <a:off x="6057900" y="1645920"/>
            <a:ext cx="1005840" cy="219456"/>
          </a:xfrm>
          <a:prstGeom prst="roundRect">
            <a:avLst>
              <a:gd name="adj" fmla="val 50000"/>
            </a:avLst>
          </a:prstGeom>
          <a:solidFill>
            <a:srgbClr val="00704A">
              <a:alpha val="15000"/>
            </a:srgbClr>
          </a:solidFill>
          <a:ln w="9525">
            <a:solidFill>
              <a:srgbClr val="00704A"/>
            </a:solidFill>
            <a:prstDash val="solid"/>
          </a:ln>
        </p:spPr>
      </p:sp>
      <p:sp>
        <p:nvSpPr>
          <p:cNvPr id="28" name="Text 25"/>
          <p:cNvSpPr txBox="1"/>
          <p:nvPr/>
        </p:nvSpPr>
        <p:spPr>
          <a:xfrm>
            <a:off x="6057900" y="1645920"/>
            <a:ext cx="1005840" cy="219456"/>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Yes</a:t>
            </a:r>
            <a:endParaRPr lang="en-US" sz="850" dirty="0"/>
          </a:p>
        </p:txBody>
      </p:sp>
      <p:sp>
        <p:nvSpPr>
          <p:cNvPr id="29" name="Text 26"/>
          <p:cNvSpPr txBox="1"/>
          <p:nvPr/>
        </p:nvSpPr>
        <p:spPr>
          <a:xfrm>
            <a:off x="7223760" y="1572768"/>
            <a:ext cx="137160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Covers much of coding, editing, linkage</a:t>
            </a:r>
            <a:endParaRPr lang="en-US" sz="950" dirty="0"/>
          </a:p>
        </p:txBody>
      </p:sp>
      <p:sp>
        <p:nvSpPr>
          <p:cNvPr id="30" name="Shape 27"/>
          <p:cNvSpPr/>
          <p:nvPr/>
        </p:nvSpPr>
        <p:spPr>
          <a:xfrm>
            <a:off x="457200" y="1984248"/>
            <a:ext cx="8229600" cy="365760"/>
          </a:xfrm>
          <a:prstGeom prst="roundRect">
            <a:avLst>
              <a:gd name="adj" fmla="val 12500"/>
            </a:avLst>
          </a:prstGeom>
          <a:solidFill>
            <a:srgbClr val="F4F7F5"/>
          </a:solidFill>
          <a:ln w="9525">
            <a:solidFill>
              <a:srgbClr val="D5DED9"/>
            </a:solidFill>
            <a:prstDash val="solid"/>
          </a:ln>
        </p:spPr>
      </p:sp>
      <p:sp>
        <p:nvSpPr>
          <p:cNvPr id="31" name="Text 28"/>
          <p:cNvSpPr txBox="1"/>
          <p:nvPr/>
        </p:nvSpPr>
        <p:spPr>
          <a:xfrm>
            <a:off x="548640" y="1984248"/>
            <a:ext cx="2560320" cy="36576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Fine-tuning small text models (under 1B parameters)</a:t>
            </a:r>
            <a:endParaRPr lang="en-US" sz="950" dirty="0"/>
          </a:p>
        </p:txBody>
      </p:sp>
      <p:sp>
        <p:nvSpPr>
          <p:cNvPr id="32" name="Text 29"/>
          <p:cNvSpPr txBox="1"/>
          <p:nvPr/>
        </p:nvSpPr>
        <p:spPr>
          <a:xfrm>
            <a:off x="3291840" y="1984248"/>
            <a:ext cx="150876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1 GPU, 24–48 GB</a:t>
            </a:r>
            <a:endParaRPr lang="en-US" sz="950" dirty="0"/>
          </a:p>
        </p:txBody>
      </p:sp>
      <p:sp>
        <p:nvSpPr>
          <p:cNvPr id="33" name="Text 30"/>
          <p:cNvSpPr txBox="1"/>
          <p:nvPr/>
        </p:nvSpPr>
        <p:spPr>
          <a:xfrm>
            <a:off x="4983480" y="1984248"/>
            <a:ext cx="91440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Hours</a:t>
            </a:r>
            <a:endParaRPr lang="en-US" sz="950" dirty="0"/>
          </a:p>
        </p:txBody>
      </p:sp>
      <p:sp>
        <p:nvSpPr>
          <p:cNvPr id="34" name="Shape 31"/>
          <p:cNvSpPr/>
          <p:nvPr/>
        </p:nvSpPr>
        <p:spPr>
          <a:xfrm>
            <a:off x="6057900" y="2057400"/>
            <a:ext cx="1005840" cy="219456"/>
          </a:xfrm>
          <a:prstGeom prst="roundRect">
            <a:avLst>
              <a:gd name="adj" fmla="val 50000"/>
            </a:avLst>
          </a:prstGeom>
          <a:solidFill>
            <a:srgbClr val="00704A">
              <a:alpha val="15000"/>
            </a:srgbClr>
          </a:solidFill>
          <a:ln w="9525">
            <a:solidFill>
              <a:srgbClr val="00704A"/>
            </a:solidFill>
            <a:prstDash val="solid"/>
          </a:ln>
        </p:spPr>
      </p:sp>
      <p:sp>
        <p:nvSpPr>
          <p:cNvPr id="35" name="Text 32"/>
          <p:cNvSpPr txBox="1"/>
          <p:nvPr/>
        </p:nvSpPr>
        <p:spPr>
          <a:xfrm>
            <a:off x="6057900" y="2057400"/>
            <a:ext cx="1005840" cy="219456"/>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Yes</a:t>
            </a:r>
            <a:endParaRPr lang="en-US" sz="850" dirty="0"/>
          </a:p>
        </p:txBody>
      </p:sp>
      <p:sp>
        <p:nvSpPr>
          <p:cNvPr id="36" name="Text 33"/>
          <p:cNvSpPr txBox="1"/>
          <p:nvPr/>
        </p:nvSpPr>
        <p:spPr>
          <a:xfrm>
            <a:off x="7223760" y="1984248"/>
            <a:ext cx="137160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The workhorse for text classification</a:t>
            </a:r>
            <a:endParaRPr lang="en-US" sz="950" dirty="0"/>
          </a:p>
        </p:txBody>
      </p:sp>
      <p:sp>
        <p:nvSpPr>
          <p:cNvPr id="37" name="Shape 34"/>
          <p:cNvSpPr/>
          <p:nvPr/>
        </p:nvSpPr>
        <p:spPr>
          <a:xfrm>
            <a:off x="457200" y="2395728"/>
            <a:ext cx="8229600" cy="365760"/>
          </a:xfrm>
          <a:prstGeom prst="roundRect">
            <a:avLst>
              <a:gd name="adj" fmla="val 12500"/>
            </a:avLst>
          </a:prstGeom>
          <a:solidFill>
            <a:srgbClr val="F4F7F5"/>
          </a:solidFill>
          <a:ln w="9525">
            <a:solidFill>
              <a:srgbClr val="D5DED9"/>
            </a:solidFill>
            <a:prstDash val="solid"/>
          </a:ln>
        </p:spPr>
      </p:sp>
      <p:sp>
        <p:nvSpPr>
          <p:cNvPr id="38" name="Text 35"/>
          <p:cNvSpPr txBox="1"/>
          <p:nvPr/>
        </p:nvSpPr>
        <p:spPr>
          <a:xfrm>
            <a:off x="548640" y="2395728"/>
            <a:ext cx="2560320" cy="36576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Running small open LLMs (7–14B, compressed)</a:t>
            </a:r>
            <a:endParaRPr lang="en-US" sz="950" dirty="0"/>
          </a:p>
        </p:txBody>
      </p:sp>
      <p:sp>
        <p:nvSpPr>
          <p:cNvPr id="39" name="Text 36"/>
          <p:cNvSpPr txBox="1"/>
          <p:nvPr/>
        </p:nvSpPr>
        <p:spPr>
          <a:xfrm>
            <a:off x="3291840" y="2395728"/>
            <a:ext cx="150876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1 GPU, 24–48 GB</a:t>
            </a:r>
            <a:endParaRPr lang="en-US" sz="950" dirty="0"/>
          </a:p>
        </p:txBody>
      </p:sp>
      <p:sp>
        <p:nvSpPr>
          <p:cNvPr id="40" name="Text 37"/>
          <p:cNvSpPr txBox="1"/>
          <p:nvPr/>
        </p:nvSpPr>
        <p:spPr>
          <a:xfrm>
            <a:off x="4983480" y="2395728"/>
            <a:ext cx="91440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Real time, teams</a:t>
            </a:r>
            <a:endParaRPr lang="en-US" sz="950" dirty="0"/>
          </a:p>
        </p:txBody>
      </p:sp>
      <p:sp>
        <p:nvSpPr>
          <p:cNvPr id="41" name="Shape 38"/>
          <p:cNvSpPr/>
          <p:nvPr/>
        </p:nvSpPr>
        <p:spPr>
          <a:xfrm>
            <a:off x="6057900" y="2468880"/>
            <a:ext cx="1005840" cy="219456"/>
          </a:xfrm>
          <a:prstGeom prst="roundRect">
            <a:avLst>
              <a:gd name="adj" fmla="val 50000"/>
            </a:avLst>
          </a:prstGeom>
          <a:solidFill>
            <a:srgbClr val="00704A">
              <a:alpha val="15000"/>
            </a:srgbClr>
          </a:solidFill>
          <a:ln w="9525">
            <a:solidFill>
              <a:srgbClr val="00704A"/>
            </a:solidFill>
            <a:prstDash val="solid"/>
          </a:ln>
        </p:spPr>
      </p:sp>
      <p:sp>
        <p:nvSpPr>
          <p:cNvPr id="42" name="Text 39"/>
          <p:cNvSpPr txBox="1"/>
          <p:nvPr/>
        </p:nvSpPr>
        <p:spPr>
          <a:xfrm>
            <a:off x="6057900" y="2468880"/>
            <a:ext cx="1005840" cy="219456"/>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Yes</a:t>
            </a:r>
            <a:endParaRPr lang="en-US" sz="850" dirty="0"/>
          </a:p>
        </p:txBody>
      </p:sp>
      <p:sp>
        <p:nvSpPr>
          <p:cNvPr id="43" name="Text 40"/>
          <p:cNvSpPr txBox="1"/>
          <p:nvPr/>
        </p:nvSpPr>
        <p:spPr>
          <a:xfrm>
            <a:off x="7223760" y="2395728"/>
            <a:ext cx="137160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Internal assistance, retrieval, extraction</a:t>
            </a:r>
            <a:endParaRPr lang="en-US" sz="950" dirty="0"/>
          </a:p>
        </p:txBody>
      </p:sp>
      <p:sp>
        <p:nvSpPr>
          <p:cNvPr id="44" name="Shape 41"/>
          <p:cNvSpPr/>
          <p:nvPr/>
        </p:nvSpPr>
        <p:spPr>
          <a:xfrm>
            <a:off x="457200" y="2807208"/>
            <a:ext cx="8229600" cy="365760"/>
          </a:xfrm>
          <a:prstGeom prst="roundRect">
            <a:avLst>
              <a:gd name="adj" fmla="val 12500"/>
            </a:avLst>
          </a:prstGeom>
          <a:solidFill>
            <a:srgbClr val="F4F7F5"/>
          </a:solidFill>
          <a:ln w="9525">
            <a:solidFill>
              <a:srgbClr val="D5DED9"/>
            </a:solidFill>
            <a:prstDash val="solid"/>
          </a:ln>
        </p:spPr>
      </p:sp>
      <p:sp>
        <p:nvSpPr>
          <p:cNvPr id="45" name="Text 42"/>
          <p:cNvSpPr txBox="1"/>
          <p:nvPr/>
        </p:nvSpPr>
        <p:spPr>
          <a:xfrm>
            <a:off x="548640" y="2807208"/>
            <a:ext cx="2560320" cy="36576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Running larger open LLMs (~70B)</a:t>
            </a:r>
            <a:endParaRPr lang="en-US" sz="950" dirty="0"/>
          </a:p>
        </p:txBody>
      </p:sp>
      <p:sp>
        <p:nvSpPr>
          <p:cNvPr id="46" name="Text 43"/>
          <p:cNvSpPr txBox="1"/>
          <p:nvPr/>
        </p:nvSpPr>
        <p:spPr>
          <a:xfrm>
            <a:off x="3291840" y="2807208"/>
            <a:ext cx="150876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2–4 GPUs, 80 GB each</a:t>
            </a:r>
            <a:endParaRPr lang="en-US" sz="950" dirty="0"/>
          </a:p>
        </p:txBody>
      </p:sp>
      <p:sp>
        <p:nvSpPr>
          <p:cNvPr id="47" name="Text 44"/>
          <p:cNvSpPr txBox="1"/>
          <p:nvPr/>
        </p:nvSpPr>
        <p:spPr>
          <a:xfrm>
            <a:off x="4983480" y="2807208"/>
            <a:ext cx="91440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Real time, office</a:t>
            </a:r>
            <a:endParaRPr lang="en-US" sz="950" dirty="0"/>
          </a:p>
        </p:txBody>
      </p:sp>
      <p:sp>
        <p:nvSpPr>
          <p:cNvPr id="48" name="Shape 45"/>
          <p:cNvSpPr/>
          <p:nvPr/>
        </p:nvSpPr>
        <p:spPr>
          <a:xfrm>
            <a:off x="6057900" y="2880360"/>
            <a:ext cx="1005840" cy="219456"/>
          </a:xfrm>
          <a:prstGeom prst="roundRect">
            <a:avLst>
              <a:gd name="adj" fmla="val 50000"/>
            </a:avLst>
          </a:prstGeom>
          <a:solidFill>
            <a:srgbClr val="D49A00">
              <a:alpha val="15000"/>
            </a:srgbClr>
          </a:solidFill>
          <a:ln w="9525">
            <a:solidFill>
              <a:srgbClr val="D49A00"/>
            </a:solidFill>
            <a:prstDash val="solid"/>
          </a:ln>
        </p:spPr>
      </p:sp>
      <p:sp>
        <p:nvSpPr>
          <p:cNvPr id="49" name="Text 46"/>
          <p:cNvSpPr txBox="1"/>
          <p:nvPr/>
        </p:nvSpPr>
        <p:spPr>
          <a:xfrm>
            <a:off x="6057900" y="2880360"/>
            <a:ext cx="100584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Sometimes</a:t>
            </a:r>
            <a:endParaRPr lang="en-US" sz="850" dirty="0"/>
          </a:p>
        </p:txBody>
      </p:sp>
      <p:sp>
        <p:nvSpPr>
          <p:cNvPr id="50" name="Text 47"/>
          <p:cNvSpPr txBox="1"/>
          <p:nvPr/>
        </p:nvSpPr>
        <p:spPr>
          <a:xfrm>
            <a:off x="7223760" y="2807208"/>
            <a:ext cx="137160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Compare honestly with a managed API</a:t>
            </a:r>
            <a:endParaRPr lang="en-US" sz="950" dirty="0"/>
          </a:p>
        </p:txBody>
      </p:sp>
      <p:sp>
        <p:nvSpPr>
          <p:cNvPr id="51" name="Shape 48"/>
          <p:cNvSpPr/>
          <p:nvPr/>
        </p:nvSpPr>
        <p:spPr>
          <a:xfrm>
            <a:off x="457200" y="3218688"/>
            <a:ext cx="8229600" cy="365760"/>
          </a:xfrm>
          <a:prstGeom prst="roundRect">
            <a:avLst>
              <a:gd name="adj" fmla="val 12500"/>
            </a:avLst>
          </a:prstGeom>
          <a:solidFill>
            <a:srgbClr val="F4F7F5"/>
          </a:solidFill>
          <a:ln w="9525">
            <a:solidFill>
              <a:srgbClr val="D5DED9"/>
            </a:solidFill>
            <a:prstDash val="solid"/>
          </a:ln>
        </p:spPr>
      </p:sp>
      <p:sp>
        <p:nvSpPr>
          <p:cNvPr id="52" name="Text 49"/>
          <p:cNvSpPr txBox="1"/>
          <p:nvPr/>
        </p:nvSpPr>
        <p:spPr>
          <a:xfrm>
            <a:off x="548640" y="3218688"/>
            <a:ext cx="2560320" cy="36576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Efficient fine-tuning of ~70B models (LoRA)</a:t>
            </a:r>
            <a:endParaRPr lang="en-US" sz="950" dirty="0"/>
          </a:p>
        </p:txBody>
      </p:sp>
      <p:sp>
        <p:nvSpPr>
          <p:cNvPr id="53" name="Text 50"/>
          <p:cNvSpPr txBox="1"/>
          <p:nvPr/>
        </p:nvSpPr>
        <p:spPr>
          <a:xfrm>
            <a:off x="3291840" y="3218688"/>
            <a:ext cx="150876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4–8 GPUs, 80 GB each</a:t>
            </a:r>
            <a:endParaRPr lang="en-US" sz="950" dirty="0"/>
          </a:p>
        </p:txBody>
      </p:sp>
      <p:sp>
        <p:nvSpPr>
          <p:cNvPr id="54" name="Text 51"/>
          <p:cNvSpPr txBox="1"/>
          <p:nvPr/>
        </p:nvSpPr>
        <p:spPr>
          <a:xfrm>
            <a:off x="4983480" y="3218688"/>
            <a:ext cx="91440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Days</a:t>
            </a:r>
            <a:endParaRPr lang="en-US" sz="950" dirty="0"/>
          </a:p>
        </p:txBody>
      </p:sp>
      <p:sp>
        <p:nvSpPr>
          <p:cNvPr id="55" name="Shape 52"/>
          <p:cNvSpPr/>
          <p:nvPr/>
        </p:nvSpPr>
        <p:spPr>
          <a:xfrm>
            <a:off x="6057900" y="3291840"/>
            <a:ext cx="1005840" cy="219456"/>
          </a:xfrm>
          <a:prstGeom prst="roundRect">
            <a:avLst>
              <a:gd name="adj" fmla="val 50000"/>
            </a:avLst>
          </a:prstGeom>
          <a:solidFill>
            <a:srgbClr val="C4621D">
              <a:alpha val="15000"/>
            </a:srgbClr>
          </a:solidFill>
          <a:ln w="9525">
            <a:solidFill>
              <a:srgbClr val="C4621D"/>
            </a:solidFill>
            <a:prstDash val="solid"/>
          </a:ln>
        </p:spPr>
      </p:sp>
      <p:sp>
        <p:nvSpPr>
          <p:cNvPr id="56" name="Text 53"/>
          <p:cNvSpPr txBox="1"/>
          <p:nvPr/>
        </p:nvSpPr>
        <p:spPr>
          <a:xfrm>
            <a:off x="6057900" y="3291840"/>
            <a:ext cx="1005840" cy="219456"/>
          </a:xfrm>
          <a:prstGeom prst="rect">
            <a:avLst/>
          </a:prstGeom>
          <a:noFill/>
          <a:ln/>
        </p:spPr>
        <p:txBody>
          <a:bodyPr wrap="square" lIns="0" tIns="0" rIns="0" bIns="0" rtlCol="0" anchor="ctr"/>
          <a:lstStyle/>
          <a:p>
            <a:pPr marL="0" indent="0" algn="ctr">
              <a:buNone/>
            </a:pPr>
            <a:r>
              <a:rPr lang="en-US" sz="850" b="1" kern="0" spc="50" dirty="0">
                <a:solidFill>
                  <a:srgbClr val="C4621D"/>
                </a:solidFill>
                <a:latin typeface="Calibri" pitchFamily="34" charset="0"/>
                <a:ea typeface="Calibri" pitchFamily="34" charset="-122"/>
                <a:cs typeface="Calibri" pitchFamily="34" charset="-120"/>
              </a:rPr>
              <a:t>Rarely</a:t>
            </a:r>
            <a:endParaRPr lang="en-US" sz="850" dirty="0"/>
          </a:p>
        </p:txBody>
      </p:sp>
      <p:sp>
        <p:nvSpPr>
          <p:cNvPr id="57" name="Text 54"/>
          <p:cNvSpPr txBox="1"/>
          <p:nvPr/>
        </p:nvSpPr>
        <p:spPr>
          <a:xfrm>
            <a:off x="7223760" y="3218688"/>
            <a:ext cx="137160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Only with a strong domain case</a:t>
            </a:r>
            <a:endParaRPr lang="en-US" sz="950" dirty="0"/>
          </a:p>
        </p:txBody>
      </p:sp>
      <p:sp>
        <p:nvSpPr>
          <p:cNvPr id="58" name="Shape 55"/>
          <p:cNvSpPr/>
          <p:nvPr/>
        </p:nvSpPr>
        <p:spPr>
          <a:xfrm>
            <a:off x="457200" y="3630168"/>
            <a:ext cx="8229600" cy="365760"/>
          </a:xfrm>
          <a:prstGeom prst="roundRect">
            <a:avLst>
              <a:gd name="adj" fmla="val 12500"/>
            </a:avLst>
          </a:prstGeom>
          <a:solidFill>
            <a:srgbClr val="F4F7F5"/>
          </a:solidFill>
          <a:ln w="9525">
            <a:solidFill>
              <a:srgbClr val="D5DED9"/>
            </a:solidFill>
            <a:prstDash val="solid"/>
          </a:ln>
        </p:spPr>
      </p:sp>
      <p:sp>
        <p:nvSpPr>
          <p:cNvPr id="59" name="Text 56"/>
          <p:cNvSpPr txBox="1"/>
          <p:nvPr/>
        </p:nvSpPr>
        <p:spPr>
          <a:xfrm>
            <a:off x="548640" y="3630168"/>
            <a:ext cx="2560320" cy="36576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Pre-training a foundation model</a:t>
            </a:r>
            <a:endParaRPr lang="en-US" sz="950" dirty="0"/>
          </a:p>
        </p:txBody>
      </p:sp>
      <p:sp>
        <p:nvSpPr>
          <p:cNvPr id="60" name="Text 57"/>
          <p:cNvSpPr txBox="1"/>
          <p:nvPr/>
        </p:nvSpPr>
        <p:spPr>
          <a:xfrm>
            <a:off x="3291840" y="3630168"/>
            <a:ext cx="150876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Hundreds–thousands of GPUs</a:t>
            </a:r>
            <a:endParaRPr lang="en-US" sz="950" dirty="0"/>
          </a:p>
        </p:txBody>
      </p:sp>
      <p:sp>
        <p:nvSpPr>
          <p:cNvPr id="61" name="Text 58"/>
          <p:cNvSpPr txBox="1"/>
          <p:nvPr/>
        </p:nvSpPr>
        <p:spPr>
          <a:xfrm>
            <a:off x="4983480" y="3630168"/>
            <a:ext cx="91440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Weeks–months</a:t>
            </a:r>
            <a:endParaRPr lang="en-US" sz="950" dirty="0"/>
          </a:p>
        </p:txBody>
      </p:sp>
      <p:sp>
        <p:nvSpPr>
          <p:cNvPr id="62" name="Shape 59"/>
          <p:cNvSpPr/>
          <p:nvPr/>
        </p:nvSpPr>
        <p:spPr>
          <a:xfrm>
            <a:off x="6057900" y="3703320"/>
            <a:ext cx="1005840" cy="219456"/>
          </a:xfrm>
          <a:prstGeom prst="roundRect">
            <a:avLst>
              <a:gd name="adj" fmla="val 50000"/>
            </a:avLst>
          </a:prstGeom>
          <a:solidFill>
            <a:srgbClr val="B83B2E">
              <a:alpha val="15000"/>
            </a:srgbClr>
          </a:solidFill>
          <a:ln w="9525">
            <a:solidFill>
              <a:srgbClr val="B83B2E"/>
            </a:solidFill>
            <a:prstDash val="solid"/>
          </a:ln>
        </p:spPr>
      </p:sp>
      <p:sp>
        <p:nvSpPr>
          <p:cNvPr id="63" name="Text 60"/>
          <p:cNvSpPr txBox="1"/>
          <p:nvPr/>
        </p:nvSpPr>
        <p:spPr>
          <a:xfrm>
            <a:off x="6057900" y="3703320"/>
            <a:ext cx="1005840" cy="219456"/>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No</a:t>
            </a:r>
            <a:endParaRPr lang="en-US" sz="850" dirty="0"/>
          </a:p>
        </p:txBody>
      </p:sp>
      <p:sp>
        <p:nvSpPr>
          <p:cNvPr id="64" name="Text 61"/>
          <p:cNvSpPr txBox="1"/>
          <p:nvPr/>
        </p:nvSpPr>
        <p:spPr>
          <a:xfrm>
            <a:off x="7223760" y="3630168"/>
            <a:ext cx="1371600" cy="36576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Not an activity for a statistical office</a:t>
            </a:r>
            <a:endParaRPr lang="en-US" sz="950" dirty="0"/>
          </a:p>
        </p:txBody>
      </p:sp>
      <p:sp>
        <p:nvSpPr>
          <p:cNvPr id="65" name="Shape 62"/>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66" name="Shape 63"/>
          <p:cNvSpPr/>
          <p:nvPr/>
        </p:nvSpPr>
        <p:spPr>
          <a:xfrm>
            <a:off x="566928" y="4215384"/>
            <a:ext cx="292608" cy="292608"/>
          </a:xfrm>
          <a:prstGeom prst="ellipse">
            <a:avLst/>
          </a:prstGeom>
          <a:solidFill>
            <a:srgbClr val="00A86A">
              <a:alpha val="22000"/>
            </a:srgbClr>
          </a:solidFill>
          <a:ln/>
        </p:spPr>
      </p:sp>
      <p:pic>
        <p:nvPicPr>
          <p:cNvPr id="67" name="Image 0" descr="preencoded.png"/>
          <p:cNvPicPr>
            <a:picLocks noChangeAspect="1"/>
          </p:cNvPicPr>
          <p:nvPr/>
        </p:nvPicPr>
        <p:blipFill>
          <a:blip r:embed="rId3"/>
          <a:stretch>
            <a:fillRect/>
          </a:stretch>
        </p:blipFill>
        <p:spPr>
          <a:xfrm>
            <a:off x="637154" y="4285610"/>
            <a:ext cx="152156" cy="152156"/>
          </a:xfrm>
          <a:prstGeom prst="rect">
            <a:avLst/>
          </a:prstGeom>
        </p:spPr>
      </p:pic>
      <p:sp>
        <p:nvSpPr>
          <p:cNvPr id="68" name="Text 64"/>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KEY POINT   </a:t>
            </a:r>
            <a:r>
              <a:rPr lang="en-US" sz="1000" dirty="0">
                <a:solidFill>
                  <a:srgbClr val="231F20"/>
                </a:solidFill>
                <a:latin typeface="Calibri" pitchFamily="34" charset="0"/>
                <a:ea typeface="Calibri" pitchFamily="34" charset="-122"/>
                <a:cs typeface="Calibri" pitchFamily="34" charset="-120"/>
              </a:rPr>
              <a:t>Before requesting a GPU, answer three questions: is it training or inference? What is the sustained load versus the peak? Does the data classification even permit external compute?</a:t>
            </a:r>
            <a:endParaRPr lang="en-US" sz="10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AI HARDWARE · ANATOMY</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What is inside an AI server?</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Seven components — and why each one matters for AI workloads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8" name="Shape 15"/>
          <p:cNvSpPr/>
          <p:nvPr/>
        </p:nvSpPr>
        <p:spPr>
          <a:xfrm>
            <a:off x="457200" y="1325880"/>
            <a:ext cx="5394960" cy="3291840"/>
          </a:xfrm>
          <a:prstGeom prst="roundRect">
            <a:avLst>
              <a:gd name="adj" fmla="val 2222"/>
            </a:avLst>
          </a:prstGeom>
          <a:solidFill>
            <a:srgbClr val="FFFFFF"/>
          </a:solidFill>
          <a:ln w="15875">
            <a:solidFill>
              <a:srgbClr val="5E6964"/>
            </a:solidFill>
            <a:prstDash val="dash"/>
          </a:ln>
        </p:spPr>
      </p:sp>
      <p:sp>
        <p:nvSpPr>
          <p:cNvPr id="19" name="Text 16"/>
          <p:cNvSpPr txBox="1"/>
          <p:nvPr/>
        </p:nvSpPr>
        <p:spPr>
          <a:xfrm>
            <a:off x="594360" y="1389888"/>
            <a:ext cx="2743200" cy="182880"/>
          </a:xfrm>
          <a:prstGeom prst="rect">
            <a:avLst/>
          </a:prstGeom>
          <a:noFill/>
          <a:ln/>
        </p:spPr>
        <p:txBody>
          <a:bodyPr wrap="square" lIns="0" tIns="0" rIns="0" bIns="0" rtlCol="0" anchor="t"/>
          <a:lstStyle/>
          <a:p>
            <a:pPr marL="0" indent="0">
              <a:buNone/>
            </a:pPr>
            <a:r>
              <a:rPr lang="en-US" sz="850" b="1" kern="0" spc="200" dirty="0">
                <a:solidFill>
                  <a:srgbClr val="5E6964"/>
                </a:solidFill>
                <a:latin typeface="Calibri" pitchFamily="34" charset="0"/>
                <a:ea typeface="Calibri" pitchFamily="34" charset="-122"/>
                <a:cs typeface="Calibri" pitchFamily="34" charset="-120"/>
              </a:rPr>
              <a:t>AI SERVER</a:t>
            </a:r>
            <a:endParaRPr lang="en-US" sz="850" dirty="0"/>
          </a:p>
        </p:txBody>
      </p:sp>
      <p:sp>
        <p:nvSpPr>
          <p:cNvPr id="20" name="Shape 17"/>
          <p:cNvSpPr/>
          <p:nvPr/>
        </p:nvSpPr>
        <p:spPr>
          <a:xfrm>
            <a:off x="594360" y="1645920"/>
            <a:ext cx="1645920" cy="1097280"/>
          </a:xfrm>
          <a:prstGeom prst="roundRect">
            <a:avLst>
              <a:gd name="adj" fmla="val 6667"/>
            </a:avLst>
          </a:prstGeom>
          <a:solidFill>
            <a:srgbClr val="F4F7F5"/>
          </a:solidFill>
          <a:ln w="9525">
            <a:solidFill>
              <a:srgbClr val="D5DED9"/>
            </a:solidFill>
            <a:prstDash val="solid"/>
          </a:ln>
        </p:spPr>
      </p:sp>
      <p:sp>
        <p:nvSpPr>
          <p:cNvPr id="21" name="Shape 18"/>
          <p:cNvSpPr/>
          <p:nvPr/>
        </p:nvSpPr>
        <p:spPr>
          <a:xfrm>
            <a:off x="685800" y="1737360"/>
            <a:ext cx="310896" cy="310896"/>
          </a:xfrm>
          <a:prstGeom prst="ellipse">
            <a:avLst/>
          </a:prstGeom>
          <a:solidFill>
            <a:srgbClr val="0E7C86">
              <a:alpha val="22000"/>
            </a:srgbClr>
          </a:solidFill>
          <a:ln/>
        </p:spPr>
      </p:sp>
      <p:pic>
        <p:nvPicPr>
          <p:cNvPr id="22" name="Image 0" descr="preencoded.png"/>
          <p:cNvPicPr>
            <a:picLocks noChangeAspect="1"/>
          </p:cNvPicPr>
          <p:nvPr/>
        </p:nvPicPr>
        <p:blipFill>
          <a:blip r:embed="rId3"/>
          <a:stretch>
            <a:fillRect/>
          </a:stretch>
        </p:blipFill>
        <p:spPr>
          <a:xfrm>
            <a:off x="760415" y="1811975"/>
            <a:ext cx="161666" cy="161666"/>
          </a:xfrm>
          <a:prstGeom prst="rect">
            <a:avLst/>
          </a:prstGeom>
        </p:spPr>
      </p:pic>
      <p:sp>
        <p:nvSpPr>
          <p:cNvPr id="23" name="Text 19"/>
          <p:cNvSpPr txBox="1"/>
          <p:nvPr/>
        </p:nvSpPr>
        <p:spPr>
          <a:xfrm>
            <a:off x="1051560" y="1719072"/>
            <a:ext cx="1133856"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CPU</a:t>
            </a:r>
            <a:endParaRPr lang="en-US" sz="1000" dirty="0"/>
          </a:p>
        </p:txBody>
      </p:sp>
      <p:sp>
        <p:nvSpPr>
          <p:cNvPr id="24" name="Text 20"/>
          <p:cNvSpPr txBox="1"/>
          <p:nvPr/>
        </p:nvSpPr>
        <p:spPr>
          <a:xfrm>
            <a:off x="685800" y="2121408"/>
            <a:ext cx="1463040" cy="58521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Orchestrates, prepares data, runs classical ML</a:t>
            </a:r>
            <a:endParaRPr lang="en-US" sz="850" dirty="0"/>
          </a:p>
        </p:txBody>
      </p:sp>
      <p:sp>
        <p:nvSpPr>
          <p:cNvPr id="25" name="Shape 21"/>
          <p:cNvSpPr/>
          <p:nvPr/>
        </p:nvSpPr>
        <p:spPr>
          <a:xfrm>
            <a:off x="2331720" y="1645920"/>
            <a:ext cx="1645920" cy="1097280"/>
          </a:xfrm>
          <a:prstGeom prst="roundRect">
            <a:avLst>
              <a:gd name="adj" fmla="val 6667"/>
            </a:avLst>
          </a:prstGeom>
          <a:solidFill>
            <a:srgbClr val="E8F5EF"/>
          </a:solidFill>
          <a:ln w="15875">
            <a:solidFill>
              <a:srgbClr val="00A86A"/>
            </a:solidFill>
            <a:prstDash val="solid"/>
          </a:ln>
        </p:spPr>
      </p:sp>
      <p:sp>
        <p:nvSpPr>
          <p:cNvPr id="26" name="Shape 22"/>
          <p:cNvSpPr/>
          <p:nvPr/>
        </p:nvSpPr>
        <p:spPr>
          <a:xfrm>
            <a:off x="2423160" y="1737360"/>
            <a:ext cx="310896" cy="310896"/>
          </a:xfrm>
          <a:prstGeom prst="ellipse">
            <a:avLst/>
          </a:prstGeom>
          <a:solidFill>
            <a:srgbClr val="00A86A">
              <a:alpha val="22000"/>
            </a:srgbClr>
          </a:solidFill>
          <a:ln/>
        </p:spPr>
      </p:sp>
      <p:pic>
        <p:nvPicPr>
          <p:cNvPr id="27" name="Image 1" descr="preencoded.png"/>
          <p:cNvPicPr>
            <a:picLocks noChangeAspect="1"/>
          </p:cNvPicPr>
          <p:nvPr/>
        </p:nvPicPr>
        <p:blipFill>
          <a:blip r:embed="rId4"/>
          <a:stretch>
            <a:fillRect/>
          </a:stretch>
        </p:blipFill>
        <p:spPr>
          <a:xfrm>
            <a:off x="2497775" y="1811975"/>
            <a:ext cx="161666" cy="161666"/>
          </a:xfrm>
          <a:prstGeom prst="rect">
            <a:avLst/>
          </a:prstGeom>
        </p:spPr>
      </p:pic>
      <p:sp>
        <p:nvSpPr>
          <p:cNvPr id="28" name="Text 23"/>
          <p:cNvSpPr txBox="1"/>
          <p:nvPr/>
        </p:nvSpPr>
        <p:spPr>
          <a:xfrm>
            <a:off x="2788920" y="1719072"/>
            <a:ext cx="1133856"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GPU / accelerator</a:t>
            </a:r>
            <a:endParaRPr lang="en-US" sz="1000" dirty="0"/>
          </a:p>
        </p:txBody>
      </p:sp>
      <p:sp>
        <p:nvSpPr>
          <p:cNvPr id="29" name="Text 24"/>
          <p:cNvSpPr txBox="1"/>
          <p:nvPr/>
        </p:nvSpPr>
        <p:spPr>
          <a:xfrm>
            <a:off x="2423160" y="2121408"/>
            <a:ext cx="1463040" cy="58521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Runs neural-network maths in parallel</a:t>
            </a:r>
            <a:endParaRPr lang="en-US" sz="850" dirty="0"/>
          </a:p>
        </p:txBody>
      </p:sp>
      <p:sp>
        <p:nvSpPr>
          <p:cNvPr id="30" name="Shape 25"/>
          <p:cNvSpPr/>
          <p:nvPr/>
        </p:nvSpPr>
        <p:spPr>
          <a:xfrm>
            <a:off x="4069080" y="1645920"/>
            <a:ext cx="1645920" cy="1097280"/>
          </a:xfrm>
          <a:prstGeom prst="roundRect">
            <a:avLst>
              <a:gd name="adj" fmla="val 6667"/>
            </a:avLst>
          </a:prstGeom>
          <a:solidFill>
            <a:srgbClr val="E8F5EF"/>
          </a:solidFill>
          <a:ln w="15875">
            <a:solidFill>
              <a:srgbClr val="00A86A"/>
            </a:solidFill>
            <a:prstDash val="solid"/>
          </a:ln>
        </p:spPr>
      </p:sp>
      <p:sp>
        <p:nvSpPr>
          <p:cNvPr id="31" name="Shape 26"/>
          <p:cNvSpPr/>
          <p:nvPr/>
        </p:nvSpPr>
        <p:spPr>
          <a:xfrm>
            <a:off x="4160520" y="1737360"/>
            <a:ext cx="310896" cy="310896"/>
          </a:xfrm>
          <a:prstGeom prst="ellipse">
            <a:avLst/>
          </a:prstGeom>
          <a:solidFill>
            <a:srgbClr val="00A86A">
              <a:alpha val="22000"/>
            </a:srgbClr>
          </a:solidFill>
          <a:ln/>
        </p:spPr>
      </p:sp>
      <p:pic>
        <p:nvPicPr>
          <p:cNvPr id="32" name="Image 2" descr="preencoded.png"/>
          <p:cNvPicPr>
            <a:picLocks noChangeAspect="1"/>
          </p:cNvPicPr>
          <p:nvPr/>
        </p:nvPicPr>
        <p:blipFill>
          <a:blip r:embed="rId5"/>
          <a:stretch>
            <a:fillRect/>
          </a:stretch>
        </p:blipFill>
        <p:spPr>
          <a:xfrm>
            <a:off x="4235135" y="1811975"/>
            <a:ext cx="161666" cy="161666"/>
          </a:xfrm>
          <a:prstGeom prst="rect">
            <a:avLst/>
          </a:prstGeom>
        </p:spPr>
      </p:pic>
      <p:sp>
        <p:nvSpPr>
          <p:cNvPr id="33" name="Text 27"/>
          <p:cNvSpPr txBox="1"/>
          <p:nvPr/>
        </p:nvSpPr>
        <p:spPr>
          <a:xfrm>
            <a:off x="4526280" y="1719072"/>
            <a:ext cx="1133856"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GPU memory (VRAM)</a:t>
            </a:r>
            <a:endParaRPr lang="en-US" sz="1000" dirty="0"/>
          </a:p>
        </p:txBody>
      </p:sp>
      <p:sp>
        <p:nvSpPr>
          <p:cNvPr id="34" name="Text 28"/>
          <p:cNvSpPr txBox="1"/>
          <p:nvPr/>
        </p:nvSpPr>
        <p:spPr>
          <a:xfrm>
            <a:off x="4160520" y="2121408"/>
            <a:ext cx="1463040" cy="58521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Must hold the whole model: the decisive spec</a:t>
            </a:r>
            <a:endParaRPr lang="en-US" sz="850" dirty="0"/>
          </a:p>
        </p:txBody>
      </p:sp>
      <p:sp>
        <p:nvSpPr>
          <p:cNvPr id="35" name="Shape 29"/>
          <p:cNvSpPr/>
          <p:nvPr/>
        </p:nvSpPr>
        <p:spPr>
          <a:xfrm>
            <a:off x="594360" y="2834640"/>
            <a:ext cx="1645920" cy="1097280"/>
          </a:xfrm>
          <a:prstGeom prst="roundRect">
            <a:avLst>
              <a:gd name="adj" fmla="val 6667"/>
            </a:avLst>
          </a:prstGeom>
          <a:solidFill>
            <a:srgbClr val="F4F7F5"/>
          </a:solidFill>
          <a:ln w="9525">
            <a:solidFill>
              <a:srgbClr val="D5DED9"/>
            </a:solidFill>
            <a:prstDash val="solid"/>
          </a:ln>
        </p:spPr>
      </p:sp>
      <p:sp>
        <p:nvSpPr>
          <p:cNvPr id="36" name="Shape 30"/>
          <p:cNvSpPr/>
          <p:nvPr/>
        </p:nvSpPr>
        <p:spPr>
          <a:xfrm>
            <a:off x="685800" y="2926080"/>
            <a:ext cx="310896" cy="310896"/>
          </a:xfrm>
          <a:prstGeom prst="ellipse">
            <a:avLst/>
          </a:prstGeom>
          <a:solidFill>
            <a:srgbClr val="0E7C86">
              <a:alpha val="22000"/>
            </a:srgbClr>
          </a:solidFill>
          <a:ln/>
        </p:spPr>
      </p:sp>
      <p:pic>
        <p:nvPicPr>
          <p:cNvPr id="37" name="Image 3" descr="preencoded.png"/>
          <p:cNvPicPr>
            <a:picLocks noChangeAspect="1"/>
          </p:cNvPicPr>
          <p:nvPr/>
        </p:nvPicPr>
        <p:blipFill>
          <a:blip r:embed="rId6"/>
          <a:stretch>
            <a:fillRect/>
          </a:stretch>
        </p:blipFill>
        <p:spPr>
          <a:xfrm>
            <a:off x="760415" y="3000695"/>
            <a:ext cx="161666" cy="161666"/>
          </a:xfrm>
          <a:prstGeom prst="rect">
            <a:avLst/>
          </a:prstGeom>
        </p:spPr>
      </p:pic>
      <p:sp>
        <p:nvSpPr>
          <p:cNvPr id="38" name="Text 31"/>
          <p:cNvSpPr txBox="1"/>
          <p:nvPr/>
        </p:nvSpPr>
        <p:spPr>
          <a:xfrm>
            <a:off x="1051560" y="2907792"/>
            <a:ext cx="1133856"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System memory (RAM)</a:t>
            </a:r>
            <a:endParaRPr lang="en-US" sz="1000" dirty="0"/>
          </a:p>
        </p:txBody>
      </p:sp>
      <p:sp>
        <p:nvSpPr>
          <p:cNvPr id="39" name="Text 32"/>
          <p:cNvSpPr txBox="1"/>
          <p:nvPr/>
        </p:nvSpPr>
        <p:spPr>
          <a:xfrm>
            <a:off x="685800" y="3310128"/>
            <a:ext cx="1463040" cy="58521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Feeds data to the GPU; often ≥ 2× GPU memory</a:t>
            </a:r>
            <a:endParaRPr lang="en-US" sz="850" dirty="0"/>
          </a:p>
        </p:txBody>
      </p:sp>
      <p:sp>
        <p:nvSpPr>
          <p:cNvPr id="40" name="Shape 33"/>
          <p:cNvSpPr/>
          <p:nvPr/>
        </p:nvSpPr>
        <p:spPr>
          <a:xfrm>
            <a:off x="2331720" y="2834640"/>
            <a:ext cx="1645920" cy="1097280"/>
          </a:xfrm>
          <a:prstGeom prst="roundRect">
            <a:avLst>
              <a:gd name="adj" fmla="val 6667"/>
            </a:avLst>
          </a:prstGeom>
          <a:solidFill>
            <a:srgbClr val="F4F7F5"/>
          </a:solidFill>
          <a:ln w="9525">
            <a:solidFill>
              <a:srgbClr val="D5DED9"/>
            </a:solidFill>
            <a:prstDash val="solid"/>
          </a:ln>
        </p:spPr>
      </p:sp>
      <p:sp>
        <p:nvSpPr>
          <p:cNvPr id="41" name="Shape 34"/>
          <p:cNvSpPr/>
          <p:nvPr/>
        </p:nvSpPr>
        <p:spPr>
          <a:xfrm>
            <a:off x="2423160" y="2926080"/>
            <a:ext cx="310896" cy="310896"/>
          </a:xfrm>
          <a:prstGeom prst="ellipse">
            <a:avLst/>
          </a:prstGeom>
          <a:solidFill>
            <a:srgbClr val="0E7C86">
              <a:alpha val="22000"/>
            </a:srgbClr>
          </a:solidFill>
          <a:ln/>
        </p:spPr>
      </p:sp>
      <p:pic>
        <p:nvPicPr>
          <p:cNvPr id="42" name="Image 4" descr="preencoded.png"/>
          <p:cNvPicPr>
            <a:picLocks noChangeAspect="1"/>
          </p:cNvPicPr>
          <p:nvPr/>
        </p:nvPicPr>
        <p:blipFill>
          <a:blip r:embed="rId7"/>
          <a:stretch>
            <a:fillRect/>
          </a:stretch>
        </p:blipFill>
        <p:spPr>
          <a:xfrm>
            <a:off x="2497775" y="3000695"/>
            <a:ext cx="161666" cy="161666"/>
          </a:xfrm>
          <a:prstGeom prst="rect">
            <a:avLst/>
          </a:prstGeom>
        </p:spPr>
      </p:pic>
      <p:sp>
        <p:nvSpPr>
          <p:cNvPr id="43" name="Text 35"/>
          <p:cNvSpPr txBox="1"/>
          <p:nvPr/>
        </p:nvSpPr>
        <p:spPr>
          <a:xfrm>
            <a:off x="2788920" y="2907792"/>
            <a:ext cx="1133856"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NVMe storage</a:t>
            </a:r>
            <a:endParaRPr lang="en-US" sz="1000" dirty="0"/>
          </a:p>
        </p:txBody>
      </p:sp>
      <p:sp>
        <p:nvSpPr>
          <p:cNvPr id="44" name="Text 36"/>
          <p:cNvSpPr txBox="1"/>
          <p:nvPr/>
        </p:nvSpPr>
        <p:spPr>
          <a:xfrm>
            <a:off x="2423160" y="3310128"/>
            <a:ext cx="1463040" cy="58521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Loads datasets, models and checkpoints fast</a:t>
            </a:r>
            <a:endParaRPr lang="en-US" sz="850" dirty="0"/>
          </a:p>
        </p:txBody>
      </p:sp>
      <p:sp>
        <p:nvSpPr>
          <p:cNvPr id="45" name="Shape 37"/>
          <p:cNvSpPr/>
          <p:nvPr/>
        </p:nvSpPr>
        <p:spPr>
          <a:xfrm>
            <a:off x="4069080" y="2834640"/>
            <a:ext cx="1645920" cy="1097280"/>
          </a:xfrm>
          <a:prstGeom prst="roundRect">
            <a:avLst>
              <a:gd name="adj" fmla="val 6667"/>
            </a:avLst>
          </a:prstGeom>
          <a:solidFill>
            <a:srgbClr val="F4F7F5"/>
          </a:solidFill>
          <a:ln w="9525">
            <a:solidFill>
              <a:srgbClr val="D5DED9"/>
            </a:solidFill>
            <a:prstDash val="solid"/>
          </a:ln>
        </p:spPr>
      </p:sp>
      <p:sp>
        <p:nvSpPr>
          <p:cNvPr id="46" name="Shape 38"/>
          <p:cNvSpPr/>
          <p:nvPr/>
        </p:nvSpPr>
        <p:spPr>
          <a:xfrm>
            <a:off x="4160520" y="2926080"/>
            <a:ext cx="310896" cy="310896"/>
          </a:xfrm>
          <a:prstGeom prst="ellipse">
            <a:avLst/>
          </a:prstGeom>
          <a:solidFill>
            <a:srgbClr val="0E7C86">
              <a:alpha val="22000"/>
            </a:srgbClr>
          </a:solidFill>
          <a:ln/>
        </p:spPr>
      </p:sp>
      <p:pic>
        <p:nvPicPr>
          <p:cNvPr id="47" name="Image 5" descr="preencoded.png"/>
          <p:cNvPicPr>
            <a:picLocks noChangeAspect="1"/>
          </p:cNvPicPr>
          <p:nvPr/>
        </p:nvPicPr>
        <p:blipFill>
          <a:blip r:embed="rId8"/>
          <a:stretch>
            <a:fillRect/>
          </a:stretch>
        </p:blipFill>
        <p:spPr>
          <a:xfrm>
            <a:off x="4235135" y="3000695"/>
            <a:ext cx="161666" cy="161666"/>
          </a:xfrm>
          <a:prstGeom prst="rect">
            <a:avLst/>
          </a:prstGeom>
        </p:spPr>
      </p:pic>
      <p:sp>
        <p:nvSpPr>
          <p:cNvPr id="48" name="Text 39"/>
          <p:cNvSpPr txBox="1"/>
          <p:nvPr/>
        </p:nvSpPr>
        <p:spPr>
          <a:xfrm>
            <a:off x="4526280" y="2907792"/>
            <a:ext cx="1133856"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Network card</a:t>
            </a:r>
            <a:endParaRPr lang="en-US" sz="1000" dirty="0"/>
          </a:p>
        </p:txBody>
      </p:sp>
      <p:sp>
        <p:nvSpPr>
          <p:cNvPr id="49" name="Text 40"/>
          <p:cNvSpPr txBox="1"/>
          <p:nvPr/>
        </p:nvSpPr>
        <p:spPr>
          <a:xfrm>
            <a:off x="4160520" y="3310128"/>
            <a:ext cx="1463040" cy="58521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10–25 GbE for one server; faster links for clusters</a:t>
            </a:r>
            <a:endParaRPr lang="en-US" sz="850" dirty="0"/>
          </a:p>
        </p:txBody>
      </p:sp>
      <p:sp>
        <p:nvSpPr>
          <p:cNvPr id="50" name="Shape 41"/>
          <p:cNvSpPr/>
          <p:nvPr/>
        </p:nvSpPr>
        <p:spPr>
          <a:xfrm>
            <a:off x="594360" y="4041648"/>
            <a:ext cx="5120640" cy="457200"/>
          </a:xfrm>
          <a:prstGeom prst="roundRect">
            <a:avLst>
              <a:gd name="adj" fmla="val 10000"/>
            </a:avLst>
          </a:prstGeom>
          <a:solidFill>
            <a:srgbClr val="D49A00">
              <a:alpha val="13000"/>
            </a:srgbClr>
          </a:solidFill>
          <a:ln w="12700">
            <a:solidFill>
              <a:srgbClr val="D49A00"/>
            </a:solidFill>
            <a:prstDash val="solid"/>
          </a:ln>
        </p:spPr>
      </p:sp>
      <p:sp>
        <p:nvSpPr>
          <p:cNvPr id="51" name="Shape 42"/>
          <p:cNvSpPr/>
          <p:nvPr/>
        </p:nvSpPr>
        <p:spPr>
          <a:xfrm>
            <a:off x="685800" y="4114800"/>
            <a:ext cx="310896" cy="310896"/>
          </a:xfrm>
          <a:prstGeom prst="ellipse">
            <a:avLst/>
          </a:prstGeom>
          <a:solidFill>
            <a:srgbClr val="D49A00">
              <a:alpha val="22000"/>
            </a:srgbClr>
          </a:solidFill>
          <a:ln/>
        </p:spPr>
      </p:sp>
      <p:pic>
        <p:nvPicPr>
          <p:cNvPr id="52" name="Image 6" descr="preencoded.png"/>
          <p:cNvPicPr>
            <a:picLocks noChangeAspect="1"/>
          </p:cNvPicPr>
          <p:nvPr/>
        </p:nvPicPr>
        <p:blipFill>
          <a:blip r:embed="rId9"/>
          <a:stretch>
            <a:fillRect/>
          </a:stretch>
        </p:blipFill>
        <p:spPr>
          <a:xfrm>
            <a:off x="760415" y="4189415"/>
            <a:ext cx="161666" cy="161666"/>
          </a:xfrm>
          <a:prstGeom prst="rect">
            <a:avLst/>
          </a:prstGeom>
        </p:spPr>
      </p:pic>
      <p:sp>
        <p:nvSpPr>
          <p:cNvPr id="53" name="Text 43"/>
          <p:cNvSpPr txBox="1"/>
          <p:nvPr/>
        </p:nvSpPr>
        <p:spPr>
          <a:xfrm>
            <a:off x="1078992" y="4041648"/>
            <a:ext cx="4572000" cy="457200"/>
          </a:xfrm>
          <a:prstGeom prst="rect">
            <a:avLst/>
          </a:prstGeom>
          <a:noFill/>
          <a:ln/>
        </p:spPr>
        <p:txBody>
          <a:bodyPr wrap="square" lIns="0" tIns="0" rIns="0" bIns="0" rtlCol="0" anchor="ctr"/>
          <a:lstStyle/>
          <a:p>
            <a:pPr marL="0" indent="0">
              <a:buNone/>
            </a:pPr>
            <a:r>
              <a:rPr lang="en-US" sz="950" b="1" dirty="0">
                <a:solidFill>
                  <a:srgbClr val="8A6400"/>
                </a:solidFill>
                <a:latin typeface="Calibri" pitchFamily="34" charset="0"/>
                <a:ea typeface="Calibri" pitchFamily="34" charset="-122"/>
                <a:cs typeface="Calibri" pitchFamily="34" charset="-120"/>
              </a:rPr>
              <a:t>Power &amp; cooling  </a:t>
            </a:r>
            <a:r>
              <a:rPr lang="en-US" sz="950" dirty="0">
                <a:solidFill>
                  <a:srgbClr val="231F20"/>
                </a:solidFill>
                <a:latin typeface="Calibri" pitchFamily="34" charset="0"/>
                <a:ea typeface="Calibri" pitchFamily="34" charset="-122"/>
                <a:cs typeface="Calibri" pitchFamily="34" charset="-120"/>
              </a:rPr>
              <a:t>from ~1 kW (one GPU) to 10 kW+ (eight GPUs); air or liquid cooling</a:t>
            </a:r>
            <a:endParaRPr lang="en-US" sz="950" dirty="0"/>
          </a:p>
        </p:txBody>
      </p:sp>
      <p:sp>
        <p:nvSpPr>
          <p:cNvPr id="54" name="Shape 44"/>
          <p:cNvSpPr/>
          <p:nvPr/>
        </p:nvSpPr>
        <p:spPr>
          <a:xfrm>
            <a:off x="6035040" y="1325880"/>
            <a:ext cx="2651760" cy="2148840"/>
          </a:xfrm>
          <a:prstGeom prst="roundRect">
            <a:avLst>
              <a:gd name="adj" fmla="val 3404"/>
            </a:avLst>
          </a:prstGeom>
          <a:solidFill>
            <a:srgbClr val="E8F5EF"/>
          </a:solidFill>
          <a:ln w="15875">
            <a:solidFill>
              <a:srgbClr val="00A86A"/>
            </a:solidFill>
            <a:prstDash val="solid"/>
          </a:ln>
        </p:spPr>
      </p:sp>
      <p:sp>
        <p:nvSpPr>
          <p:cNvPr id="55" name="Text 45"/>
          <p:cNvSpPr txBox="1"/>
          <p:nvPr/>
        </p:nvSpPr>
        <p:spPr>
          <a:xfrm>
            <a:off x="6172200" y="1417320"/>
            <a:ext cx="237744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AN ANALOGY</a:t>
            </a:r>
            <a:endParaRPr lang="en-US" sz="900" dirty="0"/>
          </a:p>
        </p:txBody>
      </p:sp>
      <p:sp>
        <p:nvSpPr>
          <p:cNvPr id="56" name="Shape 46"/>
          <p:cNvSpPr/>
          <p:nvPr/>
        </p:nvSpPr>
        <p:spPr>
          <a:xfrm>
            <a:off x="6172200" y="1691640"/>
            <a:ext cx="365760" cy="365760"/>
          </a:xfrm>
          <a:prstGeom prst="ellipse">
            <a:avLst/>
          </a:prstGeom>
          <a:solidFill>
            <a:srgbClr val="0E7C86">
              <a:alpha val="22000"/>
            </a:srgbClr>
          </a:solidFill>
          <a:ln/>
        </p:spPr>
      </p:sp>
      <p:pic>
        <p:nvPicPr>
          <p:cNvPr id="57" name="Image 7" descr="preencoded.png"/>
          <p:cNvPicPr>
            <a:picLocks noChangeAspect="1"/>
          </p:cNvPicPr>
          <p:nvPr/>
        </p:nvPicPr>
        <p:blipFill>
          <a:blip r:embed="rId10"/>
          <a:stretch>
            <a:fillRect/>
          </a:stretch>
        </p:blipFill>
        <p:spPr>
          <a:xfrm>
            <a:off x="6259982" y="1779422"/>
            <a:ext cx="190195" cy="190195"/>
          </a:xfrm>
          <a:prstGeom prst="rect">
            <a:avLst/>
          </a:prstGeom>
        </p:spPr>
      </p:pic>
      <p:sp>
        <p:nvSpPr>
          <p:cNvPr id="58" name="Text 47"/>
          <p:cNvSpPr txBox="1"/>
          <p:nvPr/>
        </p:nvSpPr>
        <p:spPr>
          <a:xfrm>
            <a:off x="6629400" y="1645920"/>
            <a:ext cx="1965960" cy="685800"/>
          </a:xfrm>
          <a:prstGeom prst="rect">
            <a:avLst/>
          </a:prstGeom>
          <a:noFill/>
          <a:ln/>
        </p:spPr>
        <p:txBody>
          <a:bodyPr wrap="square" lIns="0" tIns="0" rIns="0" bIns="0" rtlCol="0" anchor="ctr"/>
          <a:lstStyle/>
          <a:p>
            <a:pPr marL="0" indent="0">
              <a:buNone/>
            </a:pPr>
            <a:r>
              <a:rPr lang="en-US" sz="950" b="1" dirty="0">
                <a:solidFill>
                  <a:srgbClr val="0E7C86"/>
                </a:solidFill>
                <a:latin typeface="Calibri" pitchFamily="34" charset="0"/>
                <a:ea typeface="Calibri" pitchFamily="34" charset="-122"/>
                <a:cs typeface="Calibri" pitchFamily="34" charset="-120"/>
              </a:rPr>
              <a:t>CPU</a:t>
            </a:r>
            <a:r>
              <a:rPr lang="en-US" sz="950" dirty="0">
                <a:solidFill>
                  <a:srgbClr val="231F20"/>
                </a:solidFill>
                <a:latin typeface="Calibri" pitchFamily="34" charset="0"/>
                <a:ea typeface="Calibri" pitchFamily="34" charset="-122"/>
                <a:cs typeface="Calibri" pitchFamily="34" charset="-120"/>
              </a:rPr>
              <a:t> = a few expert chefs doing complex tasks one by one</a:t>
            </a:r>
            <a:endParaRPr lang="en-US" sz="950" dirty="0"/>
          </a:p>
        </p:txBody>
      </p:sp>
      <p:sp>
        <p:nvSpPr>
          <p:cNvPr id="59" name="Shape 48"/>
          <p:cNvSpPr/>
          <p:nvPr/>
        </p:nvSpPr>
        <p:spPr>
          <a:xfrm>
            <a:off x="6172200" y="2468880"/>
            <a:ext cx="365760" cy="365760"/>
          </a:xfrm>
          <a:prstGeom prst="ellipse">
            <a:avLst/>
          </a:prstGeom>
          <a:solidFill>
            <a:srgbClr val="00A86A">
              <a:alpha val="22000"/>
            </a:srgbClr>
          </a:solidFill>
          <a:ln/>
        </p:spPr>
      </p:sp>
      <p:pic>
        <p:nvPicPr>
          <p:cNvPr id="60" name="Image 8" descr="preencoded.png"/>
          <p:cNvPicPr>
            <a:picLocks noChangeAspect="1"/>
          </p:cNvPicPr>
          <p:nvPr/>
        </p:nvPicPr>
        <p:blipFill>
          <a:blip r:embed="rId11"/>
          <a:stretch>
            <a:fillRect/>
          </a:stretch>
        </p:blipFill>
        <p:spPr>
          <a:xfrm>
            <a:off x="6259982" y="2556662"/>
            <a:ext cx="190195" cy="190195"/>
          </a:xfrm>
          <a:prstGeom prst="rect">
            <a:avLst/>
          </a:prstGeom>
        </p:spPr>
      </p:pic>
      <p:sp>
        <p:nvSpPr>
          <p:cNvPr id="61" name="Text 49"/>
          <p:cNvSpPr txBox="1"/>
          <p:nvPr/>
        </p:nvSpPr>
        <p:spPr>
          <a:xfrm>
            <a:off x="6629400" y="2395728"/>
            <a:ext cx="1965960" cy="777240"/>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GPU</a:t>
            </a:r>
            <a:r>
              <a:rPr lang="en-US" sz="950" dirty="0">
                <a:solidFill>
                  <a:srgbClr val="231F20"/>
                </a:solidFill>
                <a:latin typeface="Calibri" pitchFamily="34" charset="0"/>
                <a:ea typeface="Calibri" pitchFamily="34" charset="-122"/>
                <a:cs typeface="Calibri" pitchFamily="34" charset="-120"/>
              </a:rPr>
              <a:t> = thousands of line cooks each doing one simple task at once</a:t>
            </a:r>
            <a:endParaRPr lang="en-US" sz="950" dirty="0"/>
          </a:p>
        </p:txBody>
      </p:sp>
      <p:sp>
        <p:nvSpPr>
          <p:cNvPr id="62" name="Shape 50"/>
          <p:cNvSpPr/>
          <p:nvPr/>
        </p:nvSpPr>
        <p:spPr>
          <a:xfrm>
            <a:off x="6035040" y="3611880"/>
            <a:ext cx="2651760" cy="1005840"/>
          </a:xfrm>
          <a:prstGeom prst="roundRect">
            <a:avLst>
              <a:gd name="adj" fmla="val 7273"/>
            </a:avLst>
          </a:prstGeom>
          <a:solidFill>
            <a:srgbClr val="F4F7F5"/>
          </a:solidFill>
          <a:ln w="9525">
            <a:solidFill>
              <a:srgbClr val="D5DED9"/>
            </a:solidFill>
            <a:prstDash val="solid"/>
          </a:ln>
        </p:spPr>
      </p:sp>
      <p:sp>
        <p:nvSpPr>
          <p:cNvPr id="63" name="Text 51"/>
          <p:cNvSpPr txBox="1"/>
          <p:nvPr/>
        </p:nvSpPr>
        <p:spPr>
          <a:xfrm>
            <a:off x="6172200" y="3685032"/>
            <a:ext cx="2377440" cy="182880"/>
          </a:xfrm>
          <a:prstGeom prst="rect">
            <a:avLst/>
          </a:prstGeom>
          <a:noFill/>
          <a:ln/>
        </p:spPr>
        <p:txBody>
          <a:bodyPr wrap="square" lIns="0" tIns="0" rIns="0" bIns="0" rtlCol="0" anchor="t"/>
          <a:lstStyle/>
          <a:p>
            <a:pPr marL="0" indent="0">
              <a:buNone/>
            </a:pPr>
            <a:r>
              <a:rPr lang="en-US" sz="900" b="1" kern="0" spc="150" dirty="0">
                <a:solidFill>
                  <a:srgbClr val="00704A"/>
                </a:solidFill>
                <a:latin typeface="Calibri" pitchFamily="34" charset="0"/>
                <a:ea typeface="Calibri" pitchFamily="34" charset="-122"/>
                <a:cs typeface="Calibri" pitchFamily="34" charset="-120"/>
              </a:rPr>
              <a:t>WHY IT MATTERS</a:t>
            </a:r>
            <a:endParaRPr lang="en-US" sz="900" dirty="0"/>
          </a:p>
        </p:txBody>
      </p:sp>
      <p:sp>
        <p:nvSpPr>
          <p:cNvPr id="64" name="Text 52"/>
          <p:cNvSpPr txBox="1"/>
          <p:nvPr/>
        </p:nvSpPr>
        <p:spPr>
          <a:xfrm>
            <a:off x="6172200" y="3886200"/>
            <a:ext cx="2395728" cy="69494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Neural networks repeat one simple calculation billions of times — ideal for GPUs. Classical ML stays on CPUs.</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AI HARDWARE · SIZING</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GPU memory is the spec that decides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A simple calculation tells you which models fit on which card</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8" name="Shape 15"/>
          <p:cNvSpPr/>
          <p:nvPr/>
        </p:nvSpPr>
        <p:spPr>
          <a:xfrm>
            <a:off x="457200" y="1325880"/>
            <a:ext cx="3246120" cy="1005840"/>
          </a:xfrm>
          <a:prstGeom prst="roundRect">
            <a:avLst>
              <a:gd name="adj" fmla="val 7273"/>
            </a:avLst>
          </a:prstGeom>
          <a:solidFill>
            <a:srgbClr val="E8F5EF"/>
          </a:solidFill>
          <a:ln w="15875">
            <a:solidFill>
              <a:srgbClr val="00A86A"/>
            </a:solidFill>
            <a:prstDash val="solid"/>
          </a:ln>
        </p:spPr>
      </p:sp>
      <p:sp>
        <p:nvSpPr>
          <p:cNvPr id="19" name="Text 16"/>
          <p:cNvSpPr txBox="1"/>
          <p:nvPr/>
        </p:nvSpPr>
        <p:spPr>
          <a:xfrm>
            <a:off x="594360" y="1399032"/>
            <a:ext cx="292608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THE RULE OF THUMB</a:t>
            </a:r>
            <a:endParaRPr lang="en-US" sz="900" dirty="0"/>
          </a:p>
        </p:txBody>
      </p:sp>
      <p:sp>
        <p:nvSpPr>
          <p:cNvPr id="20" name="Text 17"/>
          <p:cNvSpPr txBox="1"/>
          <p:nvPr/>
        </p:nvSpPr>
        <p:spPr>
          <a:xfrm>
            <a:off x="594360" y="1627632"/>
            <a:ext cx="3017520" cy="6400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Memory ≈ parameters × bytes per parameter + ~20%</a:t>
            </a:r>
            <a:endParaRPr lang="en-US" sz="1300" dirty="0"/>
          </a:p>
        </p:txBody>
      </p:sp>
      <p:sp>
        <p:nvSpPr>
          <p:cNvPr id="21" name="Text 18"/>
          <p:cNvSpPr txBox="1"/>
          <p:nvPr/>
        </p:nvSpPr>
        <p:spPr>
          <a:xfrm>
            <a:off x="457200" y="2450592"/>
            <a:ext cx="32004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BYTES PER PARAMETER</a:t>
            </a:r>
            <a:endParaRPr lang="en-US" sz="900" dirty="0"/>
          </a:p>
        </p:txBody>
      </p:sp>
      <p:sp>
        <p:nvSpPr>
          <p:cNvPr id="22" name="Shape 19"/>
          <p:cNvSpPr/>
          <p:nvPr/>
        </p:nvSpPr>
        <p:spPr>
          <a:xfrm>
            <a:off x="457200" y="2679192"/>
            <a:ext cx="3246120" cy="310896"/>
          </a:xfrm>
          <a:prstGeom prst="roundRect">
            <a:avLst>
              <a:gd name="adj" fmla="val 11765"/>
            </a:avLst>
          </a:prstGeom>
          <a:solidFill>
            <a:srgbClr val="F4F7F5"/>
          </a:solidFill>
          <a:ln w="9525">
            <a:solidFill>
              <a:srgbClr val="D5DED9"/>
            </a:solidFill>
            <a:prstDash val="solid"/>
          </a:ln>
        </p:spPr>
      </p:sp>
      <p:sp>
        <p:nvSpPr>
          <p:cNvPr id="23" name="Shape 20"/>
          <p:cNvSpPr/>
          <p:nvPr/>
        </p:nvSpPr>
        <p:spPr>
          <a:xfrm>
            <a:off x="566928" y="2770632"/>
            <a:ext cx="128016" cy="128016"/>
          </a:xfrm>
          <a:prstGeom prst="ellipse">
            <a:avLst/>
          </a:prstGeom>
          <a:solidFill>
            <a:srgbClr val="00553A"/>
          </a:solidFill>
          <a:ln/>
        </p:spPr>
      </p:sp>
      <p:sp>
        <p:nvSpPr>
          <p:cNvPr id="24" name="Text 21"/>
          <p:cNvSpPr txBox="1"/>
          <p:nvPr/>
        </p:nvSpPr>
        <p:spPr>
          <a:xfrm>
            <a:off x="786384" y="2679192"/>
            <a:ext cx="201168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16-bit (full)</a:t>
            </a:r>
            <a:endParaRPr lang="en-US" sz="1000" dirty="0"/>
          </a:p>
        </p:txBody>
      </p:sp>
      <p:sp>
        <p:nvSpPr>
          <p:cNvPr id="25" name="Text 22"/>
          <p:cNvSpPr txBox="1"/>
          <p:nvPr/>
        </p:nvSpPr>
        <p:spPr>
          <a:xfrm>
            <a:off x="2834640" y="2679192"/>
            <a:ext cx="731520" cy="310896"/>
          </a:xfrm>
          <a:prstGeom prst="rect">
            <a:avLst/>
          </a:prstGeom>
          <a:noFill/>
          <a:ln/>
        </p:spPr>
        <p:txBody>
          <a:bodyPr wrap="square" lIns="0" tIns="0" rIns="0" bIns="0" rtlCol="0" anchor="ctr"/>
          <a:lstStyle/>
          <a:p>
            <a:pPr marL="0" indent="0" algn="r">
              <a:buNone/>
            </a:pPr>
            <a:r>
              <a:rPr lang="en-US" sz="1200" b="1" dirty="0">
                <a:solidFill>
                  <a:srgbClr val="00704A"/>
                </a:solidFill>
                <a:latin typeface="Calibri" pitchFamily="34" charset="0"/>
                <a:ea typeface="Calibri" pitchFamily="34" charset="-122"/>
                <a:cs typeface="Calibri" pitchFamily="34" charset="-120"/>
              </a:rPr>
              <a:t>2</a:t>
            </a:r>
            <a:endParaRPr lang="en-US" sz="1200" dirty="0"/>
          </a:p>
        </p:txBody>
      </p:sp>
      <p:sp>
        <p:nvSpPr>
          <p:cNvPr id="26" name="Shape 23"/>
          <p:cNvSpPr/>
          <p:nvPr/>
        </p:nvSpPr>
        <p:spPr>
          <a:xfrm>
            <a:off x="457200" y="3044952"/>
            <a:ext cx="3246120" cy="310896"/>
          </a:xfrm>
          <a:prstGeom prst="roundRect">
            <a:avLst>
              <a:gd name="adj" fmla="val 11765"/>
            </a:avLst>
          </a:prstGeom>
          <a:solidFill>
            <a:srgbClr val="F4F7F5"/>
          </a:solidFill>
          <a:ln w="9525">
            <a:solidFill>
              <a:srgbClr val="D5DED9"/>
            </a:solidFill>
            <a:prstDash val="solid"/>
          </a:ln>
        </p:spPr>
      </p:sp>
      <p:sp>
        <p:nvSpPr>
          <p:cNvPr id="27" name="Shape 24"/>
          <p:cNvSpPr/>
          <p:nvPr/>
        </p:nvSpPr>
        <p:spPr>
          <a:xfrm>
            <a:off x="566928" y="3136392"/>
            <a:ext cx="128016" cy="128016"/>
          </a:xfrm>
          <a:prstGeom prst="ellipse">
            <a:avLst/>
          </a:prstGeom>
          <a:solidFill>
            <a:srgbClr val="008A5B"/>
          </a:solidFill>
          <a:ln/>
        </p:spPr>
      </p:sp>
      <p:sp>
        <p:nvSpPr>
          <p:cNvPr id="28" name="Text 25"/>
          <p:cNvSpPr txBox="1"/>
          <p:nvPr/>
        </p:nvSpPr>
        <p:spPr>
          <a:xfrm>
            <a:off x="786384" y="3044952"/>
            <a:ext cx="201168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8-bit (compressed)</a:t>
            </a:r>
            <a:endParaRPr lang="en-US" sz="1000" dirty="0"/>
          </a:p>
        </p:txBody>
      </p:sp>
      <p:sp>
        <p:nvSpPr>
          <p:cNvPr id="29" name="Text 26"/>
          <p:cNvSpPr txBox="1"/>
          <p:nvPr/>
        </p:nvSpPr>
        <p:spPr>
          <a:xfrm>
            <a:off x="2834640" y="3044952"/>
            <a:ext cx="731520" cy="310896"/>
          </a:xfrm>
          <a:prstGeom prst="rect">
            <a:avLst/>
          </a:prstGeom>
          <a:noFill/>
          <a:ln/>
        </p:spPr>
        <p:txBody>
          <a:bodyPr wrap="square" lIns="0" tIns="0" rIns="0" bIns="0" rtlCol="0" anchor="ctr"/>
          <a:lstStyle/>
          <a:p>
            <a:pPr marL="0" indent="0" algn="r">
              <a:buNone/>
            </a:pPr>
            <a:r>
              <a:rPr lang="en-US" sz="1200" b="1" dirty="0">
                <a:solidFill>
                  <a:srgbClr val="00704A"/>
                </a:solidFill>
                <a:latin typeface="Calibri" pitchFamily="34" charset="0"/>
                <a:ea typeface="Calibri" pitchFamily="34" charset="-122"/>
                <a:cs typeface="Calibri" pitchFamily="34" charset="-120"/>
              </a:rPr>
              <a:t>1</a:t>
            </a:r>
            <a:endParaRPr lang="en-US" sz="1200" dirty="0"/>
          </a:p>
        </p:txBody>
      </p:sp>
      <p:sp>
        <p:nvSpPr>
          <p:cNvPr id="30" name="Shape 27"/>
          <p:cNvSpPr/>
          <p:nvPr/>
        </p:nvSpPr>
        <p:spPr>
          <a:xfrm>
            <a:off x="457200" y="3410712"/>
            <a:ext cx="3246120" cy="310896"/>
          </a:xfrm>
          <a:prstGeom prst="roundRect">
            <a:avLst>
              <a:gd name="adj" fmla="val 11765"/>
            </a:avLst>
          </a:prstGeom>
          <a:solidFill>
            <a:srgbClr val="F4F7F5"/>
          </a:solidFill>
          <a:ln w="9525">
            <a:solidFill>
              <a:srgbClr val="D5DED9"/>
            </a:solidFill>
            <a:prstDash val="solid"/>
          </a:ln>
        </p:spPr>
      </p:sp>
      <p:sp>
        <p:nvSpPr>
          <p:cNvPr id="31" name="Shape 28"/>
          <p:cNvSpPr/>
          <p:nvPr/>
        </p:nvSpPr>
        <p:spPr>
          <a:xfrm>
            <a:off x="566928" y="3502152"/>
            <a:ext cx="128016" cy="128016"/>
          </a:xfrm>
          <a:prstGeom prst="ellipse">
            <a:avLst/>
          </a:prstGeom>
          <a:solidFill>
            <a:srgbClr val="57BD92"/>
          </a:solidFill>
          <a:ln/>
        </p:spPr>
      </p:sp>
      <p:sp>
        <p:nvSpPr>
          <p:cNvPr id="32" name="Text 29"/>
          <p:cNvSpPr txBox="1"/>
          <p:nvPr/>
        </p:nvSpPr>
        <p:spPr>
          <a:xfrm>
            <a:off x="786384" y="3410712"/>
            <a:ext cx="201168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4-bit (compressed)</a:t>
            </a:r>
            <a:endParaRPr lang="en-US" sz="1000" dirty="0"/>
          </a:p>
        </p:txBody>
      </p:sp>
      <p:sp>
        <p:nvSpPr>
          <p:cNvPr id="33" name="Text 30"/>
          <p:cNvSpPr txBox="1"/>
          <p:nvPr/>
        </p:nvSpPr>
        <p:spPr>
          <a:xfrm>
            <a:off x="2834640" y="3410712"/>
            <a:ext cx="731520" cy="310896"/>
          </a:xfrm>
          <a:prstGeom prst="rect">
            <a:avLst/>
          </a:prstGeom>
          <a:noFill/>
          <a:ln/>
        </p:spPr>
        <p:txBody>
          <a:bodyPr wrap="square" lIns="0" tIns="0" rIns="0" bIns="0" rtlCol="0" anchor="ctr"/>
          <a:lstStyle/>
          <a:p>
            <a:pPr marL="0" indent="0" algn="r">
              <a:buNone/>
            </a:pPr>
            <a:r>
              <a:rPr lang="en-US" sz="1200" b="1" dirty="0">
                <a:solidFill>
                  <a:srgbClr val="00704A"/>
                </a:solidFill>
                <a:latin typeface="Calibri" pitchFamily="34" charset="0"/>
                <a:ea typeface="Calibri" pitchFamily="34" charset="-122"/>
                <a:cs typeface="Calibri" pitchFamily="34" charset="-120"/>
              </a:rPr>
              <a:t>0.5</a:t>
            </a:r>
            <a:endParaRPr lang="en-US" sz="1200" dirty="0"/>
          </a:p>
        </p:txBody>
      </p:sp>
      <p:sp>
        <p:nvSpPr>
          <p:cNvPr id="34" name="Shape 31"/>
          <p:cNvSpPr/>
          <p:nvPr/>
        </p:nvSpPr>
        <p:spPr>
          <a:xfrm>
            <a:off x="457200" y="3813048"/>
            <a:ext cx="3246120" cy="804672"/>
          </a:xfrm>
          <a:prstGeom prst="roundRect">
            <a:avLst>
              <a:gd name="adj" fmla="val 6818"/>
            </a:avLst>
          </a:prstGeom>
          <a:solidFill>
            <a:srgbClr val="D49A00">
              <a:alpha val="13000"/>
            </a:srgbClr>
          </a:solidFill>
          <a:ln w="12700">
            <a:solidFill>
              <a:srgbClr val="D49A00"/>
            </a:solidFill>
            <a:prstDash val="solid"/>
          </a:ln>
        </p:spPr>
      </p:sp>
      <p:sp>
        <p:nvSpPr>
          <p:cNvPr id="35" name="Shape 32"/>
          <p:cNvSpPr/>
          <p:nvPr/>
        </p:nvSpPr>
        <p:spPr>
          <a:xfrm>
            <a:off x="566928" y="4069080"/>
            <a:ext cx="292608" cy="292608"/>
          </a:xfrm>
          <a:prstGeom prst="ellipse">
            <a:avLst/>
          </a:prstGeom>
          <a:solidFill>
            <a:srgbClr val="D49A00">
              <a:alpha val="22000"/>
            </a:srgbClr>
          </a:solidFill>
          <a:ln/>
        </p:spPr>
      </p:sp>
      <p:pic>
        <p:nvPicPr>
          <p:cNvPr id="36" name="Image 0" descr="preencoded.png"/>
          <p:cNvPicPr>
            <a:picLocks noChangeAspect="1"/>
          </p:cNvPicPr>
          <p:nvPr/>
        </p:nvPicPr>
        <p:blipFill>
          <a:blip r:embed="rId3"/>
          <a:stretch>
            <a:fillRect/>
          </a:stretch>
        </p:blipFill>
        <p:spPr>
          <a:xfrm>
            <a:off x="637154" y="4139306"/>
            <a:ext cx="152156" cy="152156"/>
          </a:xfrm>
          <a:prstGeom prst="rect">
            <a:avLst/>
          </a:prstGeom>
        </p:spPr>
      </p:pic>
      <p:sp>
        <p:nvSpPr>
          <p:cNvPr id="37" name="Text 33"/>
          <p:cNvSpPr txBox="1"/>
          <p:nvPr/>
        </p:nvSpPr>
        <p:spPr>
          <a:xfrm>
            <a:off x="960120" y="3813048"/>
            <a:ext cx="2606040" cy="804672"/>
          </a:xfrm>
          <a:prstGeom prst="rect">
            <a:avLst/>
          </a:prstGeom>
          <a:noFill/>
          <a:ln/>
        </p:spPr>
        <p:txBody>
          <a:bodyPr wrap="square" lIns="0" tIns="0" rIns="0" bIns="0" rtlCol="0" anchor="ctr"/>
          <a:lstStyle/>
          <a:p>
            <a:pPr marL="0" indent="0">
              <a:buNone/>
            </a:pPr>
            <a:r>
              <a:rPr lang="en-US" sz="900" b="1" dirty="0">
                <a:solidFill>
                  <a:srgbClr val="8A6400"/>
                </a:solidFill>
                <a:latin typeface="Calibri" pitchFamily="34" charset="0"/>
                <a:ea typeface="Calibri" pitchFamily="34" charset="-122"/>
                <a:cs typeface="Calibri" pitchFamily="34" charset="-120"/>
              </a:rPr>
              <a:t>Training needs far more:  </a:t>
            </a:r>
            <a:r>
              <a:rPr lang="en-US" sz="900" dirty="0">
                <a:solidFill>
                  <a:srgbClr val="231F20"/>
                </a:solidFill>
                <a:latin typeface="Calibri" pitchFamily="34" charset="0"/>
                <a:ea typeface="Calibri" pitchFamily="34" charset="-122"/>
                <a:cs typeface="Calibri" pitchFamily="34" charset="-120"/>
              </a:rPr>
              <a:t>full fine-tuning takes ~16–20 bytes per parameter. LoRA / QLoRA make it fit on one card.</a:t>
            </a:r>
            <a:endParaRPr lang="en-US" sz="900" dirty="0"/>
          </a:p>
        </p:txBody>
      </p:sp>
      <p:sp>
        <p:nvSpPr>
          <p:cNvPr id="38" name="Shape 34"/>
          <p:cNvSpPr/>
          <p:nvPr/>
        </p:nvSpPr>
        <p:spPr>
          <a:xfrm>
            <a:off x="3886200" y="1325880"/>
            <a:ext cx="4800600" cy="2697480"/>
          </a:xfrm>
          <a:prstGeom prst="roundRect">
            <a:avLst>
              <a:gd name="adj" fmla="val 2712"/>
            </a:avLst>
          </a:prstGeom>
          <a:solidFill>
            <a:srgbClr val="F4F7F5"/>
          </a:solidFill>
          <a:ln w="9525">
            <a:solidFill>
              <a:srgbClr val="D5DED9"/>
            </a:solidFill>
            <a:prstDash val="solid"/>
          </a:ln>
        </p:spPr>
      </p:sp>
      <p:graphicFrame>
        <p:nvGraphicFramePr>
          <p:cNvPr id="39" name="Chart 0"/>
          <p:cNvGraphicFramePr/>
          <p:nvPr/>
        </p:nvGraphicFramePr>
        <p:xfrm>
          <a:off x="3931920" y="1371600"/>
          <a:ext cx="470916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40" name="Text 35"/>
          <p:cNvSpPr txBox="1"/>
          <p:nvPr/>
        </p:nvSpPr>
        <p:spPr>
          <a:xfrm>
            <a:off x="3886200" y="4114800"/>
            <a:ext cx="2743200" cy="182880"/>
          </a:xfrm>
          <a:prstGeom prst="rect">
            <a:avLst/>
          </a:prstGeom>
          <a:noFill/>
          <a:ln/>
        </p:spPr>
        <p:txBody>
          <a:bodyPr wrap="square" lIns="0" tIns="0" rIns="0" bIns="0" rtlCol="0" anchor="t"/>
          <a:lstStyle/>
          <a:p>
            <a:pPr marL="0" indent="0">
              <a:buNone/>
            </a:pPr>
            <a:r>
              <a:rPr lang="en-US" sz="900" b="1" kern="0" spc="150" dirty="0">
                <a:solidFill>
                  <a:srgbClr val="00704A"/>
                </a:solidFill>
                <a:latin typeface="Calibri" pitchFamily="34" charset="0"/>
                <a:ea typeface="Calibri" pitchFamily="34" charset="-122"/>
                <a:cs typeface="Calibri" pitchFamily="34" charset="-120"/>
              </a:rPr>
              <a:t>COMMON CARD SIZES</a:t>
            </a:r>
            <a:endParaRPr lang="en-US" sz="900" dirty="0"/>
          </a:p>
        </p:txBody>
      </p:sp>
      <p:sp>
        <p:nvSpPr>
          <p:cNvPr id="41" name="Shape 36"/>
          <p:cNvSpPr/>
          <p:nvPr/>
        </p:nvSpPr>
        <p:spPr>
          <a:xfrm>
            <a:off x="3886200" y="4315968"/>
            <a:ext cx="749808" cy="329184"/>
          </a:xfrm>
          <a:prstGeom prst="roundRect">
            <a:avLst>
              <a:gd name="adj" fmla="val 13889"/>
            </a:avLst>
          </a:prstGeom>
          <a:solidFill>
            <a:srgbClr val="E8F5EF"/>
          </a:solidFill>
          <a:ln w="9525">
            <a:solidFill>
              <a:srgbClr val="00A86A"/>
            </a:solidFill>
            <a:prstDash val="solid"/>
          </a:ln>
        </p:spPr>
      </p:sp>
      <p:sp>
        <p:nvSpPr>
          <p:cNvPr id="42" name="Text 37"/>
          <p:cNvSpPr txBox="1"/>
          <p:nvPr/>
        </p:nvSpPr>
        <p:spPr>
          <a:xfrm>
            <a:off x="3886200" y="4325112"/>
            <a:ext cx="749808" cy="164592"/>
          </a:xfrm>
          <a:prstGeom prst="rect">
            <a:avLst/>
          </a:prstGeom>
          <a:noFill/>
          <a:ln/>
        </p:spPr>
        <p:txBody>
          <a:bodyPr wrap="square" lIns="0" tIns="0" rIns="0" bIns="0" rtlCol="0" anchor="ctr"/>
          <a:lstStyle/>
          <a:p>
            <a:pPr marL="0" indent="0" algn="ctr">
              <a:buNone/>
            </a:pPr>
            <a:r>
              <a:rPr lang="en-US" sz="950" b="1" dirty="0">
                <a:solidFill>
                  <a:srgbClr val="00704A"/>
                </a:solidFill>
                <a:latin typeface="Calibri" pitchFamily="34" charset="0"/>
                <a:ea typeface="Calibri" pitchFamily="34" charset="-122"/>
                <a:cs typeface="Calibri" pitchFamily="34" charset="-120"/>
              </a:rPr>
              <a:t>24 GB</a:t>
            </a:r>
            <a:endParaRPr lang="en-US" sz="950" dirty="0"/>
          </a:p>
        </p:txBody>
      </p:sp>
      <p:sp>
        <p:nvSpPr>
          <p:cNvPr id="43" name="Text 38"/>
          <p:cNvSpPr txBox="1"/>
          <p:nvPr/>
        </p:nvSpPr>
        <p:spPr>
          <a:xfrm>
            <a:off x="3886200" y="4480560"/>
            <a:ext cx="749808" cy="146304"/>
          </a:xfrm>
          <a:prstGeom prst="rect">
            <a:avLst/>
          </a:prstGeom>
          <a:noFill/>
          <a:ln/>
        </p:spPr>
        <p:txBody>
          <a:bodyPr wrap="square" lIns="0" tIns="0" rIns="0" bIns="0" rtlCol="0" anchor="ctr"/>
          <a:lstStyle/>
          <a:p>
            <a:pPr marL="0" indent="0" algn="ctr">
              <a:buNone/>
            </a:pPr>
            <a:r>
              <a:rPr lang="en-US" sz="650" dirty="0">
                <a:solidFill>
                  <a:srgbClr val="5E6964"/>
                </a:solidFill>
                <a:latin typeface="Calibri" pitchFamily="34" charset="0"/>
                <a:ea typeface="Calibri" pitchFamily="34" charset="-122"/>
                <a:cs typeface="Calibri" pitchFamily="34" charset="-120"/>
              </a:rPr>
              <a:t>entry</a:t>
            </a:r>
            <a:endParaRPr lang="en-US" sz="650" dirty="0"/>
          </a:p>
        </p:txBody>
      </p:sp>
      <p:sp>
        <p:nvSpPr>
          <p:cNvPr id="44" name="Shape 39"/>
          <p:cNvSpPr/>
          <p:nvPr/>
        </p:nvSpPr>
        <p:spPr>
          <a:xfrm>
            <a:off x="4696358" y="4315968"/>
            <a:ext cx="749808" cy="329184"/>
          </a:xfrm>
          <a:prstGeom prst="roundRect">
            <a:avLst>
              <a:gd name="adj" fmla="val 13889"/>
            </a:avLst>
          </a:prstGeom>
          <a:solidFill>
            <a:srgbClr val="E8F5EF"/>
          </a:solidFill>
          <a:ln w="9525">
            <a:solidFill>
              <a:srgbClr val="00A86A"/>
            </a:solidFill>
            <a:prstDash val="solid"/>
          </a:ln>
        </p:spPr>
      </p:sp>
      <p:sp>
        <p:nvSpPr>
          <p:cNvPr id="45" name="Text 40"/>
          <p:cNvSpPr txBox="1"/>
          <p:nvPr/>
        </p:nvSpPr>
        <p:spPr>
          <a:xfrm>
            <a:off x="4696358" y="4325112"/>
            <a:ext cx="749808" cy="164592"/>
          </a:xfrm>
          <a:prstGeom prst="rect">
            <a:avLst/>
          </a:prstGeom>
          <a:noFill/>
          <a:ln/>
        </p:spPr>
        <p:txBody>
          <a:bodyPr wrap="square" lIns="0" tIns="0" rIns="0" bIns="0" rtlCol="0" anchor="ctr"/>
          <a:lstStyle/>
          <a:p>
            <a:pPr marL="0" indent="0" algn="ctr">
              <a:buNone/>
            </a:pPr>
            <a:r>
              <a:rPr lang="en-US" sz="950" b="1" dirty="0">
                <a:solidFill>
                  <a:srgbClr val="00704A"/>
                </a:solidFill>
                <a:latin typeface="Calibri" pitchFamily="34" charset="0"/>
                <a:ea typeface="Calibri" pitchFamily="34" charset="-122"/>
                <a:cs typeface="Calibri" pitchFamily="34" charset="-120"/>
              </a:rPr>
              <a:t>48 GB</a:t>
            </a:r>
            <a:endParaRPr lang="en-US" sz="950" dirty="0"/>
          </a:p>
        </p:txBody>
      </p:sp>
      <p:sp>
        <p:nvSpPr>
          <p:cNvPr id="46" name="Text 41"/>
          <p:cNvSpPr txBox="1"/>
          <p:nvPr/>
        </p:nvSpPr>
        <p:spPr>
          <a:xfrm>
            <a:off x="4696358" y="4480560"/>
            <a:ext cx="749808" cy="146304"/>
          </a:xfrm>
          <a:prstGeom prst="rect">
            <a:avLst/>
          </a:prstGeom>
          <a:noFill/>
          <a:ln/>
        </p:spPr>
        <p:txBody>
          <a:bodyPr wrap="square" lIns="0" tIns="0" rIns="0" bIns="0" rtlCol="0" anchor="ctr"/>
          <a:lstStyle/>
          <a:p>
            <a:pPr marL="0" indent="0" algn="ctr">
              <a:buNone/>
            </a:pPr>
            <a:r>
              <a:rPr lang="en-US" sz="650" dirty="0">
                <a:solidFill>
                  <a:srgbClr val="5E6964"/>
                </a:solidFill>
                <a:latin typeface="Calibri" pitchFamily="34" charset="0"/>
                <a:ea typeface="Calibri" pitchFamily="34" charset="-122"/>
                <a:cs typeface="Calibri" pitchFamily="34" charset="-120"/>
              </a:rPr>
              <a:t>inference</a:t>
            </a:r>
            <a:endParaRPr lang="en-US" sz="650" dirty="0"/>
          </a:p>
        </p:txBody>
      </p:sp>
      <p:sp>
        <p:nvSpPr>
          <p:cNvPr id="47" name="Shape 42"/>
          <p:cNvSpPr/>
          <p:nvPr/>
        </p:nvSpPr>
        <p:spPr>
          <a:xfrm>
            <a:off x="5506517" y="4315968"/>
            <a:ext cx="749808" cy="329184"/>
          </a:xfrm>
          <a:prstGeom prst="roundRect">
            <a:avLst>
              <a:gd name="adj" fmla="val 13889"/>
            </a:avLst>
          </a:prstGeom>
          <a:solidFill>
            <a:srgbClr val="E8F5EF"/>
          </a:solidFill>
          <a:ln w="9525">
            <a:solidFill>
              <a:srgbClr val="00A86A"/>
            </a:solidFill>
            <a:prstDash val="solid"/>
          </a:ln>
        </p:spPr>
      </p:sp>
      <p:sp>
        <p:nvSpPr>
          <p:cNvPr id="48" name="Text 43"/>
          <p:cNvSpPr txBox="1"/>
          <p:nvPr/>
        </p:nvSpPr>
        <p:spPr>
          <a:xfrm>
            <a:off x="5506517" y="4325112"/>
            <a:ext cx="749808" cy="164592"/>
          </a:xfrm>
          <a:prstGeom prst="rect">
            <a:avLst/>
          </a:prstGeom>
          <a:noFill/>
          <a:ln/>
        </p:spPr>
        <p:txBody>
          <a:bodyPr wrap="square" lIns="0" tIns="0" rIns="0" bIns="0" rtlCol="0" anchor="ctr"/>
          <a:lstStyle/>
          <a:p>
            <a:pPr marL="0" indent="0" algn="ctr">
              <a:buNone/>
            </a:pPr>
            <a:r>
              <a:rPr lang="en-US" sz="950" b="1" dirty="0">
                <a:solidFill>
                  <a:srgbClr val="00704A"/>
                </a:solidFill>
                <a:latin typeface="Calibri" pitchFamily="34" charset="0"/>
                <a:ea typeface="Calibri" pitchFamily="34" charset="-122"/>
                <a:cs typeface="Calibri" pitchFamily="34" charset="-120"/>
              </a:rPr>
              <a:t>80 GB</a:t>
            </a:r>
            <a:endParaRPr lang="en-US" sz="950" dirty="0"/>
          </a:p>
        </p:txBody>
      </p:sp>
      <p:sp>
        <p:nvSpPr>
          <p:cNvPr id="49" name="Text 44"/>
          <p:cNvSpPr txBox="1"/>
          <p:nvPr/>
        </p:nvSpPr>
        <p:spPr>
          <a:xfrm>
            <a:off x="5506517" y="4480560"/>
            <a:ext cx="749808" cy="146304"/>
          </a:xfrm>
          <a:prstGeom prst="rect">
            <a:avLst/>
          </a:prstGeom>
          <a:noFill/>
          <a:ln/>
        </p:spPr>
        <p:txBody>
          <a:bodyPr wrap="square" lIns="0" tIns="0" rIns="0" bIns="0" rtlCol="0" anchor="ctr"/>
          <a:lstStyle/>
          <a:p>
            <a:pPr marL="0" indent="0" algn="ctr">
              <a:buNone/>
            </a:pPr>
            <a:r>
              <a:rPr lang="en-US" sz="650" dirty="0">
                <a:solidFill>
                  <a:srgbClr val="5E6964"/>
                </a:solidFill>
                <a:latin typeface="Calibri" pitchFamily="34" charset="0"/>
                <a:ea typeface="Calibri" pitchFamily="34" charset="-122"/>
                <a:cs typeface="Calibri" pitchFamily="34" charset="-120"/>
              </a:rPr>
              <a:t>H100</a:t>
            </a:r>
            <a:endParaRPr lang="en-US" sz="650" dirty="0"/>
          </a:p>
        </p:txBody>
      </p:sp>
      <p:sp>
        <p:nvSpPr>
          <p:cNvPr id="50" name="Shape 45"/>
          <p:cNvSpPr/>
          <p:nvPr/>
        </p:nvSpPr>
        <p:spPr>
          <a:xfrm>
            <a:off x="6316675" y="4315968"/>
            <a:ext cx="749808" cy="329184"/>
          </a:xfrm>
          <a:prstGeom prst="roundRect">
            <a:avLst>
              <a:gd name="adj" fmla="val 13889"/>
            </a:avLst>
          </a:prstGeom>
          <a:solidFill>
            <a:srgbClr val="E8F5EF"/>
          </a:solidFill>
          <a:ln w="9525">
            <a:solidFill>
              <a:srgbClr val="00A86A"/>
            </a:solidFill>
            <a:prstDash val="solid"/>
          </a:ln>
        </p:spPr>
      </p:sp>
      <p:sp>
        <p:nvSpPr>
          <p:cNvPr id="51" name="Text 46"/>
          <p:cNvSpPr txBox="1"/>
          <p:nvPr/>
        </p:nvSpPr>
        <p:spPr>
          <a:xfrm>
            <a:off x="6316675" y="4325112"/>
            <a:ext cx="749808" cy="164592"/>
          </a:xfrm>
          <a:prstGeom prst="rect">
            <a:avLst/>
          </a:prstGeom>
          <a:noFill/>
          <a:ln/>
        </p:spPr>
        <p:txBody>
          <a:bodyPr wrap="square" lIns="0" tIns="0" rIns="0" bIns="0" rtlCol="0" anchor="ctr"/>
          <a:lstStyle/>
          <a:p>
            <a:pPr marL="0" indent="0" algn="ctr">
              <a:buNone/>
            </a:pPr>
            <a:r>
              <a:rPr lang="en-US" sz="950" b="1" dirty="0">
                <a:solidFill>
                  <a:srgbClr val="00704A"/>
                </a:solidFill>
                <a:latin typeface="Calibri" pitchFamily="34" charset="0"/>
                <a:ea typeface="Calibri" pitchFamily="34" charset="-122"/>
                <a:cs typeface="Calibri" pitchFamily="34" charset="-120"/>
              </a:rPr>
              <a:t>96 GB</a:t>
            </a:r>
            <a:endParaRPr lang="en-US" sz="950" dirty="0"/>
          </a:p>
        </p:txBody>
      </p:sp>
      <p:sp>
        <p:nvSpPr>
          <p:cNvPr id="52" name="Text 47"/>
          <p:cNvSpPr txBox="1"/>
          <p:nvPr/>
        </p:nvSpPr>
        <p:spPr>
          <a:xfrm>
            <a:off x="6316675" y="4480560"/>
            <a:ext cx="749808" cy="146304"/>
          </a:xfrm>
          <a:prstGeom prst="rect">
            <a:avLst/>
          </a:prstGeom>
          <a:noFill/>
          <a:ln/>
        </p:spPr>
        <p:txBody>
          <a:bodyPr wrap="square" lIns="0" tIns="0" rIns="0" bIns="0" rtlCol="0" anchor="ctr"/>
          <a:lstStyle/>
          <a:p>
            <a:pPr marL="0" indent="0" algn="ctr">
              <a:buNone/>
            </a:pPr>
            <a:r>
              <a:rPr lang="en-US" sz="650" dirty="0">
                <a:solidFill>
                  <a:srgbClr val="5E6964"/>
                </a:solidFill>
                <a:latin typeface="Calibri" pitchFamily="34" charset="0"/>
                <a:ea typeface="Calibri" pitchFamily="34" charset="-122"/>
                <a:cs typeface="Calibri" pitchFamily="34" charset="-120"/>
              </a:rPr>
              <a:t>RTX PRO 6000</a:t>
            </a:r>
            <a:endParaRPr lang="en-US" sz="650" dirty="0"/>
          </a:p>
        </p:txBody>
      </p:sp>
      <p:sp>
        <p:nvSpPr>
          <p:cNvPr id="53" name="Shape 48"/>
          <p:cNvSpPr/>
          <p:nvPr/>
        </p:nvSpPr>
        <p:spPr>
          <a:xfrm>
            <a:off x="7126834" y="4315968"/>
            <a:ext cx="749808" cy="329184"/>
          </a:xfrm>
          <a:prstGeom prst="roundRect">
            <a:avLst>
              <a:gd name="adj" fmla="val 13889"/>
            </a:avLst>
          </a:prstGeom>
          <a:solidFill>
            <a:srgbClr val="E8F5EF"/>
          </a:solidFill>
          <a:ln w="9525">
            <a:solidFill>
              <a:srgbClr val="00A86A"/>
            </a:solidFill>
            <a:prstDash val="solid"/>
          </a:ln>
        </p:spPr>
      </p:sp>
      <p:sp>
        <p:nvSpPr>
          <p:cNvPr id="54" name="Text 49"/>
          <p:cNvSpPr txBox="1"/>
          <p:nvPr/>
        </p:nvSpPr>
        <p:spPr>
          <a:xfrm>
            <a:off x="7126834" y="4325112"/>
            <a:ext cx="749808" cy="164592"/>
          </a:xfrm>
          <a:prstGeom prst="rect">
            <a:avLst/>
          </a:prstGeom>
          <a:noFill/>
          <a:ln/>
        </p:spPr>
        <p:txBody>
          <a:bodyPr wrap="square" lIns="0" tIns="0" rIns="0" bIns="0" rtlCol="0" anchor="ctr"/>
          <a:lstStyle/>
          <a:p>
            <a:pPr marL="0" indent="0" algn="ctr">
              <a:buNone/>
            </a:pPr>
            <a:r>
              <a:rPr lang="en-US" sz="950" b="1" dirty="0">
                <a:solidFill>
                  <a:srgbClr val="00704A"/>
                </a:solidFill>
                <a:latin typeface="Calibri" pitchFamily="34" charset="0"/>
                <a:ea typeface="Calibri" pitchFamily="34" charset="-122"/>
                <a:cs typeface="Calibri" pitchFamily="34" charset="-120"/>
              </a:rPr>
              <a:t>141 GB</a:t>
            </a:r>
            <a:endParaRPr lang="en-US" sz="950" dirty="0"/>
          </a:p>
        </p:txBody>
      </p:sp>
      <p:sp>
        <p:nvSpPr>
          <p:cNvPr id="55" name="Text 50"/>
          <p:cNvSpPr txBox="1"/>
          <p:nvPr/>
        </p:nvSpPr>
        <p:spPr>
          <a:xfrm>
            <a:off x="7126834" y="4480560"/>
            <a:ext cx="749808" cy="146304"/>
          </a:xfrm>
          <a:prstGeom prst="rect">
            <a:avLst/>
          </a:prstGeom>
          <a:noFill/>
          <a:ln/>
        </p:spPr>
        <p:txBody>
          <a:bodyPr wrap="square" lIns="0" tIns="0" rIns="0" bIns="0" rtlCol="0" anchor="ctr"/>
          <a:lstStyle/>
          <a:p>
            <a:pPr marL="0" indent="0" algn="ctr">
              <a:buNone/>
            </a:pPr>
            <a:r>
              <a:rPr lang="en-US" sz="650" dirty="0">
                <a:solidFill>
                  <a:srgbClr val="5E6964"/>
                </a:solidFill>
                <a:latin typeface="Calibri" pitchFamily="34" charset="0"/>
                <a:ea typeface="Calibri" pitchFamily="34" charset="-122"/>
                <a:cs typeface="Calibri" pitchFamily="34" charset="-120"/>
              </a:rPr>
              <a:t>H200</a:t>
            </a:r>
            <a:endParaRPr lang="en-US" sz="650" dirty="0"/>
          </a:p>
        </p:txBody>
      </p:sp>
      <p:sp>
        <p:nvSpPr>
          <p:cNvPr id="56" name="Shape 51"/>
          <p:cNvSpPr/>
          <p:nvPr/>
        </p:nvSpPr>
        <p:spPr>
          <a:xfrm>
            <a:off x="7936992" y="4315968"/>
            <a:ext cx="749808" cy="329184"/>
          </a:xfrm>
          <a:prstGeom prst="roundRect">
            <a:avLst>
              <a:gd name="adj" fmla="val 13889"/>
            </a:avLst>
          </a:prstGeom>
          <a:solidFill>
            <a:srgbClr val="E8F5EF"/>
          </a:solidFill>
          <a:ln w="9525">
            <a:solidFill>
              <a:srgbClr val="00A86A"/>
            </a:solidFill>
            <a:prstDash val="solid"/>
          </a:ln>
        </p:spPr>
      </p:sp>
      <p:sp>
        <p:nvSpPr>
          <p:cNvPr id="57" name="Text 52"/>
          <p:cNvSpPr txBox="1"/>
          <p:nvPr/>
        </p:nvSpPr>
        <p:spPr>
          <a:xfrm>
            <a:off x="7936992" y="4325112"/>
            <a:ext cx="749808" cy="164592"/>
          </a:xfrm>
          <a:prstGeom prst="rect">
            <a:avLst/>
          </a:prstGeom>
          <a:noFill/>
          <a:ln/>
        </p:spPr>
        <p:txBody>
          <a:bodyPr wrap="square" lIns="0" tIns="0" rIns="0" bIns="0" rtlCol="0" anchor="ctr"/>
          <a:lstStyle/>
          <a:p>
            <a:pPr marL="0" indent="0" algn="ctr">
              <a:buNone/>
            </a:pPr>
            <a:r>
              <a:rPr lang="en-US" sz="950" b="1" dirty="0">
                <a:solidFill>
                  <a:srgbClr val="00704A"/>
                </a:solidFill>
                <a:latin typeface="Calibri" pitchFamily="34" charset="0"/>
                <a:ea typeface="Calibri" pitchFamily="34" charset="-122"/>
                <a:cs typeface="Calibri" pitchFamily="34" charset="-120"/>
              </a:rPr>
              <a:t>180 GB</a:t>
            </a:r>
            <a:endParaRPr lang="en-US" sz="950" dirty="0"/>
          </a:p>
        </p:txBody>
      </p:sp>
      <p:sp>
        <p:nvSpPr>
          <p:cNvPr id="58" name="Text 53"/>
          <p:cNvSpPr txBox="1"/>
          <p:nvPr/>
        </p:nvSpPr>
        <p:spPr>
          <a:xfrm>
            <a:off x="7936992" y="4480560"/>
            <a:ext cx="749808" cy="146304"/>
          </a:xfrm>
          <a:prstGeom prst="rect">
            <a:avLst/>
          </a:prstGeom>
          <a:noFill/>
          <a:ln/>
        </p:spPr>
        <p:txBody>
          <a:bodyPr wrap="square" lIns="0" tIns="0" rIns="0" bIns="0" rtlCol="0" anchor="ctr"/>
          <a:lstStyle/>
          <a:p>
            <a:pPr marL="0" indent="0" algn="ctr">
              <a:buNone/>
            </a:pPr>
            <a:r>
              <a:rPr lang="en-US" sz="650" dirty="0">
                <a:solidFill>
                  <a:srgbClr val="5E6964"/>
                </a:solidFill>
                <a:latin typeface="Calibri" pitchFamily="34" charset="0"/>
                <a:ea typeface="Calibri" pitchFamily="34" charset="-122"/>
                <a:cs typeface="Calibri" pitchFamily="34" charset="-120"/>
              </a:rPr>
              <a:t>B200</a:t>
            </a:r>
            <a:endParaRPr lang="en-US" sz="6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AI HARDWARE · FAMILIES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Accelerator families at a glance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Examples are illustrative, not endorsements — product lines change every 12–18 months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8" name="Text 15"/>
          <p:cNvSpPr txBox="1"/>
          <p:nvPr/>
        </p:nvSpPr>
        <p:spPr>
          <a:xfrm>
            <a:off x="548640" y="1298448"/>
            <a:ext cx="17830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CLASS</a:t>
            </a:r>
            <a:endParaRPr lang="en-US" sz="900" dirty="0"/>
          </a:p>
        </p:txBody>
      </p:sp>
      <p:sp>
        <p:nvSpPr>
          <p:cNvPr id="19" name="Text 16"/>
          <p:cNvSpPr txBox="1"/>
          <p:nvPr/>
        </p:nvSpPr>
        <p:spPr>
          <a:xfrm>
            <a:off x="2514600" y="1298448"/>
            <a:ext cx="169164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EXAMPLES (2026)</a:t>
            </a:r>
            <a:endParaRPr lang="en-US" sz="900" dirty="0"/>
          </a:p>
        </p:txBody>
      </p:sp>
      <p:sp>
        <p:nvSpPr>
          <p:cNvPr id="20" name="Text 17"/>
          <p:cNvSpPr txBox="1"/>
          <p:nvPr/>
        </p:nvSpPr>
        <p:spPr>
          <a:xfrm>
            <a:off x="4389120" y="1298448"/>
            <a:ext cx="82296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MEMORY</a:t>
            </a:r>
            <a:endParaRPr lang="en-US" sz="900" dirty="0"/>
          </a:p>
        </p:txBody>
      </p:sp>
      <p:sp>
        <p:nvSpPr>
          <p:cNvPr id="21" name="Text 18"/>
          <p:cNvSpPr txBox="1"/>
          <p:nvPr/>
        </p:nvSpPr>
        <p:spPr>
          <a:xfrm>
            <a:off x="5394960" y="1298448"/>
            <a:ext cx="73152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POWER</a:t>
            </a:r>
            <a:endParaRPr lang="en-US" sz="900" dirty="0"/>
          </a:p>
        </p:txBody>
      </p:sp>
      <p:sp>
        <p:nvSpPr>
          <p:cNvPr id="22" name="Text 19"/>
          <p:cNvSpPr txBox="1"/>
          <p:nvPr/>
        </p:nvSpPr>
        <p:spPr>
          <a:xfrm>
            <a:off x="6309360" y="1298448"/>
            <a:ext cx="96012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FOR AN NSO</a:t>
            </a:r>
            <a:endParaRPr lang="en-US" sz="900" dirty="0"/>
          </a:p>
        </p:txBody>
      </p:sp>
      <p:sp>
        <p:nvSpPr>
          <p:cNvPr id="23" name="Text 20"/>
          <p:cNvSpPr txBox="1"/>
          <p:nvPr/>
        </p:nvSpPr>
        <p:spPr>
          <a:xfrm>
            <a:off x="7452360" y="1298448"/>
            <a:ext cx="114300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TYPICAL USE</a:t>
            </a:r>
            <a:endParaRPr lang="en-US" sz="900" dirty="0"/>
          </a:p>
        </p:txBody>
      </p:sp>
      <p:sp>
        <p:nvSpPr>
          <p:cNvPr id="24" name="Shape 21"/>
          <p:cNvSpPr/>
          <p:nvPr/>
        </p:nvSpPr>
        <p:spPr>
          <a:xfrm>
            <a:off x="457200" y="1572768"/>
            <a:ext cx="8229600" cy="365760"/>
          </a:xfrm>
          <a:prstGeom prst="roundRect">
            <a:avLst>
              <a:gd name="adj" fmla="val 12500"/>
            </a:avLst>
          </a:prstGeom>
          <a:solidFill>
            <a:srgbClr val="F4F7F5"/>
          </a:solidFill>
          <a:ln w="9525">
            <a:solidFill>
              <a:srgbClr val="D5DED9"/>
            </a:solidFill>
            <a:prstDash val="solid"/>
          </a:ln>
        </p:spPr>
      </p:sp>
      <p:sp>
        <p:nvSpPr>
          <p:cNvPr id="25" name="Shape 22"/>
          <p:cNvSpPr/>
          <p:nvPr/>
        </p:nvSpPr>
        <p:spPr>
          <a:xfrm>
            <a:off x="548640" y="1618488"/>
            <a:ext cx="274320" cy="274320"/>
          </a:xfrm>
          <a:prstGeom prst="ellipse">
            <a:avLst/>
          </a:prstGeom>
          <a:solidFill>
            <a:srgbClr val="0E7C86">
              <a:alpha val="22000"/>
            </a:srgbClr>
          </a:solidFill>
          <a:ln/>
        </p:spPr>
      </p:sp>
      <p:pic>
        <p:nvPicPr>
          <p:cNvPr id="26" name="Image 0" descr="preencoded.png"/>
          <p:cNvPicPr>
            <a:picLocks noChangeAspect="1"/>
          </p:cNvPicPr>
          <p:nvPr/>
        </p:nvPicPr>
        <p:blipFill>
          <a:blip r:embed="rId3"/>
          <a:stretch>
            <a:fillRect/>
          </a:stretch>
        </p:blipFill>
        <p:spPr>
          <a:xfrm>
            <a:off x="614477" y="1684325"/>
            <a:ext cx="142646" cy="142646"/>
          </a:xfrm>
          <a:prstGeom prst="rect">
            <a:avLst/>
          </a:prstGeom>
        </p:spPr>
      </p:pic>
      <p:sp>
        <p:nvSpPr>
          <p:cNvPr id="27" name="Text 23"/>
          <p:cNvSpPr txBox="1"/>
          <p:nvPr/>
        </p:nvSpPr>
        <p:spPr>
          <a:xfrm>
            <a:off x="896112" y="1572768"/>
            <a:ext cx="1463040" cy="36576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CPU servers</a:t>
            </a:r>
            <a:endParaRPr lang="en-US" sz="850" dirty="0"/>
          </a:p>
        </p:txBody>
      </p:sp>
      <p:sp>
        <p:nvSpPr>
          <p:cNvPr id="28" name="Text 24"/>
          <p:cNvSpPr txBox="1"/>
          <p:nvPr/>
        </p:nvSpPr>
        <p:spPr>
          <a:xfrm>
            <a:off x="2514600" y="1572768"/>
            <a:ext cx="169164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Current x86 or Arm server processors</a:t>
            </a:r>
            <a:endParaRPr lang="en-US" sz="850" dirty="0"/>
          </a:p>
        </p:txBody>
      </p:sp>
      <p:sp>
        <p:nvSpPr>
          <p:cNvPr id="29" name="Text 25"/>
          <p:cNvSpPr txBox="1"/>
          <p:nvPr/>
        </p:nvSpPr>
        <p:spPr>
          <a:xfrm>
            <a:off x="4389120" y="1572768"/>
            <a:ext cx="82296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System RAM</a:t>
            </a:r>
            <a:endParaRPr lang="en-US" sz="850" dirty="0"/>
          </a:p>
        </p:txBody>
      </p:sp>
      <p:sp>
        <p:nvSpPr>
          <p:cNvPr id="30" name="Text 26"/>
          <p:cNvSpPr txBox="1"/>
          <p:nvPr/>
        </p:nvSpPr>
        <p:spPr>
          <a:xfrm>
            <a:off x="5394960" y="1572768"/>
            <a:ext cx="73152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0.3–1 kW</a:t>
            </a:r>
            <a:endParaRPr lang="en-US" sz="850" dirty="0"/>
          </a:p>
        </p:txBody>
      </p:sp>
      <p:sp>
        <p:nvSpPr>
          <p:cNvPr id="31" name="Shape 27"/>
          <p:cNvSpPr/>
          <p:nvPr/>
        </p:nvSpPr>
        <p:spPr>
          <a:xfrm>
            <a:off x="6263640" y="1645920"/>
            <a:ext cx="1051560" cy="219456"/>
          </a:xfrm>
          <a:prstGeom prst="roundRect">
            <a:avLst>
              <a:gd name="adj" fmla="val 50000"/>
            </a:avLst>
          </a:prstGeom>
          <a:solidFill>
            <a:srgbClr val="00704A">
              <a:alpha val="15000"/>
            </a:srgbClr>
          </a:solidFill>
          <a:ln w="9525">
            <a:solidFill>
              <a:srgbClr val="00704A"/>
            </a:solidFill>
            <a:prstDash val="solid"/>
          </a:ln>
        </p:spPr>
      </p:sp>
      <p:sp>
        <p:nvSpPr>
          <p:cNvPr id="32" name="Text 28"/>
          <p:cNvSpPr txBox="1"/>
          <p:nvPr/>
        </p:nvSpPr>
        <p:spPr>
          <a:xfrm>
            <a:off x="6263640" y="1645920"/>
            <a:ext cx="1051560" cy="219456"/>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Core</a:t>
            </a:r>
            <a:endParaRPr lang="en-US" sz="850" dirty="0"/>
          </a:p>
        </p:txBody>
      </p:sp>
      <p:sp>
        <p:nvSpPr>
          <p:cNvPr id="33" name="Text 29"/>
          <p:cNvSpPr txBox="1"/>
          <p:nvPr/>
        </p:nvSpPr>
        <p:spPr>
          <a:xfrm>
            <a:off x="7452360" y="1572768"/>
            <a:ext cx="114300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Classical ML, small-model inference</a:t>
            </a:r>
            <a:endParaRPr lang="en-US" sz="850" dirty="0"/>
          </a:p>
        </p:txBody>
      </p:sp>
      <p:sp>
        <p:nvSpPr>
          <p:cNvPr id="34" name="Shape 30"/>
          <p:cNvSpPr/>
          <p:nvPr/>
        </p:nvSpPr>
        <p:spPr>
          <a:xfrm>
            <a:off x="457200" y="1979676"/>
            <a:ext cx="8229600" cy="365760"/>
          </a:xfrm>
          <a:prstGeom prst="roundRect">
            <a:avLst>
              <a:gd name="adj" fmla="val 12500"/>
            </a:avLst>
          </a:prstGeom>
          <a:solidFill>
            <a:srgbClr val="F4F7F5"/>
          </a:solidFill>
          <a:ln w="9525">
            <a:solidFill>
              <a:srgbClr val="D5DED9"/>
            </a:solidFill>
            <a:prstDash val="solid"/>
          </a:ln>
        </p:spPr>
      </p:sp>
      <p:sp>
        <p:nvSpPr>
          <p:cNvPr id="35" name="Shape 31"/>
          <p:cNvSpPr/>
          <p:nvPr/>
        </p:nvSpPr>
        <p:spPr>
          <a:xfrm>
            <a:off x="548640" y="2025396"/>
            <a:ext cx="274320" cy="274320"/>
          </a:xfrm>
          <a:prstGeom prst="ellipse">
            <a:avLst/>
          </a:prstGeom>
          <a:solidFill>
            <a:srgbClr val="00A86A">
              <a:alpha val="22000"/>
            </a:srgbClr>
          </a:solidFill>
          <a:ln/>
        </p:spPr>
      </p:sp>
      <p:pic>
        <p:nvPicPr>
          <p:cNvPr id="36" name="Image 1" descr="preencoded.png"/>
          <p:cNvPicPr>
            <a:picLocks noChangeAspect="1"/>
          </p:cNvPicPr>
          <p:nvPr/>
        </p:nvPicPr>
        <p:blipFill>
          <a:blip r:embed="rId4"/>
          <a:stretch>
            <a:fillRect/>
          </a:stretch>
        </p:blipFill>
        <p:spPr>
          <a:xfrm>
            <a:off x="614477" y="2091233"/>
            <a:ext cx="142646" cy="142646"/>
          </a:xfrm>
          <a:prstGeom prst="rect">
            <a:avLst/>
          </a:prstGeom>
        </p:spPr>
      </p:pic>
      <p:sp>
        <p:nvSpPr>
          <p:cNvPr id="37" name="Text 32"/>
          <p:cNvSpPr txBox="1"/>
          <p:nvPr/>
        </p:nvSpPr>
        <p:spPr>
          <a:xfrm>
            <a:off x="896112" y="1979676"/>
            <a:ext cx="1463040" cy="36576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Entry / inference GPUs</a:t>
            </a:r>
            <a:endParaRPr lang="en-US" sz="850" dirty="0"/>
          </a:p>
        </p:txBody>
      </p:sp>
      <p:sp>
        <p:nvSpPr>
          <p:cNvPr id="38" name="Text 33"/>
          <p:cNvSpPr txBox="1"/>
          <p:nvPr/>
        </p:nvSpPr>
        <p:spPr>
          <a:xfrm>
            <a:off x="2514600" y="1979676"/>
            <a:ext cx="169164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NVIDIA L4, L40S</a:t>
            </a:r>
            <a:endParaRPr lang="en-US" sz="850" dirty="0"/>
          </a:p>
        </p:txBody>
      </p:sp>
      <p:sp>
        <p:nvSpPr>
          <p:cNvPr id="39" name="Text 34"/>
          <p:cNvSpPr txBox="1"/>
          <p:nvPr/>
        </p:nvSpPr>
        <p:spPr>
          <a:xfrm>
            <a:off x="4389120" y="1979676"/>
            <a:ext cx="82296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24–48 GB</a:t>
            </a:r>
            <a:endParaRPr lang="en-US" sz="850" dirty="0"/>
          </a:p>
        </p:txBody>
      </p:sp>
      <p:sp>
        <p:nvSpPr>
          <p:cNvPr id="40" name="Text 35"/>
          <p:cNvSpPr txBox="1"/>
          <p:nvPr/>
        </p:nvSpPr>
        <p:spPr>
          <a:xfrm>
            <a:off x="5394960" y="1979676"/>
            <a:ext cx="73152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~70–350 W</a:t>
            </a:r>
            <a:endParaRPr lang="en-US" sz="850" dirty="0"/>
          </a:p>
        </p:txBody>
      </p:sp>
      <p:sp>
        <p:nvSpPr>
          <p:cNvPr id="41" name="Shape 36"/>
          <p:cNvSpPr/>
          <p:nvPr/>
        </p:nvSpPr>
        <p:spPr>
          <a:xfrm>
            <a:off x="6263640" y="2052828"/>
            <a:ext cx="1051560" cy="219456"/>
          </a:xfrm>
          <a:prstGeom prst="roundRect">
            <a:avLst>
              <a:gd name="adj" fmla="val 50000"/>
            </a:avLst>
          </a:prstGeom>
          <a:solidFill>
            <a:srgbClr val="00A86A">
              <a:alpha val="15000"/>
            </a:srgbClr>
          </a:solidFill>
          <a:ln w="9525">
            <a:solidFill>
              <a:srgbClr val="00A86A"/>
            </a:solidFill>
            <a:prstDash val="solid"/>
          </a:ln>
        </p:spPr>
      </p:sp>
      <p:sp>
        <p:nvSpPr>
          <p:cNvPr id="42" name="Text 37"/>
          <p:cNvSpPr txBox="1"/>
          <p:nvPr/>
        </p:nvSpPr>
        <p:spPr>
          <a:xfrm>
            <a:off x="6263640" y="2052828"/>
            <a:ext cx="105156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Good fit</a:t>
            </a:r>
            <a:endParaRPr lang="en-US" sz="850" dirty="0"/>
          </a:p>
        </p:txBody>
      </p:sp>
      <p:sp>
        <p:nvSpPr>
          <p:cNvPr id="43" name="Text 38"/>
          <p:cNvSpPr txBox="1"/>
          <p:nvPr/>
        </p:nvSpPr>
        <p:spPr>
          <a:xfrm>
            <a:off x="7452360" y="1979676"/>
            <a:ext cx="114300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Text classifiers, 7–14B LLMs</a:t>
            </a:r>
            <a:endParaRPr lang="en-US" sz="850" dirty="0"/>
          </a:p>
        </p:txBody>
      </p:sp>
      <p:sp>
        <p:nvSpPr>
          <p:cNvPr id="44" name="Shape 39"/>
          <p:cNvSpPr/>
          <p:nvPr/>
        </p:nvSpPr>
        <p:spPr>
          <a:xfrm>
            <a:off x="457200" y="2386584"/>
            <a:ext cx="8229600" cy="365760"/>
          </a:xfrm>
          <a:prstGeom prst="roundRect">
            <a:avLst>
              <a:gd name="adj" fmla="val 12500"/>
            </a:avLst>
          </a:prstGeom>
          <a:solidFill>
            <a:srgbClr val="F4F7F5"/>
          </a:solidFill>
          <a:ln w="9525">
            <a:solidFill>
              <a:srgbClr val="D5DED9"/>
            </a:solidFill>
            <a:prstDash val="solid"/>
          </a:ln>
        </p:spPr>
      </p:sp>
      <p:sp>
        <p:nvSpPr>
          <p:cNvPr id="45" name="Shape 40"/>
          <p:cNvSpPr/>
          <p:nvPr/>
        </p:nvSpPr>
        <p:spPr>
          <a:xfrm>
            <a:off x="548640" y="2432304"/>
            <a:ext cx="274320" cy="274320"/>
          </a:xfrm>
          <a:prstGeom prst="ellipse">
            <a:avLst/>
          </a:prstGeom>
          <a:solidFill>
            <a:srgbClr val="00A86A">
              <a:alpha val="22000"/>
            </a:srgbClr>
          </a:solidFill>
          <a:ln/>
        </p:spPr>
      </p:sp>
      <p:pic>
        <p:nvPicPr>
          <p:cNvPr id="46" name="Image 2" descr="preencoded.png"/>
          <p:cNvPicPr>
            <a:picLocks noChangeAspect="1"/>
          </p:cNvPicPr>
          <p:nvPr/>
        </p:nvPicPr>
        <p:blipFill>
          <a:blip r:embed="rId5"/>
          <a:stretch>
            <a:fillRect/>
          </a:stretch>
        </p:blipFill>
        <p:spPr>
          <a:xfrm>
            <a:off x="614477" y="2498141"/>
            <a:ext cx="142646" cy="142646"/>
          </a:xfrm>
          <a:prstGeom prst="rect">
            <a:avLst/>
          </a:prstGeom>
        </p:spPr>
      </p:pic>
      <p:sp>
        <p:nvSpPr>
          <p:cNvPr id="47" name="Text 41"/>
          <p:cNvSpPr txBox="1"/>
          <p:nvPr/>
        </p:nvSpPr>
        <p:spPr>
          <a:xfrm>
            <a:off x="896112" y="2386584"/>
            <a:ext cx="1463040" cy="36576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Workstation-class GPUs</a:t>
            </a:r>
            <a:endParaRPr lang="en-US" sz="850" dirty="0"/>
          </a:p>
        </p:txBody>
      </p:sp>
      <p:sp>
        <p:nvSpPr>
          <p:cNvPr id="48" name="Text 42"/>
          <p:cNvSpPr txBox="1"/>
          <p:nvPr/>
        </p:nvSpPr>
        <p:spPr>
          <a:xfrm>
            <a:off x="2514600" y="2386584"/>
            <a:ext cx="169164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NVIDIA RTX PRO 6000 (Blackwell)</a:t>
            </a:r>
            <a:endParaRPr lang="en-US" sz="850" dirty="0"/>
          </a:p>
        </p:txBody>
      </p:sp>
      <p:sp>
        <p:nvSpPr>
          <p:cNvPr id="49" name="Text 43"/>
          <p:cNvSpPr txBox="1"/>
          <p:nvPr/>
        </p:nvSpPr>
        <p:spPr>
          <a:xfrm>
            <a:off x="4389120" y="2386584"/>
            <a:ext cx="82296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96 GB</a:t>
            </a:r>
            <a:endParaRPr lang="en-US" sz="850" dirty="0"/>
          </a:p>
        </p:txBody>
      </p:sp>
      <p:sp>
        <p:nvSpPr>
          <p:cNvPr id="50" name="Text 44"/>
          <p:cNvSpPr txBox="1"/>
          <p:nvPr/>
        </p:nvSpPr>
        <p:spPr>
          <a:xfrm>
            <a:off x="5394960" y="2386584"/>
            <a:ext cx="73152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~600 W</a:t>
            </a:r>
            <a:endParaRPr lang="en-US" sz="850" dirty="0"/>
          </a:p>
        </p:txBody>
      </p:sp>
      <p:sp>
        <p:nvSpPr>
          <p:cNvPr id="51" name="Shape 45"/>
          <p:cNvSpPr/>
          <p:nvPr/>
        </p:nvSpPr>
        <p:spPr>
          <a:xfrm>
            <a:off x="6263640" y="2459736"/>
            <a:ext cx="1051560" cy="219456"/>
          </a:xfrm>
          <a:prstGeom prst="roundRect">
            <a:avLst>
              <a:gd name="adj" fmla="val 50000"/>
            </a:avLst>
          </a:prstGeom>
          <a:solidFill>
            <a:srgbClr val="00A86A">
              <a:alpha val="15000"/>
            </a:srgbClr>
          </a:solidFill>
          <a:ln w="9525">
            <a:solidFill>
              <a:srgbClr val="00A86A"/>
            </a:solidFill>
            <a:prstDash val="solid"/>
          </a:ln>
        </p:spPr>
      </p:sp>
      <p:sp>
        <p:nvSpPr>
          <p:cNvPr id="52" name="Text 46"/>
          <p:cNvSpPr txBox="1"/>
          <p:nvPr/>
        </p:nvSpPr>
        <p:spPr>
          <a:xfrm>
            <a:off x="6263640" y="2459736"/>
            <a:ext cx="105156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Good fit</a:t>
            </a:r>
            <a:endParaRPr lang="en-US" sz="850" dirty="0"/>
          </a:p>
        </p:txBody>
      </p:sp>
      <p:sp>
        <p:nvSpPr>
          <p:cNvPr id="53" name="Text 47"/>
          <p:cNvSpPr txBox="1"/>
          <p:nvPr/>
        </p:nvSpPr>
        <p:spPr>
          <a:xfrm>
            <a:off x="7452360" y="2386584"/>
            <a:ext cx="114300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Up to 70B compressed; LoRA</a:t>
            </a:r>
            <a:endParaRPr lang="en-US" sz="850" dirty="0"/>
          </a:p>
        </p:txBody>
      </p:sp>
      <p:sp>
        <p:nvSpPr>
          <p:cNvPr id="54" name="Shape 48"/>
          <p:cNvSpPr/>
          <p:nvPr/>
        </p:nvSpPr>
        <p:spPr>
          <a:xfrm>
            <a:off x="457200" y="2793492"/>
            <a:ext cx="8229600" cy="365760"/>
          </a:xfrm>
          <a:prstGeom prst="roundRect">
            <a:avLst>
              <a:gd name="adj" fmla="val 12500"/>
            </a:avLst>
          </a:prstGeom>
          <a:solidFill>
            <a:srgbClr val="F4F7F5"/>
          </a:solidFill>
          <a:ln w="9525">
            <a:solidFill>
              <a:srgbClr val="D5DED9"/>
            </a:solidFill>
            <a:prstDash val="solid"/>
          </a:ln>
        </p:spPr>
      </p:sp>
      <p:sp>
        <p:nvSpPr>
          <p:cNvPr id="55" name="Shape 49"/>
          <p:cNvSpPr/>
          <p:nvPr/>
        </p:nvSpPr>
        <p:spPr>
          <a:xfrm>
            <a:off x="548640" y="2839212"/>
            <a:ext cx="274320" cy="274320"/>
          </a:xfrm>
          <a:prstGeom prst="ellipse">
            <a:avLst/>
          </a:prstGeom>
          <a:solidFill>
            <a:srgbClr val="00553A">
              <a:alpha val="22000"/>
            </a:srgbClr>
          </a:solidFill>
          <a:ln/>
        </p:spPr>
      </p:sp>
      <p:pic>
        <p:nvPicPr>
          <p:cNvPr id="56" name="Image 3" descr="preencoded.png"/>
          <p:cNvPicPr>
            <a:picLocks noChangeAspect="1"/>
          </p:cNvPicPr>
          <p:nvPr/>
        </p:nvPicPr>
        <p:blipFill>
          <a:blip r:embed="rId6"/>
          <a:stretch>
            <a:fillRect/>
          </a:stretch>
        </p:blipFill>
        <p:spPr>
          <a:xfrm>
            <a:off x="614477" y="2905049"/>
            <a:ext cx="142646" cy="142646"/>
          </a:xfrm>
          <a:prstGeom prst="rect">
            <a:avLst/>
          </a:prstGeom>
        </p:spPr>
      </p:pic>
      <p:sp>
        <p:nvSpPr>
          <p:cNvPr id="57" name="Text 50"/>
          <p:cNvSpPr txBox="1"/>
          <p:nvPr/>
        </p:nvSpPr>
        <p:spPr>
          <a:xfrm>
            <a:off x="896112" y="2793492"/>
            <a:ext cx="1463040" cy="36576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Data-centre GPUs</a:t>
            </a:r>
            <a:endParaRPr lang="en-US" sz="850" dirty="0"/>
          </a:p>
        </p:txBody>
      </p:sp>
      <p:sp>
        <p:nvSpPr>
          <p:cNvPr id="58" name="Text 51"/>
          <p:cNvSpPr txBox="1"/>
          <p:nvPr/>
        </p:nvSpPr>
        <p:spPr>
          <a:xfrm>
            <a:off x="2514600" y="2793492"/>
            <a:ext cx="169164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NVIDIA H100 / H200 / B200; AMD Instinct</a:t>
            </a:r>
            <a:endParaRPr lang="en-US" sz="850" dirty="0"/>
          </a:p>
        </p:txBody>
      </p:sp>
      <p:sp>
        <p:nvSpPr>
          <p:cNvPr id="59" name="Text 52"/>
          <p:cNvSpPr txBox="1"/>
          <p:nvPr/>
        </p:nvSpPr>
        <p:spPr>
          <a:xfrm>
            <a:off x="4389120" y="2793492"/>
            <a:ext cx="82296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80 / 141 / 180 GB</a:t>
            </a:r>
            <a:endParaRPr lang="en-US" sz="850" dirty="0"/>
          </a:p>
        </p:txBody>
      </p:sp>
      <p:sp>
        <p:nvSpPr>
          <p:cNvPr id="60" name="Text 53"/>
          <p:cNvSpPr txBox="1"/>
          <p:nvPr/>
        </p:nvSpPr>
        <p:spPr>
          <a:xfrm>
            <a:off x="5394960" y="2793492"/>
            <a:ext cx="73152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~0.7–1 kW each</a:t>
            </a:r>
            <a:endParaRPr lang="en-US" sz="850" dirty="0"/>
          </a:p>
        </p:txBody>
      </p:sp>
      <p:sp>
        <p:nvSpPr>
          <p:cNvPr id="61" name="Shape 54"/>
          <p:cNvSpPr/>
          <p:nvPr/>
        </p:nvSpPr>
        <p:spPr>
          <a:xfrm>
            <a:off x="6263640" y="2866644"/>
            <a:ext cx="1051560" cy="219456"/>
          </a:xfrm>
          <a:prstGeom prst="roundRect">
            <a:avLst>
              <a:gd name="adj" fmla="val 50000"/>
            </a:avLst>
          </a:prstGeom>
          <a:solidFill>
            <a:srgbClr val="D49A00">
              <a:alpha val="15000"/>
            </a:srgbClr>
          </a:solidFill>
          <a:ln w="9525">
            <a:solidFill>
              <a:srgbClr val="D49A00"/>
            </a:solidFill>
            <a:prstDash val="solid"/>
          </a:ln>
        </p:spPr>
      </p:sp>
      <p:sp>
        <p:nvSpPr>
          <p:cNvPr id="62" name="Text 55"/>
          <p:cNvSpPr txBox="1"/>
          <p:nvPr/>
        </p:nvSpPr>
        <p:spPr>
          <a:xfrm>
            <a:off x="6263640" y="2866644"/>
            <a:ext cx="105156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Selective</a:t>
            </a:r>
            <a:endParaRPr lang="en-US" sz="850" dirty="0"/>
          </a:p>
        </p:txBody>
      </p:sp>
      <p:sp>
        <p:nvSpPr>
          <p:cNvPr id="63" name="Text 56"/>
          <p:cNvSpPr txBox="1"/>
          <p:nvPr/>
        </p:nvSpPr>
        <p:spPr>
          <a:xfrm>
            <a:off x="7452360" y="2793492"/>
            <a:ext cx="114300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Large models, multi-GPU training</a:t>
            </a:r>
            <a:endParaRPr lang="en-US" sz="850" dirty="0"/>
          </a:p>
        </p:txBody>
      </p:sp>
      <p:sp>
        <p:nvSpPr>
          <p:cNvPr id="64" name="Shape 57"/>
          <p:cNvSpPr/>
          <p:nvPr/>
        </p:nvSpPr>
        <p:spPr>
          <a:xfrm>
            <a:off x="457200" y="3200400"/>
            <a:ext cx="8229600" cy="365760"/>
          </a:xfrm>
          <a:prstGeom prst="roundRect">
            <a:avLst>
              <a:gd name="adj" fmla="val 12500"/>
            </a:avLst>
          </a:prstGeom>
          <a:solidFill>
            <a:srgbClr val="F4F7F5"/>
          </a:solidFill>
          <a:ln w="9525">
            <a:solidFill>
              <a:srgbClr val="D5DED9"/>
            </a:solidFill>
            <a:prstDash val="solid"/>
          </a:ln>
        </p:spPr>
      </p:sp>
      <p:sp>
        <p:nvSpPr>
          <p:cNvPr id="65" name="Shape 58"/>
          <p:cNvSpPr/>
          <p:nvPr/>
        </p:nvSpPr>
        <p:spPr>
          <a:xfrm>
            <a:off x="548640" y="3246120"/>
            <a:ext cx="274320" cy="274320"/>
          </a:xfrm>
          <a:prstGeom prst="ellipse">
            <a:avLst/>
          </a:prstGeom>
          <a:solidFill>
            <a:srgbClr val="0E7C86">
              <a:alpha val="22000"/>
            </a:srgbClr>
          </a:solidFill>
          <a:ln/>
        </p:spPr>
      </p:sp>
      <p:pic>
        <p:nvPicPr>
          <p:cNvPr id="66" name="Image 4" descr="preencoded.png"/>
          <p:cNvPicPr>
            <a:picLocks noChangeAspect="1"/>
          </p:cNvPicPr>
          <p:nvPr/>
        </p:nvPicPr>
        <p:blipFill>
          <a:blip r:embed="rId7"/>
          <a:stretch>
            <a:fillRect/>
          </a:stretch>
        </p:blipFill>
        <p:spPr>
          <a:xfrm>
            <a:off x="614477" y="3311957"/>
            <a:ext cx="142646" cy="142646"/>
          </a:xfrm>
          <a:prstGeom prst="rect">
            <a:avLst/>
          </a:prstGeom>
        </p:spPr>
      </p:pic>
      <p:sp>
        <p:nvSpPr>
          <p:cNvPr id="67" name="Text 59"/>
          <p:cNvSpPr txBox="1"/>
          <p:nvPr/>
        </p:nvSpPr>
        <p:spPr>
          <a:xfrm>
            <a:off x="896112" y="3200400"/>
            <a:ext cx="1463040" cy="36576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Desk-side AI systems</a:t>
            </a:r>
            <a:endParaRPr lang="en-US" sz="850" dirty="0"/>
          </a:p>
        </p:txBody>
      </p:sp>
      <p:sp>
        <p:nvSpPr>
          <p:cNvPr id="68" name="Text 60"/>
          <p:cNvSpPr txBox="1"/>
          <p:nvPr/>
        </p:nvSpPr>
        <p:spPr>
          <a:xfrm>
            <a:off x="2514600" y="3200400"/>
            <a:ext cx="169164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NVIDIA DGX Spark</a:t>
            </a:r>
            <a:endParaRPr lang="en-US" sz="850" dirty="0"/>
          </a:p>
        </p:txBody>
      </p:sp>
      <p:sp>
        <p:nvSpPr>
          <p:cNvPr id="69" name="Text 61"/>
          <p:cNvSpPr txBox="1"/>
          <p:nvPr/>
        </p:nvSpPr>
        <p:spPr>
          <a:xfrm>
            <a:off x="4389120" y="3200400"/>
            <a:ext cx="82296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128 GB shared</a:t>
            </a:r>
            <a:endParaRPr lang="en-US" sz="850" dirty="0"/>
          </a:p>
        </p:txBody>
      </p:sp>
      <p:sp>
        <p:nvSpPr>
          <p:cNvPr id="70" name="Text 62"/>
          <p:cNvSpPr txBox="1"/>
          <p:nvPr/>
        </p:nvSpPr>
        <p:spPr>
          <a:xfrm>
            <a:off x="5394960" y="3200400"/>
            <a:ext cx="73152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Desk power</a:t>
            </a:r>
            <a:endParaRPr lang="en-US" sz="850" dirty="0"/>
          </a:p>
        </p:txBody>
      </p:sp>
      <p:sp>
        <p:nvSpPr>
          <p:cNvPr id="71" name="Shape 63"/>
          <p:cNvSpPr/>
          <p:nvPr/>
        </p:nvSpPr>
        <p:spPr>
          <a:xfrm>
            <a:off x="6263640" y="3273552"/>
            <a:ext cx="1051560" cy="219456"/>
          </a:xfrm>
          <a:prstGeom prst="roundRect">
            <a:avLst>
              <a:gd name="adj" fmla="val 50000"/>
            </a:avLst>
          </a:prstGeom>
          <a:solidFill>
            <a:srgbClr val="00A86A">
              <a:alpha val="15000"/>
            </a:srgbClr>
          </a:solidFill>
          <a:ln w="9525">
            <a:solidFill>
              <a:srgbClr val="00A86A"/>
            </a:solidFill>
            <a:prstDash val="solid"/>
          </a:ln>
        </p:spPr>
      </p:sp>
      <p:sp>
        <p:nvSpPr>
          <p:cNvPr id="72" name="Text 64"/>
          <p:cNvSpPr txBox="1"/>
          <p:nvPr/>
        </p:nvSpPr>
        <p:spPr>
          <a:xfrm>
            <a:off x="6263640" y="3273552"/>
            <a:ext cx="105156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Good fit</a:t>
            </a:r>
            <a:endParaRPr lang="en-US" sz="850" dirty="0"/>
          </a:p>
        </p:txBody>
      </p:sp>
      <p:sp>
        <p:nvSpPr>
          <p:cNvPr id="73" name="Text 65"/>
          <p:cNvSpPr txBox="1"/>
          <p:nvPr/>
        </p:nvSpPr>
        <p:spPr>
          <a:xfrm>
            <a:off x="7452360" y="3200400"/>
            <a:ext cx="114300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Prototyping, small teams</a:t>
            </a:r>
            <a:endParaRPr lang="en-US" sz="850" dirty="0"/>
          </a:p>
        </p:txBody>
      </p:sp>
      <p:sp>
        <p:nvSpPr>
          <p:cNvPr id="74" name="Shape 66"/>
          <p:cNvSpPr/>
          <p:nvPr/>
        </p:nvSpPr>
        <p:spPr>
          <a:xfrm>
            <a:off x="457200" y="3607308"/>
            <a:ext cx="8229600" cy="365760"/>
          </a:xfrm>
          <a:prstGeom prst="roundRect">
            <a:avLst>
              <a:gd name="adj" fmla="val 12500"/>
            </a:avLst>
          </a:prstGeom>
          <a:solidFill>
            <a:srgbClr val="F4F7F5"/>
          </a:solidFill>
          <a:ln w="9525">
            <a:solidFill>
              <a:srgbClr val="D5DED9"/>
            </a:solidFill>
            <a:prstDash val="solid"/>
          </a:ln>
        </p:spPr>
      </p:sp>
      <p:sp>
        <p:nvSpPr>
          <p:cNvPr id="75" name="Shape 67"/>
          <p:cNvSpPr/>
          <p:nvPr/>
        </p:nvSpPr>
        <p:spPr>
          <a:xfrm>
            <a:off x="548640" y="3653028"/>
            <a:ext cx="274320" cy="274320"/>
          </a:xfrm>
          <a:prstGeom prst="ellipse">
            <a:avLst/>
          </a:prstGeom>
          <a:solidFill>
            <a:srgbClr val="0E7C86">
              <a:alpha val="22000"/>
            </a:srgbClr>
          </a:solidFill>
          <a:ln/>
        </p:spPr>
      </p:sp>
      <p:pic>
        <p:nvPicPr>
          <p:cNvPr id="76" name="Image 5" descr="preencoded.png"/>
          <p:cNvPicPr>
            <a:picLocks noChangeAspect="1"/>
          </p:cNvPicPr>
          <p:nvPr/>
        </p:nvPicPr>
        <p:blipFill>
          <a:blip r:embed="rId8"/>
          <a:stretch>
            <a:fillRect/>
          </a:stretch>
        </p:blipFill>
        <p:spPr>
          <a:xfrm>
            <a:off x="614477" y="3718865"/>
            <a:ext cx="142646" cy="142646"/>
          </a:xfrm>
          <a:prstGeom prst="rect">
            <a:avLst/>
          </a:prstGeom>
        </p:spPr>
      </p:pic>
      <p:sp>
        <p:nvSpPr>
          <p:cNvPr id="77" name="Text 68"/>
          <p:cNvSpPr txBox="1"/>
          <p:nvPr/>
        </p:nvSpPr>
        <p:spPr>
          <a:xfrm>
            <a:off x="896112" y="3607308"/>
            <a:ext cx="1463040" cy="36576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Cloud-only accelerators</a:t>
            </a:r>
            <a:endParaRPr lang="en-US" sz="850" dirty="0"/>
          </a:p>
        </p:txBody>
      </p:sp>
      <p:sp>
        <p:nvSpPr>
          <p:cNvPr id="78" name="Text 69"/>
          <p:cNvSpPr txBox="1"/>
          <p:nvPr/>
        </p:nvSpPr>
        <p:spPr>
          <a:xfrm>
            <a:off x="2514600" y="3607308"/>
            <a:ext cx="169164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Google TPU, AWS Trainium / Inferentia</a:t>
            </a:r>
            <a:endParaRPr lang="en-US" sz="850" dirty="0"/>
          </a:p>
        </p:txBody>
      </p:sp>
      <p:sp>
        <p:nvSpPr>
          <p:cNvPr id="79" name="Text 70"/>
          <p:cNvSpPr txBox="1"/>
          <p:nvPr/>
        </p:nvSpPr>
        <p:spPr>
          <a:xfrm>
            <a:off x="4389120" y="3607308"/>
            <a:ext cx="82296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Rented</a:t>
            </a:r>
            <a:endParaRPr lang="en-US" sz="850" dirty="0"/>
          </a:p>
        </p:txBody>
      </p:sp>
      <p:sp>
        <p:nvSpPr>
          <p:cNvPr id="80" name="Text 71"/>
          <p:cNvSpPr txBox="1"/>
          <p:nvPr/>
        </p:nvSpPr>
        <p:spPr>
          <a:xfrm>
            <a:off x="5394960" y="3607308"/>
            <a:ext cx="73152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Provider's</a:t>
            </a:r>
            <a:endParaRPr lang="en-US" sz="850" dirty="0"/>
          </a:p>
        </p:txBody>
      </p:sp>
      <p:sp>
        <p:nvSpPr>
          <p:cNvPr id="81" name="Shape 72"/>
          <p:cNvSpPr/>
          <p:nvPr/>
        </p:nvSpPr>
        <p:spPr>
          <a:xfrm>
            <a:off x="6263640" y="3680460"/>
            <a:ext cx="1051560" cy="219456"/>
          </a:xfrm>
          <a:prstGeom prst="roundRect">
            <a:avLst>
              <a:gd name="adj" fmla="val 50000"/>
            </a:avLst>
          </a:prstGeom>
          <a:solidFill>
            <a:srgbClr val="0E7C86">
              <a:alpha val="15000"/>
            </a:srgbClr>
          </a:solidFill>
          <a:ln w="9525">
            <a:solidFill>
              <a:srgbClr val="0E7C86"/>
            </a:solidFill>
            <a:prstDash val="solid"/>
          </a:ln>
        </p:spPr>
      </p:sp>
      <p:sp>
        <p:nvSpPr>
          <p:cNvPr id="82" name="Text 73"/>
          <p:cNvSpPr txBox="1"/>
          <p:nvPr/>
        </p:nvSpPr>
        <p:spPr>
          <a:xfrm>
            <a:off x="6263640" y="3680460"/>
            <a:ext cx="105156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If cloud allowed</a:t>
            </a:r>
            <a:endParaRPr lang="en-US" sz="850" dirty="0"/>
          </a:p>
        </p:txBody>
      </p:sp>
      <p:sp>
        <p:nvSpPr>
          <p:cNvPr id="83" name="Text 74"/>
          <p:cNvSpPr txBox="1"/>
          <p:nvPr/>
        </p:nvSpPr>
        <p:spPr>
          <a:xfrm>
            <a:off x="7452360" y="3607308"/>
            <a:ext cx="114300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Only for permitted data tiers</a:t>
            </a:r>
            <a:endParaRPr lang="en-US" sz="850" dirty="0"/>
          </a:p>
        </p:txBody>
      </p:sp>
      <p:sp>
        <p:nvSpPr>
          <p:cNvPr id="84" name="Shape 75"/>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85" name="Shape 76"/>
          <p:cNvSpPr/>
          <p:nvPr/>
        </p:nvSpPr>
        <p:spPr>
          <a:xfrm>
            <a:off x="566928" y="4215384"/>
            <a:ext cx="292608" cy="292608"/>
          </a:xfrm>
          <a:prstGeom prst="ellipse">
            <a:avLst/>
          </a:prstGeom>
          <a:solidFill>
            <a:srgbClr val="00A86A">
              <a:alpha val="22000"/>
            </a:srgbClr>
          </a:solidFill>
          <a:ln/>
        </p:spPr>
      </p:sp>
      <p:pic>
        <p:nvPicPr>
          <p:cNvPr id="86" name="Image 6" descr="preencoded.png"/>
          <p:cNvPicPr>
            <a:picLocks noChangeAspect="1"/>
          </p:cNvPicPr>
          <p:nvPr/>
        </p:nvPicPr>
        <p:blipFill>
          <a:blip r:embed="rId9"/>
          <a:stretch>
            <a:fillRect/>
          </a:stretch>
        </p:blipFill>
        <p:spPr>
          <a:xfrm>
            <a:off x="637154" y="4285610"/>
            <a:ext cx="152156" cy="152156"/>
          </a:xfrm>
          <a:prstGeom prst="rect">
            <a:avLst/>
          </a:prstGeom>
        </p:spPr>
      </p:pic>
      <p:sp>
        <p:nvSpPr>
          <p:cNvPr id="87" name="Text 77"/>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KEY POINT   </a:t>
            </a:r>
            <a:r>
              <a:rPr lang="en-US" sz="1000" dirty="0">
                <a:solidFill>
                  <a:srgbClr val="231F20"/>
                </a:solidFill>
                <a:latin typeface="Calibri" pitchFamily="34" charset="0"/>
                <a:ea typeface="Calibri" pitchFamily="34" charset="-122"/>
                <a:cs typeface="Calibri" pitchFamily="34" charset="-120"/>
              </a:rPr>
              <a:t>Check software support before brand: the tools your team already uses must run on the card. Memory first, speed second.</a:t>
            </a:r>
            <a:endParaRPr lang="en-US" sz="1000" dirty="0"/>
          </a:p>
        </p:txBody>
      </p:sp>
      <p:sp>
        <p:nvSpPr>
          <p:cNvPr id="88" name="Text 78"/>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Sources: NVIDIA product pages and vendor datasheets as compiled by GetDeploying (2026). Power figures are indicative maximums.</a:t>
            </a:r>
            <a:endParaRPr lang="en-US" sz="8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AI HARDWARE · CONFIGURATIONS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Three reference configurations for an NSO</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Start small, grow only when a use case passes its gate — and rent the top tier rather than buy it</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8" name="Shape 15"/>
          <p:cNvSpPr/>
          <p:nvPr/>
        </p:nvSpPr>
        <p:spPr>
          <a:xfrm>
            <a:off x="457200" y="1325880"/>
            <a:ext cx="2651760" cy="2807208"/>
          </a:xfrm>
          <a:prstGeom prst="roundRect">
            <a:avLst>
              <a:gd name="adj" fmla="val 2759"/>
            </a:avLst>
          </a:prstGeom>
          <a:solidFill>
            <a:srgbClr val="F4F7F5"/>
          </a:solidFill>
          <a:ln w="9525">
            <a:solidFill>
              <a:srgbClr val="D5DED9"/>
            </a:solidFill>
            <a:prstDash val="solid"/>
          </a:ln>
        </p:spPr>
      </p:sp>
      <p:sp>
        <p:nvSpPr>
          <p:cNvPr id="19" name="Shape 16"/>
          <p:cNvSpPr/>
          <p:nvPr/>
        </p:nvSpPr>
        <p:spPr>
          <a:xfrm>
            <a:off x="566928" y="1435608"/>
            <a:ext cx="2432304" cy="384048"/>
          </a:xfrm>
          <a:prstGeom prst="roundRect">
            <a:avLst>
              <a:gd name="adj" fmla="val 14286"/>
            </a:avLst>
          </a:prstGeom>
          <a:solidFill>
            <a:srgbClr val="00A86A"/>
          </a:solidFill>
          <a:ln/>
        </p:spPr>
      </p:sp>
      <p:pic>
        <p:nvPicPr>
          <p:cNvPr id="20" name="Image 0" descr="preencoded.png"/>
          <p:cNvPicPr>
            <a:picLocks noChangeAspect="1"/>
          </p:cNvPicPr>
          <p:nvPr/>
        </p:nvPicPr>
        <p:blipFill>
          <a:blip r:embed="rId3"/>
          <a:stretch>
            <a:fillRect/>
          </a:stretch>
        </p:blipFill>
        <p:spPr>
          <a:xfrm>
            <a:off x="676656" y="1527048"/>
            <a:ext cx="201168" cy="201168"/>
          </a:xfrm>
          <a:prstGeom prst="rect">
            <a:avLst/>
          </a:prstGeom>
        </p:spPr>
      </p:pic>
      <p:sp>
        <p:nvSpPr>
          <p:cNvPr id="21" name="Text 17"/>
          <p:cNvSpPr txBox="1"/>
          <p:nvPr/>
        </p:nvSpPr>
        <p:spPr>
          <a:xfrm>
            <a:off x="969264" y="1435608"/>
            <a:ext cx="1920240" cy="384048"/>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STARTER</a:t>
            </a:r>
            <a:endParaRPr lang="en-US" sz="1200" dirty="0"/>
          </a:p>
        </p:txBody>
      </p:sp>
      <p:sp>
        <p:nvSpPr>
          <p:cNvPr id="22" name="Text 18"/>
          <p:cNvSpPr txBox="1"/>
          <p:nvPr/>
        </p:nvSpPr>
        <p:spPr>
          <a:xfrm>
            <a:off x="585216" y="1892808"/>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LOOKS LIKE</a:t>
            </a:r>
            <a:endParaRPr lang="en-US" sz="700" dirty="0"/>
          </a:p>
        </p:txBody>
      </p:sp>
      <p:sp>
        <p:nvSpPr>
          <p:cNvPr id="23" name="Text 19"/>
          <p:cNvSpPr txBox="1"/>
          <p:nvPr/>
        </p:nvSpPr>
        <p:spPr>
          <a:xfrm>
            <a:off x="585216" y="2029968"/>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1 server, 1–2 GPUs of 24–48 GB, or a desk-side AI system</a:t>
            </a:r>
            <a:endParaRPr lang="en-US" sz="850" dirty="0"/>
          </a:p>
        </p:txBody>
      </p:sp>
      <p:sp>
        <p:nvSpPr>
          <p:cNvPr id="24" name="Text 20"/>
          <p:cNvSpPr txBox="1"/>
          <p:nvPr/>
        </p:nvSpPr>
        <p:spPr>
          <a:xfrm>
            <a:off x="585216" y="2340864"/>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RUNS</a:t>
            </a:r>
            <a:endParaRPr lang="en-US" sz="700" dirty="0"/>
          </a:p>
        </p:txBody>
      </p:sp>
      <p:sp>
        <p:nvSpPr>
          <p:cNvPr id="25" name="Text 21"/>
          <p:cNvSpPr txBox="1"/>
          <p:nvPr/>
        </p:nvSpPr>
        <p:spPr>
          <a:xfrm>
            <a:off x="585216" y="2478024"/>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Classical ML, text classifiers, 7–14B LLMs for a team</a:t>
            </a:r>
            <a:endParaRPr lang="en-US" sz="850" dirty="0"/>
          </a:p>
        </p:txBody>
      </p:sp>
      <p:sp>
        <p:nvSpPr>
          <p:cNvPr id="26" name="Text 22"/>
          <p:cNvSpPr txBox="1"/>
          <p:nvPr/>
        </p:nvSpPr>
        <p:spPr>
          <a:xfrm>
            <a:off x="585216" y="2788920"/>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POWER &amp; COOLING</a:t>
            </a:r>
            <a:endParaRPr lang="en-US" sz="700" dirty="0"/>
          </a:p>
        </p:txBody>
      </p:sp>
      <p:sp>
        <p:nvSpPr>
          <p:cNvPr id="27" name="Text 23"/>
          <p:cNvSpPr txBox="1"/>
          <p:nvPr/>
        </p:nvSpPr>
        <p:spPr>
          <a:xfrm>
            <a:off x="585216" y="2926080"/>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~1–2 kW; standard air cooling</a:t>
            </a:r>
            <a:endParaRPr lang="en-US" sz="850" dirty="0"/>
          </a:p>
        </p:txBody>
      </p:sp>
      <p:sp>
        <p:nvSpPr>
          <p:cNvPr id="28" name="Text 24"/>
          <p:cNvSpPr txBox="1"/>
          <p:nvPr/>
        </p:nvSpPr>
        <p:spPr>
          <a:xfrm>
            <a:off x="585216" y="3236976"/>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STAFF</a:t>
            </a:r>
            <a:endParaRPr lang="en-US" sz="700" dirty="0"/>
          </a:p>
        </p:txBody>
      </p:sp>
      <p:sp>
        <p:nvSpPr>
          <p:cNvPr id="29" name="Text 25"/>
          <p:cNvSpPr txBox="1"/>
          <p:nvPr/>
        </p:nvSpPr>
        <p:spPr>
          <a:xfrm>
            <a:off x="585216" y="3374136"/>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Existing IT + 0.5 platform engineer</a:t>
            </a:r>
            <a:endParaRPr lang="en-US" sz="850" dirty="0"/>
          </a:p>
        </p:txBody>
      </p:sp>
      <p:sp>
        <p:nvSpPr>
          <p:cNvPr id="30" name="Text 26"/>
          <p:cNvSpPr txBox="1"/>
          <p:nvPr/>
        </p:nvSpPr>
        <p:spPr>
          <a:xfrm>
            <a:off x="585216" y="3685032"/>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HARDWARE COST</a:t>
            </a:r>
            <a:endParaRPr lang="en-US" sz="700" dirty="0"/>
          </a:p>
        </p:txBody>
      </p:sp>
      <p:sp>
        <p:nvSpPr>
          <p:cNvPr id="31" name="Text 27"/>
          <p:cNvSpPr txBox="1"/>
          <p:nvPr/>
        </p:nvSpPr>
        <p:spPr>
          <a:xfrm>
            <a:off x="585216" y="3822192"/>
            <a:ext cx="2395728" cy="292608"/>
          </a:xfrm>
          <a:prstGeom prst="rect">
            <a:avLst/>
          </a:prstGeom>
          <a:noFill/>
          <a:ln/>
        </p:spPr>
        <p:txBody>
          <a:bodyPr wrap="square" lIns="0" tIns="0" rIns="0" bIns="0" rtlCol="0" anchor="t"/>
          <a:lstStyle/>
          <a:p>
            <a:pPr marL="0" indent="0">
              <a:buNone/>
            </a:pPr>
            <a:r>
              <a:rPr lang="en-US" sz="850" b="1" dirty="0">
                <a:solidFill>
                  <a:srgbClr val="231F20"/>
                </a:solidFill>
                <a:latin typeface="Calibri" pitchFamily="34" charset="0"/>
                <a:ea typeface="Calibri" pitchFamily="34" charset="-122"/>
                <a:cs typeface="Calibri" pitchFamily="34" charset="-120"/>
              </a:rPr>
              <a:t>Tens of thousands of USD</a:t>
            </a:r>
            <a:endParaRPr lang="en-US" sz="850" dirty="0"/>
          </a:p>
        </p:txBody>
      </p:sp>
      <p:sp>
        <p:nvSpPr>
          <p:cNvPr id="32" name="Shape 28"/>
          <p:cNvSpPr/>
          <p:nvPr/>
        </p:nvSpPr>
        <p:spPr>
          <a:xfrm>
            <a:off x="3246120" y="1325880"/>
            <a:ext cx="2651760" cy="2807208"/>
          </a:xfrm>
          <a:prstGeom prst="roundRect">
            <a:avLst>
              <a:gd name="adj" fmla="val 2759"/>
            </a:avLst>
          </a:prstGeom>
          <a:solidFill>
            <a:srgbClr val="E8F5EF"/>
          </a:solidFill>
          <a:ln w="15875">
            <a:solidFill>
              <a:srgbClr val="00704A"/>
            </a:solidFill>
            <a:prstDash val="solid"/>
          </a:ln>
        </p:spPr>
      </p:sp>
      <p:sp>
        <p:nvSpPr>
          <p:cNvPr id="33" name="Shape 29"/>
          <p:cNvSpPr/>
          <p:nvPr/>
        </p:nvSpPr>
        <p:spPr>
          <a:xfrm>
            <a:off x="3355848" y="1435608"/>
            <a:ext cx="2432304" cy="384048"/>
          </a:xfrm>
          <a:prstGeom prst="roundRect">
            <a:avLst>
              <a:gd name="adj" fmla="val 14286"/>
            </a:avLst>
          </a:prstGeom>
          <a:solidFill>
            <a:srgbClr val="00704A"/>
          </a:solidFill>
          <a:ln/>
        </p:spPr>
      </p:sp>
      <p:pic>
        <p:nvPicPr>
          <p:cNvPr id="34" name="Image 1" descr="preencoded.png"/>
          <p:cNvPicPr>
            <a:picLocks noChangeAspect="1"/>
          </p:cNvPicPr>
          <p:nvPr/>
        </p:nvPicPr>
        <p:blipFill>
          <a:blip r:embed="rId4"/>
          <a:stretch>
            <a:fillRect/>
          </a:stretch>
        </p:blipFill>
        <p:spPr>
          <a:xfrm>
            <a:off x="3465576" y="1527048"/>
            <a:ext cx="201168" cy="201168"/>
          </a:xfrm>
          <a:prstGeom prst="rect">
            <a:avLst/>
          </a:prstGeom>
        </p:spPr>
      </p:pic>
      <p:sp>
        <p:nvSpPr>
          <p:cNvPr id="35" name="Text 30"/>
          <p:cNvSpPr txBox="1"/>
          <p:nvPr/>
        </p:nvSpPr>
        <p:spPr>
          <a:xfrm>
            <a:off x="3758184" y="1435608"/>
            <a:ext cx="1920240" cy="384048"/>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STANDARD</a:t>
            </a:r>
            <a:endParaRPr lang="en-US" sz="1200" dirty="0"/>
          </a:p>
        </p:txBody>
      </p:sp>
      <p:sp>
        <p:nvSpPr>
          <p:cNvPr id="36" name="Text 31"/>
          <p:cNvSpPr txBox="1"/>
          <p:nvPr/>
        </p:nvSpPr>
        <p:spPr>
          <a:xfrm>
            <a:off x="3374136" y="1892808"/>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LOOKS LIKE</a:t>
            </a:r>
            <a:endParaRPr lang="en-US" sz="700" dirty="0"/>
          </a:p>
        </p:txBody>
      </p:sp>
      <p:sp>
        <p:nvSpPr>
          <p:cNvPr id="37" name="Text 32"/>
          <p:cNvSpPr txBox="1"/>
          <p:nvPr/>
        </p:nvSpPr>
        <p:spPr>
          <a:xfrm>
            <a:off x="3374136" y="2029968"/>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1–2 servers, 2–4 GPUs of 48–96 GB each</a:t>
            </a:r>
            <a:endParaRPr lang="en-US" sz="850" dirty="0"/>
          </a:p>
        </p:txBody>
      </p:sp>
      <p:sp>
        <p:nvSpPr>
          <p:cNvPr id="38" name="Text 33"/>
          <p:cNvSpPr txBox="1"/>
          <p:nvPr/>
        </p:nvSpPr>
        <p:spPr>
          <a:xfrm>
            <a:off x="3374136" y="2340864"/>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RUNS</a:t>
            </a:r>
            <a:endParaRPr lang="en-US" sz="700" dirty="0"/>
          </a:p>
        </p:txBody>
      </p:sp>
      <p:sp>
        <p:nvSpPr>
          <p:cNvPr id="39" name="Text 34"/>
          <p:cNvSpPr txBox="1"/>
          <p:nvPr/>
        </p:nvSpPr>
        <p:spPr>
          <a:xfrm>
            <a:off x="3374136" y="2478024"/>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Office-wide 30–70B models, LoRA fine-tuning, several production uses</a:t>
            </a:r>
            <a:endParaRPr lang="en-US" sz="850" dirty="0"/>
          </a:p>
        </p:txBody>
      </p:sp>
      <p:sp>
        <p:nvSpPr>
          <p:cNvPr id="40" name="Text 35"/>
          <p:cNvSpPr txBox="1"/>
          <p:nvPr/>
        </p:nvSpPr>
        <p:spPr>
          <a:xfrm>
            <a:off x="3374136" y="2788920"/>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POWER &amp; COOLING</a:t>
            </a:r>
            <a:endParaRPr lang="en-US" sz="700" dirty="0"/>
          </a:p>
        </p:txBody>
      </p:sp>
      <p:sp>
        <p:nvSpPr>
          <p:cNvPr id="41" name="Text 36"/>
          <p:cNvSpPr txBox="1"/>
          <p:nvPr/>
        </p:nvSpPr>
        <p:spPr>
          <a:xfrm>
            <a:off x="3374136" y="2926080"/>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~3–5 kW per server; dedicated rack</a:t>
            </a:r>
            <a:endParaRPr lang="en-US" sz="850" dirty="0"/>
          </a:p>
        </p:txBody>
      </p:sp>
      <p:sp>
        <p:nvSpPr>
          <p:cNvPr id="42" name="Text 37"/>
          <p:cNvSpPr txBox="1"/>
          <p:nvPr/>
        </p:nvSpPr>
        <p:spPr>
          <a:xfrm>
            <a:off x="3374136" y="3236976"/>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STAFF</a:t>
            </a:r>
            <a:endParaRPr lang="en-US" sz="700" dirty="0"/>
          </a:p>
        </p:txBody>
      </p:sp>
      <p:sp>
        <p:nvSpPr>
          <p:cNvPr id="43" name="Text 38"/>
          <p:cNvSpPr txBox="1"/>
          <p:nvPr/>
        </p:nvSpPr>
        <p:spPr>
          <a:xfrm>
            <a:off x="3374136" y="3374136"/>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1–2 platform engineers</a:t>
            </a:r>
            <a:endParaRPr lang="en-US" sz="850" dirty="0"/>
          </a:p>
        </p:txBody>
      </p:sp>
      <p:sp>
        <p:nvSpPr>
          <p:cNvPr id="44" name="Text 39"/>
          <p:cNvSpPr txBox="1"/>
          <p:nvPr/>
        </p:nvSpPr>
        <p:spPr>
          <a:xfrm>
            <a:off x="3374136" y="3685032"/>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HARDWARE COST</a:t>
            </a:r>
            <a:endParaRPr lang="en-US" sz="700" dirty="0"/>
          </a:p>
        </p:txBody>
      </p:sp>
      <p:sp>
        <p:nvSpPr>
          <p:cNvPr id="45" name="Text 40"/>
          <p:cNvSpPr txBox="1"/>
          <p:nvPr/>
        </p:nvSpPr>
        <p:spPr>
          <a:xfrm>
            <a:off x="3374136" y="3822192"/>
            <a:ext cx="2395728" cy="292608"/>
          </a:xfrm>
          <a:prstGeom prst="rect">
            <a:avLst/>
          </a:prstGeom>
          <a:noFill/>
          <a:ln/>
        </p:spPr>
        <p:txBody>
          <a:bodyPr wrap="square" lIns="0" tIns="0" rIns="0" bIns="0" rtlCol="0" anchor="t"/>
          <a:lstStyle/>
          <a:p>
            <a:pPr marL="0" indent="0">
              <a:buNone/>
            </a:pPr>
            <a:r>
              <a:rPr lang="en-US" sz="850" b="1" dirty="0">
                <a:solidFill>
                  <a:srgbClr val="231F20"/>
                </a:solidFill>
                <a:latin typeface="Calibri" pitchFamily="34" charset="0"/>
                <a:ea typeface="Calibri" pitchFamily="34" charset="-122"/>
                <a:cs typeface="Calibri" pitchFamily="34" charset="-120"/>
              </a:rPr>
              <a:t>Roughly USD 50–150k</a:t>
            </a:r>
            <a:endParaRPr lang="en-US" sz="850" dirty="0"/>
          </a:p>
        </p:txBody>
      </p:sp>
      <p:sp>
        <p:nvSpPr>
          <p:cNvPr id="46" name="Shape 41"/>
          <p:cNvSpPr/>
          <p:nvPr/>
        </p:nvSpPr>
        <p:spPr>
          <a:xfrm>
            <a:off x="6035040" y="1325880"/>
            <a:ext cx="2651760" cy="2807208"/>
          </a:xfrm>
          <a:prstGeom prst="roundRect">
            <a:avLst>
              <a:gd name="adj" fmla="val 2759"/>
            </a:avLst>
          </a:prstGeom>
          <a:solidFill>
            <a:srgbClr val="F4F7F5"/>
          </a:solidFill>
          <a:ln w="9525">
            <a:solidFill>
              <a:srgbClr val="D5DED9"/>
            </a:solidFill>
            <a:prstDash val="solid"/>
          </a:ln>
        </p:spPr>
      </p:sp>
      <p:sp>
        <p:nvSpPr>
          <p:cNvPr id="47" name="Shape 42"/>
          <p:cNvSpPr/>
          <p:nvPr/>
        </p:nvSpPr>
        <p:spPr>
          <a:xfrm>
            <a:off x="6144768" y="1435608"/>
            <a:ext cx="2432304" cy="384048"/>
          </a:xfrm>
          <a:prstGeom prst="roundRect">
            <a:avLst>
              <a:gd name="adj" fmla="val 14286"/>
            </a:avLst>
          </a:prstGeom>
          <a:solidFill>
            <a:srgbClr val="00553A"/>
          </a:solidFill>
          <a:ln/>
        </p:spPr>
      </p:sp>
      <p:pic>
        <p:nvPicPr>
          <p:cNvPr id="48" name="Image 2" descr="preencoded.png"/>
          <p:cNvPicPr>
            <a:picLocks noChangeAspect="1"/>
          </p:cNvPicPr>
          <p:nvPr/>
        </p:nvPicPr>
        <p:blipFill>
          <a:blip r:embed="rId5"/>
          <a:stretch>
            <a:fillRect/>
          </a:stretch>
        </p:blipFill>
        <p:spPr>
          <a:xfrm>
            <a:off x="6254496" y="1527048"/>
            <a:ext cx="201168" cy="201168"/>
          </a:xfrm>
          <a:prstGeom prst="rect">
            <a:avLst/>
          </a:prstGeom>
        </p:spPr>
      </p:pic>
      <p:sp>
        <p:nvSpPr>
          <p:cNvPr id="49" name="Text 43"/>
          <p:cNvSpPr txBox="1"/>
          <p:nvPr/>
        </p:nvSpPr>
        <p:spPr>
          <a:xfrm>
            <a:off x="6547104" y="1435608"/>
            <a:ext cx="1920240" cy="384048"/>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ADVANCED</a:t>
            </a:r>
            <a:endParaRPr lang="en-US" sz="1200" dirty="0"/>
          </a:p>
        </p:txBody>
      </p:sp>
      <p:sp>
        <p:nvSpPr>
          <p:cNvPr id="50" name="Text 44"/>
          <p:cNvSpPr txBox="1"/>
          <p:nvPr/>
        </p:nvSpPr>
        <p:spPr>
          <a:xfrm>
            <a:off x="6163056" y="1892808"/>
            <a:ext cx="2395728" cy="128016"/>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LOOKS LIKE</a:t>
            </a:r>
            <a:endParaRPr lang="en-US" sz="700" dirty="0"/>
          </a:p>
        </p:txBody>
      </p:sp>
      <p:sp>
        <p:nvSpPr>
          <p:cNvPr id="51" name="Text 45"/>
          <p:cNvSpPr txBox="1"/>
          <p:nvPr/>
        </p:nvSpPr>
        <p:spPr>
          <a:xfrm>
            <a:off x="6163056" y="2029968"/>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8-GPU data-centre nodes (80–180 GB each), fast links</a:t>
            </a:r>
            <a:endParaRPr lang="en-US" sz="850" dirty="0"/>
          </a:p>
        </p:txBody>
      </p:sp>
      <p:sp>
        <p:nvSpPr>
          <p:cNvPr id="52" name="Text 46"/>
          <p:cNvSpPr txBox="1"/>
          <p:nvPr/>
        </p:nvSpPr>
        <p:spPr>
          <a:xfrm>
            <a:off x="6163056" y="2340864"/>
            <a:ext cx="2395728" cy="128016"/>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RUNS</a:t>
            </a:r>
            <a:endParaRPr lang="en-US" sz="700" dirty="0"/>
          </a:p>
        </p:txBody>
      </p:sp>
      <p:sp>
        <p:nvSpPr>
          <p:cNvPr id="53" name="Text 47"/>
          <p:cNvSpPr txBox="1"/>
          <p:nvPr/>
        </p:nvSpPr>
        <p:spPr>
          <a:xfrm>
            <a:off x="6163056" y="2478024"/>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Large-model fine-tuning, many teams, research</a:t>
            </a:r>
            <a:endParaRPr lang="en-US" sz="850" dirty="0"/>
          </a:p>
        </p:txBody>
      </p:sp>
      <p:sp>
        <p:nvSpPr>
          <p:cNvPr id="54" name="Text 48"/>
          <p:cNvSpPr txBox="1"/>
          <p:nvPr/>
        </p:nvSpPr>
        <p:spPr>
          <a:xfrm>
            <a:off x="6163056" y="2788920"/>
            <a:ext cx="2395728" cy="128016"/>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POWER &amp; COOLING</a:t>
            </a:r>
            <a:endParaRPr lang="en-US" sz="700" dirty="0"/>
          </a:p>
        </p:txBody>
      </p:sp>
      <p:sp>
        <p:nvSpPr>
          <p:cNvPr id="55" name="Text 49"/>
          <p:cNvSpPr txBox="1"/>
          <p:nvPr/>
        </p:nvSpPr>
        <p:spPr>
          <a:xfrm>
            <a:off x="6163056" y="2926080"/>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6–10 kW+ per node; often liquid cooling</a:t>
            </a:r>
            <a:endParaRPr lang="en-US" sz="850" dirty="0"/>
          </a:p>
        </p:txBody>
      </p:sp>
      <p:sp>
        <p:nvSpPr>
          <p:cNvPr id="56" name="Text 50"/>
          <p:cNvSpPr txBox="1"/>
          <p:nvPr/>
        </p:nvSpPr>
        <p:spPr>
          <a:xfrm>
            <a:off x="6163056" y="3236976"/>
            <a:ext cx="2395728" cy="128016"/>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STAFF</a:t>
            </a:r>
            <a:endParaRPr lang="en-US" sz="700" dirty="0"/>
          </a:p>
        </p:txBody>
      </p:sp>
      <p:sp>
        <p:nvSpPr>
          <p:cNvPr id="57" name="Text 51"/>
          <p:cNvSpPr txBox="1"/>
          <p:nvPr/>
        </p:nvSpPr>
        <p:spPr>
          <a:xfrm>
            <a:off x="6163056" y="3374136"/>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2+ engineers, 24/7 facilities support</a:t>
            </a:r>
            <a:endParaRPr lang="en-US" sz="850" dirty="0"/>
          </a:p>
        </p:txBody>
      </p:sp>
      <p:sp>
        <p:nvSpPr>
          <p:cNvPr id="58" name="Text 52"/>
          <p:cNvSpPr txBox="1"/>
          <p:nvPr/>
        </p:nvSpPr>
        <p:spPr>
          <a:xfrm>
            <a:off x="6163056" y="3685032"/>
            <a:ext cx="2395728" cy="128016"/>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HARDWARE COST</a:t>
            </a:r>
            <a:endParaRPr lang="en-US" sz="700" dirty="0"/>
          </a:p>
        </p:txBody>
      </p:sp>
      <p:sp>
        <p:nvSpPr>
          <p:cNvPr id="59" name="Text 53"/>
          <p:cNvSpPr txBox="1"/>
          <p:nvPr/>
        </p:nvSpPr>
        <p:spPr>
          <a:xfrm>
            <a:off x="6163056" y="3822192"/>
            <a:ext cx="2395728" cy="292608"/>
          </a:xfrm>
          <a:prstGeom prst="rect">
            <a:avLst/>
          </a:prstGeom>
          <a:noFill/>
          <a:ln/>
        </p:spPr>
        <p:txBody>
          <a:bodyPr wrap="square" lIns="0" tIns="0" rIns="0" bIns="0" rtlCol="0" anchor="t"/>
          <a:lstStyle/>
          <a:p>
            <a:pPr marL="0" indent="0">
              <a:buNone/>
            </a:pPr>
            <a:r>
              <a:rPr lang="en-US" sz="850" b="1" dirty="0">
                <a:solidFill>
                  <a:srgbClr val="231F20"/>
                </a:solidFill>
                <a:latin typeface="Calibri" pitchFamily="34" charset="0"/>
                <a:ea typeface="Calibri" pitchFamily="34" charset="-122"/>
                <a:cs typeface="Calibri" pitchFamily="34" charset="-120"/>
              </a:rPr>
              <a:t>USD 300k+ per node</a:t>
            </a:r>
            <a:endParaRPr lang="en-US" sz="850" dirty="0"/>
          </a:p>
        </p:txBody>
      </p:sp>
      <p:sp>
        <p:nvSpPr>
          <p:cNvPr id="60" name="Shape 54"/>
          <p:cNvSpPr/>
          <p:nvPr/>
        </p:nvSpPr>
        <p:spPr>
          <a:xfrm>
            <a:off x="457200" y="4224528"/>
            <a:ext cx="8229600" cy="384048"/>
          </a:xfrm>
          <a:prstGeom prst="roundRect">
            <a:avLst>
              <a:gd name="adj" fmla="val 14286"/>
            </a:avLst>
          </a:prstGeom>
          <a:solidFill>
            <a:srgbClr val="E8F5EF"/>
          </a:solidFill>
          <a:ln w="15875">
            <a:solidFill>
              <a:srgbClr val="00A86A"/>
            </a:solidFill>
            <a:prstDash val="solid"/>
          </a:ln>
        </p:spPr>
      </p:sp>
      <p:sp>
        <p:nvSpPr>
          <p:cNvPr id="61" name="Shape 55"/>
          <p:cNvSpPr/>
          <p:nvPr/>
        </p:nvSpPr>
        <p:spPr>
          <a:xfrm>
            <a:off x="566928" y="4270248"/>
            <a:ext cx="292608" cy="292608"/>
          </a:xfrm>
          <a:prstGeom prst="ellipse">
            <a:avLst/>
          </a:prstGeom>
          <a:solidFill>
            <a:srgbClr val="00A86A">
              <a:alpha val="22000"/>
            </a:srgbClr>
          </a:solidFill>
          <a:ln/>
        </p:spPr>
      </p:sp>
      <p:pic>
        <p:nvPicPr>
          <p:cNvPr id="62" name="Image 3" descr="preencoded.png"/>
          <p:cNvPicPr>
            <a:picLocks noChangeAspect="1"/>
          </p:cNvPicPr>
          <p:nvPr/>
        </p:nvPicPr>
        <p:blipFill>
          <a:blip r:embed="rId6"/>
          <a:stretch>
            <a:fillRect/>
          </a:stretch>
        </p:blipFill>
        <p:spPr>
          <a:xfrm>
            <a:off x="637154" y="4340474"/>
            <a:ext cx="152156" cy="152156"/>
          </a:xfrm>
          <a:prstGeom prst="rect">
            <a:avLst/>
          </a:prstGeom>
        </p:spPr>
      </p:pic>
      <p:sp>
        <p:nvSpPr>
          <p:cNvPr id="63" name="Text 56"/>
          <p:cNvSpPr txBox="1"/>
          <p:nvPr/>
        </p:nvSpPr>
        <p:spPr>
          <a:xfrm>
            <a:off x="960120" y="4224528"/>
            <a:ext cx="7589520" cy="384048"/>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KEY POINT   </a:t>
            </a:r>
            <a:r>
              <a:rPr lang="en-US" sz="1000" dirty="0">
                <a:solidFill>
                  <a:srgbClr val="231F20"/>
                </a:solidFill>
                <a:latin typeface="Calibri" pitchFamily="34" charset="0"/>
                <a:ea typeface="Calibri" pitchFamily="34" charset="-122"/>
                <a:cs typeface="Calibri" pitchFamily="34" charset="-120"/>
              </a:rPr>
              <a:t>Most offices should start at Starter, move to Standard after a use case passes its gate, and rent or share Advanced capacity.</a:t>
            </a:r>
            <a:endParaRPr lang="en-US" sz="1000" dirty="0"/>
          </a:p>
        </p:txBody>
      </p:sp>
      <p:sp>
        <p:nvSpPr>
          <p:cNvPr id="64" name="Text 57"/>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Indicative 2026 hardware prices only, excluding facility works, software, staff, import duties and currency effects. Obtain current quotes.</a:t>
            </a:r>
            <a:endParaRPr lang="en-US" sz="8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AI HARDWARE · PROCUREMENT</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Buying AI hardware: a procurement checklist</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What to write into the tender — and the traps to avoid</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8" name="Shape 15"/>
          <p:cNvSpPr/>
          <p:nvPr/>
        </p:nvSpPr>
        <p:spPr>
          <a:xfrm>
            <a:off x="457200" y="1325880"/>
            <a:ext cx="4023360" cy="2651760"/>
          </a:xfrm>
          <a:prstGeom prst="roundRect">
            <a:avLst>
              <a:gd name="adj" fmla="val 2759"/>
            </a:avLst>
          </a:prstGeom>
          <a:solidFill>
            <a:srgbClr val="E8F5EF"/>
          </a:solidFill>
          <a:ln w="9525">
            <a:solidFill>
              <a:srgbClr val="00704A"/>
            </a:solidFill>
            <a:prstDash val="solid"/>
          </a:ln>
        </p:spPr>
      </p:sp>
      <p:sp>
        <p:nvSpPr>
          <p:cNvPr id="19" name="Shape 16"/>
          <p:cNvSpPr/>
          <p:nvPr/>
        </p:nvSpPr>
        <p:spPr>
          <a:xfrm>
            <a:off x="566928" y="1417320"/>
            <a:ext cx="365760" cy="365760"/>
          </a:xfrm>
          <a:prstGeom prst="ellipse">
            <a:avLst/>
          </a:prstGeom>
          <a:solidFill>
            <a:srgbClr val="00704A"/>
          </a:solidFill>
          <a:ln/>
        </p:spPr>
      </p:sp>
      <p:pic>
        <p:nvPicPr>
          <p:cNvPr id="20" name="Image 0" descr="preencoded.png"/>
          <p:cNvPicPr>
            <a:picLocks noChangeAspect="1"/>
          </p:cNvPicPr>
          <p:nvPr/>
        </p:nvPicPr>
        <p:blipFill>
          <a:blip r:embed="rId3"/>
          <a:stretch>
            <a:fillRect/>
          </a:stretch>
        </p:blipFill>
        <p:spPr>
          <a:xfrm>
            <a:off x="654710" y="1505102"/>
            <a:ext cx="190195" cy="190195"/>
          </a:xfrm>
          <a:prstGeom prst="rect">
            <a:avLst/>
          </a:prstGeom>
        </p:spPr>
      </p:pic>
      <p:sp>
        <p:nvSpPr>
          <p:cNvPr id="21" name="Text 17"/>
          <p:cNvSpPr txBox="1"/>
          <p:nvPr/>
        </p:nvSpPr>
        <p:spPr>
          <a:xfrm>
            <a:off x="1024128" y="1417320"/>
            <a:ext cx="3291840" cy="365760"/>
          </a:xfrm>
          <a:prstGeom prst="rect">
            <a:avLst/>
          </a:prstGeom>
          <a:noFill/>
          <a:ln/>
        </p:spPr>
        <p:txBody>
          <a:bodyPr wrap="square" lIns="0" tIns="0" rIns="0" bIns="0" rtlCol="0" anchor="ctr"/>
          <a:lstStyle/>
          <a:p>
            <a:pPr marL="0" indent="0">
              <a:buNone/>
            </a:pPr>
            <a:r>
              <a:rPr lang="en-US" sz="1050" b="1" kern="0" spc="100" dirty="0">
                <a:solidFill>
                  <a:srgbClr val="00704A"/>
                </a:solidFill>
                <a:latin typeface="Calibri" pitchFamily="34" charset="0"/>
                <a:ea typeface="Calibri" pitchFamily="34" charset="-122"/>
                <a:cs typeface="Calibri" pitchFamily="34" charset="-120"/>
              </a:rPr>
              <a:t>SPECIFY IN THE TENDER</a:t>
            </a:r>
            <a:endParaRPr lang="en-US" sz="1050" dirty="0"/>
          </a:p>
        </p:txBody>
      </p:sp>
      <p:pic>
        <p:nvPicPr>
          <p:cNvPr id="22" name="Image 1" descr="preencoded.png"/>
          <p:cNvPicPr>
            <a:picLocks noChangeAspect="1"/>
          </p:cNvPicPr>
          <p:nvPr/>
        </p:nvPicPr>
        <p:blipFill>
          <a:blip r:embed="rId4"/>
          <a:stretch>
            <a:fillRect/>
          </a:stretch>
        </p:blipFill>
        <p:spPr>
          <a:xfrm>
            <a:off x="621792" y="1929384"/>
            <a:ext cx="137160" cy="137160"/>
          </a:xfrm>
          <a:prstGeom prst="rect">
            <a:avLst/>
          </a:prstGeom>
        </p:spPr>
      </p:pic>
      <p:sp>
        <p:nvSpPr>
          <p:cNvPr id="23" name="Text 18"/>
          <p:cNvSpPr txBox="1"/>
          <p:nvPr/>
        </p:nvSpPr>
        <p:spPr>
          <a:xfrm>
            <a:off x="832104" y="1901952"/>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GPU memory per card and in total, sized to your target models</a:t>
            </a:r>
            <a:endParaRPr lang="en-US" sz="900" dirty="0"/>
          </a:p>
        </p:txBody>
      </p:sp>
      <p:pic>
        <p:nvPicPr>
          <p:cNvPr id="24" name="Image 2" descr="preencoded.png"/>
          <p:cNvPicPr>
            <a:picLocks noChangeAspect="1"/>
          </p:cNvPicPr>
          <p:nvPr/>
        </p:nvPicPr>
        <p:blipFill>
          <a:blip r:embed="rId4"/>
          <a:stretch>
            <a:fillRect/>
          </a:stretch>
        </p:blipFill>
        <p:spPr>
          <a:xfrm>
            <a:off x="621792" y="2212848"/>
            <a:ext cx="137160" cy="137160"/>
          </a:xfrm>
          <a:prstGeom prst="rect">
            <a:avLst/>
          </a:prstGeom>
        </p:spPr>
      </p:pic>
      <p:sp>
        <p:nvSpPr>
          <p:cNvPr id="25" name="Text 19"/>
          <p:cNvSpPr txBox="1"/>
          <p:nvPr/>
        </p:nvSpPr>
        <p:spPr>
          <a:xfrm>
            <a:off x="832104" y="2185416"/>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Support for the software your team uses (e.g. CUDA, ROCm)</a:t>
            </a:r>
            <a:endParaRPr lang="en-US" sz="900" dirty="0"/>
          </a:p>
        </p:txBody>
      </p:sp>
      <p:pic>
        <p:nvPicPr>
          <p:cNvPr id="26" name="Image 3" descr="preencoded.png"/>
          <p:cNvPicPr>
            <a:picLocks noChangeAspect="1"/>
          </p:cNvPicPr>
          <p:nvPr/>
        </p:nvPicPr>
        <p:blipFill>
          <a:blip r:embed="rId4"/>
          <a:stretch>
            <a:fillRect/>
          </a:stretch>
        </p:blipFill>
        <p:spPr>
          <a:xfrm>
            <a:off x="621792" y="2496312"/>
            <a:ext cx="137160" cy="137160"/>
          </a:xfrm>
          <a:prstGeom prst="rect">
            <a:avLst/>
          </a:prstGeom>
        </p:spPr>
      </p:pic>
      <p:sp>
        <p:nvSpPr>
          <p:cNvPr id="27" name="Text 20"/>
          <p:cNvSpPr txBox="1"/>
          <p:nvPr/>
        </p:nvSpPr>
        <p:spPr>
          <a:xfrm>
            <a:off x="832104" y="2468880"/>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Power draw per server and cooling type (air or liquid)</a:t>
            </a:r>
            <a:endParaRPr lang="en-US" sz="900" dirty="0"/>
          </a:p>
        </p:txBody>
      </p:sp>
      <p:pic>
        <p:nvPicPr>
          <p:cNvPr id="28" name="Image 4" descr="preencoded.png"/>
          <p:cNvPicPr>
            <a:picLocks noChangeAspect="1"/>
          </p:cNvPicPr>
          <p:nvPr/>
        </p:nvPicPr>
        <p:blipFill>
          <a:blip r:embed="rId4"/>
          <a:stretch>
            <a:fillRect/>
          </a:stretch>
        </p:blipFill>
        <p:spPr>
          <a:xfrm>
            <a:off x="621792" y="2779776"/>
            <a:ext cx="137160" cy="137160"/>
          </a:xfrm>
          <a:prstGeom prst="rect">
            <a:avLst/>
          </a:prstGeom>
        </p:spPr>
      </p:pic>
      <p:sp>
        <p:nvSpPr>
          <p:cNvPr id="29" name="Text 21"/>
          <p:cNvSpPr txBox="1"/>
          <p:nvPr/>
        </p:nvSpPr>
        <p:spPr>
          <a:xfrm>
            <a:off x="832104" y="2752344"/>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In-country warranty, on-site support and spare-part lead times</a:t>
            </a:r>
            <a:endParaRPr lang="en-US" sz="900" dirty="0"/>
          </a:p>
        </p:txBody>
      </p:sp>
      <p:pic>
        <p:nvPicPr>
          <p:cNvPr id="30" name="Image 5" descr="preencoded.png"/>
          <p:cNvPicPr>
            <a:picLocks noChangeAspect="1"/>
          </p:cNvPicPr>
          <p:nvPr/>
        </p:nvPicPr>
        <p:blipFill>
          <a:blip r:embed="rId4"/>
          <a:stretch>
            <a:fillRect/>
          </a:stretch>
        </p:blipFill>
        <p:spPr>
          <a:xfrm>
            <a:off x="621792" y="3063240"/>
            <a:ext cx="137160" cy="137160"/>
          </a:xfrm>
          <a:prstGeom prst="rect">
            <a:avLst/>
          </a:prstGeom>
        </p:spPr>
      </p:pic>
      <p:sp>
        <p:nvSpPr>
          <p:cNvPr id="31" name="Text 22"/>
          <p:cNvSpPr txBox="1"/>
          <p:nvPr/>
        </p:nvSpPr>
        <p:spPr>
          <a:xfrm>
            <a:off x="832104" y="3035808"/>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Error-correcting (ECC) memory and remote management</a:t>
            </a:r>
            <a:endParaRPr lang="en-US" sz="900" dirty="0"/>
          </a:p>
        </p:txBody>
      </p:sp>
      <p:pic>
        <p:nvPicPr>
          <p:cNvPr id="32" name="Image 6" descr="preencoded.png"/>
          <p:cNvPicPr>
            <a:picLocks noChangeAspect="1"/>
          </p:cNvPicPr>
          <p:nvPr/>
        </p:nvPicPr>
        <p:blipFill>
          <a:blip r:embed="rId4"/>
          <a:stretch>
            <a:fillRect/>
          </a:stretch>
        </p:blipFill>
        <p:spPr>
          <a:xfrm>
            <a:off x="621792" y="3346704"/>
            <a:ext cx="137160" cy="137160"/>
          </a:xfrm>
          <a:prstGeom prst="rect">
            <a:avLst/>
          </a:prstGeom>
        </p:spPr>
      </p:pic>
      <p:sp>
        <p:nvSpPr>
          <p:cNvPr id="33" name="Text 23"/>
          <p:cNvSpPr txBox="1"/>
          <p:nvPr/>
        </p:nvSpPr>
        <p:spPr>
          <a:xfrm>
            <a:off x="832104" y="3319272"/>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Security firmware updates for at least five years</a:t>
            </a:r>
            <a:endParaRPr lang="en-US" sz="900" dirty="0"/>
          </a:p>
        </p:txBody>
      </p:sp>
      <p:pic>
        <p:nvPicPr>
          <p:cNvPr id="34" name="Image 7" descr="preencoded.png"/>
          <p:cNvPicPr>
            <a:picLocks noChangeAspect="1"/>
          </p:cNvPicPr>
          <p:nvPr/>
        </p:nvPicPr>
        <p:blipFill>
          <a:blip r:embed="rId4"/>
          <a:stretch>
            <a:fillRect/>
          </a:stretch>
        </p:blipFill>
        <p:spPr>
          <a:xfrm>
            <a:off x="621792" y="3630168"/>
            <a:ext cx="137160" cy="137160"/>
          </a:xfrm>
          <a:prstGeom prst="rect">
            <a:avLst/>
          </a:prstGeom>
        </p:spPr>
      </p:pic>
      <p:sp>
        <p:nvSpPr>
          <p:cNvPr id="35" name="Text 24"/>
          <p:cNvSpPr txBox="1"/>
          <p:nvPr/>
        </p:nvSpPr>
        <p:spPr>
          <a:xfrm>
            <a:off x="832104" y="3602736"/>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Confirmed export licensing and delivery conditions</a:t>
            </a:r>
            <a:endParaRPr lang="en-US" sz="900" dirty="0"/>
          </a:p>
        </p:txBody>
      </p:sp>
      <p:sp>
        <p:nvSpPr>
          <p:cNvPr id="36" name="Shape 25"/>
          <p:cNvSpPr/>
          <p:nvPr/>
        </p:nvSpPr>
        <p:spPr>
          <a:xfrm>
            <a:off x="4663440" y="1325880"/>
            <a:ext cx="4023360" cy="2651760"/>
          </a:xfrm>
          <a:prstGeom prst="roundRect">
            <a:avLst>
              <a:gd name="adj" fmla="val 2759"/>
            </a:avLst>
          </a:prstGeom>
          <a:solidFill>
            <a:srgbClr val="FBF0EE"/>
          </a:solidFill>
          <a:ln w="9525">
            <a:solidFill>
              <a:srgbClr val="B83B2E"/>
            </a:solidFill>
            <a:prstDash val="solid"/>
          </a:ln>
        </p:spPr>
      </p:sp>
      <p:sp>
        <p:nvSpPr>
          <p:cNvPr id="37" name="Shape 26"/>
          <p:cNvSpPr/>
          <p:nvPr/>
        </p:nvSpPr>
        <p:spPr>
          <a:xfrm>
            <a:off x="4773168" y="1417320"/>
            <a:ext cx="365760" cy="365760"/>
          </a:xfrm>
          <a:prstGeom prst="ellipse">
            <a:avLst/>
          </a:prstGeom>
          <a:solidFill>
            <a:srgbClr val="B83B2E"/>
          </a:solidFill>
          <a:ln/>
        </p:spPr>
      </p:sp>
      <p:pic>
        <p:nvPicPr>
          <p:cNvPr id="38" name="Image 8" descr="preencoded.png"/>
          <p:cNvPicPr>
            <a:picLocks noChangeAspect="1"/>
          </p:cNvPicPr>
          <p:nvPr/>
        </p:nvPicPr>
        <p:blipFill>
          <a:blip r:embed="rId5"/>
          <a:stretch>
            <a:fillRect/>
          </a:stretch>
        </p:blipFill>
        <p:spPr>
          <a:xfrm>
            <a:off x="4860950" y="1505102"/>
            <a:ext cx="190195" cy="190195"/>
          </a:xfrm>
          <a:prstGeom prst="rect">
            <a:avLst/>
          </a:prstGeom>
        </p:spPr>
      </p:pic>
      <p:sp>
        <p:nvSpPr>
          <p:cNvPr id="39" name="Text 27"/>
          <p:cNvSpPr txBox="1"/>
          <p:nvPr/>
        </p:nvSpPr>
        <p:spPr>
          <a:xfrm>
            <a:off x="5230368" y="1417320"/>
            <a:ext cx="3291840" cy="365760"/>
          </a:xfrm>
          <a:prstGeom prst="rect">
            <a:avLst/>
          </a:prstGeom>
          <a:noFill/>
          <a:ln/>
        </p:spPr>
        <p:txBody>
          <a:bodyPr wrap="square" lIns="0" tIns="0" rIns="0" bIns="0" rtlCol="0" anchor="ctr"/>
          <a:lstStyle/>
          <a:p>
            <a:pPr marL="0" indent="0">
              <a:buNone/>
            </a:pPr>
            <a:r>
              <a:rPr lang="en-US" sz="1050" b="1" kern="0" spc="100" dirty="0">
                <a:solidFill>
                  <a:srgbClr val="B83B2E"/>
                </a:solidFill>
                <a:latin typeface="Calibri" pitchFamily="34" charset="0"/>
                <a:ea typeface="Calibri" pitchFamily="34" charset="-122"/>
                <a:cs typeface="Calibri" pitchFamily="34" charset="-120"/>
              </a:rPr>
              <a:t>AVOID</a:t>
            </a:r>
            <a:endParaRPr lang="en-US" sz="1050" dirty="0"/>
          </a:p>
        </p:txBody>
      </p:sp>
      <p:pic>
        <p:nvPicPr>
          <p:cNvPr id="40" name="Image 9" descr="preencoded.png"/>
          <p:cNvPicPr>
            <a:picLocks noChangeAspect="1"/>
          </p:cNvPicPr>
          <p:nvPr/>
        </p:nvPicPr>
        <p:blipFill>
          <a:blip r:embed="rId6"/>
          <a:stretch>
            <a:fillRect/>
          </a:stretch>
        </p:blipFill>
        <p:spPr>
          <a:xfrm>
            <a:off x="4828032" y="1929384"/>
            <a:ext cx="137160" cy="137160"/>
          </a:xfrm>
          <a:prstGeom prst="rect">
            <a:avLst/>
          </a:prstGeom>
        </p:spPr>
      </p:pic>
      <p:sp>
        <p:nvSpPr>
          <p:cNvPr id="41" name="Text 28"/>
          <p:cNvSpPr txBox="1"/>
          <p:nvPr/>
        </p:nvSpPr>
        <p:spPr>
          <a:xfrm>
            <a:off x="5038344" y="1901952"/>
            <a:ext cx="3538728" cy="30175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Buying the newest flagship "to be future-proof"</a:t>
            </a:r>
            <a:endParaRPr lang="en-US" sz="900" dirty="0"/>
          </a:p>
        </p:txBody>
      </p:sp>
      <p:pic>
        <p:nvPicPr>
          <p:cNvPr id="42" name="Image 10" descr="preencoded.png"/>
          <p:cNvPicPr>
            <a:picLocks noChangeAspect="1"/>
          </p:cNvPicPr>
          <p:nvPr/>
        </p:nvPicPr>
        <p:blipFill>
          <a:blip r:embed="rId6"/>
          <a:stretch>
            <a:fillRect/>
          </a:stretch>
        </p:blipFill>
        <p:spPr>
          <a:xfrm>
            <a:off x="4828032" y="2231136"/>
            <a:ext cx="137160" cy="137160"/>
          </a:xfrm>
          <a:prstGeom prst="rect">
            <a:avLst/>
          </a:prstGeom>
        </p:spPr>
      </p:pic>
      <p:sp>
        <p:nvSpPr>
          <p:cNvPr id="43" name="Text 29"/>
          <p:cNvSpPr txBox="1"/>
          <p:nvPr/>
        </p:nvSpPr>
        <p:spPr>
          <a:xfrm>
            <a:off x="5038344" y="2203704"/>
            <a:ext cx="3538728" cy="30175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Consumer gaming cards in production servers</a:t>
            </a:r>
            <a:endParaRPr lang="en-US" sz="900" dirty="0"/>
          </a:p>
        </p:txBody>
      </p:sp>
      <p:pic>
        <p:nvPicPr>
          <p:cNvPr id="44" name="Image 11" descr="preencoded.png"/>
          <p:cNvPicPr>
            <a:picLocks noChangeAspect="1"/>
          </p:cNvPicPr>
          <p:nvPr/>
        </p:nvPicPr>
        <p:blipFill>
          <a:blip r:embed="rId6"/>
          <a:stretch>
            <a:fillRect/>
          </a:stretch>
        </p:blipFill>
        <p:spPr>
          <a:xfrm>
            <a:off x="4828032" y="2532888"/>
            <a:ext cx="137160" cy="137160"/>
          </a:xfrm>
          <a:prstGeom prst="rect">
            <a:avLst/>
          </a:prstGeom>
        </p:spPr>
      </p:pic>
      <p:sp>
        <p:nvSpPr>
          <p:cNvPr id="45" name="Text 30"/>
          <p:cNvSpPr txBox="1"/>
          <p:nvPr/>
        </p:nvSpPr>
        <p:spPr>
          <a:xfrm>
            <a:off x="5038344" y="2505456"/>
            <a:ext cx="3538728" cy="30175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Grey-market or unwarranted refurbished units</a:t>
            </a:r>
            <a:endParaRPr lang="en-US" sz="900" dirty="0"/>
          </a:p>
        </p:txBody>
      </p:sp>
      <p:pic>
        <p:nvPicPr>
          <p:cNvPr id="46" name="Image 12" descr="preencoded.png"/>
          <p:cNvPicPr>
            <a:picLocks noChangeAspect="1"/>
          </p:cNvPicPr>
          <p:nvPr/>
        </p:nvPicPr>
        <p:blipFill>
          <a:blip r:embed="rId6"/>
          <a:stretch>
            <a:fillRect/>
          </a:stretch>
        </p:blipFill>
        <p:spPr>
          <a:xfrm>
            <a:off x="4828032" y="2834640"/>
            <a:ext cx="137160" cy="137160"/>
          </a:xfrm>
          <a:prstGeom prst="rect">
            <a:avLst/>
          </a:prstGeom>
        </p:spPr>
      </p:pic>
      <p:sp>
        <p:nvSpPr>
          <p:cNvPr id="47" name="Text 31"/>
          <p:cNvSpPr txBox="1"/>
          <p:nvPr/>
        </p:nvSpPr>
        <p:spPr>
          <a:xfrm>
            <a:off x="5038344" y="2807208"/>
            <a:ext cx="3538728" cy="30175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Specifying hardware before the power audit</a:t>
            </a:r>
            <a:endParaRPr lang="en-US" sz="900" dirty="0"/>
          </a:p>
        </p:txBody>
      </p:sp>
      <p:pic>
        <p:nvPicPr>
          <p:cNvPr id="48" name="Image 13" descr="preencoded.png"/>
          <p:cNvPicPr>
            <a:picLocks noChangeAspect="1"/>
          </p:cNvPicPr>
          <p:nvPr/>
        </p:nvPicPr>
        <p:blipFill>
          <a:blip r:embed="rId6"/>
          <a:stretch>
            <a:fillRect/>
          </a:stretch>
        </p:blipFill>
        <p:spPr>
          <a:xfrm>
            <a:off x="4828032" y="3136392"/>
            <a:ext cx="137160" cy="137160"/>
          </a:xfrm>
          <a:prstGeom prst="rect">
            <a:avLst/>
          </a:prstGeom>
        </p:spPr>
      </p:pic>
      <p:sp>
        <p:nvSpPr>
          <p:cNvPr id="49" name="Text 32"/>
          <p:cNvSpPr txBox="1"/>
          <p:nvPr/>
        </p:nvSpPr>
        <p:spPr>
          <a:xfrm>
            <a:off x="5038344" y="3108960"/>
            <a:ext cx="3538728" cy="30175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Proprietary software that locks you to one vendor</a:t>
            </a:r>
            <a:endParaRPr lang="en-US" sz="900" dirty="0"/>
          </a:p>
        </p:txBody>
      </p:sp>
      <p:pic>
        <p:nvPicPr>
          <p:cNvPr id="50" name="Image 14" descr="preencoded.png"/>
          <p:cNvPicPr>
            <a:picLocks noChangeAspect="1"/>
          </p:cNvPicPr>
          <p:nvPr/>
        </p:nvPicPr>
        <p:blipFill>
          <a:blip r:embed="rId6"/>
          <a:stretch>
            <a:fillRect/>
          </a:stretch>
        </p:blipFill>
        <p:spPr>
          <a:xfrm>
            <a:off x="4828032" y="3438144"/>
            <a:ext cx="137160" cy="137160"/>
          </a:xfrm>
          <a:prstGeom prst="rect">
            <a:avLst/>
          </a:prstGeom>
        </p:spPr>
      </p:pic>
      <p:sp>
        <p:nvSpPr>
          <p:cNvPr id="51" name="Text 33"/>
          <p:cNvSpPr txBox="1"/>
          <p:nvPr/>
        </p:nvSpPr>
        <p:spPr>
          <a:xfrm>
            <a:off x="5038344" y="3410712"/>
            <a:ext cx="3538728" cy="30175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No budget for refresh, disposal and e-waste</a:t>
            </a:r>
            <a:endParaRPr lang="en-US" sz="900" dirty="0"/>
          </a:p>
        </p:txBody>
      </p:sp>
      <p:sp>
        <p:nvSpPr>
          <p:cNvPr id="52" name="Shape 34"/>
          <p:cNvSpPr/>
          <p:nvPr/>
        </p:nvSpPr>
        <p:spPr>
          <a:xfrm>
            <a:off x="457200" y="4114800"/>
            <a:ext cx="8229600" cy="475488"/>
          </a:xfrm>
          <a:prstGeom prst="roundRect">
            <a:avLst>
              <a:gd name="adj" fmla="val 11538"/>
            </a:avLst>
          </a:prstGeom>
          <a:solidFill>
            <a:srgbClr val="E8F5EF"/>
          </a:solidFill>
          <a:ln w="15875">
            <a:solidFill>
              <a:srgbClr val="00A86A"/>
            </a:solidFill>
            <a:prstDash val="solid"/>
          </a:ln>
        </p:spPr>
      </p:sp>
      <p:sp>
        <p:nvSpPr>
          <p:cNvPr id="53" name="Shape 35"/>
          <p:cNvSpPr/>
          <p:nvPr/>
        </p:nvSpPr>
        <p:spPr>
          <a:xfrm>
            <a:off x="566928" y="4206240"/>
            <a:ext cx="292608" cy="292608"/>
          </a:xfrm>
          <a:prstGeom prst="ellipse">
            <a:avLst/>
          </a:prstGeom>
          <a:solidFill>
            <a:srgbClr val="00A86A">
              <a:alpha val="22000"/>
            </a:srgbClr>
          </a:solidFill>
          <a:ln/>
        </p:spPr>
      </p:sp>
      <p:pic>
        <p:nvPicPr>
          <p:cNvPr id="54" name="Image 15" descr="preencoded.png"/>
          <p:cNvPicPr>
            <a:picLocks noChangeAspect="1"/>
          </p:cNvPicPr>
          <p:nvPr/>
        </p:nvPicPr>
        <p:blipFill>
          <a:blip r:embed="rId7"/>
          <a:stretch>
            <a:fillRect/>
          </a:stretch>
        </p:blipFill>
        <p:spPr>
          <a:xfrm>
            <a:off x="637154" y="4276466"/>
            <a:ext cx="152156" cy="152156"/>
          </a:xfrm>
          <a:prstGeom prst="rect">
            <a:avLst/>
          </a:prstGeom>
        </p:spPr>
      </p:pic>
      <p:sp>
        <p:nvSpPr>
          <p:cNvPr id="55" name="Text 36"/>
          <p:cNvSpPr txBox="1"/>
          <p:nvPr/>
        </p:nvSpPr>
        <p:spPr>
          <a:xfrm>
            <a:off x="960120" y="4114800"/>
            <a:ext cx="7589520" cy="475488"/>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GOLDEN RULE   </a:t>
            </a:r>
            <a:r>
              <a:rPr lang="en-US" sz="1000" dirty="0">
                <a:solidFill>
                  <a:srgbClr val="231F20"/>
                </a:solidFill>
                <a:latin typeface="Calibri" pitchFamily="34" charset="0"/>
                <a:ea typeface="Calibri" pitchFamily="34" charset="-122"/>
                <a:cs typeface="Calibri" pitchFamily="34" charset="-120"/>
              </a:rPr>
              <a:t>Rent before you buy: run the pilot on rented or shared GPUs for 3–6 months, measure real utilisation, then decide.</a:t>
            </a:r>
            <a:endParaRPr lang="en-US" sz="10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LAYER 1 · INFRASTRUCTURE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The quiet bottlenecks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Rarely in the business case — and routinely the cause of months of delay</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8" name="Shape 15"/>
          <p:cNvSpPr/>
          <p:nvPr/>
        </p:nvSpPr>
        <p:spPr>
          <a:xfrm>
            <a:off x="457200" y="1371600"/>
            <a:ext cx="2651760" cy="1531620"/>
          </a:xfrm>
          <a:prstGeom prst="roundRect">
            <a:avLst>
              <a:gd name="adj" fmla="val 4776"/>
            </a:avLst>
          </a:prstGeom>
          <a:solidFill>
            <a:srgbClr val="F4F7F5"/>
          </a:solidFill>
          <a:ln w="9525">
            <a:solidFill>
              <a:srgbClr val="D5DED9"/>
            </a:solidFill>
            <a:prstDash val="solid"/>
          </a:ln>
        </p:spPr>
      </p:sp>
      <p:sp>
        <p:nvSpPr>
          <p:cNvPr id="19" name="Shape 16"/>
          <p:cNvSpPr/>
          <p:nvPr/>
        </p:nvSpPr>
        <p:spPr>
          <a:xfrm>
            <a:off x="585216" y="1499616"/>
            <a:ext cx="384048" cy="384048"/>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77388" y="1591788"/>
            <a:ext cx="199705" cy="199705"/>
          </a:xfrm>
          <a:prstGeom prst="rect">
            <a:avLst/>
          </a:prstGeom>
        </p:spPr>
      </p:pic>
      <p:sp>
        <p:nvSpPr>
          <p:cNvPr id="21" name="Text 17"/>
          <p:cNvSpPr txBox="1"/>
          <p:nvPr/>
        </p:nvSpPr>
        <p:spPr>
          <a:xfrm>
            <a:off x="2697480" y="1481328"/>
            <a:ext cx="292608" cy="182880"/>
          </a:xfrm>
          <a:prstGeom prst="rect">
            <a:avLst/>
          </a:prstGeom>
          <a:noFill/>
          <a:ln/>
        </p:spPr>
        <p:txBody>
          <a:bodyPr wrap="square" lIns="0" tIns="0" rIns="0" bIns="0" rtlCol="0" anchor="t"/>
          <a:lstStyle/>
          <a:p>
            <a:pPr marL="0" indent="0" algn="r">
              <a:buNone/>
            </a:pPr>
            <a:r>
              <a:rPr lang="en-US" sz="900" b="1" dirty="0">
                <a:solidFill>
                  <a:srgbClr val="00A86A"/>
                </a:solidFill>
                <a:latin typeface="Calibri" pitchFamily="34" charset="0"/>
                <a:ea typeface="Calibri" pitchFamily="34" charset="-122"/>
                <a:cs typeface="Calibri" pitchFamily="34" charset="-120"/>
              </a:rPr>
              <a:t>01</a:t>
            </a:r>
            <a:endParaRPr lang="en-US" sz="900" dirty="0"/>
          </a:p>
        </p:txBody>
      </p:sp>
      <p:sp>
        <p:nvSpPr>
          <p:cNvPr id="22" name="Text 18"/>
          <p:cNvSpPr txBox="1"/>
          <p:nvPr/>
        </p:nvSpPr>
        <p:spPr>
          <a:xfrm>
            <a:off x="1078992" y="1499616"/>
            <a:ext cx="1645920" cy="38404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Storage tiering</a:t>
            </a:r>
            <a:endParaRPr lang="en-US" sz="1250" dirty="0"/>
          </a:p>
        </p:txBody>
      </p:sp>
      <p:sp>
        <p:nvSpPr>
          <p:cNvPr id="23" name="Text 19"/>
          <p:cNvSpPr txBox="1"/>
          <p:nvPr/>
        </p:nvSpPr>
        <p:spPr>
          <a:xfrm>
            <a:off x="585216" y="1938528"/>
            <a:ext cx="2395728" cy="909828"/>
          </a:xfrm>
          <a:prstGeom prst="rect">
            <a:avLst/>
          </a:prstGeom>
          <a:noFill/>
          <a:ln/>
        </p:spPr>
        <p:txBody>
          <a:bodyPr wrap="square" lIns="0" tIns="0" rIns="0" bIns="0" rtlCol="0" anchor="t"/>
          <a:lstStyle/>
          <a:p>
            <a:pPr marL="0" indent="0">
              <a:lnSpc>
                <a:spcPct val="105000"/>
              </a:lnSpc>
              <a:buNone/>
            </a:pPr>
            <a:r>
              <a:rPr lang="en-US" sz="1050" dirty="0">
                <a:solidFill>
                  <a:srgbClr val="5E6964"/>
                </a:solidFill>
                <a:latin typeface="Calibri" pitchFamily="34" charset="0"/>
                <a:ea typeface="Calibri" pitchFamily="34" charset="-122"/>
                <a:cs typeface="Calibri" pitchFamily="34" charset="-120"/>
              </a:rPr>
              <a:t>Fast NVMe for active data, cheaper object storage for archives. Plan for 3–5× the raw data size in checkpoints and intermediate files.</a:t>
            </a:r>
            <a:endParaRPr lang="en-US" sz="1050" dirty="0"/>
          </a:p>
        </p:txBody>
      </p:sp>
      <p:sp>
        <p:nvSpPr>
          <p:cNvPr id="24" name="Shape 20"/>
          <p:cNvSpPr/>
          <p:nvPr/>
        </p:nvSpPr>
        <p:spPr>
          <a:xfrm>
            <a:off x="3246120" y="1371600"/>
            <a:ext cx="2651760" cy="1531620"/>
          </a:xfrm>
          <a:prstGeom prst="roundRect">
            <a:avLst>
              <a:gd name="adj" fmla="val 4776"/>
            </a:avLst>
          </a:prstGeom>
          <a:solidFill>
            <a:srgbClr val="F4F7F5"/>
          </a:solidFill>
          <a:ln w="9525">
            <a:solidFill>
              <a:srgbClr val="D5DED9"/>
            </a:solidFill>
            <a:prstDash val="solid"/>
          </a:ln>
        </p:spPr>
      </p:sp>
      <p:sp>
        <p:nvSpPr>
          <p:cNvPr id="25" name="Shape 21"/>
          <p:cNvSpPr/>
          <p:nvPr/>
        </p:nvSpPr>
        <p:spPr>
          <a:xfrm>
            <a:off x="3374136" y="1499616"/>
            <a:ext cx="384048" cy="384048"/>
          </a:xfrm>
          <a:prstGeom prst="ellipse">
            <a:avLst/>
          </a:prstGeom>
          <a:solidFill>
            <a:srgbClr val="00A86A">
              <a:alpha val="22000"/>
            </a:srgbClr>
          </a:solidFill>
          <a:ln/>
        </p:spPr>
      </p:sp>
      <p:pic>
        <p:nvPicPr>
          <p:cNvPr id="26" name="Image 1" descr="preencoded.png"/>
          <p:cNvPicPr>
            <a:picLocks noChangeAspect="1"/>
          </p:cNvPicPr>
          <p:nvPr/>
        </p:nvPicPr>
        <p:blipFill>
          <a:blip r:embed="rId4"/>
          <a:stretch>
            <a:fillRect/>
          </a:stretch>
        </p:blipFill>
        <p:spPr>
          <a:xfrm>
            <a:off x="3466308" y="1591788"/>
            <a:ext cx="199705" cy="199705"/>
          </a:xfrm>
          <a:prstGeom prst="rect">
            <a:avLst/>
          </a:prstGeom>
        </p:spPr>
      </p:pic>
      <p:sp>
        <p:nvSpPr>
          <p:cNvPr id="27" name="Text 22"/>
          <p:cNvSpPr txBox="1"/>
          <p:nvPr/>
        </p:nvSpPr>
        <p:spPr>
          <a:xfrm>
            <a:off x="5486400" y="1481328"/>
            <a:ext cx="292608" cy="182880"/>
          </a:xfrm>
          <a:prstGeom prst="rect">
            <a:avLst/>
          </a:prstGeom>
          <a:noFill/>
          <a:ln/>
        </p:spPr>
        <p:txBody>
          <a:bodyPr wrap="square" lIns="0" tIns="0" rIns="0" bIns="0" rtlCol="0" anchor="t"/>
          <a:lstStyle/>
          <a:p>
            <a:pPr marL="0" indent="0" algn="r">
              <a:buNone/>
            </a:pPr>
            <a:r>
              <a:rPr lang="en-US" sz="900" b="1" dirty="0">
                <a:solidFill>
                  <a:srgbClr val="00A86A"/>
                </a:solidFill>
                <a:latin typeface="Calibri" pitchFamily="34" charset="0"/>
                <a:ea typeface="Calibri" pitchFamily="34" charset="-122"/>
                <a:cs typeface="Calibri" pitchFamily="34" charset="-120"/>
              </a:rPr>
              <a:t>02</a:t>
            </a:r>
            <a:endParaRPr lang="en-US" sz="900" dirty="0"/>
          </a:p>
        </p:txBody>
      </p:sp>
      <p:sp>
        <p:nvSpPr>
          <p:cNvPr id="28" name="Text 23"/>
          <p:cNvSpPr txBox="1"/>
          <p:nvPr/>
        </p:nvSpPr>
        <p:spPr>
          <a:xfrm>
            <a:off x="3867912" y="1499616"/>
            <a:ext cx="1645920" cy="38404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Network fabric</a:t>
            </a:r>
            <a:endParaRPr lang="en-US" sz="1250" dirty="0"/>
          </a:p>
        </p:txBody>
      </p:sp>
      <p:sp>
        <p:nvSpPr>
          <p:cNvPr id="29" name="Text 24"/>
          <p:cNvSpPr txBox="1"/>
          <p:nvPr/>
        </p:nvSpPr>
        <p:spPr>
          <a:xfrm>
            <a:off x="3374136" y="1938528"/>
            <a:ext cx="2395728" cy="909828"/>
          </a:xfrm>
          <a:prstGeom prst="rect">
            <a:avLst/>
          </a:prstGeom>
          <a:noFill/>
          <a:ln/>
        </p:spPr>
        <p:txBody>
          <a:bodyPr wrap="square" lIns="0" tIns="0" rIns="0" bIns="0" rtlCol="0" anchor="t"/>
          <a:lstStyle/>
          <a:p>
            <a:pPr marL="0" indent="0">
              <a:lnSpc>
                <a:spcPct val="105000"/>
              </a:lnSpc>
              <a:buNone/>
            </a:pPr>
            <a:r>
              <a:rPr lang="en-US" sz="1050" dirty="0">
                <a:solidFill>
                  <a:srgbClr val="5E6964"/>
                </a:solidFill>
                <a:latin typeface="Calibri" pitchFamily="34" charset="0"/>
                <a:ea typeface="Calibri" pitchFamily="34" charset="-122"/>
                <a:cs typeface="Calibri" pitchFamily="34" charset="-120"/>
              </a:rPr>
              <a:t>10 GbE is the practical floor; 25–100 GbE for multi-node training. A slow internal network turns an expensive GPU into an idle one.</a:t>
            </a:r>
            <a:endParaRPr lang="en-US" sz="1050" dirty="0"/>
          </a:p>
        </p:txBody>
      </p:sp>
      <p:sp>
        <p:nvSpPr>
          <p:cNvPr id="30" name="Shape 25"/>
          <p:cNvSpPr/>
          <p:nvPr/>
        </p:nvSpPr>
        <p:spPr>
          <a:xfrm>
            <a:off x="6035040" y="1371600"/>
            <a:ext cx="2651760" cy="1531620"/>
          </a:xfrm>
          <a:prstGeom prst="roundRect">
            <a:avLst>
              <a:gd name="adj" fmla="val 4776"/>
            </a:avLst>
          </a:prstGeom>
          <a:solidFill>
            <a:srgbClr val="E8F5EF"/>
          </a:solidFill>
          <a:ln w="15875">
            <a:solidFill>
              <a:srgbClr val="D49A00"/>
            </a:solidFill>
            <a:prstDash val="solid"/>
          </a:ln>
        </p:spPr>
      </p:sp>
      <p:sp>
        <p:nvSpPr>
          <p:cNvPr id="31" name="Shape 26"/>
          <p:cNvSpPr/>
          <p:nvPr/>
        </p:nvSpPr>
        <p:spPr>
          <a:xfrm>
            <a:off x="6163056" y="1499616"/>
            <a:ext cx="384048" cy="384048"/>
          </a:xfrm>
          <a:prstGeom prst="ellipse">
            <a:avLst/>
          </a:prstGeom>
          <a:solidFill>
            <a:srgbClr val="D49A00">
              <a:alpha val="22000"/>
            </a:srgbClr>
          </a:solidFill>
          <a:ln/>
        </p:spPr>
      </p:sp>
      <p:pic>
        <p:nvPicPr>
          <p:cNvPr id="32" name="Image 2" descr="preencoded.png"/>
          <p:cNvPicPr>
            <a:picLocks noChangeAspect="1"/>
          </p:cNvPicPr>
          <p:nvPr/>
        </p:nvPicPr>
        <p:blipFill>
          <a:blip r:embed="rId5"/>
          <a:stretch>
            <a:fillRect/>
          </a:stretch>
        </p:blipFill>
        <p:spPr>
          <a:xfrm>
            <a:off x="6255228" y="1591788"/>
            <a:ext cx="199705" cy="199705"/>
          </a:xfrm>
          <a:prstGeom prst="rect">
            <a:avLst/>
          </a:prstGeom>
        </p:spPr>
      </p:pic>
      <p:sp>
        <p:nvSpPr>
          <p:cNvPr id="33" name="Text 27"/>
          <p:cNvSpPr txBox="1"/>
          <p:nvPr/>
        </p:nvSpPr>
        <p:spPr>
          <a:xfrm>
            <a:off x="8275320" y="1481328"/>
            <a:ext cx="292608" cy="182880"/>
          </a:xfrm>
          <a:prstGeom prst="rect">
            <a:avLst/>
          </a:prstGeom>
          <a:noFill/>
          <a:ln/>
        </p:spPr>
        <p:txBody>
          <a:bodyPr wrap="square" lIns="0" tIns="0" rIns="0" bIns="0" rtlCol="0" anchor="t"/>
          <a:lstStyle/>
          <a:p>
            <a:pPr marL="0" indent="0" algn="r">
              <a:buNone/>
            </a:pPr>
            <a:r>
              <a:rPr lang="en-US" sz="900" b="1" dirty="0">
                <a:solidFill>
                  <a:srgbClr val="D49A00"/>
                </a:solidFill>
                <a:latin typeface="Calibri" pitchFamily="34" charset="0"/>
                <a:ea typeface="Calibri" pitchFamily="34" charset="-122"/>
                <a:cs typeface="Calibri" pitchFamily="34" charset="-120"/>
              </a:rPr>
              <a:t>03</a:t>
            </a:r>
            <a:endParaRPr lang="en-US" sz="900" dirty="0"/>
          </a:p>
        </p:txBody>
      </p:sp>
      <p:sp>
        <p:nvSpPr>
          <p:cNvPr id="34" name="Text 28"/>
          <p:cNvSpPr txBox="1"/>
          <p:nvPr/>
        </p:nvSpPr>
        <p:spPr>
          <a:xfrm>
            <a:off x="6656832" y="1499616"/>
            <a:ext cx="1645920" cy="38404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Power and cooling</a:t>
            </a:r>
            <a:endParaRPr lang="en-US" sz="1250" dirty="0"/>
          </a:p>
        </p:txBody>
      </p:sp>
      <p:sp>
        <p:nvSpPr>
          <p:cNvPr id="35" name="Text 29"/>
          <p:cNvSpPr txBox="1"/>
          <p:nvPr/>
        </p:nvSpPr>
        <p:spPr>
          <a:xfrm>
            <a:off x="6163056" y="1938528"/>
            <a:ext cx="2395728" cy="909828"/>
          </a:xfrm>
          <a:prstGeom prst="rect">
            <a:avLst/>
          </a:prstGeom>
          <a:noFill/>
          <a:ln/>
        </p:spPr>
        <p:txBody>
          <a:bodyPr wrap="square" lIns="0" tIns="0" rIns="0" bIns="0" rtlCol="0" anchor="t"/>
          <a:lstStyle/>
          <a:p>
            <a:pPr marL="0" indent="0">
              <a:lnSpc>
                <a:spcPct val="105000"/>
              </a:lnSpc>
              <a:buNone/>
            </a:pPr>
            <a:r>
              <a:rPr lang="en-US" sz="1050" dirty="0">
                <a:solidFill>
                  <a:srgbClr val="5E6964"/>
                </a:solidFill>
                <a:latin typeface="Calibri" pitchFamily="34" charset="0"/>
                <a:ea typeface="Calibri" pitchFamily="34" charset="-122"/>
                <a:cs typeface="Calibri" pitchFamily="34" charset="-120"/>
              </a:rPr>
              <a:t>A dense 8-GPU node can draw roughly 6–10 kW, while many server rooms are built for 3–5 kW per rack. This is a facilities budget, not IT.</a:t>
            </a:r>
            <a:endParaRPr lang="en-US" sz="1050" dirty="0"/>
          </a:p>
        </p:txBody>
      </p:sp>
      <p:sp>
        <p:nvSpPr>
          <p:cNvPr id="36" name="Shape 30"/>
          <p:cNvSpPr/>
          <p:nvPr/>
        </p:nvSpPr>
        <p:spPr>
          <a:xfrm>
            <a:off x="457200" y="3040380"/>
            <a:ext cx="2651760" cy="1531620"/>
          </a:xfrm>
          <a:prstGeom prst="roundRect">
            <a:avLst>
              <a:gd name="adj" fmla="val 4776"/>
            </a:avLst>
          </a:prstGeom>
          <a:solidFill>
            <a:srgbClr val="F4F7F5"/>
          </a:solidFill>
          <a:ln w="9525">
            <a:solidFill>
              <a:srgbClr val="D5DED9"/>
            </a:solidFill>
            <a:prstDash val="solid"/>
          </a:ln>
        </p:spPr>
      </p:sp>
      <p:sp>
        <p:nvSpPr>
          <p:cNvPr id="37" name="Shape 31"/>
          <p:cNvSpPr/>
          <p:nvPr/>
        </p:nvSpPr>
        <p:spPr>
          <a:xfrm>
            <a:off x="585216" y="3168396"/>
            <a:ext cx="384048" cy="384048"/>
          </a:xfrm>
          <a:prstGeom prst="ellipse">
            <a:avLst/>
          </a:prstGeom>
          <a:solidFill>
            <a:srgbClr val="00A86A">
              <a:alpha val="22000"/>
            </a:srgbClr>
          </a:solidFill>
          <a:ln/>
        </p:spPr>
      </p:sp>
      <p:pic>
        <p:nvPicPr>
          <p:cNvPr id="38" name="Image 3" descr="preencoded.png"/>
          <p:cNvPicPr>
            <a:picLocks noChangeAspect="1"/>
          </p:cNvPicPr>
          <p:nvPr/>
        </p:nvPicPr>
        <p:blipFill>
          <a:blip r:embed="rId6"/>
          <a:stretch>
            <a:fillRect/>
          </a:stretch>
        </p:blipFill>
        <p:spPr>
          <a:xfrm>
            <a:off x="677388" y="3260568"/>
            <a:ext cx="199705" cy="199705"/>
          </a:xfrm>
          <a:prstGeom prst="rect">
            <a:avLst/>
          </a:prstGeom>
        </p:spPr>
      </p:pic>
      <p:sp>
        <p:nvSpPr>
          <p:cNvPr id="39" name="Text 32"/>
          <p:cNvSpPr txBox="1"/>
          <p:nvPr/>
        </p:nvSpPr>
        <p:spPr>
          <a:xfrm>
            <a:off x="2697480" y="3150108"/>
            <a:ext cx="292608" cy="182880"/>
          </a:xfrm>
          <a:prstGeom prst="rect">
            <a:avLst/>
          </a:prstGeom>
          <a:noFill/>
          <a:ln/>
        </p:spPr>
        <p:txBody>
          <a:bodyPr wrap="square" lIns="0" tIns="0" rIns="0" bIns="0" rtlCol="0" anchor="t"/>
          <a:lstStyle/>
          <a:p>
            <a:pPr marL="0" indent="0" algn="r">
              <a:buNone/>
            </a:pPr>
            <a:r>
              <a:rPr lang="en-US" sz="900" b="1" dirty="0">
                <a:solidFill>
                  <a:srgbClr val="00A86A"/>
                </a:solidFill>
                <a:latin typeface="Calibri" pitchFamily="34" charset="0"/>
                <a:ea typeface="Calibri" pitchFamily="34" charset="-122"/>
                <a:cs typeface="Calibri" pitchFamily="34" charset="-120"/>
              </a:rPr>
              <a:t>04</a:t>
            </a:r>
            <a:endParaRPr lang="en-US" sz="900" dirty="0"/>
          </a:p>
        </p:txBody>
      </p:sp>
      <p:sp>
        <p:nvSpPr>
          <p:cNvPr id="40" name="Text 33"/>
          <p:cNvSpPr txBox="1"/>
          <p:nvPr/>
        </p:nvSpPr>
        <p:spPr>
          <a:xfrm>
            <a:off x="1078992" y="3168396"/>
            <a:ext cx="1645920" cy="38404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Backup and recovery</a:t>
            </a:r>
            <a:endParaRPr lang="en-US" sz="1250" dirty="0"/>
          </a:p>
        </p:txBody>
      </p:sp>
      <p:sp>
        <p:nvSpPr>
          <p:cNvPr id="41" name="Text 34"/>
          <p:cNvSpPr txBox="1"/>
          <p:nvPr/>
        </p:nvSpPr>
        <p:spPr>
          <a:xfrm>
            <a:off x="585216" y="3607308"/>
            <a:ext cx="2395728" cy="909828"/>
          </a:xfrm>
          <a:prstGeom prst="rect">
            <a:avLst/>
          </a:prstGeom>
          <a:noFill/>
          <a:ln/>
        </p:spPr>
        <p:txBody>
          <a:bodyPr wrap="square" lIns="0" tIns="0" rIns="0" bIns="0" rtlCol="0" anchor="t"/>
          <a:lstStyle/>
          <a:p>
            <a:pPr marL="0" indent="0">
              <a:lnSpc>
                <a:spcPct val="105000"/>
              </a:lnSpc>
              <a:buNone/>
            </a:pPr>
            <a:r>
              <a:rPr lang="en-US" sz="1050" dirty="0">
                <a:solidFill>
                  <a:srgbClr val="5E6964"/>
                </a:solidFill>
                <a:latin typeface="Calibri" pitchFamily="34" charset="0"/>
                <a:ea typeface="Calibri" pitchFamily="34" charset="-122"/>
                <a:cs typeface="Calibri" pitchFamily="34" charset="-120"/>
              </a:rPr>
              <a:t>Training snapshots, model weights and the model registry need tested backups. They are often outside existing disaster-recovery scope.</a:t>
            </a:r>
            <a:endParaRPr lang="en-US" sz="1050" dirty="0"/>
          </a:p>
        </p:txBody>
      </p:sp>
      <p:sp>
        <p:nvSpPr>
          <p:cNvPr id="42" name="Shape 35"/>
          <p:cNvSpPr/>
          <p:nvPr/>
        </p:nvSpPr>
        <p:spPr>
          <a:xfrm>
            <a:off x="3246120" y="3040380"/>
            <a:ext cx="2651760" cy="1531620"/>
          </a:xfrm>
          <a:prstGeom prst="roundRect">
            <a:avLst>
              <a:gd name="adj" fmla="val 4776"/>
            </a:avLst>
          </a:prstGeom>
          <a:solidFill>
            <a:srgbClr val="F4F7F5"/>
          </a:solidFill>
          <a:ln w="9525">
            <a:solidFill>
              <a:srgbClr val="D5DED9"/>
            </a:solidFill>
            <a:prstDash val="solid"/>
          </a:ln>
        </p:spPr>
      </p:sp>
      <p:sp>
        <p:nvSpPr>
          <p:cNvPr id="43" name="Shape 36"/>
          <p:cNvSpPr/>
          <p:nvPr/>
        </p:nvSpPr>
        <p:spPr>
          <a:xfrm>
            <a:off x="3374136" y="3168396"/>
            <a:ext cx="384048" cy="384048"/>
          </a:xfrm>
          <a:prstGeom prst="ellipse">
            <a:avLst/>
          </a:prstGeom>
          <a:solidFill>
            <a:srgbClr val="00A86A">
              <a:alpha val="22000"/>
            </a:srgbClr>
          </a:solidFill>
          <a:ln/>
        </p:spPr>
      </p:sp>
      <p:pic>
        <p:nvPicPr>
          <p:cNvPr id="44" name="Image 4" descr="preencoded.png"/>
          <p:cNvPicPr>
            <a:picLocks noChangeAspect="1"/>
          </p:cNvPicPr>
          <p:nvPr/>
        </p:nvPicPr>
        <p:blipFill>
          <a:blip r:embed="rId7"/>
          <a:stretch>
            <a:fillRect/>
          </a:stretch>
        </p:blipFill>
        <p:spPr>
          <a:xfrm>
            <a:off x="3466308" y="3260568"/>
            <a:ext cx="199705" cy="199705"/>
          </a:xfrm>
          <a:prstGeom prst="rect">
            <a:avLst/>
          </a:prstGeom>
        </p:spPr>
      </p:pic>
      <p:sp>
        <p:nvSpPr>
          <p:cNvPr id="45" name="Text 37"/>
          <p:cNvSpPr txBox="1"/>
          <p:nvPr/>
        </p:nvSpPr>
        <p:spPr>
          <a:xfrm>
            <a:off x="5486400" y="3150108"/>
            <a:ext cx="292608" cy="182880"/>
          </a:xfrm>
          <a:prstGeom prst="rect">
            <a:avLst/>
          </a:prstGeom>
          <a:noFill/>
          <a:ln/>
        </p:spPr>
        <p:txBody>
          <a:bodyPr wrap="square" lIns="0" tIns="0" rIns="0" bIns="0" rtlCol="0" anchor="t"/>
          <a:lstStyle/>
          <a:p>
            <a:pPr marL="0" indent="0" algn="r">
              <a:buNone/>
            </a:pPr>
            <a:r>
              <a:rPr lang="en-US" sz="900" b="1" dirty="0">
                <a:solidFill>
                  <a:srgbClr val="00A86A"/>
                </a:solidFill>
                <a:latin typeface="Calibri" pitchFamily="34" charset="0"/>
                <a:ea typeface="Calibri" pitchFamily="34" charset="-122"/>
                <a:cs typeface="Calibri" pitchFamily="34" charset="-120"/>
              </a:rPr>
              <a:t>05</a:t>
            </a:r>
            <a:endParaRPr lang="en-US" sz="900" dirty="0"/>
          </a:p>
        </p:txBody>
      </p:sp>
      <p:sp>
        <p:nvSpPr>
          <p:cNvPr id="46" name="Text 38"/>
          <p:cNvSpPr txBox="1"/>
          <p:nvPr/>
        </p:nvSpPr>
        <p:spPr>
          <a:xfrm>
            <a:off x="3867912" y="3168396"/>
            <a:ext cx="1645920" cy="38404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Data egress</a:t>
            </a:r>
            <a:endParaRPr lang="en-US" sz="1250" dirty="0"/>
          </a:p>
        </p:txBody>
      </p:sp>
      <p:sp>
        <p:nvSpPr>
          <p:cNvPr id="47" name="Text 39"/>
          <p:cNvSpPr txBox="1"/>
          <p:nvPr/>
        </p:nvSpPr>
        <p:spPr>
          <a:xfrm>
            <a:off x="3374136" y="3607308"/>
            <a:ext cx="2395728" cy="909828"/>
          </a:xfrm>
          <a:prstGeom prst="rect">
            <a:avLst/>
          </a:prstGeom>
          <a:noFill/>
          <a:ln/>
        </p:spPr>
        <p:txBody>
          <a:bodyPr wrap="square" lIns="0" tIns="0" rIns="0" bIns="0" rtlCol="0" anchor="t"/>
          <a:lstStyle/>
          <a:p>
            <a:pPr marL="0" indent="0">
              <a:lnSpc>
                <a:spcPct val="105000"/>
              </a:lnSpc>
              <a:buNone/>
            </a:pPr>
            <a:r>
              <a:rPr lang="en-US" sz="1050" dirty="0">
                <a:solidFill>
                  <a:srgbClr val="5E6964"/>
                </a:solidFill>
                <a:latin typeface="Calibri" pitchFamily="34" charset="0"/>
                <a:ea typeface="Calibri" pitchFamily="34" charset="-122"/>
                <a:cs typeface="Calibri" pitchFamily="34" charset="-120"/>
              </a:rPr>
              <a:t>In the cloud, data coming in is usually free and data going out is not. Moving microdata back and forth becomes a recurring, uncapped cost.</a:t>
            </a:r>
            <a:endParaRPr lang="en-US" sz="1050" dirty="0"/>
          </a:p>
        </p:txBody>
      </p:sp>
      <p:sp>
        <p:nvSpPr>
          <p:cNvPr id="48" name="Shape 40"/>
          <p:cNvSpPr/>
          <p:nvPr/>
        </p:nvSpPr>
        <p:spPr>
          <a:xfrm>
            <a:off x="6035040" y="3040380"/>
            <a:ext cx="2651760" cy="1531620"/>
          </a:xfrm>
          <a:prstGeom prst="roundRect">
            <a:avLst>
              <a:gd name="adj" fmla="val 4776"/>
            </a:avLst>
          </a:prstGeom>
          <a:solidFill>
            <a:srgbClr val="F4F7F5"/>
          </a:solidFill>
          <a:ln w="9525">
            <a:solidFill>
              <a:srgbClr val="D5DED9"/>
            </a:solidFill>
            <a:prstDash val="solid"/>
          </a:ln>
        </p:spPr>
      </p:sp>
      <p:sp>
        <p:nvSpPr>
          <p:cNvPr id="49" name="Shape 41"/>
          <p:cNvSpPr/>
          <p:nvPr/>
        </p:nvSpPr>
        <p:spPr>
          <a:xfrm>
            <a:off x="6163056" y="3168396"/>
            <a:ext cx="384048" cy="384048"/>
          </a:xfrm>
          <a:prstGeom prst="ellipse">
            <a:avLst/>
          </a:prstGeom>
          <a:solidFill>
            <a:srgbClr val="00A86A">
              <a:alpha val="22000"/>
            </a:srgbClr>
          </a:solidFill>
          <a:ln/>
        </p:spPr>
      </p:sp>
      <p:pic>
        <p:nvPicPr>
          <p:cNvPr id="50" name="Image 5" descr="preencoded.png"/>
          <p:cNvPicPr>
            <a:picLocks noChangeAspect="1"/>
          </p:cNvPicPr>
          <p:nvPr/>
        </p:nvPicPr>
        <p:blipFill>
          <a:blip r:embed="rId8"/>
          <a:stretch>
            <a:fillRect/>
          </a:stretch>
        </p:blipFill>
        <p:spPr>
          <a:xfrm>
            <a:off x="6255228" y="3260568"/>
            <a:ext cx="199705" cy="199705"/>
          </a:xfrm>
          <a:prstGeom prst="rect">
            <a:avLst/>
          </a:prstGeom>
        </p:spPr>
      </p:pic>
      <p:sp>
        <p:nvSpPr>
          <p:cNvPr id="51" name="Text 42"/>
          <p:cNvSpPr txBox="1"/>
          <p:nvPr/>
        </p:nvSpPr>
        <p:spPr>
          <a:xfrm>
            <a:off x="8275320" y="3150108"/>
            <a:ext cx="292608" cy="182880"/>
          </a:xfrm>
          <a:prstGeom prst="rect">
            <a:avLst/>
          </a:prstGeom>
          <a:noFill/>
          <a:ln/>
        </p:spPr>
        <p:txBody>
          <a:bodyPr wrap="square" lIns="0" tIns="0" rIns="0" bIns="0" rtlCol="0" anchor="t"/>
          <a:lstStyle/>
          <a:p>
            <a:pPr marL="0" indent="0" algn="r">
              <a:buNone/>
            </a:pPr>
            <a:r>
              <a:rPr lang="en-US" sz="900" b="1" dirty="0">
                <a:solidFill>
                  <a:srgbClr val="00A86A"/>
                </a:solidFill>
                <a:latin typeface="Calibri" pitchFamily="34" charset="0"/>
                <a:ea typeface="Calibri" pitchFamily="34" charset="-122"/>
                <a:cs typeface="Calibri" pitchFamily="34" charset="-120"/>
              </a:rPr>
              <a:t>06</a:t>
            </a:r>
            <a:endParaRPr lang="en-US" sz="900" dirty="0"/>
          </a:p>
        </p:txBody>
      </p:sp>
      <p:sp>
        <p:nvSpPr>
          <p:cNvPr id="52" name="Text 43"/>
          <p:cNvSpPr txBox="1"/>
          <p:nvPr/>
        </p:nvSpPr>
        <p:spPr>
          <a:xfrm>
            <a:off x="6656832" y="3168396"/>
            <a:ext cx="1645920" cy="38404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Identity integration</a:t>
            </a:r>
            <a:endParaRPr lang="en-US" sz="1250" dirty="0"/>
          </a:p>
        </p:txBody>
      </p:sp>
      <p:sp>
        <p:nvSpPr>
          <p:cNvPr id="53" name="Text 44"/>
          <p:cNvSpPr txBox="1"/>
          <p:nvPr/>
        </p:nvSpPr>
        <p:spPr>
          <a:xfrm>
            <a:off x="6163056" y="3607308"/>
            <a:ext cx="2395728" cy="909828"/>
          </a:xfrm>
          <a:prstGeom prst="rect">
            <a:avLst/>
          </a:prstGeom>
          <a:noFill/>
          <a:ln/>
        </p:spPr>
        <p:txBody>
          <a:bodyPr wrap="square" lIns="0" tIns="0" rIns="0" bIns="0" rtlCol="0" anchor="t"/>
          <a:lstStyle/>
          <a:p>
            <a:pPr marL="0" indent="0">
              <a:lnSpc>
                <a:spcPct val="105000"/>
              </a:lnSpc>
              <a:buNone/>
            </a:pPr>
            <a:r>
              <a:rPr lang="en-US" sz="1050" dirty="0">
                <a:solidFill>
                  <a:srgbClr val="5E6964"/>
                </a:solidFill>
                <a:latin typeface="Calibri" pitchFamily="34" charset="0"/>
                <a:ea typeface="Calibri" pitchFamily="34" charset="-122"/>
                <a:cs typeface="Calibri" pitchFamily="34" charset="-120"/>
              </a:rPr>
              <a:t>GPU servers and model gateways must use the corporate directory from day one. Retrofitting single sign-on later costs far more.</a:t>
            </a:r>
            <a:endParaRPr lang="en-US" sz="10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LAYER 1 · RESILIENCE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Designing for unreliable power and connectivity</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Practical patterns that keep AI workloads running where the grid and the internet are not guaranteed</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8" name="Shape 15"/>
          <p:cNvSpPr/>
          <p:nvPr/>
        </p:nvSpPr>
        <p:spPr>
          <a:xfrm>
            <a:off x="457200" y="1371600"/>
            <a:ext cx="2651760" cy="1257300"/>
          </a:xfrm>
          <a:prstGeom prst="roundRect">
            <a:avLst>
              <a:gd name="adj" fmla="val 5818"/>
            </a:avLst>
          </a:prstGeom>
          <a:solidFill>
            <a:srgbClr val="F4F7F5"/>
          </a:solidFill>
          <a:ln w="9525">
            <a:solidFill>
              <a:srgbClr val="D5DED9"/>
            </a:solidFill>
            <a:prstDash val="solid"/>
          </a:ln>
        </p:spPr>
      </p:sp>
      <p:sp>
        <p:nvSpPr>
          <p:cNvPr id="19" name="Shape 16"/>
          <p:cNvSpPr/>
          <p:nvPr/>
        </p:nvSpPr>
        <p:spPr>
          <a:xfrm>
            <a:off x="585216" y="1499616"/>
            <a:ext cx="347472" cy="347472"/>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68609" y="1583009"/>
            <a:ext cx="180685" cy="180685"/>
          </a:xfrm>
          <a:prstGeom prst="rect">
            <a:avLst/>
          </a:prstGeom>
        </p:spPr>
      </p:pic>
      <p:sp>
        <p:nvSpPr>
          <p:cNvPr id="21" name="Text 17"/>
          <p:cNvSpPr txBox="1"/>
          <p:nvPr/>
        </p:nvSpPr>
        <p:spPr>
          <a:xfrm>
            <a:off x="1042416" y="1499616"/>
            <a:ext cx="1956816"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Know your power envelope</a:t>
            </a:r>
            <a:endParaRPr lang="en-US" sz="1150" dirty="0"/>
          </a:p>
        </p:txBody>
      </p:sp>
      <p:sp>
        <p:nvSpPr>
          <p:cNvPr id="22" name="Text 18"/>
          <p:cNvSpPr txBox="1"/>
          <p:nvPr/>
        </p:nvSpPr>
        <p:spPr>
          <a:xfrm>
            <a:off x="585216" y="1901952"/>
            <a:ext cx="2395728" cy="672084"/>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Measure kW per rack and backup autonomy (hours) before specifying any hardware.</a:t>
            </a:r>
            <a:endParaRPr lang="en-US" sz="1000" dirty="0"/>
          </a:p>
        </p:txBody>
      </p:sp>
      <p:sp>
        <p:nvSpPr>
          <p:cNvPr id="23" name="Shape 19"/>
          <p:cNvSpPr/>
          <p:nvPr/>
        </p:nvSpPr>
        <p:spPr>
          <a:xfrm>
            <a:off x="3246120" y="1371600"/>
            <a:ext cx="2651760" cy="1257300"/>
          </a:xfrm>
          <a:prstGeom prst="roundRect">
            <a:avLst>
              <a:gd name="adj" fmla="val 5818"/>
            </a:avLst>
          </a:prstGeom>
          <a:solidFill>
            <a:srgbClr val="F4F7F5"/>
          </a:solidFill>
          <a:ln w="9525">
            <a:solidFill>
              <a:srgbClr val="D5DED9"/>
            </a:solidFill>
            <a:prstDash val="solid"/>
          </a:ln>
        </p:spPr>
      </p:sp>
      <p:sp>
        <p:nvSpPr>
          <p:cNvPr id="24" name="Shape 20"/>
          <p:cNvSpPr/>
          <p:nvPr/>
        </p:nvSpPr>
        <p:spPr>
          <a:xfrm>
            <a:off x="3374136" y="1499616"/>
            <a:ext cx="347472" cy="347472"/>
          </a:xfrm>
          <a:prstGeom prst="ellipse">
            <a:avLst/>
          </a:prstGeom>
          <a:solidFill>
            <a:srgbClr val="00A86A">
              <a:alpha val="22000"/>
            </a:srgbClr>
          </a:solidFill>
          <a:ln/>
        </p:spPr>
      </p:sp>
      <p:pic>
        <p:nvPicPr>
          <p:cNvPr id="25" name="Image 1" descr="preencoded.png"/>
          <p:cNvPicPr>
            <a:picLocks noChangeAspect="1"/>
          </p:cNvPicPr>
          <p:nvPr/>
        </p:nvPicPr>
        <p:blipFill>
          <a:blip r:embed="rId4"/>
          <a:stretch>
            <a:fillRect/>
          </a:stretch>
        </p:blipFill>
        <p:spPr>
          <a:xfrm>
            <a:off x="3457529" y="1583009"/>
            <a:ext cx="180685" cy="180685"/>
          </a:xfrm>
          <a:prstGeom prst="rect">
            <a:avLst/>
          </a:prstGeom>
        </p:spPr>
      </p:pic>
      <p:sp>
        <p:nvSpPr>
          <p:cNvPr id="26" name="Text 21"/>
          <p:cNvSpPr txBox="1"/>
          <p:nvPr/>
        </p:nvSpPr>
        <p:spPr>
          <a:xfrm>
            <a:off x="3831336" y="1499616"/>
            <a:ext cx="1956816"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Protect every run</a:t>
            </a:r>
            <a:endParaRPr lang="en-US" sz="1150" dirty="0"/>
          </a:p>
        </p:txBody>
      </p:sp>
      <p:sp>
        <p:nvSpPr>
          <p:cNvPr id="27" name="Text 22"/>
          <p:cNvSpPr txBox="1"/>
          <p:nvPr/>
        </p:nvSpPr>
        <p:spPr>
          <a:xfrm>
            <a:off x="3374136" y="1901952"/>
            <a:ext cx="2395728" cy="672084"/>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UPS for clean shutdown, generator or solar-hybrid for autonomy; checkpoint long jobs.</a:t>
            </a:r>
            <a:endParaRPr lang="en-US" sz="1000" dirty="0"/>
          </a:p>
        </p:txBody>
      </p:sp>
      <p:sp>
        <p:nvSpPr>
          <p:cNvPr id="28" name="Shape 23"/>
          <p:cNvSpPr/>
          <p:nvPr/>
        </p:nvSpPr>
        <p:spPr>
          <a:xfrm>
            <a:off x="6035040" y="1371600"/>
            <a:ext cx="2651760" cy="1257300"/>
          </a:xfrm>
          <a:prstGeom prst="roundRect">
            <a:avLst>
              <a:gd name="adj" fmla="val 5818"/>
            </a:avLst>
          </a:prstGeom>
          <a:solidFill>
            <a:srgbClr val="F4F7F5"/>
          </a:solidFill>
          <a:ln w="9525">
            <a:solidFill>
              <a:srgbClr val="D5DED9"/>
            </a:solidFill>
            <a:prstDash val="solid"/>
          </a:ln>
        </p:spPr>
      </p:sp>
      <p:sp>
        <p:nvSpPr>
          <p:cNvPr id="29" name="Shape 24"/>
          <p:cNvSpPr/>
          <p:nvPr/>
        </p:nvSpPr>
        <p:spPr>
          <a:xfrm>
            <a:off x="6163056" y="1499616"/>
            <a:ext cx="347472" cy="347472"/>
          </a:xfrm>
          <a:prstGeom prst="ellipse">
            <a:avLst/>
          </a:prstGeom>
          <a:solidFill>
            <a:srgbClr val="00A86A">
              <a:alpha val="22000"/>
            </a:srgbClr>
          </a:solidFill>
          <a:ln/>
        </p:spPr>
      </p:sp>
      <p:pic>
        <p:nvPicPr>
          <p:cNvPr id="30" name="Image 2" descr="preencoded.png"/>
          <p:cNvPicPr>
            <a:picLocks noChangeAspect="1"/>
          </p:cNvPicPr>
          <p:nvPr/>
        </p:nvPicPr>
        <p:blipFill>
          <a:blip r:embed="rId5"/>
          <a:stretch>
            <a:fillRect/>
          </a:stretch>
        </p:blipFill>
        <p:spPr>
          <a:xfrm>
            <a:off x="6246449" y="1583009"/>
            <a:ext cx="180685" cy="180685"/>
          </a:xfrm>
          <a:prstGeom prst="rect">
            <a:avLst/>
          </a:prstGeom>
        </p:spPr>
      </p:pic>
      <p:sp>
        <p:nvSpPr>
          <p:cNvPr id="31" name="Text 25"/>
          <p:cNvSpPr txBox="1"/>
          <p:nvPr/>
        </p:nvSpPr>
        <p:spPr>
          <a:xfrm>
            <a:off x="6620256" y="1499616"/>
            <a:ext cx="1956816"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Prefer efficient models</a:t>
            </a:r>
            <a:endParaRPr lang="en-US" sz="1150" dirty="0"/>
          </a:p>
        </p:txBody>
      </p:sp>
      <p:sp>
        <p:nvSpPr>
          <p:cNvPr id="32" name="Text 26"/>
          <p:cNvSpPr txBox="1"/>
          <p:nvPr/>
        </p:nvSpPr>
        <p:spPr>
          <a:xfrm>
            <a:off x="6163056" y="1901952"/>
            <a:ext cx="2395728" cy="672084"/>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Small or compressed models on CPU or one GPU deliver most value at a fraction of the power.</a:t>
            </a:r>
            <a:endParaRPr lang="en-US" sz="1000" dirty="0"/>
          </a:p>
        </p:txBody>
      </p:sp>
      <p:sp>
        <p:nvSpPr>
          <p:cNvPr id="33" name="Shape 27"/>
          <p:cNvSpPr/>
          <p:nvPr/>
        </p:nvSpPr>
        <p:spPr>
          <a:xfrm>
            <a:off x="457200" y="2766060"/>
            <a:ext cx="2651760" cy="1257300"/>
          </a:xfrm>
          <a:prstGeom prst="roundRect">
            <a:avLst>
              <a:gd name="adj" fmla="val 5818"/>
            </a:avLst>
          </a:prstGeom>
          <a:solidFill>
            <a:srgbClr val="F4F7F5"/>
          </a:solidFill>
          <a:ln w="9525">
            <a:solidFill>
              <a:srgbClr val="D5DED9"/>
            </a:solidFill>
            <a:prstDash val="solid"/>
          </a:ln>
        </p:spPr>
      </p:sp>
      <p:sp>
        <p:nvSpPr>
          <p:cNvPr id="34" name="Shape 28"/>
          <p:cNvSpPr/>
          <p:nvPr/>
        </p:nvSpPr>
        <p:spPr>
          <a:xfrm>
            <a:off x="585216" y="2894076"/>
            <a:ext cx="347472" cy="347472"/>
          </a:xfrm>
          <a:prstGeom prst="ellipse">
            <a:avLst/>
          </a:prstGeom>
          <a:solidFill>
            <a:srgbClr val="00A86A">
              <a:alpha val="22000"/>
            </a:srgbClr>
          </a:solidFill>
          <a:ln/>
        </p:spPr>
      </p:sp>
      <p:pic>
        <p:nvPicPr>
          <p:cNvPr id="35" name="Image 3" descr="preencoded.png"/>
          <p:cNvPicPr>
            <a:picLocks noChangeAspect="1"/>
          </p:cNvPicPr>
          <p:nvPr/>
        </p:nvPicPr>
        <p:blipFill>
          <a:blip r:embed="rId6"/>
          <a:stretch>
            <a:fillRect/>
          </a:stretch>
        </p:blipFill>
        <p:spPr>
          <a:xfrm>
            <a:off x="668609" y="2977469"/>
            <a:ext cx="180685" cy="180685"/>
          </a:xfrm>
          <a:prstGeom prst="rect">
            <a:avLst/>
          </a:prstGeom>
        </p:spPr>
      </p:pic>
      <p:sp>
        <p:nvSpPr>
          <p:cNvPr id="36" name="Text 29"/>
          <p:cNvSpPr txBox="1"/>
          <p:nvPr/>
        </p:nvSpPr>
        <p:spPr>
          <a:xfrm>
            <a:off x="1042416" y="2894076"/>
            <a:ext cx="1956816"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Work offline-first</a:t>
            </a:r>
            <a:endParaRPr lang="en-US" sz="1150" dirty="0"/>
          </a:p>
        </p:txBody>
      </p:sp>
      <p:sp>
        <p:nvSpPr>
          <p:cNvPr id="37" name="Text 30"/>
          <p:cNvSpPr txBox="1"/>
          <p:nvPr/>
        </p:nvSpPr>
        <p:spPr>
          <a:xfrm>
            <a:off x="585216" y="3296412"/>
            <a:ext cx="2395728" cy="672084"/>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Local mirrors for packages, containers and model weights; no build depends on an international link.</a:t>
            </a:r>
            <a:endParaRPr lang="en-US" sz="1000" dirty="0"/>
          </a:p>
        </p:txBody>
      </p:sp>
      <p:sp>
        <p:nvSpPr>
          <p:cNvPr id="38" name="Shape 31"/>
          <p:cNvSpPr/>
          <p:nvPr/>
        </p:nvSpPr>
        <p:spPr>
          <a:xfrm>
            <a:off x="3246120" y="2766060"/>
            <a:ext cx="2651760" cy="1257300"/>
          </a:xfrm>
          <a:prstGeom prst="roundRect">
            <a:avLst>
              <a:gd name="adj" fmla="val 5818"/>
            </a:avLst>
          </a:prstGeom>
          <a:solidFill>
            <a:srgbClr val="F4F7F5"/>
          </a:solidFill>
          <a:ln w="9525">
            <a:solidFill>
              <a:srgbClr val="D5DED9"/>
            </a:solidFill>
            <a:prstDash val="solid"/>
          </a:ln>
        </p:spPr>
      </p:sp>
      <p:sp>
        <p:nvSpPr>
          <p:cNvPr id="39" name="Shape 32"/>
          <p:cNvSpPr/>
          <p:nvPr/>
        </p:nvSpPr>
        <p:spPr>
          <a:xfrm>
            <a:off x="3374136" y="2894076"/>
            <a:ext cx="347472" cy="347472"/>
          </a:xfrm>
          <a:prstGeom prst="ellipse">
            <a:avLst/>
          </a:prstGeom>
          <a:solidFill>
            <a:srgbClr val="00A86A">
              <a:alpha val="22000"/>
            </a:srgbClr>
          </a:solidFill>
          <a:ln/>
        </p:spPr>
      </p:sp>
      <p:pic>
        <p:nvPicPr>
          <p:cNvPr id="40" name="Image 4" descr="preencoded.png"/>
          <p:cNvPicPr>
            <a:picLocks noChangeAspect="1"/>
          </p:cNvPicPr>
          <p:nvPr/>
        </p:nvPicPr>
        <p:blipFill>
          <a:blip r:embed="rId7"/>
          <a:stretch>
            <a:fillRect/>
          </a:stretch>
        </p:blipFill>
        <p:spPr>
          <a:xfrm>
            <a:off x="3457529" y="2977469"/>
            <a:ext cx="180685" cy="180685"/>
          </a:xfrm>
          <a:prstGeom prst="rect">
            <a:avLst/>
          </a:prstGeom>
        </p:spPr>
      </p:pic>
      <p:sp>
        <p:nvSpPr>
          <p:cNvPr id="41" name="Text 33"/>
          <p:cNvSpPr txBox="1"/>
          <p:nvPr/>
        </p:nvSpPr>
        <p:spPr>
          <a:xfrm>
            <a:off x="3831336" y="2894076"/>
            <a:ext cx="1956816"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Schedule batch work</a:t>
            </a:r>
            <a:endParaRPr lang="en-US" sz="1150" dirty="0"/>
          </a:p>
        </p:txBody>
      </p:sp>
      <p:sp>
        <p:nvSpPr>
          <p:cNvPr id="42" name="Text 34"/>
          <p:cNvSpPr txBox="1"/>
          <p:nvPr/>
        </p:nvSpPr>
        <p:spPr>
          <a:xfrm>
            <a:off x="3374136" y="3296412"/>
            <a:ext cx="2395728" cy="672084"/>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Run heavy processing overnight or in stable-power windows; queue jobs rather than let them fail.</a:t>
            </a:r>
            <a:endParaRPr lang="en-US" sz="1000" dirty="0"/>
          </a:p>
        </p:txBody>
      </p:sp>
      <p:sp>
        <p:nvSpPr>
          <p:cNvPr id="43" name="Shape 35"/>
          <p:cNvSpPr/>
          <p:nvPr/>
        </p:nvSpPr>
        <p:spPr>
          <a:xfrm>
            <a:off x="6035040" y="2766060"/>
            <a:ext cx="2651760" cy="1257300"/>
          </a:xfrm>
          <a:prstGeom prst="roundRect">
            <a:avLst>
              <a:gd name="adj" fmla="val 5818"/>
            </a:avLst>
          </a:prstGeom>
          <a:solidFill>
            <a:srgbClr val="F4F7F5"/>
          </a:solidFill>
          <a:ln w="9525">
            <a:solidFill>
              <a:srgbClr val="D5DED9"/>
            </a:solidFill>
            <a:prstDash val="solid"/>
          </a:ln>
        </p:spPr>
      </p:sp>
      <p:sp>
        <p:nvSpPr>
          <p:cNvPr id="44" name="Shape 36"/>
          <p:cNvSpPr/>
          <p:nvPr/>
        </p:nvSpPr>
        <p:spPr>
          <a:xfrm>
            <a:off x="6163056" y="2894076"/>
            <a:ext cx="347472" cy="347472"/>
          </a:xfrm>
          <a:prstGeom prst="ellipse">
            <a:avLst/>
          </a:prstGeom>
          <a:solidFill>
            <a:srgbClr val="00A86A">
              <a:alpha val="22000"/>
            </a:srgbClr>
          </a:solidFill>
          <a:ln/>
        </p:spPr>
      </p:sp>
      <p:pic>
        <p:nvPicPr>
          <p:cNvPr id="45" name="Image 5" descr="preencoded.png"/>
          <p:cNvPicPr>
            <a:picLocks noChangeAspect="1"/>
          </p:cNvPicPr>
          <p:nvPr/>
        </p:nvPicPr>
        <p:blipFill>
          <a:blip r:embed="rId8"/>
          <a:stretch>
            <a:fillRect/>
          </a:stretch>
        </p:blipFill>
        <p:spPr>
          <a:xfrm>
            <a:off x="6246449" y="2977469"/>
            <a:ext cx="180685" cy="180685"/>
          </a:xfrm>
          <a:prstGeom prst="rect">
            <a:avLst/>
          </a:prstGeom>
        </p:spPr>
      </p:pic>
      <p:sp>
        <p:nvSpPr>
          <p:cNvPr id="46" name="Text 37"/>
          <p:cNvSpPr txBox="1"/>
          <p:nvPr/>
        </p:nvSpPr>
        <p:spPr>
          <a:xfrm>
            <a:off x="6620256" y="2894076"/>
            <a:ext cx="1956816"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Share capacity</a:t>
            </a:r>
            <a:endParaRPr lang="en-US" sz="1150" dirty="0"/>
          </a:p>
        </p:txBody>
      </p:sp>
      <p:sp>
        <p:nvSpPr>
          <p:cNvPr id="47" name="Text 38"/>
          <p:cNvSpPr txBox="1"/>
          <p:nvPr/>
        </p:nvSpPr>
        <p:spPr>
          <a:xfrm>
            <a:off x="6163056" y="3296412"/>
            <a:ext cx="2395728" cy="672084"/>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Government data centres, university computing centres or regional peers can host what one office cannot.</a:t>
            </a:r>
            <a:endParaRPr lang="en-US" sz="1000" dirty="0"/>
          </a:p>
        </p:txBody>
      </p:sp>
      <p:sp>
        <p:nvSpPr>
          <p:cNvPr id="48" name="Shape 39"/>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49" name="Shape 40"/>
          <p:cNvSpPr/>
          <p:nvPr/>
        </p:nvSpPr>
        <p:spPr>
          <a:xfrm>
            <a:off x="566928" y="4215384"/>
            <a:ext cx="292608" cy="292608"/>
          </a:xfrm>
          <a:prstGeom prst="ellipse">
            <a:avLst/>
          </a:prstGeom>
          <a:solidFill>
            <a:srgbClr val="00A86A">
              <a:alpha val="22000"/>
            </a:srgbClr>
          </a:solidFill>
          <a:ln/>
        </p:spPr>
      </p:sp>
      <p:pic>
        <p:nvPicPr>
          <p:cNvPr id="50" name="Image 6" descr="preencoded.png"/>
          <p:cNvPicPr>
            <a:picLocks noChangeAspect="1"/>
          </p:cNvPicPr>
          <p:nvPr/>
        </p:nvPicPr>
        <p:blipFill>
          <a:blip r:embed="rId9"/>
          <a:stretch>
            <a:fillRect/>
          </a:stretch>
        </p:blipFill>
        <p:spPr>
          <a:xfrm>
            <a:off x="637154" y="4285610"/>
            <a:ext cx="152156" cy="152156"/>
          </a:xfrm>
          <a:prstGeom prst="rect">
            <a:avLst/>
          </a:prstGeom>
        </p:spPr>
      </p:pic>
      <p:sp>
        <p:nvSpPr>
          <p:cNvPr id="51" name="Text 41"/>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CONTEXT   </a:t>
            </a:r>
            <a:r>
              <a:rPr lang="en-US" sz="1000" dirty="0">
                <a:solidFill>
                  <a:srgbClr val="231F20"/>
                </a:solidFill>
                <a:latin typeface="Calibri" pitchFamily="34" charset="0"/>
                <a:ea typeface="Calibri" pitchFamily="34" charset="-122"/>
                <a:cs typeface="Calibri" pitchFamily="34" charset="-120"/>
              </a:rPr>
              <a:t>Mission 300 — a World Bank Group and African Development Bank initiative — aims to connect 300 million people in sub-Saharan Africa to electricity by 2030. Plan for today's grid, not tomorrow's.</a:t>
            </a:r>
            <a:endParaRPr lang="en-US" sz="1000" dirty="0"/>
          </a:p>
        </p:txBody>
      </p:sp>
      <p:sp>
        <p:nvSpPr>
          <p:cNvPr id="52" name="Text 42"/>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Source: World Bank Group, Mission 300 (2024). Power figures for GPU nodes are indicative; check vendor specifications.</a:t>
            </a:r>
            <a:endParaRPr lang="en-US" sz="8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LAYER 2 · DATA PLATFORM</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You cannot do AI on data you cannot find, trust or join</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Six capabilities that must exist before a model is worth training</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8" name="Shape 15"/>
          <p:cNvSpPr/>
          <p:nvPr/>
        </p:nvSpPr>
        <p:spPr>
          <a:xfrm>
            <a:off x="457200" y="1371600"/>
            <a:ext cx="2651760" cy="1257300"/>
          </a:xfrm>
          <a:prstGeom prst="roundRect">
            <a:avLst>
              <a:gd name="adj" fmla="val 5818"/>
            </a:avLst>
          </a:prstGeom>
          <a:solidFill>
            <a:srgbClr val="F4F7F5"/>
          </a:solidFill>
          <a:ln w="9525">
            <a:solidFill>
              <a:srgbClr val="D5DED9"/>
            </a:solidFill>
            <a:prstDash val="solid"/>
          </a:ln>
        </p:spPr>
      </p:sp>
      <p:sp>
        <p:nvSpPr>
          <p:cNvPr id="19" name="Shape 16"/>
          <p:cNvSpPr/>
          <p:nvPr/>
        </p:nvSpPr>
        <p:spPr>
          <a:xfrm>
            <a:off x="585216" y="1499616"/>
            <a:ext cx="347472" cy="347472"/>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68609" y="1583009"/>
            <a:ext cx="180685" cy="180685"/>
          </a:xfrm>
          <a:prstGeom prst="rect">
            <a:avLst/>
          </a:prstGeom>
        </p:spPr>
      </p:pic>
      <p:sp>
        <p:nvSpPr>
          <p:cNvPr id="21" name="Text 17"/>
          <p:cNvSpPr txBox="1"/>
          <p:nvPr/>
        </p:nvSpPr>
        <p:spPr>
          <a:xfrm>
            <a:off x="1042416" y="1499616"/>
            <a:ext cx="1956816"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One governed data platform</a:t>
            </a:r>
            <a:endParaRPr lang="en-US" sz="1150" dirty="0"/>
          </a:p>
        </p:txBody>
      </p:sp>
      <p:sp>
        <p:nvSpPr>
          <p:cNvPr id="22" name="Text 18"/>
          <p:cNvSpPr txBox="1"/>
          <p:nvPr/>
        </p:nvSpPr>
        <p:spPr>
          <a:xfrm>
            <a:off x="585216" y="1901952"/>
            <a:ext cx="2395728" cy="672084"/>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Survey, administrative and alternative data under one access model — not hundreds of extracts on shared drives.</a:t>
            </a:r>
            <a:endParaRPr lang="en-US" sz="1000" dirty="0"/>
          </a:p>
        </p:txBody>
      </p:sp>
      <p:sp>
        <p:nvSpPr>
          <p:cNvPr id="23" name="Shape 19"/>
          <p:cNvSpPr/>
          <p:nvPr/>
        </p:nvSpPr>
        <p:spPr>
          <a:xfrm>
            <a:off x="3246120" y="1371600"/>
            <a:ext cx="2651760" cy="1257300"/>
          </a:xfrm>
          <a:prstGeom prst="roundRect">
            <a:avLst>
              <a:gd name="adj" fmla="val 5818"/>
            </a:avLst>
          </a:prstGeom>
          <a:solidFill>
            <a:srgbClr val="F4F7F5"/>
          </a:solidFill>
          <a:ln w="9525">
            <a:solidFill>
              <a:srgbClr val="D5DED9"/>
            </a:solidFill>
            <a:prstDash val="solid"/>
          </a:ln>
        </p:spPr>
      </p:sp>
      <p:sp>
        <p:nvSpPr>
          <p:cNvPr id="24" name="Shape 20"/>
          <p:cNvSpPr/>
          <p:nvPr/>
        </p:nvSpPr>
        <p:spPr>
          <a:xfrm>
            <a:off x="3374136" y="1499616"/>
            <a:ext cx="347472" cy="347472"/>
          </a:xfrm>
          <a:prstGeom prst="ellipse">
            <a:avLst/>
          </a:prstGeom>
          <a:solidFill>
            <a:srgbClr val="00A86A">
              <a:alpha val="22000"/>
            </a:srgbClr>
          </a:solidFill>
          <a:ln/>
        </p:spPr>
      </p:sp>
      <p:pic>
        <p:nvPicPr>
          <p:cNvPr id="25" name="Image 1" descr="preencoded.png"/>
          <p:cNvPicPr>
            <a:picLocks noChangeAspect="1"/>
          </p:cNvPicPr>
          <p:nvPr/>
        </p:nvPicPr>
        <p:blipFill>
          <a:blip r:embed="rId4"/>
          <a:stretch>
            <a:fillRect/>
          </a:stretch>
        </p:blipFill>
        <p:spPr>
          <a:xfrm>
            <a:off x="3457529" y="1583009"/>
            <a:ext cx="180685" cy="180685"/>
          </a:xfrm>
          <a:prstGeom prst="rect">
            <a:avLst/>
          </a:prstGeom>
        </p:spPr>
      </p:pic>
      <p:sp>
        <p:nvSpPr>
          <p:cNvPr id="26" name="Text 21"/>
          <p:cNvSpPr txBox="1"/>
          <p:nvPr/>
        </p:nvSpPr>
        <p:spPr>
          <a:xfrm>
            <a:off x="3831336" y="1499616"/>
            <a:ext cx="1956816"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 metadata catalogue</a:t>
            </a:r>
            <a:endParaRPr lang="en-US" sz="1150" dirty="0"/>
          </a:p>
        </p:txBody>
      </p:sp>
      <p:sp>
        <p:nvSpPr>
          <p:cNvPr id="27" name="Text 22"/>
          <p:cNvSpPr txBox="1"/>
          <p:nvPr/>
        </p:nvSpPr>
        <p:spPr>
          <a:xfrm>
            <a:off x="3374136" y="1901952"/>
            <a:ext cx="2395728" cy="672084"/>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Searchable business and technical metadata, aligned to GSIM and SDMX. If analysts cannot find a variable, they recreate it.</a:t>
            </a:r>
            <a:endParaRPr lang="en-US" sz="1000" dirty="0"/>
          </a:p>
        </p:txBody>
      </p:sp>
      <p:sp>
        <p:nvSpPr>
          <p:cNvPr id="28" name="Shape 23"/>
          <p:cNvSpPr/>
          <p:nvPr/>
        </p:nvSpPr>
        <p:spPr>
          <a:xfrm>
            <a:off x="6035040" y="1371600"/>
            <a:ext cx="2651760" cy="1257300"/>
          </a:xfrm>
          <a:prstGeom prst="roundRect">
            <a:avLst>
              <a:gd name="adj" fmla="val 5818"/>
            </a:avLst>
          </a:prstGeom>
          <a:solidFill>
            <a:srgbClr val="F4F7F5"/>
          </a:solidFill>
          <a:ln w="9525">
            <a:solidFill>
              <a:srgbClr val="D5DED9"/>
            </a:solidFill>
            <a:prstDash val="solid"/>
          </a:ln>
        </p:spPr>
      </p:sp>
      <p:sp>
        <p:nvSpPr>
          <p:cNvPr id="29" name="Shape 24"/>
          <p:cNvSpPr/>
          <p:nvPr/>
        </p:nvSpPr>
        <p:spPr>
          <a:xfrm>
            <a:off x="6163056" y="1499616"/>
            <a:ext cx="347472" cy="347472"/>
          </a:xfrm>
          <a:prstGeom prst="ellipse">
            <a:avLst/>
          </a:prstGeom>
          <a:solidFill>
            <a:srgbClr val="00A86A">
              <a:alpha val="22000"/>
            </a:srgbClr>
          </a:solidFill>
          <a:ln/>
        </p:spPr>
      </p:sp>
      <p:pic>
        <p:nvPicPr>
          <p:cNvPr id="30" name="Image 2" descr="preencoded.png"/>
          <p:cNvPicPr>
            <a:picLocks noChangeAspect="1"/>
          </p:cNvPicPr>
          <p:nvPr/>
        </p:nvPicPr>
        <p:blipFill>
          <a:blip r:embed="rId5"/>
          <a:stretch>
            <a:fillRect/>
          </a:stretch>
        </p:blipFill>
        <p:spPr>
          <a:xfrm>
            <a:off x="6246449" y="1583009"/>
            <a:ext cx="180685" cy="180685"/>
          </a:xfrm>
          <a:prstGeom prst="rect">
            <a:avLst/>
          </a:prstGeom>
        </p:spPr>
      </p:pic>
      <p:sp>
        <p:nvSpPr>
          <p:cNvPr id="31" name="Text 25"/>
          <p:cNvSpPr txBox="1"/>
          <p:nvPr/>
        </p:nvSpPr>
        <p:spPr>
          <a:xfrm>
            <a:off x="6620256" y="1499616"/>
            <a:ext cx="1956816"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End-to-end lineage</a:t>
            </a:r>
            <a:endParaRPr lang="en-US" sz="1150" dirty="0"/>
          </a:p>
        </p:txBody>
      </p:sp>
      <p:sp>
        <p:nvSpPr>
          <p:cNvPr id="32" name="Text 26"/>
          <p:cNvSpPr txBox="1"/>
          <p:nvPr/>
        </p:nvSpPr>
        <p:spPr>
          <a:xfrm>
            <a:off x="6163056" y="1901952"/>
            <a:ext cx="2395728" cy="672084"/>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Which input version, processed by which code version, produced which output.</a:t>
            </a:r>
            <a:endParaRPr lang="en-US" sz="1000" dirty="0"/>
          </a:p>
        </p:txBody>
      </p:sp>
      <p:sp>
        <p:nvSpPr>
          <p:cNvPr id="33" name="Shape 27"/>
          <p:cNvSpPr/>
          <p:nvPr/>
        </p:nvSpPr>
        <p:spPr>
          <a:xfrm>
            <a:off x="457200" y="2766060"/>
            <a:ext cx="2651760" cy="1257300"/>
          </a:xfrm>
          <a:prstGeom prst="roundRect">
            <a:avLst>
              <a:gd name="adj" fmla="val 5818"/>
            </a:avLst>
          </a:prstGeom>
          <a:solidFill>
            <a:srgbClr val="F4F7F5"/>
          </a:solidFill>
          <a:ln w="9525">
            <a:solidFill>
              <a:srgbClr val="D5DED9"/>
            </a:solidFill>
            <a:prstDash val="solid"/>
          </a:ln>
        </p:spPr>
      </p:sp>
      <p:sp>
        <p:nvSpPr>
          <p:cNvPr id="34" name="Shape 28"/>
          <p:cNvSpPr/>
          <p:nvPr/>
        </p:nvSpPr>
        <p:spPr>
          <a:xfrm>
            <a:off x="585216" y="2894076"/>
            <a:ext cx="347472" cy="347472"/>
          </a:xfrm>
          <a:prstGeom prst="ellipse">
            <a:avLst/>
          </a:prstGeom>
          <a:solidFill>
            <a:srgbClr val="00A86A">
              <a:alpha val="22000"/>
            </a:srgbClr>
          </a:solidFill>
          <a:ln/>
        </p:spPr>
      </p:sp>
      <p:pic>
        <p:nvPicPr>
          <p:cNvPr id="35" name="Image 3" descr="preencoded.png"/>
          <p:cNvPicPr>
            <a:picLocks noChangeAspect="1"/>
          </p:cNvPicPr>
          <p:nvPr/>
        </p:nvPicPr>
        <p:blipFill>
          <a:blip r:embed="rId6"/>
          <a:stretch>
            <a:fillRect/>
          </a:stretch>
        </p:blipFill>
        <p:spPr>
          <a:xfrm>
            <a:off x="668609" y="2977469"/>
            <a:ext cx="180685" cy="180685"/>
          </a:xfrm>
          <a:prstGeom prst="rect">
            <a:avLst/>
          </a:prstGeom>
        </p:spPr>
      </p:pic>
      <p:sp>
        <p:nvSpPr>
          <p:cNvPr id="36" name="Text 29"/>
          <p:cNvSpPr txBox="1"/>
          <p:nvPr/>
        </p:nvSpPr>
        <p:spPr>
          <a:xfrm>
            <a:off x="1042416" y="2894076"/>
            <a:ext cx="1956816"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Fine-grained access control</a:t>
            </a:r>
            <a:endParaRPr lang="en-US" sz="1150" dirty="0"/>
          </a:p>
        </p:txBody>
      </p:sp>
      <p:sp>
        <p:nvSpPr>
          <p:cNvPr id="37" name="Text 30"/>
          <p:cNvSpPr txBox="1"/>
          <p:nvPr/>
        </p:nvSpPr>
        <p:spPr>
          <a:xfrm>
            <a:off x="585216" y="3296412"/>
            <a:ext cx="2395728" cy="672084"/>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Row- and column-level rules mapped to classification tiers, enforced by the platform.</a:t>
            </a:r>
            <a:endParaRPr lang="en-US" sz="1000" dirty="0"/>
          </a:p>
        </p:txBody>
      </p:sp>
      <p:sp>
        <p:nvSpPr>
          <p:cNvPr id="38" name="Shape 31"/>
          <p:cNvSpPr/>
          <p:nvPr/>
        </p:nvSpPr>
        <p:spPr>
          <a:xfrm>
            <a:off x="3246120" y="2766060"/>
            <a:ext cx="2651760" cy="1257300"/>
          </a:xfrm>
          <a:prstGeom prst="roundRect">
            <a:avLst>
              <a:gd name="adj" fmla="val 5818"/>
            </a:avLst>
          </a:prstGeom>
          <a:solidFill>
            <a:srgbClr val="F4F7F5"/>
          </a:solidFill>
          <a:ln w="9525">
            <a:solidFill>
              <a:srgbClr val="D5DED9"/>
            </a:solidFill>
            <a:prstDash val="solid"/>
          </a:ln>
        </p:spPr>
      </p:sp>
      <p:sp>
        <p:nvSpPr>
          <p:cNvPr id="39" name="Shape 32"/>
          <p:cNvSpPr/>
          <p:nvPr/>
        </p:nvSpPr>
        <p:spPr>
          <a:xfrm>
            <a:off x="3374136" y="2894076"/>
            <a:ext cx="347472" cy="347472"/>
          </a:xfrm>
          <a:prstGeom prst="ellipse">
            <a:avLst/>
          </a:prstGeom>
          <a:solidFill>
            <a:srgbClr val="00A86A">
              <a:alpha val="22000"/>
            </a:srgbClr>
          </a:solidFill>
          <a:ln/>
        </p:spPr>
      </p:sp>
      <p:pic>
        <p:nvPicPr>
          <p:cNvPr id="40" name="Image 4" descr="preencoded.png"/>
          <p:cNvPicPr>
            <a:picLocks noChangeAspect="1"/>
          </p:cNvPicPr>
          <p:nvPr/>
        </p:nvPicPr>
        <p:blipFill>
          <a:blip r:embed="rId7"/>
          <a:stretch>
            <a:fillRect/>
          </a:stretch>
        </p:blipFill>
        <p:spPr>
          <a:xfrm>
            <a:off x="3457529" y="2977469"/>
            <a:ext cx="180685" cy="180685"/>
          </a:xfrm>
          <a:prstGeom prst="rect">
            <a:avLst/>
          </a:prstGeom>
        </p:spPr>
      </p:pic>
      <p:sp>
        <p:nvSpPr>
          <p:cNvPr id="41" name="Text 33"/>
          <p:cNvSpPr txBox="1"/>
          <p:nvPr/>
        </p:nvSpPr>
        <p:spPr>
          <a:xfrm>
            <a:off x="3831336" y="2894076"/>
            <a:ext cx="1956816"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Versioned snapshots</a:t>
            </a:r>
            <a:endParaRPr lang="en-US" sz="1150" dirty="0"/>
          </a:p>
        </p:txBody>
      </p:sp>
      <p:sp>
        <p:nvSpPr>
          <p:cNvPr id="42" name="Text 34"/>
          <p:cNvSpPr txBox="1"/>
          <p:nvPr/>
        </p:nvSpPr>
        <p:spPr>
          <a:xfrm>
            <a:off x="3374136" y="3296412"/>
            <a:ext cx="2395728" cy="672084"/>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Immutable, dated copies of the exact data used to train and test every model.</a:t>
            </a:r>
            <a:endParaRPr lang="en-US" sz="1000" dirty="0"/>
          </a:p>
        </p:txBody>
      </p:sp>
      <p:sp>
        <p:nvSpPr>
          <p:cNvPr id="43" name="Shape 35"/>
          <p:cNvSpPr/>
          <p:nvPr/>
        </p:nvSpPr>
        <p:spPr>
          <a:xfrm>
            <a:off x="6035040" y="2766060"/>
            <a:ext cx="2651760" cy="1257300"/>
          </a:xfrm>
          <a:prstGeom prst="roundRect">
            <a:avLst>
              <a:gd name="adj" fmla="val 5818"/>
            </a:avLst>
          </a:prstGeom>
          <a:solidFill>
            <a:srgbClr val="F4F7F5"/>
          </a:solidFill>
          <a:ln w="9525">
            <a:solidFill>
              <a:srgbClr val="D5DED9"/>
            </a:solidFill>
            <a:prstDash val="solid"/>
          </a:ln>
        </p:spPr>
      </p:sp>
      <p:sp>
        <p:nvSpPr>
          <p:cNvPr id="44" name="Shape 36"/>
          <p:cNvSpPr/>
          <p:nvPr/>
        </p:nvSpPr>
        <p:spPr>
          <a:xfrm>
            <a:off x="6163056" y="2894076"/>
            <a:ext cx="347472" cy="347472"/>
          </a:xfrm>
          <a:prstGeom prst="ellipse">
            <a:avLst/>
          </a:prstGeom>
          <a:solidFill>
            <a:srgbClr val="00A86A">
              <a:alpha val="22000"/>
            </a:srgbClr>
          </a:solidFill>
          <a:ln/>
        </p:spPr>
      </p:sp>
      <p:pic>
        <p:nvPicPr>
          <p:cNvPr id="45" name="Image 5" descr="preencoded.png"/>
          <p:cNvPicPr>
            <a:picLocks noChangeAspect="1"/>
          </p:cNvPicPr>
          <p:nvPr/>
        </p:nvPicPr>
        <p:blipFill>
          <a:blip r:embed="rId8"/>
          <a:stretch>
            <a:fillRect/>
          </a:stretch>
        </p:blipFill>
        <p:spPr>
          <a:xfrm>
            <a:off x="6246449" y="2977469"/>
            <a:ext cx="180685" cy="180685"/>
          </a:xfrm>
          <a:prstGeom prst="rect">
            <a:avLst/>
          </a:prstGeom>
        </p:spPr>
      </p:pic>
      <p:sp>
        <p:nvSpPr>
          <p:cNvPr id="46" name="Text 37"/>
          <p:cNvSpPr txBox="1"/>
          <p:nvPr/>
        </p:nvSpPr>
        <p:spPr>
          <a:xfrm>
            <a:off x="6620256" y="2894076"/>
            <a:ext cx="1956816"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Labelled gold-standard sets</a:t>
            </a:r>
            <a:endParaRPr lang="en-US" sz="1150" dirty="0"/>
          </a:p>
        </p:txBody>
      </p:sp>
      <p:sp>
        <p:nvSpPr>
          <p:cNvPr id="47" name="Text 38"/>
          <p:cNvSpPr txBox="1"/>
          <p:nvPr/>
        </p:nvSpPr>
        <p:spPr>
          <a:xfrm>
            <a:off x="6163056" y="3296412"/>
            <a:ext cx="2395728" cy="672084"/>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Curated training and test datasets with documented coding rules and a named owner.</a:t>
            </a:r>
            <a:endParaRPr lang="en-US" sz="1000" dirty="0"/>
          </a:p>
        </p:txBody>
      </p:sp>
      <p:sp>
        <p:nvSpPr>
          <p:cNvPr id="48" name="Shape 39"/>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49" name="Shape 40"/>
          <p:cNvSpPr/>
          <p:nvPr/>
        </p:nvSpPr>
        <p:spPr>
          <a:xfrm>
            <a:off x="566928" y="4215384"/>
            <a:ext cx="292608" cy="292608"/>
          </a:xfrm>
          <a:prstGeom prst="ellipse">
            <a:avLst/>
          </a:prstGeom>
          <a:solidFill>
            <a:srgbClr val="00A86A">
              <a:alpha val="22000"/>
            </a:srgbClr>
          </a:solidFill>
          <a:ln/>
        </p:spPr>
      </p:sp>
      <p:pic>
        <p:nvPicPr>
          <p:cNvPr id="50" name="Image 6" descr="preencoded.png"/>
          <p:cNvPicPr>
            <a:picLocks noChangeAspect="1"/>
          </p:cNvPicPr>
          <p:nvPr/>
        </p:nvPicPr>
        <p:blipFill>
          <a:blip r:embed="rId9"/>
          <a:stretch>
            <a:fillRect/>
          </a:stretch>
        </p:blipFill>
        <p:spPr>
          <a:xfrm>
            <a:off x="637154" y="4285610"/>
            <a:ext cx="152156" cy="152156"/>
          </a:xfrm>
          <a:prstGeom prst="rect">
            <a:avLst/>
          </a:prstGeom>
        </p:spPr>
      </p:pic>
      <p:sp>
        <p:nvSpPr>
          <p:cNvPr id="51" name="Text 41"/>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If you can fund only one thing this year, fund the data platform. It is the only layer whose value does not depend on any AI technology surviving.</a:t>
            </a:r>
            <a:endParaRPr lang="en-US" sz="10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LAYER 2 · LABELLED DATA</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The binding constraint is labelled data, not GPUs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Compute can be rented in an afternoon. A defensible gold standard takes months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8" name="Shape 15"/>
          <p:cNvSpPr/>
          <p:nvPr/>
        </p:nvSpPr>
        <p:spPr>
          <a:xfrm>
            <a:off x="457200" y="1371600"/>
            <a:ext cx="3383280" cy="3200400"/>
          </a:xfrm>
          <a:prstGeom prst="roundRect">
            <a:avLst>
              <a:gd name="adj" fmla="val 2286"/>
            </a:avLst>
          </a:prstGeom>
          <a:solidFill>
            <a:srgbClr val="E8F5EF"/>
          </a:solidFill>
          <a:ln w="15875">
            <a:solidFill>
              <a:srgbClr val="00A86A"/>
            </a:solidFill>
            <a:prstDash val="solid"/>
          </a:ln>
        </p:spPr>
      </p:sp>
      <p:sp>
        <p:nvSpPr>
          <p:cNvPr id="19" name="Text 16"/>
          <p:cNvSpPr txBox="1"/>
          <p:nvPr/>
        </p:nvSpPr>
        <p:spPr>
          <a:xfrm>
            <a:off x="640080" y="1481328"/>
            <a:ext cx="301752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WHAT YOU ALREADY OWN</a:t>
            </a:r>
            <a:endParaRPr lang="en-US" sz="900" dirty="0"/>
          </a:p>
        </p:txBody>
      </p:sp>
      <p:sp>
        <p:nvSpPr>
          <p:cNvPr id="20" name="Text 17"/>
          <p:cNvSpPr txBox="1"/>
          <p:nvPr/>
        </p:nvSpPr>
        <p:spPr>
          <a:xfrm>
            <a:off x="640080" y="1691640"/>
            <a:ext cx="301752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Years of manually coded responses</a:t>
            </a:r>
            <a:endParaRPr lang="en-US" sz="1300" dirty="0"/>
          </a:p>
        </p:txBody>
      </p:sp>
      <p:pic>
        <p:nvPicPr>
          <p:cNvPr id="21" name="Image 0" descr="preencoded.png"/>
          <p:cNvPicPr>
            <a:picLocks noChangeAspect="1"/>
          </p:cNvPicPr>
          <p:nvPr/>
        </p:nvPicPr>
        <p:blipFill>
          <a:blip r:embed="rId3"/>
          <a:stretch>
            <a:fillRect/>
          </a:stretch>
        </p:blipFill>
        <p:spPr>
          <a:xfrm>
            <a:off x="640080" y="2084832"/>
            <a:ext cx="137160" cy="137160"/>
          </a:xfrm>
          <a:prstGeom prst="rect">
            <a:avLst/>
          </a:prstGeom>
        </p:spPr>
      </p:pic>
      <p:sp>
        <p:nvSpPr>
          <p:cNvPr id="22" name="Text 18"/>
          <p:cNvSpPr txBox="1"/>
          <p:nvPr/>
        </p:nvSpPr>
        <p:spPr>
          <a:xfrm>
            <a:off x="850392" y="2057400"/>
            <a:ext cx="2807208" cy="438912"/>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Occupation and activity codes from past censuses and surveys</a:t>
            </a:r>
            <a:endParaRPr lang="en-US" sz="1000" dirty="0"/>
          </a:p>
        </p:txBody>
      </p:sp>
      <p:pic>
        <p:nvPicPr>
          <p:cNvPr id="23" name="Image 1" descr="preencoded.png"/>
          <p:cNvPicPr>
            <a:picLocks noChangeAspect="1"/>
          </p:cNvPicPr>
          <p:nvPr/>
        </p:nvPicPr>
        <p:blipFill>
          <a:blip r:embed="rId3"/>
          <a:stretch>
            <a:fillRect/>
          </a:stretch>
        </p:blipFill>
        <p:spPr>
          <a:xfrm>
            <a:off x="640080" y="2523744"/>
            <a:ext cx="137160" cy="137160"/>
          </a:xfrm>
          <a:prstGeom prst="rect">
            <a:avLst/>
          </a:prstGeom>
        </p:spPr>
      </p:pic>
      <p:sp>
        <p:nvSpPr>
          <p:cNvPr id="24" name="Text 19"/>
          <p:cNvSpPr txBox="1"/>
          <p:nvPr/>
        </p:nvSpPr>
        <p:spPr>
          <a:xfrm>
            <a:off x="850392" y="2496312"/>
            <a:ext cx="2807208" cy="438912"/>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Editing decisions recorded in production systems</a:t>
            </a:r>
            <a:endParaRPr lang="en-US" sz="1000" dirty="0"/>
          </a:p>
        </p:txBody>
      </p:sp>
      <p:pic>
        <p:nvPicPr>
          <p:cNvPr id="25" name="Image 2" descr="preencoded.png"/>
          <p:cNvPicPr>
            <a:picLocks noChangeAspect="1"/>
          </p:cNvPicPr>
          <p:nvPr/>
        </p:nvPicPr>
        <p:blipFill>
          <a:blip r:embed="rId3"/>
          <a:stretch>
            <a:fillRect/>
          </a:stretch>
        </p:blipFill>
        <p:spPr>
          <a:xfrm>
            <a:off x="640080" y="2962656"/>
            <a:ext cx="137160" cy="137160"/>
          </a:xfrm>
          <a:prstGeom prst="rect">
            <a:avLst/>
          </a:prstGeom>
        </p:spPr>
      </p:pic>
      <p:sp>
        <p:nvSpPr>
          <p:cNvPr id="26" name="Text 20"/>
          <p:cNvSpPr txBox="1"/>
          <p:nvPr/>
        </p:nvSpPr>
        <p:spPr>
          <a:xfrm>
            <a:off x="850392" y="2935224"/>
            <a:ext cx="2807208" cy="438912"/>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Past record-linkage decisions, including clerical review</a:t>
            </a:r>
            <a:endParaRPr lang="en-US" sz="1000" dirty="0"/>
          </a:p>
        </p:txBody>
      </p:sp>
      <p:pic>
        <p:nvPicPr>
          <p:cNvPr id="27" name="Image 3" descr="preencoded.png"/>
          <p:cNvPicPr>
            <a:picLocks noChangeAspect="1"/>
          </p:cNvPicPr>
          <p:nvPr/>
        </p:nvPicPr>
        <p:blipFill>
          <a:blip r:embed="rId3"/>
          <a:stretch>
            <a:fillRect/>
          </a:stretch>
        </p:blipFill>
        <p:spPr>
          <a:xfrm>
            <a:off x="640080" y="3401568"/>
            <a:ext cx="137160" cy="137160"/>
          </a:xfrm>
          <a:prstGeom prst="rect">
            <a:avLst/>
          </a:prstGeom>
        </p:spPr>
      </p:pic>
      <p:sp>
        <p:nvSpPr>
          <p:cNvPr id="28" name="Text 21"/>
          <p:cNvSpPr txBox="1"/>
          <p:nvPr/>
        </p:nvSpPr>
        <p:spPr>
          <a:xfrm>
            <a:off x="850392" y="3374136"/>
            <a:ext cx="2807208" cy="438912"/>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Coding manuals and quality reports explaining the labels</a:t>
            </a:r>
            <a:endParaRPr lang="en-US" sz="1000" dirty="0"/>
          </a:p>
        </p:txBody>
      </p:sp>
      <p:sp>
        <p:nvSpPr>
          <p:cNvPr id="29" name="Text 22"/>
          <p:cNvSpPr txBox="1"/>
          <p:nvPr/>
        </p:nvSpPr>
        <p:spPr>
          <a:xfrm>
            <a:off x="640080" y="3886200"/>
            <a:ext cx="3017520" cy="548640"/>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This archive is your single largest AI asset. Locate it, describe it and protect it first.</a:t>
            </a:r>
            <a:endParaRPr lang="en-US" sz="1050" dirty="0"/>
          </a:p>
        </p:txBody>
      </p:sp>
      <p:sp>
        <p:nvSpPr>
          <p:cNvPr id="30" name="Shape 23"/>
          <p:cNvSpPr/>
          <p:nvPr/>
        </p:nvSpPr>
        <p:spPr>
          <a:xfrm>
            <a:off x="3913632" y="2971800"/>
            <a:ext cx="384048" cy="0"/>
          </a:xfrm>
          <a:prstGeom prst="line">
            <a:avLst/>
          </a:prstGeom>
          <a:noFill/>
          <a:ln w="15875">
            <a:solidFill>
              <a:srgbClr val="00A86A"/>
            </a:solidFill>
            <a:prstDash val="solid"/>
            <a:tailEnd type="triangle"/>
          </a:ln>
        </p:spPr>
      </p:sp>
      <p:sp>
        <p:nvSpPr>
          <p:cNvPr id="31" name="Text 24"/>
          <p:cNvSpPr txBox="1"/>
          <p:nvPr/>
        </p:nvSpPr>
        <p:spPr>
          <a:xfrm>
            <a:off x="4389120" y="1371600"/>
            <a:ext cx="41148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WHAT YOU STILL HAVE TO BUILD</a:t>
            </a:r>
            <a:endParaRPr lang="en-US" sz="900" dirty="0"/>
          </a:p>
        </p:txBody>
      </p:sp>
      <p:sp>
        <p:nvSpPr>
          <p:cNvPr id="32" name="Shape 25"/>
          <p:cNvSpPr/>
          <p:nvPr/>
        </p:nvSpPr>
        <p:spPr>
          <a:xfrm>
            <a:off x="4389120" y="1627632"/>
            <a:ext cx="4297680" cy="521208"/>
          </a:xfrm>
          <a:prstGeom prst="roundRect">
            <a:avLst>
              <a:gd name="adj" fmla="val 14035"/>
            </a:avLst>
          </a:prstGeom>
          <a:solidFill>
            <a:srgbClr val="F4F7F5"/>
          </a:solidFill>
          <a:ln w="9525">
            <a:solidFill>
              <a:srgbClr val="D5DED9"/>
            </a:solidFill>
            <a:prstDash val="solid"/>
          </a:ln>
        </p:spPr>
      </p:sp>
      <p:sp>
        <p:nvSpPr>
          <p:cNvPr id="33" name="Shape 26"/>
          <p:cNvSpPr/>
          <p:nvPr/>
        </p:nvSpPr>
        <p:spPr>
          <a:xfrm>
            <a:off x="4498848" y="1737360"/>
            <a:ext cx="301752" cy="301752"/>
          </a:xfrm>
          <a:prstGeom prst="ellipse">
            <a:avLst/>
          </a:prstGeom>
          <a:solidFill>
            <a:srgbClr val="00704A"/>
          </a:solidFill>
          <a:ln/>
        </p:spPr>
      </p:sp>
      <p:sp>
        <p:nvSpPr>
          <p:cNvPr id="34" name="Text 27"/>
          <p:cNvSpPr txBox="1"/>
          <p:nvPr/>
        </p:nvSpPr>
        <p:spPr>
          <a:xfrm>
            <a:off x="4498848" y="1737360"/>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5" name="Text 28"/>
          <p:cNvSpPr txBox="1"/>
          <p:nvPr/>
        </p:nvSpPr>
        <p:spPr>
          <a:xfrm>
            <a:off x="4910328" y="1673352"/>
            <a:ext cx="365760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Freeze the test set first</a:t>
            </a:r>
            <a:endParaRPr lang="en-US" sz="1100" dirty="0"/>
          </a:p>
        </p:txBody>
      </p:sp>
      <p:sp>
        <p:nvSpPr>
          <p:cNvPr id="36" name="Text 29"/>
          <p:cNvSpPr txBox="1"/>
          <p:nvPr/>
        </p:nvSpPr>
        <p:spPr>
          <a:xfrm>
            <a:off x="4910328" y="1892808"/>
            <a:ext cx="3657600" cy="21945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Before any modelling, or every accuracy claim is contaminated.</a:t>
            </a:r>
            <a:endParaRPr lang="en-US" sz="950" dirty="0"/>
          </a:p>
        </p:txBody>
      </p:sp>
      <p:sp>
        <p:nvSpPr>
          <p:cNvPr id="37" name="Shape 30"/>
          <p:cNvSpPr/>
          <p:nvPr/>
        </p:nvSpPr>
        <p:spPr>
          <a:xfrm>
            <a:off x="4389120" y="2221992"/>
            <a:ext cx="4297680" cy="521208"/>
          </a:xfrm>
          <a:prstGeom prst="roundRect">
            <a:avLst>
              <a:gd name="adj" fmla="val 14035"/>
            </a:avLst>
          </a:prstGeom>
          <a:solidFill>
            <a:srgbClr val="F4F7F5"/>
          </a:solidFill>
          <a:ln w="9525">
            <a:solidFill>
              <a:srgbClr val="D5DED9"/>
            </a:solidFill>
            <a:prstDash val="solid"/>
          </a:ln>
        </p:spPr>
      </p:sp>
      <p:sp>
        <p:nvSpPr>
          <p:cNvPr id="38" name="Shape 31"/>
          <p:cNvSpPr/>
          <p:nvPr/>
        </p:nvSpPr>
        <p:spPr>
          <a:xfrm>
            <a:off x="4498848" y="2331720"/>
            <a:ext cx="301752" cy="301752"/>
          </a:xfrm>
          <a:prstGeom prst="ellipse">
            <a:avLst/>
          </a:prstGeom>
          <a:solidFill>
            <a:srgbClr val="00704A"/>
          </a:solidFill>
          <a:ln/>
        </p:spPr>
      </p:sp>
      <p:sp>
        <p:nvSpPr>
          <p:cNvPr id="39" name="Text 32"/>
          <p:cNvSpPr txBox="1"/>
          <p:nvPr/>
        </p:nvSpPr>
        <p:spPr>
          <a:xfrm>
            <a:off x="4498848" y="2331720"/>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0" name="Text 33"/>
          <p:cNvSpPr txBox="1"/>
          <p:nvPr/>
        </p:nvSpPr>
        <p:spPr>
          <a:xfrm>
            <a:off x="4910328" y="2267712"/>
            <a:ext cx="365760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Budget labelling as real work</a:t>
            </a:r>
            <a:endParaRPr lang="en-US" sz="1100" dirty="0"/>
          </a:p>
        </p:txBody>
      </p:sp>
      <p:sp>
        <p:nvSpPr>
          <p:cNvPr id="41" name="Text 34"/>
          <p:cNvSpPr txBox="1"/>
          <p:nvPr/>
        </p:nvSpPr>
        <p:spPr>
          <a:xfrm>
            <a:off x="4910328" y="2487168"/>
            <a:ext cx="3657600" cy="21945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Coder time, guidelines, resolving disagreements, measured agreement.</a:t>
            </a:r>
            <a:endParaRPr lang="en-US" sz="950" dirty="0"/>
          </a:p>
        </p:txBody>
      </p:sp>
      <p:sp>
        <p:nvSpPr>
          <p:cNvPr id="42" name="Shape 35"/>
          <p:cNvSpPr/>
          <p:nvPr/>
        </p:nvSpPr>
        <p:spPr>
          <a:xfrm>
            <a:off x="4389120" y="2816352"/>
            <a:ext cx="4297680" cy="521208"/>
          </a:xfrm>
          <a:prstGeom prst="roundRect">
            <a:avLst>
              <a:gd name="adj" fmla="val 14035"/>
            </a:avLst>
          </a:prstGeom>
          <a:solidFill>
            <a:srgbClr val="F4F7F5"/>
          </a:solidFill>
          <a:ln w="9525">
            <a:solidFill>
              <a:srgbClr val="D5DED9"/>
            </a:solidFill>
            <a:prstDash val="solid"/>
          </a:ln>
        </p:spPr>
      </p:sp>
      <p:sp>
        <p:nvSpPr>
          <p:cNvPr id="43" name="Shape 36"/>
          <p:cNvSpPr/>
          <p:nvPr/>
        </p:nvSpPr>
        <p:spPr>
          <a:xfrm>
            <a:off x="4498848" y="2926080"/>
            <a:ext cx="301752" cy="301752"/>
          </a:xfrm>
          <a:prstGeom prst="ellipse">
            <a:avLst/>
          </a:prstGeom>
          <a:solidFill>
            <a:srgbClr val="00704A"/>
          </a:solidFill>
          <a:ln/>
        </p:spPr>
      </p:sp>
      <p:sp>
        <p:nvSpPr>
          <p:cNvPr id="44" name="Text 37"/>
          <p:cNvSpPr txBox="1"/>
          <p:nvPr/>
        </p:nvSpPr>
        <p:spPr>
          <a:xfrm>
            <a:off x="4498848" y="2926080"/>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38"/>
          <p:cNvSpPr txBox="1"/>
          <p:nvPr/>
        </p:nvSpPr>
        <p:spPr>
          <a:xfrm>
            <a:off x="4910328" y="2862072"/>
            <a:ext cx="365760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Measure the human baseline</a:t>
            </a:r>
            <a:endParaRPr lang="en-US" sz="1100" dirty="0"/>
          </a:p>
        </p:txBody>
      </p:sp>
      <p:sp>
        <p:nvSpPr>
          <p:cNvPr id="46" name="Text 39"/>
          <p:cNvSpPr txBox="1"/>
          <p:nvPr/>
        </p:nvSpPr>
        <p:spPr>
          <a:xfrm>
            <a:off x="4910328" y="3081528"/>
            <a:ext cx="3657600" cy="21945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Coders are not perfect either; their accuracy is the bar to clear.</a:t>
            </a:r>
            <a:endParaRPr lang="en-US" sz="950" dirty="0"/>
          </a:p>
        </p:txBody>
      </p:sp>
      <p:sp>
        <p:nvSpPr>
          <p:cNvPr id="47" name="Shape 40"/>
          <p:cNvSpPr/>
          <p:nvPr/>
        </p:nvSpPr>
        <p:spPr>
          <a:xfrm>
            <a:off x="4389120" y="3410712"/>
            <a:ext cx="4297680" cy="521208"/>
          </a:xfrm>
          <a:prstGeom prst="roundRect">
            <a:avLst>
              <a:gd name="adj" fmla="val 14035"/>
            </a:avLst>
          </a:prstGeom>
          <a:solidFill>
            <a:srgbClr val="F4F7F5"/>
          </a:solidFill>
          <a:ln w="9525">
            <a:solidFill>
              <a:srgbClr val="D5DED9"/>
            </a:solidFill>
            <a:prstDash val="solid"/>
          </a:ln>
        </p:spPr>
      </p:sp>
      <p:sp>
        <p:nvSpPr>
          <p:cNvPr id="48" name="Shape 41"/>
          <p:cNvSpPr/>
          <p:nvPr/>
        </p:nvSpPr>
        <p:spPr>
          <a:xfrm>
            <a:off x="4498848" y="3520440"/>
            <a:ext cx="301752" cy="301752"/>
          </a:xfrm>
          <a:prstGeom prst="ellipse">
            <a:avLst/>
          </a:prstGeom>
          <a:solidFill>
            <a:srgbClr val="00704A"/>
          </a:solidFill>
          <a:ln/>
        </p:spPr>
      </p:sp>
      <p:sp>
        <p:nvSpPr>
          <p:cNvPr id="49" name="Text 42"/>
          <p:cNvSpPr txBox="1"/>
          <p:nvPr/>
        </p:nvSpPr>
        <p:spPr>
          <a:xfrm>
            <a:off x="4498848" y="3520440"/>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0" name="Text 43"/>
          <p:cNvSpPr txBox="1"/>
          <p:nvPr/>
        </p:nvSpPr>
        <p:spPr>
          <a:xfrm>
            <a:off x="4910328" y="3456432"/>
            <a:ext cx="365760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Stratify for rare categories</a:t>
            </a:r>
            <a:endParaRPr lang="en-US" sz="1100" dirty="0"/>
          </a:p>
        </p:txBody>
      </p:sp>
      <p:sp>
        <p:nvSpPr>
          <p:cNvPr id="51" name="Text 44"/>
          <p:cNvSpPr txBox="1"/>
          <p:nvPr/>
        </p:nvSpPr>
        <p:spPr>
          <a:xfrm>
            <a:off x="4910328" y="3675888"/>
            <a:ext cx="3657600" cy="21945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Overall accuracy hides failure in small, policy-relevant groups.</a:t>
            </a:r>
            <a:endParaRPr lang="en-US" sz="950" dirty="0"/>
          </a:p>
        </p:txBody>
      </p:sp>
      <p:sp>
        <p:nvSpPr>
          <p:cNvPr id="52" name="Shape 45"/>
          <p:cNvSpPr/>
          <p:nvPr/>
        </p:nvSpPr>
        <p:spPr>
          <a:xfrm>
            <a:off x="4389120" y="4005072"/>
            <a:ext cx="4297680" cy="521208"/>
          </a:xfrm>
          <a:prstGeom prst="roundRect">
            <a:avLst>
              <a:gd name="adj" fmla="val 14035"/>
            </a:avLst>
          </a:prstGeom>
          <a:solidFill>
            <a:srgbClr val="F4F7F5"/>
          </a:solidFill>
          <a:ln w="9525">
            <a:solidFill>
              <a:srgbClr val="D5DED9"/>
            </a:solidFill>
            <a:prstDash val="solid"/>
          </a:ln>
        </p:spPr>
      </p:sp>
      <p:sp>
        <p:nvSpPr>
          <p:cNvPr id="53" name="Shape 46"/>
          <p:cNvSpPr/>
          <p:nvPr/>
        </p:nvSpPr>
        <p:spPr>
          <a:xfrm>
            <a:off x="4498848" y="4114800"/>
            <a:ext cx="301752" cy="301752"/>
          </a:xfrm>
          <a:prstGeom prst="ellipse">
            <a:avLst/>
          </a:prstGeom>
          <a:solidFill>
            <a:srgbClr val="00704A"/>
          </a:solidFill>
          <a:ln/>
        </p:spPr>
      </p:sp>
      <p:sp>
        <p:nvSpPr>
          <p:cNvPr id="54" name="Text 47"/>
          <p:cNvSpPr txBox="1"/>
          <p:nvPr/>
        </p:nvSpPr>
        <p:spPr>
          <a:xfrm>
            <a:off x="4498848" y="4114800"/>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5" name="Text 48"/>
          <p:cNvSpPr txBox="1"/>
          <p:nvPr/>
        </p:nvSpPr>
        <p:spPr>
          <a:xfrm>
            <a:off x="4910328" y="4050792"/>
            <a:ext cx="365760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Maintain across revisions</a:t>
            </a:r>
            <a:endParaRPr lang="en-US" sz="1100" dirty="0"/>
          </a:p>
        </p:txBody>
      </p:sp>
      <p:sp>
        <p:nvSpPr>
          <p:cNvPr id="56" name="Text 49"/>
          <p:cNvSpPr txBox="1"/>
          <p:nvPr/>
        </p:nvSpPr>
        <p:spPr>
          <a:xfrm>
            <a:off x="4910328" y="4270248"/>
            <a:ext cx="3657600" cy="21945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gold standard on an outdated classification silently expires.</a:t>
            </a:r>
            <a:endParaRPr lang="en-US" sz="95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CORE CONCEPT</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How retrieval-augmented generation (RAG) works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The most common way to make a language model answer from your own documents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8" name="Text 15"/>
          <p:cNvSpPr txBox="1"/>
          <p:nvPr/>
        </p:nvSpPr>
        <p:spPr>
          <a:xfrm>
            <a:off x="457200" y="1325880"/>
            <a:ext cx="36576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ANSWERING A QUESTION</a:t>
            </a:r>
            <a:endParaRPr lang="en-US" sz="900" dirty="0"/>
          </a:p>
        </p:txBody>
      </p:sp>
      <p:sp>
        <p:nvSpPr>
          <p:cNvPr id="19" name="Shape 16"/>
          <p:cNvSpPr/>
          <p:nvPr/>
        </p:nvSpPr>
        <p:spPr>
          <a:xfrm>
            <a:off x="457200" y="1572768"/>
            <a:ext cx="1874520" cy="749808"/>
          </a:xfrm>
          <a:prstGeom prst="roundRect">
            <a:avLst>
              <a:gd name="adj" fmla="val 7317"/>
            </a:avLst>
          </a:prstGeom>
          <a:solidFill>
            <a:srgbClr val="FFFFFF"/>
          </a:solidFill>
          <a:ln w="15875">
            <a:solidFill>
              <a:srgbClr val="00A86A"/>
            </a:solidFill>
            <a:prstDash val="solid"/>
          </a:ln>
        </p:spPr>
      </p:sp>
      <p:sp>
        <p:nvSpPr>
          <p:cNvPr id="20" name="Shape 17"/>
          <p:cNvSpPr/>
          <p:nvPr/>
        </p:nvSpPr>
        <p:spPr>
          <a:xfrm>
            <a:off x="548640" y="1792224"/>
            <a:ext cx="310896" cy="310896"/>
          </a:xfrm>
          <a:prstGeom prst="ellipse">
            <a:avLst/>
          </a:prstGeom>
          <a:solidFill>
            <a:srgbClr val="00A86A">
              <a:alpha val="22000"/>
            </a:srgbClr>
          </a:solidFill>
          <a:ln/>
        </p:spPr>
      </p:sp>
      <p:pic>
        <p:nvPicPr>
          <p:cNvPr id="21" name="Image 0" descr="preencoded.png"/>
          <p:cNvPicPr>
            <a:picLocks noChangeAspect="1"/>
          </p:cNvPicPr>
          <p:nvPr/>
        </p:nvPicPr>
        <p:blipFill>
          <a:blip r:embed="rId3"/>
          <a:stretch>
            <a:fillRect/>
          </a:stretch>
        </p:blipFill>
        <p:spPr>
          <a:xfrm>
            <a:off x="623255" y="1866839"/>
            <a:ext cx="161666" cy="161666"/>
          </a:xfrm>
          <a:prstGeom prst="rect">
            <a:avLst/>
          </a:prstGeom>
        </p:spPr>
      </p:pic>
      <p:sp>
        <p:nvSpPr>
          <p:cNvPr id="22" name="Text 18"/>
          <p:cNvSpPr txBox="1"/>
          <p:nvPr/>
        </p:nvSpPr>
        <p:spPr>
          <a:xfrm>
            <a:off x="914400" y="1636776"/>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1  Ask</a:t>
            </a:r>
            <a:endParaRPr lang="en-US" sz="1050" dirty="0"/>
          </a:p>
        </p:txBody>
      </p:sp>
      <p:sp>
        <p:nvSpPr>
          <p:cNvPr id="23" name="Text 19"/>
          <p:cNvSpPr txBox="1"/>
          <p:nvPr/>
        </p:nvSpPr>
        <p:spPr>
          <a:xfrm>
            <a:off x="914400" y="1856232"/>
            <a:ext cx="1362456" cy="42062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"How is informal employment defined in our LFS?"</a:t>
            </a:r>
            <a:endParaRPr lang="en-US" sz="850" dirty="0"/>
          </a:p>
        </p:txBody>
      </p:sp>
      <p:sp>
        <p:nvSpPr>
          <p:cNvPr id="24" name="Shape 20"/>
          <p:cNvSpPr/>
          <p:nvPr/>
        </p:nvSpPr>
        <p:spPr>
          <a:xfrm>
            <a:off x="2359152" y="1947672"/>
            <a:ext cx="188976" cy="0"/>
          </a:xfrm>
          <a:prstGeom prst="line">
            <a:avLst/>
          </a:prstGeom>
          <a:noFill/>
          <a:ln w="15875">
            <a:solidFill>
              <a:srgbClr val="5E6964"/>
            </a:solidFill>
            <a:prstDash val="solid"/>
            <a:tailEnd type="triangle"/>
          </a:ln>
        </p:spPr>
      </p:sp>
      <p:sp>
        <p:nvSpPr>
          <p:cNvPr id="25" name="Shape 21"/>
          <p:cNvSpPr/>
          <p:nvPr/>
        </p:nvSpPr>
        <p:spPr>
          <a:xfrm>
            <a:off x="2575560" y="1572768"/>
            <a:ext cx="1874520" cy="749808"/>
          </a:xfrm>
          <a:prstGeom prst="roundRect">
            <a:avLst>
              <a:gd name="adj" fmla="val 7317"/>
            </a:avLst>
          </a:prstGeom>
          <a:solidFill>
            <a:srgbClr val="FFFFFF"/>
          </a:solidFill>
          <a:ln w="15875">
            <a:solidFill>
              <a:srgbClr val="00A86A"/>
            </a:solidFill>
            <a:prstDash val="solid"/>
          </a:ln>
        </p:spPr>
      </p:sp>
      <p:sp>
        <p:nvSpPr>
          <p:cNvPr id="26" name="Shape 22"/>
          <p:cNvSpPr/>
          <p:nvPr/>
        </p:nvSpPr>
        <p:spPr>
          <a:xfrm>
            <a:off x="2667000" y="1792224"/>
            <a:ext cx="310896" cy="310896"/>
          </a:xfrm>
          <a:prstGeom prst="ellipse">
            <a:avLst/>
          </a:prstGeom>
          <a:solidFill>
            <a:srgbClr val="00A86A">
              <a:alpha val="22000"/>
            </a:srgbClr>
          </a:solidFill>
          <a:ln/>
        </p:spPr>
      </p:sp>
      <p:pic>
        <p:nvPicPr>
          <p:cNvPr id="27" name="Image 1" descr="preencoded.png"/>
          <p:cNvPicPr>
            <a:picLocks noChangeAspect="1"/>
          </p:cNvPicPr>
          <p:nvPr/>
        </p:nvPicPr>
        <p:blipFill>
          <a:blip r:embed="rId4"/>
          <a:stretch>
            <a:fillRect/>
          </a:stretch>
        </p:blipFill>
        <p:spPr>
          <a:xfrm>
            <a:off x="2741615" y="1866839"/>
            <a:ext cx="161666" cy="161666"/>
          </a:xfrm>
          <a:prstGeom prst="rect">
            <a:avLst/>
          </a:prstGeom>
        </p:spPr>
      </p:pic>
      <p:sp>
        <p:nvSpPr>
          <p:cNvPr id="28" name="Text 23"/>
          <p:cNvSpPr txBox="1"/>
          <p:nvPr/>
        </p:nvSpPr>
        <p:spPr>
          <a:xfrm>
            <a:off x="3032760" y="1636776"/>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2  Search</a:t>
            </a:r>
            <a:endParaRPr lang="en-US" sz="1050" dirty="0"/>
          </a:p>
        </p:txBody>
      </p:sp>
      <p:sp>
        <p:nvSpPr>
          <p:cNvPr id="29" name="Text 24"/>
          <p:cNvSpPr txBox="1"/>
          <p:nvPr/>
        </p:nvSpPr>
        <p:spPr>
          <a:xfrm>
            <a:off x="3032760" y="1856232"/>
            <a:ext cx="1362456" cy="42062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Find the most similar passages the user may see</a:t>
            </a:r>
            <a:endParaRPr lang="en-US" sz="850" dirty="0"/>
          </a:p>
        </p:txBody>
      </p:sp>
      <p:sp>
        <p:nvSpPr>
          <p:cNvPr id="30" name="Shape 25"/>
          <p:cNvSpPr/>
          <p:nvPr/>
        </p:nvSpPr>
        <p:spPr>
          <a:xfrm>
            <a:off x="4477512" y="1947672"/>
            <a:ext cx="188976" cy="0"/>
          </a:xfrm>
          <a:prstGeom prst="line">
            <a:avLst/>
          </a:prstGeom>
          <a:noFill/>
          <a:ln w="15875">
            <a:solidFill>
              <a:srgbClr val="5E6964"/>
            </a:solidFill>
            <a:prstDash val="solid"/>
            <a:tailEnd type="triangle"/>
          </a:ln>
        </p:spPr>
      </p:sp>
      <p:sp>
        <p:nvSpPr>
          <p:cNvPr id="31" name="Shape 26"/>
          <p:cNvSpPr/>
          <p:nvPr/>
        </p:nvSpPr>
        <p:spPr>
          <a:xfrm>
            <a:off x="4693920" y="1572768"/>
            <a:ext cx="1874520" cy="749808"/>
          </a:xfrm>
          <a:prstGeom prst="roundRect">
            <a:avLst>
              <a:gd name="adj" fmla="val 7317"/>
            </a:avLst>
          </a:prstGeom>
          <a:solidFill>
            <a:srgbClr val="E8F5EF"/>
          </a:solidFill>
          <a:ln w="15875">
            <a:solidFill>
              <a:srgbClr val="00A86A"/>
            </a:solidFill>
            <a:prstDash val="solid"/>
          </a:ln>
        </p:spPr>
      </p:sp>
      <p:sp>
        <p:nvSpPr>
          <p:cNvPr id="32" name="Shape 27"/>
          <p:cNvSpPr/>
          <p:nvPr/>
        </p:nvSpPr>
        <p:spPr>
          <a:xfrm>
            <a:off x="4785360" y="1792224"/>
            <a:ext cx="310896" cy="310896"/>
          </a:xfrm>
          <a:prstGeom prst="ellipse">
            <a:avLst/>
          </a:prstGeom>
          <a:solidFill>
            <a:srgbClr val="00A86A">
              <a:alpha val="22000"/>
            </a:srgbClr>
          </a:solidFill>
          <a:ln/>
        </p:spPr>
      </p:sp>
      <p:pic>
        <p:nvPicPr>
          <p:cNvPr id="33" name="Image 2" descr="preencoded.png"/>
          <p:cNvPicPr>
            <a:picLocks noChangeAspect="1"/>
          </p:cNvPicPr>
          <p:nvPr/>
        </p:nvPicPr>
        <p:blipFill>
          <a:blip r:embed="rId5"/>
          <a:stretch>
            <a:fillRect/>
          </a:stretch>
        </p:blipFill>
        <p:spPr>
          <a:xfrm>
            <a:off x="4859975" y="1866839"/>
            <a:ext cx="161666" cy="161666"/>
          </a:xfrm>
          <a:prstGeom prst="rect">
            <a:avLst/>
          </a:prstGeom>
        </p:spPr>
      </p:pic>
      <p:sp>
        <p:nvSpPr>
          <p:cNvPr id="34" name="Text 28"/>
          <p:cNvSpPr txBox="1"/>
          <p:nvPr/>
        </p:nvSpPr>
        <p:spPr>
          <a:xfrm>
            <a:off x="5151120" y="1636776"/>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3  Generate</a:t>
            </a:r>
            <a:endParaRPr lang="en-US" sz="1050" dirty="0"/>
          </a:p>
        </p:txBody>
      </p:sp>
      <p:sp>
        <p:nvSpPr>
          <p:cNvPr id="35" name="Text 29"/>
          <p:cNvSpPr txBox="1"/>
          <p:nvPr/>
        </p:nvSpPr>
        <p:spPr>
          <a:xfrm>
            <a:off x="5151120" y="1856232"/>
            <a:ext cx="1362456" cy="42062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The LLM writes an answer using only those passages</a:t>
            </a:r>
            <a:endParaRPr lang="en-US" sz="850" dirty="0"/>
          </a:p>
        </p:txBody>
      </p:sp>
      <p:sp>
        <p:nvSpPr>
          <p:cNvPr id="36" name="Shape 30"/>
          <p:cNvSpPr/>
          <p:nvPr/>
        </p:nvSpPr>
        <p:spPr>
          <a:xfrm>
            <a:off x="6595872" y="1947672"/>
            <a:ext cx="188976" cy="0"/>
          </a:xfrm>
          <a:prstGeom prst="line">
            <a:avLst/>
          </a:prstGeom>
          <a:noFill/>
          <a:ln w="15875">
            <a:solidFill>
              <a:srgbClr val="5E6964"/>
            </a:solidFill>
            <a:prstDash val="solid"/>
            <a:tailEnd type="triangle"/>
          </a:ln>
        </p:spPr>
      </p:sp>
      <p:sp>
        <p:nvSpPr>
          <p:cNvPr id="37" name="Shape 31"/>
          <p:cNvSpPr/>
          <p:nvPr/>
        </p:nvSpPr>
        <p:spPr>
          <a:xfrm>
            <a:off x="6812280" y="1572768"/>
            <a:ext cx="1874520" cy="749808"/>
          </a:xfrm>
          <a:prstGeom prst="roundRect">
            <a:avLst>
              <a:gd name="adj" fmla="val 7317"/>
            </a:avLst>
          </a:prstGeom>
          <a:solidFill>
            <a:srgbClr val="FFFFFF"/>
          </a:solidFill>
          <a:ln w="15875">
            <a:solidFill>
              <a:srgbClr val="00A86A"/>
            </a:solidFill>
            <a:prstDash val="solid"/>
          </a:ln>
        </p:spPr>
      </p:sp>
      <p:sp>
        <p:nvSpPr>
          <p:cNvPr id="38" name="Shape 32"/>
          <p:cNvSpPr/>
          <p:nvPr/>
        </p:nvSpPr>
        <p:spPr>
          <a:xfrm>
            <a:off x="6903720" y="1792224"/>
            <a:ext cx="310896" cy="310896"/>
          </a:xfrm>
          <a:prstGeom prst="ellipse">
            <a:avLst/>
          </a:prstGeom>
          <a:solidFill>
            <a:srgbClr val="00A86A">
              <a:alpha val="22000"/>
            </a:srgbClr>
          </a:solidFill>
          <a:ln/>
        </p:spPr>
      </p:sp>
      <p:pic>
        <p:nvPicPr>
          <p:cNvPr id="39" name="Image 3" descr="preencoded.png"/>
          <p:cNvPicPr>
            <a:picLocks noChangeAspect="1"/>
          </p:cNvPicPr>
          <p:nvPr/>
        </p:nvPicPr>
        <p:blipFill>
          <a:blip r:embed="rId6"/>
          <a:stretch>
            <a:fillRect/>
          </a:stretch>
        </p:blipFill>
        <p:spPr>
          <a:xfrm>
            <a:off x="6978335" y="1866839"/>
            <a:ext cx="161666" cy="161666"/>
          </a:xfrm>
          <a:prstGeom prst="rect">
            <a:avLst/>
          </a:prstGeom>
        </p:spPr>
      </p:pic>
      <p:sp>
        <p:nvSpPr>
          <p:cNvPr id="40" name="Text 33"/>
          <p:cNvSpPr txBox="1"/>
          <p:nvPr/>
        </p:nvSpPr>
        <p:spPr>
          <a:xfrm>
            <a:off x="7269480" y="1636776"/>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4  Answer</a:t>
            </a:r>
            <a:endParaRPr lang="en-US" sz="1050" dirty="0"/>
          </a:p>
        </p:txBody>
      </p:sp>
      <p:sp>
        <p:nvSpPr>
          <p:cNvPr id="41" name="Text 34"/>
          <p:cNvSpPr txBox="1"/>
          <p:nvPr/>
        </p:nvSpPr>
        <p:spPr>
          <a:xfrm>
            <a:off x="7269480" y="1856232"/>
            <a:ext cx="1362456" cy="42062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Response with citations to the source documents</a:t>
            </a:r>
            <a:endParaRPr lang="en-US" sz="850" dirty="0"/>
          </a:p>
        </p:txBody>
      </p:sp>
      <p:sp>
        <p:nvSpPr>
          <p:cNvPr id="42" name="Text 35"/>
          <p:cNvSpPr txBox="1"/>
          <p:nvPr/>
        </p:nvSpPr>
        <p:spPr>
          <a:xfrm>
            <a:off x="457200" y="2505456"/>
            <a:ext cx="1828800" cy="182880"/>
          </a:xfrm>
          <a:prstGeom prst="rect">
            <a:avLst/>
          </a:prstGeom>
          <a:noFill/>
          <a:ln/>
        </p:spPr>
        <p:txBody>
          <a:bodyPr wrap="square" lIns="0" tIns="0" rIns="0" bIns="0" rtlCol="0" anchor="t"/>
          <a:lstStyle/>
          <a:p>
            <a:pPr marL="0" indent="0">
              <a:buNone/>
            </a:pPr>
            <a:r>
              <a:rPr lang="en-US" sz="900" b="1" kern="0" spc="200" dirty="0">
                <a:solidFill>
                  <a:srgbClr val="0E7C86"/>
                </a:solidFill>
                <a:latin typeface="Calibri" pitchFamily="34" charset="0"/>
                <a:ea typeface="Calibri" pitchFamily="34" charset="-122"/>
                <a:cs typeface="Calibri" pitchFamily="34" charset="-120"/>
              </a:rPr>
              <a:t>PREPARED IN ADVANCE</a:t>
            </a:r>
            <a:endParaRPr lang="en-US" sz="900" dirty="0"/>
          </a:p>
        </p:txBody>
      </p:sp>
      <p:sp>
        <p:nvSpPr>
          <p:cNvPr id="43" name="Shape 36"/>
          <p:cNvSpPr/>
          <p:nvPr/>
        </p:nvSpPr>
        <p:spPr>
          <a:xfrm>
            <a:off x="457200" y="2724912"/>
            <a:ext cx="1874520" cy="713232"/>
          </a:xfrm>
          <a:prstGeom prst="roundRect">
            <a:avLst>
              <a:gd name="adj" fmla="val 7692"/>
            </a:avLst>
          </a:prstGeom>
          <a:solidFill>
            <a:srgbClr val="FFFFFF"/>
          </a:solidFill>
          <a:ln w="15875">
            <a:solidFill>
              <a:srgbClr val="0E7C86"/>
            </a:solidFill>
            <a:prstDash val="solid"/>
          </a:ln>
        </p:spPr>
      </p:sp>
      <p:sp>
        <p:nvSpPr>
          <p:cNvPr id="44" name="Shape 37"/>
          <p:cNvSpPr/>
          <p:nvPr/>
        </p:nvSpPr>
        <p:spPr>
          <a:xfrm>
            <a:off x="548640" y="2926080"/>
            <a:ext cx="310896" cy="310896"/>
          </a:xfrm>
          <a:prstGeom prst="ellipse">
            <a:avLst/>
          </a:prstGeom>
          <a:solidFill>
            <a:srgbClr val="0E7C86">
              <a:alpha val="22000"/>
            </a:srgbClr>
          </a:solidFill>
          <a:ln/>
        </p:spPr>
      </p:sp>
      <p:pic>
        <p:nvPicPr>
          <p:cNvPr id="45" name="Image 4" descr="preencoded.png"/>
          <p:cNvPicPr>
            <a:picLocks noChangeAspect="1"/>
          </p:cNvPicPr>
          <p:nvPr/>
        </p:nvPicPr>
        <p:blipFill>
          <a:blip r:embed="rId7"/>
          <a:stretch>
            <a:fillRect/>
          </a:stretch>
        </p:blipFill>
        <p:spPr>
          <a:xfrm>
            <a:off x="623255" y="3000695"/>
            <a:ext cx="161666" cy="161666"/>
          </a:xfrm>
          <a:prstGeom prst="rect">
            <a:avLst/>
          </a:prstGeom>
        </p:spPr>
      </p:pic>
      <p:sp>
        <p:nvSpPr>
          <p:cNvPr id="46" name="Text 38"/>
          <p:cNvSpPr txBox="1"/>
          <p:nvPr/>
        </p:nvSpPr>
        <p:spPr>
          <a:xfrm>
            <a:off x="914400" y="2788920"/>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Documents</a:t>
            </a:r>
            <a:endParaRPr lang="en-US" sz="1050" dirty="0"/>
          </a:p>
        </p:txBody>
      </p:sp>
      <p:sp>
        <p:nvSpPr>
          <p:cNvPr id="47" name="Text 39"/>
          <p:cNvSpPr txBox="1"/>
          <p:nvPr/>
        </p:nvSpPr>
        <p:spPr>
          <a:xfrm>
            <a:off x="914400" y="3008376"/>
            <a:ext cx="1362456" cy="38404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Manuals, metadata, past publications</a:t>
            </a:r>
            <a:endParaRPr lang="en-US" sz="850" dirty="0"/>
          </a:p>
        </p:txBody>
      </p:sp>
      <p:sp>
        <p:nvSpPr>
          <p:cNvPr id="48" name="Shape 40"/>
          <p:cNvSpPr/>
          <p:nvPr/>
        </p:nvSpPr>
        <p:spPr>
          <a:xfrm>
            <a:off x="2359152" y="3081528"/>
            <a:ext cx="188976" cy="0"/>
          </a:xfrm>
          <a:prstGeom prst="line">
            <a:avLst/>
          </a:prstGeom>
          <a:noFill/>
          <a:ln w="15875">
            <a:solidFill>
              <a:srgbClr val="5E6964"/>
            </a:solidFill>
            <a:prstDash val="solid"/>
            <a:tailEnd type="triangle"/>
          </a:ln>
        </p:spPr>
      </p:sp>
      <p:sp>
        <p:nvSpPr>
          <p:cNvPr id="49" name="Shape 41"/>
          <p:cNvSpPr/>
          <p:nvPr/>
        </p:nvSpPr>
        <p:spPr>
          <a:xfrm>
            <a:off x="2575560" y="2724912"/>
            <a:ext cx="1874520" cy="713232"/>
          </a:xfrm>
          <a:prstGeom prst="roundRect">
            <a:avLst>
              <a:gd name="adj" fmla="val 7692"/>
            </a:avLst>
          </a:prstGeom>
          <a:solidFill>
            <a:srgbClr val="FFFFFF"/>
          </a:solidFill>
          <a:ln w="15875">
            <a:solidFill>
              <a:srgbClr val="0E7C86"/>
            </a:solidFill>
            <a:prstDash val="solid"/>
          </a:ln>
        </p:spPr>
      </p:sp>
      <p:sp>
        <p:nvSpPr>
          <p:cNvPr id="50" name="Shape 42"/>
          <p:cNvSpPr/>
          <p:nvPr/>
        </p:nvSpPr>
        <p:spPr>
          <a:xfrm>
            <a:off x="2667000" y="2926080"/>
            <a:ext cx="310896" cy="310896"/>
          </a:xfrm>
          <a:prstGeom prst="ellipse">
            <a:avLst/>
          </a:prstGeom>
          <a:solidFill>
            <a:srgbClr val="0E7C86">
              <a:alpha val="22000"/>
            </a:srgbClr>
          </a:solidFill>
          <a:ln/>
        </p:spPr>
      </p:sp>
      <p:pic>
        <p:nvPicPr>
          <p:cNvPr id="51" name="Image 5" descr="preencoded.png"/>
          <p:cNvPicPr>
            <a:picLocks noChangeAspect="1"/>
          </p:cNvPicPr>
          <p:nvPr/>
        </p:nvPicPr>
        <p:blipFill>
          <a:blip r:embed="rId8"/>
          <a:stretch>
            <a:fillRect/>
          </a:stretch>
        </p:blipFill>
        <p:spPr>
          <a:xfrm>
            <a:off x="2741615" y="3000695"/>
            <a:ext cx="161666" cy="161666"/>
          </a:xfrm>
          <a:prstGeom prst="rect">
            <a:avLst/>
          </a:prstGeom>
        </p:spPr>
      </p:pic>
      <p:sp>
        <p:nvSpPr>
          <p:cNvPr id="52" name="Text 43"/>
          <p:cNvSpPr txBox="1"/>
          <p:nvPr/>
        </p:nvSpPr>
        <p:spPr>
          <a:xfrm>
            <a:off x="3032760" y="2788920"/>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Split</a:t>
            </a:r>
            <a:endParaRPr lang="en-US" sz="1050" dirty="0"/>
          </a:p>
        </p:txBody>
      </p:sp>
      <p:sp>
        <p:nvSpPr>
          <p:cNvPr id="53" name="Text 44"/>
          <p:cNvSpPr txBox="1"/>
          <p:nvPr/>
        </p:nvSpPr>
        <p:spPr>
          <a:xfrm>
            <a:off x="3032760" y="3008376"/>
            <a:ext cx="1362456" cy="38404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Cut into short passages</a:t>
            </a:r>
            <a:endParaRPr lang="en-US" sz="850" dirty="0"/>
          </a:p>
        </p:txBody>
      </p:sp>
      <p:sp>
        <p:nvSpPr>
          <p:cNvPr id="54" name="Shape 45"/>
          <p:cNvSpPr/>
          <p:nvPr/>
        </p:nvSpPr>
        <p:spPr>
          <a:xfrm>
            <a:off x="4477512" y="3081528"/>
            <a:ext cx="188976" cy="0"/>
          </a:xfrm>
          <a:prstGeom prst="line">
            <a:avLst/>
          </a:prstGeom>
          <a:noFill/>
          <a:ln w="15875">
            <a:solidFill>
              <a:srgbClr val="5E6964"/>
            </a:solidFill>
            <a:prstDash val="solid"/>
            <a:tailEnd type="triangle"/>
          </a:ln>
        </p:spPr>
      </p:sp>
      <p:sp>
        <p:nvSpPr>
          <p:cNvPr id="55" name="Shape 46"/>
          <p:cNvSpPr/>
          <p:nvPr/>
        </p:nvSpPr>
        <p:spPr>
          <a:xfrm>
            <a:off x="4693920" y="2724912"/>
            <a:ext cx="1874520" cy="713232"/>
          </a:xfrm>
          <a:prstGeom prst="roundRect">
            <a:avLst>
              <a:gd name="adj" fmla="val 7692"/>
            </a:avLst>
          </a:prstGeom>
          <a:solidFill>
            <a:srgbClr val="FFFFFF"/>
          </a:solidFill>
          <a:ln w="15875">
            <a:solidFill>
              <a:srgbClr val="0E7C86"/>
            </a:solidFill>
            <a:prstDash val="solid"/>
          </a:ln>
        </p:spPr>
      </p:sp>
      <p:sp>
        <p:nvSpPr>
          <p:cNvPr id="56" name="Shape 47"/>
          <p:cNvSpPr/>
          <p:nvPr/>
        </p:nvSpPr>
        <p:spPr>
          <a:xfrm>
            <a:off x="4785360" y="2926080"/>
            <a:ext cx="310896" cy="310896"/>
          </a:xfrm>
          <a:prstGeom prst="ellipse">
            <a:avLst/>
          </a:prstGeom>
          <a:solidFill>
            <a:srgbClr val="0E7C86">
              <a:alpha val="22000"/>
            </a:srgbClr>
          </a:solidFill>
          <a:ln/>
        </p:spPr>
      </p:sp>
      <p:pic>
        <p:nvPicPr>
          <p:cNvPr id="57" name="Image 6" descr="preencoded.png"/>
          <p:cNvPicPr>
            <a:picLocks noChangeAspect="1"/>
          </p:cNvPicPr>
          <p:nvPr/>
        </p:nvPicPr>
        <p:blipFill>
          <a:blip r:embed="rId9"/>
          <a:stretch>
            <a:fillRect/>
          </a:stretch>
        </p:blipFill>
        <p:spPr>
          <a:xfrm>
            <a:off x="4859975" y="3000695"/>
            <a:ext cx="161666" cy="161666"/>
          </a:xfrm>
          <a:prstGeom prst="rect">
            <a:avLst/>
          </a:prstGeom>
        </p:spPr>
      </p:pic>
      <p:sp>
        <p:nvSpPr>
          <p:cNvPr id="58" name="Text 48"/>
          <p:cNvSpPr txBox="1"/>
          <p:nvPr/>
        </p:nvSpPr>
        <p:spPr>
          <a:xfrm>
            <a:off x="5151120" y="2788920"/>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Embed</a:t>
            </a:r>
            <a:endParaRPr lang="en-US" sz="1050" dirty="0"/>
          </a:p>
        </p:txBody>
      </p:sp>
      <p:sp>
        <p:nvSpPr>
          <p:cNvPr id="59" name="Text 49"/>
          <p:cNvSpPr txBox="1"/>
          <p:nvPr/>
        </p:nvSpPr>
        <p:spPr>
          <a:xfrm>
            <a:off x="5151120" y="3008376"/>
            <a:ext cx="1362456" cy="38404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Turn each passage into numbers that capture meaning</a:t>
            </a:r>
            <a:endParaRPr lang="en-US" sz="850" dirty="0"/>
          </a:p>
        </p:txBody>
      </p:sp>
      <p:sp>
        <p:nvSpPr>
          <p:cNvPr id="60" name="Shape 50"/>
          <p:cNvSpPr/>
          <p:nvPr/>
        </p:nvSpPr>
        <p:spPr>
          <a:xfrm>
            <a:off x="6595872" y="3081528"/>
            <a:ext cx="188976" cy="0"/>
          </a:xfrm>
          <a:prstGeom prst="line">
            <a:avLst/>
          </a:prstGeom>
          <a:noFill/>
          <a:ln w="15875">
            <a:solidFill>
              <a:srgbClr val="5E6964"/>
            </a:solidFill>
            <a:prstDash val="solid"/>
            <a:tailEnd type="triangle"/>
          </a:ln>
        </p:spPr>
      </p:sp>
      <p:sp>
        <p:nvSpPr>
          <p:cNvPr id="61" name="Shape 51"/>
          <p:cNvSpPr/>
          <p:nvPr/>
        </p:nvSpPr>
        <p:spPr>
          <a:xfrm>
            <a:off x="6812280" y="2724912"/>
            <a:ext cx="1874520" cy="713232"/>
          </a:xfrm>
          <a:prstGeom prst="roundRect">
            <a:avLst>
              <a:gd name="adj" fmla="val 7692"/>
            </a:avLst>
          </a:prstGeom>
          <a:solidFill>
            <a:srgbClr val="FFFFFF"/>
          </a:solidFill>
          <a:ln w="15875">
            <a:solidFill>
              <a:srgbClr val="0E7C86"/>
            </a:solidFill>
            <a:prstDash val="solid"/>
          </a:ln>
        </p:spPr>
      </p:sp>
      <p:sp>
        <p:nvSpPr>
          <p:cNvPr id="62" name="Shape 52"/>
          <p:cNvSpPr/>
          <p:nvPr/>
        </p:nvSpPr>
        <p:spPr>
          <a:xfrm>
            <a:off x="6903720" y="2926080"/>
            <a:ext cx="310896" cy="310896"/>
          </a:xfrm>
          <a:prstGeom prst="ellipse">
            <a:avLst/>
          </a:prstGeom>
          <a:solidFill>
            <a:srgbClr val="0E7C86">
              <a:alpha val="22000"/>
            </a:srgbClr>
          </a:solidFill>
          <a:ln/>
        </p:spPr>
      </p:sp>
      <p:pic>
        <p:nvPicPr>
          <p:cNvPr id="63" name="Image 7" descr="preencoded.png"/>
          <p:cNvPicPr>
            <a:picLocks noChangeAspect="1"/>
          </p:cNvPicPr>
          <p:nvPr/>
        </p:nvPicPr>
        <p:blipFill>
          <a:blip r:embed="rId10"/>
          <a:stretch>
            <a:fillRect/>
          </a:stretch>
        </p:blipFill>
        <p:spPr>
          <a:xfrm>
            <a:off x="6978335" y="3000695"/>
            <a:ext cx="161666" cy="161666"/>
          </a:xfrm>
          <a:prstGeom prst="rect">
            <a:avLst/>
          </a:prstGeom>
        </p:spPr>
      </p:pic>
      <p:sp>
        <p:nvSpPr>
          <p:cNvPr id="64" name="Text 53"/>
          <p:cNvSpPr txBox="1"/>
          <p:nvPr/>
        </p:nvSpPr>
        <p:spPr>
          <a:xfrm>
            <a:off x="7269480" y="2788920"/>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Vector index</a:t>
            </a:r>
            <a:endParaRPr lang="en-US" sz="1050" dirty="0"/>
          </a:p>
        </p:txBody>
      </p:sp>
      <p:sp>
        <p:nvSpPr>
          <p:cNvPr id="65" name="Text 54"/>
          <p:cNvSpPr txBox="1"/>
          <p:nvPr/>
        </p:nvSpPr>
        <p:spPr>
          <a:xfrm>
            <a:off x="7269480" y="3008376"/>
            <a:ext cx="1362456" cy="38404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Searchable store — a copy of your data</a:t>
            </a:r>
            <a:endParaRPr lang="en-US" sz="850" dirty="0"/>
          </a:p>
        </p:txBody>
      </p:sp>
      <p:sp>
        <p:nvSpPr>
          <p:cNvPr id="66" name="Shape 55"/>
          <p:cNvSpPr/>
          <p:nvPr/>
        </p:nvSpPr>
        <p:spPr>
          <a:xfrm>
            <a:off x="7749540" y="2432304"/>
            <a:ext cx="0" cy="292608"/>
          </a:xfrm>
          <a:prstGeom prst="line">
            <a:avLst/>
          </a:prstGeom>
          <a:noFill/>
          <a:ln w="15875">
            <a:solidFill>
              <a:srgbClr val="0E7C86"/>
            </a:solidFill>
            <a:prstDash val="dash"/>
          </a:ln>
        </p:spPr>
      </p:sp>
      <p:sp>
        <p:nvSpPr>
          <p:cNvPr id="67" name="Shape 56"/>
          <p:cNvSpPr/>
          <p:nvPr/>
        </p:nvSpPr>
        <p:spPr>
          <a:xfrm>
            <a:off x="3512820" y="2432304"/>
            <a:ext cx="4236720" cy="0"/>
          </a:xfrm>
          <a:prstGeom prst="line">
            <a:avLst/>
          </a:prstGeom>
          <a:noFill/>
          <a:ln w="15875">
            <a:solidFill>
              <a:srgbClr val="0E7C86"/>
            </a:solidFill>
            <a:prstDash val="dash"/>
          </a:ln>
        </p:spPr>
      </p:sp>
      <p:sp>
        <p:nvSpPr>
          <p:cNvPr id="68" name="Shape 57"/>
          <p:cNvSpPr/>
          <p:nvPr/>
        </p:nvSpPr>
        <p:spPr>
          <a:xfrm>
            <a:off x="3512820" y="2340864"/>
            <a:ext cx="0" cy="91440"/>
          </a:xfrm>
          <a:prstGeom prst="line">
            <a:avLst/>
          </a:prstGeom>
          <a:noFill/>
          <a:ln w="15875">
            <a:solidFill>
              <a:srgbClr val="0E7C86"/>
            </a:solidFill>
            <a:prstDash val="solid"/>
            <a:headEnd type="triangle"/>
          </a:ln>
        </p:spPr>
      </p:sp>
      <p:sp>
        <p:nvSpPr>
          <p:cNvPr id="69" name="Text 58"/>
          <p:cNvSpPr txBox="1"/>
          <p:nvPr/>
        </p:nvSpPr>
        <p:spPr>
          <a:xfrm>
            <a:off x="3604260" y="2459736"/>
            <a:ext cx="1463040" cy="164592"/>
          </a:xfrm>
          <a:prstGeom prst="rect">
            <a:avLst/>
          </a:prstGeom>
          <a:noFill/>
          <a:ln/>
        </p:spPr>
        <p:txBody>
          <a:bodyPr wrap="square" lIns="0" tIns="0" rIns="0" bIns="0" rtlCol="0" anchor="t"/>
          <a:lstStyle/>
          <a:p>
            <a:pPr marL="0" indent="0">
              <a:buNone/>
            </a:pPr>
            <a:r>
              <a:rPr lang="en-US" sz="800" i="1" dirty="0">
                <a:solidFill>
                  <a:srgbClr val="0E7C86"/>
                </a:solidFill>
                <a:latin typeface="Calibri" pitchFamily="34" charset="0"/>
                <a:ea typeface="Calibri" pitchFamily="34" charset="-122"/>
                <a:cs typeface="Calibri" pitchFamily="34" charset="-120"/>
              </a:rPr>
              <a:t>search uses the index</a:t>
            </a:r>
            <a:endParaRPr lang="en-US" sz="800" dirty="0"/>
          </a:p>
        </p:txBody>
      </p:sp>
      <p:sp>
        <p:nvSpPr>
          <p:cNvPr id="70" name="Shape 59"/>
          <p:cNvSpPr/>
          <p:nvPr/>
        </p:nvSpPr>
        <p:spPr>
          <a:xfrm>
            <a:off x="457200" y="3703320"/>
            <a:ext cx="4023360" cy="896112"/>
          </a:xfrm>
          <a:prstGeom prst="roundRect">
            <a:avLst>
              <a:gd name="adj" fmla="val 8163"/>
            </a:avLst>
          </a:prstGeom>
          <a:solidFill>
            <a:srgbClr val="E8F5EF"/>
          </a:solidFill>
          <a:ln w="15875">
            <a:solidFill>
              <a:srgbClr val="00A86A"/>
            </a:solidFill>
            <a:prstDash val="solid"/>
          </a:ln>
        </p:spPr>
      </p:sp>
      <p:sp>
        <p:nvSpPr>
          <p:cNvPr id="71" name="Shape 60"/>
          <p:cNvSpPr/>
          <p:nvPr/>
        </p:nvSpPr>
        <p:spPr>
          <a:xfrm>
            <a:off x="566928" y="3813048"/>
            <a:ext cx="292608" cy="292608"/>
          </a:xfrm>
          <a:prstGeom prst="ellipse">
            <a:avLst/>
          </a:prstGeom>
          <a:solidFill>
            <a:srgbClr val="00A86A">
              <a:alpha val="22000"/>
            </a:srgbClr>
          </a:solidFill>
          <a:ln/>
        </p:spPr>
      </p:sp>
      <p:pic>
        <p:nvPicPr>
          <p:cNvPr id="72" name="Image 8" descr="preencoded.png"/>
          <p:cNvPicPr>
            <a:picLocks noChangeAspect="1"/>
          </p:cNvPicPr>
          <p:nvPr/>
        </p:nvPicPr>
        <p:blipFill>
          <a:blip r:embed="rId6"/>
          <a:stretch>
            <a:fillRect/>
          </a:stretch>
        </p:blipFill>
        <p:spPr>
          <a:xfrm>
            <a:off x="637154" y="3883274"/>
            <a:ext cx="152156" cy="152156"/>
          </a:xfrm>
          <a:prstGeom prst="rect">
            <a:avLst/>
          </a:prstGeom>
        </p:spPr>
      </p:pic>
      <p:sp>
        <p:nvSpPr>
          <p:cNvPr id="73" name="Text 61"/>
          <p:cNvSpPr txBox="1"/>
          <p:nvPr/>
        </p:nvSpPr>
        <p:spPr>
          <a:xfrm>
            <a:off x="950976" y="3794760"/>
            <a:ext cx="338328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Why it is useful</a:t>
            </a:r>
            <a:endParaRPr lang="en-US" sz="1100" dirty="0"/>
          </a:p>
        </p:txBody>
      </p:sp>
      <p:sp>
        <p:nvSpPr>
          <p:cNvPr id="74" name="Text 62"/>
          <p:cNvSpPr txBox="1"/>
          <p:nvPr/>
        </p:nvSpPr>
        <p:spPr>
          <a:xfrm>
            <a:off x="950976" y="4023360"/>
            <a:ext cx="3429000" cy="53035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Answers come from your own methodology, sources are cited, and no retraining is needed when documents change.</a:t>
            </a:r>
            <a:endParaRPr lang="en-US" sz="950" dirty="0"/>
          </a:p>
        </p:txBody>
      </p:sp>
      <p:sp>
        <p:nvSpPr>
          <p:cNvPr id="75" name="Shape 63"/>
          <p:cNvSpPr/>
          <p:nvPr/>
        </p:nvSpPr>
        <p:spPr>
          <a:xfrm>
            <a:off x="4663440" y="3703320"/>
            <a:ext cx="4023360" cy="896112"/>
          </a:xfrm>
          <a:prstGeom prst="roundRect">
            <a:avLst>
              <a:gd name="adj" fmla="val 6122"/>
            </a:avLst>
          </a:prstGeom>
          <a:solidFill>
            <a:srgbClr val="D49A00">
              <a:alpha val="13000"/>
            </a:srgbClr>
          </a:solidFill>
          <a:ln w="12700">
            <a:solidFill>
              <a:srgbClr val="D49A00"/>
            </a:solidFill>
            <a:prstDash val="solid"/>
          </a:ln>
        </p:spPr>
      </p:sp>
      <p:sp>
        <p:nvSpPr>
          <p:cNvPr id="76" name="Shape 64"/>
          <p:cNvSpPr/>
          <p:nvPr/>
        </p:nvSpPr>
        <p:spPr>
          <a:xfrm>
            <a:off x="4773168" y="4005072"/>
            <a:ext cx="292608" cy="292608"/>
          </a:xfrm>
          <a:prstGeom prst="ellipse">
            <a:avLst/>
          </a:prstGeom>
          <a:solidFill>
            <a:srgbClr val="D49A00">
              <a:alpha val="22000"/>
            </a:srgbClr>
          </a:solidFill>
          <a:ln/>
        </p:spPr>
      </p:sp>
      <p:pic>
        <p:nvPicPr>
          <p:cNvPr id="77" name="Image 9" descr="preencoded.png"/>
          <p:cNvPicPr>
            <a:picLocks noChangeAspect="1"/>
          </p:cNvPicPr>
          <p:nvPr/>
        </p:nvPicPr>
        <p:blipFill>
          <a:blip r:embed="rId11"/>
          <a:stretch>
            <a:fillRect/>
          </a:stretch>
        </p:blipFill>
        <p:spPr>
          <a:xfrm>
            <a:off x="4843394" y="4075298"/>
            <a:ext cx="152156" cy="152156"/>
          </a:xfrm>
          <a:prstGeom prst="rect">
            <a:avLst/>
          </a:prstGeom>
        </p:spPr>
      </p:pic>
      <p:sp>
        <p:nvSpPr>
          <p:cNvPr id="78" name="Text 65"/>
          <p:cNvSpPr txBox="1"/>
          <p:nvPr/>
        </p:nvSpPr>
        <p:spPr>
          <a:xfrm>
            <a:off x="5166360" y="3703320"/>
            <a:ext cx="3383280" cy="896112"/>
          </a:xfrm>
          <a:prstGeom prst="rect">
            <a:avLst/>
          </a:prstGeom>
          <a:noFill/>
          <a:ln/>
        </p:spPr>
        <p:txBody>
          <a:bodyPr wrap="square" lIns="0" tIns="0" rIns="0" bIns="0" rtlCol="0" anchor="ctr"/>
          <a:lstStyle/>
          <a:p>
            <a:pPr marL="0" indent="0">
              <a:buNone/>
            </a:pPr>
            <a:r>
              <a:rPr lang="en-US" sz="950" b="1" dirty="0">
                <a:solidFill>
                  <a:srgbClr val="8A6400"/>
                </a:solidFill>
                <a:latin typeface="Calibri" pitchFamily="34" charset="0"/>
                <a:ea typeface="Calibri" pitchFamily="34" charset="-122"/>
                <a:cs typeface="Calibri" pitchFamily="34" charset="-120"/>
              </a:rPr>
              <a:t>Watch out:  </a:t>
            </a:r>
            <a:r>
              <a:rPr lang="en-US" sz="950" dirty="0">
                <a:solidFill>
                  <a:srgbClr val="231F20"/>
                </a:solidFill>
                <a:latin typeface="Calibri" pitchFamily="34" charset="0"/>
                <a:ea typeface="Calibri" pitchFamily="34" charset="-122"/>
                <a:cs typeface="Calibri" pitchFamily="34" charset="-120"/>
              </a:rPr>
              <a:t>the index is a second copy of the data. Classify it, filter results by each user's permissions, and version it with the model.</a:t>
            </a:r>
            <a:endParaRPr lang="en-US" sz="95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LAYER 3 · MLOPS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From notebook to production in seven stages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Each stage has an owner and an artefact. A pilot that skips stages 2–5 cannot be promoted</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sp>
        <p:nvSpPr>
          <p:cNvPr id="18" name="Shape 15"/>
          <p:cNvSpPr/>
          <p:nvPr/>
        </p:nvSpPr>
        <p:spPr>
          <a:xfrm>
            <a:off x="457200" y="1371600"/>
            <a:ext cx="1078992" cy="1920240"/>
          </a:xfrm>
          <a:prstGeom prst="roundRect">
            <a:avLst>
              <a:gd name="adj" fmla="val 6780"/>
            </a:avLst>
          </a:prstGeom>
          <a:solidFill>
            <a:srgbClr val="F4F7F5"/>
          </a:solidFill>
          <a:ln w="9525">
            <a:solidFill>
              <a:srgbClr val="D5DED9"/>
            </a:solidFill>
            <a:prstDash val="solid"/>
          </a:ln>
        </p:spPr>
      </p:sp>
      <p:sp>
        <p:nvSpPr>
          <p:cNvPr id="19" name="Shape 16"/>
          <p:cNvSpPr/>
          <p:nvPr/>
        </p:nvSpPr>
        <p:spPr>
          <a:xfrm>
            <a:off x="804672" y="1481328"/>
            <a:ext cx="384048" cy="384048"/>
          </a:xfrm>
          <a:prstGeom prst="ellipse">
            <a:avLst/>
          </a:prstGeom>
          <a:solidFill>
            <a:srgbClr val="00704A">
              <a:alpha val="22000"/>
            </a:srgbClr>
          </a:solidFill>
          <a:ln/>
        </p:spPr>
      </p:sp>
      <p:pic>
        <p:nvPicPr>
          <p:cNvPr id="20" name="Image 0" descr="preencoded.png"/>
          <p:cNvPicPr>
            <a:picLocks noChangeAspect="1"/>
          </p:cNvPicPr>
          <p:nvPr/>
        </p:nvPicPr>
        <p:blipFill>
          <a:blip r:embed="rId3"/>
          <a:stretch>
            <a:fillRect/>
          </a:stretch>
        </p:blipFill>
        <p:spPr>
          <a:xfrm>
            <a:off x="896844" y="1573500"/>
            <a:ext cx="199705" cy="199705"/>
          </a:xfrm>
          <a:prstGeom prst="rect">
            <a:avLst/>
          </a:prstGeom>
        </p:spPr>
      </p:pic>
      <p:sp>
        <p:nvSpPr>
          <p:cNvPr id="21" name="Text 17"/>
          <p:cNvSpPr txBox="1"/>
          <p:nvPr/>
        </p:nvSpPr>
        <p:spPr>
          <a:xfrm>
            <a:off x="502920" y="1920240"/>
            <a:ext cx="987552" cy="22860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1. Experiment</a:t>
            </a:r>
            <a:endParaRPr lang="en-US" sz="1100" dirty="0"/>
          </a:p>
        </p:txBody>
      </p:sp>
      <p:sp>
        <p:nvSpPr>
          <p:cNvPr id="22" name="Text 18"/>
          <p:cNvSpPr txBox="1"/>
          <p:nvPr/>
        </p:nvSpPr>
        <p:spPr>
          <a:xfrm>
            <a:off x="530352" y="2176272"/>
            <a:ext cx="932688" cy="56692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Notebooks, exploration</a:t>
            </a:r>
            <a:endParaRPr lang="en-US" sz="900" dirty="0"/>
          </a:p>
        </p:txBody>
      </p:sp>
      <p:sp>
        <p:nvSpPr>
          <p:cNvPr id="23" name="Shape 19"/>
          <p:cNvSpPr/>
          <p:nvPr/>
        </p:nvSpPr>
        <p:spPr>
          <a:xfrm>
            <a:off x="594360" y="2788920"/>
            <a:ext cx="804672" cy="0"/>
          </a:xfrm>
          <a:prstGeom prst="line">
            <a:avLst/>
          </a:prstGeom>
          <a:noFill/>
          <a:ln w="6350">
            <a:solidFill>
              <a:srgbClr val="D5DED9"/>
            </a:solidFill>
            <a:prstDash val="solid"/>
          </a:ln>
        </p:spPr>
      </p:sp>
      <p:sp>
        <p:nvSpPr>
          <p:cNvPr id="24" name="Text 20"/>
          <p:cNvSpPr txBox="1"/>
          <p:nvPr/>
        </p:nvSpPr>
        <p:spPr>
          <a:xfrm>
            <a:off x="502920" y="2834640"/>
            <a:ext cx="987552" cy="384048"/>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Code repository</a:t>
            </a:r>
            <a:endParaRPr lang="en-US" sz="850" dirty="0"/>
          </a:p>
        </p:txBody>
      </p:sp>
      <p:sp>
        <p:nvSpPr>
          <p:cNvPr id="25" name="Shape 21"/>
          <p:cNvSpPr/>
          <p:nvPr/>
        </p:nvSpPr>
        <p:spPr>
          <a:xfrm>
            <a:off x="1540764" y="2011680"/>
            <a:ext cx="103632" cy="0"/>
          </a:xfrm>
          <a:prstGeom prst="line">
            <a:avLst/>
          </a:prstGeom>
          <a:noFill/>
          <a:ln w="15875">
            <a:solidFill>
              <a:srgbClr val="5E6964"/>
            </a:solidFill>
            <a:prstDash val="solid"/>
            <a:tailEnd type="triangle"/>
          </a:ln>
        </p:spPr>
      </p:sp>
      <p:sp>
        <p:nvSpPr>
          <p:cNvPr id="26" name="Shape 22"/>
          <p:cNvSpPr/>
          <p:nvPr/>
        </p:nvSpPr>
        <p:spPr>
          <a:xfrm>
            <a:off x="1648968" y="1371600"/>
            <a:ext cx="1078992" cy="1920240"/>
          </a:xfrm>
          <a:prstGeom prst="roundRect">
            <a:avLst>
              <a:gd name="adj" fmla="val 6780"/>
            </a:avLst>
          </a:prstGeom>
          <a:solidFill>
            <a:srgbClr val="F4F7F5"/>
          </a:solidFill>
          <a:ln w="9525">
            <a:solidFill>
              <a:srgbClr val="D5DED9"/>
            </a:solidFill>
            <a:prstDash val="solid"/>
          </a:ln>
        </p:spPr>
      </p:sp>
      <p:sp>
        <p:nvSpPr>
          <p:cNvPr id="27" name="Shape 23"/>
          <p:cNvSpPr/>
          <p:nvPr/>
        </p:nvSpPr>
        <p:spPr>
          <a:xfrm>
            <a:off x="1996440" y="1481328"/>
            <a:ext cx="384048" cy="384048"/>
          </a:xfrm>
          <a:prstGeom prst="ellipse">
            <a:avLst/>
          </a:prstGeom>
          <a:solidFill>
            <a:srgbClr val="00704A">
              <a:alpha val="22000"/>
            </a:srgbClr>
          </a:solidFill>
          <a:ln/>
        </p:spPr>
      </p:sp>
      <p:pic>
        <p:nvPicPr>
          <p:cNvPr id="28" name="Image 1" descr="preencoded.png"/>
          <p:cNvPicPr>
            <a:picLocks noChangeAspect="1"/>
          </p:cNvPicPr>
          <p:nvPr/>
        </p:nvPicPr>
        <p:blipFill>
          <a:blip r:embed="rId4"/>
          <a:stretch>
            <a:fillRect/>
          </a:stretch>
        </p:blipFill>
        <p:spPr>
          <a:xfrm>
            <a:off x="2088612" y="1573500"/>
            <a:ext cx="199705" cy="199705"/>
          </a:xfrm>
          <a:prstGeom prst="rect">
            <a:avLst/>
          </a:prstGeom>
        </p:spPr>
      </p:pic>
      <p:sp>
        <p:nvSpPr>
          <p:cNvPr id="29" name="Text 24"/>
          <p:cNvSpPr txBox="1"/>
          <p:nvPr/>
        </p:nvSpPr>
        <p:spPr>
          <a:xfrm>
            <a:off x="1694688" y="1920240"/>
            <a:ext cx="987552" cy="22860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2. Version</a:t>
            </a:r>
            <a:endParaRPr lang="en-US" sz="1100" dirty="0"/>
          </a:p>
        </p:txBody>
      </p:sp>
      <p:sp>
        <p:nvSpPr>
          <p:cNvPr id="30" name="Text 25"/>
          <p:cNvSpPr txBox="1"/>
          <p:nvPr/>
        </p:nvSpPr>
        <p:spPr>
          <a:xfrm>
            <a:off x="1722120" y="2176272"/>
            <a:ext cx="932688" cy="56692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Data, code, settings, weights</a:t>
            </a:r>
            <a:endParaRPr lang="en-US" sz="900" dirty="0"/>
          </a:p>
        </p:txBody>
      </p:sp>
      <p:sp>
        <p:nvSpPr>
          <p:cNvPr id="31" name="Shape 26"/>
          <p:cNvSpPr/>
          <p:nvPr/>
        </p:nvSpPr>
        <p:spPr>
          <a:xfrm>
            <a:off x="1786128" y="2788920"/>
            <a:ext cx="804672" cy="0"/>
          </a:xfrm>
          <a:prstGeom prst="line">
            <a:avLst/>
          </a:prstGeom>
          <a:noFill/>
          <a:ln w="6350">
            <a:solidFill>
              <a:srgbClr val="D5DED9"/>
            </a:solidFill>
            <a:prstDash val="solid"/>
          </a:ln>
        </p:spPr>
      </p:sp>
      <p:sp>
        <p:nvSpPr>
          <p:cNvPr id="32" name="Text 27"/>
          <p:cNvSpPr txBox="1"/>
          <p:nvPr/>
        </p:nvSpPr>
        <p:spPr>
          <a:xfrm>
            <a:off x="1694688" y="2834640"/>
            <a:ext cx="987552" cy="384048"/>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Experiment tracker</a:t>
            </a:r>
            <a:endParaRPr lang="en-US" sz="850" dirty="0"/>
          </a:p>
        </p:txBody>
      </p:sp>
      <p:sp>
        <p:nvSpPr>
          <p:cNvPr id="33" name="Shape 28"/>
          <p:cNvSpPr/>
          <p:nvPr/>
        </p:nvSpPr>
        <p:spPr>
          <a:xfrm>
            <a:off x="2732532" y="2011680"/>
            <a:ext cx="103632" cy="0"/>
          </a:xfrm>
          <a:prstGeom prst="line">
            <a:avLst/>
          </a:prstGeom>
          <a:noFill/>
          <a:ln w="15875">
            <a:solidFill>
              <a:srgbClr val="5E6964"/>
            </a:solidFill>
            <a:prstDash val="solid"/>
            <a:tailEnd type="triangle"/>
          </a:ln>
        </p:spPr>
      </p:sp>
      <p:sp>
        <p:nvSpPr>
          <p:cNvPr id="34" name="Shape 29"/>
          <p:cNvSpPr/>
          <p:nvPr/>
        </p:nvSpPr>
        <p:spPr>
          <a:xfrm>
            <a:off x="2840736" y="1371600"/>
            <a:ext cx="1078992" cy="1920240"/>
          </a:xfrm>
          <a:prstGeom prst="roundRect">
            <a:avLst>
              <a:gd name="adj" fmla="val 6780"/>
            </a:avLst>
          </a:prstGeom>
          <a:solidFill>
            <a:srgbClr val="F4F7F5"/>
          </a:solidFill>
          <a:ln w="9525">
            <a:solidFill>
              <a:srgbClr val="D5DED9"/>
            </a:solidFill>
            <a:prstDash val="solid"/>
          </a:ln>
        </p:spPr>
      </p:sp>
      <p:sp>
        <p:nvSpPr>
          <p:cNvPr id="35" name="Shape 30"/>
          <p:cNvSpPr/>
          <p:nvPr/>
        </p:nvSpPr>
        <p:spPr>
          <a:xfrm>
            <a:off x="3188208" y="1481328"/>
            <a:ext cx="384048" cy="384048"/>
          </a:xfrm>
          <a:prstGeom prst="ellipse">
            <a:avLst/>
          </a:prstGeom>
          <a:solidFill>
            <a:srgbClr val="00704A">
              <a:alpha val="22000"/>
            </a:srgbClr>
          </a:solidFill>
          <a:ln/>
        </p:spPr>
      </p:sp>
      <p:pic>
        <p:nvPicPr>
          <p:cNvPr id="36" name="Image 2" descr="preencoded.png"/>
          <p:cNvPicPr>
            <a:picLocks noChangeAspect="1"/>
          </p:cNvPicPr>
          <p:nvPr/>
        </p:nvPicPr>
        <p:blipFill>
          <a:blip r:embed="rId5"/>
          <a:stretch>
            <a:fillRect/>
          </a:stretch>
        </p:blipFill>
        <p:spPr>
          <a:xfrm>
            <a:off x="3280380" y="1573500"/>
            <a:ext cx="199705" cy="199705"/>
          </a:xfrm>
          <a:prstGeom prst="rect">
            <a:avLst/>
          </a:prstGeom>
        </p:spPr>
      </p:pic>
      <p:sp>
        <p:nvSpPr>
          <p:cNvPr id="37" name="Text 31"/>
          <p:cNvSpPr txBox="1"/>
          <p:nvPr/>
        </p:nvSpPr>
        <p:spPr>
          <a:xfrm>
            <a:off x="2886456" y="1920240"/>
            <a:ext cx="987552" cy="22860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3. Package</a:t>
            </a:r>
            <a:endParaRPr lang="en-US" sz="1100" dirty="0"/>
          </a:p>
        </p:txBody>
      </p:sp>
      <p:sp>
        <p:nvSpPr>
          <p:cNvPr id="38" name="Text 32"/>
          <p:cNvSpPr txBox="1"/>
          <p:nvPr/>
        </p:nvSpPr>
        <p:spPr>
          <a:xfrm>
            <a:off x="2913888" y="2176272"/>
            <a:ext cx="932688" cy="56692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Reproducible container</a:t>
            </a:r>
            <a:endParaRPr lang="en-US" sz="900" dirty="0"/>
          </a:p>
        </p:txBody>
      </p:sp>
      <p:sp>
        <p:nvSpPr>
          <p:cNvPr id="39" name="Shape 33"/>
          <p:cNvSpPr/>
          <p:nvPr/>
        </p:nvSpPr>
        <p:spPr>
          <a:xfrm>
            <a:off x="2977896" y="2788920"/>
            <a:ext cx="804672" cy="0"/>
          </a:xfrm>
          <a:prstGeom prst="line">
            <a:avLst/>
          </a:prstGeom>
          <a:noFill/>
          <a:ln w="6350">
            <a:solidFill>
              <a:srgbClr val="D5DED9"/>
            </a:solidFill>
            <a:prstDash val="solid"/>
          </a:ln>
        </p:spPr>
      </p:sp>
      <p:sp>
        <p:nvSpPr>
          <p:cNvPr id="40" name="Text 34"/>
          <p:cNvSpPr txBox="1"/>
          <p:nvPr/>
        </p:nvSpPr>
        <p:spPr>
          <a:xfrm>
            <a:off x="2886456" y="2834640"/>
            <a:ext cx="987552" cy="384048"/>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Image registry</a:t>
            </a:r>
            <a:endParaRPr lang="en-US" sz="850" dirty="0"/>
          </a:p>
        </p:txBody>
      </p:sp>
      <p:sp>
        <p:nvSpPr>
          <p:cNvPr id="41" name="Shape 35"/>
          <p:cNvSpPr/>
          <p:nvPr/>
        </p:nvSpPr>
        <p:spPr>
          <a:xfrm>
            <a:off x="3924300" y="2011680"/>
            <a:ext cx="103632" cy="0"/>
          </a:xfrm>
          <a:prstGeom prst="line">
            <a:avLst/>
          </a:prstGeom>
          <a:noFill/>
          <a:ln w="15875">
            <a:solidFill>
              <a:srgbClr val="5E6964"/>
            </a:solidFill>
            <a:prstDash val="solid"/>
            <a:tailEnd type="triangle"/>
          </a:ln>
        </p:spPr>
      </p:sp>
      <p:sp>
        <p:nvSpPr>
          <p:cNvPr id="42" name="Shape 36"/>
          <p:cNvSpPr/>
          <p:nvPr/>
        </p:nvSpPr>
        <p:spPr>
          <a:xfrm>
            <a:off x="4032504" y="1371600"/>
            <a:ext cx="1078992" cy="1920240"/>
          </a:xfrm>
          <a:prstGeom prst="roundRect">
            <a:avLst>
              <a:gd name="adj" fmla="val 6780"/>
            </a:avLst>
          </a:prstGeom>
          <a:solidFill>
            <a:srgbClr val="E8F5EF"/>
          </a:solidFill>
          <a:ln w="15875">
            <a:solidFill>
              <a:srgbClr val="00704A"/>
            </a:solidFill>
            <a:prstDash val="solid"/>
          </a:ln>
        </p:spPr>
      </p:sp>
      <p:sp>
        <p:nvSpPr>
          <p:cNvPr id="43" name="Shape 37"/>
          <p:cNvSpPr/>
          <p:nvPr/>
        </p:nvSpPr>
        <p:spPr>
          <a:xfrm>
            <a:off x="4379976" y="1481328"/>
            <a:ext cx="384048" cy="384048"/>
          </a:xfrm>
          <a:prstGeom prst="ellipse">
            <a:avLst/>
          </a:prstGeom>
          <a:solidFill>
            <a:srgbClr val="00704A">
              <a:alpha val="22000"/>
            </a:srgbClr>
          </a:solidFill>
          <a:ln/>
        </p:spPr>
      </p:sp>
      <p:pic>
        <p:nvPicPr>
          <p:cNvPr id="44" name="Image 3" descr="preencoded.png"/>
          <p:cNvPicPr>
            <a:picLocks noChangeAspect="1"/>
          </p:cNvPicPr>
          <p:nvPr/>
        </p:nvPicPr>
        <p:blipFill>
          <a:blip r:embed="rId6"/>
          <a:stretch>
            <a:fillRect/>
          </a:stretch>
        </p:blipFill>
        <p:spPr>
          <a:xfrm>
            <a:off x="4472148" y="1573500"/>
            <a:ext cx="199705" cy="199705"/>
          </a:xfrm>
          <a:prstGeom prst="rect">
            <a:avLst/>
          </a:prstGeom>
        </p:spPr>
      </p:pic>
      <p:sp>
        <p:nvSpPr>
          <p:cNvPr id="45" name="Text 38"/>
          <p:cNvSpPr txBox="1"/>
          <p:nvPr/>
        </p:nvSpPr>
        <p:spPr>
          <a:xfrm>
            <a:off x="4078224" y="1920240"/>
            <a:ext cx="987552" cy="22860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4. Evaluate</a:t>
            </a:r>
            <a:endParaRPr lang="en-US" sz="1100" dirty="0"/>
          </a:p>
        </p:txBody>
      </p:sp>
      <p:sp>
        <p:nvSpPr>
          <p:cNvPr id="46" name="Text 39"/>
          <p:cNvSpPr txBox="1"/>
          <p:nvPr/>
        </p:nvSpPr>
        <p:spPr>
          <a:xfrm>
            <a:off x="4105656" y="2176272"/>
            <a:ext cx="932688" cy="56692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Gold standard, rare classes, human baseline</a:t>
            </a:r>
            <a:endParaRPr lang="en-US" sz="900" dirty="0"/>
          </a:p>
        </p:txBody>
      </p:sp>
      <p:sp>
        <p:nvSpPr>
          <p:cNvPr id="47" name="Shape 40"/>
          <p:cNvSpPr/>
          <p:nvPr/>
        </p:nvSpPr>
        <p:spPr>
          <a:xfrm>
            <a:off x="4169664" y="2788920"/>
            <a:ext cx="804672" cy="0"/>
          </a:xfrm>
          <a:prstGeom prst="line">
            <a:avLst/>
          </a:prstGeom>
          <a:noFill/>
          <a:ln w="6350">
            <a:solidFill>
              <a:srgbClr val="D5DED9"/>
            </a:solidFill>
            <a:prstDash val="solid"/>
          </a:ln>
        </p:spPr>
      </p:sp>
      <p:sp>
        <p:nvSpPr>
          <p:cNvPr id="48" name="Text 41"/>
          <p:cNvSpPr txBox="1"/>
          <p:nvPr/>
        </p:nvSpPr>
        <p:spPr>
          <a:xfrm>
            <a:off x="4078224" y="2834640"/>
            <a:ext cx="987552" cy="384048"/>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Evaluation report</a:t>
            </a:r>
            <a:endParaRPr lang="en-US" sz="850" dirty="0"/>
          </a:p>
        </p:txBody>
      </p:sp>
      <p:sp>
        <p:nvSpPr>
          <p:cNvPr id="49" name="Shape 42"/>
          <p:cNvSpPr/>
          <p:nvPr/>
        </p:nvSpPr>
        <p:spPr>
          <a:xfrm>
            <a:off x="5116068" y="2011680"/>
            <a:ext cx="103632" cy="0"/>
          </a:xfrm>
          <a:prstGeom prst="line">
            <a:avLst/>
          </a:prstGeom>
          <a:noFill/>
          <a:ln w="15875">
            <a:solidFill>
              <a:srgbClr val="5E6964"/>
            </a:solidFill>
            <a:prstDash val="solid"/>
            <a:tailEnd type="triangle"/>
          </a:ln>
        </p:spPr>
      </p:sp>
      <p:sp>
        <p:nvSpPr>
          <p:cNvPr id="50" name="Shape 43"/>
          <p:cNvSpPr/>
          <p:nvPr/>
        </p:nvSpPr>
        <p:spPr>
          <a:xfrm>
            <a:off x="4160520" y="1243584"/>
            <a:ext cx="822960" cy="182880"/>
          </a:xfrm>
          <a:prstGeom prst="roundRect">
            <a:avLst>
              <a:gd name="adj" fmla="val 50000"/>
            </a:avLst>
          </a:prstGeom>
          <a:solidFill>
            <a:srgbClr val="D49A00"/>
          </a:solidFill>
          <a:ln w="9525">
            <a:solidFill>
              <a:srgbClr val="D49A00"/>
            </a:solidFill>
            <a:prstDash val="solid"/>
          </a:ln>
        </p:spPr>
      </p:sp>
      <p:sp>
        <p:nvSpPr>
          <p:cNvPr id="51" name="Text 44"/>
          <p:cNvSpPr txBox="1"/>
          <p:nvPr/>
        </p:nvSpPr>
        <p:spPr>
          <a:xfrm>
            <a:off x="4160520" y="1243584"/>
            <a:ext cx="822960" cy="182880"/>
          </a:xfrm>
          <a:prstGeom prst="rect">
            <a:avLst/>
          </a:prstGeom>
          <a:noFill/>
          <a:ln/>
        </p:spPr>
        <p:txBody>
          <a:bodyPr wrap="square" lIns="0" tIns="0" rIns="0" bIns="0" rtlCol="0" anchor="ctr"/>
          <a:lstStyle/>
          <a:p>
            <a:pPr marL="0" indent="0" algn="ctr">
              <a:buNone/>
            </a:pPr>
            <a:r>
              <a:rPr lang="en-US" sz="750" b="1" kern="0" spc="50" dirty="0">
                <a:solidFill>
                  <a:srgbClr val="FFFFFF"/>
                </a:solidFill>
                <a:latin typeface="Calibri" pitchFamily="34" charset="0"/>
                <a:ea typeface="Calibri" pitchFamily="34" charset="-122"/>
                <a:cs typeface="Calibri" pitchFamily="34" charset="-120"/>
              </a:rPr>
              <a:t>NSO-SPECIFIC</a:t>
            </a:r>
            <a:endParaRPr lang="en-US" sz="750" dirty="0"/>
          </a:p>
        </p:txBody>
      </p:sp>
      <p:sp>
        <p:nvSpPr>
          <p:cNvPr id="52" name="Shape 45"/>
          <p:cNvSpPr/>
          <p:nvPr/>
        </p:nvSpPr>
        <p:spPr>
          <a:xfrm>
            <a:off x="5224272" y="1371600"/>
            <a:ext cx="1078992" cy="1920240"/>
          </a:xfrm>
          <a:prstGeom prst="roundRect">
            <a:avLst>
              <a:gd name="adj" fmla="val 6780"/>
            </a:avLst>
          </a:prstGeom>
          <a:solidFill>
            <a:srgbClr val="E8F5EF"/>
          </a:solidFill>
          <a:ln w="15875">
            <a:solidFill>
              <a:srgbClr val="00704A"/>
            </a:solidFill>
            <a:prstDash val="solid"/>
          </a:ln>
        </p:spPr>
      </p:sp>
      <p:sp>
        <p:nvSpPr>
          <p:cNvPr id="53" name="Shape 46"/>
          <p:cNvSpPr/>
          <p:nvPr/>
        </p:nvSpPr>
        <p:spPr>
          <a:xfrm>
            <a:off x="5571744" y="1481328"/>
            <a:ext cx="384048" cy="384048"/>
          </a:xfrm>
          <a:prstGeom prst="ellipse">
            <a:avLst/>
          </a:prstGeom>
          <a:solidFill>
            <a:srgbClr val="00704A">
              <a:alpha val="22000"/>
            </a:srgbClr>
          </a:solidFill>
          <a:ln/>
        </p:spPr>
      </p:sp>
      <p:pic>
        <p:nvPicPr>
          <p:cNvPr id="54" name="Image 4" descr="preencoded.png"/>
          <p:cNvPicPr>
            <a:picLocks noChangeAspect="1"/>
          </p:cNvPicPr>
          <p:nvPr/>
        </p:nvPicPr>
        <p:blipFill>
          <a:blip r:embed="rId7"/>
          <a:stretch>
            <a:fillRect/>
          </a:stretch>
        </p:blipFill>
        <p:spPr>
          <a:xfrm>
            <a:off x="5663916" y="1573500"/>
            <a:ext cx="199705" cy="199705"/>
          </a:xfrm>
          <a:prstGeom prst="rect">
            <a:avLst/>
          </a:prstGeom>
        </p:spPr>
      </p:pic>
      <p:sp>
        <p:nvSpPr>
          <p:cNvPr id="55" name="Text 47"/>
          <p:cNvSpPr txBox="1"/>
          <p:nvPr/>
        </p:nvSpPr>
        <p:spPr>
          <a:xfrm>
            <a:off x="5269992" y="1920240"/>
            <a:ext cx="987552" cy="22860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5. Approve</a:t>
            </a:r>
            <a:endParaRPr lang="en-US" sz="1100" dirty="0"/>
          </a:p>
        </p:txBody>
      </p:sp>
      <p:sp>
        <p:nvSpPr>
          <p:cNvPr id="56" name="Text 48"/>
          <p:cNvSpPr txBox="1"/>
          <p:nvPr/>
        </p:nvSpPr>
        <p:spPr>
          <a:xfrm>
            <a:off x="5297424" y="2176272"/>
            <a:ext cx="932688" cy="56692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Methodology and security sign-off</a:t>
            </a:r>
            <a:endParaRPr lang="en-US" sz="900" dirty="0"/>
          </a:p>
        </p:txBody>
      </p:sp>
      <p:sp>
        <p:nvSpPr>
          <p:cNvPr id="57" name="Shape 49"/>
          <p:cNvSpPr/>
          <p:nvPr/>
        </p:nvSpPr>
        <p:spPr>
          <a:xfrm>
            <a:off x="5361432" y="2788920"/>
            <a:ext cx="804672" cy="0"/>
          </a:xfrm>
          <a:prstGeom prst="line">
            <a:avLst/>
          </a:prstGeom>
          <a:noFill/>
          <a:ln w="6350">
            <a:solidFill>
              <a:srgbClr val="D5DED9"/>
            </a:solidFill>
            <a:prstDash val="solid"/>
          </a:ln>
        </p:spPr>
      </p:sp>
      <p:sp>
        <p:nvSpPr>
          <p:cNvPr id="58" name="Text 50"/>
          <p:cNvSpPr txBox="1"/>
          <p:nvPr/>
        </p:nvSpPr>
        <p:spPr>
          <a:xfrm>
            <a:off x="5269992" y="2834640"/>
            <a:ext cx="987552" cy="384048"/>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Model register entry</a:t>
            </a:r>
            <a:endParaRPr lang="en-US" sz="850" dirty="0"/>
          </a:p>
        </p:txBody>
      </p:sp>
      <p:sp>
        <p:nvSpPr>
          <p:cNvPr id="59" name="Shape 51"/>
          <p:cNvSpPr/>
          <p:nvPr/>
        </p:nvSpPr>
        <p:spPr>
          <a:xfrm>
            <a:off x="6307836" y="2011680"/>
            <a:ext cx="103632" cy="0"/>
          </a:xfrm>
          <a:prstGeom prst="line">
            <a:avLst/>
          </a:prstGeom>
          <a:noFill/>
          <a:ln w="15875">
            <a:solidFill>
              <a:srgbClr val="5E6964"/>
            </a:solidFill>
            <a:prstDash val="solid"/>
            <a:tailEnd type="triangle"/>
          </a:ln>
        </p:spPr>
      </p:sp>
      <p:sp>
        <p:nvSpPr>
          <p:cNvPr id="60" name="Shape 52"/>
          <p:cNvSpPr/>
          <p:nvPr/>
        </p:nvSpPr>
        <p:spPr>
          <a:xfrm>
            <a:off x="5352288" y="1243584"/>
            <a:ext cx="822960" cy="182880"/>
          </a:xfrm>
          <a:prstGeom prst="roundRect">
            <a:avLst>
              <a:gd name="adj" fmla="val 50000"/>
            </a:avLst>
          </a:prstGeom>
          <a:solidFill>
            <a:srgbClr val="D49A00"/>
          </a:solidFill>
          <a:ln w="9525">
            <a:solidFill>
              <a:srgbClr val="D49A00"/>
            </a:solidFill>
            <a:prstDash val="solid"/>
          </a:ln>
        </p:spPr>
      </p:sp>
      <p:sp>
        <p:nvSpPr>
          <p:cNvPr id="61" name="Text 53"/>
          <p:cNvSpPr txBox="1"/>
          <p:nvPr/>
        </p:nvSpPr>
        <p:spPr>
          <a:xfrm>
            <a:off x="5352288" y="1243584"/>
            <a:ext cx="822960" cy="182880"/>
          </a:xfrm>
          <a:prstGeom prst="rect">
            <a:avLst/>
          </a:prstGeom>
          <a:noFill/>
          <a:ln/>
        </p:spPr>
        <p:txBody>
          <a:bodyPr wrap="square" lIns="0" tIns="0" rIns="0" bIns="0" rtlCol="0" anchor="ctr"/>
          <a:lstStyle/>
          <a:p>
            <a:pPr marL="0" indent="0" algn="ctr">
              <a:buNone/>
            </a:pPr>
            <a:r>
              <a:rPr lang="en-US" sz="750" b="1" kern="0" spc="50" dirty="0">
                <a:solidFill>
                  <a:srgbClr val="FFFFFF"/>
                </a:solidFill>
                <a:latin typeface="Calibri" pitchFamily="34" charset="0"/>
                <a:ea typeface="Calibri" pitchFamily="34" charset="-122"/>
                <a:cs typeface="Calibri" pitchFamily="34" charset="-120"/>
              </a:rPr>
              <a:t>NSO-SPECIFIC</a:t>
            </a:r>
            <a:endParaRPr lang="en-US" sz="750" dirty="0"/>
          </a:p>
        </p:txBody>
      </p:sp>
      <p:sp>
        <p:nvSpPr>
          <p:cNvPr id="62" name="Shape 54"/>
          <p:cNvSpPr/>
          <p:nvPr/>
        </p:nvSpPr>
        <p:spPr>
          <a:xfrm>
            <a:off x="6416040" y="1371600"/>
            <a:ext cx="1078992" cy="1920240"/>
          </a:xfrm>
          <a:prstGeom prst="roundRect">
            <a:avLst>
              <a:gd name="adj" fmla="val 6780"/>
            </a:avLst>
          </a:prstGeom>
          <a:solidFill>
            <a:srgbClr val="F4F7F5"/>
          </a:solidFill>
          <a:ln w="9525">
            <a:solidFill>
              <a:srgbClr val="D5DED9"/>
            </a:solidFill>
            <a:prstDash val="solid"/>
          </a:ln>
        </p:spPr>
      </p:sp>
      <p:sp>
        <p:nvSpPr>
          <p:cNvPr id="63" name="Shape 55"/>
          <p:cNvSpPr/>
          <p:nvPr/>
        </p:nvSpPr>
        <p:spPr>
          <a:xfrm>
            <a:off x="6763512" y="1481328"/>
            <a:ext cx="384048" cy="384048"/>
          </a:xfrm>
          <a:prstGeom prst="ellipse">
            <a:avLst/>
          </a:prstGeom>
          <a:solidFill>
            <a:srgbClr val="00704A">
              <a:alpha val="22000"/>
            </a:srgbClr>
          </a:solidFill>
          <a:ln/>
        </p:spPr>
      </p:sp>
      <p:pic>
        <p:nvPicPr>
          <p:cNvPr id="64" name="Image 5" descr="preencoded.png"/>
          <p:cNvPicPr>
            <a:picLocks noChangeAspect="1"/>
          </p:cNvPicPr>
          <p:nvPr/>
        </p:nvPicPr>
        <p:blipFill>
          <a:blip r:embed="rId8"/>
          <a:stretch>
            <a:fillRect/>
          </a:stretch>
        </p:blipFill>
        <p:spPr>
          <a:xfrm>
            <a:off x="6855684" y="1573500"/>
            <a:ext cx="199705" cy="199705"/>
          </a:xfrm>
          <a:prstGeom prst="rect">
            <a:avLst/>
          </a:prstGeom>
        </p:spPr>
      </p:pic>
      <p:sp>
        <p:nvSpPr>
          <p:cNvPr id="65" name="Text 56"/>
          <p:cNvSpPr txBox="1"/>
          <p:nvPr/>
        </p:nvSpPr>
        <p:spPr>
          <a:xfrm>
            <a:off x="6461760" y="1920240"/>
            <a:ext cx="987552" cy="22860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6. Serve</a:t>
            </a:r>
            <a:endParaRPr lang="en-US" sz="1100" dirty="0"/>
          </a:p>
        </p:txBody>
      </p:sp>
      <p:sp>
        <p:nvSpPr>
          <p:cNvPr id="66" name="Text 57"/>
          <p:cNvSpPr txBox="1"/>
          <p:nvPr/>
        </p:nvSpPr>
        <p:spPr>
          <a:xfrm>
            <a:off x="6489192" y="2176272"/>
            <a:ext cx="932688" cy="56692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Batch or API, versioned</a:t>
            </a:r>
            <a:endParaRPr lang="en-US" sz="900" dirty="0"/>
          </a:p>
        </p:txBody>
      </p:sp>
      <p:sp>
        <p:nvSpPr>
          <p:cNvPr id="67" name="Shape 58"/>
          <p:cNvSpPr/>
          <p:nvPr/>
        </p:nvSpPr>
        <p:spPr>
          <a:xfrm>
            <a:off x="6553200" y="2788920"/>
            <a:ext cx="804672" cy="0"/>
          </a:xfrm>
          <a:prstGeom prst="line">
            <a:avLst/>
          </a:prstGeom>
          <a:noFill/>
          <a:ln w="6350">
            <a:solidFill>
              <a:srgbClr val="D5DED9"/>
            </a:solidFill>
            <a:prstDash val="solid"/>
          </a:ln>
        </p:spPr>
      </p:sp>
      <p:sp>
        <p:nvSpPr>
          <p:cNvPr id="68" name="Text 59"/>
          <p:cNvSpPr txBox="1"/>
          <p:nvPr/>
        </p:nvSpPr>
        <p:spPr>
          <a:xfrm>
            <a:off x="6461760" y="2834640"/>
            <a:ext cx="987552" cy="384048"/>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Orchestrated pipeline</a:t>
            </a:r>
            <a:endParaRPr lang="en-US" sz="850" dirty="0"/>
          </a:p>
        </p:txBody>
      </p:sp>
      <p:sp>
        <p:nvSpPr>
          <p:cNvPr id="69" name="Shape 60"/>
          <p:cNvSpPr/>
          <p:nvPr/>
        </p:nvSpPr>
        <p:spPr>
          <a:xfrm>
            <a:off x="7499604" y="2011680"/>
            <a:ext cx="103632" cy="0"/>
          </a:xfrm>
          <a:prstGeom prst="line">
            <a:avLst/>
          </a:prstGeom>
          <a:noFill/>
          <a:ln w="15875">
            <a:solidFill>
              <a:srgbClr val="5E6964"/>
            </a:solidFill>
            <a:prstDash val="solid"/>
            <a:tailEnd type="triangle"/>
          </a:ln>
        </p:spPr>
      </p:sp>
      <p:sp>
        <p:nvSpPr>
          <p:cNvPr id="70" name="Shape 61"/>
          <p:cNvSpPr/>
          <p:nvPr/>
        </p:nvSpPr>
        <p:spPr>
          <a:xfrm>
            <a:off x="7607808" y="1371600"/>
            <a:ext cx="1078992" cy="1920240"/>
          </a:xfrm>
          <a:prstGeom prst="roundRect">
            <a:avLst>
              <a:gd name="adj" fmla="val 6780"/>
            </a:avLst>
          </a:prstGeom>
          <a:solidFill>
            <a:srgbClr val="F4F7F5"/>
          </a:solidFill>
          <a:ln w="9525">
            <a:solidFill>
              <a:srgbClr val="D5DED9"/>
            </a:solidFill>
            <a:prstDash val="solid"/>
          </a:ln>
        </p:spPr>
      </p:sp>
      <p:sp>
        <p:nvSpPr>
          <p:cNvPr id="71" name="Shape 62"/>
          <p:cNvSpPr/>
          <p:nvPr/>
        </p:nvSpPr>
        <p:spPr>
          <a:xfrm>
            <a:off x="7955280" y="1481328"/>
            <a:ext cx="384048" cy="384048"/>
          </a:xfrm>
          <a:prstGeom prst="ellipse">
            <a:avLst/>
          </a:prstGeom>
          <a:solidFill>
            <a:srgbClr val="00704A">
              <a:alpha val="22000"/>
            </a:srgbClr>
          </a:solidFill>
          <a:ln/>
        </p:spPr>
      </p:sp>
      <p:pic>
        <p:nvPicPr>
          <p:cNvPr id="72" name="Image 6" descr="preencoded.png"/>
          <p:cNvPicPr>
            <a:picLocks noChangeAspect="1"/>
          </p:cNvPicPr>
          <p:nvPr/>
        </p:nvPicPr>
        <p:blipFill>
          <a:blip r:embed="rId9"/>
          <a:stretch>
            <a:fillRect/>
          </a:stretch>
        </p:blipFill>
        <p:spPr>
          <a:xfrm>
            <a:off x="8047452" y="1573500"/>
            <a:ext cx="199705" cy="199705"/>
          </a:xfrm>
          <a:prstGeom prst="rect">
            <a:avLst/>
          </a:prstGeom>
        </p:spPr>
      </p:pic>
      <p:sp>
        <p:nvSpPr>
          <p:cNvPr id="73" name="Text 63"/>
          <p:cNvSpPr txBox="1"/>
          <p:nvPr/>
        </p:nvSpPr>
        <p:spPr>
          <a:xfrm>
            <a:off x="7653528" y="1920240"/>
            <a:ext cx="987552" cy="228600"/>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7. Monitor</a:t>
            </a:r>
            <a:endParaRPr lang="en-US" sz="1100" dirty="0"/>
          </a:p>
        </p:txBody>
      </p:sp>
      <p:sp>
        <p:nvSpPr>
          <p:cNvPr id="74" name="Text 64"/>
          <p:cNvSpPr txBox="1"/>
          <p:nvPr/>
        </p:nvSpPr>
        <p:spPr>
          <a:xfrm>
            <a:off x="7680960" y="2176272"/>
            <a:ext cx="932688" cy="56692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Drift, outputs, latency, cost</a:t>
            </a:r>
            <a:endParaRPr lang="en-US" sz="900" dirty="0"/>
          </a:p>
        </p:txBody>
      </p:sp>
      <p:sp>
        <p:nvSpPr>
          <p:cNvPr id="75" name="Shape 65"/>
          <p:cNvSpPr/>
          <p:nvPr/>
        </p:nvSpPr>
        <p:spPr>
          <a:xfrm>
            <a:off x="7744968" y="2788920"/>
            <a:ext cx="804672" cy="0"/>
          </a:xfrm>
          <a:prstGeom prst="line">
            <a:avLst/>
          </a:prstGeom>
          <a:noFill/>
          <a:ln w="6350">
            <a:solidFill>
              <a:srgbClr val="D5DED9"/>
            </a:solidFill>
            <a:prstDash val="solid"/>
          </a:ln>
        </p:spPr>
      </p:sp>
      <p:sp>
        <p:nvSpPr>
          <p:cNvPr id="76" name="Text 66"/>
          <p:cNvSpPr txBox="1"/>
          <p:nvPr/>
        </p:nvSpPr>
        <p:spPr>
          <a:xfrm>
            <a:off x="7653528" y="2834640"/>
            <a:ext cx="987552" cy="384048"/>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Dashboards and alerts</a:t>
            </a:r>
            <a:endParaRPr lang="en-US" sz="850" dirty="0"/>
          </a:p>
        </p:txBody>
      </p:sp>
      <p:sp>
        <p:nvSpPr>
          <p:cNvPr id="77" name="Shape 67"/>
          <p:cNvSpPr/>
          <p:nvPr/>
        </p:nvSpPr>
        <p:spPr>
          <a:xfrm>
            <a:off x="8147304" y="3291840"/>
            <a:ext cx="0" cy="228600"/>
          </a:xfrm>
          <a:prstGeom prst="line">
            <a:avLst/>
          </a:prstGeom>
          <a:noFill/>
          <a:ln w="19050">
            <a:solidFill>
              <a:srgbClr val="00A86A"/>
            </a:solidFill>
            <a:prstDash val="solid"/>
          </a:ln>
        </p:spPr>
      </p:sp>
      <p:sp>
        <p:nvSpPr>
          <p:cNvPr id="78" name="Shape 68"/>
          <p:cNvSpPr/>
          <p:nvPr/>
        </p:nvSpPr>
        <p:spPr>
          <a:xfrm>
            <a:off x="2188464" y="3520440"/>
            <a:ext cx="5958840" cy="0"/>
          </a:xfrm>
          <a:prstGeom prst="line">
            <a:avLst/>
          </a:prstGeom>
          <a:noFill/>
          <a:ln w="19050">
            <a:solidFill>
              <a:srgbClr val="00A86A"/>
            </a:solidFill>
            <a:prstDash val="solid"/>
          </a:ln>
        </p:spPr>
      </p:sp>
      <p:sp>
        <p:nvSpPr>
          <p:cNvPr id="79" name="Shape 69"/>
          <p:cNvSpPr/>
          <p:nvPr/>
        </p:nvSpPr>
        <p:spPr>
          <a:xfrm>
            <a:off x="2188464" y="3310128"/>
            <a:ext cx="0" cy="210312"/>
          </a:xfrm>
          <a:prstGeom prst="line">
            <a:avLst/>
          </a:prstGeom>
          <a:noFill/>
          <a:ln w="19050">
            <a:solidFill>
              <a:srgbClr val="00A86A"/>
            </a:solidFill>
            <a:prstDash val="solid"/>
            <a:headEnd type="triangle"/>
          </a:ln>
        </p:spPr>
      </p:sp>
      <p:sp>
        <p:nvSpPr>
          <p:cNvPr id="80" name="Text 70"/>
          <p:cNvSpPr txBox="1"/>
          <p:nvPr/>
        </p:nvSpPr>
        <p:spPr>
          <a:xfrm>
            <a:off x="2371344" y="3566160"/>
            <a:ext cx="5486400" cy="201168"/>
          </a:xfrm>
          <a:prstGeom prst="rect">
            <a:avLst/>
          </a:prstGeom>
          <a:noFill/>
          <a:ln/>
        </p:spPr>
        <p:txBody>
          <a:bodyPr wrap="square" lIns="0" tIns="0" rIns="0" bIns="0" rtlCol="0" anchor="t"/>
          <a:lstStyle/>
          <a:p>
            <a:pPr marL="0" indent="0">
              <a:buNone/>
            </a:pPr>
            <a:r>
              <a:rPr lang="en-US" sz="950" i="1" dirty="0">
                <a:solidFill>
                  <a:srgbClr val="00704A"/>
                </a:solidFill>
                <a:latin typeface="Calibri" pitchFamily="34" charset="0"/>
                <a:ea typeface="Calibri" pitchFamily="34" charset="-122"/>
                <a:cs typeface="Calibri" pitchFamily="34" charset="-120"/>
              </a:rPr>
              <a:t>Retraining loop: monitoring feeds new labelled cases back to stage 2 on a documented schedule</a:t>
            </a:r>
            <a:endParaRPr lang="en-US" sz="950" dirty="0"/>
          </a:p>
        </p:txBody>
      </p:sp>
      <p:sp>
        <p:nvSpPr>
          <p:cNvPr id="81" name="Shape 71"/>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82" name="Shape 72"/>
          <p:cNvSpPr/>
          <p:nvPr/>
        </p:nvSpPr>
        <p:spPr>
          <a:xfrm>
            <a:off x="566928" y="4215384"/>
            <a:ext cx="292608" cy="292608"/>
          </a:xfrm>
          <a:prstGeom prst="ellipse">
            <a:avLst/>
          </a:prstGeom>
          <a:solidFill>
            <a:srgbClr val="00A86A">
              <a:alpha val="22000"/>
            </a:srgbClr>
          </a:solidFill>
          <a:ln/>
        </p:spPr>
      </p:sp>
      <p:pic>
        <p:nvPicPr>
          <p:cNvPr id="83" name="Image 7" descr="preencoded.png"/>
          <p:cNvPicPr>
            <a:picLocks noChangeAspect="1"/>
          </p:cNvPicPr>
          <p:nvPr/>
        </p:nvPicPr>
        <p:blipFill>
          <a:blip r:embed="rId10"/>
          <a:stretch>
            <a:fillRect/>
          </a:stretch>
        </p:blipFill>
        <p:spPr>
          <a:xfrm>
            <a:off x="637154" y="4285610"/>
            <a:ext cx="152156" cy="152156"/>
          </a:xfrm>
          <a:prstGeom prst="rect">
            <a:avLst/>
          </a:prstGeom>
        </p:spPr>
      </p:pic>
      <p:sp>
        <p:nvSpPr>
          <p:cNvPr id="84" name="Text 73"/>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Stages 4 and 5 cannot be borrowed from industry practice. That is where methodology, not engineering, holds the pen.</a:t>
            </a:r>
            <a:endParaRPr lang="en-US" sz="10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LAYER 3 · ENVIRONMENTS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Environments and the promotion path</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Which data may be seen where — this one picture settles most analyst–security disputes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8" name="Shape 15"/>
          <p:cNvSpPr/>
          <p:nvPr/>
        </p:nvSpPr>
        <p:spPr>
          <a:xfrm>
            <a:off x="457200" y="1371600"/>
            <a:ext cx="2514600" cy="2331720"/>
          </a:xfrm>
          <a:prstGeom prst="roundRect">
            <a:avLst>
              <a:gd name="adj" fmla="val 3137"/>
            </a:avLst>
          </a:prstGeom>
          <a:solidFill>
            <a:srgbClr val="F4F7F5"/>
          </a:solidFill>
          <a:ln w="9525">
            <a:solidFill>
              <a:srgbClr val="D5DED9"/>
            </a:solidFill>
            <a:prstDash val="solid"/>
          </a:ln>
        </p:spPr>
      </p:sp>
      <p:sp>
        <p:nvSpPr>
          <p:cNvPr id="19" name="Shape 16"/>
          <p:cNvSpPr/>
          <p:nvPr/>
        </p:nvSpPr>
        <p:spPr>
          <a:xfrm>
            <a:off x="594360" y="1490472"/>
            <a:ext cx="822960" cy="329184"/>
          </a:xfrm>
          <a:prstGeom prst="roundRect">
            <a:avLst>
              <a:gd name="adj" fmla="val 16667"/>
            </a:avLst>
          </a:prstGeom>
          <a:solidFill>
            <a:srgbClr val="0E7C86"/>
          </a:solidFill>
          <a:ln/>
        </p:spPr>
      </p:sp>
      <p:sp>
        <p:nvSpPr>
          <p:cNvPr id="20" name="Text 17"/>
          <p:cNvSpPr txBox="1"/>
          <p:nvPr/>
        </p:nvSpPr>
        <p:spPr>
          <a:xfrm>
            <a:off x="594360" y="1490472"/>
            <a:ext cx="82296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DEV</a:t>
            </a:r>
            <a:endParaRPr lang="en-US" sz="1300" dirty="0"/>
          </a:p>
        </p:txBody>
      </p:sp>
      <p:sp>
        <p:nvSpPr>
          <p:cNvPr id="21" name="Text 18"/>
          <p:cNvSpPr txBox="1"/>
          <p:nvPr/>
        </p:nvSpPr>
        <p:spPr>
          <a:xfrm>
            <a:off x="1508760" y="1490472"/>
            <a:ext cx="1371600"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Experimentation</a:t>
            </a:r>
            <a:endParaRPr lang="en-US" sz="1150" dirty="0"/>
          </a:p>
        </p:txBody>
      </p:sp>
      <p:pic>
        <p:nvPicPr>
          <p:cNvPr id="22" name="Image 0" descr="preencoded.png"/>
          <p:cNvPicPr>
            <a:picLocks noChangeAspect="1"/>
          </p:cNvPicPr>
          <p:nvPr/>
        </p:nvPicPr>
        <p:blipFill>
          <a:blip r:embed="rId3"/>
          <a:stretch>
            <a:fillRect/>
          </a:stretch>
        </p:blipFill>
        <p:spPr>
          <a:xfrm>
            <a:off x="594360" y="1993392"/>
            <a:ext cx="137160" cy="137160"/>
          </a:xfrm>
          <a:prstGeom prst="rect">
            <a:avLst/>
          </a:prstGeom>
        </p:spPr>
      </p:pic>
      <p:sp>
        <p:nvSpPr>
          <p:cNvPr id="23" name="Text 19"/>
          <p:cNvSpPr txBox="1"/>
          <p:nvPr/>
        </p:nvSpPr>
        <p:spPr>
          <a:xfrm>
            <a:off x="804672" y="1965960"/>
            <a:ext cx="2029968" cy="30175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Synthetic or published data only</a:t>
            </a:r>
            <a:endParaRPr lang="en-US" sz="950" dirty="0"/>
          </a:p>
        </p:txBody>
      </p:sp>
      <p:pic>
        <p:nvPicPr>
          <p:cNvPr id="24" name="Image 1" descr="preencoded.png"/>
          <p:cNvPicPr>
            <a:picLocks noChangeAspect="1"/>
          </p:cNvPicPr>
          <p:nvPr/>
        </p:nvPicPr>
        <p:blipFill>
          <a:blip r:embed="rId3"/>
          <a:stretch>
            <a:fillRect/>
          </a:stretch>
        </p:blipFill>
        <p:spPr>
          <a:xfrm>
            <a:off x="594360" y="2295144"/>
            <a:ext cx="137160" cy="137160"/>
          </a:xfrm>
          <a:prstGeom prst="rect">
            <a:avLst/>
          </a:prstGeom>
        </p:spPr>
      </p:pic>
      <p:sp>
        <p:nvSpPr>
          <p:cNvPr id="25" name="Text 20"/>
          <p:cNvSpPr txBox="1"/>
          <p:nvPr/>
        </p:nvSpPr>
        <p:spPr>
          <a:xfrm>
            <a:off x="804672" y="2267712"/>
            <a:ext cx="2029968" cy="30175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Open package installation</a:t>
            </a:r>
            <a:endParaRPr lang="en-US" sz="950" dirty="0"/>
          </a:p>
        </p:txBody>
      </p:sp>
      <p:pic>
        <p:nvPicPr>
          <p:cNvPr id="26" name="Image 2" descr="preencoded.png"/>
          <p:cNvPicPr>
            <a:picLocks noChangeAspect="1"/>
          </p:cNvPicPr>
          <p:nvPr/>
        </p:nvPicPr>
        <p:blipFill>
          <a:blip r:embed="rId3"/>
          <a:stretch>
            <a:fillRect/>
          </a:stretch>
        </p:blipFill>
        <p:spPr>
          <a:xfrm>
            <a:off x="594360" y="2596896"/>
            <a:ext cx="137160" cy="137160"/>
          </a:xfrm>
          <a:prstGeom prst="rect">
            <a:avLst/>
          </a:prstGeom>
        </p:spPr>
      </p:pic>
      <p:sp>
        <p:nvSpPr>
          <p:cNvPr id="27" name="Text 21"/>
          <p:cNvSpPr txBox="1"/>
          <p:nvPr/>
        </p:nvSpPr>
        <p:spPr>
          <a:xfrm>
            <a:off x="804672" y="2569464"/>
            <a:ext cx="2029968" cy="30175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Individual accounts, no shared secrets</a:t>
            </a:r>
            <a:endParaRPr lang="en-US" sz="950" dirty="0"/>
          </a:p>
        </p:txBody>
      </p:sp>
      <p:pic>
        <p:nvPicPr>
          <p:cNvPr id="28" name="Image 3" descr="preencoded.png"/>
          <p:cNvPicPr>
            <a:picLocks noChangeAspect="1"/>
          </p:cNvPicPr>
          <p:nvPr/>
        </p:nvPicPr>
        <p:blipFill>
          <a:blip r:embed="rId3"/>
          <a:stretch>
            <a:fillRect/>
          </a:stretch>
        </p:blipFill>
        <p:spPr>
          <a:xfrm>
            <a:off x="594360" y="2898648"/>
            <a:ext cx="137160" cy="137160"/>
          </a:xfrm>
          <a:prstGeom prst="rect">
            <a:avLst/>
          </a:prstGeom>
        </p:spPr>
      </p:pic>
      <p:sp>
        <p:nvSpPr>
          <p:cNvPr id="29" name="Text 22"/>
          <p:cNvSpPr txBox="1"/>
          <p:nvPr/>
        </p:nvSpPr>
        <p:spPr>
          <a:xfrm>
            <a:off x="804672" y="2871216"/>
            <a:ext cx="2029968" cy="30175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No route to production</a:t>
            </a:r>
            <a:endParaRPr lang="en-US" sz="950" dirty="0"/>
          </a:p>
        </p:txBody>
      </p:sp>
      <p:sp>
        <p:nvSpPr>
          <p:cNvPr id="30" name="Shape 23"/>
          <p:cNvSpPr/>
          <p:nvPr/>
        </p:nvSpPr>
        <p:spPr>
          <a:xfrm>
            <a:off x="594360" y="3218688"/>
            <a:ext cx="2240280" cy="0"/>
          </a:xfrm>
          <a:prstGeom prst="line">
            <a:avLst/>
          </a:prstGeom>
          <a:noFill/>
          <a:ln w="6350">
            <a:solidFill>
              <a:srgbClr val="D5DED9"/>
            </a:solidFill>
            <a:prstDash val="solid"/>
          </a:ln>
        </p:spPr>
      </p:sp>
      <p:sp>
        <p:nvSpPr>
          <p:cNvPr id="31" name="Text 24"/>
          <p:cNvSpPr txBox="1"/>
          <p:nvPr/>
        </p:nvSpPr>
        <p:spPr>
          <a:xfrm>
            <a:off x="594360" y="3255264"/>
            <a:ext cx="2240280" cy="40233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Promotion approved by
</a:t>
            </a:r>
            <a:r>
              <a:rPr lang="en-US" sz="1000" b="1" dirty="0">
                <a:solidFill>
                  <a:srgbClr val="231F20"/>
                </a:solidFill>
                <a:latin typeface="Calibri" pitchFamily="34" charset="0"/>
                <a:ea typeface="Calibri" pitchFamily="34" charset="-122"/>
                <a:cs typeface="Calibri" pitchFamily="34" charset="-120"/>
              </a:rPr>
              <a:t>Analyst or data scientist</a:t>
            </a:r>
            <a:endParaRPr lang="en-US" sz="1000" dirty="0"/>
          </a:p>
        </p:txBody>
      </p:sp>
      <p:sp>
        <p:nvSpPr>
          <p:cNvPr id="32" name="Shape 25"/>
          <p:cNvSpPr/>
          <p:nvPr/>
        </p:nvSpPr>
        <p:spPr>
          <a:xfrm>
            <a:off x="2999232" y="2514600"/>
            <a:ext cx="288036" cy="0"/>
          </a:xfrm>
          <a:prstGeom prst="line">
            <a:avLst/>
          </a:prstGeom>
          <a:noFill/>
          <a:ln w="15875">
            <a:solidFill>
              <a:srgbClr val="5E6964"/>
            </a:solidFill>
            <a:prstDash val="solid"/>
            <a:tailEnd type="triangle"/>
          </a:ln>
        </p:spPr>
      </p:sp>
      <p:sp>
        <p:nvSpPr>
          <p:cNvPr id="33" name="Shape 26"/>
          <p:cNvSpPr/>
          <p:nvPr/>
        </p:nvSpPr>
        <p:spPr>
          <a:xfrm>
            <a:off x="3314700" y="1371600"/>
            <a:ext cx="2514600" cy="2331720"/>
          </a:xfrm>
          <a:prstGeom prst="roundRect">
            <a:avLst>
              <a:gd name="adj" fmla="val 3137"/>
            </a:avLst>
          </a:prstGeom>
          <a:solidFill>
            <a:srgbClr val="F4F7F5"/>
          </a:solidFill>
          <a:ln w="9525">
            <a:solidFill>
              <a:srgbClr val="D5DED9"/>
            </a:solidFill>
            <a:prstDash val="solid"/>
          </a:ln>
        </p:spPr>
      </p:sp>
      <p:sp>
        <p:nvSpPr>
          <p:cNvPr id="34" name="Shape 27"/>
          <p:cNvSpPr/>
          <p:nvPr/>
        </p:nvSpPr>
        <p:spPr>
          <a:xfrm>
            <a:off x="3451860" y="1490472"/>
            <a:ext cx="822960" cy="329184"/>
          </a:xfrm>
          <a:prstGeom prst="roundRect">
            <a:avLst>
              <a:gd name="adj" fmla="val 16667"/>
            </a:avLst>
          </a:prstGeom>
          <a:solidFill>
            <a:srgbClr val="D49A00"/>
          </a:solidFill>
          <a:ln/>
        </p:spPr>
      </p:sp>
      <p:sp>
        <p:nvSpPr>
          <p:cNvPr id="35" name="Text 28"/>
          <p:cNvSpPr txBox="1"/>
          <p:nvPr/>
        </p:nvSpPr>
        <p:spPr>
          <a:xfrm>
            <a:off x="3451860" y="1490472"/>
            <a:ext cx="82296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TEST</a:t>
            </a:r>
            <a:endParaRPr lang="en-US" sz="1300" dirty="0"/>
          </a:p>
        </p:txBody>
      </p:sp>
      <p:sp>
        <p:nvSpPr>
          <p:cNvPr id="36" name="Text 29"/>
          <p:cNvSpPr txBox="1"/>
          <p:nvPr/>
        </p:nvSpPr>
        <p:spPr>
          <a:xfrm>
            <a:off x="4366260" y="1490472"/>
            <a:ext cx="1371600"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Pre-production</a:t>
            </a:r>
            <a:endParaRPr lang="en-US" sz="1150" dirty="0"/>
          </a:p>
        </p:txBody>
      </p:sp>
      <p:pic>
        <p:nvPicPr>
          <p:cNvPr id="37" name="Image 4" descr="preencoded.png"/>
          <p:cNvPicPr>
            <a:picLocks noChangeAspect="1"/>
          </p:cNvPicPr>
          <p:nvPr/>
        </p:nvPicPr>
        <p:blipFill>
          <a:blip r:embed="rId4"/>
          <a:stretch>
            <a:fillRect/>
          </a:stretch>
        </p:blipFill>
        <p:spPr>
          <a:xfrm>
            <a:off x="3451860" y="1993392"/>
            <a:ext cx="137160" cy="137160"/>
          </a:xfrm>
          <a:prstGeom prst="rect">
            <a:avLst/>
          </a:prstGeom>
        </p:spPr>
      </p:pic>
      <p:sp>
        <p:nvSpPr>
          <p:cNvPr id="38" name="Text 30"/>
          <p:cNvSpPr txBox="1"/>
          <p:nvPr/>
        </p:nvSpPr>
        <p:spPr>
          <a:xfrm>
            <a:off x="3662172" y="1965960"/>
            <a:ext cx="2029968" cy="30175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Anonymised or sampled real data</a:t>
            </a:r>
            <a:endParaRPr lang="en-US" sz="950" dirty="0"/>
          </a:p>
        </p:txBody>
      </p:sp>
      <p:pic>
        <p:nvPicPr>
          <p:cNvPr id="39" name="Image 5" descr="preencoded.png"/>
          <p:cNvPicPr>
            <a:picLocks noChangeAspect="1"/>
          </p:cNvPicPr>
          <p:nvPr/>
        </p:nvPicPr>
        <p:blipFill>
          <a:blip r:embed="rId4"/>
          <a:stretch>
            <a:fillRect/>
          </a:stretch>
        </p:blipFill>
        <p:spPr>
          <a:xfrm>
            <a:off x="3451860" y="2295144"/>
            <a:ext cx="137160" cy="137160"/>
          </a:xfrm>
          <a:prstGeom prst="rect">
            <a:avLst/>
          </a:prstGeom>
        </p:spPr>
      </p:pic>
      <p:sp>
        <p:nvSpPr>
          <p:cNvPr id="40" name="Text 31"/>
          <p:cNvSpPr txBox="1"/>
          <p:nvPr/>
        </p:nvSpPr>
        <p:spPr>
          <a:xfrm>
            <a:off x="3662172" y="2267712"/>
            <a:ext cx="2029968" cy="30175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Curated package mirror</a:t>
            </a:r>
            <a:endParaRPr lang="en-US" sz="950" dirty="0"/>
          </a:p>
        </p:txBody>
      </p:sp>
      <p:pic>
        <p:nvPicPr>
          <p:cNvPr id="41" name="Image 6" descr="preencoded.png"/>
          <p:cNvPicPr>
            <a:picLocks noChangeAspect="1"/>
          </p:cNvPicPr>
          <p:nvPr/>
        </p:nvPicPr>
        <p:blipFill>
          <a:blip r:embed="rId4"/>
          <a:stretch>
            <a:fillRect/>
          </a:stretch>
        </p:blipFill>
        <p:spPr>
          <a:xfrm>
            <a:off x="3451860" y="2596896"/>
            <a:ext cx="137160" cy="137160"/>
          </a:xfrm>
          <a:prstGeom prst="rect">
            <a:avLst/>
          </a:prstGeom>
        </p:spPr>
      </p:pic>
      <p:sp>
        <p:nvSpPr>
          <p:cNvPr id="42" name="Text 32"/>
          <p:cNvSpPr txBox="1"/>
          <p:nvPr/>
        </p:nvSpPr>
        <p:spPr>
          <a:xfrm>
            <a:off x="3662172" y="2569464"/>
            <a:ext cx="2029968" cy="30175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Named, time-limited access</a:t>
            </a:r>
            <a:endParaRPr lang="en-US" sz="950" dirty="0"/>
          </a:p>
        </p:txBody>
      </p:sp>
      <p:pic>
        <p:nvPicPr>
          <p:cNvPr id="43" name="Image 7" descr="preencoded.png"/>
          <p:cNvPicPr>
            <a:picLocks noChangeAspect="1"/>
          </p:cNvPicPr>
          <p:nvPr/>
        </p:nvPicPr>
        <p:blipFill>
          <a:blip r:embed="rId4"/>
          <a:stretch>
            <a:fillRect/>
          </a:stretch>
        </p:blipFill>
        <p:spPr>
          <a:xfrm>
            <a:off x="3451860" y="2898648"/>
            <a:ext cx="137160" cy="137160"/>
          </a:xfrm>
          <a:prstGeom prst="rect">
            <a:avLst/>
          </a:prstGeom>
        </p:spPr>
      </p:pic>
      <p:sp>
        <p:nvSpPr>
          <p:cNvPr id="44" name="Text 33"/>
          <p:cNvSpPr txBox="1"/>
          <p:nvPr/>
        </p:nvSpPr>
        <p:spPr>
          <a:xfrm>
            <a:off x="3662172" y="2871216"/>
            <a:ext cx="2029968" cy="30175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Mirrors production setup</a:t>
            </a:r>
            <a:endParaRPr lang="en-US" sz="950" dirty="0"/>
          </a:p>
        </p:txBody>
      </p:sp>
      <p:sp>
        <p:nvSpPr>
          <p:cNvPr id="45" name="Shape 34"/>
          <p:cNvSpPr/>
          <p:nvPr/>
        </p:nvSpPr>
        <p:spPr>
          <a:xfrm>
            <a:off x="3451860" y="3218688"/>
            <a:ext cx="2240280" cy="0"/>
          </a:xfrm>
          <a:prstGeom prst="line">
            <a:avLst/>
          </a:prstGeom>
          <a:noFill/>
          <a:ln w="6350">
            <a:solidFill>
              <a:srgbClr val="D5DED9"/>
            </a:solidFill>
            <a:prstDash val="solid"/>
          </a:ln>
        </p:spPr>
      </p:sp>
      <p:sp>
        <p:nvSpPr>
          <p:cNvPr id="46" name="Text 35"/>
          <p:cNvSpPr txBox="1"/>
          <p:nvPr/>
        </p:nvSpPr>
        <p:spPr>
          <a:xfrm>
            <a:off x="3451860" y="3255264"/>
            <a:ext cx="2240280" cy="40233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Promotion approved by
</a:t>
            </a:r>
            <a:r>
              <a:rPr lang="en-US" sz="1000" b="1" dirty="0">
                <a:solidFill>
                  <a:srgbClr val="231F20"/>
                </a:solidFill>
                <a:latin typeface="Calibri" pitchFamily="34" charset="0"/>
                <a:ea typeface="Calibri" pitchFamily="34" charset="-122"/>
                <a:cs typeface="Calibri" pitchFamily="34" charset="-120"/>
              </a:rPr>
              <a:t>Team lead + data owner</a:t>
            </a:r>
            <a:endParaRPr lang="en-US" sz="1000" dirty="0"/>
          </a:p>
        </p:txBody>
      </p:sp>
      <p:sp>
        <p:nvSpPr>
          <p:cNvPr id="47" name="Shape 36"/>
          <p:cNvSpPr/>
          <p:nvPr/>
        </p:nvSpPr>
        <p:spPr>
          <a:xfrm>
            <a:off x="5856732" y="2514600"/>
            <a:ext cx="288036" cy="0"/>
          </a:xfrm>
          <a:prstGeom prst="line">
            <a:avLst/>
          </a:prstGeom>
          <a:noFill/>
          <a:ln w="15875">
            <a:solidFill>
              <a:srgbClr val="5E6964"/>
            </a:solidFill>
            <a:prstDash val="solid"/>
            <a:tailEnd type="triangle"/>
          </a:ln>
        </p:spPr>
      </p:sp>
      <p:sp>
        <p:nvSpPr>
          <p:cNvPr id="48" name="Shape 37"/>
          <p:cNvSpPr/>
          <p:nvPr/>
        </p:nvSpPr>
        <p:spPr>
          <a:xfrm>
            <a:off x="6172200" y="1371600"/>
            <a:ext cx="2514600" cy="2331720"/>
          </a:xfrm>
          <a:prstGeom prst="roundRect">
            <a:avLst>
              <a:gd name="adj" fmla="val 3137"/>
            </a:avLst>
          </a:prstGeom>
          <a:solidFill>
            <a:srgbClr val="F4F7F5"/>
          </a:solidFill>
          <a:ln w="9525">
            <a:solidFill>
              <a:srgbClr val="D5DED9"/>
            </a:solidFill>
            <a:prstDash val="solid"/>
          </a:ln>
        </p:spPr>
      </p:sp>
      <p:sp>
        <p:nvSpPr>
          <p:cNvPr id="49" name="Shape 38"/>
          <p:cNvSpPr/>
          <p:nvPr/>
        </p:nvSpPr>
        <p:spPr>
          <a:xfrm>
            <a:off x="6309360" y="1490472"/>
            <a:ext cx="822960" cy="329184"/>
          </a:xfrm>
          <a:prstGeom prst="roundRect">
            <a:avLst>
              <a:gd name="adj" fmla="val 16667"/>
            </a:avLst>
          </a:prstGeom>
          <a:solidFill>
            <a:srgbClr val="B83B2E"/>
          </a:solidFill>
          <a:ln/>
        </p:spPr>
      </p:sp>
      <p:sp>
        <p:nvSpPr>
          <p:cNvPr id="50" name="Text 39"/>
          <p:cNvSpPr txBox="1"/>
          <p:nvPr/>
        </p:nvSpPr>
        <p:spPr>
          <a:xfrm>
            <a:off x="6309360" y="1490472"/>
            <a:ext cx="82296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PROD</a:t>
            </a:r>
            <a:endParaRPr lang="en-US" sz="1300" dirty="0"/>
          </a:p>
        </p:txBody>
      </p:sp>
      <p:sp>
        <p:nvSpPr>
          <p:cNvPr id="51" name="Text 40"/>
          <p:cNvSpPr txBox="1"/>
          <p:nvPr/>
        </p:nvSpPr>
        <p:spPr>
          <a:xfrm>
            <a:off x="7223760" y="1490472"/>
            <a:ext cx="1371600"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Production</a:t>
            </a:r>
            <a:endParaRPr lang="en-US" sz="1150" dirty="0"/>
          </a:p>
        </p:txBody>
      </p:sp>
      <p:pic>
        <p:nvPicPr>
          <p:cNvPr id="52" name="Image 8" descr="preencoded.png"/>
          <p:cNvPicPr>
            <a:picLocks noChangeAspect="1"/>
          </p:cNvPicPr>
          <p:nvPr/>
        </p:nvPicPr>
        <p:blipFill>
          <a:blip r:embed="rId5"/>
          <a:stretch>
            <a:fillRect/>
          </a:stretch>
        </p:blipFill>
        <p:spPr>
          <a:xfrm>
            <a:off x="6309360" y="1993392"/>
            <a:ext cx="137160" cy="137160"/>
          </a:xfrm>
          <a:prstGeom prst="rect">
            <a:avLst/>
          </a:prstGeom>
        </p:spPr>
      </p:pic>
      <p:sp>
        <p:nvSpPr>
          <p:cNvPr id="53" name="Text 41"/>
          <p:cNvSpPr txBox="1"/>
          <p:nvPr/>
        </p:nvSpPr>
        <p:spPr>
          <a:xfrm>
            <a:off x="6519672" y="1965960"/>
            <a:ext cx="2029968" cy="30175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Real microdata, full volume</a:t>
            </a:r>
            <a:endParaRPr lang="en-US" sz="950" dirty="0"/>
          </a:p>
        </p:txBody>
      </p:sp>
      <p:pic>
        <p:nvPicPr>
          <p:cNvPr id="54" name="Image 9" descr="preencoded.png"/>
          <p:cNvPicPr>
            <a:picLocks noChangeAspect="1"/>
          </p:cNvPicPr>
          <p:nvPr/>
        </p:nvPicPr>
        <p:blipFill>
          <a:blip r:embed="rId5"/>
          <a:stretch>
            <a:fillRect/>
          </a:stretch>
        </p:blipFill>
        <p:spPr>
          <a:xfrm>
            <a:off x="6309360" y="2295144"/>
            <a:ext cx="137160" cy="137160"/>
          </a:xfrm>
          <a:prstGeom prst="rect">
            <a:avLst/>
          </a:prstGeom>
        </p:spPr>
      </p:pic>
      <p:sp>
        <p:nvSpPr>
          <p:cNvPr id="55" name="Text 42"/>
          <p:cNvSpPr txBox="1"/>
          <p:nvPr/>
        </p:nvSpPr>
        <p:spPr>
          <a:xfrm>
            <a:off x="6519672" y="2267712"/>
            <a:ext cx="2029968" cy="30175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No interactive access; pipelines only</a:t>
            </a:r>
            <a:endParaRPr lang="en-US" sz="950" dirty="0"/>
          </a:p>
        </p:txBody>
      </p:sp>
      <p:pic>
        <p:nvPicPr>
          <p:cNvPr id="56" name="Image 10" descr="preencoded.png"/>
          <p:cNvPicPr>
            <a:picLocks noChangeAspect="1"/>
          </p:cNvPicPr>
          <p:nvPr/>
        </p:nvPicPr>
        <p:blipFill>
          <a:blip r:embed="rId5"/>
          <a:stretch>
            <a:fillRect/>
          </a:stretch>
        </p:blipFill>
        <p:spPr>
          <a:xfrm>
            <a:off x="6309360" y="2596896"/>
            <a:ext cx="137160" cy="137160"/>
          </a:xfrm>
          <a:prstGeom prst="rect">
            <a:avLst/>
          </a:prstGeom>
        </p:spPr>
      </p:pic>
      <p:sp>
        <p:nvSpPr>
          <p:cNvPr id="57" name="Text 43"/>
          <p:cNvSpPr txBox="1"/>
          <p:nvPr/>
        </p:nvSpPr>
        <p:spPr>
          <a:xfrm>
            <a:off x="6519672" y="2569464"/>
            <a:ext cx="2029968" cy="30175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Change control and audit logs</a:t>
            </a:r>
            <a:endParaRPr lang="en-US" sz="950" dirty="0"/>
          </a:p>
        </p:txBody>
      </p:sp>
      <p:pic>
        <p:nvPicPr>
          <p:cNvPr id="58" name="Image 11" descr="preencoded.png"/>
          <p:cNvPicPr>
            <a:picLocks noChangeAspect="1"/>
          </p:cNvPicPr>
          <p:nvPr/>
        </p:nvPicPr>
        <p:blipFill>
          <a:blip r:embed="rId5"/>
          <a:stretch>
            <a:fillRect/>
          </a:stretch>
        </p:blipFill>
        <p:spPr>
          <a:xfrm>
            <a:off x="6309360" y="2898648"/>
            <a:ext cx="137160" cy="137160"/>
          </a:xfrm>
          <a:prstGeom prst="rect">
            <a:avLst/>
          </a:prstGeom>
        </p:spPr>
      </p:pic>
      <p:sp>
        <p:nvSpPr>
          <p:cNvPr id="59" name="Text 44"/>
          <p:cNvSpPr txBox="1"/>
          <p:nvPr/>
        </p:nvSpPr>
        <p:spPr>
          <a:xfrm>
            <a:off x="6519672" y="2871216"/>
            <a:ext cx="2029968" cy="30175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Signed, registered models only</a:t>
            </a:r>
            <a:endParaRPr lang="en-US" sz="950" dirty="0"/>
          </a:p>
        </p:txBody>
      </p:sp>
      <p:sp>
        <p:nvSpPr>
          <p:cNvPr id="60" name="Shape 45"/>
          <p:cNvSpPr/>
          <p:nvPr/>
        </p:nvSpPr>
        <p:spPr>
          <a:xfrm>
            <a:off x="6309360" y="3218688"/>
            <a:ext cx="2240280" cy="0"/>
          </a:xfrm>
          <a:prstGeom prst="line">
            <a:avLst/>
          </a:prstGeom>
          <a:noFill/>
          <a:ln w="6350">
            <a:solidFill>
              <a:srgbClr val="D5DED9"/>
            </a:solidFill>
            <a:prstDash val="solid"/>
          </a:ln>
        </p:spPr>
      </p:sp>
      <p:sp>
        <p:nvSpPr>
          <p:cNvPr id="61" name="Text 46"/>
          <p:cNvSpPr txBox="1"/>
          <p:nvPr/>
        </p:nvSpPr>
        <p:spPr>
          <a:xfrm>
            <a:off x="6309360" y="3255264"/>
            <a:ext cx="2240280" cy="40233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Promotion approved by
</a:t>
            </a:r>
            <a:r>
              <a:rPr lang="en-US" sz="1000" b="1" dirty="0">
                <a:solidFill>
                  <a:srgbClr val="231F20"/>
                </a:solidFill>
                <a:latin typeface="Calibri" pitchFamily="34" charset="0"/>
                <a:ea typeface="Calibri" pitchFamily="34" charset="-122"/>
                <a:cs typeface="Calibri" pitchFamily="34" charset="-120"/>
              </a:rPr>
              <a:t>Change board + methodology</a:t>
            </a:r>
            <a:endParaRPr lang="en-US" sz="1000" dirty="0"/>
          </a:p>
        </p:txBody>
      </p:sp>
      <p:sp>
        <p:nvSpPr>
          <p:cNvPr id="62" name="Shape 47"/>
          <p:cNvSpPr/>
          <p:nvPr/>
        </p:nvSpPr>
        <p:spPr>
          <a:xfrm>
            <a:off x="457200" y="3840480"/>
            <a:ext cx="8229600" cy="749808"/>
          </a:xfrm>
          <a:prstGeom prst="roundRect">
            <a:avLst>
              <a:gd name="adj" fmla="val 9756"/>
            </a:avLst>
          </a:prstGeom>
          <a:solidFill>
            <a:srgbClr val="E8F5EF"/>
          </a:solidFill>
          <a:ln w="15875">
            <a:solidFill>
              <a:srgbClr val="00704A"/>
            </a:solidFill>
            <a:prstDash val="solid"/>
          </a:ln>
        </p:spPr>
      </p:sp>
      <p:sp>
        <p:nvSpPr>
          <p:cNvPr id="63" name="Shape 48"/>
          <p:cNvSpPr/>
          <p:nvPr/>
        </p:nvSpPr>
        <p:spPr>
          <a:xfrm>
            <a:off x="594360" y="4014216"/>
            <a:ext cx="402336" cy="402336"/>
          </a:xfrm>
          <a:prstGeom prst="ellipse">
            <a:avLst/>
          </a:prstGeom>
          <a:solidFill>
            <a:srgbClr val="00704A">
              <a:alpha val="22000"/>
            </a:srgbClr>
          </a:solidFill>
          <a:ln/>
        </p:spPr>
      </p:sp>
      <p:pic>
        <p:nvPicPr>
          <p:cNvPr id="64" name="Image 12" descr="preencoded.png"/>
          <p:cNvPicPr>
            <a:picLocks noChangeAspect="1"/>
          </p:cNvPicPr>
          <p:nvPr/>
        </p:nvPicPr>
        <p:blipFill>
          <a:blip r:embed="rId6"/>
          <a:stretch>
            <a:fillRect/>
          </a:stretch>
        </p:blipFill>
        <p:spPr>
          <a:xfrm>
            <a:off x="690921" y="4110777"/>
            <a:ext cx="209215" cy="209215"/>
          </a:xfrm>
          <a:prstGeom prst="rect">
            <a:avLst/>
          </a:prstGeom>
        </p:spPr>
      </p:pic>
      <p:sp>
        <p:nvSpPr>
          <p:cNvPr id="65" name="Text 49"/>
          <p:cNvSpPr txBox="1"/>
          <p:nvPr/>
        </p:nvSpPr>
        <p:spPr>
          <a:xfrm>
            <a:off x="1143000" y="3895344"/>
            <a:ext cx="72237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Plus one: the secure research zone</a:t>
            </a:r>
            <a:endParaRPr lang="en-US" sz="1200" dirty="0"/>
          </a:p>
        </p:txBody>
      </p:sp>
      <p:sp>
        <p:nvSpPr>
          <p:cNvPr id="66" name="Text 50"/>
          <p:cNvSpPr txBox="1"/>
          <p:nvPr/>
        </p:nvSpPr>
        <p:spPr>
          <a:xfrm>
            <a:off x="1143000" y="4133088"/>
            <a:ext cx="7406640" cy="42062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separate enclave for work on identifiable microdata: no outbound network, outputs checked before release, all activity logged. Treat it as a fourth environment with its own model allow-list — never as an extension of DEV.</a:t>
            </a:r>
            <a:endParaRPr lang="en-US" sz="9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LAYER 3 · REPRODUCIBILITY</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Reproducibility is a statistical obligation</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You may be asked to reproduce a published figure years later — generative models make that harder</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8" name="Text 15"/>
          <p:cNvSpPr txBox="1"/>
          <p:nvPr/>
        </p:nvSpPr>
        <p:spPr>
          <a:xfrm>
            <a:off x="457200" y="1325880"/>
            <a:ext cx="54864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SIX THINGS TO PIN TOGETHER FOR EVERY PUBLISHED RUN</a:t>
            </a:r>
            <a:endParaRPr lang="en-US" sz="900" dirty="0"/>
          </a:p>
        </p:txBody>
      </p:sp>
      <p:sp>
        <p:nvSpPr>
          <p:cNvPr id="19" name="Shape 16"/>
          <p:cNvSpPr/>
          <p:nvPr/>
        </p:nvSpPr>
        <p:spPr>
          <a:xfrm>
            <a:off x="457200" y="1572768"/>
            <a:ext cx="1188720" cy="868680"/>
          </a:xfrm>
          <a:prstGeom prst="roundRect">
            <a:avLst>
              <a:gd name="adj" fmla="val 8421"/>
            </a:avLst>
          </a:prstGeom>
          <a:solidFill>
            <a:srgbClr val="E8F5EF"/>
          </a:solidFill>
          <a:ln w="15875">
            <a:solidFill>
              <a:srgbClr val="00A86A"/>
            </a:solidFill>
            <a:prstDash val="solid"/>
          </a:ln>
        </p:spPr>
      </p:sp>
      <p:sp>
        <p:nvSpPr>
          <p:cNvPr id="20" name="Shape 17"/>
          <p:cNvSpPr/>
          <p:nvPr/>
        </p:nvSpPr>
        <p:spPr>
          <a:xfrm>
            <a:off x="877824" y="1645920"/>
            <a:ext cx="347472" cy="347472"/>
          </a:xfrm>
          <a:prstGeom prst="ellipse">
            <a:avLst/>
          </a:prstGeom>
          <a:solidFill>
            <a:srgbClr val="00A86A">
              <a:alpha val="22000"/>
            </a:srgbClr>
          </a:solidFill>
          <a:ln/>
        </p:spPr>
      </p:sp>
      <p:pic>
        <p:nvPicPr>
          <p:cNvPr id="21" name="Image 0" descr="preencoded.png"/>
          <p:cNvPicPr>
            <a:picLocks noChangeAspect="1"/>
          </p:cNvPicPr>
          <p:nvPr/>
        </p:nvPicPr>
        <p:blipFill>
          <a:blip r:embed="rId3"/>
          <a:stretch>
            <a:fillRect/>
          </a:stretch>
        </p:blipFill>
        <p:spPr>
          <a:xfrm>
            <a:off x="961217" y="1729313"/>
            <a:ext cx="180685" cy="180685"/>
          </a:xfrm>
          <a:prstGeom prst="rect">
            <a:avLst/>
          </a:prstGeom>
        </p:spPr>
      </p:pic>
      <p:sp>
        <p:nvSpPr>
          <p:cNvPr id="22" name="Text 18"/>
          <p:cNvSpPr txBox="1"/>
          <p:nvPr/>
        </p:nvSpPr>
        <p:spPr>
          <a:xfrm>
            <a:off x="502920" y="2029968"/>
            <a:ext cx="1097280" cy="34747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Data snapshot ID</a:t>
            </a:r>
            <a:endParaRPr lang="en-US" sz="1000" dirty="0"/>
          </a:p>
        </p:txBody>
      </p:sp>
      <p:sp>
        <p:nvSpPr>
          <p:cNvPr id="23" name="Text 19"/>
          <p:cNvSpPr txBox="1"/>
          <p:nvPr/>
        </p:nvSpPr>
        <p:spPr>
          <a:xfrm>
            <a:off x="1645920" y="1783080"/>
            <a:ext cx="219456" cy="411480"/>
          </a:xfrm>
          <a:prstGeom prst="rect">
            <a:avLst/>
          </a:prstGeom>
          <a:noFill/>
          <a:ln/>
        </p:spPr>
        <p:txBody>
          <a:bodyPr wrap="square" lIns="0" tIns="0" rIns="0" bIns="0" rtlCol="0" anchor="ctr"/>
          <a:lstStyle/>
          <a:p>
            <a:pPr marL="0" indent="0" algn="ctr">
              <a:buNone/>
            </a:pPr>
            <a:r>
              <a:rPr lang="en-US" sz="1800" b="1" dirty="0">
                <a:solidFill>
                  <a:srgbClr val="00A86A"/>
                </a:solidFill>
                <a:latin typeface="Calibri" pitchFamily="34" charset="0"/>
                <a:ea typeface="Calibri" pitchFamily="34" charset="-122"/>
                <a:cs typeface="Calibri" pitchFamily="34" charset="-120"/>
              </a:rPr>
              <a:t>+</a:t>
            </a:r>
            <a:endParaRPr lang="en-US" sz="1800" dirty="0"/>
          </a:p>
        </p:txBody>
      </p:sp>
      <p:sp>
        <p:nvSpPr>
          <p:cNvPr id="24" name="Shape 20"/>
          <p:cNvSpPr/>
          <p:nvPr/>
        </p:nvSpPr>
        <p:spPr>
          <a:xfrm>
            <a:off x="1865376" y="1572768"/>
            <a:ext cx="1188720" cy="868680"/>
          </a:xfrm>
          <a:prstGeom prst="roundRect">
            <a:avLst>
              <a:gd name="adj" fmla="val 8421"/>
            </a:avLst>
          </a:prstGeom>
          <a:solidFill>
            <a:srgbClr val="E8F5EF"/>
          </a:solidFill>
          <a:ln w="15875">
            <a:solidFill>
              <a:srgbClr val="00A86A"/>
            </a:solidFill>
            <a:prstDash val="solid"/>
          </a:ln>
        </p:spPr>
      </p:sp>
      <p:sp>
        <p:nvSpPr>
          <p:cNvPr id="25" name="Shape 21"/>
          <p:cNvSpPr/>
          <p:nvPr/>
        </p:nvSpPr>
        <p:spPr>
          <a:xfrm>
            <a:off x="2286000" y="1645920"/>
            <a:ext cx="347472" cy="347472"/>
          </a:xfrm>
          <a:prstGeom prst="ellipse">
            <a:avLst/>
          </a:prstGeom>
          <a:solidFill>
            <a:srgbClr val="00A86A">
              <a:alpha val="22000"/>
            </a:srgbClr>
          </a:solidFill>
          <a:ln/>
        </p:spPr>
      </p:sp>
      <p:pic>
        <p:nvPicPr>
          <p:cNvPr id="26" name="Image 1" descr="preencoded.png"/>
          <p:cNvPicPr>
            <a:picLocks noChangeAspect="1"/>
          </p:cNvPicPr>
          <p:nvPr/>
        </p:nvPicPr>
        <p:blipFill>
          <a:blip r:embed="rId4"/>
          <a:stretch>
            <a:fillRect/>
          </a:stretch>
        </p:blipFill>
        <p:spPr>
          <a:xfrm>
            <a:off x="2369393" y="1729313"/>
            <a:ext cx="180685" cy="180685"/>
          </a:xfrm>
          <a:prstGeom prst="rect">
            <a:avLst/>
          </a:prstGeom>
        </p:spPr>
      </p:pic>
      <p:sp>
        <p:nvSpPr>
          <p:cNvPr id="27" name="Text 22"/>
          <p:cNvSpPr txBox="1"/>
          <p:nvPr/>
        </p:nvSpPr>
        <p:spPr>
          <a:xfrm>
            <a:off x="1911096" y="2029968"/>
            <a:ext cx="1097280" cy="34747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Code commit</a:t>
            </a:r>
            <a:endParaRPr lang="en-US" sz="1000" dirty="0"/>
          </a:p>
        </p:txBody>
      </p:sp>
      <p:sp>
        <p:nvSpPr>
          <p:cNvPr id="28" name="Text 23"/>
          <p:cNvSpPr txBox="1"/>
          <p:nvPr/>
        </p:nvSpPr>
        <p:spPr>
          <a:xfrm>
            <a:off x="3054096" y="1783080"/>
            <a:ext cx="219456" cy="411480"/>
          </a:xfrm>
          <a:prstGeom prst="rect">
            <a:avLst/>
          </a:prstGeom>
          <a:noFill/>
          <a:ln/>
        </p:spPr>
        <p:txBody>
          <a:bodyPr wrap="square" lIns="0" tIns="0" rIns="0" bIns="0" rtlCol="0" anchor="ctr"/>
          <a:lstStyle/>
          <a:p>
            <a:pPr marL="0" indent="0" algn="ctr">
              <a:buNone/>
            </a:pPr>
            <a:r>
              <a:rPr lang="en-US" sz="1800" b="1" dirty="0">
                <a:solidFill>
                  <a:srgbClr val="00A86A"/>
                </a:solidFill>
                <a:latin typeface="Calibri" pitchFamily="34" charset="0"/>
                <a:ea typeface="Calibri" pitchFamily="34" charset="-122"/>
                <a:cs typeface="Calibri" pitchFamily="34" charset="-120"/>
              </a:rPr>
              <a:t>+</a:t>
            </a:r>
            <a:endParaRPr lang="en-US" sz="1800" dirty="0"/>
          </a:p>
        </p:txBody>
      </p:sp>
      <p:sp>
        <p:nvSpPr>
          <p:cNvPr id="29" name="Shape 24"/>
          <p:cNvSpPr/>
          <p:nvPr/>
        </p:nvSpPr>
        <p:spPr>
          <a:xfrm>
            <a:off x="3273552" y="1572768"/>
            <a:ext cx="1188720" cy="868680"/>
          </a:xfrm>
          <a:prstGeom prst="roundRect">
            <a:avLst>
              <a:gd name="adj" fmla="val 8421"/>
            </a:avLst>
          </a:prstGeom>
          <a:solidFill>
            <a:srgbClr val="E8F5EF"/>
          </a:solidFill>
          <a:ln w="15875">
            <a:solidFill>
              <a:srgbClr val="00A86A"/>
            </a:solidFill>
            <a:prstDash val="solid"/>
          </a:ln>
        </p:spPr>
      </p:sp>
      <p:sp>
        <p:nvSpPr>
          <p:cNvPr id="30" name="Shape 25"/>
          <p:cNvSpPr/>
          <p:nvPr/>
        </p:nvSpPr>
        <p:spPr>
          <a:xfrm>
            <a:off x="3694176" y="1645920"/>
            <a:ext cx="347472" cy="347472"/>
          </a:xfrm>
          <a:prstGeom prst="ellipse">
            <a:avLst/>
          </a:prstGeom>
          <a:solidFill>
            <a:srgbClr val="00A86A">
              <a:alpha val="22000"/>
            </a:srgbClr>
          </a:solidFill>
          <a:ln/>
        </p:spPr>
      </p:sp>
      <p:pic>
        <p:nvPicPr>
          <p:cNvPr id="31" name="Image 2" descr="preencoded.png"/>
          <p:cNvPicPr>
            <a:picLocks noChangeAspect="1"/>
          </p:cNvPicPr>
          <p:nvPr/>
        </p:nvPicPr>
        <p:blipFill>
          <a:blip r:embed="rId5"/>
          <a:stretch>
            <a:fillRect/>
          </a:stretch>
        </p:blipFill>
        <p:spPr>
          <a:xfrm>
            <a:off x="3777569" y="1729313"/>
            <a:ext cx="180685" cy="180685"/>
          </a:xfrm>
          <a:prstGeom prst="rect">
            <a:avLst/>
          </a:prstGeom>
        </p:spPr>
      </p:pic>
      <p:sp>
        <p:nvSpPr>
          <p:cNvPr id="32" name="Text 26"/>
          <p:cNvSpPr txBox="1"/>
          <p:nvPr/>
        </p:nvSpPr>
        <p:spPr>
          <a:xfrm>
            <a:off x="3319272" y="2029968"/>
            <a:ext cx="1097280" cy="34747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Model weights</a:t>
            </a:r>
            <a:endParaRPr lang="en-US" sz="1000" dirty="0"/>
          </a:p>
        </p:txBody>
      </p:sp>
      <p:sp>
        <p:nvSpPr>
          <p:cNvPr id="33" name="Text 27"/>
          <p:cNvSpPr txBox="1"/>
          <p:nvPr/>
        </p:nvSpPr>
        <p:spPr>
          <a:xfrm>
            <a:off x="4462272" y="1783080"/>
            <a:ext cx="219456" cy="411480"/>
          </a:xfrm>
          <a:prstGeom prst="rect">
            <a:avLst/>
          </a:prstGeom>
          <a:noFill/>
          <a:ln/>
        </p:spPr>
        <p:txBody>
          <a:bodyPr wrap="square" lIns="0" tIns="0" rIns="0" bIns="0" rtlCol="0" anchor="ctr"/>
          <a:lstStyle/>
          <a:p>
            <a:pPr marL="0" indent="0" algn="ctr">
              <a:buNone/>
            </a:pPr>
            <a:r>
              <a:rPr lang="en-US" sz="1800" b="1" dirty="0">
                <a:solidFill>
                  <a:srgbClr val="00A86A"/>
                </a:solidFill>
                <a:latin typeface="Calibri" pitchFamily="34" charset="0"/>
                <a:ea typeface="Calibri" pitchFamily="34" charset="-122"/>
                <a:cs typeface="Calibri" pitchFamily="34" charset="-120"/>
              </a:rPr>
              <a:t>+</a:t>
            </a:r>
            <a:endParaRPr lang="en-US" sz="1800" dirty="0"/>
          </a:p>
        </p:txBody>
      </p:sp>
      <p:sp>
        <p:nvSpPr>
          <p:cNvPr id="34" name="Shape 28"/>
          <p:cNvSpPr/>
          <p:nvPr/>
        </p:nvSpPr>
        <p:spPr>
          <a:xfrm>
            <a:off x="4681728" y="1572768"/>
            <a:ext cx="1188720" cy="868680"/>
          </a:xfrm>
          <a:prstGeom prst="roundRect">
            <a:avLst>
              <a:gd name="adj" fmla="val 8421"/>
            </a:avLst>
          </a:prstGeom>
          <a:solidFill>
            <a:srgbClr val="E8F5EF"/>
          </a:solidFill>
          <a:ln w="15875">
            <a:solidFill>
              <a:srgbClr val="00A86A"/>
            </a:solidFill>
            <a:prstDash val="solid"/>
          </a:ln>
        </p:spPr>
      </p:sp>
      <p:sp>
        <p:nvSpPr>
          <p:cNvPr id="35" name="Shape 29"/>
          <p:cNvSpPr/>
          <p:nvPr/>
        </p:nvSpPr>
        <p:spPr>
          <a:xfrm>
            <a:off x="5102352" y="1645920"/>
            <a:ext cx="347472" cy="347472"/>
          </a:xfrm>
          <a:prstGeom prst="ellipse">
            <a:avLst/>
          </a:prstGeom>
          <a:solidFill>
            <a:srgbClr val="00A86A">
              <a:alpha val="22000"/>
            </a:srgbClr>
          </a:solidFill>
          <a:ln/>
        </p:spPr>
      </p:sp>
      <p:pic>
        <p:nvPicPr>
          <p:cNvPr id="36" name="Image 3" descr="preencoded.png"/>
          <p:cNvPicPr>
            <a:picLocks noChangeAspect="1"/>
          </p:cNvPicPr>
          <p:nvPr/>
        </p:nvPicPr>
        <p:blipFill>
          <a:blip r:embed="rId6"/>
          <a:stretch>
            <a:fillRect/>
          </a:stretch>
        </p:blipFill>
        <p:spPr>
          <a:xfrm>
            <a:off x="5185745" y="1729313"/>
            <a:ext cx="180685" cy="180685"/>
          </a:xfrm>
          <a:prstGeom prst="rect">
            <a:avLst/>
          </a:prstGeom>
        </p:spPr>
      </p:pic>
      <p:sp>
        <p:nvSpPr>
          <p:cNvPr id="37" name="Text 30"/>
          <p:cNvSpPr txBox="1"/>
          <p:nvPr/>
        </p:nvSpPr>
        <p:spPr>
          <a:xfrm>
            <a:off x="4727448" y="2029968"/>
            <a:ext cx="1097280" cy="34747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Configuration</a:t>
            </a:r>
            <a:endParaRPr lang="en-US" sz="1000" dirty="0"/>
          </a:p>
        </p:txBody>
      </p:sp>
      <p:sp>
        <p:nvSpPr>
          <p:cNvPr id="38" name="Text 31"/>
          <p:cNvSpPr txBox="1"/>
          <p:nvPr/>
        </p:nvSpPr>
        <p:spPr>
          <a:xfrm>
            <a:off x="5870448" y="1783080"/>
            <a:ext cx="219456" cy="411480"/>
          </a:xfrm>
          <a:prstGeom prst="rect">
            <a:avLst/>
          </a:prstGeom>
          <a:noFill/>
          <a:ln/>
        </p:spPr>
        <p:txBody>
          <a:bodyPr wrap="square" lIns="0" tIns="0" rIns="0" bIns="0" rtlCol="0" anchor="ctr"/>
          <a:lstStyle/>
          <a:p>
            <a:pPr marL="0" indent="0" algn="ctr">
              <a:buNone/>
            </a:pPr>
            <a:r>
              <a:rPr lang="en-US" sz="1800" b="1" dirty="0">
                <a:solidFill>
                  <a:srgbClr val="00A86A"/>
                </a:solidFill>
                <a:latin typeface="Calibri" pitchFamily="34" charset="0"/>
                <a:ea typeface="Calibri" pitchFamily="34" charset="-122"/>
                <a:cs typeface="Calibri" pitchFamily="34" charset="-120"/>
              </a:rPr>
              <a:t>+</a:t>
            </a:r>
            <a:endParaRPr lang="en-US" sz="1800" dirty="0"/>
          </a:p>
        </p:txBody>
      </p:sp>
      <p:sp>
        <p:nvSpPr>
          <p:cNvPr id="39" name="Shape 32"/>
          <p:cNvSpPr/>
          <p:nvPr/>
        </p:nvSpPr>
        <p:spPr>
          <a:xfrm>
            <a:off x="6089904" y="1572768"/>
            <a:ext cx="1188720" cy="868680"/>
          </a:xfrm>
          <a:prstGeom prst="roundRect">
            <a:avLst>
              <a:gd name="adj" fmla="val 8421"/>
            </a:avLst>
          </a:prstGeom>
          <a:solidFill>
            <a:srgbClr val="E8F5EF"/>
          </a:solidFill>
          <a:ln w="15875">
            <a:solidFill>
              <a:srgbClr val="00A86A"/>
            </a:solidFill>
            <a:prstDash val="solid"/>
          </a:ln>
        </p:spPr>
      </p:sp>
      <p:sp>
        <p:nvSpPr>
          <p:cNvPr id="40" name="Shape 33"/>
          <p:cNvSpPr/>
          <p:nvPr/>
        </p:nvSpPr>
        <p:spPr>
          <a:xfrm>
            <a:off x="6510528" y="1645920"/>
            <a:ext cx="347472" cy="347472"/>
          </a:xfrm>
          <a:prstGeom prst="ellipse">
            <a:avLst/>
          </a:prstGeom>
          <a:solidFill>
            <a:srgbClr val="00A86A">
              <a:alpha val="22000"/>
            </a:srgbClr>
          </a:solidFill>
          <a:ln/>
        </p:spPr>
      </p:sp>
      <p:pic>
        <p:nvPicPr>
          <p:cNvPr id="41" name="Image 4" descr="preencoded.png"/>
          <p:cNvPicPr>
            <a:picLocks noChangeAspect="1"/>
          </p:cNvPicPr>
          <p:nvPr/>
        </p:nvPicPr>
        <p:blipFill>
          <a:blip r:embed="rId7"/>
          <a:stretch>
            <a:fillRect/>
          </a:stretch>
        </p:blipFill>
        <p:spPr>
          <a:xfrm>
            <a:off x="6593921" y="1729313"/>
            <a:ext cx="180685" cy="180685"/>
          </a:xfrm>
          <a:prstGeom prst="rect">
            <a:avLst/>
          </a:prstGeom>
        </p:spPr>
      </p:pic>
      <p:sp>
        <p:nvSpPr>
          <p:cNvPr id="42" name="Text 34"/>
          <p:cNvSpPr txBox="1"/>
          <p:nvPr/>
        </p:nvSpPr>
        <p:spPr>
          <a:xfrm>
            <a:off x="6135624" y="2029968"/>
            <a:ext cx="1097280" cy="34747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Environment image</a:t>
            </a:r>
            <a:endParaRPr lang="en-US" sz="1000" dirty="0"/>
          </a:p>
        </p:txBody>
      </p:sp>
      <p:sp>
        <p:nvSpPr>
          <p:cNvPr id="43" name="Text 35"/>
          <p:cNvSpPr txBox="1"/>
          <p:nvPr/>
        </p:nvSpPr>
        <p:spPr>
          <a:xfrm>
            <a:off x="7278624" y="1783080"/>
            <a:ext cx="219456" cy="411480"/>
          </a:xfrm>
          <a:prstGeom prst="rect">
            <a:avLst/>
          </a:prstGeom>
          <a:noFill/>
          <a:ln/>
        </p:spPr>
        <p:txBody>
          <a:bodyPr wrap="square" lIns="0" tIns="0" rIns="0" bIns="0" rtlCol="0" anchor="ctr"/>
          <a:lstStyle/>
          <a:p>
            <a:pPr marL="0" indent="0" algn="ctr">
              <a:buNone/>
            </a:pPr>
            <a:r>
              <a:rPr lang="en-US" sz="1800" b="1" dirty="0">
                <a:solidFill>
                  <a:srgbClr val="00A86A"/>
                </a:solidFill>
                <a:latin typeface="Calibri" pitchFamily="34" charset="0"/>
                <a:ea typeface="Calibri" pitchFamily="34" charset="-122"/>
                <a:cs typeface="Calibri" pitchFamily="34" charset="-120"/>
              </a:rPr>
              <a:t>+</a:t>
            </a:r>
            <a:endParaRPr lang="en-US" sz="1800" dirty="0"/>
          </a:p>
        </p:txBody>
      </p:sp>
      <p:sp>
        <p:nvSpPr>
          <p:cNvPr id="44" name="Shape 36"/>
          <p:cNvSpPr/>
          <p:nvPr/>
        </p:nvSpPr>
        <p:spPr>
          <a:xfrm>
            <a:off x="7498080" y="1572768"/>
            <a:ext cx="1188720" cy="868680"/>
          </a:xfrm>
          <a:prstGeom prst="roundRect">
            <a:avLst>
              <a:gd name="adj" fmla="val 8421"/>
            </a:avLst>
          </a:prstGeom>
          <a:solidFill>
            <a:srgbClr val="E8F5EF"/>
          </a:solidFill>
          <a:ln w="15875">
            <a:solidFill>
              <a:srgbClr val="00A86A"/>
            </a:solidFill>
            <a:prstDash val="solid"/>
          </a:ln>
        </p:spPr>
      </p:sp>
      <p:sp>
        <p:nvSpPr>
          <p:cNvPr id="45" name="Shape 37"/>
          <p:cNvSpPr/>
          <p:nvPr/>
        </p:nvSpPr>
        <p:spPr>
          <a:xfrm>
            <a:off x="7918704" y="1645920"/>
            <a:ext cx="347472" cy="347472"/>
          </a:xfrm>
          <a:prstGeom prst="ellipse">
            <a:avLst/>
          </a:prstGeom>
          <a:solidFill>
            <a:srgbClr val="00A86A">
              <a:alpha val="22000"/>
            </a:srgbClr>
          </a:solidFill>
          <a:ln/>
        </p:spPr>
      </p:sp>
      <p:pic>
        <p:nvPicPr>
          <p:cNvPr id="46" name="Image 5" descr="preencoded.png"/>
          <p:cNvPicPr>
            <a:picLocks noChangeAspect="1"/>
          </p:cNvPicPr>
          <p:nvPr/>
        </p:nvPicPr>
        <p:blipFill>
          <a:blip r:embed="rId8"/>
          <a:stretch>
            <a:fillRect/>
          </a:stretch>
        </p:blipFill>
        <p:spPr>
          <a:xfrm>
            <a:off x="8002097" y="1729313"/>
            <a:ext cx="180685" cy="180685"/>
          </a:xfrm>
          <a:prstGeom prst="rect">
            <a:avLst/>
          </a:prstGeom>
        </p:spPr>
      </p:pic>
      <p:sp>
        <p:nvSpPr>
          <p:cNvPr id="47" name="Text 38"/>
          <p:cNvSpPr txBox="1"/>
          <p:nvPr/>
        </p:nvSpPr>
        <p:spPr>
          <a:xfrm>
            <a:off x="7543800" y="2029968"/>
            <a:ext cx="1097280" cy="34747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Evaluation results</a:t>
            </a:r>
            <a:endParaRPr lang="en-US" sz="1000" dirty="0"/>
          </a:p>
        </p:txBody>
      </p:sp>
      <p:sp>
        <p:nvSpPr>
          <p:cNvPr id="48" name="Text 39"/>
          <p:cNvSpPr txBox="1"/>
          <p:nvPr/>
        </p:nvSpPr>
        <p:spPr>
          <a:xfrm>
            <a:off x="457200" y="2606040"/>
            <a:ext cx="5486400" cy="182880"/>
          </a:xfrm>
          <a:prstGeom prst="rect">
            <a:avLst/>
          </a:prstGeom>
          <a:noFill/>
          <a:ln/>
        </p:spPr>
        <p:txBody>
          <a:bodyPr wrap="square" lIns="0" tIns="0" rIns="0" bIns="0" rtlCol="0" anchor="t"/>
          <a:lstStyle/>
          <a:p>
            <a:pPr marL="0" indent="0">
              <a:buNone/>
            </a:pPr>
            <a:r>
              <a:rPr lang="en-US" sz="900" b="1" kern="0" spc="200" dirty="0">
                <a:solidFill>
                  <a:srgbClr val="8A6400"/>
                </a:solidFill>
                <a:latin typeface="Calibri" pitchFamily="34" charset="0"/>
                <a:ea typeface="Calibri" pitchFamily="34" charset="-122"/>
                <a:cs typeface="Calibri" pitchFamily="34" charset="-120"/>
              </a:rPr>
              <a:t>THE SPECIFIC HAZARDS OF GENERATIVE MODELS</a:t>
            </a:r>
            <a:endParaRPr lang="en-US" sz="900" dirty="0"/>
          </a:p>
        </p:txBody>
      </p:sp>
      <p:sp>
        <p:nvSpPr>
          <p:cNvPr id="49" name="Shape 40"/>
          <p:cNvSpPr/>
          <p:nvPr/>
        </p:nvSpPr>
        <p:spPr>
          <a:xfrm>
            <a:off x="457200" y="2834640"/>
            <a:ext cx="1975104" cy="1188720"/>
          </a:xfrm>
          <a:prstGeom prst="roundRect">
            <a:avLst>
              <a:gd name="adj" fmla="val 6154"/>
            </a:avLst>
          </a:prstGeom>
          <a:solidFill>
            <a:srgbClr val="F4F7F5"/>
          </a:solidFill>
          <a:ln w="9525">
            <a:solidFill>
              <a:srgbClr val="D5DED9"/>
            </a:solidFill>
            <a:prstDash val="solid"/>
          </a:ln>
        </p:spPr>
      </p:sp>
      <p:sp>
        <p:nvSpPr>
          <p:cNvPr id="50" name="Shape 41"/>
          <p:cNvSpPr/>
          <p:nvPr/>
        </p:nvSpPr>
        <p:spPr>
          <a:xfrm>
            <a:off x="585216" y="2962656"/>
            <a:ext cx="292608" cy="292608"/>
          </a:xfrm>
          <a:prstGeom prst="ellipse">
            <a:avLst/>
          </a:prstGeom>
          <a:solidFill>
            <a:srgbClr val="D49A00">
              <a:alpha val="22000"/>
            </a:srgbClr>
          </a:solidFill>
          <a:ln/>
        </p:spPr>
      </p:sp>
      <p:pic>
        <p:nvPicPr>
          <p:cNvPr id="51" name="Image 6" descr="preencoded.png"/>
          <p:cNvPicPr>
            <a:picLocks noChangeAspect="1"/>
          </p:cNvPicPr>
          <p:nvPr/>
        </p:nvPicPr>
        <p:blipFill>
          <a:blip r:embed="rId9"/>
          <a:stretch>
            <a:fillRect/>
          </a:stretch>
        </p:blipFill>
        <p:spPr>
          <a:xfrm>
            <a:off x="655442" y="3032882"/>
            <a:ext cx="152156" cy="152156"/>
          </a:xfrm>
          <a:prstGeom prst="rect">
            <a:avLst/>
          </a:prstGeom>
        </p:spPr>
      </p:pic>
      <p:sp>
        <p:nvSpPr>
          <p:cNvPr id="52" name="Text 42"/>
          <p:cNvSpPr txBox="1"/>
          <p:nvPr/>
        </p:nvSpPr>
        <p:spPr>
          <a:xfrm>
            <a:off x="987552" y="2962656"/>
            <a:ext cx="1335024" cy="29260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Non-determinism</a:t>
            </a:r>
            <a:endParaRPr lang="en-US" sz="1100" dirty="0"/>
          </a:p>
        </p:txBody>
      </p:sp>
      <p:sp>
        <p:nvSpPr>
          <p:cNvPr id="53" name="Text 43"/>
          <p:cNvSpPr txBox="1"/>
          <p:nvPr/>
        </p:nvSpPr>
        <p:spPr>
          <a:xfrm>
            <a:off x="585216" y="3310128"/>
            <a:ext cx="1719072" cy="658368"/>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The same prompt can give different output. Set temperature to zero, fix seeds, and verify.</a:t>
            </a:r>
            <a:endParaRPr lang="en-US" sz="900" dirty="0"/>
          </a:p>
        </p:txBody>
      </p:sp>
      <p:sp>
        <p:nvSpPr>
          <p:cNvPr id="54" name="Shape 44"/>
          <p:cNvSpPr/>
          <p:nvPr/>
        </p:nvSpPr>
        <p:spPr>
          <a:xfrm>
            <a:off x="2542032" y="2834640"/>
            <a:ext cx="1975104" cy="1188720"/>
          </a:xfrm>
          <a:prstGeom prst="roundRect">
            <a:avLst>
              <a:gd name="adj" fmla="val 6154"/>
            </a:avLst>
          </a:prstGeom>
          <a:solidFill>
            <a:srgbClr val="F4F7F5"/>
          </a:solidFill>
          <a:ln w="9525">
            <a:solidFill>
              <a:srgbClr val="D5DED9"/>
            </a:solidFill>
            <a:prstDash val="solid"/>
          </a:ln>
        </p:spPr>
      </p:sp>
      <p:sp>
        <p:nvSpPr>
          <p:cNvPr id="55" name="Shape 45"/>
          <p:cNvSpPr/>
          <p:nvPr/>
        </p:nvSpPr>
        <p:spPr>
          <a:xfrm>
            <a:off x="2670048" y="2962656"/>
            <a:ext cx="292608" cy="292608"/>
          </a:xfrm>
          <a:prstGeom prst="ellipse">
            <a:avLst/>
          </a:prstGeom>
          <a:solidFill>
            <a:srgbClr val="D49A00">
              <a:alpha val="22000"/>
            </a:srgbClr>
          </a:solidFill>
          <a:ln/>
        </p:spPr>
      </p:sp>
      <p:pic>
        <p:nvPicPr>
          <p:cNvPr id="56" name="Image 7" descr="preencoded.png"/>
          <p:cNvPicPr>
            <a:picLocks noChangeAspect="1"/>
          </p:cNvPicPr>
          <p:nvPr/>
        </p:nvPicPr>
        <p:blipFill>
          <a:blip r:embed="rId10"/>
          <a:stretch>
            <a:fillRect/>
          </a:stretch>
        </p:blipFill>
        <p:spPr>
          <a:xfrm>
            <a:off x="2740274" y="3032882"/>
            <a:ext cx="152156" cy="152156"/>
          </a:xfrm>
          <a:prstGeom prst="rect">
            <a:avLst/>
          </a:prstGeom>
        </p:spPr>
      </p:pic>
      <p:sp>
        <p:nvSpPr>
          <p:cNvPr id="57" name="Text 46"/>
          <p:cNvSpPr txBox="1"/>
          <p:nvPr/>
        </p:nvSpPr>
        <p:spPr>
          <a:xfrm>
            <a:off x="3072384" y="2962656"/>
            <a:ext cx="1335024" cy="29260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Silent updates</a:t>
            </a:r>
            <a:endParaRPr lang="en-US" sz="1100" dirty="0"/>
          </a:p>
        </p:txBody>
      </p:sp>
      <p:sp>
        <p:nvSpPr>
          <p:cNvPr id="58" name="Text 47"/>
          <p:cNvSpPr txBox="1"/>
          <p:nvPr/>
        </p:nvSpPr>
        <p:spPr>
          <a:xfrm>
            <a:off x="2670048" y="3310128"/>
            <a:ext cx="1719072" cy="658368"/>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A managed model behind a stable name can change, shifting your series without explanation.</a:t>
            </a:r>
            <a:endParaRPr lang="en-US" sz="900" dirty="0"/>
          </a:p>
        </p:txBody>
      </p:sp>
      <p:sp>
        <p:nvSpPr>
          <p:cNvPr id="59" name="Shape 48"/>
          <p:cNvSpPr/>
          <p:nvPr/>
        </p:nvSpPr>
        <p:spPr>
          <a:xfrm>
            <a:off x="4626864" y="2834640"/>
            <a:ext cx="1975104" cy="1188720"/>
          </a:xfrm>
          <a:prstGeom prst="roundRect">
            <a:avLst>
              <a:gd name="adj" fmla="val 6154"/>
            </a:avLst>
          </a:prstGeom>
          <a:solidFill>
            <a:srgbClr val="F4F7F5"/>
          </a:solidFill>
          <a:ln w="9525">
            <a:solidFill>
              <a:srgbClr val="D5DED9"/>
            </a:solidFill>
            <a:prstDash val="solid"/>
          </a:ln>
        </p:spPr>
      </p:sp>
      <p:sp>
        <p:nvSpPr>
          <p:cNvPr id="60" name="Shape 49"/>
          <p:cNvSpPr/>
          <p:nvPr/>
        </p:nvSpPr>
        <p:spPr>
          <a:xfrm>
            <a:off x="4754880" y="2962656"/>
            <a:ext cx="292608" cy="292608"/>
          </a:xfrm>
          <a:prstGeom prst="ellipse">
            <a:avLst/>
          </a:prstGeom>
          <a:solidFill>
            <a:srgbClr val="D49A00">
              <a:alpha val="22000"/>
            </a:srgbClr>
          </a:solidFill>
          <a:ln/>
        </p:spPr>
      </p:sp>
      <p:pic>
        <p:nvPicPr>
          <p:cNvPr id="61" name="Image 8" descr="preencoded.png"/>
          <p:cNvPicPr>
            <a:picLocks noChangeAspect="1"/>
          </p:cNvPicPr>
          <p:nvPr/>
        </p:nvPicPr>
        <p:blipFill>
          <a:blip r:embed="rId11"/>
          <a:stretch>
            <a:fillRect/>
          </a:stretch>
        </p:blipFill>
        <p:spPr>
          <a:xfrm>
            <a:off x="4825106" y="3032882"/>
            <a:ext cx="152156" cy="152156"/>
          </a:xfrm>
          <a:prstGeom prst="rect">
            <a:avLst/>
          </a:prstGeom>
        </p:spPr>
      </p:pic>
      <p:sp>
        <p:nvSpPr>
          <p:cNvPr id="62" name="Text 50"/>
          <p:cNvSpPr txBox="1"/>
          <p:nvPr/>
        </p:nvSpPr>
        <p:spPr>
          <a:xfrm>
            <a:off x="5157216" y="2962656"/>
            <a:ext cx="1335024" cy="29260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Prompt drift</a:t>
            </a:r>
            <a:endParaRPr lang="en-US" sz="1100" dirty="0"/>
          </a:p>
        </p:txBody>
      </p:sp>
      <p:sp>
        <p:nvSpPr>
          <p:cNvPr id="63" name="Text 51"/>
          <p:cNvSpPr txBox="1"/>
          <p:nvPr/>
        </p:nvSpPr>
        <p:spPr>
          <a:xfrm>
            <a:off x="4754880" y="3310128"/>
            <a:ext cx="1719072" cy="658368"/>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Prompts are code: version and review them; never edit one outside change control.</a:t>
            </a:r>
            <a:endParaRPr lang="en-US" sz="900" dirty="0"/>
          </a:p>
        </p:txBody>
      </p:sp>
      <p:sp>
        <p:nvSpPr>
          <p:cNvPr id="64" name="Shape 52"/>
          <p:cNvSpPr/>
          <p:nvPr/>
        </p:nvSpPr>
        <p:spPr>
          <a:xfrm>
            <a:off x="6711696" y="2834640"/>
            <a:ext cx="1975104" cy="1188720"/>
          </a:xfrm>
          <a:prstGeom prst="roundRect">
            <a:avLst>
              <a:gd name="adj" fmla="val 6154"/>
            </a:avLst>
          </a:prstGeom>
          <a:solidFill>
            <a:srgbClr val="F4F7F5"/>
          </a:solidFill>
          <a:ln w="9525">
            <a:solidFill>
              <a:srgbClr val="D5DED9"/>
            </a:solidFill>
            <a:prstDash val="solid"/>
          </a:ln>
        </p:spPr>
      </p:sp>
      <p:sp>
        <p:nvSpPr>
          <p:cNvPr id="65" name="Shape 53"/>
          <p:cNvSpPr/>
          <p:nvPr/>
        </p:nvSpPr>
        <p:spPr>
          <a:xfrm>
            <a:off x="6839712" y="2962656"/>
            <a:ext cx="292608" cy="292608"/>
          </a:xfrm>
          <a:prstGeom prst="ellipse">
            <a:avLst/>
          </a:prstGeom>
          <a:solidFill>
            <a:srgbClr val="D49A00">
              <a:alpha val="22000"/>
            </a:srgbClr>
          </a:solidFill>
          <a:ln/>
        </p:spPr>
      </p:sp>
      <p:pic>
        <p:nvPicPr>
          <p:cNvPr id="66" name="Image 9" descr="preencoded.png"/>
          <p:cNvPicPr>
            <a:picLocks noChangeAspect="1"/>
          </p:cNvPicPr>
          <p:nvPr/>
        </p:nvPicPr>
        <p:blipFill>
          <a:blip r:embed="rId12"/>
          <a:stretch>
            <a:fillRect/>
          </a:stretch>
        </p:blipFill>
        <p:spPr>
          <a:xfrm>
            <a:off x="6909938" y="3032882"/>
            <a:ext cx="152156" cy="152156"/>
          </a:xfrm>
          <a:prstGeom prst="rect">
            <a:avLst/>
          </a:prstGeom>
        </p:spPr>
      </p:pic>
      <p:sp>
        <p:nvSpPr>
          <p:cNvPr id="67" name="Text 54"/>
          <p:cNvSpPr txBox="1"/>
          <p:nvPr/>
        </p:nvSpPr>
        <p:spPr>
          <a:xfrm>
            <a:off x="7242048" y="2962656"/>
            <a:ext cx="1335024" cy="29260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Retrieval instability</a:t>
            </a:r>
            <a:endParaRPr lang="en-US" sz="1100" dirty="0"/>
          </a:p>
        </p:txBody>
      </p:sp>
      <p:sp>
        <p:nvSpPr>
          <p:cNvPr id="68" name="Text 55"/>
          <p:cNvSpPr txBox="1"/>
          <p:nvPr/>
        </p:nvSpPr>
        <p:spPr>
          <a:xfrm>
            <a:off x="6839712" y="3310128"/>
            <a:ext cx="1719072" cy="658368"/>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In a RAG system the index is part of the model. Version it alongside the weights.</a:t>
            </a:r>
            <a:endParaRPr lang="en-US" sz="900" dirty="0"/>
          </a:p>
        </p:txBody>
      </p:sp>
      <p:sp>
        <p:nvSpPr>
          <p:cNvPr id="69" name="Shape 56"/>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70" name="Shape 57"/>
          <p:cNvSpPr/>
          <p:nvPr/>
        </p:nvSpPr>
        <p:spPr>
          <a:xfrm>
            <a:off x="566928" y="4215384"/>
            <a:ext cx="292608" cy="292608"/>
          </a:xfrm>
          <a:prstGeom prst="ellipse">
            <a:avLst/>
          </a:prstGeom>
          <a:solidFill>
            <a:srgbClr val="00A86A">
              <a:alpha val="22000"/>
            </a:srgbClr>
          </a:solidFill>
          <a:ln/>
        </p:spPr>
      </p:sp>
      <p:pic>
        <p:nvPicPr>
          <p:cNvPr id="71" name="Image 10" descr="preencoded.png"/>
          <p:cNvPicPr>
            <a:picLocks noChangeAspect="1"/>
          </p:cNvPicPr>
          <p:nvPr/>
        </p:nvPicPr>
        <p:blipFill>
          <a:blip r:embed="rId13"/>
          <a:stretch>
            <a:fillRect/>
          </a:stretch>
        </p:blipFill>
        <p:spPr>
          <a:xfrm>
            <a:off x="637154" y="4285610"/>
            <a:ext cx="152156" cy="152156"/>
          </a:xfrm>
          <a:prstGeom prst="rect">
            <a:avLst/>
          </a:prstGeom>
        </p:spPr>
      </p:pic>
      <p:sp>
        <p:nvSpPr>
          <p:cNvPr id="72" name="Text 58"/>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Where a figure must be reproducible on demand, use a self-hosted open-weight model you control — or keep generative AI off the critical path.</a:t>
            </a:r>
            <a:endParaRPr lang="en-US" sz="10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03</a:t>
            </a:r>
            <a:endParaRPr lang="en-US" sz="1050" dirty="0"/>
          </a:p>
        </p:txBody>
      </p:sp>
      <p:sp>
        <p:nvSpPr>
          <p:cNvPr id="4" name="Text 2"/>
          <p:cNvSpPr txBox="1"/>
          <p:nvPr/>
        </p:nvSpPr>
        <p:spPr>
          <a:xfrm>
            <a:off x="502920" y="73152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03</a:t>
            </a:r>
            <a:endParaRPr lang="en-US" sz="8800" dirty="0"/>
          </a:p>
        </p:txBody>
      </p:sp>
      <p:sp>
        <p:nvSpPr>
          <p:cNvPr id="5" name="Text 3"/>
          <p:cNvSpPr txBox="1"/>
          <p:nvPr/>
        </p:nvSpPr>
        <p:spPr>
          <a:xfrm>
            <a:off x="548640" y="1874520"/>
            <a:ext cx="5303520" cy="54864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Calibri" pitchFamily="34" charset="0"/>
                <a:ea typeface="Calibri" pitchFamily="34" charset="-122"/>
                <a:cs typeface="Calibri" pitchFamily="34" charset="-120"/>
              </a:rPr>
              <a:t>Deployment choices</a:t>
            </a:r>
            <a:endParaRPr lang="en-US" sz="3200" dirty="0"/>
          </a:p>
        </p:txBody>
      </p:sp>
      <p:sp>
        <p:nvSpPr>
          <p:cNvPr id="6" name="Text 4"/>
          <p:cNvSpPr txBox="1"/>
          <p:nvPr/>
        </p:nvSpPr>
        <p:spPr>
          <a:xfrm>
            <a:off x="548640" y="2514600"/>
            <a:ext cx="4937760" cy="548640"/>
          </a:xfrm>
          <a:prstGeom prst="rect">
            <a:avLst/>
          </a:prstGeom>
          <a:noFill/>
          <a:ln/>
        </p:spPr>
        <p:txBody>
          <a:bodyPr wrap="square" lIns="0" tIns="0" rIns="0" bIns="0" rtlCol="0" anchor="t"/>
          <a:lstStyle/>
          <a:p>
            <a:pPr marL="0" indent="0">
              <a:buNone/>
            </a:pPr>
            <a:r>
              <a:rPr lang="en-US" sz="1500" i="1" dirty="0">
                <a:solidFill>
                  <a:srgbClr val="E6F6EE"/>
                </a:solidFill>
                <a:latin typeface="Calibri" pitchFamily="34" charset="0"/>
                <a:ea typeface="Calibri" pitchFamily="34" charset="-122"/>
                <a:cs typeface="Calibri" pitchFamily="34" charset="-120"/>
              </a:rPr>
              <a:t>Where should each workload run — and who decides?</a:t>
            </a:r>
            <a:endParaRPr lang="en-US" sz="1500" dirty="0"/>
          </a:p>
        </p:txBody>
      </p:sp>
      <p:sp>
        <p:nvSpPr>
          <p:cNvPr id="7" name="Text 5"/>
          <p:cNvSpPr txBox="1"/>
          <p:nvPr/>
        </p:nvSpPr>
        <p:spPr>
          <a:xfrm>
            <a:off x="548640" y="3291840"/>
            <a:ext cx="2743200" cy="182880"/>
          </a:xfrm>
          <a:prstGeom prst="rect">
            <a:avLst/>
          </a:prstGeom>
          <a:noFill/>
          <a:ln/>
        </p:spPr>
        <p:txBody>
          <a:bodyPr wrap="square" lIns="0" tIns="0" rIns="0" bIns="0" rtlCol="0" anchor="t"/>
          <a:lstStyle/>
          <a:p>
            <a:pPr marL="0" indent="0">
              <a:buNone/>
            </a:pPr>
            <a:r>
              <a:rPr lang="en-US" sz="900" b="1" kern="0" spc="200" dirty="0">
                <a:solidFill>
                  <a:srgbClr val="F5C242"/>
                </a:solidFill>
                <a:latin typeface="Calibri" pitchFamily="34" charset="0"/>
                <a:ea typeface="Calibri" pitchFamily="34" charset="-122"/>
                <a:cs typeface="Calibri" pitchFamily="34" charset="-120"/>
              </a:rPr>
              <a:t>IN THIS SECTION</a:t>
            </a:r>
            <a:endParaRPr lang="en-US" sz="900" dirty="0"/>
          </a:p>
        </p:txBody>
      </p:sp>
      <p:sp>
        <p:nvSpPr>
          <p:cNvPr id="8" name="Text 6"/>
          <p:cNvSpPr txBox="1"/>
          <p:nvPr/>
        </p:nvSpPr>
        <p:spPr>
          <a:xfrm>
            <a:off x="54864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Four hosting archetypes</a:t>
            </a:r>
            <a:endParaRPr lang="en-US" sz="1000" dirty="0"/>
          </a:p>
        </p:txBody>
      </p:sp>
      <p:sp>
        <p:nvSpPr>
          <p:cNvPr id="9" name="Text 7"/>
          <p:cNvSpPr txBox="1"/>
          <p:nvPr/>
        </p:nvSpPr>
        <p:spPr>
          <a:xfrm>
            <a:off x="54864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A defensible decision framework</a:t>
            </a:r>
            <a:endParaRPr lang="en-US" sz="1000" dirty="0"/>
          </a:p>
        </p:txBody>
      </p:sp>
      <p:sp>
        <p:nvSpPr>
          <p:cNvPr id="10" name="Text 8"/>
          <p:cNvSpPr txBox="1"/>
          <p:nvPr/>
        </p:nvSpPr>
        <p:spPr>
          <a:xfrm>
            <a:off x="54864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On-premises: the full bill</a:t>
            </a:r>
            <a:endParaRPr lang="en-US" sz="1000" dirty="0"/>
          </a:p>
        </p:txBody>
      </p:sp>
      <p:sp>
        <p:nvSpPr>
          <p:cNvPr id="11" name="Text 9"/>
          <p:cNvSpPr txBox="1"/>
          <p:nvPr/>
        </p:nvSpPr>
        <p:spPr>
          <a:xfrm>
            <a:off x="54864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Public cloud traps</a:t>
            </a:r>
            <a:endParaRPr lang="en-US" sz="1000" dirty="0"/>
          </a:p>
        </p:txBody>
      </p:sp>
      <p:sp>
        <p:nvSpPr>
          <p:cNvPr id="12" name="Text 10"/>
          <p:cNvSpPr txBox="1"/>
          <p:nvPr/>
        </p:nvSpPr>
        <p:spPr>
          <a:xfrm>
            <a:off x="548640" y="4480560"/>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Hosting options in Africa</a:t>
            </a:r>
            <a:endParaRPr lang="en-US" sz="1000" dirty="0"/>
          </a:p>
        </p:txBody>
      </p:sp>
      <p:sp>
        <p:nvSpPr>
          <p:cNvPr id="13" name="Text 11"/>
          <p:cNvSpPr txBox="1"/>
          <p:nvPr/>
        </p:nvSpPr>
        <p:spPr>
          <a:xfrm>
            <a:off x="315468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The hybrid pattern</a:t>
            </a:r>
            <a:endParaRPr lang="en-US" sz="1000" dirty="0"/>
          </a:p>
        </p:txBody>
      </p:sp>
      <p:sp>
        <p:nvSpPr>
          <p:cNvPr id="14" name="Text 12"/>
          <p:cNvSpPr txBox="1"/>
          <p:nvPr/>
        </p:nvSpPr>
        <p:spPr>
          <a:xfrm>
            <a:off x="315468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Build or buy</a:t>
            </a:r>
            <a:endParaRPr lang="en-US" sz="1000" dirty="0"/>
          </a:p>
        </p:txBody>
      </p:sp>
      <p:sp>
        <p:nvSpPr>
          <p:cNvPr id="15" name="Text 13"/>
          <p:cNvSpPr txBox="1"/>
          <p:nvPr/>
        </p:nvSpPr>
        <p:spPr>
          <a:xfrm>
            <a:off x="315468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Open vs. proprietary models</a:t>
            </a:r>
            <a:endParaRPr lang="en-US" sz="1000" dirty="0"/>
          </a:p>
        </p:txBody>
      </p:sp>
      <p:sp>
        <p:nvSpPr>
          <p:cNvPr id="16" name="Text 14"/>
          <p:cNvSpPr txBox="1"/>
          <p:nvPr/>
        </p:nvSpPr>
        <p:spPr>
          <a:xfrm>
            <a:off x="315468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Test yourself</a:t>
            </a:r>
            <a:endParaRPr lang="en-US" sz="1000" dirty="0"/>
          </a:p>
        </p:txBody>
      </p:sp>
      <p:sp>
        <p:nvSpPr>
          <p:cNvPr id="17" name="Shape 15"/>
          <p:cNvSpPr/>
          <p:nvPr/>
        </p:nvSpPr>
        <p:spPr>
          <a:xfrm>
            <a:off x="5989320" y="960120"/>
            <a:ext cx="2651760" cy="2651760"/>
          </a:xfrm>
          <a:prstGeom prst="ellipse">
            <a:avLst/>
          </a:prstGeom>
          <a:solidFill>
            <a:srgbClr val="FFFFFF">
              <a:alpha val="10000"/>
            </a:srgbClr>
          </a:solidFill>
          <a:ln w="12700">
            <a:solidFill>
              <a:srgbClr val="FFFFFF">
                <a:alpha val="40000"/>
              </a:srgbClr>
            </a:solidFill>
            <a:prstDash val="solid"/>
          </a:ln>
        </p:spPr>
      </p:sp>
      <p:sp>
        <p:nvSpPr>
          <p:cNvPr id="18" name="Shape 16"/>
          <p:cNvSpPr/>
          <p:nvPr/>
        </p:nvSpPr>
        <p:spPr>
          <a:xfrm>
            <a:off x="6355080" y="1325880"/>
            <a:ext cx="1920240" cy="1920240"/>
          </a:xfrm>
          <a:prstGeom prst="ellipse">
            <a:avLst/>
          </a:prstGeom>
          <a:solidFill>
            <a:srgbClr val="FFFFFF">
              <a:alpha val="18000"/>
            </a:srgbClr>
          </a:solidFill>
          <a:ln/>
        </p:spPr>
      </p:sp>
      <p:sp>
        <p:nvSpPr>
          <p:cNvPr id="19" name="Shape 17"/>
          <p:cNvSpPr/>
          <p:nvPr/>
        </p:nvSpPr>
        <p:spPr>
          <a:xfrm>
            <a:off x="6720840" y="1691640"/>
            <a:ext cx="1188720" cy="1188720"/>
          </a:xfrm>
          <a:prstGeom prst="ellipse">
            <a:avLst/>
          </a:prstGeom>
          <a:solidFill>
            <a:srgbClr val="FFFFFF"/>
          </a:solidFill>
          <a:ln/>
        </p:spPr>
      </p:sp>
      <p:pic>
        <p:nvPicPr>
          <p:cNvPr id="2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21" name="Shape 18"/>
          <p:cNvSpPr/>
          <p:nvPr/>
        </p:nvSpPr>
        <p:spPr>
          <a:xfrm>
            <a:off x="6510528" y="4014216"/>
            <a:ext cx="109728" cy="109728"/>
          </a:xfrm>
          <a:prstGeom prst="ellipse">
            <a:avLst/>
          </a:prstGeom>
          <a:solidFill>
            <a:srgbClr val="FFFFFF">
              <a:alpha val="40000"/>
            </a:srgbClr>
          </a:solidFill>
          <a:ln/>
        </p:spPr>
      </p:sp>
      <p:sp>
        <p:nvSpPr>
          <p:cNvPr id="22" name="Shape 19"/>
          <p:cNvSpPr/>
          <p:nvPr/>
        </p:nvSpPr>
        <p:spPr>
          <a:xfrm>
            <a:off x="6784848" y="4014216"/>
            <a:ext cx="109728" cy="109728"/>
          </a:xfrm>
          <a:prstGeom prst="ellipse">
            <a:avLst/>
          </a:prstGeom>
          <a:solidFill>
            <a:srgbClr val="FFFFFF">
              <a:alpha val="40000"/>
            </a:srgbClr>
          </a:solidFill>
          <a:ln/>
        </p:spPr>
      </p:sp>
      <p:sp>
        <p:nvSpPr>
          <p:cNvPr id="23" name="Shape 20"/>
          <p:cNvSpPr/>
          <p:nvPr/>
        </p:nvSpPr>
        <p:spPr>
          <a:xfrm>
            <a:off x="7040880" y="3995928"/>
            <a:ext cx="146304" cy="146304"/>
          </a:xfrm>
          <a:prstGeom prst="ellipse">
            <a:avLst/>
          </a:prstGeom>
          <a:solidFill>
            <a:srgbClr val="F5C242"/>
          </a:solidFill>
          <a:ln/>
        </p:spPr>
      </p:sp>
      <p:sp>
        <p:nvSpPr>
          <p:cNvPr id="24" name="Shape 21"/>
          <p:cNvSpPr/>
          <p:nvPr/>
        </p:nvSpPr>
        <p:spPr>
          <a:xfrm>
            <a:off x="7333488" y="4014216"/>
            <a:ext cx="109728" cy="109728"/>
          </a:xfrm>
          <a:prstGeom prst="ellipse">
            <a:avLst/>
          </a:prstGeom>
          <a:solidFill>
            <a:srgbClr val="FFFFFF">
              <a:alpha val="40000"/>
            </a:srgbClr>
          </a:solidFill>
          <a:ln/>
        </p:spPr>
      </p:sp>
      <p:sp>
        <p:nvSpPr>
          <p:cNvPr id="25" name="Shape 22"/>
          <p:cNvSpPr/>
          <p:nvPr/>
        </p:nvSpPr>
        <p:spPr>
          <a:xfrm>
            <a:off x="7607808" y="4014216"/>
            <a:ext cx="109728" cy="109728"/>
          </a:xfrm>
          <a:prstGeom prst="ellipse">
            <a:avLst/>
          </a:prstGeom>
          <a:solidFill>
            <a:srgbClr val="FFFFFF">
              <a:alpha val="40000"/>
            </a:srgbClr>
          </a:solidFill>
          <a:ln/>
        </p:spPr>
      </p:sp>
      <p:sp>
        <p:nvSpPr>
          <p:cNvPr id="26" name="Shape 23"/>
          <p:cNvSpPr/>
          <p:nvPr/>
        </p:nvSpPr>
        <p:spPr>
          <a:xfrm>
            <a:off x="7882128" y="4014216"/>
            <a:ext cx="109728" cy="109728"/>
          </a:xfrm>
          <a:prstGeom prst="ellipse">
            <a:avLst/>
          </a:prstGeom>
          <a:solidFill>
            <a:srgbClr val="FFFFFF">
              <a:alpha val="40000"/>
            </a:srgbClr>
          </a:solidFill>
          <a:ln/>
        </p:spPr>
      </p:sp>
      <p:sp>
        <p:nvSpPr>
          <p:cNvPr id="27" name="Text 24"/>
          <p:cNvSpPr txBox="1"/>
          <p:nvPr/>
        </p:nvSpPr>
        <p:spPr>
          <a:xfrm>
            <a:off x="7772400" y="4709160"/>
            <a:ext cx="9144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28</a:t>
            </a:r>
            <a:endParaRPr lang="en-US" sz="8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ARCHETYPES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Four deployment archetypes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Ordered from most control to fastest start. Most offices run several at once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8" name="Shape 15"/>
          <p:cNvSpPr/>
          <p:nvPr/>
        </p:nvSpPr>
        <p:spPr>
          <a:xfrm>
            <a:off x="548640" y="1417320"/>
            <a:ext cx="8046720" cy="0"/>
          </a:xfrm>
          <a:prstGeom prst="line">
            <a:avLst/>
          </a:prstGeom>
          <a:noFill/>
          <a:ln w="15875">
            <a:solidFill>
              <a:srgbClr val="5E6964"/>
            </a:solidFill>
            <a:prstDash val="solid"/>
            <a:headEnd type="triangle"/>
            <a:tailEnd type="triangle"/>
          </a:ln>
        </p:spPr>
      </p:sp>
      <p:sp>
        <p:nvSpPr>
          <p:cNvPr id="19" name="Text 16"/>
          <p:cNvSpPr txBox="1"/>
          <p:nvPr/>
        </p:nvSpPr>
        <p:spPr>
          <a:xfrm>
            <a:off x="548640" y="1463040"/>
            <a:ext cx="1828800" cy="164592"/>
          </a:xfrm>
          <a:prstGeom prst="rect">
            <a:avLst/>
          </a:prstGeom>
          <a:noFill/>
          <a:ln/>
        </p:spPr>
        <p:txBody>
          <a:bodyPr wrap="square" lIns="0" tIns="0" rIns="0" bIns="0" rtlCol="0" anchor="t"/>
          <a:lstStyle/>
          <a:p>
            <a:pPr marL="0" indent="0">
              <a:buNone/>
            </a:pPr>
            <a:r>
              <a:rPr lang="en-US" sz="800" b="1" kern="0" spc="150" dirty="0">
                <a:solidFill>
                  <a:srgbClr val="5E6964"/>
                </a:solidFill>
                <a:latin typeface="Calibri" pitchFamily="34" charset="0"/>
                <a:ea typeface="Calibri" pitchFamily="34" charset="-122"/>
                <a:cs typeface="Calibri" pitchFamily="34" charset="-120"/>
              </a:rPr>
              <a:t>MORE CONTROL</a:t>
            </a:r>
            <a:endParaRPr lang="en-US" sz="800" dirty="0"/>
          </a:p>
        </p:txBody>
      </p:sp>
      <p:sp>
        <p:nvSpPr>
          <p:cNvPr id="20" name="Text 17"/>
          <p:cNvSpPr txBox="1"/>
          <p:nvPr/>
        </p:nvSpPr>
        <p:spPr>
          <a:xfrm>
            <a:off x="6766560" y="1463040"/>
            <a:ext cx="1828800" cy="164592"/>
          </a:xfrm>
          <a:prstGeom prst="rect">
            <a:avLst/>
          </a:prstGeom>
          <a:noFill/>
          <a:ln/>
        </p:spPr>
        <p:txBody>
          <a:bodyPr wrap="square" lIns="0" tIns="0" rIns="0" bIns="0" rtlCol="0" anchor="t"/>
          <a:lstStyle/>
          <a:p>
            <a:pPr marL="0" indent="0" algn="r">
              <a:buNone/>
            </a:pPr>
            <a:r>
              <a:rPr lang="en-US" sz="800" b="1" kern="0" spc="150" dirty="0">
                <a:solidFill>
                  <a:srgbClr val="5E6964"/>
                </a:solidFill>
                <a:latin typeface="Calibri" pitchFamily="34" charset="0"/>
                <a:ea typeface="Calibri" pitchFamily="34" charset="-122"/>
                <a:cs typeface="Calibri" pitchFamily="34" charset="-120"/>
              </a:rPr>
              <a:t>FASTER START</a:t>
            </a:r>
            <a:endParaRPr lang="en-US" sz="800" dirty="0"/>
          </a:p>
        </p:txBody>
      </p:sp>
      <p:sp>
        <p:nvSpPr>
          <p:cNvPr id="21" name="Shape 18"/>
          <p:cNvSpPr/>
          <p:nvPr/>
        </p:nvSpPr>
        <p:spPr>
          <a:xfrm>
            <a:off x="457200" y="1719072"/>
            <a:ext cx="1954530" cy="2331720"/>
          </a:xfrm>
          <a:prstGeom prst="roundRect">
            <a:avLst>
              <a:gd name="adj" fmla="val 3743"/>
            </a:avLst>
          </a:prstGeom>
          <a:solidFill>
            <a:srgbClr val="F4F7F5"/>
          </a:solidFill>
          <a:ln w="9525">
            <a:solidFill>
              <a:srgbClr val="D5DED9"/>
            </a:solidFill>
            <a:prstDash val="solid"/>
          </a:ln>
        </p:spPr>
      </p:sp>
      <p:sp>
        <p:nvSpPr>
          <p:cNvPr id="22" name="Shape 19"/>
          <p:cNvSpPr/>
          <p:nvPr/>
        </p:nvSpPr>
        <p:spPr>
          <a:xfrm>
            <a:off x="566928" y="1828800"/>
            <a:ext cx="384048" cy="384048"/>
          </a:xfrm>
          <a:prstGeom prst="ellipse">
            <a:avLst/>
          </a:prstGeom>
          <a:solidFill>
            <a:srgbClr val="00553A"/>
          </a:solidFill>
          <a:ln/>
        </p:spPr>
      </p:sp>
      <p:sp>
        <p:nvSpPr>
          <p:cNvPr id="23" name="Text 20"/>
          <p:cNvSpPr txBox="1"/>
          <p:nvPr/>
        </p:nvSpPr>
        <p:spPr>
          <a:xfrm>
            <a:off x="566928" y="18288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pic>
        <p:nvPicPr>
          <p:cNvPr id="24" name="Image 0" descr="preencoded.png"/>
          <p:cNvPicPr>
            <a:picLocks noChangeAspect="1"/>
          </p:cNvPicPr>
          <p:nvPr/>
        </p:nvPicPr>
        <p:blipFill>
          <a:blip r:embed="rId3"/>
          <a:stretch>
            <a:fillRect/>
          </a:stretch>
        </p:blipFill>
        <p:spPr>
          <a:xfrm>
            <a:off x="2027682" y="1883664"/>
            <a:ext cx="256032" cy="256032"/>
          </a:xfrm>
          <a:prstGeom prst="rect">
            <a:avLst/>
          </a:prstGeom>
        </p:spPr>
      </p:pic>
      <p:sp>
        <p:nvSpPr>
          <p:cNvPr id="25" name="Text 21"/>
          <p:cNvSpPr txBox="1"/>
          <p:nvPr/>
        </p:nvSpPr>
        <p:spPr>
          <a:xfrm>
            <a:off x="566928" y="2267712"/>
            <a:ext cx="1735074" cy="36576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On-premises</a:t>
            </a:r>
            <a:endParaRPr lang="en-US" sz="1150" dirty="0"/>
          </a:p>
        </p:txBody>
      </p:sp>
      <p:sp>
        <p:nvSpPr>
          <p:cNvPr id="26" name="Text 22"/>
          <p:cNvSpPr txBox="1"/>
          <p:nvPr/>
        </p:nvSpPr>
        <p:spPr>
          <a:xfrm>
            <a:off x="566928" y="2615184"/>
            <a:ext cx="1735074" cy="32918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Your hardware, your data centre, your staff.</a:t>
            </a:r>
            <a:endParaRPr lang="en-US" sz="900" dirty="0"/>
          </a:p>
        </p:txBody>
      </p:sp>
      <p:sp>
        <p:nvSpPr>
          <p:cNvPr id="27" name="Text 23"/>
          <p:cNvSpPr txBox="1"/>
          <p:nvPr/>
        </p:nvSpPr>
        <p:spPr>
          <a:xfrm>
            <a:off x="566928" y="2962656"/>
            <a:ext cx="1735074" cy="109728"/>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CONTROL</a:t>
            </a:r>
            <a:endParaRPr lang="en-US" sz="700" dirty="0"/>
          </a:p>
        </p:txBody>
      </p:sp>
      <p:sp>
        <p:nvSpPr>
          <p:cNvPr id="28" name="Text 24"/>
          <p:cNvSpPr txBox="1"/>
          <p:nvPr/>
        </p:nvSpPr>
        <p:spPr>
          <a:xfrm>
            <a:off x="566928" y="3072384"/>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Maximum</a:t>
            </a:r>
            <a:endParaRPr lang="en-US" sz="950" dirty="0"/>
          </a:p>
        </p:txBody>
      </p:sp>
      <p:sp>
        <p:nvSpPr>
          <p:cNvPr id="29" name="Text 25"/>
          <p:cNvSpPr txBox="1"/>
          <p:nvPr/>
        </p:nvSpPr>
        <p:spPr>
          <a:xfrm>
            <a:off x="566928" y="3227832"/>
            <a:ext cx="1735074" cy="109728"/>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TIME TO VALUE</a:t>
            </a:r>
            <a:endParaRPr lang="en-US" sz="700" dirty="0"/>
          </a:p>
        </p:txBody>
      </p:sp>
      <p:sp>
        <p:nvSpPr>
          <p:cNvPr id="30" name="Text 26"/>
          <p:cNvSpPr txBox="1"/>
          <p:nvPr/>
        </p:nvSpPr>
        <p:spPr>
          <a:xfrm>
            <a:off x="566928" y="3337560"/>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6–18 months</a:t>
            </a:r>
            <a:endParaRPr lang="en-US" sz="950" dirty="0"/>
          </a:p>
        </p:txBody>
      </p:sp>
      <p:sp>
        <p:nvSpPr>
          <p:cNvPr id="31" name="Text 27"/>
          <p:cNvSpPr txBox="1"/>
          <p:nvPr/>
        </p:nvSpPr>
        <p:spPr>
          <a:xfrm>
            <a:off x="566928" y="3493008"/>
            <a:ext cx="1735074" cy="109728"/>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COST SHAPE</a:t>
            </a:r>
            <a:endParaRPr lang="en-US" sz="700" dirty="0"/>
          </a:p>
        </p:txBody>
      </p:sp>
      <p:sp>
        <p:nvSpPr>
          <p:cNvPr id="32" name="Text 28"/>
          <p:cNvSpPr txBox="1"/>
          <p:nvPr/>
        </p:nvSpPr>
        <p:spPr>
          <a:xfrm>
            <a:off x="566928" y="3602736"/>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Capital, then fixed</a:t>
            </a:r>
            <a:endParaRPr lang="en-US" sz="950" dirty="0"/>
          </a:p>
        </p:txBody>
      </p:sp>
      <p:sp>
        <p:nvSpPr>
          <p:cNvPr id="33" name="Text 29"/>
          <p:cNvSpPr txBox="1"/>
          <p:nvPr/>
        </p:nvSpPr>
        <p:spPr>
          <a:xfrm>
            <a:off x="566928" y="3758184"/>
            <a:ext cx="1735074" cy="109728"/>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BEST FIT</a:t>
            </a:r>
            <a:endParaRPr lang="en-US" sz="700" dirty="0"/>
          </a:p>
        </p:txBody>
      </p:sp>
      <p:sp>
        <p:nvSpPr>
          <p:cNvPr id="34" name="Text 30"/>
          <p:cNvSpPr txBox="1"/>
          <p:nvPr/>
        </p:nvSpPr>
        <p:spPr>
          <a:xfrm>
            <a:off x="566928" y="3867912"/>
            <a:ext cx="1735074" cy="155448"/>
          </a:xfrm>
          <a:prstGeom prst="rect">
            <a:avLst/>
          </a:prstGeom>
          <a:noFill/>
          <a:ln/>
        </p:spPr>
        <p:txBody>
          <a:bodyPr wrap="square" lIns="0" tIns="0" rIns="0" bIns="0" rtlCol="0" anchor="t">
            <a:normAutofit fontScale="92500"/>
          </a:bodyPr>
          <a:lstStyle/>
          <a:p>
            <a:pPr marL="0" indent="0">
              <a:buNone/>
            </a:pPr>
            <a:r>
              <a:rPr lang="en-US" sz="850" dirty="0">
                <a:solidFill>
                  <a:srgbClr val="231F20"/>
                </a:solidFill>
                <a:latin typeface="Calibri" pitchFamily="34" charset="0"/>
                <a:ea typeface="Calibri" pitchFamily="34" charset="-122"/>
                <a:cs typeface="Calibri" pitchFamily="34" charset="-120"/>
              </a:rPr>
              <a:t>Confidential microdata; steady high load</a:t>
            </a:r>
            <a:endParaRPr lang="en-US" sz="850" dirty="0"/>
          </a:p>
        </p:txBody>
      </p:sp>
      <p:sp>
        <p:nvSpPr>
          <p:cNvPr id="35" name="Shape 31"/>
          <p:cNvSpPr/>
          <p:nvPr/>
        </p:nvSpPr>
        <p:spPr>
          <a:xfrm>
            <a:off x="2548890" y="1719072"/>
            <a:ext cx="1954530" cy="2331720"/>
          </a:xfrm>
          <a:prstGeom prst="roundRect">
            <a:avLst>
              <a:gd name="adj" fmla="val 3743"/>
            </a:avLst>
          </a:prstGeom>
          <a:solidFill>
            <a:srgbClr val="F4F7F5"/>
          </a:solidFill>
          <a:ln w="9525">
            <a:solidFill>
              <a:srgbClr val="D5DED9"/>
            </a:solidFill>
            <a:prstDash val="solid"/>
          </a:ln>
        </p:spPr>
      </p:sp>
      <p:sp>
        <p:nvSpPr>
          <p:cNvPr id="36" name="Shape 32"/>
          <p:cNvSpPr/>
          <p:nvPr/>
        </p:nvSpPr>
        <p:spPr>
          <a:xfrm>
            <a:off x="2658618" y="1828800"/>
            <a:ext cx="384048" cy="384048"/>
          </a:xfrm>
          <a:prstGeom prst="ellipse">
            <a:avLst/>
          </a:prstGeom>
          <a:solidFill>
            <a:srgbClr val="00704A"/>
          </a:solidFill>
          <a:ln/>
        </p:spPr>
      </p:sp>
      <p:sp>
        <p:nvSpPr>
          <p:cNvPr id="37" name="Text 33"/>
          <p:cNvSpPr txBox="1"/>
          <p:nvPr/>
        </p:nvSpPr>
        <p:spPr>
          <a:xfrm>
            <a:off x="2658618" y="18288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pic>
        <p:nvPicPr>
          <p:cNvPr id="38" name="Image 1" descr="preencoded.png"/>
          <p:cNvPicPr>
            <a:picLocks noChangeAspect="1"/>
          </p:cNvPicPr>
          <p:nvPr/>
        </p:nvPicPr>
        <p:blipFill>
          <a:blip r:embed="rId4"/>
          <a:stretch>
            <a:fillRect/>
          </a:stretch>
        </p:blipFill>
        <p:spPr>
          <a:xfrm>
            <a:off x="4119372" y="1883664"/>
            <a:ext cx="256032" cy="256032"/>
          </a:xfrm>
          <a:prstGeom prst="rect">
            <a:avLst/>
          </a:prstGeom>
        </p:spPr>
      </p:pic>
      <p:sp>
        <p:nvSpPr>
          <p:cNvPr id="39" name="Text 34"/>
          <p:cNvSpPr txBox="1"/>
          <p:nvPr/>
        </p:nvSpPr>
        <p:spPr>
          <a:xfrm>
            <a:off x="2658618" y="2267712"/>
            <a:ext cx="1735074" cy="36576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Sovereign cloud</a:t>
            </a:r>
            <a:endParaRPr lang="en-US" sz="1150" dirty="0"/>
          </a:p>
        </p:txBody>
      </p:sp>
      <p:sp>
        <p:nvSpPr>
          <p:cNvPr id="40" name="Text 35"/>
          <p:cNvSpPr txBox="1"/>
          <p:nvPr/>
        </p:nvSpPr>
        <p:spPr>
          <a:xfrm>
            <a:off x="2658618" y="2615184"/>
            <a:ext cx="1735074" cy="32918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National or government hosting under a public-sector contract.</a:t>
            </a:r>
            <a:endParaRPr lang="en-US" sz="900" dirty="0"/>
          </a:p>
        </p:txBody>
      </p:sp>
      <p:sp>
        <p:nvSpPr>
          <p:cNvPr id="41" name="Text 36"/>
          <p:cNvSpPr txBox="1"/>
          <p:nvPr/>
        </p:nvSpPr>
        <p:spPr>
          <a:xfrm>
            <a:off x="2658618" y="2962656"/>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CONTROL</a:t>
            </a:r>
            <a:endParaRPr lang="en-US" sz="700" dirty="0"/>
          </a:p>
        </p:txBody>
      </p:sp>
      <p:sp>
        <p:nvSpPr>
          <p:cNvPr id="42" name="Text 37"/>
          <p:cNvSpPr txBox="1"/>
          <p:nvPr/>
        </p:nvSpPr>
        <p:spPr>
          <a:xfrm>
            <a:off x="2658618" y="3072384"/>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High, by contract</a:t>
            </a:r>
            <a:endParaRPr lang="en-US" sz="950" dirty="0"/>
          </a:p>
        </p:txBody>
      </p:sp>
      <p:sp>
        <p:nvSpPr>
          <p:cNvPr id="43" name="Text 38"/>
          <p:cNvSpPr txBox="1"/>
          <p:nvPr/>
        </p:nvSpPr>
        <p:spPr>
          <a:xfrm>
            <a:off x="2658618" y="3227832"/>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TIME TO VALUE</a:t>
            </a:r>
            <a:endParaRPr lang="en-US" sz="700" dirty="0"/>
          </a:p>
        </p:txBody>
      </p:sp>
      <p:sp>
        <p:nvSpPr>
          <p:cNvPr id="44" name="Text 39"/>
          <p:cNvSpPr txBox="1"/>
          <p:nvPr/>
        </p:nvSpPr>
        <p:spPr>
          <a:xfrm>
            <a:off x="2658618" y="3337560"/>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3–9 months</a:t>
            </a:r>
            <a:endParaRPr lang="en-US" sz="950" dirty="0"/>
          </a:p>
        </p:txBody>
      </p:sp>
      <p:sp>
        <p:nvSpPr>
          <p:cNvPr id="45" name="Text 40"/>
          <p:cNvSpPr txBox="1"/>
          <p:nvPr/>
        </p:nvSpPr>
        <p:spPr>
          <a:xfrm>
            <a:off x="2658618" y="3493008"/>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COST SHAPE</a:t>
            </a:r>
            <a:endParaRPr lang="en-US" sz="700" dirty="0"/>
          </a:p>
        </p:txBody>
      </p:sp>
      <p:sp>
        <p:nvSpPr>
          <p:cNvPr id="46" name="Text 41"/>
          <p:cNvSpPr txBox="1"/>
          <p:nvPr/>
        </p:nvSpPr>
        <p:spPr>
          <a:xfrm>
            <a:off x="2658618" y="3602736"/>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Operating, committed</a:t>
            </a:r>
            <a:endParaRPr lang="en-US" sz="950" dirty="0"/>
          </a:p>
        </p:txBody>
      </p:sp>
      <p:sp>
        <p:nvSpPr>
          <p:cNvPr id="47" name="Text 42"/>
          <p:cNvSpPr txBox="1"/>
          <p:nvPr/>
        </p:nvSpPr>
        <p:spPr>
          <a:xfrm>
            <a:off x="2658618" y="3758184"/>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BEST FIT</a:t>
            </a:r>
            <a:endParaRPr lang="en-US" sz="700" dirty="0"/>
          </a:p>
        </p:txBody>
      </p:sp>
      <p:sp>
        <p:nvSpPr>
          <p:cNvPr id="48" name="Text 43"/>
          <p:cNvSpPr txBox="1"/>
          <p:nvPr/>
        </p:nvSpPr>
        <p:spPr>
          <a:xfrm>
            <a:off x="2658618" y="3867912"/>
            <a:ext cx="1735074" cy="155448"/>
          </a:xfrm>
          <a:prstGeom prst="rect">
            <a:avLst/>
          </a:prstGeom>
          <a:noFill/>
          <a:ln/>
        </p:spPr>
        <p:txBody>
          <a:bodyPr wrap="square" lIns="0" tIns="0" rIns="0" bIns="0" rtlCol="0" anchor="t">
            <a:normAutofit fontScale="85000" lnSpcReduction="10000"/>
          </a:bodyPr>
          <a:lstStyle/>
          <a:p>
            <a:pPr marL="0" indent="0">
              <a:buNone/>
            </a:pPr>
            <a:r>
              <a:rPr lang="en-US" sz="850" dirty="0">
                <a:solidFill>
                  <a:srgbClr val="231F20"/>
                </a:solidFill>
                <a:latin typeface="Calibri" pitchFamily="34" charset="0"/>
                <a:ea typeface="Calibri" pitchFamily="34" charset="-122"/>
                <a:cs typeface="Calibri" pitchFamily="34" charset="-120"/>
              </a:rPr>
              <a:t>Non-public data; shared government services</a:t>
            </a:r>
            <a:endParaRPr lang="en-US" sz="850" dirty="0"/>
          </a:p>
        </p:txBody>
      </p:sp>
      <p:sp>
        <p:nvSpPr>
          <p:cNvPr id="49" name="Shape 44"/>
          <p:cNvSpPr/>
          <p:nvPr/>
        </p:nvSpPr>
        <p:spPr>
          <a:xfrm>
            <a:off x="4640580" y="1719072"/>
            <a:ext cx="1954530" cy="2331720"/>
          </a:xfrm>
          <a:prstGeom prst="roundRect">
            <a:avLst>
              <a:gd name="adj" fmla="val 3743"/>
            </a:avLst>
          </a:prstGeom>
          <a:solidFill>
            <a:srgbClr val="F4F7F5"/>
          </a:solidFill>
          <a:ln w="9525">
            <a:solidFill>
              <a:srgbClr val="D5DED9"/>
            </a:solidFill>
            <a:prstDash val="solid"/>
          </a:ln>
        </p:spPr>
      </p:sp>
      <p:sp>
        <p:nvSpPr>
          <p:cNvPr id="50" name="Shape 45"/>
          <p:cNvSpPr/>
          <p:nvPr/>
        </p:nvSpPr>
        <p:spPr>
          <a:xfrm>
            <a:off x="4750308" y="1828800"/>
            <a:ext cx="384048" cy="384048"/>
          </a:xfrm>
          <a:prstGeom prst="ellipse">
            <a:avLst/>
          </a:prstGeom>
          <a:solidFill>
            <a:srgbClr val="0E7C86"/>
          </a:solidFill>
          <a:ln/>
        </p:spPr>
      </p:sp>
      <p:sp>
        <p:nvSpPr>
          <p:cNvPr id="51" name="Text 46"/>
          <p:cNvSpPr txBox="1"/>
          <p:nvPr/>
        </p:nvSpPr>
        <p:spPr>
          <a:xfrm>
            <a:off x="4750308" y="18288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pic>
        <p:nvPicPr>
          <p:cNvPr id="52" name="Image 2" descr="preencoded.png"/>
          <p:cNvPicPr>
            <a:picLocks noChangeAspect="1"/>
          </p:cNvPicPr>
          <p:nvPr/>
        </p:nvPicPr>
        <p:blipFill>
          <a:blip r:embed="rId5"/>
          <a:stretch>
            <a:fillRect/>
          </a:stretch>
        </p:blipFill>
        <p:spPr>
          <a:xfrm>
            <a:off x="6211062" y="1883664"/>
            <a:ext cx="256032" cy="256032"/>
          </a:xfrm>
          <a:prstGeom prst="rect">
            <a:avLst/>
          </a:prstGeom>
        </p:spPr>
      </p:pic>
      <p:sp>
        <p:nvSpPr>
          <p:cNvPr id="53" name="Text 47"/>
          <p:cNvSpPr txBox="1"/>
          <p:nvPr/>
        </p:nvSpPr>
        <p:spPr>
          <a:xfrm>
            <a:off x="4750308" y="2267712"/>
            <a:ext cx="1735074" cy="36576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Public cloud, dedicated</a:t>
            </a:r>
            <a:endParaRPr lang="en-US" sz="1150" dirty="0"/>
          </a:p>
        </p:txBody>
      </p:sp>
      <p:sp>
        <p:nvSpPr>
          <p:cNvPr id="54" name="Text 48"/>
          <p:cNvSpPr txBox="1"/>
          <p:nvPr/>
        </p:nvSpPr>
        <p:spPr>
          <a:xfrm>
            <a:off x="4750308" y="2615184"/>
            <a:ext cx="1735074" cy="32918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Hyperscaler with residency, private network, isolation.</a:t>
            </a:r>
            <a:endParaRPr lang="en-US" sz="900" dirty="0"/>
          </a:p>
        </p:txBody>
      </p:sp>
      <p:sp>
        <p:nvSpPr>
          <p:cNvPr id="55" name="Text 49"/>
          <p:cNvSpPr txBox="1"/>
          <p:nvPr/>
        </p:nvSpPr>
        <p:spPr>
          <a:xfrm>
            <a:off x="4750308" y="2962656"/>
            <a:ext cx="1735074" cy="109728"/>
          </a:xfrm>
          <a:prstGeom prst="rect">
            <a:avLst/>
          </a:prstGeom>
          <a:noFill/>
          <a:ln/>
        </p:spPr>
        <p:txBody>
          <a:bodyPr wrap="square" lIns="0" tIns="0" rIns="0" bIns="0" rtlCol="0" anchor="t"/>
          <a:lstStyle/>
          <a:p>
            <a:pPr marL="0" indent="0">
              <a:buNone/>
            </a:pPr>
            <a:r>
              <a:rPr lang="en-US" sz="700" b="1" kern="0" spc="100" dirty="0">
                <a:solidFill>
                  <a:srgbClr val="0E7C86"/>
                </a:solidFill>
                <a:latin typeface="Calibri" pitchFamily="34" charset="0"/>
                <a:ea typeface="Calibri" pitchFamily="34" charset="-122"/>
                <a:cs typeface="Calibri" pitchFamily="34" charset="-120"/>
              </a:rPr>
              <a:t>CONTROL</a:t>
            </a:r>
            <a:endParaRPr lang="en-US" sz="700" dirty="0"/>
          </a:p>
        </p:txBody>
      </p:sp>
      <p:sp>
        <p:nvSpPr>
          <p:cNvPr id="56" name="Text 50"/>
          <p:cNvSpPr txBox="1"/>
          <p:nvPr/>
        </p:nvSpPr>
        <p:spPr>
          <a:xfrm>
            <a:off x="4750308" y="3072384"/>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Moderate</a:t>
            </a:r>
            <a:endParaRPr lang="en-US" sz="950" dirty="0"/>
          </a:p>
        </p:txBody>
      </p:sp>
      <p:sp>
        <p:nvSpPr>
          <p:cNvPr id="57" name="Text 51"/>
          <p:cNvSpPr txBox="1"/>
          <p:nvPr/>
        </p:nvSpPr>
        <p:spPr>
          <a:xfrm>
            <a:off x="4750308" y="3227832"/>
            <a:ext cx="1735074" cy="109728"/>
          </a:xfrm>
          <a:prstGeom prst="rect">
            <a:avLst/>
          </a:prstGeom>
          <a:noFill/>
          <a:ln/>
        </p:spPr>
        <p:txBody>
          <a:bodyPr wrap="square" lIns="0" tIns="0" rIns="0" bIns="0" rtlCol="0" anchor="t"/>
          <a:lstStyle/>
          <a:p>
            <a:pPr marL="0" indent="0">
              <a:buNone/>
            </a:pPr>
            <a:r>
              <a:rPr lang="en-US" sz="700" b="1" kern="0" spc="100" dirty="0">
                <a:solidFill>
                  <a:srgbClr val="0E7C86"/>
                </a:solidFill>
                <a:latin typeface="Calibri" pitchFamily="34" charset="0"/>
                <a:ea typeface="Calibri" pitchFamily="34" charset="-122"/>
                <a:cs typeface="Calibri" pitchFamily="34" charset="-120"/>
              </a:rPr>
              <a:t>TIME TO VALUE</a:t>
            </a:r>
            <a:endParaRPr lang="en-US" sz="700" dirty="0"/>
          </a:p>
        </p:txBody>
      </p:sp>
      <p:sp>
        <p:nvSpPr>
          <p:cNvPr id="58" name="Text 52"/>
          <p:cNvSpPr txBox="1"/>
          <p:nvPr/>
        </p:nvSpPr>
        <p:spPr>
          <a:xfrm>
            <a:off x="4750308" y="3337560"/>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4–12 weeks</a:t>
            </a:r>
            <a:endParaRPr lang="en-US" sz="950" dirty="0"/>
          </a:p>
        </p:txBody>
      </p:sp>
      <p:sp>
        <p:nvSpPr>
          <p:cNvPr id="59" name="Text 53"/>
          <p:cNvSpPr txBox="1"/>
          <p:nvPr/>
        </p:nvSpPr>
        <p:spPr>
          <a:xfrm>
            <a:off x="4750308" y="3493008"/>
            <a:ext cx="1735074" cy="109728"/>
          </a:xfrm>
          <a:prstGeom prst="rect">
            <a:avLst/>
          </a:prstGeom>
          <a:noFill/>
          <a:ln/>
        </p:spPr>
        <p:txBody>
          <a:bodyPr wrap="square" lIns="0" tIns="0" rIns="0" bIns="0" rtlCol="0" anchor="t"/>
          <a:lstStyle/>
          <a:p>
            <a:pPr marL="0" indent="0">
              <a:buNone/>
            </a:pPr>
            <a:r>
              <a:rPr lang="en-US" sz="700" b="1" kern="0" spc="100" dirty="0">
                <a:solidFill>
                  <a:srgbClr val="0E7C86"/>
                </a:solidFill>
                <a:latin typeface="Calibri" pitchFamily="34" charset="0"/>
                <a:ea typeface="Calibri" pitchFamily="34" charset="-122"/>
                <a:cs typeface="Calibri" pitchFamily="34" charset="-120"/>
              </a:rPr>
              <a:t>COST SHAPE</a:t>
            </a:r>
            <a:endParaRPr lang="en-US" sz="700" dirty="0"/>
          </a:p>
        </p:txBody>
      </p:sp>
      <p:sp>
        <p:nvSpPr>
          <p:cNvPr id="60" name="Text 54"/>
          <p:cNvSpPr txBox="1"/>
          <p:nvPr/>
        </p:nvSpPr>
        <p:spPr>
          <a:xfrm>
            <a:off x="4750308" y="3602736"/>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Operating, elastic</a:t>
            </a:r>
            <a:endParaRPr lang="en-US" sz="950" dirty="0"/>
          </a:p>
        </p:txBody>
      </p:sp>
      <p:sp>
        <p:nvSpPr>
          <p:cNvPr id="61" name="Text 55"/>
          <p:cNvSpPr txBox="1"/>
          <p:nvPr/>
        </p:nvSpPr>
        <p:spPr>
          <a:xfrm>
            <a:off x="4750308" y="3758184"/>
            <a:ext cx="1735074" cy="109728"/>
          </a:xfrm>
          <a:prstGeom prst="rect">
            <a:avLst/>
          </a:prstGeom>
          <a:noFill/>
          <a:ln/>
        </p:spPr>
        <p:txBody>
          <a:bodyPr wrap="square" lIns="0" tIns="0" rIns="0" bIns="0" rtlCol="0" anchor="t"/>
          <a:lstStyle/>
          <a:p>
            <a:pPr marL="0" indent="0">
              <a:buNone/>
            </a:pPr>
            <a:r>
              <a:rPr lang="en-US" sz="700" b="1" kern="0" spc="100" dirty="0">
                <a:solidFill>
                  <a:srgbClr val="0E7C86"/>
                </a:solidFill>
                <a:latin typeface="Calibri" pitchFamily="34" charset="0"/>
                <a:ea typeface="Calibri" pitchFamily="34" charset="-122"/>
                <a:cs typeface="Calibri" pitchFamily="34" charset="-120"/>
              </a:rPr>
              <a:t>BEST FIT</a:t>
            </a:r>
            <a:endParaRPr lang="en-US" sz="700" dirty="0"/>
          </a:p>
        </p:txBody>
      </p:sp>
      <p:sp>
        <p:nvSpPr>
          <p:cNvPr id="62" name="Text 56"/>
          <p:cNvSpPr txBox="1"/>
          <p:nvPr/>
        </p:nvSpPr>
        <p:spPr>
          <a:xfrm>
            <a:off x="4750308" y="3867912"/>
            <a:ext cx="1735074" cy="155448"/>
          </a:xfrm>
          <a:prstGeom prst="rect">
            <a:avLst/>
          </a:prstGeom>
          <a:noFill/>
          <a:ln/>
        </p:spPr>
        <p:txBody>
          <a:bodyPr wrap="square" lIns="0" tIns="0" rIns="0" bIns="0" rtlCol="0" anchor="t">
            <a:normAutofit/>
          </a:bodyPr>
          <a:lstStyle/>
          <a:p>
            <a:pPr marL="0" indent="0">
              <a:buNone/>
            </a:pPr>
            <a:r>
              <a:rPr lang="en-US" sz="850" dirty="0">
                <a:solidFill>
                  <a:srgbClr val="231F20"/>
                </a:solidFill>
                <a:latin typeface="Calibri" pitchFamily="34" charset="0"/>
                <a:ea typeface="Calibri" pitchFamily="34" charset="-122"/>
                <a:cs typeface="Calibri" pitchFamily="34" charset="-120"/>
              </a:rPr>
              <a:t>Bursty loads; census peaks; training</a:t>
            </a:r>
            <a:endParaRPr lang="en-US" sz="850" dirty="0"/>
          </a:p>
        </p:txBody>
      </p:sp>
      <p:sp>
        <p:nvSpPr>
          <p:cNvPr id="63" name="Shape 57"/>
          <p:cNvSpPr/>
          <p:nvPr/>
        </p:nvSpPr>
        <p:spPr>
          <a:xfrm>
            <a:off x="6732270" y="1719072"/>
            <a:ext cx="1954530" cy="2331720"/>
          </a:xfrm>
          <a:prstGeom prst="roundRect">
            <a:avLst>
              <a:gd name="adj" fmla="val 3743"/>
            </a:avLst>
          </a:prstGeom>
          <a:solidFill>
            <a:srgbClr val="F4F7F5"/>
          </a:solidFill>
          <a:ln w="9525">
            <a:solidFill>
              <a:srgbClr val="D5DED9"/>
            </a:solidFill>
            <a:prstDash val="solid"/>
          </a:ln>
        </p:spPr>
      </p:sp>
      <p:sp>
        <p:nvSpPr>
          <p:cNvPr id="64" name="Shape 58"/>
          <p:cNvSpPr/>
          <p:nvPr/>
        </p:nvSpPr>
        <p:spPr>
          <a:xfrm>
            <a:off x="6841998" y="1828800"/>
            <a:ext cx="384048" cy="384048"/>
          </a:xfrm>
          <a:prstGeom prst="ellipse">
            <a:avLst/>
          </a:prstGeom>
          <a:solidFill>
            <a:srgbClr val="00A86A"/>
          </a:solidFill>
          <a:ln/>
        </p:spPr>
      </p:sp>
      <p:sp>
        <p:nvSpPr>
          <p:cNvPr id="65" name="Text 59"/>
          <p:cNvSpPr txBox="1"/>
          <p:nvPr/>
        </p:nvSpPr>
        <p:spPr>
          <a:xfrm>
            <a:off x="6841998" y="18288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pic>
        <p:nvPicPr>
          <p:cNvPr id="66" name="Image 3" descr="preencoded.png"/>
          <p:cNvPicPr>
            <a:picLocks noChangeAspect="1"/>
          </p:cNvPicPr>
          <p:nvPr/>
        </p:nvPicPr>
        <p:blipFill>
          <a:blip r:embed="rId6"/>
          <a:stretch>
            <a:fillRect/>
          </a:stretch>
        </p:blipFill>
        <p:spPr>
          <a:xfrm>
            <a:off x="8302752" y="1883664"/>
            <a:ext cx="256032" cy="256032"/>
          </a:xfrm>
          <a:prstGeom prst="rect">
            <a:avLst/>
          </a:prstGeom>
        </p:spPr>
      </p:pic>
      <p:sp>
        <p:nvSpPr>
          <p:cNvPr id="67" name="Text 60"/>
          <p:cNvSpPr txBox="1"/>
          <p:nvPr/>
        </p:nvSpPr>
        <p:spPr>
          <a:xfrm>
            <a:off x="6841998" y="2267712"/>
            <a:ext cx="1735074" cy="36576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Managed AI service / API</a:t>
            </a:r>
            <a:endParaRPr lang="en-US" sz="1150" dirty="0"/>
          </a:p>
        </p:txBody>
      </p:sp>
      <p:sp>
        <p:nvSpPr>
          <p:cNvPr id="68" name="Text 61"/>
          <p:cNvSpPr txBox="1"/>
          <p:nvPr/>
        </p:nvSpPr>
        <p:spPr>
          <a:xfrm>
            <a:off x="6841998" y="2615184"/>
            <a:ext cx="1735074" cy="32918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A vendor runs the model; you send prompts and data.</a:t>
            </a:r>
            <a:endParaRPr lang="en-US" sz="900" dirty="0"/>
          </a:p>
        </p:txBody>
      </p:sp>
      <p:sp>
        <p:nvSpPr>
          <p:cNvPr id="69" name="Text 62"/>
          <p:cNvSpPr txBox="1"/>
          <p:nvPr/>
        </p:nvSpPr>
        <p:spPr>
          <a:xfrm>
            <a:off x="6841998" y="2962656"/>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CONTROL</a:t>
            </a:r>
            <a:endParaRPr lang="en-US" sz="700" dirty="0"/>
          </a:p>
        </p:txBody>
      </p:sp>
      <p:sp>
        <p:nvSpPr>
          <p:cNvPr id="70" name="Text 63"/>
          <p:cNvSpPr txBox="1"/>
          <p:nvPr/>
        </p:nvSpPr>
        <p:spPr>
          <a:xfrm>
            <a:off x="6841998" y="3072384"/>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Low</a:t>
            </a:r>
            <a:endParaRPr lang="en-US" sz="950" dirty="0"/>
          </a:p>
        </p:txBody>
      </p:sp>
      <p:sp>
        <p:nvSpPr>
          <p:cNvPr id="71" name="Text 64"/>
          <p:cNvSpPr txBox="1"/>
          <p:nvPr/>
        </p:nvSpPr>
        <p:spPr>
          <a:xfrm>
            <a:off x="6841998" y="3227832"/>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TIME TO VALUE</a:t>
            </a:r>
            <a:endParaRPr lang="en-US" sz="700" dirty="0"/>
          </a:p>
        </p:txBody>
      </p:sp>
      <p:sp>
        <p:nvSpPr>
          <p:cNvPr id="72" name="Text 65"/>
          <p:cNvSpPr txBox="1"/>
          <p:nvPr/>
        </p:nvSpPr>
        <p:spPr>
          <a:xfrm>
            <a:off x="6841998" y="3337560"/>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Days</a:t>
            </a:r>
            <a:endParaRPr lang="en-US" sz="950" dirty="0"/>
          </a:p>
        </p:txBody>
      </p:sp>
      <p:sp>
        <p:nvSpPr>
          <p:cNvPr id="73" name="Text 66"/>
          <p:cNvSpPr txBox="1"/>
          <p:nvPr/>
        </p:nvSpPr>
        <p:spPr>
          <a:xfrm>
            <a:off x="6841998" y="3493008"/>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COST SHAPE</a:t>
            </a:r>
            <a:endParaRPr lang="en-US" sz="700" dirty="0"/>
          </a:p>
        </p:txBody>
      </p:sp>
      <p:sp>
        <p:nvSpPr>
          <p:cNvPr id="74" name="Text 67"/>
          <p:cNvSpPr txBox="1"/>
          <p:nvPr/>
        </p:nvSpPr>
        <p:spPr>
          <a:xfrm>
            <a:off x="6841998" y="3602736"/>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Per token / per call</a:t>
            </a:r>
            <a:endParaRPr lang="en-US" sz="950" dirty="0"/>
          </a:p>
        </p:txBody>
      </p:sp>
      <p:sp>
        <p:nvSpPr>
          <p:cNvPr id="75" name="Text 68"/>
          <p:cNvSpPr txBox="1"/>
          <p:nvPr/>
        </p:nvSpPr>
        <p:spPr>
          <a:xfrm>
            <a:off x="6841998" y="3758184"/>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BEST FIT</a:t>
            </a:r>
            <a:endParaRPr lang="en-US" sz="700" dirty="0"/>
          </a:p>
        </p:txBody>
      </p:sp>
      <p:sp>
        <p:nvSpPr>
          <p:cNvPr id="76" name="Text 69"/>
          <p:cNvSpPr txBox="1"/>
          <p:nvPr/>
        </p:nvSpPr>
        <p:spPr>
          <a:xfrm>
            <a:off x="6841998" y="3867912"/>
            <a:ext cx="1735074" cy="155448"/>
          </a:xfrm>
          <a:prstGeom prst="rect">
            <a:avLst/>
          </a:prstGeom>
          <a:noFill/>
          <a:ln/>
        </p:spPr>
        <p:txBody>
          <a:bodyPr wrap="square" lIns="0" tIns="0" rIns="0" bIns="0" rtlCol="0" anchor="t">
            <a:normAutofit/>
          </a:bodyPr>
          <a:lstStyle/>
          <a:p>
            <a:pPr marL="0" indent="0">
              <a:buNone/>
            </a:pPr>
            <a:r>
              <a:rPr lang="en-US" sz="850" dirty="0">
                <a:solidFill>
                  <a:srgbClr val="231F20"/>
                </a:solidFill>
                <a:latin typeface="Calibri" pitchFamily="34" charset="0"/>
                <a:ea typeface="Calibri" pitchFamily="34" charset="-122"/>
                <a:cs typeface="Calibri" pitchFamily="34" charset="-120"/>
              </a:rPr>
              <a:t>Public data; drafting; exploration</a:t>
            </a:r>
            <a:endParaRPr lang="en-US" sz="850" dirty="0"/>
          </a:p>
        </p:txBody>
      </p:sp>
      <p:sp>
        <p:nvSpPr>
          <p:cNvPr id="77" name="Shape 70"/>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78" name="Shape 71"/>
          <p:cNvSpPr/>
          <p:nvPr/>
        </p:nvSpPr>
        <p:spPr>
          <a:xfrm>
            <a:off x="566928" y="4233672"/>
            <a:ext cx="292608" cy="292608"/>
          </a:xfrm>
          <a:prstGeom prst="ellipse">
            <a:avLst/>
          </a:prstGeom>
          <a:solidFill>
            <a:srgbClr val="00A86A">
              <a:alpha val="22000"/>
            </a:srgbClr>
          </a:solidFill>
          <a:ln/>
        </p:spPr>
      </p:sp>
      <p:pic>
        <p:nvPicPr>
          <p:cNvPr id="79" name="Image 4" descr="preencoded.png"/>
          <p:cNvPicPr>
            <a:picLocks noChangeAspect="1"/>
          </p:cNvPicPr>
          <p:nvPr/>
        </p:nvPicPr>
        <p:blipFill>
          <a:blip r:embed="rId7"/>
          <a:stretch>
            <a:fillRect/>
          </a:stretch>
        </p:blipFill>
        <p:spPr>
          <a:xfrm>
            <a:off x="637154" y="4303898"/>
            <a:ext cx="152156" cy="152156"/>
          </a:xfrm>
          <a:prstGeom prst="rect">
            <a:avLst/>
          </a:prstGeom>
        </p:spPr>
      </p:pic>
      <p:sp>
        <p:nvSpPr>
          <p:cNvPr id="80" name="Text 72"/>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The question is never "which one?" but "which workload belongs where?" — and data classification decides that before cost does.</a:t>
            </a:r>
            <a:endParaRPr lang="en-US" sz="10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DECISION FRAMEWORK</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A decision framework you can defend</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Score seven drivers honestly. When they conflict, classification and law outrank cost</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8" name="Text 15"/>
          <p:cNvSpPr txBox="1"/>
          <p:nvPr/>
        </p:nvSpPr>
        <p:spPr>
          <a:xfrm>
            <a:off x="548640" y="1298448"/>
            <a:ext cx="205740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DRIVER</a:t>
            </a:r>
            <a:endParaRPr lang="en-US" sz="900" dirty="0"/>
          </a:p>
        </p:txBody>
      </p:sp>
      <p:sp>
        <p:nvSpPr>
          <p:cNvPr id="19" name="Text 16"/>
          <p:cNvSpPr txBox="1"/>
          <p:nvPr/>
        </p:nvSpPr>
        <p:spPr>
          <a:xfrm>
            <a:off x="2788920" y="1298448"/>
            <a:ext cx="24688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POINTS TO ON-PREMISES / SOVEREIGN</a:t>
            </a:r>
            <a:endParaRPr lang="en-US" sz="900" dirty="0"/>
          </a:p>
        </p:txBody>
      </p:sp>
      <p:sp>
        <p:nvSpPr>
          <p:cNvPr id="20" name="Text 17"/>
          <p:cNvSpPr txBox="1"/>
          <p:nvPr/>
        </p:nvSpPr>
        <p:spPr>
          <a:xfrm>
            <a:off x="5440680" y="1298448"/>
            <a:ext cx="219456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POINTS TO CLOUD / MANAGED</a:t>
            </a:r>
            <a:endParaRPr lang="en-US" sz="900" dirty="0"/>
          </a:p>
        </p:txBody>
      </p:sp>
      <p:sp>
        <p:nvSpPr>
          <p:cNvPr id="21" name="Text 18"/>
          <p:cNvSpPr txBox="1"/>
          <p:nvPr/>
        </p:nvSpPr>
        <p:spPr>
          <a:xfrm>
            <a:off x="7818120" y="1298448"/>
            <a:ext cx="77724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WEIGHT</a:t>
            </a:r>
            <a:endParaRPr lang="en-US" sz="900" dirty="0"/>
          </a:p>
        </p:txBody>
      </p:sp>
      <p:sp>
        <p:nvSpPr>
          <p:cNvPr id="22" name="Shape 19"/>
          <p:cNvSpPr/>
          <p:nvPr/>
        </p:nvSpPr>
        <p:spPr>
          <a:xfrm>
            <a:off x="457200" y="1572768"/>
            <a:ext cx="8229600" cy="329184"/>
          </a:xfrm>
          <a:prstGeom prst="roundRect">
            <a:avLst>
              <a:gd name="adj" fmla="val 13889"/>
            </a:avLst>
          </a:prstGeom>
          <a:solidFill>
            <a:srgbClr val="F4F7F5"/>
          </a:solidFill>
          <a:ln w="9525">
            <a:solidFill>
              <a:srgbClr val="D5DED9"/>
            </a:solidFill>
            <a:prstDash val="solid"/>
          </a:ln>
        </p:spPr>
      </p:sp>
      <p:sp>
        <p:nvSpPr>
          <p:cNvPr id="23" name="Shape 20"/>
          <p:cNvSpPr/>
          <p:nvPr/>
        </p:nvSpPr>
        <p:spPr>
          <a:xfrm>
            <a:off x="548640" y="1600200"/>
            <a:ext cx="274320" cy="274320"/>
          </a:xfrm>
          <a:prstGeom prst="ellipse">
            <a:avLst/>
          </a:prstGeom>
          <a:solidFill>
            <a:srgbClr val="B83B2E">
              <a:alpha val="22000"/>
            </a:srgbClr>
          </a:solidFill>
          <a:ln/>
        </p:spPr>
      </p:sp>
      <p:pic>
        <p:nvPicPr>
          <p:cNvPr id="24" name="Image 0" descr="preencoded.png"/>
          <p:cNvPicPr>
            <a:picLocks noChangeAspect="1"/>
          </p:cNvPicPr>
          <p:nvPr/>
        </p:nvPicPr>
        <p:blipFill>
          <a:blip r:embed="rId3"/>
          <a:stretch>
            <a:fillRect/>
          </a:stretch>
        </p:blipFill>
        <p:spPr>
          <a:xfrm>
            <a:off x="614477" y="1666037"/>
            <a:ext cx="142646" cy="142646"/>
          </a:xfrm>
          <a:prstGeom prst="rect">
            <a:avLst/>
          </a:prstGeom>
        </p:spPr>
      </p:pic>
      <p:sp>
        <p:nvSpPr>
          <p:cNvPr id="25" name="Text 21"/>
          <p:cNvSpPr txBox="1"/>
          <p:nvPr/>
        </p:nvSpPr>
        <p:spPr>
          <a:xfrm>
            <a:off x="896112" y="1572768"/>
            <a:ext cx="1737360" cy="329184"/>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Data classification</a:t>
            </a:r>
            <a:endParaRPr lang="en-US" sz="950" dirty="0"/>
          </a:p>
        </p:txBody>
      </p:sp>
      <p:sp>
        <p:nvSpPr>
          <p:cNvPr id="26" name="Text 22"/>
          <p:cNvSpPr txBox="1"/>
          <p:nvPr/>
        </p:nvSpPr>
        <p:spPr>
          <a:xfrm>
            <a:off x="2788920" y="1572768"/>
            <a:ext cx="246888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Identifiable microdata under statistical secrecy</a:t>
            </a:r>
            <a:endParaRPr lang="en-US" sz="950" dirty="0"/>
          </a:p>
        </p:txBody>
      </p:sp>
      <p:sp>
        <p:nvSpPr>
          <p:cNvPr id="27" name="Text 23"/>
          <p:cNvSpPr txBox="1"/>
          <p:nvPr/>
        </p:nvSpPr>
        <p:spPr>
          <a:xfrm>
            <a:off x="5440680" y="1572768"/>
            <a:ext cx="219456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Published or already-public data</a:t>
            </a:r>
            <a:endParaRPr lang="en-US" sz="950" dirty="0"/>
          </a:p>
        </p:txBody>
      </p:sp>
      <p:sp>
        <p:nvSpPr>
          <p:cNvPr id="28" name="Shape 24"/>
          <p:cNvSpPr/>
          <p:nvPr/>
        </p:nvSpPr>
        <p:spPr>
          <a:xfrm>
            <a:off x="7795260" y="1627632"/>
            <a:ext cx="822960" cy="219456"/>
          </a:xfrm>
          <a:prstGeom prst="roundRect">
            <a:avLst>
              <a:gd name="adj" fmla="val 50000"/>
            </a:avLst>
          </a:prstGeom>
          <a:solidFill>
            <a:srgbClr val="B83B2E">
              <a:alpha val="15000"/>
            </a:srgbClr>
          </a:solidFill>
          <a:ln w="9525">
            <a:solidFill>
              <a:srgbClr val="B83B2E"/>
            </a:solidFill>
            <a:prstDash val="solid"/>
          </a:ln>
        </p:spPr>
      </p:sp>
      <p:sp>
        <p:nvSpPr>
          <p:cNvPr id="29" name="Text 25"/>
          <p:cNvSpPr txBox="1"/>
          <p:nvPr/>
        </p:nvSpPr>
        <p:spPr>
          <a:xfrm>
            <a:off x="7795260" y="1627632"/>
            <a:ext cx="822960" cy="219456"/>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Decisive</a:t>
            </a:r>
            <a:endParaRPr lang="en-US" sz="850" dirty="0"/>
          </a:p>
        </p:txBody>
      </p:sp>
      <p:sp>
        <p:nvSpPr>
          <p:cNvPr id="30" name="Shape 26"/>
          <p:cNvSpPr/>
          <p:nvPr/>
        </p:nvSpPr>
        <p:spPr>
          <a:xfrm>
            <a:off x="457200" y="1943100"/>
            <a:ext cx="8229600" cy="329184"/>
          </a:xfrm>
          <a:prstGeom prst="roundRect">
            <a:avLst>
              <a:gd name="adj" fmla="val 13889"/>
            </a:avLst>
          </a:prstGeom>
          <a:solidFill>
            <a:srgbClr val="F4F7F5"/>
          </a:solidFill>
          <a:ln w="9525">
            <a:solidFill>
              <a:srgbClr val="D5DED9"/>
            </a:solidFill>
            <a:prstDash val="solid"/>
          </a:ln>
        </p:spPr>
      </p:sp>
      <p:sp>
        <p:nvSpPr>
          <p:cNvPr id="31" name="Shape 27"/>
          <p:cNvSpPr/>
          <p:nvPr/>
        </p:nvSpPr>
        <p:spPr>
          <a:xfrm>
            <a:off x="548640" y="1970532"/>
            <a:ext cx="274320" cy="274320"/>
          </a:xfrm>
          <a:prstGeom prst="ellipse">
            <a:avLst/>
          </a:prstGeom>
          <a:solidFill>
            <a:srgbClr val="B83B2E">
              <a:alpha val="22000"/>
            </a:srgbClr>
          </a:solidFill>
          <a:ln/>
        </p:spPr>
      </p:sp>
      <p:pic>
        <p:nvPicPr>
          <p:cNvPr id="32" name="Image 1" descr="preencoded.png"/>
          <p:cNvPicPr>
            <a:picLocks noChangeAspect="1"/>
          </p:cNvPicPr>
          <p:nvPr/>
        </p:nvPicPr>
        <p:blipFill>
          <a:blip r:embed="rId4"/>
          <a:stretch>
            <a:fillRect/>
          </a:stretch>
        </p:blipFill>
        <p:spPr>
          <a:xfrm>
            <a:off x="614477" y="2036369"/>
            <a:ext cx="142646" cy="142646"/>
          </a:xfrm>
          <a:prstGeom prst="rect">
            <a:avLst/>
          </a:prstGeom>
        </p:spPr>
      </p:pic>
      <p:sp>
        <p:nvSpPr>
          <p:cNvPr id="33" name="Text 28"/>
          <p:cNvSpPr txBox="1"/>
          <p:nvPr/>
        </p:nvSpPr>
        <p:spPr>
          <a:xfrm>
            <a:off x="896112" y="1943100"/>
            <a:ext cx="1737360" cy="329184"/>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Legal basis &amp; jurisdiction</a:t>
            </a:r>
            <a:endParaRPr lang="en-US" sz="950" dirty="0"/>
          </a:p>
        </p:txBody>
      </p:sp>
      <p:sp>
        <p:nvSpPr>
          <p:cNvPr id="34" name="Text 29"/>
          <p:cNvSpPr txBox="1"/>
          <p:nvPr/>
        </p:nvSpPr>
        <p:spPr>
          <a:xfrm>
            <a:off x="2788920" y="1943100"/>
            <a:ext cx="246888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Law restricts where or by whom data is processed</a:t>
            </a:r>
            <a:endParaRPr lang="en-US" sz="950" dirty="0"/>
          </a:p>
        </p:txBody>
      </p:sp>
      <p:sp>
        <p:nvSpPr>
          <p:cNvPr id="35" name="Text 30"/>
          <p:cNvSpPr txBox="1"/>
          <p:nvPr/>
        </p:nvSpPr>
        <p:spPr>
          <a:xfrm>
            <a:off x="5440680" y="1943100"/>
            <a:ext cx="219456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No restriction; contract and residency suffice</a:t>
            </a:r>
            <a:endParaRPr lang="en-US" sz="950" dirty="0"/>
          </a:p>
        </p:txBody>
      </p:sp>
      <p:sp>
        <p:nvSpPr>
          <p:cNvPr id="36" name="Shape 31"/>
          <p:cNvSpPr/>
          <p:nvPr/>
        </p:nvSpPr>
        <p:spPr>
          <a:xfrm>
            <a:off x="7795260" y="1997964"/>
            <a:ext cx="822960" cy="219456"/>
          </a:xfrm>
          <a:prstGeom prst="roundRect">
            <a:avLst>
              <a:gd name="adj" fmla="val 50000"/>
            </a:avLst>
          </a:prstGeom>
          <a:solidFill>
            <a:srgbClr val="B83B2E">
              <a:alpha val="15000"/>
            </a:srgbClr>
          </a:solidFill>
          <a:ln w="9525">
            <a:solidFill>
              <a:srgbClr val="B83B2E"/>
            </a:solidFill>
            <a:prstDash val="solid"/>
          </a:ln>
        </p:spPr>
      </p:sp>
      <p:sp>
        <p:nvSpPr>
          <p:cNvPr id="37" name="Text 32"/>
          <p:cNvSpPr txBox="1"/>
          <p:nvPr/>
        </p:nvSpPr>
        <p:spPr>
          <a:xfrm>
            <a:off x="7795260" y="1997964"/>
            <a:ext cx="822960" cy="219456"/>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Decisive</a:t>
            </a:r>
            <a:endParaRPr lang="en-US" sz="850" dirty="0"/>
          </a:p>
        </p:txBody>
      </p:sp>
      <p:sp>
        <p:nvSpPr>
          <p:cNvPr id="38" name="Shape 33"/>
          <p:cNvSpPr/>
          <p:nvPr/>
        </p:nvSpPr>
        <p:spPr>
          <a:xfrm>
            <a:off x="457200" y="2313432"/>
            <a:ext cx="8229600" cy="329184"/>
          </a:xfrm>
          <a:prstGeom prst="roundRect">
            <a:avLst>
              <a:gd name="adj" fmla="val 13889"/>
            </a:avLst>
          </a:prstGeom>
          <a:solidFill>
            <a:srgbClr val="F4F7F5"/>
          </a:solidFill>
          <a:ln w="9525">
            <a:solidFill>
              <a:srgbClr val="D5DED9"/>
            </a:solidFill>
            <a:prstDash val="solid"/>
          </a:ln>
        </p:spPr>
      </p:sp>
      <p:sp>
        <p:nvSpPr>
          <p:cNvPr id="39" name="Shape 34"/>
          <p:cNvSpPr/>
          <p:nvPr/>
        </p:nvSpPr>
        <p:spPr>
          <a:xfrm>
            <a:off x="548640" y="2340864"/>
            <a:ext cx="274320" cy="274320"/>
          </a:xfrm>
          <a:prstGeom prst="ellipse">
            <a:avLst/>
          </a:prstGeom>
          <a:solidFill>
            <a:srgbClr val="D49A00">
              <a:alpha val="22000"/>
            </a:srgbClr>
          </a:solidFill>
          <a:ln/>
        </p:spPr>
      </p:sp>
      <p:pic>
        <p:nvPicPr>
          <p:cNvPr id="40" name="Image 2" descr="preencoded.png"/>
          <p:cNvPicPr>
            <a:picLocks noChangeAspect="1"/>
          </p:cNvPicPr>
          <p:nvPr/>
        </p:nvPicPr>
        <p:blipFill>
          <a:blip r:embed="rId5"/>
          <a:stretch>
            <a:fillRect/>
          </a:stretch>
        </p:blipFill>
        <p:spPr>
          <a:xfrm>
            <a:off x="614477" y="2406701"/>
            <a:ext cx="142646" cy="142646"/>
          </a:xfrm>
          <a:prstGeom prst="rect">
            <a:avLst/>
          </a:prstGeom>
        </p:spPr>
      </p:pic>
      <p:sp>
        <p:nvSpPr>
          <p:cNvPr id="41" name="Text 35"/>
          <p:cNvSpPr txBox="1"/>
          <p:nvPr/>
        </p:nvSpPr>
        <p:spPr>
          <a:xfrm>
            <a:off x="896112" y="2313432"/>
            <a:ext cx="1737360" cy="329184"/>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Load profile</a:t>
            </a:r>
            <a:endParaRPr lang="en-US" sz="950" dirty="0"/>
          </a:p>
        </p:txBody>
      </p:sp>
      <p:sp>
        <p:nvSpPr>
          <p:cNvPr id="42" name="Text 36"/>
          <p:cNvSpPr txBox="1"/>
          <p:nvPr/>
        </p:nvSpPr>
        <p:spPr>
          <a:xfrm>
            <a:off x="2788920" y="2313432"/>
            <a:ext cx="246888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Steady, predictable, high utilisation</a:t>
            </a:r>
            <a:endParaRPr lang="en-US" sz="950" dirty="0"/>
          </a:p>
        </p:txBody>
      </p:sp>
      <p:sp>
        <p:nvSpPr>
          <p:cNvPr id="43" name="Text 37"/>
          <p:cNvSpPr txBox="1"/>
          <p:nvPr/>
        </p:nvSpPr>
        <p:spPr>
          <a:xfrm>
            <a:off x="5440680" y="2313432"/>
            <a:ext cx="219456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Spiky or seasonal — census, training runs</a:t>
            </a:r>
            <a:endParaRPr lang="en-US" sz="950" dirty="0"/>
          </a:p>
        </p:txBody>
      </p:sp>
      <p:sp>
        <p:nvSpPr>
          <p:cNvPr id="44" name="Shape 38"/>
          <p:cNvSpPr/>
          <p:nvPr/>
        </p:nvSpPr>
        <p:spPr>
          <a:xfrm>
            <a:off x="7795260" y="2368296"/>
            <a:ext cx="822960" cy="219456"/>
          </a:xfrm>
          <a:prstGeom prst="roundRect">
            <a:avLst>
              <a:gd name="adj" fmla="val 50000"/>
            </a:avLst>
          </a:prstGeom>
          <a:solidFill>
            <a:srgbClr val="D49A00">
              <a:alpha val="15000"/>
            </a:srgbClr>
          </a:solidFill>
          <a:ln w="9525">
            <a:solidFill>
              <a:srgbClr val="D49A00"/>
            </a:solidFill>
            <a:prstDash val="solid"/>
          </a:ln>
        </p:spPr>
      </p:sp>
      <p:sp>
        <p:nvSpPr>
          <p:cNvPr id="45" name="Text 39"/>
          <p:cNvSpPr txBox="1"/>
          <p:nvPr/>
        </p:nvSpPr>
        <p:spPr>
          <a:xfrm>
            <a:off x="7795260" y="2368296"/>
            <a:ext cx="82296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High</a:t>
            </a:r>
            <a:endParaRPr lang="en-US" sz="850" dirty="0"/>
          </a:p>
        </p:txBody>
      </p:sp>
      <p:sp>
        <p:nvSpPr>
          <p:cNvPr id="46" name="Shape 40"/>
          <p:cNvSpPr/>
          <p:nvPr/>
        </p:nvSpPr>
        <p:spPr>
          <a:xfrm>
            <a:off x="457200" y="2683764"/>
            <a:ext cx="8229600" cy="329184"/>
          </a:xfrm>
          <a:prstGeom prst="roundRect">
            <a:avLst>
              <a:gd name="adj" fmla="val 13889"/>
            </a:avLst>
          </a:prstGeom>
          <a:solidFill>
            <a:srgbClr val="F4F7F5"/>
          </a:solidFill>
          <a:ln w="9525">
            <a:solidFill>
              <a:srgbClr val="D5DED9"/>
            </a:solidFill>
            <a:prstDash val="solid"/>
          </a:ln>
        </p:spPr>
      </p:sp>
      <p:sp>
        <p:nvSpPr>
          <p:cNvPr id="47" name="Shape 41"/>
          <p:cNvSpPr/>
          <p:nvPr/>
        </p:nvSpPr>
        <p:spPr>
          <a:xfrm>
            <a:off x="548640" y="2711196"/>
            <a:ext cx="274320" cy="274320"/>
          </a:xfrm>
          <a:prstGeom prst="ellipse">
            <a:avLst/>
          </a:prstGeom>
          <a:solidFill>
            <a:srgbClr val="D49A00">
              <a:alpha val="22000"/>
            </a:srgbClr>
          </a:solidFill>
          <a:ln/>
        </p:spPr>
      </p:sp>
      <p:pic>
        <p:nvPicPr>
          <p:cNvPr id="48" name="Image 3" descr="preencoded.png"/>
          <p:cNvPicPr>
            <a:picLocks noChangeAspect="1"/>
          </p:cNvPicPr>
          <p:nvPr/>
        </p:nvPicPr>
        <p:blipFill>
          <a:blip r:embed="rId6"/>
          <a:stretch>
            <a:fillRect/>
          </a:stretch>
        </p:blipFill>
        <p:spPr>
          <a:xfrm>
            <a:off x="614477" y="2777033"/>
            <a:ext cx="142646" cy="142646"/>
          </a:xfrm>
          <a:prstGeom prst="rect">
            <a:avLst/>
          </a:prstGeom>
        </p:spPr>
      </p:pic>
      <p:sp>
        <p:nvSpPr>
          <p:cNvPr id="49" name="Text 42"/>
          <p:cNvSpPr txBox="1"/>
          <p:nvPr/>
        </p:nvSpPr>
        <p:spPr>
          <a:xfrm>
            <a:off x="896112" y="2683764"/>
            <a:ext cx="1737360" cy="329184"/>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Time to first value</a:t>
            </a:r>
            <a:endParaRPr lang="en-US" sz="950" dirty="0"/>
          </a:p>
        </p:txBody>
      </p:sp>
      <p:sp>
        <p:nvSpPr>
          <p:cNvPr id="50" name="Text 43"/>
          <p:cNvSpPr txBox="1"/>
          <p:nvPr/>
        </p:nvSpPr>
        <p:spPr>
          <a:xfrm>
            <a:off x="2788920" y="2683764"/>
            <a:ext cx="246888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You can wait for procurement and build</a:t>
            </a:r>
            <a:endParaRPr lang="en-US" sz="950" dirty="0"/>
          </a:p>
        </p:txBody>
      </p:sp>
      <p:sp>
        <p:nvSpPr>
          <p:cNvPr id="51" name="Text 44"/>
          <p:cNvSpPr txBox="1"/>
          <p:nvPr/>
        </p:nvSpPr>
        <p:spPr>
          <a:xfrm>
            <a:off x="5440680" y="2683764"/>
            <a:ext cx="219456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You need a working pilot this quarter</a:t>
            </a:r>
            <a:endParaRPr lang="en-US" sz="950" dirty="0"/>
          </a:p>
        </p:txBody>
      </p:sp>
      <p:sp>
        <p:nvSpPr>
          <p:cNvPr id="52" name="Shape 45"/>
          <p:cNvSpPr/>
          <p:nvPr/>
        </p:nvSpPr>
        <p:spPr>
          <a:xfrm>
            <a:off x="7795260" y="2738628"/>
            <a:ext cx="822960" cy="219456"/>
          </a:xfrm>
          <a:prstGeom prst="roundRect">
            <a:avLst>
              <a:gd name="adj" fmla="val 50000"/>
            </a:avLst>
          </a:prstGeom>
          <a:solidFill>
            <a:srgbClr val="D49A00">
              <a:alpha val="15000"/>
            </a:srgbClr>
          </a:solidFill>
          <a:ln w="9525">
            <a:solidFill>
              <a:srgbClr val="D49A00"/>
            </a:solidFill>
            <a:prstDash val="solid"/>
          </a:ln>
        </p:spPr>
      </p:sp>
      <p:sp>
        <p:nvSpPr>
          <p:cNvPr id="53" name="Text 46"/>
          <p:cNvSpPr txBox="1"/>
          <p:nvPr/>
        </p:nvSpPr>
        <p:spPr>
          <a:xfrm>
            <a:off x="7795260" y="2738628"/>
            <a:ext cx="82296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High</a:t>
            </a:r>
            <a:endParaRPr lang="en-US" sz="850" dirty="0"/>
          </a:p>
        </p:txBody>
      </p:sp>
      <p:sp>
        <p:nvSpPr>
          <p:cNvPr id="54" name="Shape 47"/>
          <p:cNvSpPr/>
          <p:nvPr/>
        </p:nvSpPr>
        <p:spPr>
          <a:xfrm>
            <a:off x="457200" y="3054096"/>
            <a:ext cx="8229600" cy="329184"/>
          </a:xfrm>
          <a:prstGeom prst="roundRect">
            <a:avLst>
              <a:gd name="adj" fmla="val 13889"/>
            </a:avLst>
          </a:prstGeom>
          <a:solidFill>
            <a:srgbClr val="F4F7F5"/>
          </a:solidFill>
          <a:ln w="9525">
            <a:solidFill>
              <a:srgbClr val="D5DED9"/>
            </a:solidFill>
            <a:prstDash val="solid"/>
          </a:ln>
        </p:spPr>
      </p:sp>
      <p:sp>
        <p:nvSpPr>
          <p:cNvPr id="55" name="Shape 48"/>
          <p:cNvSpPr/>
          <p:nvPr/>
        </p:nvSpPr>
        <p:spPr>
          <a:xfrm>
            <a:off x="548640" y="3081528"/>
            <a:ext cx="274320" cy="274320"/>
          </a:xfrm>
          <a:prstGeom prst="ellipse">
            <a:avLst/>
          </a:prstGeom>
          <a:solidFill>
            <a:srgbClr val="D49A00">
              <a:alpha val="22000"/>
            </a:srgbClr>
          </a:solidFill>
          <a:ln/>
        </p:spPr>
      </p:sp>
      <p:pic>
        <p:nvPicPr>
          <p:cNvPr id="56" name="Image 4" descr="preencoded.png"/>
          <p:cNvPicPr>
            <a:picLocks noChangeAspect="1"/>
          </p:cNvPicPr>
          <p:nvPr/>
        </p:nvPicPr>
        <p:blipFill>
          <a:blip r:embed="rId7"/>
          <a:stretch>
            <a:fillRect/>
          </a:stretch>
        </p:blipFill>
        <p:spPr>
          <a:xfrm>
            <a:off x="614477" y="3147365"/>
            <a:ext cx="142646" cy="142646"/>
          </a:xfrm>
          <a:prstGeom prst="rect">
            <a:avLst/>
          </a:prstGeom>
        </p:spPr>
      </p:pic>
      <p:sp>
        <p:nvSpPr>
          <p:cNvPr id="57" name="Text 49"/>
          <p:cNvSpPr txBox="1"/>
          <p:nvPr/>
        </p:nvSpPr>
        <p:spPr>
          <a:xfrm>
            <a:off x="896112" y="3054096"/>
            <a:ext cx="1737360" cy="329184"/>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Budget mechanics</a:t>
            </a:r>
            <a:endParaRPr lang="en-US" sz="950" dirty="0"/>
          </a:p>
        </p:txBody>
      </p:sp>
      <p:sp>
        <p:nvSpPr>
          <p:cNvPr id="58" name="Text 50"/>
          <p:cNvSpPr txBox="1"/>
          <p:nvPr/>
        </p:nvSpPr>
        <p:spPr>
          <a:xfrm>
            <a:off x="2788920" y="3054096"/>
            <a:ext cx="246888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Capital (or donor) funding, little recurrent budget</a:t>
            </a:r>
            <a:endParaRPr lang="en-US" sz="950" dirty="0"/>
          </a:p>
        </p:txBody>
      </p:sp>
      <p:sp>
        <p:nvSpPr>
          <p:cNvPr id="59" name="Text 51"/>
          <p:cNvSpPr txBox="1"/>
          <p:nvPr/>
        </p:nvSpPr>
        <p:spPr>
          <a:xfrm>
            <a:off x="5440680" y="3054096"/>
            <a:ext cx="219456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Stable operating budget year to year</a:t>
            </a:r>
            <a:endParaRPr lang="en-US" sz="950" dirty="0"/>
          </a:p>
        </p:txBody>
      </p:sp>
      <p:sp>
        <p:nvSpPr>
          <p:cNvPr id="60" name="Shape 52"/>
          <p:cNvSpPr/>
          <p:nvPr/>
        </p:nvSpPr>
        <p:spPr>
          <a:xfrm>
            <a:off x="7795260" y="3108960"/>
            <a:ext cx="822960" cy="219456"/>
          </a:xfrm>
          <a:prstGeom prst="roundRect">
            <a:avLst>
              <a:gd name="adj" fmla="val 50000"/>
            </a:avLst>
          </a:prstGeom>
          <a:solidFill>
            <a:srgbClr val="D49A00">
              <a:alpha val="15000"/>
            </a:srgbClr>
          </a:solidFill>
          <a:ln w="9525">
            <a:solidFill>
              <a:srgbClr val="D49A00"/>
            </a:solidFill>
            <a:prstDash val="solid"/>
          </a:ln>
        </p:spPr>
      </p:sp>
      <p:sp>
        <p:nvSpPr>
          <p:cNvPr id="61" name="Text 53"/>
          <p:cNvSpPr txBox="1"/>
          <p:nvPr/>
        </p:nvSpPr>
        <p:spPr>
          <a:xfrm>
            <a:off x="7795260" y="3108960"/>
            <a:ext cx="82296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High</a:t>
            </a:r>
            <a:endParaRPr lang="en-US" sz="850" dirty="0"/>
          </a:p>
        </p:txBody>
      </p:sp>
      <p:sp>
        <p:nvSpPr>
          <p:cNvPr id="62" name="Shape 54"/>
          <p:cNvSpPr/>
          <p:nvPr/>
        </p:nvSpPr>
        <p:spPr>
          <a:xfrm>
            <a:off x="457200" y="3424428"/>
            <a:ext cx="8229600" cy="329184"/>
          </a:xfrm>
          <a:prstGeom prst="roundRect">
            <a:avLst>
              <a:gd name="adj" fmla="val 13889"/>
            </a:avLst>
          </a:prstGeom>
          <a:solidFill>
            <a:srgbClr val="F4F7F5"/>
          </a:solidFill>
          <a:ln w="9525">
            <a:solidFill>
              <a:srgbClr val="D5DED9"/>
            </a:solidFill>
            <a:prstDash val="solid"/>
          </a:ln>
        </p:spPr>
      </p:sp>
      <p:sp>
        <p:nvSpPr>
          <p:cNvPr id="63" name="Shape 55"/>
          <p:cNvSpPr/>
          <p:nvPr/>
        </p:nvSpPr>
        <p:spPr>
          <a:xfrm>
            <a:off x="548640" y="3451860"/>
            <a:ext cx="274320" cy="274320"/>
          </a:xfrm>
          <a:prstGeom prst="ellipse">
            <a:avLst/>
          </a:prstGeom>
          <a:solidFill>
            <a:srgbClr val="D49A00">
              <a:alpha val="22000"/>
            </a:srgbClr>
          </a:solidFill>
          <a:ln/>
        </p:spPr>
      </p:sp>
      <p:pic>
        <p:nvPicPr>
          <p:cNvPr id="64" name="Image 5" descr="preencoded.png"/>
          <p:cNvPicPr>
            <a:picLocks noChangeAspect="1"/>
          </p:cNvPicPr>
          <p:nvPr/>
        </p:nvPicPr>
        <p:blipFill>
          <a:blip r:embed="rId8"/>
          <a:stretch>
            <a:fillRect/>
          </a:stretch>
        </p:blipFill>
        <p:spPr>
          <a:xfrm>
            <a:off x="614477" y="3517697"/>
            <a:ext cx="142646" cy="142646"/>
          </a:xfrm>
          <a:prstGeom prst="rect">
            <a:avLst/>
          </a:prstGeom>
        </p:spPr>
      </p:pic>
      <p:sp>
        <p:nvSpPr>
          <p:cNvPr id="65" name="Text 56"/>
          <p:cNvSpPr txBox="1"/>
          <p:nvPr/>
        </p:nvSpPr>
        <p:spPr>
          <a:xfrm>
            <a:off x="896112" y="3424428"/>
            <a:ext cx="1737360" cy="329184"/>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In-house platform skills</a:t>
            </a:r>
            <a:endParaRPr lang="en-US" sz="950" dirty="0"/>
          </a:p>
        </p:txBody>
      </p:sp>
      <p:sp>
        <p:nvSpPr>
          <p:cNvPr id="66" name="Text 57"/>
          <p:cNvSpPr txBox="1"/>
          <p:nvPr/>
        </p:nvSpPr>
        <p:spPr>
          <a:xfrm>
            <a:off x="2788920" y="3424428"/>
            <a:ext cx="246888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You have, or can hire and keep, platform engineers</a:t>
            </a:r>
            <a:endParaRPr lang="en-US" sz="950" dirty="0"/>
          </a:p>
        </p:txBody>
      </p:sp>
      <p:sp>
        <p:nvSpPr>
          <p:cNvPr id="67" name="Text 58"/>
          <p:cNvSpPr txBox="1"/>
          <p:nvPr/>
        </p:nvSpPr>
        <p:spPr>
          <a:xfrm>
            <a:off x="5440680" y="3424428"/>
            <a:ext cx="219456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You do not, and cannot realistically retain them</a:t>
            </a:r>
            <a:endParaRPr lang="en-US" sz="950" dirty="0"/>
          </a:p>
        </p:txBody>
      </p:sp>
      <p:sp>
        <p:nvSpPr>
          <p:cNvPr id="68" name="Shape 59"/>
          <p:cNvSpPr/>
          <p:nvPr/>
        </p:nvSpPr>
        <p:spPr>
          <a:xfrm>
            <a:off x="7795260" y="3479292"/>
            <a:ext cx="822960" cy="219456"/>
          </a:xfrm>
          <a:prstGeom prst="roundRect">
            <a:avLst>
              <a:gd name="adj" fmla="val 50000"/>
            </a:avLst>
          </a:prstGeom>
          <a:solidFill>
            <a:srgbClr val="D49A00">
              <a:alpha val="15000"/>
            </a:srgbClr>
          </a:solidFill>
          <a:ln w="9525">
            <a:solidFill>
              <a:srgbClr val="D49A00"/>
            </a:solidFill>
            <a:prstDash val="solid"/>
          </a:ln>
        </p:spPr>
      </p:sp>
      <p:sp>
        <p:nvSpPr>
          <p:cNvPr id="69" name="Text 60"/>
          <p:cNvSpPr txBox="1"/>
          <p:nvPr/>
        </p:nvSpPr>
        <p:spPr>
          <a:xfrm>
            <a:off x="7795260" y="3479292"/>
            <a:ext cx="82296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High</a:t>
            </a:r>
            <a:endParaRPr lang="en-US" sz="850" dirty="0"/>
          </a:p>
        </p:txBody>
      </p:sp>
      <p:sp>
        <p:nvSpPr>
          <p:cNvPr id="70" name="Shape 61"/>
          <p:cNvSpPr/>
          <p:nvPr/>
        </p:nvSpPr>
        <p:spPr>
          <a:xfrm>
            <a:off x="457200" y="3794760"/>
            <a:ext cx="8229600" cy="329184"/>
          </a:xfrm>
          <a:prstGeom prst="roundRect">
            <a:avLst>
              <a:gd name="adj" fmla="val 13889"/>
            </a:avLst>
          </a:prstGeom>
          <a:solidFill>
            <a:srgbClr val="F4F7F5"/>
          </a:solidFill>
          <a:ln w="9525">
            <a:solidFill>
              <a:srgbClr val="D5DED9"/>
            </a:solidFill>
            <a:prstDash val="solid"/>
          </a:ln>
        </p:spPr>
      </p:sp>
      <p:sp>
        <p:nvSpPr>
          <p:cNvPr id="71" name="Shape 62"/>
          <p:cNvSpPr/>
          <p:nvPr/>
        </p:nvSpPr>
        <p:spPr>
          <a:xfrm>
            <a:off x="548640" y="3822192"/>
            <a:ext cx="274320" cy="274320"/>
          </a:xfrm>
          <a:prstGeom prst="ellipse">
            <a:avLst/>
          </a:prstGeom>
          <a:solidFill>
            <a:srgbClr val="0E7C86">
              <a:alpha val="22000"/>
            </a:srgbClr>
          </a:solidFill>
          <a:ln/>
        </p:spPr>
      </p:sp>
      <p:pic>
        <p:nvPicPr>
          <p:cNvPr id="72" name="Image 6" descr="preencoded.png"/>
          <p:cNvPicPr>
            <a:picLocks noChangeAspect="1"/>
          </p:cNvPicPr>
          <p:nvPr/>
        </p:nvPicPr>
        <p:blipFill>
          <a:blip r:embed="rId9"/>
          <a:stretch>
            <a:fillRect/>
          </a:stretch>
        </p:blipFill>
        <p:spPr>
          <a:xfrm>
            <a:off x="614477" y="3888029"/>
            <a:ext cx="142646" cy="142646"/>
          </a:xfrm>
          <a:prstGeom prst="rect">
            <a:avLst/>
          </a:prstGeom>
        </p:spPr>
      </p:pic>
      <p:sp>
        <p:nvSpPr>
          <p:cNvPr id="73" name="Text 63"/>
          <p:cNvSpPr txBox="1"/>
          <p:nvPr/>
        </p:nvSpPr>
        <p:spPr>
          <a:xfrm>
            <a:off x="896112" y="3794760"/>
            <a:ext cx="1737360" cy="329184"/>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Exit cost &amp; lock-in</a:t>
            </a:r>
            <a:endParaRPr lang="en-US" sz="950" dirty="0"/>
          </a:p>
        </p:txBody>
      </p:sp>
      <p:sp>
        <p:nvSpPr>
          <p:cNvPr id="74" name="Text 64"/>
          <p:cNvSpPr txBox="1"/>
          <p:nvPr/>
        </p:nvSpPr>
        <p:spPr>
          <a:xfrm>
            <a:off x="2788920" y="3794760"/>
            <a:ext cx="246888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Long-term capability you intend to own</a:t>
            </a:r>
            <a:endParaRPr lang="en-US" sz="950" dirty="0"/>
          </a:p>
        </p:txBody>
      </p:sp>
      <p:sp>
        <p:nvSpPr>
          <p:cNvPr id="75" name="Text 65"/>
          <p:cNvSpPr txBox="1"/>
          <p:nvPr/>
        </p:nvSpPr>
        <p:spPr>
          <a:xfrm>
            <a:off x="5440680" y="3794760"/>
            <a:ext cx="2194560" cy="329184"/>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Reversible commitment with open formats</a:t>
            </a:r>
            <a:endParaRPr lang="en-US" sz="950" dirty="0"/>
          </a:p>
        </p:txBody>
      </p:sp>
      <p:sp>
        <p:nvSpPr>
          <p:cNvPr id="76" name="Shape 66"/>
          <p:cNvSpPr/>
          <p:nvPr/>
        </p:nvSpPr>
        <p:spPr>
          <a:xfrm>
            <a:off x="7795260" y="3849624"/>
            <a:ext cx="822960" cy="219456"/>
          </a:xfrm>
          <a:prstGeom prst="roundRect">
            <a:avLst>
              <a:gd name="adj" fmla="val 50000"/>
            </a:avLst>
          </a:prstGeom>
          <a:solidFill>
            <a:srgbClr val="0E7C86">
              <a:alpha val="15000"/>
            </a:srgbClr>
          </a:solidFill>
          <a:ln w="9525">
            <a:solidFill>
              <a:srgbClr val="0E7C86"/>
            </a:solidFill>
            <a:prstDash val="solid"/>
          </a:ln>
        </p:spPr>
      </p:sp>
      <p:sp>
        <p:nvSpPr>
          <p:cNvPr id="77" name="Text 67"/>
          <p:cNvSpPr txBox="1"/>
          <p:nvPr/>
        </p:nvSpPr>
        <p:spPr>
          <a:xfrm>
            <a:off x="7795260" y="3849624"/>
            <a:ext cx="82296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Medium</a:t>
            </a:r>
            <a:endParaRPr lang="en-US" sz="850" dirty="0"/>
          </a:p>
        </p:txBody>
      </p:sp>
      <p:sp>
        <p:nvSpPr>
          <p:cNvPr id="78" name="Shape 68"/>
          <p:cNvSpPr/>
          <p:nvPr/>
        </p:nvSpPr>
        <p:spPr>
          <a:xfrm>
            <a:off x="457200" y="4160520"/>
            <a:ext cx="8229600" cy="438912"/>
          </a:xfrm>
          <a:prstGeom prst="roundRect">
            <a:avLst>
              <a:gd name="adj" fmla="val 12500"/>
            </a:avLst>
          </a:prstGeom>
          <a:solidFill>
            <a:srgbClr val="D49A00">
              <a:alpha val="13000"/>
            </a:srgbClr>
          </a:solidFill>
          <a:ln w="12700">
            <a:solidFill>
              <a:srgbClr val="D49A00"/>
            </a:solidFill>
            <a:prstDash val="solid"/>
          </a:ln>
        </p:spPr>
      </p:sp>
      <p:sp>
        <p:nvSpPr>
          <p:cNvPr id="79" name="Shape 69"/>
          <p:cNvSpPr/>
          <p:nvPr/>
        </p:nvSpPr>
        <p:spPr>
          <a:xfrm>
            <a:off x="566928" y="4233672"/>
            <a:ext cx="292608" cy="292608"/>
          </a:xfrm>
          <a:prstGeom prst="ellipse">
            <a:avLst/>
          </a:prstGeom>
          <a:solidFill>
            <a:srgbClr val="D49A00">
              <a:alpha val="22000"/>
            </a:srgbClr>
          </a:solidFill>
          <a:ln/>
        </p:spPr>
      </p:sp>
      <p:pic>
        <p:nvPicPr>
          <p:cNvPr id="80" name="Image 7" descr="preencoded.png"/>
          <p:cNvPicPr>
            <a:picLocks noChangeAspect="1"/>
          </p:cNvPicPr>
          <p:nvPr/>
        </p:nvPicPr>
        <p:blipFill>
          <a:blip r:embed="rId10"/>
          <a:stretch>
            <a:fillRect/>
          </a:stretch>
        </p:blipFill>
        <p:spPr>
          <a:xfrm>
            <a:off x="637154" y="4303898"/>
            <a:ext cx="152156" cy="152156"/>
          </a:xfrm>
          <a:prstGeom prst="rect">
            <a:avLst/>
          </a:prstGeom>
        </p:spPr>
      </p:pic>
      <p:sp>
        <p:nvSpPr>
          <p:cNvPr id="81" name="Text 70"/>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00" b="1" dirty="0">
                <a:solidFill>
                  <a:srgbClr val="8A6400"/>
                </a:solidFill>
                <a:latin typeface="Calibri" pitchFamily="34" charset="0"/>
                <a:ea typeface="Calibri" pitchFamily="34" charset="-122"/>
                <a:cs typeface="Calibri" pitchFamily="34" charset="-120"/>
              </a:rPr>
              <a:t>Read the two decisive rows first.  </a:t>
            </a:r>
            <a:r>
              <a:rPr lang="en-US" sz="1000" dirty="0">
                <a:solidFill>
                  <a:srgbClr val="231F20"/>
                </a:solidFill>
                <a:latin typeface="Calibri" pitchFamily="34" charset="0"/>
                <a:ea typeface="Calibri" pitchFamily="34" charset="-122"/>
                <a:cs typeface="Calibri" pitchFamily="34" charset="-120"/>
              </a:rPr>
              <a:t>If classification or law rules an option out, the other five drivers are irrelevant for that workload. Document the reasoning once and reuse it.</a:t>
            </a:r>
            <a:endParaRPr lang="en-US" sz="10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ON-PREMISES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What "we will just buy a server" really means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The hardware invoice is typically under half of the five-year cost of owning the capability</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8" name="Shape 15"/>
          <p:cNvSpPr/>
          <p:nvPr/>
        </p:nvSpPr>
        <p:spPr>
          <a:xfrm>
            <a:off x="457200" y="1371600"/>
            <a:ext cx="2103120" cy="2651760"/>
          </a:xfrm>
          <a:prstGeom prst="roundRect">
            <a:avLst>
              <a:gd name="adj" fmla="val 3478"/>
            </a:avLst>
          </a:prstGeom>
          <a:solidFill>
            <a:srgbClr val="E8F5EF"/>
          </a:solidFill>
          <a:ln w="15875">
            <a:solidFill>
              <a:srgbClr val="00A86A"/>
            </a:solidFill>
            <a:prstDash val="solid"/>
          </a:ln>
        </p:spPr>
      </p:sp>
      <p:sp>
        <p:nvSpPr>
          <p:cNvPr id="19" name="Text 16"/>
          <p:cNvSpPr txBox="1"/>
          <p:nvPr/>
        </p:nvSpPr>
        <p:spPr>
          <a:xfrm>
            <a:off x="594360" y="1508760"/>
            <a:ext cx="1828800" cy="640080"/>
          </a:xfrm>
          <a:prstGeom prst="rect">
            <a:avLst/>
          </a:prstGeom>
          <a:noFill/>
          <a:ln/>
        </p:spPr>
        <p:txBody>
          <a:bodyPr wrap="square" lIns="0" tIns="0" rIns="0" bIns="0" rtlCol="0" anchor="t"/>
          <a:lstStyle/>
          <a:p>
            <a:pPr marL="0" indent="0">
              <a:buNone/>
            </a:pPr>
            <a:r>
              <a:rPr lang="en-US" sz="4000" b="1" dirty="0">
                <a:solidFill>
                  <a:srgbClr val="00A86A"/>
                </a:solidFill>
                <a:latin typeface="Calibri" pitchFamily="34" charset="0"/>
                <a:ea typeface="Calibri" pitchFamily="34" charset="-122"/>
                <a:cs typeface="Calibri" pitchFamily="34" charset="-120"/>
              </a:rPr>
              <a:t>&lt; 50%</a:t>
            </a:r>
            <a:endParaRPr lang="en-US" sz="4000" dirty="0"/>
          </a:p>
        </p:txBody>
      </p:sp>
      <p:sp>
        <p:nvSpPr>
          <p:cNvPr id="20" name="Text 17"/>
          <p:cNvSpPr txBox="1"/>
          <p:nvPr/>
        </p:nvSpPr>
        <p:spPr>
          <a:xfrm>
            <a:off x="594360" y="2148840"/>
            <a:ext cx="182880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of five-year cost is the hardware itself (planning heuristic)</a:t>
            </a:r>
            <a:endParaRPr lang="en-US" sz="1050" dirty="0"/>
          </a:p>
        </p:txBody>
      </p:sp>
      <p:sp>
        <p:nvSpPr>
          <p:cNvPr id="21" name="Text 18"/>
          <p:cNvSpPr txBox="1"/>
          <p:nvPr/>
        </p:nvSpPr>
        <p:spPr>
          <a:xfrm>
            <a:off x="594360" y="2834640"/>
            <a:ext cx="1828800" cy="822960"/>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The rest is facility, software, operations, refresh — and people.</a:t>
            </a:r>
            <a:endParaRPr lang="en-US" sz="1050" dirty="0"/>
          </a:p>
        </p:txBody>
      </p:sp>
      <p:sp>
        <p:nvSpPr>
          <p:cNvPr id="22" name="Shape 19"/>
          <p:cNvSpPr/>
          <p:nvPr/>
        </p:nvSpPr>
        <p:spPr>
          <a:xfrm>
            <a:off x="2743200" y="1371600"/>
            <a:ext cx="1908048" cy="1271016"/>
          </a:xfrm>
          <a:prstGeom prst="roundRect">
            <a:avLst>
              <a:gd name="adj" fmla="val 5755"/>
            </a:avLst>
          </a:prstGeom>
          <a:solidFill>
            <a:srgbClr val="F4F7F5"/>
          </a:solidFill>
          <a:ln w="9525">
            <a:solidFill>
              <a:srgbClr val="D5DED9"/>
            </a:solidFill>
            <a:prstDash val="solid"/>
          </a:ln>
        </p:spPr>
      </p:sp>
      <p:sp>
        <p:nvSpPr>
          <p:cNvPr id="23" name="Shape 20"/>
          <p:cNvSpPr/>
          <p:nvPr/>
        </p:nvSpPr>
        <p:spPr>
          <a:xfrm>
            <a:off x="2871216" y="1499616"/>
            <a:ext cx="329184" cy="329184"/>
          </a:xfrm>
          <a:prstGeom prst="ellipse">
            <a:avLst/>
          </a:prstGeom>
          <a:solidFill>
            <a:srgbClr val="00A86A">
              <a:alpha val="22000"/>
            </a:srgbClr>
          </a:solidFill>
          <a:ln/>
        </p:spPr>
      </p:sp>
      <p:pic>
        <p:nvPicPr>
          <p:cNvPr id="24" name="Image 0" descr="preencoded.png"/>
          <p:cNvPicPr>
            <a:picLocks noChangeAspect="1"/>
          </p:cNvPicPr>
          <p:nvPr/>
        </p:nvPicPr>
        <p:blipFill>
          <a:blip r:embed="rId3"/>
          <a:stretch>
            <a:fillRect/>
          </a:stretch>
        </p:blipFill>
        <p:spPr>
          <a:xfrm>
            <a:off x="2950220" y="1578620"/>
            <a:ext cx="171176" cy="171176"/>
          </a:xfrm>
          <a:prstGeom prst="rect">
            <a:avLst/>
          </a:prstGeom>
        </p:spPr>
      </p:pic>
      <p:sp>
        <p:nvSpPr>
          <p:cNvPr id="25" name="Text 21"/>
          <p:cNvSpPr txBox="1"/>
          <p:nvPr/>
        </p:nvSpPr>
        <p:spPr>
          <a:xfrm>
            <a:off x="3310128" y="1499616"/>
            <a:ext cx="1231392"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Hardware</a:t>
            </a:r>
            <a:endParaRPr lang="en-US" sz="1150" dirty="0"/>
          </a:p>
        </p:txBody>
      </p:sp>
      <p:sp>
        <p:nvSpPr>
          <p:cNvPr id="26" name="Text 22"/>
          <p:cNvSpPr txBox="1"/>
          <p:nvPr/>
        </p:nvSpPr>
        <p:spPr>
          <a:xfrm>
            <a:off x="2871216" y="1883664"/>
            <a:ext cx="1652016" cy="704088"/>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GPU nodes, fast storage, network, racks. Size for your workload, not the biggest model.</a:t>
            </a:r>
            <a:endParaRPr lang="en-US" sz="950" dirty="0"/>
          </a:p>
        </p:txBody>
      </p:sp>
      <p:sp>
        <p:nvSpPr>
          <p:cNvPr id="27" name="Shape 23"/>
          <p:cNvSpPr/>
          <p:nvPr/>
        </p:nvSpPr>
        <p:spPr>
          <a:xfrm>
            <a:off x="4760976" y="1371600"/>
            <a:ext cx="1908048" cy="1271016"/>
          </a:xfrm>
          <a:prstGeom prst="roundRect">
            <a:avLst>
              <a:gd name="adj" fmla="val 5755"/>
            </a:avLst>
          </a:prstGeom>
          <a:solidFill>
            <a:srgbClr val="F4F7F5"/>
          </a:solidFill>
          <a:ln w="9525">
            <a:solidFill>
              <a:srgbClr val="D5DED9"/>
            </a:solidFill>
            <a:prstDash val="solid"/>
          </a:ln>
        </p:spPr>
      </p:sp>
      <p:sp>
        <p:nvSpPr>
          <p:cNvPr id="28" name="Shape 24"/>
          <p:cNvSpPr/>
          <p:nvPr/>
        </p:nvSpPr>
        <p:spPr>
          <a:xfrm>
            <a:off x="4888992" y="1499616"/>
            <a:ext cx="329184" cy="329184"/>
          </a:xfrm>
          <a:prstGeom prst="ellipse">
            <a:avLst/>
          </a:prstGeom>
          <a:solidFill>
            <a:srgbClr val="00A86A">
              <a:alpha val="22000"/>
            </a:srgbClr>
          </a:solidFill>
          <a:ln/>
        </p:spPr>
      </p:sp>
      <p:pic>
        <p:nvPicPr>
          <p:cNvPr id="29" name="Image 1" descr="preencoded.png"/>
          <p:cNvPicPr>
            <a:picLocks noChangeAspect="1"/>
          </p:cNvPicPr>
          <p:nvPr/>
        </p:nvPicPr>
        <p:blipFill>
          <a:blip r:embed="rId4"/>
          <a:stretch>
            <a:fillRect/>
          </a:stretch>
        </p:blipFill>
        <p:spPr>
          <a:xfrm>
            <a:off x="4967996" y="1578620"/>
            <a:ext cx="171176" cy="171176"/>
          </a:xfrm>
          <a:prstGeom prst="rect">
            <a:avLst/>
          </a:prstGeom>
        </p:spPr>
      </p:pic>
      <p:sp>
        <p:nvSpPr>
          <p:cNvPr id="30" name="Text 25"/>
          <p:cNvSpPr txBox="1"/>
          <p:nvPr/>
        </p:nvSpPr>
        <p:spPr>
          <a:xfrm>
            <a:off x="5327904" y="1499616"/>
            <a:ext cx="1231392"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Facility</a:t>
            </a:r>
            <a:endParaRPr lang="en-US" sz="1150" dirty="0"/>
          </a:p>
        </p:txBody>
      </p:sp>
      <p:sp>
        <p:nvSpPr>
          <p:cNvPr id="31" name="Text 26"/>
          <p:cNvSpPr txBox="1"/>
          <p:nvPr/>
        </p:nvSpPr>
        <p:spPr>
          <a:xfrm>
            <a:off x="4888992" y="1883664"/>
            <a:ext cx="1652016" cy="704088"/>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Power, UPS, generator, cooling, fire safety. Often a separate budget and approval chain.</a:t>
            </a:r>
            <a:endParaRPr lang="en-US" sz="950" dirty="0"/>
          </a:p>
        </p:txBody>
      </p:sp>
      <p:sp>
        <p:nvSpPr>
          <p:cNvPr id="32" name="Shape 27"/>
          <p:cNvSpPr/>
          <p:nvPr/>
        </p:nvSpPr>
        <p:spPr>
          <a:xfrm>
            <a:off x="6778752" y="1371600"/>
            <a:ext cx="1908048" cy="1271016"/>
          </a:xfrm>
          <a:prstGeom prst="roundRect">
            <a:avLst>
              <a:gd name="adj" fmla="val 5755"/>
            </a:avLst>
          </a:prstGeom>
          <a:solidFill>
            <a:srgbClr val="F4F7F5"/>
          </a:solidFill>
          <a:ln w="9525">
            <a:solidFill>
              <a:srgbClr val="D5DED9"/>
            </a:solidFill>
            <a:prstDash val="solid"/>
          </a:ln>
        </p:spPr>
      </p:sp>
      <p:sp>
        <p:nvSpPr>
          <p:cNvPr id="33" name="Shape 28"/>
          <p:cNvSpPr/>
          <p:nvPr/>
        </p:nvSpPr>
        <p:spPr>
          <a:xfrm>
            <a:off x="6906768" y="1499616"/>
            <a:ext cx="329184" cy="329184"/>
          </a:xfrm>
          <a:prstGeom prst="ellipse">
            <a:avLst/>
          </a:prstGeom>
          <a:solidFill>
            <a:srgbClr val="00A86A">
              <a:alpha val="22000"/>
            </a:srgbClr>
          </a:solidFill>
          <a:ln/>
        </p:spPr>
      </p:sp>
      <p:pic>
        <p:nvPicPr>
          <p:cNvPr id="34" name="Image 2" descr="preencoded.png"/>
          <p:cNvPicPr>
            <a:picLocks noChangeAspect="1"/>
          </p:cNvPicPr>
          <p:nvPr/>
        </p:nvPicPr>
        <p:blipFill>
          <a:blip r:embed="rId5"/>
          <a:stretch>
            <a:fillRect/>
          </a:stretch>
        </p:blipFill>
        <p:spPr>
          <a:xfrm>
            <a:off x="6985772" y="1578620"/>
            <a:ext cx="171176" cy="171176"/>
          </a:xfrm>
          <a:prstGeom prst="rect">
            <a:avLst/>
          </a:prstGeom>
        </p:spPr>
      </p:pic>
      <p:sp>
        <p:nvSpPr>
          <p:cNvPr id="35" name="Text 29"/>
          <p:cNvSpPr txBox="1"/>
          <p:nvPr/>
        </p:nvSpPr>
        <p:spPr>
          <a:xfrm>
            <a:off x="7345680" y="1499616"/>
            <a:ext cx="1231392"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Platform software</a:t>
            </a:r>
            <a:endParaRPr lang="en-US" sz="1150" dirty="0"/>
          </a:p>
        </p:txBody>
      </p:sp>
      <p:sp>
        <p:nvSpPr>
          <p:cNvPr id="36" name="Text 30"/>
          <p:cNvSpPr txBox="1"/>
          <p:nvPr/>
        </p:nvSpPr>
        <p:spPr>
          <a:xfrm>
            <a:off x="6906768" y="1883664"/>
            <a:ext cx="1652016" cy="704088"/>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Scheduler, container registry, storage, identity, monitoring, secrets, backup.</a:t>
            </a:r>
            <a:endParaRPr lang="en-US" sz="950" dirty="0"/>
          </a:p>
        </p:txBody>
      </p:sp>
      <p:sp>
        <p:nvSpPr>
          <p:cNvPr id="37" name="Shape 31"/>
          <p:cNvSpPr/>
          <p:nvPr/>
        </p:nvSpPr>
        <p:spPr>
          <a:xfrm>
            <a:off x="2743200" y="2752344"/>
            <a:ext cx="1908048" cy="1271016"/>
          </a:xfrm>
          <a:prstGeom prst="roundRect">
            <a:avLst>
              <a:gd name="adj" fmla="val 5755"/>
            </a:avLst>
          </a:prstGeom>
          <a:solidFill>
            <a:srgbClr val="F4F7F5"/>
          </a:solidFill>
          <a:ln w="9525">
            <a:solidFill>
              <a:srgbClr val="D5DED9"/>
            </a:solidFill>
            <a:prstDash val="solid"/>
          </a:ln>
        </p:spPr>
      </p:sp>
      <p:sp>
        <p:nvSpPr>
          <p:cNvPr id="38" name="Shape 32"/>
          <p:cNvSpPr/>
          <p:nvPr/>
        </p:nvSpPr>
        <p:spPr>
          <a:xfrm>
            <a:off x="2871216" y="2880360"/>
            <a:ext cx="329184" cy="329184"/>
          </a:xfrm>
          <a:prstGeom prst="ellipse">
            <a:avLst/>
          </a:prstGeom>
          <a:solidFill>
            <a:srgbClr val="00A86A">
              <a:alpha val="22000"/>
            </a:srgbClr>
          </a:solidFill>
          <a:ln/>
        </p:spPr>
      </p:sp>
      <p:pic>
        <p:nvPicPr>
          <p:cNvPr id="39" name="Image 3" descr="preencoded.png"/>
          <p:cNvPicPr>
            <a:picLocks noChangeAspect="1"/>
          </p:cNvPicPr>
          <p:nvPr/>
        </p:nvPicPr>
        <p:blipFill>
          <a:blip r:embed="rId6"/>
          <a:stretch>
            <a:fillRect/>
          </a:stretch>
        </p:blipFill>
        <p:spPr>
          <a:xfrm>
            <a:off x="2950220" y="2959364"/>
            <a:ext cx="171176" cy="171176"/>
          </a:xfrm>
          <a:prstGeom prst="rect">
            <a:avLst/>
          </a:prstGeom>
        </p:spPr>
      </p:pic>
      <p:sp>
        <p:nvSpPr>
          <p:cNvPr id="40" name="Text 33"/>
          <p:cNvSpPr txBox="1"/>
          <p:nvPr/>
        </p:nvSpPr>
        <p:spPr>
          <a:xfrm>
            <a:off x="3310128" y="2880360"/>
            <a:ext cx="1231392"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Operations</a:t>
            </a:r>
            <a:endParaRPr lang="en-US" sz="1150" dirty="0"/>
          </a:p>
        </p:txBody>
      </p:sp>
      <p:sp>
        <p:nvSpPr>
          <p:cNvPr id="41" name="Text 34"/>
          <p:cNvSpPr txBox="1"/>
          <p:nvPr/>
        </p:nvSpPr>
        <p:spPr>
          <a:xfrm>
            <a:off x="2871216" y="3264408"/>
            <a:ext cx="1652016" cy="704088"/>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Drivers, patching, capacity planning, on-call. Continuous work, not a one-off install.</a:t>
            </a:r>
            <a:endParaRPr lang="en-US" sz="950" dirty="0"/>
          </a:p>
        </p:txBody>
      </p:sp>
      <p:sp>
        <p:nvSpPr>
          <p:cNvPr id="42" name="Shape 35"/>
          <p:cNvSpPr/>
          <p:nvPr/>
        </p:nvSpPr>
        <p:spPr>
          <a:xfrm>
            <a:off x="4760976" y="2752344"/>
            <a:ext cx="1908048" cy="1271016"/>
          </a:xfrm>
          <a:prstGeom prst="roundRect">
            <a:avLst>
              <a:gd name="adj" fmla="val 5755"/>
            </a:avLst>
          </a:prstGeom>
          <a:solidFill>
            <a:srgbClr val="F4F7F5"/>
          </a:solidFill>
          <a:ln w="9525">
            <a:solidFill>
              <a:srgbClr val="D5DED9"/>
            </a:solidFill>
            <a:prstDash val="solid"/>
          </a:ln>
        </p:spPr>
      </p:sp>
      <p:sp>
        <p:nvSpPr>
          <p:cNvPr id="43" name="Shape 36"/>
          <p:cNvSpPr/>
          <p:nvPr/>
        </p:nvSpPr>
        <p:spPr>
          <a:xfrm>
            <a:off x="4888992" y="2880360"/>
            <a:ext cx="329184" cy="329184"/>
          </a:xfrm>
          <a:prstGeom prst="ellipse">
            <a:avLst/>
          </a:prstGeom>
          <a:solidFill>
            <a:srgbClr val="00A86A">
              <a:alpha val="22000"/>
            </a:srgbClr>
          </a:solidFill>
          <a:ln/>
        </p:spPr>
      </p:sp>
      <p:pic>
        <p:nvPicPr>
          <p:cNvPr id="44" name="Image 4" descr="preencoded.png"/>
          <p:cNvPicPr>
            <a:picLocks noChangeAspect="1"/>
          </p:cNvPicPr>
          <p:nvPr/>
        </p:nvPicPr>
        <p:blipFill>
          <a:blip r:embed="rId7"/>
          <a:stretch>
            <a:fillRect/>
          </a:stretch>
        </p:blipFill>
        <p:spPr>
          <a:xfrm>
            <a:off x="4967996" y="2959364"/>
            <a:ext cx="171176" cy="171176"/>
          </a:xfrm>
          <a:prstGeom prst="rect">
            <a:avLst/>
          </a:prstGeom>
        </p:spPr>
      </p:pic>
      <p:sp>
        <p:nvSpPr>
          <p:cNvPr id="45" name="Text 37"/>
          <p:cNvSpPr txBox="1"/>
          <p:nvPr/>
        </p:nvSpPr>
        <p:spPr>
          <a:xfrm>
            <a:off x="5327904" y="2880360"/>
            <a:ext cx="1231392"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Lifecycle</a:t>
            </a:r>
            <a:endParaRPr lang="en-US" sz="1150" dirty="0"/>
          </a:p>
        </p:txBody>
      </p:sp>
      <p:sp>
        <p:nvSpPr>
          <p:cNvPr id="46" name="Text 38"/>
          <p:cNvSpPr txBox="1"/>
          <p:nvPr/>
        </p:nvSpPr>
        <p:spPr>
          <a:xfrm>
            <a:off x="4888992" y="3264408"/>
            <a:ext cx="1652016" cy="704088"/>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Refresh every 3–5 years. Fund the replacement at purchase, not in year four.</a:t>
            </a:r>
            <a:endParaRPr lang="en-US" sz="950" dirty="0"/>
          </a:p>
        </p:txBody>
      </p:sp>
      <p:sp>
        <p:nvSpPr>
          <p:cNvPr id="47" name="Shape 39"/>
          <p:cNvSpPr/>
          <p:nvPr/>
        </p:nvSpPr>
        <p:spPr>
          <a:xfrm>
            <a:off x="6778752" y="2752344"/>
            <a:ext cx="1908048" cy="1271016"/>
          </a:xfrm>
          <a:prstGeom prst="roundRect">
            <a:avLst>
              <a:gd name="adj" fmla="val 5755"/>
            </a:avLst>
          </a:prstGeom>
          <a:solidFill>
            <a:srgbClr val="E8F5EF"/>
          </a:solidFill>
          <a:ln w="15875">
            <a:solidFill>
              <a:srgbClr val="00A86A"/>
            </a:solidFill>
            <a:prstDash val="solid"/>
          </a:ln>
        </p:spPr>
      </p:sp>
      <p:sp>
        <p:nvSpPr>
          <p:cNvPr id="48" name="Shape 40"/>
          <p:cNvSpPr/>
          <p:nvPr/>
        </p:nvSpPr>
        <p:spPr>
          <a:xfrm>
            <a:off x="6906768" y="2880360"/>
            <a:ext cx="329184" cy="329184"/>
          </a:xfrm>
          <a:prstGeom prst="ellipse">
            <a:avLst/>
          </a:prstGeom>
          <a:solidFill>
            <a:srgbClr val="00A86A">
              <a:alpha val="22000"/>
            </a:srgbClr>
          </a:solidFill>
          <a:ln/>
        </p:spPr>
      </p:sp>
      <p:pic>
        <p:nvPicPr>
          <p:cNvPr id="49" name="Image 5" descr="preencoded.png"/>
          <p:cNvPicPr>
            <a:picLocks noChangeAspect="1"/>
          </p:cNvPicPr>
          <p:nvPr/>
        </p:nvPicPr>
        <p:blipFill>
          <a:blip r:embed="rId8"/>
          <a:stretch>
            <a:fillRect/>
          </a:stretch>
        </p:blipFill>
        <p:spPr>
          <a:xfrm>
            <a:off x="6985772" y="2959364"/>
            <a:ext cx="171176" cy="171176"/>
          </a:xfrm>
          <a:prstGeom prst="rect">
            <a:avLst/>
          </a:prstGeom>
        </p:spPr>
      </p:pic>
      <p:sp>
        <p:nvSpPr>
          <p:cNvPr id="50" name="Text 41"/>
          <p:cNvSpPr txBox="1"/>
          <p:nvPr/>
        </p:nvSpPr>
        <p:spPr>
          <a:xfrm>
            <a:off x="7345680" y="2880360"/>
            <a:ext cx="1231392"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People</a:t>
            </a:r>
            <a:endParaRPr lang="en-US" sz="1150" dirty="0"/>
          </a:p>
        </p:txBody>
      </p:sp>
      <p:sp>
        <p:nvSpPr>
          <p:cNvPr id="51" name="Text 42"/>
          <p:cNvSpPr txBox="1"/>
          <p:nvPr/>
        </p:nvSpPr>
        <p:spPr>
          <a:xfrm>
            <a:off x="6906768" y="3264408"/>
            <a:ext cx="1652016" cy="704088"/>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About 1.5–2 platform engineers for a small GPU estate, plus security and network time.</a:t>
            </a:r>
            <a:endParaRPr lang="en-US" sz="950" dirty="0"/>
          </a:p>
        </p:txBody>
      </p:sp>
      <p:sp>
        <p:nvSpPr>
          <p:cNvPr id="52" name="Shape 43"/>
          <p:cNvSpPr/>
          <p:nvPr/>
        </p:nvSpPr>
        <p:spPr>
          <a:xfrm>
            <a:off x="457200" y="4160520"/>
            <a:ext cx="8229600" cy="438912"/>
          </a:xfrm>
          <a:prstGeom prst="roundRect">
            <a:avLst>
              <a:gd name="adj" fmla="val 12500"/>
            </a:avLst>
          </a:prstGeom>
          <a:solidFill>
            <a:srgbClr val="D49A00">
              <a:alpha val="13000"/>
            </a:srgbClr>
          </a:solidFill>
          <a:ln w="12700">
            <a:solidFill>
              <a:srgbClr val="D49A00"/>
            </a:solidFill>
            <a:prstDash val="solid"/>
          </a:ln>
        </p:spPr>
      </p:sp>
      <p:sp>
        <p:nvSpPr>
          <p:cNvPr id="53" name="Shape 44"/>
          <p:cNvSpPr/>
          <p:nvPr/>
        </p:nvSpPr>
        <p:spPr>
          <a:xfrm>
            <a:off x="566928" y="4233672"/>
            <a:ext cx="292608" cy="292608"/>
          </a:xfrm>
          <a:prstGeom prst="ellipse">
            <a:avLst/>
          </a:prstGeom>
          <a:solidFill>
            <a:srgbClr val="D49A00">
              <a:alpha val="22000"/>
            </a:srgbClr>
          </a:solidFill>
          <a:ln/>
        </p:spPr>
      </p:sp>
      <p:pic>
        <p:nvPicPr>
          <p:cNvPr id="54" name="Image 6" descr="preencoded.png"/>
          <p:cNvPicPr>
            <a:picLocks noChangeAspect="1"/>
          </p:cNvPicPr>
          <p:nvPr/>
        </p:nvPicPr>
        <p:blipFill>
          <a:blip r:embed="rId9"/>
          <a:stretch>
            <a:fillRect/>
          </a:stretch>
        </p:blipFill>
        <p:spPr>
          <a:xfrm>
            <a:off x="637154" y="4303898"/>
            <a:ext cx="152156" cy="152156"/>
          </a:xfrm>
          <a:prstGeom prst="rect">
            <a:avLst/>
          </a:prstGeom>
        </p:spPr>
      </p:pic>
      <p:sp>
        <p:nvSpPr>
          <p:cNvPr id="55" name="Text 45"/>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00" b="1" dirty="0">
                <a:solidFill>
                  <a:srgbClr val="8A6400"/>
                </a:solidFill>
                <a:latin typeface="Calibri" pitchFamily="34" charset="0"/>
                <a:ea typeface="Calibri" pitchFamily="34" charset="-122"/>
                <a:cs typeface="Calibri" pitchFamily="34" charset="-120"/>
              </a:rPr>
              <a:t>The procurement clock:  </a:t>
            </a:r>
            <a:r>
              <a:rPr lang="en-US" sz="1000" dirty="0">
                <a:solidFill>
                  <a:srgbClr val="231F20"/>
                </a:solidFill>
                <a:latin typeface="Calibri" pitchFamily="34" charset="0"/>
                <a:ea typeface="Calibri" pitchFamily="34" charset="-122"/>
                <a:cs typeface="Calibri" pitchFamily="34" charset="-120"/>
              </a:rPr>
              <a:t>specification, tender, award, delivery, installation and acceptance often take 6–18 months. Start procurement in parallel with the pilot, not after it.</a:t>
            </a:r>
            <a:endParaRPr lang="en-US" sz="10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PUBLIC CLOUD</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Public cloud: the traps nobody budgets for</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Not reasons to avoid cloud — reasons to write them into the business case on day one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8" name="Shape 15"/>
          <p:cNvSpPr/>
          <p:nvPr/>
        </p:nvSpPr>
        <p:spPr>
          <a:xfrm>
            <a:off x="457200" y="1371600"/>
            <a:ext cx="1975104" cy="1271016"/>
          </a:xfrm>
          <a:prstGeom prst="roundRect">
            <a:avLst>
              <a:gd name="adj" fmla="val 5755"/>
            </a:avLst>
          </a:prstGeom>
          <a:solidFill>
            <a:srgbClr val="F4F7F5"/>
          </a:solidFill>
          <a:ln w="9525">
            <a:solidFill>
              <a:srgbClr val="D5DED9"/>
            </a:solidFill>
            <a:prstDash val="solid"/>
          </a:ln>
        </p:spPr>
      </p:sp>
      <p:sp>
        <p:nvSpPr>
          <p:cNvPr id="19" name="Shape 16"/>
          <p:cNvSpPr/>
          <p:nvPr/>
        </p:nvSpPr>
        <p:spPr>
          <a:xfrm>
            <a:off x="585216" y="1499616"/>
            <a:ext cx="310896" cy="310896"/>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59831" y="1574231"/>
            <a:ext cx="161666" cy="161666"/>
          </a:xfrm>
          <a:prstGeom prst="rect">
            <a:avLst/>
          </a:prstGeom>
        </p:spPr>
      </p:pic>
      <p:sp>
        <p:nvSpPr>
          <p:cNvPr id="21" name="Text 17"/>
          <p:cNvSpPr txBox="1"/>
          <p:nvPr/>
        </p:nvSpPr>
        <p:spPr>
          <a:xfrm>
            <a:off x="1005840" y="1499616"/>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Egress charges</a:t>
            </a:r>
            <a:endParaRPr lang="en-US" sz="1100" dirty="0"/>
          </a:p>
        </p:txBody>
      </p:sp>
      <p:sp>
        <p:nvSpPr>
          <p:cNvPr id="22" name="Text 18"/>
          <p:cNvSpPr txBox="1"/>
          <p:nvPr/>
        </p:nvSpPr>
        <p:spPr>
          <a:xfrm>
            <a:off x="585216" y="1865376"/>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Moving microdata out of the cloud repeatedly creates a recurring, uncapped charge.</a:t>
            </a:r>
            <a:endParaRPr lang="en-US" sz="950" dirty="0"/>
          </a:p>
        </p:txBody>
      </p:sp>
      <p:sp>
        <p:nvSpPr>
          <p:cNvPr id="23" name="Shape 19"/>
          <p:cNvSpPr/>
          <p:nvPr/>
        </p:nvSpPr>
        <p:spPr>
          <a:xfrm>
            <a:off x="2542032" y="1371600"/>
            <a:ext cx="1975104" cy="1271016"/>
          </a:xfrm>
          <a:prstGeom prst="roundRect">
            <a:avLst>
              <a:gd name="adj" fmla="val 5755"/>
            </a:avLst>
          </a:prstGeom>
          <a:solidFill>
            <a:srgbClr val="F4F7F5"/>
          </a:solidFill>
          <a:ln w="9525">
            <a:solidFill>
              <a:srgbClr val="D5DED9"/>
            </a:solidFill>
            <a:prstDash val="solid"/>
          </a:ln>
        </p:spPr>
      </p:sp>
      <p:sp>
        <p:nvSpPr>
          <p:cNvPr id="24" name="Shape 20"/>
          <p:cNvSpPr/>
          <p:nvPr/>
        </p:nvSpPr>
        <p:spPr>
          <a:xfrm>
            <a:off x="2670048" y="1499616"/>
            <a:ext cx="310896" cy="310896"/>
          </a:xfrm>
          <a:prstGeom prst="ellipse">
            <a:avLst/>
          </a:prstGeom>
          <a:solidFill>
            <a:srgbClr val="00A86A">
              <a:alpha val="22000"/>
            </a:srgbClr>
          </a:solidFill>
          <a:ln/>
        </p:spPr>
      </p:sp>
      <p:pic>
        <p:nvPicPr>
          <p:cNvPr id="25" name="Image 1" descr="preencoded.png"/>
          <p:cNvPicPr>
            <a:picLocks noChangeAspect="1"/>
          </p:cNvPicPr>
          <p:nvPr/>
        </p:nvPicPr>
        <p:blipFill>
          <a:blip r:embed="rId4"/>
          <a:stretch>
            <a:fillRect/>
          </a:stretch>
        </p:blipFill>
        <p:spPr>
          <a:xfrm>
            <a:off x="2744663" y="1574231"/>
            <a:ext cx="161666" cy="161666"/>
          </a:xfrm>
          <a:prstGeom prst="rect">
            <a:avLst/>
          </a:prstGeom>
        </p:spPr>
      </p:pic>
      <p:sp>
        <p:nvSpPr>
          <p:cNvPr id="26" name="Text 21"/>
          <p:cNvSpPr txBox="1"/>
          <p:nvPr/>
        </p:nvSpPr>
        <p:spPr>
          <a:xfrm>
            <a:off x="3090672" y="1499616"/>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Idle resources</a:t>
            </a:r>
            <a:endParaRPr lang="en-US" sz="1100" dirty="0"/>
          </a:p>
        </p:txBody>
      </p:sp>
      <p:sp>
        <p:nvSpPr>
          <p:cNvPr id="27" name="Text 22"/>
          <p:cNvSpPr txBox="1"/>
          <p:nvPr/>
        </p:nvSpPr>
        <p:spPr>
          <a:xfrm>
            <a:off x="2670048" y="1865376"/>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GPU instances left on overnight and at weekends are the top source of overspend.</a:t>
            </a:r>
            <a:endParaRPr lang="en-US" sz="950" dirty="0"/>
          </a:p>
        </p:txBody>
      </p:sp>
      <p:sp>
        <p:nvSpPr>
          <p:cNvPr id="28" name="Shape 23"/>
          <p:cNvSpPr/>
          <p:nvPr/>
        </p:nvSpPr>
        <p:spPr>
          <a:xfrm>
            <a:off x="4626864" y="1371600"/>
            <a:ext cx="1975104" cy="1271016"/>
          </a:xfrm>
          <a:prstGeom prst="roundRect">
            <a:avLst>
              <a:gd name="adj" fmla="val 5755"/>
            </a:avLst>
          </a:prstGeom>
          <a:solidFill>
            <a:srgbClr val="F4F7F5"/>
          </a:solidFill>
          <a:ln w="9525">
            <a:solidFill>
              <a:srgbClr val="D5DED9"/>
            </a:solidFill>
            <a:prstDash val="solid"/>
          </a:ln>
        </p:spPr>
      </p:sp>
      <p:sp>
        <p:nvSpPr>
          <p:cNvPr id="29" name="Shape 24"/>
          <p:cNvSpPr/>
          <p:nvPr/>
        </p:nvSpPr>
        <p:spPr>
          <a:xfrm>
            <a:off x="4754880" y="1499616"/>
            <a:ext cx="310896" cy="310896"/>
          </a:xfrm>
          <a:prstGeom prst="ellipse">
            <a:avLst/>
          </a:prstGeom>
          <a:solidFill>
            <a:srgbClr val="00A86A">
              <a:alpha val="22000"/>
            </a:srgbClr>
          </a:solidFill>
          <a:ln/>
        </p:spPr>
      </p:sp>
      <p:pic>
        <p:nvPicPr>
          <p:cNvPr id="30" name="Image 2" descr="preencoded.png"/>
          <p:cNvPicPr>
            <a:picLocks noChangeAspect="1"/>
          </p:cNvPicPr>
          <p:nvPr/>
        </p:nvPicPr>
        <p:blipFill>
          <a:blip r:embed="rId5"/>
          <a:stretch>
            <a:fillRect/>
          </a:stretch>
        </p:blipFill>
        <p:spPr>
          <a:xfrm>
            <a:off x="4829495" y="1574231"/>
            <a:ext cx="161666" cy="161666"/>
          </a:xfrm>
          <a:prstGeom prst="rect">
            <a:avLst/>
          </a:prstGeom>
        </p:spPr>
      </p:pic>
      <p:sp>
        <p:nvSpPr>
          <p:cNvPr id="31" name="Text 25"/>
          <p:cNvSpPr txBox="1"/>
          <p:nvPr/>
        </p:nvSpPr>
        <p:spPr>
          <a:xfrm>
            <a:off x="5175504" y="1499616"/>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Capacity &amp; quota</a:t>
            </a:r>
            <a:endParaRPr lang="en-US" sz="1100" dirty="0"/>
          </a:p>
        </p:txBody>
      </p:sp>
      <p:sp>
        <p:nvSpPr>
          <p:cNvPr id="32" name="Text 26"/>
          <p:cNvSpPr txBox="1"/>
          <p:nvPr/>
        </p:nvSpPr>
        <p:spPr>
          <a:xfrm>
            <a:off x="4754880" y="1865376"/>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The GPU type you designed for may be unavailable in your region when you need it.</a:t>
            </a:r>
            <a:endParaRPr lang="en-US" sz="950" dirty="0"/>
          </a:p>
        </p:txBody>
      </p:sp>
      <p:sp>
        <p:nvSpPr>
          <p:cNvPr id="33" name="Shape 27"/>
          <p:cNvSpPr/>
          <p:nvPr/>
        </p:nvSpPr>
        <p:spPr>
          <a:xfrm>
            <a:off x="6711696" y="1371600"/>
            <a:ext cx="1975104" cy="1271016"/>
          </a:xfrm>
          <a:prstGeom prst="roundRect">
            <a:avLst>
              <a:gd name="adj" fmla="val 5755"/>
            </a:avLst>
          </a:prstGeom>
          <a:solidFill>
            <a:srgbClr val="F4F7F5"/>
          </a:solidFill>
          <a:ln w="9525">
            <a:solidFill>
              <a:srgbClr val="D5DED9"/>
            </a:solidFill>
            <a:prstDash val="solid"/>
          </a:ln>
        </p:spPr>
      </p:sp>
      <p:sp>
        <p:nvSpPr>
          <p:cNvPr id="34" name="Shape 28"/>
          <p:cNvSpPr/>
          <p:nvPr/>
        </p:nvSpPr>
        <p:spPr>
          <a:xfrm>
            <a:off x="6839712" y="1499616"/>
            <a:ext cx="310896" cy="310896"/>
          </a:xfrm>
          <a:prstGeom prst="ellipse">
            <a:avLst/>
          </a:prstGeom>
          <a:solidFill>
            <a:srgbClr val="B83B2E">
              <a:alpha val="22000"/>
            </a:srgbClr>
          </a:solidFill>
          <a:ln/>
        </p:spPr>
      </p:sp>
      <p:pic>
        <p:nvPicPr>
          <p:cNvPr id="35" name="Image 3" descr="preencoded.png"/>
          <p:cNvPicPr>
            <a:picLocks noChangeAspect="1"/>
          </p:cNvPicPr>
          <p:nvPr/>
        </p:nvPicPr>
        <p:blipFill>
          <a:blip r:embed="rId6"/>
          <a:stretch>
            <a:fillRect/>
          </a:stretch>
        </p:blipFill>
        <p:spPr>
          <a:xfrm>
            <a:off x="6914327" y="1574231"/>
            <a:ext cx="161666" cy="161666"/>
          </a:xfrm>
          <a:prstGeom prst="rect">
            <a:avLst/>
          </a:prstGeom>
        </p:spPr>
      </p:pic>
      <p:sp>
        <p:nvSpPr>
          <p:cNvPr id="36" name="Text 29"/>
          <p:cNvSpPr txBox="1"/>
          <p:nvPr/>
        </p:nvSpPr>
        <p:spPr>
          <a:xfrm>
            <a:off x="7260336" y="1499616"/>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Residency ≠ immunity</a:t>
            </a:r>
            <a:endParaRPr lang="en-US" sz="1100" dirty="0"/>
          </a:p>
        </p:txBody>
      </p:sp>
      <p:sp>
        <p:nvSpPr>
          <p:cNvPr id="37" name="Text 30"/>
          <p:cNvSpPr txBox="1"/>
          <p:nvPr/>
        </p:nvSpPr>
        <p:spPr>
          <a:xfrm>
            <a:off x="6839712" y="1865376"/>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Data stored in-country may still be reachable by foreign legal process against the provider.</a:t>
            </a:r>
            <a:endParaRPr lang="en-US" sz="950" dirty="0"/>
          </a:p>
        </p:txBody>
      </p:sp>
      <p:sp>
        <p:nvSpPr>
          <p:cNvPr id="38" name="Shape 31"/>
          <p:cNvSpPr/>
          <p:nvPr/>
        </p:nvSpPr>
        <p:spPr>
          <a:xfrm>
            <a:off x="457200" y="2752344"/>
            <a:ext cx="1975104" cy="1271016"/>
          </a:xfrm>
          <a:prstGeom prst="roundRect">
            <a:avLst>
              <a:gd name="adj" fmla="val 5755"/>
            </a:avLst>
          </a:prstGeom>
          <a:solidFill>
            <a:srgbClr val="F4F7F5"/>
          </a:solidFill>
          <a:ln w="9525">
            <a:solidFill>
              <a:srgbClr val="D5DED9"/>
            </a:solidFill>
            <a:prstDash val="solid"/>
          </a:ln>
        </p:spPr>
      </p:sp>
      <p:sp>
        <p:nvSpPr>
          <p:cNvPr id="39" name="Shape 32"/>
          <p:cNvSpPr/>
          <p:nvPr/>
        </p:nvSpPr>
        <p:spPr>
          <a:xfrm>
            <a:off x="585216" y="2880360"/>
            <a:ext cx="310896" cy="310896"/>
          </a:xfrm>
          <a:prstGeom prst="ellipse">
            <a:avLst/>
          </a:prstGeom>
          <a:solidFill>
            <a:srgbClr val="00A86A">
              <a:alpha val="22000"/>
            </a:srgbClr>
          </a:solidFill>
          <a:ln/>
        </p:spPr>
      </p:sp>
      <p:pic>
        <p:nvPicPr>
          <p:cNvPr id="40" name="Image 4" descr="preencoded.png"/>
          <p:cNvPicPr>
            <a:picLocks noChangeAspect="1"/>
          </p:cNvPicPr>
          <p:nvPr/>
        </p:nvPicPr>
        <p:blipFill>
          <a:blip r:embed="rId7"/>
          <a:stretch>
            <a:fillRect/>
          </a:stretch>
        </p:blipFill>
        <p:spPr>
          <a:xfrm>
            <a:off x="659831" y="2954975"/>
            <a:ext cx="161666" cy="161666"/>
          </a:xfrm>
          <a:prstGeom prst="rect">
            <a:avLst/>
          </a:prstGeom>
        </p:spPr>
      </p:pic>
      <p:sp>
        <p:nvSpPr>
          <p:cNvPr id="41" name="Text 33"/>
          <p:cNvSpPr txBox="1"/>
          <p:nvPr/>
        </p:nvSpPr>
        <p:spPr>
          <a:xfrm>
            <a:off x="1005840" y="2880360"/>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Model retirement</a:t>
            </a:r>
            <a:endParaRPr lang="en-US" sz="1100" dirty="0"/>
          </a:p>
        </p:txBody>
      </p:sp>
      <p:sp>
        <p:nvSpPr>
          <p:cNvPr id="42" name="Text 34"/>
          <p:cNvSpPr txBox="1"/>
          <p:nvPr/>
        </p:nvSpPr>
        <p:spPr>
          <a:xfrm>
            <a:off x="585216" y="3246120"/>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Vendors retire model versions on their schedule, breaking your reproducibility chain.</a:t>
            </a:r>
            <a:endParaRPr lang="en-US" sz="950" dirty="0"/>
          </a:p>
        </p:txBody>
      </p:sp>
      <p:sp>
        <p:nvSpPr>
          <p:cNvPr id="43" name="Shape 35"/>
          <p:cNvSpPr/>
          <p:nvPr/>
        </p:nvSpPr>
        <p:spPr>
          <a:xfrm>
            <a:off x="2542032" y="2752344"/>
            <a:ext cx="1975104" cy="1271016"/>
          </a:xfrm>
          <a:prstGeom prst="roundRect">
            <a:avLst>
              <a:gd name="adj" fmla="val 5755"/>
            </a:avLst>
          </a:prstGeom>
          <a:solidFill>
            <a:srgbClr val="F4F7F5"/>
          </a:solidFill>
          <a:ln w="9525">
            <a:solidFill>
              <a:srgbClr val="D5DED9"/>
            </a:solidFill>
            <a:prstDash val="solid"/>
          </a:ln>
        </p:spPr>
      </p:sp>
      <p:sp>
        <p:nvSpPr>
          <p:cNvPr id="44" name="Shape 36"/>
          <p:cNvSpPr/>
          <p:nvPr/>
        </p:nvSpPr>
        <p:spPr>
          <a:xfrm>
            <a:off x="2670048" y="2880360"/>
            <a:ext cx="310896" cy="310896"/>
          </a:xfrm>
          <a:prstGeom prst="ellipse">
            <a:avLst/>
          </a:prstGeom>
          <a:solidFill>
            <a:srgbClr val="00A86A">
              <a:alpha val="22000"/>
            </a:srgbClr>
          </a:solidFill>
          <a:ln/>
        </p:spPr>
      </p:sp>
      <p:pic>
        <p:nvPicPr>
          <p:cNvPr id="45" name="Image 5" descr="preencoded.png"/>
          <p:cNvPicPr>
            <a:picLocks noChangeAspect="1"/>
          </p:cNvPicPr>
          <p:nvPr/>
        </p:nvPicPr>
        <p:blipFill>
          <a:blip r:embed="rId8"/>
          <a:stretch>
            <a:fillRect/>
          </a:stretch>
        </p:blipFill>
        <p:spPr>
          <a:xfrm>
            <a:off x="2744663" y="2954975"/>
            <a:ext cx="161666" cy="161666"/>
          </a:xfrm>
          <a:prstGeom prst="rect">
            <a:avLst/>
          </a:prstGeom>
        </p:spPr>
      </p:pic>
      <p:sp>
        <p:nvSpPr>
          <p:cNvPr id="46" name="Text 37"/>
          <p:cNvSpPr txBox="1"/>
          <p:nvPr/>
        </p:nvSpPr>
        <p:spPr>
          <a:xfrm>
            <a:off x="3090672" y="2880360"/>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Convenience lock-in</a:t>
            </a:r>
            <a:endParaRPr lang="en-US" sz="1100" dirty="0"/>
          </a:p>
        </p:txBody>
      </p:sp>
      <p:sp>
        <p:nvSpPr>
          <p:cNvPr id="47" name="Text 38"/>
          <p:cNvSpPr txBox="1"/>
          <p:nvPr/>
        </p:nvSpPr>
        <p:spPr>
          <a:xfrm>
            <a:off x="2670048" y="3246120"/>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Proprietary tooling is the fastest way in and the slowest way out. Prefer open formats.</a:t>
            </a:r>
            <a:endParaRPr lang="en-US" sz="950" dirty="0"/>
          </a:p>
        </p:txBody>
      </p:sp>
      <p:sp>
        <p:nvSpPr>
          <p:cNvPr id="48" name="Shape 39"/>
          <p:cNvSpPr/>
          <p:nvPr/>
        </p:nvSpPr>
        <p:spPr>
          <a:xfrm>
            <a:off x="4626864" y="2752344"/>
            <a:ext cx="1975104" cy="1271016"/>
          </a:xfrm>
          <a:prstGeom prst="roundRect">
            <a:avLst>
              <a:gd name="adj" fmla="val 5755"/>
            </a:avLst>
          </a:prstGeom>
          <a:solidFill>
            <a:srgbClr val="F4F7F5"/>
          </a:solidFill>
          <a:ln w="9525">
            <a:solidFill>
              <a:srgbClr val="D5DED9"/>
            </a:solidFill>
            <a:prstDash val="solid"/>
          </a:ln>
        </p:spPr>
      </p:sp>
      <p:sp>
        <p:nvSpPr>
          <p:cNvPr id="49" name="Shape 40"/>
          <p:cNvSpPr/>
          <p:nvPr/>
        </p:nvSpPr>
        <p:spPr>
          <a:xfrm>
            <a:off x="4754880" y="2880360"/>
            <a:ext cx="310896" cy="310896"/>
          </a:xfrm>
          <a:prstGeom prst="ellipse">
            <a:avLst/>
          </a:prstGeom>
          <a:solidFill>
            <a:srgbClr val="B83B2E">
              <a:alpha val="22000"/>
            </a:srgbClr>
          </a:solidFill>
          <a:ln/>
        </p:spPr>
      </p:sp>
      <p:pic>
        <p:nvPicPr>
          <p:cNvPr id="50" name="Image 6" descr="preencoded.png"/>
          <p:cNvPicPr>
            <a:picLocks noChangeAspect="1"/>
          </p:cNvPicPr>
          <p:nvPr/>
        </p:nvPicPr>
        <p:blipFill>
          <a:blip r:embed="rId9"/>
          <a:stretch>
            <a:fillRect/>
          </a:stretch>
        </p:blipFill>
        <p:spPr>
          <a:xfrm>
            <a:off x="4829495" y="2954975"/>
            <a:ext cx="161666" cy="161666"/>
          </a:xfrm>
          <a:prstGeom prst="rect">
            <a:avLst/>
          </a:prstGeom>
        </p:spPr>
      </p:pic>
      <p:sp>
        <p:nvSpPr>
          <p:cNvPr id="51" name="Text 41"/>
          <p:cNvSpPr txBox="1"/>
          <p:nvPr/>
        </p:nvSpPr>
        <p:spPr>
          <a:xfrm>
            <a:off x="5175504" y="2880360"/>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Data-use terms</a:t>
            </a:r>
            <a:endParaRPr lang="en-US" sz="1100" dirty="0"/>
          </a:p>
        </p:txBody>
      </p:sp>
      <p:sp>
        <p:nvSpPr>
          <p:cNvPr id="52" name="Text 42"/>
          <p:cNvSpPr txBox="1"/>
          <p:nvPr/>
        </p:nvSpPr>
        <p:spPr>
          <a:xfrm>
            <a:off x="4754880" y="3246120"/>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Get "no training on our data", log retention and sub-processor lists in the contract.</a:t>
            </a:r>
            <a:endParaRPr lang="en-US" sz="950" dirty="0"/>
          </a:p>
        </p:txBody>
      </p:sp>
      <p:sp>
        <p:nvSpPr>
          <p:cNvPr id="53" name="Shape 43"/>
          <p:cNvSpPr/>
          <p:nvPr/>
        </p:nvSpPr>
        <p:spPr>
          <a:xfrm>
            <a:off x="6711696" y="2752344"/>
            <a:ext cx="1975104" cy="1271016"/>
          </a:xfrm>
          <a:prstGeom prst="roundRect">
            <a:avLst>
              <a:gd name="adj" fmla="val 5755"/>
            </a:avLst>
          </a:prstGeom>
          <a:solidFill>
            <a:srgbClr val="F4F7F5"/>
          </a:solidFill>
          <a:ln w="9525">
            <a:solidFill>
              <a:srgbClr val="D5DED9"/>
            </a:solidFill>
            <a:prstDash val="solid"/>
          </a:ln>
        </p:spPr>
      </p:sp>
      <p:sp>
        <p:nvSpPr>
          <p:cNvPr id="54" name="Shape 44"/>
          <p:cNvSpPr/>
          <p:nvPr/>
        </p:nvSpPr>
        <p:spPr>
          <a:xfrm>
            <a:off x="6839712" y="2880360"/>
            <a:ext cx="310896" cy="310896"/>
          </a:xfrm>
          <a:prstGeom prst="ellipse">
            <a:avLst/>
          </a:prstGeom>
          <a:solidFill>
            <a:srgbClr val="D49A00">
              <a:alpha val="22000"/>
            </a:srgbClr>
          </a:solidFill>
          <a:ln/>
        </p:spPr>
      </p:sp>
      <p:pic>
        <p:nvPicPr>
          <p:cNvPr id="55" name="Image 7" descr="preencoded.png"/>
          <p:cNvPicPr>
            <a:picLocks noChangeAspect="1"/>
          </p:cNvPicPr>
          <p:nvPr/>
        </p:nvPicPr>
        <p:blipFill>
          <a:blip r:embed="rId10"/>
          <a:stretch>
            <a:fillRect/>
          </a:stretch>
        </p:blipFill>
        <p:spPr>
          <a:xfrm>
            <a:off x="6914327" y="2954975"/>
            <a:ext cx="161666" cy="161666"/>
          </a:xfrm>
          <a:prstGeom prst="rect">
            <a:avLst/>
          </a:prstGeom>
        </p:spPr>
      </p:pic>
      <p:sp>
        <p:nvSpPr>
          <p:cNvPr id="56" name="Text 45"/>
          <p:cNvSpPr txBox="1"/>
          <p:nvPr/>
        </p:nvSpPr>
        <p:spPr>
          <a:xfrm>
            <a:off x="7260336" y="2880360"/>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Currency risk</a:t>
            </a:r>
            <a:endParaRPr lang="en-US" sz="1100" dirty="0"/>
          </a:p>
        </p:txBody>
      </p:sp>
      <p:sp>
        <p:nvSpPr>
          <p:cNvPr id="57" name="Text 46"/>
          <p:cNvSpPr txBox="1"/>
          <p:nvPr/>
        </p:nvSpPr>
        <p:spPr>
          <a:xfrm>
            <a:off x="6839712" y="3246120"/>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Bills priced in US dollars rise when the local currency weakens during the budget year.</a:t>
            </a:r>
            <a:endParaRPr lang="en-US" sz="950" dirty="0"/>
          </a:p>
        </p:txBody>
      </p:sp>
      <p:sp>
        <p:nvSpPr>
          <p:cNvPr id="58" name="Shape 47"/>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59" name="Shape 48"/>
          <p:cNvSpPr/>
          <p:nvPr/>
        </p:nvSpPr>
        <p:spPr>
          <a:xfrm>
            <a:off x="566928" y="4215384"/>
            <a:ext cx="292608" cy="292608"/>
          </a:xfrm>
          <a:prstGeom prst="ellipse">
            <a:avLst/>
          </a:prstGeom>
          <a:solidFill>
            <a:srgbClr val="00A86A">
              <a:alpha val="22000"/>
            </a:srgbClr>
          </a:solidFill>
          <a:ln/>
        </p:spPr>
      </p:sp>
      <p:pic>
        <p:nvPicPr>
          <p:cNvPr id="60" name="Image 8" descr="preencoded.png"/>
          <p:cNvPicPr>
            <a:picLocks noChangeAspect="1"/>
          </p:cNvPicPr>
          <p:nvPr/>
        </p:nvPicPr>
        <p:blipFill>
          <a:blip r:embed="rId11"/>
          <a:stretch>
            <a:fillRect/>
          </a:stretch>
        </p:blipFill>
        <p:spPr>
          <a:xfrm>
            <a:off x="637154" y="4285610"/>
            <a:ext cx="152156" cy="152156"/>
          </a:xfrm>
          <a:prstGeom prst="rect">
            <a:avLst/>
          </a:prstGeom>
        </p:spPr>
      </p:pic>
      <p:sp>
        <p:nvSpPr>
          <p:cNvPr id="61" name="Text 49"/>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Get written answers on legal access and data use before the pilot, not before renewal. A lawyer is cheaper than a confidentiality incident.</a:t>
            </a:r>
            <a:endParaRPr lang="en-US" sz="10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THE AFRICAN CONTEXT</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Hosting options for African statistical offices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In-country capacity is growing but concentrated — choose deliberately and ask the right questions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8" name="Shape 15"/>
          <p:cNvSpPr/>
          <p:nvPr/>
        </p:nvSpPr>
        <p:spPr>
          <a:xfrm>
            <a:off x="457200" y="1371600"/>
            <a:ext cx="4663440" cy="603504"/>
          </a:xfrm>
          <a:prstGeom prst="roundRect">
            <a:avLst>
              <a:gd name="adj" fmla="val 12121"/>
            </a:avLst>
          </a:prstGeom>
          <a:solidFill>
            <a:srgbClr val="F4F7F5"/>
          </a:solidFill>
          <a:ln w="9525">
            <a:solidFill>
              <a:srgbClr val="D5DED9"/>
            </a:solidFill>
            <a:prstDash val="solid"/>
          </a:ln>
        </p:spPr>
      </p:sp>
      <p:sp>
        <p:nvSpPr>
          <p:cNvPr id="19" name="Shape 16"/>
          <p:cNvSpPr/>
          <p:nvPr/>
        </p:nvSpPr>
        <p:spPr>
          <a:xfrm>
            <a:off x="566928" y="1481328"/>
            <a:ext cx="384048" cy="384048"/>
          </a:xfrm>
          <a:prstGeom prst="ellipse">
            <a:avLst/>
          </a:prstGeom>
          <a:solidFill>
            <a:srgbClr val="00553A">
              <a:alpha val="22000"/>
            </a:srgbClr>
          </a:solidFill>
          <a:ln/>
        </p:spPr>
      </p:sp>
      <p:pic>
        <p:nvPicPr>
          <p:cNvPr id="20" name="Image 0" descr="preencoded.png"/>
          <p:cNvPicPr>
            <a:picLocks noChangeAspect="1"/>
          </p:cNvPicPr>
          <p:nvPr/>
        </p:nvPicPr>
        <p:blipFill>
          <a:blip r:embed="rId3"/>
          <a:stretch>
            <a:fillRect/>
          </a:stretch>
        </p:blipFill>
        <p:spPr>
          <a:xfrm>
            <a:off x="659100" y="1573500"/>
            <a:ext cx="199705" cy="199705"/>
          </a:xfrm>
          <a:prstGeom prst="rect">
            <a:avLst/>
          </a:prstGeom>
        </p:spPr>
      </p:pic>
      <p:sp>
        <p:nvSpPr>
          <p:cNvPr id="21" name="Text 17"/>
          <p:cNvSpPr txBox="1"/>
          <p:nvPr/>
        </p:nvSpPr>
        <p:spPr>
          <a:xfrm>
            <a:off x="1078992" y="1426464"/>
            <a:ext cx="3931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Own server room</a:t>
            </a:r>
            <a:endParaRPr lang="en-US" sz="1150" dirty="0"/>
          </a:p>
        </p:txBody>
      </p:sp>
      <p:sp>
        <p:nvSpPr>
          <p:cNvPr id="22" name="Text 18"/>
          <p:cNvSpPr txBox="1"/>
          <p:nvPr/>
        </p:nvSpPr>
        <p:spPr>
          <a:xfrm>
            <a:off x="1078992" y="1655064"/>
            <a:ext cx="3931920" cy="29260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Full control; limited by power, cooling and scarce platform staff.</a:t>
            </a:r>
            <a:endParaRPr lang="en-US" sz="950" dirty="0"/>
          </a:p>
        </p:txBody>
      </p:sp>
      <p:sp>
        <p:nvSpPr>
          <p:cNvPr id="23" name="Shape 19"/>
          <p:cNvSpPr/>
          <p:nvPr/>
        </p:nvSpPr>
        <p:spPr>
          <a:xfrm>
            <a:off x="457200" y="2066544"/>
            <a:ext cx="4663440" cy="603504"/>
          </a:xfrm>
          <a:prstGeom prst="roundRect">
            <a:avLst>
              <a:gd name="adj" fmla="val 12121"/>
            </a:avLst>
          </a:prstGeom>
          <a:solidFill>
            <a:srgbClr val="F4F7F5"/>
          </a:solidFill>
          <a:ln w="9525">
            <a:solidFill>
              <a:srgbClr val="D5DED9"/>
            </a:solidFill>
            <a:prstDash val="solid"/>
          </a:ln>
        </p:spPr>
      </p:sp>
      <p:sp>
        <p:nvSpPr>
          <p:cNvPr id="24" name="Shape 20"/>
          <p:cNvSpPr/>
          <p:nvPr/>
        </p:nvSpPr>
        <p:spPr>
          <a:xfrm>
            <a:off x="566928" y="2176272"/>
            <a:ext cx="384048" cy="384048"/>
          </a:xfrm>
          <a:prstGeom prst="ellipse">
            <a:avLst/>
          </a:prstGeom>
          <a:solidFill>
            <a:srgbClr val="00704A">
              <a:alpha val="22000"/>
            </a:srgbClr>
          </a:solidFill>
          <a:ln/>
        </p:spPr>
      </p:sp>
      <p:pic>
        <p:nvPicPr>
          <p:cNvPr id="25" name="Image 1" descr="preencoded.png"/>
          <p:cNvPicPr>
            <a:picLocks noChangeAspect="1"/>
          </p:cNvPicPr>
          <p:nvPr/>
        </p:nvPicPr>
        <p:blipFill>
          <a:blip r:embed="rId4"/>
          <a:stretch>
            <a:fillRect/>
          </a:stretch>
        </p:blipFill>
        <p:spPr>
          <a:xfrm>
            <a:off x="659100" y="2268444"/>
            <a:ext cx="199705" cy="199705"/>
          </a:xfrm>
          <a:prstGeom prst="rect">
            <a:avLst/>
          </a:prstGeom>
        </p:spPr>
      </p:pic>
      <p:sp>
        <p:nvSpPr>
          <p:cNvPr id="26" name="Text 21"/>
          <p:cNvSpPr txBox="1"/>
          <p:nvPr/>
        </p:nvSpPr>
        <p:spPr>
          <a:xfrm>
            <a:off x="1078992" y="2121408"/>
            <a:ext cx="3931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National government data centre</a:t>
            </a:r>
            <a:endParaRPr lang="en-US" sz="1150" dirty="0"/>
          </a:p>
        </p:txBody>
      </p:sp>
      <p:sp>
        <p:nvSpPr>
          <p:cNvPr id="27" name="Text 22"/>
          <p:cNvSpPr txBox="1"/>
          <p:nvPr/>
        </p:nvSpPr>
        <p:spPr>
          <a:xfrm>
            <a:off x="1078992" y="2350008"/>
            <a:ext cx="3931920" cy="29260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Public-sector terms and shared operations; check capacity and GPU availability.</a:t>
            </a:r>
            <a:endParaRPr lang="en-US" sz="950" dirty="0"/>
          </a:p>
        </p:txBody>
      </p:sp>
      <p:sp>
        <p:nvSpPr>
          <p:cNvPr id="28" name="Shape 23"/>
          <p:cNvSpPr/>
          <p:nvPr/>
        </p:nvSpPr>
        <p:spPr>
          <a:xfrm>
            <a:off x="457200" y="2761488"/>
            <a:ext cx="4663440" cy="603504"/>
          </a:xfrm>
          <a:prstGeom prst="roundRect">
            <a:avLst>
              <a:gd name="adj" fmla="val 12121"/>
            </a:avLst>
          </a:prstGeom>
          <a:solidFill>
            <a:srgbClr val="F4F7F5"/>
          </a:solidFill>
          <a:ln w="9525">
            <a:solidFill>
              <a:srgbClr val="D5DED9"/>
            </a:solidFill>
            <a:prstDash val="solid"/>
          </a:ln>
        </p:spPr>
      </p:sp>
      <p:sp>
        <p:nvSpPr>
          <p:cNvPr id="29" name="Shape 24"/>
          <p:cNvSpPr/>
          <p:nvPr/>
        </p:nvSpPr>
        <p:spPr>
          <a:xfrm>
            <a:off x="566928" y="2871216"/>
            <a:ext cx="384048" cy="384048"/>
          </a:xfrm>
          <a:prstGeom prst="ellipse">
            <a:avLst/>
          </a:prstGeom>
          <a:solidFill>
            <a:srgbClr val="0E7C86">
              <a:alpha val="22000"/>
            </a:srgbClr>
          </a:solidFill>
          <a:ln/>
        </p:spPr>
      </p:sp>
      <p:pic>
        <p:nvPicPr>
          <p:cNvPr id="30" name="Image 2" descr="preencoded.png"/>
          <p:cNvPicPr>
            <a:picLocks noChangeAspect="1"/>
          </p:cNvPicPr>
          <p:nvPr/>
        </p:nvPicPr>
        <p:blipFill>
          <a:blip r:embed="rId5"/>
          <a:stretch>
            <a:fillRect/>
          </a:stretch>
        </p:blipFill>
        <p:spPr>
          <a:xfrm>
            <a:off x="659100" y="2963388"/>
            <a:ext cx="199705" cy="199705"/>
          </a:xfrm>
          <a:prstGeom prst="rect">
            <a:avLst/>
          </a:prstGeom>
        </p:spPr>
      </p:pic>
      <p:sp>
        <p:nvSpPr>
          <p:cNvPr id="31" name="Text 25"/>
          <p:cNvSpPr txBox="1"/>
          <p:nvPr/>
        </p:nvSpPr>
        <p:spPr>
          <a:xfrm>
            <a:off x="1078992" y="2816352"/>
            <a:ext cx="3931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In-country commercial host</a:t>
            </a:r>
            <a:endParaRPr lang="en-US" sz="1150" dirty="0"/>
          </a:p>
        </p:txBody>
      </p:sp>
      <p:sp>
        <p:nvSpPr>
          <p:cNvPr id="32" name="Text 26"/>
          <p:cNvSpPr txBox="1"/>
          <p:nvPr/>
        </p:nvSpPr>
        <p:spPr>
          <a:xfrm>
            <a:off x="1078992" y="3044952"/>
            <a:ext cx="3931920" cy="29260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Colocation or local cloud; growing in major hubs, varies widely by country.</a:t>
            </a:r>
            <a:endParaRPr lang="en-US" sz="950" dirty="0"/>
          </a:p>
        </p:txBody>
      </p:sp>
      <p:sp>
        <p:nvSpPr>
          <p:cNvPr id="33" name="Shape 27"/>
          <p:cNvSpPr/>
          <p:nvPr/>
        </p:nvSpPr>
        <p:spPr>
          <a:xfrm>
            <a:off x="457200" y="3456432"/>
            <a:ext cx="4663440" cy="603504"/>
          </a:xfrm>
          <a:prstGeom prst="roundRect">
            <a:avLst>
              <a:gd name="adj" fmla="val 12121"/>
            </a:avLst>
          </a:prstGeom>
          <a:solidFill>
            <a:srgbClr val="F4F7F5"/>
          </a:solidFill>
          <a:ln w="9525">
            <a:solidFill>
              <a:srgbClr val="D5DED9"/>
            </a:solidFill>
            <a:prstDash val="solid"/>
          </a:ln>
        </p:spPr>
      </p:sp>
      <p:sp>
        <p:nvSpPr>
          <p:cNvPr id="34" name="Shape 28"/>
          <p:cNvSpPr/>
          <p:nvPr/>
        </p:nvSpPr>
        <p:spPr>
          <a:xfrm>
            <a:off x="566928" y="3566160"/>
            <a:ext cx="384048" cy="384048"/>
          </a:xfrm>
          <a:prstGeom prst="ellipse">
            <a:avLst/>
          </a:prstGeom>
          <a:solidFill>
            <a:srgbClr val="D49A00">
              <a:alpha val="22000"/>
            </a:srgbClr>
          </a:solidFill>
          <a:ln/>
        </p:spPr>
      </p:sp>
      <p:pic>
        <p:nvPicPr>
          <p:cNvPr id="35" name="Image 3" descr="preencoded.png"/>
          <p:cNvPicPr>
            <a:picLocks noChangeAspect="1"/>
          </p:cNvPicPr>
          <p:nvPr/>
        </p:nvPicPr>
        <p:blipFill>
          <a:blip r:embed="rId6"/>
          <a:stretch>
            <a:fillRect/>
          </a:stretch>
        </p:blipFill>
        <p:spPr>
          <a:xfrm>
            <a:off x="659100" y="3658332"/>
            <a:ext cx="199705" cy="199705"/>
          </a:xfrm>
          <a:prstGeom prst="rect">
            <a:avLst/>
          </a:prstGeom>
        </p:spPr>
      </p:pic>
      <p:sp>
        <p:nvSpPr>
          <p:cNvPr id="36" name="Text 29"/>
          <p:cNvSpPr txBox="1"/>
          <p:nvPr/>
        </p:nvSpPr>
        <p:spPr>
          <a:xfrm>
            <a:off x="1078992" y="3511296"/>
            <a:ext cx="3931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Hyperscaler region elsewhere</a:t>
            </a:r>
            <a:endParaRPr lang="en-US" sz="1150" dirty="0"/>
          </a:p>
        </p:txBody>
      </p:sp>
      <p:sp>
        <p:nvSpPr>
          <p:cNvPr id="37" name="Text 30"/>
          <p:cNvSpPr txBox="1"/>
          <p:nvPr/>
        </p:nvSpPr>
        <p:spPr>
          <a:xfrm>
            <a:off x="1078992" y="3739896"/>
            <a:ext cx="3931920" cy="29260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Mainly South Africa today; cross-border transfer needs a clear legal basis.</a:t>
            </a:r>
            <a:endParaRPr lang="en-US" sz="950" dirty="0"/>
          </a:p>
        </p:txBody>
      </p:sp>
      <p:sp>
        <p:nvSpPr>
          <p:cNvPr id="38" name="Shape 31"/>
          <p:cNvSpPr/>
          <p:nvPr/>
        </p:nvSpPr>
        <p:spPr>
          <a:xfrm>
            <a:off x="5303520" y="1371600"/>
            <a:ext cx="3383280" cy="2688336"/>
          </a:xfrm>
          <a:prstGeom prst="roundRect">
            <a:avLst>
              <a:gd name="adj" fmla="val 2721"/>
            </a:avLst>
          </a:prstGeom>
          <a:solidFill>
            <a:srgbClr val="E8F5EF"/>
          </a:solidFill>
          <a:ln w="15875">
            <a:solidFill>
              <a:srgbClr val="00A86A"/>
            </a:solidFill>
            <a:prstDash val="solid"/>
          </a:ln>
        </p:spPr>
      </p:sp>
      <p:sp>
        <p:nvSpPr>
          <p:cNvPr id="39" name="Text 32"/>
          <p:cNvSpPr txBox="1"/>
          <p:nvPr/>
        </p:nvSpPr>
        <p:spPr>
          <a:xfrm>
            <a:off x="5486400" y="1481328"/>
            <a:ext cx="301752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QUESTIONS TO ASK ANY HOST</a:t>
            </a:r>
            <a:endParaRPr lang="en-US" sz="900" dirty="0"/>
          </a:p>
        </p:txBody>
      </p:sp>
      <p:pic>
        <p:nvPicPr>
          <p:cNvPr id="40" name="Image 4" descr="preencoded.png"/>
          <p:cNvPicPr>
            <a:picLocks noChangeAspect="1"/>
          </p:cNvPicPr>
          <p:nvPr/>
        </p:nvPicPr>
        <p:blipFill>
          <a:blip r:embed="rId7"/>
          <a:stretch>
            <a:fillRect/>
          </a:stretch>
        </p:blipFill>
        <p:spPr>
          <a:xfrm>
            <a:off x="5486400" y="1783080"/>
            <a:ext cx="137160" cy="137160"/>
          </a:xfrm>
          <a:prstGeom prst="rect">
            <a:avLst/>
          </a:prstGeom>
        </p:spPr>
      </p:pic>
      <p:sp>
        <p:nvSpPr>
          <p:cNvPr id="41" name="Text 33"/>
          <p:cNvSpPr txBox="1"/>
          <p:nvPr/>
        </p:nvSpPr>
        <p:spPr>
          <a:xfrm>
            <a:off x="5696712" y="1755648"/>
            <a:ext cx="2852928" cy="3200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Where exactly are the data and backups stored?</a:t>
            </a:r>
            <a:endParaRPr lang="en-US" sz="1000" dirty="0"/>
          </a:p>
        </p:txBody>
      </p:sp>
      <p:pic>
        <p:nvPicPr>
          <p:cNvPr id="42" name="Image 5" descr="preencoded.png"/>
          <p:cNvPicPr>
            <a:picLocks noChangeAspect="1"/>
          </p:cNvPicPr>
          <p:nvPr/>
        </p:nvPicPr>
        <p:blipFill>
          <a:blip r:embed="rId7"/>
          <a:stretch>
            <a:fillRect/>
          </a:stretch>
        </p:blipFill>
        <p:spPr>
          <a:xfrm>
            <a:off x="5486400" y="2103120"/>
            <a:ext cx="137160" cy="137160"/>
          </a:xfrm>
          <a:prstGeom prst="rect">
            <a:avLst/>
          </a:prstGeom>
        </p:spPr>
      </p:pic>
      <p:sp>
        <p:nvSpPr>
          <p:cNvPr id="43" name="Text 34"/>
          <p:cNvSpPr txBox="1"/>
          <p:nvPr/>
        </p:nvSpPr>
        <p:spPr>
          <a:xfrm>
            <a:off x="5696712" y="2075688"/>
            <a:ext cx="2852928" cy="3200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Which country's law governs access to them?</a:t>
            </a:r>
            <a:endParaRPr lang="en-US" sz="1000" dirty="0"/>
          </a:p>
        </p:txBody>
      </p:sp>
      <p:pic>
        <p:nvPicPr>
          <p:cNvPr id="44" name="Image 6" descr="preencoded.png"/>
          <p:cNvPicPr>
            <a:picLocks noChangeAspect="1"/>
          </p:cNvPicPr>
          <p:nvPr/>
        </p:nvPicPr>
        <p:blipFill>
          <a:blip r:embed="rId7"/>
          <a:stretch>
            <a:fillRect/>
          </a:stretch>
        </p:blipFill>
        <p:spPr>
          <a:xfrm>
            <a:off x="5486400" y="2423160"/>
            <a:ext cx="137160" cy="137160"/>
          </a:xfrm>
          <a:prstGeom prst="rect">
            <a:avLst/>
          </a:prstGeom>
        </p:spPr>
      </p:pic>
      <p:sp>
        <p:nvSpPr>
          <p:cNvPr id="45" name="Text 35"/>
          <p:cNvSpPr txBox="1"/>
          <p:nvPr/>
        </p:nvSpPr>
        <p:spPr>
          <a:xfrm>
            <a:off x="5696712" y="2395728"/>
            <a:ext cx="2852928" cy="3200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What is the power autonomy and uptime record?</a:t>
            </a:r>
            <a:endParaRPr lang="en-US" sz="1000" dirty="0"/>
          </a:p>
        </p:txBody>
      </p:sp>
      <p:pic>
        <p:nvPicPr>
          <p:cNvPr id="46" name="Image 7" descr="preencoded.png"/>
          <p:cNvPicPr>
            <a:picLocks noChangeAspect="1"/>
          </p:cNvPicPr>
          <p:nvPr/>
        </p:nvPicPr>
        <p:blipFill>
          <a:blip r:embed="rId7"/>
          <a:stretch>
            <a:fillRect/>
          </a:stretch>
        </p:blipFill>
        <p:spPr>
          <a:xfrm>
            <a:off x="5486400" y="2743200"/>
            <a:ext cx="137160" cy="137160"/>
          </a:xfrm>
          <a:prstGeom prst="rect">
            <a:avLst/>
          </a:prstGeom>
        </p:spPr>
      </p:pic>
      <p:sp>
        <p:nvSpPr>
          <p:cNvPr id="47" name="Text 36"/>
          <p:cNvSpPr txBox="1"/>
          <p:nvPr/>
        </p:nvSpPr>
        <p:spPr>
          <a:xfrm>
            <a:off x="5696712" y="2715768"/>
            <a:ext cx="2852928" cy="3200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Are GPUs available, and at what lead time?</a:t>
            </a:r>
            <a:endParaRPr lang="en-US" sz="1000" dirty="0"/>
          </a:p>
        </p:txBody>
      </p:sp>
      <p:pic>
        <p:nvPicPr>
          <p:cNvPr id="48" name="Image 8" descr="preencoded.png"/>
          <p:cNvPicPr>
            <a:picLocks noChangeAspect="1"/>
          </p:cNvPicPr>
          <p:nvPr/>
        </p:nvPicPr>
        <p:blipFill>
          <a:blip r:embed="rId7"/>
          <a:stretch>
            <a:fillRect/>
          </a:stretch>
        </p:blipFill>
        <p:spPr>
          <a:xfrm>
            <a:off x="5486400" y="3063240"/>
            <a:ext cx="137160" cy="137160"/>
          </a:xfrm>
          <a:prstGeom prst="rect">
            <a:avLst/>
          </a:prstGeom>
        </p:spPr>
      </p:pic>
      <p:sp>
        <p:nvSpPr>
          <p:cNvPr id="49" name="Text 37"/>
          <p:cNvSpPr txBox="1"/>
          <p:nvPr/>
        </p:nvSpPr>
        <p:spPr>
          <a:xfrm>
            <a:off x="5696712" y="3035808"/>
            <a:ext cx="2852928" cy="3200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How do we get our data back if we leave?</a:t>
            </a:r>
            <a:endParaRPr lang="en-US" sz="1000" dirty="0"/>
          </a:p>
        </p:txBody>
      </p:sp>
      <p:pic>
        <p:nvPicPr>
          <p:cNvPr id="50" name="Image 9" descr="preencoded.png"/>
          <p:cNvPicPr>
            <a:picLocks noChangeAspect="1"/>
          </p:cNvPicPr>
          <p:nvPr/>
        </p:nvPicPr>
        <p:blipFill>
          <a:blip r:embed="rId7"/>
          <a:stretch>
            <a:fillRect/>
          </a:stretch>
        </p:blipFill>
        <p:spPr>
          <a:xfrm>
            <a:off x="5486400" y="3383280"/>
            <a:ext cx="137160" cy="137160"/>
          </a:xfrm>
          <a:prstGeom prst="rect">
            <a:avLst/>
          </a:prstGeom>
        </p:spPr>
      </p:pic>
      <p:sp>
        <p:nvSpPr>
          <p:cNvPr id="51" name="Text 38"/>
          <p:cNvSpPr txBox="1"/>
          <p:nvPr/>
        </p:nvSpPr>
        <p:spPr>
          <a:xfrm>
            <a:off x="5696712" y="3355848"/>
            <a:ext cx="2852928" cy="3200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Does our statistics act permit this location?</a:t>
            </a:r>
            <a:endParaRPr lang="en-US" sz="1000" dirty="0"/>
          </a:p>
        </p:txBody>
      </p:sp>
      <p:pic>
        <p:nvPicPr>
          <p:cNvPr id="52" name="Image 10" descr="preencoded.png"/>
          <p:cNvPicPr>
            <a:picLocks noChangeAspect="1"/>
          </p:cNvPicPr>
          <p:nvPr/>
        </p:nvPicPr>
        <p:blipFill>
          <a:blip r:embed="rId7"/>
          <a:stretch>
            <a:fillRect/>
          </a:stretch>
        </p:blipFill>
        <p:spPr>
          <a:xfrm>
            <a:off x="5486400" y="3703320"/>
            <a:ext cx="137160" cy="137160"/>
          </a:xfrm>
          <a:prstGeom prst="rect">
            <a:avLst/>
          </a:prstGeom>
        </p:spPr>
      </p:pic>
      <p:sp>
        <p:nvSpPr>
          <p:cNvPr id="53" name="Text 39"/>
          <p:cNvSpPr txBox="1"/>
          <p:nvPr/>
        </p:nvSpPr>
        <p:spPr>
          <a:xfrm>
            <a:off x="5696712" y="3675888"/>
            <a:ext cx="2852928" cy="3200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Who pays, and in which currency?</a:t>
            </a:r>
            <a:endParaRPr lang="en-US" sz="1000" dirty="0"/>
          </a:p>
        </p:txBody>
      </p:sp>
      <p:sp>
        <p:nvSpPr>
          <p:cNvPr id="54" name="Shape 40"/>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55" name="Shape 41"/>
          <p:cNvSpPr/>
          <p:nvPr/>
        </p:nvSpPr>
        <p:spPr>
          <a:xfrm>
            <a:off x="566928" y="4233672"/>
            <a:ext cx="292608" cy="292608"/>
          </a:xfrm>
          <a:prstGeom prst="ellipse">
            <a:avLst/>
          </a:prstGeom>
          <a:solidFill>
            <a:srgbClr val="00A86A">
              <a:alpha val="22000"/>
            </a:srgbClr>
          </a:solidFill>
          <a:ln/>
        </p:spPr>
      </p:sp>
      <p:pic>
        <p:nvPicPr>
          <p:cNvPr id="56" name="Image 11" descr="preencoded.png"/>
          <p:cNvPicPr>
            <a:picLocks noChangeAspect="1"/>
          </p:cNvPicPr>
          <p:nvPr/>
        </p:nvPicPr>
        <p:blipFill>
          <a:blip r:embed="rId8"/>
          <a:stretch>
            <a:fillRect/>
          </a:stretch>
        </p:blipFill>
        <p:spPr>
          <a:xfrm>
            <a:off x="637154" y="4303898"/>
            <a:ext cx="152156" cy="152156"/>
          </a:xfrm>
          <a:prstGeom prst="rect">
            <a:avLst/>
          </a:prstGeom>
        </p:spPr>
      </p:pic>
      <p:sp>
        <p:nvSpPr>
          <p:cNvPr id="57" name="Text 42"/>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CONTEXT   </a:t>
            </a:r>
            <a:r>
              <a:rPr lang="en-US" sz="1050" dirty="0">
                <a:solidFill>
                  <a:srgbClr val="231F20"/>
                </a:solidFill>
                <a:latin typeface="Calibri" pitchFamily="34" charset="0"/>
                <a:ea typeface="Calibri" pitchFamily="34" charset="-122"/>
                <a:cs typeface="Calibri" pitchFamily="34" charset="-120"/>
              </a:rPr>
              <a:t>46% of Africa's 211 operational data centres are in just four countries: South Africa, Kenya, Nigeria and Egypt.</a:t>
            </a:r>
            <a:endParaRPr lang="en-US" sz="1050" dirty="0"/>
          </a:p>
        </p:txBody>
      </p:sp>
      <p:sp>
        <p:nvSpPr>
          <p:cNvPr id="58" name="Text 43"/>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Sources: Heirs Technologies study (Sept. 2025), via Ecofin Agency; ADCA, Data Centres in Africa 2026; industry reporting on Oracle's Kenya cloud region (2026).</a:t>
            </a:r>
            <a:endParaRPr lang="en-US" sz="85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TARGET ARCHITECTURE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The hybrid pattern most offices converge on</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Three processing tiers, one shared control plane. The data chooses the tier, not the team</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8" name="Shape 15"/>
          <p:cNvSpPr/>
          <p:nvPr/>
        </p:nvSpPr>
        <p:spPr>
          <a:xfrm>
            <a:off x="457200" y="1371600"/>
            <a:ext cx="2651760" cy="2103120"/>
          </a:xfrm>
          <a:prstGeom prst="roundRect">
            <a:avLst>
              <a:gd name="adj" fmla="val 3478"/>
            </a:avLst>
          </a:prstGeom>
          <a:solidFill>
            <a:srgbClr val="F4F7F5"/>
          </a:solidFill>
          <a:ln w="9525">
            <a:solidFill>
              <a:srgbClr val="D5DED9"/>
            </a:solidFill>
            <a:prstDash val="solid"/>
          </a:ln>
        </p:spPr>
      </p:sp>
      <p:sp>
        <p:nvSpPr>
          <p:cNvPr id="19" name="Shape 16"/>
          <p:cNvSpPr/>
          <p:nvPr/>
        </p:nvSpPr>
        <p:spPr>
          <a:xfrm>
            <a:off x="594360" y="1481328"/>
            <a:ext cx="731520" cy="201168"/>
          </a:xfrm>
          <a:prstGeom prst="roundRect">
            <a:avLst>
              <a:gd name="adj" fmla="val 50000"/>
            </a:avLst>
          </a:prstGeom>
          <a:solidFill>
            <a:srgbClr val="B83B2E"/>
          </a:solidFill>
          <a:ln w="9525">
            <a:solidFill>
              <a:srgbClr val="B83B2E"/>
            </a:solidFill>
            <a:prstDash val="solid"/>
          </a:ln>
        </p:spPr>
      </p:sp>
      <p:sp>
        <p:nvSpPr>
          <p:cNvPr id="20" name="Text 17"/>
          <p:cNvSpPr txBox="1"/>
          <p:nvPr/>
        </p:nvSpPr>
        <p:spPr>
          <a:xfrm>
            <a:off x="594360" y="1481328"/>
            <a:ext cx="731520" cy="201168"/>
          </a:xfrm>
          <a:prstGeom prst="rect">
            <a:avLst/>
          </a:prstGeom>
          <a:noFill/>
          <a:ln/>
        </p:spPr>
        <p:txBody>
          <a:bodyPr wrap="square" lIns="0" tIns="0" rIns="0" bIns="0" rtlCol="0" anchor="ctr"/>
          <a:lstStyle/>
          <a:p>
            <a:pPr marL="0" indent="0" algn="ctr">
              <a:buNone/>
            </a:pPr>
            <a:r>
              <a:rPr lang="en-US" sz="850" b="1" kern="0" spc="50" dirty="0">
                <a:solidFill>
                  <a:srgbClr val="FFFFFF"/>
                </a:solidFill>
                <a:latin typeface="Calibri" pitchFamily="34" charset="0"/>
                <a:ea typeface="Calibri" pitchFamily="34" charset="-122"/>
                <a:cs typeface="Calibri" pitchFamily="34" charset="-120"/>
              </a:rPr>
              <a:t>T3</a:t>
            </a:r>
            <a:endParaRPr lang="en-US" sz="850" dirty="0"/>
          </a:p>
        </p:txBody>
      </p:sp>
      <p:pic>
        <p:nvPicPr>
          <p:cNvPr id="21" name="Image 0" descr="preencoded.png"/>
          <p:cNvPicPr>
            <a:picLocks noChangeAspect="1"/>
          </p:cNvPicPr>
          <p:nvPr/>
        </p:nvPicPr>
        <p:blipFill>
          <a:blip r:embed="rId3"/>
          <a:stretch>
            <a:fillRect/>
          </a:stretch>
        </p:blipFill>
        <p:spPr>
          <a:xfrm>
            <a:off x="2697480" y="1463040"/>
            <a:ext cx="256032" cy="256032"/>
          </a:xfrm>
          <a:prstGeom prst="rect">
            <a:avLst/>
          </a:prstGeom>
        </p:spPr>
      </p:pic>
      <p:sp>
        <p:nvSpPr>
          <p:cNvPr id="22" name="Text 18"/>
          <p:cNvSpPr txBox="1"/>
          <p:nvPr/>
        </p:nvSpPr>
        <p:spPr>
          <a:xfrm>
            <a:off x="594360" y="1755648"/>
            <a:ext cx="237744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Confidential microdata</a:t>
            </a:r>
            <a:endParaRPr lang="en-US" sz="1300" dirty="0"/>
          </a:p>
        </p:txBody>
      </p:sp>
      <p:sp>
        <p:nvSpPr>
          <p:cNvPr id="23" name="Text 19"/>
          <p:cNvSpPr txBox="1"/>
          <p:nvPr/>
        </p:nvSpPr>
        <p:spPr>
          <a:xfrm>
            <a:off x="594360" y="2011680"/>
            <a:ext cx="23774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On-premises or secure research zone</a:t>
            </a:r>
            <a:endParaRPr lang="en-US" sz="1000" dirty="0"/>
          </a:p>
        </p:txBody>
      </p:sp>
      <p:pic>
        <p:nvPicPr>
          <p:cNvPr id="24" name="Image 1" descr="preencoded.png"/>
          <p:cNvPicPr>
            <a:picLocks noChangeAspect="1"/>
          </p:cNvPicPr>
          <p:nvPr/>
        </p:nvPicPr>
        <p:blipFill>
          <a:blip r:embed="rId4"/>
          <a:stretch>
            <a:fillRect/>
          </a:stretch>
        </p:blipFill>
        <p:spPr>
          <a:xfrm>
            <a:off x="594360" y="2331720"/>
            <a:ext cx="137160" cy="137160"/>
          </a:xfrm>
          <a:prstGeom prst="rect">
            <a:avLst/>
          </a:prstGeom>
        </p:spPr>
      </p:pic>
      <p:sp>
        <p:nvSpPr>
          <p:cNvPr id="25" name="Text 20"/>
          <p:cNvSpPr txBox="1"/>
          <p:nvPr/>
        </p:nvSpPr>
        <p:spPr>
          <a:xfrm>
            <a:off x="804672" y="2304288"/>
            <a:ext cx="2167128" cy="28346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Self-hosted open-weight models only</a:t>
            </a:r>
            <a:endParaRPr lang="en-US" sz="950" dirty="0"/>
          </a:p>
        </p:txBody>
      </p:sp>
      <p:pic>
        <p:nvPicPr>
          <p:cNvPr id="26" name="Image 2" descr="preencoded.png"/>
          <p:cNvPicPr>
            <a:picLocks noChangeAspect="1"/>
          </p:cNvPicPr>
          <p:nvPr/>
        </p:nvPicPr>
        <p:blipFill>
          <a:blip r:embed="rId4"/>
          <a:stretch>
            <a:fillRect/>
          </a:stretch>
        </p:blipFill>
        <p:spPr>
          <a:xfrm>
            <a:off x="594360" y="2615184"/>
            <a:ext cx="137160" cy="137160"/>
          </a:xfrm>
          <a:prstGeom prst="rect">
            <a:avLst/>
          </a:prstGeom>
        </p:spPr>
      </p:pic>
      <p:sp>
        <p:nvSpPr>
          <p:cNvPr id="27" name="Text 21"/>
          <p:cNvSpPr txBox="1"/>
          <p:nvPr/>
        </p:nvSpPr>
        <p:spPr>
          <a:xfrm>
            <a:off x="804672" y="2587752"/>
            <a:ext cx="2167128" cy="28346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No outbound internet</a:t>
            </a:r>
            <a:endParaRPr lang="en-US" sz="950" dirty="0"/>
          </a:p>
        </p:txBody>
      </p:sp>
      <p:pic>
        <p:nvPicPr>
          <p:cNvPr id="28" name="Image 3" descr="preencoded.png"/>
          <p:cNvPicPr>
            <a:picLocks noChangeAspect="1"/>
          </p:cNvPicPr>
          <p:nvPr/>
        </p:nvPicPr>
        <p:blipFill>
          <a:blip r:embed="rId4"/>
          <a:stretch>
            <a:fillRect/>
          </a:stretch>
        </p:blipFill>
        <p:spPr>
          <a:xfrm>
            <a:off x="594360" y="2898648"/>
            <a:ext cx="137160" cy="137160"/>
          </a:xfrm>
          <a:prstGeom prst="rect">
            <a:avLst/>
          </a:prstGeom>
        </p:spPr>
      </p:pic>
      <p:sp>
        <p:nvSpPr>
          <p:cNvPr id="29" name="Text 22"/>
          <p:cNvSpPr txBox="1"/>
          <p:nvPr/>
        </p:nvSpPr>
        <p:spPr>
          <a:xfrm>
            <a:off x="804672" y="2871216"/>
            <a:ext cx="2167128" cy="28346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All prompts and outputs logged</a:t>
            </a:r>
            <a:endParaRPr lang="en-US" sz="950" dirty="0"/>
          </a:p>
        </p:txBody>
      </p:sp>
      <p:pic>
        <p:nvPicPr>
          <p:cNvPr id="30" name="Image 4" descr="preencoded.png"/>
          <p:cNvPicPr>
            <a:picLocks noChangeAspect="1"/>
          </p:cNvPicPr>
          <p:nvPr/>
        </p:nvPicPr>
        <p:blipFill>
          <a:blip r:embed="rId4"/>
          <a:stretch>
            <a:fillRect/>
          </a:stretch>
        </p:blipFill>
        <p:spPr>
          <a:xfrm>
            <a:off x="594360" y="3182112"/>
            <a:ext cx="137160" cy="137160"/>
          </a:xfrm>
          <a:prstGeom prst="rect">
            <a:avLst/>
          </a:prstGeom>
        </p:spPr>
      </p:pic>
      <p:sp>
        <p:nvSpPr>
          <p:cNvPr id="31" name="Text 23"/>
          <p:cNvSpPr txBox="1"/>
          <p:nvPr/>
        </p:nvSpPr>
        <p:spPr>
          <a:xfrm>
            <a:off x="804672" y="3154680"/>
            <a:ext cx="2167128" cy="28346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Outputs checked before release</a:t>
            </a:r>
            <a:endParaRPr lang="en-US" sz="950" dirty="0"/>
          </a:p>
        </p:txBody>
      </p:sp>
      <p:sp>
        <p:nvSpPr>
          <p:cNvPr id="32" name="Shape 24"/>
          <p:cNvSpPr/>
          <p:nvPr/>
        </p:nvSpPr>
        <p:spPr>
          <a:xfrm>
            <a:off x="3246120" y="1371600"/>
            <a:ext cx="2651760" cy="2103120"/>
          </a:xfrm>
          <a:prstGeom prst="roundRect">
            <a:avLst>
              <a:gd name="adj" fmla="val 3478"/>
            </a:avLst>
          </a:prstGeom>
          <a:solidFill>
            <a:srgbClr val="F4F7F5"/>
          </a:solidFill>
          <a:ln w="9525">
            <a:solidFill>
              <a:srgbClr val="D5DED9"/>
            </a:solidFill>
            <a:prstDash val="solid"/>
          </a:ln>
        </p:spPr>
      </p:sp>
      <p:sp>
        <p:nvSpPr>
          <p:cNvPr id="33" name="Shape 25"/>
          <p:cNvSpPr/>
          <p:nvPr/>
        </p:nvSpPr>
        <p:spPr>
          <a:xfrm>
            <a:off x="3383280" y="1481328"/>
            <a:ext cx="731520" cy="201168"/>
          </a:xfrm>
          <a:prstGeom prst="roundRect">
            <a:avLst>
              <a:gd name="adj" fmla="val 50000"/>
            </a:avLst>
          </a:prstGeom>
          <a:solidFill>
            <a:srgbClr val="D49A00"/>
          </a:solidFill>
          <a:ln w="9525">
            <a:solidFill>
              <a:srgbClr val="D49A00"/>
            </a:solidFill>
            <a:prstDash val="solid"/>
          </a:ln>
        </p:spPr>
      </p:sp>
      <p:sp>
        <p:nvSpPr>
          <p:cNvPr id="34" name="Text 26"/>
          <p:cNvSpPr txBox="1"/>
          <p:nvPr/>
        </p:nvSpPr>
        <p:spPr>
          <a:xfrm>
            <a:off x="3383280" y="1481328"/>
            <a:ext cx="731520" cy="201168"/>
          </a:xfrm>
          <a:prstGeom prst="rect">
            <a:avLst/>
          </a:prstGeom>
          <a:noFill/>
          <a:ln/>
        </p:spPr>
        <p:txBody>
          <a:bodyPr wrap="square" lIns="0" tIns="0" rIns="0" bIns="0" rtlCol="0" anchor="ctr"/>
          <a:lstStyle/>
          <a:p>
            <a:pPr marL="0" indent="0" algn="ctr">
              <a:buNone/>
            </a:pPr>
            <a:r>
              <a:rPr lang="en-US" sz="850" b="1" kern="0" spc="50" dirty="0">
                <a:solidFill>
                  <a:srgbClr val="FFFFFF"/>
                </a:solidFill>
                <a:latin typeface="Calibri" pitchFamily="34" charset="0"/>
                <a:ea typeface="Calibri" pitchFamily="34" charset="-122"/>
                <a:cs typeface="Calibri" pitchFamily="34" charset="-120"/>
              </a:rPr>
              <a:t>T2 – T1</a:t>
            </a:r>
            <a:endParaRPr lang="en-US" sz="850" dirty="0"/>
          </a:p>
        </p:txBody>
      </p:sp>
      <p:pic>
        <p:nvPicPr>
          <p:cNvPr id="35" name="Image 5" descr="preencoded.png"/>
          <p:cNvPicPr>
            <a:picLocks noChangeAspect="1"/>
          </p:cNvPicPr>
          <p:nvPr/>
        </p:nvPicPr>
        <p:blipFill>
          <a:blip r:embed="rId5"/>
          <a:stretch>
            <a:fillRect/>
          </a:stretch>
        </p:blipFill>
        <p:spPr>
          <a:xfrm>
            <a:off x="5486400" y="1463040"/>
            <a:ext cx="256032" cy="256032"/>
          </a:xfrm>
          <a:prstGeom prst="rect">
            <a:avLst/>
          </a:prstGeom>
        </p:spPr>
      </p:pic>
      <p:sp>
        <p:nvSpPr>
          <p:cNvPr id="36" name="Text 27"/>
          <p:cNvSpPr txBox="1"/>
          <p:nvPr/>
        </p:nvSpPr>
        <p:spPr>
          <a:xfrm>
            <a:off x="3383280" y="1755648"/>
            <a:ext cx="237744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Internal, non-public</a:t>
            </a:r>
            <a:endParaRPr lang="en-US" sz="1300" dirty="0"/>
          </a:p>
        </p:txBody>
      </p:sp>
      <p:sp>
        <p:nvSpPr>
          <p:cNvPr id="37" name="Text 28"/>
          <p:cNvSpPr txBox="1"/>
          <p:nvPr/>
        </p:nvSpPr>
        <p:spPr>
          <a:xfrm>
            <a:off x="3383280" y="2011680"/>
            <a:ext cx="23774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Sovereign or private cloud</a:t>
            </a:r>
            <a:endParaRPr lang="en-US" sz="1000" dirty="0"/>
          </a:p>
        </p:txBody>
      </p:sp>
      <p:pic>
        <p:nvPicPr>
          <p:cNvPr id="38" name="Image 6" descr="preencoded.png"/>
          <p:cNvPicPr>
            <a:picLocks noChangeAspect="1"/>
          </p:cNvPicPr>
          <p:nvPr/>
        </p:nvPicPr>
        <p:blipFill>
          <a:blip r:embed="rId6"/>
          <a:stretch>
            <a:fillRect/>
          </a:stretch>
        </p:blipFill>
        <p:spPr>
          <a:xfrm>
            <a:off x="3383280" y="2331720"/>
            <a:ext cx="137160" cy="137160"/>
          </a:xfrm>
          <a:prstGeom prst="rect">
            <a:avLst/>
          </a:prstGeom>
        </p:spPr>
      </p:pic>
      <p:sp>
        <p:nvSpPr>
          <p:cNvPr id="39" name="Text 29"/>
          <p:cNvSpPr txBox="1"/>
          <p:nvPr/>
        </p:nvSpPr>
        <p:spPr>
          <a:xfrm>
            <a:off x="3593592" y="2304288"/>
            <a:ext cx="2167128" cy="28346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Dedicated tenancy, no-training clause</a:t>
            </a:r>
            <a:endParaRPr lang="en-US" sz="950" dirty="0"/>
          </a:p>
        </p:txBody>
      </p:sp>
      <p:pic>
        <p:nvPicPr>
          <p:cNvPr id="40" name="Image 7" descr="preencoded.png"/>
          <p:cNvPicPr>
            <a:picLocks noChangeAspect="1"/>
          </p:cNvPicPr>
          <p:nvPr/>
        </p:nvPicPr>
        <p:blipFill>
          <a:blip r:embed="rId6"/>
          <a:stretch>
            <a:fillRect/>
          </a:stretch>
        </p:blipFill>
        <p:spPr>
          <a:xfrm>
            <a:off x="3383280" y="2615184"/>
            <a:ext cx="137160" cy="137160"/>
          </a:xfrm>
          <a:prstGeom prst="rect">
            <a:avLst/>
          </a:prstGeom>
        </p:spPr>
      </p:pic>
      <p:sp>
        <p:nvSpPr>
          <p:cNvPr id="41" name="Text 30"/>
          <p:cNvSpPr txBox="1"/>
          <p:nvPr/>
        </p:nvSpPr>
        <p:spPr>
          <a:xfrm>
            <a:off x="3593592" y="2587752"/>
            <a:ext cx="2167128" cy="28346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Self-hosted or single-tenant models</a:t>
            </a:r>
            <a:endParaRPr lang="en-US" sz="950" dirty="0"/>
          </a:p>
        </p:txBody>
      </p:sp>
      <p:pic>
        <p:nvPicPr>
          <p:cNvPr id="42" name="Image 8" descr="preencoded.png"/>
          <p:cNvPicPr>
            <a:picLocks noChangeAspect="1"/>
          </p:cNvPicPr>
          <p:nvPr/>
        </p:nvPicPr>
        <p:blipFill>
          <a:blip r:embed="rId6"/>
          <a:stretch>
            <a:fillRect/>
          </a:stretch>
        </p:blipFill>
        <p:spPr>
          <a:xfrm>
            <a:off x="3383280" y="2898648"/>
            <a:ext cx="137160" cy="137160"/>
          </a:xfrm>
          <a:prstGeom prst="rect">
            <a:avLst/>
          </a:prstGeom>
        </p:spPr>
      </p:pic>
      <p:sp>
        <p:nvSpPr>
          <p:cNvPr id="43" name="Text 31"/>
          <p:cNvSpPr txBox="1"/>
          <p:nvPr/>
        </p:nvSpPr>
        <p:spPr>
          <a:xfrm>
            <a:off x="3593592" y="2871216"/>
            <a:ext cx="2167128" cy="28346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Impact assessment on file</a:t>
            </a:r>
            <a:endParaRPr lang="en-US" sz="950" dirty="0"/>
          </a:p>
        </p:txBody>
      </p:sp>
      <p:pic>
        <p:nvPicPr>
          <p:cNvPr id="44" name="Image 9" descr="preencoded.png"/>
          <p:cNvPicPr>
            <a:picLocks noChangeAspect="1"/>
          </p:cNvPicPr>
          <p:nvPr/>
        </p:nvPicPr>
        <p:blipFill>
          <a:blip r:embed="rId6"/>
          <a:stretch>
            <a:fillRect/>
          </a:stretch>
        </p:blipFill>
        <p:spPr>
          <a:xfrm>
            <a:off x="3383280" y="3182112"/>
            <a:ext cx="137160" cy="137160"/>
          </a:xfrm>
          <a:prstGeom prst="rect">
            <a:avLst/>
          </a:prstGeom>
        </p:spPr>
      </p:pic>
      <p:sp>
        <p:nvSpPr>
          <p:cNvPr id="45" name="Text 32"/>
          <p:cNvSpPr txBox="1"/>
          <p:nvPr/>
        </p:nvSpPr>
        <p:spPr>
          <a:xfrm>
            <a:off x="3593592" y="3154680"/>
            <a:ext cx="2167128" cy="28346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Egress monitored</a:t>
            </a:r>
            <a:endParaRPr lang="en-US" sz="950" dirty="0"/>
          </a:p>
        </p:txBody>
      </p:sp>
      <p:sp>
        <p:nvSpPr>
          <p:cNvPr id="46" name="Shape 33"/>
          <p:cNvSpPr/>
          <p:nvPr/>
        </p:nvSpPr>
        <p:spPr>
          <a:xfrm>
            <a:off x="6035040" y="1371600"/>
            <a:ext cx="2651760" cy="2103120"/>
          </a:xfrm>
          <a:prstGeom prst="roundRect">
            <a:avLst>
              <a:gd name="adj" fmla="val 3478"/>
            </a:avLst>
          </a:prstGeom>
          <a:solidFill>
            <a:srgbClr val="F4F7F5"/>
          </a:solidFill>
          <a:ln w="9525">
            <a:solidFill>
              <a:srgbClr val="D5DED9"/>
            </a:solidFill>
            <a:prstDash val="solid"/>
          </a:ln>
        </p:spPr>
      </p:sp>
      <p:sp>
        <p:nvSpPr>
          <p:cNvPr id="47" name="Shape 34"/>
          <p:cNvSpPr/>
          <p:nvPr/>
        </p:nvSpPr>
        <p:spPr>
          <a:xfrm>
            <a:off x="6172200" y="1481328"/>
            <a:ext cx="731520" cy="201168"/>
          </a:xfrm>
          <a:prstGeom prst="roundRect">
            <a:avLst>
              <a:gd name="adj" fmla="val 50000"/>
            </a:avLst>
          </a:prstGeom>
          <a:solidFill>
            <a:srgbClr val="00A86A"/>
          </a:solidFill>
          <a:ln w="9525">
            <a:solidFill>
              <a:srgbClr val="00A86A"/>
            </a:solidFill>
            <a:prstDash val="solid"/>
          </a:ln>
        </p:spPr>
      </p:sp>
      <p:sp>
        <p:nvSpPr>
          <p:cNvPr id="48" name="Text 35"/>
          <p:cNvSpPr txBox="1"/>
          <p:nvPr/>
        </p:nvSpPr>
        <p:spPr>
          <a:xfrm>
            <a:off x="6172200" y="1481328"/>
            <a:ext cx="731520" cy="201168"/>
          </a:xfrm>
          <a:prstGeom prst="rect">
            <a:avLst/>
          </a:prstGeom>
          <a:noFill/>
          <a:ln/>
        </p:spPr>
        <p:txBody>
          <a:bodyPr wrap="square" lIns="0" tIns="0" rIns="0" bIns="0" rtlCol="0" anchor="ctr"/>
          <a:lstStyle/>
          <a:p>
            <a:pPr marL="0" indent="0" algn="ctr">
              <a:buNone/>
            </a:pPr>
            <a:r>
              <a:rPr lang="en-US" sz="850" b="1" kern="0" spc="50" dirty="0">
                <a:solidFill>
                  <a:srgbClr val="FFFFFF"/>
                </a:solidFill>
                <a:latin typeface="Calibri" pitchFamily="34" charset="0"/>
                <a:ea typeface="Calibri" pitchFamily="34" charset="-122"/>
                <a:cs typeface="Calibri" pitchFamily="34" charset="-120"/>
              </a:rPr>
              <a:t>T0</a:t>
            </a:r>
            <a:endParaRPr lang="en-US" sz="850" dirty="0"/>
          </a:p>
        </p:txBody>
      </p:sp>
      <p:pic>
        <p:nvPicPr>
          <p:cNvPr id="49" name="Image 10" descr="preencoded.png"/>
          <p:cNvPicPr>
            <a:picLocks noChangeAspect="1"/>
          </p:cNvPicPr>
          <p:nvPr/>
        </p:nvPicPr>
        <p:blipFill>
          <a:blip r:embed="rId7"/>
          <a:stretch>
            <a:fillRect/>
          </a:stretch>
        </p:blipFill>
        <p:spPr>
          <a:xfrm>
            <a:off x="8275320" y="1463040"/>
            <a:ext cx="256032" cy="256032"/>
          </a:xfrm>
          <a:prstGeom prst="rect">
            <a:avLst/>
          </a:prstGeom>
        </p:spPr>
      </p:pic>
      <p:sp>
        <p:nvSpPr>
          <p:cNvPr id="50" name="Text 36"/>
          <p:cNvSpPr txBox="1"/>
          <p:nvPr/>
        </p:nvSpPr>
        <p:spPr>
          <a:xfrm>
            <a:off x="6172200" y="1755648"/>
            <a:ext cx="237744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Published and public</a:t>
            </a:r>
            <a:endParaRPr lang="en-US" sz="1300" dirty="0"/>
          </a:p>
        </p:txBody>
      </p:sp>
      <p:sp>
        <p:nvSpPr>
          <p:cNvPr id="51" name="Text 37"/>
          <p:cNvSpPr txBox="1"/>
          <p:nvPr/>
        </p:nvSpPr>
        <p:spPr>
          <a:xfrm>
            <a:off x="6172200" y="2011680"/>
            <a:ext cx="23774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Any, including managed APIs</a:t>
            </a:r>
            <a:endParaRPr lang="en-US" sz="1000" dirty="0"/>
          </a:p>
        </p:txBody>
      </p:sp>
      <p:pic>
        <p:nvPicPr>
          <p:cNvPr id="52" name="Image 11" descr="preencoded.png"/>
          <p:cNvPicPr>
            <a:picLocks noChangeAspect="1"/>
          </p:cNvPicPr>
          <p:nvPr/>
        </p:nvPicPr>
        <p:blipFill>
          <a:blip r:embed="rId8"/>
          <a:stretch>
            <a:fillRect/>
          </a:stretch>
        </p:blipFill>
        <p:spPr>
          <a:xfrm>
            <a:off x="6172200" y="2331720"/>
            <a:ext cx="137160" cy="137160"/>
          </a:xfrm>
          <a:prstGeom prst="rect">
            <a:avLst/>
          </a:prstGeom>
        </p:spPr>
      </p:pic>
      <p:sp>
        <p:nvSpPr>
          <p:cNvPr id="53" name="Text 38"/>
          <p:cNvSpPr txBox="1"/>
          <p:nvPr/>
        </p:nvSpPr>
        <p:spPr>
          <a:xfrm>
            <a:off x="6382512" y="2304288"/>
            <a:ext cx="2167128" cy="28346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Managed frontier APIs allowed</a:t>
            </a:r>
            <a:endParaRPr lang="en-US" sz="950" dirty="0"/>
          </a:p>
        </p:txBody>
      </p:sp>
      <p:pic>
        <p:nvPicPr>
          <p:cNvPr id="54" name="Image 12" descr="preencoded.png"/>
          <p:cNvPicPr>
            <a:picLocks noChangeAspect="1"/>
          </p:cNvPicPr>
          <p:nvPr/>
        </p:nvPicPr>
        <p:blipFill>
          <a:blip r:embed="rId8"/>
          <a:stretch>
            <a:fillRect/>
          </a:stretch>
        </p:blipFill>
        <p:spPr>
          <a:xfrm>
            <a:off x="6172200" y="2615184"/>
            <a:ext cx="137160" cy="137160"/>
          </a:xfrm>
          <a:prstGeom prst="rect">
            <a:avLst/>
          </a:prstGeom>
        </p:spPr>
      </p:pic>
      <p:sp>
        <p:nvSpPr>
          <p:cNvPr id="55" name="Text 39"/>
          <p:cNvSpPr txBox="1"/>
          <p:nvPr/>
        </p:nvSpPr>
        <p:spPr>
          <a:xfrm>
            <a:off x="6382512" y="2587752"/>
            <a:ext cx="2167128" cy="28346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Routed through the AI gateway</a:t>
            </a:r>
            <a:endParaRPr lang="en-US" sz="950" dirty="0"/>
          </a:p>
        </p:txBody>
      </p:sp>
      <p:pic>
        <p:nvPicPr>
          <p:cNvPr id="56" name="Image 13" descr="preencoded.png"/>
          <p:cNvPicPr>
            <a:picLocks noChangeAspect="1"/>
          </p:cNvPicPr>
          <p:nvPr/>
        </p:nvPicPr>
        <p:blipFill>
          <a:blip r:embed="rId8"/>
          <a:stretch>
            <a:fillRect/>
          </a:stretch>
        </p:blipFill>
        <p:spPr>
          <a:xfrm>
            <a:off x="6172200" y="2898648"/>
            <a:ext cx="137160" cy="137160"/>
          </a:xfrm>
          <a:prstGeom prst="rect">
            <a:avLst/>
          </a:prstGeom>
        </p:spPr>
      </p:pic>
      <p:sp>
        <p:nvSpPr>
          <p:cNvPr id="57" name="Text 40"/>
          <p:cNvSpPr txBox="1"/>
          <p:nvPr/>
        </p:nvSpPr>
        <p:spPr>
          <a:xfrm>
            <a:off x="6382512" y="2871216"/>
            <a:ext cx="2167128" cy="28346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Cost charged to the team</a:t>
            </a:r>
            <a:endParaRPr lang="en-US" sz="950" dirty="0"/>
          </a:p>
        </p:txBody>
      </p:sp>
      <p:pic>
        <p:nvPicPr>
          <p:cNvPr id="58" name="Image 14" descr="preencoded.png"/>
          <p:cNvPicPr>
            <a:picLocks noChangeAspect="1"/>
          </p:cNvPicPr>
          <p:nvPr/>
        </p:nvPicPr>
        <p:blipFill>
          <a:blip r:embed="rId8"/>
          <a:stretch>
            <a:fillRect/>
          </a:stretch>
        </p:blipFill>
        <p:spPr>
          <a:xfrm>
            <a:off x="6172200" y="3182112"/>
            <a:ext cx="137160" cy="137160"/>
          </a:xfrm>
          <a:prstGeom prst="rect">
            <a:avLst/>
          </a:prstGeom>
        </p:spPr>
      </p:pic>
      <p:sp>
        <p:nvSpPr>
          <p:cNvPr id="59" name="Text 41"/>
          <p:cNvSpPr txBox="1"/>
          <p:nvPr/>
        </p:nvSpPr>
        <p:spPr>
          <a:xfrm>
            <a:off x="6382512" y="3154680"/>
            <a:ext cx="2167128" cy="283464"/>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Acceptable-use policy applies</a:t>
            </a:r>
            <a:endParaRPr lang="en-US" sz="950" dirty="0"/>
          </a:p>
        </p:txBody>
      </p:sp>
      <p:sp>
        <p:nvSpPr>
          <p:cNvPr id="60" name="Shape 42"/>
          <p:cNvSpPr/>
          <p:nvPr/>
        </p:nvSpPr>
        <p:spPr>
          <a:xfrm>
            <a:off x="1783080" y="3493008"/>
            <a:ext cx="0" cy="182880"/>
          </a:xfrm>
          <a:prstGeom prst="line">
            <a:avLst/>
          </a:prstGeom>
          <a:noFill/>
          <a:ln w="15875">
            <a:solidFill>
              <a:srgbClr val="5E6964"/>
            </a:solidFill>
            <a:prstDash val="solid"/>
            <a:tailEnd type="triangle"/>
          </a:ln>
        </p:spPr>
      </p:sp>
      <p:sp>
        <p:nvSpPr>
          <p:cNvPr id="61" name="Shape 43"/>
          <p:cNvSpPr/>
          <p:nvPr/>
        </p:nvSpPr>
        <p:spPr>
          <a:xfrm>
            <a:off x="4572000" y="3493008"/>
            <a:ext cx="0" cy="182880"/>
          </a:xfrm>
          <a:prstGeom prst="line">
            <a:avLst/>
          </a:prstGeom>
          <a:noFill/>
          <a:ln w="15875">
            <a:solidFill>
              <a:srgbClr val="5E6964"/>
            </a:solidFill>
            <a:prstDash val="solid"/>
            <a:tailEnd type="triangle"/>
          </a:ln>
        </p:spPr>
      </p:sp>
      <p:sp>
        <p:nvSpPr>
          <p:cNvPr id="62" name="Shape 44"/>
          <p:cNvSpPr/>
          <p:nvPr/>
        </p:nvSpPr>
        <p:spPr>
          <a:xfrm>
            <a:off x="7360920" y="3493008"/>
            <a:ext cx="0" cy="182880"/>
          </a:xfrm>
          <a:prstGeom prst="line">
            <a:avLst/>
          </a:prstGeom>
          <a:noFill/>
          <a:ln w="15875">
            <a:solidFill>
              <a:srgbClr val="5E6964"/>
            </a:solidFill>
            <a:prstDash val="solid"/>
            <a:tailEnd type="triangle"/>
          </a:ln>
        </p:spPr>
      </p:sp>
      <p:sp>
        <p:nvSpPr>
          <p:cNvPr id="63" name="Shape 45"/>
          <p:cNvSpPr/>
          <p:nvPr/>
        </p:nvSpPr>
        <p:spPr>
          <a:xfrm>
            <a:off x="457200" y="3703320"/>
            <a:ext cx="8229600" cy="896112"/>
          </a:xfrm>
          <a:prstGeom prst="roundRect">
            <a:avLst>
              <a:gd name="adj" fmla="val 6122"/>
            </a:avLst>
          </a:prstGeom>
          <a:solidFill>
            <a:srgbClr val="00704A"/>
          </a:solidFill>
          <a:ln/>
        </p:spPr>
      </p:sp>
      <p:sp>
        <p:nvSpPr>
          <p:cNvPr id="64" name="Text 46"/>
          <p:cNvSpPr txBox="1"/>
          <p:nvPr/>
        </p:nvSpPr>
        <p:spPr>
          <a:xfrm>
            <a:off x="640080" y="3767328"/>
            <a:ext cx="7315200" cy="201168"/>
          </a:xfrm>
          <a:prstGeom prst="rect">
            <a:avLst/>
          </a:prstGeom>
          <a:noFill/>
          <a:ln/>
        </p:spPr>
        <p:txBody>
          <a:bodyPr wrap="square" lIns="0" tIns="0" rIns="0" bIns="0" rtlCol="0" anchor="t"/>
          <a:lstStyle/>
          <a:p>
            <a:pPr marL="0" indent="0">
              <a:buNone/>
            </a:pPr>
            <a:r>
              <a:rPr lang="en-US" sz="950" b="1" kern="0" spc="200" dirty="0">
                <a:solidFill>
                  <a:srgbClr val="F5C242"/>
                </a:solidFill>
                <a:latin typeface="Calibri" pitchFamily="34" charset="0"/>
                <a:ea typeface="Calibri" pitchFamily="34" charset="-122"/>
                <a:cs typeface="Calibri" pitchFamily="34" charset="-120"/>
              </a:rPr>
              <a:t>ONE SHARED CONTROL PLANE ACROSS ALL TIERS</a:t>
            </a:r>
            <a:endParaRPr lang="en-US" sz="950" dirty="0"/>
          </a:p>
        </p:txBody>
      </p:sp>
      <p:sp>
        <p:nvSpPr>
          <p:cNvPr id="65" name="Shape 47"/>
          <p:cNvSpPr/>
          <p:nvPr/>
        </p:nvSpPr>
        <p:spPr>
          <a:xfrm>
            <a:off x="640080" y="4069080"/>
            <a:ext cx="365760" cy="365760"/>
          </a:xfrm>
          <a:prstGeom prst="ellipse">
            <a:avLst/>
          </a:prstGeom>
          <a:solidFill>
            <a:srgbClr val="FFFFFF"/>
          </a:solidFill>
          <a:ln/>
        </p:spPr>
      </p:sp>
      <p:pic>
        <p:nvPicPr>
          <p:cNvPr id="66" name="Image 15" descr="preencoded.png"/>
          <p:cNvPicPr>
            <a:picLocks noChangeAspect="1"/>
          </p:cNvPicPr>
          <p:nvPr/>
        </p:nvPicPr>
        <p:blipFill>
          <a:blip r:embed="rId9"/>
          <a:stretch>
            <a:fillRect/>
          </a:stretch>
        </p:blipFill>
        <p:spPr>
          <a:xfrm>
            <a:off x="731520" y="4160520"/>
            <a:ext cx="182880" cy="182880"/>
          </a:xfrm>
          <a:prstGeom prst="rect">
            <a:avLst/>
          </a:prstGeom>
        </p:spPr>
      </p:pic>
      <p:sp>
        <p:nvSpPr>
          <p:cNvPr id="67" name="Text 48"/>
          <p:cNvSpPr txBox="1"/>
          <p:nvPr/>
        </p:nvSpPr>
        <p:spPr>
          <a:xfrm>
            <a:off x="1078992" y="4023360"/>
            <a:ext cx="1481328"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Single sign-on and role mapping</a:t>
            </a:r>
            <a:endParaRPr lang="en-US" sz="950" dirty="0"/>
          </a:p>
        </p:txBody>
      </p:sp>
      <p:sp>
        <p:nvSpPr>
          <p:cNvPr id="68" name="Shape 49"/>
          <p:cNvSpPr/>
          <p:nvPr/>
        </p:nvSpPr>
        <p:spPr>
          <a:xfrm>
            <a:off x="2651760" y="4069080"/>
            <a:ext cx="365760" cy="365760"/>
          </a:xfrm>
          <a:prstGeom prst="ellipse">
            <a:avLst/>
          </a:prstGeom>
          <a:solidFill>
            <a:srgbClr val="FFFFFF"/>
          </a:solidFill>
          <a:ln/>
        </p:spPr>
      </p:sp>
      <p:pic>
        <p:nvPicPr>
          <p:cNvPr id="69" name="Image 16" descr="preencoded.png"/>
          <p:cNvPicPr>
            <a:picLocks noChangeAspect="1"/>
          </p:cNvPicPr>
          <p:nvPr/>
        </p:nvPicPr>
        <p:blipFill>
          <a:blip r:embed="rId10"/>
          <a:stretch>
            <a:fillRect/>
          </a:stretch>
        </p:blipFill>
        <p:spPr>
          <a:xfrm>
            <a:off x="2743200" y="4160520"/>
            <a:ext cx="182880" cy="182880"/>
          </a:xfrm>
          <a:prstGeom prst="rect">
            <a:avLst/>
          </a:prstGeom>
        </p:spPr>
      </p:pic>
      <p:sp>
        <p:nvSpPr>
          <p:cNvPr id="70" name="Text 50"/>
          <p:cNvSpPr txBox="1"/>
          <p:nvPr/>
        </p:nvSpPr>
        <p:spPr>
          <a:xfrm>
            <a:off x="3090672" y="4023360"/>
            <a:ext cx="1481328"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One catalogue and lineage graph</a:t>
            </a:r>
            <a:endParaRPr lang="en-US" sz="950" dirty="0"/>
          </a:p>
        </p:txBody>
      </p:sp>
      <p:sp>
        <p:nvSpPr>
          <p:cNvPr id="71" name="Shape 51"/>
          <p:cNvSpPr/>
          <p:nvPr/>
        </p:nvSpPr>
        <p:spPr>
          <a:xfrm>
            <a:off x="4663440" y="4069080"/>
            <a:ext cx="365760" cy="365760"/>
          </a:xfrm>
          <a:prstGeom prst="ellipse">
            <a:avLst/>
          </a:prstGeom>
          <a:solidFill>
            <a:srgbClr val="FFFFFF"/>
          </a:solidFill>
          <a:ln/>
        </p:spPr>
      </p:sp>
      <p:pic>
        <p:nvPicPr>
          <p:cNvPr id="72" name="Image 17" descr="preencoded.png"/>
          <p:cNvPicPr>
            <a:picLocks noChangeAspect="1"/>
          </p:cNvPicPr>
          <p:nvPr/>
        </p:nvPicPr>
        <p:blipFill>
          <a:blip r:embed="rId11"/>
          <a:stretch>
            <a:fillRect/>
          </a:stretch>
        </p:blipFill>
        <p:spPr>
          <a:xfrm>
            <a:off x="4754880" y="4160520"/>
            <a:ext cx="182880" cy="182880"/>
          </a:xfrm>
          <a:prstGeom prst="rect">
            <a:avLst/>
          </a:prstGeom>
        </p:spPr>
      </p:pic>
      <p:sp>
        <p:nvSpPr>
          <p:cNvPr id="73" name="Text 52"/>
          <p:cNvSpPr txBox="1"/>
          <p:nvPr/>
        </p:nvSpPr>
        <p:spPr>
          <a:xfrm>
            <a:off x="5102352" y="4023360"/>
            <a:ext cx="1481328"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One model register and approvals</a:t>
            </a:r>
            <a:endParaRPr lang="en-US" sz="950" dirty="0"/>
          </a:p>
        </p:txBody>
      </p:sp>
      <p:sp>
        <p:nvSpPr>
          <p:cNvPr id="74" name="Shape 53"/>
          <p:cNvSpPr/>
          <p:nvPr/>
        </p:nvSpPr>
        <p:spPr>
          <a:xfrm>
            <a:off x="6675120" y="4069080"/>
            <a:ext cx="365760" cy="365760"/>
          </a:xfrm>
          <a:prstGeom prst="ellipse">
            <a:avLst/>
          </a:prstGeom>
          <a:solidFill>
            <a:srgbClr val="FFFFFF"/>
          </a:solidFill>
          <a:ln/>
        </p:spPr>
      </p:sp>
      <p:pic>
        <p:nvPicPr>
          <p:cNvPr id="75" name="Image 18" descr="preencoded.png"/>
          <p:cNvPicPr>
            <a:picLocks noChangeAspect="1"/>
          </p:cNvPicPr>
          <p:nvPr/>
        </p:nvPicPr>
        <p:blipFill>
          <a:blip r:embed="rId12"/>
          <a:stretch>
            <a:fillRect/>
          </a:stretch>
        </p:blipFill>
        <p:spPr>
          <a:xfrm>
            <a:off x="6766560" y="4160520"/>
            <a:ext cx="182880" cy="182880"/>
          </a:xfrm>
          <a:prstGeom prst="rect">
            <a:avLst/>
          </a:prstGeom>
        </p:spPr>
      </p:pic>
      <p:sp>
        <p:nvSpPr>
          <p:cNvPr id="76" name="Text 54"/>
          <p:cNvSpPr txBox="1"/>
          <p:nvPr/>
        </p:nvSpPr>
        <p:spPr>
          <a:xfrm>
            <a:off x="7114032" y="4023360"/>
            <a:ext cx="1481328"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One audit log and cost view</a:t>
            </a:r>
            <a:endParaRPr lang="en-US" sz="95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BUILD VS. BUY</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Build or buy, component by component</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Rule: build what encodes your methodology; adopt what is generic plumbing</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8" name="Text 15"/>
          <p:cNvSpPr txBox="1"/>
          <p:nvPr/>
        </p:nvSpPr>
        <p:spPr>
          <a:xfrm>
            <a:off x="548640" y="1298448"/>
            <a:ext cx="237744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COMPONENT</a:t>
            </a:r>
            <a:endParaRPr lang="en-US" sz="900" dirty="0"/>
          </a:p>
        </p:txBody>
      </p:sp>
      <p:sp>
        <p:nvSpPr>
          <p:cNvPr id="19" name="Text 16"/>
          <p:cNvSpPr txBox="1"/>
          <p:nvPr/>
        </p:nvSpPr>
        <p:spPr>
          <a:xfrm>
            <a:off x="3108960" y="1298448"/>
            <a:ext cx="123444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DEFAULT CALL</a:t>
            </a:r>
            <a:endParaRPr lang="en-US" sz="900" dirty="0"/>
          </a:p>
        </p:txBody>
      </p:sp>
      <p:sp>
        <p:nvSpPr>
          <p:cNvPr id="20" name="Text 17"/>
          <p:cNvSpPr txBox="1"/>
          <p:nvPr/>
        </p:nvSpPr>
        <p:spPr>
          <a:xfrm>
            <a:off x="4526280" y="1298448"/>
            <a:ext cx="40690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WHY</a:t>
            </a:r>
            <a:endParaRPr lang="en-US" sz="900" dirty="0"/>
          </a:p>
        </p:txBody>
      </p:sp>
      <p:sp>
        <p:nvSpPr>
          <p:cNvPr id="21" name="Shape 18"/>
          <p:cNvSpPr/>
          <p:nvPr/>
        </p:nvSpPr>
        <p:spPr>
          <a:xfrm>
            <a:off x="457200" y="1572768"/>
            <a:ext cx="8229600" cy="274320"/>
          </a:xfrm>
          <a:prstGeom prst="roundRect">
            <a:avLst>
              <a:gd name="adj" fmla="val 16667"/>
            </a:avLst>
          </a:prstGeom>
          <a:solidFill>
            <a:srgbClr val="F4F7F5"/>
          </a:solidFill>
          <a:ln w="9525">
            <a:solidFill>
              <a:srgbClr val="D5DED9"/>
            </a:solidFill>
            <a:prstDash val="solid"/>
          </a:ln>
        </p:spPr>
      </p:sp>
      <p:sp>
        <p:nvSpPr>
          <p:cNvPr id="22" name="Text 19"/>
          <p:cNvSpPr txBox="1"/>
          <p:nvPr/>
        </p:nvSpPr>
        <p:spPr>
          <a:xfrm>
            <a:off x="548640" y="1572768"/>
            <a:ext cx="2377440" cy="27432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Foundation models</a:t>
            </a:r>
            <a:endParaRPr lang="en-US" sz="950" dirty="0"/>
          </a:p>
        </p:txBody>
      </p:sp>
      <p:sp>
        <p:nvSpPr>
          <p:cNvPr id="23" name="Shape 20"/>
          <p:cNvSpPr/>
          <p:nvPr/>
        </p:nvSpPr>
        <p:spPr>
          <a:xfrm>
            <a:off x="3177540" y="1600200"/>
            <a:ext cx="1097280" cy="219456"/>
          </a:xfrm>
          <a:prstGeom prst="roundRect">
            <a:avLst>
              <a:gd name="adj" fmla="val 50000"/>
            </a:avLst>
          </a:prstGeom>
          <a:solidFill>
            <a:srgbClr val="0E7C86">
              <a:alpha val="15000"/>
            </a:srgbClr>
          </a:solidFill>
          <a:ln w="9525">
            <a:solidFill>
              <a:srgbClr val="0E7C86"/>
            </a:solidFill>
            <a:prstDash val="solid"/>
          </a:ln>
        </p:spPr>
      </p:sp>
      <p:sp>
        <p:nvSpPr>
          <p:cNvPr id="24" name="Text 21"/>
          <p:cNvSpPr txBox="1"/>
          <p:nvPr/>
        </p:nvSpPr>
        <p:spPr>
          <a:xfrm>
            <a:off x="3177540" y="1600200"/>
            <a:ext cx="109728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ADOPT</a:t>
            </a:r>
            <a:endParaRPr lang="en-US" sz="850" dirty="0"/>
          </a:p>
        </p:txBody>
      </p:sp>
      <p:sp>
        <p:nvSpPr>
          <p:cNvPr id="25" name="Text 22"/>
          <p:cNvSpPr txBox="1"/>
          <p:nvPr/>
        </p:nvSpPr>
        <p:spPr>
          <a:xfrm>
            <a:off x="4526280" y="1572768"/>
            <a:ext cx="406908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No statistical office has a case for pre-training. Choose open-weight or proprietary.</a:t>
            </a:r>
            <a:endParaRPr lang="en-US" sz="950" dirty="0"/>
          </a:p>
        </p:txBody>
      </p:sp>
      <p:sp>
        <p:nvSpPr>
          <p:cNvPr id="26" name="Shape 23"/>
          <p:cNvSpPr/>
          <p:nvPr/>
        </p:nvSpPr>
        <p:spPr>
          <a:xfrm>
            <a:off x="457200" y="1883664"/>
            <a:ext cx="8229600" cy="274320"/>
          </a:xfrm>
          <a:prstGeom prst="roundRect">
            <a:avLst>
              <a:gd name="adj" fmla="val 16667"/>
            </a:avLst>
          </a:prstGeom>
          <a:solidFill>
            <a:srgbClr val="F4F7F5"/>
          </a:solidFill>
          <a:ln w="9525">
            <a:solidFill>
              <a:srgbClr val="D5DED9"/>
            </a:solidFill>
            <a:prstDash val="solid"/>
          </a:ln>
        </p:spPr>
      </p:sp>
      <p:sp>
        <p:nvSpPr>
          <p:cNvPr id="27" name="Text 24"/>
          <p:cNvSpPr txBox="1"/>
          <p:nvPr/>
        </p:nvSpPr>
        <p:spPr>
          <a:xfrm>
            <a:off x="548640" y="1883664"/>
            <a:ext cx="2377440" cy="27432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Domain classifiers and coders</a:t>
            </a:r>
            <a:endParaRPr lang="en-US" sz="950" dirty="0"/>
          </a:p>
        </p:txBody>
      </p:sp>
      <p:sp>
        <p:nvSpPr>
          <p:cNvPr id="28" name="Shape 25"/>
          <p:cNvSpPr/>
          <p:nvPr/>
        </p:nvSpPr>
        <p:spPr>
          <a:xfrm>
            <a:off x="3177540" y="1911096"/>
            <a:ext cx="1097280" cy="219456"/>
          </a:xfrm>
          <a:prstGeom prst="roundRect">
            <a:avLst>
              <a:gd name="adj" fmla="val 50000"/>
            </a:avLst>
          </a:prstGeom>
          <a:solidFill>
            <a:srgbClr val="00A86A">
              <a:alpha val="15000"/>
            </a:srgbClr>
          </a:solidFill>
          <a:ln w="9525">
            <a:solidFill>
              <a:srgbClr val="00A86A"/>
            </a:solidFill>
            <a:prstDash val="solid"/>
          </a:ln>
        </p:spPr>
      </p:sp>
      <p:sp>
        <p:nvSpPr>
          <p:cNvPr id="29" name="Text 26"/>
          <p:cNvSpPr txBox="1"/>
          <p:nvPr/>
        </p:nvSpPr>
        <p:spPr>
          <a:xfrm>
            <a:off x="3177540" y="1911096"/>
            <a:ext cx="109728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BUILD</a:t>
            </a:r>
            <a:endParaRPr lang="en-US" sz="850" dirty="0"/>
          </a:p>
        </p:txBody>
      </p:sp>
      <p:sp>
        <p:nvSpPr>
          <p:cNvPr id="30" name="Text 27"/>
          <p:cNvSpPr txBox="1"/>
          <p:nvPr/>
        </p:nvSpPr>
        <p:spPr>
          <a:xfrm>
            <a:off x="4526280" y="1883664"/>
            <a:ext cx="406908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They encode your classifications, coding rules and history. Nobody else has this data.</a:t>
            </a:r>
            <a:endParaRPr lang="en-US" sz="950" dirty="0"/>
          </a:p>
        </p:txBody>
      </p:sp>
      <p:sp>
        <p:nvSpPr>
          <p:cNvPr id="31" name="Shape 28"/>
          <p:cNvSpPr/>
          <p:nvPr/>
        </p:nvSpPr>
        <p:spPr>
          <a:xfrm>
            <a:off x="457200" y="2194560"/>
            <a:ext cx="8229600" cy="274320"/>
          </a:xfrm>
          <a:prstGeom prst="roundRect">
            <a:avLst>
              <a:gd name="adj" fmla="val 16667"/>
            </a:avLst>
          </a:prstGeom>
          <a:solidFill>
            <a:srgbClr val="F4F7F5"/>
          </a:solidFill>
          <a:ln w="9525">
            <a:solidFill>
              <a:srgbClr val="D5DED9"/>
            </a:solidFill>
            <a:prstDash val="solid"/>
          </a:ln>
        </p:spPr>
      </p:sp>
      <p:sp>
        <p:nvSpPr>
          <p:cNvPr id="32" name="Text 29"/>
          <p:cNvSpPr txBox="1"/>
          <p:nvPr/>
        </p:nvSpPr>
        <p:spPr>
          <a:xfrm>
            <a:off x="548640" y="2194560"/>
            <a:ext cx="2377440" cy="27432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Data platform and catalogue</a:t>
            </a:r>
            <a:endParaRPr lang="en-US" sz="950" dirty="0"/>
          </a:p>
        </p:txBody>
      </p:sp>
      <p:sp>
        <p:nvSpPr>
          <p:cNvPr id="33" name="Shape 30"/>
          <p:cNvSpPr/>
          <p:nvPr/>
        </p:nvSpPr>
        <p:spPr>
          <a:xfrm>
            <a:off x="3177540" y="2221992"/>
            <a:ext cx="1097280" cy="219456"/>
          </a:xfrm>
          <a:prstGeom prst="roundRect">
            <a:avLst>
              <a:gd name="adj" fmla="val 50000"/>
            </a:avLst>
          </a:prstGeom>
          <a:solidFill>
            <a:srgbClr val="0E7C86">
              <a:alpha val="15000"/>
            </a:srgbClr>
          </a:solidFill>
          <a:ln w="9525">
            <a:solidFill>
              <a:srgbClr val="0E7C86"/>
            </a:solidFill>
            <a:prstDash val="solid"/>
          </a:ln>
        </p:spPr>
      </p:sp>
      <p:sp>
        <p:nvSpPr>
          <p:cNvPr id="34" name="Text 31"/>
          <p:cNvSpPr txBox="1"/>
          <p:nvPr/>
        </p:nvSpPr>
        <p:spPr>
          <a:xfrm>
            <a:off x="3177540" y="2221992"/>
            <a:ext cx="109728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ADOPT</a:t>
            </a:r>
            <a:endParaRPr lang="en-US" sz="850" dirty="0"/>
          </a:p>
        </p:txBody>
      </p:sp>
      <p:sp>
        <p:nvSpPr>
          <p:cNvPr id="35" name="Text 32"/>
          <p:cNvSpPr txBox="1"/>
          <p:nvPr/>
        </p:nvSpPr>
        <p:spPr>
          <a:xfrm>
            <a:off x="4526280" y="2194560"/>
            <a:ext cx="406908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Mature open-source and commercial options exist. Prefer open formats.</a:t>
            </a:r>
            <a:endParaRPr lang="en-US" sz="950" dirty="0"/>
          </a:p>
        </p:txBody>
      </p:sp>
      <p:sp>
        <p:nvSpPr>
          <p:cNvPr id="36" name="Shape 33"/>
          <p:cNvSpPr/>
          <p:nvPr/>
        </p:nvSpPr>
        <p:spPr>
          <a:xfrm>
            <a:off x="457200" y="2505456"/>
            <a:ext cx="8229600" cy="274320"/>
          </a:xfrm>
          <a:prstGeom prst="roundRect">
            <a:avLst>
              <a:gd name="adj" fmla="val 16667"/>
            </a:avLst>
          </a:prstGeom>
          <a:solidFill>
            <a:srgbClr val="F4F7F5"/>
          </a:solidFill>
          <a:ln w="9525">
            <a:solidFill>
              <a:srgbClr val="D5DED9"/>
            </a:solidFill>
            <a:prstDash val="solid"/>
          </a:ln>
        </p:spPr>
      </p:sp>
      <p:sp>
        <p:nvSpPr>
          <p:cNvPr id="37" name="Text 34"/>
          <p:cNvSpPr txBox="1"/>
          <p:nvPr/>
        </p:nvSpPr>
        <p:spPr>
          <a:xfrm>
            <a:off x="548640" y="2505456"/>
            <a:ext cx="2377440" cy="27432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Orchestration and scheduling</a:t>
            </a:r>
            <a:endParaRPr lang="en-US" sz="950" dirty="0"/>
          </a:p>
        </p:txBody>
      </p:sp>
      <p:sp>
        <p:nvSpPr>
          <p:cNvPr id="38" name="Shape 35"/>
          <p:cNvSpPr/>
          <p:nvPr/>
        </p:nvSpPr>
        <p:spPr>
          <a:xfrm>
            <a:off x="3177540" y="2532888"/>
            <a:ext cx="1097280" cy="219456"/>
          </a:xfrm>
          <a:prstGeom prst="roundRect">
            <a:avLst>
              <a:gd name="adj" fmla="val 50000"/>
            </a:avLst>
          </a:prstGeom>
          <a:solidFill>
            <a:srgbClr val="0E7C86">
              <a:alpha val="15000"/>
            </a:srgbClr>
          </a:solidFill>
          <a:ln w="9525">
            <a:solidFill>
              <a:srgbClr val="0E7C86"/>
            </a:solidFill>
            <a:prstDash val="solid"/>
          </a:ln>
        </p:spPr>
      </p:sp>
      <p:sp>
        <p:nvSpPr>
          <p:cNvPr id="39" name="Text 36"/>
          <p:cNvSpPr txBox="1"/>
          <p:nvPr/>
        </p:nvSpPr>
        <p:spPr>
          <a:xfrm>
            <a:off x="3177540" y="2532888"/>
            <a:ext cx="109728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ADOPT</a:t>
            </a:r>
            <a:endParaRPr lang="en-US" sz="850" dirty="0"/>
          </a:p>
        </p:txBody>
      </p:sp>
      <p:sp>
        <p:nvSpPr>
          <p:cNvPr id="40" name="Text 37"/>
          <p:cNvSpPr txBox="1"/>
          <p:nvPr/>
        </p:nvSpPr>
        <p:spPr>
          <a:xfrm>
            <a:off x="4526280" y="2505456"/>
            <a:ext cx="406908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Airflow, Argo, Kubeflow and similar are commodities. Do not write your own.</a:t>
            </a:r>
            <a:endParaRPr lang="en-US" sz="950" dirty="0"/>
          </a:p>
        </p:txBody>
      </p:sp>
      <p:sp>
        <p:nvSpPr>
          <p:cNvPr id="41" name="Shape 38"/>
          <p:cNvSpPr/>
          <p:nvPr/>
        </p:nvSpPr>
        <p:spPr>
          <a:xfrm>
            <a:off x="457200" y="2816352"/>
            <a:ext cx="8229600" cy="274320"/>
          </a:xfrm>
          <a:prstGeom prst="roundRect">
            <a:avLst>
              <a:gd name="adj" fmla="val 16667"/>
            </a:avLst>
          </a:prstGeom>
          <a:solidFill>
            <a:srgbClr val="F4F7F5"/>
          </a:solidFill>
          <a:ln w="9525">
            <a:solidFill>
              <a:srgbClr val="D5DED9"/>
            </a:solidFill>
            <a:prstDash val="solid"/>
          </a:ln>
        </p:spPr>
      </p:sp>
      <p:sp>
        <p:nvSpPr>
          <p:cNvPr id="42" name="Text 39"/>
          <p:cNvSpPr txBox="1"/>
          <p:nvPr/>
        </p:nvSpPr>
        <p:spPr>
          <a:xfrm>
            <a:off x="548640" y="2816352"/>
            <a:ext cx="2377440" cy="27432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Vector store and retrieval</a:t>
            </a:r>
            <a:endParaRPr lang="en-US" sz="950" dirty="0"/>
          </a:p>
        </p:txBody>
      </p:sp>
      <p:sp>
        <p:nvSpPr>
          <p:cNvPr id="43" name="Shape 40"/>
          <p:cNvSpPr/>
          <p:nvPr/>
        </p:nvSpPr>
        <p:spPr>
          <a:xfrm>
            <a:off x="3177540" y="2843784"/>
            <a:ext cx="1097280" cy="219456"/>
          </a:xfrm>
          <a:prstGeom prst="roundRect">
            <a:avLst>
              <a:gd name="adj" fmla="val 50000"/>
            </a:avLst>
          </a:prstGeom>
          <a:solidFill>
            <a:srgbClr val="0E7C86">
              <a:alpha val="15000"/>
            </a:srgbClr>
          </a:solidFill>
          <a:ln w="9525">
            <a:solidFill>
              <a:srgbClr val="0E7C86"/>
            </a:solidFill>
            <a:prstDash val="solid"/>
          </a:ln>
        </p:spPr>
      </p:sp>
      <p:sp>
        <p:nvSpPr>
          <p:cNvPr id="44" name="Text 41"/>
          <p:cNvSpPr txBox="1"/>
          <p:nvPr/>
        </p:nvSpPr>
        <p:spPr>
          <a:xfrm>
            <a:off x="3177540" y="2843784"/>
            <a:ext cx="109728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ADOPT</a:t>
            </a:r>
            <a:endParaRPr lang="en-US" sz="850" dirty="0"/>
          </a:p>
        </p:txBody>
      </p:sp>
      <p:sp>
        <p:nvSpPr>
          <p:cNvPr id="45" name="Text 42"/>
          <p:cNvSpPr txBox="1"/>
          <p:nvPr/>
        </p:nvSpPr>
        <p:spPr>
          <a:xfrm>
            <a:off x="4526280" y="2816352"/>
            <a:ext cx="406908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Commodity and fast-moving; keep the embedding pipeline in your own code.</a:t>
            </a:r>
            <a:endParaRPr lang="en-US" sz="950" dirty="0"/>
          </a:p>
        </p:txBody>
      </p:sp>
      <p:sp>
        <p:nvSpPr>
          <p:cNvPr id="46" name="Shape 43"/>
          <p:cNvSpPr/>
          <p:nvPr/>
        </p:nvSpPr>
        <p:spPr>
          <a:xfrm>
            <a:off x="457200" y="3127248"/>
            <a:ext cx="8229600" cy="274320"/>
          </a:xfrm>
          <a:prstGeom prst="roundRect">
            <a:avLst>
              <a:gd name="adj" fmla="val 16667"/>
            </a:avLst>
          </a:prstGeom>
          <a:solidFill>
            <a:srgbClr val="F4F7F5"/>
          </a:solidFill>
          <a:ln w="9525">
            <a:solidFill>
              <a:srgbClr val="D5DED9"/>
            </a:solidFill>
            <a:prstDash val="solid"/>
          </a:ln>
        </p:spPr>
      </p:sp>
      <p:sp>
        <p:nvSpPr>
          <p:cNvPr id="47" name="Text 44"/>
          <p:cNvSpPr txBox="1"/>
          <p:nvPr/>
        </p:nvSpPr>
        <p:spPr>
          <a:xfrm>
            <a:off x="548640" y="3127248"/>
            <a:ext cx="2377440" cy="27432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Evaluation harness</a:t>
            </a:r>
            <a:endParaRPr lang="en-US" sz="950" dirty="0"/>
          </a:p>
        </p:txBody>
      </p:sp>
      <p:sp>
        <p:nvSpPr>
          <p:cNvPr id="48" name="Shape 45"/>
          <p:cNvSpPr/>
          <p:nvPr/>
        </p:nvSpPr>
        <p:spPr>
          <a:xfrm>
            <a:off x="3177540" y="3154680"/>
            <a:ext cx="1097280" cy="219456"/>
          </a:xfrm>
          <a:prstGeom prst="roundRect">
            <a:avLst>
              <a:gd name="adj" fmla="val 50000"/>
            </a:avLst>
          </a:prstGeom>
          <a:solidFill>
            <a:srgbClr val="00A86A">
              <a:alpha val="15000"/>
            </a:srgbClr>
          </a:solidFill>
          <a:ln w="9525">
            <a:solidFill>
              <a:srgbClr val="00A86A"/>
            </a:solidFill>
            <a:prstDash val="solid"/>
          </a:ln>
        </p:spPr>
      </p:sp>
      <p:sp>
        <p:nvSpPr>
          <p:cNvPr id="49" name="Text 46"/>
          <p:cNvSpPr txBox="1"/>
          <p:nvPr/>
        </p:nvSpPr>
        <p:spPr>
          <a:xfrm>
            <a:off x="3177540" y="3154680"/>
            <a:ext cx="109728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BUILD</a:t>
            </a:r>
            <a:endParaRPr lang="en-US" sz="850" dirty="0"/>
          </a:p>
        </p:txBody>
      </p:sp>
      <p:sp>
        <p:nvSpPr>
          <p:cNvPr id="50" name="Text 47"/>
          <p:cNvSpPr txBox="1"/>
          <p:nvPr/>
        </p:nvSpPr>
        <p:spPr>
          <a:xfrm>
            <a:off x="4526280" y="3127248"/>
            <a:ext cx="406908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Your gold standard, rare classes and human baseline. No vendor benchmark replaces it.</a:t>
            </a:r>
            <a:endParaRPr lang="en-US" sz="950" dirty="0"/>
          </a:p>
        </p:txBody>
      </p:sp>
      <p:sp>
        <p:nvSpPr>
          <p:cNvPr id="51" name="Shape 48"/>
          <p:cNvSpPr/>
          <p:nvPr/>
        </p:nvSpPr>
        <p:spPr>
          <a:xfrm>
            <a:off x="457200" y="3438144"/>
            <a:ext cx="8229600" cy="274320"/>
          </a:xfrm>
          <a:prstGeom prst="roundRect">
            <a:avLst>
              <a:gd name="adj" fmla="val 16667"/>
            </a:avLst>
          </a:prstGeom>
          <a:solidFill>
            <a:srgbClr val="F4F7F5"/>
          </a:solidFill>
          <a:ln w="9525">
            <a:solidFill>
              <a:srgbClr val="D5DED9"/>
            </a:solidFill>
            <a:prstDash val="solid"/>
          </a:ln>
        </p:spPr>
      </p:sp>
      <p:sp>
        <p:nvSpPr>
          <p:cNvPr id="52" name="Text 49"/>
          <p:cNvSpPr txBox="1"/>
          <p:nvPr/>
        </p:nvSpPr>
        <p:spPr>
          <a:xfrm>
            <a:off x="548640" y="3438144"/>
            <a:ext cx="2377440" cy="27432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Annotation tooling</a:t>
            </a:r>
            <a:endParaRPr lang="en-US" sz="950" dirty="0"/>
          </a:p>
        </p:txBody>
      </p:sp>
      <p:sp>
        <p:nvSpPr>
          <p:cNvPr id="53" name="Shape 50"/>
          <p:cNvSpPr/>
          <p:nvPr/>
        </p:nvSpPr>
        <p:spPr>
          <a:xfrm>
            <a:off x="3177540" y="3465576"/>
            <a:ext cx="1097280" cy="219456"/>
          </a:xfrm>
          <a:prstGeom prst="roundRect">
            <a:avLst>
              <a:gd name="adj" fmla="val 50000"/>
            </a:avLst>
          </a:prstGeom>
          <a:solidFill>
            <a:srgbClr val="0E7C86">
              <a:alpha val="15000"/>
            </a:srgbClr>
          </a:solidFill>
          <a:ln w="9525">
            <a:solidFill>
              <a:srgbClr val="0E7C86"/>
            </a:solidFill>
            <a:prstDash val="solid"/>
          </a:ln>
        </p:spPr>
      </p:sp>
      <p:sp>
        <p:nvSpPr>
          <p:cNvPr id="54" name="Text 51"/>
          <p:cNvSpPr txBox="1"/>
          <p:nvPr/>
        </p:nvSpPr>
        <p:spPr>
          <a:xfrm>
            <a:off x="3177540" y="3465576"/>
            <a:ext cx="109728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ADOPT</a:t>
            </a:r>
            <a:endParaRPr lang="en-US" sz="850" dirty="0"/>
          </a:p>
        </p:txBody>
      </p:sp>
      <p:sp>
        <p:nvSpPr>
          <p:cNvPr id="55" name="Text 52"/>
          <p:cNvSpPr txBox="1"/>
          <p:nvPr/>
        </p:nvSpPr>
        <p:spPr>
          <a:xfrm>
            <a:off x="4526280" y="3438144"/>
            <a:ext cx="406908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Buy the tool; own the guidelines, the adjudication and the resulting data.</a:t>
            </a:r>
            <a:endParaRPr lang="en-US" sz="950" dirty="0"/>
          </a:p>
        </p:txBody>
      </p:sp>
      <p:sp>
        <p:nvSpPr>
          <p:cNvPr id="56" name="Shape 53"/>
          <p:cNvSpPr/>
          <p:nvPr/>
        </p:nvSpPr>
        <p:spPr>
          <a:xfrm>
            <a:off x="457200" y="3749040"/>
            <a:ext cx="8229600" cy="274320"/>
          </a:xfrm>
          <a:prstGeom prst="roundRect">
            <a:avLst>
              <a:gd name="adj" fmla="val 16667"/>
            </a:avLst>
          </a:prstGeom>
          <a:solidFill>
            <a:srgbClr val="F4F7F5"/>
          </a:solidFill>
          <a:ln w="9525">
            <a:solidFill>
              <a:srgbClr val="D5DED9"/>
            </a:solidFill>
            <a:prstDash val="solid"/>
          </a:ln>
        </p:spPr>
      </p:sp>
      <p:sp>
        <p:nvSpPr>
          <p:cNvPr id="57" name="Text 54"/>
          <p:cNvSpPr txBox="1"/>
          <p:nvPr/>
        </p:nvSpPr>
        <p:spPr>
          <a:xfrm>
            <a:off x="548640" y="3749040"/>
            <a:ext cx="2377440" cy="274320"/>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AI gateway and confidentiality controls</a:t>
            </a:r>
            <a:endParaRPr lang="en-US" sz="950" dirty="0"/>
          </a:p>
        </p:txBody>
      </p:sp>
      <p:sp>
        <p:nvSpPr>
          <p:cNvPr id="58" name="Shape 55"/>
          <p:cNvSpPr/>
          <p:nvPr/>
        </p:nvSpPr>
        <p:spPr>
          <a:xfrm>
            <a:off x="3108960" y="3776472"/>
            <a:ext cx="1234440" cy="219456"/>
          </a:xfrm>
          <a:prstGeom prst="roundRect">
            <a:avLst>
              <a:gd name="adj" fmla="val 50000"/>
            </a:avLst>
          </a:prstGeom>
          <a:solidFill>
            <a:srgbClr val="00704A">
              <a:alpha val="15000"/>
            </a:srgbClr>
          </a:solidFill>
          <a:ln w="9525">
            <a:solidFill>
              <a:srgbClr val="00704A"/>
            </a:solidFill>
            <a:prstDash val="solid"/>
          </a:ln>
        </p:spPr>
      </p:sp>
      <p:sp>
        <p:nvSpPr>
          <p:cNvPr id="59" name="Text 56"/>
          <p:cNvSpPr txBox="1"/>
          <p:nvPr/>
        </p:nvSpPr>
        <p:spPr>
          <a:xfrm>
            <a:off x="3108960" y="3776472"/>
            <a:ext cx="1234440" cy="219456"/>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BUILD / ASSEMBLE</a:t>
            </a:r>
            <a:endParaRPr lang="en-US" sz="850" dirty="0"/>
          </a:p>
        </p:txBody>
      </p:sp>
      <p:sp>
        <p:nvSpPr>
          <p:cNvPr id="60" name="Text 57"/>
          <p:cNvSpPr txBox="1"/>
          <p:nvPr/>
        </p:nvSpPr>
        <p:spPr>
          <a:xfrm>
            <a:off x="4526280" y="3749040"/>
            <a:ext cx="406908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Redaction rules and allow-lists are institution-specific. Assemble, but own the logic.</a:t>
            </a:r>
            <a:endParaRPr lang="en-US" sz="950" dirty="0"/>
          </a:p>
        </p:txBody>
      </p:sp>
      <p:sp>
        <p:nvSpPr>
          <p:cNvPr id="61" name="Shape 58"/>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62" name="Shape 59"/>
          <p:cNvSpPr/>
          <p:nvPr/>
        </p:nvSpPr>
        <p:spPr>
          <a:xfrm>
            <a:off x="566928" y="4233672"/>
            <a:ext cx="292608" cy="292608"/>
          </a:xfrm>
          <a:prstGeom prst="ellipse">
            <a:avLst/>
          </a:prstGeom>
          <a:solidFill>
            <a:srgbClr val="00A86A">
              <a:alpha val="22000"/>
            </a:srgbClr>
          </a:solidFill>
          <a:ln/>
        </p:spPr>
      </p:sp>
      <p:pic>
        <p:nvPicPr>
          <p:cNvPr id="63" name="Image 0" descr="preencoded.png"/>
          <p:cNvPicPr>
            <a:picLocks noChangeAspect="1"/>
          </p:cNvPicPr>
          <p:nvPr/>
        </p:nvPicPr>
        <p:blipFill>
          <a:blip r:embed="rId3"/>
          <a:stretch>
            <a:fillRect/>
          </a:stretch>
        </p:blipFill>
        <p:spPr>
          <a:xfrm>
            <a:off x="637154" y="4303898"/>
            <a:ext cx="152156" cy="152156"/>
          </a:xfrm>
          <a:prstGeom prst="rect">
            <a:avLst/>
          </a:prstGeom>
        </p:spPr>
      </p:pic>
      <p:sp>
        <p:nvSpPr>
          <p:cNvPr id="64" name="Text 60"/>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Every BUILD here would still be valuable if every current AI vendor disappeared tomorrow. That is the test.</a:t>
            </a:r>
            <a:endParaRPr lang="en-US" sz="105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MODEL CHOICE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Open-weight vs. proprietary models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Not a philosophical question — a portfolio decision driven by data tier and reproducibility</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36</a:t>
            </a:r>
            <a:endParaRPr lang="en-US" sz="850" dirty="0"/>
          </a:p>
        </p:txBody>
      </p:sp>
      <p:sp>
        <p:nvSpPr>
          <p:cNvPr id="18" name="Shape 15"/>
          <p:cNvSpPr/>
          <p:nvPr/>
        </p:nvSpPr>
        <p:spPr>
          <a:xfrm>
            <a:off x="2057400" y="1298448"/>
            <a:ext cx="3291840" cy="384048"/>
          </a:xfrm>
          <a:prstGeom prst="roundRect">
            <a:avLst>
              <a:gd name="adj" fmla="val 19048"/>
            </a:avLst>
          </a:prstGeom>
          <a:solidFill>
            <a:srgbClr val="E8F5EF"/>
          </a:solidFill>
          <a:ln w="15875">
            <a:solidFill>
              <a:srgbClr val="00704A"/>
            </a:solidFill>
            <a:prstDash val="solid"/>
          </a:ln>
        </p:spPr>
      </p:sp>
      <p:sp>
        <p:nvSpPr>
          <p:cNvPr id="19" name="Shape 16"/>
          <p:cNvSpPr/>
          <p:nvPr/>
        </p:nvSpPr>
        <p:spPr>
          <a:xfrm>
            <a:off x="2148840" y="1353312"/>
            <a:ext cx="274320" cy="274320"/>
          </a:xfrm>
          <a:prstGeom prst="ellipse">
            <a:avLst/>
          </a:prstGeom>
          <a:solidFill>
            <a:srgbClr val="00704A">
              <a:alpha val="22000"/>
            </a:srgbClr>
          </a:solidFill>
          <a:ln/>
        </p:spPr>
      </p:sp>
      <p:pic>
        <p:nvPicPr>
          <p:cNvPr id="20" name="Image 0" descr="preencoded.png"/>
          <p:cNvPicPr>
            <a:picLocks noChangeAspect="1"/>
          </p:cNvPicPr>
          <p:nvPr/>
        </p:nvPicPr>
        <p:blipFill>
          <a:blip r:embed="rId3"/>
          <a:stretch>
            <a:fillRect/>
          </a:stretch>
        </p:blipFill>
        <p:spPr>
          <a:xfrm>
            <a:off x="2214677" y="1419149"/>
            <a:ext cx="142646" cy="142646"/>
          </a:xfrm>
          <a:prstGeom prst="rect">
            <a:avLst/>
          </a:prstGeom>
        </p:spPr>
      </p:pic>
      <p:sp>
        <p:nvSpPr>
          <p:cNvPr id="21" name="Text 17"/>
          <p:cNvSpPr txBox="1"/>
          <p:nvPr/>
        </p:nvSpPr>
        <p:spPr>
          <a:xfrm>
            <a:off x="2514600" y="1298448"/>
            <a:ext cx="2743200" cy="384048"/>
          </a:xfrm>
          <a:prstGeom prst="rect">
            <a:avLst/>
          </a:prstGeom>
          <a:noFill/>
          <a:ln/>
        </p:spPr>
        <p:txBody>
          <a:bodyPr wrap="square" lIns="0" tIns="0" rIns="0" bIns="0" rtlCol="0" anchor="ctr"/>
          <a:lstStyle/>
          <a:p>
            <a:pPr marL="0" indent="0">
              <a:buNone/>
            </a:pPr>
            <a:r>
              <a:rPr lang="en-US" sz="1050" b="1" kern="0" spc="100" dirty="0">
                <a:solidFill>
                  <a:srgbClr val="00704A"/>
                </a:solidFill>
                <a:latin typeface="Calibri" pitchFamily="34" charset="0"/>
                <a:ea typeface="Calibri" pitchFamily="34" charset="-122"/>
                <a:cs typeface="Calibri" pitchFamily="34" charset="-120"/>
              </a:rPr>
              <a:t>OPEN-WEIGHT, SELF-HOSTED</a:t>
            </a:r>
            <a:endParaRPr lang="en-US" sz="1050" dirty="0"/>
          </a:p>
        </p:txBody>
      </p:sp>
      <p:sp>
        <p:nvSpPr>
          <p:cNvPr id="22" name="Shape 18"/>
          <p:cNvSpPr/>
          <p:nvPr/>
        </p:nvSpPr>
        <p:spPr>
          <a:xfrm>
            <a:off x="5394960" y="1298448"/>
            <a:ext cx="3291840" cy="384048"/>
          </a:xfrm>
          <a:prstGeom prst="roundRect">
            <a:avLst>
              <a:gd name="adj" fmla="val 19048"/>
            </a:avLst>
          </a:prstGeom>
          <a:solidFill>
            <a:srgbClr val="E6F2F3"/>
          </a:solidFill>
          <a:ln w="15875">
            <a:solidFill>
              <a:srgbClr val="0E7C86"/>
            </a:solidFill>
            <a:prstDash val="solid"/>
          </a:ln>
        </p:spPr>
      </p:sp>
      <p:sp>
        <p:nvSpPr>
          <p:cNvPr id="23" name="Shape 19"/>
          <p:cNvSpPr/>
          <p:nvPr/>
        </p:nvSpPr>
        <p:spPr>
          <a:xfrm>
            <a:off x="5486400" y="1353312"/>
            <a:ext cx="274320" cy="274320"/>
          </a:xfrm>
          <a:prstGeom prst="ellipse">
            <a:avLst/>
          </a:prstGeom>
          <a:solidFill>
            <a:srgbClr val="0E7C86">
              <a:alpha val="22000"/>
            </a:srgbClr>
          </a:solidFill>
          <a:ln/>
        </p:spPr>
      </p:sp>
      <p:pic>
        <p:nvPicPr>
          <p:cNvPr id="24" name="Image 1" descr="preencoded.png"/>
          <p:cNvPicPr>
            <a:picLocks noChangeAspect="1"/>
          </p:cNvPicPr>
          <p:nvPr/>
        </p:nvPicPr>
        <p:blipFill>
          <a:blip r:embed="rId4"/>
          <a:stretch>
            <a:fillRect/>
          </a:stretch>
        </p:blipFill>
        <p:spPr>
          <a:xfrm>
            <a:off x="5552237" y="1419149"/>
            <a:ext cx="142646" cy="142646"/>
          </a:xfrm>
          <a:prstGeom prst="rect">
            <a:avLst/>
          </a:prstGeom>
        </p:spPr>
      </p:pic>
      <p:sp>
        <p:nvSpPr>
          <p:cNvPr id="25" name="Text 20"/>
          <p:cNvSpPr txBox="1"/>
          <p:nvPr/>
        </p:nvSpPr>
        <p:spPr>
          <a:xfrm>
            <a:off x="5852160" y="1298448"/>
            <a:ext cx="2743200" cy="384048"/>
          </a:xfrm>
          <a:prstGeom prst="rect">
            <a:avLst/>
          </a:prstGeom>
          <a:noFill/>
          <a:ln/>
        </p:spPr>
        <p:txBody>
          <a:bodyPr wrap="square" lIns="0" tIns="0" rIns="0" bIns="0" rtlCol="0" anchor="ctr"/>
          <a:lstStyle/>
          <a:p>
            <a:pPr marL="0" indent="0">
              <a:buNone/>
            </a:pPr>
            <a:r>
              <a:rPr lang="en-US" sz="1050" b="1" kern="0" spc="100" dirty="0">
                <a:solidFill>
                  <a:srgbClr val="0E7C86"/>
                </a:solidFill>
                <a:latin typeface="Calibri" pitchFamily="34" charset="0"/>
                <a:ea typeface="Calibri" pitchFamily="34" charset="-122"/>
                <a:cs typeface="Calibri" pitchFamily="34" charset="-120"/>
              </a:rPr>
              <a:t>PROPRIETARY, MANAGED API</a:t>
            </a:r>
            <a:endParaRPr lang="en-US" sz="1050" dirty="0"/>
          </a:p>
        </p:txBody>
      </p:sp>
      <p:sp>
        <p:nvSpPr>
          <p:cNvPr id="26" name="Text 21"/>
          <p:cNvSpPr txBox="1"/>
          <p:nvPr/>
        </p:nvSpPr>
        <p:spPr>
          <a:xfrm>
            <a:off x="457200" y="1755648"/>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Confidentiality</a:t>
            </a:r>
            <a:endParaRPr lang="en-US" sz="1050" dirty="0"/>
          </a:p>
        </p:txBody>
      </p:sp>
      <p:sp>
        <p:nvSpPr>
          <p:cNvPr id="27" name="Shape 22"/>
          <p:cNvSpPr/>
          <p:nvPr/>
        </p:nvSpPr>
        <p:spPr>
          <a:xfrm>
            <a:off x="2057400" y="1755648"/>
            <a:ext cx="3291840" cy="292608"/>
          </a:xfrm>
          <a:prstGeom prst="roundRect">
            <a:avLst>
              <a:gd name="adj" fmla="val 12500"/>
            </a:avLst>
          </a:prstGeom>
          <a:solidFill>
            <a:srgbClr val="F4F7F5"/>
          </a:solidFill>
          <a:ln w="9525">
            <a:solidFill>
              <a:srgbClr val="D5DED9"/>
            </a:solidFill>
            <a:prstDash val="solid"/>
          </a:ln>
        </p:spPr>
      </p:sp>
      <p:sp>
        <p:nvSpPr>
          <p:cNvPr id="28" name="Text 23"/>
          <p:cNvSpPr txBox="1"/>
          <p:nvPr/>
        </p:nvSpPr>
        <p:spPr>
          <a:xfrm>
            <a:off x="2148840" y="1755648"/>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Runs inside your perimeter; data never leaves</a:t>
            </a:r>
            <a:endParaRPr lang="en-US" sz="950" dirty="0"/>
          </a:p>
        </p:txBody>
      </p:sp>
      <p:sp>
        <p:nvSpPr>
          <p:cNvPr id="29" name="Shape 24"/>
          <p:cNvSpPr/>
          <p:nvPr/>
        </p:nvSpPr>
        <p:spPr>
          <a:xfrm>
            <a:off x="5394960" y="1755648"/>
            <a:ext cx="3291840" cy="292608"/>
          </a:xfrm>
          <a:prstGeom prst="roundRect">
            <a:avLst>
              <a:gd name="adj" fmla="val 12500"/>
            </a:avLst>
          </a:prstGeom>
          <a:solidFill>
            <a:srgbClr val="F4F7F5"/>
          </a:solidFill>
          <a:ln w="9525">
            <a:solidFill>
              <a:srgbClr val="D5DED9"/>
            </a:solidFill>
            <a:prstDash val="solid"/>
          </a:ln>
        </p:spPr>
      </p:sp>
      <p:sp>
        <p:nvSpPr>
          <p:cNvPr id="30" name="Text 25"/>
          <p:cNvSpPr txBox="1"/>
          <p:nvPr/>
        </p:nvSpPr>
        <p:spPr>
          <a:xfrm>
            <a:off x="5486400" y="1755648"/>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Data leaves unless a single-tenant deployment is contracted</a:t>
            </a:r>
            <a:endParaRPr lang="en-US" sz="950" dirty="0"/>
          </a:p>
        </p:txBody>
      </p:sp>
      <p:sp>
        <p:nvSpPr>
          <p:cNvPr id="31" name="Text 26"/>
          <p:cNvSpPr txBox="1"/>
          <p:nvPr/>
        </p:nvSpPr>
        <p:spPr>
          <a:xfrm>
            <a:off x="457200" y="2089404"/>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Reproducibility</a:t>
            </a:r>
            <a:endParaRPr lang="en-US" sz="1050" dirty="0"/>
          </a:p>
        </p:txBody>
      </p:sp>
      <p:sp>
        <p:nvSpPr>
          <p:cNvPr id="32" name="Shape 27"/>
          <p:cNvSpPr/>
          <p:nvPr/>
        </p:nvSpPr>
        <p:spPr>
          <a:xfrm>
            <a:off x="2057400" y="2089404"/>
            <a:ext cx="3291840" cy="292608"/>
          </a:xfrm>
          <a:prstGeom prst="roundRect">
            <a:avLst>
              <a:gd name="adj" fmla="val 12500"/>
            </a:avLst>
          </a:prstGeom>
          <a:solidFill>
            <a:srgbClr val="F4F7F5"/>
          </a:solidFill>
          <a:ln w="9525">
            <a:solidFill>
              <a:srgbClr val="D5DED9"/>
            </a:solidFill>
            <a:prstDash val="solid"/>
          </a:ln>
        </p:spPr>
      </p:sp>
      <p:sp>
        <p:nvSpPr>
          <p:cNvPr id="33" name="Text 28"/>
          <p:cNvSpPr txBox="1"/>
          <p:nvPr/>
        </p:nvSpPr>
        <p:spPr>
          <a:xfrm>
            <a:off x="2148840" y="2089404"/>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Weights can be pinned and archived indefinitely</a:t>
            </a:r>
            <a:endParaRPr lang="en-US" sz="950" dirty="0"/>
          </a:p>
        </p:txBody>
      </p:sp>
      <p:sp>
        <p:nvSpPr>
          <p:cNvPr id="34" name="Shape 29"/>
          <p:cNvSpPr/>
          <p:nvPr/>
        </p:nvSpPr>
        <p:spPr>
          <a:xfrm>
            <a:off x="5394960" y="2089404"/>
            <a:ext cx="3291840" cy="292608"/>
          </a:xfrm>
          <a:prstGeom prst="roundRect">
            <a:avLst>
              <a:gd name="adj" fmla="val 12500"/>
            </a:avLst>
          </a:prstGeom>
          <a:solidFill>
            <a:srgbClr val="F4F7F5"/>
          </a:solidFill>
          <a:ln w="9525">
            <a:solidFill>
              <a:srgbClr val="D5DED9"/>
            </a:solidFill>
            <a:prstDash val="solid"/>
          </a:ln>
        </p:spPr>
      </p:sp>
      <p:sp>
        <p:nvSpPr>
          <p:cNvPr id="35" name="Text 30"/>
          <p:cNvSpPr txBox="1"/>
          <p:nvPr/>
        </p:nvSpPr>
        <p:spPr>
          <a:xfrm>
            <a:off x="5486400" y="2089404"/>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Versions are retired on the vendor's schedule</a:t>
            </a:r>
            <a:endParaRPr lang="en-US" sz="950" dirty="0"/>
          </a:p>
        </p:txBody>
      </p:sp>
      <p:sp>
        <p:nvSpPr>
          <p:cNvPr id="36" name="Text 31"/>
          <p:cNvSpPr txBox="1"/>
          <p:nvPr/>
        </p:nvSpPr>
        <p:spPr>
          <a:xfrm>
            <a:off x="457200" y="2423160"/>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Capability</a:t>
            </a:r>
            <a:endParaRPr lang="en-US" sz="1050" dirty="0"/>
          </a:p>
        </p:txBody>
      </p:sp>
      <p:sp>
        <p:nvSpPr>
          <p:cNvPr id="37" name="Shape 32"/>
          <p:cNvSpPr/>
          <p:nvPr/>
        </p:nvSpPr>
        <p:spPr>
          <a:xfrm>
            <a:off x="2057400" y="2423160"/>
            <a:ext cx="3291840" cy="292608"/>
          </a:xfrm>
          <a:prstGeom prst="roundRect">
            <a:avLst>
              <a:gd name="adj" fmla="val 12500"/>
            </a:avLst>
          </a:prstGeom>
          <a:solidFill>
            <a:srgbClr val="F4F7F5"/>
          </a:solidFill>
          <a:ln w="9525">
            <a:solidFill>
              <a:srgbClr val="D5DED9"/>
            </a:solidFill>
            <a:prstDash val="solid"/>
          </a:ln>
        </p:spPr>
      </p:sp>
      <p:sp>
        <p:nvSpPr>
          <p:cNvPr id="38" name="Text 33"/>
          <p:cNvSpPr txBox="1"/>
          <p:nvPr/>
        </p:nvSpPr>
        <p:spPr>
          <a:xfrm>
            <a:off x="2148840" y="2423160"/>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Strong and improving; often enough for extraction and coding</a:t>
            </a:r>
            <a:endParaRPr lang="en-US" sz="950" dirty="0"/>
          </a:p>
        </p:txBody>
      </p:sp>
      <p:sp>
        <p:nvSpPr>
          <p:cNvPr id="39" name="Shape 34"/>
          <p:cNvSpPr/>
          <p:nvPr/>
        </p:nvSpPr>
        <p:spPr>
          <a:xfrm>
            <a:off x="5394960" y="2423160"/>
            <a:ext cx="3291840" cy="292608"/>
          </a:xfrm>
          <a:prstGeom prst="roundRect">
            <a:avLst>
              <a:gd name="adj" fmla="val 12500"/>
            </a:avLst>
          </a:prstGeom>
          <a:solidFill>
            <a:srgbClr val="F4F7F5"/>
          </a:solidFill>
          <a:ln w="9525">
            <a:solidFill>
              <a:srgbClr val="D5DED9"/>
            </a:solidFill>
            <a:prstDash val="solid"/>
          </a:ln>
        </p:spPr>
      </p:sp>
      <p:sp>
        <p:nvSpPr>
          <p:cNvPr id="40" name="Text 35"/>
          <p:cNvSpPr txBox="1"/>
          <p:nvPr/>
        </p:nvSpPr>
        <p:spPr>
          <a:xfrm>
            <a:off x="5486400" y="2423160"/>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Usually leads on the hardest reasoning and many languages</a:t>
            </a:r>
            <a:endParaRPr lang="en-US" sz="950" dirty="0"/>
          </a:p>
        </p:txBody>
      </p:sp>
      <p:sp>
        <p:nvSpPr>
          <p:cNvPr id="41" name="Text 36"/>
          <p:cNvSpPr txBox="1"/>
          <p:nvPr/>
        </p:nvSpPr>
        <p:spPr>
          <a:xfrm>
            <a:off x="457200" y="2756916"/>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Cost shape</a:t>
            </a:r>
            <a:endParaRPr lang="en-US" sz="1050" dirty="0"/>
          </a:p>
        </p:txBody>
      </p:sp>
      <p:sp>
        <p:nvSpPr>
          <p:cNvPr id="42" name="Shape 37"/>
          <p:cNvSpPr/>
          <p:nvPr/>
        </p:nvSpPr>
        <p:spPr>
          <a:xfrm>
            <a:off x="2057400" y="2756916"/>
            <a:ext cx="3291840" cy="292608"/>
          </a:xfrm>
          <a:prstGeom prst="roundRect">
            <a:avLst>
              <a:gd name="adj" fmla="val 12500"/>
            </a:avLst>
          </a:prstGeom>
          <a:solidFill>
            <a:srgbClr val="F4F7F5"/>
          </a:solidFill>
          <a:ln w="9525">
            <a:solidFill>
              <a:srgbClr val="D5DED9"/>
            </a:solidFill>
            <a:prstDash val="solid"/>
          </a:ln>
        </p:spPr>
      </p:sp>
      <p:sp>
        <p:nvSpPr>
          <p:cNvPr id="43" name="Text 38"/>
          <p:cNvSpPr txBox="1"/>
          <p:nvPr/>
        </p:nvSpPr>
        <p:spPr>
          <a:xfrm>
            <a:off x="2148840" y="2756916"/>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Fixed: hardware and staff, whatever the volume</a:t>
            </a:r>
            <a:endParaRPr lang="en-US" sz="950" dirty="0"/>
          </a:p>
        </p:txBody>
      </p:sp>
      <p:sp>
        <p:nvSpPr>
          <p:cNvPr id="44" name="Shape 39"/>
          <p:cNvSpPr/>
          <p:nvPr/>
        </p:nvSpPr>
        <p:spPr>
          <a:xfrm>
            <a:off x="5394960" y="2756916"/>
            <a:ext cx="3291840" cy="292608"/>
          </a:xfrm>
          <a:prstGeom prst="roundRect">
            <a:avLst>
              <a:gd name="adj" fmla="val 12500"/>
            </a:avLst>
          </a:prstGeom>
          <a:solidFill>
            <a:srgbClr val="F4F7F5"/>
          </a:solidFill>
          <a:ln w="9525">
            <a:solidFill>
              <a:srgbClr val="D5DED9"/>
            </a:solidFill>
            <a:prstDash val="solid"/>
          </a:ln>
        </p:spPr>
      </p:sp>
      <p:sp>
        <p:nvSpPr>
          <p:cNvPr id="45" name="Text 40"/>
          <p:cNvSpPr txBox="1"/>
          <p:nvPr/>
        </p:nvSpPr>
        <p:spPr>
          <a:xfrm>
            <a:off x="5486400" y="2756916"/>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Variable: per token, rising directly with use</a:t>
            </a:r>
            <a:endParaRPr lang="en-US" sz="950" dirty="0"/>
          </a:p>
        </p:txBody>
      </p:sp>
      <p:sp>
        <p:nvSpPr>
          <p:cNvPr id="46" name="Text 41"/>
          <p:cNvSpPr txBox="1"/>
          <p:nvPr/>
        </p:nvSpPr>
        <p:spPr>
          <a:xfrm>
            <a:off x="457200" y="3090672"/>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Operations</a:t>
            </a:r>
            <a:endParaRPr lang="en-US" sz="1050" dirty="0"/>
          </a:p>
        </p:txBody>
      </p:sp>
      <p:sp>
        <p:nvSpPr>
          <p:cNvPr id="47" name="Shape 42"/>
          <p:cNvSpPr/>
          <p:nvPr/>
        </p:nvSpPr>
        <p:spPr>
          <a:xfrm>
            <a:off x="2057400" y="3090672"/>
            <a:ext cx="3291840" cy="292608"/>
          </a:xfrm>
          <a:prstGeom prst="roundRect">
            <a:avLst>
              <a:gd name="adj" fmla="val 12500"/>
            </a:avLst>
          </a:prstGeom>
          <a:solidFill>
            <a:srgbClr val="F4F7F5"/>
          </a:solidFill>
          <a:ln w="9525">
            <a:solidFill>
              <a:srgbClr val="D5DED9"/>
            </a:solidFill>
            <a:prstDash val="solid"/>
          </a:ln>
        </p:spPr>
      </p:sp>
      <p:sp>
        <p:nvSpPr>
          <p:cNvPr id="48" name="Text 43"/>
          <p:cNvSpPr txBox="1"/>
          <p:nvPr/>
        </p:nvSpPr>
        <p:spPr>
          <a:xfrm>
            <a:off x="2148840" y="3090672"/>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You run serving, scaling, patching, monitoring</a:t>
            </a:r>
            <a:endParaRPr lang="en-US" sz="950" dirty="0"/>
          </a:p>
        </p:txBody>
      </p:sp>
      <p:sp>
        <p:nvSpPr>
          <p:cNvPr id="49" name="Shape 44"/>
          <p:cNvSpPr/>
          <p:nvPr/>
        </p:nvSpPr>
        <p:spPr>
          <a:xfrm>
            <a:off x="5394960" y="3090672"/>
            <a:ext cx="3291840" cy="292608"/>
          </a:xfrm>
          <a:prstGeom prst="roundRect">
            <a:avLst>
              <a:gd name="adj" fmla="val 12500"/>
            </a:avLst>
          </a:prstGeom>
          <a:solidFill>
            <a:srgbClr val="F4F7F5"/>
          </a:solidFill>
          <a:ln w="9525">
            <a:solidFill>
              <a:srgbClr val="D5DED9"/>
            </a:solidFill>
            <a:prstDash val="solid"/>
          </a:ln>
        </p:spPr>
      </p:sp>
      <p:sp>
        <p:nvSpPr>
          <p:cNvPr id="50" name="Text 45"/>
          <p:cNvSpPr txBox="1"/>
          <p:nvPr/>
        </p:nvSpPr>
        <p:spPr>
          <a:xfrm>
            <a:off x="5486400" y="3090672"/>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Vendor operates; you manage contract, quota, cost</a:t>
            </a:r>
            <a:endParaRPr lang="en-US" sz="950" dirty="0"/>
          </a:p>
        </p:txBody>
      </p:sp>
      <p:sp>
        <p:nvSpPr>
          <p:cNvPr id="51" name="Text 46"/>
          <p:cNvSpPr txBox="1"/>
          <p:nvPr/>
        </p:nvSpPr>
        <p:spPr>
          <a:xfrm>
            <a:off x="457200" y="3424428"/>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Auditability</a:t>
            </a:r>
            <a:endParaRPr lang="en-US" sz="1050" dirty="0"/>
          </a:p>
        </p:txBody>
      </p:sp>
      <p:sp>
        <p:nvSpPr>
          <p:cNvPr id="52" name="Shape 47"/>
          <p:cNvSpPr/>
          <p:nvPr/>
        </p:nvSpPr>
        <p:spPr>
          <a:xfrm>
            <a:off x="2057400" y="3424428"/>
            <a:ext cx="3291840" cy="292608"/>
          </a:xfrm>
          <a:prstGeom prst="roundRect">
            <a:avLst>
              <a:gd name="adj" fmla="val 12500"/>
            </a:avLst>
          </a:prstGeom>
          <a:solidFill>
            <a:srgbClr val="F4F7F5"/>
          </a:solidFill>
          <a:ln w="9525">
            <a:solidFill>
              <a:srgbClr val="D5DED9"/>
            </a:solidFill>
            <a:prstDash val="solid"/>
          </a:ln>
        </p:spPr>
      </p:sp>
      <p:sp>
        <p:nvSpPr>
          <p:cNvPr id="53" name="Text 48"/>
          <p:cNvSpPr txBox="1"/>
          <p:nvPr/>
        </p:nvSpPr>
        <p:spPr>
          <a:xfrm>
            <a:off x="2148840" y="3424428"/>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Full inspection of weights, prompts and path</a:t>
            </a:r>
            <a:endParaRPr lang="en-US" sz="950" dirty="0"/>
          </a:p>
        </p:txBody>
      </p:sp>
      <p:sp>
        <p:nvSpPr>
          <p:cNvPr id="54" name="Shape 49"/>
          <p:cNvSpPr/>
          <p:nvPr/>
        </p:nvSpPr>
        <p:spPr>
          <a:xfrm>
            <a:off x="5394960" y="3424428"/>
            <a:ext cx="3291840" cy="292608"/>
          </a:xfrm>
          <a:prstGeom prst="roundRect">
            <a:avLst>
              <a:gd name="adj" fmla="val 12500"/>
            </a:avLst>
          </a:prstGeom>
          <a:solidFill>
            <a:srgbClr val="F4F7F5"/>
          </a:solidFill>
          <a:ln w="9525">
            <a:solidFill>
              <a:srgbClr val="D5DED9"/>
            </a:solidFill>
            <a:prstDash val="solid"/>
          </a:ln>
        </p:spPr>
      </p:sp>
      <p:sp>
        <p:nvSpPr>
          <p:cNvPr id="55" name="Text 50"/>
          <p:cNvSpPr txBox="1"/>
          <p:nvPr/>
        </p:nvSpPr>
        <p:spPr>
          <a:xfrm>
            <a:off x="5486400" y="3424428"/>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Behavioural testing only; internals hidden</a:t>
            </a:r>
            <a:endParaRPr lang="en-US" sz="950" dirty="0"/>
          </a:p>
        </p:txBody>
      </p:sp>
      <p:sp>
        <p:nvSpPr>
          <p:cNvPr id="56" name="Text 51"/>
          <p:cNvSpPr txBox="1"/>
          <p:nvPr/>
        </p:nvSpPr>
        <p:spPr>
          <a:xfrm>
            <a:off x="457200" y="3758184"/>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Lock-in</a:t>
            </a:r>
            <a:endParaRPr lang="en-US" sz="1050" dirty="0"/>
          </a:p>
        </p:txBody>
      </p:sp>
      <p:sp>
        <p:nvSpPr>
          <p:cNvPr id="57" name="Shape 52"/>
          <p:cNvSpPr/>
          <p:nvPr/>
        </p:nvSpPr>
        <p:spPr>
          <a:xfrm>
            <a:off x="2057400" y="3758184"/>
            <a:ext cx="3291840" cy="292608"/>
          </a:xfrm>
          <a:prstGeom prst="roundRect">
            <a:avLst>
              <a:gd name="adj" fmla="val 12500"/>
            </a:avLst>
          </a:prstGeom>
          <a:solidFill>
            <a:srgbClr val="F4F7F5"/>
          </a:solidFill>
          <a:ln w="9525">
            <a:solidFill>
              <a:srgbClr val="D5DED9"/>
            </a:solidFill>
            <a:prstDash val="solid"/>
          </a:ln>
        </p:spPr>
      </p:sp>
      <p:sp>
        <p:nvSpPr>
          <p:cNvPr id="58" name="Text 53"/>
          <p:cNvSpPr txBox="1"/>
          <p:nvPr/>
        </p:nvSpPr>
        <p:spPr>
          <a:xfrm>
            <a:off x="2148840" y="3758184"/>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Low — portable formats, replaceable serving</a:t>
            </a:r>
            <a:endParaRPr lang="en-US" sz="950" dirty="0"/>
          </a:p>
        </p:txBody>
      </p:sp>
      <p:sp>
        <p:nvSpPr>
          <p:cNvPr id="59" name="Shape 54"/>
          <p:cNvSpPr/>
          <p:nvPr/>
        </p:nvSpPr>
        <p:spPr>
          <a:xfrm>
            <a:off x="5394960" y="3758184"/>
            <a:ext cx="3291840" cy="292608"/>
          </a:xfrm>
          <a:prstGeom prst="roundRect">
            <a:avLst>
              <a:gd name="adj" fmla="val 12500"/>
            </a:avLst>
          </a:prstGeom>
          <a:solidFill>
            <a:srgbClr val="F4F7F5"/>
          </a:solidFill>
          <a:ln w="9525">
            <a:solidFill>
              <a:srgbClr val="D5DED9"/>
            </a:solidFill>
            <a:prstDash val="solid"/>
          </a:ln>
        </p:spPr>
      </p:sp>
      <p:sp>
        <p:nvSpPr>
          <p:cNvPr id="60" name="Text 55"/>
          <p:cNvSpPr txBox="1"/>
          <p:nvPr/>
        </p:nvSpPr>
        <p:spPr>
          <a:xfrm>
            <a:off x="5486400" y="3758184"/>
            <a:ext cx="310896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Moderate to high, especially with vendor tooling</a:t>
            </a:r>
            <a:endParaRPr lang="en-US" sz="950" dirty="0"/>
          </a:p>
        </p:txBody>
      </p:sp>
      <p:sp>
        <p:nvSpPr>
          <p:cNvPr id="61" name="Shape 56"/>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62" name="Shape 57"/>
          <p:cNvSpPr/>
          <p:nvPr/>
        </p:nvSpPr>
        <p:spPr>
          <a:xfrm>
            <a:off x="566928" y="4233672"/>
            <a:ext cx="292608" cy="292608"/>
          </a:xfrm>
          <a:prstGeom prst="ellipse">
            <a:avLst/>
          </a:prstGeom>
          <a:solidFill>
            <a:srgbClr val="00A86A">
              <a:alpha val="22000"/>
            </a:srgbClr>
          </a:solidFill>
          <a:ln/>
        </p:spPr>
      </p:sp>
      <p:pic>
        <p:nvPicPr>
          <p:cNvPr id="63" name="Image 2" descr="preencoded.png"/>
          <p:cNvPicPr>
            <a:picLocks noChangeAspect="1"/>
          </p:cNvPicPr>
          <p:nvPr/>
        </p:nvPicPr>
        <p:blipFill>
          <a:blip r:embed="rId5"/>
          <a:stretch>
            <a:fillRect/>
          </a:stretch>
        </p:blipFill>
        <p:spPr>
          <a:xfrm>
            <a:off x="637154" y="4303898"/>
            <a:ext cx="152156" cy="152156"/>
          </a:xfrm>
          <a:prstGeom prst="rect">
            <a:avLst/>
          </a:prstGeom>
        </p:spPr>
      </p:pic>
      <p:sp>
        <p:nvSpPr>
          <p:cNvPr id="64" name="Text 58"/>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KEY POINT   </a:t>
            </a:r>
            <a:r>
              <a:rPr lang="en-US" sz="1000" dirty="0">
                <a:solidFill>
                  <a:srgbClr val="231F20"/>
                </a:solidFill>
                <a:latin typeface="Calibri" pitchFamily="34" charset="0"/>
                <a:ea typeface="Calibri" pitchFamily="34" charset="-122"/>
                <a:cs typeface="Calibri" pitchFamily="34" charset="-120"/>
              </a:rPr>
              <a:t>Run a portfolio: open weights for confidential and reproducibility-critical work, managed APIs for exploration. Route both through one gateway so you can switch.</a:t>
            </a:r>
            <a:endParaRPr lang="en-US" sz="100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TEST YOURSELF</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Exercise: where should this workload run?</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Discuss each case for two minutes, then compare with the suggested answer</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37</a:t>
            </a:r>
            <a:endParaRPr lang="en-US" sz="850" dirty="0"/>
          </a:p>
        </p:txBody>
      </p:sp>
      <p:sp>
        <p:nvSpPr>
          <p:cNvPr id="18" name="Shape 15"/>
          <p:cNvSpPr/>
          <p:nvPr/>
        </p:nvSpPr>
        <p:spPr>
          <a:xfrm>
            <a:off x="457200" y="1371600"/>
            <a:ext cx="4046220" cy="1536192"/>
          </a:xfrm>
          <a:prstGeom prst="roundRect">
            <a:avLst>
              <a:gd name="adj" fmla="val 4762"/>
            </a:avLst>
          </a:prstGeom>
          <a:solidFill>
            <a:srgbClr val="F4F7F5"/>
          </a:solidFill>
          <a:ln w="9525">
            <a:solidFill>
              <a:srgbClr val="D5DED9"/>
            </a:solidFill>
            <a:prstDash val="solid"/>
          </a:ln>
        </p:spPr>
      </p:sp>
      <p:sp>
        <p:nvSpPr>
          <p:cNvPr id="19" name="Shape 16"/>
          <p:cNvSpPr/>
          <p:nvPr/>
        </p:nvSpPr>
        <p:spPr>
          <a:xfrm>
            <a:off x="594360" y="1508760"/>
            <a:ext cx="384048" cy="384048"/>
          </a:xfrm>
          <a:prstGeom prst="ellipse">
            <a:avLst/>
          </a:prstGeom>
          <a:solidFill>
            <a:srgbClr val="0E7C86"/>
          </a:solidFill>
          <a:ln/>
        </p:spPr>
      </p:sp>
      <p:sp>
        <p:nvSpPr>
          <p:cNvPr id="20" name="Text 17"/>
          <p:cNvSpPr txBox="1"/>
          <p:nvPr/>
        </p:nvSpPr>
        <p:spPr>
          <a:xfrm>
            <a:off x="594360" y="1508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1" name="Text 18"/>
          <p:cNvSpPr txBox="1"/>
          <p:nvPr/>
        </p:nvSpPr>
        <p:spPr>
          <a:xfrm>
            <a:off x="1097280" y="1481328"/>
            <a:ext cx="3268980" cy="54864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Coding 2 million census occupation answers that still contain names and addresses</a:t>
            </a:r>
            <a:endParaRPr lang="en-US" sz="1150" dirty="0"/>
          </a:p>
        </p:txBody>
      </p:sp>
      <p:sp>
        <p:nvSpPr>
          <p:cNvPr id="22" name="Shape 19"/>
          <p:cNvSpPr/>
          <p:nvPr/>
        </p:nvSpPr>
        <p:spPr>
          <a:xfrm>
            <a:off x="594360" y="2121408"/>
            <a:ext cx="3771900" cy="658368"/>
          </a:xfrm>
          <a:prstGeom prst="roundRect">
            <a:avLst>
              <a:gd name="adj" fmla="val 6944"/>
            </a:avLst>
          </a:prstGeom>
          <a:solidFill>
            <a:srgbClr val="B83B2E">
              <a:alpha val="12000"/>
            </a:srgbClr>
          </a:solidFill>
          <a:ln w="9525">
            <a:solidFill>
              <a:srgbClr val="B83B2E"/>
            </a:solidFill>
            <a:prstDash val="solid"/>
          </a:ln>
        </p:spPr>
      </p:sp>
      <p:sp>
        <p:nvSpPr>
          <p:cNvPr id="23" name="Text 20"/>
          <p:cNvSpPr txBox="1"/>
          <p:nvPr/>
        </p:nvSpPr>
        <p:spPr>
          <a:xfrm>
            <a:off x="713232" y="2167128"/>
            <a:ext cx="3543300" cy="256032"/>
          </a:xfrm>
          <a:prstGeom prst="rect">
            <a:avLst/>
          </a:prstGeom>
          <a:noFill/>
          <a:ln/>
        </p:spPr>
        <p:txBody>
          <a:bodyPr wrap="square" lIns="0" tIns="0" rIns="0" bIns="0" rtlCol="0" anchor="ctr">
            <a:normAutofit/>
          </a:bodyPr>
          <a:lstStyle/>
          <a:p>
            <a:pPr marL="0" indent="0">
              <a:buNone/>
            </a:pPr>
            <a:r>
              <a:rPr lang="en-US" sz="1000" b="1" dirty="0">
                <a:solidFill>
                  <a:srgbClr val="B83B2E"/>
                </a:solidFill>
                <a:latin typeface="Calibri" pitchFamily="34" charset="0"/>
                <a:ea typeface="Calibri" pitchFamily="34" charset="-122"/>
                <a:cs typeface="Calibri" pitchFamily="34" charset="-120"/>
              </a:rPr>
              <a:t>Suggested answer: </a:t>
            </a:r>
            <a:r>
              <a:rPr lang="en-US" sz="1000" b="1" dirty="0">
                <a:solidFill>
                  <a:srgbClr val="231F20"/>
                </a:solidFill>
                <a:latin typeface="Calibri" pitchFamily="34" charset="0"/>
                <a:ea typeface="Calibri" pitchFamily="34" charset="-122"/>
                <a:cs typeface="Calibri" pitchFamily="34" charset="-120"/>
              </a:rPr>
              <a:t>T3 · On-premises, self-hosted model</a:t>
            </a:r>
            <a:endParaRPr lang="en-US" sz="1000" dirty="0"/>
          </a:p>
        </p:txBody>
      </p:sp>
      <p:sp>
        <p:nvSpPr>
          <p:cNvPr id="24" name="Text 21"/>
          <p:cNvSpPr txBox="1"/>
          <p:nvPr/>
        </p:nvSpPr>
        <p:spPr>
          <a:xfrm>
            <a:off x="713232" y="2432304"/>
            <a:ext cx="3543300" cy="310896"/>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Identifiable microdata: classification decides before cost.</a:t>
            </a:r>
            <a:endParaRPr lang="en-US" sz="950" dirty="0"/>
          </a:p>
        </p:txBody>
      </p:sp>
      <p:sp>
        <p:nvSpPr>
          <p:cNvPr id="25" name="Shape 22"/>
          <p:cNvSpPr/>
          <p:nvPr/>
        </p:nvSpPr>
        <p:spPr>
          <a:xfrm>
            <a:off x="4640580" y="1371600"/>
            <a:ext cx="4046220" cy="1536192"/>
          </a:xfrm>
          <a:prstGeom prst="roundRect">
            <a:avLst>
              <a:gd name="adj" fmla="val 4762"/>
            </a:avLst>
          </a:prstGeom>
          <a:solidFill>
            <a:srgbClr val="F4F7F5"/>
          </a:solidFill>
          <a:ln w="9525">
            <a:solidFill>
              <a:srgbClr val="D5DED9"/>
            </a:solidFill>
            <a:prstDash val="solid"/>
          </a:ln>
        </p:spPr>
      </p:sp>
      <p:sp>
        <p:nvSpPr>
          <p:cNvPr id="26" name="Shape 23"/>
          <p:cNvSpPr/>
          <p:nvPr/>
        </p:nvSpPr>
        <p:spPr>
          <a:xfrm>
            <a:off x="4777740" y="1508760"/>
            <a:ext cx="384048" cy="384048"/>
          </a:xfrm>
          <a:prstGeom prst="ellipse">
            <a:avLst/>
          </a:prstGeom>
          <a:solidFill>
            <a:srgbClr val="0E7C86"/>
          </a:solidFill>
          <a:ln/>
        </p:spPr>
      </p:sp>
      <p:sp>
        <p:nvSpPr>
          <p:cNvPr id="27" name="Text 24"/>
          <p:cNvSpPr txBox="1"/>
          <p:nvPr/>
        </p:nvSpPr>
        <p:spPr>
          <a:xfrm>
            <a:off x="4777740" y="1508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5"/>
          <p:cNvSpPr txBox="1"/>
          <p:nvPr/>
        </p:nvSpPr>
        <p:spPr>
          <a:xfrm>
            <a:off x="5280660" y="1481328"/>
            <a:ext cx="3268980" cy="54864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Translating a published statistical bulletin into French, Arabic and Kiswahili</a:t>
            </a:r>
            <a:endParaRPr lang="en-US" sz="1150" dirty="0"/>
          </a:p>
        </p:txBody>
      </p:sp>
      <p:sp>
        <p:nvSpPr>
          <p:cNvPr id="29" name="Shape 26"/>
          <p:cNvSpPr/>
          <p:nvPr/>
        </p:nvSpPr>
        <p:spPr>
          <a:xfrm>
            <a:off x="4777740" y="2121408"/>
            <a:ext cx="3771900" cy="658368"/>
          </a:xfrm>
          <a:prstGeom prst="roundRect">
            <a:avLst>
              <a:gd name="adj" fmla="val 6944"/>
            </a:avLst>
          </a:prstGeom>
          <a:solidFill>
            <a:srgbClr val="00A86A">
              <a:alpha val="12000"/>
            </a:srgbClr>
          </a:solidFill>
          <a:ln w="9525">
            <a:solidFill>
              <a:srgbClr val="00A86A"/>
            </a:solidFill>
            <a:prstDash val="solid"/>
          </a:ln>
        </p:spPr>
      </p:sp>
      <p:sp>
        <p:nvSpPr>
          <p:cNvPr id="30" name="Text 27"/>
          <p:cNvSpPr txBox="1"/>
          <p:nvPr/>
        </p:nvSpPr>
        <p:spPr>
          <a:xfrm>
            <a:off x="4896612" y="2167128"/>
            <a:ext cx="3543300" cy="256032"/>
          </a:xfrm>
          <a:prstGeom prst="rect">
            <a:avLst/>
          </a:prstGeom>
          <a:noFill/>
          <a:ln/>
        </p:spPr>
        <p:txBody>
          <a:bodyPr wrap="square" lIns="0" tIns="0" rIns="0" bIns="0" rtlCol="0" anchor="ctr">
            <a:normAutofit/>
          </a:bodyPr>
          <a:lstStyle/>
          <a:p>
            <a:pPr marL="0" indent="0">
              <a:buNone/>
            </a:pPr>
            <a:r>
              <a:rPr lang="en-US" sz="1000" b="1" dirty="0">
                <a:solidFill>
                  <a:srgbClr val="00704A"/>
                </a:solidFill>
                <a:latin typeface="Calibri" pitchFamily="34" charset="0"/>
                <a:ea typeface="Calibri" pitchFamily="34" charset="-122"/>
                <a:cs typeface="Calibri" pitchFamily="34" charset="-120"/>
              </a:rPr>
              <a:t>Suggested answer: </a:t>
            </a:r>
            <a:r>
              <a:rPr lang="en-US" sz="1000" b="1" dirty="0">
                <a:solidFill>
                  <a:srgbClr val="231F20"/>
                </a:solidFill>
                <a:latin typeface="Calibri" pitchFamily="34" charset="0"/>
                <a:ea typeface="Calibri" pitchFamily="34" charset="-122"/>
                <a:cs typeface="Calibri" pitchFamily="34" charset="-120"/>
              </a:rPr>
              <a:t>T0 · Managed API via the gateway</a:t>
            </a:r>
            <a:endParaRPr lang="en-US" sz="1000" dirty="0"/>
          </a:p>
        </p:txBody>
      </p:sp>
      <p:sp>
        <p:nvSpPr>
          <p:cNvPr id="31" name="Text 28"/>
          <p:cNvSpPr txBox="1"/>
          <p:nvPr/>
        </p:nvSpPr>
        <p:spPr>
          <a:xfrm>
            <a:off x="4896612" y="2432304"/>
            <a:ext cx="3543300" cy="310896"/>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Public material; keep a human review for language quality.</a:t>
            </a:r>
            <a:endParaRPr lang="en-US" sz="950" dirty="0"/>
          </a:p>
        </p:txBody>
      </p:sp>
      <p:sp>
        <p:nvSpPr>
          <p:cNvPr id="32" name="Shape 29"/>
          <p:cNvSpPr/>
          <p:nvPr/>
        </p:nvSpPr>
        <p:spPr>
          <a:xfrm>
            <a:off x="457200" y="3044952"/>
            <a:ext cx="4046220" cy="1536192"/>
          </a:xfrm>
          <a:prstGeom prst="roundRect">
            <a:avLst>
              <a:gd name="adj" fmla="val 4762"/>
            </a:avLst>
          </a:prstGeom>
          <a:solidFill>
            <a:srgbClr val="F4F7F5"/>
          </a:solidFill>
          <a:ln w="9525">
            <a:solidFill>
              <a:srgbClr val="D5DED9"/>
            </a:solidFill>
            <a:prstDash val="solid"/>
          </a:ln>
        </p:spPr>
      </p:sp>
      <p:sp>
        <p:nvSpPr>
          <p:cNvPr id="33" name="Shape 30"/>
          <p:cNvSpPr/>
          <p:nvPr/>
        </p:nvSpPr>
        <p:spPr>
          <a:xfrm>
            <a:off x="594360" y="3182112"/>
            <a:ext cx="384048" cy="384048"/>
          </a:xfrm>
          <a:prstGeom prst="ellipse">
            <a:avLst/>
          </a:prstGeom>
          <a:solidFill>
            <a:srgbClr val="0E7C86"/>
          </a:solidFill>
          <a:ln/>
        </p:spPr>
      </p:sp>
      <p:sp>
        <p:nvSpPr>
          <p:cNvPr id="34" name="Text 31"/>
          <p:cNvSpPr txBox="1"/>
          <p:nvPr/>
        </p:nvSpPr>
        <p:spPr>
          <a:xfrm>
            <a:off x="594360" y="31821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5" name="Text 32"/>
          <p:cNvSpPr txBox="1"/>
          <p:nvPr/>
        </p:nvSpPr>
        <p:spPr>
          <a:xfrm>
            <a:off x="1097280" y="3154680"/>
            <a:ext cx="3268980" cy="54864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 staff assistant answering questions about internal methodology manuals</a:t>
            </a:r>
            <a:endParaRPr lang="en-US" sz="1150" dirty="0"/>
          </a:p>
        </p:txBody>
      </p:sp>
      <p:sp>
        <p:nvSpPr>
          <p:cNvPr id="36" name="Shape 33"/>
          <p:cNvSpPr/>
          <p:nvPr/>
        </p:nvSpPr>
        <p:spPr>
          <a:xfrm>
            <a:off x="594360" y="3794760"/>
            <a:ext cx="3771900" cy="658368"/>
          </a:xfrm>
          <a:prstGeom prst="roundRect">
            <a:avLst>
              <a:gd name="adj" fmla="val 6944"/>
            </a:avLst>
          </a:prstGeom>
          <a:solidFill>
            <a:srgbClr val="D49A00">
              <a:alpha val="12000"/>
            </a:srgbClr>
          </a:solidFill>
          <a:ln w="9525">
            <a:solidFill>
              <a:srgbClr val="D49A00"/>
            </a:solidFill>
            <a:prstDash val="solid"/>
          </a:ln>
        </p:spPr>
      </p:sp>
      <p:sp>
        <p:nvSpPr>
          <p:cNvPr id="37" name="Text 34"/>
          <p:cNvSpPr txBox="1"/>
          <p:nvPr/>
        </p:nvSpPr>
        <p:spPr>
          <a:xfrm>
            <a:off x="713232" y="3840480"/>
            <a:ext cx="3543300" cy="256032"/>
          </a:xfrm>
          <a:prstGeom prst="rect">
            <a:avLst/>
          </a:prstGeom>
          <a:noFill/>
          <a:ln/>
        </p:spPr>
        <p:txBody>
          <a:bodyPr wrap="square" lIns="0" tIns="0" rIns="0" bIns="0" rtlCol="0" anchor="ctr">
            <a:normAutofit/>
          </a:bodyPr>
          <a:lstStyle/>
          <a:p>
            <a:pPr marL="0" indent="0">
              <a:buNone/>
            </a:pPr>
            <a:r>
              <a:rPr lang="en-US" sz="1000" b="1" dirty="0">
                <a:solidFill>
                  <a:srgbClr val="8A6400"/>
                </a:solidFill>
                <a:latin typeface="Calibri" pitchFamily="34" charset="0"/>
                <a:ea typeface="Calibri" pitchFamily="34" charset="-122"/>
                <a:cs typeface="Calibri" pitchFamily="34" charset="-120"/>
              </a:rPr>
              <a:t>Suggested answer: </a:t>
            </a:r>
            <a:r>
              <a:rPr lang="en-US" sz="1000" b="1" dirty="0">
                <a:solidFill>
                  <a:srgbClr val="231F20"/>
                </a:solidFill>
                <a:latin typeface="Calibri" pitchFamily="34" charset="0"/>
                <a:ea typeface="Calibri" pitchFamily="34" charset="-122"/>
                <a:cs typeface="Calibri" pitchFamily="34" charset="-120"/>
              </a:rPr>
              <a:t>T1 · Private cloud under contract</a:t>
            </a:r>
            <a:endParaRPr lang="en-US" sz="1000" dirty="0"/>
          </a:p>
        </p:txBody>
      </p:sp>
      <p:sp>
        <p:nvSpPr>
          <p:cNvPr id="38" name="Text 35"/>
          <p:cNvSpPr txBox="1"/>
          <p:nvPr/>
        </p:nvSpPr>
        <p:spPr>
          <a:xfrm>
            <a:off x="713232" y="4105656"/>
            <a:ext cx="3543300" cy="310896"/>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Non-public but not microdata; retrieval must filter by user rights.</a:t>
            </a:r>
            <a:endParaRPr lang="en-US" sz="950" dirty="0"/>
          </a:p>
        </p:txBody>
      </p:sp>
      <p:sp>
        <p:nvSpPr>
          <p:cNvPr id="39" name="Shape 36"/>
          <p:cNvSpPr/>
          <p:nvPr/>
        </p:nvSpPr>
        <p:spPr>
          <a:xfrm>
            <a:off x="4640580" y="3044952"/>
            <a:ext cx="4046220" cy="1536192"/>
          </a:xfrm>
          <a:prstGeom prst="roundRect">
            <a:avLst>
              <a:gd name="adj" fmla="val 4762"/>
            </a:avLst>
          </a:prstGeom>
          <a:solidFill>
            <a:srgbClr val="F4F7F5"/>
          </a:solidFill>
          <a:ln w="9525">
            <a:solidFill>
              <a:srgbClr val="D5DED9"/>
            </a:solidFill>
            <a:prstDash val="solid"/>
          </a:ln>
        </p:spPr>
      </p:sp>
      <p:sp>
        <p:nvSpPr>
          <p:cNvPr id="40" name="Shape 37"/>
          <p:cNvSpPr/>
          <p:nvPr/>
        </p:nvSpPr>
        <p:spPr>
          <a:xfrm>
            <a:off x="4777740" y="3182112"/>
            <a:ext cx="384048" cy="384048"/>
          </a:xfrm>
          <a:prstGeom prst="ellipse">
            <a:avLst/>
          </a:prstGeom>
          <a:solidFill>
            <a:srgbClr val="0E7C86"/>
          </a:solidFill>
          <a:ln/>
        </p:spPr>
      </p:sp>
      <p:sp>
        <p:nvSpPr>
          <p:cNvPr id="41" name="Text 38"/>
          <p:cNvSpPr txBox="1"/>
          <p:nvPr/>
        </p:nvSpPr>
        <p:spPr>
          <a:xfrm>
            <a:off x="4777740" y="31821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2" name="Text 39"/>
          <p:cNvSpPr txBox="1"/>
          <p:nvPr/>
        </p:nvSpPr>
        <p:spPr>
          <a:xfrm>
            <a:off x="5280660" y="3154680"/>
            <a:ext cx="3268980" cy="54864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Training a crop-type classifier on public satellite imagery for two weeks</a:t>
            </a:r>
            <a:endParaRPr lang="en-US" sz="1150" dirty="0"/>
          </a:p>
        </p:txBody>
      </p:sp>
      <p:sp>
        <p:nvSpPr>
          <p:cNvPr id="43" name="Shape 40"/>
          <p:cNvSpPr/>
          <p:nvPr/>
        </p:nvSpPr>
        <p:spPr>
          <a:xfrm>
            <a:off x="4777740" y="3794760"/>
            <a:ext cx="3771900" cy="658368"/>
          </a:xfrm>
          <a:prstGeom prst="roundRect">
            <a:avLst>
              <a:gd name="adj" fmla="val 6944"/>
            </a:avLst>
          </a:prstGeom>
          <a:solidFill>
            <a:srgbClr val="0E7C86">
              <a:alpha val="12000"/>
            </a:srgbClr>
          </a:solidFill>
          <a:ln w="9525">
            <a:solidFill>
              <a:srgbClr val="0E7C86"/>
            </a:solidFill>
            <a:prstDash val="solid"/>
          </a:ln>
        </p:spPr>
      </p:sp>
      <p:sp>
        <p:nvSpPr>
          <p:cNvPr id="44" name="Text 41"/>
          <p:cNvSpPr txBox="1"/>
          <p:nvPr/>
        </p:nvSpPr>
        <p:spPr>
          <a:xfrm>
            <a:off x="4896612" y="3840480"/>
            <a:ext cx="3543300" cy="256032"/>
          </a:xfrm>
          <a:prstGeom prst="rect">
            <a:avLst/>
          </a:prstGeom>
          <a:noFill/>
          <a:ln/>
        </p:spPr>
        <p:txBody>
          <a:bodyPr wrap="square" lIns="0" tIns="0" rIns="0" bIns="0" rtlCol="0" anchor="ctr">
            <a:normAutofit/>
          </a:bodyPr>
          <a:lstStyle/>
          <a:p>
            <a:pPr marL="0" indent="0">
              <a:buNone/>
            </a:pPr>
            <a:r>
              <a:rPr lang="en-US" sz="1000" b="1" dirty="0">
                <a:solidFill>
                  <a:srgbClr val="0E7C86"/>
                </a:solidFill>
                <a:latin typeface="Calibri" pitchFamily="34" charset="0"/>
                <a:ea typeface="Calibri" pitchFamily="34" charset="-122"/>
                <a:cs typeface="Calibri" pitchFamily="34" charset="-120"/>
              </a:rPr>
              <a:t>Suggested answer: </a:t>
            </a:r>
            <a:r>
              <a:rPr lang="en-US" sz="1000" b="1" dirty="0">
                <a:solidFill>
                  <a:srgbClr val="231F20"/>
                </a:solidFill>
                <a:latin typeface="Calibri" pitchFamily="34" charset="0"/>
                <a:ea typeface="Calibri" pitchFamily="34" charset="-122"/>
                <a:cs typeface="Calibri" pitchFamily="34" charset="-120"/>
              </a:rPr>
              <a:t>Archetype C · Dedicated cloud, burst</a:t>
            </a:r>
            <a:endParaRPr lang="en-US" sz="1000" dirty="0"/>
          </a:p>
        </p:txBody>
      </p:sp>
      <p:sp>
        <p:nvSpPr>
          <p:cNvPr id="45" name="Text 42"/>
          <p:cNvSpPr txBox="1"/>
          <p:nvPr/>
        </p:nvSpPr>
        <p:spPr>
          <a:xfrm>
            <a:off x="4896612" y="4105656"/>
            <a:ext cx="3543300" cy="310896"/>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Public inputs and a short, heavy load: rent, do not buy.</a:t>
            </a:r>
            <a:endParaRPr lang="en-US" sz="95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04</a:t>
            </a:r>
            <a:endParaRPr lang="en-US" sz="1050" dirty="0"/>
          </a:p>
        </p:txBody>
      </p:sp>
      <p:sp>
        <p:nvSpPr>
          <p:cNvPr id="4" name="Text 2"/>
          <p:cNvSpPr txBox="1"/>
          <p:nvPr/>
        </p:nvSpPr>
        <p:spPr>
          <a:xfrm>
            <a:off x="502920" y="73152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04</a:t>
            </a:r>
            <a:endParaRPr lang="en-US" sz="8800" dirty="0"/>
          </a:p>
        </p:txBody>
      </p:sp>
      <p:sp>
        <p:nvSpPr>
          <p:cNvPr id="5" name="Text 3"/>
          <p:cNvSpPr txBox="1"/>
          <p:nvPr/>
        </p:nvSpPr>
        <p:spPr>
          <a:xfrm>
            <a:off x="548640" y="1874520"/>
            <a:ext cx="5303520" cy="54864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Calibri" pitchFamily="34" charset="0"/>
                <a:ea typeface="Calibri" pitchFamily="34" charset="-122"/>
                <a:cs typeface="Calibri" pitchFamily="34" charset="-120"/>
              </a:rPr>
              <a:t>Governance &amp; confidentiality</a:t>
            </a:r>
            <a:endParaRPr lang="en-US" sz="3200" dirty="0"/>
          </a:p>
        </p:txBody>
      </p:sp>
      <p:sp>
        <p:nvSpPr>
          <p:cNvPr id="6" name="Text 4"/>
          <p:cNvSpPr txBox="1"/>
          <p:nvPr/>
        </p:nvSpPr>
        <p:spPr>
          <a:xfrm>
            <a:off x="548640" y="2514600"/>
            <a:ext cx="4937760" cy="548640"/>
          </a:xfrm>
          <a:prstGeom prst="rect">
            <a:avLst/>
          </a:prstGeom>
          <a:noFill/>
          <a:ln/>
        </p:spPr>
        <p:txBody>
          <a:bodyPr wrap="square" lIns="0" tIns="0" rIns="0" bIns="0" rtlCol="0" anchor="t"/>
          <a:lstStyle/>
          <a:p>
            <a:pPr marL="0" indent="0">
              <a:buNone/>
            </a:pPr>
            <a:r>
              <a:rPr lang="en-US" sz="1500" i="1" dirty="0">
                <a:solidFill>
                  <a:srgbClr val="E6F6EE"/>
                </a:solidFill>
                <a:latin typeface="Calibri" pitchFamily="34" charset="0"/>
                <a:ea typeface="Calibri" pitchFamily="34" charset="-122"/>
                <a:cs typeface="Calibri" pitchFamily="34" charset="-120"/>
              </a:rPr>
              <a:t>How do we protect statistical secrecy when AI opens new ways for data to leak?</a:t>
            </a:r>
            <a:endParaRPr lang="en-US" sz="1500" dirty="0"/>
          </a:p>
        </p:txBody>
      </p:sp>
      <p:sp>
        <p:nvSpPr>
          <p:cNvPr id="7" name="Text 5"/>
          <p:cNvSpPr txBox="1"/>
          <p:nvPr/>
        </p:nvSpPr>
        <p:spPr>
          <a:xfrm>
            <a:off x="548640" y="3291840"/>
            <a:ext cx="2743200" cy="182880"/>
          </a:xfrm>
          <a:prstGeom prst="rect">
            <a:avLst/>
          </a:prstGeom>
          <a:noFill/>
          <a:ln/>
        </p:spPr>
        <p:txBody>
          <a:bodyPr wrap="square" lIns="0" tIns="0" rIns="0" bIns="0" rtlCol="0" anchor="t"/>
          <a:lstStyle/>
          <a:p>
            <a:pPr marL="0" indent="0">
              <a:buNone/>
            </a:pPr>
            <a:r>
              <a:rPr lang="en-US" sz="900" b="1" kern="0" spc="200" dirty="0">
                <a:solidFill>
                  <a:srgbClr val="F5C242"/>
                </a:solidFill>
                <a:latin typeface="Calibri" pitchFamily="34" charset="0"/>
                <a:ea typeface="Calibri" pitchFamily="34" charset="-122"/>
                <a:cs typeface="Calibri" pitchFamily="34" charset="-120"/>
              </a:rPr>
              <a:t>IN THIS SECTION</a:t>
            </a:r>
            <a:endParaRPr lang="en-US" sz="900" dirty="0"/>
          </a:p>
        </p:txBody>
      </p:sp>
      <p:sp>
        <p:nvSpPr>
          <p:cNvPr id="8" name="Text 6"/>
          <p:cNvSpPr txBox="1"/>
          <p:nvPr/>
        </p:nvSpPr>
        <p:spPr>
          <a:xfrm>
            <a:off x="54864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New disclosure pathways</a:t>
            </a:r>
            <a:endParaRPr lang="en-US" sz="1000" dirty="0"/>
          </a:p>
        </p:txBody>
      </p:sp>
      <p:sp>
        <p:nvSpPr>
          <p:cNvPr id="9" name="Text 7"/>
          <p:cNvSpPr txBox="1"/>
          <p:nvPr/>
        </p:nvSpPr>
        <p:spPr>
          <a:xfrm>
            <a:off x="54864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The legal landscape</a:t>
            </a:r>
            <a:endParaRPr lang="en-US" sz="1000" dirty="0"/>
          </a:p>
        </p:txBody>
      </p:sp>
      <p:sp>
        <p:nvSpPr>
          <p:cNvPr id="10" name="Text 8"/>
          <p:cNvSpPr txBox="1"/>
          <p:nvPr/>
        </p:nvSpPr>
        <p:spPr>
          <a:xfrm>
            <a:off x="54864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Classification crosswalk</a:t>
            </a:r>
            <a:endParaRPr lang="en-US" sz="1000" dirty="0"/>
          </a:p>
        </p:txBody>
      </p:sp>
      <p:sp>
        <p:nvSpPr>
          <p:cNvPr id="11" name="Text 9"/>
          <p:cNvSpPr txBox="1"/>
          <p:nvPr/>
        </p:nvSpPr>
        <p:spPr>
          <a:xfrm>
            <a:off x="54864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Technical controls</a:t>
            </a:r>
            <a:endParaRPr lang="en-US" sz="1000" dirty="0"/>
          </a:p>
        </p:txBody>
      </p:sp>
      <p:sp>
        <p:nvSpPr>
          <p:cNvPr id="12" name="Text 10"/>
          <p:cNvSpPr txBox="1"/>
          <p:nvPr/>
        </p:nvSpPr>
        <p:spPr>
          <a:xfrm>
            <a:off x="315468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Model governance</a:t>
            </a:r>
            <a:endParaRPr lang="en-US" sz="1000" dirty="0"/>
          </a:p>
        </p:txBody>
      </p:sp>
      <p:sp>
        <p:nvSpPr>
          <p:cNvPr id="13" name="Text 11"/>
          <p:cNvSpPr txBox="1"/>
          <p:nvPr/>
        </p:nvSpPr>
        <p:spPr>
          <a:xfrm>
            <a:off x="315468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AI in the GSBPM</a:t>
            </a:r>
            <a:endParaRPr lang="en-US" sz="1000" dirty="0"/>
          </a:p>
        </p:txBody>
      </p:sp>
      <p:sp>
        <p:nvSpPr>
          <p:cNvPr id="14" name="Text 12"/>
          <p:cNvSpPr txBox="1"/>
          <p:nvPr/>
        </p:nvSpPr>
        <p:spPr>
          <a:xfrm>
            <a:off x="315468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Five failure scenarios</a:t>
            </a:r>
            <a:endParaRPr lang="en-US" sz="1000" dirty="0"/>
          </a:p>
        </p:txBody>
      </p:sp>
      <p:sp>
        <p:nvSpPr>
          <p:cNvPr id="15" name="Shape 13"/>
          <p:cNvSpPr/>
          <p:nvPr/>
        </p:nvSpPr>
        <p:spPr>
          <a:xfrm>
            <a:off x="5989320" y="960120"/>
            <a:ext cx="2651760" cy="2651760"/>
          </a:xfrm>
          <a:prstGeom prst="ellipse">
            <a:avLst/>
          </a:prstGeom>
          <a:solidFill>
            <a:srgbClr val="FFFFFF">
              <a:alpha val="10000"/>
            </a:srgbClr>
          </a:solidFill>
          <a:ln w="12700">
            <a:solidFill>
              <a:srgbClr val="FFFFFF">
                <a:alpha val="40000"/>
              </a:srgbClr>
            </a:solidFill>
            <a:prstDash val="solid"/>
          </a:ln>
        </p:spPr>
      </p:sp>
      <p:sp>
        <p:nvSpPr>
          <p:cNvPr id="16" name="Shape 14"/>
          <p:cNvSpPr/>
          <p:nvPr/>
        </p:nvSpPr>
        <p:spPr>
          <a:xfrm>
            <a:off x="6355080" y="1325880"/>
            <a:ext cx="1920240" cy="1920240"/>
          </a:xfrm>
          <a:prstGeom prst="ellipse">
            <a:avLst/>
          </a:prstGeom>
          <a:solidFill>
            <a:srgbClr val="FFFFFF">
              <a:alpha val="18000"/>
            </a:srgbClr>
          </a:solidFill>
          <a:ln/>
        </p:spPr>
      </p:sp>
      <p:sp>
        <p:nvSpPr>
          <p:cNvPr id="17" name="Shape 15"/>
          <p:cNvSpPr/>
          <p:nvPr/>
        </p:nvSpPr>
        <p:spPr>
          <a:xfrm>
            <a:off x="6720840" y="1691640"/>
            <a:ext cx="1188720" cy="1188720"/>
          </a:xfrm>
          <a:prstGeom prst="ellipse">
            <a:avLst/>
          </a:prstGeom>
          <a:solidFill>
            <a:srgbClr val="FFFFFF"/>
          </a:solidFill>
          <a:ln/>
        </p:spPr>
      </p:sp>
      <p:pic>
        <p:nvPicPr>
          <p:cNvPr id="18"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9" name="Shape 16"/>
          <p:cNvSpPr/>
          <p:nvPr/>
        </p:nvSpPr>
        <p:spPr>
          <a:xfrm>
            <a:off x="6510528" y="4014216"/>
            <a:ext cx="109728" cy="109728"/>
          </a:xfrm>
          <a:prstGeom prst="ellipse">
            <a:avLst/>
          </a:prstGeom>
          <a:solidFill>
            <a:srgbClr val="FFFFFF">
              <a:alpha val="40000"/>
            </a:srgbClr>
          </a:solidFill>
          <a:ln/>
        </p:spPr>
      </p:sp>
      <p:sp>
        <p:nvSpPr>
          <p:cNvPr id="20" name="Shape 17"/>
          <p:cNvSpPr/>
          <p:nvPr/>
        </p:nvSpPr>
        <p:spPr>
          <a:xfrm>
            <a:off x="6784848" y="4014216"/>
            <a:ext cx="109728" cy="109728"/>
          </a:xfrm>
          <a:prstGeom prst="ellipse">
            <a:avLst/>
          </a:prstGeom>
          <a:solidFill>
            <a:srgbClr val="FFFFFF">
              <a:alpha val="40000"/>
            </a:srgbClr>
          </a:solidFill>
          <a:ln/>
        </p:spPr>
      </p:sp>
      <p:sp>
        <p:nvSpPr>
          <p:cNvPr id="21" name="Shape 18"/>
          <p:cNvSpPr/>
          <p:nvPr/>
        </p:nvSpPr>
        <p:spPr>
          <a:xfrm>
            <a:off x="7059168" y="4014216"/>
            <a:ext cx="109728" cy="109728"/>
          </a:xfrm>
          <a:prstGeom prst="ellipse">
            <a:avLst/>
          </a:prstGeom>
          <a:solidFill>
            <a:srgbClr val="FFFFFF">
              <a:alpha val="40000"/>
            </a:srgbClr>
          </a:solidFill>
          <a:ln/>
        </p:spPr>
      </p:sp>
      <p:sp>
        <p:nvSpPr>
          <p:cNvPr id="22" name="Shape 19"/>
          <p:cNvSpPr/>
          <p:nvPr/>
        </p:nvSpPr>
        <p:spPr>
          <a:xfrm>
            <a:off x="7315200" y="3995928"/>
            <a:ext cx="146304" cy="146304"/>
          </a:xfrm>
          <a:prstGeom prst="ellipse">
            <a:avLst/>
          </a:prstGeom>
          <a:solidFill>
            <a:srgbClr val="F5C242"/>
          </a:solidFill>
          <a:ln/>
        </p:spPr>
      </p:sp>
      <p:sp>
        <p:nvSpPr>
          <p:cNvPr id="23" name="Shape 20"/>
          <p:cNvSpPr/>
          <p:nvPr/>
        </p:nvSpPr>
        <p:spPr>
          <a:xfrm>
            <a:off x="7607808" y="4014216"/>
            <a:ext cx="109728" cy="109728"/>
          </a:xfrm>
          <a:prstGeom prst="ellipse">
            <a:avLst/>
          </a:prstGeom>
          <a:solidFill>
            <a:srgbClr val="FFFFFF">
              <a:alpha val="40000"/>
            </a:srgbClr>
          </a:solidFill>
          <a:ln/>
        </p:spPr>
      </p:sp>
      <p:sp>
        <p:nvSpPr>
          <p:cNvPr id="24" name="Shape 21"/>
          <p:cNvSpPr/>
          <p:nvPr/>
        </p:nvSpPr>
        <p:spPr>
          <a:xfrm>
            <a:off x="7882128" y="4014216"/>
            <a:ext cx="109728" cy="109728"/>
          </a:xfrm>
          <a:prstGeom prst="ellipse">
            <a:avLst/>
          </a:prstGeom>
          <a:solidFill>
            <a:srgbClr val="FFFFFF">
              <a:alpha val="40000"/>
            </a:srgbClr>
          </a:solidFill>
          <a:ln/>
        </p:spPr>
      </p:sp>
      <p:sp>
        <p:nvSpPr>
          <p:cNvPr id="25" name="Text 22"/>
          <p:cNvSpPr txBox="1"/>
          <p:nvPr/>
        </p:nvSpPr>
        <p:spPr>
          <a:xfrm>
            <a:off x="7772400" y="4709160"/>
            <a:ext cx="9144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38</a:t>
            </a:r>
            <a:endParaRPr lang="en-US" sz="85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CONFIDENTIALITY</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Seven new ways confidential data can leak</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Disclosure pathways your current controls probably do not cover</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39</a:t>
            </a:r>
            <a:endParaRPr lang="en-US" sz="850" dirty="0"/>
          </a:p>
        </p:txBody>
      </p:sp>
      <p:sp>
        <p:nvSpPr>
          <p:cNvPr id="18" name="Shape 15"/>
          <p:cNvSpPr/>
          <p:nvPr/>
        </p:nvSpPr>
        <p:spPr>
          <a:xfrm>
            <a:off x="457200" y="1371600"/>
            <a:ext cx="1975104" cy="1545336"/>
          </a:xfrm>
          <a:prstGeom prst="roundRect">
            <a:avLst>
              <a:gd name="adj" fmla="val 4734"/>
            </a:avLst>
          </a:prstGeom>
          <a:solidFill>
            <a:srgbClr val="F4F7F5"/>
          </a:solidFill>
          <a:ln w="9525">
            <a:solidFill>
              <a:srgbClr val="D5DED9"/>
            </a:solidFill>
            <a:prstDash val="solid"/>
          </a:ln>
        </p:spPr>
      </p:sp>
      <p:sp>
        <p:nvSpPr>
          <p:cNvPr id="19" name="Shape 16"/>
          <p:cNvSpPr/>
          <p:nvPr/>
        </p:nvSpPr>
        <p:spPr>
          <a:xfrm>
            <a:off x="585216" y="1499616"/>
            <a:ext cx="310896" cy="310896"/>
          </a:xfrm>
          <a:prstGeom prst="ellipse">
            <a:avLst/>
          </a:prstGeom>
          <a:solidFill>
            <a:srgbClr val="B83B2E">
              <a:alpha val="22000"/>
            </a:srgbClr>
          </a:solidFill>
          <a:ln/>
        </p:spPr>
      </p:sp>
      <p:pic>
        <p:nvPicPr>
          <p:cNvPr id="20" name="Image 0" descr="preencoded.png"/>
          <p:cNvPicPr>
            <a:picLocks noChangeAspect="1"/>
          </p:cNvPicPr>
          <p:nvPr/>
        </p:nvPicPr>
        <p:blipFill>
          <a:blip r:embed="rId3"/>
          <a:stretch>
            <a:fillRect/>
          </a:stretch>
        </p:blipFill>
        <p:spPr>
          <a:xfrm>
            <a:off x="659831" y="1574231"/>
            <a:ext cx="161666" cy="161666"/>
          </a:xfrm>
          <a:prstGeom prst="rect">
            <a:avLst/>
          </a:prstGeom>
        </p:spPr>
      </p:pic>
      <p:sp>
        <p:nvSpPr>
          <p:cNvPr id="21" name="Text 17"/>
          <p:cNvSpPr txBox="1"/>
          <p:nvPr/>
        </p:nvSpPr>
        <p:spPr>
          <a:xfrm>
            <a:off x="1005840" y="1499616"/>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Shadow AI</a:t>
            </a:r>
            <a:endParaRPr lang="en-US" sz="1150" dirty="0"/>
          </a:p>
        </p:txBody>
      </p:sp>
      <p:sp>
        <p:nvSpPr>
          <p:cNvPr id="22" name="Text 18"/>
          <p:cNvSpPr txBox="1"/>
          <p:nvPr/>
        </p:nvSpPr>
        <p:spPr>
          <a:xfrm>
            <a:off x="585216" y="1865376"/>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Staff pasting microdata into personal accounts on public chatbots. The most likely incident.</a:t>
            </a:r>
            <a:endParaRPr lang="en-US" sz="1000" dirty="0"/>
          </a:p>
        </p:txBody>
      </p:sp>
      <p:sp>
        <p:nvSpPr>
          <p:cNvPr id="23" name="Shape 19"/>
          <p:cNvSpPr/>
          <p:nvPr/>
        </p:nvSpPr>
        <p:spPr>
          <a:xfrm>
            <a:off x="2542032" y="1371600"/>
            <a:ext cx="1975104" cy="1545336"/>
          </a:xfrm>
          <a:prstGeom prst="roundRect">
            <a:avLst>
              <a:gd name="adj" fmla="val 4734"/>
            </a:avLst>
          </a:prstGeom>
          <a:solidFill>
            <a:srgbClr val="F4F7F5"/>
          </a:solidFill>
          <a:ln w="9525">
            <a:solidFill>
              <a:srgbClr val="D5DED9"/>
            </a:solidFill>
            <a:prstDash val="solid"/>
          </a:ln>
        </p:spPr>
      </p:sp>
      <p:sp>
        <p:nvSpPr>
          <p:cNvPr id="24" name="Shape 20"/>
          <p:cNvSpPr/>
          <p:nvPr/>
        </p:nvSpPr>
        <p:spPr>
          <a:xfrm>
            <a:off x="2670048" y="1499616"/>
            <a:ext cx="310896" cy="310896"/>
          </a:xfrm>
          <a:prstGeom prst="ellipse">
            <a:avLst/>
          </a:prstGeom>
          <a:solidFill>
            <a:srgbClr val="D49A00">
              <a:alpha val="22000"/>
            </a:srgbClr>
          </a:solidFill>
          <a:ln/>
        </p:spPr>
      </p:sp>
      <p:pic>
        <p:nvPicPr>
          <p:cNvPr id="25" name="Image 1" descr="preencoded.png"/>
          <p:cNvPicPr>
            <a:picLocks noChangeAspect="1"/>
          </p:cNvPicPr>
          <p:nvPr/>
        </p:nvPicPr>
        <p:blipFill>
          <a:blip r:embed="rId4"/>
          <a:stretch>
            <a:fillRect/>
          </a:stretch>
        </p:blipFill>
        <p:spPr>
          <a:xfrm>
            <a:off x="2744663" y="1574231"/>
            <a:ext cx="161666" cy="161666"/>
          </a:xfrm>
          <a:prstGeom prst="rect">
            <a:avLst/>
          </a:prstGeom>
        </p:spPr>
      </p:pic>
      <p:sp>
        <p:nvSpPr>
          <p:cNvPr id="26" name="Text 21"/>
          <p:cNvSpPr txBox="1"/>
          <p:nvPr/>
        </p:nvSpPr>
        <p:spPr>
          <a:xfrm>
            <a:off x="3090672" y="1499616"/>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Memorisation</a:t>
            </a:r>
            <a:endParaRPr lang="en-US" sz="1150" dirty="0"/>
          </a:p>
        </p:txBody>
      </p:sp>
      <p:sp>
        <p:nvSpPr>
          <p:cNvPr id="27" name="Text 22"/>
          <p:cNvSpPr txBox="1"/>
          <p:nvPr/>
        </p:nvSpPr>
        <p:spPr>
          <a:xfrm>
            <a:off x="2670048" y="1865376"/>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A model fine-tuned on microdata can repeat training records. Classify weights like their data.</a:t>
            </a:r>
            <a:endParaRPr lang="en-US" sz="1000" dirty="0"/>
          </a:p>
        </p:txBody>
      </p:sp>
      <p:sp>
        <p:nvSpPr>
          <p:cNvPr id="28" name="Shape 23"/>
          <p:cNvSpPr/>
          <p:nvPr/>
        </p:nvSpPr>
        <p:spPr>
          <a:xfrm>
            <a:off x="4626864" y="1371600"/>
            <a:ext cx="1975104" cy="1545336"/>
          </a:xfrm>
          <a:prstGeom prst="roundRect">
            <a:avLst>
              <a:gd name="adj" fmla="val 4734"/>
            </a:avLst>
          </a:prstGeom>
          <a:solidFill>
            <a:srgbClr val="F4F7F5"/>
          </a:solidFill>
          <a:ln w="9525">
            <a:solidFill>
              <a:srgbClr val="D5DED9"/>
            </a:solidFill>
            <a:prstDash val="solid"/>
          </a:ln>
        </p:spPr>
      </p:sp>
      <p:sp>
        <p:nvSpPr>
          <p:cNvPr id="29" name="Shape 24"/>
          <p:cNvSpPr/>
          <p:nvPr/>
        </p:nvSpPr>
        <p:spPr>
          <a:xfrm>
            <a:off x="4754880" y="1499616"/>
            <a:ext cx="310896" cy="310896"/>
          </a:xfrm>
          <a:prstGeom prst="ellipse">
            <a:avLst/>
          </a:prstGeom>
          <a:solidFill>
            <a:srgbClr val="B83B2E">
              <a:alpha val="22000"/>
            </a:srgbClr>
          </a:solidFill>
          <a:ln/>
        </p:spPr>
      </p:sp>
      <p:pic>
        <p:nvPicPr>
          <p:cNvPr id="30" name="Image 2" descr="preencoded.png"/>
          <p:cNvPicPr>
            <a:picLocks noChangeAspect="1"/>
          </p:cNvPicPr>
          <p:nvPr/>
        </p:nvPicPr>
        <p:blipFill>
          <a:blip r:embed="rId5"/>
          <a:stretch>
            <a:fillRect/>
          </a:stretch>
        </p:blipFill>
        <p:spPr>
          <a:xfrm>
            <a:off x="4829495" y="1574231"/>
            <a:ext cx="161666" cy="161666"/>
          </a:xfrm>
          <a:prstGeom prst="rect">
            <a:avLst/>
          </a:prstGeom>
        </p:spPr>
      </p:pic>
      <p:sp>
        <p:nvSpPr>
          <p:cNvPr id="31" name="Text 25"/>
          <p:cNvSpPr txBox="1"/>
          <p:nvPr/>
        </p:nvSpPr>
        <p:spPr>
          <a:xfrm>
            <a:off x="5175504" y="1499616"/>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Vector stores</a:t>
            </a:r>
            <a:endParaRPr lang="en-US" sz="1150" dirty="0"/>
          </a:p>
        </p:txBody>
      </p:sp>
      <p:sp>
        <p:nvSpPr>
          <p:cNvPr id="32" name="Text 26"/>
          <p:cNvSpPr txBox="1"/>
          <p:nvPr/>
        </p:nvSpPr>
        <p:spPr>
          <a:xfrm>
            <a:off x="4754880" y="1865376"/>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An embedding index is a second copy of the documents, often outside original access controls.</a:t>
            </a:r>
            <a:endParaRPr lang="en-US" sz="1000" dirty="0"/>
          </a:p>
        </p:txBody>
      </p:sp>
      <p:sp>
        <p:nvSpPr>
          <p:cNvPr id="33" name="Shape 27"/>
          <p:cNvSpPr/>
          <p:nvPr/>
        </p:nvSpPr>
        <p:spPr>
          <a:xfrm>
            <a:off x="6711696" y="1371600"/>
            <a:ext cx="1975104" cy="1545336"/>
          </a:xfrm>
          <a:prstGeom prst="roundRect">
            <a:avLst>
              <a:gd name="adj" fmla="val 4734"/>
            </a:avLst>
          </a:prstGeom>
          <a:solidFill>
            <a:srgbClr val="F4F7F5"/>
          </a:solidFill>
          <a:ln w="9525">
            <a:solidFill>
              <a:srgbClr val="D5DED9"/>
            </a:solidFill>
            <a:prstDash val="solid"/>
          </a:ln>
        </p:spPr>
      </p:sp>
      <p:sp>
        <p:nvSpPr>
          <p:cNvPr id="34" name="Shape 28"/>
          <p:cNvSpPr/>
          <p:nvPr/>
        </p:nvSpPr>
        <p:spPr>
          <a:xfrm>
            <a:off x="6839712" y="1499616"/>
            <a:ext cx="310896" cy="310896"/>
          </a:xfrm>
          <a:prstGeom prst="ellipse">
            <a:avLst/>
          </a:prstGeom>
          <a:solidFill>
            <a:srgbClr val="D49A00">
              <a:alpha val="22000"/>
            </a:srgbClr>
          </a:solidFill>
          <a:ln/>
        </p:spPr>
      </p:sp>
      <p:pic>
        <p:nvPicPr>
          <p:cNvPr id="35" name="Image 3" descr="preencoded.png"/>
          <p:cNvPicPr>
            <a:picLocks noChangeAspect="1"/>
          </p:cNvPicPr>
          <p:nvPr/>
        </p:nvPicPr>
        <p:blipFill>
          <a:blip r:embed="rId6"/>
          <a:stretch>
            <a:fillRect/>
          </a:stretch>
        </p:blipFill>
        <p:spPr>
          <a:xfrm>
            <a:off x="6914327" y="1574231"/>
            <a:ext cx="161666" cy="161666"/>
          </a:xfrm>
          <a:prstGeom prst="rect">
            <a:avLst/>
          </a:prstGeom>
        </p:spPr>
      </p:pic>
      <p:sp>
        <p:nvSpPr>
          <p:cNvPr id="36" name="Text 29"/>
          <p:cNvSpPr txBox="1"/>
          <p:nvPr/>
        </p:nvSpPr>
        <p:spPr>
          <a:xfrm>
            <a:off x="7260336" y="1499616"/>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Disclosure in outputs</a:t>
            </a:r>
            <a:endParaRPr lang="en-US" sz="1150" dirty="0"/>
          </a:p>
        </p:txBody>
      </p:sp>
      <p:sp>
        <p:nvSpPr>
          <p:cNvPr id="37" name="Text 30"/>
          <p:cNvSpPr txBox="1"/>
          <p:nvPr/>
        </p:nvSpPr>
        <p:spPr>
          <a:xfrm>
            <a:off x="6839712" y="1865376"/>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A generated summary can reveal a small cell that tabular controls would suppress.</a:t>
            </a:r>
            <a:endParaRPr lang="en-US" sz="1000" dirty="0"/>
          </a:p>
        </p:txBody>
      </p:sp>
      <p:sp>
        <p:nvSpPr>
          <p:cNvPr id="38" name="Shape 31"/>
          <p:cNvSpPr/>
          <p:nvPr/>
        </p:nvSpPr>
        <p:spPr>
          <a:xfrm>
            <a:off x="457200" y="3026664"/>
            <a:ext cx="1975104" cy="1545336"/>
          </a:xfrm>
          <a:prstGeom prst="roundRect">
            <a:avLst>
              <a:gd name="adj" fmla="val 4734"/>
            </a:avLst>
          </a:prstGeom>
          <a:solidFill>
            <a:srgbClr val="F4F7F5"/>
          </a:solidFill>
          <a:ln w="9525">
            <a:solidFill>
              <a:srgbClr val="D5DED9"/>
            </a:solidFill>
            <a:prstDash val="solid"/>
          </a:ln>
        </p:spPr>
      </p:sp>
      <p:sp>
        <p:nvSpPr>
          <p:cNvPr id="39" name="Shape 32"/>
          <p:cNvSpPr/>
          <p:nvPr/>
        </p:nvSpPr>
        <p:spPr>
          <a:xfrm>
            <a:off x="585216" y="3154680"/>
            <a:ext cx="310896" cy="310896"/>
          </a:xfrm>
          <a:prstGeom prst="ellipse">
            <a:avLst/>
          </a:prstGeom>
          <a:solidFill>
            <a:srgbClr val="D49A00">
              <a:alpha val="22000"/>
            </a:srgbClr>
          </a:solidFill>
          <a:ln/>
        </p:spPr>
      </p:sp>
      <p:pic>
        <p:nvPicPr>
          <p:cNvPr id="40" name="Image 4" descr="preencoded.png"/>
          <p:cNvPicPr>
            <a:picLocks noChangeAspect="1"/>
          </p:cNvPicPr>
          <p:nvPr/>
        </p:nvPicPr>
        <p:blipFill>
          <a:blip r:embed="rId7"/>
          <a:stretch>
            <a:fillRect/>
          </a:stretch>
        </p:blipFill>
        <p:spPr>
          <a:xfrm>
            <a:off x="659831" y="3229295"/>
            <a:ext cx="161666" cy="161666"/>
          </a:xfrm>
          <a:prstGeom prst="rect">
            <a:avLst/>
          </a:prstGeom>
        </p:spPr>
      </p:pic>
      <p:sp>
        <p:nvSpPr>
          <p:cNvPr id="41" name="Text 33"/>
          <p:cNvSpPr txBox="1"/>
          <p:nvPr/>
        </p:nvSpPr>
        <p:spPr>
          <a:xfrm>
            <a:off x="1005840" y="3154680"/>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Logs and telemetry</a:t>
            </a:r>
            <a:endParaRPr lang="en-US" sz="1150" dirty="0"/>
          </a:p>
        </p:txBody>
      </p:sp>
      <p:sp>
        <p:nvSpPr>
          <p:cNvPr id="42" name="Text 34"/>
          <p:cNvSpPr txBox="1"/>
          <p:nvPr/>
        </p:nvSpPr>
        <p:spPr>
          <a:xfrm>
            <a:off x="585216" y="3520440"/>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Stored prompts and responses form a third, uncontrolled copy. Set retention on both sides.</a:t>
            </a:r>
            <a:endParaRPr lang="en-US" sz="1000" dirty="0"/>
          </a:p>
        </p:txBody>
      </p:sp>
      <p:sp>
        <p:nvSpPr>
          <p:cNvPr id="43" name="Shape 35"/>
          <p:cNvSpPr/>
          <p:nvPr/>
        </p:nvSpPr>
        <p:spPr>
          <a:xfrm>
            <a:off x="2542032" y="3026664"/>
            <a:ext cx="1975104" cy="1545336"/>
          </a:xfrm>
          <a:prstGeom prst="roundRect">
            <a:avLst>
              <a:gd name="adj" fmla="val 4734"/>
            </a:avLst>
          </a:prstGeom>
          <a:solidFill>
            <a:srgbClr val="F4F7F5"/>
          </a:solidFill>
          <a:ln w="9525">
            <a:solidFill>
              <a:srgbClr val="D5DED9"/>
            </a:solidFill>
            <a:prstDash val="solid"/>
          </a:ln>
        </p:spPr>
      </p:sp>
      <p:sp>
        <p:nvSpPr>
          <p:cNvPr id="44" name="Shape 36"/>
          <p:cNvSpPr/>
          <p:nvPr/>
        </p:nvSpPr>
        <p:spPr>
          <a:xfrm>
            <a:off x="2670048" y="3154680"/>
            <a:ext cx="310896" cy="310896"/>
          </a:xfrm>
          <a:prstGeom prst="ellipse">
            <a:avLst/>
          </a:prstGeom>
          <a:solidFill>
            <a:srgbClr val="D49A00">
              <a:alpha val="22000"/>
            </a:srgbClr>
          </a:solidFill>
          <a:ln/>
        </p:spPr>
      </p:sp>
      <p:pic>
        <p:nvPicPr>
          <p:cNvPr id="45" name="Image 5" descr="preencoded.png"/>
          <p:cNvPicPr>
            <a:picLocks noChangeAspect="1"/>
          </p:cNvPicPr>
          <p:nvPr/>
        </p:nvPicPr>
        <p:blipFill>
          <a:blip r:embed="rId8"/>
          <a:stretch>
            <a:fillRect/>
          </a:stretch>
        </p:blipFill>
        <p:spPr>
          <a:xfrm>
            <a:off x="2744663" y="3229295"/>
            <a:ext cx="161666" cy="161666"/>
          </a:xfrm>
          <a:prstGeom prst="rect">
            <a:avLst/>
          </a:prstGeom>
        </p:spPr>
      </p:pic>
      <p:sp>
        <p:nvSpPr>
          <p:cNvPr id="46" name="Text 37"/>
          <p:cNvSpPr txBox="1"/>
          <p:nvPr/>
        </p:nvSpPr>
        <p:spPr>
          <a:xfrm>
            <a:off x="3090672" y="3154680"/>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Sub-processors</a:t>
            </a:r>
            <a:endParaRPr lang="en-US" sz="1150" dirty="0"/>
          </a:p>
        </p:txBody>
      </p:sp>
      <p:sp>
        <p:nvSpPr>
          <p:cNvPr id="47" name="Text 38"/>
          <p:cNvSpPr txBox="1"/>
          <p:nvPr/>
        </p:nvSpPr>
        <p:spPr>
          <a:xfrm>
            <a:off x="2670048" y="3520440"/>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Your contract is with one vendor; the processing may run on another's infrastructure.</a:t>
            </a:r>
            <a:endParaRPr lang="en-US" sz="1000" dirty="0"/>
          </a:p>
        </p:txBody>
      </p:sp>
      <p:sp>
        <p:nvSpPr>
          <p:cNvPr id="48" name="Shape 39"/>
          <p:cNvSpPr/>
          <p:nvPr/>
        </p:nvSpPr>
        <p:spPr>
          <a:xfrm>
            <a:off x="4626864" y="3026664"/>
            <a:ext cx="1975104" cy="1545336"/>
          </a:xfrm>
          <a:prstGeom prst="roundRect">
            <a:avLst>
              <a:gd name="adj" fmla="val 4734"/>
            </a:avLst>
          </a:prstGeom>
          <a:solidFill>
            <a:srgbClr val="F4F7F5"/>
          </a:solidFill>
          <a:ln w="9525">
            <a:solidFill>
              <a:srgbClr val="D5DED9"/>
            </a:solidFill>
            <a:prstDash val="solid"/>
          </a:ln>
        </p:spPr>
      </p:sp>
      <p:sp>
        <p:nvSpPr>
          <p:cNvPr id="49" name="Shape 40"/>
          <p:cNvSpPr/>
          <p:nvPr/>
        </p:nvSpPr>
        <p:spPr>
          <a:xfrm>
            <a:off x="4754880" y="3154680"/>
            <a:ext cx="310896" cy="310896"/>
          </a:xfrm>
          <a:prstGeom prst="ellipse">
            <a:avLst/>
          </a:prstGeom>
          <a:solidFill>
            <a:srgbClr val="D49A00">
              <a:alpha val="22000"/>
            </a:srgbClr>
          </a:solidFill>
          <a:ln/>
        </p:spPr>
      </p:sp>
      <p:pic>
        <p:nvPicPr>
          <p:cNvPr id="50" name="Image 6" descr="preencoded.png"/>
          <p:cNvPicPr>
            <a:picLocks noChangeAspect="1"/>
          </p:cNvPicPr>
          <p:nvPr/>
        </p:nvPicPr>
        <p:blipFill>
          <a:blip r:embed="rId9"/>
          <a:stretch>
            <a:fillRect/>
          </a:stretch>
        </p:blipFill>
        <p:spPr>
          <a:xfrm>
            <a:off x="4829495" y="3229295"/>
            <a:ext cx="161666" cy="161666"/>
          </a:xfrm>
          <a:prstGeom prst="rect">
            <a:avLst/>
          </a:prstGeom>
        </p:spPr>
      </p:pic>
      <p:sp>
        <p:nvSpPr>
          <p:cNvPr id="51" name="Text 41"/>
          <p:cNvSpPr txBox="1"/>
          <p:nvPr/>
        </p:nvSpPr>
        <p:spPr>
          <a:xfrm>
            <a:off x="5175504" y="3154680"/>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Inference context</a:t>
            </a:r>
            <a:endParaRPr lang="en-US" sz="1150" dirty="0"/>
          </a:p>
        </p:txBody>
      </p:sp>
      <p:sp>
        <p:nvSpPr>
          <p:cNvPr id="52" name="Text 42"/>
          <p:cNvSpPr txBox="1"/>
          <p:nvPr/>
        </p:nvSpPr>
        <p:spPr>
          <a:xfrm>
            <a:off x="4754880" y="3520440"/>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Without per-user filtering, retrieval can show content a user has no right to see.</a:t>
            </a:r>
            <a:endParaRPr lang="en-US" sz="1000" dirty="0"/>
          </a:p>
        </p:txBody>
      </p:sp>
      <p:sp>
        <p:nvSpPr>
          <p:cNvPr id="53" name="Shape 43"/>
          <p:cNvSpPr/>
          <p:nvPr/>
        </p:nvSpPr>
        <p:spPr>
          <a:xfrm>
            <a:off x="6711696" y="3026664"/>
            <a:ext cx="1975104" cy="1545336"/>
          </a:xfrm>
          <a:prstGeom prst="roundRect">
            <a:avLst>
              <a:gd name="adj" fmla="val 4734"/>
            </a:avLst>
          </a:prstGeom>
          <a:solidFill>
            <a:srgbClr val="E8F5EF"/>
          </a:solidFill>
          <a:ln w="15875">
            <a:solidFill>
              <a:srgbClr val="00A86A"/>
            </a:solidFill>
            <a:prstDash val="solid"/>
          </a:ln>
        </p:spPr>
      </p:sp>
      <p:sp>
        <p:nvSpPr>
          <p:cNvPr id="54" name="Shape 44"/>
          <p:cNvSpPr/>
          <p:nvPr/>
        </p:nvSpPr>
        <p:spPr>
          <a:xfrm>
            <a:off x="6839712" y="3154680"/>
            <a:ext cx="310896" cy="310896"/>
          </a:xfrm>
          <a:prstGeom prst="ellipse">
            <a:avLst/>
          </a:prstGeom>
          <a:solidFill>
            <a:srgbClr val="00A86A">
              <a:alpha val="22000"/>
            </a:srgbClr>
          </a:solidFill>
          <a:ln/>
        </p:spPr>
      </p:sp>
      <p:pic>
        <p:nvPicPr>
          <p:cNvPr id="55" name="Image 7" descr="preencoded.png"/>
          <p:cNvPicPr>
            <a:picLocks noChangeAspect="1"/>
          </p:cNvPicPr>
          <p:nvPr/>
        </p:nvPicPr>
        <p:blipFill>
          <a:blip r:embed="rId10"/>
          <a:stretch>
            <a:fillRect/>
          </a:stretch>
        </p:blipFill>
        <p:spPr>
          <a:xfrm>
            <a:off x="6914327" y="3229295"/>
            <a:ext cx="161666" cy="161666"/>
          </a:xfrm>
          <a:prstGeom prst="rect">
            <a:avLst/>
          </a:prstGeom>
        </p:spPr>
      </p:pic>
      <p:sp>
        <p:nvSpPr>
          <p:cNvPr id="56" name="Text 45"/>
          <p:cNvSpPr txBox="1"/>
          <p:nvPr/>
        </p:nvSpPr>
        <p:spPr>
          <a:xfrm>
            <a:off x="7242048" y="3154680"/>
            <a:ext cx="1335024" cy="310896"/>
          </a:xfrm>
          <a:prstGeom prst="rect">
            <a:avLst/>
          </a:prstGeom>
          <a:noFill/>
          <a:ln/>
        </p:spPr>
        <p:txBody>
          <a:bodyPr wrap="square" lIns="0" tIns="0" rIns="0" bIns="0" rtlCol="0" anchor="ctr"/>
          <a:lstStyle/>
          <a:p>
            <a:pPr marL="0" indent="0">
              <a:buNone/>
            </a:pPr>
            <a:r>
              <a:rPr lang="en-US" sz="900" b="1" kern="0" spc="150" dirty="0">
                <a:solidFill>
                  <a:srgbClr val="00704A"/>
                </a:solidFill>
                <a:latin typeface="Calibri" pitchFamily="34" charset="0"/>
                <a:ea typeface="Calibri" pitchFamily="34" charset="-122"/>
                <a:cs typeface="Calibri" pitchFamily="34" charset="-120"/>
              </a:rPr>
              <a:t>KEY POINT</a:t>
            </a:r>
            <a:endParaRPr lang="en-US" sz="900" dirty="0"/>
          </a:p>
        </p:txBody>
      </p:sp>
      <p:sp>
        <p:nvSpPr>
          <p:cNvPr id="57" name="Text 46"/>
          <p:cNvSpPr txBox="1"/>
          <p:nvPr/>
        </p:nvSpPr>
        <p:spPr>
          <a:xfrm>
            <a:off x="6839712" y="3538728"/>
            <a:ext cx="1719072" cy="960120"/>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Shadow AI is not solved by a memo. It is solved by a sanctioned tool good enough that the unsanctioned one is not tempting.</a:t>
            </a:r>
            <a:endParaRPr lang="en-US" sz="1000"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LEGAL FRAMEWORK</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The legal landscape: global, African, national</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Obligations differ by country, but the structure of the analysis is the same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40</a:t>
            </a:r>
            <a:endParaRPr lang="en-US" sz="850" dirty="0"/>
          </a:p>
        </p:txBody>
      </p:sp>
      <p:sp>
        <p:nvSpPr>
          <p:cNvPr id="18" name="Shape 15"/>
          <p:cNvSpPr/>
          <p:nvPr/>
        </p:nvSpPr>
        <p:spPr>
          <a:xfrm>
            <a:off x="1691640" y="1325880"/>
            <a:ext cx="2301240" cy="329184"/>
          </a:xfrm>
          <a:prstGeom prst="roundRect">
            <a:avLst>
              <a:gd name="adj" fmla="val 13889"/>
            </a:avLst>
          </a:prstGeom>
          <a:solidFill>
            <a:srgbClr val="00704A"/>
          </a:solidFill>
          <a:ln/>
        </p:spPr>
      </p:sp>
      <p:pic>
        <p:nvPicPr>
          <p:cNvPr id="19" name="Image 0" descr="preencoded.png"/>
          <p:cNvPicPr>
            <a:picLocks noChangeAspect="1"/>
          </p:cNvPicPr>
          <p:nvPr/>
        </p:nvPicPr>
        <p:blipFill>
          <a:blip r:embed="rId3"/>
          <a:stretch>
            <a:fillRect/>
          </a:stretch>
        </p:blipFill>
        <p:spPr>
          <a:xfrm>
            <a:off x="1801368" y="1408176"/>
            <a:ext cx="164592" cy="164592"/>
          </a:xfrm>
          <a:prstGeom prst="rect">
            <a:avLst/>
          </a:prstGeom>
        </p:spPr>
      </p:pic>
      <p:sp>
        <p:nvSpPr>
          <p:cNvPr id="20" name="Text 16"/>
          <p:cNvSpPr txBox="1"/>
          <p:nvPr/>
        </p:nvSpPr>
        <p:spPr>
          <a:xfrm>
            <a:off x="2039112" y="1325880"/>
            <a:ext cx="1889760" cy="329184"/>
          </a:xfrm>
          <a:prstGeom prst="rect">
            <a:avLst/>
          </a:prstGeom>
          <a:noFill/>
          <a:ln/>
        </p:spPr>
        <p:txBody>
          <a:bodyPr wrap="square" lIns="0" tIns="0" rIns="0" bIns="0" rtlCol="0" anchor="ctr"/>
          <a:lstStyle/>
          <a:p>
            <a:pPr marL="0" indent="0">
              <a:buNone/>
            </a:pPr>
            <a:r>
              <a:rPr lang="en-US" sz="950" b="1" kern="0" spc="100" dirty="0">
                <a:solidFill>
                  <a:srgbClr val="FFFFFF"/>
                </a:solidFill>
                <a:latin typeface="Calibri" pitchFamily="34" charset="0"/>
                <a:ea typeface="Calibri" pitchFamily="34" charset="-122"/>
                <a:cs typeface="Calibri" pitchFamily="34" charset="-120"/>
              </a:rPr>
              <a:t>STATISTICS</a:t>
            </a:r>
            <a:endParaRPr lang="en-US" sz="950" dirty="0"/>
          </a:p>
        </p:txBody>
      </p:sp>
      <p:sp>
        <p:nvSpPr>
          <p:cNvPr id="21" name="Shape 17"/>
          <p:cNvSpPr/>
          <p:nvPr/>
        </p:nvSpPr>
        <p:spPr>
          <a:xfrm>
            <a:off x="4038600" y="1325880"/>
            <a:ext cx="2301240" cy="329184"/>
          </a:xfrm>
          <a:prstGeom prst="roundRect">
            <a:avLst>
              <a:gd name="adj" fmla="val 13889"/>
            </a:avLst>
          </a:prstGeom>
          <a:solidFill>
            <a:srgbClr val="00704A"/>
          </a:solidFill>
          <a:ln/>
        </p:spPr>
      </p:sp>
      <p:pic>
        <p:nvPicPr>
          <p:cNvPr id="22" name="Image 1" descr="preencoded.png"/>
          <p:cNvPicPr>
            <a:picLocks noChangeAspect="1"/>
          </p:cNvPicPr>
          <p:nvPr/>
        </p:nvPicPr>
        <p:blipFill>
          <a:blip r:embed="rId4"/>
          <a:stretch>
            <a:fillRect/>
          </a:stretch>
        </p:blipFill>
        <p:spPr>
          <a:xfrm>
            <a:off x="4148328" y="1408176"/>
            <a:ext cx="164592" cy="164592"/>
          </a:xfrm>
          <a:prstGeom prst="rect">
            <a:avLst/>
          </a:prstGeom>
        </p:spPr>
      </p:pic>
      <p:sp>
        <p:nvSpPr>
          <p:cNvPr id="23" name="Text 18"/>
          <p:cNvSpPr txBox="1"/>
          <p:nvPr/>
        </p:nvSpPr>
        <p:spPr>
          <a:xfrm>
            <a:off x="4386072" y="1325880"/>
            <a:ext cx="1889760" cy="329184"/>
          </a:xfrm>
          <a:prstGeom prst="rect">
            <a:avLst/>
          </a:prstGeom>
          <a:noFill/>
          <a:ln/>
        </p:spPr>
        <p:txBody>
          <a:bodyPr wrap="square" lIns="0" tIns="0" rIns="0" bIns="0" rtlCol="0" anchor="ctr"/>
          <a:lstStyle/>
          <a:p>
            <a:pPr marL="0" indent="0">
              <a:buNone/>
            </a:pPr>
            <a:r>
              <a:rPr lang="en-US" sz="950" b="1" kern="0" spc="100" dirty="0">
                <a:solidFill>
                  <a:srgbClr val="FFFFFF"/>
                </a:solidFill>
                <a:latin typeface="Calibri" pitchFamily="34" charset="0"/>
                <a:ea typeface="Calibri" pitchFamily="34" charset="-122"/>
                <a:cs typeface="Calibri" pitchFamily="34" charset="-120"/>
              </a:rPr>
              <a:t>DATA PROTECTION &amp; AI</a:t>
            </a:r>
            <a:endParaRPr lang="en-US" sz="950" dirty="0"/>
          </a:p>
        </p:txBody>
      </p:sp>
      <p:sp>
        <p:nvSpPr>
          <p:cNvPr id="24" name="Shape 19"/>
          <p:cNvSpPr/>
          <p:nvPr/>
        </p:nvSpPr>
        <p:spPr>
          <a:xfrm>
            <a:off x="6385560" y="1325880"/>
            <a:ext cx="2301240" cy="329184"/>
          </a:xfrm>
          <a:prstGeom prst="roundRect">
            <a:avLst>
              <a:gd name="adj" fmla="val 13889"/>
            </a:avLst>
          </a:prstGeom>
          <a:solidFill>
            <a:srgbClr val="00704A"/>
          </a:solidFill>
          <a:ln/>
        </p:spPr>
      </p:sp>
      <p:pic>
        <p:nvPicPr>
          <p:cNvPr id="25" name="Image 2" descr="preencoded.png"/>
          <p:cNvPicPr>
            <a:picLocks noChangeAspect="1"/>
          </p:cNvPicPr>
          <p:nvPr/>
        </p:nvPicPr>
        <p:blipFill>
          <a:blip r:embed="rId5"/>
          <a:stretch>
            <a:fillRect/>
          </a:stretch>
        </p:blipFill>
        <p:spPr>
          <a:xfrm>
            <a:off x="6495288" y="1408176"/>
            <a:ext cx="164592" cy="164592"/>
          </a:xfrm>
          <a:prstGeom prst="rect">
            <a:avLst/>
          </a:prstGeom>
        </p:spPr>
      </p:pic>
      <p:sp>
        <p:nvSpPr>
          <p:cNvPr id="26" name="Text 20"/>
          <p:cNvSpPr txBox="1"/>
          <p:nvPr/>
        </p:nvSpPr>
        <p:spPr>
          <a:xfrm>
            <a:off x="6733032" y="1325880"/>
            <a:ext cx="1889760" cy="329184"/>
          </a:xfrm>
          <a:prstGeom prst="rect">
            <a:avLst/>
          </a:prstGeom>
          <a:noFill/>
          <a:ln/>
        </p:spPr>
        <p:txBody>
          <a:bodyPr wrap="square" lIns="0" tIns="0" rIns="0" bIns="0" rtlCol="0" anchor="ctr"/>
          <a:lstStyle/>
          <a:p>
            <a:pPr marL="0" indent="0">
              <a:buNone/>
            </a:pPr>
            <a:r>
              <a:rPr lang="en-US" sz="950" b="1" kern="0" spc="100" dirty="0">
                <a:solidFill>
                  <a:srgbClr val="FFFFFF"/>
                </a:solidFill>
                <a:latin typeface="Calibri" pitchFamily="34" charset="0"/>
                <a:ea typeface="Calibri" pitchFamily="34" charset="-122"/>
                <a:cs typeface="Calibri" pitchFamily="34" charset="-120"/>
              </a:rPr>
              <a:t>SECURITY &amp; OPERATIONS</a:t>
            </a:r>
            <a:endParaRPr lang="en-US" sz="950" dirty="0"/>
          </a:p>
        </p:txBody>
      </p:sp>
      <p:sp>
        <p:nvSpPr>
          <p:cNvPr id="27" name="Shape 21"/>
          <p:cNvSpPr/>
          <p:nvPr/>
        </p:nvSpPr>
        <p:spPr>
          <a:xfrm>
            <a:off x="457200" y="1801368"/>
            <a:ext cx="310896" cy="310896"/>
          </a:xfrm>
          <a:prstGeom prst="ellipse">
            <a:avLst/>
          </a:prstGeom>
          <a:solidFill>
            <a:srgbClr val="00A86A">
              <a:alpha val="22000"/>
            </a:srgbClr>
          </a:solidFill>
          <a:ln/>
        </p:spPr>
      </p:sp>
      <p:pic>
        <p:nvPicPr>
          <p:cNvPr id="28" name="Image 3" descr="preencoded.png"/>
          <p:cNvPicPr>
            <a:picLocks noChangeAspect="1"/>
          </p:cNvPicPr>
          <p:nvPr/>
        </p:nvPicPr>
        <p:blipFill>
          <a:blip r:embed="rId6"/>
          <a:stretch>
            <a:fillRect/>
          </a:stretch>
        </p:blipFill>
        <p:spPr>
          <a:xfrm>
            <a:off x="531815" y="1875983"/>
            <a:ext cx="161666" cy="161666"/>
          </a:xfrm>
          <a:prstGeom prst="rect">
            <a:avLst/>
          </a:prstGeom>
        </p:spPr>
      </p:pic>
      <p:sp>
        <p:nvSpPr>
          <p:cNvPr id="29" name="Text 22"/>
          <p:cNvSpPr txBox="1"/>
          <p:nvPr/>
        </p:nvSpPr>
        <p:spPr>
          <a:xfrm>
            <a:off x="457200" y="2130552"/>
            <a:ext cx="1143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Global</a:t>
            </a:r>
            <a:endParaRPr lang="en-US" sz="1100" dirty="0"/>
          </a:p>
        </p:txBody>
      </p:sp>
      <p:sp>
        <p:nvSpPr>
          <p:cNvPr id="30" name="Shape 23"/>
          <p:cNvSpPr/>
          <p:nvPr/>
        </p:nvSpPr>
        <p:spPr>
          <a:xfrm>
            <a:off x="1691640" y="1709928"/>
            <a:ext cx="2301240" cy="731520"/>
          </a:xfrm>
          <a:prstGeom prst="roundRect">
            <a:avLst>
              <a:gd name="adj" fmla="val 6250"/>
            </a:avLst>
          </a:prstGeom>
          <a:solidFill>
            <a:srgbClr val="F4F7F5"/>
          </a:solidFill>
          <a:ln w="9525">
            <a:solidFill>
              <a:srgbClr val="D5DED9"/>
            </a:solidFill>
            <a:prstDash val="solid"/>
          </a:ln>
        </p:spPr>
      </p:sp>
      <p:sp>
        <p:nvSpPr>
          <p:cNvPr id="31" name="Text 24"/>
          <p:cNvSpPr txBox="1"/>
          <p:nvPr/>
        </p:nvSpPr>
        <p:spPr>
          <a:xfrm>
            <a:off x="1783080" y="1709928"/>
            <a:ext cx="2118360" cy="7315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UN Fundamental Principles of Official Statistics — Principle 6: individual data strictly confidential</a:t>
            </a:r>
            <a:endParaRPr lang="en-US" sz="950" dirty="0"/>
          </a:p>
        </p:txBody>
      </p:sp>
      <p:sp>
        <p:nvSpPr>
          <p:cNvPr id="32" name="Shape 25"/>
          <p:cNvSpPr/>
          <p:nvPr/>
        </p:nvSpPr>
        <p:spPr>
          <a:xfrm>
            <a:off x="4038600" y="1709928"/>
            <a:ext cx="2301240" cy="731520"/>
          </a:xfrm>
          <a:prstGeom prst="roundRect">
            <a:avLst>
              <a:gd name="adj" fmla="val 6250"/>
            </a:avLst>
          </a:prstGeom>
          <a:solidFill>
            <a:srgbClr val="F4F7F5"/>
          </a:solidFill>
          <a:ln w="9525">
            <a:solidFill>
              <a:srgbClr val="D5DED9"/>
            </a:solidFill>
            <a:prstDash val="solid"/>
          </a:ln>
        </p:spPr>
      </p:sp>
      <p:sp>
        <p:nvSpPr>
          <p:cNvPr id="33" name="Text 26"/>
          <p:cNvSpPr txBox="1"/>
          <p:nvPr/>
        </p:nvSpPr>
        <p:spPr>
          <a:xfrm>
            <a:off x="4130040" y="1709928"/>
            <a:ext cx="2118360" cy="7315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OECD AI Principles; UNESCO Recommendation on the Ethics of AI; EU AI Act (Reg. 2024/1689) as a reference model</a:t>
            </a:r>
            <a:endParaRPr lang="en-US" sz="950" dirty="0"/>
          </a:p>
        </p:txBody>
      </p:sp>
      <p:sp>
        <p:nvSpPr>
          <p:cNvPr id="34" name="Shape 27"/>
          <p:cNvSpPr/>
          <p:nvPr/>
        </p:nvSpPr>
        <p:spPr>
          <a:xfrm>
            <a:off x="6385560" y="1709928"/>
            <a:ext cx="2301240" cy="731520"/>
          </a:xfrm>
          <a:prstGeom prst="roundRect">
            <a:avLst>
              <a:gd name="adj" fmla="val 6250"/>
            </a:avLst>
          </a:prstGeom>
          <a:solidFill>
            <a:srgbClr val="F4F7F5"/>
          </a:solidFill>
          <a:ln w="9525">
            <a:solidFill>
              <a:srgbClr val="D5DED9"/>
            </a:solidFill>
            <a:prstDash val="solid"/>
          </a:ln>
        </p:spPr>
      </p:sp>
      <p:sp>
        <p:nvSpPr>
          <p:cNvPr id="35" name="Text 28"/>
          <p:cNvSpPr txBox="1"/>
          <p:nvPr/>
        </p:nvSpPr>
        <p:spPr>
          <a:xfrm>
            <a:off x="6477000" y="1709928"/>
            <a:ext cx="2118360" cy="7315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International security standards (e.g. ISO/IEC 27001); archiving good practice</a:t>
            </a:r>
            <a:endParaRPr lang="en-US" sz="950" dirty="0"/>
          </a:p>
        </p:txBody>
      </p:sp>
      <p:sp>
        <p:nvSpPr>
          <p:cNvPr id="36" name="Shape 29"/>
          <p:cNvSpPr/>
          <p:nvPr/>
        </p:nvSpPr>
        <p:spPr>
          <a:xfrm>
            <a:off x="457200" y="2587752"/>
            <a:ext cx="310896" cy="310896"/>
          </a:xfrm>
          <a:prstGeom prst="ellipse">
            <a:avLst/>
          </a:prstGeom>
          <a:solidFill>
            <a:srgbClr val="D49A00">
              <a:alpha val="22000"/>
            </a:srgbClr>
          </a:solidFill>
          <a:ln/>
        </p:spPr>
      </p:sp>
      <p:pic>
        <p:nvPicPr>
          <p:cNvPr id="37" name="Image 4" descr="preencoded.png"/>
          <p:cNvPicPr>
            <a:picLocks noChangeAspect="1"/>
          </p:cNvPicPr>
          <p:nvPr/>
        </p:nvPicPr>
        <p:blipFill>
          <a:blip r:embed="rId7"/>
          <a:stretch>
            <a:fillRect/>
          </a:stretch>
        </p:blipFill>
        <p:spPr>
          <a:xfrm>
            <a:off x="531815" y="2662367"/>
            <a:ext cx="161666" cy="161666"/>
          </a:xfrm>
          <a:prstGeom prst="rect">
            <a:avLst/>
          </a:prstGeom>
        </p:spPr>
      </p:pic>
      <p:sp>
        <p:nvSpPr>
          <p:cNvPr id="38" name="Text 30"/>
          <p:cNvSpPr txBox="1"/>
          <p:nvPr/>
        </p:nvSpPr>
        <p:spPr>
          <a:xfrm>
            <a:off x="457200" y="2916936"/>
            <a:ext cx="1143000" cy="228600"/>
          </a:xfrm>
          <a:prstGeom prst="rect">
            <a:avLst/>
          </a:prstGeom>
          <a:noFill/>
          <a:ln/>
        </p:spPr>
        <p:txBody>
          <a:bodyPr wrap="square" lIns="0" tIns="0" rIns="0" bIns="0" rtlCol="0" anchor="t"/>
          <a:lstStyle/>
          <a:p>
            <a:pPr marL="0" indent="0">
              <a:buNone/>
            </a:pPr>
            <a:r>
              <a:rPr lang="en-US" sz="1100" b="1" dirty="0">
                <a:solidFill>
                  <a:srgbClr val="8A6400"/>
                </a:solidFill>
                <a:latin typeface="Calibri" pitchFamily="34" charset="0"/>
                <a:ea typeface="Calibri" pitchFamily="34" charset="-122"/>
                <a:cs typeface="Calibri" pitchFamily="34" charset="-120"/>
              </a:rPr>
              <a:t>African</a:t>
            </a:r>
            <a:endParaRPr lang="en-US" sz="1100" dirty="0"/>
          </a:p>
        </p:txBody>
      </p:sp>
      <p:sp>
        <p:nvSpPr>
          <p:cNvPr id="39" name="Shape 31"/>
          <p:cNvSpPr/>
          <p:nvPr/>
        </p:nvSpPr>
        <p:spPr>
          <a:xfrm>
            <a:off x="1691640" y="2496312"/>
            <a:ext cx="2301240" cy="731520"/>
          </a:xfrm>
          <a:prstGeom prst="roundRect">
            <a:avLst>
              <a:gd name="adj" fmla="val 6250"/>
            </a:avLst>
          </a:prstGeom>
          <a:solidFill>
            <a:srgbClr val="FBF3DF"/>
          </a:solidFill>
          <a:ln w="15875">
            <a:solidFill>
              <a:srgbClr val="D49A00"/>
            </a:solidFill>
            <a:prstDash val="solid"/>
          </a:ln>
        </p:spPr>
      </p:sp>
      <p:sp>
        <p:nvSpPr>
          <p:cNvPr id="40" name="Text 32"/>
          <p:cNvSpPr txBox="1"/>
          <p:nvPr/>
        </p:nvSpPr>
        <p:spPr>
          <a:xfrm>
            <a:off x="1783080" y="2496312"/>
            <a:ext cx="2118360" cy="7315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African Charter on Statistics; SHaSA 2 — harmonisation and professional independence</a:t>
            </a:r>
            <a:endParaRPr lang="en-US" sz="950" dirty="0"/>
          </a:p>
        </p:txBody>
      </p:sp>
      <p:sp>
        <p:nvSpPr>
          <p:cNvPr id="41" name="Shape 33"/>
          <p:cNvSpPr/>
          <p:nvPr/>
        </p:nvSpPr>
        <p:spPr>
          <a:xfrm>
            <a:off x="4038600" y="2496312"/>
            <a:ext cx="2301240" cy="731520"/>
          </a:xfrm>
          <a:prstGeom prst="roundRect">
            <a:avLst>
              <a:gd name="adj" fmla="val 6250"/>
            </a:avLst>
          </a:prstGeom>
          <a:solidFill>
            <a:srgbClr val="FBF3DF"/>
          </a:solidFill>
          <a:ln w="15875">
            <a:solidFill>
              <a:srgbClr val="D49A00"/>
            </a:solidFill>
            <a:prstDash val="solid"/>
          </a:ln>
        </p:spPr>
      </p:sp>
      <p:sp>
        <p:nvSpPr>
          <p:cNvPr id="42" name="Text 34"/>
          <p:cNvSpPr txBox="1"/>
          <p:nvPr/>
        </p:nvSpPr>
        <p:spPr>
          <a:xfrm>
            <a:off x="4130040" y="2496312"/>
            <a:ext cx="2118360" cy="7315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Malabo Convention (in force June 2023); AU Data Policy Framework; AU Continental AI Strategy (July 2024)</a:t>
            </a:r>
            <a:endParaRPr lang="en-US" sz="950" dirty="0"/>
          </a:p>
        </p:txBody>
      </p:sp>
      <p:sp>
        <p:nvSpPr>
          <p:cNvPr id="43" name="Shape 35"/>
          <p:cNvSpPr/>
          <p:nvPr/>
        </p:nvSpPr>
        <p:spPr>
          <a:xfrm>
            <a:off x="6385560" y="2496312"/>
            <a:ext cx="2301240" cy="731520"/>
          </a:xfrm>
          <a:prstGeom prst="roundRect">
            <a:avLst>
              <a:gd name="adj" fmla="val 6250"/>
            </a:avLst>
          </a:prstGeom>
          <a:solidFill>
            <a:srgbClr val="FBF3DF"/>
          </a:solidFill>
          <a:ln w="15875">
            <a:solidFill>
              <a:srgbClr val="D49A00"/>
            </a:solidFill>
            <a:prstDash val="solid"/>
          </a:ln>
        </p:spPr>
      </p:sp>
      <p:sp>
        <p:nvSpPr>
          <p:cNvPr id="44" name="Text 36"/>
          <p:cNvSpPr txBox="1"/>
          <p:nvPr/>
        </p:nvSpPr>
        <p:spPr>
          <a:xfrm>
            <a:off x="6477000" y="2496312"/>
            <a:ext cx="2118360" cy="7315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Malabo cyber-security provisions; regional (REC) frameworks, e.g. ECOWAS data protection act</a:t>
            </a:r>
            <a:endParaRPr lang="en-US" sz="950" dirty="0"/>
          </a:p>
        </p:txBody>
      </p:sp>
      <p:sp>
        <p:nvSpPr>
          <p:cNvPr id="45" name="Shape 37"/>
          <p:cNvSpPr/>
          <p:nvPr/>
        </p:nvSpPr>
        <p:spPr>
          <a:xfrm>
            <a:off x="457200" y="3374136"/>
            <a:ext cx="310896" cy="310896"/>
          </a:xfrm>
          <a:prstGeom prst="ellipse">
            <a:avLst/>
          </a:prstGeom>
          <a:solidFill>
            <a:srgbClr val="00A86A">
              <a:alpha val="22000"/>
            </a:srgbClr>
          </a:solidFill>
          <a:ln/>
        </p:spPr>
      </p:sp>
      <p:pic>
        <p:nvPicPr>
          <p:cNvPr id="46" name="Image 5" descr="preencoded.png"/>
          <p:cNvPicPr>
            <a:picLocks noChangeAspect="1"/>
          </p:cNvPicPr>
          <p:nvPr/>
        </p:nvPicPr>
        <p:blipFill>
          <a:blip r:embed="rId8"/>
          <a:stretch>
            <a:fillRect/>
          </a:stretch>
        </p:blipFill>
        <p:spPr>
          <a:xfrm>
            <a:off x="531815" y="3448751"/>
            <a:ext cx="161666" cy="161666"/>
          </a:xfrm>
          <a:prstGeom prst="rect">
            <a:avLst/>
          </a:prstGeom>
        </p:spPr>
      </p:pic>
      <p:sp>
        <p:nvSpPr>
          <p:cNvPr id="47" name="Text 38"/>
          <p:cNvSpPr txBox="1"/>
          <p:nvPr/>
        </p:nvSpPr>
        <p:spPr>
          <a:xfrm>
            <a:off x="457200" y="3703320"/>
            <a:ext cx="1143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National</a:t>
            </a:r>
            <a:endParaRPr lang="en-US" sz="1100" dirty="0"/>
          </a:p>
        </p:txBody>
      </p:sp>
      <p:sp>
        <p:nvSpPr>
          <p:cNvPr id="48" name="Shape 39"/>
          <p:cNvSpPr/>
          <p:nvPr/>
        </p:nvSpPr>
        <p:spPr>
          <a:xfrm>
            <a:off x="1691640" y="3282696"/>
            <a:ext cx="2301240" cy="731520"/>
          </a:xfrm>
          <a:prstGeom prst="roundRect">
            <a:avLst>
              <a:gd name="adj" fmla="val 6250"/>
            </a:avLst>
          </a:prstGeom>
          <a:solidFill>
            <a:srgbClr val="F4F7F5"/>
          </a:solidFill>
          <a:ln w="9525">
            <a:solidFill>
              <a:srgbClr val="D5DED9"/>
            </a:solidFill>
            <a:prstDash val="solid"/>
          </a:ln>
        </p:spPr>
      </p:sp>
      <p:sp>
        <p:nvSpPr>
          <p:cNvPr id="49" name="Text 40"/>
          <p:cNvSpPr txBox="1"/>
          <p:nvPr/>
        </p:nvSpPr>
        <p:spPr>
          <a:xfrm>
            <a:off x="1783080" y="3282696"/>
            <a:ext cx="2118360" cy="7315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National statistics act: mandate, statistical secrecy, limits on where and by whom data is processed</a:t>
            </a:r>
            <a:endParaRPr lang="en-US" sz="950" dirty="0"/>
          </a:p>
        </p:txBody>
      </p:sp>
      <p:sp>
        <p:nvSpPr>
          <p:cNvPr id="50" name="Shape 41"/>
          <p:cNvSpPr/>
          <p:nvPr/>
        </p:nvSpPr>
        <p:spPr>
          <a:xfrm>
            <a:off x="4038600" y="3282696"/>
            <a:ext cx="2301240" cy="731520"/>
          </a:xfrm>
          <a:prstGeom prst="roundRect">
            <a:avLst>
              <a:gd name="adj" fmla="val 6250"/>
            </a:avLst>
          </a:prstGeom>
          <a:solidFill>
            <a:srgbClr val="F4F7F5"/>
          </a:solidFill>
          <a:ln w="9525">
            <a:solidFill>
              <a:srgbClr val="D5DED9"/>
            </a:solidFill>
            <a:prstDash val="solid"/>
          </a:ln>
        </p:spPr>
      </p:sp>
      <p:sp>
        <p:nvSpPr>
          <p:cNvPr id="51" name="Text 42"/>
          <p:cNvSpPr txBox="1"/>
          <p:nvPr/>
        </p:nvSpPr>
        <p:spPr>
          <a:xfrm>
            <a:off x="4130040" y="3282696"/>
            <a:ext cx="2118360" cy="7315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National data protection law and authority; national AI strategy where one exists</a:t>
            </a:r>
            <a:endParaRPr lang="en-US" sz="950" dirty="0"/>
          </a:p>
        </p:txBody>
      </p:sp>
      <p:sp>
        <p:nvSpPr>
          <p:cNvPr id="52" name="Shape 43"/>
          <p:cNvSpPr/>
          <p:nvPr/>
        </p:nvSpPr>
        <p:spPr>
          <a:xfrm>
            <a:off x="6385560" y="3282696"/>
            <a:ext cx="2301240" cy="731520"/>
          </a:xfrm>
          <a:prstGeom prst="roundRect">
            <a:avLst>
              <a:gd name="adj" fmla="val 6250"/>
            </a:avLst>
          </a:prstGeom>
          <a:solidFill>
            <a:srgbClr val="F4F7F5"/>
          </a:solidFill>
          <a:ln w="9525">
            <a:solidFill>
              <a:srgbClr val="D5DED9"/>
            </a:solidFill>
            <a:prstDash val="solid"/>
          </a:ln>
        </p:spPr>
      </p:sp>
      <p:sp>
        <p:nvSpPr>
          <p:cNvPr id="53" name="Text 44"/>
          <p:cNvSpPr txBox="1"/>
          <p:nvPr/>
        </p:nvSpPr>
        <p:spPr>
          <a:xfrm>
            <a:off x="6477000" y="3282696"/>
            <a:ext cx="2118360" cy="7315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Cyber-security law, public procurement law, archiving and retention law</a:t>
            </a:r>
            <a:endParaRPr lang="en-US" sz="950" dirty="0"/>
          </a:p>
        </p:txBody>
      </p:sp>
      <p:sp>
        <p:nvSpPr>
          <p:cNvPr id="54" name="Shape 45"/>
          <p:cNvSpPr/>
          <p:nvPr/>
        </p:nvSpPr>
        <p:spPr>
          <a:xfrm>
            <a:off x="457200" y="4160520"/>
            <a:ext cx="8229600" cy="438912"/>
          </a:xfrm>
          <a:prstGeom prst="roundRect">
            <a:avLst>
              <a:gd name="adj" fmla="val 12500"/>
            </a:avLst>
          </a:prstGeom>
          <a:solidFill>
            <a:srgbClr val="D49A00">
              <a:alpha val="13000"/>
            </a:srgbClr>
          </a:solidFill>
          <a:ln w="12700">
            <a:solidFill>
              <a:srgbClr val="D49A00"/>
            </a:solidFill>
            <a:prstDash val="solid"/>
          </a:ln>
        </p:spPr>
      </p:sp>
      <p:sp>
        <p:nvSpPr>
          <p:cNvPr id="55" name="Shape 46"/>
          <p:cNvSpPr/>
          <p:nvPr/>
        </p:nvSpPr>
        <p:spPr>
          <a:xfrm>
            <a:off x="566928" y="4233672"/>
            <a:ext cx="292608" cy="292608"/>
          </a:xfrm>
          <a:prstGeom prst="ellipse">
            <a:avLst/>
          </a:prstGeom>
          <a:solidFill>
            <a:srgbClr val="D49A00">
              <a:alpha val="22000"/>
            </a:srgbClr>
          </a:solidFill>
          <a:ln/>
        </p:spPr>
      </p:sp>
      <p:pic>
        <p:nvPicPr>
          <p:cNvPr id="56" name="Image 6" descr="preencoded.png"/>
          <p:cNvPicPr>
            <a:picLocks noChangeAspect="1"/>
          </p:cNvPicPr>
          <p:nvPr/>
        </p:nvPicPr>
        <p:blipFill>
          <a:blip r:embed="rId9"/>
          <a:stretch>
            <a:fillRect/>
          </a:stretch>
        </p:blipFill>
        <p:spPr>
          <a:xfrm>
            <a:off x="637154" y="4303898"/>
            <a:ext cx="152156" cy="152156"/>
          </a:xfrm>
          <a:prstGeom prst="rect">
            <a:avLst/>
          </a:prstGeom>
        </p:spPr>
      </p:pic>
      <p:sp>
        <p:nvSpPr>
          <p:cNvPr id="57" name="Text 47"/>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00" b="1" dirty="0">
                <a:solidFill>
                  <a:srgbClr val="8A6400"/>
                </a:solidFill>
                <a:latin typeface="Calibri" pitchFamily="34" charset="0"/>
                <a:ea typeface="Calibri" pitchFamily="34" charset="-122"/>
                <a:cs typeface="Calibri" pitchFamily="34" charset="-120"/>
              </a:rPr>
              <a:t>Sequencing:  </a:t>
            </a:r>
            <a:r>
              <a:rPr lang="en-US" sz="1000" dirty="0">
                <a:solidFill>
                  <a:srgbClr val="231F20"/>
                </a:solidFill>
                <a:latin typeface="Calibri" pitchFamily="34" charset="0"/>
                <a:ea typeface="Calibri" pitchFamily="34" charset="-122"/>
                <a:cs typeface="Calibri" pitchFamily="34" charset="-120"/>
              </a:rPr>
              <a:t>bring legal, the data protection officer and security into the first design workshop. An objection raised at design costs an afternoon; at deployment it costs a project.</a:t>
            </a:r>
            <a:endParaRPr lang="en-US" sz="100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CLASSIFICATION CROSSWALK</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Data classification mapped to permitted infrastructure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The most useful single artefact in AI governance. Write it, have it signed, publish it</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41</a:t>
            </a:r>
            <a:endParaRPr lang="en-US" sz="850" dirty="0"/>
          </a:p>
        </p:txBody>
      </p:sp>
      <p:sp>
        <p:nvSpPr>
          <p:cNvPr id="18" name="Text 15"/>
          <p:cNvSpPr txBox="1"/>
          <p:nvPr/>
        </p:nvSpPr>
        <p:spPr>
          <a:xfrm>
            <a:off x="548640" y="1298448"/>
            <a:ext cx="50292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TIER</a:t>
            </a:r>
            <a:endParaRPr lang="en-US" sz="900" dirty="0"/>
          </a:p>
        </p:txBody>
      </p:sp>
      <p:sp>
        <p:nvSpPr>
          <p:cNvPr id="19" name="Text 16"/>
          <p:cNvSpPr txBox="1"/>
          <p:nvPr/>
        </p:nvSpPr>
        <p:spPr>
          <a:xfrm>
            <a:off x="1234440" y="1298448"/>
            <a:ext cx="164592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DATA</a:t>
            </a:r>
            <a:endParaRPr lang="en-US" sz="900" dirty="0"/>
          </a:p>
        </p:txBody>
      </p:sp>
      <p:sp>
        <p:nvSpPr>
          <p:cNvPr id="20" name="Text 17"/>
          <p:cNvSpPr txBox="1"/>
          <p:nvPr/>
        </p:nvSpPr>
        <p:spPr>
          <a:xfrm>
            <a:off x="3063240" y="1298448"/>
            <a:ext cx="15544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ENVIRONMENT</a:t>
            </a:r>
            <a:endParaRPr lang="en-US" sz="900" dirty="0"/>
          </a:p>
        </p:txBody>
      </p:sp>
      <p:sp>
        <p:nvSpPr>
          <p:cNvPr id="21" name="Text 18"/>
          <p:cNvSpPr txBox="1"/>
          <p:nvPr/>
        </p:nvSpPr>
        <p:spPr>
          <a:xfrm>
            <a:off x="4800600" y="1298448"/>
            <a:ext cx="15544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MODELS</a:t>
            </a:r>
            <a:endParaRPr lang="en-US" sz="900" dirty="0"/>
          </a:p>
        </p:txBody>
      </p:sp>
      <p:sp>
        <p:nvSpPr>
          <p:cNvPr id="22" name="Text 19"/>
          <p:cNvSpPr txBox="1"/>
          <p:nvPr/>
        </p:nvSpPr>
        <p:spPr>
          <a:xfrm>
            <a:off x="6537960" y="1298448"/>
            <a:ext cx="205740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REQUIRED CONTROLS</a:t>
            </a:r>
            <a:endParaRPr lang="en-US" sz="900" dirty="0"/>
          </a:p>
        </p:txBody>
      </p:sp>
      <p:sp>
        <p:nvSpPr>
          <p:cNvPr id="23" name="Shape 20"/>
          <p:cNvSpPr/>
          <p:nvPr/>
        </p:nvSpPr>
        <p:spPr>
          <a:xfrm>
            <a:off x="457200" y="1572768"/>
            <a:ext cx="8229600" cy="566928"/>
          </a:xfrm>
          <a:prstGeom prst="roundRect">
            <a:avLst>
              <a:gd name="adj" fmla="val 8065"/>
            </a:avLst>
          </a:prstGeom>
          <a:solidFill>
            <a:srgbClr val="F4F7F5"/>
          </a:solidFill>
          <a:ln w="9525">
            <a:solidFill>
              <a:srgbClr val="D5DED9"/>
            </a:solidFill>
            <a:prstDash val="solid"/>
          </a:ln>
        </p:spPr>
      </p:sp>
      <p:sp>
        <p:nvSpPr>
          <p:cNvPr id="24" name="Shape 21"/>
          <p:cNvSpPr/>
          <p:nvPr/>
        </p:nvSpPr>
        <p:spPr>
          <a:xfrm>
            <a:off x="548640" y="1746504"/>
            <a:ext cx="502920" cy="219456"/>
          </a:xfrm>
          <a:prstGeom prst="roundRect">
            <a:avLst>
              <a:gd name="adj" fmla="val 50000"/>
            </a:avLst>
          </a:prstGeom>
          <a:solidFill>
            <a:srgbClr val="B83B2E">
              <a:alpha val="15000"/>
            </a:srgbClr>
          </a:solidFill>
          <a:ln w="9525">
            <a:solidFill>
              <a:srgbClr val="B83B2E"/>
            </a:solidFill>
            <a:prstDash val="solid"/>
          </a:ln>
        </p:spPr>
      </p:sp>
      <p:sp>
        <p:nvSpPr>
          <p:cNvPr id="25" name="Text 22"/>
          <p:cNvSpPr txBox="1"/>
          <p:nvPr/>
        </p:nvSpPr>
        <p:spPr>
          <a:xfrm>
            <a:off x="548640" y="1746504"/>
            <a:ext cx="502920" cy="219456"/>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T3</a:t>
            </a:r>
            <a:endParaRPr lang="en-US" sz="850" dirty="0"/>
          </a:p>
        </p:txBody>
      </p:sp>
      <p:sp>
        <p:nvSpPr>
          <p:cNvPr id="26" name="Text 23"/>
          <p:cNvSpPr txBox="1"/>
          <p:nvPr/>
        </p:nvSpPr>
        <p:spPr>
          <a:xfrm>
            <a:off x="1234440" y="1572768"/>
            <a:ext cx="1645920" cy="566928"/>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Identifiable or easily re-identifiable microdata</a:t>
            </a:r>
            <a:endParaRPr lang="en-US" sz="950" dirty="0"/>
          </a:p>
        </p:txBody>
      </p:sp>
      <p:sp>
        <p:nvSpPr>
          <p:cNvPr id="27" name="Text 24"/>
          <p:cNvSpPr txBox="1"/>
          <p:nvPr/>
        </p:nvSpPr>
        <p:spPr>
          <a:xfrm>
            <a:off x="3063240" y="1572768"/>
            <a:ext cx="1554480" cy="566928"/>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On-premises or secure research zone only</a:t>
            </a:r>
            <a:endParaRPr lang="en-US" sz="950" dirty="0"/>
          </a:p>
        </p:txBody>
      </p:sp>
      <p:sp>
        <p:nvSpPr>
          <p:cNvPr id="28" name="Text 25"/>
          <p:cNvSpPr txBox="1"/>
          <p:nvPr/>
        </p:nvSpPr>
        <p:spPr>
          <a:xfrm>
            <a:off x="4800600" y="1572768"/>
            <a:ext cx="1554480" cy="566928"/>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Self-hosted open-weight from an approved list</a:t>
            </a:r>
            <a:endParaRPr lang="en-US" sz="950" dirty="0"/>
          </a:p>
        </p:txBody>
      </p:sp>
      <p:sp>
        <p:nvSpPr>
          <p:cNvPr id="29" name="Text 26"/>
          <p:cNvSpPr txBox="1"/>
          <p:nvPr/>
        </p:nvSpPr>
        <p:spPr>
          <a:xfrm>
            <a:off x="6537960" y="1572768"/>
            <a:ext cx="2057400" cy="566928"/>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No outbound network · full logging · output checking · named access</a:t>
            </a:r>
            <a:endParaRPr lang="en-US" sz="950" dirty="0"/>
          </a:p>
        </p:txBody>
      </p:sp>
      <p:sp>
        <p:nvSpPr>
          <p:cNvPr id="30" name="Shape 27"/>
          <p:cNvSpPr/>
          <p:nvPr/>
        </p:nvSpPr>
        <p:spPr>
          <a:xfrm>
            <a:off x="457200" y="2194560"/>
            <a:ext cx="8229600" cy="566928"/>
          </a:xfrm>
          <a:prstGeom prst="roundRect">
            <a:avLst>
              <a:gd name="adj" fmla="val 8065"/>
            </a:avLst>
          </a:prstGeom>
          <a:solidFill>
            <a:srgbClr val="F4F7F5"/>
          </a:solidFill>
          <a:ln w="9525">
            <a:solidFill>
              <a:srgbClr val="D5DED9"/>
            </a:solidFill>
            <a:prstDash val="solid"/>
          </a:ln>
        </p:spPr>
      </p:sp>
      <p:sp>
        <p:nvSpPr>
          <p:cNvPr id="31" name="Shape 28"/>
          <p:cNvSpPr/>
          <p:nvPr/>
        </p:nvSpPr>
        <p:spPr>
          <a:xfrm>
            <a:off x="548640" y="2368296"/>
            <a:ext cx="502920" cy="219456"/>
          </a:xfrm>
          <a:prstGeom prst="roundRect">
            <a:avLst>
              <a:gd name="adj" fmla="val 50000"/>
            </a:avLst>
          </a:prstGeom>
          <a:solidFill>
            <a:srgbClr val="C4621D">
              <a:alpha val="15000"/>
            </a:srgbClr>
          </a:solidFill>
          <a:ln w="9525">
            <a:solidFill>
              <a:srgbClr val="C4621D"/>
            </a:solidFill>
            <a:prstDash val="solid"/>
          </a:ln>
        </p:spPr>
      </p:sp>
      <p:sp>
        <p:nvSpPr>
          <p:cNvPr id="32" name="Text 29"/>
          <p:cNvSpPr txBox="1"/>
          <p:nvPr/>
        </p:nvSpPr>
        <p:spPr>
          <a:xfrm>
            <a:off x="548640" y="2368296"/>
            <a:ext cx="502920" cy="219456"/>
          </a:xfrm>
          <a:prstGeom prst="rect">
            <a:avLst/>
          </a:prstGeom>
          <a:noFill/>
          <a:ln/>
        </p:spPr>
        <p:txBody>
          <a:bodyPr wrap="square" lIns="0" tIns="0" rIns="0" bIns="0" rtlCol="0" anchor="ctr"/>
          <a:lstStyle/>
          <a:p>
            <a:pPr marL="0" indent="0" algn="ctr">
              <a:buNone/>
            </a:pPr>
            <a:r>
              <a:rPr lang="en-US" sz="850" b="1" kern="0" spc="50" dirty="0">
                <a:solidFill>
                  <a:srgbClr val="C4621D"/>
                </a:solidFill>
                <a:latin typeface="Calibri" pitchFamily="34" charset="0"/>
                <a:ea typeface="Calibri" pitchFamily="34" charset="-122"/>
                <a:cs typeface="Calibri" pitchFamily="34" charset="-120"/>
              </a:rPr>
              <a:t>T2</a:t>
            </a:r>
            <a:endParaRPr lang="en-US" sz="850" dirty="0"/>
          </a:p>
        </p:txBody>
      </p:sp>
      <p:sp>
        <p:nvSpPr>
          <p:cNvPr id="33" name="Text 30"/>
          <p:cNvSpPr txBox="1"/>
          <p:nvPr/>
        </p:nvSpPr>
        <p:spPr>
          <a:xfrm>
            <a:off x="1234440" y="2194560"/>
            <a:ext cx="1645920" cy="566928"/>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Pseudonymised or detailed non-public data</a:t>
            </a:r>
            <a:endParaRPr lang="en-US" sz="950" dirty="0"/>
          </a:p>
        </p:txBody>
      </p:sp>
      <p:sp>
        <p:nvSpPr>
          <p:cNvPr id="34" name="Text 31"/>
          <p:cNvSpPr txBox="1"/>
          <p:nvPr/>
        </p:nvSpPr>
        <p:spPr>
          <a:xfrm>
            <a:off x="3063240" y="2194560"/>
            <a:ext cx="1554480" cy="566928"/>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Sovereign or dedicated-tenancy cloud</a:t>
            </a:r>
            <a:endParaRPr lang="en-US" sz="950" dirty="0"/>
          </a:p>
        </p:txBody>
      </p:sp>
      <p:sp>
        <p:nvSpPr>
          <p:cNvPr id="35" name="Text 32"/>
          <p:cNvSpPr txBox="1"/>
          <p:nvPr/>
        </p:nvSpPr>
        <p:spPr>
          <a:xfrm>
            <a:off x="4800600" y="2194560"/>
            <a:ext cx="1554480" cy="566928"/>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Self-hosted, or single-tenant managed under contract</a:t>
            </a:r>
            <a:endParaRPr lang="en-US" sz="950" dirty="0"/>
          </a:p>
        </p:txBody>
      </p:sp>
      <p:sp>
        <p:nvSpPr>
          <p:cNvPr id="36" name="Text 33"/>
          <p:cNvSpPr txBox="1"/>
          <p:nvPr/>
        </p:nvSpPr>
        <p:spPr>
          <a:xfrm>
            <a:off x="6537960" y="2194560"/>
            <a:ext cx="2057400" cy="566928"/>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Impact assessment · no-training clause · encryption with own keys · egress monitoring</a:t>
            </a:r>
            <a:endParaRPr lang="en-US" sz="950" dirty="0"/>
          </a:p>
        </p:txBody>
      </p:sp>
      <p:sp>
        <p:nvSpPr>
          <p:cNvPr id="37" name="Shape 34"/>
          <p:cNvSpPr/>
          <p:nvPr/>
        </p:nvSpPr>
        <p:spPr>
          <a:xfrm>
            <a:off x="457200" y="2816352"/>
            <a:ext cx="8229600" cy="566928"/>
          </a:xfrm>
          <a:prstGeom prst="roundRect">
            <a:avLst>
              <a:gd name="adj" fmla="val 8065"/>
            </a:avLst>
          </a:prstGeom>
          <a:solidFill>
            <a:srgbClr val="F4F7F5"/>
          </a:solidFill>
          <a:ln w="9525">
            <a:solidFill>
              <a:srgbClr val="D5DED9"/>
            </a:solidFill>
            <a:prstDash val="solid"/>
          </a:ln>
        </p:spPr>
      </p:sp>
      <p:sp>
        <p:nvSpPr>
          <p:cNvPr id="38" name="Shape 35"/>
          <p:cNvSpPr/>
          <p:nvPr/>
        </p:nvSpPr>
        <p:spPr>
          <a:xfrm>
            <a:off x="548640" y="2990088"/>
            <a:ext cx="502920" cy="219456"/>
          </a:xfrm>
          <a:prstGeom prst="roundRect">
            <a:avLst>
              <a:gd name="adj" fmla="val 50000"/>
            </a:avLst>
          </a:prstGeom>
          <a:solidFill>
            <a:srgbClr val="0E7C86">
              <a:alpha val="15000"/>
            </a:srgbClr>
          </a:solidFill>
          <a:ln w="9525">
            <a:solidFill>
              <a:srgbClr val="0E7C86"/>
            </a:solidFill>
            <a:prstDash val="solid"/>
          </a:ln>
        </p:spPr>
      </p:sp>
      <p:sp>
        <p:nvSpPr>
          <p:cNvPr id="39" name="Text 36"/>
          <p:cNvSpPr txBox="1"/>
          <p:nvPr/>
        </p:nvSpPr>
        <p:spPr>
          <a:xfrm>
            <a:off x="548640" y="2990088"/>
            <a:ext cx="50292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T1</a:t>
            </a:r>
            <a:endParaRPr lang="en-US" sz="850" dirty="0"/>
          </a:p>
        </p:txBody>
      </p:sp>
      <p:sp>
        <p:nvSpPr>
          <p:cNvPr id="40" name="Text 37"/>
          <p:cNvSpPr txBox="1"/>
          <p:nvPr/>
        </p:nvSpPr>
        <p:spPr>
          <a:xfrm>
            <a:off x="1234440" y="2816352"/>
            <a:ext cx="1645920" cy="566928"/>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Internal documents, metadata and code</a:t>
            </a:r>
            <a:endParaRPr lang="en-US" sz="950" dirty="0"/>
          </a:p>
        </p:txBody>
      </p:sp>
      <p:sp>
        <p:nvSpPr>
          <p:cNvPr id="41" name="Text 38"/>
          <p:cNvSpPr txBox="1"/>
          <p:nvPr/>
        </p:nvSpPr>
        <p:spPr>
          <a:xfrm>
            <a:off x="3063240" y="2816352"/>
            <a:ext cx="1554480" cy="566928"/>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Private or public cloud under enterprise agreement</a:t>
            </a:r>
            <a:endParaRPr lang="en-US" sz="950" dirty="0"/>
          </a:p>
        </p:txBody>
      </p:sp>
      <p:sp>
        <p:nvSpPr>
          <p:cNvPr id="42" name="Text 39"/>
          <p:cNvSpPr txBox="1"/>
          <p:nvPr/>
        </p:nvSpPr>
        <p:spPr>
          <a:xfrm>
            <a:off x="4800600" y="2816352"/>
            <a:ext cx="1554480" cy="566928"/>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Managed models permitted under contract</a:t>
            </a:r>
            <a:endParaRPr lang="en-US" sz="950" dirty="0"/>
          </a:p>
        </p:txBody>
      </p:sp>
      <p:sp>
        <p:nvSpPr>
          <p:cNvPr id="43" name="Text 40"/>
          <p:cNvSpPr txBox="1"/>
          <p:nvPr/>
        </p:nvSpPr>
        <p:spPr>
          <a:xfrm>
            <a:off x="6537960" y="2816352"/>
            <a:ext cx="2057400" cy="566928"/>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No-training clause · single sign-on · gateway routing · retention limits</a:t>
            </a:r>
            <a:endParaRPr lang="en-US" sz="950" dirty="0"/>
          </a:p>
        </p:txBody>
      </p:sp>
      <p:sp>
        <p:nvSpPr>
          <p:cNvPr id="44" name="Shape 41"/>
          <p:cNvSpPr/>
          <p:nvPr/>
        </p:nvSpPr>
        <p:spPr>
          <a:xfrm>
            <a:off x="457200" y="3438144"/>
            <a:ext cx="8229600" cy="566928"/>
          </a:xfrm>
          <a:prstGeom prst="roundRect">
            <a:avLst>
              <a:gd name="adj" fmla="val 8065"/>
            </a:avLst>
          </a:prstGeom>
          <a:solidFill>
            <a:srgbClr val="F4F7F5"/>
          </a:solidFill>
          <a:ln w="9525">
            <a:solidFill>
              <a:srgbClr val="D5DED9"/>
            </a:solidFill>
            <a:prstDash val="solid"/>
          </a:ln>
        </p:spPr>
      </p:sp>
      <p:sp>
        <p:nvSpPr>
          <p:cNvPr id="45" name="Shape 42"/>
          <p:cNvSpPr/>
          <p:nvPr/>
        </p:nvSpPr>
        <p:spPr>
          <a:xfrm>
            <a:off x="548640" y="3611880"/>
            <a:ext cx="502920" cy="219456"/>
          </a:xfrm>
          <a:prstGeom prst="roundRect">
            <a:avLst>
              <a:gd name="adj" fmla="val 50000"/>
            </a:avLst>
          </a:prstGeom>
          <a:solidFill>
            <a:srgbClr val="00A86A">
              <a:alpha val="15000"/>
            </a:srgbClr>
          </a:solidFill>
          <a:ln w="9525">
            <a:solidFill>
              <a:srgbClr val="00A86A"/>
            </a:solidFill>
            <a:prstDash val="solid"/>
          </a:ln>
        </p:spPr>
      </p:sp>
      <p:sp>
        <p:nvSpPr>
          <p:cNvPr id="46" name="Text 43"/>
          <p:cNvSpPr txBox="1"/>
          <p:nvPr/>
        </p:nvSpPr>
        <p:spPr>
          <a:xfrm>
            <a:off x="548640" y="3611880"/>
            <a:ext cx="50292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T0</a:t>
            </a:r>
            <a:endParaRPr lang="en-US" sz="850" dirty="0"/>
          </a:p>
        </p:txBody>
      </p:sp>
      <p:sp>
        <p:nvSpPr>
          <p:cNvPr id="47" name="Text 44"/>
          <p:cNvSpPr txBox="1"/>
          <p:nvPr/>
        </p:nvSpPr>
        <p:spPr>
          <a:xfrm>
            <a:off x="1234440" y="3438144"/>
            <a:ext cx="1645920" cy="566928"/>
          </a:xfrm>
          <a:prstGeom prst="rect">
            <a:avLst/>
          </a:prstGeom>
          <a:noFill/>
          <a:ln/>
        </p:spPr>
        <p:txBody>
          <a:bodyPr wrap="square" lIns="0" tIns="0" rIns="0" bIns="0" rtlCol="0" anchor="ctr"/>
          <a:lstStyle/>
          <a:p>
            <a:pPr marL="0" indent="0" algn="l">
              <a:buNone/>
            </a:pPr>
            <a:r>
              <a:rPr lang="en-US" sz="950" b="1" dirty="0">
                <a:solidFill>
                  <a:srgbClr val="231F20"/>
                </a:solidFill>
                <a:latin typeface="Calibri" pitchFamily="34" charset="0"/>
                <a:ea typeface="Calibri" pitchFamily="34" charset="-122"/>
                <a:cs typeface="Calibri" pitchFamily="34" charset="-120"/>
              </a:rPr>
              <a:t>Published outputs and public material</a:t>
            </a:r>
            <a:endParaRPr lang="en-US" sz="950" dirty="0"/>
          </a:p>
        </p:txBody>
      </p:sp>
      <p:sp>
        <p:nvSpPr>
          <p:cNvPr id="48" name="Text 45"/>
          <p:cNvSpPr txBox="1"/>
          <p:nvPr/>
        </p:nvSpPr>
        <p:spPr>
          <a:xfrm>
            <a:off x="3063240" y="3438144"/>
            <a:ext cx="1554480" cy="566928"/>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Any, including public managed APIs</a:t>
            </a:r>
            <a:endParaRPr lang="en-US" sz="950" dirty="0"/>
          </a:p>
        </p:txBody>
      </p:sp>
      <p:sp>
        <p:nvSpPr>
          <p:cNvPr id="49" name="Text 46"/>
          <p:cNvSpPr txBox="1"/>
          <p:nvPr/>
        </p:nvSpPr>
        <p:spPr>
          <a:xfrm>
            <a:off x="4800600" y="3438144"/>
            <a:ext cx="1554480" cy="566928"/>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Any approved model</a:t>
            </a:r>
            <a:endParaRPr lang="en-US" sz="950" dirty="0"/>
          </a:p>
        </p:txBody>
      </p:sp>
      <p:sp>
        <p:nvSpPr>
          <p:cNvPr id="50" name="Text 47"/>
          <p:cNvSpPr txBox="1"/>
          <p:nvPr/>
        </p:nvSpPr>
        <p:spPr>
          <a:xfrm>
            <a:off x="6537960" y="3438144"/>
            <a:ext cx="2057400" cy="566928"/>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Acceptable-use policy · gateway routing for cost and audit</a:t>
            </a:r>
            <a:endParaRPr lang="en-US" sz="950" dirty="0"/>
          </a:p>
        </p:txBody>
      </p:sp>
      <p:sp>
        <p:nvSpPr>
          <p:cNvPr id="51" name="Shape 48"/>
          <p:cNvSpPr/>
          <p:nvPr/>
        </p:nvSpPr>
        <p:spPr>
          <a:xfrm>
            <a:off x="457200" y="4114800"/>
            <a:ext cx="8229600" cy="475488"/>
          </a:xfrm>
          <a:prstGeom prst="roundRect">
            <a:avLst>
              <a:gd name="adj" fmla="val 11538"/>
            </a:avLst>
          </a:prstGeom>
          <a:solidFill>
            <a:srgbClr val="E8F5EF"/>
          </a:solidFill>
          <a:ln w="15875">
            <a:solidFill>
              <a:srgbClr val="00A86A"/>
            </a:solidFill>
            <a:prstDash val="solid"/>
          </a:ln>
        </p:spPr>
      </p:sp>
      <p:sp>
        <p:nvSpPr>
          <p:cNvPr id="52" name="Shape 49"/>
          <p:cNvSpPr/>
          <p:nvPr/>
        </p:nvSpPr>
        <p:spPr>
          <a:xfrm>
            <a:off x="566928" y="4206240"/>
            <a:ext cx="292608" cy="292608"/>
          </a:xfrm>
          <a:prstGeom prst="ellipse">
            <a:avLst/>
          </a:prstGeom>
          <a:solidFill>
            <a:srgbClr val="00A86A">
              <a:alpha val="22000"/>
            </a:srgbClr>
          </a:solidFill>
          <a:ln/>
        </p:spPr>
      </p:sp>
      <p:pic>
        <p:nvPicPr>
          <p:cNvPr id="53" name="Image 0" descr="preencoded.png"/>
          <p:cNvPicPr>
            <a:picLocks noChangeAspect="1"/>
          </p:cNvPicPr>
          <p:nvPr/>
        </p:nvPicPr>
        <p:blipFill>
          <a:blip r:embed="rId3"/>
          <a:stretch>
            <a:fillRect/>
          </a:stretch>
        </p:blipFill>
        <p:spPr>
          <a:xfrm>
            <a:off x="637154" y="4276466"/>
            <a:ext cx="152156" cy="152156"/>
          </a:xfrm>
          <a:prstGeom prst="rect">
            <a:avLst/>
          </a:prstGeom>
        </p:spPr>
      </p:pic>
      <p:sp>
        <p:nvSpPr>
          <p:cNvPr id="54" name="Text 50"/>
          <p:cNvSpPr txBox="1"/>
          <p:nvPr/>
        </p:nvSpPr>
        <p:spPr>
          <a:xfrm>
            <a:off x="960120" y="4114800"/>
            <a:ext cx="7589520" cy="475488"/>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WHY IT MATTERS   </a:t>
            </a:r>
            <a:r>
              <a:rPr lang="en-US" sz="1000" dirty="0">
                <a:solidFill>
                  <a:srgbClr val="231F20"/>
                </a:solidFill>
                <a:latin typeface="Calibri" pitchFamily="34" charset="0"/>
                <a:ea typeface="Calibri" pitchFamily="34" charset="-122"/>
                <a:cs typeface="Calibri" pitchFamily="34" charset="-120"/>
              </a:rPr>
              <a:t>This table turns an endless case-by-case debate into a lookup. An analyst who knows their data is T2 already knows the environment, models and paperwork. Review it every year.</a:t>
            </a:r>
            <a:endParaRPr lang="en-US" sz="1000" dirty="0"/>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TECHNICAL CONTROLS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Technical controls that enforce the policy</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A policy nobody can break by accident is worth more than one everybody has read</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42</a:t>
            </a:r>
            <a:endParaRPr lang="en-US" sz="850" dirty="0"/>
          </a:p>
        </p:txBody>
      </p:sp>
      <p:sp>
        <p:nvSpPr>
          <p:cNvPr id="18" name="Shape 15"/>
          <p:cNvSpPr/>
          <p:nvPr/>
        </p:nvSpPr>
        <p:spPr>
          <a:xfrm>
            <a:off x="457200" y="1371600"/>
            <a:ext cx="2514600" cy="822960"/>
          </a:xfrm>
          <a:prstGeom prst="roundRect">
            <a:avLst>
              <a:gd name="adj" fmla="val 8889"/>
            </a:avLst>
          </a:prstGeom>
          <a:solidFill>
            <a:srgbClr val="F4F7F5"/>
          </a:solidFill>
          <a:ln w="9525">
            <a:solidFill>
              <a:srgbClr val="D5DED9"/>
            </a:solidFill>
            <a:prstDash val="solid"/>
          </a:ln>
        </p:spPr>
      </p:sp>
      <p:sp>
        <p:nvSpPr>
          <p:cNvPr id="19" name="Shape 16"/>
          <p:cNvSpPr/>
          <p:nvPr/>
        </p:nvSpPr>
        <p:spPr>
          <a:xfrm>
            <a:off x="566928" y="1481328"/>
            <a:ext cx="310896" cy="310896"/>
          </a:xfrm>
          <a:prstGeom prst="ellipse">
            <a:avLst/>
          </a:prstGeom>
          <a:solidFill>
            <a:srgbClr val="00704A">
              <a:alpha val="22000"/>
            </a:srgbClr>
          </a:solidFill>
          <a:ln/>
        </p:spPr>
      </p:sp>
      <p:pic>
        <p:nvPicPr>
          <p:cNvPr id="20" name="Image 0" descr="preencoded.png"/>
          <p:cNvPicPr>
            <a:picLocks noChangeAspect="1"/>
          </p:cNvPicPr>
          <p:nvPr/>
        </p:nvPicPr>
        <p:blipFill>
          <a:blip r:embed="rId3"/>
          <a:stretch>
            <a:fillRect/>
          </a:stretch>
        </p:blipFill>
        <p:spPr>
          <a:xfrm>
            <a:off x="641543" y="1555943"/>
            <a:ext cx="161666" cy="161666"/>
          </a:xfrm>
          <a:prstGeom prst="rect">
            <a:avLst/>
          </a:prstGeom>
        </p:spPr>
      </p:pic>
      <p:sp>
        <p:nvSpPr>
          <p:cNvPr id="21" name="Text 17"/>
          <p:cNvSpPr txBox="1"/>
          <p:nvPr/>
        </p:nvSpPr>
        <p:spPr>
          <a:xfrm>
            <a:off x="950976" y="1481328"/>
            <a:ext cx="1920240"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Network egress control</a:t>
            </a:r>
            <a:endParaRPr lang="en-US" sz="1100" dirty="0"/>
          </a:p>
        </p:txBody>
      </p:sp>
      <p:sp>
        <p:nvSpPr>
          <p:cNvPr id="22" name="Text 18"/>
          <p:cNvSpPr txBox="1"/>
          <p:nvPr/>
        </p:nvSpPr>
        <p:spPr>
          <a:xfrm>
            <a:off x="566928" y="1828800"/>
            <a:ext cx="2286000" cy="32918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No route to the internet from the secure zone.</a:t>
            </a:r>
            <a:endParaRPr lang="en-US" sz="900" dirty="0"/>
          </a:p>
        </p:txBody>
      </p:sp>
      <p:sp>
        <p:nvSpPr>
          <p:cNvPr id="23" name="Shape 19"/>
          <p:cNvSpPr/>
          <p:nvPr/>
        </p:nvSpPr>
        <p:spPr>
          <a:xfrm>
            <a:off x="457200" y="2286000"/>
            <a:ext cx="2514600" cy="822960"/>
          </a:xfrm>
          <a:prstGeom prst="roundRect">
            <a:avLst>
              <a:gd name="adj" fmla="val 8889"/>
            </a:avLst>
          </a:prstGeom>
          <a:solidFill>
            <a:srgbClr val="F4F7F5"/>
          </a:solidFill>
          <a:ln w="9525">
            <a:solidFill>
              <a:srgbClr val="D5DED9"/>
            </a:solidFill>
            <a:prstDash val="solid"/>
          </a:ln>
        </p:spPr>
      </p:sp>
      <p:sp>
        <p:nvSpPr>
          <p:cNvPr id="24" name="Shape 20"/>
          <p:cNvSpPr/>
          <p:nvPr/>
        </p:nvSpPr>
        <p:spPr>
          <a:xfrm>
            <a:off x="566928" y="2395728"/>
            <a:ext cx="310896" cy="310896"/>
          </a:xfrm>
          <a:prstGeom prst="ellipse">
            <a:avLst/>
          </a:prstGeom>
          <a:solidFill>
            <a:srgbClr val="00704A">
              <a:alpha val="22000"/>
            </a:srgbClr>
          </a:solidFill>
          <a:ln/>
        </p:spPr>
      </p:sp>
      <p:pic>
        <p:nvPicPr>
          <p:cNvPr id="25" name="Image 1" descr="preencoded.png"/>
          <p:cNvPicPr>
            <a:picLocks noChangeAspect="1"/>
          </p:cNvPicPr>
          <p:nvPr/>
        </p:nvPicPr>
        <p:blipFill>
          <a:blip r:embed="rId4"/>
          <a:stretch>
            <a:fillRect/>
          </a:stretch>
        </p:blipFill>
        <p:spPr>
          <a:xfrm>
            <a:off x="641543" y="2470343"/>
            <a:ext cx="161666" cy="161666"/>
          </a:xfrm>
          <a:prstGeom prst="rect">
            <a:avLst/>
          </a:prstGeom>
        </p:spPr>
      </p:pic>
      <p:sp>
        <p:nvSpPr>
          <p:cNvPr id="26" name="Text 21"/>
          <p:cNvSpPr txBox="1"/>
          <p:nvPr/>
        </p:nvSpPr>
        <p:spPr>
          <a:xfrm>
            <a:off x="950976" y="2395728"/>
            <a:ext cx="1920240"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Identity and roles</a:t>
            </a:r>
            <a:endParaRPr lang="en-US" sz="1100" dirty="0"/>
          </a:p>
        </p:txBody>
      </p:sp>
      <p:sp>
        <p:nvSpPr>
          <p:cNvPr id="27" name="Text 22"/>
          <p:cNvSpPr txBox="1"/>
          <p:nvPr/>
        </p:nvSpPr>
        <p:spPr>
          <a:xfrm>
            <a:off x="566928" y="2743200"/>
            <a:ext cx="2286000" cy="32918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Single sign-on, MFA, roles mapped to tiers.</a:t>
            </a:r>
            <a:endParaRPr lang="en-US" sz="900" dirty="0"/>
          </a:p>
        </p:txBody>
      </p:sp>
      <p:sp>
        <p:nvSpPr>
          <p:cNvPr id="28" name="Shape 23"/>
          <p:cNvSpPr/>
          <p:nvPr/>
        </p:nvSpPr>
        <p:spPr>
          <a:xfrm>
            <a:off x="457200" y="3200400"/>
            <a:ext cx="2514600" cy="822960"/>
          </a:xfrm>
          <a:prstGeom prst="roundRect">
            <a:avLst>
              <a:gd name="adj" fmla="val 8889"/>
            </a:avLst>
          </a:prstGeom>
          <a:solidFill>
            <a:srgbClr val="F4F7F5"/>
          </a:solidFill>
          <a:ln w="9525">
            <a:solidFill>
              <a:srgbClr val="D5DED9"/>
            </a:solidFill>
            <a:prstDash val="solid"/>
          </a:ln>
        </p:spPr>
      </p:sp>
      <p:sp>
        <p:nvSpPr>
          <p:cNvPr id="29" name="Shape 24"/>
          <p:cNvSpPr/>
          <p:nvPr/>
        </p:nvSpPr>
        <p:spPr>
          <a:xfrm>
            <a:off x="566928" y="3310128"/>
            <a:ext cx="310896" cy="310896"/>
          </a:xfrm>
          <a:prstGeom prst="ellipse">
            <a:avLst/>
          </a:prstGeom>
          <a:solidFill>
            <a:srgbClr val="00704A">
              <a:alpha val="22000"/>
            </a:srgbClr>
          </a:solidFill>
          <a:ln/>
        </p:spPr>
      </p:sp>
      <p:pic>
        <p:nvPicPr>
          <p:cNvPr id="30" name="Image 2" descr="preencoded.png"/>
          <p:cNvPicPr>
            <a:picLocks noChangeAspect="1"/>
          </p:cNvPicPr>
          <p:nvPr/>
        </p:nvPicPr>
        <p:blipFill>
          <a:blip r:embed="rId5"/>
          <a:stretch>
            <a:fillRect/>
          </a:stretch>
        </p:blipFill>
        <p:spPr>
          <a:xfrm>
            <a:off x="641543" y="3384743"/>
            <a:ext cx="161666" cy="161666"/>
          </a:xfrm>
          <a:prstGeom prst="rect">
            <a:avLst/>
          </a:prstGeom>
        </p:spPr>
      </p:pic>
      <p:sp>
        <p:nvSpPr>
          <p:cNvPr id="31" name="Text 25"/>
          <p:cNvSpPr txBox="1"/>
          <p:nvPr/>
        </p:nvSpPr>
        <p:spPr>
          <a:xfrm>
            <a:off x="950976" y="3310128"/>
            <a:ext cx="1920240"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Encryption and keys</a:t>
            </a:r>
            <a:endParaRPr lang="en-US" sz="1100" dirty="0"/>
          </a:p>
        </p:txBody>
      </p:sp>
      <p:sp>
        <p:nvSpPr>
          <p:cNvPr id="32" name="Text 26"/>
          <p:cNvSpPr txBox="1"/>
          <p:nvPr/>
        </p:nvSpPr>
        <p:spPr>
          <a:xfrm>
            <a:off x="566928" y="3657600"/>
            <a:ext cx="2286000" cy="32918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At rest and in transit; office-held keys where needed.</a:t>
            </a:r>
            <a:endParaRPr lang="en-US" sz="900" dirty="0"/>
          </a:p>
        </p:txBody>
      </p:sp>
      <p:sp>
        <p:nvSpPr>
          <p:cNvPr id="33" name="Shape 27"/>
          <p:cNvSpPr/>
          <p:nvPr/>
        </p:nvSpPr>
        <p:spPr>
          <a:xfrm>
            <a:off x="6172200" y="1371600"/>
            <a:ext cx="2514600" cy="822960"/>
          </a:xfrm>
          <a:prstGeom prst="roundRect">
            <a:avLst>
              <a:gd name="adj" fmla="val 8889"/>
            </a:avLst>
          </a:prstGeom>
          <a:solidFill>
            <a:srgbClr val="F4F7F5"/>
          </a:solidFill>
          <a:ln w="9525">
            <a:solidFill>
              <a:srgbClr val="D5DED9"/>
            </a:solidFill>
            <a:prstDash val="solid"/>
          </a:ln>
        </p:spPr>
      </p:sp>
      <p:sp>
        <p:nvSpPr>
          <p:cNvPr id="34" name="Shape 28"/>
          <p:cNvSpPr/>
          <p:nvPr/>
        </p:nvSpPr>
        <p:spPr>
          <a:xfrm>
            <a:off x="6281928" y="1481328"/>
            <a:ext cx="310896" cy="310896"/>
          </a:xfrm>
          <a:prstGeom prst="ellipse">
            <a:avLst/>
          </a:prstGeom>
          <a:solidFill>
            <a:srgbClr val="00704A">
              <a:alpha val="22000"/>
            </a:srgbClr>
          </a:solidFill>
          <a:ln/>
        </p:spPr>
      </p:sp>
      <p:pic>
        <p:nvPicPr>
          <p:cNvPr id="35" name="Image 3" descr="preencoded.png"/>
          <p:cNvPicPr>
            <a:picLocks noChangeAspect="1"/>
          </p:cNvPicPr>
          <p:nvPr/>
        </p:nvPicPr>
        <p:blipFill>
          <a:blip r:embed="rId6"/>
          <a:stretch>
            <a:fillRect/>
          </a:stretch>
        </p:blipFill>
        <p:spPr>
          <a:xfrm>
            <a:off x="6356543" y="1555943"/>
            <a:ext cx="161666" cy="161666"/>
          </a:xfrm>
          <a:prstGeom prst="rect">
            <a:avLst/>
          </a:prstGeom>
        </p:spPr>
      </p:pic>
      <p:sp>
        <p:nvSpPr>
          <p:cNvPr id="36" name="Text 29"/>
          <p:cNvSpPr txBox="1"/>
          <p:nvPr/>
        </p:nvSpPr>
        <p:spPr>
          <a:xfrm>
            <a:off x="6665976" y="1481328"/>
            <a:ext cx="1920240"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Access-filtered retrieval</a:t>
            </a:r>
            <a:endParaRPr lang="en-US" sz="1100" dirty="0"/>
          </a:p>
        </p:txBody>
      </p:sp>
      <p:sp>
        <p:nvSpPr>
          <p:cNvPr id="37" name="Text 30"/>
          <p:cNvSpPr txBox="1"/>
          <p:nvPr/>
        </p:nvSpPr>
        <p:spPr>
          <a:xfrm>
            <a:off x="6281928" y="1828800"/>
            <a:ext cx="2286000" cy="32918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Apply user permissions at query time, not only at indexing.</a:t>
            </a:r>
            <a:endParaRPr lang="en-US" sz="900" dirty="0"/>
          </a:p>
        </p:txBody>
      </p:sp>
      <p:sp>
        <p:nvSpPr>
          <p:cNvPr id="38" name="Shape 31"/>
          <p:cNvSpPr/>
          <p:nvPr/>
        </p:nvSpPr>
        <p:spPr>
          <a:xfrm>
            <a:off x="6172200" y="2286000"/>
            <a:ext cx="2514600" cy="822960"/>
          </a:xfrm>
          <a:prstGeom prst="roundRect">
            <a:avLst>
              <a:gd name="adj" fmla="val 8889"/>
            </a:avLst>
          </a:prstGeom>
          <a:solidFill>
            <a:srgbClr val="F4F7F5"/>
          </a:solidFill>
          <a:ln w="9525">
            <a:solidFill>
              <a:srgbClr val="D5DED9"/>
            </a:solidFill>
            <a:prstDash val="solid"/>
          </a:ln>
        </p:spPr>
      </p:sp>
      <p:sp>
        <p:nvSpPr>
          <p:cNvPr id="39" name="Shape 32"/>
          <p:cNvSpPr/>
          <p:nvPr/>
        </p:nvSpPr>
        <p:spPr>
          <a:xfrm>
            <a:off x="6281928" y="2395728"/>
            <a:ext cx="310896" cy="310896"/>
          </a:xfrm>
          <a:prstGeom prst="ellipse">
            <a:avLst/>
          </a:prstGeom>
          <a:solidFill>
            <a:srgbClr val="00704A">
              <a:alpha val="22000"/>
            </a:srgbClr>
          </a:solidFill>
          <a:ln/>
        </p:spPr>
      </p:sp>
      <p:pic>
        <p:nvPicPr>
          <p:cNvPr id="40" name="Image 4" descr="preencoded.png"/>
          <p:cNvPicPr>
            <a:picLocks noChangeAspect="1"/>
          </p:cNvPicPr>
          <p:nvPr/>
        </p:nvPicPr>
        <p:blipFill>
          <a:blip r:embed="rId7"/>
          <a:stretch>
            <a:fillRect/>
          </a:stretch>
        </p:blipFill>
        <p:spPr>
          <a:xfrm>
            <a:off x="6356543" y="2470343"/>
            <a:ext cx="161666" cy="161666"/>
          </a:xfrm>
          <a:prstGeom prst="rect">
            <a:avLst/>
          </a:prstGeom>
        </p:spPr>
      </p:pic>
      <p:sp>
        <p:nvSpPr>
          <p:cNvPr id="41" name="Text 33"/>
          <p:cNvSpPr txBox="1"/>
          <p:nvPr/>
        </p:nvSpPr>
        <p:spPr>
          <a:xfrm>
            <a:off x="6665976" y="2395728"/>
            <a:ext cx="1920240"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Secrets management</a:t>
            </a:r>
            <a:endParaRPr lang="en-US" sz="1100" dirty="0"/>
          </a:p>
        </p:txBody>
      </p:sp>
      <p:sp>
        <p:nvSpPr>
          <p:cNvPr id="42" name="Text 34"/>
          <p:cNvSpPr txBox="1"/>
          <p:nvPr/>
        </p:nvSpPr>
        <p:spPr>
          <a:xfrm>
            <a:off x="6281928" y="2743200"/>
            <a:ext cx="2286000" cy="32918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No passwords in notebooks or code; short-lived tokens.</a:t>
            </a:r>
            <a:endParaRPr lang="en-US" sz="900" dirty="0"/>
          </a:p>
        </p:txBody>
      </p:sp>
      <p:sp>
        <p:nvSpPr>
          <p:cNvPr id="43" name="Shape 35"/>
          <p:cNvSpPr/>
          <p:nvPr/>
        </p:nvSpPr>
        <p:spPr>
          <a:xfrm>
            <a:off x="6172200" y="3200400"/>
            <a:ext cx="2514600" cy="822960"/>
          </a:xfrm>
          <a:prstGeom prst="roundRect">
            <a:avLst>
              <a:gd name="adj" fmla="val 8889"/>
            </a:avLst>
          </a:prstGeom>
          <a:solidFill>
            <a:srgbClr val="F4F7F5"/>
          </a:solidFill>
          <a:ln w="9525">
            <a:solidFill>
              <a:srgbClr val="D5DED9"/>
            </a:solidFill>
            <a:prstDash val="solid"/>
          </a:ln>
        </p:spPr>
      </p:sp>
      <p:sp>
        <p:nvSpPr>
          <p:cNvPr id="44" name="Shape 36"/>
          <p:cNvSpPr/>
          <p:nvPr/>
        </p:nvSpPr>
        <p:spPr>
          <a:xfrm>
            <a:off x="6281928" y="3310128"/>
            <a:ext cx="310896" cy="310896"/>
          </a:xfrm>
          <a:prstGeom prst="ellipse">
            <a:avLst/>
          </a:prstGeom>
          <a:solidFill>
            <a:srgbClr val="00704A">
              <a:alpha val="22000"/>
            </a:srgbClr>
          </a:solidFill>
          <a:ln/>
        </p:spPr>
      </p:sp>
      <p:pic>
        <p:nvPicPr>
          <p:cNvPr id="45" name="Image 5" descr="preencoded.png"/>
          <p:cNvPicPr>
            <a:picLocks noChangeAspect="1"/>
          </p:cNvPicPr>
          <p:nvPr/>
        </p:nvPicPr>
        <p:blipFill>
          <a:blip r:embed="rId8"/>
          <a:stretch>
            <a:fillRect/>
          </a:stretch>
        </p:blipFill>
        <p:spPr>
          <a:xfrm>
            <a:off x="6356543" y="3384743"/>
            <a:ext cx="161666" cy="161666"/>
          </a:xfrm>
          <a:prstGeom prst="rect">
            <a:avLst/>
          </a:prstGeom>
        </p:spPr>
      </p:pic>
      <p:sp>
        <p:nvSpPr>
          <p:cNvPr id="46" name="Text 37"/>
          <p:cNvSpPr txBox="1"/>
          <p:nvPr/>
        </p:nvSpPr>
        <p:spPr>
          <a:xfrm>
            <a:off x="6665976" y="3310128"/>
            <a:ext cx="1920240"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Retention and deletion</a:t>
            </a:r>
            <a:endParaRPr lang="en-US" sz="1100" dirty="0"/>
          </a:p>
        </p:txBody>
      </p:sp>
      <p:sp>
        <p:nvSpPr>
          <p:cNvPr id="47" name="Text 38"/>
          <p:cNvSpPr txBox="1"/>
          <p:nvPr/>
        </p:nvSpPr>
        <p:spPr>
          <a:xfrm>
            <a:off x="6281928" y="3657600"/>
            <a:ext cx="2286000" cy="32918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Explicit rules for prompts, logs, indexes and snapshots.</a:t>
            </a:r>
            <a:endParaRPr lang="en-US" sz="900" dirty="0"/>
          </a:p>
        </p:txBody>
      </p:sp>
      <p:sp>
        <p:nvSpPr>
          <p:cNvPr id="48" name="Shape 39"/>
          <p:cNvSpPr/>
          <p:nvPr/>
        </p:nvSpPr>
        <p:spPr>
          <a:xfrm>
            <a:off x="3108960" y="1371600"/>
            <a:ext cx="2926080" cy="2651760"/>
          </a:xfrm>
          <a:prstGeom prst="roundRect">
            <a:avLst>
              <a:gd name="adj" fmla="val 2759"/>
            </a:avLst>
          </a:prstGeom>
          <a:solidFill>
            <a:srgbClr val="00704A"/>
          </a:solidFill>
          <a:ln/>
        </p:spPr>
      </p:sp>
      <p:sp>
        <p:nvSpPr>
          <p:cNvPr id="49" name="Text 40"/>
          <p:cNvSpPr txBox="1"/>
          <p:nvPr/>
        </p:nvSpPr>
        <p:spPr>
          <a:xfrm>
            <a:off x="3246120" y="1463040"/>
            <a:ext cx="2651760" cy="182880"/>
          </a:xfrm>
          <a:prstGeom prst="rect">
            <a:avLst/>
          </a:prstGeom>
          <a:noFill/>
          <a:ln/>
        </p:spPr>
        <p:txBody>
          <a:bodyPr wrap="square" lIns="0" tIns="0" rIns="0" bIns="0" rtlCol="0" anchor="t"/>
          <a:lstStyle/>
          <a:p>
            <a:pPr marL="0" indent="0" algn="ctr">
              <a:buNone/>
            </a:pPr>
            <a:r>
              <a:rPr lang="en-US" sz="850" b="1" kern="0" spc="150" dirty="0">
                <a:solidFill>
                  <a:srgbClr val="F5C242"/>
                </a:solidFill>
                <a:latin typeface="Calibri" pitchFamily="34" charset="0"/>
                <a:ea typeface="Calibri" pitchFamily="34" charset="-122"/>
                <a:cs typeface="Calibri" pitchFamily="34" charset="-120"/>
              </a:rPr>
              <a:t>HIGHEST-LEVERAGE INVESTMENT</a:t>
            </a:r>
            <a:endParaRPr lang="en-US" sz="850" dirty="0"/>
          </a:p>
        </p:txBody>
      </p:sp>
      <p:sp>
        <p:nvSpPr>
          <p:cNvPr id="50" name="Shape 41"/>
          <p:cNvSpPr/>
          <p:nvPr/>
        </p:nvSpPr>
        <p:spPr>
          <a:xfrm>
            <a:off x="4315968" y="1719072"/>
            <a:ext cx="512064" cy="512064"/>
          </a:xfrm>
          <a:prstGeom prst="ellipse">
            <a:avLst/>
          </a:prstGeom>
          <a:solidFill>
            <a:srgbClr val="FFFFFF"/>
          </a:solidFill>
          <a:ln/>
        </p:spPr>
      </p:sp>
      <p:pic>
        <p:nvPicPr>
          <p:cNvPr id="51" name="Image 6" descr="preencoded.png"/>
          <p:cNvPicPr>
            <a:picLocks noChangeAspect="1"/>
          </p:cNvPicPr>
          <p:nvPr/>
        </p:nvPicPr>
        <p:blipFill>
          <a:blip r:embed="rId9"/>
          <a:stretch>
            <a:fillRect/>
          </a:stretch>
        </p:blipFill>
        <p:spPr>
          <a:xfrm>
            <a:off x="4443984" y="1847088"/>
            <a:ext cx="256032" cy="256032"/>
          </a:xfrm>
          <a:prstGeom prst="rect">
            <a:avLst/>
          </a:prstGeom>
        </p:spPr>
      </p:pic>
      <p:sp>
        <p:nvSpPr>
          <p:cNvPr id="52" name="Text 42"/>
          <p:cNvSpPr txBox="1"/>
          <p:nvPr/>
        </p:nvSpPr>
        <p:spPr>
          <a:xfrm>
            <a:off x="3246120" y="2267712"/>
            <a:ext cx="2651760" cy="274320"/>
          </a:xfrm>
          <a:prstGeom prst="rect">
            <a:avLst/>
          </a:prstGeom>
          <a:noFill/>
          <a:ln/>
        </p:spPr>
        <p:txBody>
          <a:bodyPr wrap="square" lIns="0" tIns="0" rIns="0" bIns="0"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The internal AI gateway</a:t>
            </a:r>
            <a:endParaRPr lang="en-US" sz="1400" dirty="0"/>
          </a:p>
        </p:txBody>
      </p:sp>
      <p:sp>
        <p:nvSpPr>
          <p:cNvPr id="53" name="Text 43"/>
          <p:cNvSpPr txBox="1"/>
          <p:nvPr/>
        </p:nvSpPr>
        <p:spPr>
          <a:xfrm>
            <a:off x="3246120" y="2523744"/>
            <a:ext cx="2651760" cy="201168"/>
          </a:xfrm>
          <a:prstGeom prst="rect">
            <a:avLst/>
          </a:prstGeom>
          <a:noFill/>
          <a:ln/>
        </p:spPr>
        <p:txBody>
          <a:bodyPr wrap="square" lIns="0" tIns="0" rIns="0" bIns="0" rtlCol="0" anchor="t"/>
          <a:lstStyle/>
          <a:p>
            <a:pPr marL="0" indent="0" algn="ctr">
              <a:buNone/>
            </a:pPr>
            <a:r>
              <a:rPr lang="en-US" sz="950" i="1" dirty="0">
                <a:solidFill>
                  <a:srgbClr val="E6F6EE"/>
                </a:solidFill>
                <a:latin typeface="Calibri" pitchFamily="34" charset="0"/>
                <a:ea typeface="Calibri" pitchFamily="34" charset="-122"/>
                <a:cs typeface="Calibri" pitchFamily="34" charset="-120"/>
              </a:rPr>
              <a:t>One audited chokepoint for every model call</a:t>
            </a:r>
            <a:endParaRPr lang="en-US" sz="950" dirty="0"/>
          </a:p>
        </p:txBody>
      </p:sp>
      <p:pic>
        <p:nvPicPr>
          <p:cNvPr id="54" name="Image 7" descr="preencoded.png"/>
          <p:cNvPicPr>
            <a:picLocks noChangeAspect="1"/>
          </p:cNvPicPr>
          <p:nvPr/>
        </p:nvPicPr>
        <p:blipFill>
          <a:blip r:embed="rId10"/>
          <a:stretch>
            <a:fillRect/>
          </a:stretch>
        </p:blipFill>
        <p:spPr>
          <a:xfrm>
            <a:off x="3246120" y="2852928"/>
            <a:ext cx="128016" cy="128016"/>
          </a:xfrm>
          <a:prstGeom prst="rect">
            <a:avLst/>
          </a:prstGeom>
        </p:spPr>
      </p:pic>
      <p:sp>
        <p:nvSpPr>
          <p:cNvPr id="55" name="Text 44"/>
          <p:cNvSpPr txBox="1"/>
          <p:nvPr/>
        </p:nvSpPr>
        <p:spPr>
          <a:xfrm>
            <a:off x="3429000" y="2816352"/>
            <a:ext cx="1143000" cy="347472"/>
          </a:xfrm>
          <a:prstGeom prst="rect">
            <a:avLst/>
          </a:prstGeom>
          <a:noFill/>
          <a:ln/>
        </p:spPr>
        <p:txBody>
          <a:bodyPr wrap="square" lIns="0" tIns="0" rIns="0" bIns="0" rtlCol="0" anchor="t"/>
          <a:lstStyle/>
          <a:p>
            <a:pPr marL="0" indent="0">
              <a:buNone/>
            </a:pPr>
            <a:r>
              <a:rPr lang="en-US" sz="850" dirty="0">
                <a:solidFill>
                  <a:srgbClr val="FFFFFF"/>
                </a:solidFill>
                <a:latin typeface="Calibri" pitchFamily="34" charset="0"/>
                <a:ea typeface="Calibri" pitchFamily="34" charset="-122"/>
                <a:cs typeface="Calibri" pitchFamily="34" charset="-120"/>
              </a:rPr>
              <a:t>Model allow-list per tier</a:t>
            </a:r>
            <a:endParaRPr lang="en-US" sz="850" dirty="0"/>
          </a:p>
        </p:txBody>
      </p:sp>
      <p:pic>
        <p:nvPicPr>
          <p:cNvPr id="56" name="Image 8" descr="preencoded.png"/>
          <p:cNvPicPr>
            <a:picLocks noChangeAspect="1"/>
          </p:cNvPicPr>
          <p:nvPr/>
        </p:nvPicPr>
        <p:blipFill>
          <a:blip r:embed="rId10"/>
          <a:stretch>
            <a:fillRect/>
          </a:stretch>
        </p:blipFill>
        <p:spPr>
          <a:xfrm>
            <a:off x="4590288" y="2852928"/>
            <a:ext cx="128016" cy="128016"/>
          </a:xfrm>
          <a:prstGeom prst="rect">
            <a:avLst/>
          </a:prstGeom>
        </p:spPr>
      </p:pic>
      <p:sp>
        <p:nvSpPr>
          <p:cNvPr id="57" name="Text 45"/>
          <p:cNvSpPr txBox="1"/>
          <p:nvPr/>
        </p:nvSpPr>
        <p:spPr>
          <a:xfrm>
            <a:off x="4773168" y="2816352"/>
            <a:ext cx="1143000" cy="347472"/>
          </a:xfrm>
          <a:prstGeom prst="rect">
            <a:avLst/>
          </a:prstGeom>
          <a:noFill/>
          <a:ln/>
        </p:spPr>
        <p:txBody>
          <a:bodyPr wrap="square" lIns="0" tIns="0" rIns="0" bIns="0" rtlCol="0" anchor="t"/>
          <a:lstStyle/>
          <a:p>
            <a:pPr marL="0" indent="0">
              <a:buNone/>
            </a:pPr>
            <a:r>
              <a:rPr lang="en-US" sz="850" dirty="0">
                <a:solidFill>
                  <a:srgbClr val="FFFFFF"/>
                </a:solidFill>
                <a:latin typeface="Calibri" pitchFamily="34" charset="0"/>
                <a:ea typeface="Calibri" pitchFamily="34" charset="-122"/>
                <a:cs typeface="Calibri" pitchFamily="34" charset="-120"/>
              </a:rPr>
              <a:t>Redaction and prompt checks</a:t>
            </a:r>
            <a:endParaRPr lang="en-US" sz="850" dirty="0"/>
          </a:p>
        </p:txBody>
      </p:sp>
      <p:pic>
        <p:nvPicPr>
          <p:cNvPr id="58" name="Image 9" descr="preencoded.png"/>
          <p:cNvPicPr>
            <a:picLocks noChangeAspect="1"/>
          </p:cNvPicPr>
          <p:nvPr/>
        </p:nvPicPr>
        <p:blipFill>
          <a:blip r:embed="rId10"/>
          <a:stretch>
            <a:fillRect/>
          </a:stretch>
        </p:blipFill>
        <p:spPr>
          <a:xfrm>
            <a:off x="3246120" y="3236976"/>
            <a:ext cx="128016" cy="128016"/>
          </a:xfrm>
          <a:prstGeom prst="rect">
            <a:avLst/>
          </a:prstGeom>
        </p:spPr>
      </p:pic>
      <p:sp>
        <p:nvSpPr>
          <p:cNvPr id="59" name="Text 46"/>
          <p:cNvSpPr txBox="1"/>
          <p:nvPr/>
        </p:nvSpPr>
        <p:spPr>
          <a:xfrm>
            <a:off x="3429000" y="3200400"/>
            <a:ext cx="1143000" cy="347472"/>
          </a:xfrm>
          <a:prstGeom prst="rect">
            <a:avLst/>
          </a:prstGeom>
          <a:noFill/>
          <a:ln/>
        </p:spPr>
        <p:txBody>
          <a:bodyPr wrap="square" lIns="0" tIns="0" rIns="0" bIns="0" rtlCol="0" anchor="t"/>
          <a:lstStyle/>
          <a:p>
            <a:pPr marL="0" indent="0">
              <a:buNone/>
            </a:pPr>
            <a:r>
              <a:rPr lang="en-US" sz="850" dirty="0">
                <a:solidFill>
                  <a:srgbClr val="FFFFFF"/>
                </a:solidFill>
                <a:latin typeface="Calibri" pitchFamily="34" charset="0"/>
                <a:ea typeface="Calibri" pitchFamily="34" charset="-122"/>
                <a:cs typeface="Calibri" pitchFamily="34" charset="-120"/>
              </a:rPr>
              <a:t>Tamper-proof logging</a:t>
            </a:r>
            <a:endParaRPr lang="en-US" sz="850" dirty="0"/>
          </a:p>
        </p:txBody>
      </p:sp>
      <p:pic>
        <p:nvPicPr>
          <p:cNvPr id="60" name="Image 10" descr="preencoded.png"/>
          <p:cNvPicPr>
            <a:picLocks noChangeAspect="1"/>
          </p:cNvPicPr>
          <p:nvPr/>
        </p:nvPicPr>
        <p:blipFill>
          <a:blip r:embed="rId10"/>
          <a:stretch>
            <a:fillRect/>
          </a:stretch>
        </p:blipFill>
        <p:spPr>
          <a:xfrm>
            <a:off x="4590288" y="3236976"/>
            <a:ext cx="128016" cy="128016"/>
          </a:xfrm>
          <a:prstGeom prst="rect">
            <a:avLst/>
          </a:prstGeom>
        </p:spPr>
      </p:pic>
      <p:sp>
        <p:nvSpPr>
          <p:cNvPr id="61" name="Text 47"/>
          <p:cNvSpPr txBox="1"/>
          <p:nvPr/>
        </p:nvSpPr>
        <p:spPr>
          <a:xfrm>
            <a:off x="4773168" y="3200400"/>
            <a:ext cx="1143000" cy="347472"/>
          </a:xfrm>
          <a:prstGeom prst="rect">
            <a:avLst/>
          </a:prstGeom>
          <a:noFill/>
          <a:ln/>
        </p:spPr>
        <p:txBody>
          <a:bodyPr wrap="square" lIns="0" tIns="0" rIns="0" bIns="0" rtlCol="0" anchor="t"/>
          <a:lstStyle/>
          <a:p>
            <a:pPr marL="0" indent="0">
              <a:buNone/>
            </a:pPr>
            <a:r>
              <a:rPr lang="en-US" sz="850" dirty="0">
                <a:solidFill>
                  <a:srgbClr val="FFFFFF"/>
                </a:solidFill>
                <a:latin typeface="Calibri" pitchFamily="34" charset="0"/>
                <a:ea typeface="Calibri" pitchFamily="34" charset="-122"/>
                <a:cs typeface="Calibri" pitchFamily="34" charset="-120"/>
              </a:rPr>
              <a:t>Quotas and budget caps</a:t>
            </a:r>
            <a:endParaRPr lang="en-US" sz="850" dirty="0"/>
          </a:p>
        </p:txBody>
      </p:sp>
      <p:pic>
        <p:nvPicPr>
          <p:cNvPr id="62" name="Image 11" descr="preencoded.png"/>
          <p:cNvPicPr>
            <a:picLocks noChangeAspect="1"/>
          </p:cNvPicPr>
          <p:nvPr/>
        </p:nvPicPr>
        <p:blipFill>
          <a:blip r:embed="rId10"/>
          <a:stretch>
            <a:fillRect/>
          </a:stretch>
        </p:blipFill>
        <p:spPr>
          <a:xfrm>
            <a:off x="3246120" y="3621024"/>
            <a:ext cx="128016" cy="128016"/>
          </a:xfrm>
          <a:prstGeom prst="rect">
            <a:avLst/>
          </a:prstGeom>
        </p:spPr>
      </p:pic>
      <p:sp>
        <p:nvSpPr>
          <p:cNvPr id="63" name="Text 48"/>
          <p:cNvSpPr txBox="1"/>
          <p:nvPr/>
        </p:nvSpPr>
        <p:spPr>
          <a:xfrm>
            <a:off x="3429000" y="3584448"/>
            <a:ext cx="1143000" cy="347472"/>
          </a:xfrm>
          <a:prstGeom prst="rect">
            <a:avLst/>
          </a:prstGeom>
          <a:noFill/>
          <a:ln/>
        </p:spPr>
        <p:txBody>
          <a:bodyPr wrap="square" lIns="0" tIns="0" rIns="0" bIns="0" rtlCol="0" anchor="t"/>
          <a:lstStyle/>
          <a:p>
            <a:pPr marL="0" indent="0">
              <a:buNone/>
            </a:pPr>
            <a:r>
              <a:rPr lang="en-US" sz="850" dirty="0">
                <a:solidFill>
                  <a:srgbClr val="FFFFFF"/>
                </a:solidFill>
                <a:latin typeface="Calibri" pitchFamily="34" charset="0"/>
                <a:ea typeface="Calibri" pitchFamily="34" charset="-122"/>
                <a:cs typeface="Calibri" pitchFamily="34" charset="-120"/>
              </a:rPr>
              <a:t>Cost per project code</a:t>
            </a:r>
            <a:endParaRPr lang="en-US" sz="850" dirty="0"/>
          </a:p>
        </p:txBody>
      </p:sp>
      <p:pic>
        <p:nvPicPr>
          <p:cNvPr id="64" name="Image 12" descr="preencoded.png"/>
          <p:cNvPicPr>
            <a:picLocks noChangeAspect="1"/>
          </p:cNvPicPr>
          <p:nvPr/>
        </p:nvPicPr>
        <p:blipFill>
          <a:blip r:embed="rId10"/>
          <a:stretch>
            <a:fillRect/>
          </a:stretch>
        </p:blipFill>
        <p:spPr>
          <a:xfrm>
            <a:off x="4590288" y="3621024"/>
            <a:ext cx="128016" cy="128016"/>
          </a:xfrm>
          <a:prstGeom prst="rect">
            <a:avLst/>
          </a:prstGeom>
        </p:spPr>
      </p:pic>
      <p:sp>
        <p:nvSpPr>
          <p:cNvPr id="65" name="Text 49"/>
          <p:cNvSpPr txBox="1"/>
          <p:nvPr/>
        </p:nvSpPr>
        <p:spPr>
          <a:xfrm>
            <a:off x="4773168" y="3584448"/>
            <a:ext cx="1143000" cy="347472"/>
          </a:xfrm>
          <a:prstGeom prst="rect">
            <a:avLst/>
          </a:prstGeom>
          <a:noFill/>
          <a:ln/>
        </p:spPr>
        <p:txBody>
          <a:bodyPr wrap="square" lIns="0" tIns="0" rIns="0" bIns="0" rtlCol="0" anchor="t"/>
          <a:lstStyle/>
          <a:p>
            <a:pPr marL="0" indent="0">
              <a:buNone/>
            </a:pPr>
            <a:r>
              <a:rPr lang="en-US" sz="850" dirty="0">
                <a:solidFill>
                  <a:srgbClr val="FFFFFF"/>
                </a:solidFill>
                <a:latin typeface="Calibri" pitchFamily="34" charset="0"/>
                <a:ea typeface="Calibri" pitchFamily="34" charset="-122"/>
                <a:cs typeface="Calibri" pitchFamily="34" charset="-120"/>
              </a:rPr>
              <a:t>Swap models by configuration</a:t>
            </a:r>
            <a:endParaRPr lang="en-US" sz="850" dirty="0"/>
          </a:p>
        </p:txBody>
      </p:sp>
      <p:sp>
        <p:nvSpPr>
          <p:cNvPr id="66" name="Shape 50"/>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67" name="Shape 51"/>
          <p:cNvSpPr/>
          <p:nvPr/>
        </p:nvSpPr>
        <p:spPr>
          <a:xfrm>
            <a:off x="566928" y="4233672"/>
            <a:ext cx="292608" cy="292608"/>
          </a:xfrm>
          <a:prstGeom prst="ellipse">
            <a:avLst/>
          </a:prstGeom>
          <a:solidFill>
            <a:srgbClr val="00A86A">
              <a:alpha val="22000"/>
            </a:srgbClr>
          </a:solidFill>
          <a:ln/>
        </p:spPr>
      </p:sp>
      <p:pic>
        <p:nvPicPr>
          <p:cNvPr id="68" name="Image 13" descr="preencoded.png"/>
          <p:cNvPicPr>
            <a:picLocks noChangeAspect="1"/>
          </p:cNvPicPr>
          <p:nvPr/>
        </p:nvPicPr>
        <p:blipFill>
          <a:blip r:embed="rId11"/>
          <a:stretch>
            <a:fillRect/>
          </a:stretch>
        </p:blipFill>
        <p:spPr>
          <a:xfrm>
            <a:off x="637154" y="4303898"/>
            <a:ext cx="152156" cy="152156"/>
          </a:xfrm>
          <a:prstGeom prst="rect">
            <a:avLst/>
          </a:prstGeom>
        </p:spPr>
      </p:pic>
      <p:sp>
        <p:nvSpPr>
          <p:cNvPr id="69" name="Text 52"/>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Build the gateway before the first production use case, not after the fifth. Retrofitting a chokepoint costs an order of magnitude more.</a:t>
            </a:r>
            <a:endParaRPr lang="en-US" sz="1050" dirty="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MODEL GOVERNANCE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Model governance: the register and the gate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Every model behind a published statistic has an owner, a version, an approval and an expiry date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43</a:t>
            </a:r>
            <a:endParaRPr lang="en-US" sz="850" dirty="0"/>
          </a:p>
        </p:txBody>
      </p:sp>
      <p:sp>
        <p:nvSpPr>
          <p:cNvPr id="18" name="Shape 15"/>
          <p:cNvSpPr/>
          <p:nvPr/>
        </p:nvSpPr>
        <p:spPr>
          <a:xfrm>
            <a:off x="457200" y="1371600"/>
            <a:ext cx="2651760" cy="1234440"/>
          </a:xfrm>
          <a:prstGeom prst="roundRect">
            <a:avLst>
              <a:gd name="adj" fmla="val 5926"/>
            </a:avLst>
          </a:prstGeom>
          <a:solidFill>
            <a:srgbClr val="F4F7F5"/>
          </a:solidFill>
          <a:ln w="9525">
            <a:solidFill>
              <a:srgbClr val="D5DED9"/>
            </a:solidFill>
            <a:prstDash val="solid"/>
          </a:ln>
        </p:spPr>
      </p:sp>
      <p:sp>
        <p:nvSpPr>
          <p:cNvPr id="19" name="Shape 16"/>
          <p:cNvSpPr/>
          <p:nvPr/>
        </p:nvSpPr>
        <p:spPr>
          <a:xfrm>
            <a:off x="566928" y="1481328"/>
            <a:ext cx="329184" cy="329184"/>
          </a:xfrm>
          <a:prstGeom prst="ellipse">
            <a:avLst/>
          </a:prstGeom>
          <a:solidFill>
            <a:srgbClr val="D49A00"/>
          </a:solidFill>
          <a:ln/>
        </p:spPr>
      </p:sp>
      <p:sp>
        <p:nvSpPr>
          <p:cNvPr id="20" name="Text 17"/>
          <p:cNvSpPr txBox="1"/>
          <p:nvPr/>
        </p:nvSpPr>
        <p:spPr>
          <a:xfrm>
            <a:off x="566928" y="1481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987552" y="1481328"/>
            <a:ext cx="1691640"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Use-case register</a:t>
            </a:r>
            <a:endParaRPr lang="en-US" sz="1150" dirty="0"/>
          </a:p>
        </p:txBody>
      </p:sp>
      <p:pic>
        <p:nvPicPr>
          <p:cNvPr id="22" name="Image 0" descr="preencoded.png"/>
          <p:cNvPicPr>
            <a:picLocks noChangeAspect="1"/>
          </p:cNvPicPr>
          <p:nvPr/>
        </p:nvPicPr>
        <p:blipFill>
          <a:blip r:embed="rId3"/>
          <a:stretch>
            <a:fillRect/>
          </a:stretch>
        </p:blipFill>
        <p:spPr>
          <a:xfrm>
            <a:off x="2761488" y="1527048"/>
            <a:ext cx="219456" cy="219456"/>
          </a:xfrm>
          <a:prstGeom prst="rect">
            <a:avLst/>
          </a:prstGeom>
        </p:spPr>
      </p:pic>
      <p:sp>
        <p:nvSpPr>
          <p:cNvPr id="23" name="Text 19"/>
          <p:cNvSpPr txBox="1"/>
          <p:nvPr/>
        </p:nvSpPr>
        <p:spPr>
          <a:xfrm>
            <a:off x="566928" y="1901952"/>
            <a:ext cx="2432304" cy="63093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Recorded before development: purpose, data tier, legal basis, owner, expected benefit.</a:t>
            </a:r>
            <a:endParaRPr lang="en-US" sz="950" dirty="0"/>
          </a:p>
        </p:txBody>
      </p:sp>
      <p:sp>
        <p:nvSpPr>
          <p:cNvPr id="24" name="Shape 20"/>
          <p:cNvSpPr/>
          <p:nvPr/>
        </p:nvSpPr>
        <p:spPr>
          <a:xfrm>
            <a:off x="3118104" y="1988820"/>
            <a:ext cx="118872" cy="0"/>
          </a:xfrm>
          <a:prstGeom prst="line">
            <a:avLst/>
          </a:prstGeom>
          <a:noFill/>
          <a:ln w="15875">
            <a:solidFill>
              <a:srgbClr val="5E6964"/>
            </a:solidFill>
            <a:prstDash val="solid"/>
            <a:tailEnd type="triangle"/>
          </a:ln>
        </p:spPr>
      </p:sp>
      <p:sp>
        <p:nvSpPr>
          <p:cNvPr id="25" name="Shape 21"/>
          <p:cNvSpPr/>
          <p:nvPr/>
        </p:nvSpPr>
        <p:spPr>
          <a:xfrm>
            <a:off x="3246120" y="1371600"/>
            <a:ext cx="2651760" cy="1234440"/>
          </a:xfrm>
          <a:prstGeom prst="roundRect">
            <a:avLst>
              <a:gd name="adj" fmla="val 5926"/>
            </a:avLst>
          </a:prstGeom>
          <a:solidFill>
            <a:srgbClr val="F4F7F5"/>
          </a:solidFill>
          <a:ln w="9525">
            <a:solidFill>
              <a:srgbClr val="D5DED9"/>
            </a:solidFill>
            <a:prstDash val="solid"/>
          </a:ln>
        </p:spPr>
      </p:sp>
      <p:sp>
        <p:nvSpPr>
          <p:cNvPr id="26" name="Shape 22"/>
          <p:cNvSpPr/>
          <p:nvPr/>
        </p:nvSpPr>
        <p:spPr>
          <a:xfrm>
            <a:off x="3355848" y="1481328"/>
            <a:ext cx="329184" cy="329184"/>
          </a:xfrm>
          <a:prstGeom prst="ellipse">
            <a:avLst/>
          </a:prstGeom>
          <a:solidFill>
            <a:srgbClr val="D49A00"/>
          </a:solidFill>
          <a:ln/>
        </p:spPr>
      </p:sp>
      <p:sp>
        <p:nvSpPr>
          <p:cNvPr id="27" name="Text 23"/>
          <p:cNvSpPr txBox="1"/>
          <p:nvPr/>
        </p:nvSpPr>
        <p:spPr>
          <a:xfrm>
            <a:off x="3355848" y="1481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Text 24"/>
          <p:cNvSpPr txBox="1"/>
          <p:nvPr/>
        </p:nvSpPr>
        <p:spPr>
          <a:xfrm>
            <a:off x="3776472" y="1481328"/>
            <a:ext cx="1691640"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Model register</a:t>
            </a:r>
            <a:endParaRPr lang="en-US" sz="1150" dirty="0"/>
          </a:p>
        </p:txBody>
      </p:sp>
      <p:pic>
        <p:nvPicPr>
          <p:cNvPr id="29" name="Image 1" descr="preencoded.png"/>
          <p:cNvPicPr>
            <a:picLocks noChangeAspect="1"/>
          </p:cNvPicPr>
          <p:nvPr/>
        </p:nvPicPr>
        <p:blipFill>
          <a:blip r:embed="rId4"/>
          <a:stretch>
            <a:fillRect/>
          </a:stretch>
        </p:blipFill>
        <p:spPr>
          <a:xfrm>
            <a:off x="5550408" y="1527048"/>
            <a:ext cx="219456" cy="219456"/>
          </a:xfrm>
          <a:prstGeom prst="rect">
            <a:avLst/>
          </a:prstGeom>
        </p:spPr>
      </p:pic>
      <p:sp>
        <p:nvSpPr>
          <p:cNvPr id="30" name="Text 25"/>
          <p:cNvSpPr txBox="1"/>
          <p:nvPr/>
        </p:nvSpPr>
        <p:spPr>
          <a:xfrm>
            <a:off x="3355848" y="1901952"/>
            <a:ext cx="2432304" cy="63093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Version, data snapshot, evaluation results, approver, scope and known limits.</a:t>
            </a:r>
            <a:endParaRPr lang="en-US" sz="950" dirty="0"/>
          </a:p>
        </p:txBody>
      </p:sp>
      <p:sp>
        <p:nvSpPr>
          <p:cNvPr id="31" name="Shape 26"/>
          <p:cNvSpPr/>
          <p:nvPr/>
        </p:nvSpPr>
        <p:spPr>
          <a:xfrm>
            <a:off x="5907024" y="1988820"/>
            <a:ext cx="118872" cy="0"/>
          </a:xfrm>
          <a:prstGeom prst="line">
            <a:avLst/>
          </a:prstGeom>
          <a:noFill/>
          <a:ln w="15875">
            <a:solidFill>
              <a:srgbClr val="5E6964"/>
            </a:solidFill>
            <a:prstDash val="solid"/>
            <a:tailEnd type="triangle"/>
          </a:ln>
        </p:spPr>
      </p:sp>
      <p:sp>
        <p:nvSpPr>
          <p:cNvPr id="32" name="Shape 27"/>
          <p:cNvSpPr/>
          <p:nvPr/>
        </p:nvSpPr>
        <p:spPr>
          <a:xfrm>
            <a:off x="6035040" y="1371600"/>
            <a:ext cx="2651760" cy="1234440"/>
          </a:xfrm>
          <a:prstGeom prst="roundRect">
            <a:avLst>
              <a:gd name="adj" fmla="val 5926"/>
            </a:avLst>
          </a:prstGeom>
          <a:solidFill>
            <a:srgbClr val="F4F7F5"/>
          </a:solidFill>
          <a:ln w="9525">
            <a:solidFill>
              <a:srgbClr val="D5DED9"/>
            </a:solidFill>
            <a:prstDash val="solid"/>
          </a:ln>
        </p:spPr>
      </p:sp>
      <p:sp>
        <p:nvSpPr>
          <p:cNvPr id="33" name="Shape 28"/>
          <p:cNvSpPr/>
          <p:nvPr/>
        </p:nvSpPr>
        <p:spPr>
          <a:xfrm>
            <a:off x="6144768" y="1481328"/>
            <a:ext cx="329184" cy="329184"/>
          </a:xfrm>
          <a:prstGeom prst="ellipse">
            <a:avLst/>
          </a:prstGeom>
          <a:solidFill>
            <a:srgbClr val="D49A00"/>
          </a:solidFill>
          <a:ln/>
        </p:spPr>
      </p:sp>
      <p:sp>
        <p:nvSpPr>
          <p:cNvPr id="34" name="Text 29"/>
          <p:cNvSpPr txBox="1"/>
          <p:nvPr/>
        </p:nvSpPr>
        <p:spPr>
          <a:xfrm>
            <a:off x="6144768" y="1481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5" name="Text 30"/>
          <p:cNvSpPr txBox="1"/>
          <p:nvPr/>
        </p:nvSpPr>
        <p:spPr>
          <a:xfrm>
            <a:off x="6565392" y="1481328"/>
            <a:ext cx="1691640"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Model documentation</a:t>
            </a:r>
            <a:endParaRPr lang="en-US" sz="1150" dirty="0"/>
          </a:p>
        </p:txBody>
      </p:sp>
      <p:pic>
        <p:nvPicPr>
          <p:cNvPr id="36" name="Image 2" descr="preencoded.png"/>
          <p:cNvPicPr>
            <a:picLocks noChangeAspect="1"/>
          </p:cNvPicPr>
          <p:nvPr/>
        </p:nvPicPr>
        <p:blipFill>
          <a:blip r:embed="rId5"/>
          <a:stretch>
            <a:fillRect/>
          </a:stretch>
        </p:blipFill>
        <p:spPr>
          <a:xfrm>
            <a:off x="8339328" y="1527048"/>
            <a:ext cx="219456" cy="219456"/>
          </a:xfrm>
          <a:prstGeom prst="rect">
            <a:avLst/>
          </a:prstGeom>
        </p:spPr>
      </p:pic>
      <p:sp>
        <p:nvSpPr>
          <p:cNvPr id="37" name="Text 31"/>
          <p:cNvSpPr txBox="1"/>
          <p:nvPr/>
        </p:nvSpPr>
        <p:spPr>
          <a:xfrm>
            <a:off x="6144768" y="1901952"/>
            <a:ext cx="2432304" cy="63093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model card to the same standard as methodological documentation.</a:t>
            </a:r>
            <a:endParaRPr lang="en-US" sz="950" dirty="0"/>
          </a:p>
        </p:txBody>
      </p:sp>
      <p:sp>
        <p:nvSpPr>
          <p:cNvPr id="38" name="Shape 32"/>
          <p:cNvSpPr/>
          <p:nvPr/>
        </p:nvSpPr>
        <p:spPr>
          <a:xfrm>
            <a:off x="457200" y="2770632"/>
            <a:ext cx="2651760" cy="1234440"/>
          </a:xfrm>
          <a:prstGeom prst="roundRect">
            <a:avLst>
              <a:gd name="adj" fmla="val 5926"/>
            </a:avLst>
          </a:prstGeom>
          <a:solidFill>
            <a:srgbClr val="E8F5EF"/>
          </a:solidFill>
          <a:ln w="15875">
            <a:solidFill>
              <a:srgbClr val="D49A00"/>
            </a:solidFill>
            <a:prstDash val="solid"/>
          </a:ln>
        </p:spPr>
      </p:sp>
      <p:sp>
        <p:nvSpPr>
          <p:cNvPr id="39" name="Shape 33"/>
          <p:cNvSpPr/>
          <p:nvPr/>
        </p:nvSpPr>
        <p:spPr>
          <a:xfrm>
            <a:off x="566928" y="2880360"/>
            <a:ext cx="329184" cy="329184"/>
          </a:xfrm>
          <a:prstGeom prst="ellipse">
            <a:avLst/>
          </a:prstGeom>
          <a:solidFill>
            <a:srgbClr val="D49A00"/>
          </a:solidFill>
          <a:ln/>
        </p:spPr>
      </p:sp>
      <p:sp>
        <p:nvSpPr>
          <p:cNvPr id="40" name="Text 34"/>
          <p:cNvSpPr txBox="1"/>
          <p:nvPr/>
        </p:nvSpPr>
        <p:spPr>
          <a:xfrm>
            <a:off x="566928" y="2880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1" name="Text 35"/>
          <p:cNvSpPr txBox="1"/>
          <p:nvPr/>
        </p:nvSpPr>
        <p:spPr>
          <a:xfrm>
            <a:off x="987552" y="2880360"/>
            <a:ext cx="1691640"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Approval gate</a:t>
            </a:r>
            <a:endParaRPr lang="en-US" sz="1150" dirty="0"/>
          </a:p>
        </p:txBody>
      </p:sp>
      <p:pic>
        <p:nvPicPr>
          <p:cNvPr id="42" name="Image 3" descr="preencoded.png"/>
          <p:cNvPicPr>
            <a:picLocks noChangeAspect="1"/>
          </p:cNvPicPr>
          <p:nvPr/>
        </p:nvPicPr>
        <p:blipFill>
          <a:blip r:embed="rId6"/>
          <a:stretch>
            <a:fillRect/>
          </a:stretch>
        </p:blipFill>
        <p:spPr>
          <a:xfrm>
            <a:off x="2761488" y="2926080"/>
            <a:ext cx="219456" cy="219456"/>
          </a:xfrm>
          <a:prstGeom prst="rect">
            <a:avLst/>
          </a:prstGeom>
        </p:spPr>
      </p:pic>
      <p:sp>
        <p:nvSpPr>
          <p:cNvPr id="43" name="Text 36"/>
          <p:cNvSpPr txBox="1"/>
          <p:nvPr/>
        </p:nvSpPr>
        <p:spPr>
          <a:xfrm>
            <a:off x="566928" y="3300984"/>
            <a:ext cx="2432304" cy="63093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Sign-off by the authority for methodological change; security and data protection in parallel.</a:t>
            </a:r>
            <a:endParaRPr lang="en-US" sz="950" dirty="0"/>
          </a:p>
        </p:txBody>
      </p:sp>
      <p:sp>
        <p:nvSpPr>
          <p:cNvPr id="44" name="Shape 37"/>
          <p:cNvSpPr/>
          <p:nvPr/>
        </p:nvSpPr>
        <p:spPr>
          <a:xfrm>
            <a:off x="3118104" y="3387852"/>
            <a:ext cx="118872" cy="0"/>
          </a:xfrm>
          <a:prstGeom prst="line">
            <a:avLst/>
          </a:prstGeom>
          <a:noFill/>
          <a:ln w="15875">
            <a:solidFill>
              <a:srgbClr val="5E6964"/>
            </a:solidFill>
            <a:prstDash val="solid"/>
            <a:tailEnd type="triangle"/>
          </a:ln>
        </p:spPr>
      </p:sp>
      <p:sp>
        <p:nvSpPr>
          <p:cNvPr id="45" name="Shape 38"/>
          <p:cNvSpPr/>
          <p:nvPr/>
        </p:nvSpPr>
        <p:spPr>
          <a:xfrm>
            <a:off x="3246120" y="2770632"/>
            <a:ext cx="2651760" cy="1234440"/>
          </a:xfrm>
          <a:prstGeom prst="roundRect">
            <a:avLst>
              <a:gd name="adj" fmla="val 5926"/>
            </a:avLst>
          </a:prstGeom>
          <a:solidFill>
            <a:srgbClr val="F4F7F5"/>
          </a:solidFill>
          <a:ln w="9525">
            <a:solidFill>
              <a:srgbClr val="D5DED9"/>
            </a:solidFill>
            <a:prstDash val="solid"/>
          </a:ln>
        </p:spPr>
      </p:sp>
      <p:sp>
        <p:nvSpPr>
          <p:cNvPr id="46" name="Shape 39"/>
          <p:cNvSpPr/>
          <p:nvPr/>
        </p:nvSpPr>
        <p:spPr>
          <a:xfrm>
            <a:off x="3355848" y="2880360"/>
            <a:ext cx="329184" cy="329184"/>
          </a:xfrm>
          <a:prstGeom prst="ellipse">
            <a:avLst/>
          </a:prstGeom>
          <a:solidFill>
            <a:srgbClr val="D49A00"/>
          </a:solidFill>
          <a:ln/>
        </p:spPr>
      </p:sp>
      <p:sp>
        <p:nvSpPr>
          <p:cNvPr id="47" name="Text 40"/>
          <p:cNvSpPr txBox="1"/>
          <p:nvPr/>
        </p:nvSpPr>
        <p:spPr>
          <a:xfrm>
            <a:off x="3355848" y="2880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8" name="Text 41"/>
          <p:cNvSpPr txBox="1"/>
          <p:nvPr/>
        </p:nvSpPr>
        <p:spPr>
          <a:xfrm>
            <a:off x="3776472" y="2880360"/>
            <a:ext cx="1691640"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Scheduled revalidation</a:t>
            </a:r>
            <a:endParaRPr lang="en-US" sz="1150" dirty="0"/>
          </a:p>
        </p:txBody>
      </p:sp>
      <p:pic>
        <p:nvPicPr>
          <p:cNvPr id="49" name="Image 4" descr="preencoded.png"/>
          <p:cNvPicPr>
            <a:picLocks noChangeAspect="1"/>
          </p:cNvPicPr>
          <p:nvPr/>
        </p:nvPicPr>
        <p:blipFill>
          <a:blip r:embed="rId7"/>
          <a:stretch>
            <a:fillRect/>
          </a:stretch>
        </p:blipFill>
        <p:spPr>
          <a:xfrm>
            <a:off x="5550408" y="2926080"/>
            <a:ext cx="219456" cy="219456"/>
          </a:xfrm>
          <a:prstGeom prst="rect">
            <a:avLst/>
          </a:prstGeom>
        </p:spPr>
      </p:pic>
      <p:sp>
        <p:nvSpPr>
          <p:cNvPr id="50" name="Text 42"/>
          <p:cNvSpPr txBox="1"/>
          <p:nvPr/>
        </p:nvSpPr>
        <p:spPr>
          <a:xfrm>
            <a:off x="3355848" y="3300984"/>
            <a:ext cx="2432304" cy="63093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Re-test against the gold standard on a fixed calendar; monitor drift in between.</a:t>
            </a:r>
            <a:endParaRPr lang="en-US" sz="950" dirty="0"/>
          </a:p>
        </p:txBody>
      </p:sp>
      <p:sp>
        <p:nvSpPr>
          <p:cNvPr id="51" name="Shape 43"/>
          <p:cNvSpPr/>
          <p:nvPr/>
        </p:nvSpPr>
        <p:spPr>
          <a:xfrm>
            <a:off x="5907024" y="3387852"/>
            <a:ext cx="118872" cy="0"/>
          </a:xfrm>
          <a:prstGeom prst="line">
            <a:avLst/>
          </a:prstGeom>
          <a:noFill/>
          <a:ln w="15875">
            <a:solidFill>
              <a:srgbClr val="5E6964"/>
            </a:solidFill>
            <a:prstDash val="solid"/>
            <a:tailEnd type="triangle"/>
          </a:ln>
        </p:spPr>
      </p:sp>
      <p:sp>
        <p:nvSpPr>
          <p:cNvPr id="52" name="Shape 44"/>
          <p:cNvSpPr/>
          <p:nvPr/>
        </p:nvSpPr>
        <p:spPr>
          <a:xfrm>
            <a:off x="6035040" y="2770632"/>
            <a:ext cx="2651760" cy="1234440"/>
          </a:xfrm>
          <a:prstGeom prst="roundRect">
            <a:avLst>
              <a:gd name="adj" fmla="val 5926"/>
            </a:avLst>
          </a:prstGeom>
          <a:solidFill>
            <a:srgbClr val="F4F7F5"/>
          </a:solidFill>
          <a:ln w="9525">
            <a:solidFill>
              <a:srgbClr val="D5DED9"/>
            </a:solidFill>
            <a:prstDash val="solid"/>
          </a:ln>
        </p:spPr>
      </p:sp>
      <p:sp>
        <p:nvSpPr>
          <p:cNvPr id="53" name="Shape 45"/>
          <p:cNvSpPr/>
          <p:nvPr/>
        </p:nvSpPr>
        <p:spPr>
          <a:xfrm>
            <a:off x="6144768" y="2880360"/>
            <a:ext cx="329184" cy="329184"/>
          </a:xfrm>
          <a:prstGeom prst="ellipse">
            <a:avLst/>
          </a:prstGeom>
          <a:solidFill>
            <a:srgbClr val="D49A00"/>
          </a:solidFill>
          <a:ln/>
        </p:spPr>
      </p:sp>
      <p:sp>
        <p:nvSpPr>
          <p:cNvPr id="54" name="Text 46"/>
          <p:cNvSpPr txBox="1"/>
          <p:nvPr/>
        </p:nvSpPr>
        <p:spPr>
          <a:xfrm>
            <a:off x="6144768" y="2880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5" name="Text 47"/>
          <p:cNvSpPr txBox="1"/>
          <p:nvPr/>
        </p:nvSpPr>
        <p:spPr>
          <a:xfrm>
            <a:off x="6565392" y="2880360"/>
            <a:ext cx="1691640"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Rollback and retirement</a:t>
            </a:r>
            <a:endParaRPr lang="en-US" sz="1150" dirty="0"/>
          </a:p>
        </p:txBody>
      </p:sp>
      <p:pic>
        <p:nvPicPr>
          <p:cNvPr id="56" name="Image 5" descr="preencoded.png"/>
          <p:cNvPicPr>
            <a:picLocks noChangeAspect="1"/>
          </p:cNvPicPr>
          <p:nvPr/>
        </p:nvPicPr>
        <p:blipFill>
          <a:blip r:embed="rId8"/>
          <a:stretch>
            <a:fillRect/>
          </a:stretch>
        </p:blipFill>
        <p:spPr>
          <a:xfrm>
            <a:off x="8339328" y="2926080"/>
            <a:ext cx="219456" cy="219456"/>
          </a:xfrm>
          <a:prstGeom prst="rect">
            <a:avLst/>
          </a:prstGeom>
        </p:spPr>
      </p:pic>
      <p:sp>
        <p:nvSpPr>
          <p:cNvPr id="57" name="Text 48"/>
          <p:cNvSpPr txBox="1"/>
          <p:nvPr/>
        </p:nvSpPr>
        <p:spPr>
          <a:xfrm>
            <a:off x="6144768" y="3300984"/>
            <a:ext cx="2432304" cy="630936"/>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tested path back to the previous model or manual process; a review date on every model.</a:t>
            </a:r>
            <a:endParaRPr lang="en-US" sz="950" dirty="0"/>
          </a:p>
        </p:txBody>
      </p:sp>
      <p:sp>
        <p:nvSpPr>
          <p:cNvPr id="58" name="Shape 49"/>
          <p:cNvSpPr/>
          <p:nvPr/>
        </p:nvSpPr>
        <p:spPr>
          <a:xfrm>
            <a:off x="457200" y="4160520"/>
            <a:ext cx="8229600" cy="438912"/>
          </a:xfrm>
          <a:prstGeom prst="roundRect">
            <a:avLst>
              <a:gd name="adj" fmla="val 12500"/>
            </a:avLst>
          </a:prstGeom>
          <a:solidFill>
            <a:srgbClr val="D49A00">
              <a:alpha val="13000"/>
            </a:srgbClr>
          </a:solidFill>
          <a:ln w="12700">
            <a:solidFill>
              <a:srgbClr val="D49A00"/>
            </a:solidFill>
            <a:prstDash val="solid"/>
          </a:ln>
        </p:spPr>
      </p:sp>
      <p:sp>
        <p:nvSpPr>
          <p:cNvPr id="59" name="Shape 50"/>
          <p:cNvSpPr/>
          <p:nvPr/>
        </p:nvSpPr>
        <p:spPr>
          <a:xfrm>
            <a:off x="566928" y="4233672"/>
            <a:ext cx="292608" cy="292608"/>
          </a:xfrm>
          <a:prstGeom prst="ellipse">
            <a:avLst/>
          </a:prstGeom>
          <a:solidFill>
            <a:srgbClr val="D49A00">
              <a:alpha val="22000"/>
            </a:srgbClr>
          </a:solidFill>
          <a:ln/>
        </p:spPr>
      </p:sp>
      <p:pic>
        <p:nvPicPr>
          <p:cNvPr id="60" name="Image 6" descr="preencoded.png"/>
          <p:cNvPicPr>
            <a:picLocks noChangeAspect="1"/>
          </p:cNvPicPr>
          <p:nvPr/>
        </p:nvPicPr>
        <p:blipFill>
          <a:blip r:embed="rId8"/>
          <a:stretch>
            <a:fillRect/>
          </a:stretch>
        </p:blipFill>
        <p:spPr>
          <a:xfrm>
            <a:off x="637154" y="4303898"/>
            <a:ext cx="152156" cy="152156"/>
          </a:xfrm>
          <a:prstGeom prst="rect">
            <a:avLst/>
          </a:prstGeom>
        </p:spPr>
      </p:pic>
      <p:sp>
        <p:nvSpPr>
          <p:cNvPr id="61" name="Text 51"/>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00" b="1" dirty="0">
                <a:solidFill>
                  <a:srgbClr val="8A6400"/>
                </a:solidFill>
                <a:latin typeface="Calibri" pitchFamily="34" charset="0"/>
                <a:ea typeface="Calibri" pitchFamily="34" charset="-122"/>
                <a:cs typeface="Calibri" pitchFamily="34" charset="-120"/>
              </a:rPr>
              <a:t>Reuse what you have.  </a:t>
            </a:r>
            <a:r>
              <a:rPr lang="en-US" sz="1000" dirty="0">
                <a:solidFill>
                  <a:srgbClr val="231F20"/>
                </a:solidFill>
                <a:latin typeface="Calibri" pitchFamily="34" charset="0"/>
                <a:ea typeface="Calibri" pitchFamily="34" charset="-122"/>
                <a:cs typeface="Calibri" pitchFamily="34" charset="-120"/>
              </a:rPr>
              <a:t>Extend your existing methodological change process and quality reviews to models, rather than creating a parallel AI body that competes for the same people.</a:t>
            </a:r>
            <a:endParaRPr lang="en-US" sz="1000" dirty="0"/>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PROCESS INTEGRATION</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AI inside the statistical production process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Mapped onto GSBPM phases, with the level of human oversight each warrants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44</a:t>
            </a:r>
            <a:endParaRPr lang="en-US" sz="850" dirty="0"/>
          </a:p>
        </p:txBody>
      </p:sp>
      <p:sp>
        <p:nvSpPr>
          <p:cNvPr id="18" name="Shape 15"/>
          <p:cNvSpPr/>
          <p:nvPr/>
        </p:nvSpPr>
        <p:spPr>
          <a:xfrm>
            <a:off x="457200" y="1325880"/>
            <a:ext cx="1988820" cy="329184"/>
          </a:xfrm>
          <a:prstGeom prst="homePlate">
            <a:avLst/>
          </a:prstGeom>
          <a:solidFill>
            <a:srgbClr val="00A86A"/>
          </a:solidFill>
          <a:ln/>
        </p:spPr>
      </p:sp>
      <p:sp>
        <p:nvSpPr>
          <p:cNvPr id="19" name="Text 16"/>
          <p:cNvSpPr txBox="1"/>
          <p:nvPr/>
        </p:nvSpPr>
        <p:spPr>
          <a:xfrm>
            <a:off x="594360" y="1325880"/>
            <a:ext cx="1714500" cy="329184"/>
          </a:xfrm>
          <a:prstGeom prst="rect">
            <a:avLst/>
          </a:prstGeom>
          <a:noFill/>
          <a:ln/>
        </p:spPr>
        <p:txBody>
          <a:bodyPr wrap="square" lIns="0" tIns="0" rIns="0" bIns="0" rtlCol="0" anchor="ctr"/>
          <a:lstStyle/>
          <a:p>
            <a:pPr marL="0" indent="0">
              <a:buNone/>
            </a:pPr>
            <a:r>
              <a:rPr lang="en-US" sz="1050" b="1" kern="0" spc="150" dirty="0">
                <a:solidFill>
                  <a:srgbClr val="FFFFFF"/>
                </a:solidFill>
                <a:latin typeface="Calibri" pitchFamily="34" charset="0"/>
                <a:ea typeface="Calibri" pitchFamily="34" charset="-122"/>
                <a:cs typeface="Calibri" pitchFamily="34" charset="-120"/>
              </a:rPr>
              <a:t>1  COLLECT</a:t>
            </a:r>
            <a:endParaRPr lang="en-US" sz="1050" dirty="0"/>
          </a:p>
        </p:txBody>
      </p:sp>
      <p:sp>
        <p:nvSpPr>
          <p:cNvPr id="20" name="Shape 17"/>
          <p:cNvSpPr/>
          <p:nvPr/>
        </p:nvSpPr>
        <p:spPr>
          <a:xfrm>
            <a:off x="457200" y="1719072"/>
            <a:ext cx="1897380" cy="1170432"/>
          </a:xfrm>
          <a:prstGeom prst="roundRect">
            <a:avLst>
              <a:gd name="adj" fmla="val 6250"/>
            </a:avLst>
          </a:prstGeom>
          <a:solidFill>
            <a:srgbClr val="F4F7F5"/>
          </a:solidFill>
          <a:ln w="9525">
            <a:solidFill>
              <a:srgbClr val="D5DED9"/>
            </a:solidFill>
            <a:prstDash val="solid"/>
          </a:ln>
        </p:spPr>
      </p:sp>
      <p:pic>
        <p:nvPicPr>
          <p:cNvPr id="21" name="Image 0" descr="preencoded.png"/>
          <p:cNvPicPr>
            <a:picLocks noChangeAspect="1"/>
          </p:cNvPicPr>
          <p:nvPr/>
        </p:nvPicPr>
        <p:blipFill>
          <a:blip r:embed="rId3"/>
          <a:stretch>
            <a:fillRect/>
          </a:stretch>
        </p:blipFill>
        <p:spPr>
          <a:xfrm>
            <a:off x="566928" y="1837944"/>
            <a:ext cx="137160" cy="137160"/>
          </a:xfrm>
          <a:prstGeom prst="rect">
            <a:avLst/>
          </a:prstGeom>
        </p:spPr>
      </p:pic>
      <p:sp>
        <p:nvSpPr>
          <p:cNvPr id="22" name="Text 18"/>
          <p:cNvSpPr txBox="1"/>
          <p:nvPr/>
        </p:nvSpPr>
        <p:spPr>
          <a:xfrm>
            <a:off x="777240" y="1810512"/>
            <a:ext cx="1504188"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Web and scanner data</a:t>
            </a:r>
            <a:endParaRPr lang="en-US" sz="950" dirty="0"/>
          </a:p>
        </p:txBody>
      </p:sp>
      <p:pic>
        <p:nvPicPr>
          <p:cNvPr id="23" name="Image 1" descr="preencoded.png"/>
          <p:cNvPicPr>
            <a:picLocks noChangeAspect="1"/>
          </p:cNvPicPr>
          <p:nvPr/>
        </p:nvPicPr>
        <p:blipFill>
          <a:blip r:embed="rId3"/>
          <a:stretch>
            <a:fillRect/>
          </a:stretch>
        </p:blipFill>
        <p:spPr>
          <a:xfrm>
            <a:off x="566928" y="2112264"/>
            <a:ext cx="137160" cy="137160"/>
          </a:xfrm>
          <a:prstGeom prst="rect">
            <a:avLst/>
          </a:prstGeom>
        </p:spPr>
      </p:pic>
      <p:sp>
        <p:nvSpPr>
          <p:cNvPr id="24" name="Text 19"/>
          <p:cNvSpPr txBox="1"/>
          <p:nvPr/>
        </p:nvSpPr>
        <p:spPr>
          <a:xfrm>
            <a:off x="777240" y="2084832"/>
            <a:ext cx="1504188"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Capture of paper forms</a:t>
            </a:r>
            <a:endParaRPr lang="en-US" sz="950" dirty="0"/>
          </a:p>
        </p:txBody>
      </p:sp>
      <p:pic>
        <p:nvPicPr>
          <p:cNvPr id="25" name="Image 2" descr="preencoded.png"/>
          <p:cNvPicPr>
            <a:picLocks noChangeAspect="1"/>
          </p:cNvPicPr>
          <p:nvPr/>
        </p:nvPicPr>
        <p:blipFill>
          <a:blip r:embed="rId3"/>
          <a:stretch>
            <a:fillRect/>
          </a:stretch>
        </p:blipFill>
        <p:spPr>
          <a:xfrm>
            <a:off x="566928" y="2386584"/>
            <a:ext cx="137160" cy="137160"/>
          </a:xfrm>
          <a:prstGeom prst="rect">
            <a:avLst/>
          </a:prstGeom>
        </p:spPr>
      </p:pic>
      <p:sp>
        <p:nvSpPr>
          <p:cNvPr id="26" name="Text 20"/>
          <p:cNvSpPr txBox="1"/>
          <p:nvPr/>
        </p:nvSpPr>
        <p:spPr>
          <a:xfrm>
            <a:off x="777240" y="2359152"/>
            <a:ext cx="1504188"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Response-propensity models</a:t>
            </a:r>
            <a:endParaRPr lang="en-US" sz="950" dirty="0"/>
          </a:p>
        </p:txBody>
      </p:sp>
      <p:sp>
        <p:nvSpPr>
          <p:cNvPr id="27" name="Text 21"/>
          <p:cNvSpPr txBox="1"/>
          <p:nvPr/>
        </p:nvSpPr>
        <p:spPr>
          <a:xfrm>
            <a:off x="566928" y="2651760"/>
            <a:ext cx="731520" cy="182880"/>
          </a:xfrm>
          <a:prstGeom prst="rect">
            <a:avLst/>
          </a:prstGeom>
          <a:noFill/>
          <a:ln/>
        </p:spPr>
        <p:txBody>
          <a:bodyPr wrap="square" lIns="0" tIns="0" rIns="0" bIns="0" rtlCol="0" anchor="ctr"/>
          <a:lstStyle/>
          <a:p>
            <a:pPr marL="0" indent="0">
              <a:buNone/>
            </a:pPr>
            <a:r>
              <a:rPr lang="en-US" sz="750" b="1" dirty="0">
                <a:solidFill>
                  <a:srgbClr val="5E6964"/>
                </a:solidFill>
                <a:latin typeface="Calibri" pitchFamily="34" charset="0"/>
                <a:ea typeface="Calibri" pitchFamily="34" charset="-122"/>
                <a:cs typeface="Calibri" pitchFamily="34" charset="-120"/>
              </a:rPr>
              <a:t>OVERSIGHT</a:t>
            </a:r>
            <a:endParaRPr lang="en-US" sz="750" dirty="0"/>
          </a:p>
        </p:txBody>
      </p:sp>
      <p:sp>
        <p:nvSpPr>
          <p:cNvPr id="28" name="Text 22"/>
          <p:cNvSpPr txBox="1"/>
          <p:nvPr/>
        </p:nvSpPr>
        <p:spPr>
          <a:xfrm>
            <a:off x="1234440" y="2651760"/>
            <a:ext cx="1074420" cy="182880"/>
          </a:xfrm>
          <a:prstGeom prst="rect">
            <a:avLst/>
          </a:prstGeom>
          <a:noFill/>
          <a:ln/>
        </p:spPr>
        <p:txBody>
          <a:bodyPr wrap="square" lIns="0" tIns="0" rIns="0" bIns="0" rtlCol="0" anchor="ctr"/>
          <a:lstStyle/>
          <a:p>
            <a:pPr marL="0" indent="0">
              <a:buNone/>
            </a:pPr>
            <a:r>
              <a:rPr lang="en-US" sz="900" b="1" dirty="0">
                <a:solidFill>
                  <a:srgbClr val="00A86A"/>
                </a:solidFill>
                <a:latin typeface="Calibri" pitchFamily="34" charset="0"/>
                <a:ea typeface="Calibri" pitchFamily="34" charset="-122"/>
                <a:cs typeface="Calibri" pitchFamily="34" charset="-120"/>
              </a:rPr>
              <a:t>Assisted</a:t>
            </a:r>
            <a:endParaRPr lang="en-US" sz="900" dirty="0"/>
          </a:p>
        </p:txBody>
      </p:sp>
      <p:sp>
        <p:nvSpPr>
          <p:cNvPr id="29" name="Shape 23"/>
          <p:cNvSpPr/>
          <p:nvPr/>
        </p:nvSpPr>
        <p:spPr>
          <a:xfrm>
            <a:off x="2537460" y="1325880"/>
            <a:ext cx="1988820" cy="329184"/>
          </a:xfrm>
          <a:prstGeom prst="homePlate">
            <a:avLst/>
          </a:prstGeom>
          <a:solidFill>
            <a:srgbClr val="00704A"/>
          </a:solidFill>
          <a:ln/>
        </p:spPr>
      </p:sp>
      <p:sp>
        <p:nvSpPr>
          <p:cNvPr id="30" name="Text 24"/>
          <p:cNvSpPr txBox="1"/>
          <p:nvPr/>
        </p:nvSpPr>
        <p:spPr>
          <a:xfrm>
            <a:off x="2674620" y="1325880"/>
            <a:ext cx="1714500" cy="329184"/>
          </a:xfrm>
          <a:prstGeom prst="rect">
            <a:avLst/>
          </a:prstGeom>
          <a:noFill/>
          <a:ln/>
        </p:spPr>
        <p:txBody>
          <a:bodyPr wrap="square" lIns="0" tIns="0" rIns="0" bIns="0" rtlCol="0" anchor="ctr"/>
          <a:lstStyle/>
          <a:p>
            <a:pPr marL="0" indent="0">
              <a:buNone/>
            </a:pPr>
            <a:r>
              <a:rPr lang="en-US" sz="1050" b="1" kern="0" spc="150" dirty="0">
                <a:solidFill>
                  <a:srgbClr val="FFFFFF"/>
                </a:solidFill>
                <a:latin typeface="Calibri" pitchFamily="34" charset="0"/>
                <a:ea typeface="Calibri" pitchFamily="34" charset="-122"/>
                <a:cs typeface="Calibri" pitchFamily="34" charset="-120"/>
              </a:rPr>
              <a:t>2  PROCESS</a:t>
            </a:r>
            <a:endParaRPr lang="en-US" sz="1050" dirty="0"/>
          </a:p>
        </p:txBody>
      </p:sp>
      <p:sp>
        <p:nvSpPr>
          <p:cNvPr id="31" name="Shape 25"/>
          <p:cNvSpPr/>
          <p:nvPr/>
        </p:nvSpPr>
        <p:spPr>
          <a:xfrm>
            <a:off x="2537460" y="1719072"/>
            <a:ext cx="1897380" cy="1170432"/>
          </a:xfrm>
          <a:prstGeom prst="roundRect">
            <a:avLst>
              <a:gd name="adj" fmla="val 6250"/>
            </a:avLst>
          </a:prstGeom>
          <a:solidFill>
            <a:srgbClr val="F4F7F5"/>
          </a:solidFill>
          <a:ln w="9525">
            <a:solidFill>
              <a:srgbClr val="D5DED9"/>
            </a:solidFill>
            <a:prstDash val="solid"/>
          </a:ln>
        </p:spPr>
      </p:sp>
      <p:pic>
        <p:nvPicPr>
          <p:cNvPr id="32" name="Image 3" descr="preencoded.png"/>
          <p:cNvPicPr>
            <a:picLocks noChangeAspect="1"/>
          </p:cNvPicPr>
          <p:nvPr/>
        </p:nvPicPr>
        <p:blipFill>
          <a:blip r:embed="rId4"/>
          <a:stretch>
            <a:fillRect/>
          </a:stretch>
        </p:blipFill>
        <p:spPr>
          <a:xfrm>
            <a:off x="2647188" y="1837944"/>
            <a:ext cx="137160" cy="137160"/>
          </a:xfrm>
          <a:prstGeom prst="rect">
            <a:avLst/>
          </a:prstGeom>
        </p:spPr>
      </p:pic>
      <p:sp>
        <p:nvSpPr>
          <p:cNvPr id="33" name="Text 26"/>
          <p:cNvSpPr txBox="1"/>
          <p:nvPr/>
        </p:nvSpPr>
        <p:spPr>
          <a:xfrm>
            <a:off x="2857500" y="1810512"/>
            <a:ext cx="1504188"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Automatic coding</a:t>
            </a:r>
            <a:endParaRPr lang="en-US" sz="950" dirty="0"/>
          </a:p>
        </p:txBody>
      </p:sp>
      <p:pic>
        <p:nvPicPr>
          <p:cNvPr id="34" name="Image 4" descr="preencoded.png"/>
          <p:cNvPicPr>
            <a:picLocks noChangeAspect="1"/>
          </p:cNvPicPr>
          <p:nvPr/>
        </p:nvPicPr>
        <p:blipFill>
          <a:blip r:embed="rId4"/>
          <a:stretch>
            <a:fillRect/>
          </a:stretch>
        </p:blipFill>
        <p:spPr>
          <a:xfrm>
            <a:off x="2647188" y="2112264"/>
            <a:ext cx="137160" cy="137160"/>
          </a:xfrm>
          <a:prstGeom prst="rect">
            <a:avLst/>
          </a:prstGeom>
        </p:spPr>
      </p:pic>
      <p:sp>
        <p:nvSpPr>
          <p:cNvPr id="35" name="Text 27"/>
          <p:cNvSpPr txBox="1"/>
          <p:nvPr/>
        </p:nvSpPr>
        <p:spPr>
          <a:xfrm>
            <a:off x="2857500" y="2084832"/>
            <a:ext cx="1504188"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Selective editing</a:t>
            </a:r>
            <a:endParaRPr lang="en-US" sz="950" dirty="0"/>
          </a:p>
        </p:txBody>
      </p:sp>
      <p:pic>
        <p:nvPicPr>
          <p:cNvPr id="36" name="Image 5" descr="preencoded.png"/>
          <p:cNvPicPr>
            <a:picLocks noChangeAspect="1"/>
          </p:cNvPicPr>
          <p:nvPr/>
        </p:nvPicPr>
        <p:blipFill>
          <a:blip r:embed="rId4"/>
          <a:stretch>
            <a:fillRect/>
          </a:stretch>
        </p:blipFill>
        <p:spPr>
          <a:xfrm>
            <a:off x="2647188" y="2386584"/>
            <a:ext cx="137160" cy="137160"/>
          </a:xfrm>
          <a:prstGeom prst="rect">
            <a:avLst/>
          </a:prstGeom>
        </p:spPr>
      </p:pic>
      <p:sp>
        <p:nvSpPr>
          <p:cNvPr id="37" name="Text 28"/>
          <p:cNvSpPr txBox="1"/>
          <p:nvPr/>
        </p:nvSpPr>
        <p:spPr>
          <a:xfrm>
            <a:off x="2857500" y="2359152"/>
            <a:ext cx="1504188"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Imputation, record linkage</a:t>
            </a:r>
            <a:endParaRPr lang="en-US" sz="950" dirty="0"/>
          </a:p>
        </p:txBody>
      </p:sp>
      <p:sp>
        <p:nvSpPr>
          <p:cNvPr id="38" name="Text 29"/>
          <p:cNvSpPr txBox="1"/>
          <p:nvPr/>
        </p:nvSpPr>
        <p:spPr>
          <a:xfrm>
            <a:off x="2647188" y="2651760"/>
            <a:ext cx="731520" cy="182880"/>
          </a:xfrm>
          <a:prstGeom prst="rect">
            <a:avLst/>
          </a:prstGeom>
          <a:noFill/>
          <a:ln/>
        </p:spPr>
        <p:txBody>
          <a:bodyPr wrap="square" lIns="0" tIns="0" rIns="0" bIns="0" rtlCol="0" anchor="ctr"/>
          <a:lstStyle/>
          <a:p>
            <a:pPr marL="0" indent="0">
              <a:buNone/>
            </a:pPr>
            <a:r>
              <a:rPr lang="en-US" sz="750" b="1" dirty="0">
                <a:solidFill>
                  <a:srgbClr val="5E6964"/>
                </a:solidFill>
                <a:latin typeface="Calibri" pitchFamily="34" charset="0"/>
                <a:ea typeface="Calibri" pitchFamily="34" charset="-122"/>
                <a:cs typeface="Calibri" pitchFamily="34" charset="-120"/>
              </a:rPr>
              <a:t>OVERSIGHT</a:t>
            </a:r>
            <a:endParaRPr lang="en-US" sz="750" dirty="0"/>
          </a:p>
        </p:txBody>
      </p:sp>
      <p:sp>
        <p:nvSpPr>
          <p:cNvPr id="39" name="Text 30"/>
          <p:cNvSpPr txBox="1"/>
          <p:nvPr/>
        </p:nvSpPr>
        <p:spPr>
          <a:xfrm>
            <a:off x="3314700" y="2651760"/>
            <a:ext cx="1074420" cy="182880"/>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Supervised automation</a:t>
            </a:r>
            <a:endParaRPr lang="en-US" sz="900" dirty="0"/>
          </a:p>
        </p:txBody>
      </p:sp>
      <p:sp>
        <p:nvSpPr>
          <p:cNvPr id="40" name="Shape 31"/>
          <p:cNvSpPr/>
          <p:nvPr/>
        </p:nvSpPr>
        <p:spPr>
          <a:xfrm>
            <a:off x="4617720" y="1325880"/>
            <a:ext cx="1988820" cy="329184"/>
          </a:xfrm>
          <a:prstGeom prst="homePlate">
            <a:avLst/>
          </a:prstGeom>
          <a:solidFill>
            <a:srgbClr val="0E7C86"/>
          </a:solidFill>
          <a:ln/>
        </p:spPr>
      </p:sp>
      <p:sp>
        <p:nvSpPr>
          <p:cNvPr id="41" name="Text 32"/>
          <p:cNvSpPr txBox="1"/>
          <p:nvPr/>
        </p:nvSpPr>
        <p:spPr>
          <a:xfrm>
            <a:off x="4754880" y="1325880"/>
            <a:ext cx="1714500" cy="329184"/>
          </a:xfrm>
          <a:prstGeom prst="rect">
            <a:avLst/>
          </a:prstGeom>
          <a:noFill/>
          <a:ln/>
        </p:spPr>
        <p:txBody>
          <a:bodyPr wrap="square" lIns="0" tIns="0" rIns="0" bIns="0" rtlCol="0" anchor="ctr"/>
          <a:lstStyle/>
          <a:p>
            <a:pPr marL="0" indent="0">
              <a:buNone/>
            </a:pPr>
            <a:r>
              <a:rPr lang="en-US" sz="1050" b="1" kern="0" spc="150" dirty="0">
                <a:solidFill>
                  <a:srgbClr val="FFFFFF"/>
                </a:solidFill>
                <a:latin typeface="Calibri" pitchFamily="34" charset="0"/>
                <a:ea typeface="Calibri" pitchFamily="34" charset="-122"/>
                <a:cs typeface="Calibri" pitchFamily="34" charset="-120"/>
              </a:rPr>
              <a:t>3  ANALYSE</a:t>
            </a:r>
            <a:endParaRPr lang="en-US" sz="1050" dirty="0"/>
          </a:p>
        </p:txBody>
      </p:sp>
      <p:sp>
        <p:nvSpPr>
          <p:cNvPr id="42" name="Shape 33"/>
          <p:cNvSpPr/>
          <p:nvPr/>
        </p:nvSpPr>
        <p:spPr>
          <a:xfrm>
            <a:off x="4617720" y="1719072"/>
            <a:ext cx="1897380" cy="1170432"/>
          </a:xfrm>
          <a:prstGeom prst="roundRect">
            <a:avLst>
              <a:gd name="adj" fmla="val 6250"/>
            </a:avLst>
          </a:prstGeom>
          <a:solidFill>
            <a:srgbClr val="F4F7F5"/>
          </a:solidFill>
          <a:ln w="9525">
            <a:solidFill>
              <a:srgbClr val="D5DED9"/>
            </a:solidFill>
            <a:prstDash val="solid"/>
          </a:ln>
        </p:spPr>
      </p:sp>
      <p:pic>
        <p:nvPicPr>
          <p:cNvPr id="43" name="Image 6" descr="preencoded.png"/>
          <p:cNvPicPr>
            <a:picLocks noChangeAspect="1"/>
          </p:cNvPicPr>
          <p:nvPr/>
        </p:nvPicPr>
        <p:blipFill>
          <a:blip r:embed="rId5"/>
          <a:stretch>
            <a:fillRect/>
          </a:stretch>
        </p:blipFill>
        <p:spPr>
          <a:xfrm>
            <a:off x="4727448" y="1837944"/>
            <a:ext cx="137160" cy="137160"/>
          </a:xfrm>
          <a:prstGeom prst="rect">
            <a:avLst/>
          </a:prstGeom>
        </p:spPr>
      </p:pic>
      <p:sp>
        <p:nvSpPr>
          <p:cNvPr id="44" name="Text 34"/>
          <p:cNvSpPr txBox="1"/>
          <p:nvPr/>
        </p:nvSpPr>
        <p:spPr>
          <a:xfrm>
            <a:off x="4937760" y="1810512"/>
            <a:ext cx="1504188"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Outlier and anomaly detection</a:t>
            </a:r>
            <a:endParaRPr lang="en-US" sz="950" dirty="0"/>
          </a:p>
        </p:txBody>
      </p:sp>
      <p:pic>
        <p:nvPicPr>
          <p:cNvPr id="45" name="Image 7" descr="preencoded.png"/>
          <p:cNvPicPr>
            <a:picLocks noChangeAspect="1"/>
          </p:cNvPicPr>
          <p:nvPr/>
        </p:nvPicPr>
        <p:blipFill>
          <a:blip r:embed="rId5"/>
          <a:stretch>
            <a:fillRect/>
          </a:stretch>
        </p:blipFill>
        <p:spPr>
          <a:xfrm>
            <a:off x="4727448" y="2112264"/>
            <a:ext cx="137160" cy="137160"/>
          </a:xfrm>
          <a:prstGeom prst="rect">
            <a:avLst/>
          </a:prstGeom>
        </p:spPr>
      </p:pic>
      <p:sp>
        <p:nvSpPr>
          <p:cNvPr id="46" name="Text 35"/>
          <p:cNvSpPr txBox="1"/>
          <p:nvPr/>
        </p:nvSpPr>
        <p:spPr>
          <a:xfrm>
            <a:off x="4937760" y="2084832"/>
            <a:ext cx="1504188"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Plausibility checks</a:t>
            </a:r>
            <a:endParaRPr lang="en-US" sz="950" dirty="0"/>
          </a:p>
        </p:txBody>
      </p:sp>
      <p:pic>
        <p:nvPicPr>
          <p:cNvPr id="47" name="Image 8" descr="preencoded.png"/>
          <p:cNvPicPr>
            <a:picLocks noChangeAspect="1"/>
          </p:cNvPicPr>
          <p:nvPr/>
        </p:nvPicPr>
        <p:blipFill>
          <a:blip r:embed="rId5"/>
          <a:stretch>
            <a:fillRect/>
          </a:stretch>
        </p:blipFill>
        <p:spPr>
          <a:xfrm>
            <a:off x="4727448" y="2386584"/>
            <a:ext cx="137160" cy="137160"/>
          </a:xfrm>
          <a:prstGeom prst="rect">
            <a:avLst/>
          </a:prstGeom>
        </p:spPr>
      </p:pic>
      <p:sp>
        <p:nvSpPr>
          <p:cNvPr id="48" name="Text 36"/>
          <p:cNvSpPr txBox="1"/>
          <p:nvPr/>
        </p:nvSpPr>
        <p:spPr>
          <a:xfrm>
            <a:off x="4937760" y="2359152"/>
            <a:ext cx="1504188"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Disclosure-risk support</a:t>
            </a:r>
            <a:endParaRPr lang="en-US" sz="950" dirty="0"/>
          </a:p>
        </p:txBody>
      </p:sp>
      <p:sp>
        <p:nvSpPr>
          <p:cNvPr id="49" name="Text 37"/>
          <p:cNvSpPr txBox="1"/>
          <p:nvPr/>
        </p:nvSpPr>
        <p:spPr>
          <a:xfrm>
            <a:off x="4727448" y="2651760"/>
            <a:ext cx="731520" cy="182880"/>
          </a:xfrm>
          <a:prstGeom prst="rect">
            <a:avLst/>
          </a:prstGeom>
          <a:noFill/>
          <a:ln/>
        </p:spPr>
        <p:txBody>
          <a:bodyPr wrap="square" lIns="0" tIns="0" rIns="0" bIns="0" rtlCol="0" anchor="ctr"/>
          <a:lstStyle/>
          <a:p>
            <a:pPr marL="0" indent="0">
              <a:buNone/>
            </a:pPr>
            <a:r>
              <a:rPr lang="en-US" sz="750" b="1" dirty="0">
                <a:solidFill>
                  <a:srgbClr val="5E6964"/>
                </a:solidFill>
                <a:latin typeface="Calibri" pitchFamily="34" charset="0"/>
                <a:ea typeface="Calibri" pitchFamily="34" charset="-122"/>
                <a:cs typeface="Calibri" pitchFamily="34" charset="-120"/>
              </a:rPr>
              <a:t>OVERSIGHT</a:t>
            </a:r>
            <a:endParaRPr lang="en-US" sz="750" dirty="0"/>
          </a:p>
        </p:txBody>
      </p:sp>
      <p:sp>
        <p:nvSpPr>
          <p:cNvPr id="50" name="Text 38"/>
          <p:cNvSpPr txBox="1"/>
          <p:nvPr/>
        </p:nvSpPr>
        <p:spPr>
          <a:xfrm>
            <a:off x="5394960" y="2651760"/>
            <a:ext cx="1074420" cy="182880"/>
          </a:xfrm>
          <a:prstGeom prst="rect">
            <a:avLst/>
          </a:prstGeom>
          <a:noFill/>
          <a:ln/>
        </p:spPr>
        <p:txBody>
          <a:bodyPr wrap="square" lIns="0" tIns="0" rIns="0" bIns="0" rtlCol="0" anchor="ctr"/>
          <a:lstStyle/>
          <a:p>
            <a:pPr marL="0" indent="0">
              <a:buNone/>
            </a:pPr>
            <a:r>
              <a:rPr lang="en-US" sz="900" b="1" dirty="0">
                <a:solidFill>
                  <a:srgbClr val="0E7C86"/>
                </a:solidFill>
                <a:latin typeface="Calibri" pitchFamily="34" charset="0"/>
                <a:ea typeface="Calibri" pitchFamily="34" charset="-122"/>
                <a:cs typeface="Calibri" pitchFamily="34" charset="-120"/>
              </a:rPr>
              <a:t>Human decides</a:t>
            </a:r>
            <a:endParaRPr lang="en-US" sz="900" dirty="0"/>
          </a:p>
        </p:txBody>
      </p:sp>
      <p:sp>
        <p:nvSpPr>
          <p:cNvPr id="51" name="Shape 39"/>
          <p:cNvSpPr/>
          <p:nvPr/>
        </p:nvSpPr>
        <p:spPr>
          <a:xfrm>
            <a:off x="6697980" y="1325880"/>
            <a:ext cx="1988820" cy="329184"/>
          </a:xfrm>
          <a:prstGeom prst="homePlate">
            <a:avLst/>
          </a:prstGeom>
          <a:solidFill>
            <a:srgbClr val="D49A00"/>
          </a:solidFill>
          <a:ln/>
        </p:spPr>
      </p:sp>
      <p:sp>
        <p:nvSpPr>
          <p:cNvPr id="52" name="Text 40"/>
          <p:cNvSpPr txBox="1"/>
          <p:nvPr/>
        </p:nvSpPr>
        <p:spPr>
          <a:xfrm>
            <a:off x="6835140" y="1325880"/>
            <a:ext cx="1714500" cy="329184"/>
          </a:xfrm>
          <a:prstGeom prst="rect">
            <a:avLst/>
          </a:prstGeom>
          <a:noFill/>
          <a:ln/>
        </p:spPr>
        <p:txBody>
          <a:bodyPr wrap="square" lIns="0" tIns="0" rIns="0" bIns="0" rtlCol="0" anchor="ctr"/>
          <a:lstStyle/>
          <a:p>
            <a:pPr marL="0" indent="0">
              <a:buNone/>
            </a:pPr>
            <a:r>
              <a:rPr lang="en-US" sz="1050" b="1" kern="0" spc="150" dirty="0">
                <a:solidFill>
                  <a:srgbClr val="FFFFFF"/>
                </a:solidFill>
                <a:latin typeface="Calibri" pitchFamily="34" charset="0"/>
                <a:ea typeface="Calibri" pitchFamily="34" charset="-122"/>
                <a:cs typeface="Calibri" pitchFamily="34" charset="-120"/>
              </a:rPr>
              <a:t>4  DISSEMINATE</a:t>
            </a:r>
            <a:endParaRPr lang="en-US" sz="1050" dirty="0"/>
          </a:p>
        </p:txBody>
      </p:sp>
      <p:sp>
        <p:nvSpPr>
          <p:cNvPr id="53" name="Shape 41"/>
          <p:cNvSpPr/>
          <p:nvPr/>
        </p:nvSpPr>
        <p:spPr>
          <a:xfrm>
            <a:off x="6697980" y="1719072"/>
            <a:ext cx="1897380" cy="1170432"/>
          </a:xfrm>
          <a:prstGeom prst="roundRect">
            <a:avLst>
              <a:gd name="adj" fmla="val 6250"/>
            </a:avLst>
          </a:prstGeom>
          <a:solidFill>
            <a:srgbClr val="F4F7F5"/>
          </a:solidFill>
          <a:ln w="9525">
            <a:solidFill>
              <a:srgbClr val="D5DED9"/>
            </a:solidFill>
            <a:prstDash val="solid"/>
          </a:ln>
        </p:spPr>
      </p:sp>
      <p:pic>
        <p:nvPicPr>
          <p:cNvPr id="54" name="Image 9" descr="preencoded.png"/>
          <p:cNvPicPr>
            <a:picLocks noChangeAspect="1"/>
          </p:cNvPicPr>
          <p:nvPr/>
        </p:nvPicPr>
        <p:blipFill>
          <a:blip r:embed="rId6"/>
          <a:stretch>
            <a:fillRect/>
          </a:stretch>
        </p:blipFill>
        <p:spPr>
          <a:xfrm>
            <a:off x="6807708" y="1837944"/>
            <a:ext cx="137160" cy="137160"/>
          </a:xfrm>
          <a:prstGeom prst="rect">
            <a:avLst/>
          </a:prstGeom>
        </p:spPr>
      </p:pic>
      <p:sp>
        <p:nvSpPr>
          <p:cNvPr id="55" name="Text 42"/>
          <p:cNvSpPr txBox="1"/>
          <p:nvPr/>
        </p:nvSpPr>
        <p:spPr>
          <a:xfrm>
            <a:off x="7018020" y="1810512"/>
            <a:ext cx="1504188"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Metadata and abstracts</a:t>
            </a:r>
            <a:endParaRPr lang="en-US" sz="950" dirty="0"/>
          </a:p>
        </p:txBody>
      </p:sp>
      <p:pic>
        <p:nvPicPr>
          <p:cNvPr id="56" name="Image 10" descr="preencoded.png"/>
          <p:cNvPicPr>
            <a:picLocks noChangeAspect="1"/>
          </p:cNvPicPr>
          <p:nvPr/>
        </p:nvPicPr>
        <p:blipFill>
          <a:blip r:embed="rId6"/>
          <a:stretch>
            <a:fillRect/>
          </a:stretch>
        </p:blipFill>
        <p:spPr>
          <a:xfrm>
            <a:off x="6807708" y="2112264"/>
            <a:ext cx="137160" cy="137160"/>
          </a:xfrm>
          <a:prstGeom prst="rect">
            <a:avLst/>
          </a:prstGeom>
        </p:spPr>
      </p:pic>
      <p:sp>
        <p:nvSpPr>
          <p:cNvPr id="57" name="Text 43"/>
          <p:cNvSpPr txBox="1"/>
          <p:nvPr/>
        </p:nvSpPr>
        <p:spPr>
          <a:xfrm>
            <a:off x="7018020" y="2084832"/>
            <a:ext cx="1504188"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Translation</a:t>
            </a:r>
            <a:endParaRPr lang="en-US" sz="950" dirty="0"/>
          </a:p>
        </p:txBody>
      </p:sp>
      <p:pic>
        <p:nvPicPr>
          <p:cNvPr id="58" name="Image 11" descr="preencoded.png"/>
          <p:cNvPicPr>
            <a:picLocks noChangeAspect="1"/>
          </p:cNvPicPr>
          <p:nvPr/>
        </p:nvPicPr>
        <p:blipFill>
          <a:blip r:embed="rId6"/>
          <a:stretch>
            <a:fillRect/>
          </a:stretch>
        </p:blipFill>
        <p:spPr>
          <a:xfrm>
            <a:off x="6807708" y="2386584"/>
            <a:ext cx="137160" cy="137160"/>
          </a:xfrm>
          <a:prstGeom prst="rect">
            <a:avLst/>
          </a:prstGeom>
        </p:spPr>
      </p:pic>
      <p:sp>
        <p:nvSpPr>
          <p:cNvPr id="59" name="Text 44"/>
          <p:cNvSpPr txBox="1"/>
          <p:nvPr/>
        </p:nvSpPr>
        <p:spPr>
          <a:xfrm>
            <a:off x="7018020" y="2359152"/>
            <a:ext cx="1504188" cy="2743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Search over archives</a:t>
            </a:r>
            <a:endParaRPr lang="en-US" sz="950" dirty="0"/>
          </a:p>
        </p:txBody>
      </p:sp>
      <p:sp>
        <p:nvSpPr>
          <p:cNvPr id="60" name="Text 45"/>
          <p:cNvSpPr txBox="1"/>
          <p:nvPr/>
        </p:nvSpPr>
        <p:spPr>
          <a:xfrm>
            <a:off x="6807708" y="2651760"/>
            <a:ext cx="731520" cy="182880"/>
          </a:xfrm>
          <a:prstGeom prst="rect">
            <a:avLst/>
          </a:prstGeom>
          <a:noFill/>
          <a:ln/>
        </p:spPr>
        <p:txBody>
          <a:bodyPr wrap="square" lIns="0" tIns="0" rIns="0" bIns="0" rtlCol="0" anchor="ctr"/>
          <a:lstStyle/>
          <a:p>
            <a:pPr marL="0" indent="0">
              <a:buNone/>
            </a:pPr>
            <a:r>
              <a:rPr lang="en-US" sz="750" b="1" dirty="0">
                <a:solidFill>
                  <a:srgbClr val="5E6964"/>
                </a:solidFill>
                <a:latin typeface="Calibri" pitchFamily="34" charset="0"/>
                <a:ea typeface="Calibri" pitchFamily="34" charset="-122"/>
                <a:cs typeface="Calibri" pitchFamily="34" charset="-120"/>
              </a:rPr>
              <a:t>OVERSIGHT</a:t>
            </a:r>
            <a:endParaRPr lang="en-US" sz="750" dirty="0"/>
          </a:p>
        </p:txBody>
      </p:sp>
      <p:sp>
        <p:nvSpPr>
          <p:cNvPr id="61" name="Text 46"/>
          <p:cNvSpPr txBox="1"/>
          <p:nvPr/>
        </p:nvSpPr>
        <p:spPr>
          <a:xfrm>
            <a:off x="7475220" y="2651760"/>
            <a:ext cx="1074420" cy="182880"/>
          </a:xfrm>
          <a:prstGeom prst="rect">
            <a:avLst/>
          </a:prstGeom>
          <a:noFill/>
          <a:ln/>
        </p:spPr>
        <p:txBody>
          <a:bodyPr wrap="square" lIns="0" tIns="0" rIns="0" bIns="0" rtlCol="0" anchor="ctr"/>
          <a:lstStyle/>
          <a:p>
            <a:pPr marL="0" indent="0">
              <a:buNone/>
            </a:pPr>
            <a:r>
              <a:rPr lang="en-US" sz="900" b="1" dirty="0">
                <a:solidFill>
                  <a:srgbClr val="8A6400"/>
                </a:solidFill>
                <a:latin typeface="Calibri" pitchFamily="34" charset="0"/>
                <a:ea typeface="Calibri" pitchFamily="34" charset="-122"/>
                <a:cs typeface="Calibri" pitchFamily="34" charset="-120"/>
              </a:rPr>
              <a:t>Review before release</a:t>
            </a:r>
            <a:endParaRPr lang="en-US" sz="900" dirty="0"/>
          </a:p>
        </p:txBody>
      </p:sp>
      <p:sp>
        <p:nvSpPr>
          <p:cNvPr id="62" name="Shape 47"/>
          <p:cNvSpPr/>
          <p:nvPr/>
        </p:nvSpPr>
        <p:spPr>
          <a:xfrm>
            <a:off x="457200" y="3017520"/>
            <a:ext cx="2651760" cy="1005840"/>
          </a:xfrm>
          <a:prstGeom prst="roundRect">
            <a:avLst>
              <a:gd name="adj" fmla="val 7273"/>
            </a:avLst>
          </a:prstGeom>
          <a:solidFill>
            <a:srgbClr val="E8F5EF"/>
          </a:solidFill>
          <a:ln w="15875">
            <a:solidFill>
              <a:srgbClr val="00A86A"/>
            </a:solidFill>
            <a:prstDash val="solid"/>
          </a:ln>
        </p:spPr>
      </p:sp>
      <p:sp>
        <p:nvSpPr>
          <p:cNvPr id="63" name="Shape 48"/>
          <p:cNvSpPr/>
          <p:nvPr/>
        </p:nvSpPr>
        <p:spPr>
          <a:xfrm>
            <a:off x="566928" y="3127248"/>
            <a:ext cx="310896" cy="310896"/>
          </a:xfrm>
          <a:prstGeom prst="ellipse">
            <a:avLst/>
          </a:prstGeom>
          <a:solidFill>
            <a:srgbClr val="00A86A">
              <a:alpha val="22000"/>
            </a:srgbClr>
          </a:solidFill>
          <a:ln/>
        </p:spPr>
      </p:sp>
      <p:pic>
        <p:nvPicPr>
          <p:cNvPr id="64" name="Image 12" descr="preencoded.png"/>
          <p:cNvPicPr>
            <a:picLocks noChangeAspect="1"/>
          </p:cNvPicPr>
          <p:nvPr/>
        </p:nvPicPr>
        <p:blipFill>
          <a:blip r:embed="rId7"/>
          <a:stretch>
            <a:fillRect/>
          </a:stretch>
        </p:blipFill>
        <p:spPr>
          <a:xfrm>
            <a:off x="641543" y="3201863"/>
            <a:ext cx="161666" cy="161666"/>
          </a:xfrm>
          <a:prstGeom prst="rect">
            <a:avLst/>
          </a:prstGeom>
        </p:spPr>
      </p:pic>
      <p:sp>
        <p:nvSpPr>
          <p:cNvPr id="65" name="Text 49"/>
          <p:cNvSpPr txBox="1"/>
          <p:nvPr/>
        </p:nvSpPr>
        <p:spPr>
          <a:xfrm>
            <a:off x="950976" y="3127248"/>
            <a:ext cx="2084832" cy="310896"/>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AI proposes, methodology disposes</a:t>
            </a:r>
            <a:endParaRPr lang="en-US" sz="1050" dirty="0"/>
          </a:p>
        </p:txBody>
      </p:sp>
      <p:sp>
        <p:nvSpPr>
          <p:cNvPr id="66" name="Text 50"/>
          <p:cNvSpPr txBox="1"/>
          <p:nvPr/>
        </p:nvSpPr>
        <p:spPr>
          <a:xfrm>
            <a:off x="566928" y="3474720"/>
            <a:ext cx="2432304"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The model offers candidates and confidence; the accountable process decides.</a:t>
            </a:r>
            <a:endParaRPr lang="en-US" sz="950" dirty="0"/>
          </a:p>
        </p:txBody>
      </p:sp>
      <p:sp>
        <p:nvSpPr>
          <p:cNvPr id="67" name="Shape 51"/>
          <p:cNvSpPr/>
          <p:nvPr/>
        </p:nvSpPr>
        <p:spPr>
          <a:xfrm>
            <a:off x="3246120" y="3017520"/>
            <a:ext cx="2651760" cy="1005840"/>
          </a:xfrm>
          <a:prstGeom prst="roundRect">
            <a:avLst>
              <a:gd name="adj" fmla="val 7273"/>
            </a:avLst>
          </a:prstGeom>
          <a:solidFill>
            <a:srgbClr val="E8F5EF"/>
          </a:solidFill>
          <a:ln w="15875">
            <a:solidFill>
              <a:srgbClr val="00A86A"/>
            </a:solidFill>
            <a:prstDash val="solid"/>
          </a:ln>
        </p:spPr>
      </p:sp>
      <p:sp>
        <p:nvSpPr>
          <p:cNvPr id="68" name="Shape 52"/>
          <p:cNvSpPr/>
          <p:nvPr/>
        </p:nvSpPr>
        <p:spPr>
          <a:xfrm>
            <a:off x="3355848" y="3127248"/>
            <a:ext cx="310896" cy="310896"/>
          </a:xfrm>
          <a:prstGeom prst="ellipse">
            <a:avLst/>
          </a:prstGeom>
          <a:solidFill>
            <a:srgbClr val="00A86A">
              <a:alpha val="22000"/>
            </a:srgbClr>
          </a:solidFill>
          <a:ln/>
        </p:spPr>
      </p:sp>
      <p:pic>
        <p:nvPicPr>
          <p:cNvPr id="69" name="Image 13" descr="preencoded.png"/>
          <p:cNvPicPr>
            <a:picLocks noChangeAspect="1"/>
          </p:cNvPicPr>
          <p:nvPr/>
        </p:nvPicPr>
        <p:blipFill>
          <a:blip r:embed="rId8"/>
          <a:stretch>
            <a:fillRect/>
          </a:stretch>
        </p:blipFill>
        <p:spPr>
          <a:xfrm>
            <a:off x="3430463" y="3201863"/>
            <a:ext cx="161666" cy="161666"/>
          </a:xfrm>
          <a:prstGeom prst="rect">
            <a:avLst/>
          </a:prstGeom>
        </p:spPr>
      </p:pic>
      <p:sp>
        <p:nvSpPr>
          <p:cNvPr id="70" name="Text 53"/>
          <p:cNvSpPr txBox="1"/>
          <p:nvPr/>
        </p:nvSpPr>
        <p:spPr>
          <a:xfrm>
            <a:off x="3739896" y="3127248"/>
            <a:ext cx="2084832" cy="310896"/>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Never automate an invisible error</a:t>
            </a:r>
            <a:endParaRPr lang="en-US" sz="1050" dirty="0"/>
          </a:p>
        </p:txBody>
      </p:sp>
      <p:sp>
        <p:nvSpPr>
          <p:cNvPr id="71" name="Text 54"/>
          <p:cNvSpPr txBox="1"/>
          <p:nvPr/>
        </p:nvSpPr>
        <p:spPr>
          <a:xfrm>
            <a:off x="3355848" y="3474720"/>
            <a:ext cx="2432304"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If a failure would not be visible in the output, keep a human check.</a:t>
            </a:r>
            <a:endParaRPr lang="en-US" sz="950" dirty="0"/>
          </a:p>
        </p:txBody>
      </p:sp>
      <p:sp>
        <p:nvSpPr>
          <p:cNvPr id="72" name="Shape 55"/>
          <p:cNvSpPr/>
          <p:nvPr/>
        </p:nvSpPr>
        <p:spPr>
          <a:xfrm>
            <a:off x="6035040" y="3017520"/>
            <a:ext cx="2651760" cy="1005840"/>
          </a:xfrm>
          <a:prstGeom prst="roundRect">
            <a:avLst>
              <a:gd name="adj" fmla="val 7273"/>
            </a:avLst>
          </a:prstGeom>
          <a:solidFill>
            <a:srgbClr val="E8F5EF"/>
          </a:solidFill>
          <a:ln w="15875">
            <a:solidFill>
              <a:srgbClr val="00A86A"/>
            </a:solidFill>
            <a:prstDash val="solid"/>
          </a:ln>
        </p:spPr>
      </p:sp>
      <p:sp>
        <p:nvSpPr>
          <p:cNvPr id="73" name="Shape 56"/>
          <p:cNvSpPr/>
          <p:nvPr/>
        </p:nvSpPr>
        <p:spPr>
          <a:xfrm>
            <a:off x="6144768" y="3127248"/>
            <a:ext cx="310896" cy="310896"/>
          </a:xfrm>
          <a:prstGeom prst="ellipse">
            <a:avLst/>
          </a:prstGeom>
          <a:solidFill>
            <a:srgbClr val="00A86A">
              <a:alpha val="22000"/>
            </a:srgbClr>
          </a:solidFill>
          <a:ln/>
        </p:spPr>
      </p:sp>
      <p:pic>
        <p:nvPicPr>
          <p:cNvPr id="74" name="Image 14" descr="preencoded.png"/>
          <p:cNvPicPr>
            <a:picLocks noChangeAspect="1"/>
          </p:cNvPicPr>
          <p:nvPr/>
        </p:nvPicPr>
        <p:blipFill>
          <a:blip r:embed="rId9"/>
          <a:stretch>
            <a:fillRect/>
          </a:stretch>
        </p:blipFill>
        <p:spPr>
          <a:xfrm>
            <a:off x="6219383" y="3201863"/>
            <a:ext cx="161666" cy="161666"/>
          </a:xfrm>
          <a:prstGeom prst="rect">
            <a:avLst/>
          </a:prstGeom>
        </p:spPr>
      </p:pic>
      <p:sp>
        <p:nvSpPr>
          <p:cNvPr id="75" name="Text 57"/>
          <p:cNvSpPr txBox="1"/>
          <p:nvPr/>
        </p:nvSpPr>
        <p:spPr>
          <a:xfrm>
            <a:off x="6528816" y="3127248"/>
            <a:ext cx="2084832" cy="310896"/>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Route by confidence</a:t>
            </a:r>
            <a:endParaRPr lang="en-US" sz="1050" dirty="0"/>
          </a:p>
        </p:txBody>
      </p:sp>
      <p:sp>
        <p:nvSpPr>
          <p:cNvPr id="76" name="Text 58"/>
          <p:cNvSpPr txBox="1"/>
          <p:nvPr/>
        </p:nvSpPr>
        <p:spPr>
          <a:xfrm>
            <a:off x="6144768" y="3474720"/>
            <a:ext cx="2432304"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Send low-confidence cases to coders; the value is in the confident majority.</a:t>
            </a:r>
            <a:endParaRPr lang="en-US" sz="950" dirty="0"/>
          </a:p>
        </p:txBody>
      </p:sp>
      <p:sp>
        <p:nvSpPr>
          <p:cNvPr id="77" name="Shape 59"/>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78" name="Shape 60"/>
          <p:cNvSpPr/>
          <p:nvPr/>
        </p:nvSpPr>
        <p:spPr>
          <a:xfrm>
            <a:off x="566928" y="4233672"/>
            <a:ext cx="292608" cy="292608"/>
          </a:xfrm>
          <a:prstGeom prst="ellipse">
            <a:avLst/>
          </a:prstGeom>
          <a:solidFill>
            <a:srgbClr val="00A86A">
              <a:alpha val="22000"/>
            </a:srgbClr>
          </a:solidFill>
          <a:ln/>
        </p:spPr>
      </p:sp>
      <p:pic>
        <p:nvPicPr>
          <p:cNvPr id="79" name="Image 15" descr="preencoded.png"/>
          <p:cNvPicPr>
            <a:picLocks noChangeAspect="1"/>
          </p:cNvPicPr>
          <p:nvPr/>
        </p:nvPicPr>
        <p:blipFill>
          <a:blip r:embed="rId10"/>
          <a:stretch>
            <a:fillRect/>
          </a:stretch>
        </p:blipFill>
        <p:spPr>
          <a:xfrm>
            <a:off x="637154" y="4303898"/>
            <a:ext cx="152156" cy="152156"/>
          </a:xfrm>
          <a:prstGeom prst="rect">
            <a:avLst/>
          </a:prstGeom>
        </p:spPr>
      </p:pic>
      <p:sp>
        <p:nvSpPr>
          <p:cNvPr id="80" name="Text 61"/>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Measure the model against the human process it replaces — including that process's own error rate — and publish the comparison.</a:t>
            </a:r>
            <a:endParaRPr lang="en-US" sz="1050" dirty="0"/>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FAILURE MODES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Five realistic failure scenarios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Each has happened somewhere. Each has a specific, affordable control</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45</a:t>
            </a:r>
            <a:endParaRPr lang="en-US" sz="850" dirty="0"/>
          </a:p>
        </p:txBody>
      </p:sp>
      <p:sp>
        <p:nvSpPr>
          <p:cNvPr id="18" name="Text 15"/>
          <p:cNvSpPr txBox="1"/>
          <p:nvPr/>
        </p:nvSpPr>
        <p:spPr>
          <a:xfrm>
            <a:off x="548640" y="1298448"/>
            <a:ext cx="310896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SCENARIO</a:t>
            </a:r>
            <a:endParaRPr lang="en-US" sz="900" dirty="0"/>
          </a:p>
        </p:txBody>
      </p:sp>
      <p:sp>
        <p:nvSpPr>
          <p:cNvPr id="19" name="Text 16"/>
          <p:cNvSpPr txBox="1"/>
          <p:nvPr/>
        </p:nvSpPr>
        <p:spPr>
          <a:xfrm>
            <a:off x="3840480" y="1298448"/>
            <a:ext cx="20116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CONSEQUENCE</a:t>
            </a:r>
            <a:endParaRPr lang="en-US" sz="900" dirty="0"/>
          </a:p>
        </p:txBody>
      </p:sp>
      <p:sp>
        <p:nvSpPr>
          <p:cNvPr id="20" name="Text 17"/>
          <p:cNvSpPr txBox="1"/>
          <p:nvPr/>
        </p:nvSpPr>
        <p:spPr>
          <a:xfrm>
            <a:off x="6035040" y="1298448"/>
            <a:ext cx="256032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THE CONTROL THAT PREVENTS IT</a:t>
            </a:r>
            <a:endParaRPr lang="en-US" sz="900" dirty="0"/>
          </a:p>
        </p:txBody>
      </p:sp>
      <p:sp>
        <p:nvSpPr>
          <p:cNvPr id="21" name="Shape 18"/>
          <p:cNvSpPr/>
          <p:nvPr/>
        </p:nvSpPr>
        <p:spPr>
          <a:xfrm>
            <a:off x="457200" y="1572768"/>
            <a:ext cx="8229600" cy="457200"/>
          </a:xfrm>
          <a:prstGeom prst="roundRect">
            <a:avLst>
              <a:gd name="adj" fmla="val 10000"/>
            </a:avLst>
          </a:prstGeom>
          <a:solidFill>
            <a:srgbClr val="F4F7F5"/>
          </a:solidFill>
          <a:ln w="9525">
            <a:solidFill>
              <a:srgbClr val="D5DED9"/>
            </a:solidFill>
            <a:prstDash val="solid"/>
          </a:ln>
        </p:spPr>
      </p:sp>
      <p:sp>
        <p:nvSpPr>
          <p:cNvPr id="22" name="Shape 19"/>
          <p:cNvSpPr/>
          <p:nvPr/>
        </p:nvSpPr>
        <p:spPr>
          <a:xfrm>
            <a:off x="5943600" y="1572768"/>
            <a:ext cx="2743200" cy="457200"/>
          </a:xfrm>
          <a:prstGeom prst="roundRect">
            <a:avLst>
              <a:gd name="adj" fmla="val 10000"/>
            </a:avLst>
          </a:prstGeom>
          <a:solidFill>
            <a:srgbClr val="E8F5EF"/>
          </a:solidFill>
          <a:ln w="9525">
            <a:solidFill>
              <a:srgbClr val="00A86A"/>
            </a:solidFill>
            <a:prstDash val="solid"/>
          </a:ln>
        </p:spPr>
      </p:sp>
      <p:sp>
        <p:nvSpPr>
          <p:cNvPr id="23" name="Shape 20"/>
          <p:cNvSpPr/>
          <p:nvPr/>
        </p:nvSpPr>
        <p:spPr>
          <a:xfrm>
            <a:off x="548640" y="1664208"/>
            <a:ext cx="274320" cy="274320"/>
          </a:xfrm>
          <a:prstGeom prst="ellipse">
            <a:avLst/>
          </a:prstGeom>
          <a:solidFill>
            <a:srgbClr val="B83B2E">
              <a:alpha val="22000"/>
            </a:srgbClr>
          </a:solidFill>
          <a:ln/>
        </p:spPr>
      </p:sp>
      <p:pic>
        <p:nvPicPr>
          <p:cNvPr id="24" name="Image 0" descr="preencoded.png"/>
          <p:cNvPicPr>
            <a:picLocks noChangeAspect="1"/>
          </p:cNvPicPr>
          <p:nvPr/>
        </p:nvPicPr>
        <p:blipFill>
          <a:blip r:embed="rId3"/>
          <a:stretch>
            <a:fillRect/>
          </a:stretch>
        </p:blipFill>
        <p:spPr>
          <a:xfrm>
            <a:off x="614477" y="1730045"/>
            <a:ext cx="142646" cy="142646"/>
          </a:xfrm>
          <a:prstGeom prst="rect">
            <a:avLst/>
          </a:prstGeom>
        </p:spPr>
      </p:pic>
      <p:sp>
        <p:nvSpPr>
          <p:cNvPr id="25" name="Text 21"/>
          <p:cNvSpPr txBox="1"/>
          <p:nvPr/>
        </p:nvSpPr>
        <p:spPr>
          <a:xfrm>
            <a:off x="896112" y="1572768"/>
            <a:ext cx="2788920" cy="45720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An analyst pastes identifiable microdata into a public chatbot</a:t>
            </a:r>
            <a:endParaRPr lang="en-US" sz="950" dirty="0"/>
          </a:p>
        </p:txBody>
      </p:sp>
      <p:sp>
        <p:nvSpPr>
          <p:cNvPr id="26" name="Text 22"/>
          <p:cNvSpPr txBox="1"/>
          <p:nvPr/>
        </p:nvSpPr>
        <p:spPr>
          <a:xfrm>
            <a:off x="3840480" y="1572768"/>
            <a:ext cx="2011680" cy="45720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Notifiable breach; loss of respondent trust; possible parliamentary interest</a:t>
            </a:r>
            <a:endParaRPr lang="en-US" sz="950" dirty="0"/>
          </a:p>
        </p:txBody>
      </p:sp>
      <p:sp>
        <p:nvSpPr>
          <p:cNvPr id="27" name="Text 23"/>
          <p:cNvSpPr txBox="1"/>
          <p:nvPr/>
        </p:nvSpPr>
        <p:spPr>
          <a:xfrm>
            <a:off x="6035040" y="1572768"/>
            <a:ext cx="2560320" cy="45720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A sanctioned internal tool, egress controls and a short rule staff have actually read</a:t>
            </a:r>
            <a:endParaRPr lang="en-US" sz="950" dirty="0"/>
          </a:p>
        </p:txBody>
      </p:sp>
      <p:sp>
        <p:nvSpPr>
          <p:cNvPr id="28" name="Shape 24"/>
          <p:cNvSpPr/>
          <p:nvPr/>
        </p:nvSpPr>
        <p:spPr>
          <a:xfrm>
            <a:off x="457200" y="2071116"/>
            <a:ext cx="8229600" cy="457200"/>
          </a:xfrm>
          <a:prstGeom prst="roundRect">
            <a:avLst>
              <a:gd name="adj" fmla="val 10000"/>
            </a:avLst>
          </a:prstGeom>
          <a:solidFill>
            <a:srgbClr val="F4F7F5"/>
          </a:solidFill>
          <a:ln w="9525">
            <a:solidFill>
              <a:srgbClr val="D5DED9"/>
            </a:solidFill>
            <a:prstDash val="solid"/>
          </a:ln>
        </p:spPr>
      </p:sp>
      <p:sp>
        <p:nvSpPr>
          <p:cNvPr id="29" name="Shape 25"/>
          <p:cNvSpPr/>
          <p:nvPr/>
        </p:nvSpPr>
        <p:spPr>
          <a:xfrm>
            <a:off x="5943600" y="2071116"/>
            <a:ext cx="2743200" cy="457200"/>
          </a:xfrm>
          <a:prstGeom prst="roundRect">
            <a:avLst>
              <a:gd name="adj" fmla="val 10000"/>
            </a:avLst>
          </a:prstGeom>
          <a:solidFill>
            <a:srgbClr val="E8F5EF"/>
          </a:solidFill>
          <a:ln w="9525">
            <a:solidFill>
              <a:srgbClr val="00A86A"/>
            </a:solidFill>
            <a:prstDash val="solid"/>
          </a:ln>
        </p:spPr>
      </p:sp>
      <p:sp>
        <p:nvSpPr>
          <p:cNvPr id="30" name="Shape 26"/>
          <p:cNvSpPr/>
          <p:nvPr/>
        </p:nvSpPr>
        <p:spPr>
          <a:xfrm>
            <a:off x="548640" y="2162556"/>
            <a:ext cx="274320" cy="274320"/>
          </a:xfrm>
          <a:prstGeom prst="ellipse">
            <a:avLst/>
          </a:prstGeom>
          <a:solidFill>
            <a:srgbClr val="B83B2E">
              <a:alpha val="22000"/>
            </a:srgbClr>
          </a:solidFill>
          <a:ln/>
        </p:spPr>
      </p:sp>
      <p:pic>
        <p:nvPicPr>
          <p:cNvPr id="31" name="Image 1" descr="preencoded.png"/>
          <p:cNvPicPr>
            <a:picLocks noChangeAspect="1"/>
          </p:cNvPicPr>
          <p:nvPr/>
        </p:nvPicPr>
        <p:blipFill>
          <a:blip r:embed="rId4"/>
          <a:stretch>
            <a:fillRect/>
          </a:stretch>
        </p:blipFill>
        <p:spPr>
          <a:xfrm>
            <a:off x="614477" y="2228393"/>
            <a:ext cx="142646" cy="142646"/>
          </a:xfrm>
          <a:prstGeom prst="rect">
            <a:avLst/>
          </a:prstGeom>
        </p:spPr>
      </p:pic>
      <p:sp>
        <p:nvSpPr>
          <p:cNvPr id="32" name="Text 27"/>
          <p:cNvSpPr txBox="1"/>
          <p:nvPr/>
        </p:nvSpPr>
        <p:spPr>
          <a:xfrm>
            <a:off x="896112" y="2071116"/>
            <a:ext cx="2788920" cy="45720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A vendor silently updates a model; coding shifts mid-series</a:t>
            </a:r>
            <a:endParaRPr lang="en-US" sz="950" dirty="0"/>
          </a:p>
        </p:txBody>
      </p:sp>
      <p:sp>
        <p:nvSpPr>
          <p:cNvPr id="33" name="Text 28"/>
          <p:cNvSpPr txBox="1"/>
          <p:nvPr/>
        </p:nvSpPr>
        <p:spPr>
          <a:xfrm>
            <a:off x="3840480" y="2071116"/>
            <a:ext cx="2011680" cy="45720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The published series changes for reasons nobody can document</a:t>
            </a:r>
            <a:endParaRPr lang="en-US" sz="950" dirty="0"/>
          </a:p>
        </p:txBody>
      </p:sp>
      <p:sp>
        <p:nvSpPr>
          <p:cNvPr id="34" name="Text 29"/>
          <p:cNvSpPr txBox="1"/>
          <p:nvPr/>
        </p:nvSpPr>
        <p:spPr>
          <a:xfrm>
            <a:off x="6035040" y="2071116"/>
            <a:ext cx="2560320" cy="45720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Pin versions; re-run the gold-standard test before any change; self-host on the critical path</a:t>
            </a:r>
            <a:endParaRPr lang="en-US" sz="950" dirty="0"/>
          </a:p>
        </p:txBody>
      </p:sp>
      <p:sp>
        <p:nvSpPr>
          <p:cNvPr id="35" name="Shape 30"/>
          <p:cNvSpPr/>
          <p:nvPr/>
        </p:nvSpPr>
        <p:spPr>
          <a:xfrm>
            <a:off x="457200" y="2569464"/>
            <a:ext cx="8229600" cy="457200"/>
          </a:xfrm>
          <a:prstGeom prst="roundRect">
            <a:avLst>
              <a:gd name="adj" fmla="val 10000"/>
            </a:avLst>
          </a:prstGeom>
          <a:solidFill>
            <a:srgbClr val="F4F7F5"/>
          </a:solidFill>
          <a:ln w="9525">
            <a:solidFill>
              <a:srgbClr val="D5DED9"/>
            </a:solidFill>
            <a:prstDash val="solid"/>
          </a:ln>
        </p:spPr>
      </p:sp>
      <p:sp>
        <p:nvSpPr>
          <p:cNvPr id="36" name="Shape 31"/>
          <p:cNvSpPr/>
          <p:nvPr/>
        </p:nvSpPr>
        <p:spPr>
          <a:xfrm>
            <a:off x="5943600" y="2569464"/>
            <a:ext cx="2743200" cy="457200"/>
          </a:xfrm>
          <a:prstGeom prst="roundRect">
            <a:avLst>
              <a:gd name="adj" fmla="val 10000"/>
            </a:avLst>
          </a:prstGeom>
          <a:solidFill>
            <a:srgbClr val="E8F5EF"/>
          </a:solidFill>
          <a:ln w="9525">
            <a:solidFill>
              <a:srgbClr val="00A86A"/>
            </a:solidFill>
            <a:prstDash val="solid"/>
          </a:ln>
        </p:spPr>
      </p:sp>
      <p:sp>
        <p:nvSpPr>
          <p:cNvPr id="37" name="Shape 32"/>
          <p:cNvSpPr/>
          <p:nvPr/>
        </p:nvSpPr>
        <p:spPr>
          <a:xfrm>
            <a:off x="548640" y="2660904"/>
            <a:ext cx="274320" cy="274320"/>
          </a:xfrm>
          <a:prstGeom prst="ellipse">
            <a:avLst/>
          </a:prstGeom>
          <a:solidFill>
            <a:srgbClr val="B83B2E">
              <a:alpha val="22000"/>
            </a:srgbClr>
          </a:solidFill>
          <a:ln/>
        </p:spPr>
      </p:sp>
      <p:pic>
        <p:nvPicPr>
          <p:cNvPr id="38" name="Image 2" descr="preencoded.png"/>
          <p:cNvPicPr>
            <a:picLocks noChangeAspect="1"/>
          </p:cNvPicPr>
          <p:nvPr/>
        </p:nvPicPr>
        <p:blipFill>
          <a:blip r:embed="rId5"/>
          <a:stretch>
            <a:fillRect/>
          </a:stretch>
        </p:blipFill>
        <p:spPr>
          <a:xfrm>
            <a:off x="614477" y="2726741"/>
            <a:ext cx="142646" cy="142646"/>
          </a:xfrm>
          <a:prstGeom prst="rect">
            <a:avLst/>
          </a:prstGeom>
        </p:spPr>
      </p:pic>
      <p:sp>
        <p:nvSpPr>
          <p:cNvPr id="39" name="Text 33"/>
          <p:cNvSpPr txBox="1"/>
          <p:nvPr/>
        </p:nvSpPr>
        <p:spPr>
          <a:xfrm>
            <a:off x="896112" y="2569464"/>
            <a:ext cx="2788920" cy="45720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A job-title classifier quietly degrades as the labour market changes</a:t>
            </a:r>
            <a:endParaRPr lang="en-US" sz="950" dirty="0"/>
          </a:p>
        </p:txBody>
      </p:sp>
      <p:sp>
        <p:nvSpPr>
          <p:cNvPr id="40" name="Text 34"/>
          <p:cNvSpPr txBox="1"/>
          <p:nvPr/>
        </p:nvSpPr>
        <p:spPr>
          <a:xfrm>
            <a:off x="3840480" y="2569464"/>
            <a:ext cx="2011680" cy="45720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Slow quality erosion, discovered by an external user</a:t>
            </a:r>
            <a:endParaRPr lang="en-US" sz="950" dirty="0"/>
          </a:p>
        </p:txBody>
      </p:sp>
      <p:sp>
        <p:nvSpPr>
          <p:cNvPr id="41" name="Text 35"/>
          <p:cNvSpPr txBox="1"/>
          <p:nvPr/>
        </p:nvSpPr>
        <p:spPr>
          <a:xfrm>
            <a:off x="6035040" y="2569464"/>
            <a:ext cx="2560320" cy="45720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Drift monitoring, scheduled revalidation and results broken down by category</a:t>
            </a:r>
            <a:endParaRPr lang="en-US" sz="950" dirty="0"/>
          </a:p>
        </p:txBody>
      </p:sp>
      <p:sp>
        <p:nvSpPr>
          <p:cNvPr id="42" name="Shape 36"/>
          <p:cNvSpPr/>
          <p:nvPr/>
        </p:nvSpPr>
        <p:spPr>
          <a:xfrm>
            <a:off x="457200" y="3067812"/>
            <a:ext cx="8229600" cy="457200"/>
          </a:xfrm>
          <a:prstGeom prst="roundRect">
            <a:avLst>
              <a:gd name="adj" fmla="val 10000"/>
            </a:avLst>
          </a:prstGeom>
          <a:solidFill>
            <a:srgbClr val="F4F7F5"/>
          </a:solidFill>
          <a:ln w="9525">
            <a:solidFill>
              <a:srgbClr val="D5DED9"/>
            </a:solidFill>
            <a:prstDash val="solid"/>
          </a:ln>
        </p:spPr>
      </p:sp>
      <p:sp>
        <p:nvSpPr>
          <p:cNvPr id="43" name="Shape 37"/>
          <p:cNvSpPr/>
          <p:nvPr/>
        </p:nvSpPr>
        <p:spPr>
          <a:xfrm>
            <a:off x="5943600" y="3067812"/>
            <a:ext cx="2743200" cy="457200"/>
          </a:xfrm>
          <a:prstGeom prst="roundRect">
            <a:avLst>
              <a:gd name="adj" fmla="val 10000"/>
            </a:avLst>
          </a:prstGeom>
          <a:solidFill>
            <a:srgbClr val="E8F5EF"/>
          </a:solidFill>
          <a:ln w="9525">
            <a:solidFill>
              <a:srgbClr val="00A86A"/>
            </a:solidFill>
            <a:prstDash val="solid"/>
          </a:ln>
        </p:spPr>
      </p:sp>
      <p:sp>
        <p:nvSpPr>
          <p:cNvPr id="44" name="Shape 38"/>
          <p:cNvSpPr/>
          <p:nvPr/>
        </p:nvSpPr>
        <p:spPr>
          <a:xfrm>
            <a:off x="548640" y="3159252"/>
            <a:ext cx="274320" cy="274320"/>
          </a:xfrm>
          <a:prstGeom prst="ellipse">
            <a:avLst/>
          </a:prstGeom>
          <a:solidFill>
            <a:srgbClr val="B83B2E">
              <a:alpha val="22000"/>
            </a:srgbClr>
          </a:solidFill>
          <a:ln/>
        </p:spPr>
      </p:sp>
      <p:pic>
        <p:nvPicPr>
          <p:cNvPr id="45" name="Image 3" descr="preencoded.png"/>
          <p:cNvPicPr>
            <a:picLocks noChangeAspect="1"/>
          </p:cNvPicPr>
          <p:nvPr/>
        </p:nvPicPr>
        <p:blipFill>
          <a:blip r:embed="rId6"/>
          <a:stretch>
            <a:fillRect/>
          </a:stretch>
        </p:blipFill>
        <p:spPr>
          <a:xfrm>
            <a:off x="614477" y="3225089"/>
            <a:ext cx="142646" cy="142646"/>
          </a:xfrm>
          <a:prstGeom prst="rect">
            <a:avLst/>
          </a:prstGeom>
        </p:spPr>
      </p:pic>
      <p:sp>
        <p:nvSpPr>
          <p:cNvPr id="46" name="Text 39"/>
          <p:cNvSpPr txBox="1"/>
          <p:nvPr/>
        </p:nvSpPr>
        <p:spPr>
          <a:xfrm>
            <a:off x="896112" y="3067812"/>
            <a:ext cx="2788920" cy="45720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An unmonitored batch job runs all weekend on a pay-per-use API</a:t>
            </a:r>
            <a:endParaRPr lang="en-US" sz="950" dirty="0"/>
          </a:p>
        </p:txBody>
      </p:sp>
      <p:sp>
        <p:nvSpPr>
          <p:cNvPr id="47" name="Text 40"/>
          <p:cNvSpPr txBox="1"/>
          <p:nvPr/>
        </p:nvSpPr>
        <p:spPr>
          <a:xfrm>
            <a:off x="3840480" y="3067812"/>
            <a:ext cx="2011680" cy="45720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A cost overrun that damages credibility with finance</a:t>
            </a:r>
            <a:endParaRPr lang="en-US" sz="950" dirty="0"/>
          </a:p>
        </p:txBody>
      </p:sp>
      <p:sp>
        <p:nvSpPr>
          <p:cNvPr id="48" name="Text 41"/>
          <p:cNvSpPr txBox="1"/>
          <p:nvPr/>
        </p:nvSpPr>
        <p:spPr>
          <a:xfrm>
            <a:off x="6035040" y="3067812"/>
            <a:ext cx="2560320" cy="45720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Hard budget caps at the gateway, team quotas, alerts on rate of spend</a:t>
            </a:r>
            <a:endParaRPr lang="en-US" sz="950" dirty="0"/>
          </a:p>
        </p:txBody>
      </p:sp>
      <p:sp>
        <p:nvSpPr>
          <p:cNvPr id="49" name="Shape 42"/>
          <p:cNvSpPr/>
          <p:nvPr/>
        </p:nvSpPr>
        <p:spPr>
          <a:xfrm>
            <a:off x="457200" y="3566160"/>
            <a:ext cx="8229600" cy="457200"/>
          </a:xfrm>
          <a:prstGeom prst="roundRect">
            <a:avLst>
              <a:gd name="adj" fmla="val 10000"/>
            </a:avLst>
          </a:prstGeom>
          <a:solidFill>
            <a:srgbClr val="F4F7F5"/>
          </a:solidFill>
          <a:ln w="9525">
            <a:solidFill>
              <a:srgbClr val="D5DED9"/>
            </a:solidFill>
            <a:prstDash val="solid"/>
          </a:ln>
        </p:spPr>
      </p:sp>
      <p:sp>
        <p:nvSpPr>
          <p:cNvPr id="50" name="Shape 43"/>
          <p:cNvSpPr/>
          <p:nvPr/>
        </p:nvSpPr>
        <p:spPr>
          <a:xfrm>
            <a:off x="5943600" y="3566160"/>
            <a:ext cx="2743200" cy="457200"/>
          </a:xfrm>
          <a:prstGeom prst="roundRect">
            <a:avLst>
              <a:gd name="adj" fmla="val 10000"/>
            </a:avLst>
          </a:prstGeom>
          <a:solidFill>
            <a:srgbClr val="E8F5EF"/>
          </a:solidFill>
          <a:ln w="9525">
            <a:solidFill>
              <a:srgbClr val="00A86A"/>
            </a:solidFill>
            <a:prstDash val="solid"/>
          </a:ln>
        </p:spPr>
      </p:sp>
      <p:sp>
        <p:nvSpPr>
          <p:cNvPr id="51" name="Shape 44"/>
          <p:cNvSpPr/>
          <p:nvPr/>
        </p:nvSpPr>
        <p:spPr>
          <a:xfrm>
            <a:off x="548640" y="3657600"/>
            <a:ext cx="274320" cy="274320"/>
          </a:xfrm>
          <a:prstGeom prst="ellipse">
            <a:avLst/>
          </a:prstGeom>
          <a:solidFill>
            <a:srgbClr val="B83B2E">
              <a:alpha val="22000"/>
            </a:srgbClr>
          </a:solidFill>
          <a:ln/>
        </p:spPr>
      </p:sp>
      <p:pic>
        <p:nvPicPr>
          <p:cNvPr id="52" name="Image 4" descr="preencoded.png"/>
          <p:cNvPicPr>
            <a:picLocks noChangeAspect="1"/>
          </p:cNvPicPr>
          <p:nvPr/>
        </p:nvPicPr>
        <p:blipFill>
          <a:blip r:embed="rId7"/>
          <a:stretch>
            <a:fillRect/>
          </a:stretch>
        </p:blipFill>
        <p:spPr>
          <a:xfrm>
            <a:off x="614477" y="3723437"/>
            <a:ext cx="142646" cy="142646"/>
          </a:xfrm>
          <a:prstGeom prst="rect">
            <a:avLst/>
          </a:prstGeom>
        </p:spPr>
      </p:pic>
      <p:sp>
        <p:nvSpPr>
          <p:cNvPr id="53" name="Text 45"/>
          <p:cNvSpPr txBox="1"/>
          <p:nvPr/>
        </p:nvSpPr>
        <p:spPr>
          <a:xfrm>
            <a:off x="896112" y="3566160"/>
            <a:ext cx="2788920" cy="45720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A successful pilot cannot go live: no data platform exists</a:t>
            </a:r>
            <a:endParaRPr lang="en-US" sz="950" dirty="0"/>
          </a:p>
        </p:txBody>
      </p:sp>
      <p:sp>
        <p:nvSpPr>
          <p:cNvPr id="54" name="Text 46"/>
          <p:cNvSpPr txBox="1"/>
          <p:nvPr/>
        </p:nvSpPr>
        <p:spPr>
          <a:xfrm>
            <a:off x="3840480" y="3566160"/>
            <a:ext cx="2011680" cy="45720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"Pilot purgatory": enthusiasm spent, nothing in production after two years</a:t>
            </a:r>
            <a:endParaRPr lang="en-US" sz="950" dirty="0"/>
          </a:p>
        </p:txBody>
      </p:sp>
      <p:sp>
        <p:nvSpPr>
          <p:cNvPr id="55" name="Text 47"/>
          <p:cNvSpPr txBox="1"/>
          <p:nvPr/>
        </p:nvSpPr>
        <p:spPr>
          <a:xfrm>
            <a:off x="6035040" y="3566160"/>
            <a:ext cx="2560320" cy="45720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Build the platform before the second use case; require the promotion path from the start</a:t>
            </a:r>
            <a:endParaRPr lang="en-US" sz="950" dirty="0"/>
          </a:p>
        </p:txBody>
      </p:sp>
      <p:sp>
        <p:nvSpPr>
          <p:cNvPr id="56" name="Shape 48"/>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57" name="Shape 49"/>
          <p:cNvSpPr/>
          <p:nvPr/>
        </p:nvSpPr>
        <p:spPr>
          <a:xfrm>
            <a:off x="566928" y="4233672"/>
            <a:ext cx="292608" cy="292608"/>
          </a:xfrm>
          <a:prstGeom prst="ellipse">
            <a:avLst/>
          </a:prstGeom>
          <a:solidFill>
            <a:srgbClr val="00A86A">
              <a:alpha val="22000"/>
            </a:srgbClr>
          </a:solidFill>
          <a:ln/>
        </p:spPr>
      </p:sp>
      <p:pic>
        <p:nvPicPr>
          <p:cNvPr id="58" name="Image 5" descr="preencoded.png"/>
          <p:cNvPicPr>
            <a:picLocks noChangeAspect="1"/>
          </p:cNvPicPr>
          <p:nvPr/>
        </p:nvPicPr>
        <p:blipFill>
          <a:blip r:embed="rId8"/>
          <a:stretch>
            <a:fillRect/>
          </a:stretch>
        </p:blipFill>
        <p:spPr>
          <a:xfrm>
            <a:off x="637154" y="4303898"/>
            <a:ext cx="152156" cy="152156"/>
          </a:xfrm>
          <a:prstGeom prst="rect">
            <a:avLst/>
          </a:prstGeom>
        </p:spPr>
      </p:pic>
      <p:sp>
        <p:nvSpPr>
          <p:cNvPr id="59" name="Text 50"/>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None of these controls is expensive — and all are much cheaper before the first production deployment than after the incident.</a:t>
            </a:r>
            <a:endParaRPr lang="en-US" sz="1050" dirty="0"/>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05</a:t>
            </a:r>
            <a:endParaRPr lang="en-US" sz="1050" dirty="0"/>
          </a:p>
        </p:txBody>
      </p:sp>
      <p:sp>
        <p:nvSpPr>
          <p:cNvPr id="4" name="Text 2"/>
          <p:cNvSpPr txBox="1"/>
          <p:nvPr/>
        </p:nvSpPr>
        <p:spPr>
          <a:xfrm>
            <a:off x="502920" y="73152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05</a:t>
            </a:r>
            <a:endParaRPr lang="en-US" sz="8800" dirty="0"/>
          </a:p>
        </p:txBody>
      </p:sp>
      <p:sp>
        <p:nvSpPr>
          <p:cNvPr id="5" name="Text 3"/>
          <p:cNvSpPr txBox="1"/>
          <p:nvPr/>
        </p:nvSpPr>
        <p:spPr>
          <a:xfrm>
            <a:off x="548640" y="1874520"/>
            <a:ext cx="5303520" cy="54864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Calibri" pitchFamily="34" charset="0"/>
                <a:ea typeface="Calibri" pitchFamily="34" charset="-122"/>
                <a:cs typeface="Calibri" pitchFamily="34" charset="-120"/>
              </a:rPr>
              <a:t>Cost &amp; budgeting</a:t>
            </a:r>
            <a:endParaRPr lang="en-US" sz="3200" dirty="0"/>
          </a:p>
        </p:txBody>
      </p:sp>
      <p:sp>
        <p:nvSpPr>
          <p:cNvPr id="6" name="Text 4"/>
          <p:cNvSpPr txBox="1"/>
          <p:nvPr/>
        </p:nvSpPr>
        <p:spPr>
          <a:xfrm>
            <a:off x="548640" y="2514600"/>
            <a:ext cx="4937760" cy="548640"/>
          </a:xfrm>
          <a:prstGeom prst="rect">
            <a:avLst/>
          </a:prstGeom>
          <a:noFill/>
          <a:ln/>
        </p:spPr>
        <p:txBody>
          <a:bodyPr wrap="square" lIns="0" tIns="0" rIns="0" bIns="0" rtlCol="0" anchor="t"/>
          <a:lstStyle/>
          <a:p>
            <a:pPr marL="0" indent="0">
              <a:buNone/>
            </a:pPr>
            <a:r>
              <a:rPr lang="en-US" sz="1500" i="1" dirty="0">
                <a:solidFill>
                  <a:srgbClr val="E6F6EE"/>
                </a:solidFill>
                <a:latin typeface="Calibri" pitchFamily="34" charset="0"/>
                <a:ea typeface="Calibri" pitchFamily="34" charset="-122"/>
                <a:cs typeface="Calibri" pitchFamily="34" charset="-120"/>
              </a:rPr>
              <a:t>Where does the money really go over five years?</a:t>
            </a:r>
            <a:endParaRPr lang="en-US" sz="1500" dirty="0"/>
          </a:p>
        </p:txBody>
      </p:sp>
      <p:sp>
        <p:nvSpPr>
          <p:cNvPr id="7" name="Text 5"/>
          <p:cNvSpPr txBox="1"/>
          <p:nvPr/>
        </p:nvSpPr>
        <p:spPr>
          <a:xfrm>
            <a:off x="548640" y="3291840"/>
            <a:ext cx="2743200" cy="182880"/>
          </a:xfrm>
          <a:prstGeom prst="rect">
            <a:avLst/>
          </a:prstGeom>
          <a:noFill/>
          <a:ln/>
        </p:spPr>
        <p:txBody>
          <a:bodyPr wrap="square" lIns="0" tIns="0" rIns="0" bIns="0" rtlCol="0" anchor="t"/>
          <a:lstStyle/>
          <a:p>
            <a:pPr marL="0" indent="0">
              <a:buNone/>
            </a:pPr>
            <a:r>
              <a:rPr lang="en-US" sz="900" b="1" kern="0" spc="200" dirty="0">
                <a:solidFill>
                  <a:srgbClr val="F5C242"/>
                </a:solidFill>
                <a:latin typeface="Calibri" pitchFamily="34" charset="0"/>
                <a:ea typeface="Calibri" pitchFamily="34" charset="-122"/>
                <a:cs typeface="Calibri" pitchFamily="34" charset="-120"/>
              </a:rPr>
              <a:t>IN THIS SECTION</a:t>
            </a:r>
            <a:endParaRPr lang="en-US" sz="900" dirty="0"/>
          </a:p>
        </p:txBody>
      </p:sp>
      <p:sp>
        <p:nvSpPr>
          <p:cNvPr id="8" name="Text 6"/>
          <p:cNvSpPr txBox="1"/>
          <p:nvPr/>
        </p:nvSpPr>
        <p:spPr>
          <a:xfrm>
            <a:off x="54864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The full cost stack</a:t>
            </a:r>
            <a:endParaRPr lang="en-US" sz="1000" dirty="0"/>
          </a:p>
        </p:txBody>
      </p:sp>
      <p:sp>
        <p:nvSpPr>
          <p:cNvPr id="9" name="Text 7"/>
          <p:cNvSpPr txBox="1"/>
          <p:nvPr/>
        </p:nvSpPr>
        <p:spPr>
          <a:xfrm>
            <a:off x="54864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Five-year composition</a:t>
            </a:r>
            <a:endParaRPr lang="en-US" sz="1000" dirty="0"/>
          </a:p>
        </p:txBody>
      </p:sp>
      <p:sp>
        <p:nvSpPr>
          <p:cNvPr id="10" name="Text 8"/>
          <p:cNvSpPr txBox="1"/>
          <p:nvPr/>
        </p:nvSpPr>
        <p:spPr>
          <a:xfrm>
            <a:off x="54864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Three TCO scenarios</a:t>
            </a:r>
            <a:endParaRPr lang="en-US" sz="1000" dirty="0"/>
          </a:p>
        </p:txBody>
      </p:sp>
      <p:sp>
        <p:nvSpPr>
          <p:cNvPr id="11" name="Text 9"/>
          <p:cNvSpPr txBox="1"/>
          <p:nvPr/>
        </p:nvSpPr>
        <p:spPr>
          <a:xfrm>
            <a:off x="54864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Break-even as volume grows</a:t>
            </a:r>
            <a:endParaRPr lang="en-US" sz="1000" dirty="0"/>
          </a:p>
        </p:txBody>
      </p:sp>
      <p:sp>
        <p:nvSpPr>
          <p:cNvPr id="12" name="Text 10"/>
          <p:cNvSpPr txBox="1"/>
          <p:nvPr/>
        </p:nvSpPr>
        <p:spPr>
          <a:xfrm>
            <a:off x="315468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Where budgets break</a:t>
            </a:r>
            <a:endParaRPr lang="en-US" sz="1000" dirty="0"/>
          </a:p>
        </p:txBody>
      </p:sp>
      <p:sp>
        <p:nvSpPr>
          <p:cNvPr id="13" name="Text 11"/>
          <p:cNvSpPr txBox="1"/>
          <p:nvPr/>
        </p:nvSpPr>
        <p:spPr>
          <a:xfrm>
            <a:off x="315468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Cost controls (FinOps)</a:t>
            </a:r>
            <a:endParaRPr lang="en-US" sz="1000" dirty="0"/>
          </a:p>
        </p:txBody>
      </p:sp>
      <p:sp>
        <p:nvSpPr>
          <p:cNvPr id="14" name="Text 12"/>
          <p:cNvSpPr txBox="1"/>
          <p:nvPr/>
        </p:nvSpPr>
        <p:spPr>
          <a:xfrm>
            <a:off x="315468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Making the budget case</a:t>
            </a:r>
            <a:endParaRPr lang="en-US" sz="1000" dirty="0"/>
          </a:p>
        </p:txBody>
      </p:sp>
      <p:sp>
        <p:nvSpPr>
          <p:cNvPr id="15" name="Shape 13"/>
          <p:cNvSpPr/>
          <p:nvPr/>
        </p:nvSpPr>
        <p:spPr>
          <a:xfrm>
            <a:off x="5989320" y="960120"/>
            <a:ext cx="2651760" cy="2651760"/>
          </a:xfrm>
          <a:prstGeom prst="ellipse">
            <a:avLst/>
          </a:prstGeom>
          <a:solidFill>
            <a:srgbClr val="FFFFFF">
              <a:alpha val="10000"/>
            </a:srgbClr>
          </a:solidFill>
          <a:ln w="12700">
            <a:solidFill>
              <a:srgbClr val="FFFFFF">
                <a:alpha val="40000"/>
              </a:srgbClr>
            </a:solidFill>
            <a:prstDash val="solid"/>
          </a:ln>
        </p:spPr>
      </p:sp>
      <p:sp>
        <p:nvSpPr>
          <p:cNvPr id="16" name="Shape 14"/>
          <p:cNvSpPr/>
          <p:nvPr/>
        </p:nvSpPr>
        <p:spPr>
          <a:xfrm>
            <a:off x="6355080" y="1325880"/>
            <a:ext cx="1920240" cy="1920240"/>
          </a:xfrm>
          <a:prstGeom prst="ellipse">
            <a:avLst/>
          </a:prstGeom>
          <a:solidFill>
            <a:srgbClr val="FFFFFF">
              <a:alpha val="18000"/>
            </a:srgbClr>
          </a:solidFill>
          <a:ln/>
        </p:spPr>
      </p:sp>
      <p:sp>
        <p:nvSpPr>
          <p:cNvPr id="17" name="Shape 15"/>
          <p:cNvSpPr/>
          <p:nvPr/>
        </p:nvSpPr>
        <p:spPr>
          <a:xfrm>
            <a:off x="6720840" y="1691640"/>
            <a:ext cx="1188720" cy="1188720"/>
          </a:xfrm>
          <a:prstGeom prst="ellipse">
            <a:avLst/>
          </a:prstGeom>
          <a:solidFill>
            <a:srgbClr val="FFFFFF"/>
          </a:solidFill>
          <a:ln/>
        </p:spPr>
      </p:sp>
      <p:pic>
        <p:nvPicPr>
          <p:cNvPr id="18"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9" name="Shape 16"/>
          <p:cNvSpPr/>
          <p:nvPr/>
        </p:nvSpPr>
        <p:spPr>
          <a:xfrm>
            <a:off x="6510528" y="4014216"/>
            <a:ext cx="109728" cy="109728"/>
          </a:xfrm>
          <a:prstGeom prst="ellipse">
            <a:avLst/>
          </a:prstGeom>
          <a:solidFill>
            <a:srgbClr val="FFFFFF">
              <a:alpha val="40000"/>
            </a:srgbClr>
          </a:solidFill>
          <a:ln/>
        </p:spPr>
      </p:sp>
      <p:sp>
        <p:nvSpPr>
          <p:cNvPr id="20" name="Shape 17"/>
          <p:cNvSpPr/>
          <p:nvPr/>
        </p:nvSpPr>
        <p:spPr>
          <a:xfrm>
            <a:off x="6784848" y="4014216"/>
            <a:ext cx="109728" cy="109728"/>
          </a:xfrm>
          <a:prstGeom prst="ellipse">
            <a:avLst/>
          </a:prstGeom>
          <a:solidFill>
            <a:srgbClr val="FFFFFF">
              <a:alpha val="40000"/>
            </a:srgbClr>
          </a:solidFill>
          <a:ln/>
        </p:spPr>
      </p:sp>
      <p:sp>
        <p:nvSpPr>
          <p:cNvPr id="21" name="Shape 18"/>
          <p:cNvSpPr/>
          <p:nvPr/>
        </p:nvSpPr>
        <p:spPr>
          <a:xfrm>
            <a:off x="7059168" y="4014216"/>
            <a:ext cx="109728" cy="109728"/>
          </a:xfrm>
          <a:prstGeom prst="ellipse">
            <a:avLst/>
          </a:prstGeom>
          <a:solidFill>
            <a:srgbClr val="FFFFFF">
              <a:alpha val="40000"/>
            </a:srgbClr>
          </a:solidFill>
          <a:ln/>
        </p:spPr>
      </p:sp>
      <p:sp>
        <p:nvSpPr>
          <p:cNvPr id="22" name="Shape 19"/>
          <p:cNvSpPr/>
          <p:nvPr/>
        </p:nvSpPr>
        <p:spPr>
          <a:xfrm>
            <a:off x="7333488" y="4014216"/>
            <a:ext cx="109728" cy="109728"/>
          </a:xfrm>
          <a:prstGeom prst="ellipse">
            <a:avLst/>
          </a:prstGeom>
          <a:solidFill>
            <a:srgbClr val="FFFFFF">
              <a:alpha val="40000"/>
            </a:srgbClr>
          </a:solidFill>
          <a:ln/>
        </p:spPr>
      </p:sp>
      <p:sp>
        <p:nvSpPr>
          <p:cNvPr id="23" name="Shape 20"/>
          <p:cNvSpPr/>
          <p:nvPr/>
        </p:nvSpPr>
        <p:spPr>
          <a:xfrm>
            <a:off x="7589520" y="3995928"/>
            <a:ext cx="146304" cy="146304"/>
          </a:xfrm>
          <a:prstGeom prst="ellipse">
            <a:avLst/>
          </a:prstGeom>
          <a:solidFill>
            <a:srgbClr val="F5C242"/>
          </a:solidFill>
          <a:ln/>
        </p:spPr>
      </p:sp>
      <p:sp>
        <p:nvSpPr>
          <p:cNvPr id="24" name="Shape 21"/>
          <p:cNvSpPr/>
          <p:nvPr/>
        </p:nvSpPr>
        <p:spPr>
          <a:xfrm>
            <a:off x="7882128" y="4014216"/>
            <a:ext cx="109728" cy="109728"/>
          </a:xfrm>
          <a:prstGeom prst="ellipse">
            <a:avLst/>
          </a:prstGeom>
          <a:solidFill>
            <a:srgbClr val="FFFFFF">
              <a:alpha val="40000"/>
            </a:srgbClr>
          </a:solidFill>
          <a:ln/>
        </p:spPr>
      </p:sp>
      <p:sp>
        <p:nvSpPr>
          <p:cNvPr id="25" name="Text 22"/>
          <p:cNvSpPr txBox="1"/>
          <p:nvPr/>
        </p:nvSpPr>
        <p:spPr>
          <a:xfrm>
            <a:off x="7772400" y="4709160"/>
            <a:ext cx="9144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46</a:t>
            </a:r>
            <a:endParaRPr lang="en-US" sz="850" dirty="0"/>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COST STRUCTURE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The full cost stack</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Hardware and API charges are the visible costs. They are rarely the largest</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47</a:t>
            </a:r>
            <a:endParaRPr lang="en-US" sz="850" dirty="0"/>
          </a:p>
        </p:txBody>
      </p:sp>
      <p:sp>
        <p:nvSpPr>
          <p:cNvPr id="18" name="Shape 15"/>
          <p:cNvSpPr/>
          <p:nvPr/>
        </p:nvSpPr>
        <p:spPr>
          <a:xfrm>
            <a:off x="457200" y="1371600"/>
            <a:ext cx="1975104" cy="1271016"/>
          </a:xfrm>
          <a:prstGeom prst="roundRect">
            <a:avLst>
              <a:gd name="adj" fmla="val 5755"/>
            </a:avLst>
          </a:prstGeom>
          <a:solidFill>
            <a:srgbClr val="E8F5EF"/>
          </a:solidFill>
          <a:ln w="15875">
            <a:solidFill>
              <a:srgbClr val="C4621D"/>
            </a:solidFill>
            <a:prstDash val="solid"/>
          </a:ln>
        </p:spPr>
      </p:sp>
      <p:sp>
        <p:nvSpPr>
          <p:cNvPr id="19" name="Shape 16"/>
          <p:cNvSpPr/>
          <p:nvPr/>
        </p:nvSpPr>
        <p:spPr>
          <a:xfrm>
            <a:off x="585216" y="1499616"/>
            <a:ext cx="310896" cy="310896"/>
          </a:xfrm>
          <a:prstGeom prst="ellipse">
            <a:avLst/>
          </a:prstGeom>
          <a:solidFill>
            <a:srgbClr val="C4621D">
              <a:alpha val="22000"/>
            </a:srgbClr>
          </a:solidFill>
          <a:ln/>
        </p:spPr>
      </p:sp>
      <p:pic>
        <p:nvPicPr>
          <p:cNvPr id="20" name="Image 0" descr="preencoded.png"/>
          <p:cNvPicPr>
            <a:picLocks noChangeAspect="1"/>
          </p:cNvPicPr>
          <p:nvPr/>
        </p:nvPicPr>
        <p:blipFill>
          <a:blip r:embed="rId3"/>
          <a:stretch>
            <a:fillRect/>
          </a:stretch>
        </p:blipFill>
        <p:spPr>
          <a:xfrm>
            <a:off x="659831" y="1574231"/>
            <a:ext cx="161666" cy="161666"/>
          </a:xfrm>
          <a:prstGeom prst="rect">
            <a:avLst/>
          </a:prstGeom>
        </p:spPr>
      </p:pic>
      <p:sp>
        <p:nvSpPr>
          <p:cNvPr id="21" name="Text 17"/>
          <p:cNvSpPr txBox="1"/>
          <p:nvPr/>
        </p:nvSpPr>
        <p:spPr>
          <a:xfrm>
            <a:off x="2020824" y="1481328"/>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01</a:t>
            </a:r>
            <a:endParaRPr lang="en-US" sz="900" dirty="0"/>
          </a:p>
        </p:txBody>
      </p:sp>
      <p:sp>
        <p:nvSpPr>
          <p:cNvPr id="22" name="Text 18"/>
          <p:cNvSpPr txBox="1"/>
          <p:nvPr/>
        </p:nvSpPr>
        <p:spPr>
          <a:xfrm>
            <a:off x="1005840" y="1499616"/>
            <a:ext cx="104241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People</a:t>
            </a:r>
            <a:endParaRPr lang="en-US" sz="1150" dirty="0"/>
          </a:p>
        </p:txBody>
      </p:sp>
      <p:sp>
        <p:nvSpPr>
          <p:cNvPr id="23" name="Text 19"/>
          <p:cNvSpPr txBox="1"/>
          <p:nvPr/>
        </p:nvSpPr>
        <p:spPr>
          <a:xfrm>
            <a:off x="585216" y="1865376"/>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Salaries, on-costs, recruitment and turnover. Usually the largest line by far.</a:t>
            </a:r>
            <a:endParaRPr lang="en-US" sz="950" dirty="0"/>
          </a:p>
        </p:txBody>
      </p:sp>
      <p:sp>
        <p:nvSpPr>
          <p:cNvPr id="24" name="Shape 20"/>
          <p:cNvSpPr/>
          <p:nvPr/>
        </p:nvSpPr>
        <p:spPr>
          <a:xfrm>
            <a:off x="2542032" y="1371600"/>
            <a:ext cx="1975104" cy="1271016"/>
          </a:xfrm>
          <a:prstGeom prst="roundRect">
            <a:avLst>
              <a:gd name="adj" fmla="val 5755"/>
            </a:avLst>
          </a:prstGeom>
          <a:solidFill>
            <a:srgbClr val="F4F7F5"/>
          </a:solidFill>
          <a:ln w="9525">
            <a:solidFill>
              <a:srgbClr val="D5DED9"/>
            </a:solidFill>
            <a:prstDash val="solid"/>
          </a:ln>
        </p:spPr>
      </p:sp>
      <p:sp>
        <p:nvSpPr>
          <p:cNvPr id="25" name="Shape 21"/>
          <p:cNvSpPr/>
          <p:nvPr/>
        </p:nvSpPr>
        <p:spPr>
          <a:xfrm>
            <a:off x="2670048" y="1499616"/>
            <a:ext cx="310896" cy="310896"/>
          </a:xfrm>
          <a:prstGeom prst="ellipse">
            <a:avLst/>
          </a:prstGeom>
          <a:solidFill>
            <a:srgbClr val="C4621D">
              <a:alpha val="22000"/>
            </a:srgbClr>
          </a:solidFill>
          <a:ln/>
        </p:spPr>
      </p:sp>
      <p:pic>
        <p:nvPicPr>
          <p:cNvPr id="26" name="Image 1" descr="preencoded.png"/>
          <p:cNvPicPr>
            <a:picLocks noChangeAspect="1"/>
          </p:cNvPicPr>
          <p:nvPr/>
        </p:nvPicPr>
        <p:blipFill>
          <a:blip r:embed="rId4"/>
          <a:stretch>
            <a:fillRect/>
          </a:stretch>
        </p:blipFill>
        <p:spPr>
          <a:xfrm>
            <a:off x="2744663" y="1574231"/>
            <a:ext cx="161666" cy="161666"/>
          </a:xfrm>
          <a:prstGeom prst="rect">
            <a:avLst/>
          </a:prstGeom>
        </p:spPr>
      </p:pic>
      <p:sp>
        <p:nvSpPr>
          <p:cNvPr id="27" name="Text 22"/>
          <p:cNvSpPr txBox="1"/>
          <p:nvPr/>
        </p:nvSpPr>
        <p:spPr>
          <a:xfrm>
            <a:off x="4105656" y="1481328"/>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02</a:t>
            </a:r>
            <a:endParaRPr lang="en-US" sz="900" dirty="0"/>
          </a:p>
        </p:txBody>
      </p:sp>
      <p:sp>
        <p:nvSpPr>
          <p:cNvPr id="28" name="Text 23"/>
          <p:cNvSpPr txBox="1"/>
          <p:nvPr/>
        </p:nvSpPr>
        <p:spPr>
          <a:xfrm>
            <a:off x="3090672" y="1499616"/>
            <a:ext cx="104241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Compute &amp; storage</a:t>
            </a:r>
            <a:endParaRPr lang="en-US" sz="1150" dirty="0"/>
          </a:p>
        </p:txBody>
      </p:sp>
      <p:sp>
        <p:nvSpPr>
          <p:cNvPr id="29" name="Text 24"/>
          <p:cNvSpPr txBox="1"/>
          <p:nvPr/>
        </p:nvSpPr>
        <p:spPr>
          <a:xfrm>
            <a:off x="2670048" y="1865376"/>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Hardware purchase or cloud use, plus storage, backup and network transfer.</a:t>
            </a:r>
            <a:endParaRPr lang="en-US" sz="950" dirty="0"/>
          </a:p>
        </p:txBody>
      </p:sp>
      <p:sp>
        <p:nvSpPr>
          <p:cNvPr id="30" name="Shape 25"/>
          <p:cNvSpPr/>
          <p:nvPr/>
        </p:nvSpPr>
        <p:spPr>
          <a:xfrm>
            <a:off x="4626864" y="1371600"/>
            <a:ext cx="1975104" cy="1271016"/>
          </a:xfrm>
          <a:prstGeom prst="roundRect">
            <a:avLst>
              <a:gd name="adj" fmla="val 5755"/>
            </a:avLst>
          </a:prstGeom>
          <a:solidFill>
            <a:srgbClr val="F4F7F5"/>
          </a:solidFill>
          <a:ln w="9525">
            <a:solidFill>
              <a:srgbClr val="D5DED9"/>
            </a:solidFill>
            <a:prstDash val="solid"/>
          </a:ln>
        </p:spPr>
      </p:sp>
      <p:sp>
        <p:nvSpPr>
          <p:cNvPr id="31" name="Shape 26"/>
          <p:cNvSpPr/>
          <p:nvPr/>
        </p:nvSpPr>
        <p:spPr>
          <a:xfrm>
            <a:off x="4754880" y="1499616"/>
            <a:ext cx="310896" cy="310896"/>
          </a:xfrm>
          <a:prstGeom prst="ellipse">
            <a:avLst/>
          </a:prstGeom>
          <a:solidFill>
            <a:srgbClr val="C4621D">
              <a:alpha val="22000"/>
            </a:srgbClr>
          </a:solidFill>
          <a:ln/>
        </p:spPr>
      </p:sp>
      <p:pic>
        <p:nvPicPr>
          <p:cNvPr id="32" name="Image 2" descr="preencoded.png"/>
          <p:cNvPicPr>
            <a:picLocks noChangeAspect="1"/>
          </p:cNvPicPr>
          <p:nvPr/>
        </p:nvPicPr>
        <p:blipFill>
          <a:blip r:embed="rId5"/>
          <a:stretch>
            <a:fillRect/>
          </a:stretch>
        </p:blipFill>
        <p:spPr>
          <a:xfrm>
            <a:off x="4829495" y="1574231"/>
            <a:ext cx="161666" cy="161666"/>
          </a:xfrm>
          <a:prstGeom prst="rect">
            <a:avLst/>
          </a:prstGeom>
        </p:spPr>
      </p:pic>
      <p:sp>
        <p:nvSpPr>
          <p:cNvPr id="33" name="Text 27"/>
          <p:cNvSpPr txBox="1"/>
          <p:nvPr/>
        </p:nvSpPr>
        <p:spPr>
          <a:xfrm>
            <a:off x="6190488" y="1481328"/>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03</a:t>
            </a:r>
            <a:endParaRPr lang="en-US" sz="900" dirty="0"/>
          </a:p>
        </p:txBody>
      </p:sp>
      <p:sp>
        <p:nvSpPr>
          <p:cNvPr id="34" name="Text 28"/>
          <p:cNvSpPr txBox="1"/>
          <p:nvPr/>
        </p:nvSpPr>
        <p:spPr>
          <a:xfrm>
            <a:off x="5175504" y="1499616"/>
            <a:ext cx="104241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Data &amp; labelling</a:t>
            </a:r>
            <a:endParaRPr lang="en-US" sz="1150" dirty="0"/>
          </a:p>
        </p:txBody>
      </p:sp>
      <p:sp>
        <p:nvSpPr>
          <p:cNvPr id="35" name="Text 29"/>
          <p:cNvSpPr txBox="1"/>
          <p:nvPr/>
        </p:nvSpPr>
        <p:spPr>
          <a:xfrm>
            <a:off x="4754880" y="1865376"/>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Coding effort, guidelines, adjudication and gold-standard maintenance.</a:t>
            </a:r>
            <a:endParaRPr lang="en-US" sz="950" dirty="0"/>
          </a:p>
        </p:txBody>
      </p:sp>
      <p:sp>
        <p:nvSpPr>
          <p:cNvPr id="36" name="Shape 30"/>
          <p:cNvSpPr/>
          <p:nvPr/>
        </p:nvSpPr>
        <p:spPr>
          <a:xfrm>
            <a:off x="6711696" y="1371600"/>
            <a:ext cx="1975104" cy="1271016"/>
          </a:xfrm>
          <a:prstGeom prst="roundRect">
            <a:avLst>
              <a:gd name="adj" fmla="val 5755"/>
            </a:avLst>
          </a:prstGeom>
          <a:solidFill>
            <a:srgbClr val="F4F7F5"/>
          </a:solidFill>
          <a:ln w="9525">
            <a:solidFill>
              <a:srgbClr val="D5DED9"/>
            </a:solidFill>
            <a:prstDash val="solid"/>
          </a:ln>
        </p:spPr>
      </p:sp>
      <p:sp>
        <p:nvSpPr>
          <p:cNvPr id="37" name="Shape 31"/>
          <p:cNvSpPr/>
          <p:nvPr/>
        </p:nvSpPr>
        <p:spPr>
          <a:xfrm>
            <a:off x="6839712" y="1499616"/>
            <a:ext cx="310896" cy="310896"/>
          </a:xfrm>
          <a:prstGeom prst="ellipse">
            <a:avLst/>
          </a:prstGeom>
          <a:solidFill>
            <a:srgbClr val="C4621D">
              <a:alpha val="22000"/>
            </a:srgbClr>
          </a:solidFill>
          <a:ln/>
        </p:spPr>
      </p:sp>
      <p:pic>
        <p:nvPicPr>
          <p:cNvPr id="38" name="Image 3" descr="preencoded.png"/>
          <p:cNvPicPr>
            <a:picLocks noChangeAspect="1"/>
          </p:cNvPicPr>
          <p:nvPr/>
        </p:nvPicPr>
        <p:blipFill>
          <a:blip r:embed="rId6"/>
          <a:stretch>
            <a:fillRect/>
          </a:stretch>
        </p:blipFill>
        <p:spPr>
          <a:xfrm>
            <a:off x="6914327" y="1574231"/>
            <a:ext cx="161666" cy="161666"/>
          </a:xfrm>
          <a:prstGeom prst="rect">
            <a:avLst/>
          </a:prstGeom>
        </p:spPr>
      </p:pic>
      <p:sp>
        <p:nvSpPr>
          <p:cNvPr id="39" name="Text 32"/>
          <p:cNvSpPr txBox="1"/>
          <p:nvPr/>
        </p:nvSpPr>
        <p:spPr>
          <a:xfrm>
            <a:off x="8275320" y="1481328"/>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04</a:t>
            </a:r>
            <a:endParaRPr lang="en-US" sz="900" dirty="0"/>
          </a:p>
        </p:txBody>
      </p:sp>
      <p:sp>
        <p:nvSpPr>
          <p:cNvPr id="40" name="Text 33"/>
          <p:cNvSpPr txBox="1"/>
          <p:nvPr/>
        </p:nvSpPr>
        <p:spPr>
          <a:xfrm>
            <a:off x="7260336" y="1499616"/>
            <a:ext cx="104241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Software &amp; licences</a:t>
            </a:r>
            <a:endParaRPr lang="en-US" sz="1150" dirty="0"/>
          </a:p>
        </p:txBody>
      </p:sp>
      <p:sp>
        <p:nvSpPr>
          <p:cNvPr id="41" name="Text 34"/>
          <p:cNvSpPr txBox="1"/>
          <p:nvPr/>
        </p:nvSpPr>
        <p:spPr>
          <a:xfrm>
            <a:off x="6839712" y="1865376"/>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Platform, MLOps, annotation, security and monitoring tools — and renewals.</a:t>
            </a:r>
            <a:endParaRPr lang="en-US" sz="950" dirty="0"/>
          </a:p>
        </p:txBody>
      </p:sp>
      <p:sp>
        <p:nvSpPr>
          <p:cNvPr id="42" name="Shape 35"/>
          <p:cNvSpPr/>
          <p:nvPr/>
        </p:nvSpPr>
        <p:spPr>
          <a:xfrm>
            <a:off x="457200" y="2752344"/>
            <a:ext cx="1975104" cy="1271016"/>
          </a:xfrm>
          <a:prstGeom prst="roundRect">
            <a:avLst>
              <a:gd name="adj" fmla="val 5755"/>
            </a:avLst>
          </a:prstGeom>
          <a:solidFill>
            <a:srgbClr val="F4F7F5"/>
          </a:solidFill>
          <a:ln w="9525">
            <a:solidFill>
              <a:srgbClr val="D5DED9"/>
            </a:solidFill>
            <a:prstDash val="solid"/>
          </a:ln>
        </p:spPr>
      </p:sp>
      <p:sp>
        <p:nvSpPr>
          <p:cNvPr id="43" name="Shape 36"/>
          <p:cNvSpPr/>
          <p:nvPr/>
        </p:nvSpPr>
        <p:spPr>
          <a:xfrm>
            <a:off x="585216" y="2880360"/>
            <a:ext cx="310896" cy="310896"/>
          </a:xfrm>
          <a:prstGeom prst="ellipse">
            <a:avLst/>
          </a:prstGeom>
          <a:solidFill>
            <a:srgbClr val="C4621D">
              <a:alpha val="22000"/>
            </a:srgbClr>
          </a:solidFill>
          <a:ln/>
        </p:spPr>
      </p:sp>
      <p:pic>
        <p:nvPicPr>
          <p:cNvPr id="44" name="Image 4" descr="preencoded.png"/>
          <p:cNvPicPr>
            <a:picLocks noChangeAspect="1"/>
          </p:cNvPicPr>
          <p:nvPr/>
        </p:nvPicPr>
        <p:blipFill>
          <a:blip r:embed="rId7"/>
          <a:stretch>
            <a:fillRect/>
          </a:stretch>
        </p:blipFill>
        <p:spPr>
          <a:xfrm>
            <a:off x="659831" y="2954975"/>
            <a:ext cx="161666" cy="161666"/>
          </a:xfrm>
          <a:prstGeom prst="rect">
            <a:avLst/>
          </a:prstGeom>
        </p:spPr>
      </p:pic>
      <p:sp>
        <p:nvSpPr>
          <p:cNvPr id="45" name="Text 37"/>
          <p:cNvSpPr txBox="1"/>
          <p:nvPr/>
        </p:nvSpPr>
        <p:spPr>
          <a:xfrm>
            <a:off x="2020824" y="2862072"/>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05</a:t>
            </a:r>
            <a:endParaRPr lang="en-US" sz="900" dirty="0"/>
          </a:p>
        </p:txBody>
      </p:sp>
      <p:sp>
        <p:nvSpPr>
          <p:cNvPr id="46" name="Text 38"/>
          <p:cNvSpPr txBox="1"/>
          <p:nvPr/>
        </p:nvSpPr>
        <p:spPr>
          <a:xfrm>
            <a:off x="1005840" y="2880360"/>
            <a:ext cx="104241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Facility</a:t>
            </a:r>
            <a:endParaRPr lang="en-US" sz="1150" dirty="0"/>
          </a:p>
        </p:txBody>
      </p:sp>
      <p:sp>
        <p:nvSpPr>
          <p:cNvPr id="47" name="Text 39"/>
          <p:cNvSpPr txBox="1"/>
          <p:nvPr/>
        </p:nvSpPr>
        <p:spPr>
          <a:xfrm>
            <a:off x="585216" y="3246120"/>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Power, backup generation, cooling and space. On-premises only; often another budget.</a:t>
            </a:r>
            <a:endParaRPr lang="en-US" sz="950" dirty="0"/>
          </a:p>
        </p:txBody>
      </p:sp>
      <p:sp>
        <p:nvSpPr>
          <p:cNvPr id="48" name="Shape 40"/>
          <p:cNvSpPr/>
          <p:nvPr/>
        </p:nvSpPr>
        <p:spPr>
          <a:xfrm>
            <a:off x="2542032" y="2752344"/>
            <a:ext cx="1975104" cy="1271016"/>
          </a:xfrm>
          <a:prstGeom prst="roundRect">
            <a:avLst>
              <a:gd name="adj" fmla="val 5755"/>
            </a:avLst>
          </a:prstGeom>
          <a:solidFill>
            <a:srgbClr val="F4F7F5"/>
          </a:solidFill>
          <a:ln w="9525">
            <a:solidFill>
              <a:srgbClr val="D5DED9"/>
            </a:solidFill>
            <a:prstDash val="solid"/>
          </a:ln>
        </p:spPr>
      </p:sp>
      <p:sp>
        <p:nvSpPr>
          <p:cNvPr id="49" name="Shape 41"/>
          <p:cNvSpPr/>
          <p:nvPr/>
        </p:nvSpPr>
        <p:spPr>
          <a:xfrm>
            <a:off x="2670048" y="2880360"/>
            <a:ext cx="310896" cy="310896"/>
          </a:xfrm>
          <a:prstGeom prst="ellipse">
            <a:avLst/>
          </a:prstGeom>
          <a:solidFill>
            <a:srgbClr val="C4621D">
              <a:alpha val="22000"/>
            </a:srgbClr>
          </a:solidFill>
          <a:ln/>
        </p:spPr>
      </p:sp>
      <p:pic>
        <p:nvPicPr>
          <p:cNvPr id="50" name="Image 5" descr="preencoded.png"/>
          <p:cNvPicPr>
            <a:picLocks noChangeAspect="1"/>
          </p:cNvPicPr>
          <p:nvPr/>
        </p:nvPicPr>
        <p:blipFill>
          <a:blip r:embed="rId8"/>
          <a:stretch>
            <a:fillRect/>
          </a:stretch>
        </p:blipFill>
        <p:spPr>
          <a:xfrm>
            <a:off x="2744663" y="2954975"/>
            <a:ext cx="161666" cy="161666"/>
          </a:xfrm>
          <a:prstGeom prst="rect">
            <a:avLst/>
          </a:prstGeom>
        </p:spPr>
      </p:pic>
      <p:sp>
        <p:nvSpPr>
          <p:cNvPr id="51" name="Text 42"/>
          <p:cNvSpPr txBox="1"/>
          <p:nvPr/>
        </p:nvSpPr>
        <p:spPr>
          <a:xfrm>
            <a:off x="4105656" y="2862072"/>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06</a:t>
            </a:r>
            <a:endParaRPr lang="en-US" sz="900" dirty="0"/>
          </a:p>
        </p:txBody>
      </p:sp>
      <p:sp>
        <p:nvSpPr>
          <p:cNvPr id="52" name="Text 43"/>
          <p:cNvSpPr txBox="1"/>
          <p:nvPr/>
        </p:nvSpPr>
        <p:spPr>
          <a:xfrm>
            <a:off x="3090672" y="2880360"/>
            <a:ext cx="104241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Governance &amp; assurance</a:t>
            </a:r>
            <a:endParaRPr lang="en-US" sz="1150" dirty="0"/>
          </a:p>
        </p:txBody>
      </p:sp>
      <p:sp>
        <p:nvSpPr>
          <p:cNvPr id="53" name="Text 44"/>
          <p:cNvSpPr txBox="1"/>
          <p:nvPr/>
        </p:nvSpPr>
        <p:spPr>
          <a:xfrm>
            <a:off x="2670048" y="3246120"/>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Legal review, impact assessments, security testing, audit and documentation.</a:t>
            </a:r>
            <a:endParaRPr lang="en-US" sz="950" dirty="0"/>
          </a:p>
        </p:txBody>
      </p:sp>
      <p:sp>
        <p:nvSpPr>
          <p:cNvPr id="54" name="Shape 45"/>
          <p:cNvSpPr/>
          <p:nvPr/>
        </p:nvSpPr>
        <p:spPr>
          <a:xfrm>
            <a:off x="4626864" y="2752344"/>
            <a:ext cx="1975104" cy="1271016"/>
          </a:xfrm>
          <a:prstGeom prst="roundRect">
            <a:avLst>
              <a:gd name="adj" fmla="val 5755"/>
            </a:avLst>
          </a:prstGeom>
          <a:solidFill>
            <a:srgbClr val="F4F7F5"/>
          </a:solidFill>
          <a:ln w="9525">
            <a:solidFill>
              <a:srgbClr val="D5DED9"/>
            </a:solidFill>
            <a:prstDash val="solid"/>
          </a:ln>
        </p:spPr>
      </p:sp>
      <p:sp>
        <p:nvSpPr>
          <p:cNvPr id="55" name="Shape 46"/>
          <p:cNvSpPr/>
          <p:nvPr/>
        </p:nvSpPr>
        <p:spPr>
          <a:xfrm>
            <a:off x="4754880" y="2880360"/>
            <a:ext cx="310896" cy="310896"/>
          </a:xfrm>
          <a:prstGeom prst="ellipse">
            <a:avLst/>
          </a:prstGeom>
          <a:solidFill>
            <a:srgbClr val="C4621D">
              <a:alpha val="22000"/>
            </a:srgbClr>
          </a:solidFill>
          <a:ln/>
        </p:spPr>
      </p:sp>
      <p:pic>
        <p:nvPicPr>
          <p:cNvPr id="56" name="Image 6" descr="preencoded.png"/>
          <p:cNvPicPr>
            <a:picLocks noChangeAspect="1"/>
          </p:cNvPicPr>
          <p:nvPr/>
        </p:nvPicPr>
        <p:blipFill>
          <a:blip r:embed="rId9"/>
          <a:stretch>
            <a:fillRect/>
          </a:stretch>
        </p:blipFill>
        <p:spPr>
          <a:xfrm>
            <a:off x="4829495" y="2954975"/>
            <a:ext cx="161666" cy="161666"/>
          </a:xfrm>
          <a:prstGeom prst="rect">
            <a:avLst/>
          </a:prstGeom>
        </p:spPr>
      </p:pic>
      <p:sp>
        <p:nvSpPr>
          <p:cNvPr id="57" name="Text 47"/>
          <p:cNvSpPr txBox="1"/>
          <p:nvPr/>
        </p:nvSpPr>
        <p:spPr>
          <a:xfrm>
            <a:off x="6190488" y="2862072"/>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07</a:t>
            </a:r>
            <a:endParaRPr lang="en-US" sz="900" dirty="0"/>
          </a:p>
        </p:txBody>
      </p:sp>
      <p:sp>
        <p:nvSpPr>
          <p:cNvPr id="58" name="Text 48"/>
          <p:cNvSpPr txBox="1"/>
          <p:nvPr/>
        </p:nvSpPr>
        <p:spPr>
          <a:xfrm>
            <a:off x="5175504" y="2880360"/>
            <a:ext cx="104241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Change &amp; training</a:t>
            </a:r>
            <a:endParaRPr lang="en-US" sz="1150" dirty="0"/>
          </a:p>
        </p:txBody>
      </p:sp>
      <p:sp>
        <p:nvSpPr>
          <p:cNvPr id="59" name="Text 49"/>
          <p:cNvSpPr txBox="1"/>
          <p:nvPr/>
        </p:nvSpPr>
        <p:spPr>
          <a:xfrm>
            <a:off x="4754880" y="3246120"/>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Curriculum, delivery, staff time in training and communication.</a:t>
            </a:r>
            <a:endParaRPr lang="en-US" sz="950" dirty="0"/>
          </a:p>
        </p:txBody>
      </p:sp>
      <p:sp>
        <p:nvSpPr>
          <p:cNvPr id="60" name="Shape 50"/>
          <p:cNvSpPr/>
          <p:nvPr/>
        </p:nvSpPr>
        <p:spPr>
          <a:xfrm>
            <a:off x="6711696" y="2752344"/>
            <a:ext cx="1975104" cy="1271016"/>
          </a:xfrm>
          <a:prstGeom prst="roundRect">
            <a:avLst>
              <a:gd name="adj" fmla="val 5755"/>
            </a:avLst>
          </a:prstGeom>
          <a:solidFill>
            <a:srgbClr val="E8F5EF"/>
          </a:solidFill>
          <a:ln w="15875">
            <a:solidFill>
              <a:srgbClr val="B83B2E"/>
            </a:solidFill>
            <a:prstDash val="solid"/>
          </a:ln>
        </p:spPr>
      </p:sp>
      <p:sp>
        <p:nvSpPr>
          <p:cNvPr id="61" name="Shape 51"/>
          <p:cNvSpPr/>
          <p:nvPr/>
        </p:nvSpPr>
        <p:spPr>
          <a:xfrm>
            <a:off x="6839712" y="2880360"/>
            <a:ext cx="310896" cy="310896"/>
          </a:xfrm>
          <a:prstGeom prst="ellipse">
            <a:avLst/>
          </a:prstGeom>
          <a:solidFill>
            <a:srgbClr val="B83B2E">
              <a:alpha val="22000"/>
            </a:srgbClr>
          </a:solidFill>
          <a:ln/>
        </p:spPr>
      </p:sp>
      <p:pic>
        <p:nvPicPr>
          <p:cNvPr id="62" name="Image 7" descr="preencoded.png"/>
          <p:cNvPicPr>
            <a:picLocks noChangeAspect="1"/>
          </p:cNvPicPr>
          <p:nvPr/>
        </p:nvPicPr>
        <p:blipFill>
          <a:blip r:embed="rId10"/>
          <a:stretch>
            <a:fillRect/>
          </a:stretch>
        </p:blipFill>
        <p:spPr>
          <a:xfrm>
            <a:off x="6914327" y="2954975"/>
            <a:ext cx="161666" cy="161666"/>
          </a:xfrm>
          <a:prstGeom prst="rect">
            <a:avLst/>
          </a:prstGeom>
        </p:spPr>
      </p:pic>
      <p:sp>
        <p:nvSpPr>
          <p:cNvPr id="63" name="Text 52"/>
          <p:cNvSpPr txBox="1"/>
          <p:nvPr/>
        </p:nvSpPr>
        <p:spPr>
          <a:xfrm>
            <a:off x="8275320" y="2862072"/>
            <a:ext cx="292608" cy="182880"/>
          </a:xfrm>
          <a:prstGeom prst="rect">
            <a:avLst/>
          </a:prstGeom>
          <a:noFill/>
          <a:ln/>
        </p:spPr>
        <p:txBody>
          <a:bodyPr wrap="square" lIns="0" tIns="0" rIns="0" bIns="0" rtlCol="0" anchor="t"/>
          <a:lstStyle/>
          <a:p>
            <a:pPr marL="0" indent="0" algn="r">
              <a:buNone/>
            </a:pPr>
            <a:r>
              <a:rPr lang="en-US" sz="900" b="1" dirty="0">
                <a:solidFill>
                  <a:srgbClr val="B83B2E"/>
                </a:solidFill>
                <a:latin typeface="Calibri" pitchFamily="34" charset="0"/>
                <a:ea typeface="Calibri" pitchFamily="34" charset="-122"/>
                <a:cs typeface="Calibri" pitchFamily="34" charset="-120"/>
              </a:rPr>
              <a:t>08</a:t>
            </a:r>
            <a:endParaRPr lang="en-US" sz="900" dirty="0"/>
          </a:p>
        </p:txBody>
      </p:sp>
      <p:sp>
        <p:nvSpPr>
          <p:cNvPr id="64" name="Text 53"/>
          <p:cNvSpPr txBox="1"/>
          <p:nvPr/>
        </p:nvSpPr>
        <p:spPr>
          <a:xfrm>
            <a:off x="7260336" y="2880360"/>
            <a:ext cx="104241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Run &amp; maintenance</a:t>
            </a:r>
            <a:endParaRPr lang="en-US" sz="1150" dirty="0"/>
          </a:p>
        </p:txBody>
      </p:sp>
      <p:sp>
        <p:nvSpPr>
          <p:cNvPr id="65" name="Text 54"/>
          <p:cNvSpPr txBox="1"/>
          <p:nvPr/>
        </p:nvSpPr>
        <p:spPr>
          <a:xfrm>
            <a:off x="6839712" y="3246120"/>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Budget 15–25% of build cost every year the capability exists. Most often omitted.</a:t>
            </a:r>
            <a:endParaRPr lang="en-US" sz="950" dirty="0"/>
          </a:p>
        </p:txBody>
      </p:sp>
      <p:sp>
        <p:nvSpPr>
          <p:cNvPr id="66" name="Shape 55"/>
          <p:cNvSpPr/>
          <p:nvPr/>
        </p:nvSpPr>
        <p:spPr>
          <a:xfrm>
            <a:off x="457200" y="4133088"/>
            <a:ext cx="8229600" cy="457200"/>
          </a:xfrm>
          <a:prstGeom prst="roundRect">
            <a:avLst>
              <a:gd name="adj" fmla="val 12000"/>
            </a:avLst>
          </a:prstGeom>
          <a:solidFill>
            <a:srgbClr val="E8F5EF"/>
          </a:solidFill>
          <a:ln w="15875">
            <a:solidFill>
              <a:srgbClr val="C4621D"/>
            </a:solidFill>
            <a:prstDash val="solid"/>
          </a:ln>
        </p:spPr>
      </p:sp>
      <p:sp>
        <p:nvSpPr>
          <p:cNvPr id="67" name="Shape 56"/>
          <p:cNvSpPr/>
          <p:nvPr/>
        </p:nvSpPr>
        <p:spPr>
          <a:xfrm>
            <a:off x="566928" y="4215384"/>
            <a:ext cx="292608" cy="292608"/>
          </a:xfrm>
          <a:prstGeom prst="ellipse">
            <a:avLst/>
          </a:prstGeom>
          <a:solidFill>
            <a:srgbClr val="C4621D">
              <a:alpha val="22000"/>
            </a:srgbClr>
          </a:solidFill>
          <a:ln/>
        </p:spPr>
      </p:sp>
      <p:pic>
        <p:nvPicPr>
          <p:cNvPr id="68" name="Image 8" descr="preencoded.png"/>
          <p:cNvPicPr>
            <a:picLocks noChangeAspect="1"/>
          </p:cNvPicPr>
          <p:nvPr/>
        </p:nvPicPr>
        <p:blipFill>
          <a:blip r:embed="rId11"/>
          <a:stretch>
            <a:fillRect/>
          </a:stretch>
        </p:blipFill>
        <p:spPr>
          <a:xfrm>
            <a:off x="637154" y="4285610"/>
            <a:ext cx="152156" cy="152156"/>
          </a:xfrm>
          <a:prstGeom prst="rect">
            <a:avLst/>
          </a:prstGeom>
        </p:spPr>
      </p:pic>
      <p:sp>
        <p:nvSpPr>
          <p:cNvPr id="69" name="Text 57"/>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If a proposed AI budget is mostly hardware, it is not a budget for a capability — it is a budget for equipment nobody has been funded to operate.</a:t>
            </a:r>
            <a:endParaRPr lang="en-US" sz="1050" dirty="0"/>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COST COMPOSITION</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Where the five-year money goes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Illustrative composition for a mid-sized office running two or three production use cases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48</a:t>
            </a:r>
            <a:endParaRPr lang="en-US" sz="850" dirty="0"/>
          </a:p>
        </p:txBody>
      </p:sp>
      <p:sp>
        <p:nvSpPr>
          <p:cNvPr id="18" name="Shape 15"/>
          <p:cNvSpPr/>
          <p:nvPr/>
        </p:nvSpPr>
        <p:spPr>
          <a:xfrm>
            <a:off x="457200" y="1371600"/>
            <a:ext cx="4206240" cy="3154680"/>
          </a:xfrm>
          <a:prstGeom prst="roundRect">
            <a:avLst>
              <a:gd name="adj" fmla="val 2319"/>
            </a:avLst>
          </a:prstGeom>
          <a:solidFill>
            <a:srgbClr val="F4F7F5"/>
          </a:solidFill>
          <a:ln w="9525">
            <a:solidFill>
              <a:srgbClr val="D5DED9"/>
            </a:solidFill>
            <a:prstDash val="solid"/>
          </a:ln>
        </p:spPr>
      </p:sp>
      <p:sp>
        <p:nvSpPr>
          <p:cNvPr id="19" name="Text 16"/>
          <p:cNvSpPr txBox="1"/>
          <p:nvPr/>
        </p:nvSpPr>
        <p:spPr>
          <a:xfrm>
            <a:off x="640080" y="1463040"/>
            <a:ext cx="384048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Share of five-year total cost (%)</a:t>
            </a:r>
            <a:endParaRPr lang="en-US" sz="1100" dirty="0"/>
          </a:p>
        </p:txBody>
      </p:sp>
      <p:graphicFrame>
        <p:nvGraphicFramePr>
          <p:cNvPr id="20" name="Chart 0"/>
          <p:cNvGraphicFramePr/>
          <p:nvPr/>
        </p:nvGraphicFramePr>
        <p:xfrm>
          <a:off x="548640" y="1737360"/>
          <a:ext cx="402336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21" name="Shape 17"/>
          <p:cNvSpPr/>
          <p:nvPr/>
        </p:nvSpPr>
        <p:spPr>
          <a:xfrm>
            <a:off x="4846320" y="1371600"/>
            <a:ext cx="3840480" cy="713232"/>
          </a:xfrm>
          <a:prstGeom prst="roundRect">
            <a:avLst>
              <a:gd name="adj" fmla="val 10256"/>
            </a:avLst>
          </a:prstGeom>
          <a:solidFill>
            <a:srgbClr val="F4F7F5"/>
          </a:solidFill>
          <a:ln w="9525">
            <a:solidFill>
              <a:srgbClr val="D5DED9"/>
            </a:solidFill>
            <a:prstDash val="solid"/>
          </a:ln>
        </p:spPr>
      </p:sp>
      <p:sp>
        <p:nvSpPr>
          <p:cNvPr id="22" name="Shape 18"/>
          <p:cNvSpPr/>
          <p:nvPr/>
        </p:nvSpPr>
        <p:spPr>
          <a:xfrm>
            <a:off x="4956048" y="1554480"/>
            <a:ext cx="347472" cy="347472"/>
          </a:xfrm>
          <a:prstGeom prst="ellipse">
            <a:avLst/>
          </a:prstGeom>
          <a:solidFill>
            <a:srgbClr val="C4621D">
              <a:alpha val="22000"/>
            </a:srgbClr>
          </a:solidFill>
          <a:ln/>
        </p:spPr>
      </p:sp>
      <p:pic>
        <p:nvPicPr>
          <p:cNvPr id="23" name="Image 0" descr="preencoded.png"/>
          <p:cNvPicPr>
            <a:picLocks noChangeAspect="1"/>
          </p:cNvPicPr>
          <p:nvPr/>
        </p:nvPicPr>
        <p:blipFill>
          <a:blip r:embed="rId4"/>
          <a:stretch>
            <a:fillRect/>
          </a:stretch>
        </p:blipFill>
        <p:spPr>
          <a:xfrm>
            <a:off x="5039441" y="1637873"/>
            <a:ext cx="180685" cy="180685"/>
          </a:xfrm>
          <a:prstGeom prst="rect">
            <a:avLst/>
          </a:prstGeom>
        </p:spPr>
      </p:pic>
      <p:sp>
        <p:nvSpPr>
          <p:cNvPr id="24" name="Text 19"/>
          <p:cNvSpPr txBox="1"/>
          <p:nvPr/>
        </p:nvSpPr>
        <p:spPr>
          <a:xfrm>
            <a:off x="5440680" y="1435608"/>
            <a:ext cx="315468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People dominate</a:t>
            </a:r>
            <a:endParaRPr lang="en-US" sz="1100" dirty="0"/>
          </a:p>
        </p:txBody>
      </p:sp>
      <p:sp>
        <p:nvSpPr>
          <p:cNvPr id="25" name="Text 20"/>
          <p:cNvSpPr txBox="1"/>
          <p:nvPr/>
        </p:nvSpPr>
        <p:spPr>
          <a:xfrm>
            <a:off x="5440680" y="1664208"/>
            <a:ext cx="3154680" cy="38404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Nearly half of five-year cost is salary — so staffing moves the total more than hosting does.</a:t>
            </a:r>
            <a:endParaRPr lang="en-US" sz="950" dirty="0"/>
          </a:p>
        </p:txBody>
      </p:sp>
      <p:sp>
        <p:nvSpPr>
          <p:cNvPr id="26" name="Shape 21"/>
          <p:cNvSpPr/>
          <p:nvPr/>
        </p:nvSpPr>
        <p:spPr>
          <a:xfrm>
            <a:off x="4846320" y="2171700"/>
            <a:ext cx="3840480" cy="713232"/>
          </a:xfrm>
          <a:prstGeom prst="roundRect">
            <a:avLst>
              <a:gd name="adj" fmla="val 10256"/>
            </a:avLst>
          </a:prstGeom>
          <a:solidFill>
            <a:srgbClr val="F4F7F5"/>
          </a:solidFill>
          <a:ln w="9525">
            <a:solidFill>
              <a:srgbClr val="D5DED9"/>
            </a:solidFill>
            <a:prstDash val="solid"/>
          </a:ln>
        </p:spPr>
      </p:sp>
      <p:sp>
        <p:nvSpPr>
          <p:cNvPr id="27" name="Shape 22"/>
          <p:cNvSpPr/>
          <p:nvPr/>
        </p:nvSpPr>
        <p:spPr>
          <a:xfrm>
            <a:off x="4956048" y="2354580"/>
            <a:ext cx="347472" cy="347472"/>
          </a:xfrm>
          <a:prstGeom prst="ellipse">
            <a:avLst/>
          </a:prstGeom>
          <a:solidFill>
            <a:srgbClr val="C4621D">
              <a:alpha val="22000"/>
            </a:srgbClr>
          </a:solidFill>
          <a:ln/>
        </p:spPr>
      </p:sp>
      <p:pic>
        <p:nvPicPr>
          <p:cNvPr id="28" name="Image 1" descr="preencoded.png"/>
          <p:cNvPicPr>
            <a:picLocks noChangeAspect="1"/>
          </p:cNvPicPr>
          <p:nvPr/>
        </p:nvPicPr>
        <p:blipFill>
          <a:blip r:embed="rId5"/>
          <a:stretch>
            <a:fillRect/>
          </a:stretch>
        </p:blipFill>
        <p:spPr>
          <a:xfrm>
            <a:off x="5039441" y="2437973"/>
            <a:ext cx="180685" cy="180685"/>
          </a:xfrm>
          <a:prstGeom prst="rect">
            <a:avLst/>
          </a:prstGeom>
        </p:spPr>
      </p:pic>
      <p:sp>
        <p:nvSpPr>
          <p:cNvPr id="29" name="Text 23"/>
          <p:cNvSpPr txBox="1"/>
          <p:nvPr/>
        </p:nvSpPr>
        <p:spPr>
          <a:xfrm>
            <a:off x="5440680" y="2235708"/>
            <a:ext cx="315468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Compute is a minority</a:t>
            </a:r>
            <a:endParaRPr lang="en-US" sz="1100" dirty="0"/>
          </a:p>
        </p:txBody>
      </p:sp>
      <p:sp>
        <p:nvSpPr>
          <p:cNvPr id="30" name="Text 24"/>
          <p:cNvSpPr txBox="1"/>
          <p:nvPr/>
        </p:nvSpPr>
        <p:spPr>
          <a:xfrm>
            <a:off x="5440680" y="2464308"/>
            <a:ext cx="3154680" cy="38404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Hardware plus facility rarely exceeds about a quarter of the total.</a:t>
            </a:r>
            <a:endParaRPr lang="en-US" sz="950" dirty="0"/>
          </a:p>
        </p:txBody>
      </p:sp>
      <p:sp>
        <p:nvSpPr>
          <p:cNvPr id="31" name="Shape 25"/>
          <p:cNvSpPr/>
          <p:nvPr/>
        </p:nvSpPr>
        <p:spPr>
          <a:xfrm>
            <a:off x="4846320" y="2971800"/>
            <a:ext cx="3840480" cy="713232"/>
          </a:xfrm>
          <a:prstGeom prst="roundRect">
            <a:avLst>
              <a:gd name="adj" fmla="val 10256"/>
            </a:avLst>
          </a:prstGeom>
          <a:solidFill>
            <a:srgbClr val="F4F7F5"/>
          </a:solidFill>
          <a:ln w="9525">
            <a:solidFill>
              <a:srgbClr val="D5DED9"/>
            </a:solidFill>
            <a:prstDash val="solid"/>
          </a:ln>
        </p:spPr>
      </p:sp>
      <p:sp>
        <p:nvSpPr>
          <p:cNvPr id="32" name="Shape 26"/>
          <p:cNvSpPr/>
          <p:nvPr/>
        </p:nvSpPr>
        <p:spPr>
          <a:xfrm>
            <a:off x="4956048" y="3154680"/>
            <a:ext cx="347472" cy="347472"/>
          </a:xfrm>
          <a:prstGeom prst="ellipse">
            <a:avLst/>
          </a:prstGeom>
          <a:solidFill>
            <a:srgbClr val="C4621D">
              <a:alpha val="22000"/>
            </a:srgbClr>
          </a:solidFill>
          <a:ln/>
        </p:spPr>
      </p:sp>
      <p:pic>
        <p:nvPicPr>
          <p:cNvPr id="33" name="Image 2" descr="preencoded.png"/>
          <p:cNvPicPr>
            <a:picLocks noChangeAspect="1"/>
          </p:cNvPicPr>
          <p:nvPr/>
        </p:nvPicPr>
        <p:blipFill>
          <a:blip r:embed="rId6"/>
          <a:stretch>
            <a:fillRect/>
          </a:stretch>
        </p:blipFill>
        <p:spPr>
          <a:xfrm>
            <a:off x="5039441" y="3238073"/>
            <a:ext cx="180685" cy="180685"/>
          </a:xfrm>
          <a:prstGeom prst="rect">
            <a:avLst/>
          </a:prstGeom>
        </p:spPr>
      </p:pic>
      <p:sp>
        <p:nvSpPr>
          <p:cNvPr id="34" name="Text 27"/>
          <p:cNvSpPr txBox="1"/>
          <p:nvPr/>
        </p:nvSpPr>
        <p:spPr>
          <a:xfrm>
            <a:off x="5440680" y="3035808"/>
            <a:ext cx="315468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Governance is not free</a:t>
            </a:r>
            <a:endParaRPr lang="en-US" sz="1100" dirty="0"/>
          </a:p>
        </p:txBody>
      </p:sp>
      <p:sp>
        <p:nvSpPr>
          <p:cNvPr id="35" name="Text 28"/>
          <p:cNvSpPr txBox="1"/>
          <p:nvPr/>
        </p:nvSpPr>
        <p:spPr>
          <a:xfrm>
            <a:off x="5440680" y="3264408"/>
            <a:ext cx="3154680" cy="38404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Assurance is real, recurring effort. Budget it or it is taken from delivery.</a:t>
            </a:r>
            <a:endParaRPr lang="en-US" sz="950" dirty="0"/>
          </a:p>
        </p:txBody>
      </p:sp>
      <p:sp>
        <p:nvSpPr>
          <p:cNvPr id="36" name="Shape 29"/>
          <p:cNvSpPr/>
          <p:nvPr/>
        </p:nvSpPr>
        <p:spPr>
          <a:xfrm>
            <a:off x="4846320" y="3771900"/>
            <a:ext cx="3840480" cy="713232"/>
          </a:xfrm>
          <a:prstGeom prst="roundRect">
            <a:avLst>
              <a:gd name="adj" fmla="val 10256"/>
            </a:avLst>
          </a:prstGeom>
          <a:solidFill>
            <a:srgbClr val="F4F7F5"/>
          </a:solidFill>
          <a:ln w="9525">
            <a:solidFill>
              <a:srgbClr val="D5DED9"/>
            </a:solidFill>
            <a:prstDash val="solid"/>
          </a:ln>
        </p:spPr>
      </p:sp>
      <p:sp>
        <p:nvSpPr>
          <p:cNvPr id="37" name="Shape 30"/>
          <p:cNvSpPr/>
          <p:nvPr/>
        </p:nvSpPr>
        <p:spPr>
          <a:xfrm>
            <a:off x="4956048" y="3954780"/>
            <a:ext cx="347472" cy="347472"/>
          </a:xfrm>
          <a:prstGeom prst="ellipse">
            <a:avLst/>
          </a:prstGeom>
          <a:solidFill>
            <a:srgbClr val="C4621D">
              <a:alpha val="22000"/>
            </a:srgbClr>
          </a:solidFill>
          <a:ln/>
        </p:spPr>
      </p:sp>
      <p:pic>
        <p:nvPicPr>
          <p:cNvPr id="38" name="Image 3" descr="preencoded.png"/>
          <p:cNvPicPr>
            <a:picLocks noChangeAspect="1"/>
          </p:cNvPicPr>
          <p:nvPr/>
        </p:nvPicPr>
        <p:blipFill>
          <a:blip r:embed="rId7"/>
          <a:stretch>
            <a:fillRect/>
          </a:stretch>
        </p:blipFill>
        <p:spPr>
          <a:xfrm>
            <a:off x="5039441" y="4038173"/>
            <a:ext cx="180685" cy="180685"/>
          </a:xfrm>
          <a:prstGeom prst="rect">
            <a:avLst/>
          </a:prstGeom>
        </p:spPr>
      </p:pic>
      <p:sp>
        <p:nvSpPr>
          <p:cNvPr id="39" name="Text 31"/>
          <p:cNvSpPr txBox="1"/>
          <p:nvPr/>
        </p:nvSpPr>
        <p:spPr>
          <a:xfrm>
            <a:off x="5440680" y="3835908"/>
            <a:ext cx="315468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Labelling is an investment</a:t>
            </a:r>
            <a:endParaRPr lang="en-US" sz="1100" dirty="0"/>
          </a:p>
        </p:txBody>
      </p:sp>
      <p:sp>
        <p:nvSpPr>
          <p:cNvPr id="40" name="Text 32"/>
          <p:cNvSpPr txBox="1"/>
          <p:nvPr/>
        </p:nvSpPr>
        <p:spPr>
          <a:xfrm>
            <a:off x="5440680" y="4064508"/>
            <a:ext cx="3154680" cy="38404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The gold standard outlives every model trained on it.</a:t>
            </a:r>
            <a:endParaRPr lang="en-US" sz="950" dirty="0"/>
          </a:p>
        </p:txBody>
      </p:sp>
      <p:sp>
        <p:nvSpPr>
          <p:cNvPr id="41" name="Text 33"/>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Illustrative planning model based on typical public-sector experience — not measurements. Substitute your own unit costs before use.</a:t>
            </a:r>
            <a:endParaRPr lang="en-US" sz="850" dirty="0"/>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SCENARIO COMPARISON</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Five-year cost of ownership: three scenarios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Same office, same two use cases, three deployment choices (illustrative, thousands of units)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49</a:t>
            </a:r>
            <a:endParaRPr lang="en-US" sz="850" dirty="0"/>
          </a:p>
        </p:txBody>
      </p:sp>
      <p:sp>
        <p:nvSpPr>
          <p:cNvPr id="18" name="Shape 15"/>
          <p:cNvSpPr/>
          <p:nvPr/>
        </p:nvSpPr>
        <p:spPr>
          <a:xfrm>
            <a:off x="457200" y="1371600"/>
            <a:ext cx="5394960" cy="3154680"/>
          </a:xfrm>
          <a:prstGeom prst="roundRect">
            <a:avLst>
              <a:gd name="adj" fmla="val 2319"/>
            </a:avLst>
          </a:prstGeom>
          <a:solidFill>
            <a:srgbClr val="F4F7F5"/>
          </a:solidFill>
          <a:ln w="9525">
            <a:solidFill>
              <a:srgbClr val="D5DED9"/>
            </a:solidFill>
            <a:prstDash val="solid"/>
          </a:ln>
        </p:spPr>
      </p:sp>
      <p:graphicFrame>
        <p:nvGraphicFramePr>
          <p:cNvPr id="19" name="Chart 0"/>
          <p:cNvGraphicFramePr/>
          <p:nvPr/>
        </p:nvGraphicFramePr>
        <p:xfrm>
          <a:off x="548640" y="1417320"/>
          <a:ext cx="521208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6"/>
          <p:cNvSpPr/>
          <p:nvPr/>
        </p:nvSpPr>
        <p:spPr>
          <a:xfrm>
            <a:off x="6035040" y="1371600"/>
            <a:ext cx="2651760" cy="731520"/>
          </a:xfrm>
          <a:prstGeom prst="roundRect">
            <a:avLst>
              <a:gd name="adj" fmla="val 10000"/>
            </a:avLst>
          </a:prstGeom>
          <a:solidFill>
            <a:srgbClr val="F4F7F5"/>
          </a:solidFill>
          <a:ln w="9525">
            <a:solidFill>
              <a:srgbClr val="D5DED9"/>
            </a:solidFill>
            <a:prstDash val="solid"/>
          </a:ln>
        </p:spPr>
      </p:sp>
      <p:sp>
        <p:nvSpPr>
          <p:cNvPr id="21" name="Text 17"/>
          <p:cNvSpPr txBox="1"/>
          <p:nvPr/>
        </p:nvSpPr>
        <p:spPr>
          <a:xfrm>
            <a:off x="6144768" y="1417320"/>
            <a:ext cx="1143000" cy="640080"/>
          </a:xfrm>
          <a:prstGeom prst="rect">
            <a:avLst/>
          </a:prstGeom>
          <a:noFill/>
          <a:ln/>
        </p:spPr>
        <p:txBody>
          <a:bodyPr wrap="square" lIns="0" tIns="0" rIns="0" bIns="0" rtlCol="0" anchor="ctr"/>
          <a:lstStyle/>
          <a:p>
            <a:pPr marL="0" indent="0">
              <a:buNone/>
            </a:pPr>
            <a:r>
              <a:rPr lang="en-US" sz="2600" b="1" dirty="0">
                <a:solidFill>
                  <a:srgbClr val="00A86A"/>
                </a:solidFill>
                <a:latin typeface="Calibri" pitchFamily="34" charset="0"/>
                <a:ea typeface="Calibri" pitchFamily="34" charset="-122"/>
                <a:cs typeface="Calibri" pitchFamily="34" charset="-120"/>
              </a:rPr>
              <a:t>3,600</a:t>
            </a:r>
            <a:endParaRPr lang="en-US" sz="2600" dirty="0"/>
          </a:p>
        </p:txBody>
      </p:sp>
      <p:sp>
        <p:nvSpPr>
          <p:cNvPr id="22" name="Text 18"/>
          <p:cNvSpPr txBox="1"/>
          <p:nvPr/>
        </p:nvSpPr>
        <p:spPr>
          <a:xfrm>
            <a:off x="7296912" y="1444752"/>
            <a:ext cx="1325880" cy="182880"/>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Scenario A</a:t>
            </a:r>
            <a:endParaRPr lang="en-US" sz="1000" dirty="0"/>
          </a:p>
        </p:txBody>
      </p:sp>
      <p:sp>
        <p:nvSpPr>
          <p:cNvPr id="23" name="Text 19"/>
          <p:cNvSpPr txBox="1"/>
          <p:nvPr/>
        </p:nvSpPr>
        <p:spPr>
          <a:xfrm>
            <a:off x="7296912" y="1627632"/>
            <a:ext cx="1325880" cy="438912"/>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Fastest to value; cost rises directly with usage</a:t>
            </a:r>
            <a:endParaRPr lang="en-US" sz="850" dirty="0"/>
          </a:p>
        </p:txBody>
      </p:sp>
      <p:sp>
        <p:nvSpPr>
          <p:cNvPr id="24" name="Shape 20"/>
          <p:cNvSpPr/>
          <p:nvPr/>
        </p:nvSpPr>
        <p:spPr>
          <a:xfrm>
            <a:off x="6035040" y="2194560"/>
            <a:ext cx="2651760" cy="731520"/>
          </a:xfrm>
          <a:prstGeom prst="roundRect">
            <a:avLst>
              <a:gd name="adj" fmla="val 10000"/>
            </a:avLst>
          </a:prstGeom>
          <a:solidFill>
            <a:srgbClr val="E8F5EF"/>
          </a:solidFill>
          <a:ln w="15875">
            <a:solidFill>
              <a:srgbClr val="00A86A"/>
            </a:solidFill>
            <a:prstDash val="solid"/>
          </a:ln>
        </p:spPr>
      </p:sp>
      <p:sp>
        <p:nvSpPr>
          <p:cNvPr id="25" name="Text 21"/>
          <p:cNvSpPr txBox="1"/>
          <p:nvPr/>
        </p:nvSpPr>
        <p:spPr>
          <a:xfrm>
            <a:off x="6144768" y="2240280"/>
            <a:ext cx="1143000" cy="640080"/>
          </a:xfrm>
          <a:prstGeom prst="rect">
            <a:avLst/>
          </a:prstGeom>
          <a:noFill/>
          <a:ln/>
        </p:spPr>
        <p:txBody>
          <a:bodyPr wrap="square" lIns="0" tIns="0" rIns="0" bIns="0" rtlCol="0" anchor="ctr"/>
          <a:lstStyle/>
          <a:p>
            <a:pPr marL="0" indent="0">
              <a:buNone/>
            </a:pPr>
            <a:r>
              <a:rPr lang="en-US" sz="2600" b="1" dirty="0">
                <a:solidFill>
                  <a:srgbClr val="00704A"/>
                </a:solidFill>
                <a:latin typeface="Calibri" pitchFamily="34" charset="0"/>
                <a:ea typeface="Calibri" pitchFamily="34" charset="-122"/>
                <a:cs typeface="Calibri" pitchFamily="34" charset="-120"/>
              </a:rPr>
              <a:t>4,320</a:t>
            </a:r>
            <a:endParaRPr lang="en-US" sz="2600" dirty="0"/>
          </a:p>
        </p:txBody>
      </p:sp>
      <p:sp>
        <p:nvSpPr>
          <p:cNvPr id="26" name="Text 22"/>
          <p:cNvSpPr txBox="1"/>
          <p:nvPr/>
        </p:nvSpPr>
        <p:spPr>
          <a:xfrm>
            <a:off x="7296912" y="2267712"/>
            <a:ext cx="1325880" cy="182880"/>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Scenario B</a:t>
            </a:r>
            <a:endParaRPr lang="en-US" sz="1000" dirty="0"/>
          </a:p>
        </p:txBody>
      </p:sp>
      <p:sp>
        <p:nvSpPr>
          <p:cNvPr id="27" name="Text 23"/>
          <p:cNvSpPr txBox="1"/>
          <p:nvPr/>
        </p:nvSpPr>
        <p:spPr>
          <a:xfrm>
            <a:off x="7296912" y="2450592"/>
            <a:ext cx="1325880" cy="438912"/>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Owned capacity for T3–T2, elastic burst for the rest</a:t>
            </a:r>
            <a:endParaRPr lang="en-US" sz="850" dirty="0"/>
          </a:p>
        </p:txBody>
      </p:sp>
      <p:sp>
        <p:nvSpPr>
          <p:cNvPr id="28" name="Shape 24"/>
          <p:cNvSpPr/>
          <p:nvPr/>
        </p:nvSpPr>
        <p:spPr>
          <a:xfrm>
            <a:off x="6035040" y="3017520"/>
            <a:ext cx="2651760" cy="731520"/>
          </a:xfrm>
          <a:prstGeom prst="roundRect">
            <a:avLst>
              <a:gd name="adj" fmla="val 10000"/>
            </a:avLst>
          </a:prstGeom>
          <a:solidFill>
            <a:srgbClr val="F4F7F5"/>
          </a:solidFill>
          <a:ln w="9525">
            <a:solidFill>
              <a:srgbClr val="D5DED9"/>
            </a:solidFill>
            <a:prstDash val="solid"/>
          </a:ln>
        </p:spPr>
      </p:sp>
      <p:sp>
        <p:nvSpPr>
          <p:cNvPr id="29" name="Text 25"/>
          <p:cNvSpPr txBox="1"/>
          <p:nvPr/>
        </p:nvSpPr>
        <p:spPr>
          <a:xfrm>
            <a:off x="6144768" y="3063240"/>
            <a:ext cx="1143000" cy="640080"/>
          </a:xfrm>
          <a:prstGeom prst="rect">
            <a:avLst/>
          </a:prstGeom>
          <a:noFill/>
          <a:ln/>
        </p:spPr>
        <p:txBody>
          <a:bodyPr wrap="square" lIns="0" tIns="0" rIns="0" bIns="0" rtlCol="0" anchor="ctr"/>
          <a:lstStyle/>
          <a:p>
            <a:pPr marL="0" indent="0">
              <a:buNone/>
            </a:pPr>
            <a:r>
              <a:rPr lang="en-US" sz="2600" b="1" dirty="0">
                <a:solidFill>
                  <a:srgbClr val="00553A"/>
                </a:solidFill>
                <a:latin typeface="Calibri" pitchFamily="34" charset="0"/>
                <a:ea typeface="Calibri" pitchFamily="34" charset="-122"/>
                <a:cs typeface="Calibri" pitchFamily="34" charset="-120"/>
              </a:rPr>
              <a:t>5,450</a:t>
            </a:r>
            <a:endParaRPr lang="en-US" sz="2600" dirty="0"/>
          </a:p>
        </p:txBody>
      </p:sp>
      <p:sp>
        <p:nvSpPr>
          <p:cNvPr id="30" name="Text 26"/>
          <p:cNvSpPr txBox="1"/>
          <p:nvPr/>
        </p:nvSpPr>
        <p:spPr>
          <a:xfrm>
            <a:off x="7296912" y="3090672"/>
            <a:ext cx="1325880" cy="182880"/>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Scenario C</a:t>
            </a:r>
            <a:endParaRPr lang="en-US" sz="1000" dirty="0"/>
          </a:p>
        </p:txBody>
      </p:sp>
      <p:sp>
        <p:nvSpPr>
          <p:cNvPr id="31" name="Text 27"/>
          <p:cNvSpPr txBox="1"/>
          <p:nvPr/>
        </p:nvSpPr>
        <p:spPr>
          <a:xfrm>
            <a:off x="7296912" y="3273552"/>
            <a:ext cx="1325880" cy="438912"/>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Full control; economic only at high sustained use</a:t>
            </a:r>
            <a:endParaRPr lang="en-US" sz="850" dirty="0"/>
          </a:p>
        </p:txBody>
      </p:sp>
      <p:sp>
        <p:nvSpPr>
          <p:cNvPr id="32" name="Shape 28"/>
          <p:cNvSpPr/>
          <p:nvPr/>
        </p:nvSpPr>
        <p:spPr>
          <a:xfrm>
            <a:off x="6035040" y="3840480"/>
            <a:ext cx="2651760" cy="685800"/>
          </a:xfrm>
          <a:prstGeom prst="roundRect">
            <a:avLst>
              <a:gd name="adj" fmla="val 10667"/>
            </a:avLst>
          </a:prstGeom>
          <a:solidFill>
            <a:srgbClr val="FBF3DF"/>
          </a:solidFill>
          <a:ln w="9525">
            <a:solidFill>
              <a:srgbClr val="D49A00"/>
            </a:solidFill>
            <a:prstDash val="solid"/>
          </a:ln>
        </p:spPr>
      </p:sp>
      <p:sp>
        <p:nvSpPr>
          <p:cNvPr id="33" name="Text 29"/>
          <p:cNvSpPr txBox="1"/>
          <p:nvPr/>
        </p:nvSpPr>
        <p:spPr>
          <a:xfrm>
            <a:off x="6144768" y="3840480"/>
            <a:ext cx="2432304" cy="68580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Hosting moves about a third of the total. Staffing moves more.</a:t>
            </a:r>
            <a:endParaRPr lang="en-US" sz="1000" dirty="0"/>
          </a:p>
        </p:txBody>
      </p:sp>
      <p:sp>
        <p:nvSpPr>
          <p:cNvPr id="34" name="Text 30"/>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Illustrative planning model: 2 use cases, 6–8 FTE, one 4-GPU node in B, a small cluster in C. Not a quotation — rebuild with local costs.</a:t>
            </a:r>
            <a:endParaRPr lang="en-US" sz="850" dirty="0"/>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BREAK-EVEN ANALYSIS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How the answer changes as volume grows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The same three scenarios at rising workload. The crossing points are the real decision points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50</a:t>
            </a:r>
            <a:endParaRPr lang="en-US" sz="850" dirty="0"/>
          </a:p>
        </p:txBody>
      </p:sp>
      <p:sp>
        <p:nvSpPr>
          <p:cNvPr id="18" name="Shape 15"/>
          <p:cNvSpPr/>
          <p:nvPr/>
        </p:nvSpPr>
        <p:spPr>
          <a:xfrm>
            <a:off x="457200" y="1371600"/>
            <a:ext cx="5120640" cy="3154680"/>
          </a:xfrm>
          <a:prstGeom prst="roundRect">
            <a:avLst>
              <a:gd name="adj" fmla="val 2319"/>
            </a:avLst>
          </a:prstGeom>
          <a:solidFill>
            <a:srgbClr val="F4F7F5"/>
          </a:solidFill>
          <a:ln w="9525">
            <a:solidFill>
              <a:srgbClr val="D5DED9"/>
            </a:solidFill>
            <a:prstDash val="solid"/>
          </a:ln>
        </p:spPr>
      </p:sp>
      <p:graphicFrame>
        <p:nvGraphicFramePr>
          <p:cNvPr id="19" name="Chart 0"/>
          <p:cNvGraphicFramePr/>
          <p:nvPr/>
        </p:nvGraphicFramePr>
        <p:xfrm>
          <a:off x="548640" y="1417320"/>
          <a:ext cx="493776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6"/>
          <p:cNvSpPr/>
          <p:nvPr/>
        </p:nvSpPr>
        <p:spPr>
          <a:xfrm>
            <a:off x="5760720" y="1371600"/>
            <a:ext cx="2926080" cy="713232"/>
          </a:xfrm>
          <a:prstGeom prst="roundRect">
            <a:avLst>
              <a:gd name="adj" fmla="val 10256"/>
            </a:avLst>
          </a:prstGeom>
          <a:solidFill>
            <a:srgbClr val="F4F7F5"/>
          </a:solidFill>
          <a:ln w="9525">
            <a:solidFill>
              <a:srgbClr val="D5DED9"/>
            </a:solidFill>
            <a:prstDash val="solid"/>
          </a:ln>
        </p:spPr>
      </p:sp>
      <p:sp>
        <p:nvSpPr>
          <p:cNvPr id="21" name="Shape 17"/>
          <p:cNvSpPr/>
          <p:nvPr/>
        </p:nvSpPr>
        <p:spPr>
          <a:xfrm>
            <a:off x="5870448" y="1481328"/>
            <a:ext cx="146304" cy="146304"/>
          </a:xfrm>
          <a:prstGeom prst="ellipse">
            <a:avLst/>
          </a:prstGeom>
          <a:solidFill>
            <a:srgbClr val="00A86A"/>
          </a:solidFill>
          <a:ln/>
        </p:spPr>
      </p:sp>
      <p:sp>
        <p:nvSpPr>
          <p:cNvPr id="22" name="Text 18"/>
          <p:cNvSpPr txBox="1"/>
          <p:nvPr/>
        </p:nvSpPr>
        <p:spPr>
          <a:xfrm>
            <a:off x="6108192" y="1426464"/>
            <a:ext cx="2514600" cy="256032"/>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Low volume: A wins</a:t>
            </a:r>
            <a:endParaRPr lang="en-US" sz="1100" dirty="0"/>
          </a:p>
        </p:txBody>
      </p:sp>
      <p:sp>
        <p:nvSpPr>
          <p:cNvPr id="23" name="Text 19"/>
          <p:cNvSpPr txBox="1"/>
          <p:nvPr/>
        </p:nvSpPr>
        <p:spPr>
          <a:xfrm>
            <a:off x="5870448" y="1700784"/>
            <a:ext cx="274320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Pilots and modest loads are cheapest on managed services.</a:t>
            </a:r>
            <a:endParaRPr lang="en-US" sz="950" dirty="0"/>
          </a:p>
        </p:txBody>
      </p:sp>
      <p:sp>
        <p:nvSpPr>
          <p:cNvPr id="24" name="Shape 20"/>
          <p:cNvSpPr/>
          <p:nvPr/>
        </p:nvSpPr>
        <p:spPr>
          <a:xfrm>
            <a:off x="5760720" y="2171700"/>
            <a:ext cx="2926080" cy="713232"/>
          </a:xfrm>
          <a:prstGeom prst="roundRect">
            <a:avLst>
              <a:gd name="adj" fmla="val 10256"/>
            </a:avLst>
          </a:prstGeom>
          <a:solidFill>
            <a:srgbClr val="F4F7F5"/>
          </a:solidFill>
          <a:ln w="9525">
            <a:solidFill>
              <a:srgbClr val="D5DED9"/>
            </a:solidFill>
            <a:prstDash val="solid"/>
          </a:ln>
        </p:spPr>
      </p:sp>
      <p:sp>
        <p:nvSpPr>
          <p:cNvPr id="25" name="Shape 21"/>
          <p:cNvSpPr/>
          <p:nvPr/>
        </p:nvSpPr>
        <p:spPr>
          <a:xfrm>
            <a:off x="5870448" y="2281428"/>
            <a:ext cx="146304" cy="146304"/>
          </a:xfrm>
          <a:prstGeom prst="ellipse">
            <a:avLst/>
          </a:prstGeom>
          <a:solidFill>
            <a:srgbClr val="D49A00"/>
          </a:solidFill>
          <a:ln/>
        </p:spPr>
      </p:sp>
      <p:sp>
        <p:nvSpPr>
          <p:cNvPr id="26" name="Text 22"/>
          <p:cNvSpPr txBox="1"/>
          <p:nvPr/>
        </p:nvSpPr>
        <p:spPr>
          <a:xfrm>
            <a:off x="6108192" y="2226564"/>
            <a:ext cx="2514600" cy="256032"/>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Mid volume: B wins</a:t>
            </a:r>
            <a:endParaRPr lang="en-US" sz="1100" dirty="0"/>
          </a:p>
        </p:txBody>
      </p:sp>
      <p:sp>
        <p:nvSpPr>
          <p:cNvPr id="27" name="Text 23"/>
          <p:cNvSpPr txBox="1"/>
          <p:nvPr/>
        </p:nvSpPr>
        <p:spPr>
          <a:xfrm>
            <a:off x="5870448" y="2500884"/>
            <a:ext cx="274320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Steady load suits owned base capacity plus elastic burst.</a:t>
            </a:r>
            <a:endParaRPr lang="en-US" sz="950" dirty="0"/>
          </a:p>
        </p:txBody>
      </p:sp>
      <p:sp>
        <p:nvSpPr>
          <p:cNvPr id="28" name="Shape 24"/>
          <p:cNvSpPr/>
          <p:nvPr/>
        </p:nvSpPr>
        <p:spPr>
          <a:xfrm>
            <a:off x="5760720" y="2971800"/>
            <a:ext cx="2926080" cy="713232"/>
          </a:xfrm>
          <a:prstGeom prst="roundRect">
            <a:avLst>
              <a:gd name="adj" fmla="val 10256"/>
            </a:avLst>
          </a:prstGeom>
          <a:solidFill>
            <a:srgbClr val="F4F7F5"/>
          </a:solidFill>
          <a:ln w="9525">
            <a:solidFill>
              <a:srgbClr val="D5DED9"/>
            </a:solidFill>
            <a:prstDash val="solid"/>
          </a:ln>
        </p:spPr>
      </p:sp>
      <p:sp>
        <p:nvSpPr>
          <p:cNvPr id="29" name="Shape 25"/>
          <p:cNvSpPr/>
          <p:nvPr/>
        </p:nvSpPr>
        <p:spPr>
          <a:xfrm>
            <a:off x="5870448" y="3081528"/>
            <a:ext cx="146304" cy="146304"/>
          </a:xfrm>
          <a:prstGeom prst="ellipse">
            <a:avLst/>
          </a:prstGeom>
          <a:solidFill>
            <a:srgbClr val="00553A"/>
          </a:solidFill>
          <a:ln/>
        </p:spPr>
      </p:sp>
      <p:sp>
        <p:nvSpPr>
          <p:cNvPr id="30" name="Text 26"/>
          <p:cNvSpPr txBox="1"/>
          <p:nvPr/>
        </p:nvSpPr>
        <p:spPr>
          <a:xfrm>
            <a:off x="6108192" y="3026664"/>
            <a:ext cx="2514600" cy="256032"/>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High volume: C wins</a:t>
            </a:r>
            <a:endParaRPr lang="en-US" sz="1100" dirty="0"/>
          </a:p>
        </p:txBody>
      </p:sp>
      <p:sp>
        <p:nvSpPr>
          <p:cNvPr id="31" name="Text 27"/>
          <p:cNvSpPr txBox="1"/>
          <p:nvPr/>
        </p:nvSpPr>
        <p:spPr>
          <a:xfrm>
            <a:off x="5870448" y="3300984"/>
            <a:ext cx="274320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Only sustained high use repays a full owned estate.</a:t>
            </a:r>
            <a:endParaRPr lang="en-US" sz="950" dirty="0"/>
          </a:p>
        </p:txBody>
      </p:sp>
      <p:sp>
        <p:nvSpPr>
          <p:cNvPr id="32" name="Shape 28"/>
          <p:cNvSpPr/>
          <p:nvPr/>
        </p:nvSpPr>
        <p:spPr>
          <a:xfrm>
            <a:off x="5760720" y="3771900"/>
            <a:ext cx="2926080" cy="713232"/>
          </a:xfrm>
          <a:prstGeom prst="roundRect">
            <a:avLst>
              <a:gd name="adj" fmla="val 10256"/>
            </a:avLst>
          </a:prstGeom>
          <a:solidFill>
            <a:srgbClr val="F8E9E7"/>
          </a:solidFill>
          <a:ln w="15875">
            <a:solidFill>
              <a:srgbClr val="B83B2E"/>
            </a:solidFill>
            <a:prstDash val="solid"/>
          </a:ln>
        </p:spPr>
      </p:sp>
      <p:sp>
        <p:nvSpPr>
          <p:cNvPr id="33" name="Shape 29"/>
          <p:cNvSpPr/>
          <p:nvPr/>
        </p:nvSpPr>
        <p:spPr>
          <a:xfrm>
            <a:off x="5870448" y="3881628"/>
            <a:ext cx="146304" cy="146304"/>
          </a:xfrm>
          <a:prstGeom prst="ellipse">
            <a:avLst/>
          </a:prstGeom>
          <a:solidFill>
            <a:srgbClr val="B83B2E"/>
          </a:solidFill>
          <a:ln/>
        </p:spPr>
      </p:sp>
      <p:sp>
        <p:nvSpPr>
          <p:cNvPr id="34" name="Text 30"/>
          <p:cNvSpPr txBox="1"/>
          <p:nvPr/>
        </p:nvSpPr>
        <p:spPr>
          <a:xfrm>
            <a:off x="6108192" y="3826764"/>
            <a:ext cx="2514600" cy="256032"/>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Classification overrides all</a:t>
            </a:r>
            <a:endParaRPr lang="en-US" sz="1100" dirty="0"/>
          </a:p>
        </p:txBody>
      </p:sp>
      <p:sp>
        <p:nvSpPr>
          <p:cNvPr id="35" name="Text 31"/>
          <p:cNvSpPr txBox="1"/>
          <p:nvPr/>
        </p:nvSpPr>
        <p:spPr>
          <a:xfrm>
            <a:off x="5870448" y="4101084"/>
            <a:ext cx="274320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For T3 data, option A was never available at any volume.</a:t>
            </a:r>
            <a:endParaRPr lang="en-US" sz="950" dirty="0"/>
          </a:p>
        </p:txBody>
      </p:sp>
      <p:sp>
        <p:nvSpPr>
          <p:cNvPr id="36" name="Text 32"/>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Illustrative model. The shape — a flat owned-capacity line crossing a rising usage line — is robust; the crossing points depend on your costs.</a:t>
            </a:r>
            <a:endParaRPr lang="en-US" sz="850" dirty="0"/>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OVERRUN RISKS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Seven places the budget breaks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Each has ended, delayed or embarrassed a public-sector AI programme somewhere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51</a:t>
            </a:r>
            <a:endParaRPr lang="en-US" sz="850" dirty="0"/>
          </a:p>
        </p:txBody>
      </p:sp>
      <p:sp>
        <p:nvSpPr>
          <p:cNvPr id="18" name="Shape 15"/>
          <p:cNvSpPr/>
          <p:nvPr/>
        </p:nvSpPr>
        <p:spPr>
          <a:xfrm>
            <a:off x="457200" y="1371600"/>
            <a:ext cx="1975104" cy="1545336"/>
          </a:xfrm>
          <a:prstGeom prst="roundRect">
            <a:avLst>
              <a:gd name="adj" fmla="val 4734"/>
            </a:avLst>
          </a:prstGeom>
          <a:solidFill>
            <a:srgbClr val="F4F7F5"/>
          </a:solidFill>
          <a:ln w="9525">
            <a:solidFill>
              <a:srgbClr val="D5DED9"/>
            </a:solidFill>
            <a:prstDash val="solid"/>
          </a:ln>
        </p:spPr>
      </p:sp>
      <p:sp>
        <p:nvSpPr>
          <p:cNvPr id="19" name="Shape 16"/>
          <p:cNvSpPr/>
          <p:nvPr/>
        </p:nvSpPr>
        <p:spPr>
          <a:xfrm>
            <a:off x="585216" y="1499616"/>
            <a:ext cx="310896" cy="310896"/>
          </a:xfrm>
          <a:prstGeom prst="ellipse">
            <a:avLst/>
          </a:prstGeom>
          <a:solidFill>
            <a:srgbClr val="C4621D">
              <a:alpha val="22000"/>
            </a:srgbClr>
          </a:solidFill>
          <a:ln/>
        </p:spPr>
      </p:sp>
      <p:pic>
        <p:nvPicPr>
          <p:cNvPr id="20" name="Image 0" descr="preencoded.png"/>
          <p:cNvPicPr>
            <a:picLocks noChangeAspect="1"/>
          </p:cNvPicPr>
          <p:nvPr/>
        </p:nvPicPr>
        <p:blipFill>
          <a:blip r:embed="rId3"/>
          <a:stretch>
            <a:fillRect/>
          </a:stretch>
        </p:blipFill>
        <p:spPr>
          <a:xfrm>
            <a:off x="659831" y="1574231"/>
            <a:ext cx="161666" cy="161666"/>
          </a:xfrm>
          <a:prstGeom prst="rect">
            <a:avLst/>
          </a:prstGeom>
        </p:spPr>
      </p:pic>
      <p:sp>
        <p:nvSpPr>
          <p:cNvPr id="21" name="Text 17"/>
          <p:cNvSpPr txBox="1"/>
          <p:nvPr/>
        </p:nvSpPr>
        <p:spPr>
          <a:xfrm>
            <a:off x="1005840" y="1499616"/>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Data transfer</a:t>
            </a:r>
            <a:endParaRPr lang="en-US" sz="1150" dirty="0"/>
          </a:p>
        </p:txBody>
      </p:sp>
      <p:sp>
        <p:nvSpPr>
          <p:cNvPr id="22" name="Text 18"/>
          <p:cNvSpPr txBox="1"/>
          <p:nvPr/>
        </p:nvSpPr>
        <p:spPr>
          <a:xfrm>
            <a:off x="585216" y="1865376"/>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Moving data repeatedly between tiers: uncapped and invisible until the invoice.</a:t>
            </a:r>
            <a:endParaRPr lang="en-US" sz="1000" dirty="0"/>
          </a:p>
        </p:txBody>
      </p:sp>
      <p:sp>
        <p:nvSpPr>
          <p:cNvPr id="23" name="Shape 19"/>
          <p:cNvSpPr/>
          <p:nvPr/>
        </p:nvSpPr>
        <p:spPr>
          <a:xfrm>
            <a:off x="2542032" y="1371600"/>
            <a:ext cx="1975104" cy="1545336"/>
          </a:xfrm>
          <a:prstGeom prst="roundRect">
            <a:avLst>
              <a:gd name="adj" fmla="val 4734"/>
            </a:avLst>
          </a:prstGeom>
          <a:solidFill>
            <a:srgbClr val="F4F7F5"/>
          </a:solidFill>
          <a:ln w="9525">
            <a:solidFill>
              <a:srgbClr val="D5DED9"/>
            </a:solidFill>
            <a:prstDash val="solid"/>
          </a:ln>
        </p:spPr>
      </p:sp>
      <p:sp>
        <p:nvSpPr>
          <p:cNvPr id="24" name="Shape 20"/>
          <p:cNvSpPr/>
          <p:nvPr/>
        </p:nvSpPr>
        <p:spPr>
          <a:xfrm>
            <a:off x="2670048" y="1499616"/>
            <a:ext cx="310896" cy="310896"/>
          </a:xfrm>
          <a:prstGeom prst="ellipse">
            <a:avLst/>
          </a:prstGeom>
          <a:solidFill>
            <a:srgbClr val="C4621D">
              <a:alpha val="22000"/>
            </a:srgbClr>
          </a:solidFill>
          <a:ln/>
        </p:spPr>
      </p:sp>
      <p:pic>
        <p:nvPicPr>
          <p:cNvPr id="25" name="Image 1" descr="preencoded.png"/>
          <p:cNvPicPr>
            <a:picLocks noChangeAspect="1"/>
          </p:cNvPicPr>
          <p:nvPr/>
        </p:nvPicPr>
        <p:blipFill>
          <a:blip r:embed="rId4"/>
          <a:stretch>
            <a:fillRect/>
          </a:stretch>
        </p:blipFill>
        <p:spPr>
          <a:xfrm>
            <a:off x="2744663" y="1574231"/>
            <a:ext cx="161666" cy="161666"/>
          </a:xfrm>
          <a:prstGeom prst="rect">
            <a:avLst/>
          </a:prstGeom>
        </p:spPr>
      </p:pic>
      <p:sp>
        <p:nvSpPr>
          <p:cNvPr id="26" name="Text 21"/>
          <p:cNvSpPr txBox="1"/>
          <p:nvPr/>
        </p:nvSpPr>
        <p:spPr>
          <a:xfrm>
            <a:off x="3090672" y="1499616"/>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Idle GPUs</a:t>
            </a:r>
            <a:endParaRPr lang="en-US" sz="1150" dirty="0"/>
          </a:p>
        </p:txBody>
      </p:sp>
      <p:sp>
        <p:nvSpPr>
          <p:cNvPr id="27" name="Text 22"/>
          <p:cNvSpPr txBox="1"/>
          <p:nvPr/>
        </p:nvSpPr>
        <p:spPr>
          <a:xfrm>
            <a:off x="2670048" y="1865376"/>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Development machines left on at night and weekends. Most common, easiest to fix.</a:t>
            </a:r>
            <a:endParaRPr lang="en-US" sz="1000" dirty="0"/>
          </a:p>
        </p:txBody>
      </p:sp>
      <p:sp>
        <p:nvSpPr>
          <p:cNvPr id="28" name="Shape 23"/>
          <p:cNvSpPr/>
          <p:nvPr/>
        </p:nvSpPr>
        <p:spPr>
          <a:xfrm>
            <a:off x="4626864" y="1371600"/>
            <a:ext cx="1975104" cy="1545336"/>
          </a:xfrm>
          <a:prstGeom prst="roundRect">
            <a:avLst>
              <a:gd name="adj" fmla="val 4734"/>
            </a:avLst>
          </a:prstGeom>
          <a:solidFill>
            <a:srgbClr val="F4F7F5"/>
          </a:solidFill>
          <a:ln w="9525">
            <a:solidFill>
              <a:srgbClr val="D5DED9"/>
            </a:solidFill>
            <a:prstDash val="solid"/>
          </a:ln>
        </p:spPr>
      </p:sp>
      <p:sp>
        <p:nvSpPr>
          <p:cNvPr id="29" name="Shape 24"/>
          <p:cNvSpPr/>
          <p:nvPr/>
        </p:nvSpPr>
        <p:spPr>
          <a:xfrm>
            <a:off x="4754880" y="1499616"/>
            <a:ext cx="310896" cy="310896"/>
          </a:xfrm>
          <a:prstGeom prst="ellipse">
            <a:avLst/>
          </a:prstGeom>
          <a:solidFill>
            <a:srgbClr val="C4621D">
              <a:alpha val="22000"/>
            </a:srgbClr>
          </a:solidFill>
          <a:ln/>
        </p:spPr>
      </p:sp>
      <p:pic>
        <p:nvPicPr>
          <p:cNvPr id="30" name="Image 2" descr="preencoded.png"/>
          <p:cNvPicPr>
            <a:picLocks noChangeAspect="1"/>
          </p:cNvPicPr>
          <p:nvPr/>
        </p:nvPicPr>
        <p:blipFill>
          <a:blip r:embed="rId5"/>
          <a:stretch>
            <a:fillRect/>
          </a:stretch>
        </p:blipFill>
        <p:spPr>
          <a:xfrm>
            <a:off x="4829495" y="1574231"/>
            <a:ext cx="161666" cy="161666"/>
          </a:xfrm>
          <a:prstGeom prst="rect">
            <a:avLst/>
          </a:prstGeom>
        </p:spPr>
      </p:pic>
      <p:sp>
        <p:nvSpPr>
          <p:cNvPr id="31" name="Text 25"/>
          <p:cNvSpPr txBox="1"/>
          <p:nvPr/>
        </p:nvSpPr>
        <p:spPr>
          <a:xfrm>
            <a:off x="5175504" y="1499616"/>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Re-indexing</a:t>
            </a:r>
            <a:endParaRPr lang="en-US" sz="1150" dirty="0"/>
          </a:p>
        </p:txBody>
      </p:sp>
      <p:sp>
        <p:nvSpPr>
          <p:cNvPr id="32" name="Text 26"/>
          <p:cNvSpPr txBox="1"/>
          <p:nvPr/>
        </p:nvSpPr>
        <p:spPr>
          <a:xfrm>
            <a:off x="4754880" y="1865376"/>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Each document refresh re-embeds everything; cost grows quietly with size and frequency.</a:t>
            </a:r>
            <a:endParaRPr lang="en-US" sz="1000" dirty="0"/>
          </a:p>
        </p:txBody>
      </p:sp>
      <p:sp>
        <p:nvSpPr>
          <p:cNvPr id="33" name="Shape 27"/>
          <p:cNvSpPr/>
          <p:nvPr/>
        </p:nvSpPr>
        <p:spPr>
          <a:xfrm>
            <a:off x="6711696" y="1371600"/>
            <a:ext cx="1975104" cy="1545336"/>
          </a:xfrm>
          <a:prstGeom prst="roundRect">
            <a:avLst>
              <a:gd name="adj" fmla="val 4734"/>
            </a:avLst>
          </a:prstGeom>
          <a:solidFill>
            <a:srgbClr val="F4F7F5"/>
          </a:solidFill>
          <a:ln w="9525">
            <a:solidFill>
              <a:srgbClr val="D5DED9"/>
            </a:solidFill>
            <a:prstDash val="solid"/>
          </a:ln>
        </p:spPr>
      </p:sp>
      <p:sp>
        <p:nvSpPr>
          <p:cNvPr id="34" name="Shape 28"/>
          <p:cNvSpPr/>
          <p:nvPr/>
        </p:nvSpPr>
        <p:spPr>
          <a:xfrm>
            <a:off x="6839712" y="1499616"/>
            <a:ext cx="310896" cy="310896"/>
          </a:xfrm>
          <a:prstGeom prst="ellipse">
            <a:avLst/>
          </a:prstGeom>
          <a:solidFill>
            <a:srgbClr val="C4621D">
              <a:alpha val="22000"/>
            </a:srgbClr>
          </a:solidFill>
          <a:ln/>
        </p:spPr>
      </p:sp>
      <p:pic>
        <p:nvPicPr>
          <p:cNvPr id="35" name="Image 3" descr="preencoded.png"/>
          <p:cNvPicPr>
            <a:picLocks noChangeAspect="1"/>
          </p:cNvPicPr>
          <p:nvPr/>
        </p:nvPicPr>
        <p:blipFill>
          <a:blip r:embed="rId6"/>
          <a:stretch>
            <a:fillRect/>
          </a:stretch>
        </p:blipFill>
        <p:spPr>
          <a:xfrm>
            <a:off x="6914327" y="1574231"/>
            <a:ext cx="161666" cy="161666"/>
          </a:xfrm>
          <a:prstGeom prst="rect">
            <a:avLst/>
          </a:prstGeom>
        </p:spPr>
      </p:pic>
      <p:sp>
        <p:nvSpPr>
          <p:cNvPr id="36" name="Text 29"/>
          <p:cNvSpPr txBox="1"/>
          <p:nvPr/>
        </p:nvSpPr>
        <p:spPr>
          <a:xfrm>
            <a:off x="7260336" y="1499616"/>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Labelling underestimated</a:t>
            </a:r>
            <a:endParaRPr lang="en-US" sz="1150" dirty="0"/>
          </a:p>
        </p:txBody>
      </p:sp>
      <p:sp>
        <p:nvSpPr>
          <p:cNvPr id="37" name="Text 30"/>
          <p:cNvSpPr txBox="1"/>
          <p:nvPr/>
        </p:nvSpPr>
        <p:spPr>
          <a:xfrm>
            <a:off x="6839712" y="1865376"/>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Guidelines, adjudication and re-coding after classification revisions are real effort.</a:t>
            </a:r>
            <a:endParaRPr lang="en-US" sz="1000" dirty="0"/>
          </a:p>
        </p:txBody>
      </p:sp>
      <p:sp>
        <p:nvSpPr>
          <p:cNvPr id="38" name="Shape 31"/>
          <p:cNvSpPr/>
          <p:nvPr/>
        </p:nvSpPr>
        <p:spPr>
          <a:xfrm>
            <a:off x="457200" y="3026664"/>
            <a:ext cx="1975104" cy="1545336"/>
          </a:xfrm>
          <a:prstGeom prst="roundRect">
            <a:avLst>
              <a:gd name="adj" fmla="val 4734"/>
            </a:avLst>
          </a:prstGeom>
          <a:solidFill>
            <a:srgbClr val="F4F7F5"/>
          </a:solidFill>
          <a:ln w="9525">
            <a:solidFill>
              <a:srgbClr val="D5DED9"/>
            </a:solidFill>
            <a:prstDash val="solid"/>
          </a:ln>
        </p:spPr>
      </p:sp>
      <p:sp>
        <p:nvSpPr>
          <p:cNvPr id="39" name="Shape 32"/>
          <p:cNvSpPr/>
          <p:nvPr/>
        </p:nvSpPr>
        <p:spPr>
          <a:xfrm>
            <a:off x="585216" y="3154680"/>
            <a:ext cx="310896" cy="310896"/>
          </a:xfrm>
          <a:prstGeom prst="ellipse">
            <a:avLst/>
          </a:prstGeom>
          <a:solidFill>
            <a:srgbClr val="C4621D">
              <a:alpha val="22000"/>
            </a:srgbClr>
          </a:solidFill>
          <a:ln/>
        </p:spPr>
      </p:sp>
      <p:pic>
        <p:nvPicPr>
          <p:cNvPr id="40" name="Image 4" descr="preencoded.png"/>
          <p:cNvPicPr>
            <a:picLocks noChangeAspect="1"/>
          </p:cNvPicPr>
          <p:nvPr/>
        </p:nvPicPr>
        <p:blipFill>
          <a:blip r:embed="rId7"/>
          <a:stretch>
            <a:fillRect/>
          </a:stretch>
        </p:blipFill>
        <p:spPr>
          <a:xfrm>
            <a:off x="659831" y="3229295"/>
            <a:ext cx="161666" cy="161666"/>
          </a:xfrm>
          <a:prstGeom prst="rect">
            <a:avLst/>
          </a:prstGeom>
        </p:spPr>
      </p:pic>
      <p:sp>
        <p:nvSpPr>
          <p:cNvPr id="41" name="Text 33"/>
          <p:cNvSpPr txBox="1"/>
          <p:nvPr/>
        </p:nvSpPr>
        <p:spPr>
          <a:xfrm>
            <a:off x="1005840" y="3154680"/>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"Free" assurance</a:t>
            </a:r>
            <a:endParaRPr lang="en-US" sz="1150" dirty="0"/>
          </a:p>
        </p:txBody>
      </p:sp>
      <p:sp>
        <p:nvSpPr>
          <p:cNvPr id="42" name="Text 34"/>
          <p:cNvSpPr txBox="1"/>
          <p:nvPr/>
        </p:nvSpPr>
        <p:spPr>
          <a:xfrm>
            <a:off x="585216" y="3520440"/>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Security, legal and methodological review is paid in someone's time either way.</a:t>
            </a:r>
            <a:endParaRPr lang="en-US" sz="1000" dirty="0"/>
          </a:p>
        </p:txBody>
      </p:sp>
      <p:sp>
        <p:nvSpPr>
          <p:cNvPr id="43" name="Shape 35"/>
          <p:cNvSpPr/>
          <p:nvPr/>
        </p:nvSpPr>
        <p:spPr>
          <a:xfrm>
            <a:off x="2542032" y="3026664"/>
            <a:ext cx="1975104" cy="1545336"/>
          </a:xfrm>
          <a:prstGeom prst="roundRect">
            <a:avLst>
              <a:gd name="adj" fmla="val 4734"/>
            </a:avLst>
          </a:prstGeom>
          <a:solidFill>
            <a:srgbClr val="F4F7F5"/>
          </a:solidFill>
          <a:ln w="9525">
            <a:solidFill>
              <a:srgbClr val="D5DED9"/>
            </a:solidFill>
            <a:prstDash val="solid"/>
          </a:ln>
        </p:spPr>
      </p:sp>
      <p:sp>
        <p:nvSpPr>
          <p:cNvPr id="44" name="Shape 36"/>
          <p:cNvSpPr/>
          <p:nvPr/>
        </p:nvSpPr>
        <p:spPr>
          <a:xfrm>
            <a:off x="2670048" y="3154680"/>
            <a:ext cx="310896" cy="310896"/>
          </a:xfrm>
          <a:prstGeom prst="ellipse">
            <a:avLst/>
          </a:prstGeom>
          <a:solidFill>
            <a:srgbClr val="B83B2E">
              <a:alpha val="22000"/>
            </a:srgbClr>
          </a:solidFill>
          <a:ln/>
        </p:spPr>
      </p:sp>
      <p:pic>
        <p:nvPicPr>
          <p:cNvPr id="45" name="Image 5" descr="preencoded.png"/>
          <p:cNvPicPr>
            <a:picLocks noChangeAspect="1"/>
          </p:cNvPicPr>
          <p:nvPr/>
        </p:nvPicPr>
        <p:blipFill>
          <a:blip r:embed="rId8"/>
          <a:stretch>
            <a:fillRect/>
          </a:stretch>
        </p:blipFill>
        <p:spPr>
          <a:xfrm>
            <a:off x="2744663" y="3229295"/>
            <a:ext cx="161666" cy="161666"/>
          </a:xfrm>
          <a:prstGeom prst="rect">
            <a:avLst/>
          </a:prstGeom>
        </p:spPr>
      </p:pic>
      <p:sp>
        <p:nvSpPr>
          <p:cNvPr id="46" name="Text 37"/>
          <p:cNvSpPr txBox="1"/>
          <p:nvPr/>
        </p:nvSpPr>
        <p:spPr>
          <a:xfrm>
            <a:off x="3090672" y="3154680"/>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No run budget</a:t>
            </a:r>
            <a:endParaRPr lang="en-US" sz="1150" dirty="0"/>
          </a:p>
        </p:txBody>
      </p:sp>
      <p:sp>
        <p:nvSpPr>
          <p:cNvPr id="47" name="Text 38"/>
          <p:cNvSpPr txBox="1"/>
          <p:nvPr/>
        </p:nvSpPr>
        <p:spPr>
          <a:xfrm>
            <a:off x="2670048" y="3520440"/>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The project closes; the dependency remains and degrades until it fails in public.</a:t>
            </a:r>
            <a:endParaRPr lang="en-US" sz="1000" dirty="0"/>
          </a:p>
        </p:txBody>
      </p:sp>
      <p:sp>
        <p:nvSpPr>
          <p:cNvPr id="48" name="Shape 39"/>
          <p:cNvSpPr/>
          <p:nvPr/>
        </p:nvSpPr>
        <p:spPr>
          <a:xfrm>
            <a:off x="4626864" y="3026664"/>
            <a:ext cx="1975104" cy="1545336"/>
          </a:xfrm>
          <a:prstGeom prst="roundRect">
            <a:avLst>
              <a:gd name="adj" fmla="val 4734"/>
            </a:avLst>
          </a:prstGeom>
          <a:solidFill>
            <a:srgbClr val="F4F7F5"/>
          </a:solidFill>
          <a:ln w="9525">
            <a:solidFill>
              <a:srgbClr val="D5DED9"/>
            </a:solidFill>
            <a:prstDash val="solid"/>
          </a:ln>
        </p:spPr>
      </p:sp>
      <p:sp>
        <p:nvSpPr>
          <p:cNvPr id="49" name="Shape 40"/>
          <p:cNvSpPr/>
          <p:nvPr/>
        </p:nvSpPr>
        <p:spPr>
          <a:xfrm>
            <a:off x="4754880" y="3154680"/>
            <a:ext cx="310896" cy="310896"/>
          </a:xfrm>
          <a:prstGeom prst="ellipse">
            <a:avLst/>
          </a:prstGeom>
          <a:solidFill>
            <a:srgbClr val="C4621D">
              <a:alpha val="22000"/>
            </a:srgbClr>
          </a:solidFill>
          <a:ln/>
        </p:spPr>
      </p:sp>
      <p:pic>
        <p:nvPicPr>
          <p:cNvPr id="50" name="Image 6" descr="preencoded.png"/>
          <p:cNvPicPr>
            <a:picLocks noChangeAspect="1"/>
          </p:cNvPicPr>
          <p:nvPr/>
        </p:nvPicPr>
        <p:blipFill>
          <a:blip r:embed="rId9"/>
          <a:stretch>
            <a:fillRect/>
          </a:stretch>
        </p:blipFill>
        <p:spPr>
          <a:xfrm>
            <a:off x="4829495" y="3229295"/>
            <a:ext cx="161666" cy="161666"/>
          </a:xfrm>
          <a:prstGeom prst="rect">
            <a:avLst/>
          </a:prstGeom>
        </p:spPr>
      </p:pic>
      <p:sp>
        <p:nvSpPr>
          <p:cNvPr id="51" name="Text 41"/>
          <p:cNvSpPr txBox="1"/>
          <p:nvPr/>
        </p:nvSpPr>
        <p:spPr>
          <a:xfrm>
            <a:off x="5175504" y="3154680"/>
            <a:ext cx="1316736"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Staff turnover</a:t>
            </a:r>
            <a:endParaRPr lang="en-US" sz="1150" dirty="0"/>
          </a:p>
        </p:txBody>
      </p:sp>
      <p:sp>
        <p:nvSpPr>
          <p:cNvPr id="52" name="Text 42"/>
          <p:cNvSpPr txBox="1"/>
          <p:nvPr/>
        </p:nvSpPr>
        <p:spPr>
          <a:xfrm>
            <a:off x="4754880" y="3520440"/>
            <a:ext cx="1719072" cy="996696"/>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Losing the one engineer who knows the pipeline can cost months — or the capability.</a:t>
            </a:r>
            <a:endParaRPr lang="en-US" sz="1000" dirty="0"/>
          </a:p>
        </p:txBody>
      </p:sp>
      <p:sp>
        <p:nvSpPr>
          <p:cNvPr id="53" name="Shape 43"/>
          <p:cNvSpPr/>
          <p:nvPr/>
        </p:nvSpPr>
        <p:spPr>
          <a:xfrm>
            <a:off x="6711696" y="3026664"/>
            <a:ext cx="1975104" cy="1545336"/>
          </a:xfrm>
          <a:prstGeom prst="roundRect">
            <a:avLst>
              <a:gd name="adj" fmla="val 4734"/>
            </a:avLst>
          </a:prstGeom>
          <a:solidFill>
            <a:srgbClr val="E8F5EF"/>
          </a:solidFill>
          <a:ln w="15875">
            <a:solidFill>
              <a:srgbClr val="C4621D"/>
            </a:solidFill>
            <a:prstDash val="solid"/>
          </a:ln>
        </p:spPr>
      </p:sp>
      <p:sp>
        <p:nvSpPr>
          <p:cNvPr id="54" name="Shape 44"/>
          <p:cNvSpPr/>
          <p:nvPr/>
        </p:nvSpPr>
        <p:spPr>
          <a:xfrm>
            <a:off x="6839712" y="3154680"/>
            <a:ext cx="310896" cy="310896"/>
          </a:xfrm>
          <a:prstGeom prst="ellipse">
            <a:avLst/>
          </a:prstGeom>
          <a:solidFill>
            <a:srgbClr val="C4621D">
              <a:alpha val="22000"/>
            </a:srgbClr>
          </a:solidFill>
          <a:ln/>
        </p:spPr>
      </p:sp>
      <p:pic>
        <p:nvPicPr>
          <p:cNvPr id="55" name="Image 7" descr="preencoded.png"/>
          <p:cNvPicPr>
            <a:picLocks noChangeAspect="1"/>
          </p:cNvPicPr>
          <p:nvPr/>
        </p:nvPicPr>
        <p:blipFill>
          <a:blip r:embed="rId10"/>
          <a:stretch>
            <a:fillRect/>
          </a:stretch>
        </p:blipFill>
        <p:spPr>
          <a:xfrm>
            <a:off x="6914327" y="3229295"/>
            <a:ext cx="161666" cy="161666"/>
          </a:xfrm>
          <a:prstGeom prst="rect">
            <a:avLst/>
          </a:prstGeom>
        </p:spPr>
      </p:pic>
      <p:sp>
        <p:nvSpPr>
          <p:cNvPr id="56" name="Text 45"/>
          <p:cNvSpPr txBox="1"/>
          <p:nvPr/>
        </p:nvSpPr>
        <p:spPr>
          <a:xfrm>
            <a:off x="7242048" y="3154680"/>
            <a:ext cx="1335024" cy="310896"/>
          </a:xfrm>
          <a:prstGeom prst="rect">
            <a:avLst/>
          </a:prstGeom>
          <a:noFill/>
          <a:ln/>
        </p:spPr>
        <p:txBody>
          <a:bodyPr wrap="square" lIns="0" tIns="0" rIns="0" bIns="0" rtlCol="0" anchor="ctr"/>
          <a:lstStyle/>
          <a:p>
            <a:pPr marL="0" indent="0">
              <a:buNone/>
            </a:pPr>
            <a:r>
              <a:rPr lang="en-US" sz="900" b="1" kern="0" spc="150" dirty="0">
                <a:solidFill>
                  <a:srgbClr val="C4621D"/>
                </a:solidFill>
                <a:latin typeface="Calibri" pitchFamily="34" charset="0"/>
                <a:ea typeface="Calibri" pitchFamily="34" charset="-122"/>
                <a:cs typeface="Calibri" pitchFamily="34" charset="-120"/>
              </a:rPr>
              <a:t>KEY POINT</a:t>
            </a:r>
            <a:endParaRPr lang="en-US" sz="900" dirty="0"/>
          </a:p>
        </p:txBody>
      </p:sp>
      <p:sp>
        <p:nvSpPr>
          <p:cNvPr id="57" name="Text 46"/>
          <p:cNvSpPr txBox="1"/>
          <p:nvPr/>
        </p:nvSpPr>
        <p:spPr>
          <a:xfrm>
            <a:off x="6839712" y="3538728"/>
            <a:ext cx="1719072" cy="960120"/>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Write all seven into the business case as named risks with named owners. A documented risk is a managed cost.</a:t>
            </a:r>
            <a:endParaRPr lang="en-US" sz="1000" dirty="0"/>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COST CONTROLS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Cost controls that work in a public office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Attribution first: you cannot manage what you cannot assign to a team and a purpose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52</a:t>
            </a:r>
            <a:endParaRPr lang="en-US" sz="850" dirty="0"/>
          </a:p>
        </p:txBody>
      </p:sp>
      <p:sp>
        <p:nvSpPr>
          <p:cNvPr id="18" name="Shape 15"/>
          <p:cNvSpPr/>
          <p:nvPr/>
        </p:nvSpPr>
        <p:spPr>
          <a:xfrm>
            <a:off x="457200" y="1325880"/>
            <a:ext cx="310896" cy="310896"/>
          </a:xfrm>
          <a:prstGeom prst="ellipse">
            <a:avLst/>
          </a:prstGeom>
          <a:solidFill>
            <a:srgbClr val="C4621D">
              <a:alpha val="22000"/>
            </a:srgbClr>
          </a:solidFill>
          <a:ln/>
        </p:spPr>
      </p:sp>
      <p:pic>
        <p:nvPicPr>
          <p:cNvPr id="19" name="Image 0" descr="preencoded.png"/>
          <p:cNvPicPr>
            <a:picLocks noChangeAspect="1"/>
          </p:cNvPicPr>
          <p:nvPr/>
        </p:nvPicPr>
        <p:blipFill>
          <a:blip r:embed="rId3"/>
          <a:stretch>
            <a:fillRect/>
          </a:stretch>
        </p:blipFill>
        <p:spPr>
          <a:xfrm>
            <a:off x="531815" y="1400495"/>
            <a:ext cx="161666" cy="161666"/>
          </a:xfrm>
          <a:prstGeom prst="rect">
            <a:avLst/>
          </a:prstGeom>
        </p:spPr>
      </p:pic>
      <p:sp>
        <p:nvSpPr>
          <p:cNvPr id="20" name="Text 16"/>
          <p:cNvSpPr txBox="1"/>
          <p:nvPr/>
        </p:nvSpPr>
        <p:spPr>
          <a:xfrm>
            <a:off x="868680" y="1325880"/>
            <a:ext cx="2743200" cy="310896"/>
          </a:xfrm>
          <a:prstGeom prst="rect">
            <a:avLst/>
          </a:prstGeom>
          <a:noFill/>
          <a:ln/>
        </p:spPr>
        <p:txBody>
          <a:bodyPr wrap="square" lIns="0" tIns="0" rIns="0" bIns="0" rtlCol="0" anchor="ctr"/>
          <a:lstStyle/>
          <a:p>
            <a:pPr marL="0" indent="0">
              <a:buNone/>
            </a:pPr>
            <a:r>
              <a:rPr lang="en-US" sz="1050" b="1" kern="0" spc="200" dirty="0">
                <a:solidFill>
                  <a:srgbClr val="C4621D"/>
                </a:solidFill>
                <a:latin typeface="Calibri" pitchFamily="34" charset="0"/>
                <a:ea typeface="Calibri" pitchFamily="34" charset="-122"/>
                <a:cs typeface="Calibri" pitchFamily="34" charset="-120"/>
              </a:rPr>
              <a:t>GUARDRAILS</a:t>
            </a:r>
            <a:endParaRPr lang="en-US" sz="1050" dirty="0"/>
          </a:p>
        </p:txBody>
      </p:sp>
      <p:sp>
        <p:nvSpPr>
          <p:cNvPr id="21" name="Shape 17"/>
          <p:cNvSpPr/>
          <p:nvPr/>
        </p:nvSpPr>
        <p:spPr>
          <a:xfrm>
            <a:off x="457200" y="1755648"/>
            <a:ext cx="4023360" cy="621792"/>
          </a:xfrm>
          <a:prstGeom prst="roundRect">
            <a:avLst>
              <a:gd name="adj" fmla="val 11765"/>
            </a:avLst>
          </a:prstGeom>
          <a:solidFill>
            <a:srgbClr val="F4F7F5"/>
          </a:solidFill>
          <a:ln w="9525">
            <a:solidFill>
              <a:srgbClr val="D5DED9"/>
            </a:solidFill>
            <a:prstDash val="solid"/>
          </a:ln>
        </p:spPr>
      </p:sp>
      <p:sp>
        <p:nvSpPr>
          <p:cNvPr id="22" name="Shape 18"/>
          <p:cNvSpPr/>
          <p:nvPr/>
        </p:nvSpPr>
        <p:spPr>
          <a:xfrm>
            <a:off x="566928" y="1901952"/>
            <a:ext cx="329184" cy="329184"/>
          </a:xfrm>
          <a:prstGeom prst="ellipse">
            <a:avLst/>
          </a:prstGeom>
          <a:solidFill>
            <a:srgbClr val="C4621D"/>
          </a:solidFill>
          <a:ln/>
        </p:spPr>
      </p:sp>
      <p:sp>
        <p:nvSpPr>
          <p:cNvPr id="23" name="Text 19"/>
          <p:cNvSpPr txBox="1"/>
          <p:nvPr/>
        </p:nvSpPr>
        <p:spPr>
          <a:xfrm>
            <a:off x="566928" y="190195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4" name="Text 20"/>
          <p:cNvSpPr txBox="1"/>
          <p:nvPr/>
        </p:nvSpPr>
        <p:spPr>
          <a:xfrm>
            <a:off x="1005840" y="1810512"/>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Attribute every call</a:t>
            </a:r>
            <a:endParaRPr lang="en-US" sz="1100" dirty="0"/>
          </a:p>
        </p:txBody>
      </p:sp>
      <p:sp>
        <p:nvSpPr>
          <p:cNvPr id="25" name="Text 21"/>
          <p:cNvSpPr txBox="1"/>
          <p:nvPr/>
        </p:nvSpPr>
        <p:spPr>
          <a:xfrm>
            <a:off x="1005840" y="2048256"/>
            <a:ext cx="3383280" cy="29260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Tag each request with a project code via the gateway.</a:t>
            </a:r>
            <a:endParaRPr lang="en-US" sz="950" dirty="0"/>
          </a:p>
        </p:txBody>
      </p:sp>
      <p:sp>
        <p:nvSpPr>
          <p:cNvPr id="26" name="Shape 22"/>
          <p:cNvSpPr/>
          <p:nvPr/>
        </p:nvSpPr>
        <p:spPr>
          <a:xfrm>
            <a:off x="457200" y="2468880"/>
            <a:ext cx="4023360" cy="621792"/>
          </a:xfrm>
          <a:prstGeom prst="roundRect">
            <a:avLst>
              <a:gd name="adj" fmla="val 11765"/>
            </a:avLst>
          </a:prstGeom>
          <a:solidFill>
            <a:srgbClr val="F4F7F5"/>
          </a:solidFill>
          <a:ln w="9525">
            <a:solidFill>
              <a:srgbClr val="D5DED9"/>
            </a:solidFill>
            <a:prstDash val="solid"/>
          </a:ln>
        </p:spPr>
      </p:sp>
      <p:sp>
        <p:nvSpPr>
          <p:cNvPr id="27" name="Shape 23"/>
          <p:cNvSpPr/>
          <p:nvPr/>
        </p:nvSpPr>
        <p:spPr>
          <a:xfrm>
            <a:off x="566928" y="2615184"/>
            <a:ext cx="329184" cy="329184"/>
          </a:xfrm>
          <a:prstGeom prst="ellipse">
            <a:avLst/>
          </a:prstGeom>
          <a:solidFill>
            <a:srgbClr val="C4621D"/>
          </a:solidFill>
          <a:ln/>
        </p:spPr>
      </p:sp>
      <p:sp>
        <p:nvSpPr>
          <p:cNvPr id="28" name="Text 24"/>
          <p:cNvSpPr txBox="1"/>
          <p:nvPr/>
        </p:nvSpPr>
        <p:spPr>
          <a:xfrm>
            <a:off x="566928" y="26151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Text 25"/>
          <p:cNvSpPr txBox="1"/>
          <p:nvPr/>
        </p:nvSpPr>
        <p:spPr>
          <a:xfrm>
            <a:off x="1005840" y="2523744"/>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Cap, do not just alert</a:t>
            </a:r>
            <a:endParaRPr lang="en-US" sz="1100" dirty="0"/>
          </a:p>
        </p:txBody>
      </p:sp>
      <p:sp>
        <p:nvSpPr>
          <p:cNvPr id="30" name="Text 26"/>
          <p:cNvSpPr txBox="1"/>
          <p:nvPr/>
        </p:nvSpPr>
        <p:spPr>
          <a:xfrm>
            <a:off x="1005840" y="2761488"/>
            <a:ext cx="3383280" cy="29260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Hard ceilings that stop requests — dashboards do not stop weekend overruns.</a:t>
            </a:r>
            <a:endParaRPr lang="en-US" sz="950" dirty="0"/>
          </a:p>
        </p:txBody>
      </p:sp>
      <p:sp>
        <p:nvSpPr>
          <p:cNvPr id="31" name="Shape 27"/>
          <p:cNvSpPr/>
          <p:nvPr/>
        </p:nvSpPr>
        <p:spPr>
          <a:xfrm>
            <a:off x="457200" y="3182112"/>
            <a:ext cx="4023360" cy="621792"/>
          </a:xfrm>
          <a:prstGeom prst="roundRect">
            <a:avLst>
              <a:gd name="adj" fmla="val 11765"/>
            </a:avLst>
          </a:prstGeom>
          <a:solidFill>
            <a:srgbClr val="F4F7F5"/>
          </a:solidFill>
          <a:ln w="9525">
            <a:solidFill>
              <a:srgbClr val="D5DED9"/>
            </a:solidFill>
            <a:prstDash val="solid"/>
          </a:ln>
        </p:spPr>
      </p:sp>
      <p:sp>
        <p:nvSpPr>
          <p:cNvPr id="32" name="Shape 28"/>
          <p:cNvSpPr/>
          <p:nvPr/>
        </p:nvSpPr>
        <p:spPr>
          <a:xfrm>
            <a:off x="566928" y="3328416"/>
            <a:ext cx="329184" cy="329184"/>
          </a:xfrm>
          <a:prstGeom prst="ellipse">
            <a:avLst/>
          </a:prstGeom>
          <a:solidFill>
            <a:srgbClr val="C4621D"/>
          </a:solidFill>
          <a:ln/>
        </p:spPr>
      </p:sp>
      <p:sp>
        <p:nvSpPr>
          <p:cNvPr id="33" name="Text 29"/>
          <p:cNvSpPr txBox="1"/>
          <p:nvPr/>
        </p:nvSpPr>
        <p:spPr>
          <a:xfrm>
            <a:off x="566928" y="332841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Text 30"/>
          <p:cNvSpPr txBox="1"/>
          <p:nvPr/>
        </p:nvSpPr>
        <p:spPr>
          <a:xfrm>
            <a:off x="1005840" y="3236976"/>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Automatic shutdown</a:t>
            </a:r>
            <a:endParaRPr lang="en-US" sz="1100" dirty="0"/>
          </a:p>
        </p:txBody>
      </p:sp>
      <p:sp>
        <p:nvSpPr>
          <p:cNvPr id="35" name="Text 31"/>
          <p:cNvSpPr txBox="1"/>
          <p:nvPr/>
        </p:nvSpPr>
        <p:spPr>
          <a:xfrm>
            <a:off x="1005840" y="3474720"/>
            <a:ext cx="3383280" cy="29260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Idle machines stop on a schedule unless explicitly extended.</a:t>
            </a:r>
            <a:endParaRPr lang="en-US" sz="950" dirty="0"/>
          </a:p>
        </p:txBody>
      </p:sp>
      <p:sp>
        <p:nvSpPr>
          <p:cNvPr id="36" name="Shape 32"/>
          <p:cNvSpPr/>
          <p:nvPr/>
        </p:nvSpPr>
        <p:spPr>
          <a:xfrm>
            <a:off x="457200" y="3895344"/>
            <a:ext cx="4023360" cy="621792"/>
          </a:xfrm>
          <a:prstGeom prst="roundRect">
            <a:avLst>
              <a:gd name="adj" fmla="val 11765"/>
            </a:avLst>
          </a:prstGeom>
          <a:solidFill>
            <a:srgbClr val="F4F7F5"/>
          </a:solidFill>
          <a:ln w="9525">
            <a:solidFill>
              <a:srgbClr val="D5DED9"/>
            </a:solidFill>
            <a:prstDash val="solid"/>
          </a:ln>
        </p:spPr>
      </p:sp>
      <p:sp>
        <p:nvSpPr>
          <p:cNvPr id="37" name="Shape 33"/>
          <p:cNvSpPr/>
          <p:nvPr/>
        </p:nvSpPr>
        <p:spPr>
          <a:xfrm>
            <a:off x="566928" y="4041648"/>
            <a:ext cx="329184" cy="329184"/>
          </a:xfrm>
          <a:prstGeom prst="ellipse">
            <a:avLst/>
          </a:prstGeom>
          <a:solidFill>
            <a:srgbClr val="C4621D"/>
          </a:solidFill>
          <a:ln/>
        </p:spPr>
      </p:sp>
      <p:sp>
        <p:nvSpPr>
          <p:cNvPr id="38" name="Text 34"/>
          <p:cNvSpPr txBox="1"/>
          <p:nvPr/>
        </p:nvSpPr>
        <p:spPr>
          <a:xfrm>
            <a:off x="566928" y="40416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Text 35"/>
          <p:cNvSpPr txBox="1"/>
          <p:nvPr/>
        </p:nvSpPr>
        <p:spPr>
          <a:xfrm>
            <a:off x="1005840" y="3950208"/>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Quotas and thresholds</a:t>
            </a:r>
            <a:endParaRPr lang="en-US" sz="1100" dirty="0"/>
          </a:p>
        </p:txBody>
      </p:sp>
      <p:sp>
        <p:nvSpPr>
          <p:cNvPr id="40" name="Text 36"/>
          <p:cNvSpPr txBox="1"/>
          <p:nvPr/>
        </p:nvSpPr>
        <p:spPr>
          <a:xfrm>
            <a:off x="1005840" y="4187952"/>
            <a:ext cx="3383280" cy="29260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Per-team quotas with an approval path above a limit.</a:t>
            </a:r>
            <a:endParaRPr lang="en-US" sz="950" dirty="0"/>
          </a:p>
        </p:txBody>
      </p:sp>
      <p:sp>
        <p:nvSpPr>
          <p:cNvPr id="41" name="Shape 37"/>
          <p:cNvSpPr/>
          <p:nvPr/>
        </p:nvSpPr>
        <p:spPr>
          <a:xfrm>
            <a:off x="4663440" y="1325880"/>
            <a:ext cx="310896" cy="310896"/>
          </a:xfrm>
          <a:prstGeom prst="ellipse">
            <a:avLst/>
          </a:prstGeom>
          <a:solidFill>
            <a:srgbClr val="C4621D">
              <a:alpha val="22000"/>
            </a:srgbClr>
          </a:solidFill>
          <a:ln/>
        </p:spPr>
      </p:sp>
      <p:pic>
        <p:nvPicPr>
          <p:cNvPr id="42" name="Image 1" descr="preencoded.png"/>
          <p:cNvPicPr>
            <a:picLocks noChangeAspect="1"/>
          </p:cNvPicPr>
          <p:nvPr/>
        </p:nvPicPr>
        <p:blipFill>
          <a:blip r:embed="rId4"/>
          <a:stretch>
            <a:fillRect/>
          </a:stretch>
        </p:blipFill>
        <p:spPr>
          <a:xfrm>
            <a:off x="4738055" y="1400495"/>
            <a:ext cx="161666" cy="161666"/>
          </a:xfrm>
          <a:prstGeom prst="rect">
            <a:avLst/>
          </a:prstGeom>
        </p:spPr>
      </p:pic>
      <p:sp>
        <p:nvSpPr>
          <p:cNvPr id="43" name="Text 38"/>
          <p:cNvSpPr txBox="1"/>
          <p:nvPr/>
        </p:nvSpPr>
        <p:spPr>
          <a:xfrm>
            <a:off x="5074920" y="1325880"/>
            <a:ext cx="2743200" cy="310896"/>
          </a:xfrm>
          <a:prstGeom prst="rect">
            <a:avLst/>
          </a:prstGeom>
          <a:noFill/>
          <a:ln/>
        </p:spPr>
        <p:txBody>
          <a:bodyPr wrap="square" lIns="0" tIns="0" rIns="0" bIns="0" rtlCol="0" anchor="ctr"/>
          <a:lstStyle/>
          <a:p>
            <a:pPr marL="0" indent="0">
              <a:buNone/>
            </a:pPr>
            <a:r>
              <a:rPr lang="en-US" sz="1050" b="1" kern="0" spc="200" dirty="0">
                <a:solidFill>
                  <a:srgbClr val="C4621D"/>
                </a:solidFill>
                <a:latin typeface="Calibri" pitchFamily="34" charset="0"/>
                <a:ea typeface="Calibri" pitchFamily="34" charset="-122"/>
                <a:cs typeface="Calibri" pitchFamily="34" charset="-120"/>
              </a:rPr>
              <a:t>EFFICIENCY</a:t>
            </a:r>
            <a:endParaRPr lang="en-US" sz="1050" dirty="0"/>
          </a:p>
        </p:txBody>
      </p:sp>
      <p:sp>
        <p:nvSpPr>
          <p:cNvPr id="44" name="Shape 39"/>
          <p:cNvSpPr/>
          <p:nvPr/>
        </p:nvSpPr>
        <p:spPr>
          <a:xfrm>
            <a:off x="4663440" y="1755648"/>
            <a:ext cx="4023360" cy="621792"/>
          </a:xfrm>
          <a:prstGeom prst="roundRect">
            <a:avLst>
              <a:gd name="adj" fmla="val 11765"/>
            </a:avLst>
          </a:prstGeom>
          <a:solidFill>
            <a:srgbClr val="F9EDE4"/>
          </a:solidFill>
          <a:ln w="15875">
            <a:solidFill>
              <a:srgbClr val="C4621D"/>
            </a:solidFill>
            <a:prstDash val="solid"/>
          </a:ln>
        </p:spPr>
      </p:sp>
      <p:sp>
        <p:nvSpPr>
          <p:cNvPr id="45" name="Shape 40"/>
          <p:cNvSpPr/>
          <p:nvPr/>
        </p:nvSpPr>
        <p:spPr>
          <a:xfrm>
            <a:off x="4773168" y="1901952"/>
            <a:ext cx="329184" cy="329184"/>
          </a:xfrm>
          <a:prstGeom prst="ellipse">
            <a:avLst/>
          </a:prstGeom>
          <a:solidFill>
            <a:srgbClr val="C4621D"/>
          </a:solidFill>
          <a:ln/>
        </p:spPr>
      </p:sp>
      <p:sp>
        <p:nvSpPr>
          <p:cNvPr id="46" name="Text 41"/>
          <p:cNvSpPr txBox="1"/>
          <p:nvPr/>
        </p:nvSpPr>
        <p:spPr>
          <a:xfrm>
            <a:off x="4773168" y="190195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7" name="Text 42"/>
          <p:cNvSpPr txBox="1"/>
          <p:nvPr/>
        </p:nvSpPr>
        <p:spPr>
          <a:xfrm>
            <a:off x="5212080" y="1810512"/>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Smallest sufficient model</a:t>
            </a:r>
            <a:endParaRPr lang="en-US" sz="1100" dirty="0"/>
          </a:p>
        </p:txBody>
      </p:sp>
      <p:sp>
        <p:nvSpPr>
          <p:cNvPr id="48" name="Text 43"/>
          <p:cNvSpPr txBox="1"/>
          <p:nvPr/>
        </p:nvSpPr>
        <p:spPr>
          <a:xfrm>
            <a:off x="5212080" y="2048256"/>
            <a:ext cx="3383280" cy="29260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Start small or self-hosted; escalate only when tests show the need.</a:t>
            </a:r>
            <a:endParaRPr lang="en-US" sz="950" dirty="0"/>
          </a:p>
        </p:txBody>
      </p:sp>
      <p:sp>
        <p:nvSpPr>
          <p:cNvPr id="49" name="Shape 44"/>
          <p:cNvSpPr/>
          <p:nvPr/>
        </p:nvSpPr>
        <p:spPr>
          <a:xfrm>
            <a:off x="4663440" y="2468880"/>
            <a:ext cx="4023360" cy="621792"/>
          </a:xfrm>
          <a:prstGeom prst="roundRect">
            <a:avLst>
              <a:gd name="adj" fmla="val 11765"/>
            </a:avLst>
          </a:prstGeom>
          <a:solidFill>
            <a:srgbClr val="F4F7F5"/>
          </a:solidFill>
          <a:ln w="9525">
            <a:solidFill>
              <a:srgbClr val="D5DED9"/>
            </a:solidFill>
            <a:prstDash val="solid"/>
          </a:ln>
        </p:spPr>
      </p:sp>
      <p:sp>
        <p:nvSpPr>
          <p:cNvPr id="50" name="Shape 45"/>
          <p:cNvSpPr/>
          <p:nvPr/>
        </p:nvSpPr>
        <p:spPr>
          <a:xfrm>
            <a:off x="4773168" y="2615184"/>
            <a:ext cx="329184" cy="329184"/>
          </a:xfrm>
          <a:prstGeom prst="ellipse">
            <a:avLst/>
          </a:prstGeom>
          <a:solidFill>
            <a:srgbClr val="C4621D"/>
          </a:solidFill>
          <a:ln/>
        </p:spPr>
      </p:sp>
      <p:sp>
        <p:nvSpPr>
          <p:cNvPr id="51" name="Text 46"/>
          <p:cNvSpPr txBox="1"/>
          <p:nvPr/>
        </p:nvSpPr>
        <p:spPr>
          <a:xfrm>
            <a:off x="4773168" y="26151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2" name="Text 47"/>
          <p:cNvSpPr txBox="1"/>
          <p:nvPr/>
        </p:nvSpPr>
        <p:spPr>
          <a:xfrm>
            <a:off x="5212080" y="2523744"/>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Cache and batch</a:t>
            </a:r>
            <a:endParaRPr lang="en-US" sz="1100" dirty="0"/>
          </a:p>
        </p:txBody>
      </p:sp>
      <p:sp>
        <p:nvSpPr>
          <p:cNvPr id="53" name="Text 48"/>
          <p:cNvSpPr txBox="1"/>
          <p:nvPr/>
        </p:nvSpPr>
        <p:spPr>
          <a:xfrm>
            <a:off x="5212080" y="2761488"/>
            <a:ext cx="3383280" cy="29260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Reuse results for repeated inputs; batch jobs cost less than live calls.</a:t>
            </a:r>
            <a:endParaRPr lang="en-US" sz="950" dirty="0"/>
          </a:p>
        </p:txBody>
      </p:sp>
      <p:sp>
        <p:nvSpPr>
          <p:cNvPr id="54" name="Shape 49"/>
          <p:cNvSpPr/>
          <p:nvPr/>
        </p:nvSpPr>
        <p:spPr>
          <a:xfrm>
            <a:off x="4663440" y="3182112"/>
            <a:ext cx="4023360" cy="621792"/>
          </a:xfrm>
          <a:prstGeom prst="roundRect">
            <a:avLst>
              <a:gd name="adj" fmla="val 11765"/>
            </a:avLst>
          </a:prstGeom>
          <a:solidFill>
            <a:srgbClr val="F4F7F5"/>
          </a:solidFill>
          <a:ln w="9525">
            <a:solidFill>
              <a:srgbClr val="D5DED9"/>
            </a:solidFill>
            <a:prstDash val="solid"/>
          </a:ln>
        </p:spPr>
      </p:sp>
      <p:sp>
        <p:nvSpPr>
          <p:cNvPr id="55" name="Shape 50"/>
          <p:cNvSpPr/>
          <p:nvPr/>
        </p:nvSpPr>
        <p:spPr>
          <a:xfrm>
            <a:off x="4773168" y="3328416"/>
            <a:ext cx="329184" cy="329184"/>
          </a:xfrm>
          <a:prstGeom prst="ellipse">
            <a:avLst/>
          </a:prstGeom>
          <a:solidFill>
            <a:srgbClr val="C4621D"/>
          </a:solidFill>
          <a:ln/>
        </p:spPr>
      </p:sp>
      <p:sp>
        <p:nvSpPr>
          <p:cNvPr id="56" name="Text 51"/>
          <p:cNvSpPr txBox="1"/>
          <p:nvPr/>
        </p:nvSpPr>
        <p:spPr>
          <a:xfrm>
            <a:off x="4773168" y="332841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57" name="Text 52"/>
          <p:cNvSpPr txBox="1"/>
          <p:nvPr/>
        </p:nvSpPr>
        <p:spPr>
          <a:xfrm>
            <a:off x="5212080" y="3236976"/>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Commit once load is known</a:t>
            </a:r>
            <a:endParaRPr lang="en-US" sz="1100" dirty="0"/>
          </a:p>
        </p:txBody>
      </p:sp>
      <p:sp>
        <p:nvSpPr>
          <p:cNvPr id="58" name="Text 53"/>
          <p:cNvSpPr txBox="1"/>
          <p:nvPr/>
        </p:nvSpPr>
        <p:spPr>
          <a:xfrm>
            <a:off x="5212080" y="3474720"/>
            <a:ext cx="3383280" cy="29260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Reserved capacity saves money — only after real usage history.</a:t>
            </a:r>
            <a:endParaRPr lang="en-US" sz="950" dirty="0"/>
          </a:p>
        </p:txBody>
      </p:sp>
      <p:sp>
        <p:nvSpPr>
          <p:cNvPr id="59" name="Shape 54"/>
          <p:cNvSpPr/>
          <p:nvPr/>
        </p:nvSpPr>
        <p:spPr>
          <a:xfrm>
            <a:off x="4663440" y="3895344"/>
            <a:ext cx="4023360" cy="621792"/>
          </a:xfrm>
          <a:prstGeom prst="roundRect">
            <a:avLst>
              <a:gd name="adj" fmla="val 11765"/>
            </a:avLst>
          </a:prstGeom>
          <a:solidFill>
            <a:srgbClr val="F4F7F5"/>
          </a:solidFill>
          <a:ln w="9525">
            <a:solidFill>
              <a:srgbClr val="D5DED9"/>
            </a:solidFill>
            <a:prstDash val="solid"/>
          </a:ln>
        </p:spPr>
      </p:sp>
      <p:sp>
        <p:nvSpPr>
          <p:cNvPr id="60" name="Shape 55"/>
          <p:cNvSpPr/>
          <p:nvPr/>
        </p:nvSpPr>
        <p:spPr>
          <a:xfrm>
            <a:off x="4773168" y="4041648"/>
            <a:ext cx="329184" cy="329184"/>
          </a:xfrm>
          <a:prstGeom prst="ellipse">
            <a:avLst/>
          </a:prstGeom>
          <a:solidFill>
            <a:srgbClr val="C4621D"/>
          </a:solidFill>
          <a:ln/>
        </p:spPr>
      </p:sp>
      <p:sp>
        <p:nvSpPr>
          <p:cNvPr id="61" name="Text 56"/>
          <p:cNvSpPr txBox="1"/>
          <p:nvPr/>
        </p:nvSpPr>
        <p:spPr>
          <a:xfrm>
            <a:off x="4773168" y="40416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62" name="Text 57"/>
          <p:cNvSpPr txBox="1"/>
          <p:nvPr/>
        </p:nvSpPr>
        <p:spPr>
          <a:xfrm>
            <a:off x="5212080" y="3950208"/>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Review cost with delivery</a:t>
            </a:r>
            <a:endParaRPr lang="en-US" sz="1100" dirty="0"/>
          </a:p>
        </p:txBody>
      </p:sp>
      <p:sp>
        <p:nvSpPr>
          <p:cNvPr id="63" name="Text 58"/>
          <p:cNvSpPr txBox="1"/>
          <p:nvPr/>
        </p:nvSpPr>
        <p:spPr>
          <a:xfrm>
            <a:off x="5212080" y="4187952"/>
            <a:ext cx="3383280" cy="29260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One monthly meeting for progress and spend, same people.</a:t>
            </a:r>
            <a:endParaRPr lang="en-US" sz="950" dirty="0"/>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THE ASK</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Making the budget case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A request a finance committee can approve — and an auditor can later defend</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53</a:t>
            </a:r>
            <a:endParaRPr lang="en-US" sz="850" dirty="0"/>
          </a:p>
        </p:txBody>
      </p:sp>
      <p:sp>
        <p:nvSpPr>
          <p:cNvPr id="18" name="Shape 15"/>
          <p:cNvSpPr/>
          <p:nvPr/>
        </p:nvSpPr>
        <p:spPr>
          <a:xfrm>
            <a:off x="457200" y="1371600"/>
            <a:ext cx="4023360" cy="2697480"/>
          </a:xfrm>
          <a:prstGeom prst="roundRect">
            <a:avLst>
              <a:gd name="adj" fmla="val 2712"/>
            </a:avLst>
          </a:prstGeom>
          <a:solidFill>
            <a:srgbClr val="E8F5EF"/>
          </a:solidFill>
          <a:ln w="9525">
            <a:solidFill>
              <a:srgbClr val="00704A"/>
            </a:solidFill>
            <a:prstDash val="solid"/>
          </a:ln>
        </p:spPr>
      </p:sp>
      <p:sp>
        <p:nvSpPr>
          <p:cNvPr id="19" name="Shape 16"/>
          <p:cNvSpPr/>
          <p:nvPr/>
        </p:nvSpPr>
        <p:spPr>
          <a:xfrm>
            <a:off x="594360" y="1463040"/>
            <a:ext cx="384048" cy="384048"/>
          </a:xfrm>
          <a:prstGeom prst="ellipse">
            <a:avLst/>
          </a:prstGeom>
          <a:solidFill>
            <a:srgbClr val="00704A"/>
          </a:solidFill>
          <a:ln/>
        </p:spPr>
      </p:sp>
      <p:pic>
        <p:nvPicPr>
          <p:cNvPr id="20" name="Image 0" descr="preencoded.png"/>
          <p:cNvPicPr>
            <a:picLocks noChangeAspect="1"/>
          </p:cNvPicPr>
          <p:nvPr/>
        </p:nvPicPr>
        <p:blipFill>
          <a:blip r:embed="rId3"/>
          <a:stretch>
            <a:fillRect/>
          </a:stretch>
        </p:blipFill>
        <p:spPr>
          <a:xfrm>
            <a:off x="686532" y="1555212"/>
            <a:ext cx="199705" cy="199705"/>
          </a:xfrm>
          <a:prstGeom prst="rect">
            <a:avLst/>
          </a:prstGeom>
        </p:spPr>
      </p:pic>
      <p:sp>
        <p:nvSpPr>
          <p:cNvPr id="21" name="Text 17"/>
          <p:cNvSpPr txBox="1"/>
          <p:nvPr/>
        </p:nvSpPr>
        <p:spPr>
          <a:xfrm>
            <a:off x="1078992" y="1444752"/>
            <a:ext cx="2743200" cy="237744"/>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DO</a:t>
            </a:r>
            <a:endParaRPr lang="en-US" sz="1400" dirty="0"/>
          </a:p>
        </p:txBody>
      </p:sp>
      <p:sp>
        <p:nvSpPr>
          <p:cNvPr id="22" name="Text 18"/>
          <p:cNvSpPr txBox="1"/>
          <p:nvPr/>
        </p:nvSpPr>
        <p:spPr>
          <a:xfrm>
            <a:off x="1078992" y="1673352"/>
            <a:ext cx="3200400" cy="182880"/>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What a defensible submission contains</a:t>
            </a:r>
            <a:endParaRPr lang="en-US" sz="950" dirty="0"/>
          </a:p>
        </p:txBody>
      </p:sp>
      <p:pic>
        <p:nvPicPr>
          <p:cNvPr id="23" name="Image 1" descr="preencoded.png"/>
          <p:cNvPicPr>
            <a:picLocks noChangeAspect="1"/>
          </p:cNvPicPr>
          <p:nvPr/>
        </p:nvPicPr>
        <p:blipFill>
          <a:blip r:embed="rId4"/>
          <a:stretch>
            <a:fillRect/>
          </a:stretch>
        </p:blipFill>
        <p:spPr>
          <a:xfrm>
            <a:off x="621792" y="2011680"/>
            <a:ext cx="137160" cy="137160"/>
          </a:xfrm>
          <a:prstGeom prst="rect">
            <a:avLst/>
          </a:prstGeom>
        </p:spPr>
      </p:pic>
      <p:sp>
        <p:nvSpPr>
          <p:cNvPr id="24" name="Text 19"/>
          <p:cNvSpPr txBox="1"/>
          <p:nvPr/>
        </p:nvSpPr>
        <p:spPr>
          <a:xfrm>
            <a:off x="832104" y="1984248"/>
            <a:ext cx="3493008" cy="29260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Frame benefits as statistical outcomes: timeliness, quality</a:t>
            </a:r>
            <a:endParaRPr lang="en-US" sz="950" dirty="0"/>
          </a:p>
        </p:txBody>
      </p:sp>
      <p:pic>
        <p:nvPicPr>
          <p:cNvPr id="25" name="Image 2" descr="preencoded.png"/>
          <p:cNvPicPr>
            <a:picLocks noChangeAspect="1"/>
          </p:cNvPicPr>
          <p:nvPr/>
        </p:nvPicPr>
        <p:blipFill>
          <a:blip r:embed="rId4"/>
          <a:stretch>
            <a:fillRect/>
          </a:stretch>
        </p:blipFill>
        <p:spPr>
          <a:xfrm>
            <a:off x="621792" y="2304288"/>
            <a:ext cx="137160" cy="137160"/>
          </a:xfrm>
          <a:prstGeom prst="rect">
            <a:avLst/>
          </a:prstGeom>
        </p:spPr>
      </p:pic>
      <p:sp>
        <p:nvSpPr>
          <p:cNvPr id="26" name="Text 20"/>
          <p:cNvSpPr txBox="1"/>
          <p:nvPr/>
        </p:nvSpPr>
        <p:spPr>
          <a:xfrm>
            <a:off x="832104" y="2276856"/>
            <a:ext cx="3493008" cy="29260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Show cost per record today vs. with AI, with test evidence</a:t>
            </a:r>
            <a:endParaRPr lang="en-US" sz="950" dirty="0"/>
          </a:p>
        </p:txBody>
      </p:sp>
      <p:pic>
        <p:nvPicPr>
          <p:cNvPr id="27" name="Image 3" descr="preencoded.png"/>
          <p:cNvPicPr>
            <a:picLocks noChangeAspect="1"/>
          </p:cNvPicPr>
          <p:nvPr/>
        </p:nvPicPr>
        <p:blipFill>
          <a:blip r:embed="rId4"/>
          <a:stretch>
            <a:fillRect/>
          </a:stretch>
        </p:blipFill>
        <p:spPr>
          <a:xfrm>
            <a:off x="621792" y="2596896"/>
            <a:ext cx="137160" cy="137160"/>
          </a:xfrm>
          <a:prstGeom prst="rect">
            <a:avLst/>
          </a:prstGeom>
        </p:spPr>
      </p:pic>
      <p:sp>
        <p:nvSpPr>
          <p:cNvPr id="28" name="Text 21"/>
          <p:cNvSpPr txBox="1"/>
          <p:nvPr/>
        </p:nvSpPr>
        <p:spPr>
          <a:xfrm>
            <a:off x="832104" y="2569464"/>
            <a:ext cx="3493008" cy="29260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Ask for a platform with recurrent funding, not a project</a:t>
            </a:r>
            <a:endParaRPr lang="en-US" sz="950" dirty="0"/>
          </a:p>
        </p:txBody>
      </p:sp>
      <p:pic>
        <p:nvPicPr>
          <p:cNvPr id="29" name="Image 4" descr="preencoded.png"/>
          <p:cNvPicPr>
            <a:picLocks noChangeAspect="1"/>
          </p:cNvPicPr>
          <p:nvPr/>
        </p:nvPicPr>
        <p:blipFill>
          <a:blip r:embed="rId4"/>
          <a:stretch>
            <a:fillRect/>
          </a:stretch>
        </p:blipFill>
        <p:spPr>
          <a:xfrm>
            <a:off x="621792" y="2889504"/>
            <a:ext cx="137160" cy="137160"/>
          </a:xfrm>
          <a:prstGeom prst="rect">
            <a:avLst/>
          </a:prstGeom>
        </p:spPr>
      </p:pic>
      <p:sp>
        <p:nvSpPr>
          <p:cNvPr id="30" name="Text 22"/>
          <p:cNvSpPr txBox="1"/>
          <p:nvPr/>
        </p:nvSpPr>
        <p:spPr>
          <a:xfrm>
            <a:off x="832104" y="2862072"/>
            <a:ext cx="3493008" cy="29260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Phase it: pilot → platform → scale, with a decision at each step</a:t>
            </a:r>
            <a:endParaRPr lang="en-US" sz="950" dirty="0"/>
          </a:p>
        </p:txBody>
      </p:sp>
      <p:pic>
        <p:nvPicPr>
          <p:cNvPr id="31" name="Image 5" descr="preencoded.png"/>
          <p:cNvPicPr>
            <a:picLocks noChangeAspect="1"/>
          </p:cNvPicPr>
          <p:nvPr/>
        </p:nvPicPr>
        <p:blipFill>
          <a:blip r:embed="rId4"/>
          <a:stretch>
            <a:fillRect/>
          </a:stretch>
        </p:blipFill>
        <p:spPr>
          <a:xfrm>
            <a:off x="621792" y="3182112"/>
            <a:ext cx="137160" cy="137160"/>
          </a:xfrm>
          <a:prstGeom prst="rect">
            <a:avLst/>
          </a:prstGeom>
        </p:spPr>
      </p:pic>
      <p:sp>
        <p:nvSpPr>
          <p:cNvPr id="32" name="Text 23"/>
          <p:cNvSpPr txBox="1"/>
          <p:nvPr/>
        </p:nvSpPr>
        <p:spPr>
          <a:xfrm>
            <a:off x="832104" y="3154680"/>
            <a:ext cx="3493008" cy="29260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Include run, refresh and decommissioning costs</a:t>
            </a:r>
            <a:endParaRPr lang="en-US" sz="950" dirty="0"/>
          </a:p>
        </p:txBody>
      </p:sp>
      <p:pic>
        <p:nvPicPr>
          <p:cNvPr id="33" name="Image 6" descr="preencoded.png"/>
          <p:cNvPicPr>
            <a:picLocks noChangeAspect="1"/>
          </p:cNvPicPr>
          <p:nvPr/>
        </p:nvPicPr>
        <p:blipFill>
          <a:blip r:embed="rId4"/>
          <a:stretch>
            <a:fillRect/>
          </a:stretch>
        </p:blipFill>
        <p:spPr>
          <a:xfrm>
            <a:off x="621792" y="3474720"/>
            <a:ext cx="137160" cy="137160"/>
          </a:xfrm>
          <a:prstGeom prst="rect">
            <a:avLst/>
          </a:prstGeom>
        </p:spPr>
      </p:pic>
      <p:sp>
        <p:nvSpPr>
          <p:cNvPr id="34" name="Text 24"/>
          <p:cNvSpPr txBox="1"/>
          <p:nvPr/>
        </p:nvSpPr>
        <p:spPr>
          <a:xfrm>
            <a:off x="832104" y="3447288"/>
            <a:ext cx="3493008" cy="29260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State the confidentiality position up front</a:t>
            </a:r>
            <a:endParaRPr lang="en-US" sz="950" dirty="0"/>
          </a:p>
        </p:txBody>
      </p:sp>
      <p:pic>
        <p:nvPicPr>
          <p:cNvPr id="35" name="Image 7" descr="preencoded.png"/>
          <p:cNvPicPr>
            <a:picLocks noChangeAspect="1"/>
          </p:cNvPicPr>
          <p:nvPr/>
        </p:nvPicPr>
        <p:blipFill>
          <a:blip r:embed="rId4"/>
          <a:stretch>
            <a:fillRect/>
          </a:stretch>
        </p:blipFill>
        <p:spPr>
          <a:xfrm>
            <a:off x="621792" y="3767328"/>
            <a:ext cx="137160" cy="137160"/>
          </a:xfrm>
          <a:prstGeom prst="rect">
            <a:avLst/>
          </a:prstGeom>
        </p:spPr>
      </p:pic>
      <p:sp>
        <p:nvSpPr>
          <p:cNvPr id="36" name="Text 25"/>
          <p:cNvSpPr txBox="1"/>
          <p:nvPr/>
        </p:nvSpPr>
        <p:spPr>
          <a:xfrm>
            <a:off x="832104" y="3739896"/>
            <a:ext cx="3493008" cy="29260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Name unknowns; propose a cost ceiling and review date</a:t>
            </a:r>
            <a:endParaRPr lang="en-US" sz="950" dirty="0"/>
          </a:p>
        </p:txBody>
      </p:sp>
      <p:sp>
        <p:nvSpPr>
          <p:cNvPr id="37" name="Shape 26"/>
          <p:cNvSpPr/>
          <p:nvPr/>
        </p:nvSpPr>
        <p:spPr>
          <a:xfrm>
            <a:off x="4663440" y="1371600"/>
            <a:ext cx="4023360" cy="2697480"/>
          </a:xfrm>
          <a:prstGeom prst="roundRect">
            <a:avLst>
              <a:gd name="adj" fmla="val 2712"/>
            </a:avLst>
          </a:prstGeom>
          <a:solidFill>
            <a:srgbClr val="FBF0EE"/>
          </a:solidFill>
          <a:ln w="9525">
            <a:solidFill>
              <a:srgbClr val="B83B2E"/>
            </a:solidFill>
            <a:prstDash val="solid"/>
          </a:ln>
        </p:spPr>
      </p:sp>
      <p:sp>
        <p:nvSpPr>
          <p:cNvPr id="38" name="Shape 27"/>
          <p:cNvSpPr/>
          <p:nvPr/>
        </p:nvSpPr>
        <p:spPr>
          <a:xfrm>
            <a:off x="4800600" y="1463040"/>
            <a:ext cx="384048" cy="384048"/>
          </a:xfrm>
          <a:prstGeom prst="ellipse">
            <a:avLst/>
          </a:prstGeom>
          <a:solidFill>
            <a:srgbClr val="B83B2E"/>
          </a:solidFill>
          <a:ln/>
        </p:spPr>
      </p:sp>
      <p:pic>
        <p:nvPicPr>
          <p:cNvPr id="39" name="Image 8" descr="preencoded.png"/>
          <p:cNvPicPr>
            <a:picLocks noChangeAspect="1"/>
          </p:cNvPicPr>
          <p:nvPr/>
        </p:nvPicPr>
        <p:blipFill>
          <a:blip r:embed="rId5"/>
          <a:stretch>
            <a:fillRect/>
          </a:stretch>
        </p:blipFill>
        <p:spPr>
          <a:xfrm>
            <a:off x="4892772" y="1555212"/>
            <a:ext cx="199705" cy="199705"/>
          </a:xfrm>
          <a:prstGeom prst="rect">
            <a:avLst/>
          </a:prstGeom>
        </p:spPr>
      </p:pic>
      <p:sp>
        <p:nvSpPr>
          <p:cNvPr id="40" name="Text 28"/>
          <p:cNvSpPr txBox="1"/>
          <p:nvPr/>
        </p:nvSpPr>
        <p:spPr>
          <a:xfrm>
            <a:off x="5285232" y="1444752"/>
            <a:ext cx="2743200" cy="237744"/>
          </a:xfrm>
          <a:prstGeom prst="rect">
            <a:avLst/>
          </a:prstGeom>
          <a:noFill/>
          <a:ln/>
        </p:spPr>
        <p:txBody>
          <a:bodyPr wrap="square" lIns="0" tIns="0" rIns="0" bIns="0" rtlCol="0" anchor="t"/>
          <a:lstStyle/>
          <a:p>
            <a:pPr marL="0" indent="0">
              <a:buNone/>
            </a:pPr>
            <a:r>
              <a:rPr lang="en-US" sz="1400" b="1" dirty="0">
                <a:solidFill>
                  <a:srgbClr val="B83B2E"/>
                </a:solidFill>
                <a:latin typeface="Calibri" pitchFamily="34" charset="0"/>
                <a:ea typeface="Calibri" pitchFamily="34" charset="-122"/>
                <a:cs typeface="Calibri" pitchFamily="34" charset="-120"/>
              </a:rPr>
              <a:t>DO NOT</a:t>
            </a:r>
            <a:endParaRPr lang="en-US" sz="1400" dirty="0"/>
          </a:p>
        </p:txBody>
      </p:sp>
      <p:sp>
        <p:nvSpPr>
          <p:cNvPr id="41" name="Text 29"/>
          <p:cNvSpPr txBox="1"/>
          <p:nvPr/>
        </p:nvSpPr>
        <p:spPr>
          <a:xfrm>
            <a:off x="5285232" y="1673352"/>
            <a:ext cx="3200400" cy="182880"/>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What gets a submission sent back</a:t>
            </a:r>
            <a:endParaRPr lang="en-US" sz="950" dirty="0"/>
          </a:p>
        </p:txBody>
      </p:sp>
      <p:pic>
        <p:nvPicPr>
          <p:cNvPr id="42" name="Image 9" descr="preencoded.png"/>
          <p:cNvPicPr>
            <a:picLocks noChangeAspect="1"/>
          </p:cNvPicPr>
          <p:nvPr/>
        </p:nvPicPr>
        <p:blipFill>
          <a:blip r:embed="rId6"/>
          <a:stretch>
            <a:fillRect/>
          </a:stretch>
        </p:blipFill>
        <p:spPr>
          <a:xfrm>
            <a:off x="4828032" y="2011680"/>
            <a:ext cx="137160" cy="137160"/>
          </a:xfrm>
          <a:prstGeom prst="rect">
            <a:avLst/>
          </a:prstGeom>
        </p:spPr>
      </p:pic>
      <p:sp>
        <p:nvSpPr>
          <p:cNvPr id="43" name="Text 30"/>
          <p:cNvSpPr txBox="1"/>
          <p:nvPr/>
        </p:nvSpPr>
        <p:spPr>
          <a:xfrm>
            <a:off x="5038344" y="1984248"/>
            <a:ext cx="3493008" cy="29260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Lead with the technology or a model architecture</a:t>
            </a:r>
            <a:endParaRPr lang="en-US" sz="950" dirty="0"/>
          </a:p>
        </p:txBody>
      </p:sp>
      <p:pic>
        <p:nvPicPr>
          <p:cNvPr id="44" name="Image 10" descr="preencoded.png"/>
          <p:cNvPicPr>
            <a:picLocks noChangeAspect="1"/>
          </p:cNvPicPr>
          <p:nvPr/>
        </p:nvPicPr>
        <p:blipFill>
          <a:blip r:embed="rId6"/>
          <a:stretch>
            <a:fillRect/>
          </a:stretch>
        </p:blipFill>
        <p:spPr>
          <a:xfrm>
            <a:off x="4828032" y="2304288"/>
            <a:ext cx="137160" cy="137160"/>
          </a:xfrm>
          <a:prstGeom prst="rect">
            <a:avLst/>
          </a:prstGeom>
        </p:spPr>
      </p:pic>
      <p:sp>
        <p:nvSpPr>
          <p:cNvPr id="45" name="Text 31"/>
          <p:cNvSpPr txBox="1"/>
          <p:nvPr/>
        </p:nvSpPr>
        <p:spPr>
          <a:xfrm>
            <a:off x="5038344" y="2276856"/>
            <a:ext cx="3493008" cy="29260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Promise headcount cuts — promise capacity redeployed</a:t>
            </a:r>
            <a:endParaRPr lang="en-US" sz="950" dirty="0"/>
          </a:p>
        </p:txBody>
      </p:sp>
      <p:pic>
        <p:nvPicPr>
          <p:cNvPr id="46" name="Image 11" descr="preencoded.png"/>
          <p:cNvPicPr>
            <a:picLocks noChangeAspect="1"/>
          </p:cNvPicPr>
          <p:nvPr/>
        </p:nvPicPr>
        <p:blipFill>
          <a:blip r:embed="rId6"/>
          <a:stretch>
            <a:fillRect/>
          </a:stretch>
        </p:blipFill>
        <p:spPr>
          <a:xfrm>
            <a:off x="4828032" y="2596896"/>
            <a:ext cx="137160" cy="137160"/>
          </a:xfrm>
          <a:prstGeom prst="rect">
            <a:avLst/>
          </a:prstGeom>
        </p:spPr>
      </p:pic>
      <p:sp>
        <p:nvSpPr>
          <p:cNvPr id="47" name="Text 32"/>
          <p:cNvSpPr txBox="1"/>
          <p:nvPr/>
        </p:nvSpPr>
        <p:spPr>
          <a:xfrm>
            <a:off x="5038344" y="2569464"/>
            <a:ext cx="3493008" cy="29260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Present accuracy without the human baseline</a:t>
            </a:r>
            <a:endParaRPr lang="en-US" sz="950" dirty="0"/>
          </a:p>
        </p:txBody>
      </p:sp>
      <p:pic>
        <p:nvPicPr>
          <p:cNvPr id="48" name="Image 12" descr="preencoded.png"/>
          <p:cNvPicPr>
            <a:picLocks noChangeAspect="1"/>
          </p:cNvPicPr>
          <p:nvPr/>
        </p:nvPicPr>
        <p:blipFill>
          <a:blip r:embed="rId6"/>
          <a:stretch>
            <a:fillRect/>
          </a:stretch>
        </p:blipFill>
        <p:spPr>
          <a:xfrm>
            <a:off x="4828032" y="2889504"/>
            <a:ext cx="137160" cy="137160"/>
          </a:xfrm>
          <a:prstGeom prst="rect">
            <a:avLst/>
          </a:prstGeom>
        </p:spPr>
      </p:pic>
      <p:sp>
        <p:nvSpPr>
          <p:cNvPr id="49" name="Text 33"/>
          <p:cNvSpPr txBox="1"/>
          <p:nvPr/>
        </p:nvSpPr>
        <p:spPr>
          <a:xfrm>
            <a:off x="5038344" y="2862072"/>
            <a:ext cx="3493008" cy="29260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Request hardware before a tested use case and labelled data</a:t>
            </a:r>
            <a:endParaRPr lang="en-US" sz="950" dirty="0"/>
          </a:p>
        </p:txBody>
      </p:sp>
      <p:pic>
        <p:nvPicPr>
          <p:cNvPr id="50" name="Image 13" descr="preencoded.png"/>
          <p:cNvPicPr>
            <a:picLocks noChangeAspect="1"/>
          </p:cNvPicPr>
          <p:nvPr/>
        </p:nvPicPr>
        <p:blipFill>
          <a:blip r:embed="rId6"/>
          <a:stretch>
            <a:fillRect/>
          </a:stretch>
        </p:blipFill>
        <p:spPr>
          <a:xfrm>
            <a:off x="4828032" y="3182112"/>
            <a:ext cx="137160" cy="137160"/>
          </a:xfrm>
          <a:prstGeom prst="rect">
            <a:avLst/>
          </a:prstGeom>
        </p:spPr>
      </p:pic>
      <p:sp>
        <p:nvSpPr>
          <p:cNvPr id="51" name="Text 34"/>
          <p:cNvSpPr txBox="1"/>
          <p:nvPr/>
        </p:nvSpPr>
        <p:spPr>
          <a:xfrm>
            <a:off x="5038344" y="3154680"/>
            <a:ext cx="3493008" cy="29260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Hide governance effort inside a delivery line</a:t>
            </a:r>
            <a:endParaRPr lang="en-US" sz="950" dirty="0"/>
          </a:p>
        </p:txBody>
      </p:sp>
      <p:pic>
        <p:nvPicPr>
          <p:cNvPr id="52" name="Image 14" descr="preencoded.png"/>
          <p:cNvPicPr>
            <a:picLocks noChangeAspect="1"/>
          </p:cNvPicPr>
          <p:nvPr/>
        </p:nvPicPr>
        <p:blipFill>
          <a:blip r:embed="rId6"/>
          <a:stretch>
            <a:fillRect/>
          </a:stretch>
        </p:blipFill>
        <p:spPr>
          <a:xfrm>
            <a:off x="4828032" y="3474720"/>
            <a:ext cx="137160" cy="137160"/>
          </a:xfrm>
          <a:prstGeom prst="rect">
            <a:avLst/>
          </a:prstGeom>
        </p:spPr>
      </p:pic>
      <p:sp>
        <p:nvSpPr>
          <p:cNvPr id="53" name="Text 35"/>
          <p:cNvSpPr txBox="1"/>
          <p:nvPr/>
        </p:nvSpPr>
        <p:spPr>
          <a:xfrm>
            <a:off x="5038344" y="3447288"/>
            <a:ext cx="3493008" cy="292608"/>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Use vendor benchmarks as evidence about your data</a:t>
            </a:r>
            <a:endParaRPr lang="en-US" sz="950" dirty="0"/>
          </a:p>
        </p:txBody>
      </p:sp>
      <p:sp>
        <p:nvSpPr>
          <p:cNvPr id="54" name="Shape 36"/>
          <p:cNvSpPr/>
          <p:nvPr/>
        </p:nvSpPr>
        <p:spPr>
          <a:xfrm>
            <a:off x="457200" y="4160520"/>
            <a:ext cx="8229600" cy="438912"/>
          </a:xfrm>
          <a:prstGeom prst="roundRect">
            <a:avLst>
              <a:gd name="adj" fmla="val 12500"/>
            </a:avLst>
          </a:prstGeom>
          <a:solidFill>
            <a:srgbClr val="E8F5EF"/>
          </a:solidFill>
          <a:ln w="15875">
            <a:solidFill>
              <a:srgbClr val="C4621D"/>
            </a:solidFill>
            <a:prstDash val="solid"/>
          </a:ln>
        </p:spPr>
      </p:sp>
      <p:sp>
        <p:nvSpPr>
          <p:cNvPr id="55" name="Shape 37"/>
          <p:cNvSpPr/>
          <p:nvPr/>
        </p:nvSpPr>
        <p:spPr>
          <a:xfrm>
            <a:off x="566928" y="4233672"/>
            <a:ext cx="292608" cy="292608"/>
          </a:xfrm>
          <a:prstGeom prst="ellipse">
            <a:avLst/>
          </a:prstGeom>
          <a:solidFill>
            <a:srgbClr val="C4621D">
              <a:alpha val="22000"/>
            </a:srgbClr>
          </a:solidFill>
          <a:ln/>
        </p:spPr>
      </p:sp>
      <p:pic>
        <p:nvPicPr>
          <p:cNvPr id="56" name="Image 15" descr="preencoded.png"/>
          <p:cNvPicPr>
            <a:picLocks noChangeAspect="1"/>
          </p:cNvPicPr>
          <p:nvPr/>
        </p:nvPicPr>
        <p:blipFill>
          <a:blip r:embed="rId7"/>
          <a:stretch>
            <a:fillRect/>
          </a:stretch>
        </p:blipFill>
        <p:spPr>
          <a:xfrm>
            <a:off x="637154" y="4303898"/>
            <a:ext cx="152156" cy="152156"/>
          </a:xfrm>
          <a:prstGeom prst="rect">
            <a:avLst/>
          </a:prstGeom>
        </p:spPr>
      </p:pic>
      <p:sp>
        <p:nvSpPr>
          <p:cNvPr id="57" name="Text 38"/>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The strongest sentence in any AI business case is a measured comparison with the current process, on your own data. Everything else is assertion.</a:t>
            </a:r>
            <a:endParaRPr lang="en-US" sz="1050" dirty="0"/>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06</a:t>
            </a:r>
            <a:endParaRPr lang="en-US" sz="1050" dirty="0"/>
          </a:p>
        </p:txBody>
      </p:sp>
      <p:sp>
        <p:nvSpPr>
          <p:cNvPr id="4" name="Text 2"/>
          <p:cNvSpPr txBox="1"/>
          <p:nvPr/>
        </p:nvSpPr>
        <p:spPr>
          <a:xfrm>
            <a:off x="502920" y="73152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06</a:t>
            </a:r>
            <a:endParaRPr lang="en-US" sz="8800" dirty="0"/>
          </a:p>
        </p:txBody>
      </p:sp>
      <p:sp>
        <p:nvSpPr>
          <p:cNvPr id="5" name="Text 3"/>
          <p:cNvSpPr txBox="1"/>
          <p:nvPr/>
        </p:nvSpPr>
        <p:spPr>
          <a:xfrm>
            <a:off x="548640" y="1874520"/>
            <a:ext cx="5303520" cy="54864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Calibri" pitchFamily="34" charset="0"/>
                <a:ea typeface="Calibri" pitchFamily="34" charset="-122"/>
                <a:cs typeface="Calibri" pitchFamily="34" charset="-120"/>
              </a:rPr>
              <a:t>People &amp; roadmap</a:t>
            </a:r>
            <a:endParaRPr lang="en-US" sz="3200" dirty="0"/>
          </a:p>
        </p:txBody>
      </p:sp>
      <p:sp>
        <p:nvSpPr>
          <p:cNvPr id="6" name="Text 4"/>
          <p:cNvSpPr txBox="1"/>
          <p:nvPr/>
        </p:nvSpPr>
        <p:spPr>
          <a:xfrm>
            <a:off x="548640" y="2514600"/>
            <a:ext cx="4937760" cy="548640"/>
          </a:xfrm>
          <a:prstGeom prst="rect">
            <a:avLst/>
          </a:prstGeom>
          <a:noFill/>
          <a:ln/>
        </p:spPr>
        <p:txBody>
          <a:bodyPr wrap="square" lIns="0" tIns="0" rIns="0" bIns="0" rtlCol="0" anchor="t"/>
          <a:lstStyle/>
          <a:p>
            <a:pPr marL="0" indent="0">
              <a:buNone/>
            </a:pPr>
            <a:r>
              <a:rPr lang="en-US" sz="1500" i="1" dirty="0">
                <a:solidFill>
                  <a:srgbClr val="E6F6EE"/>
                </a:solidFill>
                <a:latin typeface="Calibri" pitchFamily="34" charset="0"/>
                <a:ea typeface="Calibri" pitchFamily="34" charset="-122"/>
                <a:cs typeface="Calibri" pitchFamily="34" charset="-120"/>
              </a:rPr>
              <a:t>Who do we need — and in what order should we build?</a:t>
            </a:r>
            <a:endParaRPr lang="en-US" sz="1500" dirty="0"/>
          </a:p>
        </p:txBody>
      </p:sp>
      <p:sp>
        <p:nvSpPr>
          <p:cNvPr id="7" name="Text 5"/>
          <p:cNvSpPr txBox="1"/>
          <p:nvPr/>
        </p:nvSpPr>
        <p:spPr>
          <a:xfrm>
            <a:off x="548640" y="3291840"/>
            <a:ext cx="2743200" cy="182880"/>
          </a:xfrm>
          <a:prstGeom prst="rect">
            <a:avLst/>
          </a:prstGeom>
          <a:noFill/>
          <a:ln/>
        </p:spPr>
        <p:txBody>
          <a:bodyPr wrap="square" lIns="0" tIns="0" rIns="0" bIns="0" rtlCol="0" anchor="t"/>
          <a:lstStyle/>
          <a:p>
            <a:pPr marL="0" indent="0">
              <a:buNone/>
            </a:pPr>
            <a:r>
              <a:rPr lang="en-US" sz="900" b="1" kern="0" spc="200" dirty="0">
                <a:solidFill>
                  <a:srgbClr val="F5C242"/>
                </a:solidFill>
                <a:latin typeface="Calibri" pitchFamily="34" charset="0"/>
                <a:ea typeface="Calibri" pitchFamily="34" charset="-122"/>
                <a:cs typeface="Calibri" pitchFamily="34" charset="-120"/>
              </a:rPr>
              <a:t>IN THIS SECTION</a:t>
            </a:r>
            <a:endParaRPr lang="en-US" sz="900" dirty="0"/>
          </a:p>
        </p:txBody>
      </p:sp>
      <p:sp>
        <p:nvSpPr>
          <p:cNvPr id="8" name="Text 6"/>
          <p:cNvSpPr txBox="1"/>
          <p:nvPr/>
        </p:nvSpPr>
        <p:spPr>
          <a:xfrm>
            <a:off x="54864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The team you need</a:t>
            </a:r>
            <a:endParaRPr lang="en-US" sz="1000" dirty="0"/>
          </a:p>
        </p:txBody>
      </p:sp>
      <p:sp>
        <p:nvSpPr>
          <p:cNvPr id="9" name="Text 7"/>
          <p:cNvSpPr txBox="1"/>
          <p:nvPr/>
        </p:nvSpPr>
        <p:spPr>
          <a:xfrm>
            <a:off x="54864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Staffing reality</a:t>
            </a:r>
            <a:endParaRPr lang="en-US" sz="1000" dirty="0"/>
          </a:p>
        </p:txBody>
      </p:sp>
      <p:sp>
        <p:nvSpPr>
          <p:cNvPr id="10" name="Text 8"/>
          <p:cNvSpPr txBox="1"/>
          <p:nvPr/>
        </p:nvSpPr>
        <p:spPr>
          <a:xfrm>
            <a:off x="54864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What each group must learn</a:t>
            </a:r>
            <a:endParaRPr lang="en-US" sz="1000" dirty="0"/>
          </a:p>
        </p:txBody>
      </p:sp>
      <p:sp>
        <p:nvSpPr>
          <p:cNvPr id="11" name="Text 9"/>
          <p:cNvSpPr txBox="1"/>
          <p:nvPr/>
        </p:nvSpPr>
        <p:spPr>
          <a:xfrm>
            <a:off x="54864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Five-level maturity model</a:t>
            </a:r>
            <a:endParaRPr lang="en-US" sz="1000" dirty="0"/>
          </a:p>
        </p:txBody>
      </p:sp>
      <p:sp>
        <p:nvSpPr>
          <p:cNvPr id="12" name="Text 10"/>
          <p:cNvSpPr txBox="1"/>
          <p:nvPr/>
        </p:nvSpPr>
        <p:spPr>
          <a:xfrm>
            <a:off x="315468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A 24-month roadmap</a:t>
            </a:r>
            <a:endParaRPr lang="en-US" sz="1000" dirty="0"/>
          </a:p>
        </p:txBody>
      </p:sp>
      <p:sp>
        <p:nvSpPr>
          <p:cNvPr id="13" name="Text 11"/>
          <p:cNvSpPr txBox="1"/>
          <p:nvPr/>
        </p:nvSpPr>
        <p:spPr>
          <a:xfrm>
            <a:off x="315468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Anti-patterns</a:t>
            </a:r>
            <a:endParaRPr lang="en-US" sz="1000" dirty="0"/>
          </a:p>
        </p:txBody>
      </p:sp>
      <p:sp>
        <p:nvSpPr>
          <p:cNvPr id="14" name="Text 12"/>
          <p:cNvSpPr txBox="1"/>
          <p:nvPr/>
        </p:nvSpPr>
        <p:spPr>
          <a:xfrm>
            <a:off x="315468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Readiness checklist</a:t>
            </a:r>
            <a:endParaRPr lang="en-US" sz="1000" dirty="0"/>
          </a:p>
        </p:txBody>
      </p:sp>
      <p:sp>
        <p:nvSpPr>
          <p:cNvPr id="15" name="Text 13"/>
          <p:cNvSpPr txBox="1"/>
          <p:nvPr/>
        </p:nvSpPr>
        <p:spPr>
          <a:xfrm>
            <a:off x="315468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Ten takeaways</a:t>
            </a:r>
            <a:endParaRPr lang="en-US" sz="1000" dirty="0"/>
          </a:p>
        </p:txBody>
      </p:sp>
      <p:sp>
        <p:nvSpPr>
          <p:cNvPr id="16" name="Shape 14"/>
          <p:cNvSpPr/>
          <p:nvPr/>
        </p:nvSpPr>
        <p:spPr>
          <a:xfrm>
            <a:off x="5989320" y="960120"/>
            <a:ext cx="2651760" cy="2651760"/>
          </a:xfrm>
          <a:prstGeom prst="ellipse">
            <a:avLst/>
          </a:prstGeom>
          <a:solidFill>
            <a:srgbClr val="FFFFFF">
              <a:alpha val="10000"/>
            </a:srgbClr>
          </a:solidFill>
          <a:ln w="12700">
            <a:solidFill>
              <a:srgbClr val="FFFFFF">
                <a:alpha val="40000"/>
              </a:srgbClr>
            </a:solidFill>
            <a:prstDash val="solid"/>
          </a:ln>
        </p:spPr>
      </p:sp>
      <p:sp>
        <p:nvSpPr>
          <p:cNvPr id="17" name="Shape 15"/>
          <p:cNvSpPr/>
          <p:nvPr/>
        </p:nvSpPr>
        <p:spPr>
          <a:xfrm>
            <a:off x="6355080" y="1325880"/>
            <a:ext cx="1920240" cy="1920240"/>
          </a:xfrm>
          <a:prstGeom prst="ellipse">
            <a:avLst/>
          </a:prstGeom>
          <a:solidFill>
            <a:srgbClr val="FFFFFF">
              <a:alpha val="18000"/>
            </a:srgbClr>
          </a:solidFill>
          <a:ln/>
        </p:spPr>
      </p:sp>
      <p:sp>
        <p:nvSpPr>
          <p:cNvPr id="18" name="Shape 16"/>
          <p:cNvSpPr/>
          <p:nvPr/>
        </p:nvSpPr>
        <p:spPr>
          <a:xfrm>
            <a:off x="6720840" y="1691640"/>
            <a:ext cx="1188720" cy="1188720"/>
          </a:xfrm>
          <a:prstGeom prst="ellipse">
            <a:avLst/>
          </a:prstGeom>
          <a:solidFill>
            <a:srgbClr val="FFFFFF"/>
          </a:solidFill>
          <a:ln/>
        </p:spPr>
      </p:sp>
      <p:pic>
        <p:nvPicPr>
          <p:cNvPr id="19"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20" name="Shape 17"/>
          <p:cNvSpPr/>
          <p:nvPr/>
        </p:nvSpPr>
        <p:spPr>
          <a:xfrm>
            <a:off x="6510528" y="4014216"/>
            <a:ext cx="109728" cy="109728"/>
          </a:xfrm>
          <a:prstGeom prst="ellipse">
            <a:avLst/>
          </a:prstGeom>
          <a:solidFill>
            <a:srgbClr val="FFFFFF">
              <a:alpha val="40000"/>
            </a:srgbClr>
          </a:solidFill>
          <a:ln/>
        </p:spPr>
      </p:sp>
      <p:sp>
        <p:nvSpPr>
          <p:cNvPr id="21" name="Shape 18"/>
          <p:cNvSpPr/>
          <p:nvPr/>
        </p:nvSpPr>
        <p:spPr>
          <a:xfrm>
            <a:off x="6784848" y="4014216"/>
            <a:ext cx="109728" cy="109728"/>
          </a:xfrm>
          <a:prstGeom prst="ellipse">
            <a:avLst/>
          </a:prstGeom>
          <a:solidFill>
            <a:srgbClr val="FFFFFF">
              <a:alpha val="40000"/>
            </a:srgbClr>
          </a:solidFill>
          <a:ln/>
        </p:spPr>
      </p:sp>
      <p:sp>
        <p:nvSpPr>
          <p:cNvPr id="22" name="Shape 19"/>
          <p:cNvSpPr/>
          <p:nvPr/>
        </p:nvSpPr>
        <p:spPr>
          <a:xfrm>
            <a:off x="7059168" y="4014216"/>
            <a:ext cx="109728" cy="109728"/>
          </a:xfrm>
          <a:prstGeom prst="ellipse">
            <a:avLst/>
          </a:prstGeom>
          <a:solidFill>
            <a:srgbClr val="FFFFFF">
              <a:alpha val="40000"/>
            </a:srgbClr>
          </a:solidFill>
          <a:ln/>
        </p:spPr>
      </p:sp>
      <p:sp>
        <p:nvSpPr>
          <p:cNvPr id="23" name="Shape 20"/>
          <p:cNvSpPr/>
          <p:nvPr/>
        </p:nvSpPr>
        <p:spPr>
          <a:xfrm>
            <a:off x="7333488" y="4014216"/>
            <a:ext cx="109728" cy="109728"/>
          </a:xfrm>
          <a:prstGeom prst="ellipse">
            <a:avLst/>
          </a:prstGeom>
          <a:solidFill>
            <a:srgbClr val="FFFFFF">
              <a:alpha val="40000"/>
            </a:srgbClr>
          </a:solidFill>
          <a:ln/>
        </p:spPr>
      </p:sp>
      <p:sp>
        <p:nvSpPr>
          <p:cNvPr id="24" name="Shape 21"/>
          <p:cNvSpPr/>
          <p:nvPr/>
        </p:nvSpPr>
        <p:spPr>
          <a:xfrm>
            <a:off x="7607808" y="4014216"/>
            <a:ext cx="109728" cy="109728"/>
          </a:xfrm>
          <a:prstGeom prst="ellipse">
            <a:avLst/>
          </a:prstGeom>
          <a:solidFill>
            <a:srgbClr val="FFFFFF">
              <a:alpha val="40000"/>
            </a:srgbClr>
          </a:solidFill>
          <a:ln/>
        </p:spPr>
      </p:sp>
      <p:sp>
        <p:nvSpPr>
          <p:cNvPr id="25" name="Shape 22"/>
          <p:cNvSpPr/>
          <p:nvPr/>
        </p:nvSpPr>
        <p:spPr>
          <a:xfrm>
            <a:off x="7863840" y="3995928"/>
            <a:ext cx="146304" cy="146304"/>
          </a:xfrm>
          <a:prstGeom prst="ellipse">
            <a:avLst/>
          </a:prstGeom>
          <a:solidFill>
            <a:srgbClr val="F5C242"/>
          </a:solidFill>
          <a:ln/>
        </p:spPr>
      </p:sp>
      <p:sp>
        <p:nvSpPr>
          <p:cNvPr id="26" name="Text 23"/>
          <p:cNvSpPr txBox="1"/>
          <p:nvPr/>
        </p:nvSpPr>
        <p:spPr>
          <a:xfrm>
            <a:off x="7772400" y="4709160"/>
            <a:ext cx="9144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54</a:t>
            </a:r>
            <a:endParaRPr lang="en-US" sz="850" dirty="0"/>
          </a:p>
        </p:txBody>
      </p:sp>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ROLES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The team you actually need</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Indicative for a mid-sized office with two or three production use cases. Scarcity, not headcount, is the message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55</a:t>
            </a:r>
            <a:endParaRPr lang="en-US" sz="850" dirty="0"/>
          </a:p>
        </p:txBody>
      </p:sp>
      <p:sp>
        <p:nvSpPr>
          <p:cNvPr id="18" name="Text 15"/>
          <p:cNvSpPr txBox="1"/>
          <p:nvPr/>
        </p:nvSpPr>
        <p:spPr>
          <a:xfrm>
            <a:off x="548640" y="1298448"/>
            <a:ext cx="233172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ROLE</a:t>
            </a:r>
            <a:endParaRPr lang="en-US" sz="900" dirty="0"/>
          </a:p>
        </p:txBody>
      </p:sp>
      <p:sp>
        <p:nvSpPr>
          <p:cNvPr id="19" name="Text 16"/>
          <p:cNvSpPr txBox="1"/>
          <p:nvPr/>
        </p:nvSpPr>
        <p:spPr>
          <a:xfrm>
            <a:off x="3063240" y="1298448"/>
            <a:ext cx="45720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FTE</a:t>
            </a:r>
            <a:endParaRPr lang="en-US" sz="900" dirty="0"/>
          </a:p>
        </p:txBody>
      </p:sp>
      <p:sp>
        <p:nvSpPr>
          <p:cNvPr id="20" name="Text 17"/>
          <p:cNvSpPr txBox="1"/>
          <p:nvPr/>
        </p:nvSpPr>
        <p:spPr>
          <a:xfrm>
            <a:off x="3703320" y="1298448"/>
            <a:ext cx="347472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WHAT THEY OWN</a:t>
            </a:r>
            <a:endParaRPr lang="en-US" sz="900" dirty="0"/>
          </a:p>
        </p:txBody>
      </p:sp>
      <p:sp>
        <p:nvSpPr>
          <p:cNvPr id="21" name="Text 18"/>
          <p:cNvSpPr txBox="1"/>
          <p:nvPr/>
        </p:nvSpPr>
        <p:spPr>
          <a:xfrm>
            <a:off x="7360920" y="1298448"/>
            <a:ext cx="123444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MARKET</a:t>
            </a:r>
            <a:endParaRPr lang="en-US" sz="900" dirty="0"/>
          </a:p>
        </p:txBody>
      </p:sp>
      <p:sp>
        <p:nvSpPr>
          <p:cNvPr id="22" name="Shape 19"/>
          <p:cNvSpPr/>
          <p:nvPr/>
        </p:nvSpPr>
        <p:spPr>
          <a:xfrm>
            <a:off x="457200" y="1572768"/>
            <a:ext cx="8229600" cy="274320"/>
          </a:xfrm>
          <a:prstGeom prst="roundRect">
            <a:avLst>
              <a:gd name="adj" fmla="val 16667"/>
            </a:avLst>
          </a:prstGeom>
          <a:solidFill>
            <a:srgbClr val="F4F7F5"/>
          </a:solidFill>
          <a:ln w="9525">
            <a:solidFill>
              <a:srgbClr val="D5DED9"/>
            </a:solidFill>
            <a:prstDash val="solid"/>
          </a:ln>
        </p:spPr>
      </p:sp>
      <p:sp>
        <p:nvSpPr>
          <p:cNvPr id="23" name="Shape 20"/>
          <p:cNvSpPr/>
          <p:nvPr/>
        </p:nvSpPr>
        <p:spPr>
          <a:xfrm>
            <a:off x="548640" y="1572768"/>
            <a:ext cx="274320" cy="274320"/>
          </a:xfrm>
          <a:prstGeom prst="ellipse">
            <a:avLst/>
          </a:prstGeom>
          <a:solidFill>
            <a:srgbClr val="B83B2E">
              <a:alpha val="22000"/>
            </a:srgbClr>
          </a:solidFill>
          <a:ln/>
        </p:spPr>
      </p:sp>
      <p:pic>
        <p:nvPicPr>
          <p:cNvPr id="24" name="Image 0" descr="preencoded.png"/>
          <p:cNvPicPr>
            <a:picLocks noChangeAspect="1"/>
          </p:cNvPicPr>
          <p:nvPr/>
        </p:nvPicPr>
        <p:blipFill>
          <a:blip r:embed="rId3"/>
          <a:stretch>
            <a:fillRect/>
          </a:stretch>
        </p:blipFill>
        <p:spPr>
          <a:xfrm>
            <a:off x="614477" y="1638605"/>
            <a:ext cx="142646" cy="142646"/>
          </a:xfrm>
          <a:prstGeom prst="rect">
            <a:avLst/>
          </a:prstGeom>
        </p:spPr>
      </p:pic>
      <p:sp>
        <p:nvSpPr>
          <p:cNvPr id="25" name="Text 21"/>
          <p:cNvSpPr txBox="1"/>
          <p:nvPr/>
        </p:nvSpPr>
        <p:spPr>
          <a:xfrm>
            <a:off x="896112" y="1572768"/>
            <a:ext cx="2011680" cy="27432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Use-case owner</a:t>
            </a:r>
            <a:endParaRPr lang="en-US" sz="950" dirty="0"/>
          </a:p>
        </p:txBody>
      </p:sp>
      <p:sp>
        <p:nvSpPr>
          <p:cNvPr id="26" name="Text 22"/>
          <p:cNvSpPr txBox="1"/>
          <p:nvPr/>
        </p:nvSpPr>
        <p:spPr>
          <a:xfrm>
            <a:off x="3063240" y="1572768"/>
            <a:ext cx="457200" cy="274320"/>
          </a:xfrm>
          <a:prstGeom prst="rect">
            <a:avLst/>
          </a:prstGeom>
          <a:noFill/>
          <a:ln/>
        </p:spPr>
        <p:txBody>
          <a:bodyPr wrap="square" lIns="0" tIns="0" rIns="0" bIns="0" rtlCol="0" anchor="ctr"/>
          <a:lstStyle/>
          <a:p>
            <a:pPr marL="0" indent="0" algn="ctr">
              <a:buNone/>
            </a:pPr>
            <a:r>
              <a:rPr lang="en-US" sz="950" dirty="0">
                <a:solidFill>
                  <a:srgbClr val="231F20"/>
                </a:solidFill>
                <a:latin typeface="Calibri" pitchFamily="34" charset="0"/>
                <a:ea typeface="Calibri" pitchFamily="34" charset="-122"/>
                <a:cs typeface="Calibri" pitchFamily="34" charset="-120"/>
              </a:rPr>
              <a:t>0.5–1</a:t>
            </a:r>
            <a:endParaRPr lang="en-US" sz="950" dirty="0"/>
          </a:p>
        </p:txBody>
      </p:sp>
      <p:sp>
        <p:nvSpPr>
          <p:cNvPr id="27" name="Text 23"/>
          <p:cNvSpPr txBox="1"/>
          <p:nvPr/>
        </p:nvSpPr>
        <p:spPr>
          <a:xfrm>
            <a:off x="3703320" y="1572768"/>
            <a:ext cx="347472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The statistical problem, success criteria, go / stop decision</a:t>
            </a:r>
            <a:endParaRPr lang="en-US" sz="950" dirty="0"/>
          </a:p>
        </p:txBody>
      </p:sp>
      <p:sp>
        <p:nvSpPr>
          <p:cNvPr id="28" name="Shape 24"/>
          <p:cNvSpPr/>
          <p:nvPr/>
        </p:nvSpPr>
        <p:spPr>
          <a:xfrm>
            <a:off x="7360920" y="1600200"/>
            <a:ext cx="1234440" cy="219456"/>
          </a:xfrm>
          <a:prstGeom prst="roundRect">
            <a:avLst>
              <a:gd name="adj" fmla="val 50000"/>
            </a:avLst>
          </a:prstGeom>
          <a:solidFill>
            <a:srgbClr val="0E7C86">
              <a:alpha val="15000"/>
            </a:srgbClr>
          </a:solidFill>
          <a:ln w="9525">
            <a:solidFill>
              <a:srgbClr val="0E7C86"/>
            </a:solidFill>
            <a:prstDash val="solid"/>
          </a:ln>
        </p:spPr>
      </p:sp>
      <p:sp>
        <p:nvSpPr>
          <p:cNvPr id="29" name="Text 25"/>
          <p:cNvSpPr txBox="1"/>
          <p:nvPr/>
        </p:nvSpPr>
        <p:spPr>
          <a:xfrm>
            <a:off x="7360920" y="1600200"/>
            <a:ext cx="123444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Existing staff</a:t>
            </a:r>
            <a:endParaRPr lang="en-US" sz="850" dirty="0"/>
          </a:p>
        </p:txBody>
      </p:sp>
      <p:sp>
        <p:nvSpPr>
          <p:cNvPr id="30" name="Shape 26"/>
          <p:cNvSpPr/>
          <p:nvPr/>
        </p:nvSpPr>
        <p:spPr>
          <a:xfrm>
            <a:off x="457200" y="1883664"/>
            <a:ext cx="8229600" cy="274320"/>
          </a:xfrm>
          <a:prstGeom prst="roundRect">
            <a:avLst>
              <a:gd name="adj" fmla="val 16667"/>
            </a:avLst>
          </a:prstGeom>
          <a:solidFill>
            <a:srgbClr val="F4F7F5"/>
          </a:solidFill>
          <a:ln w="9525">
            <a:solidFill>
              <a:srgbClr val="D5DED9"/>
            </a:solidFill>
            <a:prstDash val="solid"/>
          </a:ln>
        </p:spPr>
      </p:sp>
      <p:sp>
        <p:nvSpPr>
          <p:cNvPr id="31" name="Shape 27"/>
          <p:cNvSpPr/>
          <p:nvPr/>
        </p:nvSpPr>
        <p:spPr>
          <a:xfrm>
            <a:off x="548640" y="1883664"/>
            <a:ext cx="274320" cy="274320"/>
          </a:xfrm>
          <a:prstGeom prst="ellipse">
            <a:avLst/>
          </a:prstGeom>
          <a:solidFill>
            <a:srgbClr val="B83B2E">
              <a:alpha val="22000"/>
            </a:srgbClr>
          </a:solidFill>
          <a:ln/>
        </p:spPr>
      </p:sp>
      <p:pic>
        <p:nvPicPr>
          <p:cNvPr id="32" name="Image 1" descr="preencoded.png"/>
          <p:cNvPicPr>
            <a:picLocks noChangeAspect="1"/>
          </p:cNvPicPr>
          <p:nvPr/>
        </p:nvPicPr>
        <p:blipFill>
          <a:blip r:embed="rId4"/>
          <a:stretch>
            <a:fillRect/>
          </a:stretch>
        </p:blipFill>
        <p:spPr>
          <a:xfrm>
            <a:off x="614477" y="1949501"/>
            <a:ext cx="142646" cy="142646"/>
          </a:xfrm>
          <a:prstGeom prst="rect">
            <a:avLst/>
          </a:prstGeom>
        </p:spPr>
      </p:pic>
      <p:sp>
        <p:nvSpPr>
          <p:cNvPr id="33" name="Text 28"/>
          <p:cNvSpPr txBox="1"/>
          <p:nvPr/>
        </p:nvSpPr>
        <p:spPr>
          <a:xfrm>
            <a:off x="896112" y="1883664"/>
            <a:ext cx="2011680" cy="27432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Methodologist with ML skills</a:t>
            </a:r>
            <a:endParaRPr lang="en-US" sz="950" dirty="0"/>
          </a:p>
        </p:txBody>
      </p:sp>
      <p:sp>
        <p:nvSpPr>
          <p:cNvPr id="34" name="Text 29"/>
          <p:cNvSpPr txBox="1"/>
          <p:nvPr/>
        </p:nvSpPr>
        <p:spPr>
          <a:xfrm>
            <a:off x="3063240" y="1883664"/>
            <a:ext cx="457200" cy="274320"/>
          </a:xfrm>
          <a:prstGeom prst="rect">
            <a:avLst/>
          </a:prstGeom>
          <a:noFill/>
          <a:ln/>
        </p:spPr>
        <p:txBody>
          <a:bodyPr wrap="square" lIns="0" tIns="0" rIns="0" bIns="0" rtlCol="0" anchor="ctr"/>
          <a:lstStyle/>
          <a:p>
            <a:pPr marL="0" indent="0" algn="ctr">
              <a:buNone/>
            </a:pPr>
            <a:r>
              <a:rPr lang="en-US" sz="950" dirty="0">
                <a:solidFill>
                  <a:srgbClr val="231F20"/>
                </a:solidFill>
                <a:latin typeface="Calibri" pitchFamily="34" charset="0"/>
                <a:ea typeface="Calibri" pitchFamily="34" charset="-122"/>
                <a:cs typeface="Calibri" pitchFamily="34" charset="-120"/>
              </a:rPr>
              <a:t>1–2</a:t>
            </a:r>
            <a:endParaRPr lang="en-US" sz="950" dirty="0"/>
          </a:p>
        </p:txBody>
      </p:sp>
      <p:sp>
        <p:nvSpPr>
          <p:cNvPr id="35" name="Text 30"/>
          <p:cNvSpPr txBox="1"/>
          <p:nvPr/>
        </p:nvSpPr>
        <p:spPr>
          <a:xfrm>
            <a:off x="3703320" y="1883664"/>
            <a:ext cx="347472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Evaluation design, human baseline, defensibility of outputs</a:t>
            </a:r>
            <a:endParaRPr lang="en-US" sz="950" dirty="0"/>
          </a:p>
        </p:txBody>
      </p:sp>
      <p:sp>
        <p:nvSpPr>
          <p:cNvPr id="36" name="Shape 31"/>
          <p:cNvSpPr/>
          <p:nvPr/>
        </p:nvSpPr>
        <p:spPr>
          <a:xfrm>
            <a:off x="7360920" y="1911096"/>
            <a:ext cx="1234440" cy="219456"/>
          </a:xfrm>
          <a:prstGeom prst="roundRect">
            <a:avLst>
              <a:gd name="adj" fmla="val 50000"/>
            </a:avLst>
          </a:prstGeom>
          <a:solidFill>
            <a:srgbClr val="00A86A">
              <a:alpha val="15000"/>
            </a:srgbClr>
          </a:solidFill>
          <a:ln w="9525">
            <a:solidFill>
              <a:srgbClr val="00A86A"/>
            </a:solidFill>
            <a:prstDash val="solid"/>
          </a:ln>
        </p:spPr>
      </p:sp>
      <p:sp>
        <p:nvSpPr>
          <p:cNvPr id="37" name="Text 32"/>
          <p:cNvSpPr txBox="1"/>
          <p:nvPr/>
        </p:nvSpPr>
        <p:spPr>
          <a:xfrm>
            <a:off x="7360920" y="1911096"/>
            <a:ext cx="123444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Grow internally</a:t>
            </a:r>
            <a:endParaRPr lang="en-US" sz="850" dirty="0"/>
          </a:p>
        </p:txBody>
      </p:sp>
      <p:sp>
        <p:nvSpPr>
          <p:cNvPr id="38" name="Shape 33"/>
          <p:cNvSpPr/>
          <p:nvPr/>
        </p:nvSpPr>
        <p:spPr>
          <a:xfrm>
            <a:off x="457200" y="2194560"/>
            <a:ext cx="8229600" cy="274320"/>
          </a:xfrm>
          <a:prstGeom prst="roundRect">
            <a:avLst>
              <a:gd name="adj" fmla="val 16667"/>
            </a:avLst>
          </a:prstGeom>
          <a:solidFill>
            <a:srgbClr val="F4F7F5"/>
          </a:solidFill>
          <a:ln w="9525">
            <a:solidFill>
              <a:srgbClr val="D5DED9"/>
            </a:solidFill>
            <a:prstDash val="solid"/>
          </a:ln>
        </p:spPr>
      </p:sp>
      <p:sp>
        <p:nvSpPr>
          <p:cNvPr id="39" name="Shape 34"/>
          <p:cNvSpPr/>
          <p:nvPr/>
        </p:nvSpPr>
        <p:spPr>
          <a:xfrm>
            <a:off x="548640" y="2194560"/>
            <a:ext cx="274320" cy="274320"/>
          </a:xfrm>
          <a:prstGeom prst="ellipse">
            <a:avLst/>
          </a:prstGeom>
          <a:solidFill>
            <a:srgbClr val="B83B2E">
              <a:alpha val="22000"/>
            </a:srgbClr>
          </a:solidFill>
          <a:ln/>
        </p:spPr>
      </p:sp>
      <p:pic>
        <p:nvPicPr>
          <p:cNvPr id="40" name="Image 2" descr="preencoded.png"/>
          <p:cNvPicPr>
            <a:picLocks noChangeAspect="1"/>
          </p:cNvPicPr>
          <p:nvPr/>
        </p:nvPicPr>
        <p:blipFill>
          <a:blip r:embed="rId5"/>
          <a:stretch>
            <a:fillRect/>
          </a:stretch>
        </p:blipFill>
        <p:spPr>
          <a:xfrm>
            <a:off x="614477" y="2260397"/>
            <a:ext cx="142646" cy="142646"/>
          </a:xfrm>
          <a:prstGeom prst="rect">
            <a:avLst/>
          </a:prstGeom>
        </p:spPr>
      </p:pic>
      <p:sp>
        <p:nvSpPr>
          <p:cNvPr id="41" name="Text 35"/>
          <p:cNvSpPr txBox="1"/>
          <p:nvPr/>
        </p:nvSpPr>
        <p:spPr>
          <a:xfrm>
            <a:off x="896112" y="2194560"/>
            <a:ext cx="2011680" cy="27432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Data engineer</a:t>
            </a:r>
            <a:endParaRPr lang="en-US" sz="950" dirty="0"/>
          </a:p>
        </p:txBody>
      </p:sp>
      <p:sp>
        <p:nvSpPr>
          <p:cNvPr id="42" name="Text 36"/>
          <p:cNvSpPr txBox="1"/>
          <p:nvPr/>
        </p:nvSpPr>
        <p:spPr>
          <a:xfrm>
            <a:off x="3063240" y="2194560"/>
            <a:ext cx="457200" cy="274320"/>
          </a:xfrm>
          <a:prstGeom prst="rect">
            <a:avLst/>
          </a:prstGeom>
          <a:noFill/>
          <a:ln/>
        </p:spPr>
        <p:txBody>
          <a:bodyPr wrap="square" lIns="0" tIns="0" rIns="0" bIns="0" rtlCol="0" anchor="ctr"/>
          <a:lstStyle/>
          <a:p>
            <a:pPr marL="0" indent="0" algn="ctr">
              <a:buNone/>
            </a:pPr>
            <a:r>
              <a:rPr lang="en-US" sz="950" dirty="0">
                <a:solidFill>
                  <a:srgbClr val="231F20"/>
                </a:solidFill>
                <a:latin typeface="Calibri" pitchFamily="34" charset="0"/>
                <a:ea typeface="Calibri" pitchFamily="34" charset="-122"/>
                <a:cs typeface="Calibri" pitchFamily="34" charset="-120"/>
              </a:rPr>
              <a:t>1–2</a:t>
            </a:r>
            <a:endParaRPr lang="en-US" sz="950" dirty="0"/>
          </a:p>
        </p:txBody>
      </p:sp>
      <p:sp>
        <p:nvSpPr>
          <p:cNvPr id="43" name="Text 37"/>
          <p:cNvSpPr txBox="1"/>
          <p:nvPr/>
        </p:nvSpPr>
        <p:spPr>
          <a:xfrm>
            <a:off x="3703320" y="2194560"/>
            <a:ext cx="347472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Pipelines, data platform, snapshots, lineage, data quality</a:t>
            </a:r>
            <a:endParaRPr lang="en-US" sz="950" dirty="0"/>
          </a:p>
        </p:txBody>
      </p:sp>
      <p:sp>
        <p:nvSpPr>
          <p:cNvPr id="44" name="Shape 38"/>
          <p:cNvSpPr/>
          <p:nvPr/>
        </p:nvSpPr>
        <p:spPr>
          <a:xfrm>
            <a:off x="7360920" y="2221992"/>
            <a:ext cx="1234440" cy="219456"/>
          </a:xfrm>
          <a:prstGeom prst="roundRect">
            <a:avLst>
              <a:gd name="adj" fmla="val 50000"/>
            </a:avLst>
          </a:prstGeom>
          <a:solidFill>
            <a:srgbClr val="B83B2E">
              <a:alpha val="15000"/>
            </a:srgbClr>
          </a:solidFill>
          <a:ln w="9525">
            <a:solidFill>
              <a:srgbClr val="B83B2E"/>
            </a:solidFill>
            <a:prstDash val="solid"/>
          </a:ln>
        </p:spPr>
      </p:sp>
      <p:sp>
        <p:nvSpPr>
          <p:cNvPr id="45" name="Text 39"/>
          <p:cNvSpPr txBox="1"/>
          <p:nvPr/>
        </p:nvSpPr>
        <p:spPr>
          <a:xfrm>
            <a:off x="7360920" y="2221992"/>
            <a:ext cx="1234440" cy="219456"/>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Scarce — biggest gap</a:t>
            </a:r>
            <a:endParaRPr lang="en-US" sz="850" dirty="0"/>
          </a:p>
        </p:txBody>
      </p:sp>
      <p:sp>
        <p:nvSpPr>
          <p:cNvPr id="46" name="Shape 40"/>
          <p:cNvSpPr/>
          <p:nvPr/>
        </p:nvSpPr>
        <p:spPr>
          <a:xfrm>
            <a:off x="457200" y="2505456"/>
            <a:ext cx="8229600" cy="274320"/>
          </a:xfrm>
          <a:prstGeom prst="roundRect">
            <a:avLst>
              <a:gd name="adj" fmla="val 16667"/>
            </a:avLst>
          </a:prstGeom>
          <a:solidFill>
            <a:srgbClr val="F4F7F5"/>
          </a:solidFill>
          <a:ln w="9525">
            <a:solidFill>
              <a:srgbClr val="D5DED9"/>
            </a:solidFill>
            <a:prstDash val="solid"/>
          </a:ln>
        </p:spPr>
      </p:sp>
      <p:sp>
        <p:nvSpPr>
          <p:cNvPr id="47" name="Shape 41"/>
          <p:cNvSpPr/>
          <p:nvPr/>
        </p:nvSpPr>
        <p:spPr>
          <a:xfrm>
            <a:off x="548640" y="2505456"/>
            <a:ext cx="274320" cy="274320"/>
          </a:xfrm>
          <a:prstGeom prst="ellipse">
            <a:avLst/>
          </a:prstGeom>
          <a:solidFill>
            <a:srgbClr val="B83B2E">
              <a:alpha val="22000"/>
            </a:srgbClr>
          </a:solidFill>
          <a:ln/>
        </p:spPr>
      </p:sp>
      <p:pic>
        <p:nvPicPr>
          <p:cNvPr id="48" name="Image 3" descr="preencoded.png"/>
          <p:cNvPicPr>
            <a:picLocks noChangeAspect="1"/>
          </p:cNvPicPr>
          <p:nvPr/>
        </p:nvPicPr>
        <p:blipFill>
          <a:blip r:embed="rId6"/>
          <a:stretch>
            <a:fillRect/>
          </a:stretch>
        </p:blipFill>
        <p:spPr>
          <a:xfrm>
            <a:off x="614477" y="2571293"/>
            <a:ext cx="142646" cy="142646"/>
          </a:xfrm>
          <a:prstGeom prst="rect">
            <a:avLst/>
          </a:prstGeom>
        </p:spPr>
      </p:pic>
      <p:sp>
        <p:nvSpPr>
          <p:cNvPr id="49" name="Text 42"/>
          <p:cNvSpPr txBox="1"/>
          <p:nvPr/>
        </p:nvSpPr>
        <p:spPr>
          <a:xfrm>
            <a:off x="896112" y="2505456"/>
            <a:ext cx="2011680" cy="27432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ML engineer / data scientist</a:t>
            </a:r>
            <a:endParaRPr lang="en-US" sz="950" dirty="0"/>
          </a:p>
        </p:txBody>
      </p:sp>
      <p:sp>
        <p:nvSpPr>
          <p:cNvPr id="50" name="Text 43"/>
          <p:cNvSpPr txBox="1"/>
          <p:nvPr/>
        </p:nvSpPr>
        <p:spPr>
          <a:xfrm>
            <a:off x="3063240" y="2505456"/>
            <a:ext cx="457200" cy="274320"/>
          </a:xfrm>
          <a:prstGeom prst="rect">
            <a:avLst/>
          </a:prstGeom>
          <a:noFill/>
          <a:ln/>
        </p:spPr>
        <p:txBody>
          <a:bodyPr wrap="square" lIns="0" tIns="0" rIns="0" bIns="0" rtlCol="0" anchor="ctr"/>
          <a:lstStyle/>
          <a:p>
            <a:pPr marL="0" indent="0" algn="ctr">
              <a:buNone/>
            </a:pPr>
            <a:r>
              <a:rPr lang="en-US" sz="950" dirty="0">
                <a:solidFill>
                  <a:srgbClr val="231F20"/>
                </a:solidFill>
                <a:latin typeface="Calibri" pitchFamily="34" charset="0"/>
                <a:ea typeface="Calibri" pitchFamily="34" charset="-122"/>
                <a:cs typeface="Calibri" pitchFamily="34" charset="-120"/>
              </a:rPr>
              <a:t>1–2</a:t>
            </a:r>
            <a:endParaRPr lang="en-US" sz="950" dirty="0"/>
          </a:p>
        </p:txBody>
      </p:sp>
      <p:sp>
        <p:nvSpPr>
          <p:cNvPr id="51" name="Text 44"/>
          <p:cNvSpPr txBox="1"/>
          <p:nvPr/>
        </p:nvSpPr>
        <p:spPr>
          <a:xfrm>
            <a:off x="3703320" y="2505456"/>
            <a:ext cx="347472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Modelling, fine-tuning, retrieval design, evaluation harness</a:t>
            </a:r>
            <a:endParaRPr lang="en-US" sz="950" dirty="0"/>
          </a:p>
        </p:txBody>
      </p:sp>
      <p:sp>
        <p:nvSpPr>
          <p:cNvPr id="52" name="Shape 45"/>
          <p:cNvSpPr/>
          <p:nvPr/>
        </p:nvSpPr>
        <p:spPr>
          <a:xfrm>
            <a:off x="7360920" y="2532888"/>
            <a:ext cx="1234440" cy="219456"/>
          </a:xfrm>
          <a:prstGeom prst="roundRect">
            <a:avLst>
              <a:gd name="adj" fmla="val 50000"/>
            </a:avLst>
          </a:prstGeom>
          <a:solidFill>
            <a:srgbClr val="D49A00">
              <a:alpha val="15000"/>
            </a:srgbClr>
          </a:solidFill>
          <a:ln w="9525">
            <a:solidFill>
              <a:srgbClr val="D49A00"/>
            </a:solidFill>
            <a:prstDash val="solid"/>
          </a:ln>
        </p:spPr>
      </p:sp>
      <p:sp>
        <p:nvSpPr>
          <p:cNvPr id="53" name="Text 46"/>
          <p:cNvSpPr txBox="1"/>
          <p:nvPr/>
        </p:nvSpPr>
        <p:spPr>
          <a:xfrm>
            <a:off x="7360920" y="2532888"/>
            <a:ext cx="123444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Competitive</a:t>
            </a:r>
            <a:endParaRPr lang="en-US" sz="850" dirty="0"/>
          </a:p>
        </p:txBody>
      </p:sp>
      <p:sp>
        <p:nvSpPr>
          <p:cNvPr id="54" name="Shape 47"/>
          <p:cNvSpPr/>
          <p:nvPr/>
        </p:nvSpPr>
        <p:spPr>
          <a:xfrm>
            <a:off x="457200" y="2816352"/>
            <a:ext cx="8229600" cy="274320"/>
          </a:xfrm>
          <a:prstGeom prst="roundRect">
            <a:avLst>
              <a:gd name="adj" fmla="val 16667"/>
            </a:avLst>
          </a:prstGeom>
          <a:solidFill>
            <a:srgbClr val="F4F7F5"/>
          </a:solidFill>
          <a:ln w="9525">
            <a:solidFill>
              <a:srgbClr val="D5DED9"/>
            </a:solidFill>
            <a:prstDash val="solid"/>
          </a:ln>
        </p:spPr>
      </p:sp>
      <p:sp>
        <p:nvSpPr>
          <p:cNvPr id="55" name="Shape 48"/>
          <p:cNvSpPr/>
          <p:nvPr/>
        </p:nvSpPr>
        <p:spPr>
          <a:xfrm>
            <a:off x="548640" y="2816352"/>
            <a:ext cx="274320" cy="274320"/>
          </a:xfrm>
          <a:prstGeom prst="ellipse">
            <a:avLst/>
          </a:prstGeom>
          <a:solidFill>
            <a:srgbClr val="B83B2E">
              <a:alpha val="22000"/>
            </a:srgbClr>
          </a:solidFill>
          <a:ln/>
        </p:spPr>
      </p:sp>
      <p:pic>
        <p:nvPicPr>
          <p:cNvPr id="56" name="Image 4" descr="preencoded.png"/>
          <p:cNvPicPr>
            <a:picLocks noChangeAspect="1"/>
          </p:cNvPicPr>
          <p:nvPr/>
        </p:nvPicPr>
        <p:blipFill>
          <a:blip r:embed="rId7"/>
          <a:stretch>
            <a:fillRect/>
          </a:stretch>
        </p:blipFill>
        <p:spPr>
          <a:xfrm>
            <a:off x="614477" y="2882189"/>
            <a:ext cx="142646" cy="142646"/>
          </a:xfrm>
          <a:prstGeom prst="rect">
            <a:avLst/>
          </a:prstGeom>
        </p:spPr>
      </p:pic>
      <p:sp>
        <p:nvSpPr>
          <p:cNvPr id="57" name="Text 49"/>
          <p:cNvSpPr txBox="1"/>
          <p:nvPr/>
        </p:nvSpPr>
        <p:spPr>
          <a:xfrm>
            <a:off x="896112" y="2816352"/>
            <a:ext cx="2011680" cy="27432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Platform / MLOps engineer</a:t>
            </a:r>
            <a:endParaRPr lang="en-US" sz="950" dirty="0"/>
          </a:p>
        </p:txBody>
      </p:sp>
      <p:sp>
        <p:nvSpPr>
          <p:cNvPr id="58" name="Text 50"/>
          <p:cNvSpPr txBox="1"/>
          <p:nvPr/>
        </p:nvSpPr>
        <p:spPr>
          <a:xfrm>
            <a:off x="3063240" y="2816352"/>
            <a:ext cx="457200" cy="274320"/>
          </a:xfrm>
          <a:prstGeom prst="rect">
            <a:avLst/>
          </a:prstGeom>
          <a:noFill/>
          <a:ln/>
        </p:spPr>
        <p:txBody>
          <a:bodyPr wrap="square" lIns="0" tIns="0" rIns="0" bIns="0" rtlCol="0" anchor="ctr"/>
          <a:lstStyle/>
          <a:p>
            <a:pPr marL="0" indent="0" algn="ctr">
              <a:buNone/>
            </a:pPr>
            <a:r>
              <a:rPr lang="en-US" sz="950" dirty="0">
                <a:solidFill>
                  <a:srgbClr val="231F20"/>
                </a:solidFill>
                <a:latin typeface="Calibri" pitchFamily="34" charset="0"/>
                <a:ea typeface="Calibri" pitchFamily="34" charset="-122"/>
                <a:cs typeface="Calibri" pitchFamily="34" charset="-120"/>
              </a:rPr>
              <a:t>1–2</a:t>
            </a:r>
            <a:endParaRPr lang="en-US" sz="950" dirty="0"/>
          </a:p>
        </p:txBody>
      </p:sp>
      <p:sp>
        <p:nvSpPr>
          <p:cNvPr id="59" name="Text 51"/>
          <p:cNvSpPr txBox="1"/>
          <p:nvPr/>
        </p:nvSpPr>
        <p:spPr>
          <a:xfrm>
            <a:off x="3703320" y="2816352"/>
            <a:ext cx="347472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Serving, gateway, environments, monitoring, GPU operations</a:t>
            </a:r>
            <a:endParaRPr lang="en-US" sz="950" dirty="0"/>
          </a:p>
        </p:txBody>
      </p:sp>
      <p:sp>
        <p:nvSpPr>
          <p:cNvPr id="60" name="Shape 52"/>
          <p:cNvSpPr/>
          <p:nvPr/>
        </p:nvSpPr>
        <p:spPr>
          <a:xfrm>
            <a:off x="7360920" y="2843784"/>
            <a:ext cx="1234440" cy="219456"/>
          </a:xfrm>
          <a:prstGeom prst="roundRect">
            <a:avLst>
              <a:gd name="adj" fmla="val 50000"/>
            </a:avLst>
          </a:prstGeom>
          <a:solidFill>
            <a:srgbClr val="B83B2E">
              <a:alpha val="15000"/>
            </a:srgbClr>
          </a:solidFill>
          <a:ln w="9525">
            <a:solidFill>
              <a:srgbClr val="B83B2E"/>
            </a:solidFill>
            <a:prstDash val="solid"/>
          </a:ln>
        </p:spPr>
      </p:sp>
      <p:sp>
        <p:nvSpPr>
          <p:cNvPr id="61" name="Text 53"/>
          <p:cNvSpPr txBox="1"/>
          <p:nvPr/>
        </p:nvSpPr>
        <p:spPr>
          <a:xfrm>
            <a:off x="7360920" y="2843784"/>
            <a:ext cx="1234440" cy="219456"/>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Scarce</a:t>
            </a:r>
            <a:endParaRPr lang="en-US" sz="850" dirty="0"/>
          </a:p>
        </p:txBody>
      </p:sp>
      <p:sp>
        <p:nvSpPr>
          <p:cNvPr id="62" name="Shape 54"/>
          <p:cNvSpPr/>
          <p:nvPr/>
        </p:nvSpPr>
        <p:spPr>
          <a:xfrm>
            <a:off x="457200" y="3127248"/>
            <a:ext cx="8229600" cy="274320"/>
          </a:xfrm>
          <a:prstGeom prst="roundRect">
            <a:avLst>
              <a:gd name="adj" fmla="val 16667"/>
            </a:avLst>
          </a:prstGeom>
          <a:solidFill>
            <a:srgbClr val="F4F7F5"/>
          </a:solidFill>
          <a:ln w="9525">
            <a:solidFill>
              <a:srgbClr val="D5DED9"/>
            </a:solidFill>
            <a:prstDash val="solid"/>
          </a:ln>
        </p:spPr>
      </p:sp>
      <p:sp>
        <p:nvSpPr>
          <p:cNvPr id="63" name="Shape 55"/>
          <p:cNvSpPr/>
          <p:nvPr/>
        </p:nvSpPr>
        <p:spPr>
          <a:xfrm>
            <a:off x="548640" y="3127248"/>
            <a:ext cx="274320" cy="274320"/>
          </a:xfrm>
          <a:prstGeom prst="ellipse">
            <a:avLst/>
          </a:prstGeom>
          <a:solidFill>
            <a:srgbClr val="B83B2E">
              <a:alpha val="22000"/>
            </a:srgbClr>
          </a:solidFill>
          <a:ln/>
        </p:spPr>
      </p:sp>
      <p:pic>
        <p:nvPicPr>
          <p:cNvPr id="64" name="Image 5" descr="preencoded.png"/>
          <p:cNvPicPr>
            <a:picLocks noChangeAspect="1"/>
          </p:cNvPicPr>
          <p:nvPr/>
        </p:nvPicPr>
        <p:blipFill>
          <a:blip r:embed="rId8"/>
          <a:stretch>
            <a:fillRect/>
          </a:stretch>
        </p:blipFill>
        <p:spPr>
          <a:xfrm>
            <a:off x="614477" y="3193085"/>
            <a:ext cx="142646" cy="142646"/>
          </a:xfrm>
          <a:prstGeom prst="rect">
            <a:avLst/>
          </a:prstGeom>
        </p:spPr>
      </p:pic>
      <p:sp>
        <p:nvSpPr>
          <p:cNvPr id="65" name="Text 56"/>
          <p:cNvSpPr txBox="1"/>
          <p:nvPr/>
        </p:nvSpPr>
        <p:spPr>
          <a:xfrm>
            <a:off x="896112" y="3127248"/>
            <a:ext cx="2011680" cy="27432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Security &amp; data protection</a:t>
            </a:r>
            <a:endParaRPr lang="en-US" sz="950" dirty="0"/>
          </a:p>
        </p:txBody>
      </p:sp>
      <p:sp>
        <p:nvSpPr>
          <p:cNvPr id="66" name="Text 57"/>
          <p:cNvSpPr txBox="1"/>
          <p:nvPr/>
        </p:nvSpPr>
        <p:spPr>
          <a:xfrm>
            <a:off x="3063240" y="3127248"/>
            <a:ext cx="457200" cy="274320"/>
          </a:xfrm>
          <a:prstGeom prst="rect">
            <a:avLst/>
          </a:prstGeom>
          <a:noFill/>
          <a:ln/>
        </p:spPr>
        <p:txBody>
          <a:bodyPr wrap="square" lIns="0" tIns="0" rIns="0" bIns="0" rtlCol="0" anchor="ctr"/>
          <a:lstStyle/>
          <a:p>
            <a:pPr marL="0" indent="0" algn="ctr">
              <a:buNone/>
            </a:pPr>
            <a:r>
              <a:rPr lang="en-US" sz="950" dirty="0">
                <a:solidFill>
                  <a:srgbClr val="231F20"/>
                </a:solidFill>
                <a:latin typeface="Calibri" pitchFamily="34" charset="0"/>
                <a:ea typeface="Calibri" pitchFamily="34" charset="-122"/>
                <a:cs typeface="Calibri" pitchFamily="34" charset="-120"/>
              </a:rPr>
              <a:t>0.3</a:t>
            </a:r>
            <a:endParaRPr lang="en-US" sz="950" dirty="0"/>
          </a:p>
        </p:txBody>
      </p:sp>
      <p:sp>
        <p:nvSpPr>
          <p:cNvPr id="67" name="Text 58"/>
          <p:cNvSpPr txBox="1"/>
          <p:nvPr/>
        </p:nvSpPr>
        <p:spPr>
          <a:xfrm>
            <a:off x="3703320" y="3127248"/>
            <a:ext cx="347472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Classification decisions, impact assessments, controls, incidents</a:t>
            </a:r>
            <a:endParaRPr lang="en-US" sz="950" dirty="0"/>
          </a:p>
        </p:txBody>
      </p:sp>
      <p:sp>
        <p:nvSpPr>
          <p:cNvPr id="68" name="Shape 59"/>
          <p:cNvSpPr/>
          <p:nvPr/>
        </p:nvSpPr>
        <p:spPr>
          <a:xfrm>
            <a:off x="7360920" y="3154680"/>
            <a:ext cx="1234440" cy="219456"/>
          </a:xfrm>
          <a:prstGeom prst="roundRect">
            <a:avLst>
              <a:gd name="adj" fmla="val 50000"/>
            </a:avLst>
          </a:prstGeom>
          <a:solidFill>
            <a:srgbClr val="0E7C86">
              <a:alpha val="15000"/>
            </a:srgbClr>
          </a:solidFill>
          <a:ln w="9525">
            <a:solidFill>
              <a:srgbClr val="0E7C86"/>
            </a:solidFill>
            <a:prstDash val="solid"/>
          </a:ln>
        </p:spPr>
      </p:sp>
      <p:sp>
        <p:nvSpPr>
          <p:cNvPr id="69" name="Text 60"/>
          <p:cNvSpPr txBox="1"/>
          <p:nvPr/>
        </p:nvSpPr>
        <p:spPr>
          <a:xfrm>
            <a:off x="7360920" y="3154680"/>
            <a:ext cx="123444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Existing staff</a:t>
            </a:r>
            <a:endParaRPr lang="en-US" sz="850" dirty="0"/>
          </a:p>
        </p:txBody>
      </p:sp>
      <p:sp>
        <p:nvSpPr>
          <p:cNvPr id="70" name="Shape 61"/>
          <p:cNvSpPr/>
          <p:nvPr/>
        </p:nvSpPr>
        <p:spPr>
          <a:xfrm>
            <a:off x="457200" y="3438144"/>
            <a:ext cx="8229600" cy="274320"/>
          </a:xfrm>
          <a:prstGeom prst="roundRect">
            <a:avLst>
              <a:gd name="adj" fmla="val 16667"/>
            </a:avLst>
          </a:prstGeom>
          <a:solidFill>
            <a:srgbClr val="F4F7F5"/>
          </a:solidFill>
          <a:ln w="9525">
            <a:solidFill>
              <a:srgbClr val="D5DED9"/>
            </a:solidFill>
            <a:prstDash val="solid"/>
          </a:ln>
        </p:spPr>
      </p:sp>
      <p:sp>
        <p:nvSpPr>
          <p:cNvPr id="71" name="Shape 62"/>
          <p:cNvSpPr/>
          <p:nvPr/>
        </p:nvSpPr>
        <p:spPr>
          <a:xfrm>
            <a:off x="548640" y="3438144"/>
            <a:ext cx="274320" cy="274320"/>
          </a:xfrm>
          <a:prstGeom prst="ellipse">
            <a:avLst/>
          </a:prstGeom>
          <a:solidFill>
            <a:srgbClr val="B83B2E">
              <a:alpha val="22000"/>
            </a:srgbClr>
          </a:solidFill>
          <a:ln/>
        </p:spPr>
      </p:sp>
      <p:pic>
        <p:nvPicPr>
          <p:cNvPr id="72" name="Image 6" descr="preencoded.png"/>
          <p:cNvPicPr>
            <a:picLocks noChangeAspect="1"/>
          </p:cNvPicPr>
          <p:nvPr/>
        </p:nvPicPr>
        <p:blipFill>
          <a:blip r:embed="rId9"/>
          <a:stretch>
            <a:fillRect/>
          </a:stretch>
        </p:blipFill>
        <p:spPr>
          <a:xfrm>
            <a:off x="614477" y="3503981"/>
            <a:ext cx="142646" cy="142646"/>
          </a:xfrm>
          <a:prstGeom prst="rect">
            <a:avLst/>
          </a:prstGeom>
        </p:spPr>
      </p:pic>
      <p:sp>
        <p:nvSpPr>
          <p:cNvPr id="73" name="Text 63"/>
          <p:cNvSpPr txBox="1"/>
          <p:nvPr/>
        </p:nvSpPr>
        <p:spPr>
          <a:xfrm>
            <a:off x="896112" y="3438144"/>
            <a:ext cx="2011680" cy="27432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Subject-matter annotators</a:t>
            </a:r>
            <a:endParaRPr lang="en-US" sz="950" dirty="0"/>
          </a:p>
        </p:txBody>
      </p:sp>
      <p:sp>
        <p:nvSpPr>
          <p:cNvPr id="74" name="Text 64"/>
          <p:cNvSpPr txBox="1"/>
          <p:nvPr/>
        </p:nvSpPr>
        <p:spPr>
          <a:xfrm>
            <a:off x="3063240" y="3438144"/>
            <a:ext cx="457200" cy="274320"/>
          </a:xfrm>
          <a:prstGeom prst="rect">
            <a:avLst/>
          </a:prstGeom>
          <a:noFill/>
          <a:ln/>
        </p:spPr>
        <p:txBody>
          <a:bodyPr wrap="square" lIns="0" tIns="0" rIns="0" bIns="0" rtlCol="0" anchor="ctr"/>
          <a:lstStyle/>
          <a:p>
            <a:pPr marL="0" indent="0" algn="ctr">
              <a:buNone/>
            </a:pPr>
            <a:r>
              <a:rPr lang="en-US" sz="950" dirty="0">
                <a:solidFill>
                  <a:srgbClr val="231F20"/>
                </a:solidFill>
                <a:latin typeface="Calibri" pitchFamily="34" charset="0"/>
                <a:ea typeface="Calibri" pitchFamily="34" charset="-122"/>
                <a:cs typeface="Calibri" pitchFamily="34" charset="-120"/>
              </a:rPr>
              <a:t>Varies</a:t>
            </a:r>
            <a:endParaRPr lang="en-US" sz="950" dirty="0"/>
          </a:p>
        </p:txBody>
      </p:sp>
      <p:sp>
        <p:nvSpPr>
          <p:cNvPr id="75" name="Text 65"/>
          <p:cNvSpPr txBox="1"/>
          <p:nvPr/>
        </p:nvSpPr>
        <p:spPr>
          <a:xfrm>
            <a:off x="3703320" y="3438144"/>
            <a:ext cx="347472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Labelling, guidelines, adjudication, gold-standard upkeep</a:t>
            </a:r>
            <a:endParaRPr lang="en-US" sz="950" dirty="0"/>
          </a:p>
        </p:txBody>
      </p:sp>
      <p:sp>
        <p:nvSpPr>
          <p:cNvPr id="76" name="Shape 66"/>
          <p:cNvSpPr/>
          <p:nvPr/>
        </p:nvSpPr>
        <p:spPr>
          <a:xfrm>
            <a:off x="7360920" y="3465576"/>
            <a:ext cx="1234440" cy="219456"/>
          </a:xfrm>
          <a:prstGeom prst="roundRect">
            <a:avLst>
              <a:gd name="adj" fmla="val 50000"/>
            </a:avLst>
          </a:prstGeom>
          <a:solidFill>
            <a:srgbClr val="00A86A">
              <a:alpha val="15000"/>
            </a:srgbClr>
          </a:solidFill>
          <a:ln w="9525">
            <a:solidFill>
              <a:srgbClr val="00A86A"/>
            </a:solidFill>
            <a:prstDash val="solid"/>
          </a:ln>
        </p:spPr>
      </p:sp>
      <p:sp>
        <p:nvSpPr>
          <p:cNvPr id="77" name="Text 67"/>
          <p:cNvSpPr txBox="1"/>
          <p:nvPr/>
        </p:nvSpPr>
        <p:spPr>
          <a:xfrm>
            <a:off x="7360920" y="3465576"/>
            <a:ext cx="123444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Your hidden advantage</a:t>
            </a:r>
            <a:endParaRPr lang="en-US" sz="850" dirty="0"/>
          </a:p>
        </p:txBody>
      </p:sp>
      <p:sp>
        <p:nvSpPr>
          <p:cNvPr id="78" name="Shape 68"/>
          <p:cNvSpPr/>
          <p:nvPr/>
        </p:nvSpPr>
        <p:spPr>
          <a:xfrm>
            <a:off x="457200" y="3749040"/>
            <a:ext cx="8229600" cy="274320"/>
          </a:xfrm>
          <a:prstGeom prst="roundRect">
            <a:avLst>
              <a:gd name="adj" fmla="val 16667"/>
            </a:avLst>
          </a:prstGeom>
          <a:solidFill>
            <a:srgbClr val="F4F7F5"/>
          </a:solidFill>
          <a:ln w="9525">
            <a:solidFill>
              <a:srgbClr val="D5DED9"/>
            </a:solidFill>
            <a:prstDash val="solid"/>
          </a:ln>
        </p:spPr>
      </p:sp>
      <p:sp>
        <p:nvSpPr>
          <p:cNvPr id="79" name="Shape 69"/>
          <p:cNvSpPr/>
          <p:nvPr/>
        </p:nvSpPr>
        <p:spPr>
          <a:xfrm>
            <a:off x="548640" y="3749040"/>
            <a:ext cx="274320" cy="274320"/>
          </a:xfrm>
          <a:prstGeom prst="ellipse">
            <a:avLst/>
          </a:prstGeom>
          <a:solidFill>
            <a:srgbClr val="B83B2E">
              <a:alpha val="22000"/>
            </a:srgbClr>
          </a:solidFill>
          <a:ln/>
        </p:spPr>
      </p:sp>
      <p:pic>
        <p:nvPicPr>
          <p:cNvPr id="80" name="Image 7" descr="preencoded.png"/>
          <p:cNvPicPr>
            <a:picLocks noChangeAspect="1"/>
          </p:cNvPicPr>
          <p:nvPr/>
        </p:nvPicPr>
        <p:blipFill>
          <a:blip r:embed="rId10"/>
          <a:stretch>
            <a:fillRect/>
          </a:stretch>
        </p:blipFill>
        <p:spPr>
          <a:xfrm>
            <a:off x="614477" y="3814877"/>
            <a:ext cx="142646" cy="142646"/>
          </a:xfrm>
          <a:prstGeom prst="rect">
            <a:avLst/>
          </a:prstGeom>
        </p:spPr>
      </p:pic>
      <p:sp>
        <p:nvSpPr>
          <p:cNvPr id="81" name="Text 70"/>
          <p:cNvSpPr txBox="1"/>
          <p:nvPr/>
        </p:nvSpPr>
        <p:spPr>
          <a:xfrm>
            <a:off x="896112" y="3749040"/>
            <a:ext cx="2011680" cy="27432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Change &amp; training lead</a:t>
            </a:r>
            <a:endParaRPr lang="en-US" sz="950" dirty="0"/>
          </a:p>
        </p:txBody>
      </p:sp>
      <p:sp>
        <p:nvSpPr>
          <p:cNvPr id="82" name="Text 71"/>
          <p:cNvSpPr txBox="1"/>
          <p:nvPr/>
        </p:nvSpPr>
        <p:spPr>
          <a:xfrm>
            <a:off x="3063240" y="3749040"/>
            <a:ext cx="457200" cy="274320"/>
          </a:xfrm>
          <a:prstGeom prst="rect">
            <a:avLst/>
          </a:prstGeom>
          <a:noFill/>
          <a:ln/>
        </p:spPr>
        <p:txBody>
          <a:bodyPr wrap="square" lIns="0" tIns="0" rIns="0" bIns="0" rtlCol="0" anchor="ctr"/>
          <a:lstStyle/>
          <a:p>
            <a:pPr marL="0" indent="0" algn="ctr">
              <a:buNone/>
            </a:pPr>
            <a:r>
              <a:rPr lang="en-US" sz="950" dirty="0">
                <a:solidFill>
                  <a:srgbClr val="231F20"/>
                </a:solidFill>
                <a:latin typeface="Calibri" pitchFamily="34" charset="0"/>
                <a:ea typeface="Calibri" pitchFamily="34" charset="-122"/>
                <a:cs typeface="Calibri" pitchFamily="34" charset="-120"/>
              </a:rPr>
              <a:t>0.5</a:t>
            </a:r>
            <a:endParaRPr lang="en-US" sz="950" dirty="0"/>
          </a:p>
        </p:txBody>
      </p:sp>
      <p:sp>
        <p:nvSpPr>
          <p:cNvPr id="83" name="Text 72"/>
          <p:cNvSpPr txBox="1"/>
          <p:nvPr/>
        </p:nvSpPr>
        <p:spPr>
          <a:xfrm>
            <a:off x="3703320" y="3749040"/>
            <a:ext cx="3474720" cy="274320"/>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Curriculum, communication, adoption, effect on existing roles</a:t>
            </a:r>
            <a:endParaRPr lang="en-US" sz="950" dirty="0"/>
          </a:p>
        </p:txBody>
      </p:sp>
      <p:sp>
        <p:nvSpPr>
          <p:cNvPr id="84" name="Shape 73"/>
          <p:cNvSpPr/>
          <p:nvPr/>
        </p:nvSpPr>
        <p:spPr>
          <a:xfrm>
            <a:off x="7360920" y="3776472"/>
            <a:ext cx="1234440" cy="219456"/>
          </a:xfrm>
          <a:prstGeom prst="roundRect">
            <a:avLst>
              <a:gd name="adj" fmla="val 50000"/>
            </a:avLst>
          </a:prstGeom>
          <a:solidFill>
            <a:srgbClr val="0E7C86">
              <a:alpha val="15000"/>
            </a:srgbClr>
          </a:solidFill>
          <a:ln w="9525">
            <a:solidFill>
              <a:srgbClr val="0E7C86"/>
            </a:solidFill>
            <a:prstDash val="solid"/>
          </a:ln>
        </p:spPr>
      </p:sp>
      <p:sp>
        <p:nvSpPr>
          <p:cNvPr id="85" name="Text 74"/>
          <p:cNvSpPr txBox="1"/>
          <p:nvPr/>
        </p:nvSpPr>
        <p:spPr>
          <a:xfrm>
            <a:off x="7360920" y="3776472"/>
            <a:ext cx="123444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Existing staff</a:t>
            </a:r>
            <a:endParaRPr lang="en-US" sz="850" dirty="0"/>
          </a:p>
        </p:txBody>
      </p:sp>
      <p:sp>
        <p:nvSpPr>
          <p:cNvPr id="86" name="Shape 75"/>
          <p:cNvSpPr/>
          <p:nvPr/>
        </p:nvSpPr>
        <p:spPr>
          <a:xfrm>
            <a:off x="457200" y="4160520"/>
            <a:ext cx="8229600" cy="438912"/>
          </a:xfrm>
          <a:prstGeom prst="roundRect">
            <a:avLst>
              <a:gd name="adj" fmla="val 12500"/>
            </a:avLst>
          </a:prstGeom>
          <a:solidFill>
            <a:srgbClr val="E8F5EF"/>
          </a:solidFill>
          <a:ln w="15875">
            <a:solidFill>
              <a:srgbClr val="B83B2E"/>
            </a:solidFill>
            <a:prstDash val="solid"/>
          </a:ln>
        </p:spPr>
      </p:sp>
      <p:sp>
        <p:nvSpPr>
          <p:cNvPr id="87" name="Shape 76"/>
          <p:cNvSpPr/>
          <p:nvPr/>
        </p:nvSpPr>
        <p:spPr>
          <a:xfrm>
            <a:off x="566928" y="4233672"/>
            <a:ext cx="292608" cy="292608"/>
          </a:xfrm>
          <a:prstGeom prst="ellipse">
            <a:avLst/>
          </a:prstGeom>
          <a:solidFill>
            <a:srgbClr val="B83B2E">
              <a:alpha val="22000"/>
            </a:srgbClr>
          </a:solidFill>
          <a:ln/>
        </p:spPr>
      </p:sp>
      <p:pic>
        <p:nvPicPr>
          <p:cNvPr id="88" name="Image 8" descr="preencoded.png"/>
          <p:cNvPicPr>
            <a:picLocks noChangeAspect="1"/>
          </p:cNvPicPr>
          <p:nvPr/>
        </p:nvPicPr>
        <p:blipFill>
          <a:blip r:embed="rId11"/>
          <a:stretch>
            <a:fillRect/>
          </a:stretch>
        </p:blipFill>
        <p:spPr>
          <a:xfrm>
            <a:off x="637154" y="4303898"/>
            <a:ext cx="152156" cy="152156"/>
          </a:xfrm>
          <a:prstGeom prst="rect">
            <a:avLst/>
          </a:prstGeom>
        </p:spPr>
      </p:pic>
      <p:sp>
        <p:nvSpPr>
          <p:cNvPr id="89" name="Text 77"/>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Most offices over-recruit data scientists and under-recruit data and platform engineers. The result: excellent notebooks that never reach production.</a:t>
            </a:r>
            <a:endParaRPr lang="en-US" sz="1050" dirty="0"/>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RECRUITMENT &amp; RETENTION</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Staffing reality in a public statistical office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You will not win on salary. You can win on almost everything else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56</a:t>
            </a:r>
            <a:endParaRPr lang="en-US" sz="850" dirty="0"/>
          </a:p>
        </p:txBody>
      </p:sp>
      <p:sp>
        <p:nvSpPr>
          <p:cNvPr id="18" name="Shape 15"/>
          <p:cNvSpPr/>
          <p:nvPr/>
        </p:nvSpPr>
        <p:spPr>
          <a:xfrm>
            <a:off x="457200" y="1371600"/>
            <a:ext cx="3200400" cy="1078992"/>
          </a:xfrm>
          <a:prstGeom prst="roundRect">
            <a:avLst>
              <a:gd name="adj" fmla="val 6780"/>
            </a:avLst>
          </a:prstGeom>
          <a:solidFill>
            <a:srgbClr val="FBF0EE"/>
          </a:solidFill>
          <a:ln w="9525">
            <a:solidFill>
              <a:srgbClr val="B83B2E"/>
            </a:solidFill>
            <a:prstDash val="solid"/>
          </a:ln>
        </p:spPr>
      </p:sp>
      <p:sp>
        <p:nvSpPr>
          <p:cNvPr id="19" name="Shape 16"/>
          <p:cNvSpPr/>
          <p:nvPr/>
        </p:nvSpPr>
        <p:spPr>
          <a:xfrm>
            <a:off x="566928" y="1463040"/>
            <a:ext cx="310896" cy="310896"/>
          </a:xfrm>
          <a:prstGeom prst="ellipse">
            <a:avLst/>
          </a:prstGeom>
          <a:solidFill>
            <a:srgbClr val="B83B2E">
              <a:alpha val="22000"/>
            </a:srgbClr>
          </a:solidFill>
          <a:ln/>
        </p:spPr>
      </p:sp>
      <p:pic>
        <p:nvPicPr>
          <p:cNvPr id="20" name="Image 0" descr="preencoded.png"/>
          <p:cNvPicPr>
            <a:picLocks noChangeAspect="1"/>
          </p:cNvPicPr>
          <p:nvPr/>
        </p:nvPicPr>
        <p:blipFill>
          <a:blip r:embed="rId3"/>
          <a:stretch>
            <a:fillRect/>
          </a:stretch>
        </p:blipFill>
        <p:spPr>
          <a:xfrm>
            <a:off x="641543" y="1537655"/>
            <a:ext cx="161666" cy="161666"/>
          </a:xfrm>
          <a:prstGeom prst="rect">
            <a:avLst/>
          </a:prstGeom>
        </p:spPr>
      </p:pic>
      <p:sp>
        <p:nvSpPr>
          <p:cNvPr id="21" name="Text 17"/>
          <p:cNvSpPr txBox="1"/>
          <p:nvPr/>
        </p:nvSpPr>
        <p:spPr>
          <a:xfrm>
            <a:off x="950976" y="1463040"/>
            <a:ext cx="2560320"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What you cannot offer</a:t>
            </a:r>
            <a:endParaRPr lang="en-US" sz="1150" dirty="0"/>
          </a:p>
        </p:txBody>
      </p:sp>
      <p:sp>
        <p:nvSpPr>
          <p:cNvPr id="22" name="Text 18"/>
          <p:cNvSpPr txBox="1"/>
          <p:nvPr/>
        </p:nvSpPr>
        <p:spPr>
          <a:xfrm>
            <a:off x="566928" y="1828800"/>
            <a:ext cx="2971800" cy="56692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Private-sector salaries for experienced ML and platform engineers. Accept it and design around it.</a:t>
            </a:r>
            <a:endParaRPr lang="en-US" sz="950" dirty="0"/>
          </a:p>
        </p:txBody>
      </p:sp>
      <p:sp>
        <p:nvSpPr>
          <p:cNvPr id="23" name="Shape 19"/>
          <p:cNvSpPr/>
          <p:nvPr/>
        </p:nvSpPr>
        <p:spPr>
          <a:xfrm>
            <a:off x="457200" y="2560320"/>
            <a:ext cx="3200400" cy="1097280"/>
          </a:xfrm>
          <a:prstGeom prst="roundRect">
            <a:avLst>
              <a:gd name="adj" fmla="val 6667"/>
            </a:avLst>
          </a:prstGeom>
          <a:solidFill>
            <a:srgbClr val="E8F5EF"/>
          </a:solidFill>
          <a:ln w="15875">
            <a:solidFill>
              <a:srgbClr val="00A86A"/>
            </a:solidFill>
            <a:prstDash val="solid"/>
          </a:ln>
        </p:spPr>
      </p:sp>
      <p:sp>
        <p:nvSpPr>
          <p:cNvPr id="24" name="Shape 20"/>
          <p:cNvSpPr/>
          <p:nvPr/>
        </p:nvSpPr>
        <p:spPr>
          <a:xfrm>
            <a:off x="566928" y="2651760"/>
            <a:ext cx="310896" cy="310896"/>
          </a:xfrm>
          <a:prstGeom prst="ellipse">
            <a:avLst/>
          </a:prstGeom>
          <a:solidFill>
            <a:srgbClr val="00A86A">
              <a:alpha val="22000"/>
            </a:srgbClr>
          </a:solidFill>
          <a:ln/>
        </p:spPr>
      </p:sp>
      <p:pic>
        <p:nvPicPr>
          <p:cNvPr id="25" name="Image 1" descr="preencoded.png"/>
          <p:cNvPicPr>
            <a:picLocks noChangeAspect="1"/>
          </p:cNvPicPr>
          <p:nvPr/>
        </p:nvPicPr>
        <p:blipFill>
          <a:blip r:embed="rId4"/>
          <a:stretch>
            <a:fillRect/>
          </a:stretch>
        </p:blipFill>
        <p:spPr>
          <a:xfrm>
            <a:off x="641543" y="2726375"/>
            <a:ext cx="161666" cy="161666"/>
          </a:xfrm>
          <a:prstGeom prst="rect">
            <a:avLst/>
          </a:prstGeom>
        </p:spPr>
      </p:pic>
      <p:sp>
        <p:nvSpPr>
          <p:cNvPr id="26" name="Text 21"/>
          <p:cNvSpPr txBox="1"/>
          <p:nvPr/>
        </p:nvSpPr>
        <p:spPr>
          <a:xfrm>
            <a:off x="950976" y="2651760"/>
            <a:ext cx="2560320" cy="3108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What you genuinely can offer</a:t>
            </a:r>
            <a:endParaRPr lang="en-US" sz="1150" dirty="0"/>
          </a:p>
        </p:txBody>
      </p:sp>
      <p:sp>
        <p:nvSpPr>
          <p:cNvPr id="27" name="Text 22"/>
          <p:cNvSpPr txBox="1"/>
          <p:nvPr/>
        </p:nvSpPr>
        <p:spPr>
          <a:xfrm>
            <a:off x="566928" y="3017520"/>
            <a:ext cx="2971800" cy="5943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public mission, uniquely rich data, rigour, publication, training budgets, stability and predictable hours.</a:t>
            </a:r>
            <a:endParaRPr lang="en-US" sz="950" dirty="0"/>
          </a:p>
        </p:txBody>
      </p:sp>
      <p:sp>
        <p:nvSpPr>
          <p:cNvPr id="28" name="Text 23"/>
          <p:cNvSpPr txBox="1"/>
          <p:nvPr/>
        </p:nvSpPr>
        <p:spPr>
          <a:xfrm>
            <a:off x="3886200" y="1325880"/>
            <a:ext cx="4572000" cy="182880"/>
          </a:xfrm>
          <a:prstGeom prst="rect">
            <a:avLst/>
          </a:prstGeom>
          <a:noFill/>
          <a:ln/>
        </p:spPr>
        <p:txBody>
          <a:bodyPr wrap="square" lIns="0" tIns="0" rIns="0" bIns="0" rtlCol="0" anchor="t"/>
          <a:lstStyle/>
          <a:p>
            <a:pPr marL="0" indent="0">
              <a:buNone/>
            </a:pPr>
            <a:r>
              <a:rPr lang="en-US" sz="900" b="1" kern="0" spc="200" dirty="0">
                <a:solidFill>
                  <a:srgbClr val="B83B2E"/>
                </a:solidFill>
                <a:latin typeface="Calibri" pitchFamily="34" charset="0"/>
                <a:ea typeface="Calibri" pitchFamily="34" charset="-122"/>
                <a:cs typeface="Calibri" pitchFamily="34" charset="-120"/>
              </a:rPr>
              <a:t>FIVE STRATEGIES THAT WORK</a:t>
            </a:r>
            <a:endParaRPr lang="en-US" sz="900" dirty="0"/>
          </a:p>
        </p:txBody>
      </p:sp>
      <p:sp>
        <p:nvSpPr>
          <p:cNvPr id="29" name="Shape 24"/>
          <p:cNvSpPr/>
          <p:nvPr/>
        </p:nvSpPr>
        <p:spPr>
          <a:xfrm>
            <a:off x="3886200" y="1600200"/>
            <a:ext cx="310896" cy="310896"/>
          </a:xfrm>
          <a:prstGeom prst="ellipse">
            <a:avLst/>
          </a:prstGeom>
          <a:solidFill>
            <a:srgbClr val="B83B2E">
              <a:alpha val="22000"/>
            </a:srgbClr>
          </a:solidFill>
          <a:ln/>
        </p:spPr>
      </p:sp>
      <p:pic>
        <p:nvPicPr>
          <p:cNvPr id="30" name="Image 2" descr="preencoded.png"/>
          <p:cNvPicPr>
            <a:picLocks noChangeAspect="1"/>
          </p:cNvPicPr>
          <p:nvPr/>
        </p:nvPicPr>
        <p:blipFill>
          <a:blip r:embed="rId5"/>
          <a:stretch>
            <a:fillRect/>
          </a:stretch>
        </p:blipFill>
        <p:spPr>
          <a:xfrm>
            <a:off x="3960815" y="1674815"/>
            <a:ext cx="161666" cy="161666"/>
          </a:xfrm>
          <a:prstGeom prst="rect">
            <a:avLst/>
          </a:prstGeom>
        </p:spPr>
      </p:pic>
      <p:sp>
        <p:nvSpPr>
          <p:cNvPr id="31" name="Text 25"/>
          <p:cNvSpPr txBox="1"/>
          <p:nvPr/>
        </p:nvSpPr>
        <p:spPr>
          <a:xfrm>
            <a:off x="4315968" y="1572768"/>
            <a:ext cx="4389120" cy="1828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Grow from within</a:t>
            </a:r>
            <a:endParaRPr lang="en-US" sz="1100" dirty="0"/>
          </a:p>
        </p:txBody>
      </p:sp>
      <p:sp>
        <p:nvSpPr>
          <p:cNvPr id="32" name="Text 26"/>
          <p:cNvSpPr txBox="1"/>
          <p:nvPr/>
        </p:nvSpPr>
        <p:spPr>
          <a:xfrm>
            <a:off x="4315968" y="1755648"/>
            <a:ext cx="438912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Turn methodologists into applied ML practitioners — they already know the data.</a:t>
            </a:r>
            <a:endParaRPr lang="en-US" sz="950" dirty="0"/>
          </a:p>
        </p:txBody>
      </p:sp>
      <p:sp>
        <p:nvSpPr>
          <p:cNvPr id="33" name="Shape 27"/>
          <p:cNvSpPr/>
          <p:nvPr/>
        </p:nvSpPr>
        <p:spPr>
          <a:xfrm>
            <a:off x="3886200" y="2020824"/>
            <a:ext cx="310896" cy="310896"/>
          </a:xfrm>
          <a:prstGeom prst="ellipse">
            <a:avLst/>
          </a:prstGeom>
          <a:solidFill>
            <a:srgbClr val="B83B2E">
              <a:alpha val="22000"/>
            </a:srgbClr>
          </a:solidFill>
          <a:ln/>
        </p:spPr>
      </p:sp>
      <p:pic>
        <p:nvPicPr>
          <p:cNvPr id="34" name="Image 3" descr="preencoded.png"/>
          <p:cNvPicPr>
            <a:picLocks noChangeAspect="1"/>
          </p:cNvPicPr>
          <p:nvPr/>
        </p:nvPicPr>
        <p:blipFill>
          <a:blip r:embed="rId6"/>
          <a:stretch>
            <a:fillRect/>
          </a:stretch>
        </p:blipFill>
        <p:spPr>
          <a:xfrm>
            <a:off x="3960815" y="2095439"/>
            <a:ext cx="161666" cy="161666"/>
          </a:xfrm>
          <a:prstGeom prst="rect">
            <a:avLst/>
          </a:prstGeom>
        </p:spPr>
      </p:pic>
      <p:sp>
        <p:nvSpPr>
          <p:cNvPr id="35" name="Text 28"/>
          <p:cNvSpPr txBox="1"/>
          <p:nvPr/>
        </p:nvSpPr>
        <p:spPr>
          <a:xfrm>
            <a:off x="4315968" y="1993392"/>
            <a:ext cx="4389120" cy="1828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Partner rather than purchase</a:t>
            </a:r>
            <a:endParaRPr lang="en-US" sz="1100" dirty="0"/>
          </a:p>
        </p:txBody>
      </p:sp>
      <p:sp>
        <p:nvSpPr>
          <p:cNvPr id="36" name="Text 29"/>
          <p:cNvSpPr txBox="1"/>
          <p:nvPr/>
        </p:nvSpPr>
        <p:spPr>
          <a:xfrm>
            <a:off x="4315968" y="2176272"/>
            <a:ext cx="438912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Universities, training centres, peer offices and development partners.</a:t>
            </a:r>
            <a:endParaRPr lang="en-US" sz="950" dirty="0"/>
          </a:p>
        </p:txBody>
      </p:sp>
      <p:sp>
        <p:nvSpPr>
          <p:cNvPr id="37" name="Shape 30"/>
          <p:cNvSpPr/>
          <p:nvPr/>
        </p:nvSpPr>
        <p:spPr>
          <a:xfrm>
            <a:off x="3886200" y="2441448"/>
            <a:ext cx="310896" cy="310896"/>
          </a:xfrm>
          <a:prstGeom prst="ellipse">
            <a:avLst/>
          </a:prstGeom>
          <a:solidFill>
            <a:srgbClr val="B83B2E">
              <a:alpha val="22000"/>
            </a:srgbClr>
          </a:solidFill>
          <a:ln/>
        </p:spPr>
      </p:sp>
      <p:pic>
        <p:nvPicPr>
          <p:cNvPr id="38" name="Image 4" descr="preencoded.png"/>
          <p:cNvPicPr>
            <a:picLocks noChangeAspect="1"/>
          </p:cNvPicPr>
          <p:nvPr/>
        </p:nvPicPr>
        <p:blipFill>
          <a:blip r:embed="rId7"/>
          <a:stretch>
            <a:fillRect/>
          </a:stretch>
        </p:blipFill>
        <p:spPr>
          <a:xfrm>
            <a:off x="3960815" y="2516063"/>
            <a:ext cx="161666" cy="161666"/>
          </a:xfrm>
          <a:prstGeom prst="rect">
            <a:avLst/>
          </a:prstGeom>
        </p:spPr>
      </p:pic>
      <p:sp>
        <p:nvSpPr>
          <p:cNvPr id="39" name="Text 31"/>
          <p:cNvSpPr txBox="1"/>
          <p:nvPr/>
        </p:nvSpPr>
        <p:spPr>
          <a:xfrm>
            <a:off x="4315968" y="2414016"/>
            <a:ext cx="4389120" cy="1828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Share across government</a:t>
            </a:r>
            <a:endParaRPr lang="en-US" sz="1100" dirty="0"/>
          </a:p>
        </p:txBody>
      </p:sp>
      <p:sp>
        <p:nvSpPr>
          <p:cNvPr id="40" name="Text 32"/>
          <p:cNvSpPr txBox="1"/>
          <p:nvPr/>
        </p:nvSpPr>
        <p:spPr>
          <a:xfrm>
            <a:off x="4315968" y="2596896"/>
            <a:ext cx="438912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One national platform or gateway team is easier to staff than one per agency.</a:t>
            </a:r>
            <a:endParaRPr lang="en-US" sz="950" dirty="0"/>
          </a:p>
        </p:txBody>
      </p:sp>
      <p:sp>
        <p:nvSpPr>
          <p:cNvPr id="41" name="Shape 33"/>
          <p:cNvSpPr/>
          <p:nvPr/>
        </p:nvSpPr>
        <p:spPr>
          <a:xfrm>
            <a:off x="3886200" y="2862072"/>
            <a:ext cx="310896" cy="310896"/>
          </a:xfrm>
          <a:prstGeom prst="ellipse">
            <a:avLst/>
          </a:prstGeom>
          <a:solidFill>
            <a:srgbClr val="B83B2E">
              <a:alpha val="22000"/>
            </a:srgbClr>
          </a:solidFill>
          <a:ln/>
        </p:spPr>
      </p:sp>
      <p:pic>
        <p:nvPicPr>
          <p:cNvPr id="42" name="Image 5" descr="preencoded.png"/>
          <p:cNvPicPr>
            <a:picLocks noChangeAspect="1"/>
          </p:cNvPicPr>
          <p:nvPr/>
        </p:nvPicPr>
        <p:blipFill>
          <a:blip r:embed="rId8"/>
          <a:stretch>
            <a:fillRect/>
          </a:stretch>
        </p:blipFill>
        <p:spPr>
          <a:xfrm>
            <a:off x="3960815" y="2936687"/>
            <a:ext cx="161666" cy="161666"/>
          </a:xfrm>
          <a:prstGeom prst="rect">
            <a:avLst/>
          </a:prstGeom>
        </p:spPr>
      </p:pic>
      <p:sp>
        <p:nvSpPr>
          <p:cNvPr id="43" name="Text 34"/>
          <p:cNvSpPr txBox="1"/>
          <p:nvPr/>
        </p:nvSpPr>
        <p:spPr>
          <a:xfrm>
            <a:off x="4315968" y="2834640"/>
            <a:ext cx="4389120" cy="1828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Contract with transfer duties</a:t>
            </a:r>
            <a:endParaRPr lang="en-US" sz="1100" dirty="0"/>
          </a:p>
        </p:txBody>
      </p:sp>
      <p:sp>
        <p:nvSpPr>
          <p:cNvPr id="44" name="Text 35"/>
          <p:cNvSpPr txBox="1"/>
          <p:nvPr/>
        </p:nvSpPr>
        <p:spPr>
          <a:xfrm>
            <a:off x="4315968" y="3017520"/>
            <a:ext cx="438912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Make documented knowledge transfer a deliverable, checked before final payment.</a:t>
            </a:r>
            <a:endParaRPr lang="en-US" sz="950" dirty="0"/>
          </a:p>
        </p:txBody>
      </p:sp>
      <p:sp>
        <p:nvSpPr>
          <p:cNvPr id="45" name="Shape 36"/>
          <p:cNvSpPr/>
          <p:nvPr/>
        </p:nvSpPr>
        <p:spPr>
          <a:xfrm>
            <a:off x="3886200" y="3282696"/>
            <a:ext cx="310896" cy="310896"/>
          </a:xfrm>
          <a:prstGeom prst="ellipse">
            <a:avLst/>
          </a:prstGeom>
          <a:solidFill>
            <a:srgbClr val="B83B2E">
              <a:alpha val="22000"/>
            </a:srgbClr>
          </a:solidFill>
          <a:ln/>
        </p:spPr>
      </p:sp>
      <p:pic>
        <p:nvPicPr>
          <p:cNvPr id="46" name="Image 6" descr="preencoded.png"/>
          <p:cNvPicPr>
            <a:picLocks noChangeAspect="1"/>
          </p:cNvPicPr>
          <p:nvPr/>
        </p:nvPicPr>
        <p:blipFill>
          <a:blip r:embed="rId9"/>
          <a:stretch>
            <a:fillRect/>
          </a:stretch>
        </p:blipFill>
        <p:spPr>
          <a:xfrm>
            <a:off x="3960815" y="3357311"/>
            <a:ext cx="161666" cy="161666"/>
          </a:xfrm>
          <a:prstGeom prst="rect">
            <a:avLst/>
          </a:prstGeom>
        </p:spPr>
      </p:pic>
      <p:sp>
        <p:nvSpPr>
          <p:cNvPr id="47" name="Text 37"/>
          <p:cNvSpPr txBox="1"/>
          <p:nvPr/>
        </p:nvSpPr>
        <p:spPr>
          <a:xfrm>
            <a:off x="4315968" y="3255264"/>
            <a:ext cx="4389120" cy="1828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Build a technical career path</a:t>
            </a:r>
            <a:endParaRPr lang="en-US" sz="1100" dirty="0"/>
          </a:p>
        </p:txBody>
      </p:sp>
      <p:sp>
        <p:nvSpPr>
          <p:cNvPr id="48" name="Text 38"/>
          <p:cNvSpPr txBox="1"/>
          <p:nvPr/>
        </p:nvSpPr>
        <p:spPr>
          <a:xfrm>
            <a:off x="4315968" y="3438144"/>
            <a:ext cx="438912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Senior technical grades, so engineers need not move into management to progress.</a:t>
            </a:r>
            <a:endParaRPr lang="en-US" sz="950" dirty="0"/>
          </a:p>
        </p:txBody>
      </p:sp>
      <p:sp>
        <p:nvSpPr>
          <p:cNvPr id="49" name="Shape 39"/>
          <p:cNvSpPr/>
          <p:nvPr/>
        </p:nvSpPr>
        <p:spPr>
          <a:xfrm>
            <a:off x="457200" y="3840480"/>
            <a:ext cx="8229600" cy="731520"/>
          </a:xfrm>
          <a:prstGeom prst="roundRect">
            <a:avLst>
              <a:gd name="adj" fmla="val 7500"/>
            </a:avLst>
          </a:prstGeom>
          <a:solidFill>
            <a:srgbClr val="D49A00">
              <a:alpha val="13000"/>
            </a:srgbClr>
          </a:solidFill>
          <a:ln w="12700">
            <a:solidFill>
              <a:srgbClr val="D49A00"/>
            </a:solidFill>
            <a:prstDash val="solid"/>
          </a:ln>
        </p:spPr>
      </p:sp>
      <p:sp>
        <p:nvSpPr>
          <p:cNvPr id="50" name="Shape 40"/>
          <p:cNvSpPr/>
          <p:nvPr/>
        </p:nvSpPr>
        <p:spPr>
          <a:xfrm>
            <a:off x="566928" y="4059936"/>
            <a:ext cx="292608" cy="292608"/>
          </a:xfrm>
          <a:prstGeom prst="ellipse">
            <a:avLst/>
          </a:prstGeom>
          <a:solidFill>
            <a:srgbClr val="D49A00">
              <a:alpha val="22000"/>
            </a:srgbClr>
          </a:solidFill>
          <a:ln/>
        </p:spPr>
      </p:sp>
      <p:pic>
        <p:nvPicPr>
          <p:cNvPr id="51" name="Image 7" descr="preencoded.png"/>
          <p:cNvPicPr>
            <a:picLocks noChangeAspect="1"/>
          </p:cNvPicPr>
          <p:nvPr/>
        </p:nvPicPr>
        <p:blipFill>
          <a:blip r:embed="rId10"/>
          <a:stretch>
            <a:fillRect/>
          </a:stretch>
        </p:blipFill>
        <p:spPr>
          <a:xfrm>
            <a:off x="637154" y="4130162"/>
            <a:ext cx="152156" cy="152156"/>
          </a:xfrm>
          <a:prstGeom prst="rect">
            <a:avLst/>
          </a:prstGeom>
        </p:spPr>
      </p:pic>
      <p:sp>
        <p:nvSpPr>
          <p:cNvPr id="52" name="Text 41"/>
          <p:cNvSpPr txBox="1"/>
          <p:nvPr/>
        </p:nvSpPr>
        <p:spPr>
          <a:xfrm>
            <a:off x="960120" y="3840480"/>
            <a:ext cx="7589520" cy="731520"/>
          </a:xfrm>
          <a:prstGeom prst="rect">
            <a:avLst/>
          </a:prstGeom>
          <a:noFill/>
          <a:ln/>
        </p:spPr>
        <p:txBody>
          <a:bodyPr wrap="square" lIns="0" tIns="0" rIns="0" bIns="0" rtlCol="0" anchor="ctr"/>
          <a:lstStyle/>
          <a:p>
            <a:pPr marL="0" indent="0">
              <a:buNone/>
            </a:pPr>
            <a:r>
              <a:rPr lang="en-US" sz="1050" b="1" dirty="0">
                <a:solidFill>
                  <a:srgbClr val="8A6400"/>
                </a:solidFill>
                <a:latin typeface="Calibri" pitchFamily="34" charset="0"/>
                <a:ea typeface="Calibri" pitchFamily="34" charset="-122"/>
                <a:cs typeface="Calibri" pitchFamily="34" charset="-120"/>
              </a:rPr>
              <a:t>The dependency you cannot afford:  </a:t>
            </a:r>
            <a:r>
              <a:rPr lang="en-US" sz="1050" dirty="0">
                <a:solidFill>
                  <a:srgbClr val="231F20"/>
                </a:solidFill>
                <a:latin typeface="Calibri" pitchFamily="34" charset="0"/>
                <a:ea typeface="Calibri" pitchFamily="34" charset="-122"/>
                <a:cs typeface="Calibri" pitchFamily="34" charset="-120"/>
              </a:rPr>
              <a:t>fully outsourcing the platform leaves the office unable to evaluate, run or exit its own systems. Buy tools and help — never the understanding of how your statistics are made.</a:t>
            </a:r>
            <a:endParaRPr lang="en-US" sz="1050" dirty="0"/>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SKILLS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What each group has to learn</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Three different curricula. The failure mode is one generic introduction for everybody</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57</a:t>
            </a:r>
            <a:endParaRPr lang="en-US" sz="850" dirty="0"/>
          </a:p>
        </p:txBody>
      </p:sp>
      <p:sp>
        <p:nvSpPr>
          <p:cNvPr id="18" name="Shape 15"/>
          <p:cNvSpPr/>
          <p:nvPr/>
        </p:nvSpPr>
        <p:spPr>
          <a:xfrm>
            <a:off x="457200" y="1371600"/>
            <a:ext cx="2651760" cy="2633472"/>
          </a:xfrm>
          <a:prstGeom prst="roundRect">
            <a:avLst>
              <a:gd name="adj" fmla="val 2778"/>
            </a:avLst>
          </a:prstGeom>
          <a:solidFill>
            <a:srgbClr val="F4F7F5"/>
          </a:solidFill>
          <a:ln w="9525">
            <a:solidFill>
              <a:srgbClr val="D5DED9"/>
            </a:solidFill>
            <a:prstDash val="solid"/>
          </a:ln>
        </p:spPr>
      </p:sp>
      <p:sp>
        <p:nvSpPr>
          <p:cNvPr id="19" name="Shape 16"/>
          <p:cNvSpPr/>
          <p:nvPr/>
        </p:nvSpPr>
        <p:spPr>
          <a:xfrm>
            <a:off x="594360" y="1481328"/>
            <a:ext cx="402336" cy="402336"/>
          </a:xfrm>
          <a:prstGeom prst="ellipse">
            <a:avLst/>
          </a:prstGeom>
          <a:solidFill>
            <a:srgbClr val="00A86A"/>
          </a:solidFill>
          <a:ln/>
        </p:spPr>
      </p:sp>
      <p:pic>
        <p:nvPicPr>
          <p:cNvPr id="20" name="Image 0" descr="preencoded.png"/>
          <p:cNvPicPr>
            <a:picLocks noChangeAspect="1"/>
          </p:cNvPicPr>
          <p:nvPr/>
        </p:nvPicPr>
        <p:blipFill>
          <a:blip r:embed="rId3"/>
          <a:stretch>
            <a:fillRect/>
          </a:stretch>
        </p:blipFill>
        <p:spPr>
          <a:xfrm>
            <a:off x="690921" y="1577889"/>
            <a:ext cx="209215" cy="209215"/>
          </a:xfrm>
          <a:prstGeom prst="rect">
            <a:avLst/>
          </a:prstGeom>
        </p:spPr>
      </p:pic>
      <p:sp>
        <p:nvSpPr>
          <p:cNvPr id="21" name="Text 17"/>
          <p:cNvSpPr txBox="1"/>
          <p:nvPr/>
        </p:nvSpPr>
        <p:spPr>
          <a:xfrm>
            <a:off x="1097280" y="1481328"/>
            <a:ext cx="1920240" cy="402336"/>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Statisticians &amp; methodologists</a:t>
            </a:r>
            <a:endParaRPr lang="en-US" sz="1200" dirty="0"/>
          </a:p>
        </p:txBody>
      </p:sp>
      <p:pic>
        <p:nvPicPr>
          <p:cNvPr id="22" name="Image 1" descr="preencoded.png"/>
          <p:cNvPicPr>
            <a:picLocks noChangeAspect="1"/>
          </p:cNvPicPr>
          <p:nvPr/>
        </p:nvPicPr>
        <p:blipFill>
          <a:blip r:embed="rId4"/>
          <a:stretch>
            <a:fillRect/>
          </a:stretch>
        </p:blipFill>
        <p:spPr>
          <a:xfrm>
            <a:off x="594360" y="2039112"/>
            <a:ext cx="137160" cy="137160"/>
          </a:xfrm>
          <a:prstGeom prst="rect">
            <a:avLst/>
          </a:prstGeom>
        </p:spPr>
      </p:pic>
      <p:sp>
        <p:nvSpPr>
          <p:cNvPr id="23" name="Text 18"/>
          <p:cNvSpPr txBox="1"/>
          <p:nvPr/>
        </p:nvSpPr>
        <p:spPr>
          <a:xfrm>
            <a:off x="804672" y="2011680"/>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How supervised learning differs from model-based inference</a:t>
            </a:r>
            <a:endParaRPr lang="en-US" sz="950" dirty="0"/>
          </a:p>
        </p:txBody>
      </p:sp>
      <p:pic>
        <p:nvPicPr>
          <p:cNvPr id="24" name="Image 2" descr="preencoded.png"/>
          <p:cNvPicPr>
            <a:picLocks noChangeAspect="1"/>
          </p:cNvPicPr>
          <p:nvPr/>
        </p:nvPicPr>
        <p:blipFill>
          <a:blip r:embed="rId4"/>
          <a:stretch>
            <a:fillRect/>
          </a:stretch>
        </p:blipFill>
        <p:spPr>
          <a:xfrm>
            <a:off x="594360" y="2432304"/>
            <a:ext cx="137160" cy="137160"/>
          </a:xfrm>
          <a:prstGeom prst="rect">
            <a:avLst/>
          </a:prstGeom>
        </p:spPr>
      </p:pic>
      <p:sp>
        <p:nvSpPr>
          <p:cNvPr id="25" name="Text 19"/>
          <p:cNvSpPr txBox="1"/>
          <p:nvPr/>
        </p:nvSpPr>
        <p:spPr>
          <a:xfrm>
            <a:off x="804672" y="2404872"/>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Evaluation: precision, recall, calibration, thresholds</a:t>
            </a:r>
            <a:endParaRPr lang="en-US" sz="950" dirty="0"/>
          </a:p>
        </p:txBody>
      </p:sp>
      <p:pic>
        <p:nvPicPr>
          <p:cNvPr id="26" name="Image 3" descr="preencoded.png"/>
          <p:cNvPicPr>
            <a:picLocks noChangeAspect="1"/>
          </p:cNvPicPr>
          <p:nvPr/>
        </p:nvPicPr>
        <p:blipFill>
          <a:blip r:embed="rId4"/>
          <a:stretch>
            <a:fillRect/>
          </a:stretch>
        </p:blipFill>
        <p:spPr>
          <a:xfrm>
            <a:off x="594360" y="2825496"/>
            <a:ext cx="137160" cy="137160"/>
          </a:xfrm>
          <a:prstGeom prst="rect">
            <a:avLst/>
          </a:prstGeom>
        </p:spPr>
      </p:pic>
      <p:sp>
        <p:nvSpPr>
          <p:cNvPr id="27" name="Text 20"/>
          <p:cNvSpPr txBox="1"/>
          <p:nvPr/>
        </p:nvSpPr>
        <p:spPr>
          <a:xfrm>
            <a:off x="804672" y="2798064"/>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Python or R, version control, reproducible environments</a:t>
            </a:r>
            <a:endParaRPr lang="en-US" sz="950" dirty="0"/>
          </a:p>
        </p:txBody>
      </p:sp>
      <p:pic>
        <p:nvPicPr>
          <p:cNvPr id="28" name="Image 4" descr="preencoded.png"/>
          <p:cNvPicPr>
            <a:picLocks noChangeAspect="1"/>
          </p:cNvPicPr>
          <p:nvPr/>
        </p:nvPicPr>
        <p:blipFill>
          <a:blip r:embed="rId4"/>
          <a:stretch>
            <a:fillRect/>
          </a:stretch>
        </p:blipFill>
        <p:spPr>
          <a:xfrm>
            <a:off x="594360" y="3218688"/>
            <a:ext cx="137160" cy="137160"/>
          </a:xfrm>
          <a:prstGeom prst="rect">
            <a:avLst/>
          </a:prstGeom>
        </p:spPr>
      </p:pic>
      <p:sp>
        <p:nvSpPr>
          <p:cNvPr id="29" name="Text 21"/>
          <p:cNvSpPr txBox="1"/>
          <p:nvPr/>
        </p:nvSpPr>
        <p:spPr>
          <a:xfrm>
            <a:off x="804672" y="3191256"/>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Enough about retrieval and prompting to judge reliability</a:t>
            </a:r>
            <a:endParaRPr lang="en-US" sz="950" dirty="0"/>
          </a:p>
        </p:txBody>
      </p:sp>
      <p:pic>
        <p:nvPicPr>
          <p:cNvPr id="30" name="Image 5" descr="preencoded.png"/>
          <p:cNvPicPr>
            <a:picLocks noChangeAspect="1"/>
          </p:cNvPicPr>
          <p:nvPr/>
        </p:nvPicPr>
        <p:blipFill>
          <a:blip r:embed="rId4"/>
          <a:stretch>
            <a:fillRect/>
          </a:stretch>
        </p:blipFill>
        <p:spPr>
          <a:xfrm>
            <a:off x="594360" y="3611880"/>
            <a:ext cx="137160" cy="137160"/>
          </a:xfrm>
          <a:prstGeom prst="rect">
            <a:avLst/>
          </a:prstGeom>
        </p:spPr>
      </p:pic>
      <p:sp>
        <p:nvSpPr>
          <p:cNvPr id="31" name="Text 22"/>
          <p:cNvSpPr txBox="1"/>
          <p:nvPr/>
        </p:nvSpPr>
        <p:spPr>
          <a:xfrm>
            <a:off x="804672" y="3584448"/>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Bias, drift and how models degrade quietly</a:t>
            </a:r>
            <a:endParaRPr lang="en-US" sz="950" dirty="0"/>
          </a:p>
        </p:txBody>
      </p:sp>
      <p:sp>
        <p:nvSpPr>
          <p:cNvPr id="32" name="Shape 23"/>
          <p:cNvSpPr/>
          <p:nvPr/>
        </p:nvSpPr>
        <p:spPr>
          <a:xfrm>
            <a:off x="3246120" y="1371600"/>
            <a:ext cx="2651760" cy="2633472"/>
          </a:xfrm>
          <a:prstGeom prst="roundRect">
            <a:avLst>
              <a:gd name="adj" fmla="val 2778"/>
            </a:avLst>
          </a:prstGeom>
          <a:solidFill>
            <a:srgbClr val="F4F7F5"/>
          </a:solidFill>
          <a:ln w="9525">
            <a:solidFill>
              <a:srgbClr val="D5DED9"/>
            </a:solidFill>
            <a:prstDash val="solid"/>
          </a:ln>
        </p:spPr>
      </p:sp>
      <p:sp>
        <p:nvSpPr>
          <p:cNvPr id="33" name="Shape 24"/>
          <p:cNvSpPr/>
          <p:nvPr/>
        </p:nvSpPr>
        <p:spPr>
          <a:xfrm>
            <a:off x="3383280" y="1481328"/>
            <a:ext cx="402336" cy="402336"/>
          </a:xfrm>
          <a:prstGeom prst="ellipse">
            <a:avLst/>
          </a:prstGeom>
          <a:solidFill>
            <a:srgbClr val="0E7C86"/>
          </a:solidFill>
          <a:ln/>
        </p:spPr>
      </p:sp>
      <p:pic>
        <p:nvPicPr>
          <p:cNvPr id="34" name="Image 6" descr="preencoded.png"/>
          <p:cNvPicPr>
            <a:picLocks noChangeAspect="1"/>
          </p:cNvPicPr>
          <p:nvPr/>
        </p:nvPicPr>
        <p:blipFill>
          <a:blip r:embed="rId5"/>
          <a:stretch>
            <a:fillRect/>
          </a:stretch>
        </p:blipFill>
        <p:spPr>
          <a:xfrm>
            <a:off x="3479841" y="1577889"/>
            <a:ext cx="209215" cy="209215"/>
          </a:xfrm>
          <a:prstGeom prst="rect">
            <a:avLst/>
          </a:prstGeom>
        </p:spPr>
      </p:pic>
      <p:sp>
        <p:nvSpPr>
          <p:cNvPr id="35" name="Text 25"/>
          <p:cNvSpPr txBox="1"/>
          <p:nvPr/>
        </p:nvSpPr>
        <p:spPr>
          <a:xfrm>
            <a:off x="3886200" y="1481328"/>
            <a:ext cx="1920240" cy="402336"/>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IT, platform &amp; security</a:t>
            </a:r>
            <a:endParaRPr lang="en-US" sz="1200" dirty="0"/>
          </a:p>
        </p:txBody>
      </p:sp>
      <p:pic>
        <p:nvPicPr>
          <p:cNvPr id="36" name="Image 7" descr="preencoded.png"/>
          <p:cNvPicPr>
            <a:picLocks noChangeAspect="1"/>
          </p:cNvPicPr>
          <p:nvPr/>
        </p:nvPicPr>
        <p:blipFill>
          <a:blip r:embed="rId6"/>
          <a:stretch>
            <a:fillRect/>
          </a:stretch>
        </p:blipFill>
        <p:spPr>
          <a:xfrm>
            <a:off x="3383280" y="2039112"/>
            <a:ext cx="137160" cy="137160"/>
          </a:xfrm>
          <a:prstGeom prst="rect">
            <a:avLst/>
          </a:prstGeom>
        </p:spPr>
      </p:pic>
      <p:sp>
        <p:nvSpPr>
          <p:cNvPr id="37" name="Text 26"/>
          <p:cNvSpPr txBox="1"/>
          <p:nvPr/>
        </p:nvSpPr>
        <p:spPr>
          <a:xfrm>
            <a:off x="3593592" y="2011680"/>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Containers and orchestration (Kubernetes or Slurm)</a:t>
            </a:r>
            <a:endParaRPr lang="en-US" sz="950" dirty="0"/>
          </a:p>
        </p:txBody>
      </p:sp>
      <p:pic>
        <p:nvPicPr>
          <p:cNvPr id="38" name="Image 8" descr="preencoded.png"/>
          <p:cNvPicPr>
            <a:picLocks noChangeAspect="1"/>
          </p:cNvPicPr>
          <p:nvPr/>
        </p:nvPicPr>
        <p:blipFill>
          <a:blip r:embed="rId6"/>
          <a:stretch>
            <a:fillRect/>
          </a:stretch>
        </p:blipFill>
        <p:spPr>
          <a:xfrm>
            <a:off x="3383280" y="2432304"/>
            <a:ext cx="137160" cy="137160"/>
          </a:xfrm>
          <a:prstGeom prst="rect">
            <a:avLst/>
          </a:prstGeom>
        </p:spPr>
      </p:pic>
      <p:sp>
        <p:nvSpPr>
          <p:cNvPr id="39" name="Text 27"/>
          <p:cNvSpPr txBox="1"/>
          <p:nvPr/>
        </p:nvSpPr>
        <p:spPr>
          <a:xfrm>
            <a:off x="3593592" y="2404872"/>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GPU operations: drivers, scheduling, sharing, monitoring</a:t>
            </a:r>
            <a:endParaRPr lang="en-US" sz="950" dirty="0"/>
          </a:p>
        </p:txBody>
      </p:sp>
      <p:pic>
        <p:nvPicPr>
          <p:cNvPr id="40" name="Image 9" descr="preencoded.png"/>
          <p:cNvPicPr>
            <a:picLocks noChangeAspect="1"/>
          </p:cNvPicPr>
          <p:nvPr/>
        </p:nvPicPr>
        <p:blipFill>
          <a:blip r:embed="rId6"/>
          <a:stretch>
            <a:fillRect/>
          </a:stretch>
        </p:blipFill>
        <p:spPr>
          <a:xfrm>
            <a:off x="3383280" y="2825496"/>
            <a:ext cx="137160" cy="137160"/>
          </a:xfrm>
          <a:prstGeom prst="rect">
            <a:avLst/>
          </a:prstGeom>
        </p:spPr>
      </p:pic>
      <p:sp>
        <p:nvSpPr>
          <p:cNvPr id="41" name="Text 28"/>
          <p:cNvSpPr txBox="1"/>
          <p:nvPr/>
        </p:nvSpPr>
        <p:spPr>
          <a:xfrm>
            <a:off x="3593592" y="2798064"/>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Model serving, gateways, vector stores</a:t>
            </a:r>
            <a:endParaRPr lang="en-US" sz="950" dirty="0"/>
          </a:p>
        </p:txBody>
      </p:sp>
      <p:pic>
        <p:nvPicPr>
          <p:cNvPr id="42" name="Image 10" descr="preencoded.png"/>
          <p:cNvPicPr>
            <a:picLocks noChangeAspect="1"/>
          </p:cNvPicPr>
          <p:nvPr/>
        </p:nvPicPr>
        <p:blipFill>
          <a:blip r:embed="rId6"/>
          <a:stretch>
            <a:fillRect/>
          </a:stretch>
        </p:blipFill>
        <p:spPr>
          <a:xfrm>
            <a:off x="3383280" y="3218688"/>
            <a:ext cx="137160" cy="137160"/>
          </a:xfrm>
          <a:prstGeom prst="rect">
            <a:avLst/>
          </a:prstGeom>
        </p:spPr>
      </p:pic>
      <p:sp>
        <p:nvSpPr>
          <p:cNvPr id="43" name="Text 29"/>
          <p:cNvSpPr txBox="1"/>
          <p:nvPr/>
        </p:nvSpPr>
        <p:spPr>
          <a:xfrm>
            <a:off x="3593592" y="3191256"/>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CI/CD for models, data and prompts</a:t>
            </a:r>
            <a:endParaRPr lang="en-US" sz="950" dirty="0"/>
          </a:p>
        </p:txBody>
      </p:sp>
      <p:pic>
        <p:nvPicPr>
          <p:cNvPr id="44" name="Image 11" descr="preencoded.png"/>
          <p:cNvPicPr>
            <a:picLocks noChangeAspect="1"/>
          </p:cNvPicPr>
          <p:nvPr/>
        </p:nvPicPr>
        <p:blipFill>
          <a:blip r:embed="rId6"/>
          <a:stretch>
            <a:fillRect/>
          </a:stretch>
        </p:blipFill>
        <p:spPr>
          <a:xfrm>
            <a:off x="3383280" y="3611880"/>
            <a:ext cx="137160" cy="137160"/>
          </a:xfrm>
          <a:prstGeom prst="rect">
            <a:avLst/>
          </a:prstGeom>
        </p:spPr>
      </p:pic>
      <p:sp>
        <p:nvSpPr>
          <p:cNvPr id="45" name="Text 30"/>
          <p:cNvSpPr txBox="1"/>
          <p:nvPr/>
        </p:nvSpPr>
        <p:spPr>
          <a:xfrm>
            <a:off x="3593592" y="3584448"/>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AI security: prompt injection, leakage, supply chain</a:t>
            </a:r>
            <a:endParaRPr lang="en-US" sz="950" dirty="0"/>
          </a:p>
        </p:txBody>
      </p:sp>
      <p:sp>
        <p:nvSpPr>
          <p:cNvPr id="46" name="Shape 31"/>
          <p:cNvSpPr/>
          <p:nvPr/>
        </p:nvSpPr>
        <p:spPr>
          <a:xfrm>
            <a:off x="6035040" y="1371600"/>
            <a:ext cx="2651760" cy="2633472"/>
          </a:xfrm>
          <a:prstGeom prst="roundRect">
            <a:avLst>
              <a:gd name="adj" fmla="val 2778"/>
            </a:avLst>
          </a:prstGeom>
          <a:solidFill>
            <a:srgbClr val="F4F7F5"/>
          </a:solidFill>
          <a:ln w="9525">
            <a:solidFill>
              <a:srgbClr val="D5DED9"/>
            </a:solidFill>
            <a:prstDash val="solid"/>
          </a:ln>
        </p:spPr>
      </p:sp>
      <p:sp>
        <p:nvSpPr>
          <p:cNvPr id="47" name="Shape 32"/>
          <p:cNvSpPr/>
          <p:nvPr/>
        </p:nvSpPr>
        <p:spPr>
          <a:xfrm>
            <a:off x="6172200" y="1481328"/>
            <a:ext cx="402336" cy="402336"/>
          </a:xfrm>
          <a:prstGeom prst="ellipse">
            <a:avLst/>
          </a:prstGeom>
          <a:solidFill>
            <a:srgbClr val="D49A00"/>
          </a:solidFill>
          <a:ln/>
        </p:spPr>
      </p:sp>
      <p:pic>
        <p:nvPicPr>
          <p:cNvPr id="48" name="Image 12" descr="preencoded.png"/>
          <p:cNvPicPr>
            <a:picLocks noChangeAspect="1"/>
          </p:cNvPicPr>
          <p:nvPr/>
        </p:nvPicPr>
        <p:blipFill>
          <a:blip r:embed="rId7"/>
          <a:stretch>
            <a:fillRect/>
          </a:stretch>
        </p:blipFill>
        <p:spPr>
          <a:xfrm>
            <a:off x="6268761" y="1577889"/>
            <a:ext cx="209215" cy="209215"/>
          </a:xfrm>
          <a:prstGeom prst="rect">
            <a:avLst/>
          </a:prstGeom>
        </p:spPr>
      </p:pic>
      <p:sp>
        <p:nvSpPr>
          <p:cNvPr id="49" name="Text 33"/>
          <p:cNvSpPr txBox="1"/>
          <p:nvPr/>
        </p:nvSpPr>
        <p:spPr>
          <a:xfrm>
            <a:off x="6675120" y="1481328"/>
            <a:ext cx="1920240" cy="402336"/>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Management &amp; oversight</a:t>
            </a:r>
            <a:endParaRPr lang="en-US" sz="1200" dirty="0"/>
          </a:p>
        </p:txBody>
      </p:sp>
      <p:pic>
        <p:nvPicPr>
          <p:cNvPr id="50" name="Image 13" descr="preencoded.png"/>
          <p:cNvPicPr>
            <a:picLocks noChangeAspect="1"/>
          </p:cNvPicPr>
          <p:nvPr/>
        </p:nvPicPr>
        <p:blipFill>
          <a:blip r:embed="rId8"/>
          <a:stretch>
            <a:fillRect/>
          </a:stretch>
        </p:blipFill>
        <p:spPr>
          <a:xfrm>
            <a:off x="6172200" y="2039112"/>
            <a:ext cx="137160" cy="137160"/>
          </a:xfrm>
          <a:prstGeom prst="rect">
            <a:avLst/>
          </a:prstGeom>
        </p:spPr>
      </p:pic>
      <p:sp>
        <p:nvSpPr>
          <p:cNvPr id="51" name="Text 34"/>
          <p:cNvSpPr txBox="1"/>
          <p:nvPr/>
        </p:nvSpPr>
        <p:spPr>
          <a:xfrm>
            <a:off x="6382512" y="2011680"/>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What AI can and cannot do, without vendor framing</a:t>
            </a:r>
            <a:endParaRPr lang="en-US" sz="950" dirty="0"/>
          </a:p>
        </p:txBody>
      </p:sp>
      <p:pic>
        <p:nvPicPr>
          <p:cNvPr id="52" name="Image 14" descr="preencoded.png"/>
          <p:cNvPicPr>
            <a:picLocks noChangeAspect="1"/>
          </p:cNvPicPr>
          <p:nvPr/>
        </p:nvPicPr>
        <p:blipFill>
          <a:blip r:embed="rId8"/>
          <a:stretch>
            <a:fillRect/>
          </a:stretch>
        </p:blipFill>
        <p:spPr>
          <a:xfrm>
            <a:off x="6172200" y="2432304"/>
            <a:ext cx="137160" cy="137160"/>
          </a:xfrm>
          <a:prstGeom prst="rect">
            <a:avLst/>
          </a:prstGeom>
        </p:spPr>
      </p:pic>
      <p:sp>
        <p:nvSpPr>
          <p:cNvPr id="53" name="Text 35"/>
          <p:cNvSpPr txBox="1"/>
          <p:nvPr/>
        </p:nvSpPr>
        <p:spPr>
          <a:xfrm>
            <a:off x="6382512" y="2404872"/>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How to read an evaluation report</a:t>
            </a:r>
            <a:endParaRPr lang="en-US" sz="950" dirty="0"/>
          </a:p>
        </p:txBody>
      </p:sp>
      <p:pic>
        <p:nvPicPr>
          <p:cNvPr id="54" name="Image 15" descr="preencoded.png"/>
          <p:cNvPicPr>
            <a:picLocks noChangeAspect="1"/>
          </p:cNvPicPr>
          <p:nvPr/>
        </p:nvPicPr>
        <p:blipFill>
          <a:blip r:embed="rId8"/>
          <a:stretch>
            <a:fillRect/>
          </a:stretch>
        </p:blipFill>
        <p:spPr>
          <a:xfrm>
            <a:off x="6172200" y="2825496"/>
            <a:ext cx="137160" cy="137160"/>
          </a:xfrm>
          <a:prstGeom prst="rect">
            <a:avLst/>
          </a:prstGeom>
        </p:spPr>
      </p:pic>
      <p:sp>
        <p:nvSpPr>
          <p:cNvPr id="55" name="Text 36"/>
          <p:cNvSpPr txBox="1"/>
          <p:nvPr/>
        </p:nvSpPr>
        <p:spPr>
          <a:xfrm>
            <a:off x="6382512" y="2798064"/>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Which cost drivers actually move the total</a:t>
            </a:r>
            <a:endParaRPr lang="en-US" sz="950" dirty="0"/>
          </a:p>
        </p:txBody>
      </p:sp>
      <p:pic>
        <p:nvPicPr>
          <p:cNvPr id="56" name="Image 16" descr="preencoded.png"/>
          <p:cNvPicPr>
            <a:picLocks noChangeAspect="1"/>
          </p:cNvPicPr>
          <p:nvPr/>
        </p:nvPicPr>
        <p:blipFill>
          <a:blip r:embed="rId8"/>
          <a:stretch>
            <a:fillRect/>
          </a:stretch>
        </p:blipFill>
        <p:spPr>
          <a:xfrm>
            <a:off x="6172200" y="3218688"/>
            <a:ext cx="137160" cy="137160"/>
          </a:xfrm>
          <a:prstGeom prst="rect">
            <a:avLst/>
          </a:prstGeom>
        </p:spPr>
      </p:pic>
      <p:sp>
        <p:nvSpPr>
          <p:cNvPr id="57" name="Text 37"/>
          <p:cNvSpPr txBox="1"/>
          <p:nvPr/>
        </p:nvSpPr>
        <p:spPr>
          <a:xfrm>
            <a:off x="6382512" y="3191256"/>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Legal duties: confidentiality, data protection, transparency</a:t>
            </a:r>
            <a:endParaRPr lang="en-US" sz="950" dirty="0"/>
          </a:p>
        </p:txBody>
      </p:sp>
      <p:pic>
        <p:nvPicPr>
          <p:cNvPr id="58" name="Image 17" descr="preencoded.png"/>
          <p:cNvPicPr>
            <a:picLocks noChangeAspect="1"/>
          </p:cNvPicPr>
          <p:nvPr/>
        </p:nvPicPr>
        <p:blipFill>
          <a:blip r:embed="rId8"/>
          <a:stretch>
            <a:fillRect/>
          </a:stretch>
        </p:blipFill>
        <p:spPr>
          <a:xfrm>
            <a:off x="6172200" y="3611880"/>
            <a:ext cx="137160" cy="137160"/>
          </a:xfrm>
          <a:prstGeom prst="rect">
            <a:avLst/>
          </a:prstGeom>
        </p:spPr>
      </p:pic>
      <p:sp>
        <p:nvSpPr>
          <p:cNvPr id="59" name="Text 38"/>
          <p:cNvSpPr txBox="1"/>
          <p:nvPr/>
        </p:nvSpPr>
        <p:spPr>
          <a:xfrm>
            <a:off x="6382512" y="3584448"/>
            <a:ext cx="2167128" cy="39319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How and when to stop a project</a:t>
            </a:r>
            <a:endParaRPr lang="en-US" sz="950" dirty="0"/>
          </a:p>
        </p:txBody>
      </p:sp>
      <p:sp>
        <p:nvSpPr>
          <p:cNvPr id="60" name="Shape 39"/>
          <p:cNvSpPr/>
          <p:nvPr/>
        </p:nvSpPr>
        <p:spPr>
          <a:xfrm>
            <a:off x="457200" y="4114800"/>
            <a:ext cx="8229600" cy="475488"/>
          </a:xfrm>
          <a:prstGeom prst="roundRect">
            <a:avLst>
              <a:gd name="adj" fmla="val 11538"/>
            </a:avLst>
          </a:prstGeom>
          <a:solidFill>
            <a:srgbClr val="D49A00">
              <a:alpha val="13000"/>
            </a:srgbClr>
          </a:solidFill>
          <a:ln w="12700">
            <a:solidFill>
              <a:srgbClr val="D49A00"/>
            </a:solidFill>
            <a:prstDash val="solid"/>
          </a:ln>
        </p:spPr>
      </p:sp>
      <p:sp>
        <p:nvSpPr>
          <p:cNvPr id="61" name="Shape 40"/>
          <p:cNvSpPr/>
          <p:nvPr/>
        </p:nvSpPr>
        <p:spPr>
          <a:xfrm>
            <a:off x="566928" y="4206240"/>
            <a:ext cx="292608" cy="292608"/>
          </a:xfrm>
          <a:prstGeom prst="ellipse">
            <a:avLst/>
          </a:prstGeom>
          <a:solidFill>
            <a:srgbClr val="D49A00">
              <a:alpha val="22000"/>
            </a:srgbClr>
          </a:solidFill>
          <a:ln/>
        </p:spPr>
      </p:sp>
      <p:pic>
        <p:nvPicPr>
          <p:cNvPr id="62" name="Image 18" descr="preencoded.png"/>
          <p:cNvPicPr>
            <a:picLocks noChangeAspect="1"/>
          </p:cNvPicPr>
          <p:nvPr/>
        </p:nvPicPr>
        <p:blipFill>
          <a:blip r:embed="rId9"/>
          <a:stretch>
            <a:fillRect/>
          </a:stretch>
        </p:blipFill>
        <p:spPr>
          <a:xfrm>
            <a:off x="637154" y="4276466"/>
            <a:ext cx="152156" cy="152156"/>
          </a:xfrm>
          <a:prstGeom prst="rect">
            <a:avLst/>
          </a:prstGeom>
        </p:spPr>
      </p:pic>
      <p:sp>
        <p:nvSpPr>
          <p:cNvPr id="63" name="Text 41"/>
          <p:cNvSpPr txBox="1"/>
          <p:nvPr/>
        </p:nvSpPr>
        <p:spPr>
          <a:xfrm>
            <a:off x="960120" y="4114800"/>
            <a:ext cx="7589520" cy="475488"/>
          </a:xfrm>
          <a:prstGeom prst="rect">
            <a:avLst/>
          </a:prstGeom>
          <a:noFill/>
          <a:ln/>
        </p:spPr>
        <p:txBody>
          <a:bodyPr wrap="square" lIns="0" tIns="0" rIns="0" bIns="0" rtlCol="0" anchor="ctr"/>
          <a:lstStyle/>
          <a:p>
            <a:pPr marL="0" indent="0">
              <a:buNone/>
            </a:pPr>
            <a:r>
              <a:rPr lang="en-US" sz="1000" b="1" dirty="0">
                <a:solidFill>
                  <a:srgbClr val="8A6400"/>
                </a:solidFill>
                <a:latin typeface="Calibri" pitchFamily="34" charset="0"/>
                <a:ea typeface="Calibri" pitchFamily="34" charset="-122"/>
                <a:cs typeface="Calibri" pitchFamily="34" charset="-120"/>
              </a:rPr>
              <a:t>Format matters more than content.  </a:t>
            </a:r>
            <a:r>
              <a:rPr lang="en-US" sz="1000" dirty="0">
                <a:solidFill>
                  <a:srgbClr val="231F20"/>
                </a:solidFill>
                <a:latin typeface="Calibri" pitchFamily="34" charset="0"/>
                <a:ea typeface="Calibri" pitchFamily="34" charset="-122"/>
                <a:cs typeface="Calibri" pitchFamily="34" charset="-120"/>
              </a:rPr>
              <a:t>Generic online courses show low completion and little transfer. What works: learning tied to a real internal use case, with protected time, a mentor and a useful deliverable.</a:t>
            </a:r>
            <a:endParaRPr lang="en-US" sz="1000" dirty="0"/>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MATURITY</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A five-level maturity model</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Be honest about the starting point. Most statistical offices sit between levels 1 and 2</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58</a:t>
            </a:r>
            <a:endParaRPr lang="en-US" sz="850" dirty="0"/>
          </a:p>
        </p:txBody>
      </p:sp>
      <p:sp>
        <p:nvSpPr>
          <p:cNvPr id="18" name="Shape 15"/>
          <p:cNvSpPr/>
          <p:nvPr/>
        </p:nvSpPr>
        <p:spPr>
          <a:xfrm>
            <a:off x="457200" y="1810512"/>
            <a:ext cx="1554480" cy="566928"/>
          </a:xfrm>
          <a:prstGeom prst="roundRect">
            <a:avLst>
              <a:gd name="adj" fmla="val 9677"/>
            </a:avLst>
          </a:prstGeom>
          <a:solidFill>
            <a:srgbClr val="9ED9C0"/>
          </a:solidFill>
          <a:ln/>
        </p:spPr>
      </p:sp>
      <p:sp>
        <p:nvSpPr>
          <p:cNvPr id="19" name="Text 16"/>
          <p:cNvSpPr txBox="1"/>
          <p:nvPr/>
        </p:nvSpPr>
        <p:spPr>
          <a:xfrm>
            <a:off x="548640" y="1865376"/>
            <a:ext cx="1371600" cy="182880"/>
          </a:xfrm>
          <a:prstGeom prst="rect">
            <a:avLst/>
          </a:prstGeom>
          <a:noFill/>
          <a:ln/>
        </p:spPr>
        <p:txBody>
          <a:bodyPr wrap="square" lIns="0" tIns="0" rIns="0" bIns="0" rtlCol="0" anchor="t"/>
          <a:lstStyle/>
          <a:p>
            <a:pPr marL="0" indent="0">
              <a:buNone/>
            </a:pPr>
            <a:r>
              <a:rPr lang="en-US" sz="850" b="1" kern="0" spc="150" dirty="0">
                <a:solidFill>
                  <a:srgbClr val="231F20"/>
                </a:solidFill>
                <a:latin typeface="Calibri" pitchFamily="34" charset="0"/>
                <a:ea typeface="Calibri" pitchFamily="34" charset="-122"/>
                <a:cs typeface="Calibri" pitchFamily="34" charset="-120"/>
              </a:rPr>
              <a:t>LEVEL 1</a:t>
            </a:r>
            <a:endParaRPr lang="en-US" sz="850" dirty="0"/>
          </a:p>
        </p:txBody>
      </p:sp>
      <p:sp>
        <p:nvSpPr>
          <p:cNvPr id="20" name="Text 17"/>
          <p:cNvSpPr txBox="1"/>
          <p:nvPr/>
        </p:nvSpPr>
        <p:spPr>
          <a:xfrm>
            <a:off x="548640" y="2048256"/>
            <a:ext cx="137160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Ad hoc</a:t>
            </a:r>
            <a:endParaRPr lang="en-US" sz="1400" dirty="0"/>
          </a:p>
        </p:txBody>
      </p:sp>
      <p:sp>
        <p:nvSpPr>
          <p:cNvPr id="21" name="Shape 18"/>
          <p:cNvSpPr/>
          <p:nvPr/>
        </p:nvSpPr>
        <p:spPr>
          <a:xfrm>
            <a:off x="457200" y="2450592"/>
            <a:ext cx="1554480" cy="1527048"/>
          </a:xfrm>
          <a:prstGeom prst="roundRect">
            <a:avLst>
              <a:gd name="adj" fmla="val 4790"/>
            </a:avLst>
          </a:prstGeom>
          <a:solidFill>
            <a:srgbClr val="F4F7F5"/>
          </a:solidFill>
          <a:ln w="9525">
            <a:solidFill>
              <a:srgbClr val="D5DED9"/>
            </a:solidFill>
            <a:prstDash val="solid"/>
          </a:ln>
        </p:spPr>
      </p:sp>
      <p:sp>
        <p:nvSpPr>
          <p:cNvPr id="22" name="Text 19"/>
          <p:cNvSpPr txBox="1"/>
          <p:nvPr/>
        </p:nvSpPr>
        <p:spPr>
          <a:xfrm>
            <a:off x="548640" y="2523744"/>
            <a:ext cx="1371600" cy="91440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Individual experiments on personal machines; no shared environment.</a:t>
            </a:r>
            <a:endParaRPr lang="en-US" sz="900" dirty="0"/>
          </a:p>
        </p:txBody>
      </p:sp>
      <p:sp>
        <p:nvSpPr>
          <p:cNvPr id="23" name="Text 20"/>
          <p:cNvSpPr txBox="1"/>
          <p:nvPr/>
        </p:nvSpPr>
        <p:spPr>
          <a:xfrm>
            <a:off x="548640" y="3264408"/>
            <a:ext cx="1371600" cy="146304"/>
          </a:xfrm>
          <a:prstGeom prst="rect">
            <a:avLst/>
          </a:prstGeom>
          <a:noFill/>
          <a:ln/>
        </p:spPr>
        <p:txBody>
          <a:bodyPr wrap="square" lIns="0" tIns="0" rIns="0" bIns="0" rtlCol="0" anchor="t"/>
          <a:lstStyle/>
          <a:p>
            <a:pPr marL="0" indent="0">
              <a:buNone/>
            </a:pPr>
            <a:r>
              <a:rPr lang="en-US" sz="750" b="1" kern="0" spc="150" dirty="0">
                <a:solidFill>
                  <a:srgbClr val="5E6964"/>
                </a:solidFill>
                <a:latin typeface="Calibri" pitchFamily="34" charset="0"/>
                <a:ea typeface="Calibri" pitchFamily="34" charset="-122"/>
                <a:cs typeface="Calibri" pitchFamily="34" charset="-120"/>
              </a:rPr>
              <a:t>SIGNAL</a:t>
            </a:r>
            <a:endParaRPr lang="en-US" sz="750" dirty="0"/>
          </a:p>
        </p:txBody>
      </p:sp>
      <p:sp>
        <p:nvSpPr>
          <p:cNvPr id="24" name="Text 21"/>
          <p:cNvSpPr txBox="1"/>
          <p:nvPr/>
        </p:nvSpPr>
        <p:spPr>
          <a:xfrm>
            <a:off x="548640" y="3429000"/>
            <a:ext cx="1371600" cy="50292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Nobody can list what is running or who owns it.</a:t>
            </a:r>
            <a:endParaRPr lang="en-US" sz="900" dirty="0"/>
          </a:p>
        </p:txBody>
      </p:sp>
      <p:sp>
        <p:nvSpPr>
          <p:cNvPr id="25" name="Shape 22"/>
          <p:cNvSpPr/>
          <p:nvPr/>
        </p:nvSpPr>
        <p:spPr>
          <a:xfrm>
            <a:off x="2125980" y="1700784"/>
            <a:ext cx="1554480" cy="566928"/>
          </a:xfrm>
          <a:prstGeom prst="roundRect">
            <a:avLst>
              <a:gd name="adj" fmla="val 9677"/>
            </a:avLst>
          </a:prstGeom>
          <a:solidFill>
            <a:srgbClr val="57BD92"/>
          </a:solidFill>
          <a:ln/>
        </p:spPr>
      </p:sp>
      <p:sp>
        <p:nvSpPr>
          <p:cNvPr id="26" name="Text 23"/>
          <p:cNvSpPr txBox="1"/>
          <p:nvPr/>
        </p:nvSpPr>
        <p:spPr>
          <a:xfrm>
            <a:off x="2217420" y="1755648"/>
            <a:ext cx="1371600" cy="182880"/>
          </a:xfrm>
          <a:prstGeom prst="rect">
            <a:avLst/>
          </a:prstGeom>
          <a:noFill/>
          <a:ln/>
        </p:spPr>
        <p:txBody>
          <a:bodyPr wrap="square" lIns="0" tIns="0" rIns="0" bIns="0" rtlCol="0" anchor="t"/>
          <a:lstStyle/>
          <a:p>
            <a:pPr marL="0" indent="0">
              <a:buNone/>
            </a:pPr>
            <a:r>
              <a:rPr lang="en-US" sz="850" b="1" kern="0" spc="150" dirty="0">
                <a:solidFill>
                  <a:srgbClr val="231F20"/>
                </a:solidFill>
                <a:latin typeface="Calibri" pitchFamily="34" charset="0"/>
                <a:ea typeface="Calibri" pitchFamily="34" charset="-122"/>
                <a:cs typeface="Calibri" pitchFamily="34" charset="-120"/>
              </a:rPr>
              <a:t>LEVEL 2</a:t>
            </a:r>
            <a:endParaRPr lang="en-US" sz="850" dirty="0"/>
          </a:p>
        </p:txBody>
      </p:sp>
      <p:sp>
        <p:nvSpPr>
          <p:cNvPr id="27" name="Text 24"/>
          <p:cNvSpPr txBox="1"/>
          <p:nvPr/>
        </p:nvSpPr>
        <p:spPr>
          <a:xfrm>
            <a:off x="2217420" y="1938528"/>
            <a:ext cx="137160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Enabled</a:t>
            </a:r>
            <a:endParaRPr lang="en-US" sz="1400" dirty="0"/>
          </a:p>
        </p:txBody>
      </p:sp>
      <p:sp>
        <p:nvSpPr>
          <p:cNvPr id="28" name="Shape 25"/>
          <p:cNvSpPr/>
          <p:nvPr/>
        </p:nvSpPr>
        <p:spPr>
          <a:xfrm>
            <a:off x="2125980" y="2340864"/>
            <a:ext cx="1554480" cy="1636776"/>
          </a:xfrm>
          <a:prstGeom prst="roundRect">
            <a:avLst>
              <a:gd name="adj" fmla="val 4706"/>
            </a:avLst>
          </a:prstGeom>
          <a:solidFill>
            <a:srgbClr val="F4F7F5"/>
          </a:solidFill>
          <a:ln w="9525">
            <a:solidFill>
              <a:srgbClr val="D5DED9"/>
            </a:solidFill>
            <a:prstDash val="solid"/>
          </a:ln>
        </p:spPr>
      </p:sp>
      <p:sp>
        <p:nvSpPr>
          <p:cNvPr id="29" name="Text 26"/>
          <p:cNvSpPr txBox="1"/>
          <p:nvPr/>
        </p:nvSpPr>
        <p:spPr>
          <a:xfrm>
            <a:off x="2217420" y="2414016"/>
            <a:ext cx="1371600" cy="91440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A shared environment exists. Classification policy drafted. One pilot near production.</a:t>
            </a:r>
            <a:endParaRPr lang="en-US" sz="900" dirty="0"/>
          </a:p>
        </p:txBody>
      </p:sp>
      <p:sp>
        <p:nvSpPr>
          <p:cNvPr id="30" name="Text 27"/>
          <p:cNvSpPr txBox="1"/>
          <p:nvPr/>
        </p:nvSpPr>
        <p:spPr>
          <a:xfrm>
            <a:off x="2217420" y="3264408"/>
            <a:ext cx="1371600" cy="146304"/>
          </a:xfrm>
          <a:prstGeom prst="rect">
            <a:avLst/>
          </a:prstGeom>
          <a:noFill/>
          <a:ln/>
        </p:spPr>
        <p:txBody>
          <a:bodyPr wrap="square" lIns="0" tIns="0" rIns="0" bIns="0" rtlCol="0" anchor="t"/>
          <a:lstStyle/>
          <a:p>
            <a:pPr marL="0" indent="0">
              <a:buNone/>
            </a:pPr>
            <a:r>
              <a:rPr lang="en-US" sz="750" b="1" kern="0" spc="150" dirty="0">
                <a:solidFill>
                  <a:srgbClr val="5E6964"/>
                </a:solidFill>
                <a:latin typeface="Calibri" pitchFamily="34" charset="0"/>
                <a:ea typeface="Calibri" pitchFamily="34" charset="-122"/>
                <a:cs typeface="Calibri" pitchFamily="34" charset="-120"/>
              </a:rPr>
              <a:t>SIGNAL</a:t>
            </a:r>
            <a:endParaRPr lang="en-US" sz="750" dirty="0"/>
          </a:p>
        </p:txBody>
      </p:sp>
      <p:sp>
        <p:nvSpPr>
          <p:cNvPr id="31" name="Text 28"/>
          <p:cNvSpPr txBox="1"/>
          <p:nvPr/>
        </p:nvSpPr>
        <p:spPr>
          <a:xfrm>
            <a:off x="2217420" y="3429000"/>
            <a:ext cx="1371600" cy="50292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Governance is reinvented for every project.</a:t>
            </a:r>
            <a:endParaRPr lang="en-US" sz="900" dirty="0"/>
          </a:p>
        </p:txBody>
      </p:sp>
      <p:sp>
        <p:nvSpPr>
          <p:cNvPr id="32" name="Shape 29"/>
          <p:cNvSpPr/>
          <p:nvPr/>
        </p:nvSpPr>
        <p:spPr>
          <a:xfrm>
            <a:off x="3794760" y="1591056"/>
            <a:ext cx="1554480" cy="566928"/>
          </a:xfrm>
          <a:prstGeom prst="roundRect">
            <a:avLst>
              <a:gd name="adj" fmla="val 9677"/>
            </a:avLst>
          </a:prstGeom>
          <a:solidFill>
            <a:srgbClr val="10A06A"/>
          </a:solidFill>
          <a:ln/>
        </p:spPr>
      </p:sp>
      <p:sp>
        <p:nvSpPr>
          <p:cNvPr id="33" name="Text 30"/>
          <p:cNvSpPr txBox="1"/>
          <p:nvPr/>
        </p:nvSpPr>
        <p:spPr>
          <a:xfrm>
            <a:off x="3886200" y="1645920"/>
            <a:ext cx="1371600" cy="182880"/>
          </a:xfrm>
          <a:prstGeom prst="rect">
            <a:avLst/>
          </a:prstGeom>
          <a:noFill/>
          <a:ln/>
        </p:spPr>
        <p:txBody>
          <a:bodyPr wrap="square" lIns="0" tIns="0" rIns="0" bIns="0" rtlCol="0" anchor="t"/>
          <a:lstStyle/>
          <a:p>
            <a:pPr marL="0" indent="0">
              <a:buNone/>
            </a:pPr>
            <a:r>
              <a:rPr lang="en-US" sz="850" b="1" kern="0" spc="150" dirty="0">
                <a:solidFill>
                  <a:srgbClr val="FFFFFF"/>
                </a:solidFill>
                <a:latin typeface="Calibri" pitchFamily="34" charset="0"/>
                <a:ea typeface="Calibri" pitchFamily="34" charset="-122"/>
                <a:cs typeface="Calibri" pitchFamily="34" charset="-120"/>
              </a:rPr>
              <a:t>LEVEL 3</a:t>
            </a:r>
            <a:endParaRPr lang="en-US" sz="850" dirty="0"/>
          </a:p>
        </p:txBody>
      </p:sp>
      <p:sp>
        <p:nvSpPr>
          <p:cNvPr id="34" name="Text 31"/>
          <p:cNvSpPr txBox="1"/>
          <p:nvPr/>
        </p:nvSpPr>
        <p:spPr>
          <a:xfrm>
            <a:off x="3886200" y="1828800"/>
            <a:ext cx="137160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Repeatable</a:t>
            </a:r>
            <a:endParaRPr lang="en-US" sz="1400" dirty="0"/>
          </a:p>
        </p:txBody>
      </p:sp>
      <p:sp>
        <p:nvSpPr>
          <p:cNvPr id="35" name="Shape 32"/>
          <p:cNvSpPr/>
          <p:nvPr/>
        </p:nvSpPr>
        <p:spPr>
          <a:xfrm>
            <a:off x="3794760" y="2231136"/>
            <a:ext cx="1554480" cy="1746504"/>
          </a:xfrm>
          <a:prstGeom prst="roundRect">
            <a:avLst>
              <a:gd name="adj" fmla="val 4706"/>
            </a:avLst>
          </a:prstGeom>
          <a:solidFill>
            <a:srgbClr val="F8E9E7"/>
          </a:solidFill>
          <a:ln w="15875">
            <a:solidFill>
              <a:srgbClr val="B83B2E"/>
            </a:solidFill>
            <a:prstDash val="solid"/>
          </a:ln>
        </p:spPr>
      </p:sp>
      <p:sp>
        <p:nvSpPr>
          <p:cNvPr id="36" name="Text 33"/>
          <p:cNvSpPr txBox="1"/>
          <p:nvPr/>
        </p:nvSpPr>
        <p:spPr>
          <a:xfrm>
            <a:off x="3886200" y="2304288"/>
            <a:ext cx="1371600" cy="91440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Data platform, MLOps, model register, approval gate and evaluation harness in place.</a:t>
            </a:r>
            <a:endParaRPr lang="en-US" sz="900" dirty="0"/>
          </a:p>
        </p:txBody>
      </p:sp>
      <p:sp>
        <p:nvSpPr>
          <p:cNvPr id="37" name="Text 34"/>
          <p:cNvSpPr txBox="1"/>
          <p:nvPr/>
        </p:nvSpPr>
        <p:spPr>
          <a:xfrm>
            <a:off x="3886200" y="3264408"/>
            <a:ext cx="1371600" cy="146304"/>
          </a:xfrm>
          <a:prstGeom prst="rect">
            <a:avLst/>
          </a:prstGeom>
          <a:noFill/>
          <a:ln/>
        </p:spPr>
        <p:txBody>
          <a:bodyPr wrap="square" lIns="0" tIns="0" rIns="0" bIns="0" rtlCol="0" anchor="t"/>
          <a:lstStyle/>
          <a:p>
            <a:pPr marL="0" indent="0">
              <a:buNone/>
            </a:pPr>
            <a:r>
              <a:rPr lang="en-US" sz="750" b="1" kern="0" spc="150" dirty="0">
                <a:solidFill>
                  <a:srgbClr val="5E6964"/>
                </a:solidFill>
                <a:latin typeface="Calibri" pitchFamily="34" charset="0"/>
                <a:ea typeface="Calibri" pitchFamily="34" charset="-122"/>
                <a:cs typeface="Calibri" pitchFamily="34" charset="-120"/>
              </a:rPr>
              <a:t>SIGNAL</a:t>
            </a:r>
            <a:endParaRPr lang="en-US" sz="750" dirty="0"/>
          </a:p>
        </p:txBody>
      </p:sp>
      <p:sp>
        <p:nvSpPr>
          <p:cNvPr id="38" name="Text 35"/>
          <p:cNvSpPr txBox="1"/>
          <p:nvPr/>
        </p:nvSpPr>
        <p:spPr>
          <a:xfrm>
            <a:off x="3886200" y="3429000"/>
            <a:ext cx="1371600" cy="50292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A second team could repeat the first team's work.</a:t>
            </a:r>
            <a:endParaRPr lang="en-US" sz="900" dirty="0"/>
          </a:p>
        </p:txBody>
      </p:sp>
      <p:sp>
        <p:nvSpPr>
          <p:cNvPr id="39" name="Shape 36"/>
          <p:cNvSpPr/>
          <p:nvPr/>
        </p:nvSpPr>
        <p:spPr>
          <a:xfrm>
            <a:off x="5463540" y="1481328"/>
            <a:ext cx="1554480" cy="566928"/>
          </a:xfrm>
          <a:prstGeom prst="roundRect">
            <a:avLst>
              <a:gd name="adj" fmla="val 9677"/>
            </a:avLst>
          </a:prstGeom>
          <a:solidFill>
            <a:srgbClr val="008A5B"/>
          </a:solidFill>
          <a:ln/>
        </p:spPr>
      </p:sp>
      <p:sp>
        <p:nvSpPr>
          <p:cNvPr id="40" name="Text 37"/>
          <p:cNvSpPr txBox="1"/>
          <p:nvPr/>
        </p:nvSpPr>
        <p:spPr>
          <a:xfrm>
            <a:off x="5554980" y="1536192"/>
            <a:ext cx="1371600" cy="182880"/>
          </a:xfrm>
          <a:prstGeom prst="rect">
            <a:avLst/>
          </a:prstGeom>
          <a:noFill/>
          <a:ln/>
        </p:spPr>
        <p:txBody>
          <a:bodyPr wrap="square" lIns="0" tIns="0" rIns="0" bIns="0" rtlCol="0" anchor="t"/>
          <a:lstStyle/>
          <a:p>
            <a:pPr marL="0" indent="0">
              <a:buNone/>
            </a:pPr>
            <a:r>
              <a:rPr lang="en-US" sz="850" b="1" kern="0" spc="150" dirty="0">
                <a:solidFill>
                  <a:srgbClr val="FFFFFF"/>
                </a:solidFill>
                <a:latin typeface="Calibri" pitchFamily="34" charset="0"/>
                <a:ea typeface="Calibri" pitchFamily="34" charset="-122"/>
                <a:cs typeface="Calibri" pitchFamily="34" charset="-120"/>
              </a:rPr>
              <a:t>LEVEL 4</a:t>
            </a:r>
            <a:endParaRPr lang="en-US" sz="850" dirty="0"/>
          </a:p>
        </p:txBody>
      </p:sp>
      <p:sp>
        <p:nvSpPr>
          <p:cNvPr id="41" name="Text 38"/>
          <p:cNvSpPr txBox="1"/>
          <p:nvPr/>
        </p:nvSpPr>
        <p:spPr>
          <a:xfrm>
            <a:off x="5554980" y="1719072"/>
            <a:ext cx="137160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Managed</a:t>
            </a:r>
            <a:endParaRPr lang="en-US" sz="1400" dirty="0"/>
          </a:p>
        </p:txBody>
      </p:sp>
      <p:sp>
        <p:nvSpPr>
          <p:cNvPr id="42" name="Shape 39"/>
          <p:cNvSpPr/>
          <p:nvPr/>
        </p:nvSpPr>
        <p:spPr>
          <a:xfrm>
            <a:off x="5463540" y="2121408"/>
            <a:ext cx="1554480" cy="1856232"/>
          </a:xfrm>
          <a:prstGeom prst="roundRect">
            <a:avLst>
              <a:gd name="adj" fmla="val 4706"/>
            </a:avLst>
          </a:prstGeom>
          <a:solidFill>
            <a:srgbClr val="F4F7F5"/>
          </a:solidFill>
          <a:ln w="9525">
            <a:solidFill>
              <a:srgbClr val="D5DED9"/>
            </a:solidFill>
            <a:prstDash val="solid"/>
          </a:ln>
        </p:spPr>
      </p:sp>
      <p:sp>
        <p:nvSpPr>
          <p:cNvPr id="43" name="Text 40"/>
          <p:cNvSpPr txBox="1"/>
          <p:nvPr/>
        </p:nvSpPr>
        <p:spPr>
          <a:xfrm>
            <a:off x="5554980" y="2194560"/>
            <a:ext cx="1371600" cy="91440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Models monitored, revalidated and cost-attributed; AI built into the quality framework.</a:t>
            </a:r>
            <a:endParaRPr lang="en-US" sz="900" dirty="0"/>
          </a:p>
        </p:txBody>
      </p:sp>
      <p:sp>
        <p:nvSpPr>
          <p:cNvPr id="44" name="Text 41"/>
          <p:cNvSpPr txBox="1"/>
          <p:nvPr/>
        </p:nvSpPr>
        <p:spPr>
          <a:xfrm>
            <a:off x="5554980" y="3264408"/>
            <a:ext cx="1371600" cy="146304"/>
          </a:xfrm>
          <a:prstGeom prst="rect">
            <a:avLst/>
          </a:prstGeom>
          <a:noFill/>
          <a:ln/>
        </p:spPr>
        <p:txBody>
          <a:bodyPr wrap="square" lIns="0" tIns="0" rIns="0" bIns="0" rtlCol="0" anchor="t"/>
          <a:lstStyle/>
          <a:p>
            <a:pPr marL="0" indent="0">
              <a:buNone/>
            </a:pPr>
            <a:r>
              <a:rPr lang="en-US" sz="750" b="1" kern="0" spc="150" dirty="0">
                <a:solidFill>
                  <a:srgbClr val="5E6964"/>
                </a:solidFill>
                <a:latin typeface="Calibri" pitchFamily="34" charset="0"/>
                <a:ea typeface="Calibri" pitchFamily="34" charset="-122"/>
                <a:cs typeface="Calibri" pitchFamily="34" charset="-120"/>
              </a:rPr>
              <a:t>SIGNAL</a:t>
            </a:r>
            <a:endParaRPr lang="en-US" sz="750" dirty="0"/>
          </a:p>
        </p:txBody>
      </p:sp>
      <p:sp>
        <p:nvSpPr>
          <p:cNvPr id="45" name="Text 42"/>
          <p:cNvSpPr txBox="1"/>
          <p:nvPr/>
        </p:nvSpPr>
        <p:spPr>
          <a:xfrm>
            <a:off x="5554980" y="3429000"/>
            <a:ext cx="1371600" cy="50292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Drift and overspend are caught internally.</a:t>
            </a:r>
            <a:endParaRPr lang="en-US" sz="900" dirty="0"/>
          </a:p>
        </p:txBody>
      </p:sp>
      <p:sp>
        <p:nvSpPr>
          <p:cNvPr id="46" name="Shape 43"/>
          <p:cNvSpPr/>
          <p:nvPr/>
        </p:nvSpPr>
        <p:spPr>
          <a:xfrm>
            <a:off x="7132320" y="1371600"/>
            <a:ext cx="1554480" cy="566928"/>
          </a:xfrm>
          <a:prstGeom prst="roundRect">
            <a:avLst>
              <a:gd name="adj" fmla="val 9677"/>
            </a:avLst>
          </a:prstGeom>
          <a:solidFill>
            <a:srgbClr val="00553A"/>
          </a:solidFill>
          <a:ln/>
        </p:spPr>
      </p:sp>
      <p:sp>
        <p:nvSpPr>
          <p:cNvPr id="47" name="Text 44"/>
          <p:cNvSpPr txBox="1"/>
          <p:nvPr/>
        </p:nvSpPr>
        <p:spPr>
          <a:xfrm>
            <a:off x="7223760" y="1426464"/>
            <a:ext cx="1371600" cy="182880"/>
          </a:xfrm>
          <a:prstGeom prst="rect">
            <a:avLst/>
          </a:prstGeom>
          <a:noFill/>
          <a:ln/>
        </p:spPr>
        <p:txBody>
          <a:bodyPr wrap="square" lIns="0" tIns="0" rIns="0" bIns="0" rtlCol="0" anchor="t"/>
          <a:lstStyle/>
          <a:p>
            <a:pPr marL="0" indent="0">
              <a:buNone/>
            </a:pPr>
            <a:r>
              <a:rPr lang="en-US" sz="850" b="1" kern="0" spc="150" dirty="0">
                <a:solidFill>
                  <a:srgbClr val="FFFFFF"/>
                </a:solidFill>
                <a:latin typeface="Calibri" pitchFamily="34" charset="0"/>
                <a:ea typeface="Calibri" pitchFamily="34" charset="-122"/>
                <a:cs typeface="Calibri" pitchFamily="34" charset="-120"/>
              </a:rPr>
              <a:t>LEVEL 5</a:t>
            </a:r>
            <a:endParaRPr lang="en-US" sz="850" dirty="0"/>
          </a:p>
        </p:txBody>
      </p:sp>
      <p:sp>
        <p:nvSpPr>
          <p:cNvPr id="48" name="Text 45"/>
          <p:cNvSpPr txBox="1"/>
          <p:nvPr/>
        </p:nvSpPr>
        <p:spPr>
          <a:xfrm>
            <a:off x="7223760" y="1609344"/>
            <a:ext cx="137160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Optimised</a:t>
            </a:r>
            <a:endParaRPr lang="en-US" sz="1400" dirty="0"/>
          </a:p>
        </p:txBody>
      </p:sp>
      <p:sp>
        <p:nvSpPr>
          <p:cNvPr id="49" name="Shape 46"/>
          <p:cNvSpPr/>
          <p:nvPr/>
        </p:nvSpPr>
        <p:spPr>
          <a:xfrm>
            <a:off x="7132320" y="2011680"/>
            <a:ext cx="1554480" cy="1965960"/>
          </a:xfrm>
          <a:prstGeom prst="roundRect">
            <a:avLst>
              <a:gd name="adj" fmla="val 4706"/>
            </a:avLst>
          </a:prstGeom>
          <a:solidFill>
            <a:srgbClr val="F4F7F5"/>
          </a:solidFill>
          <a:ln w="9525">
            <a:solidFill>
              <a:srgbClr val="D5DED9"/>
            </a:solidFill>
            <a:prstDash val="solid"/>
          </a:ln>
        </p:spPr>
      </p:sp>
      <p:sp>
        <p:nvSpPr>
          <p:cNvPr id="50" name="Text 47"/>
          <p:cNvSpPr txBox="1"/>
          <p:nvPr/>
        </p:nvSpPr>
        <p:spPr>
          <a:xfrm>
            <a:off x="7223760" y="2084832"/>
            <a:ext cx="1371600" cy="91440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A routine capability. New use cases reach production in weeks; impact is measured.</a:t>
            </a:r>
            <a:endParaRPr lang="en-US" sz="900" dirty="0"/>
          </a:p>
        </p:txBody>
      </p:sp>
      <p:sp>
        <p:nvSpPr>
          <p:cNvPr id="51" name="Text 48"/>
          <p:cNvSpPr txBox="1"/>
          <p:nvPr/>
        </p:nvSpPr>
        <p:spPr>
          <a:xfrm>
            <a:off x="7223760" y="3264408"/>
            <a:ext cx="1371600" cy="146304"/>
          </a:xfrm>
          <a:prstGeom prst="rect">
            <a:avLst/>
          </a:prstGeom>
          <a:noFill/>
          <a:ln/>
        </p:spPr>
        <p:txBody>
          <a:bodyPr wrap="square" lIns="0" tIns="0" rIns="0" bIns="0" rtlCol="0" anchor="t"/>
          <a:lstStyle/>
          <a:p>
            <a:pPr marL="0" indent="0">
              <a:buNone/>
            </a:pPr>
            <a:r>
              <a:rPr lang="en-US" sz="750" b="1" kern="0" spc="150" dirty="0">
                <a:solidFill>
                  <a:srgbClr val="5E6964"/>
                </a:solidFill>
                <a:latin typeface="Calibri" pitchFamily="34" charset="0"/>
                <a:ea typeface="Calibri" pitchFamily="34" charset="-122"/>
                <a:cs typeface="Calibri" pitchFamily="34" charset="-120"/>
              </a:rPr>
              <a:t>SIGNAL</a:t>
            </a:r>
            <a:endParaRPr lang="en-US" sz="750" dirty="0"/>
          </a:p>
        </p:txBody>
      </p:sp>
      <p:sp>
        <p:nvSpPr>
          <p:cNvPr id="52" name="Text 49"/>
          <p:cNvSpPr txBox="1"/>
          <p:nvPr/>
        </p:nvSpPr>
        <p:spPr>
          <a:xfrm>
            <a:off x="7223760" y="3429000"/>
            <a:ext cx="1371600" cy="50292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AI is reported like any other process.</a:t>
            </a:r>
            <a:endParaRPr lang="en-US" sz="900" dirty="0"/>
          </a:p>
        </p:txBody>
      </p:sp>
      <p:sp>
        <p:nvSpPr>
          <p:cNvPr id="53" name="Shape 50"/>
          <p:cNvSpPr/>
          <p:nvPr/>
        </p:nvSpPr>
        <p:spPr>
          <a:xfrm>
            <a:off x="457200" y="4114800"/>
            <a:ext cx="8229600" cy="475488"/>
          </a:xfrm>
          <a:prstGeom prst="roundRect">
            <a:avLst>
              <a:gd name="adj" fmla="val 11538"/>
            </a:avLst>
          </a:prstGeom>
          <a:solidFill>
            <a:srgbClr val="E8F5EF"/>
          </a:solidFill>
          <a:ln w="15875">
            <a:solidFill>
              <a:srgbClr val="B83B2E"/>
            </a:solidFill>
            <a:prstDash val="solid"/>
          </a:ln>
        </p:spPr>
      </p:sp>
      <p:sp>
        <p:nvSpPr>
          <p:cNvPr id="54" name="Shape 51"/>
          <p:cNvSpPr/>
          <p:nvPr/>
        </p:nvSpPr>
        <p:spPr>
          <a:xfrm>
            <a:off x="566928" y="4206240"/>
            <a:ext cx="292608" cy="292608"/>
          </a:xfrm>
          <a:prstGeom prst="ellipse">
            <a:avLst/>
          </a:prstGeom>
          <a:solidFill>
            <a:srgbClr val="B83B2E">
              <a:alpha val="22000"/>
            </a:srgbClr>
          </a:solidFill>
          <a:ln/>
        </p:spPr>
      </p:sp>
      <p:pic>
        <p:nvPicPr>
          <p:cNvPr id="55" name="Image 0" descr="preencoded.png"/>
          <p:cNvPicPr>
            <a:picLocks noChangeAspect="1"/>
          </p:cNvPicPr>
          <p:nvPr/>
        </p:nvPicPr>
        <p:blipFill>
          <a:blip r:embed="rId3"/>
          <a:stretch>
            <a:fillRect/>
          </a:stretch>
        </p:blipFill>
        <p:spPr>
          <a:xfrm>
            <a:off x="637154" y="4276466"/>
            <a:ext cx="152156" cy="152156"/>
          </a:xfrm>
          <a:prstGeom prst="rect">
            <a:avLst/>
          </a:prstGeom>
        </p:spPr>
      </p:pic>
      <p:sp>
        <p:nvSpPr>
          <p:cNvPr id="56" name="Text 52"/>
          <p:cNvSpPr txBox="1"/>
          <p:nvPr/>
        </p:nvSpPr>
        <p:spPr>
          <a:xfrm>
            <a:off x="960120" y="4114800"/>
            <a:ext cx="7589520" cy="475488"/>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KEY POINT   </a:t>
            </a:r>
            <a:r>
              <a:rPr lang="en-US" sz="1000" dirty="0">
                <a:solidFill>
                  <a:srgbClr val="231F20"/>
                </a:solidFill>
                <a:latin typeface="Calibri" pitchFamily="34" charset="0"/>
                <a:ea typeface="Calibri" pitchFamily="34" charset="-122"/>
                <a:cs typeface="Calibri" pitchFamily="34" charset="-120"/>
              </a:rPr>
              <a:t>Assess against your weakest element, not your strongest. The jump from level 2 to 3 is the expensive one — it is where a pilot culture becomes an operating discipline.</a:t>
            </a:r>
            <a:endParaRPr lang="en-US" sz="1000" dirty="0"/>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SEQUENCING</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A 24-month roadmap with explicit gates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Do not begin a phase until the previous gate is genuinely met</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59</a:t>
            </a:r>
            <a:endParaRPr lang="en-US" sz="850" dirty="0"/>
          </a:p>
        </p:txBody>
      </p:sp>
      <p:sp>
        <p:nvSpPr>
          <p:cNvPr id="18" name="Shape 15"/>
          <p:cNvSpPr/>
          <p:nvPr/>
        </p:nvSpPr>
        <p:spPr>
          <a:xfrm>
            <a:off x="457200" y="1325880"/>
            <a:ext cx="1988820" cy="502920"/>
          </a:xfrm>
          <a:prstGeom prst="homePlate">
            <a:avLst/>
          </a:prstGeom>
          <a:solidFill>
            <a:srgbClr val="00A86A"/>
          </a:solidFill>
          <a:ln/>
        </p:spPr>
      </p:sp>
      <p:sp>
        <p:nvSpPr>
          <p:cNvPr id="19" name="Text 16"/>
          <p:cNvSpPr txBox="1"/>
          <p:nvPr/>
        </p:nvSpPr>
        <p:spPr>
          <a:xfrm>
            <a:off x="566928" y="1344168"/>
            <a:ext cx="1668780" cy="475488"/>
          </a:xfrm>
          <a:prstGeom prst="rect">
            <a:avLst/>
          </a:prstGeom>
          <a:noFill/>
          <a:ln/>
        </p:spPr>
        <p:txBody>
          <a:bodyPr wrap="square" lIns="0" tIns="0" rIns="0" bIns="0" rtlCol="0" anchor="ctr"/>
          <a:lstStyle/>
          <a:p>
            <a:pPr marL="0" indent="0">
              <a:buNone/>
            </a:pPr>
            <a:r>
              <a:rPr lang="en-US" sz="800" b="1" kern="0" spc="100" dirty="0">
                <a:solidFill>
                  <a:srgbClr val="F5C242"/>
                </a:solidFill>
                <a:latin typeface="Calibri" pitchFamily="34" charset="0"/>
                <a:ea typeface="Calibri" pitchFamily="34" charset="-122"/>
                <a:cs typeface="Calibri" pitchFamily="34" charset="-120"/>
              </a:rPr>
              <a:t>PHASE 0  ·  Months 0–3
</a:t>
            </a:r>
            <a:r>
              <a:rPr lang="en-US" sz="1250" b="1" dirty="0">
                <a:solidFill>
                  <a:srgbClr val="FFFFFF"/>
                </a:solidFill>
                <a:latin typeface="Calibri" pitchFamily="34" charset="0"/>
                <a:ea typeface="Calibri" pitchFamily="34" charset="-122"/>
                <a:cs typeface="Calibri" pitchFamily="34" charset="-120"/>
              </a:rPr>
              <a:t>Foundations</a:t>
            </a:r>
            <a:endParaRPr lang="en-US" sz="1100" dirty="0"/>
          </a:p>
        </p:txBody>
      </p:sp>
      <p:sp>
        <p:nvSpPr>
          <p:cNvPr id="20" name="Shape 17"/>
          <p:cNvSpPr/>
          <p:nvPr/>
        </p:nvSpPr>
        <p:spPr>
          <a:xfrm>
            <a:off x="457200" y="1901952"/>
            <a:ext cx="1915668" cy="1700784"/>
          </a:xfrm>
          <a:prstGeom prst="roundRect">
            <a:avLst>
              <a:gd name="adj" fmla="val 4301"/>
            </a:avLst>
          </a:prstGeom>
          <a:solidFill>
            <a:srgbClr val="F4F7F5"/>
          </a:solidFill>
          <a:ln w="9525">
            <a:solidFill>
              <a:srgbClr val="D5DED9"/>
            </a:solidFill>
            <a:prstDash val="solid"/>
          </a:ln>
        </p:spPr>
      </p:sp>
      <p:pic>
        <p:nvPicPr>
          <p:cNvPr id="21" name="Image 0" descr="preencoded.png"/>
          <p:cNvPicPr>
            <a:picLocks noChangeAspect="1"/>
          </p:cNvPicPr>
          <p:nvPr/>
        </p:nvPicPr>
        <p:blipFill>
          <a:blip r:embed="rId3"/>
          <a:stretch>
            <a:fillRect/>
          </a:stretch>
        </p:blipFill>
        <p:spPr>
          <a:xfrm>
            <a:off x="548640" y="2002536"/>
            <a:ext cx="137160" cy="137160"/>
          </a:xfrm>
          <a:prstGeom prst="rect">
            <a:avLst/>
          </a:prstGeom>
        </p:spPr>
      </p:pic>
      <p:sp>
        <p:nvSpPr>
          <p:cNvPr id="22" name="Text 18"/>
          <p:cNvSpPr txBox="1"/>
          <p:nvPr/>
        </p:nvSpPr>
        <p:spPr>
          <a:xfrm>
            <a:off x="758952" y="197510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Approve the classification crosswalk</a:t>
            </a:r>
            <a:endParaRPr lang="en-US" sz="900" dirty="0"/>
          </a:p>
        </p:txBody>
      </p:sp>
      <p:pic>
        <p:nvPicPr>
          <p:cNvPr id="23" name="Image 1" descr="preencoded.png"/>
          <p:cNvPicPr>
            <a:picLocks noChangeAspect="1"/>
          </p:cNvPicPr>
          <p:nvPr/>
        </p:nvPicPr>
        <p:blipFill>
          <a:blip r:embed="rId3"/>
          <a:stretch>
            <a:fillRect/>
          </a:stretch>
        </p:blipFill>
        <p:spPr>
          <a:xfrm>
            <a:off x="548640" y="2322576"/>
            <a:ext cx="137160" cy="137160"/>
          </a:xfrm>
          <a:prstGeom prst="rect">
            <a:avLst/>
          </a:prstGeom>
        </p:spPr>
      </p:pic>
      <p:sp>
        <p:nvSpPr>
          <p:cNvPr id="24" name="Text 19"/>
          <p:cNvSpPr txBox="1"/>
          <p:nvPr/>
        </p:nvSpPr>
        <p:spPr>
          <a:xfrm>
            <a:off x="758952" y="229514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Open the use-case register</a:t>
            </a:r>
            <a:endParaRPr lang="en-US" sz="900" dirty="0"/>
          </a:p>
        </p:txBody>
      </p:sp>
      <p:pic>
        <p:nvPicPr>
          <p:cNvPr id="25" name="Image 2" descr="preencoded.png"/>
          <p:cNvPicPr>
            <a:picLocks noChangeAspect="1"/>
          </p:cNvPicPr>
          <p:nvPr/>
        </p:nvPicPr>
        <p:blipFill>
          <a:blip r:embed="rId3"/>
          <a:stretch>
            <a:fillRect/>
          </a:stretch>
        </p:blipFill>
        <p:spPr>
          <a:xfrm>
            <a:off x="548640" y="2642616"/>
            <a:ext cx="137160" cy="137160"/>
          </a:xfrm>
          <a:prstGeom prst="rect">
            <a:avLst/>
          </a:prstGeom>
        </p:spPr>
      </p:pic>
      <p:sp>
        <p:nvSpPr>
          <p:cNvPr id="26" name="Text 20"/>
          <p:cNvSpPr txBox="1"/>
          <p:nvPr/>
        </p:nvSpPr>
        <p:spPr>
          <a:xfrm>
            <a:off x="758952" y="261518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Legal and data protection review</a:t>
            </a:r>
            <a:endParaRPr lang="en-US" sz="900" dirty="0"/>
          </a:p>
        </p:txBody>
      </p:sp>
      <p:pic>
        <p:nvPicPr>
          <p:cNvPr id="27" name="Image 3" descr="preencoded.png"/>
          <p:cNvPicPr>
            <a:picLocks noChangeAspect="1"/>
          </p:cNvPicPr>
          <p:nvPr/>
        </p:nvPicPr>
        <p:blipFill>
          <a:blip r:embed="rId3"/>
          <a:stretch>
            <a:fillRect/>
          </a:stretch>
        </p:blipFill>
        <p:spPr>
          <a:xfrm>
            <a:off x="548640" y="2962656"/>
            <a:ext cx="137160" cy="137160"/>
          </a:xfrm>
          <a:prstGeom prst="rect">
            <a:avLst/>
          </a:prstGeom>
        </p:spPr>
      </p:pic>
      <p:sp>
        <p:nvSpPr>
          <p:cNvPr id="28" name="Text 21"/>
          <p:cNvSpPr txBox="1"/>
          <p:nvPr/>
        </p:nvSpPr>
        <p:spPr>
          <a:xfrm>
            <a:off x="758952" y="293522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Skills baseline; name internal candidates</a:t>
            </a:r>
            <a:endParaRPr lang="en-US" sz="900" dirty="0"/>
          </a:p>
        </p:txBody>
      </p:sp>
      <p:pic>
        <p:nvPicPr>
          <p:cNvPr id="29" name="Image 4" descr="preencoded.png"/>
          <p:cNvPicPr>
            <a:picLocks noChangeAspect="1"/>
          </p:cNvPicPr>
          <p:nvPr/>
        </p:nvPicPr>
        <p:blipFill>
          <a:blip r:embed="rId3"/>
          <a:stretch>
            <a:fillRect/>
          </a:stretch>
        </p:blipFill>
        <p:spPr>
          <a:xfrm>
            <a:off x="548640" y="3282696"/>
            <a:ext cx="137160" cy="137160"/>
          </a:xfrm>
          <a:prstGeom prst="rect">
            <a:avLst/>
          </a:prstGeom>
        </p:spPr>
      </p:pic>
      <p:sp>
        <p:nvSpPr>
          <p:cNvPr id="30" name="Text 22"/>
          <p:cNvSpPr txBox="1"/>
          <p:nvPr/>
        </p:nvSpPr>
        <p:spPr>
          <a:xfrm>
            <a:off x="758952" y="325526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Pick two use cases with labelled data</a:t>
            </a:r>
            <a:endParaRPr lang="en-US" sz="900" dirty="0"/>
          </a:p>
        </p:txBody>
      </p:sp>
      <p:sp>
        <p:nvSpPr>
          <p:cNvPr id="31" name="Shape 23"/>
          <p:cNvSpPr/>
          <p:nvPr/>
        </p:nvSpPr>
        <p:spPr>
          <a:xfrm>
            <a:off x="457200" y="3675888"/>
            <a:ext cx="1915668" cy="475488"/>
          </a:xfrm>
          <a:prstGeom prst="roundRect">
            <a:avLst>
              <a:gd name="adj" fmla="val 9615"/>
            </a:avLst>
          </a:prstGeom>
          <a:solidFill>
            <a:srgbClr val="F5C242">
              <a:alpha val="25000"/>
            </a:srgbClr>
          </a:solidFill>
          <a:ln w="12700">
            <a:solidFill>
              <a:srgbClr val="D49A00"/>
            </a:solidFill>
            <a:prstDash val="solid"/>
          </a:ln>
        </p:spPr>
      </p:sp>
      <p:sp>
        <p:nvSpPr>
          <p:cNvPr id="32" name="Text 24"/>
          <p:cNvSpPr txBox="1"/>
          <p:nvPr/>
        </p:nvSpPr>
        <p:spPr>
          <a:xfrm>
            <a:off x="548640" y="3675888"/>
            <a:ext cx="1751076" cy="475488"/>
          </a:xfrm>
          <a:prstGeom prst="rect">
            <a:avLst/>
          </a:prstGeom>
          <a:noFill/>
          <a:ln/>
        </p:spPr>
        <p:txBody>
          <a:bodyPr wrap="square" lIns="0" tIns="0" rIns="0" bIns="0" rtlCol="0" anchor="ctr"/>
          <a:lstStyle/>
          <a:p>
            <a:pPr marL="0" indent="0">
              <a:buNone/>
            </a:pPr>
            <a:r>
              <a:rPr lang="en-US" sz="800" b="1" dirty="0">
                <a:solidFill>
                  <a:srgbClr val="8A6400"/>
                </a:solidFill>
                <a:latin typeface="Calibri" pitchFamily="34" charset="0"/>
                <a:ea typeface="Calibri" pitchFamily="34" charset="-122"/>
                <a:cs typeface="Calibri" pitchFamily="34" charset="-120"/>
              </a:rPr>
              <a:t>GATE  </a:t>
            </a:r>
            <a:r>
              <a:rPr lang="en-US" sz="900" b="1" dirty="0">
                <a:solidFill>
                  <a:srgbClr val="231F20"/>
                </a:solidFill>
                <a:latin typeface="Calibri" pitchFamily="34" charset="0"/>
                <a:ea typeface="Calibri" pitchFamily="34" charset="-122"/>
                <a:cs typeface="Calibri" pitchFamily="34" charset="-120"/>
              </a:rPr>
              <a:t>Crosswalk signed; two testable use cases named</a:t>
            </a:r>
            <a:endParaRPr lang="en-US" sz="900" dirty="0"/>
          </a:p>
        </p:txBody>
      </p:sp>
      <p:sp>
        <p:nvSpPr>
          <p:cNvPr id="33" name="Shape 25"/>
          <p:cNvSpPr/>
          <p:nvPr/>
        </p:nvSpPr>
        <p:spPr>
          <a:xfrm>
            <a:off x="2537460" y="1325880"/>
            <a:ext cx="1988820" cy="502920"/>
          </a:xfrm>
          <a:prstGeom prst="homePlate">
            <a:avLst/>
          </a:prstGeom>
          <a:solidFill>
            <a:srgbClr val="00704A"/>
          </a:solidFill>
          <a:ln/>
        </p:spPr>
      </p:sp>
      <p:sp>
        <p:nvSpPr>
          <p:cNvPr id="34" name="Text 26"/>
          <p:cNvSpPr txBox="1"/>
          <p:nvPr/>
        </p:nvSpPr>
        <p:spPr>
          <a:xfrm>
            <a:off x="2647188" y="1344168"/>
            <a:ext cx="1668780" cy="475488"/>
          </a:xfrm>
          <a:prstGeom prst="rect">
            <a:avLst/>
          </a:prstGeom>
          <a:noFill/>
          <a:ln/>
        </p:spPr>
        <p:txBody>
          <a:bodyPr wrap="square" lIns="0" tIns="0" rIns="0" bIns="0" rtlCol="0" anchor="ctr"/>
          <a:lstStyle/>
          <a:p>
            <a:pPr marL="0" indent="0">
              <a:buNone/>
            </a:pPr>
            <a:r>
              <a:rPr lang="en-US" sz="800" b="1" kern="0" spc="100" dirty="0">
                <a:solidFill>
                  <a:srgbClr val="F5C242"/>
                </a:solidFill>
                <a:latin typeface="Calibri" pitchFamily="34" charset="0"/>
                <a:ea typeface="Calibri" pitchFamily="34" charset="-122"/>
                <a:cs typeface="Calibri" pitchFamily="34" charset="-120"/>
              </a:rPr>
              <a:t>PHASE 1  ·  Months 3–9
</a:t>
            </a:r>
            <a:r>
              <a:rPr lang="en-US" sz="1250" b="1" dirty="0">
                <a:solidFill>
                  <a:srgbClr val="FFFFFF"/>
                </a:solidFill>
                <a:latin typeface="Calibri" pitchFamily="34" charset="0"/>
                <a:ea typeface="Calibri" pitchFamily="34" charset="-122"/>
                <a:cs typeface="Calibri" pitchFamily="34" charset="-120"/>
              </a:rPr>
              <a:t>Minimum platform</a:t>
            </a:r>
            <a:endParaRPr lang="en-US" sz="1100" dirty="0"/>
          </a:p>
        </p:txBody>
      </p:sp>
      <p:sp>
        <p:nvSpPr>
          <p:cNvPr id="35" name="Shape 27"/>
          <p:cNvSpPr/>
          <p:nvPr/>
        </p:nvSpPr>
        <p:spPr>
          <a:xfrm>
            <a:off x="2537460" y="1901952"/>
            <a:ext cx="1915668" cy="1700784"/>
          </a:xfrm>
          <a:prstGeom prst="roundRect">
            <a:avLst>
              <a:gd name="adj" fmla="val 4301"/>
            </a:avLst>
          </a:prstGeom>
          <a:solidFill>
            <a:srgbClr val="F4F7F5"/>
          </a:solidFill>
          <a:ln w="9525">
            <a:solidFill>
              <a:srgbClr val="D5DED9"/>
            </a:solidFill>
            <a:prstDash val="solid"/>
          </a:ln>
        </p:spPr>
      </p:sp>
      <p:pic>
        <p:nvPicPr>
          <p:cNvPr id="36" name="Image 5" descr="preencoded.png"/>
          <p:cNvPicPr>
            <a:picLocks noChangeAspect="1"/>
          </p:cNvPicPr>
          <p:nvPr/>
        </p:nvPicPr>
        <p:blipFill>
          <a:blip r:embed="rId4"/>
          <a:stretch>
            <a:fillRect/>
          </a:stretch>
        </p:blipFill>
        <p:spPr>
          <a:xfrm>
            <a:off x="2628900" y="2002536"/>
            <a:ext cx="137160" cy="137160"/>
          </a:xfrm>
          <a:prstGeom prst="rect">
            <a:avLst/>
          </a:prstGeom>
        </p:spPr>
      </p:pic>
      <p:sp>
        <p:nvSpPr>
          <p:cNvPr id="37" name="Text 28"/>
          <p:cNvSpPr txBox="1"/>
          <p:nvPr/>
        </p:nvSpPr>
        <p:spPr>
          <a:xfrm>
            <a:off x="2839212" y="197510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Stand up DEV and TEST</a:t>
            </a:r>
            <a:endParaRPr lang="en-US" sz="900" dirty="0"/>
          </a:p>
        </p:txBody>
      </p:sp>
      <p:pic>
        <p:nvPicPr>
          <p:cNvPr id="38" name="Image 6" descr="preencoded.png"/>
          <p:cNvPicPr>
            <a:picLocks noChangeAspect="1"/>
          </p:cNvPicPr>
          <p:nvPr/>
        </p:nvPicPr>
        <p:blipFill>
          <a:blip r:embed="rId4"/>
          <a:stretch>
            <a:fillRect/>
          </a:stretch>
        </p:blipFill>
        <p:spPr>
          <a:xfrm>
            <a:off x="2628900" y="2322576"/>
            <a:ext cx="137160" cy="137160"/>
          </a:xfrm>
          <a:prstGeom prst="rect">
            <a:avLst/>
          </a:prstGeom>
        </p:spPr>
      </p:pic>
      <p:sp>
        <p:nvSpPr>
          <p:cNvPr id="39" name="Text 29"/>
          <p:cNvSpPr txBox="1"/>
          <p:nvPr/>
        </p:nvSpPr>
        <p:spPr>
          <a:xfrm>
            <a:off x="2839212" y="229514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Build the AI gateway: logs, quotas</a:t>
            </a:r>
            <a:endParaRPr lang="en-US" sz="900" dirty="0"/>
          </a:p>
        </p:txBody>
      </p:sp>
      <p:pic>
        <p:nvPicPr>
          <p:cNvPr id="40" name="Image 7" descr="preencoded.png"/>
          <p:cNvPicPr>
            <a:picLocks noChangeAspect="1"/>
          </p:cNvPicPr>
          <p:nvPr/>
        </p:nvPicPr>
        <p:blipFill>
          <a:blip r:embed="rId4"/>
          <a:stretch>
            <a:fillRect/>
          </a:stretch>
        </p:blipFill>
        <p:spPr>
          <a:xfrm>
            <a:off x="2628900" y="2642616"/>
            <a:ext cx="137160" cy="137160"/>
          </a:xfrm>
          <a:prstGeom prst="rect">
            <a:avLst/>
          </a:prstGeom>
        </p:spPr>
      </p:pic>
      <p:sp>
        <p:nvSpPr>
          <p:cNvPr id="41" name="Text 30"/>
          <p:cNvSpPr txBox="1"/>
          <p:nvPr/>
        </p:nvSpPr>
        <p:spPr>
          <a:xfrm>
            <a:off x="2839212" y="261518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Single sign-on and role mapping</a:t>
            </a:r>
            <a:endParaRPr lang="en-US" sz="900" dirty="0"/>
          </a:p>
        </p:txBody>
      </p:sp>
      <p:pic>
        <p:nvPicPr>
          <p:cNvPr id="42" name="Image 8" descr="preencoded.png"/>
          <p:cNvPicPr>
            <a:picLocks noChangeAspect="1"/>
          </p:cNvPicPr>
          <p:nvPr/>
        </p:nvPicPr>
        <p:blipFill>
          <a:blip r:embed="rId4"/>
          <a:stretch>
            <a:fillRect/>
          </a:stretch>
        </p:blipFill>
        <p:spPr>
          <a:xfrm>
            <a:off x="2628900" y="2962656"/>
            <a:ext cx="137160" cy="137160"/>
          </a:xfrm>
          <a:prstGeom prst="rect">
            <a:avLst/>
          </a:prstGeom>
        </p:spPr>
      </p:pic>
      <p:sp>
        <p:nvSpPr>
          <p:cNvPr id="43" name="Text 31"/>
          <p:cNvSpPr txBox="1"/>
          <p:nvPr/>
        </p:nvSpPr>
        <p:spPr>
          <a:xfrm>
            <a:off x="2839212" y="293522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Evaluation harness; gold standard frozen</a:t>
            </a:r>
            <a:endParaRPr lang="en-US" sz="900" dirty="0"/>
          </a:p>
        </p:txBody>
      </p:sp>
      <p:pic>
        <p:nvPicPr>
          <p:cNvPr id="44" name="Image 9" descr="preencoded.png"/>
          <p:cNvPicPr>
            <a:picLocks noChangeAspect="1"/>
          </p:cNvPicPr>
          <p:nvPr/>
        </p:nvPicPr>
        <p:blipFill>
          <a:blip r:embed="rId4"/>
          <a:stretch>
            <a:fillRect/>
          </a:stretch>
        </p:blipFill>
        <p:spPr>
          <a:xfrm>
            <a:off x="2628900" y="3282696"/>
            <a:ext cx="137160" cy="137160"/>
          </a:xfrm>
          <a:prstGeom prst="rect">
            <a:avLst/>
          </a:prstGeom>
        </p:spPr>
      </p:pic>
      <p:sp>
        <p:nvSpPr>
          <p:cNvPr id="45" name="Text 32"/>
          <p:cNvSpPr txBox="1"/>
          <p:nvPr/>
        </p:nvSpPr>
        <p:spPr>
          <a:xfrm>
            <a:off x="2839212" y="325526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First pilot reaches pre-production</a:t>
            </a:r>
            <a:endParaRPr lang="en-US" sz="900" dirty="0"/>
          </a:p>
        </p:txBody>
      </p:sp>
      <p:sp>
        <p:nvSpPr>
          <p:cNvPr id="46" name="Shape 33"/>
          <p:cNvSpPr/>
          <p:nvPr/>
        </p:nvSpPr>
        <p:spPr>
          <a:xfrm>
            <a:off x="2537460" y="3675888"/>
            <a:ext cx="1915668" cy="475488"/>
          </a:xfrm>
          <a:prstGeom prst="roundRect">
            <a:avLst>
              <a:gd name="adj" fmla="val 9615"/>
            </a:avLst>
          </a:prstGeom>
          <a:solidFill>
            <a:srgbClr val="F5C242">
              <a:alpha val="25000"/>
            </a:srgbClr>
          </a:solidFill>
          <a:ln w="12700">
            <a:solidFill>
              <a:srgbClr val="D49A00"/>
            </a:solidFill>
            <a:prstDash val="solid"/>
          </a:ln>
        </p:spPr>
      </p:sp>
      <p:sp>
        <p:nvSpPr>
          <p:cNvPr id="47" name="Text 34"/>
          <p:cNvSpPr txBox="1"/>
          <p:nvPr/>
        </p:nvSpPr>
        <p:spPr>
          <a:xfrm>
            <a:off x="2628900" y="3675888"/>
            <a:ext cx="1751076" cy="475488"/>
          </a:xfrm>
          <a:prstGeom prst="rect">
            <a:avLst/>
          </a:prstGeom>
          <a:noFill/>
          <a:ln/>
        </p:spPr>
        <p:txBody>
          <a:bodyPr wrap="square" lIns="0" tIns="0" rIns="0" bIns="0" rtlCol="0" anchor="ctr"/>
          <a:lstStyle/>
          <a:p>
            <a:pPr marL="0" indent="0">
              <a:buNone/>
            </a:pPr>
            <a:r>
              <a:rPr lang="en-US" sz="800" b="1" dirty="0">
                <a:solidFill>
                  <a:srgbClr val="8A6400"/>
                </a:solidFill>
                <a:latin typeface="Calibri" pitchFamily="34" charset="0"/>
                <a:ea typeface="Calibri" pitchFamily="34" charset="-122"/>
                <a:cs typeface="Calibri" pitchFamily="34" charset="-120"/>
              </a:rPr>
              <a:t>GATE  </a:t>
            </a:r>
            <a:r>
              <a:rPr lang="en-US" sz="900" b="1" dirty="0">
                <a:solidFill>
                  <a:srgbClr val="231F20"/>
                </a:solidFill>
                <a:latin typeface="Calibri" pitchFamily="34" charset="0"/>
                <a:ea typeface="Calibri" pitchFamily="34" charset="-122"/>
                <a:cs typeface="Calibri" pitchFamily="34" charset="-120"/>
              </a:rPr>
              <a:t>A pilot beat the human baseline</a:t>
            </a:r>
            <a:endParaRPr lang="en-US" sz="900" dirty="0"/>
          </a:p>
        </p:txBody>
      </p:sp>
      <p:sp>
        <p:nvSpPr>
          <p:cNvPr id="48" name="Shape 35"/>
          <p:cNvSpPr/>
          <p:nvPr/>
        </p:nvSpPr>
        <p:spPr>
          <a:xfrm>
            <a:off x="4617720" y="1325880"/>
            <a:ext cx="1988820" cy="502920"/>
          </a:xfrm>
          <a:prstGeom prst="homePlate">
            <a:avLst/>
          </a:prstGeom>
          <a:solidFill>
            <a:srgbClr val="0E7C86"/>
          </a:solidFill>
          <a:ln/>
        </p:spPr>
      </p:sp>
      <p:sp>
        <p:nvSpPr>
          <p:cNvPr id="49" name="Text 36"/>
          <p:cNvSpPr txBox="1"/>
          <p:nvPr/>
        </p:nvSpPr>
        <p:spPr>
          <a:xfrm>
            <a:off x="4727448" y="1344168"/>
            <a:ext cx="1668780" cy="475488"/>
          </a:xfrm>
          <a:prstGeom prst="rect">
            <a:avLst/>
          </a:prstGeom>
          <a:noFill/>
          <a:ln/>
        </p:spPr>
        <p:txBody>
          <a:bodyPr wrap="square" lIns="0" tIns="0" rIns="0" bIns="0" rtlCol="0" anchor="ctr"/>
          <a:lstStyle/>
          <a:p>
            <a:pPr marL="0" indent="0">
              <a:buNone/>
            </a:pPr>
            <a:r>
              <a:rPr lang="en-US" sz="800" b="1" kern="0" spc="100" dirty="0">
                <a:solidFill>
                  <a:srgbClr val="F5C242"/>
                </a:solidFill>
                <a:latin typeface="Calibri" pitchFamily="34" charset="0"/>
                <a:ea typeface="Calibri" pitchFamily="34" charset="-122"/>
                <a:cs typeface="Calibri" pitchFamily="34" charset="-120"/>
              </a:rPr>
              <a:t>PHASE 2  ·  Months 9–15
</a:t>
            </a:r>
            <a:r>
              <a:rPr lang="en-US" sz="1250" b="1" dirty="0">
                <a:solidFill>
                  <a:srgbClr val="FFFFFF"/>
                </a:solidFill>
                <a:latin typeface="Calibri" pitchFamily="34" charset="0"/>
                <a:ea typeface="Calibri" pitchFamily="34" charset="-122"/>
                <a:cs typeface="Calibri" pitchFamily="34" charset="-120"/>
              </a:rPr>
              <a:t>First production use</a:t>
            </a:r>
            <a:endParaRPr lang="en-US" sz="1100" dirty="0"/>
          </a:p>
        </p:txBody>
      </p:sp>
      <p:sp>
        <p:nvSpPr>
          <p:cNvPr id="50" name="Shape 37"/>
          <p:cNvSpPr/>
          <p:nvPr/>
        </p:nvSpPr>
        <p:spPr>
          <a:xfrm>
            <a:off x="4617720" y="1901952"/>
            <a:ext cx="1915668" cy="1700784"/>
          </a:xfrm>
          <a:prstGeom prst="roundRect">
            <a:avLst>
              <a:gd name="adj" fmla="val 4301"/>
            </a:avLst>
          </a:prstGeom>
          <a:solidFill>
            <a:srgbClr val="F4F7F5"/>
          </a:solidFill>
          <a:ln w="9525">
            <a:solidFill>
              <a:srgbClr val="D5DED9"/>
            </a:solidFill>
            <a:prstDash val="solid"/>
          </a:ln>
        </p:spPr>
      </p:sp>
      <p:pic>
        <p:nvPicPr>
          <p:cNvPr id="51" name="Image 10" descr="preencoded.png"/>
          <p:cNvPicPr>
            <a:picLocks noChangeAspect="1"/>
          </p:cNvPicPr>
          <p:nvPr/>
        </p:nvPicPr>
        <p:blipFill>
          <a:blip r:embed="rId5"/>
          <a:stretch>
            <a:fillRect/>
          </a:stretch>
        </p:blipFill>
        <p:spPr>
          <a:xfrm>
            <a:off x="4709160" y="2002536"/>
            <a:ext cx="137160" cy="137160"/>
          </a:xfrm>
          <a:prstGeom prst="rect">
            <a:avLst/>
          </a:prstGeom>
        </p:spPr>
      </p:pic>
      <p:sp>
        <p:nvSpPr>
          <p:cNvPr id="52" name="Text 38"/>
          <p:cNvSpPr txBox="1"/>
          <p:nvPr/>
        </p:nvSpPr>
        <p:spPr>
          <a:xfrm>
            <a:off x="4919472" y="197510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One classifier live with confidence routing</a:t>
            </a:r>
            <a:endParaRPr lang="en-US" sz="900" dirty="0"/>
          </a:p>
        </p:txBody>
      </p:sp>
      <p:pic>
        <p:nvPicPr>
          <p:cNvPr id="53" name="Image 11" descr="preencoded.png"/>
          <p:cNvPicPr>
            <a:picLocks noChangeAspect="1"/>
          </p:cNvPicPr>
          <p:nvPr/>
        </p:nvPicPr>
        <p:blipFill>
          <a:blip r:embed="rId5"/>
          <a:stretch>
            <a:fillRect/>
          </a:stretch>
        </p:blipFill>
        <p:spPr>
          <a:xfrm>
            <a:off x="4709160" y="2322576"/>
            <a:ext cx="137160" cy="137160"/>
          </a:xfrm>
          <a:prstGeom prst="rect">
            <a:avLst/>
          </a:prstGeom>
        </p:spPr>
      </p:pic>
      <p:sp>
        <p:nvSpPr>
          <p:cNvPr id="54" name="Text 39"/>
          <p:cNvSpPr txBox="1"/>
          <p:nvPr/>
        </p:nvSpPr>
        <p:spPr>
          <a:xfrm>
            <a:off x="4919472" y="229514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Model register and approval gate running</a:t>
            </a:r>
            <a:endParaRPr lang="en-US" sz="900" dirty="0"/>
          </a:p>
        </p:txBody>
      </p:sp>
      <p:pic>
        <p:nvPicPr>
          <p:cNvPr id="55" name="Image 12" descr="preencoded.png"/>
          <p:cNvPicPr>
            <a:picLocks noChangeAspect="1"/>
          </p:cNvPicPr>
          <p:nvPr/>
        </p:nvPicPr>
        <p:blipFill>
          <a:blip r:embed="rId5"/>
          <a:stretch>
            <a:fillRect/>
          </a:stretch>
        </p:blipFill>
        <p:spPr>
          <a:xfrm>
            <a:off x="4709160" y="2642616"/>
            <a:ext cx="137160" cy="137160"/>
          </a:xfrm>
          <a:prstGeom prst="rect">
            <a:avLst/>
          </a:prstGeom>
        </p:spPr>
      </p:pic>
      <p:sp>
        <p:nvSpPr>
          <p:cNvPr id="56" name="Text 40"/>
          <p:cNvSpPr txBox="1"/>
          <p:nvPr/>
        </p:nvSpPr>
        <p:spPr>
          <a:xfrm>
            <a:off x="4919472" y="261518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Drift monitoring and revalidation</a:t>
            </a:r>
            <a:endParaRPr lang="en-US" sz="900" dirty="0"/>
          </a:p>
        </p:txBody>
      </p:sp>
      <p:pic>
        <p:nvPicPr>
          <p:cNvPr id="57" name="Image 13" descr="preencoded.png"/>
          <p:cNvPicPr>
            <a:picLocks noChangeAspect="1"/>
          </p:cNvPicPr>
          <p:nvPr/>
        </p:nvPicPr>
        <p:blipFill>
          <a:blip r:embed="rId5"/>
          <a:stretch>
            <a:fillRect/>
          </a:stretch>
        </p:blipFill>
        <p:spPr>
          <a:xfrm>
            <a:off x="4709160" y="2962656"/>
            <a:ext cx="137160" cy="137160"/>
          </a:xfrm>
          <a:prstGeom prst="rect">
            <a:avLst/>
          </a:prstGeom>
        </p:spPr>
      </p:pic>
      <p:sp>
        <p:nvSpPr>
          <p:cNvPr id="58" name="Text 41"/>
          <p:cNvSpPr txBox="1"/>
          <p:nvPr/>
        </p:nvSpPr>
        <p:spPr>
          <a:xfrm>
            <a:off x="4919472" y="293522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Cost reporting by team</a:t>
            </a:r>
            <a:endParaRPr lang="en-US" sz="900" dirty="0"/>
          </a:p>
        </p:txBody>
      </p:sp>
      <p:pic>
        <p:nvPicPr>
          <p:cNvPr id="59" name="Image 14" descr="preencoded.png"/>
          <p:cNvPicPr>
            <a:picLocks noChangeAspect="1"/>
          </p:cNvPicPr>
          <p:nvPr/>
        </p:nvPicPr>
        <p:blipFill>
          <a:blip r:embed="rId5"/>
          <a:stretch>
            <a:fillRect/>
          </a:stretch>
        </p:blipFill>
        <p:spPr>
          <a:xfrm>
            <a:off x="4709160" y="3282696"/>
            <a:ext cx="137160" cy="137160"/>
          </a:xfrm>
          <a:prstGeom prst="rect">
            <a:avLst/>
          </a:prstGeom>
        </p:spPr>
      </p:pic>
      <p:sp>
        <p:nvSpPr>
          <p:cNvPr id="60" name="Text 42"/>
          <p:cNvSpPr txBox="1"/>
          <p:nvPr/>
        </p:nvSpPr>
        <p:spPr>
          <a:xfrm>
            <a:off x="4919472" y="325526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Training wave one delivered</a:t>
            </a:r>
            <a:endParaRPr lang="en-US" sz="900" dirty="0"/>
          </a:p>
        </p:txBody>
      </p:sp>
      <p:sp>
        <p:nvSpPr>
          <p:cNvPr id="61" name="Shape 43"/>
          <p:cNvSpPr/>
          <p:nvPr/>
        </p:nvSpPr>
        <p:spPr>
          <a:xfrm>
            <a:off x="4617720" y="3675888"/>
            <a:ext cx="1915668" cy="475488"/>
          </a:xfrm>
          <a:prstGeom prst="roundRect">
            <a:avLst>
              <a:gd name="adj" fmla="val 9615"/>
            </a:avLst>
          </a:prstGeom>
          <a:solidFill>
            <a:srgbClr val="F5C242">
              <a:alpha val="25000"/>
            </a:srgbClr>
          </a:solidFill>
          <a:ln w="12700">
            <a:solidFill>
              <a:srgbClr val="D49A00"/>
            </a:solidFill>
            <a:prstDash val="solid"/>
          </a:ln>
        </p:spPr>
      </p:sp>
      <p:sp>
        <p:nvSpPr>
          <p:cNvPr id="62" name="Text 44"/>
          <p:cNvSpPr txBox="1"/>
          <p:nvPr/>
        </p:nvSpPr>
        <p:spPr>
          <a:xfrm>
            <a:off x="4709160" y="3675888"/>
            <a:ext cx="1751076" cy="475488"/>
          </a:xfrm>
          <a:prstGeom prst="rect">
            <a:avLst/>
          </a:prstGeom>
          <a:noFill/>
          <a:ln/>
        </p:spPr>
        <p:txBody>
          <a:bodyPr wrap="square" lIns="0" tIns="0" rIns="0" bIns="0" rtlCol="0" anchor="ctr"/>
          <a:lstStyle/>
          <a:p>
            <a:pPr marL="0" indent="0">
              <a:buNone/>
            </a:pPr>
            <a:r>
              <a:rPr lang="en-US" sz="800" b="1" dirty="0">
                <a:solidFill>
                  <a:srgbClr val="8A6400"/>
                </a:solidFill>
                <a:latin typeface="Calibri" pitchFamily="34" charset="0"/>
                <a:ea typeface="Calibri" pitchFamily="34" charset="-122"/>
                <a:cs typeface="Calibri" pitchFamily="34" charset="-120"/>
              </a:rPr>
              <a:t>GATE  </a:t>
            </a:r>
            <a:r>
              <a:rPr lang="en-US" sz="900" b="1" dirty="0">
                <a:solidFill>
                  <a:srgbClr val="231F20"/>
                </a:solidFill>
                <a:latin typeface="Calibri" pitchFamily="34" charset="0"/>
                <a:ea typeface="Calibri" pitchFamily="34" charset="-122"/>
                <a:cs typeface="Calibri" pitchFamily="34" charset="-120"/>
              </a:rPr>
              <a:t>A published output uses the model; fallback tested</a:t>
            </a:r>
            <a:endParaRPr lang="en-US" sz="900" dirty="0"/>
          </a:p>
        </p:txBody>
      </p:sp>
      <p:sp>
        <p:nvSpPr>
          <p:cNvPr id="63" name="Shape 45"/>
          <p:cNvSpPr/>
          <p:nvPr/>
        </p:nvSpPr>
        <p:spPr>
          <a:xfrm>
            <a:off x="6697980" y="1325880"/>
            <a:ext cx="1988820" cy="502920"/>
          </a:xfrm>
          <a:prstGeom prst="homePlate">
            <a:avLst/>
          </a:prstGeom>
          <a:solidFill>
            <a:srgbClr val="00553A"/>
          </a:solidFill>
          <a:ln/>
        </p:spPr>
      </p:sp>
      <p:sp>
        <p:nvSpPr>
          <p:cNvPr id="64" name="Text 46"/>
          <p:cNvSpPr txBox="1"/>
          <p:nvPr/>
        </p:nvSpPr>
        <p:spPr>
          <a:xfrm>
            <a:off x="6807708" y="1344168"/>
            <a:ext cx="1668780" cy="475488"/>
          </a:xfrm>
          <a:prstGeom prst="rect">
            <a:avLst/>
          </a:prstGeom>
          <a:noFill/>
          <a:ln/>
        </p:spPr>
        <p:txBody>
          <a:bodyPr wrap="square" lIns="0" tIns="0" rIns="0" bIns="0" rtlCol="0" anchor="ctr"/>
          <a:lstStyle/>
          <a:p>
            <a:pPr marL="0" indent="0">
              <a:buNone/>
            </a:pPr>
            <a:r>
              <a:rPr lang="en-US" sz="800" b="1" kern="0" spc="100" dirty="0">
                <a:solidFill>
                  <a:srgbClr val="F5C242"/>
                </a:solidFill>
                <a:latin typeface="Calibri" pitchFamily="34" charset="0"/>
                <a:ea typeface="Calibri" pitchFamily="34" charset="-122"/>
                <a:cs typeface="Calibri" pitchFamily="34" charset="-120"/>
              </a:rPr>
              <a:t>PHASE 3  ·  Months 15–24
</a:t>
            </a:r>
            <a:r>
              <a:rPr lang="en-US" sz="1250" b="1" dirty="0">
                <a:solidFill>
                  <a:srgbClr val="FFFFFF"/>
                </a:solidFill>
                <a:latin typeface="Calibri" pitchFamily="34" charset="0"/>
                <a:ea typeface="Calibri" pitchFamily="34" charset="-122"/>
                <a:cs typeface="Calibri" pitchFamily="34" charset="-120"/>
              </a:rPr>
              <a:t>Scale &amp; consolidate</a:t>
            </a:r>
            <a:endParaRPr lang="en-US" sz="1100" dirty="0"/>
          </a:p>
        </p:txBody>
      </p:sp>
      <p:sp>
        <p:nvSpPr>
          <p:cNvPr id="65" name="Shape 47"/>
          <p:cNvSpPr/>
          <p:nvPr/>
        </p:nvSpPr>
        <p:spPr>
          <a:xfrm>
            <a:off x="6697980" y="1901952"/>
            <a:ext cx="1915668" cy="1700784"/>
          </a:xfrm>
          <a:prstGeom prst="roundRect">
            <a:avLst>
              <a:gd name="adj" fmla="val 4301"/>
            </a:avLst>
          </a:prstGeom>
          <a:solidFill>
            <a:srgbClr val="F4F7F5"/>
          </a:solidFill>
          <a:ln w="9525">
            <a:solidFill>
              <a:srgbClr val="D5DED9"/>
            </a:solidFill>
            <a:prstDash val="solid"/>
          </a:ln>
        </p:spPr>
      </p:sp>
      <p:pic>
        <p:nvPicPr>
          <p:cNvPr id="66" name="Image 15" descr="preencoded.png"/>
          <p:cNvPicPr>
            <a:picLocks noChangeAspect="1"/>
          </p:cNvPicPr>
          <p:nvPr/>
        </p:nvPicPr>
        <p:blipFill>
          <a:blip r:embed="rId6"/>
          <a:stretch>
            <a:fillRect/>
          </a:stretch>
        </p:blipFill>
        <p:spPr>
          <a:xfrm>
            <a:off x="6789420" y="2002536"/>
            <a:ext cx="137160" cy="137160"/>
          </a:xfrm>
          <a:prstGeom prst="rect">
            <a:avLst/>
          </a:prstGeom>
        </p:spPr>
      </p:pic>
      <p:sp>
        <p:nvSpPr>
          <p:cNvPr id="67" name="Text 48"/>
          <p:cNvSpPr txBox="1"/>
          <p:nvPr/>
        </p:nvSpPr>
        <p:spPr>
          <a:xfrm>
            <a:off x="6999732" y="197510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Second and third use cases live</a:t>
            </a:r>
            <a:endParaRPr lang="en-US" sz="900" dirty="0"/>
          </a:p>
        </p:txBody>
      </p:sp>
      <p:pic>
        <p:nvPicPr>
          <p:cNvPr id="68" name="Image 16" descr="preencoded.png"/>
          <p:cNvPicPr>
            <a:picLocks noChangeAspect="1"/>
          </p:cNvPicPr>
          <p:nvPr/>
        </p:nvPicPr>
        <p:blipFill>
          <a:blip r:embed="rId6"/>
          <a:stretch>
            <a:fillRect/>
          </a:stretch>
        </p:blipFill>
        <p:spPr>
          <a:xfrm>
            <a:off x="6789420" y="2322576"/>
            <a:ext cx="137160" cy="137160"/>
          </a:xfrm>
          <a:prstGeom prst="rect">
            <a:avLst/>
          </a:prstGeom>
        </p:spPr>
      </p:pic>
      <p:sp>
        <p:nvSpPr>
          <p:cNvPr id="69" name="Text 49"/>
          <p:cNvSpPr txBox="1"/>
          <p:nvPr/>
        </p:nvSpPr>
        <p:spPr>
          <a:xfrm>
            <a:off x="6999732" y="229514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T3 capability for microdata</a:t>
            </a:r>
            <a:endParaRPr lang="en-US" sz="900" dirty="0"/>
          </a:p>
        </p:txBody>
      </p:sp>
      <p:pic>
        <p:nvPicPr>
          <p:cNvPr id="70" name="Image 17" descr="preencoded.png"/>
          <p:cNvPicPr>
            <a:picLocks noChangeAspect="1"/>
          </p:cNvPicPr>
          <p:nvPr/>
        </p:nvPicPr>
        <p:blipFill>
          <a:blip r:embed="rId6"/>
          <a:stretch>
            <a:fillRect/>
          </a:stretch>
        </p:blipFill>
        <p:spPr>
          <a:xfrm>
            <a:off x="6789420" y="2642616"/>
            <a:ext cx="137160" cy="137160"/>
          </a:xfrm>
          <a:prstGeom prst="rect">
            <a:avLst/>
          </a:prstGeom>
        </p:spPr>
      </p:pic>
      <p:sp>
        <p:nvSpPr>
          <p:cNvPr id="71" name="Text 50"/>
          <p:cNvSpPr txBox="1"/>
          <p:nvPr/>
        </p:nvSpPr>
        <p:spPr>
          <a:xfrm>
            <a:off x="6999732" y="261518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Governance in the quality framework</a:t>
            </a:r>
            <a:endParaRPr lang="en-US" sz="900" dirty="0"/>
          </a:p>
        </p:txBody>
      </p:sp>
      <p:pic>
        <p:nvPicPr>
          <p:cNvPr id="72" name="Image 18" descr="preencoded.png"/>
          <p:cNvPicPr>
            <a:picLocks noChangeAspect="1"/>
          </p:cNvPicPr>
          <p:nvPr/>
        </p:nvPicPr>
        <p:blipFill>
          <a:blip r:embed="rId6"/>
          <a:stretch>
            <a:fillRect/>
          </a:stretch>
        </p:blipFill>
        <p:spPr>
          <a:xfrm>
            <a:off x="6789420" y="2962656"/>
            <a:ext cx="137160" cy="137160"/>
          </a:xfrm>
          <a:prstGeom prst="rect">
            <a:avLst/>
          </a:prstGeom>
        </p:spPr>
      </p:pic>
      <p:sp>
        <p:nvSpPr>
          <p:cNvPr id="73" name="Text 51"/>
          <p:cNvSpPr txBox="1"/>
          <p:nvPr/>
        </p:nvSpPr>
        <p:spPr>
          <a:xfrm>
            <a:off x="6999732" y="293522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Recurrent run and refresh funding</a:t>
            </a:r>
            <a:endParaRPr lang="en-US" sz="900" dirty="0"/>
          </a:p>
        </p:txBody>
      </p:sp>
      <p:pic>
        <p:nvPicPr>
          <p:cNvPr id="74" name="Image 19" descr="preencoded.png"/>
          <p:cNvPicPr>
            <a:picLocks noChangeAspect="1"/>
          </p:cNvPicPr>
          <p:nvPr/>
        </p:nvPicPr>
        <p:blipFill>
          <a:blip r:embed="rId6"/>
          <a:stretch>
            <a:fillRect/>
          </a:stretch>
        </p:blipFill>
        <p:spPr>
          <a:xfrm>
            <a:off x="6789420" y="3282696"/>
            <a:ext cx="137160" cy="137160"/>
          </a:xfrm>
          <a:prstGeom prst="rect">
            <a:avLst/>
          </a:prstGeom>
        </p:spPr>
      </p:pic>
      <p:sp>
        <p:nvSpPr>
          <p:cNvPr id="75" name="Text 52"/>
          <p:cNvSpPr txBox="1"/>
          <p:nvPr/>
        </p:nvSpPr>
        <p:spPr>
          <a:xfrm>
            <a:off x="6999732" y="3255264"/>
            <a:ext cx="1540764" cy="32004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Documentation that survives turnover</a:t>
            </a:r>
            <a:endParaRPr lang="en-US" sz="900" dirty="0"/>
          </a:p>
        </p:txBody>
      </p:sp>
      <p:sp>
        <p:nvSpPr>
          <p:cNvPr id="76" name="Shape 53"/>
          <p:cNvSpPr/>
          <p:nvPr/>
        </p:nvSpPr>
        <p:spPr>
          <a:xfrm>
            <a:off x="6697980" y="3675888"/>
            <a:ext cx="1915668" cy="475488"/>
          </a:xfrm>
          <a:prstGeom prst="roundRect">
            <a:avLst>
              <a:gd name="adj" fmla="val 9615"/>
            </a:avLst>
          </a:prstGeom>
          <a:solidFill>
            <a:srgbClr val="F5C242">
              <a:alpha val="25000"/>
            </a:srgbClr>
          </a:solidFill>
          <a:ln w="12700">
            <a:solidFill>
              <a:srgbClr val="D49A00"/>
            </a:solidFill>
            <a:prstDash val="solid"/>
          </a:ln>
        </p:spPr>
      </p:sp>
      <p:sp>
        <p:nvSpPr>
          <p:cNvPr id="77" name="Text 54"/>
          <p:cNvSpPr txBox="1"/>
          <p:nvPr/>
        </p:nvSpPr>
        <p:spPr>
          <a:xfrm>
            <a:off x="6789420" y="3675888"/>
            <a:ext cx="1751076" cy="475488"/>
          </a:xfrm>
          <a:prstGeom prst="rect">
            <a:avLst/>
          </a:prstGeom>
          <a:noFill/>
          <a:ln/>
        </p:spPr>
        <p:txBody>
          <a:bodyPr wrap="square" lIns="0" tIns="0" rIns="0" bIns="0" rtlCol="0" anchor="ctr"/>
          <a:lstStyle/>
          <a:p>
            <a:pPr marL="0" indent="0">
              <a:buNone/>
            </a:pPr>
            <a:r>
              <a:rPr lang="en-US" sz="800" b="1" dirty="0">
                <a:solidFill>
                  <a:srgbClr val="8A6400"/>
                </a:solidFill>
                <a:latin typeface="Calibri" pitchFamily="34" charset="0"/>
                <a:ea typeface="Calibri" pitchFamily="34" charset="-122"/>
                <a:cs typeface="Calibri" pitchFamily="34" charset="-120"/>
              </a:rPr>
              <a:t>GATE  </a:t>
            </a:r>
            <a:r>
              <a:rPr lang="en-US" sz="900" b="1" dirty="0">
                <a:solidFill>
                  <a:srgbClr val="231F20"/>
                </a:solidFill>
                <a:latin typeface="Calibri" pitchFamily="34" charset="0"/>
                <a:ea typeface="Calibri" pitchFamily="34" charset="-122"/>
                <a:cs typeface="Calibri" pitchFamily="34" charset="-120"/>
              </a:rPr>
              <a:t>Level 3 maturity shown across all elements</a:t>
            </a:r>
            <a:endParaRPr lang="en-US" sz="900" dirty="0"/>
          </a:p>
        </p:txBody>
      </p:sp>
      <p:sp>
        <p:nvSpPr>
          <p:cNvPr id="78" name="Shape 55"/>
          <p:cNvSpPr/>
          <p:nvPr/>
        </p:nvSpPr>
        <p:spPr>
          <a:xfrm>
            <a:off x="457200" y="4224528"/>
            <a:ext cx="8229600" cy="384048"/>
          </a:xfrm>
          <a:prstGeom prst="roundRect">
            <a:avLst>
              <a:gd name="adj" fmla="val 14286"/>
            </a:avLst>
          </a:prstGeom>
          <a:solidFill>
            <a:srgbClr val="E8F5EF"/>
          </a:solidFill>
          <a:ln w="15875">
            <a:solidFill>
              <a:srgbClr val="B83B2E"/>
            </a:solidFill>
            <a:prstDash val="solid"/>
          </a:ln>
        </p:spPr>
      </p:sp>
      <p:sp>
        <p:nvSpPr>
          <p:cNvPr id="79" name="Shape 56"/>
          <p:cNvSpPr/>
          <p:nvPr/>
        </p:nvSpPr>
        <p:spPr>
          <a:xfrm>
            <a:off x="566928" y="4270248"/>
            <a:ext cx="292608" cy="292608"/>
          </a:xfrm>
          <a:prstGeom prst="ellipse">
            <a:avLst/>
          </a:prstGeom>
          <a:solidFill>
            <a:srgbClr val="B83B2E">
              <a:alpha val="22000"/>
            </a:srgbClr>
          </a:solidFill>
          <a:ln/>
        </p:spPr>
      </p:sp>
      <p:pic>
        <p:nvPicPr>
          <p:cNvPr id="80" name="Image 20" descr="preencoded.png"/>
          <p:cNvPicPr>
            <a:picLocks noChangeAspect="1"/>
          </p:cNvPicPr>
          <p:nvPr/>
        </p:nvPicPr>
        <p:blipFill>
          <a:blip r:embed="rId7"/>
          <a:stretch>
            <a:fillRect/>
          </a:stretch>
        </p:blipFill>
        <p:spPr>
          <a:xfrm>
            <a:off x="637154" y="4340474"/>
            <a:ext cx="152156" cy="152156"/>
          </a:xfrm>
          <a:prstGeom prst="rect">
            <a:avLst/>
          </a:prstGeom>
        </p:spPr>
      </p:pic>
      <p:sp>
        <p:nvSpPr>
          <p:cNvPr id="81" name="Text 57"/>
          <p:cNvSpPr txBox="1"/>
          <p:nvPr/>
        </p:nvSpPr>
        <p:spPr>
          <a:xfrm>
            <a:off x="960120" y="4224528"/>
            <a:ext cx="7589520" cy="384048"/>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Phase 1 looks like infrastructure with nothing to show. Fund it anyway — every later phase depends on it. Timings are indicative.</a:t>
            </a:r>
            <a:endParaRPr lang="en-US" sz="1050" dirty="0"/>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WHAT TO AVOID</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Eight anti-patterns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Recognisable ways a well-intentioned AI programme in a statistical office fails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60</a:t>
            </a:r>
            <a:endParaRPr lang="en-US" sz="850" dirty="0"/>
          </a:p>
        </p:txBody>
      </p:sp>
      <p:sp>
        <p:nvSpPr>
          <p:cNvPr id="18" name="Shape 15"/>
          <p:cNvSpPr/>
          <p:nvPr/>
        </p:nvSpPr>
        <p:spPr>
          <a:xfrm>
            <a:off x="457200" y="1371600"/>
            <a:ext cx="1975104" cy="1271016"/>
          </a:xfrm>
          <a:prstGeom prst="roundRect">
            <a:avLst>
              <a:gd name="adj" fmla="val 5755"/>
            </a:avLst>
          </a:prstGeom>
          <a:solidFill>
            <a:srgbClr val="F4F7F5"/>
          </a:solidFill>
          <a:ln w="9525">
            <a:solidFill>
              <a:srgbClr val="D5DED9"/>
            </a:solidFill>
            <a:prstDash val="solid"/>
          </a:ln>
        </p:spPr>
      </p:sp>
      <p:sp>
        <p:nvSpPr>
          <p:cNvPr id="19" name="Shape 16"/>
          <p:cNvSpPr/>
          <p:nvPr/>
        </p:nvSpPr>
        <p:spPr>
          <a:xfrm>
            <a:off x="585216" y="1499616"/>
            <a:ext cx="310896" cy="310896"/>
          </a:xfrm>
          <a:prstGeom prst="ellipse">
            <a:avLst/>
          </a:prstGeom>
          <a:solidFill>
            <a:srgbClr val="B83B2E">
              <a:alpha val="22000"/>
            </a:srgbClr>
          </a:solidFill>
          <a:ln/>
        </p:spPr>
      </p:sp>
      <p:pic>
        <p:nvPicPr>
          <p:cNvPr id="20" name="Image 0" descr="preencoded.png"/>
          <p:cNvPicPr>
            <a:picLocks noChangeAspect="1"/>
          </p:cNvPicPr>
          <p:nvPr/>
        </p:nvPicPr>
        <p:blipFill>
          <a:blip r:embed="rId3"/>
          <a:stretch>
            <a:fillRect/>
          </a:stretch>
        </p:blipFill>
        <p:spPr>
          <a:xfrm>
            <a:off x="659831" y="1574231"/>
            <a:ext cx="161666" cy="161666"/>
          </a:xfrm>
          <a:prstGeom prst="rect">
            <a:avLst/>
          </a:prstGeom>
        </p:spPr>
      </p:pic>
      <p:sp>
        <p:nvSpPr>
          <p:cNvPr id="21" name="Text 17"/>
          <p:cNvSpPr txBox="1"/>
          <p:nvPr/>
        </p:nvSpPr>
        <p:spPr>
          <a:xfrm>
            <a:off x="1005840" y="1499616"/>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Hardware before use case</a:t>
            </a:r>
            <a:endParaRPr lang="en-US" sz="1100" dirty="0"/>
          </a:p>
        </p:txBody>
      </p:sp>
      <p:sp>
        <p:nvSpPr>
          <p:cNvPr id="22" name="Text 18"/>
          <p:cNvSpPr txBox="1"/>
          <p:nvPr/>
        </p:nvSpPr>
        <p:spPr>
          <a:xfrm>
            <a:off x="585216" y="1865376"/>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GPUs bought on a strategy document, idle for 18 months while the data platform is built.</a:t>
            </a:r>
            <a:endParaRPr lang="en-US" sz="950" dirty="0"/>
          </a:p>
        </p:txBody>
      </p:sp>
      <p:sp>
        <p:nvSpPr>
          <p:cNvPr id="23" name="Shape 19"/>
          <p:cNvSpPr/>
          <p:nvPr/>
        </p:nvSpPr>
        <p:spPr>
          <a:xfrm>
            <a:off x="2542032" y="1371600"/>
            <a:ext cx="1975104" cy="1271016"/>
          </a:xfrm>
          <a:prstGeom prst="roundRect">
            <a:avLst>
              <a:gd name="adj" fmla="val 5755"/>
            </a:avLst>
          </a:prstGeom>
          <a:solidFill>
            <a:srgbClr val="F4F7F5"/>
          </a:solidFill>
          <a:ln w="9525">
            <a:solidFill>
              <a:srgbClr val="D5DED9"/>
            </a:solidFill>
            <a:prstDash val="solid"/>
          </a:ln>
        </p:spPr>
      </p:sp>
      <p:sp>
        <p:nvSpPr>
          <p:cNvPr id="24" name="Shape 20"/>
          <p:cNvSpPr/>
          <p:nvPr/>
        </p:nvSpPr>
        <p:spPr>
          <a:xfrm>
            <a:off x="2670048" y="1499616"/>
            <a:ext cx="310896" cy="310896"/>
          </a:xfrm>
          <a:prstGeom prst="ellipse">
            <a:avLst/>
          </a:prstGeom>
          <a:solidFill>
            <a:srgbClr val="B83B2E">
              <a:alpha val="22000"/>
            </a:srgbClr>
          </a:solidFill>
          <a:ln/>
        </p:spPr>
      </p:sp>
      <p:pic>
        <p:nvPicPr>
          <p:cNvPr id="25" name="Image 1" descr="preencoded.png"/>
          <p:cNvPicPr>
            <a:picLocks noChangeAspect="1"/>
          </p:cNvPicPr>
          <p:nvPr/>
        </p:nvPicPr>
        <p:blipFill>
          <a:blip r:embed="rId4"/>
          <a:stretch>
            <a:fillRect/>
          </a:stretch>
        </p:blipFill>
        <p:spPr>
          <a:xfrm>
            <a:off x="2744663" y="1574231"/>
            <a:ext cx="161666" cy="161666"/>
          </a:xfrm>
          <a:prstGeom prst="rect">
            <a:avLst/>
          </a:prstGeom>
        </p:spPr>
      </p:pic>
      <p:sp>
        <p:nvSpPr>
          <p:cNvPr id="26" name="Text 21"/>
          <p:cNvSpPr txBox="1"/>
          <p:nvPr/>
        </p:nvSpPr>
        <p:spPr>
          <a:xfrm>
            <a:off x="3090672" y="1499616"/>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Hardest problem first</a:t>
            </a:r>
            <a:endParaRPr lang="en-US" sz="1100" dirty="0"/>
          </a:p>
        </p:txBody>
      </p:sp>
      <p:sp>
        <p:nvSpPr>
          <p:cNvPr id="27" name="Text 22"/>
          <p:cNvSpPr txBox="1"/>
          <p:nvPr/>
        </p:nvSpPr>
        <p:spPr>
          <a:xfrm>
            <a:off x="2670048" y="1865376"/>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Confidential microdata for a flagship statistic as the first attempt: every constraint at once.</a:t>
            </a:r>
            <a:endParaRPr lang="en-US" sz="950" dirty="0"/>
          </a:p>
        </p:txBody>
      </p:sp>
      <p:sp>
        <p:nvSpPr>
          <p:cNvPr id="28" name="Shape 23"/>
          <p:cNvSpPr/>
          <p:nvPr/>
        </p:nvSpPr>
        <p:spPr>
          <a:xfrm>
            <a:off x="4626864" y="1371600"/>
            <a:ext cx="1975104" cy="1271016"/>
          </a:xfrm>
          <a:prstGeom prst="roundRect">
            <a:avLst>
              <a:gd name="adj" fmla="val 5755"/>
            </a:avLst>
          </a:prstGeom>
          <a:solidFill>
            <a:srgbClr val="F4F7F5"/>
          </a:solidFill>
          <a:ln w="9525">
            <a:solidFill>
              <a:srgbClr val="D5DED9"/>
            </a:solidFill>
            <a:prstDash val="solid"/>
          </a:ln>
        </p:spPr>
      </p:sp>
      <p:sp>
        <p:nvSpPr>
          <p:cNvPr id="29" name="Shape 24"/>
          <p:cNvSpPr/>
          <p:nvPr/>
        </p:nvSpPr>
        <p:spPr>
          <a:xfrm>
            <a:off x="4754880" y="1499616"/>
            <a:ext cx="310896" cy="310896"/>
          </a:xfrm>
          <a:prstGeom prst="ellipse">
            <a:avLst/>
          </a:prstGeom>
          <a:solidFill>
            <a:srgbClr val="B83B2E">
              <a:alpha val="22000"/>
            </a:srgbClr>
          </a:solidFill>
          <a:ln/>
        </p:spPr>
      </p:sp>
      <p:pic>
        <p:nvPicPr>
          <p:cNvPr id="30" name="Image 2" descr="preencoded.png"/>
          <p:cNvPicPr>
            <a:picLocks noChangeAspect="1"/>
          </p:cNvPicPr>
          <p:nvPr/>
        </p:nvPicPr>
        <p:blipFill>
          <a:blip r:embed="rId5"/>
          <a:stretch>
            <a:fillRect/>
          </a:stretch>
        </p:blipFill>
        <p:spPr>
          <a:xfrm>
            <a:off x="4829495" y="1574231"/>
            <a:ext cx="161666" cy="161666"/>
          </a:xfrm>
          <a:prstGeom prst="rect">
            <a:avLst/>
          </a:prstGeom>
        </p:spPr>
      </p:pic>
      <p:sp>
        <p:nvSpPr>
          <p:cNvPr id="31" name="Text 25"/>
          <p:cNvSpPr txBox="1"/>
          <p:nvPr/>
        </p:nvSpPr>
        <p:spPr>
          <a:xfrm>
            <a:off x="5175504" y="1499616"/>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Strategy, no platform</a:t>
            </a:r>
            <a:endParaRPr lang="en-US" sz="1100" dirty="0"/>
          </a:p>
        </p:txBody>
      </p:sp>
      <p:sp>
        <p:nvSpPr>
          <p:cNvPr id="32" name="Text 26"/>
          <p:cNvSpPr txBox="1"/>
          <p:nvPr/>
        </p:nvSpPr>
        <p:spPr>
          <a:xfrm>
            <a:off x="4754880" y="1865376"/>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A well-received document and a steering group — but nowhere to build anything.</a:t>
            </a:r>
            <a:endParaRPr lang="en-US" sz="950" dirty="0"/>
          </a:p>
        </p:txBody>
      </p:sp>
      <p:sp>
        <p:nvSpPr>
          <p:cNvPr id="33" name="Shape 27"/>
          <p:cNvSpPr/>
          <p:nvPr/>
        </p:nvSpPr>
        <p:spPr>
          <a:xfrm>
            <a:off x="6711696" y="1371600"/>
            <a:ext cx="1975104" cy="1271016"/>
          </a:xfrm>
          <a:prstGeom prst="roundRect">
            <a:avLst>
              <a:gd name="adj" fmla="val 5755"/>
            </a:avLst>
          </a:prstGeom>
          <a:solidFill>
            <a:srgbClr val="F4F7F5"/>
          </a:solidFill>
          <a:ln w="9525">
            <a:solidFill>
              <a:srgbClr val="D5DED9"/>
            </a:solidFill>
            <a:prstDash val="solid"/>
          </a:ln>
        </p:spPr>
      </p:sp>
      <p:sp>
        <p:nvSpPr>
          <p:cNvPr id="34" name="Shape 28"/>
          <p:cNvSpPr/>
          <p:nvPr/>
        </p:nvSpPr>
        <p:spPr>
          <a:xfrm>
            <a:off x="6839712" y="1499616"/>
            <a:ext cx="310896" cy="310896"/>
          </a:xfrm>
          <a:prstGeom prst="ellipse">
            <a:avLst/>
          </a:prstGeom>
          <a:solidFill>
            <a:srgbClr val="B83B2E">
              <a:alpha val="22000"/>
            </a:srgbClr>
          </a:solidFill>
          <a:ln/>
        </p:spPr>
      </p:sp>
      <p:pic>
        <p:nvPicPr>
          <p:cNvPr id="35" name="Image 3" descr="preencoded.png"/>
          <p:cNvPicPr>
            <a:picLocks noChangeAspect="1"/>
          </p:cNvPicPr>
          <p:nvPr/>
        </p:nvPicPr>
        <p:blipFill>
          <a:blip r:embed="rId6"/>
          <a:stretch>
            <a:fillRect/>
          </a:stretch>
        </p:blipFill>
        <p:spPr>
          <a:xfrm>
            <a:off x="6914327" y="1574231"/>
            <a:ext cx="161666" cy="161666"/>
          </a:xfrm>
          <a:prstGeom prst="rect">
            <a:avLst/>
          </a:prstGeom>
        </p:spPr>
      </p:pic>
      <p:sp>
        <p:nvSpPr>
          <p:cNvPr id="36" name="Text 29"/>
          <p:cNvSpPr txBox="1"/>
          <p:nvPr/>
        </p:nvSpPr>
        <p:spPr>
          <a:xfrm>
            <a:off x="7260336" y="1499616"/>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The single hero</a:t>
            </a:r>
            <a:endParaRPr lang="en-US" sz="1100" dirty="0"/>
          </a:p>
        </p:txBody>
      </p:sp>
      <p:sp>
        <p:nvSpPr>
          <p:cNvPr id="37" name="Text 30"/>
          <p:cNvSpPr txBox="1"/>
          <p:nvPr/>
        </p:nvSpPr>
        <p:spPr>
          <a:xfrm>
            <a:off x="6839712" y="1865376"/>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One person understands the whole pipeline. A resignation letter becomes an outage.</a:t>
            </a:r>
            <a:endParaRPr lang="en-US" sz="950" dirty="0"/>
          </a:p>
        </p:txBody>
      </p:sp>
      <p:sp>
        <p:nvSpPr>
          <p:cNvPr id="38" name="Shape 31"/>
          <p:cNvSpPr/>
          <p:nvPr/>
        </p:nvSpPr>
        <p:spPr>
          <a:xfrm>
            <a:off x="457200" y="2752344"/>
            <a:ext cx="1975104" cy="1271016"/>
          </a:xfrm>
          <a:prstGeom prst="roundRect">
            <a:avLst>
              <a:gd name="adj" fmla="val 5755"/>
            </a:avLst>
          </a:prstGeom>
          <a:solidFill>
            <a:srgbClr val="F4F7F5"/>
          </a:solidFill>
          <a:ln w="9525">
            <a:solidFill>
              <a:srgbClr val="D5DED9"/>
            </a:solidFill>
            <a:prstDash val="solid"/>
          </a:ln>
        </p:spPr>
      </p:sp>
      <p:sp>
        <p:nvSpPr>
          <p:cNvPr id="39" name="Shape 32"/>
          <p:cNvSpPr/>
          <p:nvPr/>
        </p:nvSpPr>
        <p:spPr>
          <a:xfrm>
            <a:off x="585216" y="2880360"/>
            <a:ext cx="310896" cy="310896"/>
          </a:xfrm>
          <a:prstGeom prst="ellipse">
            <a:avLst/>
          </a:prstGeom>
          <a:solidFill>
            <a:srgbClr val="B83B2E">
              <a:alpha val="22000"/>
            </a:srgbClr>
          </a:solidFill>
          <a:ln/>
        </p:spPr>
      </p:sp>
      <p:pic>
        <p:nvPicPr>
          <p:cNvPr id="40" name="Image 4" descr="preencoded.png"/>
          <p:cNvPicPr>
            <a:picLocks noChangeAspect="1"/>
          </p:cNvPicPr>
          <p:nvPr/>
        </p:nvPicPr>
        <p:blipFill>
          <a:blip r:embed="rId7"/>
          <a:stretch>
            <a:fillRect/>
          </a:stretch>
        </p:blipFill>
        <p:spPr>
          <a:xfrm>
            <a:off x="659831" y="2954975"/>
            <a:ext cx="161666" cy="161666"/>
          </a:xfrm>
          <a:prstGeom prst="rect">
            <a:avLst/>
          </a:prstGeom>
        </p:spPr>
      </p:pic>
      <p:sp>
        <p:nvSpPr>
          <p:cNvPr id="41" name="Text 33"/>
          <p:cNvSpPr txBox="1"/>
          <p:nvPr/>
        </p:nvSpPr>
        <p:spPr>
          <a:xfrm>
            <a:off x="1005840" y="2880360"/>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Pilot purgatory</a:t>
            </a:r>
            <a:endParaRPr lang="en-US" sz="1100" dirty="0"/>
          </a:p>
        </p:txBody>
      </p:sp>
      <p:sp>
        <p:nvSpPr>
          <p:cNvPr id="42" name="Text 34"/>
          <p:cNvSpPr txBox="1"/>
          <p:nvPr/>
        </p:nvSpPr>
        <p:spPr>
          <a:xfrm>
            <a:off x="585216" y="3246120"/>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Proof of concept after proof of concept, applauded but never promoted to production.</a:t>
            </a:r>
            <a:endParaRPr lang="en-US" sz="950" dirty="0"/>
          </a:p>
        </p:txBody>
      </p:sp>
      <p:sp>
        <p:nvSpPr>
          <p:cNvPr id="43" name="Shape 35"/>
          <p:cNvSpPr/>
          <p:nvPr/>
        </p:nvSpPr>
        <p:spPr>
          <a:xfrm>
            <a:off x="2542032" y="2752344"/>
            <a:ext cx="1975104" cy="1271016"/>
          </a:xfrm>
          <a:prstGeom prst="roundRect">
            <a:avLst>
              <a:gd name="adj" fmla="val 5755"/>
            </a:avLst>
          </a:prstGeom>
          <a:solidFill>
            <a:srgbClr val="F4F7F5"/>
          </a:solidFill>
          <a:ln w="9525">
            <a:solidFill>
              <a:srgbClr val="D5DED9"/>
            </a:solidFill>
            <a:prstDash val="solid"/>
          </a:ln>
        </p:spPr>
      </p:sp>
      <p:sp>
        <p:nvSpPr>
          <p:cNvPr id="44" name="Shape 36"/>
          <p:cNvSpPr/>
          <p:nvPr/>
        </p:nvSpPr>
        <p:spPr>
          <a:xfrm>
            <a:off x="2670048" y="2880360"/>
            <a:ext cx="310896" cy="310896"/>
          </a:xfrm>
          <a:prstGeom prst="ellipse">
            <a:avLst/>
          </a:prstGeom>
          <a:solidFill>
            <a:srgbClr val="B83B2E">
              <a:alpha val="22000"/>
            </a:srgbClr>
          </a:solidFill>
          <a:ln/>
        </p:spPr>
      </p:sp>
      <p:pic>
        <p:nvPicPr>
          <p:cNvPr id="45" name="Image 5" descr="preencoded.png"/>
          <p:cNvPicPr>
            <a:picLocks noChangeAspect="1"/>
          </p:cNvPicPr>
          <p:nvPr/>
        </p:nvPicPr>
        <p:blipFill>
          <a:blip r:embed="rId8"/>
          <a:stretch>
            <a:fillRect/>
          </a:stretch>
        </p:blipFill>
        <p:spPr>
          <a:xfrm>
            <a:off x="2744663" y="2954975"/>
            <a:ext cx="161666" cy="161666"/>
          </a:xfrm>
          <a:prstGeom prst="rect">
            <a:avLst/>
          </a:prstGeom>
        </p:spPr>
      </p:pic>
      <p:sp>
        <p:nvSpPr>
          <p:cNvPr id="46" name="Text 37"/>
          <p:cNvSpPr txBox="1"/>
          <p:nvPr/>
        </p:nvSpPr>
        <p:spPr>
          <a:xfrm>
            <a:off x="3090672" y="2880360"/>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Governance afterwards</a:t>
            </a:r>
            <a:endParaRPr lang="en-US" sz="1100" dirty="0"/>
          </a:p>
        </p:txBody>
      </p:sp>
      <p:sp>
        <p:nvSpPr>
          <p:cNvPr id="47" name="Text 38"/>
          <p:cNvSpPr txBox="1"/>
          <p:nvPr/>
        </p:nvSpPr>
        <p:spPr>
          <a:xfrm>
            <a:off x="2670048" y="3246120"/>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Controls designed once the system is live can only be advisory — and cost more.</a:t>
            </a:r>
            <a:endParaRPr lang="en-US" sz="950" dirty="0"/>
          </a:p>
        </p:txBody>
      </p:sp>
      <p:sp>
        <p:nvSpPr>
          <p:cNvPr id="48" name="Shape 39"/>
          <p:cNvSpPr/>
          <p:nvPr/>
        </p:nvSpPr>
        <p:spPr>
          <a:xfrm>
            <a:off x="4626864" y="2752344"/>
            <a:ext cx="1975104" cy="1271016"/>
          </a:xfrm>
          <a:prstGeom prst="roundRect">
            <a:avLst>
              <a:gd name="adj" fmla="val 5755"/>
            </a:avLst>
          </a:prstGeom>
          <a:solidFill>
            <a:srgbClr val="F4F7F5"/>
          </a:solidFill>
          <a:ln w="9525">
            <a:solidFill>
              <a:srgbClr val="D5DED9"/>
            </a:solidFill>
            <a:prstDash val="solid"/>
          </a:ln>
        </p:spPr>
      </p:sp>
      <p:sp>
        <p:nvSpPr>
          <p:cNvPr id="49" name="Shape 40"/>
          <p:cNvSpPr/>
          <p:nvPr/>
        </p:nvSpPr>
        <p:spPr>
          <a:xfrm>
            <a:off x="4754880" y="2880360"/>
            <a:ext cx="310896" cy="310896"/>
          </a:xfrm>
          <a:prstGeom prst="ellipse">
            <a:avLst/>
          </a:prstGeom>
          <a:solidFill>
            <a:srgbClr val="B83B2E">
              <a:alpha val="22000"/>
            </a:srgbClr>
          </a:solidFill>
          <a:ln/>
        </p:spPr>
      </p:sp>
      <p:pic>
        <p:nvPicPr>
          <p:cNvPr id="50" name="Image 6" descr="preencoded.png"/>
          <p:cNvPicPr>
            <a:picLocks noChangeAspect="1"/>
          </p:cNvPicPr>
          <p:nvPr/>
        </p:nvPicPr>
        <p:blipFill>
          <a:blip r:embed="rId9"/>
          <a:stretch>
            <a:fillRect/>
          </a:stretch>
        </p:blipFill>
        <p:spPr>
          <a:xfrm>
            <a:off x="4829495" y="2954975"/>
            <a:ext cx="161666" cy="161666"/>
          </a:xfrm>
          <a:prstGeom prst="rect">
            <a:avLst/>
          </a:prstGeom>
        </p:spPr>
      </p:pic>
      <p:sp>
        <p:nvSpPr>
          <p:cNvPr id="51" name="Text 41"/>
          <p:cNvSpPr txBox="1"/>
          <p:nvPr/>
        </p:nvSpPr>
        <p:spPr>
          <a:xfrm>
            <a:off x="5175504" y="2880360"/>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Output treated as truth</a:t>
            </a:r>
            <a:endParaRPr lang="en-US" sz="1100" dirty="0"/>
          </a:p>
        </p:txBody>
      </p:sp>
      <p:sp>
        <p:nvSpPr>
          <p:cNvPr id="52" name="Text 42"/>
          <p:cNvSpPr txBox="1"/>
          <p:nvPr/>
        </p:nvSpPr>
        <p:spPr>
          <a:xfrm>
            <a:off x="4754880" y="3246120"/>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Generated answers enter a statistical product with no deterministic or human check.</a:t>
            </a:r>
            <a:endParaRPr lang="en-US" sz="950" dirty="0"/>
          </a:p>
        </p:txBody>
      </p:sp>
      <p:sp>
        <p:nvSpPr>
          <p:cNvPr id="53" name="Shape 43"/>
          <p:cNvSpPr/>
          <p:nvPr/>
        </p:nvSpPr>
        <p:spPr>
          <a:xfrm>
            <a:off x="6711696" y="2752344"/>
            <a:ext cx="1975104" cy="1271016"/>
          </a:xfrm>
          <a:prstGeom prst="roundRect">
            <a:avLst>
              <a:gd name="adj" fmla="val 5755"/>
            </a:avLst>
          </a:prstGeom>
          <a:solidFill>
            <a:srgbClr val="F4F7F5"/>
          </a:solidFill>
          <a:ln w="9525">
            <a:solidFill>
              <a:srgbClr val="D5DED9"/>
            </a:solidFill>
            <a:prstDash val="solid"/>
          </a:ln>
        </p:spPr>
      </p:sp>
      <p:sp>
        <p:nvSpPr>
          <p:cNvPr id="54" name="Shape 44"/>
          <p:cNvSpPr/>
          <p:nvPr/>
        </p:nvSpPr>
        <p:spPr>
          <a:xfrm>
            <a:off x="6839712" y="2880360"/>
            <a:ext cx="310896" cy="310896"/>
          </a:xfrm>
          <a:prstGeom prst="ellipse">
            <a:avLst/>
          </a:prstGeom>
          <a:solidFill>
            <a:srgbClr val="B83B2E">
              <a:alpha val="22000"/>
            </a:srgbClr>
          </a:solidFill>
          <a:ln/>
        </p:spPr>
      </p:sp>
      <p:pic>
        <p:nvPicPr>
          <p:cNvPr id="55" name="Image 7" descr="preencoded.png"/>
          <p:cNvPicPr>
            <a:picLocks noChangeAspect="1"/>
          </p:cNvPicPr>
          <p:nvPr/>
        </p:nvPicPr>
        <p:blipFill>
          <a:blip r:embed="rId10"/>
          <a:stretch>
            <a:fillRect/>
          </a:stretch>
        </p:blipFill>
        <p:spPr>
          <a:xfrm>
            <a:off x="6914327" y="2954975"/>
            <a:ext cx="161666" cy="161666"/>
          </a:xfrm>
          <a:prstGeom prst="rect">
            <a:avLst/>
          </a:prstGeom>
        </p:spPr>
      </p:pic>
      <p:sp>
        <p:nvSpPr>
          <p:cNvPr id="56" name="Text 45"/>
          <p:cNvSpPr txBox="1"/>
          <p:nvPr/>
        </p:nvSpPr>
        <p:spPr>
          <a:xfrm>
            <a:off x="7260336" y="2880360"/>
            <a:ext cx="1316736"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Measured against perfection</a:t>
            </a:r>
            <a:endParaRPr lang="en-US" sz="1100" dirty="0"/>
          </a:p>
        </p:txBody>
      </p:sp>
      <p:sp>
        <p:nvSpPr>
          <p:cNvPr id="57" name="Text 46"/>
          <p:cNvSpPr txBox="1"/>
          <p:nvPr/>
        </p:nvSpPr>
        <p:spPr>
          <a:xfrm>
            <a:off x="6839712" y="3246120"/>
            <a:ext cx="1719072" cy="72237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Rejecting a system better than the manual process, whose error rate was never measured.</a:t>
            </a:r>
            <a:endParaRPr lang="en-US" sz="950" dirty="0"/>
          </a:p>
        </p:txBody>
      </p:sp>
      <p:sp>
        <p:nvSpPr>
          <p:cNvPr id="58" name="Shape 47"/>
          <p:cNvSpPr/>
          <p:nvPr/>
        </p:nvSpPr>
        <p:spPr>
          <a:xfrm>
            <a:off x="457200" y="4133088"/>
            <a:ext cx="8229600" cy="457200"/>
          </a:xfrm>
          <a:prstGeom prst="roundRect">
            <a:avLst>
              <a:gd name="adj" fmla="val 12000"/>
            </a:avLst>
          </a:prstGeom>
          <a:solidFill>
            <a:srgbClr val="E8F5EF"/>
          </a:solidFill>
          <a:ln w="15875">
            <a:solidFill>
              <a:srgbClr val="B83B2E"/>
            </a:solidFill>
            <a:prstDash val="solid"/>
          </a:ln>
        </p:spPr>
      </p:sp>
      <p:sp>
        <p:nvSpPr>
          <p:cNvPr id="59" name="Shape 48"/>
          <p:cNvSpPr/>
          <p:nvPr/>
        </p:nvSpPr>
        <p:spPr>
          <a:xfrm>
            <a:off x="566928" y="4215384"/>
            <a:ext cx="292608" cy="292608"/>
          </a:xfrm>
          <a:prstGeom prst="ellipse">
            <a:avLst/>
          </a:prstGeom>
          <a:solidFill>
            <a:srgbClr val="B83B2E">
              <a:alpha val="22000"/>
            </a:srgbClr>
          </a:solidFill>
          <a:ln/>
        </p:spPr>
      </p:sp>
      <p:pic>
        <p:nvPicPr>
          <p:cNvPr id="60" name="Image 8" descr="preencoded.png"/>
          <p:cNvPicPr>
            <a:picLocks noChangeAspect="1"/>
          </p:cNvPicPr>
          <p:nvPr/>
        </p:nvPicPr>
        <p:blipFill>
          <a:blip r:embed="rId11"/>
          <a:stretch>
            <a:fillRect/>
          </a:stretch>
        </p:blipFill>
        <p:spPr>
          <a:xfrm>
            <a:off x="637154" y="4285610"/>
            <a:ext cx="152156" cy="152156"/>
          </a:xfrm>
          <a:prstGeom prst="rect">
            <a:avLst/>
          </a:prstGeom>
        </p:spPr>
      </p:pic>
      <p:sp>
        <p:nvSpPr>
          <p:cNvPr id="61" name="Text 49"/>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KEY POINT   </a:t>
            </a:r>
            <a:r>
              <a:rPr lang="en-US" sz="1050" dirty="0">
                <a:solidFill>
                  <a:srgbClr val="231F20"/>
                </a:solidFill>
                <a:latin typeface="Calibri" pitchFamily="34" charset="0"/>
                <a:ea typeface="Calibri" pitchFamily="34" charset="-122"/>
                <a:cs typeface="Calibri" pitchFamily="34" charset="-120"/>
              </a:rPr>
              <a:t>Seven of these eight are sequencing failures, not technology failures. The order of the work matters more than the choice of tools.</a:t>
            </a:r>
            <a:endParaRPr lang="en-US" sz="1050" dirty="0"/>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SELF-ASSESSMENT</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Readiness checklist</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Ten yes/no questions. Fewer than seven "yes" answers means you are not ready to scale beyond a pilot</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61</a:t>
            </a:r>
            <a:endParaRPr lang="en-US" sz="850" dirty="0"/>
          </a:p>
        </p:txBody>
      </p:sp>
      <p:sp>
        <p:nvSpPr>
          <p:cNvPr id="18" name="Shape 15"/>
          <p:cNvSpPr/>
          <p:nvPr/>
        </p:nvSpPr>
        <p:spPr>
          <a:xfrm>
            <a:off x="457200" y="1371600"/>
            <a:ext cx="3017520" cy="548640"/>
          </a:xfrm>
          <a:prstGeom prst="roundRect">
            <a:avLst>
              <a:gd name="adj" fmla="val 13333"/>
            </a:avLst>
          </a:prstGeom>
          <a:solidFill>
            <a:srgbClr val="F4F7F5"/>
          </a:solidFill>
          <a:ln w="9525">
            <a:solidFill>
              <a:srgbClr val="D5DED9"/>
            </a:solidFill>
            <a:prstDash val="solid"/>
          </a:ln>
        </p:spPr>
      </p:sp>
      <p:sp>
        <p:nvSpPr>
          <p:cNvPr id="19" name="Shape 16"/>
          <p:cNvSpPr/>
          <p:nvPr/>
        </p:nvSpPr>
        <p:spPr>
          <a:xfrm>
            <a:off x="566928" y="1508760"/>
            <a:ext cx="274320" cy="274320"/>
          </a:xfrm>
          <a:prstGeom prst="roundRect">
            <a:avLst>
              <a:gd name="adj" fmla="val 13333"/>
            </a:avLst>
          </a:prstGeom>
          <a:solidFill>
            <a:srgbClr val="FFFFFF"/>
          </a:solidFill>
          <a:ln w="15875">
            <a:solidFill>
              <a:srgbClr val="B83B2E"/>
            </a:solidFill>
            <a:prstDash val="solid"/>
          </a:ln>
        </p:spPr>
      </p:sp>
      <p:sp>
        <p:nvSpPr>
          <p:cNvPr id="20" name="Text 17"/>
          <p:cNvSpPr txBox="1"/>
          <p:nvPr/>
        </p:nvSpPr>
        <p:spPr>
          <a:xfrm>
            <a:off x="566928" y="150876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1</a:t>
            </a:r>
            <a:endParaRPr lang="en-US" sz="1000" dirty="0"/>
          </a:p>
        </p:txBody>
      </p:sp>
      <p:sp>
        <p:nvSpPr>
          <p:cNvPr id="21" name="Text 18"/>
          <p:cNvSpPr txBox="1"/>
          <p:nvPr/>
        </p:nvSpPr>
        <p:spPr>
          <a:xfrm>
            <a:off x="960120" y="1371600"/>
            <a:ext cx="242316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 classification crosswalk is approved, and staff can find it</a:t>
            </a:r>
            <a:endParaRPr lang="en-US" sz="1000" dirty="0"/>
          </a:p>
        </p:txBody>
      </p:sp>
      <p:sp>
        <p:nvSpPr>
          <p:cNvPr id="22" name="Shape 19"/>
          <p:cNvSpPr/>
          <p:nvPr/>
        </p:nvSpPr>
        <p:spPr>
          <a:xfrm>
            <a:off x="457200" y="2011680"/>
            <a:ext cx="3017520" cy="548640"/>
          </a:xfrm>
          <a:prstGeom prst="roundRect">
            <a:avLst>
              <a:gd name="adj" fmla="val 13333"/>
            </a:avLst>
          </a:prstGeom>
          <a:solidFill>
            <a:srgbClr val="F4F7F5"/>
          </a:solidFill>
          <a:ln w="9525">
            <a:solidFill>
              <a:srgbClr val="D5DED9"/>
            </a:solidFill>
            <a:prstDash val="solid"/>
          </a:ln>
        </p:spPr>
      </p:sp>
      <p:sp>
        <p:nvSpPr>
          <p:cNvPr id="23" name="Shape 20"/>
          <p:cNvSpPr/>
          <p:nvPr/>
        </p:nvSpPr>
        <p:spPr>
          <a:xfrm>
            <a:off x="566928" y="2148840"/>
            <a:ext cx="274320" cy="274320"/>
          </a:xfrm>
          <a:prstGeom prst="roundRect">
            <a:avLst>
              <a:gd name="adj" fmla="val 13333"/>
            </a:avLst>
          </a:prstGeom>
          <a:solidFill>
            <a:srgbClr val="FFFFFF"/>
          </a:solidFill>
          <a:ln w="15875">
            <a:solidFill>
              <a:srgbClr val="B83B2E"/>
            </a:solidFill>
            <a:prstDash val="solid"/>
          </a:ln>
        </p:spPr>
      </p:sp>
      <p:sp>
        <p:nvSpPr>
          <p:cNvPr id="24" name="Text 21"/>
          <p:cNvSpPr txBox="1"/>
          <p:nvPr/>
        </p:nvSpPr>
        <p:spPr>
          <a:xfrm>
            <a:off x="566928" y="214884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2</a:t>
            </a:r>
            <a:endParaRPr lang="en-US" sz="1000" dirty="0"/>
          </a:p>
        </p:txBody>
      </p:sp>
      <p:sp>
        <p:nvSpPr>
          <p:cNvPr id="25" name="Text 22"/>
          <p:cNvSpPr txBox="1"/>
          <p:nvPr/>
        </p:nvSpPr>
        <p:spPr>
          <a:xfrm>
            <a:off x="960120" y="2011680"/>
            <a:ext cx="242316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 governed data platform with catalogue and lineage exists</a:t>
            </a:r>
            <a:endParaRPr lang="en-US" sz="1000" dirty="0"/>
          </a:p>
        </p:txBody>
      </p:sp>
      <p:sp>
        <p:nvSpPr>
          <p:cNvPr id="26" name="Shape 23"/>
          <p:cNvSpPr/>
          <p:nvPr/>
        </p:nvSpPr>
        <p:spPr>
          <a:xfrm>
            <a:off x="457200" y="2651760"/>
            <a:ext cx="3017520" cy="548640"/>
          </a:xfrm>
          <a:prstGeom prst="roundRect">
            <a:avLst>
              <a:gd name="adj" fmla="val 13333"/>
            </a:avLst>
          </a:prstGeom>
          <a:solidFill>
            <a:srgbClr val="F4F7F5"/>
          </a:solidFill>
          <a:ln w="9525">
            <a:solidFill>
              <a:srgbClr val="D5DED9"/>
            </a:solidFill>
            <a:prstDash val="solid"/>
          </a:ln>
        </p:spPr>
      </p:sp>
      <p:sp>
        <p:nvSpPr>
          <p:cNvPr id="27" name="Shape 24"/>
          <p:cNvSpPr/>
          <p:nvPr/>
        </p:nvSpPr>
        <p:spPr>
          <a:xfrm>
            <a:off x="566928" y="2788920"/>
            <a:ext cx="274320" cy="274320"/>
          </a:xfrm>
          <a:prstGeom prst="roundRect">
            <a:avLst>
              <a:gd name="adj" fmla="val 13333"/>
            </a:avLst>
          </a:prstGeom>
          <a:solidFill>
            <a:srgbClr val="FFFFFF"/>
          </a:solidFill>
          <a:ln w="15875">
            <a:solidFill>
              <a:srgbClr val="B83B2E"/>
            </a:solidFill>
            <a:prstDash val="solid"/>
          </a:ln>
        </p:spPr>
      </p:sp>
      <p:sp>
        <p:nvSpPr>
          <p:cNvPr id="28" name="Text 25"/>
          <p:cNvSpPr txBox="1"/>
          <p:nvPr/>
        </p:nvSpPr>
        <p:spPr>
          <a:xfrm>
            <a:off x="566928" y="278892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3</a:t>
            </a:r>
            <a:endParaRPr lang="en-US" sz="1000" dirty="0"/>
          </a:p>
        </p:txBody>
      </p:sp>
      <p:sp>
        <p:nvSpPr>
          <p:cNvPr id="29" name="Text 26"/>
          <p:cNvSpPr txBox="1"/>
          <p:nvPr/>
        </p:nvSpPr>
        <p:spPr>
          <a:xfrm>
            <a:off x="960120" y="2651760"/>
            <a:ext cx="242316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 frozen gold-standard test set with a measured human baseline exists</a:t>
            </a:r>
            <a:endParaRPr lang="en-US" sz="1000" dirty="0"/>
          </a:p>
        </p:txBody>
      </p:sp>
      <p:sp>
        <p:nvSpPr>
          <p:cNvPr id="30" name="Shape 27"/>
          <p:cNvSpPr/>
          <p:nvPr/>
        </p:nvSpPr>
        <p:spPr>
          <a:xfrm>
            <a:off x="457200" y="3291840"/>
            <a:ext cx="3017520" cy="548640"/>
          </a:xfrm>
          <a:prstGeom prst="roundRect">
            <a:avLst>
              <a:gd name="adj" fmla="val 13333"/>
            </a:avLst>
          </a:prstGeom>
          <a:solidFill>
            <a:srgbClr val="F4F7F5"/>
          </a:solidFill>
          <a:ln w="9525">
            <a:solidFill>
              <a:srgbClr val="D5DED9"/>
            </a:solidFill>
            <a:prstDash val="solid"/>
          </a:ln>
        </p:spPr>
      </p:sp>
      <p:sp>
        <p:nvSpPr>
          <p:cNvPr id="31" name="Shape 28"/>
          <p:cNvSpPr/>
          <p:nvPr/>
        </p:nvSpPr>
        <p:spPr>
          <a:xfrm>
            <a:off x="566928" y="3429000"/>
            <a:ext cx="274320" cy="274320"/>
          </a:xfrm>
          <a:prstGeom prst="roundRect">
            <a:avLst>
              <a:gd name="adj" fmla="val 13333"/>
            </a:avLst>
          </a:prstGeom>
          <a:solidFill>
            <a:srgbClr val="FFFFFF"/>
          </a:solidFill>
          <a:ln w="15875">
            <a:solidFill>
              <a:srgbClr val="B83B2E"/>
            </a:solidFill>
            <a:prstDash val="solid"/>
          </a:ln>
        </p:spPr>
      </p:sp>
      <p:sp>
        <p:nvSpPr>
          <p:cNvPr id="32" name="Text 29"/>
          <p:cNvSpPr txBox="1"/>
          <p:nvPr/>
        </p:nvSpPr>
        <p:spPr>
          <a:xfrm>
            <a:off x="566928" y="342900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4</a:t>
            </a:r>
            <a:endParaRPr lang="en-US" sz="1000" dirty="0"/>
          </a:p>
        </p:txBody>
      </p:sp>
      <p:sp>
        <p:nvSpPr>
          <p:cNvPr id="33" name="Text 30"/>
          <p:cNvSpPr txBox="1"/>
          <p:nvPr/>
        </p:nvSpPr>
        <p:spPr>
          <a:xfrm>
            <a:off x="960120" y="3291840"/>
            <a:ext cx="242316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Every model call passes through one audited gateway</a:t>
            </a:r>
            <a:endParaRPr lang="en-US" sz="1000" dirty="0"/>
          </a:p>
        </p:txBody>
      </p:sp>
      <p:sp>
        <p:nvSpPr>
          <p:cNvPr id="34" name="Shape 31"/>
          <p:cNvSpPr/>
          <p:nvPr/>
        </p:nvSpPr>
        <p:spPr>
          <a:xfrm>
            <a:off x="457200" y="3931920"/>
            <a:ext cx="3017520" cy="548640"/>
          </a:xfrm>
          <a:prstGeom prst="roundRect">
            <a:avLst>
              <a:gd name="adj" fmla="val 13333"/>
            </a:avLst>
          </a:prstGeom>
          <a:solidFill>
            <a:srgbClr val="F4F7F5"/>
          </a:solidFill>
          <a:ln w="9525">
            <a:solidFill>
              <a:srgbClr val="D5DED9"/>
            </a:solidFill>
            <a:prstDash val="solid"/>
          </a:ln>
        </p:spPr>
      </p:sp>
      <p:sp>
        <p:nvSpPr>
          <p:cNvPr id="35" name="Shape 32"/>
          <p:cNvSpPr/>
          <p:nvPr/>
        </p:nvSpPr>
        <p:spPr>
          <a:xfrm>
            <a:off x="566928" y="4069080"/>
            <a:ext cx="274320" cy="274320"/>
          </a:xfrm>
          <a:prstGeom prst="roundRect">
            <a:avLst>
              <a:gd name="adj" fmla="val 13333"/>
            </a:avLst>
          </a:prstGeom>
          <a:solidFill>
            <a:srgbClr val="FFFFFF"/>
          </a:solidFill>
          <a:ln w="15875">
            <a:solidFill>
              <a:srgbClr val="B83B2E"/>
            </a:solidFill>
            <a:prstDash val="solid"/>
          </a:ln>
        </p:spPr>
      </p:sp>
      <p:sp>
        <p:nvSpPr>
          <p:cNvPr id="36" name="Text 33"/>
          <p:cNvSpPr txBox="1"/>
          <p:nvPr/>
        </p:nvSpPr>
        <p:spPr>
          <a:xfrm>
            <a:off x="566928" y="406908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5</a:t>
            </a:r>
            <a:endParaRPr lang="en-US" sz="1000" dirty="0"/>
          </a:p>
        </p:txBody>
      </p:sp>
      <p:sp>
        <p:nvSpPr>
          <p:cNvPr id="37" name="Text 34"/>
          <p:cNvSpPr txBox="1"/>
          <p:nvPr/>
        </p:nvSpPr>
        <p:spPr>
          <a:xfrm>
            <a:off x="960120" y="3931920"/>
            <a:ext cx="242316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DEV, TEST and PROD are separated, with named approvers</a:t>
            </a:r>
            <a:endParaRPr lang="en-US" sz="1000" dirty="0"/>
          </a:p>
        </p:txBody>
      </p:sp>
      <p:sp>
        <p:nvSpPr>
          <p:cNvPr id="38" name="Shape 35"/>
          <p:cNvSpPr/>
          <p:nvPr/>
        </p:nvSpPr>
        <p:spPr>
          <a:xfrm>
            <a:off x="3611880" y="1371600"/>
            <a:ext cx="3017520" cy="548640"/>
          </a:xfrm>
          <a:prstGeom prst="roundRect">
            <a:avLst>
              <a:gd name="adj" fmla="val 13333"/>
            </a:avLst>
          </a:prstGeom>
          <a:solidFill>
            <a:srgbClr val="F4F7F5"/>
          </a:solidFill>
          <a:ln w="9525">
            <a:solidFill>
              <a:srgbClr val="D5DED9"/>
            </a:solidFill>
            <a:prstDash val="solid"/>
          </a:ln>
        </p:spPr>
      </p:sp>
      <p:sp>
        <p:nvSpPr>
          <p:cNvPr id="39" name="Shape 36"/>
          <p:cNvSpPr/>
          <p:nvPr/>
        </p:nvSpPr>
        <p:spPr>
          <a:xfrm>
            <a:off x="3721608" y="1508760"/>
            <a:ext cx="274320" cy="274320"/>
          </a:xfrm>
          <a:prstGeom prst="roundRect">
            <a:avLst>
              <a:gd name="adj" fmla="val 13333"/>
            </a:avLst>
          </a:prstGeom>
          <a:solidFill>
            <a:srgbClr val="FFFFFF"/>
          </a:solidFill>
          <a:ln w="15875">
            <a:solidFill>
              <a:srgbClr val="B83B2E"/>
            </a:solidFill>
            <a:prstDash val="solid"/>
          </a:ln>
        </p:spPr>
      </p:sp>
      <p:sp>
        <p:nvSpPr>
          <p:cNvPr id="40" name="Text 37"/>
          <p:cNvSpPr txBox="1"/>
          <p:nvPr/>
        </p:nvSpPr>
        <p:spPr>
          <a:xfrm>
            <a:off x="3721608" y="150876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6</a:t>
            </a:r>
            <a:endParaRPr lang="en-US" sz="1000" dirty="0"/>
          </a:p>
        </p:txBody>
      </p:sp>
      <p:sp>
        <p:nvSpPr>
          <p:cNvPr id="41" name="Text 38"/>
          <p:cNvSpPr txBox="1"/>
          <p:nvPr/>
        </p:nvSpPr>
        <p:spPr>
          <a:xfrm>
            <a:off x="4114800" y="1371600"/>
            <a:ext cx="242316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Every production model has an owner and a review date</a:t>
            </a:r>
            <a:endParaRPr lang="en-US" sz="1000" dirty="0"/>
          </a:p>
        </p:txBody>
      </p:sp>
      <p:sp>
        <p:nvSpPr>
          <p:cNvPr id="42" name="Shape 39"/>
          <p:cNvSpPr/>
          <p:nvPr/>
        </p:nvSpPr>
        <p:spPr>
          <a:xfrm>
            <a:off x="3611880" y="2011680"/>
            <a:ext cx="3017520" cy="548640"/>
          </a:xfrm>
          <a:prstGeom prst="roundRect">
            <a:avLst>
              <a:gd name="adj" fmla="val 13333"/>
            </a:avLst>
          </a:prstGeom>
          <a:solidFill>
            <a:srgbClr val="F4F7F5"/>
          </a:solidFill>
          <a:ln w="9525">
            <a:solidFill>
              <a:srgbClr val="D5DED9"/>
            </a:solidFill>
            <a:prstDash val="solid"/>
          </a:ln>
        </p:spPr>
      </p:sp>
      <p:sp>
        <p:nvSpPr>
          <p:cNvPr id="43" name="Shape 40"/>
          <p:cNvSpPr/>
          <p:nvPr/>
        </p:nvSpPr>
        <p:spPr>
          <a:xfrm>
            <a:off x="3721608" y="2148840"/>
            <a:ext cx="274320" cy="274320"/>
          </a:xfrm>
          <a:prstGeom prst="roundRect">
            <a:avLst>
              <a:gd name="adj" fmla="val 13333"/>
            </a:avLst>
          </a:prstGeom>
          <a:solidFill>
            <a:srgbClr val="FFFFFF"/>
          </a:solidFill>
          <a:ln w="15875">
            <a:solidFill>
              <a:srgbClr val="B83B2E"/>
            </a:solidFill>
            <a:prstDash val="solid"/>
          </a:ln>
        </p:spPr>
      </p:sp>
      <p:sp>
        <p:nvSpPr>
          <p:cNvPr id="44" name="Text 41"/>
          <p:cNvSpPr txBox="1"/>
          <p:nvPr/>
        </p:nvSpPr>
        <p:spPr>
          <a:xfrm>
            <a:off x="3721608" y="214884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7</a:t>
            </a:r>
            <a:endParaRPr lang="en-US" sz="1000" dirty="0"/>
          </a:p>
        </p:txBody>
      </p:sp>
      <p:sp>
        <p:nvSpPr>
          <p:cNvPr id="45" name="Text 42"/>
          <p:cNvSpPr txBox="1"/>
          <p:nvPr/>
        </p:nvSpPr>
        <p:spPr>
          <a:xfrm>
            <a:off x="4114800" y="2011680"/>
            <a:ext cx="242316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Costs are attributed, and hard caps are enforced</a:t>
            </a:r>
            <a:endParaRPr lang="en-US" sz="1000" dirty="0"/>
          </a:p>
        </p:txBody>
      </p:sp>
      <p:sp>
        <p:nvSpPr>
          <p:cNvPr id="46" name="Shape 43"/>
          <p:cNvSpPr/>
          <p:nvPr/>
        </p:nvSpPr>
        <p:spPr>
          <a:xfrm>
            <a:off x="3611880" y="2651760"/>
            <a:ext cx="3017520" cy="548640"/>
          </a:xfrm>
          <a:prstGeom prst="roundRect">
            <a:avLst>
              <a:gd name="adj" fmla="val 13333"/>
            </a:avLst>
          </a:prstGeom>
          <a:solidFill>
            <a:srgbClr val="F4F7F5"/>
          </a:solidFill>
          <a:ln w="9525">
            <a:solidFill>
              <a:srgbClr val="D5DED9"/>
            </a:solidFill>
            <a:prstDash val="solid"/>
          </a:ln>
        </p:spPr>
      </p:sp>
      <p:sp>
        <p:nvSpPr>
          <p:cNvPr id="47" name="Shape 44"/>
          <p:cNvSpPr/>
          <p:nvPr/>
        </p:nvSpPr>
        <p:spPr>
          <a:xfrm>
            <a:off x="3721608" y="2788920"/>
            <a:ext cx="274320" cy="274320"/>
          </a:xfrm>
          <a:prstGeom prst="roundRect">
            <a:avLst>
              <a:gd name="adj" fmla="val 13333"/>
            </a:avLst>
          </a:prstGeom>
          <a:solidFill>
            <a:srgbClr val="FFFFFF"/>
          </a:solidFill>
          <a:ln w="15875">
            <a:solidFill>
              <a:srgbClr val="B83B2E"/>
            </a:solidFill>
            <a:prstDash val="solid"/>
          </a:ln>
        </p:spPr>
      </p:sp>
      <p:sp>
        <p:nvSpPr>
          <p:cNvPr id="48" name="Text 45"/>
          <p:cNvSpPr txBox="1"/>
          <p:nvPr/>
        </p:nvSpPr>
        <p:spPr>
          <a:xfrm>
            <a:off x="3721608" y="278892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8</a:t>
            </a:r>
            <a:endParaRPr lang="en-US" sz="1000" dirty="0"/>
          </a:p>
        </p:txBody>
      </p:sp>
      <p:sp>
        <p:nvSpPr>
          <p:cNvPr id="49" name="Text 46"/>
          <p:cNvSpPr txBox="1"/>
          <p:nvPr/>
        </p:nvSpPr>
        <p:spPr>
          <a:xfrm>
            <a:off x="4114800" y="2651760"/>
            <a:ext cx="242316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Legal, DPO and security were involved at design stage</a:t>
            </a:r>
            <a:endParaRPr lang="en-US" sz="1000" dirty="0"/>
          </a:p>
        </p:txBody>
      </p:sp>
      <p:sp>
        <p:nvSpPr>
          <p:cNvPr id="50" name="Shape 47"/>
          <p:cNvSpPr/>
          <p:nvPr/>
        </p:nvSpPr>
        <p:spPr>
          <a:xfrm>
            <a:off x="3611880" y="3291840"/>
            <a:ext cx="3017520" cy="548640"/>
          </a:xfrm>
          <a:prstGeom prst="roundRect">
            <a:avLst>
              <a:gd name="adj" fmla="val 13333"/>
            </a:avLst>
          </a:prstGeom>
          <a:solidFill>
            <a:srgbClr val="F4F7F5"/>
          </a:solidFill>
          <a:ln w="9525">
            <a:solidFill>
              <a:srgbClr val="D5DED9"/>
            </a:solidFill>
            <a:prstDash val="solid"/>
          </a:ln>
        </p:spPr>
      </p:sp>
      <p:sp>
        <p:nvSpPr>
          <p:cNvPr id="51" name="Shape 48"/>
          <p:cNvSpPr/>
          <p:nvPr/>
        </p:nvSpPr>
        <p:spPr>
          <a:xfrm>
            <a:off x="3721608" y="3429000"/>
            <a:ext cx="274320" cy="274320"/>
          </a:xfrm>
          <a:prstGeom prst="roundRect">
            <a:avLst>
              <a:gd name="adj" fmla="val 13333"/>
            </a:avLst>
          </a:prstGeom>
          <a:solidFill>
            <a:srgbClr val="FFFFFF"/>
          </a:solidFill>
          <a:ln w="15875">
            <a:solidFill>
              <a:srgbClr val="B83B2E"/>
            </a:solidFill>
            <a:prstDash val="solid"/>
          </a:ln>
        </p:spPr>
      </p:sp>
      <p:sp>
        <p:nvSpPr>
          <p:cNvPr id="52" name="Text 49"/>
          <p:cNvSpPr txBox="1"/>
          <p:nvPr/>
        </p:nvSpPr>
        <p:spPr>
          <a:xfrm>
            <a:off x="3721608" y="342900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9</a:t>
            </a:r>
            <a:endParaRPr lang="en-US" sz="1000" dirty="0"/>
          </a:p>
        </p:txBody>
      </p:sp>
      <p:sp>
        <p:nvSpPr>
          <p:cNvPr id="53" name="Text 50"/>
          <p:cNvSpPr txBox="1"/>
          <p:nvPr/>
        </p:nvSpPr>
        <p:spPr>
          <a:xfrm>
            <a:off x="4114800" y="3291840"/>
            <a:ext cx="242316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Every production use has a tested fallback</a:t>
            </a:r>
            <a:endParaRPr lang="en-US" sz="1000" dirty="0"/>
          </a:p>
        </p:txBody>
      </p:sp>
      <p:sp>
        <p:nvSpPr>
          <p:cNvPr id="54" name="Shape 51"/>
          <p:cNvSpPr/>
          <p:nvPr/>
        </p:nvSpPr>
        <p:spPr>
          <a:xfrm>
            <a:off x="3611880" y="3931920"/>
            <a:ext cx="3017520" cy="548640"/>
          </a:xfrm>
          <a:prstGeom prst="roundRect">
            <a:avLst>
              <a:gd name="adj" fmla="val 13333"/>
            </a:avLst>
          </a:prstGeom>
          <a:solidFill>
            <a:srgbClr val="F4F7F5"/>
          </a:solidFill>
          <a:ln w="9525">
            <a:solidFill>
              <a:srgbClr val="D5DED9"/>
            </a:solidFill>
            <a:prstDash val="solid"/>
          </a:ln>
        </p:spPr>
      </p:sp>
      <p:sp>
        <p:nvSpPr>
          <p:cNvPr id="55" name="Shape 52"/>
          <p:cNvSpPr/>
          <p:nvPr/>
        </p:nvSpPr>
        <p:spPr>
          <a:xfrm>
            <a:off x="3721608" y="4069080"/>
            <a:ext cx="274320" cy="274320"/>
          </a:xfrm>
          <a:prstGeom prst="roundRect">
            <a:avLst>
              <a:gd name="adj" fmla="val 13333"/>
            </a:avLst>
          </a:prstGeom>
          <a:solidFill>
            <a:srgbClr val="FFFFFF"/>
          </a:solidFill>
          <a:ln w="15875">
            <a:solidFill>
              <a:srgbClr val="B83B2E"/>
            </a:solidFill>
            <a:prstDash val="solid"/>
          </a:ln>
        </p:spPr>
      </p:sp>
      <p:sp>
        <p:nvSpPr>
          <p:cNvPr id="56" name="Text 53"/>
          <p:cNvSpPr txBox="1"/>
          <p:nvPr/>
        </p:nvSpPr>
        <p:spPr>
          <a:xfrm>
            <a:off x="3721608" y="406908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10</a:t>
            </a:r>
            <a:endParaRPr lang="en-US" sz="1000" dirty="0"/>
          </a:p>
        </p:txBody>
      </p:sp>
      <p:sp>
        <p:nvSpPr>
          <p:cNvPr id="57" name="Text 54"/>
          <p:cNvSpPr txBox="1"/>
          <p:nvPr/>
        </p:nvSpPr>
        <p:spPr>
          <a:xfrm>
            <a:off x="4114800" y="3931920"/>
            <a:ext cx="242316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Run and refresh costs are funded beyond the current project</a:t>
            </a:r>
            <a:endParaRPr lang="en-US" sz="1000" dirty="0"/>
          </a:p>
        </p:txBody>
      </p:sp>
      <p:sp>
        <p:nvSpPr>
          <p:cNvPr id="58" name="Shape 55"/>
          <p:cNvSpPr/>
          <p:nvPr/>
        </p:nvSpPr>
        <p:spPr>
          <a:xfrm>
            <a:off x="6858000" y="1371600"/>
            <a:ext cx="1828800" cy="3108960"/>
          </a:xfrm>
          <a:prstGeom prst="roundRect">
            <a:avLst>
              <a:gd name="adj" fmla="val 4000"/>
            </a:avLst>
          </a:prstGeom>
          <a:solidFill>
            <a:srgbClr val="F8E9E7"/>
          </a:solidFill>
          <a:ln w="15875">
            <a:solidFill>
              <a:srgbClr val="B83B2E"/>
            </a:solidFill>
            <a:prstDash val="solid"/>
          </a:ln>
        </p:spPr>
      </p:sp>
      <p:sp>
        <p:nvSpPr>
          <p:cNvPr id="59" name="Text 56"/>
          <p:cNvSpPr txBox="1"/>
          <p:nvPr/>
        </p:nvSpPr>
        <p:spPr>
          <a:xfrm>
            <a:off x="6949440" y="1508760"/>
            <a:ext cx="1645920" cy="182880"/>
          </a:xfrm>
          <a:prstGeom prst="rect">
            <a:avLst/>
          </a:prstGeom>
          <a:noFill/>
          <a:ln/>
        </p:spPr>
        <p:txBody>
          <a:bodyPr wrap="square" lIns="0" tIns="0" rIns="0" bIns="0" rtlCol="0" anchor="t"/>
          <a:lstStyle/>
          <a:p>
            <a:pPr marL="0" indent="0" algn="ctr">
              <a:buNone/>
            </a:pPr>
            <a:r>
              <a:rPr lang="en-US" sz="900" b="1" kern="0" spc="200" dirty="0">
                <a:solidFill>
                  <a:srgbClr val="B83B2E"/>
                </a:solidFill>
                <a:latin typeface="Calibri" pitchFamily="34" charset="0"/>
                <a:ea typeface="Calibri" pitchFamily="34" charset="-122"/>
                <a:cs typeface="Calibri" pitchFamily="34" charset="-120"/>
              </a:rPr>
              <a:t>SCALE WHEN</a:t>
            </a:r>
            <a:endParaRPr lang="en-US" sz="900" dirty="0"/>
          </a:p>
        </p:txBody>
      </p:sp>
      <p:sp>
        <p:nvSpPr>
          <p:cNvPr id="60" name="Text 57"/>
          <p:cNvSpPr txBox="1"/>
          <p:nvPr/>
        </p:nvSpPr>
        <p:spPr>
          <a:xfrm>
            <a:off x="6949440" y="1737360"/>
            <a:ext cx="1645920" cy="777240"/>
          </a:xfrm>
          <a:prstGeom prst="rect">
            <a:avLst/>
          </a:prstGeom>
          <a:noFill/>
          <a:ln/>
        </p:spPr>
        <p:txBody>
          <a:bodyPr wrap="square" lIns="0" tIns="0" rIns="0" bIns="0" rtlCol="0" anchor="ctr"/>
          <a:lstStyle/>
          <a:p>
            <a:pPr marL="0" indent="0" algn="ctr">
              <a:buNone/>
            </a:pPr>
            <a:r>
              <a:rPr lang="en-US" sz="4400" b="1" dirty="0">
                <a:solidFill>
                  <a:srgbClr val="B83B2E"/>
                </a:solidFill>
                <a:latin typeface="Calibri" pitchFamily="34" charset="0"/>
                <a:ea typeface="Calibri" pitchFamily="34" charset="-122"/>
                <a:cs typeface="Calibri" pitchFamily="34" charset="-120"/>
              </a:rPr>
              <a:t>≥ 7</a:t>
            </a:r>
            <a:endParaRPr lang="en-US" sz="4400" dirty="0"/>
          </a:p>
        </p:txBody>
      </p:sp>
      <p:sp>
        <p:nvSpPr>
          <p:cNvPr id="61" name="Text 58"/>
          <p:cNvSpPr txBox="1"/>
          <p:nvPr/>
        </p:nvSpPr>
        <p:spPr>
          <a:xfrm>
            <a:off x="6949440" y="2514600"/>
            <a:ext cx="1645920" cy="365760"/>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out of 10 answers are "yes"</a:t>
            </a:r>
            <a:endParaRPr lang="en-US" sz="1050" dirty="0"/>
          </a:p>
        </p:txBody>
      </p:sp>
      <p:sp>
        <p:nvSpPr>
          <p:cNvPr id="62" name="Shape 59"/>
          <p:cNvSpPr/>
          <p:nvPr/>
        </p:nvSpPr>
        <p:spPr>
          <a:xfrm>
            <a:off x="7086600" y="3017520"/>
            <a:ext cx="1371600" cy="0"/>
          </a:xfrm>
          <a:prstGeom prst="line">
            <a:avLst/>
          </a:prstGeom>
          <a:noFill/>
          <a:ln w="9525">
            <a:solidFill>
              <a:srgbClr val="D5DED9"/>
            </a:solidFill>
            <a:prstDash val="solid"/>
          </a:ln>
        </p:spPr>
      </p:sp>
      <p:sp>
        <p:nvSpPr>
          <p:cNvPr id="63" name="Text 60"/>
          <p:cNvSpPr txBox="1"/>
          <p:nvPr/>
        </p:nvSpPr>
        <p:spPr>
          <a:xfrm>
            <a:off x="6995160" y="3154680"/>
            <a:ext cx="1554480" cy="118872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Nine of the ten cost time and attention, not money. None needs an extra GPU.</a:t>
            </a:r>
            <a:endParaRPr lang="en-US" sz="1000" dirty="0"/>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SYNTHESIS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Ten things to take away</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If you remember nothing else from this briefing</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62</a:t>
            </a:r>
            <a:endParaRPr lang="en-US" sz="850" dirty="0"/>
          </a:p>
        </p:txBody>
      </p:sp>
      <p:sp>
        <p:nvSpPr>
          <p:cNvPr id="18" name="Shape 15"/>
          <p:cNvSpPr/>
          <p:nvPr/>
        </p:nvSpPr>
        <p:spPr>
          <a:xfrm>
            <a:off x="457200" y="1371600"/>
            <a:ext cx="4023360" cy="548640"/>
          </a:xfrm>
          <a:prstGeom prst="roundRect">
            <a:avLst>
              <a:gd name="adj" fmla="val 13333"/>
            </a:avLst>
          </a:prstGeom>
          <a:solidFill>
            <a:srgbClr val="F4F7F5"/>
          </a:solidFill>
          <a:ln w="9525">
            <a:solidFill>
              <a:srgbClr val="D5DED9"/>
            </a:solidFill>
            <a:prstDash val="solid"/>
          </a:ln>
        </p:spPr>
      </p:sp>
      <p:sp>
        <p:nvSpPr>
          <p:cNvPr id="19" name="Text 16"/>
          <p:cNvSpPr txBox="1"/>
          <p:nvPr/>
        </p:nvSpPr>
        <p:spPr>
          <a:xfrm>
            <a:off x="566928" y="1371600"/>
            <a:ext cx="502920" cy="548640"/>
          </a:xfrm>
          <a:prstGeom prst="rect">
            <a:avLst/>
          </a:prstGeom>
          <a:noFill/>
          <a:ln/>
        </p:spPr>
        <p:txBody>
          <a:bodyPr wrap="square" lIns="0" tIns="0" rIns="0" bIns="0" rtlCol="0" anchor="ctr"/>
          <a:lstStyle/>
          <a:p>
            <a:pPr marL="0" indent="0">
              <a:buNone/>
            </a:pPr>
            <a:r>
              <a:rPr lang="en-US" sz="2000" b="1" dirty="0">
                <a:solidFill>
                  <a:srgbClr val="00A86A"/>
                </a:solidFill>
                <a:latin typeface="Calibri" pitchFamily="34" charset="0"/>
                <a:ea typeface="Calibri" pitchFamily="34" charset="-122"/>
                <a:cs typeface="Calibri" pitchFamily="34" charset="-120"/>
              </a:rPr>
              <a:t>01</a:t>
            </a:r>
            <a:endParaRPr lang="en-US" sz="2000" dirty="0"/>
          </a:p>
        </p:txBody>
      </p:sp>
      <p:sp>
        <p:nvSpPr>
          <p:cNvPr id="20" name="Text 17"/>
          <p:cNvSpPr txBox="1"/>
          <p:nvPr/>
        </p:nvSpPr>
        <p:spPr>
          <a:xfrm>
            <a:off x="1097280" y="1371600"/>
            <a:ext cx="3291840" cy="54864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AI in a statistical office is a platform with legal obligations, not a project with a model in it.</a:t>
            </a:r>
            <a:endParaRPr lang="en-US" sz="1050" dirty="0"/>
          </a:p>
        </p:txBody>
      </p:sp>
      <p:sp>
        <p:nvSpPr>
          <p:cNvPr id="21" name="Shape 18"/>
          <p:cNvSpPr/>
          <p:nvPr/>
        </p:nvSpPr>
        <p:spPr>
          <a:xfrm>
            <a:off x="457200" y="2011680"/>
            <a:ext cx="4023360" cy="548640"/>
          </a:xfrm>
          <a:prstGeom prst="roundRect">
            <a:avLst>
              <a:gd name="adj" fmla="val 13333"/>
            </a:avLst>
          </a:prstGeom>
          <a:solidFill>
            <a:srgbClr val="F4F7F5"/>
          </a:solidFill>
          <a:ln w="9525">
            <a:solidFill>
              <a:srgbClr val="D5DED9"/>
            </a:solidFill>
            <a:prstDash val="solid"/>
          </a:ln>
        </p:spPr>
      </p:sp>
      <p:sp>
        <p:nvSpPr>
          <p:cNvPr id="22" name="Text 19"/>
          <p:cNvSpPr txBox="1"/>
          <p:nvPr/>
        </p:nvSpPr>
        <p:spPr>
          <a:xfrm>
            <a:off x="566928" y="2011680"/>
            <a:ext cx="502920" cy="548640"/>
          </a:xfrm>
          <a:prstGeom prst="rect">
            <a:avLst/>
          </a:prstGeom>
          <a:noFill/>
          <a:ln/>
        </p:spPr>
        <p:txBody>
          <a:bodyPr wrap="square" lIns="0" tIns="0" rIns="0" bIns="0" rtlCol="0" anchor="ctr"/>
          <a:lstStyle/>
          <a:p>
            <a:pPr marL="0" indent="0">
              <a:buNone/>
            </a:pPr>
            <a:r>
              <a:rPr lang="en-US" sz="2000" b="1" dirty="0">
                <a:solidFill>
                  <a:srgbClr val="00A86A"/>
                </a:solidFill>
                <a:latin typeface="Calibri" pitchFamily="34" charset="0"/>
                <a:ea typeface="Calibri" pitchFamily="34" charset="-122"/>
                <a:cs typeface="Calibri" pitchFamily="34" charset="-120"/>
              </a:rPr>
              <a:t>02</a:t>
            </a:r>
            <a:endParaRPr lang="en-US" sz="2000" dirty="0"/>
          </a:p>
        </p:txBody>
      </p:sp>
      <p:sp>
        <p:nvSpPr>
          <p:cNvPr id="23" name="Text 20"/>
          <p:cNvSpPr txBox="1"/>
          <p:nvPr/>
        </p:nvSpPr>
        <p:spPr>
          <a:xfrm>
            <a:off x="1097280" y="2011680"/>
            <a:ext cx="3291840" cy="54864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The model is a small fraction of the system. Everything around it is the work — and the cost.</a:t>
            </a:r>
            <a:endParaRPr lang="en-US" sz="1050" dirty="0"/>
          </a:p>
        </p:txBody>
      </p:sp>
      <p:sp>
        <p:nvSpPr>
          <p:cNvPr id="24" name="Shape 21"/>
          <p:cNvSpPr/>
          <p:nvPr/>
        </p:nvSpPr>
        <p:spPr>
          <a:xfrm>
            <a:off x="457200" y="2651760"/>
            <a:ext cx="4023360" cy="548640"/>
          </a:xfrm>
          <a:prstGeom prst="roundRect">
            <a:avLst>
              <a:gd name="adj" fmla="val 13333"/>
            </a:avLst>
          </a:prstGeom>
          <a:solidFill>
            <a:srgbClr val="F4F7F5"/>
          </a:solidFill>
          <a:ln w="9525">
            <a:solidFill>
              <a:srgbClr val="D5DED9"/>
            </a:solidFill>
            <a:prstDash val="solid"/>
          </a:ln>
        </p:spPr>
      </p:sp>
      <p:sp>
        <p:nvSpPr>
          <p:cNvPr id="25" name="Text 22"/>
          <p:cNvSpPr txBox="1"/>
          <p:nvPr/>
        </p:nvSpPr>
        <p:spPr>
          <a:xfrm>
            <a:off x="566928" y="2651760"/>
            <a:ext cx="502920" cy="548640"/>
          </a:xfrm>
          <a:prstGeom prst="rect">
            <a:avLst/>
          </a:prstGeom>
          <a:noFill/>
          <a:ln/>
        </p:spPr>
        <p:txBody>
          <a:bodyPr wrap="square" lIns="0" tIns="0" rIns="0" bIns="0" rtlCol="0" anchor="ctr"/>
          <a:lstStyle/>
          <a:p>
            <a:pPr marL="0" indent="0">
              <a:buNone/>
            </a:pPr>
            <a:r>
              <a:rPr lang="en-US" sz="2000" b="1" dirty="0">
                <a:solidFill>
                  <a:srgbClr val="00A86A"/>
                </a:solidFill>
                <a:latin typeface="Calibri" pitchFamily="34" charset="0"/>
                <a:ea typeface="Calibri" pitchFamily="34" charset="-122"/>
                <a:cs typeface="Calibri" pitchFamily="34" charset="-120"/>
              </a:rPr>
              <a:t>03</a:t>
            </a:r>
            <a:endParaRPr lang="en-US" sz="2000" dirty="0"/>
          </a:p>
        </p:txBody>
      </p:sp>
      <p:sp>
        <p:nvSpPr>
          <p:cNvPr id="26" name="Text 23"/>
          <p:cNvSpPr txBox="1"/>
          <p:nvPr/>
        </p:nvSpPr>
        <p:spPr>
          <a:xfrm>
            <a:off x="1097280" y="2651760"/>
            <a:ext cx="3291840" cy="54864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The binding constraint is labelled data and a governed data platform, not GPUs.</a:t>
            </a:r>
            <a:endParaRPr lang="en-US" sz="1050" dirty="0"/>
          </a:p>
        </p:txBody>
      </p:sp>
      <p:sp>
        <p:nvSpPr>
          <p:cNvPr id="27" name="Shape 24"/>
          <p:cNvSpPr/>
          <p:nvPr/>
        </p:nvSpPr>
        <p:spPr>
          <a:xfrm>
            <a:off x="457200" y="3291840"/>
            <a:ext cx="4023360" cy="548640"/>
          </a:xfrm>
          <a:prstGeom prst="roundRect">
            <a:avLst>
              <a:gd name="adj" fmla="val 13333"/>
            </a:avLst>
          </a:prstGeom>
          <a:solidFill>
            <a:srgbClr val="E8F5EF"/>
          </a:solidFill>
          <a:ln w="15875">
            <a:solidFill>
              <a:srgbClr val="00A86A"/>
            </a:solidFill>
            <a:prstDash val="solid"/>
          </a:ln>
        </p:spPr>
      </p:sp>
      <p:sp>
        <p:nvSpPr>
          <p:cNvPr id="28" name="Text 25"/>
          <p:cNvSpPr txBox="1"/>
          <p:nvPr/>
        </p:nvSpPr>
        <p:spPr>
          <a:xfrm>
            <a:off x="566928" y="3291840"/>
            <a:ext cx="502920" cy="548640"/>
          </a:xfrm>
          <a:prstGeom prst="rect">
            <a:avLst/>
          </a:prstGeom>
          <a:noFill/>
          <a:ln/>
        </p:spPr>
        <p:txBody>
          <a:bodyPr wrap="square" lIns="0" tIns="0" rIns="0" bIns="0" rtlCol="0" anchor="ctr"/>
          <a:lstStyle/>
          <a:p>
            <a:pPr marL="0" indent="0">
              <a:buNone/>
            </a:pPr>
            <a:r>
              <a:rPr lang="en-US" sz="2000" b="1" dirty="0">
                <a:solidFill>
                  <a:srgbClr val="00A86A"/>
                </a:solidFill>
                <a:latin typeface="Calibri" pitchFamily="34" charset="0"/>
                <a:ea typeface="Calibri" pitchFamily="34" charset="-122"/>
                <a:cs typeface="Calibri" pitchFamily="34" charset="-120"/>
              </a:rPr>
              <a:t>04</a:t>
            </a:r>
            <a:endParaRPr lang="en-US" sz="2000" dirty="0"/>
          </a:p>
        </p:txBody>
      </p:sp>
      <p:sp>
        <p:nvSpPr>
          <p:cNvPr id="29" name="Text 26"/>
          <p:cNvSpPr txBox="1"/>
          <p:nvPr/>
        </p:nvSpPr>
        <p:spPr>
          <a:xfrm>
            <a:off x="1097280" y="3291840"/>
            <a:ext cx="3291840" cy="54864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Data classification decides where workloads run. Cost only chooses among permitted options.</a:t>
            </a:r>
            <a:endParaRPr lang="en-US" sz="1050" dirty="0"/>
          </a:p>
        </p:txBody>
      </p:sp>
      <p:sp>
        <p:nvSpPr>
          <p:cNvPr id="30" name="Shape 27"/>
          <p:cNvSpPr/>
          <p:nvPr/>
        </p:nvSpPr>
        <p:spPr>
          <a:xfrm>
            <a:off x="457200" y="3931920"/>
            <a:ext cx="4023360" cy="548640"/>
          </a:xfrm>
          <a:prstGeom prst="roundRect">
            <a:avLst>
              <a:gd name="adj" fmla="val 13333"/>
            </a:avLst>
          </a:prstGeom>
          <a:solidFill>
            <a:srgbClr val="F4F7F5"/>
          </a:solidFill>
          <a:ln w="9525">
            <a:solidFill>
              <a:srgbClr val="D5DED9"/>
            </a:solidFill>
            <a:prstDash val="solid"/>
          </a:ln>
        </p:spPr>
      </p:sp>
      <p:sp>
        <p:nvSpPr>
          <p:cNvPr id="31" name="Text 28"/>
          <p:cNvSpPr txBox="1"/>
          <p:nvPr/>
        </p:nvSpPr>
        <p:spPr>
          <a:xfrm>
            <a:off x="566928" y="3931920"/>
            <a:ext cx="502920" cy="548640"/>
          </a:xfrm>
          <a:prstGeom prst="rect">
            <a:avLst/>
          </a:prstGeom>
          <a:noFill/>
          <a:ln/>
        </p:spPr>
        <p:txBody>
          <a:bodyPr wrap="square" lIns="0" tIns="0" rIns="0" bIns="0" rtlCol="0" anchor="ctr"/>
          <a:lstStyle/>
          <a:p>
            <a:pPr marL="0" indent="0">
              <a:buNone/>
            </a:pPr>
            <a:r>
              <a:rPr lang="en-US" sz="2000" b="1" dirty="0">
                <a:solidFill>
                  <a:srgbClr val="00A86A"/>
                </a:solidFill>
                <a:latin typeface="Calibri" pitchFamily="34" charset="0"/>
                <a:ea typeface="Calibri" pitchFamily="34" charset="-122"/>
                <a:cs typeface="Calibri" pitchFamily="34" charset="-120"/>
              </a:rPr>
              <a:t>05</a:t>
            </a:r>
            <a:endParaRPr lang="en-US" sz="2000" dirty="0"/>
          </a:p>
        </p:txBody>
      </p:sp>
      <p:sp>
        <p:nvSpPr>
          <p:cNvPr id="32" name="Text 29"/>
          <p:cNvSpPr txBox="1"/>
          <p:nvPr/>
        </p:nvSpPr>
        <p:spPr>
          <a:xfrm>
            <a:off x="1097280" y="3931920"/>
            <a:ext cx="3291840" cy="54864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Write the classification crosswalk, have it signed and publish it.</a:t>
            </a:r>
            <a:endParaRPr lang="en-US" sz="1050" dirty="0"/>
          </a:p>
        </p:txBody>
      </p:sp>
      <p:sp>
        <p:nvSpPr>
          <p:cNvPr id="33" name="Shape 30"/>
          <p:cNvSpPr/>
          <p:nvPr/>
        </p:nvSpPr>
        <p:spPr>
          <a:xfrm>
            <a:off x="4663440" y="1371600"/>
            <a:ext cx="4023360" cy="548640"/>
          </a:xfrm>
          <a:prstGeom prst="roundRect">
            <a:avLst>
              <a:gd name="adj" fmla="val 13333"/>
            </a:avLst>
          </a:prstGeom>
          <a:solidFill>
            <a:srgbClr val="F4F7F5"/>
          </a:solidFill>
          <a:ln w="9525">
            <a:solidFill>
              <a:srgbClr val="D5DED9"/>
            </a:solidFill>
            <a:prstDash val="solid"/>
          </a:ln>
        </p:spPr>
      </p:sp>
      <p:sp>
        <p:nvSpPr>
          <p:cNvPr id="34" name="Text 31"/>
          <p:cNvSpPr txBox="1"/>
          <p:nvPr/>
        </p:nvSpPr>
        <p:spPr>
          <a:xfrm>
            <a:off x="4773168" y="1371600"/>
            <a:ext cx="502920" cy="548640"/>
          </a:xfrm>
          <a:prstGeom prst="rect">
            <a:avLst/>
          </a:prstGeom>
          <a:noFill/>
          <a:ln/>
        </p:spPr>
        <p:txBody>
          <a:bodyPr wrap="square" lIns="0" tIns="0" rIns="0" bIns="0" rtlCol="0" anchor="ctr"/>
          <a:lstStyle/>
          <a:p>
            <a:pPr marL="0" indent="0">
              <a:buNone/>
            </a:pPr>
            <a:r>
              <a:rPr lang="en-US" sz="2000" b="1" dirty="0">
                <a:solidFill>
                  <a:srgbClr val="00704A"/>
                </a:solidFill>
                <a:latin typeface="Calibri" pitchFamily="34" charset="0"/>
                <a:ea typeface="Calibri" pitchFamily="34" charset="-122"/>
                <a:cs typeface="Calibri" pitchFamily="34" charset="-120"/>
              </a:rPr>
              <a:t>06</a:t>
            </a:r>
            <a:endParaRPr lang="en-US" sz="2000" dirty="0"/>
          </a:p>
        </p:txBody>
      </p:sp>
      <p:sp>
        <p:nvSpPr>
          <p:cNvPr id="35" name="Text 32"/>
          <p:cNvSpPr txBox="1"/>
          <p:nvPr/>
        </p:nvSpPr>
        <p:spPr>
          <a:xfrm>
            <a:off x="5303520" y="1371600"/>
            <a:ext cx="3291840" cy="54864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Build one audited AI gateway before the first production use case.</a:t>
            </a:r>
            <a:endParaRPr lang="en-US" sz="1050" dirty="0"/>
          </a:p>
        </p:txBody>
      </p:sp>
      <p:sp>
        <p:nvSpPr>
          <p:cNvPr id="36" name="Shape 33"/>
          <p:cNvSpPr/>
          <p:nvPr/>
        </p:nvSpPr>
        <p:spPr>
          <a:xfrm>
            <a:off x="4663440" y="2011680"/>
            <a:ext cx="4023360" cy="548640"/>
          </a:xfrm>
          <a:prstGeom prst="roundRect">
            <a:avLst>
              <a:gd name="adj" fmla="val 13333"/>
            </a:avLst>
          </a:prstGeom>
          <a:solidFill>
            <a:srgbClr val="F4F7F5"/>
          </a:solidFill>
          <a:ln w="9525">
            <a:solidFill>
              <a:srgbClr val="D5DED9"/>
            </a:solidFill>
            <a:prstDash val="solid"/>
          </a:ln>
        </p:spPr>
      </p:sp>
      <p:sp>
        <p:nvSpPr>
          <p:cNvPr id="37" name="Text 34"/>
          <p:cNvSpPr txBox="1"/>
          <p:nvPr/>
        </p:nvSpPr>
        <p:spPr>
          <a:xfrm>
            <a:off x="4773168" y="2011680"/>
            <a:ext cx="502920" cy="548640"/>
          </a:xfrm>
          <a:prstGeom prst="rect">
            <a:avLst/>
          </a:prstGeom>
          <a:noFill/>
          <a:ln/>
        </p:spPr>
        <p:txBody>
          <a:bodyPr wrap="square" lIns="0" tIns="0" rIns="0" bIns="0" rtlCol="0" anchor="ctr"/>
          <a:lstStyle/>
          <a:p>
            <a:pPr marL="0" indent="0">
              <a:buNone/>
            </a:pPr>
            <a:r>
              <a:rPr lang="en-US" sz="2000" b="1" dirty="0">
                <a:solidFill>
                  <a:srgbClr val="00704A"/>
                </a:solidFill>
                <a:latin typeface="Calibri" pitchFamily="34" charset="0"/>
                <a:ea typeface="Calibri" pitchFamily="34" charset="-122"/>
                <a:cs typeface="Calibri" pitchFamily="34" charset="-120"/>
              </a:rPr>
              <a:t>07</a:t>
            </a:r>
            <a:endParaRPr lang="en-US" sz="2000" dirty="0"/>
          </a:p>
        </p:txBody>
      </p:sp>
      <p:sp>
        <p:nvSpPr>
          <p:cNvPr id="38" name="Text 35"/>
          <p:cNvSpPr txBox="1"/>
          <p:nvPr/>
        </p:nvSpPr>
        <p:spPr>
          <a:xfrm>
            <a:off x="5303520" y="2011680"/>
            <a:ext cx="3291840" cy="54864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Reproducibility is mandatory: pin generative models or keep them off the critical path.</a:t>
            </a:r>
            <a:endParaRPr lang="en-US" sz="1050" dirty="0"/>
          </a:p>
        </p:txBody>
      </p:sp>
      <p:sp>
        <p:nvSpPr>
          <p:cNvPr id="39" name="Shape 36"/>
          <p:cNvSpPr/>
          <p:nvPr/>
        </p:nvSpPr>
        <p:spPr>
          <a:xfrm>
            <a:off x="4663440" y="2651760"/>
            <a:ext cx="4023360" cy="548640"/>
          </a:xfrm>
          <a:prstGeom prst="roundRect">
            <a:avLst>
              <a:gd name="adj" fmla="val 13333"/>
            </a:avLst>
          </a:prstGeom>
          <a:solidFill>
            <a:srgbClr val="F4F7F5"/>
          </a:solidFill>
          <a:ln w="9525">
            <a:solidFill>
              <a:srgbClr val="D5DED9"/>
            </a:solidFill>
            <a:prstDash val="solid"/>
          </a:ln>
        </p:spPr>
      </p:sp>
      <p:sp>
        <p:nvSpPr>
          <p:cNvPr id="40" name="Text 37"/>
          <p:cNvSpPr txBox="1"/>
          <p:nvPr/>
        </p:nvSpPr>
        <p:spPr>
          <a:xfrm>
            <a:off x="4773168" y="2651760"/>
            <a:ext cx="502920" cy="548640"/>
          </a:xfrm>
          <a:prstGeom prst="rect">
            <a:avLst/>
          </a:prstGeom>
          <a:noFill/>
          <a:ln/>
        </p:spPr>
        <p:txBody>
          <a:bodyPr wrap="square" lIns="0" tIns="0" rIns="0" bIns="0" rtlCol="0" anchor="ctr"/>
          <a:lstStyle/>
          <a:p>
            <a:pPr marL="0" indent="0">
              <a:buNone/>
            </a:pPr>
            <a:r>
              <a:rPr lang="en-US" sz="2000" b="1" dirty="0">
                <a:solidFill>
                  <a:srgbClr val="00704A"/>
                </a:solidFill>
                <a:latin typeface="Calibri" pitchFamily="34" charset="0"/>
                <a:ea typeface="Calibri" pitchFamily="34" charset="-122"/>
                <a:cs typeface="Calibri" pitchFamily="34" charset="-120"/>
              </a:rPr>
              <a:t>08</a:t>
            </a:r>
            <a:endParaRPr lang="en-US" sz="2000" dirty="0"/>
          </a:p>
        </p:txBody>
      </p:sp>
      <p:sp>
        <p:nvSpPr>
          <p:cNvPr id="41" name="Text 38"/>
          <p:cNvSpPr txBox="1"/>
          <p:nvPr/>
        </p:nvSpPr>
        <p:spPr>
          <a:xfrm>
            <a:off x="5303520" y="2651760"/>
            <a:ext cx="3291840" cy="54864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People are about half the five-year cost. Staffing moves the budget more than hosting.</a:t>
            </a:r>
            <a:endParaRPr lang="en-US" sz="1050" dirty="0"/>
          </a:p>
        </p:txBody>
      </p:sp>
      <p:sp>
        <p:nvSpPr>
          <p:cNvPr id="42" name="Shape 39"/>
          <p:cNvSpPr/>
          <p:nvPr/>
        </p:nvSpPr>
        <p:spPr>
          <a:xfrm>
            <a:off x="4663440" y="3291840"/>
            <a:ext cx="4023360" cy="548640"/>
          </a:xfrm>
          <a:prstGeom prst="roundRect">
            <a:avLst>
              <a:gd name="adj" fmla="val 13333"/>
            </a:avLst>
          </a:prstGeom>
          <a:solidFill>
            <a:srgbClr val="F4F7F5"/>
          </a:solidFill>
          <a:ln w="9525">
            <a:solidFill>
              <a:srgbClr val="D5DED9"/>
            </a:solidFill>
            <a:prstDash val="solid"/>
          </a:ln>
        </p:spPr>
      </p:sp>
      <p:sp>
        <p:nvSpPr>
          <p:cNvPr id="43" name="Text 40"/>
          <p:cNvSpPr txBox="1"/>
          <p:nvPr/>
        </p:nvSpPr>
        <p:spPr>
          <a:xfrm>
            <a:off x="4773168" y="3291840"/>
            <a:ext cx="502920" cy="548640"/>
          </a:xfrm>
          <a:prstGeom prst="rect">
            <a:avLst/>
          </a:prstGeom>
          <a:noFill/>
          <a:ln/>
        </p:spPr>
        <p:txBody>
          <a:bodyPr wrap="square" lIns="0" tIns="0" rIns="0" bIns="0" rtlCol="0" anchor="ctr"/>
          <a:lstStyle/>
          <a:p>
            <a:pPr marL="0" indent="0">
              <a:buNone/>
            </a:pPr>
            <a:r>
              <a:rPr lang="en-US" sz="2000" b="1" dirty="0">
                <a:solidFill>
                  <a:srgbClr val="00704A"/>
                </a:solidFill>
                <a:latin typeface="Calibri" pitchFamily="34" charset="0"/>
                <a:ea typeface="Calibri" pitchFamily="34" charset="-122"/>
                <a:cs typeface="Calibri" pitchFamily="34" charset="-120"/>
              </a:rPr>
              <a:t>09</a:t>
            </a:r>
            <a:endParaRPr lang="en-US" sz="2000" dirty="0"/>
          </a:p>
        </p:txBody>
      </p:sp>
      <p:sp>
        <p:nvSpPr>
          <p:cNvPr id="44" name="Text 41"/>
          <p:cNvSpPr txBox="1"/>
          <p:nvPr/>
        </p:nvSpPr>
        <p:spPr>
          <a:xfrm>
            <a:off x="5303520" y="3291840"/>
            <a:ext cx="3291840" cy="54864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Measure against the current human process, including its error rate, and publish it.</a:t>
            </a:r>
            <a:endParaRPr lang="en-US" sz="1050" dirty="0"/>
          </a:p>
        </p:txBody>
      </p:sp>
      <p:sp>
        <p:nvSpPr>
          <p:cNvPr id="45" name="Shape 42"/>
          <p:cNvSpPr/>
          <p:nvPr/>
        </p:nvSpPr>
        <p:spPr>
          <a:xfrm>
            <a:off x="4663440" y="3931920"/>
            <a:ext cx="4023360" cy="548640"/>
          </a:xfrm>
          <a:prstGeom prst="roundRect">
            <a:avLst>
              <a:gd name="adj" fmla="val 13333"/>
            </a:avLst>
          </a:prstGeom>
          <a:solidFill>
            <a:srgbClr val="E8F5EF"/>
          </a:solidFill>
          <a:ln w="15875">
            <a:solidFill>
              <a:srgbClr val="00A86A"/>
            </a:solidFill>
            <a:prstDash val="solid"/>
          </a:ln>
        </p:spPr>
      </p:sp>
      <p:sp>
        <p:nvSpPr>
          <p:cNvPr id="46" name="Text 43"/>
          <p:cNvSpPr txBox="1"/>
          <p:nvPr/>
        </p:nvSpPr>
        <p:spPr>
          <a:xfrm>
            <a:off x="4773168" y="3931920"/>
            <a:ext cx="502920" cy="548640"/>
          </a:xfrm>
          <a:prstGeom prst="rect">
            <a:avLst/>
          </a:prstGeom>
          <a:noFill/>
          <a:ln/>
        </p:spPr>
        <p:txBody>
          <a:bodyPr wrap="square" lIns="0" tIns="0" rIns="0" bIns="0" rtlCol="0" anchor="ctr"/>
          <a:lstStyle/>
          <a:p>
            <a:pPr marL="0" indent="0">
              <a:buNone/>
            </a:pPr>
            <a:r>
              <a:rPr lang="en-US" sz="2000" b="1" dirty="0">
                <a:solidFill>
                  <a:srgbClr val="00704A"/>
                </a:solidFill>
                <a:latin typeface="Calibri" pitchFamily="34" charset="0"/>
                <a:ea typeface="Calibri" pitchFamily="34" charset="-122"/>
                <a:cs typeface="Calibri" pitchFamily="34" charset="-120"/>
              </a:rPr>
              <a:t>10</a:t>
            </a:r>
            <a:endParaRPr lang="en-US" sz="2000" dirty="0"/>
          </a:p>
        </p:txBody>
      </p:sp>
      <p:sp>
        <p:nvSpPr>
          <p:cNvPr id="47" name="Text 44"/>
          <p:cNvSpPr txBox="1"/>
          <p:nvPr/>
        </p:nvSpPr>
        <p:spPr>
          <a:xfrm>
            <a:off x="5303520" y="3931920"/>
            <a:ext cx="3291840" cy="54864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Sequence deliberately: foundations, platform, one use case, then scale.</a:t>
            </a:r>
            <a:endParaRPr lang="en-US" sz="1050" dirty="0"/>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REFERENCES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Sources and further reading</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Standards, frameworks and data referred to in this briefing</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AI Infrastructure for Statistical Offices</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64</a:t>
            </a:r>
            <a:endParaRPr lang="en-US" sz="850" dirty="0"/>
          </a:p>
        </p:txBody>
      </p:sp>
      <p:sp>
        <p:nvSpPr>
          <p:cNvPr id="18" name="Shape 15"/>
          <p:cNvSpPr/>
          <p:nvPr/>
        </p:nvSpPr>
        <p:spPr>
          <a:xfrm>
            <a:off x="457200" y="1371600"/>
            <a:ext cx="2651760" cy="3200400"/>
          </a:xfrm>
          <a:prstGeom prst="roundRect">
            <a:avLst>
              <a:gd name="adj" fmla="val 2759"/>
            </a:avLst>
          </a:prstGeom>
          <a:solidFill>
            <a:srgbClr val="F4F7F5"/>
          </a:solidFill>
          <a:ln w="9525">
            <a:solidFill>
              <a:srgbClr val="D5DED9"/>
            </a:solidFill>
            <a:prstDash val="solid"/>
          </a:ln>
        </p:spPr>
      </p:sp>
      <p:sp>
        <p:nvSpPr>
          <p:cNvPr id="19" name="Shape 16"/>
          <p:cNvSpPr/>
          <p:nvPr/>
        </p:nvSpPr>
        <p:spPr>
          <a:xfrm>
            <a:off x="566928" y="1463040"/>
            <a:ext cx="329184" cy="329184"/>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45932" y="1542044"/>
            <a:ext cx="171176" cy="171176"/>
          </a:xfrm>
          <a:prstGeom prst="rect">
            <a:avLst/>
          </a:prstGeom>
        </p:spPr>
      </p:pic>
      <p:sp>
        <p:nvSpPr>
          <p:cNvPr id="21" name="Text 17"/>
          <p:cNvSpPr txBox="1"/>
          <p:nvPr/>
        </p:nvSpPr>
        <p:spPr>
          <a:xfrm>
            <a:off x="969264" y="1463040"/>
            <a:ext cx="2048256"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Official statistics frameworks</a:t>
            </a:r>
            <a:endParaRPr lang="en-US" sz="1150" dirty="0"/>
          </a:p>
        </p:txBody>
      </p:sp>
      <p:sp>
        <p:nvSpPr>
          <p:cNvPr id="22" name="Text 18"/>
          <p:cNvSpPr txBox="1"/>
          <p:nvPr/>
        </p:nvSpPr>
        <p:spPr>
          <a:xfrm>
            <a:off x="566928" y="1920240"/>
            <a:ext cx="2432304" cy="2560320"/>
          </a:xfrm>
          <a:prstGeom prst="rect">
            <a:avLst/>
          </a:prstGeom>
          <a:noFill/>
          <a:ln/>
        </p:spPr>
        <p:txBody>
          <a:bodyPr wrap="square" lIns="0" tIns="0" rIns="0" bIns="0" rtlCol="0" anchor="t"/>
          <a:lstStyle/>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UN Fundamental Principles of Official Statistics (UNGA res. 68/261, 2014) — Principle 6</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UNECE HLG-MOS: GSBPM, GAMSO, GSIM and machine-learning project outputs</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African Charter on Statistics (AU, 2009)</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Strategy for the Harmonisation of Statistics in Africa (SHaSA 2)</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European Statistics Code of Practice</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Statistics Canada, Framework for Responsible Machine Learning Processes</a:t>
            </a:r>
            <a:endParaRPr lang="en-US" sz="1000" dirty="0"/>
          </a:p>
        </p:txBody>
      </p:sp>
      <p:sp>
        <p:nvSpPr>
          <p:cNvPr id="23" name="Shape 19"/>
          <p:cNvSpPr/>
          <p:nvPr/>
        </p:nvSpPr>
        <p:spPr>
          <a:xfrm>
            <a:off x="3246120" y="1371600"/>
            <a:ext cx="2651760" cy="3200400"/>
          </a:xfrm>
          <a:prstGeom prst="roundRect">
            <a:avLst>
              <a:gd name="adj" fmla="val 2759"/>
            </a:avLst>
          </a:prstGeom>
          <a:solidFill>
            <a:srgbClr val="F4F7F5"/>
          </a:solidFill>
          <a:ln w="9525">
            <a:solidFill>
              <a:srgbClr val="D5DED9"/>
            </a:solidFill>
            <a:prstDash val="solid"/>
          </a:ln>
        </p:spPr>
      </p:sp>
      <p:sp>
        <p:nvSpPr>
          <p:cNvPr id="24" name="Shape 20"/>
          <p:cNvSpPr/>
          <p:nvPr/>
        </p:nvSpPr>
        <p:spPr>
          <a:xfrm>
            <a:off x="3355848" y="1463040"/>
            <a:ext cx="329184" cy="329184"/>
          </a:xfrm>
          <a:prstGeom prst="ellipse">
            <a:avLst/>
          </a:prstGeom>
          <a:solidFill>
            <a:srgbClr val="0E7C86">
              <a:alpha val="22000"/>
            </a:srgbClr>
          </a:solidFill>
          <a:ln/>
        </p:spPr>
      </p:sp>
      <p:pic>
        <p:nvPicPr>
          <p:cNvPr id="25" name="Image 1" descr="preencoded.png"/>
          <p:cNvPicPr>
            <a:picLocks noChangeAspect="1"/>
          </p:cNvPicPr>
          <p:nvPr/>
        </p:nvPicPr>
        <p:blipFill>
          <a:blip r:embed="rId4"/>
          <a:stretch>
            <a:fillRect/>
          </a:stretch>
        </p:blipFill>
        <p:spPr>
          <a:xfrm>
            <a:off x="3434852" y="1542044"/>
            <a:ext cx="171176" cy="171176"/>
          </a:xfrm>
          <a:prstGeom prst="rect">
            <a:avLst/>
          </a:prstGeom>
        </p:spPr>
      </p:pic>
      <p:sp>
        <p:nvSpPr>
          <p:cNvPr id="26" name="Text 21"/>
          <p:cNvSpPr txBox="1"/>
          <p:nvPr/>
        </p:nvSpPr>
        <p:spPr>
          <a:xfrm>
            <a:off x="3758184" y="1463040"/>
            <a:ext cx="2048256"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Law, policy and technical</a:t>
            </a:r>
            <a:endParaRPr lang="en-US" sz="1150" dirty="0"/>
          </a:p>
        </p:txBody>
      </p:sp>
      <p:sp>
        <p:nvSpPr>
          <p:cNvPr id="27" name="Text 22"/>
          <p:cNvSpPr txBox="1"/>
          <p:nvPr/>
        </p:nvSpPr>
        <p:spPr>
          <a:xfrm>
            <a:off x="3355848" y="1920240"/>
            <a:ext cx="2432304" cy="2560320"/>
          </a:xfrm>
          <a:prstGeom prst="rect">
            <a:avLst/>
          </a:prstGeom>
          <a:noFill/>
          <a:ln/>
        </p:spPr>
        <p:txBody>
          <a:bodyPr wrap="square" lIns="0" tIns="0" rIns="0" bIns="0" rtlCol="0" anchor="t"/>
          <a:lstStyle/>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AU Convention on Cyber Security and Personal Data Protection (Malabo, 2014; in force 8 June 2023)</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AU Data Policy Framework; AU Continental AI Strategy (endorsed July 2024)</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Regulation (EU) 2024/1689 (EU AI Act)</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OECD AI Principles; UNESCO Recommendation on the Ethics of AI (2021)</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D. Sculley et al., "Hidden Technical Debt in Machine Learning Systems", NeurIPS 2015</a:t>
            </a:r>
            <a:endParaRPr lang="en-US" sz="1000" dirty="0"/>
          </a:p>
        </p:txBody>
      </p:sp>
      <p:sp>
        <p:nvSpPr>
          <p:cNvPr id="28" name="Shape 23"/>
          <p:cNvSpPr/>
          <p:nvPr/>
        </p:nvSpPr>
        <p:spPr>
          <a:xfrm>
            <a:off x="6035040" y="1371600"/>
            <a:ext cx="2651760" cy="3200400"/>
          </a:xfrm>
          <a:prstGeom prst="roundRect">
            <a:avLst>
              <a:gd name="adj" fmla="val 2759"/>
            </a:avLst>
          </a:prstGeom>
          <a:solidFill>
            <a:srgbClr val="F4F7F5"/>
          </a:solidFill>
          <a:ln w="9525">
            <a:solidFill>
              <a:srgbClr val="D5DED9"/>
            </a:solidFill>
            <a:prstDash val="solid"/>
          </a:ln>
        </p:spPr>
      </p:sp>
      <p:sp>
        <p:nvSpPr>
          <p:cNvPr id="29" name="Shape 24"/>
          <p:cNvSpPr/>
          <p:nvPr/>
        </p:nvSpPr>
        <p:spPr>
          <a:xfrm>
            <a:off x="6144768" y="1463040"/>
            <a:ext cx="329184" cy="329184"/>
          </a:xfrm>
          <a:prstGeom prst="ellipse">
            <a:avLst/>
          </a:prstGeom>
          <a:solidFill>
            <a:srgbClr val="D49A00">
              <a:alpha val="22000"/>
            </a:srgbClr>
          </a:solidFill>
          <a:ln/>
        </p:spPr>
      </p:sp>
      <p:pic>
        <p:nvPicPr>
          <p:cNvPr id="30" name="Image 2" descr="preencoded.png"/>
          <p:cNvPicPr>
            <a:picLocks noChangeAspect="1"/>
          </p:cNvPicPr>
          <p:nvPr/>
        </p:nvPicPr>
        <p:blipFill>
          <a:blip r:embed="rId5"/>
          <a:stretch>
            <a:fillRect/>
          </a:stretch>
        </p:blipFill>
        <p:spPr>
          <a:xfrm>
            <a:off x="6223772" y="1542044"/>
            <a:ext cx="171176" cy="171176"/>
          </a:xfrm>
          <a:prstGeom prst="rect">
            <a:avLst/>
          </a:prstGeom>
        </p:spPr>
      </p:pic>
      <p:sp>
        <p:nvSpPr>
          <p:cNvPr id="31" name="Text 25"/>
          <p:cNvSpPr txBox="1"/>
          <p:nvPr/>
        </p:nvSpPr>
        <p:spPr>
          <a:xfrm>
            <a:off x="6547104" y="1463040"/>
            <a:ext cx="2048256"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African context data</a:t>
            </a:r>
            <a:endParaRPr lang="en-US" sz="1150" dirty="0"/>
          </a:p>
        </p:txBody>
      </p:sp>
      <p:sp>
        <p:nvSpPr>
          <p:cNvPr id="32" name="Text 26"/>
          <p:cNvSpPr txBox="1"/>
          <p:nvPr/>
        </p:nvSpPr>
        <p:spPr>
          <a:xfrm>
            <a:off x="6144768" y="1920240"/>
            <a:ext cx="2432304" cy="2560320"/>
          </a:xfrm>
          <a:prstGeom prst="rect">
            <a:avLst/>
          </a:prstGeom>
          <a:noFill/>
          <a:ln/>
        </p:spPr>
        <p:txBody>
          <a:bodyPr wrap="square" lIns="0" tIns="0" rIns="0" bIns="0" rtlCol="0" anchor="t"/>
          <a:lstStyle/>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IEA, Financing Electricity Access in Africa (2025)</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Africa Data Centres Association, Data Centres in Africa 2026: The Economic Report</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BCG, Advancing Africa's AI and Digital Economy (2026)</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Heirs Technologies, Africa's Digital Leap (Sept. 2025), reported by Ecofin Agency</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World Bank Group &amp; AfDB, Mission 300 (2024)</a:t>
            </a:r>
            <a:endParaRPr lang="en-US" sz="1000" dirty="0"/>
          </a:p>
          <a:p>
            <a:pPr marL="127000" indent="-1270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AU Executive Council, 45th Ordinary Session, Accra (July 2024)</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16415</Words>
  <Application>Microsoft Office PowerPoint</Application>
  <PresentationFormat>On-screen Show (16:9)</PresentationFormat>
  <Paragraphs>1752</Paragraphs>
  <Slides>63</Slides>
  <Notes>63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Infrastructure for Statistical Offices</dc:title>
  <dc:subject>PptxGenJS Presentation</dc:subject>
  <dc:creator>PptxGenJS</dc:creator>
  <cp:lastModifiedBy>HADJ TAIEB, MOHAMED ALI</cp:lastModifiedBy>
  <cp:revision>5</cp:revision>
  <dcterms:created xsi:type="dcterms:W3CDTF">2026-09-16T11:20:09Z</dcterms:created>
  <dcterms:modified xsi:type="dcterms:W3CDTF">2026-09-26T07:54:30Z</dcterms:modified>
</cp:coreProperties>
</file>