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1.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31F20"/>
                </a:solidFill>
                <a:latin typeface="Calibri"/>
              </a:defRPr>
            </a:pPr>
            <a:r>
              <a:rPr sz="1000" b="0" i="0" u="none" strike="noStrike">
                <a:solidFill>
                  <a:srgbClr val="231F20"/>
                </a:solidFill>
                <a:latin typeface="Calibri"/>
              </a:rPr>
              <a:t>Next-token probability (%) — illustrative example</a:t>
            </a:r>
          </a:p>
        </c:rich>
      </c:tx>
      <c:overlay val="0"/>
    </c:title>
    <c:autoTitleDeleted val="0"/>
    <c:plotArea>
      <c:layout/>
      <c:barChart>
        <c:barDir val="bar"/>
        <c:grouping val="clustered"/>
        <c:varyColors val="0"/>
        <c:ser>
          <c:idx val="0"/>
          <c:order val="0"/>
          <c:tx>
            <c:strRef>
              <c:f>Sheet1!$B$1</c:f>
              <c:strCache>
                <c:ptCount val="1"/>
                <c:pt idx="0">
                  <c:v>Probability</c:v>
                </c:pt>
              </c:strCache>
            </c:strRef>
          </c:tx>
          <c:spPr>
            <a:solidFill>
              <a:srgbClr val="00A86A"/>
            </a:solidFill>
            <a:effectLst/>
          </c:spPr>
          <c:invertIfNegative val="0"/>
          <c:dPt>
            <c:idx val="0"/>
            <c:invertIfNegative val="0"/>
            <c:bubble3D val="0"/>
            <c:extLst>
              <c:ext xmlns:c16="http://schemas.microsoft.com/office/drawing/2014/chart" uri="{C3380CC4-5D6E-409C-BE32-E72D297353CC}">
                <c16:uniqueId val="{00000001-31F8-4956-A975-B1648AD25C1F}"/>
              </c:ext>
            </c:extLst>
          </c:dPt>
          <c:dPt>
            <c:idx val="1"/>
            <c:invertIfNegative val="0"/>
            <c:bubble3D val="0"/>
            <c:spPr>
              <a:solidFill>
                <a:srgbClr val="9ED9C0"/>
              </a:solidFill>
              <a:effectLst/>
            </c:spPr>
            <c:extLst>
              <c:ext xmlns:c16="http://schemas.microsoft.com/office/drawing/2014/chart" uri="{C3380CC4-5D6E-409C-BE32-E72D297353CC}">
                <c16:uniqueId val="{00000003-31F8-4956-A975-B1648AD25C1F}"/>
              </c:ext>
            </c:extLst>
          </c:dPt>
          <c:dPt>
            <c:idx val="2"/>
            <c:invertIfNegative val="0"/>
            <c:bubble3D val="0"/>
            <c:spPr>
              <a:solidFill>
                <a:srgbClr val="9ED9C0"/>
              </a:solidFill>
              <a:effectLst/>
            </c:spPr>
            <c:extLst>
              <c:ext xmlns:c16="http://schemas.microsoft.com/office/drawing/2014/chart" uri="{C3380CC4-5D6E-409C-BE32-E72D297353CC}">
                <c16:uniqueId val="{00000005-31F8-4956-A975-B1648AD25C1F}"/>
              </c:ext>
            </c:extLst>
          </c:dPt>
          <c:dPt>
            <c:idx val="3"/>
            <c:invertIfNegative val="0"/>
            <c:bubble3D val="0"/>
            <c:spPr>
              <a:solidFill>
                <a:srgbClr val="9ED9C0"/>
              </a:solidFill>
              <a:effectLst/>
            </c:spPr>
            <c:extLst>
              <c:ext xmlns:c16="http://schemas.microsoft.com/office/drawing/2014/chart" uri="{C3380CC4-5D6E-409C-BE32-E72D297353CC}">
                <c16:uniqueId val="{00000007-31F8-4956-A975-B1648AD25C1F}"/>
              </c:ext>
            </c:extLst>
          </c:dPt>
          <c:dPt>
            <c:idx val="4"/>
            <c:invertIfNegative val="0"/>
            <c:bubble3D val="0"/>
            <c:spPr>
              <a:solidFill>
                <a:srgbClr val="9ED9C0"/>
              </a:solidFill>
              <a:effectLst/>
            </c:spPr>
            <c:extLst>
              <c:ext xmlns:c16="http://schemas.microsoft.com/office/drawing/2014/chart" uri="{C3380CC4-5D6E-409C-BE32-E72D297353CC}">
                <c16:uniqueId val="{00000009-31F8-4956-A975-B1648AD25C1F}"/>
              </c:ext>
            </c:extLst>
          </c:dPt>
          <c:dLbls>
            <c:numFmt formatCode="0&quot;%&quot;" sourceLinked="0"/>
            <c:spPr>
              <a:noFill/>
              <a:ln>
                <a:noFill/>
              </a:ln>
              <a:effectLst/>
            </c:spPr>
            <c:txPr>
              <a:bodyPr/>
              <a:lstStyle/>
              <a:p>
                <a:pPr>
                  <a:defRPr sz="900" b="0"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Tunis</c:v>
                </c:pt>
                <c:pt idx="1">
                  <c:v>a</c:v>
                </c:pt>
                <c:pt idx="2">
                  <c:v>located</c:v>
                </c:pt>
                <c:pt idx="3">
                  <c:v>the</c:v>
                </c:pt>
                <c:pt idx="4">
                  <c:v>Carthage</c:v>
                </c:pt>
              </c:strCache>
            </c:strRef>
          </c:cat>
          <c:val>
            <c:numRef>
              <c:f>Sheet1!$B$2:$B$6</c:f>
              <c:numCache>
                <c:formatCode>General</c:formatCode>
                <c:ptCount val="5"/>
                <c:pt idx="0">
                  <c:v>92</c:v>
                </c:pt>
                <c:pt idx="1">
                  <c:v>3</c:v>
                </c:pt>
                <c:pt idx="2">
                  <c:v>2</c:v>
                </c:pt>
                <c:pt idx="3">
                  <c:v>1</c:v>
                </c:pt>
                <c:pt idx="4">
                  <c:v>1</c:v>
                </c:pt>
              </c:numCache>
            </c:numRef>
          </c:val>
          <c:extLst>
            <c:ext xmlns:c16="http://schemas.microsoft.com/office/drawing/2014/chart" uri="{C3380CC4-5D6E-409C-BE32-E72D297353CC}">
              <c16:uniqueId val="{0000000A-31F8-4956-A975-B1648AD25C1F}"/>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00" b="0" i="0" u="none" strike="noStrike">
                <a:solidFill>
                  <a:srgbClr val="231F20"/>
                </a:solidFill>
                <a:latin typeface="Calibri"/>
              </a:defRPr>
            </a:pPr>
            <a:r>
              <a:rPr sz="1000" b="0" i="0" u="none" strike="noStrike">
                <a:solidFill>
                  <a:srgbClr val="231F20"/>
                </a:solidFill>
                <a:latin typeface="Calibri"/>
              </a:rPr>
              <a:t>Productivity J-curve (conceptual sketch)</a:t>
            </a:r>
          </a:p>
        </c:rich>
      </c:tx>
      <c:overlay val="0"/>
    </c:title>
    <c:autoTitleDeleted val="0"/>
    <c:plotArea>
      <c:layout/>
      <c:lineChart>
        <c:grouping val="standard"/>
        <c:varyColors val="0"/>
        <c:ser>
          <c:idx val="0"/>
          <c:order val="0"/>
          <c:tx>
            <c:strRef>
              <c:f>Sheet1!$B$1</c:f>
              <c:strCache>
                <c:ptCount val="1"/>
                <c:pt idx="0">
                  <c:v>Productivity</c:v>
                </c:pt>
              </c:strCache>
            </c:strRef>
          </c:tx>
          <c:spPr>
            <a:ln w="38100" cap="flat">
              <a:solidFill>
                <a:srgbClr val="00A86A"/>
              </a:solidFill>
              <a:prstDash val="solid"/>
              <a:round/>
            </a:ln>
            <a:effectLst/>
          </c:spPr>
          <c:marker>
            <c:symbol val="circle"/>
            <c:size val="6"/>
            <c:spPr>
              <a:solidFill>
                <a:srgbClr val="00A86A"/>
              </a:solidFill>
              <a:ln w="9525" cap="flat">
                <a:solidFill>
                  <a:srgbClr val="00A86A"/>
                </a:solidFill>
                <a:prstDash val="solid"/>
                <a:round/>
              </a:ln>
              <a:effectLst/>
            </c:spPr>
          </c:marker>
          <c:cat>
            <c:strRef>
              <c:f>Sheet1!$A$2:$A$8</c:f>
              <c:strCache>
                <c:ptCount val="7"/>
                <c:pt idx="0">
                  <c:v>Yr 0</c:v>
                </c:pt>
                <c:pt idx="1">
                  <c:v>Yr 1</c:v>
                </c:pt>
                <c:pt idx="2">
                  <c:v>Yr 2</c:v>
                </c:pt>
                <c:pt idx="3">
                  <c:v>Yr 3</c:v>
                </c:pt>
                <c:pt idx="4">
                  <c:v>Yr 4</c:v>
                </c:pt>
                <c:pt idx="5">
                  <c:v>Yr 5</c:v>
                </c:pt>
                <c:pt idx="6">
                  <c:v>Yr 6</c:v>
                </c:pt>
              </c:strCache>
            </c:strRef>
          </c:cat>
          <c:val>
            <c:numRef>
              <c:f>Sheet1!$B$2:$B$8</c:f>
              <c:numCache>
                <c:formatCode>General</c:formatCode>
                <c:ptCount val="7"/>
                <c:pt idx="0">
                  <c:v>0</c:v>
                </c:pt>
                <c:pt idx="1">
                  <c:v>-0.6</c:v>
                </c:pt>
                <c:pt idx="2">
                  <c:v>-1</c:v>
                </c:pt>
                <c:pt idx="3">
                  <c:v>-0.5</c:v>
                </c:pt>
                <c:pt idx="4">
                  <c:v>0.7</c:v>
                </c:pt>
                <c:pt idx="5">
                  <c:v>2</c:v>
                </c:pt>
                <c:pt idx="6">
                  <c:v>3.4</c:v>
                </c:pt>
              </c:numCache>
            </c:numRef>
          </c:val>
          <c:smooth val="0"/>
          <c:extLst>
            <c:ext xmlns:c16="http://schemas.microsoft.com/office/drawing/2014/chart" uri="{C3380CC4-5D6E-409C-BE32-E72D297353CC}">
              <c16:uniqueId val="{00000000-5E53-4D04-981E-F27E69D30AD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6350" cap="flat">
              <a:solidFill>
                <a:srgbClr val="E1E7E4"/>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960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artefact, not on yourself. State what the session delivers: by 10:15, everyone will be able to read any vendor proposal and say which layer of the system it actually touches. Ten words, three layers, one horizon (AGI) and one rule. This half-hour sets the vocabulary used for the rest of the week.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three objectives as a progression: name, place, assess. Stress the diagnostic question at the bottom: it is the tool participants will use all week, in the labs and with vendors. Mention that we add a concept often missing from technical training but everywhere in the media: AGI.</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fits in thirty minutes. Each section keeps its colour on the dividers and in the progress dots at top right, so the room always knows where it is. Sections 04 and 06 are the longest: they are the ones that change procurement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transition. Ask the room the question and take two or three answers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uses a Fellegi–Holt-type method in their editing system: most hands go up. The point only lands if they say it themselves. Automated decision-making in official statistics is fifty years old and uncontroversial. Walk the timeline quickly: AI is a 70-year-old field; LLMs are only its most recent branch. What is new is how many places you can now intervene.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let the room settle into one column. The left is what makes them competent to judge; the right is why their procurement and validation reflexes will not transfer. Bresnahan and Trajtenberg give the economic name for the right column: a general purpose technology. End on the trap: it is exactly what the rest of the session takes apart.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the section: first the nested definitions, then where AGI sits — the most used and least defined word in the field.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Read the diagram from the outside in: an LLM is a transformer, a transformer is deep learning, which is machine learning, which is AI. For each ring, give the official-statistics example on the right. Practical consequence: a specification that asks for “AI” has said nothing; name the ring. Keep the supervised / unsupervised / reinforcement taxonomy for the appendix if the question comes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concept for this session. AGI (artificial general intelligence) refers to a hypothetical system able to match humans on most cognitive tasks, including ones it was not prepared for. Three messages. One: it is not a technology you can buy; it is a research horizon. Two: today's systems are versatile but uneven — excellent at some tasks, fragile at neighbouring ones; researchers call this a jagged frontier. Three: the term has no shared definition, which makes it an ideal marketing word. Hence the question at the bottom of the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the finish line moves with the definition: breadth of tasks, economic value or learning ability. That is why one leader can say AGI is near and another that it is far away without truly contradicting each other. 2047 is a survey forecast, not a fact: say so explicitly, and stress how widely the answers vary. Practical conclusion: a national statistics office plans on what is measurable today.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that this section contains the most important sentence of the week: fluency does not prove accuracy.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bridging slide for a room of statisticians: a model is a function that turns an input into an output using parameters estimated from data. They do this every day with a regression. An LLM follows exactly the same logic — training, then inference — with hundreds of billions of parameters instead of two, and no way to interpret each one. Stress the distinction at the bottom: when someone says “the model answered”, they often mean an application that combines a model, hidden instructions and tools. Those are three different things to evaluate.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this the full ninety seconds: this slide prevents the worst mistakes of the week. Follow the arrows: the text is split into tokens (pieces of words), the model computes a probability for every possible next token, one is picked, appended, and the loop repeats. Answering, translating, summarising, coding: it is always this one operation. The instinct will be that a model that writes well must know things; say instead that it has learned the shape of informed text. The probabilities in the chart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columns in parallel. The strengths are real and useful in a statistics office today, provided a human reviews the output. The limits are not teething problems the next version will fix: they follow from the mechanism on the previous slide. Hallucination is the established term for fluent but false output. The next section shows how each limit is handled: cutoff and missing sources through RAG, variability through controlled prompts and evaluation.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then right. On the left, the model: you buy or download it, and the only way to change it is to retrain it. On the right, the scaffolding: the context (what it is given to read), the agent loop (what it is allowed to do) and MCP (the cables to your systems). All of this is ordinary software architecture that your IT team already knows how to govern. This slide sets up sections 04 and 05.</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the longest section: four places to intervene, from cheapest to most expensive.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this is the diagram they should photograph. Walk left to right, pricing each move in effort rather than money: a prompt, minutes; RAG, a project; fine-tuning, a project plus a training set to maintain; pre-training, out of reach. “Traceable” means: can the answer be linked back to a source? Then state the rule.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is the cheapest and most underrated lever. Read the example top to bottom: role, task, context, format, constraints. The last line matters most to a statistician: it forbids the model from taking figures from anywhere other than the table provided. A good prompt does not make the model more knowledgeable: it narrows the space of possible answers and makes them checkable.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in two stages. Preparation, once: split the documents, an embedding model turns each passage into coordinates, and you store them. For each question: turn the question into coordinates, find the nearest passages, place them in the context, and the LLM writes an answer citing those passages. Analogy for this room: a similarity measure in a high-dimensional space, as in record linkage. Chunking is where most RAG projects fail.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expensive confusion in the field, and the reason the 10:30 lab is about RAG. Train a model on a thousand of your publications and it will learn your house voice, table conventions and cautious phrasing; it will not reliably learn the figures, and it cannot tell you where a figure came from. Facts dissolve into the weights; style survives. The two can be combined — fine-tune for a publication's style, retrieve for its numbers — but that is a problem for later.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the move from what the model says to what you allow it to do.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“may” is the whole slide: you grant the permission, in configuration, and it is the only safety control at this layer. Follow the loop: the model observes, proposes an action, your software executes it (in orange — that is where control sits), the model reads the result and repeats. On the right, show that “agent” covers a continuum: the further down, the more autonomy and risk. The 15:00 workshop will have them build an agent, then break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defuses fear in the room. People picture an agent with a terminal on the production server; the reality is a structured request — a tool name and arguments — that your own code can refuse. Below, MCP: a plug standard. Each data source becomes a “server” that any compatible application can connect to without custom adapters, which reduces vendor lock-in. But a protocol has no opinion on whether a database should be reachable: that decision belongs to your disclosure-control policy. Check the specification version on the day.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section: turning vocabulary into decisions.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session title directly. Read it row by row, starting with the right-hand column: the limits are what protect you. For each row, ask the room for an example from their own office. AGI is at the top precisely because it can do nothing operational today: it is a talking point, not a tool.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reflex exercise. Read the sales line at the top of each card and let the room propose the question before revealing it. The last card is about sovereignty: physical hosting is not enough if the provider falls under a foreign jurisdiction (for example the US CLOUD Act). Sovereignty is contractual, not just geographic.</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“AI-ready” is used at two levels. First, data: in January 2025 the US Department of Commerce published guidance organised in five areas — documentation, formats, dissemination, licensing, quality — so that generative AI systems represent official data correctly. The US Federal Committee on Statistical Methodology (FCSM) adds that format alone is not enough: the meaning and quality of each variable must travel with it. Second, the institution: governance, skills, infrastructure, evaluation. Link to the session: an AI-ready NSO is one whose APIs and metadata can feed a RAG system or an MCP server. The IMF's StatGPT shows the logic: the model generates a query to the official API instead of generating the figure. Being AI-ready does not mean using AI: it means that when others use AI, your figures are the ones that come out.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recap they take home. Don't read the cards: run the diagnostic on a real example. Read a line from a sales brochure and ask the room to place it in a column. If it cannot be placed, it was marketing. This three-column test applies to every proposal that lands on their desk this year.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figure measures exposure, not replacement: say so before anyone misreads it. The J-curve is a conceptual sketch, not observed data: productivity from a general purpose technology dips while the organisation reorganises, then rises. Plan for the dip and don't promise the rise to your minister in year one. The middle card is the one that changes behaviour: ask who suspects a colleague pasted a draft release into a public chatbot last month.</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session's single rule. Don't soften it with exceptions. Anticipate the objection — “but the agent is more accurate than our current procedure” — and answer that the binding constraint is not accuracy but reproducibility. Link it to the African Union Continental AI Strategy (Accra, July 2024, implementation 2025–2030): it commits states to building the capacity to assess, size and refuse a system. Refusing to decide is also a decision: it hands the choice to the vendor.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thank, don't summarise. End on the instruction: bring a real question from their office to the lab. Labs go badly when participants arrive with a textbook question, and well when they arrive with a question their director actually asked them. At 15:00 they will add the third column and give it tools.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to be used only if questions call for them.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glossary for a bilingual audience. Point out that LLM corresponds to GML (grand modèle de langage) in French, and that French-speaking colleagues will see the French terms in the French version of this deck.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someone asks how machine learning relates to their profession. Breiman was one of them and was addressing statisticians. Machine learning did not replace statistics; it made a different trade-off, giving up interpretability to buy predictive accuracy.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the taxonomy question comes up. Anchor each family in what participants already hold. Say frankly that reinforcement learning has very few direct uses in official statistics, even though it is used to train LLMs to follow instructions.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if someone asks whether they should train their own model. The answer removes a decision rather than adding one. Distinguish pre-training from fine-tuning explicitly: they are constantly confused, and only the first is out of reach.</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sources. References added in this version cover the notion of a model (Box), AI-ready data (Commerce, FCSM, IMF), AGI (Legg &amp; Hutter, Chollet, Morris et al., Grace et al., Blili-Hamelin et al.) and the current governance of MCP. Check the MCP specification version on the day.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sources. References added in this version cover the notion of a model (Box), AI-ready data (Commerce, FCSM, IMF), AGI (Legg &amp; Hutter, Chollet, Morris et al., Grace et al., Blili-Hamelin et al.) and the current governance of MCP. Check the MCP specification version on the day.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sources. References added in this version cover the notion of a model (Box), AI-ready data (Commerce, FCSM, IMF), AGI (Legg &amp; Hutter, Chollet, Morris et al., Grace et al., Blili-Hamelin et al.) and the current governance of MCP. Check the MCP specification version on the day.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8.png"/><Relationship Id="rId7" Type="http://schemas.openxmlformats.org/officeDocument/2006/relationships/image" Target="../media/image2.png"/><Relationship Id="rId12"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 Id="rId1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5.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49.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27.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11.png"/><Relationship Id="rId3" Type="http://schemas.openxmlformats.org/officeDocument/2006/relationships/image" Target="../media/image57.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22.png"/><Relationship Id="rId10" Type="http://schemas.openxmlformats.org/officeDocument/2006/relationships/image" Target="../media/image63.png"/><Relationship Id="rId4" Type="http://schemas.openxmlformats.org/officeDocument/2006/relationships/image" Target="../media/image58.png"/><Relationship Id="rId9" Type="http://schemas.openxmlformats.org/officeDocument/2006/relationships/image" Target="../media/image62.png"/></Relationships>
</file>

<file path=ppt/slides/_rels/slide2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46.png"/><Relationship Id="rId4" Type="http://schemas.openxmlformats.org/officeDocument/2006/relationships/image" Target="../media/image67.png"/></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63.png"/><Relationship Id="rId5" Type="http://schemas.openxmlformats.org/officeDocument/2006/relationships/image" Target="../media/image70.png"/><Relationship Id="rId4" Type="http://schemas.openxmlformats.org/officeDocument/2006/relationships/image" Target="../media/image69.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72.png"/><Relationship Id="rId4" Type="http://schemas.openxmlformats.org/officeDocument/2006/relationships/image" Target="../media/image7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6.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7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3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82.png"/><Relationship Id="rId4" Type="http://schemas.openxmlformats.org/officeDocument/2006/relationships/image" Target="../media/image81.png"/></Relationships>
</file>

<file path=ppt/slides/_rels/slide3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61.png"/><Relationship Id="rId4" Type="http://schemas.openxmlformats.org/officeDocument/2006/relationships/image" Target="../media/image84.png"/></Relationships>
</file>

<file path=ppt/slides/_rels/slide3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86.png"/></Relationships>
</file>

<file path=ppt/slides/_rels/slide3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3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960120"/>
            <a:ext cx="64008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STG17 TECHNICAL WORKSHOP  ·  DAY 1  ·  09:45–10:15</a:t>
            </a:r>
            <a:endParaRPr lang="en-US" sz="1050" dirty="0"/>
          </a:p>
        </p:txBody>
      </p:sp>
      <p:sp>
        <p:nvSpPr>
          <p:cNvPr id="3" name="Text 1"/>
          <p:cNvSpPr txBox="1"/>
          <p:nvPr/>
        </p:nvSpPr>
        <p:spPr>
          <a:xfrm>
            <a:off x="548640" y="1234440"/>
            <a:ext cx="7315200" cy="86868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The AI Family Tree</a:t>
            </a:r>
            <a:endParaRPr lang="en-US" sz="4600" dirty="0"/>
          </a:p>
        </p:txBody>
      </p:sp>
      <p:sp>
        <p:nvSpPr>
          <p:cNvPr id="4" name="Text 2"/>
          <p:cNvSpPr txBox="1"/>
          <p:nvPr/>
        </p:nvSpPr>
        <p:spPr>
          <a:xfrm>
            <a:off x="548640" y="2148840"/>
            <a:ext cx="603504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How the concepts fit together — from AI to AGI, from large language models to agents and MCP</a:t>
            </a:r>
            <a:endParaRPr lang="en-US" sz="1800" dirty="0"/>
          </a:p>
        </p:txBody>
      </p:sp>
      <p:sp>
        <p:nvSpPr>
          <p:cNvPr id="5" name="Shape 3"/>
          <p:cNvSpPr/>
          <p:nvPr/>
        </p:nvSpPr>
        <p:spPr>
          <a:xfrm>
            <a:off x="548640" y="3063240"/>
            <a:ext cx="621792"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6" name="Text 4"/>
          <p:cNvSpPr txBox="1"/>
          <p:nvPr/>
        </p:nvSpPr>
        <p:spPr>
          <a:xfrm>
            <a:off x="548640" y="3063240"/>
            <a:ext cx="621792"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1050" dirty="0"/>
          </a:p>
        </p:txBody>
      </p:sp>
      <p:sp>
        <p:nvSpPr>
          <p:cNvPr id="7" name="Shape 5"/>
          <p:cNvSpPr/>
          <p:nvPr/>
        </p:nvSpPr>
        <p:spPr>
          <a:xfrm>
            <a:off x="1280160" y="3063240"/>
            <a:ext cx="402336"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8" name="Text 6"/>
          <p:cNvSpPr txBox="1"/>
          <p:nvPr/>
        </p:nvSpPr>
        <p:spPr>
          <a:xfrm>
            <a:off x="1280160" y="3063240"/>
            <a:ext cx="402336"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a:t>
            </a:r>
            <a:endParaRPr lang="en-US" sz="1050" dirty="0"/>
          </a:p>
        </p:txBody>
      </p:sp>
      <p:sp>
        <p:nvSpPr>
          <p:cNvPr id="9" name="Shape 7"/>
          <p:cNvSpPr/>
          <p:nvPr/>
        </p:nvSpPr>
        <p:spPr>
          <a:xfrm>
            <a:off x="1792224" y="3063240"/>
            <a:ext cx="47548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0" name="Text 8"/>
          <p:cNvSpPr txBox="1"/>
          <p:nvPr/>
        </p:nvSpPr>
        <p:spPr>
          <a:xfrm>
            <a:off x="1792224" y="3063240"/>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AGI</a:t>
            </a:r>
            <a:endParaRPr lang="en-US" sz="1050" dirty="0"/>
          </a:p>
        </p:txBody>
      </p:sp>
      <p:sp>
        <p:nvSpPr>
          <p:cNvPr id="11" name="Shape 9"/>
          <p:cNvSpPr/>
          <p:nvPr/>
        </p:nvSpPr>
        <p:spPr>
          <a:xfrm>
            <a:off x="2377440" y="3063240"/>
            <a:ext cx="47548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2" name="Text 10"/>
          <p:cNvSpPr txBox="1"/>
          <p:nvPr/>
        </p:nvSpPr>
        <p:spPr>
          <a:xfrm>
            <a:off x="2377440" y="3063240"/>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LLM</a:t>
            </a:r>
            <a:endParaRPr lang="en-US" sz="1050" dirty="0"/>
          </a:p>
        </p:txBody>
      </p:sp>
      <p:sp>
        <p:nvSpPr>
          <p:cNvPr id="13" name="Shape 11"/>
          <p:cNvSpPr/>
          <p:nvPr/>
        </p:nvSpPr>
        <p:spPr>
          <a:xfrm>
            <a:off x="2962656" y="3063240"/>
            <a:ext cx="694944"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4" name="Text 12"/>
          <p:cNvSpPr txBox="1"/>
          <p:nvPr/>
        </p:nvSpPr>
        <p:spPr>
          <a:xfrm>
            <a:off x="2962656" y="3063240"/>
            <a:ext cx="694944"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Prompt</a:t>
            </a:r>
            <a:endParaRPr lang="en-US" sz="1050" dirty="0"/>
          </a:p>
        </p:txBody>
      </p:sp>
      <p:sp>
        <p:nvSpPr>
          <p:cNvPr id="15" name="Shape 13"/>
          <p:cNvSpPr/>
          <p:nvPr/>
        </p:nvSpPr>
        <p:spPr>
          <a:xfrm>
            <a:off x="3767328" y="3063240"/>
            <a:ext cx="47548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6" name="Text 14"/>
          <p:cNvSpPr txBox="1"/>
          <p:nvPr/>
        </p:nvSpPr>
        <p:spPr>
          <a:xfrm>
            <a:off x="3767328" y="3063240"/>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RAG</a:t>
            </a:r>
            <a:endParaRPr lang="en-US" sz="1050" dirty="0"/>
          </a:p>
        </p:txBody>
      </p:sp>
      <p:sp>
        <p:nvSpPr>
          <p:cNvPr id="17" name="Shape 15"/>
          <p:cNvSpPr/>
          <p:nvPr/>
        </p:nvSpPr>
        <p:spPr>
          <a:xfrm>
            <a:off x="4352544" y="3063240"/>
            <a:ext cx="1060704"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18" name="Text 16"/>
          <p:cNvSpPr txBox="1"/>
          <p:nvPr/>
        </p:nvSpPr>
        <p:spPr>
          <a:xfrm>
            <a:off x="4352544" y="3063240"/>
            <a:ext cx="1060704"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Fine-tuning</a:t>
            </a:r>
            <a:endParaRPr lang="en-US" sz="1050" dirty="0"/>
          </a:p>
        </p:txBody>
      </p:sp>
      <p:sp>
        <p:nvSpPr>
          <p:cNvPr id="19" name="Shape 17"/>
          <p:cNvSpPr/>
          <p:nvPr/>
        </p:nvSpPr>
        <p:spPr>
          <a:xfrm>
            <a:off x="5522976" y="3063240"/>
            <a:ext cx="694944"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0" name="Text 18"/>
          <p:cNvSpPr txBox="1"/>
          <p:nvPr/>
        </p:nvSpPr>
        <p:spPr>
          <a:xfrm>
            <a:off x="5522976" y="3063240"/>
            <a:ext cx="694944"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Agents</a:t>
            </a:r>
            <a:endParaRPr lang="en-US" sz="1050" dirty="0"/>
          </a:p>
        </p:txBody>
      </p:sp>
      <p:sp>
        <p:nvSpPr>
          <p:cNvPr id="21" name="Shape 19"/>
          <p:cNvSpPr/>
          <p:nvPr/>
        </p:nvSpPr>
        <p:spPr>
          <a:xfrm>
            <a:off x="6327648" y="3063240"/>
            <a:ext cx="47548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2" name="Text 20"/>
          <p:cNvSpPr txBox="1"/>
          <p:nvPr/>
        </p:nvSpPr>
        <p:spPr>
          <a:xfrm>
            <a:off x="6327648" y="3063240"/>
            <a:ext cx="47548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MCP</a:t>
            </a:r>
            <a:endParaRPr lang="en-US" sz="1050" dirty="0"/>
          </a:p>
        </p:txBody>
      </p:sp>
      <p:sp>
        <p:nvSpPr>
          <p:cNvPr id="23" name="Shape 21"/>
          <p:cNvSpPr/>
          <p:nvPr/>
        </p:nvSpPr>
        <p:spPr>
          <a:xfrm>
            <a:off x="6912864" y="3063240"/>
            <a:ext cx="841248" cy="274320"/>
          </a:xfrm>
          <a:prstGeom prst="roundRect">
            <a:avLst>
              <a:gd name="adj" fmla="val 50000"/>
            </a:avLst>
          </a:prstGeom>
          <a:solidFill>
            <a:srgbClr val="FFFFFF">
              <a:alpha val="15000"/>
            </a:srgbClr>
          </a:solidFill>
          <a:ln w="9525">
            <a:solidFill>
              <a:srgbClr val="FFFFFF">
                <a:alpha val="60000"/>
              </a:srgbClr>
            </a:solidFill>
            <a:prstDash val="solid"/>
          </a:ln>
        </p:spPr>
      </p:sp>
      <p:sp>
        <p:nvSpPr>
          <p:cNvPr id="24" name="Text 22"/>
          <p:cNvSpPr txBox="1"/>
          <p:nvPr/>
        </p:nvSpPr>
        <p:spPr>
          <a:xfrm>
            <a:off x="6912864" y="3063240"/>
            <a:ext cx="841248"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AI-ready</a:t>
            </a:r>
            <a:endParaRPr lang="en-US" sz="1050" dirty="0"/>
          </a:p>
        </p:txBody>
      </p:sp>
      <p:sp>
        <p:nvSpPr>
          <p:cNvPr id="25" name="Text 23"/>
          <p:cNvSpPr txBox="1"/>
          <p:nvPr/>
        </p:nvSpPr>
        <p:spPr>
          <a:xfrm>
            <a:off x="548640" y="4206240"/>
            <a:ext cx="640080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Data Innovation For Africa (DI4A) - African Development Bank</a:t>
            </a:r>
            <a:endParaRPr lang="en-US" sz="1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INTRODUCTION  ·  OBJECTIVES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Thirty minutes to share one language all week</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a:t>
            </a:r>
            <a:endParaRPr lang="en-US" sz="850" dirty="0"/>
          </a:p>
        </p:txBody>
      </p:sp>
      <p:sp>
        <p:nvSpPr>
          <p:cNvPr id="10" name="Shape 8"/>
          <p:cNvSpPr/>
          <p:nvPr/>
        </p:nvSpPr>
        <p:spPr>
          <a:xfrm>
            <a:off x="457200" y="1371600"/>
            <a:ext cx="2606040" cy="2148840"/>
          </a:xfrm>
          <a:prstGeom prst="roundRect">
            <a:avLst>
              <a:gd name="adj" fmla="val 3404"/>
            </a:avLst>
          </a:prstGeom>
          <a:solidFill>
            <a:srgbClr val="F4F7F5"/>
          </a:solidFill>
          <a:ln w="9525">
            <a:solidFill>
              <a:srgbClr val="D5DED9"/>
            </a:solidFill>
            <a:prstDash val="solid"/>
          </a:ln>
        </p:spPr>
      </p:sp>
      <p:sp>
        <p:nvSpPr>
          <p:cNvPr id="11" name="Shape 9"/>
          <p:cNvSpPr/>
          <p:nvPr/>
        </p:nvSpPr>
        <p:spPr>
          <a:xfrm>
            <a:off x="685800" y="1572768"/>
            <a:ext cx="566928" cy="566928"/>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821863" y="1708831"/>
            <a:ext cx="294803" cy="294803"/>
          </a:xfrm>
          <a:prstGeom prst="rect">
            <a:avLst/>
          </a:prstGeom>
        </p:spPr>
      </p:pic>
      <p:sp>
        <p:nvSpPr>
          <p:cNvPr id="13" name="Text 10"/>
          <p:cNvSpPr txBox="1"/>
          <p:nvPr/>
        </p:nvSpPr>
        <p:spPr>
          <a:xfrm>
            <a:off x="68580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1. Name</a:t>
            </a:r>
            <a:endParaRPr lang="en-US" sz="1500" dirty="0"/>
          </a:p>
        </p:txBody>
      </p:sp>
      <p:sp>
        <p:nvSpPr>
          <p:cNvPr id="14" name="Text 11"/>
          <p:cNvSpPr txBox="1"/>
          <p:nvPr/>
        </p:nvSpPr>
        <p:spPr>
          <a:xfrm>
            <a:off x="68580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Define ten concepts: model, AI, AGI, LLM, prompt, RAG, fine-tuning, agent, MCP and AI-ready.</a:t>
            </a:r>
            <a:endParaRPr lang="en-US" sz="1200" dirty="0"/>
          </a:p>
        </p:txBody>
      </p:sp>
      <p:sp>
        <p:nvSpPr>
          <p:cNvPr id="15" name="Shape 12"/>
          <p:cNvSpPr/>
          <p:nvPr/>
        </p:nvSpPr>
        <p:spPr>
          <a:xfrm>
            <a:off x="3268980" y="1371600"/>
            <a:ext cx="2606040" cy="2148840"/>
          </a:xfrm>
          <a:prstGeom prst="roundRect">
            <a:avLst>
              <a:gd name="adj" fmla="val 3404"/>
            </a:avLst>
          </a:prstGeom>
          <a:solidFill>
            <a:srgbClr val="F4F7F5"/>
          </a:solidFill>
          <a:ln w="9525">
            <a:solidFill>
              <a:srgbClr val="D5DED9"/>
            </a:solidFill>
            <a:prstDash val="solid"/>
          </a:ln>
        </p:spPr>
      </p:sp>
      <p:sp>
        <p:nvSpPr>
          <p:cNvPr id="16" name="Shape 13"/>
          <p:cNvSpPr/>
          <p:nvPr/>
        </p:nvSpPr>
        <p:spPr>
          <a:xfrm>
            <a:off x="3497580" y="1572768"/>
            <a:ext cx="566928" cy="566928"/>
          </a:xfrm>
          <a:prstGeom prst="ellipse">
            <a:avLst/>
          </a:prstGeom>
          <a:solidFill>
            <a:srgbClr val="0E7C86">
              <a:alpha val="22000"/>
            </a:srgbClr>
          </a:solidFill>
          <a:ln/>
        </p:spPr>
      </p:sp>
      <p:pic>
        <p:nvPicPr>
          <p:cNvPr id="17" name="Image 1" descr="preencoded.png"/>
          <p:cNvPicPr>
            <a:picLocks noChangeAspect="1"/>
          </p:cNvPicPr>
          <p:nvPr/>
        </p:nvPicPr>
        <p:blipFill>
          <a:blip r:embed="rId4"/>
          <a:stretch>
            <a:fillRect/>
          </a:stretch>
        </p:blipFill>
        <p:spPr>
          <a:xfrm>
            <a:off x="3633643" y="1708831"/>
            <a:ext cx="294803" cy="294803"/>
          </a:xfrm>
          <a:prstGeom prst="rect">
            <a:avLst/>
          </a:prstGeom>
        </p:spPr>
      </p:pic>
      <p:sp>
        <p:nvSpPr>
          <p:cNvPr id="18" name="Text 14"/>
          <p:cNvSpPr txBox="1"/>
          <p:nvPr/>
        </p:nvSpPr>
        <p:spPr>
          <a:xfrm>
            <a:off x="349758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2. Place</a:t>
            </a:r>
            <a:endParaRPr lang="en-US" sz="1500" dirty="0"/>
          </a:p>
        </p:txBody>
      </p:sp>
      <p:sp>
        <p:nvSpPr>
          <p:cNvPr id="19" name="Text 15"/>
          <p:cNvSpPr txBox="1"/>
          <p:nvPr/>
        </p:nvSpPr>
        <p:spPr>
          <a:xfrm>
            <a:off x="349758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Put each concept in one of three layers: the model's weights, its context, or action.</a:t>
            </a:r>
            <a:endParaRPr lang="en-US" sz="1200" dirty="0"/>
          </a:p>
        </p:txBody>
      </p:sp>
      <p:sp>
        <p:nvSpPr>
          <p:cNvPr id="20" name="Shape 16"/>
          <p:cNvSpPr/>
          <p:nvPr/>
        </p:nvSpPr>
        <p:spPr>
          <a:xfrm>
            <a:off x="6080760" y="1371600"/>
            <a:ext cx="2606040" cy="2148840"/>
          </a:xfrm>
          <a:prstGeom prst="roundRect">
            <a:avLst>
              <a:gd name="adj" fmla="val 3404"/>
            </a:avLst>
          </a:prstGeom>
          <a:solidFill>
            <a:srgbClr val="F4F7F5"/>
          </a:solidFill>
          <a:ln w="9525">
            <a:solidFill>
              <a:srgbClr val="D5DED9"/>
            </a:solidFill>
            <a:prstDash val="solid"/>
          </a:ln>
        </p:spPr>
      </p:sp>
      <p:sp>
        <p:nvSpPr>
          <p:cNvPr id="21" name="Shape 17"/>
          <p:cNvSpPr/>
          <p:nvPr/>
        </p:nvSpPr>
        <p:spPr>
          <a:xfrm>
            <a:off x="6309360" y="1572768"/>
            <a:ext cx="566928" cy="566928"/>
          </a:xfrm>
          <a:prstGeom prst="ellipse">
            <a:avLst/>
          </a:prstGeom>
          <a:solidFill>
            <a:srgbClr val="D49A00">
              <a:alpha val="22000"/>
            </a:srgbClr>
          </a:solidFill>
          <a:ln/>
        </p:spPr>
      </p:sp>
      <p:pic>
        <p:nvPicPr>
          <p:cNvPr id="22" name="Image 2" descr="preencoded.png"/>
          <p:cNvPicPr>
            <a:picLocks noChangeAspect="1"/>
          </p:cNvPicPr>
          <p:nvPr/>
        </p:nvPicPr>
        <p:blipFill>
          <a:blip r:embed="rId5"/>
          <a:stretch>
            <a:fillRect/>
          </a:stretch>
        </p:blipFill>
        <p:spPr>
          <a:xfrm>
            <a:off x="6445423" y="1708831"/>
            <a:ext cx="294803" cy="294803"/>
          </a:xfrm>
          <a:prstGeom prst="rect">
            <a:avLst/>
          </a:prstGeom>
        </p:spPr>
      </p:pic>
      <p:sp>
        <p:nvSpPr>
          <p:cNvPr id="23" name="Text 18"/>
          <p:cNvSpPr txBox="1"/>
          <p:nvPr/>
        </p:nvSpPr>
        <p:spPr>
          <a:xfrm>
            <a:off x="6309360" y="2286000"/>
            <a:ext cx="2194560" cy="320040"/>
          </a:xfrm>
          <a:prstGeom prst="rect">
            <a:avLst/>
          </a:prstGeom>
          <a:noFill/>
          <a:ln/>
        </p:spPr>
        <p:txBody>
          <a:bodyPr wrap="square" lIns="0" tIns="0" rIns="0" bIns="0" rtlCol="0" anchor="t"/>
          <a:lstStyle/>
          <a:p>
            <a:pPr marL="0" indent="0">
              <a:buNone/>
            </a:pPr>
            <a:r>
              <a:rPr lang="en-US" sz="1500" b="1" dirty="0">
                <a:solidFill>
                  <a:srgbClr val="231F20"/>
                </a:solidFill>
                <a:latin typeface="Calibri" pitchFamily="34" charset="0"/>
                <a:ea typeface="Calibri" pitchFamily="34" charset="-122"/>
                <a:cs typeface="Calibri" pitchFamily="34" charset="-120"/>
              </a:rPr>
              <a:t>3. Assess</a:t>
            </a:r>
            <a:endParaRPr lang="en-US" sz="1500" dirty="0"/>
          </a:p>
        </p:txBody>
      </p:sp>
      <p:sp>
        <p:nvSpPr>
          <p:cNvPr id="24" name="Text 19"/>
          <p:cNvSpPr txBox="1"/>
          <p:nvPr/>
        </p:nvSpPr>
        <p:spPr>
          <a:xfrm>
            <a:off x="6309360" y="2633472"/>
            <a:ext cx="2194560" cy="777240"/>
          </a:xfrm>
          <a:prstGeom prst="rect">
            <a:avLst/>
          </a:prstGeom>
          <a:noFill/>
          <a:ln/>
        </p:spPr>
        <p:txBody>
          <a:bodyPr wrap="square" lIns="0" tIns="0" rIns="0" bIns="0" rtlCol="0" anchor="t"/>
          <a:lstStyle/>
          <a:p>
            <a:pPr marL="0" indent="0">
              <a:buNone/>
            </a:pPr>
            <a:r>
              <a:rPr lang="en-US" sz="1200" dirty="0">
                <a:solidFill>
                  <a:srgbClr val="5E6964"/>
                </a:solidFill>
                <a:latin typeface="Calibri" pitchFamily="34" charset="0"/>
                <a:ea typeface="Calibri" pitchFamily="34" charset="-122"/>
                <a:cs typeface="Calibri" pitchFamily="34" charset="-120"/>
              </a:rPr>
              <a:t>Say what each one can — and cannot — do for the production of official statistics.</a:t>
            </a:r>
            <a:endParaRPr lang="en-US" sz="1200" dirty="0"/>
          </a:p>
        </p:txBody>
      </p:sp>
      <p:sp>
        <p:nvSpPr>
          <p:cNvPr id="25" name="Shape 20"/>
          <p:cNvSpPr/>
          <p:nvPr/>
        </p:nvSpPr>
        <p:spPr>
          <a:xfrm>
            <a:off x="457200" y="3730752"/>
            <a:ext cx="8229600" cy="777240"/>
          </a:xfrm>
          <a:prstGeom prst="roundRect">
            <a:avLst>
              <a:gd name="adj" fmla="val 9412"/>
            </a:avLst>
          </a:prstGeom>
          <a:solidFill>
            <a:srgbClr val="E8F5EF"/>
          </a:solidFill>
          <a:ln w="15875">
            <a:solidFill>
              <a:srgbClr val="00A86A"/>
            </a:solidFill>
            <a:prstDash val="solid"/>
          </a:ln>
        </p:spPr>
      </p:sp>
      <p:sp>
        <p:nvSpPr>
          <p:cNvPr id="26" name="Shape 21"/>
          <p:cNvSpPr/>
          <p:nvPr/>
        </p:nvSpPr>
        <p:spPr>
          <a:xfrm>
            <a:off x="658368" y="3867912"/>
            <a:ext cx="502920" cy="502920"/>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779069" y="3988613"/>
            <a:ext cx="261518" cy="261518"/>
          </a:xfrm>
          <a:prstGeom prst="rect">
            <a:avLst/>
          </a:prstGeom>
        </p:spPr>
      </p:pic>
      <p:sp>
        <p:nvSpPr>
          <p:cNvPr id="28" name="Text 22"/>
          <p:cNvSpPr txBox="1"/>
          <p:nvPr/>
        </p:nvSpPr>
        <p:spPr>
          <a:xfrm>
            <a:off x="1325880" y="3813048"/>
            <a:ext cx="7223760" cy="62179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The diagnostic question to take away</a:t>
            </a:r>
            <a:endParaRPr lang="en-US" sz="1100" dirty="0"/>
          </a:p>
          <a:p>
            <a:pPr marL="0" indent="0">
              <a:buNone/>
            </a:pPr>
            <a:r>
              <a:rPr lang="en-US" sz="1200" dirty="0">
                <a:solidFill>
                  <a:srgbClr val="231F20"/>
                </a:solidFill>
                <a:latin typeface="Calibri" pitchFamily="34" charset="0"/>
                <a:ea typeface="Calibri" pitchFamily="34" charset="-122"/>
                <a:cs typeface="Calibri" pitchFamily="34" charset="-120"/>
              </a:rPr>
              <a:t>Faced with any proposal: which layer does it touch — the weights, the context, or the output turned into action?</a:t>
            </a:r>
            <a:endParaRPr lang="en-US" sz="11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INTRODUCTION  ·  AGENDA</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Six steps, one common thread</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a:t>
            </a:r>
            <a:endParaRPr lang="en-US" sz="850" dirty="0"/>
          </a:p>
        </p:txBody>
      </p:sp>
      <p:sp>
        <p:nvSpPr>
          <p:cNvPr id="10" name="Shape 8"/>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11" name="Text 9"/>
          <p:cNvSpPr txBox="1"/>
          <p:nvPr/>
        </p:nvSpPr>
        <p:spPr>
          <a:xfrm>
            <a:off x="640080" y="1508760"/>
            <a:ext cx="914400" cy="502920"/>
          </a:xfrm>
          <a:prstGeom prst="rect">
            <a:avLst/>
          </a:prstGeom>
          <a:noFill/>
          <a:ln/>
        </p:spPr>
        <p:txBody>
          <a:bodyPr wrap="square" lIns="0" tIns="0" rIns="0" bIns="0" rtlCol="0" anchor="t"/>
          <a:lstStyle/>
          <a:p>
            <a:pPr marL="0" indent="0">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2" name="Text 10"/>
          <p:cNvSpPr txBox="1"/>
          <p:nvPr/>
        </p:nvSpPr>
        <p:spPr>
          <a:xfrm>
            <a:off x="640080" y="20299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Why a shared vocabulary</a:t>
            </a:r>
            <a:endParaRPr lang="en-US" sz="1250" dirty="0"/>
          </a:p>
        </p:txBody>
      </p:sp>
      <p:sp>
        <p:nvSpPr>
          <p:cNvPr id="13" name="Text 11"/>
          <p:cNvSpPr txBox="1"/>
          <p:nvPr/>
        </p:nvSpPr>
        <p:spPr>
          <a:xfrm>
            <a:off x="64008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What is really new since 1976</a:t>
            </a:r>
            <a:endParaRPr lang="en-US" sz="1000" dirty="0"/>
          </a:p>
        </p:txBody>
      </p:sp>
      <p:sp>
        <p:nvSpPr>
          <p:cNvPr id="14" name="Shape 12"/>
          <p:cNvSpPr/>
          <p:nvPr/>
        </p:nvSpPr>
        <p:spPr>
          <a:xfrm>
            <a:off x="2286000" y="1600200"/>
            <a:ext cx="594360" cy="219456"/>
          </a:xfrm>
          <a:prstGeom prst="roundRect">
            <a:avLst>
              <a:gd name="adj" fmla="val 50000"/>
            </a:avLst>
          </a:prstGeom>
          <a:solidFill>
            <a:srgbClr val="00A86A">
              <a:alpha val="15000"/>
            </a:srgbClr>
          </a:solidFill>
          <a:ln w="9525">
            <a:solidFill>
              <a:srgbClr val="00A86A"/>
            </a:solidFill>
            <a:prstDash val="solid"/>
          </a:ln>
        </p:spPr>
      </p:sp>
      <p:sp>
        <p:nvSpPr>
          <p:cNvPr id="15" name="Text 13"/>
          <p:cNvSpPr txBox="1"/>
          <p:nvPr/>
        </p:nvSpPr>
        <p:spPr>
          <a:xfrm>
            <a:off x="2286000" y="1600200"/>
            <a:ext cx="594360" cy="219456"/>
          </a:xfrm>
          <a:prstGeom prst="rect">
            <a:avLst/>
          </a:prstGeom>
          <a:noFill/>
          <a:ln/>
        </p:spPr>
        <p:txBody>
          <a:bodyPr wrap="square" lIns="0" tIns="0" rIns="0" bIns="0" rtlCol="0" anchor="ctr"/>
          <a:lstStyle/>
          <a:p>
            <a:pPr marL="0" indent="0" algn="ctr">
              <a:buNone/>
            </a:pPr>
            <a:r>
              <a:rPr lang="en-US" sz="900" b="1" dirty="0">
                <a:solidFill>
                  <a:srgbClr val="00A86A"/>
                </a:solidFill>
                <a:latin typeface="Calibri" pitchFamily="34" charset="0"/>
                <a:ea typeface="Calibri" pitchFamily="34" charset="-122"/>
                <a:cs typeface="Calibri" pitchFamily="34" charset="-120"/>
              </a:rPr>
              <a:t>2 min</a:t>
            </a:r>
            <a:endParaRPr lang="en-US" sz="900" dirty="0"/>
          </a:p>
        </p:txBody>
      </p:sp>
      <p:sp>
        <p:nvSpPr>
          <p:cNvPr id="16" name="Shape 14"/>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3429000" y="1508760"/>
            <a:ext cx="914400" cy="502920"/>
          </a:xfrm>
          <a:prstGeom prst="rect">
            <a:avLst/>
          </a:prstGeom>
          <a:noFill/>
          <a:ln/>
        </p:spPr>
        <p:txBody>
          <a:bodyPr wrap="square" lIns="0" tIns="0" rIns="0" bIns="0" rtlCol="0" anchor="t"/>
          <a:lstStyle/>
          <a:p>
            <a:pPr marL="0" indent="0">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8" name="Text 16"/>
          <p:cNvSpPr txBox="1"/>
          <p:nvPr/>
        </p:nvSpPr>
        <p:spPr>
          <a:xfrm>
            <a:off x="3429000" y="20299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The tree: from AI to AGI</a:t>
            </a:r>
            <a:endParaRPr lang="en-US" sz="1250" dirty="0"/>
          </a:p>
        </p:txBody>
      </p:sp>
      <p:sp>
        <p:nvSpPr>
          <p:cNvPr id="19" name="Text 17"/>
          <p:cNvSpPr txBox="1"/>
          <p:nvPr/>
        </p:nvSpPr>
        <p:spPr>
          <a:xfrm>
            <a:off x="342900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What contains what, and where AGI sits</a:t>
            </a:r>
            <a:endParaRPr lang="en-US" sz="1000" dirty="0"/>
          </a:p>
        </p:txBody>
      </p:sp>
      <p:sp>
        <p:nvSpPr>
          <p:cNvPr id="20" name="Shape 18"/>
          <p:cNvSpPr/>
          <p:nvPr/>
        </p:nvSpPr>
        <p:spPr>
          <a:xfrm>
            <a:off x="5074920" y="1600200"/>
            <a:ext cx="594360" cy="219456"/>
          </a:xfrm>
          <a:prstGeom prst="roundRect">
            <a:avLst>
              <a:gd name="adj" fmla="val 50000"/>
            </a:avLst>
          </a:prstGeom>
          <a:solidFill>
            <a:srgbClr val="00704A">
              <a:alpha val="15000"/>
            </a:srgbClr>
          </a:solidFill>
          <a:ln w="9525">
            <a:solidFill>
              <a:srgbClr val="00704A"/>
            </a:solidFill>
            <a:prstDash val="solid"/>
          </a:ln>
        </p:spPr>
      </p:sp>
      <p:sp>
        <p:nvSpPr>
          <p:cNvPr id="21" name="Text 19"/>
          <p:cNvSpPr txBox="1"/>
          <p:nvPr/>
        </p:nvSpPr>
        <p:spPr>
          <a:xfrm>
            <a:off x="5074920" y="1600200"/>
            <a:ext cx="594360" cy="219456"/>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6 min</a:t>
            </a:r>
            <a:endParaRPr lang="en-US" sz="900" dirty="0"/>
          </a:p>
        </p:txBody>
      </p:sp>
      <p:sp>
        <p:nvSpPr>
          <p:cNvPr id="22" name="Shape 2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23" name="Text 21"/>
          <p:cNvSpPr txBox="1"/>
          <p:nvPr/>
        </p:nvSpPr>
        <p:spPr>
          <a:xfrm>
            <a:off x="6217920" y="1508760"/>
            <a:ext cx="914400" cy="502920"/>
          </a:xfrm>
          <a:prstGeom prst="rect">
            <a:avLst/>
          </a:prstGeom>
          <a:noFill/>
          <a:ln/>
        </p:spPr>
        <p:txBody>
          <a:bodyPr wrap="square" lIns="0" tIns="0" rIns="0" bIns="0" rtlCol="0" anchor="t"/>
          <a:lstStyle/>
          <a:p>
            <a:pPr marL="0" indent="0">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4" name="Text 22"/>
          <p:cNvSpPr txBox="1"/>
          <p:nvPr/>
        </p:nvSpPr>
        <p:spPr>
          <a:xfrm>
            <a:off x="6217920" y="20299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The model: what an LLM is</a:t>
            </a:r>
            <a:endParaRPr lang="en-US" sz="1250" dirty="0"/>
          </a:p>
        </p:txBody>
      </p:sp>
      <p:sp>
        <p:nvSpPr>
          <p:cNvPr id="25" name="Text 23"/>
          <p:cNvSpPr txBox="1"/>
          <p:nvPr/>
        </p:nvSpPr>
        <p:spPr>
          <a:xfrm>
            <a:off x="6217920" y="23134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What a model is, and its limits</a:t>
            </a:r>
            <a:endParaRPr lang="en-US" sz="1000" dirty="0"/>
          </a:p>
        </p:txBody>
      </p:sp>
      <p:sp>
        <p:nvSpPr>
          <p:cNvPr id="26" name="Shape 24"/>
          <p:cNvSpPr/>
          <p:nvPr/>
        </p:nvSpPr>
        <p:spPr>
          <a:xfrm>
            <a:off x="7863840" y="1600200"/>
            <a:ext cx="594360" cy="219456"/>
          </a:xfrm>
          <a:prstGeom prst="roundRect">
            <a:avLst>
              <a:gd name="adj" fmla="val 50000"/>
            </a:avLst>
          </a:prstGeom>
          <a:solidFill>
            <a:srgbClr val="0E7C86">
              <a:alpha val="15000"/>
            </a:srgbClr>
          </a:solidFill>
          <a:ln w="9525">
            <a:solidFill>
              <a:srgbClr val="0E7C86"/>
            </a:solidFill>
            <a:prstDash val="solid"/>
          </a:ln>
        </p:spPr>
      </p:sp>
      <p:sp>
        <p:nvSpPr>
          <p:cNvPr id="27" name="Text 25"/>
          <p:cNvSpPr txBox="1"/>
          <p:nvPr/>
        </p:nvSpPr>
        <p:spPr>
          <a:xfrm>
            <a:off x="7863840" y="1600200"/>
            <a:ext cx="594360" cy="219456"/>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6 min</a:t>
            </a:r>
            <a:endParaRPr lang="en-US" sz="900" dirty="0"/>
          </a:p>
        </p:txBody>
      </p:sp>
      <p:sp>
        <p:nvSpPr>
          <p:cNvPr id="28" name="Shape 26"/>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29" name="Text 27"/>
          <p:cNvSpPr txBox="1"/>
          <p:nvPr/>
        </p:nvSpPr>
        <p:spPr>
          <a:xfrm>
            <a:off x="640080" y="3108960"/>
            <a:ext cx="914400" cy="502920"/>
          </a:xfrm>
          <a:prstGeom prst="rect">
            <a:avLst/>
          </a:prstGeom>
          <a:noFill/>
          <a:ln/>
        </p:spPr>
        <p:txBody>
          <a:bodyPr wrap="square" lIns="0" tIns="0" rIns="0" bIns="0" rtlCol="0" anchor="t"/>
          <a:lstStyle/>
          <a:p>
            <a:pPr marL="0" indent="0">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30" name="Text 28"/>
          <p:cNvSpPr txBox="1"/>
          <p:nvPr/>
        </p:nvSpPr>
        <p:spPr>
          <a:xfrm>
            <a:off x="640080" y="36301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Steering: prompt, RAG, fine-tuning</a:t>
            </a:r>
            <a:endParaRPr lang="en-US" sz="1250" dirty="0"/>
          </a:p>
        </p:txBody>
      </p:sp>
      <p:sp>
        <p:nvSpPr>
          <p:cNvPr id="31" name="Text 29"/>
          <p:cNvSpPr txBox="1"/>
          <p:nvPr/>
        </p:nvSpPr>
        <p:spPr>
          <a:xfrm>
            <a:off x="64008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Four places to intervene</a:t>
            </a:r>
            <a:endParaRPr lang="en-US" sz="1000" dirty="0"/>
          </a:p>
        </p:txBody>
      </p:sp>
      <p:sp>
        <p:nvSpPr>
          <p:cNvPr id="32" name="Shape 30"/>
          <p:cNvSpPr/>
          <p:nvPr/>
        </p:nvSpPr>
        <p:spPr>
          <a:xfrm>
            <a:off x="2286000" y="3200400"/>
            <a:ext cx="594360" cy="219456"/>
          </a:xfrm>
          <a:prstGeom prst="roundRect">
            <a:avLst>
              <a:gd name="adj" fmla="val 50000"/>
            </a:avLst>
          </a:prstGeom>
          <a:solidFill>
            <a:srgbClr val="D49A00">
              <a:alpha val="15000"/>
            </a:srgbClr>
          </a:solidFill>
          <a:ln w="9525">
            <a:solidFill>
              <a:srgbClr val="D49A00"/>
            </a:solidFill>
            <a:prstDash val="solid"/>
          </a:ln>
        </p:spPr>
      </p:sp>
      <p:sp>
        <p:nvSpPr>
          <p:cNvPr id="33" name="Text 31"/>
          <p:cNvSpPr txBox="1"/>
          <p:nvPr/>
        </p:nvSpPr>
        <p:spPr>
          <a:xfrm>
            <a:off x="2286000" y="3200400"/>
            <a:ext cx="594360" cy="219456"/>
          </a:xfrm>
          <a:prstGeom prst="rect">
            <a:avLst/>
          </a:prstGeom>
          <a:noFill/>
          <a:ln/>
        </p:spPr>
        <p:txBody>
          <a:bodyPr wrap="square" lIns="0" tIns="0" rIns="0" bIns="0" rtlCol="0" anchor="ctr"/>
          <a:lstStyle/>
          <a:p>
            <a:pPr marL="0" indent="0" algn="ctr">
              <a:buNone/>
            </a:pPr>
            <a:r>
              <a:rPr lang="en-US" sz="900" b="1" dirty="0">
                <a:solidFill>
                  <a:srgbClr val="D49A00"/>
                </a:solidFill>
                <a:latin typeface="Calibri" pitchFamily="34" charset="0"/>
                <a:ea typeface="Calibri" pitchFamily="34" charset="-122"/>
                <a:cs typeface="Calibri" pitchFamily="34" charset="-120"/>
              </a:rPr>
              <a:t>6 min</a:t>
            </a:r>
            <a:endParaRPr lang="en-US" sz="900" dirty="0"/>
          </a:p>
        </p:txBody>
      </p:sp>
      <p:sp>
        <p:nvSpPr>
          <p:cNvPr id="34" name="Shape 32"/>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35" name="Text 33"/>
          <p:cNvSpPr txBox="1"/>
          <p:nvPr/>
        </p:nvSpPr>
        <p:spPr>
          <a:xfrm>
            <a:off x="3429000" y="3108960"/>
            <a:ext cx="914400" cy="502920"/>
          </a:xfrm>
          <a:prstGeom prst="rect">
            <a:avLst/>
          </a:prstGeom>
          <a:noFill/>
          <a:ln/>
        </p:spPr>
        <p:txBody>
          <a:bodyPr wrap="square" lIns="0" tIns="0" rIns="0" bIns="0" rtlCol="0" anchor="t"/>
          <a:lstStyle/>
          <a:p>
            <a:pPr marL="0" indent="0">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36" name="Text 34"/>
          <p:cNvSpPr txBox="1"/>
          <p:nvPr/>
        </p:nvSpPr>
        <p:spPr>
          <a:xfrm>
            <a:off x="3429000" y="36301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Acting: agents, tools, MCP</a:t>
            </a:r>
            <a:endParaRPr lang="en-US" sz="1250" dirty="0"/>
          </a:p>
        </p:txBody>
      </p:sp>
      <p:sp>
        <p:nvSpPr>
          <p:cNvPr id="37" name="Text 35"/>
          <p:cNvSpPr txBox="1"/>
          <p:nvPr/>
        </p:nvSpPr>
        <p:spPr>
          <a:xfrm>
            <a:off x="342900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When output becomes action</a:t>
            </a:r>
            <a:endParaRPr lang="en-US" sz="1000" dirty="0"/>
          </a:p>
        </p:txBody>
      </p:sp>
      <p:sp>
        <p:nvSpPr>
          <p:cNvPr id="38" name="Shape 36"/>
          <p:cNvSpPr/>
          <p:nvPr/>
        </p:nvSpPr>
        <p:spPr>
          <a:xfrm>
            <a:off x="5074920" y="3200400"/>
            <a:ext cx="594360" cy="219456"/>
          </a:xfrm>
          <a:prstGeom prst="roundRect">
            <a:avLst>
              <a:gd name="adj" fmla="val 50000"/>
            </a:avLst>
          </a:prstGeom>
          <a:solidFill>
            <a:srgbClr val="C4621D">
              <a:alpha val="15000"/>
            </a:srgbClr>
          </a:solidFill>
          <a:ln w="9525">
            <a:solidFill>
              <a:srgbClr val="C4621D"/>
            </a:solidFill>
            <a:prstDash val="solid"/>
          </a:ln>
        </p:spPr>
      </p:sp>
      <p:sp>
        <p:nvSpPr>
          <p:cNvPr id="39" name="Text 37"/>
          <p:cNvSpPr txBox="1"/>
          <p:nvPr/>
        </p:nvSpPr>
        <p:spPr>
          <a:xfrm>
            <a:off x="5074920" y="3200400"/>
            <a:ext cx="594360" cy="219456"/>
          </a:xfrm>
          <a:prstGeom prst="rect">
            <a:avLst/>
          </a:prstGeom>
          <a:noFill/>
          <a:ln/>
        </p:spPr>
        <p:txBody>
          <a:bodyPr wrap="square" lIns="0" tIns="0" rIns="0" bIns="0" rtlCol="0" anchor="ctr"/>
          <a:lstStyle/>
          <a:p>
            <a:pPr marL="0" indent="0" algn="ctr">
              <a:buNone/>
            </a:pPr>
            <a:r>
              <a:rPr lang="en-US" sz="900" b="1" dirty="0">
                <a:solidFill>
                  <a:srgbClr val="C4621D"/>
                </a:solidFill>
                <a:latin typeface="Calibri" pitchFamily="34" charset="0"/>
                <a:ea typeface="Calibri" pitchFamily="34" charset="-122"/>
                <a:cs typeface="Calibri" pitchFamily="34" charset="-120"/>
              </a:rPr>
              <a:t>5 min</a:t>
            </a:r>
            <a:endParaRPr lang="en-US" sz="900" dirty="0"/>
          </a:p>
        </p:txBody>
      </p:sp>
      <p:sp>
        <p:nvSpPr>
          <p:cNvPr id="40" name="Shape 38"/>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41" name="Text 39"/>
          <p:cNvSpPr txBox="1"/>
          <p:nvPr/>
        </p:nvSpPr>
        <p:spPr>
          <a:xfrm>
            <a:off x="6217920" y="3108960"/>
            <a:ext cx="914400" cy="502920"/>
          </a:xfrm>
          <a:prstGeom prst="rect">
            <a:avLst/>
          </a:prstGeom>
          <a:noFill/>
          <a:ln/>
        </p:spPr>
        <p:txBody>
          <a:bodyPr wrap="square" lIns="0" tIns="0" rIns="0" bIns="0" rtlCol="0" anchor="t"/>
          <a:lstStyle/>
          <a:p>
            <a:pPr marL="0" indent="0">
              <a:buNone/>
            </a:pPr>
            <a:r>
              <a:rPr lang="en-US" sz="3200" b="1" dirty="0">
                <a:solidFill>
                  <a:srgbClr val="B83B2E"/>
                </a:solidFill>
                <a:latin typeface="Calibri" pitchFamily="34" charset="0"/>
                <a:ea typeface="Calibri" pitchFamily="34" charset="-122"/>
                <a:cs typeface="Calibri" pitchFamily="34" charset="-120"/>
              </a:rPr>
              <a:t>06</a:t>
            </a:r>
            <a:endParaRPr lang="en-US" sz="3200" dirty="0"/>
          </a:p>
        </p:txBody>
      </p:sp>
      <p:sp>
        <p:nvSpPr>
          <p:cNvPr id="42" name="Text 40"/>
          <p:cNvSpPr txBox="1"/>
          <p:nvPr/>
        </p:nvSpPr>
        <p:spPr>
          <a:xfrm>
            <a:off x="6217920" y="3630168"/>
            <a:ext cx="2331720" cy="27432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For official statistics</a:t>
            </a:r>
            <a:endParaRPr lang="en-US" sz="1250" dirty="0"/>
          </a:p>
        </p:txBody>
      </p:sp>
      <p:sp>
        <p:nvSpPr>
          <p:cNvPr id="43" name="Text 41"/>
          <p:cNvSpPr txBox="1"/>
          <p:nvPr/>
        </p:nvSpPr>
        <p:spPr>
          <a:xfrm>
            <a:off x="6217920" y="3913632"/>
            <a:ext cx="2286000" cy="365760"/>
          </a:xfrm>
          <a:prstGeom prst="rect">
            <a:avLst/>
          </a:prstGeom>
          <a:noFill/>
          <a:ln/>
        </p:spPr>
        <p:txBody>
          <a:bodyPr wrap="square" lIns="0" tIns="0" rIns="0" bIns="0" rtlCol="0" anchor="t"/>
          <a:lstStyle/>
          <a:p>
            <a:pPr marL="0" indent="0">
              <a:buNone/>
            </a:pPr>
            <a:r>
              <a:rPr lang="en-US" sz="1000" dirty="0">
                <a:solidFill>
                  <a:srgbClr val="5E6964"/>
                </a:solidFill>
                <a:latin typeface="Calibri" pitchFamily="34" charset="0"/>
                <a:ea typeface="Calibri" pitchFamily="34" charset="-122"/>
                <a:cs typeface="Calibri" pitchFamily="34" charset="-120"/>
              </a:rPr>
              <a:t>AI-ready, can / cannot, red line</a:t>
            </a:r>
            <a:endParaRPr lang="en-US" sz="1000" dirty="0"/>
          </a:p>
        </p:txBody>
      </p:sp>
      <p:sp>
        <p:nvSpPr>
          <p:cNvPr id="44" name="Shape 42"/>
          <p:cNvSpPr/>
          <p:nvPr/>
        </p:nvSpPr>
        <p:spPr>
          <a:xfrm>
            <a:off x="7863840" y="3200400"/>
            <a:ext cx="594360" cy="219456"/>
          </a:xfrm>
          <a:prstGeom prst="roundRect">
            <a:avLst>
              <a:gd name="adj" fmla="val 50000"/>
            </a:avLst>
          </a:prstGeom>
          <a:solidFill>
            <a:srgbClr val="B83B2E">
              <a:alpha val="15000"/>
            </a:srgbClr>
          </a:solidFill>
          <a:ln w="9525">
            <a:solidFill>
              <a:srgbClr val="B83B2E"/>
            </a:solidFill>
            <a:prstDash val="solid"/>
          </a:ln>
        </p:spPr>
      </p:sp>
      <p:sp>
        <p:nvSpPr>
          <p:cNvPr id="45" name="Text 43"/>
          <p:cNvSpPr txBox="1"/>
          <p:nvPr/>
        </p:nvSpPr>
        <p:spPr>
          <a:xfrm>
            <a:off x="7863840" y="3200400"/>
            <a:ext cx="594360" cy="21945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5 min</a:t>
            </a:r>
            <a:endParaRPr lang="en-US" sz="9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01</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Why a shared vocabulary</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If machines have been deciding since 1976, what is actually new?</a:t>
            </a:r>
            <a:endParaRPr lang="en-US" sz="1600" dirty="0"/>
          </a:p>
        </p:txBody>
      </p:sp>
      <p:sp>
        <p:nvSpPr>
          <p:cNvPr id="6" name="Shape 4"/>
          <p:cNvSpPr/>
          <p:nvPr/>
        </p:nvSpPr>
        <p:spPr>
          <a:xfrm>
            <a:off x="548640" y="4160520"/>
            <a:ext cx="100584" cy="100584"/>
          </a:xfrm>
          <a:prstGeom prst="ellipse">
            <a:avLst/>
          </a:prstGeom>
          <a:solidFill>
            <a:srgbClr val="F5C242"/>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01  ·  WHY A SHARED VOCABULARY</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Machine decision-making isn't new: your profession has done it since 1976</a:t>
            </a:r>
            <a:endParaRPr lang="en-US" sz="22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5</a:t>
            </a:r>
            <a:endParaRPr lang="en-US" sz="850" dirty="0"/>
          </a:p>
        </p:txBody>
      </p:sp>
      <p:sp>
        <p:nvSpPr>
          <p:cNvPr id="16" name="Shape 14"/>
          <p:cNvSpPr/>
          <p:nvPr/>
        </p:nvSpPr>
        <p:spPr>
          <a:xfrm>
            <a:off x="548640" y="2487168"/>
            <a:ext cx="8046720" cy="0"/>
          </a:xfrm>
          <a:prstGeom prst="line">
            <a:avLst/>
          </a:prstGeom>
          <a:noFill/>
          <a:ln w="25400">
            <a:solidFill>
              <a:srgbClr val="D5DED9"/>
            </a:solidFill>
            <a:prstDash val="solid"/>
          </a:ln>
        </p:spPr>
      </p:sp>
      <p:sp>
        <p:nvSpPr>
          <p:cNvPr id="17" name="Shape 15"/>
          <p:cNvSpPr/>
          <p:nvPr/>
        </p:nvSpPr>
        <p:spPr>
          <a:xfrm>
            <a:off x="1060704" y="2404872"/>
            <a:ext cx="164592" cy="164592"/>
          </a:xfrm>
          <a:prstGeom prst="ellipse">
            <a:avLst/>
          </a:prstGeom>
          <a:solidFill>
            <a:srgbClr val="FFFFFF"/>
          </a:solidFill>
          <a:ln w="25400">
            <a:solidFill>
              <a:srgbClr val="00A86A"/>
            </a:solidFill>
            <a:prstDash val="solid"/>
          </a:ln>
        </p:spPr>
      </p:sp>
      <p:sp>
        <p:nvSpPr>
          <p:cNvPr id="18" name="Text 16"/>
          <p:cNvSpPr txBox="1"/>
          <p:nvPr/>
        </p:nvSpPr>
        <p:spPr>
          <a:xfrm>
            <a:off x="484632"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1950</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Turing test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Can a machine think?</a:t>
            </a:r>
            <a:endParaRPr lang="en-US" sz="1100" dirty="0"/>
          </a:p>
        </p:txBody>
      </p:sp>
      <p:sp>
        <p:nvSpPr>
          <p:cNvPr id="19" name="Shape 17"/>
          <p:cNvSpPr/>
          <p:nvPr/>
        </p:nvSpPr>
        <p:spPr>
          <a:xfrm>
            <a:off x="2040418" y="2404872"/>
            <a:ext cx="164592" cy="164592"/>
          </a:xfrm>
          <a:prstGeom prst="ellipse">
            <a:avLst/>
          </a:prstGeom>
          <a:solidFill>
            <a:srgbClr val="FFFFFF"/>
          </a:solidFill>
          <a:ln w="25400">
            <a:solidFill>
              <a:srgbClr val="00A86A"/>
            </a:solidFill>
            <a:prstDash val="solid"/>
          </a:ln>
        </p:spPr>
      </p:sp>
      <p:sp>
        <p:nvSpPr>
          <p:cNvPr id="20" name="Text 18"/>
          <p:cNvSpPr txBox="1"/>
          <p:nvPr/>
        </p:nvSpPr>
        <p:spPr>
          <a:xfrm>
            <a:off x="1464346"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1956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Dartmouth</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The term “artificial intelligence” is coined</a:t>
            </a:r>
            <a:endParaRPr lang="en-US" sz="1100" dirty="0"/>
          </a:p>
        </p:txBody>
      </p:sp>
      <p:sp>
        <p:nvSpPr>
          <p:cNvPr id="21" name="Shape 19"/>
          <p:cNvSpPr/>
          <p:nvPr/>
        </p:nvSpPr>
        <p:spPr>
          <a:xfrm>
            <a:off x="3020133" y="2404872"/>
            <a:ext cx="164592" cy="164592"/>
          </a:xfrm>
          <a:prstGeom prst="ellipse">
            <a:avLst/>
          </a:prstGeom>
          <a:solidFill>
            <a:srgbClr val="F5C242"/>
          </a:solidFill>
          <a:ln w="25400">
            <a:solidFill>
              <a:srgbClr val="D49A00"/>
            </a:solidFill>
            <a:prstDash val="solid"/>
          </a:ln>
        </p:spPr>
      </p:sp>
      <p:sp>
        <p:nvSpPr>
          <p:cNvPr id="22" name="Text 20"/>
          <p:cNvSpPr txBox="1"/>
          <p:nvPr/>
        </p:nvSpPr>
        <p:spPr>
          <a:xfrm>
            <a:off x="2444061" y="1389888"/>
            <a:ext cx="1316736" cy="960120"/>
          </a:xfrm>
          <a:prstGeom prst="rect">
            <a:avLst/>
          </a:prstGeom>
          <a:noFill/>
          <a:ln/>
        </p:spPr>
        <p:txBody>
          <a:bodyPr wrap="square" lIns="0" tIns="0" rIns="0" bIns="0" rtlCol="0" anchor="b"/>
          <a:lstStyle/>
          <a:p>
            <a:pPr marL="0" indent="0" algn="ctr">
              <a:buNone/>
            </a:pPr>
            <a:r>
              <a:rPr lang="en-US" sz="1500" b="1" dirty="0">
                <a:solidFill>
                  <a:srgbClr val="D49A00"/>
                </a:solidFill>
                <a:latin typeface="Calibri" pitchFamily="34" charset="0"/>
                <a:ea typeface="Calibri" pitchFamily="34" charset="-122"/>
                <a:cs typeface="Calibri" pitchFamily="34" charset="-120"/>
              </a:rPr>
              <a:t>1976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Fellegi–Holt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Automatic edit and imputation</a:t>
            </a:r>
            <a:endParaRPr lang="en-US" sz="1100" dirty="0"/>
          </a:p>
        </p:txBody>
      </p:sp>
      <p:sp>
        <p:nvSpPr>
          <p:cNvPr id="23" name="Shape 21"/>
          <p:cNvSpPr/>
          <p:nvPr/>
        </p:nvSpPr>
        <p:spPr>
          <a:xfrm>
            <a:off x="3999847" y="2404872"/>
            <a:ext cx="164592" cy="164592"/>
          </a:xfrm>
          <a:prstGeom prst="ellipse">
            <a:avLst/>
          </a:prstGeom>
          <a:solidFill>
            <a:srgbClr val="FFFFFF"/>
          </a:solidFill>
          <a:ln w="25400">
            <a:solidFill>
              <a:srgbClr val="00A86A"/>
            </a:solidFill>
            <a:prstDash val="solid"/>
          </a:ln>
        </p:spPr>
      </p:sp>
      <p:sp>
        <p:nvSpPr>
          <p:cNvPr id="24" name="Text 22"/>
          <p:cNvSpPr txBox="1"/>
          <p:nvPr/>
        </p:nvSpPr>
        <p:spPr>
          <a:xfrm>
            <a:off x="3423775"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1986</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Backpropagation</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Neural networks learn</a:t>
            </a:r>
            <a:endParaRPr lang="en-US" sz="1100" dirty="0"/>
          </a:p>
        </p:txBody>
      </p:sp>
      <p:sp>
        <p:nvSpPr>
          <p:cNvPr id="25" name="Shape 23"/>
          <p:cNvSpPr/>
          <p:nvPr/>
        </p:nvSpPr>
        <p:spPr>
          <a:xfrm>
            <a:off x="4979561" y="2404872"/>
            <a:ext cx="164592" cy="164592"/>
          </a:xfrm>
          <a:prstGeom prst="ellipse">
            <a:avLst/>
          </a:prstGeom>
          <a:solidFill>
            <a:srgbClr val="FFFFFF"/>
          </a:solidFill>
          <a:ln w="25400">
            <a:solidFill>
              <a:srgbClr val="00A86A"/>
            </a:solidFill>
            <a:prstDash val="solid"/>
          </a:ln>
        </p:spPr>
      </p:sp>
      <p:sp>
        <p:nvSpPr>
          <p:cNvPr id="26" name="Text 24"/>
          <p:cNvSpPr txBox="1"/>
          <p:nvPr/>
        </p:nvSpPr>
        <p:spPr>
          <a:xfrm>
            <a:off x="4403489"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AlexNet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Deep learning takes off</a:t>
            </a:r>
            <a:endParaRPr lang="en-US" sz="1100" dirty="0"/>
          </a:p>
        </p:txBody>
      </p:sp>
      <p:sp>
        <p:nvSpPr>
          <p:cNvPr id="27" name="Shape 25"/>
          <p:cNvSpPr/>
          <p:nvPr/>
        </p:nvSpPr>
        <p:spPr>
          <a:xfrm>
            <a:off x="5959275" y="2404872"/>
            <a:ext cx="164592" cy="164592"/>
          </a:xfrm>
          <a:prstGeom prst="ellipse">
            <a:avLst/>
          </a:prstGeom>
          <a:solidFill>
            <a:srgbClr val="FFFFFF"/>
          </a:solidFill>
          <a:ln w="25400">
            <a:solidFill>
              <a:srgbClr val="00A86A"/>
            </a:solidFill>
            <a:prstDash val="solid"/>
          </a:ln>
        </p:spPr>
      </p:sp>
      <p:sp>
        <p:nvSpPr>
          <p:cNvPr id="28" name="Text 26"/>
          <p:cNvSpPr txBox="1"/>
          <p:nvPr/>
        </p:nvSpPr>
        <p:spPr>
          <a:xfrm>
            <a:off x="5383203"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2017</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Transformer</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The architecture behind today's LLMs</a:t>
            </a:r>
            <a:endParaRPr lang="en-US" sz="1100" dirty="0"/>
          </a:p>
        </p:txBody>
      </p:sp>
      <p:sp>
        <p:nvSpPr>
          <p:cNvPr id="29" name="Shape 27"/>
          <p:cNvSpPr/>
          <p:nvPr/>
        </p:nvSpPr>
        <p:spPr>
          <a:xfrm>
            <a:off x="6938990" y="2404872"/>
            <a:ext cx="164592" cy="164592"/>
          </a:xfrm>
          <a:prstGeom prst="ellipse">
            <a:avLst/>
          </a:prstGeom>
          <a:solidFill>
            <a:srgbClr val="FFFFFF"/>
          </a:solidFill>
          <a:ln w="25400">
            <a:solidFill>
              <a:srgbClr val="00A86A"/>
            </a:solidFill>
            <a:prstDash val="solid"/>
          </a:ln>
        </p:spPr>
      </p:sp>
      <p:sp>
        <p:nvSpPr>
          <p:cNvPr id="30" name="Text 28"/>
          <p:cNvSpPr txBox="1"/>
          <p:nvPr/>
        </p:nvSpPr>
        <p:spPr>
          <a:xfrm>
            <a:off x="6362918" y="1389888"/>
            <a:ext cx="1316736" cy="960120"/>
          </a:xfrm>
          <a:prstGeom prst="rect">
            <a:avLst/>
          </a:prstGeom>
          <a:noFill/>
          <a:ln/>
        </p:spPr>
        <p:txBody>
          <a:bodyPr wrap="square" lIns="0" tIns="0" rIns="0" bIns="0" rtlCol="0" anchor="b"/>
          <a:lstStyle/>
          <a:p>
            <a:pPr marL="0" indent="0" algn="ctr">
              <a:buNone/>
            </a:pPr>
            <a:r>
              <a:rPr lang="en-US" sz="1500" b="1" dirty="0">
                <a:solidFill>
                  <a:srgbClr val="00A86A"/>
                </a:solidFill>
                <a:latin typeface="Calibri" pitchFamily="34" charset="0"/>
                <a:ea typeface="Calibri" pitchFamily="34" charset="-122"/>
                <a:cs typeface="Calibri" pitchFamily="34" charset="-120"/>
              </a:rPr>
              <a:t>2022</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ChatGPT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LLMs reach the general public</a:t>
            </a:r>
            <a:endParaRPr lang="en-US" sz="1100" dirty="0"/>
          </a:p>
        </p:txBody>
      </p:sp>
      <p:sp>
        <p:nvSpPr>
          <p:cNvPr id="31" name="Shape 29"/>
          <p:cNvSpPr/>
          <p:nvPr/>
        </p:nvSpPr>
        <p:spPr>
          <a:xfrm>
            <a:off x="7918704" y="2404872"/>
            <a:ext cx="164592" cy="164592"/>
          </a:xfrm>
          <a:prstGeom prst="ellipse">
            <a:avLst/>
          </a:prstGeom>
          <a:solidFill>
            <a:srgbClr val="FFFFFF"/>
          </a:solidFill>
          <a:ln w="25400">
            <a:solidFill>
              <a:srgbClr val="00A86A"/>
            </a:solidFill>
            <a:prstDash val="solid"/>
          </a:ln>
        </p:spPr>
      </p:sp>
      <p:sp>
        <p:nvSpPr>
          <p:cNvPr id="32" name="Text 30"/>
          <p:cNvSpPr txBox="1"/>
          <p:nvPr/>
        </p:nvSpPr>
        <p:spPr>
          <a:xfrm>
            <a:off x="7342632" y="2670048"/>
            <a:ext cx="1316736" cy="960120"/>
          </a:xfrm>
          <a:prstGeom prst="rect">
            <a:avLst/>
          </a:prstGeom>
          <a:noFill/>
          <a:ln/>
        </p:spPr>
        <p:txBody>
          <a:bodyPr wrap="square" lIns="0" tIns="0" rIns="0" bIns="0" rtlCol="0" anchor="t"/>
          <a:lstStyle/>
          <a:p>
            <a:pPr marL="0" indent="0" algn="ctr">
              <a:buNone/>
            </a:pPr>
            <a:r>
              <a:rPr lang="en-US" sz="1500" b="1" dirty="0">
                <a:solidFill>
                  <a:srgbClr val="00A86A"/>
                </a:solidFill>
                <a:latin typeface="Calibri" pitchFamily="34" charset="0"/>
                <a:ea typeface="Calibri" pitchFamily="34" charset="-122"/>
                <a:cs typeface="Calibri" pitchFamily="34" charset="-120"/>
              </a:rPr>
              <a:t>2024–25</a:t>
            </a:r>
            <a:endParaRPr lang="en-US" sz="1100" dirty="0"/>
          </a:p>
          <a:p>
            <a:pPr marL="0" indent="0" algn="ctr">
              <a:buNone/>
            </a:pPr>
            <a:r>
              <a:rPr lang="en-US" sz="1050" b="1" dirty="0">
                <a:solidFill>
                  <a:srgbClr val="231F20"/>
                </a:solidFill>
                <a:latin typeface="Calibri" pitchFamily="34" charset="0"/>
                <a:ea typeface="Calibri" pitchFamily="34" charset="-122"/>
                <a:cs typeface="Calibri" pitchFamily="34" charset="-120"/>
              </a:rPr>
              <a:t>Agents and MCP</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Models plug into tools</a:t>
            </a:r>
            <a:endParaRPr lang="en-US" sz="1100" dirty="0"/>
          </a:p>
        </p:txBody>
      </p:sp>
      <p:sp>
        <p:nvSpPr>
          <p:cNvPr id="33" name="Shape 31"/>
          <p:cNvSpPr/>
          <p:nvPr/>
        </p:nvSpPr>
        <p:spPr>
          <a:xfrm>
            <a:off x="457200" y="3730752"/>
            <a:ext cx="8229600" cy="804672"/>
          </a:xfrm>
          <a:prstGeom prst="roundRect">
            <a:avLst>
              <a:gd name="adj" fmla="val 9091"/>
            </a:avLst>
          </a:prstGeom>
          <a:solidFill>
            <a:srgbClr val="FBF3DE"/>
          </a:solidFill>
          <a:ln w="15875">
            <a:solidFill>
              <a:srgbClr val="D49A00"/>
            </a:solidFill>
            <a:prstDash val="solid"/>
          </a:ln>
        </p:spPr>
      </p:sp>
      <p:sp>
        <p:nvSpPr>
          <p:cNvPr id="34" name="Shape 32"/>
          <p:cNvSpPr/>
          <p:nvPr/>
        </p:nvSpPr>
        <p:spPr>
          <a:xfrm>
            <a:off x="640080" y="3877056"/>
            <a:ext cx="502920" cy="502920"/>
          </a:xfrm>
          <a:prstGeom prst="ellipse">
            <a:avLst/>
          </a:prstGeom>
          <a:solidFill>
            <a:srgbClr val="D49A00">
              <a:alpha val="22000"/>
            </a:srgbClr>
          </a:solidFill>
          <a:ln/>
        </p:spPr>
      </p:sp>
      <p:pic>
        <p:nvPicPr>
          <p:cNvPr id="35" name="Image 0" descr="preencoded.png"/>
          <p:cNvPicPr>
            <a:picLocks noChangeAspect="1"/>
          </p:cNvPicPr>
          <p:nvPr/>
        </p:nvPicPr>
        <p:blipFill>
          <a:blip r:embed="rId3"/>
          <a:stretch>
            <a:fillRect/>
          </a:stretch>
        </p:blipFill>
        <p:spPr>
          <a:xfrm>
            <a:off x="760781" y="3997757"/>
            <a:ext cx="261518" cy="261518"/>
          </a:xfrm>
          <a:prstGeom prst="rect">
            <a:avLst/>
          </a:prstGeom>
        </p:spPr>
      </p:pic>
      <p:sp>
        <p:nvSpPr>
          <p:cNvPr id="36" name="Text 33"/>
          <p:cNvSpPr txBox="1"/>
          <p:nvPr/>
        </p:nvSpPr>
        <p:spPr>
          <a:xfrm>
            <a:off x="1298448" y="3785616"/>
            <a:ext cx="7269480" cy="694944"/>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Fellegi and Holt (1976) </a:t>
            </a:r>
            <a:r>
              <a:rPr lang="en-US" sz="1100" dirty="0">
                <a:solidFill>
                  <a:srgbClr val="231F20"/>
                </a:solidFill>
                <a:latin typeface="Calibri" pitchFamily="34" charset="0"/>
                <a:ea typeface="Calibri" pitchFamily="34" charset="-122"/>
                <a:cs typeface="Calibri" pitchFamily="34" charset="-120"/>
              </a:rPr>
              <a:t>already described a system that flags inconsistent responses, decides which fields to change and computes replacement values. </a:t>
            </a:r>
            <a:r>
              <a:rPr lang="en-US" sz="1100" b="1" dirty="0">
                <a:solidFill>
                  <a:srgbClr val="00704A"/>
                </a:solidFill>
                <a:latin typeface="Calibri" pitchFamily="34" charset="0"/>
                <a:ea typeface="Calibri" pitchFamily="34" charset="-122"/>
                <a:cs typeface="Calibri" pitchFamily="34" charset="-120"/>
              </a:rPr>
              <a:t>What is new is not that a machine decides: it is that one system generalises to a thousand tasks, directed in plain language.</a:t>
            </a:r>
            <a:endParaRPr lang="en-US" sz="1100" dirty="0"/>
          </a:p>
        </p:txBody>
      </p:sp>
      <p:sp>
        <p:nvSpPr>
          <p:cNvPr id="37" name="Text 34"/>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Fellegi, I. P. &amp; Holt, D. (1976), JASA 71(353) · Rumelhart, Hinton &amp; Williams (1986), Nature 323 · Vaswani et al. (2017), NeurIPS 30.</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01  ·  WHY A SHARED VOCABULARY</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What has broken, and what has not</a:t>
            </a:r>
            <a:endParaRPr lang="en-US" sz="2800" dirty="0"/>
          </a:p>
        </p:txBody>
      </p:sp>
      <p:sp>
        <p:nvSpPr>
          <p:cNvPr id="8" name="Shape 6"/>
          <p:cNvSpPr/>
          <p:nvPr/>
        </p:nvSpPr>
        <p:spPr>
          <a:xfrm>
            <a:off x="7635240" y="329184"/>
            <a:ext cx="100584" cy="100584"/>
          </a:xfrm>
          <a:prstGeom prst="ellipse">
            <a:avLst/>
          </a:prstGeom>
          <a:solidFill>
            <a:srgbClr val="00A86A"/>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6</a:t>
            </a:r>
            <a:endParaRPr lang="en-US" sz="850" dirty="0"/>
          </a:p>
        </p:txBody>
      </p:sp>
      <p:sp>
        <p:nvSpPr>
          <p:cNvPr id="16" name="Shape 14"/>
          <p:cNvSpPr/>
          <p:nvPr/>
        </p:nvSpPr>
        <p:spPr>
          <a:xfrm>
            <a:off x="457200" y="1371600"/>
            <a:ext cx="39776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658368" y="1499616"/>
            <a:ext cx="420624" cy="420624"/>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759318" y="1600566"/>
            <a:ext cx="218724" cy="218724"/>
          </a:xfrm>
          <a:prstGeom prst="rect">
            <a:avLst/>
          </a:prstGeom>
        </p:spPr>
      </p:pic>
      <p:sp>
        <p:nvSpPr>
          <p:cNvPr id="19" name="Text 16"/>
          <p:cNvSpPr txBox="1"/>
          <p:nvPr/>
        </p:nvSpPr>
        <p:spPr>
          <a:xfrm>
            <a:off x="1207008" y="1499616"/>
            <a:ext cx="3017520" cy="420624"/>
          </a:xfrm>
          <a:prstGeom prst="rect">
            <a:avLst/>
          </a:prstGeom>
          <a:noFill/>
          <a:ln/>
        </p:spPr>
        <p:txBody>
          <a:bodyPr wrap="square" lIns="0" tIns="0" rIns="0" bIns="0" rtlCol="0" anchor="ctr"/>
          <a:lstStyle/>
          <a:p>
            <a:pPr marL="0" indent="0">
              <a:buNone/>
            </a:pPr>
            <a:r>
              <a:rPr lang="en-US" sz="1500" b="1" dirty="0">
                <a:solidFill>
                  <a:srgbClr val="00704A"/>
                </a:solidFill>
                <a:latin typeface="Calibri" pitchFamily="34" charset="0"/>
                <a:ea typeface="Calibri" pitchFamily="34" charset="-122"/>
                <a:cs typeface="Calibri" pitchFamily="34" charset="-120"/>
              </a:rPr>
              <a:t>What remains</a:t>
            </a:r>
            <a:endParaRPr lang="en-US" sz="1500" dirty="0"/>
          </a:p>
        </p:txBody>
      </p:sp>
      <p:sp>
        <p:nvSpPr>
          <p:cNvPr id="20" name="Text 17"/>
          <p:cNvSpPr txBox="1"/>
          <p:nvPr/>
        </p:nvSpPr>
        <p:spPr>
          <a:xfrm>
            <a:off x="685800" y="2057400"/>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Machine decision-making</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in your office since 1976</a:t>
            </a:r>
            <a:endParaRPr lang="en-US" sz="1100" dirty="0"/>
          </a:p>
        </p:txBody>
      </p:sp>
      <p:sp>
        <p:nvSpPr>
          <p:cNvPr id="21" name="Text 18"/>
          <p:cNvSpPr txBox="1"/>
          <p:nvPr/>
        </p:nvSpPr>
        <p:spPr>
          <a:xfrm>
            <a:off x="685800" y="2505456"/>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Fitting a function to data</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the core of your discipline</a:t>
            </a:r>
            <a:endParaRPr lang="en-US" sz="1100" dirty="0"/>
          </a:p>
        </p:txBody>
      </p:sp>
      <p:sp>
        <p:nvSpPr>
          <p:cNvPr id="22" name="Text 19"/>
          <p:cNvSpPr txBox="1"/>
          <p:nvPr/>
        </p:nvSpPr>
        <p:spPr>
          <a:xfrm>
            <a:off x="685800" y="2953512"/>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The duty to reproduce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which none of these technologies changes</a:t>
            </a:r>
            <a:endParaRPr lang="en-US" sz="1100" dirty="0"/>
          </a:p>
        </p:txBody>
      </p:sp>
      <p:sp>
        <p:nvSpPr>
          <p:cNvPr id="23" name="Text 20"/>
          <p:cNvSpPr txBox="1"/>
          <p:nvPr/>
        </p:nvSpPr>
        <p:spPr>
          <a:xfrm>
            <a:off x="685800" y="3401568"/>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The need to evaluate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harder, never optional</a:t>
            </a:r>
            <a:endParaRPr lang="en-US" sz="1100" dirty="0"/>
          </a:p>
        </p:txBody>
      </p:sp>
      <p:sp>
        <p:nvSpPr>
          <p:cNvPr id="24" name="Shape 21"/>
          <p:cNvSpPr/>
          <p:nvPr/>
        </p:nvSpPr>
        <p:spPr>
          <a:xfrm>
            <a:off x="4709160" y="1371600"/>
            <a:ext cx="3977640" cy="2487168"/>
          </a:xfrm>
          <a:prstGeom prst="roundRect">
            <a:avLst>
              <a:gd name="adj" fmla="val 2941"/>
            </a:avLst>
          </a:prstGeom>
          <a:solidFill>
            <a:srgbClr val="E8F5EF"/>
          </a:solidFill>
          <a:ln w="15875">
            <a:solidFill>
              <a:srgbClr val="00A86A"/>
            </a:solidFill>
            <a:prstDash val="solid"/>
          </a:ln>
        </p:spPr>
      </p:sp>
      <p:sp>
        <p:nvSpPr>
          <p:cNvPr id="25" name="Shape 22"/>
          <p:cNvSpPr/>
          <p:nvPr/>
        </p:nvSpPr>
        <p:spPr>
          <a:xfrm>
            <a:off x="4910328" y="1499616"/>
            <a:ext cx="420624" cy="420624"/>
          </a:xfrm>
          <a:prstGeom prst="ellipse">
            <a:avLst/>
          </a:prstGeom>
          <a:solidFill>
            <a:srgbClr val="00A86A">
              <a:alpha val="22000"/>
            </a:srgbClr>
          </a:solidFill>
          <a:ln/>
        </p:spPr>
      </p:sp>
      <p:pic>
        <p:nvPicPr>
          <p:cNvPr id="26" name="Image 1" descr="preencoded.png"/>
          <p:cNvPicPr>
            <a:picLocks noChangeAspect="1"/>
          </p:cNvPicPr>
          <p:nvPr/>
        </p:nvPicPr>
        <p:blipFill>
          <a:blip r:embed="rId4"/>
          <a:stretch>
            <a:fillRect/>
          </a:stretch>
        </p:blipFill>
        <p:spPr>
          <a:xfrm>
            <a:off x="5011278" y="1600566"/>
            <a:ext cx="218724" cy="218724"/>
          </a:xfrm>
          <a:prstGeom prst="rect">
            <a:avLst/>
          </a:prstGeom>
        </p:spPr>
      </p:pic>
      <p:sp>
        <p:nvSpPr>
          <p:cNvPr id="27" name="Text 23"/>
          <p:cNvSpPr txBox="1"/>
          <p:nvPr/>
        </p:nvSpPr>
        <p:spPr>
          <a:xfrm>
            <a:off x="5458968" y="1499616"/>
            <a:ext cx="3017520" cy="420624"/>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What has broken</a:t>
            </a:r>
            <a:endParaRPr lang="en-US" sz="1500" dirty="0"/>
          </a:p>
        </p:txBody>
      </p:sp>
      <p:sp>
        <p:nvSpPr>
          <p:cNvPr id="28" name="Text 24"/>
          <p:cNvSpPr txBox="1"/>
          <p:nvPr/>
        </p:nvSpPr>
        <p:spPr>
          <a:xfrm>
            <a:off x="4937760" y="2057400"/>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One system, a thousand tasks</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including unforeseen ones</a:t>
            </a:r>
            <a:endParaRPr lang="en-US" sz="1100" dirty="0"/>
          </a:p>
        </p:txBody>
      </p:sp>
      <p:sp>
        <p:nvSpPr>
          <p:cNvPr id="29" name="Text 25"/>
          <p:cNvSpPr txBox="1"/>
          <p:nvPr/>
        </p:nvSpPr>
        <p:spPr>
          <a:xfrm>
            <a:off x="4937760" y="2505456"/>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The interface</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plain language, not code</a:t>
            </a:r>
            <a:endParaRPr lang="en-US" sz="1100" dirty="0"/>
          </a:p>
        </p:txBody>
      </p:sp>
      <p:sp>
        <p:nvSpPr>
          <p:cNvPr id="30" name="Text 26"/>
          <p:cNvSpPr txBox="1"/>
          <p:nvPr/>
        </p:nvSpPr>
        <p:spPr>
          <a:xfrm>
            <a:off x="4937760" y="2953512"/>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Who can direct it</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no programmer in between</a:t>
            </a:r>
            <a:endParaRPr lang="en-US" sz="1100" dirty="0"/>
          </a:p>
        </p:txBody>
      </p:sp>
      <p:sp>
        <p:nvSpPr>
          <p:cNvPr id="31" name="Text 27"/>
          <p:cNvSpPr txBox="1"/>
          <p:nvPr/>
        </p:nvSpPr>
        <p:spPr>
          <a:xfrm>
            <a:off x="4937760" y="3401568"/>
            <a:ext cx="3566160" cy="420624"/>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The cost of a trial</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near zero, so everyone tries</a:t>
            </a:r>
            <a:endParaRPr lang="en-US" sz="1100" dirty="0"/>
          </a:p>
        </p:txBody>
      </p:sp>
      <p:sp>
        <p:nvSpPr>
          <p:cNvPr id="32" name="Shape 28"/>
          <p:cNvSpPr/>
          <p:nvPr/>
        </p:nvSpPr>
        <p:spPr>
          <a:xfrm>
            <a:off x="457200" y="3986784"/>
            <a:ext cx="8229600" cy="548640"/>
          </a:xfrm>
          <a:prstGeom prst="roundRect">
            <a:avLst>
              <a:gd name="adj" fmla="val 13333"/>
            </a:avLst>
          </a:prstGeom>
          <a:solidFill>
            <a:srgbClr val="FBF3DE"/>
          </a:solidFill>
          <a:ln w="15875">
            <a:solidFill>
              <a:srgbClr val="D49A00"/>
            </a:solidFill>
            <a:prstDash val="solid"/>
          </a:ln>
        </p:spPr>
      </p:sp>
      <p:sp>
        <p:nvSpPr>
          <p:cNvPr id="33" name="Shape 29"/>
          <p:cNvSpPr/>
          <p:nvPr/>
        </p:nvSpPr>
        <p:spPr>
          <a:xfrm>
            <a:off x="603504" y="4059936"/>
            <a:ext cx="402336" cy="402336"/>
          </a:xfrm>
          <a:prstGeom prst="ellipse">
            <a:avLst/>
          </a:prstGeom>
          <a:solidFill>
            <a:srgbClr val="D49A00">
              <a:alpha val="22000"/>
            </a:srgbClr>
          </a:solidFill>
          <a:ln/>
        </p:spPr>
      </p:sp>
      <p:pic>
        <p:nvPicPr>
          <p:cNvPr id="34" name="Image 2" descr="preencoded.png"/>
          <p:cNvPicPr>
            <a:picLocks noChangeAspect="1"/>
          </p:cNvPicPr>
          <p:nvPr/>
        </p:nvPicPr>
        <p:blipFill>
          <a:blip r:embed="rId5"/>
          <a:stretch>
            <a:fillRect/>
          </a:stretch>
        </p:blipFill>
        <p:spPr>
          <a:xfrm>
            <a:off x="700065" y="4156497"/>
            <a:ext cx="209215" cy="209215"/>
          </a:xfrm>
          <a:prstGeom prst="rect">
            <a:avLst/>
          </a:prstGeom>
        </p:spPr>
      </p:pic>
      <p:sp>
        <p:nvSpPr>
          <p:cNvPr id="35" name="Text 30"/>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The trap: </a:t>
            </a:r>
            <a:r>
              <a:rPr lang="en-US" sz="1200" dirty="0">
                <a:solidFill>
                  <a:srgbClr val="231F20"/>
                </a:solidFill>
                <a:latin typeface="Calibri" pitchFamily="34" charset="0"/>
                <a:ea typeface="Calibri" pitchFamily="34" charset="-122"/>
                <a:cs typeface="Calibri" pitchFamily="34" charset="-120"/>
              </a:rPr>
              <a:t>LLM, RAG, fine-tuning, agent and MCP are sold as rival products. They are layers of the same machine.</a:t>
            </a:r>
            <a:endParaRPr lang="en-US" sz="1200" dirty="0"/>
          </a:p>
        </p:txBody>
      </p:sp>
      <p:sp>
        <p:nvSpPr>
          <p:cNvPr id="36" name="Text 31"/>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Framework: Bresnahan &amp; Trajtenberg (1995), general purpose technologies · Exposure: Eloundou et al. (2024), Science 384.</a:t>
            </a:r>
            <a:endParaRPr lang="en-US" sz="9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02</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The tree: from AI to AGI</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Is an LLM a kind of AI? And does AGI already exist?</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5C242"/>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THE TREE: FROM AI TO 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Each concept sits inside the one before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8</a:t>
            </a:r>
            <a:endParaRPr lang="en-US" sz="850" dirty="0"/>
          </a:p>
        </p:txBody>
      </p:sp>
      <p:sp>
        <p:nvSpPr>
          <p:cNvPr id="16" name="Shape 14"/>
          <p:cNvSpPr/>
          <p:nvPr/>
        </p:nvSpPr>
        <p:spPr>
          <a:xfrm>
            <a:off x="457200" y="1371600"/>
            <a:ext cx="4023360" cy="3154680"/>
          </a:xfrm>
          <a:prstGeom prst="roundRect">
            <a:avLst>
              <a:gd name="adj" fmla="val 2319"/>
            </a:avLst>
          </a:prstGeom>
          <a:solidFill>
            <a:srgbClr val="9ED9C0">
              <a:alpha val="30000"/>
            </a:srgbClr>
          </a:solidFill>
          <a:ln w="9525">
            <a:solidFill>
              <a:srgbClr val="00704A"/>
            </a:solidFill>
            <a:prstDash val="solid"/>
          </a:ln>
        </p:spPr>
      </p:sp>
      <p:sp>
        <p:nvSpPr>
          <p:cNvPr id="17" name="Text 15"/>
          <p:cNvSpPr txBox="1"/>
          <p:nvPr/>
        </p:nvSpPr>
        <p:spPr>
          <a:xfrm>
            <a:off x="585216" y="1463040"/>
            <a:ext cx="3749040"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ARTIFICIAL INTELLIGENCE</a:t>
            </a:r>
            <a:endParaRPr lang="en-US" sz="950" dirty="0"/>
          </a:p>
        </p:txBody>
      </p:sp>
      <p:sp>
        <p:nvSpPr>
          <p:cNvPr id="18" name="Shape 16"/>
          <p:cNvSpPr/>
          <p:nvPr/>
        </p:nvSpPr>
        <p:spPr>
          <a:xfrm>
            <a:off x="658368" y="1755648"/>
            <a:ext cx="3621024" cy="2633472"/>
          </a:xfrm>
          <a:prstGeom prst="roundRect">
            <a:avLst>
              <a:gd name="adj" fmla="val 2778"/>
            </a:avLst>
          </a:prstGeom>
          <a:solidFill>
            <a:srgbClr val="7BCBA9">
              <a:alpha val="30000"/>
            </a:srgbClr>
          </a:solidFill>
          <a:ln w="9525">
            <a:solidFill>
              <a:srgbClr val="00704A"/>
            </a:solidFill>
            <a:prstDash val="solid"/>
          </a:ln>
        </p:spPr>
      </p:sp>
      <p:sp>
        <p:nvSpPr>
          <p:cNvPr id="19" name="Text 17"/>
          <p:cNvSpPr txBox="1"/>
          <p:nvPr/>
        </p:nvSpPr>
        <p:spPr>
          <a:xfrm>
            <a:off x="786384" y="1847088"/>
            <a:ext cx="3346704"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MACHINE LEARNING</a:t>
            </a:r>
            <a:endParaRPr lang="en-US" sz="950" dirty="0"/>
          </a:p>
        </p:txBody>
      </p:sp>
      <p:sp>
        <p:nvSpPr>
          <p:cNvPr id="20" name="Shape 18"/>
          <p:cNvSpPr/>
          <p:nvPr/>
        </p:nvSpPr>
        <p:spPr>
          <a:xfrm>
            <a:off x="859536" y="2139696"/>
            <a:ext cx="3218688" cy="2112264"/>
          </a:xfrm>
          <a:prstGeom prst="roundRect">
            <a:avLst>
              <a:gd name="adj" fmla="val 3463"/>
            </a:avLst>
          </a:prstGeom>
          <a:solidFill>
            <a:srgbClr val="57BD92">
              <a:alpha val="30000"/>
            </a:srgbClr>
          </a:solidFill>
          <a:ln w="9525">
            <a:solidFill>
              <a:srgbClr val="00704A"/>
            </a:solidFill>
            <a:prstDash val="solid"/>
          </a:ln>
        </p:spPr>
      </p:sp>
      <p:sp>
        <p:nvSpPr>
          <p:cNvPr id="21" name="Text 19"/>
          <p:cNvSpPr txBox="1"/>
          <p:nvPr/>
        </p:nvSpPr>
        <p:spPr>
          <a:xfrm>
            <a:off x="987552" y="2231136"/>
            <a:ext cx="2944368"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DEEP LEARNING</a:t>
            </a:r>
            <a:endParaRPr lang="en-US" sz="950" dirty="0"/>
          </a:p>
        </p:txBody>
      </p:sp>
      <p:sp>
        <p:nvSpPr>
          <p:cNvPr id="22" name="Shape 20"/>
          <p:cNvSpPr/>
          <p:nvPr/>
        </p:nvSpPr>
        <p:spPr>
          <a:xfrm>
            <a:off x="1060704" y="2523744"/>
            <a:ext cx="2816352" cy="1591056"/>
          </a:xfrm>
          <a:prstGeom prst="roundRect">
            <a:avLst>
              <a:gd name="adj" fmla="val 4598"/>
            </a:avLst>
          </a:prstGeom>
          <a:solidFill>
            <a:srgbClr val="33AF7C">
              <a:alpha val="30000"/>
            </a:srgbClr>
          </a:solidFill>
          <a:ln w="9525">
            <a:solidFill>
              <a:srgbClr val="00704A"/>
            </a:solidFill>
            <a:prstDash val="solid"/>
          </a:ln>
        </p:spPr>
      </p:sp>
      <p:sp>
        <p:nvSpPr>
          <p:cNvPr id="23" name="Text 21"/>
          <p:cNvSpPr txBox="1"/>
          <p:nvPr/>
        </p:nvSpPr>
        <p:spPr>
          <a:xfrm>
            <a:off x="1188720" y="2615184"/>
            <a:ext cx="2542032" cy="219456"/>
          </a:xfrm>
          <a:prstGeom prst="rect">
            <a:avLst/>
          </a:prstGeom>
          <a:noFill/>
          <a:ln/>
        </p:spPr>
        <p:txBody>
          <a:bodyPr wrap="square" lIns="0" tIns="0" rIns="0" bIns="0" rtlCol="0" anchor="t"/>
          <a:lstStyle/>
          <a:p>
            <a:pPr marL="0" indent="0">
              <a:buNone/>
            </a:pPr>
            <a:r>
              <a:rPr lang="en-US" sz="950" b="1" kern="0" spc="100" dirty="0">
                <a:solidFill>
                  <a:srgbClr val="00553A"/>
                </a:solidFill>
                <a:latin typeface="Calibri" pitchFamily="34" charset="0"/>
                <a:ea typeface="Calibri" pitchFamily="34" charset="-122"/>
                <a:cs typeface="Calibri" pitchFamily="34" charset="-120"/>
              </a:rPr>
              <a:t>TRANSFORMER</a:t>
            </a:r>
            <a:endParaRPr lang="en-US" sz="950" dirty="0"/>
          </a:p>
        </p:txBody>
      </p:sp>
      <p:sp>
        <p:nvSpPr>
          <p:cNvPr id="24" name="Shape 22"/>
          <p:cNvSpPr/>
          <p:nvPr/>
        </p:nvSpPr>
        <p:spPr>
          <a:xfrm>
            <a:off x="1261872" y="2907792"/>
            <a:ext cx="2414016" cy="1005840"/>
          </a:xfrm>
          <a:prstGeom prst="roundRect">
            <a:avLst>
              <a:gd name="adj" fmla="val 7273"/>
            </a:avLst>
          </a:prstGeom>
          <a:solidFill>
            <a:srgbClr val="00553A"/>
          </a:solidFill>
          <a:ln/>
        </p:spPr>
      </p:sp>
      <p:sp>
        <p:nvSpPr>
          <p:cNvPr id="25" name="Text 23"/>
          <p:cNvSpPr txBox="1"/>
          <p:nvPr/>
        </p:nvSpPr>
        <p:spPr>
          <a:xfrm>
            <a:off x="1261872" y="2907792"/>
            <a:ext cx="2414016" cy="10058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LLM</a:t>
            </a:r>
            <a:endParaRPr lang="en-US" sz="1100" dirty="0"/>
          </a:p>
          <a:p>
            <a:pPr marL="0" indent="0" algn="ctr">
              <a:buNone/>
            </a:pPr>
            <a:r>
              <a:rPr lang="en-US" sz="1000" dirty="0">
                <a:solidFill>
                  <a:srgbClr val="E6F6EE"/>
                </a:solidFill>
                <a:latin typeface="Calibri" pitchFamily="34" charset="0"/>
                <a:ea typeface="Calibri" pitchFamily="34" charset="-122"/>
                <a:cs typeface="Calibri" pitchFamily="34" charset="-120"/>
              </a:rPr>
              <a:t>large language model</a:t>
            </a:r>
            <a:endParaRPr lang="en-US" sz="1100" dirty="0"/>
          </a:p>
        </p:txBody>
      </p:sp>
      <p:sp>
        <p:nvSpPr>
          <p:cNvPr id="26" name="Shape 24"/>
          <p:cNvSpPr/>
          <p:nvPr/>
        </p:nvSpPr>
        <p:spPr>
          <a:xfrm>
            <a:off x="4709160" y="1417320"/>
            <a:ext cx="146304" cy="146304"/>
          </a:xfrm>
          <a:prstGeom prst="ellipse">
            <a:avLst/>
          </a:prstGeom>
          <a:solidFill>
            <a:srgbClr val="9ED9C0"/>
          </a:solidFill>
          <a:ln w="6350">
            <a:solidFill>
              <a:srgbClr val="00704A"/>
            </a:solidFill>
            <a:prstDash val="solid"/>
          </a:ln>
        </p:spPr>
      </p:sp>
      <p:sp>
        <p:nvSpPr>
          <p:cNvPr id="27" name="Text 25"/>
          <p:cNvSpPr txBox="1"/>
          <p:nvPr/>
        </p:nvSpPr>
        <p:spPr>
          <a:xfrm>
            <a:off x="4983480" y="1371600"/>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AI</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A machine performs a task considered “intelligent”, even using rules.</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e.g. Fellegi–Holt editing rules</a:t>
            </a:r>
            <a:endParaRPr lang="en-US" sz="1100" dirty="0"/>
          </a:p>
        </p:txBody>
      </p:sp>
      <p:sp>
        <p:nvSpPr>
          <p:cNvPr id="28" name="Shape 26"/>
          <p:cNvSpPr/>
          <p:nvPr/>
        </p:nvSpPr>
        <p:spPr>
          <a:xfrm>
            <a:off x="4709160" y="2048256"/>
            <a:ext cx="146304" cy="146304"/>
          </a:xfrm>
          <a:prstGeom prst="ellipse">
            <a:avLst/>
          </a:prstGeom>
          <a:solidFill>
            <a:srgbClr val="7BCBA9"/>
          </a:solidFill>
          <a:ln w="6350">
            <a:solidFill>
              <a:srgbClr val="00704A"/>
            </a:solidFill>
            <a:prstDash val="solid"/>
          </a:ln>
        </p:spPr>
      </p:sp>
      <p:sp>
        <p:nvSpPr>
          <p:cNvPr id="29" name="Text 27"/>
          <p:cNvSpPr txBox="1"/>
          <p:nvPr/>
        </p:nvSpPr>
        <p:spPr>
          <a:xfrm>
            <a:off x="4983480" y="2002536"/>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Machine learning</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Rules learned from examples rather than written by hand.</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e.g. Automatic occupation coding</a:t>
            </a:r>
            <a:endParaRPr lang="en-US" sz="1100" dirty="0"/>
          </a:p>
        </p:txBody>
      </p:sp>
      <p:sp>
        <p:nvSpPr>
          <p:cNvPr id="30" name="Shape 28"/>
          <p:cNvSpPr/>
          <p:nvPr/>
        </p:nvSpPr>
        <p:spPr>
          <a:xfrm>
            <a:off x="4709160" y="2679192"/>
            <a:ext cx="146304" cy="146304"/>
          </a:xfrm>
          <a:prstGeom prst="ellipse">
            <a:avLst/>
          </a:prstGeom>
          <a:solidFill>
            <a:srgbClr val="57BD92"/>
          </a:solidFill>
          <a:ln w="6350">
            <a:solidFill>
              <a:srgbClr val="00704A"/>
            </a:solidFill>
            <a:prstDash val="solid"/>
          </a:ln>
        </p:spPr>
      </p:sp>
      <p:sp>
        <p:nvSpPr>
          <p:cNvPr id="31" name="Text 29"/>
          <p:cNvSpPr txBox="1"/>
          <p:nvPr/>
        </p:nvSpPr>
        <p:spPr>
          <a:xfrm>
            <a:off x="4983480" y="2633472"/>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Deep learning</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Learning with many-layered neural networks.</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e.g. Detecting buildings in satellite images</a:t>
            </a:r>
            <a:endParaRPr lang="en-US" sz="1100" dirty="0"/>
          </a:p>
        </p:txBody>
      </p:sp>
      <p:sp>
        <p:nvSpPr>
          <p:cNvPr id="32" name="Shape 30"/>
          <p:cNvSpPr/>
          <p:nvPr/>
        </p:nvSpPr>
        <p:spPr>
          <a:xfrm>
            <a:off x="4709160" y="3310128"/>
            <a:ext cx="146304" cy="146304"/>
          </a:xfrm>
          <a:prstGeom prst="ellipse">
            <a:avLst/>
          </a:prstGeom>
          <a:solidFill>
            <a:srgbClr val="33AF7C"/>
          </a:solidFill>
          <a:ln w="6350">
            <a:solidFill>
              <a:srgbClr val="00704A"/>
            </a:solidFill>
            <a:prstDash val="solid"/>
          </a:ln>
        </p:spPr>
      </p:sp>
      <p:sp>
        <p:nvSpPr>
          <p:cNvPr id="33" name="Text 31"/>
          <p:cNvSpPr txBox="1"/>
          <p:nvPr/>
        </p:nvSpPr>
        <p:spPr>
          <a:xfrm>
            <a:off x="4983480" y="3264408"/>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Transformer</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Architecture based on “attention” (2017) that reads text in parallel.</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e.g. Machine translation FR ↔ EN</a:t>
            </a:r>
            <a:endParaRPr lang="en-US" sz="1100" dirty="0"/>
          </a:p>
        </p:txBody>
      </p:sp>
      <p:sp>
        <p:nvSpPr>
          <p:cNvPr id="34" name="Shape 32"/>
          <p:cNvSpPr/>
          <p:nvPr/>
        </p:nvSpPr>
        <p:spPr>
          <a:xfrm>
            <a:off x="4709160" y="3941064"/>
            <a:ext cx="146304" cy="146304"/>
          </a:xfrm>
          <a:prstGeom prst="ellipse">
            <a:avLst/>
          </a:prstGeom>
          <a:solidFill>
            <a:srgbClr val="00553A"/>
          </a:solidFill>
          <a:ln w="6350">
            <a:solidFill>
              <a:srgbClr val="00704A"/>
            </a:solidFill>
            <a:prstDash val="solid"/>
          </a:ln>
        </p:spPr>
      </p:sp>
      <p:sp>
        <p:nvSpPr>
          <p:cNvPr id="35" name="Text 33"/>
          <p:cNvSpPr txBox="1"/>
          <p:nvPr/>
        </p:nvSpPr>
        <p:spPr>
          <a:xfrm>
            <a:off x="4983480" y="3895344"/>
            <a:ext cx="3703320" cy="603504"/>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LLM</a:t>
            </a:r>
            <a:endParaRPr lang="en-US" sz="1100" dirty="0"/>
          </a:p>
          <a:p>
            <a:pPr marL="0" indent="0">
              <a:buNone/>
            </a:pPr>
            <a:r>
              <a:rPr lang="en-US" sz="950" dirty="0">
                <a:solidFill>
                  <a:srgbClr val="231F20"/>
                </a:solidFill>
                <a:latin typeface="Calibri" pitchFamily="34" charset="0"/>
                <a:ea typeface="Calibri" pitchFamily="34" charset="-122"/>
                <a:cs typeface="Calibri" pitchFamily="34" charset="-120"/>
              </a:rPr>
              <a:t>A giant transformer trained to predict the next word.</a:t>
            </a:r>
            <a:endParaRPr lang="en-US" sz="1100" dirty="0"/>
          </a:p>
          <a:p>
            <a:pPr marL="0" indent="0">
              <a:buNone/>
            </a:pPr>
            <a:r>
              <a:rPr lang="en-US" sz="900" i="1" dirty="0">
                <a:solidFill>
                  <a:srgbClr val="00704A"/>
                </a:solidFill>
                <a:latin typeface="Calibri" pitchFamily="34" charset="0"/>
                <a:ea typeface="Calibri" pitchFamily="34" charset="-122"/>
                <a:cs typeface="Calibri" pitchFamily="34" charset="-120"/>
              </a:rPr>
              <a:t>e.g. First draft of a release commentary</a:t>
            </a:r>
            <a:endParaRPr lang="en-US" sz="1100" dirty="0"/>
          </a:p>
        </p:txBody>
      </p:sp>
      <p:sp>
        <p:nvSpPr>
          <p:cNvPr id="36" name="Text 34"/>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 tender that asks for “artificial intelligence” has specified nothing: that ring also contains a rule-based system from 1976.</a:t>
            </a:r>
            <a:endParaRPr lang="en-US" sz="9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THE TREE: FROM AI TO 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AGI: a contested horizon, not an available product</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9</a:t>
            </a:r>
            <a:endParaRPr lang="en-US" sz="850" dirty="0"/>
          </a:p>
        </p:txBody>
      </p:sp>
      <p:sp>
        <p:nvSpPr>
          <p:cNvPr id="16" name="Shape 14"/>
          <p:cNvSpPr/>
          <p:nvPr/>
        </p:nvSpPr>
        <p:spPr>
          <a:xfrm>
            <a:off x="457200" y="1691640"/>
            <a:ext cx="2788920" cy="475488"/>
          </a:xfrm>
          <a:prstGeom prst="homePlate">
            <a:avLst/>
          </a:prstGeom>
          <a:solidFill>
            <a:srgbClr val="57BD92"/>
          </a:solidFill>
          <a:ln/>
        </p:spPr>
      </p:sp>
      <p:sp>
        <p:nvSpPr>
          <p:cNvPr id="17" name="Text 15"/>
          <p:cNvSpPr txBox="1"/>
          <p:nvPr/>
        </p:nvSpPr>
        <p:spPr>
          <a:xfrm>
            <a:off x="6858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Narrow AI </a:t>
            </a:r>
            <a:r>
              <a:rPr lang="en-US" sz="1300" dirty="0">
                <a:solidFill>
                  <a:srgbClr val="FFFFFF"/>
                </a:solidFill>
                <a:latin typeface="Calibri" pitchFamily="34" charset="0"/>
                <a:ea typeface="Calibri" pitchFamily="34" charset="-122"/>
                <a:cs typeface="Calibri" pitchFamily="34" charset="-120"/>
              </a:rPr>
              <a:t>(ANI)</a:t>
            </a:r>
            <a:endParaRPr lang="en-US" sz="1300" dirty="0"/>
          </a:p>
        </p:txBody>
      </p:sp>
      <p:sp>
        <p:nvSpPr>
          <p:cNvPr id="18" name="Shape 16"/>
          <p:cNvSpPr/>
          <p:nvPr/>
        </p:nvSpPr>
        <p:spPr>
          <a:xfrm>
            <a:off x="502920" y="2286000"/>
            <a:ext cx="2606040" cy="1417320"/>
          </a:xfrm>
          <a:prstGeom prst="roundRect">
            <a:avLst>
              <a:gd name="adj" fmla="val 5161"/>
            </a:avLst>
          </a:prstGeom>
          <a:solidFill>
            <a:srgbClr val="F4F7F5"/>
          </a:solidFill>
          <a:ln w="9525">
            <a:solidFill>
              <a:srgbClr val="D5DED9"/>
            </a:solidFill>
            <a:prstDash val="solid"/>
          </a:ln>
        </p:spPr>
      </p:sp>
      <p:sp>
        <p:nvSpPr>
          <p:cNvPr id="19" name="Shape 17"/>
          <p:cNvSpPr/>
          <p:nvPr/>
        </p:nvSpPr>
        <p:spPr>
          <a:xfrm>
            <a:off x="658368" y="2414016"/>
            <a:ext cx="1188720" cy="219456"/>
          </a:xfrm>
          <a:prstGeom prst="roundRect">
            <a:avLst>
              <a:gd name="adj" fmla="val 50000"/>
            </a:avLst>
          </a:prstGeom>
          <a:solidFill>
            <a:srgbClr val="00A86A">
              <a:alpha val="15000"/>
            </a:srgbClr>
          </a:solidFill>
          <a:ln w="9525">
            <a:solidFill>
              <a:srgbClr val="00A86A"/>
            </a:solidFill>
            <a:prstDash val="solid"/>
          </a:ln>
        </p:spPr>
      </p:sp>
      <p:sp>
        <p:nvSpPr>
          <p:cNvPr id="20" name="Text 18"/>
          <p:cNvSpPr txBox="1"/>
          <p:nvPr/>
        </p:nvSpPr>
        <p:spPr>
          <a:xfrm>
            <a:off x="658368" y="2414016"/>
            <a:ext cx="1188720" cy="219456"/>
          </a:xfrm>
          <a:prstGeom prst="rect">
            <a:avLst/>
          </a:prstGeom>
          <a:noFill/>
          <a:ln/>
        </p:spPr>
        <p:txBody>
          <a:bodyPr wrap="square" lIns="0" tIns="0" rIns="0" bIns="0" rtlCol="0" anchor="ctr"/>
          <a:lstStyle/>
          <a:p>
            <a:pPr marL="0" indent="0" algn="ctr">
              <a:buNone/>
            </a:pPr>
            <a:r>
              <a:rPr lang="en-US" sz="900" b="1" dirty="0">
                <a:solidFill>
                  <a:srgbClr val="00A86A"/>
                </a:solidFill>
                <a:latin typeface="Calibri" pitchFamily="34" charset="0"/>
                <a:ea typeface="Calibri" pitchFamily="34" charset="-122"/>
                <a:cs typeface="Calibri" pitchFamily="34" charset="-120"/>
              </a:rPr>
              <a:t>EXISTS</a:t>
            </a:r>
            <a:endParaRPr lang="en-US" sz="900" dirty="0"/>
          </a:p>
        </p:txBody>
      </p:sp>
      <p:sp>
        <p:nvSpPr>
          <p:cNvPr id="21" name="Text 19"/>
          <p:cNvSpPr txBox="1"/>
          <p:nvPr/>
        </p:nvSpPr>
        <p:spPr>
          <a:xfrm>
            <a:off x="658368" y="2724912"/>
            <a:ext cx="2304288" cy="9144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Excels at one task or a family of tasks. LLMs are still here: general in form, uneven in reliability.</a:t>
            </a:r>
            <a:endParaRPr lang="en-US" sz="1100" dirty="0"/>
          </a:p>
        </p:txBody>
      </p:sp>
      <p:sp>
        <p:nvSpPr>
          <p:cNvPr id="22" name="Shape 20"/>
          <p:cNvSpPr/>
          <p:nvPr/>
        </p:nvSpPr>
        <p:spPr>
          <a:xfrm>
            <a:off x="3200400" y="1691640"/>
            <a:ext cx="2788920" cy="475488"/>
          </a:xfrm>
          <a:prstGeom prst="chevron">
            <a:avLst/>
          </a:prstGeom>
          <a:solidFill>
            <a:srgbClr val="00704A"/>
          </a:solidFill>
          <a:ln/>
        </p:spPr>
      </p:sp>
      <p:sp>
        <p:nvSpPr>
          <p:cNvPr id="23" name="Text 21"/>
          <p:cNvSpPr txBox="1"/>
          <p:nvPr/>
        </p:nvSpPr>
        <p:spPr>
          <a:xfrm>
            <a:off x="34290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General AI </a:t>
            </a:r>
            <a:r>
              <a:rPr lang="en-US" sz="1300" dirty="0">
                <a:solidFill>
                  <a:srgbClr val="FFFFFF"/>
                </a:solidFill>
                <a:latin typeface="Calibri" pitchFamily="34" charset="0"/>
                <a:ea typeface="Calibri" pitchFamily="34" charset="-122"/>
                <a:cs typeface="Calibri" pitchFamily="34" charset="-120"/>
              </a:rPr>
              <a:t>(AGI)</a:t>
            </a:r>
            <a:endParaRPr lang="en-US" sz="1300" dirty="0"/>
          </a:p>
        </p:txBody>
      </p:sp>
      <p:sp>
        <p:nvSpPr>
          <p:cNvPr id="24" name="Shape 22"/>
          <p:cNvSpPr/>
          <p:nvPr/>
        </p:nvSpPr>
        <p:spPr>
          <a:xfrm>
            <a:off x="3246120" y="2286000"/>
            <a:ext cx="2606040" cy="1417320"/>
          </a:xfrm>
          <a:prstGeom prst="roundRect">
            <a:avLst>
              <a:gd name="adj" fmla="val 5161"/>
            </a:avLst>
          </a:prstGeom>
          <a:solidFill>
            <a:srgbClr val="E8F5EF"/>
          </a:solidFill>
          <a:ln w="15875">
            <a:solidFill>
              <a:srgbClr val="00704A"/>
            </a:solidFill>
            <a:prstDash val="solid"/>
          </a:ln>
        </p:spPr>
      </p:sp>
      <p:sp>
        <p:nvSpPr>
          <p:cNvPr id="25" name="Shape 23"/>
          <p:cNvSpPr/>
          <p:nvPr/>
        </p:nvSpPr>
        <p:spPr>
          <a:xfrm>
            <a:off x="3401568" y="2414016"/>
            <a:ext cx="1188720" cy="219456"/>
          </a:xfrm>
          <a:prstGeom prst="roundRect">
            <a:avLst>
              <a:gd name="adj" fmla="val 50000"/>
            </a:avLst>
          </a:prstGeom>
          <a:solidFill>
            <a:srgbClr val="D49A00">
              <a:alpha val="15000"/>
            </a:srgbClr>
          </a:solidFill>
          <a:ln w="9525">
            <a:solidFill>
              <a:srgbClr val="D49A00"/>
            </a:solidFill>
            <a:prstDash val="solid"/>
          </a:ln>
        </p:spPr>
      </p:sp>
      <p:sp>
        <p:nvSpPr>
          <p:cNvPr id="26" name="Text 24"/>
          <p:cNvSpPr txBox="1"/>
          <p:nvPr/>
        </p:nvSpPr>
        <p:spPr>
          <a:xfrm>
            <a:off x="3401568" y="2414016"/>
            <a:ext cx="1188720" cy="219456"/>
          </a:xfrm>
          <a:prstGeom prst="rect">
            <a:avLst/>
          </a:prstGeom>
          <a:noFill/>
          <a:ln/>
        </p:spPr>
        <p:txBody>
          <a:bodyPr wrap="square" lIns="0" tIns="0" rIns="0" bIns="0" rtlCol="0" anchor="ctr"/>
          <a:lstStyle/>
          <a:p>
            <a:pPr marL="0" indent="0" algn="ctr">
              <a:buNone/>
            </a:pPr>
            <a:r>
              <a:rPr lang="en-US" sz="900" b="1" dirty="0">
                <a:solidFill>
                  <a:srgbClr val="D49A00"/>
                </a:solidFill>
                <a:latin typeface="Calibri" pitchFamily="34" charset="0"/>
                <a:ea typeface="Calibri" pitchFamily="34" charset="-122"/>
                <a:cs typeface="Calibri" pitchFamily="34" charset="-120"/>
              </a:rPr>
              <a:t>HYPOTHETICAL</a:t>
            </a:r>
            <a:endParaRPr lang="en-US" sz="900" dirty="0"/>
          </a:p>
        </p:txBody>
      </p:sp>
      <p:sp>
        <p:nvSpPr>
          <p:cNvPr id="27" name="Text 25"/>
          <p:cNvSpPr txBox="1"/>
          <p:nvPr/>
        </p:nvSpPr>
        <p:spPr>
          <a:xfrm>
            <a:off x="3401568" y="2724912"/>
            <a:ext cx="2304288" cy="9144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Hypothetical system matching humans on most cognitive tasks, including new ones. No agreed definition.</a:t>
            </a:r>
            <a:endParaRPr lang="en-US" sz="1100" dirty="0"/>
          </a:p>
        </p:txBody>
      </p:sp>
      <p:sp>
        <p:nvSpPr>
          <p:cNvPr id="28" name="Shape 26"/>
          <p:cNvSpPr/>
          <p:nvPr/>
        </p:nvSpPr>
        <p:spPr>
          <a:xfrm>
            <a:off x="5943600" y="1691640"/>
            <a:ext cx="2788920" cy="475488"/>
          </a:xfrm>
          <a:prstGeom prst="chevron">
            <a:avLst/>
          </a:prstGeom>
          <a:solidFill>
            <a:srgbClr val="00553A"/>
          </a:solidFill>
          <a:ln/>
        </p:spPr>
      </p:sp>
      <p:sp>
        <p:nvSpPr>
          <p:cNvPr id="29" name="Text 27"/>
          <p:cNvSpPr txBox="1"/>
          <p:nvPr/>
        </p:nvSpPr>
        <p:spPr>
          <a:xfrm>
            <a:off x="6172200" y="1691640"/>
            <a:ext cx="237744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Superintelligence </a:t>
            </a:r>
            <a:r>
              <a:rPr lang="en-US" sz="1300" dirty="0">
                <a:solidFill>
                  <a:srgbClr val="FFFFFF"/>
                </a:solidFill>
                <a:latin typeface="Calibri" pitchFamily="34" charset="0"/>
                <a:ea typeface="Calibri" pitchFamily="34" charset="-122"/>
                <a:cs typeface="Calibri" pitchFamily="34" charset="-120"/>
              </a:rPr>
              <a:t>(ASI)</a:t>
            </a:r>
            <a:endParaRPr lang="en-US" sz="1300" dirty="0"/>
          </a:p>
        </p:txBody>
      </p:sp>
      <p:sp>
        <p:nvSpPr>
          <p:cNvPr id="30" name="Shape 28"/>
          <p:cNvSpPr/>
          <p:nvPr/>
        </p:nvSpPr>
        <p:spPr>
          <a:xfrm>
            <a:off x="5989320" y="2286000"/>
            <a:ext cx="2606040" cy="1417320"/>
          </a:xfrm>
          <a:prstGeom prst="roundRect">
            <a:avLst>
              <a:gd name="adj" fmla="val 5161"/>
            </a:avLst>
          </a:prstGeom>
          <a:solidFill>
            <a:srgbClr val="F4F7F5"/>
          </a:solidFill>
          <a:ln w="9525">
            <a:solidFill>
              <a:srgbClr val="D5DED9"/>
            </a:solidFill>
            <a:prstDash val="solid"/>
          </a:ln>
        </p:spPr>
      </p:sp>
      <p:sp>
        <p:nvSpPr>
          <p:cNvPr id="31" name="Shape 29"/>
          <p:cNvSpPr/>
          <p:nvPr/>
        </p:nvSpPr>
        <p:spPr>
          <a:xfrm>
            <a:off x="6144768" y="2414016"/>
            <a:ext cx="1188720" cy="219456"/>
          </a:xfrm>
          <a:prstGeom prst="roundRect">
            <a:avLst>
              <a:gd name="adj" fmla="val 50000"/>
            </a:avLst>
          </a:prstGeom>
          <a:solidFill>
            <a:srgbClr val="B83B2E">
              <a:alpha val="15000"/>
            </a:srgbClr>
          </a:solidFill>
          <a:ln w="9525">
            <a:solidFill>
              <a:srgbClr val="B83B2E"/>
            </a:solidFill>
            <a:prstDash val="solid"/>
          </a:ln>
        </p:spPr>
      </p:sp>
      <p:sp>
        <p:nvSpPr>
          <p:cNvPr id="32" name="Text 30"/>
          <p:cNvSpPr txBox="1"/>
          <p:nvPr/>
        </p:nvSpPr>
        <p:spPr>
          <a:xfrm>
            <a:off x="6144768" y="2414016"/>
            <a:ext cx="1188720" cy="21945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SPECULATIVE</a:t>
            </a:r>
            <a:endParaRPr lang="en-US" sz="900" dirty="0"/>
          </a:p>
        </p:txBody>
      </p:sp>
      <p:sp>
        <p:nvSpPr>
          <p:cNvPr id="33" name="Text 31"/>
          <p:cNvSpPr txBox="1"/>
          <p:nvPr/>
        </p:nvSpPr>
        <p:spPr>
          <a:xfrm>
            <a:off x="6144768" y="2724912"/>
            <a:ext cx="2304288" cy="9144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Hypothetical system far exceeding the best humans in almost every domain.</a:t>
            </a:r>
            <a:endParaRPr lang="en-US" sz="1100" dirty="0"/>
          </a:p>
        </p:txBody>
      </p:sp>
      <p:sp>
        <p:nvSpPr>
          <p:cNvPr id="34" name="Shape 32"/>
          <p:cNvSpPr/>
          <p:nvPr/>
        </p:nvSpPr>
        <p:spPr>
          <a:xfrm rot="10800000">
            <a:off x="2487168" y="1517904"/>
            <a:ext cx="182880" cy="137160"/>
          </a:xfrm>
          <a:prstGeom prst="triangle">
            <a:avLst/>
          </a:prstGeom>
          <a:solidFill>
            <a:srgbClr val="F5C242"/>
          </a:solidFill>
          <a:ln/>
        </p:spPr>
      </p:sp>
      <p:sp>
        <p:nvSpPr>
          <p:cNvPr id="35" name="Text 33"/>
          <p:cNvSpPr txBox="1"/>
          <p:nvPr/>
        </p:nvSpPr>
        <p:spPr>
          <a:xfrm>
            <a:off x="2743200" y="1371600"/>
            <a:ext cx="4754880" cy="274320"/>
          </a:xfrm>
          <a:prstGeom prst="rect">
            <a:avLst/>
          </a:prstGeom>
          <a:noFill/>
          <a:ln/>
        </p:spPr>
        <p:txBody>
          <a:bodyPr wrap="square" lIns="0" tIns="0" rIns="0" bIns="0" rtlCol="0" anchor="ctr"/>
          <a:lstStyle/>
          <a:p>
            <a:pPr marL="0" indent="0">
              <a:buNone/>
            </a:pPr>
            <a:r>
              <a:rPr lang="en-US" sz="1000" b="1" i="1" dirty="0">
                <a:solidFill>
                  <a:srgbClr val="D49A00"/>
                </a:solidFill>
                <a:latin typeface="Calibri" pitchFamily="34" charset="0"/>
                <a:ea typeface="Calibri" pitchFamily="34" charset="-122"/>
                <a:cs typeface="Calibri" pitchFamily="34" charset="-120"/>
              </a:rPr>
              <a:t>Today: versatile systems with a “jagged frontier”</a:t>
            </a:r>
            <a:endParaRPr lang="en-US" sz="1000" dirty="0"/>
          </a:p>
        </p:txBody>
      </p:sp>
      <p:sp>
        <p:nvSpPr>
          <p:cNvPr id="36" name="Shape 34"/>
          <p:cNvSpPr/>
          <p:nvPr/>
        </p:nvSpPr>
        <p:spPr>
          <a:xfrm>
            <a:off x="457200" y="3822192"/>
            <a:ext cx="8229600" cy="713232"/>
          </a:xfrm>
          <a:prstGeom prst="roundRect">
            <a:avLst>
              <a:gd name="adj" fmla="val 10256"/>
            </a:avLst>
          </a:prstGeom>
          <a:solidFill>
            <a:srgbClr val="FBF3DE"/>
          </a:solidFill>
          <a:ln w="15875">
            <a:solidFill>
              <a:srgbClr val="D49A00"/>
            </a:solidFill>
            <a:prstDash val="solid"/>
          </a:ln>
        </p:spPr>
      </p:sp>
      <p:sp>
        <p:nvSpPr>
          <p:cNvPr id="37" name="Shape 35"/>
          <p:cNvSpPr/>
          <p:nvPr/>
        </p:nvSpPr>
        <p:spPr>
          <a:xfrm>
            <a:off x="621792" y="3931920"/>
            <a:ext cx="475488" cy="475488"/>
          </a:xfrm>
          <a:prstGeom prst="ellipse">
            <a:avLst/>
          </a:prstGeom>
          <a:solidFill>
            <a:srgbClr val="D49A00">
              <a:alpha val="22000"/>
            </a:srgbClr>
          </a:solidFill>
          <a:ln/>
        </p:spPr>
      </p:sp>
      <p:pic>
        <p:nvPicPr>
          <p:cNvPr id="38" name="Image 0" descr="preencoded.png"/>
          <p:cNvPicPr>
            <a:picLocks noChangeAspect="1"/>
          </p:cNvPicPr>
          <p:nvPr/>
        </p:nvPicPr>
        <p:blipFill>
          <a:blip r:embed="rId3"/>
          <a:stretch>
            <a:fillRect/>
          </a:stretch>
        </p:blipFill>
        <p:spPr>
          <a:xfrm>
            <a:off x="735909" y="4046037"/>
            <a:ext cx="247254" cy="247254"/>
          </a:xfrm>
          <a:prstGeom prst="rect">
            <a:avLst/>
          </a:prstGeom>
        </p:spPr>
      </p:pic>
      <p:sp>
        <p:nvSpPr>
          <p:cNvPr id="39" name="Text 36"/>
          <p:cNvSpPr txBox="1"/>
          <p:nvPr/>
        </p:nvSpPr>
        <p:spPr>
          <a:xfrm>
            <a:off x="1234440" y="3858768"/>
            <a:ext cx="7315200" cy="640080"/>
          </a:xfrm>
          <a:prstGeom prst="rect">
            <a:avLst/>
          </a:prstGeom>
          <a:noFill/>
          <a:ln/>
        </p:spPr>
        <p:txBody>
          <a:bodyPr wrap="square" lIns="0" tIns="0" rIns="0" bIns="0" rtlCol="0" anchor="ctr"/>
          <a:lstStyle/>
          <a:p>
            <a:pPr marL="0" indent="0">
              <a:buNone/>
            </a:pPr>
            <a:r>
              <a:rPr lang="en-US" sz="1150" b="1" dirty="0">
                <a:solidFill>
                  <a:srgbClr val="D49A00"/>
                </a:solidFill>
                <a:latin typeface="Calibri" pitchFamily="34" charset="0"/>
                <a:ea typeface="Calibri" pitchFamily="34" charset="-122"/>
                <a:cs typeface="Calibri" pitchFamily="34" charset="-120"/>
              </a:rPr>
              <a:t>Vocabulary discipline: </a:t>
            </a:r>
            <a:r>
              <a:rPr lang="en-US" sz="1150" dirty="0">
                <a:solidFill>
                  <a:srgbClr val="231F20"/>
                </a:solidFill>
                <a:latin typeface="Calibri" pitchFamily="34" charset="0"/>
                <a:ea typeface="Calibri" pitchFamily="34" charset="-122"/>
                <a:cs typeface="Calibri" pitchFamily="34" charset="-120"/>
              </a:rPr>
              <a:t>“generative AI” is not “AGI”. If an offer promises “AGI” or “near-AGI”, ask: which measured capability, on which task, today?</a:t>
            </a:r>
            <a:endParaRPr lang="en-US" sz="1150" dirty="0"/>
          </a:p>
        </p:txBody>
      </p:sp>
      <p:sp>
        <p:nvSpPr>
          <p:cNvPr id="40" name="Text 37"/>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Morris et al. (2024), “Levels of AGI”, ICML · Blili-Hamelin et al. (2025), “Stop treating AGI as the north-star goal”, arXiv:2502.03689.</a:t>
            </a:r>
            <a:endParaRPr lang="en-US" sz="9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02  ·  THE TREE: FROM AI TO AGI</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Three definitions of AGI, three different finish lines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00704A"/>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6" name="Shape 14"/>
          <p:cNvSpPr/>
          <p:nvPr/>
        </p:nvSpPr>
        <p:spPr>
          <a:xfrm>
            <a:off x="457200" y="1371600"/>
            <a:ext cx="2606040" cy="2011680"/>
          </a:xfrm>
          <a:prstGeom prst="roundRect">
            <a:avLst>
              <a:gd name="adj" fmla="val 3636"/>
            </a:avLst>
          </a:prstGeom>
          <a:solidFill>
            <a:srgbClr val="F4F7F5"/>
          </a:solidFill>
          <a:ln w="9525">
            <a:solidFill>
              <a:srgbClr val="D5DED9"/>
            </a:solidFill>
            <a:prstDash val="solid"/>
          </a:ln>
        </p:spPr>
      </p:sp>
      <p:sp>
        <p:nvSpPr>
          <p:cNvPr id="17" name="Shape 15"/>
          <p:cNvSpPr/>
          <p:nvPr/>
        </p:nvSpPr>
        <p:spPr>
          <a:xfrm>
            <a:off x="658368" y="1508760"/>
            <a:ext cx="457200" cy="457200"/>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68096" y="1618488"/>
            <a:ext cx="237744" cy="237744"/>
          </a:xfrm>
          <a:prstGeom prst="rect">
            <a:avLst/>
          </a:prstGeom>
        </p:spPr>
      </p:pic>
      <p:sp>
        <p:nvSpPr>
          <p:cNvPr id="19" name="Text 16"/>
          <p:cNvSpPr txBox="1"/>
          <p:nvPr/>
        </p:nvSpPr>
        <p:spPr>
          <a:xfrm>
            <a:off x="1234440" y="1508760"/>
            <a:ext cx="1737360" cy="457200"/>
          </a:xfrm>
          <a:prstGeom prst="rect">
            <a:avLst/>
          </a:prstGeom>
          <a:noFill/>
          <a:ln/>
        </p:spPr>
        <p:txBody>
          <a:bodyPr wrap="square" lIns="0" tIns="0" rIns="0" bIns="0" rtlCol="0" anchor="ctr"/>
          <a:lstStyle/>
          <a:p>
            <a:pPr marL="0" indent="0">
              <a:buNone/>
            </a:pPr>
            <a:r>
              <a:rPr lang="en-US" sz="1350" b="1" dirty="0">
                <a:solidFill>
                  <a:srgbClr val="00A86A"/>
                </a:solidFill>
                <a:latin typeface="Calibri" pitchFamily="34" charset="0"/>
                <a:ea typeface="Calibri" pitchFamily="34" charset="-122"/>
                <a:cs typeface="Calibri" pitchFamily="34" charset="-120"/>
              </a:rPr>
              <a:t>By breadth</a:t>
            </a:r>
            <a:endParaRPr lang="en-US" sz="1350" dirty="0"/>
          </a:p>
        </p:txBody>
      </p:sp>
      <p:sp>
        <p:nvSpPr>
          <p:cNvPr id="20" name="Text 17"/>
          <p:cNvSpPr txBox="1"/>
          <p:nvPr/>
        </p:nvSpPr>
        <p:spPr>
          <a:xfrm>
            <a:off x="658368" y="2084832"/>
            <a:ext cx="2240280" cy="8686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Match at least a skilled adult across a wide range of cognitive tasks, with graded levels.</a:t>
            </a:r>
            <a:endParaRPr lang="en-US" sz="1150" dirty="0"/>
          </a:p>
        </p:txBody>
      </p:sp>
      <p:sp>
        <p:nvSpPr>
          <p:cNvPr id="21" name="Text 18"/>
          <p:cNvSpPr txBox="1"/>
          <p:nvPr/>
        </p:nvSpPr>
        <p:spPr>
          <a:xfrm>
            <a:off x="65836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Morris et al. (2024), Google DeepMind</a:t>
            </a:r>
            <a:endParaRPr lang="en-US" sz="900" dirty="0"/>
          </a:p>
        </p:txBody>
      </p:sp>
      <p:sp>
        <p:nvSpPr>
          <p:cNvPr id="22" name="Shape 19"/>
          <p:cNvSpPr/>
          <p:nvPr/>
        </p:nvSpPr>
        <p:spPr>
          <a:xfrm>
            <a:off x="3268980" y="1371600"/>
            <a:ext cx="2606040" cy="2011680"/>
          </a:xfrm>
          <a:prstGeom prst="roundRect">
            <a:avLst>
              <a:gd name="adj" fmla="val 3636"/>
            </a:avLst>
          </a:prstGeom>
          <a:solidFill>
            <a:srgbClr val="F4F7F5"/>
          </a:solidFill>
          <a:ln w="9525">
            <a:solidFill>
              <a:srgbClr val="D5DED9"/>
            </a:solidFill>
            <a:prstDash val="solid"/>
          </a:ln>
        </p:spPr>
      </p:sp>
      <p:sp>
        <p:nvSpPr>
          <p:cNvPr id="23" name="Shape 20"/>
          <p:cNvSpPr/>
          <p:nvPr/>
        </p:nvSpPr>
        <p:spPr>
          <a:xfrm>
            <a:off x="3470148" y="1508760"/>
            <a:ext cx="457200" cy="457200"/>
          </a:xfrm>
          <a:prstGeom prst="ellipse">
            <a:avLst/>
          </a:prstGeom>
          <a:solidFill>
            <a:srgbClr val="0E7C86">
              <a:alpha val="22000"/>
            </a:srgbClr>
          </a:solidFill>
          <a:ln/>
        </p:spPr>
      </p:sp>
      <p:pic>
        <p:nvPicPr>
          <p:cNvPr id="24" name="Image 1" descr="preencoded.png"/>
          <p:cNvPicPr>
            <a:picLocks noChangeAspect="1"/>
          </p:cNvPicPr>
          <p:nvPr/>
        </p:nvPicPr>
        <p:blipFill>
          <a:blip r:embed="rId4"/>
          <a:stretch>
            <a:fillRect/>
          </a:stretch>
        </p:blipFill>
        <p:spPr>
          <a:xfrm>
            <a:off x="3579876" y="1618488"/>
            <a:ext cx="237744" cy="237744"/>
          </a:xfrm>
          <a:prstGeom prst="rect">
            <a:avLst/>
          </a:prstGeom>
        </p:spPr>
      </p:pic>
      <p:sp>
        <p:nvSpPr>
          <p:cNvPr id="25" name="Text 21"/>
          <p:cNvSpPr txBox="1"/>
          <p:nvPr/>
        </p:nvSpPr>
        <p:spPr>
          <a:xfrm>
            <a:off x="4046220" y="1508760"/>
            <a:ext cx="1737360" cy="457200"/>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By economic value</a:t>
            </a:r>
            <a:endParaRPr lang="en-US" sz="1350" dirty="0"/>
          </a:p>
        </p:txBody>
      </p:sp>
      <p:sp>
        <p:nvSpPr>
          <p:cNvPr id="26" name="Text 22"/>
          <p:cNvSpPr txBox="1"/>
          <p:nvPr/>
        </p:nvSpPr>
        <p:spPr>
          <a:xfrm>
            <a:off x="3470148" y="2084832"/>
            <a:ext cx="2240280" cy="8686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Highly autonomous systems that outperform humans at most economically valuable work.</a:t>
            </a:r>
            <a:endParaRPr lang="en-US" sz="1150" dirty="0"/>
          </a:p>
        </p:txBody>
      </p:sp>
      <p:sp>
        <p:nvSpPr>
          <p:cNvPr id="27" name="Text 23"/>
          <p:cNvSpPr txBox="1"/>
          <p:nvPr/>
        </p:nvSpPr>
        <p:spPr>
          <a:xfrm>
            <a:off x="347014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OpenAI Charter (2018)</a:t>
            </a:r>
            <a:endParaRPr lang="en-US" sz="900" dirty="0"/>
          </a:p>
        </p:txBody>
      </p:sp>
      <p:sp>
        <p:nvSpPr>
          <p:cNvPr id="28" name="Shape 24"/>
          <p:cNvSpPr/>
          <p:nvPr/>
        </p:nvSpPr>
        <p:spPr>
          <a:xfrm>
            <a:off x="6080760" y="1371600"/>
            <a:ext cx="2606040" cy="2011680"/>
          </a:xfrm>
          <a:prstGeom prst="roundRect">
            <a:avLst>
              <a:gd name="adj" fmla="val 3636"/>
            </a:avLst>
          </a:prstGeom>
          <a:solidFill>
            <a:srgbClr val="F4F7F5"/>
          </a:solidFill>
          <a:ln w="9525">
            <a:solidFill>
              <a:srgbClr val="D5DED9"/>
            </a:solidFill>
            <a:prstDash val="solid"/>
          </a:ln>
        </p:spPr>
      </p:sp>
      <p:sp>
        <p:nvSpPr>
          <p:cNvPr id="29" name="Shape 25"/>
          <p:cNvSpPr/>
          <p:nvPr/>
        </p:nvSpPr>
        <p:spPr>
          <a:xfrm>
            <a:off x="6281928" y="1508760"/>
            <a:ext cx="457200" cy="457200"/>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6391656" y="1618488"/>
            <a:ext cx="237744" cy="237744"/>
          </a:xfrm>
          <a:prstGeom prst="rect">
            <a:avLst/>
          </a:prstGeom>
        </p:spPr>
      </p:pic>
      <p:sp>
        <p:nvSpPr>
          <p:cNvPr id="31" name="Text 26"/>
          <p:cNvSpPr txBox="1"/>
          <p:nvPr/>
        </p:nvSpPr>
        <p:spPr>
          <a:xfrm>
            <a:off x="6858000" y="1508760"/>
            <a:ext cx="1737360" cy="457200"/>
          </a:xfrm>
          <a:prstGeom prst="rect">
            <a:avLst/>
          </a:prstGeom>
          <a:noFill/>
          <a:ln/>
        </p:spPr>
        <p:txBody>
          <a:bodyPr wrap="square" lIns="0" tIns="0" rIns="0" bIns="0" rtlCol="0" anchor="ctr"/>
          <a:lstStyle/>
          <a:p>
            <a:pPr marL="0" indent="0">
              <a:buNone/>
            </a:pPr>
            <a:r>
              <a:rPr lang="en-US" sz="1350" b="1" dirty="0">
                <a:solidFill>
                  <a:srgbClr val="C4621D"/>
                </a:solidFill>
                <a:latin typeface="Calibri" pitchFamily="34" charset="0"/>
                <a:ea typeface="Calibri" pitchFamily="34" charset="-122"/>
                <a:cs typeface="Calibri" pitchFamily="34" charset="-120"/>
              </a:rPr>
              <a:t>By learning</a:t>
            </a:r>
            <a:endParaRPr lang="en-US" sz="1350" dirty="0"/>
          </a:p>
        </p:txBody>
      </p:sp>
      <p:sp>
        <p:nvSpPr>
          <p:cNvPr id="32" name="Text 27"/>
          <p:cNvSpPr txBox="1"/>
          <p:nvPr/>
        </p:nvSpPr>
        <p:spPr>
          <a:xfrm>
            <a:off x="6281928" y="2084832"/>
            <a:ext cx="2240280" cy="8686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Acquire a genuinely new skill as efficiently as a human, from only a few examples.</a:t>
            </a:r>
            <a:endParaRPr lang="en-US" sz="1150" dirty="0"/>
          </a:p>
        </p:txBody>
      </p:sp>
      <p:sp>
        <p:nvSpPr>
          <p:cNvPr id="33" name="Text 28"/>
          <p:cNvSpPr txBox="1"/>
          <p:nvPr/>
        </p:nvSpPr>
        <p:spPr>
          <a:xfrm>
            <a:off x="6281928" y="3017520"/>
            <a:ext cx="2240280" cy="22860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Chollet (2019), ARC test</a:t>
            </a:r>
            <a:endParaRPr lang="en-US" sz="900" dirty="0"/>
          </a:p>
        </p:txBody>
      </p:sp>
      <p:sp>
        <p:nvSpPr>
          <p:cNvPr id="34" name="Shape 29"/>
          <p:cNvSpPr/>
          <p:nvPr/>
        </p:nvSpPr>
        <p:spPr>
          <a:xfrm>
            <a:off x="457200" y="3547872"/>
            <a:ext cx="3977640" cy="987552"/>
          </a:xfrm>
          <a:prstGeom prst="roundRect">
            <a:avLst>
              <a:gd name="adj" fmla="val 7407"/>
            </a:avLst>
          </a:prstGeom>
          <a:solidFill>
            <a:srgbClr val="F4F7F5"/>
          </a:solidFill>
          <a:ln w="9525">
            <a:solidFill>
              <a:srgbClr val="D5DED9"/>
            </a:solidFill>
            <a:prstDash val="solid"/>
          </a:ln>
        </p:spPr>
      </p:sp>
      <p:sp>
        <p:nvSpPr>
          <p:cNvPr id="35" name="Text 30"/>
          <p:cNvSpPr txBox="1"/>
          <p:nvPr/>
        </p:nvSpPr>
        <p:spPr>
          <a:xfrm>
            <a:off x="640080" y="3611880"/>
            <a:ext cx="1371600" cy="566928"/>
          </a:xfrm>
          <a:prstGeom prst="rect">
            <a:avLst/>
          </a:prstGeom>
          <a:noFill/>
          <a:ln/>
        </p:spPr>
        <p:txBody>
          <a:bodyPr wrap="square" lIns="0" tIns="0" rIns="0" bIns="0" rtlCol="0" anchor="ctr"/>
          <a:lstStyle/>
          <a:p>
            <a:pPr marL="0" indent="0">
              <a:buNone/>
            </a:pPr>
            <a:r>
              <a:rPr lang="en-US" sz="3600" b="1" dirty="0">
                <a:solidFill>
                  <a:srgbClr val="D49A00"/>
                </a:solidFill>
                <a:latin typeface="Calibri" pitchFamily="34" charset="0"/>
                <a:ea typeface="Calibri" pitchFamily="34" charset="-122"/>
                <a:cs typeface="Calibri" pitchFamily="34" charset="-120"/>
              </a:rPr>
              <a:t>2047</a:t>
            </a:r>
            <a:endParaRPr lang="en-US" sz="3600" dirty="0"/>
          </a:p>
        </p:txBody>
      </p:sp>
      <p:sp>
        <p:nvSpPr>
          <p:cNvPr id="36" name="Shape 31"/>
          <p:cNvSpPr/>
          <p:nvPr/>
        </p:nvSpPr>
        <p:spPr>
          <a:xfrm>
            <a:off x="658368" y="4206240"/>
            <a:ext cx="960120" cy="201168"/>
          </a:xfrm>
          <a:prstGeom prst="roundRect">
            <a:avLst>
              <a:gd name="adj" fmla="val 54545"/>
            </a:avLst>
          </a:prstGeom>
          <a:solidFill>
            <a:srgbClr val="D49A00">
              <a:alpha val="15000"/>
            </a:srgbClr>
          </a:solidFill>
          <a:ln w="9525">
            <a:solidFill>
              <a:srgbClr val="D49A00"/>
            </a:solidFill>
            <a:prstDash val="solid"/>
          </a:ln>
        </p:spPr>
      </p:sp>
      <p:sp>
        <p:nvSpPr>
          <p:cNvPr id="37" name="Text 32"/>
          <p:cNvSpPr txBox="1"/>
          <p:nvPr/>
        </p:nvSpPr>
        <p:spPr>
          <a:xfrm>
            <a:off x="658368" y="4206240"/>
            <a:ext cx="960120" cy="201168"/>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FORECAST</a:t>
            </a:r>
            <a:endParaRPr lang="en-US" sz="850" dirty="0"/>
          </a:p>
        </p:txBody>
      </p:sp>
      <p:sp>
        <p:nvSpPr>
          <p:cNvPr id="38" name="Text 33"/>
          <p:cNvSpPr txBox="1"/>
          <p:nvPr/>
        </p:nvSpPr>
        <p:spPr>
          <a:xfrm>
            <a:off x="2011680" y="3639312"/>
            <a:ext cx="2286000" cy="822960"/>
          </a:xfrm>
          <a:prstGeom prst="rect">
            <a:avLst/>
          </a:prstGeom>
          <a:noFill/>
          <a:ln/>
        </p:spPr>
        <p:txBody>
          <a:bodyPr wrap="square" lIns="0" tIns="0" rIns="0" bIns="0" rtlCol="0" anchor="ctr"/>
          <a:lstStyle/>
          <a:p>
            <a:pPr marL="0" indent="0">
              <a:buNone/>
            </a:pPr>
            <a:r>
              <a:rPr lang="en-US" sz="1000" dirty="0">
                <a:solidFill>
                  <a:srgbClr val="5E6964"/>
                </a:solidFill>
                <a:latin typeface="Calibri" pitchFamily="34" charset="0"/>
                <a:ea typeface="Calibri" pitchFamily="34" charset="-122"/>
                <a:cs typeface="Calibri" pitchFamily="34" charset="-120"/>
              </a:rPr>
              <a:t>median year by which 2,778 AI researchers put a 50% chance on “human-level” machines across all tasks.</a:t>
            </a:r>
            <a:endParaRPr lang="en-US" sz="1000" dirty="0"/>
          </a:p>
        </p:txBody>
      </p:sp>
      <p:sp>
        <p:nvSpPr>
          <p:cNvPr id="39" name="Shape 34"/>
          <p:cNvSpPr/>
          <p:nvPr/>
        </p:nvSpPr>
        <p:spPr>
          <a:xfrm>
            <a:off x="4709160" y="3547872"/>
            <a:ext cx="3977640" cy="987552"/>
          </a:xfrm>
          <a:prstGeom prst="roundRect">
            <a:avLst>
              <a:gd name="adj" fmla="val 7407"/>
            </a:avLst>
          </a:prstGeom>
          <a:solidFill>
            <a:srgbClr val="E8F5EF"/>
          </a:solidFill>
          <a:ln w="15875">
            <a:solidFill>
              <a:srgbClr val="00A86A"/>
            </a:solidFill>
            <a:prstDash val="solid"/>
          </a:ln>
        </p:spPr>
      </p:sp>
      <p:sp>
        <p:nvSpPr>
          <p:cNvPr id="40" name="Shape 35"/>
          <p:cNvSpPr/>
          <p:nvPr/>
        </p:nvSpPr>
        <p:spPr>
          <a:xfrm>
            <a:off x="4864608" y="3749040"/>
            <a:ext cx="502920" cy="502920"/>
          </a:xfrm>
          <a:prstGeom prst="ellipse">
            <a:avLst/>
          </a:prstGeom>
          <a:solidFill>
            <a:srgbClr val="00A86A">
              <a:alpha val="22000"/>
            </a:srgbClr>
          </a:solidFill>
          <a:ln/>
        </p:spPr>
      </p:sp>
      <p:pic>
        <p:nvPicPr>
          <p:cNvPr id="41" name="Image 3" descr="preencoded.png"/>
          <p:cNvPicPr>
            <a:picLocks noChangeAspect="1"/>
          </p:cNvPicPr>
          <p:nvPr/>
        </p:nvPicPr>
        <p:blipFill>
          <a:blip r:embed="rId6"/>
          <a:stretch>
            <a:fillRect/>
          </a:stretch>
        </p:blipFill>
        <p:spPr>
          <a:xfrm>
            <a:off x="4985309" y="3869741"/>
            <a:ext cx="261518" cy="261518"/>
          </a:xfrm>
          <a:prstGeom prst="rect">
            <a:avLst/>
          </a:prstGeom>
        </p:spPr>
      </p:pic>
      <p:sp>
        <p:nvSpPr>
          <p:cNvPr id="42" name="Text 36"/>
          <p:cNvSpPr txBox="1"/>
          <p:nvPr/>
        </p:nvSpPr>
        <p:spPr>
          <a:xfrm>
            <a:off x="5486400" y="3611880"/>
            <a:ext cx="3063240" cy="8686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For a statistics office</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Plan on capabilities measured today. AGI is not a layer you can buy, nor a system you can configure or audit.</a:t>
            </a:r>
            <a:endParaRPr lang="en-US" sz="1050" dirty="0"/>
          </a:p>
        </p:txBody>
      </p:sp>
      <p:sp>
        <p:nvSpPr>
          <p:cNvPr id="43" name="Text 37"/>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Grace et al. (2024), “Thousands of AI Authors on the Future of AI”, arXiv:2401.02843 — individual estimates vary widely.</a:t>
            </a:r>
            <a:endParaRPr lang="en-US" sz="9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03</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The model: what an LLM is</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If a model writes well, does it actually know things?</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5C242"/>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THE MODEL: WHAT AN LLM 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What is a model? A function whose parameters are estimated</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6" name="Shape 14"/>
          <p:cNvSpPr/>
          <p:nvPr/>
        </p:nvSpPr>
        <p:spPr>
          <a:xfrm>
            <a:off x="457200" y="1371600"/>
            <a:ext cx="2011680" cy="658368"/>
          </a:xfrm>
          <a:prstGeom prst="roundRect">
            <a:avLst>
              <a:gd name="adj" fmla="val 11111"/>
            </a:avLst>
          </a:prstGeom>
          <a:solidFill>
            <a:srgbClr val="E8F5EF"/>
          </a:solidFill>
          <a:ln w="15875">
            <a:solidFill>
              <a:srgbClr val="0E7C86"/>
            </a:solidFill>
            <a:prstDash val="solid"/>
          </a:ln>
        </p:spPr>
      </p:sp>
      <p:sp>
        <p:nvSpPr>
          <p:cNvPr id="17" name="Text 15"/>
          <p:cNvSpPr txBox="1"/>
          <p:nvPr/>
        </p:nvSpPr>
        <p:spPr>
          <a:xfrm>
            <a:off x="530352" y="1371600"/>
            <a:ext cx="1865376" cy="658368"/>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Input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variables, a text, an image</a:t>
            </a:r>
            <a:endParaRPr lang="en-US" sz="1100" dirty="0"/>
          </a:p>
        </p:txBody>
      </p:sp>
      <p:sp>
        <p:nvSpPr>
          <p:cNvPr id="18" name="Shape 16"/>
          <p:cNvSpPr/>
          <p:nvPr/>
        </p:nvSpPr>
        <p:spPr>
          <a:xfrm>
            <a:off x="2514600" y="1700784"/>
            <a:ext cx="365760" cy="91"/>
          </a:xfrm>
          <a:prstGeom prst="line">
            <a:avLst/>
          </a:prstGeom>
          <a:noFill/>
          <a:ln w="15875">
            <a:solidFill>
              <a:srgbClr val="5E6964"/>
            </a:solidFill>
            <a:prstDash val="solid"/>
            <a:tailEnd type="triangle"/>
          </a:ln>
        </p:spPr>
      </p:sp>
      <p:sp>
        <p:nvSpPr>
          <p:cNvPr id="19" name="Shape 17"/>
          <p:cNvSpPr/>
          <p:nvPr/>
        </p:nvSpPr>
        <p:spPr>
          <a:xfrm>
            <a:off x="2926080" y="1371600"/>
            <a:ext cx="3291840" cy="658368"/>
          </a:xfrm>
          <a:prstGeom prst="roundRect">
            <a:avLst>
              <a:gd name="adj" fmla="val 11111"/>
            </a:avLst>
          </a:prstGeom>
          <a:solidFill>
            <a:srgbClr val="00553A"/>
          </a:solidFill>
          <a:ln w="15875">
            <a:solidFill>
              <a:srgbClr val="00553A"/>
            </a:solidFill>
            <a:prstDash val="solid"/>
          </a:ln>
        </p:spPr>
      </p:sp>
      <p:sp>
        <p:nvSpPr>
          <p:cNvPr id="20" name="Text 18"/>
          <p:cNvSpPr txBox="1"/>
          <p:nvPr/>
        </p:nvSpPr>
        <p:spPr>
          <a:xfrm>
            <a:off x="2999232" y="1371600"/>
            <a:ext cx="3145536" cy="65836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Model  f(x; θ)</a:t>
            </a:r>
            <a:endParaRPr lang="en-US" sz="1100" dirty="0"/>
          </a:p>
          <a:p>
            <a:pPr marL="0" indent="0" algn="ctr">
              <a:buNone/>
            </a:pPr>
            <a:r>
              <a:rPr lang="en-US" sz="900" dirty="0">
                <a:solidFill>
                  <a:srgbClr val="E6F6EE"/>
                </a:solidFill>
                <a:latin typeface="Calibri" pitchFamily="34" charset="0"/>
                <a:ea typeface="Calibri" pitchFamily="34" charset="-122"/>
                <a:cs typeface="Calibri" pitchFamily="34" charset="-120"/>
              </a:rPr>
              <a:t>a computation rule + its parameters θ (the “weights”)</a:t>
            </a:r>
            <a:endParaRPr lang="en-US" sz="1100" dirty="0"/>
          </a:p>
        </p:txBody>
      </p:sp>
      <p:sp>
        <p:nvSpPr>
          <p:cNvPr id="21" name="Shape 19"/>
          <p:cNvSpPr/>
          <p:nvPr/>
        </p:nvSpPr>
        <p:spPr>
          <a:xfrm>
            <a:off x="6263640" y="1700784"/>
            <a:ext cx="365760" cy="91"/>
          </a:xfrm>
          <a:prstGeom prst="line">
            <a:avLst/>
          </a:prstGeom>
          <a:noFill/>
          <a:ln w="15875">
            <a:solidFill>
              <a:srgbClr val="5E6964"/>
            </a:solidFill>
            <a:prstDash val="solid"/>
            <a:tailEnd type="triangle"/>
          </a:ln>
        </p:spPr>
      </p:sp>
      <p:sp>
        <p:nvSpPr>
          <p:cNvPr id="22" name="Shape 20"/>
          <p:cNvSpPr/>
          <p:nvPr/>
        </p:nvSpPr>
        <p:spPr>
          <a:xfrm>
            <a:off x="6675120" y="1371600"/>
            <a:ext cx="2011680" cy="658368"/>
          </a:xfrm>
          <a:prstGeom prst="roundRect">
            <a:avLst>
              <a:gd name="adj" fmla="val 11111"/>
            </a:avLst>
          </a:prstGeom>
          <a:solidFill>
            <a:srgbClr val="E8F5EF"/>
          </a:solidFill>
          <a:ln w="15875">
            <a:solidFill>
              <a:srgbClr val="0E7C86"/>
            </a:solidFill>
            <a:prstDash val="solid"/>
          </a:ln>
        </p:spPr>
      </p:sp>
      <p:sp>
        <p:nvSpPr>
          <p:cNvPr id="23" name="Text 21"/>
          <p:cNvSpPr txBox="1"/>
          <p:nvPr/>
        </p:nvSpPr>
        <p:spPr>
          <a:xfrm>
            <a:off x="6748272" y="1371600"/>
            <a:ext cx="1865376" cy="658368"/>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Output</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an estimate, a class, a word</a:t>
            </a:r>
            <a:endParaRPr lang="en-US" sz="1100" dirty="0"/>
          </a:p>
        </p:txBody>
      </p:sp>
      <p:sp>
        <p:nvSpPr>
          <p:cNvPr id="24" name="Shape 22"/>
          <p:cNvSpPr/>
          <p:nvPr/>
        </p:nvSpPr>
        <p:spPr>
          <a:xfrm>
            <a:off x="457200" y="2157984"/>
            <a:ext cx="4023360" cy="420624"/>
          </a:xfrm>
          <a:prstGeom prst="roundRect">
            <a:avLst>
              <a:gd name="adj" fmla="val 17391"/>
            </a:avLst>
          </a:prstGeom>
          <a:solidFill>
            <a:srgbClr val="FBF3DE"/>
          </a:solidFill>
          <a:ln w="15875">
            <a:solidFill>
              <a:srgbClr val="D49A00"/>
            </a:solidFill>
            <a:prstDash val="solid"/>
          </a:ln>
        </p:spPr>
      </p:sp>
      <p:sp>
        <p:nvSpPr>
          <p:cNvPr id="25" name="Text 23"/>
          <p:cNvSpPr txBox="1"/>
          <p:nvPr/>
        </p:nvSpPr>
        <p:spPr>
          <a:xfrm>
            <a:off x="594360" y="2157984"/>
            <a:ext cx="3794760" cy="420624"/>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Training: </a:t>
            </a:r>
            <a:r>
              <a:rPr lang="en-US" sz="1050" dirty="0">
                <a:solidFill>
                  <a:srgbClr val="231F20"/>
                </a:solidFill>
                <a:latin typeface="Calibri" pitchFamily="34" charset="0"/>
                <a:ea typeface="Calibri" pitchFamily="34" charset="-122"/>
                <a:cs typeface="Calibri" pitchFamily="34" charset="-120"/>
              </a:rPr>
              <a:t>estimate θ from data — once, expensive</a:t>
            </a:r>
            <a:endParaRPr lang="en-US" sz="1050" dirty="0"/>
          </a:p>
        </p:txBody>
      </p:sp>
      <p:sp>
        <p:nvSpPr>
          <p:cNvPr id="26" name="Shape 24"/>
          <p:cNvSpPr/>
          <p:nvPr/>
        </p:nvSpPr>
        <p:spPr>
          <a:xfrm>
            <a:off x="4663440" y="2157984"/>
            <a:ext cx="4023360" cy="420624"/>
          </a:xfrm>
          <a:prstGeom prst="roundRect">
            <a:avLst>
              <a:gd name="adj" fmla="val 17391"/>
            </a:avLst>
          </a:prstGeom>
          <a:solidFill>
            <a:srgbClr val="E8F5EF"/>
          </a:solidFill>
          <a:ln w="15875">
            <a:solidFill>
              <a:srgbClr val="00A86A"/>
            </a:solidFill>
            <a:prstDash val="solid"/>
          </a:ln>
        </p:spPr>
      </p:sp>
      <p:sp>
        <p:nvSpPr>
          <p:cNvPr id="27" name="Text 25"/>
          <p:cNvSpPr txBox="1"/>
          <p:nvPr/>
        </p:nvSpPr>
        <p:spPr>
          <a:xfrm>
            <a:off x="4800600" y="2157984"/>
            <a:ext cx="3794760" cy="420624"/>
          </a:xfrm>
          <a:prstGeom prst="rect">
            <a:avLst/>
          </a:prstGeom>
          <a:noFill/>
          <a:ln/>
        </p:spPr>
        <p:txBody>
          <a:bodyPr wrap="square" lIns="0" tIns="0" rIns="0" bIns="0" rtlCol="0" anchor="ctr"/>
          <a:lstStyle/>
          <a:p>
            <a:pPr marL="0" indent="0">
              <a:buNone/>
            </a:pPr>
            <a:r>
              <a:rPr lang="en-US" sz="1050" b="1" dirty="0">
                <a:solidFill>
                  <a:srgbClr val="00A86A"/>
                </a:solidFill>
                <a:latin typeface="Calibri" pitchFamily="34" charset="0"/>
                <a:ea typeface="Calibri" pitchFamily="34" charset="-122"/>
                <a:cs typeface="Calibri" pitchFamily="34" charset="-120"/>
              </a:rPr>
              <a:t>Inference: </a:t>
            </a:r>
            <a:r>
              <a:rPr lang="en-US" sz="1050" dirty="0">
                <a:solidFill>
                  <a:srgbClr val="231F20"/>
                </a:solidFill>
                <a:latin typeface="Calibri" pitchFamily="34" charset="0"/>
                <a:ea typeface="Calibri" pitchFamily="34" charset="-122"/>
                <a:cs typeface="Calibri" pitchFamily="34" charset="-120"/>
              </a:rPr>
              <a:t>apply f to a new input — every time it is used</a:t>
            </a:r>
            <a:endParaRPr lang="en-US" sz="1050" dirty="0"/>
          </a:p>
        </p:txBody>
      </p:sp>
      <p:sp>
        <p:nvSpPr>
          <p:cNvPr id="28" name="Shape 26"/>
          <p:cNvSpPr/>
          <p:nvPr/>
        </p:nvSpPr>
        <p:spPr>
          <a:xfrm>
            <a:off x="457200" y="2706624"/>
            <a:ext cx="8229600" cy="1389888"/>
          </a:xfrm>
          <a:prstGeom prst="roundRect">
            <a:avLst>
              <a:gd name="adj" fmla="val 5263"/>
            </a:avLst>
          </a:prstGeom>
          <a:solidFill>
            <a:srgbClr val="FFFFFF"/>
          </a:solidFill>
          <a:ln w="9525">
            <a:solidFill>
              <a:srgbClr val="D5DED9"/>
            </a:solidFill>
            <a:prstDash val="solid"/>
          </a:ln>
        </p:spPr>
      </p:sp>
      <p:sp>
        <p:nvSpPr>
          <p:cNvPr id="29" name="Text 27"/>
          <p:cNvSpPr txBox="1"/>
          <p:nvPr/>
        </p:nvSpPr>
        <p:spPr>
          <a:xfrm>
            <a:off x="2194560" y="2743200"/>
            <a:ext cx="3108960" cy="256032"/>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Linear regression (familiar)</a:t>
            </a:r>
            <a:endParaRPr lang="en-US" sz="1100" dirty="0"/>
          </a:p>
        </p:txBody>
      </p:sp>
      <p:sp>
        <p:nvSpPr>
          <p:cNvPr id="30" name="Text 28"/>
          <p:cNvSpPr txBox="1"/>
          <p:nvPr/>
        </p:nvSpPr>
        <p:spPr>
          <a:xfrm>
            <a:off x="5486400" y="2743200"/>
            <a:ext cx="3108960" cy="256032"/>
          </a:xfrm>
          <a:prstGeom prst="rect">
            <a:avLst/>
          </a:prstGeom>
          <a:noFill/>
          <a:ln/>
        </p:spPr>
        <p:txBody>
          <a:bodyPr wrap="square" lIns="0" tIns="0" rIns="0" bIns="0" rtlCol="0" anchor="ctr"/>
          <a:lstStyle/>
          <a:p>
            <a:pPr marL="0" indent="0">
              <a:buNone/>
            </a:pPr>
            <a:r>
              <a:rPr lang="en-US" sz="1100" b="1" dirty="0">
                <a:solidFill>
                  <a:srgbClr val="00553A"/>
                </a:solidFill>
                <a:latin typeface="Calibri" pitchFamily="34" charset="0"/>
                <a:ea typeface="Calibri" pitchFamily="34" charset="-122"/>
                <a:cs typeface="Calibri" pitchFamily="34" charset="-120"/>
              </a:rPr>
              <a:t>Large language model</a:t>
            </a:r>
            <a:endParaRPr lang="en-US" sz="1100" dirty="0"/>
          </a:p>
        </p:txBody>
      </p:sp>
      <p:sp>
        <p:nvSpPr>
          <p:cNvPr id="31" name="Shape 29"/>
          <p:cNvSpPr/>
          <p:nvPr/>
        </p:nvSpPr>
        <p:spPr>
          <a:xfrm>
            <a:off x="502920" y="3017520"/>
            <a:ext cx="8138160" cy="256032"/>
          </a:xfrm>
          <a:prstGeom prst="rect">
            <a:avLst/>
          </a:prstGeom>
          <a:solidFill>
            <a:srgbClr val="F4F7F5"/>
          </a:solidFill>
          <a:ln/>
        </p:spPr>
      </p:sp>
      <p:sp>
        <p:nvSpPr>
          <p:cNvPr id="32" name="Text 30"/>
          <p:cNvSpPr txBox="1"/>
          <p:nvPr/>
        </p:nvSpPr>
        <p:spPr>
          <a:xfrm>
            <a:off x="594360" y="3017520"/>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Parameters</a:t>
            </a:r>
            <a:endParaRPr lang="en-US" sz="1000" dirty="0"/>
          </a:p>
        </p:txBody>
      </p:sp>
      <p:sp>
        <p:nvSpPr>
          <p:cNvPr id="33" name="Text 31"/>
          <p:cNvSpPr txBox="1"/>
          <p:nvPr/>
        </p:nvSpPr>
        <p:spPr>
          <a:xfrm>
            <a:off x="2194560" y="3017520"/>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2  (β₀, β₁)</a:t>
            </a:r>
            <a:endParaRPr lang="en-US" sz="1050" dirty="0"/>
          </a:p>
        </p:txBody>
      </p:sp>
      <p:sp>
        <p:nvSpPr>
          <p:cNvPr id="34" name="Text 32"/>
          <p:cNvSpPr txBox="1"/>
          <p:nvPr/>
        </p:nvSpPr>
        <p:spPr>
          <a:xfrm>
            <a:off x="5486400" y="3017520"/>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hundreds of billions of weights</a:t>
            </a:r>
            <a:endParaRPr lang="en-US" sz="1050" dirty="0"/>
          </a:p>
        </p:txBody>
      </p:sp>
      <p:sp>
        <p:nvSpPr>
          <p:cNvPr id="35" name="Text 33"/>
          <p:cNvSpPr txBox="1"/>
          <p:nvPr/>
        </p:nvSpPr>
        <p:spPr>
          <a:xfrm>
            <a:off x="594360" y="3282696"/>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Estimated by</a:t>
            </a:r>
            <a:endParaRPr lang="en-US" sz="1000" dirty="0"/>
          </a:p>
        </p:txBody>
      </p:sp>
      <p:sp>
        <p:nvSpPr>
          <p:cNvPr id="36" name="Text 34"/>
          <p:cNvSpPr txBox="1"/>
          <p:nvPr/>
        </p:nvSpPr>
        <p:spPr>
          <a:xfrm>
            <a:off x="2194560" y="3282696"/>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least squares</a:t>
            </a:r>
            <a:endParaRPr lang="en-US" sz="1050" dirty="0"/>
          </a:p>
        </p:txBody>
      </p:sp>
      <p:sp>
        <p:nvSpPr>
          <p:cNvPr id="37" name="Text 35"/>
          <p:cNvSpPr txBox="1"/>
          <p:nvPr/>
        </p:nvSpPr>
        <p:spPr>
          <a:xfrm>
            <a:off x="5486400" y="3282696"/>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gradient descent on text</a:t>
            </a:r>
            <a:endParaRPr lang="en-US" sz="1050" dirty="0"/>
          </a:p>
        </p:txBody>
      </p:sp>
      <p:sp>
        <p:nvSpPr>
          <p:cNvPr id="38" name="Shape 36"/>
          <p:cNvSpPr/>
          <p:nvPr/>
        </p:nvSpPr>
        <p:spPr>
          <a:xfrm>
            <a:off x="502920" y="3547872"/>
            <a:ext cx="8138160" cy="256032"/>
          </a:xfrm>
          <a:prstGeom prst="rect">
            <a:avLst/>
          </a:prstGeom>
          <a:solidFill>
            <a:srgbClr val="F4F7F5"/>
          </a:solidFill>
          <a:ln/>
        </p:spPr>
      </p:sp>
      <p:sp>
        <p:nvSpPr>
          <p:cNvPr id="39" name="Text 37"/>
          <p:cNvSpPr txBox="1"/>
          <p:nvPr/>
        </p:nvSpPr>
        <p:spPr>
          <a:xfrm>
            <a:off x="594360" y="3547872"/>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Input → output</a:t>
            </a:r>
            <a:endParaRPr lang="en-US" sz="1000" dirty="0"/>
          </a:p>
        </p:txBody>
      </p:sp>
      <p:sp>
        <p:nvSpPr>
          <p:cNvPr id="40" name="Text 38"/>
          <p:cNvSpPr txBox="1"/>
          <p:nvPr/>
        </p:nvSpPr>
        <p:spPr>
          <a:xfrm>
            <a:off x="2194560" y="3547872"/>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variables → a number</a:t>
            </a:r>
            <a:endParaRPr lang="en-US" sz="1050" dirty="0"/>
          </a:p>
        </p:txBody>
      </p:sp>
      <p:sp>
        <p:nvSpPr>
          <p:cNvPr id="41" name="Text 39"/>
          <p:cNvSpPr txBox="1"/>
          <p:nvPr/>
        </p:nvSpPr>
        <p:spPr>
          <a:xfrm>
            <a:off x="5486400" y="3547872"/>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tokens → next-token probability</a:t>
            </a:r>
            <a:endParaRPr lang="en-US" sz="1050" dirty="0"/>
          </a:p>
        </p:txBody>
      </p:sp>
      <p:sp>
        <p:nvSpPr>
          <p:cNvPr id="42" name="Text 40"/>
          <p:cNvSpPr txBox="1"/>
          <p:nvPr/>
        </p:nvSpPr>
        <p:spPr>
          <a:xfrm>
            <a:off x="594360" y="3813048"/>
            <a:ext cx="1463040" cy="256032"/>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Interpretable?</a:t>
            </a:r>
            <a:endParaRPr lang="en-US" sz="1000" dirty="0"/>
          </a:p>
        </p:txBody>
      </p:sp>
      <p:sp>
        <p:nvSpPr>
          <p:cNvPr id="43" name="Text 41"/>
          <p:cNvSpPr txBox="1"/>
          <p:nvPr/>
        </p:nvSpPr>
        <p:spPr>
          <a:xfrm>
            <a:off x="2194560" y="3813048"/>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yes, each coefficient has a meaning</a:t>
            </a:r>
            <a:endParaRPr lang="en-US" sz="1050" dirty="0"/>
          </a:p>
        </p:txBody>
      </p:sp>
      <p:sp>
        <p:nvSpPr>
          <p:cNvPr id="44" name="Text 42"/>
          <p:cNvSpPr txBox="1"/>
          <p:nvPr/>
        </p:nvSpPr>
        <p:spPr>
          <a:xfrm>
            <a:off x="5486400" y="3813048"/>
            <a:ext cx="3108960" cy="256032"/>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in practice</a:t>
            </a:r>
            <a:endParaRPr lang="en-US" sz="1050" dirty="0"/>
          </a:p>
        </p:txBody>
      </p:sp>
      <p:sp>
        <p:nvSpPr>
          <p:cNvPr id="45" name="Shape 43"/>
          <p:cNvSpPr/>
          <p:nvPr/>
        </p:nvSpPr>
        <p:spPr>
          <a:xfrm>
            <a:off x="457200" y="4169664"/>
            <a:ext cx="8229600" cy="402336"/>
          </a:xfrm>
          <a:prstGeom prst="roundRect">
            <a:avLst>
              <a:gd name="adj" fmla="val 18182"/>
            </a:avLst>
          </a:prstGeom>
          <a:solidFill>
            <a:srgbClr val="E8F5EF"/>
          </a:solidFill>
          <a:ln w="15875">
            <a:solidFill>
              <a:srgbClr val="00A86A"/>
            </a:solidFill>
            <a:prstDash val="solid"/>
          </a:ln>
        </p:spPr>
      </p:sp>
      <p:sp>
        <p:nvSpPr>
          <p:cNvPr id="46" name="Text 44"/>
          <p:cNvSpPr txBox="1"/>
          <p:nvPr/>
        </p:nvSpPr>
        <p:spPr>
          <a:xfrm>
            <a:off x="640080" y="4169664"/>
            <a:ext cx="7955280" cy="402336"/>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A model is not an application. </a:t>
            </a:r>
            <a:r>
              <a:rPr lang="en-US" sz="1000" dirty="0">
                <a:solidFill>
                  <a:srgbClr val="231F20"/>
                </a:solidFill>
                <a:latin typeface="Calibri" pitchFamily="34" charset="0"/>
                <a:ea typeface="Calibri" pitchFamily="34" charset="-122"/>
                <a:cs typeface="Calibri" pitchFamily="34" charset="-120"/>
              </a:rPr>
              <a:t>The chat assistant you use wraps a model in scaffolding: interface, hidden instructions, tools.</a:t>
            </a:r>
            <a:endParaRPr lang="en-US" sz="1000" dirty="0"/>
          </a:p>
        </p:txBody>
      </p:sp>
      <p:sp>
        <p:nvSpPr>
          <p:cNvPr id="47" name="Text 45"/>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G. E. P. Box (1979): “all models are wrong, but some are useful” — LLMs included.</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THE MODEL: WHAT AN LLM 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An LLM predicts the next token — that's all it does</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13</a:t>
            </a:r>
            <a:endParaRPr lang="en-US" sz="850" dirty="0"/>
          </a:p>
        </p:txBody>
      </p:sp>
      <p:sp>
        <p:nvSpPr>
          <p:cNvPr id="16" name="Shape 14"/>
          <p:cNvSpPr/>
          <p:nvPr/>
        </p:nvSpPr>
        <p:spPr>
          <a:xfrm>
            <a:off x="475488" y="1389888"/>
            <a:ext cx="1426464" cy="502920"/>
          </a:xfrm>
          <a:prstGeom prst="roundRect">
            <a:avLst>
              <a:gd name="adj" fmla="val 14545"/>
            </a:avLst>
          </a:prstGeom>
          <a:solidFill>
            <a:srgbClr val="E8F5EF"/>
          </a:solidFill>
          <a:ln w="15875">
            <a:solidFill>
              <a:srgbClr val="0E7C86"/>
            </a:solidFill>
            <a:prstDash val="solid"/>
          </a:ln>
        </p:spPr>
      </p:sp>
      <p:sp>
        <p:nvSpPr>
          <p:cNvPr id="17" name="Text 15"/>
          <p:cNvSpPr txBox="1"/>
          <p:nvPr/>
        </p:nvSpPr>
        <p:spPr>
          <a:xfrm>
            <a:off x="475488"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Text</a:t>
            </a:r>
            <a:endParaRPr lang="en-US" sz="1300" dirty="0"/>
          </a:p>
        </p:txBody>
      </p:sp>
      <p:sp>
        <p:nvSpPr>
          <p:cNvPr id="18" name="Text 16"/>
          <p:cNvSpPr txBox="1"/>
          <p:nvPr/>
        </p:nvSpPr>
        <p:spPr>
          <a:xfrm>
            <a:off x="429768"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“The capital of Tunisia is”</a:t>
            </a:r>
            <a:endParaRPr lang="en-US" sz="900" dirty="0"/>
          </a:p>
        </p:txBody>
      </p:sp>
      <p:sp>
        <p:nvSpPr>
          <p:cNvPr id="19" name="Shape 17"/>
          <p:cNvSpPr/>
          <p:nvPr/>
        </p:nvSpPr>
        <p:spPr>
          <a:xfrm>
            <a:off x="1929384" y="1641348"/>
            <a:ext cx="219456" cy="91"/>
          </a:xfrm>
          <a:prstGeom prst="line">
            <a:avLst/>
          </a:prstGeom>
          <a:noFill/>
          <a:ln w="15875">
            <a:solidFill>
              <a:srgbClr val="5E6964"/>
            </a:solidFill>
            <a:prstDash val="solid"/>
            <a:tailEnd type="triangle"/>
          </a:ln>
        </p:spPr>
      </p:sp>
      <p:sp>
        <p:nvSpPr>
          <p:cNvPr id="20" name="Shape 18"/>
          <p:cNvSpPr/>
          <p:nvPr/>
        </p:nvSpPr>
        <p:spPr>
          <a:xfrm>
            <a:off x="2176272" y="1389888"/>
            <a:ext cx="1426464" cy="502920"/>
          </a:xfrm>
          <a:prstGeom prst="roundRect">
            <a:avLst>
              <a:gd name="adj" fmla="val 14545"/>
            </a:avLst>
          </a:prstGeom>
          <a:solidFill>
            <a:srgbClr val="E8F5EF"/>
          </a:solidFill>
          <a:ln w="15875">
            <a:solidFill>
              <a:srgbClr val="0E7C86"/>
            </a:solidFill>
            <a:prstDash val="solid"/>
          </a:ln>
        </p:spPr>
      </p:sp>
      <p:sp>
        <p:nvSpPr>
          <p:cNvPr id="21" name="Text 19"/>
          <p:cNvSpPr txBox="1"/>
          <p:nvPr/>
        </p:nvSpPr>
        <p:spPr>
          <a:xfrm>
            <a:off x="2176272"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Tokens</a:t>
            </a:r>
            <a:endParaRPr lang="en-US" sz="1300" dirty="0"/>
          </a:p>
        </p:txBody>
      </p:sp>
      <p:sp>
        <p:nvSpPr>
          <p:cNvPr id="22" name="Text 20"/>
          <p:cNvSpPr txBox="1"/>
          <p:nvPr/>
        </p:nvSpPr>
        <p:spPr>
          <a:xfrm>
            <a:off x="2130552"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The · capital · of · Tunisia · is</a:t>
            </a:r>
            <a:endParaRPr lang="en-US" sz="900" dirty="0"/>
          </a:p>
        </p:txBody>
      </p:sp>
      <p:sp>
        <p:nvSpPr>
          <p:cNvPr id="23" name="Shape 21"/>
          <p:cNvSpPr/>
          <p:nvPr/>
        </p:nvSpPr>
        <p:spPr>
          <a:xfrm>
            <a:off x="3630168" y="1641348"/>
            <a:ext cx="219456" cy="91"/>
          </a:xfrm>
          <a:prstGeom prst="line">
            <a:avLst/>
          </a:prstGeom>
          <a:noFill/>
          <a:ln w="15875">
            <a:solidFill>
              <a:srgbClr val="5E6964"/>
            </a:solidFill>
            <a:prstDash val="solid"/>
            <a:tailEnd type="triangle"/>
          </a:ln>
        </p:spPr>
      </p:sp>
      <p:sp>
        <p:nvSpPr>
          <p:cNvPr id="24" name="Shape 22"/>
          <p:cNvSpPr/>
          <p:nvPr/>
        </p:nvSpPr>
        <p:spPr>
          <a:xfrm>
            <a:off x="3877056" y="1389888"/>
            <a:ext cx="1426464" cy="502920"/>
          </a:xfrm>
          <a:prstGeom prst="roundRect">
            <a:avLst>
              <a:gd name="adj" fmla="val 14545"/>
            </a:avLst>
          </a:prstGeom>
          <a:solidFill>
            <a:srgbClr val="00553A"/>
          </a:solidFill>
          <a:ln w="15875">
            <a:solidFill>
              <a:srgbClr val="00553A"/>
            </a:solidFill>
            <a:prstDash val="solid"/>
          </a:ln>
        </p:spPr>
      </p:sp>
      <p:sp>
        <p:nvSpPr>
          <p:cNvPr id="25" name="Text 23"/>
          <p:cNvSpPr txBox="1"/>
          <p:nvPr/>
        </p:nvSpPr>
        <p:spPr>
          <a:xfrm>
            <a:off x="3877056" y="1389888"/>
            <a:ext cx="1426464"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p>
        </p:txBody>
      </p:sp>
      <p:sp>
        <p:nvSpPr>
          <p:cNvPr id="26" name="Text 24"/>
          <p:cNvSpPr txBox="1"/>
          <p:nvPr/>
        </p:nvSpPr>
        <p:spPr>
          <a:xfrm>
            <a:off x="3831336"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billions of frozen weights</a:t>
            </a:r>
            <a:endParaRPr lang="en-US" sz="900" dirty="0"/>
          </a:p>
        </p:txBody>
      </p:sp>
      <p:sp>
        <p:nvSpPr>
          <p:cNvPr id="27" name="Shape 25"/>
          <p:cNvSpPr/>
          <p:nvPr/>
        </p:nvSpPr>
        <p:spPr>
          <a:xfrm>
            <a:off x="5330952" y="1641348"/>
            <a:ext cx="219456" cy="91"/>
          </a:xfrm>
          <a:prstGeom prst="line">
            <a:avLst/>
          </a:prstGeom>
          <a:noFill/>
          <a:ln w="15875">
            <a:solidFill>
              <a:srgbClr val="5E6964"/>
            </a:solidFill>
            <a:prstDash val="solid"/>
            <a:tailEnd type="triangle"/>
          </a:ln>
        </p:spPr>
      </p:sp>
      <p:sp>
        <p:nvSpPr>
          <p:cNvPr id="28" name="Shape 26"/>
          <p:cNvSpPr/>
          <p:nvPr/>
        </p:nvSpPr>
        <p:spPr>
          <a:xfrm>
            <a:off x="5577840" y="1389888"/>
            <a:ext cx="1426464" cy="502920"/>
          </a:xfrm>
          <a:prstGeom prst="roundRect">
            <a:avLst>
              <a:gd name="adj" fmla="val 14545"/>
            </a:avLst>
          </a:prstGeom>
          <a:solidFill>
            <a:srgbClr val="E8F5EF"/>
          </a:solidFill>
          <a:ln w="15875">
            <a:solidFill>
              <a:srgbClr val="0E7C86"/>
            </a:solidFill>
            <a:prstDash val="solid"/>
          </a:ln>
        </p:spPr>
      </p:sp>
      <p:sp>
        <p:nvSpPr>
          <p:cNvPr id="29" name="Text 27"/>
          <p:cNvSpPr txBox="1"/>
          <p:nvPr/>
        </p:nvSpPr>
        <p:spPr>
          <a:xfrm>
            <a:off x="5577840"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Probabilities</a:t>
            </a:r>
            <a:endParaRPr lang="en-US" sz="1300" dirty="0"/>
          </a:p>
        </p:txBody>
      </p:sp>
      <p:sp>
        <p:nvSpPr>
          <p:cNvPr id="30" name="Text 28"/>
          <p:cNvSpPr txBox="1"/>
          <p:nvPr/>
        </p:nvSpPr>
        <p:spPr>
          <a:xfrm>
            <a:off x="5532120"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Tunis 92% · a 3% · …</a:t>
            </a:r>
            <a:endParaRPr lang="en-US" sz="900" dirty="0"/>
          </a:p>
        </p:txBody>
      </p:sp>
      <p:sp>
        <p:nvSpPr>
          <p:cNvPr id="31" name="Shape 29"/>
          <p:cNvSpPr/>
          <p:nvPr/>
        </p:nvSpPr>
        <p:spPr>
          <a:xfrm>
            <a:off x="7031736" y="1641348"/>
            <a:ext cx="219456" cy="91"/>
          </a:xfrm>
          <a:prstGeom prst="line">
            <a:avLst/>
          </a:prstGeom>
          <a:noFill/>
          <a:ln w="15875">
            <a:solidFill>
              <a:srgbClr val="5E6964"/>
            </a:solidFill>
            <a:prstDash val="solid"/>
            <a:tailEnd type="triangle"/>
          </a:ln>
        </p:spPr>
      </p:sp>
      <p:sp>
        <p:nvSpPr>
          <p:cNvPr id="32" name="Shape 30"/>
          <p:cNvSpPr/>
          <p:nvPr/>
        </p:nvSpPr>
        <p:spPr>
          <a:xfrm>
            <a:off x="7278624" y="1389888"/>
            <a:ext cx="1426464" cy="502920"/>
          </a:xfrm>
          <a:prstGeom prst="roundRect">
            <a:avLst>
              <a:gd name="adj" fmla="val 14545"/>
            </a:avLst>
          </a:prstGeom>
          <a:solidFill>
            <a:srgbClr val="E8F5EF"/>
          </a:solidFill>
          <a:ln w="15875">
            <a:solidFill>
              <a:srgbClr val="0E7C86"/>
            </a:solidFill>
            <a:prstDash val="solid"/>
          </a:ln>
        </p:spPr>
      </p:sp>
      <p:sp>
        <p:nvSpPr>
          <p:cNvPr id="33" name="Text 31"/>
          <p:cNvSpPr txBox="1"/>
          <p:nvPr/>
        </p:nvSpPr>
        <p:spPr>
          <a:xfrm>
            <a:off x="7278624" y="1389888"/>
            <a:ext cx="1426464" cy="502920"/>
          </a:xfrm>
          <a:prstGeom prst="rect">
            <a:avLst/>
          </a:prstGeom>
          <a:noFill/>
          <a:ln/>
        </p:spPr>
        <p:txBody>
          <a:bodyPr wrap="square" lIns="0" tIns="0" rIns="0" bIns="0" rtlCol="0" anchor="ctr"/>
          <a:lstStyle/>
          <a:p>
            <a:pPr marL="0" indent="0" algn="ctr">
              <a:buNone/>
            </a:pPr>
            <a:r>
              <a:rPr lang="en-US" sz="1300" b="1" dirty="0">
                <a:solidFill>
                  <a:srgbClr val="231F20"/>
                </a:solidFill>
                <a:latin typeface="Calibri" pitchFamily="34" charset="0"/>
                <a:ea typeface="Calibri" pitchFamily="34" charset="-122"/>
                <a:cs typeface="Calibri" pitchFamily="34" charset="-120"/>
              </a:rPr>
              <a:t>Chosen token</a:t>
            </a:r>
            <a:endParaRPr lang="en-US" sz="1300" dirty="0"/>
          </a:p>
        </p:txBody>
      </p:sp>
      <p:sp>
        <p:nvSpPr>
          <p:cNvPr id="34" name="Text 32"/>
          <p:cNvSpPr txBox="1"/>
          <p:nvPr/>
        </p:nvSpPr>
        <p:spPr>
          <a:xfrm>
            <a:off x="7232904" y="1938528"/>
            <a:ext cx="1517904" cy="384048"/>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“Tunis”</a:t>
            </a:r>
            <a:endParaRPr lang="en-US" sz="900" dirty="0"/>
          </a:p>
        </p:txBody>
      </p:sp>
      <p:sp>
        <p:nvSpPr>
          <p:cNvPr id="35" name="Shape 33"/>
          <p:cNvSpPr/>
          <p:nvPr/>
        </p:nvSpPr>
        <p:spPr>
          <a:xfrm>
            <a:off x="7991856" y="2304288"/>
            <a:ext cx="91" cy="146304"/>
          </a:xfrm>
          <a:prstGeom prst="line">
            <a:avLst/>
          </a:prstGeom>
          <a:noFill/>
          <a:ln w="12700">
            <a:solidFill>
              <a:srgbClr val="0E7C86"/>
            </a:solidFill>
            <a:prstDash val="solid"/>
          </a:ln>
        </p:spPr>
      </p:sp>
      <p:sp>
        <p:nvSpPr>
          <p:cNvPr id="36" name="Shape 34"/>
          <p:cNvSpPr/>
          <p:nvPr/>
        </p:nvSpPr>
        <p:spPr>
          <a:xfrm flipH="1">
            <a:off x="1188720" y="2450592"/>
            <a:ext cx="6803136" cy="91"/>
          </a:xfrm>
          <a:prstGeom prst="line">
            <a:avLst/>
          </a:prstGeom>
          <a:noFill/>
          <a:ln w="12700">
            <a:solidFill>
              <a:srgbClr val="0E7C86"/>
            </a:solidFill>
            <a:prstDash val="solid"/>
          </a:ln>
        </p:spPr>
      </p:sp>
      <p:sp>
        <p:nvSpPr>
          <p:cNvPr id="37" name="Shape 35"/>
          <p:cNvSpPr/>
          <p:nvPr/>
        </p:nvSpPr>
        <p:spPr>
          <a:xfrm flipV="1">
            <a:off x="1188720" y="2331720"/>
            <a:ext cx="91" cy="118872"/>
          </a:xfrm>
          <a:prstGeom prst="line">
            <a:avLst/>
          </a:prstGeom>
          <a:noFill/>
          <a:ln w="12700">
            <a:solidFill>
              <a:srgbClr val="0E7C86"/>
            </a:solidFill>
            <a:prstDash val="solid"/>
            <a:tailEnd type="triangle"/>
          </a:ln>
        </p:spPr>
      </p:sp>
      <p:sp>
        <p:nvSpPr>
          <p:cNvPr id="38" name="Shape 36"/>
          <p:cNvSpPr/>
          <p:nvPr/>
        </p:nvSpPr>
        <p:spPr>
          <a:xfrm>
            <a:off x="2926080" y="2340864"/>
            <a:ext cx="3291840" cy="219456"/>
          </a:xfrm>
          <a:prstGeom prst="rect">
            <a:avLst/>
          </a:prstGeom>
          <a:solidFill>
            <a:srgbClr val="FFFFFF"/>
          </a:solidFill>
          <a:ln/>
        </p:spPr>
      </p:sp>
      <p:sp>
        <p:nvSpPr>
          <p:cNvPr id="39" name="Text 37"/>
          <p:cNvSpPr txBox="1"/>
          <p:nvPr/>
        </p:nvSpPr>
        <p:spPr>
          <a:xfrm>
            <a:off x="2926080" y="2340864"/>
            <a:ext cx="3291840" cy="219456"/>
          </a:xfrm>
          <a:prstGeom prst="rect">
            <a:avLst/>
          </a:prstGeom>
          <a:noFill/>
          <a:ln/>
        </p:spPr>
        <p:txBody>
          <a:bodyPr wrap="square" lIns="0" tIns="0" rIns="0" bIns="0" rtlCol="0" anchor="ctr"/>
          <a:lstStyle/>
          <a:p>
            <a:pPr marL="0" indent="0" algn="ctr">
              <a:buNone/>
            </a:pPr>
            <a:r>
              <a:rPr lang="en-US" sz="950" b="1" i="1" dirty="0">
                <a:solidFill>
                  <a:srgbClr val="0E7C86"/>
                </a:solidFill>
                <a:latin typeface="Calibri" pitchFamily="34" charset="0"/>
                <a:ea typeface="Calibri" pitchFamily="34" charset="-122"/>
                <a:cs typeface="Calibri" pitchFamily="34" charset="-120"/>
              </a:rPr>
              <a:t>append the token to the text… and repeat</a:t>
            </a:r>
            <a:endParaRPr lang="en-US" sz="950" dirty="0"/>
          </a:p>
        </p:txBody>
      </p:sp>
      <p:graphicFrame>
        <p:nvGraphicFramePr>
          <p:cNvPr id="40" name="Chart 0"/>
          <p:cNvGraphicFramePr/>
          <p:nvPr/>
        </p:nvGraphicFramePr>
        <p:xfrm>
          <a:off x="457200" y="2743200"/>
          <a:ext cx="4206240" cy="1810512"/>
        </p:xfrm>
        <a:graphic>
          <a:graphicData uri="http://schemas.openxmlformats.org/drawingml/2006/chart">
            <c:chart xmlns:c="http://schemas.openxmlformats.org/drawingml/2006/chart" xmlns:r="http://schemas.openxmlformats.org/officeDocument/2006/relationships" r:id="rId3"/>
          </a:graphicData>
        </a:graphic>
      </p:graphicFrame>
      <p:sp>
        <p:nvSpPr>
          <p:cNvPr id="41" name="Shape 38"/>
          <p:cNvSpPr/>
          <p:nvPr/>
        </p:nvSpPr>
        <p:spPr>
          <a:xfrm>
            <a:off x="4937760" y="2834640"/>
            <a:ext cx="3749040" cy="1700784"/>
          </a:xfrm>
          <a:prstGeom prst="roundRect">
            <a:avLst>
              <a:gd name="adj" fmla="val 4301"/>
            </a:avLst>
          </a:prstGeom>
          <a:solidFill>
            <a:srgbClr val="FBF3DE"/>
          </a:solidFill>
          <a:ln w="15875">
            <a:solidFill>
              <a:srgbClr val="D49A00"/>
            </a:solidFill>
            <a:prstDash val="solid"/>
          </a:ln>
        </p:spPr>
      </p:sp>
      <p:sp>
        <p:nvSpPr>
          <p:cNvPr id="42" name="Shape 39"/>
          <p:cNvSpPr/>
          <p:nvPr/>
        </p:nvSpPr>
        <p:spPr>
          <a:xfrm>
            <a:off x="5102352" y="2980944"/>
            <a:ext cx="457200" cy="457200"/>
          </a:xfrm>
          <a:prstGeom prst="ellipse">
            <a:avLst/>
          </a:prstGeom>
          <a:solidFill>
            <a:srgbClr val="D49A00">
              <a:alpha val="22000"/>
            </a:srgbClr>
          </a:solidFill>
          <a:ln/>
        </p:spPr>
      </p:sp>
      <p:pic>
        <p:nvPicPr>
          <p:cNvPr id="43" name="Image 0" descr="preencoded.png"/>
          <p:cNvPicPr>
            <a:picLocks noChangeAspect="1"/>
          </p:cNvPicPr>
          <p:nvPr/>
        </p:nvPicPr>
        <p:blipFill>
          <a:blip r:embed="rId4"/>
          <a:stretch>
            <a:fillRect/>
          </a:stretch>
        </p:blipFill>
        <p:spPr>
          <a:xfrm>
            <a:off x="5212080" y="3090672"/>
            <a:ext cx="237744" cy="237744"/>
          </a:xfrm>
          <a:prstGeom prst="rect">
            <a:avLst/>
          </a:prstGeom>
        </p:spPr>
      </p:pic>
      <p:sp>
        <p:nvSpPr>
          <p:cNvPr id="44" name="Text 40"/>
          <p:cNvSpPr txBox="1"/>
          <p:nvPr/>
        </p:nvSpPr>
        <p:spPr>
          <a:xfrm>
            <a:off x="5669280" y="2980944"/>
            <a:ext cx="2834640" cy="457200"/>
          </a:xfrm>
          <a:prstGeom prst="rect">
            <a:avLst/>
          </a:prstGeom>
          <a:noFill/>
          <a:ln/>
        </p:spPr>
        <p:txBody>
          <a:bodyPr wrap="square" lIns="0" tIns="0" rIns="0" bIns="0" rtlCol="0" anchor="ctr"/>
          <a:lstStyle/>
          <a:p>
            <a:pPr marL="0" indent="0">
              <a:buNone/>
            </a:pPr>
            <a:r>
              <a:rPr lang="en-US" sz="1500" b="1" dirty="0">
                <a:solidFill>
                  <a:srgbClr val="D49A00"/>
                </a:solidFill>
                <a:latin typeface="Calibri" pitchFamily="34" charset="0"/>
                <a:ea typeface="Calibri" pitchFamily="34" charset="-122"/>
                <a:cs typeface="Calibri" pitchFamily="34" charset="-120"/>
              </a:rPr>
              <a:t>Fluency ≠ accuracy</a:t>
            </a:r>
            <a:endParaRPr lang="en-US" sz="1500" dirty="0"/>
          </a:p>
        </p:txBody>
      </p:sp>
      <p:sp>
        <p:nvSpPr>
          <p:cNvPr id="45" name="Text 41"/>
          <p:cNvSpPr txBox="1"/>
          <p:nvPr/>
        </p:nvSpPr>
        <p:spPr>
          <a:xfrm>
            <a:off x="5120640" y="3520440"/>
            <a:ext cx="3429000" cy="914400"/>
          </a:xfrm>
          <a:prstGeom prst="rect">
            <a:avLst/>
          </a:prstGeom>
          <a:noFill/>
          <a:ln/>
        </p:spPr>
        <p:txBody>
          <a:bodyPr wrap="square" lIns="0" tIns="0" rIns="0" bIns="0" rtlCol="0" anchor="t"/>
          <a:lstStyle/>
          <a:p>
            <a:pPr marL="0" indent="0">
              <a:buNone/>
            </a:pPr>
            <a:r>
              <a:rPr lang="en-US" sz="1100" dirty="0">
                <a:solidFill>
                  <a:srgbClr val="231F20"/>
                </a:solidFill>
                <a:latin typeface="Calibri" pitchFamily="34" charset="0"/>
                <a:ea typeface="Calibri" pitchFamily="34" charset="-122"/>
                <a:cs typeface="Calibri" pitchFamily="34" charset="-120"/>
              </a:rPr>
              <a:t>Inside the model there is no database of facts and no notion of truth. A right figure and a wrong figure come from the same computation and look identical on the page.</a:t>
            </a:r>
            <a:endParaRPr lang="en-US" sz="11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THE MODEL: WHAT AN LLM 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What an LLM does well — and what it cannot guarantee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6" name="Shape 14"/>
          <p:cNvSpPr/>
          <p:nvPr/>
        </p:nvSpPr>
        <p:spPr>
          <a:xfrm>
            <a:off x="457200" y="1371600"/>
            <a:ext cx="3977640" cy="3163824"/>
          </a:xfrm>
          <a:prstGeom prst="roundRect">
            <a:avLst>
              <a:gd name="adj" fmla="val 2312"/>
            </a:avLst>
          </a:prstGeom>
          <a:solidFill>
            <a:srgbClr val="E8F5EF"/>
          </a:solidFill>
          <a:ln w="15875">
            <a:solidFill>
              <a:srgbClr val="00A86A"/>
            </a:solidFill>
            <a:prstDash val="solid"/>
          </a:ln>
        </p:spPr>
      </p:sp>
      <p:sp>
        <p:nvSpPr>
          <p:cNvPr id="17" name="Shape 15"/>
          <p:cNvSpPr/>
          <p:nvPr/>
        </p:nvSpPr>
        <p:spPr>
          <a:xfrm>
            <a:off x="658368" y="1481328"/>
            <a:ext cx="402336" cy="402336"/>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54929" y="1577889"/>
            <a:ext cx="209215" cy="209215"/>
          </a:xfrm>
          <a:prstGeom prst="rect">
            <a:avLst/>
          </a:prstGeom>
        </p:spPr>
      </p:pic>
      <p:sp>
        <p:nvSpPr>
          <p:cNvPr id="19" name="Text 16"/>
          <p:cNvSpPr txBox="1"/>
          <p:nvPr/>
        </p:nvSpPr>
        <p:spPr>
          <a:xfrm>
            <a:off x="1170432" y="1481328"/>
            <a:ext cx="3017520" cy="402336"/>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Strengths</a:t>
            </a:r>
            <a:endParaRPr lang="en-US" sz="1500" dirty="0"/>
          </a:p>
        </p:txBody>
      </p:sp>
      <p:sp>
        <p:nvSpPr>
          <p:cNvPr id="20" name="Shape 17"/>
          <p:cNvSpPr/>
          <p:nvPr/>
        </p:nvSpPr>
        <p:spPr>
          <a:xfrm>
            <a:off x="694944" y="2048256"/>
            <a:ext cx="329184" cy="329184"/>
          </a:xfrm>
          <a:prstGeom prst="ellipse">
            <a:avLst/>
          </a:prstGeom>
          <a:solidFill>
            <a:srgbClr val="00A86A">
              <a:alpha val="22000"/>
            </a:srgbClr>
          </a:solidFill>
          <a:ln/>
        </p:spPr>
      </p:sp>
      <p:pic>
        <p:nvPicPr>
          <p:cNvPr id="21" name="Image 1" descr="preencoded.png"/>
          <p:cNvPicPr>
            <a:picLocks noChangeAspect="1"/>
          </p:cNvPicPr>
          <p:nvPr/>
        </p:nvPicPr>
        <p:blipFill>
          <a:blip r:embed="rId4"/>
          <a:stretch>
            <a:fillRect/>
          </a:stretch>
        </p:blipFill>
        <p:spPr>
          <a:xfrm>
            <a:off x="773948" y="2127260"/>
            <a:ext cx="171176" cy="171176"/>
          </a:xfrm>
          <a:prstGeom prst="rect">
            <a:avLst/>
          </a:prstGeom>
        </p:spPr>
      </p:pic>
      <p:sp>
        <p:nvSpPr>
          <p:cNvPr id="22" name="Text 18"/>
          <p:cNvSpPr txBox="1"/>
          <p:nvPr/>
        </p:nvSpPr>
        <p:spPr>
          <a:xfrm>
            <a:off x="1170432" y="2011680"/>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Draft</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a first version of a commentary or note</a:t>
            </a:r>
            <a:endParaRPr lang="en-US" sz="1100" dirty="0"/>
          </a:p>
        </p:txBody>
      </p:sp>
      <p:sp>
        <p:nvSpPr>
          <p:cNvPr id="23" name="Shape 19"/>
          <p:cNvSpPr/>
          <p:nvPr/>
        </p:nvSpPr>
        <p:spPr>
          <a:xfrm>
            <a:off x="694944" y="2542032"/>
            <a:ext cx="329184" cy="329184"/>
          </a:xfrm>
          <a:prstGeom prst="ellipse">
            <a:avLst/>
          </a:prstGeom>
          <a:solidFill>
            <a:srgbClr val="00A86A">
              <a:alpha val="22000"/>
            </a:srgbClr>
          </a:solidFill>
          <a:ln/>
        </p:spPr>
      </p:sp>
      <p:pic>
        <p:nvPicPr>
          <p:cNvPr id="24" name="Image 2" descr="preencoded.png"/>
          <p:cNvPicPr>
            <a:picLocks noChangeAspect="1"/>
          </p:cNvPicPr>
          <p:nvPr/>
        </p:nvPicPr>
        <p:blipFill>
          <a:blip r:embed="rId5"/>
          <a:stretch>
            <a:fillRect/>
          </a:stretch>
        </p:blipFill>
        <p:spPr>
          <a:xfrm>
            <a:off x="773948" y="2621036"/>
            <a:ext cx="171176" cy="171176"/>
          </a:xfrm>
          <a:prstGeom prst="rect">
            <a:avLst/>
          </a:prstGeom>
        </p:spPr>
      </p:pic>
      <p:sp>
        <p:nvSpPr>
          <p:cNvPr id="25" name="Text 20"/>
          <p:cNvSpPr txBox="1"/>
          <p:nvPr/>
        </p:nvSpPr>
        <p:spPr>
          <a:xfrm>
            <a:off x="1170432" y="2505456"/>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Translate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between English, French, Arabic, Portuguese</a:t>
            </a:r>
            <a:endParaRPr lang="en-US" sz="1100" dirty="0"/>
          </a:p>
        </p:txBody>
      </p:sp>
      <p:sp>
        <p:nvSpPr>
          <p:cNvPr id="26" name="Shape 21"/>
          <p:cNvSpPr/>
          <p:nvPr/>
        </p:nvSpPr>
        <p:spPr>
          <a:xfrm>
            <a:off x="694944" y="3035808"/>
            <a:ext cx="329184" cy="329184"/>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773948" y="3114812"/>
            <a:ext cx="171176" cy="171176"/>
          </a:xfrm>
          <a:prstGeom prst="rect">
            <a:avLst/>
          </a:prstGeom>
        </p:spPr>
      </p:pic>
      <p:sp>
        <p:nvSpPr>
          <p:cNvPr id="28" name="Text 22"/>
          <p:cNvSpPr txBox="1"/>
          <p:nvPr/>
        </p:nvSpPr>
        <p:spPr>
          <a:xfrm>
            <a:off x="1170432" y="2999232"/>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Summarise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an 80-page methodology report</a:t>
            </a:r>
            <a:endParaRPr lang="en-US" sz="1100" dirty="0"/>
          </a:p>
        </p:txBody>
      </p:sp>
      <p:sp>
        <p:nvSpPr>
          <p:cNvPr id="29" name="Shape 23"/>
          <p:cNvSpPr/>
          <p:nvPr/>
        </p:nvSpPr>
        <p:spPr>
          <a:xfrm>
            <a:off x="694944" y="3529584"/>
            <a:ext cx="329184" cy="329184"/>
          </a:xfrm>
          <a:prstGeom prst="ellipse">
            <a:avLst/>
          </a:prstGeom>
          <a:solidFill>
            <a:srgbClr val="00A86A">
              <a:alpha val="22000"/>
            </a:srgbClr>
          </a:solidFill>
          <a:ln/>
        </p:spPr>
      </p:sp>
      <p:pic>
        <p:nvPicPr>
          <p:cNvPr id="30" name="Image 4" descr="preencoded.png"/>
          <p:cNvPicPr>
            <a:picLocks noChangeAspect="1"/>
          </p:cNvPicPr>
          <p:nvPr/>
        </p:nvPicPr>
        <p:blipFill>
          <a:blip r:embed="rId7"/>
          <a:stretch>
            <a:fillRect/>
          </a:stretch>
        </p:blipFill>
        <p:spPr>
          <a:xfrm>
            <a:off x="773948" y="3608588"/>
            <a:ext cx="171176" cy="171176"/>
          </a:xfrm>
          <a:prstGeom prst="rect">
            <a:avLst/>
          </a:prstGeom>
        </p:spPr>
      </p:pic>
      <p:sp>
        <p:nvSpPr>
          <p:cNvPr id="31" name="Text 24"/>
          <p:cNvSpPr txBox="1"/>
          <p:nvPr/>
        </p:nvSpPr>
        <p:spPr>
          <a:xfrm>
            <a:off x="1170432" y="3493008"/>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Classify</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free text into a classification</a:t>
            </a:r>
            <a:endParaRPr lang="en-US" sz="1100" dirty="0"/>
          </a:p>
        </p:txBody>
      </p:sp>
      <p:sp>
        <p:nvSpPr>
          <p:cNvPr id="32" name="Shape 25"/>
          <p:cNvSpPr/>
          <p:nvPr/>
        </p:nvSpPr>
        <p:spPr>
          <a:xfrm>
            <a:off x="694944" y="4023360"/>
            <a:ext cx="329184" cy="329184"/>
          </a:xfrm>
          <a:prstGeom prst="ellipse">
            <a:avLst/>
          </a:prstGeom>
          <a:solidFill>
            <a:srgbClr val="00A86A">
              <a:alpha val="22000"/>
            </a:srgbClr>
          </a:solidFill>
          <a:ln/>
        </p:spPr>
      </p:sp>
      <p:pic>
        <p:nvPicPr>
          <p:cNvPr id="33" name="Image 5" descr="preencoded.png"/>
          <p:cNvPicPr>
            <a:picLocks noChangeAspect="1"/>
          </p:cNvPicPr>
          <p:nvPr/>
        </p:nvPicPr>
        <p:blipFill>
          <a:blip r:embed="rId8"/>
          <a:stretch>
            <a:fillRect/>
          </a:stretch>
        </p:blipFill>
        <p:spPr>
          <a:xfrm>
            <a:off x="773948" y="4102364"/>
            <a:ext cx="171176" cy="171176"/>
          </a:xfrm>
          <a:prstGeom prst="rect">
            <a:avLst/>
          </a:prstGeom>
        </p:spPr>
      </p:pic>
      <p:sp>
        <p:nvSpPr>
          <p:cNvPr id="34" name="Text 26"/>
          <p:cNvSpPr txBox="1"/>
          <p:nvPr/>
        </p:nvSpPr>
        <p:spPr>
          <a:xfrm>
            <a:off x="1170432" y="3986784"/>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Code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R, Python or SQL scripts to be reviewed</a:t>
            </a:r>
            <a:endParaRPr lang="en-US" sz="1100" dirty="0"/>
          </a:p>
        </p:txBody>
      </p:sp>
      <p:sp>
        <p:nvSpPr>
          <p:cNvPr id="35" name="Shape 27"/>
          <p:cNvSpPr/>
          <p:nvPr/>
        </p:nvSpPr>
        <p:spPr>
          <a:xfrm>
            <a:off x="4709160" y="1371600"/>
            <a:ext cx="3977640" cy="3163824"/>
          </a:xfrm>
          <a:prstGeom prst="roundRect">
            <a:avLst>
              <a:gd name="adj" fmla="val 2312"/>
            </a:avLst>
          </a:prstGeom>
          <a:solidFill>
            <a:srgbClr val="F4F7F5"/>
          </a:solidFill>
          <a:ln w="9525">
            <a:solidFill>
              <a:srgbClr val="D5DED9"/>
            </a:solidFill>
            <a:prstDash val="solid"/>
          </a:ln>
        </p:spPr>
      </p:sp>
      <p:sp>
        <p:nvSpPr>
          <p:cNvPr id="36" name="Shape 28"/>
          <p:cNvSpPr/>
          <p:nvPr/>
        </p:nvSpPr>
        <p:spPr>
          <a:xfrm>
            <a:off x="4910328" y="1481328"/>
            <a:ext cx="402336" cy="402336"/>
          </a:xfrm>
          <a:prstGeom prst="ellipse">
            <a:avLst/>
          </a:prstGeom>
          <a:solidFill>
            <a:srgbClr val="B83B2E">
              <a:alpha val="22000"/>
            </a:srgbClr>
          </a:solidFill>
          <a:ln/>
        </p:spPr>
      </p:sp>
      <p:pic>
        <p:nvPicPr>
          <p:cNvPr id="37" name="Image 6" descr="preencoded.png"/>
          <p:cNvPicPr>
            <a:picLocks noChangeAspect="1"/>
          </p:cNvPicPr>
          <p:nvPr/>
        </p:nvPicPr>
        <p:blipFill>
          <a:blip r:embed="rId9"/>
          <a:stretch>
            <a:fillRect/>
          </a:stretch>
        </p:blipFill>
        <p:spPr>
          <a:xfrm>
            <a:off x="5006889" y="1577889"/>
            <a:ext cx="209215" cy="209215"/>
          </a:xfrm>
          <a:prstGeom prst="rect">
            <a:avLst/>
          </a:prstGeom>
        </p:spPr>
      </p:pic>
      <p:sp>
        <p:nvSpPr>
          <p:cNvPr id="38" name="Text 29"/>
          <p:cNvSpPr txBox="1"/>
          <p:nvPr/>
        </p:nvSpPr>
        <p:spPr>
          <a:xfrm>
            <a:off x="5422392" y="1481328"/>
            <a:ext cx="3017520" cy="402336"/>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Structural limits</a:t>
            </a:r>
            <a:endParaRPr lang="en-US" sz="1500" dirty="0"/>
          </a:p>
        </p:txBody>
      </p:sp>
      <p:sp>
        <p:nvSpPr>
          <p:cNvPr id="39" name="Shape 30"/>
          <p:cNvSpPr/>
          <p:nvPr/>
        </p:nvSpPr>
        <p:spPr>
          <a:xfrm>
            <a:off x="4946904" y="2048256"/>
            <a:ext cx="329184" cy="329184"/>
          </a:xfrm>
          <a:prstGeom prst="ellipse">
            <a:avLst/>
          </a:prstGeom>
          <a:solidFill>
            <a:srgbClr val="B83B2E">
              <a:alpha val="22000"/>
            </a:srgbClr>
          </a:solidFill>
          <a:ln/>
        </p:spPr>
      </p:sp>
      <p:pic>
        <p:nvPicPr>
          <p:cNvPr id="40" name="Image 7" descr="preencoded.png"/>
          <p:cNvPicPr>
            <a:picLocks noChangeAspect="1"/>
          </p:cNvPicPr>
          <p:nvPr/>
        </p:nvPicPr>
        <p:blipFill>
          <a:blip r:embed="rId10"/>
          <a:stretch>
            <a:fillRect/>
          </a:stretch>
        </p:blipFill>
        <p:spPr>
          <a:xfrm>
            <a:off x="5025908" y="2127260"/>
            <a:ext cx="171176" cy="171176"/>
          </a:xfrm>
          <a:prstGeom prst="rect">
            <a:avLst/>
          </a:prstGeom>
        </p:spPr>
      </p:pic>
      <p:sp>
        <p:nvSpPr>
          <p:cNvPr id="41" name="Text 31"/>
          <p:cNvSpPr txBox="1"/>
          <p:nvPr/>
        </p:nvSpPr>
        <p:spPr>
          <a:xfrm>
            <a:off x="5422392" y="2011680"/>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Hallucination</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invents a plausible figure or reference</a:t>
            </a:r>
            <a:endParaRPr lang="en-US" sz="1100" dirty="0"/>
          </a:p>
        </p:txBody>
      </p:sp>
      <p:sp>
        <p:nvSpPr>
          <p:cNvPr id="42" name="Shape 32"/>
          <p:cNvSpPr/>
          <p:nvPr/>
        </p:nvSpPr>
        <p:spPr>
          <a:xfrm>
            <a:off x="4946904" y="2542032"/>
            <a:ext cx="329184" cy="329184"/>
          </a:xfrm>
          <a:prstGeom prst="ellipse">
            <a:avLst/>
          </a:prstGeom>
          <a:solidFill>
            <a:srgbClr val="B83B2E">
              <a:alpha val="22000"/>
            </a:srgbClr>
          </a:solidFill>
          <a:ln/>
        </p:spPr>
      </p:sp>
      <p:pic>
        <p:nvPicPr>
          <p:cNvPr id="43" name="Image 8" descr="preencoded.png"/>
          <p:cNvPicPr>
            <a:picLocks noChangeAspect="1"/>
          </p:cNvPicPr>
          <p:nvPr/>
        </p:nvPicPr>
        <p:blipFill>
          <a:blip r:embed="rId11"/>
          <a:stretch>
            <a:fillRect/>
          </a:stretch>
        </p:blipFill>
        <p:spPr>
          <a:xfrm>
            <a:off x="5025908" y="2621036"/>
            <a:ext cx="171176" cy="171176"/>
          </a:xfrm>
          <a:prstGeom prst="rect">
            <a:avLst/>
          </a:prstGeom>
        </p:spPr>
      </p:pic>
      <p:sp>
        <p:nvSpPr>
          <p:cNvPr id="44" name="Text 33"/>
          <p:cNvSpPr txBox="1"/>
          <p:nvPr/>
        </p:nvSpPr>
        <p:spPr>
          <a:xfrm>
            <a:off x="5422392" y="2505456"/>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No source</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cannot say where a learned fact came from</a:t>
            </a:r>
            <a:endParaRPr lang="en-US" sz="1100" dirty="0"/>
          </a:p>
        </p:txBody>
      </p:sp>
      <p:sp>
        <p:nvSpPr>
          <p:cNvPr id="45" name="Shape 34"/>
          <p:cNvSpPr/>
          <p:nvPr/>
        </p:nvSpPr>
        <p:spPr>
          <a:xfrm>
            <a:off x="4946904" y="3035808"/>
            <a:ext cx="329184" cy="329184"/>
          </a:xfrm>
          <a:prstGeom prst="ellipse">
            <a:avLst/>
          </a:prstGeom>
          <a:solidFill>
            <a:srgbClr val="B83B2E">
              <a:alpha val="22000"/>
            </a:srgbClr>
          </a:solidFill>
          <a:ln/>
        </p:spPr>
      </p:sp>
      <p:pic>
        <p:nvPicPr>
          <p:cNvPr id="46" name="Image 9" descr="preencoded.png"/>
          <p:cNvPicPr>
            <a:picLocks noChangeAspect="1"/>
          </p:cNvPicPr>
          <p:nvPr/>
        </p:nvPicPr>
        <p:blipFill>
          <a:blip r:embed="rId12"/>
          <a:stretch>
            <a:fillRect/>
          </a:stretch>
        </p:blipFill>
        <p:spPr>
          <a:xfrm>
            <a:off x="5025908" y="3114812"/>
            <a:ext cx="171176" cy="171176"/>
          </a:xfrm>
          <a:prstGeom prst="rect">
            <a:avLst/>
          </a:prstGeom>
        </p:spPr>
      </p:pic>
      <p:sp>
        <p:nvSpPr>
          <p:cNvPr id="47" name="Text 35"/>
          <p:cNvSpPr txBox="1"/>
          <p:nvPr/>
        </p:nvSpPr>
        <p:spPr>
          <a:xfrm>
            <a:off x="5422392" y="2999232"/>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Knowledge cutoff</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unaware of anything after its training</a:t>
            </a:r>
            <a:endParaRPr lang="en-US" sz="1100" dirty="0"/>
          </a:p>
        </p:txBody>
      </p:sp>
      <p:sp>
        <p:nvSpPr>
          <p:cNvPr id="48" name="Shape 36"/>
          <p:cNvSpPr/>
          <p:nvPr/>
        </p:nvSpPr>
        <p:spPr>
          <a:xfrm>
            <a:off x="4946904" y="3529584"/>
            <a:ext cx="329184" cy="329184"/>
          </a:xfrm>
          <a:prstGeom prst="ellipse">
            <a:avLst/>
          </a:prstGeom>
          <a:solidFill>
            <a:srgbClr val="B83B2E">
              <a:alpha val="22000"/>
            </a:srgbClr>
          </a:solidFill>
          <a:ln/>
        </p:spPr>
      </p:sp>
      <p:pic>
        <p:nvPicPr>
          <p:cNvPr id="49" name="Image 10" descr="preencoded.png"/>
          <p:cNvPicPr>
            <a:picLocks noChangeAspect="1"/>
          </p:cNvPicPr>
          <p:nvPr/>
        </p:nvPicPr>
        <p:blipFill>
          <a:blip r:embed="rId13"/>
          <a:stretch>
            <a:fillRect/>
          </a:stretch>
        </p:blipFill>
        <p:spPr>
          <a:xfrm>
            <a:off x="5025908" y="3608588"/>
            <a:ext cx="171176" cy="171176"/>
          </a:xfrm>
          <a:prstGeom prst="rect">
            <a:avLst/>
          </a:prstGeom>
        </p:spPr>
      </p:pic>
      <p:sp>
        <p:nvSpPr>
          <p:cNvPr id="50" name="Text 37"/>
          <p:cNvSpPr txBox="1"/>
          <p:nvPr/>
        </p:nvSpPr>
        <p:spPr>
          <a:xfrm>
            <a:off x="5422392" y="3493008"/>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Variability</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two runs can give two different answers</a:t>
            </a:r>
            <a:endParaRPr lang="en-US" sz="1100" dirty="0"/>
          </a:p>
        </p:txBody>
      </p:sp>
      <p:sp>
        <p:nvSpPr>
          <p:cNvPr id="51" name="Shape 38"/>
          <p:cNvSpPr/>
          <p:nvPr/>
        </p:nvSpPr>
        <p:spPr>
          <a:xfrm>
            <a:off x="4946904" y="4023360"/>
            <a:ext cx="329184" cy="329184"/>
          </a:xfrm>
          <a:prstGeom prst="ellipse">
            <a:avLst/>
          </a:prstGeom>
          <a:solidFill>
            <a:srgbClr val="B83B2E">
              <a:alpha val="22000"/>
            </a:srgbClr>
          </a:solidFill>
          <a:ln/>
        </p:spPr>
      </p:sp>
      <p:pic>
        <p:nvPicPr>
          <p:cNvPr id="52" name="Image 11" descr="preencoded.png"/>
          <p:cNvPicPr>
            <a:picLocks noChangeAspect="1"/>
          </p:cNvPicPr>
          <p:nvPr/>
        </p:nvPicPr>
        <p:blipFill>
          <a:blip r:embed="rId14"/>
          <a:stretch>
            <a:fillRect/>
          </a:stretch>
        </p:blipFill>
        <p:spPr>
          <a:xfrm>
            <a:off x="5025908" y="4102364"/>
            <a:ext cx="171176" cy="171176"/>
          </a:xfrm>
          <a:prstGeom prst="rect">
            <a:avLst/>
          </a:prstGeom>
        </p:spPr>
      </p:pic>
      <p:sp>
        <p:nvSpPr>
          <p:cNvPr id="53" name="Text 39"/>
          <p:cNvSpPr txBox="1"/>
          <p:nvPr/>
        </p:nvSpPr>
        <p:spPr>
          <a:xfrm>
            <a:off x="5422392" y="3986784"/>
            <a:ext cx="3108960" cy="457200"/>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Context window</a:t>
            </a:r>
            <a:endParaRPr lang="en-US" sz="1100" dirty="0"/>
          </a:p>
          <a:p>
            <a:pPr marL="0" indent="0">
              <a:buNone/>
            </a:pPr>
            <a:r>
              <a:rPr lang="en-US" sz="1050" dirty="0">
                <a:solidFill>
                  <a:srgbClr val="5E6964"/>
                </a:solidFill>
                <a:latin typeface="Calibri" pitchFamily="34" charset="0"/>
                <a:ea typeface="Calibri" pitchFamily="34" charset="-122"/>
                <a:cs typeface="Calibri" pitchFamily="34" charset="-120"/>
              </a:rPr>
              <a:t>can only read a limited amount of text</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03  ·  THE MODEL: WHAT AN LLM IS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model on one side, the scaffolding on the other</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0E7C86"/>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6" name="Shape 14"/>
          <p:cNvSpPr/>
          <p:nvPr/>
        </p:nvSpPr>
        <p:spPr>
          <a:xfrm>
            <a:off x="457200" y="1371600"/>
            <a:ext cx="3291840" cy="2468880"/>
          </a:xfrm>
          <a:prstGeom prst="roundRect">
            <a:avLst>
              <a:gd name="adj" fmla="val 2963"/>
            </a:avLst>
          </a:prstGeom>
          <a:solidFill>
            <a:srgbClr val="F4F7F5"/>
          </a:solidFill>
          <a:ln w="9525">
            <a:solidFill>
              <a:srgbClr val="D5DED9"/>
            </a:solidFill>
            <a:prstDash val="solid"/>
          </a:ln>
        </p:spPr>
      </p:sp>
      <p:sp>
        <p:nvSpPr>
          <p:cNvPr id="17" name="Text 15"/>
          <p:cNvSpPr txBox="1"/>
          <p:nvPr/>
        </p:nvSpPr>
        <p:spPr>
          <a:xfrm>
            <a:off x="640080" y="1481328"/>
            <a:ext cx="292608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THE MODEL</a:t>
            </a:r>
            <a:endParaRPr lang="en-US" sz="1050" dirty="0"/>
          </a:p>
        </p:txBody>
      </p:sp>
      <p:sp>
        <p:nvSpPr>
          <p:cNvPr id="18" name="Text 16"/>
          <p:cNvSpPr txBox="1"/>
          <p:nvPr/>
        </p:nvSpPr>
        <p:spPr>
          <a:xfrm>
            <a:off x="640080" y="1691640"/>
            <a:ext cx="292608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what you buy or download</a:t>
            </a:r>
            <a:endParaRPr lang="en-US" sz="1000" dirty="0"/>
          </a:p>
        </p:txBody>
      </p:sp>
      <p:sp>
        <p:nvSpPr>
          <p:cNvPr id="19" name="Shape 17"/>
          <p:cNvSpPr/>
          <p:nvPr/>
        </p:nvSpPr>
        <p:spPr>
          <a:xfrm>
            <a:off x="1188720" y="2057400"/>
            <a:ext cx="1828800" cy="822960"/>
          </a:xfrm>
          <a:prstGeom prst="roundRect">
            <a:avLst>
              <a:gd name="adj" fmla="val 8889"/>
            </a:avLst>
          </a:prstGeom>
          <a:solidFill>
            <a:srgbClr val="00553A"/>
          </a:solidFill>
          <a:ln/>
        </p:spPr>
      </p:sp>
      <p:sp>
        <p:nvSpPr>
          <p:cNvPr id="20" name="Text 18"/>
          <p:cNvSpPr txBox="1"/>
          <p:nvPr/>
        </p:nvSpPr>
        <p:spPr>
          <a:xfrm>
            <a:off x="1188720" y="2057400"/>
            <a:ext cx="182880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LLM</a:t>
            </a:r>
            <a:endParaRPr lang="en-US" sz="1100" dirty="0"/>
          </a:p>
          <a:p>
            <a:pPr marL="0" indent="0" algn="ctr">
              <a:buNone/>
            </a:pPr>
            <a:r>
              <a:rPr lang="en-US" sz="1000" dirty="0">
                <a:solidFill>
                  <a:srgbClr val="FFFFFF"/>
                </a:solidFill>
                <a:latin typeface="Calibri" pitchFamily="34" charset="0"/>
                <a:ea typeface="Calibri" pitchFamily="34" charset="-122"/>
                <a:cs typeface="Calibri" pitchFamily="34" charset="-120"/>
              </a:rPr>
              <a:t>frozen weights</a:t>
            </a:r>
            <a:endParaRPr lang="en-US" sz="1100" dirty="0"/>
          </a:p>
        </p:txBody>
      </p:sp>
      <p:sp>
        <p:nvSpPr>
          <p:cNvPr id="21" name="Text 19"/>
          <p:cNvSpPr txBox="1"/>
          <p:nvPr/>
        </p:nvSpPr>
        <p:spPr>
          <a:xfrm>
            <a:off x="640080" y="3017520"/>
            <a:ext cx="2926080" cy="274320"/>
          </a:xfrm>
          <a:prstGeom prst="rect">
            <a:avLst/>
          </a:prstGeom>
          <a:noFill/>
          <a:ln/>
        </p:spPr>
        <p:txBody>
          <a:bodyPr wrap="square" lIns="0" tIns="0" rIns="0" bIns="0" rtlCol="0" anchor="t"/>
          <a:lstStyle/>
          <a:p>
            <a:pPr marL="0" indent="0" algn="ctr">
              <a:buNone/>
            </a:pPr>
            <a:r>
              <a:rPr lang="en-US" sz="1050" dirty="0">
                <a:solidFill>
                  <a:srgbClr val="231F20"/>
                </a:solidFill>
                <a:latin typeface="Calibri" pitchFamily="34" charset="0"/>
                <a:ea typeface="Calibri" pitchFamily="34" charset="-122"/>
                <a:cs typeface="Calibri" pitchFamily="34" charset="-120"/>
              </a:rPr>
              <a:t>Changed by: pre-training, fine-tuning</a:t>
            </a:r>
            <a:endParaRPr lang="en-US" sz="1050" dirty="0"/>
          </a:p>
        </p:txBody>
      </p:sp>
      <p:sp>
        <p:nvSpPr>
          <p:cNvPr id="22" name="Shape 20"/>
          <p:cNvSpPr/>
          <p:nvPr/>
        </p:nvSpPr>
        <p:spPr>
          <a:xfrm>
            <a:off x="1188720" y="3401568"/>
            <a:ext cx="1828800" cy="219456"/>
          </a:xfrm>
          <a:prstGeom prst="roundRect">
            <a:avLst>
              <a:gd name="adj" fmla="val 50000"/>
            </a:avLst>
          </a:prstGeom>
          <a:solidFill>
            <a:srgbClr val="B83B2E">
              <a:alpha val="15000"/>
            </a:srgbClr>
          </a:solidFill>
          <a:ln w="9525">
            <a:solidFill>
              <a:srgbClr val="B83B2E"/>
            </a:solidFill>
            <a:prstDash val="solid"/>
          </a:ln>
        </p:spPr>
      </p:sp>
      <p:sp>
        <p:nvSpPr>
          <p:cNvPr id="23" name="Text 21"/>
          <p:cNvSpPr txBox="1"/>
          <p:nvPr/>
        </p:nvSpPr>
        <p:spPr>
          <a:xfrm>
            <a:off x="1188720" y="3401568"/>
            <a:ext cx="1828800" cy="219456"/>
          </a:xfrm>
          <a:prstGeom prst="rect">
            <a:avLst/>
          </a:prstGeom>
          <a:noFill/>
          <a:ln/>
        </p:spPr>
        <p:txBody>
          <a:bodyPr wrap="square" lIns="0" tIns="0" rIns="0" bIns="0" rtlCol="0" anchor="ctr"/>
          <a:lstStyle/>
          <a:p>
            <a:pPr marL="0" indent="0" algn="ctr">
              <a:buNone/>
            </a:pPr>
            <a:r>
              <a:rPr lang="en-US" sz="900" b="1" dirty="0">
                <a:solidFill>
                  <a:srgbClr val="B83B2E"/>
                </a:solidFill>
                <a:latin typeface="Calibri" pitchFamily="34" charset="0"/>
                <a:ea typeface="Calibri" pitchFamily="34" charset="-122"/>
                <a:cs typeface="Calibri" pitchFamily="34" charset="-120"/>
              </a:rPr>
              <a:t>costly · permanent</a:t>
            </a:r>
            <a:endParaRPr lang="en-US" sz="900" dirty="0"/>
          </a:p>
        </p:txBody>
      </p:sp>
      <p:sp>
        <p:nvSpPr>
          <p:cNvPr id="24" name="Shape 22"/>
          <p:cNvSpPr/>
          <p:nvPr/>
        </p:nvSpPr>
        <p:spPr>
          <a:xfrm>
            <a:off x="4023360" y="1371600"/>
            <a:ext cx="4663440" cy="2468880"/>
          </a:xfrm>
          <a:prstGeom prst="roundRect">
            <a:avLst>
              <a:gd name="adj" fmla="val 2963"/>
            </a:avLst>
          </a:prstGeom>
          <a:solidFill>
            <a:srgbClr val="E8F5EF"/>
          </a:solidFill>
          <a:ln w="15875">
            <a:solidFill>
              <a:srgbClr val="00A86A"/>
            </a:solidFill>
            <a:prstDash val="solid"/>
          </a:ln>
        </p:spPr>
      </p:sp>
      <p:sp>
        <p:nvSpPr>
          <p:cNvPr id="25" name="Text 23"/>
          <p:cNvSpPr txBox="1"/>
          <p:nvPr/>
        </p:nvSpPr>
        <p:spPr>
          <a:xfrm>
            <a:off x="4206240" y="1481328"/>
            <a:ext cx="2377440" cy="201168"/>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THE SCAFFOLDING</a:t>
            </a:r>
            <a:endParaRPr lang="en-US" sz="1050" dirty="0"/>
          </a:p>
        </p:txBody>
      </p:sp>
      <p:sp>
        <p:nvSpPr>
          <p:cNvPr id="26" name="Text 24"/>
          <p:cNvSpPr txBox="1"/>
          <p:nvPr/>
        </p:nvSpPr>
        <p:spPr>
          <a:xfrm>
            <a:off x="4206240" y="1691640"/>
            <a:ext cx="2377440" cy="201168"/>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what you build around it</a:t>
            </a:r>
            <a:endParaRPr lang="en-US" sz="1000" dirty="0"/>
          </a:p>
        </p:txBody>
      </p:sp>
      <p:sp>
        <p:nvSpPr>
          <p:cNvPr id="27" name="Shape 25"/>
          <p:cNvSpPr/>
          <p:nvPr/>
        </p:nvSpPr>
        <p:spPr>
          <a:xfrm>
            <a:off x="6675120" y="1554480"/>
            <a:ext cx="1828800" cy="219456"/>
          </a:xfrm>
          <a:prstGeom prst="roundRect">
            <a:avLst>
              <a:gd name="adj" fmla="val 50000"/>
            </a:avLst>
          </a:prstGeom>
          <a:solidFill>
            <a:srgbClr val="00A86A">
              <a:alpha val="15000"/>
            </a:srgbClr>
          </a:solidFill>
          <a:ln w="9525">
            <a:solidFill>
              <a:srgbClr val="00A86A"/>
            </a:solidFill>
            <a:prstDash val="solid"/>
          </a:ln>
        </p:spPr>
      </p:sp>
      <p:sp>
        <p:nvSpPr>
          <p:cNvPr id="28" name="Text 26"/>
          <p:cNvSpPr txBox="1"/>
          <p:nvPr/>
        </p:nvSpPr>
        <p:spPr>
          <a:xfrm>
            <a:off x="6675120" y="1554480"/>
            <a:ext cx="1828800" cy="219456"/>
          </a:xfrm>
          <a:prstGeom prst="rect">
            <a:avLst/>
          </a:prstGeom>
          <a:noFill/>
          <a:ln/>
        </p:spPr>
        <p:txBody>
          <a:bodyPr wrap="square" lIns="0" tIns="0" rIns="0" bIns="0" rtlCol="0" anchor="ctr"/>
          <a:lstStyle/>
          <a:p>
            <a:pPr marL="0" indent="0" algn="ctr">
              <a:buNone/>
            </a:pPr>
            <a:r>
              <a:rPr lang="en-US" sz="900" b="1" dirty="0">
                <a:solidFill>
                  <a:srgbClr val="00A86A"/>
                </a:solidFill>
                <a:latin typeface="Calibri" pitchFamily="34" charset="0"/>
                <a:ea typeface="Calibri" pitchFamily="34" charset="-122"/>
                <a:cs typeface="Calibri" pitchFamily="34" charset="-120"/>
              </a:rPr>
              <a:t>cheap · reversible</a:t>
            </a:r>
            <a:endParaRPr lang="en-US" sz="900" dirty="0"/>
          </a:p>
        </p:txBody>
      </p:sp>
      <p:sp>
        <p:nvSpPr>
          <p:cNvPr id="29" name="Shape 27"/>
          <p:cNvSpPr/>
          <p:nvPr/>
        </p:nvSpPr>
        <p:spPr>
          <a:xfrm>
            <a:off x="4206240" y="1993392"/>
            <a:ext cx="4297680" cy="1719072"/>
          </a:xfrm>
          <a:prstGeom prst="roundRect">
            <a:avLst>
              <a:gd name="adj" fmla="val 3191"/>
            </a:avLst>
          </a:prstGeom>
          <a:solidFill>
            <a:srgbClr val="FFFFFF">
              <a:alpha val="70000"/>
            </a:srgbClr>
          </a:solidFill>
          <a:ln w="15875">
            <a:solidFill>
              <a:srgbClr val="C4621D"/>
            </a:solidFill>
            <a:prstDash val="solid"/>
          </a:ln>
        </p:spPr>
      </p:sp>
      <p:sp>
        <p:nvSpPr>
          <p:cNvPr id="30" name="Text 28"/>
          <p:cNvSpPr txBox="1"/>
          <p:nvPr/>
        </p:nvSpPr>
        <p:spPr>
          <a:xfrm>
            <a:off x="4315968" y="2039112"/>
            <a:ext cx="4114800" cy="219456"/>
          </a:xfrm>
          <a:prstGeom prst="rect">
            <a:avLst/>
          </a:prstGeom>
          <a:noFill/>
          <a:ln/>
        </p:spPr>
        <p:txBody>
          <a:bodyPr wrap="square" lIns="0" tIns="0" rIns="0" bIns="0" rtlCol="0" anchor="t"/>
          <a:lstStyle/>
          <a:p>
            <a:pPr marL="0" indent="0">
              <a:buNone/>
            </a:pPr>
            <a:r>
              <a:rPr lang="en-US" sz="900" b="1" dirty="0">
                <a:solidFill>
                  <a:srgbClr val="C4621D"/>
                </a:solidFill>
                <a:latin typeface="Calibri" pitchFamily="34" charset="0"/>
                <a:ea typeface="Calibri" pitchFamily="34" charset="-122"/>
                <a:cs typeface="Calibri" pitchFamily="34" charset="-120"/>
              </a:rPr>
              <a:t>MCP · standard cable to your tools and data</a:t>
            </a:r>
            <a:endParaRPr lang="en-US" sz="900" dirty="0"/>
          </a:p>
        </p:txBody>
      </p:sp>
      <p:sp>
        <p:nvSpPr>
          <p:cNvPr id="31" name="Shape 29"/>
          <p:cNvSpPr/>
          <p:nvPr/>
        </p:nvSpPr>
        <p:spPr>
          <a:xfrm>
            <a:off x="4407408" y="2286000"/>
            <a:ext cx="3895344" cy="1353312"/>
          </a:xfrm>
          <a:prstGeom prst="roundRect">
            <a:avLst>
              <a:gd name="adj" fmla="val 4054"/>
            </a:avLst>
          </a:prstGeom>
          <a:solidFill>
            <a:srgbClr val="FFFFFF">
              <a:alpha val="70000"/>
            </a:srgbClr>
          </a:solidFill>
          <a:ln w="15875">
            <a:solidFill>
              <a:srgbClr val="0E7C86"/>
            </a:solidFill>
            <a:prstDash val="solid"/>
          </a:ln>
        </p:spPr>
      </p:sp>
      <p:sp>
        <p:nvSpPr>
          <p:cNvPr id="32" name="Text 30"/>
          <p:cNvSpPr txBox="1"/>
          <p:nvPr/>
        </p:nvSpPr>
        <p:spPr>
          <a:xfrm>
            <a:off x="4517136" y="2331720"/>
            <a:ext cx="3712464" cy="219456"/>
          </a:xfrm>
          <a:prstGeom prst="rect">
            <a:avLst/>
          </a:prstGeom>
          <a:noFill/>
          <a:ln/>
        </p:spPr>
        <p:txBody>
          <a:bodyPr wrap="square" lIns="0" tIns="0" rIns="0" bIns="0" rtlCol="0" anchor="t"/>
          <a:lstStyle/>
          <a:p>
            <a:pPr marL="0" indent="0">
              <a:buNone/>
            </a:pPr>
            <a:r>
              <a:rPr lang="en-US" sz="900" b="1" dirty="0">
                <a:solidFill>
                  <a:srgbClr val="0E7C86"/>
                </a:solidFill>
                <a:latin typeface="Calibri" pitchFamily="34" charset="0"/>
                <a:ea typeface="Calibri" pitchFamily="34" charset="-122"/>
                <a:cs typeface="Calibri" pitchFamily="34" charset="-120"/>
              </a:rPr>
              <a:t>AGENT LOOP · output becomes action</a:t>
            </a:r>
            <a:endParaRPr lang="en-US" sz="900" dirty="0"/>
          </a:p>
        </p:txBody>
      </p:sp>
      <p:sp>
        <p:nvSpPr>
          <p:cNvPr id="33" name="Shape 31"/>
          <p:cNvSpPr/>
          <p:nvPr/>
        </p:nvSpPr>
        <p:spPr>
          <a:xfrm>
            <a:off x="4608576" y="2578608"/>
            <a:ext cx="3493008" cy="987552"/>
          </a:xfrm>
          <a:prstGeom prst="roundRect">
            <a:avLst>
              <a:gd name="adj" fmla="val 5556"/>
            </a:avLst>
          </a:prstGeom>
          <a:solidFill>
            <a:srgbClr val="FFFFFF">
              <a:alpha val="70000"/>
            </a:srgbClr>
          </a:solidFill>
          <a:ln w="15875">
            <a:solidFill>
              <a:srgbClr val="D49A00"/>
            </a:solidFill>
            <a:prstDash val="solid"/>
          </a:ln>
        </p:spPr>
      </p:sp>
      <p:sp>
        <p:nvSpPr>
          <p:cNvPr id="34" name="Text 32"/>
          <p:cNvSpPr txBox="1"/>
          <p:nvPr/>
        </p:nvSpPr>
        <p:spPr>
          <a:xfrm>
            <a:off x="4718304" y="2624328"/>
            <a:ext cx="3310128" cy="219456"/>
          </a:xfrm>
          <a:prstGeom prst="rect">
            <a:avLst/>
          </a:prstGeom>
          <a:noFill/>
          <a:ln/>
        </p:spPr>
        <p:txBody>
          <a:bodyPr wrap="square" lIns="0" tIns="0" rIns="0" bIns="0" rtlCol="0" anchor="t"/>
          <a:lstStyle/>
          <a:p>
            <a:pPr marL="0" indent="0">
              <a:buNone/>
            </a:pPr>
            <a:r>
              <a:rPr lang="en-US" sz="900" b="1" dirty="0">
                <a:solidFill>
                  <a:srgbClr val="D49A00"/>
                </a:solidFill>
                <a:latin typeface="Calibri" pitchFamily="34" charset="0"/>
                <a:ea typeface="Calibri" pitchFamily="34" charset="-122"/>
                <a:cs typeface="Calibri" pitchFamily="34" charset="-120"/>
              </a:rPr>
              <a:t>CONTEXT · prompt + retrieved documents</a:t>
            </a:r>
            <a:endParaRPr lang="en-US" sz="900" dirty="0"/>
          </a:p>
        </p:txBody>
      </p:sp>
      <p:sp>
        <p:nvSpPr>
          <p:cNvPr id="35" name="Shape 33"/>
          <p:cNvSpPr/>
          <p:nvPr/>
        </p:nvSpPr>
        <p:spPr>
          <a:xfrm>
            <a:off x="5806440" y="2926080"/>
            <a:ext cx="1097280" cy="457200"/>
          </a:xfrm>
          <a:prstGeom prst="roundRect">
            <a:avLst>
              <a:gd name="adj" fmla="val 12000"/>
            </a:avLst>
          </a:prstGeom>
          <a:solidFill>
            <a:srgbClr val="00553A"/>
          </a:solidFill>
          <a:ln/>
        </p:spPr>
      </p:sp>
      <p:sp>
        <p:nvSpPr>
          <p:cNvPr id="36" name="Text 34"/>
          <p:cNvSpPr txBox="1"/>
          <p:nvPr/>
        </p:nvSpPr>
        <p:spPr>
          <a:xfrm>
            <a:off x="5806440" y="2926080"/>
            <a:ext cx="1097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LLM</a:t>
            </a:r>
            <a:endParaRPr lang="en-US" sz="1400" dirty="0"/>
          </a:p>
        </p:txBody>
      </p:sp>
      <p:sp>
        <p:nvSpPr>
          <p:cNvPr id="37" name="Shape 35"/>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8" name="Shape 36"/>
          <p:cNvSpPr/>
          <p:nvPr/>
        </p:nvSpPr>
        <p:spPr>
          <a:xfrm>
            <a:off x="603504" y="4059936"/>
            <a:ext cx="402336" cy="402336"/>
          </a:xfrm>
          <a:prstGeom prst="ellipse">
            <a:avLst/>
          </a:prstGeom>
          <a:solidFill>
            <a:srgbClr val="00704A">
              <a:alpha val="22000"/>
            </a:srgbClr>
          </a:solidFill>
          <a:ln/>
        </p:spPr>
      </p:sp>
      <p:pic>
        <p:nvPicPr>
          <p:cNvPr id="39" name="Image 0" descr="preencoded.png"/>
          <p:cNvPicPr>
            <a:picLocks noChangeAspect="1"/>
          </p:cNvPicPr>
          <p:nvPr/>
        </p:nvPicPr>
        <p:blipFill>
          <a:blip r:embed="rId3"/>
          <a:stretch>
            <a:fillRect/>
          </a:stretch>
        </p:blipFill>
        <p:spPr>
          <a:xfrm>
            <a:off x="700065" y="4156497"/>
            <a:ext cx="209215" cy="209215"/>
          </a:xfrm>
          <a:prstGeom prst="rect">
            <a:avLst/>
          </a:prstGeom>
        </p:spPr>
      </p:pic>
      <p:sp>
        <p:nvSpPr>
          <p:cNvPr id="40" name="Text 37"/>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Nothing on the right changes the model. </a:t>
            </a:r>
            <a:r>
              <a:rPr lang="en-US" sz="1150" dirty="0">
                <a:solidFill>
                  <a:srgbClr val="231F20"/>
                </a:solidFill>
                <a:latin typeface="Calibri" pitchFamily="34" charset="0"/>
                <a:ea typeface="Calibri" pitchFamily="34" charset="-122"/>
                <a:cs typeface="Calibri" pitchFamily="34" charset="-120"/>
              </a:rPr>
              <a:t>You can change the scaffolding on a Tuesday afternoon; the model, you cannot. That one fact explains most of the cost and most of the risk.</a:t>
            </a:r>
            <a:endParaRPr lang="en-US" sz="11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04</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Steering: prompt, RAG, fine-tuning</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Where do you intervene to change what the model produces?</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5C242"/>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STEERING: PROMPT, RAG, FINE-TUNING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Four places to change what the model does</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6" name="Shape 14"/>
          <p:cNvSpPr/>
          <p:nvPr/>
        </p:nvSpPr>
        <p:spPr>
          <a:xfrm>
            <a:off x="457200" y="1371600"/>
            <a:ext cx="1920240" cy="2395728"/>
          </a:xfrm>
          <a:prstGeom prst="roundRect">
            <a:avLst>
              <a:gd name="adj" fmla="val 3810"/>
            </a:avLst>
          </a:prstGeom>
          <a:solidFill>
            <a:srgbClr val="F4F7F5"/>
          </a:solidFill>
          <a:ln w="9525">
            <a:solidFill>
              <a:srgbClr val="D5DED9"/>
            </a:solidFill>
            <a:prstDash val="solid"/>
          </a:ln>
        </p:spPr>
      </p:sp>
      <p:sp>
        <p:nvSpPr>
          <p:cNvPr id="17" name="Shape 15"/>
          <p:cNvSpPr/>
          <p:nvPr/>
        </p:nvSpPr>
        <p:spPr>
          <a:xfrm>
            <a:off x="621792" y="1481328"/>
            <a:ext cx="438912" cy="438912"/>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727131" y="1586667"/>
            <a:ext cx="228234" cy="228234"/>
          </a:xfrm>
          <a:prstGeom prst="rect">
            <a:avLst/>
          </a:prstGeom>
        </p:spPr>
      </p:pic>
      <p:sp>
        <p:nvSpPr>
          <p:cNvPr id="19" name="Text 16"/>
          <p:cNvSpPr txBox="1"/>
          <p:nvPr/>
        </p:nvSpPr>
        <p:spPr>
          <a:xfrm>
            <a:off x="1133856" y="1463040"/>
            <a:ext cx="1188720" cy="512064"/>
          </a:xfrm>
          <a:prstGeom prst="rect">
            <a:avLst/>
          </a:prstGeom>
          <a:noFill/>
          <a:ln/>
        </p:spPr>
        <p:txBody>
          <a:bodyPr wrap="square" lIns="0" tIns="0" rIns="0" bIns="0" rtlCol="0" anchor="ctr"/>
          <a:lstStyle/>
          <a:p>
            <a:pPr marL="0" indent="0">
              <a:buNone/>
            </a:pPr>
            <a:r>
              <a:rPr lang="en-US" sz="1350" b="1" dirty="0">
                <a:solidFill>
                  <a:srgbClr val="00A86A"/>
                </a:solidFill>
                <a:latin typeface="Calibri" pitchFamily="34" charset="0"/>
                <a:ea typeface="Calibri" pitchFamily="34" charset="-122"/>
                <a:cs typeface="Calibri" pitchFamily="34" charset="-120"/>
              </a:rPr>
              <a:t>Prompt</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the instruction</a:t>
            </a:r>
            <a:endParaRPr lang="en-US" sz="1100" dirty="0"/>
          </a:p>
        </p:txBody>
      </p:sp>
      <p:sp>
        <p:nvSpPr>
          <p:cNvPr id="20" name="Text 17"/>
          <p:cNvSpPr txBox="1"/>
          <p:nvPr/>
        </p:nvSpPr>
        <p:spPr>
          <a:xfrm>
            <a:off x="62179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Acts on</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the input</a:t>
            </a:r>
            <a:endParaRPr lang="en-US" sz="1100" dirty="0"/>
          </a:p>
        </p:txBody>
      </p:sp>
      <p:sp>
        <p:nvSpPr>
          <p:cNvPr id="21" name="Text 18"/>
          <p:cNvSpPr txBox="1"/>
          <p:nvPr/>
        </p:nvSpPr>
        <p:spPr>
          <a:xfrm>
            <a:off x="62179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minutes</a:t>
            </a:r>
            <a:endParaRPr lang="en-US" sz="1100" dirty="0"/>
          </a:p>
        </p:txBody>
      </p:sp>
      <p:sp>
        <p:nvSpPr>
          <p:cNvPr id="22" name="Text 19"/>
          <p:cNvSpPr txBox="1"/>
          <p:nvPr/>
        </p:nvSpPr>
        <p:spPr>
          <a:xfrm>
            <a:off x="62179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Reversible?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yes, instantly</a:t>
            </a:r>
            <a:endParaRPr lang="en-US" sz="1100" dirty="0"/>
          </a:p>
        </p:txBody>
      </p:sp>
      <p:sp>
        <p:nvSpPr>
          <p:cNvPr id="23" name="Text 20"/>
          <p:cNvSpPr txBox="1"/>
          <p:nvPr/>
        </p:nvSpPr>
        <p:spPr>
          <a:xfrm>
            <a:off x="62179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Traceable?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yes</a:t>
            </a:r>
            <a:endParaRPr lang="en-US" sz="1100" dirty="0"/>
          </a:p>
        </p:txBody>
      </p:sp>
      <p:sp>
        <p:nvSpPr>
          <p:cNvPr id="24" name="Shape 21"/>
          <p:cNvSpPr/>
          <p:nvPr/>
        </p:nvSpPr>
        <p:spPr>
          <a:xfrm>
            <a:off x="2560320" y="1371600"/>
            <a:ext cx="1920240" cy="2395728"/>
          </a:xfrm>
          <a:prstGeom prst="roundRect">
            <a:avLst>
              <a:gd name="adj" fmla="val 3810"/>
            </a:avLst>
          </a:prstGeom>
          <a:solidFill>
            <a:srgbClr val="F4F7F5"/>
          </a:solidFill>
          <a:ln w="9525">
            <a:solidFill>
              <a:srgbClr val="D5DED9"/>
            </a:solidFill>
            <a:prstDash val="solid"/>
          </a:ln>
        </p:spPr>
      </p:sp>
      <p:sp>
        <p:nvSpPr>
          <p:cNvPr id="25" name="Shape 22"/>
          <p:cNvSpPr/>
          <p:nvPr/>
        </p:nvSpPr>
        <p:spPr>
          <a:xfrm>
            <a:off x="2724912" y="1481328"/>
            <a:ext cx="438912" cy="438912"/>
          </a:xfrm>
          <a:prstGeom prst="ellipse">
            <a:avLst/>
          </a:prstGeom>
          <a:solidFill>
            <a:srgbClr val="0E7C86">
              <a:alpha val="22000"/>
            </a:srgbClr>
          </a:solidFill>
          <a:ln/>
        </p:spPr>
      </p:sp>
      <p:pic>
        <p:nvPicPr>
          <p:cNvPr id="26" name="Image 1" descr="preencoded.png"/>
          <p:cNvPicPr>
            <a:picLocks noChangeAspect="1"/>
          </p:cNvPicPr>
          <p:nvPr/>
        </p:nvPicPr>
        <p:blipFill>
          <a:blip r:embed="rId4"/>
          <a:stretch>
            <a:fillRect/>
          </a:stretch>
        </p:blipFill>
        <p:spPr>
          <a:xfrm>
            <a:off x="2830251" y="1586667"/>
            <a:ext cx="228234" cy="228234"/>
          </a:xfrm>
          <a:prstGeom prst="rect">
            <a:avLst/>
          </a:prstGeom>
        </p:spPr>
      </p:pic>
      <p:sp>
        <p:nvSpPr>
          <p:cNvPr id="27" name="Text 23"/>
          <p:cNvSpPr txBox="1"/>
          <p:nvPr/>
        </p:nvSpPr>
        <p:spPr>
          <a:xfrm>
            <a:off x="3236976" y="1463040"/>
            <a:ext cx="1188720" cy="512064"/>
          </a:xfrm>
          <a:prstGeom prst="rect">
            <a:avLst/>
          </a:prstGeom>
          <a:noFill/>
          <a:ln/>
        </p:spPr>
        <p:txBody>
          <a:bodyPr wrap="square" lIns="0" tIns="0" rIns="0" bIns="0" rtlCol="0" anchor="ctr"/>
          <a:lstStyle/>
          <a:p>
            <a:pPr marL="0" indent="0">
              <a:buNone/>
            </a:pPr>
            <a:r>
              <a:rPr lang="en-US" sz="1350" b="1" dirty="0">
                <a:solidFill>
                  <a:srgbClr val="0E7C86"/>
                </a:solidFill>
                <a:latin typeface="Calibri" pitchFamily="34" charset="0"/>
                <a:ea typeface="Calibri" pitchFamily="34" charset="-122"/>
                <a:cs typeface="Calibri" pitchFamily="34" charset="-120"/>
              </a:rPr>
              <a:t>RAG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retrieval-augmented generation</a:t>
            </a:r>
            <a:endParaRPr lang="en-US" sz="1100" dirty="0"/>
          </a:p>
        </p:txBody>
      </p:sp>
      <p:sp>
        <p:nvSpPr>
          <p:cNvPr id="28" name="Text 24"/>
          <p:cNvSpPr txBox="1"/>
          <p:nvPr/>
        </p:nvSpPr>
        <p:spPr>
          <a:xfrm>
            <a:off x="272491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Acts on</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the context</a:t>
            </a:r>
            <a:endParaRPr lang="en-US" sz="1100" dirty="0"/>
          </a:p>
        </p:txBody>
      </p:sp>
      <p:sp>
        <p:nvSpPr>
          <p:cNvPr id="29" name="Text 25"/>
          <p:cNvSpPr txBox="1"/>
          <p:nvPr/>
        </p:nvSpPr>
        <p:spPr>
          <a:xfrm>
            <a:off x="272491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a project</a:t>
            </a:r>
            <a:endParaRPr lang="en-US" sz="1100" dirty="0"/>
          </a:p>
        </p:txBody>
      </p:sp>
      <p:sp>
        <p:nvSpPr>
          <p:cNvPr id="30" name="Text 26"/>
          <p:cNvSpPr txBox="1"/>
          <p:nvPr/>
        </p:nvSpPr>
        <p:spPr>
          <a:xfrm>
            <a:off x="272491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Reversible?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yes, document by document</a:t>
            </a:r>
            <a:endParaRPr lang="en-US" sz="1100" dirty="0"/>
          </a:p>
        </p:txBody>
      </p:sp>
      <p:sp>
        <p:nvSpPr>
          <p:cNvPr id="31" name="Text 27"/>
          <p:cNvSpPr txBox="1"/>
          <p:nvPr/>
        </p:nvSpPr>
        <p:spPr>
          <a:xfrm>
            <a:off x="272491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Traceable?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yes, sources cited</a:t>
            </a:r>
            <a:endParaRPr lang="en-US" sz="1100" dirty="0"/>
          </a:p>
        </p:txBody>
      </p:sp>
      <p:sp>
        <p:nvSpPr>
          <p:cNvPr id="32" name="Shape 28"/>
          <p:cNvSpPr/>
          <p:nvPr/>
        </p:nvSpPr>
        <p:spPr>
          <a:xfrm>
            <a:off x="4663440" y="1371600"/>
            <a:ext cx="1920240" cy="2395728"/>
          </a:xfrm>
          <a:prstGeom prst="roundRect">
            <a:avLst>
              <a:gd name="adj" fmla="val 3810"/>
            </a:avLst>
          </a:prstGeom>
          <a:solidFill>
            <a:srgbClr val="F4F7F5"/>
          </a:solidFill>
          <a:ln w="9525">
            <a:solidFill>
              <a:srgbClr val="D5DED9"/>
            </a:solidFill>
            <a:prstDash val="solid"/>
          </a:ln>
        </p:spPr>
      </p:sp>
      <p:sp>
        <p:nvSpPr>
          <p:cNvPr id="33" name="Shape 29"/>
          <p:cNvSpPr/>
          <p:nvPr/>
        </p:nvSpPr>
        <p:spPr>
          <a:xfrm>
            <a:off x="4828032" y="1481328"/>
            <a:ext cx="438912" cy="438912"/>
          </a:xfrm>
          <a:prstGeom prst="ellipse">
            <a:avLst/>
          </a:prstGeom>
          <a:solidFill>
            <a:srgbClr val="D49A00">
              <a:alpha val="22000"/>
            </a:srgbClr>
          </a:solidFill>
          <a:ln/>
        </p:spPr>
      </p:sp>
      <p:pic>
        <p:nvPicPr>
          <p:cNvPr id="34" name="Image 2" descr="preencoded.png"/>
          <p:cNvPicPr>
            <a:picLocks noChangeAspect="1"/>
          </p:cNvPicPr>
          <p:nvPr/>
        </p:nvPicPr>
        <p:blipFill>
          <a:blip r:embed="rId5"/>
          <a:stretch>
            <a:fillRect/>
          </a:stretch>
        </p:blipFill>
        <p:spPr>
          <a:xfrm>
            <a:off x="4933371" y="1586667"/>
            <a:ext cx="228234" cy="228234"/>
          </a:xfrm>
          <a:prstGeom prst="rect">
            <a:avLst/>
          </a:prstGeom>
        </p:spPr>
      </p:pic>
      <p:sp>
        <p:nvSpPr>
          <p:cNvPr id="35" name="Text 30"/>
          <p:cNvSpPr txBox="1"/>
          <p:nvPr/>
        </p:nvSpPr>
        <p:spPr>
          <a:xfrm>
            <a:off x="5340096" y="1463040"/>
            <a:ext cx="1188720" cy="512064"/>
          </a:xfrm>
          <a:prstGeom prst="rect">
            <a:avLst/>
          </a:prstGeom>
          <a:noFill/>
          <a:ln/>
        </p:spPr>
        <p:txBody>
          <a:bodyPr wrap="square" lIns="0" tIns="0" rIns="0" bIns="0" rtlCol="0" anchor="ctr"/>
          <a:lstStyle/>
          <a:p>
            <a:pPr marL="0" indent="0">
              <a:buNone/>
            </a:pPr>
            <a:r>
              <a:rPr lang="en-US" sz="1350" b="1" dirty="0">
                <a:solidFill>
                  <a:srgbClr val="D49A00"/>
                </a:solidFill>
                <a:latin typeface="Calibri" pitchFamily="34" charset="0"/>
                <a:ea typeface="Calibri" pitchFamily="34" charset="-122"/>
                <a:cs typeface="Calibri" pitchFamily="34" charset="-120"/>
              </a:rPr>
              <a:t>Fine-tuning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further training</a:t>
            </a:r>
            <a:endParaRPr lang="en-US" sz="1100" dirty="0"/>
          </a:p>
        </p:txBody>
      </p:sp>
      <p:sp>
        <p:nvSpPr>
          <p:cNvPr id="36" name="Text 31"/>
          <p:cNvSpPr txBox="1"/>
          <p:nvPr/>
        </p:nvSpPr>
        <p:spPr>
          <a:xfrm>
            <a:off x="482803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Acts on</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the weights</a:t>
            </a:r>
            <a:endParaRPr lang="en-US" sz="1100" dirty="0"/>
          </a:p>
        </p:txBody>
      </p:sp>
      <p:sp>
        <p:nvSpPr>
          <p:cNvPr id="37" name="Text 32"/>
          <p:cNvSpPr txBox="1"/>
          <p:nvPr/>
        </p:nvSpPr>
        <p:spPr>
          <a:xfrm>
            <a:off x="482803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a project + example set</a:t>
            </a:r>
            <a:endParaRPr lang="en-US" sz="1100" dirty="0"/>
          </a:p>
        </p:txBody>
      </p:sp>
      <p:sp>
        <p:nvSpPr>
          <p:cNvPr id="38" name="Text 33"/>
          <p:cNvSpPr txBox="1"/>
          <p:nvPr/>
        </p:nvSpPr>
        <p:spPr>
          <a:xfrm>
            <a:off x="482803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Reversible?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 retrain needed</a:t>
            </a:r>
            <a:endParaRPr lang="en-US" sz="1100" dirty="0"/>
          </a:p>
        </p:txBody>
      </p:sp>
      <p:sp>
        <p:nvSpPr>
          <p:cNvPr id="39" name="Text 34"/>
          <p:cNvSpPr txBox="1"/>
          <p:nvPr/>
        </p:nvSpPr>
        <p:spPr>
          <a:xfrm>
            <a:off x="482803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Traceable?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a:t>
            </a:r>
            <a:endParaRPr lang="en-US" sz="1100" dirty="0"/>
          </a:p>
        </p:txBody>
      </p:sp>
      <p:sp>
        <p:nvSpPr>
          <p:cNvPr id="40" name="Shape 35"/>
          <p:cNvSpPr/>
          <p:nvPr/>
        </p:nvSpPr>
        <p:spPr>
          <a:xfrm>
            <a:off x="6766560" y="1371600"/>
            <a:ext cx="1920240" cy="2395728"/>
          </a:xfrm>
          <a:prstGeom prst="roundRect">
            <a:avLst>
              <a:gd name="adj" fmla="val 3810"/>
            </a:avLst>
          </a:prstGeom>
          <a:solidFill>
            <a:srgbClr val="EEF0EF"/>
          </a:solidFill>
          <a:ln w="9525">
            <a:solidFill>
              <a:srgbClr val="D5DED9"/>
            </a:solidFill>
            <a:prstDash val="solid"/>
          </a:ln>
        </p:spPr>
      </p:sp>
      <p:sp>
        <p:nvSpPr>
          <p:cNvPr id="41" name="Shape 36"/>
          <p:cNvSpPr/>
          <p:nvPr/>
        </p:nvSpPr>
        <p:spPr>
          <a:xfrm>
            <a:off x="6931152" y="1481328"/>
            <a:ext cx="438912" cy="438912"/>
          </a:xfrm>
          <a:prstGeom prst="ellipse">
            <a:avLst/>
          </a:prstGeom>
          <a:solidFill>
            <a:srgbClr val="B83B2E">
              <a:alpha val="22000"/>
            </a:srgbClr>
          </a:solidFill>
          <a:ln/>
        </p:spPr>
      </p:sp>
      <p:pic>
        <p:nvPicPr>
          <p:cNvPr id="42" name="Image 3" descr="preencoded.png"/>
          <p:cNvPicPr>
            <a:picLocks noChangeAspect="1"/>
          </p:cNvPicPr>
          <p:nvPr/>
        </p:nvPicPr>
        <p:blipFill>
          <a:blip r:embed="rId6"/>
          <a:stretch>
            <a:fillRect/>
          </a:stretch>
        </p:blipFill>
        <p:spPr>
          <a:xfrm>
            <a:off x="7036491" y="1586667"/>
            <a:ext cx="228234" cy="228234"/>
          </a:xfrm>
          <a:prstGeom prst="rect">
            <a:avLst/>
          </a:prstGeom>
        </p:spPr>
      </p:pic>
      <p:sp>
        <p:nvSpPr>
          <p:cNvPr id="43" name="Text 37"/>
          <p:cNvSpPr txBox="1"/>
          <p:nvPr/>
        </p:nvSpPr>
        <p:spPr>
          <a:xfrm>
            <a:off x="7443216" y="1463040"/>
            <a:ext cx="1188720" cy="512064"/>
          </a:xfrm>
          <a:prstGeom prst="rect">
            <a:avLst/>
          </a:prstGeom>
          <a:noFill/>
          <a:ln/>
        </p:spPr>
        <p:txBody>
          <a:bodyPr wrap="square" lIns="0" tIns="0" rIns="0" bIns="0" rtlCol="0" anchor="ctr"/>
          <a:lstStyle/>
          <a:p>
            <a:pPr marL="0" indent="0">
              <a:buNone/>
            </a:pPr>
            <a:r>
              <a:rPr lang="en-US" sz="1350" b="1" dirty="0">
                <a:solidFill>
                  <a:srgbClr val="B83B2E"/>
                </a:solidFill>
                <a:latin typeface="Calibri" pitchFamily="34" charset="0"/>
                <a:ea typeface="Calibri" pitchFamily="34" charset="-122"/>
                <a:cs typeface="Calibri" pitchFamily="34" charset="-120"/>
              </a:rPr>
              <a:t>Pre-training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building the model</a:t>
            </a:r>
            <a:endParaRPr lang="en-US" sz="1100" dirty="0"/>
          </a:p>
        </p:txBody>
      </p:sp>
      <p:sp>
        <p:nvSpPr>
          <p:cNvPr id="44" name="Text 38"/>
          <p:cNvSpPr txBox="1"/>
          <p:nvPr/>
        </p:nvSpPr>
        <p:spPr>
          <a:xfrm>
            <a:off x="6931152" y="2103120"/>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Acts on</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the whole model</a:t>
            </a:r>
            <a:endParaRPr lang="en-US" sz="1100" dirty="0"/>
          </a:p>
        </p:txBody>
      </p:sp>
      <p:sp>
        <p:nvSpPr>
          <p:cNvPr id="45" name="Text 39"/>
          <p:cNvSpPr txBox="1"/>
          <p:nvPr/>
        </p:nvSpPr>
        <p:spPr>
          <a:xfrm>
            <a:off x="6931152" y="2505456"/>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Effort</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out of reach for an NSO</a:t>
            </a:r>
            <a:endParaRPr lang="en-US" sz="1100" dirty="0"/>
          </a:p>
        </p:txBody>
      </p:sp>
      <p:sp>
        <p:nvSpPr>
          <p:cNvPr id="46" name="Text 40"/>
          <p:cNvSpPr txBox="1"/>
          <p:nvPr/>
        </p:nvSpPr>
        <p:spPr>
          <a:xfrm>
            <a:off x="6931152" y="2907792"/>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Reversible?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a:t>
            </a:r>
            <a:endParaRPr lang="en-US" sz="1100" dirty="0"/>
          </a:p>
        </p:txBody>
      </p:sp>
      <p:sp>
        <p:nvSpPr>
          <p:cNvPr id="47" name="Text 41"/>
          <p:cNvSpPr txBox="1"/>
          <p:nvPr/>
        </p:nvSpPr>
        <p:spPr>
          <a:xfrm>
            <a:off x="6931152" y="3310128"/>
            <a:ext cx="1645920" cy="384048"/>
          </a:xfrm>
          <a:prstGeom prst="rect">
            <a:avLst/>
          </a:prstGeom>
          <a:noFill/>
          <a:ln/>
        </p:spPr>
        <p:txBody>
          <a:bodyPr wrap="square" lIns="0" tIns="0" rIns="0" bIns="0" rtlCol="0" anchor="t"/>
          <a:lstStyle/>
          <a:p>
            <a:pPr marL="0" indent="0">
              <a:buNone/>
            </a:pPr>
            <a:r>
              <a:rPr lang="en-US" sz="850" b="1" dirty="0">
                <a:solidFill>
                  <a:srgbClr val="5E6964"/>
                </a:solidFill>
                <a:latin typeface="Calibri" pitchFamily="34" charset="0"/>
                <a:ea typeface="Calibri" pitchFamily="34" charset="-122"/>
                <a:cs typeface="Calibri" pitchFamily="34" charset="-120"/>
              </a:rPr>
              <a:t>Traceable?</a:t>
            </a:r>
            <a:endParaRPr lang="en-US" sz="1100" dirty="0"/>
          </a:p>
          <a:p>
            <a:pPr marL="0" indent="0">
              <a:buNone/>
            </a:pPr>
            <a:r>
              <a:rPr lang="en-US" sz="1050" dirty="0">
                <a:solidFill>
                  <a:srgbClr val="231F20"/>
                </a:solidFill>
                <a:latin typeface="Calibri" pitchFamily="34" charset="0"/>
                <a:ea typeface="Calibri" pitchFamily="34" charset="-122"/>
                <a:cs typeface="Calibri" pitchFamily="34" charset="-120"/>
              </a:rPr>
              <a:t>no</a:t>
            </a:r>
            <a:endParaRPr lang="en-US" sz="1100" dirty="0"/>
          </a:p>
        </p:txBody>
      </p:sp>
      <p:sp>
        <p:nvSpPr>
          <p:cNvPr id="48" name="Shape 42"/>
          <p:cNvSpPr/>
          <p:nvPr/>
        </p:nvSpPr>
        <p:spPr>
          <a:xfrm>
            <a:off x="457200" y="3877056"/>
            <a:ext cx="2103120" cy="219456"/>
          </a:xfrm>
          <a:prstGeom prst="rect">
            <a:avLst/>
          </a:prstGeom>
          <a:solidFill>
            <a:srgbClr val="9ED9C0"/>
          </a:solidFill>
          <a:ln/>
        </p:spPr>
      </p:sp>
      <p:sp>
        <p:nvSpPr>
          <p:cNvPr id="49" name="Shape 43"/>
          <p:cNvSpPr/>
          <p:nvPr/>
        </p:nvSpPr>
        <p:spPr>
          <a:xfrm>
            <a:off x="2560320" y="3877056"/>
            <a:ext cx="2103120" cy="219456"/>
          </a:xfrm>
          <a:prstGeom prst="rect">
            <a:avLst/>
          </a:prstGeom>
          <a:solidFill>
            <a:srgbClr val="57BD92"/>
          </a:solidFill>
          <a:ln/>
        </p:spPr>
      </p:sp>
      <p:sp>
        <p:nvSpPr>
          <p:cNvPr id="50" name="Shape 44"/>
          <p:cNvSpPr/>
          <p:nvPr/>
        </p:nvSpPr>
        <p:spPr>
          <a:xfrm>
            <a:off x="4663440" y="3877056"/>
            <a:ext cx="2103120" cy="219456"/>
          </a:xfrm>
          <a:prstGeom prst="rect">
            <a:avLst/>
          </a:prstGeom>
          <a:solidFill>
            <a:srgbClr val="D49A00"/>
          </a:solidFill>
          <a:ln/>
        </p:spPr>
      </p:sp>
      <p:sp>
        <p:nvSpPr>
          <p:cNvPr id="51" name="Shape 45"/>
          <p:cNvSpPr/>
          <p:nvPr/>
        </p:nvSpPr>
        <p:spPr>
          <a:xfrm>
            <a:off x="6766560" y="3877056"/>
            <a:ext cx="1920240" cy="219456"/>
          </a:xfrm>
          <a:prstGeom prst="rightArrow">
            <a:avLst/>
          </a:prstGeom>
          <a:solidFill>
            <a:srgbClr val="B83B2E"/>
          </a:solidFill>
          <a:ln/>
        </p:spPr>
      </p:sp>
      <p:sp>
        <p:nvSpPr>
          <p:cNvPr id="52" name="Text 46"/>
          <p:cNvSpPr txBox="1"/>
          <p:nvPr/>
        </p:nvSpPr>
        <p:spPr>
          <a:xfrm>
            <a:off x="2560320" y="3877056"/>
            <a:ext cx="4023360" cy="219456"/>
          </a:xfrm>
          <a:prstGeom prst="rect">
            <a:avLst/>
          </a:prstGeom>
          <a:noFill/>
          <a:ln/>
        </p:spPr>
        <p:txBody>
          <a:bodyPr wrap="square" lIns="0" tIns="0" rIns="0" bIns="0" rtlCol="0" anchor="ctr"/>
          <a:lstStyle/>
          <a:p>
            <a:pPr marL="0" indent="0" algn="ctr">
              <a:buNone/>
            </a:pPr>
            <a:r>
              <a:rPr lang="en-US" sz="950" b="1" dirty="0">
                <a:solidFill>
                  <a:srgbClr val="231F20"/>
                </a:solidFill>
                <a:latin typeface="Calibri" pitchFamily="34" charset="0"/>
                <a:ea typeface="Calibri" pitchFamily="34" charset="-122"/>
                <a:cs typeface="Calibri" pitchFamily="34" charset="-120"/>
              </a:rPr>
              <a:t>cost and permanence increase to the right</a:t>
            </a:r>
            <a:endParaRPr lang="en-US" sz="950" dirty="0"/>
          </a:p>
        </p:txBody>
      </p:sp>
      <p:sp>
        <p:nvSpPr>
          <p:cNvPr id="53" name="Shape 47"/>
          <p:cNvSpPr/>
          <p:nvPr/>
        </p:nvSpPr>
        <p:spPr>
          <a:xfrm>
            <a:off x="457200" y="4187952"/>
            <a:ext cx="347472" cy="347472"/>
          </a:xfrm>
          <a:prstGeom prst="ellipse">
            <a:avLst/>
          </a:prstGeom>
          <a:solidFill>
            <a:srgbClr val="00704A">
              <a:alpha val="22000"/>
            </a:srgbClr>
          </a:solidFill>
          <a:ln/>
        </p:spPr>
      </p:sp>
      <p:pic>
        <p:nvPicPr>
          <p:cNvPr id="54" name="Image 4" descr="preencoded.png"/>
          <p:cNvPicPr>
            <a:picLocks noChangeAspect="1"/>
          </p:cNvPicPr>
          <p:nvPr/>
        </p:nvPicPr>
        <p:blipFill>
          <a:blip r:embed="rId7"/>
          <a:stretch>
            <a:fillRect/>
          </a:stretch>
        </p:blipFill>
        <p:spPr>
          <a:xfrm>
            <a:off x="540593" y="4271345"/>
            <a:ext cx="180685" cy="180685"/>
          </a:xfrm>
          <a:prstGeom prst="rect">
            <a:avLst/>
          </a:prstGeom>
        </p:spPr>
      </p:pic>
      <p:sp>
        <p:nvSpPr>
          <p:cNvPr id="55" name="Text 48"/>
          <p:cNvSpPr txBox="1"/>
          <p:nvPr/>
        </p:nvSpPr>
        <p:spPr>
          <a:xfrm>
            <a:off x="914400" y="4187952"/>
            <a:ext cx="7772400" cy="347472"/>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Rule: </a:t>
            </a:r>
            <a:r>
              <a:rPr lang="en-US" sz="1200" dirty="0">
                <a:solidFill>
                  <a:srgbClr val="231F20"/>
                </a:solidFill>
                <a:latin typeface="Calibri" pitchFamily="34" charset="0"/>
                <a:ea typeface="Calibri" pitchFamily="34" charset="-122"/>
                <a:cs typeface="Calibri" pitchFamily="34" charset="-120"/>
              </a:rPr>
              <a:t>never move right until you have proven the left is not enough. Almost everything is solved on the left.</a:t>
            </a:r>
            <a:endParaRPr lang="en-US" sz="12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STEERING: PROMPT, RAG, FINE-TUNING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Prompt engineering: writing an instruction you can check</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6" name="Shape 14"/>
          <p:cNvSpPr/>
          <p:nvPr/>
        </p:nvSpPr>
        <p:spPr>
          <a:xfrm>
            <a:off x="457200" y="1371600"/>
            <a:ext cx="4846320" cy="3163824"/>
          </a:xfrm>
          <a:prstGeom prst="roundRect">
            <a:avLst>
              <a:gd name="adj" fmla="val 2312"/>
            </a:avLst>
          </a:prstGeom>
          <a:solidFill>
            <a:srgbClr val="FFFFFF"/>
          </a:solidFill>
          <a:ln w="9525">
            <a:solidFill>
              <a:srgbClr val="D5DED9"/>
            </a:solidFill>
            <a:prstDash val="solid"/>
          </a:ln>
        </p:spPr>
      </p:sp>
      <p:sp>
        <p:nvSpPr>
          <p:cNvPr id="17" name="Text 15"/>
          <p:cNvSpPr txBox="1"/>
          <p:nvPr/>
        </p:nvSpPr>
        <p:spPr>
          <a:xfrm>
            <a:off x="640080" y="1463040"/>
            <a:ext cx="411480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EXAMPLE OF A STRUCTURED PROMPT</a:t>
            </a:r>
            <a:endParaRPr lang="en-US" sz="900" dirty="0"/>
          </a:p>
        </p:txBody>
      </p:sp>
      <p:sp>
        <p:nvSpPr>
          <p:cNvPr id="18" name="Shape 16"/>
          <p:cNvSpPr/>
          <p:nvPr/>
        </p:nvSpPr>
        <p:spPr>
          <a:xfrm>
            <a:off x="640080" y="1837944"/>
            <a:ext cx="1097280" cy="237744"/>
          </a:xfrm>
          <a:prstGeom prst="roundRect">
            <a:avLst>
              <a:gd name="adj" fmla="val 46154"/>
            </a:avLst>
          </a:prstGeom>
          <a:solidFill>
            <a:srgbClr val="00A86A">
              <a:alpha val="15000"/>
            </a:srgbClr>
          </a:solidFill>
          <a:ln w="9525">
            <a:solidFill>
              <a:srgbClr val="00A86A"/>
            </a:solidFill>
            <a:prstDash val="solid"/>
          </a:ln>
        </p:spPr>
      </p:sp>
      <p:sp>
        <p:nvSpPr>
          <p:cNvPr id="19" name="Text 17"/>
          <p:cNvSpPr txBox="1"/>
          <p:nvPr/>
        </p:nvSpPr>
        <p:spPr>
          <a:xfrm>
            <a:off x="640080" y="1837944"/>
            <a:ext cx="1097280" cy="237744"/>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ROLE</a:t>
            </a:r>
            <a:endParaRPr lang="en-US" sz="850" dirty="0"/>
          </a:p>
        </p:txBody>
      </p:sp>
      <p:sp>
        <p:nvSpPr>
          <p:cNvPr id="20" name="Text 18"/>
          <p:cNvSpPr txBox="1"/>
          <p:nvPr/>
        </p:nvSpPr>
        <p:spPr>
          <a:xfrm>
            <a:off x="1874520" y="178308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You are a writer at the national statistics office.</a:t>
            </a:r>
            <a:endParaRPr lang="en-US" sz="950" dirty="0"/>
          </a:p>
        </p:txBody>
      </p:sp>
      <p:sp>
        <p:nvSpPr>
          <p:cNvPr id="21" name="Shape 19"/>
          <p:cNvSpPr/>
          <p:nvPr/>
        </p:nvSpPr>
        <p:spPr>
          <a:xfrm>
            <a:off x="640080" y="2386584"/>
            <a:ext cx="1097280" cy="237744"/>
          </a:xfrm>
          <a:prstGeom prst="roundRect">
            <a:avLst>
              <a:gd name="adj" fmla="val 46154"/>
            </a:avLst>
          </a:prstGeom>
          <a:solidFill>
            <a:srgbClr val="00704A">
              <a:alpha val="15000"/>
            </a:srgbClr>
          </a:solidFill>
          <a:ln w="9525">
            <a:solidFill>
              <a:srgbClr val="00704A"/>
            </a:solidFill>
            <a:prstDash val="solid"/>
          </a:ln>
        </p:spPr>
      </p:sp>
      <p:sp>
        <p:nvSpPr>
          <p:cNvPr id="22" name="Text 20"/>
          <p:cNvSpPr txBox="1"/>
          <p:nvPr/>
        </p:nvSpPr>
        <p:spPr>
          <a:xfrm>
            <a:off x="640080" y="2386584"/>
            <a:ext cx="1097280" cy="237744"/>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TASK</a:t>
            </a:r>
            <a:endParaRPr lang="en-US" sz="850" dirty="0"/>
          </a:p>
        </p:txBody>
      </p:sp>
      <p:sp>
        <p:nvSpPr>
          <p:cNvPr id="23" name="Text 21"/>
          <p:cNvSpPr txBox="1"/>
          <p:nvPr/>
        </p:nvSpPr>
        <p:spPr>
          <a:xfrm>
            <a:off x="1874520" y="233172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Write an 80-word commentary on the table provided.</a:t>
            </a:r>
            <a:endParaRPr lang="en-US" sz="950" dirty="0"/>
          </a:p>
        </p:txBody>
      </p:sp>
      <p:sp>
        <p:nvSpPr>
          <p:cNvPr id="24" name="Shape 22"/>
          <p:cNvSpPr/>
          <p:nvPr/>
        </p:nvSpPr>
        <p:spPr>
          <a:xfrm>
            <a:off x="640080" y="2935224"/>
            <a:ext cx="1097280" cy="237744"/>
          </a:xfrm>
          <a:prstGeom prst="roundRect">
            <a:avLst>
              <a:gd name="adj" fmla="val 46154"/>
            </a:avLst>
          </a:prstGeom>
          <a:solidFill>
            <a:srgbClr val="0E7C86">
              <a:alpha val="15000"/>
            </a:srgbClr>
          </a:solidFill>
          <a:ln w="9525">
            <a:solidFill>
              <a:srgbClr val="0E7C86"/>
            </a:solidFill>
            <a:prstDash val="solid"/>
          </a:ln>
        </p:spPr>
      </p:sp>
      <p:sp>
        <p:nvSpPr>
          <p:cNvPr id="25" name="Text 23"/>
          <p:cNvSpPr txBox="1"/>
          <p:nvPr/>
        </p:nvSpPr>
        <p:spPr>
          <a:xfrm>
            <a:off x="640080" y="2935224"/>
            <a:ext cx="1097280" cy="237744"/>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CONTEXT</a:t>
            </a:r>
            <a:endParaRPr lang="en-US" sz="850" dirty="0"/>
          </a:p>
        </p:txBody>
      </p:sp>
      <p:sp>
        <p:nvSpPr>
          <p:cNvPr id="26" name="Text 24"/>
          <p:cNvSpPr txBox="1"/>
          <p:nvPr/>
        </p:nvSpPr>
        <p:spPr>
          <a:xfrm>
            <a:off x="1874520" y="288036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[March 2026 CPI table pasted here]</a:t>
            </a:r>
            <a:endParaRPr lang="en-US" sz="950" dirty="0"/>
          </a:p>
        </p:txBody>
      </p:sp>
      <p:sp>
        <p:nvSpPr>
          <p:cNvPr id="27" name="Shape 25"/>
          <p:cNvSpPr/>
          <p:nvPr/>
        </p:nvSpPr>
        <p:spPr>
          <a:xfrm>
            <a:off x="640080" y="3483864"/>
            <a:ext cx="1097280" cy="237744"/>
          </a:xfrm>
          <a:prstGeom prst="roundRect">
            <a:avLst>
              <a:gd name="adj" fmla="val 46154"/>
            </a:avLst>
          </a:prstGeom>
          <a:solidFill>
            <a:srgbClr val="D49A00">
              <a:alpha val="15000"/>
            </a:srgbClr>
          </a:solidFill>
          <a:ln w="9525">
            <a:solidFill>
              <a:srgbClr val="D49A00"/>
            </a:solidFill>
            <a:prstDash val="solid"/>
          </a:ln>
        </p:spPr>
      </p:sp>
      <p:sp>
        <p:nvSpPr>
          <p:cNvPr id="28" name="Text 26"/>
          <p:cNvSpPr txBox="1"/>
          <p:nvPr/>
        </p:nvSpPr>
        <p:spPr>
          <a:xfrm>
            <a:off x="640080" y="3483864"/>
            <a:ext cx="1097280" cy="237744"/>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FORMAT</a:t>
            </a:r>
            <a:endParaRPr lang="en-US" sz="850" dirty="0"/>
          </a:p>
        </p:txBody>
      </p:sp>
      <p:sp>
        <p:nvSpPr>
          <p:cNvPr id="29" name="Text 27"/>
          <p:cNvSpPr txBox="1"/>
          <p:nvPr/>
        </p:nvSpPr>
        <p:spPr>
          <a:xfrm>
            <a:off x="1874520" y="342900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One paragraph, neutral tone, rates rounded to 0.1 point.</a:t>
            </a:r>
            <a:endParaRPr lang="en-US" sz="950" dirty="0"/>
          </a:p>
        </p:txBody>
      </p:sp>
      <p:sp>
        <p:nvSpPr>
          <p:cNvPr id="30" name="Shape 28"/>
          <p:cNvSpPr/>
          <p:nvPr/>
        </p:nvSpPr>
        <p:spPr>
          <a:xfrm>
            <a:off x="640080" y="4032504"/>
            <a:ext cx="1097280" cy="237744"/>
          </a:xfrm>
          <a:prstGeom prst="roundRect">
            <a:avLst>
              <a:gd name="adj" fmla="val 46154"/>
            </a:avLst>
          </a:prstGeom>
          <a:solidFill>
            <a:srgbClr val="C4621D">
              <a:alpha val="15000"/>
            </a:srgbClr>
          </a:solidFill>
          <a:ln w="9525">
            <a:solidFill>
              <a:srgbClr val="C4621D"/>
            </a:solidFill>
            <a:prstDash val="solid"/>
          </a:ln>
        </p:spPr>
      </p:sp>
      <p:sp>
        <p:nvSpPr>
          <p:cNvPr id="31" name="Text 29"/>
          <p:cNvSpPr txBox="1"/>
          <p:nvPr/>
        </p:nvSpPr>
        <p:spPr>
          <a:xfrm>
            <a:off x="640080" y="4032504"/>
            <a:ext cx="1097280" cy="237744"/>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CONSTRAINTS</a:t>
            </a:r>
            <a:endParaRPr lang="en-US" sz="850" dirty="0"/>
          </a:p>
        </p:txBody>
      </p:sp>
      <p:sp>
        <p:nvSpPr>
          <p:cNvPr id="32" name="Text 30"/>
          <p:cNvSpPr txBox="1"/>
          <p:nvPr/>
        </p:nvSpPr>
        <p:spPr>
          <a:xfrm>
            <a:off x="1874520" y="3977640"/>
            <a:ext cx="3291840" cy="502920"/>
          </a:xfrm>
          <a:prstGeom prst="rect">
            <a:avLst/>
          </a:prstGeom>
          <a:noFill/>
          <a:ln/>
        </p:spPr>
        <p:txBody>
          <a:bodyPr wrap="square" lIns="0" tIns="0" rIns="0" bIns="0" rtlCol="0" anchor="ctr"/>
          <a:lstStyle/>
          <a:p>
            <a:pPr marL="0" indent="0">
              <a:buNone/>
            </a:pPr>
            <a:r>
              <a:rPr lang="en-US" sz="950" dirty="0">
                <a:solidFill>
                  <a:srgbClr val="231F20"/>
                </a:solidFill>
                <a:latin typeface="Courier New" pitchFamily="34" charset="0"/>
                <a:ea typeface="Courier New" pitchFamily="34" charset="-122"/>
                <a:cs typeface="Courier New" pitchFamily="34" charset="-120"/>
              </a:rPr>
              <a:t>Use only figures from the table. If information is missing, write “not available”.</a:t>
            </a:r>
            <a:endParaRPr lang="en-US" sz="950" dirty="0"/>
          </a:p>
        </p:txBody>
      </p:sp>
      <p:sp>
        <p:nvSpPr>
          <p:cNvPr id="33" name="Shape 31"/>
          <p:cNvSpPr/>
          <p:nvPr/>
        </p:nvSpPr>
        <p:spPr>
          <a:xfrm>
            <a:off x="5532120" y="1371600"/>
            <a:ext cx="3154680" cy="950976"/>
          </a:xfrm>
          <a:prstGeom prst="roundRect">
            <a:avLst>
              <a:gd name="adj" fmla="val 7692"/>
            </a:avLst>
          </a:prstGeom>
          <a:solidFill>
            <a:srgbClr val="F4F7F5"/>
          </a:solidFill>
          <a:ln w="9525">
            <a:solidFill>
              <a:srgbClr val="D5DED9"/>
            </a:solidFill>
            <a:prstDash val="solid"/>
          </a:ln>
        </p:spPr>
      </p:sp>
      <p:sp>
        <p:nvSpPr>
          <p:cNvPr id="34" name="Shape 32"/>
          <p:cNvSpPr/>
          <p:nvPr/>
        </p:nvSpPr>
        <p:spPr>
          <a:xfrm>
            <a:off x="5687568" y="1508760"/>
            <a:ext cx="384048" cy="384048"/>
          </a:xfrm>
          <a:prstGeom prst="ellipse">
            <a:avLst/>
          </a:prstGeom>
          <a:solidFill>
            <a:srgbClr val="00A86A">
              <a:alpha val="22000"/>
            </a:srgbClr>
          </a:solidFill>
          <a:ln/>
        </p:spPr>
      </p:sp>
      <p:pic>
        <p:nvPicPr>
          <p:cNvPr id="35" name="Image 0" descr="preencoded.png"/>
          <p:cNvPicPr>
            <a:picLocks noChangeAspect="1"/>
          </p:cNvPicPr>
          <p:nvPr/>
        </p:nvPicPr>
        <p:blipFill>
          <a:blip r:embed="rId3"/>
          <a:stretch>
            <a:fillRect/>
          </a:stretch>
        </p:blipFill>
        <p:spPr>
          <a:xfrm>
            <a:off x="5779740" y="1600932"/>
            <a:ext cx="199705" cy="199705"/>
          </a:xfrm>
          <a:prstGeom prst="rect">
            <a:avLst/>
          </a:prstGeom>
        </p:spPr>
      </p:pic>
      <p:sp>
        <p:nvSpPr>
          <p:cNvPr id="36" name="Text 33"/>
          <p:cNvSpPr txBox="1"/>
          <p:nvPr/>
        </p:nvSpPr>
        <p:spPr>
          <a:xfrm>
            <a:off x="6199632" y="1463040"/>
            <a:ext cx="2377440" cy="786384"/>
          </a:xfrm>
          <a:prstGeom prst="rect">
            <a:avLst/>
          </a:prstGeom>
          <a:noFill/>
          <a:ln/>
        </p:spPr>
        <p:txBody>
          <a:bodyPr wrap="square" lIns="0" tIns="0" rIns="0" bIns="0" rtlCol="0" anchor="t"/>
          <a:lstStyle/>
          <a:p>
            <a:pPr marL="0" indent="0">
              <a:buNone/>
            </a:pPr>
            <a:r>
              <a:rPr lang="en-US" sz="1200" b="1" dirty="0">
                <a:solidFill>
                  <a:srgbClr val="00A86A"/>
                </a:solidFill>
                <a:latin typeface="Calibri" pitchFamily="34" charset="0"/>
                <a:ea typeface="Calibri" pitchFamily="34" charset="-122"/>
                <a:cs typeface="Calibri" pitchFamily="34" charset="-120"/>
              </a:rPr>
              <a:t>What it changes</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The form, tone, structure and scope of the answer.</a:t>
            </a:r>
            <a:endParaRPr lang="en-US" sz="1100" dirty="0"/>
          </a:p>
        </p:txBody>
      </p:sp>
      <p:sp>
        <p:nvSpPr>
          <p:cNvPr id="37" name="Shape 34"/>
          <p:cNvSpPr/>
          <p:nvPr/>
        </p:nvSpPr>
        <p:spPr>
          <a:xfrm>
            <a:off x="5532120" y="2450592"/>
            <a:ext cx="3154680" cy="950976"/>
          </a:xfrm>
          <a:prstGeom prst="roundRect">
            <a:avLst>
              <a:gd name="adj" fmla="val 7692"/>
            </a:avLst>
          </a:prstGeom>
          <a:solidFill>
            <a:srgbClr val="F4F7F5"/>
          </a:solidFill>
          <a:ln w="9525">
            <a:solidFill>
              <a:srgbClr val="D5DED9"/>
            </a:solidFill>
            <a:prstDash val="solid"/>
          </a:ln>
        </p:spPr>
      </p:sp>
      <p:sp>
        <p:nvSpPr>
          <p:cNvPr id="38" name="Shape 35"/>
          <p:cNvSpPr/>
          <p:nvPr/>
        </p:nvSpPr>
        <p:spPr>
          <a:xfrm>
            <a:off x="5687568" y="2587752"/>
            <a:ext cx="384048" cy="384048"/>
          </a:xfrm>
          <a:prstGeom prst="ellipse">
            <a:avLst/>
          </a:prstGeom>
          <a:solidFill>
            <a:srgbClr val="B83B2E">
              <a:alpha val="22000"/>
            </a:srgbClr>
          </a:solidFill>
          <a:ln/>
        </p:spPr>
      </p:sp>
      <p:pic>
        <p:nvPicPr>
          <p:cNvPr id="39" name="Image 1" descr="preencoded.png"/>
          <p:cNvPicPr>
            <a:picLocks noChangeAspect="1"/>
          </p:cNvPicPr>
          <p:nvPr/>
        </p:nvPicPr>
        <p:blipFill>
          <a:blip r:embed="rId4"/>
          <a:stretch>
            <a:fillRect/>
          </a:stretch>
        </p:blipFill>
        <p:spPr>
          <a:xfrm>
            <a:off x="5779740" y="2679924"/>
            <a:ext cx="199705" cy="199705"/>
          </a:xfrm>
          <a:prstGeom prst="rect">
            <a:avLst/>
          </a:prstGeom>
        </p:spPr>
      </p:pic>
      <p:sp>
        <p:nvSpPr>
          <p:cNvPr id="40" name="Text 36"/>
          <p:cNvSpPr txBox="1"/>
          <p:nvPr/>
        </p:nvSpPr>
        <p:spPr>
          <a:xfrm>
            <a:off x="6199632" y="2542032"/>
            <a:ext cx="2377440" cy="786384"/>
          </a:xfrm>
          <a:prstGeom prst="rect">
            <a:avLst/>
          </a:prstGeom>
          <a:noFill/>
          <a:ln/>
        </p:spPr>
        <p:txBody>
          <a:bodyPr wrap="square" lIns="0" tIns="0" rIns="0" bIns="0" rtlCol="0" anchor="t"/>
          <a:lstStyle/>
          <a:p>
            <a:pPr marL="0" indent="0">
              <a:buNone/>
            </a:pPr>
            <a:r>
              <a:rPr lang="en-US" sz="1200" b="1" dirty="0">
                <a:solidFill>
                  <a:srgbClr val="B83B2E"/>
                </a:solidFill>
                <a:latin typeface="Calibri" pitchFamily="34" charset="0"/>
                <a:ea typeface="Calibri" pitchFamily="34" charset="-122"/>
                <a:cs typeface="Calibri" pitchFamily="34" charset="-120"/>
              </a:rPr>
              <a:t>What it does not change</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What the model knows, and its capacity to be wrong.</a:t>
            </a:r>
            <a:endParaRPr lang="en-US" sz="1100" dirty="0"/>
          </a:p>
        </p:txBody>
      </p:sp>
      <p:sp>
        <p:nvSpPr>
          <p:cNvPr id="41" name="Shape 37"/>
          <p:cNvSpPr/>
          <p:nvPr/>
        </p:nvSpPr>
        <p:spPr>
          <a:xfrm>
            <a:off x="5532120" y="3529584"/>
            <a:ext cx="3154680" cy="950976"/>
          </a:xfrm>
          <a:prstGeom prst="roundRect">
            <a:avLst>
              <a:gd name="adj" fmla="val 7692"/>
            </a:avLst>
          </a:prstGeom>
          <a:solidFill>
            <a:srgbClr val="E8F5EF"/>
          </a:solidFill>
          <a:ln w="15875">
            <a:solidFill>
              <a:srgbClr val="00A86A"/>
            </a:solidFill>
            <a:prstDash val="solid"/>
          </a:ln>
        </p:spPr>
      </p:sp>
      <p:sp>
        <p:nvSpPr>
          <p:cNvPr id="42" name="Shape 38"/>
          <p:cNvSpPr/>
          <p:nvPr/>
        </p:nvSpPr>
        <p:spPr>
          <a:xfrm>
            <a:off x="5687568" y="3666744"/>
            <a:ext cx="384048" cy="384048"/>
          </a:xfrm>
          <a:prstGeom prst="ellipse">
            <a:avLst/>
          </a:prstGeom>
          <a:solidFill>
            <a:srgbClr val="00704A">
              <a:alpha val="22000"/>
            </a:srgbClr>
          </a:solidFill>
          <a:ln/>
        </p:spPr>
      </p:sp>
      <p:pic>
        <p:nvPicPr>
          <p:cNvPr id="43" name="Image 2" descr="preencoded.png"/>
          <p:cNvPicPr>
            <a:picLocks noChangeAspect="1"/>
          </p:cNvPicPr>
          <p:nvPr/>
        </p:nvPicPr>
        <p:blipFill>
          <a:blip r:embed="rId5"/>
          <a:stretch>
            <a:fillRect/>
          </a:stretch>
        </p:blipFill>
        <p:spPr>
          <a:xfrm>
            <a:off x="5779740" y="3758916"/>
            <a:ext cx="199705" cy="199705"/>
          </a:xfrm>
          <a:prstGeom prst="rect">
            <a:avLst/>
          </a:prstGeom>
        </p:spPr>
      </p:pic>
      <p:sp>
        <p:nvSpPr>
          <p:cNvPr id="44" name="Text 39"/>
          <p:cNvSpPr txBox="1"/>
          <p:nvPr/>
        </p:nvSpPr>
        <p:spPr>
          <a:xfrm>
            <a:off x="6199632" y="3621024"/>
            <a:ext cx="2377440" cy="786384"/>
          </a:xfrm>
          <a:prstGeom prst="rect">
            <a:avLst/>
          </a:prstGeom>
          <a:noFill/>
          <a:ln/>
        </p:spPr>
        <p:txBody>
          <a:bodyPr wrap="square" lIns="0" tIns="0" rIns="0" bIns="0" rtlCol="0" anchor="t"/>
          <a:lstStyle/>
          <a:p>
            <a:pPr marL="0" indent="0">
              <a:buNone/>
            </a:pPr>
            <a:r>
              <a:rPr lang="en-US" sz="1200" b="1" dirty="0">
                <a:solidFill>
                  <a:srgbClr val="00704A"/>
                </a:solidFill>
                <a:latin typeface="Calibri" pitchFamily="34" charset="0"/>
                <a:ea typeface="Calibri" pitchFamily="34" charset="-122"/>
                <a:cs typeface="Calibri" pitchFamily="34" charset="-120"/>
              </a:rPr>
              <a:t>Good practice</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Treat prompts like code: versioned, tested, documented.</a:t>
            </a:r>
            <a:endParaRPr lang="en-US" sz="1100" dirty="0"/>
          </a:p>
        </p:txBody>
      </p:sp>
      <p:sp>
        <p:nvSpPr>
          <p:cNvPr id="45" name="Text 40"/>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Wei et al. (2022), “Chain-of-Thought Prompting”, NeurIPS 35 — how a prompt is structured changes the output.</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STEERING: PROMPT, RAG, FINE-TUNING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RAG: retrieve first, then write</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19</a:t>
            </a:r>
            <a:endParaRPr lang="en-US" sz="850" dirty="0"/>
          </a:p>
        </p:txBody>
      </p:sp>
      <p:sp>
        <p:nvSpPr>
          <p:cNvPr id="16" name="Text 14"/>
          <p:cNvSpPr txBox="1"/>
          <p:nvPr/>
        </p:nvSpPr>
        <p:spPr>
          <a:xfrm>
            <a:off x="457200" y="1325880"/>
            <a:ext cx="3657600" cy="201168"/>
          </a:xfrm>
          <a:prstGeom prst="rect">
            <a:avLst/>
          </a:prstGeom>
          <a:noFill/>
          <a:ln/>
        </p:spPr>
        <p:txBody>
          <a:bodyPr wrap="square" lIns="0" tIns="0" rIns="0" bIns="0" rtlCol="0" anchor="t"/>
          <a:lstStyle/>
          <a:p>
            <a:pPr marL="0" indent="0">
              <a:buNone/>
            </a:pPr>
            <a:r>
              <a:rPr lang="en-US" sz="900" b="1" kern="0" spc="200" dirty="0">
                <a:solidFill>
                  <a:srgbClr val="00704A"/>
                </a:solidFill>
                <a:latin typeface="Calibri" pitchFamily="34" charset="0"/>
                <a:ea typeface="Calibri" pitchFamily="34" charset="-122"/>
                <a:cs typeface="Calibri" pitchFamily="34" charset="-120"/>
              </a:rPr>
              <a:t>PREPARATION — ONCE</a:t>
            </a:r>
            <a:endParaRPr lang="en-US" sz="900" dirty="0"/>
          </a:p>
        </p:txBody>
      </p:sp>
      <p:sp>
        <p:nvSpPr>
          <p:cNvPr id="17" name="Shape 15"/>
          <p:cNvSpPr/>
          <p:nvPr/>
        </p:nvSpPr>
        <p:spPr>
          <a:xfrm>
            <a:off x="457200" y="1572768"/>
            <a:ext cx="1645920" cy="566928"/>
          </a:xfrm>
          <a:prstGeom prst="roundRect">
            <a:avLst>
              <a:gd name="adj" fmla="val 12903"/>
            </a:avLst>
          </a:prstGeom>
          <a:solidFill>
            <a:srgbClr val="E8F5EF"/>
          </a:solidFill>
          <a:ln w="15875">
            <a:solidFill>
              <a:srgbClr val="00A86A"/>
            </a:solidFill>
            <a:prstDash val="solid"/>
          </a:ln>
        </p:spPr>
      </p:sp>
      <p:pic>
        <p:nvPicPr>
          <p:cNvPr id="18" name="Image 0" descr="preencoded.png"/>
          <p:cNvPicPr>
            <a:picLocks noChangeAspect="1"/>
          </p:cNvPicPr>
          <p:nvPr/>
        </p:nvPicPr>
        <p:blipFill>
          <a:blip r:embed="rId3"/>
          <a:stretch>
            <a:fillRect/>
          </a:stretch>
        </p:blipFill>
        <p:spPr>
          <a:xfrm>
            <a:off x="566928" y="1709928"/>
            <a:ext cx="292608" cy="292608"/>
          </a:xfrm>
          <a:prstGeom prst="rect">
            <a:avLst/>
          </a:prstGeom>
        </p:spPr>
      </p:pic>
      <p:sp>
        <p:nvSpPr>
          <p:cNvPr id="19" name="Text 16"/>
          <p:cNvSpPr txBox="1"/>
          <p:nvPr/>
        </p:nvSpPr>
        <p:spPr>
          <a:xfrm>
            <a:off x="93268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Documents</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reports, metadata</a:t>
            </a:r>
            <a:endParaRPr lang="en-US" sz="1100" dirty="0"/>
          </a:p>
        </p:txBody>
      </p:sp>
      <p:sp>
        <p:nvSpPr>
          <p:cNvPr id="20" name="Shape 17"/>
          <p:cNvSpPr/>
          <p:nvPr/>
        </p:nvSpPr>
        <p:spPr>
          <a:xfrm>
            <a:off x="2139696" y="1856232"/>
            <a:ext cx="475488" cy="91"/>
          </a:xfrm>
          <a:prstGeom prst="line">
            <a:avLst/>
          </a:prstGeom>
          <a:noFill/>
          <a:ln w="15875">
            <a:solidFill>
              <a:srgbClr val="5E6964"/>
            </a:solidFill>
            <a:prstDash val="solid"/>
            <a:tailEnd type="triangle"/>
          </a:ln>
        </p:spPr>
      </p:sp>
      <p:sp>
        <p:nvSpPr>
          <p:cNvPr id="21" name="Shape 18"/>
          <p:cNvSpPr/>
          <p:nvPr/>
        </p:nvSpPr>
        <p:spPr>
          <a:xfrm>
            <a:off x="2651760" y="1572768"/>
            <a:ext cx="1645920" cy="566928"/>
          </a:xfrm>
          <a:prstGeom prst="roundRect">
            <a:avLst>
              <a:gd name="adj" fmla="val 12903"/>
            </a:avLst>
          </a:prstGeom>
          <a:solidFill>
            <a:srgbClr val="E8F5EF"/>
          </a:solidFill>
          <a:ln w="15875">
            <a:solidFill>
              <a:srgbClr val="00A86A"/>
            </a:solidFill>
            <a:prstDash val="solid"/>
          </a:ln>
        </p:spPr>
      </p:sp>
      <p:pic>
        <p:nvPicPr>
          <p:cNvPr id="22" name="Image 1" descr="preencoded.png"/>
          <p:cNvPicPr>
            <a:picLocks noChangeAspect="1"/>
          </p:cNvPicPr>
          <p:nvPr/>
        </p:nvPicPr>
        <p:blipFill>
          <a:blip r:embed="rId4"/>
          <a:stretch>
            <a:fillRect/>
          </a:stretch>
        </p:blipFill>
        <p:spPr>
          <a:xfrm>
            <a:off x="2761488" y="1709928"/>
            <a:ext cx="292608" cy="292608"/>
          </a:xfrm>
          <a:prstGeom prst="rect">
            <a:avLst/>
          </a:prstGeom>
        </p:spPr>
      </p:pic>
      <p:sp>
        <p:nvSpPr>
          <p:cNvPr id="23" name="Text 19"/>
          <p:cNvSpPr txBox="1"/>
          <p:nvPr/>
        </p:nvSpPr>
        <p:spPr>
          <a:xfrm>
            <a:off x="312724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Chunking</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into coherent passages</a:t>
            </a:r>
            <a:endParaRPr lang="en-US" sz="1100" dirty="0"/>
          </a:p>
        </p:txBody>
      </p:sp>
      <p:sp>
        <p:nvSpPr>
          <p:cNvPr id="24" name="Shape 20"/>
          <p:cNvSpPr/>
          <p:nvPr/>
        </p:nvSpPr>
        <p:spPr>
          <a:xfrm>
            <a:off x="4334256" y="1856232"/>
            <a:ext cx="475488" cy="91"/>
          </a:xfrm>
          <a:prstGeom prst="line">
            <a:avLst/>
          </a:prstGeom>
          <a:noFill/>
          <a:ln w="15875">
            <a:solidFill>
              <a:srgbClr val="5E6964"/>
            </a:solidFill>
            <a:prstDash val="solid"/>
            <a:tailEnd type="triangle"/>
          </a:ln>
        </p:spPr>
      </p:sp>
      <p:sp>
        <p:nvSpPr>
          <p:cNvPr id="25" name="Shape 21"/>
          <p:cNvSpPr/>
          <p:nvPr/>
        </p:nvSpPr>
        <p:spPr>
          <a:xfrm>
            <a:off x="4846320" y="1572768"/>
            <a:ext cx="1645920" cy="566928"/>
          </a:xfrm>
          <a:prstGeom prst="roundRect">
            <a:avLst>
              <a:gd name="adj" fmla="val 12903"/>
            </a:avLst>
          </a:prstGeom>
          <a:solidFill>
            <a:srgbClr val="E8F5EF"/>
          </a:solidFill>
          <a:ln w="15875">
            <a:solidFill>
              <a:srgbClr val="00A86A"/>
            </a:solidFill>
            <a:prstDash val="solid"/>
          </a:ln>
        </p:spPr>
      </p:sp>
      <p:pic>
        <p:nvPicPr>
          <p:cNvPr id="26" name="Image 2" descr="preencoded.png"/>
          <p:cNvPicPr>
            <a:picLocks noChangeAspect="1"/>
          </p:cNvPicPr>
          <p:nvPr/>
        </p:nvPicPr>
        <p:blipFill>
          <a:blip r:embed="rId5"/>
          <a:stretch>
            <a:fillRect/>
          </a:stretch>
        </p:blipFill>
        <p:spPr>
          <a:xfrm>
            <a:off x="4956048" y="1709928"/>
            <a:ext cx="292608" cy="292608"/>
          </a:xfrm>
          <a:prstGeom prst="rect">
            <a:avLst/>
          </a:prstGeom>
        </p:spPr>
      </p:pic>
      <p:sp>
        <p:nvSpPr>
          <p:cNvPr id="27" name="Text 22"/>
          <p:cNvSpPr txBox="1"/>
          <p:nvPr/>
        </p:nvSpPr>
        <p:spPr>
          <a:xfrm>
            <a:off x="532180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Embeddings</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passages → coordinates</a:t>
            </a:r>
            <a:endParaRPr lang="en-US" sz="1100" dirty="0"/>
          </a:p>
        </p:txBody>
      </p:sp>
      <p:sp>
        <p:nvSpPr>
          <p:cNvPr id="28" name="Shape 23"/>
          <p:cNvSpPr/>
          <p:nvPr/>
        </p:nvSpPr>
        <p:spPr>
          <a:xfrm>
            <a:off x="6528816" y="1856232"/>
            <a:ext cx="475488" cy="91"/>
          </a:xfrm>
          <a:prstGeom prst="line">
            <a:avLst/>
          </a:prstGeom>
          <a:noFill/>
          <a:ln w="15875">
            <a:solidFill>
              <a:srgbClr val="5E6964"/>
            </a:solidFill>
            <a:prstDash val="solid"/>
            <a:tailEnd type="triangle"/>
          </a:ln>
        </p:spPr>
      </p:sp>
      <p:sp>
        <p:nvSpPr>
          <p:cNvPr id="29" name="Shape 24"/>
          <p:cNvSpPr/>
          <p:nvPr/>
        </p:nvSpPr>
        <p:spPr>
          <a:xfrm>
            <a:off x="7040880" y="1572768"/>
            <a:ext cx="1645920" cy="566928"/>
          </a:xfrm>
          <a:prstGeom prst="roundRect">
            <a:avLst>
              <a:gd name="adj" fmla="val 12903"/>
            </a:avLst>
          </a:prstGeom>
          <a:solidFill>
            <a:srgbClr val="E8F5EF"/>
          </a:solidFill>
          <a:ln w="15875">
            <a:solidFill>
              <a:srgbClr val="00A86A"/>
            </a:solidFill>
            <a:prstDash val="solid"/>
          </a:ln>
        </p:spPr>
      </p:sp>
      <p:pic>
        <p:nvPicPr>
          <p:cNvPr id="30" name="Image 3" descr="preencoded.png"/>
          <p:cNvPicPr>
            <a:picLocks noChangeAspect="1"/>
          </p:cNvPicPr>
          <p:nvPr/>
        </p:nvPicPr>
        <p:blipFill>
          <a:blip r:embed="rId6"/>
          <a:stretch>
            <a:fillRect/>
          </a:stretch>
        </p:blipFill>
        <p:spPr>
          <a:xfrm>
            <a:off x="7150608" y="1709928"/>
            <a:ext cx="292608" cy="292608"/>
          </a:xfrm>
          <a:prstGeom prst="rect">
            <a:avLst/>
          </a:prstGeom>
        </p:spPr>
      </p:pic>
      <p:sp>
        <p:nvSpPr>
          <p:cNvPr id="31" name="Text 25"/>
          <p:cNvSpPr txBox="1"/>
          <p:nvPr/>
        </p:nvSpPr>
        <p:spPr>
          <a:xfrm>
            <a:off x="7516368" y="1572768"/>
            <a:ext cx="1143000" cy="56692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Vector database</a:t>
            </a:r>
            <a:endParaRPr lang="en-US" sz="1100" dirty="0"/>
          </a:p>
          <a:p>
            <a:pPr marL="0" indent="0">
              <a:buNone/>
            </a:pPr>
            <a:r>
              <a:rPr lang="en-US" sz="850" dirty="0">
                <a:solidFill>
                  <a:srgbClr val="5E6964"/>
                </a:solidFill>
                <a:latin typeface="Calibri" pitchFamily="34" charset="0"/>
                <a:ea typeface="Calibri" pitchFamily="34" charset="-122"/>
                <a:cs typeface="Calibri" pitchFamily="34" charset="-120"/>
              </a:rPr>
              <a:t>stores the coordinates</a:t>
            </a:r>
            <a:endParaRPr lang="en-US" sz="1100" dirty="0"/>
          </a:p>
        </p:txBody>
      </p:sp>
      <p:sp>
        <p:nvSpPr>
          <p:cNvPr id="32" name="Text 26"/>
          <p:cNvSpPr txBox="1"/>
          <p:nvPr/>
        </p:nvSpPr>
        <p:spPr>
          <a:xfrm>
            <a:off x="457200" y="2670048"/>
            <a:ext cx="2743200" cy="201168"/>
          </a:xfrm>
          <a:prstGeom prst="rect">
            <a:avLst/>
          </a:prstGeom>
          <a:noFill/>
          <a:ln/>
        </p:spPr>
        <p:txBody>
          <a:bodyPr wrap="square" lIns="0" tIns="0" rIns="0" bIns="0" rtlCol="0" anchor="t"/>
          <a:lstStyle/>
          <a:p>
            <a:pPr marL="0" indent="0">
              <a:buNone/>
            </a:pPr>
            <a:r>
              <a:rPr lang="en-US" sz="900" b="1" kern="0" spc="200" dirty="0">
                <a:solidFill>
                  <a:srgbClr val="0E7C86"/>
                </a:solidFill>
                <a:latin typeface="Calibri" pitchFamily="34" charset="0"/>
                <a:ea typeface="Calibri" pitchFamily="34" charset="-122"/>
                <a:cs typeface="Calibri" pitchFamily="34" charset="-120"/>
              </a:rPr>
              <a:t>FOR EVERY QUESTION</a:t>
            </a:r>
            <a:endParaRPr lang="en-US" sz="900" dirty="0"/>
          </a:p>
        </p:txBody>
      </p:sp>
      <p:sp>
        <p:nvSpPr>
          <p:cNvPr id="33" name="Shape 27"/>
          <p:cNvSpPr/>
          <p:nvPr/>
        </p:nvSpPr>
        <p:spPr>
          <a:xfrm>
            <a:off x="457200" y="2926080"/>
            <a:ext cx="1143000" cy="603504"/>
          </a:xfrm>
          <a:prstGeom prst="roundRect">
            <a:avLst>
              <a:gd name="adj" fmla="val 12121"/>
            </a:avLst>
          </a:prstGeom>
          <a:solidFill>
            <a:srgbClr val="FFFFFF"/>
          </a:solidFill>
          <a:ln w="15875">
            <a:solidFill>
              <a:srgbClr val="0E7C86"/>
            </a:solidFill>
            <a:prstDash val="solid"/>
          </a:ln>
        </p:spPr>
      </p:sp>
      <p:sp>
        <p:nvSpPr>
          <p:cNvPr id="34" name="Text 28"/>
          <p:cNvSpPr txBox="1"/>
          <p:nvPr/>
        </p:nvSpPr>
        <p:spPr>
          <a:xfrm>
            <a:off x="50292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Question</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from the user</a:t>
            </a:r>
            <a:endParaRPr lang="en-US" sz="1100" dirty="0"/>
          </a:p>
        </p:txBody>
      </p:sp>
      <p:sp>
        <p:nvSpPr>
          <p:cNvPr id="35" name="Shape 29"/>
          <p:cNvSpPr/>
          <p:nvPr/>
        </p:nvSpPr>
        <p:spPr>
          <a:xfrm>
            <a:off x="1627632" y="3227832"/>
            <a:ext cx="219456" cy="91"/>
          </a:xfrm>
          <a:prstGeom prst="line">
            <a:avLst/>
          </a:prstGeom>
          <a:noFill/>
          <a:ln w="15875">
            <a:solidFill>
              <a:srgbClr val="5E6964"/>
            </a:solidFill>
            <a:prstDash val="solid"/>
            <a:tailEnd type="triangle"/>
          </a:ln>
        </p:spPr>
      </p:sp>
      <p:sp>
        <p:nvSpPr>
          <p:cNvPr id="36" name="Shape 30"/>
          <p:cNvSpPr/>
          <p:nvPr/>
        </p:nvSpPr>
        <p:spPr>
          <a:xfrm>
            <a:off x="1874520" y="2926080"/>
            <a:ext cx="1143000" cy="603504"/>
          </a:xfrm>
          <a:prstGeom prst="roundRect">
            <a:avLst>
              <a:gd name="adj" fmla="val 12121"/>
            </a:avLst>
          </a:prstGeom>
          <a:solidFill>
            <a:srgbClr val="FFFFFF"/>
          </a:solidFill>
          <a:ln w="15875">
            <a:solidFill>
              <a:srgbClr val="0E7C86"/>
            </a:solidFill>
            <a:prstDash val="solid"/>
          </a:ln>
        </p:spPr>
      </p:sp>
      <p:sp>
        <p:nvSpPr>
          <p:cNvPr id="37" name="Text 31"/>
          <p:cNvSpPr txBox="1"/>
          <p:nvPr/>
        </p:nvSpPr>
        <p:spPr>
          <a:xfrm>
            <a:off x="192024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Embedding</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of the question</a:t>
            </a:r>
            <a:endParaRPr lang="en-US" sz="1100" dirty="0"/>
          </a:p>
        </p:txBody>
      </p:sp>
      <p:sp>
        <p:nvSpPr>
          <p:cNvPr id="38" name="Shape 32"/>
          <p:cNvSpPr/>
          <p:nvPr/>
        </p:nvSpPr>
        <p:spPr>
          <a:xfrm>
            <a:off x="3044952" y="3227832"/>
            <a:ext cx="219456" cy="91"/>
          </a:xfrm>
          <a:prstGeom prst="line">
            <a:avLst/>
          </a:prstGeom>
          <a:noFill/>
          <a:ln w="15875">
            <a:solidFill>
              <a:srgbClr val="5E6964"/>
            </a:solidFill>
            <a:prstDash val="solid"/>
            <a:tailEnd type="triangle"/>
          </a:ln>
        </p:spPr>
      </p:sp>
      <p:sp>
        <p:nvSpPr>
          <p:cNvPr id="39" name="Shape 33"/>
          <p:cNvSpPr/>
          <p:nvPr/>
        </p:nvSpPr>
        <p:spPr>
          <a:xfrm>
            <a:off x="3291840" y="2926080"/>
            <a:ext cx="1143000" cy="603504"/>
          </a:xfrm>
          <a:prstGeom prst="roundRect">
            <a:avLst>
              <a:gd name="adj" fmla="val 12121"/>
            </a:avLst>
          </a:prstGeom>
          <a:solidFill>
            <a:srgbClr val="FFFFFF"/>
          </a:solidFill>
          <a:ln w="15875">
            <a:solidFill>
              <a:srgbClr val="0E7C86"/>
            </a:solidFill>
            <a:prstDash val="solid"/>
          </a:ln>
        </p:spPr>
      </p:sp>
      <p:sp>
        <p:nvSpPr>
          <p:cNvPr id="40" name="Text 34"/>
          <p:cNvSpPr txBox="1"/>
          <p:nvPr/>
        </p:nvSpPr>
        <p:spPr>
          <a:xfrm>
            <a:off x="333756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Nearest neighbours</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closest passages</a:t>
            </a:r>
            <a:endParaRPr lang="en-US" sz="1100" dirty="0"/>
          </a:p>
        </p:txBody>
      </p:sp>
      <p:sp>
        <p:nvSpPr>
          <p:cNvPr id="41" name="Shape 35"/>
          <p:cNvSpPr/>
          <p:nvPr/>
        </p:nvSpPr>
        <p:spPr>
          <a:xfrm>
            <a:off x="4462272" y="3227832"/>
            <a:ext cx="219456" cy="91"/>
          </a:xfrm>
          <a:prstGeom prst="line">
            <a:avLst/>
          </a:prstGeom>
          <a:noFill/>
          <a:ln w="15875">
            <a:solidFill>
              <a:srgbClr val="5E6964"/>
            </a:solidFill>
            <a:prstDash val="solid"/>
            <a:tailEnd type="triangle"/>
          </a:ln>
        </p:spPr>
      </p:sp>
      <p:sp>
        <p:nvSpPr>
          <p:cNvPr id="42" name="Shape 36"/>
          <p:cNvSpPr/>
          <p:nvPr/>
        </p:nvSpPr>
        <p:spPr>
          <a:xfrm>
            <a:off x="4709160" y="2926080"/>
            <a:ext cx="1143000" cy="603504"/>
          </a:xfrm>
          <a:prstGeom prst="roundRect">
            <a:avLst>
              <a:gd name="adj" fmla="val 12121"/>
            </a:avLst>
          </a:prstGeom>
          <a:solidFill>
            <a:srgbClr val="FFFFFF"/>
          </a:solidFill>
          <a:ln w="15875">
            <a:solidFill>
              <a:srgbClr val="0E7C86"/>
            </a:solidFill>
            <a:prstDash val="solid"/>
          </a:ln>
        </p:spPr>
      </p:sp>
      <p:sp>
        <p:nvSpPr>
          <p:cNvPr id="43" name="Text 37"/>
          <p:cNvSpPr txBox="1"/>
          <p:nvPr/>
        </p:nvSpPr>
        <p:spPr>
          <a:xfrm>
            <a:off x="475488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Context</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question + excerpts</a:t>
            </a:r>
            <a:endParaRPr lang="en-US" sz="1100" dirty="0"/>
          </a:p>
        </p:txBody>
      </p:sp>
      <p:sp>
        <p:nvSpPr>
          <p:cNvPr id="44" name="Shape 38"/>
          <p:cNvSpPr/>
          <p:nvPr/>
        </p:nvSpPr>
        <p:spPr>
          <a:xfrm>
            <a:off x="5879592" y="3227832"/>
            <a:ext cx="219456" cy="91"/>
          </a:xfrm>
          <a:prstGeom prst="line">
            <a:avLst/>
          </a:prstGeom>
          <a:noFill/>
          <a:ln w="15875">
            <a:solidFill>
              <a:srgbClr val="5E6964"/>
            </a:solidFill>
            <a:prstDash val="solid"/>
            <a:tailEnd type="triangle"/>
          </a:ln>
        </p:spPr>
      </p:sp>
      <p:sp>
        <p:nvSpPr>
          <p:cNvPr id="45" name="Shape 39"/>
          <p:cNvSpPr/>
          <p:nvPr/>
        </p:nvSpPr>
        <p:spPr>
          <a:xfrm>
            <a:off x="6126480" y="2926080"/>
            <a:ext cx="1143000" cy="603504"/>
          </a:xfrm>
          <a:prstGeom prst="roundRect">
            <a:avLst>
              <a:gd name="adj" fmla="val 12121"/>
            </a:avLst>
          </a:prstGeom>
          <a:solidFill>
            <a:srgbClr val="00553A"/>
          </a:solidFill>
          <a:ln w="15875">
            <a:solidFill>
              <a:srgbClr val="00553A"/>
            </a:solidFill>
            <a:prstDash val="solid"/>
          </a:ln>
        </p:spPr>
      </p:sp>
      <p:sp>
        <p:nvSpPr>
          <p:cNvPr id="46" name="Text 40"/>
          <p:cNvSpPr txBox="1"/>
          <p:nvPr/>
        </p:nvSpPr>
        <p:spPr>
          <a:xfrm>
            <a:off x="6172200" y="2926080"/>
            <a:ext cx="1051560" cy="60350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LLM</a:t>
            </a:r>
            <a:endParaRPr lang="en-US" sz="1100" dirty="0"/>
          </a:p>
          <a:p>
            <a:pPr marL="0" indent="0" algn="ctr">
              <a:buNone/>
            </a:pPr>
            <a:r>
              <a:rPr lang="en-US" sz="850" dirty="0">
                <a:solidFill>
                  <a:srgbClr val="E6F6EE"/>
                </a:solidFill>
                <a:latin typeface="Calibri" pitchFamily="34" charset="0"/>
                <a:ea typeface="Calibri" pitchFamily="34" charset="-122"/>
                <a:cs typeface="Calibri" pitchFamily="34" charset="-120"/>
              </a:rPr>
              <a:t>writes</a:t>
            </a:r>
            <a:endParaRPr lang="en-US" sz="1100" dirty="0"/>
          </a:p>
        </p:txBody>
      </p:sp>
      <p:sp>
        <p:nvSpPr>
          <p:cNvPr id="47" name="Shape 41"/>
          <p:cNvSpPr/>
          <p:nvPr/>
        </p:nvSpPr>
        <p:spPr>
          <a:xfrm>
            <a:off x="7296912" y="3227832"/>
            <a:ext cx="219456" cy="91"/>
          </a:xfrm>
          <a:prstGeom prst="line">
            <a:avLst/>
          </a:prstGeom>
          <a:noFill/>
          <a:ln w="15875">
            <a:solidFill>
              <a:srgbClr val="5E6964"/>
            </a:solidFill>
            <a:prstDash val="solid"/>
            <a:tailEnd type="triangle"/>
          </a:ln>
        </p:spPr>
      </p:sp>
      <p:sp>
        <p:nvSpPr>
          <p:cNvPr id="48" name="Shape 42"/>
          <p:cNvSpPr/>
          <p:nvPr/>
        </p:nvSpPr>
        <p:spPr>
          <a:xfrm>
            <a:off x="7543800" y="2926080"/>
            <a:ext cx="1143000" cy="603504"/>
          </a:xfrm>
          <a:prstGeom prst="roundRect">
            <a:avLst>
              <a:gd name="adj" fmla="val 12121"/>
            </a:avLst>
          </a:prstGeom>
          <a:solidFill>
            <a:srgbClr val="FFFFFF"/>
          </a:solidFill>
          <a:ln w="15875">
            <a:solidFill>
              <a:srgbClr val="0E7C86"/>
            </a:solidFill>
            <a:prstDash val="solid"/>
          </a:ln>
        </p:spPr>
      </p:sp>
      <p:sp>
        <p:nvSpPr>
          <p:cNvPr id="49" name="Text 43"/>
          <p:cNvSpPr txBox="1"/>
          <p:nvPr/>
        </p:nvSpPr>
        <p:spPr>
          <a:xfrm>
            <a:off x="7589520" y="2926080"/>
            <a:ext cx="1051560" cy="603504"/>
          </a:xfrm>
          <a:prstGeom prst="rect">
            <a:avLst/>
          </a:prstGeom>
          <a:noFill/>
          <a:ln/>
        </p:spPr>
        <p:txBody>
          <a:bodyPr wrap="square" lIns="0" tIns="0" rIns="0" bIns="0" rtlCol="0" anchor="ctr"/>
          <a:lstStyle/>
          <a:p>
            <a:pPr marL="0" indent="0" algn="ctr">
              <a:buNone/>
            </a:pPr>
            <a:r>
              <a:rPr lang="en-US" sz="1000" b="1" dirty="0">
                <a:solidFill>
                  <a:srgbClr val="231F20"/>
                </a:solidFill>
                <a:latin typeface="Calibri" pitchFamily="34" charset="0"/>
                <a:ea typeface="Calibri" pitchFamily="34" charset="-122"/>
                <a:cs typeface="Calibri" pitchFamily="34" charset="-120"/>
              </a:rPr>
              <a:t>Answer</a:t>
            </a:r>
            <a:endParaRPr lang="en-US" sz="1100" dirty="0"/>
          </a:p>
          <a:p>
            <a:pPr marL="0" indent="0" algn="ctr">
              <a:buNone/>
            </a:pPr>
            <a:r>
              <a:rPr lang="en-US" sz="850" dirty="0">
                <a:solidFill>
                  <a:srgbClr val="5E6964"/>
                </a:solidFill>
                <a:latin typeface="Calibri" pitchFamily="34" charset="0"/>
                <a:ea typeface="Calibri" pitchFamily="34" charset="-122"/>
                <a:cs typeface="Calibri" pitchFamily="34" charset="-120"/>
              </a:rPr>
              <a:t>+ cited sources</a:t>
            </a:r>
            <a:endParaRPr lang="en-US" sz="1100" dirty="0"/>
          </a:p>
        </p:txBody>
      </p:sp>
      <p:sp>
        <p:nvSpPr>
          <p:cNvPr id="50" name="Shape 44"/>
          <p:cNvSpPr/>
          <p:nvPr/>
        </p:nvSpPr>
        <p:spPr>
          <a:xfrm>
            <a:off x="7863840" y="2157984"/>
            <a:ext cx="91" cy="384048"/>
          </a:xfrm>
          <a:prstGeom prst="line">
            <a:avLst/>
          </a:prstGeom>
          <a:noFill/>
          <a:ln w="12700">
            <a:solidFill>
              <a:srgbClr val="0E7C86"/>
            </a:solidFill>
            <a:prstDash val="dash"/>
          </a:ln>
        </p:spPr>
      </p:sp>
      <p:sp>
        <p:nvSpPr>
          <p:cNvPr id="51" name="Shape 45"/>
          <p:cNvSpPr/>
          <p:nvPr/>
        </p:nvSpPr>
        <p:spPr>
          <a:xfrm flipH="1">
            <a:off x="3863340" y="2542032"/>
            <a:ext cx="4000500" cy="91"/>
          </a:xfrm>
          <a:prstGeom prst="line">
            <a:avLst/>
          </a:prstGeom>
          <a:noFill/>
          <a:ln w="12700">
            <a:solidFill>
              <a:srgbClr val="0E7C86"/>
            </a:solidFill>
            <a:prstDash val="dash"/>
          </a:ln>
        </p:spPr>
      </p:sp>
      <p:sp>
        <p:nvSpPr>
          <p:cNvPr id="52" name="Shape 46"/>
          <p:cNvSpPr/>
          <p:nvPr/>
        </p:nvSpPr>
        <p:spPr>
          <a:xfrm>
            <a:off x="3863340" y="2542032"/>
            <a:ext cx="91" cy="365760"/>
          </a:xfrm>
          <a:prstGeom prst="line">
            <a:avLst/>
          </a:prstGeom>
          <a:noFill/>
          <a:ln w="12700">
            <a:solidFill>
              <a:srgbClr val="0E7C86"/>
            </a:solidFill>
            <a:prstDash val="dash"/>
            <a:tailEnd type="triangle"/>
          </a:ln>
        </p:spPr>
      </p:sp>
      <p:sp>
        <p:nvSpPr>
          <p:cNvPr id="53" name="Shape 47"/>
          <p:cNvSpPr/>
          <p:nvPr/>
        </p:nvSpPr>
        <p:spPr>
          <a:xfrm>
            <a:off x="457200" y="3694176"/>
            <a:ext cx="4023360" cy="841248"/>
          </a:xfrm>
          <a:prstGeom prst="roundRect">
            <a:avLst>
              <a:gd name="adj" fmla="val 8696"/>
            </a:avLst>
          </a:prstGeom>
          <a:solidFill>
            <a:srgbClr val="F4F7F5"/>
          </a:solidFill>
          <a:ln w="9525">
            <a:solidFill>
              <a:srgbClr val="D5DED9"/>
            </a:solidFill>
            <a:prstDash val="solid"/>
          </a:ln>
        </p:spPr>
      </p:sp>
      <p:sp>
        <p:nvSpPr>
          <p:cNvPr id="54" name="Shape 48"/>
          <p:cNvSpPr/>
          <p:nvPr/>
        </p:nvSpPr>
        <p:spPr>
          <a:xfrm>
            <a:off x="594360" y="3858768"/>
            <a:ext cx="438912" cy="438912"/>
          </a:xfrm>
          <a:prstGeom prst="ellipse">
            <a:avLst/>
          </a:prstGeom>
          <a:solidFill>
            <a:srgbClr val="0E7C86">
              <a:alpha val="22000"/>
            </a:srgbClr>
          </a:solidFill>
          <a:ln/>
        </p:spPr>
      </p:sp>
      <p:pic>
        <p:nvPicPr>
          <p:cNvPr id="55" name="Image 4" descr="preencoded.png"/>
          <p:cNvPicPr>
            <a:picLocks noChangeAspect="1"/>
          </p:cNvPicPr>
          <p:nvPr/>
        </p:nvPicPr>
        <p:blipFill>
          <a:blip r:embed="rId7"/>
          <a:stretch>
            <a:fillRect/>
          </a:stretch>
        </p:blipFill>
        <p:spPr>
          <a:xfrm>
            <a:off x="699699" y="3964107"/>
            <a:ext cx="228234" cy="228234"/>
          </a:xfrm>
          <a:prstGeom prst="rect">
            <a:avLst/>
          </a:prstGeom>
        </p:spPr>
      </p:pic>
      <p:sp>
        <p:nvSpPr>
          <p:cNvPr id="56" name="Text 49"/>
          <p:cNvSpPr txBox="1"/>
          <p:nvPr/>
        </p:nvSpPr>
        <p:spPr>
          <a:xfrm>
            <a:off x="1143000" y="3730752"/>
            <a:ext cx="3246120" cy="7680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Geometry, not keywords</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Passages with the same meaning end up as neighbours: you find a relevant paragraph with no word in common.</a:t>
            </a:r>
            <a:endParaRPr lang="en-US" sz="1100" dirty="0"/>
          </a:p>
        </p:txBody>
      </p:sp>
      <p:sp>
        <p:nvSpPr>
          <p:cNvPr id="57" name="Shape 50"/>
          <p:cNvSpPr/>
          <p:nvPr/>
        </p:nvSpPr>
        <p:spPr>
          <a:xfrm>
            <a:off x="4663440" y="3694176"/>
            <a:ext cx="4023360" cy="841248"/>
          </a:xfrm>
          <a:prstGeom prst="roundRect">
            <a:avLst>
              <a:gd name="adj" fmla="val 8696"/>
            </a:avLst>
          </a:prstGeom>
          <a:solidFill>
            <a:srgbClr val="FBF3DE"/>
          </a:solidFill>
          <a:ln w="15875">
            <a:solidFill>
              <a:srgbClr val="D49A00"/>
            </a:solidFill>
            <a:prstDash val="solid"/>
          </a:ln>
        </p:spPr>
      </p:sp>
      <p:sp>
        <p:nvSpPr>
          <p:cNvPr id="58" name="Shape 51"/>
          <p:cNvSpPr/>
          <p:nvPr/>
        </p:nvSpPr>
        <p:spPr>
          <a:xfrm>
            <a:off x="4800600" y="3858768"/>
            <a:ext cx="438912" cy="438912"/>
          </a:xfrm>
          <a:prstGeom prst="ellipse">
            <a:avLst/>
          </a:prstGeom>
          <a:solidFill>
            <a:srgbClr val="D49A00">
              <a:alpha val="22000"/>
            </a:srgbClr>
          </a:solidFill>
          <a:ln/>
        </p:spPr>
      </p:sp>
      <p:pic>
        <p:nvPicPr>
          <p:cNvPr id="59" name="Image 5" descr="preencoded.png"/>
          <p:cNvPicPr>
            <a:picLocks noChangeAspect="1"/>
          </p:cNvPicPr>
          <p:nvPr/>
        </p:nvPicPr>
        <p:blipFill>
          <a:blip r:embed="rId8"/>
          <a:stretch>
            <a:fillRect/>
          </a:stretch>
        </p:blipFill>
        <p:spPr>
          <a:xfrm>
            <a:off x="4905939" y="3964107"/>
            <a:ext cx="228234" cy="228234"/>
          </a:xfrm>
          <a:prstGeom prst="rect">
            <a:avLst/>
          </a:prstGeom>
        </p:spPr>
      </p:pic>
      <p:sp>
        <p:nvSpPr>
          <p:cNvPr id="60" name="Text 52"/>
          <p:cNvSpPr txBox="1"/>
          <p:nvPr/>
        </p:nvSpPr>
        <p:spPr>
          <a:xfrm>
            <a:off x="5349240" y="3730752"/>
            <a:ext cx="3246120" cy="768096"/>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Chunking decides</a:t>
            </a:r>
            <a:endParaRPr lang="en-US" sz="1100" dirty="0"/>
          </a:p>
          <a:p>
            <a:pPr marL="0" indent="0">
              <a:buNone/>
            </a:pPr>
            <a:r>
              <a:rPr lang="en-US" sz="950" dirty="0">
                <a:solidFill>
                  <a:srgbClr val="5E6964"/>
                </a:solidFill>
                <a:latin typeface="Calibri" pitchFamily="34" charset="0"/>
                <a:ea typeface="Calibri" pitchFamily="34" charset="-122"/>
                <a:cs typeface="Calibri" pitchFamily="34" charset="-120"/>
              </a:rPr>
              <a:t>Split a table from its header and no embedding will save you. Quality is often won or lost here.</a:t>
            </a:r>
            <a:endParaRPr lang="en-US" sz="1100" dirty="0"/>
          </a:p>
        </p:txBody>
      </p:sp>
      <p:sp>
        <p:nvSpPr>
          <p:cNvPr id="61" name="Text 53"/>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Lewis et al. (2020), NeurIPS 33 — the founding RAG paper · Muennighoff et al. (2023), MTEB, EACL.</a:t>
            </a:r>
            <a:endParaRPr lang="en-US" sz="9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04  ·  STEERING: PROMPT, RAG, FINE-TUNING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RAG changes what the model sees; fine-tuning, how it speaks</a:t>
            </a:r>
            <a:endParaRPr lang="en-US" sz="22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49A00"/>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6" name="Shape 14"/>
          <p:cNvSpPr/>
          <p:nvPr/>
        </p:nvSpPr>
        <p:spPr>
          <a:xfrm>
            <a:off x="457200" y="1371600"/>
            <a:ext cx="3977640" cy="2240280"/>
          </a:xfrm>
          <a:prstGeom prst="roundRect">
            <a:avLst>
              <a:gd name="adj" fmla="val 3265"/>
            </a:avLst>
          </a:prstGeom>
          <a:solidFill>
            <a:srgbClr val="F4F7F5"/>
          </a:solidFill>
          <a:ln w="9525">
            <a:solidFill>
              <a:srgbClr val="D5DED9"/>
            </a:solidFill>
            <a:prstDash val="solid"/>
          </a:ln>
        </p:spPr>
      </p:sp>
      <p:sp>
        <p:nvSpPr>
          <p:cNvPr id="17" name="Shape 15"/>
          <p:cNvSpPr/>
          <p:nvPr/>
        </p:nvSpPr>
        <p:spPr>
          <a:xfrm>
            <a:off x="640080" y="1481328"/>
            <a:ext cx="420624" cy="420624"/>
          </a:xfrm>
          <a:prstGeom prst="ellipse">
            <a:avLst/>
          </a:prstGeom>
          <a:solidFill>
            <a:srgbClr val="0E7C86">
              <a:alpha val="22000"/>
            </a:srgbClr>
          </a:solidFill>
          <a:ln/>
        </p:spPr>
      </p:sp>
      <p:pic>
        <p:nvPicPr>
          <p:cNvPr id="18" name="Image 0" descr="preencoded.png"/>
          <p:cNvPicPr>
            <a:picLocks noChangeAspect="1"/>
          </p:cNvPicPr>
          <p:nvPr/>
        </p:nvPicPr>
        <p:blipFill>
          <a:blip r:embed="rId3"/>
          <a:stretch>
            <a:fillRect/>
          </a:stretch>
        </p:blipFill>
        <p:spPr>
          <a:xfrm>
            <a:off x="741030" y="1582278"/>
            <a:ext cx="218724" cy="218724"/>
          </a:xfrm>
          <a:prstGeom prst="rect">
            <a:avLst/>
          </a:prstGeom>
        </p:spPr>
      </p:pic>
      <p:sp>
        <p:nvSpPr>
          <p:cNvPr id="19" name="Text 16"/>
          <p:cNvSpPr txBox="1"/>
          <p:nvPr/>
        </p:nvSpPr>
        <p:spPr>
          <a:xfrm>
            <a:off x="1188720" y="1481328"/>
            <a:ext cx="2743200" cy="420624"/>
          </a:xfrm>
          <a:prstGeom prst="rect">
            <a:avLst/>
          </a:prstGeom>
          <a:noFill/>
          <a:ln/>
        </p:spPr>
        <p:txBody>
          <a:bodyPr wrap="square" lIns="0" tIns="0" rIns="0" bIns="0" rtlCol="0" anchor="ctr"/>
          <a:lstStyle/>
          <a:p>
            <a:pPr marL="0" indent="0">
              <a:buNone/>
            </a:pPr>
            <a:r>
              <a:rPr lang="en-US" sz="1600" b="1" dirty="0">
                <a:solidFill>
                  <a:srgbClr val="0E7C86"/>
                </a:solidFill>
                <a:latin typeface="Calibri" pitchFamily="34" charset="0"/>
                <a:ea typeface="Calibri" pitchFamily="34" charset="-122"/>
                <a:cs typeface="Calibri" pitchFamily="34" charset="-120"/>
              </a:rPr>
              <a:t>RAG</a:t>
            </a:r>
            <a:endParaRPr lang="en-US" sz="1600" dirty="0"/>
          </a:p>
        </p:txBody>
      </p:sp>
      <p:sp>
        <p:nvSpPr>
          <p:cNvPr id="20" name="Shape 17"/>
          <p:cNvSpPr/>
          <p:nvPr/>
        </p:nvSpPr>
        <p:spPr>
          <a:xfrm>
            <a:off x="640080" y="1993392"/>
            <a:ext cx="3611880" cy="0"/>
          </a:xfrm>
          <a:prstGeom prst="line">
            <a:avLst/>
          </a:prstGeom>
          <a:noFill/>
          <a:ln w="6350">
            <a:solidFill>
              <a:srgbClr val="D5DED9"/>
            </a:solidFill>
            <a:prstDash val="solid"/>
          </a:ln>
        </p:spPr>
      </p:sp>
      <p:sp>
        <p:nvSpPr>
          <p:cNvPr id="21" name="Text 18"/>
          <p:cNvSpPr txBox="1"/>
          <p:nvPr/>
        </p:nvSpPr>
        <p:spPr>
          <a:xfrm>
            <a:off x="640080" y="2029968"/>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Changes</a:t>
            </a:r>
            <a:endParaRPr lang="en-US" sz="1000" dirty="0"/>
          </a:p>
        </p:txBody>
      </p:sp>
      <p:sp>
        <p:nvSpPr>
          <p:cNvPr id="22" name="Text 19"/>
          <p:cNvSpPr txBox="1"/>
          <p:nvPr/>
        </p:nvSpPr>
        <p:spPr>
          <a:xfrm>
            <a:off x="1600200" y="2029968"/>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the context, at question time</a:t>
            </a:r>
            <a:endParaRPr lang="en-US" sz="1050" dirty="0"/>
          </a:p>
        </p:txBody>
      </p:sp>
      <p:sp>
        <p:nvSpPr>
          <p:cNvPr id="23" name="Shape 20"/>
          <p:cNvSpPr/>
          <p:nvPr/>
        </p:nvSpPr>
        <p:spPr>
          <a:xfrm>
            <a:off x="640080" y="2377440"/>
            <a:ext cx="3611880" cy="0"/>
          </a:xfrm>
          <a:prstGeom prst="line">
            <a:avLst/>
          </a:prstGeom>
          <a:noFill/>
          <a:ln w="6350">
            <a:solidFill>
              <a:srgbClr val="D5DED9"/>
            </a:solidFill>
            <a:prstDash val="solid"/>
          </a:ln>
        </p:spPr>
      </p:sp>
      <p:sp>
        <p:nvSpPr>
          <p:cNvPr id="24" name="Text 21"/>
          <p:cNvSpPr txBox="1"/>
          <p:nvPr/>
        </p:nvSpPr>
        <p:spPr>
          <a:xfrm>
            <a:off x="640080" y="2414016"/>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Good for</a:t>
            </a:r>
            <a:endParaRPr lang="en-US" sz="1000" dirty="0"/>
          </a:p>
        </p:txBody>
      </p:sp>
      <p:sp>
        <p:nvSpPr>
          <p:cNvPr id="25" name="Text 22"/>
          <p:cNvSpPr txBox="1"/>
          <p:nvPr/>
        </p:nvSpPr>
        <p:spPr>
          <a:xfrm>
            <a:off x="1600200" y="2414016"/>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facts, documents, your data</a:t>
            </a:r>
            <a:endParaRPr lang="en-US" sz="1050" dirty="0"/>
          </a:p>
        </p:txBody>
      </p:sp>
      <p:sp>
        <p:nvSpPr>
          <p:cNvPr id="26" name="Shape 23"/>
          <p:cNvSpPr/>
          <p:nvPr/>
        </p:nvSpPr>
        <p:spPr>
          <a:xfrm>
            <a:off x="640080" y="2761488"/>
            <a:ext cx="3611880" cy="0"/>
          </a:xfrm>
          <a:prstGeom prst="line">
            <a:avLst/>
          </a:prstGeom>
          <a:noFill/>
          <a:ln w="6350">
            <a:solidFill>
              <a:srgbClr val="D5DED9"/>
            </a:solidFill>
            <a:prstDash val="solid"/>
          </a:ln>
        </p:spPr>
      </p:sp>
      <p:sp>
        <p:nvSpPr>
          <p:cNvPr id="27" name="Text 24"/>
          <p:cNvSpPr txBox="1"/>
          <p:nvPr/>
        </p:nvSpPr>
        <p:spPr>
          <a:xfrm>
            <a:off x="640080" y="2798064"/>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Traceable</a:t>
            </a:r>
            <a:endParaRPr lang="en-US" sz="1000" dirty="0"/>
          </a:p>
        </p:txBody>
      </p:sp>
      <p:sp>
        <p:nvSpPr>
          <p:cNvPr id="28" name="Text 25"/>
          <p:cNvSpPr txBox="1"/>
          <p:nvPr/>
        </p:nvSpPr>
        <p:spPr>
          <a:xfrm>
            <a:off x="1600200" y="2798064"/>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yes — the source comes back with the answer</a:t>
            </a:r>
            <a:endParaRPr lang="en-US" sz="1050" dirty="0"/>
          </a:p>
        </p:txBody>
      </p:sp>
      <p:sp>
        <p:nvSpPr>
          <p:cNvPr id="29" name="Shape 26"/>
          <p:cNvSpPr/>
          <p:nvPr/>
        </p:nvSpPr>
        <p:spPr>
          <a:xfrm>
            <a:off x="640080" y="3145536"/>
            <a:ext cx="3611880" cy="0"/>
          </a:xfrm>
          <a:prstGeom prst="line">
            <a:avLst/>
          </a:prstGeom>
          <a:noFill/>
          <a:ln w="6350">
            <a:solidFill>
              <a:srgbClr val="D5DED9"/>
            </a:solidFill>
            <a:prstDash val="solid"/>
          </a:ln>
        </p:spPr>
      </p:sp>
      <p:sp>
        <p:nvSpPr>
          <p:cNvPr id="30" name="Text 27"/>
          <p:cNvSpPr txBox="1"/>
          <p:nvPr/>
        </p:nvSpPr>
        <p:spPr>
          <a:xfrm>
            <a:off x="640080" y="3182112"/>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Updating</a:t>
            </a:r>
            <a:endParaRPr lang="en-US" sz="1000" dirty="0"/>
          </a:p>
        </p:txBody>
      </p:sp>
      <p:sp>
        <p:nvSpPr>
          <p:cNvPr id="31" name="Text 28"/>
          <p:cNvSpPr txBox="1"/>
          <p:nvPr/>
        </p:nvSpPr>
        <p:spPr>
          <a:xfrm>
            <a:off x="1600200" y="3182112"/>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replace a document; immediate effect</a:t>
            </a:r>
            <a:endParaRPr lang="en-US" sz="1050" dirty="0"/>
          </a:p>
        </p:txBody>
      </p:sp>
      <p:sp>
        <p:nvSpPr>
          <p:cNvPr id="32" name="Shape 29"/>
          <p:cNvSpPr/>
          <p:nvPr/>
        </p:nvSpPr>
        <p:spPr>
          <a:xfrm>
            <a:off x="4709160" y="1371600"/>
            <a:ext cx="3977640" cy="2240280"/>
          </a:xfrm>
          <a:prstGeom prst="roundRect">
            <a:avLst>
              <a:gd name="adj" fmla="val 3265"/>
            </a:avLst>
          </a:prstGeom>
          <a:solidFill>
            <a:srgbClr val="F4F7F5"/>
          </a:solidFill>
          <a:ln w="9525">
            <a:solidFill>
              <a:srgbClr val="D5DED9"/>
            </a:solidFill>
            <a:prstDash val="solid"/>
          </a:ln>
        </p:spPr>
      </p:sp>
      <p:sp>
        <p:nvSpPr>
          <p:cNvPr id="33" name="Shape 30"/>
          <p:cNvSpPr/>
          <p:nvPr/>
        </p:nvSpPr>
        <p:spPr>
          <a:xfrm>
            <a:off x="4892040" y="1481328"/>
            <a:ext cx="420624" cy="420624"/>
          </a:xfrm>
          <a:prstGeom prst="ellipse">
            <a:avLst/>
          </a:prstGeom>
          <a:solidFill>
            <a:srgbClr val="D49A00">
              <a:alpha val="22000"/>
            </a:srgbClr>
          </a:solidFill>
          <a:ln/>
        </p:spPr>
      </p:sp>
      <p:pic>
        <p:nvPicPr>
          <p:cNvPr id="34" name="Image 1" descr="preencoded.png"/>
          <p:cNvPicPr>
            <a:picLocks noChangeAspect="1"/>
          </p:cNvPicPr>
          <p:nvPr/>
        </p:nvPicPr>
        <p:blipFill>
          <a:blip r:embed="rId4"/>
          <a:stretch>
            <a:fillRect/>
          </a:stretch>
        </p:blipFill>
        <p:spPr>
          <a:xfrm>
            <a:off x="4992990" y="1582278"/>
            <a:ext cx="218724" cy="218724"/>
          </a:xfrm>
          <a:prstGeom prst="rect">
            <a:avLst/>
          </a:prstGeom>
        </p:spPr>
      </p:pic>
      <p:sp>
        <p:nvSpPr>
          <p:cNvPr id="35" name="Text 31"/>
          <p:cNvSpPr txBox="1"/>
          <p:nvPr/>
        </p:nvSpPr>
        <p:spPr>
          <a:xfrm>
            <a:off x="5440680" y="1481328"/>
            <a:ext cx="2743200" cy="420624"/>
          </a:xfrm>
          <a:prstGeom prst="rect">
            <a:avLst/>
          </a:prstGeom>
          <a:noFill/>
          <a:ln/>
        </p:spPr>
        <p:txBody>
          <a:bodyPr wrap="square" lIns="0" tIns="0" rIns="0" bIns="0" rtlCol="0" anchor="ctr"/>
          <a:lstStyle/>
          <a:p>
            <a:pPr marL="0" indent="0">
              <a:buNone/>
            </a:pPr>
            <a:r>
              <a:rPr lang="en-US" sz="1600" b="1" dirty="0">
                <a:solidFill>
                  <a:srgbClr val="D49A00"/>
                </a:solidFill>
                <a:latin typeface="Calibri" pitchFamily="34" charset="0"/>
                <a:ea typeface="Calibri" pitchFamily="34" charset="-122"/>
                <a:cs typeface="Calibri" pitchFamily="34" charset="-120"/>
              </a:rPr>
              <a:t>Fine-tuning</a:t>
            </a:r>
            <a:endParaRPr lang="en-US" sz="1600" dirty="0"/>
          </a:p>
        </p:txBody>
      </p:sp>
      <p:sp>
        <p:nvSpPr>
          <p:cNvPr id="36" name="Shape 32"/>
          <p:cNvSpPr/>
          <p:nvPr/>
        </p:nvSpPr>
        <p:spPr>
          <a:xfrm>
            <a:off x="4892040" y="1993392"/>
            <a:ext cx="3611880" cy="0"/>
          </a:xfrm>
          <a:prstGeom prst="line">
            <a:avLst/>
          </a:prstGeom>
          <a:noFill/>
          <a:ln w="6350">
            <a:solidFill>
              <a:srgbClr val="D5DED9"/>
            </a:solidFill>
            <a:prstDash val="solid"/>
          </a:ln>
        </p:spPr>
      </p:sp>
      <p:sp>
        <p:nvSpPr>
          <p:cNvPr id="37" name="Text 33"/>
          <p:cNvSpPr txBox="1"/>
          <p:nvPr/>
        </p:nvSpPr>
        <p:spPr>
          <a:xfrm>
            <a:off x="4892040" y="2029968"/>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Changes</a:t>
            </a:r>
            <a:endParaRPr lang="en-US" sz="1000" dirty="0"/>
          </a:p>
        </p:txBody>
      </p:sp>
      <p:sp>
        <p:nvSpPr>
          <p:cNvPr id="38" name="Text 34"/>
          <p:cNvSpPr txBox="1"/>
          <p:nvPr/>
        </p:nvSpPr>
        <p:spPr>
          <a:xfrm>
            <a:off x="5852160" y="2029968"/>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the weights, once, in advance</a:t>
            </a:r>
            <a:endParaRPr lang="en-US" sz="1050" dirty="0"/>
          </a:p>
        </p:txBody>
      </p:sp>
      <p:sp>
        <p:nvSpPr>
          <p:cNvPr id="39" name="Shape 35"/>
          <p:cNvSpPr/>
          <p:nvPr/>
        </p:nvSpPr>
        <p:spPr>
          <a:xfrm>
            <a:off x="4892040" y="2377440"/>
            <a:ext cx="3611880" cy="0"/>
          </a:xfrm>
          <a:prstGeom prst="line">
            <a:avLst/>
          </a:prstGeom>
          <a:noFill/>
          <a:ln w="6350">
            <a:solidFill>
              <a:srgbClr val="D5DED9"/>
            </a:solidFill>
            <a:prstDash val="solid"/>
          </a:ln>
        </p:spPr>
      </p:sp>
      <p:sp>
        <p:nvSpPr>
          <p:cNvPr id="40" name="Text 36"/>
          <p:cNvSpPr txBox="1"/>
          <p:nvPr/>
        </p:nvSpPr>
        <p:spPr>
          <a:xfrm>
            <a:off x="4892040" y="2414016"/>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Good for</a:t>
            </a:r>
            <a:endParaRPr lang="en-US" sz="1000" dirty="0"/>
          </a:p>
        </p:txBody>
      </p:sp>
      <p:sp>
        <p:nvSpPr>
          <p:cNvPr id="41" name="Text 37"/>
          <p:cNvSpPr txBox="1"/>
          <p:nvPr/>
        </p:nvSpPr>
        <p:spPr>
          <a:xfrm>
            <a:off x="5852160" y="2414016"/>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format, register, a repeated task</a:t>
            </a:r>
            <a:endParaRPr lang="en-US" sz="1050" dirty="0"/>
          </a:p>
        </p:txBody>
      </p:sp>
      <p:sp>
        <p:nvSpPr>
          <p:cNvPr id="42" name="Shape 38"/>
          <p:cNvSpPr/>
          <p:nvPr/>
        </p:nvSpPr>
        <p:spPr>
          <a:xfrm>
            <a:off x="4892040" y="2761488"/>
            <a:ext cx="3611880" cy="0"/>
          </a:xfrm>
          <a:prstGeom prst="line">
            <a:avLst/>
          </a:prstGeom>
          <a:noFill/>
          <a:ln w="6350">
            <a:solidFill>
              <a:srgbClr val="D5DED9"/>
            </a:solidFill>
            <a:prstDash val="solid"/>
          </a:ln>
        </p:spPr>
      </p:sp>
      <p:sp>
        <p:nvSpPr>
          <p:cNvPr id="43" name="Text 39"/>
          <p:cNvSpPr txBox="1"/>
          <p:nvPr/>
        </p:nvSpPr>
        <p:spPr>
          <a:xfrm>
            <a:off x="4892040" y="2798064"/>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Traceable</a:t>
            </a:r>
            <a:endParaRPr lang="en-US" sz="1000" dirty="0"/>
          </a:p>
        </p:txBody>
      </p:sp>
      <p:sp>
        <p:nvSpPr>
          <p:cNvPr id="44" name="Text 40"/>
          <p:cNvSpPr txBox="1"/>
          <p:nvPr/>
        </p:nvSpPr>
        <p:spPr>
          <a:xfrm>
            <a:off x="5852160" y="2798064"/>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no — nothing points to a source</a:t>
            </a:r>
            <a:endParaRPr lang="en-US" sz="1050" dirty="0"/>
          </a:p>
        </p:txBody>
      </p:sp>
      <p:sp>
        <p:nvSpPr>
          <p:cNvPr id="45" name="Shape 41"/>
          <p:cNvSpPr/>
          <p:nvPr/>
        </p:nvSpPr>
        <p:spPr>
          <a:xfrm>
            <a:off x="4892040" y="3145536"/>
            <a:ext cx="3611880" cy="0"/>
          </a:xfrm>
          <a:prstGeom prst="line">
            <a:avLst/>
          </a:prstGeom>
          <a:noFill/>
          <a:ln w="6350">
            <a:solidFill>
              <a:srgbClr val="D5DED9"/>
            </a:solidFill>
            <a:prstDash val="solid"/>
          </a:ln>
        </p:spPr>
      </p:sp>
      <p:sp>
        <p:nvSpPr>
          <p:cNvPr id="46" name="Text 42"/>
          <p:cNvSpPr txBox="1"/>
          <p:nvPr/>
        </p:nvSpPr>
        <p:spPr>
          <a:xfrm>
            <a:off x="4892040" y="3182112"/>
            <a:ext cx="960120" cy="329184"/>
          </a:xfrm>
          <a:prstGeom prst="rect">
            <a:avLst/>
          </a:prstGeom>
          <a:noFill/>
          <a:ln/>
        </p:spPr>
        <p:txBody>
          <a:bodyPr wrap="square" lIns="0" tIns="0" rIns="0" bIns="0" rtlCol="0" anchor="ctr"/>
          <a:lstStyle/>
          <a:p>
            <a:pPr marL="0" indent="0">
              <a:buNone/>
            </a:pPr>
            <a:r>
              <a:rPr lang="en-US" sz="1000" b="1" dirty="0">
                <a:solidFill>
                  <a:srgbClr val="5E6964"/>
                </a:solidFill>
                <a:latin typeface="Calibri" pitchFamily="34" charset="0"/>
                <a:ea typeface="Calibri" pitchFamily="34" charset="-122"/>
                <a:cs typeface="Calibri" pitchFamily="34" charset="-120"/>
              </a:rPr>
              <a:t>Updating</a:t>
            </a:r>
            <a:endParaRPr lang="en-US" sz="1000" dirty="0"/>
          </a:p>
        </p:txBody>
      </p:sp>
      <p:sp>
        <p:nvSpPr>
          <p:cNvPr id="47" name="Text 43"/>
          <p:cNvSpPr txBox="1"/>
          <p:nvPr/>
        </p:nvSpPr>
        <p:spPr>
          <a:xfrm>
            <a:off x="5852160" y="3182112"/>
            <a:ext cx="2697480" cy="329184"/>
          </a:xfrm>
          <a:prstGeom prst="rect">
            <a:avLst/>
          </a:prstGeom>
          <a:noFill/>
          <a:ln/>
        </p:spPr>
        <p:txBody>
          <a:bodyPr wrap="square" lIns="0" tIns="0" rIns="0" bIns="0" rtlCol="0" anchor="ctr"/>
          <a:lstStyle/>
          <a:p>
            <a:pPr marL="0" indent="0">
              <a:buNone/>
            </a:pPr>
            <a:r>
              <a:rPr lang="en-US" sz="1050" dirty="0">
                <a:solidFill>
                  <a:srgbClr val="231F20"/>
                </a:solidFill>
                <a:latin typeface="Calibri" pitchFamily="34" charset="0"/>
                <a:ea typeface="Calibri" pitchFamily="34" charset="-122"/>
                <a:cs typeface="Calibri" pitchFamily="34" charset="-120"/>
              </a:rPr>
              <a:t>retrain with an updated example set</a:t>
            </a:r>
            <a:endParaRPr lang="en-US" sz="1050" dirty="0"/>
          </a:p>
        </p:txBody>
      </p:sp>
      <p:sp>
        <p:nvSpPr>
          <p:cNvPr id="48" name="Text 44"/>
          <p:cNvSpPr txBox="1"/>
          <p:nvPr/>
        </p:nvSpPr>
        <p:spPr>
          <a:xfrm>
            <a:off x="4206240" y="2240280"/>
            <a:ext cx="731520" cy="365760"/>
          </a:xfrm>
          <a:prstGeom prst="rect">
            <a:avLst/>
          </a:prstGeom>
          <a:noFill/>
          <a:ln/>
        </p:spPr>
        <p:txBody>
          <a:bodyPr wrap="square" lIns="0" tIns="0" rIns="0" bIns="0" rtlCol="0" anchor="t"/>
          <a:lstStyle/>
          <a:p>
            <a:pPr marL="0" indent="0" algn="ctr">
              <a:buNone/>
            </a:pPr>
            <a:r>
              <a:rPr lang="en-US" sz="1600" b="1" i="1" dirty="0">
                <a:solidFill>
                  <a:srgbClr val="5E6964"/>
                </a:solidFill>
                <a:latin typeface="Calibri" pitchFamily="34" charset="0"/>
                <a:ea typeface="Calibri" pitchFamily="34" charset="-122"/>
                <a:cs typeface="Calibri" pitchFamily="34" charset="-120"/>
              </a:rPr>
              <a:t>vs</a:t>
            </a:r>
            <a:endParaRPr lang="en-US" sz="1600" dirty="0"/>
          </a:p>
        </p:txBody>
      </p:sp>
      <p:sp>
        <p:nvSpPr>
          <p:cNvPr id="49" name="Shape 45"/>
          <p:cNvSpPr/>
          <p:nvPr/>
        </p:nvSpPr>
        <p:spPr>
          <a:xfrm>
            <a:off x="457200" y="3749040"/>
            <a:ext cx="3977640" cy="786384"/>
          </a:xfrm>
          <a:prstGeom prst="roundRect">
            <a:avLst>
              <a:gd name="adj" fmla="val 9302"/>
            </a:avLst>
          </a:prstGeom>
          <a:solidFill>
            <a:srgbClr val="E8F5EF"/>
          </a:solidFill>
          <a:ln w="15875">
            <a:solidFill>
              <a:srgbClr val="00A86A"/>
            </a:solidFill>
            <a:prstDash val="solid"/>
          </a:ln>
        </p:spPr>
      </p:sp>
      <p:sp>
        <p:nvSpPr>
          <p:cNvPr id="50" name="Shape 46"/>
          <p:cNvSpPr/>
          <p:nvPr/>
        </p:nvSpPr>
        <p:spPr>
          <a:xfrm>
            <a:off x="603504" y="3904488"/>
            <a:ext cx="457200" cy="457200"/>
          </a:xfrm>
          <a:prstGeom prst="ellipse">
            <a:avLst/>
          </a:prstGeom>
          <a:solidFill>
            <a:srgbClr val="00A86A">
              <a:alpha val="22000"/>
            </a:srgbClr>
          </a:solidFill>
          <a:ln/>
        </p:spPr>
      </p:sp>
      <p:pic>
        <p:nvPicPr>
          <p:cNvPr id="51" name="Image 2" descr="preencoded.png"/>
          <p:cNvPicPr>
            <a:picLocks noChangeAspect="1"/>
          </p:cNvPicPr>
          <p:nvPr/>
        </p:nvPicPr>
        <p:blipFill>
          <a:blip r:embed="rId5"/>
          <a:stretch>
            <a:fillRect/>
          </a:stretch>
        </p:blipFill>
        <p:spPr>
          <a:xfrm>
            <a:off x="713232" y="4014216"/>
            <a:ext cx="237744" cy="237744"/>
          </a:xfrm>
          <a:prstGeom prst="rect">
            <a:avLst/>
          </a:prstGeom>
        </p:spPr>
      </p:pic>
      <p:sp>
        <p:nvSpPr>
          <p:cNvPr id="52" name="Text 47"/>
          <p:cNvSpPr txBox="1"/>
          <p:nvPr/>
        </p:nvSpPr>
        <p:spPr>
          <a:xfrm>
            <a:off x="1170432" y="3776472"/>
            <a:ext cx="3154680" cy="73152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Steering rule</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If the requirement says “up to date”, the answer is RAG: weights freeze the day training stops.</a:t>
            </a:r>
            <a:endParaRPr lang="en-US" sz="1050" dirty="0"/>
          </a:p>
        </p:txBody>
      </p:sp>
      <p:sp>
        <p:nvSpPr>
          <p:cNvPr id="53" name="Shape 48"/>
          <p:cNvSpPr/>
          <p:nvPr/>
        </p:nvSpPr>
        <p:spPr>
          <a:xfrm>
            <a:off x="4709160" y="3749040"/>
            <a:ext cx="3977640" cy="786384"/>
          </a:xfrm>
          <a:prstGeom prst="roundRect">
            <a:avLst>
              <a:gd name="adj" fmla="val 9302"/>
            </a:avLst>
          </a:prstGeom>
          <a:solidFill>
            <a:srgbClr val="FBF3DE"/>
          </a:solidFill>
          <a:ln w="15875">
            <a:solidFill>
              <a:srgbClr val="D49A00"/>
            </a:solidFill>
            <a:prstDash val="solid"/>
          </a:ln>
        </p:spPr>
      </p:sp>
      <p:sp>
        <p:nvSpPr>
          <p:cNvPr id="54" name="Shape 49"/>
          <p:cNvSpPr/>
          <p:nvPr/>
        </p:nvSpPr>
        <p:spPr>
          <a:xfrm>
            <a:off x="4855464" y="3904488"/>
            <a:ext cx="457200" cy="457200"/>
          </a:xfrm>
          <a:prstGeom prst="ellipse">
            <a:avLst/>
          </a:prstGeom>
          <a:solidFill>
            <a:srgbClr val="D49A00">
              <a:alpha val="22000"/>
            </a:srgbClr>
          </a:solidFill>
          <a:ln/>
        </p:spPr>
      </p:sp>
      <p:pic>
        <p:nvPicPr>
          <p:cNvPr id="55" name="Image 3" descr="preencoded.png"/>
          <p:cNvPicPr>
            <a:picLocks noChangeAspect="1"/>
          </p:cNvPicPr>
          <p:nvPr/>
        </p:nvPicPr>
        <p:blipFill>
          <a:blip r:embed="rId6"/>
          <a:stretch>
            <a:fillRect/>
          </a:stretch>
        </p:blipFill>
        <p:spPr>
          <a:xfrm>
            <a:off x="4965192" y="4014216"/>
            <a:ext cx="237744" cy="237744"/>
          </a:xfrm>
          <a:prstGeom prst="rect">
            <a:avLst/>
          </a:prstGeom>
        </p:spPr>
      </p:pic>
      <p:sp>
        <p:nvSpPr>
          <p:cNvPr id="56" name="Text 50"/>
          <p:cNvSpPr txBox="1"/>
          <p:nvPr/>
        </p:nvSpPr>
        <p:spPr>
          <a:xfrm>
            <a:off x="5422392" y="3776472"/>
            <a:ext cx="3154680" cy="73152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Fine-tuning teaches style, not facts</a:t>
            </a:r>
            <a:endParaRPr lang="en-US" sz="1050" dirty="0"/>
          </a:p>
          <a:p>
            <a:pPr marL="0" indent="0">
              <a:buNone/>
            </a:pPr>
            <a:r>
              <a:rPr lang="en-US" sz="1050" dirty="0">
                <a:solidFill>
                  <a:srgbClr val="231F20"/>
                </a:solidFill>
                <a:latin typeface="Calibri" pitchFamily="34" charset="0"/>
                <a:ea typeface="Calibri" pitchFamily="34" charset="-122"/>
                <a:cs typeface="Calibri" pitchFamily="34" charset="-120"/>
              </a:rPr>
              <a:t>“Fine-tuned on your data” often describes… RAG. Ask in writing whether the weights change.</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05</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Acting: agents, tools and MCP</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At what point does an answer become an action?</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5C242"/>
          </a:solidFill>
          <a:ln/>
        </p:spPr>
      </p:sp>
      <p:sp>
        <p:nvSpPr>
          <p:cNvPr id="11" name="Shape 9"/>
          <p:cNvSpPr/>
          <p:nvPr/>
        </p:nvSpPr>
        <p:spPr>
          <a:xfrm>
            <a:off x="1463040" y="4160520"/>
            <a:ext cx="100584" cy="100584"/>
          </a:xfrm>
          <a:prstGeom prst="ellipse">
            <a:avLst/>
          </a:prstGeom>
          <a:solidFill>
            <a:srgbClr val="FFFFFF">
              <a:alpha val="40000"/>
            </a:srgbClr>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05  ·  ACTING: AGENTS, TOOLS AND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An agent is a model whose output may become action</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6" name="Shape 14"/>
          <p:cNvSpPr/>
          <p:nvPr/>
        </p:nvSpPr>
        <p:spPr>
          <a:xfrm>
            <a:off x="1714500" y="1371600"/>
            <a:ext cx="1417320" cy="530352"/>
          </a:xfrm>
          <a:prstGeom prst="roundRect">
            <a:avLst>
              <a:gd name="adj" fmla="val 13793"/>
            </a:avLst>
          </a:prstGeom>
          <a:solidFill>
            <a:srgbClr val="FFFFFF"/>
          </a:solidFill>
          <a:ln w="15875">
            <a:solidFill>
              <a:srgbClr val="C4621D"/>
            </a:solidFill>
            <a:prstDash val="solid"/>
          </a:ln>
        </p:spPr>
      </p:sp>
      <p:sp>
        <p:nvSpPr>
          <p:cNvPr id="17" name="Text 15"/>
          <p:cNvSpPr txBox="1"/>
          <p:nvPr/>
        </p:nvSpPr>
        <p:spPr>
          <a:xfrm>
            <a:off x="1714500" y="137160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Observe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the task, the state</a:t>
            </a:r>
            <a:endParaRPr lang="en-US" sz="1100" dirty="0"/>
          </a:p>
        </p:txBody>
      </p:sp>
      <p:sp>
        <p:nvSpPr>
          <p:cNvPr id="18" name="Shape 16"/>
          <p:cNvSpPr/>
          <p:nvPr/>
        </p:nvSpPr>
        <p:spPr>
          <a:xfrm>
            <a:off x="2971800" y="2697480"/>
            <a:ext cx="1417320" cy="530352"/>
          </a:xfrm>
          <a:prstGeom prst="roundRect">
            <a:avLst>
              <a:gd name="adj" fmla="val 13793"/>
            </a:avLst>
          </a:prstGeom>
          <a:solidFill>
            <a:srgbClr val="FFFFFF"/>
          </a:solidFill>
          <a:ln w="15875">
            <a:solidFill>
              <a:srgbClr val="C4621D"/>
            </a:solidFill>
            <a:prstDash val="solid"/>
          </a:ln>
        </p:spPr>
      </p:sp>
      <p:sp>
        <p:nvSpPr>
          <p:cNvPr id="19" name="Text 17"/>
          <p:cNvSpPr txBox="1"/>
          <p:nvPr/>
        </p:nvSpPr>
        <p:spPr>
          <a:xfrm>
            <a:off x="2971800" y="269748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Propose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an action</a:t>
            </a:r>
            <a:endParaRPr lang="en-US" sz="1100" dirty="0"/>
          </a:p>
        </p:txBody>
      </p:sp>
      <p:sp>
        <p:nvSpPr>
          <p:cNvPr id="20" name="Shape 18"/>
          <p:cNvSpPr/>
          <p:nvPr/>
        </p:nvSpPr>
        <p:spPr>
          <a:xfrm>
            <a:off x="1714500" y="3977640"/>
            <a:ext cx="1417320" cy="530352"/>
          </a:xfrm>
          <a:prstGeom prst="roundRect">
            <a:avLst>
              <a:gd name="adj" fmla="val 13793"/>
            </a:avLst>
          </a:prstGeom>
          <a:solidFill>
            <a:srgbClr val="FBF3DE"/>
          </a:solidFill>
          <a:ln w="15875">
            <a:solidFill>
              <a:srgbClr val="D49A00"/>
            </a:solidFill>
            <a:prstDash val="solid"/>
          </a:ln>
        </p:spPr>
      </p:sp>
      <p:sp>
        <p:nvSpPr>
          <p:cNvPr id="21" name="Text 19"/>
          <p:cNvSpPr txBox="1"/>
          <p:nvPr/>
        </p:nvSpPr>
        <p:spPr>
          <a:xfrm>
            <a:off x="1714500" y="397764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Execute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by your software</a:t>
            </a:r>
            <a:endParaRPr lang="en-US" sz="1100" dirty="0"/>
          </a:p>
        </p:txBody>
      </p:sp>
      <p:sp>
        <p:nvSpPr>
          <p:cNvPr id="22" name="Shape 20"/>
          <p:cNvSpPr/>
          <p:nvPr/>
        </p:nvSpPr>
        <p:spPr>
          <a:xfrm>
            <a:off x="457200" y="2697480"/>
            <a:ext cx="1417320" cy="530352"/>
          </a:xfrm>
          <a:prstGeom prst="roundRect">
            <a:avLst>
              <a:gd name="adj" fmla="val 13793"/>
            </a:avLst>
          </a:prstGeom>
          <a:solidFill>
            <a:srgbClr val="FFFFFF"/>
          </a:solidFill>
          <a:ln w="15875">
            <a:solidFill>
              <a:srgbClr val="C4621D"/>
            </a:solidFill>
            <a:prstDash val="solid"/>
          </a:ln>
        </p:spPr>
      </p:sp>
      <p:sp>
        <p:nvSpPr>
          <p:cNvPr id="23" name="Text 21"/>
          <p:cNvSpPr txBox="1"/>
          <p:nvPr/>
        </p:nvSpPr>
        <p:spPr>
          <a:xfrm>
            <a:off x="457200" y="2697480"/>
            <a:ext cx="1417320" cy="530352"/>
          </a:xfrm>
          <a:prstGeom prst="rect">
            <a:avLst/>
          </a:prstGeom>
          <a:noFill/>
          <a:ln/>
        </p:spPr>
        <p:txBody>
          <a:bodyPr wrap="square" lIns="0" tIns="0" rIns="0" bIns="0" rtlCol="0" anchor="ctr"/>
          <a:lstStyle/>
          <a:p>
            <a:pPr marL="0" indent="0" algn="ctr">
              <a:buNone/>
            </a:pPr>
            <a:r>
              <a:rPr lang="en-US" sz="1150" b="1" dirty="0">
                <a:solidFill>
                  <a:srgbClr val="231F20"/>
                </a:solidFill>
                <a:latin typeface="Calibri" pitchFamily="34" charset="0"/>
                <a:ea typeface="Calibri" pitchFamily="34" charset="-122"/>
                <a:cs typeface="Calibri" pitchFamily="34" charset="-120"/>
              </a:rPr>
              <a:t>Read</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the result</a:t>
            </a:r>
            <a:endParaRPr lang="en-US" sz="1100" dirty="0"/>
          </a:p>
        </p:txBody>
      </p:sp>
      <p:sp>
        <p:nvSpPr>
          <p:cNvPr id="24" name="Shape 22"/>
          <p:cNvSpPr/>
          <p:nvPr/>
        </p:nvSpPr>
        <p:spPr>
          <a:xfrm>
            <a:off x="2011680" y="2551176"/>
            <a:ext cx="822960" cy="822960"/>
          </a:xfrm>
          <a:prstGeom prst="ellipse">
            <a:avLst/>
          </a:prstGeom>
          <a:solidFill>
            <a:srgbClr val="00553A"/>
          </a:solidFill>
          <a:ln/>
        </p:spPr>
      </p:sp>
      <p:sp>
        <p:nvSpPr>
          <p:cNvPr id="25" name="Text 23"/>
          <p:cNvSpPr txBox="1"/>
          <p:nvPr/>
        </p:nvSpPr>
        <p:spPr>
          <a:xfrm>
            <a:off x="2011680" y="2551176"/>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LLM</a:t>
            </a:r>
            <a:endParaRPr lang="en-US" sz="1400" dirty="0"/>
          </a:p>
        </p:txBody>
      </p:sp>
      <p:sp>
        <p:nvSpPr>
          <p:cNvPr id="26" name="Shape 24"/>
          <p:cNvSpPr/>
          <p:nvPr/>
        </p:nvSpPr>
        <p:spPr>
          <a:xfrm>
            <a:off x="3154680" y="1636776"/>
            <a:ext cx="502920" cy="1042416"/>
          </a:xfrm>
          <a:prstGeom prst="line">
            <a:avLst/>
          </a:prstGeom>
          <a:noFill/>
          <a:ln w="15875">
            <a:solidFill>
              <a:srgbClr val="C4621D"/>
            </a:solidFill>
            <a:prstDash val="solid"/>
            <a:tailEnd type="triangle"/>
          </a:ln>
        </p:spPr>
      </p:sp>
      <p:sp>
        <p:nvSpPr>
          <p:cNvPr id="27" name="Shape 25"/>
          <p:cNvSpPr/>
          <p:nvPr/>
        </p:nvSpPr>
        <p:spPr>
          <a:xfrm flipH="1">
            <a:off x="3154680" y="3246120"/>
            <a:ext cx="502920" cy="987552"/>
          </a:xfrm>
          <a:prstGeom prst="line">
            <a:avLst/>
          </a:prstGeom>
          <a:noFill/>
          <a:ln w="15875">
            <a:solidFill>
              <a:srgbClr val="C4621D"/>
            </a:solidFill>
            <a:prstDash val="solid"/>
            <a:tailEnd type="triangle"/>
          </a:ln>
        </p:spPr>
      </p:sp>
      <p:sp>
        <p:nvSpPr>
          <p:cNvPr id="28" name="Shape 26"/>
          <p:cNvSpPr/>
          <p:nvPr/>
        </p:nvSpPr>
        <p:spPr>
          <a:xfrm flipH="1" flipV="1">
            <a:off x="1188720" y="3246120"/>
            <a:ext cx="502920" cy="987552"/>
          </a:xfrm>
          <a:prstGeom prst="line">
            <a:avLst/>
          </a:prstGeom>
          <a:noFill/>
          <a:ln w="15875">
            <a:solidFill>
              <a:srgbClr val="C4621D"/>
            </a:solidFill>
            <a:prstDash val="solid"/>
            <a:tailEnd type="triangle"/>
          </a:ln>
        </p:spPr>
      </p:sp>
      <p:sp>
        <p:nvSpPr>
          <p:cNvPr id="29" name="Shape 27"/>
          <p:cNvSpPr/>
          <p:nvPr/>
        </p:nvSpPr>
        <p:spPr>
          <a:xfrm flipV="1">
            <a:off x="1188720" y="1636776"/>
            <a:ext cx="502920" cy="1042416"/>
          </a:xfrm>
          <a:prstGeom prst="line">
            <a:avLst/>
          </a:prstGeom>
          <a:noFill/>
          <a:ln w="15875">
            <a:solidFill>
              <a:srgbClr val="C4621D"/>
            </a:solidFill>
            <a:prstDash val="solid"/>
            <a:tailEnd type="triangle"/>
          </a:ln>
        </p:spPr>
      </p:sp>
      <p:sp>
        <p:nvSpPr>
          <p:cNvPr id="30" name="Text 28"/>
          <p:cNvSpPr txBox="1"/>
          <p:nvPr/>
        </p:nvSpPr>
        <p:spPr>
          <a:xfrm>
            <a:off x="4846320" y="1325880"/>
            <a:ext cx="3840480" cy="201168"/>
          </a:xfrm>
          <a:prstGeom prst="rect">
            <a:avLst/>
          </a:prstGeom>
          <a:noFill/>
          <a:ln/>
        </p:spPr>
        <p:txBody>
          <a:bodyPr wrap="square" lIns="0" tIns="0" rIns="0" bIns="0" rtlCol="0" anchor="t"/>
          <a:lstStyle/>
          <a:p>
            <a:pPr marL="0" indent="0">
              <a:buNone/>
            </a:pPr>
            <a:r>
              <a:rPr lang="en-US" sz="900" b="1" kern="0" spc="200" dirty="0">
                <a:solidFill>
                  <a:srgbClr val="5E6964"/>
                </a:solidFill>
                <a:latin typeface="Calibri" pitchFamily="34" charset="0"/>
                <a:ea typeface="Calibri" pitchFamily="34" charset="-122"/>
                <a:cs typeface="Calibri" pitchFamily="34" charset="-120"/>
              </a:rPr>
              <a:t>FROM SIMPLEST TO MOST AUTONOMOUS</a:t>
            </a:r>
            <a:endParaRPr lang="en-US" sz="900" dirty="0"/>
          </a:p>
        </p:txBody>
      </p:sp>
      <p:sp>
        <p:nvSpPr>
          <p:cNvPr id="31" name="Shape 29"/>
          <p:cNvSpPr/>
          <p:nvPr/>
        </p:nvSpPr>
        <p:spPr>
          <a:xfrm>
            <a:off x="5166360" y="1591056"/>
            <a:ext cx="3520440" cy="475488"/>
          </a:xfrm>
          <a:prstGeom prst="roundRect">
            <a:avLst>
              <a:gd name="adj" fmla="val 11538"/>
            </a:avLst>
          </a:prstGeom>
          <a:solidFill>
            <a:srgbClr val="C4621D">
              <a:alpha val="8000"/>
            </a:srgbClr>
          </a:solidFill>
          <a:ln w="6350">
            <a:solidFill>
              <a:srgbClr val="C4621D"/>
            </a:solidFill>
            <a:prstDash val="solid"/>
          </a:ln>
        </p:spPr>
      </p:sp>
      <p:pic>
        <p:nvPicPr>
          <p:cNvPr id="32" name="Image 0" descr="preencoded.png"/>
          <p:cNvPicPr>
            <a:picLocks noChangeAspect="1"/>
          </p:cNvPicPr>
          <p:nvPr/>
        </p:nvPicPr>
        <p:blipFill>
          <a:blip r:embed="rId3"/>
          <a:stretch>
            <a:fillRect/>
          </a:stretch>
        </p:blipFill>
        <p:spPr>
          <a:xfrm>
            <a:off x="5285232" y="1700784"/>
            <a:ext cx="256032" cy="256032"/>
          </a:xfrm>
          <a:prstGeom prst="rect">
            <a:avLst/>
          </a:prstGeom>
        </p:spPr>
      </p:pic>
      <p:sp>
        <p:nvSpPr>
          <p:cNvPr id="33" name="Text 30"/>
          <p:cNvSpPr txBox="1"/>
          <p:nvPr/>
        </p:nvSpPr>
        <p:spPr>
          <a:xfrm>
            <a:off x="5669280" y="159105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Chat assistant  </a:t>
            </a:r>
            <a:r>
              <a:rPr lang="en-US" sz="950" dirty="0">
                <a:solidFill>
                  <a:srgbClr val="5E6964"/>
                </a:solidFill>
                <a:latin typeface="Calibri" pitchFamily="34" charset="0"/>
                <a:ea typeface="Calibri" pitchFamily="34" charset="-122"/>
                <a:cs typeface="Calibri" pitchFamily="34" charset="-120"/>
              </a:rPr>
              <a:t>answers; takes no action</a:t>
            </a:r>
            <a:endParaRPr lang="en-US" sz="1100" dirty="0"/>
          </a:p>
        </p:txBody>
      </p:sp>
      <p:sp>
        <p:nvSpPr>
          <p:cNvPr id="34" name="Shape 31"/>
          <p:cNvSpPr/>
          <p:nvPr/>
        </p:nvSpPr>
        <p:spPr>
          <a:xfrm>
            <a:off x="5166360" y="2139696"/>
            <a:ext cx="3520440" cy="475488"/>
          </a:xfrm>
          <a:prstGeom prst="roundRect">
            <a:avLst>
              <a:gd name="adj" fmla="val 11538"/>
            </a:avLst>
          </a:prstGeom>
          <a:solidFill>
            <a:srgbClr val="C4621D">
              <a:alpha val="15000"/>
            </a:srgbClr>
          </a:solidFill>
          <a:ln w="6350">
            <a:solidFill>
              <a:srgbClr val="C4621D"/>
            </a:solidFill>
            <a:prstDash val="solid"/>
          </a:ln>
        </p:spPr>
      </p:sp>
      <p:pic>
        <p:nvPicPr>
          <p:cNvPr id="35" name="Image 1" descr="preencoded.png"/>
          <p:cNvPicPr>
            <a:picLocks noChangeAspect="1"/>
          </p:cNvPicPr>
          <p:nvPr/>
        </p:nvPicPr>
        <p:blipFill>
          <a:blip r:embed="rId4"/>
          <a:stretch>
            <a:fillRect/>
          </a:stretch>
        </p:blipFill>
        <p:spPr>
          <a:xfrm>
            <a:off x="5285232" y="2249424"/>
            <a:ext cx="256032" cy="256032"/>
          </a:xfrm>
          <a:prstGeom prst="rect">
            <a:avLst/>
          </a:prstGeom>
        </p:spPr>
      </p:pic>
      <p:sp>
        <p:nvSpPr>
          <p:cNvPr id="36" name="Text 32"/>
          <p:cNvSpPr txBox="1"/>
          <p:nvPr/>
        </p:nvSpPr>
        <p:spPr>
          <a:xfrm>
            <a:off x="5669280" y="213969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Tool-using assistant  </a:t>
            </a:r>
            <a:r>
              <a:rPr lang="en-US" sz="950" dirty="0">
                <a:solidFill>
                  <a:srgbClr val="5E6964"/>
                </a:solidFill>
                <a:latin typeface="Calibri" pitchFamily="34" charset="0"/>
                <a:ea typeface="Calibri" pitchFamily="34" charset="-122"/>
                <a:cs typeface="Calibri" pitchFamily="34" charset="-120"/>
              </a:rPr>
              <a:t>queries a database or API</a:t>
            </a:r>
            <a:endParaRPr lang="en-US" sz="1100" dirty="0"/>
          </a:p>
        </p:txBody>
      </p:sp>
      <p:sp>
        <p:nvSpPr>
          <p:cNvPr id="37" name="Shape 33"/>
          <p:cNvSpPr/>
          <p:nvPr/>
        </p:nvSpPr>
        <p:spPr>
          <a:xfrm>
            <a:off x="5166360" y="2688336"/>
            <a:ext cx="3520440" cy="475488"/>
          </a:xfrm>
          <a:prstGeom prst="roundRect">
            <a:avLst>
              <a:gd name="adj" fmla="val 11538"/>
            </a:avLst>
          </a:prstGeom>
          <a:solidFill>
            <a:srgbClr val="C4621D">
              <a:alpha val="25000"/>
            </a:srgbClr>
          </a:solidFill>
          <a:ln w="6350">
            <a:solidFill>
              <a:srgbClr val="C4621D"/>
            </a:solidFill>
            <a:prstDash val="solid"/>
          </a:ln>
        </p:spPr>
      </p:sp>
      <p:pic>
        <p:nvPicPr>
          <p:cNvPr id="38" name="Image 2" descr="preencoded.png"/>
          <p:cNvPicPr>
            <a:picLocks noChangeAspect="1"/>
          </p:cNvPicPr>
          <p:nvPr/>
        </p:nvPicPr>
        <p:blipFill>
          <a:blip r:embed="rId5"/>
          <a:stretch>
            <a:fillRect/>
          </a:stretch>
        </p:blipFill>
        <p:spPr>
          <a:xfrm>
            <a:off x="5285232" y="2798064"/>
            <a:ext cx="256032" cy="256032"/>
          </a:xfrm>
          <a:prstGeom prst="rect">
            <a:avLst/>
          </a:prstGeom>
        </p:spPr>
      </p:pic>
      <p:sp>
        <p:nvSpPr>
          <p:cNvPr id="39" name="Text 34"/>
          <p:cNvSpPr txBox="1"/>
          <p:nvPr/>
        </p:nvSpPr>
        <p:spPr>
          <a:xfrm>
            <a:off x="5669280" y="268833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Agentic workflow  </a:t>
            </a:r>
            <a:r>
              <a:rPr lang="en-US" sz="950" dirty="0">
                <a:solidFill>
                  <a:srgbClr val="5E6964"/>
                </a:solidFill>
                <a:latin typeface="Calibri" pitchFamily="34" charset="0"/>
                <a:ea typeface="Calibri" pitchFamily="34" charset="-122"/>
                <a:cs typeface="Calibri" pitchFamily="34" charset="-120"/>
              </a:rPr>
              <a:t>runs steps you designed</a:t>
            </a:r>
            <a:endParaRPr lang="en-US" sz="1100" dirty="0"/>
          </a:p>
        </p:txBody>
      </p:sp>
      <p:sp>
        <p:nvSpPr>
          <p:cNvPr id="40" name="Shape 35"/>
          <p:cNvSpPr/>
          <p:nvPr/>
        </p:nvSpPr>
        <p:spPr>
          <a:xfrm>
            <a:off x="5166360" y="3236976"/>
            <a:ext cx="3520440" cy="475488"/>
          </a:xfrm>
          <a:prstGeom prst="roundRect">
            <a:avLst>
              <a:gd name="adj" fmla="val 11538"/>
            </a:avLst>
          </a:prstGeom>
          <a:solidFill>
            <a:srgbClr val="C4621D">
              <a:alpha val="40000"/>
            </a:srgbClr>
          </a:solidFill>
          <a:ln w="6350">
            <a:solidFill>
              <a:srgbClr val="C4621D"/>
            </a:solidFill>
            <a:prstDash val="solid"/>
          </a:ln>
        </p:spPr>
      </p:sp>
      <p:pic>
        <p:nvPicPr>
          <p:cNvPr id="41" name="Image 3" descr="preencoded.png"/>
          <p:cNvPicPr>
            <a:picLocks noChangeAspect="1"/>
          </p:cNvPicPr>
          <p:nvPr/>
        </p:nvPicPr>
        <p:blipFill>
          <a:blip r:embed="rId6"/>
          <a:stretch>
            <a:fillRect/>
          </a:stretch>
        </p:blipFill>
        <p:spPr>
          <a:xfrm>
            <a:off x="5285232" y="3346704"/>
            <a:ext cx="256032" cy="256032"/>
          </a:xfrm>
          <a:prstGeom prst="rect">
            <a:avLst/>
          </a:prstGeom>
        </p:spPr>
      </p:pic>
      <p:sp>
        <p:nvSpPr>
          <p:cNvPr id="42" name="Text 36"/>
          <p:cNvSpPr txBox="1"/>
          <p:nvPr/>
        </p:nvSpPr>
        <p:spPr>
          <a:xfrm>
            <a:off x="5669280" y="3236976"/>
            <a:ext cx="297180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Autonomous agent  </a:t>
            </a:r>
            <a:r>
              <a:rPr lang="en-US" sz="950" dirty="0">
                <a:solidFill>
                  <a:srgbClr val="5E6964"/>
                </a:solidFill>
                <a:latin typeface="Calibri" pitchFamily="34" charset="0"/>
                <a:ea typeface="Calibri" pitchFamily="34" charset="-122"/>
                <a:cs typeface="Calibri" pitchFamily="34" charset="-120"/>
              </a:rPr>
              <a:t>chooses its own steps</a:t>
            </a:r>
            <a:endParaRPr lang="en-US" sz="1100" dirty="0"/>
          </a:p>
        </p:txBody>
      </p:sp>
      <p:sp>
        <p:nvSpPr>
          <p:cNvPr id="43" name="Shape 37"/>
          <p:cNvSpPr/>
          <p:nvPr/>
        </p:nvSpPr>
        <p:spPr>
          <a:xfrm rot="10800000">
            <a:off x="4846320" y="1591056"/>
            <a:ext cx="201168" cy="2121408"/>
          </a:xfrm>
          <a:prstGeom prst="upArrow">
            <a:avLst/>
          </a:prstGeom>
          <a:solidFill>
            <a:srgbClr val="C4621D"/>
          </a:solidFill>
          <a:ln/>
        </p:spPr>
      </p:sp>
      <p:sp>
        <p:nvSpPr>
          <p:cNvPr id="44" name="Text 38"/>
          <p:cNvSpPr txBox="1"/>
          <p:nvPr/>
        </p:nvSpPr>
        <p:spPr>
          <a:xfrm>
            <a:off x="5166360" y="3785616"/>
            <a:ext cx="3520440" cy="182880"/>
          </a:xfrm>
          <a:prstGeom prst="rect">
            <a:avLst/>
          </a:prstGeom>
          <a:noFill/>
          <a:ln/>
        </p:spPr>
        <p:txBody>
          <a:bodyPr wrap="square" lIns="0" tIns="0" rIns="0" bIns="0" rtlCol="0" anchor="t"/>
          <a:lstStyle/>
          <a:p>
            <a:pPr marL="0" indent="0">
              <a:buNone/>
            </a:pPr>
            <a:r>
              <a:rPr lang="en-US" sz="900" i="1" dirty="0">
                <a:solidFill>
                  <a:srgbClr val="C4621D"/>
                </a:solidFill>
                <a:latin typeface="Calibri" pitchFamily="34" charset="0"/>
                <a:ea typeface="Calibri" pitchFamily="34" charset="-122"/>
                <a:cs typeface="Calibri" pitchFamily="34" charset="-120"/>
              </a:rPr>
              <a:t>increasing autonomy and risk ↓</a:t>
            </a:r>
            <a:endParaRPr lang="en-US" sz="900" dirty="0"/>
          </a:p>
        </p:txBody>
      </p:sp>
      <p:sp>
        <p:nvSpPr>
          <p:cNvPr id="45" name="Shape 39"/>
          <p:cNvSpPr/>
          <p:nvPr/>
        </p:nvSpPr>
        <p:spPr>
          <a:xfrm>
            <a:off x="4846320" y="4041648"/>
            <a:ext cx="3840480" cy="493776"/>
          </a:xfrm>
          <a:prstGeom prst="roundRect">
            <a:avLst>
              <a:gd name="adj" fmla="val 14815"/>
            </a:avLst>
          </a:prstGeom>
          <a:solidFill>
            <a:srgbClr val="F4F7F5"/>
          </a:solidFill>
          <a:ln w="15875">
            <a:solidFill>
              <a:srgbClr val="C4621D"/>
            </a:solidFill>
            <a:prstDash val="solid"/>
          </a:ln>
        </p:spPr>
      </p:sp>
      <p:sp>
        <p:nvSpPr>
          <p:cNvPr id="46" name="Text 40"/>
          <p:cNvSpPr txBox="1"/>
          <p:nvPr/>
        </p:nvSpPr>
        <p:spPr>
          <a:xfrm>
            <a:off x="4983480" y="4041648"/>
            <a:ext cx="3657600" cy="493776"/>
          </a:xfrm>
          <a:prstGeom prst="rect">
            <a:avLst/>
          </a:prstGeom>
          <a:noFill/>
          <a:ln/>
        </p:spPr>
        <p:txBody>
          <a:bodyPr wrap="square" lIns="0" tIns="0" rIns="0" bIns="0" rtlCol="0" anchor="ctr"/>
          <a:lstStyle/>
          <a:p>
            <a:pPr marL="0" indent="0">
              <a:buNone/>
            </a:pPr>
            <a:r>
              <a:rPr lang="en-US" sz="1100" b="1" dirty="0">
                <a:solidFill>
                  <a:srgbClr val="C4621D"/>
                </a:solidFill>
                <a:latin typeface="Calibri" pitchFamily="34" charset="0"/>
                <a:ea typeface="Calibri" pitchFamily="34" charset="-122"/>
                <a:cs typeface="Calibri" pitchFamily="34" charset="-120"/>
              </a:rPr>
              <a:t>“Agentic” </a:t>
            </a:r>
            <a:r>
              <a:rPr lang="en-US" sz="1100" dirty="0">
                <a:solidFill>
                  <a:srgbClr val="231F20"/>
                </a:solidFill>
                <a:latin typeface="Calibri" pitchFamily="34" charset="0"/>
                <a:ea typeface="Calibri" pitchFamily="34" charset="-122"/>
                <a:cs typeface="Calibri" pitchFamily="34" charset="-120"/>
              </a:rPr>
              <a:t>names an architecture, not a level of intelligence.</a:t>
            </a:r>
            <a:endParaRPr lang="en-US" sz="1100" dirty="0"/>
          </a:p>
        </p:txBody>
      </p:sp>
      <p:sp>
        <p:nvSpPr>
          <p:cNvPr id="47" name="Text 41"/>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Yao et al. (2023), “ReAct”, ICLR — the observe, reason, act loop.</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05  ·  ACTING: AGENTS, TOOLS AND MCP</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 tool call is a request; MCP is a standard plug</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C4621D"/>
          </a:solidFill>
          <a:ln/>
        </p:spPr>
      </p:sp>
      <p:sp>
        <p:nvSpPr>
          <p:cNvPr id="13" name="Shape 11"/>
          <p:cNvSpPr/>
          <p:nvPr/>
        </p:nvSpPr>
        <p:spPr>
          <a:xfrm>
            <a:off x="8549640" y="329184"/>
            <a:ext cx="100584" cy="100584"/>
          </a:xfrm>
          <a:prstGeom prst="ellipse">
            <a:avLst/>
          </a:prstGeom>
          <a:solidFill>
            <a:srgbClr val="D5DED9"/>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6" name="Shape 14"/>
          <p:cNvSpPr/>
          <p:nvPr/>
        </p:nvSpPr>
        <p:spPr>
          <a:xfrm>
            <a:off x="457200" y="1417320"/>
            <a:ext cx="1097280" cy="731520"/>
          </a:xfrm>
          <a:prstGeom prst="roundRect">
            <a:avLst>
              <a:gd name="adj" fmla="val 10000"/>
            </a:avLst>
          </a:prstGeom>
          <a:solidFill>
            <a:srgbClr val="00553A"/>
          </a:solidFill>
          <a:ln/>
        </p:spPr>
      </p:sp>
      <p:sp>
        <p:nvSpPr>
          <p:cNvPr id="17" name="Text 15"/>
          <p:cNvSpPr txBox="1"/>
          <p:nvPr/>
        </p:nvSpPr>
        <p:spPr>
          <a:xfrm>
            <a:off x="457200" y="1417320"/>
            <a:ext cx="109728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LLM</a:t>
            </a:r>
            <a:endParaRPr lang="en-US" sz="1100" dirty="0"/>
          </a:p>
          <a:p>
            <a:pPr marL="0" indent="0" algn="ctr">
              <a:buNone/>
            </a:pPr>
            <a:r>
              <a:rPr lang="en-US" sz="900" dirty="0">
                <a:solidFill>
                  <a:srgbClr val="FFFFFF"/>
                </a:solidFill>
                <a:latin typeface="Calibri" pitchFamily="34" charset="0"/>
                <a:ea typeface="Calibri" pitchFamily="34" charset="-122"/>
                <a:cs typeface="Calibri" pitchFamily="34" charset="-120"/>
              </a:rPr>
              <a:t>emits</a:t>
            </a:r>
            <a:endParaRPr lang="en-US" sz="1100" dirty="0"/>
          </a:p>
        </p:txBody>
      </p:sp>
      <p:sp>
        <p:nvSpPr>
          <p:cNvPr id="18" name="Shape 16"/>
          <p:cNvSpPr/>
          <p:nvPr/>
        </p:nvSpPr>
        <p:spPr>
          <a:xfrm>
            <a:off x="1600200" y="1783080"/>
            <a:ext cx="274320" cy="91"/>
          </a:xfrm>
          <a:prstGeom prst="line">
            <a:avLst/>
          </a:prstGeom>
          <a:noFill/>
          <a:ln w="15875">
            <a:solidFill>
              <a:srgbClr val="5E6964"/>
            </a:solidFill>
            <a:prstDash val="solid"/>
            <a:tailEnd type="triangle"/>
          </a:ln>
        </p:spPr>
      </p:sp>
      <p:sp>
        <p:nvSpPr>
          <p:cNvPr id="19" name="Shape 17"/>
          <p:cNvSpPr/>
          <p:nvPr/>
        </p:nvSpPr>
        <p:spPr>
          <a:xfrm>
            <a:off x="1920240" y="1417320"/>
            <a:ext cx="2514600" cy="731520"/>
          </a:xfrm>
          <a:prstGeom prst="roundRect">
            <a:avLst>
              <a:gd name="adj" fmla="val 7500"/>
            </a:avLst>
          </a:prstGeom>
          <a:solidFill>
            <a:srgbClr val="F2F2F2"/>
          </a:solidFill>
          <a:ln w="9525">
            <a:solidFill>
              <a:srgbClr val="D5DED9"/>
            </a:solidFill>
            <a:prstDash val="solid"/>
          </a:ln>
        </p:spPr>
      </p:sp>
      <p:sp>
        <p:nvSpPr>
          <p:cNvPr id="20" name="Text 18"/>
          <p:cNvSpPr txBox="1"/>
          <p:nvPr/>
        </p:nvSpPr>
        <p:spPr>
          <a:xfrm>
            <a:off x="2011680" y="1417320"/>
            <a:ext cx="2377440" cy="731520"/>
          </a:xfrm>
          <a:prstGeom prst="rect">
            <a:avLst/>
          </a:prstGeom>
          <a:noFill/>
          <a:ln/>
        </p:spPr>
        <p:txBody>
          <a:bodyPr wrap="square" lIns="0" tIns="0" rIns="0" bIns="0" rtlCol="0" anchor="ctr"/>
          <a:lstStyle/>
          <a:p>
            <a:pPr marL="0" indent="0">
              <a:buNone/>
            </a:pPr>
            <a:r>
              <a:rPr lang="en-US" sz="1000" dirty="0">
                <a:solidFill>
                  <a:srgbClr val="231F20"/>
                </a:solidFill>
                <a:latin typeface="Courier New" pitchFamily="34" charset="0"/>
                <a:ea typeface="Courier New" pitchFamily="34" charset="-122"/>
                <a:cs typeface="Courier New" pitchFamily="34" charset="-120"/>
              </a:rPr>
              <a:t>{ "tool": "read_table",</a:t>
            </a:r>
            <a:endParaRPr lang="en-US" sz="1000" dirty="0"/>
          </a:p>
          <a:p>
            <a:pPr marL="0" indent="0">
              <a:buNone/>
            </a:pPr>
            <a:r>
              <a:rPr lang="en-US" sz="1000" dirty="0">
                <a:solidFill>
                  <a:srgbClr val="231F20"/>
                </a:solidFill>
                <a:latin typeface="Courier New" pitchFamily="34" charset="0"/>
                <a:ea typeface="Courier New" pitchFamily="34" charset="-122"/>
                <a:cs typeface="Courier New" pitchFamily="34" charset="-120"/>
              </a:rPr>
              <a:t>  "region": "Sousse" }</a:t>
            </a:r>
            <a:endParaRPr lang="en-US" sz="1000" dirty="0"/>
          </a:p>
        </p:txBody>
      </p:sp>
      <p:sp>
        <p:nvSpPr>
          <p:cNvPr id="21" name="Shape 19"/>
          <p:cNvSpPr/>
          <p:nvPr/>
        </p:nvSpPr>
        <p:spPr>
          <a:xfrm>
            <a:off x="4480560" y="1783080"/>
            <a:ext cx="274320" cy="91"/>
          </a:xfrm>
          <a:prstGeom prst="line">
            <a:avLst/>
          </a:prstGeom>
          <a:noFill/>
          <a:ln w="15875">
            <a:solidFill>
              <a:srgbClr val="5E6964"/>
            </a:solidFill>
            <a:prstDash val="solid"/>
            <a:tailEnd type="triangle"/>
          </a:ln>
        </p:spPr>
      </p:sp>
      <p:sp>
        <p:nvSpPr>
          <p:cNvPr id="22" name="Shape 20"/>
          <p:cNvSpPr/>
          <p:nvPr/>
        </p:nvSpPr>
        <p:spPr>
          <a:xfrm>
            <a:off x="4800600" y="1417320"/>
            <a:ext cx="2103120" cy="731520"/>
          </a:xfrm>
          <a:prstGeom prst="roundRect">
            <a:avLst>
              <a:gd name="adj" fmla="val 10000"/>
            </a:avLst>
          </a:prstGeom>
          <a:solidFill>
            <a:srgbClr val="FBF3DE"/>
          </a:solidFill>
          <a:ln w="19050">
            <a:solidFill>
              <a:srgbClr val="D49A00"/>
            </a:solidFill>
            <a:prstDash val="solid"/>
          </a:ln>
        </p:spPr>
      </p:sp>
      <p:sp>
        <p:nvSpPr>
          <p:cNvPr id="23" name="Text 21"/>
          <p:cNvSpPr txBox="1"/>
          <p:nvPr/>
        </p:nvSpPr>
        <p:spPr>
          <a:xfrm>
            <a:off x="4846320" y="1417320"/>
            <a:ext cx="2011680" cy="731520"/>
          </a:xfrm>
          <a:prstGeom prst="rect">
            <a:avLst/>
          </a:prstGeom>
          <a:noFill/>
          <a:ln/>
        </p:spPr>
        <p:txBody>
          <a:bodyPr wrap="square" lIns="0" tIns="0" rIns="0" bIns="0" rtlCol="0" anchor="ctr"/>
          <a:lstStyle/>
          <a:p>
            <a:pPr marL="0" indent="0" algn="ctr">
              <a:buNone/>
            </a:pPr>
            <a:r>
              <a:rPr lang="en-US" sz="1200" b="1" dirty="0">
                <a:solidFill>
                  <a:srgbClr val="231F20"/>
                </a:solidFill>
                <a:latin typeface="Calibri" pitchFamily="34" charset="0"/>
                <a:ea typeface="Calibri" pitchFamily="34" charset="-122"/>
                <a:cs typeface="Calibri" pitchFamily="34" charset="-120"/>
              </a:rPr>
              <a:t>Your software</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checks permission, executes or refuses</a:t>
            </a:r>
            <a:endParaRPr lang="en-US" sz="1100" dirty="0"/>
          </a:p>
        </p:txBody>
      </p:sp>
      <p:sp>
        <p:nvSpPr>
          <p:cNvPr id="24" name="Shape 22"/>
          <p:cNvSpPr/>
          <p:nvPr/>
        </p:nvSpPr>
        <p:spPr>
          <a:xfrm>
            <a:off x="6949440" y="1783080"/>
            <a:ext cx="274320" cy="91"/>
          </a:xfrm>
          <a:prstGeom prst="line">
            <a:avLst/>
          </a:prstGeom>
          <a:noFill/>
          <a:ln w="15875">
            <a:solidFill>
              <a:srgbClr val="5E6964"/>
            </a:solidFill>
            <a:prstDash val="solid"/>
            <a:tailEnd type="triangle"/>
          </a:ln>
        </p:spPr>
      </p:sp>
      <p:sp>
        <p:nvSpPr>
          <p:cNvPr id="25" name="Shape 23"/>
          <p:cNvSpPr/>
          <p:nvPr/>
        </p:nvSpPr>
        <p:spPr>
          <a:xfrm>
            <a:off x="7269480" y="1417320"/>
            <a:ext cx="1417320" cy="731520"/>
          </a:xfrm>
          <a:prstGeom prst="roundRect">
            <a:avLst>
              <a:gd name="adj" fmla="val 10000"/>
            </a:avLst>
          </a:prstGeom>
          <a:solidFill>
            <a:srgbClr val="FFFFFF"/>
          </a:solidFill>
          <a:ln w="15875">
            <a:solidFill>
              <a:srgbClr val="0E7C86"/>
            </a:solidFill>
            <a:prstDash val="solid"/>
          </a:ln>
        </p:spPr>
      </p:sp>
      <p:pic>
        <p:nvPicPr>
          <p:cNvPr id="26" name="Image 0" descr="preencoded.png"/>
          <p:cNvPicPr>
            <a:picLocks noChangeAspect="1"/>
          </p:cNvPicPr>
          <p:nvPr/>
        </p:nvPicPr>
        <p:blipFill>
          <a:blip r:embed="rId3"/>
          <a:stretch>
            <a:fillRect/>
          </a:stretch>
        </p:blipFill>
        <p:spPr>
          <a:xfrm>
            <a:off x="7388352" y="1645920"/>
            <a:ext cx="274320" cy="274320"/>
          </a:xfrm>
          <a:prstGeom prst="rect">
            <a:avLst/>
          </a:prstGeom>
        </p:spPr>
      </p:pic>
      <p:sp>
        <p:nvSpPr>
          <p:cNvPr id="27" name="Text 24"/>
          <p:cNvSpPr txBox="1"/>
          <p:nvPr/>
        </p:nvSpPr>
        <p:spPr>
          <a:xfrm>
            <a:off x="7699248" y="1417320"/>
            <a:ext cx="960120" cy="731520"/>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System</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database</a:t>
            </a:r>
            <a:endParaRPr lang="en-US" sz="1100" dirty="0"/>
          </a:p>
        </p:txBody>
      </p:sp>
      <p:sp>
        <p:nvSpPr>
          <p:cNvPr id="28" name="Shape 25"/>
          <p:cNvSpPr/>
          <p:nvPr/>
        </p:nvSpPr>
        <p:spPr>
          <a:xfrm>
            <a:off x="7973568" y="2194560"/>
            <a:ext cx="91" cy="182880"/>
          </a:xfrm>
          <a:prstGeom prst="line">
            <a:avLst/>
          </a:prstGeom>
          <a:noFill/>
          <a:ln w="12700">
            <a:solidFill>
              <a:srgbClr val="0E7C86"/>
            </a:solidFill>
            <a:prstDash val="solid"/>
          </a:ln>
        </p:spPr>
      </p:sp>
      <p:sp>
        <p:nvSpPr>
          <p:cNvPr id="29" name="Shape 26"/>
          <p:cNvSpPr/>
          <p:nvPr/>
        </p:nvSpPr>
        <p:spPr>
          <a:xfrm flipH="1">
            <a:off x="1005840" y="2377440"/>
            <a:ext cx="6967728" cy="91"/>
          </a:xfrm>
          <a:prstGeom prst="line">
            <a:avLst/>
          </a:prstGeom>
          <a:noFill/>
          <a:ln w="12700">
            <a:solidFill>
              <a:srgbClr val="0E7C86"/>
            </a:solidFill>
            <a:prstDash val="solid"/>
          </a:ln>
        </p:spPr>
      </p:sp>
      <p:sp>
        <p:nvSpPr>
          <p:cNvPr id="30" name="Shape 27"/>
          <p:cNvSpPr/>
          <p:nvPr/>
        </p:nvSpPr>
        <p:spPr>
          <a:xfrm flipV="1">
            <a:off x="1005840" y="2194560"/>
            <a:ext cx="91" cy="182880"/>
          </a:xfrm>
          <a:prstGeom prst="line">
            <a:avLst/>
          </a:prstGeom>
          <a:noFill/>
          <a:ln w="12700">
            <a:solidFill>
              <a:srgbClr val="0E7C86"/>
            </a:solidFill>
            <a:prstDash val="solid"/>
            <a:tailEnd type="triangle"/>
          </a:ln>
        </p:spPr>
      </p:sp>
      <p:sp>
        <p:nvSpPr>
          <p:cNvPr id="31" name="Shape 28"/>
          <p:cNvSpPr/>
          <p:nvPr/>
        </p:nvSpPr>
        <p:spPr>
          <a:xfrm>
            <a:off x="3291840" y="2276856"/>
            <a:ext cx="2377440" cy="201168"/>
          </a:xfrm>
          <a:prstGeom prst="rect">
            <a:avLst/>
          </a:prstGeom>
          <a:solidFill>
            <a:srgbClr val="FFFFFF"/>
          </a:solidFill>
          <a:ln/>
        </p:spPr>
      </p:sp>
      <p:sp>
        <p:nvSpPr>
          <p:cNvPr id="32" name="Text 29"/>
          <p:cNvSpPr txBox="1"/>
          <p:nvPr/>
        </p:nvSpPr>
        <p:spPr>
          <a:xfrm>
            <a:off x="3291840" y="2276856"/>
            <a:ext cx="2377440" cy="201168"/>
          </a:xfrm>
          <a:prstGeom prst="rect">
            <a:avLst/>
          </a:prstGeom>
          <a:noFill/>
          <a:ln/>
        </p:spPr>
        <p:txBody>
          <a:bodyPr wrap="square" lIns="0" tIns="0" rIns="0" bIns="0" rtlCol="0" anchor="ctr"/>
          <a:lstStyle/>
          <a:p>
            <a:pPr marL="0" indent="0" algn="ctr">
              <a:buNone/>
            </a:pPr>
            <a:r>
              <a:rPr lang="en-US" sz="950" b="1" i="1" dirty="0">
                <a:solidFill>
                  <a:srgbClr val="0E7C86"/>
                </a:solidFill>
                <a:latin typeface="Calibri" pitchFamily="34" charset="0"/>
                <a:ea typeface="Calibri" pitchFamily="34" charset="-122"/>
                <a:cs typeface="Calibri" pitchFamily="34" charset="-120"/>
              </a:rPr>
              <a:t>the result goes back to the model</a:t>
            </a:r>
            <a:endParaRPr lang="en-US" sz="950" dirty="0"/>
          </a:p>
        </p:txBody>
      </p:sp>
      <p:sp>
        <p:nvSpPr>
          <p:cNvPr id="33" name="Shape 30"/>
          <p:cNvSpPr/>
          <p:nvPr/>
        </p:nvSpPr>
        <p:spPr>
          <a:xfrm>
            <a:off x="457200" y="2670048"/>
            <a:ext cx="4892040" cy="1865376"/>
          </a:xfrm>
          <a:prstGeom prst="roundRect">
            <a:avLst>
              <a:gd name="adj" fmla="val 3922"/>
            </a:avLst>
          </a:prstGeom>
          <a:solidFill>
            <a:srgbClr val="F4F7F5"/>
          </a:solidFill>
          <a:ln w="9525">
            <a:solidFill>
              <a:srgbClr val="D5DED9"/>
            </a:solidFill>
            <a:prstDash val="solid"/>
          </a:ln>
        </p:spPr>
      </p:sp>
      <p:sp>
        <p:nvSpPr>
          <p:cNvPr id="34" name="Text 31"/>
          <p:cNvSpPr txBox="1"/>
          <p:nvPr/>
        </p:nvSpPr>
        <p:spPr>
          <a:xfrm>
            <a:off x="640080" y="2761488"/>
            <a:ext cx="4389120" cy="201168"/>
          </a:xfrm>
          <a:prstGeom prst="rect">
            <a:avLst/>
          </a:prstGeom>
          <a:noFill/>
          <a:ln/>
        </p:spPr>
        <p:txBody>
          <a:bodyPr wrap="square" lIns="0" tIns="0" rIns="0" bIns="0" rtlCol="0" anchor="t"/>
          <a:lstStyle/>
          <a:p>
            <a:pPr marL="0" indent="0">
              <a:buNone/>
            </a:pPr>
            <a:r>
              <a:rPr lang="en-US" sz="950" b="1" kern="0" spc="200" dirty="0">
                <a:solidFill>
                  <a:srgbClr val="C4621D"/>
                </a:solidFill>
                <a:latin typeface="Calibri" pitchFamily="34" charset="0"/>
                <a:ea typeface="Calibri" pitchFamily="34" charset="-122"/>
                <a:cs typeface="Calibri" pitchFamily="34" charset="-120"/>
              </a:rPr>
              <a:t>MCP — MODEL CONTEXT PROTOCOL</a:t>
            </a:r>
            <a:endParaRPr lang="en-US" sz="950" dirty="0"/>
          </a:p>
        </p:txBody>
      </p:sp>
      <p:sp>
        <p:nvSpPr>
          <p:cNvPr id="35" name="Shape 32"/>
          <p:cNvSpPr/>
          <p:nvPr/>
        </p:nvSpPr>
        <p:spPr>
          <a:xfrm>
            <a:off x="685800" y="3291840"/>
            <a:ext cx="1554480" cy="822960"/>
          </a:xfrm>
          <a:prstGeom prst="roundRect">
            <a:avLst>
              <a:gd name="adj" fmla="val 8889"/>
            </a:avLst>
          </a:prstGeom>
          <a:solidFill>
            <a:srgbClr val="FFFFFF"/>
          </a:solidFill>
          <a:ln w="15875">
            <a:solidFill>
              <a:srgbClr val="C4621D"/>
            </a:solidFill>
            <a:prstDash val="solid"/>
          </a:ln>
        </p:spPr>
      </p:sp>
      <p:sp>
        <p:nvSpPr>
          <p:cNvPr id="36" name="Text 33"/>
          <p:cNvSpPr txBox="1"/>
          <p:nvPr/>
        </p:nvSpPr>
        <p:spPr>
          <a:xfrm>
            <a:off x="685800" y="3291840"/>
            <a:ext cx="1554480" cy="822960"/>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Host application</a:t>
            </a:r>
            <a:endParaRPr lang="en-US" sz="1100" dirty="0"/>
          </a:p>
          <a:p>
            <a:pPr marL="0" indent="0" algn="ctr">
              <a:buNone/>
            </a:pPr>
            <a:r>
              <a:rPr lang="en-US" sz="900" dirty="0">
                <a:solidFill>
                  <a:srgbClr val="5E6964"/>
                </a:solidFill>
                <a:latin typeface="Calibri" pitchFamily="34" charset="0"/>
                <a:ea typeface="Calibri" pitchFamily="34" charset="-122"/>
                <a:cs typeface="Calibri" pitchFamily="34" charset="-120"/>
              </a:rPr>
              <a:t>+ MCP client</a:t>
            </a:r>
            <a:endParaRPr lang="en-US" sz="1100" dirty="0"/>
          </a:p>
        </p:txBody>
      </p:sp>
      <p:sp>
        <p:nvSpPr>
          <p:cNvPr id="37" name="Shape 34"/>
          <p:cNvSpPr/>
          <p:nvPr/>
        </p:nvSpPr>
        <p:spPr>
          <a:xfrm>
            <a:off x="3017520" y="3035808"/>
            <a:ext cx="2148840" cy="384048"/>
          </a:xfrm>
          <a:prstGeom prst="roundRect">
            <a:avLst>
              <a:gd name="adj" fmla="val 14286"/>
            </a:avLst>
          </a:prstGeom>
          <a:solidFill>
            <a:srgbClr val="E8F5EF"/>
          </a:solidFill>
          <a:ln w="9525">
            <a:solidFill>
              <a:srgbClr val="00A86A"/>
            </a:solidFill>
            <a:prstDash val="solid"/>
          </a:ln>
        </p:spPr>
      </p:sp>
      <p:pic>
        <p:nvPicPr>
          <p:cNvPr id="38" name="Image 1" descr="preencoded.png"/>
          <p:cNvPicPr>
            <a:picLocks noChangeAspect="1"/>
          </p:cNvPicPr>
          <p:nvPr/>
        </p:nvPicPr>
        <p:blipFill>
          <a:blip r:embed="rId4"/>
          <a:stretch>
            <a:fillRect/>
          </a:stretch>
        </p:blipFill>
        <p:spPr>
          <a:xfrm>
            <a:off x="3108960" y="3127248"/>
            <a:ext cx="201168" cy="201168"/>
          </a:xfrm>
          <a:prstGeom prst="rect">
            <a:avLst/>
          </a:prstGeom>
        </p:spPr>
      </p:pic>
      <p:sp>
        <p:nvSpPr>
          <p:cNvPr id="39" name="Text 35"/>
          <p:cNvSpPr txBox="1"/>
          <p:nvPr/>
        </p:nvSpPr>
        <p:spPr>
          <a:xfrm>
            <a:off x="3383280" y="3035808"/>
            <a:ext cx="1755648"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Server: dissemination database</a:t>
            </a:r>
            <a:endParaRPr lang="en-US" sz="950" dirty="0"/>
          </a:p>
        </p:txBody>
      </p:sp>
      <p:sp>
        <p:nvSpPr>
          <p:cNvPr id="40" name="Shape 36"/>
          <p:cNvSpPr/>
          <p:nvPr/>
        </p:nvSpPr>
        <p:spPr>
          <a:xfrm flipV="1">
            <a:off x="2286000" y="3227832"/>
            <a:ext cx="704088" cy="475488"/>
          </a:xfrm>
          <a:prstGeom prst="line">
            <a:avLst/>
          </a:prstGeom>
          <a:noFill/>
          <a:ln w="12700">
            <a:solidFill>
              <a:srgbClr val="5E6964"/>
            </a:solidFill>
            <a:prstDash val="solid"/>
            <a:tailEnd type="triangle"/>
          </a:ln>
        </p:spPr>
      </p:sp>
      <p:sp>
        <p:nvSpPr>
          <p:cNvPr id="41" name="Shape 37"/>
          <p:cNvSpPr/>
          <p:nvPr/>
        </p:nvSpPr>
        <p:spPr>
          <a:xfrm>
            <a:off x="3017520" y="3511296"/>
            <a:ext cx="2148840" cy="384048"/>
          </a:xfrm>
          <a:prstGeom prst="roundRect">
            <a:avLst>
              <a:gd name="adj" fmla="val 14286"/>
            </a:avLst>
          </a:prstGeom>
          <a:solidFill>
            <a:srgbClr val="E8F5EF"/>
          </a:solidFill>
          <a:ln w="9525">
            <a:solidFill>
              <a:srgbClr val="00A86A"/>
            </a:solidFill>
            <a:prstDash val="solid"/>
          </a:ln>
        </p:spPr>
      </p:sp>
      <p:pic>
        <p:nvPicPr>
          <p:cNvPr id="42" name="Image 2" descr="preencoded.png"/>
          <p:cNvPicPr>
            <a:picLocks noChangeAspect="1"/>
          </p:cNvPicPr>
          <p:nvPr/>
        </p:nvPicPr>
        <p:blipFill>
          <a:blip r:embed="rId5"/>
          <a:stretch>
            <a:fillRect/>
          </a:stretch>
        </p:blipFill>
        <p:spPr>
          <a:xfrm>
            <a:off x="3108960" y="3602736"/>
            <a:ext cx="201168" cy="201168"/>
          </a:xfrm>
          <a:prstGeom prst="rect">
            <a:avLst/>
          </a:prstGeom>
        </p:spPr>
      </p:pic>
      <p:sp>
        <p:nvSpPr>
          <p:cNvPr id="43" name="Text 38"/>
          <p:cNvSpPr txBox="1"/>
          <p:nvPr/>
        </p:nvSpPr>
        <p:spPr>
          <a:xfrm>
            <a:off x="3383280" y="3511296"/>
            <a:ext cx="1755648"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Server: internal folders</a:t>
            </a:r>
            <a:endParaRPr lang="en-US" sz="950" dirty="0"/>
          </a:p>
        </p:txBody>
      </p:sp>
      <p:sp>
        <p:nvSpPr>
          <p:cNvPr id="44" name="Shape 39"/>
          <p:cNvSpPr/>
          <p:nvPr/>
        </p:nvSpPr>
        <p:spPr>
          <a:xfrm>
            <a:off x="2286000" y="3703320"/>
            <a:ext cx="704088" cy="91"/>
          </a:xfrm>
          <a:prstGeom prst="line">
            <a:avLst/>
          </a:prstGeom>
          <a:noFill/>
          <a:ln w="12700">
            <a:solidFill>
              <a:srgbClr val="5E6964"/>
            </a:solidFill>
            <a:prstDash val="solid"/>
            <a:tailEnd type="triangle"/>
          </a:ln>
        </p:spPr>
      </p:sp>
      <p:sp>
        <p:nvSpPr>
          <p:cNvPr id="45" name="Shape 40"/>
          <p:cNvSpPr/>
          <p:nvPr/>
        </p:nvSpPr>
        <p:spPr>
          <a:xfrm>
            <a:off x="3017520" y="3986784"/>
            <a:ext cx="2148840" cy="384048"/>
          </a:xfrm>
          <a:prstGeom prst="roundRect">
            <a:avLst>
              <a:gd name="adj" fmla="val 14286"/>
            </a:avLst>
          </a:prstGeom>
          <a:solidFill>
            <a:srgbClr val="E8F5EF"/>
          </a:solidFill>
          <a:ln w="9525">
            <a:solidFill>
              <a:srgbClr val="00A86A"/>
            </a:solidFill>
            <a:prstDash val="solid"/>
          </a:ln>
        </p:spPr>
      </p:sp>
      <p:pic>
        <p:nvPicPr>
          <p:cNvPr id="46" name="Image 3" descr="preencoded.png"/>
          <p:cNvPicPr>
            <a:picLocks noChangeAspect="1"/>
          </p:cNvPicPr>
          <p:nvPr/>
        </p:nvPicPr>
        <p:blipFill>
          <a:blip r:embed="rId6"/>
          <a:stretch>
            <a:fillRect/>
          </a:stretch>
        </p:blipFill>
        <p:spPr>
          <a:xfrm>
            <a:off x="3108960" y="4078224"/>
            <a:ext cx="201168" cy="201168"/>
          </a:xfrm>
          <a:prstGeom prst="rect">
            <a:avLst/>
          </a:prstGeom>
        </p:spPr>
      </p:pic>
      <p:sp>
        <p:nvSpPr>
          <p:cNvPr id="47" name="Text 41"/>
          <p:cNvSpPr txBox="1"/>
          <p:nvPr/>
        </p:nvSpPr>
        <p:spPr>
          <a:xfrm>
            <a:off x="3383280" y="3986784"/>
            <a:ext cx="1755648" cy="38404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Server: SDMX API</a:t>
            </a:r>
            <a:endParaRPr lang="en-US" sz="950" dirty="0"/>
          </a:p>
        </p:txBody>
      </p:sp>
      <p:sp>
        <p:nvSpPr>
          <p:cNvPr id="48" name="Shape 42"/>
          <p:cNvSpPr/>
          <p:nvPr/>
        </p:nvSpPr>
        <p:spPr>
          <a:xfrm>
            <a:off x="2286000" y="3703320"/>
            <a:ext cx="704088" cy="475488"/>
          </a:xfrm>
          <a:prstGeom prst="line">
            <a:avLst/>
          </a:prstGeom>
          <a:noFill/>
          <a:ln w="12700">
            <a:solidFill>
              <a:srgbClr val="5E6964"/>
            </a:solidFill>
            <a:prstDash val="solid"/>
            <a:tailEnd type="triangle"/>
          </a:ln>
        </p:spPr>
      </p:sp>
      <p:sp>
        <p:nvSpPr>
          <p:cNvPr id="49" name="Shape 43"/>
          <p:cNvSpPr/>
          <p:nvPr/>
        </p:nvSpPr>
        <p:spPr>
          <a:xfrm>
            <a:off x="5577840" y="2670048"/>
            <a:ext cx="3108960" cy="1865376"/>
          </a:xfrm>
          <a:prstGeom prst="roundRect">
            <a:avLst>
              <a:gd name="adj" fmla="val 3922"/>
            </a:avLst>
          </a:prstGeom>
          <a:solidFill>
            <a:srgbClr val="E8F5EF"/>
          </a:solidFill>
          <a:ln w="15875">
            <a:solidFill>
              <a:srgbClr val="00A86A"/>
            </a:solidFill>
            <a:prstDash val="solid"/>
          </a:ln>
        </p:spPr>
      </p:sp>
      <p:sp>
        <p:nvSpPr>
          <p:cNvPr id="50" name="Text 44"/>
          <p:cNvSpPr txBox="1"/>
          <p:nvPr/>
        </p:nvSpPr>
        <p:spPr>
          <a:xfrm>
            <a:off x="5742432" y="2761488"/>
            <a:ext cx="2743200" cy="201168"/>
          </a:xfrm>
          <a:prstGeom prst="rect">
            <a:avLst/>
          </a:prstGeom>
          <a:noFill/>
          <a:ln/>
        </p:spPr>
        <p:txBody>
          <a:bodyPr wrap="square" lIns="0" tIns="0" rIns="0" bIns="0" rtlCol="0" anchor="t"/>
          <a:lstStyle/>
          <a:p>
            <a:pPr marL="0" indent="0">
              <a:buNone/>
            </a:pPr>
            <a:r>
              <a:rPr lang="en-US" sz="950" b="1" kern="0" spc="200" dirty="0">
                <a:solidFill>
                  <a:srgbClr val="00704A"/>
                </a:solidFill>
                <a:latin typeface="Calibri" pitchFamily="34" charset="0"/>
                <a:ea typeface="Calibri" pitchFamily="34" charset="-122"/>
                <a:cs typeface="Calibri" pitchFamily="34" charset="-120"/>
              </a:rPr>
              <a:t>MCP IN BRIEF</a:t>
            </a:r>
            <a:endParaRPr lang="en-US" sz="950" dirty="0"/>
          </a:p>
        </p:txBody>
      </p:sp>
      <p:sp>
        <p:nvSpPr>
          <p:cNvPr id="51" name="Text 45"/>
          <p:cNvSpPr txBox="1"/>
          <p:nvPr/>
        </p:nvSpPr>
        <p:spPr>
          <a:xfrm>
            <a:off x="5742432" y="2999232"/>
            <a:ext cx="2834640" cy="1481328"/>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Open standard published by Anthropic in November 2024.</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Donated in December 2025 to the Agentic AI Foundation (Linux Foundation).</a:t>
            </a:r>
            <a:endParaRPr lang="en-US" sz="1050" dirty="0"/>
          </a:p>
          <a:p>
            <a:pPr marL="342900" indent="-342900">
              <a:spcAft>
                <a:spcPts val="300"/>
              </a:spcAft>
              <a:buSzPct val="100000"/>
              <a:buChar char="•"/>
            </a:pPr>
            <a:r>
              <a:rPr lang="en-US" sz="1050" dirty="0">
                <a:solidFill>
                  <a:srgbClr val="231F20"/>
                </a:solidFill>
                <a:latin typeface="Calibri" pitchFamily="34" charset="0"/>
                <a:ea typeface="Calibri" pitchFamily="34" charset="-122"/>
                <a:cs typeface="Calibri" pitchFamily="34" charset="-120"/>
              </a:rPr>
              <a:t>Current specification: version 2026-07-28.</a:t>
            </a:r>
            <a:endParaRPr lang="en-US" sz="1050" dirty="0"/>
          </a:p>
          <a:p>
            <a:pPr marL="342900" indent="-342900">
              <a:spcAft>
                <a:spcPts val="300"/>
              </a:spcAft>
              <a:buSzPct val="100000"/>
              <a:buChar char="•"/>
            </a:pPr>
            <a:r>
              <a:rPr lang="en-US" sz="1050" b="1" dirty="0">
                <a:solidFill>
                  <a:srgbClr val="C4621D"/>
                </a:solidFill>
                <a:latin typeface="Calibri" pitchFamily="34" charset="0"/>
                <a:ea typeface="Calibri" pitchFamily="34" charset="-122"/>
                <a:cs typeface="Calibri" pitchFamily="34" charset="-120"/>
              </a:rPr>
              <a:t>Confers neither intelligence nor authorisation.</a:t>
            </a:r>
            <a:endParaRPr lang="en-US" sz="1050" dirty="0"/>
          </a:p>
        </p:txBody>
      </p:sp>
      <p:sp>
        <p:nvSpPr>
          <p:cNvPr id="52" name="Text 46"/>
          <p:cNvSpPr txBox="1"/>
          <p:nvPr/>
        </p:nvSpPr>
        <p:spPr>
          <a:xfrm>
            <a:off x="457200" y="4608576"/>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Attack surface = the list of tools you expose. Exposing a tool is an act of governance · modelcontextprotocol.io (accessed Sept. 2026).</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06</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06</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For official statistics</a:t>
            </a:r>
            <a:endParaRPr lang="en-US" sz="32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What can each concept — and what can't it — do for you?</a:t>
            </a:r>
            <a:endParaRPr lang="en-US" sz="1600" dirty="0"/>
          </a:p>
        </p:txBody>
      </p:sp>
      <p:sp>
        <p:nvSpPr>
          <p:cNvPr id="6" name="Shape 4"/>
          <p:cNvSpPr/>
          <p:nvPr/>
        </p:nvSpPr>
        <p:spPr>
          <a:xfrm>
            <a:off x="548640" y="4160520"/>
            <a:ext cx="100584" cy="100584"/>
          </a:xfrm>
          <a:prstGeom prst="ellipse">
            <a:avLst/>
          </a:prstGeom>
          <a:solidFill>
            <a:srgbClr val="FFFFFF">
              <a:alpha val="40000"/>
            </a:srgbClr>
          </a:solidFill>
          <a:ln/>
        </p:spPr>
      </p:sp>
      <p:sp>
        <p:nvSpPr>
          <p:cNvPr id="7" name="Shape 5"/>
          <p:cNvSpPr/>
          <p:nvPr/>
        </p:nvSpPr>
        <p:spPr>
          <a:xfrm>
            <a:off x="731520" y="4160520"/>
            <a:ext cx="100584" cy="100584"/>
          </a:xfrm>
          <a:prstGeom prst="ellipse">
            <a:avLst/>
          </a:prstGeom>
          <a:solidFill>
            <a:srgbClr val="FFFFFF">
              <a:alpha val="40000"/>
            </a:srgbClr>
          </a:solidFill>
          <a:ln/>
        </p:spPr>
      </p:sp>
      <p:sp>
        <p:nvSpPr>
          <p:cNvPr id="8" name="Shape 6"/>
          <p:cNvSpPr/>
          <p:nvPr/>
        </p:nvSpPr>
        <p:spPr>
          <a:xfrm>
            <a:off x="914400" y="4160520"/>
            <a:ext cx="100584" cy="100584"/>
          </a:xfrm>
          <a:prstGeom prst="ellipse">
            <a:avLst/>
          </a:prstGeom>
          <a:solidFill>
            <a:srgbClr val="FFFFFF">
              <a:alpha val="40000"/>
            </a:srgbClr>
          </a:solidFill>
          <a:ln/>
        </p:spPr>
      </p:sp>
      <p:sp>
        <p:nvSpPr>
          <p:cNvPr id="9" name="Shape 7"/>
          <p:cNvSpPr/>
          <p:nvPr/>
        </p:nvSpPr>
        <p:spPr>
          <a:xfrm>
            <a:off x="1097280" y="4160520"/>
            <a:ext cx="100584" cy="100584"/>
          </a:xfrm>
          <a:prstGeom prst="ellipse">
            <a:avLst/>
          </a:prstGeom>
          <a:solidFill>
            <a:srgbClr val="FFFFFF">
              <a:alpha val="40000"/>
            </a:srgbClr>
          </a:solidFill>
          <a:ln/>
        </p:spPr>
      </p:sp>
      <p:sp>
        <p:nvSpPr>
          <p:cNvPr id="10" name="Shape 8"/>
          <p:cNvSpPr/>
          <p:nvPr/>
        </p:nvSpPr>
        <p:spPr>
          <a:xfrm>
            <a:off x="1280160" y="4160520"/>
            <a:ext cx="100584" cy="100584"/>
          </a:xfrm>
          <a:prstGeom prst="ellipse">
            <a:avLst/>
          </a:prstGeom>
          <a:solidFill>
            <a:srgbClr val="FFFFFF">
              <a:alpha val="40000"/>
            </a:srgbClr>
          </a:solidFill>
          <a:ln/>
        </p:spPr>
      </p:sp>
      <p:sp>
        <p:nvSpPr>
          <p:cNvPr id="11" name="Shape 9"/>
          <p:cNvSpPr/>
          <p:nvPr/>
        </p:nvSpPr>
        <p:spPr>
          <a:xfrm>
            <a:off x="1463040" y="4160520"/>
            <a:ext cx="100584" cy="100584"/>
          </a:xfrm>
          <a:prstGeom prst="ellipse">
            <a:avLst/>
          </a:prstGeom>
          <a:solidFill>
            <a:srgbClr val="F5C242"/>
          </a:solidFill>
          <a:ln/>
        </p:spPr>
      </p:sp>
      <p:sp>
        <p:nvSpPr>
          <p:cNvPr id="12" name="Shape 10"/>
          <p:cNvSpPr/>
          <p:nvPr/>
        </p:nvSpPr>
        <p:spPr>
          <a:xfrm>
            <a:off x="6400800" y="2011680"/>
            <a:ext cx="1097280" cy="1097280"/>
          </a:xfrm>
          <a:prstGeom prst="ellipse">
            <a:avLst/>
          </a:prstGeom>
          <a:solidFill>
            <a:srgbClr val="FFFFFF"/>
          </a:solidFill>
          <a:ln/>
        </p:spPr>
      </p:sp>
      <p:pic>
        <p:nvPicPr>
          <p:cNvPr id="13"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What each concept can — and cannot — do for you</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25</a:t>
            </a:r>
            <a:endParaRPr lang="en-US" sz="850" dirty="0"/>
          </a:p>
        </p:txBody>
      </p:sp>
      <p:sp>
        <p:nvSpPr>
          <p:cNvPr id="16" name="Text 14"/>
          <p:cNvSpPr txBox="1"/>
          <p:nvPr/>
        </p:nvSpPr>
        <p:spPr>
          <a:xfrm>
            <a:off x="548640" y="1325880"/>
            <a:ext cx="1463040" cy="256032"/>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Concept</a:t>
            </a:r>
            <a:endParaRPr lang="en-US" sz="1100" dirty="0"/>
          </a:p>
        </p:txBody>
      </p:sp>
      <p:sp>
        <p:nvSpPr>
          <p:cNvPr id="17" name="Text 15"/>
          <p:cNvSpPr txBox="1"/>
          <p:nvPr/>
        </p:nvSpPr>
        <p:spPr>
          <a:xfrm>
            <a:off x="2103120" y="1325880"/>
            <a:ext cx="3246120" cy="256032"/>
          </a:xfrm>
          <a:prstGeom prst="rect">
            <a:avLst/>
          </a:prstGeom>
          <a:noFill/>
          <a:ln/>
        </p:spPr>
        <p:txBody>
          <a:bodyPr wrap="square" lIns="0" tIns="0" rIns="0" bIns="0" rtlCol="0" anchor="ctr"/>
          <a:lstStyle/>
          <a:p>
            <a:pPr marL="0" indent="0">
              <a:buNone/>
            </a:pPr>
            <a:r>
              <a:rPr lang="en-US" sz="1100" b="1" dirty="0">
                <a:solidFill>
                  <a:srgbClr val="00A86A"/>
                </a:solidFill>
                <a:latin typeface="Calibri" pitchFamily="34" charset="0"/>
                <a:ea typeface="Calibri" pitchFamily="34" charset="-122"/>
                <a:cs typeface="Calibri" pitchFamily="34" charset="-120"/>
              </a:rPr>
              <a:t>Can help you…</a:t>
            </a:r>
            <a:endParaRPr lang="en-US" sz="1100" dirty="0"/>
          </a:p>
        </p:txBody>
      </p:sp>
      <p:sp>
        <p:nvSpPr>
          <p:cNvPr id="18" name="Text 16"/>
          <p:cNvSpPr txBox="1"/>
          <p:nvPr/>
        </p:nvSpPr>
        <p:spPr>
          <a:xfrm>
            <a:off x="5440680" y="1325880"/>
            <a:ext cx="3337560" cy="256032"/>
          </a:xfrm>
          <a:prstGeom prst="rect">
            <a:avLst/>
          </a:prstGeom>
          <a:noFill/>
          <a:ln/>
        </p:spPr>
        <p:txBody>
          <a:bodyPr wrap="square" lIns="0" tIns="0" rIns="0" bIns="0" rtlCol="0" anchor="ctr"/>
          <a:lstStyle/>
          <a:p>
            <a:pPr marL="0" indent="0">
              <a:buNone/>
            </a:pPr>
            <a:r>
              <a:rPr lang="en-US" sz="1100" b="1" dirty="0">
                <a:solidFill>
                  <a:srgbClr val="B83B2E"/>
                </a:solidFill>
                <a:latin typeface="Calibri" pitchFamily="34" charset="0"/>
                <a:ea typeface="Calibri" pitchFamily="34" charset="-122"/>
                <a:cs typeface="Calibri" pitchFamily="34" charset="-120"/>
              </a:rPr>
              <a:t>Cannot…</a:t>
            </a:r>
            <a:endParaRPr lang="en-US" sz="1100" dirty="0"/>
          </a:p>
        </p:txBody>
      </p:sp>
      <p:sp>
        <p:nvSpPr>
          <p:cNvPr id="19" name="Shape 17"/>
          <p:cNvSpPr/>
          <p:nvPr/>
        </p:nvSpPr>
        <p:spPr>
          <a:xfrm>
            <a:off x="457200" y="1627632"/>
            <a:ext cx="8229600" cy="365760"/>
          </a:xfrm>
          <a:prstGeom prst="roundRect">
            <a:avLst>
              <a:gd name="adj" fmla="val 12500"/>
            </a:avLst>
          </a:prstGeom>
          <a:solidFill>
            <a:srgbClr val="F4F7F5"/>
          </a:solidFill>
          <a:ln w="6350">
            <a:solidFill>
              <a:srgbClr val="D5DED9"/>
            </a:solidFill>
            <a:prstDash val="solid"/>
          </a:ln>
        </p:spPr>
      </p:sp>
      <p:sp>
        <p:nvSpPr>
          <p:cNvPr id="20" name="Shape 18"/>
          <p:cNvSpPr/>
          <p:nvPr/>
        </p:nvSpPr>
        <p:spPr>
          <a:xfrm>
            <a:off x="566928" y="1746504"/>
            <a:ext cx="128016" cy="128016"/>
          </a:xfrm>
          <a:prstGeom prst="ellipse">
            <a:avLst/>
          </a:prstGeom>
          <a:solidFill>
            <a:srgbClr val="5E6964"/>
          </a:solidFill>
          <a:ln/>
        </p:spPr>
      </p:sp>
      <p:sp>
        <p:nvSpPr>
          <p:cNvPr id="21" name="Text 19"/>
          <p:cNvSpPr txBox="1"/>
          <p:nvPr/>
        </p:nvSpPr>
        <p:spPr>
          <a:xfrm>
            <a:off x="777240" y="1627632"/>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AGI</a:t>
            </a:r>
            <a:endParaRPr lang="en-US" sz="1150" dirty="0"/>
          </a:p>
        </p:txBody>
      </p:sp>
      <p:sp>
        <p:nvSpPr>
          <p:cNvPr id="22" name="Text 20"/>
          <p:cNvSpPr txBox="1"/>
          <p:nvPr/>
        </p:nvSpPr>
        <p:spPr>
          <a:xfrm>
            <a:off x="2103120" y="1627632"/>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nothing operational today: it is a research horizon</a:t>
            </a:r>
            <a:endParaRPr lang="en-US" sz="1000" dirty="0"/>
          </a:p>
        </p:txBody>
      </p:sp>
      <p:sp>
        <p:nvSpPr>
          <p:cNvPr id="23" name="Text 21"/>
          <p:cNvSpPr txBox="1"/>
          <p:nvPr/>
        </p:nvSpPr>
        <p:spPr>
          <a:xfrm>
            <a:off x="5440680" y="1627632"/>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serve as a procurement or planning criterion</a:t>
            </a:r>
            <a:endParaRPr lang="en-US" sz="1000" dirty="0"/>
          </a:p>
        </p:txBody>
      </p:sp>
      <p:sp>
        <p:nvSpPr>
          <p:cNvPr id="24" name="Shape 22"/>
          <p:cNvSpPr/>
          <p:nvPr/>
        </p:nvSpPr>
        <p:spPr>
          <a:xfrm>
            <a:off x="457200" y="2043684"/>
            <a:ext cx="8229600" cy="365760"/>
          </a:xfrm>
          <a:prstGeom prst="roundRect">
            <a:avLst>
              <a:gd name="adj" fmla="val 12500"/>
            </a:avLst>
          </a:prstGeom>
          <a:solidFill>
            <a:srgbClr val="FFFFFF"/>
          </a:solidFill>
          <a:ln w="6350">
            <a:solidFill>
              <a:srgbClr val="D5DED9"/>
            </a:solidFill>
            <a:prstDash val="solid"/>
          </a:ln>
        </p:spPr>
      </p:sp>
      <p:sp>
        <p:nvSpPr>
          <p:cNvPr id="25" name="Shape 23"/>
          <p:cNvSpPr/>
          <p:nvPr/>
        </p:nvSpPr>
        <p:spPr>
          <a:xfrm>
            <a:off x="566928" y="2162556"/>
            <a:ext cx="128016" cy="128016"/>
          </a:xfrm>
          <a:prstGeom prst="ellipse">
            <a:avLst/>
          </a:prstGeom>
          <a:solidFill>
            <a:srgbClr val="00704A"/>
          </a:solidFill>
          <a:ln/>
        </p:spPr>
      </p:sp>
      <p:sp>
        <p:nvSpPr>
          <p:cNvPr id="26" name="Text 24"/>
          <p:cNvSpPr txBox="1"/>
          <p:nvPr/>
        </p:nvSpPr>
        <p:spPr>
          <a:xfrm>
            <a:off x="777240" y="2043684"/>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LLM</a:t>
            </a:r>
            <a:endParaRPr lang="en-US" sz="1150" dirty="0"/>
          </a:p>
        </p:txBody>
      </p:sp>
      <p:sp>
        <p:nvSpPr>
          <p:cNvPr id="27" name="Text 25"/>
          <p:cNvSpPr txBox="1"/>
          <p:nvPr/>
        </p:nvSpPr>
        <p:spPr>
          <a:xfrm>
            <a:off x="2103120" y="2043684"/>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draft, translate, summarise, propose code for review</a:t>
            </a:r>
            <a:endParaRPr lang="en-US" sz="1000" dirty="0"/>
          </a:p>
        </p:txBody>
      </p:sp>
      <p:sp>
        <p:nvSpPr>
          <p:cNvPr id="28" name="Text 26"/>
          <p:cNvSpPr txBox="1"/>
          <p:nvPr/>
        </p:nvSpPr>
        <p:spPr>
          <a:xfrm>
            <a:off x="5440680" y="2043684"/>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produce a publishable figure or guarantee its source</a:t>
            </a:r>
            <a:endParaRPr lang="en-US" sz="1000" dirty="0"/>
          </a:p>
        </p:txBody>
      </p:sp>
      <p:sp>
        <p:nvSpPr>
          <p:cNvPr id="29" name="Shape 27"/>
          <p:cNvSpPr/>
          <p:nvPr/>
        </p:nvSpPr>
        <p:spPr>
          <a:xfrm>
            <a:off x="457200" y="2459736"/>
            <a:ext cx="8229600" cy="365760"/>
          </a:xfrm>
          <a:prstGeom prst="roundRect">
            <a:avLst>
              <a:gd name="adj" fmla="val 12500"/>
            </a:avLst>
          </a:prstGeom>
          <a:solidFill>
            <a:srgbClr val="F4F7F5"/>
          </a:solidFill>
          <a:ln w="6350">
            <a:solidFill>
              <a:srgbClr val="D5DED9"/>
            </a:solidFill>
            <a:prstDash val="solid"/>
          </a:ln>
        </p:spPr>
      </p:sp>
      <p:sp>
        <p:nvSpPr>
          <p:cNvPr id="30" name="Shape 28"/>
          <p:cNvSpPr/>
          <p:nvPr/>
        </p:nvSpPr>
        <p:spPr>
          <a:xfrm>
            <a:off x="566928" y="2578608"/>
            <a:ext cx="128016" cy="128016"/>
          </a:xfrm>
          <a:prstGeom prst="ellipse">
            <a:avLst/>
          </a:prstGeom>
          <a:solidFill>
            <a:srgbClr val="00A86A"/>
          </a:solidFill>
          <a:ln/>
        </p:spPr>
      </p:sp>
      <p:sp>
        <p:nvSpPr>
          <p:cNvPr id="31" name="Text 29"/>
          <p:cNvSpPr txBox="1"/>
          <p:nvPr/>
        </p:nvSpPr>
        <p:spPr>
          <a:xfrm>
            <a:off x="777240" y="2459736"/>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Prompt</a:t>
            </a:r>
            <a:endParaRPr lang="en-US" sz="1150" dirty="0"/>
          </a:p>
        </p:txBody>
      </p:sp>
      <p:sp>
        <p:nvSpPr>
          <p:cNvPr id="32" name="Text 30"/>
          <p:cNvSpPr txBox="1"/>
          <p:nvPr/>
        </p:nvSpPr>
        <p:spPr>
          <a:xfrm>
            <a:off x="2103120" y="2459736"/>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set the format, tone and limits of a task</a:t>
            </a:r>
            <a:endParaRPr lang="en-US" sz="1000" dirty="0"/>
          </a:p>
        </p:txBody>
      </p:sp>
      <p:sp>
        <p:nvSpPr>
          <p:cNvPr id="33" name="Text 31"/>
          <p:cNvSpPr txBox="1"/>
          <p:nvPr/>
        </p:nvSpPr>
        <p:spPr>
          <a:xfrm>
            <a:off x="5440680" y="2459736"/>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add knowledge to the model</a:t>
            </a:r>
            <a:endParaRPr lang="en-US" sz="1000" dirty="0"/>
          </a:p>
        </p:txBody>
      </p:sp>
      <p:sp>
        <p:nvSpPr>
          <p:cNvPr id="34" name="Shape 32"/>
          <p:cNvSpPr/>
          <p:nvPr/>
        </p:nvSpPr>
        <p:spPr>
          <a:xfrm>
            <a:off x="457200" y="2875788"/>
            <a:ext cx="8229600" cy="365760"/>
          </a:xfrm>
          <a:prstGeom prst="roundRect">
            <a:avLst>
              <a:gd name="adj" fmla="val 12500"/>
            </a:avLst>
          </a:prstGeom>
          <a:solidFill>
            <a:srgbClr val="FFFFFF"/>
          </a:solidFill>
          <a:ln w="6350">
            <a:solidFill>
              <a:srgbClr val="D5DED9"/>
            </a:solidFill>
            <a:prstDash val="solid"/>
          </a:ln>
        </p:spPr>
      </p:sp>
      <p:sp>
        <p:nvSpPr>
          <p:cNvPr id="35" name="Shape 33"/>
          <p:cNvSpPr/>
          <p:nvPr/>
        </p:nvSpPr>
        <p:spPr>
          <a:xfrm>
            <a:off x="566928" y="2994660"/>
            <a:ext cx="128016" cy="128016"/>
          </a:xfrm>
          <a:prstGeom prst="ellipse">
            <a:avLst/>
          </a:prstGeom>
          <a:solidFill>
            <a:srgbClr val="0E7C86"/>
          </a:solidFill>
          <a:ln/>
        </p:spPr>
      </p:sp>
      <p:sp>
        <p:nvSpPr>
          <p:cNvPr id="36" name="Text 34"/>
          <p:cNvSpPr txBox="1"/>
          <p:nvPr/>
        </p:nvSpPr>
        <p:spPr>
          <a:xfrm>
            <a:off x="777240" y="2875788"/>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RAG</a:t>
            </a:r>
            <a:endParaRPr lang="en-US" sz="1150" dirty="0"/>
          </a:p>
        </p:txBody>
      </p:sp>
      <p:sp>
        <p:nvSpPr>
          <p:cNvPr id="37" name="Text 35"/>
          <p:cNvSpPr txBox="1"/>
          <p:nvPr/>
        </p:nvSpPr>
        <p:spPr>
          <a:xfrm>
            <a:off x="2103120" y="2875788"/>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answer from your reports, citing the source</a:t>
            </a:r>
            <a:endParaRPr lang="en-US" sz="1000" dirty="0"/>
          </a:p>
        </p:txBody>
      </p:sp>
      <p:sp>
        <p:nvSpPr>
          <p:cNvPr id="38" name="Text 36"/>
          <p:cNvSpPr txBox="1"/>
          <p:nvPr/>
        </p:nvSpPr>
        <p:spPr>
          <a:xfrm>
            <a:off x="5440680" y="2875788"/>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fix documents that are wrong or badly chunked</a:t>
            </a:r>
            <a:endParaRPr lang="en-US" sz="1000" dirty="0"/>
          </a:p>
        </p:txBody>
      </p:sp>
      <p:sp>
        <p:nvSpPr>
          <p:cNvPr id="39" name="Shape 3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40" name="Shape 38"/>
          <p:cNvSpPr/>
          <p:nvPr/>
        </p:nvSpPr>
        <p:spPr>
          <a:xfrm>
            <a:off x="566928" y="3410712"/>
            <a:ext cx="128016" cy="128016"/>
          </a:xfrm>
          <a:prstGeom prst="ellipse">
            <a:avLst/>
          </a:prstGeom>
          <a:solidFill>
            <a:srgbClr val="D49A00"/>
          </a:solidFill>
          <a:ln/>
        </p:spPr>
      </p:sp>
      <p:sp>
        <p:nvSpPr>
          <p:cNvPr id="41" name="Text 39"/>
          <p:cNvSpPr txBox="1"/>
          <p:nvPr/>
        </p:nvSpPr>
        <p:spPr>
          <a:xfrm>
            <a:off x="777240" y="3291840"/>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Fine-tuning</a:t>
            </a:r>
            <a:endParaRPr lang="en-US" sz="1150" dirty="0"/>
          </a:p>
        </p:txBody>
      </p:sp>
      <p:sp>
        <p:nvSpPr>
          <p:cNvPr id="42" name="Text 40"/>
          <p:cNvSpPr txBox="1"/>
          <p:nvPr/>
        </p:nvSpPr>
        <p:spPr>
          <a:xfrm>
            <a:off x="2103120" y="3291840"/>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learn your house style and conventions</a:t>
            </a:r>
            <a:endParaRPr lang="en-US" sz="1000" dirty="0"/>
          </a:p>
        </p:txBody>
      </p:sp>
      <p:sp>
        <p:nvSpPr>
          <p:cNvPr id="43" name="Text 41"/>
          <p:cNvSpPr txBox="1"/>
          <p:nvPr/>
        </p:nvSpPr>
        <p:spPr>
          <a:xfrm>
            <a:off x="5440680" y="3291840"/>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install facts reliably and attributably</a:t>
            </a:r>
            <a:endParaRPr lang="en-US" sz="1000" dirty="0"/>
          </a:p>
        </p:txBody>
      </p:sp>
      <p:sp>
        <p:nvSpPr>
          <p:cNvPr id="44" name="Shape 42"/>
          <p:cNvSpPr/>
          <p:nvPr/>
        </p:nvSpPr>
        <p:spPr>
          <a:xfrm>
            <a:off x="457200" y="3707892"/>
            <a:ext cx="8229600" cy="365760"/>
          </a:xfrm>
          <a:prstGeom prst="roundRect">
            <a:avLst>
              <a:gd name="adj" fmla="val 12500"/>
            </a:avLst>
          </a:prstGeom>
          <a:solidFill>
            <a:srgbClr val="FFFFFF"/>
          </a:solidFill>
          <a:ln w="6350">
            <a:solidFill>
              <a:srgbClr val="D5DED9"/>
            </a:solidFill>
            <a:prstDash val="solid"/>
          </a:ln>
        </p:spPr>
      </p:sp>
      <p:sp>
        <p:nvSpPr>
          <p:cNvPr id="45" name="Shape 43"/>
          <p:cNvSpPr/>
          <p:nvPr/>
        </p:nvSpPr>
        <p:spPr>
          <a:xfrm>
            <a:off x="566928" y="3826764"/>
            <a:ext cx="128016" cy="128016"/>
          </a:xfrm>
          <a:prstGeom prst="ellipse">
            <a:avLst/>
          </a:prstGeom>
          <a:solidFill>
            <a:srgbClr val="C4621D"/>
          </a:solidFill>
          <a:ln/>
        </p:spPr>
      </p:sp>
      <p:sp>
        <p:nvSpPr>
          <p:cNvPr id="46" name="Text 44"/>
          <p:cNvSpPr txBox="1"/>
          <p:nvPr/>
        </p:nvSpPr>
        <p:spPr>
          <a:xfrm>
            <a:off x="777240" y="3707892"/>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Agent</a:t>
            </a:r>
            <a:endParaRPr lang="en-US" sz="1150" dirty="0"/>
          </a:p>
        </p:txBody>
      </p:sp>
      <p:sp>
        <p:nvSpPr>
          <p:cNvPr id="47" name="Text 45"/>
          <p:cNvSpPr txBox="1"/>
          <p:nvPr/>
        </p:nvSpPr>
        <p:spPr>
          <a:xfrm>
            <a:off x="2103120" y="3707892"/>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chain search, query, check and draft steps</a:t>
            </a:r>
            <a:endParaRPr lang="en-US" sz="1000" dirty="0"/>
          </a:p>
        </p:txBody>
      </p:sp>
      <p:sp>
        <p:nvSpPr>
          <p:cNvPr id="48" name="Text 46"/>
          <p:cNvSpPr txBox="1"/>
          <p:nvPr/>
        </p:nvSpPr>
        <p:spPr>
          <a:xfrm>
            <a:off x="5440680" y="3707892"/>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decide on its own what gets published</a:t>
            </a:r>
            <a:endParaRPr lang="en-US" sz="1000" dirty="0"/>
          </a:p>
        </p:txBody>
      </p:sp>
      <p:sp>
        <p:nvSpPr>
          <p:cNvPr id="49" name="Shape 47"/>
          <p:cNvSpPr/>
          <p:nvPr/>
        </p:nvSpPr>
        <p:spPr>
          <a:xfrm>
            <a:off x="457200" y="4123944"/>
            <a:ext cx="8229600" cy="365760"/>
          </a:xfrm>
          <a:prstGeom prst="roundRect">
            <a:avLst>
              <a:gd name="adj" fmla="val 12500"/>
            </a:avLst>
          </a:prstGeom>
          <a:solidFill>
            <a:srgbClr val="F4F7F5"/>
          </a:solidFill>
          <a:ln w="6350">
            <a:solidFill>
              <a:srgbClr val="D5DED9"/>
            </a:solidFill>
            <a:prstDash val="solid"/>
          </a:ln>
        </p:spPr>
      </p:sp>
      <p:sp>
        <p:nvSpPr>
          <p:cNvPr id="50" name="Shape 48"/>
          <p:cNvSpPr/>
          <p:nvPr/>
        </p:nvSpPr>
        <p:spPr>
          <a:xfrm>
            <a:off x="566928" y="4242816"/>
            <a:ext cx="128016" cy="128016"/>
          </a:xfrm>
          <a:prstGeom prst="ellipse">
            <a:avLst/>
          </a:prstGeom>
          <a:solidFill>
            <a:srgbClr val="C4621D"/>
          </a:solidFill>
          <a:ln/>
        </p:spPr>
      </p:sp>
      <p:sp>
        <p:nvSpPr>
          <p:cNvPr id="51" name="Text 49"/>
          <p:cNvSpPr txBox="1"/>
          <p:nvPr/>
        </p:nvSpPr>
        <p:spPr>
          <a:xfrm>
            <a:off x="777240" y="4123944"/>
            <a:ext cx="1188720" cy="36576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MCP</a:t>
            </a:r>
            <a:endParaRPr lang="en-US" sz="1150" dirty="0"/>
          </a:p>
        </p:txBody>
      </p:sp>
      <p:sp>
        <p:nvSpPr>
          <p:cNvPr id="52" name="Text 50"/>
          <p:cNvSpPr txBox="1"/>
          <p:nvPr/>
        </p:nvSpPr>
        <p:spPr>
          <a:xfrm>
            <a:off x="2103120" y="4123944"/>
            <a:ext cx="324612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connect a model to your systems without custom adapters</a:t>
            </a:r>
            <a:endParaRPr lang="en-US" sz="1000" dirty="0"/>
          </a:p>
        </p:txBody>
      </p:sp>
      <p:sp>
        <p:nvSpPr>
          <p:cNvPr id="53" name="Text 51"/>
          <p:cNvSpPr txBox="1"/>
          <p:nvPr/>
        </p:nvSpPr>
        <p:spPr>
          <a:xfrm>
            <a:off x="5440680" y="4123944"/>
            <a:ext cx="3337560" cy="36576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authorise, secure, or make anything smarter</a:t>
            </a:r>
            <a:endParaRPr lang="en-US" sz="1000" dirty="0"/>
          </a:p>
        </p:txBody>
      </p:sp>
      <p:sp>
        <p:nvSpPr>
          <p:cNvPr id="54" name="Shape 52"/>
          <p:cNvSpPr/>
          <p:nvPr/>
        </p:nvSpPr>
        <p:spPr>
          <a:xfrm>
            <a:off x="5349240" y="1371600"/>
            <a:ext cx="0" cy="3154680"/>
          </a:xfrm>
          <a:prstGeom prst="line">
            <a:avLst/>
          </a:prstGeom>
          <a:noFill/>
          <a:ln w="9525">
            <a:solidFill>
              <a:srgbClr val="D5DED9"/>
            </a:solidFill>
            <a:prstDash val="dash"/>
          </a:ln>
        </p:spPr>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Vocabulary discipline: from promise to question</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6" name="Shape 14"/>
          <p:cNvSpPr/>
          <p:nvPr/>
        </p:nvSpPr>
        <p:spPr>
          <a:xfrm>
            <a:off x="457200" y="1371600"/>
            <a:ext cx="2606040" cy="1463040"/>
          </a:xfrm>
          <a:prstGeom prst="roundRect">
            <a:avLst>
              <a:gd name="adj" fmla="val 5000"/>
            </a:avLst>
          </a:prstGeom>
          <a:solidFill>
            <a:srgbClr val="F4F7F5"/>
          </a:solidFill>
          <a:ln w="9525">
            <a:solidFill>
              <a:srgbClr val="D5DED9"/>
            </a:solidFill>
            <a:prstDash val="solid"/>
          </a:ln>
        </p:spPr>
      </p:sp>
      <p:pic>
        <p:nvPicPr>
          <p:cNvPr id="17" name="Image 0" descr="preencoded.png"/>
          <p:cNvPicPr>
            <a:picLocks noChangeAspect="1"/>
          </p:cNvPicPr>
          <p:nvPr/>
        </p:nvPicPr>
        <p:blipFill>
          <a:blip r:embed="rId3"/>
          <a:stretch>
            <a:fillRect/>
          </a:stretch>
        </p:blipFill>
        <p:spPr>
          <a:xfrm>
            <a:off x="621792" y="1517904"/>
            <a:ext cx="219456" cy="219456"/>
          </a:xfrm>
          <a:prstGeom prst="rect">
            <a:avLst/>
          </a:prstGeom>
        </p:spPr>
      </p:pic>
      <p:sp>
        <p:nvSpPr>
          <p:cNvPr id="18" name="Text 15"/>
          <p:cNvSpPr txBox="1"/>
          <p:nvPr/>
        </p:nvSpPr>
        <p:spPr>
          <a:xfrm>
            <a:off x="91440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“We fine-tuned the model on your data.”</a:t>
            </a:r>
            <a:endParaRPr lang="en-US" sz="1050" dirty="0"/>
          </a:p>
        </p:txBody>
      </p:sp>
      <p:sp>
        <p:nvSpPr>
          <p:cNvPr id="19" name="Shape 16"/>
          <p:cNvSpPr/>
          <p:nvPr/>
        </p:nvSpPr>
        <p:spPr>
          <a:xfrm>
            <a:off x="621792" y="2103120"/>
            <a:ext cx="2286000" cy="0"/>
          </a:xfrm>
          <a:prstGeom prst="line">
            <a:avLst/>
          </a:prstGeom>
          <a:noFill/>
          <a:ln w="9525">
            <a:solidFill>
              <a:srgbClr val="D5DED9"/>
            </a:solidFill>
            <a:prstDash val="solid"/>
          </a:ln>
        </p:spPr>
      </p:sp>
      <p:pic>
        <p:nvPicPr>
          <p:cNvPr id="20" name="Image 1" descr="preencoded.png"/>
          <p:cNvPicPr>
            <a:picLocks noChangeAspect="1"/>
          </p:cNvPicPr>
          <p:nvPr/>
        </p:nvPicPr>
        <p:blipFill>
          <a:blip r:embed="rId4"/>
          <a:stretch>
            <a:fillRect/>
          </a:stretch>
        </p:blipFill>
        <p:spPr>
          <a:xfrm>
            <a:off x="621792" y="2267712"/>
            <a:ext cx="219456" cy="219456"/>
          </a:xfrm>
          <a:prstGeom prst="rect">
            <a:avLst/>
          </a:prstGeom>
        </p:spPr>
      </p:pic>
      <p:sp>
        <p:nvSpPr>
          <p:cNvPr id="21" name="Text 17"/>
          <p:cNvSpPr txBox="1"/>
          <p:nvPr/>
        </p:nvSpPr>
        <p:spPr>
          <a:xfrm>
            <a:off x="91440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Do the weights change, or is it RAG? In writing.</a:t>
            </a:r>
            <a:endParaRPr lang="en-US" sz="1100" dirty="0"/>
          </a:p>
        </p:txBody>
      </p:sp>
      <p:sp>
        <p:nvSpPr>
          <p:cNvPr id="22" name="Shape 18"/>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pic>
        <p:nvPicPr>
          <p:cNvPr id="23" name="Image 2" descr="preencoded.png"/>
          <p:cNvPicPr>
            <a:picLocks noChangeAspect="1"/>
          </p:cNvPicPr>
          <p:nvPr/>
        </p:nvPicPr>
        <p:blipFill>
          <a:blip r:embed="rId3"/>
          <a:stretch>
            <a:fillRect/>
          </a:stretch>
        </p:blipFill>
        <p:spPr>
          <a:xfrm>
            <a:off x="3410712" y="1517904"/>
            <a:ext cx="219456" cy="219456"/>
          </a:xfrm>
          <a:prstGeom prst="rect">
            <a:avLst/>
          </a:prstGeom>
        </p:spPr>
      </p:pic>
      <p:sp>
        <p:nvSpPr>
          <p:cNvPr id="24" name="Text 19"/>
          <p:cNvSpPr txBox="1"/>
          <p:nvPr/>
        </p:nvSpPr>
        <p:spPr>
          <a:xfrm>
            <a:off x="370332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“Our AI doesn't make mistakes.”</a:t>
            </a:r>
            <a:endParaRPr lang="en-US" sz="1050" dirty="0"/>
          </a:p>
        </p:txBody>
      </p:sp>
      <p:sp>
        <p:nvSpPr>
          <p:cNvPr id="25" name="Shape 20"/>
          <p:cNvSpPr/>
          <p:nvPr/>
        </p:nvSpPr>
        <p:spPr>
          <a:xfrm>
            <a:off x="3410712" y="2103120"/>
            <a:ext cx="2286000" cy="0"/>
          </a:xfrm>
          <a:prstGeom prst="line">
            <a:avLst/>
          </a:prstGeom>
          <a:noFill/>
          <a:ln w="9525">
            <a:solidFill>
              <a:srgbClr val="D5DED9"/>
            </a:solidFill>
            <a:prstDash val="solid"/>
          </a:ln>
        </p:spPr>
      </p:sp>
      <p:pic>
        <p:nvPicPr>
          <p:cNvPr id="26" name="Image 3" descr="preencoded.png"/>
          <p:cNvPicPr>
            <a:picLocks noChangeAspect="1"/>
          </p:cNvPicPr>
          <p:nvPr/>
        </p:nvPicPr>
        <p:blipFill>
          <a:blip r:embed="rId4"/>
          <a:stretch>
            <a:fillRect/>
          </a:stretch>
        </p:blipFill>
        <p:spPr>
          <a:xfrm>
            <a:off x="3410712" y="2267712"/>
            <a:ext cx="219456" cy="219456"/>
          </a:xfrm>
          <a:prstGeom prst="rect">
            <a:avLst/>
          </a:prstGeom>
        </p:spPr>
      </p:pic>
      <p:sp>
        <p:nvSpPr>
          <p:cNvPr id="27" name="Text 21"/>
          <p:cNvSpPr txBox="1"/>
          <p:nvPr/>
        </p:nvSpPr>
        <p:spPr>
          <a:xfrm>
            <a:off x="370332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What error rate, measured on which test set?</a:t>
            </a:r>
            <a:endParaRPr lang="en-US" sz="1100" dirty="0"/>
          </a:p>
        </p:txBody>
      </p:sp>
      <p:sp>
        <p:nvSpPr>
          <p:cNvPr id="28" name="Shape 22"/>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pic>
        <p:nvPicPr>
          <p:cNvPr id="29" name="Image 4" descr="preencoded.png"/>
          <p:cNvPicPr>
            <a:picLocks noChangeAspect="1"/>
          </p:cNvPicPr>
          <p:nvPr/>
        </p:nvPicPr>
        <p:blipFill>
          <a:blip r:embed="rId3"/>
          <a:stretch>
            <a:fillRect/>
          </a:stretch>
        </p:blipFill>
        <p:spPr>
          <a:xfrm>
            <a:off x="6199632" y="1517904"/>
            <a:ext cx="219456" cy="219456"/>
          </a:xfrm>
          <a:prstGeom prst="rect">
            <a:avLst/>
          </a:prstGeom>
        </p:spPr>
      </p:pic>
      <p:sp>
        <p:nvSpPr>
          <p:cNvPr id="30" name="Text 23"/>
          <p:cNvSpPr txBox="1"/>
          <p:nvPr/>
        </p:nvSpPr>
        <p:spPr>
          <a:xfrm>
            <a:off x="6492240" y="1481328"/>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“A fully autonomous agentic solution.”</a:t>
            </a:r>
            <a:endParaRPr lang="en-US" sz="1050" dirty="0"/>
          </a:p>
        </p:txBody>
      </p:sp>
      <p:sp>
        <p:nvSpPr>
          <p:cNvPr id="31" name="Shape 24"/>
          <p:cNvSpPr/>
          <p:nvPr/>
        </p:nvSpPr>
        <p:spPr>
          <a:xfrm>
            <a:off x="6199632" y="2103120"/>
            <a:ext cx="2286000" cy="0"/>
          </a:xfrm>
          <a:prstGeom prst="line">
            <a:avLst/>
          </a:prstGeom>
          <a:noFill/>
          <a:ln w="9525">
            <a:solidFill>
              <a:srgbClr val="D5DED9"/>
            </a:solidFill>
            <a:prstDash val="solid"/>
          </a:ln>
        </p:spPr>
      </p:sp>
      <p:pic>
        <p:nvPicPr>
          <p:cNvPr id="32" name="Image 5" descr="preencoded.png"/>
          <p:cNvPicPr>
            <a:picLocks noChangeAspect="1"/>
          </p:cNvPicPr>
          <p:nvPr/>
        </p:nvPicPr>
        <p:blipFill>
          <a:blip r:embed="rId4"/>
          <a:stretch>
            <a:fillRect/>
          </a:stretch>
        </p:blipFill>
        <p:spPr>
          <a:xfrm>
            <a:off x="6199632" y="2267712"/>
            <a:ext cx="219456" cy="219456"/>
          </a:xfrm>
          <a:prstGeom prst="rect">
            <a:avLst/>
          </a:prstGeom>
        </p:spPr>
      </p:pic>
      <p:sp>
        <p:nvSpPr>
          <p:cNvPr id="33" name="Text 25"/>
          <p:cNvSpPr txBox="1"/>
          <p:nvPr/>
        </p:nvSpPr>
        <p:spPr>
          <a:xfrm>
            <a:off x="6492240" y="2157984"/>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Which tools are exposed, and who authorises each action?</a:t>
            </a:r>
            <a:endParaRPr lang="en-US" sz="1100" dirty="0"/>
          </a:p>
        </p:txBody>
      </p:sp>
      <p:sp>
        <p:nvSpPr>
          <p:cNvPr id="34" name="Shape 26"/>
          <p:cNvSpPr/>
          <p:nvPr/>
        </p:nvSpPr>
        <p:spPr>
          <a:xfrm>
            <a:off x="457200" y="2980944"/>
            <a:ext cx="2606040" cy="1463040"/>
          </a:xfrm>
          <a:prstGeom prst="roundRect">
            <a:avLst>
              <a:gd name="adj" fmla="val 5000"/>
            </a:avLst>
          </a:prstGeom>
          <a:solidFill>
            <a:srgbClr val="F4F7F5"/>
          </a:solidFill>
          <a:ln w="9525">
            <a:solidFill>
              <a:srgbClr val="D5DED9"/>
            </a:solidFill>
            <a:prstDash val="solid"/>
          </a:ln>
        </p:spPr>
      </p:sp>
      <p:pic>
        <p:nvPicPr>
          <p:cNvPr id="35" name="Image 6" descr="preencoded.png"/>
          <p:cNvPicPr>
            <a:picLocks noChangeAspect="1"/>
          </p:cNvPicPr>
          <p:nvPr/>
        </p:nvPicPr>
        <p:blipFill>
          <a:blip r:embed="rId3"/>
          <a:stretch>
            <a:fillRect/>
          </a:stretch>
        </p:blipFill>
        <p:spPr>
          <a:xfrm>
            <a:off x="621792" y="3127248"/>
            <a:ext cx="219456" cy="219456"/>
          </a:xfrm>
          <a:prstGeom prst="rect">
            <a:avLst/>
          </a:prstGeom>
        </p:spPr>
      </p:pic>
      <p:sp>
        <p:nvSpPr>
          <p:cNvPr id="36" name="Text 27"/>
          <p:cNvSpPr txBox="1"/>
          <p:nvPr/>
        </p:nvSpPr>
        <p:spPr>
          <a:xfrm>
            <a:off x="91440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“MCP-compatible, so it's secure.”</a:t>
            </a:r>
            <a:endParaRPr lang="en-US" sz="1050" dirty="0"/>
          </a:p>
        </p:txBody>
      </p:sp>
      <p:sp>
        <p:nvSpPr>
          <p:cNvPr id="37" name="Shape 28"/>
          <p:cNvSpPr/>
          <p:nvPr/>
        </p:nvSpPr>
        <p:spPr>
          <a:xfrm>
            <a:off x="621792" y="3712464"/>
            <a:ext cx="2286000" cy="0"/>
          </a:xfrm>
          <a:prstGeom prst="line">
            <a:avLst/>
          </a:prstGeom>
          <a:noFill/>
          <a:ln w="9525">
            <a:solidFill>
              <a:srgbClr val="D5DED9"/>
            </a:solidFill>
            <a:prstDash val="solid"/>
          </a:ln>
        </p:spPr>
      </p:sp>
      <p:pic>
        <p:nvPicPr>
          <p:cNvPr id="38" name="Image 7" descr="preencoded.png"/>
          <p:cNvPicPr>
            <a:picLocks noChangeAspect="1"/>
          </p:cNvPicPr>
          <p:nvPr/>
        </p:nvPicPr>
        <p:blipFill>
          <a:blip r:embed="rId4"/>
          <a:stretch>
            <a:fillRect/>
          </a:stretch>
        </p:blipFill>
        <p:spPr>
          <a:xfrm>
            <a:off x="621792" y="3877056"/>
            <a:ext cx="219456" cy="219456"/>
          </a:xfrm>
          <a:prstGeom prst="rect">
            <a:avLst/>
          </a:prstGeom>
        </p:spPr>
      </p:pic>
      <p:sp>
        <p:nvSpPr>
          <p:cNvPr id="39" name="Text 29"/>
          <p:cNvSpPr txBox="1"/>
          <p:nvPr/>
        </p:nvSpPr>
        <p:spPr>
          <a:xfrm>
            <a:off x="91440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Which authentication, which audit logs?</a:t>
            </a:r>
            <a:endParaRPr lang="en-US" sz="1100" dirty="0"/>
          </a:p>
        </p:txBody>
      </p:sp>
      <p:sp>
        <p:nvSpPr>
          <p:cNvPr id="40" name="Shape 30"/>
          <p:cNvSpPr/>
          <p:nvPr/>
        </p:nvSpPr>
        <p:spPr>
          <a:xfrm>
            <a:off x="3246120" y="2980944"/>
            <a:ext cx="2606040" cy="1463040"/>
          </a:xfrm>
          <a:prstGeom prst="roundRect">
            <a:avLst>
              <a:gd name="adj" fmla="val 5000"/>
            </a:avLst>
          </a:prstGeom>
          <a:solidFill>
            <a:srgbClr val="F4F7F5"/>
          </a:solidFill>
          <a:ln w="9525">
            <a:solidFill>
              <a:srgbClr val="D5DED9"/>
            </a:solidFill>
            <a:prstDash val="solid"/>
          </a:ln>
        </p:spPr>
      </p:sp>
      <p:pic>
        <p:nvPicPr>
          <p:cNvPr id="41" name="Image 8" descr="preencoded.png"/>
          <p:cNvPicPr>
            <a:picLocks noChangeAspect="1"/>
          </p:cNvPicPr>
          <p:nvPr/>
        </p:nvPicPr>
        <p:blipFill>
          <a:blip r:embed="rId3"/>
          <a:stretch>
            <a:fillRect/>
          </a:stretch>
        </p:blipFill>
        <p:spPr>
          <a:xfrm>
            <a:off x="3410712" y="3127248"/>
            <a:ext cx="219456" cy="219456"/>
          </a:xfrm>
          <a:prstGeom prst="rect">
            <a:avLst/>
          </a:prstGeom>
        </p:spPr>
      </p:pic>
      <p:sp>
        <p:nvSpPr>
          <p:cNvPr id="42" name="Text 31"/>
          <p:cNvSpPr txBox="1"/>
          <p:nvPr/>
        </p:nvSpPr>
        <p:spPr>
          <a:xfrm>
            <a:off x="370332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“We're close to AGI.”</a:t>
            </a:r>
            <a:endParaRPr lang="en-US" sz="1050" dirty="0"/>
          </a:p>
        </p:txBody>
      </p:sp>
      <p:sp>
        <p:nvSpPr>
          <p:cNvPr id="43" name="Shape 32"/>
          <p:cNvSpPr/>
          <p:nvPr/>
        </p:nvSpPr>
        <p:spPr>
          <a:xfrm>
            <a:off x="3410712" y="3712464"/>
            <a:ext cx="2286000" cy="0"/>
          </a:xfrm>
          <a:prstGeom prst="line">
            <a:avLst/>
          </a:prstGeom>
          <a:noFill/>
          <a:ln w="9525">
            <a:solidFill>
              <a:srgbClr val="D5DED9"/>
            </a:solidFill>
            <a:prstDash val="solid"/>
          </a:ln>
        </p:spPr>
      </p:sp>
      <p:pic>
        <p:nvPicPr>
          <p:cNvPr id="44" name="Image 9" descr="preencoded.png"/>
          <p:cNvPicPr>
            <a:picLocks noChangeAspect="1"/>
          </p:cNvPicPr>
          <p:nvPr/>
        </p:nvPicPr>
        <p:blipFill>
          <a:blip r:embed="rId4"/>
          <a:stretch>
            <a:fillRect/>
          </a:stretch>
        </p:blipFill>
        <p:spPr>
          <a:xfrm>
            <a:off x="3410712" y="3877056"/>
            <a:ext cx="219456" cy="219456"/>
          </a:xfrm>
          <a:prstGeom prst="rect">
            <a:avLst/>
          </a:prstGeom>
        </p:spPr>
      </p:pic>
      <p:sp>
        <p:nvSpPr>
          <p:cNvPr id="45" name="Text 33"/>
          <p:cNvSpPr txBox="1"/>
          <p:nvPr/>
        </p:nvSpPr>
        <p:spPr>
          <a:xfrm>
            <a:off x="370332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Which measured capability, on which task, today?</a:t>
            </a:r>
            <a:endParaRPr lang="en-US" sz="1100" dirty="0"/>
          </a:p>
        </p:txBody>
      </p:sp>
      <p:sp>
        <p:nvSpPr>
          <p:cNvPr id="46" name="Shape 34"/>
          <p:cNvSpPr/>
          <p:nvPr/>
        </p:nvSpPr>
        <p:spPr>
          <a:xfrm>
            <a:off x="6035040" y="2980944"/>
            <a:ext cx="2606040" cy="1463040"/>
          </a:xfrm>
          <a:prstGeom prst="roundRect">
            <a:avLst>
              <a:gd name="adj" fmla="val 5000"/>
            </a:avLst>
          </a:prstGeom>
          <a:solidFill>
            <a:srgbClr val="F4F7F5"/>
          </a:solidFill>
          <a:ln w="9525">
            <a:solidFill>
              <a:srgbClr val="D5DED9"/>
            </a:solidFill>
            <a:prstDash val="solid"/>
          </a:ln>
        </p:spPr>
      </p:sp>
      <p:pic>
        <p:nvPicPr>
          <p:cNvPr id="47" name="Image 10" descr="preencoded.png"/>
          <p:cNvPicPr>
            <a:picLocks noChangeAspect="1"/>
          </p:cNvPicPr>
          <p:nvPr/>
        </p:nvPicPr>
        <p:blipFill>
          <a:blip r:embed="rId3"/>
          <a:stretch>
            <a:fillRect/>
          </a:stretch>
        </p:blipFill>
        <p:spPr>
          <a:xfrm>
            <a:off x="6199632" y="3127248"/>
            <a:ext cx="219456" cy="219456"/>
          </a:xfrm>
          <a:prstGeom prst="rect">
            <a:avLst/>
          </a:prstGeom>
        </p:spPr>
      </p:pic>
      <p:sp>
        <p:nvSpPr>
          <p:cNvPr id="48" name="Text 35"/>
          <p:cNvSpPr txBox="1"/>
          <p:nvPr/>
        </p:nvSpPr>
        <p:spPr>
          <a:xfrm>
            <a:off x="6492240" y="3090672"/>
            <a:ext cx="2011680" cy="548640"/>
          </a:xfrm>
          <a:prstGeom prst="rect">
            <a:avLst/>
          </a:prstGeom>
          <a:noFill/>
          <a:ln/>
        </p:spPr>
        <p:txBody>
          <a:bodyPr wrap="square" lIns="0" tIns="0" rIns="0" bIns="0" rtlCol="0" anchor="ctr"/>
          <a:lstStyle/>
          <a:p>
            <a:pPr marL="0" indent="0">
              <a:buNone/>
            </a:pPr>
            <a:r>
              <a:rPr lang="en-US" sz="1050" i="1" dirty="0">
                <a:solidFill>
                  <a:srgbClr val="5E6964"/>
                </a:solidFill>
                <a:latin typeface="Calibri" pitchFamily="34" charset="0"/>
                <a:ea typeface="Calibri" pitchFamily="34" charset="-122"/>
                <a:cs typeface="Calibri" pitchFamily="34" charset="-120"/>
              </a:rPr>
              <a:t>“Your data stays with you.”</a:t>
            </a:r>
            <a:endParaRPr lang="en-US" sz="1050" dirty="0"/>
          </a:p>
        </p:txBody>
      </p:sp>
      <p:sp>
        <p:nvSpPr>
          <p:cNvPr id="49" name="Shape 36"/>
          <p:cNvSpPr/>
          <p:nvPr/>
        </p:nvSpPr>
        <p:spPr>
          <a:xfrm>
            <a:off x="6199632" y="3712464"/>
            <a:ext cx="2286000" cy="0"/>
          </a:xfrm>
          <a:prstGeom prst="line">
            <a:avLst/>
          </a:prstGeom>
          <a:noFill/>
          <a:ln w="9525">
            <a:solidFill>
              <a:srgbClr val="D5DED9"/>
            </a:solidFill>
            <a:prstDash val="solid"/>
          </a:ln>
        </p:spPr>
      </p:sp>
      <p:pic>
        <p:nvPicPr>
          <p:cNvPr id="50" name="Image 11" descr="preencoded.png"/>
          <p:cNvPicPr>
            <a:picLocks noChangeAspect="1"/>
          </p:cNvPicPr>
          <p:nvPr/>
        </p:nvPicPr>
        <p:blipFill>
          <a:blip r:embed="rId4"/>
          <a:stretch>
            <a:fillRect/>
          </a:stretch>
        </p:blipFill>
        <p:spPr>
          <a:xfrm>
            <a:off x="6199632" y="3877056"/>
            <a:ext cx="219456" cy="219456"/>
          </a:xfrm>
          <a:prstGeom prst="rect">
            <a:avLst/>
          </a:prstGeom>
        </p:spPr>
      </p:pic>
      <p:sp>
        <p:nvSpPr>
          <p:cNvPr id="51" name="Text 37"/>
          <p:cNvSpPr txBox="1"/>
          <p:nvPr/>
        </p:nvSpPr>
        <p:spPr>
          <a:xfrm>
            <a:off x="6492240" y="3767328"/>
            <a:ext cx="2011680" cy="566928"/>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Where does the computation run, under which jurisdiction?</a:t>
            </a:r>
            <a:endParaRPr lang="en-US" sz="11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“AI-ready”: readable and reliable for machines</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6" name="Shape 14"/>
          <p:cNvSpPr/>
          <p:nvPr/>
        </p:nvSpPr>
        <p:spPr>
          <a:xfrm>
            <a:off x="457200" y="1325880"/>
            <a:ext cx="8229600" cy="566928"/>
          </a:xfrm>
          <a:prstGeom prst="roundRect">
            <a:avLst>
              <a:gd name="adj" fmla="val 12903"/>
            </a:avLst>
          </a:prstGeom>
          <a:solidFill>
            <a:srgbClr val="E8F5EF"/>
          </a:solidFill>
          <a:ln w="15875">
            <a:solidFill>
              <a:srgbClr val="00A86A"/>
            </a:solidFill>
            <a:prstDash val="solid"/>
          </a:ln>
        </p:spPr>
      </p:sp>
      <p:sp>
        <p:nvSpPr>
          <p:cNvPr id="17" name="Shape 15"/>
          <p:cNvSpPr/>
          <p:nvPr/>
        </p:nvSpPr>
        <p:spPr>
          <a:xfrm>
            <a:off x="585216" y="1399032"/>
            <a:ext cx="420624" cy="420624"/>
          </a:xfrm>
          <a:prstGeom prst="ellipse">
            <a:avLst/>
          </a:prstGeom>
          <a:solidFill>
            <a:srgbClr val="00A86A">
              <a:alpha val="22000"/>
            </a:srgbClr>
          </a:solidFill>
          <a:ln/>
        </p:spPr>
      </p:sp>
      <p:pic>
        <p:nvPicPr>
          <p:cNvPr id="18" name="Image 0" descr="preencoded.png"/>
          <p:cNvPicPr>
            <a:picLocks noChangeAspect="1"/>
          </p:cNvPicPr>
          <p:nvPr/>
        </p:nvPicPr>
        <p:blipFill>
          <a:blip r:embed="rId3"/>
          <a:stretch>
            <a:fillRect/>
          </a:stretch>
        </p:blipFill>
        <p:spPr>
          <a:xfrm>
            <a:off x="686166" y="1499982"/>
            <a:ext cx="218724" cy="218724"/>
          </a:xfrm>
          <a:prstGeom prst="rect">
            <a:avLst/>
          </a:prstGeom>
        </p:spPr>
      </p:pic>
      <p:sp>
        <p:nvSpPr>
          <p:cNvPr id="19" name="Text 16"/>
          <p:cNvSpPr txBox="1"/>
          <p:nvPr/>
        </p:nvSpPr>
        <p:spPr>
          <a:xfrm>
            <a:off x="1143000" y="1325880"/>
            <a:ext cx="7406640" cy="566928"/>
          </a:xfrm>
          <a:prstGeom prst="rect">
            <a:avLst/>
          </a:prstGeom>
          <a:noFill/>
          <a:ln/>
        </p:spPr>
        <p:txBody>
          <a:bodyPr wrap="square" lIns="0" tIns="0" rIns="0" bIns="0" rtlCol="0" anchor="ctr"/>
          <a:lstStyle/>
          <a:p>
            <a:pPr marL="0" indent="0">
              <a:buNone/>
            </a:pPr>
            <a:r>
              <a:rPr lang="en-US" sz="1150" b="1" dirty="0">
                <a:solidFill>
                  <a:srgbClr val="00704A"/>
                </a:solidFill>
                <a:latin typeface="Calibri" pitchFamily="34" charset="0"/>
                <a:ea typeface="Calibri" pitchFamily="34" charset="-122"/>
                <a:cs typeface="Calibri" pitchFamily="34" charset="-120"/>
              </a:rPr>
              <a:t>AI-ready: </a:t>
            </a:r>
            <a:r>
              <a:rPr lang="en-US" sz="1150" dirty="0">
                <a:solidFill>
                  <a:srgbClr val="231F20"/>
                </a:solidFill>
                <a:latin typeface="Calibri" pitchFamily="34" charset="0"/>
                <a:ea typeface="Calibri" pitchFamily="34" charset="-122"/>
                <a:cs typeface="Calibri" pitchFamily="34" charset="-120"/>
              </a:rPr>
              <a:t>data that are structured, documented and disseminated so that a machine can find, read and interpret them correctly — without losing their meaning.</a:t>
            </a:r>
            <a:endParaRPr lang="en-US" sz="1150" dirty="0"/>
          </a:p>
        </p:txBody>
      </p:sp>
      <p:sp>
        <p:nvSpPr>
          <p:cNvPr id="20" name="Shape 17"/>
          <p:cNvSpPr/>
          <p:nvPr/>
        </p:nvSpPr>
        <p:spPr>
          <a:xfrm>
            <a:off x="457200" y="2011680"/>
            <a:ext cx="5029200" cy="2011680"/>
          </a:xfrm>
          <a:prstGeom prst="roundRect">
            <a:avLst>
              <a:gd name="adj" fmla="val 3636"/>
            </a:avLst>
          </a:prstGeom>
          <a:solidFill>
            <a:srgbClr val="F4F7F5"/>
          </a:solidFill>
          <a:ln w="9525">
            <a:solidFill>
              <a:srgbClr val="D5DED9"/>
            </a:solidFill>
            <a:prstDash val="solid"/>
          </a:ln>
        </p:spPr>
      </p:sp>
      <p:sp>
        <p:nvSpPr>
          <p:cNvPr id="21" name="Text 18"/>
          <p:cNvSpPr txBox="1"/>
          <p:nvPr/>
        </p:nvSpPr>
        <p:spPr>
          <a:xfrm>
            <a:off x="621792" y="2048256"/>
            <a:ext cx="4754880" cy="237744"/>
          </a:xfrm>
          <a:prstGeom prst="rect">
            <a:avLst/>
          </a:prstGeom>
          <a:noFill/>
          <a:ln/>
        </p:spPr>
        <p:txBody>
          <a:bodyPr wrap="square" lIns="0" tIns="0" rIns="0" bIns="0" rtlCol="0" anchor="ctr"/>
          <a:lstStyle/>
          <a:p>
            <a:pPr marL="0" indent="0">
              <a:buNone/>
            </a:pPr>
            <a:r>
              <a:rPr lang="en-US" sz="1300" b="1" dirty="0">
                <a:solidFill>
                  <a:srgbClr val="00A86A"/>
                </a:solidFill>
                <a:latin typeface="Calibri" pitchFamily="34" charset="0"/>
                <a:ea typeface="Calibri" pitchFamily="34" charset="-122"/>
                <a:cs typeface="Calibri" pitchFamily="34" charset="-120"/>
              </a:rPr>
              <a:t>AI-ready data</a:t>
            </a:r>
            <a:endParaRPr lang="en-US" sz="1300" dirty="0"/>
          </a:p>
        </p:txBody>
      </p:sp>
      <p:sp>
        <p:nvSpPr>
          <p:cNvPr id="22" name="Text 19"/>
          <p:cNvSpPr txBox="1"/>
          <p:nvPr/>
        </p:nvSpPr>
        <p:spPr>
          <a:xfrm>
            <a:off x="621792" y="2276856"/>
            <a:ext cx="4754880" cy="164592"/>
          </a:xfrm>
          <a:prstGeom prst="rect">
            <a:avLst/>
          </a:prstGeom>
          <a:noFill/>
          <a:ln/>
        </p:spPr>
        <p:txBody>
          <a:bodyPr wrap="square" lIns="0" tIns="0" rIns="0" bIns="0" rtlCol="0" anchor="ctr"/>
          <a:lstStyle/>
          <a:p>
            <a:pPr marL="0" indent="0">
              <a:buNone/>
            </a:pPr>
            <a:r>
              <a:rPr lang="en-US" sz="850" i="1" dirty="0">
                <a:solidFill>
                  <a:srgbClr val="5E6964"/>
                </a:solidFill>
                <a:latin typeface="Calibri" pitchFamily="34" charset="0"/>
                <a:ea typeface="Calibri" pitchFamily="34" charset="-122"/>
                <a:cs typeface="Calibri" pitchFamily="34" charset="-120"/>
              </a:rPr>
              <a:t>five areas from the US Department of Commerce guidance (2025)</a:t>
            </a:r>
            <a:endParaRPr lang="en-US" sz="850" dirty="0"/>
          </a:p>
        </p:txBody>
      </p:sp>
      <p:pic>
        <p:nvPicPr>
          <p:cNvPr id="23" name="Image 1" descr="preencoded.png"/>
          <p:cNvPicPr>
            <a:picLocks noChangeAspect="1"/>
          </p:cNvPicPr>
          <p:nvPr/>
        </p:nvPicPr>
        <p:blipFill>
          <a:blip r:embed="rId4"/>
          <a:stretch>
            <a:fillRect/>
          </a:stretch>
        </p:blipFill>
        <p:spPr>
          <a:xfrm>
            <a:off x="640080" y="2542032"/>
            <a:ext cx="182880" cy="182880"/>
          </a:xfrm>
          <a:prstGeom prst="rect">
            <a:avLst/>
          </a:prstGeom>
        </p:spPr>
      </p:pic>
      <p:sp>
        <p:nvSpPr>
          <p:cNvPr id="24" name="Text 20"/>
          <p:cNvSpPr txBox="1"/>
          <p:nvPr/>
        </p:nvSpPr>
        <p:spPr>
          <a:xfrm>
            <a:off x="932688" y="2487168"/>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Documentation  </a:t>
            </a:r>
            <a:r>
              <a:rPr lang="en-US" sz="950" dirty="0">
                <a:solidFill>
                  <a:srgbClr val="5E6964"/>
                </a:solidFill>
                <a:latin typeface="Calibri" pitchFamily="34" charset="0"/>
                <a:ea typeface="Calibri" pitchFamily="34" charset="-122"/>
                <a:cs typeface="Calibri" pitchFamily="34" charset="-120"/>
              </a:rPr>
              <a:t>definitions, methods, units — human- and machine-readable</a:t>
            </a:r>
            <a:endParaRPr lang="en-US" sz="1100" dirty="0"/>
          </a:p>
        </p:txBody>
      </p:sp>
      <p:pic>
        <p:nvPicPr>
          <p:cNvPr id="25" name="Image 2" descr="preencoded.png"/>
          <p:cNvPicPr>
            <a:picLocks noChangeAspect="1"/>
          </p:cNvPicPr>
          <p:nvPr/>
        </p:nvPicPr>
        <p:blipFill>
          <a:blip r:embed="rId5"/>
          <a:stretch>
            <a:fillRect/>
          </a:stretch>
        </p:blipFill>
        <p:spPr>
          <a:xfrm>
            <a:off x="640080" y="2843784"/>
            <a:ext cx="182880" cy="182880"/>
          </a:xfrm>
          <a:prstGeom prst="rect">
            <a:avLst/>
          </a:prstGeom>
        </p:spPr>
      </p:pic>
      <p:sp>
        <p:nvSpPr>
          <p:cNvPr id="26" name="Text 21"/>
          <p:cNvSpPr txBox="1"/>
          <p:nvPr/>
        </p:nvSpPr>
        <p:spPr>
          <a:xfrm>
            <a:off x="932688" y="2788920"/>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Data and metadata formats  </a:t>
            </a:r>
            <a:r>
              <a:rPr lang="en-US" sz="950" dirty="0">
                <a:solidFill>
                  <a:srgbClr val="5E6964"/>
                </a:solidFill>
                <a:latin typeface="Calibri" pitchFamily="34" charset="0"/>
                <a:ea typeface="Calibri" pitchFamily="34" charset="-122"/>
                <a:cs typeface="Calibri" pitchFamily="34" charset="-120"/>
              </a:rPr>
              <a:t>structured and open: SDMX, CSV, JSON</a:t>
            </a:r>
            <a:endParaRPr lang="en-US" sz="1100" dirty="0"/>
          </a:p>
        </p:txBody>
      </p:sp>
      <p:pic>
        <p:nvPicPr>
          <p:cNvPr id="27" name="Image 3" descr="preencoded.png"/>
          <p:cNvPicPr>
            <a:picLocks noChangeAspect="1"/>
          </p:cNvPicPr>
          <p:nvPr/>
        </p:nvPicPr>
        <p:blipFill>
          <a:blip r:embed="rId6"/>
          <a:stretch>
            <a:fillRect/>
          </a:stretch>
        </p:blipFill>
        <p:spPr>
          <a:xfrm>
            <a:off x="640080" y="3145536"/>
            <a:ext cx="182880" cy="182880"/>
          </a:xfrm>
          <a:prstGeom prst="rect">
            <a:avLst/>
          </a:prstGeom>
        </p:spPr>
      </p:pic>
      <p:sp>
        <p:nvSpPr>
          <p:cNvPr id="28" name="Text 22"/>
          <p:cNvSpPr txBox="1"/>
          <p:nvPr/>
        </p:nvSpPr>
        <p:spPr>
          <a:xfrm>
            <a:off x="932688" y="3090672"/>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Storage and dissemination  </a:t>
            </a:r>
            <a:r>
              <a:rPr lang="en-US" sz="950" dirty="0">
                <a:solidFill>
                  <a:srgbClr val="5E6964"/>
                </a:solidFill>
                <a:latin typeface="Calibri" pitchFamily="34" charset="0"/>
                <a:ea typeface="Calibri" pitchFamily="34" charset="-122"/>
                <a:cs typeface="Calibri" pitchFamily="34" charset="-120"/>
              </a:rPr>
              <a:t>stable APIs, persistent identifiers and URLs</a:t>
            </a:r>
            <a:endParaRPr lang="en-US" sz="1100" dirty="0"/>
          </a:p>
        </p:txBody>
      </p:sp>
      <p:pic>
        <p:nvPicPr>
          <p:cNvPr id="29" name="Image 4" descr="preencoded.png"/>
          <p:cNvPicPr>
            <a:picLocks noChangeAspect="1"/>
          </p:cNvPicPr>
          <p:nvPr/>
        </p:nvPicPr>
        <p:blipFill>
          <a:blip r:embed="rId7"/>
          <a:stretch>
            <a:fillRect/>
          </a:stretch>
        </p:blipFill>
        <p:spPr>
          <a:xfrm>
            <a:off x="640080" y="3447288"/>
            <a:ext cx="182880" cy="182880"/>
          </a:xfrm>
          <a:prstGeom prst="rect">
            <a:avLst/>
          </a:prstGeom>
        </p:spPr>
      </p:pic>
      <p:sp>
        <p:nvSpPr>
          <p:cNvPr id="30" name="Text 23"/>
          <p:cNvSpPr txBox="1"/>
          <p:nvPr/>
        </p:nvSpPr>
        <p:spPr>
          <a:xfrm>
            <a:off x="932688" y="3392424"/>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Licensing and usage  </a:t>
            </a:r>
            <a:r>
              <a:rPr lang="en-US" sz="950" dirty="0">
                <a:solidFill>
                  <a:srgbClr val="5E6964"/>
                </a:solidFill>
                <a:latin typeface="Calibri" pitchFamily="34" charset="0"/>
                <a:ea typeface="Calibri" pitchFamily="34" charset="-122"/>
                <a:cs typeface="Calibri" pitchFamily="34" charset="-120"/>
              </a:rPr>
              <a:t>explicit and machine-readable terms</a:t>
            </a:r>
            <a:endParaRPr lang="en-US" sz="1100" dirty="0"/>
          </a:p>
        </p:txBody>
      </p:sp>
      <p:pic>
        <p:nvPicPr>
          <p:cNvPr id="31" name="Image 5" descr="preencoded.png"/>
          <p:cNvPicPr>
            <a:picLocks noChangeAspect="1"/>
          </p:cNvPicPr>
          <p:nvPr/>
        </p:nvPicPr>
        <p:blipFill>
          <a:blip r:embed="rId8"/>
          <a:stretch>
            <a:fillRect/>
          </a:stretch>
        </p:blipFill>
        <p:spPr>
          <a:xfrm>
            <a:off x="640080" y="3749040"/>
            <a:ext cx="182880" cy="182880"/>
          </a:xfrm>
          <a:prstGeom prst="rect">
            <a:avLst/>
          </a:prstGeom>
        </p:spPr>
      </p:pic>
      <p:sp>
        <p:nvSpPr>
          <p:cNvPr id="32" name="Text 24"/>
          <p:cNvSpPr txBox="1"/>
          <p:nvPr/>
        </p:nvSpPr>
        <p:spPr>
          <a:xfrm>
            <a:off x="932688" y="3694176"/>
            <a:ext cx="4480560" cy="274320"/>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Integrity and quality  </a:t>
            </a:r>
            <a:r>
              <a:rPr lang="en-US" sz="950" dirty="0">
                <a:solidFill>
                  <a:srgbClr val="5E6964"/>
                </a:solidFill>
                <a:latin typeface="Calibri" pitchFamily="34" charset="0"/>
                <a:ea typeface="Calibri" pitchFamily="34" charset="-122"/>
                <a:cs typeface="Calibri" pitchFamily="34" charset="-120"/>
              </a:rPr>
              <a:t>revisions, dates, quality indicators</a:t>
            </a:r>
            <a:endParaRPr lang="en-US" sz="1100" dirty="0"/>
          </a:p>
        </p:txBody>
      </p:sp>
      <p:sp>
        <p:nvSpPr>
          <p:cNvPr id="33" name="Shape 25"/>
          <p:cNvSpPr/>
          <p:nvPr/>
        </p:nvSpPr>
        <p:spPr>
          <a:xfrm>
            <a:off x="5669280" y="2011680"/>
            <a:ext cx="3017520" cy="2011680"/>
          </a:xfrm>
          <a:prstGeom prst="roundRect">
            <a:avLst>
              <a:gd name="adj" fmla="val 3636"/>
            </a:avLst>
          </a:prstGeom>
          <a:solidFill>
            <a:srgbClr val="F4F7F5"/>
          </a:solidFill>
          <a:ln w="9525">
            <a:solidFill>
              <a:srgbClr val="D5DED9"/>
            </a:solidFill>
            <a:prstDash val="solid"/>
          </a:ln>
        </p:spPr>
      </p:sp>
      <p:sp>
        <p:nvSpPr>
          <p:cNvPr id="34" name="Text 26"/>
          <p:cNvSpPr txBox="1"/>
          <p:nvPr/>
        </p:nvSpPr>
        <p:spPr>
          <a:xfrm>
            <a:off x="5833872" y="2066544"/>
            <a:ext cx="2743200" cy="420624"/>
          </a:xfrm>
          <a:prstGeom prst="rect">
            <a:avLst/>
          </a:prstGeom>
          <a:noFill/>
          <a:ln/>
        </p:spPr>
        <p:txBody>
          <a:bodyPr wrap="square" lIns="0" tIns="0" rIns="0" bIns="0" rtlCol="0" anchor="ctr"/>
          <a:lstStyle/>
          <a:p>
            <a:pPr marL="0" indent="0">
              <a:buNone/>
            </a:pPr>
            <a:r>
              <a:rPr lang="en-US" sz="1300" b="1" dirty="0">
                <a:solidFill>
                  <a:srgbClr val="0E7C86"/>
                </a:solidFill>
                <a:latin typeface="Calibri" pitchFamily="34" charset="0"/>
                <a:ea typeface="Calibri" pitchFamily="34" charset="-122"/>
                <a:cs typeface="Calibri" pitchFamily="34" charset="-120"/>
              </a:rPr>
              <a:t>An AI-ready institution</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the other half of readiness</a:t>
            </a:r>
            <a:endParaRPr lang="en-US" sz="1100" dirty="0"/>
          </a:p>
        </p:txBody>
      </p:sp>
      <p:pic>
        <p:nvPicPr>
          <p:cNvPr id="35" name="Image 6" descr="preencoded.png"/>
          <p:cNvPicPr>
            <a:picLocks noChangeAspect="1"/>
          </p:cNvPicPr>
          <p:nvPr/>
        </p:nvPicPr>
        <p:blipFill>
          <a:blip r:embed="rId9"/>
          <a:stretch>
            <a:fillRect/>
          </a:stretch>
        </p:blipFill>
        <p:spPr>
          <a:xfrm>
            <a:off x="5852160" y="2633472"/>
            <a:ext cx="182880" cy="182880"/>
          </a:xfrm>
          <a:prstGeom prst="rect">
            <a:avLst/>
          </a:prstGeom>
        </p:spPr>
      </p:pic>
      <p:sp>
        <p:nvSpPr>
          <p:cNvPr id="36" name="Text 27"/>
          <p:cNvSpPr txBox="1"/>
          <p:nvPr/>
        </p:nvSpPr>
        <p:spPr>
          <a:xfrm>
            <a:off x="6144768" y="2560320"/>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Governance</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a written usage policy</a:t>
            </a:r>
            <a:endParaRPr lang="en-US" sz="1100" dirty="0"/>
          </a:p>
        </p:txBody>
      </p:sp>
      <p:pic>
        <p:nvPicPr>
          <p:cNvPr id="37" name="Image 7" descr="preencoded.png"/>
          <p:cNvPicPr>
            <a:picLocks noChangeAspect="1"/>
          </p:cNvPicPr>
          <p:nvPr/>
        </p:nvPicPr>
        <p:blipFill>
          <a:blip r:embed="rId10"/>
          <a:stretch>
            <a:fillRect/>
          </a:stretch>
        </p:blipFill>
        <p:spPr>
          <a:xfrm>
            <a:off x="5852160" y="2990088"/>
            <a:ext cx="182880" cy="182880"/>
          </a:xfrm>
          <a:prstGeom prst="rect">
            <a:avLst/>
          </a:prstGeom>
        </p:spPr>
      </p:pic>
      <p:sp>
        <p:nvSpPr>
          <p:cNvPr id="38" name="Text 28"/>
          <p:cNvSpPr txBox="1"/>
          <p:nvPr/>
        </p:nvSpPr>
        <p:spPr>
          <a:xfrm>
            <a:off x="6144768" y="2916936"/>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Skills</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to evaluate, not just use</a:t>
            </a:r>
            <a:endParaRPr lang="en-US" sz="1100" dirty="0"/>
          </a:p>
        </p:txBody>
      </p:sp>
      <p:pic>
        <p:nvPicPr>
          <p:cNvPr id="39" name="Image 8" descr="preencoded.png"/>
          <p:cNvPicPr>
            <a:picLocks noChangeAspect="1"/>
          </p:cNvPicPr>
          <p:nvPr/>
        </p:nvPicPr>
        <p:blipFill>
          <a:blip r:embed="rId11"/>
          <a:stretch>
            <a:fillRect/>
          </a:stretch>
        </p:blipFill>
        <p:spPr>
          <a:xfrm>
            <a:off x="5852160" y="3346704"/>
            <a:ext cx="182880" cy="182880"/>
          </a:xfrm>
          <a:prstGeom prst="rect">
            <a:avLst/>
          </a:prstGeom>
        </p:spPr>
      </p:pic>
      <p:sp>
        <p:nvSpPr>
          <p:cNvPr id="40" name="Text 29"/>
          <p:cNvSpPr txBox="1"/>
          <p:nvPr/>
        </p:nvSpPr>
        <p:spPr>
          <a:xfrm>
            <a:off x="6144768" y="3273552"/>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Infrastructure</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compute, security, sovereignty</a:t>
            </a:r>
            <a:endParaRPr lang="en-US" sz="1100" dirty="0"/>
          </a:p>
        </p:txBody>
      </p:sp>
      <p:pic>
        <p:nvPicPr>
          <p:cNvPr id="41" name="Image 9" descr="preencoded.png"/>
          <p:cNvPicPr>
            <a:picLocks noChangeAspect="1"/>
          </p:cNvPicPr>
          <p:nvPr/>
        </p:nvPicPr>
        <p:blipFill>
          <a:blip r:embed="rId12"/>
          <a:stretch>
            <a:fillRect/>
          </a:stretch>
        </p:blipFill>
        <p:spPr>
          <a:xfrm>
            <a:off x="5852160" y="3703320"/>
            <a:ext cx="182880" cy="182880"/>
          </a:xfrm>
          <a:prstGeom prst="rect">
            <a:avLst/>
          </a:prstGeom>
        </p:spPr>
      </p:pic>
      <p:sp>
        <p:nvSpPr>
          <p:cNvPr id="42" name="Text 30"/>
          <p:cNvSpPr txBox="1"/>
          <p:nvPr/>
        </p:nvSpPr>
        <p:spPr>
          <a:xfrm>
            <a:off x="6144768" y="3630168"/>
            <a:ext cx="2468880" cy="338328"/>
          </a:xfrm>
          <a:prstGeom prst="rect">
            <a:avLst/>
          </a:prstGeom>
          <a:noFill/>
          <a:ln/>
        </p:spPr>
        <p:txBody>
          <a:bodyPr wrap="square" lIns="0" tIns="0" rIns="0" bIns="0" rtlCol="0" anchor="ctr"/>
          <a:lstStyle/>
          <a:p>
            <a:pPr marL="0" indent="0">
              <a:buNone/>
            </a:pPr>
            <a:r>
              <a:rPr lang="en-US" sz="1050" b="1" dirty="0">
                <a:solidFill>
                  <a:srgbClr val="231F20"/>
                </a:solidFill>
                <a:latin typeface="Calibri" pitchFamily="34" charset="0"/>
                <a:ea typeface="Calibri" pitchFamily="34" charset="-122"/>
                <a:cs typeface="Calibri" pitchFamily="34" charset="-120"/>
              </a:rPr>
              <a:t>Evaluation</a:t>
            </a:r>
            <a:endParaRPr lang="en-US" sz="1100" dirty="0"/>
          </a:p>
          <a:p>
            <a:pPr marL="0" indent="0">
              <a:buNone/>
            </a:pPr>
            <a:r>
              <a:rPr lang="en-US" sz="900" dirty="0">
                <a:solidFill>
                  <a:srgbClr val="5E6964"/>
                </a:solidFill>
                <a:latin typeface="Calibri" pitchFamily="34" charset="0"/>
                <a:ea typeface="Calibri" pitchFamily="34" charset="-122"/>
                <a:cs typeface="Calibri" pitchFamily="34" charset="-120"/>
              </a:rPr>
              <a:t>testing before any adoption</a:t>
            </a:r>
            <a:endParaRPr lang="en-US" sz="1100" dirty="0"/>
          </a:p>
        </p:txBody>
      </p:sp>
      <p:sp>
        <p:nvSpPr>
          <p:cNvPr id="43" name="Shape 31"/>
          <p:cNvSpPr/>
          <p:nvPr/>
        </p:nvSpPr>
        <p:spPr>
          <a:xfrm>
            <a:off x="457200" y="4114800"/>
            <a:ext cx="8229600" cy="457200"/>
          </a:xfrm>
          <a:prstGeom prst="roundRect">
            <a:avLst>
              <a:gd name="adj" fmla="val 16000"/>
            </a:avLst>
          </a:prstGeom>
          <a:solidFill>
            <a:srgbClr val="FBF3DE"/>
          </a:solidFill>
          <a:ln w="15875">
            <a:solidFill>
              <a:srgbClr val="D49A00"/>
            </a:solidFill>
            <a:prstDash val="solid"/>
          </a:ln>
        </p:spPr>
      </p:sp>
      <p:pic>
        <p:nvPicPr>
          <p:cNvPr id="44" name="Image 10" descr="preencoded.png"/>
          <p:cNvPicPr>
            <a:picLocks noChangeAspect="1"/>
          </p:cNvPicPr>
          <p:nvPr/>
        </p:nvPicPr>
        <p:blipFill>
          <a:blip r:embed="rId13"/>
          <a:stretch>
            <a:fillRect/>
          </a:stretch>
        </p:blipFill>
        <p:spPr>
          <a:xfrm>
            <a:off x="603504" y="4224528"/>
            <a:ext cx="237744" cy="237744"/>
          </a:xfrm>
          <a:prstGeom prst="rect">
            <a:avLst/>
          </a:prstGeom>
        </p:spPr>
      </p:pic>
      <p:sp>
        <p:nvSpPr>
          <p:cNvPr id="45" name="Text 32"/>
          <p:cNvSpPr txBox="1"/>
          <p:nvPr/>
        </p:nvSpPr>
        <p:spPr>
          <a:xfrm>
            <a:off x="960120" y="4114800"/>
            <a:ext cx="7635240" cy="457200"/>
          </a:xfrm>
          <a:prstGeom prst="rect">
            <a:avLst/>
          </a:prstGeom>
          <a:noFill/>
          <a:ln/>
        </p:spPr>
        <p:txBody>
          <a:bodyPr wrap="square" lIns="0" tIns="0" rIns="0" bIns="0" rtlCol="0" anchor="ctr"/>
          <a:lstStyle/>
          <a:p>
            <a:pPr marL="0" indent="0">
              <a:buNone/>
            </a:pPr>
            <a:r>
              <a:rPr lang="en-US" sz="1050" b="1" dirty="0">
                <a:solidFill>
                  <a:srgbClr val="D49A00"/>
                </a:solidFill>
                <a:latin typeface="Calibri" pitchFamily="34" charset="0"/>
                <a:ea typeface="Calibri" pitchFamily="34" charset="-122"/>
                <a:cs typeface="Calibri" pitchFamily="34" charset="-120"/>
              </a:rPr>
              <a:t>Why it is urgent: </a:t>
            </a:r>
            <a:r>
              <a:rPr lang="en-US" sz="1050" dirty="0">
                <a:solidFill>
                  <a:srgbClr val="231F20"/>
                </a:solidFill>
                <a:latin typeface="Calibri" pitchFamily="34" charset="0"/>
                <a:ea typeface="Calibri" pitchFamily="34" charset="-122"/>
                <a:cs typeface="Calibri" pitchFamily="34" charset="-120"/>
              </a:rPr>
              <a:t>general-purpose assistants often give plausible but wrong official figures. AI-ready data let them query your APIs (via RAG or MCP) instead of inventing.</a:t>
            </a:r>
            <a:endParaRPr lang="en-US" sz="1050" dirty="0"/>
          </a:p>
        </p:txBody>
      </p:sp>
      <p:sp>
        <p:nvSpPr>
          <p:cNvPr id="46" name="Text 33"/>
          <p:cNvSpPr txBox="1"/>
          <p:nvPr/>
        </p:nvSpPr>
        <p:spPr>
          <a:xfrm>
            <a:off x="457200" y="4626864"/>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US Department of Commerce (2025), Generative AI and Open Data · FCSM 25-03 (2025), AI-Ready Federal Statistical Data · IMF (2026), StatGPT.</a:t>
            </a:r>
            <a:endParaRPr lang="en-US" sz="9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Three layers, eight words: the whole relationship</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6" name="Shape 14"/>
          <p:cNvSpPr/>
          <p:nvPr/>
        </p:nvSpPr>
        <p:spPr>
          <a:xfrm>
            <a:off x="457200" y="1371600"/>
            <a:ext cx="2606040" cy="2487168"/>
          </a:xfrm>
          <a:prstGeom prst="roundRect">
            <a:avLst>
              <a:gd name="adj" fmla="val 2941"/>
            </a:avLst>
          </a:prstGeom>
          <a:solidFill>
            <a:srgbClr val="F4F7F5"/>
          </a:solidFill>
          <a:ln w="9525">
            <a:solidFill>
              <a:srgbClr val="D5DED9"/>
            </a:solidFill>
            <a:prstDash val="solid"/>
          </a:ln>
        </p:spPr>
      </p:sp>
      <p:sp>
        <p:nvSpPr>
          <p:cNvPr id="17" name="Shape 15"/>
          <p:cNvSpPr/>
          <p:nvPr/>
        </p:nvSpPr>
        <p:spPr>
          <a:xfrm>
            <a:off x="1463040" y="1517904"/>
            <a:ext cx="594360" cy="594360"/>
          </a:xfrm>
          <a:prstGeom prst="ellipse">
            <a:avLst/>
          </a:prstGeom>
          <a:solidFill>
            <a:srgbClr val="00704A">
              <a:alpha val="22000"/>
            </a:srgbClr>
          </a:solidFill>
          <a:ln/>
        </p:spPr>
      </p:sp>
      <p:pic>
        <p:nvPicPr>
          <p:cNvPr id="18" name="Image 0" descr="preencoded.png"/>
          <p:cNvPicPr>
            <a:picLocks noChangeAspect="1"/>
          </p:cNvPicPr>
          <p:nvPr/>
        </p:nvPicPr>
        <p:blipFill>
          <a:blip r:embed="rId3"/>
          <a:stretch>
            <a:fillRect/>
          </a:stretch>
        </p:blipFill>
        <p:spPr>
          <a:xfrm>
            <a:off x="1605686" y="1660550"/>
            <a:ext cx="309067" cy="309067"/>
          </a:xfrm>
          <a:prstGeom prst="rect">
            <a:avLst/>
          </a:prstGeom>
        </p:spPr>
      </p:pic>
      <p:sp>
        <p:nvSpPr>
          <p:cNvPr id="19" name="Text 16"/>
          <p:cNvSpPr txBox="1"/>
          <p:nvPr/>
        </p:nvSpPr>
        <p:spPr>
          <a:xfrm>
            <a:off x="594360" y="2194560"/>
            <a:ext cx="2331720" cy="320040"/>
          </a:xfrm>
          <a:prstGeom prst="rect">
            <a:avLst/>
          </a:prstGeom>
          <a:noFill/>
          <a:ln/>
        </p:spPr>
        <p:txBody>
          <a:bodyPr wrap="square" lIns="0" tIns="0" rIns="0" bIns="0" rtlCol="0" anchor="t"/>
          <a:lstStyle/>
          <a:p>
            <a:pPr marL="0" indent="0" algn="ctr">
              <a:buNone/>
            </a:pPr>
            <a:r>
              <a:rPr lang="en-US" sz="1500" b="1" dirty="0">
                <a:solidFill>
                  <a:srgbClr val="00704A"/>
                </a:solidFill>
                <a:latin typeface="Calibri" pitchFamily="34" charset="0"/>
                <a:ea typeface="Calibri" pitchFamily="34" charset="-122"/>
                <a:cs typeface="Calibri" pitchFamily="34" charset="-120"/>
              </a:rPr>
              <a:t>Inside the model</a:t>
            </a:r>
            <a:endParaRPr lang="en-US" sz="1500" dirty="0"/>
          </a:p>
        </p:txBody>
      </p:sp>
      <p:sp>
        <p:nvSpPr>
          <p:cNvPr id="20" name="Text 17"/>
          <p:cNvSpPr txBox="1"/>
          <p:nvPr/>
        </p:nvSpPr>
        <p:spPr>
          <a:xfrm>
            <a:off x="59436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PRE-TRAINING · FINE-TUNING</a:t>
            </a:r>
            <a:endParaRPr lang="en-US" sz="900" dirty="0"/>
          </a:p>
        </p:txBody>
      </p:sp>
      <p:sp>
        <p:nvSpPr>
          <p:cNvPr id="21" name="Text 18"/>
          <p:cNvSpPr txBox="1"/>
          <p:nvPr/>
        </p:nvSpPr>
        <p:spPr>
          <a:xfrm>
            <a:off x="65836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Build and adjust the weights. Permanent, expensive, unable to cite a source.</a:t>
            </a:r>
            <a:endParaRPr lang="en-US" sz="1150" dirty="0"/>
          </a:p>
        </p:txBody>
      </p:sp>
      <p:sp>
        <p:nvSpPr>
          <p:cNvPr id="22" name="Shape 19"/>
          <p:cNvSpPr/>
          <p:nvPr/>
        </p:nvSpPr>
        <p:spPr>
          <a:xfrm>
            <a:off x="3268980" y="1371600"/>
            <a:ext cx="2606040" cy="2487168"/>
          </a:xfrm>
          <a:prstGeom prst="roundRect">
            <a:avLst>
              <a:gd name="adj" fmla="val 2941"/>
            </a:avLst>
          </a:prstGeom>
          <a:solidFill>
            <a:srgbClr val="E8F5EF"/>
          </a:solidFill>
          <a:ln w="15875">
            <a:solidFill>
              <a:srgbClr val="D49A00"/>
            </a:solidFill>
            <a:prstDash val="solid"/>
          </a:ln>
        </p:spPr>
      </p:sp>
      <p:sp>
        <p:nvSpPr>
          <p:cNvPr id="23" name="Shape 20"/>
          <p:cNvSpPr/>
          <p:nvPr/>
        </p:nvSpPr>
        <p:spPr>
          <a:xfrm>
            <a:off x="4274820" y="1517904"/>
            <a:ext cx="594360" cy="594360"/>
          </a:xfrm>
          <a:prstGeom prst="ellipse">
            <a:avLst/>
          </a:prstGeom>
          <a:solidFill>
            <a:srgbClr val="D49A00">
              <a:alpha val="22000"/>
            </a:srgbClr>
          </a:solidFill>
          <a:ln/>
        </p:spPr>
      </p:sp>
      <p:pic>
        <p:nvPicPr>
          <p:cNvPr id="24" name="Image 1" descr="preencoded.png"/>
          <p:cNvPicPr>
            <a:picLocks noChangeAspect="1"/>
          </p:cNvPicPr>
          <p:nvPr/>
        </p:nvPicPr>
        <p:blipFill>
          <a:blip r:embed="rId4"/>
          <a:stretch>
            <a:fillRect/>
          </a:stretch>
        </p:blipFill>
        <p:spPr>
          <a:xfrm>
            <a:off x="4417466" y="1660550"/>
            <a:ext cx="309067" cy="309067"/>
          </a:xfrm>
          <a:prstGeom prst="rect">
            <a:avLst/>
          </a:prstGeom>
        </p:spPr>
      </p:pic>
      <p:sp>
        <p:nvSpPr>
          <p:cNvPr id="25" name="Text 21"/>
          <p:cNvSpPr txBox="1"/>
          <p:nvPr/>
        </p:nvSpPr>
        <p:spPr>
          <a:xfrm>
            <a:off x="3406140" y="2194560"/>
            <a:ext cx="2331720" cy="320040"/>
          </a:xfrm>
          <a:prstGeom prst="rect">
            <a:avLst/>
          </a:prstGeom>
          <a:noFill/>
          <a:ln/>
        </p:spPr>
        <p:txBody>
          <a:bodyPr wrap="square" lIns="0" tIns="0" rIns="0" bIns="0" rtlCol="0" anchor="t"/>
          <a:lstStyle/>
          <a:p>
            <a:pPr marL="0" indent="0" algn="ctr">
              <a:buNone/>
            </a:pPr>
            <a:r>
              <a:rPr lang="en-US" sz="1500" b="1" dirty="0">
                <a:solidFill>
                  <a:srgbClr val="D49A00"/>
                </a:solidFill>
                <a:latin typeface="Calibri" pitchFamily="34" charset="0"/>
                <a:ea typeface="Calibri" pitchFamily="34" charset="-122"/>
                <a:cs typeface="Calibri" pitchFamily="34" charset="-120"/>
              </a:rPr>
              <a:t>Around the model</a:t>
            </a:r>
            <a:endParaRPr lang="en-US" sz="1500" dirty="0"/>
          </a:p>
        </p:txBody>
      </p:sp>
      <p:sp>
        <p:nvSpPr>
          <p:cNvPr id="26" name="Text 22"/>
          <p:cNvSpPr txBox="1"/>
          <p:nvPr/>
        </p:nvSpPr>
        <p:spPr>
          <a:xfrm>
            <a:off x="340614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PROMPT · RAG</a:t>
            </a:r>
            <a:endParaRPr lang="en-US" sz="900" dirty="0"/>
          </a:p>
        </p:txBody>
      </p:sp>
      <p:sp>
        <p:nvSpPr>
          <p:cNvPr id="27" name="Text 23"/>
          <p:cNvSpPr txBox="1"/>
          <p:nvPr/>
        </p:nvSpPr>
        <p:spPr>
          <a:xfrm>
            <a:off x="347014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Set the instruction and fill the context with retrieved documents. Cheap, reversible, traceable.</a:t>
            </a:r>
            <a:endParaRPr lang="en-US" sz="1150" dirty="0"/>
          </a:p>
        </p:txBody>
      </p:sp>
      <p:sp>
        <p:nvSpPr>
          <p:cNvPr id="28" name="Shape 24"/>
          <p:cNvSpPr/>
          <p:nvPr/>
        </p:nvSpPr>
        <p:spPr>
          <a:xfrm>
            <a:off x="6080760" y="1371600"/>
            <a:ext cx="2606040" cy="2487168"/>
          </a:xfrm>
          <a:prstGeom prst="roundRect">
            <a:avLst>
              <a:gd name="adj" fmla="val 2941"/>
            </a:avLst>
          </a:prstGeom>
          <a:solidFill>
            <a:srgbClr val="F4F7F5"/>
          </a:solidFill>
          <a:ln w="9525">
            <a:solidFill>
              <a:srgbClr val="D5DED9"/>
            </a:solidFill>
            <a:prstDash val="solid"/>
          </a:ln>
        </p:spPr>
      </p:sp>
      <p:sp>
        <p:nvSpPr>
          <p:cNvPr id="29" name="Shape 25"/>
          <p:cNvSpPr/>
          <p:nvPr/>
        </p:nvSpPr>
        <p:spPr>
          <a:xfrm>
            <a:off x="7086600" y="1517904"/>
            <a:ext cx="594360" cy="594360"/>
          </a:xfrm>
          <a:prstGeom prst="ellipse">
            <a:avLst/>
          </a:prstGeom>
          <a:solidFill>
            <a:srgbClr val="C4621D">
              <a:alpha val="22000"/>
            </a:srgbClr>
          </a:solidFill>
          <a:ln/>
        </p:spPr>
      </p:sp>
      <p:pic>
        <p:nvPicPr>
          <p:cNvPr id="30" name="Image 2" descr="preencoded.png"/>
          <p:cNvPicPr>
            <a:picLocks noChangeAspect="1"/>
          </p:cNvPicPr>
          <p:nvPr/>
        </p:nvPicPr>
        <p:blipFill>
          <a:blip r:embed="rId5"/>
          <a:stretch>
            <a:fillRect/>
          </a:stretch>
        </p:blipFill>
        <p:spPr>
          <a:xfrm>
            <a:off x="7229246" y="1660550"/>
            <a:ext cx="309067" cy="309067"/>
          </a:xfrm>
          <a:prstGeom prst="rect">
            <a:avLst/>
          </a:prstGeom>
        </p:spPr>
      </p:pic>
      <p:sp>
        <p:nvSpPr>
          <p:cNvPr id="31" name="Text 26"/>
          <p:cNvSpPr txBox="1"/>
          <p:nvPr/>
        </p:nvSpPr>
        <p:spPr>
          <a:xfrm>
            <a:off x="6217920" y="2194560"/>
            <a:ext cx="2331720" cy="320040"/>
          </a:xfrm>
          <a:prstGeom prst="rect">
            <a:avLst/>
          </a:prstGeom>
          <a:noFill/>
          <a:ln/>
        </p:spPr>
        <p:txBody>
          <a:bodyPr wrap="square" lIns="0" tIns="0" rIns="0" bIns="0" rtlCol="0" anchor="t"/>
          <a:lstStyle/>
          <a:p>
            <a:pPr marL="0" indent="0" algn="ctr">
              <a:buNone/>
            </a:pPr>
            <a:r>
              <a:rPr lang="en-US" sz="1500" b="1" dirty="0">
                <a:solidFill>
                  <a:srgbClr val="C4621D"/>
                </a:solidFill>
                <a:latin typeface="Calibri" pitchFamily="34" charset="0"/>
                <a:ea typeface="Calibri" pitchFamily="34" charset="-122"/>
                <a:cs typeface="Calibri" pitchFamily="34" charset="-120"/>
              </a:rPr>
              <a:t>Beyond the model</a:t>
            </a:r>
            <a:endParaRPr lang="en-US" sz="1500" dirty="0"/>
          </a:p>
        </p:txBody>
      </p:sp>
      <p:sp>
        <p:nvSpPr>
          <p:cNvPr id="32" name="Text 27"/>
          <p:cNvSpPr txBox="1"/>
          <p:nvPr/>
        </p:nvSpPr>
        <p:spPr>
          <a:xfrm>
            <a:off x="6217920" y="2542032"/>
            <a:ext cx="2331720" cy="228600"/>
          </a:xfrm>
          <a:prstGeom prst="rect">
            <a:avLst/>
          </a:prstGeom>
          <a:noFill/>
          <a:ln/>
        </p:spPr>
        <p:txBody>
          <a:bodyPr wrap="square" lIns="0" tIns="0" rIns="0" bIns="0" rtlCol="0" anchor="t"/>
          <a:lstStyle/>
          <a:p>
            <a:pPr marL="0" indent="0" algn="ctr">
              <a:buNone/>
            </a:pPr>
            <a:r>
              <a:rPr lang="en-US" sz="900" b="1" kern="0" spc="100" dirty="0">
                <a:solidFill>
                  <a:srgbClr val="5E6964"/>
                </a:solidFill>
                <a:latin typeface="Calibri" pitchFamily="34" charset="0"/>
                <a:ea typeface="Calibri" pitchFamily="34" charset="-122"/>
                <a:cs typeface="Calibri" pitchFamily="34" charset="-120"/>
              </a:rPr>
              <a:t>AGENT · AGENTIC · MCP</a:t>
            </a:r>
            <a:endParaRPr lang="en-US" sz="900" dirty="0"/>
          </a:p>
        </p:txBody>
      </p:sp>
      <p:sp>
        <p:nvSpPr>
          <p:cNvPr id="33" name="Text 28"/>
          <p:cNvSpPr txBox="1"/>
          <p:nvPr/>
        </p:nvSpPr>
        <p:spPr>
          <a:xfrm>
            <a:off x="6281928" y="2834640"/>
            <a:ext cx="2212848" cy="9601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Let output become action through standard tools. None makes the model any smarter.</a:t>
            </a:r>
            <a:endParaRPr lang="en-US" sz="1150" dirty="0"/>
          </a:p>
        </p:txBody>
      </p:sp>
      <p:sp>
        <p:nvSpPr>
          <p:cNvPr id="34" name="Shape 29"/>
          <p:cNvSpPr/>
          <p:nvPr/>
        </p:nvSpPr>
        <p:spPr>
          <a:xfrm>
            <a:off x="457200" y="3986784"/>
            <a:ext cx="8229600" cy="548640"/>
          </a:xfrm>
          <a:prstGeom prst="roundRect">
            <a:avLst>
              <a:gd name="adj" fmla="val 13333"/>
            </a:avLst>
          </a:prstGeom>
          <a:solidFill>
            <a:srgbClr val="FFFFFF"/>
          </a:solidFill>
          <a:ln w="9525">
            <a:solidFill>
              <a:srgbClr val="D5DED9"/>
            </a:solidFill>
            <a:prstDash val="solid"/>
          </a:ln>
        </p:spPr>
      </p:sp>
      <p:sp>
        <p:nvSpPr>
          <p:cNvPr id="35" name="Shape 30"/>
          <p:cNvSpPr/>
          <p:nvPr/>
        </p:nvSpPr>
        <p:spPr>
          <a:xfrm>
            <a:off x="603504" y="4059936"/>
            <a:ext cx="402336" cy="402336"/>
          </a:xfrm>
          <a:prstGeom prst="ellipse">
            <a:avLst/>
          </a:prstGeom>
          <a:solidFill>
            <a:srgbClr val="5E6964">
              <a:alpha val="22000"/>
            </a:srgbClr>
          </a:solidFill>
          <a:ln/>
        </p:spPr>
      </p:sp>
      <p:pic>
        <p:nvPicPr>
          <p:cNvPr id="36" name="Image 3" descr="preencoded.png"/>
          <p:cNvPicPr>
            <a:picLocks noChangeAspect="1"/>
          </p:cNvPicPr>
          <p:nvPr/>
        </p:nvPicPr>
        <p:blipFill>
          <a:blip r:embed="rId6"/>
          <a:stretch>
            <a:fillRect/>
          </a:stretch>
        </p:blipFill>
        <p:spPr>
          <a:xfrm>
            <a:off x="700065" y="4156497"/>
            <a:ext cx="209215" cy="209215"/>
          </a:xfrm>
          <a:prstGeom prst="rect">
            <a:avLst/>
          </a:prstGeom>
        </p:spPr>
      </p:pic>
      <p:sp>
        <p:nvSpPr>
          <p:cNvPr id="37" name="Text 31"/>
          <p:cNvSpPr txBox="1"/>
          <p:nvPr/>
        </p:nvSpPr>
        <p:spPr>
          <a:xfrm>
            <a:off x="1143000" y="4023360"/>
            <a:ext cx="7406640" cy="475488"/>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And AGI? </a:t>
            </a:r>
            <a:r>
              <a:rPr lang="en-US" sz="1150" dirty="0">
                <a:solidFill>
                  <a:srgbClr val="231F20"/>
                </a:solidFill>
                <a:latin typeface="Calibri" pitchFamily="34" charset="0"/>
                <a:ea typeface="Calibri" pitchFamily="34" charset="-122"/>
                <a:cs typeface="Calibri" pitchFamily="34" charset="-120"/>
              </a:rPr>
              <a:t>Neither a layer nor a product: a research horizon whose very definition is still disputed. It does not belong in a specification.</a:t>
            </a:r>
            <a:endParaRPr lang="en-US" sz="11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Exposure is broad; the payoff is slow</a:t>
            </a:r>
            <a:endParaRPr lang="en-US" sz="28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6" name="Shape 14"/>
          <p:cNvSpPr/>
          <p:nvPr/>
        </p:nvSpPr>
        <p:spPr>
          <a:xfrm>
            <a:off x="457200" y="1371600"/>
            <a:ext cx="3383280" cy="1783080"/>
          </a:xfrm>
          <a:prstGeom prst="roundRect">
            <a:avLst>
              <a:gd name="adj" fmla="val 4103"/>
            </a:avLst>
          </a:prstGeom>
          <a:solidFill>
            <a:srgbClr val="E8F5EF"/>
          </a:solidFill>
          <a:ln w="15875">
            <a:solidFill>
              <a:srgbClr val="00A86A"/>
            </a:solidFill>
            <a:prstDash val="solid"/>
          </a:ln>
        </p:spPr>
      </p:sp>
      <p:sp>
        <p:nvSpPr>
          <p:cNvPr id="17" name="Text 15"/>
          <p:cNvSpPr txBox="1"/>
          <p:nvPr/>
        </p:nvSpPr>
        <p:spPr>
          <a:xfrm>
            <a:off x="640080" y="1444752"/>
            <a:ext cx="2926080" cy="685800"/>
          </a:xfrm>
          <a:prstGeom prst="rect">
            <a:avLst/>
          </a:prstGeom>
          <a:noFill/>
          <a:ln/>
        </p:spPr>
        <p:txBody>
          <a:bodyPr wrap="square" lIns="0" tIns="0" rIns="0" bIns="0" rtlCol="0" anchor="ctr"/>
          <a:lstStyle/>
          <a:p>
            <a:pPr marL="0" indent="0">
              <a:buNone/>
            </a:pPr>
            <a:r>
              <a:rPr lang="en-US" sz="4400" b="1" dirty="0">
                <a:solidFill>
                  <a:srgbClr val="00A86A"/>
                </a:solidFill>
                <a:latin typeface="Calibri" pitchFamily="34" charset="0"/>
                <a:ea typeface="Calibri" pitchFamily="34" charset="-122"/>
                <a:cs typeface="Calibri" pitchFamily="34" charset="-120"/>
              </a:rPr>
              <a:t>80%</a:t>
            </a:r>
            <a:endParaRPr lang="en-US" sz="4400" dirty="0"/>
          </a:p>
        </p:txBody>
      </p:sp>
      <p:sp>
        <p:nvSpPr>
          <p:cNvPr id="18" name="Text 16"/>
          <p:cNvSpPr txBox="1"/>
          <p:nvPr/>
        </p:nvSpPr>
        <p:spPr>
          <a:xfrm>
            <a:off x="640080" y="2148840"/>
            <a:ext cx="3017520" cy="5029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of US workers have at least 10% of their tasks exposed to LLMs.</a:t>
            </a:r>
            <a:endParaRPr lang="en-US" sz="1150" dirty="0"/>
          </a:p>
        </p:txBody>
      </p:sp>
      <p:sp>
        <p:nvSpPr>
          <p:cNvPr id="19" name="Text 17"/>
          <p:cNvSpPr txBox="1"/>
          <p:nvPr/>
        </p:nvSpPr>
        <p:spPr>
          <a:xfrm>
            <a:off x="640080" y="2697480"/>
            <a:ext cx="3017520" cy="274320"/>
          </a:xfrm>
          <a:prstGeom prst="rect">
            <a:avLst/>
          </a:prstGeom>
          <a:noFill/>
          <a:ln/>
        </p:spPr>
        <p:txBody>
          <a:bodyPr wrap="square" lIns="0" tIns="0" rIns="0" bIns="0" rtlCol="0" anchor="t"/>
          <a:lstStyle/>
          <a:p>
            <a:pPr marL="0" indent="0">
              <a:buNone/>
            </a:pPr>
            <a:r>
              <a:rPr lang="en-US" sz="1050" b="1" i="1" dirty="0">
                <a:solidFill>
                  <a:srgbClr val="00704A"/>
                </a:solidFill>
                <a:latin typeface="Calibri" pitchFamily="34" charset="0"/>
                <a:ea typeface="Calibri" pitchFamily="34" charset="-122"/>
                <a:cs typeface="Calibri" pitchFamily="34" charset="-120"/>
              </a:rPr>
              <a:t>Exposure does not mean replacement.</a:t>
            </a:r>
            <a:endParaRPr lang="en-US" sz="1050" dirty="0"/>
          </a:p>
        </p:txBody>
      </p:sp>
      <p:graphicFrame>
        <p:nvGraphicFramePr>
          <p:cNvPr id="20" name="Chart 0"/>
          <p:cNvGraphicFramePr/>
          <p:nvPr/>
        </p:nvGraphicFramePr>
        <p:xfrm>
          <a:off x="4069080" y="1325880"/>
          <a:ext cx="461772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21" name="Shape 18"/>
          <p:cNvSpPr/>
          <p:nvPr/>
        </p:nvSpPr>
        <p:spPr>
          <a:xfrm>
            <a:off x="457200" y="3310128"/>
            <a:ext cx="2606040" cy="1225296"/>
          </a:xfrm>
          <a:prstGeom prst="roundRect">
            <a:avLst>
              <a:gd name="adj" fmla="val 5970"/>
            </a:avLst>
          </a:prstGeom>
          <a:solidFill>
            <a:srgbClr val="F4F7F5"/>
          </a:solidFill>
          <a:ln w="9525">
            <a:solidFill>
              <a:srgbClr val="D5DED9"/>
            </a:solidFill>
            <a:prstDash val="solid"/>
          </a:ln>
        </p:spPr>
      </p:sp>
      <p:sp>
        <p:nvSpPr>
          <p:cNvPr id="22" name="Shape 19"/>
          <p:cNvSpPr/>
          <p:nvPr/>
        </p:nvSpPr>
        <p:spPr>
          <a:xfrm>
            <a:off x="594360" y="3419856"/>
            <a:ext cx="365760" cy="365760"/>
          </a:xfrm>
          <a:prstGeom prst="ellipse">
            <a:avLst/>
          </a:prstGeom>
          <a:solidFill>
            <a:srgbClr val="00A86A">
              <a:alpha val="22000"/>
            </a:srgbClr>
          </a:solidFill>
          <a:ln/>
        </p:spPr>
      </p:sp>
      <p:pic>
        <p:nvPicPr>
          <p:cNvPr id="23" name="Image 0" descr="preencoded.png"/>
          <p:cNvPicPr>
            <a:picLocks noChangeAspect="1"/>
          </p:cNvPicPr>
          <p:nvPr/>
        </p:nvPicPr>
        <p:blipFill>
          <a:blip r:embed="rId4"/>
          <a:stretch>
            <a:fillRect/>
          </a:stretch>
        </p:blipFill>
        <p:spPr>
          <a:xfrm>
            <a:off x="682142" y="3507638"/>
            <a:ext cx="190195" cy="190195"/>
          </a:xfrm>
          <a:prstGeom prst="rect">
            <a:avLst/>
          </a:prstGeom>
        </p:spPr>
      </p:pic>
      <p:sp>
        <p:nvSpPr>
          <p:cNvPr id="24" name="Text 20"/>
          <p:cNvSpPr txBox="1"/>
          <p:nvPr/>
        </p:nvSpPr>
        <p:spPr>
          <a:xfrm>
            <a:off x="1051560" y="3419856"/>
            <a:ext cx="1920240" cy="365760"/>
          </a:xfrm>
          <a:prstGeom prst="rect">
            <a:avLst/>
          </a:prstGeom>
          <a:noFill/>
          <a:ln/>
        </p:spPr>
        <p:txBody>
          <a:bodyPr wrap="square" lIns="0" tIns="0" rIns="0" bIns="0" rtlCol="0" anchor="ctr"/>
          <a:lstStyle/>
          <a:p>
            <a:pPr marL="0" indent="0">
              <a:buNone/>
            </a:pPr>
            <a:r>
              <a:rPr lang="en-US" sz="1200" b="1" dirty="0">
                <a:solidFill>
                  <a:srgbClr val="00A86A"/>
                </a:solidFill>
                <a:latin typeface="Calibri" pitchFamily="34" charset="0"/>
                <a:ea typeface="Calibri" pitchFamily="34" charset="-122"/>
                <a:cs typeface="Calibri" pitchFamily="34" charset="-120"/>
              </a:rPr>
              <a:t>Daily work</a:t>
            </a:r>
            <a:endParaRPr lang="en-US" sz="1200" dirty="0"/>
          </a:p>
        </p:txBody>
      </p:sp>
      <p:sp>
        <p:nvSpPr>
          <p:cNvPr id="25" name="Text 21"/>
          <p:cNvSpPr txBox="1"/>
          <p:nvPr/>
        </p:nvSpPr>
        <p:spPr>
          <a:xfrm>
            <a:off x="594360" y="3840480"/>
            <a:ext cx="2359152" cy="65836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A first draft costs almost nothing; the judgement to pick which draft to keep becomes scarce.</a:t>
            </a:r>
            <a:endParaRPr lang="en-US" sz="1000" dirty="0"/>
          </a:p>
        </p:txBody>
      </p:sp>
      <p:sp>
        <p:nvSpPr>
          <p:cNvPr id="26" name="Shape 22"/>
          <p:cNvSpPr/>
          <p:nvPr/>
        </p:nvSpPr>
        <p:spPr>
          <a:xfrm>
            <a:off x="3268980" y="3310128"/>
            <a:ext cx="2606040" cy="1225296"/>
          </a:xfrm>
          <a:prstGeom prst="roundRect">
            <a:avLst>
              <a:gd name="adj" fmla="val 5970"/>
            </a:avLst>
          </a:prstGeom>
          <a:solidFill>
            <a:srgbClr val="F4F7F5"/>
          </a:solidFill>
          <a:ln w="9525">
            <a:solidFill>
              <a:srgbClr val="D5DED9"/>
            </a:solidFill>
            <a:prstDash val="solid"/>
          </a:ln>
        </p:spPr>
      </p:sp>
      <p:sp>
        <p:nvSpPr>
          <p:cNvPr id="27" name="Shape 23"/>
          <p:cNvSpPr/>
          <p:nvPr/>
        </p:nvSpPr>
        <p:spPr>
          <a:xfrm>
            <a:off x="3406140" y="3419856"/>
            <a:ext cx="365760" cy="365760"/>
          </a:xfrm>
          <a:prstGeom prst="ellipse">
            <a:avLst/>
          </a:prstGeom>
          <a:solidFill>
            <a:srgbClr val="D49A00">
              <a:alpha val="22000"/>
            </a:srgbClr>
          </a:solidFill>
          <a:ln/>
        </p:spPr>
      </p:sp>
      <p:pic>
        <p:nvPicPr>
          <p:cNvPr id="28" name="Image 1" descr="preencoded.png"/>
          <p:cNvPicPr>
            <a:picLocks noChangeAspect="1"/>
          </p:cNvPicPr>
          <p:nvPr/>
        </p:nvPicPr>
        <p:blipFill>
          <a:blip r:embed="rId5"/>
          <a:stretch>
            <a:fillRect/>
          </a:stretch>
        </p:blipFill>
        <p:spPr>
          <a:xfrm>
            <a:off x="3493922" y="3507638"/>
            <a:ext cx="190195" cy="190195"/>
          </a:xfrm>
          <a:prstGeom prst="rect">
            <a:avLst/>
          </a:prstGeom>
        </p:spPr>
      </p:pic>
      <p:sp>
        <p:nvSpPr>
          <p:cNvPr id="29" name="Text 24"/>
          <p:cNvSpPr txBox="1"/>
          <p:nvPr/>
        </p:nvSpPr>
        <p:spPr>
          <a:xfrm>
            <a:off x="3863340" y="3419856"/>
            <a:ext cx="1920240" cy="365760"/>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Your office</a:t>
            </a:r>
            <a:endParaRPr lang="en-US" sz="1200" dirty="0"/>
          </a:p>
        </p:txBody>
      </p:sp>
      <p:sp>
        <p:nvSpPr>
          <p:cNvPr id="30" name="Text 25"/>
          <p:cNvSpPr txBox="1"/>
          <p:nvPr/>
        </p:nvSpPr>
        <p:spPr>
          <a:xfrm>
            <a:off x="3406140" y="3840480"/>
            <a:ext cx="2359152" cy="65836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Your staff already use these tools. A policy of silence is a policy of shadow use.</a:t>
            </a:r>
            <a:endParaRPr lang="en-US" sz="1000" dirty="0"/>
          </a:p>
        </p:txBody>
      </p:sp>
      <p:sp>
        <p:nvSpPr>
          <p:cNvPr id="31" name="Shape 26"/>
          <p:cNvSpPr/>
          <p:nvPr/>
        </p:nvSpPr>
        <p:spPr>
          <a:xfrm>
            <a:off x="6080760" y="3310128"/>
            <a:ext cx="2606040" cy="1225296"/>
          </a:xfrm>
          <a:prstGeom prst="roundRect">
            <a:avLst>
              <a:gd name="adj" fmla="val 5970"/>
            </a:avLst>
          </a:prstGeom>
          <a:solidFill>
            <a:srgbClr val="F4F7F5"/>
          </a:solidFill>
          <a:ln w="9525">
            <a:solidFill>
              <a:srgbClr val="D5DED9"/>
            </a:solidFill>
            <a:prstDash val="solid"/>
          </a:ln>
        </p:spPr>
      </p:sp>
      <p:sp>
        <p:nvSpPr>
          <p:cNvPr id="32" name="Shape 27"/>
          <p:cNvSpPr/>
          <p:nvPr/>
        </p:nvSpPr>
        <p:spPr>
          <a:xfrm>
            <a:off x="6217920" y="3419856"/>
            <a:ext cx="365760" cy="365760"/>
          </a:xfrm>
          <a:prstGeom prst="ellipse">
            <a:avLst/>
          </a:prstGeom>
          <a:solidFill>
            <a:srgbClr val="0E7C86">
              <a:alpha val="22000"/>
            </a:srgbClr>
          </a:solidFill>
          <a:ln/>
        </p:spPr>
      </p:sp>
      <p:pic>
        <p:nvPicPr>
          <p:cNvPr id="33" name="Image 2" descr="preencoded.png"/>
          <p:cNvPicPr>
            <a:picLocks noChangeAspect="1"/>
          </p:cNvPicPr>
          <p:nvPr/>
        </p:nvPicPr>
        <p:blipFill>
          <a:blip r:embed="rId6"/>
          <a:stretch>
            <a:fillRect/>
          </a:stretch>
        </p:blipFill>
        <p:spPr>
          <a:xfrm>
            <a:off x="6305702" y="3507638"/>
            <a:ext cx="190195" cy="190195"/>
          </a:xfrm>
          <a:prstGeom prst="rect">
            <a:avLst/>
          </a:prstGeom>
        </p:spPr>
      </p:pic>
      <p:sp>
        <p:nvSpPr>
          <p:cNvPr id="34" name="Text 28"/>
          <p:cNvSpPr txBox="1"/>
          <p:nvPr/>
        </p:nvSpPr>
        <p:spPr>
          <a:xfrm>
            <a:off x="6675120" y="3419856"/>
            <a:ext cx="1920240" cy="36576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Learning</a:t>
            </a:r>
            <a:endParaRPr lang="en-US" sz="1200" dirty="0"/>
          </a:p>
        </p:txBody>
      </p:sp>
      <p:sp>
        <p:nvSpPr>
          <p:cNvPr id="35" name="Text 29"/>
          <p:cNvSpPr txBox="1"/>
          <p:nvPr/>
        </p:nvSpPr>
        <p:spPr>
          <a:xfrm>
            <a:off x="6217920" y="3840480"/>
            <a:ext cx="2359152" cy="658368"/>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Gains are largest for novices: assess the process, not just the product.</a:t>
            </a:r>
            <a:endParaRPr lang="en-US" sz="1000" dirty="0"/>
          </a:p>
        </p:txBody>
      </p:sp>
      <p:sp>
        <p:nvSpPr>
          <p:cNvPr id="36" name="Text 30"/>
          <p:cNvSpPr txBox="1"/>
          <p:nvPr/>
        </p:nvSpPr>
        <p:spPr>
          <a:xfrm>
            <a:off x="457200" y="4599432"/>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Eloundou et al. (2024), Science 384 · Brynjolfsson, Rock &amp; Syverson (2021), AEJ: Macro 13(1) · Noy &amp; Zhang (2023); Bick et al. (2024); Brynjolfsson, Li &amp; Raymond (2025).</a:t>
            </a:r>
            <a:endParaRPr lang="en-US" sz="9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06  ·  FOR OFFICIAL STATISTICS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The red line: no layer produces a published figure</a:t>
            </a:r>
            <a:endParaRPr lang="en-US" sz="2400" dirty="0"/>
          </a:p>
        </p:txBody>
      </p:sp>
      <p:sp>
        <p:nvSpPr>
          <p:cNvPr id="8" name="Shape 6"/>
          <p:cNvSpPr/>
          <p:nvPr/>
        </p:nvSpPr>
        <p:spPr>
          <a:xfrm>
            <a:off x="7635240" y="329184"/>
            <a:ext cx="100584" cy="100584"/>
          </a:xfrm>
          <a:prstGeom prst="ellipse">
            <a:avLst/>
          </a:prstGeom>
          <a:solidFill>
            <a:srgbClr val="D5DED9"/>
          </a:solidFill>
          <a:ln/>
        </p:spPr>
      </p:sp>
      <p:sp>
        <p:nvSpPr>
          <p:cNvPr id="9" name="Shape 7"/>
          <p:cNvSpPr/>
          <p:nvPr/>
        </p:nvSpPr>
        <p:spPr>
          <a:xfrm>
            <a:off x="7818120" y="329184"/>
            <a:ext cx="100584" cy="100584"/>
          </a:xfrm>
          <a:prstGeom prst="ellipse">
            <a:avLst/>
          </a:prstGeom>
          <a:solidFill>
            <a:srgbClr val="D5DED9"/>
          </a:solidFill>
          <a:ln/>
        </p:spPr>
      </p:sp>
      <p:sp>
        <p:nvSpPr>
          <p:cNvPr id="10" name="Shape 8"/>
          <p:cNvSpPr/>
          <p:nvPr/>
        </p:nvSpPr>
        <p:spPr>
          <a:xfrm>
            <a:off x="8001000" y="329184"/>
            <a:ext cx="100584" cy="100584"/>
          </a:xfrm>
          <a:prstGeom prst="ellipse">
            <a:avLst/>
          </a:prstGeom>
          <a:solidFill>
            <a:srgbClr val="D5DED9"/>
          </a:solidFill>
          <a:ln/>
        </p:spPr>
      </p:sp>
      <p:sp>
        <p:nvSpPr>
          <p:cNvPr id="11" name="Shape 9"/>
          <p:cNvSpPr/>
          <p:nvPr/>
        </p:nvSpPr>
        <p:spPr>
          <a:xfrm>
            <a:off x="8183880" y="329184"/>
            <a:ext cx="100584" cy="100584"/>
          </a:xfrm>
          <a:prstGeom prst="ellipse">
            <a:avLst/>
          </a:prstGeom>
          <a:solidFill>
            <a:srgbClr val="D5DED9"/>
          </a:solidFill>
          <a:ln/>
        </p:spPr>
      </p:sp>
      <p:sp>
        <p:nvSpPr>
          <p:cNvPr id="12" name="Shape 10"/>
          <p:cNvSpPr/>
          <p:nvPr/>
        </p:nvSpPr>
        <p:spPr>
          <a:xfrm>
            <a:off x="8366760" y="329184"/>
            <a:ext cx="100584" cy="100584"/>
          </a:xfrm>
          <a:prstGeom prst="ellipse">
            <a:avLst/>
          </a:prstGeom>
          <a:solidFill>
            <a:srgbClr val="D5DED9"/>
          </a:solidFill>
          <a:ln/>
        </p:spPr>
      </p:sp>
      <p:sp>
        <p:nvSpPr>
          <p:cNvPr id="13" name="Shape 11"/>
          <p:cNvSpPr/>
          <p:nvPr/>
        </p:nvSpPr>
        <p:spPr>
          <a:xfrm>
            <a:off x="8549640" y="329184"/>
            <a:ext cx="100584" cy="100584"/>
          </a:xfrm>
          <a:prstGeom prst="ellipse">
            <a:avLst/>
          </a:prstGeom>
          <a:solidFill>
            <a:srgbClr val="B83B2E"/>
          </a:solidFill>
          <a:ln/>
        </p:spPr>
      </p:sp>
      <p:sp>
        <p:nvSpPr>
          <p:cNvPr id="14" name="Text 12"/>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30</a:t>
            </a:r>
            <a:endParaRPr lang="en-US" sz="850" dirty="0"/>
          </a:p>
        </p:txBody>
      </p:sp>
      <p:sp>
        <p:nvSpPr>
          <p:cNvPr id="16" name="Shape 14"/>
          <p:cNvSpPr/>
          <p:nvPr/>
        </p:nvSpPr>
        <p:spPr>
          <a:xfrm>
            <a:off x="457200" y="1371600"/>
            <a:ext cx="3977640" cy="2514600"/>
          </a:xfrm>
          <a:prstGeom prst="roundRect">
            <a:avLst>
              <a:gd name="adj" fmla="val 2909"/>
            </a:avLst>
          </a:prstGeom>
          <a:solidFill>
            <a:srgbClr val="E8F5EF"/>
          </a:solidFill>
          <a:ln w="15875">
            <a:solidFill>
              <a:srgbClr val="00A86A"/>
            </a:solidFill>
            <a:prstDash val="solid"/>
          </a:ln>
        </p:spPr>
      </p:sp>
      <p:sp>
        <p:nvSpPr>
          <p:cNvPr id="17" name="Text 15"/>
          <p:cNvSpPr txBox="1"/>
          <p:nvPr/>
        </p:nvSpPr>
        <p:spPr>
          <a:xfrm>
            <a:off x="658368" y="1481328"/>
            <a:ext cx="3474720" cy="365760"/>
          </a:xfrm>
          <a:prstGeom prst="rect">
            <a:avLst/>
          </a:prstGeom>
          <a:noFill/>
          <a:ln/>
        </p:spPr>
        <p:txBody>
          <a:bodyPr wrap="square" lIns="0" tIns="0" rIns="0" bIns="0" rtlCol="0" anchor="ctr"/>
          <a:lstStyle/>
          <a:p>
            <a:pPr marL="0" indent="0">
              <a:buNone/>
            </a:pPr>
            <a:r>
              <a:rPr lang="en-US" sz="1500" b="1" dirty="0">
                <a:solidFill>
                  <a:srgbClr val="00A86A"/>
                </a:solidFill>
                <a:latin typeface="Calibri" pitchFamily="34" charset="0"/>
                <a:ea typeface="Calibri" pitchFamily="34" charset="-122"/>
                <a:cs typeface="Calibri" pitchFamily="34" charset="-120"/>
              </a:rPr>
              <a:t>What AI can do</a:t>
            </a:r>
            <a:endParaRPr lang="en-US" sz="1500" dirty="0"/>
          </a:p>
        </p:txBody>
      </p:sp>
      <p:sp>
        <p:nvSpPr>
          <p:cNvPr id="18" name="Shape 16"/>
          <p:cNvSpPr/>
          <p:nvPr/>
        </p:nvSpPr>
        <p:spPr>
          <a:xfrm>
            <a:off x="685800" y="1984248"/>
            <a:ext cx="292608" cy="292608"/>
          </a:xfrm>
          <a:prstGeom prst="ellipse">
            <a:avLst/>
          </a:prstGeom>
          <a:solidFill>
            <a:srgbClr val="00A86A">
              <a:alpha val="22000"/>
            </a:srgbClr>
          </a:solidFill>
          <a:ln/>
        </p:spPr>
      </p:sp>
      <p:pic>
        <p:nvPicPr>
          <p:cNvPr id="19" name="Image 0" descr="preencoded.png"/>
          <p:cNvPicPr>
            <a:picLocks noChangeAspect="1"/>
          </p:cNvPicPr>
          <p:nvPr/>
        </p:nvPicPr>
        <p:blipFill>
          <a:blip r:embed="rId3"/>
          <a:stretch>
            <a:fillRect/>
          </a:stretch>
        </p:blipFill>
        <p:spPr>
          <a:xfrm>
            <a:off x="756026" y="2054474"/>
            <a:ext cx="152156" cy="152156"/>
          </a:xfrm>
          <a:prstGeom prst="rect">
            <a:avLst/>
          </a:prstGeom>
        </p:spPr>
      </p:pic>
      <p:sp>
        <p:nvSpPr>
          <p:cNvPr id="20" name="Text 17"/>
          <p:cNvSpPr txBox="1"/>
          <p:nvPr/>
        </p:nvSpPr>
        <p:spPr>
          <a:xfrm>
            <a:off x="1097280" y="19842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draft the commentary</a:t>
            </a:r>
            <a:endParaRPr lang="en-US" sz="1150" dirty="0"/>
          </a:p>
        </p:txBody>
      </p:sp>
      <p:sp>
        <p:nvSpPr>
          <p:cNvPr id="21" name="Shape 18"/>
          <p:cNvSpPr/>
          <p:nvPr/>
        </p:nvSpPr>
        <p:spPr>
          <a:xfrm>
            <a:off x="685800" y="2441448"/>
            <a:ext cx="292608" cy="292608"/>
          </a:xfrm>
          <a:prstGeom prst="ellipse">
            <a:avLst/>
          </a:prstGeom>
          <a:solidFill>
            <a:srgbClr val="00A86A">
              <a:alpha val="22000"/>
            </a:srgbClr>
          </a:solidFill>
          <a:ln/>
        </p:spPr>
      </p:sp>
      <p:pic>
        <p:nvPicPr>
          <p:cNvPr id="22" name="Image 1" descr="preencoded.png"/>
          <p:cNvPicPr>
            <a:picLocks noChangeAspect="1"/>
          </p:cNvPicPr>
          <p:nvPr/>
        </p:nvPicPr>
        <p:blipFill>
          <a:blip r:embed="rId3"/>
          <a:stretch>
            <a:fillRect/>
          </a:stretch>
        </p:blipFill>
        <p:spPr>
          <a:xfrm>
            <a:off x="756026" y="2511674"/>
            <a:ext cx="152156" cy="152156"/>
          </a:xfrm>
          <a:prstGeom prst="rect">
            <a:avLst/>
          </a:prstGeom>
        </p:spPr>
      </p:pic>
      <p:sp>
        <p:nvSpPr>
          <p:cNvPr id="23" name="Text 19"/>
          <p:cNvSpPr txBox="1"/>
          <p:nvPr/>
        </p:nvSpPr>
        <p:spPr>
          <a:xfrm>
            <a:off x="1097280" y="24414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retrieve the methodology document</a:t>
            </a:r>
            <a:endParaRPr lang="en-US" sz="1150" dirty="0"/>
          </a:p>
        </p:txBody>
      </p:sp>
      <p:sp>
        <p:nvSpPr>
          <p:cNvPr id="24" name="Shape 20"/>
          <p:cNvSpPr/>
          <p:nvPr/>
        </p:nvSpPr>
        <p:spPr>
          <a:xfrm>
            <a:off x="685800" y="2898648"/>
            <a:ext cx="292608" cy="292608"/>
          </a:xfrm>
          <a:prstGeom prst="ellipse">
            <a:avLst/>
          </a:prstGeom>
          <a:solidFill>
            <a:srgbClr val="00A86A">
              <a:alpha val="22000"/>
            </a:srgbClr>
          </a:solidFill>
          <a:ln/>
        </p:spPr>
      </p:sp>
      <p:pic>
        <p:nvPicPr>
          <p:cNvPr id="25" name="Image 2" descr="preencoded.png"/>
          <p:cNvPicPr>
            <a:picLocks noChangeAspect="1"/>
          </p:cNvPicPr>
          <p:nvPr/>
        </p:nvPicPr>
        <p:blipFill>
          <a:blip r:embed="rId3"/>
          <a:stretch>
            <a:fillRect/>
          </a:stretch>
        </p:blipFill>
        <p:spPr>
          <a:xfrm>
            <a:off x="756026" y="2968874"/>
            <a:ext cx="152156" cy="152156"/>
          </a:xfrm>
          <a:prstGeom prst="rect">
            <a:avLst/>
          </a:prstGeom>
        </p:spPr>
      </p:pic>
      <p:sp>
        <p:nvSpPr>
          <p:cNvPr id="26" name="Text 21"/>
          <p:cNvSpPr txBox="1"/>
          <p:nvPr/>
        </p:nvSpPr>
        <p:spPr>
          <a:xfrm>
            <a:off x="1097280" y="28986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propose a code for a staff member to confirm</a:t>
            </a:r>
            <a:endParaRPr lang="en-US" sz="1150" dirty="0"/>
          </a:p>
        </p:txBody>
      </p:sp>
      <p:sp>
        <p:nvSpPr>
          <p:cNvPr id="27" name="Shape 22"/>
          <p:cNvSpPr/>
          <p:nvPr/>
        </p:nvSpPr>
        <p:spPr>
          <a:xfrm>
            <a:off x="685800" y="3355848"/>
            <a:ext cx="292608" cy="292608"/>
          </a:xfrm>
          <a:prstGeom prst="ellipse">
            <a:avLst/>
          </a:prstGeom>
          <a:solidFill>
            <a:srgbClr val="00A86A">
              <a:alpha val="22000"/>
            </a:srgbClr>
          </a:solidFill>
          <a:ln/>
        </p:spPr>
      </p:sp>
      <p:pic>
        <p:nvPicPr>
          <p:cNvPr id="28" name="Image 3" descr="preencoded.png"/>
          <p:cNvPicPr>
            <a:picLocks noChangeAspect="1"/>
          </p:cNvPicPr>
          <p:nvPr/>
        </p:nvPicPr>
        <p:blipFill>
          <a:blip r:embed="rId3"/>
          <a:stretch>
            <a:fillRect/>
          </a:stretch>
        </p:blipFill>
        <p:spPr>
          <a:xfrm>
            <a:off x="756026" y="3426074"/>
            <a:ext cx="152156" cy="152156"/>
          </a:xfrm>
          <a:prstGeom prst="rect">
            <a:avLst/>
          </a:prstGeom>
        </p:spPr>
      </p:pic>
      <p:sp>
        <p:nvSpPr>
          <p:cNvPr id="29" name="Text 23"/>
          <p:cNvSpPr txBox="1"/>
          <p:nvPr/>
        </p:nvSpPr>
        <p:spPr>
          <a:xfrm>
            <a:off x="1097280" y="3355848"/>
            <a:ext cx="3200400" cy="292608"/>
          </a:xfrm>
          <a:prstGeom prst="rect">
            <a:avLst/>
          </a:prstGeom>
          <a:noFill/>
          <a:ln/>
        </p:spPr>
        <p:txBody>
          <a:bodyPr wrap="square" lIns="0" tIns="0" rIns="0" bIns="0" rtlCol="0" anchor="ctr"/>
          <a:lstStyle/>
          <a:p>
            <a:pPr marL="0" indent="0">
              <a:buNone/>
            </a:pPr>
            <a:r>
              <a:rPr lang="en-US" sz="1150" dirty="0">
                <a:solidFill>
                  <a:srgbClr val="231F20"/>
                </a:solidFill>
                <a:latin typeface="Calibri" pitchFamily="34" charset="0"/>
                <a:ea typeface="Calibri" pitchFamily="34" charset="-122"/>
                <a:cs typeface="Calibri" pitchFamily="34" charset="-120"/>
              </a:rPr>
              <a:t>explain a method to a colleague</a:t>
            </a:r>
            <a:endParaRPr lang="en-US" sz="1150" dirty="0"/>
          </a:p>
        </p:txBody>
      </p:sp>
      <p:sp>
        <p:nvSpPr>
          <p:cNvPr id="30" name="Shape 24"/>
          <p:cNvSpPr/>
          <p:nvPr/>
        </p:nvSpPr>
        <p:spPr>
          <a:xfrm>
            <a:off x="4709160" y="1371600"/>
            <a:ext cx="3977640" cy="2514600"/>
          </a:xfrm>
          <a:prstGeom prst="roundRect">
            <a:avLst>
              <a:gd name="adj" fmla="val 2909"/>
            </a:avLst>
          </a:prstGeom>
          <a:solidFill>
            <a:srgbClr val="F9ECEA"/>
          </a:solidFill>
          <a:ln w="19050">
            <a:solidFill>
              <a:srgbClr val="B83B2E"/>
            </a:solidFill>
            <a:prstDash val="solid"/>
          </a:ln>
        </p:spPr>
      </p:sp>
      <p:sp>
        <p:nvSpPr>
          <p:cNvPr id="31" name="Shape 25"/>
          <p:cNvSpPr/>
          <p:nvPr/>
        </p:nvSpPr>
        <p:spPr>
          <a:xfrm>
            <a:off x="4910328" y="1481328"/>
            <a:ext cx="502920" cy="502920"/>
          </a:xfrm>
          <a:prstGeom prst="ellipse">
            <a:avLst/>
          </a:prstGeom>
          <a:solidFill>
            <a:srgbClr val="B83B2E">
              <a:alpha val="22000"/>
            </a:srgbClr>
          </a:solidFill>
          <a:ln/>
        </p:spPr>
      </p:sp>
      <p:pic>
        <p:nvPicPr>
          <p:cNvPr id="32" name="Image 4" descr="preencoded.png"/>
          <p:cNvPicPr>
            <a:picLocks noChangeAspect="1"/>
          </p:cNvPicPr>
          <p:nvPr/>
        </p:nvPicPr>
        <p:blipFill>
          <a:blip r:embed="rId4"/>
          <a:stretch>
            <a:fillRect/>
          </a:stretch>
        </p:blipFill>
        <p:spPr>
          <a:xfrm>
            <a:off x="5031029" y="1602029"/>
            <a:ext cx="261518" cy="261518"/>
          </a:xfrm>
          <a:prstGeom prst="rect">
            <a:avLst/>
          </a:prstGeom>
        </p:spPr>
      </p:pic>
      <p:sp>
        <p:nvSpPr>
          <p:cNvPr id="33" name="Text 26"/>
          <p:cNvSpPr txBox="1"/>
          <p:nvPr/>
        </p:nvSpPr>
        <p:spPr>
          <a:xfrm>
            <a:off x="5532120" y="1481328"/>
            <a:ext cx="3017520" cy="502920"/>
          </a:xfrm>
          <a:prstGeom prst="rect">
            <a:avLst/>
          </a:prstGeom>
          <a:noFill/>
          <a:ln/>
        </p:spPr>
        <p:txBody>
          <a:bodyPr wrap="square" lIns="0" tIns="0" rIns="0" bIns="0" rtlCol="0" anchor="ctr"/>
          <a:lstStyle/>
          <a:p>
            <a:pPr marL="0" indent="0">
              <a:buNone/>
            </a:pPr>
            <a:r>
              <a:rPr lang="en-US" sz="1500" b="1" dirty="0">
                <a:solidFill>
                  <a:srgbClr val="B83B2E"/>
                </a:solidFill>
                <a:latin typeface="Calibri" pitchFamily="34" charset="0"/>
                <a:ea typeface="Calibri" pitchFamily="34" charset="-122"/>
                <a:cs typeface="Calibri" pitchFamily="34" charset="-120"/>
              </a:rPr>
              <a:t>What stays with the estimator</a:t>
            </a:r>
            <a:endParaRPr lang="en-US" sz="1500" dirty="0"/>
          </a:p>
        </p:txBody>
      </p:sp>
      <p:sp>
        <p:nvSpPr>
          <p:cNvPr id="34" name="Text 27"/>
          <p:cNvSpPr txBox="1"/>
          <p:nvPr/>
        </p:nvSpPr>
        <p:spPr>
          <a:xfrm>
            <a:off x="4910328" y="2121408"/>
            <a:ext cx="3611880" cy="164592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The published figure comes from an estimator you can </a:t>
            </a:r>
            <a:r>
              <a:rPr lang="en-US" sz="1150" b="1" dirty="0">
                <a:solidFill>
                  <a:srgbClr val="231F20"/>
                </a:solidFill>
                <a:latin typeface="Calibri" pitchFamily="34" charset="0"/>
                <a:ea typeface="Calibri" pitchFamily="34" charset="-122"/>
                <a:cs typeface="Calibri" pitchFamily="34" charset="-120"/>
              </a:rPr>
              <a:t>write down, reproduce and defend</a:t>
            </a:r>
            <a:r>
              <a:rPr lang="en-US" sz="1150" dirty="0">
                <a:solidFill>
                  <a:srgbClr val="231F20"/>
                </a:solidFill>
                <a:latin typeface="Calibri" pitchFamily="34" charset="0"/>
                <a:ea typeface="Calibri" pitchFamily="34" charset="-122"/>
                <a:cs typeface="Calibri" pitchFamily="34" charset="-120"/>
              </a:rPr>
              <a:t> to a user who challenges it.</a:t>
            </a:r>
            <a:endParaRPr lang="en-US" sz="1150" dirty="0"/>
          </a:p>
          <a:p>
            <a:pPr marL="0" indent="0">
              <a:buNone/>
            </a:pPr>
            <a:r>
              <a:rPr lang="en-US" sz="600" dirty="0">
                <a:solidFill>
                  <a:srgbClr val="231F2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5E6964"/>
                </a:solidFill>
                <a:latin typeface="Calibri" pitchFamily="34" charset="0"/>
                <a:ea typeface="Calibri" pitchFamily="34" charset="-122"/>
                <a:cs typeface="Calibri" pitchFamily="34" charset="-120"/>
              </a:rPr>
              <a:t>That obligation predates these technologies and is not changed by them — even when an agent would be faster.</a:t>
            </a:r>
            <a:endParaRPr lang="en-US" sz="1150" dirty="0"/>
          </a:p>
        </p:txBody>
      </p:sp>
      <p:pic>
        <p:nvPicPr>
          <p:cNvPr id="35" name="Image 5" descr="preencoded.png"/>
          <p:cNvPicPr>
            <a:picLocks noChangeAspect="1"/>
          </p:cNvPicPr>
          <p:nvPr/>
        </p:nvPicPr>
        <p:blipFill>
          <a:blip r:embed="rId5"/>
          <a:stretch>
            <a:fillRect/>
          </a:stretch>
        </p:blipFill>
        <p:spPr>
          <a:xfrm>
            <a:off x="457200" y="4160520"/>
            <a:ext cx="256032" cy="256032"/>
          </a:xfrm>
          <a:prstGeom prst="rect">
            <a:avLst/>
          </a:prstGeom>
        </p:spPr>
      </p:pic>
      <p:sp>
        <p:nvSpPr>
          <p:cNvPr id="36" name="Text 28"/>
          <p:cNvSpPr txBox="1"/>
          <p:nvPr/>
        </p:nvSpPr>
        <p:spPr>
          <a:xfrm>
            <a:off x="868680" y="4041648"/>
            <a:ext cx="7818120" cy="493776"/>
          </a:xfrm>
          <a:prstGeom prst="rect">
            <a:avLst/>
          </a:prstGeom>
          <a:noFill/>
          <a:ln/>
        </p:spPr>
        <p:txBody>
          <a:bodyPr wrap="square" lIns="0" tIns="0" rIns="0" bIns="0" rtlCol="0" anchor="ctr"/>
          <a:lstStyle/>
          <a:p>
            <a:pPr marL="0" indent="0">
              <a:buNone/>
            </a:pPr>
            <a:r>
              <a:rPr lang="en-US" sz="1300" i="1" dirty="0">
                <a:solidFill>
                  <a:srgbClr val="00704A"/>
                </a:solidFill>
                <a:latin typeface="Calibri" pitchFamily="34" charset="0"/>
                <a:ea typeface="Calibri" pitchFamily="34" charset="-122"/>
                <a:cs typeface="Calibri" pitchFamily="34" charset="-120"/>
              </a:rPr>
              <a:t>A statistic that nobody can reconstruct is not an official statistic, however close to the truth it may be.</a:t>
            </a:r>
            <a:endParaRPr lang="en-US" sz="1300" dirty="0"/>
          </a:p>
        </p:txBody>
      </p:sp>
      <p:sp>
        <p:nvSpPr>
          <p:cNvPr id="37" name="Text 29"/>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United Nations Fundamental Principles of Official Statistics, Principle 2 — General Assembly resolution 68/261 (2014).</a:t>
            </a:r>
            <a:endParaRPr lang="en-US" sz="9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85800"/>
            <a:ext cx="4572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WHAT'S NEXT ON DAY 1</a:t>
            </a:r>
            <a:endParaRPr lang="en-US" sz="1050" dirty="0"/>
          </a:p>
        </p:txBody>
      </p:sp>
      <p:sp>
        <p:nvSpPr>
          <p:cNvPr id="3" name="Text 1"/>
          <p:cNvSpPr txBox="1"/>
          <p:nvPr/>
        </p:nvSpPr>
        <p:spPr>
          <a:xfrm>
            <a:off x="548640" y="960120"/>
            <a:ext cx="8138160" cy="77724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At 10:30, you will build the middle column.</a:t>
            </a:r>
            <a:endParaRPr lang="en-US" sz="3200" dirty="0"/>
          </a:p>
        </p:txBody>
      </p:sp>
      <p:sp>
        <p:nvSpPr>
          <p:cNvPr id="4" name="Text 2"/>
          <p:cNvSpPr txBox="1"/>
          <p:nvPr/>
        </p:nvSpPr>
        <p:spPr>
          <a:xfrm>
            <a:off x="548640" y="1783080"/>
            <a:ext cx="6858000" cy="45720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RAG is the only setup in this stack that forces a model to show where its answer came from.</a:t>
            </a:r>
            <a:endParaRPr lang="en-US" sz="1600" dirty="0"/>
          </a:p>
        </p:txBody>
      </p:sp>
      <p:sp>
        <p:nvSpPr>
          <p:cNvPr id="5" name="Shape 3"/>
          <p:cNvSpPr/>
          <p:nvPr/>
        </p:nvSpPr>
        <p:spPr>
          <a:xfrm>
            <a:off x="54864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6" name="Image 0" descr="preencoded.png"/>
          <p:cNvPicPr>
            <a:picLocks noChangeAspect="1"/>
          </p:cNvPicPr>
          <p:nvPr/>
        </p:nvPicPr>
        <p:blipFill>
          <a:blip r:embed="rId4"/>
          <a:stretch>
            <a:fillRect/>
          </a:stretch>
        </p:blipFill>
        <p:spPr>
          <a:xfrm>
            <a:off x="713232" y="2670048"/>
            <a:ext cx="310896" cy="310896"/>
          </a:xfrm>
          <a:prstGeom prst="rect">
            <a:avLst/>
          </a:prstGeom>
        </p:spPr>
      </p:pic>
      <p:sp>
        <p:nvSpPr>
          <p:cNvPr id="7" name="Text 4"/>
          <p:cNvSpPr txBox="1"/>
          <p:nvPr/>
        </p:nvSpPr>
        <p:spPr>
          <a:xfrm>
            <a:off x="1115568" y="2651760"/>
            <a:ext cx="1737360" cy="347472"/>
          </a:xfrm>
          <a:prstGeom prst="rect">
            <a:avLst/>
          </a:prstGeom>
          <a:noFill/>
          <a:ln/>
        </p:spPr>
        <p:txBody>
          <a:bodyPr wrap="square" lIns="0" tIns="0" rIns="0" bIns="0" rtlCol="0" anchor="ctr"/>
          <a:lstStyle/>
          <a:p>
            <a:pPr marL="0" indent="0">
              <a:buNone/>
            </a:pPr>
            <a:r>
              <a:rPr lang="en-US" sz="2000" b="1" dirty="0">
                <a:solidFill>
                  <a:srgbClr val="F5C242"/>
                </a:solidFill>
                <a:latin typeface="Calibri" pitchFamily="34" charset="0"/>
                <a:ea typeface="Calibri" pitchFamily="34" charset="-122"/>
                <a:cs typeface="Calibri" pitchFamily="34" charset="-120"/>
              </a:rPr>
              <a:t>10:30</a:t>
            </a:r>
            <a:endParaRPr lang="en-US" sz="2000" dirty="0"/>
          </a:p>
        </p:txBody>
      </p:sp>
      <p:sp>
        <p:nvSpPr>
          <p:cNvPr id="8" name="Text 5"/>
          <p:cNvSpPr txBox="1"/>
          <p:nvPr/>
        </p:nvSpPr>
        <p:spPr>
          <a:xfrm>
            <a:off x="713232" y="3063240"/>
            <a:ext cx="2240280" cy="548640"/>
          </a:xfrm>
          <a:prstGeom prst="rect">
            <a:avLst/>
          </a:prstGeom>
          <a:noFill/>
          <a:ln/>
        </p:spPr>
        <p:txBody>
          <a:bodyPr wrap="square" lIns="0" tIns="0" rIns="0" bIns="0" rtlCol="0" anchor="t"/>
          <a:lstStyle/>
          <a:p>
            <a:pPr marL="0" indent="0">
              <a:buNone/>
            </a:pPr>
            <a:r>
              <a:rPr lang="en-US" sz="850" b="1" kern="0" spc="200" dirty="0">
                <a:solidFill>
                  <a:srgbClr val="E6F6EE"/>
                </a:solidFill>
                <a:latin typeface="Calibri" pitchFamily="34" charset="0"/>
                <a:ea typeface="Calibri" pitchFamily="34" charset="-122"/>
                <a:cs typeface="Calibri" pitchFamily="34" charset="-120"/>
              </a:rPr>
              <a:t>HANDS-ON LAB</a:t>
            </a:r>
            <a:endParaRPr lang="en-US" sz="1100" dirty="0"/>
          </a:p>
          <a:p>
            <a:pPr marL="0" indent="0">
              <a:buNone/>
            </a:pPr>
            <a:r>
              <a:rPr lang="en-US" sz="1150" b="1" dirty="0">
                <a:solidFill>
                  <a:srgbClr val="FFFFFF"/>
                </a:solidFill>
                <a:latin typeface="Calibri" pitchFamily="34" charset="0"/>
                <a:ea typeface="Calibri" pitchFamily="34" charset="-122"/>
                <a:cs typeface="Calibri" pitchFamily="34" charset="-120"/>
              </a:rPr>
              <a:t>Retrieval-augmented generation (RAG)</a:t>
            </a:r>
            <a:endParaRPr lang="en-US" sz="1100" dirty="0"/>
          </a:p>
        </p:txBody>
      </p:sp>
      <p:sp>
        <p:nvSpPr>
          <p:cNvPr id="9" name="Shape 6"/>
          <p:cNvSpPr/>
          <p:nvPr/>
        </p:nvSpPr>
        <p:spPr>
          <a:xfrm>
            <a:off x="324612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10" name="Image 1" descr="preencoded.png"/>
          <p:cNvPicPr>
            <a:picLocks noChangeAspect="1"/>
          </p:cNvPicPr>
          <p:nvPr/>
        </p:nvPicPr>
        <p:blipFill>
          <a:blip r:embed="rId5"/>
          <a:stretch>
            <a:fillRect/>
          </a:stretch>
        </p:blipFill>
        <p:spPr>
          <a:xfrm>
            <a:off x="3410712" y="2670048"/>
            <a:ext cx="310896" cy="310896"/>
          </a:xfrm>
          <a:prstGeom prst="rect">
            <a:avLst/>
          </a:prstGeom>
        </p:spPr>
      </p:pic>
      <p:sp>
        <p:nvSpPr>
          <p:cNvPr id="11" name="Text 7"/>
          <p:cNvSpPr txBox="1"/>
          <p:nvPr/>
        </p:nvSpPr>
        <p:spPr>
          <a:xfrm>
            <a:off x="3813048" y="2651760"/>
            <a:ext cx="1737360" cy="347472"/>
          </a:xfrm>
          <a:prstGeom prst="rect">
            <a:avLst/>
          </a:prstGeom>
          <a:noFill/>
          <a:ln/>
        </p:spPr>
        <p:txBody>
          <a:bodyPr wrap="square" lIns="0" tIns="0" rIns="0" bIns="0" rtlCol="0" anchor="ctr"/>
          <a:lstStyle/>
          <a:p>
            <a:pPr marL="0" indent="0">
              <a:buNone/>
            </a:pPr>
            <a:r>
              <a:rPr lang="en-US" sz="2000" b="1" dirty="0">
                <a:solidFill>
                  <a:srgbClr val="F5C242"/>
                </a:solidFill>
                <a:latin typeface="Calibri" pitchFamily="34" charset="0"/>
                <a:ea typeface="Calibri" pitchFamily="34" charset="-122"/>
                <a:cs typeface="Calibri" pitchFamily="34" charset="-120"/>
              </a:rPr>
              <a:t>13:30</a:t>
            </a:r>
            <a:endParaRPr lang="en-US" sz="2000" dirty="0"/>
          </a:p>
        </p:txBody>
      </p:sp>
      <p:sp>
        <p:nvSpPr>
          <p:cNvPr id="12" name="Text 8"/>
          <p:cNvSpPr txBox="1"/>
          <p:nvPr/>
        </p:nvSpPr>
        <p:spPr>
          <a:xfrm>
            <a:off x="3410712" y="3063240"/>
            <a:ext cx="2240280" cy="548640"/>
          </a:xfrm>
          <a:prstGeom prst="rect">
            <a:avLst/>
          </a:prstGeom>
          <a:noFill/>
          <a:ln/>
        </p:spPr>
        <p:txBody>
          <a:bodyPr wrap="square" lIns="0" tIns="0" rIns="0" bIns="0" rtlCol="0" anchor="t"/>
          <a:lstStyle/>
          <a:p>
            <a:pPr marL="0" indent="0">
              <a:buNone/>
            </a:pPr>
            <a:r>
              <a:rPr lang="en-US" sz="850" b="1" kern="0" spc="200" dirty="0">
                <a:solidFill>
                  <a:srgbClr val="E6F6EE"/>
                </a:solidFill>
                <a:latin typeface="Calibri" pitchFamily="34" charset="0"/>
                <a:ea typeface="Calibri" pitchFamily="34" charset="-122"/>
                <a:cs typeface="Calibri" pitchFamily="34" charset="-120"/>
              </a:rPr>
              <a:t>TALK</a:t>
            </a:r>
            <a:endParaRPr lang="en-US" sz="1100" dirty="0"/>
          </a:p>
          <a:p>
            <a:pPr marL="0" indent="0">
              <a:buNone/>
            </a:pPr>
            <a:r>
              <a:rPr lang="en-US" sz="1150" b="1" dirty="0">
                <a:solidFill>
                  <a:srgbClr val="FFFFFF"/>
                </a:solidFill>
                <a:latin typeface="Calibri" pitchFamily="34" charset="0"/>
                <a:ea typeface="Calibri" pitchFamily="34" charset="-122"/>
                <a:cs typeface="Calibri" pitchFamily="34" charset="-120"/>
              </a:rPr>
              <a:t>AI infrastructure: what you really need</a:t>
            </a:r>
            <a:endParaRPr lang="en-US" sz="1100" dirty="0"/>
          </a:p>
        </p:txBody>
      </p:sp>
      <p:sp>
        <p:nvSpPr>
          <p:cNvPr id="13" name="Shape 9"/>
          <p:cNvSpPr/>
          <p:nvPr/>
        </p:nvSpPr>
        <p:spPr>
          <a:xfrm>
            <a:off x="5943600" y="2514600"/>
            <a:ext cx="2514600" cy="1143000"/>
          </a:xfrm>
          <a:prstGeom prst="roundRect">
            <a:avLst>
              <a:gd name="adj" fmla="val 6400"/>
            </a:avLst>
          </a:prstGeom>
          <a:solidFill>
            <a:srgbClr val="FFFFFF">
              <a:alpha val="12000"/>
            </a:srgbClr>
          </a:solidFill>
          <a:ln w="9525">
            <a:solidFill>
              <a:srgbClr val="FFFFFF">
                <a:alpha val="50000"/>
              </a:srgbClr>
            </a:solidFill>
            <a:prstDash val="solid"/>
          </a:ln>
        </p:spPr>
      </p:sp>
      <p:pic>
        <p:nvPicPr>
          <p:cNvPr id="14" name="Image 2" descr="preencoded.png"/>
          <p:cNvPicPr>
            <a:picLocks noChangeAspect="1"/>
          </p:cNvPicPr>
          <p:nvPr/>
        </p:nvPicPr>
        <p:blipFill>
          <a:blip r:embed="rId6"/>
          <a:stretch>
            <a:fillRect/>
          </a:stretch>
        </p:blipFill>
        <p:spPr>
          <a:xfrm>
            <a:off x="6108192" y="2670048"/>
            <a:ext cx="310896" cy="310896"/>
          </a:xfrm>
          <a:prstGeom prst="rect">
            <a:avLst/>
          </a:prstGeom>
        </p:spPr>
      </p:pic>
      <p:sp>
        <p:nvSpPr>
          <p:cNvPr id="15" name="Text 10"/>
          <p:cNvSpPr txBox="1"/>
          <p:nvPr/>
        </p:nvSpPr>
        <p:spPr>
          <a:xfrm>
            <a:off x="6510528" y="2651760"/>
            <a:ext cx="1737360" cy="347472"/>
          </a:xfrm>
          <a:prstGeom prst="rect">
            <a:avLst/>
          </a:prstGeom>
          <a:noFill/>
          <a:ln/>
        </p:spPr>
        <p:txBody>
          <a:bodyPr wrap="square" lIns="0" tIns="0" rIns="0" bIns="0" rtlCol="0" anchor="ctr"/>
          <a:lstStyle/>
          <a:p>
            <a:pPr marL="0" indent="0">
              <a:buNone/>
            </a:pPr>
            <a:r>
              <a:rPr lang="en-US" sz="2000" b="1" dirty="0">
                <a:solidFill>
                  <a:srgbClr val="F5C242"/>
                </a:solidFill>
                <a:latin typeface="Calibri" pitchFamily="34" charset="0"/>
                <a:ea typeface="Calibri" pitchFamily="34" charset="-122"/>
                <a:cs typeface="Calibri" pitchFamily="34" charset="-120"/>
              </a:rPr>
              <a:t>15:00</a:t>
            </a:r>
            <a:endParaRPr lang="en-US" sz="2000" dirty="0"/>
          </a:p>
        </p:txBody>
      </p:sp>
      <p:sp>
        <p:nvSpPr>
          <p:cNvPr id="16" name="Text 11"/>
          <p:cNvSpPr txBox="1"/>
          <p:nvPr/>
        </p:nvSpPr>
        <p:spPr>
          <a:xfrm>
            <a:off x="6108192" y="3063240"/>
            <a:ext cx="2240280" cy="548640"/>
          </a:xfrm>
          <a:prstGeom prst="rect">
            <a:avLst/>
          </a:prstGeom>
          <a:noFill/>
          <a:ln/>
        </p:spPr>
        <p:txBody>
          <a:bodyPr wrap="square" lIns="0" tIns="0" rIns="0" bIns="0" rtlCol="0" anchor="t"/>
          <a:lstStyle/>
          <a:p>
            <a:pPr marL="0" indent="0">
              <a:buNone/>
            </a:pPr>
            <a:r>
              <a:rPr lang="en-US" sz="850" b="1" kern="0" spc="200" dirty="0">
                <a:solidFill>
                  <a:srgbClr val="E6F6EE"/>
                </a:solidFill>
                <a:latin typeface="Calibri" pitchFamily="34" charset="0"/>
                <a:ea typeface="Calibri" pitchFamily="34" charset="-122"/>
                <a:cs typeface="Calibri" pitchFamily="34" charset="-120"/>
              </a:rPr>
              <a:t>HANDS-ON LAB</a:t>
            </a:r>
            <a:endParaRPr lang="en-US" sz="1100" dirty="0"/>
          </a:p>
          <a:p>
            <a:pPr marL="0" indent="0">
              <a:buNone/>
            </a:pPr>
            <a:r>
              <a:rPr lang="en-US" sz="1150" b="1" dirty="0">
                <a:solidFill>
                  <a:srgbClr val="FFFFFF"/>
                </a:solidFill>
                <a:latin typeface="Calibri" pitchFamily="34" charset="0"/>
                <a:ea typeface="Calibri" pitchFamily="34" charset="-122"/>
                <a:cs typeface="Calibri" pitchFamily="34" charset="-120"/>
              </a:rPr>
              <a:t>Build an agent, then break it</a:t>
            </a:r>
            <a:endParaRPr lang="en-US" sz="1100" dirty="0"/>
          </a:p>
        </p:txBody>
      </p:sp>
      <p:pic>
        <p:nvPicPr>
          <p:cNvPr id="17" name="Image 3" descr="preencoded.png"/>
          <p:cNvPicPr>
            <a:picLocks noChangeAspect="1"/>
          </p:cNvPicPr>
          <p:nvPr/>
        </p:nvPicPr>
        <p:blipFill>
          <a:blip r:embed="rId7"/>
          <a:stretch>
            <a:fillRect/>
          </a:stretch>
        </p:blipFill>
        <p:spPr>
          <a:xfrm>
            <a:off x="548640" y="3977640"/>
            <a:ext cx="274320" cy="274320"/>
          </a:xfrm>
          <a:prstGeom prst="rect">
            <a:avLst/>
          </a:prstGeom>
        </p:spPr>
      </p:pic>
      <p:sp>
        <p:nvSpPr>
          <p:cNvPr id="18" name="Text 12"/>
          <p:cNvSpPr txBox="1"/>
          <p:nvPr/>
        </p:nvSpPr>
        <p:spPr>
          <a:xfrm>
            <a:off x="960120" y="3931920"/>
            <a:ext cx="731520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Bring: a real question from your office that a document could answer.</a:t>
            </a:r>
            <a:endParaRPr lang="en-US" sz="13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6400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APPENDIX</a:t>
            </a:r>
            <a:endParaRPr lang="en-US" sz="1050" dirty="0"/>
          </a:p>
        </p:txBody>
      </p:sp>
      <p:sp>
        <p:nvSpPr>
          <p:cNvPr id="3" name="Text 1"/>
          <p:cNvSpPr txBox="1"/>
          <p:nvPr/>
        </p:nvSpPr>
        <p:spPr>
          <a:xfrm>
            <a:off x="548640" y="86868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A</a:t>
            </a:r>
            <a:endParaRPr lang="en-US" sz="9600" dirty="0"/>
          </a:p>
        </p:txBody>
      </p:sp>
      <p:sp>
        <p:nvSpPr>
          <p:cNvPr id="4" name="Text 2"/>
          <p:cNvSpPr txBox="1"/>
          <p:nvPr/>
        </p:nvSpPr>
        <p:spPr>
          <a:xfrm>
            <a:off x="548640" y="2148840"/>
            <a:ext cx="5394960" cy="1005840"/>
          </a:xfrm>
          <a:prstGeom prst="rect">
            <a:avLst/>
          </a:prstGeom>
          <a:noFill/>
          <a:ln/>
        </p:spPr>
        <p:txBody>
          <a:bodyPr wrap="square" lIns="0" tIns="0" rIns="0" bIns="0" rtlCol="0" anchor="t"/>
          <a:lstStyle/>
          <a:p>
            <a:pPr marL="0" indent="0">
              <a:buNone/>
            </a:pPr>
            <a:r>
              <a:rPr lang="en-US" sz="2600" b="1" dirty="0">
                <a:solidFill>
                  <a:srgbClr val="FFFFFF"/>
                </a:solidFill>
                <a:latin typeface="Calibri" pitchFamily="34" charset="0"/>
                <a:ea typeface="Calibri" pitchFamily="34" charset="-122"/>
                <a:cs typeface="Calibri" pitchFamily="34" charset="-120"/>
              </a:rPr>
              <a:t>Held in reserve for questions</a:t>
            </a:r>
            <a:endParaRPr lang="en-US" sz="2600" dirty="0"/>
          </a:p>
        </p:txBody>
      </p:sp>
      <p:sp>
        <p:nvSpPr>
          <p:cNvPr id="5" name="Text 3"/>
          <p:cNvSpPr txBox="1"/>
          <p:nvPr/>
        </p:nvSpPr>
        <p:spPr>
          <a:xfrm>
            <a:off x="548640" y="3273552"/>
            <a:ext cx="4937760" cy="640080"/>
          </a:xfrm>
          <a:prstGeom prst="rect">
            <a:avLst/>
          </a:prstGeom>
          <a:noFill/>
          <a:ln/>
        </p:spPr>
        <p:txBody>
          <a:bodyPr wrap="square" lIns="0" tIns="0" rIns="0" bIns="0" rtlCol="0" anchor="t"/>
          <a:lstStyle/>
          <a:p>
            <a:pPr marL="0" indent="0">
              <a:buNone/>
            </a:pPr>
            <a:r>
              <a:rPr lang="en-US" sz="1600" i="1" dirty="0">
                <a:solidFill>
                  <a:srgbClr val="E6F6EE"/>
                </a:solidFill>
                <a:latin typeface="Calibri" pitchFamily="34" charset="0"/>
                <a:ea typeface="Calibri" pitchFamily="34" charset="-122"/>
                <a:cs typeface="Calibri" pitchFamily="34" charset="-120"/>
              </a:rPr>
              <a:t>Glossary, two cultures, learning families, pre-training cost, sources.</a:t>
            </a:r>
            <a:endParaRPr lang="en-US" sz="1600" dirty="0"/>
          </a:p>
        </p:txBody>
      </p:sp>
      <p:sp>
        <p:nvSpPr>
          <p:cNvPr id="6" name="Shape 4"/>
          <p:cNvSpPr/>
          <p:nvPr/>
        </p:nvSpPr>
        <p:spPr>
          <a:xfrm>
            <a:off x="6400800" y="2011680"/>
            <a:ext cx="1097280" cy="1097280"/>
          </a:xfrm>
          <a:prstGeom prst="ellipse">
            <a:avLst/>
          </a:prstGeom>
          <a:solidFill>
            <a:srgbClr val="FFFFFF"/>
          </a:solidFill>
          <a:ln/>
        </p:spPr>
      </p:sp>
      <p:pic>
        <p:nvPicPr>
          <p:cNvPr id="7" name="Image 0" descr="preencoded.png"/>
          <p:cNvPicPr>
            <a:picLocks noChangeAspect="1"/>
          </p:cNvPicPr>
          <p:nvPr/>
        </p:nvPicPr>
        <p:blipFill>
          <a:blip r:embed="rId4"/>
          <a:stretch>
            <a:fillRect/>
          </a:stretch>
        </p:blipFill>
        <p:spPr>
          <a:xfrm>
            <a:off x="6675120" y="2286000"/>
            <a:ext cx="548640" cy="548640"/>
          </a:xfrm>
          <a:prstGeom prst="rect">
            <a:avLst/>
          </a:prstGeom>
        </p:spPr>
      </p:pic>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APPENDIX  ·  ENGLISH – FRENCH GLOSSARY</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Glossary: the words of the week, in both languages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33</a:t>
            </a:r>
            <a:endParaRPr lang="en-US" sz="850" dirty="0"/>
          </a:p>
        </p:txBody>
      </p:sp>
      <p:sp>
        <p:nvSpPr>
          <p:cNvPr id="10" name="Shape 8"/>
          <p:cNvSpPr/>
          <p:nvPr/>
        </p:nvSpPr>
        <p:spPr>
          <a:xfrm>
            <a:off x="457200" y="1325880"/>
            <a:ext cx="4023360" cy="402336"/>
          </a:xfrm>
          <a:prstGeom prst="roundRect">
            <a:avLst>
              <a:gd name="adj" fmla="val 11364"/>
            </a:avLst>
          </a:prstGeom>
          <a:solidFill>
            <a:srgbClr val="F4F7F5"/>
          </a:solidFill>
          <a:ln w="9525">
            <a:solidFill>
              <a:srgbClr val="D5DED9"/>
            </a:solidFill>
            <a:prstDash val="solid"/>
          </a:ln>
        </p:spPr>
      </p:sp>
      <p:sp>
        <p:nvSpPr>
          <p:cNvPr id="11" name="Text 9"/>
          <p:cNvSpPr txBox="1"/>
          <p:nvPr/>
        </p:nvSpPr>
        <p:spPr>
          <a:xfrm>
            <a:off x="566928" y="13258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Model</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Modèle</a:t>
            </a:r>
            <a:endParaRPr lang="en-US" sz="1100" dirty="0"/>
          </a:p>
        </p:txBody>
      </p:sp>
      <p:sp>
        <p:nvSpPr>
          <p:cNvPr id="12" name="Text 10"/>
          <p:cNvSpPr txBox="1"/>
          <p:nvPr/>
        </p:nvSpPr>
        <p:spPr>
          <a:xfrm>
            <a:off x="2121408" y="13258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function whose parameters are estimated</a:t>
            </a:r>
            <a:endParaRPr lang="en-US" sz="1000" dirty="0"/>
          </a:p>
        </p:txBody>
      </p:sp>
      <p:sp>
        <p:nvSpPr>
          <p:cNvPr id="13" name="Shape 11"/>
          <p:cNvSpPr/>
          <p:nvPr/>
        </p:nvSpPr>
        <p:spPr>
          <a:xfrm>
            <a:off x="4663440" y="1325880"/>
            <a:ext cx="4023360" cy="402336"/>
          </a:xfrm>
          <a:prstGeom prst="roundRect">
            <a:avLst>
              <a:gd name="adj" fmla="val 11364"/>
            </a:avLst>
          </a:prstGeom>
          <a:solidFill>
            <a:srgbClr val="F4F7F5"/>
          </a:solidFill>
          <a:ln w="9525">
            <a:solidFill>
              <a:srgbClr val="D5DED9"/>
            </a:solidFill>
            <a:prstDash val="solid"/>
          </a:ln>
        </p:spPr>
      </p:sp>
      <p:sp>
        <p:nvSpPr>
          <p:cNvPr id="14" name="Text 12"/>
          <p:cNvSpPr txBox="1"/>
          <p:nvPr/>
        </p:nvSpPr>
        <p:spPr>
          <a:xfrm>
            <a:off x="4773168" y="13258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AI-ready</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AI Ready</a:t>
            </a:r>
            <a:endParaRPr lang="en-US" sz="1100" dirty="0"/>
          </a:p>
        </p:txBody>
      </p:sp>
      <p:sp>
        <p:nvSpPr>
          <p:cNvPr id="15" name="Text 13"/>
          <p:cNvSpPr txBox="1"/>
          <p:nvPr/>
        </p:nvSpPr>
        <p:spPr>
          <a:xfrm>
            <a:off x="6327648" y="13258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data readable and reliable for machines</a:t>
            </a:r>
            <a:endParaRPr lang="en-US" sz="1000" dirty="0"/>
          </a:p>
        </p:txBody>
      </p:sp>
      <p:sp>
        <p:nvSpPr>
          <p:cNvPr id="16" name="Shape 14"/>
          <p:cNvSpPr/>
          <p:nvPr/>
        </p:nvSpPr>
        <p:spPr>
          <a:xfrm>
            <a:off x="457200" y="1783080"/>
            <a:ext cx="4023360" cy="402336"/>
          </a:xfrm>
          <a:prstGeom prst="roundRect">
            <a:avLst>
              <a:gd name="adj" fmla="val 11364"/>
            </a:avLst>
          </a:prstGeom>
          <a:solidFill>
            <a:srgbClr val="FFFFFF"/>
          </a:solidFill>
          <a:ln w="9525">
            <a:solidFill>
              <a:srgbClr val="D5DED9"/>
            </a:solidFill>
            <a:prstDash val="solid"/>
          </a:ln>
        </p:spPr>
      </p:sp>
      <p:sp>
        <p:nvSpPr>
          <p:cNvPr id="17" name="Text 15"/>
          <p:cNvSpPr txBox="1"/>
          <p:nvPr/>
        </p:nvSpPr>
        <p:spPr>
          <a:xfrm>
            <a:off x="566928" y="17830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AI</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IA</a:t>
            </a:r>
            <a:endParaRPr lang="en-US" sz="1100" dirty="0"/>
          </a:p>
        </p:txBody>
      </p:sp>
      <p:sp>
        <p:nvSpPr>
          <p:cNvPr id="18" name="Text 16"/>
          <p:cNvSpPr txBox="1"/>
          <p:nvPr/>
        </p:nvSpPr>
        <p:spPr>
          <a:xfrm>
            <a:off x="2121408" y="17830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machine performing a task seen as intelligent</a:t>
            </a:r>
            <a:endParaRPr lang="en-US" sz="1000" dirty="0"/>
          </a:p>
        </p:txBody>
      </p:sp>
      <p:sp>
        <p:nvSpPr>
          <p:cNvPr id="19" name="Shape 17"/>
          <p:cNvSpPr/>
          <p:nvPr/>
        </p:nvSpPr>
        <p:spPr>
          <a:xfrm>
            <a:off x="4663440" y="1783080"/>
            <a:ext cx="4023360" cy="402336"/>
          </a:xfrm>
          <a:prstGeom prst="roundRect">
            <a:avLst>
              <a:gd name="adj" fmla="val 11364"/>
            </a:avLst>
          </a:prstGeom>
          <a:solidFill>
            <a:srgbClr val="FFFFFF"/>
          </a:solidFill>
          <a:ln w="9525">
            <a:solidFill>
              <a:srgbClr val="D5DED9"/>
            </a:solidFill>
            <a:prstDash val="solid"/>
          </a:ln>
        </p:spPr>
      </p:sp>
      <p:sp>
        <p:nvSpPr>
          <p:cNvPr id="20" name="Text 18"/>
          <p:cNvSpPr txBox="1"/>
          <p:nvPr/>
        </p:nvSpPr>
        <p:spPr>
          <a:xfrm>
            <a:off x="4773168" y="17830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AGI</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AGI</a:t>
            </a:r>
            <a:endParaRPr lang="en-US" sz="1100" dirty="0"/>
          </a:p>
        </p:txBody>
      </p:sp>
      <p:sp>
        <p:nvSpPr>
          <p:cNvPr id="21" name="Text 19"/>
          <p:cNvSpPr txBox="1"/>
          <p:nvPr/>
        </p:nvSpPr>
        <p:spPr>
          <a:xfrm>
            <a:off x="6327648" y="17830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hypothetical human-level AI across varied tasks</a:t>
            </a:r>
            <a:endParaRPr lang="en-US" sz="1000" dirty="0"/>
          </a:p>
        </p:txBody>
      </p:sp>
      <p:sp>
        <p:nvSpPr>
          <p:cNvPr id="22" name="Shape 20"/>
          <p:cNvSpPr/>
          <p:nvPr/>
        </p:nvSpPr>
        <p:spPr>
          <a:xfrm>
            <a:off x="457200" y="2240280"/>
            <a:ext cx="4023360" cy="402336"/>
          </a:xfrm>
          <a:prstGeom prst="roundRect">
            <a:avLst>
              <a:gd name="adj" fmla="val 11364"/>
            </a:avLst>
          </a:prstGeom>
          <a:solidFill>
            <a:srgbClr val="F4F7F5"/>
          </a:solidFill>
          <a:ln w="9525">
            <a:solidFill>
              <a:srgbClr val="D5DED9"/>
            </a:solidFill>
            <a:prstDash val="solid"/>
          </a:ln>
        </p:spPr>
      </p:sp>
      <p:sp>
        <p:nvSpPr>
          <p:cNvPr id="23" name="Text 21"/>
          <p:cNvSpPr txBox="1"/>
          <p:nvPr/>
        </p:nvSpPr>
        <p:spPr>
          <a:xfrm>
            <a:off x="566928" y="22402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LLM</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GML</a:t>
            </a:r>
            <a:endParaRPr lang="en-US" sz="1100" dirty="0"/>
          </a:p>
        </p:txBody>
      </p:sp>
      <p:sp>
        <p:nvSpPr>
          <p:cNvPr id="24" name="Text 22"/>
          <p:cNvSpPr txBox="1"/>
          <p:nvPr/>
        </p:nvSpPr>
        <p:spPr>
          <a:xfrm>
            <a:off x="2121408" y="22402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large language model; predicts the next token</a:t>
            </a:r>
            <a:endParaRPr lang="en-US" sz="1000" dirty="0"/>
          </a:p>
        </p:txBody>
      </p:sp>
      <p:sp>
        <p:nvSpPr>
          <p:cNvPr id="25" name="Shape 23"/>
          <p:cNvSpPr/>
          <p:nvPr/>
        </p:nvSpPr>
        <p:spPr>
          <a:xfrm>
            <a:off x="4663440" y="2240280"/>
            <a:ext cx="4023360" cy="402336"/>
          </a:xfrm>
          <a:prstGeom prst="roundRect">
            <a:avLst>
              <a:gd name="adj" fmla="val 11364"/>
            </a:avLst>
          </a:prstGeom>
          <a:solidFill>
            <a:srgbClr val="F4F7F5"/>
          </a:solidFill>
          <a:ln w="9525">
            <a:solidFill>
              <a:srgbClr val="D5DED9"/>
            </a:solidFill>
            <a:prstDash val="solid"/>
          </a:ln>
        </p:spPr>
      </p:sp>
      <p:sp>
        <p:nvSpPr>
          <p:cNvPr id="26" name="Text 24"/>
          <p:cNvSpPr txBox="1"/>
          <p:nvPr/>
        </p:nvSpPr>
        <p:spPr>
          <a:xfrm>
            <a:off x="4773168" y="22402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Token</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Jeton</a:t>
            </a:r>
            <a:endParaRPr lang="en-US" sz="1100" dirty="0"/>
          </a:p>
        </p:txBody>
      </p:sp>
      <p:sp>
        <p:nvSpPr>
          <p:cNvPr id="27" name="Text 25"/>
          <p:cNvSpPr txBox="1"/>
          <p:nvPr/>
        </p:nvSpPr>
        <p:spPr>
          <a:xfrm>
            <a:off x="6327648" y="22402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piece of a word processed by the model</a:t>
            </a:r>
            <a:endParaRPr lang="en-US" sz="1000" dirty="0"/>
          </a:p>
        </p:txBody>
      </p:sp>
      <p:sp>
        <p:nvSpPr>
          <p:cNvPr id="28" name="Shape 26"/>
          <p:cNvSpPr/>
          <p:nvPr/>
        </p:nvSpPr>
        <p:spPr>
          <a:xfrm>
            <a:off x="457200" y="2697480"/>
            <a:ext cx="4023360" cy="402336"/>
          </a:xfrm>
          <a:prstGeom prst="roundRect">
            <a:avLst>
              <a:gd name="adj" fmla="val 11364"/>
            </a:avLst>
          </a:prstGeom>
          <a:solidFill>
            <a:srgbClr val="FFFFFF"/>
          </a:solidFill>
          <a:ln w="9525">
            <a:solidFill>
              <a:srgbClr val="D5DED9"/>
            </a:solidFill>
            <a:prstDash val="solid"/>
          </a:ln>
        </p:spPr>
      </p:sp>
      <p:sp>
        <p:nvSpPr>
          <p:cNvPr id="29" name="Text 27"/>
          <p:cNvSpPr txBox="1"/>
          <p:nvPr/>
        </p:nvSpPr>
        <p:spPr>
          <a:xfrm>
            <a:off x="566928" y="26974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Prompt</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Requête</a:t>
            </a:r>
            <a:endParaRPr lang="en-US" sz="1100" dirty="0"/>
          </a:p>
        </p:txBody>
      </p:sp>
      <p:sp>
        <p:nvSpPr>
          <p:cNvPr id="30" name="Text 28"/>
          <p:cNvSpPr txBox="1"/>
          <p:nvPr/>
        </p:nvSpPr>
        <p:spPr>
          <a:xfrm>
            <a:off x="2121408" y="26974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instruction given to the model</a:t>
            </a:r>
            <a:endParaRPr lang="en-US" sz="1000" dirty="0"/>
          </a:p>
        </p:txBody>
      </p:sp>
      <p:sp>
        <p:nvSpPr>
          <p:cNvPr id="31" name="Shape 29"/>
          <p:cNvSpPr/>
          <p:nvPr/>
        </p:nvSpPr>
        <p:spPr>
          <a:xfrm>
            <a:off x="4663440" y="2697480"/>
            <a:ext cx="4023360" cy="402336"/>
          </a:xfrm>
          <a:prstGeom prst="roundRect">
            <a:avLst>
              <a:gd name="adj" fmla="val 11364"/>
            </a:avLst>
          </a:prstGeom>
          <a:solidFill>
            <a:srgbClr val="FFFFFF"/>
          </a:solidFill>
          <a:ln w="9525">
            <a:solidFill>
              <a:srgbClr val="D5DED9"/>
            </a:solidFill>
            <a:prstDash val="solid"/>
          </a:ln>
        </p:spPr>
      </p:sp>
      <p:sp>
        <p:nvSpPr>
          <p:cNvPr id="32" name="Text 30"/>
          <p:cNvSpPr txBox="1"/>
          <p:nvPr/>
        </p:nvSpPr>
        <p:spPr>
          <a:xfrm>
            <a:off x="4773168" y="26974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Context window</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Fenêtre de contexte</a:t>
            </a:r>
            <a:endParaRPr lang="en-US" sz="1100" dirty="0"/>
          </a:p>
        </p:txBody>
      </p:sp>
      <p:sp>
        <p:nvSpPr>
          <p:cNvPr id="33" name="Text 31"/>
          <p:cNvSpPr txBox="1"/>
          <p:nvPr/>
        </p:nvSpPr>
        <p:spPr>
          <a:xfrm>
            <a:off x="6327648" y="26974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amount of text readable at once</a:t>
            </a:r>
            <a:endParaRPr lang="en-US" sz="1000" dirty="0"/>
          </a:p>
        </p:txBody>
      </p:sp>
      <p:sp>
        <p:nvSpPr>
          <p:cNvPr id="34" name="Shape 32"/>
          <p:cNvSpPr/>
          <p:nvPr/>
        </p:nvSpPr>
        <p:spPr>
          <a:xfrm>
            <a:off x="457200" y="3154680"/>
            <a:ext cx="4023360" cy="402336"/>
          </a:xfrm>
          <a:prstGeom prst="roundRect">
            <a:avLst>
              <a:gd name="adj" fmla="val 11364"/>
            </a:avLst>
          </a:prstGeom>
          <a:solidFill>
            <a:srgbClr val="F4F7F5"/>
          </a:solidFill>
          <a:ln w="9525">
            <a:solidFill>
              <a:srgbClr val="D5DED9"/>
            </a:solidFill>
            <a:prstDash val="solid"/>
          </a:ln>
        </p:spPr>
      </p:sp>
      <p:sp>
        <p:nvSpPr>
          <p:cNvPr id="35" name="Text 33"/>
          <p:cNvSpPr txBox="1"/>
          <p:nvPr/>
        </p:nvSpPr>
        <p:spPr>
          <a:xfrm>
            <a:off x="566928" y="31546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Génération augmentée</a:t>
            </a:r>
            <a:endParaRPr lang="en-US" sz="1100" dirty="0"/>
          </a:p>
        </p:txBody>
      </p:sp>
      <p:sp>
        <p:nvSpPr>
          <p:cNvPr id="36" name="Text 34"/>
          <p:cNvSpPr txBox="1"/>
          <p:nvPr/>
        </p:nvSpPr>
        <p:spPr>
          <a:xfrm>
            <a:off x="2121408" y="31546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retrieve documents, then write</a:t>
            </a:r>
            <a:endParaRPr lang="en-US" sz="1000" dirty="0"/>
          </a:p>
        </p:txBody>
      </p:sp>
      <p:sp>
        <p:nvSpPr>
          <p:cNvPr id="37" name="Shape 35"/>
          <p:cNvSpPr/>
          <p:nvPr/>
        </p:nvSpPr>
        <p:spPr>
          <a:xfrm>
            <a:off x="4663440" y="3154680"/>
            <a:ext cx="4023360" cy="402336"/>
          </a:xfrm>
          <a:prstGeom prst="roundRect">
            <a:avLst>
              <a:gd name="adj" fmla="val 11364"/>
            </a:avLst>
          </a:prstGeom>
          <a:solidFill>
            <a:srgbClr val="F4F7F5"/>
          </a:solidFill>
          <a:ln w="9525">
            <a:solidFill>
              <a:srgbClr val="D5DED9"/>
            </a:solidFill>
            <a:prstDash val="solid"/>
          </a:ln>
        </p:spPr>
      </p:sp>
      <p:sp>
        <p:nvSpPr>
          <p:cNvPr id="38" name="Text 36"/>
          <p:cNvSpPr txBox="1"/>
          <p:nvPr/>
        </p:nvSpPr>
        <p:spPr>
          <a:xfrm>
            <a:off x="4773168" y="31546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Embedding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Plongement</a:t>
            </a:r>
            <a:endParaRPr lang="en-US" sz="1100" dirty="0"/>
          </a:p>
        </p:txBody>
      </p:sp>
      <p:sp>
        <p:nvSpPr>
          <p:cNvPr id="39" name="Text 37"/>
          <p:cNvSpPr txBox="1"/>
          <p:nvPr/>
        </p:nvSpPr>
        <p:spPr>
          <a:xfrm>
            <a:off x="6327648" y="31546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 passage turned into coordinates</a:t>
            </a:r>
            <a:endParaRPr lang="en-US" sz="1000" dirty="0"/>
          </a:p>
        </p:txBody>
      </p:sp>
      <p:sp>
        <p:nvSpPr>
          <p:cNvPr id="40" name="Shape 38"/>
          <p:cNvSpPr/>
          <p:nvPr/>
        </p:nvSpPr>
        <p:spPr>
          <a:xfrm>
            <a:off x="457200" y="3611880"/>
            <a:ext cx="4023360" cy="402336"/>
          </a:xfrm>
          <a:prstGeom prst="roundRect">
            <a:avLst>
              <a:gd name="adj" fmla="val 11364"/>
            </a:avLst>
          </a:prstGeom>
          <a:solidFill>
            <a:srgbClr val="FFFFFF"/>
          </a:solidFill>
          <a:ln w="9525">
            <a:solidFill>
              <a:srgbClr val="D5DED9"/>
            </a:solidFill>
            <a:prstDash val="solid"/>
          </a:ln>
        </p:spPr>
      </p:sp>
      <p:sp>
        <p:nvSpPr>
          <p:cNvPr id="41" name="Text 39"/>
          <p:cNvSpPr txBox="1"/>
          <p:nvPr/>
        </p:nvSpPr>
        <p:spPr>
          <a:xfrm>
            <a:off x="566928" y="36118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Fine-tuning</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Affinage</a:t>
            </a:r>
            <a:endParaRPr lang="en-US" sz="1100" dirty="0"/>
          </a:p>
        </p:txBody>
      </p:sp>
      <p:sp>
        <p:nvSpPr>
          <p:cNvPr id="42" name="Text 40"/>
          <p:cNvSpPr txBox="1"/>
          <p:nvPr/>
        </p:nvSpPr>
        <p:spPr>
          <a:xfrm>
            <a:off x="2121408" y="36118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retraining that changes the weights</a:t>
            </a:r>
            <a:endParaRPr lang="en-US" sz="1000" dirty="0"/>
          </a:p>
        </p:txBody>
      </p:sp>
      <p:sp>
        <p:nvSpPr>
          <p:cNvPr id="43" name="Shape 41"/>
          <p:cNvSpPr/>
          <p:nvPr/>
        </p:nvSpPr>
        <p:spPr>
          <a:xfrm>
            <a:off x="4663440" y="3611880"/>
            <a:ext cx="4023360" cy="402336"/>
          </a:xfrm>
          <a:prstGeom prst="roundRect">
            <a:avLst>
              <a:gd name="adj" fmla="val 11364"/>
            </a:avLst>
          </a:prstGeom>
          <a:solidFill>
            <a:srgbClr val="FFFFFF"/>
          </a:solidFill>
          <a:ln w="9525">
            <a:solidFill>
              <a:srgbClr val="D5DED9"/>
            </a:solidFill>
            <a:prstDash val="solid"/>
          </a:ln>
        </p:spPr>
      </p:sp>
      <p:sp>
        <p:nvSpPr>
          <p:cNvPr id="44" name="Text 42"/>
          <p:cNvSpPr txBox="1"/>
          <p:nvPr/>
        </p:nvSpPr>
        <p:spPr>
          <a:xfrm>
            <a:off x="4773168" y="36118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Hallucination</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Hallucination</a:t>
            </a:r>
            <a:endParaRPr lang="en-US" sz="1100" dirty="0"/>
          </a:p>
        </p:txBody>
      </p:sp>
      <p:sp>
        <p:nvSpPr>
          <p:cNvPr id="45" name="Text 43"/>
          <p:cNvSpPr txBox="1"/>
          <p:nvPr/>
        </p:nvSpPr>
        <p:spPr>
          <a:xfrm>
            <a:off x="6327648" y="36118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fluent but false output</a:t>
            </a:r>
            <a:endParaRPr lang="en-US" sz="1000" dirty="0"/>
          </a:p>
        </p:txBody>
      </p:sp>
      <p:sp>
        <p:nvSpPr>
          <p:cNvPr id="46" name="Shape 44"/>
          <p:cNvSpPr/>
          <p:nvPr/>
        </p:nvSpPr>
        <p:spPr>
          <a:xfrm>
            <a:off x="457200" y="4069080"/>
            <a:ext cx="4023360" cy="402336"/>
          </a:xfrm>
          <a:prstGeom prst="roundRect">
            <a:avLst>
              <a:gd name="adj" fmla="val 11364"/>
            </a:avLst>
          </a:prstGeom>
          <a:solidFill>
            <a:srgbClr val="F4F7F5"/>
          </a:solidFill>
          <a:ln w="9525">
            <a:solidFill>
              <a:srgbClr val="D5DED9"/>
            </a:solidFill>
            <a:prstDash val="solid"/>
          </a:ln>
        </p:spPr>
      </p:sp>
      <p:sp>
        <p:nvSpPr>
          <p:cNvPr id="47" name="Text 45"/>
          <p:cNvSpPr txBox="1"/>
          <p:nvPr/>
        </p:nvSpPr>
        <p:spPr>
          <a:xfrm>
            <a:off x="566928" y="40690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Agent</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Agent</a:t>
            </a:r>
            <a:endParaRPr lang="en-US" sz="1100" dirty="0"/>
          </a:p>
        </p:txBody>
      </p:sp>
      <p:sp>
        <p:nvSpPr>
          <p:cNvPr id="48" name="Text 46"/>
          <p:cNvSpPr txBox="1"/>
          <p:nvPr/>
        </p:nvSpPr>
        <p:spPr>
          <a:xfrm>
            <a:off x="2121408" y="40690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model whose output triggers actions</a:t>
            </a:r>
            <a:endParaRPr lang="en-US" sz="1000" dirty="0"/>
          </a:p>
        </p:txBody>
      </p:sp>
      <p:sp>
        <p:nvSpPr>
          <p:cNvPr id="49" name="Shape 47"/>
          <p:cNvSpPr/>
          <p:nvPr/>
        </p:nvSpPr>
        <p:spPr>
          <a:xfrm>
            <a:off x="4663440" y="4069080"/>
            <a:ext cx="4023360" cy="402336"/>
          </a:xfrm>
          <a:prstGeom prst="roundRect">
            <a:avLst>
              <a:gd name="adj" fmla="val 11364"/>
            </a:avLst>
          </a:prstGeom>
          <a:solidFill>
            <a:srgbClr val="F4F7F5"/>
          </a:solidFill>
          <a:ln w="9525">
            <a:solidFill>
              <a:srgbClr val="D5DED9"/>
            </a:solidFill>
            <a:prstDash val="solid"/>
          </a:ln>
        </p:spPr>
      </p:sp>
      <p:sp>
        <p:nvSpPr>
          <p:cNvPr id="50" name="Text 48"/>
          <p:cNvSpPr txBox="1"/>
          <p:nvPr/>
        </p:nvSpPr>
        <p:spPr>
          <a:xfrm>
            <a:off x="4773168" y="4069080"/>
            <a:ext cx="1508760" cy="40233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MCP</a:t>
            </a:r>
            <a:endParaRPr lang="en-US" sz="1100" dirty="0"/>
          </a:p>
          <a:p>
            <a:pPr marL="0" indent="0">
              <a:buNone/>
            </a:pPr>
            <a:r>
              <a:rPr lang="en-US" sz="850" i="1" dirty="0">
                <a:solidFill>
                  <a:srgbClr val="5E6964"/>
                </a:solidFill>
                <a:latin typeface="Calibri" pitchFamily="34" charset="0"/>
                <a:ea typeface="Calibri" pitchFamily="34" charset="-122"/>
                <a:cs typeface="Calibri" pitchFamily="34" charset="-120"/>
              </a:rPr>
              <a:t>Model Context Protocol</a:t>
            </a:r>
            <a:endParaRPr lang="en-US" sz="1100" dirty="0"/>
          </a:p>
        </p:txBody>
      </p:sp>
      <p:sp>
        <p:nvSpPr>
          <p:cNvPr id="51" name="Text 49"/>
          <p:cNvSpPr txBox="1"/>
          <p:nvPr/>
        </p:nvSpPr>
        <p:spPr>
          <a:xfrm>
            <a:off x="6327648" y="4069080"/>
            <a:ext cx="2286000" cy="402336"/>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standard for connecting tools and data</a:t>
            </a:r>
            <a:endParaRPr lang="en-US" sz="10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APPENDIX  ·  STATISTICS AND MACHINE LEARNING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200" b="1" dirty="0">
                <a:solidFill>
                  <a:srgbClr val="231F20"/>
                </a:solidFill>
                <a:latin typeface="Calibri" pitchFamily="34" charset="0"/>
                <a:ea typeface="Calibri" pitchFamily="34" charset="-122"/>
                <a:cs typeface="Calibri" pitchFamily="34" charset="-120"/>
              </a:rPr>
              <a:t>Two cultures: explaining the process vs predicting the case</a:t>
            </a:r>
            <a:endParaRPr lang="en-US" sz="22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34</a:t>
            </a:r>
            <a:endParaRPr lang="en-US" sz="850" dirty="0"/>
          </a:p>
        </p:txBody>
      </p:sp>
      <p:sp>
        <p:nvSpPr>
          <p:cNvPr id="10" name="Shape 8"/>
          <p:cNvSpPr/>
          <p:nvPr/>
        </p:nvSpPr>
        <p:spPr>
          <a:xfrm>
            <a:off x="457200" y="1371600"/>
            <a:ext cx="3977640" cy="3017520"/>
          </a:xfrm>
          <a:prstGeom prst="roundRect">
            <a:avLst>
              <a:gd name="adj" fmla="val 2424"/>
            </a:avLst>
          </a:prstGeom>
          <a:solidFill>
            <a:srgbClr val="F4F7F5"/>
          </a:solidFill>
          <a:ln w="9525">
            <a:solidFill>
              <a:srgbClr val="D5DED9"/>
            </a:solidFill>
            <a:prstDash val="solid"/>
          </a:ln>
        </p:spPr>
      </p:sp>
      <p:sp>
        <p:nvSpPr>
          <p:cNvPr id="11" name="Shape 9"/>
          <p:cNvSpPr/>
          <p:nvPr/>
        </p:nvSpPr>
        <p:spPr>
          <a:xfrm>
            <a:off x="658368" y="1508760"/>
            <a:ext cx="502920" cy="502920"/>
          </a:xfrm>
          <a:prstGeom prst="ellipse">
            <a:avLst/>
          </a:prstGeom>
          <a:solidFill>
            <a:srgbClr val="00704A">
              <a:alpha val="22000"/>
            </a:srgbClr>
          </a:solidFill>
          <a:ln/>
        </p:spPr>
      </p:sp>
      <p:pic>
        <p:nvPicPr>
          <p:cNvPr id="12" name="Image 0" descr="preencoded.png"/>
          <p:cNvPicPr>
            <a:picLocks noChangeAspect="1"/>
          </p:cNvPicPr>
          <p:nvPr/>
        </p:nvPicPr>
        <p:blipFill>
          <a:blip r:embed="rId3"/>
          <a:stretch>
            <a:fillRect/>
          </a:stretch>
        </p:blipFill>
        <p:spPr>
          <a:xfrm>
            <a:off x="779069" y="1629461"/>
            <a:ext cx="261518" cy="261518"/>
          </a:xfrm>
          <a:prstGeom prst="rect">
            <a:avLst/>
          </a:prstGeom>
        </p:spPr>
      </p:pic>
      <p:sp>
        <p:nvSpPr>
          <p:cNvPr id="13" name="Text 10"/>
          <p:cNvSpPr txBox="1"/>
          <p:nvPr/>
        </p:nvSpPr>
        <p:spPr>
          <a:xfrm>
            <a:off x="1298448" y="1508760"/>
            <a:ext cx="2926080" cy="502920"/>
          </a:xfrm>
          <a:prstGeom prst="rect">
            <a:avLst/>
          </a:prstGeom>
          <a:noFill/>
          <a:ln/>
        </p:spPr>
        <p:txBody>
          <a:bodyPr wrap="square" lIns="0" tIns="0" rIns="0" bIns="0" rtlCol="0" anchor="ctr"/>
          <a:lstStyle/>
          <a:p>
            <a:pPr marL="0" indent="0">
              <a:buNone/>
            </a:pPr>
            <a:r>
              <a:rPr lang="en-US" sz="1600" b="1" dirty="0">
                <a:solidFill>
                  <a:srgbClr val="00704A"/>
                </a:solidFill>
                <a:latin typeface="Calibri" pitchFamily="34" charset="0"/>
                <a:ea typeface="Calibri" pitchFamily="34" charset="-122"/>
                <a:cs typeface="Calibri" pitchFamily="34" charset="-120"/>
              </a:rPr>
              <a:t>Data modelling</a:t>
            </a:r>
            <a:endParaRPr lang="en-US" sz="1600" dirty="0"/>
          </a:p>
        </p:txBody>
      </p:sp>
      <p:sp>
        <p:nvSpPr>
          <p:cNvPr id="14" name="Text 11"/>
          <p:cNvSpPr txBox="1"/>
          <p:nvPr/>
        </p:nvSpPr>
        <p:spPr>
          <a:xfrm>
            <a:off x="685800" y="2240280"/>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Goal</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understand how the data were generated</a:t>
            </a:r>
            <a:endParaRPr lang="en-US" sz="1100" dirty="0"/>
          </a:p>
        </p:txBody>
      </p:sp>
      <p:sp>
        <p:nvSpPr>
          <p:cNvPr id="15" name="Text 12"/>
          <p:cNvSpPr txBox="1"/>
          <p:nvPr/>
        </p:nvSpPr>
        <p:spPr>
          <a:xfrm>
            <a:off x="685800" y="2770632"/>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goodness of fit, residuals, assumptions</a:t>
            </a:r>
            <a:endParaRPr lang="en-US" sz="1100" dirty="0"/>
          </a:p>
        </p:txBody>
      </p:sp>
      <p:sp>
        <p:nvSpPr>
          <p:cNvPr id="16" name="Text 13"/>
          <p:cNvSpPr txBox="1"/>
          <p:nvPr/>
        </p:nvSpPr>
        <p:spPr>
          <a:xfrm>
            <a:off x="685800" y="3300984"/>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Parameters</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have a defensible meaning</a:t>
            </a:r>
            <a:endParaRPr lang="en-US" sz="1100" dirty="0"/>
          </a:p>
        </p:txBody>
      </p:sp>
      <p:sp>
        <p:nvSpPr>
          <p:cNvPr id="17" name="Text 14"/>
          <p:cNvSpPr txBox="1"/>
          <p:nvPr/>
        </p:nvSpPr>
        <p:spPr>
          <a:xfrm>
            <a:off x="685800" y="3831336"/>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Fails when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the assumed model is wrong</a:t>
            </a:r>
            <a:endParaRPr lang="en-US" sz="1100" dirty="0"/>
          </a:p>
        </p:txBody>
      </p:sp>
      <p:sp>
        <p:nvSpPr>
          <p:cNvPr id="18" name="Shape 15"/>
          <p:cNvSpPr/>
          <p:nvPr/>
        </p:nvSpPr>
        <p:spPr>
          <a:xfrm>
            <a:off x="4709160" y="1371600"/>
            <a:ext cx="3977640" cy="3017520"/>
          </a:xfrm>
          <a:prstGeom prst="roundRect">
            <a:avLst>
              <a:gd name="adj" fmla="val 2424"/>
            </a:avLst>
          </a:prstGeom>
          <a:solidFill>
            <a:srgbClr val="E8F5EF"/>
          </a:solidFill>
          <a:ln w="15875">
            <a:solidFill>
              <a:srgbClr val="00A86A"/>
            </a:solidFill>
            <a:prstDash val="solid"/>
          </a:ln>
        </p:spPr>
      </p:sp>
      <p:sp>
        <p:nvSpPr>
          <p:cNvPr id="19" name="Shape 16"/>
          <p:cNvSpPr/>
          <p:nvPr/>
        </p:nvSpPr>
        <p:spPr>
          <a:xfrm>
            <a:off x="4910328" y="1508760"/>
            <a:ext cx="502920" cy="502920"/>
          </a:xfrm>
          <a:prstGeom prst="ellipse">
            <a:avLst/>
          </a:prstGeom>
          <a:solidFill>
            <a:srgbClr val="00A86A">
              <a:alpha val="22000"/>
            </a:srgbClr>
          </a:solidFill>
          <a:ln/>
        </p:spPr>
      </p:sp>
      <p:pic>
        <p:nvPicPr>
          <p:cNvPr id="20" name="Image 1" descr="preencoded.png"/>
          <p:cNvPicPr>
            <a:picLocks noChangeAspect="1"/>
          </p:cNvPicPr>
          <p:nvPr/>
        </p:nvPicPr>
        <p:blipFill>
          <a:blip r:embed="rId4"/>
          <a:stretch>
            <a:fillRect/>
          </a:stretch>
        </p:blipFill>
        <p:spPr>
          <a:xfrm>
            <a:off x="5031029" y="1629461"/>
            <a:ext cx="261518" cy="261518"/>
          </a:xfrm>
          <a:prstGeom prst="rect">
            <a:avLst/>
          </a:prstGeom>
        </p:spPr>
      </p:pic>
      <p:sp>
        <p:nvSpPr>
          <p:cNvPr id="21" name="Text 17"/>
          <p:cNvSpPr txBox="1"/>
          <p:nvPr/>
        </p:nvSpPr>
        <p:spPr>
          <a:xfrm>
            <a:off x="5550408" y="1508760"/>
            <a:ext cx="2926080" cy="502920"/>
          </a:xfrm>
          <a:prstGeom prst="rect">
            <a:avLst/>
          </a:prstGeom>
          <a:noFill/>
          <a:ln/>
        </p:spPr>
        <p:txBody>
          <a:bodyPr wrap="square" lIns="0" tIns="0" rIns="0" bIns="0" rtlCol="0" anchor="ctr"/>
          <a:lstStyle/>
          <a:p>
            <a:pPr marL="0" indent="0">
              <a:buNone/>
            </a:pPr>
            <a:r>
              <a:rPr lang="en-US" sz="1600" b="1" dirty="0">
                <a:solidFill>
                  <a:srgbClr val="00A86A"/>
                </a:solidFill>
                <a:latin typeface="Calibri" pitchFamily="34" charset="0"/>
                <a:ea typeface="Calibri" pitchFamily="34" charset="-122"/>
                <a:cs typeface="Calibri" pitchFamily="34" charset="-120"/>
              </a:rPr>
              <a:t>Algorithmic modelling</a:t>
            </a:r>
            <a:endParaRPr lang="en-US" sz="1600" dirty="0"/>
          </a:p>
        </p:txBody>
      </p:sp>
      <p:sp>
        <p:nvSpPr>
          <p:cNvPr id="22" name="Text 18"/>
          <p:cNvSpPr txBox="1"/>
          <p:nvPr/>
        </p:nvSpPr>
        <p:spPr>
          <a:xfrm>
            <a:off x="4937760" y="2240280"/>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Goal</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predict the next, unseen case</a:t>
            </a:r>
            <a:endParaRPr lang="en-US" sz="1100" dirty="0"/>
          </a:p>
        </p:txBody>
      </p:sp>
      <p:sp>
        <p:nvSpPr>
          <p:cNvPr id="23" name="Text 19"/>
          <p:cNvSpPr txBox="1"/>
          <p:nvPr/>
        </p:nvSpPr>
        <p:spPr>
          <a:xfrm>
            <a:off x="4937760" y="2770632"/>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Validation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out-of-sample accuracy</a:t>
            </a:r>
            <a:endParaRPr lang="en-US" sz="1100" dirty="0"/>
          </a:p>
        </p:txBody>
      </p:sp>
      <p:sp>
        <p:nvSpPr>
          <p:cNvPr id="24" name="Text 20"/>
          <p:cNvSpPr txBox="1"/>
          <p:nvPr/>
        </p:nvSpPr>
        <p:spPr>
          <a:xfrm>
            <a:off x="4937760" y="3300984"/>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Parameters</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no direct interpretation</a:t>
            </a:r>
            <a:endParaRPr lang="en-US" sz="1100" dirty="0"/>
          </a:p>
        </p:txBody>
      </p:sp>
      <p:sp>
        <p:nvSpPr>
          <p:cNvPr id="25" name="Text 21"/>
          <p:cNvSpPr txBox="1"/>
          <p:nvPr/>
        </p:nvSpPr>
        <p:spPr>
          <a:xfrm>
            <a:off x="4937760" y="3831336"/>
            <a:ext cx="3566160" cy="475488"/>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Fails when</a:t>
            </a:r>
            <a:endParaRPr lang="en-US" sz="1100" dirty="0"/>
          </a:p>
          <a:p>
            <a:pPr marL="0" indent="0">
              <a:buNone/>
            </a:pPr>
            <a:r>
              <a:rPr lang="en-US" sz="1100" dirty="0">
                <a:solidFill>
                  <a:srgbClr val="5E6964"/>
                </a:solidFill>
                <a:latin typeface="Calibri" pitchFamily="34" charset="0"/>
                <a:ea typeface="Calibri" pitchFamily="34" charset="-122"/>
                <a:cs typeface="Calibri" pitchFamily="34" charset="-120"/>
              </a:rPr>
              <a:t>tomorrow stops looking like yesterday</a:t>
            </a:r>
            <a:endParaRPr lang="en-US" sz="1100" dirty="0"/>
          </a:p>
        </p:txBody>
      </p:sp>
      <p:sp>
        <p:nvSpPr>
          <p:cNvPr id="26" name="Text 22"/>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APPENDIX  ·  LEARNING FAMILIES</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400" b="1" dirty="0">
                <a:solidFill>
                  <a:srgbClr val="231F20"/>
                </a:solidFill>
                <a:latin typeface="Calibri" pitchFamily="34" charset="0"/>
                <a:ea typeface="Calibri" pitchFamily="34" charset="-122"/>
                <a:cs typeface="Calibri" pitchFamily="34" charset="-120"/>
              </a:rPr>
              <a:t>Supervised, unsupervised, reinforcement: three questions</a:t>
            </a:r>
            <a:endParaRPr lang="en-US" sz="24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35</a:t>
            </a:r>
            <a:endParaRPr lang="en-US" sz="850" dirty="0"/>
          </a:p>
        </p:txBody>
      </p:sp>
      <p:sp>
        <p:nvSpPr>
          <p:cNvPr id="10" name="Shape 8"/>
          <p:cNvSpPr/>
          <p:nvPr/>
        </p:nvSpPr>
        <p:spPr>
          <a:xfrm>
            <a:off x="457200" y="1371600"/>
            <a:ext cx="2606040" cy="2606040"/>
          </a:xfrm>
          <a:prstGeom prst="roundRect">
            <a:avLst>
              <a:gd name="adj" fmla="val 2807"/>
            </a:avLst>
          </a:prstGeom>
          <a:solidFill>
            <a:srgbClr val="F4F7F5"/>
          </a:solidFill>
          <a:ln w="9525">
            <a:solidFill>
              <a:srgbClr val="D5DED9"/>
            </a:solidFill>
            <a:prstDash val="solid"/>
          </a:ln>
        </p:spPr>
      </p:sp>
      <p:sp>
        <p:nvSpPr>
          <p:cNvPr id="11" name="Shape 9"/>
          <p:cNvSpPr/>
          <p:nvPr/>
        </p:nvSpPr>
        <p:spPr>
          <a:xfrm>
            <a:off x="658368" y="1517904"/>
            <a:ext cx="548640" cy="548640"/>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790042" y="1649578"/>
            <a:ext cx="285293" cy="285293"/>
          </a:xfrm>
          <a:prstGeom prst="rect">
            <a:avLst/>
          </a:prstGeom>
        </p:spPr>
      </p:pic>
      <p:sp>
        <p:nvSpPr>
          <p:cNvPr id="13" name="Text 10"/>
          <p:cNvSpPr txBox="1"/>
          <p:nvPr/>
        </p:nvSpPr>
        <p:spPr>
          <a:xfrm>
            <a:off x="658368" y="2176272"/>
            <a:ext cx="2240280" cy="34747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Supervised</a:t>
            </a:r>
            <a:endParaRPr lang="en-US" sz="1500" dirty="0"/>
          </a:p>
        </p:txBody>
      </p:sp>
      <p:sp>
        <p:nvSpPr>
          <p:cNvPr id="14" name="Text 11"/>
          <p:cNvSpPr txBox="1"/>
          <p:nvPr/>
        </p:nvSpPr>
        <p:spPr>
          <a:xfrm>
            <a:off x="658368" y="2542032"/>
            <a:ext cx="2240280" cy="6400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Do you have labelled examples of the right answer?</a:t>
            </a:r>
            <a:endParaRPr lang="en-US" sz="1150" dirty="0"/>
          </a:p>
        </p:txBody>
      </p:sp>
      <p:sp>
        <p:nvSpPr>
          <p:cNvPr id="15" name="Text 12"/>
          <p:cNvSpPr txBox="1"/>
          <p:nvPr/>
        </p:nvSpPr>
        <p:spPr>
          <a:xfrm>
            <a:off x="658368" y="3200400"/>
            <a:ext cx="2240280" cy="68580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e.g. A census with hand-coded occupations: the codes are the labels.</a:t>
            </a:r>
            <a:endParaRPr lang="en-US" sz="1000" dirty="0"/>
          </a:p>
        </p:txBody>
      </p:sp>
      <p:sp>
        <p:nvSpPr>
          <p:cNvPr id="16" name="Shape 13"/>
          <p:cNvSpPr/>
          <p:nvPr/>
        </p:nvSpPr>
        <p:spPr>
          <a:xfrm>
            <a:off x="3268980" y="1371600"/>
            <a:ext cx="2606040" cy="2606040"/>
          </a:xfrm>
          <a:prstGeom prst="roundRect">
            <a:avLst>
              <a:gd name="adj" fmla="val 2807"/>
            </a:avLst>
          </a:prstGeom>
          <a:solidFill>
            <a:srgbClr val="F4F7F5"/>
          </a:solidFill>
          <a:ln w="9525">
            <a:solidFill>
              <a:srgbClr val="D5DED9"/>
            </a:solidFill>
            <a:prstDash val="solid"/>
          </a:ln>
        </p:spPr>
      </p:sp>
      <p:sp>
        <p:nvSpPr>
          <p:cNvPr id="17" name="Shape 14"/>
          <p:cNvSpPr/>
          <p:nvPr/>
        </p:nvSpPr>
        <p:spPr>
          <a:xfrm>
            <a:off x="3470148" y="1517904"/>
            <a:ext cx="548640" cy="548640"/>
          </a:xfrm>
          <a:prstGeom prst="ellipse">
            <a:avLst/>
          </a:prstGeom>
          <a:solidFill>
            <a:srgbClr val="0E7C86">
              <a:alpha val="22000"/>
            </a:srgbClr>
          </a:solidFill>
          <a:ln/>
        </p:spPr>
      </p:sp>
      <p:pic>
        <p:nvPicPr>
          <p:cNvPr id="18" name="Image 1" descr="preencoded.png"/>
          <p:cNvPicPr>
            <a:picLocks noChangeAspect="1"/>
          </p:cNvPicPr>
          <p:nvPr/>
        </p:nvPicPr>
        <p:blipFill>
          <a:blip r:embed="rId4"/>
          <a:stretch>
            <a:fillRect/>
          </a:stretch>
        </p:blipFill>
        <p:spPr>
          <a:xfrm>
            <a:off x="3601822" y="1649578"/>
            <a:ext cx="285293" cy="285293"/>
          </a:xfrm>
          <a:prstGeom prst="rect">
            <a:avLst/>
          </a:prstGeom>
        </p:spPr>
      </p:pic>
      <p:sp>
        <p:nvSpPr>
          <p:cNvPr id="19" name="Text 15"/>
          <p:cNvSpPr txBox="1"/>
          <p:nvPr/>
        </p:nvSpPr>
        <p:spPr>
          <a:xfrm>
            <a:off x="3470148" y="2176272"/>
            <a:ext cx="2240280" cy="347472"/>
          </a:xfrm>
          <a:prstGeom prst="rect">
            <a:avLst/>
          </a:prstGeom>
          <a:noFill/>
          <a:ln/>
        </p:spPr>
        <p:txBody>
          <a:bodyPr wrap="square" lIns="0" tIns="0" rIns="0" bIns="0" rtlCol="0" anchor="t"/>
          <a:lstStyle/>
          <a:p>
            <a:pPr marL="0" indent="0">
              <a:buNone/>
            </a:pPr>
            <a:r>
              <a:rPr lang="en-US" sz="1500" b="1" dirty="0">
                <a:solidFill>
                  <a:srgbClr val="0E7C86"/>
                </a:solidFill>
                <a:latin typeface="Calibri" pitchFamily="34" charset="0"/>
                <a:ea typeface="Calibri" pitchFamily="34" charset="-122"/>
                <a:cs typeface="Calibri" pitchFamily="34" charset="-120"/>
              </a:rPr>
              <a:t>Unsupervised</a:t>
            </a:r>
            <a:endParaRPr lang="en-US" sz="1500" dirty="0"/>
          </a:p>
        </p:txBody>
      </p:sp>
      <p:sp>
        <p:nvSpPr>
          <p:cNvPr id="20" name="Text 16"/>
          <p:cNvSpPr txBox="1"/>
          <p:nvPr/>
        </p:nvSpPr>
        <p:spPr>
          <a:xfrm>
            <a:off x="3470148" y="2542032"/>
            <a:ext cx="2240280" cy="6400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Only raw records, and you are looking for structure?</a:t>
            </a:r>
            <a:endParaRPr lang="en-US" sz="1150" dirty="0"/>
          </a:p>
        </p:txBody>
      </p:sp>
      <p:sp>
        <p:nvSpPr>
          <p:cNvPr id="21" name="Text 17"/>
          <p:cNvSpPr txBox="1"/>
          <p:nvPr/>
        </p:nvSpPr>
        <p:spPr>
          <a:xfrm>
            <a:off x="3470148" y="3200400"/>
            <a:ext cx="2240280" cy="68580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e.g. Deduplicating and clustering the business register.</a:t>
            </a:r>
            <a:endParaRPr lang="en-US" sz="1000" dirty="0"/>
          </a:p>
        </p:txBody>
      </p:sp>
      <p:sp>
        <p:nvSpPr>
          <p:cNvPr id="22" name="Shape 18"/>
          <p:cNvSpPr/>
          <p:nvPr/>
        </p:nvSpPr>
        <p:spPr>
          <a:xfrm>
            <a:off x="6080760" y="1371600"/>
            <a:ext cx="2606040" cy="2606040"/>
          </a:xfrm>
          <a:prstGeom prst="roundRect">
            <a:avLst>
              <a:gd name="adj" fmla="val 2807"/>
            </a:avLst>
          </a:prstGeom>
          <a:solidFill>
            <a:srgbClr val="F4F7F5"/>
          </a:solidFill>
          <a:ln w="9525">
            <a:solidFill>
              <a:srgbClr val="D5DED9"/>
            </a:solidFill>
            <a:prstDash val="solid"/>
          </a:ln>
        </p:spPr>
      </p:sp>
      <p:sp>
        <p:nvSpPr>
          <p:cNvPr id="23" name="Shape 19"/>
          <p:cNvSpPr/>
          <p:nvPr/>
        </p:nvSpPr>
        <p:spPr>
          <a:xfrm>
            <a:off x="6281928" y="1517904"/>
            <a:ext cx="548640" cy="548640"/>
          </a:xfrm>
          <a:prstGeom prst="ellipse">
            <a:avLst/>
          </a:prstGeom>
          <a:solidFill>
            <a:srgbClr val="C4621D">
              <a:alpha val="22000"/>
            </a:srgbClr>
          </a:solidFill>
          <a:ln/>
        </p:spPr>
      </p:sp>
      <p:pic>
        <p:nvPicPr>
          <p:cNvPr id="24" name="Image 2" descr="preencoded.png"/>
          <p:cNvPicPr>
            <a:picLocks noChangeAspect="1"/>
          </p:cNvPicPr>
          <p:nvPr/>
        </p:nvPicPr>
        <p:blipFill>
          <a:blip r:embed="rId5"/>
          <a:stretch>
            <a:fillRect/>
          </a:stretch>
        </p:blipFill>
        <p:spPr>
          <a:xfrm>
            <a:off x="6413602" y="1649578"/>
            <a:ext cx="285293" cy="285293"/>
          </a:xfrm>
          <a:prstGeom prst="rect">
            <a:avLst/>
          </a:prstGeom>
        </p:spPr>
      </p:pic>
      <p:sp>
        <p:nvSpPr>
          <p:cNvPr id="25" name="Text 20"/>
          <p:cNvSpPr txBox="1"/>
          <p:nvPr/>
        </p:nvSpPr>
        <p:spPr>
          <a:xfrm>
            <a:off x="6281928" y="2176272"/>
            <a:ext cx="2240280" cy="347472"/>
          </a:xfrm>
          <a:prstGeom prst="rect">
            <a:avLst/>
          </a:prstGeom>
          <a:noFill/>
          <a:ln/>
        </p:spPr>
        <p:txBody>
          <a:bodyPr wrap="square" lIns="0" tIns="0" rIns="0" bIns="0" rtlCol="0" anchor="t"/>
          <a:lstStyle/>
          <a:p>
            <a:pPr marL="0" indent="0">
              <a:buNone/>
            </a:pPr>
            <a:r>
              <a:rPr lang="en-US" sz="1500" b="1" dirty="0">
                <a:solidFill>
                  <a:srgbClr val="C4621D"/>
                </a:solidFill>
                <a:latin typeface="Calibri" pitchFamily="34" charset="0"/>
                <a:ea typeface="Calibri" pitchFamily="34" charset="-122"/>
                <a:cs typeface="Calibri" pitchFamily="34" charset="-120"/>
              </a:rPr>
              <a:t>Reinforcement</a:t>
            </a:r>
            <a:endParaRPr lang="en-US" sz="1500" dirty="0"/>
          </a:p>
        </p:txBody>
      </p:sp>
      <p:sp>
        <p:nvSpPr>
          <p:cNvPr id="26" name="Text 21"/>
          <p:cNvSpPr txBox="1"/>
          <p:nvPr/>
        </p:nvSpPr>
        <p:spPr>
          <a:xfrm>
            <a:off x="6281928" y="2542032"/>
            <a:ext cx="2240280" cy="640080"/>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A system that acts, and something that scores its actions?</a:t>
            </a:r>
            <a:endParaRPr lang="en-US" sz="1150" dirty="0"/>
          </a:p>
        </p:txBody>
      </p:sp>
      <p:sp>
        <p:nvSpPr>
          <p:cNvPr id="27" name="Text 22"/>
          <p:cNvSpPr txBox="1"/>
          <p:nvPr/>
        </p:nvSpPr>
        <p:spPr>
          <a:xfrm>
            <a:off x="6281928" y="3200400"/>
            <a:ext cx="2240280" cy="685800"/>
          </a:xfrm>
          <a:prstGeom prst="rect">
            <a:avLst/>
          </a:prstGeom>
          <a:noFill/>
          <a:ln/>
        </p:spPr>
        <p:txBody>
          <a:bodyPr wrap="square" lIns="0" tIns="0" rIns="0" bIns="0" rtlCol="0" anchor="t"/>
          <a:lstStyle/>
          <a:p>
            <a:pPr marL="0" indent="0">
              <a:buNone/>
            </a:pPr>
            <a:r>
              <a:rPr lang="en-US" sz="1000" i="1" dirty="0">
                <a:solidFill>
                  <a:srgbClr val="5E6964"/>
                </a:solidFill>
                <a:latin typeface="Calibri" pitchFamily="34" charset="0"/>
                <a:ea typeface="Calibri" pitchFamily="34" charset="-122"/>
                <a:cs typeface="Calibri" pitchFamily="34" charset="-120"/>
              </a:rPr>
              <a:t>e.g. Almost no NSO use cases today — the most oversold branch.</a:t>
            </a:r>
            <a:endParaRPr lang="en-US" sz="1000" dirty="0"/>
          </a:p>
        </p:txBody>
      </p:sp>
      <p:sp>
        <p:nvSpPr>
          <p:cNvPr id="28" name="Shape 23"/>
          <p:cNvSpPr/>
          <p:nvPr/>
        </p:nvSpPr>
        <p:spPr>
          <a:xfrm>
            <a:off x="457200" y="4114800"/>
            <a:ext cx="8229600" cy="420624"/>
          </a:xfrm>
          <a:prstGeom prst="roundRect">
            <a:avLst>
              <a:gd name="adj" fmla="val 17391"/>
            </a:avLst>
          </a:prstGeom>
          <a:solidFill>
            <a:srgbClr val="E8F5EF"/>
          </a:solidFill>
          <a:ln w="15875">
            <a:solidFill>
              <a:srgbClr val="00A86A"/>
            </a:solidFill>
            <a:prstDash val="solid"/>
          </a:ln>
        </p:spPr>
      </p:sp>
      <p:sp>
        <p:nvSpPr>
          <p:cNvPr id="29" name="Text 24"/>
          <p:cNvSpPr txBox="1"/>
          <p:nvPr/>
        </p:nvSpPr>
        <p:spPr>
          <a:xfrm>
            <a:off x="640080" y="4114800"/>
            <a:ext cx="7863840" cy="420624"/>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The same algorithm can serve all three: the question is what you hold, not what you buy.</a:t>
            </a:r>
            <a:endParaRPr lang="en-US" sz="12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APPENDIX  ·  THE COST OF PRE-TRAINING</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Why an NSO will not pre-train its own LLM</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36</a:t>
            </a:r>
            <a:endParaRPr lang="en-US" sz="850" dirty="0"/>
          </a:p>
        </p:txBody>
      </p:sp>
      <p:sp>
        <p:nvSpPr>
          <p:cNvPr id="10" name="Shape 8"/>
          <p:cNvSpPr/>
          <p:nvPr/>
        </p:nvSpPr>
        <p:spPr>
          <a:xfrm>
            <a:off x="457200" y="1371600"/>
            <a:ext cx="3474720" cy="2834640"/>
          </a:xfrm>
          <a:prstGeom prst="roundRect">
            <a:avLst>
              <a:gd name="adj" fmla="val 2581"/>
            </a:avLst>
          </a:prstGeom>
          <a:solidFill>
            <a:srgbClr val="E8F5EF"/>
          </a:solidFill>
          <a:ln w="15875">
            <a:solidFill>
              <a:srgbClr val="00A86A"/>
            </a:solidFill>
            <a:prstDash val="solid"/>
          </a:ln>
        </p:spPr>
      </p:sp>
      <p:sp>
        <p:nvSpPr>
          <p:cNvPr id="11" name="Text 9"/>
          <p:cNvSpPr txBox="1"/>
          <p:nvPr/>
        </p:nvSpPr>
        <p:spPr>
          <a:xfrm>
            <a:off x="640080" y="1600200"/>
            <a:ext cx="3108960" cy="1005840"/>
          </a:xfrm>
          <a:prstGeom prst="rect">
            <a:avLst/>
          </a:prstGeom>
          <a:noFill/>
          <a:ln/>
        </p:spPr>
        <p:txBody>
          <a:bodyPr wrap="square" lIns="0" tIns="0" rIns="0" bIns="0" rtlCol="0" anchor="ctr"/>
          <a:lstStyle/>
          <a:p>
            <a:pPr marL="0" indent="0" algn="ctr">
              <a:buNone/>
            </a:pPr>
            <a:r>
              <a:rPr lang="en-US" sz="6000" b="1" dirty="0">
                <a:solidFill>
                  <a:srgbClr val="00A86A"/>
                </a:solidFill>
                <a:latin typeface="Calibri" pitchFamily="34" charset="0"/>
                <a:ea typeface="Calibri" pitchFamily="34" charset="-122"/>
                <a:cs typeface="Calibri" pitchFamily="34" charset="-120"/>
              </a:rPr>
              <a:t>20 : 1</a:t>
            </a:r>
            <a:endParaRPr lang="en-US" sz="6000" dirty="0"/>
          </a:p>
        </p:txBody>
      </p:sp>
      <p:sp>
        <p:nvSpPr>
          <p:cNvPr id="12" name="Text 10"/>
          <p:cNvSpPr txBox="1"/>
          <p:nvPr/>
        </p:nvSpPr>
        <p:spPr>
          <a:xfrm>
            <a:off x="731520" y="2697480"/>
            <a:ext cx="2926080" cy="640080"/>
          </a:xfrm>
          <a:prstGeom prst="rect">
            <a:avLst/>
          </a:prstGeom>
          <a:noFill/>
          <a:ln/>
        </p:spPr>
        <p:txBody>
          <a:bodyPr wrap="square" lIns="0" tIns="0" rIns="0" bIns="0" rtlCol="0" anchor="t"/>
          <a:lstStyle/>
          <a:p>
            <a:pPr marL="0" indent="0" algn="ctr">
              <a:buNone/>
            </a:pPr>
            <a:r>
              <a:rPr lang="en-US" sz="1250" dirty="0">
                <a:solidFill>
                  <a:srgbClr val="5E6964"/>
                </a:solidFill>
                <a:latin typeface="Calibri" pitchFamily="34" charset="0"/>
                <a:ea typeface="Calibri" pitchFamily="34" charset="-122"/>
                <a:cs typeface="Calibri" pitchFamily="34" charset="-120"/>
              </a:rPr>
              <a:t>training tokens per parameter for a compute-optimal model</a:t>
            </a:r>
            <a:endParaRPr lang="en-US" sz="1250" dirty="0"/>
          </a:p>
        </p:txBody>
      </p:sp>
      <p:sp>
        <p:nvSpPr>
          <p:cNvPr id="13" name="Shape 11"/>
          <p:cNvSpPr/>
          <p:nvPr/>
        </p:nvSpPr>
        <p:spPr>
          <a:xfrm>
            <a:off x="4206240" y="1417320"/>
            <a:ext cx="457200" cy="457200"/>
          </a:xfrm>
          <a:prstGeom prst="ellipse">
            <a:avLst/>
          </a:prstGeom>
          <a:solidFill>
            <a:srgbClr val="00704A">
              <a:alpha val="22000"/>
            </a:srgbClr>
          </a:solidFill>
          <a:ln/>
        </p:spPr>
      </p:sp>
      <p:pic>
        <p:nvPicPr>
          <p:cNvPr id="14" name="Image 0" descr="preencoded.png"/>
          <p:cNvPicPr>
            <a:picLocks noChangeAspect="1"/>
          </p:cNvPicPr>
          <p:nvPr/>
        </p:nvPicPr>
        <p:blipFill>
          <a:blip r:embed="rId3"/>
          <a:stretch>
            <a:fillRect/>
          </a:stretch>
        </p:blipFill>
        <p:spPr>
          <a:xfrm>
            <a:off x="4315968" y="1527048"/>
            <a:ext cx="237744" cy="237744"/>
          </a:xfrm>
          <a:prstGeom prst="rect">
            <a:avLst/>
          </a:prstGeom>
        </p:spPr>
      </p:pic>
      <p:sp>
        <p:nvSpPr>
          <p:cNvPr id="15" name="Text 12"/>
          <p:cNvSpPr txBox="1"/>
          <p:nvPr/>
        </p:nvSpPr>
        <p:spPr>
          <a:xfrm>
            <a:off x="4800600" y="1371600"/>
            <a:ext cx="3886200" cy="868680"/>
          </a:xfrm>
          <a:prstGeom prst="rect">
            <a:avLst/>
          </a:prstGeom>
          <a:noFill/>
          <a:ln/>
        </p:spPr>
        <p:txBody>
          <a:bodyPr wrap="square" lIns="0" tIns="0" rIns="0" bIns="0" rtlCol="0" anchor="t"/>
          <a:lstStyle/>
          <a:p>
            <a:pPr marL="0" indent="0">
              <a:buNone/>
            </a:pPr>
            <a:r>
              <a:rPr lang="en-US" sz="1250" b="1" dirty="0">
                <a:solidFill>
                  <a:srgbClr val="00704A"/>
                </a:solidFill>
                <a:latin typeface="Calibri" pitchFamily="34" charset="0"/>
                <a:ea typeface="Calibri" pitchFamily="34" charset="-122"/>
                <a:cs typeface="Calibri" pitchFamily="34" charset="-120"/>
              </a:rPr>
              <a:t>An order of magnitude</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At the scale of the models used this week, that means a corpus and a compute budget no NSO will assemble — nor should.</a:t>
            </a:r>
            <a:endParaRPr lang="en-US" sz="1100" dirty="0"/>
          </a:p>
        </p:txBody>
      </p:sp>
      <p:sp>
        <p:nvSpPr>
          <p:cNvPr id="16" name="Shape 13"/>
          <p:cNvSpPr/>
          <p:nvPr/>
        </p:nvSpPr>
        <p:spPr>
          <a:xfrm>
            <a:off x="4206240" y="2377440"/>
            <a:ext cx="457200" cy="457200"/>
          </a:xfrm>
          <a:prstGeom prst="ellipse">
            <a:avLst/>
          </a:prstGeom>
          <a:solidFill>
            <a:srgbClr val="D49A00">
              <a:alpha val="22000"/>
            </a:srgbClr>
          </a:solidFill>
          <a:ln/>
        </p:spPr>
      </p:sp>
      <p:pic>
        <p:nvPicPr>
          <p:cNvPr id="17" name="Image 1" descr="preencoded.png"/>
          <p:cNvPicPr>
            <a:picLocks noChangeAspect="1"/>
          </p:cNvPicPr>
          <p:nvPr/>
        </p:nvPicPr>
        <p:blipFill>
          <a:blip r:embed="rId4"/>
          <a:stretch>
            <a:fillRect/>
          </a:stretch>
        </p:blipFill>
        <p:spPr>
          <a:xfrm>
            <a:off x="4315968" y="2487168"/>
            <a:ext cx="237744" cy="237744"/>
          </a:xfrm>
          <a:prstGeom prst="rect">
            <a:avLst/>
          </a:prstGeom>
        </p:spPr>
      </p:pic>
      <p:sp>
        <p:nvSpPr>
          <p:cNvPr id="18" name="Text 14"/>
          <p:cNvSpPr txBox="1"/>
          <p:nvPr/>
        </p:nvSpPr>
        <p:spPr>
          <a:xfrm>
            <a:off x="4800600" y="2331720"/>
            <a:ext cx="3886200" cy="868680"/>
          </a:xfrm>
          <a:prstGeom prst="rect">
            <a:avLst/>
          </a:prstGeom>
          <a:noFill/>
          <a:ln/>
        </p:spPr>
        <p:txBody>
          <a:bodyPr wrap="square" lIns="0" tIns="0" rIns="0" bIns="0" rtlCol="0" anchor="t"/>
          <a:lstStyle/>
          <a:p>
            <a:pPr marL="0" indent="0">
              <a:buNone/>
            </a:pPr>
            <a:r>
              <a:rPr lang="en-US" sz="1250" b="1" dirty="0">
                <a:solidFill>
                  <a:srgbClr val="D49A00"/>
                </a:solidFill>
                <a:latin typeface="Calibri" pitchFamily="34" charset="0"/>
                <a:ea typeface="Calibri" pitchFamily="34" charset="-122"/>
                <a:cs typeface="Calibri" pitchFamily="34" charset="-120"/>
              </a:rPr>
              <a:t>Don't confuse them</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Pre-training (out of reach) and fine-tuning (accessible, e.g. with LoRA on a single GPU).</a:t>
            </a:r>
            <a:endParaRPr lang="en-US" sz="1100" dirty="0"/>
          </a:p>
        </p:txBody>
      </p:sp>
      <p:sp>
        <p:nvSpPr>
          <p:cNvPr id="19" name="Shape 15"/>
          <p:cNvSpPr/>
          <p:nvPr/>
        </p:nvSpPr>
        <p:spPr>
          <a:xfrm>
            <a:off x="4206240" y="3337560"/>
            <a:ext cx="457200" cy="457200"/>
          </a:xfrm>
          <a:prstGeom prst="ellipse">
            <a:avLst/>
          </a:prstGeom>
          <a:solidFill>
            <a:srgbClr val="00A86A">
              <a:alpha val="22000"/>
            </a:srgbClr>
          </a:solidFill>
          <a:ln/>
        </p:spPr>
      </p:sp>
      <p:pic>
        <p:nvPicPr>
          <p:cNvPr id="20" name="Image 2" descr="preencoded.png"/>
          <p:cNvPicPr>
            <a:picLocks noChangeAspect="1"/>
          </p:cNvPicPr>
          <p:nvPr/>
        </p:nvPicPr>
        <p:blipFill>
          <a:blip r:embed="rId5"/>
          <a:stretch>
            <a:fillRect/>
          </a:stretch>
        </p:blipFill>
        <p:spPr>
          <a:xfrm>
            <a:off x="4315968" y="3447288"/>
            <a:ext cx="237744" cy="237744"/>
          </a:xfrm>
          <a:prstGeom prst="rect">
            <a:avLst/>
          </a:prstGeom>
        </p:spPr>
      </p:pic>
      <p:sp>
        <p:nvSpPr>
          <p:cNvPr id="21" name="Text 16"/>
          <p:cNvSpPr txBox="1"/>
          <p:nvPr/>
        </p:nvSpPr>
        <p:spPr>
          <a:xfrm>
            <a:off x="4800600" y="3291840"/>
            <a:ext cx="3886200" cy="868680"/>
          </a:xfrm>
          <a:prstGeom prst="rect">
            <a:avLst/>
          </a:prstGeom>
          <a:noFill/>
          <a:ln/>
        </p:spPr>
        <p:txBody>
          <a:bodyPr wrap="square" lIns="0" tIns="0" rIns="0" bIns="0" rtlCol="0" anchor="t"/>
          <a:lstStyle/>
          <a:p>
            <a:pPr marL="0" indent="0">
              <a:buNone/>
            </a:pPr>
            <a:r>
              <a:rPr lang="en-US" sz="1250" b="1" dirty="0">
                <a:solidFill>
                  <a:srgbClr val="00A86A"/>
                </a:solidFill>
                <a:latin typeface="Calibri" pitchFamily="34" charset="0"/>
                <a:ea typeface="Calibri" pitchFamily="34" charset="-122"/>
                <a:cs typeface="Calibri" pitchFamily="34" charset="-120"/>
              </a:rPr>
              <a:t>The real decision</a:t>
            </a:r>
            <a:endParaRPr lang="en-US" sz="1100" dirty="0"/>
          </a:p>
          <a:p>
            <a:pPr marL="0" indent="0">
              <a:buNone/>
            </a:pPr>
            <a:r>
              <a:rPr lang="en-US" sz="1100" dirty="0">
                <a:solidFill>
                  <a:srgbClr val="231F20"/>
                </a:solidFill>
                <a:latin typeface="Calibri" pitchFamily="34" charset="0"/>
                <a:ea typeface="Calibri" pitchFamily="34" charset="-122"/>
                <a:cs typeface="Calibri" pitchFamily="34" charset="-120"/>
              </a:rPr>
              <a:t>Choosing, evaluating and governing an existing model — not building one.</a:t>
            </a:r>
            <a:endParaRPr lang="en-US" sz="1100" dirty="0"/>
          </a:p>
        </p:txBody>
      </p:sp>
      <p:sp>
        <p:nvSpPr>
          <p:cNvPr id="22" name="Text 17"/>
          <p:cNvSpPr txBox="1"/>
          <p:nvPr/>
        </p:nvSpPr>
        <p:spPr>
          <a:xfrm>
            <a:off x="457200" y="4590288"/>
            <a:ext cx="8138160" cy="201168"/>
          </a:xfrm>
          <a:prstGeom prst="rect">
            <a:avLst/>
          </a:prstGeom>
          <a:noFill/>
          <a:ln/>
        </p:spPr>
        <p:txBody>
          <a:bodyPr wrap="square" lIns="0" tIns="0" rIns="0" bIns="0" rtlCol="0" anchor="ctr"/>
          <a:lstStyle/>
          <a:p>
            <a:pPr marL="0" indent="0">
              <a:buNone/>
            </a:pPr>
            <a:r>
              <a:rPr lang="en-US" sz="900" i="1" dirty="0">
                <a:solidFill>
                  <a:srgbClr val="5E6964"/>
                </a:solidFill>
                <a:latin typeface="Calibri" pitchFamily="34" charset="0"/>
                <a:ea typeface="Calibri" pitchFamily="34" charset="-122"/>
                <a:cs typeface="Calibri" pitchFamily="34" charset="-120"/>
              </a:rPr>
              <a:t>Hoffmann et al. (2022), Training Compute-Optimal LLMs, NeurIPS 35 · Hu et al. (2022), LoRA, ICLR · Dettmers et al. (2023), QLoRA, NeurIPS 36.</a:t>
            </a:r>
            <a:endParaRPr lang="en-US" sz="9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1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where every claim comes from</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37</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00A86A"/>
                </a:solidFill>
                <a:latin typeface="Calibri" pitchFamily="34" charset="0"/>
                <a:ea typeface="Calibri" pitchFamily="34" charset="-122"/>
                <a:cs typeface="Calibri" pitchFamily="34" charset="-120"/>
              </a:rPr>
              <a:t>The model: architecture and training</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Rumelhart, D., Hinton, G. &amp; Williams, R. (1986). Learning representations by back-propagating errors. Nature 323, 533–536.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Vaswani, A. et al. (2017). Attention Is All You Need. NeurIPS 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Hoffmann, J. et al. (2022). Training Compute-Optimal Large Language Models.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Ouyang, L. et al. (2022). Training Language Models to Follow Instructions with Human Feedback.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Hu, E. J. et al. (2022). LoRA: Low-Rank Adaptation of LLMs. ICLR 2022.</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Dettmers, T. et al. (2023). QLoRA: Efficient Finetuning of Quantized LLMs.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Chain-of-Thought Prompting Elicits Reasoning. NeurIPS 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Wei, J. et al. (2022). Emergent Abilities of LLMs. TMLR.</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Schaeffer, R., Miranda, B. &amp; Koyejo, S. (2023). Are Emergent Abilities of LLMs a Mirage? NeurIPS 36.</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Bender, E. M. et al. (2021). On the Dangers of Stochastic Parrots. FAccT '21, 610–623.</a:t>
            </a:r>
            <a:endParaRPr lang="en-US" sz="90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00704A"/>
                </a:solidFill>
                <a:latin typeface="Calibri" pitchFamily="34" charset="0"/>
                <a:ea typeface="Calibri" pitchFamily="34" charset="-122"/>
                <a:cs typeface="Calibri" pitchFamily="34" charset="-120"/>
              </a:rPr>
              <a:t>AGI: definitions and forecasts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Legg, S. &amp; Hutter, M. (2007). Universal Intelligence: A Definition of Machine Intelligence. Minds and Machines 17(4), 391–444.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OpenAI (2018). OpenAI Charter. openai.com/charter.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Chollet, F. (2019). On the Measure of Intelligence. arXiv:1911.01547.</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Morris, M. et al. (2024). Levels of AGI for Operationalizing Progress on the Path to AGI. ICML 2024. arXiv:2311.02462.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Grace, K. et al. (2024). Thousands of AI Authors on the Future of AI. arXiv:2401.02843.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Blili-Hamelin, B. et al. (2025). Stop treating 'AGI' as the north-star goal of AI research. arXiv:2502.03689.</a:t>
            </a:r>
            <a:endParaRPr lang="en-US" sz="9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2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where every claim comes from</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38</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Context, retrieval and agents</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Lewis, P. et al. (2020). Retrieval-Augmented Generation for Knowledge-Intensive NLP Tasks. NeurIPS 33.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Karpukhin, V. et al. (2020). Dense Passage Retrieval for Open-Domain QA. EMNLP 2020.</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Muennighoff, N. et al. (2023). MTEB: Massive Text Embedding Benchmark. EACL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Yao, S. et al. (2023). ReAct: Synergizing Reasoning and Acting in LMs. ICLR 2023.</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Schick, T. et al. (2023). Toolformer. NeurIPS 36.</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Anthropic (2024). Introducing the Model Context Protocol, 25 November 2024.</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Model Context Protocol, specification 2026-07-28; governance: Agentic AI Foundation (Linux Foundation), since 9 December 2025. modelcontextprotocol.io</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D49A00"/>
                </a:solidFill>
                <a:latin typeface="Calibri" pitchFamily="34" charset="0"/>
                <a:ea typeface="Calibri" pitchFamily="34" charset="-122"/>
                <a:cs typeface="Calibri" pitchFamily="34" charset="-120"/>
              </a:rPr>
              <a:t>Official statistics: methods and standards</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Fellegi, I. P. &amp; Holt, D. (1976). A Systematic Approach to Automatic Edit and Imputation. JASA 71(353), 17–35.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Box, G. E. P. (1979). Robustness in the strategy of scientific model building. In Launer &amp; Wilkinson (eds.), Robustness in Statistics. Academic Press.</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Breiman, L. (2001). Statistical Modeling: The Two Cultures. Statistical Science 16(3), 199–231.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Schierholz, M. &amp; Schonlau, M. (2021). Machine Learning for Occupation Coding. JSSAM 9(5), 1013–1034.</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Sweeney, L. (2002). k-Anonymity: A Model for Protecting Privacy. IJUFKS 10(5), 557–570.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Narayanan, A. &amp; Shmatikov, V. (2008). Robust De-anonymization of Large Sparse Datasets. IEEE S&amp;P.</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United Nations (2014). Fundamental Principles of Official Statistics. Resolution 68/261.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UNECE (2019). Generic Statistical Business Process Model (GSBPM), v5.1.</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UNECE HLG-MOS (2022). Machine Learning for Official Statistics.</a:t>
            </a:r>
            <a:endParaRPr lang="en-US" sz="900" dirty="0"/>
          </a:p>
        </p:txBody>
      </p:sp>
    </p:spTree>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Shape 2"/>
          <p:cNvSpPr/>
          <p:nvPr/>
        </p:nvSpPr>
        <p:spPr>
          <a:xfrm>
            <a:off x="7406640" y="3383280"/>
            <a:ext cx="2743200" cy="2743200"/>
          </a:xfrm>
          <a:prstGeom prst="ellipse">
            <a:avLst/>
          </a:prstGeom>
          <a:solidFill>
            <a:srgbClr val="00A86A">
              <a:alpha val="5000"/>
            </a:srgbClr>
          </a:solidFill>
          <a:ln/>
        </p:spPr>
      </p:sp>
      <p:sp>
        <p:nvSpPr>
          <p:cNvPr id="5" name="Shape 3"/>
          <p:cNvSpPr/>
          <p:nvPr/>
        </p:nvSpPr>
        <p:spPr>
          <a:xfrm>
            <a:off x="7955280" y="3931920"/>
            <a:ext cx="1645920" cy="1645920"/>
          </a:xfrm>
          <a:prstGeom prst="ellipse">
            <a:avLst/>
          </a:prstGeom>
          <a:solidFill>
            <a:srgbClr val="00A86A">
              <a:alpha val="5000"/>
            </a:srgbClr>
          </a:solidFill>
          <a:ln/>
        </p:spPr>
      </p:sp>
      <p:sp>
        <p:nvSpPr>
          <p:cNvPr id="6" name="Text 4"/>
          <p:cNvSpPr txBox="1"/>
          <p:nvPr/>
        </p:nvSpPr>
        <p:spPr>
          <a:xfrm>
            <a:off x="457200" y="274320"/>
            <a:ext cx="6858000" cy="201168"/>
          </a:xfrm>
          <a:prstGeom prst="rect">
            <a:avLst/>
          </a:prstGeom>
          <a:noFill/>
          <a:ln/>
        </p:spPr>
        <p:txBody>
          <a:bodyPr wrap="square" lIns="0" tIns="0" rIns="0" bIns="0" rtlCol="0" anchor="t"/>
          <a:lstStyle/>
          <a:p>
            <a:pPr marL="0" indent="0">
              <a:buNone/>
            </a:pPr>
            <a:r>
              <a:rPr lang="en-US" sz="1050" b="1" kern="0" spc="150" dirty="0">
                <a:solidFill>
                  <a:srgbClr val="00704A"/>
                </a:solidFill>
                <a:latin typeface="Calibri" pitchFamily="34" charset="0"/>
                <a:ea typeface="Calibri" pitchFamily="34" charset="-122"/>
                <a:cs typeface="Calibri" pitchFamily="34" charset="-120"/>
              </a:rPr>
              <a:t>SOURCES  ·  3 / 3</a:t>
            </a:r>
            <a:endParaRPr lang="en-US" sz="1050" dirty="0"/>
          </a:p>
        </p:txBody>
      </p:sp>
      <p:sp>
        <p:nvSpPr>
          <p:cNvPr id="7" name="Text 5"/>
          <p:cNvSpPr txBox="1"/>
          <p:nvPr/>
        </p:nvSpPr>
        <p:spPr>
          <a:xfrm>
            <a:off x="457200" y="475488"/>
            <a:ext cx="7498080" cy="749808"/>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Sources: where every claim comes from</a:t>
            </a:r>
            <a:endParaRPr lang="en-US" sz="2800" dirty="0"/>
          </a:p>
        </p:txBody>
      </p:sp>
      <p:sp>
        <p:nvSpPr>
          <p:cNvPr id="8" name="Text 6"/>
          <p:cNvSpPr txBox="1"/>
          <p:nvPr/>
        </p:nvSpPr>
        <p:spPr>
          <a:xfrm>
            <a:off x="457200" y="4846320"/>
            <a:ext cx="45720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The AI Family Tree  ·  STG17</a:t>
            </a:r>
            <a:endParaRPr lang="en-US" sz="850" dirty="0"/>
          </a:p>
        </p:txBody>
      </p:sp>
      <p:sp>
        <p:nvSpPr>
          <p:cNvPr id="9" name="Text 7"/>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39</a:t>
            </a:r>
            <a:endParaRPr lang="en-US" sz="850" dirty="0"/>
          </a:p>
        </p:txBody>
      </p:sp>
      <p:sp>
        <p:nvSpPr>
          <p:cNvPr id="10" name="Shape 8"/>
          <p:cNvSpPr/>
          <p:nvPr/>
        </p:nvSpPr>
        <p:spPr>
          <a:xfrm>
            <a:off x="457200" y="1325880"/>
            <a:ext cx="4023360" cy="3218688"/>
          </a:xfrm>
          <a:prstGeom prst="roundRect">
            <a:avLst>
              <a:gd name="adj" fmla="val 2273"/>
            </a:avLst>
          </a:prstGeom>
          <a:solidFill>
            <a:srgbClr val="F4F7F5"/>
          </a:solidFill>
          <a:ln w="9525">
            <a:solidFill>
              <a:srgbClr val="D5DED9"/>
            </a:solidFill>
            <a:prstDash val="solid"/>
          </a:ln>
        </p:spPr>
      </p:sp>
      <p:pic>
        <p:nvPicPr>
          <p:cNvPr id="11" name="Image 0" descr="preencoded.png"/>
          <p:cNvPicPr>
            <a:picLocks noChangeAspect="1"/>
          </p:cNvPicPr>
          <p:nvPr/>
        </p:nvPicPr>
        <p:blipFill>
          <a:blip r:embed="rId3"/>
          <a:stretch>
            <a:fillRect/>
          </a:stretch>
        </p:blipFill>
        <p:spPr>
          <a:xfrm>
            <a:off x="594360" y="1426464"/>
            <a:ext cx="237744" cy="237744"/>
          </a:xfrm>
          <a:prstGeom prst="rect">
            <a:avLst/>
          </a:prstGeom>
        </p:spPr>
      </p:pic>
      <p:sp>
        <p:nvSpPr>
          <p:cNvPr id="12" name="Text 9"/>
          <p:cNvSpPr txBox="1"/>
          <p:nvPr/>
        </p:nvSpPr>
        <p:spPr>
          <a:xfrm>
            <a:off x="914400" y="1399032"/>
            <a:ext cx="3474720" cy="292608"/>
          </a:xfrm>
          <a:prstGeom prst="rect">
            <a:avLst/>
          </a:prstGeom>
          <a:noFill/>
          <a:ln/>
        </p:spPr>
        <p:txBody>
          <a:bodyPr wrap="square" lIns="0" tIns="0" rIns="0" bIns="0" rtlCol="0" anchor="ctr"/>
          <a:lstStyle/>
          <a:p>
            <a:pPr marL="0" indent="0">
              <a:buNone/>
            </a:pPr>
            <a:r>
              <a:rPr lang="en-US" sz="1200" b="1" dirty="0">
                <a:solidFill>
                  <a:srgbClr val="C4621D"/>
                </a:solidFill>
                <a:latin typeface="Calibri" pitchFamily="34" charset="0"/>
                <a:ea typeface="Calibri" pitchFamily="34" charset="-122"/>
                <a:cs typeface="Calibri" pitchFamily="34" charset="-120"/>
              </a:rPr>
              <a:t>Work and the economy</a:t>
            </a:r>
            <a:endParaRPr lang="en-US" sz="1200" dirty="0"/>
          </a:p>
        </p:txBody>
      </p:sp>
      <p:sp>
        <p:nvSpPr>
          <p:cNvPr id="13" name="Text 10"/>
          <p:cNvSpPr txBox="1"/>
          <p:nvPr/>
        </p:nvSpPr>
        <p:spPr>
          <a:xfrm>
            <a:off x="59436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Bresnahan, T. F. &amp; Trajtenberg, M. (1995). General Purpose Technologies. Journal of Econometrics 65(1), 83–108.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Rock, D. &amp; Syverson, C. (2021). The Productivity J-Curve. AEJ: Macroeconomics 13(1), 333–372.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Noy, S. &amp; Zhang, W. (2023). Experimental Evidence on the Productivity Effects of Generative AI. Science 381(6654), 187–192.</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Eloundou, T. et al. (2024). GPTs are GPTs. Science 384(6702), 1306–1308.</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Bick, A., Blandin, A. &amp; Deming, D. J. (2024). The Rapid Adoption of Generative AI. NBER Working Paper.</a:t>
            </a:r>
            <a:endParaRPr lang="en-US" sz="950" dirty="0"/>
          </a:p>
          <a:p>
            <a:pPr marL="127000" indent="-127000">
              <a:spcAft>
                <a:spcPts val="250"/>
              </a:spcAft>
              <a:buSzPct val="100000"/>
              <a:buChar char="•"/>
            </a:pPr>
            <a:r>
              <a:rPr lang="en-US" sz="950" dirty="0">
                <a:solidFill>
                  <a:srgbClr val="231F20"/>
                </a:solidFill>
                <a:latin typeface="Calibri" pitchFamily="34" charset="0"/>
                <a:ea typeface="Calibri" pitchFamily="34" charset="-122"/>
                <a:cs typeface="Calibri" pitchFamily="34" charset="-120"/>
              </a:rPr>
              <a:t>Brynjolfsson, E., Li, D. &amp; Raymond, L. R. (2025). Generative AI at Work. QJE 140(2), 889–942.</a:t>
            </a:r>
            <a:endParaRPr lang="en-US" sz="950" dirty="0"/>
          </a:p>
        </p:txBody>
      </p:sp>
      <p:sp>
        <p:nvSpPr>
          <p:cNvPr id="14" name="Shape 11"/>
          <p:cNvSpPr/>
          <p:nvPr/>
        </p:nvSpPr>
        <p:spPr>
          <a:xfrm>
            <a:off x="4663440" y="1325880"/>
            <a:ext cx="4023360" cy="3218688"/>
          </a:xfrm>
          <a:prstGeom prst="roundRect">
            <a:avLst>
              <a:gd name="adj" fmla="val 2273"/>
            </a:avLst>
          </a:prstGeom>
          <a:solidFill>
            <a:srgbClr val="F4F7F5"/>
          </a:solidFill>
          <a:ln w="9525">
            <a:solidFill>
              <a:srgbClr val="D5DED9"/>
            </a:solidFill>
            <a:prstDash val="solid"/>
          </a:ln>
        </p:spPr>
      </p:sp>
      <p:pic>
        <p:nvPicPr>
          <p:cNvPr id="15" name="Image 1" descr="preencoded.png"/>
          <p:cNvPicPr>
            <a:picLocks noChangeAspect="1"/>
          </p:cNvPicPr>
          <p:nvPr/>
        </p:nvPicPr>
        <p:blipFill>
          <a:blip r:embed="rId4"/>
          <a:stretch>
            <a:fillRect/>
          </a:stretch>
        </p:blipFill>
        <p:spPr>
          <a:xfrm>
            <a:off x="4800600" y="1426464"/>
            <a:ext cx="237744" cy="237744"/>
          </a:xfrm>
          <a:prstGeom prst="rect">
            <a:avLst/>
          </a:prstGeom>
        </p:spPr>
      </p:pic>
      <p:sp>
        <p:nvSpPr>
          <p:cNvPr id="16" name="Text 12"/>
          <p:cNvSpPr txBox="1"/>
          <p:nvPr/>
        </p:nvSpPr>
        <p:spPr>
          <a:xfrm>
            <a:off x="5120640" y="1399032"/>
            <a:ext cx="3474720" cy="292608"/>
          </a:xfrm>
          <a:prstGeom prst="rect">
            <a:avLst/>
          </a:prstGeom>
          <a:noFill/>
          <a:ln/>
        </p:spPr>
        <p:txBody>
          <a:bodyPr wrap="square" lIns="0" tIns="0" rIns="0" bIns="0" rtlCol="0" anchor="ctr"/>
          <a:lstStyle/>
          <a:p>
            <a:pPr marL="0" indent="0">
              <a:buNone/>
            </a:pPr>
            <a:r>
              <a:rPr lang="en-US" sz="1200" b="1" dirty="0">
                <a:solidFill>
                  <a:srgbClr val="B83B2E"/>
                </a:solidFill>
                <a:latin typeface="Calibri" pitchFamily="34" charset="0"/>
                <a:ea typeface="Calibri" pitchFamily="34" charset="-122"/>
                <a:cs typeface="Calibri" pitchFamily="34" charset="-120"/>
              </a:rPr>
              <a:t>Governance and regulation</a:t>
            </a:r>
            <a:endParaRPr lang="en-US" sz="1200" dirty="0"/>
          </a:p>
        </p:txBody>
      </p:sp>
      <p:sp>
        <p:nvSpPr>
          <p:cNvPr id="17" name="Text 13"/>
          <p:cNvSpPr txBox="1"/>
          <p:nvPr/>
        </p:nvSpPr>
        <p:spPr>
          <a:xfrm>
            <a:off x="4800600" y="1755648"/>
            <a:ext cx="3767328" cy="2743200"/>
          </a:xfrm>
          <a:prstGeom prst="rect">
            <a:avLst/>
          </a:prstGeom>
          <a:noFill/>
          <a:ln/>
        </p:spPr>
        <p:txBody>
          <a:bodyPr wrap="square" lIns="0" tIns="0" rIns="0" bIns="0" rtlCol="0" anchor="t"/>
          <a:lstStyle/>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African Union (2024). Continental Artificial Intelligence Strategy. Executive Council, Accra, 18–19 July 2024; implementation 2025–2030.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African Union (2014). Malabo Convention on Cyber Security and Personal Data Protection. In force 8 June 2023.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European Union (2024). Regulation (EU) 2024/1689 laying down harmonised rules on artificial intelligence.</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NIST (2023). AI Risk Management Framework (AI RMF 1.0).</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ISO/IEC 42001:2023. Artificial intelligence management systems.</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United States (2018). CLOUD Act, Pub. L. 115-141, Division V.</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US Department of Commerce (2025). Generative AI and Open Data: Guidelines and Best Practices. 16 January 2025.</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FCSM (2025). AI-Ready Federal Statistical Data: An Extension of Communicating Data Quality. FCSM 25-03.</a:t>
            </a:r>
            <a:endParaRPr lang="en-US" sz="900" dirty="0"/>
          </a:p>
          <a:p>
            <a:pPr marL="127000" indent="-1270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IMF (2026). StatGPT: AI for Official Statistics. International Monetary Fund.</a:t>
            </a:r>
            <a:endParaRPr lang="en-US" sz="9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7749</Words>
  <Application>Microsoft Office PowerPoint</Application>
  <PresentationFormat>On-screen Show (16:9)</PresentationFormat>
  <Paragraphs>823</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Family Tree: How the concepts fit together</dc:title>
  <dc:subject>PptxGenJS Presentation</dc:subject>
  <dc:creator>STG17 Technical Workshop</dc:creator>
  <cp:lastModifiedBy>HADJ TAIEB, MOHAMED ALI</cp:lastModifiedBy>
  <cp:revision>3</cp:revision>
  <dcterms:created xsi:type="dcterms:W3CDTF">2026-09-16T10:34:36Z</dcterms:created>
  <dcterms:modified xsi:type="dcterms:W3CDTF">2026-09-23T15:30:18Z</dcterms:modified>
</cp:coreProperties>
</file>